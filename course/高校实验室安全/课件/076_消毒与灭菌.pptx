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消毒是用物理或化学方法把物体表面或环境中的微生物减少到不再引起感染的水平，不要求全部杀灭；灭菌是杀灭全部微生物，包括抵抗力最强的细菌芽孢；去污（去污染）是让被污染的物品、表面能够安全地拿取、使用或处置，可以通过清洁、消毒或灭菌来实现。</a:t>
            </a:r>
          </a:p>
          <a:p>
            <a:r>
              <a:t>三者方法不同、效果不同：实验台面、仪器外壳一般消毒即可；培养基、无菌操作用的器材、要重复使用的污染器皿和感染性废物则要灭菌。器皿用完先彻底清洗（污物会挡住消毒剂和蒸汽），再消毒，需要时再灭菌。</a:t>
            </a:r>
          </a:p>
          <a:p>
            <a:r>
              <a:t>消过毒的东西不等于无菌，不能当无菌器材使用。用哪种方法，由风险评估和本实验室规程确定；生物安全员和实验室负责人要掌握哪种方法管用、怎么用对。</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杀灭微生物的方法主要有三类：热（湿热即高压蒸汽灭菌、干热、焚烧）、化学品（各类消毒剂、灭菌剂和熏蒸、气体灭菌）、辐射（紫外线照射；工业上的电离辐射灭菌）。此外还有过滤等去除微生物的物理方法。</a:t>
            </a:r>
          </a:p>
          <a:p>
            <a:r>
              <a:t>选择时看对象和目的：耐热耐湿的玻璃器皿、培养基、废物首选高压蒸汽灭菌；台面、仪器外壳等不能加热的表面用化学消毒剂擦拭；紫外线只能辅助消毒照得到的表面；整个房间或生物安全柜整体去污用熏蒸。具体方法按风险评估和本实验室规程确定。</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消毒灭菌用的高温高压蒸汽、化学消毒剂和熏蒸剂、紫外线，本身就是危害：会造成烫伤、化学灼伤和中毒、眼和皮肤的紫外损伤，高压设备使用不当还可能发生事故（高压灭菌器的操作安全见第 123 课，紫外灯的人身防护见第 111 课）。</a:t>
            </a:r>
          </a:p>
          <a:p>
            <a:r>
              <a:t>化学灭菌剂、消毒废液和辐射管理不好，还会伤害环境：不能把化学灭菌剂、高浓度消毒废液随意倒入下水道，按本校化学废物要求处置（见第 053、054 课）。</a:t>
            </a:r>
          </a:p>
          <a:p>
            <a:r>
              <a:t>所以消毒灭菌必须有严格的标准操作规程。规程有两个目的：保护操作的人，也保证灭菌效果。没有经过培训、没学过规程的人不得操作灭菌和熏蒸设备。</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不同微生物对消毒剂的抵抗力相差很大：一般细菌、有包膜病毒较容易杀灭，分枝杆菌、无包膜病毒更难，细菌芽孢最难。常用的乙醇（常用 75% 左右）作用快，但对芽孢无效；含氯消毒剂作用谱广，但有腐蚀性和刺激性。选哪种，看要对付的是什么生物因子，按风险评估和规程确定。</a:t>
            </a:r>
          </a:p>
          <a:p>
            <a:r>
              <a:t>血液、培养物等有机物会降低消毒剂效果：大量污物先用吸水材料清除，再消毒。含氯消毒剂会腐蚀不锈钢等金属表面，作用时间到后用清水擦去残留。</a:t>
            </a:r>
          </a:p>
          <a:p>
            <a:r>
              <a:t>想换一种（比如更便宜的）消毒剂时，先确认它对本实验室的生物因子有效，经负责人同意，并在规程中写明消毒剂种类、浓度和作用时间（以 SOP 和产品说明为准）。</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消毒剂需要与微生物接触足够的时间才能起作用。喷一下马上擦干，接触时间不够，等于没消毒。</a:t>
            </a:r>
          </a:p>
          <a:p>
            <a:r>
              <a:t>正确做法：用浸湿消毒剂的纸巾擦拭或适量喷洒，让表面在整个作用时间内保持湿润，必要时补加；时间到后再擦去残留。消毒剂的浓度和作用时间以本单位 SOP 和产品说明为准。</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生物材料一旦洒漏，台面、设备和材料都会被污染，既威胁人员，也破坏实验的无菌条件。</a:t>
            </a:r>
          </a:p>
          <a:p>
            <a:r>
              <a:t>台面要在开工前、收工后各消毒一次；用过的移液器、离心机外壳、旋涡振荡器等仪器设备也要用浸湿消毒剂的纸巾擦拭（不要直接对仪器喷洒，以免液体进入电器部件）。生物安全柜内的清洁见第 073 课。</a:t>
            </a:r>
          </a:p>
          <a:p>
            <a:r>
              <a:t>发生洒溢立即按溢洒程序处理（见第 078 课）。用过的吸头、手套、纸巾等收进专用的生物危害废物袋或容器，按感染性废物处置（见第 077 课）。</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消毒剂浓缩液多有腐蚀性或刺激性。配制和擦拭时戴好手套和护目镜，在通风良好处按说明量取、稀释，必要时穿防护围裙。</a:t>
            </a:r>
          </a:p>
          <a:p>
            <a:r>
              <a:t>配好的消毒液装在合适的容器里，贴上标签，写明名称、浓度和配制日期（及配制人）。很多稀释液（如含氯消毒剂稀释液）会逐渐失效，按产品说明和规程现配现用或按期更换，过期的不得使用；没有标签、来历不明的液体不要用。</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消毒剂不能随手混在一起：含氯消毒剂与酸性物品混合会放出氯气，与含氨清洁剂混合也会产生有害气体。能不能混用、能不能先后使用，查产品说明书或安全技术说明书，拿不准就问老师。</a:t>
            </a:r>
          </a:p>
          <a:p>
            <a:r>
              <a:t>乙醇和含醇消毒剂易燃：远离酒精灯、电热设备和火花，不在明火旁大量喷洒，用后盖紧（化学品防火见第 046 课）。消毒剂也是化学品，按化学品要求储存、标识和处置。</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紫外线只能杀灭直接照射到的表面和空气中的微生物，穿透力很弱：物品背后的阴影、角落、灰尘和污物下面都照不到。因此紫外消毒只能作为辅助手段，不能代替消毒剂擦拭和灭菌。</a:t>
            </a:r>
          </a:p>
          <a:p>
            <a:r>
              <a:t>紫外灯管会随使用时间老化、强度下降，表面积灰也会降低效果，要定期清洁、检测强度并按规定更换。</a:t>
            </a:r>
          </a:p>
          <a:p>
            <a:r>
              <a:t>紫外线伤眼伤皮肤：开灯时人要离开，不能直视；生物安全柜、核酸提取仪等仪器内的紫外灯亮着时不要打开柜门、仓门查看（人身防护见第 111 课）。开不开紫外灯、开多久，按本实验室规程执行。</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高压蒸汽灭菌是实验室最常用、最可靠的灭菌方法：在密闭容器中加压，使饱和蒸汽温度升高；高温蒸汽接触物品并在表面冷凝放热，使微生物的蛋白质变性而死亡。</a:t>
            </a:r>
          </a:p>
          <a:p>
            <a:r>
              <a:t>灭菌效果取决于蒸汽能否接触到每一处：灭菌器里的冷空气要排净，否则物品中心会留下“冷点”；装载要松散、留有间隙，瓶盖拧松，废物袋口不要扎死，液体不要装得太满。装得太满太乱、设备有故障（如排气不畅、密封不严），灭菌都不会彻底。</a:t>
            </a:r>
          </a:p>
          <a:p>
            <a:r>
              <a:t>温度、时间等参数以设备操作规程和验证结果为准，不同负载可能不同。高压灭菌器是压力容器，开门、装取等操作安全见第 123 课。</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灭菌是否成功，要靠监测和验证，而不是“看着差不多”。常用三类监测：物理监测，每一锅记录温度、压力和时间；化学指示物，如包外的指示胶带和包内指示卡，变色只说明经过了灭菌过程，不等于中心已经灭透；生物指示物，内含耐热芽孢，放在负载最难灭透的位置，灭菌后培养，看芽孢是否被杀灭，按规程定期进行。</a:t>
            </a:r>
          </a:p>
          <a:p>
            <a:r>
              <a:t>新安装、维修后、更换装载方式或负载类型时，都要验证灭菌效果。监测不合格时，停用设备并报告负责人，本批物品按未灭菌对待、重新灭菌，查明原因修复后再用。监测和验证结果记录在案，按规定保存。</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需要对整间实验室、生物安全柜整体去污时（如更换过滤器、设备维修搬迁、实验室停用或发生严重污染后），采用熏蒸消毒。熏蒸用的药剂对人同样有毒有害。</a:t>
            </a:r>
          </a:p>
          <a:p>
            <a:r>
              <a:t>熏蒸由经过培训的专人按规程操作：事先清场、封闭房间或设备，门口挂警示牌，防止人员误入；完成后充分通风，经检测合格后才能进入。</a:t>
            </a:r>
          </a:p>
          <a:p>
            <a:r>
              <a:t>不耐热的器材有时用气体灭菌（如环氧乙烷），这类气体有毒、易燃。在专用设备和区域内由专人操作，未到时间不得提前开门，灭菌后按规程通风散气后才能使用。</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1 题 答案：B。解析：消毒只把微生物减少到安全水平；灭菌是全部杀灭，包括芽孢。</a:t>
            </a:r>
          </a:p>
          <a:p>
            <a:r>
              <a:t>第 2 题 答案：B。解析：要让表面保持湿润，等够规程和产品说明规定的作用时间。</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3 题 答案：C。解析：含氯消毒剂与酸性物品混合会放出有害气体。</a:t>
            </a:r>
          </a:p>
          <a:p>
            <a:r>
              <a:t>第 4 题 答案：B。解析：紫外只对照到的表面有效，阴影和污物下照不到，只能辅助，不能代替擦拭。</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5 题 答案：B。解析：化学指示物只说明经过灭菌过程；灭菌效果靠物理、化学、生物监测和定期验证。</a:t>
            </a:r>
          </a:p>
          <a:p>
            <a:r>
              <a:t>第 6 题 答案：由培训过的专人按规程操作；事先清场、封闭，门口挂警示牌防止误入；结束后充分通风，检测合格后才能进入。解析：熏蒸药剂对人同样有毒有害。</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Oval 1"/>
          <p:cNvSpPr/>
          <p:nvPr/>
        </p:nvSpPr>
        <p:spPr>
          <a:xfrm>
            <a:off x="548640" y="1280160"/>
            <a:ext cx="1005840" cy="100584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0"/>
            <a:ext cx="1005840" cy="1005840"/>
          </a:xfrm>
          <a:prstGeom prst="rect">
            <a:avLst/>
          </a:prstGeom>
          <a:noFill/>
        </p:spPr>
        <p:txBody>
          <a:bodyPr wrap="square" anchor="ctr" lIns="0" rIns="0" tIns="0" bIns="0">
            <a:spAutoFit/>
          </a:bodyPr>
          <a:lstStyle/>
          <a:p>
            <a:pPr algn="ctr"/>
            <a:r>
              <a:rPr sz="2400" b="1">
                <a:solidFill>
                  <a:srgbClr val="FFFFFF"/>
                </a:solidFill>
                <a:latin typeface="Microsoft YaHei"/>
              </a:rPr>
              <a:t>076</a:t>
            </a:r>
          </a:p>
        </p:txBody>
      </p:sp>
      <p:sp>
        <p:nvSpPr>
          <p:cNvPr id="4" name="TextBox 3"/>
          <p:cNvSpPr txBox="1"/>
          <p:nvPr/>
        </p:nvSpPr>
        <p:spPr>
          <a:xfrm>
            <a:off x="548640" y="2651760"/>
            <a:ext cx="11094415" cy="1097280"/>
          </a:xfrm>
          <a:prstGeom prst="rect">
            <a:avLst/>
          </a:prstGeom>
          <a:noFill/>
        </p:spPr>
        <p:txBody>
          <a:bodyPr wrap="square" anchor="t" lIns="0" rIns="0" tIns="0" bIns="0">
            <a:spAutoFit/>
          </a:bodyPr>
          <a:lstStyle/>
          <a:p>
            <a:pPr algn="l"/>
            <a:r>
              <a:rPr sz="4400" b="1">
                <a:solidFill>
                  <a:srgbClr val="FFFFFF"/>
                </a:solidFill>
                <a:latin typeface="Microsoft YaHei"/>
              </a:rPr>
              <a:t>消毒与灭菌</a:t>
            </a:r>
          </a:p>
        </p:txBody>
      </p:sp>
      <p:sp>
        <p:nvSpPr>
          <p:cNvPr id="5" name="TextBox 4"/>
          <p:cNvSpPr txBox="1"/>
          <p:nvPr/>
        </p:nvSpPr>
        <p:spPr>
          <a:xfrm>
            <a:off x="548640" y="3840480"/>
            <a:ext cx="11094415" cy="457200"/>
          </a:xfrm>
          <a:prstGeom prst="rect">
            <a:avLst/>
          </a:prstGeom>
          <a:noFill/>
        </p:spPr>
        <p:txBody>
          <a:bodyPr wrap="square" anchor="t" lIns="0" rIns="0" tIns="0" bIns="0">
            <a:spAutoFit/>
          </a:bodyPr>
          <a:lstStyle/>
          <a:p>
            <a:pPr algn="l"/>
            <a:r>
              <a:rPr sz="2000" b="0">
                <a:solidFill>
                  <a:srgbClr val="CADCE6"/>
                </a:solidFill>
                <a:latin typeface="Microsoft YaHei"/>
              </a:rPr>
              <a:t>第6章 生物安全</a:t>
            </a:r>
          </a:p>
        </p:txBody>
      </p:sp>
      <p:sp>
        <p:nvSpPr>
          <p:cNvPr id="6" name="TextBox 5"/>
          <p:cNvSpPr txBox="1"/>
          <p:nvPr/>
        </p:nvSpPr>
        <p:spPr>
          <a:xfrm>
            <a:off x="548640" y="4389120"/>
            <a:ext cx="11094415" cy="457200"/>
          </a:xfrm>
          <a:prstGeom prst="rect">
            <a:avLst/>
          </a:prstGeom>
          <a:noFill/>
        </p:spPr>
        <p:txBody>
          <a:bodyPr wrap="square" anchor="t" lIns="0" rIns="0" tIns="0" bIns="0">
            <a:spAutoFit/>
          </a:bodyPr>
          <a:lstStyle/>
          <a:p>
            <a:pPr algn="l"/>
            <a:r>
              <a:rPr sz="1400" b="0">
                <a:solidFill>
                  <a:srgbClr val="CADCE6"/>
                </a:solidFill>
                <a:latin typeface="Microsoft YaHei"/>
              </a:rPr>
              <a:t>课时：约 6 分钟（卡通视频 72 镜）　适用对象：从事微生物、细胞、分子生物学、医学、农学、环境等生物实验的高校本科生、研究生和教职工（必修）；负责消毒灭菌设备和熏蒸工作的实验室人员重点学习</a:t>
            </a:r>
          </a:p>
        </p:txBody>
      </p:sp>
      <p:sp>
        <p:nvSpPr>
          <p:cNvPr id="7" name="TextBox 6"/>
          <p:cNvSpPr txBox="1"/>
          <p:nvPr/>
        </p:nvSpPr>
        <p:spPr>
          <a:xfrm>
            <a:off x="548640" y="6126480"/>
            <a:ext cx="7315200" cy="365760"/>
          </a:xfrm>
          <a:prstGeom prst="rect">
            <a:avLst/>
          </a:prstGeom>
          <a:noFill/>
        </p:spPr>
        <p:txBody>
          <a:bodyPr wrap="square" anchor="t" lIns="0" rIns="0" tIns="0" bIns="0">
            <a:spAutoFit/>
          </a:bodyPr>
          <a:lstStyle/>
          <a:p>
            <a:pPr algn="l"/>
            <a:r>
              <a:rPr sz="1400" b="1">
                <a:solidFill>
                  <a:srgbClr val="F28C28"/>
                </a:solidFill>
                <a:latin typeface="Microsoft YaHei"/>
              </a:rPr>
              <a:t>《高校实验室安全》学习课件</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076 · 消毒与灭菌</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学习目标</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076 消毒与灭菌</a:t>
            </a:r>
          </a:p>
        </p:txBody>
      </p:sp>
      <p:sp>
        <p:nvSpPr>
          <p:cNvPr id="5" name="Rounded Rectangle 4"/>
          <p:cNvSpPr/>
          <p:nvPr/>
        </p:nvSpPr>
        <p:spPr>
          <a:xfrm>
            <a:off x="548640"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1</a:t>
            </a:r>
          </a:p>
        </p:txBody>
      </p:sp>
      <p:sp>
        <p:nvSpPr>
          <p:cNvPr id="7" name="TextBox 6"/>
          <p:cNvSpPr txBox="1"/>
          <p:nvPr/>
        </p:nvSpPr>
        <p:spPr>
          <a:xfrm>
            <a:off x="868680"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能说出消毒、去污与灭菌的区别，并按用途选择热、化学、辐射等方法，不拿消毒当灭菌。</a:t>
            </a:r>
          </a:p>
        </p:txBody>
      </p:sp>
      <p:sp>
        <p:nvSpPr>
          <p:cNvPr id="8" name="Rounded Rectangle 7"/>
          <p:cNvSpPr/>
          <p:nvPr/>
        </p:nvSpPr>
        <p:spPr>
          <a:xfrm>
            <a:off x="3413683"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733723"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2</a:t>
            </a:r>
          </a:p>
        </p:txBody>
      </p:sp>
      <p:sp>
        <p:nvSpPr>
          <p:cNvPr id="10" name="TextBox 9"/>
          <p:cNvSpPr txBox="1"/>
          <p:nvPr/>
        </p:nvSpPr>
        <p:spPr>
          <a:xfrm>
            <a:off x="3733723"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能做到选对消毒剂、保持表面湿润等够作用时间，开工前、收工后和洒溢后及时消毒台面和设备。</a:t>
            </a:r>
          </a:p>
        </p:txBody>
      </p:sp>
      <p:sp>
        <p:nvSpPr>
          <p:cNvPr id="11" name="Rounded Rectangle 10"/>
          <p:cNvSpPr/>
          <p:nvPr/>
        </p:nvSpPr>
        <p:spPr>
          <a:xfrm>
            <a:off x="6278727"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98767"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3</a:t>
            </a:r>
          </a:p>
        </p:txBody>
      </p:sp>
      <p:sp>
        <p:nvSpPr>
          <p:cNvPr id="13" name="TextBox 12"/>
          <p:cNvSpPr txBox="1"/>
          <p:nvPr/>
        </p:nvSpPr>
        <p:spPr>
          <a:xfrm>
            <a:off x="6598767"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能做到安全配制和保存消毒液（防护、标签日期、按期更换、不乱混、乙醇远离火源），并判断紫外消毒的局限。</a:t>
            </a:r>
          </a:p>
        </p:txBody>
      </p:sp>
      <p:sp>
        <p:nvSpPr>
          <p:cNvPr id="14" name="Rounded Rectangle 13"/>
          <p:cNvSpPr/>
          <p:nvPr/>
        </p:nvSpPr>
        <p:spPr>
          <a:xfrm>
            <a:off x="9143771"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463811"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4</a:t>
            </a:r>
          </a:p>
        </p:txBody>
      </p:sp>
      <p:sp>
        <p:nvSpPr>
          <p:cNvPr id="16" name="TextBox 15"/>
          <p:cNvSpPr txBox="1"/>
          <p:nvPr/>
        </p:nvSpPr>
        <p:spPr>
          <a:xfrm>
            <a:off x="9463811"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能说出湿热灭菌的原理、装载要求和监测验证方法，以及熏蒸和气体灭菌的安全要求。</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076 · 消毒与灭菌</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法规与标准依据</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076 消毒与灭菌</a:t>
            </a:r>
          </a:p>
        </p:txBody>
      </p:sp>
      <p:sp>
        <p:nvSpPr>
          <p:cNvPr id="5" name="Rounded Rectangle 4"/>
          <p:cNvSpPr/>
          <p:nvPr/>
        </p:nvSpPr>
        <p:spPr>
          <a:xfrm>
            <a:off x="548640"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31520"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7" name="TextBox 6"/>
          <p:cNvSpPr txBox="1"/>
          <p:nvPr/>
        </p:nvSpPr>
        <p:spPr>
          <a:xfrm>
            <a:off x="1371600"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《中华人民共和国生物安全法》：从事病原微生物实验活动应遵守实验室技术规范和操作规程，防止病原微生物扩散</a:t>
            </a:r>
          </a:p>
        </p:txBody>
      </p:sp>
      <p:sp>
        <p:nvSpPr>
          <p:cNvPr id="8" name="Rounded Rectangle 7"/>
          <p:cNvSpPr/>
          <p:nvPr/>
        </p:nvSpPr>
        <p:spPr>
          <a:xfrm>
            <a:off x="6278727"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461607"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0" name="TextBox 9"/>
          <p:cNvSpPr txBox="1"/>
          <p:nvPr/>
        </p:nvSpPr>
        <p:spPr>
          <a:xfrm>
            <a:off x="7101687"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《病原微生物实验室生物安全管理条例》（以现行文本为准）：实验室应制定并执行消毒、灭菌等标准操作规程，实验废物按规定处置</a:t>
            </a:r>
          </a:p>
        </p:txBody>
      </p:sp>
      <p:sp>
        <p:nvSpPr>
          <p:cNvPr id="11" name="Rounded Rectangle 10"/>
          <p:cNvSpPr/>
          <p:nvPr/>
        </p:nvSpPr>
        <p:spPr>
          <a:xfrm>
            <a:off x="548640"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1371600"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 19489-2008（以现行文本为准）《实验室 生物安全通用要求》：消毒灭菌方法的选择与确认、设备去污染、灭菌效果监测</a:t>
            </a:r>
          </a:p>
        </p:txBody>
      </p:sp>
      <p:sp>
        <p:nvSpPr>
          <p:cNvPr id="14" name="Rounded Rectangle 13"/>
          <p:cNvSpPr/>
          <p:nvPr/>
        </p:nvSpPr>
        <p:spPr>
          <a:xfrm>
            <a:off x="6278727"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61607"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6" name="TextBox 15"/>
          <p:cNvSpPr txBox="1"/>
          <p:nvPr/>
        </p:nvSpPr>
        <p:spPr>
          <a:xfrm>
            <a:off x="7101687"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WS 233（以现行文本为准）《病原微生物实验室生物安全通用准则》：实验室消毒与灭菌、压力蒸汽灭菌效果监测</a:t>
            </a:r>
          </a:p>
        </p:txBody>
      </p:sp>
      <p:sp>
        <p:nvSpPr>
          <p:cNvPr id="17" name="Rounded Rectangle 16"/>
          <p:cNvSpPr/>
          <p:nvPr/>
        </p:nvSpPr>
        <p:spPr>
          <a:xfrm>
            <a:off x="548640"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31520"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9" name="TextBox 18"/>
          <p:cNvSpPr txBox="1"/>
          <p:nvPr/>
        </p:nvSpPr>
        <p:spPr>
          <a:xfrm>
            <a:off x="1371600"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《消毒管理办法》（以现行文本为准）：消毒产品使用说明与消毒效果要求</a:t>
            </a:r>
          </a:p>
        </p:txBody>
      </p:sp>
      <p:sp>
        <p:nvSpPr>
          <p:cNvPr id="20" name="Rounded Rectangle 19"/>
          <p:cNvSpPr/>
          <p:nvPr/>
        </p:nvSpPr>
        <p:spPr>
          <a:xfrm>
            <a:off x="6278727"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61607"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2" name="TextBox 21"/>
          <p:cNvSpPr txBox="1"/>
          <p:nvPr/>
        </p:nvSpPr>
        <p:spPr>
          <a:xfrm>
            <a:off x="7101687"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《高等学校实验室安全规范》（教科信厅函〔2023〕5 号，以现行文本为准）：生物实验室消毒灭菌、仪器设备使用和化学品管理</a:t>
            </a:r>
          </a:p>
        </p:txBody>
      </p:sp>
      <p:sp>
        <p:nvSpPr>
          <p:cNvPr id="23" name="Rounded Rectangle 22"/>
          <p:cNvSpPr/>
          <p:nvPr/>
        </p:nvSpPr>
        <p:spPr>
          <a:xfrm>
            <a:off x="548640" y="502920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31520" y="528066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5" name="TextBox 24"/>
          <p:cNvSpPr txBox="1"/>
          <p:nvPr/>
        </p:nvSpPr>
        <p:spPr>
          <a:xfrm>
            <a:off x="1371600" y="512064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本校生物安全管理规定和本实验室消毒灭菌、高压灭菌器、熏蒸标准操作规程（以本校规定为准）</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076 · 消毒与灭菌</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消毒、去污、灭菌不是一回事</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076 消毒与灭菌</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消毒：把微生物减少到安全水平</a:t>
            </a:r>
          </a:p>
          <a:p>
            <a:pPr>
              <a:spcAft>
                <a:spcPts val="1000"/>
              </a:spcAft>
            </a:pPr>
            <a:r>
              <a:rPr sz="1700">
                <a:solidFill>
                  <a:srgbClr val="222B33"/>
                </a:solidFill>
                <a:latin typeface="Microsoft YaHei"/>
              </a:rPr>
              <a:t>▪ 灭菌：全部杀灭，包括芽孢</a:t>
            </a:r>
          </a:p>
          <a:p>
            <a:pPr>
              <a:spcAft>
                <a:spcPts val="1000"/>
              </a:spcAft>
            </a:pPr>
            <a:r>
              <a:rPr sz="1700">
                <a:solidFill>
                  <a:srgbClr val="222B33"/>
                </a:solidFill>
                <a:latin typeface="Microsoft YaHei"/>
              </a:rPr>
              <a:t>▪ 去污：让物品能安全拿取或处置</a:t>
            </a:r>
          </a:p>
          <a:p>
            <a:pPr>
              <a:spcAft>
                <a:spcPts val="1000"/>
              </a:spcAft>
            </a:pPr>
            <a:r>
              <a:rPr sz="1700">
                <a:solidFill>
                  <a:srgbClr val="222B33"/>
                </a:solidFill>
                <a:latin typeface="Microsoft YaHei"/>
              </a:rPr>
              <a:t>▪ 器皿先洗净，再消毒，需要时灭菌</a:t>
            </a:r>
          </a:p>
          <a:p>
            <a:pPr>
              <a:spcAft>
                <a:spcPts val="1000"/>
              </a:spcAft>
            </a:pPr>
            <a:r>
              <a:rPr sz="1700">
                <a:solidFill>
                  <a:srgbClr val="222B33"/>
                </a:solidFill>
                <a:latin typeface="Microsoft YaHei"/>
              </a:rPr>
              <a:t>▪ 按用途选方法，别拿消毒当灭菌</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消毒是用物理或化学方法把物体表面或环境中的微生物减少到不再引起感染的水平，不要求全部杀灭；灭菌是杀灭全部微生物，包括抵抗力最强的细菌芽孢；去污（去污染）是让被污染的物品、表面能够安全地拿取、使用或处置，可以通过清洁、……</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把消毒过的器皿当无菌器材使用</a:t>
            </a:r>
          </a:p>
          <a:p>
            <a:pPr>
              <a:spcAft>
                <a:spcPts val="1000"/>
              </a:spcAft>
            </a:pPr>
            <a:r>
              <a:rPr sz="1500">
                <a:solidFill>
                  <a:srgbClr val="222B33"/>
                </a:solidFill>
                <a:latin typeface="Microsoft YaHei"/>
              </a:rPr>
              <a:t>▪ 器皿不清洗就直接消毒或灭菌</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076 · 消毒与灭菌</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杀灭微生物的方法：热、化学、辐射</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076 消毒与灭菌</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热、化学品、辐射都能杀灭微生物</a:t>
            </a:r>
          </a:p>
          <a:p>
            <a:pPr>
              <a:spcAft>
                <a:spcPts val="1000"/>
              </a:spcAft>
            </a:pPr>
            <a:r>
              <a:rPr sz="2000">
                <a:solidFill>
                  <a:srgbClr val="222B33"/>
                </a:solidFill>
                <a:latin typeface="Microsoft YaHei"/>
              </a:rPr>
              <a:t>▪ 耐热物品首选湿热（高压蒸汽）灭菌</a:t>
            </a:r>
          </a:p>
          <a:p>
            <a:pPr>
              <a:spcAft>
                <a:spcPts val="1000"/>
              </a:spcAft>
            </a:pPr>
            <a:r>
              <a:rPr sz="2000">
                <a:solidFill>
                  <a:srgbClr val="222B33"/>
                </a:solidFill>
                <a:latin typeface="Microsoft YaHei"/>
              </a:rPr>
              <a:t>▪ 台面设备用化学消毒剂擦拭</a:t>
            </a:r>
          </a:p>
          <a:p>
            <a:pPr>
              <a:spcAft>
                <a:spcPts val="1000"/>
              </a:spcAft>
            </a:pPr>
            <a:r>
              <a:rPr sz="2000">
                <a:solidFill>
                  <a:srgbClr val="222B33"/>
                </a:solidFill>
                <a:latin typeface="Microsoft YaHei"/>
              </a:rPr>
              <a:t>▪ 紫外照表面，房间整体用熏蒸</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杀灭微生物的方法主要有三类：热（湿热即高压蒸汽灭菌、干热、焚烧）、化学品（各类消毒剂、灭菌剂和熏蒸、气体灭菌）、辐射（紫外线照射；工业上的电离辐射灭菌）。此外还有过滤等去除微生物的物理方法。</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不分对象，一种方法用到底</a:t>
            </a:r>
          </a:p>
          <a:p>
            <a:pPr>
              <a:spcAft>
                <a:spcPts val="1000"/>
              </a:spcAft>
            </a:pPr>
            <a:r>
              <a:rPr sz="1500">
                <a:solidFill>
                  <a:srgbClr val="222B33"/>
                </a:solidFill>
                <a:latin typeface="Microsoft YaHei"/>
              </a:rPr>
              <a:t>▪ 用紫外照射代替对器材的灭菌</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076 · 消毒与灭菌</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灭菌手段本身有危害，必须照规程</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076 消毒与灭菌</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能杀菌的东西同样能伤人</a:t>
            </a:r>
          </a:p>
          <a:p>
            <a:pPr>
              <a:spcAft>
                <a:spcPts val="1000"/>
              </a:spcAft>
            </a:pPr>
            <a:r>
              <a:rPr sz="1700">
                <a:solidFill>
                  <a:srgbClr val="222B33"/>
                </a:solidFill>
                <a:latin typeface="Microsoft YaHei"/>
              </a:rPr>
              <a:t>▪ 高温烫伤、药剂中毒、紫外伤眼</a:t>
            </a:r>
          </a:p>
          <a:p>
            <a:pPr>
              <a:spcAft>
                <a:spcPts val="1000"/>
              </a:spcAft>
            </a:pPr>
            <a:r>
              <a:rPr sz="1700">
                <a:solidFill>
                  <a:srgbClr val="222B33"/>
                </a:solidFill>
                <a:latin typeface="Microsoft YaHei"/>
              </a:rPr>
              <a:t>▪ 用错管错还会污染环境</a:t>
            </a:r>
          </a:p>
          <a:p>
            <a:pPr>
              <a:spcAft>
                <a:spcPts val="1000"/>
              </a:spcAft>
            </a:pPr>
            <a:r>
              <a:rPr sz="1700">
                <a:solidFill>
                  <a:srgbClr val="222B33"/>
                </a:solidFill>
                <a:latin typeface="Microsoft YaHei"/>
              </a:rPr>
              <a:t>▪ 规程两个目的：护人也保效果</a:t>
            </a:r>
          </a:p>
          <a:p>
            <a:pPr>
              <a:spcAft>
                <a:spcPts val="1000"/>
              </a:spcAft>
            </a:pPr>
            <a:r>
              <a:rPr sz="1700">
                <a:solidFill>
                  <a:srgbClr val="222B33"/>
                </a:solidFill>
                <a:latin typeface="Microsoft YaHei"/>
              </a:rPr>
              <a:t>▪ 没学过规程，不上手</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消毒灭菌用的高温高压蒸汽、化学消毒剂和熏蒸剂、紫外线，本身就是危害：会造成烫伤、化学灼伤和中毒、眼和皮肤的紫外损伤，高压设备使用不当还可能发生事故（高压灭菌器的操作安全见第 123 课，紫外灯的人身防护见第 111 ……</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觉得消毒剂“只是清洁用品”，不防护</a:t>
            </a:r>
          </a:p>
          <a:p>
            <a:pPr>
              <a:spcAft>
                <a:spcPts val="1000"/>
              </a:spcAft>
            </a:pPr>
            <a:r>
              <a:rPr sz="1500">
                <a:solidFill>
                  <a:srgbClr val="222B33"/>
                </a:solidFill>
                <a:latin typeface="Microsoft YaHei"/>
              </a:rPr>
              <a:t>▪ 没经培训就操作高压灭菌器</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076 · 消毒与灭菌</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消毒剂要对得上微生物</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076 消毒与灭菌</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K4</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微生物不同，抵抗力差得远</a:t>
            </a:r>
          </a:p>
          <a:p>
            <a:pPr>
              <a:spcAft>
                <a:spcPts val="1000"/>
              </a:spcAft>
            </a:pPr>
            <a:r>
              <a:rPr sz="1700">
                <a:solidFill>
                  <a:srgbClr val="222B33"/>
                </a:solidFill>
                <a:latin typeface="Microsoft YaHei"/>
              </a:rPr>
              <a:t>▪ 乙醇对芽孢无效</a:t>
            </a:r>
          </a:p>
          <a:p>
            <a:pPr>
              <a:spcAft>
                <a:spcPts val="1000"/>
              </a:spcAft>
            </a:pPr>
            <a:r>
              <a:rPr sz="1700">
                <a:solidFill>
                  <a:srgbClr val="222B33"/>
                </a:solidFill>
                <a:latin typeface="Microsoft YaHei"/>
              </a:rPr>
              <a:t>▪ 有机物降低效果，先清掉污物</a:t>
            </a:r>
          </a:p>
          <a:p>
            <a:pPr>
              <a:spcAft>
                <a:spcPts val="1000"/>
              </a:spcAft>
            </a:pPr>
            <a:r>
              <a:rPr sz="1700">
                <a:solidFill>
                  <a:srgbClr val="222B33"/>
                </a:solidFill>
                <a:latin typeface="Microsoft YaHei"/>
              </a:rPr>
              <a:t>▪ 含氯的腐蚀金属，作用后清水擦净</a:t>
            </a:r>
          </a:p>
          <a:p>
            <a:pPr>
              <a:spcAft>
                <a:spcPts val="1000"/>
              </a:spcAft>
            </a:pPr>
            <a:r>
              <a:rPr sz="1700">
                <a:solidFill>
                  <a:srgbClr val="222B33"/>
                </a:solidFill>
                <a:latin typeface="Microsoft YaHei"/>
              </a:rPr>
              <a:t>▪ 换消毒剂先确认有效，写进规程</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不同微生物对消毒剂的抵抗力相差很大：一般细菌、有包膜病毒较容易杀灭，分枝杆菌、无包膜病毒更难，细菌芽孢最难。常用的乙醇（常用 75% 左右）作用快，但对芽孢无效；含氯消毒剂作用谱广，但有腐蚀性和刺激性。选哪种，看要对……</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用乙醇对付可能有芽孢的污染</a:t>
            </a:r>
          </a:p>
          <a:p>
            <a:pPr>
              <a:spcAft>
                <a:spcPts val="1000"/>
              </a:spcAft>
            </a:pPr>
            <a:r>
              <a:rPr sz="1500">
                <a:solidFill>
                  <a:srgbClr val="222B33"/>
                </a:solidFill>
                <a:latin typeface="Microsoft YaHei"/>
              </a:rPr>
              <a:t>▪ 不查有效性就换便宜的消毒剂</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076 · 消毒与灭菌</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保持湿润，等够作用时间</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076 消毒与灭菌</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K5</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喷一下就擦，等于没消毒</a:t>
            </a:r>
          </a:p>
          <a:p>
            <a:pPr>
              <a:spcAft>
                <a:spcPts val="1000"/>
              </a:spcAft>
            </a:pPr>
            <a:r>
              <a:rPr sz="2000">
                <a:solidFill>
                  <a:srgbClr val="222B33"/>
                </a:solidFill>
                <a:latin typeface="Microsoft YaHei"/>
              </a:rPr>
              <a:t>▪ 表面保持湿润，等够作用时间</a:t>
            </a:r>
          </a:p>
          <a:p>
            <a:pPr>
              <a:spcAft>
                <a:spcPts val="1000"/>
              </a:spcAft>
            </a:pPr>
            <a:r>
              <a:rPr sz="2000">
                <a:solidFill>
                  <a:srgbClr val="222B33"/>
                </a:solidFill>
                <a:latin typeface="Microsoft YaHei"/>
              </a:rPr>
              <a:t>▪ 时间到再擦去残留</a:t>
            </a:r>
          </a:p>
          <a:p>
            <a:pPr>
              <a:spcAft>
                <a:spcPts val="1000"/>
              </a:spcAft>
            </a:pPr>
            <a:r>
              <a:rPr sz="2000">
                <a:solidFill>
                  <a:srgbClr val="222B33"/>
                </a:solidFill>
                <a:latin typeface="Microsoft YaHei"/>
              </a:rPr>
              <a:t>▪ 浓度和时间以规程和说明为准</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消毒剂需要与微生物接触足够的时间才能起作用。喷一下马上擦干，接触时间不够，等于没消毒。</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喷完立即擦干</a:t>
            </a:r>
          </a:p>
          <a:p>
            <a:pPr>
              <a:spcAft>
                <a:spcPts val="1000"/>
              </a:spcAft>
            </a:pPr>
            <a:r>
              <a:rPr sz="1500">
                <a:solidFill>
                  <a:srgbClr val="222B33"/>
                </a:solidFill>
                <a:latin typeface="Microsoft YaHei"/>
              </a:rPr>
              <a:t>▪ 凭感觉稀释，不看说明</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076 · 消毒与灭菌</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台面设备：开工前、收工后、洒了马上消毒</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076 消毒与灭菌</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K6</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一洒一漏，台面和材料就被污染</a:t>
            </a:r>
          </a:p>
          <a:p>
            <a:pPr>
              <a:spcAft>
                <a:spcPts val="1000"/>
              </a:spcAft>
            </a:pPr>
            <a:r>
              <a:rPr sz="1700">
                <a:solidFill>
                  <a:srgbClr val="222B33"/>
                </a:solidFill>
                <a:latin typeface="Microsoft YaHei"/>
              </a:rPr>
              <a:t>▪ 开工前、收工后，台面都要消毒</a:t>
            </a:r>
          </a:p>
          <a:p>
            <a:pPr>
              <a:spcAft>
                <a:spcPts val="1000"/>
              </a:spcAft>
            </a:pPr>
            <a:r>
              <a:rPr sz="1700">
                <a:solidFill>
                  <a:srgbClr val="222B33"/>
                </a:solidFill>
                <a:latin typeface="Microsoft YaHei"/>
              </a:rPr>
              <a:t>▪ 用过的仪器设备也要擦</a:t>
            </a:r>
          </a:p>
          <a:p>
            <a:pPr>
              <a:spcAft>
                <a:spcPts val="1000"/>
              </a:spcAft>
            </a:pPr>
            <a:r>
              <a:rPr sz="1700">
                <a:solidFill>
                  <a:srgbClr val="222B33"/>
                </a:solidFill>
                <a:latin typeface="Microsoft YaHei"/>
              </a:rPr>
              <a:t>▪ 洒了按规程马上处理</a:t>
            </a:r>
          </a:p>
          <a:p>
            <a:pPr>
              <a:spcAft>
                <a:spcPts val="1000"/>
              </a:spcAft>
            </a:pPr>
            <a:r>
              <a:rPr sz="1700">
                <a:solidFill>
                  <a:srgbClr val="222B33"/>
                </a:solidFill>
                <a:latin typeface="Microsoft YaHei"/>
              </a:rPr>
              <a:t>▪ 用过的东西收进专用袋</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生物材料一旦洒漏，台面、设备和材料都会被污染，既威胁人员，也破坏实验的无菌条件。</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只在收工时擦一次台面</a:t>
            </a:r>
          </a:p>
          <a:p>
            <a:pPr>
              <a:spcAft>
                <a:spcPts val="1000"/>
              </a:spcAft>
            </a:pPr>
            <a:r>
              <a:rPr sz="1500">
                <a:solidFill>
                  <a:srgbClr val="222B33"/>
                </a:solidFill>
                <a:latin typeface="Microsoft YaHei"/>
              </a:rPr>
              <a:t>▪ 用过的东西随手丢在台面上</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076 · 消毒与灭菌</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配制消毒液：防护、标签、按期更换</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076 消毒与灭菌</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K7</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配消毒液，戴好手套和护目镜</a:t>
            </a:r>
          </a:p>
          <a:p>
            <a:pPr>
              <a:spcAft>
                <a:spcPts val="1000"/>
              </a:spcAft>
            </a:pPr>
            <a:r>
              <a:rPr sz="2000">
                <a:solidFill>
                  <a:srgbClr val="222B33"/>
                </a:solidFill>
                <a:latin typeface="Microsoft YaHei"/>
              </a:rPr>
              <a:t>▪ 贴标签，写名称和配制日期</a:t>
            </a:r>
          </a:p>
          <a:p>
            <a:pPr>
              <a:spcAft>
                <a:spcPts val="1000"/>
              </a:spcAft>
            </a:pPr>
            <a:r>
              <a:rPr sz="2000">
                <a:solidFill>
                  <a:srgbClr val="222B33"/>
                </a:solidFill>
                <a:latin typeface="Microsoft YaHei"/>
              </a:rPr>
              <a:t>▪ 过了有效期就换新的</a:t>
            </a:r>
          </a:p>
          <a:p>
            <a:pPr>
              <a:spcAft>
                <a:spcPts val="1000"/>
              </a:spcAft>
            </a:pPr>
            <a:r>
              <a:rPr sz="2000">
                <a:solidFill>
                  <a:srgbClr val="222B33"/>
                </a:solidFill>
                <a:latin typeface="Microsoft YaHei"/>
              </a:rPr>
              <a:t>▪ 需要现配的就现配现用</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消毒剂浓缩液多有腐蚀性或刺激性。配制和擦拭时戴好手套和护目镜，在通风良好处按说明量取、稀释，必要时穿防护围裙。</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配制时不戴护目镜</a:t>
            </a:r>
          </a:p>
          <a:p>
            <a:pPr>
              <a:spcAft>
                <a:spcPts val="1000"/>
              </a:spcAft>
            </a:pPr>
            <a:r>
              <a:rPr sz="1500">
                <a:solidFill>
                  <a:srgbClr val="222B33"/>
                </a:solidFill>
                <a:latin typeface="Microsoft YaHei"/>
              </a:rPr>
              <a:t>▪ 稀释液没有标签和日期</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076 · 消毒与灭菌</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消毒剂不乱混，乙醇远离火源</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076 消毒与灭菌</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K8</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含氯的不和酸性、含氨清洁剂混</a:t>
            </a:r>
          </a:p>
          <a:p>
            <a:pPr>
              <a:spcAft>
                <a:spcPts val="1000"/>
              </a:spcAft>
            </a:pPr>
            <a:r>
              <a:rPr sz="2000">
                <a:solidFill>
                  <a:srgbClr val="222B33"/>
                </a:solidFill>
                <a:latin typeface="Microsoft YaHei"/>
              </a:rPr>
              <a:t>▪ 能不能混，查说明书、问老师</a:t>
            </a:r>
          </a:p>
          <a:p>
            <a:pPr>
              <a:spcAft>
                <a:spcPts val="1000"/>
              </a:spcAft>
            </a:pPr>
            <a:r>
              <a:rPr sz="2000">
                <a:solidFill>
                  <a:srgbClr val="222B33"/>
                </a:solidFill>
                <a:latin typeface="Microsoft YaHei"/>
              </a:rPr>
              <a:t>▪ 乙醇易燃，远离明火、热源和火花</a:t>
            </a:r>
          </a:p>
          <a:p>
            <a:pPr>
              <a:spcAft>
                <a:spcPts val="1000"/>
              </a:spcAft>
            </a:pPr>
            <a:r>
              <a:rPr sz="2000">
                <a:solidFill>
                  <a:srgbClr val="222B33"/>
                </a:solidFill>
                <a:latin typeface="Microsoft YaHei"/>
              </a:rPr>
              <a:t>▪ 消毒剂也是化学品，按化学品管理</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消毒剂不能随手混在一起：含氯消毒剂与酸性物品混合会放出氯气，与含氨清洁剂混合也会产生有害气体。能不能混用、能不能先后使用，查产品说明书或安全技术说明书，拿不准就问老师。</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把含氯消毒剂和酸性清洁剂混在一起</a:t>
            </a:r>
          </a:p>
          <a:p>
            <a:pPr>
              <a:spcAft>
                <a:spcPts val="1000"/>
              </a:spcAft>
            </a:pPr>
            <a:r>
              <a:rPr sz="1500">
                <a:solidFill>
                  <a:srgbClr val="222B33"/>
                </a:solidFill>
                <a:latin typeface="Microsoft YaHei"/>
              </a:rPr>
              <a:t>▪ 在酒精灯旁大量喷洒乙醇</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076 · 消毒与灭菌</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紫外消毒只是辅助</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076 消毒与灭菌</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K9</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只对直接照到的表面有效</a:t>
            </a:r>
          </a:p>
          <a:p>
            <a:pPr>
              <a:spcAft>
                <a:spcPts val="1000"/>
              </a:spcAft>
            </a:pPr>
            <a:r>
              <a:rPr sz="1700">
                <a:solidFill>
                  <a:srgbClr val="222B33"/>
                </a:solidFill>
                <a:latin typeface="Microsoft YaHei"/>
              </a:rPr>
              <a:t>▪ 阴影、角落、灰尘下面管不着</a:t>
            </a:r>
          </a:p>
          <a:p>
            <a:pPr>
              <a:spcAft>
                <a:spcPts val="1000"/>
              </a:spcAft>
            </a:pPr>
            <a:r>
              <a:rPr sz="1700">
                <a:solidFill>
                  <a:srgbClr val="222B33"/>
                </a:solidFill>
                <a:latin typeface="Microsoft YaHei"/>
              </a:rPr>
              <a:t>▪ 不能代替消毒剂擦拭</a:t>
            </a:r>
          </a:p>
          <a:p>
            <a:pPr>
              <a:spcAft>
                <a:spcPts val="1000"/>
              </a:spcAft>
            </a:pPr>
            <a:r>
              <a:rPr sz="1700">
                <a:solidFill>
                  <a:srgbClr val="222B33"/>
                </a:solidFill>
                <a:latin typeface="Microsoft YaHei"/>
              </a:rPr>
              <a:t>▪ 灯管老化，要定期检测更换</a:t>
            </a:r>
          </a:p>
          <a:p>
            <a:pPr>
              <a:spcAft>
                <a:spcPts val="1000"/>
              </a:spcAft>
            </a:pPr>
            <a:r>
              <a:rPr sz="1700">
                <a:solidFill>
                  <a:srgbClr val="222B33"/>
                </a:solidFill>
                <a:latin typeface="Microsoft YaHei"/>
              </a:rPr>
              <a:t>▪ 开灯时人离开；开多久按规程</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紫外线只能杀灭直接照射到的表面和空气中的微生物，穿透力很弱：物品背后的阴影、角落、灰尘和污物下面都照不到。因此紫外消毒只能作为辅助手段，不能代替消毒剂擦拭和灭菌。</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用紫外照射代替擦拭消毒</a:t>
            </a:r>
          </a:p>
          <a:p>
            <a:pPr>
              <a:spcAft>
                <a:spcPts val="1000"/>
              </a:spcAft>
            </a:pPr>
            <a:r>
              <a:rPr sz="1500">
                <a:solidFill>
                  <a:srgbClr val="222B33"/>
                </a:solidFill>
                <a:latin typeface="Microsoft YaHei"/>
              </a:rPr>
              <a:t>▪ 紫外灯亮着时开门查看</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076 · 消毒与灭菌</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湿热灭菌：靠饱和蒸汽穿透</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076 消毒与灭菌</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K10</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高压蒸汽灭菌最常用也最可靠</a:t>
            </a:r>
          </a:p>
          <a:p>
            <a:pPr>
              <a:spcAft>
                <a:spcPts val="1000"/>
              </a:spcAft>
            </a:pPr>
            <a:r>
              <a:rPr sz="1700">
                <a:solidFill>
                  <a:srgbClr val="222B33"/>
                </a:solidFill>
                <a:latin typeface="Microsoft YaHei"/>
              </a:rPr>
              <a:t>▪ 加压让蒸汽温度升高</a:t>
            </a:r>
          </a:p>
          <a:p>
            <a:pPr>
              <a:spcAft>
                <a:spcPts val="1000"/>
              </a:spcAft>
            </a:pPr>
            <a:r>
              <a:rPr sz="1700">
                <a:solidFill>
                  <a:srgbClr val="222B33"/>
                </a:solidFill>
                <a:latin typeface="Microsoft YaHei"/>
              </a:rPr>
              <a:t>▪ 蒸汽要钻进物品中心才灭得透</a:t>
            </a:r>
          </a:p>
          <a:p>
            <a:pPr>
              <a:spcAft>
                <a:spcPts val="1000"/>
              </a:spcAft>
            </a:pPr>
            <a:r>
              <a:rPr sz="1700">
                <a:solidFill>
                  <a:srgbClr val="222B33"/>
                </a:solidFill>
                <a:latin typeface="Microsoft YaHei"/>
              </a:rPr>
              <a:t>▪ 装载松散，瓶盖拧松，袋口不扎死</a:t>
            </a:r>
          </a:p>
          <a:p>
            <a:pPr>
              <a:spcAft>
                <a:spcPts val="1000"/>
              </a:spcAft>
            </a:pPr>
            <a:r>
              <a:rPr sz="1700">
                <a:solidFill>
                  <a:srgbClr val="222B33"/>
                </a:solidFill>
                <a:latin typeface="Microsoft YaHei"/>
              </a:rPr>
              <a:t>▪ 参数按设备规程和验证结果</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高压蒸汽灭菌是实验室最常用、最可靠的灭菌方法：在密闭容器中加压，使饱和蒸汽温度升高；高温蒸汽接触物品并在表面冷凝放热，使微生物的蛋白质变性而死亡。</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灭菌筐塞满、袋口扎死</a:t>
            </a:r>
          </a:p>
          <a:p>
            <a:pPr>
              <a:spcAft>
                <a:spcPts val="1000"/>
              </a:spcAft>
            </a:pPr>
            <a:r>
              <a:rPr sz="1500">
                <a:solidFill>
                  <a:srgbClr val="222B33"/>
                </a:solidFill>
                <a:latin typeface="Microsoft YaHei"/>
              </a:rPr>
              <a:t>▪ 自行改参数、缩短时间</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076 · 消毒与灭菌</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灭菌效果要监测和验证</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076 消毒与灭菌</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每锅看温度、压力、时间记录</a:t>
            </a:r>
          </a:p>
          <a:p>
            <a:pPr>
              <a:spcAft>
                <a:spcPts val="1000"/>
              </a:spcAft>
            </a:pPr>
            <a:r>
              <a:rPr sz="1700">
                <a:solidFill>
                  <a:srgbClr val="222B33"/>
                </a:solidFill>
                <a:latin typeface="Microsoft YaHei"/>
              </a:rPr>
              <a:t>▪ 指示胶带变色只说明经过灭菌</a:t>
            </a:r>
          </a:p>
          <a:p>
            <a:pPr>
              <a:spcAft>
                <a:spcPts val="1000"/>
              </a:spcAft>
            </a:pPr>
            <a:r>
              <a:rPr sz="1700">
                <a:solidFill>
                  <a:srgbClr val="222B33"/>
                </a:solidFill>
                <a:latin typeface="Microsoft YaHei"/>
              </a:rPr>
              <a:t>▪ 生物指示物定期验证能否杀灭</a:t>
            </a:r>
          </a:p>
          <a:p>
            <a:pPr>
              <a:spcAft>
                <a:spcPts val="1000"/>
              </a:spcAft>
            </a:pPr>
            <a:r>
              <a:rPr sz="1700">
                <a:solidFill>
                  <a:srgbClr val="222B33"/>
                </a:solidFill>
                <a:latin typeface="Microsoft YaHei"/>
              </a:rPr>
              <a:t>▪ 新装、维修后、换装法都要验证</a:t>
            </a:r>
          </a:p>
          <a:p>
            <a:pPr>
              <a:spcAft>
                <a:spcPts val="1000"/>
              </a:spcAft>
            </a:pPr>
            <a:r>
              <a:rPr sz="1700">
                <a:solidFill>
                  <a:srgbClr val="222B33"/>
                </a:solidFill>
                <a:latin typeface="Microsoft YaHei"/>
              </a:rPr>
              <a:t>▪ 不合格停用报告，记录存档</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灭菌是否成功，要靠监测和验证，而不是“看着差不多”。常用三类监测：物理监测，每一锅记录温度、压力和时间；化学指示物，如包外的指示胶带和包内指示卡，变色只说明经过了灭菌过程，不等于中心已经灭透；生物指示物，内含耐热芽孢……</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指示胶带变色就认为灭透了</a:t>
            </a:r>
          </a:p>
          <a:p>
            <a:pPr>
              <a:spcAft>
                <a:spcPts val="1000"/>
              </a:spcAft>
            </a:pPr>
            <a:r>
              <a:rPr sz="1500">
                <a:solidFill>
                  <a:srgbClr val="222B33"/>
                </a:solidFill>
                <a:latin typeface="Microsoft YaHei"/>
              </a:rPr>
              <a:t>▪ 监测不合格仍继续使用</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076 · 消毒与灭菌</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熏蒸与气体灭菌：专人操作，通风合格再进</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076 消毒与灭菌</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整间实验室或柜子去污用熏蒸</a:t>
            </a:r>
          </a:p>
          <a:p>
            <a:pPr>
              <a:spcAft>
                <a:spcPts val="1000"/>
              </a:spcAft>
            </a:pPr>
            <a:r>
              <a:rPr sz="1700">
                <a:solidFill>
                  <a:srgbClr val="222B33"/>
                </a:solidFill>
                <a:latin typeface="Microsoft YaHei"/>
              </a:rPr>
              <a:t>▪ 熏蒸药剂对人也有害</a:t>
            </a:r>
          </a:p>
          <a:p>
            <a:pPr>
              <a:spcAft>
                <a:spcPts val="1000"/>
              </a:spcAft>
            </a:pPr>
            <a:r>
              <a:rPr sz="1700">
                <a:solidFill>
                  <a:srgbClr val="222B33"/>
                </a:solidFill>
                <a:latin typeface="Microsoft YaHei"/>
              </a:rPr>
              <a:t>▪ 专人操作，先清场，门口挂牌</a:t>
            </a:r>
          </a:p>
          <a:p>
            <a:pPr>
              <a:spcAft>
                <a:spcPts val="1000"/>
              </a:spcAft>
            </a:pPr>
            <a:r>
              <a:rPr sz="1700">
                <a:solidFill>
                  <a:srgbClr val="222B33"/>
                </a:solidFill>
                <a:latin typeface="Microsoft YaHei"/>
              </a:rPr>
              <a:t>▪ 通风、检测合格后才能进去</a:t>
            </a:r>
          </a:p>
          <a:p>
            <a:pPr>
              <a:spcAft>
                <a:spcPts val="1000"/>
              </a:spcAft>
            </a:pPr>
            <a:r>
              <a:rPr sz="1700">
                <a:solidFill>
                  <a:srgbClr val="222B33"/>
                </a:solidFill>
                <a:latin typeface="Microsoft YaHei"/>
              </a:rPr>
              <a:t>▪ 气体灭菌有毒易燃，不提前开门</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需要对整间实验室、生物安全柜整体去污时（如更换过滤器、设备维修搬迁、实验室停用或发生严重污染后），采用熏蒸消毒。熏蒸用的药剂对人同样有毒有害。</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熏蒸期间无人看管、不挂牌</a:t>
            </a:r>
          </a:p>
          <a:p>
            <a:pPr>
              <a:spcAft>
                <a:spcPts val="1000"/>
              </a:spcAft>
            </a:pPr>
            <a:r>
              <a:rPr sz="1500">
                <a:solidFill>
                  <a:srgbClr val="222B33"/>
                </a:solidFill>
                <a:latin typeface="Microsoft YaHei"/>
              </a:rPr>
              <a:t>▪ 熏蒸后不检测就进入</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076 · 消毒与灭菌</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076 消毒与灭菌</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1</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关于消毒和灭菌，下列说法正确的是：</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消毒过的器皿就是无菌的</a:t>
            </a:r>
          </a:p>
          <a:p>
            <a:pPr algn="l"/>
            <a:r>
              <a:rPr sz="1500" b="0">
                <a:solidFill>
                  <a:srgbClr val="222B33"/>
                </a:solidFill>
                <a:latin typeface="Microsoft YaHei"/>
              </a:rPr>
              <a:t>B. 灭菌能杀灭包括芽孢在内的全部微生物</a:t>
            </a:r>
          </a:p>
          <a:p>
            <a:pPr algn="l"/>
            <a:r>
              <a:rPr sz="1500" b="0">
                <a:solidFill>
                  <a:srgbClr val="222B33"/>
                </a:solidFill>
                <a:latin typeface="Microsoft YaHei"/>
              </a:rPr>
              <a:t>C. 消毒和灭菌是同一个意思</a:t>
            </a:r>
          </a:p>
          <a:p>
            <a:pPr algn="l"/>
            <a:r>
              <a:rPr sz="1500" b="0">
                <a:solidFill>
                  <a:srgbClr val="222B33"/>
                </a:solidFill>
                <a:latin typeface="Microsoft YaHei"/>
              </a:rPr>
              <a:t>D. 紫外照射可以代替灭菌</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2</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判断：台面喷上消毒剂后立即擦干，就完成了消毒。</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076 · 消毒与灭菌</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076 消毒与灭菌</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3</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下列做法中错误的是：</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配制消毒液时戴手套和护目镜</a:t>
            </a:r>
          </a:p>
          <a:p>
            <a:pPr algn="l"/>
            <a:r>
              <a:rPr sz="1500" b="0">
                <a:solidFill>
                  <a:srgbClr val="222B33"/>
                </a:solidFill>
                <a:latin typeface="Microsoft YaHei"/>
              </a:rPr>
              <a:t>B. 稀释液贴标签写配制日期</a:t>
            </a:r>
          </a:p>
          <a:p>
            <a:pPr algn="l"/>
            <a:r>
              <a:rPr sz="1500" b="0">
                <a:solidFill>
                  <a:srgbClr val="222B33"/>
                </a:solidFill>
                <a:latin typeface="Microsoft YaHei"/>
              </a:rPr>
              <a:t>C. 把含氯消毒剂和酸性清洁剂混合增强效果</a:t>
            </a:r>
          </a:p>
          <a:p>
            <a:pPr algn="l"/>
            <a:r>
              <a:rPr sz="1500" b="0">
                <a:solidFill>
                  <a:srgbClr val="222B33"/>
                </a:solidFill>
                <a:latin typeface="Microsoft YaHei"/>
              </a:rPr>
              <a:t>D. 乙醇远离酒精灯</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4</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判断：开着紫外灯照射 30 分钟后，生物安全柜就不必再用消毒剂擦拭。</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076 · 消毒与灭菌</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076 消毒与灭菌</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5</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高压蒸汽灭菌后包外指示胶带变色了，说明：</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物品已经彻底灭菌</a:t>
            </a:r>
          </a:p>
          <a:p>
            <a:pPr algn="l"/>
            <a:r>
              <a:rPr sz="1500" b="0">
                <a:solidFill>
                  <a:srgbClr val="222B33"/>
                </a:solidFill>
                <a:latin typeface="Microsoft YaHei"/>
              </a:rPr>
              <a:t>B. 物品经过了灭菌过程，是否灭透还要靠物理监测和生物指示物验证</a:t>
            </a:r>
          </a:p>
          <a:p>
            <a:pPr algn="l"/>
            <a:r>
              <a:rPr sz="1500" b="0">
                <a:solidFill>
                  <a:srgbClr val="222B33"/>
                </a:solidFill>
                <a:latin typeface="Microsoft YaHei"/>
              </a:rPr>
              <a:t>C. 设备不需要再验证</a:t>
            </a:r>
          </a:p>
          <a:p>
            <a:pPr algn="l"/>
            <a:r>
              <a:rPr sz="1500" b="0">
                <a:solidFill>
                  <a:srgbClr val="222B33"/>
                </a:solidFill>
                <a:latin typeface="Microsoft YaHei"/>
              </a:rPr>
              <a:t>D. 可以缩短下次灭菌时间</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6</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简答：实验室熏蒸消毒时要做到哪些安全要求？</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TextBox 1"/>
          <p:cNvSpPr txBox="1"/>
          <p:nvPr/>
        </p:nvSpPr>
        <p:spPr>
          <a:xfrm>
            <a:off x="548640" y="548640"/>
            <a:ext cx="11094415" cy="731520"/>
          </a:xfrm>
          <a:prstGeom prst="rect">
            <a:avLst/>
          </a:prstGeom>
          <a:noFill/>
        </p:spPr>
        <p:txBody>
          <a:bodyPr wrap="square" anchor="t" lIns="0" rIns="0" tIns="0" bIns="0">
            <a:spAutoFit/>
          </a:bodyPr>
          <a:lstStyle/>
          <a:p>
            <a:pPr algn="l"/>
            <a:r>
              <a:rPr sz="3400" b="1">
                <a:solidFill>
                  <a:srgbClr val="FFFFFF"/>
                </a:solidFill>
                <a:latin typeface="Microsoft YaHei"/>
              </a:rPr>
              <a:t>本课小结</a:t>
            </a:r>
          </a:p>
        </p:txBody>
      </p:sp>
      <p:sp>
        <p:nvSpPr>
          <p:cNvPr id="3" name="TextBox 2"/>
          <p:cNvSpPr txBox="1"/>
          <p:nvPr/>
        </p:nvSpPr>
        <p:spPr>
          <a:xfrm>
            <a:off x="548640"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K1  消毒、去污、灭菌不是一回事</a:t>
            </a:r>
          </a:p>
          <a:p>
            <a:pPr>
              <a:spcAft>
                <a:spcPts val="800"/>
              </a:spcAft>
            </a:pPr>
            <a:r>
              <a:rPr sz="1500">
                <a:solidFill>
                  <a:srgbClr val="FFFFFF"/>
                </a:solidFill>
                <a:latin typeface="Microsoft YaHei"/>
              </a:rPr>
              <a:t>▪ K2  杀灭微生物的方法：热、化学、辐射</a:t>
            </a:r>
          </a:p>
          <a:p>
            <a:pPr>
              <a:spcAft>
                <a:spcPts val="800"/>
              </a:spcAft>
            </a:pPr>
            <a:r>
              <a:rPr sz="1500">
                <a:solidFill>
                  <a:srgbClr val="FFFFFF"/>
                </a:solidFill>
                <a:latin typeface="Microsoft YaHei"/>
              </a:rPr>
              <a:t>▪ K3  灭菌手段本身有危害，必须照规程</a:t>
            </a:r>
          </a:p>
          <a:p>
            <a:pPr>
              <a:spcAft>
                <a:spcPts val="800"/>
              </a:spcAft>
            </a:pPr>
            <a:r>
              <a:rPr sz="1500">
                <a:solidFill>
                  <a:srgbClr val="FFFFFF"/>
                </a:solidFill>
                <a:latin typeface="Microsoft YaHei"/>
              </a:rPr>
              <a:t>▪ K4  消毒剂要对得上微生物</a:t>
            </a:r>
          </a:p>
          <a:p>
            <a:pPr>
              <a:spcAft>
                <a:spcPts val="800"/>
              </a:spcAft>
            </a:pPr>
            <a:r>
              <a:rPr sz="1500">
                <a:solidFill>
                  <a:srgbClr val="FFFFFF"/>
                </a:solidFill>
                <a:latin typeface="Microsoft YaHei"/>
              </a:rPr>
              <a:t>▪ K5  保持湿润，等够作用时间</a:t>
            </a:r>
          </a:p>
          <a:p>
            <a:pPr>
              <a:spcAft>
                <a:spcPts val="800"/>
              </a:spcAft>
            </a:pPr>
            <a:r>
              <a:rPr sz="1500">
                <a:solidFill>
                  <a:srgbClr val="FFFFFF"/>
                </a:solidFill>
                <a:latin typeface="Microsoft YaHei"/>
              </a:rPr>
              <a:t>▪ K6  台面设备：开工前、收工后、洒了马上消毒</a:t>
            </a:r>
          </a:p>
        </p:txBody>
      </p:sp>
      <p:sp>
        <p:nvSpPr>
          <p:cNvPr id="4" name="TextBox 3"/>
          <p:cNvSpPr txBox="1"/>
          <p:nvPr/>
        </p:nvSpPr>
        <p:spPr>
          <a:xfrm>
            <a:off x="6278727"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K7  配制消毒液：防护、标签、按期更换</a:t>
            </a:r>
          </a:p>
          <a:p>
            <a:pPr>
              <a:spcAft>
                <a:spcPts val="800"/>
              </a:spcAft>
            </a:pPr>
            <a:r>
              <a:rPr sz="1500">
                <a:solidFill>
                  <a:srgbClr val="FFFFFF"/>
                </a:solidFill>
                <a:latin typeface="Microsoft YaHei"/>
              </a:rPr>
              <a:t>▪ K8  消毒剂不乱混，乙醇远离火源</a:t>
            </a:r>
          </a:p>
          <a:p>
            <a:pPr>
              <a:spcAft>
                <a:spcPts val="800"/>
              </a:spcAft>
            </a:pPr>
            <a:r>
              <a:rPr sz="1500">
                <a:solidFill>
                  <a:srgbClr val="FFFFFF"/>
                </a:solidFill>
                <a:latin typeface="Microsoft YaHei"/>
              </a:rPr>
              <a:t>▪ K9  紫外消毒只是辅助</a:t>
            </a:r>
          </a:p>
          <a:p>
            <a:pPr>
              <a:spcAft>
                <a:spcPts val="800"/>
              </a:spcAft>
            </a:pPr>
            <a:r>
              <a:rPr sz="1500">
                <a:solidFill>
                  <a:srgbClr val="FFFFFF"/>
                </a:solidFill>
                <a:latin typeface="Microsoft YaHei"/>
              </a:rPr>
              <a:t>▪ K10  湿热灭菌：靠饱和蒸汽穿透</a:t>
            </a:r>
          </a:p>
          <a:p>
            <a:pPr>
              <a:spcAft>
                <a:spcPts val="800"/>
              </a:spcAft>
            </a:pPr>
            <a:r>
              <a:rPr sz="1500">
                <a:solidFill>
                  <a:srgbClr val="FFFFFF"/>
                </a:solidFill>
                <a:latin typeface="Microsoft YaHei"/>
              </a:rPr>
              <a:t>▪ K11  灭菌效果要监测和验证</a:t>
            </a:r>
          </a:p>
          <a:p>
            <a:pPr>
              <a:spcAft>
                <a:spcPts val="800"/>
              </a:spcAft>
            </a:pPr>
            <a:r>
              <a:rPr sz="1500">
                <a:solidFill>
                  <a:srgbClr val="FFFFFF"/>
                </a:solidFill>
                <a:latin typeface="Microsoft YaHei"/>
              </a:rPr>
              <a:t>▪ K12  熏蒸与气体灭菌：专人操作，通风合格再进</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《高校实验室安全》学习课件</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