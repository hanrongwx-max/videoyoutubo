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实验室安全不是凭个人经验的“自由发挥”。从实验室的设计建设、设施配备，到化学品、病原微生物、放射源的采购储存使用和废物处置，再到人员培训、检查和事故报告，都有相应的法律法规、标准和学校制度作出规定。它们共同描绘出“一个安全的实验室应当是什么样”。</a:t>
            </a:r>
          </a:p>
          <a:p>
            <a:r>
              <a:t>其他国家和地区也有各自的实验室安全法规和标准，例如针对实验室化学品暴露的专门标准。学习时可以把它们作为了解国际通行做法的背景，但其中的数值、豁免条件和机构要求不能直接搬用。在我国高校做实验，必须遵守我国法律法规、国家标准和本校规定。</a:t>
            </a:r>
          </a:p>
          <a:p/>
          <a:p>
            <a:r>
              <a:t>来源：合并了 1 个原知识点，最佳讲解取自 Acids, Bases &amp; Solvents Safety 11（详见 来源.tsv）</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我国与实验室安全有关的规范按效力从高到低大致分为：法律（由全国人民代表大会及其常务委员会制定，如安全生产法、消防法、生物安全法）；行政法规（由国务院制定，多以“条例”命名，如病原微生物实验室生物安全管理条例、放射性同位素与射线装置安全和防护条例）；部门规章和规范性文件（由国务院各部门制定，多称“办法”“规定”“规范”，如易制爆危险化学品治安管理办法，以及教育部发布的高等学校实验室安全规范）；此外还有地方性法规和地方政府规章。</a:t>
            </a:r>
          </a:p>
          <a:p>
            <a:r>
              <a:t>标准是技术层面的依据，分为国家标准、行业标准、地方标准、团体标准和企业标准。国家标准中，代号 GB 的是强制性标准，必须执行；GB/T 是推荐性标准，但被法规或合同引用时同样要遵守。</a:t>
            </a:r>
          </a:p>
          <a:p>
            <a:r>
              <a:t>学校、学院和实验室依据上述法规制定本单位的管理办法和操作规程，内容最具体，是每个人日常必须遵守的规定。下位规定不得与上位法冲突；遇到不一致时，按上位法和更严格的要求执行。</a:t>
            </a:r>
          </a:p>
          <a:p/>
          <a:p>
            <a:r>
              <a:t>来源：补充知识点（依据《中华人民共和国立法法》《中华人民共和国标准化法》的层级规定，原视频未涉及）</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单位在法律上的核心义务，是为所有人员提供安全的工作条件，保障他们的安全和健康。这不在于实验室装修多漂亮、发了多少新装备，而在于危险源是否得到有效控制、人员是否得到培训和防护、隐患是否及时整改。</a:t>
            </a:r>
          </a:p>
          <a:p>
            <a:r>
              <a:t>《中华人民共和国安全生产法》规定了单位的安全生产主体责任，主要负责人对本单位安全工作全面负责；《中华人民共和国职业病防治法》规定了用人单位防治职业病危害的责任。缺氧和有限空间作业等高风险作业还有专门的标准和规定（第 12 章讲解）。</a:t>
            </a:r>
          </a:p>
          <a:p>
            <a:r>
              <a:t>在高校，这些责任通过学校—学院—实验室三级管理逐级落实，实验室负责人是本实验室安全的第一责任人（第 4 课详讲）。具体条款以现行文本和本校规定为准。</a:t>
            </a:r>
          </a:p>
          <a:p/>
          <a:p>
            <a:r>
              <a:t>来源：合并了 2 个原知识点，最佳讲解取自 Laboratory Ergonomics &amp; RSI 14（详见 来源.tsv）</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华人民共和国安全生产法》要求构建安全风险分级管控和隐患排查治理双重预防机制：一是事前辨识危险源、评估风险，按风险高低分级落实管控措施；二是定期排查隐患，发现后及时治理并复查，形成闭环。第 2 章的风险评估和第 5 课的隐患整改就是这一要求在实验室的落实。</a:t>
            </a:r>
          </a:p>
          <a:p>
            <a:r>
              <a:t>《中华人民共和国职业病防治法》要求用人单位辨识工作场所的职业病危害因素，如实告知劳动者，进行职业卫生培训，提供合格的个人防护用品，并按规定组织职业健康检查。在高校，接触化学毒物、放射性、噪声、粉尘等危害的人员同样适用相关要求。</a:t>
            </a:r>
          </a:p>
          <a:p>
            <a:r>
              <a:t>具体条款和限值以现行文本和本校规定为准。</a:t>
            </a:r>
          </a:p>
          <a:p/>
          <a:p>
            <a:r>
              <a:t>来源：合并了 1 个原知识点，最佳讲解取自 Laboratory Ergonomics &amp; RSI 09（详见 来源.tsv）</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《中华人民共和国消防法》规定，任何单位和个人都有维护消防安全、保护消防设施、预防火灾、报告火警的义务；任何人发现火灾都应当立即报警，任何单位和个人都应当无偿为报警提供便利。</a:t>
            </a:r>
          </a:p>
          <a:p>
            <a:r>
              <a:t>在实验室里，这意味着：不得损坏、挪用或者擅自拆除、停用消防设施和器材，不得占用、堵塞、封闭疏散通道和安全出口，不得遮挡消防设施；发现火灾立即拨打 119，同时按本校程序报告实验室负责人、学院和保卫处。</a:t>
            </a:r>
          </a:p>
          <a:p>
            <a:r>
              <a:t>火灾自动报警系统、自动喷水灭火系统、灭火器、消防安全标志等都有相应的国家标准（如 GB 4351-2023、GB 13495.1-2015，以现行文本为准）。消防安全的具体知识在第 4 章讲解。</a:t>
            </a:r>
          </a:p>
          <a:p/>
          <a:p>
            <a:r>
              <a:t>来源：合并了 1 个原知识点，最佳讲解取自 Laboratory Ergonomics &amp; RSI 04（详见 来源.tsv）</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《中华人民共和国危险化学品安全法》于 2025 年 12 月 27 日通过，2026 年 5 月 1 日起施行，对危险化学品的生产、储存、使用、经营、运输等环节作出规定，并设专章规定“使用安全”。学校、科研机构使用危险化学品的，属于该法规定的责任主体；该法要求危险化学品附有中文的化学品安全技术说明书和安全标签。《危险化学品安全管理条例》目前仍同时适用，具体以现行文本为准。</a:t>
            </a:r>
          </a:p>
          <a:p>
            <a:r>
              <a:t>此外，易制毒化学品按《易制毒化学品管理条例》管理，易制爆危险化学品按《易制爆危险化学品治安管理办法》管理，购买、储存、使用、处置都有登记和报告要求；剧毒化学品实行双人收发、双人保管、双人领取、双把锁、双本账的“五双”管理（以本校规定为准）。</a:t>
            </a:r>
          </a:p>
          <a:p>
            <a:r>
              <a:t>废弃危险化学品的处置依照生态环境保护法律法规执行。化学品安全的具体要求在第 5 章讲解。</a:t>
            </a:r>
          </a:p>
          <a:p/>
          <a:p>
            <a:r>
              <a:t>来源：补充知识点（依据《中华人民共和国危险化学品安全法》《危险化学品安全管理条例》等，原视频未涉及）</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华人民共和国生物安全法》是我国生物安全领域的基础性法律，对病原微生物实验室生物安全、生物技术研究开发与应用安全等作出规定。《病原微生物实验室生物安全管理条例》将病原微生物按危害程度分为四类，将实验室按生物安全防护水平分为一级、二级、三级、四级，规定了不同级别实验室可从事的实验活动、备案和审批要求。</a:t>
            </a:r>
          </a:p>
          <a:p>
            <a:r>
              <a:t>病原微生物的分类以国家卫生健康委发布的《人间传染的病原微生物目录》（2023 年版，以现行版本为准）等为依据；实验室的技术要求见 GB 19489-2008（以现行文本为准）《实验室 生物安全通用要求》和 WS 233（以现行文本为准）。</a:t>
            </a:r>
          </a:p>
          <a:p>
            <a:r>
              <a:t>涉及转基因的研究，依据生物安全法、《农业转基因生物安全管理条例》（涉及农业转基因生物时）和单位生物安全委员会的审查要求开展。生物安全的具体要求在第 6 章讲解。</a:t>
            </a:r>
          </a:p>
          <a:p/>
          <a:p>
            <a:r>
              <a:t>来源：补充知识点（依据《中华人民共和国生物安全法》《病原微生物实验室生物安全管理条例》等，原视频未涉及）</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辐射安全的主要依据是《中华人民共和国放射性污染防治法》和《放射性同位素与射线装置安全和防护条例》：生产、销售、使用放射性同位素和射线装置的单位须依法取得辐射安全许可证，工作人员须接受辐射安全培训并进行个人剂量监测；技术要求见 GB 18871-2002（以现行文本为准）。具体内容在第 7 章讲解。</a:t>
            </a:r>
          </a:p>
          <a:p>
            <a:r>
              <a:t>气瓶、压力容器（如部分高压灭菌器、反应釜）、电梯、起重机械等属于特种设备，适用《中华人民共和国特种设备安全法》，须定期检验，作业人员按规定持证上岗；气瓶还要遵守 TSG 23《气瓶安全技术规程》（以现行文本为准）。具体内容在第 10、11 章讲解。</a:t>
            </a:r>
          </a:p>
          <a:p>
            <a:r>
              <a:t>实验室产生的废液、废弃化学品、沾染危险物质的包装物等属于危险废物的，依照《中华人民共和国固体废物污染环境防治法》和《国家危险废物名录》（以现行版本为准）管理，分类收集、规范贮存、交有资质的单位处置，严禁倒入下水道或混入生活垃圾。</a:t>
            </a:r>
          </a:p>
          <a:p/>
          <a:p>
            <a:r>
              <a:t>来源：补充知识点（依据《中华人民共和国放射性污染防治法》《中华人民共和国特种设备安全法》《中华人民共和国固体废物污染环境防治法》等，原视频未涉及）</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法律法规规定原则和责任，标准则给出可操作的技术要求。与实验室相关的标准一方面规定设施和设备本身，例如通风、消防、电气设备、洗眼和喷淋设备、安全标志的设计、安装和性能；另一方面规定人员的作业方法和防护，例如个体防护装备的选择使用、特殊作业的安全措施。因此，进入实验室装修、维修的外来人员同样要遵守相关标准和学校规定。</a:t>
            </a:r>
          </a:p>
          <a:p>
            <a:r>
              <a:t>行业实践和技术进步往往走在前面，推动标准不断修订完善。很多标准近年已更新（如 GB 2894-2025《安全色和安全标志》、GB 14866-2023《眼面防护具通用技术规范》，以现行文本为准），引用和执行时要确认使用的是现行版本，已废止的标准不再作为依据。</a:t>
            </a:r>
          </a:p>
          <a:p/>
          <a:p>
            <a:r>
              <a:t>来源：合并了 2 个原知识点，最佳讲解取自 Lab Safety Training - Essential Protocols 14（详见 来源.tsv）</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我国实验室安全涉及多个主管部门，按领域分工监管：应急管理部门负责安全生产综合监督管理，以及危险化学品安全的相关监管；卫生健康部门负责职业健康和人间传染的病原微生物实验室的生物安全监管（动物病原微生物实验室由农业农村部门监管）；消防救援机构负责消防监督检查；公安机关负责剧毒化学品、易制爆和易制毒化学品等的治安管理；生态环境部门负责辐射安全许可和危险废物等环境监管；市场监督管理部门负责特种设备安全监察。</a:t>
            </a:r>
          </a:p>
          <a:p>
            <a:r>
              <a:t>教育部门对高校实验室安全工作进行指导和督查，学校内部则通过三级管理落实责任。各部门的具体职责以现行法律法规和机构职能规定为准。了解监管分工，有助于明白各项手续（如采购备案、许可、检验）为什么必须办、找谁办。</a:t>
            </a:r>
          </a:p>
          <a:p/>
          <a:p>
            <a:r>
              <a:t>来源：合并了 1 个原知识点，最佳讲解取自 Laboratory Ergonomics &amp; RSI 32（详见 来源.tsv）</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在上述法律法规和标准之外，教育部针对高校实验室发布了《高等学校实验室安全规范》（教科信厅函〔2023〕5 号），对责任体系、分级分类、教育培训与准入、风险评估、安全设施、各类危险源管理、检查与应急等提出要求；教育部还组织制定高校实验室安全检查项目表，作为学校自查和上级检查的依据（均以现行文本为准）。</a:t>
            </a:r>
          </a:p>
          <a:p>
            <a:r>
              <a:t>各高校据此制定本校的实验室安全管理办法、准入制度和各类专项规定，学院和实验室再制定具体的操作规程。对学生来说，本校和本实验室的制度是最具体、最直接要遵守的规定。第 3 课将详细介绍《高等学校实验室安全规范》和检查项目表。</a:t>
            </a:r>
          </a:p>
          <a:p/>
          <a:p>
            <a:r>
              <a:t>来源：补充知识点（依据《高等学校实验室安全规范》，原视频未涉及）</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1 题 答案：B。解析：行政法规由国务院制定，多以“条例”命名；A 是法律，C 是部门规章，D 是国家标准。</a:t>
            </a:r>
          </a:p>
          <a:p>
            <a:r>
              <a:t>第 2 题 答案：C。解析：该法于 2025 年 12 月 27 日通过，2026 年 5 月 1 日起施行。</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3 题 答案：B。解析：推荐性标准被法规、合同或本校制度引用时同样要遵守；GB 强制性标准必须执行。</a:t>
            </a:r>
          </a:p>
          <a:p>
            <a:r>
              <a:t>第 4 题 答案：C。解析：危险废物依照固体废物污染环境防治法和国家危险废物名录管理，严禁倒入下水道。</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5 题 答案：A。解析：气瓶、压力容器属于特种设备，适用特种设备安全法，并须定期检验。</a:t>
            </a:r>
          </a:p>
          <a:p>
            <a:r>
              <a:t>第 6 题 答案：安全风险分级管控和隐患排查治理。解析：事前辨识危险源、评估并分级管控风险；定期排查隐患并及时治理、复查，形成闭环。</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Oval 1"/>
          <p:cNvSpPr/>
          <p:nvPr/>
        </p:nvSpPr>
        <p:spPr>
          <a:xfrm>
            <a:off x="548640" y="1280160"/>
            <a:ext cx="1005840" cy="100584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0"/>
            <a:ext cx="1005840" cy="1005840"/>
          </a:xfrm>
          <a:prstGeom prst="rect">
            <a:avLst/>
          </a:prstGeom>
          <a:noFill/>
        </p:spPr>
        <p:txBody>
          <a:bodyPr wrap="square" anchor="ctr" lIns="0" rIns="0" tIns="0" bIns="0">
            <a:spAutoFit/>
          </a:bodyPr>
          <a:lstStyle/>
          <a:p>
            <a:pPr algn="ctr"/>
            <a:r>
              <a:rPr sz="2400" b="1">
                <a:solidFill>
                  <a:srgbClr val="FFFFFF"/>
                </a:solidFill>
                <a:latin typeface="Microsoft YaHei"/>
              </a:rPr>
              <a:t>002</a:t>
            </a:r>
          </a:p>
        </p:txBody>
      </p:sp>
      <p:sp>
        <p:nvSpPr>
          <p:cNvPr id="4" name="TextBox 3"/>
          <p:cNvSpPr txBox="1"/>
          <p:nvPr/>
        </p:nvSpPr>
        <p:spPr>
          <a:xfrm>
            <a:off x="548640" y="2651760"/>
            <a:ext cx="11094415" cy="1097280"/>
          </a:xfrm>
          <a:prstGeom prst="rect">
            <a:avLst/>
          </a:prstGeom>
          <a:noFill/>
        </p:spPr>
        <p:txBody>
          <a:bodyPr wrap="square" anchor="t" lIns="0" rIns="0" tIns="0" bIns="0">
            <a:spAutoFit/>
          </a:bodyPr>
          <a:lstStyle/>
          <a:p>
            <a:pPr algn="l"/>
            <a:r>
              <a:rPr sz="4400" b="1">
                <a:solidFill>
                  <a:srgbClr val="FFFFFF"/>
                </a:solidFill>
                <a:latin typeface="Microsoft YaHei"/>
              </a:rPr>
              <a:t>实验室安全法律法规体系</a:t>
            </a:r>
          </a:p>
        </p:txBody>
      </p:sp>
      <p:sp>
        <p:nvSpPr>
          <p:cNvPr id="5" name="TextBox 4"/>
          <p:cNvSpPr txBox="1"/>
          <p:nvPr/>
        </p:nvSpPr>
        <p:spPr>
          <a:xfrm>
            <a:off x="548640" y="3840480"/>
            <a:ext cx="11094415" cy="457200"/>
          </a:xfrm>
          <a:prstGeom prst="rect">
            <a:avLst/>
          </a:prstGeom>
          <a:noFill/>
        </p:spPr>
        <p:txBody>
          <a:bodyPr wrap="square" anchor="t" lIns="0" rIns="0" tIns="0" bIns="0">
            <a:spAutoFit/>
          </a:bodyPr>
          <a:lstStyle/>
          <a:p>
            <a:pPr algn="l"/>
            <a:r>
              <a:rPr sz="2000" b="0">
                <a:solidFill>
                  <a:srgbClr val="CADCE6"/>
                </a:solidFill>
                <a:latin typeface="Microsoft YaHei"/>
              </a:rPr>
              <a:t>第1章 法规、管理与安全文化</a:t>
            </a:r>
          </a:p>
        </p:txBody>
      </p:sp>
      <p:sp>
        <p:nvSpPr>
          <p:cNvPr id="6" name="TextBox 5"/>
          <p:cNvSpPr txBox="1"/>
          <p:nvPr/>
        </p:nvSpPr>
        <p:spPr>
          <a:xfrm>
            <a:off x="548640" y="4389120"/>
            <a:ext cx="11094415" cy="457200"/>
          </a:xfrm>
          <a:prstGeom prst="rect">
            <a:avLst/>
          </a:prstGeom>
          <a:noFill/>
        </p:spPr>
        <p:txBody>
          <a:bodyPr wrap="square" anchor="t" lIns="0" rIns="0" tIns="0" bIns="0">
            <a:spAutoFit/>
          </a:bodyPr>
          <a:lstStyle/>
          <a:p>
            <a:pPr algn="l"/>
            <a:r>
              <a:rPr sz="1400" b="0">
                <a:solidFill>
                  <a:srgbClr val="CADCE6"/>
                </a:solidFill>
                <a:latin typeface="Microsoft YaHei"/>
              </a:rPr>
              <a:t>课时：约 5 分钟（卡通视频 61 镜）　适用对象：全体进入高校实验室的本科生、研究生、新进教职工和博士后（必修）</a:t>
            </a:r>
          </a:p>
        </p:txBody>
      </p:sp>
      <p:sp>
        <p:nvSpPr>
          <p:cNvPr id="7" name="TextBox 6"/>
          <p:cNvSpPr txBox="1"/>
          <p:nvPr/>
        </p:nvSpPr>
        <p:spPr>
          <a:xfrm>
            <a:off x="548640" y="6126480"/>
            <a:ext cx="7315200" cy="365760"/>
          </a:xfrm>
          <a:prstGeom prst="rect">
            <a:avLst/>
          </a:prstGeom>
          <a:noFill/>
        </p:spPr>
        <p:txBody>
          <a:bodyPr wrap="square" anchor="t" lIns="0" rIns="0" tIns="0" bIns="0">
            <a:spAutoFit/>
          </a:bodyPr>
          <a:lstStyle/>
          <a:p>
            <a:pPr algn="l"/>
            <a:r>
              <a:rPr sz="1400" b="1">
                <a:solidFill>
                  <a:srgbClr val="F28C28"/>
                </a:solidFill>
                <a:latin typeface="Microsoft YaHei"/>
              </a:rPr>
              <a:t>《高校实验室安全》学习课件</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002 · 实验室安全法律法规体系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学习目标</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002 实验室安全法律法规体系</a:t>
            </a:r>
          </a:p>
        </p:txBody>
      </p:sp>
      <p:sp>
        <p:nvSpPr>
          <p:cNvPr id="5" name="Rounded Rectangle 4"/>
          <p:cNvSpPr/>
          <p:nvPr/>
        </p:nvSpPr>
        <p:spPr>
          <a:xfrm>
            <a:off x="548640" y="1828800"/>
            <a:ext cx="3454298"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1</a:t>
            </a:r>
          </a:p>
        </p:txBody>
      </p:sp>
      <p:sp>
        <p:nvSpPr>
          <p:cNvPr id="7" name="TextBox 6"/>
          <p:cNvSpPr txBox="1"/>
          <p:nvPr/>
        </p:nvSpPr>
        <p:spPr>
          <a:xfrm>
            <a:off x="868680" y="3108960"/>
            <a:ext cx="2814218" cy="2468880"/>
          </a:xfrm>
          <a:prstGeom prst="rect">
            <a:avLst/>
          </a:prstGeom>
          <a:noFill/>
        </p:spPr>
        <p:txBody>
          <a:bodyPr wrap="square" anchor="t" lIns="0" rIns="0" tIns="0" bIns="0">
            <a:spAutoFit/>
          </a:bodyPr>
          <a:lstStyle/>
          <a:p>
            <a:pPr algn="l"/>
            <a:r>
              <a:rPr sz="1800" b="0">
                <a:solidFill>
                  <a:srgbClr val="222B33"/>
                </a:solidFill>
                <a:latin typeface="Microsoft YaHei"/>
              </a:rPr>
              <a:t>能说出我国法律、行政法规、部门规章、标准和学校制度的层级关系。</a:t>
            </a:r>
          </a:p>
        </p:txBody>
      </p:sp>
      <p:sp>
        <p:nvSpPr>
          <p:cNvPr id="8" name="Rounded Rectangle 7"/>
          <p:cNvSpPr/>
          <p:nvPr/>
        </p:nvSpPr>
        <p:spPr>
          <a:xfrm>
            <a:off x="4368698" y="1828800"/>
            <a:ext cx="3454298"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688738"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2</a:t>
            </a:r>
          </a:p>
        </p:txBody>
      </p:sp>
      <p:sp>
        <p:nvSpPr>
          <p:cNvPr id="10" name="TextBox 9"/>
          <p:cNvSpPr txBox="1"/>
          <p:nvPr/>
        </p:nvSpPr>
        <p:spPr>
          <a:xfrm>
            <a:off x="4688738" y="3108960"/>
            <a:ext cx="2814218" cy="2468880"/>
          </a:xfrm>
          <a:prstGeom prst="rect">
            <a:avLst/>
          </a:prstGeom>
          <a:noFill/>
        </p:spPr>
        <p:txBody>
          <a:bodyPr wrap="square" anchor="t" lIns="0" rIns="0" tIns="0" bIns="0">
            <a:spAutoFit/>
          </a:bodyPr>
          <a:lstStyle/>
          <a:p>
            <a:pPr algn="l"/>
            <a:r>
              <a:rPr sz="1800" b="0">
                <a:solidFill>
                  <a:srgbClr val="222B33"/>
                </a:solidFill>
                <a:latin typeface="Microsoft YaHei"/>
              </a:rPr>
              <a:t>能说出安全生产、消防、危险化学品、生物、辐射、特种设备和环境保护各领域的主要法律法规。</a:t>
            </a:r>
          </a:p>
        </p:txBody>
      </p:sp>
      <p:sp>
        <p:nvSpPr>
          <p:cNvPr id="11" name="Rounded Rectangle 10"/>
          <p:cNvSpPr/>
          <p:nvPr/>
        </p:nvSpPr>
        <p:spPr>
          <a:xfrm>
            <a:off x="8188756" y="1828800"/>
            <a:ext cx="3454298"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508796"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3</a:t>
            </a:r>
          </a:p>
        </p:txBody>
      </p:sp>
      <p:sp>
        <p:nvSpPr>
          <p:cNvPr id="13" name="TextBox 12"/>
          <p:cNvSpPr txBox="1"/>
          <p:nvPr/>
        </p:nvSpPr>
        <p:spPr>
          <a:xfrm>
            <a:off x="8508796" y="3108960"/>
            <a:ext cx="2814218" cy="2468880"/>
          </a:xfrm>
          <a:prstGeom prst="rect">
            <a:avLst/>
          </a:prstGeom>
          <a:noFill/>
        </p:spPr>
        <p:txBody>
          <a:bodyPr wrap="square" anchor="t" lIns="0" rIns="0" tIns="0" bIns="0">
            <a:spAutoFit/>
          </a:bodyPr>
          <a:lstStyle/>
          <a:p>
            <a:pPr algn="l"/>
            <a:r>
              <a:rPr sz="1800" b="0">
                <a:solidFill>
                  <a:srgbClr val="222B33"/>
                </a:solidFill>
                <a:latin typeface="Microsoft YaHei"/>
              </a:rPr>
              <a:t>能判断各领域由哪类主管部门监管，并明白单位和个人在法律上的基本责任和义务。</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002 · 实验室安全法律法规体系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法规与标准依据</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002 实验室安全法律法规体系</a:t>
            </a:r>
          </a:p>
        </p:txBody>
      </p:sp>
      <p:sp>
        <p:nvSpPr>
          <p:cNvPr id="5" name="Rounded Rectangle 4"/>
          <p:cNvSpPr/>
          <p:nvPr/>
        </p:nvSpPr>
        <p:spPr>
          <a:xfrm>
            <a:off x="548640"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7" name="TextBox 6"/>
          <p:cNvSpPr txBox="1"/>
          <p:nvPr/>
        </p:nvSpPr>
        <p:spPr>
          <a:xfrm>
            <a:off x="1371600"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《中华人民共和国安全生产法》《中华人民共和国消防法》《中华人民共和国职业病防治法》（以现行文本为准）</a:t>
            </a:r>
          </a:p>
        </p:txBody>
      </p:sp>
      <p:sp>
        <p:nvSpPr>
          <p:cNvPr id="8" name="Rounded Rectangle 7"/>
          <p:cNvSpPr/>
          <p:nvPr/>
        </p:nvSpPr>
        <p:spPr>
          <a:xfrm>
            <a:off x="6278727"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61607"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0" name="TextBox 9"/>
          <p:cNvSpPr txBox="1"/>
          <p:nvPr/>
        </p:nvSpPr>
        <p:spPr>
          <a:xfrm>
            <a:off x="7101687"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《中华人民共和国危险化学品安全法》（2026 年 5 月 1 日起施行）及《危险化学品安全管理条例》（以现行文本为准）；《易制毒化学品管理条例》《易制爆危险化学品治安管理办法》</a:t>
            </a:r>
          </a:p>
        </p:txBody>
      </p:sp>
      <p:sp>
        <p:nvSpPr>
          <p:cNvPr id="11" name="Rounded Rectangle 10"/>
          <p:cNvSpPr/>
          <p:nvPr/>
        </p:nvSpPr>
        <p:spPr>
          <a:xfrm>
            <a:off x="548640"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1371600"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《中华人民共和国生物安全法》《病原微生物实验室生物安全管理条例》《农业转基因生物安全管理条例》（以现行文本为准）</a:t>
            </a:r>
          </a:p>
        </p:txBody>
      </p:sp>
      <p:sp>
        <p:nvSpPr>
          <p:cNvPr id="14" name="Rounded Rectangle 13"/>
          <p:cNvSpPr/>
          <p:nvPr/>
        </p:nvSpPr>
        <p:spPr>
          <a:xfrm>
            <a:off x="6278727"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61607"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6" name="TextBox 15"/>
          <p:cNvSpPr txBox="1"/>
          <p:nvPr/>
        </p:nvSpPr>
        <p:spPr>
          <a:xfrm>
            <a:off x="7101687"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《中华人民共和国放射性污染防治法》《放射性同位素与射线装置安全和防护条例》（以现行文本为准）</a:t>
            </a:r>
          </a:p>
        </p:txBody>
      </p:sp>
      <p:sp>
        <p:nvSpPr>
          <p:cNvPr id="17" name="Rounded Rectangle 16"/>
          <p:cNvSpPr/>
          <p:nvPr/>
        </p:nvSpPr>
        <p:spPr>
          <a:xfrm>
            <a:off x="548640"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31520"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9" name="TextBox 18"/>
          <p:cNvSpPr txBox="1"/>
          <p:nvPr/>
        </p:nvSpPr>
        <p:spPr>
          <a:xfrm>
            <a:off x="1371600"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《中华人民共和国特种设备安全法》、TSG 23《气瓶安全技术规程》（以现行文本为准）</a:t>
            </a:r>
          </a:p>
        </p:txBody>
      </p:sp>
      <p:sp>
        <p:nvSpPr>
          <p:cNvPr id="20" name="Rounded Rectangle 19"/>
          <p:cNvSpPr/>
          <p:nvPr/>
        </p:nvSpPr>
        <p:spPr>
          <a:xfrm>
            <a:off x="6278727"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61607"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2" name="TextBox 21"/>
          <p:cNvSpPr txBox="1"/>
          <p:nvPr/>
        </p:nvSpPr>
        <p:spPr>
          <a:xfrm>
            <a:off x="7101687"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《中华人民共和国固体废物污染环境防治法》《国家危险废物名录》（以现行版本为准）</a:t>
            </a:r>
          </a:p>
        </p:txBody>
      </p:sp>
      <p:sp>
        <p:nvSpPr>
          <p:cNvPr id="23" name="Rounded Rectangle 22"/>
          <p:cNvSpPr/>
          <p:nvPr/>
        </p:nvSpPr>
        <p:spPr>
          <a:xfrm>
            <a:off x="548640" y="502920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31520" y="528066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5" name="TextBox 24"/>
          <p:cNvSpPr txBox="1"/>
          <p:nvPr/>
        </p:nvSpPr>
        <p:spPr>
          <a:xfrm>
            <a:off x="1371600" y="512064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《中华人民共和国标准化法》（强制性标准必须执行，以现行文本为准）</a:t>
            </a:r>
          </a:p>
        </p:txBody>
      </p:sp>
      <p:sp>
        <p:nvSpPr>
          <p:cNvPr id="26" name="Rounded Rectangle 25"/>
          <p:cNvSpPr/>
          <p:nvPr/>
        </p:nvSpPr>
        <p:spPr>
          <a:xfrm>
            <a:off x="6278727" y="502920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61607" y="528066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8" name="TextBox 27"/>
          <p:cNvSpPr txBox="1"/>
          <p:nvPr/>
        </p:nvSpPr>
        <p:spPr>
          <a:xfrm>
            <a:off x="7101687" y="512064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《高等学校实验室安全规范》（教科信厅函〔2023〕5 号）、教育部高校实验室安全检查项目表（以现行文本为准）</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002 · 实验室安全法律法规体系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实验室安全有章可循</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002 实验室安全法律法规体系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实验室安全有一整套法律、标准和制度</a:t>
            </a:r>
          </a:p>
          <a:p>
            <a:pPr>
              <a:spcAft>
                <a:spcPts val="1000"/>
              </a:spcAft>
            </a:pPr>
            <a:r>
              <a:rPr sz="2000">
                <a:solidFill>
                  <a:srgbClr val="222B33"/>
                </a:solidFill>
                <a:latin typeface="Microsoft YaHei"/>
              </a:rPr>
              <a:t>▪ 制度规定了安全的实验室应该是什么样</a:t>
            </a:r>
          </a:p>
          <a:p>
            <a:pPr>
              <a:spcAft>
                <a:spcPts val="1000"/>
              </a:spcAft>
            </a:pPr>
            <a:r>
              <a:rPr sz="2000">
                <a:solidFill>
                  <a:srgbClr val="222B33"/>
                </a:solidFill>
                <a:latin typeface="Microsoft YaHei"/>
              </a:rPr>
              <a:t>▪ 国外有类似制度，只作背景了解</a:t>
            </a:r>
          </a:p>
          <a:p>
            <a:pPr>
              <a:spcAft>
                <a:spcPts val="1000"/>
              </a:spcAft>
            </a:pPr>
            <a:r>
              <a:rPr sz="2000">
                <a:solidFill>
                  <a:srgbClr val="222B33"/>
                </a:solidFill>
                <a:latin typeface="Microsoft YaHei"/>
              </a:rPr>
              <a:t>▪ 在国内做实验，按国内法规和本校制度执行</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实验室安全不是凭个人经验的“自由发挥”。从实验室的设计建设、设施配备，到化学品、病原微生物、放射源的采购储存使用和废物处置，再到人员培训、检查和事故报告，都有相应的法律法规、标准和学校制度作出规定。它们共同描绘出“一……</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照搬国外资料中的限值、做法和机构要求</a:t>
            </a:r>
          </a:p>
          <a:p>
            <a:pPr>
              <a:spcAft>
                <a:spcPts val="1000"/>
              </a:spcAft>
            </a:pPr>
            <a:r>
              <a:rPr sz="1500">
                <a:solidFill>
                  <a:srgbClr val="222B33"/>
                </a:solidFill>
                <a:latin typeface="Microsoft YaHei"/>
              </a:rPr>
              <a:t>▪ 以为安全只靠个人经验，不需要了解制度</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002 · 实验室安全法律法规体系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法律法规的层级</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002 实验室安全法律法规体系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S1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法律：全国人大及其常委会制定，效力最高</a:t>
            </a:r>
          </a:p>
          <a:p>
            <a:pPr>
              <a:spcAft>
                <a:spcPts val="1000"/>
              </a:spcAft>
            </a:pPr>
            <a:r>
              <a:rPr sz="2000">
                <a:solidFill>
                  <a:srgbClr val="222B33"/>
                </a:solidFill>
                <a:latin typeface="Microsoft YaHei"/>
              </a:rPr>
              <a:t>▪ 行政法规：国务院制定，多称“条例”</a:t>
            </a:r>
          </a:p>
          <a:p>
            <a:pPr>
              <a:spcAft>
                <a:spcPts val="1000"/>
              </a:spcAft>
            </a:pPr>
            <a:r>
              <a:rPr sz="2000">
                <a:solidFill>
                  <a:srgbClr val="222B33"/>
                </a:solidFill>
                <a:latin typeface="Microsoft YaHei"/>
              </a:rPr>
              <a:t>▪ 部门规章：国务院各部门制定，多称“办法”“规定”</a:t>
            </a:r>
          </a:p>
          <a:p>
            <a:pPr>
              <a:spcAft>
                <a:spcPts val="1000"/>
              </a:spcAft>
            </a:pPr>
            <a:r>
              <a:rPr sz="2000">
                <a:solidFill>
                  <a:srgbClr val="222B33"/>
                </a:solidFill>
                <a:latin typeface="Microsoft YaHei"/>
              </a:rPr>
              <a:t>▪ 国家和行业标准给出技术要求，学校制度最具体</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我国与实验室安全有关的规范按效力从高到低大致分为：法律（由全国人民代表大会及其常务委员会制定，如安全生产法、消防法、生物安全法）；行政法规（由国务院制定，多以“条例”命名，如病原微生物实验室生物安全管理条例、放射性同……</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认为学校制度“不是法律”，可以不遵守</a:t>
            </a:r>
          </a:p>
          <a:p>
            <a:pPr>
              <a:spcAft>
                <a:spcPts val="1000"/>
              </a:spcAft>
            </a:pPr>
            <a:r>
              <a:rPr sz="1500">
                <a:solidFill>
                  <a:srgbClr val="222B33"/>
                </a:solidFill>
                <a:latin typeface="Microsoft YaHei"/>
              </a:rPr>
              <a:t>▪ 把推荐性标准一律当成“可以不管”</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002 · 实验室安全法律法规体系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单位要保障人人安全健康</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002 实验室安全法律法规体系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单位的法定义务是保障所有人员安全与健康</a:t>
            </a:r>
          </a:p>
          <a:p>
            <a:pPr>
              <a:spcAft>
                <a:spcPts val="1000"/>
              </a:spcAft>
            </a:pPr>
            <a:r>
              <a:rPr sz="2000">
                <a:solidFill>
                  <a:srgbClr val="222B33"/>
                </a:solidFill>
                <a:latin typeface="Microsoft YaHei"/>
              </a:rPr>
              <a:t>▪ 不是装修漂亮，也不是发彩色安全帽</a:t>
            </a:r>
          </a:p>
          <a:p>
            <a:pPr>
              <a:spcAft>
                <a:spcPts val="1000"/>
              </a:spcAft>
            </a:pPr>
            <a:r>
              <a:rPr sz="2000">
                <a:solidFill>
                  <a:srgbClr val="222B33"/>
                </a:solidFill>
                <a:latin typeface="Microsoft YaHei"/>
              </a:rPr>
              <a:t>▪ 依据安全生产法和职业病防治法</a:t>
            </a:r>
          </a:p>
          <a:p>
            <a:pPr>
              <a:spcAft>
                <a:spcPts val="1000"/>
              </a:spcAft>
            </a:pPr>
            <a:r>
              <a:rPr sz="2000">
                <a:solidFill>
                  <a:srgbClr val="222B33"/>
                </a:solidFill>
                <a:latin typeface="Microsoft YaHei"/>
              </a:rPr>
              <a:t>▪ 高校通过学校—学院—实验室三级管理落实</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单位在法律上的核心义务，是为所有人员提供安全的工作条件，保障他们的安全和健康。这不在于实验室装修多漂亮、发了多少新装备，而在于危险源是否得到有效控制、人员是否得到培训和防护、隐患是否及时整改。</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把“添置新设备”等同于“做好了安全”</a:t>
            </a:r>
          </a:p>
          <a:p>
            <a:pPr>
              <a:spcAft>
                <a:spcPts val="1000"/>
              </a:spcAft>
            </a:pPr>
            <a:r>
              <a:rPr sz="1500">
                <a:solidFill>
                  <a:srgbClr val="222B33"/>
                </a:solidFill>
                <a:latin typeface="Microsoft YaHei"/>
              </a:rPr>
              <a:t>▪ 认为安全只是学校管理部门的事，与实验室和个人无关</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002 · 实验室安全法律法规体系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双重预防与危害告知</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002 实验室安全法律法规体系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安全生产法：风险分级管控、隐患排查治理</a:t>
            </a:r>
          </a:p>
          <a:p>
            <a:pPr>
              <a:spcAft>
                <a:spcPts val="1000"/>
              </a:spcAft>
            </a:pPr>
            <a:r>
              <a:rPr sz="2000">
                <a:solidFill>
                  <a:srgbClr val="222B33"/>
                </a:solidFill>
                <a:latin typeface="Microsoft YaHei"/>
              </a:rPr>
              <a:t>▪ 先辨识危害、评估风险，再分级落实措施</a:t>
            </a:r>
          </a:p>
          <a:p>
            <a:pPr>
              <a:spcAft>
                <a:spcPts val="1000"/>
              </a:spcAft>
            </a:pPr>
            <a:r>
              <a:rPr sz="2000">
                <a:solidFill>
                  <a:srgbClr val="222B33"/>
                </a:solidFill>
                <a:latin typeface="Microsoft YaHei"/>
              </a:rPr>
              <a:t>▪ 职业病防治法：辨识危害因素并如实告知</a:t>
            </a:r>
          </a:p>
          <a:p>
            <a:pPr>
              <a:spcAft>
                <a:spcPts val="1000"/>
              </a:spcAft>
            </a:pPr>
            <a:r>
              <a:rPr sz="2000">
                <a:solidFill>
                  <a:srgbClr val="222B33"/>
                </a:solidFill>
                <a:latin typeface="Microsoft YaHei"/>
              </a:rPr>
              <a:t>▪ 培训、防护用品和健康检查要落实到人</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中华人民共和国安全生产法》要求构建安全风险分级管控和隐患排查治理双重预防机制：一是事前辨识危险源、评估风险，按风险高低分级落实管控措施；二是定期排查隐患，发现后及时治理并复查，形成闭环。第 2 章的风险评估和第 5……</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只在出事后整改，平时不做风险辨识和隐患排查</a:t>
            </a:r>
          </a:p>
          <a:p>
            <a:pPr>
              <a:spcAft>
                <a:spcPts val="1000"/>
              </a:spcAft>
            </a:pPr>
            <a:r>
              <a:rPr sz="1500">
                <a:solidFill>
                  <a:srgbClr val="222B33"/>
                </a:solidFill>
                <a:latin typeface="Microsoft YaHei"/>
              </a:rPr>
              <a:t>▪ 隐患“发现了不报、报了不改、改了不查”</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002 · 实验室安全法律法规体系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消防法：人人有消防义务</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002 实验室安全法律法规体系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任何单位和个人都有维护消防安全的义务</a:t>
            </a:r>
          </a:p>
          <a:p>
            <a:pPr>
              <a:spcAft>
                <a:spcPts val="1000"/>
              </a:spcAft>
            </a:pPr>
            <a:r>
              <a:rPr sz="2000">
                <a:solidFill>
                  <a:srgbClr val="222B33"/>
                </a:solidFill>
                <a:latin typeface="Microsoft YaHei"/>
              </a:rPr>
              <a:t>▪ 发现火灾必须立即报警（火警 119）</a:t>
            </a:r>
          </a:p>
          <a:p>
            <a:pPr>
              <a:spcAft>
                <a:spcPts val="1000"/>
              </a:spcAft>
            </a:pPr>
            <a:r>
              <a:rPr sz="2000">
                <a:solidFill>
                  <a:srgbClr val="222B33"/>
                </a:solidFill>
                <a:latin typeface="Microsoft YaHei"/>
              </a:rPr>
              <a:t>▪ 不得损坏、挪用消防设施，不得堵塞通道</a:t>
            </a:r>
          </a:p>
          <a:p>
            <a:pPr>
              <a:spcAft>
                <a:spcPts val="1000"/>
              </a:spcAft>
            </a:pPr>
            <a:r>
              <a:rPr sz="2000">
                <a:solidFill>
                  <a:srgbClr val="222B33"/>
                </a:solidFill>
                <a:latin typeface="Microsoft YaHei"/>
              </a:rPr>
              <a:t>▪ 报警、喷淋、灭火器等都有国家标准</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《中华人民共和国消防法》规定，任何单位和个人都有维护消防安全、保护消防设施、预防火灾、报告火警的义务；任何人发现火灾都应当立即报警，任何单位和个人都应当无偿为报警提供便利。</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发现小火先自己扑救，不报警</a:t>
            </a:r>
          </a:p>
          <a:p>
            <a:pPr>
              <a:spcAft>
                <a:spcPts val="1000"/>
              </a:spcAft>
            </a:pPr>
            <a:r>
              <a:rPr sz="1500">
                <a:solidFill>
                  <a:srgbClr val="222B33"/>
                </a:solidFill>
                <a:latin typeface="Microsoft YaHei"/>
              </a:rPr>
              <a:t>▪ 在安全出口、灭火器前堆放杂物</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002 · 实验室安全法律法规体系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危险化学品：安全法与条例</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002 实验室安全法律法规体系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S2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危化品安全法 2026 年 5 月 1 日起施行</a:t>
            </a:r>
          </a:p>
          <a:p>
            <a:pPr>
              <a:spcAft>
                <a:spcPts val="1000"/>
              </a:spcAft>
            </a:pPr>
            <a:r>
              <a:rPr sz="2000">
                <a:solidFill>
                  <a:srgbClr val="222B33"/>
                </a:solidFill>
                <a:latin typeface="Microsoft YaHei"/>
              </a:rPr>
              <a:t>▪ 学校、科研机构是危化品安全责任主体</a:t>
            </a:r>
          </a:p>
          <a:p>
            <a:pPr>
              <a:spcAft>
                <a:spcPts val="1000"/>
              </a:spcAft>
            </a:pPr>
            <a:r>
              <a:rPr sz="2000">
                <a:solidFill>
                  <a:srgbClr val="222B33"/>
                </a:solidFill>
                <a:latin typeface="Microsoft YaHei"/>
              </a:rPr>
              <a:t>▪ 同时适用危化品条例、易制毒和易制爆规定</a:t>
            </a:r>
          </a:p>
          <a:p>
            <a:pPr>
              <a:spcAft>
                <a:spcPts val="1000"/>
              </a:spcAft>
            </a:pPr>
            <a:r>
              <a:rPr sz="2000">
                <a:solidFill>
                  <a:srgbClr val="222B33"/>
                </a:solidFill>
                <a:latin typeface="Microsoft YaHei"/>
              </a:rPr>
              <a:t>▪ 剧毒化学品实行“五双”管理</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《中华人民共和国危险化学品安全法》于 2025 年 12 月 27 日通过，2026 年 5 月 1 日起施行，对危险化学品的生产、储存、使用、经营、运输等环节作出规定，并设专章规定“使用安全”。学校、科研机构使用危……</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认为少量试剂“不算危化品”，可以随意购买和存放</a:t>
            </a:r>
          </a:p>
          <a:p>
            <a:pPr>
              <a:spcAft>
                <a:spcPts val="1000"/>
              </a:spcAft>
            </a:pPr>
            <a:r>
              <a:rPr sz="1500">
                <a:solidFill>
                  <a:srgbClr val="222B33"/>
                </a:solidFill>
                <a:latin typeface="Microsoft YaHei"/>
              </a:rPr>
              <a:t>▪ 私自从网上或校外渠道购买管制化学品</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002 · 实验室安全法律法规体系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生物安全：生物安全法与条例</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002 实验室安全法律法规体系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S3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生物安全法是生物安全领域的基本法律</a:t>
            </a:r>
          </a:p>
          <a:p>
            <a:pPr>
              <a:spcAft>
                <a:spcPts val="1000"/>
              </a:spcAft>
            </a:pPr>
            <a:r>
              <a:rPr sz="2000">
                <a:solidFill>
                  <a:srgbClr val="222B33"/>
                </a:solidFill>
                <a:latin typeface="Microsoft YaHei"/>
              </a:rPr>
              <a:t>▪ 病原微生物实验室按防护水平分为四级</a:t>
            </a:r>
          </a:p>
          <a:p>
            <a:pPr>
              <a:spcAft>
                <a:spcPts val="1000"/>
              </a:spcAft>
            </a:pPr>
            <a:r>
              <a:rPr sz="2000">
                <a:solidFill>
                  <a:srgbClr val="222B33"/>
                </a:solidFill>
                <a:latin typeface="Microsoft YaHei"/>
              </a:rPr>
              <a:t>▪ 病原微生物按目录分类，实验活动对应级别</a:t>
            </a:r>
          </a:p>
          <a:p>
            <a:pPr>
              <a:spcAft>
                <a:spcPts val="1000"/>
              </a:spcAft>
            </a:pPr>
            <a:r>
              <a:rPr sz="2000">
                <a:solidFill>
                  <a:srgbClr val="222B33"/>
                </a:solidFill>
                <a:latin typeface="Microsoft YaHei"/>
              </a:rPr>
              <a:t>▪ 转基因实验须经单位生物安全委员会审查</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中华人民共和国生物安全法》是我国生物安全领域的基础性法律，对病原微生物实验室生物安全、生物技术研究开发与应用安全等作出规定。《病原微生物实验室生物安全管理条例》将病原微生物按危害程度分为四类，将实验室按生物安全防护……</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在级别不够的实验室开展病原微生物实验</a:t>
            </a:r>
          </a:p>
          <a:p>
            <a:pPr>
              <a:spcAft>
                <a:spcPts val="1000"/>
              </a:spcAft>
            </a:pPr>
            <a:r>
              <a:rPr sz="1500">
                <a:solidFill>
                  <a:srgbClr val="222B33"/>
                </a:solidFill>
                <a:latin typeface="Microsoft YaHei"/>
              </a:rPr>
              <a:t>▪ 转基因实验未经审查就开始</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002 · 实验室安全法律法规体系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辐射、特种设备与环境保护</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002 实验室安全法律法规体系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S4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辐射：放射性污染防治法和放射性同位素条例</a:t>
            </a:r>
          </a:p>
          <a:p>
            <a:pPr>
              <a:spcAft>
                <a:spcPts val="1000"/>
              </a:spcAft>
            </a:pPr>
            <a:r>
              <a:rPr sz="2000">
                <a:solidFill>
                  <a:srgbClr val="222B33"/>
                </a:solidFill>
                <a:latin typeface="Microsoft YaHei"/>
              </a:rPr>
              <a:t>▪ 使用放射源、射线装置须取得辐射安全许可</a:t>
            </a:r>
          </a:p>
          <a:p>
            <a:pPr>
              <a:spcAft>
                <a:spcPts val="1000"/>
              </a:spcAft>
            </a:pPr>
            <a:r>
              <a:rPr sz="2000">
                <a:solidFill>
                  <a:srgbClr val="222B33"/>
                </a:solidFill>
                <a:latin typeface="Microsoft YaHei"/>
              </a:rPr>
              <a:t>▪ 气瓶、压力容器等归特种设备安全法管理</a:t>
            </a:r>
          </a:p>
          <a:p>
            <a:pPr>
              <a:spcAft>
                <a:spcPts val="1000"/>
              </a:spcAft>
            </a:pPr>
            <a:r>
              <a:rPr sz="2000">
                <a:solidFill>
                  <a:srgbClr val="222B33"/>
                </a:solidFill>
                <a:latin typeface="Microsoft YaHei"/>
              </a:rPr>
              <a:t>▪ 危险废物按名录管理，严禁倒入下水道</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辐射安全的主要依据是《中华人民共和国放射性污染防治法》和《放射性同位素与射线装置安全和防护条例》：生产、销售、使用放射性同位素和射线装置的单位须依法取得辐射安全许可证，工作人员须接受辐射安全培训并进行个人剂量监测；技……</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把废液、废试剂倒进水槽或生活垃圾</a:t>
            </a:r>
          </a:p>
          <a:p>
            <a:pPr>
              <a:spcAft>
                <a:spcPts val="1000"/>
              </a:spcAft>
            </a:pPr>
            <a:r>
              <a:rPr sz="1500">
                <a:solidFill>
                  <a:srgbClr val="222B33"/>
                </a:solidFill>
                <a:latin typeface="Microsoft YaHei"/>
              </a:rPr>
              <a:t>▪ 使用超过检验期的气瓶或压力容器</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002 · 实验室安全法律法规体系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标准：管设施，也管人</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002 实验室安全法律法规体系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法律定原则，标准给出具体技术要求</a:t>
            </a:r>
          </a:p>
          <a:p>
            <a:pPr>
              <a:spcAft>
                <a:spcPts val="1000"/>
              </a:spcAft>
            </a:pPr>
            <a:r>
              <a:rPr sz="2000">
                <a:solidFill>
                  <a:srgbClr val="222B33"/>
                </a:solidFill>
                <a:latin typeface="Microsoft YaHei"/>
              </a:rPr>
              <a:t>▪ 标准既管设施的设计安装，也管作业人员</a:t>
            </a:r>
          </a:p>
          <a:p>
            <a:pPr>
              <a:spcAft>
                <a:spcPts val="1000"/>
              </a:spcAft>
            </a:pPr>
            <a:r>
              <a:rPr sz="2000">
                <a:solidFill>
                  <a:srgbClr val="222B33"/>
                </a:solidFill>
                <a:latin typeface="Microsoft YaHei"/>
              </a:rPr>
              <a:t>▪ GB 为强制性标准，GB/T 为推荐性标准</a:t>
            </a:r>
          </a:p>
          <a:p>
            <a:pPr>
              <a:spcAft>
                <a:spcPts val="1000"/>
              </a:spcAft>
            </a:pPr>
            <a:r>
              <a:rPr sz="2000">
                <a:solidFill>
                  <a:srgbClr val="222B33"/>
                </a:solidFill>
                <a:latin typeface="Microsoft YaHei"/>
              </a:rPr>
              <a:t>▪ 标准会更新，要使用现行版本</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法律法规规定原则和责任，标准则给出可操作的技术要求。与实验室相关的标准一方面规定设施和设备本身，例如通风、消防、电气设备、洗眼和喷淋设备、安全标志的设计、安装和性能；另一方面规定人员的作业方法和防护，例如个体防护装备……</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引用已经废止或被替代的旧标准</a:t>
            </a:r>
          </a:p>
          <a:p>
            <a:pPr>
              <a:spcAft>
                <a:spcPts val="1000"/>
              </a:spcAft>
            </a:pPr>
            <a:r>
              <a:rPr sz="1500">
                <a:solidFill>
                  <a:srgbClr val="222B33"/>
                </a:solidFill>
                <a:latin typeface="Microsoft YaHei"/>
              </a:rPr>
              <a:t>▪ 认为标准只管设备厂家，与使用者无关</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002 · 实验室安全法律法规体系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谁来监管：各领域主管部门</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002 实验室安全法律法规体系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K6</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安全生产：应急管理部门综合监管</a:t>
            </a:r>
          </a:p>
          <a:p>
            <a:pPr>
              <a:spcAft>
                <a:spcPts val="1000"/>
              </a:spcAft>
            </a:pPr>
            <a:r>
              <a:rPr sz="2000">
                <a:solidFill>
                  <a:srgbClr val="222B33"/>
                </a:solidFill>
                <a:latin typeface="Microsoft YaHei"/>
              </a:rPr>
              <a:t>▪ 职业健康：卫生健康部门</a:t>
            </a:r>
          </a:p>
          <a:p>
            <a:pPr>
              <a:spcAft>
                <a:spcPts val="1000"/>
              </a:spcAft>
            </a:pPr>
            <a:r>
              <a:rPr sz="2000">
                <a:solidFill>
                  <a:srgbClr val="222B33"/>
                </a:solidFill>
                <a:latin typeface="Microsoft YaHei"/>
              </a:rPr>
              <a:t>▪ 消防救援机构、公安、生态环境等分领域监管</a:t>
            </a:r>
          </a:p>
          <a:p>
            <a:pPr>
              <a:spcAft>
                <a:spcPts val="1000"/>
              </a:spcAft>
            </a:pPr>
            <a:r>
              <a:rPr sz="2000">
                <a:solidFill>
                  <a:srgbClr val="222B33"/>
                </a:solidFill>
                <a:latin typeface="Microsoft YaHei"/>
              </a:rPr>
              <a:t>▪ 特种设备归市场监管，高校还受教育部门督查</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我国实验室安全涉及多个主管部门，按领域分工监管：应急管理部门负责安全生产综合监督管理，以及危险化学品安全的相关监管；卫生健康部门负责职业健康和人间传染的病原微生物实验室的生物安全监管（动物病原微生物实验室由农业农村部……</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以为高校实验室“只归学校管”，外部法规不适用</a:t>
            </a:r>
          </a:p>
          <a:p>
            <a:pPr>
              <a:spcAft>
                <a:spcPts val="1000"/>
              </a:spcAft>
            </a:pPr>
            <a:r>
              <a:rPr sz="1500">
                <a:solidFill>
                  <a:srgbClr val="222B33"/>
                </a:solidFill>
                <a:latin typeface="Microsoft YaHei"/>
              </a:rPr>
              <a:t>▪ 管制化学品、放射源等手续不办或补办</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002 · 实验室安全法律法规体系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高校实验室的专门要求</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002 实验室安全法律法规体系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S5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教育部发布《高等学校实验室安全规范》</a:t>
            </a:r>
          </a:p>
          <a:p>
            <a:pPr>
              <a:spcAft>
                <a:spcPts val="1000"/>
              </a:spcAft>
            </a:pPr>
            <a:r>
              <a:rPr sz="2000">
                <a:solidFill>
                  <a:srgbClr val="222B33"/>
                </a:solidFill>
                <a:latin typeface="Microsoft YaHei"/>
              </a:rPr>
              <a:t>▪ 高校实验室安全检查项目表是检查依据</a:t>
            </a:r>
          </a:p>
          <a:p>
            <a:pPr>
              <a:spcAft>
                <a:spcPts val="1000"/>
              </a:spcAft>
            </a:pPr>
            <a:r>
              <a:rPr sz="2000">
                <a:solidFill>
                  <a:srgbClr val="222B33"/>
                </a:solidFill>
                <a:latin typeface="Microsoft YaHei"/>
              </a:rPr>
              <a:t>▪ 本校制度是最具体、最直接的规定</a:t>
            </a:r>
          </a:p>
          <a:p>
            <a:pPr>
              <a:spcAft>
                <a:spcPts val="1000"/>
              </a:spcAft>
            </a:pPr>
            <a:r>
              <a:rPr sz="2000">
                <a:solidFill>
                  <a:srgbClr val="222B33"/>
                </a:solidFill>
                <a:latin typeface="Microsoft YaHei"/>
              </a:rPr>
              <a:t>▪ 具体要求在第 3 课详讲</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在上述法律法规和标准之外，教育部针对高校实验室发布了《高等学校实验室安全规范》（教科信厅函〔2023〕5 号），对责任体系、分级分类、教育培训与准入、风险评估、安全设施、各类危险源管理、检查与应急等提出要求；教育部还……</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只知道国家法律，不了解本校和本实验室的具体规定</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002 · 实验室安全法律法规体系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002 实验室安全法律法规体系</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1</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下列属于行政法规的是：</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《中华人民共和国消防法》</a:t>
            </a:r>
          </a:p>
          <a:p>
            <a:pPr algn="l"/>
            <a:r>
              <a:rPr sz="1500" b="0">
                <a:solidFill>
                  <a:srgbClr val="222B33"/>
                </a:solidFill>
                <a:latin typeface="Microsoft YaHei"/>
              </a:rPr>
              <a:t>B. 《病原微生物实验室生物安全管理条例》</a:t>
            </a:r>
          </a:p>
          <a:p>
            <a:pPr algn="l"/>
            <a:r>
              <a:rPr sz="1500" b="0">
                <a:solidFill>
                  <a:srgbClr val="222B33"/>
                </a:solidFill>
                <a:latin typeface="Microsoft YaHei"/>
              </a:rPr>
              <a:t>C. 《易制爆危险化学品治安管理办法》</a:t>
            </a:r>
          </a:p>
          <a:p>
            <a:pPr algn="l"/>
            <a:r>
              <a:rPr sz="1500" b="0">
                <a:solidFill>
                  <a:srgbClr val="222B33"/>
                </a:solidFill>
                <a:latin typeface="Microsoft YaHei"/>
              </a:rPr>
              <a:t>D. GB 2894-2025</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2</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《中华人民共和国危险化学品安全法》的施行日期是：</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2025 年 12 月 27 日</a:t>
            </a:r>
          </a:p>
          <a:p>
            <a:pPr algn="l"/>
            <a:r>
              <a:rPr sz="1500" b="0">
                <a:solidFill>
                  <a:srgbClr val="222B33"/>
                </a:solidFill>
                <a:latin typeface="Microsoft YaHei"/>
              </a:rPr>
              <a:t>B. 2026 年 1 月 1 日</a:t>
            </a:r>
          </a:p>
          <a:p>
            <a:pPr algn="l"/>
            <a:r>
              <a:rPr sz="1500" b="0">
                <a:solidFill>
                  <a:srgbClr val="222B33"/>
                </a:solidFill>
                <a:latin typeface="Microsoft YaHei"/>
              </a:rPr>
              <a:t>C. 2026 年 5 月 1 日</a:t>
            </a:r>
          </a:p>
          <a:p>
            <a:pPr algn="l"/>
            <a:r>
              <a:rPr sz="1500" b="0">
                <a:solidFill>
                  <a:srgbClr val="222B33"/>
                </a:solidFill>
                <a:latin typeface="Microsoft YaHei"/>
              </a:rPr>
              <a:t>D. 2027 年 1 月 1 日</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002 · 实验室安全法律法规体系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002 实验室安全法律法规体系</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3</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判断：标准代号为 GB/T 的推荐性标准，在任何情况下都可以不执行。</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4</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实验室产生的有机废液，正确的处理方式是：</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大量清水稀释后倒入下水道</a:t>
            </a:r>
          </a:p>
          <a:p>
            <a:pPr algn="l"/>
            <a:r>
              <a:rPr sz="1500" b="0">
                <a:solidFill>
                  <a:srgbClr val="222B33"/>
                </a:solidFill>
                <a:latin typeface="Microsoft YaHei"/>
              </a:rPr>
              <a:t>B. 混入生活垃圾</a:t>
            </a:r>
          </a:p>
          <a:p>
            <a:pPr algn="l"/>
            <a:r>
              <a:rPr sz="1500" b="0">
                <a:solidFill>
                  <a:srgbClr val="222B33"/>
                </a:solidFill>
                <a:latin typeface="Microsoft YaHei"/>
              </a:rPr>
              <a:t>C. 分类收集、规范贮存，交有资质的单位处置</a:t>
            </a:r>
          </a:p>
          <a:p>
            <a:pPr algn="l"/>
            <a:r>
              <a:rPr sz="1500" b="0">
                <a:solidFill>
                  <a:srgbClr val="222B33"/>
                </a:solidFill>
                <a:latin typeface="Microsoft YaHei"/>
              </a:rPr>
              <a:t>D. 自然挥发</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002 · 实验室安全法律法规体系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002 实验室安全法律法规体系</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5</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使用气瓶和压力容器主要适用下列哪部法律？</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《中华人民共和国特种设备安全法》</a:t>
            </a:r>
          </a:p>
          <a:p>
            <a:pPr algn="l"/>
            <a:r>
              <a:rPr sz="1500" b="0">
                <a:solidFill>
                  <a:srgbClr val="222B33"/>
                </a:solidFill>
                <a:latin typeface="Microsoft YaHei"/>
              </a:rPr>
              <a:t>B. 《中华人民共和国生物安全法》</a:t>
            </a:r>
          </a:p>
          <a:p>
            <a:pPr algn="l"/>
            <a:r>
              <a:rPr sz="1500" b="0">
                <a:solidFill>
                  <a:srgbClr val="222B33"/>
                </a:solidFill>
                <a:latin typeface="Microsoft YaHei"/>
              </a:rPr>
              <a:t>C. 《中华人民共和国放射性污染防治法》</a:t>
            </a:r>
          </a:p>
          <a:p>
            <a:pPr algn="l"/>
            <a:r>
              <a:rPr sz="1500" b="0">
                <a:solidFill>
                  <a:srgbClr val="222B33"/>
                </a:solidFill>
                <a:latin typeface="Microsoft YaHei"/>
              </a:rPr>
              <a:t>D. 《中华人民共和国职业病防治法》</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6</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简答：安全生产法要求构建的“双重预防机制”指什么？</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TextBox 1"/>
          <p:cNvSpPr txBox="1"/>
          <p:nvPr/>
        </p:nvSpPr>
        <p:spPr>
          <a:xfrm>
            <a:off x="548640" y="548640"/>
            <a:ext cx="11094415" cy="731520"/>
          </a:xfrm>
          <a:prstGeom prst="rect">
            <a:avLst/>
          </a:prstGeom>
          <a:noFill/>
        </p:spPr>
        <p:txBody>
          <a:bodyPr wrap="square" anchor="t" lIns="0" rIns="0" tIns="0" bIns="0">
            <a:spAutoFit/>
          </a:bodyPr>
          <a:lstStyle/>
          <a:p>
            <a:pPr algn="l"/>
            <a:r>
              <a:rPr sz="3400" b="1">
                <a:solidFill>
                  <a:srgbClr val="FFFFFF"/>
                </a:solidFill>
                <a:latin typeface="Microsoft YaHei"/>
              </a:rPr>
              <a:t>本课小结</a:t>
            </a:r>
          </a:p>
        </p:txBody>
      </p:sp>
      <p:sp>
        <p:nvSpPr>
          <p:cNvPr id="3" name="TextBox 2"/>
          <p:cNvSpPr txBox="1"/>
          <p:nvPr/>
        </p:nvSpPr>
        <p:spPr>
          <a:xfrm>
            <a:off x="548640"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K1  实验室安全有章可循</a:t>
            </a:r>
          </a:p>
          <a:p>
            <a:pPr>
              <a:spcAft>
                <a:spcPts val="800"/>
              </a:spcAft>
            </a:pPr>
            <a:r>
              <a:rPr sz="1500">
                <a:solidFill>
                  <a:srgbClr val="FFFFFF"/>
                </a:solidFill>
                <a:latin typeface="Microsoft YaHei"/>
              </a:rPr>
              <a:t>▪ S1  法律法规的层级</a:t>
            </a:r>
          </a:p>
          <a:p>
            <a:pPr>
              <a:spcAft>
                <a:spcPts val="800"/>
              </a:spcAft>
            </a:pPr>
            <a:r>
              <a:rPr sz="1500">
                <a:solidFill>
                  <a:srgbClr val="FFFFFF"/>
                </a:solidFill>
                <a:latin typeface="Microsoft YaHei"/>
              </a:rPr>
              <a:t>▪ K2  单位要保障人人安全健康</a:t>
            </a:r>
          </a:p>
          <a:p>
            <a:pPr>
              <a:spcAft>
                <a:spcPts val="800"/>
              </a:spcAft>
            </a:pPr>
            <a:r>
              <a:rPr sz="1500">
                <a:solidFill>
                  <a:srgbClr val="FFFFFF"/>
                </a:solidFill>
                <a:latin typeface="Microsoft YaHei"/>
              </a:rPr>
              <a:t>▪ K3  双重预防与危害告知</a:t>
            </a:r>
          </a:p>
          <a:p>
            <a:pPr>
              <a:spcAft>
                <a:spcPts val="800"/>
              </a:spcAft>
            </a:pPr>
            <a:r>
              <a:rPr sz="1500">
                <a:solidFill>
                  <a:srgbClr val="FFFFFF"/>
                </a:solidFill>
                <a:latin typeface="Microsoft YaHei"/>
              </a:rPr>
              <a:t>▪ K4  消防法：人人有消防义务</a:t>
            </a:r>
          </a:p>
          <a:p>
            <a:pPr>
              <a:spcAft>
                <a:spcPts val="800"/>
              </a:spcAft>
            </a:pPr>
            <a:r>
              <a:rPr sz="1500">
                <a:solidFill>
                  <a:srgbClr val="FFFFFF"/>
                </a:solidFill>
                <a:latin typeface="Microsoft YaHei"/>
              </a:rPr>
              <a:t>▪ S2  危险化学品：安全法与条例</a:t>
            </a:r>
          </a:p>
        </p:txBody>
      </p:sp>
      <p:sp>
        <p:nvSpPr>
          <p:cNvPr id="4" name="TextBox 3"/>
          <p:cNvSpPr txBox="1"/>
          <p:nvPr/>
        </p:nvSpPr>
        <p:spPr>
          <a:xfrm>
            <a:off x="6278727"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S3  生物安全：生物安全法与条例</a:t>
            </a:r>
          </a:p>
          <a:p>
            <a:pPr>
              <a:spcAft>
                <a:spcPts val="800"/>
              </a:spcAft>
            </a:pPr>
            <a:r>
              <a:rPr sz="1500">
                <a:solidFill>
                  <a:srgbClr val="FFFFFF"/>
                </a:solidFill>
                <a:latin typeface="Microsoft YaHei"/>
              </a:rPr>
              <a:t>▪ S4  辐射、特种设备与环境保护</a:t>
            </a:r>
          </a:p>
          <a:p>
            <a:pPr>
              <a:spcAft>
                <a:spcPts val="800"/>
              </a:spcAft>
            </a:pPr>
            <a:r>
              <a:rPr sz="1500">
                <a:solidFill>
                  <a:srgbClr val="FFFFFF"/>
                </a:solidFill>
                <a:latin typeface="Microsoft YaHei"/>
              </a:rPr>
              <a:t>▪ K5  标准：管设施，也管人</a:t>
            </a:r>
          </a:p>
          <a:p>
            <a:pPr>
              <a:spcAft>
                <a:spcPts val="800"/>
              </a:spcAft>
            </a:pPr>
            <a:r>
              <a:rPr sz="1500">
                <a:solidFill>
                  <a:srgbClr val="FFFFFF"/>
                </a:solidFill>
                <a:latin typeface="Microsoft YaHei"/>
              </a:rPr>
              <a:t>▪ K6  谁来监管：各领域主管部门</a:t>
            </a:r>
          </a:p>
          <a:p>
            <a:pPr>
              <a:spcAft>
                <a:spcPts val="800"/>
              </a:spcAft>
            </a:pPr>
            <a:r>
              <a:rPr sz="1500">
                <a:solidFill>
                  <a:srgbClr val="FFFFFF"/>
                </a:solidFill>
                <a:latin typeface="Microsoft YaHei"/>
              </a:rPr>
              <a:t>▪ S5  高校实验室的专门要求</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《高校实验室安全》学习课件</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