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安全，是人员不受伤、财物不受损、环境不受污染的状态；远离可能造成伤害的状况，才叫安全。</a:t>
            </a:r>
          </a:p>
          <a:p>
            <a:r>
              <a:t>危害（危险源）是一切可能造成伤害的东西或状况：化学品、仪器、操作程序都可能是危害，过道里堆放的杂物、碎玻璃的锋利边缘、地上的一滩水也是危害。伤害则是事故落在人身上的后果，例如割伤、烫伤、骨折、中毒。</a:t>
            </a:r>
          </a:p>
          <a:p>
            <a:r>
              <a:t>危害平时往往处于“潜伏”状态，看起来一切正常；一旦人员接触、操作失误、设备故障等条件凑齐，就会转变为事故和伤害。所以要在伤害发生前把危害找出来。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危害是物质、设备或作业本身固有的属性：一滴汽油和一桶汽油一样易燃，危害性质相同。风险则是被危害伤到的可能性及其后果的严重程度，常表示为“可能性 × 后果”：可能性越大、后果越重，风险越高。</a:t>
            </a:r>
          </a:p>
          <a:p>
            <a:r>
              <a:t>同一种危害，风险可以差别很大：停在车库里的车不会伤人，开上马路才有风险；用一滴还是一桶汽油、在通风柜里还是敞开台面上操作，风险完全不同。风险取决于暴露（是否接触、接触多少、多长时间）、可能性和后果。</a:t>
            </a:r>
          </a:p>
          <a:p>
            <a:r>
              <a:t>危害本身往往改变不了，但可以通过控制暴露来降低风险，例如减少用量、在通风柜内操作、佩戴防护用品。风险评估的方法和风险矩阵见第 014 课，控制层级见第 017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有三个来源：物质、设备和操作。以硫酸为例，它能和很多物质发生反应，这正是它在实验中有用的原因；同样，它也会和皮肤反应，造成化学灼伤。化学品的腐蚀性、毒性、易燃性和反应性，都是其固有危害。</a:t>
            </a:r>
          </a:p>
          <a:p>
            <a:r>
              <a:t>仪器设备也有危害，尤其是在高温、加压条件下运行时。操作程序本身也会带来危害：需要加热，热源就是危害；附近有易燃物，危险更大。</a:t>
            </a:r>
          </a:p>
          <a:p>
            <a:r>
              <a:t>以化学合成为例，常见流程包括混合、加热搅拌、沉淀、过滤，每一步既有化学危害，也有操作危害。识别危害时要逐步分析整个流程，而不是只看试剂瓶上的标签。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识别危害是安全设计实验的基础，也是“识别危害—评估风险—降低风险—做好应急准备”的第一步。没有被找出来的危险无法评估，更无法控制，所以每个实验的危害都要在动手之前系统地一一找出来。</a:t>
            </a:r>
          </a:p>
          <a:p>
            <a:r>
              <a:t>实验室里难免会接触危险物料。有的危害一眼可见，如地上的水、裸露的电线；有的藏得很深，如无色无味的气体、看不见的微生物、慢性毒性。两种都会导致事故，要时刻保持警觉。</a:t>
            </a:r>
          </a:p>
          <a:p>
            <a:r>
              <a:t>学校和实验室有责任消除已知危害，保持实验室整洁有序；每个人也要养成“动手前先停一下、想清楚”的习惯，抓住本实验最主要的危害。查找安全信息的途径见第 013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危害不止一种。按来源，常见的可分为：化学危害、生物危害、物理危害（火、爆炸、冷热、锐器、滑倒等）、设备与机械危害（含压力设备、转动部件）、电气危害、辐射危害、噪声危害、人机工效危害；此外还有心理压力和疲劳、易制爆化学品和病原体被盗等安保方面的问题。</a:t>
            </a:r>
          </a:p>
          <a:p>
            <a:r>
              <a:t>对化学品，国内按 GB 30000 系列标准（以现行文本为准）分为物理危险、健康危害和环境危害三大类，这也是安全技术说明书和安全标签上危害信息的分类方法（第 5 章讲解）。</a:t>
            </a:r>
          </a:p>
          <a:p>
            <a:r>
              <a:t>一间实验室往往多种危害并存：生物实验室同样有化学试剂、致突变试剂、放射性物质、用电和消防风险，一旦出事还可能有外来救援人员进入。因此要提前做好应急预案，并对第一时间到场的人员进行培训。各类危害的防控分别在第 4 章（消防）、第 5 章（化学品）、第 6 章（生物）、第 7 章（辐射）、第 8 章（电气）、第 9 章（激光）、第 10 章（机械与设备）、第 11 章（气瓶与低温）、第 13 章（人机工效与职业健康）讲解。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化学危害来自易燃、有毒、腐蚀性、反应活泼的化学品，常见的有酸、碱、有机溶剂、粉末试剂，以及容易被忽视的胶粘剂、涂料和粉尘。生物样品的取用和保管同样要按规范进行。</a:t>
            </a:r>
          </a:p>
          <a:p>
            <a:r>
              <a:t>化学品可经皮肤、眼睛、呼吸道和误食进入人体，造成灼伤、刺激、中毒等伤害；有的难以预测，一不留神就会发生洒漏、泄漏甚至着火。使用之前先看标签和安全技术说明书，做好防护。</a:t>
            </a:r>
          </a:p>
          <a:p>
            <a:r>
              <a:t>化学品的分类、标签、储存和使用的具体要求见第 5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危害来自具有感染性或致病性的生物因子：细菌、病毒、真菌、寄生虫和生物毒素等，可能让人感染、生病，过敏原也会引起过敏反应。人和动物的血液、体液和组织样本，实验动物，植物材料，以及经过遗传改造的菌株，也都可能带来生物危害；实验动物咬伤、抓伤和虫蜇同样属于生物危害。</a:t>
            </a:r>
          </a:p>
          <a:p>
            <a:r>
              <a:t>生物危害看不见摸不着，可能经气溶胶、接触、锐器刺伤等途径传播，稍不小心污染就会扩散。国内按《中华人民共和国生物安全法》和《病原微生物实验室生物安全管理条例》（以现行文本为准）实行病原微生物分类和实验室分级管理，具体要求见第 6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理危害包括着火、爆炸、割伤、滑倒摔跤，高温和低温（烫伤、冻伤），以及转动部件和飞溅物等。很多物理危害天天都在身边：几乎每个实验室都有水槽，地面湿滑容易摔倒；玻璃器皿破碎会割伤；酒精灯等明火会引燃头发和宽松衣物；高温炉温度可达一千摄氏度以上；液氮等低温液体会造成冻伤，还可能导致缺氧窒息。</a:t>
            </a:r>
          </a:p>
          <a:p>
            <a:r>
              <a:t>越是常见的危害，越容易被忽视。应对的基本做法是：玻璃轻拿轻放，碎玻璃不徒手捡；靠近明火扎好头发、收好宽松衣物；工具只用于规定用途；看到湿滑提示要绕开慢行；设备检修按规定上锁挂牌。具体防控见第 3、4、10、11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设备危害来自使用不当和设备故障两方面。机械危害常见于转动和运动部件（离心机转子、搅拌器、皮带轮）以及飞溅物：离心机高速旋转时像储能的飞轮，样品不平衡可能造成严重事故。</a:t>
            </a:r>
          </a:p>
          <a:p>
            <a:r>
              <a:t>压力设备也是重要危害：气瓶内是高压气体，很多实验要用气体控制气氛，气瓶必须固定、规范使用（第 11 章讲解）；高压灭菌器、反应釜等承压设备同样要规范操作。</a:t>
            </a:r>
          </a:p>
          <a:p>
            <a:r>
              <a:t>没有经过培训的设备不要自己开机；设备有异常要停用并报告。具体防控见第 10、11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电是每个实验室都离不开的，照明、风扇、温控、仪器都要用电；正因为天天见，电气危害反而最容易被忽视。电线老化破损、设备失修、私拉乱接、在水源旁用电，都可能导致触电或电气火灾。</a:t>
            </a:r>
          </a:p>
          <a:p>
            <a:r>
              <a:t>发现电线、插头破损或设备漏电，要立即停用并报修，不凑合使用。电气安全的具体要求见第 8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辐射分为电离辐射和非电离辐射，都可能损伤人体组织。电离辐射来自放射性同位素和射线装置，既有外照射，也有放射性污染造成的内照射；非电离辐射包括激光、紫外线、微波、强磁场等，例如高功率激光未佩戴匹配的防护眼镜可能致盲。</a:t>
            </a:r>
          </a:p>
          <a:p>
            <a:r>
              <a:t>放射源要严格保管，不能丢失、不能随意丢弃。按《放射性同位素与射线装置安全和防护条例》（以现行文本为准），从事辐射工作的人员须经辐射安全培训并考核合格。具体要求见第 7 章（辐射）和第 9 章（激光）。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超声波清洗器、真空泵、粉碎机、空压机等设备会产生较大噪声。长期暴露在高噪声环境中会损伤听力，而且噪声会掩盖同伴的提醒和警报声，延误应急。高噪声设备旁应按规定佩戴护耳器，尽量缩短停留时间（以本校规定为准），具体见第 13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人机工效危害来自不合适的工位和重复性动作：长时间弯腰、低头看显微镜、反复移液，久了颈、肩、腰、腕都会劳损。应调好桌椅和设备高度，定时起身活动，轮换操作。</a:t>
            </a:r>
          </a:p>
          <a:p>
            <a:r>
              <a:t>压力和疲劳不属于物理危害，而是心理（社会心理）危害，会让人注意力下降、更容易出错（见第 011 课）。人机工效的具体做法见第 13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的各类危害，最终都会落到做实验的人身上，表现为两类后果。一是健康损害：化学、生物、物理危害都会伤身体，轻的呛咳、皮肤发红发痒，有人会过敏，重的会急性中毒或被感染，有的还会造成慢性损害。</a:t>
            </a:r>
          </a:p>
          <a:p>
            <a:r>
              <a:t>二是意外伤害：设备用错，滑倒、绊倒、摔倒，碎玻璃和针头等锐器刺伤割伤，轻的是小割伤、淤青，重的伤口深甚至骨折。</a:t>
            </a:r>
          </a:p>
          <a:p>
            <a:r>
              <a:t>环境安全、设备完好，人才能少出事、少生病。《中华人民共和国职业病防治法》（以现行文本为准）要求对职业病危害因素进行识别和防护，高校实验室同样要关注人员的长期健康。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的影响不只在人身上：有害物质倒入下水道或排入空气，会污染实验室外的环境；生物因子外泄会威胁公众健康。同时，污染还会伤到实验本身，样品被污染、实验数据作废，前面的工作就白做了。保护人员、保护环境和保证实验质量，是一致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高等学校实验室安全规范》（以现行文本为准）要求高校对实验室进行危险源辨识，按危险类别（如化学、生物、辐射、机电等）和危险程度实行分类分级管理，危险程度高的实验室管理要求更严（具体以本校规定为准）。</a:t>
            </a:r>
          </a:p>
          <a:p>
            <a:r>
              <a:t>实验室门口一般设有安全信息牌，标明实验室的危险类别、安全风险等级、主要危险源、防护要求、安全责任人和应急联系电话。进入实验室前，先看清信息牌，了解这里有哪类危害、需要什么防护。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答案：B。解析：一滴汽油和一桶汽油一样易燃，危害相同；用量、场所、防护改变的是风险。</a:t>
            </a:r>
          </a:p>
          <a:p>
            <a:r>
              <a:t>第 2 题 答案：B。解析：噪声会掩盖提醒和警报声。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答案：B。解析：压力和疲劳属于心理危害，但同样会增加出错的可能。</a:t>
            </a:r>
          </a:p>
          <a:p>
            <a:r>
              <a:t>第 4 题 答案：B。解析：A 为物理危害，C 为机械危害，D 为电气危害。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答案：做实验的人、实验室外的环境、实验本身（样品和数据）。解析：保护人员、环境和实验质量是一致的。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开始一个新实验之前要做调研。调研不只是查实验方法，还要查安全信息：要用的材料和设备有什么危害，同类实验出过什么事故，需要哪些审批（如管制化学品、病原微生物、放射性物质、动物实验）。</a:t>
            </a:r>
          </a:p>
          <a:p>
            <a:r>
              <a:t>查询的时机是“动手之前”：新实验开始前、第一次使用某种化学品或设备前、实验条件（用量、温度、压力）改变前，都要先读安全技术说明书和相关资料，找出危害，定好防护和应急办法。这些信息是风险评估的依据（第 014、015 课）；评估完成后请导师或实验室负责人把关，再开始实验。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识别化学品危害的两件基本工具是化学品安全技术说明书（SDS）和化学品安全标签。实验室里的每种危险化学品都应有说明书，通常由生产或供应单位提供，内容按 GB/T 16483-2008（以现行文本为准）规定的项目编写，包括危险性、急救、消防、泄漏处理、操作储存、个体防护、理化性质、毒理等信息；安全标签按 GB 15258-2009（以现行文本为准）编写，用象形图、信号词和危险性说明提示主要危害。</a:t>
            </a:r>
          </a:p>
          <a:p>
            <a:r>
              <a:t>《中华人民共和国危险化学品安全法》（2026 年 5 月 1 日起施行）及《危险化学品安全管理条例》（以现行文本为准）要求危险化学品附有与之相符的中文安全技术说明书和安全标签，即“一书一签”。实验室应把说明书放在随手可查的地方（纸质或电子），使用前先阅读。说明书各部分的读法和标签要素见第 5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技术说明书是了解化学品危害的首要依据，但它描述的是产品出厂时的状态。实验中把几种化学品混合、加热反应、改变浓度，或把小量实验放大，产物和过程的危害可能与原料完全不同，说明书管不了这些情况。</a:t>
            </a:r>
          </a:p>
          <a:p>
            <a:r>
              <a:t>因此，混合、反应、放大等情况要结合反应原理、文献资料和专家意见另外评估，放大实验前要重新评估并经负责人批准（见第 019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自己新合成的物质、中间体或文献中少见的化合物，往往没有现成的安全技术说明书，也查不到毒性和理化数据。没有数据不等于没有危害，恰恰意味着危害未知。</a:t>
            </a:r>
          </a:p>
          <a:p>
            <a:r>
              <a:t>处理这类物质时，应参考结构相似物质的资料推断可能的危害，按可能的最危险情况采取防护：少量操作、在通风柜内进行、佩戴合适的防护用品，并在容器上标明名称、合成人和日期。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书信息不全或不同供应商的说明书不一致时，可以查阅化学品安全数据库、化学品安全手册和专业工具书。有的数据库汇总了多个来源的信息，便于比较；说明书和数据库也可能有错漏，重要信息要多查几个来源互相核对。</a:t>
            </a:r>
          </a:p>
          <a:p>
            <a:r>
              <a:t>阅读国外资料时常见一种四色菱形标识，四格分别表示健康、易燃、反应性和特殊危险，数字从 0 到 4，越大越危险。国内化学品的危害分类和标签以 GB 30000 系列（以现行文本为准）和安全标签上的象形图、信号词为准，不以国外标识代替。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负责人不会时时在身边，但实验室本身就保存着大量安全信息：实验室安全手册和安全操作规程，写明本室的规则、防护用品怎么穿、在哪里脱，以及应急程序；已有的风险评估记录，写明每项实验的危险和控制措施；化学品台账，记录本室存放了哪些化学品、存在哪里、有多少；门口的安全信息牌，标明危险类别和联系人（见第 012 课）。</a:t>
            </a:r>
          </a:p>
          <a:p>
            <a:r>
              <a:t>具体化学品的防护要求，查说明书的个体防护部分。新进实验室的人员应先把这些资料读一遍，有疑问及时问。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查了资料仍拿不准，或者发现安全问题（例如有人穿着实验服进入办公区），要及时求助和沟通，不要自己猜。求助的顺序一般是：实验室负责人、导师和实验室安全员；学院实验室安全管理员；学校实验室安全管理部门、保卫处等职能部门（具体以本校规定为准）。</a:t>
            </a:r>
          </a:p>
          <a:p>
            <a:r>
              <a:t>涉及生物安全、辐射、特种设备等专业问题，可通过学校相关委员会或主管部门请教有经验的专家。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书和数据库告诉我们的是化学品的危害，即它固有的性质；但实际风险取决于怎么用：用量多少、用什么方法、在什么场所、有什么防护。用量少、方法得当、在通风柜内操作，高危化学品的风险也可以很低；反过来，大量、敞开、随意操作，危害较低的化学品也可能造成伤害。</a:t>
            </a:r>
          </a:p>
          <a:p>
            <a:r>
              <a:t>所以查到信息只是第一步，还要据此进行风险评估，确定控制措施（第 014、015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期刊论文和实验手册中常有关于危险步骤的安全提示（如放热、易爆中间体、需要惰性气氛），查方法时要一并读。学校、学院通报的实验室事故案例，以及公开报道的同类事故，能告诉我们哪些环节容易出事、后果有多严重。</a:t>
            </a:r>
          </a:p>
          <a:p>
            <a:r>
              <a:t>把查到的事故原因和教训写进自己的风险评估和操作规程，是避免重蹈覆辙最直接的方法。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查安全信息时还要查清所用化学品是否属于国家管制的类别：是否列入《危险化学品目录》，是否属于剧毒化学品、易制爆危险化学品（《易制爆危险化学品名录》）或易制毒化学品（《易制毒化学品管理条例》）等（以现行版本为准）。</a:t>
            </a:r>
          </a:p>
          <a:p>
            <a:r>
              <a:t>管制化学品须按本校规定提前申请审批，从合法渠道购买，按“五双”等要求储存、领用和登记（第 5 章讲解）。不能私自购买、转借或带出实验室。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答案：B。解析：危险化学品应有“一书一签”。</a:t>
            </a:r>
          </a:p>
          <a:p>
            <a:r>
              <a:t>第 2 题 答案：B。解析：没有数据意味着危害未知，应按可能的最危险情况做好防护。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答案：B。解析：说明书只讲危害，不替你评估风险，也管不了混合物和放大。</a:t>
            </a:r>
          </a:p>
          <a:p>
            <a:r>
              <a:t>第 4 题 答案：C。解析：先问负责人和安全员，再找学院、学校安全管理部门或专家。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答案：材料和设备的危害、同类实验出过的事故、需要的审批（如是否属于管制化学品）。解析：这些是风险评估的依据。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不同的实验危险不同，通用安全规则需要按具体风险调整。风险管理可以概括为四步：识别危害（找出可能出错的地方，第 012、013 课）；评估风险（判断出事的可能性和后果，本课）；降低风险（采取控制措施，第 017、018 课）；做好应急准备（万一出事怎么处置，第 14 章）。</a:t>
            </a:r>
          </a:p>
          <a:p>
            <a:r>
              <a:t>评估风险承上启下：以识别出的危害为基础，又决定了采取哪些控制措施和应急准备。管好风险，既保护自己，也保护身边的每个人。这四步适用于任何有危险的工作：在实验室拍摄教学视频，同样要在开拍前识别危害、评估风险、做好准备，只是机位变了，安全要求一样不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在工厂里，每个岗位每天做同样的事，操作规程固定，防护措施早已配好。高校科研不同：新实验、新装置、新材料不断出现，很多操作没有现成的规程可依。</a:t>
            </a:r>
          </a:p>
          <a:p>
            <a:r>
              <a:t>因此科研人员要主动识别和评估风险，逐步想清楚哪一步需要格外小心。遇到新材料，即使还没有针对它的专门规定，只要资料显示有危害，也要主动采取防护措施，不能以“没有规定”为由放任危险。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是被危害伤到的可能性及其后果，常用“风险＝严重程度×可能性”表示。严重程度看一旦出事后果有多重（从轻微割伤到死亡、重大财产损失）；可能性看发生的频率和接触的机会（多常做、接触多少、多长时间）。</a:t>
            </a:r>
          </a:p>
          <a:p>
            <a:r>
              <a:t>同样的危害，在不同条件下风险不同。例如高处作业：带护栏的高平台不容易掉下来，但一旦掉下来后果严重；没有护栏的矮梯，掉下来的后果较轻，但很容易发生。两者风险谁高，要结合具体地点和条件来算。化学实验中，化学品的用量和使用场所（敞开台面还是通风柜）是决定风险的关键因素（实例见第 015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矩阵把严重程度和可能性放进一张表，常用三乘三的格子：横轴为可能性（低、中、高），纵轴为严重程度（低、中、高），两者交叉得出风险等级，越往右上角风险越高。也有学校采用更多等级的矩阵，以本校规定为准。</a:t>
            </a:r>
          </a:p>
          <a:p>
            <a:r>
              <a:t>按风险等级采取不同处理：低风险一般可以接受，但仍要看看能否进一步降低；中风险要有控制措施和监督才能进行；高风险不可接受，在采取措施降下来之前不能开展。风险矩阵还可以用来排优先级：可能性大、后果重的立即整改，风险低的定期监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是有步骤的系统工作，可以分五步：第一，找出危害；第二，想清楚谁可能受伤、怎样受伤（例如高处放置的物品掉下来会砸到谁）；第三，评估风险，确定控制措施；第四，把评估结果和措施记录下来；第五，定期回顾，人员、设备、实验条件变化时及时重新评估。风险评估的目的就是：找出危害，排出高低，定好控制措施。</a:t>
            </a:r>
          </a:p>
          <a:p>
            <a:r>
              <a:t>不同专业可以按自己的特点细化。例如用电作业的评估：找出这项工作有哪些电气危害；说清要做的是什么电气工作；估计一旦出事会伤得多重；想一想哪些故障会让人触电；风险太高就增加措施后再评估。书面记录的写法见第 015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风险带有一定主观性：同一个操作，经验丰富的人做得稳稳当当，新手却可能出错，可能性的判断因人而异。因此评估不能只凭一个人的感觉，应由导师、安全员和实际操作者一起讨论，并按操作者的实际经验水平来估计可能性；对新手要加强培训和看护（第 007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实验都有一定风险，关键是把风险降到可接受的水平，大多数实验就可以安全进行。多大风险可以接受，因情况而异：教学实验中，教师已通过选择试剂、控制用量和设计流程把风险降得较低；使用高危化学品又没有替代品时，采取措施后风险可能仍为中等；科研中是否接受更高的风险，问题更复杂，必须经导师、实验室负责人和学院审核，按本校规定报批，并有相应的控制和应急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采取了控制措施，风险也不可能降为零，总会留下一部分残余风险。对残余风险要心中有数，并通过应急准备兜底：知道出事时怎么处置、应急设施在哪里。同时，降低风险没有终点，能做到的就应当始终把风险降到最低，不能因为“已经可接受”就放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些情况用简单的风险矩阵不够。物质数据不全时，可以按危害类别（如毒性等级、挥发性、用量）配套相应的控制措施；高风险工艺和复杂装置，可以逐个部件分析可能的失效方式和后果；蝴蝶结图以事故为中心，左边列出导致事故的原因和预防屏障，右边列出事故后果和减轻后果的屏障，便于检查每道防线是否到位。</a:t>
            </a:r>
          </a:p>
          <a:p>
            <a:r>
              <a:t>这些方法专业性较强，复杂情况应请实验室负责人、学院安全管理员和相关专家一起评估。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凡事预则立。每次实验前都要先想清楚有哪些风险，做好准备：危害有哪些，采取什么防护措施，出事怎么应急。高校实验开展前，要按本校规定完成风险评估，既看可能性，也看后果严重程度，由导师审核签字，控制措施落实到位后再开始。就像工地上有班前安全交底一样，实验也要先过负责人这一关。</a:t>
            </a:r>
          </a:p>
          <a:p>
            <a:r>
              <a:t>开展新实验、使用新设备、改变流程或条件时，都要重新评估。高风险实验按规定报学院和学校审批。风险评估以安全培训和准入为前提（第 007 课），学校、学院、实验室层层有责任（第 004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《中华人民共和国安全生产法》（以现行文本为准）要求构建安全风险分级管控和隐患排查治理双重预防机制：事前评估风险，按等级落实管控责任；日常排查隐患，及时整改（第 005 课）。风险评估的结果就是分级管控的依据。</a:t>
            </a:r>
          </a:p>
          <a:p>
            <a:r>
              <a:t>风险分级常用红、橙、黄、蓝四种颜色表示由高到低的等级，等级越高，管控的层级越高、措施越严。高校实验室的风险分级办法和各级管控责任，以本校规定为准。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答案：B。解析：先识别危害，再评估风险，然后降低风险，最后做好应急准备。</a:t>
            </a:r>
          </a:p>
          <a:p>
            <a:r>
              <a:t>第 2 题 答案：B。解析：高风险不可接受；中风险需要措施和监督；低风险可接受，也要看能否再降低。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答案：B。解析：风险不能完全消除，残余风险要靠应急准备兜底，并始终降到最低。</a:t>
            </a:r>
          </a:p>
          <a:p>
            <a:r>
              <a:t>第 4 题 答案：D。解析：人、设备、实验变化时都要重新评估。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答案：找出危害；想清谁会受伤、怎样受伤；评估风险并定措施；记录结果；定期和变化时回顾更新。解析：评估的目的是找危害、排高低、定控制措施。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浓硝酸既是强酸又是强氧化剂，危害很大。但用一滴时容易控制，即使沾到皮肤也能立即用大量清水冲洗；一大摊洒在腿上，伤害就严重得多。用多少、怎么用，决定了风险高低。</a:t>
            </a:r>
          </a:p>
          <a:p>
            <a:r>
              <a:t>同一瓶浓酸，密封存放在酸柜里时危害高、风险低；在敞开的台面上倒酸又不戴面罩，风险就陡然升高。危害本身没有变，变的是用量和暴露方式。所以降低风险的首选办法之一，就是减少用量、减少暴露（第 018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乙醚易挥发，蒸气不能随意吸入，而且极易燃。在敞开的实验台面上使用，人员吸入蒸气的可能性很大，蒸气还可能扩散到远处遇火源；放进通风柜内使用，吸入的可能性大大降低。</a:t>
            </a:r>
          </a:p>
          <a:p>
            <a:r>
              <a:t>同样的物质、同样的用量，使用场所不同，风险完全不同。评估时要写明在什么地方操作，并检查通风柜是否正常运行（第 052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用生活中的例子理解危害和风险：雷电是人人知道的危害，但晴天被雷击的风险非常低；雷雨天风险升高，待在室内就能大大降低风险；在户外则要远离大树、旗杆等高耸物体。</a:t>
            </a:r>
          </a:p>
          <a:p>
            <a:r>
              <a:t>实验室里是同样的道理：危害一直存在，但在不同条件下风险不同；做好基本防护（护目镜、实验服、手套，规范操作），就能明显降低受伤的风险。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：把强酸溶液倒进滴定管，如果滴定管架得很高、举过头顶往上倒，最容易洒落，酸液可能落到脸上和眼睛里。严重程度按酸的浓度为中或高；可能性取决于用什么器皿倒、手稳不稳。两者合起来是中到高风险，需要改进做法。</a:t>
            </a:r>
          </a:p>
          <a:p>
            <a:r>
              <a:t>降低风险：把滴定管取下或降到低于视线的高度，插上小漏斗，用小烧杯缓慢加液，洒落的可能性就小了；再戴好护目镜和手套，减少暴露。这样风险就降到了较低水平。加液后取下漏斗再读数（滴定操作见第 166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评估：浓硫酸会严重腐蚀皮肤和眼睛，严重程度高；可能性为中，总体是中到高风险。控制措施包括佩戴护目镜（必要时面罩）和耐酸手套，在合适的场所操作，减少暴露。</a:t>
            </a:r>
          </a:p>
          <a:p>
            <a:r>
              <a:t>但评估到这里还漏了一个危害：浓硫酸遇水会放出大量的热，如果把水倒进浓酸里，局部剧烈放热会导致酸液沸腾飞溅。正确做法是把浓酸沿玻璃棒或器壁慢慢加入水中，边加边搅拌。这个例子说明：评估完成后要回头再查一遍，看看有没有漏掉的危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说起来容易，做起来难，主要有三个难点。一是严重程度难判断：危害容易认出来，但后果有多严重，需要读懂毒性数据、职业接触限值和闪点等信息，往往要靠知识和经验判断。二是可能性取决于操作者的经验：刚进大学时几乎没有操作经验，毕业时已相当熟练，同一操作的出错可能性大不一样。三是多大风险可以接受：一般要降到低风险，但不同人判断不同，采取的措施也就不同。</a:t>
            </a:r>
          </a:p>
          <a:p>
            <a:r>
              <a:t>因此评估不能只靠个人，应由导师、安全员和操作者共同讨论，参照本实验室已有的评估记录和本校要求，请有经验的人把关。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阅读安全技术说明书的目的，是在实验前评估风险。要查清每种试剂的危害、不相容物（如氧化剂与还原剂、酸与氰化物等不能接触的物质）、储存和防护要求，避免不相容物在储存和操作中碰在一起。</a:t>
            </a:r>
          </a:p>
          <a:p>
            <a:r>
              <a:t>以回流反应为例，动手前要查清：每种试剂有什么危害；反应会不会剧烈放热、放出气体；所用溶剂是否易燃、需要什么加热方式；应采取哪些防护和应急措施。想清楚、写下来，再动手。说明书各部分的读法见第 5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使用危险化学品，特别是会剧烈反应的物质之前，要先做危害分析，并请懂行的人（导师、安全员、有经验的同事）一起参与。分析的问题包括：可能怎样着火或爆炸，后果有多严重。</a:t>
            </a:r>
          </a:p>
          <a:p>
            <a:r>
              <a:t>分析时要综合考虑：物质本身的性质；用量和与人、与其他物质的距离；房间条件（通风、火源、空间、应急设施）；人的因素（经验、疲劳、是否单独操作）；以及以往同类事故的教训（第 013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表一般包括：作业或实验步骤、危害、可能的后果和受影响的人、现有措施下的风险等级、需增加的控制措施、采取措施后的残余风险等级、落实负责人和完成时间、应急处置措施，以及评估人、审核人签字和日期（格式以本校规定为准）。</a:t>
            </a:r>
          </a:p>
          <a:p>
            <a:r>
              <a:t>以高处作业为例：没有护栏有坠落危险，只做了培训，仍是高风险；加装护栏后坠落的可能性降下来，变为低风险。最后写明由谁负责落实。确定措施时按控制层级优先选择替代和工程控制，再用管理措施和个人防护（第 017 课）。以用电为例，评估后要修复损坏的设备、做好绝缘、装上保护装置，记录下来并培训到人，定期复查，发生事故或更换设备时也要复查。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风险评估不能只在脑子里，必须形成书面记录，签名并写明日期，并与操作规程、培训记录相衔接：评估中确定的措施要写进规程，并培训到每个操作者。</a:t>
            </a:r>
          </a:p>
          <a:p>
            <a:r>
              <a:t>评估表由实验室负责人审核；高风险实验按本校规定报学院审批，必要时报学校。评估结果要讲给每个参与实验的人，签字确认已知晓；锁在抽屉里没人看的评估等于白做。评估记录要妥善保存，供检查和复查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风险评估要团队参与：导师和负责人把关，做实验的人必须参与评估过程，对不清楚的地方当场提出，看懂了、确认措施能做到位，再签字确认。</a:t>
            </a:r>
          </a:p>
          <a:p>
            <a:r>
              <a:t>评估还要定期复查。每次实验结束后不妨回头想一想：上一次实验漏掉了什么危险？出现过什么险情或未遂事件？把发现的问题补进评估和规程。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照文献或别人的实验报告复现实验，不能直接照做：别人的实验室条件、设备、用量和人员经验可能与本室不同。动手前要先做风险评估，看本实验室的设施、设备、防护和人员能力是否满足要求，经导师和实验室负责人同意后再开展。</a:t>
            </a:r>
          </a:p>
          <a:p>
            <a:r>
              <a:t>涉及高致病性病原微生物等的实验活动，须按《病原微生物实验室生物安全管理条例》（以现行文本为准）在相应级别的实验室开展并经批准（第 6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础课程的教学实验大多已经由教师设计好、评估过，风险已降到较低水平。进入科研阶段后，新实验、新方法由自己设计，评估风险就成了自己的责任（在导师指导下）。从现在起，每做一个实验都试着想一想危害、风险和措施，练好这项本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答案：B。解析：浓酸遇水大量放热，水倒入酸中会沸腾飞溅。</a:t>
            </a:r>
          </a:p>
          <a:p>
            <a:r>
              <a:t>第 2 题 答案：B。解析：降低高度、用合适器皿减少洒落可能，佩戴防护减少暴露。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答案：B。解析：危害相同，但暴露方式不同，风险差别很大。</a:t>
            </a:r>
          </a:p>
          <a:p>
            <a:r>
              <a:t>第 4 题 答案：D。解析：锁在抽屉里没人看的评估等于白做，结果要人人知晓。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答案：严重程度难判断；可能性取决于经验；多大风险可接受各人判断不同。解析：所以要多人讨论、请有经验的人把关。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危害分析（JHA），也称工作安全分析（JSA），是一种辨识危害的方法：把一项作业按顺序拆成一个个步骤，逐步找出可能存在的危害，并为每个危害确定控制措施，最后形成“步骤—危害—措施”的书面分析表。它既是辨识危害的工具，也是把作业分解开、帮助每个人看懂身边危害的手段。</a:t>
            </a:r>
          </a:p>
          <a:p>
            <a:r>
              <a:t>对动火、受限空间、高处作业等危险作业，工作危害分析表通常附在作业审批单（作业票）上，开工前向每个作业人员讲解（特殊作业见第 12 章）。与第 014 课的风险评估相比，工作危害分析更关注“具体怎么做的每一步”，两者可以结合使用。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工作危害分析的目的，是消除和预防工作中的危害，而不是为处分人员找依据，也不是给人安排事情打发时间。分析做在前面，伤害就少在后面。只有大家相信分析不会被用来追责，才会如实说出操作中的问题和险情（公正文化见第 010、011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危害分析分四步：一是选择要分析的作业；二是把作业按实际顺序拆分成步骤，每一步用一个动作描述，步骤不宜过细也不宜过粗；三是逐步找出每一步的危害；四是为每个危害确定控制措施，优先采用消除、替代和工程控制，再用管理措施和个人防护（第 017 课）。</a:t>
            </a:r>
          </a:p>
          <a:p>
            <a:r>
              <a:t>以“领取一箱试剂并上架”为例：搬运——弯腰搬重物易伤腰背，用推车；拆箱——刀具易割伤，用安全刀、刀口朝外；上架——高处放置易坠落砸伤，重的、液体的放低层，不相容物分开。分析表按“步骤、危害、措施”三栏一一对应；只列出作业频率和所需技能，抓不住具体危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分析前，应先回顾本实验室、本学院以往的事故记录和未遂事件（险情）记录。受过伤的作业和差点出事的作业都要看，因为出过事的地方往往还藏着没有消除的危害，把这些地方作为分析的重点。未遂事件的报告和记录见第 14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的作业很多，不可能同时全部分析，要按轻重缓急排序：发生过伤害的作业优先；其次是发生过未遂事件和一旦出事后果严重的作业；新开展的作业和流程有变化的作业也要及时分析。然后逐项完成，覆盖全部有危险的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在分析表中描述一个危害，要讲清四个方面，缺一不可：环境——危害在哪里发生；暴露——会伤到谁，或损坏什么；触发——是什么动作或条件引发了它；后果——如果不加控制，最可能出什么事。</a:t>
            </a:r>
          </a:p>
          <a:p>
            <a:r>
              <a:t>例如：“在试剂架前（环境），上架的人和旁边经过的人（暴露），踮脚把大瓶液体放到最高层时（触发），瓶子滑落碎裂，液体溅到脸和眼睛（后果）。”写全这四点，别人一看就明白风险所在，也便于对症确定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弯腰搬重物为例，危害应写成“伸手、扭身搬起重箱时容易拉伤下背部”，而不是笼统地列出触电、振动等与这项作业无关的危害。好的描述说清是什么动作、会伤到身体哪个部位，这样才能对症下措施：能用推车就用推车，箱子太重就分装或两人抬，搬起时靠近身体、屈膝、不扭腰（人机工效见第 13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做工作危害分析常用检查表，提示要逐项检查工作区域、材料、机器设备和工具。但不能漏掉人：操作者的姿势、技能是否熟练、是否经过培训、是否疲劳，都是危害的来源（人因见第 011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危害分析不能由负责人一个人闭门完成。天天动手操作的人最清楚哪一步危险，也最知道应该加什么预防措施；有疑问时更要大家一起讨论。分析应由实验室负责人、做实验的学生和安全员共同参与，多双眼睛，漏掉的危害更少。</a:t>
            </a:r>
          </a:p>
          <a:p>
            <a:r>
              <a:t>不知道危害分析怎么做，就问导师和安全员；一次失误、一个人的经验，大家一起学。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在实验室里开展新实验，也可以用工作危害分析：先把实验任务拆成步骤，每一步找出化学、生物、物理和人机工效等方面的危害（第 012 课），为每个危害配上对应的控制措施。</a:t>
            </a:r>
          </a:p>
          <a:p>
            <a:r>
              <a:t>这份分析就是编写安全操作规程（SOP）的骨架：步骤成为规程的操作步骤，措施成为每一步的安全要求（SOP 编写见第 019 课）。开工前，把分析内容讲给每个参与的人。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作危害分析不是一次做完就不变的。发生事故或未遂事件后，要回头检查分析表：这个危害有没有识别出来？措施是否有效？据此补充危害、修订措施，并同步更新操作规程和培训内容。作业方法、设备、人员变化时也要及时修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答案：A。解析：步骤、危害、措施三栏一一对应。</a:t>
            </a:r>
          </a:p>
          <a:p>
            <a:r>
              <a:t>第 2 题 答案：B。解析：天天动手的人最清楚哪里危险，应团队一起做。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答案：B。解析：出过伤害的作业排第一，其次是未遂和后果严重的作业。</a:t>
            </a:r>
          </a:p>
          <a:p>
            <a:r>
              <a:t>第 4 题 答案：C。解析：描述要说清动作和伤到哪里，才能对症下措施。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答案：环境（在哪里发生）、暴露（伤到谁或损坏什么）、触发（什么动作或条件引发）、后果（不加控制最可能出什么事）。解析：四点写全，别人一看就明白风险。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风险管理的四步是识别危害、评估风险、降低风险、做好应急准备（第 014 课）。本课假定危害已经识别、风险已经评估，讲第三步：怎样把风险降下来。</a:t>
            </a:r>
          </a:p>
          <a:p>
            <a:r>
              <a:t>实验室里大家熟悉的规则，其实都来自“降低风险”：在通风柜里操作，是为了不吸入有害气体和蒸气；戴护目镜，是防止腐蚀性物质伤眼；可能伤到皮肤，就戴手套、穿实验服。安全管理要做的就是消除、减少和控制危害，例如换用低毒试剂、使用通风柜、减少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风险的措施按效果分为五个层级，可以画成一个倒金字塔：最宽的顶层是消除危害；往下是替代，即换成更安全的物质、设备或方法；再往下是工程控制，用设施把人和危害隔开；然后是管理控制，用制度、培训、规程改变做事的方式；最窄的底层是个人防护。</a:t>
            </a:r>
          </a:p>
          <a:p>
            <a:r>
              <a:t>层级越往上效果越好、越可靠，越往下越依赖人。选择措施时要从上往下想：能消除的先消除，不能消除的考虑替代，再用工程控制和管理控制，个人防护放在最后。以用电为例：最好是把危害去掉；去不掉就换成更安全的特低电压；再靠绝缘、接地、断路器和漏电保护；然后是作业许可、挂牌和培训；最后才是绝缘手套等个人防护。国内 GB/T 45001-2020（以现行文本为准）也规定了同样的控制顺序。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很多人一想到安全，就想到护目镜和手套，其实是从层级的最末端开始了。控制层级不是一份可以随意点选的菜单，而是严格的先后顺序：先问能不能消除、能不能替代、有没有工程设施，最后才是个人防护。</a:t>
            </a:r>
          </a:p>
          <a:p>
            <a:r>
              <a:t>不少实验室恰恰做反了：大批采购手套等防护用品，却舍不得在通风、隔离、改进方法等上层措施上投入。“戴上手套就行”这句话最危险，它让人跳过了更有效的措施。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个层级最大的差别在于可靠性。上层措施不依赖人的记忆和注意力：危害消除了，人犯错也伤不到；通风柜和隔离罩在运行，人手一滑，蒸气和飞溅仍被挡住。下层措施则依赖人每一次都做对：一疲劳、一着急、一分心，就可能忘戴、戴错或操作失误。</a:t>
            </a:r>
          </a:p>
          <a:p>
            <a:r>
              <a:t>只靠个人防护，就是赌人一次都不出错。时间一长、次数一多，这个赌一定会输。所以越是高风险、经常重复的操作，越要在上层想办法。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有力的控制是消除：直接把危害去掉，危害不在了，就不可能伤人。例如高处的风扇坏了，与其爬上去修，不如拆下来放到地面修，坠落的风险就没有了；把地面和台面上的杂物收好，就不会掉落砸人或绊倒人。</a:t>
            </a:r>
          </a:p>
          <a:p>
            <a:r>
              <a:t>在实验中，消除往往来自实验设计的改变。原片案例中，一个实验室改进了分析方法，去掉了一种疑似致癌物，验证新方法花了约半年，却从此结束了多年的暴露。能用不含危险物质的方法完成实验，就不要使用危险物质（化学实验的具体做法见第 018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去不掉时，就把它换成危害更小的。实验室里最常见的是用低毒试剂替代高毒试剂、用不易燃的溶剂替代易燃溶剂；日常清洁可以用肥皂水代替腐蚀性清洗剂。设备也可以替代：受限空间里可能存在可燃气体，普通照明可能打火，应换用安全电压（特低电压）的防爆型灯具（具体要求以现行标准和本校规定为准）。</a:t>
            </a:r>
          </a:p>
          <a:p>
            <a:r>
              <a:t>替代时要确认新物质、新方法本身的危害确实更小，并重新做风险评估（第 019 课）。原片案例中，换用溶剂后废物也大大减少，说明安全和绿色可以一起实现。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既不能消除、也不能替代时，就用工程设施把人和危害隔离开。实验室最常用的是通风柜：运行正常时，有害气体和蒸气在源头被抽走，减少吸入，也降低着火爆炸的风险。手套箱让人在外面操作、危害在里面；生物安全柜保护人员、样品和环境；机械的转动部件装上防护罩，并加装急停和自动停机装置。</a:t>
            </a:r>
          </a:p>
          <a:p>
            <a:r>
              <a:t>工程控制的优点是靠设备起作用，不依赖人每次都记得规矩，耐用、可靠，是实验室的主力措施。各类设施的使用方法见相应专题课（通风柜第 051–052 课，生物安全柜第 071–072 课，机械防护第 126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设施要用对才有效。防溅挡板和防护屏可以挡住意外飞溅；通风柜要把视窗放低到规定高度以下、在柜内深处操作，柜内不堆杂物，才能把蒸气挡在呼吸带之外。柜门大开、堆满杂物的通风柜，只会带来虚假的安全感。本实验室有哪些工程设施、怎么用，要问清楚、用起来。</a:t>
            </a:r>
          </a:p>
          <a:p>
            <a:r>
              <a:t>有测验题说“工程控制是最有效的控制措施”，这种说法不准确：工程控制比管理控制和个人防护更可靠，但在层级中排第三，消除和替代的效果更好。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控制管的是流程和行为，改变的是做事的方式：尽量少接触、短时间接触、在低浓度下接触；限时限量；在危险区域挂好警示标识。遵守学校和实验室的安全守则、实验前先读安全注意事项、按写好的步骤做不随意跳步，都属于管理控制。</a:t>
            </a:r>
          </a:p>
          <a:p>
            <a:r>
              <a:t>在实验室里，管理控制还包括：扩大反应规模等变更要先审批（第 019 课）；高风险操作安排在有人支援的时段，不单独做，结伴进行；危险作业实行审批或许可；安排好人员和时间。任何人发现不安全情况，都可以叫停。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在控制层级中，管理措施排在个人防护之前，比单靠防护更有效。常用的管理措施有三项：一是培训，让每个人都懂危害、会安全操作，未经培训不得上岗（准入培训见第 007 课）；二是警示标识，提醒有什么危险、提示应该怎么做（第 026 课）；三是操作规程，这一项最重要，把每一步写清楚，谁来做都一样安全（第 019 课）。</a:t>
            </a:r>
          </a:p>
          <a:p>
            <a:r>
              <a:t>先有安全规程，再做培训，再按需要戴好个人防护，三者配合使用。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措施依赖人的执行。规定写在纸上却不执行，等于没有；它的效果好坏，全看日常监督和每个人的自觉遵守。人不是机器，清晨、深夜或疲劳时都容易犯迷糊，所以在高危操作中，这一层必须时刻警惕，并由导师、实验室负责人和安全员检查落实（检查与整改见第 005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防护（护目镜、手套、实验服等）排在控制层级的最底层，是前面所有措施之后的最后一层。它不能消除危害，只是在人和危害之间隔开一层；一旦通风柜等上层措施失灵，就只剩它挡在前面。光靠防护还不够，人手一副丁腈手套远远不能解决问题。</a:t>
            </a:r>
          </a:p>
          <a:p>
            <a:r>
              <a:t>但“最后一道防线”不等于可以不要：上层措施做足了，防护用品照样要按规定佩戴，不能用防护代替上层措施，也不能因为有上层措施就不戴防护。防护用品要选得对、穿得好，关键时刻才能真正保护人（选择方法见第 021–025 课）。学校和实验室应按规定配备合格的个体防护装备。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如果某次真的是靠护目镜或手套挡住了伤害，说明前面的消除、替代、工程和管理措施都已经失守。这不是“运气好”，而是一次险情，甚至可能已经是需要上报的事故。</a:t>
            </a:r>
          </a:p>
          <a:p>
            <a:r>
              <a:t>应按本校规定报告实验室负责人，分析原因（第 161 课），把前面层级的漏洞补上，而不是只换一副新手套继续做。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何一层措施都可能有漏洞，就像几片带孔的奶酪片，孔的位置各不相同：一层失手，下一层还能接住。所以实际工作中要组合使用：工程控制、管理控制和个人防护三道防线一起用，防止化学品通过吸入、皮肤接触等途径伤人。</a:t>
            </a:r>
          </a:p>
          <a:p>
            <a:r>
              <a:t>高危操作要几层措施同时上。制定措施时要问自己：主要措施失效时，有没有其他层兜底？从塔尖往下逐层建立，别让一个小失误击穿唯一的防线。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除和替代属于实验设计，教师设计教学实验时通常已经考虑过。在实验台前，学生能做的主要是下面三层：用好通风柜等工程设施，遵守规程和管理要求，正确佩戴个人防护。这三层都是在降低暴露的可能性，降低暴露的可能就是降低风险。</a:t>
            </a:r>
          </a:p>
          <a:p>
            <a:r>
              <a:t>进入科研阶段后，实验由自己在导师指导下设计，就要从顶层开始考虑消除和替代（第 015、018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措施要保持有效。发现通风柜报警或风量不足、防护罩缺失或损坏、急停失灵、警示标识缺失等情况，应立即停止相关操作，把危险物质妥善放置，报告实验室负责人，按本校程序报修；必要时报学院和学校实验室管理部门。</a:t>
            </a:r>
          </a:p>
          <a:p>
            <a:r>
              <a:t>不得擅自拆除、改装或绕过安全设施。设施修好并经确认后，才能恢复实验（隐患整改见第 005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答案：B。解析：越往上越有效、越可靠，个人防护是最后一道防线。</a:t>
            </a:r>
          </a:p>
          <a:p>
            <a:r>
              <a:t>第 2 题 答案：B。解析：工程控制比管理控制和个人防护更可靠，但排第三，消除和替代更有效。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答案：B。解析：多层防护要组合使用，上层措施做足了，防护用品照样要戴。</a:t>
            </a:r>
          </a:p>
          <a:p>
            <a:r>
              <a:t>第 4 题 答案：B。解析：危害去不掉，换成更安全的物质，属于替代。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答案：C。解析：工程控制失效要停止操作并报告，不擅自拆改。</a:t>
            </a:r>
          </a:p>
          <a:p>
            <a:r>
              <a:t>第 6 题 答案：个人防护依赖每个人每次都选对、戴好、不出错，一疲劳、着急、分心就会失效。解析：所以要优先采用上层措施，并多层组合。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风险管理四步是识别危害、评估风险、降低风险、做好应急准备（第 014 课）。本课在危害已识别、风险已评估的前提下，讲化学实验中降低风险的通用做法；控制层级的原理见第 017 课。</a:t>
            </a:r>
          </a:p>
          <a:p>
            <a:r>
              <a:t>很多降低风险的办法就是好的操作习惯：台面整洁、瓶盖随手盖好、按规定戴好防护、按步骤操作。好习惯能减少化学品接触和人身伤害，也能减少仪器和财产损失。同一实验室的同伴之间要互相提醒，发现不安全的做法及时指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设计或准备实验时，可以先问自己四个问题来减少暴露：一，能不能换一种危害更小的化学品？二，能不能用更稀的浓度？三，能不能少用一点？四，能不能在更低的温度下进行，减少烫伤和挥发？</a:t>
            </a:r>
          </a:p>
          <a:p>
            <a:r>
              <a:t>每做到一条，风险就降低一些。这些问题要在实验前、在导师指导下考虑，改动实验条件后要确认实验目的仍能达到，并按要求重新评估（第 019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在控制层级中，替代排在消除之后，效果仅次于消除（第 017 课）。化学实验中常见的替代是：用不太易燃的溶剂代替易燃溶剂，用低毒试剂代替高毒试剂，用溶液代替易扬尘的粉末等。</a:t>
            </a:r>
          </a:p>
          <a:p>
            <a:r>
              <a:t>替代能从源头降低危害，但要注意替代物本身也有危害，不能认为“换了就完全安全”（替代的决策见 K4）。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替代要按步骤决策：先比较原物质和替代物的毒性、易燃性、反应性等危险性；再看成本、实验效果和可行性；然后先做小规模试验验证；确认可行后，按本实验室的变更程序经导师和实验室负责人审批，修订操作规程并培训后再推广使用（第 019 课）。</a:t>
            </a:r>
          </a:p>
          <a:p>
            <a:r>
              <a:t>替代的目的是降低风险，如果替代物带来新的、更难控制的危害，就是用一个已知危害换来了一个新危害，得不偿失。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危害消除不了时，缩小实验规模是最直接的办法。能用微量化、小量实验达到目的的，就不做常量或大量实验。规模小了，万一出错（溅洒、着火、反应失控），影响范围和后果都小，还能节省试剂和经费。</a:t>
            </a:r>
          </a:p>
          <a:p>
            <a:r>
              <a:t>取用试剂时只取够用的最小量，不要一次取出大量放在台面上。扩大规模则要重新评估并审批（第 019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源头减量的另一个办法是控制存量：危险化学品按实验需要领用，用多少领多少，不多领、不囤积。实验室存放的危险化学品越多，一旦发生泄漏、火灾，后果越严重；实验室存放量要符合本校规定（具体限量以本校规定为准）。</a:t>
            </a:r>
          </a:p>
          <a:p>
            <a:r>
              <a:t>领用要登记，建立台账；用剩的试剂按规定退回库房或作为废物处置，不随意留存、转让（化学品全过程管理见第 037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凡事预则立，准备是安全操作化学品的关键。动手之前，先把工作计划好：阅读实验讲义、操作规程和试剂标签，想清楚每一步有什么危害、需要什么防护、出了事怎么急救、废物怎么处置。</a:t>
            </a:r>
          </a:p>
          <a:p>
            <a:r>
              <a:t>把试剂、器材和对应的安全技术说明书提前备齐，放在顺手的位置，避免实验中途手忙脚乱地找东西、临时凑合（说明书的读法见第 013 课和第 5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实验前要估计所需时间。时间不够时，先排好进度，定好能够安全中断的节点（例如反应完成、冷却后），不要为了赶时间跳步或匆忙收尾；太累的时候不做危险操作。</a:t>
            </a:r>
          </a:p>
          <a:p>
            <a:r>
              <a:t>确需过夜或无人值守运行的实验，要按学校规定事先审批，确认装置稳定可靠，在装置旁写明实验内容、联系人和联系方式，安排好巡查（独自和无人值守实验的规定见第 009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实验装置和设备在搭建前要逐件检查：玻璃仪器有无裂纹、缺口（第 029 课），是否干净；设备是否在检定或检查有效期内、电源线是否完好、能否正常工作。有问题的不用，报告并更换。</a:t>
            </a:r>
          </a:p>
          <a:p>
            <a:r>
              <a:t>需要专用设备和容器的，就用专用的：不用饮料瓶、食品容器装化学品，不用胶带、绳子临时拼凑装置。临时凑合的替代品强度、耐腐蚀性和密封性都没有保证，很危险。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搭装置不能凑合将就：用合适的铁架台和夹具固定，装得稳、不别劲，玻璃接口对正，不强行扭装。需要加热的装置要与大气相通或设有泄压口，不能搭成封闭体系，否则受热后压力升高可能炸裂。</a:t>
            </a:r>
          </a:p>
          <a:p>
            <a:r>
              <a:t>刚加热过的玻璃仪器看上去和冷的一样，容易烫伤，要用合适的工具或耐热手套拿取。玻璃易碎，碎片不能用手捡，要用工具收集并放入专用容器（第 029 课）。具体操作技术（蒸馏、回流等）的装置要求见第 15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缩小规模、减少用量、低危替代，不仅降低了实验中的风险，也减少了危险废物的产生量。国家要求产生危险废物的单位减少危险废物产生量和危害性，并分类收集、依法处置。</a:t>
            </a:r>
          </a:p>
          <a:p>
            <a:r>
              <a:t>实验产生的废液和废物要按本校规定分类收集、贴好标签，不得倒入下水道（第 053 课）。减量、替代和循环利用也是绿色实验室的基本理念（第 055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答案：C。解析：四个问题是换、稀、少、冷；多领囤积反而增加风险。</a:t>
            </a:r>
          </a:p>
          <a:p>
            <a:r>
              <a:t>第 2 题 答案：B。解析：替代要按步骤决策，别用已知危害换来新危害。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答案：B。解析：加热装置要有通气口或泄压口，封闭体系受热压力升高可能炸裂。</a:t>
            </a:r>
          </a:p>
          <a:p>
            <a:r>
              <a:t>第 4 题 答案：B。解析：过夜实验要按学校规定审批，写明联系人并安排巡查。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答案：万一出错影响范围和后果小，节省试剂和经费，还能减少危险废物。解析：能用微量化实验的就不做常量。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标准操作规程（SOP）是把一项工作，特别是危险工作，怎样安全地完成用书面形式一步步写清楚的文件。不同的仪器、不同的危险操作有各自的规程，操作者照规程做，而不是凭感觉、凭记忆。</a:t>
            </a:r>
          </a:p>
          <a:p>
            <a:r>
              <a:t>在控制层级中，规程属于管理控制（第 017 课）。它把风险评估中确定的控制措施落实为具体做法，是培训和检查的依据。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规程的目标是：不同的人照着同一份规程做，过程和结果都应该基本一样，安全上也一样有保障。对检测类工作而言，这也是对委托人负责。</a:t>
            </a:r>
          </a:p>
          <a:p>
            <a:r>
              <a:t>如果每个人各做各的、结果都不相同，说明规程写得不清楚或不可行，需要修改。一份规程只管一个结果，内容过多就拆分成几份；编写时听取各方意见，不断试用、验证、改进。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特殊设备（如高压、高温、高速、辐射、激光设备）和危险化学品的操作，都要有安全操作规程。规程中应写明：适用范围、主要危害、个人防护要求、操作步骤、故障和异常情况的处理、应急和急救措施、废弃物处置以及设备维护要求。</a:t>
            </a:r>
          </a:p>
          <a:p>
            <a:r>
              <a:t>规程要张贴或放置在仪器旁、操作现场显眼处，让每个使用者随时都能看到，并写明设备责任人和联系方式（以本校规定为准）。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笔写规程之前先问三件事：谁来写——由管理人员和一线操作人员、负责人一起商量；写给谁看——实验人员，以及废物清运人员等相关人员；为什么写——例如为了按规定安全处置实验室废物。规程是写给使用者看的，编写时就请他们参与，定稿前先听一线意见。</a:t>
            </a:r>
          </a:p>
          <a:p>
            <a:r>
              <a:t>以废物处置规程为例，先把全过程想清楚：废物的产生、分类（生物、放射性、化学废物分开），贴好标识，暂存，再交由有资质的单位运走处置；感染性废物要先在本实验室按规定灭菌，再按规定处置（第 053、077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管理文件分层次：政策确定方向和原则；计划安排为实现目标要做的一串事情；程序（规程）则写清每一件事具体怎么做。</a:t>
            </a:r>
          </a:p>
          <a:p>
            <a:r>
              <a:t>一个计划往往要拆成多份规程。例如实验室废物管理计划，可以拆成收集、分类、运输、去污、标识等规程，再配套培训和个人防护的要求。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份规程可以分成四个部分。条件：回答谁使用、什么时候用、为什么用、在哪里用；规程挪到别的场所使用，要重新试用验证。背景：说明输入、行动和输出的关系，并写明前提条件，例如人员已经受训，存放、分类、运输、去污设施都已具备；缺少哪一项，就要先补一份相应的规程。</a:t>
            </a:r>
          </a:p>
          <a:p>
            <a:r>
              <a:t>行动：写清从输入到输出的每一步，例如装入指定容器、贴好标签、送到暂存区、按规定联系清运、装车固定、送到指定地点，可以做成一步一勾的检查单。文件：在附录中列出参考指南和国家、地方的相关法规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规程的格式：封面写明“受控文件”和修订号；篇幅较长的加目录；生僻术语要解释；写清目的；操作步骤按先后顺序一条条写。</a:t>
            </a:r>
          </a:p>
          <a:p>
            <a:r>
              <a:t>有健康风险的步骤要写警示；同时使用几份规程时，要写明它们的相互影响，例如某种消毒剂会伤皮肤、腐蚀设备。还应包括质量控制、参考文献、联系人和附录。规程发放几份、放在哪里由管理人员确定，各个版本都要归档备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编写规程可以按五步循环进行：分析（工作内容、危害和使用者）、设计（结构和流程）、编写、实施、评估；评估后再回头修改，循环往复。</a:t>
            </a:r>
          </a:p>
          <a:p>
            <a:r>
              <a:t>好的规程应当让使用者懂得每一步的道理，能想得出整个流程，能实际动手做，会使用所需的工具；每一步都做得到，也能检查得清。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新规程先到实际工作台试用，问四个问题：看得懂吗——太专业就改简单；做得到吗——例如防护服不合身也做不好；结果对吗；不同的人做结果一样吗。试用中发现的问题都记录下来。</a:t>
            </a:r>
          </a:p>
          <a:p>
            <a:r>
              <a:t>验证可以用只答“是”或“否”的观察题，例如“是否按规程穿戴防护服”；答“否”就去查原因。观察题客观，观察的人自己也在进步；某个人做不到，可能是系统问题，需要沟通解决。编写问卷时可以请被观察的人一起参与，自我检查往往比外人检查更真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写规程要对照国家法律法规、标准和学校的要求，不能照搬国外或其他单位的文本。规程要经过商议和审核，由实验室负责人（必要时学院）批准后，才在本单位正式生效，再发给使用者；批准过程也要留下记录（审批权限以本校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操作时要严格按书面规程一步一步做，不跳步，不凭感觉改步骤。良好的工作规范包括规范的操作手法、无菌技术和本实验室的行为守则，要靠每个人的安全意识、培训和日常检查来保持（第 009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使用中觉得规程某一步不合适、做不到或不安全时，不能自己在规程上涂改，也不能擅自跳过；如果继续操作有危险，应先停下。把问题反馈给实验室负责人或管理人员，由他们组织评估和修订，修订版批准后，才按新版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程是“活”的文件，要定期审查。发生险情或事故、结果不一致、更换设备、出现新的危害或新的规定时，都要及时修订。修订前先查看使用记录，和使用者一起改；缺设备、沟通不畅等问题也要想办法解决。如果某份规程改得太频繁，说明其中某一步有毛病，要找出根本原因。</a:t>
            </a:r>
          </a:p>
          <a:p>
            <a:r>
              <a:t>规程要有版本号，修订后旧版撤下，现场只留最新版本；一切以最新发布的规程、通知和现场标识为准。改了规程，先培训再执行（K14）。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规程更新后，要通知到每一位使用者，组织学习或培训；使用者看过、学过后签字确认，并保存培训记录。没有接受更新培训的人员，不得按新规程独立操作（准入与培训见第 007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开展新实验之前，先写书面风险评估（第 014–015 课）：哪里有电？哪里会烫？会产生什么有害物质？出了事怎么办？措施落实后，把自己写的操作步骤和评估一起交导师和实验室负责人审核批准，没审过不开工。</a:t>
            </a:r>
          </a:p>
          <a:p>
            <a:r>
              <a:t>高风险实验（如涉及剧毒、易制爆等危险化学品，高压、高温、辐射、激光，或病原微生物的实验）要按本校规定逐级报学院、学校审批或备案；涉及病原微生物的实验活动还须按《病原微生物实验室生物安全管理条例》（以现行文本为准）在相应级别的实验室开展并经批准（第 6 章）。操作人员须经过专门培训才能上手。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未经批准的实验绝对不允许做。别人不知道你在做什么，一旦出事，你可能不在场或无法说明情况，周围的人不知道是什么物质、怎么处理，救援也无从下手。</a:t>
            </a:r>
          </a:p>
          <a:p>
            <a:r>
              <a:t>论文选题可以大胆，但动手实验不能随意：真要做，须经导师同意和学校审批。评议同学的论文或实验设想时，也要看看是否考虑了风险、防护和审批，涉及转基因材料的是否按本校生物安全委员会的规定管理；拿不准的安全问题，告诉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情景：老周交给小研一项课题组以前没做过的新实验操作。小研先翻出现有的风险评估表和操作规程，发现新步骤上面都没有写到。她担心会不会多出溅洒、气溶胶或锐器等新的风险。</a:t>
            </a:r>
          </a:p>
          <a:p>
            <a:r>
              <a:t>阿杰说“先做了再说”，这样不行。现有评估和规程没覆盖的步骤，就是一次变更，拿不准的风险要先评估再动手（下一个知识点的五步）。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，先停下，不擅自开始，把担心的风险告诉实验室负责人。第二步，和负责人一起对新步骤做风险评估。第三步，根据评估修订操作规程，由实验室负责人审核签字后才能执行；涉及病原微生物、危险化学品等的，按规定报审备案。</a:t>
            </a:r>
          </a:p>
          <a:p>
            <a:r>
              <a:t>第四步，培训到位，防护用品和应急措施准备好，第一次操作请有经验的人在旁指导。第五步，做完后复查，发现问题就改进；用量、设备、人员变了要重新评估，即使没有变化，也要定期复审。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方案的任何变化都是变更：规模（加量、放大）、试剂（换试剂、换浓度）、设备（新装置、换设备）、人员（来了新人）、场所（换房间、换实验室），以及温度、压力、气体等条件的改变。发生事故或险情以后，也要重新评估。</a:t>
            </a:r>
          </a:p>
          <a:p>
            <a:r>
              <a:t>条件一变，就要重新做风险评估，及时更新评估和规程，经实验室负责人同意后再做；放大实验要先评估、再报批。用量放大，危害也可能跟着放大。更新后的评估要重新审核，并讲给每个参与的人听。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为了安全做的改动也是变更。例如换了一种手套，可能影响样品或实验结果；换了设备，样品所处的环境也变了。所以即使是很小的安全改动，也要评估它对安全和实验的影响，并做好记录。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大实验不是把用量简单地乘以倍数。体积变大后，散热变慢、反应放热和压力升高更难控制，产生的气溶胶也更多，原来小规模下安全的做法可能不再安全。放大前要重新做风险评估，经过审批，才能开始放大或中试。</a:t>
            </a:r>
          </a:p>
          <a:p>
            <a:r>
              <a:t>原片案例：有研究生把一种高能材料的合成一下放大了上百倍，发生了爆炸。评估时只考虑了毒性，漏掉了爆炸危险。只评一种危险，对其余危险就全无防备。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实验室建成后，如果想改变布局、加装隔断、移动通风柜或安全柜等设施，要先进行评估，经学院和学校有关部门审批，由专业人员施工，不能自己动手。改动可能影响通风、气流、疏散通道和防护设施的性能。</a:t>
            </a:r>
          </a:p>
          <a:p>
            <a:r>
              <a:t>改完后要重新检测，确认通风、防护等设施性能合格后再投入使用（校内施工管理见第 12 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答案：C。解析：规程不合适要反馈不私改，旧版撤下，先培训再执行。</a:t>
            </a:r>
          </a:p>
          <a:p>
            <a:r>
              <a:t>第 2 题 答案：D。解析：规模、试剂、人员等任何条件变化都要重新评估；条件不变时按规程做，并定期复审。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答案：B。解析：放大后热量、压力和气溶胶都会变化，放大前要重新评估并审批。</a:t>
            </a:r>
          </a:p>
          <a:p>
            <a:r>
              <a:t>第 4 题 答案：B。解析：安全改动也可能影响实验结果和环境，要评估和记录。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答案：B。解析：五步走：停、评、改、训、复。</a:t>
            </a:r>
          </a:p>
          <a:p>
            <a:r>
              <a:t>第 6 题 答案：适用范围、主要危害、个人防护、操作步骤、故障和异常处理、应急急救、废弃物处置、设备维护。解析：规程要放在仪器旁，人人都能看到。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实验室危害的类型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68 镜）　适用对象：全体进入高校实验室的本科生、研究生和教职工（必修）；实验室安全员和带教人重点学习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能说出安全、危害、伤害、风险的含义，并能区分危害与风险。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能说出实验室危害的主要类别（化学、生物、物理、设备与机械、电气、辐射、噪声、人机工效与心理），并各举一个典型例子。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能判断危害可能对人员、环境和实验本身造成哪些影响。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能做到：进入实验室前查看安全信息牌，了解本室的危险类别。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《中华人民共和国安全生产法》（以现行文本为准）：安全风险分级管控和隐患排查治理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号，以现行文本为准）：危险源辨识、实验室安全分级分类管理、安全信息牌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系列（以现行文本为准）《化学品分类和标签规范》：物理危险、健康危害、环境危害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《中华人民共和国生物安全法》（以现行文本为准）、《病原微生物实验室生物安全管理条例》（以现行文本为准）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《中华人民共和国放射性污染防治法》（以现行文本为准）、《放射性同位素与射线装置安全和防护条例》（以现行文本为准）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《中华人民共和国职业病防治法》（以现行文本为准）：职业病危害因素（粉尘、化学、物理、放射、生物等）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2894-2025（以现行文本为准）《安全色和安全标志》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安全、危害与伤害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安全：人、财物、环境都不受损害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危害：一切可能造成伤害的东西或状况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伤害：事故落在身上的后果，如割伤、骨折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危害平时看不见，条件凑齐就出事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安全，是人员不受伤、财物不受损、环境不受污染的状态；远离可能造成伤害的状况，才叫安全。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认为“没出过事”就说明实验室没有危害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把地上的水、过道杂物当成小事，不算危害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危害不等于风险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危害是物质本身的属性，与用量无关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风险是被危害伤到的可能性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风险常用可能性和后果两方面衡量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管住接触，就能降低风险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危害是物质、设备或作业本身固有的属性：一滴汽油和一桶汽油一样易燃，危害性质相同。风险则是被危害伤到的可能性及其后果的严重程度，常表示为“可能性 × 后果”：可能性越大、后果越重，风险越高。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把“危害”和“风险”混为一谈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认为用量少就没有危害（用量少降低的是风险，危害性质不变）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危害来自物质、设备和操作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化学品有用的性质，恰恰也是危害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腐蚀、有毒、易燃、反应性都是固有危害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操作程序也有危害，如加热时的热源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每一步操作都要想有什么危害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有三个来源：物质、设备和操作。以硫酸为例，它能和很多物质发生反应，这正是它在实验中有用的原因；同样，它也会和皮肤反应，造成化学灼伤。化学品的腐蚀性、毒性、易燃性和反应性，都是其固有危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只关注试剂的危害，忽视加热、加压等操作带来的危害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先把危害找出来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识别危害是一切防护的第一步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没找出来的危险，根本没法控制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危害有明有暗，时刻保持警觉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动手之前，先停一下想清楚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识别危害是安全设计实验的基础，也是“识别危害—评估风险—降低风险—做好应急准备”的第一步。没有被找出来的危险无法评估，更无法控制，所以每个实验的危害都要在动手之前系统地一一找出来。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先做实验，出了问题再想危害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只看明显的危害，忽视看不见的危害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危害分几大类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按来源，危害可以分成几大类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化学、生物、物理最常见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还有设备、电气、辐射、噪声和人机工效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化学品按物理、健康、环境三类危害分类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危害不止一种。按来源，常见的可分为：化学危害、生物危害、物理危害（火、爆炸、冷热、锐器、滑倒等）、设备与机械危害（含压力设备、转动部件）、电气危害、辐射危害、噪声危害、人机工效危害；此外还有心理压力和疲劳、易制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认为生物实验室只有生物危害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只按专业划分，忽视用电、消防等通用危害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化学危害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易燃、有毒、腐蚀、活泼的化学品都是化学危害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会灼伤皮肤，伤眼睛，伤呼吸道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洒漏、泄漏、着火就在一瞬间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溶剂、胶粘剂、涂料、粉尘也是化学危害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化学危害来自易燃、有毒、腐蚀性、反应活泼的化学品，常见的有酸、碱、有机溶剂、粉末试剂，以及容易被忽视的胶粘剂、涂料和粉尘。生物样品的取用和保管同样要按规范进行。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认为胶水、涂料、粉尘“看着不起眼”，不必防护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细菌、病毒和毒素可能让人感染、生病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血液、动物、植物、改造菌株也算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动物咬伤和虫蜇也是生物危害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看不见摸不着，稍不小心就扩散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危害来自具有感染性或致病性的生物因子：细菌、病毒、真菌、寄生虫和生物毒素等，可能让人感染、生病，过敏原也会引起过敏反应。人和动物的血液、体液和组织样本，实验动物，植物材料，以及经过遗传改造的菌株，也都可能带来生物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认为看不见污染就是安全的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处理动物和血液样本时不按规定防护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物理危害：火、冷热、锐器、滑倒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火、爆炸、割伤、滑倒都是物理危害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高温会烫伤，低温液体会冻伤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水、玻璃、明火、工具天天都在身边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越常见，越容易被忽视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物理危害包括着火、爆炸、割伤、滑倒摔跤，高温和低温（烫伤、冻伤），以及转动部件和飞溅物等。很多物理危害天天都在身边：几乎每个实验室都有水槽，地面湿滑容易摔倒；玻璃器皿破碎会割伤；酒精灯等明火会引燃头发和宽松衣物；高温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徒手捡碎玻璃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地面有水不及时擦干、不放警示牌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设备与机械危害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设备用法不对或出了故障都会伤人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离心机像飞轮，不平衡会出大事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气瓶是高压气体，必须规范处理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没培训过的设备不要自己开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设备危害来自使用不当和设备故障两方面。机械危害常见于转动和运动部件（离心机转子、搅拌器、皮带轮）以及飞溅物：离心机高速旋转时像储能的飞轮，样品不平衡可能造成严重事故。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离心前不配平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未经培训就操作陌生设备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电气危害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照明、风扇、温控、仪器都要用电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电线老化、设备失修会触电，也会起火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水源旁边不能乱拉电线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发现破损，停用报修不凑合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电是每个实验室都离不开的，照明、风扇、温控、仪器都要用电；正因为天天见，电气危害反而最容易被忽视。电线老化破损、设备失修、私拉乱接、在水源旁用电，都可能导致触电或电气火灾。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电线破损后用胶布缠一下继续用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在水槽旁边拉接线板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辐射危害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放射性物质，照射和污染都不能小看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激光、紫外等非电离辐射也有危害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放射源严格保管，不能丢、不能乱扔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有放射源的地方须经专门培训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辐射分为电离辐射和非电离辐射，都可能损伤人体组织。电离辐射来自放射性同位素和射线装置，既有外照射，也有放射性污染造成的内照射；非电离辐射包括激光、紫外线、微波、强磁场等，例如高功率激光未佩戴匹配的防护眼镜可能致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认为只有放射源才有辐射危害，忽视激光和紫外线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噪声危害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长期噪声大，会损伤听力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还会听不清提醒和警报，耽误应急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高噪声设备旁按规定防护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超声波清洗器、真空泵、粉碎机、空压机等设备会产生较大噪声。长期暴露在高噪声环境中会损伤听力，而且噪声会掩盖同伴的提醒和警报声，延误应急。高噪声设备旁应按规定佩戴护耳器，尽量缩短停留时间（以本校规定为准），具体见第 1……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长时间在高噪声设备旁工作不戴护耳器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人机工效与心理压力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工位不合适、动作重复，久了会劳损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调好桌椅高度，定时起身活动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压力和疲劳属于心理危害，不是物理危害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人机工效危害来自不合适的工位和重复性动作：长时间弯腰、低头看显微镜、反复移液，久了颈、肩、腰、腕都会劳损。应调好桌椅和设备高度，定时起身活动，轮换操作。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连续数小时同一姿势工作不休息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把压力当成物理危害，或认为压力与安全无关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危害对人身体的伤害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危害最终会落到做实验的人身上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健康损害：呛咳、皮肤红痒、过敏，重则中毒感染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意外伤害：锐器、滑倒绊倒、设备用错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小到割伤淤青，大到伤口深、骨折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的各类危害，最终都会落到做实验的人身上，表现为两类后果。一是健康损害：化学、生物、物理危害都会伤身体，轻的呛咳、皮肤发红发痒，有人会过敏，重的会急性中毒或被感染，有的还会造成慢性损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只注意急性伤害，忽视过敏和慢性健康损害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危害还会伤环境、伤实验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危害会伤到做实验的人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也会伤到实验室外的环境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还会污染样品，让实验白做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的影响不只在人身上：有害物质倒入下水道或排入空气，会污染实验室外的环境；生物因子外泄会威胁公众健康。同时，污染还会伤到实验本身，样品被污染、实验数据作废，前面的工作就白做了。保护人员、保护环境和保证实验质量，是一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认为废液少量倒进水槽不会影响环境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按危险类别分类分级管理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高校按危险类别对实验室分类分级管理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门口安全信息牌写明危险类别和负责人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进门前先看清本室的危险类别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《高等学校实验室安全规范》（以现行文本为准）要求高校对实验室进行危险源辨识，按危险类别（如化学、生物、辐射、机电等）和危险程度实行分类分级管理，危险程度高的实验室管理要求更严（具体以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进门从不看安全信息牌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信息牌内容过期，人员和电话变了不更新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下列关于危害与风险的说法，正确的是：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用量越少，化学品的危害性质越小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危害是物质本身的属性，风险是被它伤到的可能性及后果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危害和风险是同一个意思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没出过事故就说明没有危害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长期在高噪声设备旁工作，除了损伤听力，还可能：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增加触电风险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听不清提醒和警报，耽误应急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引起化学灼伤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没有其他影响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判断：压力和疲劳属于物理危害。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下列哪一项属于生物危害？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液氮冻伤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实验动物咬伤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离心机不平衡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电线老化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简答：实验室危害可能伤到哪三个方面？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安全、危害与伤害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危害不等于风险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危害来自物质、设备和操作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先把危害找出来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危害分几大类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化学危害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生物危害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物理危害：火、冷热、锐器、滑倒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设备与机械危害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电气危害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辐射危害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噪声危害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人机工效与心理压力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危害对人身体的伤害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危害还会伤环境、伤实验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按危险类别分类分级管理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安全信息从哪里查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4 分钟（卡通视频 49 镜）　适用对象：全体进入高校实验室的本科生、研究生和教职工（必修）；开展新实验、使用新物质的人员重点学习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54298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281421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能说出实验前查找安全信息的主要途径：安全技术说明书、安全标签、数据库与手册、实验室安全资料、文献与事故案例、向人求助。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1828800"/>
            <a:ext cx="3454298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88738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8738" y="3108960"/>
            <a:ext cx="281421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能判断安全技术说明书的局限：只讲出厂状态，没有说明书不等于没有危害。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8756" y="1828800"/>
            <a:ext cx="3454298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8796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8796" y="3108960"/>
            <a:ext cx="281421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能做到：新实验动手前查清危害、事故教训和审批要求，并把信息用于风险评估。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日起施行）及《危险化学品安全管理条例》（以现行文本为准）：化学品安全技术说明书和安全标签（“一书一签”）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15258-2009（以现行文本为准）《化学品安全标签编写规定》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号，以现行文本为准）：安全手册、操作规程、风险评估与化学品台账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《危险化学品目录》、《易制爆危险化学品名录》（以现行版本为准）；《易制毒化学品管理条例》（以现行文本为准）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本校危险化学品采购、审批和台账管理规定（以本校规定为准）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动手之前，先查安全信息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调研不只查方法，还要查安全信息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查危害、查出过的事故、查要什么审批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这些都是风险评估的依据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评估好了，请导师把关再动手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开始一个新实验之前要做调研。调研不只是查实验方法，还要查安全信息：要用的材料和设备有什么危害，同类实验出过什么事故，需要哪些审批（如管制化学品、病原微生物、放射性物质、动物实验）。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只查实验方法，不查安全信息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先领试剂开始做，有问题再查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说明书和标签：两件基本工具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识别化学品危害主要靠说明书和标签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安全技术说明书写全危害、防护和应急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安全标签一眼看出主要危害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危险化学品要有“一书一签”，放在实验室随手可查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识别化学品危害的两件基本工具是化学品安全技术说明书（SDS）和化学品安全标签。实验室里的每种危险化学品都应有说明书，通常由生产或供应单位提供，内容按 GB/T 16483-2008（以现行文本为准）规定的项目编写，包……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不知道本实验室的说明书放在哪里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只看瓶身名称，不看标签上的象形图和危险性说明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说明书只讲出厂状态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说明书是化学品安全的首要依据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它讲的是出厂时的状态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混合物、放大规模后性质可能改变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这些情况要自己另外评估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技术说明书是了解化学品危害的首要依据，但它描述的是产品出厂时的状态。实验中把几种化学品混合、加热反应、改变浓度，或把小量实验放大，产物和过程的危害可能与原料完全不同，说明书管不了这些情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认为读过每种原料的说明书，就了解了整个实验的危害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小试成功后直接放大规模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没有说明书，不等于没有危害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新合成的物质可能没有说明书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查不到数据，不等于安全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先弄清性质，按最危险的情况做好防护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自己新合成的物质、中间体或文献中少见的化合物，往往没有现成的安全技术说明书，也查不到毒性和理化数据。没有数据不等于没有危害，恰恰意味着危害未知。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查不到毒性数据，就当作无毒处理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数据库和其他资料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说明书查不全时，可查化学品安全数据库和手册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有的数据库汇总多个来源，要互相核对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国外资料常见四色菱形，数字越大越危险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国内以安全标签的象形图和信号词为准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说明书信息不全或不同供应商的说明书不一致时，可以查阅化学品安全数据库、化学品安全手册和专业工具书。有的数据库汇总了多个来源的信息，便于比较；说明书和数据库也可能有错漏，重要信息要多查几个来源互相核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只查一个来源就下结论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用国外标识代替国内安全标签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实验室自己的安全资料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实验室安全手册和操作规程要读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风险评估记录写明每项实验的危险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化学品台账告诉你这里存了什么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防护用品怎么穿、在哪脱，手册里都有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负责人不会时时在身边，但实验室本身就保存着大量安全信息：实验室安全手册和安全操作规程，写明本室的规则、防护用品怎么穿、在哪里脱，以及应急程序；已有的风险评估记录，写明每项实验的危险和控制措施；化学品台账，记录本室存放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不读本实验室的安全手册和规程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不知道化学品台账，不清楚本室存了哪些危险品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拿不准时向谁求助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拿不准时，要知道可以向谁求助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先问实验室负责人和安全员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再问学院和学校的安全管理部门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复杂问题请教有经验的专家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查了资料仍拿不准，或者发现安全问题（例如有人穿着实验服进入办公区），要及时求助和沟通，不要自己猜。求助的顺序一般是：实验室负责人、导师和实验室安全员；学院实验室安全管理员；学校实验室安全管理部门、保卫处等职能部门（具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拿不准时凭感觉操作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发现问题不说，怕麻烦别人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资料讲危害，风险靠评估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资料只告诉你危害，不替你评估风险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风险要结合用量、方法、场所来评估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用量少、方法对，高危化学品风险也能低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大意也能让低危化学品风险升高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说明书和数据库告诉我们的是化学品的危害，即它固有的性质；但实际风险取决于怎么用：用量多少、用什么方法、在什么场所、有什么防护。用量少、方法得当、在通风柜内操作，高危化学品的风险也可以很低；反过来，大量、敞开、随意操作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看到说明书上危害多就不敢用，或者危害少就随意用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从文献和事故案例中学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文献里的安全提示别跳过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同类实验出过的事故要查一查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把别人的教训变成自己的措施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期刊论文和实验手册中常有关于危险步骤的安全提示（如放热、易爆中间体、需要惰性气氛），查方法时要一并读。学校、学院通报的实验室事故案例，以及公开报道的同类事故，能告诉我们哪些环节容易出事、后果有多严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只摘录文献里的实验条件，忽略安全提示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查清是否属于管制化学品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查是否属于剧毒、易制爆、易制毒等管制化学品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管制的要先审批，按规定购买使用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领用、使用都要登记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查安全信息时还要查清所用化学品是否属于国家管制的类别：是否列入《危险化学品目录》，是否属于剧毒化学品、易制爆危险化学品（《易制爆危险化学品名录》）或易制毒化学品（《易制毒化学品管理条例》）等（以现行版本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不知道所用试剂属于易制毒或易制爆化学品，未经审批就购买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识别化学品危害的两件基本工具是：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实验记录本和台账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安全技术说明书和安全标签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教材和论文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门禁卡和登记本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判断：新合成的物质查不到毒性数据，可以按无毒物质处理。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关于安全技术说明书，下列说法正确的是：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它能说明任何混合物和放大实验的危害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它描述的是产品出厂状态，混合、放大要另外评估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有了它就不必做风险评估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只需供应商保存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查了资料仍拿不准时，首先应该：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凭经验操作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上网随便找个视频照做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问实验室负责人、导师和安全员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放弃实验不报告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013 · 安全信息从哪里查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013 安全信息从哪里查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简答：新实验动手前，调研时要查哪些安全信息？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动手之前，先查安全信息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说明书和标签：两件基本工具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说明书只讲出厂状态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没有说明书，不等于没有危害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K5  数据库和其他资料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K6  实验室自己的安全资料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K7  拿不准时向谁求助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K8  资料讲危害，风险靠评估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S1  从文献和事故案例中学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S2  查清是否属于管制化学品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风险评估的步骤与风险矩阵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63 镜）　适用对象：全体进入高校实验室的本科生、研究生和教职工（必修）；导师、实验室负责人和安全员重点学习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能说出风险管理四步（识别危害、评估风险、降低风险、做好应急准备）和风险评估五步。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能用“风险＝严重程度×可能性”和风险矩阵判断风险等级，并说出低、中、高风险分别怎么处理。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能判断什么是可接受风险和残余风险，理解评估的主观性。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能做到：新实验、新设备、改流程前先做风险评估，经导师审核后再动手。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《中华人民共和国安全生产法》（以现行文本为准）：安全风险分级管控和隐患排查治理双重预防机制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号，以现行文本为准）：实验室安全风险评估、危险性实验项目审批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《教育部关于加强高校实验室安全工作的意见》（教技函〔2019〕36 号，以现行文本为准）：建立实验室安全风险评估制度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要求及使用指南》：危险源辨识、风险评价与控制措施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本校实验室安全风险评估与分级分类管理规定（以本校规定为准）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风险管理四步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通用规则要按实验的风险来调整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第一步识别危害，第二步评估风险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第三步降低风险，第四步做好应急准备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做实验、拍视频，都按四步来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不同的实验危险不同，通用安全规则需要按具体风险调整。风险管理可以概括为四步：识别危害（找出可能出错的地方，第 012、013 课）；评估风险（判断出事的可能性和后果，本课）；降低风险（采取控制措施，第 017、018……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只做识别，不评估风险高低，措施一刀切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认为应急准备是出事以后的事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科研常新，风险要主动找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工厂岗位天天一样，规程和防护早已配好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科研中新实验、新装置不断出现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要主动想：哪一步要格外小心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没有专门规定，也不能无视危险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在工厂里，每个岗位每天做同样的事，操作规程固定，防护措施早已配好。高校科研不同：新实验、新装置、新材料不断出现，很多操作没有现成的规程可依。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认为没有规定禁止，就可以随意做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风险＝严重程度×可能性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有危害，不一定就有很大的风险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风险等于严重程度乘以可能性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严重程度看后果多重，可能性看多常发生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风险高低要看具体地点和条件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是被危害伤到的可能性及其后果，常用“风险＝严重程度×可能性”表示。严重程度看一旦出事后果有多重（从轻微割伤到死亡、重大财产损失）；可能性看发生的频率和接触的机会（多常做、接触多少、多长时间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只看后果，或只看可能性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认为“危害大就一定风险大”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风险矩阵与风险等级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风险矩阵：严重程度和可能性各分低、中、高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越往右上角，风险越高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低风险可接受，也看能否再降低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中风险需措施和监督；高风险降下来前不能做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矩阵把严重程度和可能性放进一张表，常用三乘三的格子：横轴为可能性（低、中、高），纵轴为严重程度（低、中、高），两者交叉得出风险等级，越往右上角风险越高。也有学校采用更多等级的矩阵，以本校规定为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评出高风险仍照常开展实验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评为低风险后就不再关注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风险评估五步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找出危害，想清谁会受伤、怎么伤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评估风险，定好控制措施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把结果记录下来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人、设备、实验变了或到期，要回顾更新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是有步骤的系统工作，可以分五步：第一，找出危害；第二，想清楚谁可能受伤、怎样受伤（例如高处放置的物品掉下来会砸到谁）；第三，评估风险，确定控制措施；第四，把评估结果和措施记录下来；第五，定期回顾，人员、设备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只想到自己，没考虑同室其他人和后来者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评估做完就不再更新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评估有主观性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评估风险有一定主观性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老手稳当，新手却可能出错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多人一起评估，按操作者的实际水平考虑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评估风险带有一定主观性：同一个操作，经验丰富的人做得稳稳当当，新手却可能出错，可能性的判断因人而异。因此评估不能只凭一个人的感觉，应由导师、安全员和实际操作者一起讨论，并按操作者的实际经验水平来估计可能性；对新手要加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老手按自己的经验评估，交给新手操作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多大风险可以接受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所有实验都有一定风险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教学实验，老师已把风险降得较低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高危又无替代品时，可能是中等风险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科研中接受更高风险要层层把关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所有实验都有一定风险，关键是把风险降到可接受的水平，大多数实验就可以安全进行。多大风险可以接受，因情况而异：教学实验中，教师已通过选择试剂、控制用量和设计流程把风险降得较低；使用高危化学品又没有替代品时，采取措施后风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自己判断“风险可以接受”，不经导师和负责人把关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风险不能消除，只能降低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风险不可能完全消除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剩下的是残余风险，靠应急准备兜底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能而且应当始终把风险降到最低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采取了控制措施，风险也不可能降为零，总会留下一部分残余风险。对残余风险要心中有数，并通过应急准备兜底：知道出事时怎么处置、应急设施在哪里。同时，降低风险没有终点，能做到的就应当始终把风险降到最低，不能因为“已经可接受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认为采取了措施就“零风险”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复杂情况的进阶方法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数据不全，按危害类别配套措施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高风险工艺，逐一分析失效方式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蝴蝶结图：左边防发生，右边减后果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复杂情况请专业人员一起评估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些情况用简单的风险矩阵不够。物质数据不全时，可以按危害类别（如毒性等级、挥发性、用量）配套相应的控制措施；高风险工艺和复杂装置，可以逐个部件分析可能的失效方式和后果；蝴蝶结图以事故为中心，左边列出导致事故的原因和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复杂高危工艺只做简单打分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动手前先评估，导师把关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凡事预则立，准备是安全的关键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动手前想清危害、防护措施和应急办法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导师审核签字，措施到位再开工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新实验、新设备、改流程都要重新评估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凡事预则立。每次实验前都要先想清楚有哪些风险，做好准备：危害有哪些，采取什么防护措施，出事怎么应急。高校实验开展前，要按本校规定完成风险评估，既看可能性，也看后果严重程度，由导师审核签字，控制措施落实到位后再开始。就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先做实验，事后补评估表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改了流程不重新评估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风险分级管控与隐患排查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安全生产法要求风险分级管控和隐患排查治理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风险等级不同，管控层级也不同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具体分级以本校规定为准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《中华人民共和国安全生产法》（以现行文本为准）要求构建安全风险分级管控和隐患排查治理双重预防机制：事前评估风险，按等级落实管控责任；日常排查隐患，及时整改（第 005 课）。风险评估的结果就是分级管控的依据。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评估结果只存档，不用于分级管控和日常检查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风险管理四步的正确顺序是：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降低风险—识别危害—评估风险—应急准备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识别危害—评估风险—降低风险—做好应急准备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评估风险—识别危害—应急准备—降低风险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应急准备—识别危害—降低风险—评估风险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用风险矩阵评估后得出“高风险”，正确的做法是：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小心一点照常做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采取措施把风险降下来之前不能开展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找人陪同就可以做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晚上人少时做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判断：采取了全部控制措施后，实验就是零风险的。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下列哪种情况需要重新进行风险评估？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换了新设备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实验流程改变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由新同学来操作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以上都是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简答：风险评估五步是什么？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风险管理四步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科研常新，风险要主动找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风险＝严重程度×可能性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风险矩阵与风险等级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风险评估五步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评估有主观性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多大风险可以接受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风险不能消除，只能降低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复杂情况的进阶方法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动手前先评估，导师把关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风险分级管控与隐患排查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风险评估实例与书面记录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62 镜）　适用对象：全体进入高校实验室的本科生、研究生和教职工（必修）；开展新实验的研究生、导师和实验室安全员重点学习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能用实例说明用量、暴露方式和场所怎样决定风险高低。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能对“往滴定管里倒强酸”“稀释浓硫酸”做简单的风险评估，并提出降低风险的做法。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能说出评估的三个难点，以及用安全技术说明书和危害分析做实验前评估的要点。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能做到：填写风险评估表，经审核审批后让每个参与者知晓并签字，定期复查。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《中华人民共和国安全生产法》（以现行文本为准）：安全风险评估、管控措施和告知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号，以现行文本为准）：实验项目风险评估、危险性实验审批与记录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要求及使用指南》：风险评价与工作人员参与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《病原微生物实验室生物安全管理条例》（以现行文本为准）：高致病性病原微生物实验活动审批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本校实验室安全风险评估表与危险性实验审批规定（以本校规定为准）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用量和暴露方式决定风险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浓硝酸既是强酸，又是强氧化剂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一滴好控制，沾到皮肤能马上冲掉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一大摊洒在腿上，伤害就严重得多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危害没变，变的是用量和暴露方式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浓硝酸既是强酸又是强氧化剂，危害很大。但用一滴时容易控制，即使沾到皮肤也能立即用大量清水冲洗；一大摊洒在腿上，伤害就严重得多。用多少、怎么用，决定了风险高低。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一次取用远超实验需要的量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认为“这瓶酸一直放着没事”，倒酸时也不加防护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场所决定风险：乙醚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乙醚蒸气不能随便吸入，而且极易燃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在敞开台面上用，吸入风险大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放进通风柜，吸入的可能大大降低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在哪儿用，决定了风险高低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乙醚易挥发，蒸气不能随意吸入，而且极易燃。在敞开的实验台面上使用，人员吸入蒸气的可能性很大，蒸气还可能扩散到远处遇火源；放进通风柜内使用，吸入的可能性大大降低。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在敞开台面上倾倒、蒸发易挥发溶剂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生活里的例子：雷电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雷电是已知的危害，晴天被雷击风险很低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雷雨天待在室内就能降低风险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在户外要远离大树、旗杆等高处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实验室同理：做好基本防护就能降风险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用生活中的例子理解危害和风险：雷电是人人知道的危害，但晴天被雷击的风险非常低；雷雨天风险升高，待在室内就能大大降低风险；在户外则要远离大树、旗杆等高耸物体。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认为危害存在就一定会受伤，或者危害看不见就不会受伤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案例一：往滴定管里倒强酸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把滴定管举过头顶往上倒，最容易洒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严重程度按浓度为中或高，可能性看器皿和手稳不稳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合起来是中到高风险，要改进做法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滴定管放低、用漏斗和小烧杯加液，戴护目镜手套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评估：把强酸溶液倒进滴定管，如果滴定管架得很高、举过头顶往上倒，最容易洒落，酸液可能落到脸上和眼睛里。严重程度按酸的浓度为中或高；可能性取决于用什么器皿倒、手稳不稳。两者合起来是中到高风险，需要改进做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把滴定管举过头顶或站在凳子上加液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直接用大试剂瓶往滴定管里倒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案例二：稀释浓硫酸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浓硫酸腐蚀皮肤和眼睛，严重程度高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可能性为中，总体中到高风险，戴护目镜和耐酸手套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别漏了放热危害：浓酸遇水大量放热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应把酸慢慢加入水中，边加边搅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评估：浓硫酸会严重腐蚀皮肤和眼睛，严重程度高；可能性为中，总体是中到高风险。控制措施包括佩戴护目镜（必要时面罩）和耐酸手套，在合适的场所操作，减少暴露。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把水倒进浓硫酸里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只评估腐蚀性，漏掉放热危害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评估的三个难点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难点一：严重程度难判断，要懂毒性、接触限值和闪点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难点二：可能性取决于你的经验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难点三：多大风险可接受，各人判断不同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多人讨论，请有经验的人把关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说起来容易，做起来难，主要有三个难点。一是严重程度难判断：危害容易认出来，但后果有多严重，需要读懂毒性数据、职业接触限值和闪点等信息，往往要靠知识和经验判断。二是可能性取决于操作者的经验：刚进大学时几乎没有操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新手按老手的熟练程度估计可能性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看不懂说明书上的数据就跳过不评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用说明书做实验前评估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看说明书，是为了实验前评估风险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查清不相容物，别让它们碰在一起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查清会不会剧烈放热、放气，溶剂易燃吗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想好防护和应急措施，再动手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阅读安全技术说明书的目的，是在实验前评估风险。要查清每种试剂的危害、不相容物（如氧化剂与还原剂、酸与氰化物等不能接触的物质）、储存和防护要求，避免不相容物在储存和操作中碰在一起。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只读主要试剂的说明书，忽略溶剂和副产物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不查不相容物，把试剂混放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危险化学品先做危害分析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会剧烈反应的危险化学品，用之前先做危害分析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请懂行的人一起分析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可能怎么着火爆炸，后果多严重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看物质性质、用量和距离、房间条件、人的因素和事故教训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使用危险化学品，特别是会剧烈反应的物质之前，要先做危害分析，并请懂行的人（导师、安全员、有经验的同事）一起参与。分析的问题包括：可能怎样着火或爆炸，后果有多严重。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一个人凭感觉分析高危实验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只看物质性质，不看用量和房间条件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填写风险评估表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评估表各栏要填清楚：危害、后果、风险、措施、负责人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只靠培训，风险可能仍然很高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加装硬措施后可能性降低，变成低风险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写明谁落实、何时完成，出事怎么处理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表一般包括：作业或实验步骤、危害、可能的后果和受影响的人、现有措施下的风险等级、需增加的控制措施、采取措施后的残余风险等级、落实负责人和完成时间、应急处置措施，以及评估人、审核人签字和日期（格式以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措施栏只写“注意安全”“加强培训”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没有写明落实人和完成时间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评估要成文、审批、人人知晓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没写下来的评估，等于没评估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签名、写日期，和规程、培训记录挂钩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负责人审核，高风险报学院审批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结果讲给每个参与的人，签字确认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风险评估不能只在脑子里，必须形成书面记录，签名并写明日期，并与操作规程、培训记录相衔接：评估中确定的措施要写进规程，并培训到每个操作者。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评估表锁在抽屉里，操作者从没看过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事后补填评估表应付检查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人人参与，回头查漏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评估不是老师一个人的事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做实验的人要参与，有疑问当场问清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看懂了、做到位，再签字确认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回头想想：上次实验漏掉了什么危险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风险评估要团队参与：导师和负责人把关，做实验的人必须参与评估过程，对不清楚的地方当场提出，看懂了、确认措施能做到位，再签字确认。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不看内容直接签字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评估做完从不复查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复现别人的实验也要先评估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照别人的报告复现实验，也要先评估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看本实验室条件够不够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导师和负责人同意后再做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涉及高致病性病原微生物的须经批准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照文献或别人的实验报告复现实验，不能直接照做：别人的实验室条件、设备、用量和人员经验可能与本室不同。动手前要先做风险评估，看本实验室的设施、设备、防护和人员能力是否满足要求，经导师和实验室负责人同意后再开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认为“文献里别人做过”就不用评估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评估风险是你将来的责任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课程实验大多已由教师评估和设计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将来做科研，评估风险就是你的责任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从现在起练好这项本领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基础课程的教学实验大多已经由教师设计好、评估过，风险已降到较低水平。进入科研阶段后，新实验、新方法由自己设计，评估风险就成了自己的责任（在导师指导下）。从现在起，每做一个实验都试着想一想危害、风险和措施，练好这项本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认为风险评估只是老师和管理部门的事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稀释浓硫酸的正确做法是：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把水快速倒入浓硫酸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把浓硫酸沿玻璃棒慢慢加入水中，边加边搅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把两者同时倒入烧杯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先加热浓硫酸再加水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往滴定管里加强酸，下列做法最能降低风险的是：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把滴定管举过头顶直接用试剂瓶倒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把滴定管放低，用漏斗和小烧杯缓慢加液，戴护目镜和手套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站在凳子上加液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加快速度，缩短时间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判断：同一瓶浓酸，密封在酸柜里和在敞开台面上倾倒，危害和风险都相同。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关于书面风险评估，下列说法错误的是：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要签名、写日期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高风险实验按规定报学院审批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评估结果讲给每个参与者并签字确认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评估表交给导师保存即可，操作者不必看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015 · 风险评估实例与书面记录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015 风险评估实例与书面记录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简答：风险评估的三个难点是什么？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用量和暴露方式决定风险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场所决定风险：乙醚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生活里的例子：雷电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案例一：往滴定管里倒强酸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案例二：稀释浓硫酸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评估的三个难点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用说明书做实验前评估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危险化学品先做危害分析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填写风险评估表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评估要成文、审批、人人知晓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人人参与，回头查漏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复现别人的实验也要先评估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评估风险是你将来的责任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工作危害分析（JHA）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55 镜）　适用对象：全体进入高校实验室的本科生、研究生和教职工（必修）；导师、实验室负责人、安全员和编写操作规程的人员重点学习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能说出工作危害分析（工作安全分析）的定义、目的和四个步骤。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能做到：把一项作业拆成步骤，按“在哪、伤谁、怎么引发、什么后果”具体描述每个危害并配上控制措施。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能判断哪些作业应优先分析，以及为什么要先查事故和未遂记录、让动手的人参与。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能说出工作危害分析与操作规程、未遂事件的关系。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《中华人民共和国安全生产法》（以现行文本为准）：危险源辨识、安全风险分级管控，从业人员参与和知情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号，以现行文本为准）：实验项目风险评估、安全操作规程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要求及使用指南》：危险源辨识、工作人员协商和参与、事件调查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30871-2022（以现行文本为准）《危险化学品企业特殊作业安全规范》：特殊作业前的危害辨识与作业审批（可供校内动火等危险作业参照）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本校实验室安全风险评估、危险作业审批和事故（事件）报告规定（以本校规定为准）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什么是工作危害分析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把一项作业拆成一个个步骤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逐步找出危害，定好控制措施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也叫工作安全分析，帮每个人看懂身边的危害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危险作业的分析表附在审批单上，开工前讲给每个人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危害分析（JHA），也称工作安全分析（JSA），是一种辨识危害的方法：把一项作业按顺序拆成一个个步骤，逐步找出可能存在的危害，并为每个危害确定控制措施，最后形成“步骤—危害—措施”的书面分析表。它既是辨识危害的工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只写一句“注意安全”，不拆分步骤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分析表做了，开工前不讲给作业人员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分析是为了预防，不是为了处分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不是给人找处分的依据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也不是随便找点事做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目的是消除和预防工作中的危害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分析做在前面，伤害就少在后面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做工作危害分析的目的，是消除和预防工作中的危害，而不是为处分人员找依据，也不是给人安排事情打发时间。分析做在前面，伤害就少在后面。只有大家相信分析不会被用来追责，才会如实说出操作中的问题和险情（公正文化见第 010、……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把分析结果当作考核和处分的依据，导致大家隐瞒问题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四步：选作业、拆步骤、找危害、定措施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第一步，选出要分析的作业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第二步，按顺序拆成步骤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第三步，每一步找出危害；第四步，为每个危害定措施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步骤、危害、措施三栏对应，只列频率和技能抓不住危害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危害分析分四步：一是选择要分析的作业；二是把作业按实际顺序拆分成步骤，每一步用一个动作描述，步骤不宜过细也不宜过粗；三是逐步找出每一步的危害；四是为每个危害确定控制措施，优先采用消除、替代和工程控制，再用管理措施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步骤拆得太粗，危害找不全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有危害没有对应措施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先看事故和未遂记录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动手分析前，先翻以往的事故和未遂记录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受过伤的、差点出事的都要看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出过事的地方，往往还藏着危害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始分析前，应先回顾本实验室、本学院以往的事故记录和未遂事件（险情）记录。受过伤的作业和差点出事的作业都要看，因为出过事的地方往往还藏着没有消除的危害，把这些地方作为分析的重点。未遂事件的报告和记录见第 14 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没有事故记录就认为作业很安全，从不记录未遂事件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优先分析出过事的作业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出过伤害的作业排第一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差点出事、后果严重的紧随其后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新作业、改流程的也要分析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按轻重缓急逐项做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的作业很多，不可能同时全部分析，要按轻重缓急排序：发生过伤害的作业优先；其次是发生过未遂事件和一旦出事后果严重的作业；新开展的作业和流程有变化的作业也要及时分析。然后逐项完成，覆盖全部有危险的作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先挑简单的作业做，高危作业一直拖着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描述危害讲清四个方面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环境：危害在哪里发生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暴露：会伤到谁，或损坏什么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触发：什么动作或条件引发它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后果：不加控制，最可能出什么事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在分析表中描述一个危害，要讲清四个方面，缺一不可：环境——危害在哪里发生；暴露——会伤到谁，或损坏什么；触发——是什么动作或条件引发了它；后果——如果不加控制，最可能出什么事。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危害一栏只写“危险”“化学品”等笼统字眼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描述要具体：弯腰搬重物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弯腰搬重物，不涉及电和振动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伸手、扭身，容易拉伤下背部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说清动作和伤到哪里，才能对症下措施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能用推车，就别弯腰硬搬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以弯腰搬重物为例，危害应写成“伸手、扭身搬起重箱时容易拉伤下背部”，而不是笼统地列出触电、振动等与这项作业无关的危害。好的描述说清是什么动作、会伤到身体哪个部位，这样才能对症下措施：能用推车就用推车，箱子太重就分装或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把无关的危害都列上，真正的危害反而没写清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检查表别忘了人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检查表常查区域、材料、机器、工具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别忘了，还有人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人的姿势、技能和状态也是危害来源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做工作危害分析常用检查表，提示要逐项检查工作区域、材料、机器设备和工具。但不能漏掉人：操作者的姿势、技能是否熟练、是否经过培训、是否疲劳，都是危害的来源（人因见第 011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只分析设备和物料，不考虑操作者是否胜任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让动手的人参与，团队一起做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只让负责人一个人做，不对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天天动手的人最清楚哪里危险、该加什么措施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负责人、学生、安全员一起看，漏掉的更少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不会做就问导师，大家一起学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危害分析不能由负责人一个人闭门完成。天天动手操作的人最清楚哪一步危险，也最知道应该加什么预防措施；有疑问时更要大家一起讨论。分析应由实验室负责人、做实验的学生和安全员共同参与，多双眼睛，漏掉的危害更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负责人一个人写完分析，操作者从未参与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实验室的分析是规程的骨架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做新实验，先把任务拆成步骤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每步找化学、生物、物理和人机工效危害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每个危害配上对应的控制措施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这份分析就是操作规程的骨架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在实验室里开展新实验，也可以用工作危害分析：先把实验任务拆成步骤，每一步找出化学、生物、物理和人机工效等方面的危害（第 012 课），为每个危害配上对应的控制措施。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规程只写实验步骤，没有每一步的安全要求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用未遂事件修订分析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差点出事的未遂事件也是一次提醒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用它来修订工作危害分析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分析跟着经验不断完善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作危害分析不是一次做完就不变的。发生事故或未遂事件后，要回头检查分析表：这个危害有没有识别出来？措施是否有效？据此补充危害、修订措施，并同步更新操作规程和培训内容。作业方法、设备、人员变化时也要及时修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出了险情只口头提醒，不修订分析和规程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工作危害分析的四个步骤是：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选作业—拆步骤—找危害—定措施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找危害—处分—整改—归档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定措施—选作业—记录—检查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培训—考核—准入—复训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判断：工作危害分析由实验室负责人一个人完成最好，避免意见混乱。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下列作业中，应最优先进行工作危害分析的是：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从未出过问题的低风险作业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发生过伤害的作业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最简单的作业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很少做的文书工作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描述“弯腰搬重物”的危害，最恰当的是：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触电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振动伤神经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伸手扭身搬起时容易拉伤下背部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化学灼伤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016 · 工作危害分析（JHA）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016 工作危害分析（JHA）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简答：描述一个危害要讲清哪四个方面？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什么是工作危害分析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分析是为了预防，不是为了处分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四步：选作业、拆步骤、找危害、定措施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先看事故和未遂记录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优先分析出过事的作业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描述危害讲清四个方面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描述要具体：弯腰搬重物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检查表别忘了人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让动手的人参与，团队一起做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实验室的分析是规程的骨架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用未遂事件修订分析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控制层级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68 镜）　适用对象：全体进入高校实验室的本科生、研究生和教职工（必修）；设计实验的导师、研究生和实验室安全员重点学习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能说出控制层级的五层（消除、替代、工程控制、管理控制、个人防护）及其先后顺序。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能判断：层级越高越可靠，个人防护是最后一道防线，不能只靠防护。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能对实验室里的具体危害举出各层级的控制措施，并做到多层措施组合使用。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能做到：发现工程设施失灵或措施缺失时停止操作、及时报告，不擅自拆改。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《中华人民共和国安全生产法》（以现行文本为准）：风险分级管控、采取技术和管理措施消除事故隐患、为从业人员提供合格的劳动防护用品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号，以现行文本为准）：实验项目风险评估与防控措施、安全设施配置与维护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要求及使用指南》：消除危险源、替代、工程控制和重新组织工作、管理控制、个体防护装备的控制层级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39800.1-2020（以现行文本为准）《个体防护装备配备规范 第1部分：总则》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8196-2018（以现行文本为准）《机械安全 防护装置 固定式和活动式防护装置的设计与制造一般要求》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3805-2008（以现行文本为准）《特低电压（ELV）限值》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本校实验室安全管理制度、设施报修和事故报告规定（以本校规定为准）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降低风险：熟悉的规则从哪里来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降低风险是风险管理四步中的第三步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进通风柜、戴护目镜手套，都是为了降低风险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安全管理就是消除、减少和控制危害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风险管理的四步是识别危害、评估风险、降低风险、做好应急准备（第 014 课）。本课假定危害已经识别、风险已经评估，讲第三步：怎样把风险降下来。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只记规则、不明白规则为什么这样定，换个场景就不会用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控制层级的五层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五层：消除、替代、工程控制、管理控制、个人防护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像倒金字塔，最宽的顶层是消除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越往上越有效，优先从上往下选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大部分风险应在上层解决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控制风险的措施按效果分为五个层级，可以画成一个倒金字塔：最宽的顶层是消除危害；往下是替代，即换成更安全的物质、设备或方法；再往下是工程控制，用设施把人和危害隔开；然后是管理控制，用制度、培训、规程改变做事的方式；最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把顺序记反，认为个人防护最重要、最有效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只想到最底层的防护用品，不考虑上层措施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层级是顺序，不是菜单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控制层级是先后顺序，不能随便挑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一想到安全就想到手套，是从最末端开始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“戴上手套就行”是最危险的一句话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不能只买手套，却不投入上层措施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很多人一想到安全，就想到护目镜和手套，其实是从层级的最末端开始了。控制层级不是一份可以随意点选的菜单，而是严格的先后顺序：先问能不能消除、能不能替代、有没有工程设施，最后才是个人防护。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遇到危害第一反应是“多戴一层手套”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认为防护用品买够了，安全就有保障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层级越高越可靠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各层最大的差别是可靠性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层级越高，人犯了错也不容易受伤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层级越低，一累一急一分心就会失效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只靠个人防护，等于赌人一次都不出错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各个层级最大的差别在于可靠性。上层措施不依赖人的记忆和注意力：危害消除了，人犯错也伤不到；通风柜和隔离罩在运行，人手一滑，蒸气和飞溅仍被挡住。下层措施则依赖人每一次都做对：一疲劳、一着急、一分心，就可能忘戴、戴错或操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认为“我很小心，所以只靠防护也没问题”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消除：让危害不存在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消除是最有效的控制，危害没了就伤不了人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高处的坏风扇拆到地面修，坠落风险就没了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东西收好，就不会掉落、绊倒人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改进实验方法，可以去掉高危物质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最有力的控制是消除：直接把危害去掉，危害不在了，就不可能伤人。例如高处的风扇坏了，与其爬上去修，不如拆下来放到地面修，坠落的风险就没有了；把地面和台面上的杂物收好，就不会掉落砸人或绊倒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认为消除“太麻烦”，一开始就放弃考虑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用不到的危险试剂长期留在实验室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替代：换成更安全的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去不掉，就换成更安全的物质、设备或方法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用低毒试剂替代高毒试剂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用肥皂水代替腐蚀性清洗剂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可能有可燃气体的场所，换用安全电压灯具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去不掉时，就把它换成危害更小的。实验室里最常见的是用低毒试剂替代高毒试剂、用不易燃的溶剂替代易燃溶剂；日常清洁可以用肥皂水代替腐蚀性清洗剂。设备也可以替代：受限空间里可能存在可燃气体，普通照明可能打火，应换用安全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换了物质却不重新评估，引入新的危害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工程控制：把人和危害隔开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去不掉、换不了，就用设施把人和危害隔开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通风柜在源头抽走气体和蒸气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手套箱、生物安全柜、防护罩也是工程控制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工程控制靠设备，不靠人记不记得规矩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既不能消除、也不能替代时，就用工程设施把人和危害隔离开。实验室最常用的是通风柜：运行正常时，有害气体和蒸气在源头被抽走，减少吸入，也降低着火爆炸的风险。手套箱让人在外面操作、危害在里面；生物安全柜保护人员、样品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嫌麻烦不开通风柜，在敞开台面上操作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拆掉防护罩图方便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工程控制要用对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防溅挡板和防护屏挡住意外飞溅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通风柜视窗放低，在柜内深处操作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用错了，只会带来虚假的安全感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工程控制排第三，不是最有效的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程设施要用对才有效。防溅挡板和防护屏可以挡住意外飞溅；通风柜要把视窗放低到规定高度以下、在柜内深处操作，柜内不堆杂物，才能把蒸气挡在呼吸带之外。柜门大开、堆满杂物的通风柜，只会带来虚假的安全感。本实验室有哪些工程设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通风柜视窗拉得很高，头伸进柜内操作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认为“有通风柜就最安全”，不再考虑消除和替代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管理控制：改变做事方式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管理控制改变的是做事的方式和流程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少接触、短接触、低浓度接触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扩大规模先审批，危险实验结伴做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发现不对，人人都可以叫停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理控制管的是流程和行为，改变的是做事的方式：尽量少接触、短时间接触、在低浓度下接触；限时限量；在危险区域挂好警示标识。遵守学校和实验室的安全守则、实验前先读安全注意事项、按写好的步骤做不随意跳步，都属于管理控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一个人在夜间或节假日做危险实验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擅自放大实验规模，不报审批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培训、标识和操作规程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管理措施比单靠个人防护更有效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一是培训：人人懂危害，会安全操作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二是标识：提醒危险，提示怎么做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三是操作规程：一步步写清，谁做都安全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在控制层级中，管理措施排在个人防护之前，比单靠防护更有效。常用的管理措施有三项：一是培训，让每个人都懂危害、会安全操作，未经培训不得上岗（准入培训见第 007 课）；二是警示标识，提醒有什么危险、提示应该怎么做（第 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有规程但没有培训，操作者从没读过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警示标识被遮挡或缺失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管理措施靠执行和监督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规定写了不执行，等于没有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管理措施好不好，全看监督和遵守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人会疲劳犯迷糊，高危操作要时刻警惕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理措施依赖人的执行。规定写在纸上却不执行，等于没有；它的效果好坏，全看日常监督和每个人的自觉遵守。人不是机器，清晨、深夜或疲劳时都容易犯迷糊，所以在高危操作中，这一层必须时刻警惕，并由导师、实验室负责人和安全员检查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制度挂在墙上，实际操作中无人遵守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疲劳、赶时间时省略规程中的步骤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个人防护是最后一道防线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个人防护排在最后，是最后一道防线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它不消除危害，只是在人和危害间隔开一层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通风柜一失灵，只剩它挡在前面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上层措施做足了，防护用品照样要戴，并选对穿好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个人防护（护目镜、手套、实验服等）排在控制层级的最底层，是前面所有措施之后的最后一层。它不能消除危害，只是在人和危害之间隔开一层；一旦通风柜等上层措施失灵，就只剩它挡在前面。光靠防护还不够，人手一副丁腈手套远远不能解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有了通风柜就不戴护目镜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防护用品型号不对或穿戴不规范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靠防护挡住，说明前面失守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真靠防护挡住了，说明前面的措施都失守了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这已是险情或事故，要报告、查原因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把前面层级的漏洞补上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如果某次真的是靠护目镜或手套挡住了伤害，说明前面的消除、替代、工程和管理措施都已经失守。这不是“运气好”，而是一次险情，甚至可能已经是需要上报的事故。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防护挡住了就不报告，认为“没事就好”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多层防护，层层兜底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每层防护都有漏洞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一层失手，下一层还能接住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高危操作要几层措施一起上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别让一个小失误击穿唯一的防线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任何一层措施都可能有漏洞，就像几片带孔的奶酪片，孔的位置各不相同：一层失手，下一层还能接住。所以实际工作中要组合使用：工程控制、管理控制和个人防护三道防线一起用，防止化学品通过吸入、皮肤接触等途径伤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只有一道措施，一旦失效就直接受伤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学生在实验室能做的三层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消除和替代多在设计实验时完成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教学实验中老师通常已考虑过上两层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在实验台前，你能做的是下面三层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降低暴露的可能，就是降低风险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消除和替代属于实验设计，教师设计教学实验时通常已经考虑过。在实验台前，学生能做的主要是下面三层：用好通风柜等工程设施，遵守规程和管理要求，正确佩戴个人防护。这三层都是在降低暴露的可能性，降低暴露的可能就是降低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认为学生只要戴好防护，其他都与己无关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发现措施缺失，及时报告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通风柜报警、防护罩缺失，先停止操作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报告实验室负责人，按本校程序报修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不擅自拆改设施，修好确认后再做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控制措施要保持有效。发现通风柜报警或风量不足、防护罩缺失或损坏、急停失灵、警示标识缺失等情况，应立即停止相关操作，把危险物质妥善放置，报告实验室负责人，按本校程序报修；必要时报学院和学校实验室管理部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通风柜报警时继续操作，或自己拆开检修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发现问题不报告，只提醒自己“小心点”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控制层级从最有效到最不有效的顺序是：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个人防护、管理控制、工程控制、替代、消除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消除、替代、工程控制、管理控制、个人防护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工程控制、消除、替代、个人防护、管理控制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替代、消除、管理控制、工程控制、个人防护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判断：工程控制是控制层级中最有效的措施。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判断：实验室已经有通风柜，所以操作时可以不戴护目镜。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用肥皂水代替腐蚀性清洗剂，属于哪一层控制？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消除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替代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工程控制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个人防护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017 · 控制层级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017 控制层级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做实验时通风柜突然报警，正确的做法是：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加快速度做完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多戴一层手套继续做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停止操作，妥善放置危险物，报告实验室负责人报修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自己打开检修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简答：为什么说“只靠个人防护，等于赌人不出错”？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降低风险：熟悉的规则从哪里来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控制层级的五层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层级是顺序，不是菜单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层级越高越可靠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消除：让危害不存在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替代：换成更安全的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工程控制：把人和危害隔开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工程控制要用对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管理控制：改变做事方式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培训、标识和操作规程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管理措施靠执行和监督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个人防护是最后一道防线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靠防护挡住，说明前面失守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多层防护，层层兜底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学生在实验室能做的三层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发现措施缺失，及时报告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化学实验风险最小化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60 镜）　适用对象：全体进入化学类及使用化学品的高校实验室的本科生、研究生和教职工（必修）；设计实验的导师和研究生重点学习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能说出减少暴露的四个问题（换、稀、少、冷），以及缩小规模、按需领用的做法。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能判断一种替代是否合理，并说出替代决策的步骤。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能做到：实验前规划、备齐材料和安全技术说明书，合理安排时间，过夜实验按规定审批。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能做到：搭装置前检查器材、使用专用器具、用合适夹具固定并留通气口，同伴互相提醒。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号，以现行文本为准）：实验前风险评估、危险化学品按需领用与存量控制、无人值守实验管理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日起施行）及《危险化学品安全管理条例》（以现行文本为准）：使用安全、领用登记与台账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《中华人民共和国固体废物污染环境防治法》（以现行文本为准）：减少危险废物产生量、分类收集与依法处置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要求及使用指南》：替代与变更管理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本校危险化学品领用、过夜（无人值守）实验审批和废物收集规定（以本校规定为准）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降低风险从好习惯做起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风险管理第三步：降低风险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好的操作习惯能减少接触、受伤和损失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同伴之间互相提醒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风险管理四步是识别危害、评估风险、降低风险、做好应急准备（第 014 课）。本课在危害已识别、风险已评估的前提下，讲化学实验中降低风险的通用做法；控制层级的原理见第 017 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认为降低风险只是老师和管理部门的事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减少暴露的四个问题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换：能不能换成危害小的化学品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稀：能不能用更稀的浓度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少：能不能少用一点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冷：能不能降低温度，减少烫伤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设计或准备实验时，可以先问自己四个问题来减少暴露：一，能不能换一种危害更小的化学品？二，能不能用更稀的浓度？三，能不能少用一点？四，能不能在更低的温度下进行，减少烫伤和挥发？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习惯性用浓溶液、大用量、高温，不考虑能否降低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低危替代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易燃溶剂换成不太易燃的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高毒试剂换成低毒的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替代排在消除之后，效果仅次于消除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在控制层级中，替代排在消除之后，效果仅次于消除（第 017 课）。化学实验中常见的替代是：用不太易燃的溶剂代替易燃溶剂，用低毒试剂代替高毒试剂，用溶液代替易扬尘的粉末等。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认为替代物“没有危害”，放松防护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替代要按步骤决策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替代不是随手一换，要按步骤来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比毒性和危险性，看成本和可行性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小试验证后，按变更审批再推广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别用一个已知危害换来一个新危害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替代要按步骤决策：先比较原物质和替代物的毒性、易燃性、反应性等危险性；再看成本、实验效果和可行性；然后先做小规模试验验证；确认可行后，按本实验室的变更程序经导师和实验室负责人审批，修订操作规程并培训后再推广使用（第 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不经比较和审批，自行更换试剂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换了试剂却不修改规程、不告诉同组人员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缩小规模，用最小量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消除不了，就缩小实验规模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能用微量化实验，就不做常量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万一出错影响小，还更省钱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只用够用的最小量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危害消除不了时，缩小实验规模是最直接的办法。能用微量化、小量实验达到目的的，就不做常量或大量实验。规模小了，万一出错（溅洒、着火、反应失控），影响范围和后果都小，还能节省试剂和经费。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一次取用远超实验需要的量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为了“省事”直接做大量实验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按需领用，减少存量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危险化学品按需领用，用多少领多少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领用要登记，台账写清楚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不囤积，存得越多风险越大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用剩的按规定退回或处置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源头减量的另一个办法是控制存量：危险化学品按实验需要领用，用多少领多少，不多领、不囤积。实验室存放的危险化学品越多，一旦发生泄漏、火灾，后果越严重；实验室存放量要符合本校规定（具体限量以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一次领一大瓶，长期放在实验台上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领用不登记，台账与实物对不上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凡事预则立：规划与备齐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每次实验前都要准备，准备是安全的关键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动手前读讲义、规程和标签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想清楚危害、防护、急救和处置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材料和安全技术说明书提前备齐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凡事预则立，准备是安全操作化学品的关键。动手之前，先把工作计划好：阅读实验讲义、操作规程和试剂标签，想清楚每一步有什么危害、需要什么防护、出了事怎么急救、废物怎么处置。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不预习就进实验室，边做边看讲义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实验进行中才发现缺少器材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合理安排实验时间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时间不够，先排好进度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定好能安全中断的节点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疲劳时不做危险操作，不为赶时间跳步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过夜实验按学校规定审批，写明联系人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实验前要估计所需时间。时间不够时，先排好进度，定好能够安全中断的节点（例如反应完成、冷却后），不要为了赶时间跳步或匆忙收尾；太累的时候不做危险操作。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临近下课或深夜赶做危险步骤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过夜实验不审批、不留联系方式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装置先检查，用专用器具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搭装置前逐件检查器材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要干净，要能正常工作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需要专用设备和容器，就用专用的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临时凑合的替代品很危险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实验装置和设备在搭建前要逐件检查：玻璃仪器有无裂纹、缺口（第 029 课），是否干净；设备是否在检定或检查有效期内、电源线是否完好、能否正常工作。有问题的不用，报告并更换。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用有裂纹的玻璃仪器加热或减压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用矿泉水瓶分装试剂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装置搭建要规范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用合适的夹具，装得稳、不别劲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要有通气口，加热不能搭封闭体系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热玻璃看着和冷的一样，会烫伤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玻璃碎了别用手捡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搭装置不能凑合将就：用合适的铁架台和夹具固定，装得稳、不别劲，玻璃接口对正，不强行扭装。需要加热的装置要与大气相通或设有泄压口，不能搭成封闭体系，否则受热后压力升高可能炸裂。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夹子拧得过紧，玻璃别劲破裂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加热时把装置全部密封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减量也减少危险废物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用量少，产生的危险废物也少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废液分类收集，不倒入下水道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减量和替代也是绿色实验室的要求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缩小规模、减少用量、低危替代，不仅降低了实验中的风险，也减少了危险废物的产生量。国家要求产生危险废物的单位减少危险废物产生量和危害性，并分类收集、依法处置。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用剩的试剂和废液倒进水池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下列哪项不属于“减少暴露的四个问题”？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能不能换成危害小的化学品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能不能用更稀的浓度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能不能一次多领一些备用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能不能降低温度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关于替代，正确的做法是：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看到更便宜的试剂就直接换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比较危险性和可行性，小试验证，按变更审批后推广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替代物一定没有危害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换了试剂不必修改规程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判断：需要加热的装置应搭成完全封闭的体系，以防蒸气逸出。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判断：过夜运行的实验，只要装置稳定就可以不经审批直接进行。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018 · 化学实验风险最小化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018 化学实验风险最小化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简答：缩小实验规模有什么好处？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降低风险从好习惯做起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减少暴露的四个问题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低危替代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替代要按步骤决策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缩小规模，用最小量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按需领用，减少存量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凡事预则立：规划与备齐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合理安排实验时间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装置先检查，用专用器具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装置搭建要规范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减量也减少危险废物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SOP与方案变更审查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72 镜）　适用对象：全体进入高校实验室的本科生、研究生和教职工（必修）；编写操作规程的实验室负责人、导师、安全员和开展新实验的研究生重点学习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能说出标准操作规程（SOP）的作用、主要组成部分和应写明的安全内容。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能说出规程从编写、试用、批准生效到培训、执行、修订的全过程，做到按书面规程操作、发现问题反馈不私改。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能判断哪些情况属于实验方案变更（规模、试剂、设备、人员、场所、条件、布局），做到先重新评估、经批准再动手。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能做到：新实验、高危实验先做书面风险评估并按本校规定审批，不做未经批准的实验。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《中华人民共和国安全生产法》（以现行文本为准）：制定安全操作规程，安全教育和培训，风险评估与管控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号，以现行文本为准）：实验室安全操作规程、危险性实验项目风险评估与审批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要求及使用指南》：形成文件的信息、变更管理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《中华人民共和国生物安全法》、《病原微生物实验室生物安全管理条例》（以现行文本为准）：病原微生物实验活动的审批，单位生物安全委员会审查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本校实验室安全操作规程管理、危险性实验项目审批和变更管理规定（以本校规定为准）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什么是标准操作规程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标准操作规程（SOP）是书面的操作步骤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详细写明危险工作怎样安全地做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不同的工作有不同的规程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规程属于管理控制，照规程做，不凭感觉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标准操作规程（SOP）是把一项工作，特别是危险工作，怎样安全地完成用书面形式一步步写清楚的文件。不同的仪器、不同的危险操作有各自的规程，操作者照规程做，而不是凭感觉、凭记忆。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凭记忆或看别人做一遍就上手，不看规程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目标：谁来做结果都一样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不同的人照同一份规程做，结果应基本一样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各做各的、结果不同，说明规程要改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一份规程只管一个结果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规程的目标是：不同的人照着同一份规程做，过程和结果都应该基本一样，安全上也一样有保障。对检测类工作而言，这也是对委托人负责。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同一操作，课题组里每人一套做法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规程要写哪些安全内容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特殊设备和危险化学品要有操作规程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写明适用范围、危害、防护和故障处理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写明应急急救、废弃处置和维护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规程挂在仪器旁，人人都能看到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特殊设备（如高压、高温、高速、辐射、激光设备）和危险化学品的操作，都要有安全操作规程。规程中应写明：适用范围、主要危害、个人防护要求、操作步骤、故障和异常情况的处理、应急和急救措施、废弃物处置以及设备维护要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规程锁在柜子里，现场找不到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规程只写操作步骤，没有危害和应急内容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动笔前：谁写、给谁看、为什么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谁写：管理人员、一线人员和负责人一起商量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给谁看：以使用者为中心，请使用者参与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为什么：明确目的，例如安全处置废物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先把全过程想清楚，再下笔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动笔写规程之前先问三件事：谁来写——由管理人员和一线操作人员、负责人一起商量；写给谁看——实验人员，以及废物清运人员等相关人员；为什么写——例如为了按规定安全处置实验室废物。规程是写给使用者看的，编写时就请他们参与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由一个人闭门写规程，使用者从没参与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政策、计划和程序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政策定方向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计划排好要做的一串事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程序写清每件事怎么做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一个计划可以拆成多份规程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管理文件分层次：政策确定方向和原则；计划安排为实现目标要做的一串事情；程序（规程）则写清每一件事具体怎么做。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把一个大计划写成一份冗长的规程，现场无法使用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规程的四个部分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四个部分：条件、背景、行动、文件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条件：谁用、何时、为何、在哪儿用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背景：输入加行动得到输出，缺什么先补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行动一步一勾；文件列出法规和指南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一份规程可以分成四个部分。条件：回答谁使用、什么时候用、为什么用、在哪里用；规程挪到别的场所使用，要重新试用验证。背景：说明输入、行动和输出的关系，并写明前提条件，例如人员已经受训，存放、分类、运输、去污设施都已具备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步骤写得含糊，如“适当处理”“注意安全”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规程的格式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封面写明受控文件和修订号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写明目的，生僻术语要解释，步骤按顺序写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有健康风险的步骤要写警示，写明规程间相互影响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写明联系人，发放由管理员定，各版本归档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规程的格式：封面写明“受控文件”和修订号；篇幅较长的加目录；生僻术语要解释；写清目的；操作步骤按先后顺序一条条写。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规程没有版本号，现场新旧版本混用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好规程看得懂、做得到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写规程五步：分析、设计、编写、实施、评估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评估完再回头改，循环往复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好规程让人懂道理、想得出流程、做得到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每一步都做得到、查得清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编写规程可以按五步循环进行：分析（工作内容、危害和使用者）、设计（结构和流程）、编写、实施、评估；评估后再回头修改，循环往复。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规程写得过于专业，一线人员看不懂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试用与观察验证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新规程先到工作台试用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问四个问题：看得懂吗？做得到吗？结果对吗？一致吗？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验证用只答是或否的观察题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一人做不到可能是系统问题，要沟通改进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新规程先到实际工作台试用，问四个问题：看得懂吗——太专业就改简单；做得到吗——例如防护服不合身也做不好；结果对吗；不同的人做结果一样吗。试用中发现的问题都记录下来。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规程写完直接发布，从不试用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对照要求，批准后生效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编规程要对照国家和学校的要求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经过商议、审核通过后再发给大家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批准后才在单位内正式生效，批准过程留记录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编写规程要对照国家法律法规、标准和学校的要求，不能照搬国外或其他单位的文本。规程要经过商议和审核，由实验室负责人（必要时学院）批准后，才在本单位正式生效，再发给使用者；批准过程也要留下记录（审批权限以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直接使用网上下载、未经审核的规程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按书面规程一步步做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严格按书面操作规程一步一步做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不跳步，不凭感觉改步骤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良好工作规范靠意识、培训和检查来保持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操作时要严格按书面规程一步一步做，不跳步，不凭感觉改步骤。良好的工作规范包括规范的操作手法、无菌技术和本实验室的行为守则，要靠每个人的安全意识、培训和日常检查来保持（第 009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熟练以后凭记忆操作，省略步骤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规程不合适，反馈不私改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觉得某步不合适，不能自己涂改或跳步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把问题反馈给负责人或管理人员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修订批准后，才按新版做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使用中觉得规程某一步不合适、做不到或不安全时，不能自己在规程上涂改，也不能擅自跳过；如果继续操作有危险，应先停下。把问题反馈给实验室负责人或管理人员，由他们组织评估和修订，修订版批准后，才按新版执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在规程上手写修改，自己按“改进版”做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规程是活文件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规程要定期审查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出险情事故、结果不一致、有新危害新规定，就要改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改得太频繁，说明某步有毛病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旧版撤下，现场只留最新版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规程是“活”的文件，要定期审查。发生险情或事故、结果不一致、更换设备、出现新的危害或新的规定时，都要及时修订。修订前先查看使用记录，和使用者一起改；缺设备、沟通不畅等问题也要想办法解决。如果某份规程改得太频繁，说明其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设备换了，规程还是旧的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现场同时放着几个版本的规程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规程更新要告知到人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规程更新后，要通知到每位使用者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看过、学过，签字确认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先培训，再执行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规程更新后，要通知到每一位使用者，组织学习或培训；使用者看过、学过后签字确认，并保存培训记录。没有接受更新培训的人员，不得按新规程独立操作（准入与培训见第 007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只在群里发一个新文件，没人确认是否看过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新实验和高危实验先评估审批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做新实验，先写书面风险评估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想清楚：哪里有电、哪里会烫、出事怎么办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自己写的步骤，导师和负责人审核批准再做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高风险实验按本校规定逐级报备，专门培训后上手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开展新实验之前，先写书面风险评估（第 014–015 课）：哪里有电？哪里会烫？会产生什么有害物质？出了事怎么办？措施落实后，把自己写的操作步骤和评估一起交导师和实验室负责人审核批准，没审过不开工。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先做实验，事后补写评估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认为“只是小改动”就不报审批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禁止未经批准的实验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未经批准的实验，绝对不允许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出了事，没人知道怎么处理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能写的题目，不等于能自己动手做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评议论文时也看风险、防护和审批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未经批准的实验绝对不允许做。别人不知道你在做什么，一旦出事，你可能不在场或无法说明情况，周围的人不知道是什么物质、怎么处理，救援也无从下手。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课余时间私自做“小实验”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照着网上视频自行尝试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情景：接到一项新操作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接到课题组从没做过的新操作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先查现有风险评估和规程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新步骤没写到，可能有溅洒、气溶胶、锐器等新风险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拿不准的风险，不能“先做了再说”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情景：老周交给小研一项课题组以前没做过的新实验操作。小研先翻出现有的风险评估表和操作规程，发现新步骤上面都没有写到。她担心会不会多出溅洒、气溶胶或锐器等新的风险。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以为现有规程覆盖了所有步骤，不核对就做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新操作五步走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一停：先停下，报告实验室负责人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二评三改：评估风险，修订规程，审核签字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四训：培训到位，首次在有经验的人指导下做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五复：做完复查改进，定期复审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一步，先停下，不擅自开始，把担心的风险告诉实验室负责人。第二步，和负责人一起对新步骤做风险评估。第三步，根据评估修订操作规程，由实验室负责人审核签字后才能执行；涉及病原微生物、危险化学品等的，按规定报审备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跳过修订规程，口头交代一下就开始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条件变了就重新评估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规模、试剂、设备、人员、场所变了，都要重新评估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换温度、换气体、出事后，也要重新评估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用量放大，危害也可能跟着放大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更新后重新审核，讲给每个人听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方案的任何变化都是变更：规模（加量、放大）、试剂（换试剂、换浓度）、设备（新装置、换设备）、人员（来了新人）、场所（换房间、换实验室），以及温度、压力、气体等条件的改变。发生事故或险情以后，也要重新评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认为“只是换了个试剂”，照旧规程做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换了人，没有重新培训和评估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安全改动也是变更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换了手套，可能影响实验结果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换了设备，样品所处的环境也变了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再小的安全改动，也要评估和记录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为了安全做的改动也是变更。例如换了一种手套，可能影响样品或实验结果；换了设备，样品所处的环境也变了。所以即使是很小的安全改动，也要评估它对安全和实验的影响，并做好记录。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认为“为安全改的”就不需要评估和记录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放大不是简单乘倍数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放大不是把用量简单乘倍数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体积变大，热量、压力和气溶胶都变了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只评一种危险，其余全无防备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放大前重新评估，经审批再开始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大实验不是把用量简单地乘以倍数。体积变大后，散热变慢、反应放热和压力升高更难控制，产生的气溶胶也更多，原来小规模下安全的做法可能不再安全。放大前要重新做风险评估，经过审批，才能开始放大或中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小量做成功了，直接按倍数放大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放大时只看毒性，不看放热和压力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改动布局先评估审批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改布局、加隔断，先评估、经审批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不能自己动手改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改完要重新检测，合格再用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实验室建成后，如果想改变布局、加装隔断、移动通风柜或安全柜等设施，要先进行评估，经学院和学校有关部门审批，由专业人员施工，不能自己动手。改动可能影响通风、气流、疏散通道和防护设施的性能。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自行挪动通风柜、加装隔断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关于标准操作规程，下列说法正确的是：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熟练以后可以凭记忆操作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觉得某步不合适可以自己改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修订批准并培训后，才按新版执行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新旧版本都放在现场备用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下列哪种情况不需要重新做风险评估？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实验规模放大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换用另一种溶剂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课题组来了新成员操作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按已批准的规程重复做同一实验，条件都没有变化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判断：小量实验做成功了，放大时只要按倍数增加用量即可。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判断：为了安全换了一种手套，不属于实验变更，不需要评估和记录。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019 · SOP与方案变更审查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019 SOP与方案变更审查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接到一项现有规程没有写到的新操作，第一步应该：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先做了再说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先停下，报告实验室负责人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照网上的方法做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让同学先试一下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简答：一份操作规程中应写明哪些安全内容？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什么是标准操作规程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目标：谁来做结果都一样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规程要写哪些安全内容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动笔前：谁写、给谁看、为什么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政策、计划和程序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规程的四个部分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规程的格式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好规程看得懂、做得到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试用与观察验证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对照要求，批准后生效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按书面规程一步步做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规程不合适，反馈不私改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规程是活文件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规程更新要告知到人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新实验和高危实验先评估审批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禁止未经批准的实验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情景：接到一项新操作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新操作五步走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条件变了就重新评估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K20  安全改动也是变更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K21  放大不是简单乘倍数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K22  改动布局先评估审批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