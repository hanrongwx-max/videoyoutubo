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离辐射是科研、医学和工业中很有用的工具：医学影像能看清人体内部，放射治疗能杀伤肿瘤，核电站能发电，放射性标记能追踪分子在生命体内的去向。但电离辐射能量很高，能破坏细胞中的分子，用不好会伤害人体和污染环境，所以国家对放射性同位素和射线装置实行严格管理。</a:t>
            </a:r>
          </a:p>
          <a:p>
            <a:r>
              <a:t>对待辐射的正确态度是“不必害怕，但要尊重”：既不因为恐惧而绕道走、拒绝必要的检查和研究，也不因为看不见、摸不着而掉以轻心。辐射工作中的照射，在满足工作需要的前提下要尽量低（最优化原则见第 089 课）。</a:t>
            </a:r>
          </a:p>
          <a:p>
            <a:r>
              <a:t>想用好辐射，先学会保护自己：本章依次讲射线的性质、剂量单位、生物效应、防护原则、外照射和内照射防护、监测仪器、许可与人员管理、放射源与射线装置、核医学和事故应急。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健康物理（也叫辐射防护）是核物理、原子物理与生物学、医学交叉的学科：研究辐射怎样影响人体，测量和计算人受到的辐射，用来保护工作人员、公众和环境。</a:t>
            </a:r>
          </a:p>
          <a:p>
            <a:r>
              <a:t>“吃了多少”说“几块”不准，要称重；“受了多少辐射”也要有统一的量和单位。辐射防护的第一步，是弄清剂量是什么（吸收剂量、当量剂量、有效剂量，见第 087 课），再学会用仪器把它测出来（见第 092 课）。</a:t>
            </a:r>
          </a:p>
          <a:p>
            <a:r>
              <a:t>加速器、反应堆、放射性药物等都是核物理的应用；健康物理的任务是让这些应用安全。</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人们早就在不了解危害的情况下使用放射性物质，例如用铀的化合物给玻璃和陶瓷上色。</a:t>
            </a:r>
          </a:p>
          <a:p>
            <a:r>
              <a:t>上世纪二十年代，一些工厂让女工给钟表表盘涂含镭的夜光漆，她们习惯用嘴抿尖笔尖，把镭一点点吃进了体内。镭在骨骼中长期沉积、持续照射，许多人后来出现颌骨坏死、骨病、贫血等严重疾病。这一事件推动了辐射防护和职业健康保护的发展。</a:t>
            </a:r>
          </a:p>
          <a:p>
            <a:r>
              <a:t>教训：放射性物质一旦进入体内（内照射），很难排出，会持续照射。辐射工作场所禁止饮食、吸烟、化妆，禁止用嘴吸移液管，不用嘴接触任何器具（非密封源操作见第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辐射按能否使物质电离分为两大类。能量足以把原子中的电子打出去、使原子变成带电离子的，叫电离辐射，包括 α 粒子、β 粒子、γ 射线、X 射线和中子。其中 α、β 等带电粒子直接使物质电离；γ、X 射线等光子和中子不带电，先与物质作用产生带电粒子，再由带电粒子电离，叫间接电离（射线的性质见第 086 课）。</a:t>
            </a:r>
          </a:p>
          <a:p>
            <a:r>
              <a:t>紫外线、可见光、红外线、微波和无线电波的能量不足以电离，叫非电离辐射。非电离辐射也会伤人，例如紫外线伤眼和皮肤、激光灼伤眼睛、强射频使组织发热，要按各自的专门规定防护（光辐射见第 111 课，激光见第 112 课），不能套用电离辐射的办法，也不要把它们和电离辐射混为一谈。</a:t>
            </a:r>
          </a:p>
          <a:p>
            <a:r>
              <a:t>电离辐射有专门的警告标志（黄底黑边三角形，中间是三叶形符号），按 GB 18871-2002 和 GB 2894-2025（均以现行文本为准）设置在辐射工作场所、放射源和射线装置上。看到它，意味着这里有电离辐射，未经许可不得进入或操作。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原子由原子核和核外电子组成，原子核由质子和中子组成。质子数决定是哪种元素，质子数加中子数是质量数。核素的写法是在元素符号左上角写质量数、左下角写质子数，例如碳-12 和碳-14。</a:t>
            </a:r>
          </a:p>
          <a:p>
            <a:r>
              <a:t>质子数相同、中子数（质量数）不同的原子互为同位素。有的同位素原子核稳定，如碳-12；有的不稳定，如碳-14、氢-3（氚）、磷-32，会自发地衰变，放出射线并变成另一种核素，这种性质叫放射性，这类同位素叫放射性同位素（衰变规律和半衰期见第 086 课）。</a:t>
            </a:r>
          </a:p>
          <a:p>
            <a:r>
              <a:t>放射性同位素按国家规定实行许可和台账管理，按规定购买、贮存、使用和处置（见第 093、094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人受到的电离辐射照射，来自天然辐射源和人工辐射源两部分，其中天然来源占大头。</a:t>
            </a:r>
          </a:p>
          <a:p>
            <a:r>
              <a:t>天然辐射源包括：从土壤、岩石中释放到空气里的氡及其子体（被吸入体内，是天然照射中最大的一项，健康风险见第 088 课）；来自太空的宇宙射线；土壤、岩石和建筑材料中的天然放射性核素（从体外照射，叫外照射）；食物和饮水中的钾-40 等天然放射性核素（进入体内，叫内照射）。</a:t>
            </a:r>
          </a:p>
          <a:p>
            <a:r>
              <a:t>人工辐射源中，大部分来自医疗：X 射线摄影和 CT 是外照射，注射或口服放射性药物是内照射；密封源（放射性物质密封在包壳中）正常使用时不会散开，内照射风险小。其余来自科研、工业、消费品和核设施等，核电站正常运行时对公众的贡献很小，但一旦发生事故泄漏就另当别论。</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辐射探测仪开着放一夜，即使附近没有放射源，第二天也会记录到不少计数。这就是本底辐射：宇宙射线、岩石土壤、建筑材料（如水泥中的钾）、空气中的氡、人体自身的放射性，以及核设施、放射性废物、医学应用等，都会贡献一份，加起来就是本底。世界上没有完全没有辐射的地方。</a:t>
            </a:r>
          </a:p>
          <a:p>
            <a:r>
              <a:t>本底的高低随地区、地质和生活方式而不同，不同地点可以相差几倍；海拔越高，宇宙射线越强，常坐飞机的人受到的宇宙射线照射也更多。</a:t>
            </a:r>
          </a:p>
          <a:p>
            <a:r>
              <a:t>测量时要先测本底，读数减去本底才是被测样品或放射源的贡献（见第 092 课）。从事辐射工作带来的职业照射，要在本底之外另行计算、监测和控制；职业照射的剂量限值按 GB 18871-2002（以现行文本为准）执行，见第 089 课。本底是天然的、无法管控的，工作中的照射可以通过时间、距离、屏蔽等措施控制（见第 090 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电离辐射的用途很广：医学上用于 X 射线检查、CT、核医学显像和放射治疗；工业上用于射线探伤检查零件焊缝、测厚和料位测量；还用于碳-14 测定年代、医疗器械辐照灭菌、部分烟雾报警器和食品辐照保鲜。高校实验室常见的有 X 射线衍射仪、X 射线荧光仪、小动物成像设备和放射性标记实验等。</a:t>
            </a:r>
          </a:p>
          <a:p>
            <a:r>
              <a:t>在生命科学研究中，给分子挂上放射性标记（如氢-3、碳-14、磷-32 等），就能追踪它在细胞和生命体内的吸收、分布、代谢和排出，在原子水平上看清生命过程，这是很多别的方法难以做到的。心血管疾病、神经系统疾病、糖尿病等的研究和新药开发都离不开放射性物质。</a:t>
            </a:r>
          </a:p>
          <a:p>
            <a:r>
              <a:t>医学研究讲究“从实验台到病床”：实验室里的发现最终用于诊断和治疗疾病。用途越广，越要按规定使用、管理和防护。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辐射能打断细胞中分子（特别是 DNA）的化学键。放射治疗正是利用这一点对付肿瘤：一是让癌细胞失去分裂能力，肿瘤不再长大；二是直接杀死癌细胞。</a:t>
            </a:r>
          </a:p>
          <a:p>
            <a:r>
              <a:t>难点在于癌细胞和健康细胞挨在一起，治疗要尽量多打病灶、少伤周围的健康组织，这也说明辐射对健康细胞同样有伤害（生物效应见第 088 课）。</a:t>
            </a:r>
          </a:p>
          <a:p>
            <a:r>
              <a:t>核医学治疗时，靠放射性药物的生物靶向性把核素“送货上门”到病灶，像钥匙配锁；再选射程合适的射线：α 粒子射程极短、能量集中，β 粒子射程较长。治疗的选择性来自“送得准、射程合适”，而不是细胞对某种射线有“偏好”。用哪种射线、多大剂量，由医生和医学物理师按规定评估（核医学见第 095 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按《中华人民共和国放射性污染防治法》和《放射性同位素与射线装置安全和防护条例》（均以现行文本为准）管理放射性同位素和射线装置：使用单位要取得辐射安全许可证，在许可的种类和范围内使用；按 GB 18871-2002（以现行文本为准）做好防护。</a:t>
            </a:r>
          </a:p>
          <a:p>
            <a:r>
              <a:t>高校一般设有辐射安全管理机构和辐射安全负责人，实行学校—学院—实验室分级管理（见第 093 课）。从事辐射工作的师生，要按生态环境主管部门和学校的要求参加辐射安全与防护培训、考核合格后才能上岗，按规定佩戴个人剂量计并定期送检，接受职业健康检查（以现行规定和本校规定为准）。</a:t>
            </a:r>
          </a:p>
          <a:p>
            <a:r>
              <a:t>没有经过培训和授权的人员，不得进入辐射工作场所的控制区，不得操作放射源和射线装置。</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答案：C。解析：α、β、γ、X 射线和中子能使物质电离，属于电离辐射；紫外、可见光、微波、无线电属于非电离辐射。</a:t>
            </a:r>
          </a:p>
          <a:p>
            <a:r>
              <a:t>第 2 题 答案：B。解析：二者互为同位素，但碳-12 是稳定同位素，只有原子核不稳定的同位素才有放射性。</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答案：B。解析：天然来源占大头，其中从地下释放的氡最多；人工来源以医疗为主，核电正常运行贡献很小。</a:t>
            </a:r>
          </a:p>
          <a:p>
            <a:r>
              <a:t>第 4 题 答案：B。解析：本底管不了，职业照射要另外计算、监测，通过时间、距离、屏蔽等措施控制。</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答案：放射性物质一旦进入体内会持续照射、难以排出；辐射工作场所禁止饮食、吸烟、化妆，不用嘴吸移液管，不用嘴接触任何器具。解析：内照射危害大，放射性物质绝不能进口。</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实验室和医学中常见的电离辐射分为两类：一类是高能光子，即 X 射线和 γ 射线，它们都是电磁波，区别主要在来源——γ 射线来自原子核，X 射线来自核外电子或电子被减速（如 X 射线管）；另一类是粒子，包括 α 粒子、β 粒子和中子。</a:t>
            </a:r>
          </a:p>
          <a:p>
            <a:r>
              <a:t>不同种类的射线电离本领、穿透本领和对人体的危害都不同，所以防护方法也不同。做实验前要先弄清所用核素或装置放出的是哪种射线、能量大致多高。</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 粒子由两个质子和两个中子组成（即氦原子核），带正电，质量大。它沿途与物质剧烈作用，电离本领很强，但能量很快耗尽，所以射程很短：在空气中只能走几厘米，一张纸就能把它挡住。</a:t>
            </a:r>
          </a:p>
          <a:p>
            <a:r>
              <a:t>用计数器演示时，α 源一靠近，计数猛增；拉开几厘米，几乎测不到了；中间插一张纸，计数也一下子降下来（注意扣除本底）。</a:t>
            </a:r>
          </a:p>
          <a:p>
            <a:r>
              <a:t>α 外照射危害小，但这不等于 α 源无害（见 K6）。演示和实验中要用镊子等工具，戴手套，不徒手接触放射源。</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β 粒子是原子核衰变时放出的高能电子，带负电，质量很小。它的电离本领比 α 弱，穿透本领比 α 强得多：在空气中能走几十厘米甚至更远（与能量有关），拉开十几厘米还能测到不少计数。</a:t>
            </a:r>
          </a:p>
          <a:p>
            <a:r>
              <a:t>一张纸挡不住 β，薄铝片也挡不住多少，要用足够厚的铝板或有机玻璃、塑料板才能挡住。实验室常见的 β 核素有磷-32、碳-14、氢-3（氚）等，能量高低差别很大：氚的 β 能量很低，连皮肤表层都穿不透，但进入体内仍有危害；磷-32 的 β 能量高，要用有机玻璃屏蔽（屏蔽材料见 K7）。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γ 射线是原子核放出的高能光子，属于电磁波，不带电。它的电离本领最弱、穿透本领最强。</a:t>
            </a:r>
          </a:p>
          <a:p>
            <a:r>
              <a:t>用计数器演示时，γ 源拉远计数会下降，但降不到零；纸和铝片对 γ 几乎没有作用；厚铅片也只能使它减弱一部分，再加一块铅，仍然挡不完。γ 射线在物质中是按比例逐渐减弱的，没有一个“刚好全部挡住”的厚度，只能用足够厚的铅、混凝土等把它减弱到可接受的水平（半值层和屏蔽计算见第 090 课）。</a:t>
            </a:r>
          </a:p>
          <a:p>
            <a:r>
              <a:t>γ 射线与物质的作用主要有光电效应、康普顿散射和电子对效应，作用中产生的电子再使物质电离；原子序数高、密度大的材料（如铅）减弱 γ 的效果好。</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比较三种射线，看两样本领：电离本领（沿途使物质电离的能力）和穿透本领（能穿过多厚的物质）。用纸、铝片、铅片三样简单的东西就能比较：纸挡住 α，铝挡住 β，铅只能减弱 γ。</a:t>
            </a:r>
          </a:p>
          <a:p>
            <a:r>
              <a:t>两种本领此消彼长：α 电离最强、穿透最弱；β 居中；γ 电离最弱、穿透最强。在空气中，α 射程最短，β 居中，γ 最远。</a:t>
            </a:r>
          </a:p>
          <a:p>
            <a:r>
              <a:t>α 带正电、β 带负电、γ 不带电，所以在电场和磁场中，α 和 β 向相反方向偏转，γ 不偏转。</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从体外照射时：α 粒子连皮肤表面的死细胞层都很难穿过，几乎照不到内脏；β 粒子能进入皮下浅层，主要伤害皮肤和眼晶状体；γ 和 X 射线穿透力强，能照射到全身，是外照射的主要危害；中子穿透深，在人体中主要被氢原子核散射、被氮等原子核俘获，全身危害大，需要专门防护。</a:t>
            </a:r>
          </a:p>
          <a:p>
            <a:r>
              <a:t>进入体内（内照射）时情况不同：α 核素一旦被吸入、吃进或经伤口进入体内，它的全部能量集中沉积在很小范围的组织里，危害很大。所以操作 α 核素和其他非密封放射性物质，重点是防止摄入：在通风橱或手套箱中操作，戴手套，禁止饮食和用嘴吸移液管，有伤口时不操作（见第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按射线种类选屏蔽材料：α 用一张纸（或手套、容器壁）就能挡住；β 用有机玻璃、塑料、铝等原子序数低的材料；γ 和 X 射线用铅、钨或厚混凝土；中子用石蜡、聚乙烯、水、含硼材料和混凝土等含氢多的材料减速吸收。</a:t>
            </a:r>
          </a:p>
          <a:p>
            <a:r>
              <a:t>高能 β 粒子直接打在铅等原子序数高的材料上，会产生轫致辐射（X 射线），反而增加照射。所以屏蔽高能 β 源（如磷-32）要先用有机玻璃挡住 β，外面再根据需要加铅挡住产生的 X 射线，不能“全用铅最保险”。</a:t>
            </a:r>
          </a:p>
          <a:p>
            <a:r>
              <a:t>放射性药物和 γ 核素常装在铅罐或钨罐中贮存和转运；β 核素实验常用有机玻璃挡板和屏蔽盒。屏蔽要和时间、距离配合使用（外照射防护见第 090 课）。</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不稳定的原子核会自发衰变，变成更稳定的核素，同时放出 α、β、γ 等射线，还有光和热。不同核素放出的射线种类和能量各不相同。</a:t>
            </a:r>
          </a:p>
          <a:p>
            <a:r>
              <a:t>使用时按用途选择合适的核素，例如部分烟雾报警器中用的镅-241 源放出 α 粒子，正好能使空气电离用于探测烟雾；示踪实验按需要选氢-3、碳-14、磷-32 等。选核素时也要考虑防护：在满足实验需要的前提下，优先选能量低、半衰期短、毒性低的核素和尽量少的用量（最优化见第 089 课）。</a:t>
            </a:r>
          </a:p>
          <a:p>
            <a:r>
              <a:t>同位素有的稳定，有的有放射性；放射性同位素放出的射线会损伤人体组织，可能导致确定性效应和随机性效应（见第 088 课）。放射性物质要锁在专用贮存场所，有人看管，建立台账，防止丢失、被盗（见第 094 课）。</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被 X 射线、γ 射线照射过的物品和人，一般不会因此带上放射性：拍过片、做过 CT 的人，经过安检的行李，经过射线探伤的零件，经过辐照灭菌的医疗器械，都可以正常接触。射线装置断电后就不再产生 X 射线。</a:t>
            </a:r>
          </a:p>
          <a:p>
            <a:r>
              <a:t>只有在中子照射或高能粒子引起核反应等强照射条件下（如反应堆、加速器），物质才可能被“活化”而带上放射性，这类场所和物品按专门规定管理。</a:t>
            </a:r>
          </a:p>
          <a:p>
            <a:r>
              <a:t>注意区分“受照射”和“被污染”：放射性物质沾到皮肤、衣物或台面上（污染）才会带走放射性，要按规定检测和去污（见第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放射源有多“强”，用活度表示：活度是单位时间内发生衰变的原子核数。国际单位制和我国法定计量单位是贝可勒尔（贝可，Bq），1 Bq 表示每秒衰变 1 次。贝可很小，实验室常用千贝可（kBq）、兆贝可（MBq），医用和工业源常用吉贝可（GBq）。</a:t>
            </a:r>
          </a:p>
          <a:p>
            <a:r>
              <a:t>居里（Ci）是旧单位，国外资料和旧设备标牌上常见，1 Ci = 3.7×10¹⁰ Bq（370 亿贝可），1 mCi = 37 MBq。我国的记录、台账和报告一律使用贝可，遇到旧单位要先换算。</a:t>
            </a:r>
          </a:p>
          <a:p>
            <a:r>
              <a:t>辐射防护要“从源一路算到人”：源的活度→某处的照射量或剂量率→人受到的剂量（剂量和单位见第 087 课）。活度大不等于人一定受照多，还取决于射线种类、能量、距离、屏蔽和时间。</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放射性核素即使放在瓶子里不动，也会不断衰变。原子核衰变掉一半（活度减为一半）所需的时间，叫物理半衰期。它只由核素本身决定，加热、加压、化学反应都改变不了。</a:t>
            </a:r>
          </a:p>
          <a:p>
            <a:r>
              <a:t>每过一个半衰期，活度减为原来的一半：两个半衰期剩 1/4，三个剩 1/8，n 个半衰期剩 (1/2)ⁿ，十个半衰期约剩千分之一。不同核素的半衰期相差极大，短的不到一秒，长的达几十亿年。</a:t>
            </a:r>
          </a:p>
          <a:p>
            <a:r>
              <a:t>半衰期是选核素、估算源强、安排实验和处理废物的重要依据：短半衰期的放射性废物可以在屏蔽条件下暂存，等它衰变到规定水平以下再按规定处置（放射性废物见第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放射源的活度随时间按半衰期不断减少。衰变表按经过的时间（天、月、年）列出剩余活度占初始活度的比例，或者直接列出各日期的活度。</a:t>
            </a:r>
          </a:p>
          <a:p>
            <a:r>
              <a:t>使用时，看源的标签或证书上的初始活度和标定日期，查衰变表（或按半衰期计算）就能知道源现在有多强。短半衰期核素（如磷-32、碘-131）几天、几周变化就很明显，实验用量、屏蔽和计数都要按当天的活度安排。</a:t>
            </a:r>
          </a:p>
          <a:p>
            <a:r>
              <a:t>台账中记录源的核素、初始活度、标定日期和当前估算活度，便于清点和管理（见第 094 课）。</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进入体内的物质会通过代谢、排泄（尿、粪、汗、呼气）逐渐离开身体，像浴缸从排水口往外流。体内某种物质排出一半所需的时间，叫生物半衰期。它取决于元素的化学形态和人体的代谢，与放射性衰变无关。</a:t>
            </a:r>
          </a:p>
          <a:p>
            <a:r>
              <a:t>不同核素差别很大：含氚的水随体液交换，较快排出；碘被甲状腺摄取并留住，排出很慢；锶的化学性质像钙，会沉积在骨骼中，排出需要很多年；氡等惰性气体吸入后几分钟到几小时就随呼气排出。</a:t>
            </a:r>
          </a:p>
          <a:p>
            <a:r>
              <a:t>生物半衰期还随化学形态、器官、年龄和健康状况而不同，所以内照射剂量要由专业人员按规定方法估算。</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体内的放射性核素有两条减少的路：一是自己衰变（物理半衰期），二是被身体排出（生物半衰期）。两条路同时走，就像浴缸开着两个出水口同时放水，体内活度减少得比任何一条路都快。这两条路合起来的减半时间，叫有效半衰期，它总比物理半衰期和生物半衰期都短；两者中较短的那个起主要作用。</a:t>
            </a:r>
          </a:p>
          <a:p>
            <a:r>
              <a:t>二者的关系可以写成：1/有效半衰期 = 1/物理半衰期 + 1/生物半衰期。例如碘-131 的物理半衰期约 8 天，在甲状腺中的生物半衰期约 80 天，有效半衰期约 7 天，这里物理半衰期说了算。</a:t>
            </a:r>
          </a:p>
          <a:p>
            <a:r>
              <a:t>有效半衰期随放射性药物、器官，甚至个人的病情而不同，用于估算内照射剂量和核医学检查后的防护安排（见第 095 课）。</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放在桌上或贮源容器里的密封源，活度只按物理半衰期减少；进入身体的核素，同时在衰变和被排出，身体是一个流动的系统。</a:t>
            </a:r>
          </a:p>
          <a:p>
            <a:r>
              <a:t>但总可能有一部分留在体内。如果核素半衰期很长，又沉积在骨骼等器官中排出很慢，就会长期照射身体。所以长寿命的密封源（如钴-60）绝不能拆开，更不能拿来做药；核医学用的放射性药物都选半衰期合适的核素（见第 095 课）。</a:t>
            </a:r>
          </a:p>
          <a:p>
            <a:r>
              <a:t>估算体内剂量时，不能只看物理半衰期：例如镭的物理半衰期很长，但在骨中的有效半衰期主要由排出决定，只按物理半衰期算会把剂量算得过高。要用有效半衰期或专业的生物动力学模型，由专业人员按规定方法估算。</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答案：B。解析：高能 β 打在铅上会产生 X 射线（轫致辐射），所以先用有机玻璃等轻材料，外面再加铅。</a:t>
            </a:r>
          </a:p>
          <a:p>
            <a:r>
              <a:t>第 2 题 答案：B。解析：α 外照射危害小，但一旦进入体内危害很大，操作时重点是防止摄入。</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答案：B。解析：28 天是两个半衰期，活度剩 (1/2)² = 1/4。</a:t>
            </a:r>
          </a:p>
          <a:p>
            <a:r>
              <a:t>第 4 题 答案：C。解析：衰变和排出同时进行，有效半衰期总比两者都短，较短的那个起主要作用。</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答案：1 Ci = 3.7×10¹⁰ Bq，1 mCi = 3.7×10⁷ Bq = 37 MBq。解析：活度单位用贝可，居里是旧单位，只作换算。</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会用仪器探测辐射，是为了认识发出辐射的源；但做实验时人也站在辐射旁边，最终要回答的是“人受了多少照射、有什么影响”。人受到照射的多少，用剂量来衡量。剂量前面常加“吸收”“当量”“有效”等词，分别说的是沉积了多少能量，还是对人造成多大的损伤风险。</a:t>
            </a:r>
          </a:p>
          <a:p>
            <a:r>
              <a:t>剂量学是测量、计算和评估人体与材料吸收了多少电离辐射的学问。它既用于保护辐射工作人员和公众（个人剂量监测、场所监测），也用于放射治疗和核医学治疗的剂量计划。手机、基站等非电离辐射不用这些剂量量（见第 085 课）。</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射线穿过物质时会使原子电离或激发。度量辐射的量，要么数产生了多少电离（电荷），要么算沉积了多少能量。</a:t>
            </a:r>
          </a:p>
          <a:p>
            <a:r>
              <a:t>常用的四个剂量量像台阶一样层层递进：照射量（X、γ 射线在空气中的电离）→ 吸收剂量（物质吸收的能量，戈瑞）→ 当量剂量（再考虑射线种类，希沃特）→ 有效剂量（再考虑器官敏感性，希沃特）。每一级都建立在前一级的基础上。</a:t>
            </a:r>
          </a:p>
          <a:p>
            <a:r>
              <a:t>当量剂量和有效剂量的单位都是希沃特（Sv），但含义不同：前者针对某一器官或组织，后者针对全身。读报告时要看清写的是哪个量。</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照射量描述 X 射线和 γ 射线在空气中产生电离的多少：光子在单位质量空气中打出的电子全部停下来时，产生的某一种符号离子的总电荷除以空气质量。国际单位是库仑每千克（C/kg）；旧单位伦琴（R），国外资料和旧仪器上仍常见，1 R = 2.58×10⁻⁴ C/kg。空气的湿度等条件会影响测量结果。</a:t>
            </a:r>
          </a:p>
          <a:p>
            <a:r>
              <a:t>在空气中每产生一对离子平均要消耗大致固定的能量（约 34 电子伏），所以数清离子对，就能换算出空气吸收的能量。X 射线机的管电压越高、曝光量越大，照射量越大；离 X 射线管越远，照射量越小。</a:t>
            </a:r>
          </a:p>
          <a:p>
            <a:r>
              <a:t>照射量的局限：只适用于 X、γ 射线，只适用于空气；对中子、α、β 等粒子，对人体组织、水和屏蔽材料都不适用，所以需要吸收剂量等新的量。</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剂量率是单位时间内受到的剂量，常用单位是微希沃特每小时（μSv/h）或毫希沃特每小时（mSv/h）。</a:t>
            </a:r>
          </a:p>
          <a:p>
            <a:r>
              <a:t>对一个点状 γ 源，剂量率与源的活度成正比，每次衰变放出的 γ 射线能量越高、数量越多，剂量率也越高。每种核素有自己的剂量率常数（也叫照射率常数、空气比释动能率常数，就像核素的“身份证”），可查资料得到；实验室常用核素的常数，用前要查清。</a:t>
            </a:r>
          </a:p>
          <a:p>
            <a:r>
              <a:t>射线从点源向四面八方散开，距离加倍，同样多的射线摊在四倍的面积上，剂量率降到原来的四分之一，这就是平方反比定律（应用和屏蔽计算见第 090 课）。估算只用于事先规划，实际剂量率要用经过检定或校准的仪器测量（见第 092 课）。</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累积受到的剂量等于剂量率乘以受照时间，就像水龙头下的杯子，接得越久装得越满。例如在剂量率为 10 μSv/h 的位置停留 0.5 小时，累积约 5 μSv。</a:t>
            </a:r>
          </a:p>
          <a:p>
            <a:r>
              <a:t>由照射量算出的空气剂量，还要换算成人体软组织的剂量；对软组织，换算系数接近 1，随射线能量和材料略有变化。</a:t>
            </a:r>
          </a:p>
          <a:p>
            <a:r>
              <a:t>工作前可以先根据源的活度、剂量率常数、距离和时间估算一下，再用仪器实测核对。计算时单位换算最容易出错（微、毫，小时、分钟，旧单位、新单位），一定要核对两遍。</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吸收剂量是单位质量物质吸收的电离辐射能量，是辐射防护最基本的量。单位是戈瑞（Gy），1 Gy = 1 J/kg（每千克物质吸收 1 焦耳）。旧单位拉德（rad），1 Gy = 100 rad。</a:t>
            </a:r>
          </a:p>
          <a:p>
            <a:r>
              <a:t>吸收剂量适用于任何种类的电离辐射、任何物质（空气、水、人体组织、屏蔽材料）。</a:t>
            </a:r>
          </a:p>
          <a:p>
            <a:r>
              <a:t>但吸收剂量本身说不清两件事：照射得有多快（剂量率），以及是哪种射线照的。这两点恰恰对生物效应很重要，所以在吸收剂量之上，还要引入当量剂量和有效剂量。要考虑对人体的生物效应时，用希沃特。</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吸收剂量按质量计算，不按体积计算。同样一千克，空气体积最大，水居中，玻璃最小；只要它们吸收的能量相同，吸收剂量就相同。</a:t>
            </a:r>
          </a:p>
          <a:p>
            <a:r>
              <a:t>反过来，三种材料体积一样大、吸收同样多的能量，因为质量差别很大，吸收剂量就差得很远（质量越小，剂量越大）。</a:t>
            </a:r>
          </a:p>
          <a:p>
            <a:r>
              <a:t>理解这一点，就能明白为什么说“某器官的平均吸收剂量”：要把器官吸收的能量除以该器官的质量。</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同样的吸收剂量，对不同材料效果也不同。即使是会对人体造成严重伤害的大剂量，它沉积的能量也只能让水温升高一点点，根本感觉不到热。所以不能靠“热不热”“有没有感觉”来判断受照多少。</a:t>
            </a:r>
          </a:p>
          <a:p>
            <a:r>
              <a:t>对人体来说，危害不在于发热，而在于电离：射线把细胞中的复杂分子（尤其是 DNA）打断、打散，造成细胞和基因损伤。在健康物理中，电离是“头号敌人”，电离越多越密集，损伤越重。</a:t>
            </a:r>
          </a:p>
          <a:p>
            <a:r>
              <a:t>细胞和基因损伤可能增加患癌、出生缺陷和遗传病的风险（随机性效应），大剂量还会直接造成组织损伤（确定性效应，见第 088 课）。</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吸收剂量相同，生物效应不一定相同。γ 射线和电子像毛毛雨，沿很长的路径稀疏地沉积能量，造成的损伤多是简单、分散的，细胞大多能修复；α 粒子和重离子个头大、电荷多，像保龄球，在很短的路径里密集地沉积能量，造成成簇的断裂，细胞很难正确修复。</a:t>
            </a:r>
          </a:p>
          <a:p>
            <a:r>
              <a:t>单位路程上沉积的能量叫传能线密度（LET）：α、重离子是高传能线密度辐射，γ、X 射线和电子是低传能线密度辐射。电离越密集，生物损伤越大。</a:t>
            </a:r>
          </a:p>
          <a:p>
            <a:r>
              <a:t>达到同样生物效应，所需参考射线（如 γ 射线）剂量与某种射线剂量之比，叫相对生物效应（RBE）。它不是固定值，随剂量、剂量率、细胞种类和所看的效应而变化；人类的数据主要来自历史上受照人群的长期研究，不可能让人自愿受照做实验。所以防护中不用随条件变化的相对生物效应，而用固定的辐射权重因子（K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为了防护的需要，标准对各类射线规定了固定、保守的辐射权重因子，它没有单位，就像不同货币之间的汇率，把不同射线的吸收剂量换算成可以比较、相加的量。光子（X、γ 射线）和电子（β）为 1，α 粒子为 20，中子的权重随能量变化，质子介于其间（具体数值以 GB 18871-2002 现行文本为准）。</a:t>
            </a:r>
          </a:p>
          <a:p>
            <a:r>
              <a:t>当量剂量 = 器官或组织的平均吸收剂量 × 辐射权重因子。几种射线一起照射时，分别计算再相加。单位是希沃特（Sv），旧单位雷姆（rem），1 Sv = 100 rem。同样 1 Gy，α 粒子的当量剂量是 γ 射线的 20 倍；反过来，1 Sv 的 α 和 1 Sv 的 γ，对人体的风险大致相当。</a:t>
            </a:r>
          </a:p>
          <a:p>
            <a:r>
              <a:t>当量剂量是算出来的量，不能直接测量。安全与否，还要看照射时间、距离和屏蔽。</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身体各器官对辐射的敏感程度不同：细胞分裂越快、更新越快的组织往往越敏感，如骨髓等造血组织、结肠、肺、胃、乳腺属于高敏感组织，皮肤、骨表面等敏感性较低。同样剂量照到结肠，比照到皮肤风险高。局部照射时，需要一个反映全身风险的总数。</a:t>
            </a:r>
          </a:p>
          <a:p>
            <a:r>
              <a:t>有效剂量就像按学分算总评：把各器官、组织的当量剂量乘以各自的组织权重因子再相加。组织权重因子没有单位，按敏感程度分为高、中、低几档，所有组织的权重加起来正好等于 1；它来自几十年的人群研究数据，随认识更新会修订，具体数值以 GB 18871-2002（以现行文本为准）为准。辐射权重因子管射线类型，组织权重因子管器官敏感性，二者都是为了把吸收剂量换算成反映风险的剂量。</a:t>
            </a:r>
          </a:p>
          <a:p>
            <a:r>
              <a:t>有效剂量的单位也是希沃特，它与致癌等随机性效应的风险关系更紧密，用于防护最优化和剂量限值管理（见第 089 课）。它是算出来的，不能直接测量：个人剂量计和巡测仪读出的是用于监测的实用量（如个人剂量当量），用来估算有效剂量（见第 092 课）。只照到手、皮肤等局部时，要按规定方法折算，不能简单地把局部剂量乘权重当作全身风险；α 外照射基本穿不过皮肤表层，危害主要在内照射。得了某种癌症，也不能仅凭受过照射就断定是辐射引起的。</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外照射是放射源在体外，射线从外面照到人。外照射剂量用个人剂量计、电离室等测量，取决于射线的穿透力、屏蔽和照射的几何条件：同样的源，人站在正面、侧面、背面，宽束照射还是局部照射，剂量都不同。个人剂量计要按规定佩戴在有代表性的位置（见第 092 课）。</a:t>
            </a:r>
          </a:p>
          <a:p>
            <a:r>
              <a:t>内照射是放射性物质通过吸入、食入、伤口或皮肤进入体内后从内部照射。内照射剂量更难确定，原因有四：源分散在不同组织里；它随代谢在体内“搬家”；射线射程和器官大小决定能量沉积在哪里；它会一直照射，直到被排出或衰变完。所以要靠尿样等生物样品分析、全身计数器等体外测量和生物动力学模型来估算，由专业机构按规定进行（GBZ 129，以现行文本为准）。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放射性核素摄入后，体内会持续受照很多年。把摄入后一段时间内将要受到的剂量加起来，一次记在摄入的当年，叫待积剂量（待积当量剂量、待积有效剂量）。积分期限：成人取 50 年，儿童算到 70 岁。</a:t>
            </a:r>
          </a:p>
          <a:p>
            <a:r>
              <a:t>实际估算常用捷径：待积有效剂量 = 摄入量（Bq）× 剂量系数（Sv/Bq）。剂量系数按核素、化学形态、摄入途径（吸入或食入）和年龄查标准中的表格。核医学中还会用“源器官照射靶器官”的方法计算器官剂量，像暖炉烤着旁边的人，由医学物理专业人员完成。</a:t>
            </a:r>
          </a:p>
          <a:p>
            <a:r>
              <a:t>吸入后沉积在骨中的 α 核素（如镭、钚等亲骨核素）能留存几十年，危害最大。查剂量系数时一定看清单位前缀：每贝可毫希沃特和每贝可微希沃特差一千倍，抄错一级结果就错千倍。</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新旧单位对照（前为我国法定计量单位，后为旧单位）：活度用贝可（Bq），旧单位居里（Ci），1 Ci = 3.7×10¹⁰ Bq；照射量用库仑每千克（C/kg），旧单位伦琴（R），1 R = 2.58×10⁻⁴ C/kg；吸收剂量用戈瑞（Gy），旧单位拉德（rad），1 Gy = 100 rad；当量剂量和有效剂量用希沃特（Sv），旧单位雷姆（rem），1 Sv = 100 rem，即 1 rem = 10 mSv。</a:t>
            </a:r>
          </a:p>
          <a:p>
            <a:r>
              <a:t>居里是活度（源有多强）的旧单位，不是剂量；说人受了多少照射，用希沃特。阅读国外文献和旧仪器时常见旧单位，要先换算再比较。个人剂量报告、监测记录和台账一律使用法定单位，并写清是哪个量。</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答案：C。解析：活度用贝可（旧单位居里），吸收剂量用戈瑞，当量剂量和有效剂量用希沃特。</a:t>
            </a:r>
          </a:p>
          <a:p>
            <a:r>
              <a:t>第 2 题 答案：B。解析：α 粒子传能线密度高、损伤密集，辐射权重因子为 20，γ 射线为 1。</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答案：A。解析：累积剂量 = 剂量率 × 时间 = 20 μSv/h × 0.25 h = 5 μSv；注意 μSv 和 mSv 差一千倍。</a:t>
            </a:r>
          </a:p>
          <a:p>
            <a:r>
              <a:t>第 4 题 答案：B。解析：平方反比定律，距离加倍，剂量率降到四分之一。</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答案：放射性物质摄入后体内持续受照，把今后一段时间（成人 50 年、儿童到 70 岁）的有效剂量累加，一次记在摄入当年；可用“摄入量 × 剂量系数”估算，查系数时核对单位前缀。解析：内照射看待积剂量，单位核对两遍。</a:t>
            </a:r>
          </a:p>
          <a:p>
            <a:r>
              <a:t>第 6 题 答案：B。解析：1 Sv = 100 rem，即 1 rem = 10 mSv，500 mrem = 0.5 rem = 5 mSv。</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灯光照到人身上，一部分被吸收，只让分子振动稍稍加剧，能量太小，打不出电子，细胞完全承受得住。α、β、γ、X 射线等电离辐射能量大，能把原子里的电子打出去。同一件事有两种说法：物理上叫电离（电子被打出），化学上叫断键（少了电子，化学键随之改变或断开）。</a:t>
            </a:r>
          </a:p>
          <a:p>
            <a:r>
              <a:t>人体细胞有细胞膜、细胞核、细胞质和各种细胞器（没有细胞壁），里面有大量种类各异的分子。由成千上万个原子连成的大分子，哪怕只断一个键，细胞的运转也可能受影响，这就是辐射损伤的开始（为什么怕的不是发热而是电离，见第 087 课）。</a:t>
            </a:r>
          </a:p>
          <a:p>
            <a:r>
              <a:t>健康物理要回答的是一串问题：哪种辐射、照到哪个器官、受了多少剂量、会出现什么效应。把源放在细胞旁边“看看会怎样”只能是思想实验，真实操作必须按规程，有屏蔽和监测。</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辐射损伤 DNA 有两条路。直接作用：射线（或它打出的电子）直接电离 DNA 分子，打断链条；高 LET 的 α 粒子等更常以这种方式造成损伤。</a:t>
            </a:r>
          </a:p>
          <a:p>
            <a:r>
              <a:t>间接作用：人体细胞的大部分是水。射线先使水分子电离、分解（水的辐射分解），生成羟基自由基（OH·，中性）等活泼的自由基；自由基扩散开来，再攻击 DNA。受 X 射线、γ 射线照射时，大部分损伤来自这条间接途径，这是体内最主要的作用方式。</a:t>
            </a:r>
          </a:p>
          <a:p>
            <a:r>
              <a:t>无论哪条路，如果细胞能把损伤修好，就不会留下影响；修不好，才会出现后面各知识点讲的效应。</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 DNA 想成一架梯子：两侧扶手是骨架，横档是碱基对。只断一侧扶手叫单链断裂，数量多，但细胞可以照着另一条链当模板补好，几乎都能修复。两侧扶手在同一处一起断，叫双链断裂，数量少却难修，细胞死亡和突变多由它引起。</a:t>
            </a:r>
          </a:p>
          <a:p>
            <a:r>
              <a:t>DNA 的损伤不只是断链，还有碱基损伤、链与链之间的交联。高传能线密度（LET）的辐射（如 α 粒子）一路密集撞击，在很短一段 DNA 上挤着多处断口和损伤，叫成簇损伤，细胞很难修好，所以同样吸收剂量下 α 造成的 DNA 损伤最严重（LET 的概念见第 087 课）。</a:t>
            </a:r>
          </a:p>
          <a:p>
            <a:r>
              <a:t>染色体也会断裂、错误连接，形成染色体畸变；有的畸变使细胞死亡，有的能在细胞中长期保留。修错的细胞多数会死亡，少数存活下来可能发生癌变——电离辐射因此有致癌风险，照得越多风险越大。</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细胞有修复系统，大多数辐射损伤都能修好。修不好时有三种结局：一是细胞死亡，死得多了，组织和器官的功能就出问题；二是躯体效应，发生在受照者本人身上，最主要的是癌症；三是遗传效应，生殖细胞的损伤可能传给后代。</a:t>
            </a:r>
          </a:p>
          <a:p>
            <a:r>
              <a:t>断键是化学变化，会像多米诺骨牌一样传开：细胞坏了，组织、器官跟着受损，大剂量照射可能伤及全身多个器官。不过大多数物体受照没事，细胞要出现明显的急性损伤，通常要同时具备几个条件：剂量大、反复受照、受照面积大、照到敏感组织。</a:t>
            </a:r>
          </a:p>
          <a:p>
            <a:r>
              <a:t>只受外照射的人，身上不会带放射性，不会“传染”辐射，可以正常接触（被照物体一般不带放射性，见第 086 课）；只有放射性物质沾在身上或进入体内（污染、内照射）时，才需要去污和专门处理（见第 091、096 课）。</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用不同剂量照射细胞，数一数还能存活、继续增殖的细胞比例，画成细胞存活曲线：剂量越大，存活的细胞越少；曲线的形状因组织而不同，可用来预测不同剂量下的组织损伤。</a:t>
            </a:r>
          </a:p>
          <a:p>
            <a:r>
              <a:t>常用的线性二次模型把杀伤分成两部分：一部分是一次击中就致命（与剂量成正比的“线性项”），低剂量时占主导；另一部分是两处小损伤叠加成致命损伤（与剂量平方相关的“二次项”），高剂量时占主导。</a:t>
            </a:r>
          </a:p>
          <a:p>
            <a:r>
              <a:t>组织有早反应和晚反应之分：皮肤、肠道黏膜受照后较快出现损伤；脊髓、肺等的损伤要几个月甚至几年才显现，而且更怕单次大剂量。α/β 比就是衡量这种差别的参数。线性二次模型、α/β 比主要用于临床放疗的分次设计，实验室安全只需了解概念，不用它来估算个人风险。</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细胞里有没有氧，受照后的伤害大不一样。氧和自由基造成的损伤结合，把伤口“定型”，就修不回去了；缺氧时，部分断口还可能自己接回。要造成同样的损伤，缺氧细胞需要的 X、γ 射线剂量要高出约两到三倍（氧增强比）；高 LET 辐射造成的损伤本来就难修，有氧没氧差别不大。肿瘤中心常常缺氧，因此更耐受放疗——这是放疗研究的问题，实验室安全了解即可。</a:t>
            </a:r>
          </a:p>
          <a:p>
            <a:r>
              <a:t>影响细胞辐射敏感性的因素还有：年龄（越年轻越敏感）；剂量不足以杀死细胞时，细胞能自我修复（同样剂量分次或低剂量率照射，效应往往较轻）；某些化学物质能增强或减弱辐射反应。</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体的反应与受到的剂量有关，不同细胞怕辐射的程度不一样：细胞分裂越快、越不成熟、组织生长越旺盛，对辐射越敏感。淋巴细胞、骨髓造血细胞、生殖细胞（精原细胞、卵母细胞）、肠道上皮最敏感；神经、肌肉、骨骼等成熟组织相对不敏感。所以胎儿和生殖细胞要格外保护，孕早期能不做射线检查就尽量不做（医疗照射遵医嘱）。</a:t>
            </a:r>
          </a:p>
          <a:p>
            <a:r>
              <a:t>外照射时，各软组织单位质量吸收的能量相差不大，器官之间的差别主要在敏感性不同（组织权重因子见第 087 课）。内照射时，有的核素会聚集在特定器官，例如碘聚集在甲状腺、亲骨核素沉积在骨骼，该器官受照就特别多（见第 091 课）。弄清哪种辐射伤哪里，才能防得准。</a:t>
            </a:r>
          </a:p>
          <a:p>
            <a:r>
              <a:t>辐射效应有的在受照后几分钟到几天出现，有的要几个月甚至多年后才显现。</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对健康的效应分为两类。确定性效应（也称有害组织反应）源于大量细胞死亡或功能丧失，组织修补不过来，大剂量超过阈值才会出现；随机性效应源于单个细胞发生变异后存活、增殖，可能导致癌症或遗传效应，它是概率问题，所以剂量再小也不能大意。</a:t>
            </a:r>
          </a:p>
          <a:p>
            <a:r>
              <a:t>先认识两个术语：短时间内受到大剂量叫急性照射，长期反复受到小剂量叫慢性照射。急性大剂量主要担心确定性效应，长期低剂量主要担心随机性效应。</a:t>
            </a:r>
          </a:p>
          <a:p>
            <a:r>
              <a:t>辐射防护的目标正是针对这两类效应：防止确定性效应的发生，并把随机性效应的发生概率降到可以合理达到的尽量低水平（GB 18871-2002，以现行文本为准；三原则见第 089 课）。</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确定性效应像水漫过堤坝、像火柴要到燃点：剂量低于阈值时不出现；超过阈值后，剂量越大，损伤越严重。皮肤红斑、脱发、白内障、血细胞减少、不育、急性放射病都属于这一类。短时大剂量首先伤害正在分裂的细胞，血细胞、骨髓、肠道最先受影响，症状会经历几个阶段。</a:t>
            </a:r>
          </a:p>
          <a:p>
            <a:r>
              <a:t>把一群人的反应画出来，是一条 S 形的剂量—反应曲线：低于阈值没人出现；剂量升高，出现症状的人越来越多；高到一定程度，人人都会出现。判断确定性效应要用器官的吸收剂量（戈瑞），而不是用于随机性风险的当量剂量或有效剂量。</a:t>
            </a:r>
          </a:p>
          <a:p>
            <a:r>
              <a:t>阈值因人、因器官、因照射方式（一次还是分次）而不同，不能把阈值当成“安全剂量”拿来冒险，教学中也不记具体阈值数值。按规程开展的工作和规范的普通医学检查，受照剂量远低于这些阈值，不会出现确定性效应；它只在事故或严重违规时才会发生。</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确定性效应的门槛因器官而异。眼晶状体受照累积多了会变浑浊，形成白内障（潜伏期可达多年），长期做透视、介入或在射线装置旁近距离工作的人，要特别注意眼晶状体防护（如佩戴铅防护眼镜，按本校规定配备）。皮肤受照先是发红（红斑），再重会脱皮甚至溃破、脱发；手指离源太近最容易受伤，所以操作放射源要用长柄工具，不徒手接触（见第 090 课）。</a:t>
            </a:r>
          </a:p>
          <a:p>
            <a:r>
              <a:t>性腺中的生殖干细胞（精原细胞、卵母细胞）最怕辐射，较大剂量可导致暂时或永久不育。孕早期的胚胎同样特别敏感（见 K15）。</a:t>
            </a:r>
          </a:p>
          <a:p>
            <a:r>
              <a:t>射线探伤等场所的源很强：长期受照可能脱发、致癌；无关人员闯入警戒区、无证人员操作，可能在很短时间内受到大剂量照射，造成皮肤放射性烧伤，甚至危及生命。警戒区和门机联锁等管理措施见第 094 课。</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身或身体大部分在短时间内受到大剂量照射，会发生急性放射病。病程大致分为几个阶段：初期在受照后数小时内出现恶心、呕吐、乏力；接着是假愈期，症状减轻，好像好了，其实没有；之后进入极期，几周内骨髓衰竭、血细胞减少，出现感染和出血；最后是恢复期，或因病情过重死亡，结局取决于剂量和救治。</a:t>
            </a:r>
          </a:p>
          <a:p>
            <a:r>
              <a:t>按受照剂量由低到高，国内诊断标准分为骨髓型（造血功能受损）、肠型（肠道上皮被破坏）和脑型（剂量最高，几乎无法救治）（GBZ 104，以现行文本为准）。这些认识多来自历史上的核事故和核爆幸存者研究，本课不写各型的剂量数值。</a:t>
            </a:r>
          </a:p>
          <a:p>
            <a:r>
              <a:t>实验室正常工作不会接近这样的剂量，但放射源失控、丢失被捡拾、违规进入强辐射区可能导致此类事故。疑似受到大剂量照射，要立即离开、报告并就医，剂量计随人送检（见第 096 课）。大剂量照射必须杜绝。</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随机性效应像抽奖：受的剂量越大，“中签”的概率越高；但一旦发生，严重程度并不随剂量而变。受照的人发生癌症的概率比没受照的略高，例如辐射诱发的白血病、甲状腺癌等实体癌。低剂量照射时，主要担心的就是癌症和遗传效应。</a:t>
            </a:r>
          </a:p>
          <a:p>
            <a:r>
              <a:t>随机性效应和白内障等晚期效应要在受照后数月甚至多年才出现，潜伏期长，很难与吸烟、遗传、环境等其他原因区分开。防护上认为它没有阈值，看的是累积的总剂量：剂量会累积，一点点也会攒起来，所以别把小剂量当成没剂量。</a:t>
            </a:r>
          </a:p>
          <a:p>
            <a:r>
              <a:t>衡量随机性风险要用当量剂量和有效剂量（希沃特，见第 087 课）。风险虽低，也要按规矩防护，个人剂量计按规定佩戴、定期送检（见第 092、093 课）。</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剂量和效应的关系常用几种模型描述：有阈模型（剂量过了门槛才出现效应，适用于确定性效应）；线性无阈模型（从零开始的一条直线，任何剂量都可能有效应）；非线性模型（弯曲的曲线）。</a:t>
            </a:r>
          </a:p>
          <a:p>
            <a:r>
              <a:t>低剂量下的风险很难直接观察，辐射防护采用谨慎的线性无阈假设：随机性风险与剂量成正比，再小的剂量也不当作零风险。风险系数用来估算人群的癌症风险，本课不写具体数值。这是为了防护决策而做的保守假设，不等于“一点点辐射就一定致病”，不必恐慌，但也不能大意。</a:t>
            </a:r>
          </a:p>
          <a:p>
            <a:r>
              <a:t>由此得出的结论是：照得越多风险越大，能少则少——在满足工作需要的前提下，把受照剂量控制在合理可行尽量低的水平（最优化原则，见第 089 课）。</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生在受照者本人身上的是躯体效应，通过生殖细胞传给子女的是遗传效应。遗传效应按无阈处理，任何剂量都认为有一定风险；但在人群中，辐射诱发的遗传效应很少见，风险比致癌低，相关估计主要从动物实验数据推断。</a:t>
            </a:r>
          </a:p>
          <a:p>
            <a:r>
              <a:t>“辐射会影响以后生孩子吗？”——辐射可能损伤生殖细胞的 DNA，但遗传影响的机会很小；按规程开展的长期低剂量工作，一般不影响生育力。女性的卵细胞出生后不再更新，受到的影响会累积，所以照射仍要尽量低。有疑问时向导师、学院辐射安全管理人员或职业健康检查医生咨询。</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不同人群对辐射的敏感程度不同，胚胎和胎儿最敏感。孕早期，尤其是最初几周最敏感；器官形成期受照，可能影响器官发育、导致畸形；宫内受照还会使儿童期白血病等癌症的风险略有上升。</a:t>
            </a:r>
          </a:p>
          <a:p>
            <a:r>
              <a:t>女性辐射工作人员（含学生）知道自己怀孕后，应及时告知导师和学院辐射安全管理人员，以便调整工作安排、加强剂量控制，保护胚胎和胎儿（孕期剂量控制要求按 GB 18871-2002，以现行文本为准，见第 089 课）。告知是自愿的，学校应保护个人隐私。孕期做医学检查前，要主动告诉医生可能怀孕。</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氡是土壤、岩石和建材中镭衰变产生的放射性气体，是天然照射中最大的一项（天然辐射源见第 085 课）。通风差的地下实验室、密闭房间，以及存放铀矿石等天然放射性样品的场所，氡浓度可能很高。氡本身吸入后大部分又被呼出，危险的是它的短寿命子体：它们附着在空气中的尘埃上，吸入后沉积在支气管上皮，放出的 α 粒子造成成簇损伤，难以修复。氡是肺癌的重要诱因之一，吸烟会使风险成倍放大。</a:t>
            </a:r>
          </a:p>
          <a:p>
            <a:r>
              <a:t>降氡措施：加强通风是最有效的一招；封堵地面和墙体裂缝；必要时在地板下减压抽气。整改后要持续监测，确认措施真的有效。室内氡浓度的控制要求以 GB/T 16146-2015（以现行文本为准）和本校规定为准；工作场所的氡按“参考水平”管理，不能直接套用公众剂量限值。用系数估算氡剂量时，要看清系数的定义和假设、停留时间怎么算。</a:t>
            </a:r>
          </a:p>
          <a:p>
            <a:r>
              <a:t>浓度超过参考水平、整改达标前，不在这里长期工作；即使没有超标，也要尽量降低（最优化）。学生对工作场所的危险因素有知情权，发现异常有权提出整改。本底辐射一直都在，不必恐慌，工作带来的额外照射才是要管住的。</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把辐射工作和其他常见职业的风险比一比：按规程工作、受照剂量控制良好的辐射工作人员，风险很小，不高于许多常见职业。正常的辐射工作和规范的医学检查，不会出现确定性效应。</a:t>
            </a:r>
          </a:p>
          <a:p>
            <a:r>
              <a:t>真正的危险来自违规：未经培训考核和授权操作放射源或射线装置、擅自闯入控制区和警戒区、源用完不清点归位、拆改屏蔽和联锁。辐射工作人员要先培训、考核合格再上岗，按规定佩戴个人剂量计、接受职业健康检查（见第 093 课），用时间、距离、屏蔽控制外照射（见第 090 课）。</a:t>
            </a:r>
          </a:p>
          <a:p>
            <a:r>
              <a:t>既不恐慌，也不大意：懂防护、守规程，才最安全。</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答案：B。解析：细胞里大部分是水，低 LET 的 X、γ 射线以间接作用为主。</a:t>
            </a:r>
          </a:p>
          <a:p>
            <a:r>
              <a:t>第 2 题 答案：A。解析：确定性效应有阈值，超过阈值后严重程度随剂量增加；随机性效应则是概率随剂量增加、严重程度与剂量无关。</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答案：C。解析：癌症和遗传效应是随机性效应；皮肤红斑、白内障、急性放射病是确定性效应。</a:t>
            </a:r>
          </a:p>
          <a:p>
            <a:r>
              <a:t>第 4 题 答案：A。解析：细胞分裂越快越敏感，淋巴、造血、生殖细胞最敏感。</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答案：B。解析：线性无阈假设认为再小的剂量也有一定风险，低于限值也要合理可行尽量低（最优化）。</a:t>
            </a:r>
          </a:p>
          <a:p>
            <a:r>
              <a:t>第 6 题 答案：地下、密闭场所氡容易积聚，其子体附在尘埃上被吸入，α 粒子损伤支气管上皮，是肺癌诱因之一，吸烟使风险成倍放大；应加强通风、封堵裂缝、必要时地板下抽气，并持续监测，达标前不长期驻留。解析：通风是最有效的降氡措施。</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 射线和放射性被发现后的早年，放射诊断和科研中发生过很多超剂量照射事故，人们由此建立了国际上的辐射防护组织和防护建议，各国据此制定本国标准。我国的基本标准是 GB 18871-2002（以现行文本为准）《电离辐射防护与辐射源安全基本标准》。</a:t>
            </a:r>
          </a:p>
          <a:p>
            <a:r>
              <a:t>辐射防护的目的，针对的正是两类效应（见第 088 课）：防止有阈值的确定性效应发生；把没有阈值的随机性效应的发生概率限制到可以合理达到的尽量低水平。</a:t>
            </a:r>
          </a:p>
          <a:p>
            <a:r>
              <a:t>确定性效应靠把剂量控制在远低于阈值的水平来杜绝；剂量限值主要是为了把随机性效应（“抽奖”）的风险管在可以接受的范围内。</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际上新的防护体系按照射发生的情况分为三类：计划照射（按计划引入和使用放射源、射线装置开展工作，事先就能设计防护）；应急照射（事故等意外情况，需要马上采取行动）；现存照射（在决定管控之前就已经存在的照射，如天然本底、建筑物和地下场所中的氡）。</a:t>
            </a:r>
          </a:p>
          <a:p>
            <a:r>
              <a:t>GB 18871-2002（以现行文本为准）用“实践”和“干预”的说法：开展辐射工作属于实践，按三原则和剂量限值管理；应急照射和氡等持续照射属于干预的范围，用干预水平、行动水平等管理。两种说法对应的思路一致：计划内的工作照射用剂量限值管；事故和已有的照射用参考水平或行动水平判断是否需要采取措施（见 K11）。</a:t>
            </a:r>
          </a:p>
          <a:p>
            <a:r>
              <a:t>实验室的日常辐射工作都属于计划照射；放射源丢失、卡源、洒漏等辐射事故的应急处置见第 096 课，地下场所的氡见第 088 课。</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18871-2002（以现行文本为准）规定了辐射防护三原则：</a:t>
            </a:r>
          </a:p>
          <a:p>
            <a:r>
              <a:t>1. 实践的正当性：任何伴有辐射照射的实践，都要利大于弊，带来的利益足以弥补可能造成的危害，才可以开展。</a:t>
            </a:r>
          </a:p>
          <a:p>
            <a:r>
              <a:t>2. 防护与安全的最优化：在考虑经济和社会因素的前提下，使个人剂量的大小、受照人数和受照的可能性都保持在可合理达到的尽量低水平（合理可行尽量低）。</a:t>
            </a:r>
          </a:p>
          <a:p>
            <a:r>
              <a:t>3. 个人剂量限值：个人受到的照射不得超过国家规定的剂量限值。</a:t>
            </a:r>
          </a:p>
          <a:p>
            <a:r>
              <a:t>剂量限值只适用于计划内的工作照射（职业照射和公众照射）。病人接受的诊断和治疗照射属于医疗照射，不用剂量限值来管，而是靠正当性判断和最优化（如诊断参考水平/指导水平）来控制。合理可行尽量低既是原则，也是法规的要求。</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当性要求先问“值不值”。在实验室，设计实验时要先考虑：能否用荧光、化学发光等非放射性方法达到同样的目的？能否用活度更低的源、更短的照射时间？确有必要使用放射性物质或射线装置时，才申请、审批后开展（许可与审批见第 093 课）。</a:t>
            </a:r>
          </a:p>
          <a:p>
            <a:r>
              <a:t>医疗检查同样有剂量，也要有正当理由。个人不要盲目要求多做 X 射线、CT 等检查；医生判断需要时，检查带来的诊断收益远大于风险，不必害怕。</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低于剂量限值，就可以放心了吗？不。最优化原则要求在限值以下继续把剂量降到合理可行尽量低（国际上常称 ALARA）。“合理可行”是指同时考虑经济和社会因素：不是不计代价地追求零剂量，而是在投入和效果之间找到合理的平衡点，能以合理代价降低的剂量就应当降低。</a:t>
            </a:r>
          </a:p>
          <a:p>
            <a:r>
              <a:t>外照射防护的三把钥匙是时间、距离和屏蔽：减少受照时间、增大与源的距离、在人和源之间设置合适的屏蔽（见第 090 课）；内照射还要防止放射性物质进入体内（见第 091 课）。</a:t>
            </a:r>
          </a:p>
          <a:p>
            <a:r>
              <a:t>最优化要落实到人和制度：操作人员懂行、导师和实验室负责人尽责、学校有完善的辐射安全管理制度和培训（见第 093 课）。</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剂量限值是在收益和风险之间权衡后定出的。国际组织的建议只是建议，各国据此制定自己的标准；随着研究数据更新，限值曾多次下调。国内以 GB 18871-2002（以现行文本为准）和主管部门的规定为准，国外资料中的数值（包括国外的年限值、孕期限值）不能直接套用。</a:t>
            </a:r>
          </a:p>
          <a:p>
            <a:r>
              <a:t>限值分两类人：职业人员（辐射工作人员）和公众。限值管的是工作带来的额外剂量，不包括天然本底照射，也不包括本人作为病人接受的医疗照射。</a:t>
            </a:r>
          </a:p>
          <a:p>
            <a:r>
              <a:t>除了全身的有效剂量限值，还对眼晶状体、皮肤、手和足（四肢）的当量剂量分别规定了年限值，因为这些部位可能局部受照较多（见 K10）。职业人员的有效剂量限值既有多年平均值，也有任何单年的上限；公众的限值低得多。</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18871-2002（以现行文本为准）规定的职业照射剂量限值：由审管部门决定的连续 5 年的年平均有效剂量不超过 20 mSv，且任何一年的有效剂量不超过 50 mSv；眼晶状体的年当量剂量不超过 150 mSv；四肢（手和足）或皮肤的年当量剂量不超过 500 mSv。</a:t>
            </a:r>
          </a:p>
          <a:p>
            <a:r>
              <a:t>眼晶状体的限值，国际上因研究发现白内障比原先认为的更容易发生，已建议大幅下调。国内以现行国家标准和主管部门的要求为准；无论数值如何，经常近距离操作源或射线装置的人员都要重视眼晶状体防护（见第 088 课）。</a:t>
            </a:r>
          </a:p>
          <a:p>
            <a:r>
              <a:t>天天和放射性物质打交道的人员，全身和手部都要监测，按规定佩戴个人剂量计（必要时加戴指环剂量计），由有资质的机构定期检测（见第 092 课）。</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用放射源、射线装置做实验的研究生和科研人员，属于辐射工作人员（职业人员），要经过培训、懂规则、佩戴个人剂量计；公众不了解辐射工作，也没有监测，所以适用低得多的限值。</a:t>
            </a:r>
          </a:p>
          <a:p>
            <a:r>
              <a:t>GB 18871-2002（以现行文本为准）规定：年龄为 16–18 岁、在学习过程中需要使用放射源的学生（以及接受涉及辐射照射的就业培训的徒工），年有效剂量不超过 6 mSv，眼晶状体年当量剂量不超过 50 mSv，四肢或皮肤年当量剂量不超过 150 mSv。未满 16 岁的人员不得接受职业照射。</a:t>
            </a:r>
          </a:p>
          <a:p>
            <a:r>
              <a:t>公众成员的年有效剂量不超过 1 mSv（特殊情况下，如果连续 5 年的年平均不超过 1 mSv，某一单一年份可提高到 5 mSv）；眼晶状体年当量剂量不超过 15 mSv，皮肤年当量剂量不超过 50 mSv。实验室周围的其他师生、访客都按公众对待，辐射工作场所的设计和管理要保证他们的受照远低于此。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剂量限值不是“安全线”，更不是每年可以用完的额度：它是不可接受与可以容忍之间的界线，接近限值本身就说明防护有问题。一年受多少照射才“安全”？没有绝对安全的剂量（线性无阈假设，见第 088 课），只有不得超过的限值；限值以内，还要尽量再低。</a:t>
            </a:r>
          </a:p>
          <a:p>
            <a:r>
              <a:t>按规程工作的辐射工作人员，实际受照通常远低于限值。例如核医学运动负荷试验室等岗位的人员，即使病人多，受照一般也很低。个人剂量明显升高时，要查找原因（见 K13）。</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有效剂量反映全身风险；手持样品、靠近源操作时，手部和皮肤的当量剂量可能比全身高得多。所以全身的数字没超，局部却可能超了，手和皮肤要按四肢或皮肤的限值单独核对（必要时佩戴指环剂量计）。</a:t>
            </a:r>
          </a:p>
          <a:p>
            <a:r>
              <a:t>发现个人剂量超过限值或明显异常，要立即报告导师、学院和学校辐射安全管理部门，查明原因、采取整改措施，按规定处理和记录（报告程序见第 093、096 课）。</a:t>
            </a:r>
          </a:p>
          <a:p>
            <a:r>
              <a:t>用源之前，先弄清是什么核素、发出什么射线、活度多大，才能选对防护方法（射线的性质见第 086 课）。</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剂量限值是计划照射中个人受照的硬上限，针对所有相关实践的总剂量。剂量约束是针对某一个源或某一项工作，在最优化时事先设定的、比限值更低的个人剂量上界，用来保证一个人即使同时从事几项工作，总剂量也不会超过限值。</a:t>
            </a:r>
          </a:p>
          <a:p>
            <a:r>
              <a:t>参考水平用于应急照射和现存照射：剂量或浓度超过它，就要采取行动（如撤离、整改、降氡）；GB 18871-2002（以现行文本为准）中相应的有干预水平、行动水平等规定。三道线的具体数值以现行标准和本校规定为准。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胚胎和胎儿对辐射特别敏感，孕早期尤甚（见第 088 课）。女性辐射工作人员（含学生）知道或怀疑自己怀孕，应尽早告知导师和学院辐射安全管理人员，必要时就医确认；学校对个人信息保密。</a:t>
            </a:r>
          </a:p>
          <a:p>
            <a:r>
              <a:t>按 GB 18871-2002（以现行文本为准），用人单位接到告知后，要评估岗位、改善工作条件，使胚胎和胎儿得到与公众成员相同的防护水平；不得以怀孕为由拒绝女性工作人员继续工作。守住要求，可以按安排继续工作；具体做法以本校规定为准。</a:t>
            </a:r>
          </a:p>
          <a:p>
            <a:r>
              <a:t>如果发现孕期人员所在位置剂量偏高，先把人调离——这一步马上就能做；加固屏蔽需要时间，随后跟上。病人或自己做 X 射线检查前，要先告诉医生是否怀孕或在哺乳期（核医学检查与哺乳有关）。</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每一项辐射工作在开展前都要做照射评估：估算工作人员和周围公众可能受到的剂量，确定防护措施和分区；工作开始后定期复核，结合个人剂量监测和场所监测结果，看防护措施是否到位（风险评估方法见第 014 课）。</a:t>
            </a:r>
          </a:p>
          <a:p>
            <a:r>
              <a:t>剂量的“测”与“算”是防护的另一根支柱：体外照射用个人剂量计测量（见第 092 课）；体内照射靠生物样品、体外测量和器官模型、半衰期来估算（见第 087 课）。限值和最优化划出边界，物理测量和生物学知识共同守护人的安全。</a:t>
            </a:r>
          </a:p>
          <a:p>
            <a:r>
              <a:t>照射偏高时，从三方面整改：改进设备（如加装屏蔽、更换低活度源）、加强防护（工具、距离、个人防护）、调整管理和排班（缩短时间、轮换岗位）。</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18871-2002（以现行文本为准）要求把辐射工作场所分为控制区和监督区。控制区是需要和可能需要专门防护手段或安全措施的区域，用来控制正常工作时的照射、防止污染扩散，并预防或限制潜在照射；控制区边界要有醒目的电离辐射警告标志，出入口实行门禁等进出控制，只允许经培训、授权并按规定佩戴个人剂量计的人员进入。</a:t>
            </a:r>
          </a:p>
          <a:p>
            <a:r>
              <a:t>监督区是未定为控制区、通常不需要专门防护措施，但需要经常对职业照射条件进行监督和评价的区域，边界也要设置标识。控制区不是谁都能进去干活的地方，参观、维修等外来人员要经批准并有人陪同。射线装置的门机联锁、工作状态指示灯和警戒区管理见第 094 课。</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答案：B。解析：时间、距离、屏蔽是外照射防护的三种手段，属于最优化的落实措施。</a:t>
            </a:r>
          </a:p>
          <a:p>
            <a:r>
              <a:t>第 2 题 答案：B。解析：限值是底线，不是额度；最优化要求在限值以下继续合理可行尽量低。</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答案：B。解析：1 mSv/年是公众的限值；150 mSv/年是职业人员眼晶状体的当量剂量限值。</a:t>
            </a:r>
          </a:p>
          <a:p>
            <a:r>
              <a:t>第 4 题 答案：C。解析：告知后单位改善工作条件、调整安排，并为个人信息保密；不得以怀孕为由拒绝其继续工作。</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答案：B。解析：剂量限值不适用于医疗照射，医疗照射靠正当性判断和最优化控制。</a:t>
            </a:r>
          </a:p>
          <a:p>
            <a:r>
              <a:t>第 6 题 答案：控制区需要专门的防护手段或安全措施，严格控制进出，边界设电离辐射警告标志，只允许经培训授权的人员进入；监督区通常不需要专门防护措施，但要经常对职业照射条件进行监测和评价，边界也要设标识。解析：未经培训授权不得进入控制区。</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源在体外、射线从外面照到人身上，叫外照射。控制外照射有三件法宝：时间——在源附近待得越短越好；距离——离源越远越好；屏蔽——在源和人之间放合适的吸收材料（墙、铅板、有机玻璃等）。三者都是最优化原则（合理可行尽量低）的落实手段（见第 089 课）。</a:t>
            </a:r>
          </a:p>
          <a:p>
            <a:r>
              <a:t>使用非密封（开放）放射性物质时，还要加上第四招：污染控制，防止放射性物质沾到身上或进入体内（内照射防护见第 091 课）。</a:t>
            </a:r>
          </a:p>
          <a:p>
            <a:r>
              <a:t>采取任何措施之前，先弄清是什么核素、发出什么射线、活度多大（射线的性质见第 086 课），才能选对方法。本课的计算只是为了学会判断：哪个因素影响最大、该往哪个方向改进；实际防护以仪器实测和专业人员的评估为准。</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在剂量率不变的地方，受到的剂量与停留时间成正比：剂量 = 剂量率 × 时间（见第 087 课）。待一小时是一份，待两小时就是两份；反过来，知道剂量率和允许的剂量，也能算出最多能待多久。</a:t>
            </a:r>
          </a:p>
          <a:p>
            <a:r>
              <a:t>人对辐射没有任何感觉，单次的剂量察觉不到，但会一点点累加起来。所以做完就走，不在源旁边聊天、看手机、写记录，记录和讨论到屏蔽外或远离源的地方进行。</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缩短受照时间最有效的办法是提前演练：复杂操作先用空容器、模拟源或在射线装置不出束的状态下练熟每一步，正式操作时动作熟练、一次完成。</a:t>
            </a:r>
          </a:p>
          <a:p>
            <a:r>
              <a:t>使用 X 射线装置时，管电压、管电流等功率参数调到够用就行，控制出束时间，事先核对样品和参数，避免因失误重新拍摄或重复照射。</a:t>
            </a:r>
          </a:p>
          <a:p>
            <a:r>
              <a:t>公式只是估算。操作前先用剂量率仪实测工作位置的剂量率（仪器见第 092 课），再按测得的数值安排操作时间和人员；必要时几个人轮换，分担剂量。</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点源发出的射线向四面八方散开，就像浇花的水、火堆的热，离得越远越稀。剂量率与距离的平方成反比：距离增加到 2 倍，剂量率降到 1/4；增加到 3 倍，降到 1/9。</a:t>
            </a:r>
          </a:p>
          <a:p>
            <a:r>
              <a:t>所以拉开距离是最简单、最省钱、最有效的防护之一：后退不到一倍的距离，剂量率就能降低好几倍。反过来，离源很近时，几厘米的差别就会造成剂量的巨大变化——这正是不能用手直接拿源的原因（见 K7）。</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平方反比定律可以在实验课或现场验证：在离源两个不同距离各测一次计数或剂量率（先扣除本底），两个读数之比应等于距离平方之比的倒数；距离越远，读数掉得越快。</a:t>
            </a:r>
          </a:p>
          <a:p>
            <a:r>
              <a:t>这个规律只严格适用于点源（源的尺寸远小于测量距离）且周围没有明显散射的情况。大面积的源、离源很近，或附近有墙面、台面反射散射时，实测结果与平方反比会对不上，要以实测为准。</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时间和距离不能只看一项。例如：一个人站在远处多待一会儿，另一个人凑到近处快速操作，看起来后者“时间短”，但因为剂量率随距离平方增加，离得近的人受到的剂量反而可能更多。</a:t>
            </a:r>
          </a:p>
          <a:p>
            <a:r>
              <a:t>安排工作时，要把剂量率（由距离和屏蔽决定）和停留时间结合起来比较，优先选择既能拉开距离、又能缩短时间的方案。</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取放密封源、操作放射性样品，整个过程都用长柄镊子、钳子或专用工具，不用手直接拿。手指贴着源时距离只有几毫米，按平方反比，手部受到的剂量会比隔着一段工具高得多（局部剂量限值见第 089 课）。</a:t>
            </a:r>
          </a:p>
          <a:p>
            <a:r>
              <a:t>源用完立刻放回屏蔽容器、盖好，放回指定位置并登记，不让源“裸露”在台面上。</a:t>
            </a:r>
          </a:p>
          <a:p>
            <a:r>
              <a:t>使用射线装置时，人员尽量远离源和射束，射束方向不要朝着门、窗、走廊等可能有人的地方。控制区和警戒区的划定、守护见第 094 课。</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挡在源和人之间的任何材料都会吸收一部分射线；材料越厚、越致密，挡住的越多。对 γ 射线，铅等原子序数高、密度大的材料吸收能力最强。</a:t>
            </a:r>
          </a:p>
          <a:p>
            <a:r>
              <a:t>实验室的放射源必须放在屏蔽容器或屏蔽柜里，使相邻区域（隔壁的工位、走廊）的剂量足够低。含源设备自带屏蔽，射线装置机房的墙体、门、观察窗也都有屏蔽；有的岗位还要按规定穿戴个人防护用品（见 K16）。</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屏蔽材料要按射线种类选（各种射线的穿透能力见第 086 课）：α 粒子射程很短，一张纸、皮肤表层就能挡住，外照射危害小，重点是防止进入体内；β 粒子用有机玻璃、塑料、铝等轻材料挡，强源外层再加铅（见 K10）；γ 射线和 X 射线用铅、钢、混凝土等重材料减弱；中子先用水、石蜡、聚乙烯等含氢材料减速，再加吸收中子和挡住伴生 γ 射线的材料。大型设施常用混凝土。</a:t>
            </a:r>
          </a:p>
          <a:p>
            <a:r>
              <a:t>除了时间、距离，再配上合适的屏蔽，三者一起用。屏蔽方案由专业人员设计和审核，实验人员不能擅自拆改、挪动屏蔽体。</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β 粒子带电，在物质中一路碰撞、一路减速，有一个最大射程；材料厚度超过最大射程，就能全部挡住。</a:t>
            </a:r>
          </a:p>
          <a:p>
            <a:r>
              <a:t>陷阱在于：用铅直接包住高能 β 源，β 粒子在铅中急剧减速，就像急刹车一样放出 X 射线（轫致辐射），材料原子序数越高越严重。正确的做法是“先轻后重”的双层屏蔽：内层用有机玻璃等轻材料把 β 粒子全部挡住，外层再用薄铅挡住产生的少量 X 射线。同样，挡住正电子以后，它湮灭时会放出能量更高的光子，设计屏蔽要把这类次级辐射一起考虑，常用材料有铅、钢、水、石蜡和混凝土。</a:t>
            </a:r>
          </a:p>
          <a:p>
            <a:r>
              <a:t>操作 β 源时，把有机玻璃屏蔽挡在前面，人站在屏蔽后，动作熟练、快速；做完用表面污染仪检查手套和台面有没有污染（污染检测见第 091、092 课）。</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挡 γ 射线，铅最节省空间：达到同样的减弱效果，铅的厚度只需混凝土的几分之一（具体比例随 γ 射线能量变化，以专业手册和设计计算为准）。所以源容器、屏蔽柜、局部挡板常用铅。</a:t>
            </a:r>
          </a:p>
          <a:p>
            <a:r>
              <a:t>混凝土要厚得多，但便宜、结实，还能作为建筑的承重墙，固定设施的机房墙体常用它。选铅还是混凝土，要综合考虑成本、空间、重量（楼板承重）和建筑结构，屏蔽方案由专业人员设计审核。</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半值层（HVL）是让射线强度（或剂量率）减到一半所需的材料厚度；每多一个半值层，再减一半：1 个剩 1/2，2 个剩 1/4，3 个剩 1/8……7 个半值层剩 1/128，不到百分之一。十值层（TVL）是减到十分之一所需的厚度，约等于 3.3 个半值层。</a:t>
            </a:r>
          </a:p>
          <a:p>
            <a:r>
              <a:t>半值层和十值层因材料和射线能量而不同：能量越高，所需厚度越大；同一能量下，铅的半值层比混凝土薄得多。用这两个量可以方便地比较各种材料、估算屏蔽厚度。设计屏蔽要按源可能发出的最高能量来算，宁厚勿薄。</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估算屏蔽层数的步骤：①用实测（或估算）的剂量率除以要达到的目标剂量率，得到需要减弱多少倍；②数一数要“对折”几次才能减到这么低，就是需要的半值层数；③算出的层数带小数时，要往多里取整；④层数乘以该材料、该能量下每个半值层的厚度，就是所需屏蔽厚度。</a:t>
            </a:r>
          </a:p>
          <a:p>
            <a:r>
              <a:t>例如：某位置剂量率是目标值的 8 倍，需要 3 个半值层（2×2×2 = 8）；是目标值的 100 倍，6 个半值层只减到 1/64 不够，要取 7 个（1/128）。</a:t>
            </a:r>
          </a:p>
          <a:p>
            <a:r>
              <a:t>这样算出的只是估计值（见 K14）。正式的屏蔽设计还要考虑工作量、居留因子、散射和泄漏辐射，由专业人员完成，建成后实测验证（见 K15）。</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值层的简单计算假设的是理想的“窄束”：一束很细的射线穿过屏蔽体，被散射的射线都离开了。现实中多是“宽束”，射线会在屏蔽体内和周围物体上散射，一部分散射线又回到人这一侧，所以厚屏蔽后的实际剂量总比简单估算的高；实验曲线和计算对不上，常常是散射在起作用。</a:t>
            </a:r>
          </a:p>
          <a:p>
            <a:r>
              <a:t>自己按公式算的结果和专业手册查到的数据也会有差别。设计屏蔽要把散射考虑进去，并留有余量；屏蔽建成、源放好后，一定要用仪器实测屏蔽外的剂量率，以实测为准。</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射线装置机房的屏蔽设计，要算机器的工作量（用多少）、相邻区域的居留情况（隔壁是办公室、走廊还是仓库，有人待多久）以及墙体要挡多少。例如 X 射线机房隔壁是办公室，算下来原来的普通墙体可能远远不够。</a:t>
            </a:r>
          </a:p>
          <a:p>
            <a:r>
              <a:t>新建、改建、扩建辐射工作场所，防护设施要与主体工程同时设计、同时施工、同时投入使用；按规定办理环境影响评价，建成后经检测、验收合格才能使用（以现行规定为准，许可见第 093 课）。含源设备和射线装置到货后，由专业人员验收检测；屏蔽设施要定期检测。</a:t>
            </a:r>
          </a:p>
          <a:p>
            <a:r>
              <a:t>屏蔽设施先设计好，再按要求施工。装修改造、开孔布线、更换门窗时，不能随便破坏屏蔽墙和防护门，确需改动要先报学校辐射安全管理部门。</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使用射线装置时，用准直器、限束器把射束限制在需要照射的范围内，减少散射。有屏蔽机房的就在机房里操作；确需在机房外（如现场探伤）使用的，要严格划区管控（见第 094 课）。</a:t>
            </a:r>
          </a:p>
          <a:p>
            <a:r>
              <a:t>铅围裙、铅围脖等个人防护用品，主要用于减弱 X 射线检查中的散射线和低能射线，对高能 γ 射线的作用很有限，不能代替时间、距离和屏蔽。铅衣要挂在专用衣架上，不要折叠或重压；定期检查，发现裂缝、破损就停用更换（个人防护用品要求以 GBZ 130 等现行标准为准）。</a:t>
            </a:r>
          </a:p>
          <a:p>
            <a:r>
              <a:t>没有日常吃了就能“防辐射”的药或保健品。碘化钾片只用于核事故应急，按政府指令服用，只保护甲状腺；不要自行服药，有疑问问医生。</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眼晶状体对辐射敏感（见第 088 课），近距离操作源、β 源或在射线装置旁工作时，按要求戴防护眼镜（铅眼镜或有机玻璃面屏，按射线种类选）。</a:t>
            </a:r>
          </a:p>
          <a:p>
            <a:r>
              <a:t>手离源最近，局部剂量可能远高于全身，按要求佩戴指环剂量计，单独核对手部剂量（见第 089、092 课）。戴手套既防污染，也提醒自己不直接用手接触；配合长柄工具，让手离源远一些。</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答案：B。解析：平方反比定律，距离加倍，剂量率降到四分之一。</a:t>
            </a:r>
          </a:p>
          <a:p>
            <a:r>
              <a:t>第 2 题 答案：B。解析：β 粒子打在铅上会产生轫致辐射（X 射线），应先用有机玻璃等轻材料挡住 β，外层再加薄铅。</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答案：C。解析：6 个半值层剩 1/64，不够；7 个剩 1/128，满足要求，层数要往多里取整。</a:t>
            </a:r>
          </a:p>
          <a:p>
            <a:r>
              <a:t>第 4 题 答案：B。解析：手离源越近受照越多；屏蔽不能擅自拆改；铅衣挡不住强 γ 射线。</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答案：B。解析：计算只是估计，宽束散射使实际剂量偏高，建成后要实测验证，以实测为准。</a:t>
            </a:r>
          </a:p>
          <a:p>
            <a:r>
              <a:t>第 6 题 答案：时间——先用模拟源演练、做完就走；距离——用长柄工具、多退几步；屏蔽——按射线种类选材料，源放在屏蔽容器里。解析：三者要结合起来，并先实测剂量率再安排工作。</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非密封源（开放型放射性物质）是没有包壳、可以直接分取的放射性溶液、粉末或气体，如标记实验用的放射性核素溶液。它和密封源最大的不同是：会洒漏、会挥发、会沾到手套、台面和仪器上，造成放射性污染。</a:t>
            </a:r>
          </a:p>
          <a:p>
            <a:r>
              <a:t>放射性物质进入人体的途径主要有四条：吸入（挥发的蒸气、粉末和气溶胶）、食入（沾污的手接触食物、饮料或嘴）、经伤口进入（破损皮肤、被沾污的锐器刺伤）、经皮肤吸收（某些化合物能透过完好皮肤）。进入体内后就形成内照射：放射性物质留在器官里持续照射，时间、距离、屏蔽都用不上，只能等它衰变和排出（内照射剂量的估算见第 087 课）。</a:t>
            </a:r>
          </a:p>
          <a:p>
            <a:r>
              <a:t>α 射线在体外一张纸就能挡住，对外照射几乎不构成威胁；但 α 核素一旦被吸入、吃进或从伤口进入体内，能量集中沉积在很小的范围内，危害很大（见第 086 课）。所以非密封源的防护重点，是在外照射防护（见第 090 课）之外，再加上防止摄入和控制污染。</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使用非密封放射性物质的场所，要经过辐射安全许可和环境影响评价等审批（见第 093 课），并按 GB 18871-2002（以现行文本为准）根据操作量对非密封源工作场所分级管理。操作只能在批准的指定区域内进行，不得在普通实验台、办公区随意分装和使用。</a:t>
            </a:r>
          </a:p>
          <a:p>
            <a:r>
              <a:t>场所的台面、地面、墙面要光滑、不渗透、无缝隙，便于擦拭去污；工作台面可加铺可更换的覆盖材料。易挥发的放射性物质（如可能释放放射性碘的操作）、粉末、可能产生气溶胶的操作，要在适合放射性操作的专用通风柜或手套箱内进行：柜体材料不渗透、易去污，排风按规定设置过滤和监测（通风柜的一般使用见第 051 课；核医学和放射性药物场所的通风要求见 HJ 1188-2021 和第 095 课）。</a:t>
            </a:r>
          </a:p>
          <a:p>
            <a:r>
              <a:t>工作区边界设置电离辐射警告标志，区内只放本次操作需要的物品，不放与工作无关的书本、个人物品，减少被沾污的东西。</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所有开放操作都在托盘里进行：托盘里铺一层吸水纸（一面吸水、一面防水，吸水面朝上），万一洒漏，液体被吸住、只留在托盘里，便于收拾，也不会污染整张台面。吸水纸沾污后当作放射性废物更换。</a:t>
            </a:r>
          </a:p>
          <a:p>
            <a:r>
              <a:t>个人防护用品是防护的一环：穿实验服（长袖、扣好），戴一次性手套（必要时双层，外层沾污随时更换），戴护目镜；可能沾污地面时穿鞋套。防护用品只在工作区内穿戴，不穿出工作区。β 核素操作时还要按需要使用合适的屏蔽和夹持工具（见第 090 课）。</a:t>
            </a:r>
          </a:p>
          <a:p>
            <a:r>
              <a:t>课堂演示用到放射性试剂或源时同样要防护：演示者穿实验服、戴手套，开放的试剂放在托盘里操作；观看的同学站在警戒线外；演示完立即把源或试剂收回屏蔽容器，清点数量后归还。</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防止食入最简单也最有效的办法是良好的卫生习惯：放射性工作区内禁止饮食、饮水、吸烟、化妆（包括涂唇膏、戴隐形眼镜），食品、饮料和餐具不得带入，也不得存放在实验用冰箱里。勤洗手。</a:t>
            </a:r>
          </a:p>
          <a:p>
            <a:r>
              <a:t>绝不用嘴吸移液管，一律使用移液器或洗耳球等辅助器具。戴着手套时不摸脸、不揉眼、不碰手机、门把手和公用键盘；需要接触公用物品时先摘外层手套。</a:t>
            </a:r>
          </a:p>
          <a:p>
            <a:r>
              <a:t>手上有伤口、皮肤破损时，不要操作开放型放射性物质；工作中被可能沾污的锐器刺伤或划伤，要立即报告并按应急程序处理（见第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结束后先做自检：用表面污染监测仪检查双手、衣袖、衣服前襟、鞋底和工作台面、托盘周围、地面。测量时探头贴近被测表面、但不接触（防止探头被沾污），慢慢移动；读数明显高于本底时说明有污染（仪器的选择、本底和读数见第 092 课）。</a:t>
            </a:r>
          </a:p>
          <a:p>
            <a:r>
              <a:t>离开工作区前：按规定顺序摘手套和防护用品，用肥皂和流水洗手，再测一次手和鞋，确认无污染后才离开。</a:t>
            </a:r>
          </a:p>
          <a:p>
            <a:r>
              <a:t>有些污染（如低能 β 核素）用仪器直接测不灵敏，要用擦拭法：用滤纸或棉签擦拭一定面积的表面，再把擦拭样品送测，可以发现看不见的松散污染。实验室和辐射安全管理人员按规定定期对工作场所做擦拭检测和巡测，检查有无滴漏和污染，结果记录存档；表面污染控制水平以 GB 18871-2002（以现行文本为准）和本校规定为准。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发现污染，第一步是停下：不要走动、不要用沾污的手去碰别的东西，防止扩散。液体洒漏先用吸水纸盖住，标出污染范围，提醒周围的人不要踩过；必要时脱下沾污的外层手套、鞋套和实验服留在原地。</a:t>
            </a:r>
          </a:p>
          <a:p>
            <a:r>
              <a:t>立即报告实验室负责人和学院、学校辐射安全管理人员，说明核素、大致活度、位置和有无人员沾污。</a:t>
            </a:r>
          </a:p>
          <a:p>
            <a:r>
              <a:t>小范围污染按本实验室规程去污：戴好防护，用湿的吸水纸或去污剂从污染区外缘向中心擦拭，避免把污染扩大；擦过的纸、手套都作放射性废物处理。皮肤沾污时用温水和中性肥皂轻轻清洗，不要用力刷洗、不用有机溶剂，以免皮肤破损增加吸收；伤口沾污要及时报告并就医。去污后复测，确认达到要求并记录。大面积洒漏、人员明显沾污或去污无效时，按辐射事故应急程序处置（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实验室里的放射性不只来自购买的放射性同位素。硝酸铀酰、醋酸铀酰（电镜负染色常用）、硝酸钍等含铀、含钍的化学试剂，以及含铀、含钍的矿石和地质样品，都有天然放射性。</a:t>
            </a:r>
          </a:p>
          <a:p>
            <a:r>
              <a:t>这类物品要按学校规定登记，专柜存放、标识清楚，领用和归还都要登记，用多少领多少；操作时同样戴手套、在托盘里进行，防止粉末吸入和沾污。产生的废液、废渣和沾污物品按放射性废物管理，不倒入下水道、不混入化学废物（是否属于豁免或解控范围由辐射安全管理部门判定，以现行规定和本校规定为准）。</a:t>
            </a:r>
          </a:p>
          <a:p>
            <a:r>
              <a:t>地下实验室要关注通风，必要时按规定检测氡（氡的健康风险见第 088 课）。</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只要使用放射性物质，就一定会产生放射性废物：接触过它的吸头、试管、手套、吸水纸、擦拭物和剩余溶液都被沾污了。放射性废物的暂存和处置成本高、周期长，最好的办法是从源头少产生。</a:t>
            </a:r>
          </a:p>
          <a:p>
            <a:r>
              <a:t>源头减量的做法：设计实验时按需领用，选用活度合适、半衰期较短的核素（见第 089 课正当性和最优化）；在托盘里操作，少沾污就少废物；外包装、说明书、没有接触放射性的物品不放进放射性废物桶；不用一次性物品的地方尽量少用。减量也是《放射性废物安全管理条例》（以现行文本为准）对产生单位的要求。</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沾有放射性的废物（擦拭物、手套、吸头、吸水纸、剩余溶液等）一律放进带电离辐射警告标志的专用容器，单独收集；不得混入普通生活垃圾、化学废物或医疗废物，也不得自行焚烧、填埋（实验室废物总体分类见第 053 课）。</a:t>
            </a:r>
          </a:p>
          <a:p>
            <a:r>
              <a:t>放射性废液不得倒入下水道或水槽，按核素收集在专用的防漏容器中，放在托盘或二次容器里。</a:t>
            </a:r>
          </a:p>
          <a:p>
            <a:r>
              <a:t>分类收集是后续暂存和处置的前提：固体、液体、锐器（针头、玻璃）分开；不同核素分开，特别是短半衰期和长半衰期的分开，便于短半衰期废物衰变暂存（见 K14）；同时含放射性和感染性或化学危险性的混合废物要单独标明，按本校规定处理。</a:t>
            </a:r>
          </a:p>
          <a:p>
            <a:r>
              <a:t>防护不止为了自己，也为了公众和环境：放射性物品和废物不得带出工作场所；排风、排水按规定处理和监测。</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放射性废物容器要专用、结实、防漏，带盖（最好脚踏开盖，避免用手碰），外面有电离辐射警告标志；按需要放在屏蔽容器或屏蔽箱里。不用时盖严。</a:t>
            </a:r>
          </a:p>
          <a:p>
            <a:r>
              <a:t>每袋、每桶废物都要贴标签，如实填写核素名称、估计活度、废物类型、日期、所属实验室和责任人。如实填写是后续核对、计算衰变时间和处置的依据：接手的人要靠标签判断里面是什么、有多少放射性。</a:t>
            </a:r>
          </a:p>
          <a:p>
            <a:r>
              <a:t>容器外表面不能沾污，装袋时不要撑破袋子；锐器放进防刺穿容器。袋子或桶装到规定的程度后封口、密封，贴上规定的标志和标签，再交给专人收集。</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用放射性核素做动物示踪实验后，动物体内带有核素，会随排泄物排出。给药后的动物应在指定区域饲养，笼具、垫料、排泄物都可能带有放射性。</a:t>
            </a:r>
          </a:p>
          <a:p>
            <a:r>
              <a:t>这类废物收进专用的放射性废物袋，标明核素、日期和实验室；不得混入普通垃圾、下水道，动物尸体不得放进普通的动物尸体冷柜。动物尸体放进带标志的专用冷柜暂存，登记后按放射性废物的规定衰变或送贮处理；同时具有感染性的，还要满足生物安全的要求（实验动物安全见第 084 课）。</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实验室的放射性废物由学校指定的专人定期上门收集，送到专用的放射性废物暂存间，实验室人员不自行搬运到校内其他地方。</a:t>
            </a:r>
          </a:p>
          <a:p>
            <a:r>
              <a:t>收集时先检查、评估：看清是什么核素、什么类型的废物，包装是否完好、标签是否完整，再分别装入相应的专用容器封装。专业人员要用仪器再测一遍，核对实验室在标签上登记的核素和活度，做到每个桶里有多少放射性都心中有数；测量结果与标签明显不符时，要查明原因。</a:t>
            </a:r>
          </a:p>
          <a:p>
            <a:r>
              <a:t>收集、搬运废物要穿戴防护用品，用推车、夹持工具搬运，不要抱在怀里贴身搬运；转运路线避开人员密集处。搬运结束后检查手和鞋有无沾污。放射性物品出校运输按 GB 11806-2019（以现行文本为准）《放射性物品安全运输规程》由有资质的单位进行。</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放射性废物暂存间（库）要专用，防火、防水、防盗、防丢失，上锁并设电离辐射警告标志；按需要设置屏蔽和通风，周围剂量率满足要求；无关人员不得进入。</a:t>
            </a:r>
          </a:p>
          <a:p>
            <a:r>
              <a:t>暂存的废物要建立台账：入库、出库登记核素、活度、日期、来源实验室，定期清点，做到账物相符（辐射安全台账见第 093 课）。</a:t>
            </a:r>
          </a:p>
          <a:p>
            <a:r>
              <a:t>暂存只是过渡：废物在送出之前存放期间，安全和安保永远第一。教学楼、实验楼是为教学、科研和服务设计的，不是长期贮存放射性废物的仓库；暂存超过规定期限或不具备暂存条件的，要及时衰变解控或送贮。</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放射性会按半衰期自然衰减（见第 086 课）。短半衰期核素的废物，可以按核素分开，放在暂存间里衰变暂存：半衰期越短，需要存放的时间越短；半衰期长的核素存放时间很长，通常不适合衰变处理。</a:t>
            </a:r>
          </a:p>
          <a:p>
            <a:r>
              <a:t>暂存期满后，要用仪器监测，确认放射性降到国家标准规定的清洁解控水平以下，经学校辐射安全管理部门审核批准后，才能按普通废物（或按其化学、生物危险性对应的废物类别）处理；解控前去除或涂掉辐射标志。暂存时间、解控水平和程序以 GB 18871-2002（以现行文本为准）、HJ 1188-2021（核医学场所）、主管部门要求和本校规定为准，实验室不能自己说了算。</a:t>
            </a:r>
          </a:p>
          <a:p>
            <a:r>
              <a:t>衰变暂存、监测和解控的全过程都要记录归档。</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能衰变解控的放射性废物（如长半衰期核素的废物、废旧放射源以外的其他放射性固体废物），按《放射性污染防治法》《放射性废物安全管理条例》（以现行文本为准）的要求，由学校统一送交有资质的放射性废物贮存或处置单位收贮（如所在省份的放射性废物库），办理转移手续；废旧放射源按规定交回生产单位或送贮（见第 094 课）。</a:t>
            </a:r>
          </a:p>
          <a:p>
            <a:r>
              <a:t>这不是一家单位的难题，做医学研究、临床和科研的地方都会遇到。放射性物质的安保要求越来越高，把废物集中到按安全和安保要求设计的专门设施，比分散存放在各楼里更稳妥。</a:t>
            </a:r>
          </a:p>
          <a:p>
            <a:r>
              <a:t>实验室产生的放射性废物大多是干燥的固体（手套、吸头、吸水纸），活度低，外面层层包装。了解清楚是什么，才能消除误解；既不随意处置，也不必恐慌。</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答案：D。解析：屏蔽针对外照射；非密封源的主要风险是沾污和摄入，手套等防护不能省。</a:t>
            </a:r>
          </a:p>
          <a:p>
            <a:r>
              <a:t>第 2 题 答案：B。解析：α 核素一旦吸入、食入或经伤口进入体内，危害很大，重在防止摄入。</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答案：B。解析：先防扩散，再报告，按规程由外向内去污，复测确认并记录；大面积洒漏按应急程序处置。</a:t>
            </a:r>
          </a:p>
          <a:p>
            <a:r>
              <a:t>第 4 题 答案：C。解析：放射性废物单独收集、不进下水道；解控要监测、批准和记录；长半衰期废物交有资质单位收贮。</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答案：B。解析：标签要如实写明核素、活度、日期、实验室和责任人，接手的人才能核对和计算暂存时间。</a:t>
            </a:r>
          </a:p>
          <a:p>
            <a:r>
              <a:t>第 6 题 答案：短半衰期废物可以衰变暂存，到期监测达标、经批准后解控；长半衰期废物需要交有资质的单位收贮。混在一起，短半衰期的废物也无法解控，增加处置量和成本。解析：分类收集是衰变暂存和处置的前提。</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电离辐射无色、无味、无声，人的感官察觉不到；等到身体有感觉，往往已经受到了很大的剂量。所以辐射防护离不开测量：现场剂量测量就是在工作现场实测“这里有多少辐射”“人受了多少”。</a:t>
            </a:r>
          </a:p>
          <a:p>
            <a:r>
              <a:t>仪器利用射线与物质作用产生的效应来发现辐射：使气体电离（气体探测器，包括电离室、正比计数器、盖革计数器三类）、使晶体发光（闪烁探测器）、在半导体中产生电荷（半导体探测器）；个人剂量计还利用热释光、光释光、胶片感光等效应。</a:t>
            </a:r>
          </a:p>
          <a:p>
            <a:r>
              <a:t>任何探测器都测不到全部射线：测到的计数与源发出的粒子数之比叫探测效率，它与探测器类型、射线种类和能量、几何位置有关。所以同一个源，用不同仪器读数可能不同；要换算成活度或剂量，必须用经过刻度的仪器和正确的方法。</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监测要回答两个不同的问题。第一，这里有多少辐射？用剂量率巡测仪（盖革计数器或电离室巡测仪）测量周围的辐射水平（剂量率），用来检查屏蔽有没有泄漏、确定控制区和警戒区的边界。第二，这个人受了多少？用个人剂量计记录佩戴者在一段时间内累计受到的外照射剂量。</a:t>
            </a:r>
          </a:p>
          <a:p>
            <a:r>
              <a:t>两者作用不同，不能互相代替：巡测仪给的是“此时此地”的剂量率，不记录人受的累计剂量；个人剂量计记累计剂量，按周期送检后才知道结果（或电子剂量计实时显示），不能用来找屏蔽缝隙和污染。</a:t>
            </a:r>
          </a:p>
          <a:p>
            <a:r>
              <a:t>查找台面、手、衣服上的放射性污染，要用表面污染监测仪（α、β 表面污染仪），方法见第 091 课。个人剂量计一人一个，按规定位置佩戴，不能借给别人（见 K16、K17）。</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盖革计数器（盖革–米勒计数器）由充气的盖革管（探头）和主机组成。射线进入管内使气体电离，在高电压下电离不断放大，形成一个电脉冲；主机对脉冲计数，显示计数率。每测到一个射线粒子，读数就加一。</a:t>
            </a:r>
          </a:p>
          <a:p>
            <a:r>
              <a:t>便携式盖革计数器简单、结实、灵敏，用电池供电，方便带到现场，适合寻找微量的放射性污染和做快速巡测；它和实验室里固定的计数装置不同，读数通常是计数率，换算成剂量率需要按仪器的刻度。</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盖革计数器像关着门只听见敲门声：知道有射线进来，却不知道是哪种射线、能量多高。每个粒子产生的脉冲大小都一样，所以它分不清 α、β、γ，也分不清能量。像含钍化合物这类同时发出几种射线的物质，要知道射线种类和能量，得用能谱仪等合适的仪器。</a:t>
            </a:r>
          </a:p>
          <a:p>
            <a:r>
              <a:t>每个脉冲处理需要一点时间（死时间），这段时间内再来的射线不被计数。离源越近、射线越强，漏掉越多；在很强的辐射场中计数会严重偏低，甚至饱和，低报真实的危险（见 K9）。</a:t>
            </a:r>
          </a:p>
          <a:p>
            <a:r>
              <a:t>盖革计数器主要用来测 γ 射线和带电粒子，对中子基本没有响应；有中子的场所要用专门的中子测量仪器。</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电离室巡测仪不数单个脉冲，而是收集射线在气体中产生的离子，测量连续的电离电流；电流大小与辐射水平成正比，可以直接读出剂量率（单位时间的剂量，如每小时多少微希沃特，单位见第 087 课）。</a:t>
            </a:r>
          </a:p>
          <a:p>
            <a:r>
              <a:t>电离室量程宽、能量响应较平坦、读数准确，在强辐射场中也可靠；缺点是不够灵敏，用来寻找微量污染不合适。</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选仪器先想清楚要回答什么问题：找污染、查有无微量放射性，用灵敏的盖革计数器或表面污染仪；测工作位置、屏蔽外、走廊的剂量率，用电离室巡测仪或经刻度的剂量率仪。盖革灵敏，电离室准确；在强辐射场中电离室更可靠。</a:t>
            </a:r>
          </a:p>
          <a:p>
            <a:r>
              <a:t>电离室虽然不分辨能量，但能量响应更平坦，不同能量的射线读数偏差较小。实际工作中常两台仪器配合使用，各取所长。仪器的选择还要看射线种类（α、β、γ、X、中子）和能量，具体由辐射安全管理人员按场所配置。</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没有放源，计数器也会跳数：宇宙线、墙壁、地面和空气中都有天然放射性（本底）。探测器只“数”能量沉积，不认射线是从哪里来的。</a:t>
            </a:r>
          </a:p>
          <a:p>
            <a:r>
              <a:t>正确的测量顺序：先把源收回屏蔽罐（或远离探测器），测一段本底；再用同样长的时间测样品；样品读数减去本底，才是源的贡献。表面污染监测时，读数明显高于本底才判断为污染。</a:t>
            </a:r>
          </a:p>
          <a:p>
            <a:r>
              <a:t>有的实验（如测量极弱的放射性）信号比本底还弱，要把实验室建到地下，用岩层挡住宇宙线，墙体也换成放射性低的材料。</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于辐射防护的监测仪器属于需要定期检定或校准的计量器具（按《中华人民共和国计量法》和主管部门要求，以现行文本为准），由有资质的计量机构定期检定或校准，仪器上贴合格标识；超过有效期或检定不合格的仪器，读数不能作为依据，要停用送检。</a:t>
            </a:r>
          </a:p>
          <a:p>
            <a:r>
              <a:t>每次使用前检查：电池电量、外观和探头电缆是否完好、仪器状态是否正常；开机测本底，必要时由管理人员用检验源检查仪器有无正常响应。有异常就停用，报告管理人员。</a:t>
            </a:r>
          </a:p>
          <a:p>
            <a:r>
              <a:t>注意能量响应：仪器在某个能量下校准，测其他能量的射线时可能失准，测低能 X、γ 射线时尤其明显，因为不同能量的射线与探测器材料的作用不同。测量前确认仪器适用于所测射线的种类和能量范围，必要时选用带能量补偿的探头。</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读数为零或很低，不一定代表安全。可能是选错了仪器（如用盖革计数器测中子、用 γ 探头测低能 β），可能是电池没电、仪器故障或没开机，也可能是辐射场太强，有的计数器饱和后反而显示很低的读数（见 K4）。</a:t>
            </a:r>
          </a:p>
          <a:p>
            <a:r>
              <a:t>所以读数与预期明显不符时，不要轻易下结论：先检查仪器状态，再换一台合适的仪器复核；拿不准就报告辐射安全管理人员。</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工作场所监测要覆盖所有可能受照的位置：操作位、屏蔽体外表面、门口和缝隙、走廊、相邻房间和楼上楼下等公众可能停留的区域。再结合设备或源的使用频率和人员停留时间，估算工作人员和公众可能受到的最大剂量，判断屏蔽和分区是否合适。</a:t>
            </a:r>
          </a:p>
          <a:p>
            <a:r>
              <a:t>辐射工作单位要按规定定期开展场所监测，每年对本单位的辐射安全和防护状况进行评估（年度评估），发现问题及时整改；屏蔽体破损要及时报告维修（《放射性同位素与射线装置安全和防护管理办法》，以现行文本为准）。</a:t>
            </a:r>
          </a:p>
          <a:p>
            <a:r>
              <a:t>每次测量都要记录日期、地点、仪器、读数和测量人，存档备查。读数异常偏高时，先停止操作，退到安全的地方，立即报告实验室负责人和学院、学校辐射安全管理部门；有人受伤或可能受到大剂量照射，拨打 120 并按应急预案处置（见第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区域监测给出房间的整体辐射水平，但人在不停走动，离源的远近、停留的时间一直在变，单靠区域读数算不准每个人受了多少。所以从事辐射工作的人员要进行个人剂量监测，持续记录每个人的累计剂量。</a:t>
            </a:r>
          </a:p>
          <a:p>
            <a:r>
              <a:t>老周回忆：读研时每次进辐射区都佩戴热释光剂量计，定期读数，就知道一年受了多少剂量。常接触源的技术人员身上戴、手上也戴剂量计；偶尔进入的人员，受照只是很小的一部分。</a:t>
            </a:r>
          </a:p>
          <a:p>
            <a:r>
              <a:t>哪些人员需要个人剂量监测，由单位根据照射评估确定；辐射工作人员应当接受个人剂量监测（《放射工作人员职业健康管理办法》，以现行文本为准）。怀孕的工作人员按规定加强监测，具体安排见第 089 课和本校规定。</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积型个人剂量计佩戴一个周期后送去测读，得出这段时间的累计剂量。热释光剂量计（TLD）的探测元件受照后把能量“存”在晶体里，测读时加热，能量以光的形式放出，光的多少与剂量成正比；与同批未佩戴的对照（本底）剂量计比较，扣除本底，算出个人剂量。目前国内个人剂量监测常用热释光剂量计。</a:t>
            </a:r>
          </a:p>
          <a:p>
            <a:r>
              <a:t>胶片剂量计靠胶片感光变黑的程度判断剂量；光释光剂量计用光照代替加热读出。它们都要由有资质的技术服务机构测读，结果存进个人剂量档案，可以长期保存。</a:t>
            </a:r>
          </a:p>
          <a:p>
            <a:r>
              <a:t>选用哪种剂量计，看用途和射线种类（γ、X、β、中子）；手部近距离操作加戴指环剂量计（见 K16）。即时控制（电子剂量计）和长期存档（累积型剂量计）要配合使用。</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笔形（袖珍）剂量计看起来像一支笔：笔身是密封充气的小电离室，里面悬着一根极细的石英丝，一头是带刻度的目镜，一头是充电触点。</a:t>
            </a:r>
          </a:p>
          <a:p>
            <a:r>
              <a:t>使用前先充电，同种电荷相斥，石英丝偏到零位；受照后射线电离气体，中和一部分电荷，电场变弱，细丝慢慢移动。对着光从目镜一看，就能当场读出累计剂量。</a:t>
            </a:r>
          </a:p>
          <a:p>
            <a:r>
              <a:t>长处：短时、剂量较高的作业中可以随时查看读数，结实、便宜。短处：会慢慢漏电，读数自己漂移；不留永久记录；光线不够读不了数；对低能 β 和中子不灵敏；量程看具体型号。所以每次使用前都要重新充电归零，它只作现场辅助，不代替个人剂量计。</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子个人剂量计实时显示剂量和剂量率，超过设定值会声光报警，适合在高辐射区附近、射线装置调试、放射源操作等场合加戴。它只能与累积型个人剂量计配合使用，不能代替法定的个人剂量监测；任何剂量计都只记录、不防护，挡不住射线。</a:t>
            </a:r>
          </a:p>
          <a:p>
            <a:r>
              <a:t>电子剂量计报警时：立即停止操作，离开该区域，到安全的地方；不要关掉报警继续干；记下读数和时间，报告实验室负责人和辐射安全管理人员，查明原因（是否源未收回、屏蔽失效、联锁故障等）后才能恢复工作。可能发生事故的按应急预案处置（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个人剂量计测量的是身体特定部位、特定深度处的剂量（个人剂量当量）。深 10 毫米处的剂量代表全身（深部组织），用于评价有效剂量；深 3 毫米处代表眼晶状体；深 0.07 毫米（极浅处）代表皮肤的剂量。</a:t>
            </a:r>
          </a:p>
          <a:p>
            <a:r>
              <a:t>所以同一个人的剂量报告中，全身、眼晶状体、皮肤和手部会分别给出，要分别对照相应的剂量限值（见第 089 课）。量的定义和单位见第 087 课。</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身剂量计是必须佩戴的，一般佩戴在左胸前（躯干前方），进入辐射工作场所就戴上。穿铅围裙时，全身剂量计戴在铅围裙里面的躯干上；受照可能较大时，还要在铅围裙外侧领口加戴一个，用来估算头颈部和眼晶状体的剂量。佩戴位置以 GBZ 128（以现行文本为准）和本校规定为准。</a:t>
            </a:r>
          </a:p>
          <a:p>
            <a:r>
              <a:t>经常手持放射源、近距离操作的人员，加戴指环剂量计，戴在受照最多的那只手的手指上，探测元件朝向射线来的方向；有中子的场所，按规定佩戴专用的中子剂量计。</a:t>
            </a:r>
          </a:p>
          <a:p>
            <a:r>
              <a:t>剂量计正面朝外，不要被口袋、证件或其他物品遮挡。</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剂量计一人一个，不借给别人，也不替别人戴；进场就戴，离场就收。下班后放回远离辐射源的专用存放位置，不要留在工作区（会把场所的辐射记进个人剂量），也不要带回家、晒太阳、靠近暖气等热源，这些都会影响读数。</a:t>
            </a:r>
          </a:p>
          <a:p>
            <a:r>
              <a:t>绝不故意拿剂量计去照射或“测”源；剂量计受到意外照射（如掉进工作区）要如实报告，便于评估。</a:t>
            </a:r>
          </a:p>
          <a:p>
            <a:r>
              <a:t>按规定周期交回、送有资质的技术服务机构测读，不能漏送；周期以 GBZ 128（以现行文本为准）和本校规定为准。剂量计丢失或损坏，马上报告补发。个人剂量监测之外，还要按规定参加上岗前、在岗期间和离岗时的职业健康检查（见第 093 课）。</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剂量报告列出本监测周期的剂量和全年累计剂量，手部、眼晶状体等部位的剂量也会单独列出。本人有权查看自己的个人剂量记录，要认真查看并签字确认；读数明显升高或超过单位设定的调查水平时，要配合调查原因并整改（见第 089 课）。</a:t>
            </a:r>
          </a:p>
          <a:p>
            <a:r>
              <a:t>单位为每名辐射工作人员建立个人剂量档案，长期保存，调离或毕业时按规定提供或转交；保存要求以《放射工作人员职业健康管理办法》（以现行文本为准）和本校规定为准（档案和人员管理见第 093 课）。</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答案：B。解析：盖革和表面污染仪灵敏，适合找污染；电离室准确但不够灵敏，适合测剂量率；剂量计记个人累计剂量。</a:t>
            </a:r>
          </a:p>
          <a:p>
            <a:r>
              <a:t>第 2 题 答案：B。解析：可能选错仪器、没电、故障或在强场中饱和，要检查仪器并换一台复核。</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答案：B。解析：围裙里面的剂量计代表躯干受照，领口外的用于估算头颈部和眼晶状体剂量。</a:t>
            </a:r>
          </a:p>
          <a:p>
            <a:r>
              <a:t>第 4 题 答案：C。解析：剂量计一人一个，下班放回远离辐射源的专用位置，绝不故意照射。</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答案：B。解析：报警说明剂量或剂量率超过设定值，要停手离开并报告，查明原因后才能恢复。</a:t>
            </a:r>
          </a:p>
          <a:p>
            <a:r>
              <a:t>第 6 题 答案：没有源时仪器也会因宇宙线和环境中的天然放射性而计数。先把源收回屏蔽罐，测一段本底；再用同样长的时间测样品，样品读数减去本底才是源的贡献。解析：不扣本底会把本底误当作污染或源的贡献。</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懂了剂量和防护原理，还要守规矩。我国辐射安全管理的法律依据是《中华人民共和国放射性污染防治法》（以现行文本为准）；国务院《放射性同位素与射线装置安全和防护条例》（以现行文本为准）对生产、销售、使用放射性同位素和射线装置的许可、安全和防护、事故应急等作了具体规定；主管部门又制定了《放射性同位素与射线装置安全许可管理办法》《放射性同位素与射线装置安全和防护管理办法》《放射工作人员职业健康管理办法》（均以现行文本为准）等规章；放射性废物还有《放射性废物安全管理条例》（见第 091 课）。</a:t>
            </a:r>
          </a:p>
          <a:p>
            <a:r>
              <a:t>技术要求以国家标准为准，基本标准是 GB 18871-2002（以现行文本为准）《电离辐射防护与辐射源安全基本标准》；学校在此基础上制定本校的辐射安全管理制度。辐射安全许可和监督主要由生态环境主管部门负责，职业健康检查等由卫生健康主管部门监督，具体以现行规定为准（法规体系总览见第 002 课）。</a:t>
            </a:r>
          </a:p>
          <a:p>
            <a:r>
              <a:t>国外的许可制度、机构和数值只作背景参考，不能照搬。</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放射性同位素（含密封源和非密封放射性物质、放射性药物和示踪剂）和射线装置的单位，必须依法向生态环境主管部门申请领取辐射安全许可证，由学校作为持证单位统一申领和管理。申请时要具备相应的场所、设施、人员、管理机构和制度等条件；新建、改建、扩建辐射工作场所还要按规定做环境影响评价和竣工验收（见第 094 课）。</a:t>
            </a:r>
          </a:p>
          <a:p>
            <a:r>
              <a:t>许可证上载明允许从事的活动种类和范围（如使用哪几类放射源、射线装置，非密封放射性物质工作场所的级别等）。课题组只能在学校许可的种类和范围内开展工作，超出范围的不得开展。</a:t>
            </a:r>
          </a:p>
          <a:p>
            <a:r>
              <a:t>需要新增核素、增加源或射线装置、改变工作场所时，要事先通过学院向学校辐射安全管理部门申报，由学校办理许可证变更（或重新申领）后才能开展。许可证有有效期，到期前由学校按规定申请延续。</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持证单位要对放射性同位素和射线装置建立台账：每个放射源、每批非密封放射性物质、每台射线装置都一一登记核素（或型号）、活度、编号、来源、存放和使用地点、责任人；使用、领用和归还都要登记（领用归还的做法见第 094 课）。放射源由专人管理，存放场所上锁，出入登记，定期清点，做到账物相符；发现丢失要立即报告（见第 096 课）。</a:t>
            </a:r>
          </a:p>
          <a:p>
            <a:r>
              <a:t>放射性同位素的购买、转让、转移、异地使用和进出口，按《放射性同位素与射线装置安全和防护条例》（以现行文本为准）的规定审批或备案，由学校统一办理。个人和课题组不得私自购买、转让、转借放射源，也不得向没有许可证的单位借用或出借。</a:t>
            </a:r>
          </a:p>
          <a:p>
            <a:r>
              <a:t>持证单位每年对本单位的辐射安全和防护状况进行年度评估，编写评估报告，按规定报送主管部门（以现行规定为准）。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学校按规定设立辐射安全与环境保护管理机构（或指定专门的管理部门），配备辐射安全负责人和专职（兼职）管理人员，实行学校—学院—实验室分级管理（三级管理见第 004 课）。</a:t>
            </a:r>
          </a:p>
          <a:p>
            <a:r>
              <a:t>辐射安全负责人和管理人员的主要职责：组织制定和落实辐射安全管理制度和应急预案；办理许可、审批和备案；组织辐射安全培训考核、个人剂量监测和职业健康检查；管理放射源和射线装置台账；组织场所监测和年度评估；开展安全检查，督促隐患整改；发现严重隐患时可以要求停止相关工作。</a:t>
            </a:r>
          </a:p>
          <a:p>
            <a:r>
              <a:t>实验室负责人是本实验室辐射安全的第一责任人，负责本实验室的规程、人员准入、日常管理和隐患整改；导师对学生的辐射工作负直接管理责任。遇到问题或疑问，先问导师和实验室负责人，也可以直接找学院和学校辐射安全管理人员；学校的辐射安全制度、场所评估资料可以按规定查阅。</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因工作可能受到高于天然本底照射的人员，是辐射工作人员（放射工作人员）。他们必须接受辐射安全培训，佩戴个人剂量计监测受照剂量，并接受职业健康检查。</a:t>
            </a:r>
          </a:p>
          <a:p>
            <a:r>
              <a:t>其他人员都属于公众，包括实验室周围的师生、访客、保洁和维修人员。公众的剂量限值比职业人员严得多（见第 089 课），所以公众不得进入控制区，辐射工作场所的设计和管理要保证公众受照远低于限值。</a:t>
            </a:r>
          </a:p>
          <a:p>
            <a:r>
              <a:t>用放射源、射线装置或非密封放射性物质做实验的研究生、本科生，同样属于辐射工作人员，同样要满足培训、监测和体检的要求；未满 16 岁的人员不得从事辐射工作，16–18 岁学生的特殊要求见第 089 课。</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事辐射工作的人员，必须先参加辐射安全与防护培训，考核合格后才能上岗操作。考核按生态环境主管部门关于核技术利用辐射安全与防护培训考核的现行规定进行（通常通过国家组织的平台学习和考核，部分类别可由单位自行组织考核，以现行规定为准）；考核合格有一定有效期，到期前要重新考核。</a:t>
            </a:r>
          </a:p>
          <a:p>
            <a:r>
              <a:t>国家要求的培训考核之外，学院和实验室还要做岗位培训：本实验室使用的核素和装置、操作规程、防护和监测方法、应急处置和报告程序。实验室负责人审核培训考核记录后，才给予准入、授予钥匙或门禁权限（准入与培训的通则见第 007 课）。放射性专用通风柜、手套箱、射线装置等专用设备，经授权后才能使用。</a:t>
            </a:r>
          </a:p>
          <a:p>
            <a:r>
              <a:t>没有受过训练的人，遇到洒漏、报警等异常不要自行处理，离开现场并报告。</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辐射安全培训不是上一次就够：上岗前要学，之后还要按学校规定定期复训，持续更新知识、巩固习惯。学完不能只签个到，要结合自己的岗位和课题，组里一起讨论：我们用什么源、风险在哪、哪些做法要改。</a:t>
            </a:r>
          </a:p>
          <a:p>
            <a:r>
              <a:t>更换新的核素、新的射线装置或新的操作方法前，要先补训，确认掌握新的风险和防护方法后再开始。</a:t>
            </a:r>
          </a:p>
          <a:p>
            <a:r>
              <a:t>培训和考核的时间、内容、成绩都要记录存档，作为准入和检查的依据。</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程讲的通用做法，要落实成本实验室的辐射安全操作规程（本课不能代替本实验室规程）。规程至少写清：操作步骤和注意事项；人员培训和准入要求；个人防护和监测要求；屏蔽、通风柜、联锁等工程控制措施；废物收集；以及怀疑超剂量照射、洒漏、源丢失等异常情况的处置和报告程序。</a:t>
            </a:r>
          </a:p>
          <a:p>
            <a:r>
              <a:t>规程由实验室负责人组织编写，经学院和学校辐射安全管理部门审核后执行，放在工作现场，人人看得到、照着做。核素、设备、场所或法规要求变化时，及时修订。</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辐射工作人员工作时按规定佩戴个人剂量计，按周期送有资质的机构测读（佩戴和保管见第 092 课）；单位为每个人建立个人剂量档案。读数异常时，要查明原因、采取措施并记录（见第 089 课）。</a:t>
            </a:r>
          </a:p>
          <a:p>
            <a:r>
              <a:t>按《放射工作人员职业健康管理办法》（以现行文本为准），辐射工作人员上岗前、在岗期间（定期）和离岗时都要到有资质的职业健康检查机构做职业健康检查；受到应急照射或事故照射时要及时检查。上岗前检查不合格或有职业禁忌的，不得安排从事辐射工作；在岗期间发现不宜继续从事辐射工作的，要调离。职业健康检查费用由单位承担。</a:t>
            </a:r>
          </a:p>
          <a:p>
            <a:r>
              <a:t>个人剂量档案和职业健康监护档案由单位长期保存，保存期限以现行规定为准；毕业或调离时办理离岗体检和档案交接（离岗交接见第 007 课）。</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工作场所不能随便进：只有经过专门培训、获得授权的人员，才能在指定的场所按规定工作，并按规定佩戴个人剂量计；照射越少越好。进入前认准门口的电离辐射警告标志和工作状态指示灯，指示灯亮表示射线装置正在工作或源处于使用状态，不得进入（门机联锁和警戒区见第 094 课）。</a:t>
            </a:r>
          </a:p>
          <a:p>
            <a:r>
              <a:t>没有培训、没有授权的人员不进入控制区，不开机、不动源。铀等放射性物质和放射性样品只能在许可的场所使用，不能带进普通的微生物或化学实验室。</a:t>
            </a:r>
          </a:p>
          <a:p>
            <a:r>
              <a:t>来访、参观、外来维修人员要经批准，由辐射安全管理人员或实验室负责人陪同，听从安排，不进入控制区（访客管理通则见第 008 课）。</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工作人员（包括学生）有权了解岗位存在的辐射危害、防护措施和应急措施，单位应当如实告知；有权接受培训、个人剂量监测和职业健康检查，有权查阅、复印本人的个人剂量和职业健康监护档案（《放射工作人员职业健康管理办法》《职业病防治法》，以现行文本为准）。</a:t>
            </a:r>
          </a:p>
          <a:p>
            <a:r>
              <a:t>发现屏蔽破损、联锁失灵、剂量异常等隐患，有权向实验室负责人、学院和学校辐射安全管理部门提出整改要求；防护条件不符合要求时，有权拒绝在不安全的条件下工作，可以先不进入，报告后等待处理。</a:t>
            </a:r>
          </a:p>
          <a:p>
            <a:r>
              <a:t>学生的一般安全权利见第 004 课。报告隐患和拒绝冒险作业是正当行为，不应因此受到追究（具体以本校规定为准）。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无许可证或超出许可范围使用放射性同位素和射线装置、私自转让转借放射源、未按规定培训和监测、放射源丢失被盗不报告、违规排放放射性废物等，都违反《放射性污染防治法》和《放射性同位素与射线装置安全和防护条例》（以现行文本为准）。</a:t>
            </a:r>
          </a:p>
          <a:p>
            <a:r>
              <a:t>违法的单位会被责令改正、警告、罚款，情节严重的可能被暂扣或吊销许可证；造成辐射事故或严重环境污染、构成犯罪的，依法追究刑事责任。</a:t>
            </a:r>
          </a:p>
          <a:p>
            <a:r>
              <a:t>个人违反本校辐射安全管理制度和操作规程，学校会依照有关规定严肃处理，造成后果的追究相应责任（具体以本校规定为准）。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答案：C。解析：只能在学校辐射安全许可证载明的种类和范围内开展，新增种类须先办理许可变更。</a:t>
            </a:r>
          </a:p>
          <a:p>
            <a:r>
              <a:t>第 2 题 答案：B。解析：用源做实验的学生属于辐射工作人员，必须培训考核合格后上岗，并接受个人剂量监测和职业健康检查。</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答案：C。解析：按《放射工作人员职业健康管理办法》（以现行文本为准），检查结果和剂量记录建档长期保存。</a:t>
            </a:r>
          </a:p>
          <a:p>
            <a:r>
              <a:t>第 4 题 答案：B。解析：不得私自转让转借放射源；台账要记录使用和去向；考核合格到期前要重新考核。</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答案：A。解析：辐射工作人员有知情权、提出整改的权利，防护条件不符合要求时有权拒绝在不安全的条件下工作。</a:t>
            </a:r>
          </a:p>
          <a:p>
            <a:r>
              <a:t>第 6 题 答案：操作步骤和注意事项；人员培训和准入要求；个人防护和监测要求；屏蔽、通风、联锁等工程控制；废物收集；怀疑超剂量照射、洒漏、源丢失等异常情况的处置和报告程序。解析：规程放在现场，条件变化时及时修订。</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源是用放射性物质制成的辐射源，实验室常见的是密封放射源：放射性物质被永久密封在包壳里（或紧密固结），正常使用时不会漏出。放射源一直在衰变，时时刻刻都在发出射线，没有“开关”，只能靠屏蔽容器和距离来防护（射线性质见第 086 课）。</a:t>
            </a:r>
          </a:p>
          <a:p>
            <a:r>
              <a:t>射线装置是通电后产生射线的设备，如 X射线衍射仪、X射线荧光分析仪、CT、X射线辐照仪、工业 X射线探伤机和加速器。X射线管用高电压把电子加速，撞击金属靶产生 X射线，再经过滤和准直得到需要的射线束；断电后就不再产生射线。</a:t>
            </a:r>
          </a:p>
          <a:p>
            <a:r>
              <a:t>两类源的风险重点不同：放射源即使不用也有危险，丢失、被盗、散落是最大的风险，管理重在保管、台账和防丢失；射线装置的风险集中在开机出束期间，管理重在门机联锁、指示灯、屏蔽和规范操作。</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我国按放射源对人体健康和环境的潜在危害程度，把放射源从高到低分为 I、II、III、IV、V 类（I 类极高危险，V 类极低危险），依据是《放射源分类办法》（以现行文本为准）。射线装置按对人体和环境的潜在危害分为 I 类（高危险）、II 类（中危险）、III 类（低危险），依据是《射线装置分类》（以现行文本为准）；例如粒子加速器多属较高类别，工业探伤 X射线机属中等类别，实验室常见的 X射线衍射仪、荧光分析仪等多属较低类别，具体以现行分类为准。</a:t>
            </a:r>
          </a:p>
          <a:p>
            <a:r>
              <a:t>类别决定了许可证的审批部门、场所的防护要求、环境影响评价的形式和日常管理的严格程度。类别低不等于不用管：低类别的源和装置同样要持证使用、建台账、设标志、培训上岗（见第 093 课）。</a:t>
            </a:r>
          </a:p>
          <a:p>
            <a:r>
              <a:t>本实验室的源和装置属于哪一类，以学校辐射安全许可证和台账登记为准，不清楚的问辐射安全管理人员。</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工业射线探伤是一种无损检测方法：让射线穿过焊缝、铸件或管道，在另一侧用胶片或数字探测器成像，射线被缺陷处吸收得少，影像上就显出裂纹、气孔、夹渣等内部缺陷，不用切开、不破坏工件。</a:t>
            </a:r>
          </a:p>
          <a:p>
            <a:r>
              <a:t>探伤可以用 γ放射源（装在探伤机的屏蔽容器里，作业时把源送出曝光），也可以用 X射线探伤机。高校的材料、机械、土木等学科常有探伤室或探伤设备，X射线衍射、CT、辐照等实验装置的原理与之相通，安全要求也相通。</a:t>
            </a:r>
          </a:p>
          <a:p>
            <a:r>
              <a:t>γ探伤源活度大，失控时可能在短时间内造成严重照射，属于较高类别的放射源，必须由经培训考核合格、获得授权的人员在许可的场所操作，学生不得自行操作（卡源等事故处置见第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18871-2002（以现行文本为准）规定了电离辐射标志（三叶形）和电离辐射警告标志（黄色三角形警告框内为三叶形标志，配“当心电离辐射”字样）。放射源及其容器、射线装置、辐射工作场所入口、放射性废物桶和暂存间都要设置规范的标志。国外部分教材使用其他颜色组合的标识，国内一律按国家标准执行。</a:t>
            </a:r>
          </a:p>
          <a:p>
            <a:r>
              <a:t>辐射工作场所划分为控制区和监督区（划分原则见第 089 课）：控制区设警告标志和出入控制，严格限制进入；监督区也要定期监测、做好管理。只有经过培训、获得授权的人员才能进入，进出登记，按规定佩戴个人剂量计（准入要求见第 093 课），无关人员不进入。</a:t>
            </a:r>
          </a:p>
          <a:p>
            <a:r>
              <a:t>在使用非密封放射性物质的场所，离开前要用表面污染仪检查手、鞋和衣物有无污染（检查方法见第 091、092 课）。</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射线装置的机房和自屏蔽设备都设有防止误照射的安全装置：门机联锁（防护门或设备门打开时射线自动停止，门没关好不能出束）、工作状态指示灯（门上方或设备上，出束时亮）、急停按钮（控制台、机房内等位置，按下立即停止出束）以及警示标志，有的还配声光报警。《放射性同位素与射线装置安全和防护条例》（以现行文本为准）要求射线装置的使用场所设置防止误操作、防止人员受到意外照射的安全措施。</a:t>
            </a:r>
          </a:p>
          <a:p>
            <a:r>
              <a:t>这些装置不能短接、不能用胶带贴住开关、不能拆掉或调换，也不能为了“方便取样”在出束时开门。每次开机前检查联锁、指示灯和急停是否正常；发现失灵立即停止使用，挂“停用”牌，报设备负责人和辐射安全管理人员维修，修好验证后才能再用。</a:t>
            </a:r>
          </a:p>
          <a:p>
            <a:r>
              <a:t>指示灯亮着不开门、不靠近；关机、灯灭后再开门取放样品。出现异常（灯不灭、门开仍出束、有异常声响），立即按急停并报告。</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机房的屏蔽墙、防护门、观察窗和设备自带的屏蔽都是按设计计算建造、经检测验收的（屏蔽设计和半值层计算见第 090 课）。不得擅自拆移屏蔽、在墙上开孔穿线、更换防护门或改变设备的准直和屏蔽部件；需要改动的，先报学校辐射安全管理部门评估。</a:t>
            </a:r>
          </a:p>
          <a:p>
            <a:r>
              <a:t>计算结果只是估计，实际剂量率要用经检定校准的巡测仪实测：新装、维修、改造后和定期都要在防护门缝、墙外、观察窗、操作位等位置测量并记录（巡测仪使用见第 092 课）。</a:t>
            </a:r>
          </a:p>
          <a:p>
            <a:r>
              <a:t>测得的剂量率明显高于平时或高于规定值时，立即停止出束，撤离人员，报告实验室负责人和辐射安全管理人员，查明原因、处理后再用。</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射线探伤等高风险作业开工前，辐射安全负责人或作业负责人要逐项核查：辐射安全许可证覆盖本次作业，作业许可已批准，风险评估已完成；操作人员辐射安全培训考核合格、职业健康检查合格、佩戴个人剂量计（见第 093 课）；巡测仪、个人剂量报警仪在检定校准有效期内并检查正常；用衰变表查出放射源当前的活度（衰变表见第 086 课）；需要外出作业的，源容器和运输车辆符合要求。</a:t>
            </a:r>
          </a:p>
          <a:p>
            <a:r>
              <a:t>现场还要先划好警戒区、设好标志和警示灯（见 K7），应急器材和应急预案到位。</a:t>
            </a:r>
          </a:p>
          <a:p>
            <a:r>
              <a:t>清单上缺任何一项，都不能开工。高校里的射线装置日常开机，也照此原则核查：人员授权、仪器正常、安全装置正常、场所无关人员已清场。</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探伤室以外的现场进行射线作业（如在实验大厅、工地探伤）时，要把作业区域划为控制区和监督区，设置警戒。边界按巡测仪实测的剂量率和现行标准规定来划，不凭经验估计；公众的剂量限值比工作人员严得多（见第 089 课），所以对公众的外圈边界要更大。具体剂量率限值以现行标准和本校规程为准。</a:t>
            </a:r>
          </a:p>
          <a:p>
            <a:r>
              <a:t>边界上拉警戒线，挂电离辐射警告标志，设置警示灯或声光报警，安排专人看守，不让无关人员进入；作业期间在边界上复测。</a:t>
            </a:r>
          </a:p>
          <a:p>
            <a:r>
              <a:t>作业结束，用巡测仪确认放射源已回到屏蔽容器（或 X射线机已断电），才能撤除警戒；源收不回时按卡源应急处置（见第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源不用时存放在专用源库或专用保险柜里，不与易燃易爆、腐蚀性物品混放。《放射性同位素与射线装置安全和防护条例》（以现行文本为准）要求储存场所采取防火、防水、防盗、防丢失、防破坏、防射线泄漏的安全措施；按源的类别和学校规定设置监控、报警等安防设施。</a:t>
            </a:r>
          </a:p>
          <a:p>
            <a:r>
              <a:t>源库实行专人管理、双人双锁：两把锁的钥匙由两个人分别保管，必须两人同时到场才能打开，出入登记。安防设施的具体配置属于保密内容，不对外公开。</a:t>
            </a:r>
          </a:p>
          <a:p>
            <a:r>
              <a:t>按台账定期清点，做到账物相符（台账制度见第 093 课）。发现放射源丢失、被盗或台账对不上，立即报告实验室负责人和学校辐射安全管理部门，由学校按规定向生态环境、公安、卫生健康主管部门报告，不得隐瞒、不得自行寻找后“补账”（应急处置见第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领用放射源要经授权，在领用登记本上写明领用人、源编号、时间、用途和使用地点，需要时经实验室负责人批准。取放源用长柄镊子等工具，不徒手拿源（距离防护见第 090 课）。</a:t>
            </a:r>
          </a:p>
          <a:p>
            <a:r>
              <a:t>用完当场放回屏蔽容器，送回源库，在登记本上签字归还；当天用完当天归还，不得放在实验台、抽屉、办公室里过夜，不得带回宿舍。离开前用巡测仪把台面、地面和容器周围扫一遍，确认没有遗落。</a:t>
            </a:r>
          </a:p>
          <a:p>
            <a:r>
              <a:t>交接班或人员变动时，交接双方对着台账逐个核对源的编号和数量，账物一一对上后双方签字。</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校内不同实验室、楼宇之间转移放射源或放射性物质，要事先经批准，装进合适的屏蔽容器并固定好，容器外贴电离辐射标志和标签，在台账上登记去向。由经培训的专人用推车护送，走规定路线，避开人多的时段和地点，不乘坐客梯与他人同乘（以本校规定为准），到达后交接签字。</a:t>
            </a:r>
          </a:p>
          <a:p>
            <a:r>
              <a:t>绝不能把放射源放在背包、口袋里随身带走，也不能交给未经培训的人代送。</a:t>
            </a:r>
          </a:p>
          <a:p>
            <a:r>
              <a:t>出校运输放射性物品，按 GB 11806-2019（以现行文本为准）《放射性物品安全运输规程》和有关规定，由学校委托有资质的单位包装、承运；异地使用放射源按规定办理备案（以现行规定为准）。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密封源的包壳在磨损、腐蚀、跌落或高温后可能破损，放射性物质漏出就会造成表面污染甚至内照射风险。因此密封源要按规定定期做泄漏检查（检查周期以现行标准、源的说明和本校规定为准），跌落、受撞击后也要及时检查。</a:t>
            </a:r>
          </a:p>
          <a:p>
            <a:r>
              <a:t>泄漏检查一般由经授权的人员用擦拭法进行：用湿润的擦拭纸擦拭源或源容器的可接触表面（不直接用手接触源），装袋标记后送去测量，结果记录存档。</a:t>
            </a:r>
          </a:p>
          <a:p>
            <a:r>
              <a:t>发现泄漏或包壳破损，立即停止使用，把源放回屏蔽容器隔离，标出可能污染的区域，报告实验室负责人和辐射安全管理人员，按污染处置程序处理（见第 091、096 课）。</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些常见设备里装有密封放射源：离子感烟火灾探测器、气相色谱仪的电子捕获检测器、料位计、密度计、厚度计、静电消除器等。它们的源活度一般较小，但同样要按规定管理：在台账上登记，保留标志，不擅自拆卸、维修或改装。</a:t>
            </a:r>
          </a:p>
          <a:p>
            <a:r>
              <a:t>含源仪器不得拆开取源，不得当普通废品或电子垃圾丢弃、卖掉。报废、更换时交回学校辐射安全管理部门，由学校按规定将废旧放射源交回生产单位、返回原出口方，或送交有资质的放射性废物贮存单位（见第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建、改建、扩建使用放射源或射线装置的场所，要按《建设项目环境保护管理条例》《放射性同位素与射线装置安全和防护条例》（以现行文本为准）先进行环境影响评价，按类别编制相应的环评文件并报批或备案。</a:t>
            </a:r>
          </a:p>
          <a:p>
            <a:r>
              <a:t>辐射防护设施要与主体工程同时设计、同时施工、同时投入使用（“三同时”）；建成后经辐射监测和竣工环境保护验收合格，并取得或变更辐射安全许可证后，才能投入使用（许可证见第 093 课）。</a:t>
            </a:r>
          </a:p>
          <a:p>
            <a:r>
              <a:t>射线装置搬到新房间、增加设备或改变用途，都属于变化，要先通过学院向学校辐射安全管理部门申报，不能“先用起来再补手续”。</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答案：C。解析：指示灯亮表示正在出束；门机联锁严禁短接、贴住或拆除，关机灯灭后再开门。</a:t>
            </a:r>
          </a:p>
          <a:p>
            <a:r>
              <a:t>第 2 题 答案：B。解析：放射源时刻在发出射线，关不掉，只能靠屏蔽容器和保管；射线装置断电即停止产生射线。</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答案：C。解析：不得在桌上、抽屉里过夜；用后当场归位、签字归还。</a:t>
            </a:r>
          </a:p>
          <a:p>
            <a:r>
              <a:t>第 4 题 答案：C。解析：放射源丢失被盗必须立即报告，不得隐瞒，学校按规定向生态环境、公安、卫生健康主管部门报告。</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答案：B。解析：离子感烟探测器含微量放射源，应交回学校辐射安全管理部门，按废旧放射源规定处置。</a:t>
            </a:r>
          </a:p>
          <a:p>
            <a:r>
              <a:t>第 6 题 答案：检查门机联锁、工作状态指示灯、急停按钮和警示标志是否正常。发现失灵立即停用、挂停用牌，报设备负责人和辐射安全管理人员维修，修好验证后再用。解析：安全装置不得短接、贴住或拆除。</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医生想看到身体里面发生了什么，最常用的办法是影像。X射线从体外射入身体，光子在穿过组织时按比例被吸收和散射，组织越厚、越致密，透过来的越少（衰减规律见第 090 课）。肌肉、血液、骨骼拦截射线的本领不同，透过来的多少不同，就在探测器或胶片上形成黑白影像：骨骼吸收多显白，软组织显暗。假如全身完全均匀，影像就是一片均匀，正是这种差别让我们看出结构。</a:t>
            </a:r>
          </a:p>
          <a:p>
            <a:r>
              <a:t>X射线成像是外部成像技术：射线从外面进入、从另一侧穿出。它擅长显示结构，但一些软组织病变和器官功能改变不容易看清；开刀直接察看属于侵入式方法，代价是身体受创。于是有了另一种思路：核医学。</a:t>
            </a:r>
          </a:p>
          <a:p>
            <a:r>
              <a:t>放射科的 X线设备属于射线装置，关机就不再产生射线（射线装置管理见第 094 课）。</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如果把γ源放在体外照射，因为放射性强只能用很少的量，点状源发出的射线不平行，照得不均匀，效果并不比 X射线好。核医学换了思路：把放射性核素和某种物质结合，送进身体，让“光源”在体内发出γ光子，体外的探测器接收，再拼成图像。</a:t>
            </a:r>
          </a:p>
          <a:p>
            <a:r>
              <a:t>药物多数经静脉注射（少数经口服或吸入），随血液循环到全身。有些病变细胞特别容易摄取某种物质，一段时间后，那里聚集的放射性越来越多，探测器接收到的γ光子就特别多，医生据此判断病灶的位置。核医学更擅长显示器官的功能和代谢状态，即器官“干活”的情况。</a:t>
            </a:r>
          </a:p>
          <a:p>
            <a:r>
              <a:t>显像用的相机只接收体内发出的光子，本身不产生辐射；需要防护的是注射了放射性药物的人（见 K14）。</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射线方向一致，而体内的γ光子向四面八方发射，一个探头只能接收很少一部分。比较理想的布局是在身体外围布置一圈探测器，环可以沿身体移动，对准要看的部位；医院里，病人躺在检查床上随床移进圆筒，筒内就是一圈圈探测器。也有会转动的探头，从多个角度采集。计算机把各个角度接收到的信号重建成图像，找到病灶位置。</a:t>
            </a:r>
          </a:p>
          <a:p>
            <a:r>
              <a:t>放射性药物一边衰变一边排出，“光源”只在一段时间内够亮，所以要按规定的时间抓紧采集图像；采集完后，体内放射性逐渐减少。光源、载体、探测器，就是核医学显像的基本思路。</a:t>
            </a:r>
          </a:p>
          <a:p>
            <a:r>
              <a:t>探测器的能谱和计数原理见第 092 课。</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药物是用放射性核素标记的化合物或制剂。它由两部分组成：一部分是放射性核素，负责发出可被探测的射线；另一部分是载体（无机盐或有机化合物），利用它在体内的代谢特点，把核素送到目标器官并停留一段时间，就像快递员送货。看肝脏、骨骼、甲状腺等不同器官，就选不同的载体和给药途径。</a:t>
            </a:r>
          </a:p>
          <a:p>
            <a:r>
              <a:t>核素要能在常温下方便、牢固地标记到载体上；标记后药物的代谢行为不能改变。可以把药物比作火箭、核素比作卫星：卫星太重，火箭就飞不到目的地。</a:t>
            </a:r>
          </a:p>
          <a:p>
            <a:r>
              <a:t>患者已经不舒服，还要用放射性药物，是因为剂量经过权衡，诊断获益大于风险（见 K8）。放射性药物既是药品，又是放射性物质，按《放射性药品管理办法》和辐射安全的有关规定（以现行文本为准）专门管理，使用单位要取得相应许可。</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诊断用核素的物理半衰期要短，检查结束后放射性能较快减少（半衰期见第 086 课）。但“短”也不是越短越好：理想的半衰期一般在几小时量级，与药物制备、运输和检查所需的时间相当；太长，检查后放射性在体内留得久，受照多；太短，还没用上就衰变掉了，只好多准备很多活度。检查后放射性会减少，但不是几分钟就完全没有了。</a:t>
            </a:r>
          </a:p>
          <a:p>
            <a:r>
              <a:t>病人一般只做一次检查，工作人员却天天接触放射性药物，日积月累，不注意防护剂量就会累积，所以工作人员的时间、距离、屏蔽防护同样重要（见第 090 课）。</a:t>
            </a:r>
          </a:p>
          <a:p>
            <a:r>
              <a:t>衰变后生成的子体最好是稳定核素，至少也是寿命极长、几乎不再发出射线的核素，以免增加额外的照射。</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像只需要能穿出身体、被体外探测器接收的γ光子。α粒子、β粒子和能量很低的光子在体内跑不远，对成像没有帮助，只增加病人的受照剂量，所以诊断用核素优先选择主要发射γ光子、少有粒子辐射的衰变方式（如同质异能跃迁、电子俘获）。</a:t>
            </a:r>
          </a:p>
          <a:p>
            <a:r>
              <a:t>γ光子的能量要适中：太低穿不出身体，太高又不容易被准直器挡住和被探测器吸收。最好发射单一能量的γ光子：在体内散射后的光子能量会降低，探测时可以按能量窗把它们筛掉，提高图像质量（能谱的全能峰、康普顿平台等见第 092 课）。</a:t>
            </a:r>
          </a:p>
          <a:p>
            <a:r>
              <a:t>治疗用核素正好相反，要利用β等粒子在局部沉积能量（见 K7）。</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理想的放射性药物要快速、大量地聚到要检查的组织，有效半衰期与检查所需时间相当（有效半衰期见第 086 课）；毒性低，不引起过敏等不良反应；在体外和体内都稳定、不易分解；还要容易获得、价格合理。</a:t>
            </a:r>
          </a:p>
          <a:p>
            <a:r>
              <a:t>核素进入体内后，一边自己衰变，一边经尿液、粪便等排出。如果长期留在体内，就会成为额外的内照射，就像药物的副作用，而且更要不得；检查后的注意事项要听医生的（见 K15）。</a:t>
            </a:r>
          </a:p>
          <a:p>
            <a:r>
              <a:t>估算内照射剂量要先看核素聚在哪里。碘进入体内会大量聚集到甲状腺，甲状腺很小，吸收的能量高度集中，单位质量的剂量要高出很多倍（内照射剂量见第 087 课）。这正是放射性碘治疗甲状腺疾病的原理；也提醒操作放射性碘的人员，必须防止吸入和食入（见 K12）。</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医疗照射和科研用核素同样要遵循正当性和最优化原则（见第 089 课）：只有获益大于风险时才使用；能用非放射性方法解决的，就不用核素。</a:t>
            </a:r>
          </a:p>
          <a:p>
            <a:r>
              <a:t>满足诊断或实验需要时，优先选择短寿命核素；活度够用就好，不盲目加量；儿童和小体重者按现行规范减少用量。成像时平衡图像质量和剂量，图像能满足诊断时，通过调整采集参数降低受检者剂量（以《放射诊疗管理规定》等现行规定为准）。</a:t>
            </a:r>
          </a:p>
          <a:p>
            <a:r>
              <a:t>科研课题新选用核素或增加用量，要事先经学校辐射安全管理部门审核，并在许可范围内开展（见第 093 课）。</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HJ 1188-2021《核医学辐射防护与安全要求》和 GBZ 120（以现行文本为准）对核医学工作场所的选址布局、分区、屏蔽、通风和放射性废物管理作了规定。场所按风险划分控制区和监督区（见第 089 课），控制区入口设电离辐射警告标志，无关人员不得进入。</a:t>
            </a:r>
          </a:p>
          <a:p>
            <a:r>
              <a:t>布局上，工作人员和患者走各自的通道；放射性药物从储存、分装、给药到废物收集按单向路线流动，不走回头路，避免交叉污染。分装柜保持负压，排风按标准过滤排放；放射性废液进入衰变池，固体废物衰变暂存后解控或送贮（废物管理见第 091 课）。具体分区和设施要求以现行标准和学校规定为准。</a:t>
            </a:r>
          </a:p>
          <a:p>
            <a:r>
              <a:t>离开控制区前，用表面污染仪检查手、鞋和衣物，发现污染先去污、复测（见第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放射性药物和放射性示踪剂只能由学校（或医院）按规定从有资质的单位统一采购，课题组和个人不得私自购买、转让（见第 093 课）。短寿命核素常常一路赶时间，要由有资质的单位按 GB 11806-2019（以现行文本为准）等规定运输。</a:t>
            </a:r>
          </a:p>
          <a:p>
            <a:r>
              <a:t>到货后当面交接：核对核素、活度、数量、批号与订货单和随货单据是否一致；检查包装是否完好，用表面污染仪和剂量率仪测量包装外表面有无破损和污染，发现异常不拆封，隔离并报告。验收合格后放入专用储存柜（铅罐、加锁），专人管理，登记入账；领用、使用、剩余和废弃都要登记签字，账物一一对应。</a:t>
            </a:r>
          </a:p>
          <a:p>
            <a:r>
              <a:t>校内转运用屏蔽容器，走规定路线（见第 094 课），不得手拎带进教室、宿舍和食堂。再赶时间，也不能跳过核对。</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些短寿命核素在使用地不容易直接获得，就用核素发生器供应：发生器里装着寿命较长的母体核素，母体衰变不断生成短寿命的子体，用淋洗液把子体“挤”出来使用，这样一点点体积就有足够的活度（比活度高）。</a:t>
            </a:r>
          </a:p>
          <a:p>
            <a:r>
              <a:t>发生器到货时检查外壳和屏蔽完好，测量表面，登记入账。按规程在屏蔽区（分装柜、铅屏后）淋洗，每次淋洗出的药液都要测活度、贴标签（核素、活度、时间），记录在案。</a:t>
            </a:r>
          </a:p>
          <a:p>
            <a:r>
              <a:t>不得自行拆解发生器或取出内部柱子。用完的发生器仍含母体放射性，按与供应单位的约定退回，不得当普通垃圾丢弃。</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装放射性药物要在专用的分装柜（通风橱）里进行，前方有铅玻璃屏蔽。药瓶放在铅罐里，注射器套上屏蔽套；台面上放托盘、铺吸水纸，用长柄镊子或钳子夹取药瓶，不徒手拿药瓶，严禁用嘴吸移液（非密封源操作通则见第 091 课）。</a:t>
            </a:r>
          </a:p>
          <a:p>
            <a:r>
              <a:t>挥发性的放射性碘等，必须在通风柜内操作，防止吸入（见 K7）。工作区内不吃不喝、不化妆、不存放食物。</a:t>
            </a:r>
          </a:p>
          <a:p>
            <a:r>
              <a:t>操作完成后，先用表面污染仪测台面、工具和手套，再按顺序脱手套、洗手，最后测手；发现污染按污染处置程序处理，洒漏时按第 096 课处置。</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放射性药物使用前要按规定做质量控制；每一份药都要用活度计实测活度，并按衰变校正到给药时间，与处方（或实验方案）一致。注射器和药瓶的标签写清核素、活度、测量时间和给药对象。</a:t>
            </a:r>
          </a:p>
          <a:p>
            <a:r>
              <a:t>给药前两人核对：是不是这位患者（或这只实验动物、这个样品），是不是这种药，活度对不对；核对后签字记录。外形一样的注射器和容器最容易拿错，要分开放置、标识清楚。</a:t>
            </a:r>
          </a:p>
          <a:p>
            <a:r>
              <a:t>给错药、给错量或给错对象，立即报告实验室负责人（科室负责人）和辐射安全管理人员，按规定处理和上报，不得隐瞒（见第 096 课）。</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医院里的辐射源分布在多个科室：放射科的 X线设备关机就没有射线；放疗科有加速器和近距离治疗设备；血库可能有含源血液辐照仪；核医学科把放射性药物注入病人体内，这时病人本身就成了辐射源（非密封源）。</a:t>
            </a:r>
          </a:p>
          <a:p>
            <a:r>
              <a:t>注射后的病人会去候诊区、病房、检验科、卫生间等很多地方，经常和他们打交道的护理、检验、运送、保洁人员，都要接受相应的辐射安全告知，懂一点辐射防护。高校实验室里，注射了放射性药物的实验动物、它们的排泄物、垫料和尸体同样是辐射源，笼具要有标志，按规程饲养和处置（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注射后的受检者要在专用候诊区等候，不随意走动；使用专用卫生间，便后多冲水；检查后多喝水、勤排尿，加快排出。核医学科要书面告知注意事项。工作人员与注射后的病人也要保持距离、减少停留。</a:t>
            </a:r>
          </a:p>
          <a:p>
            <a:r>
              <a:t>检查后的注意时间取决于所用核素的有效半衰期，不同核素差别很大，具体以医生的书面告知为准；核素治疗后能否出院，要经测量评估，按现行标准和医院规定执行。短期内尽量少和孕妇、儿童近距离接触，时长遵医嘱。</a:t>
            </a:r>
          </a:p>
          <a:p>
            <a:r>
              <a:t>怀孕或哺乳的女性，检查前务必先告诉医生。陪护人员也会受到少量照射：陪护应当自愿、知情，人数尽量少；孕妇和儿童不宜陪护，就诊时不要带小孩到候诊区。排泄物和沾染的废物按规定专门处理。</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射过放射性药物的病人也可能需要急救，救人优先，不要因为辐射而犹豫。病人的血液、尿液等含有少量放射性，但量很小，按常规标准预防穿戴手套、隔离衣等就够了；相比之下，血源性病原体更需要防范（临床样本的标准预防见第 079 课，血液暴露处置见第 078 课）。病人离院后再来急诊，医院可能并不知道他做过检查，所以平时就要坚持标准防护。</a:t>
            </a:r>
          </a:p>
          <a:p>
            <a:r>
              <a:t>需要抽血化验的，最好在检查前完成；检查后抽血，按核医学科安排的时间。门诊病人的留置针一般由核医学技师处理，冲管后放射性主要在血液中，拔针和处理针头按规定进行。</a:t>
            </a:r>
          </a:p>
          <a:p>
            <a:r>
              <a:t>病人担心辐射时可以这样解释：核医学检查很常用，受照量与一些常见检查相当，药物会衰变和排出，体内逐渐减少，具体注意事项听核医学科的医嘱。沾染了放射性的敷料、尿垫等，按规定放入专用标志容器，不混入普通医疗废物（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答案：B。解析：X射线是外部成像；核医学是体内“光源”、体外探测，显像相机本身不产生辐射。</a:t>
            </a:r>
          </a:p>
          <a:p>
            <a:r>
              <a:t>第 2 题 答案：B。解析：半衰期太长，放射性在体内留得久；理想的半衰期与制备、运输和检查所需时间相当。</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答案：B。解析：再赶时间也不能跳过核对；包装异常时不拆封，隔离并报告。</a:t>
            </a:r>
          </a:p>
          <a:p>
            <a:r>
              <a:t>第 4 题 答案：C。解析：给错药、给错量立即报告，不得隐瞒。</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答案：B。解析：救人优先，按常规标准预防穿戴防护即可；血液尿液的放射性很小，病原体更需防范。</a:t>
            </a:r>
          </a:p>
          <a:p>
            <a:r>
              <a:t>第 6 题 答案：减少工作人员和公众受照，避免放射性污染交叉扩散。依据 HJ 1188-2021 和 GBZ 120（以现行文本为准），场所分控制区和监督区，药物从储存、分装、给药到废物收集单向流动，不走回头路。解析：离开控制区前要测手、鞋和衣物。</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与火灾、化学品泄漏相比，辐射事故并不常见，但一旦发生，后果同样严重，而且射线看不见、摸不着、闻不到，人往往没有感觉，只能靠仪器和程序来判断和处置。</a:t>
            </a:r>
          </a:p>
          <a:p>
            <a:r>
              <a:t>处置要依照国家法规、学校应急预案和本实验室规程进行，不走捷径，每一步都按程序办。应急处置中同样遵循辐射防护最优化原则（合理可行尽量低，见第 089 课），用时间、距离、屏蔽减少处置人员和周围人员的受照（见第 090 课）；辐射的影响可能很长远，能少受一点是一点。</a:t>
            </a:r>
          </a:p>
          <a:p>
            <a:r>
              <a:t>各类事故的通用报警和报告程序见第 157 课，本课讲辐射事件的特殊要求。</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同位素与射线装置安全和防护条例》（以现行文本为准）要求使用单位制定辐射事故应急方案。学校有辐射事故应急预案，使用放射性物质和射线装置的实验室还要有本实验室的应急处置规程，写清可能发生的事件类型（丢源、卡源、超剂量照射、洒漏、人员沾污、火灾波及源库等）、处置步骤、负责人和联系电话（应急预案通则见第 155 课）。</a:t>
            </a:r>
          </a:p>
          <a:p>
            <a:r>
              <a:t>应急物资放在固定、显眼的位置并定期检查补充，一般包括：手套、鞋套、防护服、吸水纸、塑料袋和放射性废物袋、警示带和标志、标签和记号笔、去污用品、巡测仪和表面污染仪、必要的屏蔽材料（以本实验室规程为准）。</a:t>
            </a:r>
          </a:p>
          <a:p>
            <a:r>
              <a:t>应急电话（实验室负责人、学院、学校辐射安全管理部门、保卫处、学校值班电话、120）和处置流程图贴在门边等显眼处。定期组织演练，人人知道发生了什么事该怎么做。</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同位素与射线装置安全和防护条例》（以现行文本为准）根据辐射事故的性质、严重程度、可控性和影响范围等因素，把辐射事故分为特别重大辐射事故、重大辐射事故、较大辐射事故和一般辐射事故四个等级。</a:t>
            </a:r>
          </a:p>
          <a:p>
            <a:r>
              <a:t>定级主要看丢失被盗失控的放射源类别（放射源分类见第 094 课）、人员受照造成的后果（如急性放射病、局部器官残疾）和辐射污染的范围。高类别放射源失控、造成人员急性重度损伤或大范围污染的，等级就高；IV、V 类放射源丢失、被盗、失控，或者人员受到超过年剂量限值的照射，也属于一般辐射事故，具体以现行条例为准。</a:t>
            </a:r>
          </a:p>
          <a:p>
            <a:r>
              <a:t>所以，高校里看似“小”的事件——一个小密封源找不到了、某人剂量超过年限值——同样是要依法报告的辐射事故，不能当作内部小事处理。</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发现放射源异常、剂量率异常、洒漏或有人可能受照时，先做四件事：一是停——立即停止操作，射线装置关机断电，人员后退，防止继续受照；二是救——有人受伤或不适，救命第一，紧急拨打 120，抢救绝不能因为辐射而耽误；三是报——报告实验室负责人和学校辐射安全管理人员（见 K4）；四是守——保护现场，划出区域，不让无关人员进入。</a:t>
            </a:r>
          </a:p>
          <a:p>
            <a:r>
              <a:t>处置的总原则是先控制源、隔离区域、保护人员，再由专业人员去污和收源：隔离、控制，再去污。没有受过训练的人不擅自处理，不移动源，不清理现场。</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源丢失被盗、泄漏、误照射、剂量异常、洒漏失控、放射性药物丢失等，都要立即报告：先报实验室负责人，再报学院和学校辐射安全管理部门；涉及丢失被盗、需要封控现场的，同时通知保卫处；有人受伤先救治，拨打 120。夜里或节假日找不到人时，打学校值班电话（报告程序通则见第 157 课）。</a:t>
            </a:r>
          </a:p>
          <a:p>
            <a:r>
              <a:t>发生辐射事故时，学校按《放射性同位素与射线装置安全和防护条例》（以现行文本为准）立即启动应急方案，并按规定时限向当地生态环境主管部门、公安部门、卫生健康主管部门报告（报告时限和内容以现行规定为准）。</a:t>
            </a:r>
          </a:p>
          <a:p>
            <a:r>
              <a:t>报告要如实、及时，不隐瞒、不拖延、不私自处理；隐瞒不报、谎报和迟报都要承担法律责任（见第 093 课）。</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清点时账物不符、源库里少了一个源、发现源库被撬，都要立即报告实验室负责人、学院、学校辐射安全管理部门和保卫处，由学校按规定向生态环境、公安、卫生健康主管部门报告。丢失被盗的放射源可能被不知情的人捡到，时间拖得越久，受照的人可能越多。</a:t>
            </a:r>
          </a:p>
          <a:p>
            <a:r>
              <a:t>不要自己偷偷找、不要先改台账“对上账”、不要隐瞒。保护源库和现场原状，配合公安和主管部门调查；提供台账、领用记录和最后一次见到源的时间地点。</a:t>
            </a:r>
          </a:p>
          <a:p>
            <a:r>
              <a:t>预防丢失的保管措施见第 094 课。</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曾有案例：治疗用的放射源被遗落在走廊里。路过的人离得远、停留短，受照很低；但如果有人在近处长时间停留，就可能受到危险的照射。</a:t>
            </a:r>
          </a:p>
          <a:p>
            <a:r>
              <a:t>遗失源找到后的处置要按顺序：第一，由受过训练的专业人员在防护下用长柄工具把源收回屏蔽容器（其他人不得接近、不得用手拿）；第二，清场，拉警戒，不让更多人靠近；第三，立即通知实验室负责人和学校辐射安全管理部门。</a:t>
            </a:r>
          </a:p>
          <a:p>
            <a:r>
              <a:t>之后登记所有可能受照的人员（包括路过的人），根据距离和停留时间评估剂量，必要时安排检查；按规定上报，调查原因，改进流程（见 K15）。</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γ射线探伤等作业中，源卡在导管里收不回屏蔽容器，叫卡源（探伤作业见第 094 课）。这时源处于暴露状态，人员要立即撤离到安全距离以外，必要时扩大警戒范围，专人看守，不要上前乱碰、乱拉导管，立即报告单位和学校辐射安全管理部门，由经授权的专业人员制定方案处置，学校按规定报主管部门。</a:t>
            </a:r>
          </a:p>
          <a:p>
            <a:r>
              <a:t>怀疑密封源破损泄漏（泄漏检查不合格、源掉落、外观异常）时，先把源放回或留在屏蔽容器中隔离，标出可能污染的区域，马上报告学校辐射安全管理人员，按污染处置程序处理（见第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丢失的放射源常常看起来像一个普通的小金属件、金属棒或小罐子，不知情的人捡回家，可能造成严重伤害。在实验楼、工地、废品堆等地方看到来历不明的金属件，尤其是带有电离辐射标志的物品，不捡、不碰、不拿走、不当废品卖。</a:t>
            </a:r>
          </a:p>
          <a:p>
            <a:r>
              <a:t>退远一点，守住现场，不让别人靠近，立即报告保卫处和学校辐射安全管理部门（校外拨打 110 或报告当地主管部门）。有人接触后不适或受伤，拨打 120 就医，并告诉医生可能接触了放射源。</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超剂量照射常常发生在设备没关就开门、联锁失效、标志不全或被遮挡、源没收回就靠近等情况下（安全装置见第 094 课）。受到照射时人往往没有感觉，早期也可能没有症状，所以一律以报告和调查为准，不能凭感觉判断。</a:t>
            </a:r>
          </a:p>
          <a:p>
            <a:r>
              <a:t>怀疑自己或他人受到大剂量照射时：先离开现场，防止继续受照；立即报告实验室负责人、学院和学校辐射安全管理部门；个人剂量计马上送检，结合时间、距离和设备参数估算受照剂量；有症状或受伤拨打 120 就医，按安排到有资质的机构做医学检查。早期没有症状也不能侥幸，不能瞒报。</a:t>
            </a:r>
          </a:p>
          <a:p>
            <a:r>
              <a:t>个人剂量读数明显异常、剂量计丢失或怀疑误照射，都要报告，查明原因（剂量报告见第 092 课）。</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药液或溶液洒落，哪怕只有一两滴，也按溢洒处理；在核医学科的给药、负荷试验等场所和实验室分装时最容易发生。第一步是隔离现场：立刻告诉旁人，人员离开污染区域，不随意走动，以免把污染带到别处。</a:t>
            </a:r>
          </a:p>
          <a:p>
            <a:r>
              <a:t>设置屏障，拉起辐射警示带，挂标志，无关人员远离。由受过训练的人员处理：穿戴防护服（实验服）、手套、鞋套，必要时铅围裙，佩戴个人剂量计；按射线种类用合适的屏蔽挡住（见第 090 课）。</a:t>
            </a:r>
          </a:p>
          <a:p>
            <a:r>
              <a:t>不能徒手擦，不能用水冲进下水道，不能用普通拖把拖地；没有受过训练的人退出并报告，不要上手。</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控制住洒漏以后再去污：戴手套，用吸水纸覆盖溢洒处，从外向内吸附，防止扩大污染面积；用过的吸水纸、手套等放进放射性废物袋，标明核素和日期（见第 091 课）。</a:t>
            </a:r>
          </a:p>
          <a:p>
            <a:r>
              <a:t>再用合适的去污剂从外向内清洁受影响的表面，必要时重复。处理结束，小心脱下受污染的防护用品，避免污染皮肤，装袋处理。</a:t>
            </a:r>
          </a:p>
          <a:p>
            <a:r>
              <a:t>用表面污染仪逐处检测台面、地面、工具和人员（手、鞋、衣物），确认达到要求后才能解除隔离；暂时去不掉的，标记、覆盖或封闭，等待衰变或由专业人员处理。报告负责人，记录经过；皮肤沾到要说出来（见 K13）。</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发生洒漏时，在场的人一般没有即时危险，先保持冷静，听核医学技师或实验室负责人的统一指挥，医生和研究人员也要听从。</a:t>
            </a:r>
          </a:p>
          <a:p>
            <a:r>
              <a:t>再想帮忙也别伸手，清理交给受过训练的人员，以免越弄越大。接触过排泄物或溢洒物的人，别再去摸门把手、电脑、手机，在检测放行之前先留在原地，不去其他区域。</a:t>
            </a:r>
          </a:p>
          <a:p>
            <a:r>
              <a:t>处置人员在辐射安全管理人员监督下逐个检测在场人员，没有污染才放行。污染较重的房间暂时关闭、挂牌，清理检测合格后再开放；其他房间和后续工作可能照常进行，听从安排。</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皮肤或衣物沾上放射性物质时，按“脱、冲、测、报”处理：先小心脱去污染的衣物和手套，装袋标记；用温水和肥皂在流水下轻轻冲洗沾污部位，从外向内，不用力刷，不用硬毛刷或有机溶剂，别把皮肤擦破，以免放射性进入体内；冲洗后用表面污染仪复测，必要时重复，并马上报告负责人。眼睛沾污用洗眼器冲洗。</a:t>
            </a:r>
          </a:p>
          <a:p>
            <a:r>
              <a:t>怀疑吸入或食入了放射性物质时，马上停止工作，立即报告，先做体表污染检测，按辐射安全管理人员和医生的安排配合内照射监测（内照射见第 087 课）；不要自己乱服药。</a:t>
            </a:r>
          </a:p>
          <a:p>
            <a:r>
              <a:t>皮肤有伤口时沾污，冲洗伤口并立即报告就医。</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件处置后，在场的每个人都要尽快写下经过：自己在做什么、在什么位置、离源或设备多远、停留了多长时间，设备的运行参数（如电压、电流、出束时间），以及看到、听到的情况。这些信息是估算受照剂量和查找原因的依据。</a:t>
            </a:r>
          </a:p>
          <a:p>
            <a:r>
              <a:t>记录要如实、及时，不修饰、不互相“对口径”；同时保存剂量计、监测记录、台账和现场照片等资料，配合学校和主管部门调查。</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事件处理完不等于结束。要调查清楚：源是怎么丢的、联锁为什么失效、洒漏是怎么发生的，找出流程里哪一环断了，是人的失误、设备故障还是管理漏洞（调查和根本原因分析见第 162 课）。</a:t>
            </a:r>
          </a:p>
          <a:p>
            <a:r>
              <a:t>根据调查结果修订规程，补上漏洞（如增加交接核对、改进设备检查、调整分装流程），落实整改并验证效果；按规定向主管部门报告处理结果。</a:t>
            </a:r>
          </a:p>
          <a:p>
            <a:r>
              <a:t>把事件经过和教训讲给实验室的每个人，纳入培训和演练，防止同样的事情再次发生。未遂事件和小的异常也要报告和分析（见第 161 课）。</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答案：C。解析：先隔离再去污；不能徒手擦，不能冲进下水道，没受过训练不上手。</a:t>
            </a:r>
          </a:p>
          <a:p>
            <a:r>
              <a:t>第 2 题 答案：B。解析：IV、V 类放射源丢失被盗失控也属于一般辐射事故，必须立即报告，学校按规定向生态环境、公安、卫生健康主管部门报告。</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答案：C。解析：疑似放射源不能接触，守住现场，报告保卫处和学校辐射安全管理部门。</a:t>
            </a:r>
          </a:p>
          <a:p>
            <a:r>
              <a:t>第 4 题 答案：B。解析：不用力刷、不用溶剂，以免皮肤破损使放射性进入体内。</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答案：B。解析：救命第一，绝不能因为辐射耽误抢救，按常规防护施救并拨打 120。</a:t>
            </a:r>
          </a:p>
          <a:p>
            <a:r>
              <a:t>第 6 题 答案：立即停止出束、离开现场防止继续受照；报告实验室负责人、学院和学校辐射安全管理部门；个人剂量计马上送检，在场人员写清设备参数、距离、时间；有症状或受伤拨打 120，按安排做医学检查；配合调查整改。解析：超量照射人往往没有感觉，不能凭感觉判断、不能瞒报。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085</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辐射的基本概念</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5.5 分钟（卡通视频 65 镜）　适用对象：使用放射性同位素（含放射性标记、示踪实验）、射线装置（X 射线衍射仪、X 射线荧光仪、小动物成像等）或在辐射工作场所附近学习工作的本科生、研究生和教职工（辐射类必修）；其他师生了解电离辐射的基本常识</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能说出电离辐射与非电离辐射的区别，能举出 α、β、γ、X 射线、中子等电离辐射和紫外、可见光、微波、无线电等非电离辐射的例子，认出电离辐射警告标志。</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能说出原子的组成、同位素的含义和“不稳定的原子核会衰变放出射线”的放射性概念。</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能说出天然辐射源（氡、宇宙射线、土壤建材、食物中的钾-40）和人工辐射源（以医疗为主），理解本底辐射处处存在、因地而异，职业照射要另外计算和控制。</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能举出辐射在科研（放射性示踪）、医学（诊断、治疗）和工业中的用途，能做到接触放射性同位素和射线装置前先参加培训、考核合格，“不必害怕，但要尊重”。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《中华人民共和国放射性污染防治法》（以现行文本为准）：核技术利用的辐射安全与放射性污染防治</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《放射性同位素与射线装置安全和防护条例》（以现行文本为准）：使用单位的许可、辐射工作人员的培训与个人剂量监测</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18871-2002（以现行文本为准）《电离辐射防护与辐射源安全基本标准》：电离辐射防护的基本要求、电离辐射标志</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2894-2025（以现行文本为准）《安全色和安全标志》：“当心电离辐射”警告标志</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号）：实验室安全培训与准入</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辐射有利有弊，先学防护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辐射像一把双刃剑</a:t>
            </a:r>
          </a:p>
          <a:p>
            <a:pPr>
              <a:spcAft>
                <a:spcPts val="1000"/>
              </a:spcAft>
            </a:pPr>
            <a:r>
              <a:rPr sz="1700">
                <a:solidFill>
                  <a:srgbClr val="222B33"/>
                </a:solidFill>
                <a:latin typeface="Microsoft YaHei"/>
              </a:rPr>
              <a:t>▪ 用好了能看病、治病、发电</a:t>
            </a:r>
          </a:p>
          <a:p>
            <a:pPr>
              <a:spcAft>
                <a:spcPts val="1000"/>
              </a:spcAft>
            </a:pPr>
            <a:r>
              <a:rPr sz="1700">
                <a:solidFill>
                  <a:srgbClr val="222B33"/>
                </a:solidFill>
                <a:latin typeface="Microsoft YaHei"/>
              </a:rPr>
              <a:t>▪ 能量高，必须严格控制</a:t>
            </a:r>
          </a:p>
          <a:p>
            <a:pPr>
              <a:spcAft>
                <a:spcPts val="1000"/>
              </a:spcAft>
            </a:pPr>
            <a:r>
              <a:rPr sz="1700">
                <a:solidFill>
                  <a:srgbClr val="222B33"/>
                </a:solidFill>
                <a:latin typeface="Microsoft YaHei"/>
              </a:rPr>
              <a:t>▪ 不必害怕，但要尊重，照射尽量低</a:t>
            </a:r>
          </a:p>
          <a:p>
            <a:pPr>
              <a:spcAft>
                <a:spcPts val="1000"/>
              </a:spcAft>
            </a:pPr>
            <a:r>
              <a:rPr sz="1700">
                <a:solidFill>
                  <a:srgbClr val="222B33"/>
                </a:solidFill>
                <a:latin typeface="Microsoft YaHei"/>
              </a:rPr>
              <a:t>▪ 想用好辐射，先学会保护自己</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电离辐射是科研、医学和工业中很有用的工具：医学影像能看清人体内部，放射治疗能杀伤肿瘤，核电站能发电，放射性标记能追踪分子在生命体内的去向。但电离辐射能量很高，能破坏细胞中的分子，用不好会伤害人体和污染环境，所以国家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看到电离辐射标志就恐慌，以为门外也“有辐射”</a:t>
            </a:r>
          </a:p>
          <a:p>
            <a:pPr>
              <a:spcAft>
                <a:spcPts val="1000"/>
              </a:spcAft>
            </a:pPr>
            <a:r>
              <a:rPr sz="1500">
                <a:solidFill>
                  <a:srgbClr val="222B33"/>
                </a:solidFill>
                <a:latin typeface="Microsoft YaHei"/>
              </a:rPr>
              <a:t>▪ 觉得射线看不见、摸不着，进出辐射场所随随便便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健康物理：测量辐射，保护人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健康物理让物理和生物握手</a:t>
            </a:r>
          </a:p>
          <a:p>
            <a:pPr>
              <a:spcAft>
                <a:spcPts val="1000"/>
              </a:spcAft>
            </a:pPr>
            <a:r>
              <a:rPr sz="2000">
                <a:solidFill>
                  <a:srgbClr val="222B33"/>
                </a:solidFill>
                <a:latin typeface="Microsoft YaHei"/>
              </a:rPr>
              <a:t>▪ 测量、计算辐射，保护人的健康</a:t>
            </a:r>
          </a:p>
          <a:p>
            <a:pPr>
              <a:spcAft>
                <a:spcPts val="1000"/>
              </a:spcAft>
            </a:pPr>
            <a:r>
              <a:rPr sz="2000">
                <a:solidFill>
                  <a:srgbClr val="222B33"/>
                </a:solidFill>
                <a:latin typeface="Microsoft YaHei"/>
              </a:rPr>
              <a:t>▪ 受照多少，要像称重一样量出来</a:t>
            </a:r>
          </a:p>
          <a:p>
            <a:pPr>
              <a:spcAft>
                <a:spcPts val="1000"/>
              </a:spcAft>
            </a:pPr>
            <a:r>
              <a:rPr sz="2000">
                <a:solidFill>
                  <a:srgbClr val="222B33"/>
                </a:solidFill>
                <a:latin typeface="Microsoft YaHei"/>
              </a:rPr>
              <a:t>▪ 先懂剂量和单位，再学仪器测量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健康物理（也叫辐射防护）是核物理、原子物理与生物学、医学交叉的学科：研究辐射怎样影响人体，测量和计算人受到的辐射，用来保护工作人员、公众和环境。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凭感觉判断“没事”，不看仪器读数</a:t>
            </a:r>
          </a:p>
          <a:p>
            <a:pPr>
              <a:spcAft>
                <a:spcPts val="1000"/>
              </a:spcAft>
            </a:pPr>
            <a:r>
              <a:rPr sz="1500">
                <a:solidFill>
                  <a:srgbClr val="222B33"/>
                </a:solidFill>
                <a:latin typeface="Microsoft YaHei"/>
              </a:rPr>
              <a:t>▪ 不懂剂量和单位，看不懂个人剂量报告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历史的教训：放射性物质进入体内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很早以前有人用铀给玻璃上色</a:t>
            </a:r>
          </a:p>
          <a:p>
            <a:pPr>
              <a:spcAft>
                <a:spcPts val="1000"/>
              </a:spcAft>
            </a:pPr>
            <a:r>
              <a:rPr sz="2000">
                <a:solidFill>
                  <a:srgbClr val="222B33"/>
                </a:solidFill>
                <a:latin typeface="Microsoft YaHei"/>
              </a:rPr>
              <a:t>▪ 表盘女工用嘴抿笔尖，把镭吃进体内</a:t>
            </a:r>
          </a:p>
          <a:p>
            <a:pPr>
              <a:spcAft>
                <a:spcPts val="1000"/>
              </a:spcAft>
            </a:pPr>
            <a:r>
              <a:rPr sz="2000">
                <a:solidFill>
                  <a:srgbClr val="222B33"/>
                </a:solidFill>
                <a:latin typeface="Microsoft YaHei"/>
              </a:rPr>
              <a:t>▪ 后来出现颌骨坏死、骨病和贫血</a:t>
            </a:r>
          </a:p>
          <a:p>
            <a:pPr>
              <a:spcAft>
                <a:spcPts val="1000"/>
              </a:spcAft>
            </a:pPr>
            <a:r>
              <a:rPr sz="2000">
                <a:solidFill>
                  <a:srgbClr val="222B33"/>
                </a:solidFill>
                <a:latin typeface="Microsoft YaHei"/>
              </a:rPr>
              <a:t>▪ 放射性物质绝不能进口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人们早就在不了解危害的情况下使用放射性物质，例如用铀的化合物给玻璃和陶瓷上色。</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在放射性操作区喝水、吃零食</a:t>
            </a:r>
          </a:p>
          <a:p>
            <a:pPr>
              <a:spcAft>
                <a:spcPts val="1000"/>
              </a:spcAft>
            </a:pPr>
            <a:r>
              <a:rPr sz="1500">
                <a:solidFill>
                  <a:srgbClr val="222B33"/>
                </a:solidFill>
                <a:latin typeface="Microsoft YaHei"/>
              </a:rPr>
              <a:t>▪ 用嘴舔标签、咬笔，或用嘴吸移液管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电离辐射与非电离辐射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能打出原子里电子的，叫电离辐射</a:t>
            </a:r>
          </a:p>
          <a:p>
            <a:pPr>
              <a:spcAft>
                <a:spcPts val="1000"/>
              </a:spcAft>
            </a:pPr>
            <a:r>
              <a:rPr sz="1700">
                <a:solidFill>
                  <a:srgbClr val="222B33"/>
                </a:solidFill>
                <a:latin typeface="Microsoft YaHei"/>
              </a:rPr>
              <a:t>▪ α、β、γ、X射线和中子，都会电离</a:t>
            </a:r>
          </a:p>
          <a:p>
            <a:pPr>
              <a:spcAft>
                <a:spcPts val="1000"/>
              </a:spcAft>
            </a:pPr>
            <a:r>
              <a:rPr sz="1700">
                <a:solidFill>
                  <a:srgbClr val="222B33"/>
                </a:solidFill>
                <a:latin typeface="Microsoft YaHei"/>
              </a:rPr>
              <a:t>▪ 带电粒子直接电离，光子中子间接电离</a:t>
            </a:r>
          </a:p>
          <a:p>
            <a:pPr>
              <a:spcAft>
                <a:spcPts val="1000"/>
              </a:spcAft>
            </a:pPr>
            <a:r>
              <a:rPr sz="1700">
                <a:solidFill>
                  <a:srgbClr val="222B33"/>
                </a:solidFill>
                <a:latin typeface="Microsoft YaHei"/>
              </a:rPr>
              <a:t>▪ 紫外、可见光、微波、无线电是非电离</a:t>
            </a:r>
          </a:p>
          <a:p>
            <a:pPr>
              <a:spcAft>
                <a:spcPts val="1000"/>
              </a:spcAft>
            </a:pPr>
            <a:r>
              <a:rPr sz="1700">
                <a:solidFill>
                  <a:srgbClr val="222B33"/>
                </a:solidFill>
                <a:latin typeface="Microsoft YaHei"/>
              </a:rPr>
              <a:t>▪ 电离辐射有专门的警告标志</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辐射按能否使物质电离分为两大类。能量足以把原子中的电子打出去、使原子变成带电离子的，叫电离辐射，包括 α 粒子、β 粒子、γ 射线、X 射线和中子。其中 α、β 等带电粒子直接使物质电离；γ、X 射线等光子和中子不带……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把微波炉、手机信号当成“核辐射”</a:t>
            </a:r>
          </a:p>
          <a:p>
            <a:pPr>
              <a:spcAft>
                <a:spcPts val="1000"/>
              </a:spcAft>
            </a:pPr>
            <a:r>
              <a:rPr sz="1500">
                <a:solidFill>
                  <a:srgbClr val="222B33"/>
                </a:solidFill>
                <a:latin typeface="Microsoft YaHei"/>
              </a:rPr>
              <a:t>▪ 用防 X 射线的铅衣去防紫外线和激光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原子、同位素与放射性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原子由质子、中子和电子组成</a:t>
            </a:r>
          </a:p>
          <a:p>
            <a:pPr>
              <a:spcAft>
                <a:spcPts val="1000"/>
              </a:spcAft>
            </a:pPr>
            <a:r>
              <a:rPr sz="1700">
                <a:solidFill>
                  <a:srgbClr val="222B33"/>
                </a:solidFill>
                <a:latin typeface="Microsoft YaHei"/>
              </a:rPr>
              <a:t>▪ 左上写质量数，左下写质子数</a:t>
            </a:r>
          </a:p>
          <a:p>
            <a:pPr>
              <a:spcAft>
                <a:spcPts val="1000"/>
              </a:spcAft>
            </a:pPr>
            <a:r>
              <a:rPr sz="1700">
                <a:solidFill>
                  <a:srgbClr val="222B33"/>
                </a:solidFill>
                <a:latin typeface="Microsoft YaHei"/>
              </a:rPr>
              <a:t>▪ 质子数相同、中子数不同，是同位素</a:t>
            </a:r>
          </a:p>
          <a:p>
            <a:pPr>
              <a:spcAft>
                <a:spcPts val="1000"/>
              </a:spcAft>
            </a:pPr>
            <a:r>
              <a:rPr sz="1700">
                <a:solidFill>
                  <a:srgbClr val="222B33"/>
                </a:solidFill>
                <a:latin typeface="Microsoft YaHei"/>
              </a:rPr>
              <a:t>▪ 不稳定的核会衰变，放出射线</a:t>
            </a:r>
          </a:p>
          <a:p>
            <a:pPr>
              <a:spcAft>
                <a:spcPts val="1000"/>
              </a:spcAft>
            </a:pPr>
            <a:r>
              <a:rPr sz="1700">
                <a:solidFill>
                  <a:srgbClr val="222B33"/>
                </a:solidFill>
                <a:latin typeface="Microsoft YaHei"/>
              </a:rPr>
              <a:t>▪ 放射性同位素，要按规定管理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原子由原子核和核外电子组成，原子核由质子和中子组成。质子数决定是哪种元素，质子数加中子数是质量数。核素的写法是在元素符号左上角写质量数、左下角写质子数，例如碳-12 和碳-14。</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以为同位素都有放射性</a:t>
            </a:r>
          </a:p>
          <a:p>
            <a:pPr>
              <a:spcAft>
                <a:spcPts val="1000"/>
              </a:spcAft>
            </a:pPr>
            <a:r>
              <a:rPr sz="1500">
                <a:solidFill>
                  <a:srgbClr val="222B33"/>
                </a:solidFill>
                <a:latin typeface="Microsoft YaHei"/>
              </a:rPr>
              <a:t>▪ 把实验室里的放射性同位素和普通试剂混放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天然与人工辐射源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我们受的照射，天然来源占大头</a:t>
            </a:r>
          </a:p>
          <a:p>
            <a:pPr>
              <a:spcAft>
                <a:spcPts val="1000"/>
              </a:spcAft>
            </a:pPr>
            <a:r>
              <a:rPr sz="1700">
                <a:solidFill>
                  <a:srgbClr val="222B33"/>
                </a:solidFill>
                <a:latin typeface="Microsoft YaHei"/>
              </a:rPr>
              <a:t>▪ 天然来源里，地下冒出的氡最多</a:t>
            </a:r>
          </a:p>
          <a:p>
            <a:pPr>
              <a:spcAft>
                <a:spcPts val="1000"/>
              </a:spcAft>
            </a:pPr>
            <a:r>
              <a:rPr sz="1700">
                <a:solidFill>
                  <a:srgbClr val="222B33"/>
                </a:solidFill>
                <a:latin typeface="Microsoft YaHei"/>
              </a:rPr>
              <a:t>▪ 宇宙射线、土壤建材外照射，钾-40内照射</a:t>
            </a:r>
          </a:p>
          <a:p>
            <a:pPr>
              <a:spcAft>
                <a:spcPts val="1000"/>
              </a:spcAft>
            </a:pPr>
            <a:r>
              <a:rPr sz="1700">
                <a:solidFill>
                  <a:srgbClr val="222B33"/>
                </a:solidFill>
                <a:latin typeface="Microsoft YaHei"/>
              </a:rPr>
              <a:t>▪ 人工来源大部分来自医疗</a:t>
            </a:r>
          </a:p>
          <a:p>
            <a:pPr>
              <a:spcAft>
                <a:spcPts val="1000"/>
              </a:spcAft>
            </a:pPr>
            <a:r>
              <a:rPr sz="1700">
                <a:solidFill>
                  <a:srgbClr val="222B33"/>
                </a:solidFill>
                <a:latin typeface="Microsoft YaHei"/>
              </a:rPr>
              <a:t>▪ 核电正常运行，贡献很小</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人受到的电离辐射照射，来自天然辐射源和人工辐射源两部分，其中天然来源占大头。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以为只有核电站和实验室才有辐射</a:t>
            </a:r>
          </a:p>
          <a:p>
            <a:pPr>
              <a:spcAft>
                <a:spcPts val="1000"/>
              </a:spcAft>
            </a:pPr>
            <a:r>
              <a:rPr sz="1500">
                <a:solidFill>
                  <a:srgbClr val="222B33"/>
                </a:solidFill>
                <a:latin typeface="Microsoft YaHei"/>
              </a:rPr>
              <a:t>▪ 以为人工辐射里核电最多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本底辐射：处处都有，因地而异</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没放源，仪器读数也在涨</a:t>
            </a:r>
          </a:p>
          <a:p>
            <a:pPr>
              <a:spcAft>
                <a:spcPts val="1000"/>
              </a:spcAft>
            </a:pPr>
            <a:r>
              <a:rPr sz="1700">
                <a:solidFill>
                  <a:srgbClr val="222B33"/>
                </a:solidFill>
                <a:latin typeface="Microsoft YaHei"/>
              </a:rPr>
              <a:t>▪ 本底辐射处处有，没有零辐射的地方</a:t>
            </a:r>
          </a:p>
          <a:p>
            <a:pPr>
              <a:spcAft>
                <a:spcPts val="1000"/>
              </a:spcAft>
            </a:pPr>
            <a:r>
              <a:rPr sz="1700">
                <a:solidFill>
                  <a:srgbClr val="222B33"/>
                </a:solidFill>
                <a:latin typeface="Microsoft YaHei"/>
              </a:rPr>
              <a:t>▪ 本底随地点、海拔不同，可差好几倍</a:t>
            </a:r>
          </a:p>
          <a:p>
            <a:pPr>
              <a:spcAft>
                <a:spcPts val="1000"/>
              </a:spcAft>
            </a:pPr>
            <a:r>
              <a:rPr sz="1700">
                <a:solidFill>
                  <a:srgbClr val="222B33"/>
                </a:solidFill>
                <a:latin typeface="Microsoft YaHei"/>
              </a:rPr>
              <a:t>▪ 职业照射要另外计算</a:t>
            </a:r>
          </a:p>
          <a:p>
            <a:pPr>
              <a:spcAft>
                <a:spcPts val="1000"/>
              </a:spcAft>
            </a:pPr>
            <a:r>
              <a:rPr sz="1700">
                <a:solidFill>
                  <a:srgbClr val="222B33"/>
                </a:solidFill>
                <a:latin typeface="Microsoft YaHei"/>
              </a:rPr>
              <a:t>▪ 本底管不了，工作照射能控制</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把辐射探测仪开着放一夜，即使附近没有放射源，第二天也会记录到不少计数。这就是本底辐射：宇宙射线、岩石土壤、建筑材料（如水泥中的钾）、空气中的氡、人体自身的放射性，以及核设施、放射性废物、医学应用等，都会贡献一份，加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测样品时不扣本底，误以为样品有污染</a:t>
            </a:r>
          </a:p>
          <a:p>
            <a:pPr>
              <a:spcAft>
                <a:spcPts val="1000"/>
              </a:spcAft>
            </a:pPr>
            <a:r>
              <a:rPr sz="1500">
                <a:solidFill>
                  <a:srgbClr val="222B33"/>
                </a:solidFill>
                <a:latin typeface="Microsoft YaHei"/>
              </a:rPr>
              <a:t>▪ 把“本底也有辐射”当成工作中不防护的理由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辐射在科研和医学中的用途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能看透人体，也能检查零件</a:t>
            </a:r>
          </a:p>
          <a:p>
            <a:pPr>
              <a:spcAft>
                <a:spcPts val="1000"/>
              </a:spcAft>
            </a:pPr>
            <a:r>
              <a:rPr sz="2000">
                <a:solidFill>
                  <a:srgbClr val="222B33"/>
                </a:solidFill>
                <a:latin typeface="Microsoft YaHei"/>
              </a:rPr>
              <a:t>▪ 测年代、器械灭菌、烟感、食品保鲜</a:t>
            </a:r>
          </a:p>
          <a:p>
            <a:pPr>
              <a:spcAft>
                <a:spcPts val="1000"/>
              </a:spcAft>
            </a:pPr>
            <a:r>
              <a:rPr sz="2000">
                <a:solidFill>
                  <a:srgbClr val="222B33"/>
                </a:solidFill>
                <a:latin typeface="Microsoft YaHei"/>
              </a:rPr>
              <a:t>▪ 放射性标记能追踪分子在体内的去向</a:t>
            </a:r>
          </a:p>
          <a:p>
            <a:pPr>
              <a:spcAft>
                <a:spcPts val="1000"/>
              </a:spcAft>
            </a:pPr>
            <a:r>
              <a:rPr sz="2000">
                <a:solidFill>
                  <a:srgbClr val="222B33"/>
                </a:solidFill>
                <a:latin typeface="Microsoft YaHei"/>
              </a:rPr>
              <a:t>▪ 实验室里的发现，最终用来治病救人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电离辐射的用途很广：医学上用于 X 射线检查、CT、核医学显像和放射治疗；工业上用于射线探伤检查零件焊缝、测厚和料位测量；还用于碳-14 测定年代、医疗器械辐照灭菌、部分烟雾报警器和食品辐照保鲜。高校实验室常见的有 ……</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以为只有核专业才会接触辐射，忽视学院里的射线装置</a:t>
            </a:r>
          </a:p>
          <a:p>
            <a:pPr>
              <a:spcAft>
                <a:spcPts val="1000"/>
              </a:spcAft>
            </a:pPr>
            <a:r>
              <a:rPr sz="1500">
                <a:solidFill>
                  <a:srgbClr val="222B33"/>
                </a:solidFill>
                <a:latin typeface="Microsoft YaHei"/>
              </a:rPr>
              <a:t>▪ 做放射性标记实验前不了解所用核素的性质和防护要求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放射治疗：多打病灶，少伤好细胞</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辐射能打断癌细胞的化学键</a:t>
            </a:r>
          </a:p>
          <a:p>
            <a:pPr>
              <a:spcAft>
                <a:spcPts val="1000"/>
              </a:spcAft>
            </a:pPr>
            <a:r>
              <a:rPr sz="1700">
                <a:solidFill>
                  <a:srgbClr val="222B33"/>
                </a:solidFill>
                <a:latin typeface="Microsoft YaHei"/>
              </a:rPr>
              <a:t>▪ 让它停止分裂，或者直接杀死</a:t>
            </a:r>
          </a:p>
          <a:p>
            <a:pPr>
              <a:spcAft>
                <a:spcPts val="1000"/>
              </a:spcAft>
            </a:pPr>
            <a:r>
              <a:rPr sz="1700">
                <a:solidFill>
                  <a:srgbClr val="222B33"/>
                </a:solidFill>
                <a:latin typeface="Microsoft YaHei"/>
              </a:rPr>
              <a:t>▪ 要多打病灶，少伤好细胞</a:t>
            </a:r>
          </a:p>
          <a:p>
            <a:pPr>
              <a:spcAft>
                <a:spcPts val="1000"/>
              </a:spcAft>
            </a:pPr>
            <a:r>
              <a:rPr sz="1700">
                <a:solidFill>
                  <a:srgbClr val="222B33"/>
                </a:solidFill>
                <a:latin typeface="Microsoft YaHei"/>
              </a:rPr>
              <a:t>▪ 靠药物把核素送到病灶，选合适射程</a:t>
            </a:r>
          </a:p>
          <a:p>
            <a:pPr>
              <a:spcAft>
                <a:spcPts val="1000"/>
              </a:spcAft>
            </a:pPr>
            <a:r>
              <a:rPr sz="1700">
                <a:solidFill>
                  <a:srgbClr val="222B33"/>
                </a:solidFill>
                <a:latin typeface="Microsoft YaHei"/>
              </a:rPr>
              <a:t>▪ 用哪种射线由医生和物理师评估</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辐射能打断细胞中分子（特别是 DNA）的化学键。放射治疗正是利用这一点对付肿瘤：一是让癌细胞失去分裂能力，肿瘤不再长大；二是直接杀死癌细胞。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以为射线只伤癌细胞、不伤正常细胞</a:t>
            </a:r>
          </a:p>
          <a:p>
            <a:pPr>
              <a:spcAft>
                <a:spcPts val="1000"/>
              </a:spcAft>
            </a:pPr>
            <a:r>
              <a:rPr sz="1500">
                <a:solidFill>
                  <a:srgbClr val="222B33"/>
                </a:solidFill>
                <a:latin typeface="Microsoft YaHei"/>
              </a:rPr>
              <a:t>▪ 以为能“防辐射”的药可以日常服用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依法管理：先培训，再上岗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辐射工作有法律和条例管着</a:t>
            </a:r>
          </a:p>
          <a:p>
            <a:pPr>
              <a:spcAft>
                <a:spcPts val="1000"/>
              </a:spcAft>
            </a:pPr>
            <a:r>
              <a:rPr sz="1700">
                <a:solidFill>
                  <a:srgbClr val="222B33"/>
                </a:solidFill>
                <a:latin typeface="Microsoft YaHei"/>
              </a:rPr>
              <a:t>▪ 学校有专门的辐射安全管理机构</a:t>
            </a:r>
          </a:p>
          <a:p>
            <a:pPr>
              <a:spcAft>
                <a:spcPts val="1000"/>
              </a:spcAft>
            </a:pPr>
            <a:r>
              <a:rPr sz="1700">
                <a:solidFill>
                  <a:srgbClr val="222B33"/>
                </a:solidFill>
                <a:latin typeface="Microsoft YaHei"/>
              </a:rPr>
              <a:t>▪ 接触放射性前，先培训、考核合格</a:t>
            </a:r>
          </a:p>
          <a:p>
            <a:pPr>
              <a:spcAft>
                <a:spcPts val="1000"/>
              </a:spcAft>
            </a:pPr>
            <a:r>
              <a:rPr sz="1700">
                <a:solidFill>
                  <a:srgbClr val="222B33"/>
                </a:solidFill>
                <a:latin typeface="Microsoft YaHei"/>
              </a:rPr>
              <a:t>▪ 按规定佩戴个人剂量计，定期检测</a:t>
            </a:r>
          </a:p>
          <a:p>
            <a:pPr>
              <a:spcAft>
                <a:spcPts val="1000"/>
              </a:spcAft>
            </a:pPr>
            <a:r>
              <a:rPr sz="1700">
                <a:solidFill>
                  <a:srgbClr val="222B33"/>
                </a:solidFill>
                <a:latin typeface="Microsoft YaHei"/>
              </a:rPr>
              <a:t>▪ 没培训，不能进辐射工作场所</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我国按《中华人民共和国放射性污染防治法》和《放射性同位素与射线装置安全和防护条例》（均以现行文本为准）管理放射性同位素和射线装置：使用单位要取得辐射安全许可证，在许可的种类和范围内使用；按 GB 18871-2002……</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跟着师兄先做起来，培训以后再补</a:t>
            </a:r>
          </a:p>
          <a:p>
            <a:pPr>
              <a:spcAft>
                <a:spcPts val="1000"/>
              </a:spcAft>
            </a:pPr>
            <a:r>
              <a:rPr sz="1500">
                <a:solidFill>
                  <a:srgbClr val="222B33"/>
                </a:solidFill>
                <a:latin typeface="Microsoft YaHei"/>
              </a:rPr>
              <a:t>▪ 嫌麻烦不戴个人剂量计，或把剂量计放在抽屉里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下列属于电离辐射的是：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微波</a:t>
            </a:r>
          </a:p>
          <a:p>
            <a:pPr algn="l"/>
            <a:r>
              <a:rPr sz="1500" b="0">
                <a:solidFill>
                  <a:srgbClr val="222B33"/>
                </a:solidFill>
                <a:latin typeface="Microsoft YaHei"/>
              </a:rPr>
              <a:t>B. 可见光</a:t>
            </a:r>
          </a:p>
          <a:p>
            <a:pPr algn="l"/>
            <a:r>
              <a:rPr sz="1500" b="0">
                <a:solidFill>
                  <a:srgbClr val="222B33"/>
                </a:solidFill>
                <a:latin typeface="Microsoft YaHei"/>
              </a:rPr>
              <a:t>C. γ 射线</a:t>
            </a:r>
          </a:p>
          <a:p>
            <a:pPr algn="l"/>
            <a:r>
              <a:rPr sz="1500" b="0">
                <a:solidFill>
                  <a:srgbClr val="222B33"/>
                </a:solidFill>
                <a:latin typeface="Microsoft YaHei"/>
              </a:rPr>
              <a:t>D. 无线电波</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判断：碳-12 和碳-14 质子数相同、中子数不同，互为同位素，而且同位素都有放射性。</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天然辐射照射中贡献最大的一项通常是：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核电站</a:t>
            </a:r>
          </a:p>
          <a:p>
            <a:pPr algn="l"/>
            <a:r>
              <a:rPr sz="1500" b="0">
                <a:solidFill>
                  <a:srgbClr val="222B33"/>
                </a:solidFill>
                <a:latin typeface="Microsoft YaHei"/>
              </a:rPr>
              <a:t>B. 吸入的氡</a:t>
            </a:r>
          </a:p>
          <a:p>
            <a:pPr algn="l"/>
            <a:r>
              <a:rPr sz="1500" b="0">
                <a:solidFill>
                  <a:srgbClr val="222B33"/>
                </a:solidFill>
                <a:latin typeface="Microsoft YaHei"/>
              </a:rPr>
              <a:t>C. 手机信号</a:t>
            </a:r>
          </a:p>
          <a:p>
            <a:pPr algn="l"/>
            <a:r>
              <a:rPr sz="1500" b="0">
                <a:solidFill>
                  <a:srgbClr val="222B33"/>
                </a:solidFill>
                <a:latin typeface="Microsoft YaHei"/>
              </a:rPr>
              <a:t>D. 烟雾报警器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判断：既然本底辐射处处都有，辐射工作中的照射就不用另外监测和控制。</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085 · 辐射的基本概念</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085 辐射的基本概念</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简答：上世纪表盘女工的事件给实验室带来什么教训？</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K1  辐射有利有弊，先学防护</a:t>
            </a:r>
          </a:p>
          <a:p>
            <a:pPr>
              <a:spcAft>
                <a:spcPts val="800"/>
              </a:spcAft>
            </a:pPr>
            <a:r>
              <a:rPr sz="1800">
                <a:solidFill>
                  <a:srgbClr val="FFFFFF"/>
                </a:solidFill>
                <a:latin typeface="Microsoft YaHei"/>
              </a:rPr>
              <a:t>▪ K2  健康物理：测量辐射，保护人</a:t>
            </a:r>
          </a:p>
          <a:p>
            <a:pPr>
              <a:spcAft>
                <a:spcPts val="800"/>
              </a:spcAft>
            </a:pPr>
            <a:r>
              <a:rPr sz="1800">
                <a:solidFill>
                  <a:srgbClr val="FFFFFF"/>
                </a:solidFill>
                <a:latin typeface="Microsoft YaHei"/>
              </a:rPr>
              <a:t>▪ K3  历史的教训：放射性物质进入体内</a:t>
            </a:r>
          </a:p>
          <a:p>
            <a:pPr>
              <a:spcAft>
                <a:spcPts val="800"/>
              </a:spcAft>
            </a:pPr>
            <a:r>
              <a:rPr sz="1800">
                <a:solidFill>
                  <a:srgbClr val="FFFFFF"/>
                </a:solidFill>
                <a:latin typeface="Microsoft YaHei"/>
              </a:rPr>
              <a:t>▪ K4  电离辐射与非电离辐射</a:t>
            </a:r>
          </a:p>
          <a:p>
            <a:pPr>
              <a:spcAft>
                <a:spcPts val="800"/>
              </a:spcAft>
            </a:pPr>
            <a:r>
              <a:rPr sz="1800">
                <a:solidFill>
                  <a:srgbClr val="FFFFFF"/>
                </a:solidFill>
                <a:latin typeface="Microsoft YaHei"/>
              </a:rPr>
              <a:t>▪ K5  原子、同位素与放射性</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K6  天然与人工辐射源</a:t>
            </a:r>
          </a:p>
          <a:p>
            <a:pPr>
              <a:spcAft>
                <a:spcPts val="800"/>
              </a:spcAft>
            </a:pPr>
            <a:r>
              <a:rPr sz="1800">
                <a:solidFill>
                  <a:srgbClr val="FFFFFF"/>
                </a:solidFill>
                <a:latin typeface="Microsoft YaHei"/>
              </a:rPr>
              <a:t>▪ K7  本底辐射：处处都有，因地而异</a:t>
            </a:r>
          </a:p>
          <a:p>
            <a:pPr>
              <a:spcAft>
                <a:spcPts val="800"/>
              </a:spcAft>
            </a:pPr>
            <a:r>
              <a:rPr sz="1800">
                <a:solidFill>
                  <a:srgbClr val="FFFFFF"/>
                </a:solidFill>
                <a:latin typeface="Microsoft YaHei"/>
              </a:rPr>
              <a:t>▪ K8  辐射在科研和医学中的用途</a:t>
            </a:r>
          </a:p>
          <a:p>
            <a:pPr>
              <a:spcAft>
                <a:spcPts val="800"/>
              </a:spcAft>
            </a:pPr>
            <a:r>
              <a:rPr sz="1800">
                <a:solidFill>
                  <a:srgbClr val="FFFFFF"/>
                </a:solidFill>
                <a:latin typeface="Microsoft YaHei"/>
              </a:rPr>
              <a:t>▪ K9  放射治疗：多打病灶，少伤好细胞</a:t>
            </a:r>
          </a:p>
          <a:p>
            <a:pPr>
              <a:spcAft>
                <a:spcPts val="800"/>
              </a:spcAft>
            </a:pPr>
            <a:r>
              <a:rPr sz="1800">
                <a:solidFill>
                  <a:srgbClr val="FFFFFF"/>
                </a:solidFill>
                <a:latin typeface="Microsoft YaHei"/>
              </a:rPr>
              <a:t>▪ S1  依法管理：先培训，再上岗</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086</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射线的性质与衰变</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86 镜）　适用对象：使用放射性同位素（含放射性标记、示踪和核医学相关实验）、密封放射源或射线装置的本科生、研究生和教职工（辐射类必修）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 α、β、γ（X）射线和中子的本质、电离本领和穿透本领的差别，以及它们从体外照射和进入体内时危害的不同。</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能按射线种类选择屏蔽材料：α 用纸，β 先用有机玻璃等轻材料、外面再加铅，γ 和 X 射线用铅或混凝土，中子用含氢多的材料。</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能说出活度的含义和单位贝可（Bq），知道居里（Ci）是旧单位；能用半衰期和衰变表估算放射源现在的活度。</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能区分物理半衰期、生物半衰期和有效半衰期，理解“有效半衰期比两者都短”，以及长寿命核素进入体内的危害。</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18871-2002（以现行文本为准）《电离辐射防护与辐射源安全基本标准》：辐射防护的量和要求、放射源的安全</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《放射性同位素与射线装置安全和防护条例》（以现行文本为准）：放射性同位素的贮存、使用、台账和安全保卫</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《中华人民共和国计量法》及国家法定计量单位（以现行文本为准）：活度用贝可（Bq），居里等旧单位只作换算</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本校辐射安全管理规定（以本校规定为准）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电离辐射有哪几种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电离辐射分两类</a:t>
            </a:r>
          </a:p>
          <a:p>
            <a:pPr>
              <a:spcAft>
                <a:spcPts val="1000"/>
              </a:spcAft>
            </a:pPr>
            <a:r>
              <a:rPr sz="2000">
                <a:solidFill>
                  <a:srgbClr val="222B33"/>
                </a:solidFill>
                <a:latin typeface="Microsoft YaHei"/>
              </a:rPr>
              <a:t>▪ 高能光子：X射线和γ射线</a:t>
            </a:r>
          </a:p>
          <a:p>
            <a:pPr>
              <a:spcAft>
                <a:spcPts val="1000"/>
              </a:spcAft>
            </a:pPr>
            <a:r>
              <a:rPr sz="2000">
                <a:solidFill>
                  <a:srgbClr val="222B33"/>
                </a:solidFill>
                <a:latin typeface="Microsoft YaHei"/>
              </a:rPr>
              <a:t>▪ 粒子：α、β和中子</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实验室和医学中常见的电离辐射分为两类：一类是高能光子，即 X 射线和 γ 射线，它们都是电磁波，区别主要在来源——γ 射线来自原子核，X 射线来自核外电子或电子被减速（如 X 射线管）；另一类是粒子，包括 α 粒子、……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以为“辐射”都是一回事，用一种办法防所有射线</a:t>
            </a:r>
          </a:p>
          <a:p>
            <a:pPr>
              <a:spcAft>
                <a:spcPts val="1000"/>
              </a:spcAft>
            </a:pPr>
            <a:r>
              <a:rPr sz="1500">
                <a:solidFill>
                  <a:srgbClr val="222B33"/>
                </a:solidFill>
                <a:latin typeface="Microsoft YaHei"/>
              </a:rPr>
              <a:t>▪ 不了解所用核素放出哪种射线就开始实验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α粒子：电离强，射程短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α粒子由两个质子、两个中子组成</a:t>
            </a:r>
          </a:p>
          <a:p>
            <a:pPr>
              <a:spcAft>
                <a:spcPts val="1000"/>
              </a:spcAft>
            </a:pPr>
            <a:r>
              <a:rPr sz="2000">
                <a:solidFill>
                  <a:srgbClr val="222B33"/>
                </a:solidFill>
                <a:latin typeface="Microsoft YaHei"/>
              </a:rPr>
              <a:t>▪ 带正电，沿途电离本领很强</a:t>
            </a:r>
          </a:p>
          <a:p>
            <a:pPr>
              <a:spcAft>
                <a:spcPts val="1000"/>
              </a:spcAft>
            </a:pPr>
            <a:r>
              <a:rPr sz="2000">
                <a:solidFill>
                  <a:srgbClr val="222B33"/>
                </a:solidFill>
                <a:latin typeface="Microsoft YaHei"/>
              </a:rPr>
              <a:t>▪ 拉开几厘米，几乎测不到</a:t>
            </a:r>
          </a:p>
          <a:p>
            <a:pPr>
              <a:spcAft>
                <a:spcPts val="1000"/>
              </a:spcAft>
            </a:pPr>
            <a:r>
              <a:rPr sz="2000">
                <a:solidFill>
                  <a:srgbClr val="222B33"/>
                </a:solidFill>
                <a:latin typeface="Microsoft YaHei"/>
              </a:rPr>
              <a:t>▪ 一张纸就能挡住α</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α 粒子由两个质子和两个中子组成（即氦原子核），带正电，质量大。它沿途与物质剧烈作用，电离本领很强，但能量很快耗尽，所以射程很短：在空气中只能走几厘米，一张纸就能把它挡住。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 α 一张纸就挡住，所以 α 核素“没什么危险”</a:t>
            </a:r>
          </a:p>
          <a:p>
            <a:pPr>
              <a:spcAft>
                <a:spcPts val="1000"/>
              </a:spcAft>
            </a:pPr>
            <a:r>
              <a:rPr sz="1500">
                <a:solidFill>
                  <a:srgbClr val="222B33"/>
                </a:solidFill>
                <a:latin typeface="Microsoft YaHei"/>
              </a:rPr>
              <a:t>▪ 徒手拿取演示源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β粒子：走得更远，厚铝板才挡住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β粒子是原子核放出的高能电子</a:t>
            </a:r>
          </a:p>
          <a:p>
            <a:pPr>
              <a:spcAft>
                <a:spcPts val="1000"/>
              </a:spcAft>
            </a:pPr>
            <a:r>
              <a:rPr sz="2000">
                <a:solidFill>
                  <a:srgbClr val="222B33"/>
                </a:solidFill>
                <a:latin typeface="Microsoft YaHei"/>
              </a:rPr>
              <a:t>▪ 比α走得远得多</a:t>
            </a:r>
          </a:p>
          <a:p>
            <a:pPr>
              <a:spcAft>
                <a:spcPts val="1000"/>
              </a:spcAft>
            </a:pPr>
            <a:r>
              <a:rPr sz="2000">
                <a:solidFill>
                  <a:srgbClr val="222B33"/>
                </a:solidFill>
                <a:latin typeface="Microsoft YaHei"/>
              </a:rPr>
              <a:t>▪ 一张纸、薄铝片都挡不住多少</a:t>
            </a:r>
          </a:p>
          <a:p>
            <a:pPr>
              <a:spcAft>
                <a:spcPts val="1000"/>
              </a:spcAft>
            </a:pPr>
            <a:r>
              <a:rPr sz="2000">
                <a:solidFill>
                  <a:srgbClr val="222B33"/>
                </a:solidFill>
                <a:latin typeface="Microsoft YaHei"/>
              </a:rPr>
              <a:t>▪ 换成厚铝板或有机玻璃才挡住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β 粒子是原子核衰变时放出的高能电子，带负电，质量很小。它的电离本领比 α 弱，穿透本领比 α 强得多：在空气中能走几十厘米甚至更远（与能量有关），拉开十几厘米还能测到不少计数。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用纸或薄塑料袋当 β 的屏蔽</a:t>
            </a:r>
          </a:p>
          <a:p>
            <a:pPr>
              <a:spcAft>
                <a:spcPts val="1000"/>
              </a:spcAft>
            </a:pPr>
            <a:r>
              <a:rPr sz="1500">
                <a:solidFill>
                  <a:srgbClr val="222B33"/>
                </a:solidFill>
                <a:latin typeface="Microsoft YaHei"/>
              </a:rPr>
              <a:t>▪ 以为 β 核素都一样，不看能量</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γ射线：穿透最强，铅也只能减弱</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γ射线不是粒子，是高能光子</a:t>
            </a:r>
          </a:p>
          <a:p>
            <a:pPr>
              <a:spcAft>
                <a:spcPts val="1000"/>
              </a:spcAft>
            </a:pPr>
            <a:r>
              <a:rPr sz="2000">
                <a:solidFill>
                  <a:srgbClr val="222B33"/>
                </a:solidFill>
                <a:latin typeface="Microsoft YaHei"/>
              </a:rPr>
              <a:t>▪ 拉远了会下降，但降不到零</a:t>
            </a:r>
          </a:p>
          <a:p>
            <a:pPr>
              <a:spcAft>
                <a:spcPts val="1000"/>
              </a:spcAft>
            </a:pPr>
            <a:r>
              <a:rPr sz="2000">
                <a:solidFill>
                  <a:srgbClr val="222B33"/>
                </a:solidFill>
                <a:latin typeface="Microsoft YaHei"/>
              </a:rPr>
              <a:t>▪ 纸和铝对γ几乎没作用</a:t>
            </a:r>
          </a:p>
          <a:p>
            <a:pPr>
              <a:spcAft>
                <a:spcPts val="1000"/>
              </a:spcAft>
            </a:pPr>
            <a:r>
              <a:rPr sz="2000">
                <a:solidFill>
                  <a:srgbClr val="222B33"/>
                </a:solidFill>
                <a:latin typeface="Microsoft YaHei"/>
              </a:rPr>
              <a:t>▪ 厚铅也只是减弱，挡不完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γ 射线是原子核放出的高能光子，属于电磁波，不带电。它的电离本领最弱、穿透本领最强。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以为加一块铅就“完全没有辐射”了</a:t>
            </a:r>
          </a:p>
          <a:p>
            <a:pPr>
              <a:spcAft>
                <a:spcPts val="1000"/>
              </a:spcAft>
            </a:pPr>
            <a:r>
              <a:rPr sz="1500">
                <a:solidFill>
                  <a:srgbClr val="222B33"/>
                </a:solidFill>
                <a:latin typeface="Microsoft YaHei"/>
              </a:rPr>
              <a:t>▪ 以为离开一点距离 γ 就测不到了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电离与穿透，此消彼长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比两样：电离本领和穿透本领</a:t>
            </a:r>
          </a:p>
          <a:p>
            <a:pPr>
              <a:spcAft>
                <a:spcPts val="1000"/>
              </a:spcAft>
            </a:pPr>
            <a:r>
              <a:rPr sz="1700">
                <a:solidFill>
                  <a:srgbClr val="222B33"/>
                </a:solidFill>
                <a:latin typeface="Microsoft YaHei"/>
              </a:rPr>
              <a:t>▪ 工具很简单：纸、铝片、铅片</a:t>
            </a:r>
          </a:p>
          <a:p>
            <a:pPr>
              <a:spcAft>
                <a:spcPts val="1000"/>
              </a:spcAft>
            </a:pPr>
            <a:r>
              <a:rPr sz="1700">
                <a:solidFill>
                  <a:srgbClr val="222B33"/>
                </a:solidFill>
                <a:latin typeface="Microsoft YaHei"/>
              </a:rPr>
              <a:t>▪ 纸挡α，铝挡β，铅减弱γ</a:t>
            </a:r>
          </a:p>
          <a:p>
            <a:pPr>
              <a:spcAft>
                <a:spcPts val="1000"/>
              </a:spcAft>
            </a:pPr>
            <a:r>
              <a:rPr sz="1700">
                <a:solidFill>
                  <a:srgbClr val="222B33"/>
                </a:solidFill>
                <a:latin typeface="Microsoft YaHei"/>
              </a:rPr>
              <a:t>▪ α电离最强穿透最弱，γ正好相反</a:t>
            </a:r>
          </a:p>
          <a:p>
            <a:pPr>
              <a:spcAft>
                <a:spcPts val="1000"/>
              </a:spcAft>
            </a:pPr>
            <a:r>
              <a:rPr sz="1700">
                <a:solidFill>
                  <a:srgbClr val="222B33"/>
                </a:solidFill>
                <a:latin typeface="Microsoft YaHei"/>
              </a:rPr>
              <a:t>▪ 磁场里α、β偏向相反，γ不偏</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比较三种射线，看两样本领：电离本领（沿途使物质电离的能力）和穿透本领（能穿过多厚的物质）。用纸、铝片、铅片三样简单的东西就能比较：纸挡住 α，铝挡住 β，铅只能减弱 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把“电离强”当成“穿透强”</a:t>
            </a:r>
          </a:p>
          <a:p>
            <a:pPr>
              <a:spcAft>
                <a:spcPts val="1000"/>
              </a:spcAft>
            </a:pPr>
            <a:r>
              <a:rPr sz="1500">
                <a:solidFill>
                  <a:srgbClr val="222B33"/>
                </a:solidFill>
                <a:latin typeface="Microsoft YaHei"/>
              </a:rPr>
              <a:t>▪ 认为穿透最强的 γ 对体内危害一定最大</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射线进入人体：穿透不同，危害不同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α在体外，死皮就能挡住</a:t>
            </a:r>
          </a:p>
          <a:p>
            <a:pPr>
              <a:spcAft>
                <a:spcPts val="1000"/>
              </a:spcAft>
            </a:pPr>
            <a:r>
              <a:rPr sz="1700">
                <a:solidFill>
                  <a:srgbClr val="222B33"/>
                </a:solidFill>
                <a:latin typeface="Microsoft YaHei"/>
              </a:rPr>
              <a:t>▪ α一旦吃进、吸进体内，危害很大</a:t>
            </a:r>
          </a:p>
          <a:p>
            <a:pPr>
              <a:spcAft>
                <a:spcPts val="1000"/>
              </a:spcAft>
            </a:pPr>
            <a:r>
              <a:rPr sz="1700">
                <a:solidFill>
                  <a:srgbClr val="222B33"/>
                </a:solidFill>
                <a:latin typeface="Microsoft YaHei"/>
              </a:rPr>
              <a:t>▪ β能进皮肤浅层，伤皮肤和眼睛</a:t>
            </a:r>
          </a:p>
          <a:p>
            <a:pPr>
              <a:spcAft>
                <a:spcPts val="1000"/>
              </a:spcAft>
            </a:pPr>
            <a:r>
              <a:rPr sz="1700">
                <a:solidFill>
                  <a:srgbClr val="222B33"/>
                </a:solidFill>
                <a:latin typeface="Microsoft YaHei"/>
              </a:rPr>
              <a:t>▪ γ和X射线穿透全身，是外照射主要危害</a:t>
            </a:r>
          </a:p>
          <a:p>
            <a:pPr>
              <a:spcAft>
                <a:spcPts val="1000"/>
              </a:spcAft>
            </a:pPr>
            <a:r>
              <a:rPr sz="1700">
                <a:solidFill>
                  <a:srgbClr val="222B33"/>
                </a:solidFill>
                <a:latin typeface="Microsoft YaHei"/>
              </a:rPr>
              <a:t>▪ 中子钻得深，危害大，要专门防护</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从体外照射时：α 粒子连皮肤表面的死细胞层都很难穿过，几乎照不到内脏；β 粒子能进入皮下浅层，主要伤害皮肤和眼晶状体；γ 和 X 射线穿透力强，能照射到全身，是外照射的主要危害；中子穿透深，在人体中主要被氢原子核散射……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 α 外照射弱，就可以不戴手套、不用通风橱</a:t>
            </a:r>
          </a:p>
          <a:p>
            <a:pPr>
              <a:spcAft>
                <a:spcPts val="1000"/>
              </a:spcAft>
            </a:pPr>
            <a:r>
              <a:rPr sz="1500">
                <a:solidFill>
                  <a:srgbClr val="222B33"/>
                </a:solidFill>
                <a:latin typeface="Microsoft YaHei"/>
              </a:rPr>
              <a:t>▪ 只防外照射，不管吸入和沾污</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不同射线，不同屏蔽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α一张纸就能挡住</a:t>
            </a:r>
          </a:p>
          <a:p>
            <a:pPr>
              <a:spcAft>
                <a:spcPts val="1000"/>
              </a:spcAft>
            </a:pPr>
            <a:r>
              <a:rPr sz="1700">
                <a:solidFill>
                  <a:srgbClr val="222B33"/>
                </a:solidFill>
                <a:latin typeface="Microsoft YaHei"/>
              </a:rPr>
              <a:t>▪ β用有机玻璃，外面再加铅防X射线</a:t>
            </a:r>
          </a:p>
          <a:p>
            <a:pPr>
              <a:spcAft>
                <a:spcPts val="1000"/>
              </a:spcAft>
            </a:pPr>
            <a:r>
              <a:rPr sz="1700">
                <a:solidFill>
                  <a:srgbClr val="222B33"/>
                </a:solidFill>
                <a:latin typeface="Microsoft YaHei"/>
              </a:rPr>
              <a:t>▪ γ和X射线用铅或厚混凝土</a:t>
            </a:r>
          </a:p>
          <a:p>
            <a:pPr>
              <a:spcAft>
                <a:spcPts val="1000"/>
              </a:spcAft>
            </a:pPr>
            <a:r>
              <a:rPr sz="1700">
                <a:solidFill>
                  <a:srgbClr val="222B33"/>
                </a:solidFill>
                <a:latin typeface="Microsoft YaHei"/>
              </a:rPr>
              <a:t>▪ 中子用石蜡等含氢多的材料</a:t>
            </a:r>
          </a:p>
          <a:p>
            <a:pPr>
              <a:spcAft>
                <a:spcPts val="1000"/>
              </a:spcAft>
            </a:pPr>
            <a:r>
              <a:rPr sz="1700">
                <a:solidFill>
                  <a:srgbClr val="222B33"/>
                </a:solidFill>
                <a:latin typeface="Microsoft YaHei"/>
              </a:rPr>
              <a:t>▪ 放射性药物常装在铅罐里</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按射线种类选屏蔽材料：α 用一张纸（或手套、容器壁）就能挡住；β 用有机玻璃、塑料、铝等原子序数低的材料；γ 和 X 射线用铅、钨或厚混凝土；中子用石蜡、聚乙烯、水、含硼材料和混凝土等含氢多的材料减速吸收。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用铅直接屏蔽磷-32 等高能 β 源</a:t>
            </a:r>
          </a:p>
          <a:p>
            <a:pPr>
              <a:spcAft>
                <a:spcPts val="1000"/>
              </a:spcAft>
            </a:pPr>
            <a:r>
              <a:rPr sz="1500">
                <a:solidFill>
                  <a:srgbClr val="222B33"/>
                </a:solidFill>
                <a:latin typeface="Microsoft YaHei"/>
              </a:rPr>
              <a:t>▪ 用铅屏蔽中子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衰变放出能量，按用途选核素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核素衰变，会变得更稳定</a:t>
            </a:r>
          </a:p>
          <a:p>
            <a:pPr>
              <a:spcAft>
                <a:spcPts val="1000"/>
              </a:spcAft>
            </a:pPr>
            <a:r>
              <a:rPr sz="1700">
                <a:solidFill>
                  <a:srgbClr val="222B33"/>
                </a:solidFill>
                <a:latin typeface="Microsoft YaHei"/>
              </a:rPr>
              <a:t>▪ 同时放出射线和热，能量各不相同</a:t>
            </a:r>
          </a:p>
          <a:p>
            <a:pPr>
              <a:spcAft>
                <a:spcPts val="1000"/>
              </a:spcAft>
            </a:pPr>
            <a:r>
              <a:rPr sz="1700">
                <a:solidFill>
                  <a:srgbClr val="222B33"/>
                </a:solidFill>
                <a:latin typeface="Microsoft YaHei"/>
              </a:rPr>
              <a:t>▪ 按用途选核素，比如烟感用α源</a:t>
            </a:r>
          </a:p>
          <a:p>
            <a:pPr>
              <a:spcAft>
                <a:spcPts val="1000"/>
              </a:spcAft>
            </a:pPr>
            <a:r>
              <a:rPr sz="1700">
                <a:solidFill>
                  <a:srgbClr val="222B33"/>
                </a:solidFill>
                <a:latin typeface="Microsoft YaHei"/>
              </a:rPr>
              <a:t>▪ 放射性同位素的射线会损伤组织</a:t>
            </a:r>
          </a:p>
          <a:p>
            <a:pPr>
              <a:spcAft>
                <a:spcPts val="1000"/>
              </a:spcAft>
            </a:pPr>
            <a:r>
              <a:rPr sz="1700">
                <a:solidFill>
                  <a:srgbClr val="222B33"/>
                </a:solidFill>
                <a:latin typeface="Microsoft YaHei"/>
              </a:rPr>
              <a:t>▪ 放射性物质，要锁好、看好</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不稳定的原子核会自发衰变，变成更稳定的核素，同时放出 α、β、γ 等射线，还有光和热。不同核素放出的射线种类和能量各不相同。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拆开烟雾报警器把里面的源取出来玩</a:t>
            </a:r>
          </a:p>
          <a:p>
            <a:pPr>
              <a:spcAft>
                <a:spcPts val="1000"/>
              </a:spcAft>
            </a:pPr>
            <a:r>
              <a:rPr sz="1500">
                <a:solidFill>
                  <a:srgbClr val="222B33"/>
                </a:solidFill>
                <a:latin typeface="Microsoft YaHei"/>
              </a:rPr>
              <a:t>▪ 放射性物质随手放在普通试剂柜里，不登记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被照过的东西，一般不带放射性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被X射线照过的东西，一般不带放射性</a:t>
            </a:r>
          </a:p>
          <a:p>
            <a:pPr>
              <a:spcAft>
                <a:spcPts val="1000"/>
              </a:spcAft>
            </a:pPr>
            <a:r>
              <a:rPr sz="2000">
                <a:solidFill>
                  <a:srgbClr val="222B33"/>
                </a:solidFill>
                <a:latin typeface="Microsoft YaHei"/>
              </a:rPr>
              <a:t>▪ 拍过片的人和检测过的零件，可放心接触</a:t>
            </a:r>
          </a:p>
          <a:p>
            <a:pPr>
              <a:spcAft>
                <a:spcPts val="1000"/>
              </a:spcAft>
            </a:pPr>
            <a:r>
              <a:rPr sz="2000">
                <a:solidFill>
                  <a:srgbClr val="222B33"/>
                </a:solidFill>
                <a:latin typeface="Microsoft YaHei"/>
              </a:rPr>
              <a:t>▪ 中子等核反应强照射，才可能活化</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被 X 射线、γ 射线照射过的物品和人，一般不会因此带上放射性：拍过片、做过 CT 的人，经过安检的行李，经过射线探伤的零件，经过辐照灭菌的医疗器械，都可以正常接触。射线装置断电后就不再产生 X 射线。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怕接触刚拍过片的同学或病人</a:t>
            </a:r>
          </a:p>
          <a:p>
            <a:pPr>
              <a:spcAft>
                <a:spcPts val="1000"/>
              </a:spcAft>
            </a:pPr>
            <a:r>
              <a:rPr sz="1500">
                <a:solidFill>
                  <a:srgbClr val="222B33"/>
                </a:solidFill>
                <a:latin typeface="Microsoft YaHei"/>
              </a:rPr>
              <a:t>▪ 把“被照射”和“被放射性物质污染”混为一谈</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活度：每秒衰变多少次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活度是每秒衰变的次数</a:t>
            </a:r>
          </a:p>
          <a:p>
            <a:pPr>
              <a:spcAft>
                <a:spcPts val="1000"/>
              </a:spcAft>
            </a:pPr>
            <a:r>
              <a:rPr sz="1700">
                <a:solidFill>
                  <a:srgbClr val="222B33"/>
                </a:solidFill>
                <a:latin typeface="Microsoft YaHei"/>
              </a:rPr>
              <a:t>▪ 单位贝可，每秒衰变一次是1贝可</a:t>
            </a:r>
          </a:p>
          <a:p>
            <a:pPr>
              <a:spcAft>
                <a:spcPts val="1000"/>
              </a:spcAft>
            </a:pPr>
            <a:r>
              <a:rPr sz="1700">
                <a:solidFill>
                  <a:srgbClr val="222B33"/>
                </a:solidFill>
                <a:latin typeface="Microsoft YaHei"/>
              </a:rPr>
              <a:t>▪ 实验室常用千贝可、兆贝可</a:t>
            </a:r>
          </a:p>
          <a:p>
            <a:pPr>
              <a:spcAft>
                <a:spcPts val="1000"/>
              </a:spcAft>
            </a:pPr>
            <a:r>
              <a:rPr sz="1700">
                <a:solidFill>
                  <a:srgbClr val="222B33"/>
                </a:solidFill>
                <a:latin typeface="Microsoft YaHei"/>
              </a:rPr>
              <a:t>▪ 居里是旧单位，1居里等于370亿贝可</a:t>
            </a:r>
          </a:p>
          <a:p>
            <a:pPr>
              <a:spcAft>
                <a:spcPts val="1000"/>
              </a:spcAft>
            </a:pPr>
            <a:r>
              <a:rPr sz="1700">
                <a:solidFill>
                  <a:srgbClr val="222B33"/>
                </a:solidFill>
                <a:latin typeface="Microsoft YaHei"/>
              </a:rPr>
              <a:t>▪ 辐射的量，从源一路算到人</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放射源有多“强”，用活度表示：活度是单位时间内发生衰变的原子核数。国际单位制和我国法定计量单位是贝可勒尔（贝可，Bq），1 Bq 表示每秒衰变 1 次。贝可很小，实验室常用千贝可（kBq）、兆贝可（MBq），医用和工……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台账里混用居里和贝可，不注明单位</a:t>
            </a:r>
          </a:p>
          <a:p>
            <a:pPr>
              <a:spcAft>
                <a:spcPts val="1000"/>
              </a:spcAft>
            </a:pPr>
            <a:r>
              <a:rPr sz="1500">
                <a:solidFill>
                  <a:srgbClr val="222B33"/>
                </a:solidFill>
                <a:latin typeface="Microsoft YaHei"/>
              </a:rPr>
              <a:t>▪ 把活度当成人受到的剂量</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物理半衰期：自己衰变一半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核素放在瓶里，也会自己衰变</a:t>
            </a:r>
          </a:p>
          <a:p>
            <a:pPr>
              <a:spcAft>
                <a:spcPts val="1000"/>
              </a:spcAft>
            </a:pPr>
            <a:r>
              <a:rPr sz="1700">
                <a:solidFill>
                  <a:srgbClr val="222B33"/>
                </a:solidFill>
                <a:latin typeface="Microsoft YaHei"/>
              </a:rPr>
              <a:t>▪ 活度减半的时间，叫物理半衰期</a:t>
            </a:r>
          </a:p>
          <a:p>
            <a:pPr>
              <a:spcAft>
                <a:spcPts val="1000"/>
              </a:spcAft>
            </a:pPr>
            <a:r>
              <a:rPr sz="1700">
                <a:solidFill>
                  <a:srgbClr val="222B33"/>
                </a:solidFill>
                <a:latin typeface="Microsoft YaHei"/>
              </a:rPr>
              <a:t>▪ 只由原子核决定，谁也改变不了</a:t>
            </a:r>
          </a:p>
          <a:p>
            <a:pPr>
              <a:spcAft>
                <a:spcPts val="1000"/>
              </a:spcAft>
            </a:pPr>
            <a:r>
              <a:rPr sz="1700">
                <a:solidFill>
                  <a:srgbClr val="222B33"/>
                </a:solidFill>
                <a:latin typeface="Microsoft YaHei"/>
              </a:rPr>
              <a:t>▪ 过十个半衰期，约剩千分之一</a:t>
            </a:r>
          </a:p>
          <a:p>
            <a:pPr>
              <a:spcAft>
                <a:spcPts val="1000"/>
              </a:spcAft>
            </a:pPr>
            <a:r>
              <a:rPr sz="1700">
                <a:solidFill>
                  <a:srgbClr val="222B33"/>
                </a:solidFill>
                <a:latin typeface="Microsoft YaHei"/>
              </a:rPr>
              <a:t>▪ 短到不到一秒，长到几十亿年</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放射性核素即使放在瓶子里不动，也会不断衰变。原子核衰变掉一半（活度减为一半）所需的时间，叫物理半衰期。它只由核素本身决定，加热、加压、化学反应都改变不了。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以为加热、稀释或化学处理能让放射性消失</a:t>
            </a:r>
          </a:p>
          <a:p>
            <a:pPr>
              <a:spcAft>
                <a:spcPts val="1000"/>
              </a:spcAft>
            </a:pPr>
            <a:r>
              <a:rPr sz="1500">
                <a:solidFill>
                  <a:srgbClr val="222B33"/>
                </a:solidFill>
                <a:latin typeface="Microsoft YaHei"/>
              </a:rPr>
              <a:t>▪ 以为过两个半衰期就“没有放射性了”</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衰变表：查源现在有多强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放射源的活度一天天在减少</a:t>
            </a:r>
          </a:p>
          <a:p>
            <a:pPr>
              <a:spcAft>
                <a:spcPts val="1000"/>
              </a:spcAft>
            </a:pPr>
            <a:r>
              <a:rPr sz="2000">
                <a:solidFill>
                  <a:srgbClr val="222B33"/>
                </a:solidFill>
                <a:latin typeface="Microsoft YaHei"/>
              </a:rPr>
              <a:t>▪ 衰变表按日期列出剩余活度</a:t>
            </a:r>
          </a:p>
          <a:p>
            <a:pPr>
              <a:spcAft>
                <a:spcPts val="1000"/>
              </a:spcAft>
            </a:pPr>
            <a:r>
              <a:rPr sz="2000">
                <a:solidFill>
                  <a:srgbClr val="222B33"/>
                </a:solidFill>
                <a:latin typeface="Microsoft YaHei"/>
              </a:rPr>
              <a:t>▪ 看出厂活度和日期，查表就知道</a:t>
            </a:r>
          </a:p>
          <a:p>
            <a:pPr>
              <a:spcAft>
                <a:spcPts val="1000"/>
              </a:spcAft>
            </a:pPr>
            <a:r>
              <a:rPr sz="2000">
                <a:solidFill>
                  <a:srgbClr val="222B33"/>
                </a:solidFill>
                <a:latin typeface="Microsoft YaHei"/>
              </a:rPr>
              <a:t>▪ 先查清现在多强，再定防护和用量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放射源的活度随时间按半衰期不断减少。衰变表按经过的时间（天、月、年）列出剩余活度占初始活度的比例，或者直接列出各日期的活度。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一直按出厂活度安排实验，不考虑衰变</a:t>
            </a:r>
          </a:p>
          <a:p>
            <a:pPr>
              <a:spcAft>
                <a:spcPts val="1000"/>
              </a:spcAft>
            </a:pPr>
            <a:r>
              <a:rPr sz="1500">
                <a:solidFill>
                  <a:srgbClr val="222B33"/>
                </a:solidFill>
                <a:latin typeface="Microsoft YaHei"/>
              </a:rPr>
              <a:t>▪ 源的标定日期没记录，算不出现在的活度</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生物半衰期：身体排出一半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身体像个浴缸，会往外排</a:t>
            </a:r>
          </a:p>
          <a:p>
            <a:pPr>
              <a:spcAft>
                <a:spcPts val="1000"/>
              </a:spcAft>
            </a:pPr>
            <a:r>
              <a:rPr sz="1700">
                <a:solidFill>
                  <a:srgbClr val="222B33"/>
                </a:solidFill>
                <a:latin typeface="Microsoft YaHei"/>
              </a:rPr>
              <a:t>▪ 排出一半的时间，叫生物半衰期</a:t>
            </a:r>
          </a:p>
          <a:p>
            <a:pPr>
              <a:spcAft>
                <a:spcPts val="1000"/>
              </a:spcAft>
            </a:pPr>
            <a:r>
              <a:rPr sz="1700">
                <a:solidFill>
                  <a:srgbClr val="222B33"/>
                </a:solidFill>
                <a:latin typeface="Microsoft YaHei"/>
              </a:rPr>
              <a:t>▪ 靠排泄和代谢，和衰变无关</a:t>
            </a:r>
          </a:p>
          <a:p>
            <a:pPr>
              <a:spcAft>
                <a:spcPts val="1000"/>
              </a:spcAft>
            </a:pPr>
            <a:r>
              <a:rPr sz="1700">
                <a:solidFill>
                  <a:srgbClr val="222B33"/>
                </a:solidFill>
                <a:latin typeface="Microsoft YaHei"/>
              </a:rPr>
              <a:t>▪ 碘留在甲状腺，锶像钙一样进骨头</a:t>
            </a:r>
          </a:p>
          <a:p>
            <a:pPr>
              <a:spcAft>
                <a:spcPts val="1000"/>
              </a:spcAft>
            </a:pPr>
            <a:r>
              <a:rPr sz="1700">
                <a:solidFill>
                  <a:srgbClr val="222B33"/>
                </a:solidFill>
                <a:latin typeface="Microsoft YaHei"/>
              </a:rPr>
              <a:t>▪ 惰性气体几分钟到几小时就出去</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进入体内的物质会通过代谢、排泄（尿、粪、汗、呼气）逐渐离开身体，像浴缸从排水口往外流。体内某种物质排出一半所需的时间，叫生物半衰期。它取决于元素的化学形态和人体的代谢，与放射性衰变无关。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以为放射性物质进了体内很快都会排掉</a:t>
            </a:r>
          </a:p>
          <a:p>
            <a:pPr>
              <a:spcAft>
                <a:spcPts val="1000"/>
              </a:spcAft>
            </a:pPr>
            <a:r>
              <a:rPr sz="1500">
                <a:solidFill>
                  <a:srgbClr val="222B33"/>
                </a:solidFill>
                <a:latin typeface="Microsoft YaHei"/>
              </a:rPr>
              <a:t>▪ 以为多喝水就能把所有核素排出去</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有效半衰期：两条路一起走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衰变和排出，两个出水口同时放水</a:t>
            </a:r>
          </a:p>
          <a:p>
            <a:pPr>
              <a:spcAft>
                <a:spcPts val="1000"/>
              </a:spcAft>
            </a:pPr>
            <a:r>
              <a:rPr sz="1700">
                <a:solidFill>
                  <a:srgbClr val="222B33"/>
                </a:solidFill>
                <a:latin typeface="Microsoft YaHei"/>
              </a:rPr>
              <a:t>▪ 有效半衰期比两者都短</a:t>
            </a:r>
          </a:p>
          <a:p>
            <a:pPr>
              <a:spcAft>
                <a:spcPts val="1000"/>
              </a:spcAft>
            </a:pPr>
            <a:r>
              <a:rPr sz="1700">
                <a:solidFill>
                  <a:srgbClr val="222B33"/>
                </a:solidFill>
                <a:latin typeface="Microsoft YaHei"/>
              </a:rPr>
              <a:t>▪ 谁更短，谁说了算</a:t>
            </a:r>
          </a:p>
          <a:p>
            <a:pPr>
              <a:spcAft>
                <a:spcPts val="1000"/>
              </a:spcAft>
            </a:pPr>
            <a:r>
              <a:rPr sz="1700">
                <a:solidFill>
                  <a:srgbClr val="222B33"/>
                </a:solidFill>
                <a:latin typeface="Microsoft YaHei"/>
              </a:rPr>
              <a:t>▪ 碘-131：物理8天，甲状腺约80天，合起来约7天</a:t>
            </a:r>
          </a:p>
          <a:p>
            <a:pPr>
              <a:spcAft>
                <a:spcPts val="1000"/>
              </a:spcAft>
            </a:pPr>
            <a:r>
              <a:rPr sz="1700">
                <a:solidFill>
                  <a:srgbClr val="222B33"/>
                </a:solidFill>
                <a:latin typeface="Microsoft YaHei"/>
              </a:rPr>
              <a:t>▪ 随药物、器官和人而不同</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进入体内的放射性核素有两条减少的路：一是自己衰变（物理半衰期），二是被身体排出（生物半衰期）。两条路同时走，就像浴缸开着两个出水口同时放水，体内活度减少得比任何一条路都快。这两条路合起来的减半时间，叫有效半衰期，它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只看物理半衰期估计体内活度</a:t>
            </a:r>
          </a:p>
          <a:p>
            <a:pPr>
              <a:spcAft>
                <a:spcPts val="1000"/>
              </a:spcAft>
            </a:pPr>
            <a:r>
              <a:rPr sz="1500">
                <a:solidFill>
                  <a:srgbClr val="222B33"/>
                </a:solidFill>
                <a:latin typeface="Microsoft YaHei"/>
              </a:rPr>
              <a:t>▪ 以为有效半衰期是物理和生物半衰期的平均值</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桌上的源与身体里的源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桌上的密封源只按物理半衰期减</a:t>
            </a:r>
          </a:p>
          <a:p>
            <a:pPr>
              <a:spcAft>
                <a:spcPts val="1000"/>
              </a:spcAft>
            </a:pPr>
            <a:r>
              <a:rPr sz="1700">
                <a:solidFill>
                  <a:srgbClr val="222B33"/>
                </a:solidFill>
                <a:latin typeface="Microsoft YaHei"/>
              </a:rPr>
              <a:t>▪ 身体是流动的，会往外排</a:t>
            </a:r>
          </a:p>
          <a:p>
            <a:pPr>
              <a:spcAft>
                <a:spcPts val="1000"/>
              </a:spcAft>
            </a:pPr>
            <a:r>
              <a:rPr sz="1700">
                <a:solidFill>
                  <a:srgbClr val="222B33"/>
                </a:solidFill>
                <a:latin typeface="Microsoft YaHei"/>
              </a:rPr>
              <a:t>▪ 长寿命核素留在体内，会长期照射</a:t>
            </a:r>
          </a:p>
          <a:p>
            <a:pPr>
              <a:spcAft>
                <a:spcPts val="1000"/>
              </a:spcAft>
            </a:pPr>
            <a:r>
              <a:rPr sz="1700">
                <a:solidFill>
                  <a:srgbClr val="222B33"/>
                </a:solidFill>
                <a:latin typeface="Microsoft YaHei"/>
              </a:rPr>
              <a:t>▪ 长寿命的密封源，绝不能拿来做药</a:t>
            </a:r>
          </a:p>
          <a:p>
            <a:pPr>
              <a:spcAft>
                <a:spcPts val="1000"/>
              </a:spcAft>
            </a:pPr>
            <a:r>
              <a:rPr sz="1700">
                <a:solidFill>
                  <a:srgbClr val="222B33"/>
                </a:solidFill>
                <a:latin typeface="Microsoft YaHei"/>
              </a:rPr>
              <a:t>▪ 算体内剂量，要用有效半衰期</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放在桌上或贮源容器里的密封源，活度只按物理半衰期减少；进入身体的核素，同时在衰变和被排出，身体是一个流动的系统。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以为密封源和放射性药物可以互相替代</a:t>
            </a:r>
          </a:p>
          <a:p>
            <a:pPr>
              <a:spcAft>
                <a:spcPts val="1000"/>
              </a:spcAft>
            </a:pPr>
            <a:r>
              <a:rPr sz="1500">
                <a:solidFill>
                  <a:srgbClr val="222B33"/>
                </a:solidFill>
                <a:latin typeface="Microsoft YaHei"/>
              </a:rPr>
              <a:t>▪ 自己凭物理半衰期估算体内剂量，下结论</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屏蔽磷-32 等高能 β 源，正确的做法是：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直接用铅砖围起来</a:t>
            </a:r>
          </a:p>
          <a:p>
            <a:pPr algn="l"/>
            <a:r>
              <a:rPr sz="1500" b="0">
                <a:solidFill>
                  <a:srgbClr val="222B33"/>
                </a:solidFill>
                <a:latin typeface="Microsoft YaHei"/>
              </a:rPr>
              <a:t>B. 先用有机玻璃挡住 β，外面再根据需要加铅</a:t>
            </a:r>
          </a:p>
          <a:p>
            <a:pPr algn="l"/>
            <a:r>
              <a:rPr sz="1500" b="0">
                <a:solidFill>
                  <a:srgbClr val="222B33"/>
                </a:solidFill>
                <a:latin typeface="Microsoft YaHei"/>
              </a:rPr>
              <a:t>C. 用一张纸</a:t>
            </a:r>
          </a:p>
          <a:p>
            <a:pPr algn="l"/>
            <a:r>
              <a:rPr sz="1500" b="0">
                <a:solidFill>
                  <a:srgbClr val="222B33"/>
                </a:solidFill>
                <a:latin typeface="Microsoft YaHei"/>
              </a:rPr>
              <a:t>D. 不需要屏蔽</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判断：α 粒子一张纸就能挡住，所以操作 α 核素不用担心吸入和摄入。</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某核素的物理半衰期为 14 天，经过 28 天后，它的活度约为原来的：</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1/2</a:t>
            </a:r>
          </a:p>
          <a:p>
            <a:pPr algn="l"/>
            <a:r>
              <a:rPr sz="1500" b="0">
                <a:solidFill>
                  <a:srgbClr val="222B33"/>
                </a:solidFill>
                <a:latin typeface="Microsoft YaHei"/>
              </a:rPr>
              <a:t>B. 1/4</a:t>
            </a:r>
          </a:p>
          <a:p>
            <a:pPr algn="l"/>
            <a:r>
              <a:rPr sz="1500" b="0">
                <a:solidFill>
                  <a:srgbClr val="222B33"/>
                </a:solidFill>
                <a:latin typeface="Microsoft YaHei"/>
              </a:rPr>
              <a:t>C. 1/8</a:t>
            </a:r>
          </a:p>
          <a:p>
            <a:pPr algn="l"/>
            <a:r>
              <a:rPr sz="1500" b="0">
                <a:solidFill>
                  <a:srgbClr val="222B33"/>
                </a:solidFill>
                <a:latin typeface="Microsoft YaHei"/>
              </a:rPr>
              <a:t>D. 0</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下列关于有效半衰期的说法，正确的是：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等于物理半衰期</a:t>
            </a:r>
          </a:p>
          <a:p>
            <a:pPr algn="l"/>
            <a:r>
              <a:rPr sz="1500" b="0">
                <a:solidFill>
                  <a:srgbClr val="222B33"/>
                </a:solidFill>
                <a:latin typeface="Microsoft YaHei"/>
              </a:rPr>
              <a:t>B. 是物理和生物半衰期的平均值</a:t>
            </a:r>
          </a:p>
          <a:p>
            <a:pPr algn="l"/>
            <a:r>
              <a:rPr sz="1500" b="0">
                <a:solidFill>
                  <a:srgbClr val="222B33"/>
                </a:solidFill>
                <a:latin typeface="Microsoft YaHei"/>
              </a:rPr>
              <a:t>C. 比物理半衰期和生物半衰期都短</a:t>
            </a:r>
          </a:p>
          <a:p>
            <a:pPr algn="l"/>
            <a:r>
              <a:rPr sz="1500" b="0">
                <a:solidFill>
                  <a:srgbClr val="222B33"/>
                </a:solidFill>
                <a:latin typeface="Microsoft YaHei"/>
              </a:rPr>
              <a:t>D. 比两者都长</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086 · 射线的性质与衰变</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086 射线的性质与衰变</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简答：一份旧资料写某源活度为 1 mCi，换成我国法定计量单位是多少？</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电离辐射有哪几种</a:t>
            </a:r>
          </a:p>
          <a:p>
            <a:pPr>
              <a:spcAft>
                <a:spcPts val="800"/>
              </a:spcAft>
            </a:pPr>
            <a:r>
              <a:rPr sz="1500">
                <a:solidFill>
                  <a:srgbClr val="FFFFFF"/>
                </a:solidFill>
                <a:latin typeface="Microsoft YaHei"/>
              </a:rPr>
              <a:t>▪ K2  α粒子：电离强，射程短</a:t>
            </a:r>
          </a:p>
          <a:p>
            <a:pPr>
              <a:spcAft>
                <a:spcPts val="800"/>
              </a:spcAft>
            </a:pPr>
            <a:r>
              <a:rPr sz="1500">
                <a:solidFill>
                  <a:srgbClr val="FFFFFF"/>
                </a:solidFill>
                <a:latin typeface="Microsoft YaHei"/>
              </a:rPr>
              <a:t>▪ K3  β粒子：走得更远，厚铝板才挡住</a:t>
            </a:r>
          </a:p>
          <a:p>
            <a:pPr>
              <a:spcAft>
                <a:spcPts val="800"/>
              </a:spcAft>
            </a:pPr>
            <a:r>
              <a:rPr sz="1500">
                <a:solidFill>
                  <a:srgbClr val="FFFFFF"/>
                </a:solidFill>
                <a:latin typeface="Microsoft YaHei"/>
              </a:rPr>
              <a:t>▪ K4  γ射线：穿透最强，铅也只能减弱</a:t>
            </a:r>
          </a:p>
          <a:p>
            <a:pPr>
              <a:spcAft>
                <a:spcPts val="800"/>
              </a:spcAft>
            </a:pPr>
            <a:r>
              <a:rPr sz="1500">
                <a:solidFill>
                  <a:srgbClr val="FFFFFF"/>
                </a:solidFill>
                <a:latin typeface="Microsoft YaHei"/>
              </a:rPr>
              <a:t>▪ K5  电离与穿透，此消彼长</a:t>
            </a:r>
          </a:p>
          <a:p>
            <a:pPr>
              <a:spcAft>
                <a:spcPts val="800"/>
              </a:spcAft>
            </a:pPr>
            <a:r>
              <a:rPr sz="1500">
                <a:solidFill>
                  <a:srgbClr val="FFFFFF"/>
                </a:solidFill>
                <a:latin typeface="Microsoft YaHei"/>
              </a:rPr>
              <a:t>▪ K6  射线进入人体：穿透不同，危害不同</a:t>
            </a:r>
          </a:p>
          <a:p>
            <a:pPr>
              <a:spcAft>
                <a:spcPts val="800"/>
              </a:spcAft>
            </a:pPr>
            <a:r>
              <a:rPr sz="1500">
                <a:solidFill>
                  <a:srgbClr val="FFFFFF"/>
                </a:solidFill>
                <a:latin typeface="Microsoft YaHei"/>
              </a:rPr>
              <a:t>▪ K7  不同射线，不同屏蔽</a:t>
            </a:r>
          </a:p>
          <a:p>
            <a:pPr>
              <a:spcAft>
                <a:spcPts val="800"/>
              </a:spcAft>
            </a:pPr>
            <a:r>
              <a:rPr sz="1500">
                <a:solidFill>
                  <a:srgbClr val="FFFFFF"/>
                </a:solidFill>
                <a:latin typeface="Microsoft YaHei"/>
              </a:rPr>
              <a:t>▪ K8  衰变放出能量，按用途选核素</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被照过的东西，一般不带放射性</a:t>
            </a:r>
          </a:p>
          <a:p>
            <a:pPr>
              <a:spcAft>
                <a:spcPts val="800"/>
              </a:spcAft>
            </a:pPr>
            <a:r>
              <a:rPr sz="1500">
                <a:solidFill>
                  <a:srgbClr val="FFFFFF"/>
                </a:solidFill>
                <a:latin typeface="Microsoft YaHei"/>
              </a:rPr>
              <a:t>▪ K10  活度：每秒衰变多少次</a:t>
            </a:r>
          </a:p>
          <a:p>
            <a:pPr>
              <a:spcAft>
                <a:spcPts val="800"/>
              </a:spcAft>
            </a:pPr>
            <a:r>
              <a:rPr sz="1500">
                <a:solidFill>
                  <a:srgbClr val="FFFFFF"/>
                </a:solidFill>
                <a:latin typeface="Microsoft YaHei"/>
              </a:rPr>
              <a:t>▪ K11  物理半衰期：自己衰变一半</a:t>
            </a:r>
          </a:p>
          <a:p>
            <a:pPr>
              <a:spcAft>
                <a:spcPts val="800"/>
              </a:spcAft>
            </a:pPr>
            <a:r>
              <a:rPr sz="1500">
                <a:solidFill>
                  <a:srgbClr val="FFFFFF"/>
                </a:solidFill>
                <a:latin typeface="Microsoft YaHei"/>
              </a:rPr>
              <a:t>▪ K12  衰变表：查源现在有多强</a:t>
            </a:r>
          </a:p>
          <a:p>
            <a:pPr>
              <a:spcAft>
                <a:spcPts val="800"/>
              </a:spcAft>
            </a:pPr>
            <a:r>
              <a:rPr sz="1500">
                <a:solidFill>
                  <a:srgbClr val="FFFFFF"/>
                </a:solidFill>
                <a:latin typeface="Microsoft YaHei"/>
              </a:rPr>
              <a:t>▪ K13  生物半衰期：身体排出一半</a:t>
            </a:r>
          </a:p>
          <a:p>
            <a:pPr>
              <a:spcAft>
                <a:spcPts val="800"/>
              </a:spcAft>
            </a:pPr>
            <a:r>
              <a:rPr sz="1500">
                <a:solidFill>
                  <a:srgbClr val="FFFFFF"/>
                </a:solidFill>
                <a:latin typeface="Microsoft YaHei"/>
              </a:rPr>
              <a:t>▪ K14  有效半衰期：两条路一起走</a:t>
            </a:r>
          </a:p>
          <a:p>
            <a:pPr>
              <a:spcAft>
                <a:spcPts val="800"/>
              </a:spcAft>
            </a:pPr>
            <a:r>
              <a:rPr sz="1500">
                <a:solidFill>
                  <a:srgbClr val="FFFFFF"/>
                </a:solidFill>
                <a:latin typeface="Microsoft YaHei"/>
              </a:rPr>
              <a:t>▪ K15  桌上的源与身体里的源</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087</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辐射剂量与单位</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6.5 分钟（卡通视频 79 镜）　适用对象：使用放射性同位素、密封放射源或射线装置，需要佩戴个人剂量计、阅读个人剂量报告或做简单剂量估算的本科生、研究生和教职工（辐射类必修）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能说出照射量、吸收剂量、当量剂量、有效剂量四个量层层递进的关系和各自的单位（C/kg、Gy、Sv），知道伦琴、拉德、雷姆、居里是旧单位并会换算（1 Gy = 100 rad，1 Sv = 100 rem）。</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能说出同样的吸收剂量、射线种类不同伤害不同（传能线密度、相对生物效应），辐射权重因子和组织权重因子分别考虑什么。</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能做到用“剂量率 × 时间”估算累积剂量，知道剂量率随活度增大、随距离平方减小，换算单位核对两遍。</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能说出外照射与内照射剂量的不同，待积剂量的含义（成人 50 年、儿童到 70 岁）和“摄入量 × 剂量系数”的估算方法。</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18871-2002（以现行文本为准）《电离辐射防护与辐射源安全基本标准》：剂量学量（吸收剂量、当量剂量、有效剂量、待积剂量）、辐射权重因子和组织权重因子</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《放射性同位素与射线装置安全和防护条例》（以现行文本为准）：辐射工作人员的个人剂量监测和档案</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128（以现行文本为准）《职业性外照射个人监测规范》</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129（以现行文本为准）《职业性内照射个人监测规范》</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《中华人民共和国计量法》及国家法定计量单位（以现行文本为准）：剂量用戈瑞（Gy）、希沃特（Sv），伦琴、拉德、雷姆只作换算</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本校辐射安全管理规定（以本校规定为准）</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什么是剂量：受照多少的量度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人受了多少照射，用剂量来衡量</a:t>
            </a:r>
          </a:p>
          <a:p>
            <a:pPr>
              <a:spcAft>
                <a:spcPts val="1000"/>
              </a:spcAft>
            </a:pPr>
            <a:r>
              <a:rPr sz="2000">
                <a:solidFill>
                  <a:srgbClr val="222B33"/>
                </a:solidFill>
                <a:latin typeface="Microsoft YaHei"/>
              </a:rPr>
              <a:t>▪ 测辐射，最终是为了保护人</a:t>
            </a:r>
          </a:p>
          <a:p>
            <a:pPr>
              <a:spcAft>
                <a:spcPts val="1000"/>
              </a:spcAft>
            </a:pPr>
            <a:r>
              <a:rPr sz="2000">
                <a:solidFill>
                  <a:srgbClr val="222B33"/>
                </a:solidFill>
                <a:latin typeface="Microsoft YaHei"/>
              </a:rPr>
              <a:t>▪ 剂量学：测量、计算、评估剂量</a:t>
            </a:r>
          </a:p>
          <a:p>
            <a:pPr>
              <a:spcAft>
                <a:spcPts val="1000"/>
              </a:spcAft>
            </a:pPr>
            <a:r>
              <a:rPr sz="2000">
                <a:solidFill>
                  <a:srgbClr val="222B33"/>
                </a:solidFill>
                <a:latin typeface="Microsoft YaHei"/>
              </a:rPr>
              <a:t>▪ 既保护工作人员，也为治疗做计划</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学会用仪器探测辐射，是为了认识发出辐射的源；但做实验时人也站在辐射旁边，最终要回答的是“人受了多少照射、有什么影响”。人受到照射的多少，用剂量来衡量。剂量前面常加“吸收”“当量”“有效”等词，分别说的是沉积了多少能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把仪器的计数直接当成人受到的剂量</a:t>
            </a:r>
          </a:p>
          <a:p>
            <a:pPr>
              <a:spcAft>
                <a:spcPts val="1000"/>
              </a:spcAft>
            </a:pPr>
            <a:r>
              <a:rPr sz="1500">
                <a:solidFill>
                  <a:srgbClr val="222B33"/>
                </a:solidFill>
                <a:latin typeface="Microsoft YaHei"/>
              </a:rPr>
              <a:t>▪ 把手机、微波的“辐射”和电离辐射剂量混为一谈</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剂量量层层递进</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剂量量像台阶，一级建在一级上</a:t>
            </a:r>
          </a:p>
          <a:p>
            <a:pPr>
              <a:spcAft>
                <a:spcPts val="1000"/>
              </a:spcAft>
            </a:pPr>
            <a:r>
              <a:rPr sz="2000">
                <a:solidFill>
                  <a:srgbClr val="222B33"/>
                </a:solidFill>
                <a:latin typeface="Microsoft YaHei"/>
              </a:rPr>
              <a:t>▪ 射线穿过物质，会电离或激发原子</a:t>
            </a:r>
          </a:p>
          <a:p>
            <a:pPr>
              <a:spcAft>
                <a:spcPts val="1000"/>
              </a:spcAft>
            </a:pPr>
            <a:r>
              <a:rPr sz="2000">
                <a:solidFill>
                  <a:srgbClr val="222B33"/>
                </a:solidFill>
                <a:latin typeface="Microsoft YaHei"/>
              </a:rPr>
              <a:t>▪ 剂量单位，要么数电离，要么算能量</a:t>
            </a:r>
          </a:p>
          <a:p>
            <a:pPr>
              <a:spcAft>
                <a:spcPts val="1000"/>
              </a:spcAft>
            </a:pPr>
            <a:r>
              <a:rPr sz="2000">
                <a:solidFill>
                  <a:srgbClr val="222B33"/>
                </a:solidFill>
                <a:latin typeface="Microsoft YaHei"/>
              </a:rPr>
              <a:t>▪ 后两级都叫希沃特，含义却不同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射线穿过物质时会使原子电离或激发。度量辐射的量，要么数产生了多少电离（电荷），要么算沉积了多少能量。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 Sv 就以为是有效剂量</a:t>
            </a:r>
          </a:p>
          <a:p>
            <a:pPr>
              <a:spcAft>
                <a:spcPts val="1000"/>
              </a:spcAft>
            </a:pPr>
            <a:r>
              <a:rPr sz="1500">
                <a:solidFill>
                  <a:srgbClr val="222B33"/>
                </a:solidFill>
                <a:latin typeface="Microsoft YaHei"/>
              </a:rPr>
              <a:t>▪ 把戈瑞和希沃特随意互换</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照射量：X、γ在空气里的电离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照射量：X、γ在空气里电离多少</a:t>
            </a:r>
          </a:p>
          <a:p>
            <a:pPr>
              <a:spcAft>
                <a:spcPts val="1000"/>
              </a:spcAft>
            </a:pPr>
            <a:r>
              <a:rPr sz="1700">
                <a:solidFill>
                  <a:srgbClr val="222B33"/>
                </a:solidFill>
                <a:latin typeface="Microsoft YaHei"/>
              </a:rPr>
              <a:t>▪ 一种符号的电荷除以空气质量，单位C/kg</a:t>
            </a:r>
          </a:p>
          <a:p>
            <a:pPr>
              <a:spcAft>
                <a:spcPts val="1000"/>
              </a:spcAft>
            </a:pPr>
            <a:r>
              <a:rPr sz="1700">
                <a:solidFill>
                  <a:srgbClr val="222B33"/>
                </a:solidFill>
                <a:latin typeface="Microsoft YaHei"/>
              </a:rPr>
              <a:t>▪ 旧单位伦琴，国外资料还常见</a:t>
            </a:r>
          </a:p>
          <a:p>
            <a:pPr>
              <a:spcAft>
                <a:spcPts val="1000"/>
              </a:spcAft>
            </a:pPr>
            <a:r>
              <a:rPr sz="1700">
                <a:solidFill>
                  <a:srgbClr val="222B33"/>
                </a:solidFill>
                <a:latin typeface="Microsoft YaHei"/>
              </a:rPr>
              <a:t>▪ 打出一对离子，要花固定的能量</a:t>
            </a:r>
          </a:p>
          <a:p>
            <a:pPr>
              <a:spcAft>
                <a:spcPts val="1000"/>
              </a:spcAft>
            </a:pPr>
            <a:r>
              <a:rPr sz="1700">
                <a:solidFill>
                  <a:srgbClr val="222B33"/>
                </a:solidFill>
                <a:latin typeface="Microsoft YaHei"/>
              </a:rPr>
              <a:t>▪ 只管X、γ和空气，人体要用新的量</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照射量描述 X 射线和 γ 射线在空气中产生电离的多少：光子在单位质量空气中打出的电子全部停下来时，产生的某一种符号离子的总电荷除以空气质量。国际单位是库仑每千克（C/kg）；旧单位伦琴（R），国外资料和旧仪器上仍常……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用照射量去描述 β、中子的照射</a:t>
            </a:r>
          </a:p>
          <a:p>
            <a:pPr>
              <a:spcAft>
                <a:spcPts val="1000"/>
              </a:spcAft>
            </a:pPr>
            <a:r>
              <a:rPr sz="1500">
                <a:solidFill>
                  <a:srgbClr val="222B33"/>
                </a:solidFill>
                <a:latin typeface="Microsoft YaHei"/>
              </a:rPr>
              <a:t>▪ 把伦琴读数直接当成人体的有效剂量</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剂量率：看活度，也看距离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点源的射线向四面八方散开</a:t>
            </a:r>
          </a:p>
          <a:p>
            <a:pPr>
              <a:spcAft>
                <a:spcPts val="1000"/>
              </a:spcAft>
            </a:pPr>
            <a:r>
              <a:rPr sz="2000">
                <a:solidFill>
                  <a:srgbClr val="222B33"/>
                </a:solidFill>
                <a:latin typeface="Microsoft YaHei"/>
              </a:rPr>
              <a:t>▪ 源越强、γ能量越高，剂量率越高</a:t>
            </a:r>
          </a:p>
          <a:p>
            <a:pPr>
              <a:spcAft>
                <a:spcPts val="1000"/>
              </a:spcAft>
            </a:pPr>
            <a:r>
              <a:rPr sz="2000">
                <a:solidFill>
                  <a:srgbClr val="222B33"/>
                </a:solidFill>
                <a:latin typeface="Microsoft YaHei"/>
              </a:rPr>
              <a:t>▪ 每种核素有自己的剂量率常数</a:t>
            </a:r>
          </a:p>
          <a:p>
            <a:pPr>
              <a:spcAft>
                <a:spcPts val="1000"/>
              </a:spcAft>
            </a:pPr>
            <a:r>
              <a:rPr sz="2000">
                <a:solidFill>
                  <a:srgbClr val="222B33"/>
                </a:solidFill>
                <a:latin typeface="Microsoft YaHei"/>
              </a:rPr>
              <a:t>▪ 距离加倍，剂量率降到四分之一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剂量率是单位时间内受到的剂量，常用单位是微希沃特每小时（μSv/h）或毫希沃特每小时（mSv/h）。</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以为离远一倍，剂量率只减一半</a:t>
            </a:r>
          </a:p>
          <a:p>
            <a:pPr>
              <a:spcAft>
                <a:spcPts val="1000"/>
              </a:spcAft>
            </a:pPr>
            <a:r>
              <a:rPr sz="1500">
                <a:solidFill>
                  <a:srgbClr val="222B33"/>
                </a:solidFill>
                <a:latin typeface="Microsoft YaHei"/>
              </a:rPr>
              <a:t>▪ 只凭估算，不实测就安排工作</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累积剂量：剂量率乘时间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累积剂量等于剂量率乘时间</a:t>
            </a:r>
          </a:p>
          <a:p>
            <a:pPr>
              <a:spcAft>
                <a:spcPts val="1000"/>
              </a:spcAft>
            </a:pPr>
            <a:r>
              <a:rPr sz="1700">
                <a:solidFill>
                  <a:srgbClr val="222B33"/>
                </a:solidFill>
                <a:latin typeface="Microsoft YaHei"/>
              </a:rPr>
              <a:t>▪ 站得越久，受照越多</a:t>
            </a:r>
          </a:p>
          <a:p>
            <a:pPr>
              <a:spcAft>
                <a:spcPts val="1000"/>
              </a:spcAft>
            </a:pPr>
            <a:r>
              <a:rPr sz="1700">
                <a:solidFill>
                  <a:srgbClr val="222B33"/>
                </a:solidFill>
                <a:latin typeface="Microsoft YaHei"/>
              </a:rPr>
              <a:t>▪ 照射量换成软组织剂量，系数接近一</a:t>
            </a:r>
          </a:p>
          <a:p>
            <a:pPr>
              <a:spcAft>
                <a:spcPts val="1000"/>
              </a:spcAft>
            </a:pPr>
            <a:r>
              <a:rPr sz="1700">
                <a:solidFill>
                  <a:srgbClr val="222B33"/>
                </a:solidFill>
                <a:latin typeface="Microsoft YaHei"/>
              </a:rPr>
              <a:t>▪ 测量之前，可以先估一估</a:t>
            </a:r>
          </a:p>
          <a:p>
            <a:pPr>
              <a:spcAft>
                <a:spcPts val="1000"/>
              </a:spcAft>
            </a:pPr>
            <a:r>
              <a:rPr sz="1700">
                <a:solidFill>
                  <a:srgbClr val="222B33"/>
                </a:solidFill>
                <a:latin typeface="Microsoft YaHei"/>
              </a:rPr>
              <a:t>▪ 换算单位，一定要核对两遍</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累积受到的剂量等于剂量率乘以受照时间，就像水龙头下的杯子，接得越久装得越满。例如在剂量率为 10 μSv/h 的位置停留 0.5 小时，累积约 5 μSv。</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只看剂量率，不管停留时间</a:t>
            </a:r>
          </a:p>
          <a:p>
            <a:pPr>
              <a:spcAft>
                <a:spcPts val="1000"/>
              </a:spcAft>
            </a:pPr>
            <a:r>
              <a:rPr sz="1500">
                <a:solidFill>
                  <a:srgbClr val="222B33"/>
                </a:solidFill>
                <a:latin typeface="Microsoft YaHei"/>
              </a:rPr>
              <a:t>▪ 微希沃特和毫希沃特混用，结果差一千倍</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吸收剂量与戈瑞</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吸收剂量：每千克物质吸收的能量</a:t>
            </a:r>
          </a:p>
          <a:p>
            <a:pPr>
              <a:spcAft>
                <a:spcPts val="1000"/>
              </a:spcAft>
            </a:pPr>
            <a:r>
              <a:rPr sz="1700">
                <a:solidFill>
                  <a:srgbClr val="222B33"/>
                </a:solidFill>
                <a:latin typeface="Microsoft YaHei"/>
              </a:rPr>
              <a:t>▪ 每千克吸收一焦耳，就是一戈瑞</a:t>
            </a:r>
          </a:p>
          <a:p>
            <a:pPr>
              <a:spcAft>
                <a:spcPts val="1000"/>
              </a:spcAft>
            </a:pPr>
            <a:r>
              <a:rPr sz="1700">
                <a:solidFill>
                  <a:srgbClr val="222B33"/>
                </a:solidFill>
                <a:latin typeface="Microsoft YaHei"/>
              </a:rPr>
              <a:t>▪ 适用于任何辐射、任何物质</a:t>
            </a:r>
          </a:p>
          <a:p>
            <a:pPr>
              <a:spcAft>
                <a:spcPts val="1000"/>
              </a:spcAft>
            </a:pPr>
            <a:r>
              <a:rPr sz="1700">
                <a:solidFill>
                  <a:srgbClr val="222B33"/>
                </a:solidFill>
                <a:latin typeface="Microsoft YaHei"/>
              </a:rPr>
              <a:t>▪ 旧单位拉德，一戈瑞等于一百拉德</a:t>
            </a:r>
          </a:p>
          <a:p>
            <a:pPr>
              <a:spcAft>
                <a:spcPts val="1000"/>
              </a:spcAft>
            </a:pPr>
            <a:r>
              <a:rPr sz="1700">
                <a:solidFill>
                  <a:srgbClr val="222B33"/>
                </a:solidFill>
                <a:latin typeface="Microsoft YaHei"/>
              </a:rPr>
              <a:t>▪ 说不清照得多快、是哪种射线</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吸收剂量是单位质量物质吸收的电离辐射能量，是辐射防护最基本的量。单位是戈瑞（Gy），1 Gy = 1 J/kg（每千克物质吸收 1 焦耳）。旧单位拉德（rad），1 Gy = 100 rad。</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以为戈瑞已经反映了对人体的风险</a:t>
            </a:r>
          </a:p>
          <a:p>
            <a:pPr>
              <a:spcAft>
                <a:spcPts val="1000"/>
              </a:spcAft>
            </a:pPr>
            <a:r>
              <a:rPr sz="1500">
                <a:solidFill>
                  <a:srgbClr val="222B33"/>
                </a:solidFill>
                <a:latin typeface="Microsoft YaHei"/>
              </a:rPr>
              <a:t>▪ 把 rad 当成 rem 使用</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剂量按质量算，不按体积算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同样一千克，空气、水、玻璃大小差很多</a:t>
            </a:r>
          </a:p>
          <a:p>
            <a:pPr>
              <a:spcAft>
                <a:spcPts val="1000"/>
              </a:spcAft>
            </a:pPr>
            <a:r>
              <a:rPr sz="2000">
                <a:solidFill>
                  <a:srgbClr val="222B33"/>
                </a:solidFill>
                <a:latin typeface="Microsoft YaHei"/>
              </a:rPr>
              <a:t>▪ 质量一样、能量一样，剂量就一样</a:t>
            </a:r>
          </a:p>
          <a:p>
            <a:pPr>
              <a:spcAft>
                <a:spcPts val="1000"/>
              </a:spcAft>
            </a:pPr>
            <a:r>
              <a:rPr sz="2000">
                <a:solidFill>
                  <a:srgbClr val="222B33"/>
                </a:solidFill>
                <a:latin typeface="Microsoft YaHei"/>
              </a:rPr>
              <a:t>▪ 体积一样，质量不同，剂量就差很远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吸收剂量按质量计算，不按体积计算。同样一千克，空气体积最大，水居中，玻璃最小；只要它们吸收的能量相同，吸收剂量就相同。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按体积来比较剂量大小</a:t>
            </a:r>
          </a:p>
          <a:p>
            <a:pPr>
              <a:spcAft>
                <a:spcPts val="1000"/>
              </a:spcAft>
            </a:pPr>
            <a:r>
              <a:rPr sz="1500">
                <a:solidFill>
                  <a:srgbClr val="222B33"/>
                </a:solidFill>
                <a:latin typeface="Microsoft YaHei"/>
              </a:rPr>
              <a:t>▪ 以为体积大的物体吸收剂量一定大</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怕的不是发热，而是细胞损伤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很大的剂量，水温才升一点点</a:t>
            </a:r>
          </a:p>
          <a:p>
            <a:pPr>
              <a:spcAft>
                <a:spcPts val="1000"/>
              </a:spcAft>
            </a:pPr>
            <a:r>
              <a:rPr sz="2000">
                <a:solidFill>
                  <a:srgbClr val="222B33"/>
                </a:solidFill>
                <a:latin typeface="Microsoft YaHei"/>
              </a:rPr>
              <a:t>▪ 对人体，怕的是细胞和基因损伤</a:t>
            </a:r>
          </a:p>
          <a:p>
            <a:pPr>
              <a:spcAft>
                <a:spcPts val="1000"/>
              </a:spcAft>
            </a:pPr>
            <a:r>
              <a:rPr sz="2000">
                <a:solidFill>
                  <a:srgbClr val="222B33"/>
                </a:solidFill>
                <a:latin typeface="Microsoft YaHei"/>
              </a:rPr>
              <a:t>▪ 电离是头号敌人，会打散复杂分子</a:t>
            </a:r>
          </a:p>
          <a:p>
            <a:pPr>
              <a:spcAft>
                <a:spcPts val="1000"/>
              </a:spcAft>
            </a:pPr>
            <a:r>
              <a:rPr sz="2000">
                <a:solidFill>
                  <a:srgbClr val="222B33"/>
                </a:solidFill>
                <a:latin typeface="Microsoft YaHei"/>
              </a:rPr>
              <a:t>▪ 可能增加患癌等风险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同样的吸收剂量，对不同材料效果也不同。即使是会对人体造成严重伤害的大剂量，它沉积的能量也只能让水温升高一点点，根本感觉不到热。所以不能靠“热不热”“有没有感觉”来判断受照多少。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以为受照会有发热、刺痛的感觉，没感觉就没事</a:t>
            </a:r>
          </a:p>
          <a:p>
            <a:pPr>
              <a:spcAft>
                <a:spcPts val="1000"/>
              </a:spcAft>
            </a:pPr>
            <a:r>
              <a:rPr sz="1500">
                <a:solidFill>
                  <a:srgbClr val="222B33"/>
                </a:solidFill>
                <a:latin typeface="Microsoft YaHei"/>
              </a:rPr>
              <a:t>▪ 以为辐射伤害只是“烫伤”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同样1戈瑞，伤害不一样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同样一戈瑞，α和γ伤害不一样</a:t>
            </a:r>
          </a:p>
          <a:p>
            <a:pPr>
              <a:spcAft>
                <a:spcPts val="1000"/>
              </a:spcAft>
            </a:pPr>
            <a:r>
              <a:rPr sz="1700">
                <a:solidFill>
                  <a:srgbClr val="222B33"/>
                </a:solidFill>
                <a:latin typeface="Microsoft YaHei"/>
              </a:rPr>
              <a:t>▪ γ像毛毛雨，损伤稀疏，细胞多能修好</a:t>
            </a:r>
          </a:p>
          <a:p>
            <a:pPr>
              <a:spcAft>
                <a:spcPts val="1000"/>
              </a:spcAft>
            </a:pPr>
            <a:r>
              <a:rPr sz="1700">
                <a:solidFill>
                  <a:srgbClr val="222B33"/>
                </a:solidFill>
                <a:latin typeface="Microsoft YaHei"/>
              </a:rPr>
              <a:t>▪ α像保龄球，砸得密，很难修好</a:t>
            </a:r>
          </a:p>
          <a:p>
            <a:pPr>
              <a:spcAft>
                <a:spcPts val="1000"/>
              </a:spcAft>
            </a:pPr>
            <a:r>
              <a:rPr sz="1700">
                <a:solidFill>
                  <a:srgbClr val="222B33"/>
                </a:solidFill>
                <a:latin typeface="Microsoft YaHei"/>
              </a:rPr>
              <a:t>▪ 单位路程沉积的能量叫传能线密度</a:t>
            </a:r>
          </a:p>
          <a:p>
            <a:pPr>
              <a:spcAft>
                <a:spcPts val="1000"/>
              </a:spcAft>
            </a:pPr>
            <a:r>
              <a:rPr sz="1700">
                <a:solidFill>
                  <a:srgbClr val="222B33"/>
                </a:solidFill>
                <a:latin typeface="Microsoft YaHei"/>
              </a:rPr>
              <a:t>▪ 同样效果所需剂量之比叫相对生物效应</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吸收剂量相同，生物效应不一定相同。γ 射线和电子像毛毛雨，沿很长的路径稀疏地沉积能量，造成的损伤多是简单、分散的，细胞大多能修复；α 粒子和重离子个头大、电荷多，像保龄球，在很短的路径里密集地沉积能量，造成成簇的断裂……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以为同样戈瑞数，任何射线伤害都一样</a:t>
            </a:r>
          </a:p>
          <a:p>
            <a:pPr>
              <a:spcAft>
                <a:spcPts val="1000"/>
              </a:spcAft>
            </a:pPr>
            <a:r>
              <a:rPr sz="1500">
                <a:solidFill>
                  <a:srgbClr val="222B33"/>
                </a:solidFill>
                <a:latin typeface="Microsoft YaHei"/>
              </a:rPr>
              <a:t>▪ 以为高传能线密度的损伤“完全不能修复”（应为很难正确修复）</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辐射权重因子与当量剂量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辐射权重因子像货币的汇率</a:t>
            </a:r>
          </a:p>
          <a:p>
            <a:pPr>
              <a:spcAft>
                <a:spcPts val="1000"/>
              </a:spcAft>
            </a:pPr>
            <a:r>
              <a:rPr sz="1700">
                <a:solidFill>
                  <a:srgbClr val="222B33"/>
                </a:solidFill>
                <a:latin typeface="Microsoft YaHei"/>
              </a:rPr>
              <a:t>▪ 光子、电子为1，α为20，中子随能量变</a:t>
            </a:r>
          </a:p>
          <a:p>
            <a:pPr>
              <a:spcAft>
                <a:spcPts val="1000"/>
              </a:spcAft>
            </a:pPr>
            <a:r>
              <a:rPr sz="1700">
                <a:solidFill>
                  <a:srgbClr val="222B33"/>
                </a:solidFill>
                <a:latin typeface="Microsoft YaHei"/>
              </a:rPr>
              <a:t>▪ 器官吸收剂量乘权重，得当量剂量</a:t>
            </a:r>
          </a:p>
          <a:p>
            <a:pPr>
              <a:spcAft>
                <a:spcPts val="1000"/>
              </a:spcAft>
            </a:pPr>
            <a:r>
              <a:rPr sz="1700">
                <a:solidFill>
                  <a:srgbClr val="222B33"/>
                </a:solidFill>
                <a:latin typeface="Microsoft YaHei"/>
              </a:rPr>
              <a:t>▪ 几种射线一起照，分别算再相加</a:t>
            </a:r>
          </a:p>
          <a:p>
            <a:pPr>
              <a:spcAft>
                <a:spcPts val="1000"/>
              </a:spcAft>
            </a:pPr>
            <a:r>
              <a:rPr sz="1700">
                <a:solidFill>
                  <a:srgbClr val="222B33"/>
                </a:solidFill>
                <a:latin typeface="Microsoft YaHei"/>
              </a:rPr>
              <a:t>▪ 单位希沃特，同样希沃特效果相当</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为了防护的需要，标准对各类射线规定了固定、保守的辐射权重因子，它没有单位，就像不同货币之间的汇率，把不同射线的吸收剂量换算成可以比较、相加的量。光子（X、γ 射线）和电子（β）为 1，α 粒子为 20，中子的权重随能……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不分射线种类，把各种射线的戈瑞数直接相加</a:t>
            </a:r>
          </a:p>
          <a:p>
            <a:pPr>
              <a:spcAft>
                <a:spcPts val="1000"/>
              </a:spcAft>
            </a:pPr>
            <a:r>
              <a:rPr sz="1500">
                <a:solidFill>
                  <a:srgbClr val="222B33"/>
                </a:solidFill>
                <a:latin typeface="Microsoft YaHei"/>
              </a:rPr>
              <a:t>▪ 以为当量剂量能用仪器直接测出来</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有效剂量：全身风险一个数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同样剂量照到不同器官，风险不同</a:t>
            </a:r>
          </a:p>
          <a:p>
            <a:pPr>
              <a:spcAft>
                <a:spcPts val="1000"/>
              </a:spcAft>
            </a:pPr>
            <a:r>
              <a:rPr sz="1700">
                <a:solidFill>
                  <a:srgbClr val="222B33"/>
                </a:solidFill>
                <a:latin typeface="Microsoft YaHei"/>
              </a:rPr>
              <a:t>▪ 细胞分裂快的器官，往往更敏感</a:t>
            </a:r>
          </a:p>
          <a:p>
            <a:pPr>
              <a:spcAft>
                <a:spcPts val="1000"/>
              </a:spcAft>
            </a:pPr>
            <a:r>
              <a:rPr sz="1700">
                <a:solidFill>
                  <a:srgbClr val="222B33"/>
                </a:solidFill>
                <a:latin typeface="Microsoft YaHei"/>
              </a:rPr>
              <a:t>▪ 各器官按组织权重相加，权重总和为一</a:t>
            </a:r>
          </a:p>
          <a:p>
            <a:pPr>
              <a:spcAft>
                <a:spcPts val="1000"/>
              </a:spcAft>
            </a:pPr>
            <a:r>
              <a:rPr sz="1700">
                <a:solidFill>
                  <a:srgbClr val="222B33"/>
                </a:solidFill>
                <a:latin typeface="Microsoft YaHei"/>
              </a:rPr>
              <a:t>▪ 用于防护优化和剂量限值管理</a:t>
            </a:r>
          </a:p>
          <a:p>
            <a:pPr>
              <a:spcAft>
                <a:spcPts val="1000"/>
              </a:spcAft>
            </a:pPr>
            <a:r>
              <a:rPr sz="1700">
                <a:solidFill>
                  <a:srgbClr val="222B33"/>
                </a:solidFill>
                <a:latin typeface="Microsoft YaHei"/>
              </a:rPr>
              <a:t>▪ 有效剂量要算，仪器读数用来估算它</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身体各器官对辐射的敏感程度不同：细胞分裂越快、更新越快的组织往往越敏感，如骨髓等造血组织、结肠、肺、胃、乳腺属于高敏感组织，皮肤、骨表面等敏感性较低。同样剂量照到结肠，比照到皮肤风险高。局部照射时，需要一个反映全身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把某个器官的当量剂量直接当作有效剂量</a:t>
            </a:r>
          </a:p>
          <a:p>
            <a:pPr>
              <a:spcAft>
                <a:spcPts val="1000"/>
              </a:spcAft>
            </a:pPr>
            <a:r>
              <a:rPr sz="1500">
                <a:solidFill>
                  <a:srgbClr val="222B33"/>
                </a:solidFill>
                <a:latin typeface="Microsoft YaHei"/>
              </a:rPr>
              <a:t>▪ 把局部手部受照乘皮肤权重就当作主要的全身风险</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外照射与内照射剂量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外照射：源在体外，用剂量计来测</a:t>
            </a:r>
          </a:p>
          <a:p>
            <a:pPr>
              <a:spcAft>
                <a:spcPts val="1000"/>
              </a:spcAft>
            </a:pPr>
            <a:r>
              <a:rPr sz="1700">
                <a:solidFill>
                  <a:srgbClr val="222B33"/>
                </a:solidFill>
                <a:latin typeface="Microsoft YaHei"/>
              </a:rPr>
              <a:t>▪ 站的位置、方向不同，剂量也不同</a:t>
            </a:r>
          </a:p>
          <a:p>
            <a:pPr>
              <a:spcAft>
                <a:spcPts val="1000"/>
              </a:spcAft>
            </a:pPr>
            <a:r>
              <a:rPr sz="1700">
                <a:solidFill>
                  <a:srgbClr val="222B33"/>
                </a:solidFill>
                <a:latin typeface="Microsoft YaHei"/>
              </a:rPr>
              <a:t>▪ 内照射：放射性物质留在体内</a:t>
            </a:r>
          </a:p>
          <a:p>
            <a:pPr>
              <a:spcAft>
                <a:spcPts val="1000"/>
              </a:spcAft>
            </a:pPr>
            <a:r>
              <a:rPr sz="1700">
                <a:solidFill>
                  <a:srgbClr val="222B33"/>
                </a:solidFill>
                <a:latin typeface="Microsoft YaHei"/>
              </a:rPr>
              <a:t>▪ 靠样品、体外测量和模型来算</a:t>
            </a:r>
          </a:p>
          <a:p>
            <a:pPr>
              <a:spcAft>
                <a:spcPts val="1000"/>
              </a:spcAft>
            </a:pPr>
            <a:r>
              <a:rPr sz="1700">
                <a:solidFill>
                  <a:srgbClr val="222B33"/>
                </a:solidFill>
                <a:latin typeface="Microsoft YaHei"/>
              </a:rPr>
              <a:t>▪ 会一直照，直到排出或衰变完</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外照射是放射源在体外，射线从外面照到人。外照射剂量用个人剂量计、电离室等测量，取决于射线的穿透力、屏蔽和照射的几何条件：同样的源，人站在正面、侧面、背面，宽束照射还是局部照射，剂量都不同。个人剂量计要按规定佩戴在有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以为个人剂量计能测出内照射剂量</a:t>
            </a:r>
          </a:p>
          <a:p>
            <a:pPr>
              <a:spcAft>
                <a:spcPts val="1000"/>
              </a:spcAft>
            </a:pPr>
            <a:r>
              <a:rPr sz="1500">
                <a:solidFill>
                  <a:srgbClr val="222B33"/>
                </a:solidFill>
                <a:latin typeface="Microsoft YaHei"/>
              </a:rPr>
              <a:t>▪ 以为放射性物质进入体内后马上就排掉了</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待积剂量与剂量系数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今后多年的剂量，一次记在摄入当年</a:t>
            </a:r>
          </a:p>
          <a:p>
            <a:pPr>
              <a:spcAft>
                <a:spcPts val="1000"/>
              </a:spcAft>
            </a:pPr>
            <a:r>
              <a:rPr sz="1700">
                <a:solidFill>
                  <a:srgbClr val="222B33"/>
                </a:solidFill>
                <a:latin typeface="Microsoft YaHei"/>
              </a:rPr>
              <a:t>▪ 成人算五十年，儿童算到七十岁</a:t>
            </a:r>
          </a:p>
          <a:p>
            <a:pPr>
              <a:spcAft>
                <a:spcPts val="1000"/>
              </a:spcAft>
            </a:pPr>
            <a:r>
              <a:rPr sz="1700">
                <a:solidFill>
                  <a:srgbClr val="222B33"/>
                </a:solidFill>
                <a:latin typeface="Microsoft YaHei"/>
              </a:rPr>
              <a:t>▪ 摄入量乘剂量系数，就是待积剂量</a:t>
            </a:r>
          </a:p>
          <a:p>
            <a:pPr>
              <a:spcAft>
                <a:spcPts val="1000"/>
              </a:spcAft>
            </a:pPr>
            <a:r>
              <a:rPr sz="1700">
                <a:solidFill>
                  <a:srgbClr val="222B33"/>
                </a:solidFill>
                <a:latin typeface="Microsoft YaHei"/>
              </a:rPr>
              <a:t>▪ 钻进骨头的α核素最危险</a:t>
            </a:r>
          </a:p>
          <a:p>
            <a:pPr>
              <a:spcAft>
                <a:spcPts val="1000"/>
              </a:spcAft>
            </a:pPr>
            <a:r>
              <a:rPr sz="1700">
                <a:solidFill>
                  <a:srgbClr val="222B33"/>
                </a:solidFill>
                <a:latin typeface="Microsoft YaHei"/>
              </a:rPr>
              <a:t>▪ 单位前缀差一级，结果错千倍</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放射性核素摄入后，体内会持续受照很多年。把摄入后一段时间内将要受到的剂量加起来，一次记在摄入的当年，叫待积剂量（待积当量剂量、待积有效剂量）。积分期限：成人取 50 年，儿童算到 70 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只算摄入当年的剂量，忽视以后多年的持续照射</a:t>
            </a:r>
          </a:p>
          <a:p>
            <a:pPr>
              <a:spcAft>
                <a:spcPts val="1000"/>
              </a:spcAft>
            </a:pPr>
            <a:r>
              <a:rPr sz="1500">
                <a:solidFill>
                  <a:srgbClr val="222B33"/>
                </a:solidFill>
                <a:latin typeface="Microsoft YaHei"/>
              </a:rPr>
              <a:t>▪ 查剂量系数时把 μSv/Bq 写成 mSv/Bq</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单位速查：新旧单位对照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居里是活度的旧单位，不是剂量</a:t>
            </a:r>
          </a:p>
          <a:p>
            <a:pPr>
              <a:spcAft>
                <a:spcPts val="1000"/>
              </a:spcAft>
            </a:pPr>
            <a:r>
              <a:rPr sz="1700">
                <a:solidFill>
                  <a:srgbClr val="222B33"/>
                </a:solidFill>
                <a:latin typeface="Microsoft YaHei"/>
              </a:rPr>
              <a:t>▪ 吸收剂量用戈瑞，人受照多少用希沃特</a:t>
            </a:r>
          </a:p>
          <a:p>
            <a:pPr>
              <a:spcAft>
                <a:spcPts val="1000"/>
              </a:spcAft>
            </a:pPr>
            <a:r>
              <a:rPr sz="1700">
                <a:solidFill>
                  <a:srgbClr val="222B33"/>
                </a:solidFill>
                <a:latin typeface="Microsoft YaHei"/>
              </a:rPr>
              <a:t>▪ 1戈瑞等于100拉德，1希沃特等于100雷姆</a:t>
            </a:r>
          </a:p>
          <a:p>
            <a:pPr>
              <a:spcAft>
                <a:spcPts val="1000"/>
              </a:spcAft>
            </a:pPr>
            <a:r>
              <a:rPr sz="1700">
                <a:solidFill>
                  <a:srgbClr val="222B33"/>
                </a:solidFill>
                <a:latin typeface="Microsoft YaHei"/>
              </a:rPr>
              <a:t>▪ 照射量旧单位伦琴，现用库仑每千克</a:t>
            </a:r>
          </a:p>
          <a:p>
            <a:pPr>
              <a:spcAft>
                <a:spcPts val="1000"/>
              </a:spcAft>
            </a:pPr>
            <a:r>
              <a:rPr sz="1700">
                <a:solidFill>
                  <a:srgbClr val="222B33"/>
                </a:solidFill>
                <a:latin typeface="Microsoft YaHei"/>
              </a:rPr>
              <a:t>▪ 报告和台账，一律用法定单位</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新旧单位对照（前为我国法定计量单位，后为旧单位）：活度用贝可（Bq），旧单位居里（Ci），1 Ci = 3.7×10¹⁰ Bq；照射量用库仑每千克（C/kg），旧单位伦琴（R），1 R = 2.58×10⁻⁴ C/k……</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把源的活度（Bq、Ci）当成人受到的剂量</a:t>
            </a:r>
          </a:p>
          <a:p>
            <a:pPr>
              <a:spcAft>
                <a:spcPts val="1000"/>
              </a:spcAft>
            </a:pPr>
            <a:r>
              <a:rPr sz="1500">
                <a:solidFill>
                  <a:srgbClr val="222B33"/>
                </a:solidFill>
                <a:latin typeface="Microsoft YaHei"/>
              </a:rPr>
              <a:t>▪ 记录中只写数字不写单位，或新旧单位混写</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下列单位中，用于表示人体受照有效剂量的是：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贝可（Bq）</a:t>
            </a:r>
          </a:p>
          <a:p>
            <a:pPr algn="l"/>
            <a:r>
              <a:rPr sz="1500" b="0">
                <a:solidFill>
                  <a:srgbClr val="222B33"/>
                </a:solidFill>
                <a:latin typeface="Microsoft YaHei"/>
              </a:rPr>
              <a:t>B. 戈瑞（Gy）</a:t>
            </a:r>
          </a:p>
          <a:p>
            <a:pPr algn="l"/>
            <a:r>
              <a:rPr sz="1500" b="0">
                <a:solidFill>
                  <a:srgbClr val="222B33"/>
                </a:solidFill>
                <a:latin typeface="Microsoft YaHei"/>
              </a:rPr>
              <a:t>C. 希沃特（Sv）</a:t>
            </a:r>
          </a:p>
          <a:p>
            <a:pPr algn="l"/>
            <a:r>
              <a:rPr sz="1500" b="0">
                <a:solidFill>
                  <a:srgbClr val="222B33"/>
                </a:solidFill>
                <a:latin typeface="Microsoft YaHei"/>
              </a:rPr>
              <a:t>D. 居里（Ci）</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判断：同样 1 Gy 的吸收剂量，α 粒子和 γ 射线对人体的伤害相同。</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某处剂量率为 20 μSv/h，在此停留 15 分钟，累积剂量约为：</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5 μSv</a:t>
            </a:r>
          </a:p>
          <a:p>
            <a:pPr algn="l"/>
            <a:r>
              <a:rPr sz="1500" b="0">
                <a:solidFill>
                  <a:srgbClr val="222B33"/>
                </a:solidFill>
                <a:latin typeface="Microsoft YaHei"/>
              </a:rPr>
              <a:t>B. 20 μSv</a:t>
            </a:r>
          </a:p>
          <a:p>
            <a:pPr algn="l"/>
            <a:r>
              <a:rPr sz="1500" b="0">
                <a:solidFill>
                  <a:srgbClr val="222B33"/>
                </a:solidFill>
                <a:latin typeface="Microsoft YaHei"/>
              </a:rPr>
              <a:t>C. 300 μSv</a:t>
            </a:r>
          </a:p>
          <a:p>
            <a:pPr algn="l"/>
            <a:r>
              <a:rPr sz="1500" b="0">
                <a:solidFill>
                  <a:srgbClr val="222B33"/>
                </a:solidFill>
                <a:latin typeface="Microsoft YaHei"/>
              </a:rPr>
              <a:t>D. 5 mSv</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点源距离从 1 米增加到 2 米，剂量率约变为原来的：</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1/2</a:t>
            </a:r>
          </a:p>
          <a:p>
            <a:pPr algn="l"/>
            <a:r>
              <a:rPr sz="1500" b="0">
                <a:solidFill>
                  <a:srgbClr val="222B33"/>
                </a:solidFill>
                <a:latin typeface="Microsoft YaHei"/>
              </a:rPr>
              <a:t>B. 1/4</a:t>
            </a:r>
          </a:p>
          <a:p>
            <a:pPr algn="l"/>
            <a:r>
              <a:rPr sz="1500" b="0">
                <a:solidFill>
                  <a:srgbClr val="222B33"/>
                </a:solidFill>
                <a:latin typeface="Microsoft YaHei"/>
              </a:rPr>
              <a:t>C. 2 倍</a:t>
            </a:r>
          </a:p>
          <a:p>
            <a:pPr algn="l"/>
            <a:r>
              <a:rPr sz="1500" b="0">
                <a:solidFill>
                  <a:srgbClr val="222B33"/>
                </a:solidFill>
                <a:latin typeface="Microsoft YaHei"/>
              </a:rPr>
              <a:t>D. 不变</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087 · 辐射剂量与单位</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087 辐射剂量与单位</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简答：什么是待积有效剂量？怎样估算？</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旧资料中写某人受照 500 mrem，换成法定单位是：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0.5 mSv</a:t>
            </a:r>
          </a:p>
          <a:p>
            <a:pPr algn="l"/>
            <a:r>
              <a:rPr sz="1500" b="0">
                <a:solidFill>
                  <a:srgbClr val="222B33"/>
                </a:solidFill>
                <a:latin typeface="Microsoft YaHei"/>
              </a:rPr>
              <a:t>B. 5 mSv</a:t>
            </a:r>
          </a:p>
          <a:p>
            <a:pPr algn="l"/>
            <a:r>
              <a:rPr sz="1500" b="0">
                <a:solidFill>
                  <a:srgbClr val="222B33"/>
                </a:solidFill>
                <a:latin typeface="Microsoft YaHei"/>
              </a:rPr>
              <a:t>C. 50 mSv</a:t>
            </a:r>
          </a:p>
          <a:p>
            <a:pPr algn="l"/>
            <a:r>
              <a:rPr sz="1500" b="0">
                <a:solidFill>
                  <a:srgbClr val="222B33"/>
                </a:solidFill>
                <a:latin typeface="Microsoft YaHei"/>
              </a:rPr>
              <a:t>D. 500 mSv</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什么是剂量：受照多少的量度</a:t>
            </a:r>
          </a:p>
          <a:p>
            <a:pPr>
              <a:spcAft>
                <a:spcPts val="800"/>
              </a:spcAft>
            </a:pPr>
            <a:r>
              <a:rPr sz="1500">
                <a:solidFill>
                  <a:srgbClr val="FFFFFF"/>
                </a:solidFill>
                <a:latin typeface="Microsoft YaHei"/>
              </a:rPr>
              <a:t>▪ K2  剂量量层层递进</a:t>
            </a:r>
          </a:p>
          <a:p>
            <a:pPr>
              <a:spcAft>
                <a:spcPts val="800"/>
              </a:spcAft>
            </a:pPr>
            <a:r>
              <a:rPr sz="1500">
                <a:solidFill>
                  <a:srgbClr val="FFFFFF"/>
                </a:solidFill>
                <a:latin typeface="Microsoft YaHei"/>
              </a:rPr>
              <a:t>▪ K3  照射量：X、γ在空气里的电离</a:t>
            </a:r>
          </a:p>
          <a:p>
            <a:pPr>
              <a:spcAft>
                <a:spcPts val="800"/>
              </a:spcAft>
            </a:pPr>
            <a:r>
              <a:rPr sz="1500">
                <a:solidFill>
                  <a:srgbClr val="FFFFFF"/>
                </a:solidFill>
                <a:latin typeface="Microsoft YaHei"/>
              </a:rPr>
              <a:t>▪ K4  剂量率：看活度，也看距离</a:t>
            </a:r>
          </a:p>
          <a:p>
            <a:pPr>
              <a:spcAft>
                <a:spcPts val="800"/>
              </a:spcAft>
            </a:pPr>
            <a:r>
              <a:rPr sz="1500">
                <a:solidFill>
                  <a:srgbClr val="FFFFFF"/>
                </a:solidFill>
                <a:latin typeface="Microsoft YaHei"/>
              </a:rPr>
              <a:t>▪ K5  累积剂量：剂量率乘时间</a:t>
            </a:r>
          </a:p>
          <a:p>
            <a:pPr>
              <a:spcAft>
                <a:spcPts val="800"/>
              </a:spcAft>
            </a:pPr>
            <a:r>
              <a:rPr sz="1500">
                <a:solidFill>
                  <a:srgbClr val="FFFFFF"/>
                </a:solidFill>
                <a:latin typeface="Microsoft YaHei"/>
              </a:rPr>
              <a:t>▪ K6  吸收剂量与戈瑞</a:t>
            </a:r>
          </a:p>
          <a:p>
            <a:pPr>
              <a:spcAft>
                <a:spcPts val="800"/>
              </a:spcAft>
            </a:pPr>
            <a:r>
              <a:rPr sz="1500">
                <a:solidFill>
                  <a:srgbClr val="FFFFFF"/>
                </a:solidFill>
                <a:latin typeface="Microsoft YaHei"/>
              </a:rPr>
              <a:t>▪ K7  剂量按质量算，不按体积算</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怕的不是发热，而是细胞损伤</a:t>
            </a:r>
          </a:p>
          <a:p>
            <a:pPr>
              <a:spcAft>
                <a:spcPts val="800"/>
              </a:spcAft>
            </a:pPr>
            <a:r>
              <a:rPr sz="1500">
                <a:solidFill>
                  <a:srgbClr val="FFFFFF"/>
                </a:solidFill>
                <a:latin typeface="Microsoft YaHei"/>
              </a:rPr>
              <a:t>▪ K9  同样1戈瑞，伤害不一样</a:t>
            </a:r>
          </a:p>
          <a:p>
            <a:pPr>
              <a:spcAft>
                <a:spcPts val="800"/>
              </a:spcAft>
            </a:pPr>
            <a:r>
              <a:rPr sz="1500">
                <a:solidFill>
                  <a:srgbClr val="FFFFFF"/>
                </a:solidFill>
                <a:latin typeface="Microsoft YaHei"/>
              </a:rPr>
              <a:t>▪ K10  辐射权重因子与当量剂量</a:t>
            </a:r>
          </a:p>
          <a:p>
            <a:pPr>
              <a:spcAft>
                <a:spcPts val="800"/>
              </a:spcAft>
            </a:pPr>
            <a:r>
              <a:rPr sz="1500">
                <a:solidFill>
                  <a:srgbClr val="FFFFFF"/>
                </a:solidFill>
                <a:latin typeface="Microsoft YaHei"/>
              </a:rPr>
              <a:t>▪ K11  有效剂量：全身风险一个数</a:t>
            </a:r>
          </a:p>
          <a:p>
            <a:pPr>
              <a:spcAft>
                <a:spcPts val="800"/>
              </a:spcAft>
            </a:pPr>
            <a:r>
              <a:rPr sz="1500">
                <a:solidFill>
                  <a:srgbClr val="FFFFFF"/>
                </a:solidFill>
                <a:latin typeface="Microsoft YaHei"/>
              </a:rPr>
              <a:t>▪ K12  外照射与内照射剂量</a:t>
            </a:r>
          </a:p>
          <a:p>
            <a:pPr>
              <a:spcAft>
                <a:spcPts val="800"/>
              </a:spcAft>
            </a:pPr>
            <a:r>
              <a:rPr sz="1500">
                <a:solidFill>
                  <a:srgbClr val="FFFFFF"/>
                </a:solidFill>
                <a:latin typeface="Microsoft YaHei"/>
              </a:rPr>
              <a:t>▪ K13  待积剂量与剂量系数</a:t>
            </a:r>
          </a:p>
          <a:p>
            <a:pPr>
              <a:spcAft>
                <a:spcPts val="800"/>
              </a:spcAft>
            </a:pPr>
            <a:r>
              <a:rPr sz="1500">
                <a:solidFill>
                  <a:srgbClr val="FFFFFF"/>
                </a:solidFill>
                <a:latin typeface="Microsoft YaHei"/>
              </a:rPr>
              <a:t>▪ K14  单位速查：新旧单位对照</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088</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辐射的生物效应</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73 镜）　适用对象：使用放射性同位素、密封放射源或射线装置的本科生、研究生和教职工（辐射类必修），以及在地下室、含天然放射性样品场所工作的人员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能说出电离辐射怎样损伤细胞：电离断键、直接作用与间接作用、DNA 双链断裂最难修复，以及修复失败的三种结局。</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能区分确定性效应（有阈值、超过阈值后越大越重）和随机性效应（无阈值、概率随剂量增加、严重程度与剂量无关），举出各自的例子。</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能说出对辐射最敏感的组织和人群（造血、淋巴、生殖细胞，眼晶状体，胚胎和胎儿），知道孕期要及时告知。</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能判断为什么防护按“线性无阈”假设、小剂量也要尽量降低，知道地下场所的氡风险和降氡措施。</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18871-2002（以现行文本为准）《电离辐射防护与辐射源安全基本标准》：防止确定性效应、把随机性效应限制到可合理达到的尽量低水平（剂量限值见第 089 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《放射性同位素与射线装置安全和防护条例》（以现行文本为准）：辐射工作人员培训、个人剂量监测和职业健康检查</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《放射工作人员职业健康管理办法》（以现行文本为准）</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98（以现行文本为准）《放射工作人员健康要求及监护规范》</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104（以现行文本为准）《职业性外照射急性放射病诊断》：骨髓型、肠型、脑型的分型</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16146-2015（以现行文本为准）《室内氡及其子体控制要求》</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本校辐射安全管理规定（以本校规定为准）</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电离辐射打断分子化学键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可见光能量小，打不出电子</a:t>
            </a:r>
          </a:p>
          <a:p>
            <a:pPr>
              <a:spcAft>
                <a:spcPts val="1000"/>
              </a:spcAft>
            </a:pPr>
            <a:r>
              <a:rPr sz="2000">
                <a:solidFill>
                  <a:srgbClr val="222B33"/>
                </a:solidFill>
                <a:latin typeface="Microsoft YaHei"/>
              </a:rPr>
              <a:t>▪ 电离辐射能打出电子、打断化学键</a:t>
            </a:r>
          </a:p>
          <a:p>
            <a:pPr>
              <a:spcAft>
                <a:spcPts val="1000"/>
              </a:spcAft>
            </a:pPr>
            <a:r>
              <a:rPr sz="2000">
                <a:solidFill>
                  <a:srgbClr val="222B33"/>
                </a:solidFill>
                <a:latin typeface="Microsoft YaHei"/>
              </a:rPr>
              <a:t>▪ 大分子只断一个键，细胞就会受影响</a:t>
            </a:r>
          </a:p>
          <a:p>
            <a:pPr>
              <a:spcAft>
                <a:spcPts val="1000"/>
              </a:spcAft>
            </a:pPr>
            <a:r>
              <a:rPr sz="2000">
                <a:solidFill>
                  <a:srgbClr val="222B33"/>
                </a:solidFill>
                <a:latin typeface="Microsoft YaHei"/>
              </a:rPr>
              <a:t>▪ 要问清：哪种辐射、哪个器官、多少剂量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灯光照到人身上，一部分被吸收，只让分子振动稍稍加剧，能量太小，打不出电子，细胞完全承受得住。α、β、γ、X 射线等电离辐射能量大，能把原子里的电子打出去。同一件事有两种说法：物理上叫电离（电子被打出），化学上叫断键（……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以为所有“辐射”（灯光、手机信号）都会断键伤细胞</a:t>
            </a:r>
          </a:p>
          <a:p>
            <a:pPr>
              <a:spcAft>
                <a:spcPts val="1000"/>
              </a:spcAft>
            </a:pPr>
            <a:r>
              <a:rPr sz="1500">
                <a:solidFill>
                  <a:srgbClr val="222B33"/>
                </a:solidFill>
                <a:latin typeface="Microsoft YaHei"/>
              </a:rPr>
              <a:t>▪ 好奇心驱使，拿真实放射源随意照样品“看看效果”</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直接作用与间接作用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射线直接打断 DNA，叫直接作用</a:t>
            </a:r>
          </a:p>
          <a:p>
            <a:pPr>
              <a:spcAft>
                <a:spcPts val="1000"/>
              </a:spcAft>
            </a:pPr>
            <a:r>
              <a:rPr sz="2000">
                <a:solidFill>
                  <a:srgbClr val="222B33"/>
                </a:solidFill>
                <a:latin typeface="Microsoft YaHei"/>
              </a:rPr>
              <a:t>▪ 细胞里大部分是水</a:t>
            </a:r>
          </a:p>
          <a:p>
            <a:pPr>
              <a:spcAft>
                <a:spcPts val="1000"/>
              </a:spcAft>
            </a:pPr>
            <a:r>
              <a:rPr sz="2000">
                <a:solidFill>
                  <a:srgbClr val="222B33"/>
                </a:solidFill>
                <a:latin typeface="Microsoft YaHei"/>
              </a:rPr>
              <a:t>▪ 水被打碎成自由基，再去攻击 DNA，叫间接作用</a:t>
            </a:r>
          </a:p>
          <a:p>
            <a:pPr>
              <a:spcAft>
                <a:spcPts val="1000"/>
              </a:spcAft>
            </a:pPr>
            <a:r>
              <a:rPr sz="2000">
                <a:solidFill>
                  <a:srgbClr val="222B33"/>
                </a:solidFill>
                <a:latin typeface="Microsoft YaHei"/>
              </a:rPr>
              <a:t>▪ X、γ 照射，以间接作用为主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辐射损伤 DNA 有两条路。直接作用：射线（或它打出的电子）直接电离 DNA 分子，打断链条；高 LET 的 α 粒子等更常以这种方式造成损伤。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以为射线必须正好打中 DNA 才会伤人</a:t>
            </a:r>
          </a:p>
          <a:p>
            <a:pPr>
              <a:spcAft>
                <a:spcPts val="1000"/>
              </a:spcAft>
            </a:pPr>
            <a:r>
              <a:rPr sz="1500">
                <a:solidFill>
                  <a:srgbClr val="222B33"/>
                </a:solidFill>
                <a:latin typeface="Microsoft YaHei"/>
              </a:rPr>
              <a:t>▪ 把羟基自由基说成带负电的离子</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DNA损伤：双链断裂最难修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只断一条链，照着另一条就能补好</a:t>
            </a:r>
          </a:p>
          <a:p>
            <a:pPr>
              <a:spcAft>
                <a:spcPts val="1000"/>
              </a:spcAft>
            </a:pPr>
            <a:r>
              <a:rPr sz="2000">
                <a:solidFill>
                  <a:srgbClr val="222B33"/>
                </a:solidFill>
                <a:latin typeface="Microsoft YaHei"/>
              </a:rPr>
              <a:t>▪ 两条链同处一起断，难修，最危险</a:t>
            </a:r>
          </a:p>
          <a:p>
            <a:pPr>
              <a:spcAft>
                <a:spcPts val="1000"/>
              </a:spcAft>
            </a:pPr>
            <a:r>
              <a:rPr sz="2000">
                <a:solidFill>
                  <a:srgbClr val="222B33"/>
                </a:solidFill>
                <a:latin typeface="Microsoft YaHei"/>
              </a:rPr>
              <a:t>▪ 高 LET 辐射造成成簇损伤，很难修</a:t>
            </a:r>
          </a:p>
          <a:p>
            <a:pPr>
              <a:spcAft>
                <a:spcPts val="1000"/>
              </a:spcAft>
            </a:pPr>
            <a:r>
              <a:rPr sz="2000">
                <a:solidFill>
                  <a:srgbClr val="222B33"/>
                </a:solidFill>
                <a:latin typeface="Microsoft YaHei"/>
              </a:rPr>
              <a:t>▪ 染色体也会断裂、错接，形成畸变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把 DNA 想成一架梯子：两侧扶手是骨架，横档是碱基对。只断一侧扶手叫单链断裂，数量多，但细胞可以照着另一条链当模板补好，几乎都能修复。两侧扶手在同一处一起断，叫双链断裂，数量少却难修，细胞死亡和突变多由它引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 DNA 一受损就必然致癌</a:t>
            </a:r>
          </a:p>
          <a:p>
            <a:pPr>
              <a:spcAft>
                <a:spcPts val="1000"/>
              </a:spcAft>
            </a:pPr>
            <a:r>
              <a:rPr sz="1500">
                <a:solidFill>
                  <a:srgbClr val="222B33"/>
                </a:solidFill>
                <a:latin typeface="Microsoft YaHei"/>
              </a:rPr>
              <a:t>▪ 认为 α 粒子穿透力弱，所以危害一定小（进入体内后恰恰相反，见第 086 课）</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修不好的三种结局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大多数损伤，细胞自己能修好</a:t>
            </a:r>
          </a:p>
          <a:p>
            <a:pPr>
              <a:spcAft>
                <a:spcPts val="1000"/>
              </a:spcAft>
            </a:pPr>
            <a:r>
              <a:rPr sz="2000">
                <a:solidFill>
                  <a:srgbClr val="222B33"/>
                </a:solidFill>
                <a:latin typeface="Microsoft YaHei"/>
              </a:rPr>
              <a:t>▪ 修不好：细胞死亡、躯体效应（主要是癌症）、遗传效应</a:t>
            </a:r>
          </a:p>
          <a:p>
            <a:pPr>
              <a:spcAft>
                <a:spcPts val="1000"/>
              </a:spcAft>
            </a:pPr>
            <a:r>
              <a:rPr sz="2000">
                <a:solidFill>
                  <a:srgbClr val="222B33"/>
                </a:solidFill>
                <a:latin typeface="Microsoft YaHei"/>
              </a:rPr>
              <a:t>▪ 剂量大、反复、面积大、部位敏感，损伤才明显</a:t>
            </a:r>
          </a:p>
          <a:p>
            <a:pPr>
              <a:spcAft>
                <a:spcPts val="1000"/>
              </a:spcAft>
            </a:pPr>
            <a:r>
              <a:rPr sz="2000">
                <a:solidFill>
                  <a:srgbClr val="222B33"/>
                </a:solidFill>
                <a:latin typeface="Microsoft YaHei"/>
              </a:rPr>
              <a:t>▪ 只受外照射，人不会带上放射性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细胞有修复系统，大多数辐射损伤都能修好。修不好时有三种结局：一是细胞死亡，死得多了，组织和器官的功能就出问题；二是躯体效应，发生在受照者本人身上，最主要的是癌症；三是遗传效应，生殖细胞的损伤可能传给后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不敢接近做过 X 射线检查或受过外照射的人</a:t>
            </a:r>
          </a:p>
          <a:p>
            <a:pPr>
              <a:spcAft>
                <a:spcPts val="1000"/>
              </a:spcAft>
            </a:pPr>
            <a:r>
              <a:rPr sz="1500">
                <a:solidFill>
                  <a:srgbClr val="222B33"/>
                </a:solidFill>
                <a:latin typeface="Microsoft YaHei"/>
              </a:rPr>
              <a:t>▪ 认为“没感觉”就是没有损伤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细胞存活曲线：一次击中与两次叠加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剂量越大，存活的细胞越少</a:t>
            </a:r>
          </a:p>
          <a:p>
            <a:pPr>
              <a:spcAft>
                <a:spcPts val="1000"/>
              </a:spcAft>
            </a:pPr>
            <a:r>
              <a:rPr sz="2000">
                <a:solidFill>
                  <a:srgbClr val="222B33"/>
                </a:solidFill>
                <a:latin typeface="Microsoft YaHei"/>
              </a:rPr>
              <a:t>▪ 一次击中就致命的部分，低剂量时为主</a:t>
            </a:r>
          </a:p>
          <a:p>
            <a:pPr>
              <a:spcAft>
                <a:spcPts val="1000"/>
              </a:spcAft>
            </a:pPr>
            <a:r>
              <a:rPr sz="2000">
                <a:solidFill>
                  <a:srgbClr val="222B33"/>
                </a:solidFill>
                <a:latin typeface="Microsoft YaHei"/>
              </a:rPr>
              <a:t>▪ 两处小伤叠成大伤的部分，高剂量时为主</a:t>
            </a:r>
          </a:p>
          <a:p>
            <a:pPr>
              <a:spcAft>
                <a:spcPts val="1000"/>
              </a:spcAft>
            </a:pPr>
            <a:r>
              <a:rPr sz="2000">
                <a:solidFill>
                  <a:srgbClr val="222B33"/>
                </a:solidFill>
                <a:latin typeface="Microsoft YaHei"/>
              </a:rPr>
              <a:t>▪ 皮肤肠道反应快，脊髓和肺反应慢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用不同剂量照射细胞，数一数还能存活、继续增殖的细胞比例，画成细胞存活曲线：剂量越大，存活的细胞越少；曲线的形状因组织而不同，可用来预测不同剂量下的组织损伤。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用放疗的模型参数自行估算自己的受照风险</a:t>
            </a:r>
          </a:p>
          <a:p>
            <a:pPr>
              <a:spcAft>
                <a:spcPts val="1000"/>
              </a:spcAft>
            </a:pPr>
            <a:r>
              <a:rPr sz="1500">
                <a:solidFill>
                  <a:srgbClr val="222B33"/>
                </a:solidFill>
                <a:latin typeface="Microsoft YaHei"/>
              </a:rPr>
              <a:t>▪ 认为晚期没症状就说明没损伤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影响敏感性的因素：氧效应等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有氧的细胞，对射线更敏感（氧效应）</a:t>
            </a:r>
          </a:p>
          <a:p>
            <a:pPr>
              <a:spcAft>
                <a:spcPts val="1000"/>
              </a:spcAft>
            </a:pPr>
            <a:r>
              <a:rPr sz="2000">
                <a:solidFill>
                  <a:srgbClr val="222B33"/>
                </a:solidFill>
                <a:latin typeface="Microsoft YaHei"/>
              </a:rPr>
              <a:t>▪ 氧把损伤“定型”，就修不回去了</a:t>
            </a:r>
          </a:p>
          <a:p>
            <a:pPr>
              <a:spcAft>
                <a:spcPts val="1000"/>
              </a:spcAft>
            </a:pPr>
            <a:r>
              <a:rPr sz="2000">
                <a:solidFill>
                  <a:srgbClr val="222B33"/>
                </a:solidFill>
                <a:latin typeface="Microsoft YaHei"/>
              </a:rPr>
              <a:t>▪ 缺氧的肿瘤中心更耐受放疗</a:t>
            </a:r>
          </a:p>
          <a:p>
            <a:pPr>
              <a:spcAft>
                <a:spcPts val="1000"/>
              </a:spcAft>
            </a:pPr>
            <a:r>
              <a:rPr sz="2000">
                <a:solidFill>
                  <a:srgbClr val="222B33"/>
                </a:solidFill>
                <a:latin typeface="Microsoft YaHei"/>
              </a:rPr>
              <a:t>▪ 年龄、修复能力和某些化学物也有影响</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细胞里有没有氧，受照后的伤害大不一样。氧和自由基造成的损伤结合，把伤口“定型”，就修不回去了；缺氧时，部分断口还可能自己接回。要造成同样的损伤，缺氧细胞需要的 X、γ 射线剂量要高出约两到三倍（氧增强比）；高 LET……</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相信有日常服用就能“防辐射”的药或保健品（碘化钾只在核事故应急时按政府指令服用）</a:t>
            </a:r>
          </a:p>
          <a:p>
            <a:pPr>
              <a:spcAft>
                <a:spcPts val="1000"/>
              </a:spcAft>
            </a:pPr>
            <a:r>
              <a:rPr sz="1500">
                <a:solidFill>
                  <a:srgbClr val="222B33"/>
                </a:solidFill>
                <a:latin typeface="Microsoft YaHei"/>
              </a:rPr>
              <a:t>▪ 以为分几次照就可以不计剂量</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分裂越快，越怕辐射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细胞分裂越快、组织越旺盛，越怕辐射</a:t>
            </a:r>
          </a:p>
          <a:p>
            <a:pPr>
              <a:spcAft>
                <a:spcPts val="1000"/>
              </a:spcAft>
            </a:pPr>
            <a:r>
              <a:rPr sz="2000">
                <a:solidFill>
                  <a:srgbClr val="222B33"/>
                </a:solidFill>
                <a:latin typeface="Microsoft YaHei"/>
              </a:rPr>
              <a:t>▪ 淋巴、造血、生殖细胞最敏感</a:t>
            </a:r>
          </a:p>
          <a:p>
            <a:pPr>
              <a:spcAft>
                <a:spcPts val="1000"/>
              </a:spcAft>
            </a:pPr>
            <a:r>
              <a:rPr sz="2000">
                <a:solidFill>
                  <a:srgbClr val="222B33"/>
                </a:solidFill>
                <a:latin typeface="Microsoft YaHei"/>
              </a:rPr>
              <a:t>▪ 神经、肌肉、骨骼相对不敏感</a:t>
            </a:r>
          </a:p>
          <a:p>
            <a:pPr>
              <a:spcAft>
                <a:spcPts val="1000"/>
              </a:spcAft>
            </a:pPr>
            <a:r>
              <a:rPr sz="2000">
                <a:solidFill>
                  <a:srgbClr val="222B33"/>
                </a:solidFill>
                <a:latin typeface="Microsoft YaHei"/>
              </a:rPr>
              <a:t>▪ 进入体内的核素，会聚到某些器官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人体的反应与受到的剂量有关，不同细胞怕辐射的程度不一样：细胞分裂越快、越不成熟、组织生长越旺盛，对辐射越敏感。淋巴细胞、骨髓造血细胞、生殖细胞（精原细胞、卵母细胞）、肠道上皮最敏感；神经、肌肉、骨骼等成熟组织相对不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说“某些器官吸收辐射更多”，混淆了吸收与敏感性</a:t>
            </a:r>
          </a:p>
          <a:p>
            <a:pPr>
              <a:spcAft>
                <a:spcPts val="1000"/>
              </a:spcAft>
            </a:pPr>
            <a:r>
              <a:rPr sz="1500">
                <a:solidFill>
                  <a:srgbClr val="222B33"/>
                </a:solidFill>
                <a:latin typeface="Microsoft YaHei"/>
              </a:rPr>
              <a:t>▪ 认为成年人的神经和肌肉不敏感，所以大剂量也无所谓</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两类效应：确定性与随机性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辐射健康效应分为两类</a:t>
            </a:r>
          </a:p>
          <a:p>
            <a:pPr>
              <a:spcAft>
                <a:spcPts val="1000"/>
              </a:spcAft>
            </a:pPr>
            <a:r>
              <a:rPr sz="2000">
                <a:solidFill>
                  <a:srgbClr val="222B33"/>
                </a:solidFill>
                <a:latin typeface="Microsoft YaHei"/>
              </a:rPr>
              <a:t>▪ 大量细胞死亡，引起确定性效应</a:t>
            </a:r>
          </a:p>
          <a:p>
            <a:pPr>
              <a:spcAft>
                <a:spcPts val="1000"/>
              </a:spcAft>
            </a:pPr>
            <a:r>
              <a:rPr sz="2000">
                <a:solidFill>
                  <a:srgbClr val="222B33"/>
                </a:solidFill>
                <a:latin typeface="Microsoft YaHei"/>
              </a:rPr>
              <a:t>▪ 单个细胞变异，引起随机性效应</a:t>
            </a:r>
          </a:p>
          <a:p>
            <a:pPr>
              <a:spcAft>
                <a:spcPts val="1000"/>
              </a:spcAft>
            </a:pPr>
            <a:r>
              <a:rPr sz="2000">
                <a:solidFill>
                  <a:srgbClr val="222B33"/>
                </a:solidFill>
                <a:latin typeface="Microsoft YaHei"/>
              </a:rPr>
              <a:t>▪ 短时大剂量叫急性，长期小剂量叫慢性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辐射对健康的效应分为两类。确定性效应（也称有害组织反应）源于大量细胞死亡或功能丧失，组织修补不过来，大剂量超过阈值才会出现；随机性效应源于单个细胞发生变异后存活、增殖，可能导致癌症或遗传效应，它是概率问题，所以剂量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把两类效应都当成“超过某个剂量才会有”</a:t>
            </a:r>
          </a:p>
          <a:p>
            <a:pPr>
              <a:spcAft>
                <a:spcPts val="1000"/>
              </a:spcAft>
            </a:pPr>
            <a:r>
              <a:rPr sz="1500">
                <a:solidFill>
                  <a:srgbClr val="222B33"/>
                </a:solidFill>
                <a:latin typeface="Microsoft YaHei"/>
              </a:rPr>
              <a:t>▪ 认为长期小剂量只要不出症状就没有风险</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确定性效应：过阈值才出现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像水漫堤坝，超过阈值才出现</a:t>
            </a:r>
          </a:p>
          <a:p>
            <a:pPr>
              <a:spcAft>
                <a:spcPts val="1000"/>
              </a:spcAft>
            </a:pPr>
            <a:r>
              <a:rPr sz="2000">
                <a:solidFill>
                  <a:srgbClr val="222B33"/>
                </a:solidFill>
                <a:latin typeface="Microsoft YaHei"/>
              </a:rPr>
              <a:t>▪ 过了阈值，剂量越大越严重</a:t>
            </a:r>
          </a:p>
          <a:p>
            <a:pPr>
              <a:spcAft>
                <a:spcPts val="1000"/>
              </a:spcAft>
            </a:pPr>
            <a:r>
              <a:rPr sz="2000">
                <a:solidFill>
                  <a:srgbClr val="222B33"/>
                </a:solidFill>
                <a:latin typeface="Microsoft YaHei"/>
              </a:rPr>
              <a:t>▪ 剂量高到一定程度，人人都会出现</a:t>
            </a:r>
          </a:p>
          <a:p>
            <a:pPr>
              <a:spcAft>
                <a:spcPts val="1000"/>
              </a:spcAft>
            </a:pPr>
            <a:r>
              <a:rPr sz="2000">
                <a:solidFill>
                  <a:srgbClr val="222B33"/>
                </a:solidFill>
                <a:latin typeface="Microsoft YaHei"/>
              </a:rPr>
              <a:t>▪ 阈值因人而异，不能拿来冒险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确定性效应像水漫过堤坝、像火柴要到燃点：剂量低于阈值时不出现；超过阈值后，剂量越大，损伤越严重。皮肤红斑、脱发、白内障、血细胞减少、不育、急性放射病都属于这一类。短时大剂量首先伤害正在分裂的细胞，血细胞、骨髓、肠道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把阈值当成可以放心接近的“安全线”</a:t>
            </a:r>
          </a:p>
          <a:p>
            <a:pPr>
              <a:spcAft>
                <a:spcPts val="1000"/>
              </a:spcAft>
            </a:pPr>
            <a:r>
              <a:rPr sz="1500">
                <a:solidFill>
                  <a:srgbClr val="222B33"/>
                </a:solidFill>
                <a:latin typeface="Microsoft YaHei"/>
              </a:rPr>
              <a:t>▪ 用有效剂量（希沃特）去判断皮肤、晶状体是否会出现损伤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器官各有门槛：晶状体、皮肤、性腺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眼晶状体受照多了，会得白内障</a:t>
            </a:r>
          </a:p>
          <a:p>
            <a:pPr>
              <a:spcAft>
                <a:spcPts val="1000"/>
              </a:spcAft>
            </a:pPr>
            <a:r>
              <a:rPr sz="2000">
                <a:solidFill>
                  <a:srgbClr val="222B33"/>
                </a:solidFill>
                <a:latin typeface="Microsoft YaHei"/>
              </a:rPr>
              <a:t>▪ 皮肤先发红，重了脱皮、溃破，还会脱发</a:t>
            </a:r>
          </a:p>
          <a:p>
            <a:pPr>
              <a:spcAft>
                <a:spcPts val="1000"/>
              </a:spcAft>
            </a:pPr>
            <a:r>
              <a:rPr sz="2000">
                <a:solidFill>
                  <a:srgbClr val="222B33"/>
                </a:solidFill>
                <a:latin typeface="Microsoft YaHei"/>
              </a:rPr>
              <a:t>▪ 性腺里的生殖干细胞最怕辐射</a:t>
            </a:r>
          </a:p>
          <a:p>
            <a:pPr>
              <a:spcAft>
                <a:spcPts val="1000"/>
              </a:spcAft>
            </a:pPr>
            <a:r>
              <a:rPr sz="2000">
                <a:solidFill>
                  <a:srgbClr val="222B33"/>
                </a:solidFill>
                <a:latin typeface="Microsoft YaHei"/>
              </a:rPr>
              <a:t>▪ 误入探伤区，可能被大剂量灼伤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确定性效应的门槛因器官而异。眼晶状体受照累积多了会变浑浊，形成白内障（潜伏期可达多年），长期做透视、介入或在射线装置旁近距离工作的人，要特别注意眼晶状体防护（如佩戴铅防护眼镜，按本校规定配备）。皮肤受照先是发红（红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操作源时用手直接拿取、近距离观察</a:t>
            </a:r>
          </a:p>
          <a:p>
            <a:pPr>
              <a:spcAft>
                <a:spcPts val="1000"/>
              </a:spcAft>
            </a:pPr>
            <a:r>
              <a:rPr sz="1500">
                <a:solidFill>
                  <a:srgbClr val="222B33"/>
                </a:solidFill>
                <a:latin typeface="Microsoft YaHei"/>
              </a:rPr>
              <a:t>▪ 认为戴了铅衣就不必护眼</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急性放射病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全身短时间受大剂量，会得急性放射病</a:t>
            </a:r>
          </a:p>
          <a:p>
            <a:pPr>
              <a:spcAft>
                <a:spcPts val="1000"/>
              </a:spcAft>
            </a:pPr>
            <a:r>
              <a:rPr sz="2000">
                <a:solidFill>
                  <a:srgbClr val="222B33"/>
                </a:solidFill>
                <a:latin typeface="Microsoft YaHei"/>
              </a:rPr>
              <a:t>▪ 初期恶心呕吐，随后有“假愈期”</a:t>
            </a:r>
          </a:p>
          <a:p>
            <a:pPr>
              <a:spcAft>
                <a:spcPts val="1000"/>
              </a:spcAft>
            </a:pPr>
            <a:r>
              <a:rPr sz="2000">
                <a:solidFill>
                  <a:srgbClr val="222B33"/>
                </a:solidFill>
                <a:latin typeface="Microsoft YaHei"/>
              </a:rPr>
              <a:t>▪ 几周后骨髓衰竭、感染、出血</a:t>
            </a:r>
          </a:p>
          <a:p>
            <a:pPr>
              <a:spcAft>
                <a:spcPts val="1000"/>
              </a:spcAft>
            </a:pPr>
            <a:r>
              <a:rPr sz="2000">
                <a:solidFill>
                  <a:srgbClr val="222B33"/>
                </a:solidFill>
                <a:latin typeface="Microsoft YaHei"/>
              </a:rPr>
              <a:t>▪ 剂量由低到高：骨髓型、肠型、脑型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全身或身体大部分在短时间内受到大剂量照射，会发生急性放射病。病程大致分为几个阶段：初期在受照后数小时内出现恶心、呕吐、乏力；接着是假愈期，症状减轻，好像好了，其实没有；之后进入极期，几周内骨髓衰竭、血细胞减少，出现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呕吐缓解后以为没事，不去就医</a:t>
            </a:r>
          </a:p>
          <a:p>
            <a:pPr>
              <a:spcAft>
                <a:spcPts val="1000"/>
              </a:spcAft>
            </a:pPr>
            <a:r>
              <a:rPr sz="1500">
                <a:solidFill>
                  <a:srgbClr val="222B33"/>
                </a:solidFill>
                <a:latin typeface="Microsoft YaHei"/>
              </a:rPr>
              <a:t>▪ 疑似受照后自行处理、不报告</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随机性效应：看概率，潜伏期长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像抽奖：剂量越大，发生概率越高</a:t>
            </a:r>
          </a:p>
          <a:p>
            <a:pPr>
              <a:spcAft>
                <a:spcPts val="1000"/>
              </a:spcAft>
            </a:pPr>
            <a:r>
              <a:rPr sz="2000">
                <a:solidFill>
                  <a:srgbClr val="222B33"/>
                </a:solidFill>
                <a:latin typeface="Microsoft YaHei"/>
              </a:rPr>
              <a:t>▪ 一旦发生，严重程度与剂量无关</a:t>
            </a:r>
          </a:p>
          <a:p>
            <a:pPr>
              <a:spcAft>
                <a:spcPts val="1000"/>
              </a:spcAft>
            </a:pPr>
            <a:r>
              <a:rPr sz="2000">
                <a:solidFill>
                  <a:srgbClr val="222B33"/>
                </a:solidFill>
                <a:latin typeface="Microsoft YaHei"/>
              </a:rPr>
              <a:t>▪ 常潜伏多年，如白血病、甲状腺癌</a:t>
            </a:r>
          </a:p>
          <a:p>
            <a:pPr>
              <a:spcAft>
                <a:spcPts val="1000"/>
              </a:spcAft>
            </a:pPr>
            <a:r>
              <a:rPr sz="2000">
                <a:solidFill>
                  <a:srgbClr val="222B33"/>
                </a:solidFill>
                <a:latin typeface="Microsoft YaHei"/>
              </a:rPr>
              <a:t>▪ 小剂量会累积，别当成没剂量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随机性效应像抽奖：受的剂量越大，“中签”的概率越高；但一旦发生，严重程度并不随剂量而变。受照的人发生癌症的概率比没受照的略高，例如辐射诱发的白血病、甲状腺癌等实体癌。低剂量照射时，主要担心的就是癌症和遗传效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认为剂量越大，得的癌就越“重”</a:t>
            </a:r>
          </a:p>
          <a:p>
            <a:pPr>
              <a:spcAft>
                <a:spcPts val="1000"/>
              </a:spcAft>
            </a:pPr>
            <a:r>
              <a:rPr sz="1500">
                <a:solidFill>
                  <a:srgbClr val="222B33"/>
                </a:solidFill>
                <a:latin typeface="Microsoft YaHei"/>
              </a:rPr>
              <a:t>▪ 每次剂量小，就不戴剂量计、不记录</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线性无阈：防护上的谨慎假设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剂量—效应关系常用几种模型描述</a:t>
            </a:r>
          </a:p>
          <a:p>
            <a:pPr>
              <a:spcAft>
                <a:spcPts val="1000"/>
              </a:spcAft>
            </a:pPr>
            <a:r>
              <a:rPr sz="2000">
                <a:solidFill>
                  <a:srgbClr val="222B33"/>
                </a:solidFill>
                <a:latin typeface="Microsoft YaHei"/>
              </a:rPr>
              <a:t>▪ 防护上假定：风险与剂量成正比、没有阈值</a:t>
            </a:r>
          </a:p>
          <a:p>
            <a:pPr>
              <a:spcAft>
                <a:spcPts val="1000"/>
              </a:spcAft>
            </a:pPr>
            <a:r>
              <a:rPr sz="2000">
                <a:solidFill>
                  <a:srgbClr val="222B33"/>
                </a:solidFill>
                <a:latin typeface="Microsoft YaHei"/>
              </a:rPr>
              <a:t>▪ 再小的剂量也不当作零风险</a:t>
            </a:r>
          </a:p>
          <a:p>
            <a:pPr>
              <a:spcAft>
                <a:spcPts val="1000"/>
              </a:spcAft>
            </a:pPr>
            <a:r>
              <a:rPr sz="2000">
                <a:solidFill>
                  <a:srgbClr val="222B33"/>
                </a:solidFill>
                <a:latin typeface="Microsoft YaHei"/>
              </a:rPr>
              <a:t>▪ 所以照射要合理可行尽量低</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剂量和效应的关系常用几种模型描述：有阈模型（剂量过了门槛才出现效应，适用于确定性效应）；线性无阈模型（从零开始的一条直线，任何剂量都可能有效应）；非线性模型（弯曲的曲线）。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以为“低于剂量限值就绝对安全”，不再优化</a:t>
            </a:r>
          </a:p>
          <a:p>
            <a:pPr>
              <a:spcAft>
                <a:spcPts val="1000"/>
              </a:spcAft>
            </a:pPr>
            <a:r>
              <a:rPr sz="1500">
                <a:solidFill>
                  <a:srgbClr val="222B33"/>
                </a:solidFill>
                <a:latin typeface="Microsoft YaHei"/>
              </a:rPr>
              <a:t>▪ 反过来以为“任何辐射都会得癌”，过度恐慌</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遗传效应与生育</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遗传效应按无阈处理，但很少见</a:t>
            </a:r>
          </a:p>
          <a:p>
            <a:pPr>
              <a:spcAft>
                <a:spcPts val="1000"/>
              </a:spcAft>
            </a:pPr>
            <a:r>
              <a:rPr sz="2000">
                <a:solidFill>
                  <a:srgbClr val="222B33"/>
                </a:solidFill>
                <a:latin typeface="Microsoft YaHei"/>
              </a:rPr>
              <a:t>▪ 人类遗传风险主要从动物数据推断</a:t>
            </a:r>
          </a:p>
          <a:p>
            <a:pPr>
              <a:spcAft>
                <a:spcPts val="1000"/>
              </a:spcAft>
            </a:pPr>
            <a:r>
              <a:rPr sz="2000">
                <a:solidFill>
                  <a:srgbClr val="222B33"/>
                </a:solidFill>
                <a:latin typeface="Microsoft YaHei"/>
              </a:rPr>
              <a:t>▪ 规范的低剂量工作一般不影响生育力</a:t>
            </a:r>
          </a:p>
          <a:p>
            <a:pPr>
              <a:spcAft>
                <a:spcPts val="1000"/>
              </a:spcAft>
            </a:pPr>
            <a:r>
              <a:rPr sz="2000">
                <a:solidFill>
                  <a:srgbClr val="222B33"/>
                </a:solidFill>
                <a:latin typeface="Microsoft YaHei"/>
              </a:rPr>
              <a:t>▪ 卵细胞不会更新，照射要尽量低</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发生在受照者本人身上的是躯体效应，通过生殖细胞传给子女的是遗传效应。遗传效应按无阈处理，任何剂量都认为有一定风险；但在人群中，辐射诱发的遗传效应很少见，风险比致癌低，相关估计主要从动物实验数据推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因担心遗传影响而拒绝一切必要的医学检查</a:t>
            </a:r>
          </a:p>
          <a:p>
            <a:pPr>
              <a:spcAft>
                <a:spcPts val="1000"/>
              </a:spcAft>
            </a:pPr>
            <a:r>
              <a:rPr sz="1500">
                <a:solidFill>
                  <a:srgbClr val="222B33"/>
                </a:solidFill>
                <a:latin typeface="Microsoft YaHei"/>
              </a:rPr>
              <a:t>▪ 认为只有女性才需要考虑生殖细胞防护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胚胎和胎儿最敏感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胚胎最敏感，尤其孕早期最初几周</a:t>
            </a:r>
          </a:p>
          <a:p>
            <a:pPr>
              <a:spcAft>
                <a:spcPts val="1000"/>
              </a:spcAft>
            </a:pPr>
            <a:r>
              <a:rPr sz="2000">
                <a:solidFill>
                  <a:srgbClr val="222B33"/>
                </a:solidFill>
                <a:latin typeface="Microsoft YaHei"/>
              </a:rPr>
              <a:t>▪ 器官形成期受照，可能导致畸形</a:t>
            </a:r>
          </a:p>
          <a:p>
            <a:pPr>
              <a:spcAft>
                <a:spcPts val="1000"/>
              </a:spcAft>
            </a:pPr>
            <a:r>
              <a:rPr sz="2000">
                <a:solidFill>
                  <a:srgbClr val="222B33"/>
                </a:solidFill>
                <a:latin typeface="Microsoft YaHei"/>
              </a:rPr>
              <a:t>▪ 宫内受照，白血病风险略有上升</a:t>
            </a:r>
          </a:p>
          <a:p>
            <a:pPr>
              <a:spcAft>
                <a:spcPts val="1000"/>
              </a:spcAft>
            </a:pPr>
            <a:r>
              <a:rPr sz="2000">
                <a:solidFill>
                  <a:srgbClr val="222B33"/>
                </a:solidFill>
                <a:latin typeface="Microsoft YaHei"/>
              </a:rPr>
              <a:t>▪ 知道怀孕，要及时告知导师和学院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不同人群对辐射的敏感程度不同，胚胎和胎儿最敏感。孕早期，尤其是最初几周最敏感；器官形成期受照，可能影响器官发育、导致畸形；宫内受照还会使儿童期白血病等癌症的风险略有上升。</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怀孕后担心影响学业，隐瞒不报继续操作放射源</a:t>
            </a:r>
          </a:p>
          <a:p>
            <a:pPr>
              <a:spcAft>
                <a:spcPts val="1000"/>
              </a:spcAft>
            </a:pPr>
            <a:r>
              <a:rPr sz="1500">
                <a:solidFill>
                  <a:srgbClr val="222B33"/>
                </a:solidFill>
                <a:latin typeface="Microsoft YaHei"/>
              </a:rPr>
              <a:t>▪ 以为只有孕晚期才需要注意</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氡：天然照射里的头号风险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地下室、密闭房间，氡容易积聚</a:t>
            </a:r>
          </a:p>
          <a:p>
            <a:pPr>
              <a:spcAft>
                <a:spcPts val="1000"/>
              </a:spcAft>
            </a:pPr>
            <a:r>
              <a:rPr sz="2000">
                <a:solidFill>
                  <a:srgbClr val="222B33"/>
                </a:solidFill>
                <a:latin typeface="Microsoft YaHei"/>
              </a:rPr>
              <a:t>▪ 氡子体吸进肺，α 粒子伤支气管</a:t>
            </a:r>
          </a:p>
          <a:p>
            <a:pPr>
              <a:spcAft>
                <a:spcPts val="1000"/>
              </a:spcAft>
            </a:pPr>
            <a:r>
              <a:rPr sz="2000">
                <a:solidFill>
                  <a:srgbClr val="222B33"/>
                </a:solidFill>
                <a:latin typeface="Microsoft YaHei"/>
              </a:rPr>
              <a:t>▪ 氡是肺癌诱因之一，吸烟成倍放大风险</a:t>
            </a:r>
          </a:p>
          <a:p>
            <a:pPr>
              <a:spcAft>
                <a:spcPts val="1000"/>
              </a:spcAft>
            </a:pPr>
            <a:r>
              <a:rPr sz="2000">
                <a:solidFill>
                  <a:srgbClr val="222B33"/>
                </a:solidFill>
                <a:latin typeface="Microsoft YaHei"/>
              </a:rPr>
              <a:t>▪ 通风、封堵裂缝、地下抽气，持续监测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氡是土壤、岩石和建材中镭衰变产生的放射性气体，是天然照射中最大的一项（天然辐射源见第 085 课）。通风差的地下实验室、密闭房间，以及存放铀矿石等天然放射性样品的场所，氡浓度可能很高。氡本身吸入后大部分又被呼出，危险……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地下实验室长期门窗紧闭、关掉排风</a:t>
            </a:r>
          </a:p>
          <a:p>
            <a:pPr>
              <a:spcAft>
                <a:spcPts val="1000"/>
              </a:spcAft>
            </a:pPr>
            <a:r>
              <a:rPr sz="1500">
                <a:solidFill>
                  <a:srgbClr val="222B33"/>
                </a:solidFill>
                <a:latin typeface="Microsoft YaHei"/>
              </a:rPr>
              <a:t>▪ 含铀、钍矿石样品随意堆放在通风差的房间</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守规程，风险就很低</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按规程工作，辐射风险并不高</a:t>
            </a:r>
          </a:p>
          <a:p>
            <a:pPr>
              <a:spcAft>
                <a:spcPts val="1000"/>
              </a:spcAft>
            </a:pPr>
            <a:r>
              <a:rPr sz="2000">
                <a:solidFill>
                  <a:srgbClr val="222B33"/>
                </a:solidFill>
                <a:latin typeface="Microsoft YaHei"/>
              </a:rPr>
              <a:t>▪ 无证操作、擅自闯入，才真危险</a:t>
            </a:r>
          </a:p>
          <a:p>
            <a:pPr>
              <a:spcAft>
                <a:spcPts val="1000"/>
              </a:spcAft>
            </a:pPr>
            <a:r>
              <a:rPr sz="2000">
                <a:solidFill>
                  <a:srgbClr val="222B33"/>
                </a:solidFill>
                <a:latin typeface="Microsoft YaHei"/>
              </a:rPr>
              <a:t>▪ 懂防护、守规程，才最安全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把辐射工作和其他常见职业的风险比一比：按规程工作、受照剂量控制良好的辐射工作人员，风险很小，不高于许多常见职业。正常的辐射工作和规范的医学检查，不会出现确定性效应。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因为“风险低”就不戴剂量计、不守规程</a:t>
            </a:r>
          </a:p>
          <a:p>
            <a:pPr>
              <a:spcAft>
                <a:spcPts val="1000"/>
              </a:spcAft>
            </a:pPr>
            <a:r>
              <a:rPr sz="1500">
                <a:solidFill>
                  <a:srgbClr val="222B33"/>
                </a:solidFill>
                <a:latin typeface="Microsoft YaHei"/>
              </a:rPr>
              <a:t>▪ 因为害怕辐射而拒绝参加必要的培训和体检</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受 X 射线、γ 射线照射时，人体细胞的 DNA 损伤主要来自：</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射线直接击中 DNA</a:t>
            </a:r>
          </a:p>
          <a:p>
            <a:pPr algn="l"/>
            <a:r>
              <a:rPr sz="1500" b="0">
                <a:solidFill>
                  <a:srgbClr val="222B33"/>
                </a:solidFill>
                <a:latin typeface="Microsoft YaHei"/>
              </a:rPr>
              <a:t>B. 水分子辐射分解产生的自由基攻击 DNA</a:t>
            </a:r>
          </a:p>
          <a:p>
            <a:pPr algn="l"/>
            <a:r>
              <a:rPr sz="1500" b="0">
                <a:solidFill>
                  <a:srgbClr val="222B33"/>
                </a:solidFill>
                <a:latin typeface="Microsoft YaHei"/>
              </a:rPr>
              <a:t>C. 射线使人体发热</a:t>
            </a:r>
          </a:p>
          <a:p>
            <a:pPr algn="l"/>
            <a:r>
              <a:rPr sz="1500" b="0">
                <a:solidFill>
                  <a:srgbClr val="222B33"/>
                </a:solidFill>
                <a:latin typeface="Microsoft YaHei"/>
              </a:rPr>
              <a:t>D. 人体带上了放射性</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判断：确定性效应超过阈值后，剂量越大，损伤越严重。</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下列属于随机性效应的是：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皮肤红斑</a:t>
            </a:r>
          </a:p>
          <a:p>
            <a:pPr algn="l"/>
            <a:r>
              <a:rPr sz="1500" b="0">
                <a:solidFill>
                  <a:srgbClr val="222B33"/>
                </a:solidFill>
                <a:latin typeface="Microsoft YaHei"/>
              </a:rPr>
              <a:t>B. 白内障</a:t>
            </a:r>
          </a:p>
          <a:p>
            <a:pPr algn="l"/>
            <a:r>
              <a:rPr sz="1500" b="0">
                <a:solidFill>
                  <a:srgbClr val="222B33"/>
                </a:solidFill>
                <a:latin typeface="Microsoft YaHei"/>
              </a:rPr>
              <a:t>C. 辐射诱发的白血病</a:t>
            </a:r>
          </a:p>
          <a:p>
            <a:pPr algn="l"/>
            <a:r>
              <a:rPr sz="1500" b="0">
                <a:solidFill>
                  <a:srgbClr val="222B33"/>
                </a:solidFill>
                <a:latin typeface="Microsoft YaHei"/>
              </a:rPr>
              <a:t>D. 急性放射病</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下列组织中，对辐射最敏感的是：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骨髓造血细胞</a:t>
            </a:r>
          </a:p>
          <a:p>
            <a:pPr algn="l"/>
            <a:r>
              <a:rPr sz="1500" b="0">
                <a:solidFill>
                  <a:srgbClr val="222B33"/>
                </a:solidFill>
                <a:latin typeface="Microsoft YaHei"/>
              </a:rPr>
              <a:t>B. 神经组织</a:t>
            </a:r>
          </a:p>
          <a:p>
            <a:pPr algn="l"/>
            <a:r>
              <a:rPr sz="1500" b="0">
                <a:solidFill>
                  <a:srgbClr val="222B33"/>
                </a:solidFill>
                <a:latin typeface="Microsoft YaHei"/>
              </a:rPr>
              <a:t>C. 肌肉</a:t>
            </a:r>
          </a:p>
          <a:p>
            <a:pPr algn="l"/>
            <a:r>
              <a:rPr sz="1500" b="0">
                <a:solidFill>
                  <a:srgbClr val="222B33"/>
                </a:solidFill>
                <a:latin typeface="Microsoft YaHei"/>
              </a:rPr>
              <a:t>D. 成人骨骼</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088 · 辐射的生物效应</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088 辐射的生物效应</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判断：辐射防护采用线性无阈假设，所以只要剂量低于限值，就不需要再降低。</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简答：地下实验室为什么要关注氡？怎样降低？</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电离辐射打断分子化学键</a:t>
            </a:r>
          </a:p>
          <a:p>
            <a:pPr>
              <a:spcAft>
                <a:spcPts val="800"/>
              </a:spcAft>
            </a:pPr>
            <a:r>
              <a:rPr sz="1500">
                <a:solidFill>
                  <a:srgbClr val="FFFFFF"/>
                </a:solidFill>
                <a:latin typeface="Microsoft YaHei"/>
              </a:rPr>
              <a:t>▪ K2  直接作用与间接作用</a:t>
            </a:r>
          </a:p>
          <a:p>
            <a:pPr>
              <a:spcAft>
                <a:spcPts val="800"/>
              </a:spcAft>
            </a:pPr>
            <a:r>
              <a:rPr sz="1500">
                <a:solidFill>
                  <a:srgbClr val="FFFFFF"/>
                </a:solidFill>
                <a:latin typeface="Microsoft YaHei"/>
              </a:rPr>
              <a:t>▪ K3  DNA损伤：双链断裂最难修</a:t>
            </a:r>
          </a:p>
          <a:p>
            <a:pPr>
              <a:spcAft>
                <a:spcPts val="800"/>
              </a:spcAft>
            </a:pPr>
            <a:r>
              <a:rPr sz="1500">
                <a:solidFill>
                  <a:srgbClr val="FFFFFF"/>
                </a:solidFill>
                <a:latin typeface="Microsoft YaHei"/>
              </a:rPr>
              <a:t>▪ K4  修不好的三种结局</a:t>
            </a:r>
          </a:p>
          <a:p>
            <a:pPr>
              <a:spcAft>
                <a:spcPts val="800"/>
              </a:spcAft>
            </a:pPr>
            <a:r>
              <a:rPr sz="1500">
                <a:solidFill>
                  <a:srgbClr val="FFFFFF"/>
                </a:solidFill>
                <a:latin typeface="Microsoft YaHei"/>
              </a:rPr>
              <a:t>▪ K5  细胞存活曲线：一次击中与两次叠加</a:t>
            </a:r>
          </a:p>
          <a:p>
            <a:pPr>
              <a:spcAft>
                <a:spcPts val="800"/>
              </a:spcAft>
            </a:pPr>
            <a:r>
              <a:rPr sz="1500">
                <a:solidFill>
                  <a:srgbClr val="FFFFFF"/>
                </a:solidFill>
                <a:latin typeface="Microsoft YaHei"/>
              </a:rPr>
              <a:t>▪ K6  影响敏感性的因素：氧效应等</a:t>
            </a:r>
          </a:p>
          <a:p>
            <a:pPr>
              <a:spcAft>
                <a:spcPts val="800"/>
              </a:spcAft>
            </a:pPr>
            <a:r>
              <a:rPr sz="1500">
                <a:solidFill>
                  <a:srgbClr val="FFFFFF"/>
                </a:solidFill>
                <a:latin typeface="Microsoft YaHei"/>
              </a:rPr>
              <a:t>▪ K7  分裂越快，越怕辐射</a:t>
            </a:r>
          </a:p>
          <a:p>
            <a:pPr>
              <a:spcAft>
                <a:spcPts val="800"/>
              </a:spcAft>
            </a:pPr>
            <a:r>
              <a:rPr sz="1500">
                <a:solidFill>
                  <a:srgbClr val="FFFFFF"/>
                </a:solidFill>
                <a:latin typeface="Microsoft YaHei"/>
              </a:rPr>
              <a:t>▪ K8  两类效应：确定性与随机性</a:t>
            </a:r>
          </a:p>
          <a:p>
            <a:pPr>
              <a:spcAft>
                <a:spcPts val="800"/>
              </a:spcAft>
            </a:pPr>
            <a:r>
              <a:rPr sz="1500">
                <a:solidFill>
                  <a:srgbClr val="FFFFFF"/>
                </a:solidFill>
                <a:latin typeface="Microsoft YaHei"/>
              </a:rPr>
              <a:t>▪ K9  确定性效应：过阈值才出现</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K10  器官各有门槛：晶状体、皮肤、性腺</a:t>
            </a:r>
          </a:p>
          <a:p>
            <a:pPr>
              <a:spcAft>
                <a:spcPts val="800"/>
              </a:spcAft>
            </a:pPr>
            <a:r>
              <a:rPr sz="1500">
                <a:solidFill>
                  <a:srgbClr val="FFFFFF"/>
                </a:solidFill>
                <a:latin typeface="Microsoft YaHei"/>
              </a:rPr>
              <a:t>▪ K11  急性放射病</a:t>
            </a:r>
          </a:p>
          <a:p>
            <a:pPr>
              <a:spcAft>
                <a:spcPts val="800"/>
              </a:spcAft>
            </a:pPr>
            <a:r>
              <a:rPr sz="1500">
                <a:solidFill>
                  <a:srgbClr val="FFFFFF"/>
                </a:solidFill>
                <a:latin typeface="Microsoft YaHei"/>
              </a:rPr>
              <a:t>▪ K12  随机性效应：看概率，潜伏期长</a:t>
            </a:r>
          </a:p>
          <a:p>
            <a:pPr>
              <a:spcAft>
                <a:spcPts val="800"/>
              </a:spcAft>
            </a:pPr>
            <a:r>
              <a:rPr sz="1500">
                <a:solidFill>
                  <a:srgbClr val="FFFFFF"/>
                </a:solidFill>
                <a:latin typeface="Microsoft YaHei"/>
              </a:rPr>
              <a:t>▪ K13  线性无阈：防护上的谨慎假设</a:t>
            </a:r>
          </a:p>
          <a:p>
            <a:pPr>
              <a:spcAft>
                <a:spcPts val="800"/>
              </a:spcAft>
            </a:pPr>
            <a:r>
              <a:rPr sz="1500">
                <a:solidFill>
                  <a:srgbClr val="FFFFFF"/>
                </a:solidFill>
                <a:latin typeface="Microsoft YaHei"/>
              </a:rPr>
              <a:t>▪ K14  遗传效应与生育</a:t>
            </a:r>
          </a:p>
          <a:p>
            <a:pPr>
              <a:spcAft>
                <a:spcPts val="800"/>
              </a:spcAft>
            </a:pPr>
            <a:r>
              <a:rPr sz="1500">
                <a:solidFill>
                  <a:srgbClr val="FFFFFF"/>
                </a:solidFill>
                <a:latin typeface="Microsoft YaHei"/>
              </a:rPr>
              <a:t>▪ K15  胚胎和胎儿最敏感</a:t>
            </a:r>
          </a:p>
          <a:p>
            <a:pPr>
              <a:spcAft>
                <a:spcPts val="800"/>
              </a:spcAft>
            </a:pPr>
            <a:r>
              <a:rPr sz="1500">
                <a:solidFill>
                  <a:srgbClr val="FFFFFF"/>
                </a:solidFill>
                <a:latin typeface="Microsoft YaHei"/>
              </a:rPr>
              <a:t>▪ K16  氡：天然照射里的头号风险</a:t>
            </a:r>
          </a:p>
          <a:p>
            <a:pPr>
              <a:spcAft>
                <a:spcPts val="800"/>
              </a:spcAft>
            </a:pPr>
            <a:r>
              <a:rPr sz="1500">
                <a:solidFill>
                  <a:srgbClr val="FFFFFF"/>
                </a:solidFill>
                <a:latin typeface="Microsoft YaHei"/>
              </a:rPr>
              <a:t>▪ K17  守规程，风险就很低</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089</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辐射防护原则与剂量限值</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61 镜）　适用对象：使用放射性同位素、密封放射源或射线装置的本科生、研究生和教职工（辐射类必修），以及负责辐射工作场所管理的实验室负责人</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能说出辐射防护的目的（防止确定性效应、限制随机性效应）和三原则：实践的正当性、防护与安全的最优化（合理可行尽量低）、个人剂量限值。</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 GB 18871-2002 对职业人员、16–18 岁学生和公众规定的年剂量限值，知道限值管的是本底和医疗之外的剂量、局部受照要单独核对。</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能判断“低于限值”为什么还要尽量降低，能做到怀孕或备孕时及时告知、配合调整工作。</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能区分控制区与监督区，做到未经培训授权不进入控制区。</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18871-2002（以现行文本为准）《电离辐射防护与辐射源安全基本标准》：防护三原则、剂量限值、剂量约束、女性工作人员孕期防护、控制区与监督区</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《放射性同位素与射线装置安全和防护管理办法》（以现行文本为准）：辐射工作场所安全和防护、个人剂量监测</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《放射工作人员职业健康管理办法》（以现行文本为准）</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128（以现行文本为准）《职业性外照射个人监测规范》</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本校辐射安全管理规定（以本校规定为准）</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防护为了什么：防止确定性，限制随机性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早年超照射事故多，才有了防护规则</a:t>
            </a:r>
          </a:p>
          <a:p>
            <a:pPr>
              <a:spcAft>
                <a:spcPts val="1000"/>
              </a:spcAft>
            </a:pPr>
            <a:r>
              <a:rPr sz="2000">
                <a:solidFill>
                  <a:srgbClr val="222B33"/>
                </a:solidFill>
                <a:latin typeface="Microsoft YaHei"/>
              </a:rPr>
              <a:t>▪ 目的：杜绝确定性效应，限制随机性效应</a:t>
            </a:r>
          </a:p>
          <a:p>
            <a:pPr>
              <a:spcAft>
                <a:spcPts val="1000"/>
              </a:spcAft>
            </a:pPr>
            <a:r>
              <a:rPr sz="2000">
                <a:solidFill>
                  <a:srgbClr val="222B33"/>
                </a:solidFill>
                <a:latin typeface="Microsoft YaHei"/>
              </a:rPr>
              <a:t>▪ 剂量远低于阈值，确定性效应就不会发生</a:t>
            </a:r>
          </a:p>
          <a:p>
            <a:pPr>
              <a:spcAft>
                <a:spcPts val="1000"/>
              </a:spcAft>
            </a:pPr>
            <a:r>
              <a:rPr sz="2000">
                <a:solidFill>
                  <a:srgbClr val="222B33"/>
                </a:solidFill>
                <a:latin typeface="Microsoft YaHei"/>
              </a:rPr>
              <a:t>▪ 剂量限值主要管住随机性风险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X 射线和放射性被发现后的早年，放射诊断和科研中发生过很多超剂量照射事故，人们由此建立了国际上的辐射防护组织和防护建议，各国据此制定本国标准。我国的基本标准是 GB 18871-2002（以现行文本为准）《电离辐射防……</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以为只要不出现皮肤发红等症状，就说明防护没问题</a:t>
            </a:r>
          </a:p>
          <a:p>
            <a:pPr>
              <a:spcAft>
                <a:spcPts val="1000"/>
              </a:spcAft>
            </a:pPr>
            <a:r>
              <a:rPr sz="1500">
                <a:solidFill>
                  <a:srgbClr val="222B33"/>
                </a:solidFill>
                <a:latin typeface="Microsoft YaHei"/>
              </a:rPr>
              <a:t>▪ 以为剂量限值就是确定性效应的阈值</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三种照射情况</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照射情况分三种</a:t>
            </a:r>
          </a:p>
          <a:p>
            <a:pPr>
              <a:spcAft>
                <a:spcPts val="1000"/>
              </a:spcAft>
            </a:pPr>
            <a:r>
              <a:rPr sz="2000">
                <a:solidFill>
                  <a:srgbClr val="222B33"/>
                </a:solidFill>
                <a:latin typeface="Microsoft YaHei"/>
              </a:rPr>
              <a:t>▪ 按计划用源开展工作，是计划照射</a:t>
            </a:r>
          </a:p>
          <a:p>
            <a:pPr>
              <a:spcAft>
                <a:spcPts val="1000"/>
              </a:spcAft>
            </a:pPr>
            <a:r>
              <a:rPr sz="2000">
                <a:solidFill>
                  <a:srgbClr val="222B33"/>
                </a:solidFill>
                <a:latin typeface="Microsoft YaHei"/>
              </a:rPr>
              <a:t>▪ 事故等意外需要马上处置，是应急照射</a:t>
            </a:r>
          </a:p>
          <a:p>
            <a:pPr>
              <a:spcAft>
                <a:spcPts val="1000"/>
              </a:spcAft>
            </a:pPr>
            <a:r>
              <a:rPr sz="2000">
                <a:solidFill>
                  <a:srgbClr val="222B33"/>
                </a:solidFill>
                <a:latin typeface="Microsoft YaHei"/>
              </a:rPr>
              <a:t>▪ 决定管控前已经存在的（如氡），是现存照射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国际上新的防护体系按照射发生的情况分为三类：计划照射（按计划引入和使用放射源、射线装置开展工作，事先就能设计防护）；应急照射（事故等意外情况，需要马上采取行动）；现存照射（在决定管控之前就已经存在的照射，如天然本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拿公众剂量限值去衡量地下室的氡或事故现场的照射</a:t>
            </a:r>
          </a:p>
          <a:p>
            <a:pPr>
              <a:spcAft>
                <a:spcPts val="1000"/>
              </a:spcAft>
            </a:pPr>
            <a:r>
              <a:rPr sz="1500">
                <a:solidFill>
                  <a:srgbClr val="222B33"/>
                </a:solidFill>
                <a:latin typeface="Microsoft YaHei"/>
              </a:rPr>
              <a:t>▪ 以为事故中的照射也必须控制在日常限值以内才能施救（应急照射按应急预案和参考水平管理）</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辐射防护三原则</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辐射防护有三条原则</a:t>
            </a:r>
          </a:p>
          <a:p>
            <a:pPr>
              <a:spcAft>
                <a:spcPts val="1000"/>
              </a:spcAft>
            </a:pPr>
            <a:r>
              <a:rPr sz="2000">
                <a:solidFill>
                  <a:srgbClr val="222B33"/>
                </a:solidFill>
                <a:latin typeface="Microsoft YaHei"/>
              </a:rPr>
              <a:t>▪ 先问值不值，叫实践的正当性</a:t>
            </a:r>
          </a:p>
          <a:p>
            <a:pPr>
              <a:spcAft>
                <a:spcPts val="1000"/>
              </a:spcAft>
            </a:pPr>
            <a:r>
              <a:rPr sz="2000">
                <a:solidFill>
                  <a:srgbClr val="222B33"/>
                </a:solidFill>
                <a:latin typeface="Microsoft YaHei"/>
              </a:rPr>
              <a:t>▪ 能低一点再低一点，叫防护与安全的最优化</a:t>
            </a:r>
          </a:p>
          <a:p>
            <a:pPr>
              <a:spcAft>
                <a:spcPts val="1000"/>
              </a:spcAft>
            </a:pPr>
            <a:r>
              <a:rPr sz="2000">
                <a:solidFill>
                  <a:srgbClr val="222B33"/>
                </a:solidFill>
                <a:latin typeface="Microsoft YaHei"/>
              </a:rPr>
              <a:t>▪ 个人剂量不超过限值；限值不管病人诊疗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GB 18871-2002（以现行文本为准）规定了辐射防护三原则：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只记住“剂量限值”一条，忽略正当性和最优化</a:t>
            </a:r>
          </a:p>
          <a:p>
            <a:pPr>
              <a:spcAft>
                <a:spcPts val="1000"/>
              </a:spcAft>
            </a:pPr>
            <a:r>
              <a:rPr sz="1500">
                <a:solidFill>
                  <a:srgbClr val="222B33"/>
                </a:solidFill>
                <a:latin typeface="Microsoft YaHei"/>
              </a:rPr>
              <a:t>▪ 以为病人的检查剂量也要受工作人员限值约束</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正当性：利大于弊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能用非放射性方法达到目的，就不用源</a:t>
            </a:r>
          </a:p>
          <a:p>
            <a:pPr>
              <a:spcAft>
                <a:spcPts val="1000"/>
              </a:spcAft>
            </a:pPr>
            <a:r>
              <a:rPr sz="2000">
                <a:solidFill>
                  <a:srgbClr val="222B33"/>
                </a:solidFill>
                <a:latin typeface="Microsoft YaHei"/>
              </a:rPr>
              <a:t>▪ 医疗检查也有剂量，要有正当理由</a:t>
            </a:r>
          </a:p>
          <a:p>
            <a:pPr>
              <a:spcAft>
                <a:spcPts val="1000"/>
              </a:spcAft>
            </a:pPr>
            <a:r>
              <a:rPr sz="2000">
                <a:solidFill>
                  <a:srgbClr val="222B33"/>
                </a:solidFill>
                <a:latin typeface="Microsoft YaHei"/>
              </a:rPr>
              <a:t>▪ 不盲目要求多做检查，需要时听医生的</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正当性要求先问“值不值”。在实验室，设计实验时要先考虑：能否用荧光、化学发光等非放射性方法达到同样的目的？能否用活度更低的源、更短的照射时间？确有必要使用放射性物质或射线装置时，才申请、审批后开展（许可与审批见第 0……</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为了“数据好看”随意加大活度或增加照射次数</a:t>
            </a:r>
          </a:p>
          <a:p>
            <a:pPr>
              <a:spcAft>
                <a:spcPts val="1000"/>
              </a:spcAft>
            </a:pPr>
            <a:r>
              <a:rPr sz="1500">
                <a:solidFill>
                  <a:srgbClr val="222B33"/>
                </a:solidFill>
                <a:latin typeface="Microsoft YaHei"/>
              </a:rPr>
              <a:t>▪ 因为怕辐射，拒绝医生认为必要的检查</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最优化：合理可行尽量低</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低于限值，还要合理可行尽量低</a:t>
            </a:r>
          </a:p>
          <a:p>
            <a:pPr>
              <a:spcAft>
                <a:spcPts val="1000"/>
              </a:spcAft>
            </a:pPr>
            <a:r>
              <a:rPr sz="2000">
                <a:solidFill>
                  <a:srgbClr val="222B33"/>
                </a:solidFill>
                <a:latin typeface="Microsoft YaHei"/>
              </a:rPr>
              <a:t>▪ 同时考虑经济和社会因素</a:t>
            </a:r>
          </a:p>
          <a:p>
            <a:pPr>
              <a:spcAft>
                <a:spcPts val="1000"/>
              </a:spcAft>
            </a:pPr>
            <a:r>
              <a:rPr sz="2000">
                <a:solidFill>
                  <a:srgbClr val="222B33"/>
                </a:solidFill>
                <a:latin typeface="Microsoft YaHei"/>
              </a:rPr>
              <a:t>▪ 时间、距离、屏蔽，是三把钥匙</a:t>
            </a:r>
          </a:p>
          <a:p>
            <a:pPr>
              <a:spcAft>
                <a:spcPts val="1000"/>
              </a:spcAft>
            </a:pPr>
            <a:r>
              <a:rPr sz="2000">
                <a:solidFill>
                  <a:srgbClr val="222B33"/>
                </a:solidFill>
                <a:latin typeface="Microsoft YaHei"/>
              </a:rPr>
              <a:t>▪ 靠懂行的人、负责的导师和好制度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低于剂量限值，就可以放心了吗？不。最优化原则要求在限值以下继续把剂量降到合理可行尽量低（国际上常称 ALARA）。“合理可行”是指同时考虑经济和社会因素：不是不计代价地追求零剂量，而是在投入和效果之间找到合理的平衡点……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“反正没超限值”，就不再改进操作</a:t>
            </a:r>
          </a:p>
          <a:p>
            <a:pPr>
              <a:spcAft>
                <a:spcPts val="1000"/>
              </a:spcAft>
            </a:pPr>
            <a:r>
              <a:rPr sz="1500">
                <a:solidFill>
                  <a:srgbClr val="222B33"/>
                </a:solidFill>
                <a:latin typeface="Microsoft YaHei"/>
              </a:rPr>
              <a:t>▪ 为追求剂量“绝对为零”而投入不合理的代价，却忽视了更容易做到的措施</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剂量限值管谁、管什么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限值是收益和风险的平衡</a:t>
            </a:r>
          </a:p>
          <a:p>
            <a:pPr>
              <a:spcAft>
                <a:spcPts val="1000"/>
              </a:spcAft>
            </a:pPr>
            <a:r>
              <a:rPr sz="1700">
                <a:solidFill>
                  <a:srgbClr val="222B33"/>
                </a:solidFill>
                <a:latin typeface="Microsoft YaHei"/>
              </a:rPr>
              <a:t>▪ 限值分职业人员和公众两类</a:t>
            </a:r>
          </a:p>
          <a:p>
            <a:pPr>
              <a:spcAft>
                <a:spcPts val="1000"/>
              </a:spcAft>
            </a:pPr>
            <a:r>
              <a:rPr sz="1700">
                <a:solidFill>
                  <a:srgbClr val="222B33"/>
                </a:solidFill>
                <a:latin typeface="Microsoft YaHei"/>
              </a:rPr>
              <a:t>▪ 管的是本底和医疗之外的剂量</a:t>
            </a:r>
          </a:p>
          <a:p>
            <a:pPr>
              <a:spcAft>
                <a:spcPts val="1000"/>
              </a:spcAft>
            </a:pPr>
            <a:r>
              <a:rPr sz="1700">
                <a:solidFill>
                  <a:srgbClr val="222B33"/>
                </a:solidFill>
                <a:latin typeface="Microsoft YaHei"/>
              </a:rPr>
              <a:t>▪ 全身、晶状体、皮肤、手足各有上限</a:t>
            </a:r>
          </a:p>
          <a:p>
            <a:pPr>
              <a:spcAft>
                <a:spcPts val="1000"/>
              </a:spcAft>
            </a:pPr>
            <a:r>
              <a:rPr sz="1700">
                <a:solidFill>
                  <a:srgbClr val="222B33"/>
                </a:solidFill>
                <a:latin typeface="Microsoft YaHei"/>
              </a:rPr>
              <a:t>▪ 国外数值不能直接套用，以国标为准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剂量限值是在收益和风险之间权衡后定出的。国际组织的建议只是建议，各国据此制定自己的标准；随着研究数据更新，限值曾多次下调。国内以 GB 18871-2002（以现行文本为准）和主管部门的规定为准，国外资料中的数值（包……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把本底辐射和体检拍片的剂量也算进职业剂量</a:t>
            </a:r>
          </a:p>
          <a:p>
            <a:pPr>
              <a:spcAft>
                <a:spcPts val="1000"/>
              </a:spcAft>
            </a:pPr>
            <a:r>
              <a:rPr sz="1500">
                <a:solidFill>
                  <a:srgbClr val="222B33"/>
                </a:solidFill>
                <a:latin typeface="Microsoft YaHei"/>
              </a:rPr>
              <a:t>▪ 照搬国外教材或网上的限值数字</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职业照射的剂量限值</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有效剂量：连续 5 年平均每年 20 mSv</a:t>
            </a:r>
          </a:p>
          <a:p>
            <a:pPr>
              <a:spcAft>
                <a:spcPts val="1000"/>
              </a:spcAft>
            </a:pPr>
            <a:r>
              <a:rPr sz="1700">
                <a:solidFill>
                  <a:srgbClr val="222B33"/>
                </a:solidFill>
                <a:latin typeface="Microsoft YaHei"/>
              </a:rPr>
              <a:t>▪ 任何一年有效剂量不超过 50 mSv</a:t>
            </a:r>
          </a:p>
          <a:p>
            <a:pPr>
              <a:spcAft>
                <a:spcPts val="1000"/>
              </a:spcAft>
            </a:pPr>
            <a:r>
              <a:rPr sz="1700">
                <a:solidFill>
                  <a:srgbClr val="222B33"/>
                </a:solidFill>
                <a:latin typeface="Microsoft YaHei"/>
              </a:rPr>
              <a:t>▪ 眼晶状体 150 mSv/年，四肢或皮肤 500 mSv/年</a:t>
            </a:r>
          </a:p>
          <a:p>
            <a:pPr>
              <a:spcAft>
                <a:spcPts val="1000"/>
              </a:spcAft>
            </a:pPr>
            <a:r>
              <a:rPr sz="1700">
                <a:solidFill>
                  <a:srgbClr val="222B33"/>
                </a:solidFill>
                <a:latin typeface="Microsoft YaHei"/>
              </a:rPr>
              <a:t>▪ 国际上晶状体限值已下调，要多护眼</a:t>
            </a:r>
          </a:p>
          <a:p>
            <a:pPr>
              <a:spcAft>
                <a:spcPts val="1000"/>
              </a:spcAft>
            </a:pPr>
            <a:r>
              <a:rPr sz="1700">
                <a:solidFill>
                  <a:srgbClr val="222B33"/>
                </a:solidFill>
                <a:latin typeface="Microsoft YaHei"/>
              </a:rPr>
              <a:t>▪ 数值以 GB 18871 现行文本为准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GB 18871-2002（以现行文本为准）规定的职业照射剂量限值：由审管部门决定的连续 5 年的年平均有效剂量不超过 20 mSv，且任何一年的有效剂量不超过 50 mSv；眼晶状体的年当量剂量不超过 150 mS……</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把“任何一年 50 mSv”理解为每年都可以照到 50 mSv</a:t>
            </a:r>
          </a:p>
          <a:p>
            <a:pPr>
              <a:spcAft>
                <a:spcPts val="1000"/>
              </a:spcAft>
            </a:pPr>
            <a:r>
              <a:rPr sz="1500">
                <a:solidFill>
                  <a:srgbClr val="222B33"/>
                </a:solidFill>
                <a:latin typeface="Microsoft YaHei"/>
              </a:rPr>
              <a:t>▪ 只盯全身剂量，忽视晶状体和手部</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学生与公众的剂量限值</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用源做实验的研究生，属于职业人员</a:t>
            </a:r>
          </a:p>
          <a:p>
            <a:pPr>
              <a:spcAft>
                <a:spcPts val="1000"/>
              </a:spcAft>
            </a:pPr>
            <a:r>
              <a:rPr sz="2000">
                <a:solidFill>
                  <a:srgbClr val="222B33"/>
                </a:solidFill>
                <a:latin typeface="Microsoft YaHei"/>
              </a:rPr>
              <a:t>▪ 16–18 岁学生用源：有效剂量 6 mSv/年</a:t>
            </a:r>
          </a:p>
          <a:p>
            <a:pPr>
              <a:spcAft>
                <a:spcPts val="1000"/>
              </a:spcAft>
            </a:pPr>
            <a:r>
              <a:rPr sz="2000">
                <a:solidFill>
                  <a:srgbClr val="222B33"/>
                </a:solidFill>
                <a:latin typeface="Microsoft YaHei"/>
              </a:rPr>
              <a:t>▪ 公众最严：有效剂量 1 mSv/年</a:t>
            </a:r>
          </a:p>
          <a:p>
            <a:pPr>
              <a:spcAft>
                <a:spcPts val="1000"/>
              </a:spcAft>
            </a:pPr>
            <a:r>
              <a:rPr sz="2000">
                <a:solidFill>
                  <a:srgbClr val="222B33"/>
                </a:solidFill>
                <a:latin typeface="Microsoft YaHei"/>
              </a:rPr>
              <a:t>▪ 未满 16 岁，不得接受职业照射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用放射源、射线装置做实验的研究生和科研人员，属于辐射工作人员（职业人员），要经过培训、懂规则、佩戴个人剂量计；公众不了解辐射工作，也没有监测，所以适用低得多的限值。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以为学生只是“来学习的”，不需要培训和剂量监测</a:t>
            </a:r>
          </a:p>
          <a:p>
            <a:pPr>
              <a:spcAft>
                <a:spcPts val="1000"/>
              </a:spcAft>
            </a:pPr>
            <a:r>
              <a:rPr sz="1500">
                <a:solidFill>
                  <a:srgbClr val="222B33"/>
                </a:solidFill>
                <a:latin typeface="Microsoft YaHei"/>
              </a:rPr>
              <a:t>▪ 让未成年人或无关人员进入辐射工作场所参观、帮忙</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限值是底线，不是额度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限值是底线，不是可以用完的额度</a:t>
            </a:r>
          </a:p>
          <a:p>
            <a:pPr>
              <a:spcAft>
                <a:spcPts val="1000"/>
              </a:spcAft>
            </a:pPr>
            <a:r>
              <a:rPr sz="2000">
                <a:solidFill>
                  <a:srgbClr val="222B33"/>
                </a:solidFill>
                <a:latin typeface="Microsoft YaHei"/>
              </a:rPr>
              <a:t>▪ 没有“安全剂量”，只有不得超过的限值</a:t>
            </a:r>
          </a:p>
          <a:p>
            <a:pPr>
              <a:spcAft>
                <a:spcPts val="1000"/>
              </a:spcAft>
            </a:pPr>
            <a:r>
              <a:rPr sz="2000">
                <a:solidFill>
                  <a:srgbClr val="222B33"/>
                </a:solidFill>
                <a:latin typeface="Microsoft YaHei"/>
              </a:rPr>
              <a:t>▪ 实际受照通常远低于限值</a:t>
            </a:r>
          </a:p>
          <a:p>
            <a:pPr>
              <a:spcAft>
                <a:spcPts val="1000"/>
              </a:spcAft>
            </a:pPr>
            <a:r>
              <a:rPr sz="2000">
                <a:solidFill>
                  <a:srgbClr val="222B33"/>
                </a:solidFill>
                <a:latin typeface="Microsoft YaHei"/>
              </a:rPr>
              <a:t>▪ 限值以内，还要尽量再低</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剂量限值不是“安全线”，更不是每年可以用完的额度：它是不可接受与可以容忍之间的界线，接近限值本身就说明防护有问题。一年受多少照射才“安全”？没有绝对安全的剂量（线性无阈假设，见第 088 课），只有不得超过的限值；限……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认为“还没到限值，可以多照一点”</a:t>
            </a:r>
          </a:p>
          <a:p>
            <a:pPr>
              <a:spcAft>
                <a:spcPts val="1000"/>
              </a:spcAft>
            </a:pPr>
            <a:r>
              <a:rPr sz="1500">
                <a:solidFill>
                  <a:srgbClr val="222B33"/>
                </a:solidFill>
                <a:latin typeface="Microsoft YaHei"/>
              </a:rPr>
              <a:t>▪ 把单次超出平时水平的读数当作“没超限就不用管”</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局部受照单独核对，超限要报告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全身没超，局部却可能超了</a:t>
            </a:r>
          </a:p>
          <a:p>
            <a:pPr>
              <a:spcAft>
                <a:spcPts val="1000"/>
              </a:spcAft>
            </a:pPr>
            <a:r>
              <a:rPr sz="2000">
                <a:solidFill>
                  <a:srgbClr val="222B33"/>
                </a:solidFill>
                <a:latin typeface="Microsoft YaHei"/>
              </a:rPr>
              <a:t>▪ 手和皮肤，要单独核对局部限值</a:t>
            </a:r>
          </a:p>
          <a:p>
            <a:pPr>
              <a:spcAft>
                <a:spcPts val="1000"/>
              </a:spcAft>
            </a:pPr>
            <a:r>
              <a:rPr sz="2000">
                <a:solidFill>
                  <a:srgbClr val="222B33"/>
                </a:solidFill>
                <a:latin typeface="Microsoft YaHei"/>
              </a:rPr>
              <a:t>▪ 超了要报告，查明原因</a:t>
            </a:r>
          </a:p>
          <a:p>
            <a:pPr>
              <a:spcAft>
                <a:spcPts val="1000"/>
              </a:spcAft>
            </a:pPr>
            <a:r>
              <a:rPr sz="2000">
                <a:solidFill>
                  <a:srgbClr val="222B33"/>
                </a:solidFill>
                <a:latin typeface="Microsoft YaHei"/>
              </a:rPr>
              <a:t>▪ 用源前，先弄清是什么源和射线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有效剂量反映全身风险；手持样品、靠近源操作时，手部和皮肤的当量剂量可能比全身高得多。所以全身的数字没超，局部却可能超了，手和皮肤要按四肢或皮肤的限值单独核对（必要时佩戴指环剂量计）。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只看全身剂量计读数，不管手部剂量</a:t>
            </a:r>
          </a:p>
          <a:p>
            <a:pPr>
              <a:spcAft>
                <a:spcPts val="1000"/>
              </a:spcAft>
            </a:pPr>
            <a:r>
              <a:rPr sz="1500">
                <a:solidFill>
                  <a:srgbClr val="222B33"/>
                </a:solidFill>
                <a:latin typeface="Microsoft YaHei"/>
              </a:rPr>
              <a:t>▪ 剂量异常不报告，自己“下次注意”</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剂量约束与参考水平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防护有三道线：限值、约束、参考水平</a:t>
            </a:r>
          </a:p>
          <a:p>
            <a:pPr>
              <a:spcAft>
                <a:spcPts val="1000"/>
              </a:spcAft>
            </a:pPr>
            <a:r>
              <a:rPr sz="2000">
                <a:solidFill>
                  <a:srgbClr val="222B33"/>
                </a:solidFill>
                <a:latin typeface="Microsoft YaHei"/>
              </a:rPr>
              <a:t>▪ 剂量限值：正常工作的硬上限</a:t>
            </a:r>
          </a:p>
          <a:p>
            <a:pPr>
              <a:spcAft>
                <a:spcPts val="1000"/>
              </a:spcAft>
            </a:pPr>
            <a:r>
              <a:rPr sz="2000">
                <a:solidFill>
                  <a:srgbClr val="222B33"/>
                </a:solidFill>
                <a:latin typeface="Microsoft YaHei"/>
              </a:rPr>
              <a:t>▪ 剂量约束：针对某个源，定得更低</a:t>
            </a:r>
          </a:p>
          <a:p>
            <a:pPr>
              <a:spcAft>
                <a:spcPts val="1000"/>
              </a:spcAft>
            </a:pPr>
            <a:r>
              <a:rPr sz="2000">
                <a:solidFill>
                  <a:srgbClr val="222B33"/>
                </a:solidFill>
                <a:latin typeface="Microsoft YaHei"/>
              </a:rPr>
              <a:t>▪ 参考水平：应急时超过就要行动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剂量限值是计划照射中个人受照的硬上限，针对所有相关实践的总剂量。剂量约束是针对某一个源或某一项工作，在最优化时事先设定的、比限值更低的个人剂量上界，用来保证一个人即使同时从事几项工作，总剂量也不会超过限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把剂量约束当作可以达到的目标值</a:t>
            </a:r>
          </a:p>
          <a:p>
            <a:pPr>
              <a:spcAft>
                <a:spcPts val="1000"/>
              </a:spcAft>
            </a:pPr>
            <a:r>
              <a:rPr sz="1500">
                <a:solidFill>
                  <a:srgbClr val="222B33"/>
                </a:solidFill>
                <a:latin typeface="Microsoft YaHei"/>
              </a:rPr>
              <a:t>▪ 以为应急情况下没有任何剂量控制要求</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怀孕：及时告知，调整工作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胎儿最敏感，孕期防护更严</a:t>
            </a:r>
          </a:p>
          <a:p>
            <a:pPr>
              <a:spcAft>
                <a:spcPts val="1000"/>
              </a:spcAft>
            </a:pPr>
            <a:r>
              <a:rPr sz="1700">
                <a:solidFill>
                  <a:srgbClr val="222B33"/>
                </a:solidFill>
                <a:latin typeface="Microsoft YaHei"/>
              </a:rPr>
              <a:t>▪ 怀孕或备孕，尽早告知导师和学院</a:t>
            </a:r>
          </a:p>
          <a:p>
            <a:pPr>
              <a:spcAft>
                <a:spcPts val="1000"/>
              </a:spcAft>
            </a:pPr>
            <a:r>
              <a:rPr sz="1700">
                <a:solidFill>
                  <a:srgbClr val="222B33"/>
                </a:solidFill>
                <a:latin typeface="Microsoft YaHei"/>
              </a:rPr>
              <a:t>▪ 胚胎要得到和公众相同的防护水平</a:t>
            </a:r>
          </a:p>
          <a:p>
            <a:pPr>
              <a:spcAft>
                <a:spcPts val="1000"/>
              </a:spcAft>
            </a:pPr>
            <a:r>
              <a:rPr sz="1700">
                <a:solidFill>
                  <a:srgbClr val="222B33"/>
                </a:solidFill>
                <a:latin typeface="Microsoft YaHei"/>
              </a:rPr>
              <a:t>▪ 先调岗离开，加固屏蔽随后跟上</a:t>
            </a:r>
          </a:p>
          <a:p>
            <a:pPr>
              <a:spcAft>
                <a:spcPts val="1000"/>
              </a:spcAft>
            </a:pPr>
            <a:r>
              <a:rPr sz="1700">
                <a:solidFill>
                  <a:srgbClr val="222B33"/>
                </a:solidFill>
                <a:latin typeface="Microsoft YaHei"/>
              </a:rPr>
              <a:t>▪ 做 X 射线检查前，先告诉医生</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胚胎和胎儿对辐射特别敏感，孕早期尤甚（见第 088 课）。女性辐射工作人员（含学生）知道或怀疑自己怀孕，应尽早告知导师和学院辐射安全管理人员，必要时就医确认；学校对个人信息保密。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担心影响学业而隐瞒怀孕，继续操作放射源</a:t>
            </a:r>
          </a:p>
          <a:p>
            <a:pPr>
              <a:spcAft>
                <a:spcPts val="1000"/>
              </a:spcAft>
            </a:pPr>
            <a:r>
              <a:rPr sz="1500">
                <a:solidFill>
                  <a:srgbClr val="222B33"/>
                </a:solidFill>
                <a:latin typeface="Microsoft YaHei"/>
              </a:rPr>
              <a:t>▪ 套用国外教材里的孕期剂量数值</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照射评估与偏高整改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每项辐射工作，开展前先评估</a:t>
            </a:r>
          </a:p>
          <a:p>
            <a:pPr>
              <a:spcAft>
                <a:spcPts val="1000"/>
              </a:spcAft>
            </a:pPr>
            <a:r>
              <a:rPr sz="2000">
                <a:solidFill>
                  <a:srgbClr val="222B33"/>
                </a:solidFill>
                <a:latin typeface="Microsoft YaHei"/>
              </a:rPr>
              <a:t>▪ 之后定期复核，看措施是否到位</a:t>
            </a:r>
          </a:p>
          <a:p>
            <a:pPr>
              <a:spcAft>
                <a:spcPts val="1000"/>
              </a:spcAft>
            </a:pPr>
            <a:r>
              <a:rPr sz="2000">
                <a:solidFill>
                  <a:srgbClr val="222B33"/>
                </a:solidFill>
                <a:latin typeface="Microsoft YaHei"/>
              </a:rPr>
              <a:t>▪ 外照射靠剂量计，内照射靠模型和监测</a:t>
            </a:r>
          </a:p>
          <a:p>
            <a:pPr>
              <a:spcAft>
                <a:spcPts val="1000"/>
              </a:spcAft>
            </a:pPr>
            <a:r>
              <a:rPr sz="2000">
                <a:solidFill>
                  <a:srgbClr val="222B33"/>
                </a:solidFill>
                <a:latin typeface="Microsoft YaHei"/>
              </a:rPr>
              <a:t>▪ 偏高就从设备、防护、管理排班三方面改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每一项辐射工作在开展前都要做照射评估：估算工作人员和周围公众可能受到的剂量，确定防护措施和分区；工作开始后定期复核，结合个人剂量监测和场所监测结果，看防护措施是否到位（风险评估方法见第 014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先开工、后评估</a:t>
            </a:r>
          </a:p>
          <a:p>
            <a:pPr>
              <a:spcAft>
                <a:spcPts val="1000"/>
              </a:spcAft>
            </a:pPr>
            <a:r>
              <a:rPr sz="1500">
                <a:solidFill>
                  <a:srgbClr val="222B33"/>
                </a:solidFill>
                <a:latin typeface="Microsoft YaHei"/>
              </a:rPr>
              <a:t>▪ 剂量偏高只靠“让本人注意点”，不改设备和管理</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控制区与监督区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控制区：要专门防护，严格控制进出</a:t>
            </a:r>
          </a:p>
          <a:p>
            <a:pPr>
              <a:spcAft>
                <a:spcPts val="1000"/>
              </a:spcAft>
            </a:pPr>
            <a:r>
              <a:rPr sz="2000">
                <a:solidFill>
                  <a:srgbClr val="222B33"/>
                </a:solidFill>
                <a:latin typeface="Microsoft YaHei"/>
              </a:rPr>
              <a:t>▪ 外圈是监督区，要定期监测评价</a:t>
            </a:r>
          </a:p>
          <a:p>
            <a:pPr>
              <a:spcAft>
                <a:spcPts val="1000"/>
              </a:spcAft>
            </a:pPr>
            <a:r>
              <a:rPr sz="2000">
                <a:solidFill>
                  <a:srgbClr val="222B33"/>
                </a:solidFill>
                <a:latin typeface="Microsoft YaHei"/>
              </a:rPr>
              <a:t>▪ 分区边界设置醒目的标识</a:t>
            </a:r>
          </a:p>
          <a:p>
            <a:pPr>
              <a:spcAft>
                <a:spcPts val="1000"/>
              </a:spcAft>
            </a:pPr>
            <a:r>
              <a:rPr sz="2000">
                <a:solidFill>
                  <a:srgbClr val="222B33"/>
                </a:solidFill>
                <a:latin typeface="Microsoft YaHei"/>
              </a:rPr>
              <a:t>▪ 未经培训授权，不得进入控制区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GB 18871-2002（以现行文本为准）要求把辐射工作场所分为控制区和监督区。控制区是需要和可能需要专门防护手段或安全措施的区域，用来控制正常工作时的照射、防止污染扩散，并预防或限制潜在照射；控制区边界要有醒目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图方便把控制区门撑开、关掉门禁</a:t>
            </a:r>
          </a:p>
          <a:p>
            <a:pPr>
              <a:spcAft>
                <a:spcPts val="1000"/>
              </a:spcAft>
            </a:pPr>
            <a:r>
              <a:rPr sz="1500">
                <a:solidFill>
                  <a:srgbClr val="222B33"/>
                </a:solidFill>
                <a:latin typeface="Microsoft YaHei"/>
              </a:rPr>
              <a:t>▪ 外来维修人员没有登记、陪同就进入控制区</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辐射防护三原则是：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时间、距离、屏蔽</a:t>
            </a:r>
          </a:p>
          <a:p>
            <a:pPr algn="l"/>
            <a:r>
              <a:rPr sz="1500" b="0">
                <a:solidFill>
                  <a:srgbClr val="222B33"/>
                </a:solidFill>
                <a:latin typeface="Microsoft YaHei"/>
              </a:rPr>
              <a:t>B. 实践的正当性、防护与安全的最优化、个人剂量限值</a:t>
            </a:r>
          </a:p>
          <a:p>
            <a:pPr algn="l"/>
            <a:r>
              <a:rPr sz="1500" b="0">
                <a:solidFill>
                  <a:srgbClr val="222B33"/>
                </a:solidFill>
                <a:latin typeface="Microsoft YaHei"/>
              </a:rPr>
              <a:t>C. 申报、许可、验收</a:t>
            </a:r>
          </a:p>
          <a:p>
            <a:pPr algn="l"/>
            <a:r>
              <a:rPr sz="1500" b="0">
                <a:solidFill>
                  <a:srgbClr val="222B33"/>
                </a:solidFill>
                <a:latin typeface="Microsoft YaHei"/>
              </a:rPr>
              <a:t>D. 监测、记录、报告</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判断：个人年剂量只要低于剂量限值，就不需要再采取措施降低。</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按 GB 18871-2002（以现行文本为准），职业人员的有效剂量限值是：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每年 1 mSv</a:t>
            </a:r>
          </a:p>
          <a:p>
            <a:pPr algn="l"/>
            <a:r>
              <a:rPr sz="1500" b="0">
                <a:solidFill>
                  <a:srgbClr val="222B33"/>
                </a:solidFill>
                <a:latin typeface="Microsoft YaHei"/>
              </a:rPr>
              <a:t>B. 连续 5 年平均每年 20 mSv，且任何一年不超过 50 mSv</a:t>
            </a:r>
          </a:p>
          <a:p>
            <a:pPr algn="l"/>
            <a:r>
              <a:rPr sz="1500" b="0">
                <a:solidFill>
                  <a:srgbClr val="222B33"/>
                </a:solidFill>
                <a:latin typeface="Microsoft YaHei"/>
              </a:rPr>
              <a:t>C. 每年 50 mSv</a:t>
            </a:r>
          </a:p>
          <a:p>
            <a:pPr algn="l"/>
            <a:r>
              <a:rPr sz="1500" b="0">
                <a:solidFill>
                  <a:srgbClr val="222B33"/>
                </a:solidFill>
                <a:latin typeface="Microsoft YaHei"/>
              </a:rPr>
              <a:t>D. 每年 150 mSv</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一名用源做实验的女研究生得知自己怀孕，正确的做法是：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不告诉任何人，继续操作</a:t>
            </a:r>
          </a:p>
          <a:p>
            <a:pPr algn="l"/>
            <a:r>
              <a:rPr sz="1500" b="0">
                <a:solidFill>
                  <a:srgbClr val="222B33"/>
                </a:solidFill>
                <a:latin typeface="Microsoft YaHei"/>
              </a:rPr>
              <a:t>B. 立即退学</a:t>
            </a:r>
          </a:p>
          <a:p>
            <a:pPr algn="l"/>
            <a:r>
              <a:rPr sz="1500" b="0">
                <a:solidFill>
                  <a:srgbClr val="222B33"/>
                </a:solidFill>
                <a:latin typeface="Microsoft YaHei"/>
              </a:rPr>
              <a:t>C. 尽早告知导师和学院，由学校评估、调整工作，使胎儿得到与公众相同的防护水平</a:t>
            </a:r>
          </a:p>
          <a:p>
            <a:pPr algn="l"/>
            <a:r>
              <a:rPr sz="1500" b="0">
                <a:solidFill>
                  <a:srgbClr val="222B33"/>
                </a:solidFill>
                <a:latin typeface="Microsoft YaHei"/>
              </a:rPr>
              <a:t>D. 自行按国外教材的孕期限值控制</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089 · 辐射防护原则与剂量限值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089 辐射防护原则与剂量限值</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判断：病人接受 X 射线检查的剂量，也要受公众剂量限值约束。</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简答：控制区和监督区有什么区别？</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防护为了什么：防止确定性，限制随机性</a:t>
            </a:r>
          </a:p>
          <a:p>
            <a:pPr>
              <a:spcAft>
                <a:spcPts val="800"/>
              </a:spcAft>
            </a:pPr>
            <a:r>
              <a:rPr sz="1500">
                <a:solidFill>
                  <a:srgbClr val="FFFFFF"/>
                </a:solidFill>
                <a:latin typeface="Microsoft YaHei"/>
              </a:rPr>
              <a:t>▪ K2  三种照射情况</a:t>
            </a:r>
          </a:p>
          <a:p>
            <a:pPr>
              <a:spcAft>
                <a:spcPts val="800"/>
              </a:spcAft>
            </a:pPr>
            <a:r>
              <a:rPr sz="1500">
                <a:solidFill>
                  <a:srgbClr val="FFFFFF"/>
                </a:solidFill>
                <a:latin typeface="Microsoft YaHei"/>
              </a:rPr>
              <a:t>▪ K3  辐射防护三原则</a:t>
            </a:r>
          </a:p>
          <a:p>
            <a:pPr>
              <a:spcAft>
                <a:spcPts val="800"/>
              </a:spcAft>
            </a:pPr>
            <a:r>
              <a:rPr sz="1500">
                <a:solidFill>
                  <a:srgbClr val="FFFFFF"/>
                </a:solidFill>
                <a:latin typeface="Microsoft YaHei"/>
              </a:rPr>
              <a:t>▪ K4  正当性：利大于弊</a:t>
            </a:r>
          </a:p>
          <a:p>
            <a:pPr>
              <a:spcAft>
                <a:spcPts val="800"/>
              </a:spcAft>
            </a:pPr>
            <a:r>
              <a:rPr sz="1500">
                <a:solidFill>
                  <a:srgbClr val="FFFFFF"/>
                </a:solidFill>
                <a:latin typeface="Microsoft YaHei"/>
              </a:rPr>
              <a:t>▪ K5  最优化：合理可行尽量低</a:t>
            </a:r>
          </a:p>
          <a:p>
            <a:pPr>
              <a:spcAft>
                <a:spcPts val="800"/>
              </a:spcAft>
            </a:pPr>
            <a:r>
              <a:rPr sz="1500">
                <a:solidFill>
                  <a:srgbClr val="FFFFFF"/>
                </a:solidFill>
                <a:latin typeface="Microsoft YaHei"/>
              </a:rPr>
              <a:t>▪ K6  剂量限值管谁、管什么</a:t>
            </a:r>
          </a:p>
          <a:p>
            <a:pPr>
              <a:spcAft>
                <a:spcPts val="800"/>
              </a:spcAft>
            </a:pPr>
            <a:r>
              <a:rPr sz="1500">
                <a:solidFill>
                  <a:srgbClr val="FFFFFF"/>
                </a:solidFill>
                <a:latin typeface="Microsoft YaHei"/>
              </a:rPr>
              <a:t>▪ K7  职业照射的剂量限值</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学生与公众的剂量限值</a:t>
            </a:r>
          </a:p>
          <a:p>
            <a:pPr>
              <a:spcAft>
                <a:spcPts val="800"/>
              </a:spcAft>
            </a:pPr>
            <a:r>
              <a:rPr sz="1500">
                <a:solidFill>
                  <a:srgbClr val="FFFFFF"/>
                </a:solidFill>
                <a:latin typeface="Microsoft YaHei"/>
              </a:rPr>
              <a:t>▪ K9  限值是底线，不是额度</a:t>
            </a:r>
          </a:p>
          <a:p>
            <a:pPr>
              <a:spcAft>
                <a:spcPts val="800"/>
              </a:spcAft>
            </a:pPr>
            <a:r>
              <a:rPr sz="1500">
                <a:solidFill>
                  <a:srgbClr val="FFFFFF"/>
                </a:solidFill>
                <a:latin typeface="Microsoft YaHei"/>
              </a:rPr>
              <a:t>▪ K10  局部受照单独核对，超限要报告</a:t>
            </a:r>
          </a:p>
          <a:p>
            <a:pPr>
              <a:spcAft>
                <a:spcPts val="800"/>
              </a:spcAft>
            </a:pPr>
            <a:r>
              <a:rPr sz="1500">
                <a:solidFill>
                  <a:srgbClr val="FFFFFF"/>
                </a:solidFill>
                <a:latin typeface="Microsoft YaHei"/>
              </a:rPr>
              <a:t>▪ K11  剂量约束与参考水平</a:t>
            </a:r>
          </a:p>
          <a:p>
            <a:pPr>
              <a:spcAft>
                <a:spcPts val="800"/>
              </a:spcAft>
            </a:pPr>
            <a:r>
              <a:rPr sz="1500">
                <a:solidFill>
                  <a:srgbClr val="FFFFFF"/>
                </a:solidFill>
                <a:latin typeface="Microsoft YaHei"/>
              </a:rPr>
              <a:t>▪ K12  怀孕：及时告知，调整工作</a:t>
            </a:r>
          </a:p>
          <a:p>
            <a:pPr>
              <a:spcAft>
                <a:spcPts val="800"/>
              </a:spcAft>
            </a:pPr>
            <a:r>
              <a:rPr sz="1500">
                <a:solidFill>
                  <a:srgbClr val="FFFFFF"/>
                </a:solidFill>
                <a:latin typeface="Microsoft YaHei"/>
              </a:rPr>
              <a:t>▪ K13  照射评估与偏高整改</a:t>
            </a:r>
          </a:p>
          <a:p>
            <a:pPr>
              <a:spcAft>
                <a:spcPts val="800"/>
              </a:spcAft>
            </a:pPr>
            <a:r>
              <a:rPr sz="1500">
                <a:solidFill>
                  <a:srgbClr val="FFFFFF"/>
                </a:solidFill>
                <a:latin typeface="Microsoft YaHei"/>
              </a:rPr>
              <a:t>▪ K14  控制区与监督区</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090</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外照射防护</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73 镜）　适用对象：使用密封放射源、放射性同位素或射线装置的本科生、研究生和教职工（辐射类必修），以及负责辐射工作场所建设、改造的实验室负责人和设施人员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能说出外照射防护的三要素（时间、距离、屏蔽），会用“剂量 = 剂量率 × 时间”和平方反比定律做定性判断，知道时间和距离要一起考虑。</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能做到用长柄工具取放源、先演练后操作、先实测剂量率再定停留时间，用完源立即放回屏蔽容器。</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能按射线种类选择屏蔽材料（β 先轻后重，γ/X 用铅或混凝土，中子用含氢材料），会用半值层、十值层估算所需屏蔽层数。</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能判断屏蔽计算只是估计、要以实测为准，屏蔽设施要经设计、验收，不得擅自拆改；知道铅衣的作用和局限。</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18871-2002（以现行文本为准）《电离辐射防护与辐射源安全基本标准》：防护最优化、工作场所防护与监测</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《放射性同位素与射线装置安全和防护管理办法》（以现行文本为准）：辐射工作场所的防护设施与监测</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《建设项目环境保护管理条例》（以现行文本为准）：新建、改建、扩建辐射工作场所的环境影响评价与竣工验收</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130（以现行文本为准）《放射诊断放射防护要求》：X 射线机房屏蔽与个人防护用品</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HJ 1188-2021《核医学辐射防护与安全要求》：放射性药物操作的屏蔽</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本校辐射安全管理规定（以本校规定为准）</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外照射防护三要素：时间、距离、屏蔽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外照射防护，靠时间、距离、屏蔽</a:t>
            </a:r>
          </a:p>
          <a:p>
            <a:pPr>
              <a:spcAft>
                <a:spcPts val="1000"/>
              </a:spcAft>
            </a:pPr>
            <a:r>
              <a:rPr sz="2000">
                <a:solidFill>
                  <a:srgbClr val="222B33"/>
                </a:solidFill>
                <a:latin typeface="Microsoft YaHei"/>
              </a:rPr>
              <a:t>▪ 时间短、距离远、屏蔽厚，受照就少</a:t>
            </a:r>
          </a:p>
          <a:p>
            <a:pPr>
              <a:spcAft>
                <a:spcPts val="1000"/>
              </a:spcAft>
            </a:pPr>
            <a:r>
              <a:rPr sz="2000">
                <a:solidFill>
                  <a:srgbClr val="222B33"/>
                </a:solidFill>
                <a:latin typeface="Microsoft YaHei"/>
              </a:rPr>
              <a:t>▪ 开放源还要加一招：污染控制</a:t>
            </a:r>
          </a:p>
          <a:p>
            <a:pPr>
              <a:spcAft>
                <a:spcPts val="1000"/>
              </a:spcAft>
            </a:pPr>
            <a:r>
              <a:rPr sz="2000">
                <a:solidFill>
                  <a:srgbClr val="222B33"/>
                </a:solidFill>
                <a:latin typeface="Microsoft YaHei"/>
              </a:rPr>
              <a:t>▪ 放屏蔽前，先弄清是什么源、什么射线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源在体外、射线从外面照到人身上，叫外照射。控制外照射有三件法宝：时间——在源附近待得越短越好；距离——离源越远越好；屏蔽——在源和人之间放合适的吸收材料（墙、铅板、有机玻璃等）。三者都是最优化原则（合理可行尽量低）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只记住“穿铅衣”，忽视时间和距离</a:t>
            </a:r>
          </a:p>
          <a:p>
            <a:pPr>
              <a:spcAft>
                <a:spcPts val="1000"/>
              </a:spcAft>
            </a:pPr>
            <a:r>
              <a:rPr sz="1500">
                <a:solidFill>
                  <a:srgbClr val="222B33"/>
                </a:solidFill>
                <a:latin typeface="Microsoft YaHei"/>
              </a:rPr>
              <a:t>▪ 不了解源的种类就随意找块板子挡</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时间：剂量与时间成正比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剂量等于剂量率乘时间</a:t>
            </a:r>
          </a:p>
          <a:p>
            <a:pPr>
              <a:spcAft>
                <a:spcPts val="1000"/>
              </a:spcAft>
            </a:pPr>
            <a:r>
              <a:rPr sz="2000">
                <a:solidFill>
                  <a:srgbClr val="222B33"/>
                </a:solidFill>
                <a:latin typeface="Microsoft YaHei"/>
              </a:rPr>
              <a:t>▪ 待一小时一份，两小时就是两份</a:t>
            </a:r>
          </a:p>
          <a:p>
            <a:pPr>
              <a:spcAft>
                <a:spcPts val="1000"/>
              </a:spcAft>
            </a:pPr>
            <a:r>
              <a:rPr sz="2000">
                <a:solidFill>
                  <a:srgbClr val="222B33"/>
                </a:solidFill>
                <a:latin typeface="Microsoft YaHei"/>
              </a:rPr>
              <a:t>▪ 单次察觉不到，但剂量会累加</a:t>
            </a:r>
          </a:p>
          <a:p>
            <a:pPr>
              <a:spcAft>
                <a:spcPts val="1000"/>
              </a:spcAft>
            </a:pPr>
            <a:r>
              <a:rPr sz="2000">
                <a:solidFill>
                  <a:srgbClr val="222B33"/>
                </a:solidFill>
                <a:latin typeface="Microsoft YaHei"/>
              </a:rPr>
              <a:t>▪ 做完就走，不在源旁边逗留</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在剂量率不变的地方，受到的剂量与停留时间成正比：剂量 = 剂量率 × 时间（见第 087 课）。待一小时是一份，待两小时就是两份；反过来，知道剂量率和允许的剂量，也能算出最多能待多久。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在源附近边操作边讨论问题</a:t>
            </a:r>
          </a:p>
          <a:p>
            <a:pPr>
              <a:spcAft>
                <a:spcPts val="1000"/>
              </a:spcAft>
            </a:pPr>
            <a:r>
              <a:rPr sz="1500">
                <a:solidFill>
                  <a:srgbClr val="222B33"/>
                </a:solidFill>
                <a:latin typeface="Microsoft YaHei"/>
              </a:rPr>
              <a:t>▪ 把记录本、电脑放在源旁边，长时间站着填写</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缩短时间：先演练，先实测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先不带源，把步骤练熟</a:t>
            </a:r>
          </a:p>
          <a:p>
            <a:pPr>
              <a:spcAft>
                <a:spcPts val="1000"/>
              </a:spcAft>
            </a:pPr>
            <a:r>
              <a:rPr sz="2000">
                <a:solidFill>
                  <a:srgbClr val="222B33"/>
                </a:solidFill>
                <a:latin typeface="Microsoft YaHei"/>
              </a:rPr>
              <a:t>▪ 射线装置先在不出束时演练，避免重拍</a:t>
            </a:r>
          </a:p>
          <a:p>
            <a:pPr>
              <a:spcAft>
                <a:spcPts val="1000"/>
              </a:spcAft>
            </a:pPr>
            <a:r>
              <a:rPr sz="2000">
                <a:solidFill>
                  <a:srgbClr val="222B33"/>
                </a:solidFill>
                <a:latin typeface="Microsoft YaHei"/>
              </a:rPr>
              <a:t>▪ 功率够用就行，管好出束时间</a:t>
            </a:r>
          </a:p>
          <a:p>
            <a:pPr>
              <a:spcAft>
                <a:spcPts val="1000"/>
              </a:spcAft>
            </a:pPr>
            <a:r>
              <a:rPr sz="2000">
                <a:solidFill>
                  <a:srgbClr val="222B33"/>
                </a:solidFill>
                <a:latin typeface="Microsoft YaHei"/>
              </a:rPr>
              <a:t>▪ 先实测剂量率，再定能待多久</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缩短受照时间最有效的办法是提前演练：复杂操作先用空容器、模拟源或在射线装置不出束的状态下练熟每一步，正式操作时动作熟练、一次完成。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拿到源才开始琢磨操作步骤</a:t>
            </a:r>
          </a:p>
          <a:p>
            <a:pPr>
              <a:spcAft>
                <a:spcPts val="1000"/>
              </a:spcAft>
            </a:pPr>
            <a:r>
              <a:rPr sz="1500">
                <a:solidFill>
                  <a:srgbClr val="222B33"/>
                </a:solidFill>
                <a:latin typeface="Microsoft YaHei"/>
              </a:rPr>
              <a:t>▪ 只凭公式估算就安排长时间操作，不实测</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距离：平方反比定律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离火堆越近越烫，辐射也一样</a:t>
            </a:r>
          </a:p>
          <a:p>
            <a:pPr>
              <a:spcAft>
                <a:spcPts val="1000"/>
              </a:spcAft>
            </a:pPr>
            <a:r>
              <a:rPr sz="2000">
                <a:solidFill>
                  <a:srgbClr val="222B33"/>
                </a:solidFill>
                <a:latin typeface="Microsoft YaHei"/>
              </a:rPr>
              <a:t>▪ 射线向外散开，越远越稀</a:t>
            </a:r>
          </a:p>
          <a:p>
            <a:pPr>
              <a:spcAft>
                <a:spcPts val="1000"/>
              </a:spcAft>
            </a:pPr>
            <a:r>
              <a:rPr sz="2000">
                <a:solidFill>
                  <a:srgbClr val="222B33"/>
                </a:solidFill>
                <a:latin typeface="Microsoft YaHei"/>
              </a:rPr>
              <a:t>▪ 距离加倍，剂量率降到四分之一</a:t>
            </a:r>
          </a:p>
          <a:p>
            <a:pPr>
              <a:spcAft>
                <a:spcPts val="1000"/>
              </a:spcAft>
            </a:pPr>
            <a:r>
              <a:rPr sz="2000">
                <a:solidFill>
                  <a:srgbClr val="222B33"/>
                </a:solidFill>
                <a:latin typeface="Microsoft YaHei"/>
              </a:rPr>
              <a:t>▪ 多退几步，是最省钱的防护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点源发出的射线向四面八方散开，就像浇花的水、火堆的热，离得越远越稀。剂量率与距离的平方成反比：距离增加到 2 倍，剂量率降到 1/4；增加到 3 倍，降到 1/9。</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以为距离加倍、剂量率只减一半</a:t>
            </a:r>
          </a:p>
          <a:p>
            <a:pPr>
              <a:spcAft>
                <a:spcPts val="1000"/>
              </a:spcAft>
            </a:pPr>
            <a:r>
              <a:rPr sz="1500">
                <a:solidFill>
                  <a:srgbClr val="222B33"/>
                </a:solidFill>
                <a:latin typeface="Microsoft YaHei"/>
              </a:rPr>
              <a:t>▪ 认为“反正在同一个房间里”，站哪里都一样</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平方反比的验证与适用范围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在两个距离各测一次，就能验证</a:t>
            </a:r>
          </a:p>
          <a:p>
            <a:pPr>
              <a:spcAft>
                <a:spcPts val="1000"/>
              </a:spcAft>
            </a:pPr>
            <a:r>
              <a:rPr sz="2000">
                <a:solidFill>
                  <a:srgbClr val="222B33"/>
                </a:solidFill>
                <a:latin typeface="Microsoft YaHei"/>
              </a:rPr>
              <a:t>▪ 读数之比符合距离平方之比，就对上了</a:t>
            </a:r>
          </a:p>
          <a:p>
            <a:pPr>
              <a:spcAft>
                <a:spcPts val="1000"/>
              </a:spcAft>
            </a:pPr>
            <a:r>
              <a:rPr sz="2000">
                <a:solidFill>
                  <a:srgbClr val="222B33"/>
                </a:solidFill>
                <a:latin typeface="Microsoft YaHei"/>
              </a:rPr>
              <a:t>▪ 对不上，可能有散射或源不是点源</a:t>
            </a:r>
          </a:p>
          <a:p>
            <a:pPr>
              <a:spcAft>
                <a:spcPts val="1000"/>
              </a:spcAft>
            </a:pPr>
            <a:r>
              <a:rPr sz="2000">
                <a:solidFill>
                  <a:srgbClr val="222B33"/>
                </a:solidFill>
                <a:latin typeface="Microsoft YaHei"/>
              </a:rPr>
              <a:t>▪ 平方反比只适用于点源</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平方反比定律可以在实验课或现场验证：在离源两个不同距离各测一次计数或剂量率（先扣除本底），两个读数之比应等于距离平方之比的倒数；距离越远，读数掉得越快。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不扣除本底就比较两个读数</a:t>
            </a:r>
          </a:p>
          <a:p>
            <a:pPr>
              <a:spcAft>
                <a:spcPts val="1000"/>
              </a:spcAft>
            </a:pPr>
            <a:r>
              <a:rPr sz="1500">
                <a:solidFill>
                  <a:srgbClr val="222B33"/>
                </a:solidFill>
                <a:latin typeface="Microsoft YaHei"/>
              </a:rPr>
              <a:t>▪ 对大面积污染区或贴近源的位置照搬平方反比</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时间和距离要一起算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一人站远久一点，一人站近快一点</a:t>
            </a:r>
          </a:p>
          <a:p>
            <a:pPr>
              <a:spcAft>
                <a:spcPts val="1000"/>
              </a:spcAft>
            </a:pPr>
            <a:r>
              <a:rPr sz="2000">
                <a:solidFill>
                  <a:srgbClr val="222B33"/>
                </a:solidFill>
                <a:latin typeface="Microsoft YaHei"/>
              </a:rPr>
              <a:t>▪ 离得近的人，反而可能受照更多</a:t>
            </a:r>
          </a:p>
          <a:p>
            <a:pPr>
              <a:spcAft>
                <a:spcPts val="1000"/>
              </a:spcAft>
            </a:pPr>
            <a:r>
              <a:rPr sz="2000">
                <a:solidFill>
                  <a:srgbClr val="222B33"/>
                </a:solidFill>
                <a:latin typeface="Microsoft YaHei"/>
              </a:rPr>
              <a:t>▪ 时间和距离，要一起考虑</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时间和距离不能只看一项。例如：一个人站在远处多待一会儿，另一个人凑到近处快速操作，看起来后者“时间短”，但因为剂量率随距离平方增加，离得近的人受到的剂量反而可能更多。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以为“速战速决”就可以凑近操作</a:t>
            </a:r>
          </a:p>
          <a:p>
            <a:pPr>
              <a:spcAft>
                <a:spcPts val="1000"/>
              </a:spcAft>
            </a:pPr>
            <a:r>
              <a:rPr sz="1500">
                <a:solidFill>
                  <a:srgbClr val="222B33"/>
                </a:solidFill>
                <a:latin typeface="Microsoft YaHei"/>
              </a:rPr>
              <a:t>▪ 只比较操作时间，不考虑位置</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拉开距离：长柄工具，不徒手拿源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取放源，用长柄镊子或工具</a:t>
            </a:r>
          </a:p>
          <a:p>
            <a:pPr>
              <a:spcAft>
                <a:spcPts val="1000"/>
              </a:spcAft>
            </a:pPr>
            <a:r>
              <a:rPr sz="2000">
                <a:solidFill>
                  <a:srgbClr val="222B33"/>
                </a:solidFill>
                <a:latin typeface="Microsoft YaHei"/>
              </a:rPr>
              <a:t>▪ 不能徒手拿，手越近受照越多</a:t>
            </a:r>
          </a:p>
          <a:p>
            <a:pPr>
              <a:spcAft>
                <a:spcPts val="1000"/>
              </a:spcAft>
            </a:pPr>
            <a:r>
              <a:rPr sz="2000">
                <a:solidFill>
                  <a:srgbClr val="222B33"/>
                </a:solidFill>
                <a:latin typeface="Microsoft YaHei"/>
              </a:rPr>
              <a:t>▪ 用完立刻放回屏蔽容器</a:t>
            </a:r>
          </a:p>
          <a:p>
            <a:pPr>
              <a:spcAft>
                <a:spcPts val="1000"/>
              </a:spcAft>
            </a:pPr>
            <a:r>
              <a:rPr sz="2000">
                <a:solidFill>
                  <a:srgbClr val="222B33"/>
                </a:solidFill>
                <a:latin typeface="Microsoft YaHei"/>
              </a:rPr>
              <a:t>▪ 射束别朝着可能有人的方向</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取放密封源、操作放射性样品，整个过程都用长柄镊子、钳子或专用工具，不用手直接拿。手指贴着源时距离只有几毫米，按平方反比，手部受到的剂量会比隔着一段工具高得多（局部剂量限值见第 089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嫌镊子不顺手，直接用手捏源</a:t>
            </a:r>
          </a:p>
          <a:p>
            <a:pPr>
              <a:spcAft>
                <a:spcPts val="1000"/>
              </a:spcAft>
            </a:pPr>
            <a:r>
              <a:rPr sz="1500">
                <a:solidFill>
                  <a:srgbClr val="222B33"/>
                </a:solidFill>
                <a:latin typeface="Microsoft YaHei"/>
              </a:rPr>
              <a:t>▪ 源用完先放在台面上，等实验结束再收</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屏蔽：越厚越致密，挡得越多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源和人之间的材料，都会吸收射线</a:t>
            </a:r>
          </a:p>
          <a:p>
            <a:pPr>
              <a:spcAft>
                <a:spcPts val="1000"/>
              </a:spcAft>
            </a:pPr>
            <a:r>
              <a:rPr sz="2000">
                <a:solidFill>
                  <a:srgbClr val="222B33"/>
                </a:solidFill>
                <a:latin typeface="Microsoft YaHei"/>
              </a:rPr>
              <a:t>▪ 越厚、越致密，挡得越多</a:t>
            </a:r>
          </a:p>
          <a:p>
            <a:pPr>
              <a:spcAft>
                <a:spcPts val="1000"/>
              </a:spcAft>
            </a:pPr>
            <a:r>
              <a:rPr sz="2000">
                <a:solidFill>
                  <a:srgbClr val="222B33"/>
                </a:solidFill>
                <a:latin typeface="Microsoft YaHei"/>
              </a:rPr>
              <a:t>▪ 实验室的源，必须放在屏蔽里</a:t>
            </a:r>
          </a:p>
          <a:p>
            <a:pPr>
              <a:spcAft>
                <a:spcPts val="1000"/>
              </a:spcAft>
            </a:pPr>
            <a:r>
              <a:rPr sz="2000">
                <a:solidFill>
                  <a:srgbClr val="222B33"/>
                </a:solidFill>
                <a:latin typeface="Microsoft YaHei"/>
              </a:rPr>
              <a:t>▪ 设备、容器、机房墙体都有屏蔽</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挡在源和人之间的任何材料都会吸收一部分射线；材料越厚、越致密，挡住的越多。对 γ 射线，铅等原子序数高、密度大的材料吸收能力最强。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把源随手放在没有屏蔽的抽屉或桌面上</a:t>
            </a:r>
          </a:p>
          <a:p>
            <a:pPr>
              <a:spcAft>
                <a:spcPts val="1000"/>
              </a:spcAft>
            </a:pPr>
            <a:r>
              <a:rPr sz="1500">
                <a:solidFill>
                  <a:srgbClr val="222B33"/>
                </a:solidFill>
                <a:latin typeface="Microsoft YaHei"/>
              </a:rPr>
              <a:t>▪ 以为普通的柜门、玻璃也能当屏蔽</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按射线种类选屏蔽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射线不同，屏蔽材料也不同</a:t>
            </a:r>
          </a:p>
          <a:p>
            <a:pPr>
              <a:spcAft>
                <a:spcPts val="1000"/>
              </a:spcAft>
            </a:pPr>
            <a:r>
              <a:rPr sz="2000">
                <a:solidFill>
                  <a:srgbClr val="222B33"/>
                </a:solidFill>
                <a:latin typeface="Microsoft YaHei"/>
              </a:rPr>
              <a:t>▪ γ 和 X 射线，用铅或混凝土</a:t>
            </a:r>
          </a:p>
          <a:p>
            <a:pPr>
              <a:spcAft>
                <a:spcPts val="1000"/>
              </a:spcAft>
            </a:pPr>
            <a:r>
              <a:rPr sz="2000">
                <a:solidFill>
                  <a:srgbClr val="222B33"/>
                </a:solidFill>
                <a:latin typeface="Microsoft YaHei"/>
              </a:rPr>
              <a:t>▪ 中子先用含氢材料减速</a:t>
            </a:r>
          </a:p>
          <a:p>
            <a:pPr>
              <a:spcAft>
                <a:spcPts val="1000"/>
              </a:spcAft>
            </a:pPr>
            <a:r>
              <a:rPr sz="2000">
                <a:solidFill>
                  <a:srgbClr val="222B33"/>
                </a:solidFill>
                <a:latin typeface="Microsoft YaHei"/>
              </a:rPr>
              <a:t>▪ 屏蔽由专业人员设计，不能擅自拆改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屏蔽材料要按射线种类选（各种射线的穿透能力见第 086 课）：α 粒子射程很短，一张纸、皮肤表层就能挡住，外照射危害小，重点是防止进入体内；β 粒子用有机玻璃、塑料、铝等轻材料挡，强源外层再加铅（见 K10）；γ 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不管什么射线都用铅挡</a:t>
            </a:r>
          </a:p>
          <a:p>
            <a:pPr>
              <a:spcAft>
                <a:spcPts val="1000"/>
              </a:spcAft>
            </a:pPr>
            <a:r>
              <a:rPr sz="1500">
                <a:solidFill>
                  <a:srgbClr val="222B33"/>
                </a:solidFill>
                <a:latin typeface="Microsoft YaHei"/>
              </a:rPr>
              <a:t>▪ 嫌屏蔽碍事，私自挪开或拆下</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β屏蔽：先轻后重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β 有最大射程，够厚就全部挡住</a:t>
            </a:r>
          </a:p>
          <a:p>
            <a:pPr>
              <a:spcAft>
                <a:spcPts val="1000"/>
              </a:spcAft>
            </a:pPr>
            <a:r>
              <a:rPr sz="1700">
                <a:solidFill>
                  <a:srgbClr val="222B33"/>
                </a:solidFill>
                <a:latin typeface="Microsoft YaHei"/>
              </a:rPr>
              <a:t>▪ 直接用铅包 β 源，会激出 X 射线</a:t>
            </a:r>
          </a:p>
          <a:p>
            <a:pPr>
              <a:spcAft>
                <a:spcPts val="1000"/>
              </a:spcAft>
            </a:pPr>
            <a:r>
              <a:rPr sz="1700">
                <a:solidFill>
                  <a:srgbClr val="222B33"/>
                </a:solidFill>
                <a:latin typeface="Microsoft YaHei"/>
              </a:rPr>
              <a:t>▪ 先轻后重：内层有机玻璃，外层薄铅</a:t>
            </a:r>
          </a:p>
          <a:p>
            <a:pPr>
              <a:spcAft>
                <a:spcPts val="1000"/>
              </a:spcAft>
            </a:pPr>
            <a:r>
              <a:rPr sz="1700">
                <a:solidFill>
                  <a:srgbClr val="222B33"/>
                </a:solidFill>
                <a:latin typeface="Microsoft YaHei"/>
              </a:rPr>
              <a:t>▪ 站在有机玻璃屏蔽后，动作熟练快速</a:t>
            </a:r>
          </a:p>
          <a:p>
            <a:pPr>
              <a:spcAft>
                <a:spcPts val="1000"/>
              </a:spcAft>
            </a:pPr>
            <a:r>
              <a:rPr sz="1700">
                <a:solidFill>
                  <a:srgbClr val="222B33"/>
                </a:solidFill>
                <a:latin typeface="Microsoft YaHei"/>
              </a:rPr>
              <a:t>▪ 做完检查手套和台面有无污染</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β 粒子带电，在物质中一路碰撞、一路减速，有一个最大射程；材料厚度超过最大射程，就能全部挡住。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用铅罐直接装高能 β 源，以为越重越安全</a:t>
            </a:r>
          </a:p>
          <a:p>
            <a:pPr>
              <a:spcAft>
                <a:spcPts val="1000"/>
              </a:spcAft>
            </a:pPr>
            <a:r>
              <a:rPr sz="1500">
                <a:solidFill>
                  <a:srgbClr val="222B33"/>
                </a:solidFill>
                <a:latin typeface="Microsoft YaHei"/>
              </a:rPr>
              <a:t>▪ 操作 β 源时不戴眼睛防护、不用屏蔽挡板</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γ屏蔽：铅还是混凝土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挡同样的 γ，混凝土要厚得多</a:t>
            </a:r>
          </a:p>
          <a:p>
            <a:pPr>
              <a:spcAft>
                <a:spcPts val="1000"/>
              </a:spcAft>
            </a:pPr>
            <a:r>
              <a:rPr sz="2000">
                <a:solidFill>
                  <a:srgbClr val="222B33"/>
                </a:solidFill>
                <a:latin typeface="Microsoft YaHei"/>
              </a:rPr>
              <a:t>▪ 铅密度大、省空间，最常用于局部屏蔽</a:t>
            </a:r>
          </a:p>
          <a:p>
            <a:pPr>
              <a:spcAft>
                <a:spcPts val="1000"/>
              </a:spcAft>
            </a:pPr>
            <a:r>
              <a:rPr sz="2000">
                <a:solidFill>
                  <a:srgbClr val="222B33"/>
                </a:solidFill>
                <a:latin typeface="Microsoft YaHei"/>
              </a:rPr>
              <a:t>▪ 混凝土便宜、结实，还能当承重墙</a:t>
            </a:r>
          </a:p>
          <a:p>
            <a:pPr>
              <a:spcAft>
                <a:spcPts val="1000"/>
              </a:spcAft>
            </a:pPr>
            <a:r>
              <a:rPr sz="2000">
                <a:solidFill>
                  <a:srgbClr val="222B33"/>
                </a:solidFill>
                <a:latin typeface="Microsoft YaHei"/>
              </a:rPr>
              <a:t>▪ 成本、空间、重量、结构要综合权衡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挡 γ 射线，铅最节省空间：达到同样的减弱效果，铅的厚度只需混凝土的几分之一（具体比例随 γ 射线能量变化，以专业手册和设计计算为准）。所以源容器、屏蔽柜、局部挡板常用铅。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在楼板上随意堆放大量铅砖，不考虑承重</a:t>
            </a:r>
          </a:p>
          <a:p>
            <a:pPr>
              <a:spcAft>
                <a:spcPts val="1000"/>
              </a:spcAft>
            </a:pPr>
            <a:r>
              <a:rPr sz="1500">
                <a:solidFill>
                  <a:srgbClr val="222B33"/>
                </a:solidFill>
                <a:latin typeface="Microsoft YaHei"/>
              </a:rPr>
              <a:t>▪ 以为墙“看起来很厚”就一定够</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半值层与十值层</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强度减半的厚度，叫半值层</a:t>
            </a:r>
          </a:p>
          <a:p>
            <a:pPr>
              <a:spcAft>
                <a:spcPts val="1000"/>
              </a:spcAft>
            </a:pPr>
            <a:r>
              <a:rPr sz="2000">
                <a:solidFill>
                  <a:srgbClr val="222B33"/>
                </a:solidFill>
                <a:latin typeface="Microsoft YaHei"/>
              </a:rPr>
              <a:t>▪ 每多一个半值层，再减一半</a:t>
            </a:r>
          </a:p>
          <a:p>
            <a:pPr>
              <a:spcAft>
                <a:spcPts val="1000"/>
              </a:spcAft>
            </a:pPr>
            <a:r>
              <a:rPr sz="2000">
                <a:solidFill>
                  <a:srgbClr val="222B33"/>
                </a:solidFill>
                <a:latin typeface="Microsoft YaHei"/>
              </a:rPr>
              <a:t>▪ 减到十分之一的厚度，叫十值层</a:t>
            </a:r>
          </a:p>
          <a:p>
            <a:pPr>
              <a:spcAft>
                <a:spcPts val="1000"/>
              </a:spcAft>
            </a:pPr>
            <a:r>
              <a:rPr sz="2000">
                <a:solidFill>
                  <a:srgbClr val="222B33"/>
                </a:solidFill>
                <a:latin typeface="Microsoft YaHei"/>
              </a:rPr>
              <a:t>▪ 七个半值层，剩下不到百分之一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半值层（HVL）是让射线强度（或剂量率）减到一半所需的材料厚度；每多一个半值层，再减一半：1 个剩 1/2，2 个剩 1/4，3 个剩 1/8……7 个半值层剩 1/128，不到百分之一。十值层（TVL）是减到十分之……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以为两个半值层就能把射线全部挡住</a:t>
            </a:r>
          </a:p>
          <a:p>
            <a:pPr>
              <a:spcAft>
                <a:spcPts val="1000"/>
              </a:spcAft>
            </a:pPr>
            <a:r>
              <a:rPr sz="1500">
                <a:solidFill>
                  <a:srgbClr val="222B33"/>
                </a:solidFill>
                <a:latin typeface="Microsoft YaHei"/>
              </a:rPr>
              <a:t>▪ 用低能射线的半值层去估算高能射线的屏蔽</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需要几个半值层</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先算要减弱多少倍</a:t>
            </a:r>
          </a:p>
          <a:p>
            <a:pPr>
              <a:spcAft>
                <a:spcPts val="1000"/>
              </a:spcAft>
            </a:pPr>
            <a:r>
              <a:rPr sz="2000">
                <a:solidFill>
                  <a:srgbClr val="222B33"/>
                </a:solidFill>
                <a:latin typeface="Microsoft YaHei"/>
              </a:rPr>
              <a:t>▪ 再数要对折几次，才能减到这么低</a:t>
            </a:r>
          </a:p>
          <a:p>
            <a:pPr>
              <a:spcAft>
                <a:spcPts val="1000"/>
              </a:spcAft>
            </a:pPr>
            <a:r>
              <a:rPr sz="2000">
                <a:solidFill>
                  <a:srgbClr val="222B33"/>
                </a:solidFill>
                <a:latin typeface="Microsoft YaHei"/>
              </a:rPr>
              <a:t>▪ 算出带小数，要往多里取整</a:t>
            </a:r>
          </a:p>
          <a:p>
            <a:pPr>
              <a:spcAft>
                <a:spcPts val="1000"/>
              </a:spcAft>
            </a:pPr>
            <a:r>
              <a:rPr sz="2000">
                <a:solidFill>
                  <a:srgbClr val="222B33"/>
                </a:solidFill>
                <a:latin typeface="Microsoft YaHei"/>
              </a:rPr>
              <a:t>▪ 层数乘每层厚度，按最高能量算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估算屏蔽层数的步骤：①用实测（或估算）的剂量率除以要达到的目标剂量率，得到需要减弱多少倍；②数一数要“对折”几次才能减到这么低，就是需要的半值层数；③算出的层数带小数时，要往多里取整；④层数乘以该材料、该能量下每个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层数算出 6.6 个就按 6 个做</a:t>
            </a:r>
          </a:p>
          <a:p>
            <a:pPr>
              <a:spcAft>
                <a:spcPts val="1000"/>
              </a:spcAft>
            </a:pPr>
            <a:r>
              <a:rPr sz="1500">
                <a:solidFill>
                  <a:srgbClr val="222B33"/>
                </a:solidFill>
                <a:latin typeface="Microsoft YaHei"/>
              </a:rPr>
              <a:t>▪ 自己估算完就直接施工，不经专业设计和检测</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散射：实际比估算高，以实测为准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理想情况，是一束细线穿过屏蔽</a:t>
            </a:r>
          </a:p>
          <a:p>
            <a:pPr>
              <a:spcAft>
                <a:spcPts val="1000"/>
              </a:spcAft>
            </a:pPr>
            <a:r>
              <a:rPr sz="2000">
                <a:solidFill>
                  <a:srgbClr val="222B33"/>
                </a:solidFill>
                <a:latin typeface="Microsoft YaHei"/>
              </a:rPr>
              <a:t>▪ 实际宽束有散射，剂量比估算高</a:t>
            </a:r>
          </a:p>
          <a:p>
            <a:pPr>
              <a:spcAft>
                <a:spcPts val="1000"/>
              </a:spcAft>
            </a:pPr>
            <a:r>
              <a:rPr sz="2000">
                <a:solidFill>
                  <a:srgbClr val="222B33"/>
                </a:solidFill>
                <a:latin typeface="Microsoft YaHei"/>
              </a:rPr>
              <a:t>▪ 自己算的和手册查的会有差别</a:t>
            </a:r>
          </a:p>
          <a:p>
            <a:pPr>
              <a:spcAft>
                <a:spcPts val="1000"/>
              </a:spcAft>
            </a:pPr>
            <a:r>
              <a:rPr sz="2000">
                <a:solidFill>
                  <a:srgbClr val="222B33"/>
                </a:solidFill>
                <a:latin typeface="Microsoft YaHei"/>
              </a:rPr>
              <a:t>▪ 算的只是估计，最终以实测为准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半值层的简单计算假设的是理想的“窄束”：一束很细的射线穿过屏蔽体，被散射的射线都离开了。现实中多是“宽束”，射线会在屏蔽体内和周围物体上散射，一部分散射线又回到人这一侧，所以厚屏蔽后的实际剂量总比简单估算的高；实验曲……</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认为“算过了就够了”，不实测</a:t>
            </a:r>
          </a:p>
          <a:p>
            <a:pPr>
              <a:spcAft>
                <a:spcPts val="1000"/>
              </a:spcAft>
            </a:pPr>
            <a:r>
              <a:rPr sz="1500">
                <a:solidFill>
                  <a:srgbClr val="222B33"/>
                </a:solidFill>
                <a:latin typeface="Microsoft YaHei"/>
              </a:rPr>
              <a:t>▪ 只测正对源的方向，不测侧面和缝隙</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机房屏蔽：设计、验收、不拆改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机房屏蔽要算：机器用多少、谁待多久</a:t>
            </a:r>
          </a:p>
          <a:p>
            <a:pPr>
              <a:spcAft>
                <a:spcPts val="1000"/>
              </a:spcAft>
            </a:pPr>
            <a:r>
              <a:rPr sz="2000">
                <a:solidFill>
                  <a:srgbClr val="222B33"/>
                </a:solidFill>
                <a:latin typeface="Microsoft YaHei"/>
              </a:rPr>
              <a:t>▪ 原来的墙可能远远不够</a:t>
            </a:r>
          </a:p>
          <a:p>
            <a:pPr>
              <a:spcAft>
                <a:spcPts val="1000"/>
              </a:spcAft>
            </a:pPr>
            <a:r>
              <a:rPr sz="2000">
                <a:solidFill>
                  <a:srgbClr val="222B33"/>
                </a:solidFill>
                <a:latin typeface="Microsoft YaHei"/>
              </a:rPr>
              <a:t>▪ 建前设计审批，建成后检测验收</a:t>
            </a:r>
          </a:p>
          <a:p>
            <a:pPr>
              <a:spcAft>
                <a:spcPts val="1000"/>
              </a:spcAft>
            </a:pPr>
            <a:r>
              <a:rPr sz="2000">
                <a:solidFill>
                  <a:srgbClr val="222B33"/>
                </a:solidFill>
                <a:latin typeface="Microsoft YaHei"/>
              </a:rPr>
              <a:t>▪ 装修改造，不能破坏屏蔽墙</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射线装置机房的屏蔽设计，要算机器的工作量（用多少）、相邻区域的居留情况（隔壁是办公室、走廊还是仓库，有人待多久）以及墙体要挡多少。例如 X 射线机房隔壁是办公室，算下来原来的普通墙体可能远远不够。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机房没验收就先“试用”</a:t>
            </a:r>
          </a:p>
          <a:p>
            <a:pPr>
              <a:spcAft>
                <a:spcPts val="1000"/>
              </a:spcAft>
            </a:pPr>
            <a:r>
              <a:rPr sz="1500">
                <a:solidFill>
                  <a:srgbClr val="222B33"/>
                </a:solidFill>
                <a:latin typeface="Microsoft YaHei"/>
              </a:rPr>
              <a:t>▪ 装修时在屏蔽墙上打孔穿管，事后不检测</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准直器与铅衣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用准直器，把射束限在需要的地方</a:t>
            </a:r>
          </a:p>
          <a:p>
            <a:pPr>
              <a:spcAft>
                <a:spcPts val="1000"/>
              </a:spcAft>
            </a:pPr>
            <a:r>
              <a:rPr sz="2000">
                <a:solidFill>
                  <a:srgbClr val="222B33"/>
                </a:solidFill>
                <a:latin typeface="Microsoft YaHei"/>
              </a:rPr>
              <a:t>▪ 铅衣只能减弱散射线，挡不住强 γ</a:t>
            </a:r>
          </a:p>
          <a:p>
            <a:pPr>
              <a:spcAft>
                <a:spcPts val="1000"/>
              </a:spcAft>
            </a:pPr>
            <a:r>
              <a:rPr sz="2000">
                <a:solidFill>
                  <a:srgbClr val="222B33"/>
                </a:solidFill>
                <a:latin typeface="Microsoft YaHei"/>
              </a:rPr>
              <a:t>▪ 铅衣挂起存放，不折叠，定期检查</a:t>
            </a:r>
          </a:p>
          <a:p>
            <a:pPr>
              <a:spcAft>
                <a:spcPts val="1000"/>
              </a:spcAft>
            </a:pPr>
            <a:r>
              <a:rPr sz="2000">
                <a:solidFill>
                  <a:srgbClr val="222B33"/>
                </a:solidFill>
                <a:latin typeface="Microsoft YaHei"/>
              </a:rPr>
              <a:t>▪ 没有吃了就能防辐射的药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使用射线装置时，用准直器、限束器把射束限制在需要照射的范围内，减少散射。有屏蔽机房的就在机房里操作；确需在机房外（如现场探伤）使用的，要严格划区管控（见第 094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以为穿了铅衣就可以靠近强源</a:t>
            </a:r>
          </a:p>
          <a:p>
            <a:pPr>
              <a:spcAft>
                <a:spcPts val="1000"/>
              </a:spcAft>
            </a:pPr>
            <a:r>
              <a:rPr sz="1500">
                <a:solidFill>
                  <a:srgbClr val="222B33"/>
                </a:solidFill>
                <a:latin typeface="Microsoft YaHei"/>
              </a:rPr>
              <a:t>▪ 用完铅衣随手折起来塞进柜子</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眼睛和双手的局部防护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晶状体敏感，近距离操作戴防护眼镜</a:t>
            </a:r>
          </a:p>
          <a:p>
            <a:pPr>
              <a:spcAft>
                <a:spcPts val="1000"/>
              </a:spcAft>
            </a:pPr>
            <a:r>
              <a:rPr sz="2000">
                <a:solidFill>
                  <a:srgbClr val="222B33"/>
                </a:solidFill>
                <a:latin typeface="Microsoft YaHei"/>
              </a:rPr>
              <a:t>▪ 手离源最近，按要求戴指环剂量计</a:t>
            </a:r>
          </a:p>
          <a:p>
            <a:pPr>
              <a:spcAft>
                <a:spcPts val="1000"/>
              </a:spcAft>
            </a:pPr>
            <a:r>
              <a:rPr sz="2000">
                <a:solidFill>
                  <a:srgbClr val="222B33"/>
                </a:solidFill>
                <a:latin typeface="Microsoft YaHei"/>
              </a:rPr>
              <a:t>▪ 戴手套、用长柄工具，不直接用手拿源</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眼晶状体对辐射敏感（见第 088 课），近距离操作源、β 源或在射线装置旁工作时，按要求戴防护眼镜（铅眼镜或有机玻璃面屏，按射线种类选）。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只在胸前戴剂量计，手部剂量从不监测</a:t>
            </a:r>
          </a:p>
          <a:p>
            <a:pPr>
              <a:spcAft>
                <a:spcPts val="1000"/>
              </a:spcAft>
            </a:pPr>
            <a:r>
              <a:rPr sz="1500">
                <a:solidFill>
                  <a:srgbClr val="222B33"/>
                </a:solidFill>
                <a:latin typeface="Microsoft YaHei"/>
              </a:rPr>
              <a:t>▪ 觉得防护眼镜麻烦，近距离操作不戴</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在离点源 1 米处剂量率为 40 μSv/h，退到 2 米处，剂量率约为：</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20 μSv/h</a:t>
            </a:r>
          </a:p>
          <a:p>
            <a:pPr algn="l"/>
            <a:r>
              <a:rPr sz="1500" b="0">
                <a:solidFill>
                  <a:srgbClr val="222B33"/>
                </a:solidFill>
                <a:latin typeface="Microsoft YaHei"/>
              </a:rPr>
              <a:t>B. 10 μSv/h</a:t>
            </a:r>
          </a:p>
          <a:p>
            <a:pPr algn="l"/>
            <a:r>
              <a:rPr sz="1500" b="0">
                <a:solidFill>
                  <a:srgbClr val="222B33"/>
                </a:solidFill>
                <a:latin typeface="Microsoft YaHei"/>
              </a:rPr>
              <a:t>C. 80 μSv/h</a:t>
            </a:r>
          </a:p>
          <a:p>
            <a:pPr algn="l"/>
            <a:r>
              <a:rPr sz="1500" b="0">
                <a:solidFill>
                  <a:srgbClr val="222B33"/>
                </a:solidFill>
                <a:latin typeface="Microsoft YaHei"/>
              </a:rPr>
              <a:t>D. 不变</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判断：操作高能 β 源时，直接用厚铅罐包装最安全。</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某位置剂量率需要降到原来的 1/100 以下，至少需要几个半值层？</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5 个</a:t>
            </a:r>
          </a:p>
          <a:p>
            <a:pPr algn="l"/>
            <a:r>
              <a:rPr sz="1500" b="0">
                <a:solidFill>
                  <a:srgbClr val="222B33"/>
                </a:solidFill>
                <a:latin typeface="Microsoft YaHei"/>
              </a:rPr>
              <a:t>B. 6 个</a:t>
            </a:r>
          </a:p>
          <a:p>
            <a:pPr algn="l"/>
            <a:r>
              <a:rPr sz="1500" b="0">
                <a:solidFill>
                  <a:srgbClr val="222B33"/>
                </a:solidFill>
                <a:latin typeface="Microsoft YaHei"/>
              </a:rPr>
              <a:t>C. 7 个</a:t>
            </a:r>
          </a:p>
          <a:p>
            <a:pPr algn="l"/>
            <a:r>
              <a:rPr sz="1500" b="0">
                <a:solidFill>
                  <a:srgbClr val="222B33"/>
                </a:solidFill>
                <a:latin typeface="Microsoft YaHei"/>
              </a:rPr>
              <a:t>D. 10 个</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用手直接拿取密封源，动作快一点就行</a:t>
            </a:r>
          </a:p>
          <a:p>
            <a:pPr algn="l"/>
            <a:r>
              <a:rPr sz="1500" b="0">
                <a:solidFill>
                  <a:srgbClr val="222B33"/>
                </a:solidFill>
                <a:latin typeface="Microsoft YaHei"/>
              </a:rPr>
              <a:t>B. 用长柄镊子取源，用完立刻放回屏蔽容器</a:t>
            </a:r>
          </a:p>
          <a:p>
            <a:pPr algn="l"/>
            <a:r>
              <a:rPr sz="1500" b="0">
                <a:solidFill>
                  <a:srgbClr val="222B33"/>
                </a:solidFill>
                <a:latin typeface="Microsoft YaHei"/>
              </a:rPr>
              <a:t>C. 屏蔽碍事时临时挪开</a:t>
            </a:r>
          </a:p>
          <a:p>
            <a:pPr algn="l"/>
            <a:r>
              <a:rPr sz="1500" b="0">
                <a:solidFill>
                  <a:srgbClr val="222B33"/>
                </a:solidFill>
                <a:latin typeface="Microsoft YaHei"/>
              </a:rPr>
              <a:t>D. 穿上铅衣就可以靠近强 γ 源</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090 · 外照射防护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090 外照射防护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判断：按半值层算好屏蔽厚度后，建成的屏蔽不需要再测量。</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简答：外照射防护的三要素是什么？各举一个做法。</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外照射防护三要素：时间、距离、屏蔽</a:t>
            </a:r>
          </a:p>
          <a:p>
            <a:pPr>
              <a:spcAft>
                <a:spcPts val="800"/>
              </a:spcAft>
            </a:pPr>
            <a:r>
              <a:rPr sz="1500">
                <a:solidFill>
                  <a:srgbClr val="FFFFFF"/>
                </a:solidFill>
                <a:latin typeface="Microsoft YaHei"/>
              </a:rPr>
              <a:t>▪ K2  时间：剂量与时间成正比</a:t>
            </a:r>
          </a:p>
          <a:p>
            <a:pPr>
              <a:spcAft>
                <a:spcPts val="800"/>
              </a:spcAft>
            </a:pPr>
            <a:r>
              <a:rPr sz="1500">
                <a:solidFill>
                  <a:srgbClr val="FFFFFF"/>
                </a:solidFill>
                <a:latin typeface="Microsoft YaHei"/>
              </a:rPr>
              <a:t>▪ K3  缩短时间：先演练，先实测</a:t>
            </a:r>
          </a:p>
          <a:p>
            <a:pPr>
              <a:spcAft>
                <a:spcPts val="800"/>
              </a:spcAft>
            </a:pPr>
            <a:r>
              <a:rPr sz="1500">
                <a:solidFill>
                  <a:srgbClr val="FFFFFF"/>
                </a:solidFill>
                <a:latin typeface="Microsoft YaHei"/>
              </a:rPr>
              <a:t>▪ K4  距离：平方反比定律</a:t>
            </a:r>
          </a:p>
          <a:p>
            <a:pPr>
              <a:spcAft>
                <a:spcPts val="800"/>
              </a:spcAft>
            </a:pPr>
            <a:r>
              <a:rPr sz="1500">
                <a:solidFill>
                  <a:srgbClr val="FFFFFF"/>
                </a:solidFill>
                <a:latin typeface="Microsoft YaHei"/>
              </a:rPr>
              <a:t>▪ K5  平方反比的验证与适用范围</a:t>
            </a:r>
          </a:p>
          <a:p>
            <a:pPr>
              <a:spcAft>
                <a:spcPts val="800"/>
              </a:spcAft>
            </a:pPr>
            <a:r>
              <a:rPr sz="1500">
                <a:solidFill>
                  <a:srgbClr val="FFFFFF"/>
                </a:solidFill>
                <a:latin typeface="Microsoft YaHei"/>
              </a:rPr>
              <a:t>▪ K6  时间和距离要一起算</a:t>
            </a:r>
          </a:p>
          <a:p>
            <a:pPr>
              <a:spcAft>
                <a:spcPts val="800"/>
              </a:spcAft>
            </a:pPr>
            <a:r>
              <a:rPr sz="1500">
                <a:solidFill>
                  <a:srgbClr val="FFFFFF"/>
                </a:solidFill>
                <a:latin typeface="Microsoft YaHei"/>
              </a:rPr>
              <a:t>▪ K7  拉开距离：长柄工具，不徒手拿源</a:t>
            </a:r>
          </a:p>
          <a:p>
            <a:pPr>
              <a:spcAft>
                <a:spcPts val="800"/>
              </a:spcAft>
            </a:pPr>
            <a:r>
              <a:rPr sz="1500">
                <a:solidFill>
                  <a:srgbClr val="FFFFFF"/>
                </a:solidFill>
                <a:latin typeface="Microsoft YaHei"/>
              </a:rPr>
              <a:t>▪ K8  屏蔽：越厚越致密，挡得越多</a:t>
            </a:r>
          </a:p>
          <a:p>
            <a:pPr>
              <a:spcAft>
                <a:spcPts val="800"/>
              </a:spcAft>
            </a:pPr>
            <a:r>
              <a:rPr sz="1500">
                <a:solidFill>
                  <a:srgbClr val="FFFFFF"/>
                </a:solidFill>
                <a:latin typeface="Microsoft YaHei"/>
              </a:rPr>
              <a:t>▪ K9  按射线种类选屏蔽</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K10  β屏蔽：先轻后重</a:t>
            </a:r>
          </a:p>
          <a:p>
            <a:pPr>
              <a:spcAft>
                <a:spcPts val="800"/>
              </a:spcAft>
            </a:pPr>
            <a:r>
              <a:rPr sz="1500">
                <a:solidFill>
                  <a:srgbClr val="FFFFFF"/>
                </a:solidFill>
                <a:latin typeface="Microsoft YaHei"/>
              </a:rPr>
              <a:t>▪ K11  γ屏蔽：铅还是混凝土</a:t>
            </a:r>
          </a:p>
          <a:p>
            <a:pPr>
              <a:spcAft>
                <a:spcPts val="800"/>
              </a:spcAft>
            </a:pPr>
            <a:r>
              <a:rPr sz="1500">
                <a:solidFill>
                  <a:srgbClr val="FFFFFF"/>
                </a:solidFill>
                <a:latin typeface="Microsoft YaHei"/>
              </a:rPr>
              <a:t>▪ K12  半值层与十值层</a:t>
            </a:r>
          </a:p>
          <a:p>
            <a:pPr>
              <a:spcAft>
                <a:spcPts val="800"/>
              </a:spcAft>
            </a:pPr>
            <a:r>
              <a:rPr sz="1500">
                <a:solidFill>
                  <a:srgbClr val="FFFFFF"/>
                </a:solidFill>
                <a:latin typeface="Microsoft YaHei"/>
              </a:rPr>
              <a:t>▪ K13  需要几个半值层</a:t>
            </a:r>
          </a:p>
          <a:p>
            <a:pPr>
              <a:spcAft>
                <a:spcPts val="800"/>
              </a:spcAft>
            </a:pPr>
            <a:r>
              <a:rPr sz="1500">
                <a:solidFill>
                  <a:srgbClr val="FFFFFF"/>
                </a:solidFill>
                <a:latin typeface="Microsoft YaHei"/>
              </a:rPr>
              <a:t>▪ K14  散射：实际比估算高，以实测为准</a:t>
            </a:r>
          </a:p>
          <a:p>
            <a:pPr>
              <a:spcAft>
                <a:spcPts val="800"/>
              </a:spcAft>
            </a:pPr>
            <a:r>
              <a:rPr sz="1500">
                <a:solidFill>
                  <a:srgbClr val="FFFFFF"/>
                </a:solidFill>
                <a:latin typeface="Microsoft YaHei"/>
              </a:rPr>
              <a:t>▪ K15  机房屏蔽：设计、验收、不拆改</a:t>
            </a:r>
          </a:p>
          <a:p>
            <a:pPr>
              <a:spcAft>
                <a:spcPts val="800"/>
              </a:spcAft>
            </a:pPr>
            <a:r>
              <a:rPr sz="1500">
                <a:solidFill>
                  <a:srgbClr val="FFFFFF"/>
                </a:solidFill>
                <a:latin typeface="Microsoft YaHei"/>
              </a:rPr>
              <a:t>▪ K16  准直器与铅衣</a:t>
            </a:r>
          </a:p>
          <a:p>
            <a:pPr>
              <a:spcAft>
                <a:spcPts val="800"/>
              </a:spcAft>
            </a:pPr>
            <a:r>
              <a:rPr sz="1500">
                <a:solidFill>
                  <a:srgbClr val="FFFFFF"/>
                </a:solidFill>
                <a:latin typeface="Microsoft YaHei"/>
              </a:rPr>
              <a:t>▪ K17  眼睛和双手的局部防护</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非密封源操作与放射性废物</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80 镜）　适用对象：使用非密封（开放型）放射性物质开展标记、示踪、放射化学等实验的本科生、研究生和教职工（辐射类必修），以及负责放射性废物收集、暂存的实验室负责人和管理人员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能说出放射性物质进入体内的途径，以及非密封源操作“重在防止摄入、控制污染”的道理。</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能做到在指定区域和专用设施内操作，正确使用托盘、吸水纸和个人防护用品，遵守不吃不喝不化妆、不用嘴吸移液管等卫生纪律。</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能做到操作后自检和擦拭监测；发现污染时按“停下围住—报告—去污—复测”处置。</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能说出放射性废物分类收集、贴标、暂存、衰变解控和交有资质单位收贮的要求，判断哪些做法是违规的。</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《中华人民共和国放射性污染防治法》（以现行文本为准）：放射性废物的处理、贮存和处置，不得向环境随意排放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《放射性废物安全管理条例》（以现行文本为准）：产生单位的减量、分类收集、暂存和送贮责任</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《放射性同位素与射线装置安全和防护管理办法》（以现行文本为准）：工作场所安全和防护、放射性废物管理</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18871-2002（以现行文本为准）《电离辐射防护与辐射源安全基本标准》：非密封源工作场所分级、表面污染控制、解控</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HJ 1188-2021《核医学辐射防护与安全要求》：核医学和放射性药物场所的布局、通风和放射性废物衰变暂存</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《放射性废物分类》（以现行文本为准）</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本校辐射安全管理规定和放射性废物管理办法（以本校规定为准）</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放射性物质怎样进入体内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非密封源会洒、会挥发，还会沾污</a:t>
            </a:r>
          </a:p>
          <a:p>
            <a:pPr>
              <a:spcAft>
                <a:spcPts val="1000"/>
              </a:spcAft>
            </a:pPr>
            <a:r>
              <a:rPr sz="1700">
                <a:solidFill>
                  <a:srgbClr val="222B33"/>
                </a:solidFill>
                <a:latin typeface="Microsoft YaHei"/>
              </a:rPr>
              <a:t>▪ 吸入、食入、伤口和皮肤，都能进入体内</a:t>
            </a:r>
          </a:p>
          <a:p>
            <a:pPr>
              <a:spcAft>
                <a:spcPts val="1000"/>
              </a:spcAft>
            </a:pPr>
            <a:r>
              <a:rPr sz="1700">
                <a:solidFill>
                  <a:srgbClr val="222B33"/>
                </a:solidFill>
                <a:latin typeface="Microsoft YaHei"/>
              </a:rPr>
              <a:t>▪ 进入体内就是内照射，躲不开也挡不住</a:t>
            </a:r>
          </a:p>
          <a:p>
            <a:pPr>
              <a:spcAft>
                <a:spcPts val="1000"/>
              </a:spcAft>
            </a:pPr>
            <a:r>
              <a:rPr sz="1700">
                <a:solidFill>
                  <a:srgbClr val="222B33"/>
                </a:solidFill>
                <a:latin typeface="Microsoft YaHei"/>
              </a:rPr>
              <a:t>▪ α 射线体外好挡，进入体内危害大</a:t>
            </a:r>
          </a:p>
          <a:p>
            <a:pPr>
              <a:spcAft>
                <a:spcPts val="1000"/>
              </a:spcAft>
            </a:pPr>
            <a:r>
              <a:rPr sz="1700">
                <a:solidFill>
                  <a:srgbClr val="222B33"/>
                </a:solidFill>
                <a:latin typeface="Microsoft YaHei"/>
              </a:rPr>
              <a:t>▪ 操作非密封源，重在防止摄入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非密封源（开放型放射性物质）是没有包壳、可以直接分取的放射性溶液、粉末或气体，如标记实验用的放射性核素溶液。它和密封源最大的不同是：会洒漏、会挥发、会沾到手套、台面和仪器上，造成放射性污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 α 射线“一张纸就挡住”，操作 α 核素可以随便</a:t>
            </a:r>
          </a:p>
          <a:p>
            <a:pPr>
              <a:spcAft>
                <a:spcPts val="1000"/>
              </a:spcAft>
            </a:pPr>
            <a:r>
              <a:rPr sz="1500">
                <a:solidFill>
                  <a:srgbClr val="222B33"/>
                </a:solidFill>
                <a:latin typeface="Microsoft YaHei"/>
              </a:rPr>
              <a:t>▪ 只想着屏蔽，忽视了沾污和摄入</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指定区域与专用设施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非密封源只在批准的指定区域操作</a:t>
            </a:r>
          </a:p>
          <a:p>
            <a:pPr>
              <a:spcAft>
                <a:spcPts val="1000"/>
              </a:spcAft>
            </a:pPr>
            <a:r>
              <a:rPr sz="1700">
                <a:solidFill>
                  <a:srgbClr val="222B33"/>
                </a:solidFill>
                <a:latin typeface="Microsoft YaHei"/>
              </a:rPr>
              <a:t>▪ 台面、地面不渗透、易去污</a:t>
            </a:r>
          </a:p>
          <a:p>
            <a:pPr>
              <a:spcAft>
                <a:spcPts val="1000"/>
              </a:spcAft>
            </a:pPr>
            <a:r>
              <a:rPr sz="1700">
                <a:solidFill>
                  <a:srgbClr val="222B33"/>
                </a:solidFill>
                <a:latin typeface="Microsoft YaHei"/>
              </a:rPr>
              <a:t>▪ 放射性操作用专用通风柜或手套箱</a:t>
            </a:r>
          </a:p>
          <a:p>
            <a:pPr>
              <a:spcAft>
                <a:spcPts val="1000"/>
              </a:spcAft>
            </a:pPr>
            <a:r>
              <a:rPr sz="1700">
                <a:solidFill>
                  <a:srgbClr val="222B33"/>
                </a:solidFill>
                <a:latin typeface="Microsoft YaHei"/>
              </a:rPr>
              <a:t>▪ 易挥发、粉末操作，必须在柜内进行</a:t>
            </a:r>
          </a:p>
          <a:p>
            <a:pPr>
              <a:spcAft>
                <a:spcPts val="1000"/>
              </a:spcAft>
            </a:pPr>
            <a:r>
              <a:rPr sz="1700">
                <a:solidFill>
                  <a:srgbClr val="222B33"/>
                </a:solidFill>
                <a:latin typeface="Microsoft YaHei"/>
              </a:rPr>
              <a:t>▪ 区域边界有标志，无关物品不放</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使用非密封放射性物质的场所，要经过辐射安全许可和环境影响评价等审批（见第 093 课），并按 GB 18871-2002（以现行文本为准）根据操作量对非密封源工作场所分级管理。操作只能在批准的指定区域内进行，不得在普……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在普通实验台或普通通风柜里分装开放型放射性物质</a:t>
            </a:r>
          </a:p>
          <a:p>
            <a:pPr>
              <a:spcAft>
                <a:spcPts val="1000"/>
              </a:spcAft>
            </a:pPr>
            <a:r>
              <a:rPr sz="1500">
                <a:solidFill>
                  <a:srgbClr val="222B33"/>
                </a:solidFill>
                <a:latin typeface="Microsoft YaHei"/>
              </a:rPr>
              <a:t>▪ 在操作区堆放笔记本、手机等个人物品</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托盘、吸水纸与个人防护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托盘里垫吸水纸，吸水面朝上</a:t>
            </a:r>
          </a:p>
          <a:p>
            <a:pPr>
              <a:spcAft>
                <a:spcPts val="1000"/>
              </a:spcAft>
            </a:pPr>
            <a:r>
              <a:rPr sz="1700">
                <a:solidFill>
                  <a:srgbClr val="222B33"/>
                </a:solidFill>
                <a:latin typeface="Microsoft YaHei"/>
              </a:rPr>
              <a:t>▪ 一旦洒漏，污染只留在托盘里</a:t>
            </a:r>
          </a:p>
          <a:p>
            <a:pPr>
              <a:spcAft>
                <a:spcPts val="1000"/>
              </a:spcAft>
            </a:pPr>
            <a:r>
              <a:rPr sz="1700">
                <a:solidFill>
                  <a:srgbClr val="222B33"/>
                </a:solidFill>
                <a:latin typeface="Microsoft YaHei"/>
              </a:rPr>
              <a:t>▪ 穿实验服，戴一次性手套和护目镜</a:t>
            </a:r>
          </a:p>
          <a:p>
            <a:pPr>
              <a:spcAft>
                <a:spcPts val="1000"/>
              </a:spcAft>
            </a:pPr>
            <a:r>
              <a:rPr sz="1700">
                <a:solidFill>
                  <a:srgbClr val="222B33"/>
                </a:solidFill>
                <a:latin typeface="Microsoft YaHei"/>
              </a:rPr>
              <a:t>▪ 需要时戴双层手套、穿鞋套</a:t>
            </a:r>
          </a:p>
          <a:p>
            <a:pPr>
              <a:spcAft>
                <a:spcPts val="1000"/>
              </a:spcAft>
            </a:pPr>
            <a:r>
              <a:rPr sz="1700">
                <a:solidFill>
                  <a:srgbClr val="222B33"/>
                </a:solidFill>
                <a:latin typeface="Microsoft YaHei"/>
              </a:rPr>
              <a:t>▪ 演示实验也要防护，做完收回清点</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所有开放操作都在托盘里进行：托盘里铺一层吸水纸（一面吸水、一面防水，吸水面朝上），万一洒漏，液体被吸住、只留在托盘里，便于收拾，也不会污染整张台面。吸水纸沾污后当作放射性废物更换。</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直接在台面上分装，不用托盘和吸水纸</a:t>
            </a:r>
          </a:p>
          <a:p>
            <a:pPr>
              <a:spcAft>
                <a:spcPts val="1000"/>
              </a:spcAft>
            </a:pPr>
            <a:r>
              <a:rPr sz="1500">
                <a:solidFill>
                  <a:srgbClr val="222B33"/>
                </a:solidFill>
                <a:latin typeface="Microsoft YaHei"/>
              </a:rPr>
              <a:t>▪ 戴着沾污的手套走出工作区</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工作区卫生纪律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工作区不吃不喝、不吸烟、不化妆</a:t>
            </a:r>
          </a:p>
          <a:p>
            <a:pPr>
              <a:spcAft>
                <a:spcPts val="1000"/>
              </a:spcAft>
            </a:pPr>
            <a:r>
              <a:rPr sz="1700">
                <a:solidFill>
                  <a:srgbClr val="222B33"/>
                </a:solidFill>
                <a:latin typeface="Microsoft YaHei"/>
              </a:rPr>
              <a:t>▪ 食品饮料不带入，不放实验冰箱</a:t>
            </a:r>
          </a:p>
          <a:p>
            <a:pPr>
              <a:spcAft>
                <a:spcPts val="1000"/>
              </a:spcAft>
            </a:pPr>
            <a:r>
              <a:rPr sz="1700">
                <a:solidFill>
                  <a:srgbClr val="222B33"/>
                </a:solidFill>
                <a:latin typeface="Microsoft YaHei"/>
              </a:rPr>
              <a:t>▪ 绝不用嘴吸移液管，用移液器</a:t>
            </a:r>
          </a:p>
          <a:p>
            <a:pPr>
              <a:spcAft>
                <a:spcPts val="1000"/>
              </a:spcAft>
            </a:pPr>
            <a:r>
              <a:rPr sz="1700">
                <a:solidFill>
                  <a:srgbClr val="222B33"/>
                </a:solidFill>
                <a:latin typeface="Microsoft YaHei"/>
              </a:rPr>
              <a:t>▪ 戴着手套不摸脸揉眼、不碰手机</a:t>
            </a:r>
          </a:p>
          <a:p>
            <a:pPr>
              <a:spcAft>
                <a:spcPts val="1000"/>
              </a:spcAft>
            </a:pPr>
            <a:r>
              <a:rPr sz="1700">
                <a:solidFill>
                  <a:srgbClr val="222B33"/>
                </a:solidFill>
                <a:latin typeface="Microsoft YaHei"/>
              </a:rPr>
              <a:t>▪ 手上有伤口，不操作开放源</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防止食入最简单也最有效的办法是良好的卫生习惯：放射性工作区内禁止饮食、饮水、吸烟、化妆（包括涂唇膏、戴隐形眼镜），食品、饮料和餐具不得带入，也不得存放在实验用冰箱里。勤洗手。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把水杯放在工作台边“只喝一口”</a:t>
            </a:r>
          </a:p>
          <a:p>
            <a:pPr>
              <a:spcAft>
                <a:spcPts val="1000"/>
              </a:spcAft>
            </a:pPr>
            <a:r>
              <a:rPr sz="1500">
                <a:solidFill>
                  <a:srgbClr val="222B33"/>
                </a:solidFill>
                <a:latin typeface="Microsoft YaHei"/>
              </a:rPr>
              <a:t>▪ 戴手套接电话、刷手机</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操作后自检与擦拭监测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做完先测：手、衣服、鞋和台面</a:t>
            </a:r>
          </a:p>
          <a:p>
            <a:pPr>
              <a:spcAft>
                <a:spcPts val="1000"/>
              </a:spcAft>
            </a:pPr>
            <a:r>
              <a:rPr sz="1700">
                <a:solidFill>
                  <a:srgbClr val="222B33"/>
                </a:solidFill>
                <a:latin typeface="Microsoft YaHei"/>
              </a:rPr>
              <a:t>▪ 探头贴近表面慢慢扫，别碰到表面</a:t>
            </a:r>
          </a:p>
          <a:p>
            <a:pPr>
              <a:spcAft>
                <a:spcPts val="1000"/>
              </a:spcAft>
            </a:pPr>
            <a:r>
              <a:rPr sz="1700">
                <a:solidFill>
                  <a:srgbClr val="222B33"/>
                </a:solidFill>
                <a:latin typeface="Microsoft YaHei"/>
              </a:rPr>
              <a:t>▪ 摘手套、洗手，再测一次才离开</a:t>
            </a:r>
          </a:p>
          <a:p>
            <a:pPr>
              <a:spcAft>
                <a:spcPts val="1000"/>
              </a:spcAft>
            </a:pPr>
            <a:r>
              <a:rPr sz="1700">
                <a:solidFill>
                  <a:srgbClr val="222B33"/>
                </a:solidFill>
                <a:latin typeface="Microsoft YaHei"/>
              </a:rPr>
              <a:t>▪ 擦拭取样，能查出看不见的污染</a:t>
            </a:r>
          </a:p>
          <a:p>
            <a:pPr>
              <a:spcAft>
                <a:spcPts val="1000"/>
              </a:spcAft>
            </a:pPr>
            <a:r>
              <a:rPr sz="1700">
                <a:solidFill>
                  <a:srgbClr val="222B33"/>
                </a:solidFill>
                <a:latin typeface="Microsoft YaHei"/>
              </a:rPr>
              <a:t>▪ 定期擦拭和巡测，结果记录在案</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操作结束后先做自检：用表面污染监测仪检查双手、衣袖、衣服前襟、鞋底和工作台面、托盘周围、地面。测量时探头贴近被测表面、但不接触（防止探头被沾污），慢慢移动；读数明显高于本底时说明有污染（仪器的选择、本底和读数见第 0……</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做完直接走，不自检</a:t>
            </a:r>
          </a:p>
          <a:p>
            <a:pPr>
              <a:spcAft>
                <a:spcPts val="1000"/>
              </a:spcAft>
            </a:pPr>
            <a:r>
              <a:rPr sz="1500">
                <a:solidFill>
                  <a:srgbClr val="222B33"/>
                </a:solidFill>
                <a:latin typeface="Microsoft YaHei"/>
              </a:rPr>
              <a:t>▪ 拿探头贴着可能沾污的表面来回蹭</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发现污染：围住、报告、去污、复测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测到污染，先停下，别扩散</a:t>
            </a:r>
          </a:p>
          <a:p>
            <a:pPr>
              <a:spcAft>
                <a:spcPts val="1000"/>
              </a:spcAft>
            </a:pPr>
            <a:r>
              <a:rPr sz="1700">
                <a:solidFill>
                  <a:srgbClr val="222B33"/>
                </a:solidFill>
                <a:latin typeface="Microsoft YaHei"/>
              </a:rPr>
              <a:t>▪ 用吸水纸盖住，标出范围，别让人踩过</a:t>
            </a:r>
          </a:p>
          <a:p>
            <a:pPr>
              <a:spcAft>
                <a:spcPts val="1000"/>
              </a:spcAft>
            </a:pPr>
            <a:r>
              <a:rPr sz="1700">
                <a:solidFill>
                  <a:srgbClr val="222B33"/>
                </a:solidFill>
                <a:latin typeface="Microsoft YaHei"/>
              </a:rPr>
              <a:t>▪ 报告实验室负责人和辐射安全管理人员</a:t>
            </a:r>
          </a:p>
          <a:p>
            <a:pPr>
              <a:spcAft>
                <a:spcPts val="1000"/>
              </a:spcAft>
            </a:pPr>
            <a:r>
              <a:rPr sz="1700">
                <a:solidFill>
                  <a:srgbClr val="222B33"/>
                </a:solidFill>
                <a:latin typeface="Microsoft YaHei"/>
              </a:rPr>
              <a:t>▪ 由外向内去污，废物进放射性废物袋</a:t>
            </a:r>
          </a:p>
          <a:p>
            <a:pPr>
              <a:spcAft>
                <a:spcPts val="1000"/>
              </a:spcAft>
            </a:pPr>
            <a:r>
              <a:rPr sz="1700">
                <a:solidFill>
                  <a:srgbClr val="222B33"/>
                </a:solidFill>
                <a:latin typeface="Microsoft YaHei"/>
              </a:rPr>
              <a:t>▪ 皮肤沾污温水肥皂轻洗，去污后复测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发现污染，第一步是停下：不要走动、不要用沾污的手去碰别的东西，防止扩散。液体洒漏先用吸水纸盖住，标出污染范围，提醒周围的人不要踩过；必要时脱下沾污的外层手套、鞋套和实验服留在原地。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自己悄悄擦掉，不报告</a:t>
            </a:r>
          </a:p>
          <a:p>
            <a:pPr>
              <a:spcAft>
                <a:spcPts val="1000"/>
              </a:spcAft>
            </a:pPr>
            <a:r>
              <a:rPr sz="1500">
                <a:solidFill>
                  <a:srgbClr val="222B33"/>
                </a:solidFill>
                <a:latin typeface="Microsoft YaHei"/>
              </a:rPr>
              <a:t>▪ 从中心向外擦，或用硬刷、溶剂擦洗皮肤</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天然放射性物质也要管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含铀、含钍的试剂和矿石，也有放射性</a:t>
            </a:r>
          </a:p>
          <a:p>
            <a:pPr>
              <a:spcAft>
                <a:spcPts val="1000"/>
              </a:spcAft>
            </a:pPr>
            <a:r>
              <a:rPr sz="2000">
                <a:solidFill>
                  <a:srgbClr val="222B33"/>
                </a:solidFill>
                <a:latin typeface="Microsoft YaHei"/>
              </a:rPr>
              <a:t>▪ 专柜存放，登记领用和归还</a:t>
            </a:r>
          </a:p>
          <a:p>
            <a:pPr>
              <a:spcAft>
                <a:spcPts val="1000"/>
              </a:spcAft>
            </a:pPr>
            <a:r>
              <a:rPr sz="2000">
                <a:solidFill>
                  <a:srgbClr val="222B33"/>
                </a:solidFill>
                <a:latin typeface="Microsoft YaHei"/>
              </a:rPr>
              <a:t>▪ 废弃物按放射性废物处理，不倒下水道</a:t>
            </a:r>
          </a:p>
          <a:p>
            <a:pPr>
              <a:spcAft>
                <a:spcPts val="1000"/>
              </a:spcAft>
            </a:pPr>
            <a:r>
              <a:rPr sz="2000">
                <a:solidFill>
                  <a:srgbClr val="222B33"/>
                </a:solidFill>
                <a:latin typeface="Microsoft YaHei"/>
              </a:rPr>
              <a:t>▪ 地下实验室，要关注通风和氡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实验室里的放射性不只来自购买的放射性同位素。硝酸铀酰、醋酸铀酰（电镜负染色常用）、硝酸钍等含铀、含钍的化学试剂，以及含铀、含钍的矿石和地质样品，都有天然放射性。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把铀酰染色液当普通化学试剂存放和倒掉</a:t>
            </a:r>
          </a:p>
          <a:p>
            <a:pPr>
              <a:spcAft>
                <a:spcPts val="1000"/>
              </a:spcAft>
            </a:pPr>
            <a:r>
              <a:rPr sz="1500">
                <a:solidFill>
                  <a:srgbClr val="222B33"/>
                </a:solidFill>
                <a:latin typeface="Microsoft YaHei"/>
              </a:rPr>
              <a:t>▪ 把矿石标本随意放在办公室当摆件</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源头减少放射性废物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用了放射性，就一定会有废物</a:t>
            </a:r>
          </a:p>
          <a:p>
            <a:pPr>
              <a:spcAft>
                <a:spcPts val="1000"/>
              </a:spcAft>
            </a:pPr>
            <a:r>
              <a:rPr sz="2000">
                <a:solidFill>
                  <a:srgbClr val="222B33"/>
                </a:solidFill>
                <a:latin typeface="Microsoft YaHei"/>
              </a:rPr>
              <a:t>▪ 按需领用，够用就好</a:t>
            </a:r>
          </a:p>
          <a:p>
            <a:pPr>
              <a:spcAft>
                <a:spcPts val="1000"/>
              </a:spcAft>
            </a:pPr>
            <a:r>
              <a:rPr sz="2000">
                <a:solidFill>
                  <a:srgbClr val="222B33"/>
                </a:solidFill>
                <a:latin typeface="Microsoft YaHei"/>
              </a:rPr>
              <a:t>▪ 在托盘里操作，少沾污就少废物</a:t>
            </a:r>
          </a:p>
          <a:p>
            <a:pPr>
              <a:spcAft>
                <a:spcPts val="1000"/>
              </a:spcAft>
            </a:pPr>
            <a:r>
              <a:rPr sz="2000">
                <a:solidFill>
                  <a:srgbClr val="222B33"/>
                </a:solidFill>
                <a:latin typeface="Microsoft YaHei"/>
              </a:rPr>
              <a:t>▪ 没沾污的东西，别往放射性桶里塞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只要使用放射性物质，就一定会产生放射性废物：接触过它的吸头、试管、手套、吸水纸、擦拭物和剩余溶液都被沾污了。放射性废物的暂存和处置成本高、周期长，最好的办法是从源头少产生。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一次领取远超实验所需的量</a:t>
            </a:r>
          </a:p>
          <a:p>
            <a:pPr>
              <a:spcAft>
                <a:spcPts val="1000"/>
              </a:spcAft>
            </a:pPr>
            <a:r>
              <a:rPr sz="1500">
                <a:solidFill>
                  <a:srgbClr val="222B33"/>
                </a:solidFill>
                <a:latin typeface="Microsoft YaHei"/>
              </a:rPr>
              <a:t>▪ 把干净的包装纸、纸箱都塞进放射性废物桶</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分类收集，不混不倒</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放射性废物单独收集，进专用容器</a:t>
            </a:r>
          </a:p>
          <a:p>
            <a:pPr>
              <a:spcAft>
                <a:spcPts val="1000"/>
              </a:spcAft>
            </a:pPr>
            <a:r>
              <a:rPr sz="1700">
                <a:solidFill>
                  <a:srgbClr val="222B33"/>
                </a:solidFill>
                <a:latin typeface="Microsoft YaHei"/>
              </a:rPr>
              <a:t>▪ 不混入普通垃圾、化学废物和医疗废物</a:t>
            </a:r>
          </a:p>
          <a:p>
            <a:pPr>
              <a:spcAft>
                <a:spcPts val="1000"/>
              </a:spcAft>
            </a:pPr>
            <a:r>
              <a:rPr sz="1700">
                <a:solidFill>
                  <a:srgbClr val="222B33"/>
                </a:solidFill>
                <a:latin typeface="Microsoft YaHei"/>
              </a:rPr>
              <a:t>▪ 放射性废液，绝不倒进下水道</a:t>
            </a:r>
          </a:p>
          <a:p>
            <a:pPr>
              <a:spcAft>
                <a:spcPts val="1000"/>
              </a:spcAft>
            </a:pPr>
            <a:r>
              <a:rPr sz="1700">
                <a:solidFill>
                  <a:srgbClr val="222B33"/>
                </a:solidFill>
                <a:latin typeface="Microsoft YaHei"/>
              </a:rPr>
              <a:t>▪ 固体、液体、锐器分开收集</a:t>
            </a:r>
          </a:p>
          <a:p>
            <a:pPr>
              <a:spcAft>
                <a:spcPts val="1000"/>
              </a:spcAft>
            </a:pPr>
            <a:r>
              <a:rPr sz="1700">
                <a:solidFill>
                  <a:srgbClr val="222B33"/>
                </a:solidFill>
                <a:latin typeface="Microsoft YaHei"/>
              </a:rPr>
              <a:t>▪ 不同核素、长短半衰期也要分开</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沾有放射性的废物（擦拭物、手套、吸头、吸水纸、剩余溶液等）一律放进带电离辐射警告标志的专用容器，单独收集；不得混入普通生活垃圾、化学废物或医疗废物，也不得自行焚烧、填埋（实验室废物总体分类见第 053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沾污的手套扔进普通垃圾桶</a:t>
            </a:r>
          </a:p>
          <a:p>
            <a:pPr>
              <a:spcAft>
                <a:spcPts val="1000"/>
              </a:spcAft>
            </a:pPr>
            <a:r>
              <a:rPr sz="1500">
                <a:solidFill>
                  <a:srgbClr val="222B33"/>
                </a:solidFill>
                <a:latin typeface="Microsoft YaHei"/>
              </a:rPr>
              <a:t>▪ 少量放射性废液“冲水稀释”倒进水槽</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专用容器与规范标签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专用容器有警告标志，盖子要盖严</a:t>
            </a:r>
          </a:p>
          <a:p>
            <a:pPr>
              <a:spcAft>
                <a:spcPts val="1000"/>
              </a:spcAft>
            </a:pPr>
            <a:r>
              <a:rPr sz="1700">
                <a:solidFill>
                  <a:srgbClr val="222B33"/>
                </a:solidFill>
                <a:latin typeface="Microsoft YaHei"/>
              </a:rPr>
              <a:t>▪ 标签写核素、活度、日期和责任人</a:t>
            </a:r>
          </a:p>
          <a:p>
            <a:pPr>
              <a:spcAft>
                <a:spcPts val="1000"/>
              </a:spcAft>
            </a:pPr>
            <a:r>
              <a:rPr sz="1700">
                <a:solidFill>
                  <a:srgbClr val="222B33"/>
                </a:solidFill>
                <a:latin typeface="Microsoft YaHei"/>
              </a:rPr>
              <a:t>▪ 如实填写，后面的人才能核对</a:t>
            </a:r>
          </a:p>
          <a:p>
            <a:pPr>
              <a:spcAft>
                <a:spcPts val="1000"/>
              </a:spcAft>
            </a:pPr>
            <a:r>
              <a:rPr sz="1700">
                <a:solidFill>
                  <a:srgbClr val="222B33"/>
                </a:solidFill>
                <a:latin typeface="Microsoft YaHei"/>
              </a:rPr>
              <a:t>▪ 容器外表面，不能有沾污</a:t>
            </a:r>
          </a:p>
          <a:p>
            <a:pPr>
              <a:spcAft>
                <a:spcPts val="1000"/>
              </a:spcAft>
            </a:pPr>
            <a:r>
              <a:rPr sz="1700">
                <a:solidFill>
                  <a:srgbClr val="222B33"/>
                </a:solidFill>
                <a:latin typeface="Microsoft YaHei"/>
              </a:rPr>
              <a:t>▪ 装满后密封，贴好规定的标签</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放射性废物容器要专用、结实、防漏，带盖（最好脚踏开盖，避免用手碰），外面有电离辐射警告标志；按需要放在屏蔽容器或屏蔽箱里。不用时盖严。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标签空着或只写“放射性”</a:t>
            </a:r>
          </a:p>
          <a:p>
            <a:pPr>
              <a:spcAft>
                <a:spcPts val="1000"/>
              </a:spcAft>
            </a:pPr>
            <a:r>
              <a:rPr sz="1500">
                <a:solidFill>
                  <a:srgbClr val="222B33"/>
                </a:solidFill>
                <a:latin typeface="Microsoft YaHei"/>
              </a:rPr>
              <a:t>▪ 废物袋装得太满，封不住口</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动物示踪实验的废物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示踪实验后，动物体内也有核素</a:t>
            </a:r>
          </a:p>
          <a:p>
            <a:pPr>
              <a:spcAft>
                <a:spcPts val="1000"/>
              </a:spcAft>
            </a:pPr>
            <a:r>
              <a:rPr sz="2000">
                <a:solidFill>
                  <a:srgbClr val="222B33"/>
                </a:solidFill>
                <a:latin typeface="Microsoft YaHei"/>
              </a:rPr>
              <a:t>▪ 排泄物和垫料，也带放射性</a:t>
            </a:r>
          </a:p>
          <a:p>
            <a:pPr>
              <a:spcAft>
                <a:spcPts val="1000"/>
              </a:spcAft>
            </a:pPr>
            <a:r>
              <a:rPr sz="2000">
                <a:solidFill>
                  <a:srgbClr val="222B33"/>
                </a:solidFill>
                <a:latin typeface="Microsoft YaHei"/>
              </a:rPr>
              <a:t>▪ 收进专用袋，标明核素和日期</a:t>
            </a:r>
          </a:p>
          <a:p>
            <a:pPr>
              <a:spcAft>
                <a:spcPts val="1000"/>
              </a:spcAft>
            </a:pPr>
            <a:r>
              <a:rPr sz="2000">
                <a:solidFill>
                  <a:srgbClr val="222B33"/>
                </a:solidFill>
                <a:latin typeface="Microsoft YaHei"/>
              </a:rPr>
              <a:t>▪ 尸体进专柜暂存，登记后按规定处理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用放射性核素做动物示踪实验后，动物体内带有核素，会随排泄物排出。给药后的动物应在指定区域饲养，笼具、垫料、排泄物都可能带有放射性。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把给药动物的垫料倒进普通垃圾</a:t>
            </a:r>
          </a:p>
          <a:p>
            <a:pPr>
              <a:spcAft>
                <a:spcPts val="1000"/>
              </a:spcAft>
            </a:pPr>
            <a:r>
              <a:rPr sz="1500">
                <a:solidFill>
                  <a:srgbClr val="222B33"/>
                </a:solidFill>
                <a:latin typeface="Microsoft YaHei"/>
              </a:rPr>
              <a:t>▪ 把带放射性的动物尸体放进公用尸体冷柜</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收集、核对与搬运防护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专人上门收集，送到专用暂存间</a:t>
            </a:r>
          </a:p>
          <a:p>
            <a:pPr>
              <a:spcAft>
                <a:spcPts val="1000"/>
              </a:spcAft>
            </a:pPr>
            <a:r>
              <a:rPr sz="1700">
                <a:solidFill>
                  <a:srgbClr val="222B33"/>
                </a:solidFill>
                <a:latin typeface="Microsoft YaHei"/>
              </a:rPr>
              <a:t>▪ 先检查评估，看清是什么废物</a:t>
            </a:r>
          </a:p>
          <a:p>
            <a:pPr>
              <a:spcAft>
                <a:spcPts val="1000"/>
              </a:spcAft>
            </a:pPr>
            <a:r>
              <a:rPr sz="1700">
                <a:solidFill>
                  <a:srgbClr val="222B33"/>
                </a:solidFill>
                <a:latin typeface="Microsoft YaHei"/>
              </a:rPr>
              <a:t>▪ 用仪器再测，核对标签上的活度</a:t>
            </a:r>
          </a:p>
          <a:p>
            <a:pPr>
              <a:spcAft>
                <a:spcPts val="1000"/>
              </a:spcAft>
            </a:pPr>
            <a:r>
              <a:rPr sz="1700">
                <a:solidFill>
                  <a:srgbClr val="222B33"/>
                </a:solidFill>
                <a:latin typeface="Microsoft YaHei"/>
              </a:rPr>
              <a:t>▪ 穿戴防护用推车，别抱在怀里</a:t>
            </a:r>
          </a:p>
          <a:p>
            <a:pPr>
              <a:spcAft>
                <a:spcPts val="1000"/>
              </a:spcAft>
            </a:pPr>
            <a:r>
              <a:rPr sz="1700">
                <a:solidFill>
                  <a:srgbClr val="222B33"/>
                </a:solidFill>
                <a:latin typeface="Microsoft YaHei"/>
              </a:rPr>
              <a:t>▪ 搬完测一测手和鞋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实验室的放射性废物由学校指定的专人定期上门收集，送到专用的放射性废物暂存间，实验室人员不自行搬运到校内其他地方。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学生自己把废物桶搬到楼外角落</a:t>
            </a:r>
          </a:p>
          <a:p>
            <a:pPr>
              <a:spcAft>
                <a:spcPts val="1000"/>
              </a:spcAft>
            </a:pPr>
            <a:r>
              <a:rPr sz="1500">
                <a:solidFill>
                  <a:srgbClr val="222B33"/>
                </a:solidFill>
                <a:latin typeface="Microsoft YaHei"/>
              </a:rPr>
              <a:t>▪ 收废物不核对标签和活度</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暂存间：专用、上锁、有台账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暂存间专用、上锁、有警告标志</a:t>
            </a:r>
          </a:p>
          <a:p>
            <a:pPr>
              <a:spcAft>
                <a:spcPts val="1000"/>
              </a:spcAft>
            </a:pPr>
            <a:r>
              <a:rPr sz="1700">
                <a:solidFill>
                  <a:srgbClr val="222B33"/>
                </a:solidFill>
                <a:latin typeface="Microsoft YaHei"/>
              </a:rPr>
              <a:t>▪ 进出登记，定期清点，账物相符</a:t>
            </a:r>
          </a:p>
          <a:p>
            <a:pPr>
              <a:spcAft>
                <a:spcPts val="1000"/>
              </a:spcAft>
            </a:pPr>
            <a:r>
              <a:rPr sz="1700">
                <a:solidFill>
                  <a:srgbClr val="222B33"/>
                </a:solidFill>
                <a:latin typeface="Microsoft YaHei"/>
              </a:rPr>
              <a:t>▪ 必要时加屏蔽，无关人员不得进入</a:t>
            </a:r>
          </a:p>
          <a:p>
            <a:pPr>
              <a:spcAft>
                <a:spcPts val="1000"/>
              </a:spcAft>
            </a:pPr>
            <a:r>
              <a:rPr sz="1700">
                <a:solidFill>
                  <a:srgbClr val="222B33"/>
                </a:solidFill>
                <a:latin typeface="Microsoft YaHei"/>
              </a:rPr>
              <a:t>▪ 暂存期间，安全和安保永远第一</a:t>
            </a:r>
          </a:p>
          <a:p>
            <a:pPr>
              <a:spcAft>
                <a:spcPts val="1000"/>
              </a:spcAft>
            </a:pPr>
            <a:r>
              <a:rPr sz="1700">
                <a:solidFill>
                  <a:srgbClr val="222B33"/>
                </a:solidFill>
                <a:latin typeface="Microsoft YaHei"/>
              </a:rPr>
              <a:t>▪ 教学楼不是长期仓库，不能久存</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放射性废物暂存间（库）要专用，防火、防水、防盗、防丢失，上锁并设电离辐射警告标志；按需要设置屏蔽和通风，周围剂量率满足要求；无关人员不得进入。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废物桶堆在走廊、楼梯间</a:t>
            </a:r>
          </a:p>
          <a:p>
            <a:pPr>
              <a:spcAft>
                <a:spcPts val="1000"/>
              </a:spcAft>
            </a:pPr>
            <a:r>
              <a:rPr sz="1500">
                <a:solidFill>
                  <a:srgbClr val="222B33"/>
                </a:solidFill>
                <a:latin typeface="Microsoft YaHei"/>
              </a:rPr>
              <a:t>▪ 暂存间不上锁、没有台账</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衰变暂存与清洁解控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短半衰期废物，可以存放等它衰变</a:t>
            </a:r>
          </a:p>
          <a:p>
            <a:pPr>
              <a:spcAft>
                <a:spcPts val="1000"/>
              </a:spcAft>
            </a:pPr>
            <a:r>
              <a:rPr sz="2000">
                <a:solidFill>
                  <a:srgbClr val="222B33"/>
                </a:solidFill>
                <a:latin typeface="Microsoft YaHei"/>
              </a:rPr>
              <a:t>▪ 半衰期短衰变快，半衰期长存得久</a:t>
            </a:r>
          </a:p>
          <a:p>
            <a:pPr>
              <a:spcAft>
                <a:spcPts val="1000"/>
              </a:spcAft>
            </a:pPr>
            <a:r>
              <a:rPr sz="2000">
                <a:solidFill>
                  <a:srgbClr val="222B33"/>
                </a:solidFill>
                <a:latin typeface="Microsoft YaHei"/>
              </a:rPr>
              <a:t>▪ 到期监测达标、经批准，才能解控</a:t>
            </a:r>
          </a:p>
          <a:p>
            <a:pPr>
              <a:spcAft>
                <a:spcPts val="1000"/>
              </a:spcAft>
            </a:pPr>
            <a:r>
              <a:rPr sz="2000">
                <a:solidFill>
                  <a:srgbClr val="222B33"/>
                </a:solidFill>
                <a:latin typeface="Microsoft YaHei"/>
              </a:rPr>
              <a:t>▪ 全程记录；时间和标准以现行规定为准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放射性会按半衰期自然衰减（见第 086 课）。短半衰期核素的废物，可以按核素分开，放在暂存间里衰变暂存：半衰期越短，需要存放的时间越短；半衰期长的核素存放时间很长，通常不适合衰变处理。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估计“差不多衰变完了”，不监测就当普通垃圾扔</a:t>
            </a:r>
          </a:p>
          <a:p>
            <a:pPr>
              <a:spcAft>
                <a:spcPts val="1000"/>
              </a:spcAft>
            </a:pPr>
            <a:r>
              <a:rPr sz="1500">
                <a:solidFill>
                  <a:srgbClr val="222B33"/>
                </a:solidFill>
                <a:latin typeface="Microsoft YaHei"/>
              </a:rPr>
              <a:t>▪ 长半衰期废物也混在衰变桶里等衰变</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长寿命废物交有资质单位收贮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不能衰变解控的废物交有资质单位收贮</a:t>
            </a:r>
          </a:p>
          <a:p>
            <a:pPr>
              <a:spcAft>
                <a:spcPts val="1000"/>
              </a:spcAft>
            </a:pPr>
            <a:r>
              <a:rPr sz="2000">
                <a:solidFill>
                  <a:srgbClr val="222B33"/>
                </a:solidFill>
                <a:latin typeface="Microsoft YaHei"/>
              </a:rPr>
              <a:t>▪ 医学和科研单位都会遇到废物去向问题</a:t>
            </a:r>
          </a:p>
          <a:p>
            <a:pPr>
              <a:spcAft>
                <a:spcPts val="1000"/>
              </a:spcAft>
            </a:pPr>
            <a:r>
              <a:rPr sz="2000">
                <a:solidFill>
                  <a:srgbClr val="222B33"/>
                </a:solidFill>
                <a:latin typeface="Microsoft YaHei"/>
              </a:rPr>
              <a:t>▪ 集中到专门设施，安全安保更稳妥</a:t>
            </a:r>
          </a:p>
          <a:p>
            <a:pPr>
              <a:spcAft>
                <a:spcPts val="1000"/>
              </a:spcAft>
            </a:pPr>
            <a:r>
              <a:rPr sz="2000">
                <a:solidFill>
                  <a:srgbClr val="222B33"/>
                </a:solidFill>
                <a:latin typeface="Microsoft YaHei"/>
              </a:rPr>
              <a:t>▪ 多是干燥固体，层层包装，不必恐慌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不能衰变解控的放射性废物（如长半衰期核素的废物、废旧放射源以外的其他放射性固体废物），按《放射性污染防治法》《放射性废物安全管理条例》（以现行文本为准）的要求，由学校统一送交有资质的放射性废物贮存或处置单位收贮（如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把长半衰期废物长期堆放在实验室“以后再说”</a:t>
            </a:r>
          </a:p>
          <a:p>
            <a:pPr>
              <a:spcAft>
                <a:spcPts val="1000"/>
              </a:spcAft>
            </a:pPr>
            <a:r>
              <a:rPr sz="1500">
                <a:solidFill>
                  <a:srgbClr val="222B33"/>
                </a:solidFill>
                <a:latin typeface="Microsoft YaHei"/>
              </a:rPr>
              <a:t>▪ 私下交给无资质的单位或个人</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下列做法中，不能防止放射性物质进入体内的是：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在托盘里操作并垫吸水纸</a:t>
            </a:r>
          </a:p>
          <a:p>
            <a:pPr algn="l"/>
            <a:r>
              <a:rPr sz="1500" b="0">
                <a:solidFill>
                  <a:srgbClr val="222B33"/>
                </a:solidFill>
                <a:latin typeface="Microsoft YaHei"/>
              </a:rPr>
              <a:t>B. 用移液器代替嘴吸</a:t>
            </a:r>
          </a:p>
          <a:p>
            <a:pPr algn="l"/>
            <a:r>
              <a:rPr sz="1500" b="0">
                <a:solidFill>
                  <a:srgbClr val="222B33"/>
                </a:solidFill>
                <a:latin typeface="Microsoft YaHei"/>
              </a:rPr>
              <a:t>C. 工作区内不饮食、不化妆</a:t>
            </a:r>
          </a:p>
          <a:p>
            <a:pPr algn="l"/>
            <a:r>
              <a:rPr sz="1500" b="0">
                <a:solidFill>
                  <a:srgbClr val="222B33"/>
                </a:solidFill>
                <a:latin typeface="Microsoft YaHei"/>
              </a:rPr>
              <a:t>D. 在源和人之间加铅砖就可以不戴手套</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判断：α 射线一张纸就能挡住，所以操作 α 核素的开放溶液不需要特别防护。</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做完放射性标记实验发现台面有一小片污染，正确的顺序是：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用纸从中心向外擦干净，不用报告</a:t>
            </a:r>
          </a:p>
          <a:p>
            <a:pPr algn="l"/>
            <a:r>
              <a:rPr sz="1500" b="0">
                <a:solidFill>
                  <a:srgbClr val="222B33"/>
                </a:solidFill>
                <a:latin typeface="Microsoft YaHei"/>
              </a:rPr>
              <a:t>B. 停下并盖住标出范围—报告—由外向内去污—复测记录</a:t>
            </a:r>
          </a:p>
          <a:p>
            <a:pPr algn="l"/>
            <a:r>
              <a:rPr sz="1500" b="0">
                <a:solidFill>
                  <a:srgbClr val="222B33"/>
                </a:solidFill>
                <a:latin typeface="Microsoft YaHei"/>
              </a:rPr>
              <a:t>C. 用水冲进水槽</a:t>
            </a:r>
          </a:p>
          <a:p>
            <a:pPr algn="l"/>
            <a:r>
              <a:rPr sz="1500" b="0">
                <a:solidFill>
                  <a:srgbClr val="222B33"/>
                </a:solidFill>
                <a:latin typeface="Microsoft YaHei"/>
              </a:rPr>
              <a:t>D. 先下班，第二天再处理</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关于放射性废物，下列说法正确的是：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少量放射性废液可以大量冲水后倒入下水道</a:t>
            </a:r>
          </a:p>
          <a:p>
            <a:pPr algn="l"/>
            <a:r>
              <a:rPr sz="1500" b="0">
                <a:solidFill>
                  <a:srgbClr val="222B33"/>
                </a:solidFill>
                <a:latin typeface="Microsoft YaHei"/>
              </a:rPr>
              <a:t>B. 沾污的手套可以扔进普通垃圾桶</a:t>
            </a:r>
          </a:p>
          <a:p>
            <a:pPr algn="l"/>
            <a:r>
              <a:rPr sz="1500" b="0">
                <a:solidFill>
                  <a:srgbClr val="222B33"/>
                </a:solidFill>
                <a:latin typeface="Microsoft YaHei"/>
              </a:rPr>
              <a:t>C. 短半衰期废物衰变暂存后，经监测达标并批准才能解控</a:t>
            </a:r>
          </a:p>
          <a:p>
            <a:pPr algn="l"/>
            <a:r>
              <a:rPr sz="1500" b="0">
                <a:solidFill>
                  <a:srgbClr val="222B33"/>
                </a:solidFill>
                <a:latin typeface="Microsoft YaHei"/>
              </a:rPr>
              <a:t>D. 长半衰期废物可以长期堆放在实验楼走廊</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091 · 非密封源操作与放射性废物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091 非密封源操作与放射性废物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判断：放射性废物标签只要写“放射性”三个字就可以。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简答：为什么不同半衰期的放射性废物要分开收集？</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放射性物质怎样进入体内</a:t>
            </a:r>
          </a:p>
          <a:p>
            <a:pPr>
              <a:spcAft>
                <a:spcPts val="800"/>
              </a:spcAft>
            </a:pPr>
            <a:r>
              <a:rPr sz="1500">
                <a:solidFill>
                  <a:srgbClr val="FFFFFF"/>
                </a:solidFill>
                <a:latin typeface="Microsoft YaHei"/>
              </a:rPr>
              <a:t>▪ K2  指定区域与专用设施</a:t>
            </a:r>
          </a:p>
          <a:p>
            <a:pPr>
              <a:spcAft>
                <a:spcPts val="800"/>
              </a:spcAft>
            </a:pPr>
            <a:r>
              <a:rPr sz="1500">
                <a:solidFill>
                  <a:srgbClr val="FFFFFF"/>
                </a:solidFill>
                <a:latin typeface="Microsoft YaHei"/>
              </a:rPr>
              <a:t>▪ K3  托盘、吸水纸与个人防护</a:t>
            </a:r>
          </a:p>
          <a:p>
            <a:pPr>
              <a:spcAft>
                <a:spcPts val="800"/>
              </a:spcAft>
            </a:pPr>
            <a:r>
              <a:rPr sz="1500">
                <a:solidFill>
                  <a:srgbClr val="FFFFFF"/>
                </a:solidFill>
                <a:latin typeface="Microsoft YaHei"/>
              </a:rPr>
              <a:t>▪ K4  工作区卫生纪律</a:t>
            </a:r>
          </a:p>
          <a:p>
            <a:pPr>
              <a:spcAft>
                <a:spcPts val="800"/>
              </a:spcAft>
            </a:pPr>
            <a:r>
              <a:rPr sz="1500">
                <a:solidFill>
                  <a:srgbClr val="FFFFFF"/>
                </a:solidFill>
                <a:latin typeface="Microsoft YaHei"/>
              </a:rPr>
              <a:t>▪ K5  操作后自检与擦拭监测</a:t>
            </a:r>
          </a:p>
          <a:p>
            <a:pPr>
              <a:spcAft>
                <a:spcPts val="800"/>
              </a:spcAft>
            </a:pPr>
            <a:r>
              <a:rPr sz="1500">
                <a:solidFill>
                  <a:srgbClr val="FFFFFF"/>
                </a:solidFill>
                <a:latin typeface="Microsoft YaHei"/>
              </a:rPr>
              <a:t>▪ K6  发现污染：围住、报告、去污、复测</a:t>
            </a:r>
          </a:p>
          <a:p>
            <a:pPr>
              <a:spcAft>
                <a:spcPts val="800"/>
              </a:spcAft>
            </a:pPr>
            <a:r>
              <a:rPr sz="1500">
                <a:solidFill>
                  <a:srgbClr val="FFFFFF"/>
                </a:solidFill>
                <a:latin typeface="Microsoft YaHei"/>
              </a:rPr>
              <a:t>▪ K7  天然放射性物质也要管</a:t>
            </a:r>
          </a:p>
          <a:p>
            <a:pPr>
              <a:spcAft>
                <a:spcPts val="800"/>
              </a:spcAft>
            </a:pPr>
            <a:r>
              <a:rPr sz="1500">
                <a:solidFill>
                  <a:srgbClr val="FFFFFF"/>
                </a:solidFill>
                <a:latin typeface="Microsoft YaHei"/>
              </a:rPr>
              <a:t>▪ K8  源头减少放射性废物</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分类收集，不混不倒</a:t>
            </a:r>
          </a:p>
          <a:p>
            <a:pPr>
              <a:spcAft>
                <a:spcPts val="800"/>
              </a:spcAft>
            </a:pPr>
            <a:r>
              <a:rPr sz="1500">
                <a:solidFill>
                  <a:srgbClr val="FFFFFF"/>
                </a:solidFill>
                <a:latin typeface="Microsoft YaHei"/>
              </a:rPr>
              <a:t>▪ K10  专用容器与规范标签</a:t>
            </a:r>
          </a:p>
          <a:p>
            <a:pPr>
              <a:spcAft>
                <a:spcPts val="800"/>
              </a:spcAft>
            </a:pPr>
            <a:r>
              <a:rPr sz="1500">
                <a:solidFill>
                  <a:srgbClr val="FFFFFF"/>
                </a:solidFill>
                <a:latin typeface="Microsoft YaHei"/>
              </a:rPr>
              <a:t>▪ K11  动物示踪实验的废物</a:t>
            </a:r>
          </a:p>
          <a:p>
            <a:pPr>
              <a:spcAft>
                <a:spcPts val="800"/>
              </a:spcAft>
            </a:pPr>
            <a:r>
              <a:rPr sz="1500">
                <a:solidFill>
                  <a:srgbClr val="FFFFFF"/>
                </a:solidFill>
                <a:latin typeface="Microsoft YaHei"/>
              </a:rPr>
              <a:t>▪ K12  收集、核对与搬运防护</a:t>
            </a:r>
          </a:p>
          <a:p>
            <a:pPr>
              <a:spcAft>
                <a:spcPts val="800"/>
              </a:spcAft>
            </a:pPr>
            <a:r>
              <a:rPr sz="1500">
                <a:solidFill>
                  <a:srgbClr val="FFFFFF"/>
                </a:solidFill>
                <a:latin typeface="Microsoft YaHei"/>
              </a:rPr>
              <a:t>▪ K13  暂存间：专用、上锁、有台账</a:t>
            </a:r>
          </a:p>
          <a:p>
            <a:pPr>
              <a:spcAft>
                <a:spcPts val="800"/>
              </a:spcAft>
            </a:pPr>
            <a:r>
              <a:rPr sz="1500">
                <a:solidFill>
                  <a:srgbClr val="FFFFFF"/>
                </a:solidFill>
                <a:latin typeface="Microsoft YaHei"/>
              </a:rPr>
              <a:t>▪ K14  衰变暂存与清洁解控</a:t>
            </a:r>
          </a:p>
          <a:p>
            <a:pPr>
              <a:spcAft>
                <a:spcPts val="800"/>
              </a:spcAft>
            </a:pPr>
            <a:r>
              <a:rPr sz="1500">
                <a:solidFill>
                  <a:srgbClr val="FFFFFF"/>
                </a:solidFill>
                <a:latin typeface="Microsoft YaHei"/>
              </a:rPr>
              <a:t>▪ K15  长寿命废物交有资质单位收贮</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092</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辐射监测仪器</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75 镜）　适用对象：使用放射性同位素、密封放射源或射线装置的本科生、研究生和教职工（辐射类必修），以及负责辐射工作场所监测和个人剂量管理的实验室负责人、管理人员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能说出巡测仪（盖革计数器、电离室）、表面污染仪和个人剂量计各回答什么问题，能按任务选对仪器。</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能做到使用前检查仪器检定状态、电池和本底，测量时扣除本底，知道读数低不等于安全。</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能说出热释光等累积型剂量计、笔形剂量计和电子报警剂量计的特点，能做到正确佩戴、保管和按期送检，报警时停手离开并报告。</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能看懂个人剂量报告的主要内容，知道监测结果要记录、建档和核对。</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《放射性同位素与射线装置安全和防护管理办法》（以现行文本为准）：工作场所监测、个人剂量监测、年度评估</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《放射工作人员职业健康管理办法》（以现行文本为准）：个人剂量监测、个人剂量档案</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18871-2002（以现行文本为准）《电离辐射防护与辐射源安全基本标准》：职业照射监测与评价</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128（以现行文本为准）《职业性外照射个人监测规范》：剂量计佩戴位置、监测周期</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《中华人民共和国计量法》（以现行文本为准）：用于安全防护的计量器具检定</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本校辐射安全管理规定（以本校规定为准）</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辐射看不见，靠仪器探测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辐射看不见、闻不到、听不到</a:t>
            </a:r>
          </a:p>
          <a:p>
            <a:pPr>
              <a:spcAft>
                <a:spcPts val="1000"/>
              </a:spcAft>
            </a:pPr>
            <a:r>
              <a:rPr sz="2000">
                <a:solidFill>
                  <a:srgbClr val="222B33"/>
                </a:solidFill>
                <a:latin typeface="Microsoft YaHei"/>
              </a:rPr>
              <a:t>▪ 仪器靠电离、闪光等效应发现辐射</a:t>
            </a:r>
          </a:p>
          <a:p>
            <a:pPr>
              <a:spcAft>
                <a:spcPts val="1000"/>
              </a:spcAft>
            </a:pPr>
            <a:r>
              <a:rPr sz="2000">
                <a:solidFill>
                  <a:srgbClr val="222B33"/>
                </a:solidFill>
                <a:latin typeface="Microsoft YaHei"/>
              </a:rPr>
              <a:t>▪ 常见气体、闪烁体、半导体三类探测器</a:t>
            </a:r>
          </a:p>
          <a:p>
            <a:pPr>
              <a:spcAft>
                <a:spcPts val="1000"/>
              </a:spcAft>
            </a:pPr>
            <a:r>
              <a:rPr sz="2000">
                <a:solidFill>
                  <a:srgbClr val="222B33"/>
                </a:solidFill>
                <a:latin typeface="Microsoft YaHei"/>
              </a:rPr>
              <a:t>▪ 测到的数除以发出的数，叫探测效率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电离辐射无色、无味、无声，人的感官察觉不到；等到身体有感觉，往往已经受到了很大的剂量。所以辐射防护离不开测量：现场剂量测量就是在工作现场实测“这里有多少辐射”“人受了多少”。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以为没感觉就是没有辐射</a:t>
            </a:r>
          </a:p>
          <a:p>
            <a:pPr>
              <a:spcAft>
                <a:spcPts val="1000"/>
              </a:spcAft>
            </a:pPr>
            <a:r>
              <a:rPr sz="1500">
                <a:solidFill>
                  <a:srgbClr val="222B33"/>
                </a:solidFill>
                <a:latin typeface="Microsoft YaHei"/>
              </a:rPr>
              <a:t>▪ 把计数率直接当作源的活度或剂量率</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两个问题：场所多少，个人多少</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现场监测回答两个问题：场所和个人</a:t>
            </a:r>
          </a:p>
          <a:p>
            <a:pPr>
              <a:spcAft>
                <a:spcPts val="1000"/>
              </a:spcAft>
            </a:pPr>
            <a:r>
              <a:rPr sz="2000">
                <a:solidFill>
                  <a:srgbClr val="222B33"/>
                </a:solidFill>
                <a:latin typeface="Microsoft YaHei"/>
              </a:rPr>
              <a:t>▪ 巡测仪测剂量率：查屏蔽、定边界</a:t>
            </a:r>
          </a:p>
          <a:p>
            <a:pPr>
              <a:spcAft>
                <a:spcPts val="1000"/>
              </a:spcAft>
            </a:pPr>
            <a:r>
              <a:rPr sz="2000">
                <a:solidFill>
                  <a:srgbClr val="222B33"/>
                </a:solidFill>
                <a:latin typeface="Microsoft YaHei"/>
              </a:rPr>
              <a:t>▪ 个人剂量计记自己累计受了多少</a:t>
            </a:r>
          </a:p>
          <a:p>
            <a:pPr>
              <a:spcAft>
                <a:spcPts val="1000"/>
              </a:spcAft>
            </a:pPr>
            <a:r>
              <a:rPr sz="2000">
                <a:solidFill>
                  <a:srgbClr val="222B33"/>
                </a:solidFill>
                <a:latin typeface="Microsoft YaHei"/>
              </a:rPr>
              <a:t>▪ 查表面污染，用表面污染仪</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辐射监测要回答两个不同的问题。第一，这里有多少辐射？用剂量率巡测仪（盖革计数器或电离室巡测仪）测量周围的辐射水平（剂量率），用来检查屏蔽有没有泄漏、确定控制区和警戒区的边界。第二，这个人受了多少？用个人剂量计记录佩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用个人剂量计去“测”源罐或屏蔽墙</a:t>
            </a:r>
          </a:p>
          <a:p>
            <a:pPr>
              <a:spcAft>
                <a:spcPts val="1000"/>
              </a:spcAft>
            </a:pPr>
            <a:r>
              <a:rPr sz="1500">
                <a:solidFill>
                  <a:srgbClr val="222B33"/>
                </a:solidFill>
                <a:latin typeface="Microsoft YaHei"/>
              </a:rPr>
              <a:t>▪ 以为有了巡测仪就不用戴个人剂量计</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盖革计数器：灵敏，会数数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射线进管，放大成一个电脉冲</a:t>
            </a:r>
          </a:p>
          <a:p>
            <a:pPr>
              <a:spcAft>
                <a:spcPts val="1000"/>
              </a:spcAft>
            </a:pPr>
            <a:r>
              <a:rPr sz="2000">
                <a:solidFill>
                  <a:srgbClr val="222B33"/>
                </a:solidFill>
                <a:latin typeface="Microsoft YaHei"/>
              </a:rPr>
              <a:t>▪ 来一个粒子，读数就加一</a:t>
            </a:r>
          </a:p>
          <a:p>
            <a:pPr>
              <a:spcAft>
                <a:spcPts val="1000"/>
              </a:spcAft>
            </a:pPr>
            <a:r>
              <a:rPr sz="2000">
                <a:solidFill>
                  <a:srgbClr val="222B33"/>
                </a:solidFill>
                <a:latin typeface="Microsoft YaHei"/>
              </a:rPr>
              <a:t>▪ 便携、结实、用电池，适合找污染</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盖革计数器（盖革–米勒计数器）由充气的盖革管（探头）和主机组成。射线进入管内使气体电离，在高电压下电离不断放大，形成一个电脉冲；主机对脉冲计数，显示计数率。每测到一个射线粒子，读数就加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把计数率读数直接当成剂量率</a:t>
            </a:r>
          </a:p>
          <a:p>
            <a:pPr>
              <a:spcAft>
                <a:spcPts val="1000"/>
              </a:spcAft>
            </a:pPr>
            <a:r>
              <a:rPr sz="1500">
                <a:solidFill>
                  <a:srgbClr val="222B33"/>
                </a:solidFill>
                <a:latin typeface="Microsoft YaHei"/>
              </a:rPr>
              <a:t>▪ 用探头直接接触可能沾污的表面</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盖革计数器的局限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只听见敲门，不知道门外是谁</a:t>
            </a:r>
          </a:p>
          <a:p>
            <a:pPr>
              <a:spcAft>
                <a:spcPts val="1000"/>
              </a:spcAft>
            </a:pPr>
            <a:r>
              <a:rPr sz="1700">
                <a:solidFill>
                  <a:srgbClr val="222B33"/>
                </a:solidFill>
                <a:latin typeface="Microsoft YaHei"/>
              </a:rPr>
              <a:t>▪ 分不清 α、β、γ，也分不清能量</a:t>
            </a:r>
          </a:p>
          <a:p>
            <a:pPr>
              <a:spcAft>
                <a:spcPts val="1000"/>
              </a:spcAft>
            </a:pPr>
            <a:r>
              <a:rPr sz="1700">
                <a:solidFill>
                  <a:srgbClr val="222B33"/>
                </a:solidFill>
                <a:latin typeface="Microsoft YaHei"/>
              </a:rPr>
              <a:t>▪ 射线太强会漏数，反而低报危险</a:t>
            </a:r>
          </a:p>
          <a:p>
            <a:pPr>
              <a:spcAft>
                <a:spcPts val="1000"/>
              </a:spcAft>
            </a:pPr>
            <a:r>
              <a:rPr sz="1700">
                <a:solidFill>
                  <a:srgbClr val="222B33"/>
                </a:solidFill>
                <a:latin typeface="Microsoft YaHei"/>
              </a:rPr>
              <a:t>▪ 对中子基本没有响应</a:t>
            </a:r>
          </a:p>
          <a:p>
            <a:pPr>
              <a:spcAft>
                <a:spcPts val="1000"/>
              </a:spcAft>
            </a:pPr>
            <a:r>
              <a:rPr sz="1700">
                <a:solidFill>
                  <a:srgbClr val="222B33"/>
                </a:solidFill>
                <a:latin typeface="Microsoft YaHei"/>
              </a:rPr>
              <a:t>▪ 要分辨种类和能量，换合适的仪器</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盖革计数器像关着门只听见敲门声：知道有射线进来，却不知道是哪种射线、能量多高。每个粒子产生的脉冲大小都一样，所以它分不清 α、β、γ，也分不清能量。像含钍化合物这类同时发出几种射线的物质，要知道射线种类和能量，得用能……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在强辐射场里只用盖革计数器测剂量率</a:t>
            </a:r>
          </a:p>
          <a:p>
            <a:pPr>
              <a:spcAft>
                <a:spcPts val="1000"/>
              </a:spcAft>
            </a:pPr>
            <a:r>
              <a:rPr sz="1500">
                <a:solidFill>
                  <a:srgbClr val="222B33"/>
                </a:solidFill>
                <a:latin typeface="Microsoft YaHei"/>
              </a:rPr>
              <a:t>▪ 用盖革计数器判断中子场是否安全</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电离室巡测仪：测剂量率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电离室收集离子，测连续的电流</a:t>
            </a:r>
          </a:p>
          <a:p>
            <a:pPr>
              <a:spcAft>
                <a:spcPts val="1000"/>
              </a:spcAft>
            </a:pPr>
            <a:r>
              <a:rPr sz="2000">
                <a:solidFill>
                  <a:srgbClr val="222B33"/>
                </a:solidFill>
                <a:latin typeface="Microsoft YaHei"/>
              </a:rPr>
              <a:t>▪ 直接读出剂量率，就是每小时多少</a:t>
            </a:r>
          </a:p>
          <a:p>
            <a:pPr>
              <a:spcAft>
                <a:spcPts val="1000"/>
              </a:spcAft>
            </a:pPr>
            <a:r>
              <a:rPr sz="2000">
                <a:solidFill>
                  <a:srgbClr val="222B33"/>
                </a:solidFill>
                <a:latin typeface="Microsoft YaHei"/>
              </a:rPr>
              <a:t>▪ 量程宽、读数准，但不够灵敏</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电离室巡测仪不数单个脉冲，而是收集射线在气体中产生的离子，测量连续的电离电流；电流大小与辐射水平成正比，可以直接读出剂量率（单位时间的剂量，如每小时多少微希沃特，单位见第 087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用电离室找微量污染，读数不变就认为没有污染</a:t>
            </a:r>
          </a:p>
          <a:p>
            <a:pPr>
              <a:spcAft>
                <a:spcPts val="1000"/>
              </a:spcAft>
            </a:pPr>
            <a:r>
              <a:rPr sz="1500">
                <a:solidFill>
                  <a:srgbClr val="222B33"/>
                </a:solidFill>
                <a:latin typeface="Microsoft YaHei"/>
              </a:rPr>
              <a:t>▪ 只看读数不看单位（计数率还是剂量率）</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按任务选仪器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找污染用盖革，测剂量率用电离室</a:t>
            </a:r>
          </a:p>
          <a:p>
            <a:pPr>
              <a:spcAft>
                <a:spcPts val="1000"/>
              </a:spcAft>
            </a:pPr>
            <a:r>
              <a:rPr sz="2000">
                <a:solidFill>
                  <a:srgbClr val="222B33"/>
                </a:solidFill>
                <a:latin typeface="Microsoft YaHei"/>
              </a:rPr>
              <a:t>▪ 盖革灵敏，电离室准确</a:t>
            </a:r>
          </a:p>
          <a:p>
            <a:pPr>
              <a:spcAft>
                <a:spcPts val="1000"/>
              </a:spcAft>
            </a:pPr>
            <a:r>
              <a:rPr sz="2000">
                <a:solidFill>
                  <a:srgbClr val="222B33"/>
                </a:solidFill>
                <a:latin typeface="Microsoft YaHei"/>
              </a:rPr>
              <a:t>▪ 强场里，电离室更可靠</a:t>
            </a:r>
          </a:p>
          <a:p>
            <a:pPr>
              <a:spcAft>
                <a:spcPts val="1000"/>
              </a:spcAft>
            </a:pPr>
            <a:r>
              <a:rPr sz="2000">
                <a:solidFill>
                  <a:srgbClr val="222B33"/>
                </a:solidFill>
                <a:latin typeface="Microsoft YaHei"/>
              </a:rPr>
              <a:t>▪ 两台仪器配合，各取所长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选仪器先想清楚要回答什么问题：找污染、查有无微量放射性，用灵敏的盖革计数器或表面污染仪；测工作位置、屏蔽外、走廊的剂量率，用电离室巡测仪或经刻度的剂量率仪。盖革灵敏，电离室准确；在强辐射场中电离室更可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一台仪器包打天下</a:t>
            </a:r>
          </a:p>
          <a:p>
            <a:pPr>
              <a:spcAft>
                <a:spcPts val="1000"/>
              </a:spcAft>
            </a:pPr>
            <a:r>
              <a:rPr sz="1500">
                <a:solidFill>
                  <a:srgbClr val="222B33"/>
                </a:solidFill>
                <a:latin typeface="Microsoft YaHei"/>
              </a:rPr>
              <a:t>▪ 不看射线种类就随手拿一台仪器测</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先测本底，再扣本底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不放源，计数器也会跳数</a:t>
            </a:r>
          </a:p>
          <a:p>
            <a:pPr>
              <a:spcAft>
                <a:spcPts val="1000"/>
              </a:spcAft>
            </a:pPr>
            <a:r>
              <a:rPr sz="2000">
                <a:solidFill>
                  <a:srgbClr val="222B33"/>
                </a:solidFill>
                <a:latin typeface="Microsoft YaHei"/>
              </a:rPr>
              <a:t>▪ 先把源收回屏蔽罐，测一段本底</a:t>
            </a:r>
          </a:p>
          <a:p>
            <a:pPr>
              <a:spcAft>
                <a:spcPts val="1000"/>
              </a:spcAft>
            </a:pPr>
            <a:r>
              <a:rPr sz="2000">
                <a:solidFill>
                  <a:srgbClr val="222B33"/>
                </a:solidFill>
                <a:latin typeface="Microsoft YaHei"/>
              </a:rPr>
              <a:t>▪ 样品测同样长时间，减掉本底才是源</a:t>
            </a:r>
          </a:p>
          <a:p>
            <a:pPr>
              <a:spcAft>
                <a:spcPts val="1000"/>
              </a:spcAft>
            </a:pPr>
            <a:r>
              <a:rPr sz="2000">
                <a:solidFill>
                  <a:srgbClr val="222B33"/>
                </a:solidFill>
                <a:latin typeface="Microsoft YaHei"/>
              </a:rPr>
              <a:t>▪ 信号太弱的实验，要建到地下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没有放源，计数器也会跳数：宇宙线、墙壁、地面和空气中都有天然放射性（本底）。探测器只“数”能量沉积，不认射线是从哪里来的。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不测本底，把本底读数当成污染或源的贡献</a:t>
            </a:r>
          </a:p>
          <a:p>
            <a:pPr>
              <a:spcAft>
                <a:spcPts val="1000"/>
              </a:spcAft>
            </a:pPr>
            <a:r>
              <a:rPr sz="1500">
                <a:solidFill>
                  <a:srgbClr val="222B33"/>
                </a:solidFill>
                <a:latin typeface="Microsoft YaHei"/>
              </a:rPr>
              <a:t>▪ 测本底时源还放在探测器旁边</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检定校准与使用前检查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仪器按规定定期检定或校准</a:t>
            </a:r>
          </a:p>
          <a:p>
            <a:pPr>
              <a:spcAft>
                <a:spcPts val="1000"/>
              </a:spcAft>
            </a:pPr>
            <a:r>
              <a:rPr sz="2000">
                <a:solidFill>
                  <a:srgbClr val="222B33"/>
                </a:solidFill>
                <a:latin typeface="Microsoft YaHei"/>
              </a:rPr>
              <a:t>▪ 超期未检，读数不能作数</a:t>
            </a:r>
          </a:p>
          <a:p>
            <a:pPr>
              <a:spcAft>
                <a:spcPts val="1000"/>
              </a:spcAft>
            </a:pPr>
            <a:r>
              <a:rPr sz="2000">
                <a:solidFill>
                  <a:srgbClr val="222B33"/>
                </a:solidFill>
                <a:latin typeface="Microsoft YaHei"/>
              </a:rPr>
              <a:t>▪ 用前查电池、外观和状态，再测本底</a:t>
            </a:r>
          </a:p>
          <a:p>
            <a:pPr>
              <a:spcAft>
                <a:spcPts val="1000"/>
              </a:spcAft>
            </a:pPr>
            <a:r>
              <a:rPr sz="2000">
                <a:solidFill>
                  <a:srgbClr val="222B33"/>
                </a:solidFill>
                <a:latin typeface="Microsoft YaHei"/>
              </a:rPr>
              <a:t>▪ 看清能量：校准能量不对会失准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用于辐射防护的监测仪器属于需要定期检定或校准的计量器具（按《中华人民共和国计量法》和主管部门要求，以现行文本为准），由有资质的计量机构定期检定或校准，仪器上贴合格标识；超过有效期或检定不合格的仪器，读数不能作为依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拿超期未检的仪器测量并据此判断安全</a:t>
            </a:r>
          </a:p>
          <a:p>
            <a:pPr>
              <a:spcAft>
                <a:spcPts val="1000"/>
              </a:spcAft>
            </a:pPr>
            <a:r>
              <a:rPr sz="1500">
                <a:solidFill>
                  <a:srgbClr val="222B33"/>
                </a:solidFill>
                <a:latin typeface="Microsoft YaHei"/>
              </a:rPr>
              <a:t>▪ 开机不检查电池和本底就测量</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读数低不等于安全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读数为零，不一定就是安全</a:t>
            </a:r>
          </a:p>
          <a:p>
            <a:pPr>
              <a:spcAft>
                <a:spcPts val="1000"/>
              </a:spcAft>
            </a:pPr>
            <a:r>
              <a:rPr sz="2000">
                <a:solidFill>
                  <a:srgbClr val="222B33"/>
                </a:solidFill>
                <a:latin typeface="Microsoft YaHei"/>
              </a:rPr>
              <a:t>▪ 可能选错仪器、没电或者饱和</a:t>
            </a:r>
          </a:p>
          <a:p>
            <a:pPr>
              <a:spcAft>
                <a:spcPts val="1000"/>
              </a:spcAft>
            </a:pPr>
            <a:r>
              <a:rPr sz="2000">
                <a:solidFill>
                  <a:srgbClr val="222B33"/>
                </a:solidFill>
                <a:latin typeface="Microsoft YaHei"/>
              </a:rPr>
              <a:t>▪ 拿不准，换一台仪器复核</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读数为零或很低，不一定代表安全。可能是选错了仪器（如用盖革计数器测中子、用 γ 探头测低能 β），可能是电池没电、仪器故障或没开机，也可能是辐射场太强，有的计数器饱和后反而显示很低的读数（见 K4）。</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读数为零就认为源已经收好</a:t>
            </a:r>
          </a:p>
          <a:p>
            <a:pPr>
              <a:spcAft>
                <a:spcPts val="1000"/>
              </a:spcAft>
            </a:pPr>
            <a:r>
              <a:rPr sz="1500">
                <a:solidFill>
                  <a:srgbClr val="222B33"/>
                </a:solidFill>
                <a:latin typeface="Microsoft YaHei"/>
              </a:rPr>
              <a:t>▪ 读数异常时只拍拍仪器，不复核</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场所监测：测哪里、怎么记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可能受照的地方都要测，包括走廊</a:t>
            </a:r>
          </a:p>
          <a:p>
            <a:pPr>
              <a:spcAft>
                <a:spcPts val="1000"/>
              </a:spcAft>
            </a:pPr>
            <a:r>
              <a:rPr sz="2000">
                <a:solidFill>
                  <a:srgbClr val="222B33"/>
                </a:solidFill>
                <a:latin typeface="Microsoft YaHei"/>
              </a:rPr>
              <a:t>▪ 结合使用频率，估算最大可能受照</a:t>
            </a:r>
          </a:p>
          <a:p>
            <a:pPr>
              <a:spcAft>
                <a:spcPts val="1000"/>
              </a:spcAft>
            </a:pPr>
            <a:r>
              <a:rPr sz="2000">
                <a:solidFill>
                  <a:srgbClr val="222B33"/>
                </a:solidFill>
                <a:latin typeface="Microsoft YaHei"/>
              </a:rPr>
              <a:t>▪ 每次测量都记录，存档备查</a:t>
            </a:r>
          </a:p>
          <a:p>
            <a:pPr>
              <a:spcAft>
                <a:spcPts val="1000"/>
              </a:spcAft>
            </a:pPr>
            <a:r>
              <a:rPr sz="2000">
                <a:solidFill>
                  <a:srgbClr val="222B33"/>
                </a:solidFill>
                <a:latin typeface="Microsoft YaHei"/>
              </a:rPr>
              <a:t>▪ 读数异常：停手、退开、马上报告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工作场所监测要覆盖所有可能受照的位置：操作位、屏蔽体外表面、门口和缝隙、走廊、相邻房间和楼上楼下等公众可能停留的区域。再结合设备或源的使用频率和人员停留时间，估算工作人员和公众可能受到的最大剂量，判断屏蔽和分区是否合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只测操作位，不测门口、走廊和隔壁</a:t>
            </a:r>
          </a:p>
          <a:p>
            <a:pPr>
              <a:spcAft>
                <a:spcPts val="1000"/>
              </a:spcAft>
            </a:pPr>
            <a:r>
              <a:rPr sz="1500">
                <a:solidFill>
                  <a:srgbClr val="222B33"/>
                </a:solidFill>
                <a:latin typeface="Microsoft YaHei"/>
              </a:rPr>
              <a:t>▪ 测了不记录，出了问题无法追溯</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从区域监测到个人剂量监测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区域监测只给出房间的整体情况</a:t>
            </a:r>
          </a:p>
          <a:p>
            <a:pPr>
              <a:spcAft>
                <a:spcPts val="1000"/>
              </a:spcAft>
            </a:pPr>
            <a:r>
              <a:rPr sz="2000">
                <a:solidFill>
                  <a:srgbClr val="222B33"/>
                </a:solidFill>
                <a:latin typeface="Microsoft YaHei"/>
              </a:rPr>
              <a:t>▪ 人在走动，每个人都要单独记录</a:t>
            </a:r>
          </a:p>
          <a:p>
            <a:pPr>
              <a:spcAft>
                <a:spcPts val="1000"/>
              </a:spcAft>
            </a:pPr>
            <a:r>
              <a:rPr sz="2000">
                <a:solidFill>
                  <a:srgbClr val="222B33"/>
                </a:solidFill>
                <a:latin typeface="Microsoft YaHei"/>
              </a:rPr>
              <a:t>▪ 进入辐射工作场所，按规定戴剂量计</a:t>
            </a:r>
          </a:p>
          <a:p>
            <a:pPr>
              <a:spcAft>
                <a:spcPts val="1000"/>
              </a:spcAft>
            </a:pPr>
            <a:r>
              <a:rPr sz="2000">
                <a:solidFill>
                  <a:srgbClr val="222B33"/>
                </a:solidFill>
                <a:latin typeface="Microsoft YaHei"/>
              </a:rPr>
              <a:t>▪ 按评估确定监测人员，孕期加强监测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区域监测给出房间的整体辐射水平，但人在不停走动，离源的远近、停留的时间一直在变，单靠区域读数算不准每个人受了多少。所以从事辐射工作的人员要进行个人剂量监测，持续记录每个人的累计剂量。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以为房间有监测仪就不需要个人剂量计</a:t>
            </a:r>
          </a:p>
          <a:p>
            <a:pPr>
              <a:spcAft>
                <a:spcPts val="1000"/>
              </a:spcAft>
            </a:pPr>
            <a:r>
              <a:rPr sz="1500">
                <a:solidFill>
                  <a:srgbClr val="222B33"/>
                </a:solidFill>
                <a:latin typeface="Microsoft YaHei"/>
              </a:rPr>
              <a:t>▪ 偶尔进入辐射工作场所就不登记、不监测</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累积型个人剂量计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热释光：先存下能量，加热放出光</a:t>
            </a:r>
          </a:p>
          <a:p>
            <a:pPr>
              <a:spcAft>
                <a:spcPts val="1000"/>
              </a:spcAft>
            </a:pPr>
            <a:r>
              <a:rPr sz="2000">
                <a:solidFill>
                  <a:srgbClr val="222B33"/>
                </a:solidFill>
                <a:latin typeface="Microsoft YaHei"/>
              </a:rPr>
              <a:t>▪ 和对照剂量计比较，算出个人剂量</a:t>
            </a:r>
          </a:p>
          <a:p>
            <a:pPr>
              <a:spcAft>
                <a:spcPts val="1000"/>
              </a:spcAft>
            </a:pPr>
            <a:r>
              <a:rPr sz="2000">
                <a:solidFill>
                  <a:srgbClr val="222B33"/>
                </a:solidFill>
                <a:latin typeface="Microsoft YaHei"/>
              </a:rPr>
              <a:t>▪ 胶片、光释光也要送去测读</a:t>
            </a:r>
          </a:p>
          <a:p>
            <a:pPr>
              <a:spcAft>
                <a:spcPts val="1000"/>
              </a:spcAft>
            </a:pPr>
            <a:r>
              <a:rPr sz="2000">
                <a:solidFill>
                  <a:srgbClr val="222B33"/>
                </a:solidFill>
                <a:latin typeface="Microsoft YaHei"/>
              </a:rPr>
              <a:t>▪ 它们留下记录，可以长期存档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累积型个人剂量计佩戴一个周期后送去测读，得出这段时间的累计剂量。热释光剂量计（TLD）的探测元件受照后把能量“存”在晶体里，测读时加热，能量以光的形式放出，光的多少与剂量成正比；与同批未佩戴的对照（本底）剂量计比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以为剂量计会“当场显示”而随便看看就算</a:t>
            </a:r>
          </a:p>
          <a:p>
            <a:pPr>
              <a:spcAft>
                <a:spcPts val="1000"/>
              </a:spcAft>
            </a:pPr>
            <a:r>
              <a:rPr sz="1500">
                <a:solidFill>
                  <a:srgbClr val="222B33"/>
                </a:solidFill>
                <a:latin typeface="Microsoft YaHei"/>
              </a:rPr>
              <a:t>▪ 剂量计戴完不交回测读</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笔形剂量计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笔形剂量计，是个密封的小电离室</a:t>
            </a:r>
          </a:p>
          <a:p>
            <a:pPr>
              <a:spcAft>
                <a:spcPts val="1000"/>
              </a:spcAft>
            </a:pPr>
            <a:r>
              <a:rPr sz="2000">
                <a:solidFill>
                  <a:srgbClr val="222B33"/>
                </a:solidFill>
                <a:latin typeface="Microsoft YaHei"/>
              </a:rPr>
              <a:t>▪ 充电归零，受照后细丝慢慢移动</a:t>
            </a:r>
          </a:p>
          <a:p>
            <a:pPr>
              <a:spcAft>
                <a:spcPts val="1000"/>
              </a:spcAft>
            </a:pPr>
            <a:r>
              <a:rPr sz="2000">
                <a:solidFill>
                  <a:srgbClr val="222B33"/>
                </a:solidFill>
                <a:latin typeface="Microsoft YaHei"/>
              </a:rPr>
              <a:t>▪ 对着光一看，当场读出累计剂量</a:t>
            </a:r>
          </a:p>
          <a:p>
            <a:pPr>
              <a:spcAft>
                <a:spcPts val="1000"/>
              </a:spcAft>
            </a:pPr>
            <a:r>
              <a:rPr sz="2000">
                <a:solidFill>
                  <a:srgbClr val="222B33"/>
                </a:solidFill>
                <a:latin typeface="Microsoft YaHei"/>
              </a:rPr>
              <a:t>▪ 会漏电、不留记录，用前要重新归零</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笔形（袖珍）剂量计看起来像一支笔：笔身是密封充气的小电离室，里面悬着一根极细的石英丝，一头是带刻度的目镜，一头是充电触点。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用前不归零，把漂移当作剂量</a:t>
            </a:r>
          </a:p>
          <a:p>
            <a:pPr>
              <a:spcAft>
                <a:spcPts val="1000"/>
              </a:spcAft>
            </a:pPr>
            <a:r>
              <a:rPr sz="1500">
                <a:solidFill>
                  <a:srgbClr val="222B33"/>
                </a:solidFill>
                <a:latin typeface="Microsoft YaHei"/>
              </a:rPr>
              <a:t>▪ 用笔形剂量计代替法定的个人剂量监测</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电子报警剂量计与报警处置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电子剂量计实时显示，还能报警</a:t>
            </a:r>
          </a:p>
          <a:p>
            <a:pPr>
              <a:spcAft>
                <a:spcPts val="1000"/>
              </a:spcAft>
            </a:pPr>
            <a:r>
              <a:rPr sz="2000">
                <a:solidFill>
                  <a:srgbClr val="222B33"/>
                </a:solidFill>
                <a:latin typeface="Microsoft YaHei"/>
              </a:rPr>
              <a:t>▪ 配合使用，不能代替累积型剂量计</a:t>
            </a:r>
          </a:p>
          <a:p>
            <a:pPr>
              <a:spcAft>
                <a:spcPts val="1000"/>
              </a:spcAft>
            </a:pPr>
            <a:r>
              <a:rPr sz="2000">
                <a:solidFill>
                  <a:srgbClr val="222B33"/>
                </a:solidFill>
                <a:latin typeface="Microsoft YaHei"/>
              </a:rPr>
              <a:t>▪ 剂量计只记录，挡不住射线</a:t>
            </a:r>
          </a:p>
          <a:p>
            <a:pPr>
              <a:spcAft>
                <a:spcPts val="1000"/>
              </a:spcAft>
            </a:pPr>
            <a:r>
              <a:rPr sz="2000">
                <a:solidFill>
                  <a:srgbClr val="222B33"/>
                </a:solidFill>
                <a:latin typeface="Microsoft YaHei"/>
              </a:rPr>
              <a:t>▪ 报警就停手、离开、报告，不能关掉</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电子个人剂量计实时显示剂量和剂量率，超过设定值会声光报警，适合在高辐射区附近、射线装置调试、放射源操作等场合加戴。它只能与累积型个人剂量计配合使用，不能代替法定的个人剂量监测；任何剂量计都只记录、不防护，挡不住射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报警声太吵，关掉继续干</a:t>
            </a:r>
          </a:p>
          <a:p>
            <a:pPr>
              <a:spcAft>
                <a:spcPts val="1000"/>
              </a:spcAft>
            </a:pPr>
            <a:r>
              <a:rPr sz="1500">
                <a:solidFill>
                  <a:srgbClr val="222B33"/>
                </a:solidFill>
                <a:latin typeface="Microsoft YaHei"/>
              </a:rPr>
              <a:t>▪ 以为戴了剂量计就受到了保护</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剂量计测的是哪个深度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剂量计测的是身体特定深度的剂量</a:t>
            </a:r>
          </a:p>
          <a:p>
            <a:pPr>
              <a:spcAft>
                <a:spcPts val="1000"/>
              </a:spcAft>
            </a:pPr>
            <a:r>
              <a:rPr sz="2000">
                <a:solidFill>
                  <a:srgbClr val="222B33"/>
                </a:solidFill>
                <a:latin typeface="Microsoft YaHei"/>
              </a:rPr>
              <a:t>▪ 深 10 毫米处，代表全身剂量</a:t>
            </a:r>
          </a:p>
          <a:p>
            <a:pPr>
              <a:spcAft>
                <a:spcPts val="1000"/>
              </a:spcAft>
            </a:pPr>
            <a:r>
              <a:rPr sz="2000">
                <a:solidFill>
                  <a:srgbClr val="222B33"/>
                </a:solidFill>
                <a:latin typeface="Microsoft YaHei"/>
              </a:rPr>
              <a:t>▪ 3 毫米代表眼晶状体，极浅处代表皮肤</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个人剂量计测量的是身体特定部位、特定深度处的剂量（个人剂量当量）。深 10 毫米处的剂量代表全身（深部组织），用于评价有效剂量；深 3 毫米处代表眼晶状体；深 0.07 毫米（极浅处）代表皮肤的剂量。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以为一个读数就能代表所有部位</a:t>
            </a:r>
          </a:p>
          <a:p>
            <a:pPr>
              <a:spcAft>
                <a:spcPts val="1000"/>
              </a:spcAft>
            </a:pPr>
            <a:r>
              <a:rPr sz="1500">
                <a:solidFill>
                  <a:srgbClr val="222B33"/>
                </a:solidFill>
                <a:latin typeface="Microsoft YaHei"/>
              </a:rPr>
              <a:t>▪ 只看全身剂量，不看皮肤和手部剂量</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个人剂量计怎么戴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全身剂量计，戴在左胸前</a:t>
            </a:r>
          </a:p>
          <a:p>
            <a:pPr>
              <a:spcAft>
                <a:spcPts val="1000"/>
              </a:spcAft>
            </a:pPr>
            <a:r>
              <a:rPr sz="1700">
                <a:solidFill>
                  <a:srgbClr val="222B33"/>
                </a:solidFill>
                <a:latin typeface="Microsoft YaHei"/>
              </a:rPr>
              <a:t>▪ 穿铅围裙时，戴在围裙里面</a:t>
            </a:r>
          </a:p>
          <a:p>
            <a:pPr>
              <a:spcAft>
                <a:spcPts val="1000"/>
              </a:spcAft>
            </a:pPr>
            <a:r>
              <a:rPr sz="1700">
                <a:solidFill>
                  <a:srgbClr val="222B33"/>
                </a:solidFill>
                <a:latin typeface="Microsoft YaHei"/>
              </a:rPr>
              <a:t>▪ 需要时，领口外面再加戴一个</a:t>
            </a:r>
          </a:p>
          <a:p>
            <a:pPr>
              <a:spcAft>
                <a:spcPts val="1000"/>
              </a:spcAft>
            </a:pPr>
            <a:r>
              <a:rPr sz="1700">
                <a:solidFill>
                  <a:srgbClr val="222B33"/>
                </a:solidFill>
                <a:latin typeface="Microsoft YaHei"/>
              </a:rPr>
              <a:t>▪ 常拿源的手，加戴指环剂量计</a:t>
            </a:r>
          </a:p>
          <a:p>
            <a:pPr>
              <a:spcAft>
                <a:spcPts val="1000"/>
              </a:spcAft>
            </a:pPr>
            <a:r>
              <a:rPr sz="1700">
                <a:solidFill>
                  <a:srgbClr val="222B33"/>
                </a:solidFill>
                <a:latin typeface="Microsoft YaHei"/>
              </a:rPr>
              <a:t>▪ 有中子的场所，戴专用剂量计</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全身剂量计是必须佩戴的，一般佩戴在左胸前（躯干前方），进入辐射工作场所就戴上。穿铅围裙时，全身剂量计戴在铅围裙里面的躯干上；受照可能较大时，还要在铅围裙外侧领口加戴一个，用来估算头颈部和眼晶状体的剂量。佩戴位置以 G……</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穿铅围裙后把剂量计戴在围裙外面当全身剂量计</a:t>
            </a:r>
          </a:p>
          <a:p>
            <a:pPr>
              <a:spcAft>
                <a:spcPts val="1000"/>
              </a:spcAft>
            </a:pPr>
            <a:r>
              <a:rPr sz="1500">
                <a:solidFill>
                  <a:srgbClr val="222B33"/>
                </a:solidFill>
                <a:latin typeface="Microsoft YaHei"/>
              </a:rPr>
              <a:t>▪ 手部操作多却不戴指环剂量计</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剂量计的保管与送检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一人一个，不借用、不代戴</a:t>
            </a:r>
          </a:p>
          <a:p>
            <a:pPr>
              <a:spcAft>
                <a:spcPts val="1000"/>
              </a:spcAft>
            </a:pPr>
            <a:r>
              <a:rPr sz="1700">
                <a:solidFill>
                  <a:srgbClr val="222B33"/>
                </a:solidFill>
                <a:latin typeface="Microsoft YaHei"/>
              </a:rPr>
              <a:t>▪ 下班放回专用位置，别晒别烤</a:t>
            </a:r>
          </a:p>
          <a:p>
            <a:pPr>
              <a:spcAft>
                <a:spcPts val="1000"/>
              </a:spcAft>
            </a:pPr>
            <a:r>
              <a:rPr sz="1700">
                <a:solidFill>
                  <a:srgbClr val="222B33"/>
                </a:solidFill>
                <a:latin typeface="Microsoft YaHei"/>
              </a:rPr>
              <a:t>▪ 绝不故意照射剂量计</a:t>
            </a:r>
          </a:p>
          <a:p>
            <a:pPr>
              <a:spcAft>
                <a:spcPts val="1000"/>
              </a:spcAft>
            </a:pPr>
            <a:r>
              <a:rPr sz="1700">
                <a:solidFill>
                  <a:srgbClr val="222B33"/>
                </a:solidFill>
                <a:latin typeface="Microsoft YaHei"/>
              </a:rPr>
              <a:t>▪ 按周期交回，送有资质机构测读</a:t>
            </a:r>
          </a:p>
          <a:p>
            <a:pPr>
              <a:spcAft>
                <a:spcPts val="1000"/>
              </a:spcAft>
            </a:pPr>
            <a:r>
              <a:rPr sz="1700">
                <a:solidFill>
                  <a:srgbClr val="222B33"/>
                </a:solidFill>
                <a:latin typeface="Microsoft YaHei"/>
              </a:rPr>
              <a:t>▪ 丢失损坏，马上报告补发</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个人剂量计一人一个，不借给别人，也不替别人戴；进场就戴，离场就收。下班后放回远离辐射源的专用存放位置，不要留在工作区（会把场所的辐射记进个人剂量），也不要带回家、晒太阳、靠近暖气等热源，这些都会影响读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把剂量计挂在实验室门后或窗台上</a:t>
            </a:r>
          </a:p>
          <a:p>
            <a:pPr>
              <a:spcAft>
                <a:spcPts val="1000"/>
              </a:spcAft>
            </a:pPr>
            <a:r>
              <a:rPr sz="1500">
                <a:solidFill>
                  <a:srgbClr val="222B33"/>
                </a:solidFill>
                <a:latin typeface="Microsoft YaHei"/>
              </a:rPr>
              <a:t>▪ 借用同学的剂量计进入工作场所</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剂量报告与个人档案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报告列本期和全年累计，手眼单独列</a:t>
            </a:r>
          </a:p>
          <a:p>
            <a:pPr>
              <a:spcAft>
                <a:spcPts val="1000"/>
              </a:spcAft>
            </a:pPr>
            <a:r>
              <a:rPr sz="2000">
                <a:solidFill>
                  <a:srgbClr val="222B33"/>
                </a:solidFill>
                <a:latin typeface="Microsoft YaHei"/>
              </a:rPr>
              <a:t>▪ 本人要查看、签字确认</a:t>
            </a:r>
          </a:p>
          <a:p>
            <a:pPr>
              <a:spcAft>
                <a:spcPts val="1000"/>
              </a:spcAft>
            </a:pPr>
            <a:r>
              <a:rPr sz="2000">
                <a:solidFill>
                  <a:srgbClr val="222B33"/>
                </a:solidFill>
                <a:latin typeface="Microsoft YaHei"/>
              </a:rPr>
              <a:t>▪ 结果建档长期保存，偏高要查原因</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个人剂量报告列出本监测周期的剂量和全年累计剂量，手部、眼晶状体等部位的剂量也会单独列出。本人有权查看自己的个人剂量记录，要认真查看并签字确认；读数明显升高或超过单位设定的调查水平时，要配合调查原因并整改（见第 089……</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从不查看自己的剂量报告</a:t>
            </a:r>
          </a:p>
          <a:p>
            <a:pPr>
              <a:spcAft>
                <a:spcPts val="1000"/>
              </a:spcAft>
            </a:pPr>
            <a:r>
              <a:rPr sz="1500">
                <a:solidFill>
                  <a:srgbClr val="222B33"/>
                </a:solidFill>
                <a:latin typeface="Microsoft YaHei"/>
              </a:rPr>
              <a:t>▪ 剂量偏高时不配合调查</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要寻找台面上的微量放射性污染，最合适的仪器是：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电离室巡测仪</a:t>
            </a:r>
          </a:p>
          <a:p>
            <a:pPr algn="l"/>
            <a:r>
              <a:rPr sz="1500" b="0">
                <a:solidFill>
                  <a:srgbClr val="222B33"/>
                </a:solidFill>
                <a:latin typeface="Microsoft YaHei"/>
              </a:rPr>
              <a:t>B. 表面污染仪或灵敏的盖革计数器</a:t>
            </a:r>
          </a:p>
          <a:p>
            <a:pPr algn="l"/>
            <a:r>
              <a:rPr sz="1500" b="0">
                <a:solidFill>
                  <a:srgbClr val="222B33"/>
                </a:solidFill>
                <a:latin typeface="Microsoft YaHei"/>
              </a:rPr>
              <a:t>C. 个人剂量计</a:t>
            </a:r>
          </a:p>
          <a:p>
            <a:pPr algn="l"/>
            <a:r>
              <a:rPr sz="1500" b="0">
                <a:solidFill>
                  <a:srgbClr val="222B33"/>
                </a:solidFill>
                <a:latin typeface="Microsoft YaHei"/>
              </a:rPr>
              <a:t>D. 笔形剂量计</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判断：巡测仪读数为零，就说明现场一定安全。</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穿铅围裙操作时，全身个人剂量计应当：</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戴在铅围裙外面</a:t>
            </a:r>
          </a:p>
          <a:p>
            <a:pPr algn="l"/>
            <a:r>
              <a:rPr sz="1500" b="0">
                <a:solidFill>
                  <a:srgbClr val="222B33"/>
                </a:solidFill>
                <a:latin typeface="Microsoft YaHei"/>
              </a:rPr>
              <a:t>B. 戴在铅围裙里面的躯干上，必要时领口外再加戴一个</a:t>
            </a:r>
          </a:p>
          <a:p>
            <a:pPr algn="l"/>
            <a:r>
              <a:rPr sz="1500" b="0">
                <a:solidFill>
                  <a:srgbClr val="222B33"/>
                </a:solidFill>
                <a:latin typeface="Microsoft YaHei"/>
              </a:rPr>
              <a:t>C. 放在操作台上</a:t>
            </a:r>
          </a:p>
          <a:p>
            <a:pPr algn="l"/>
            <a:r>
              <a:rPr sz="1500" b="0">
                <a:solidFill>
                  <a:srgbClr val="222B33"/>
                </a:solidFill>
                <a:latin typeface="Microsoft YaHei"/>
              </a:rPr>
              <a:t>D. 不用戴</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下班后把剂量计挂在工作区门后</a:t>
            </a:r>
          </a:p>
          <a:p>
            <a:pPr algn="l"/>
            <a:r>
              <a:rPr sz="1500" b="0">
                <a:solidFill>
                  <a:srgbClr val="222B33"/>
                </a:solidFill>
                <a:latin typeface="Microsoft YaHei"/>
              </a:rPr>
              <a:t>B. 借同学的剂量计进场</a:t>
            </a:r>
          </a:p>
          <a:p>
            <a:pPr algn="l"/>
            <a:r>
              <a:rPr sz="1500" b="0">
                <a:solidFill>
                  <a:srgbClr val="222B33"/>
                </a:solidFill>
                <a:latin typeface="Microsoft YaHei"/>
              </a:rPr>
              <a:t>C. 按周期交回剂量计送有资质机构测读</a:t>
            </a:r>
          </a:p>
          <a:p>
            <a:pPr algn="l"/>
            <a:r>
              <a:rPr sz="1500" b="0">
                <a:solidFill>
                  <a:srgbClr val="222B33"/>
                </a:solidFill>
                <a:latin typeface="Microsoft YaHei"/>
              </a:rPr>
              <a:t>D. 用剂量计去测源的强弱</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092 · 辐射监测仪器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092 辐射监测仪器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电子报警剂量计报警时，应当：</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关掉报警继续操作</a:t>
            </a:r>
          </a:p>
          <a:p>
            <a:pPr algn="l"/>
            <a:r>
              <a:rPr sz="1500" b="0">
                <a:solidFill>
                  <a:srgbClr val="222B33"/>
                </a:solidFill>
                <a:latin typeface="Microsoft YaHei"/>
              </a:rPr>
              <a:t>B. 立即停止操作、离开该区域，记下读数并报告</a:t>
            </a:r>
          </a:p>
          <a:p>
            <a:pPr algn="l"/>
            <a:r>
              <a:rPr sz="1500" b="0">
                <a:solidFill>
                  <a:srgbClr val="222B33"/>
                </a:solidFill>
                <a:latin typeface="Microsoft YaHei"/>
              </a:rPr>
              <a:t>C. 把剂量计摘下放在一边</a:t>
            </a:r>
          </a:p>
          <a:p>
            <a:pPr algn="l"/>
            <a:r>
              <a:rPr sz="1500" b="0">
                <a:solidFill>
                  <a:srgbClr val="222B33"/>
                </a:solidFill>
                <a:latin typeface="Microsoft YaHei"/>
              </a:rPr>
              <a:t>D. 等操作完成再说</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简答：测量样品前为什么要先测本底？怎么测？</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辐射看不见，靠仪器探测</a:t>
            </a:r>
          </a:p>
          <a:p>
            <a:pPr>
              <a:spcAft>
                <a:spcPts val="800"/>
              </a:spcAft>
            </a:pPr>
            <a:r>
              <a:rPr sz="1500">
                <a:solidFill>
                  <a:srgbClr val="FFFFFF"/>
                </a:solidFill>
                <a:latin typeface="Microsoft YaHei"/>
              </a:rPr>
              <a:t>▪ K2  两个问题：场所多少，个人多少</a:t>
            </a:r>
          </a:p>
          <a:p>
            <a:pPr>
              <a:spcAft>
                <a:spcPts val="800"/>
              </a:spcAft>
            </a:pPr>
            <a:r>
              <a:rPr sz="1500">
                <a:solidFill>
                  <a:srgbClr val="FFFFFF"/>
                </a:solidFill>
                <a:latin typeface="Microsoft YaHei"/>
              </a:rPr>
              <a:t>▪ K3  盖革计数器：灵敏，会数数</a:t>
            </a:r>
          </a:p>
          <a:p>
            <a:pPr>
              <a:spcAft>
                <a:spcPts val="800"/>
              </a:spcAft>
            </a:pPr>
            <a:r>
              <a:rPr sz="1500">
                <a:solidFill>
                  <a:srgbClr val="FFFFFF"/>
                </a:solidFill>
                <a:latin typeface="Microsoft YaHei"/>
              </a:rPr>
              <a:t>▪ K4  盖革计数器的局限</a:t>
            </a:r>
          </a:p>
          <a:p>
            <a:pPr>
              <a:spcAft>
                <a:spcPts val="800"/>
              </a:spcAft>
            </a:pPr>
            <a:r>
              <a:rPr sz="1500">
                <a:solidFill>
                  <a:srgbClr val="FFFFFF"/>
                </a:solidFill>
                <a:latin typeface="Microsoft YaHei"/>
              </a:rPr>
              <a:t>▪ K5  电离室巡测仪：测剂量率</a:t>
            </a:r>
          </a:p>
          <a:p>
            <a:pPr>
              <a:spcAft>
                <a:spcPts val="800"/>
              </a:spcAft>
            </a:pPr>
            <a:r>
              <a:rPr sz="1500">
                <a:solidFill>
                  <a:srgbClr val="FFFFFF"/>
                </a:solidFill>
                <a:latin typeface="Microsoft YaHei"/>
              </a:rPr>
              <a:t>▪ K6  按任务选仪器</a:t>
            </a:r>
          </a:p>
          <a:p>
            <a:pPr>
              <a:spcAft>
                <a:spcPts val="800"/>
              </a:spcAft>
            </a:pPr>
            <a:r>
              <a:rPr sz="1500">
                <a:solidFill>
                  <a:srgbClr val="FFFFFF"/>
                </a:solidFill>
                <a:latin typeface="Microsoft YaHei"/>
              </a:rPr>
              <a:t>▪ K7  先测本底，再扣本底</a:t>
            </a:r>
          </a:p>
          <a:p>
            <a:pPr>
              <a:spcAft>
                <a:spcPts val="800"/>
              </a:spcAft>
            </a:pPr>
            <a:r>
              <a:rPr sz="1500">
                <a:solidFill>
                  <a:srgbClr val="FFFFFF"/>
                </a:solidFill>
                <a:latin typeface="Microsoft YaHei"/>
              </a:rPr>
              <a:t>▪ K8  检定校准与使用前检查</a:t>
            </a:r>
          </a:p>
          <a:p>
            <a:pPr>
              <a:spcAft>
                <a:spcPts val="800"/>
              </a:spcAft>
            </a:pPr>
            <a:r>
              <a:rPr sz="1500">
                <a:solidFill>
                  <a:srgbClr val="FFFFFF"/>
                </a:solidFill>
                <a:latin typeface="Microsoft YaHei"/>
              </a:rPr>
              <a:t>▪ K9  读数低不等于安全</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K10  场所监测：测哪里、怎么记</a:t>
            </a:r>
          </a:p>
          <a:p>
            <a:pPr>
              <a:spcAft>
                <a:spcPts val="800"/>
              </a:spcAft>
            </a:pPr>
            <a:r>
              <a:rPr sz="1500">
                <a:solidFill>
                  <a:srgbClr val="FFFFFF"/>
                </a:solidFill>
                <a:latin typeface="Microsoft YaHei"/>
              </a:rPr>
              <a:t>▪ K11  从区域监测到个人剂量监测</a:t>
            </a:r>
          </a:p>
          <a:p>
            <a:pPr>
              <a:spcAft>
                <a:spcPts val="800"/>
              </a:spcAft>
            </a:pPr>
            <a:r>
              <a:rPr sz="1500">
                <a:solidFill>
                  <a:srgbClr val="FFFFFF"/>
                </a:solidFill>
                <a:latin typeface="Microsoft YaHei"/>
              </a:rPr>
              <a:t>▪ K12  累积型个人剂量计</a:t>
            </a:r>
          </a:p>
          <a:p>
            <a:pPr>
              <a:spcAft>
                <a:spcPts val="800"/>
              </a:spcAft>
            </a:pPr>
            <a:r>
              <a:rPr sz="1500">
                <a:solidFill>
                  <a:srgbClr val="FFFFFF"/>
                </a:solidFill>
                <a:latin typeface="Microsoft YaHei"/>
              </a:rPr>
              <a:t>▪ K13  笔形剂量计</a:t>
            </a:r>
          </a:p>
          <a:p>
            <a:pPr>
              <a:spcAft>
                <a:spcPts val="800"/>
              </a:spcAft>
            </a:pPr>
            <a:r>
              <a:rPr sz="1500">
                <a:solidFill>
                  <a:srgbClr val="FFFFFF"/>
                </a:solidFill>
                <a:latin typeface="Microsoft YaHei"/>
              </a:rPr>
              <a:t>▪ K14  电子报警剂量计与报警处置</a:t>
            </a:r>
          </a:p>
          <a:p>
            <a:pPr>
              <a:spcAft>
                <a:spcPts val="800"/>
              </a:spcAft>
            </a:pPr>
            <a:r>
              <a:rPr sz="1500">
                <a:solidFill>
                  <a:srgbClr val="FFFFFF"/>
                </a:solidFill>
                <a:latin typeface="Microsoft YaHei"/>
              </a:rPr>
              <a:t>▪ K15  剂量计测的是哪个深度</a:t>
            </a:r>
          </a:p>
          <a:p>
            <a:pPr>
              <a:spcAft>
                <a:spcPts val="800"/>
              </a:spcAft>
            </a:pPr>
            <a:r>
              <a:rPr sz="1500">
                <a:solidFill>
                  <a:srgbClr val="FFFFFF"/>
                </a:solidFill>
                <a:latin typeface="Microsoft YaHei"/>
              </a:rPr>
              <a:t>▪ K16  个人剂量计怎么戴</a:t>
            </a:r>
          </a:p>
          <a:p>
            <a:pPr>
              <a:spcAft>
                <a:spcPts val="800"/>
              </a:spcAft>
            </a:pPr>
            <a:r>
              <a:rPr sz="1500">
                <a:solidFill>
                  <a:srgbClr val="FFFFFF"/>
                </a:solidFill>
                <a:latin typeface="Microsoft YaHei"/>
              </a:rPr>
              <a:t>▪ K17  剂量计的保管与送检</a:t>
            </a:r>
          </a:p>
          <a:p>
            <a:pPr>
              <a:spcAft>
                <a:spcPts val="800"/>
              </a:spcAft>
            </a:pPr>
            <a:r>
              <a:rPr sz="1500">
                <a:solidFill>
                  <a:srgbClr val="FFFFFF"/>
                </a:solidFill>
                <a:latin typeface="Microsoft YaHei"/>
              </a:rPr>
              <a:t>▪ K18  剂量报告与个人档案</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093</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辐射安全许可与人员管理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72 镜）　适用对象：使用放射性同位素、密封放射源或射线装置的本科生、研究生和教职工（辐射类必修），以及实验室负责人、学院和学校辐射安全管理人员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能说出我国辐射安全管理的主要法律法规，知道使用放射源、射线装置和非密封放射性物质必须依法取得辐射安全许可证并在许可范围内开展。</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能做到持证使用、建好台账，不私自购买、转让、转借放射源；知道学校辐射安全管理机构、辐射安全负责人和实验室负责人的职责，遇到问题找对人。</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能做到先培训考核合格再上岗、定期复训，按规定接受个人剂量监测和职业健康检查，未经授权不进入辐射工作场所。</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能说出辐射工作人员的权利（知情、查看本人记录、提出整改、拒绝在不安全条件下工作）和违规的法律责任。</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《放射性同位素与射线装置安全和防护条例》（以现行文本为准）：许可、台账、转让转移、人员培训、个人剂量监测和职业健康检查</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《放射性同位素与射线装置安全许可管理办法》（以现行文本为准）：许可证的申请、范围、变更、延续</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《放射性同位素与射线装置安全和防护管理办法》（以现行文本为准）：年度评估、人员培训考核、个人剂量档案</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《放射工作人员职业健康管理办法》（以现行文本为准）：职业健康检查、个人剂量监测与档案、放射工作人员的权利</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《中华人民共和国职业病防治法》（以现行文本为准）：劳动者的职业卫生保护权利</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核技术利用辐射安全与防护培训考核的现行规定和本校辐射安全管理制度（以现行规定和本校规定为准）</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依法管理：辐射安全法规体系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辐射安全有一整套法律、法规、规章和标准</a:t>
            </a:r>
          </a:p>
          <a:p>
            <a:pPr>
              <a:spcAft>
                <a:spcPts val="1000"/>
              </a:spcAft>
            </a:pPr>
            <a:r>
              <a:rPr sz="1700">
                <a:solidFill>
                  <a:srgbClr val="222B33"/>
                </a:solidFill>
                <a:latin typeface="Microsoft YaHei"/>
              </a:rPr>
              <a:t>▪ 放射性污染防治法，是最上位的法律</a:t>
            </a:r>
          </a:p>
          <a:p>
            <a:pPr>
              <a:spcAft>
                <a:spcPts val="1000"/>
              </a:spcAft>
            </a:pPr>
            <a:r>
              <a:rPr sz="1700">
                <a:solidFill>
                  <a:srgbClr val="222B33"/>
                </a:solidFill>
                <a:latin typeface="Microsoft YaHei"/>
              </a:rPr>
              <a:t>▪ 安全和防护条例，管放射源和射线装置</a:t>
            </a:r>
          </a:p>
          <a:p>
            <a:pPr>
              <a:spcAft>
                <a:spcPts val="1000"/>
              </a:spcAft>
            </a:pPr>
            <a:r>
              <a:rPr sz="1700">
                <a:solidFill>
                  <a:srgbClr val="222B33"/>
                </a:solidFill>
                <a:latin typeface="Microsoft YaHei"/>
              </a:rPr>
              <a:t>▪ 防护要求以国家标准和学校规定为准</a:t>
            </a:r>
          </a:p>
          <a:p>
            <a:pPr>
              <a:spcAft>
                <a:spcPts val="1000"/>
              </a:spcAft>
            </a:pPr>
            <a:r>
              <a:rPr sz="1700">
                <a:solidFill>
                  <a:srgbClr val="222B33"/>
                </a:solidFill>
                <a:latin typeface="Microsoft YaHei"/>
              </a:rPr>
              <a:t>▪ 国外制度只作参考，不能照搬</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懂了剂量和防护原理，还要守规矩。我国辐射安全管理的法律依据是《中华人民共和国放射性污染防治法》（以现行文本为准）；国务院《放射性同位素与射线装置安全和防护条例》（以现行文本为准）对生产、销售、使用放射性同位素和射线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以为高校科研用源量小，不受法规约束</a:t>
            </a:r>
          </a:p>
          <a:p>
            <a:pPr>
              <a:spcAft>
                <a:spcPts val="1000"/>
              </a:spcAft>
            </a:pPr>
            <a:r>
              <a:rPr sz="1500">
                <a:solidFill>
                  <a:srgbClr val="222B33"/>
                </a:solidFill>
                <a:latin typeface="Microsoft YaHei"/>
              </a:rPr>
              <a:t>▪ 照搬国外教材的许可和豁免规定</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辐射安全许可证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用源、用装置，先取得辐射安全许可证</a:t>
            </a:r>
          </a:p>
          <a:p>
            <a:pPr>
              <a:spcAft>
                <a:spcPts val="1000"/>
              </a:spcAft>
            </a:pPr>
            <a:r>
              <a:rPr sz="1700">
                <a:solidFill>
                  <a:srgbClr val="222B33"/>
                </a:solidFill>
                <a:latin typeface="Microsoft YaHei"/>
              </a:rPr>
              <a:t>▪ 许可证写明可使用的种类和范围</a:t>
            </a:r>
          </a:p>
          <a:p>
            <a:pPr>
              <a:spcAft>
                <a:spcPts val="1000"/>
              </a:spcAft>
            </a:pPr>
            <a:r>
              <a:rPr sz="1700">
                <a:solidFill>
                  <a:srgbClr val="222B33"/>
                </a:solidFill>
                <a:latin typeface="Microsoft YaHei"/>
              </a:rPr>
              <a:t>▪ 超出许可范围，不得开展</a:t>
            </a:r>
          </a:p>
          <a:p>
            <a:pPr>
              <a:spcAft>
                <a:spcPts val="1000"/>
              </a:spcAft>
            </a:pPr>
            <a:r>
              <a:rPr sz="1700">
                <a:solidFill>
                  <a:srgbClr val="222B33"/>
                </a:solidFill>
                <a:latin typeface="Microsoft YaHei"/>
              </a:rPr>
              <a:t>▪ 新增种类或场所，先办许可变更</a:t>
            </a:r>
          </a:p>
          <a:p>
            <a:pPr>
              <a:spcAft>
                <a:spcPts val="1000"/>
              </a:spcAft>
            </a:pPr>
            <a:r>
              <a:rPr sz="1700">
                <a:solidFill>
                  <a:srgbClr val="222B33"/>
                </a:solidFill>
                <a:latin typeface="Microsoft YaHei"/>
              </a:rPr>
              <a:t>▪ 许可证有有效期，到期前要延续</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使用放射性同位素（含密封源和非密封放射性物质、放射性药物和示踪剂）和射线装置的单位，必须依法向生态环境主管部门申请领取辐射安全许可证，由学校作为持证单位统一申领和管理。申请时要具备相应的场所、设施、人员、管理机构和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课题组自行购入新核素，“先用起来再补手续”</a:t>
            </a:r>
          </a:p>
          <a:p>
            <a:pPr>
              <a:spcAft>
                <a:spcPts val="1000"/>
              </a:spcAft>
            </a:pPr>
            <a:r>
              <a:rPr sz="1500">
                <a:solidFill>
                  <a:srgbClr val="222B33"/>
                </a:solidFill>
                <a:latin typeface="Microsoft YaHei"/>
              </a:rPr>
              <a:t>▪ 把设备搬到未经许可的房间使用</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持证使用，建好台账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源和装置一一登记，建好台账</a:t>
            </a:r>
          </a:p>
          <a:p>
            <a:pPr>
              <a:spcAft>
                <a:spcPts val="1000"/>
              </a:spcAft>
            </a:pPr>
            <a:r>
              <a:rPr sz="1700">
                <a:solidFill>
                  <a:srgbClr val="222B33"/>
                </a:solidFill>
                <a:latin typeface="Microsoft YaHei"/>
              </a:rPr>
              <a:t>▪ 不得私自购买、转让、转借放射源</a:t>
            </a:r>
          </a:p>
          <a:p>
            <a:pPr>
              <a:spcAft>
                <a:spcPts val="1000"/>
              </a:spcAft>
            </a:pPr>
            <a:r>
              <a:rPr sz="1700">
                <a:solidFill>
                  <a:srgbClr val="222B33"/>
                </a:solidFill>
                <a:latin typeface="Microsoft YaHei"/>
              </a:rPr>
              <a:t>▪ 放射源专人管理，出入登记</a:t>
            </a:r>
          </a:p>
          <a:p>
            <a:pPr>
              <a:spcAft>
                <a:spcPts val="1000"/>
              </a:spcAft>
            </a:pPr>
            <a:r>
              <a:rPr sz="1700">
                <a:solidFill>
                  <a:srgbClr val="222B33"/>
                </a:solidFill>
                <a:latin typeface="Microsoft YaHei"/>
              </a:rPr>
              <a:t>▪ 定期清点，做到账物相符</a:t>
            </a:r>
          </a:p>
          <a:p>
            <a:pPr>
              <a:spcAft>
                <a:spcPts val="1000"/>
              </a:spcAft>
            </a:pPr>
            <a:r>
              <a:rPr sz="1700">
                <a:solidFill>
                  <a:srgbClr val="222B33"/>
                </a:solidFill>
                <a:latin typeface="Microsoft YaHei"/>
              </a:rPr>
              <a:t>▪ 每年评估辐射安全状况，按时上报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持证单位要对放射性同位素和射线装置建立台账：每个放射源、每批非密封放射性物质、每台射线装置都一一登记核素（或型号）、活度、编号、来源、存放和使用地点、责任人；使用、领用和归还都要登记（领用归还的做法见第 094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课题组之间私下借用放射源</a:t>
            </a:r>
          </a:p>
          <a:p>
            <a:pPr>
              <a:spcAft>
                <a:spcPts val="1000"/>
              </a:spcAft>
            </a:pPr>
            <a:r>
              <a:rPr sz="1500">
                <a:solidFill>
                  <a:srgbClr val="222B33"/>
                </a:solidFill>
                <a:latin typeface="Microsoft YaHei"/>
              </a:rPr>
              <a:t>▪ 台账只记购入、不记使用和去向</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学校辐射安全管理机构与负责人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学校设辐射安全管理机构，分级负责</a:t>
            </a:r>
          </a:p>
          <a:p>
            <a:pPr>
              <a:spcAft>
                <a:spcPts val="1000"/>
              </a:spcAft>
            </a:pPr>
            <a:r>
              <a:rPr sz="1700">
                <a:solidFill>
                  <a:srgbClr val="222B33"/>
                </a:solidFill>
                <a:latin typeface="Microsoft YaHei"/>
              </a:rPr>
              <a:t>▪ 辐射安全负责人和专职人员管日常</a:t>
            </a:r>
          </a:p>
          <a:p>
            <a:pPr>
              <a:spcAft>
                <a:spcPts val="1000"/>
              </a:spcAft>
            </a:pPr>
            <a:r>
              <a:rPr sz="1700">
                <a:solidFill>
                  <a:srgbClr val="222B33"/>
                </a:solidFill>
                <a:latin typeface="Microsoft YaHei"/>
              </a:rPr>
              <a:t>▪ 定制度、管培训、抓监测、查隐患</a:t>
            </a:r>
          </a:p>
          <a:p>
            <a:pPr>
              <a:spcAft>
                <a:spcPts val="1000"/>
              </a:spcAft>
            </a:pPr>
            <a:r>
              <a:rPr sz="1700">
                <a:solidFill>
                  <a:srgbClr val="222B33"/>
                </a:solidFill>
                <a:latin typeface="Microsoft YaHei"/>
              </a:rPr>
              <a:t>▪ 实验室负责人，是第一责任人</a:t>
            </a:r>
          </a:p>
          <a:p>
            <a:pPr>
              <a:spcAft>
                <a:spcPts val="1000"/>
              </a:spcAft>
            </a:pPr>
            <a:r>
              <a:rPr sz="1700">
                <a:solidFill>
                  <a:srgbClr val="222B33"/>
                </a:solidFill>
                <a:latin typeface="Microsoft YaHei"/>
              </a:rPr>
              <a:t>▪ 有疑问，问导师和辐射安全管理人员</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学校按规定设立辐射安全与环境保护管理机构（或指定专门的管理部门），配备辐射安全负责人和专职（兼职）管理人员，实行学校—学院—实验室分级管理（三级管理见第 004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遇到辐射问题不知道该找谁，自己琢磨处理</a:t>
            </a:r>
          </a:p>
          <a:p>
            <a:pPr>
              <a:spcAft>
                <a:spcPts val="1000"/>
              </a:spcAft>
            </a:pPr>
            <a:r>
              <a:rPr sz="1500">
                <a:solidFill>
                  <a:srgbClr val="222B33"/>
                </a:solidFill>
                <a:latin typeface="Microsoft YaHei"/>
              </a:rPr>
              <a:t>▪ 以为辐射安全只是学校管理部门的事，与实验室负责人无关</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辐射工作人员与公众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可能受到高于本底照射的，是辐射工作人员</a:t>
            </a:r>
          </a:p>
          <a:p>
            <a:pPr>
              <a:spcAft>
                <a:spcPts val="1000"/>
              </a:spcAft>
            </a:pPr>
            <a:r>
              <a:rPr sz="2000">
                <a:solidFill>
                  <a:srgbClr val="222B33"/>
                </a:solidFill>
                <a:latin typeface="Microsoft YaHei"/>
              </a:rPr>
              <a:t>▪ 辐射工作人员必须培训、佩戴个人剂量计</a:t>
            </a:r>
          </a:p>
          <a:p>
            <a:pPr>
              <a:spcAft>
                <a:spcPts val="1000"/>
              </a:spcAft>
            </a:pPr>
            <a:r>
              <a:rPr sz="2000">
                <a:solidFill>
                  <a:srgbClr val="222B33"/>
                </a:solidFill>
                <a:latin typeface="Microsoft YaHei"/>
              </a:rPr>
              <a:t>▪ 其他人都属于公众，限值要求更严</a:t>
            </a:r>
          </a:p>
          <a:p>
            <a:pPr>
              <a:spcAft>
                <a:spcPts val="1000"/>
              </a:spcAft>
            </a:pPr>
            <a:r>
              <a:rPr sz="2000">
                <a:solidFill>
                  <a:srgbClr val="222B33"/>
                </a:solidFill>
                <a:latin typeface="Microsoft YaHei"/>
              </a:rPr>
              <a:t>▪ 用源做实验的学生，也是辐射工作人员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因工作可能受到高于天然本底照射的人员，是辐射工作人员（放射工作人员）。他们必须接受辐射安全培训，佩戴个人剂量计监测受照剂量，并接受职业健康检查。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认为学生只是“来学习的”，不算辐射工作人员</a:t>
            </a:r>
          </a:p>
          <a:p>
            <a:pPr>
              <a:spcAft>
                <a:spcPts val="1000"/>
              </a:spcAft>
            </a:pPr>
            <a:r>
              <a:rPr sz="1500">
                <a:solidFill>
                  <a:srgbClr val="222B33"/>
                </a:solidFill>
                <a:latin typeface="Microsoft YaHei"/>
              </a:rPr>
              <a:t>▪ 让没有培训的公众帮忙操作源</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先培训考核，再上岗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先培训，考核合格再上岗</a:t>
            </a:r>
          </a:p>
          <a:p>
            <a:pPr>
              <a:spcAft>
                <a:spcPts val="1000"/>
              </a:spcAft>
            </a:pPr>
            <a:r>
              <a:rPr sz="1700">
                <a:solidFill>
                  <a:srgbClr val="222B33"/>
                </a:solidFill>
                <a:latin typeface="Microsoft YaHei"/>
              </a:rPr>
              <a:t>▪ 按国家规定参加辐射安全与防护培训考核</a:t>
            </a:r>
          </a:p>
          <a:p>
            <a:pPr>
              <a:spcAft>
                <a:spcPts val="1000"/>
              </a:spcAft>
            </a:pPr>
            <a:r>
              <a:rPr sz="1700">
                <a:solidFill>
                  <a:srgbClr val="222B33"/>
                </a:solidFill>
                <a:latin typeface="Microsoft YaHei"/>
              </a:rPr>
              <a:t>▪ 学院和实验室还要做岗位培训</a:t>
            </a:r>
          </a:p>
          <a:p>
            <a:pPr>
              <a:spcAft>
                <a:spcPts val="1000"/>
              </a:spcAft>
            </a:pPr>
            <a:r>
              <a:rPr sz="1700">
                <a:solidFill>
                  <a:srgbClr val="222B33"/>
                </a:solidFill>
                <a:latin typeface="Microsoft YaHei"/>
              </a:rPr>
              <a:t>▪ 实验室负责人审核后，再给准入</a:t>
            </a:r>
          </a:p>
          <a:p>
            <a:pPr>
              <a:spcAft>
                <a:spcPts val="1000"/>
              </a:spcAft>
            </a:pPr>
            <a:r>
              <a:rPr sz="1700">
                <a:solidFill>
                  <a:srgbClr val="222B33"/>
                </a:solidFill>
                <a:latin typeface="Microsoft YaHei"/>
              </a:rPr>
              <a:t>▪ 没受过训练，不要自行处理异常</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从事辐射工作的人员，必须先参加辐射安全与防护培训，考核合格后才能上岗操作。考核按生态环境主管部门关于核技术利用辐射安全与防护培训考核的现行规定进行（通常通过国家组织的平台学习和考核，部分类别可由单位自行组织考核，以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先跟着师兄师姐操作，“以后再补培训”</a:t>
            </a:r>
          </a:p>
          <a:p>
            <a:pPr>
              <a:spcAft>
                <a:spcPts val="1000"/>
              </a:spcAft>
            </a:pPr>
            <a:r>
              <a:rPr sz="1500">
                <a:solidFill>
                  <a:srgbClr val="222B33"/>
                </a:solidFill>
                <a:latin typeface="Microsoft YaHei"/>
              </a:rPr>
              <a:t>▪ 培训合格过期了还在继续操作</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定期复训，结合岗位讨论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培训不是一次就够，要定期复训</a:t>
            </a:r>
          </a:p>
          <a:p>
            <a:pPr>
              <a:spcAft>
                <a:spcPts val="1000"/>
              </a:spcAft>
            </a:pPr>
            <a:r>
              <a:rPr sz="2000">
                <a:solidFill>
                  <a:srgbClr val="222B33"/>
                </a:solidFill>
                <a:latin typeface="Microsoft YaHei"/>
              </a:rPr>
              <a:t>▪ 学完结合自己的岗位一起讨论</a:t>
            </a:r>
          </a:p>
          <a:p>
            <a:pPr>
              <a:spcAft>
                <a:spcPts val="1000"/>
              </a:spcAft>
            </a:pPr>
            <a:r>
              <a:rPr sz="2000">
                <a:solidFill>
                  <a:srgbClr val="222B33"/>
                </a:solidFill>
                <a:latin typeface="Microsoft YaHei"/>
              </a:rPr>
              <a:t>▪ 换新核素、新设备，先补训</a:t>
            </a:r>
          </a:p>
          <a:p>
            <a:pPr>
              <a:spcAft>
                <a:spcPts val="1000"/>
              </a:spcAft>
            </a:pPr>
            <a:r>
              <a:rPr sz="2000">
                <a:solidFill>
                  <a:srgbClr val="222B33"/>
                </a:solidFill>
                <a:latin typeface="Microsoft YaHei"/>
              </a:rPr>
              <a:t>▪ 培训和考核，都要记录存档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辐射安全培训不是上一次就够：上岗前要学，之后还要按学校规定定期复训，持续更新知识、巩固习惯。学完不能只签个到，要结合自己的岗位和课题，组里一起讨论：我们用什么源、风险在哪、哪些做法要改。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培训只签到，不结合自己的工作</a:t>
            </a:r>
          </a:p>
          <a:p>
            <a:pPr>
              <a:spcAft>
                <a:spcPts val="1000"/>
              </a:spcAft>
            </a:pPr>
            <a:r>
              <a:rPr sz="1500">
                <a:solidFill>
                  <a:srgbClr val="222B33"/>
                </a:solidFill>
                <a:latin typeface="Microsoft YaHei"/>
              </a:rPr>
              <a:t>▪ 换了新核素照老方法操作</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本实验室辐射安全操作规程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安全做法要写进本实验室的规程</a:t>
            </a:r>
          </a:p>
          <a:p>
            <a:pPr>
              <a:spcAft>
                <a:spcPts val="1000"/>
              </a:spcAft>
            </a:pPr>
            <a:r>
              <a:rPr sz="1700">
                <a:solidFill>
                  <a:srgbClr val="222B33"/>
                </a:solidFill>
                <a:latin typeface="Microsoft YaHei"/>
              </a:rPr>
              <a:t>▪ 步骤、培训、防护、工程控制都要写清</a:t>
            </a:r>
          </a:p>
          <a:p>
            <a:pPr>
              <a:spcAft>
                <a:spcPts val="1000"/>
              </a:spcAft>
            </a:pPr>
            <a:r>
              <a:rPr sz="1700">
                <a:solidFill>
                  <a:srgbClr val="222B33"/>
                </a:solidFill>
                <a:latin typeface="Microsoft YaHei"/>
              </a:rPr>
              <a:t>▪ 怀疑超剂量时怎么办，也要写清</a:t>
            </a:r>
          </a:p>
          <a:p>
            <a:pPr>
              <a:spcAft>
                <a:spcPts val="1000"/>
              </a:spcAft>
            </a:pPr>
            <a:r>
              <a:rPr sz="1700">
                <a:solidFill>
                  <a:srgbClr val="222B33"/>
                </a:solidFill>
                <a:latin typeface="Microsoft YaHei"/>
              </a:rPr>
              <a:t>▪ 规程放在现场，人人看得到</a:t>
            </a:r>
          </a:p>
          <a:p>
            <a:pPr>
              <a:spcAft>
                <a:spcPts val="1000"/>
              </a:spcAft>
            </a:pPr>
            <a:r>
              <a:rPr sz="1700">
                <a:solidFill>
                  <a:srgbClr val="222B33"/>
                </a:solidFill>
                <a:latin typeface="Microsoft YaHei"/>
              </a:rPr>
              <a:t>▪ 条件变化，规程及时修订</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课程讲的通用做法，要落实成本实验室的辐射安全操作规程（本课不能代替本实验室规程）。规程至少写清：操作步骤和注意事项；人员培训和准入要求；个人防护和监测要求；屏蔽、通风柜、联锁等工程控制措施；废物收集；以及怀疑超剂量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规程锁在抽屉里，现场没人看过</a:t>
            </a:r>
          </a:p>
          <a:p>
            <a:pPr>
              <a:spcAft>
                <a:spcPts val="1000"/>
              </a:spcAft>
            </a:pPr>
            <a:r>
              <a:rPr sz="1500">
                <a:solidFill>
                  <a:srgbClr val="222B33"/>
                </a:solidFill>
                <a:latin typeface="Microsoft YaHei"/>
              </a:rPr>
              <a:t>▪ 换了设备还用旧规程</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个人剂量监测与职业健康检查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工作时佩戴个人剂量计，按周期送检</a:t>
            </a:r>
          </a:p>
          <a:p>
            <a:pPr>
              <a:spcAft>
                <a:spcPts val="1000"/>
              </a:spcAft>
            </a:pPr>
            <a:r>
              <a:rPr sz="1700">
                <a:solidFill>
                  <a:srgbClr val="222B33"/>
                </a:solidFill>
                <a:latin typeface="Microsoft YaHei"/>
              </a:rPr>
              <a:t>▪ 每个人都有个人剂量档案，异常查原因</a:t>
            </a:r>
          </a:p>
          <a:p>
            <a:pPr>
              <a:spcAft>
                <a:spcPts val="1000"/>
              </a:spcAft>
            </a:pPr>
            <a:r>
              <a:rPr sz="1700">
                <a:solidFill>
                  <a:srgbClr val="222B33"/>
                </a:solidFill>
                <a:latin typeface="Microsoft YaHei"/>
              </a:rPr>
              <a:t>▪ 上岗前、在岗期间、离岗时都要体检</a:t>
            </a:r>
          </a:p>
          <a:p>
            <a:pPr>
              <a:spcAft>
                <a:spcPts val="1000"/>
              </a:spcAft>
            </a:pPr>
            <a:r>
              <a:rPr sz="1700">
                <a:solidFill>
                  <a:srgbClr val="222B33"/>
                </a:solidFill>
                <a:latin typeface="Microsoft YaHei"/>
              </a:rPr>
              <a:t>▪ 到有资质的机构做职业健康检查</a:t>
            </a:r>
          </a:p>
          <a:p>
            <a:pPr>
              <a:spcAft>
                <a:spcPts val="1000"/>
              </a:spcAft>
            </a:pPr>
            <a:r>
              <a:rPr sz="1700">
                <a:solidFill>
                  <a:srgbClr val="222B33"/>
                </a:solidFill>
                <a:latin typeface="Microsoft YaHei"/>
              </a:rPr>
              <a:t>▪ 体检和剂量记录，长期保存</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辐射工作人员工作时按规定佩戴个人剂量计，按周期送有资质的机构测读（佩戴和保管见第 092 课）；单位为每个人建立个人剂量档案。读数异常时，要查明原因、采取措施并记录（见第 089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毕业离开时不做离岗体检</a:t>
            </a:r>
          </a:p>
          <a:p>
            <a:pPr>
              <a:spcAft>
                <a:spcPts val="1000"/>
              </a:spcAft>
            </a:pPr>
            <a:r>
              <a:rPr sz="1500">
                <a:solidFill>
                  <a:srgbClr val="222B33"/>
                </a:solidFill>
                <a:latin typeface="Microsoft YaHei"/>
              </a:rPr>
              <a:t>▪ 认为体检没问题就可以不戴剂量计</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准入：未经许可不进入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辐射工作场所，不能随便进</a:t>
            </a:r>
          </a:p>
          <a:p>
            <a:pPr>
              <a:spcAft>
                <a:spcPts val="1000"/>
              </a:spcAft>
            </a:pPr>
            <a:r>
              <a:rPr sz="1700">
                <a:solidFill>
                  <a:srgbClr val="222B33"/>
                </a:solidFill>
                <a:latin typeface="Microsoft YaHei"/>
              </a:rPr>
              <a:t>▪ 认准电离辐射警告标志和工作指示灯</a:t>
            </a:r>
          </a:p>
          <a:p>
            <a:pPr>
              <a:spcAft>
                <a:spcPts val="1000"/>
              </a:spcAft>
            </a:pPr>
            <a:r>
              <a:rPr sz="1700">
                <a:solidFill>
                  <a:srgbClr val="222B33"/>
                </a:solidFill>
                <a:latin typeface="Microsoft YaHei"/>
              </a:rPr>
              <a:t>▪ 没培训没授权，不进控制区、不开机</a:t>
            </a:r>
          </a:p>
          <a:p>
            <a:pPr>
              <a:spcAft>
                <a:spcPts val="1000"/>
              </a:spcAft>
            </a:pPr>
            <a:r>
              <a:rPr sz="1700">
                <a:solidFill>
                  <a:srgbClr val="222B33"/>
                </a:solidFill>
                <a:latin typeface="Microsoft YaHei"/>
              </a:rPr>
              <a:t>▪ 放射性样品，只在许可场所使用</a:t>
            </a:r>
          </a:p>
          <a:p>
            <a:pPr>
              <a:spcAft>
                <a:spcPts val="1000"/>
              </a:spcAft>
            </a:pPr>
            <a:r>
              <a:rPr sz="1700">
                <a:solidFill>
                  <a:srgbClr val="222B33"/>
                </a:solidFill>
                <a:latin typeface="Microsoft YaHei"/>
              </a:rPr>
              <a:t>▪ 来访参观有人陪同，听从安排</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辐射工作场所不能随便进：只有经过专门培训、获得授权的人员，才能在指定的场所按规定工作，并按规定佩戴个人剂量计；照射越少越好。进入前认准门口的电离辐射警告标志和工作状态指示灯，指示灯亮表示射线装置正在工作或源处于使用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看到门开着就进去找人</a:t>
            </a:r>
          </a:p>
          <a:p>
            <a:pPr>
              <a:spcAft>
                <a:spcPts val="1000"/>
              </a:spcAft>
            </a:pPr>
            <a:r>
              <a:rPr sz="1500">
                <a:solidFill>
                  <a:srgbClr val="222B33"/>
                </a:solidFill>
                <a:latin typeface="Microsoft YaHei"/>
              </a:rPr>
              <a:t>▪ 把放射性样品带回普通实验室继续做</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人员的权利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你有权了解岗位上的辐射风险</a:t>
            </a:r>
          </a:p>
          <a:p>
            <a:pPr>
              <a:spcAft>
                <a:spcPts val="1000"/>
              </a:spcAft>
            </a:pPr>
            <a:r>
              <a:rPr sz="1700">
                <a:solidFill>
                  <a:srgbClr val="222B33"/>
                </a:solidFill>
                <a:latin typeface="Microsoft YaHei"/>
              </a:rPr>
              <a:t>▪ 有权知道自己的剂量和体检结果</a:t>
            </a:r>
          </a:p>
          <a:p>
            <a:pPr>
              <a:spcAft>
                <a:spcPts val="1000"/>
              </a:spcAft>
            </a:pPr>
            <a:r>
              <a:rPr sz="1700">
                <a:solidFill>
                  <a:srgbClr val="222B33"/>
                </a:solidFill>
                <a:latin typeface="Microsoft YaHei"/>
              </a:rPr>
              <a:t>▪ 发现隐患，可以提出整改要求</a:t>
            </a:r>
          </a:p>
          <a:p>
            <a:pPr>
              <a:spcAft>
                <a:spcPts val="1000"/>
              </a:spcAft>
            </a:pPr>
            <a:r>
              <a:rPr sz="1700">
                <a:solidFill>
                  <a:srgbClr val="222B33"/>
                </a:solidFill>
                <a:latin typeface="Microsoft YaHei"/>
              </a:rPr>
              <a:t>▪ 条件不安全，可以先不进入</a:t>
            </a:r>
          </a:p>
          <a:p>
            <a:pPr>
              <a:spcAft>
                <a:spcPts val="1000"/>
              </a:spcAft>
            </a:pPr>
            <a:r>
              <a:rPr sz="1700">
                <a:solidFill>
                  <a:srgbClr val="222B33"/>
                </a:solidFill>
                <a:latin typeface="Microsoft YaHei"/>
              </a:rPr>
              <a:t>▪ 报告隐患，不会因此受追究</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辐射工作人员（包括学生）有权了解岗位存在的辐射危害、防护措施和应急措施，单位应当如实告知；有权接受培训、个人剂量监测和职业健康检查，有权查阅、复印本人的个人剂量和职业健康监护档案（《放射工作人员职业健康管理办法》《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不好意思问导师岗位有什么辐射风险</a:t>
            </a:r>
          </a:p>
          <a:p>
            <a:pPr>
              <a:spcAft>
                <a:spcPts val="1000"/>
              </a:spcAft>
            </a:pPr>
            <a:r>
              <a:rPr sz="1500">
                <a:solidFill>
                  <a:srgbClr val="222B33"/>
                </a:solidFill>
                <a:latin typeface="Microsoft YaHei"/>
              </a:rPr>
              <a:t>▪ 发现隐患怕“惹麻烦”不报告</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违规的法律责任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无证、超范围、丢源不报，都是违法</a:t>
            </a:r>
          </a:p>
          <a:p>
            <a:pPr>
              <a:spcAft>
                <a:spcPts val="1000"/>
              </a:spcAft>
            </a:pPr>
            <a:r>
              <a:rPr sz="2000">
                <a:solidFill>
                  <a:srgbClr val="222B33"/>
                </a:solidFill>
                <a:latin typeface="Microsoft YaHei"/>
              </a:rPr>
              <a:t>▪ 单位会被处罚，许可可能被吊销</a:t>
            </a:r>
          </a:p>
          <a:p>
            <a:pPr>
              <a:spcAft>
                <a:spcPts val="1000"/>
              </a:spcAft>
            </a:pPr>
            <a:r>
              <a:rPr sz="2000">
                <a:solidFill>
                  <a:srgbClr val="222B33"/>
                </a:solidFill>
                <a:latin typeface="Microsoft YaHei"/>
              </a:rPr>
              <a:t>▪ 造成严重后果，要追究法律责任</a:t>
            </a:r>
          </a:p>
          <a:p>
            <a:pPr>
              <a:spcAft>
                <a:spcPts val="1000"/>
              </a:spcAft>
            </a:pPr>
            <a:r>
              <a:rPr sz="2000">
                <a:solidFill>
                  <a:srgbClr val="222B33"/>
                </a:solidFill>
                <a:latin typeface="Microsoft YaHei"/>
              </a:rPr>
              <a:t>▪ 个人违规，学校也会严肃处理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无许可证或超出许可范围使用放射性同位素和射线装置、私自转让转借放射源、未按规定培训和监测、放射源丢失被盗不报告、违规排放放射性废物等，都违反《放射性污染防治法》和《放射性同位素与射线装置安全和防护条例》（以现行文本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以为“出了事有学校扛着”，个人违规无所谓</a:t>
            </a:r>
          </a:p>
          <a:p>
            <a:pPr>
              <a:spcAft>
                <a:spcPts val="1000"/>
              </a:spcAft>
            </a:pPr>
            <a:r>
              <a:rPr sz="1500">
                <a:solidFill>
                  <a:srgbClr val="222B33"/>
                </a:solidFill>
                <a:latin typeface="Microsoft YaHei"/>
              </a:rPr>
              <a:t>▪ 丢了源怕担责任，隐瞒不报</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课题组想新增一种放射性核素用于实验，正确的做法是：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先买来用，再补手续</a:t>
            </a:r>
          </a:p>
          <a:p>
            <a:pPr algn="l"/>
            <a:r>
              <a:rPr sz="1500" b="0">
                <a:solidFill>
                  <a:srgbClr val="222B33"/>
                </a:solidFill>
                <a:latin typeface="Microsoft YaHei"/>
              </a:rPr>
              <a:t>B. 向隔壁有许可证的课题组借用</a:t>
            </a:r>
          </a:p>
          <a:p>
            <a:pPr algn="l"/>
            <a:r>
              <a:rPr sz="1500" b="0">
                <a:solidFill>
                  <a:srgbClr val="222B33"/>
                </a:solidFill>
                <a:latin typeface="Microsoft YaHei"/>
              </a:rPr>
              <a:t>C. 通过学院向学校辐射安全管理部门申报，学校办理许可变更后再开展</a:t>
            </a:r>
          </a:p>
          <a:p>
            <a:pPr algn="l"/>
            <a:r>
              <a:rPr sz="1500" b="0">
                <a:solidFill>
                  <a:srgbClr val="222B33"/>
                </a:solidFill>
                <a:latin typeface="Microsoft YaHei"/>
              </a:rPr>
              <a:t>D. 只要剂量很小就不用申报</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判断：研究生只是来学习的，用放射源做实验不需要参加辐射安全培训考核。</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辐射工作人员的职业健康检查应在什么时候进行？</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只在上岗前</a:t>
            </a:r>
          </a:p>
          <a:p>
            <a:pPr algn="l"/>
            <a:r>
              <a:rPr sz="1500" b="0">
                <a:solidFill>
                  <a:srgbClr val="222B33"/>
                </a:solidFill>
                <a:latin typeface="Microsoft YaHei"/>
              </a:rPr>
              <a:t>B. 只在出现症状时</a:t>
            </a:r>
          </a:p>
          <a:p>
            <a:pPr algn="l"/>
            <a:r>
              <a:rPr sz="1500" b="0">
                <a:solidFill>
                  <a:srgbClr val="222B33"/>
                </a:solidFill>
                <a:latin typeface="Microsoft YaHei"/>
              </a:rPr>
              <a:t>C. 上岗前、在岗期间定期和离岗时，受到应急或事故照射时及时检查</a:t>
            </a:r>
          </a:p>
          <a:p>
            <a:pPr algn="l"/>
            <a:r>
              <a:rPr sz="1500" b="0">
                <a:solidFill>
                  <a:srgbClr val="222B33"/>
                </a:solidFill>
                <a:latin typeface="Microsoft YaHei"/>
              </a:rPr>
              <a:t>D. 毕业后自愿检查</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课题组之间私下借用放射源</a:t>
            </a:r>
          </a:p>
          <a:p>
            <a:pPr algn="l"/>
            <a:r>
              <a:rPr sz="1500" b="0">
                <a:solidFill>
                  <a:srgbClr val="222B33"/>
                </a:solidFill>
                <a:latin typeface="Microsoft YaHei"/>
              </a:rPr>
              <a:t>B. 放射源专人管理，出入登记，定期清点，做到账物相符</a:t>
            </a:r>
          </a:p>
          <a:p>
            <a:pPr algn="l"/>
            <a:r>
              <a:rPr sz="1500" b="0">
                <a:solidFill>
                  <a:srgbClr val="222B33"/>
                </a:solidFill>
                <a:latin typeface="Microsoft YaHei"/>
              </a:rPr>
              <a:t>C. 台账只记购入数量</a:t>
            </a:r>
          </a:p>
          <a:p>
            <a:pPr algn="l"/>
            <a:r>
              <a:rPr sz="1500" b="0">
                <a:solidFill>
                  <a:srgbClr val="222B33"/>
                </a:solidFill>
                <a:latin typeface="Microsoft YaHei"/>
              </a:rPr>
              <a:t>D. 培训合格过期后继续操作</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判断：发现射线装置的屏蔽有破损，学生有权提出整改要求，并可以在整改前先不进入。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简答：本实验室辐射安全操作规程至少应写清哪些内容？</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依法管理：辐射安全法规体系</a:t>
            </a:r>
          </a:p>
          <a:p>
            <a:pPr>
              <a:spcAft>
                <a:spcPts val="800"/>
              </a:spcAft>
            </a:pPr>
            <a:r>
              <a:rPr sz="1500">
                <a:solidFill>
                  <a:srgbClr val="FFFFFF"/>
                </a:solidFill>
                <a:latin typeface="Microsoft YaHei"/>
              </a:rPr>
              <a:t>▪ K2  辐射安全许可证</a:t>
            </a:r>
          </a:p>
          <a:p>
            <a:pPr>
              <a:spcAft>
                <a:spcPts val="800"/>
              </a:spcAft>
            </a:pPr>
            <a:r>
              <a:rPr sz="1500">
                <a:solidFill>
                  <a:srgbClr val="FFFFFF"/>
                </a:solidFill>
                <a:latin typeface="Microsoft YaHei"/>
              </a:rPr>
              <a:t>▪ K3  持证使用，建好台账</a:t>
            </a:r>
          </a:p>
          <a:p>
            <a:pPr>
              <a:spcAft>
                <a:spcPts val="800"/>
              </a:spcAft>
            </a:pPr>
            <a:r>
              <a:rPr sz="1500">
                <a:solidFill>
                  <a:srgbClr val="FFFFFF"/>
                </a:solidFill>
                <a:latin typeface="Microsoft YaHei"/>
              </a:rPr>
              <a:t>▪ K4  学校辐射安全管理机构与负责人</a:t>
            </a:r>
          </a:p>
          <a:p>
            <a:pPr>
              <a:spcAft>
                <a:spcPts val="800"/>
              </a:spcAft>
            </a:pPr>
            <a:r>
              <a:rPr sz="1500">
                <a:solidFill>
                  <a:srgbClr val="FFFFFF"/>
                </a:solidFill>
                <a:latin typeface="Microsoft YaHei"/>
              </a:rPr>
              <a:t>▪ K5  辐射工作人员与公众</a:t>
            </a:r>
          </a:p>
          <a:p>
            <a:pPr>
              <a:spcAft>
                <a:spcPts val="800"/>
              </a:spcAft>
            </a:pPr>
            <a:r>
              <a:rPr sz="1500">
                <a:solidFill>
                  <a:srgbClr val="FFFFFF"/>
                </a:solidFill>
                <a:latin typeface="Microsoft YaHei"/>
              </a:rPr>
              <a:t>▪ K6  先培训考核，再上岗</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定期复训，结合岗位讨论</a:t>
            </a:r>
          </a:p>
          <a:p>
            <a:pPr>
              <a:spcAft>
                <a:spcPts val="800"/>
              </a:spcAft>
            </a:pPr>
            <a:r>
              <a:rPr sz="1500">
                <a:solidFill>
                  <a:srgbClr val="FFFFFF"/>
                </a:solidFill>
                <a:latin typeface="Microsoft YaHei"/>
              </a:rPr>
              <a:t>▪ K8  本实验室辐射安全操作规程</a:t>
            </a:r>
          </a:p>
          <a:p>
            <a:pPr>
              <a:spcAft>
                <a:spcPts val="800"/>
              </a:spcAft>
            </a:pPr>
            <a:r>
              <a:rPr sz="1500">
                <a:solidFill>
                  <a:srgbClr val="FFFFFF"/>
                </a:solidFill>
                <a:latin typeface="Microsoft YaHei"/>
              </a:rPr>
              <a:t>▪ K9  个人剂量监测与职业健康检查</a:t>
            </a:r>
          </a:p>
          <a:p>
            <a:pPr>
              <a:spcAft>
                <a:spcPts val="800"/>
              </a:spcAft>
            </a:pPr>
            <a:r>
              <a:rPr sz="1500">
                <a:solidFill>
                  <a:srgbClr val="FFFFFF"/>
                </a:solidFill>
                <a:latin typeface="Microsoft YaHei"/>
              </a:rPr>
              <a:t>▪ K10  准入：未经许可不进入</a:t>
            </a:r>
          </a:p>
          <a:p>
            <a:pPr>
              <a:spcAft>
                <a:spcPts val="800"/>
              </a:spcAft>
            </a:pPr>
            <a:r>
              <a:rPr sz="1500">
                <a:solidFill>
                  <a:srgbClr val="FFFFFF"/>
                </a:solidFill>
                <a:latin typeface="Microsoft YaHei"/>
              </a:rPr>
              <a:t>▪ K11  人员的权利</a:t>
            </a:r>
          </a:p>
          <a:p>
            <a:pPr>
              <a:spcAft>
                <a:spcPts val="800"/>
              </a:spcAft>
            </a:pPr>
            <a:r>
              <a:rPr sz="1500">
                <a:solidFill>
                  <a:srgbClr val="FFFFFF"/>
                </a:solidFill>
                <a:latin typeface="Microsoft YaHei"/>
              </a:rPr>
              <a:t>▪ S1  违规的法律责任</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放射源与射线装置</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83 镜）　适用对象：使用密封放射源、含源仪器或射线装置（X射线衍射仪、荧光分析仪、CT、辐照仪、探伤机等）的本科生、研究生和教职工，以及实验室负责人、设备管理人员和辐射安全管理人员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能说出放射源与射线装置的区别，知道放射源分五类、射线装置分三类，类别越高管理越严。</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能认出当心电离辐射警告标志、工作指示灯、急停按钮和门机联锁，能做到指示灯亮不开门、不旁路联锁、开机前检查、读数异常就停机报告。</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能做到放射源双人双锁保管、领用登记、用后当场归位、校内转移用屏蔽容器专人护送，发现丢失被盗立即报告。</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能判断含源仪器、密封源泄漏检查、警戒区划定和新建改建验收的基本要求。</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《放射性同位素与射线装置安全和防护条例》（以现行文本为准）：射线装置防误操作和意外照射的安全措施，放射源储存的防火、防水、防盗、防丢失、防破坏、防射线泄漏，台账和丢失被盗报告</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《放射性同位素与射线装置安全和防护管理办法》（以现行文本为准）：场所安全和防护、监测、废旧放射源处置</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《放射源分类办法》（以现行文本为准）：放射源按潜在危害分为 I–V 类</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《射线装置分类》（以现行文本为准）：射线装置分为 I–III 类</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《建设项目环境保护管理条例》（以现行文本为准）：环境影响评价、“三同时”和竣工环境保护验收</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18871-2002（以现行文本为准）《电离辐射防护与辐射源安全基本标准》：电离辐射标志和警告标志、控制区与监督区、源的安全</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11806-2019（以现行文本为准）《放射性物品安全运输规程》</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本校辐射安全管理制度和本实验室设备操作规程（以本校规定为准）</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两类辐射源：放射源与射线装置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辐射源分两类：放射源和射线装置</a:t>
            </a:r>
          </a:p>
          <a:p>
            <a:pPr>
              <a:spcAft>
                <a:spcPts val="1000"/>
              </a:spcAft>
            </a:pPr>
            <a:r>
              <a:rPr sz="1700">
                <a:solidFill>
                  <a:srgbClr val="222B33"/>
                </a:solidFill>
                <a:latin typeface="Microsoft YaHei"/>
              </a:rPr>
              <a:t>▪ 密封源把放射性物质封在包壳里</a:t>
            </a:r>
          </a:p>
          <a:p>
            <a:pPr>
              <a:spcAft>
                <a:spcPts val="1000"/>
              </a:spcAft>
            </a:pPr>
            <a:r>
              <a:rPr sz="1700">
                <a:solidFill>
                  <a:srgbClr val="222B33"/>
                </a:solidFill>
                <a:latin typeface="Microsoft YaHei"/>
              </a:rPr>
              <a:t>▪ 放射源时刻发出射线，关不掉</a:t>
            </a:r>
          </a:p>
          <a:p>
            <a:pPr>
              <a:spcAft>
                <a:spcPts val="1000"/>
              </a:spcAft>
            </a:pPr>
            <a:r>
              <a:rPr sz="1700">
                <a:solidFill>
                  <a:srgbClr val="222B33"/>
                </a:solidFill>
                <a:latin typeface="Microsoft YaHei"/>
              </a:rPr>
              <a:t>▪ 射线装置靠高压让电子打靶产生X射线</a:t>
            </a:r>
          </a:p>
          <a:p>
            <a:pPr>
              <a:spcAft>
                <a:spcPts val="1000"/>
              </a:spcAft>
            </a:pPr>
            <a:r>
              <a:rPr sz="1700">
                <a:solidFill>
                  <a:srgbClr val="222B33"/>
                </a:solidFill>
                <a:latin typeface="Microsoft YaHei"/>
              </a:rPr>
              <a:t>▪ 断电即停：管源重防丢，管装置重开机</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源是用放射性物质制成的辐射源，实验室常见的是密封放射源：放射性物质被永久密封在包壳里（或紧密固结），正常使用时不会漏出。放射源一直在衰变，时时刻刻都在发出射线，没有“开关”，只能靠屏蔽容器和距离来防护（射线性质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以为放射源“不用的时候”就没有射线</a:t>
            </a:r>
          </a:p>
          <a:p>
            <a:pPr>
              <a:spcAft>
                <a:spcPts val="1000"/>
              </a:spcAft>
            </a:pPr>
            <a:r>
              <a:rPr sz="1500">
                <a:solidFill>
                  <a:srgbClr val="222B33"/>
                </a:solidFill>
                <a:latin typeface="Microsoft YaHei"/>
              </a:rPr>
              <a:t>▪ 以为射线装置断电后房间里还有残留射线、长期不敢进入（普通 X射线装置断电即停；加速器等特殊装置按本校规程）</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放射源与射线装置的分类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放射源按潜在危害从高到低分 I–V 类</a:t>
            </a:r>
          </a:p>
          <a:p>
            <a:pPr>
              <a:spcAft>
                <a:spcPts val="1000"/>
              </a:spcAft>
            </a:pPr>
            <a:r>
              <a:rPr sz="2000">
                <a:solidFill>
                  <a:srgbClr val="222B33"/>
                </a:solidFill>
                <a:latin typeface="Microsoft YaHei"/>
              </a:rPr>
              <a:t>▪ 射线装置分为 I、II、III 类</a:t>
            </a:r>
          </a:p>
          <a:p>
            <a:pPr>
              <a:spcAft>
                <a:spcPts val="1000"/>
              </a:spcAft>
            </a:pPr>
            <a:r>
              <a:rPr sz="2000">
                <a:solidFill>
                  <a:srgbClr val="222B33"/>
                </a:solidFill>
                <a:latin typeface="Microsoft YaHei"/>
              </a:rPr>
              <a:t>▪ 类别越高，许可和管理要求越严</a:t>
            </a:r>
          </a:p>
          <a:p>
            <a:pPr>
              <a:spcAft>
                <a:spcPts val="1000"/>
              </a:spcAft>
            </a:pPr>
            <a:r>
              <a:rPr sz="2000">
                <a:solidFill>
                  <a:srgbClr val="222B33"/>
                </a:solidFill>
                <a:latin typeface="Microsoft YaHei"/>
              </a:rPr>
              <a:t>▪ 具体类别以现行分类和许可证为准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我国按放射源对人体健康和环境的潜在危害程度，把放射源从高到低分为 I、II、III、IV、V 类（I 类极高危险，V 类极低危险），依据是《放射源分类办法》（以现行文本为准）。射线装置按对人体和环境的潜在危害分为 I……</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 V 类源、III 类装置“没危险”，不需要许可和台账</a:t>
            </a:r>
          </a:p>
          <a:p>
            <a:pPr>
              <a:spcAft>
                <a:spcPts val="1000"/>
              </a:spcAft>
            </a:pPr>
            <a:r>
              <a:rPr sz="1500">
                <a:solidFill>
                  <a:srgbClr val="222B33"/>
                </a:solidFill>
                <a:latin typeface="Microsoft YaHei"/>
              </a:rPr>
              <a:t>▪ 凭经验自行判断类别，不查许可证和台账</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射线探伤：不破坏就能看内部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射线探伤不切开就能看出内部缺陷</a:t>
            </a:r>
          </a:p>
          <a:p>
            <a:pPr>
              <a:spcAft>
                <a:spcPts val="1000"/>
              </a:spcAft>
            </a:pPr>
            <a:r>
              <a:rPr sz="2000">
                <a:solidFill>
                  <a:srgbClr val="222B33"/>
                </a:solidFill>
                <a:latin typeface="Microsoft YaHei"/>
              </a:rPr>
              <a:t>▪ 可用γ放射源，也可用X射线机</a:t>
            </a:r>
          </a:p>
          <a:p>
            <a:pPr>
              <a:spcAft>
                <a:spcPts val="1000"/>
              </a:spcAft>
            </a:pPr>
            <a:r>
              <a:rPr sz="2000">
                <a:solidFill>
                  <a:srgbClr val="222B33"/>
                </a:solidFill>
                <a:latin typeface="Microsoft YaHei"/>
              </a:rPr>
              <a:t>▪ 校内射线装置原理与探伤相通</a:t>
            </a:r>
          </a:p>
          <a:p>
            <a:pPr>
              <a:spcAft>
                <a:spcPts val="1000"/>
              </a:spcAft>
            </a:pPr>
            <a:r>
              <a:rPr sz="2000">
                <a:solidFill>
                  <a:srgbClr val="222B33"/>
                </a:solidFill>
                <a:latin typeface="Microsoft YaHei"/>
              </a:rPr>
              <a:t>▪ 探伤源活度大，管理格外严格</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工业射线探伤是一种无损检测方法：让射线穿过焊缝、铸件或管道，在另一侧用胶片或数字探测器成像，射线被缺陷处吸收得少，影像上就显出裂纹、气孔、夹渣等内部缺陷，不用切开、不破坏工件。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以为探伤机“只是一台检测仪器”，未经授权就去操作</a:t>
            </a:r>
          </a:p>
          <a:p>
            <a:pPr>
              <a:spcAft>
                <a:spcPts val="1000"/>
              </a:spcAft>
            </a:pPr>
            <a:r>
              <a:rPr sz="1500">
                <a:solidFill>
                  <a:srgbClr val="222B33"/>
                </a:solidFill>
                <a:latin typeface="Microsoft YaHei"/>
              </a:rPr>
              <a:t>▪ 曝光结束后不测量就靠近，确认不了源是否已收回</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电离辐射警告标志与出入管理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认准“当心电离辐射”警告标志</a:t>
            </a:r>
          </a:p>
          <a:p>
            <a:pPr>
              <a:spcAft>
                <a:spcPts val="1000"/>
              </a:spcAft>
            </a:pPr>
            <a:r>
              <a:rPr sz="1700">
                <a:solidFill>
                  <a:srgbClr val="222B33"/>
                </a:solidFill>
                <a:latin typeface="Microsoft YaHei"/>
              </a:rPr>
              <a:t>▪ 国内用国家标准规定的标志，不照搬国外颜色</a:t>
            </a:r>
          </a:p>
          <a:p>
            <a:pPr>
              <a:spcAft>
                <a:spcPts val="1000"/>
              </a:spcAft>
            </a:pPr>
            <a:r>
              <a:rPr sz="1700">
                <a:solidFill>
                  <a:srgbClr val="222B33"/>
                </a:solidFill>
                <a:latin typeface="Microsoft YaHei"/>
              </a:rPr>
              <a:t>▪ 源、设备、场所、废物都要有标志</a:t>
            </a:r>
          </a:p>
          <a:p>
            <a:pPr>
              <a:spcAft>
                <a:spcPts val="1000"/>
              </a:spcAft>
            </a:pPr>
            <a:r>
              <a:rPr sz="1700">
                <a:solidFill>
                  <a:srgbClr val="222B33"/>
                </a:solidFill>
                <a:latin typeface="Microsoft YaHei"/>
              </a:rPr>
              <a:t>▪ 控制区严格限制，监督区也要管理</a:t>
            </a:r>
          </a:p>
          <a:p>
            <a:pPr>
              <a:spcAft>
                <a:spcPts val="1000"/>
              </a:spcAft>
            </a:pPr>
            <a:r>
              <a:rPr sz="1700">
                <a:solidFill>
                  <a:srgbClr val="222B33"/>
                </a:solidFill>
                <a:latin typeface="Microsoft YaHei"/>
              </a:rPr>
              <a:t>▪ 授权才能进，离开前检查手和衣物</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GB 18871-2002（以现行文本为准）规定了电离辐射标志（三叶形）和电离辐射警告标志（黄色三角形警告框内为三叶形标志，配“当心电离辐射”字样）。放射源及其容器、射线装置、辐射工作场所入口、放射性废物桶和暂存间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看到标志不知道含义，照常进出</a:t>
            </a:r>
          </a:p>
          <a:p>
            <a:pPr>
              <a:spcAft>
                <a:spcPts val="1000"/>
              </a:spcAft>
            </a:pPr>
            <a:r>
              <a:rPr sz="1500">
                <a:solidFill>
                  <a:srgbClr val="222B33"/>
                </a:solidFill>
                <a:latin typeface="Microsoft YaHei"/>
              </a:rPr>
              <a:t>▪ 门口标志被柜子挡住或褪色脱落，没人补</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门机联锁、指示灯和急停不能旁路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门一开，射线自动停，这叫门机联锁</a:t>
            </a:r>
          </a:p>
          <a:p>
            <a:pPr>
              <a:spcAft>
                <a:spcPts val="1000"/>
              </a:spcAft>
            </a:pPr>
            <a:r>
              <a:rPr sz="1700">
                <a:solidFill>
                  <a:srgbClr val="222B33"/>
                </a:solidFill>
                <a:latin typeface="Microsoft YaHei"/>
              </a:rPr>
              <a:t>▪ 工作指示灯亮，不开门、不靠近</a:t>
            </a:r>
          </a:p>
          <a:p>
            <a:pPr>
              <a:spcAft>
                <a:spcPts val="1000"/>
              </a:spcAft>
            </a:pPr>
            <a:r>
              <a:rPr sz="1700">
                <a:solidFill>
                  <a:srgbClr val="222B33"/>
                </a:solidFill>
                <a:latin typeface="Microsoft YaHei"/>
              </a:rPr>
              <a:t>▪ 认准急停按钮，异常立即按下</a:t>
            </a:r>
          </a:p>
          <a:p>
            <a:pPr>
              <a:spcAft>
                <a:spcPts val="1000"/>
              </a:spcAft>
            </a:pPr>
            <a:r>
              <a:rPr sz="1700">
                <a:solidFill>
                  <a:srgbClr val="222B33"/>
                </a:solidFill>
                <a:latin typeface="Microsoft YaHei"/>
              </a:rPr>
              <a:t>▪ 严禁短接、贴住、拆除联锁</a:t>
            </a:r>
          </a:p>
          <a:p>
            <a:pPr>
              <a:spcAft>
                <a:spcPts val="1000"/>
              </a:spcAft>
            </a:pPr>
            <a:r>
              <a:rPr sz="1700">
                <a:solidFill>
                  <a:srgbClr val="222B33"/>
                </a:solidFill>
                <a:latin typeface="Microsoft YaHei"/>
              </a:rPr>
              <a:t>▪ 开机前检查，失灵就停用报修</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射线装置的机房和自屏蔽设备都设有防止误照射的安全装置：门机联锁（防护门或设备门打开时射线自动停止，门没关好不能出束）、工作状态指示灯（门上方或设备上，出束时亮）、急停按钮（控制台、机房内等位置，按下立即停止出束）以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嫌联锁麻烦，用磁铁或胶带让开关“常闭”</a:t>
            </a:r>
          </a:p>
          <a:p>
            <a:pPr>
              <a:spcAft>
                <a:spcPts val="1000"/>
              </a:spcAft>
            </a:pPr>
            <a:r>
              <a:rPr sz="1500">
                <a:solidFill>
                  <a:srgbClr val="222B33"/>
                </a:solidFill>
                <a:latin typeface="Microsoft YaHei"/>
              </a:rPr>
              <a:t>▪ 指示灯坏了照样开机，靠记忆判断是否出束</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屏蔽不擅改，剂量靠实测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屏蔽墙、铅门都经过设计和验收</a:t>
            </a:r>
          </a:p>
          <a:p>
            <a:pPr>
              <a:spcAft>
                <a:spcPts val="1000"/>
              </a:spcAft>
            </a:pPr>
            <a:r>
              <a:rPr sz="2000">
                <a:solidFill>
                  <a:srgbClr val="222B33"/>
                </a:solidFill>
                <a:latin typeface="Microsoft YaHei"/>
              </a:rPr>
              <a:t>▪ 不得擅自拆移、改动屏蔽</a:t>
            </a:r>
          </a:p>
          <a:p>
            <a:pPr>
              <a:spcAft>
                <a:spcPts val="1000"/>
              </a:spcAft>
            </a:pPr>
            <a:r>
              <a:rPr sz="2000">
                <a:solidFill>
                  <a:srgbClr val="222B33"/>
                </a:solidFill>
                <a:latin typeface="Microsoft YaHei"/>
              </a:rPr>
              <a:t>▪ 计算只是估计，要用仪器实测</a:t>
            </a:r>
          </a:p>
          <a:p>
            <a:pPr>
              <a:spcAft>
                <a:spcPts val="1000"/>
              </a:spcAft>
            </a:pPr>
            <a:r>
              <a:rPr sz="2000">
                <a:solidFill>
                  <a:srgbClr val="222B33"/>
                </a:solidFill>
                <a:latin typeface="Microsoft YaHei"/>
              </a:rPr>
              <a:t>▪ 读数异常，停止工作，报告负责人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机房的屏蔽墙、防护门、观察窗和设备自带的屏蔽都是按设计计算建造、经检测验收的（屏蔽设计和半值层计算见第 090 课）。不得擅自拆移屏蔽、在墙上开孔穿线、更换防护门或改变设备的准直和屏蔽部件；需要改动的，先报学校辐射安……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为了接线在机房墙上自行开孔</a:t>
            </a:r>
          </a:p>
          <a:p>
            <a:pPr>
              <a:spcAft>
                <a:spcPts val="1000"/>
              </a:spcAft>
            </a:pPr>
            <a:r>
              <a:rPr sz="1500">
                <a:solidFill>
                  <a:srgbClr val="222B33"/>
                </a:solidFill>
                <a:latin typeface="Microsoft YaHei"/>
              </a:rPr>
              <a:t>▪ 只信设计计算，从不实测</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作业前核查：证、人、仪器、场所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开工前，先查许可、风险评估和作业许可</a:t>
            </a:r>
          </a:p>
          <a:p>
            <a:pPr>
              <a:spcAft>
                <a:spcPts val="1000"/>
              </a:spcAft>
            </a:pPr>
            <a:r>
              <a:rPr sz="1700">
                <a:solidFill>
                  <a:srgbClr val="222B33"/>
                </a:solidFill>
                <a:latin typeface="Microsoft YaHei"/>
              </a:rPr>
              <a:t>▪ 人员要培训合格、体检合格</a:t>
            </a:r>
          </a:p>
          <a:p>
            <a:pPr>
              <a:spcAft>
                <a:spcPts val="1000"/>
              </a:spcAft>
            </a:pPr>
            <a:r>
              <a:rPr sz="1700">
                <a:solidFill>
                  <a:srgbClr val="222B33"/>
                </a:solidFill>
                <a:latin typeface="Microsoft YaHei"/>
              </a:rPr>
              <a:t>▪ 巡测仪和剂量计要在校准有效期内</a:t>
            </a:r>
          </a:p>
          <a:p>
            <a:pPr>
              <a:spcAft>
                <a:spcPts val="1000"/>
              </a:spcAft>
            </a:pPr>
            <a:r>
              <a:rPr sz="1700">
                <a:solidFill>
                  <a:srgbClr val="222B33"/>
                </a:solidFill>
                <a:latin typeface="Microsoft YaHei"/>
              </a:rPr>
              <a:t>▪ 查衰变表，掌握源当前强度</a:t>
            </a:r>
          </a:p>
          <a:p>
            <a:pPr>
              <a:spcAft>
                <a:spcPts val="1000"/>
              </a:spcAft>
            </a:pPr>
            <a:r>
              <a:rPr sz="1700">
                <a:solidFill>
                  <a:srgbClr val="222B33"/>
                </a:solidFill>
                <a:latin typeface="Microsoft YaHei"/>
              </a:rPr>
              <a:t>▪ 运输容器和车辆合格；缺一项不开工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射线探伤等高风险作业开工前，辐射安全负责人或作业负责人要逐项核查：辐射安全许可证覆盖本次作业，作业许可已批准，风险评估已完成；操作人员辐射安全培训考核合格、职业健康检查合格、佩戴个人剂量计（见第 093 课）；巡测仪……</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巡测仪过了校准期，“先凑合用”</a:t>
            </a:r>
          </a:p>
          <a:p>
            <a:pPr>
              <a:spcAft>
                <a:spcPts val="1000"/>
              </a:spcAft>
            </a:pPr>
            <a:r>
              <a:rPr sz="1500">
                <a:solidFill>
                  <a:srgbClr val="222B33"/>
                </a:solidFill>
                <a:latin typeface="Microsoft YaHei"/>
              </a:rPr>
              <a:t>▪ 赶进度，人员证件和作业许可开工后再补</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警戒区：按实测划边界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现场作业，按实测剂量率划警戒区</a:t>
            </a:r>
          </a:p>
          <a:p>
            <a:pPr>
              <a:spcAft>
                <a:spcPts val="1000"/>
              </a:spcAft>
            </a:pPr>
            <a:r>
              <a:rPr sz="1700">
                <a:solidFill>
                  <a:srgbClr val="222B33"/>
                </a:solidFill>
                <a:latin typeface="Microsoft YaHei"/>
              </a:rPr>
              <a:t>▪ 公众的要求比工作人员更严</a:t>
            </a:r>
          </a:p>
          <a:p>
            <a:pPr>
              <a:spcAft>
                <a:spcPts val="1000"/>
              </a:spcAft>
            </a:pPr>
            <a:r>
              <a:rPr sz="1700">
                <a:solidFill>
                  <a:srgbClr val="222B33"/>
                </a:solidFill>
                <a:latin typeface="Microsoft YaHei"/>
              </a:rPr>
              <a:t>▪ 拉警戒线、挂标志、亮警示灯</a:t>
            </a:r>
          </a:p>
          <a:p>
            <a:pPr>
              <a:spcAft>
                <a:spcPts val="1000"/>
              </a:spcAft>
            </a:pPr>
            <a:r>
              <a:rPr sz="1700">
                <a:solidFill>
                  <a:srgbClr val="222B33"/>
                </a:solidFill>
                <a:latin typeface="Microsoft YaHei"/>
              </a:rPr>
              <a:t>▪ 专人看守，无关人员不得进入</a:t>
            </a:r>
          </a:p>
          <a:p>
            <a:pPr>
              <a:spcAft>
                <a:spcPts val="1000"/>
              </a:spcAft>
            </a:pPr>
            <a:r>
              <a:rPr sz="1700">
                <a:solidFill>
                  <a:srgbClr val="222B33"/>
                </a:solidFill>
                <a:latin typeface="Microsoft YaHei"/>
              </a:rPr>
              <a:t>▪ 确认源已收回，才能撤警戒</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在探伤室以外的现场进行射线作业（如在实验大厅、工地探伤）时，要把作业区域划为控制区和监督区，设置警戒。边界按巡测仪实测的剂量率和现行标准规定来划，不凭经验估计；公众的剂量限值比工作人员严得多（见第 089 课），所以……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凭“大概几米”拉警戒线，不实测</a:t>
            </a:r>
          </a:p>
          <a:p>
            <a:pPr>
              <a:spcAft>
                <a:spcPts val="1000"/>
              </a:spcAft>
            </a:pPr>
            <a:r>
              <a:rPr sz="1500">
                <a:solidFill>
                  <a:srgbClr val="222B33"/>
                </a:solidFill>
                <a:latin typeface="Microsoft YaHei"/>
              </a:rPr>
              <a:t>▪ 作业结束不测量就撤警戒、让人进入</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放射源保管：专库、双人双锁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放射源存放在专用源库或保险柜</a:t>
            </a:r>
          </a:p>
          <a:p>
            <a:pPr>
              <a:spcAft>
                <a:spcPts val="1000"/>
              </a:spcAft>
            </a:pPr>
            <a:r>
              <a:rPr sz="1700">
                <a:solidFill>
                  <a:srgbClr val="222B33"/>
                </a:solidFill>
                <a:latin typeface="Microsoft YaHei"/>
              </a:rPr>
              <a:t>▪ 做到防火、防水、防盗、防丢失、防破坏、防泄漏</a:t>
            </a:r>
          </a:p>
          <a:p>
            <a:pPr>
              <a:spcAft>
                <a:spcPts val="1000"/>
              </a:spcAft>
            </a:pPr>
            <a:r>
              <a:rPr sz="1700">
                <a:solidFill>
                  <a:srgbClr val="222B33"/>
                </a:solidFill>
                <a:latin typeface="Microsoft YaHei"/>
              </a:rPr>
              <a:t>▪ 双人双锁，一个人打不开</a:t>
            </a:r>
          </a:p>
          <a:p>
            <a:pPr>
              <a:spcAft>
                <a:spcPts val="1000"/>
              </a:spcAft>
            </a:pPr>
            <a:r>
              <a:rPr sz="1700">
                <a:solidFill>
                  <a:srgbClr val="222B33"/>
                </a:solidFill>
                <a:latin typeface="Microsoft YaHei"/>
              </a:rPr>
              <a:t>▪ 定期清点，账物相符</a:t>
            </a:r>
          </a:p>
          <a:p>
            <a:pPr>
              <a:spcAft>
                <a:spcPts val="1000"/>
              </a:spcAft>
            </a:pPr>
            <a:r>
              <a:rPr sz="1700">
                <a:solidFill>
                  <a:srgbClr val="222B33"/>
                </a:solidFill>
                <a:latin typeface="Microsoft YaHei"/>
              </a:rPr>
              <a:t>▪ 发现丢失被盗，立即报告，不得隐瞒</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源不用时存放在专用源库或专用保险柜里，不与易燃易爆、腐蚀性物品混放。《放射性同位素与射线装置安全和防护条例》（以现行文本为准）要求储存场所采取防火、防水、防盗、防丢失、防破坏、防射线泄漏的安全措施；按源的类别和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一个人掌握两把钥匙，“双锁”形同虚设</a:t>
            </a:r>
          </a:p>
          <a:p>
            <a:pPr>
              <a:spcAft>
                <a:spcPts val="1000"/>
              </a:spcAft>
            </a:pPr>
            <a:r>
              <a:rPr sz="1500">
                <a:solidFill>
                  <a:srgbClr val="222B33"/>
                </a:solidFill>
                <a:latin typeface="Microsoft YaHei"/>
              </a:rPr>
              <a:t>▪ 清点时发现少了一个，想先自己找找再说</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领用归还：当场归位，交接签字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领用登记：谁、何时、用在哪</a:t>
            </a:r>
          </a:p>
          <a:p>
            <a:pPr>
              <a:spcAft>
                <a:spcPts val="1000"/>
              </a:spcAft>
            </a:pPr>
            <a:r>
              <a:rPr sz="1700">
                <a:solidFill>
                  <a:srgbClr val="222B33"/>
                </a:solidFill>
                <a:latin typeface="Microsoft YaHei"/>
              </a:rPr>
              <a:t>▪ 用工具取放，不徒手拿源</a:t>
            </a:r>
          </a:p>
          <a:p>
            <a:pPr>
              <a:spcAft>
                <a:spcPts val="1000"/>
              </a:spcAft>
            </a:pPr>
            <a:r>
              <a:rPr sz="1700">
                <a:solidFill>
                  <a:srgbClr val="222B33"/>
                </a:solidFill>
                <a:latin typeface="Microsoft YaHei"/>
              </a:rPr>
              <a:t>▪ 用完当场放回，签字归还</a:t>
            </a:r>
          </a:p>
          <a:p>
            <a:pPr>
              <a:spcAft>
                <a:spcPts val="1000"/>
              </a:spcAft>
            </a:pPr>
            <a:r>
              <a:rPr sz="1700">
                <a:solidFill>
                  <a:srgbClr val="222B33"/>
                </a:solidFill>
                <a:latin typeface="Microsoft YaHei"/>
              </a:rPr>
              <a:t>▪ 不放桌上或抽屉里过夜</a:t>
            </a:r>
          </a:p>
          <a:p>
            <a:pPr>
              <a:spcAft>
                <a:spcPts val="1000"/>
              </a:spcAft>
            </a:pPr>
            <a:r>
              <a:rPr sz="1700">
                <a:solidFill>
                  <a:srgbClr val="222B33"/>
                </a:solidFill>
                <a:latin typeface="Microsoft YaHei"/>
              </a:rPr>
              <a:t>▪ 离开前扫台面；交接时账物一一对上</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领用放射源要经授权，在领用登记本上写明领用人、源编号、时间、用途和使用地点，需要时经实验室负责人批准。取放源用长柄镊子等工具，不徒手拿源（距离防护见第 090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检查源用完随手放在仪器旁，第二天再还</a:t>
            </a:r>
          </a:p>
          <a:p>
            <a:pPr>
              <a:spcAft>
                <a:spcPts val="1000"/>
              </a:spcAft>
            </a:pPr>
            <a:r>
              <a:rPr sz="1500">
                <a:solidFill>
                  <a:srgbClr val="222B33"/>
                </a:solidFill>
                <a:latin typeface="Microsoft YaHei"/>
              </a:rPr>
              <a:t>▪ 交接时只交钥匙，不逐个核对</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校内转移：屏蔽容器，专人护送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校内转移，装进屏蔽容器</a:t>
            </a:r>
          </a:p>
          <a:p>
            <a:pPr>
              <a:spcAft>
                <a:spcPts val="1000"/>
              </a:spcAft>
            </a:pPr>
            <a:r>
              <a:rPr sz="1700">
                <a:solidFill>
                  <a:srgbClr val="222B33"/>
                </a:solidFill>
                <a:latin typeface="Microsoft YaHei"/>
              </a:rPr>
              <a:t>▪ 贴好标志，登记去向</a:t>
            </a:r>
          </a:p>
          <a:p>
            <a:pPr>
              <a:spcAft>
                <a:spcPts val="1000"/>
              </a:spcAft>
            </a:pPr>
            <a:r>
              <a:rPr sz="1700">
                <a:solidFill>
                  <a:srgbClr val="222B33"/>
                </a:solidFill>
                <a:latin typeface="Microsoft YaHei"/>
              </a:rPr>
              <a:t>▪ 专人护送，走规定路线</a:t>
            </a:r>
          </a:p>
          <a:p>
            <a:pPr>
              <a:spcAft>
                <a:spcPts val="1000"/>
              </a:spcAft>
            </a:pPr>
            <a:r>
              <a:rPr sz="1700">
                <a:solidFill>
                  <a:srgbClr val="222B33"/>
                </a:solidFill>
                <a:latin typeface="Microsoft YaHei"/>
              </a:rPr>
              <a:t>▪ 绝不能放进包里、口袋里带走</a:t>
            </a:r>
          </a:p>
          <a:p>
            <a:pPr>
              <a:spcAft>
                <a:spcPts val="1000"/>
              </a:spcAft>
            </a:pPr>
            <a:r>
              <a:rPr sz="1700">
                <a:solidFill>
                  <a:srgbClr val="222B33"/>
                </a:solidFill>
                <a:latin typeface="Microsoft YaHei"/>
              </a:rPr>
              <a:t>▪ 出校运输按运输规程，由有资质单位承运</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在校内不同实验室、楼宇之间转移放射源或放射性物质，要事先经批准，装进合适的屏蔽容器并固定好，容器外贴电离辐射标志和标签，在台账上登记去向。由经培训的专人用推车护送，走规定路线，避开人多的时段和地点，不乘坐客梯与他人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嫌麻烦，把小源揣在口袋里送到隔壁楼</a:t>
            </a:r>
          </a:p>
          <a:p>
            <a:pPr>
              <a:spcAft>
                <a:spcPts val="1000"/>
              </a:spcAft>
            </a:pPr>
            <a:r>
              <a:rPr sz="1500">
                <a:solidFill>
                  <a:srgbClr val="222B33"/>
                </a:solidFill>
                <a:latin typeface="Microsoft YaHei"/>
              </a:rPr>
              <a:t>▪ 转移后不登记，台账上的位置和实际不符</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密封源定期做泄漏检查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包壳一旦破损，就会造成污染</a:t>
            </a:r>
          </a:p>
          <a:p>
            <a:pPr>
              <a:spcAft>
                <a:spcPts val="1000"/>
              </a:spcAft>
            </a:pPr>
            <a:r>
              <a:rPr sz="2000">
                <a:solidFill>
                  <a:srgbClr val="222B33"/>
                </a:solidFill>
                <a:latin typeface="Microsoft YaHei"/>
              </a:rPr>
              <a:t>▪ 密封源按规定定期做泄漏检查</a:t>
            </a:r>
          </a:p>
          <a:p>
            <a:pPr>
              <a:spcAft>
                <a:spcPts val="1000"/>
              </a:spcAft>
            </a:pPr>
            <a:r>
              <a:rPr sz="2000">
                <a:solidFill>
                  <a:srgbClr val="222B33"/>
                </a:solidFill>
                <a:latin typeface="Microsoft YaHei"/>
              </a:rPr>
              <a:t>▪ 擦拭取样，送去测量</a:t>
            </a:r>
          </a:p>
          <a:p>
            <a:pPr>
              <a:spcAft>
                <a:spcPts val="1000"/>
              </a:spcAft>
            </a:pPr>
            <a:r>
              <a:rPr sz="2000">
                <a:solidFill>
                  <a:srgbClr val="222B33"/>
                </a:solidFill>
                <a:latin typeface="Microsoft YaHei"/>
              </a:rPr>
              <a:t>▪ 发现破损：停用、隔离、立即报告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密封源的包壳在磨损、腐蚀、跌落或高温后可能破损，放射性物质漏出就会造成表面污染甚至内照射风险。因此密封源要按规定定期做泄漏检查（检查周期以现行标准、源的说明和本校规定为准），跌落、受撞击后也要及时检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源用了很多年从来没做过泄漏检查</a:t>
            </a:r>
          </a:p>
          <a:p>
            <a:pPr>
              <a:spcAft>
                <a:spcPts val="1000"/>
              </a:spcAft>
            </a:pPr>
            <a:r>
              <a:rPr sz="1500">
                <a:solidFill>
                  <a:srgbClr val="222B33"/>
                </a:solidFill>
                <a:latin typeface="Microsoft YaHei"/>
              </a:rPr>
              <a:t>▪ 源掉在地上后看着“没坏”，继续使用</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含源仪器也是放射源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离子感烟探测器里有微量放射源</a:t>
            </a:r>
          </a:p>
          <a:p>
            <a:pPr>
              <a:spcAft>
                <a:spcPts val="1000"/>
              </a:spcAft>
            </a:pPr>
            <a:r>
              <a:rPr sz="2000">
                <a:solidFill>
                  <a:srgbClr val="222B33"/>
                </a:solidFill>
                <a:latin typeface="Microsoft YaHei"/>
              </a:rPr>
              <a:t>▪ 有些检测器和仪表里也装着源</a:t>
            </a:r>
          </a:p>
          <a:p>
            <a:pPr>
              <a:spcAft>
                <a:spcPts val="1000"/>
              </a:spcAft>
            </a:pPr>
            <a:r>
              <a:rPr sz="2000">
                <a:solidFill>
                  <a:srgbClr val="222B33"/>
                </a:solidFill>
                <a:latin typeface="Microsoft YaHei"/>
              </a:rPr>
              <a:t>▪ 不拆、不丢进普通垃圾</a:t>
            </a:r>
          </a:p>
          <a:p>
            <a:pPr>
              <a:spcAft>
                <a:spcPts val="1000"/>
              </a:spcAft>
            </a:pPr>
            <a:r>
              <a:rPr sz="2000">
                <a:solidFill>
                  <a:srgbClr val="222B33"/>
                </a:solidFill>
                <a:latin typeface="Microsoft YaHei"/>
              </a:rPr>
              <a:t>▪ 报废时交回，按规定送贮或返回厂家</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一些常见设备里装有密封放射源：离子感烟火灾探测器、气相色谱仪的电子捕获检测器、料位计、密度计、厚度计、静电消除器等。它们的源活度一般较小，但同样要按规定管理：在台账上登记，保留标志，不擅自拆卸、维修或改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搬家时把旧的感烟探测器拆下来扔进垃圾桶</a:t>
            </a:r>
          </a:p>
          <a:p>
            <a:pPr>
              <a:spcAft>
                <a:spcPts val="1000"/>
              </a:spcAft>
            </a:pPr>
            <a:r>
              <a:rPr sz="1500">
                <a:solidFill>
                  <a:srgbClr val="222B33"/>
                </a:solidFill>
                <a:latin typeface="Microsoft YaHei"/>
              </a:rPr>
              <a:t>▪ 自己拆开检测器“清洗”源</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新建改建：先验收，再使用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新建改建辐射场所，先做环境影响评价</a:t>
            </a:r>
          </a:p>
          <a:p>
            <a:pPr>
              <a:spcAft>
                <a:spcPts val="1000"/>
              </a:spcAft>
            </a:pPr>
            <a:r>
              <a:rPr sz="2000">
                <a:solidFill>
                  <a:srgbClr val="222B33"/>
                </a:solidFill>
                <a:latin typeface="Microsoft YaHei"/>
              </a:rPr>
              <a:t>▪ 防护设施同时设计、同时施工、同时投用</a:t>
            </a:r>
          </a:p>
          <a:p>
            <a:pPr>
              <a:spcAft>
                <a:spcPts val="1000"/>
              </a:spcAft>
            </a:pPr>
            <a:r>
              <a:rPr sz="2000">
                <a:solidFill>
                  <a:srgbClr val="222B33"/>
                </a:solidFill>
                <a:latin typeface="Microsoft YaHei"/>
              </a:rPr>
              <a:t>▪ 检测验收合格，才能投入使用</a:t>
            </a:r>
          </a:p>
          <a:p>
            <a:pPr>
              <a:spcAft>
                <a:spcPts val="1000"/>
              </a:spcAft>
            </a:pPr>
            <a:r>
              <a:rPr sz="2000">
                <a:solidFill>
                  <a:srgbClr val="222B33"/>
                </a:solidFill>
                <a:latin typeface="Microsoft YaHei"/>
              </a:rPr>
              <a:t>▪ 换房间、加设备，先申报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新建、改建、扩建使用放射源或射线装置的场所，要按《建设项目环境保护管理条例》《放射性同位素与射线装置安全和防护条例》（以现行文本为准）先进行环境影响评价，按类别编制相应的环评文件并报批或备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新机房装修完就开机调试，验收还没做</a:t>
            </a:r>
          </a:p>
          <a:p>
            <a:pPr>
              <a:spcAft>
                <a:spcPts val="1000"/>
              </a:spcAft>
            </a:pPr>
            <a:r>
              <a:rPr sz="1500">
                <a:solidFill>
                  <a:srgbClr val="222B33"/>
                </a:solidFill>
                <a:latin typeface="Microsoft YaHei"/>
              </a:rPr>
              <a:t>▪ 课题组自行把设备搬到别的房间使用</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X射线衍射仪门上的工作指示灯亮着，你想取出样品，正确做法是：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快速开门取样，时间短没关系</a:t>
            </a:r>
          </a:p>
          <a:p>
            <a:pPr algn="l"/>
            <a:r>
              <a:rPr sz="1500" b="0">
                <a:solidFill>
                  <a:srgbClr val="222B33"/>
                </a:solidFill>
                <a:latin typeface="Microsoft YaHei"/>
              </a:rPr>
              <a:t>B. 用胶带贴住门开关后开门</a:t>
            </a:r>
          </a:p>
          <a:p>
            <a:pPr algn="l"/>
            <a:r>
              <a:rPr sz="1500" b="0">
                <a:solidFill>
                  <a:srgbClr val="222B33"/>
                </a:solidFill>
                <a:latin typeface="Microsoft YaHei"/>
              </a:rPr>
              <a:t>C. 等关机、指示灯熄灭后再开门</a:t>
            </a:r>
          </a:p>
          <a:p>
            <a:pPr algn="l"/>
            <a:r>
              <a:rPr sz="1500" b="0">
                <a:solidFill>
                  <a:srgbClr val="222B33"/>
                </a:solidFill>
                <a:latin typeface="Microsoft YaHei"/>
              </a:rPr>
              <a:t>D. 请同学按住联锁开关再开门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判断：放射源和射线装置一样，不用时断电就没有射线了。</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检查源用完后，正确的做法是：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放在实验台上，第二天接着用</a:t>
            </a:r>
          </a:p>
          <a:p>
            <a:pPr algn="l"/>
            <a:r>
              <a:rPr sz="1500" b="0">
                <a:solidFill>
                  <a:srgbClr val="222B33"/>
                </a:solidFill>
                <a:latin typeface="Microsoft YaHei"/>
              </a:rPr>
              <a:t>B. 锁在自己抽屉里</a:t>
            </a:r>
          </a:p>
          <a:p>
            <a:pPr algn="l"/>
            <a:r>
              <a:rPr sz="1500" b="0">
                <a:solidFill>
                  <a:srgbClr val="222B33"/>
                </a:solidFill>
                <a:latin typeface="Microsoft YaHei"/>
              </a:rPr>
              <a:t>C. 当场放回屏蔽容器、送回源库并签字归还，离开前扫测台面</a:t>
            </a:r>
          </a:p>
          <a:p>
            <a:pPr algn="l"/>
            <a:r>
              <a:rPr sz="1500" b="0">
                <a:solidFill>
                  <a:srgbClr val="222B33"/>
                </a:solidFill>
                <a:latin typeface="Microsoft YaHei"/>
              </a:rPr>
              <a:t>D. 交给同学帮忙还</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清点时发现少了一个放射源，应当：</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先自己找，找到再说</a:t>
            </a:r>
          </a:p>
          <a:p>
            <a:pPr algn="l"/>
            <a:r>
              <a:rPr sz="1500" b="0">
                <a:solidFill>
                  <a:srgbClr val="222B33"/>
                </a:solidFill>
                <a:latin typeface="Microsoft YaHei"/>
              </a:rPr>
              <a:t>B. 修改台账</a:t>
            </a:r>
          </a:p>
          <a:p>
            <a:pPr algn="l"/>
            <a:r>
              <a:rPr sz="1500" b="0">
                <a:solidFill>
                  <a:srgbClr val="222B33"/>
                </a:solidFill>
                <a:latin typeface="Microsoft YaHei"/>
              </a:rPr>
              <a:t>C. 立即报告实验室负责人和学校辐射安全管理部门，由学校按规定报告主管部门</a:t>
            </a:r>
          </a:p>
          <a:p>
            <a:pPr algn="l"/>
            <a:r>
              <a:rPr sz="1500" b="0">
                <a:solidFill>
                  <a:srgbClr val="222B33"/>
                </a:solidFill>
                <a:latin typeface="Microsoft YaHei"/>
              </a:rPr>
              <a:t>D. 等下次清点再看</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094 · 放射源与射线装置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094 放射源与射线装置</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判断：实验楼拆下的旧离子感烟探测器可以当普通电子垃圾处理。</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简答：射线装置开机前应检查哪些安全装置？发现失灵怎么办？</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两类辐射源：放射源与射线装置</a:t>
            </a:r>
          </a:p>
          <a:p>
            <a:pPr>
              <a:spcAft>
                <a:spcPts val="800"/>
              </a:spcAft>
            </a:pPr>
            <a:r>
              <a:rPr sz="1500">
                <a:solidFill>
                  <a:srgbClr val="FFFFFF"/>
                </a:solidFill>
                <a:latin typeface="Microsoft YaHei"/>
              </a:rPr>
              <a:t>▪ S1  放射源与射线装置的分类</a:t>
            </a:r>
          </a:p>
          <a:p>
            <a:pPr>
              <a:spcAft>
                <a:spcPts val="800"/>
              </a:spcAft>
            </a:pPr>
            <a:r>
              <a:rPr sz="1500">
                <a:solidFill>
                  <a:srgbClr val="FFFFFF"/>
                </a:solidFill>
                <a:latin typeface="Microsoft YaHei"/>
              </a:rPr>
              <a:t>▪ K2  射线探伤：不破坏就能看内部</a:t>
            </a:r>
          </a:p>
          <a:p>
            <a:pPr>
              <a:spcAft>
                <a:spcPts val="800"/>
              </a:spcAft>
            </a:pPr>
            <a:r>
              <a:rPr sz="1500">
                <a:solidFill>
                  <a:srgbClr val="FFFFFF"/>
                </a:solidFill>
                <a:latin typeface="Microsoft YaHei"/>
              </a:rPr>
              <a:t>▪ K3  电离辐射警告标志与出入管理</a:t>
            </a:r>
          </a:p>
          <a:p>
            <a:pPr>
              <a:spcAft>
                <a:spcPts val="800"/>
              </a:spcAft>
            </a:pPr>
            <a:r>
              <a:rPr sz="1500">
                <a:solidFill>
                  <a:srgbClr val="FFFFFF"/>
                </a:solidFill>
                <a:latin typeface="Microsoft YaHei"/>
              </a:rPr>
              <a:t>▪ K4  门机联锁、指示灯和急停不能旁路</a:t>
            </a:r>
          </a:p>
          <a:p>
            <a:pPr>
              <a:spcAft>
                <a:spcPts val="800"/>
              </a:spcAft>
            </a:pPr>
            <a:r>
              <a:rPr sz="1500">
                <a:solidFill>
                  <a:srgbClr val="FFFFFF"/>
                </a:solidFill>
                <a:latin typeface="Microsoft YaHei"/>
              </a:rPr>
              <a:t>▪ K5  屏蔽不擅改，剂量靠实测</a:t>
            </a:r>
          </a:p>
          <a:p>
            <a:pPr>
              <a:spcAft>
                <a:spcPts val="800"/>
              </a:spcAft>
            </a:pPr>
            <a:r>
              <a:rPr sz="1500">
                <a:solidFill>
                  <a:srgbClr val="FFFFFF"/>
                </a:solidFill>
                <a:latin typeface="Microsoft YaHei"/>
              </a:rPr>
              <a:t>▪ K6  作业前核查：证、人、仪器、场所</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警戒区：按实测划边界</a:t>
            </a:r>
          </a:p>
          <a:p>
            <a:pPr>
              <a:spcAft>
                <a:spcPts val="800"/>
              </a:spcAft>
            </a:pPr>
            <a:r>
              <a:rPr sz="1500">
                <a:solidFill>
                  <a:srgbClr val="FFFFFF"/>
                </a:solidFill>
                <a:latin typeface="Microsoft YaHei"/>
              </a:rPr>
              <a:t>▪ K8  放射源保管：专库、双人双锁</a:t>
            </a:r>
          </a:p>
          <a:p>
            <a:pPr>
              <a:spcAft>
                <a:spcPts val="800"/>
              </a:spcAft>
            </a:pPr>
            <a:r>
              <a:rPr sz="1500">
                <a:solidFill>
                  <a:srgbClr val="FFFFFF"/>
                </a:solidFill>
                <a:latin typeface="Microsoft YaHei"/>
              </a:rPr>
              <a:t>▪ K9  领用归还：当场归位，交接签字</a:t>
            </a:r>
          </a:p>
          <a:p>
            <a:pPr>
              <a:spcAft>
                <a:spcPts val="800"/>
              </a:spcAft>
            </a:pPr>
            <a:r>
              <a:rPr sz="1500">
                <a:solidFill>
                  <a:srgbClr val="FFFFFF"/>
                </a:solidFill>
                <a:latin typeface="Microsoft YaHei"/>
              </a:rPr>
              <a:t>▪ K10  校内转移：屏蔽容器，专人护送</a:t>
            </a:r>
          </a:p>
          <a:p>
            <a:pPr>
              <a:spcAft>
                <a:spcPts val="800"/>
              </a:spcAft>
            </a:pPr>
            <a:r>
              <a:rPr sz="1500">
                <a:solidFill>
                  <a:srgbClr val="FFFFFF"/>
                </a:solidFill>
                <a:latin typeface="Microsoft YaHei"/>
              </a:rPr>
              <a:t>▪ K11  密封源定期做泄漏检查</a:t>
            </a:r>
          </a:p>
          <a:p>
            <a:pPr>
              <a:spcAft>
                <a:spcPts val="800"/>
              </a:spcAft>
            </a:pPr>
            <a:r>
              <a:rPr sz="1500">
                <a:solidFill>
                  <a:srgbClr val="FFFFFF"/>
                </a:solidFill>
                <a:latin typeface="Microsoft YaHei"/>
              </a:rPr>
              <a:t>▪ K12  含源仪器也是放射源</a:t>
            </a:r>
          </a:p>
          <a:p>
            <a:pPr>
              <a:spcAft>
                <a:spcPts val="800"/>
              </a:spcAft>
            </a:pPr>
            <a:r>
              <a:rPr sz="1500">
                <a:solidFill>
                  <a:srgbClr val="FFFFFF"/>
                </a:solidFill>
                <a:latin typeface="Microsoft YaHei"/>
              </a:rPr>
              <a:t>▪ K13  新建改建：先验收，再使用</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095</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核医学与放射性药物</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84 镜）　适用对象：医学、药学、生命科学、核技术等专业在核医学科实习或使用放射性药物、放射性示踪剂和小动物核素显像的本科生、研究生和教职工，以及可能接触注射后病人或实验动物的护理、检验、保洁和动物饲养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 X射线影像与核医学显像的区别，知道放射性药物由核素和载体组成，理解诊断核素为什么要半衰期短、发射能量适中的γ光子、聚得准排得快。</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能做到放射性药物从有资质单位购买，到货当面交接、核对、测包装、入柜入账；发生器按规程使用和退回。</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能做到在专用分装柜内屏蔽分装，给药前用活度计实测并双人核对人、药、量，出错立即报告。</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能判断注射后的病人和实验动物也是辐射源，知道核医学场所分区和单向流动的要求，以及接触注射后病人时的防护和告知要点。</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《放射性同位素与射线装置安全和防护条例》（以现行文本为准）：非密封放射性物质工作场所的许可、台账和安全防护</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《放射性药品管理办法》（以现行文本为准）：放射性药品的生产经营、采购和使用许可管理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《放射诊疗管理规定》（以现行文本为准）：放射诊疗的正当性和最优化、受检者与陪护者防护、告知</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HJ 1188-2021《核医学辐射防护与安全要求》（生态环境部 2021-09-06 发布、2021-11-01 实施）：核医学工作场所的选址布局、分区、屏蔽、通风和放射性废物管理</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120（以现行文本为准）《核医学放射防护要求》</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11806-2019（以现行文本为准）《放射性物品安全运输规程》</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本校及附属医院核医学科的辐射安全管理制度和操作规程（以本校规定为准）</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X射线影像：组织拦得不一样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X射线穿过物质，一层层被拦下一部分</a:t>
            </a:r>
          </a:p>
          <a:p>
            <a:pPr>
              <a:spcAft>
                <a:spcPts val="1000"/>
              </a:spcAft>
            </a:pPr>
            <a:r>
              <a:rPr sz="1700">
                <a:solidFill>
                  <a:srgbClr val="222B33"/>
                </a:solidFill>
                <a:latin typeface="Microsoft YaHei"/>
              </a:rPr>
              <a:t>▪ 骨头拦得多显白，软组织显暗</a:t>
            </a:r>
          </a:p>
          <a:p>
            <a:pPr>
              <a:spcAft>
                <a:spcPts val="1000"/>
              </a:spcAft>
            </a:pPr>
            <a:r>
              <a:rPr sz="1700">
                <a:solidFill>
                  <a:srgbClr val="222B33"/>
                </a:solidFill>
                <a:latin typeface="Microsoft YaHei"/>
              </a:rPr>
              <a:t>▪ 没有差别，就没有图像</a:t>
            </a:r>
          </a:p>
          <a:p>
            <a:pPr>
              <a:spcAft>
                <a:spcPts val="1000"/>
              </a:spcAft>
            </a:pPr>
            <a:r>
              <a:rPr sz="1700">
                <a:solidFill>
                  <a:srgbClr val="222B33"/>
                </a:solidFill>
                <a:latin typeface="Microsoft YaHei"/>
              </a:rPr>
              <a:t>▪ X射线是从体外照的外部成像</a:t>
            </a:r>
          </a:p>
          <a:p>
            <a:pPr>
              <a:spcAft>
                <a:spcPts val="1000"/>
              </a:spcAft>
            </a:pPr>
            <a:r>
              <a:rPr sz="1700">
                <a:solidFill>
                  <a:srgbClr val="222B33"/>
                </a:solidFill>
                <a:latin typeface="Microsoft YaHei"/>
              </a:rPr>
              <a:t>▪ 软组织有时看不清，开刀察看又伤身</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医生想看到身体里面发生了什么，最常用的办法是影像。X射线从体外射入身体，光子在穿过组织时按比例被吸收和散射，组织越厚、越致密，透过来的越少（衰减规律见第 090 课）。肌肉、血液、骨骼拦截射线的本领不同，透过来的多少……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 X射线检查后人体会带有放射性</a:t>
            </a:r>
          </a:p>
          <a:p>
            <a:pPr>
              <a:spcAft>
                <a:spcPts val="1000"/>
              </a:spcAft>
            </a:pPr>
            <a:r>
              <a:rPr sz="1500">
                <a:solidFill>
                  <a:srgbClr val="222B33"/>
                </a:solidFill>
                <a:latin typeface="Microsoft YaHei"/>
              </a:rPr>
              <a:t>▪ 以为影像越清楚越好，不考虑受照剂量</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核医学：把“光源”放进身体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核医学：把“光源”放进身体，从里往外看</a:t>
            </a:r>
          </a:p>
          <a:p>
            <a:pPr>
              <a:spcAft>
                <a:spcPts val="1000"/>
              </a:spcAft>
            </a:pPr>
            <a:r>
              <a:rPr sz="1700">
                <a:solidFill>
                  <a:srgbClr val="222B33"/>
                </a:solidFill>
                <a:latin typeface="Microsoft YaHei"/>
              </a:rPr>
              <a:t>▪ γ源放在体外照，效果和拍片差不多</a:t>
            </a:r>
          </a:p>
          <a:p>
            <a:pPr>
              <a:spcAft>
                <a:spcPts val="1000"/>
              </a:spcAft>
            </a:pPr>
            <a:r>
              <a:rPr sz="1700">
                <a:solidFill>
                  <a:srgbClr val="222B33"/>
                </a:solidFill>
                <a:latin typeface="Microsoft YaHei"/>
              </a:rPr>
              <a:t>▪ 药物多经静脉注射，随血液循环</a:t>
            </a:r>
          </a:p>
          <a:p>
            <a:pPr>
              <a:spcAft>
                <a:spcPts val="1000"/>
              </a:spcAft>
            </a:pPr>
            <a:r>
              <a:rPr sz="1700">
                <a:solidFill>
                  <a:srgbClr val="222B33"/>
                </a:solidFill>
                <a:latin typeface="Microsoft YaHei"/>
              </a:rPr>
              <a:t>▪ 病灶吸收多，那里发光就多</a:t>
            </a:r>
          </a:p>
          <a:p>
            <a:pPr>
              <a:spcAft>
                <a:spcPts val="1000"/>
              </a:spcAft>
            </a:pPr>
            <a:r>
              <a:rPr sz="1700">
                <a:solidFill>
                  <a:srgbClr val="222B33"/>
                </a:solidFill>
                <a:latin typeface="Microsoft YaHei"/>
              </a:rPr>
              <a:t>▪ 显像相机只接收，自己不放射线</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如果把γ源放在体外照射，因为放射性强只能用很少的量，点状源发出的射线不平行，照得不均匀，效果并不比 X射线好。核医学换了思路：把放射性核素和某种物质结合，送进身体，让“光源”在体内发出γ光子，体外的探测器接收，再拼成……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以为核医学的显像设备会发出射线</a:t>
            </a:r>
          </a:p>
          <a:p>
            <a:pPr>
              <a:spcAft>
                <a:spcPts val="1000"/>
              </a:spcAft>
            </a:pPr>
            <a:r>
              <a:rPr sz="1500">
                <a:solidFill>
                  <a:srgbClr val="222B33"/>
                </a:solidFill>
                <a:latin typeface="Microsoft YaHei"/>
              </a:rPr>
              <a:t>▪ 以为核医学检查和 X光片是同一回事</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探测器：一圈圈接收γ光子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γ光子向四周飞，一个探头接不全</a:t>
            </a:r>
          </a:p>
          <a:p>
            <a:pPr>
              <a:spcAft>
                <a:spcPts val="1000"/>
              </a:spcAft>
            </a:pPr>
            <a:r>
              <a:rPr sz="1700">
                <a:solidFill>
                  <a:srgbClr val="222B33"/>
                </a:solidFill>
                <a:latin typeface="Microsoft YaHei"/>
              </a:rPr>
              <a:t>▪ 身体外围一圈探测器，就能接住</a:t>
            </a:r>
          </a:p>
          <a:p>
            <a:pPr>
              <a:spcAft>
                <a:spcPts val="1000"/>
              </a:spcAft>
            </a:pPr>
            <a:r>
              <a:rPr sz="1700">
                <a:solidFill>
                  <a:srgbClr val="222B33"/>
                </a:solidFill>
                <a:latin typeface="Microsoft YaHei"/>
              </a:rPr>
              <a:t>▪ 病人随床进圆筒，或探头转着拍</a:t>
            </a:r>
          </a:p>
          <a:p>
            <a:pPr>
              <a:spcAft>
                <a:spcPts val="1000"/>
              </a:spcAft>
            </a:pPr>
            <a:r>
              <a:rPr sz="1700">
                <a:solidFill>
                  <a:srgbClr val="222B33"/>
                </a:solidFill>
                <a:latin typeface="Microsoft YaHei"/>
              </a:rPr>
              <a:t>▪ 计算机把多角度信号拼成图像</a:t>
            </a:r>
          </a:p>
          <a:p>
            <a:pPr>
              <a:spcAft>
                <a:spcPts val="1000"/>
              </a:spcAft>
            </a:pPr>
            <a:r>
              <a:rPr sz="1700">
                <a:solidFill>
                  <a:srgbClr val="222B33"/>
                </a:solidFill>
                <a:latin typeface="Microsoft YaHei"/>
              </a:rPr>
              <a:t>▪ 趁“光源”还亮，抓紧采集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X射线方向一致，而体内的γ光子向四面八方发射，一个探头只能接收很少一部分。比较理想的布局是在身体外围布置一圈探测器，环可以沿身体移动，对准要看的部位；医院里，病人躺在检查床上随床移进圆筒，筒内就是一圈圈探测器。也有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以为注射后什么时候检查都一样</a:t>
            </a:r>
          </a:p>
          <a:p>
            <a:pPr>
              <a:spcAft>
                <a:spcPts val="1000"/>
              </a:spcAft>
            </a:pPr>
            <a:r>
              <a:rPr sz="1500">
                <a:solidFill>
                  <a:srgbClr val="222B33"/>
                </a:solidFill>
                <a:latin typeface="Microsoft YaHei"/>
              </a:rPr>
              <a:t>▪ 以为检查结束后体内放射性马上消失</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放射性药物：核素加载体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放射性药物由核素和载体组成</a:t>
            </a:r>
          </a:p>
          <a:p>
            <a:pPr>
              <a:spcAft>
                <a:spcPts val="1000"/>
              </a:spcAft>
            </a:pPr>
            <a:r>
              <a:rPr sz="1700">
                <a:solidFill>
                  <a:srgbClr val="222B33"/>
                </a:solidFill>
                <a:latin typeface="Microsoft YaHei"/>
              </a:rPr>
              <a:t>▪ 载体像快递员，把核素送到目标器官</a:t>
            </a:r>
          </a:p>
          <a:p>
            <a:pPr>
              <a:spcAft>
                <a:spcPts val="1000"/>
              </a:spcAft>
            </a:pPr>
            <a:r>
              <a:rPr sz="1700">
                <a:solidFill>
                  <a:srgbClr val="222B33"/>
                </a:solidFill>
                <a:latin typeface="Microsoft YaHei"/>
              </a:rPr>
              <a:t>▪ 看不同器官，换不同载体和途径</a:t>
            </a:r>
          </a:p>
          <a:p>
            <a:pPr>
              <a:spcAft>
                <a:spcPts val="1000"/>
              </a:spcAft>
            </a:pPr>
            <a:r>
              <a:rPr sz="1700">
                <a:solidFill>
                  <a:srgbClr val="222B33"/>
                </a:solidFill>
                <a:latin typeface="Microsoft YaHei"/>
              </a:rPr>
              <a:t>▪ 标记要牢固，不能改变药物的代谢行为</a:t>
            </a:r>
          </a:p>
          <a:p>
            <a:pPr>
              <a:spcAft>
                <a:spcPts val="1000"/>
              </a:spcAft>
            </a:pPr>
            <a:r>
              <a:rPr sz="1700">
                <a:solidFill>
                  <a:srgbClr val="222B33"/>
                </a:solidFill>
                <a:latin typeface="Microsoft YaHei"/>
              </a:rPr>
              <a:t>▪ 放射性药品，国家专门管理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药物是用放射性核素标记的化合物或制剂。它由两部分组成：一部分是放射性核素，负责发出可被探测的射线；另一部分是载体（无机盐或有机化合物），利用它在体内的代谢特点，把核素送到目标器官并停留一段时间，就像快递员送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以为放射性药物和普通试剂一样，可以自行配制、随意分给他人</a:t>
            </a:r>
          </a:p>
          <a:p>
            <a:pPr>
              <a:spcAft>
                <a:spcPts val="1000"/>
              </a:spcAft>
            </a:pPr>
            <a:r>
              <a:rPr sz="1500">
                <a:solidFill>
                  <a:srgbClr val="222B33"/>
                </a:solidFill>
                <a:latin typeface="Microsoft YaHei"/>
              </a:rPr>
              <a:t>▪ 自行改动标记方法，不经验证就用于实验</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诊断核素：半衰期要短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诊断核素，半衰期要短</a:t>
            </a:r>
          </a:p>
          <a:p>
            <a:pPr>
              <a:spcAft>
                <a:spcPts val="1000"/>
              </a:spcAft>
            </a:pPr>
            <a:r>
              <a:rPr sz="1700">
                <a:solidFill>
                  <a:srgbClr val="222B33"/>
                </a:solidFill>
                <a:latin typeface="Microsoft YaHei"/>
              </a:rPr>
              <a:t>▪ 半衰期与制备、运输、检查所需时间相当</a:t>
            </a:r>
          </a:p>
          <a:p>
            <a:pPr>
              <a:spcAft>
                <a:spcPts val="1000"/>
              </a:spcAft>
            </a:pPr>
            <a:r>
              <a:rPr sz="1700">
                <a:solidFill>
                  <a:srgbClr val="222B33"/>
                </a:solidFill>
                <a:latin typeface="Microsoft YaHei"/>
              </a:rPr>
              <a:t>▪ 太长留得久，太短又得多备活度</a:t>
            </a:r>
          </a:p>
          <a:p>
            <a:pPr>
              <a:spcAft>
                <a:spcPts val="1000"/>
              </a:spcAft>
            </a:pPr>
            <a:r>
              <a:rPr sz="1700">
                <a:solidFill>
                  <a:srgbClr val="222B33"/>
                </a:solidFill>
                <a:latin typeface="Microsoft YaHei"/>
              </a:rPr>
              <a:t>▪ 病人做一次，工作人员天天接触</a:t>
            </a:r>
          </a:p>
          <a:p>
            <a:pPr>
              <a:spcAft>
                <a:spcPts val="1000"/>
              </a:spcAft>
            </a:pPr>
            <a:r>
              <a:rPr sz="1700">
                <a:solidFill>
                  <a:srgbClr val="222B33"/>
                </a:solidFill>
                <a:latin typeface="Microsoft YaHei"/>
              </a:rPr>
              <a:t>▪ 衰变后的子体最好是稳定的</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诊断用核素的物理半衰期要短，检查结束后放射性能较快减少（半衰期见第 086 课）。但“短”也不是越短越好：理想的半衰期一般在几小时量级，与药物制备、运输和检查所需的时间相当；太长，检查后放射性在体内留得久，受照多；太……</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以为短半衰期核素“放一会儿就没了”，操作时不防护</a:t>
            </a:r>
          </a:p>
          <a:p>
            <a:pPr>
              <a:spcAft>
                <a:spcPts val="1000"/>
              </a:spcAft>
            </a:pPr>
            <a:r>
              <a:rPr sz="1500">
                <a:solidFill>
                  <a:srgbClr val="222B33"/>
                </a:solidFill>
                <a:latin typeface="Microsoft YaHei"/>
              </a:rPr>
              <a:t>▪ 以为病人检查完马上就没有放射性</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只要能量适中的γ光子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成像只要穿得出身体的γ光子</a:t>
            </a:r>
          </a:p>
          <a:p>
            <a:pPr>
              <a:spcAft>
                <a:spcPts val="1000"/>
              </a:spcAft>
            </a:pPr>
            <a:r>
              <a:rPr sz="2000">
                <a:solidFill>
                  <a:srgbClr val="222B33"/>
                </a:solidFill>
                <a:latin typeface="Microsoft YaHei"/>
              </a:rPr>
              <a:t>▪ α、β和低能光子跑不远，只留下剂量</a:t>
            </a:r>
          </a:p>
          <a:p>
            <a:pPr>
              <a:spcAft>
                <a:spcPts val="1000"/>
              </a:spcAft>
            </a:pPr>
            <a:r>
              <a:rPr sz="2000">
                <a:solidFill>
                  <a:srgbClr val="222B33"/>
                </a:solidFill>
                <a:latin typeface="Microsoft YaHei"/>
              </a:rPr>
              <a:t>▪ γ能量要适中：好穿出、好准直、好探测</a:t>
            </a:r>
          </a:p>
          <a:p>
            <a:pPr>
              <a:spcAft>
                <a:spcPts val="1000"/>
              </a:spcAft>
            </a:pPr>
            <a:r>
              <a:rPr sz="2000">
                <a:solidFill>
                  <a:srgbClr val="222B33"/>
                </a:solidFill>
                <a:latin typeface="Microsoft YaHei"/>
              </a:rPr>
              <a:t>▪ 单一能量，便于筛掉散射光子</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成像只需要能穿出身体、被体外探测器接收的γ光子。α粒子、β粒子和能量很低的光子在体内跑不远，对成像没有帮助，只增加病人的受照剂量，所以诊断用核素优先选择主要发射γ光子、少有粒子辐射的衰变方式（如同质异能跃迁、电子俘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认为射线能量越高，图像就越好</a:t>
            </a:r>
          </a:p>
          <a:p>
            <a:pPr>
              <a:spcAft>
                <a:spcPts val="1000"/>
              </a:spcAft>
            </a:pPr>
            <a:r>
              <a:rPr sz="1500">
                <a:solidFill>
                  <a:srgbClr val="222B33"/>
                </a:solidFill>
                <a:latin typeface="Microsoft YaHei"/>
              </a:rPr>
              <a:t>▪ 把治疗用的β核素和诊断用γ核素的防护要求混为一谈</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聚得准，排得快</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好药物要快速、大量聚到目标组织</a:t>
            </a:r>
          </a:p>
          <a:p>
            <a:pPr>
              <a:spcAft>
                <a:spcPts val="1000"/>
              </a:spcAft>
            </a:pPr>
            <a:r>
              <a:rPr sz="1700">
                <a:solidFill>
                  <a:srgbClr val="222B33"/>
                </a:solidFill>
                <a:latin typeface="Microsoft YaHei"/>
              </a:rPr>
              <a:t>▪ 碘会大量聚到甲状腺，剂量很集中</a:t>
            </a:r>
          </a:p>
          <a:p>
            <a:pPr>
              <a:spcAft>
                <a:spcPts val="1000"/>
              </a:spcAft>
            </a:pPr>
            <a:r>
              <a:rPr sz="1700">
                <a:solidFill>
                  <a:srgbClr val="222B33"/>
                </a:solidFill>
                <a:latin typeface="Microsoft YaHei"/>
              </a:rPr>
              <a:t>▪ 这正是放射性碘治疗的原理</a:t>
            </a:r>
          </a:p>
          <a:p>
            <a:pPr>
              <a:spcAft>
                <a:spcPts val="1000"/>
              </a:spcAft>
            </a:pPr>
            <a:r>
              <a:rPr sz="1700">
                <a:solidFill>
                  <a:srgbClr val="222B33"/>
                </a:solidFill>
                <a:latin typeface="Microsoft YaHei"/>
              </a:rPr>
              <a:t>▪ 一边衰变一边排出，有效半衰期要合适</a:t>
            </a:r>
          </a:p>
          <a:p>
            <a:pPr>
              <a:spcAft>
                <a:spcPts val="1000"/>
              </a:spcAft>
            </a:pPr>
            <a:r>
              <a:rPr sz="1700">
                <a:solidFill>
                  <a:srgbClr val="222B33"/>
                </a:solidFill>
                <a:latin typeface="Microsoft YaHei"/>
              </a:rPr>
              <a:t>▪ 还要毒性低、稳定、容易获得</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理想的放射性药物要快速、大量地聚到要检查的组织，有效半衰期与检查所需时间相当（有效半衰期见第 086 课）；毒性低，不引起过敏等不良反应；在体外和体内都稳定、不易分解；还要容易获得、价格合理。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只看活度大小，不看核素聚集在哪个器官</a:t>
            </a:r>
          </a:p>
          <a:p>
            <a:pPr>
              <a:spcAft>
                <a:spcPts val="1000"/>
              </a:spcAft>
            </a:pPr>
            <a:r>
              <a:rPr sz="1500">
                <a:solidFill>
                  <a:srgbClr val="222B33"/>
                </a:solidFill>
                <a:latin typeface="Microsoft YaHei"/>
              </a:rPr>
              <a:t>▪ 操作放射性碘时不在通风柜内进行</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核素选择与医疗照射的最优化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用放射性药物，要获益大于风险</a:t>
            </a:r>
          </a:p>
          <a:p>
            <a:pPr>
              <a:spcAft>
                <a:spcPts val="1000"/>
              </a:spcAft>
            </a:pPr>
            <a:r>
              <a:rPr sz="1700">
                <a:solidFill>
                  <a:srgbClr val="222B33"/>
                </a:solidFill>
                <a:latin typeface="Microsoft YaHei"/>
              </a:rPr>
              <a:t>▪ 活度够用就好，不盲目加量</a:t>
            </a:r>
          </a:p>
          <a:p>
            <a:pPr>
              <a:spcAft>
                <a:spcPts val="1000"/>
              </a:spcAft>
            </a:pPr>
            <a:r>
              <a:rPr sz="1700">
                <a:solidFill>
                  <a:srgbClr val="222B33"/>
                </a:solidFill>
                <a:latin typeface="Microsoft YaHei"/>
              </a:rPr>
              <a:t>▪ 儿童和小体重者，按规范减量</a:t>
            </a:r>
          </a:p>
          <a:p>
            <a:pPr>
              <a:spcAft>
                <a:spcPts val="1000"/>
              </a:spcAft>
            </a:pPr>
            <a:r>
              <a:rPr sz="1700">
                <a:solidFill>
                  <a:srgbClr val="222B33"/>
                </a:solidFill>
                <a:latin typeface="Microsoft YaHei"/>
              </a:rPr>
              <a:t>▪ 图像够用，就调参数少照一点</a:t>
            </a:r>
          </a:p>
          <a:p>
            <a:pPr>
              <a:spcAft>
                <a:spcPts val="1000"/>
              </a:spcAft>
            </a:pPr>
            <a:r>
              <a:rPr sz="1700">
                <a:solidFill>
                  <a:srgbClr val="222B33"/>
                </a:solidFill>
                <a:latin typeface="Microsoft YaHei"/>
              </a:rPr>
              <a:t>▪ 能不用核素就不用，新课题先审核</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医疗照射和科研用核素同样要遵循正当性和最优化原则（见第 089 课）：只有获益大于风险时才使用；能用非放射性方法解决的，就不用核素。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为了“图像好看”或“信号强”随意加大活度</a:t>
            </a:r>
          </a:p>
          <a:p>
            <a:pPr>
              <a:spcAft>
                <a:spcPts val="1000"/>
              </a:spcAft>
            </a:pPr>
            <a:r>
              <a:rPr sz="1500">
                <a:solidFill>
                  <a:srgbClr val="222B33"/>
                </a:solidFill>
                <a:latin typeface="Microsoft YaHei"/>
              </a:rPr>
              <a:t>▪ 新课题自行选用许可范围外的核素</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核医学场所：分区与单向流动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核医学场所要分控制区和监督区</a:t>
            </a:r>
          </a:p>
          <a:p>
            <a:pPr>
              <a:spcAft>
                <a:spcPts val="1000"/>
              </a:spcAft>
            </a:pPr>
            <a:r>
              <a:rPr sz="1700">
                <a:solidFill>
                  <a:srgbClr val="222B33"/>
                </a:solidFill>
                <a:latin typeface="Microsoft YaHei"/>
              </a:rPr>
              <a:t>▪ 工作人员和患者走各自的通道</a:t>
            </a:r>
          </a:p>
          <a:p>
            <a:pPr>
              <a:spcAft>
                <a:spcPts val="1000"/>
              </a:spcAft>
            </a:pPr>
            <a:r>
              <a:rPr sz="1700">
                <a:solidFill>
                  <a:srgbClr val="222B33"/>
                </a:solidFill>
                <a:latin typeface="Microsoft YaHei"/>
              </a:rPr>
              <a:t>▪ 药物和废物单向流动，不走回头路</a:t>
            </a:r>
          </a:p>
          <a:p>
            <a:pPr>
              <a:spcAft>
                <a:spcPts val="1000"/>
              </a:spcAft>
            </a:pPr>
            <a:r>
              <a:rPr sz="1700">
                <a:solidFill>
                  <a:srgbClr val="222B33"/>
                </a:solidFill>
                <a:latin typeface="Microsoft YaHei"/>
              </a:rPr>
              <a:t>▪ 通风、屏蔽、衰变池按标准设置</a:t>
            </a:r>
          </a:p>
          <a:p>
            <a:pPr>
              <a:spcAft>
                <a:spcPts val="1000"/>
              </a:spcAft>
            </a:pPr>
            <a:r>
              <a:rPr sz="1700">
                <a:solidFill>
                  <a:srgbClr val="222B33"/>
                </a:solidFill>
                <a:latin typeface="Microsoft YaHei"/>
              </a:rPr>
              <a:t>▪ 离开控制区，先测手和鞋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HJ 1188-2021《核医学辐射防护与安全要求》和 GBZ 120（以现行文本为准）对核医学工作场所的选址布局、分区、屏蔽、通风和放射性废物管理作了规定。场所按风险划分控制区和监督区（见第 089 课），控制区入……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患者和工作人员共用通道，在分装室门口候诊</a:t>
            </a:r>
          </a:p>
          <a:p>
            <a:pPr>
              <a:spcAft>
                <a:spcPts val="1000"/>
              </a:spcAft>
            </a:pPr>
            <a:r>
              <a:rPr sz="1500">
                <a:solidFill>
                  <a:srgbClr val="222B33"/>
                </a:solidFill>
                <a:latin typeface="Microsoft YaHei"/>
              </a:rPr>
              <a:t>▪ 废物桶拿回分装区再分类，路线来回交叉</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采购、运输与验收入账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放射性药物从有资质的单位购买</a:t>
            </a:r>
          </a:p>
          <a:p>
            <a:pPr>
              <a:spcAft>
                <a:spcPts val="1000"/>
              </a:spcAft>
            </a:pPr>
            <a:r>
              <a:rPr sz="1700">
                <a:solidFill>
                  <a:srgbClr val="222B33"/>
                </a:solidFill>
                <a:latin typeface="Microsoft YaHei"/>
              </a:rPr>
              <a:t>▪ 由有资质的单位运输，到货当面交接签字</a:t>
            </a:r>
          </a:p>
          <a:p>
            <a:pPr>
              <a:spcAft>
                <a:spcPts val="1000"/>
              </a:spcAft>
            </a:pPr>
            <a:r>
              <a:rPr sz="1700">
                <a:solidFill>
                  <a:srgbClr val="222B33"/>
                </a:solidFill>
                <a:latin typeface="Microsoft YaHei"/>
              </a:rPr>
              <a:t>▪ 核对核素、活度、数量和单据</a:t>
            </a:r>
          </a:p>
          <a:p>
            <a:pPr>
              <a:spcAft>
                <a:spcPts val="1000"/>
              </a:spcAft>
            </a:pPr>
            <a:r>
              <a:rPr sz="1700">
                <a:solidFill>
                  <a:srgbClr val="222B33"/>
                </a:solidFill>
                <a:latin typeface="Microsoft YaHei"/>
              </a:rPr>
              <a:t>▪ 测包装外表面，有无破损和污染</a:t>
            </a:r>
          </a:p>
          <a:p>
            <a:pPr>
              <a:spcAft>
                <a:spcPts val="1000"/>
              </a:spcAft>
            </a:pPr>
            <a:r>
              <a:rPr sz="1700">
                <a:solidFill>
                  <a:srgbClr val="222B33"/>
                </a:solidFill>
                <a:latin typeface="Microsoft YaHei"/>
              </a:rPr>
              <a:t>▪ 入专用柜加锁登记；再赶时间也不跳过核对</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放射性药物和放射性示踪剂只能由学校（或医院）按规定从有资质的单位统一采购，课题组和个人不得私自购买、转让（见第 093 课）。短寿命核素常常一路赶时间，要由有资质的单位按 GB 11806-2019（以现行文本为准）……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快递一到就在办公室拆开</a:t>
            </a:r>
          </a:p>
          <a:p>
            <a:pPr>
              <a:spcAft>
                <a:spcPts val="1000"/>
              </a:spcAft>
            </a:pPr>
            <a:r>
              <a:rPr sz="1500">
                <a:solidFill>
                  <a:srgbClr val="222B33"/>
                </a:solidFill>
                <a:latin typeface="Microsoft YaHei"/>
              </a:rPr>
              <a:t>▪ 只登记购入，不登记使用和剩余</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发生器的安全使用与归还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发生器用长寿命母体“挤”出短寿命子体</a:t>
            </a:r>
          </a:p>
          <a:p>
            <a:pPr>
              <a:spcAft>
                <a:spcPts val="1000"/>
              </a:spcAft>
            </a:pPr>
            <a:r>
              <a:rPr sz="2000">
                <a:solidFill>
                  <a:srgbClr val="222B33"/>
                </a:solidFill>
                <a:latin typeface="Microsoft YaHei"/>
              </a:rPr>
              <a:t>▪ 到货查外壳完好，登记入账</a:t>
            </a:r>
          </a:p>
          <a:p>
            <a:pPr>
              <a:spcAft>
                <a:spcPts val="1000"/>
              </a:spcAft>
            </a:pPr>
            <a:r>
              <a:rPr sz="2000">
                <a:solidFill>
                  <a:srgbClr val="222B33"/>
                </a:solidFill>
                <a:latin typeface="Microsoft YaHei"/>
              </a:rPr>
              <a:t>▪ 在屏蔽区内淋洗，每次药液标签记录</a:t>
            </a:r>
          </a:p>
          <a:p>
            <a:pPr>
              <a:spcAft>
                <a:spcPts val="1000"/>
              </a:spcAft>
            </a:pPr>
            <a:r>
              <a:rPr sz="2000">
                <a:solidFill>
                  <a:srgbClr val="222B33"/>
                </a:solidFill>
                <a:latin typeface="Microsoft YaHei"/>
              </a:rPr>
              <a:t>▪ 不得自行拆解，用完按约定退回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有些短寿命核素在使用地不容易直接获得，就用核素发生器供应：发生器里装着寿命较长的母体核素，母体衰变不断生成短寿命的子体，用淋洗液把子体“挤”出来使用，这样一点点体积就有足够的活度（比活度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发生器用完堆在角落，或当废品处理</a:t>
            </a:r>
          </a:p>
          <a:p>
            <a:pPr>
              <a:spcAft>
                <a:spcPts val="1000"/>
              </a:spcAft>
            </a:pPr>
            <a:r>
              <a:rPr sz="1500">
                <a:solidFill>
                  <a:srgbClr val="222B33"/>
                </a:solidFill>
                <a:latin typeface="Microsoft YaHei"/>
              </a:rPr>
              <a:t>▪ 淋洗出的药液不贴标签，靠记忆区分</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放射性药物分装的防护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在专用分装柜里分装</a:t>
            </a:r>
          </a:p>
          <a:p>
            <a:pPr>
              <a:spcAft>
                <a:spcPts val="1000"/>
              </a:spcAft>
            </a:pPr>
            <a:r>
              <a:rPr sz="1700">
                <a:solidFill>
                  <a:srgbClr val="222B33"/>
                </a:solidFill>
                <a:latin typeface="Microsoft YaHei"/>
              </a:rPr>
              <a:t>▪ 药瓶放铅罐，注射器套上屏蔽套</a:t>
            </a:r>
          </a:p>
          <a:p>
            <a:pPr>
              <a:spcAft>
                <a:spcPts val="1000"/>
              </a:spcAft>
            </a:pPr>
            <a:r>
              <a:rPr sz="1700">
                <a:solidFill>
                  <a:srgbClr val="222B33"/>
                </a:solidFill>
                <a:latin typeface="Microsoft YaHei"/>
              </a:rPr>
              <a:t>▪ 托盘铺吸水纸，用长柄工具夹取</a:t>
            </a:r>
          </a:p>
          <a:p>
            <a:pPr>
              <a:spcAft>
                <a:spcPts val="1000"/>
              </a:spcAft>
            </a:pPr>
            <a:r>
              <a:rPr sz="1700">
                <a:solidFill>
                  <a:srgbClr val="222B33"/>
                </a:solidFill>
                <a:latin typeface="Microsoft YaHei"/>
              </a:rPr>
              <a:t>▪ 不徒手拿瓶，不嘴吸，不吃喝化妆</a:t>
            </a:r>
          </a:p>
          <a:p>
            <a:pPr>
              <a:spcAft>
                <a:spcPts val="1000"/>
              </a:spcAft>
            </a:pPr>
            <a:r>
              <a:rPr sz="1700">
                <a:solidFill>
                  <a:srgbClr val="222B33"/>
                </a:solidFill>
                <a:latin typeface="Microsoft YaHei"/>
              </a:rPr>
              <a:t>▪ 做完测台面和手套，再脱手套洗手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分装放射性药物要在专用的分装柜（通风橱）里进行，前方有铅玻璃屏蔽。药瓶放在铅罐里，注射器套上屏蔽套；台面上放托盘、铺吸水纸，用长柄镊子或钳子夹取药瓶，不徒手拿药瓶，严禁用嘴吸移液（非密封源操作通则见第 091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嫌铅罐麻烦，直接拿药瓶</a:t>
            </a:r>
          </a:p>
          <a:p>
            <a:pPr>
              <a:spcAft>
                <a:spcPts val="1000"/>
              </a:spcAft>
            </a:pPr>
            <a:r>
              <a:rPr sz="1500">
                <a:solidFill>
                  <a:srgbClr val="222B33"/>
                </a:solidFill>
                <a:latin typeface="Microsoft YaHei"/>
              </a:rPr>
              <a:t>▪ 不测手套就摘下来去摸手机</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给药前核对：人、药、活度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使用前做质量控制，用活度计实测</a:t>
            </a:r>
          </a:p>
          <a:p>
            <a:pPr>
              <a:spcAft>
                <a:spcPts val="1000"/>
              </a:spcAft>
            </a:pPr>
            <a:r>
              <a:rPr sz="1700">
                <a:solidFill>
                  <a:srgbClr val="222B33"/>
                </a:solidFill>
                <a:latin typeface="Microsoft YaHei"/>
              </a:rPr>
              <a:t>▪ 标签写清核素、活度、时间和对象</a:t>
            </a:r>
          </a:p>
          <a:p>
            <a:pPr>
              <a:spcAft>
                <a:spcPts val="1000"/>
              </a:spcAft>
            </a:pPr>
            <a:r>
              <a:rPr sz="1700">
                <a:solidFill>
                  <a:srgbClr val="222B33"/>
                </a:solidFill>
                <a:latin typeface="Microsoft YaHei"/>
              </a:rPr>
              <a:t>▪ 两人核对：人、药、量都对上</a:t>
            </a:r>
          </a:p>
          <a:p>
            <a:pPr>
              <a:spcAft>
                <a:spcPts val="1000"/>
              </a:spcAft>
            </a:pPr>
            <a:r>
              <a:rPr sz="1700">
                <a:solidFill>
                  <a:srgbClr val="222B33"/>
                </a:solidFill>
                <a:latin typeface="Microsoft YaHei"/>
              </a:rPr>
              <a:t>▪ 外形一样的容器，最容易拿错</a:t>
            </a:r>
          </a:p>
          <a:p>
            <a:pPr>
              <a:spcAft>
                <a:spcPts val="1000"/>
              </a:spcAft>
            </a:pPr>
            <a:r>
              <a:rPr sz="1700">
                <a:solidFill>
                  <a:srgbClr val="222B33"/>
                </a:solidFill>
                <a:latin typeface="Microsoft YaHei"/>
              </a:rPr>
              <a:t>▪ 给错药、给错量，立即报告</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放射性药物使用前要按规定做质量控制；每一份药都要用活度计实测活度，并按衰变校正到给药时间，与处方（或实验方案）一致。注射器和药瓶的标签写清核素、活度、测量时间和给药对象。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凭标签上的“计划活度”给药，不实测</a:t>
            </a:r>
          </a:p>
          <a:p>
            <a:pPr>
              <a:spcAft>
                <a:spcPts val="1000"/>
              </a:spcAft>
            </a:pPr>
            <a:r>
              <a:rPr sz="1500">
                <a:solidFill>
                  <a:srgbClr val="222B33"/>
                </a:solidFill>
                <a:latin typeface="Microsoft YaHei"/>
              </a:rPr>
              <a:t>▪ 两个相同外观的注射器放在同一托盘里不标识</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注射后的人就是辐射源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医院多个科室都有辐射源</a:t>
            </a:r>
          </a:p>
          <a:p>
            <a:pPr>
              <a:spcAft>
                <a:spcPts val="1000"/>
              </a:spcAft>
            </a:pPr>
            <a:r>
              <a:rPr sz="1700">
                <a:solidFill>
                  <a:srgbClr val="222B33"/>
                </a:solidFill>
                <a:latin typeface="Microsoft YaHei"/>
              </a:rPr>
              <a:t>▪ X线机关机就没射线，注射后的病人不一样</a:t>
            </a:r>
          </a:p>
          <a:p>
            <a:pPr>
              <a:spcAft>
                <a:spcPts val="1000"/>
              </a:spcAft>
            </a:pPr>
            <a:r>
              <a:rPr sz="1700">
                <a:solidFill>
                  <a:srgbClr val="222B33"/>
                </a:solidFill>
                <a:latin typeface="Microsoft YaHei"/>
              </a:rPr>
              <a:t>▪ 注射后的病人，本身就是辐射源</a:t>
            </a:r>
          </a:p>
          <a:p>
            <a:pPr>
              <a:spcAft>
                <a:spcPts val="1000"/>
              </a:spcAft>
            </a:pPr>
            <a:r>
              <a:rPr sz="1700">
                <a:solidFill>
                  <a:srgbClr val="222B33"/>
                </a:solidFill>
                <a:latin typeface="Microsoft YaHei"/>
              </a:rPr>
              <a:t>▪ 注射后的实验动物，也是辐射源</a:t>
            </a:r>
          </a:p>
          <a:p>
            <a:pPr>
              <a:spcAft>
                <a:spcPts val="1000"/>
              </a:spcAft>
            </a:pPr>
            <a:r>
              <a:rPr sz="1700">
                <a:solidFill>
                  <a:srgbClr val="222B33"/>
                </a:solidFill>
                <a:latin typeface="Microsoft YaHei"/>
              </a:rPr>
              <a:t>▪ 可能接触的人，都要接受安全告知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医院里的辐射源分布在多个科室：放射科的 X线设备关机就没有射线；放疗科有加速器和近距离治疗设备；血库可能有含源血液辐照仪；核医学科把放射性药物注入病人体内，这时病人本身就成了辐射源（非密封源）。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以为只有核医学科的工作人员需要了解辐射</a:t>
            </a:r>
          </a:p>
          <a:p>
            <a:pPr>
              <a:spcAft>
                <a:spcPts val="1000"/>
              </a:spcAft>
            </a:pPr>
            <a:r>
              <a:rPr sz="1500">
                <a:solidFill>
                  <a:srgbClr val="222B33"/>
                </a:solidFill>
                <a:latin typeface="Microsoft YaHei"/>
              </a:rPr>
              <a:t>▪ 注射后的实验动物和普通动物混养</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注射后的防护与告知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注射后在专用候诊区等候</a:t>
            </a:r>
          </a:p>
          <a:p>
            <a:pPr>
              <a:spcAft>
                <a:spcPts val="1000"/>
              </a:spcAft>
            </a:pPr>
            <a:r>
              <a:rPr sz="1700">
                <a:solidFill>
                  <a:srgbClr val="222B33"/>
                </a:solidFill>
                <a:latin typeface="Microsoft YaHei"/>
              </a:rPr>
              <a:t>▪ 用专用卫生间，便后多冲水</a:t>
            </a:r>
          </a:p>
          <a:p>
            <a:pPr>
              <a:spcAft>
                <a:spcPts val="1000"/>
              </a:spcAft>
            </a:pPr>
            <a:r>
              <a:rPr sz="1700">
                <a:solidFill>
                  <a:srgbClr val="222B33"/>
                </a:solidFill>
                <a:latin typeface="Microsoft YaHei"/>
              </a:rPr>
              <a:t>▪ 多喝水、勤排尿，排得更快</a:t>
            </a:r>
          </a:p>
          <a:p>
            <a:pPr>
              <a:spcAft>
                <a:spcPts val="1000"/>
              </a:spcAft>
            </a:pPr>
            <a:r>
              <a:rPr sz="1700">
                <a:solidFill>
                  <a:srgbClr val="222B33"/>
                </a:solidFill>
                <a:latin typeface="Microsoft YaHei"/>
              </a:rPr>
              <a:t>▪ 短期少接触孕妇儿童，时长遵医嘱</a:t>
            </a:r>
          </a:p>
          <a:p>
            <a:pPr>
              <a:spcAft>
                <a:spcPts val="1000"/>
              </a:spcAft>
            </a:pPr>
            <a:r>
              <a:rPr sz="1700">
                <a:solidFill>
                  <a:srgbClr val="222B33"/>
                </a:solidFill>
                <a:latin typeface="Microsoft YaHei"/>
              </a:rPr>
              <a:t>▪ 怀孕或哺乳先告诉医生；孕妇儿童不陪护</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注射后的受检者要在专用候诊区等候，不随意走动；使用专用卫生间，便后多冲水；检查后多喝水、勤排尿，加快排出。核医学科要书面告知注意事项。工作人员与注射后的病人也要保持距离、减少停留。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检查一结束就去抱小孩</a:t>
            </a:r>
          </a:p>
          <a:p>
            <a:pPr>
              <a:spcAft>
                <a:spcPts val="1000"/>
              </a:spcAft>
            </a:pPr>
            <a:r>
              <a:rPr sz="1500">
                <a:solidFill>
                  <a:srgbClr val="222B33"/>
                </a:solidFill>
                <a:latin typeface="Microsoft YaHei"/>
              </a:rPr>
              <a:t>▪ 带孕妇或儿童陪同做核素治疗</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接触注射后的病人：标准防护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需要急救时不犹豫，按常规穿戴防护</a:t>
            </a:r>
          </a:p>
          <a:p>
            <a:pPr>
              <a:spcAft>
                <a:spcPts val="1000"/>
              </a:spcAft>
            </a:pPr>
            <a:r>
              <a:rPr sz="1700">
                <a:solidFill>
                  <a:srgbClr val="222B33"/>
                </a:solidFill>
                <a:latin typeface="Microsoft YaHei"/>
              </a:rPr>
              <a:t>▪ 血尿放射性很小，病原体更要防</a:t>
            </a:r>
          </a:p>
          <a:p>
            <a:pPr>
              <a:spcAft>
                <a:spcPts val="1000"/>
              </a:spcAft>
            </a:pPr>
            <a:r>
              <a:rPr sz="1700">
                <a:solidFill>
                  <a:srgbClr val="222B33"/>
                </a:solidFill>
                <a:latin typeface="Microsoft YaHei"/>
              </a:rPr>
              <a:t>▪ 抽血化验尽量在检查前，按科室安排</a:t>
            </a:r>
          </a:p>
          <a:p>
            <a:pPr>
              <a:spcAft>
                <a:spcPts val="1000"/>
              </a:spcAft>
            </a:pPr>
            <a:r>
              <a:rPr sz="1700">
                <a:solidFill>
                  <a:srgbClr val="222B33"/>
                </a:solidFill>
                <a:latin typeface="Microsoft YaHei"/>
              </a:rPr>
              <a:t>▪ 病人担心时：检查常用，受照很低</a:t>
            </a:r>
          </a:p>
          <a:p>
            <a:pPr>
              <a:spcAft>
                <a:spcPts val="1000"/>
              </a:spcAft>
            </a:pPr>
            <a:r>
              <a:rPr sz="1700">
                <a:solidFill>
                  <a:srgbClr val="222B33"/>
                </a:solidFill>
                <a:latin typeface="Microsoft YaHei"/>
              </a:rPr>
              <a:t>▪ 沾染的废物，按规定专门处理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注射过放射性药物的病人也可能需要急救，救人优先，不要因为辐射而犹豫。病人的血液、尿液等含有少量放射性，但量很小，按常规标准预防穿戴手套、隔离衣等就够了；相比之下，血源性病原体更需要防范（临床样本的标准预防见第 079……</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因为病人注射过药物而拒绝或拖延急救</a:t>
            </a:r>
          </a:p>
          <a:p>
            <a:pPr>
              <a:spcAft>
                <a:spcPts val="1000"/>
              </a:spcAft>
            </a:pPr>
            <a:r>
              <a:rPr sz="1500">
                <a:solidFill>
                  <a:srgbClr val="222B33"/>
                </a:solidFill>
                <a:latin typeface="Microsoft YaHei"/>
              </a:rPr>
              <a:t>▪ 把沾染的尿垫直接丢进普通垃圾桶</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核医学显像与 X射线影像的主要区别是：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核医学的相机会发出射线</a:t>
            </a:r>
          </a:p>
          <a:p>
            <a:pPr algn="l"/>
            <a:r>
              <a:rPr sz="1500" b="0">
                <a:solidFill>
                  <a:srgbClr val="222B33"/>
                </a:solidFill>
                <a:latin typeface="Microsoft YaHei"/>
              </a:rPr>
              <a:t>B. 核医学把放射性药物送进体内，由体外探测器接收体内发出的γ光子</a:t>
            </a:r>
          </a:p>
          <a:p>
            <a:pPr algn="l"/>
            <a:r>
              <a:rPr sz="1500" b="0">
                <a:solidFill>
                  <a:srgbClr val="222B33"/>
                </a:solidFill>
                <a:latin typeface="Microsoft YaHei"/>
              </a:rPr>
              <a:t>C. 两者完全相同</a:t>
            </a:r>
          </a:p>
          <a:p>
            <a:pPr algn="l"/>
            <a:r>
              <a:rPr sz="1500" b="0">
                <a:solidFill>
                  <a:srgbClr val="222B33"/>
                </a:solidFill>
                <a:latin typeface="Microsoft YaHei"/>
              </a:rPr>
              <a:t>D. X射线检查后人体带有放射性</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判断：诊断用核素半衰期越长越好，这样检查时间更充裕。</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放射性药物到货后，正确的做法是：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在办公室直接拆开</a:t>
            </a:r>
          </a:p>
          <a:p>
            <a:pPr algn="l"/>
            <a:r>
              <a:rPr sz="1500" b="0">
                <a:solidFill>
                  <a:srgbClr val="222B33"/>
                </a:solidFill>
                <a:latin typeface="Microsoft YaHei"/>
              </a:rPr>
              <a:t>B. 当面交接，核对核素、活度、数量和单据，测包装外表面，入专用柜加锁登记</a:t>
            </a:r>
          </a:p>
          <a:p>
            <a:pPr algn="l"/>
            <a:r>
              <a:rPr sz="1500" b="0">
                <a:solidFill>
                  <a:srgbClr val="222B33"/>
                </a:solidFill>
                <a:latin typeface="Microsoft YaHei"/>
              </a:rPr>
              <a:t>C. 赶时间先用，回头再登记</a:t>
            </a:r>
          </a:p>
          <a:p>
            <a:pPr algn="l"/>
            <a:r>
              <a:rPr sz="1500" b="0">
                <a:solidFill>
                  <a:srgbClr val="222B33"/>
                </a:solidFill>
                <a:latin typeface="Microsoft YaHei"/>
              </a:rPr>
              <a:t>D. 交给同学代收放在桌上</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给药前的核对，下列做法正确的是：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按标签上的计划活度直接给药</a:t>
            </a:r>
          </a:p>
          <a:p>
            <a:pPr algn="l"/>
            <a:r>
              <a:rPr sz="1500" b="0">
                <a:solidFill>
                  <a:srgbClr val="222B33"/>
                </a:solidFill>
                <a:latin typeface="Microsoft YaHei"/>
              </a:rPr>
              <a:t>B. 一个人核对即可</a:t>
            </a:r>
          </a:p>
          <a:p>
            <a:pPr algn="l"/>
            <a:r>
              <a:rPr sz="1500" b="0">
                <a:solidFill>
                  <a:srgbClr val="222B33"/>
                </a:solidFill>
                <a:latin typeface="Microsoft YaHei"/>
              </a:rPr>
              <a:t>C. 用活度计实测，两人核对人、药、量后签字记录</a:t>
            </a:r>
          </a:p>
          <a:p>
            <a:pPr algn="l"/>
            <a:r>
              <a:rPr sz="1500" b="0">
                <a:solidFill>
                  <a:srgbClr val="222B33"/>
                </a:solidFill>
                <a:latin typeface="Microsoft YaHei"/>
              </a:rPr>
              <a:t>D. 外观相同的注射器放在一起</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095 · 核医学与放射性药物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095 核医学与放射性药物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判断：注射过放射性药物的病人需要急救时，应等辐射安全人员到场后再处理。</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简答：核医学场所为什么要求工作人员和患者分通道、药物和废物单向流动？</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X射线影像：组织拦得不一样</a:t>
            </a:r>
          </a:p>
          <a:p>
            <a:pPr>
              <a:spcAft>
                <a:spcPts val="800"/>
              </a:spcAft>
            </a:pPr>
            <a:r>
              <a:rPr sz="1500">
                <a:solidFill>
                  <a:srgbClr val="FFFFFF"/>
                </a:solidFill>
                <a:latin typeface="Microsoft YaHei"/>
              </a:rPr>
              <a:t>▪ K2  核医学：把“光源”放进身体</a:t>
            </a:r>
          </a:p>
          <a:p>
            <a:pPr>
              <a:spcAft>
                <a:spcPts val="800"/>
              </a:spcAft>
            </a:pPr>
            <a:r>
              <a:rPr sz="1500">
                <a:solidFill>
                  <a:srgbClr val="FFFFFF"/>
                </a:solidFill>
                <a:latin typeface="Microsoft YaHei"/>
              </a:rPr>
              <a:t>▪ K3  探测器：一圈圈接收γ光子</a:t>
            </a:r>
          </a:p>
          <a:p>
            <a:pPr>
              <a:spcAft>
                <a:spcPts val="800"/>
              </a:spcAft>
            </a:pPr>
            <a:r>
              <a:rPr sz="1500">
                <a:solidFill>
                  <a:srgbClr val="FFFFFF"/>
                </a:solidFill>
                <a:latin typeface="Microsoft YaHei"/>
              </a:rPr>
              <a:t>▪ K4  放射性药物：核素加载体</a:t>
            </a:r>
          </a:p>
          <a:p>
            <a:pPr>
              <a:spcAft>
                <a:spcPts val="800"/>
              </a:spcAft>
            </a:pPr>
            <a:r>
              <a:rPr sz="1500">
                <a:solidFill>
                  <a:srgbClr val="FFFFFF"/>
                </a:solidFill>
                <a:latin typeface="Microsoft YaHei"/>
              </a:rPr>
              <a:t>▪ K5  诊断核素：半衰期要短</a:t>
            </a:r>
          </a:p>
          <a:p>
            <a:pPr>
              <a:spcAft>
                <a:spcPts val="800"/>
              </a:spcAft>
            </a:pPr>
            <a:r>
              <a:rPr sz="1500">
                <a:solidFill>
                  <a:srgbClr val="FFFFFF"/>
                </a:solidFill>
                <a:latin typeface="Microsoft YaHei"/>
              </a:rPr>
              <a:t>▪ K6  只要能量适中的γ光子</a:t>
            </a:r>
          </a:p>
          <a:p>
            <a:pPr>
              <a:spcAft>
                <a:spcPts val="800"/>
              </a:spcAft>
            </a:pPr>
            <a:r>
              <a:rPr sz="1500">
                <a:solidFill>
                  <a:srgbClr val="FFFFFF"/>
                </a:solidFill>
                <a:latin typeface="Microsoft YaHei"/>
              </a:rPr>
              <a:t>▪ K7  聚得准，排得快</a:t>
            </a:r>
          </a:p>
          <a:p>
            <a:pPr>
              <a:spcAft>
                <a:spcPts val="800"/>
              </a:spcAft>
            </a:pPr>
            <a:r>
              <a:rPr sz="1500">
                <a:solidFill>
                  <a:srgbClr val="FFFFFF"/>
                </a:solidFill>
                <a:latin typeface="Microsoft YaHei"/>
              </a:rPr>
              <a:t>▪ K8  核素选择与医疗照射的最优化</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核医学场所：分区与单向流动</a:t>
            </a:r>
          </a:p>
          <a:p>
            <a:pPr>
              <a:spcAft>
                <a:spcPts val="800"/>
              </a:spcAft>
            </a:pPr>
            <a:r>
              <a:rPr sz="1500">
                <a:solidFill>
                  <a:srgbClr val="FFFFFF"/>
                </a:solidFill>
                <a:latin typeface="Microsoft YaHei"/>
              </a:rPr>
              <a:t>▪ K10  采购、运输与验收入账</a:t>
            </a:r>
          </a:p>
          <a:p>
            <a:pPr>
              <a:spcAft>
                <a:spcPts val="800"/>
              </a:spcAft>
            </a:pPr>
            <a:r>
              <a:rPr sz="1500">
                <a:solidFill>
                  <a:srgbClr val="FFFFFF"/>
                </a:solidFill>
                <a:latin typeface="Microsoft YaHei"/>
              </a:rPr>
              <a:t>▪ K11  发生器的安全使用与归还</a:t>
            </a:r>
          </a:p>
          <a:p>
            <a:pPr>
              <a:spcAft>
                <a:spcPts val="800"/>
              </a:spcAft>
            </a:pPr>
            <a:r>
              <a:rPr sz="1500">
                <a:solidFill>
                  <a:srgbClr val="FFFFFF"/>
                </a:solidFill>
                <a:latin typeface="Microsoft YaHei"/>
              </a:rPr>
              <a:t>▪ K12  放射性药物分装的防护</a:t>
            </a:r>
          </a:p>
          <a:p>
            <a:pPr>
              <a:spcAft>
                <a:spcPts val="800"/>
              </a:spcAft>
            </a:pPr>
            <a:r>
              <a:rPr sz="1500">
                <a:solidFill>
                  <a:srgbClr val="FFFFFF"/>
                </a:solidFill>
                <a:latin typeface="Microsoft YaHei"/>
              </a:rPr>
              <a:t>▪ K13  给药前核对：人、药、活度</a:t>
            </a:r>
          </a:p>
          <a:p>
            <a:pPr>
              <a:spcAft>
                <a:spcPts val="800"/>
              </a:spcAft>
            </a:pPr>
            <a:r>
              <a:rPr sz="1500">
                <a:solidFill>
                  <a:srgbClr val="FFFFFF"/>
                </a:solidFill>
                <a:latin typeface="Microsoft YaHei"/>
              </a:rPr>
              <a:t>▪ K14  注射后的人就是辐射源</a:t>
            </a:r>
          </a:p>
          <a:p>
            <a:pPr>
              <a:spcAft>
                <a:spcPts val="800"/>
              </a:spcAft>
            </a:pPr>
            <a:r>
              <a:rPr sz="1500">
                <a:solidFill>
                  <a:srgbClr val="FFFFFF"/>
                </a:solidFill>
                <a:latin typeface="Microsoft YaHei"/>
              </a:rPr>
              <a:t>▪ K15  注射后的防护与告知</a:t>
            </a:r>
          </a:p>
          <a:p>
            <a:pPr>
              <a:spcAft>
                <a:spcPts val="800"/>
              </a:spcAft>
            </a:pPr>
            <a:r>
              <a:rPr sz="1500">
                <a:solidFill>
                  <a:srgbClr val="FFFFFF"/>
                </a:solidFill>
                <a:latin typeface="Microsoft YaHei"/>
              </a:rPr>
              <a:t>▪ K16  接触注射后的病人：标准防护</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096</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辐射事故应急</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72 镜）　适用对象：使用放射源、射线装置、非密封放射性物质和放射性药物的本科生、研究生和教职工，实验室负责人、辐射安全管理人员，以及可能到场的保卫处、保洁、医护人员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能说出辐射事故分为特别重大、重大、较大、一般四级，知道小源丢失或超年剂量限值照射也属于辐射事故；知道应急预案、物资和演练的要求。</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能做到发现异常先“停、救、报、守”：停止操作、救命第一、逐级报告、守住现场，不隐瞒、不拖延、不私自处理。</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能判断放射源丢失被盗、遗失源、卡源或源破损、不明金属物、疑似超剂量照射时的正确做法。</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能做到放射性物质洒漏时先隔离再去污、测过才解除，人员沾污“脱、冲、测、报”，事后如实写清经过、配合调查整改。</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《放射性同位素与射线装置安全和防护条例》（以现行文本为准）：辐射事故分级、单位应急方案、事故发生后立即启动应急方案并向生态环境、公安、卫生健康主管部门报告</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《放射性同位素与射线装置安全和防护管理办法》（以现行文本为准）：辐射事故应急准备、报告与调查处理</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18871-2002（以现行文本为准）《电离辐射防护与辐射源安全基本标准》：应急照射情况、应急人员防护</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号）：应急预案、演练与事故报告</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本校辐射事故应急预案和本实验室应急处置规程（以本校规定为准）</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少见但严重：按程序办，不走捷径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辐射事故少见，后果同样严重</a:t>
            </a:r>
          </a:p>
          <a:p>
            <a:pPr>
              <a:spcAft>
                <a:spcPts val="1000"/>
              </a:spcAft>
            </a:pPr>
            <a:r>
              <a:rPr sz="2000">
                <a:solidFill>
                  <a:srgbClr val="222B33"/>
                </a:solidFill>
                <a:latin typeface="Microsoft YaHei"/>
              </a:rPr>
              <a:t>▪ 射线看不见、摸不着，更要按程序办</a:t>
            </a:r>
          </a:p>
          <a:p>
            <a:pPr>
              <a:spcAft>
                <a:spcPts val="1000"/>
              </a:spcAft>
            </a:pPr>
            <a:r>
              <a:rPr sz="2000">
                <a:solidFill>
                  <a:srgbClr val="222B33"/>
                </a:solidFill>
                <a:latin typeface="Microsoft YaHei"/>
              </a:rPr>
              <a:t>▪ 不走捷径，每一步按预案和规程</a:t>
            </a:r>
          </a:p>
          <a:p>
            <a:pPr>
              <a:spcAft>
                <a:spcPts val="1000"/>
              </a:spcAft>
            </a:pPr>
            <a:r>
              <a:rPr sz="2000">
                <a:solidFill>
                  <a:srgbClr val="222B33"/>
                </a:solidFill>
                <a:latin typeface="Microsoft YaHei"/>
              </a:rPr>
              <a:t>▪ 处置时也要合理可行、尽量少受照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与火灾、化学品泄漏相比，辐射事故并不常见，但一旦发生，后果同样严重，而且射线看不见、摸不着、闻不到，人往往没有感觉，只能靠仪器和程序来判断和处置。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觉得“量很小”，不按程序随手处理</a:t>
            </a:r>
          </a:p>
          <a:p>
            <a:pPr>
              <a:spcAft>
                <a:spcPts val="1000"/>
              </a:spcAft>
            </a:pPr>
            <a:r>
              <a:rPr sz="1500">
                <a:solidFill>
                  <a:srgbClr val="222B33"/>
                </a:solidFill>
                <a:latin typeface="Microsoft YaHei"/>
              </a:rPr>
              <a:t>▪ 处置时只顾快，不顾自身防护</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应急预案、物资与演练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学校和实验室都要有辐射事故应急预案</a:t>
            </a:r>
          </a:p>
          <a:p>
            <a:pPr>
              <a:spcAft>
                <a:spcPts val="1000"/>
              </a:spcAft>
            </a:pPr>
            <a:r>
              <a:rPr sz="2000">
                <a:solidFill>
                  <a:srgbClr val="222B33"/>
                </a:solidFill>
                <a:latin typeface="Microsoft YaHei"/>
              </a:rPr>
              <a:t>▪ 应急物资齐全，放在固定位置</a:t>
            </a:r>
          </a:p>
          <a:p>
            <a:pPr>
              <a:spcAft>
                <a:spcPts val="1000"/>
              </a:spcAft>
            </a:pPr>
            <a:r>
              <a:rPr sz="2000">
                <a:solidFill>
                  <a:srgbClr val="222B33"/>
                </a:solidFill>
                <a:latin typeface="Microsoft YaHei"/>
              </a:rPr>
              <a:t>▪ 应急电话和流程贴在显眼处</a:t>
            </a:r>
          </a:p>
          <a:p>
            <a:pPr>
              <a:spcAft>
                <a:spcPts val="1000"/>
              </a:spcAft>
            </a:pPr>
            <a:r>
              <a:rPr sz="2000">
                <a:solidFill>
                  <a:srgbClr val="222B33"/>
                </a:solidFill>
                <a:latin typeface="Microsoft YaHei"/>
              </a:rPr>
              <a:t>▪ 定期演练，人人知道怎么做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放射性同位素与射线装置安全和防护条例》（以现行文本为准）要求使用单位制定辐射事故应急方案。学校有辐射事故应急预案，使用放射性物质和射线装置的实验室还要有本实验室的应急处置规程，写清可能发生的事件类型（丢源、卡源、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应急箱里的东西用完了没人补</a:t>
            </a:r>
          </a:p>
          <a:p>
            <a:pPr>
              <a:spcAft>
                <a:spcPts val="1000"/>
              </a:spcAft>
            </a:pPr>
            <a:r>
              <a:rPr sz="1500">
                <a:solidFill>
                  <a:srgbClr val="222B33"/>
                </a:solidFill>
                <a:latin typeface="Microsoft YaHei"/>
              </a:rPr>
              <a:t>▪ 预案只放在文件柜里，组里没人看过、没演练过</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辐射事故的分级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辐射事故分为特别重大、重大、较大、一般四级</a:t>
            </a:r>
          </a:p>
          <a:p>
            <a:pPr>
              <a:spcAft>
                <a:spcPts val="1000"/>
              </a:spcAft>
            </a:pPr>
            <a:r>
              <a:rPr sz="2000">
                <a:solidFill>
                  <a:srgbClr val="222B33"/>
                </a:solidFill>
                <a:latin typeface="Microsoft YaHei"/>
              </a:rPr>
              <a:t>▪ 按源的类别、人员受照和影响范围定级</a:t>
            </a:r>
          </a:p>
          <a:p>
            <a:pPr>
              <a:spcAft>
                <a:spcPts val="1000"/>
              </a:spcAft>
            </a:pPr>
            <a:r>
              <a:rPr sz="2000">
                <a:solidFill>
                  <a:srgbClr val="222B33"/>
                </a:solidFill>
                <a:latin typeface="Microsoft YaHei"/>
              </a:rPr>
              <a:t>▪ 小源丢失或超年剂量限值照射也是事故</a:t>
            </a:r>
          </a:p>
          <a:p>
            <a:pPr>
              <a:spcAft>
                <a:spcPts val="1000"/>
              </a:spcAft>
            </a:pPr>
            <a:r>
              <a:rPr sz="2000">
                <a:solidFill>
                  <a:srgbClr val="222B33"/>
                </a:solidFill>
                <a:latin typeface="Microsoft YaHei"/>
              </a:rPr>
              <a:t>▪ 具体分级以现行条例为准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放射性同位素与射线装置安全和防护条例》（以现行文本为准）根据辐射事故的性质、严重程度、可控性和影响范围等因素，把辐射事故分为特别重大辐射事故、重大辐射事故、较大辐射事故和一般辐射事故四个等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以为只有大量放射性泄漏才算辐射事故</a:t>
            </a:r>
          </a:p>
          <a:p>
            <a:pPr>
              <a:spcAft>
                <a:spcPts val="1000"/>
              </a:spcAft>
            </a:pPr>
            <a:r>
              <a:rPr sz="1500">
                <a:solidFill>
                  <a:srgbClr val="222B33"/>
                </a:solidFill>
                <a:latin typeface="Microsoft YaHei"/>
              </a:rPr>
              <a:t>▪ 小源丢失只在课题组内部找，不上报</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发现异常先做四件事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发现异常：停、救、报、守</a:t>
            </a:r>
          </a:p>
          <a:p>
            <a:pPr>
              <a:spcAft>
                <a:spcPts val="1000"/>
              </a:spcAft>
            </a:pPr>
            <a:r>
              <a:rPr sz="1700">
                <a:solidFill>
                  <a:srgbClr val="222B33"/>
                </a:solidFill>
                <a:latin typeface="Microsoft YaHei"/>
              </a:rPr>
              <a:t>▪ 立即停止操作，人员后退</a:t>
            </a:r>
          </a:p>
          <a:p>
            <a:pPr>
              <a:spcAft>
                <a:spcPts val="1000"/>
              </a:spcAft>
            </a:pPr>
            <a:r>
              <a:rPr sz="1700">
                <a:solidFill>
                  <a:srgbClr val="222B33"/>
                </a:solidFill>
                <a:latin typeface="Microsoft YaHei"/>
              </a:rPr>
              <a:t>▪ 有人受伤，救命第一，拨打120</a:t>
            </a:r>
          </a:p>
          <a:p>
            <a:pPr>
              <a:spcAft>
                <a:spcPts val="1000"/>
              </a:spcAft>
            </a:pPr>
            <a:r>
              <a:rPr sz="1700">
                <a:solidFill>
                  <a:srgbClr val="222B33"/>
                </a:solidFill>
                <a:latin typeface="Microsoft YaHei"/>
              </a:rPr>
              <a:t>▪ 绝不能因为辐射耽误抢救</a:t>
            </a:r>
          </a:p>
          <a:p>
            <a:pPr>
              <a:spcAft>
                <a:spcPts val="1000"/>
              </a:spcAft>
            </a:pPr>
            <a:r>
              <a:rPr sz="1700">
                <a:solidFill>
                  <a:srgbClr val="222B33"/>
                </a:solidFill>
                <a:latin typeface="Microsoft YaHei"/>
              </a:rPr>
              <a:t>▪ 原则：先隔离、控制，再去污</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发现放射源异常、剂量率异常、洒漏或有人可能受照时，先做四件事：一是停——立即停止操作，射线装置关机断电，人员后退，防止继续受照；二是救——有人受伤或不适，救命第一，紧急拨打 120，抢救绝不能因为辐射而耽误；三是报—……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先想着收拾现场，忘了关机和撤人</a:t>
            </a:r>
          </a:p>
          <a:p>
            <a:pPr>
              <a:spcAft>
                <a:spcPts val="1000"/>
              </a:spcAft>
            </a:pPr>
            <a:r>
              <a:rPr sz="1500">
                <a:solidFill>
                  <a:srgbClr val="222B33"/>
                </a:solidFill>
                <a:latin typeface="Microsoft YaHei"/>
              </a:rPr>
              <a:t>▪ 有人受伤时因为怕辐射而不敢救</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报告：逐级上报，不瞒报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报实验室负责人、学院和学校主管部门</a:t>
            </a:r>
          </a:p>
          <a:p>
            <a:pPr>
              <a:spcAft>
                <a:spcPts val="1000"/>
              </a:spcAft>
            </a:pPr>
            <a:r>
              <a:rPr sz="1700">
                <a:solidFill>
                  <a:srgbClr val="222B33"/>
                </a:solidFill>
                <a:latin typeface="Microsoft YaHei"/>
              </a:rPr>
              <a:t>▪ 丢失被盗同时报保卫处，有人受伤打120</a:t>
            </a:r>
          </a:p>
          <a:p>
            <a:pPr>
              <a:spcAft>
                <a:spcPts val="1000"/>
              </a:spcAft>
            </a:pPr>
            <a:r>
              <a:rPr sz="1700">
                <a:solidFill>
                  <a:srgbClr val="222B33"/>
                </a:solidFill>
                <a:latin typeface="Microsoft YaHei"/>
              </a:rPr>
              <a:t>▪ 学校按规定报生态环境、公安、卫生健康部门</a:t>
            </a:r>
          </a:p>
          <a:p>
            <a:pPr>
              <a:spcAft>
                <a:spcPts val="1000"/>
              </a:spcAft>
            </a:pPr>
            <a:r>
              <a:rPr sz="1700">
                <a:solidFill>
                  <a:srgbClr val="222B33"/>
                </a:solidFill>
                <a:latin typeface="Microsoft YaHei"/>
              </a:rPr>
              <a:t>▪ 夜里找不到人，打学校值班电话</a:t>
            </a:r>
          </a:p>
          <a:p>
            <a:pPr>
              <a:spcAft>
                <a:spcPts val="1000"/>
              </a:spcAft>
            </a:pPr>
            <a:r>
              <a:rPr sz="1700">
                <a:solidFill>
                  <a:srgbClr val="222B33"/>
                </a:solidFill>
                <a:latin typeface="Microsoft YaHei"/>
              </a:rPr>
              <a:t>▪ 不隐瞒、不拖延、不私自处理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源丢失被盗、泄漏、误照射、剂量异常、洒漏失控、放射性药物丢失等，都要立即报告：先报实验室负责人，再报学院和学校辐射安全管理部门；涉及丢失被盗、需要封控现场的，同时通知保卫处；有人受伤先救治，拨打 120。夜里或节……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怕被批评，先自己处理“没事了”再说</a:t>
            </a:r>
          </a:p>
          <a:p>
            <a:pPr>
              <a:spcAft>
                <a:spcPts val="1000"/>
              </a:spcAft>
            </a:pPr>
            <a:r>
              <a:rPr sz="1500">
                <a:solidFill>
                  <a:srgbClr val="222B33"/>
                </a:solidFill>
                <a:latin typeface="Microsoft YaHei"/>
              </a:rPr>
              <a:t>▪ 只告诉同学，不报告负责人</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放射源丢失被盗：立即报告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发现源不见了，一分钟也别拖</a:t>
            </a:r>
          </a:p>
          <a:p>
            <a:pPr>
              <a:spcAft>
                <a:spcPts val="1000"/>
              </a:spcAft>
            </a:pPr>
            <a:r>
              <a:rPr sz="2000">
                <a:solidFill>
                  <a:srgbClr val="222B33"/>
                </a:solidFill>
                <a:latin typeface="Microsoft YaHei"/>
              </a:rPr>
              <a:t>▪ 报负责人、学院、学校主管部门和保卫处</a:t>
            </a:r>
          </a:p>
          <a:p>
            <a:pPr>
              <a:spcAft>
                <a:spcPts val="1000"/>
              </a:spcAft>
            </a:pPr>
            <a:r>
              <a:rPr sz="2000">
                <a:solidFill>
                  <a:srgbClr val="222B33"/>
                </a:solidFill>
                <a:latin typeface="Microsoft YaHei"/>
              </a:rPr>
              <a:t>▪ 不要自己偷偷找，不改台账</a:t>
            </a:r>
          </a:p>
          <a:p>
            <a:pPr>
              <a:spcAft>
                <a:spcPts val="1000"/>
              </a:spcAft>
            </a:pPr>
            <a:r>
              <a:rPr sz="2000">
                <a:solidFill>
                  <a:srgbClr val="222B33"/>
                </a:solidFill>
                <a:latin typeface="Microsoft YaHei"/>
              </a:rPr>
              <a:t>▪ 保护现场，配合公安和主管部门调查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清点时账物不符、源库里少了一个源、发现源库被撬，都要立即报告实验室负责人、学院、学校辐射安全管理部门和保卫处，由学校按规定向生态环境、公安、卫生健康主管部门报告。丢失被盗的放射源可能被不知情的人捡到，时间拖得越久，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先在组里找几天，找不到再报</a:t>
            </a:r>
          </a:p>
          <a:p>
            <a:pPr>
              <a:spcAft>
                <a:spcPts val="1000"/>
              </a:spcAft>
            </a:pPr>
            <a:r>
              <a:rPr sz="1500">
                <a:solidFill>
                  <a:srgbClr val="222B33"/>
                </a:solidFill>
                <a:latin typeface="Microsoft YaHei"/>
              </a:rPr>
              <a:t>▪ 为了对上账修改领用记录</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遗失源的处置顺序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源遗落在公共区域，路过的人也可能受照</a:t>
            </a:r>
          </a:p>
          <a:p>
            <a:pPr>
              <a:spcAft>
                <a:spcPts val="1000"/>
              </a:spcAft>
            </a:pPr>
            <a:r>
              <a:rPr sz="1700">
                <a:solidFill>
                  <a:srgbClr val="222B33"/>
                </a:solidFill>
                <a:latin typeface="Microsoft YaHei"/>
              </a:rPr>
              <a:t>▪ 第一，由专业人员把源收回屏蔽容器</a:t>
            </a:r>
          </a:p>
          <a:p>
            <a:pPr>
              <a:spcAft>
                <a:spcPts val="1000"/>
              </a:spcAft>
            </a:pPr>
            <a:r>
              <a:rPr sz="1700">
                <a:solidFill>
                  <a:srgbClr val="222B33"/>
                </a:solidFill>
                <a:latin typeface="Microsoft YaHei"/>
              </a:rPr>
              <a:t>▪ 第二，清场，不让更多人靠近</a:t>
            </a:r>
          </a:p>
          <a:p>
            <a:pPr>
              <a:spcAft>
                <a:spcPts val="1000"/>
              </a:spcAft>
            </a:pPr>
            <a:r>
              <a:rPr sz="1700">
                <a:solidFill>
                  <a:srgbClr val="222B33"/>
                </a:solidFill>
                <a:latin typeface="Microsoft YaHei"/>
              </a:rPr>
              <a:t>▪ 第三，立刻通知负责人和管理部门</a:t>
            </a:r>
          </a:p>
          <a:p>
            <a:pPr>
              <a:spcAft>
                <a:spcPts val="1000"/>
              </a:spcAft>
            </a:pPr>
            <a:r>
              <a:rPr sz="1700">
                <a:solidFill>
                  <a:srgbClr val="222B33"/>
                </a:solidFill>
                <a:latin typeface="Microsoft YaHei"/>
              </a:rPr>
              <a:t>▪ 登记所有可能受照的人，评估剂量</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曾有案例：治疗用的放射源被遗落在走廊里。路过的人离得远、停留短，受照很低；但如果有人在近处长时间停留，就可能受到危险的照射。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发现源后由在场的人顺手捡回去</a:t>
            </a:r>
          </a:p>
          <a:p>
            <a:pPr>
              <a:spcAft>
                <a:spcPts val="1000"/>
              </a:spcAft>
            </a:pPr>
            <a:r>
              <a:rPr sz="1500">
                <a:solidFill>
                  <a:srgbClr val="222B33"/>
                </a:solidFill>
                <a:latin typeface="Microsoft YaHei"/>
              </a:rPr>
              <a:t>▪ 只登记工作人员，忘了路过的公众</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卡源或源破损：撤离、隔离、报告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源卡住收不回屏蔽容器，就是卡源</a:t>
            </a:r>
          </a:p>
          <a:p>
            <a:pPr>
              <a:spcAft>
                <a:spcPts val="1000"/>
              </a:spcAft>
            </a:pPr>
            <a:r>
              <a:rPr sz="2000">
                <a:solidFill>
                  <a:srgbClr val="222B33"/>
                </a:solidFill>
                <a:latin typeface="Microsoft YaHei"/>
              </a:rPr>
              <a:t>▪ 人员撤离，扩大警戒，不要乱碰</a:t>
            </a:r>
          </a:p>
          <a:p>
            <a:pPr>
              <a:spcAft>
                <a:spcPts val="1000"/>
              </a:spcAft>
            </a:pPr>
            <a:r>
              <a:rPr sz="2000">
                <a:solidFill>
                  <a:srgbClr val="222B33"/>
                </a:solidFill>
                <a:latin typeface="Microsoft YaHei"/>
              </a:rPr>
              <a:t>▪ 怀疑源破损泄漏，先隔离</a:t>
            </a:r>
          </a:p>
          <a:p>
            <a:pPr>
              <a:spcAft>
                <a:spcPts val="1000"/>
              </a:spcAft>
            </a:pPr>
            <a:r>
              <a:rPr sz="2000">
                <a:solidFill>
                  <a:srgbClr val="222B33"/>
                </a:solidFill>
                <a:latin typeface="Microsoft YaHei"/>
              </a:rPr>
              <a:t>▪ 立即报告，等专业人员处置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γ射线探伤等作业中，源卡在导管里收不回屏蔽容器，叫卡源（探伤作业见第 094 课）。这时源处于暴露状态，人员要立即撤离到安全距离以外，必要时扩大警戒范围，专人看守，不要上前乱碰、乱拉导管，立即报告单位和学校辐射安全管……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卡源后自己上手拉扯导管想把源收回</a:t>
            </a:r>
          </a:p>
          <a:p>
            <a:pPr>
              <a:spcAft>
                <a:spcPts val="1000"/>
              </a:spcAft>
            </a:pPr>
            <a:r>
              <a:rPr sz="1500">
                <a:solidFill>
                  <a:srgbClr val="222B33"/>
                </a:solidFill>
                <a:latin typeface="Microsoft YaHei"/>
              </a:rPr>
              <a:t>▪ 怀疑源破损仍继续使用</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不明金属物：不捡不碰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看到不明金属件，不捡、不碰</a:t>
            </a:r>
          </a:p>
          <a:p>
            <a:pPr>
              <a:spcAft>
                <a:spcPts val="1000"/>
              </a:spcAft>
            </a:pPr>
            <a:r>
              <a:rPr sz="2000">
                <a:solidFill>
                  <a:srgbClr val="222B33"/>
                </a:solidFill>
                <a:latin typeface="Microsoft YaHei"/>
              </a:rPr>
              <a:t>▪ 带辐射标志的物品，更不能拿走</a:t>
            </a:r>
          </a:p>
          <a:p>
            <a:pPr>
              <a:spcAft>
                <a:spcPts val="1000"/>
              </a:spcAft>
            </a:pPr>
            <a:r>
              <a:rPr sz="2000">
                <a:solidFill>
                  <a:srgbClr val="222B33"/>
                </a:solidFill>
                <a:latin typeface="Microsoft YaHei"/>
              </a:rPr>
              <a:t>▪ 退远一点，守住现场，立即报告</a:t>
            </a:r>
          </a:p>
          <a:p>
            <a:pPr>
              <a:spcAft>
                <a:spcPts val="1000"/>
              </a:spcAft>
            </a:pPr>
            <a:r>
              <a:rPr sz="2000">
                <a:solidFill>
                  <a:srgbClr val="222B33"/>
                </a:solidFill>
                <a:latin typeface="Microsoft YaHei"/>
              </a:rPr>
              <a:t>▪ 有人不适或受伤，拨打120</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丢失的放射源常常看起来像一个普通的小金属件、金属棒或小罐子，不知情的人捡回家，可能造成严重伤害。在实验楼、工地、废品堆等地方看到来历不明的金属件，尤其是带有电离辐射标志的物品，不捡、不碰、不拿走、不当废品卖。</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好奇地捡起来看看、拍照发群里</a:t>
            </a:r>
          </a:p>
          <a:p>
            <a:pPr>
              <a:spcAft>
                <a:spcPts val="1000"/>
              </a:spcAft>
            </a:pPr>
            <a:r>
              <a:rPr sz="1500">
                <a:solidFill>
                  <a:srgbClr val="222B33"/>
                </a:solidFill>
                <a:latin typeface="Microsoft YaHei"/>
              </a:rPr>
              <a:t>▪ 把带标志的小罐子当废品卖掉</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疑似超剂量照射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超量照射常因没关机、联锁失效、标志不全</a:t>
            </a:r>
          </a:p>
          <a:p>
            <a:pPr>
              <a:spcAft>
                <a:spcPts val="1000"/>
              </a:spcAft>
            </a:pPr>
            <a:r>
              <a:rPr sz="1700">
                <a:solidFill>
                  <a:srgbClr val="222B33"/>
                </a:solidFill>
                <a:latin typeface="Microsoft YaHei"/>
              </a:rPr>
              <a:t>▪ 超量照射，人往往没有感觉</a:t>
            </a:r>
          </a:p>
          <a:p>
            <a:pPr>
              <a:spcAft>
                <a:spcPts val="1000"/>
              </a:spcAft>
            </a:pPr>
            <a:r>
              <a:rPr sz="1700">
                <a:solidFill>
                  <a:srgbClr val="222B33"/>
                </a:solidFill>
                <a:latin typeface="Microsoft YaHei"/>
              </a:rPr>
              <a:t>▪ 怀疑受照，先离开，防止继续受照</a:t>
            </a:r>
          </a:p>
          <a:p>
            <a:pPr>
              <a:spcAft>
                <a:spcPts val="1000"/>
              </a:spcAft>
            </a:pPr>
            <a:r>
              <a:rPr sz="1700">
                <a:solidFill>
                  <a:srgbClr val="222B33"/>
                </a:solidFill>
                <a:latin typeface="Microsoft YaHei"/>
              </a:rPr>
              <a:t>▪ 剂量计马上送检；剂量异常、剂量计丢失都要报告</a:t>
            </a:r>
          </a:p>
          <a:p>
            <a:pPr>
              <a:spcAft>
                <a:spcPts val="1000"/>
              </a:spcAft>
            </a:pPr>
            <a:r>
              <a:rPr sz="1700">
                <a:solidFill>
                  <a:srgbClr val="222B33"/>
                </a:solidFill>
                <a:latin typeface="Microsoft YaHei"/>
              </a:rPr>
              <a:t>▪ 没症状也别侥幸，按安排检查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超剂量照射常常发生在设备没关就开门、联锁失效、标志不全或被遮挡、源没收回就靠近等情况下（安全装置见第 094 课）。受到照射时人往往没有感觉，早期也可能没有症状，所以一律以报告和调查为准，不能凭感觉判断。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觉得“没有不舒服”，就不报告</a:t>
            </a:r>
          </a:p>
          <a:p>
            <a:pPr>
              <a:spcAft>
                <a:spcPts val="1000"/>
              </a:spcAft>
            </a:pPr>
            <a:r>
              <a:rPr sz="1500">
                <a:solidFill>
                  <a:srgbClr val="222B33"/>
                </a:solidFill>
                <a:latin typeface="Microsoft YaHei"/>
              </a:rPr>
              <a:t>▪ 剂量计丢了不说，换一个继续用</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洒漏：一滴也算，先隔离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哪怕一两滴，也算溢洒，要马上控制</a:t>
            </a:r>
          </a:p>
          <a:p>
            <a:pPr>
              <a:spcAft>
                <a:spcPts val="1000"/>
              </a:spcAft>
            </a:pPr>
            <a:r>
              <a:rPr sz="1700">
                <a:solidFill>
                  <a:srgbClr val="222B33"/>
                </a:solidFill>
                <a:latin typeface="Microsoft YaHei"/>
              </a:rPr>
              <a:t>▪ 告诉旁人，人员离开污染区域</a:t>
            </a:r>
          </a:p>
          <a:p>
            <a:pPr>
              <a:spcAft>
                <a:spcPts val="1000"/>
              </a:spcAft>
            </a:pPr>
            <a:r>
              <a:rPr sz="1700">
                <a:solidFill>
                  <a:srgbClr val="222B33"/>
                </a:solidFill>
                <a:latin typeface="Microsoft YaHei"/>
              </a:rPr>
              <a:t>▪ 拉警示带、设屏障，别让人踩、别带出去</a:t>
            </a:r>
          </a:p>
          <a:p>
            <a:pPr>
              <a:spcAft>
                <a:spcPts val="1000"/>
              </a:spcAft>
            </a:pPr>
            <a:r>
              <a:rPr sz="1700">
                <a:solidFill>
                  <a:srgbClr val="222B33"/>
                </a:solidFill>
                <a:latin typeface="Microsoft YaHei"/>
              </a:rPr>
              <a:t>▪ 穿戴齐全，戴剂量计，用屏蔽挡住</a:t>
            </a:r>
          </a:p>
          <a:p>
            <a:pPr>
              <a:spcAft>
                <a:spcPts val="1000"/>
              </a:spcAft>
            </a:pPr>
            <a:r>
              <a:rPr sz="1700">
                <a:solidFill>
                  <a:srgbClr val="222B33"/>
                </a:solidFill>
                <a:latin typeface="Microsoft YaHei"/>
              </a:rPr>
              <a:t>▪ 不能徒手擦，不能冲进下水道</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放射性药液或溶液洒落，哪怕只有一两滴，也按溢洒处理；在核医学科的给药、负荷试验等场所和实验室分装时最容易发生。第一步是隔离现场：立刻告诉旁人，人员离开污染区域，不随意走动，以免把污染带到别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拿纸巾随手一擦扔进普通垃圾桶</a:t>
            </a:r>
          </a:p>
          <a:p>
            <a:pPr>
              <a:spcAft>
                <a:spcPts val="1000"/>
              </a:spcAft>
            </a:pPr>
            <a:r>
              <a:rPr sz="1500">
                <a:solidFill>
                  <a:srgbClr val="222B33"/>
                </a:solidFill>
                <a:latin typeface="Microsoft YaHei"/>
              </a:rPr>
              <a:t>▪ 洒漏后照常走动，把污染踩到走廊</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控制住再去污，测过才解除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戴手套用吸水纸，从外向内吸附</a:t>
            </a:r>
          </a:p>
          <a:p>
            <a:pPr>
              <a:spcAft>
                <a:spcPts val="1000"/>
              </a:spcAft>
            </a:pPr>
            <a:r>
              <a:rPr sz="2000">
                <a:solidFill>
                  <a:srgbClr val="222B33"/>
                </a:solidFill>
                <a:latin typeface="Microsoft YaHei"/>
              </a:rPr>
              <a:t>▪ 用过的材料，放进放射性废物袋</a:t>
            </a:r>
          </a:p>
          <a:p>
            <a:pPr>
              <a:spcAft>
                <a:spcPts val="1000"/>
              </a:spcAft>
            </a:pPr>
            <a:r>
              <a:rPr sz="2000">
                <a:solidFill>
                  <a:srgbClr val="222B33"/>
                </a:solidFill>
                <a:latin typeface="Microsoft YaHei"/>
              </a:rPr>
              <a:t>▪ 再用合适的去污剂清洁，小心脱下污染防护</a:t>
            </a:r>
          </a:p>
          <a:p>
            <a:pPr>
              <a:spcAft>
                <a:spcPts val="1000"/>
              </a:spcAft>
            </a:pPr>
            <a:r>
              <a:rPr sz="2000">
                <a:solidFill>
                  <a:srgbClr val="222B33"/>
                </a:solidFill>
                <a:latin typeface="Microsoft YaHei"/>
              </a:rPr>
              <a:t>▪ 逐处检测，确认达标才解除隔离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控制住洒漏以后再去污：戴手套，用吸水纸覆盖溢洒处，从外向内吸附，防止扩大污染面积；用过的吸水纸、手套等放进放射性废物袋，标明核素和日期（见第 091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从中间向外擦，把污染越擦越大</a:t>
            </a:r>
          </a:p>
          <a:p>
            <a:pPr>
              <a:spcAft>
                <a:spcPts val="1000"/>
              </a:spcAft>
            </a:pPr>
            <a:r>
              <a:rPr sz="1500">
                <a:solidFill>
                  <a:srgbClr val="222B33"/>
                </a:solidFill>
                <a:latin typeface="Microsoft YaHei"/>
              </a:rPr>
              <a:t>▪ 擦完不测，凭肉眼判断“干净了”</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在场人员：冷静、不伸手、等放行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在场的人保持冷静，听技师或负责人指挥</a:t>
            </a:r>
          </a:p>
          <a:p>
            <a:pPr>
              <a:spcAft>
                <a:spcPts val="1000"/>
              </a:spcAft>
            </a:pPr>
            <a:r>
              <a:rPr sz="1700">
                <a:solidFill>
                  <a:srgbClr val="222B33"/>
                </a:solidFill>
                <a:latin typeface="Microsoft YaHei"/>
              </a:rPr>
              <a:t>▪ 再想帮忙，也别伸手</a:t>
            </a:r>
          </a:p>
          <a:p>
            <a:pPr>
              <a:spcAft>
                <a:spcPts val="1000"/>
              </a:spcAft>
            </a:pPr>
            <a:r>
              <a:rPr sz="1700">
                <a:solidFill>
                  <a:srgbClr val="222B33"/>
                </a:solidFill>
                <a:latin typeface="Microsoft YaHei"/>
              </a:rPr>
              <a:t>▪ 接触过的手，别摸门把手、电脑</a:t>
            </a:r>
          </a:p>
          <a:p>
            <a:pPr>
              <a:spcAft>
                <a:spcPts val="1000"/>
              </a:spcAft>
            </a:pPr>
            <a:r>
              <a:rPr sz="1700">
                <a:solidFill>
                  <a:srgbClr val="222B33"/>
                </a:solidFill>
                <a:latin typeface="Microsoft YaHei"/>
              </a:rPr>
              <a:t>▪ 逐个检测，没问题才放行</a:t>
            </a:r>
          </a:p>
          <a:p>
            <a:pPr>
              <a:spcAft>
                <a:spcPts val="1000"/>
              </a:spcAft>
            </a:pPr>
            <a:r>
              <a:rPr sz="1700">
                <a:solidFill>
                  <a:srgbClr val="222B33"/>
                </a:solidFill>
                <a:latin typeface="Microsoft YaHei"/>
              </a:rPr>
              <a:t>▪ 污染的房间先关闭，清干净再开放</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发生洒漏时，在场的人一般没有即时危险，先保持冷静，听核医学技师或实验室负责人的统一指挥，医生和研究人员也要听从。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出于好心直接上手帮忙擦</a:t>
            </a:r>
          </a:p>
          <a:p>
            <a:pPr>
              <a:spcAft>
                <a:spcPts val="1000"/>
              </a:spcAft>
            </a:pPr>
            <a:r>
              <a:rPr sz="1500">
                <a:solidFill>
                  <a:srgbClr val="222B33"/>
                </a:solidFill>
                <a:latin typeface="Microsoft YaHei"/>
              </a:rPr>
              <a:t>▪ 没检测就离开房间去洗手间、食堂</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人员沾污与疑似摄入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皮肤衣物沾污：先脱去，装袋</a:t>
            </a:r>
          </a:p>
          <a:p>
            <a:pPr>
              <a:spcAft>
                <a:spcPts val="1000"/>
              </a:spcAft>
            </a:pPr>
            <a:r>
              <a:rPr sz="1700">
                <a:solidFill>
                  <a:srgbClr val="222B33"/>
                </a:solidFill>
                <a:latin typeface="Microsoft YaHei"/>
              </a:rPr>
              <a:t>▪ 温水肥皂流水轻轻冲，不用力刷</a:t>
            </a:r>
          </a:p>
          <a:p>
            <a:pPr>
              <a:spcAft>
                <a:spcPts val="1000"/>
              </a:spcAft>
            </a:pPr>
            <a:r>
              <a:rPr sz="1700">
                <a:solidFill>
                  <a:srgbClr val="222B33"/>
                </a:solidFill>
                <a:latin typeface="Microsoft YaHei"/>
              </a:rPr>
              <a:t>▪ 冲洗后复测，并报告负责人</a:t>
            </a:r>
          </a:p>
          <a:p>
            <a:pPr>
              <a:spcAft>
                <a:spcPts val="1000"/>
              </a:spcAft>
            </a:pPr>
            <a:r>
              <a:rPr sz="1700">
                <a:solidFill>
                  <a:srgbClr val="222B33"/>
                </a:solidFill>
                <a:latin typeface="Microsoft YaHei"/>
              </a:rPr>
              <a:t>▪ 疑似摄入，停手报告，配合内照射监测</a:t>
            </a:r>
          </a:p>
          <a:p>
            <a:pPr>
              <a:spcAft>
                <a:spcPts val="1000"/>
              </a:spcAft>
            </a:pPr>
            <a:r>
              <a:rPr sz="1700">
                <a:solidFill>
                  <a:srgbClr val="222B33"/>
                </a:solidFill>
                <a:latin typeface="Microsoft YaHei"/>
              </a:rPr>
              <a:t>▪ 不要自己乱服药，听医生安排</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皮肤或衣物沾上放射性物质时，按“脱、冲、测、报”处理：先小心脱去污染的衣物和手套，装袋标记；用温水和肥皂在流水下轻轻冲洗沾污部位，从外向内，不用力刷，不用硬毛刷或有机溶剂，别把皮肤擦破，以免放射性进入体内；冲洗后用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用硬刷子使劲刷，把皮肤刷破</a:t>
            </a:r>
          </a:p>
          <a:p>
            <a:pPr>
              <a:spcAft>
                <a:spcPts val="1000"/>
              </a:spcAft>
            </a:pPr>
            <a:r>
              <a:rPr sz="1500">
                <a:solidFill>
                  <a:srgbClr val="222B33"/>
                </a:solidFill>
                <a:latin typeface="Microsoft YaHei"/>
              </a:rPr>
              <a:t>▪ 怀疑吸入了，怕麻烦不说</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写清事件经过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在场的每个人，都写下经过</a:t>
            </a:r>
          </a:p>
          <a:p>
            <a:pPr>
              <a:spcAft>
                <a:spcPts val="1000"/>
              </a:spcAft>
            </a:pPr>
            <a:r>
              <a:rPr sz="2000">
                <a:solidFill>
                  <a:srgbClr val="222B33"/>
                </a:solidFill>
                <a:latin typeface="Microsoft YaHei"/>
              </a:rPr>
              <a:t>▪ 写清设备参数、距离、时间和看到的情况</a:t>
            </a:r>
          </a:p>
          <a:p>
            <a:pPr>
              <a:spcAft>
                <a:spcPts val="1000"/>
              </a:spcAft>
            </a:pPr>
            <a:r>
              <a:rPr sz="2000">
                <a:solidFill>
                  <a:srgbClr val="222B33"/>
                </a:solidFill>
                <a:latin typeface="Microsoft YaHei"/>
              </a:rPr>
              <a:t>▪ 如实记录，配合调查</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事件处置后，在场的每个人都要尽快写下经过：自己在做什么、在什么位置、离源或设备多远、停留了多长时间，设备的运行参数（如电压、电流、出束时间），以及看到、听到的情况。这些信息是估算受照剂量和查找原因的依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事后凭记忆补写，时间、距离都记不清</a:t>
            </a:r>
          </a:p>
          <a:p>
            <a:pPr>
              <a:spcAft>
                <a:spcPts val="1000"/>
              </a:spcAft>
            </a:pPr>
            <a:r>
              <a:rPr sz="1500">
                <a:solidFill>
                  <a:srgbClr val="222B33"/>
                </a:solidFill>
                <a:latin typeface="Microsoft YaHei"/>
              </a:rPr>
              <a:t>▪ 为了减轻责任，把记录写得含糊</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事后调查与整改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事后调查：哪一环出了问题</a:t>
            </a:r>
          </a:p>
          <a:p>
            <a:pPr>
              <a:spcAft>
                <a:spcPts val="1000"/>
              </a:spcAft>
            </a:pPr>
            <a:r>
              <a:rPr sz="2000">
                <a:solidFill>
                  <a:srgbClr val="222B33"/>
                </a:solidFill>
                <a:latin typeface="Microsoft YaHei"/>
              </a:rPr>
              <a:t>▪ 找出流程中断的地方，修订规程</a:t>
            </a:r>
          </a:p>
          <a:p>
            <a:pPr>
              <a:spcAft>
                <a:spcPts val="1000"/>
              </a:spcAft>
            </a:pPr>
            <a:r>
              <a:rPr sz="2000">
                <a:solidFill>
                  <a:srgbClr val="222B33"/>
                </a:solidFill>
                <a:latin typeface="Microsoft YaHei"/>
              </a:rPr>
              <a:t>▪ 补上漏洞，落实整改</a:t>
            </a:r>
          </a:p>
          <a:p>
            <a:pPr>
              <a:spcAft>
                <a:spcPts val="1000"/>
              </a:spcAft>
            </a:pPr>
            <a:r>
              <a:rPr sz="2000">
                <a:solidFill>
                  <a:srgbClr val="222B33"/>
                </a:solidFill>
                <a:latin typeface="Microsoft YaHei"/>
              </a:rPr>
              <a:t>▪ 把教训讲给每个人，防止再发生</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事件处理完不等于结束。要调查清楚：源是怎么丢的、联锁为什么失效、洒漏是怎么发生的，找出流程里哪一环断了，是人的失误、设备故障还是管理漏洞（调查和根本原因分析见第 162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处理完就“翻篇”，不查原因</a:t>
            </a:r>
          </a:p>
          <a:p>
            <a:pPr>
              <a:spcAft>
                <a:spcPts val="1000"/>
              </a:spcAft>
            </a:pPr>
            <a:r>
              <a:rPr sz="1500">
                <a:solidFill>
                  <a:srgbClr val="222B33"/>
                </a:solidFill>
                <a:latin typeface="Microsoft YaHei"/>
              </a:rPr>
              <a:t>▪ 只追究个人，不改流程</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分装时放射性药液洒到台面上，在场同学的正确做法是：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拿纸巾马上擦干</a:t>
            </a:r>
          </a:p>
          <a:p>
            <a:pPr algn="l"/>
            <a:r>
              <a:rPr sz="1500" b="0">
                <a:solidFill>
                  <a:srgbClr val="222B33"/>
                </a:solidFill>
                <a:latin typeface="Microsoft YaHei"/>
              </a:rPr>
              <a:t>B. 用水冲进水槽</a:t>
            </a:r>
          </a:p>
          <a:p>
            <a:pPr algn="l"/>
            <a:r>
              <a:rPr sz="1500" b="0">
                <a:solidFill>
                  <a:srgbClr val="222B33"/>
                </a:solidFill>
                <a:latin typeface="Microsoft YaHei"/>
              </a:rPr>
              <a:t>C. 告诉旁人、离开污染区，拉警示带隔离并报告，由受过训练的人员处理</a:t>
            </a:r>
          </a:p>
          <a:p>
            <a:pPr algn="l"/>
            <a:r>
              <a:rPr sz="1500" b="0">
                <a:solidFill>
                  <a:srgbClr val="222B33"/>
                </a:solidFill>
                <a:latin typeface="Microsoft YaHei"/>
              </a:rPr>
              <a:t>D. 继续实验，结束后再处理</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判断：一个 V 类小密封源找不到了，属于课题组内部小事，不需要上报。</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在实验楼外发现一个带电离辐射标志的小金属罐，应当：</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捡起来交给保卫处</a:t>
            </a:r>
          </a:p>
          <a:p>
            <a:pPr algn="l"/>
            <a:r>
              <a:rPr sz="1500" b="0">
                <a:solidFill>
                  <a:srgbClr val="222B33"/>
                </a:solidFill>
                <a:latin typeface="Microsoft YaHei"/>
              </a:rPr>
              <a:t>B. 拍照发群里问是什么</a:t>
            </a:r>
          </a:p>
          <a:p>
            <a:pPr algn="l"/>
            <a:r>
              <a:rPr sz="1500" b="0">
                <a:solidFill>
                  <a:srgbClr val="222B33"/>
                </a:solidFill>
                <a:latin typeface="Microsoft YaHei"/>
              </a:rPr>
              <a:t>C. 不捡不碰，退远守住现场，立即报告</a:t>
            </a:r>
          </a:p>
          <a:p>
            <a:pPr algn="l"/>
            <a:r>
              <a:rPr sz="1500" b="0">
                <a:solidFill>
                  <a:srgbClr val="222B33"/>
                </a:solidFill>
                <a:latin typeface="Microsoft YaHei"/>
              </a:rPr>
              <a:t>D. 当废品卖掉</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皮肤沾上放射性溶液后，正确的处理顺序是：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用硬毛刷用力刷洗</a:t>
            </a:r>
          </a:p>
          <a:p>
            <a:pPr algn="l"/>
            <a:r>
              <a:rPr sz="1500" b="0">
                <a:solidFill>
                  <a:srgbClr val="222B33"/>
                </a:solidFill>
                <a:latin typeface="Microsoft YaHei"/>
              </a:rPr>
              <a:t>B. 脱去污染衣物，温水肥皂流水轻轻冲洗，复测并报告</a:t>
            </a:r>
          </a:p>
          <a:p>
            <a:pPr algn="l"/>
            <a:r>
              <a:rPr sz="1500" b="0">
                <a:solidFill>
                  <a:srgbClr val="222B33"/>
                </a:solidFill>
                <a:latin typeface="Microsoft YaHei"/>
              </a:rPr>
              <a:t>C. 用有机溶剂擦拭</a:t>
            </a:r>
          </a:p>
          <a:p>
            <a:pPr algn="l"/>
            <a:r>
              <a:rPr sz="1500" b="0">
                <a:solidFill>
                  <a:srgbClr val="222B33"/>
                </a:solidFill>
                <a:latin typeface="Microsoft YaHei"/>
              </a:rPr>
              <a:t>D. 等下班再洗</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096 · 辐射事故应急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096 辐射事故应急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判断：注射过放射性药物的人突然倒地，应等辐射检测结束后再抢救。</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简答：发现射线装置疑似造成超剂量照射，应怎样处置？</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少见但严重：按程序办，不走捷径</a:t>
            </a:r>
          </a:p>
          <a:p>
            <a:pPr>
              <a:spcAft>
                <a:spcPts val="800"/>
              </a:spcAft>
            </a:pPr>
            <a:r>
              <a:rPr sz="1500">
                <a:solidFill>
                  <a:srgbClr val="FFFFFF"/>
                </a:solidFill>
                <a:latin typeface="Microsoft YaHei"/>
              </a:rPr>
              <a:t>▪ K2  应急预案、物资与演练</a:t>
            </a:r>
          </a:p>
          <a:p>
            <a:pPr>
              <a:spcAft>
                <a:spcPts val="800"/>
              </a:spcAft>
            </a:pPr>
            <a:r>
              <a:rPr sz="1500">
                <a:solidFill>
                  <a:srgbClr val="FFFFFF"/>
                </a:solidFill>
                <a:latin typeface="Microsoft YaHei"/>
              </a:rPr>
              <a:t>▪ S1  辐射事故的分级</a:t>
            </a:r>
          </a:p>
          <a:p>
            <a:pPr>
              <a:spcAft>
                <a:spcPts val="800"/>
              </a:spcAft>
            </a:pPr>
            <a:r>
              <a:rPr sz="1500">
                <a:solidFill>
                  <a:srgbClr val="FFFFFF"/>
                </a:solidFill>
                <a:latin typeface="Microsoft YaHei"/>
              </a:rPr>
              <a:t>▪ K3  发现异常先做四件事</a:t>
            </a:r>
          </a:p>
          <a:p>
            <a:pPr>
              <a:spcAft>
                <a:spcPts val="800"/>
              </a:spcAft>
            </a:pPr>
            <a:r>
              <a:rPr sz="1500">
                <a:solidFill>
                  <a:srgbClr val="FFFFFF"/>
                </a:solidFill>
                <a:latin typeface="Microsoft YaHei"/>
              </a:rPr>
              <a:t>▪ K4  报告：逐级上报，不瞒报</a:t>
            </a:r>
          </a:p>
          <a:p>
            <a:pPr>
              <a:spcAft>
                <a:spcPts val="800"/>
              </a:spcAft>
            </a:pPr>
            <a:r>
              <a:rPr sz="1500">
                <a:solidFill>
                  <a:srgbClr val="FFFFFF"/>
                </a:solidFill>
                <a:latin typeface="Microsoft YaHei"/>
              </a:rPr>
              <a:t>▪ K5  放射源丢失被盗：立即报告</a:t>
            </a:r>
          </a:p>
          <a:p>
            <a:pPr>
              <a:spcAft>
                <a:spcPts val="800"/>
              </a:spcAft>
            </a:pPr>
            <a:r>
              <a:rPr sz="1500">
                <a:solidFill>
                  <a:srgbClr val="FFFFFF"/>
                </a:solidFill>
                <a:latin typeface="Microsoft YaHei"/>
              </a:rPr>
              <a:t>▪ K6  遗失源的处置顺序</a:t>
            </a:r>
          </a:p>
          <a:p>
            <a:pPr>
              <a:spcAft>
                <a:spcPts val="800"/>
              </a:spcAft>
            </a:pPr>
            <a:r>
              <a:rPr sz="1500">
                <a:solidFill>
                  <a:srgbClr val="FFFFFF"/>
                </a:solidFill>
                <a:latin typeface="Microsoft YaHei"/>
              </a:rPr>
              <a:t>▪ K7  卡源或源破损：撤离、隔离、报告</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不明金属物：不捡不碰</a:t>
            </a:r>
          </a:p>
          <a:p>
            <a:pPr>
              <a:spcAft>
                <a:spcPts val="800"/>
              </a:spcAft>
            </a:pPr>
            <a:r>
              <a:rPr sz="1500">
                <a:solidFill>
                  <a:srgbClr val="FFFFFF"/>
                </a:solidFill>
                <a:latin typeface="Microsoft YaHei"/>
              </a:rPr>
              <a:t>▪ K9  疑似超剂量照射</a:t>
            </a:r>
          </a:p>
          <a:p>
            <a:pPr>
              <a:spcAft>
                <a:spcPts val="800"/>
              </a:spcAft>
            </a:pPr>
            <a:r>
              <a:rPr sz="1500">
                <a:solidFill>
                  <a:srgbClr val="FFFFFF"/>
                </a:solidFill>
                <a:latin typeface="Microsoft YaHei"/>
              </a:rPr>
              <a:t>▪ K10  洒漏：一滴也算，先隔离</a:t>
            </a:r>
          </a:p>
          <a:p>
            <a:pPr>
              <a:spcAft>
                <a:spcPts val="800"/>
              </a:spcAft>
            </a:pPr>
            <a:r>
              <a:rPr sz="1500">
                <a:solidFill>
                  <a:srgbClr val="FFFFFF"/>
                </a:solidFill>
                <a:latin typeface="Microsoft YaHei"/>
              </a:rPr>
              <a:t>▪ K11  控制住再去污，测过才解除</a:t>
            </a:r>
          </a:p>
          <a:p>
            <a:pPr>
              <a:spcAft>
                <a:spcPts val="800"/>
              </a:spcAft>
            </a:pPr>
            <a:r>
              <a:rPr sz="1500">
                <a:solidFill>
                  <a:srgbClr val="FFFFFF"/>
                </a:solidFill>
                <a:latin typeface="Microsoft YaHei"/>
              </a:rPr>
              <a:t>▪ K12  在场人员：冷静、不伸手、等放行</a:t>
            </a:r>
          </a:p>
          <a:p>
            <a:pPr>
              <a:spcAft>
                <a:spcPts val="800"/>
              </a:spcAft>
            </a:pPr>
            <a:r>
              <a:rPr sz="1500">
                <a:solidFill>
                  <a:srgbClr val="FFFFFF"/>
                </a:solidFill>
                <a:latin typeface="Microsoft YaHei"/>
              </a:rPr>
              <a:t>▪ K13  人员沾污与疑似摄入</a:t>
            </a:r>
          </a:p>
          <a:p>
            <a:pPr>
              <a:spcAft>
                <a:spcPts val="800"/>
              </a:spcAft>
            </a:pPr>
            <a:r>
              <a:rPr sz="1500">
                <a:solidFill>
                  <a:srgbClr val="FFFFFF"/>
                </a:solidFill>
                <a:latin typeface="Microsoft YaHei"/>
              </a:rPr>
              <a:t>▪ K14  写清事件经过</a:t>
            </a:r>
          </a:p>
          <a:p>
            <a:pPr>
              <a:spcAft>
                <a:spcPts val="800"/>
              </a:spcAft>
            </a:pPr>
            <a:r>
              <a:rPr sz="1500">
                <a:solidFill>
                  <a:srgbClr val="FFFFFF"/>
                </a:solidFill>
                <a:latin typeface="Microsoft YaHei"/>
              </a:rPr>
              <a:t>▪ K15  事后调查与整改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