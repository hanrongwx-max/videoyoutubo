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notesMaster" Target="notesMasters/notesMaster1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医生想看到身体里面发生了什么，最常用的办法是影像。X射线从体外射入身体，光子在穿过组织时按比例被吸收和散射，组织越厚、越致密，透过来的越少（衰减规律见第 090 课）。肌肉、血液、骨骼拦截射线的本领不同，透过来的多少不同，就在探测器或胶片上形成黑白影像：骨骼吸收多显白，软组织显暗。假如全身完全均匀，影像就是一片均匀，正是这种差别让我们看出结构。</a:t>
            </a:r>
          </a:p>
          <a:p>
            <a:r>
              <a:t>X射线成像是外部成像技术：射线从外面进入、从另一侧穿出。它擅长显示结构，但一些软组织病变和器官功能改变不容易看清；开刀直接察看属于侵入式方法，代价是身体受创。于是有了另一种思路：核医学。</a:t>
            </a:r>
          </a:p>
          <a:p>
            <a:r>
              <a:t>放射科的 X线设备属于射线装置，关机就不再产生射线（射线装置管理见第 094 课）。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如果把γ源放在体外照射，因为放射性强只能用很少的量，点状源发出的射线不平行，照得不均匀，效果并不比 X射线好。核医学换了思路：把放射性核素和某种物质结合，送进身体，让“光源”在体内发出γ光子，体外的探测器接收，再拼成图像。</a:t>
            </a:r>
          </a:p>
          <a:p>
            <a:r>
              <a:t>药物多数经静脉注射（少数经口服或吸入），随血液循环到全身。有些病变细胞特别容易摄取某种物质，一段时间后，那里聚集的放射性越来越多，探测器接收到的γ光子就特别多，医生据此判断病灶的位置。核医学更擅长显示器官的功能和代谢状态，即器官“干活”的情况。</a:t>
            </a:r>
          </a:p>
          <a:p>
            <a:r>
              <a:t>显像用的相机只接收体内发出的光子，本身不产生辐射；需要防护的是注射了放射性药物的人（见 K14）。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X射线方向一致，而体内的γ光子向四面八方发射，一个探头只能接收很少一部分。比较理想的布局是在身体外围布置一圈探测器，环可以沿身体移动，对准要看的部位；医院里，病人躺在检查床上随床移进圆筒，筒内就是一圈圈探测器。也有会转动的探头，从多个角度采集。计算机把各个角度接收到的信号重建成图像，找到病灶位置。</a:t>
            </a:r>
          </a:p>
          <a:p>
            <a:r>
              <a:t>放射性药物一边衰变一边排出，“光源”只在一段时间内够亮，所以要按规定的时间抓紧采集图像；采集完后，体内放射性逐渐减少。光源、载体、探测器，就是核医学显像的基本思路。</a:t>
            </a:r>
          </a:p>
          <a:p>
            <a:r>
              <a:t>探测器的能谱和计数原理见第 092 课。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放射性药物是用放射性核素标记的化合物或制剂。它由两部分组成：一部分是放射性核素，负责发出可被探测的射线；另一部分是载体（无机盐或有机化合物），利用它在体内的代谢特点，把核素送到目标器官并停留一段时间，就像快递员送货。看肝脏、骨骼、甲状腺等不同器官，就选不同的载体和给药途径。</a:t>
            </a:r>
          </a:p>
          <a:p>
            <a:r>
              <a:t>核素要能在常温下方便、牢固地标记到载体上；标记后药物的代谢行为不能改变。可以把药物比作火箭、核素比作卫星：卫星太重，火箭就飞不到目的地。</a:t>
            </a:r>
          </a:p>
          <a:p>
            <a:r>
              <a:t>患者已经不舒服，还要用放射性药物，是因为剂量经过权衡，诊断获益大于风险（见 K8）。放射性药物既是药品，又是放射性物质，按《放射性药品管理办法》和辐射安全的有关规定（以现行文本为准）专门管理，使用单位要取得相应许可。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诊断用核素的物理半衰期要短，检查结束后放射性能较快减少（半衰期见第 086 课）。但“短”也不是越短越好：理想的半衰期一般在几小时量级，与药物制备、运输和检查所需的时间相当；太长，检查后放射性在体内留得久，受照多；太短，还没用上就衰变掉了，只好多准备很多活度。检查后放射性会减少，但不是几分钟就完全没有了。</a:t>
            </a:r>
          </a:p>
          <a:p>
            <a:r>
              <a:t>病人一般只做一次检查，工作人员却天天接触放射性药物，日积月累，不注意防护剂量就会累积，所以工作人员的时间、距离、屏蔽防护同样重要（见第 090 课）。</a:t>
            </a:r>
          </a:p>
          <a:p>
            <a:r>
              <a:t>衰变后生成的子体最好是稳定核素，至少也是寿命极长、几乎不再发出射线的核素，以免增加额外的照射。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成像只需要能穿出身体、被体外探测器接收的γ光子。α粒子、β粒子和能量很低的光子在体内跑不远，对成像没有帮助，只增加病人的受照剂量，所以诊断用核素优先选择主要发射γ光子、少有粒子辐射的衰变方式（如同质异能跃迁、电子俘获）。</a:t>
            </a:r>
          </a:p>
          <a:p>
            <a:r>
              <a:t>γ光子的能量要适中：太低穿不出身体，太高又不容易被准直器挡住和被探测器吸收。最好发射单一能量的γ光子：在体内散射后的光子能量会降低，探测时可以按能量窗把它们筛掉，提高图像质量（能谱的全能峰、康普顿平台等见第 092 课）。</a:t>
            </a:r>
          </a:p>
          <a:p>
            <a:r>
              <a:t>治疗用核素正好相反，要利用β等粒子在局部沉积能量（见 K7）。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理想的放射性药物要快速、大量地聚到要检查的组织，有效半衰期与检查所需时间相当（有效半衰期见第 086 课）；毒性低，不引起过敏等不良反应；在体外和体内都稳定、不易分解；还要容易获得、价格合理。</a:t>
            </a:r>
          </a:p>
          <a:p>
            <a:r>
              <a:t>核素进入体内后，一边自己衰变，一边经尿液、粪便等排出。如果长期留在体内，就会成为额外的内照射，就像药物的副作用，而且更要不得；检查后的注意事项要听医生的（见 K15）。</a:t>
            </a:r>
          </a:p>
          <a:p>
            <a:r>
              <a:t>估算内照射剂量要先看核素聚在哪里。碘进入体内会大量聚集到甲状腺，甲状腺很小，吸收的能量高度集中，单位质量的剂量要高出很多倍（内照射剂量见第 087 课）。这正是放射性碘治疗甲状腺疾病的原理；也提醒操作放射性碘的人员，必须防止吸入和食入（见 K12）。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医疗照射和科研用核素同样要遵循正当性和最优化原则（见第 089 课）：只有获益大于风险时才使用；能用非放射性方法解决的，就不用核素。</a:t>
            </a:r>
          </a:p>
          <a:p>
            <a:r>
              <a:t>满足诊断或实验需要时，优先选择短寿命核素；活度够用就好，不盲目加量；儿童和小体重者按现行规范减少用量。成像时平衡图像质量和剂量，图像能满足诊断时，通过调整采集参数降低受检者剂量（以《放射诊疗管理规定》等现行规定为准）。</a:t>
            </a:r>
          </a:p>
          <a:p>
            <a:r>
              <a:t>科研课题新选用核素或增加用量，要事先经学校辐射安全管理部门审核，并在许可范围内开展（见第 093 课）。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HJ 1188-2021《核医学辐射防护与安全要求》和 GBZ 120（以现行文本为准）对核医学工作场所的选址布局、分区、屏蔽、通风和放射性废物管理作了规定。场所按风险划分控制区和监督区（见第 089 课），控制区入口设电离辐射警告标志，无关人员不得进入。</a:t>
            </a:r>
          </a:p>
          <a:p>
            <a:r>
              <a:t>布局上，工作人员和患者走各自的通道；放射性药物从储存、分装、给药到废物收集按单向路线流动，不走回头路，避免交叉污染。分装柜保持负压，排风按标准过滤排放；放射性废液进入衰变池，固体废物衰变暂存后解控或送贮（废物管理见第 091 课）。具体分区和设施要求以现行标准和学校规定为准。</a:t>
            </a:r>
          </a:p>
          <a:p>
            <a:r>
              <a:t>离开控制区前，用表面污染仪检查手、鞋和衣物，发现污染先去污、复测（见第 091 课）。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放射性药物和放射性示踪剂只能由学校（或医院）按规定从有资质的单位统一采购，课题组和个人不得私自购买、转让（见第 093 课）。短寿命核素常常一路赶时间，要由有资质的单位按 GB 11806-2019（以现行文本为准）等规定运输。</a:t>
            </a:r>
          </a:p>
          <a:p>
            <a:r>
              <a:t>到货后当面交接：核对核素、活度、数量、批号与订货单和随货单据是否一致；检查包装是否完好，用表面污染仪和剂量率仪测量包装外表面有无破损和污染，发现异常不拆封，隔离并报告。验收合格后放入专用储存柜（铅罐、加锁），专人管理，登记入账；领用、使用、剩余和废弃都要登记签字，账物一一对应。</a:t>
            </a:r>
          </a:p>
          <a:p>
            <a:r>
              <a:t>校内转运用屏蔽容器，走规定路线（见第 094 课），不得手拎带进教室、宿舍和食堂。再赶时间，也不能跳过核对。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有些短寿命核素在使用地不容易直接获得，就用核素发生器供应：发生器里装着寿命较长的母体核素，母体衰变不断生成短寿命的子体，用淋洗液把子体“挤”出来使用，这样一点点体积就有足够的活度（比活度高）。</a:t>
            </a:r>
          </a:p>
          <a:p>
            <a:r>
              <a:t>发生器到货时检查外壳和屏蔽完好，测量表面，登记入账。按规程在屏蔽区（分装柜、铅屏后）淋洗，每次淋洗出的药液都要测活度、贴标签（核素、活度、时间），记录在案。</a:t>
            </a:r>
          </a:p>
          <a:p>
            <a:r>
              <a:t>不得自行拆解发生器或取出内部柱子。用完的发生器仍含母体放射性，按与供应单位的约定退回，不得当普通垃圾丢弃。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分装放射性药物要在专用的分装柜（通风橱）里进行，前方有铅玻璃屏蔽。药瓶放在铅罐里，注射器套上屏蔽套；台面上放托盘、铺吸水纸，用长柄镊子或钳子夹取药瓶，不徒手拿药瓶，严禁用嘴吸移液（非密封源操作通则见第 091 课）。</a:t>
            </a:r>
          </a:p>
          <a:p>
            <a:r>
              <a:t>挥发性的放射性碘等，必须在通风柜内操作，防止吸入（见 K7）。工作区内不吃不喝、不化妆、不存放食物。</a:t>
            </a:r>
          </a:p>
          <a:p>
            <a:r>
              <a:t>操作完成后，先用表面污染仪测台面、工具和手套，再按顺序脱手套、洗手，最后测手；发现污染按污染处置程序处理，洒漏时按第 096 课处置。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放射性药物使用前要按规定做质量控制；每一份药都要用活度计实测活度，并按衰变校正到给药时间，与处方（或实验方案）一致。注射器和药瓶的标签写清核素、活度、测量时间和给药对象。</a:t>
            </a:r>
          </a:p>
          <a:p>
            <a:r>
              <a:t>给药前两人核对：是不是这位患者（或这只实验动物、这个样品），是不是这种药，活度对不对；核对后签字记录。外形一样的注射器和容器最容易拿错，要分开放置、标识清楚。</a:t>
            </a:r>
          </a:p>
          <a:p>
            <a:r>
              <a:t>给错药、给错量或给错对象，立即报告实验室负责人（科室负责人）和辐射安全管理人员，按规定处理和上报，不得隐瞒（见第 096 课）。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医院里的辐射源分布在多个科室：放射科的 X线设备关机就没有射线；放疗科有加速器和近距离治疗设备；血库可能有含源血液辐照仪；核医学科把放射性药物注入病人体内，这时病人本身就成了辐射源（非密封源）。</a:t>
            </a:r>
          </a:p>
          <a:p>
            <a:r>
              <a:t>注射后的病人会去候诊区、病房、检验科、卫生间等很多地方，经常和他们打交道的护理、检验、运送、保洁人员，都要接受相应的辐射安全告知，懂一点辐射防护。高校实验室里，注射了放射性药物的实验动物、它们的排泄物、垫料和尸体同样是辐射源，笼具要有标志，按规程饲养和处置（见第 091 课）。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注射后的受检者要在专用候诊区等候，不随意走动；使用专用卫生间，便后多冲水；检查后多喝水、勤排尿，加快排出。核医学科要书面告知注意事项。工作人员与注射后的病人也要保持距离、减少停留。</a:t>
            </a:r>
          </a:p>
          <a:p>
            <a:r>
              <a:t>检查后的注意时间取决于所用核素的有效半衰期，不同核素差别很大，具体以医生的书面告知为准；核素治疗后能否出院，要经测量评估，按现行标准和医院规定执行。短期内尽量少和孕妇、儿童近距离接触，时长遵医嘱。</a:t>
            </a:r>
          </a:p>
          <a:p>
            <a:r>
              <a:t>怀孕或哺乳的女性，检查前务必先告诉医生。陪护人员也会受到少量照射：陪护应当自愿、知情，人数尽量少；孕妇和儿童不宜陪护，就诊时不要带小孩到候诊区。排泄物和沾染的废物按规定专门处理。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注射过放射性药物的病人也可能需要急救，救人优先，不要因为辐射而犹豫。病人的血液、尿液等含有少量放射性，但量很小，按常规标准预防穿戴手套、隔离衣等就够了；相比之下，血源性病原体更需要防范（临床样本的标准预防见第 079 课，血液暴露处置见第 078 课）。病人离院后再来急诊，医院可能并不知道他做过检查，所以平时就要坚持标准防护。</a:t>
            </a:r>
          </a:p>
          <a:p>
            <a:r>
              <a:t>需要抽血化验的，最好在检查前完成；检查后抽血，按核医学科安排的时间。门诊病人的留置针一般由核医学技师处理，冲管后放射性主要在血液中，拔针和处理针头按规定进行。</a:t>
            </a:r>
          </a:p>
          <a:p>
            <a:r>
              <a:t>病人担心辐射时可以这样解释：核医学检查很常用，受照量与一些常见检查相当，药物会衰变和排出，体内逐渐减少，具体注意事项听核医学科的医嘱。沾染了放射性的敷料、尿垫等，按规定放入专用标志容器，不混入普通医疗废物（见第 091 课）。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 1 题 答案：B。解析：X射线是外部成像；核医学是体内“光源”、体外探测，显像相机本身不产生辐射。</a:t>
            </a:r>
          </a:p>
          <a:p>
            <a:r>
              <a:t>第 2 题 答案：B。解析：半衰期太长，放射性在体内留得久；理想的半衰期与制备、运输和检查所需时间相当。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 3 题 答案：B。解析：再赶时间也不能跳过核对；包装异常时不拆封，隔离并报告。</a:t>
            </a:r>
          </a:p>
          <a:p>
            <a:r>
              <a:t>第 4 题 答案：C。解析：给错药、给错量立即报告，不得隐瞒。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 5 题 答案：B。解析：救人优先，按常规标准预防穿戴防护即可；血液尿液的放射性很小，病原体更需防范。</a:t>
            </a:r>
          </a:p>
          <a:p>
            <a:r>
              <a:t>第 6 题 答案：减少工作人员和公众受照，避免放射性污染交叉扩散。依据 HJ 1188-2021 和 GBZ 120（以现行文本为准），场所分控制区和监督区，药物从储存、分装、给药到废物收集单向流动，不走回头路。解析：离开控制区前要测手、鞋和衣物。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3C5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48640" y="1280160"/>
            <a:ext cx="1005840" cy="100584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280160"/>
            <a:ext cx="1005840" cy="10058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Microsoft YaHei"/>
              </a:rPr>
              <a:t>095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651760"/>
            <a:ext cx="11094415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Microsoft YaHei"/>
              </a:rPr>
              <a:t>核医学与放射性药物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840480"/>
            <a:ext cx="1109441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0">
                <a:solidFill>
                  <a:srgbClr val="CADCE6"/>
                </a:solidFill>
                <a:latin typeface="Microsoft YaHei"/>
              </a:rPr>
              <a:t>第7章 辐射安全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389120"/>
            <a:ext cx="1109441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CADCE6"/>
                </a:solidFill>
                <a:latin typeface="Microsoft YaHei"/>
              </a:rPr>
              <a:t>课时：约 7 分钟（卡通视频 84 镜）　适用对象：医学、药学、生命科学、核技术等专业在核医学科实习或使用放射性药物、放射性示踪剂和小动物核素显像的本科生、研究生和教职工，以及可能接触注射后病人或实验动物的护理、检验、保洁和动物饲养人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12648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F28C28"/>
                </a:solidFill>
                <a:latin typeface="Microsoft YaHei"/>
              </a:rPr>
              <a:t>《高校实验室安全》学习课件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095 · 核医学与放射性药物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学习目标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095 核医学与放射性药物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828800"/>
            <a:ext cx="2499283" cy="39319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68680" y="2148840"/>
            <a:ext cx="685800" cy="685800"/>
          </a:xfrm>
          <a:prstGeom prst="ellipse">
            <a:avLst/>
          </a:prstGeom>
          <a:solidFill>
            <a:srgbClr val="1D7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Microsoft YaHe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3108960"/>
            <a:ext cx="1859203" cy="2468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>
                <a:solidFill>
                  <a:srgbClr val="222B33"/>
                </a:solidFill>
                <a:latin typeface="Microsoft YaHei"/>
              </a:rPr>
              <a:t>能说出 X射线影像与核医学显像的区别，知道放射性药物由核素和载体组成，理解诊断核素为什么要半衰期短、发射能量适中的γ光子、聚得准排得快。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13683" y="1828800"/>
            <a:ext cx="2499283" cy="39319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3733723" y="2148840"/>
            <a:ext cx="685800" cy="685800"/>
          </a:xfrm>
          <a:prstGeom prst="ellipse">
            <a:avLst/>
          </a:prstGeom>
          <a:solidFill>
            <a:srgbClr val="1D7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Microsoft YaHei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33723" y="3108960"/>
            <a:ext cx="1859203" cy="2468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>
                <a:solidFill>
                  <a:srgbClr val="222B33"/>
                </a:solidFill>
                <a:latin typeface="Microsoft YaHei"/>
              </a:rPr>
              <a:t>能做到放射性药物从有资质单位购买，到货当面交接、核对、测包装、入柜入账；发生器按规程使用和退回。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78727" y="1828800"/>
            <a:ext cx="2499283" cy="39319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598767" y="2148840"/>
            <a:ext cx="685800" cy="685800"/>
          </a:xfrm>
          <a:prstGeom prst="ellipse">
            <a:avLst/>
          </a:prstGeom>
          <a:solidFill>
            <a:srgbClr val="1D7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Microsoft YaHei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98767" y="3108960"/>
            <a:ext cx="1859203" cy="2468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>
                <a:solidFill>
                  <a:srgbClr val="222B33"/>
                </a:solidFill>
                <a:latin typeface="Microsoft YaHei"/>
              </a:rPr>
              <a:t>能做到在专用分装柜内屏蔽分装，给药前用活度计实测并双人核对人、药、量，出错立即报告。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43771" y="1828800"/>
            <a:ext cx="2499283" cy="39319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9463811" y="2148840"/>
            <a:ext cx="685800" cy="685800"/>
          </a:xfrm>
          <a:prstGeom prst="ellipse">
            <a:avLst/>
          </a:prstGeom>
          <a:solidFill>
            <a:srgbClr val="1D7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Microsoft YaHei"/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463811" y="3108960"/>
            <a:ext cx="1859203" cy="2468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>
                <a:solidFill>
                  <a:srgbClr val="222B33"/>
                </a:solidFill>
                <a:latin typeface="Microsoft YaHei"/>
              </a:rPr>
              <a:t>能判断注射后的病人和实验动物也是辐射源，知道核医学场所分区和单向流动的要求，以及接触注射后病人时的防护和告知要点。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095 · 核医学与放射性药物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法规与标准依据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095 核医学与放射性药物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737360"/>
            <a:ext cx="5364327" cy="960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731520" y="1988820"/>
            <a:ext cx="457200" cy="457200"/>
          </a:xfrm>
          <a:prstGeom prst="ellipse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§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828800"/>
            <a:ext cx="4358487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>
                <a:solidFill>
                  <a:srgbClr val="222B33"/>
                </a:solidFill>
                <a:latin typeface="Microsoft YaHei"/>
              </a:rPr>
              <a:t>《放射性同位素与射线装置安全和防护条例》（以现行文本为准）：非密封放射性物质工作场所的许可、台账和安全防护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78727" y="1737360"/>
            <a:ext cx="5364327" cy="960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461607" y="1988820"/>
            <a:ext cx="457200" cy="457200"/>
          </a:xfrm>
          <a:prstGeom prst="ellipse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§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01687" y="1828800"/>
            <a:ext cx="4358487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>
                <a:solidFill>
                  <a:srgbClr val="222B33"/>
                </a:solidFill>
                <a:latin typeface="Microsoft YaHei"/>
              </a:rPr>
              <a:t>《放射性药品管理办法》（以现行文本为准）：放射性药品的生产经营、采购和使用许可管理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2834640"/>
            <a:ext cx="5364327" cy="960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31520" y="3086100"/>
            <a:ext cx="457200" cy="457200"/>
          </a:xfrm>
          <a:prstGeom prst="ellipse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§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2926080"/>
            <a:ext cx="4358487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>
                <a:solidFill>
                  <a:srgbClr val="222B33"/>
                </a:solidFill>
                <a:latin typeface="Microsoft YaHei"/>
              </a:rPr>
              <a:t>《放射诊疗管理规定》（以现行文本为准）：放射诊疗的正当性和最优化、受检者与陪护者防护、告知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78727" y="2834640"/>
            <a:ext cx="5364327" cy="960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461607" y="3086100"/>
            <a:ext cx="457200" cy="457200"/>
          </a:xfrm>
          <a:prstGeom prst="ellipse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§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01687" y="2926080"/>
            <a:ext cx="4358487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>
                <a:solidFill>
                  <a:srgbClr val="222B33"/>
                </a:solidFill>
                <a:latin typeface="Microsoft YaHei"/>
              </a:rPr>
              <a:t>HJ 1188-2021《核医学辐射防护与安全要求》（生态环境部 2021-09-06 发布、2021-11-01 实施）：核医学工作场所的选址布局、分区、屏蔽、通风和放射性废物管理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3931920"/>
            <a:ext cx="5364327" cy="960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731520" y="4183380"/>
            <a:ext cx="457200" cy="457200"/>
          </a:xfrm>
          <a:prstGeom prst="ellipse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§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023360"/>
            <a:ext cx="4358487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>
                <a:solidFill>
                  <a:srgbClr val="222B33"/>
                </a:solidFill>
                <a:latin typeface="Microsoft YaHei"/>
              </a:rPr>
              <a:t>GBZ 120（以现行文本为准）《核医学放射防护要求》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78727" y="3931920"/>
            <a:ext cx="5364327" cy="960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61607" y="4183380"/>
            <a:ext cx="457200" cy="457200"/>
          </a:xfrm>
          <a:prstGeom prst="ellipse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§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01687" y="4023360"/>
            <a:ext cx="4358487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>
                <a:solidFill>
                  <a:srgbClr val="222B33"/>
                </a:solidFill>
                <a:latin typeface="Microsoft YaHei"/>
              </a:rPr>
              <a:t>GB 18871-2002（以现行文本为准）《电离辐射防护与辐射源安全基本标准》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5029200"/>
            <a:ext cx="5364327" cy="960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731520" y="5280660"/>
            <a:ext cx="457200" cy="457200"/>
          </a:xfrm>
          <a:prstGeom prst="ellipse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§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71600" y="5120640"/>
            <a:ext cx="4358487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>
                <a:solidFill>
                  <a:srgbClr val="222B33"/>
                </a:solidFill>
                <a:latin typeface="Microsoft YaHei"/>
              </a:rPr>
              <a:t>GB 11806-2019（以现行文本为准）《放射性物品安全运输规程》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278727" y="5029200"/>
            <a:ext cx="5364327" cy="960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461607" y="5280660"/>
            <a:ext cx="457200" cy="457200"/>
          </a:xfrm>
          <a:prstGeom prst="ellipse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§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101687" y="5120640"/>
            <a:ext cx="4358487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>
                <a:solidFill>
                  <a:srgbClr val="222B33"/>
                </a:solidFill>
                <a:latin typeface="Microsoft YaHei"/>
              </a:rPr>
              <a:t>本校及附属医院核医学科的辐射安全管理制度和操作规程（以本校规定为准）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095 · 核医学与放射性药物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X射线影像：组织拦得不一样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095 核医学与放射性药物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2834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700">
                <a:solidFill>
                  <a:srgbClr val="222B33"/>
                </a:solidFill>
                <a:latin typeface="Microsoft YaHei"/>
              </a:rPr>
              <a:t>▪ X射线穿过物质，一层层被拦下一部分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222B33"/>
                </a:solidFill>
                <a:latin typeface="Microsoft YaHei"/>
              </a:rPr>
              <a:t>▪ 骨头拦得多显白，软组织显暗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222B33"/>
                </a:solidFill>
                <a:latin typeface="Microsoft YaHei"/>
              </a:rPr>
              <a:t>▪ 没有差别，就没有图像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222B33"/>
                </a:solidFill>
                <a:latin typeface="Microsoft YaHei"/>
              </a:rPr>
              <a:t>▪ X射线是从体外照的外部成像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222B33"/>
                </a:solidFill>
                <a:latin typeface="Microsoft YaHei"/>
              </a:rPr>
              <a:t>▪ 软组织有时看不清，开刀察看又伤身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5349240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715000"/>
            <a:ext cx="5925129" cy="45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医生想看到身体里面发生了什么，最常用的办法是影像。X射线从体外射入身体，光子在穿过组织时按比例被吸收和散射，组织越厚、越致密，透过来的越少（衰减规律见第 090 课）。肌肉、血液、骨骼拦截射线的本领不同，透过来的多少……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以为 X射线检查后人体会带有放射性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以为影像越清楚越好，不考虑受照剂量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095 · 核医学与放射性药物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核医学：把“光源”放进身体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095 核医学与放射性药物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2834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700">
                <a:solidFill>
                  <a:srgbClr val="222B33"/>
                </a:solidFill>
                <a:latin typeface="Microsoft YaHei"/>
              </a:rPr>
              <a:t>▪ 核医学：把“光源”放进身体，从里往外看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222B33"/>
                </a:solidFill>
                <a:latin typeface="Microsoft YaHei"/>
              </a:rPr>
              <a:t>▪ γ源放在体外照，效果和拍片差不多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222B33"/>
                </a:solidFill>
                <a:latin typeface="Microsoft YaHei"/>
              </a:rPr>
              <a:t>▪ 药物多经静脉注射，随血液循环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222B33"/>
                </a:solidFill>
                <a:latin typeface="Microsoft YaHei"/>
              </a:rPr>
              <a:t>▪ 病灶吸收多，那里发光就多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222B33"/>
                </a:solidFill>
                <a:latin typeface="Microsoft YaHei"/>
              </a:rPr>
              <a:t>▪ 显像相机只接收，自己不放射线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5349240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715000"/>
            <a:ext cx="5925129" cy="45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如果把γ源放在体外照射，因为放射性强只能用很少的量，点状源发出的射线不平行，照得不均匀，效果并不比 X射线好。核医学换了思路：把放射性核素和某种物质结合，送进身体，让“光源”在体内发出γ光子，体外的探测器接收，再拼成……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以为核医学的显像设备会发出射线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以为核医学检查和 X光片是同一回事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095 · 核医学与放射性药物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探测器：一圈圈接收γ光子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095 核医学与放射性药物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2834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700">
                <a:solidFill>
                  <a:srgbClr val="222B33"/>
                </a:solidFill>
                <a:latin typeface="Microsoft YaHei"/>
              </a:rPr>
              <a:t>▪ γ光子向四周飞，一个探头接不全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222B33"/>
                </a:solidFill>
                <a:latin typeface="Microsoft YaHei"/>
              </a:rPr>
              <a:t>▪ 身体外围一圈探测器，就能接住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222B33"/>
                </a:solidFill>
                <a:latin typeface="Microsoft YaHei"/>
              </a:rPr>
              <a:t>▪ 病人随床进圆筒，或探头转着拍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222B33"/>
                </a:solidFill>
                <a:latin typeface="Microsoft YaHei"/>
              </a:rPr>
              <a:t>▪ 计算机把多角度信号拼成图像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222B33"/>
                </a:solidFill>
                <a:latin typeface="Microsoft YaHei"/>
              </a:rPr>
              <a:t>▪ 趁“光源”还亮，抓紧采集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5349240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715000"/>
            <a:ext cx="5925129" cy="45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X射线方向一致，而体内的γ光子向四面八方发射，一个探头只能接收很少一部分。比较理想的布局是在身体外围布置一圈探测器，环可以沿身体移动，对准要看的部位；医院里，病人躺在检查床上随床移进圆筒，筒内就是一圈圈探测器。也有会……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以为注射后什么时候检查都一样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以为检查结束后体内放射性马上消失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095 · 核医学与放射性药物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放射性药物：核素加载体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095 核医学与放射性药物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2834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700">
                <a:solidFill>
                  <a:srgbClr val="222B33"/>
                </a:solidFill>
                <a:latin typeface="Microsoft YaHei"/>
              </a:rPr>
              <a:t>▪ 放射性药物由核素和载体组成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222B33"/>
                </a:solidFill>
                <a:latin typeface="Microsoft YaHei"/>
              </a:rPr>
              <a:t>▪ 载体像快递员，把核素送到目标器官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222B33"/>
                </a:solidFill>
                <a:latin typeface="Microsoft YaHei"/>
              </a:rPr>
              <a:t>▪ 看不同器官，换不同载体和途径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222B33"/>
                </a:solidFill>
                <a:latin typeface="Microsoft YaHei"/>
              </a:rPr>
              <a:t>▪ 标记要牢固，不能改变药物的代谢行为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222B33"/>
                </a:solidFill>
                <a:latin typeface="Microsoft YaHei"/>
              </a:rPr>
              <a:t>▪ 放射性药品，国家专门管理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5349240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715000"/>
            <a:ext cx="5925129" cy="45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放射性药物是用放射性核素标记的化合物或制剂。它由两部分组成：一部分是放射性核素，负责发出可被探测的射线；另一部分是载体（无机盐或有机化合物），利用它在体内的代谢特点，把核素送到目标器官并停留一段时间，就像快递员送货。……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以为放射性药物和普通试剂一样，可以自行配制、随意分给他人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自行改动标记方法，不经验证就用于实验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095 · 核医学与放射性药物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诊断核素：半衰期要短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095 核医学与放射性药物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2834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700">
                <a:solidFill>
                  <a:srgbClr val="222B33"/>
                </a:solidFill>
                <a:latin typeface="Microsoft YaHei"/>
              </a:rPr>
              <a:t>▪ 诊断核素，半衰期要短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222B33"/>
                </a:solidFill>
                <a:latin typeface="Microsoft YaHei"/>
              </a:rPr>
              <a:t>▪ 半衰期与制备、运输、检查所需时间相当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222B33"/>
                </a:solidFill>
                <a:latin typeface="Microsoft YaHei"/>
              </a:rPr>
              <a:t>▪ 太长留得久，太短又得多备活度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222B33"/>
                </a:solidFill>
                <a:latin typeface="Microsoft YaHei"/>
              </a:rPr>
              <a:t>▪ 病人做一次，工作人员天天接触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222B33"/>
                </a:solidFill>
                <a:latin typeface="Microsoft YaHei"/>
              </a:rPr>
              <a:t>▪ 衰变后的子体最好是稳定的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5349240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715000"/>
            <a:ext cx="5925129" cy="45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诊断用核素的物理半衰期要短，检查结束后放射性能较快减少（半衰期见第 086 课）。但“短”也不是越短越好：理想的半衰期一般在几小时量级，与药物制备、运输和检查所需的时间相当；太长，检查后放射性在体内留得久，受照多；太……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以为短半衰期核素“放一会儿就没了”，操作时不防护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以为病人检查完马上就没有放射性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095 · 核医学与放射性药物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只要能量适中的γ光子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095 核医学与放射性药物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22677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成像只要穿得出身体的γ光子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α、β和低能光子跑不远，只留下剂量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γ能量要适中：好穿出、好准直、好探测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单一能量，便于筛掉散射光子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782312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148072"/>
            <a:ext cx="5925129" cy="612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成像只需要能穿出身体、被体外探测器接收的γ光子。α粒子、β粒子和能量很低的光子在体内跑不远，对成像没有帮助，只增加病人的受照剂量，所以诊断用核素优先选择主要发射γ光子、少有粒子辐射的衰变方式（如同质异能跃迁、电子俘获）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认为射线能量越高，图像就越好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把治疗用的β核素和诊断用γ核素的防护要求混为一谈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095 · 核医学与放射性药物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聚得准，排得快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095 核医学与放射性药物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2834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700">
                <a:solidFill>
                  <a:srgbClr val="222B33"/>
                </a:solidFill>
                <a:latin typeface="Microsoft YaHei"/>
              </a:rPr>
              <a:t>▪ 好药物要快速、大量聚到目标组织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222B33"/>
                </a:solidFill>
                <a:latin typeface="Microsoft YaHei"/>
              </a:rPr>
              <a:t>▪ 碘会大量聚到甲状腺，剂量很集中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222B33"/>
                </a:solidFill>
                <a:latin typeface="Microsoft YaHei"/>
              </a:rPr>
              <a:t>▪ 这正是放射性碘治疗的原理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222B33"/>
                </a:solidFill>
                <a:latin typeface="Microsoft YaHei"/>
              </a:rPr>
              <a:t>▪ 一边衰变一边排出，有效半衰期要合适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222B33"/>
                </a:solidFill>
                <a:latin typeface="Microsoft YaHei"/>
              </a:rPr>
              <a:t>▪ 还要毒性低、稳定、容易获得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5349240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715000"/>
            <a:ext cx="5925129" cy="45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理想的放射性药物要快速、大量地聚到要检查的组织，有效半衰期与检查所需时间相当（有效半衰期见第 086 课）；毒性低，不引起过敏等不良反应；在体外和体内都稳定、不易分解；还要容易获得、价格合理。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只看活度大小，不看核素聚集在哪个器官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操作放射性碘时不在通风柜内进行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095 · 核医学与放射性药物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核素选择与医疗照射的最优化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095 核医学与放射性药物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2834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700">
                <a:solidFill>
                  <a:srgbClr val="222B33"/>
                </a:solidFill>
                <a:latin typeface="Microsoft YaHei"/>
              </a:rPr>
              <a:t>▪ 用放射性药物，要获益大于风险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222B33"/>
                </a:solidFill>
                <a:latin typeface="Microsoft YaHei"/>
              </a:rPr>
              <a:t>▪ 活度够用就好，不盲目加量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222B33"/>
                </a:solidFill>
                <a:latin typeface="Microsoft YaHei"/>
              </a:rPr>
              <a:t>▪ 儿童和小体重者，按规范减量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222B33"/>
                </a:solidFill>
                <a:latin typeface="Microsoft YaHei"/>
              </a:rPr>
              <a:t>▪ 图像够用，就调参数少照一点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222B33"/>
                </a:solidFill>
                <a:latin typeface="Microsoft YaHei"/>
              </a:rPr>
              <a:t>▪ 能不用核素就不用，新课题先审核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5349240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715000"/>
            <a:ext cx="5925129" cy="45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医疗照射和科研用核素同样要遵循正当性和最优化原则（见第 089 课）：只有获益大于风险时才使用；能用非放射性方法解决的，就不用核素。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为了“图像好看”或“信号强”随意加大活度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新课题自行选用许可范围外的核素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095 · 核医学与放射性药物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核医学场所：分区与单向流动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095 核医学与放射性药物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2834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700">
                <a:solidFill>
                  <a:srgbClr val="222B33"/>
                </a:solidFill>
                <a:latin typeface="Microsoft YaHei"/>
              </a:rPr>
              <a:t>▪ 核医学场所要分控制区和监督区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222B33"/>
                </a:solidFill>
                <a:latin typeface="Microsoft YaHei"/>
              </a:rPr>
              <a:t>▪ 工作人员和患者走各自的通道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222B33"/>
                </a:solidFill>
                <a:latin typeface="Microsoft YaHei"/>
              </a:rPr>
              <a:t>▪ 药物和废物单向流动，不走回头路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222B33"/>
                </a:solidFill>
                <a:latin typeface="Microsoft YaHei"/>
              </a:rPr>
              <a:t>▪ 通风、屏蔽、衰变池按标准设置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222B33"/>
                </a:solidFill>
                <a:latin typeface="Microsoft YaHei"/>
              </a:rPr>
              <a:t>▪ 离开控制区，先测手和鞋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5349240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715000"/>
            <a:ext cx="5925129" cy="45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HJ 1188-2021《核医学辐射防护与安全要求》和 GBZ 120（以现行文本为准）对核医学工作场所的选址布局、分区、屏蔽、通风和放射性废物管理作了规定。场所按风险划分控制区和监督区（见第 089 课），控制区入……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患者和工作人员共用通道，在分装室门口候诊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废物桶拿回分装区再分类，路线来回交叉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095 · 核医学与放射性药物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采购、运输与验收入账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095 核医学与放射性药物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K10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2834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700">
                <a:solidFill>
                  <a:srgbClr val="222B33"/>
                </a:solidFill>
                <a:latin typeface="Microsoft YaHei"/>
              </a:rPr>
              <a:t>▪ 放射性药物从有资质的单位购买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222B33"/>
                </a:solidFill>
                <a:latin typeface="Microsoft YaHei"/>
              </a:rPr>
              <a:t>▪ 由有资质的单位运输，到货当面交接签字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222B33"/>
                </a:solidFill>
                <a:latin typeface="Microsoft YaHei"/>
              </a:rPr>
              <a:t>▪ 核对核素、活度、数量和单据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222B33"/>
                </a:solidFill>
                <a:latin typeface="Microsoft YaHei"/>
              </a:rPr>
              <a:t>▪ 测包装外表面，有无破损和污染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222B33"/>
                </a:solidFill>
                <a:latin typeface="Microsoft YaHei"/>
              </a:rPr>
              <a:t>▪ 入专用柜加锁登记；再赶时间也不跳过核对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5349240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715000"/>
            <a:ext cx="5925129" cy="45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放射性药物和放射性示踪剂只能由学校（或医院）按规定从有资质的单位统一采购，课题组和个人不得私自购买、转让（见第 093 课）。短寿命核素常常一路赶时间，要由有资质的单位按 GB 11806-2019（以现行文本为准）……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快递一到就在办公室拆开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只登记购入，不登记使用和剩余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095 · 核医学与放射性药物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发生器的安全使用与归还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095 核医学与放射性药物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K11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22677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发生器用长寿命母体“挤”出短寿命子体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到货查外壳完好，登记入账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在屏蔽区内淋洗，每次药液标签记录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不得自行拆解，用完按约定退回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782312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148072"/>
            <a:ext cx="5925129" cy="612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有些短寿命核素在使用地不容易直接获得，就用核素发生器供应：发生器里装着寿命较长的母体核素，母体衰变不断生成短寿命的子体，用淋洗液把子体“挤”出来使用，这样一点点体积就有足够的活度（比活度高）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发生器用完堆在角落，或当废品处理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淋洗出的药液不贴标签，靠记忆区分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095 · 核医学与放射性药物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放射性药物分装的防护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095 核医学与放射性药物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K12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2834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700">
                <a:solidFill>
                  <a:srgbClr val="222B33"/>
                </a:solidFill>
                <a:latin typeface="Microsoft YaHei"/>
              </a:rPr>
              <a:t>▪ 在专用分装柜里分装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222B33"/>
                </a:solidFill>
                <a:latin typeface="Microsoft YaHei"/>
              </a:rPr>
              <a:t>▪ 药瓶放铅罐，注射器套上屏蔽套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222B33"/>
                </a:solidFill>
                <a:latin typeface="Microsoft YaHei"/>
              </a:rPr>
              <a:t>▪ 托盘铺吸水纸，用长柄工具夹取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222B33"/>
                </a:solidFill>
                <a:latin typeface="Microsoft YaHei"/>
              </a:rPr>
              <a:t>▪ 不徒手拿瓶，不嘴吸，不吃喝化妆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222B33"/>
                </a:solidFill>
                <a:latin typeface="Microsoft YaHei"/>
              </a:rPr>
              <a:t>▪ 做完测台面和手套，再脱手套洗手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5349240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715000"/>
            <a:ext cx="5925129" cy="45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分装放射性药物要在专用的分装柜（通风橱）里进行，前方有铅玻璃屏蔽。药瓶放在铅罐里，注射器套上屏蔽套；台面上放托盘、铺吸水纸，用长柄镊子或钳子夹取药瓶，不徒手拿药瓶，严禁用嘴吸移液（非密封源操作通则见第 091 课）。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嫌铅罐麻烦，直接拿药瓶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不测手套就摘下来去摸手机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095 · 核医学与放射性药物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给药前核对：人、药、活度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095 核医学与放射性药物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K13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2834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700">
                <a:solidFill>
                  <a:srgbClr val="222B33"/>
                </a:solidFill>
                <a:latin typeface="Microsoft YaHei"/>
              </a:rPr>
              <a:t>▪ 使用前做质量控制，用活度计实测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222B33"/>
                </a:solidFill>
                <a:latin typeface="Microsoft YaHei"/>
              </a:rPr>
              <a:t>▪ 标签写清核素、活度、时间和对象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222B33"/>
                </a:solidFill>
                <a:latin typeface="Microsoft YaHei"/>
              </a:rPr>
              <a:t>▪ 两人核对：人、药、量都对上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222B33"/>
                </a:solidFill>
                <a:latin typeface="Microsoft YaHei"/>
              </a:rPr>
              <a:t>▪ 外形一样的容器，最容易拿错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222B33"/>
                </a:solidFill>
                <a:latin typeface="Microsoft YaHei"/>
              </a:rPr>
              <a:t>▪ 给错药、给错量，立即报告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5349240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715000"/>
            <a:ext cx="5925129" cy="45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放射性药物使用前要按规定做质量控制；每一份药都要用活度计实测活度，并按衰变校正到给药时间，与处方（或实验方案）一致。注射器和药瓶的标签写清核素、活度、测量时间和给药对象。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凭标签上的“计划活度”给药，不实测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两个相同外观的注射器放在同一托盘里不标识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095 · 核医学与放射性药物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注射后的人就是辐射源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095 核医学与放射性药物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K14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2834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700">
                <a:solidFill>
                  <a:srgbClr val="222B33"/>
                </a:solidFill>
                <a:latin typeface="Microsoft YaHei"/>
              </a:rPr>
              <a:t>▪ 医院多个科室都有辐射源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222B33"/>
                </a:solidFill>
                <a:latin typeface="Microsoft YaHei"/>
              </a:rPr>
              <a:t>▪ X线机关机就没射线，注射后的病人不一样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222B33"/>
                </a:solidFill>
                <a:latin typeface="Microsoft YaHei"/>
              </a:rPr>
              <a:t>▪ 注射后的病人，本身就是辐射源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222B33"/>
                </a:solidFill>
                <a:latin typeface="Microsoft YaHei"/>
              </a:rPr>
              <a:t>▪ 注射后的实验动物，也是辐射源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222B33"/>
                </a:solidFill>
                <a:latin typeface="Microsoft YaHei"/>
              </a:rPr>
              <a:t>▪ 可能接触的人，都要接受安全告知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5349240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715000"/>
            <a:ext cx="5925129" cy="45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医院里的辐射源分布在多个科室：放射科的 X线设备关机就没有射线；放疗科有加速器和近距离治疗设备；血库可能有含源血液辐照仪；核医学科把放射性药物注入病人体内，这时病人本身就成了辐射源（非密封源）。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以为只有核医学科的工作人员需要了解辐射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注射后的实验动物和普通动物混养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095 · 核医学与放射性药物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注射后的防护与告知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095 核医学与放射性药物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K15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2834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700">
                <a:solidFill>
                  <a:srgbClr val="222B33"/>
                </a:solidFill>
                <a:latin typeface="Microsoft YaHei"/>
              </a:rPr>
              <a:t>▪ 注射后在专用候诊区等候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222B33"/>
                </a:solidFill>
                <a:latin typeface="Microsoft YaHei"/>
              </a:rPr>
              <a:t>▪ 用专用卫生间，便后多冲水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222B33"/>
                </a:solidFill>
                <a:latin typeface="Microsoft YaHei"/>
              </a:rPr>
              <a:t>▪ 多喝水、勤排尿，排得更快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222B33"/>
                </a:solidFill>
                <a:latin typeface="Microsoft YaHei"/>
              </a:rPr>
              <a:t>▪ 短期少接触孕妇儿童，时长遵医嘱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222B33"/>
                </a:solidFill>
                <a:latin typeface="Microsoft YaHei"/>
              </a:rPr>
              <a:t>▪ 怀孕或哺乳先告诉医生；孕妇儿童不陪护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5349240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715000"/>
            <a:ext cx="5925129" cy="45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注射后的受检者要在专用候诊区等候，不随意走动；使用专用卫生间，便后多冲水；检查后多喝水、勤排尿，加快排出。核医学科要书面告知注意事项。工作人员与注射后的病人也要保持距离、减少停留。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检查一结束就去抱小孩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带孕妇或儿童陪同做核素治疗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095 · 核医学与放射性药物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接触注射后的病人：标准防护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095 核医学与放射性药物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K16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2834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700">
                <a:solidFill>
                  <a:srgbClr val="222B33"/>
                </a:solidFill>
                <a:latin typeface="Microsoft YaHei"/>
              </a:rPr>
              <a:t>▪ 需要急救时不犹豫，按常规穿戴防护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222B33"/>
                </a:solidFill>
                <a:latin typeface="Microsoft YaHei"/>
              </a:rPr>
              <a:t>▪ 血尿放射性很小，病原体更要防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222B33"/>
                </a:solidFill>
                <a:latin typeface="Microsoft YaHei"/>
              </a:rPr>
              <a:t>▪ 抽血化验尽量在检查前，按科室安排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222B33"/>
                </a:solidFill>
                <a:latin typeface="Microsoft YaHei"/>
              </a:rPr>
              <a:t>▪ 病人担心时：检查常用，受照很低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222B33"/>
                </a:solidFill>
                <a:latin typeface="Microsoft YaHei"/>
              </a:rPr>
              <a:t>▪ 沾染的废物，按规定专门处理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5349240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715000"/>
            <a:ext cx="5925129" cy="45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注射过放射性药物的病人也可能需要急救，救人优先，不要因为辐射而犹豫。病人的血液、尿液等含有少量放射性，但量很小，按常规标准预防穿戴手套、隔离衣等就够了；相比之下，血源性病原体更需要防范（临床样本的标准预防见第 079……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因为病人注射过药物而拒绝或拖延急救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把沾染的尿垫直接丢进普通垃圾桶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095 · 核医学与放射性药物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课后练习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095 核医学与放射性药物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645920"/>
            <a:ext cx="5364327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68680" y="1874519"/>
            <a:ext cx="548640" cy="548640"/>
          </a:xfrm>
          <a:prstGeom prst="ellipse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00200" y="1920240"/>
            <a:ext cx="3992727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222B33"/>
                </a:solidFill>
                <a:latin typeface="Microsoft YaHei"/>
              </a:rPr>
              <a:t>核医学显像与 X射线影像的主要区别是：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00200" y="3291840"/>
            <a:ext cx="3992727" cy="2560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A. 核医学的相机会发出射线</a:t>
            </a:r>
          </a:p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B. 核医学把放射性药物送进体内，由体外探测器接收体内发出的γ光子</a:t>
            </a:r>
          </a:p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C. 两者完全相同</a:t>
            </a:r>
          </a:p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D. X射线检查后人体带有放射性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78727" y="1645920"/>
            <a:ext cx="5364327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6598767" y="1874519"/>
            <a:ext cx="548640" cy="548640"/>
          </a:xfrm>
          <a:prstGeom prst="ellipse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30287" y="1920240"/>
            <a:ext cx="3992727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222B33"/>
                </a:solidFill>
                <a:latin typeface="Microsoft YaHei"/>
              </a:rPr>
              <a:t>判断：诊断用核素半衰期越长越好，这样检查时间更充裕。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30287" y="3291840"/>
            <a:ext cx="3992727" cy="2560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A. 正确</a:t>
            </a:r>
          </a:p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B. 错误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095 · 核医学与放射性药物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课后练习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095 核医学与放射性药物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645920"/>
            <a:ext cx="5364327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68680" y="1874519"/>
            <a:ext cx="548640" cy="548640"/>
          </a:xfrm>
          <a:prstGeom prst="ellipse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00200" y="1920240"/>
            <a:ext cx="3992727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222B33"/>
                </a:solidFill>
                <a:latin typeface="Microsoft YaHei"/>
              </a:rPr>
              <a:t>放射性药物到货后，正确的做法是：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00200" y="3291840"/>
            <a:ext cx="3992727" cy="2560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A. 在办公室直接拆开</a:t>
            </a:r>
          </a:p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B. 当面交接，核对核素、活度、数量和单据，测包装外表面，入专用柜加锁登记</a:t>
            </a:r>
          </a:p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C. 赶时间先用，回头再登记</a:t>
            </a:r>
          </a:p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D. 交给同学代收放在桌上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78727" y="1645920"/>
            <a:ext cx="5364327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6598767" y="1874519"/>
            <a:ext cx="548640" cy="548640"/>
          </a:xfrm>
          <a:prstGeom prst="ellipse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30287" y="1920240"/>
            <a:ext cx="3992727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222B33"/>
                </a:solidFill>
                <a:latin typeface="Microsoft YaHei"/>
              </a:rPr>
              <a:t>给药前的核对，下列做法正确的是：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30287" y="3291840"/>
            <a:ext cx="3992727" cy="2560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A. 按标签上的计划活度直接给药</a:t>
            </a:r>
          </a:p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B. 一个人核对即可</a:t>
            </a:r>
          </a:p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C. 用活度计实测，两人核对人、药、量后签字记录</a:t>
            </a:r>
          </a:p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D. 外观相同的注射器放在一起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095 · 核医学与放射性药物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课后练习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095 核医学与放射性药物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645920"/>
            <a:ext cx="5364327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68680" y="1874519"/>
            <a:ext cx="548640" cy="548640"/>
          </a:xfrm>
          <a:prstGeom prst="ellipse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00200" y="1920240"/>
            <a:ext cx="3992727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222B33"/>
                </a:solidFill>
                <a:latin typeface="Microsoft YaHei"/>
              </a:rPr>
              <a:t>判断：注射过放射性药物的病人需要急救时，应等辐射安全人员到场后再处理。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00200" y="3291840"/>
            <a:ext cx="3992727" cy="2560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A. 正确</a:t>
            </a:r>
          </a:p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B. 错误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78727" y="1645920"/>
            <a:ext cx="5364327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6598767" y="1874519"/>
            <a:ext cx="548640" cy="548640"/>
          </a:xfrm>
          <a:prstGeom prst="ellipse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30287" y="1920240"/>
            <a:ext cx="3992727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222B33"/>
                </a:solidFill>
                <a:latin typeface="Microsoft YaHei"/>
              </a:rPr>
              <a:t>简答：核医学场所为什么要求工作人员和患者分通道、药物和废物单向流动？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30287" y="3291840"/>
            <a:ext cx="3992727" cy="2560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/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3C5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4864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Microsoft YaHei"/>
              </a:rPr>
              <a:t>本课小结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645920"/>
            <a:ext cx="5364327" cy="457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Microsoft YaHei"/>
              </a:rPr>
              <a:t>▪ K1  X射线影像：组织拦得不一样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Microsoft YaHei"/>
              </a:rPr>
              <a:t>▪ K2  核医学：把“光源”放进身体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Microsoft YaHei"/>
              </a:rPr>
              <a:t>▪ K3  探测器：一圈圈接收γ光子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Microsoft YaHei"/>
              </a:rPr>
              <a:t>▪ K4  放射性药物：核素加载体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Microsoft YaHei"/>
              </a:rPr>
              <a:t>▪ K5  诊断核素：半衰期要短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Microsoft YaHei"/>
              </a:rPr>
              <a:t>▪ K6  只要能量适中的γ光子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Microsoft YaHei"/>
              </a:rPr>
              <a:t>▪ K7  聚得准，排得快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Microsoft YaHei"/>
              </a:rPr>
              <a:t>▪ K8  核素选择与医疗照射的最优化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78727" y="1645920"/>
            <a:ext cx="5364327" cy="457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Microsoft YaHei"/>
              </a:rPr>
              <a:t>▪ K9  核医学场所：分区与单向流动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Microsoft YaHei"/>
              </a:rPr>
              <a:t>▪ K10  采购、运输与验收入账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Microsoft YaHei"/>
              </a:rPr>
              <a:t>▪ K11  发生器的安全使用与归还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Microsoft YaHei"/>
              </a:rPr>
              <a:t>▪ K12  放射性药物分装的防护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Microsoft YaHei"/>
              </a:rPr>
              <a:t>▪ K13  给药前核对：人、药、活度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Microsoft YaHei"/>
              </a:rPr>
              <a:t>▪ K14  注射后的人就是辐射源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Microsoft YaHei"/>
              </a:rPr>
              <a:t>▪ K15  注射后的防护与告知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Microsoft YaHei"/>
              </a:rPr>
              <a:t>▪ K16  接触注射后的病人：标准防护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《高校实验室安全》学习课件</dc:title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