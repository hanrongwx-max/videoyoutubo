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火（燃烧）是可燃物与氧化剂（通常是空气中的氧）发生的剧烈氧化反应，同时放出热和光。反应放出的热又使更多可燃物达到燃烧所需的温度，燃烧就持续下去。</a:t>
            </a:r>
          </a:p>
          <a:p>
            <a:r>
              <a:t>理解燃烧是怎样发生和持续的，就能明白火灾怎么预防、怎么扑灭。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燃烧需要三个条件同时具备，叫燃烧三角：可燃物（实验室里的有机溶剂、纸张、塑料、木材等）、助燃物（最常见的是空气中的氧气，氧化剂也能提供氧）、点火源（明火、电火花、静电、高温表面、热板等）。</a:t>
            </a:r>
          </a:p>
          <a:p>
            <a:r>
              <a:t>三样分开放，不会着火；凑到一起、达到一定条件才会燃烧。拿走其中任何一样，火就烧不起来。所以预防火灾的思路就是不让三者凑齐：溶剂远离热源和点火源，氧化剂不与可燃物混放（实验室火灾预防见第 031 课）。</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燃烧三角是较早的说法。现在一般用燃烧四面体来解释：除了可燃物、助燃物和点火源（热），燃烧还依赖持续进行的链式反应——反应中产生的活性自由基一环扣一环地传递，使燃烧不断进行。</a:t>
            </a:r>
          </a:p>
          <a:p>
            <a:r>
              <a:t>可燃物、助燃物、热和链式反应四个要素缺一个，火就烧不起来或会熄灭。这也是化学抑制灭火法的原理。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传递有三种方式：传导——热通过固体（如金属棒、金属台面、管道）从高温处传到低温处；对流——受热的空气和烟气上升，沿天花板和走廊扩散，把热带到远处；辐射——火焰和高温物体向四周发出热辐射，不接触也能把旁边的可燃物烤着。</a:t>
            </a:r>
          </a:p>
          <a:p>
            <a:r>
              <a:t>火灾就是靠这三种方式从一处蔓延到别处的。可燃物要与加热设备、火源保持距离。注意：喷淋装置中受热就动作的易熔元件是一种触发部件，不是热传递方式。</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既然燃烧要四个要素同时具备，灭火就是去掉其中至少一个：降低温度（冷却法）、去掉可燃物（隔离法）、隔绝氧气（窒息法）、打断链式反应（化学抑制法）。</a:t>
            </a:r>
          </a:p>
          <a:p>
            <a:r>
              <a:t>常说的“灭火三法”是冷却、隔离、窒息；加上化学抑制，就是四种基本方法。不同灭火器和灭火剂主要靠其中一种或几种起作用（灭火器种类见第 032 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冷却法：用水等灭火剂吸收热量，把燃烧物的温度降到燃点以下，火就熄灭。水适合扑救 A 类固体火，但不能用于金属火和带电设备火。</a:t>
            </a:r>
          </a:p>
          <a:p>
            <a:r>
              <a:t>隔离法：把可燃物与火源隔开，比如关闭燃气、可燃液体管道的阀门，切断燃料供应；把火场旁边的溶剂瓶、纸箱等可燃物移开，防止火势蔓延。</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窒息法：隔绝或冲淡空气中的氧，使燃烧因缺氧而熄灭。台面上的小火用灭火毯一盖、酒精灯盖上灯帽、二氧化碳灭火器喷出的气体，主要都是窒息作用。</a:t>
            </a:r>
          </a:p>
          <a:p>
            <a:r>
              <a:t>化学抑制法：用化学灭火剂（如干粉）与燃烧中的自由基作用，打断链式反应，使火焰熄灭。二氧化碳和灭火毯主要靠窒息，不属于化学抑制。</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我国按 GB/T 4968-2008（以现行文本为准）《火灾分类》，根据可燃物的类型和燃烧特性把火灾分为六类：A 类（固体物质火灾）、B 类（液体或可熔化的固体物质火灾）、C 类（气体火灾）、D 类（金属火灾）、E 类（带电火灾）、F 类（烹饪器具内的烹饪物火灾）。</a:t>
            </a:r>
          </a:p>
          <a:p>
            <a:r>
              <a:t>国外的火灾分类与我国不同，同一个字母代表的火灾类型也可能不一样，看国外资料时不能照搬。选用灭火器时，以国家标准和灭火器标签上标明的适用火灾类别为准（见第 032 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类火灾是固体物质火灾，这些物质通常是有机物，燃烧时一般能产生灼热的余烬，如木材、纸张、棉、麻、布料等。实验室里的纸箱、擦拭纸、包装泡沫等都是常见的 A 类可燃物。</a:t>
            </a:r>
          </a:p>
          <a:p>
            <a:r>
              <a:t>A 类火灾一般可用水型、泡沫、ABC 干粉等灭火器扑救。预防的关键是减少可燃杂物：纸箱和废纸不堆在角落、不靠近热源，包装材料及时清出实验室（见第 028 课）。</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类火灾是液体或可熔化的固体物质火灾，如汽油、煤油、甲醇、乙醇等有机溶剂和油漆，以及石蜡、沥青等受热会熔化流动的固体。</a:t>
            </a:r>
          </a:p>
          <a:p>
            <a:r>
              <a:t>化学实验室使用大量易燃溶剂，B 类火很常见；液体着火会流淌扩散，不能用水直接冲（会使燃烧的液体飞溅、扩散）。易燃液体的特性和储存见第 046 课。</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类火灾是气体火灾，如天然气（甲烷）、丙烷、丁烷、氢气等可燃气体着火。扑救气体火灾的关键是先关闭气源阀门（隔离法），气源未切断时贸然把火扑灭，泄漏的气体可能再次被引燃甚至爆炸（气瓶安全见第11章）。</a:t>
            </a:r>
          </a:p>
          <a:p>
            <a:r>
              <a:t>D 类火灾是金属火灾，如钾、钠、镁、锂、钛等活泼金属着火。化学实验室真的会发生金属火。金属火绝不能用水，也不能用二氧化碳和普通干粉，要用干砂或 D 类专用灭火剂覆盖（以 SDS 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 类火灾是物体带电燃烧的火灾，如通电的仪器、配电箱、电线着火。扑救前先切断电源；断电后，火灾就按燃烧物本身的类别（如 A 类、B 类）处理。带电时不能用水和泡沫扑救，以免触电（电气火灾见第 107 课）。</a:t>
            </a:r>
          </a:p>
          <a:p>
            <a:r>
              <a:t>F 类火灾是烹饪器具内的烹饪物（如动植物油脂）火灾，常见于厨房，实验室一般较少遇到；油锅着火可盖上锅盖或用灭火毯窒息，不能用水泼。</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室内火灾发展时，热烟气在天花板下越积越厚、温度越来越高，通过热辐射烤热整个房间的可燃物；达到一定程度时，房间内的可燃物几乎同时起火，火焰突然布满整个房间，这就是轰燃。</a:t>
            </a:r>
          </a:p>
          <a:p>
            <a:r>
              <a:t>轰燃后室内温度极高、充满浓烟，人很难逃生。火灾烟气有毒，往往比火焰更快伤人。所以不要等火势扩大，必须在轰燃之前撤离。</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火灾一般经历初起、发展、猛烈和衰减几个阶段。初起阶段燃烧面积小、温度不高，用灭火器、灭火毯就可能扑灭，是扑救的最好时机。</a:t>
            </a:r>
          </a:p>
          <a:p>
            <a:r>
              <a:t>确认自身安全、会用器材时，才扑救初起小火；扑不灭、火势扩大或冒出浓烟时，立即撤离，关门阻隔火势，拨打 119 报警，同时报告实验室负责人和学校保卫处（灭火器使用见第 033 课，初起火灾处置见第 034 课，疏散逃生见第 036 课）。</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答案：A。解析：燃烧三角再加上链式反应，就是燃烧四面体，缺一个要素就烧不起来。</a:t>
            </a:r>
          </a:p>
          <a:p>
            <a:r>
              <a:t>第 2 题 答案：C。解析：灭火毯隔绝空气，使燃烧缺氧熄灭。</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答案：D。解析：D 类为金属火灾，不能用水扑救，应使用干砂或专用灭火剂。</a:t>
            </a:r>
          </a:p>
          <a:p>
            <a:r>
              <a:t>第 4 题 答案：B。解析：我国 C 类是气体火灾，E 类才是带电火灾；国外分类不同，不能照搬。</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答案：B。解析：热辐射和对流不接触也能把可燃物烤着，可燃物要远离热源。</a:t>
            </a:r>
          </a:p>
          <a:p>
            <a:r>
              <a:t>第 6 题 答案：轰燃是室内火灾发展中，房间内可燃物几乎同时起火、火焰突然布满房间的现象。火势扩大时不要继续扑救，应立即撤离、关门阻隔火势，拨打 119，并报告实验室负责人和保卫处。解析：初起火灾才是扑救时机，轰燃后很难逃生。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学实验室发生火灾的次数不多，火通常也不大，但后果可能很严重：首先是伤人——烧伤，以及吸入有毒烟气，烟气往往比火焰更致命；其次，数据、样本和仪器是多年的心血，一场火就可能全部毁掉，实验室房屋和设备的财产损失也很大。</a:t>
            </a:r>
          </a:p>
          <a:p>
            <a:r>
              <a:t>火灾还会让化学品和其他危险物质散发出去，污染环境。消防安全就是一整套措施：预防火灾、及早发现、起火时能正确应对（报警、灭火器材和疏散预案）。准备充分的实验室，火灾损失小，也能更快恢复工作。</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防火有国家法律法规和学校制度的明确要求。按《中华人民共和国消防法》，单位和个人都有维护消防安全、预防火灾的义务；学校、学院和实验室逐级落实消防安全责任，实验室负责人是本实验室安全第一责任人。</a:t>
            </a:r>
          </a:p>
          <a:p>
            <a:r>
              <a:t>做实验前和日常管理中，要开展火灾风险评估：识别本实验室的火灾隐患并采取管控措施，保护人员安全（风险评估方法见第2章）。消防器材、设施不能偷工减料，也不能损坏、挪用。</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的火灾隐患主要有三类：易燃品——乙醇、含醇消毒剂和各种有机溶剂；可燃物——纸张、包装材料、塑料耗材等；点火源——酒精灯、燃气灯等明火，加热板、烘箱等电热设备，以及电火花、静电。管理不好，三样凑在一起就会着火（燃烧原理见第 030 课）。</a:t>
            </a:r>
          </a:p>
          <a:p>
            <a:r>
              <a:t>常见的火灾原因包括电气线路故障、无人看管的明火和加热设备、易燃物靠近热源等。定期维护和检查不是火灾原因，而是防火的办法。</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火源平时就要管住。实验楼内严禁吸烟，只能在学校指定的吸烟地点吸烟；实验以外不得使用明火。实验确需使用明火的，按本校规定审批、登记，使用时有人值守。</a:t>
            </a:r>
          </a:p>
          <a:p>
            <a:r>
              <a:t>在实验楼内进行焊接、切割等动火作业，必须先办理动火审批，清除周围可燃物、配备灭火器材并安排监护（特种作业见第12章）。举办会议、活动时，室内同样不得使用明火、燃放烟花。</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明火能少用就少用，能用电热设备代替的尽量代替。使用前清走周围的易燃物；点燃酒精灯用火柴或点火器，不要用一盏酒精灯去点另一盏（酒精会洒出起火）。</a:t>
            </a:r>
          </a:p>
          <a:p>
            <a:r>
              <a:t>点着的火，人不能离开。酒精灯用完用灯帽盖灭，不要用嘴吹。燃气灯用完随手关闭阀门，离开前再确认一次燃气阀已关好、火已熄灭。</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生物实验室常用乙醇消毒，又常用酒精灯，二者结合很容易起火。喷完酒精消毒台面后，先不要点火；手上的含醇消毒液没干，不要靠近火焰。等酒精完全挥发干了，再点灯。</a:t>
            </a:r>
          </a:p>
          <a:p>
            <a:r>
              <a:t>给酒精灯添加酒精，必须先熄灭、等灯冷却后再添。酒精和易燃清洁剂少量取用，保持通风、远离热源，擦拭用过的废布放进带盖的桶里。</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多数实验室火灾是可以预防的。常见的例子：沾了溶剂的纸巾丢在电热板旁，被烤着起火。易燃物要远离热源，即使不接触火焰，热源的辐射热也能烤着旁边的易燃物。台面保持清爽，只放本次用量的易燃试剂，多余的放回易燃品柜（防火柜）（易燃化学品储存见第 046 课）。</a:t>
            </a:r>
          </a:p>
          <a:p>
            <a:r>
              <a:t>不用明火直接加热易燃液体，应选用水浴、油浴、加热套等合适的加热方式。加热板关掉后余热还很高，仍能引燃易燃物、烫伤人，冷却前不要在旁边放易燃物。</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实验室里有不少明火和高温热源。就像在家做饭不能走开一样，加热时人要守在旁边，不能无人值守；使用前把易燃试剂移远。</a:t>
            </a:r>
          </a:p>
          <a:p>
            <a:r>
              <a:t>可以给加热设备设定时器提醒，到时间就关。人要离开，先关闭加热设备并断电；确需长时间或过夜运行的，按本校规定报批（见本课 S1）。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光源灯、大功率照明灯工作时温度很高，周围不能放纸张、溶剂等可燃物；大功率灯具要固定牢靠，防止倾倒碰到可燃物。</a:t>
            </a:r>
          </a:p>
          <a:p>
            <a:r>
              <a:t>更换灯泡先断电，等灯冷却后再动手，避免烫伤；不要用手指直接接触石英灯壳（手上的油脂会使灯壳局部过热破裂）。</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电水壶、电暖器、电热毯等私用电热器具功率大，又常靠近可燃物，容易起火；实验室里不得使用，按学校规定管理。</a:t>
            </a:r>
          </a:p>
          <a:p>
            <a:r>
              <a:t>插线板不串接，不私拉乱接电线，大功率设备不接在插线板上；线路、插座有问题，报告由专业电工处理（用电安全和电气火灾见第8章、第 107 课）。在会场等活动场所也一样：不私拉电线、不串接插线板，开场前确认灭火器位置，发现火情立即拨打 119。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纸箱、木板、油抹布等可燃废料遇火就着，堆在设备旁和角落就是火灾隐患。沾油的抹布还可能因氧化发热而自燃，要放进带盖的金属桶，并及时清走。</a:t>
            </a:r>
          </a:p>
          <a:p>
            <a:r>
              <a:t>可燃废料及时清出实验室（内务要求见第 028 课）；沾染化学品的擦拭材料按危险废物收集，不混入生活垃圾。</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工作结束，关掉用过的设备；不需要持续通电的，拔掉插头再走。</a:t>
            </a:r>
          </a:p>
          <a:p>
            <a:r>
              <a:t>每天离开前，自己检查一遍：水龙头关好，电源和加热设备关闭，燃气阀门关好，门窗关好，关灯锁门再离开。最后离开的人负责全面检查，这应成为每个人的日常习惯。</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有些实验需要设备过夜或长时间运行。要先按本校规定报批，确认设备状态良好、周围没有可燃物、有超温或断电保护等安全措施。</a:t>
            </a:r>
          </a:p>
          <a:p>
            <a:r>
              <a:t>设备旁挂运行信息牌，写明设备名称、运行时间、实验内容和联系人电话，便于巡查人员发现异常时及时联系。未经批准，加热设备不得无人值守过夜运行（具体要求以本校规定为准）。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答案：C。解析：酒精灯用灯帽盖灭；不能用灯点灯，添酒精要先熄灭、等冷却。</a:t>
            </a:r>
          </a:p>
          <a:p>
            <a:r>
              <a:t>第 2 题 答案：B。解析：酒精未挥发干时遇火容易起火，要等干了再点火。</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答案：B。解析：加热设备不能无人值守，易燃物要远离热源，人离开先断电。</a:t>
            </a:r>
          </a:p>
          <a:p>
            <a:r>
              <a:t>第 4 题 答案：B。解析：私用电热器具功率大、易起火，不得进入实验室使用。</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答案：B。解析：离开前自查水电气和门窗，是防火的日常习惯。</a:t>
            </a:r>
          </a:p>
          <a:p>
            <a:r>
              <a:t>第 6 题 答案：易燃品，如乙醇、含醇消毒剂；可燃物，如纸张、包装、塑料耗材；点火源，如酒精灯、加热板、电火花。解析：三者凑在一起就可能起火，预防就是不让它们凑齐。</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 GB 4351-2023（以现行文本为准），手提式灭火器按充装的灭火剂分为水基型（含清水、泡沫等）、干粉型、二氧化碳、洁净气体等类型，另有扑救金属火的专用灭火器。每种灭火器只适用于某几类火灾，没有哪一种能扑灭所有的火。</a:t>
            </a:r>
          </a:p>
          <a:p>
            <a:r>
              <a:t>选用的方法是：先按 GB/T 4968-2008 判断火灾类别（A 固体、B 液体或可熔化固体、C 气体、D 金属、E 带电、F 烹饪油脂，见第 030 课），再看灭火器铭牌上标明的灭火剂和适用火灾类别。国外资料常用色带区分灭火器、把灭火器分成四种或五种，分类和字母含义都与我国不同，不能照搬；我国的灭火器外壳多为红色，要看铭牌而不是颜色。</a:t>
            </a:r>
          </a:p>
          <a:p>
            <a:r>
              <a:t>灭火器用错，不但扑不灭，还可能让火势扩大或造成触电、爆燃。带电设备着火要先断电，金属着火要用专用灭火剂。</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水型（清水型）灭火器喷出的水吸收大量热量，把燃烧物温度降到燃点以下，主要用于扑救 A 类固体物质火灾，如木材、纸张、棉布等普通可燃物着火。A 类火也可以用 ABC 干粉灭火器扑救。</a:t>
            </a:r>
          </a:p>
          <a:p>
            <a:r>
              <a:t>普通水型灭火器不能用于带电设备火（可能触电）、易燃液体火和油锅火（水会使燃烧的液体飞溅、蔓延）、气体火和活泼金属火。部分水基型灭火器经检验可用于带电火或其他类别，以铭牌标注为准。</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泡沫灭火器喷出的泡沫覆盖在燃烧物表面，隔绝空气（窒息），泡沫中的水又能冷却，主要用于扑救 B 类易燃液体火（如汽油、油类、部分有机溶剂），也可扑救 A 类固体火。扑救液体火时选用铭牌标有 B 类的灭火器。</a:t>
            </a:r>
          </a:p>
          <a:p>
            <a:r>
              <a:t>泡沫含水能导电，不能用于带电设备火；也不能用于活泼金属火。普通泡沫灭火器不宜扑救油锅火（见 K10）。部分水溶性溶剂（如醇类）会破坏普通泡沫，需要抗溶性泡沫，以铭牌标注为准。</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多数有机溶剂和燃油比水轻、不溶于水，泼水后燃烧的液体浮在水面上随水流散开，火势反而蔓延；水还导电，泼向带电设备会使扑救者触电。</a:t>
            </a:r>
          </a:p>
          <a:p>
            <a:r>
              <a:t>台面上易燃液体、燃油的小火，可用干粉、二氧化碳灭火器或灭火毯扑救；带电设备着火，先切断电源，再按燃烧物选用灭火器（电气火灾见第 107 课）。火势控制不住时立即撤离，拨打 119。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干粉灭火器喷出的干粉主要通过化学抑制（打断燃烧的链式反应）灭火，灭火速度快。按适用火灾分为 ABC 干粉（磷酸铵盐类）和 BC 干粉（碳酸氢钠类）：ABC 干粉可扑救 A 类固体、B 类液体、C 类气体火；BC 干粉适用于 B、C 类火，扑救木材、纸张等固体火时容易复燃。</a:t>
            </a:r>
          </a:p>
          <a:p>
            <a:r>
              <a:t>干粉不导电，可以扑救带电设备的初起火灾（以铭牌标注为准），但能断电的先断电，并与带电体保持安全距离。干粉的缺点是粉末扩散后难以清理，会污染、损坏精密仪器。干粉一般不用于活泼金属火（见 K9），也不宜用于油锅火（见 K10）。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干粉灭火器适用范围广，是实验室和教学楼最常见的灭火器，通常放在实验室出口、走廊等明显、便于取用的位置。每间实验室都应按规定配备灭火器，火稍大一点、不能用灭火毯盖灭时，就要用灭火器扑救（灭火器的使用见第 033 课）。</a:t>
            </a:r>
          </a:p>
          <a:p>
            <a:r>
              <a:t>平时就要记住灭火器放在哪、是哪一种，紧急时才能马上取用。过去使用的哈龙灭火器会破坏臭氧层，我国已按消耗臭氧层物质管理的要求基本淘汰，实验室不应再使用。</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二氧化碳灭火器喷出的二氧化碳主要通过窒息（冲淡氧气）和一定的冷却作用灭火，适用于 B 类液体火、C 类气体火和带电设备火。二氧化碳不导电、不留残渣，不会污染仪器，因此精密仪器室、计算机机房常配二氧化碳灭火器。</a:t>
            </a:r>
          </a:p>
          <a:p>
            <a:r>
              <a:t>二氧化碳扑救木材、纸张等固体火时，余烬容易复燃；不能用于活泼金属火（会与金属反应，更危险），也不宜扑救油锅火。喷射时二氧化碳迅速汽化，喇叭筒温度很低，手只能握在把手上，不能握喇叭筒，以免冻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二氧化碳靠冲淡氧气灭火，在狭小、通风差的房间（如小仪器间、储藏间）大量喷放后，空气中的氧含量明显下降，留在里面的人会头晕、窒息。</a:t>
            </a:r>
          </a:p>
          <a:p>
            <a:r>
              <a:t>在狭小空间使用二氧化碳灭火器后，人员应立即撤出，关门防止复燃，确认火已熄灭后先充分通风，再进入检查。设有固定气体灭火系统的房间，听到预警后要立即撤离。</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钾、钠、锂、镁等活泼金属着火属于 D 类火，在实验室比较少见，但非常危险：水会与活泼金属剧烈反应放出氢气，引起爆燃；二氧化碳会与燃烧的金属反应，使火势更猛；普通干粉、泡沫灭火器也扑不灭。</a:t>
            </a:r>
          </a:p>
          <a:p>
            <a:r>
              <a:t>使用活泼金属的实验室应在旁边备好干砂或金属火专用灭火器（D 类），着火时用干砂或专用灭火剂覆盖。没有把握不要扑救，立即撤离并拨打 119。使用激光等设备加工金属时灭火器的选用见第 119 课。</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烹饪器具内的食用油、动植物油脂着火属于 F 类火，常见于食堂、宿舍违规做饭和用油加热的场合。油温很高，泼水会使燃油飞溅、火势猛增。</a:t>
            </a:r>
          </a:p>
          <a:p>
            <a:r>
              <a:t>扑救方法：先关掉热源，用锅盖或灭火毯盖住，使火因缺氧熄灭，盖住后不要马上揭开；也可以用铭牌标有 F 类的专用灭火器。普通干粉、泡沫、二氧化碳灭火器不宜扑救油锅火，容易复燃；F 类专用灭火器也不用于液体、气体、带电和金属火。</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灭火器由学校按照 GB 50140（以现行文本为准）等规范，根据场所可能发生的火灾种类和危险等级配置：化学实验室常配干粉灭火器，精密仪器室、机房多配二氧化碳灭火器，使用活泼金属的地方备干砂或金属火专用灭火器。灭火器不得随意挪用、移走，需要调整时向实验室负责人和学院报告。</a:t>
            </a:r>
          </a:p>
          <a:p>
            <a:r>
              <a:t>参观、围观激光切割等设备运行，或开始一项新实验之前，先看一眼身边灭火器的位置、种类和适用火灾，做到“在哪、是哪种、能灭什么火”心中有数。</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灭火器只适合扑救初起火灾。火势扩大、烟雾变浓、灭火器喷完火还没灭，或者不能确定用哪种灭火器时，不要继续扑救，立即撤离并随手关门，阻止火势和烟气蔓延。</a:t>
            </a:r>
          </a:p>
          <a:p>
            <a:r>
              <a:t>撤离到安全处后拨打 119，说清单位、楼号、房间、燃烧物和有无人员被困或受伤，等接警员问完再挂电话；同时报告实验室负责人、学院和学校保卫处（火警报告与疏散见第 036 课）。</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答案：C。解析：二氧化碳不导电、不留残渣，适合精密仪器和带电设备火。</a:t>
            </a:r>
          </a:p>
          <a:p>
            <a:r>
              <a:t>第 2 题 答案：C。解析：水和二氧化碳都会与活泼金属反应，使火势更猛；普通干粉、泡沫也扑不灭。</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答案：A。解析：ABC 干粉适用于 A、B、C 类火，也可扑救带电设备初起火，但会损坏精密仪器。</a:t>
            </a:r>
          </a:p>
          <a:p>
            <a:r>
              <a:t>第 4 题 答案：B。解析：喷射时喇叭筒温度很低，握喇叭筒会冻伤，手只能握把手。</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答案：B。解析：易燃液体着火泼水会使火随水流蔓延，应用干粉、二氧化碳灭火器或灭火毯扑救。</a:t>
            </a:r>
          </a:p>
          <a:p>
            <a:r>
              <a:t>第 6 题 答案：先判断火灾类别（A 固体、B 液体、C 气体、D 金属、E 带电、F 油脂），再看灭火器铭牌标明的灭火剂和适用火灾类别，选对应的灭火器；带电先断电，金属火用专用灭火剂，扑不灭立即撤离并拨打 119。解析：没有万能灭火器，用错可能使火势扩大。</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灭火器操作并不复杂，但第一次在真实火情下使用，很容易因为紧张拔不出保险销、喷错位置。所以进入实验室前要参加学校组织的消防安全培训，在培训场地用训练灭火器或模拟器亲手练习，并知道本实验室灭火器、灭火毯、泄漏应急处理箱放在哪里。</a:t>
            </a:r>
          </a:p>
          <a:p>
            <a:r>
              <a:t>只有受过培训、会用灭火器的人才去扑救初起小火。学校和学院定期组织的消防演练要积极参加，平时多练，紧急时才能冷静、正确地操作。</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教学实验中起火，一般由指导教师或实验室负责人判断能否扑救、组织扑救，学生按老师的安排报警、疏散或协助，不要自行冲上去，也不要围观。</a:t>
            </a:r>
          </a:p>
          <a:p>
            <a:r>
              <a:t>研究生和高年级学生常常单独在实验室工作，身边不一定有老师，所以每个人自己也要会用灭火器、会判断什么时候该撤离。</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动手灭火前先问自己三个问题：我能避开有毒烟气吗？我背后有逃生路线吗？我手里的灭火器适用于这类火吗？三个问题都能回答“是”，而且火还很小、其他人已经撤开，才使用灭火器扑救。</a:t>
            </a:r>
          </a:p>
          <a:p>
            <a:r>
              <a:t>有任何一个答不上来，或者火势变大、拿不准，就不要扑救，立即撤离并报警。电器起火要先切断电源；金属着火不能用水（灭火器选用见第 032 课）。</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提式灭火器的使用可以记成“提、拔、握、压”四步：第一步提起灭火器，走到距火适当的位置（上风、背对出口）；第二步拔掉保险销（铅封随之断开）；第三步一手握住喷管（或喷嘴），对准火焰根部；第四步另一手用力压下压把，灭火剂喷出。</a:t>
            </a:r>
          </a:p>
          <a:p>
            <a:r>
              <a:t>国外资料的四步口诀（拔销、瞄准、压把、扫射）与此意思相同。各型号灭火器的细节略有差别，以铭牌上的使用说明和本校培训为准。</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火焰的根部是燃烧物所在的位置，灭火剂要喷到这里才能扑灭火源；对着火苗顶部喷射，灭火剂被火焰和热气流带走，火源仍在燃烧。</a:t>
            </a:r>
          </a:p>
          <a:p>
            <a:r>
              <a:t>喷射时压住压把不放，对准火焰根部由近及远、左右扫射，直到火完全熄灭。火灭后不要马上离开，注意观察余烬，防止复燃；复燃时撤离并报警。</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手提式灭火器的灭火剂量有限，一具只能连续喷射很短的时间，喷完就没有了。所以要在走近到有效距离后再压下压把，一开始就对准火焰根部，不要对着空中或火苗顶部浪费。</a:t>
            </a:r>
          </a:p>
          <a:p>
            <a:r>
              <a:t>不同型号、不同规格灭火器的喷射时间和喷射距离不同，以铭牌标注和本校培训为准。一具喷完火还没灭，说明已超出初起火灾的范围，应撤离报警（见 K10）。</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近火源前先看清烧的是什么，选对灭火器。灭火时离火太近会被热辐射烤伤，太远灭火剂又喷不到；应在灭火器的有效喷射距离内、保持安全距离，随着火势减小再逐步靠近。具体距离要看火势大小和灭火器的说明，不能套用固定数字。</a:t>
            </a:r>
          </a:p>
          <a:p>
            <a:r>
              <a:t>室外或有气流时站在上风方向，使烟气和灭火剂向前方飘散，不吹回自己。</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灭火时的站位与东南西北无关，关键是让出口始终在自己身后：背对出口、面向火源。这样一旦火势扩大或灭火器喷完，转身就能从出口撤离。</a:t>
            </a:r>
          </a:p>
          <a:p>
            <a:r>
              <a:t>不要绕到火的另一侧、深入房间里面灭火，否则火势一扩大，火和烟就挡在你和出口之间，退路被切断。</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氧化碳灭火器同样按提起、拔销、握住、压下的步骤使用，对准火焰根部喷射。喷射时二氧化碳迅速汽化吸热，喇叭筒和金属连接管温度极低，只能握住手柄（或喇叭筒上的隔热把手），不能直接握喇叭筒，以免冻伤。</a:t>
            </a:r>
          </a:p>
          <a:p>
            <a:r>
              <a:t>在狭小房间大量喷放二氧化碳后，氧气被挤走，人留在里面会缺氧窒息（见第 032 课）。灭火后先撤出，关门，充分通风后再进入检查。</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起小火能灭就灭；火势变大、灭火器喷完火未灭、烟雾变浓或退路受到威胁时，立即放弃扑救，招呼所有人撤离，随手关门阻隔火势。撤离时低姿前进、用湿毛巾或衣物捂住口鼻，沿疏散标志走楼梯，不乘电梯。</a:t>
            </a:r>
          </a:p>
          <a:p>
            <a:r>
              <a:t>到安全处后拨打 119，并报告实验室负责人、学院和学校保卫处；到集合点清点人数（疏散逃生见第 036 课）。生命高于财产，不要为了仪器、数据或个人物品返回火场。</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灭火器要定期检查，检查周期和记录方式按 GB 50444（以现行文本为准）和本校规定执行。检查内容：压力表指针在绿区（红区表示压力不足，黄区表示压力过高）；保险销和铅封完好，没有被动过；软管、喷嘴无开裂、老化、堵塞；压把、提把完好；筒体无明显锈蚀、变形；在有效期内，生产日期和维修标签清楚。推车式灭火器还要检查车轮、车架和软管。</a:t>
            </a:r>
          </a:p>
          <a:p>
            <a:r>
              <a:t>检查后在检查卡上签字或记录。发现压力不足、铅封损坏、过期、筒体损坏等问题，报告实验室负责人和学校消防管理部门维修或更换，到报废年限的按规定报废，不要自行拆修。</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灭火器应放在明显、便于取用的位置（如出口旁、走廊），前面不堆放纸箱、仪器等杂物，不被遮挡或锁住，伸手就能拿到。取用时屈膝提起，一手握提把、一手握喷管，避免扭伤腰部；大型推车式灭火器至少两人配合使用。</a:t>
            </a:r>
          </a:p>
          <a:p>
            <a:r>
              <a:t>按照《中华人民共和国消防法》，不得损坏、挪用消防器材，不能把灭火器挪作门挡或搬走。灭火器使用过一次（即使只喷了一点），压力就会下降，要马上报告，送去重新充装或更换。</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答案：B。解析：提起灭火器、拔掉保险销、握住喷管对准火焰根部、压下压把。</a:t>
            </a:r>
          </a:p>
          <a:p>
            <a:r>
              <a:t>第 2 题 答案：C。解析：喷到火焰根部才能扑灭燃烧物，喷火苗顶部灭不了火源。</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答案：B。解析：应背对出口、面向火，退路留在身后，火控制不住时转身就能撤。</a:t>
            </a:r>
          </a:p>
          <a:p>
            <a:r>
              <a:t>第 4 题 答案：A。解析：指针应在绿区；红区表示压力不足，要报告维修或更换。</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答案：B。解析：灭火器喷完火未灭说明已超出初起火灾，应撤离、关门、拨打 119。</a:t>
            </a:r>
          </a:p>
          <a:p>
            <a:r>
              <a:t>第 6 题 答案：能避开有毒烟气吗？背后有逃生路线吗？手里的灭火器对路吗？有一个答不上来就撤离报警。解析：初起小火、退路畅通、灭火器适用，才去扑救。</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火灾与滑倒、坠落一样，是实验室常见的物理事故。酒精灯、加热板等热源离易燃化学品太近，台面就可能着火。</a:t>
            </a:r>
          </a:p>
          <a:p>
            <a:r>
              <a:t>一旦起火，先别慌：大声呼喊，提醒周围的人，让无关人员马上离开；小火而且自己会用器材，才在火势蔓延前扑救；火大或没有把握，立即撤离报警。要知道灭火器、灭火毯和泄漏处理箱在哪里，但没受过培训不要硬上，永远记住生命高于财产。</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发生火灾时，首先抢救正处在火焰、浓烟等直接危险中的人，把他们带离危险区域，然后再考虑扑救和保护财产，即“先救人、后救火”。</a:t>
            </a:r>
          </a:p>
          <a:p>
            <a:r>
              <a:t>救人时也要先保护好自己：看清退路，捂住口鼻，不冲进已经充满浓烟或火势猛烈的房间，这种情况立即报警，由消防救援人员施救。撤离后清点人数，确认没有人被落下，发现有人失踪立即告诉老师和消防救援人员。</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烧杯、烧瓶口或小容器内的溶剂着火，先关闭加热板、电热套等热源并断电，把附近的溶剂瓶移开；再用表面皿、大烧杯、石棉网或合适的盖子扣在容器口上，隔绝空气，火很快就会熄灭（燃烧三角缺了助燃物）。</a:t>
            </a:r>
          </a:p>
          <a:p>
            <a:r>
              <a:t>焊接、切割等动火作业中起火，先停止作业、断电，再用灭火器或灭火毯扑救初起小火。被热容器烫伤时，立即用流动冷水冲洗（烧烫伤急救见第 158 课）；火势扩大拨打 119，有人受伤拨打 120，事后报告实验室负责人。</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灭火毯用耐火材料制成，平时装在墙上的盒子里。使用时双手拉住两条拉带，把毯子拉出，捏住两角，把毯子边缘卷起护住双手，从身前向外、整块盖住着火的托盘、烧杯或小范围的火焰，使火因隔绝空气而熄灭。</a:t>
            </a:r>
          </a:p>
          <a:p>
            <a:r>
              <a:t>盖住后不要马上掀开，等燃烧物冷却后再拿开，否则可能复燃。用过的灭火毯要报告更换。</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可燃气体着火时，如果能安全地关闭气瓶或管道阀门，先关阀切断气源，火会随之熄灭；如果只把火扑灭而不断气，气体继续泄漏，与空气混合后遇火源可能爆炸。关不了阀，立即撤离报警。</a:t>
            </a:r>
          </a:p>
          <a:p>
            <a:r>
              <a:t>通风柜内着火，先把柜门拉下，限制火势和烟气，必要时切断柜内电源；很小的火，受过训练的人才用器材扑救；有的通风柜带有灭火装置，按规定启动。活泼金属着火用干砂覆盖，不能用水；电器着火先断电再灭火（见第 032 课）。</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锅里的食用油着火时，泼水会使高温的油飞溅，形成更大的火。正确做法是先关掉热源，再用锅盖或灭火毯盖住，隔绝空气灭火，盖住后不要马上掀开。</a:t>
            </a:r>
          </a:p>
          <a:p>
            <a:r>
              <a:t>按 GB/T 4968-2008，烹饪器具内的烹饪物火灾属于 F 类火（灭火器选用见第 032 课）。实验室和宿舍严禁违规使用明火、电器做饭。</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明火扑灭后，纸张、织物等燃烧物的余烬仍可能复燃，溶剂和热表面也可能重新引燃。要仔细检查有没有残留的火星和高温物体，确认没有余火后再离开。</a:t>
            </a:r>
          </a:p>
          <a:p>
            <a:r>
              <a:t>即使是自己扑灭的小火，也要报告实验室负责人，查明原因、清理现场、补充用过的灭火器材，必要时按学校规定上报。</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衣服着火时奔跑会带来更多空气，火势更大，火焰还会向上烧到脸部和头发。正确做法是“停、躺、滚”：立即停下，躺倒在地，双手捂住脸，来回翻滚，把火焰压灭。</a:t>
            </a:r>
          </a:p>
          <a:p>
            <a:r>
              <a:t>如果紧急喷淋就在身边，可以直接站到喷淋下冲淋（见 K9）；旁边的人可以用灭火毯帮助压灭火焰（见 K10），火灭后送医。有烟时捂住口鼻、低姿撤离。</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身上着火、附近有紧急喷淋时，立即站到喷淋下，拉下拉杆，让全身都被淋湿，火焰熄灭后继续冲淋降温。紧急喷淋的位置、操作和检查见第 027 课。</a:t>
            </a:r>
          </a:p>
          <a:p>
            <a:r>
              <a:t>请旁边的人拨打 120 急救电话，并报告实验室负责人。被烧伤的部位不要涂抹牙膏、油膏，不要强行撕下粘在皮肤上的衣物（烧伤急救见第 158 课）。</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用灭火毯救衣服着火的人时，不要让他站着裹毯子：站立时火焰向上蹿，毯子会把火和热气引向脸部和头部。应先扶他躺倒，用灭火毯从颈部向下裹住身体，帮助他翻滚，直到火焰熄灭。</a:t>
            </a:r>
          </a:p>
          <a:p>
            <a:r>
              <a:t>火灭后用流动冷水冲洗烧伤部位，拨打 120 送医，并报告实验室负责人和学院。</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初起的小火有把握才扑救。火势扩大、烟雾变浓，或者扑救无效，立即撤离：低姿前进，用湿毛巾或衣物捂住口鼻，随手关门阻隔火势和烟气，沿疏散指示走楼梯，不乘电梯。</a:t>
            </a:r>
          </a:p>
          <a:p>
            <a:r>
              <a:t>到安全地点后拨打 119，有人受伤拨打 120，同时报告实验室负责人、学院和学校保卫处；到集合点清点人数，不返回取物（疏散逃生见第 036 课）。</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微生物等生物实验室起火，除了一般的扑救和撤离要求，还要防止病原扩散：时间允许时盖好样品容器、关闭生物安全柜操作，撤离时随手关门；不要把感染性材料带出实验室。</a:t>
            </a:r>
          </a:p>
          <a:p>
            <a:r>
              <a:t>通过实验室负责人和保卫处告知到场的消防救援人员实验室的位置和生物危害情况，由他们决定处置方式。火灾后由实验室负责人组织评估，消毒去污、检查设施后再恢复使用。</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答案：B。解析：先断热源，再盖住容器口隔绝空气，火即熄灭。</a:t>
            </a:r>
          </a:p>
          <a:p>
            <a:r>
              <a:t>第 2 题 答案：C。解析：奔跑会使火更大；“停、躺、滚”能压灭火焰，附近有紧急喷淋也可冲淋。</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答案：B。解析：站着时火焰向头部蹿，应扶他躺倒、裹住、帮他翻滚。</a:t>
            </a:r>
          </a:p>
          <a:p>
            <a:r>
              <a:t>第 4 题 答案：A。解析：只灭火不断气，泄漏的气体可能爆炸；关不了阀立即撤离报警。</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答案：B。解析：过早掀开可能复燃，等燃烧物冷却后再拿开，并报告负责人。</a:t>
            </a:r>
          </a:p>
          <a:p>
            <a:r>
              <a:t>第 6 题 答案：来得及就盖好样品、关门撤离；不把感染性材料带出；告知消防救援人员生物危害情况；火灾后先评估、去污再恢复使用。解析：防止病原随火灾和撤离扩散。</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进入一个新的实验室或楼层，要向实验室负责人了解这里的火灾报警和应急系统：手动火灾报警按钮、消火栓箱、灭火器、应急喷淋和安全出口在哪里，警报响了该怎么做、到哪里集合。</a:t>
            </a:r>
          </a:p>
          <a:p>
            <a:r>
              <a:t>只看平面图不够，要到现场亲眼看一遍、亲手找到，紧急时才能马上用上。这也是实验室准入培训的内容之一（见第 007 课）。</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动火灾报警按钮是火灾报警系统中最基本的触发装置，安装在走廊、楼梯口、出口附近的墙上。发现火情时，用力按下按钮（有的需要按下或击碎保护片），信号立即送到消防控制室，并启动声光警报，提醒整栋楼的人。</a:t>
            </a:r>
          </a:p>
          <a:p>
            <a:r>
              <a:t>按下报警按钮后，还要拨打 119 并报告保卫处（见第 036 课）。按钮前不得堆放杂物，没有火情不得随意按动。</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火灾自动报警系统由火灾探测器、手动火灾报警按钮、火灾报警控制器、声光警报器等组成。探测器或报警按钮发出的信号，通过专用线路、电话线、光缆或无线方式传到火灾报警控制器（按 GB 4717-2024，以现行文本为准）。</a:t>
            </a:r>
          </a:p>
          <a:p>
            <a:r>
              <a:t>在国内，控制器一般设在消防控制室，由持证人员 24 小时值守。值班人员接到报警后立即核实火情，启动应急处置，并按规定报警。</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火灾探测器是自动报警系统的“眼睛”：感温（定温）探测器在环境温度达到设定值时报警；差温探测器在温度上升速度超过设定值时报警；感烟探测器检测到烟雾颗粒时报警。此外还有感光（火焰）、可燃气体探测器等，按场所特点设置。</a:t>
            </a:r>
          </a:p>
          <a:p>
            <a:r>
              <a:t>实验室加热、烘烤会使温度升高，产生烟雾的操作会触发感烟探测器，所以这类操作要在通风柜内进行，或事先报备（见 K11）。</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烟探测器主要有两类：光电型利用烟雾颗粒对光的散射或遮挡来探测，对冒浓烟、没有明火的阴燃火（如电线、织物闷烧）更灵敏；离子型利用烟雾颗粒改变电离室电流来探测，对燃烧迅速、烟颗粒细小的明火反应更快。</a:t>
            </a:r>
          </a:p>
          <a:p>
            <a:r>
              <a:t>两种探测器各有所长，选用哪一种由设计单位按场所情况确定，使用者不得自行更换或拆除。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动喷水灭火系统的闭式喷头平时封闭，火灾时喷头附近温度升高，玻璃球或易熔元件动作，水直接洒向起火点。它能在火灾初期控制或扑灭火灾，限制烟和热的产生，为人员撤离争取时间，尤其帮助楼上的人员逃生。</a:t>
            </a:r>
          </a:p>
          <a:p>
            <a:r>
              <a:t>每个喷头只能保护有限的面积，多个喷头按设计规范的间距排列，保护区相互覆盖。实验室改造、加隔断、加高货架时，可能使喷头保护不到，必须经学校主管部门审核，不能随便改动。</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自动喷水系统中设有水流指示器和报警阀，管道中一旦有水流动（喷头动作或管道破裂），就会发出报警信号，水力警铃响起。报警装置的设置按国家标准执行。</a:t>
            </a:r>
          </a:p>
          <a:p>
            <a:r>
              <a:t>在可能结冰的场所采用干式系统，管道内平时充有压缩空气而不是水。干式报警阀上方的气压明显低于下方的水压，靠阀门结构保持关闭；喷头一打开，管道内气压下降，水就冲进管道喷出。这部分由专业人员维护，同学们了解原理即可。</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室内消火栓箱设在走廊、楼梯口等处，箱内有消火栓阀门、水带和水枪，有的还有启泵按钮和消防软管卷盘，主要供消防救援人员和受过训练的人员接水带取水灭火。室外消火栓设在建筑周围，有地上式和地下式，按出水口多少分为不同型式。</a:t>
            </a:r>
          </a:p>
          <a:p>
            <a:r>
              <a:t>湿式消火栓栓体内有水，干式消火栓平时没水，用在会结冰的地方。按照《中华人民共和国消防法》，不得埋压、圈占、遮挡消火栓，消火栓箱前不能堆放杂物，箱门不能上锁或被挡住打不开。</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消防水泵接合器设在建筑外墙或附近，火灾时消防车通过它向楼内的消火栓和自动喷水系统加压供水，是高层和大型建筑灭火的重要设施。</a:t>
            </a:r>
          </a:p>
          <a:p>
            <a:r>
              <a:t>水泵接合器和室外消火栓前要留出消防车停靠和连接的空间，不能停车、堆放杂物或被绿化遮挡（消防车通道管理见第 036 课）。</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计算机机房、精密仪器室、档案室等不宜用水的房间，常装有气体灭火系统。系统启动时先发出声光预警，经过一段延时后喷放灭火气体，门口一般设有警示标志和放气指示灯。</a:t>
            </a:r>
          </a:p>
          <a:p>
            <a:r>
              <a:t>听到预警后，房间里的人要在放气前立即撤出并关门；喷放后的房间缺氧或有灭火气体，不能进入，要等专业人员通风、确认安全后再进入。</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喷头上挂衣物、下方堆放过高的物品，会妨碍喷头感温和洒水；用塑料袋、胶带罩住烟感探测器，起火时就无法报警。实验室人员不得遮挡、拆除或擅自停用探测器和喷头。</a:t>
            </a:r>
          </a:p>
          <a:p>
            <a:r>
              <a:t>确实需要进行会产生大量烟雾或高温的操作（如焊接、灼烧），事先向实验室负责人和学校主管部门报备，由专业人员按规定采取措施，操作结束后立即恢复。探测器和喷头由学校定期检查测试，周期按规定执行；发现指示灯异常、喷头损坏或渗漏，立即报修。</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灭火器、配电箱、消火栓、报警按钮和安全出口前都要保持畅通，不准堆放纸箱、仪器、废旧设备，紧急时才能马上取用和撤离。疏散通道和楼梯间不得堆物、停放自行车或电动车。</a:t>
            </a:r>
          </a:p>
          <a:p>
            <a:r>
              <a:t>按照《中华人民共和国消防法》，任何单位和个人不得损坏、挪用或者擅自拆除、停用消防设施和器材，不得占用、堵塞、封闭疏散通道和安全出口。日常安全检查会检查这些内容，发现问题要立即整改。</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楼梯间、走廊上的常闭式防火门平时应保持关闭，起火时把烟和火挡在一侧，保护楼梯间等疏散通道。为了方便通行用纸箱、楔子、灭火器把防火门顶开，起火时烟火就会进入楼梯间，阻断逃生路线。</a:t>
            </a:r>
          </a:p>
          <a:p>
            <a:r>
              <a:t>防火门闭门器损坏、门关不严、门禁故障时，及时报告学校主管部门维修。常开式防火门火灾时会自动关闭，门下方不要放置物品。</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火灾报警控制器接到探测器或报警按钮的信号后，启动楼内的声光警报器（警铃、蜂鸣和闪光），通知人员疏散。警报响起时，立即停止实验，在安全的前提下关闭热源、气源，盖好容器，按疏散路线撤离到集合点（见第 036 课）。</a:t>
            </a:r>
          </a:p>
          <a:p>
            <a:r>
              <a:t>不要以为是误报而继续实验或等着看，是否误报由消防控制室核实后通知。参加学校组织的消防演练，熟悉警报声音和撤离路线。</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答案：B。解析：按下手动报警按钮，信号送到消防控制室并启动声光警报；同时拨打 119。</a:t>
            </a:r>
          </a:p>
          <a:p>
            <a:r>
              <a:t>第 2 题 答案：A。解析：光电型对阴燃产生的大颗粒烟更灵敏，离子型对明火反应更快。</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答案：B。解析：不得遮挡、擅自停用消防设施；确需产烟的操作先报备，由专业人员处理。</a:t>
            </a:r>
          </a:p>
          <a:p>
            <a:r>
              <a:t>第 4 题 答案：B。解析：常闭式防火门平时应关闭，顶开后起火时烟火会进入楼梯间。</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答案：C。解析：喷放后房间缺氧或有灭火气体，放气前必须撤出，喷放后等专业人员处理再进入。</a:t>
            </a:r>
          </a:p>
          <a:p>
            <a:r>
              <a:t>第 6 题 答案：知道位置和用途；不遮挡、不堆物、不损坏、不挪用、不擅自停用；喷头上不挂东西，消火栓箱和报警按钮前不堆物；发现异常及时报修。解析：《中华人民共和国消防法》禁止损坏、挪用、擅自停用消防设施和遮挡消火栓。</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030</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燃烧原理与火灾分类</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第4章 消防安全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54 镜）　适用对象：全体进入高校实验室的本科生、研究生和教职工（必修）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能说出燃烧三角（可燃物、助燃物、点火源）和燃烧四面体（加上链式反应），以及热传导、对流、辐射三种热传递方式。</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能说出冷却、隔离、窒息、化学抑制四种灭火方法，并举出实验室中的例子。</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能按 GB/T 4968-2008 判断 A、B、C、D、E、F 六类火灾，知道金属火不能用水、带电火先断电。</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能判断火灾发展的危险阶段：初起时可扑救，火势扩大或可能轰燃时立即撤离并拨打 119。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《中华人民共和国消防法》（以现行文本为准）：任何人发现火灾都应立即报警，单位应组织扑救初起火灾和疏散人员</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4968-2008（以现行文本为准）《火灾分类》：按可燃物类型和燃烧特性将火灾分为 A、B、C、D、E、F 六类</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4351-2023（以现行文本为准）《手提式灭火器》：灭火器标示适用的火灾类别</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号，以现行文本为准）：实验室消防安全教育和消防器材配备</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高校实验室安全检查项目表（以现行文本为准）：消防安全知识培训和消防器材配置</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本校消防安全管理和火灾应急预案（以本校规定为准）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燃烧是放热发光的化学反应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燃烧是一种剧烈的化学反应</a:t>
            </a:r>
          </a:p>
          <a:p>
            <a:pPr>
              <a:spcAft>
                <a:spcPts val="1000"/>
              </a:spcAft>
            </a:pPr>
            <a:r>
              <a:rPr sz="2000">
                <a:solidFill>
                  <a:srgbClr val="222B33"/>
                </a:solidFill>
                <a:latin typeface="Microsoft YaHei"/>
              </a:rPr>
              <a:t>▪ 可燃物与氧化剂反应，放出热和光</a:t>
            </a:r>
          </a:p>
          <a:p>
            <a:pPr>
              <a:spcAft>
                <a:spcPts val="1000"/>
              </a:spcAft>
            </a:pPr>
            <a:r>
              <a:rPr sz="2000">
                <a:solidFill>
                  <a:srgbClr val="222B33"/>
                </a:solidFill>
                <a:latin typeface="Microsoft YaHei"/>
              </a:rPr>
              <a:t>▪ 热又让反应继续下去</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火（燃烧）是可燃物与氧化剂（通常是空气中的氧）发生的剧烈氧化反应，同时放出热和光。反应放出的热又使更多可燃物达到燃烧所需的温度，燃烧就持续下去。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以为火是一种“物质”，而不是一个反应过程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燃烧三角：可燃物、助燃物、点火源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燃烧要可燃物、助燃物、点火源三样同时具备</a:t>
            </a:r>
          </a:p>
          <a:p>
            <a:pPr>
              <a:spcAft>
                <a:spcPts val="1000"/>
              </a:spcAft>
            </a:pPr>
            <a:r>
              <a:rPr sz="2000">
                <a:solidFill>
                  <a:srgbClr val="222B33"/>
                </a:solidFill>
                <a:latin typeface="Microsoft YaHei"/>
              </a:rPr>
              <a:t>▪ 助燃物最常见的是空气中的氧，氧化剂也能助燃</a:t>
            </a:r>
          </a:p>
          <a:p>
            <a:pPr>
              <a:spcAft>
                <a:spcPts val="1000"/>
              </a:spcAft>
            </a:pPr>
            <a:r>
              <a:rPr sz="2000">
                <a:solidFill>
                  <a:srgbClr val="222B33"/>
                </a:solidFill>
                <a:latin typeface="Microsoft YaHei"/>
              </a:rPr>
              <a:t>▪ 点火源：明火、电火花、热表面等</a:t>
            </a:r>
          </a:p>
          <a:p>
            <a:pPr>
              <a:spcAft>
                <a:spcPts val="1000"/>
              </a:spcAft>
            </a:pPr>
            <a:r>
              <a:rPr sz="2000">
                <a:solidFill>
                  <a:srgbClr val="222B33"/>
                </a:solidFill>
                <a:latin typeface="Microsoft YaHei"/>
              </a:rPr>
              <a:t>▪ 三样缺一不燃，所以溶剂要远离热源</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燃烧需要三个条件同时具备，叫燃烧三角：可燃物（实验室里的有机溶剂、纸张、塑料、木材等）、助燃物（最常见的是空气中的氧气，氧化剂也能提供氧）、点火源（明火、电火花、静电、高温表面、热板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以为没有明火就不会着火，忽视热板和电火花</a:t>
            </a:r>
          </a:p>
          <a:p>
            <a:pPr>
              <a:spcAft>
                <a:spcPts val="1000"/>
              </a:spcAft>
            </a:pPr>
            <a:r>
              <a:rPr sz="1500">
                <a:solidFill>
                  <a:srgbClr val="222B33"/>
                </a:solidFill>
                <a:latin typeface="Microsoft YaHei"/>
              </a:rPr>
              <a:t>▪ 把氧化剂和有机物放在一起</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燃烧四面体：加上链式反应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燃烧三角是较早的说法，只讲三个要素</a:t>
            </a:r>
          </a:p>
          <a:p>
            <a:pPr>
              <a:spcAft>
                <a:spcPts val="1000"/>
              </a:spcAft>
            </a:pPr>
            <a:r>
              <a:rPr sz="2000">
                <a:solidFill>
                  <a:srgbClr val="222B33"/>
                </a:solidFill>
                <a:latin typeface="Microsoft YaHei"/>
              </a:rPr>
              <a:t>▪ 燃烧四面体再加上链式反应</a:t>
            </a:r>
          </a:p>
          <a:p>
            <a:pPr>
              <a:spcAft>
                <a:spcPts val="1000"/>
              </a:spcAft>
            </a:pPr>
            <a:r>
              <a:rPr sz="2000">
                <a:solidFill>
                  <a:srgbClr val="222B33"/>
                </a:solidFill>
                <a:latin typeface="Microsoft YaHei"/>
              </a:rPr>
              <a:t>▪ 反应一环扣一环，火才能持续</a:t>
            </a:r>
          </a:p>
          <a:p>
            <a:pPr>
              <a:spcAft>
                <a:spcPts val="1000"/>
              </a:spcAft>
            </a:pPr>
            <a:r>
              <a:rPr sz="2000">
                <a:solidFill>
                  <a:srgbClr val="222B33"/>
                </a:solidFill>
                <a:latin typeface="Microsoft YaHei"/>
              </a:rPr>
              <a:t>▪ 四个要素缺一个，火就烧不起来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燃烧三角是较早的说法。现在一般用燃烧四面体来解释：除了可燃物、助燃物和点火源（热），燃烧还依赖持续进行的链式反应——反应中产生的活性自由基一环扣一环地传递，使燃烧不断进行。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认为只要有三要素就一定会燃烧，忽视需要持续的反应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热传递三种方式：传导、对流、辐射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传导：热沿着物体从热的一端传到冷的一端</a:t>
            </a:r>
          </a:p>
          <a:p>
            <a:pPr>
              <a:spcAft>
                <a:spcPts val="1000"/>
              </a:spcAft>
            </a:pPr>
            <a:r>
              <a:rPr sz="2000">
                <a:solidFill>
                  <a:srgbClr val="222B33"/>
                </a:solidFill>
                <a:latin typeface="Microsoft YaHei"/>
              </a:rPr>
              <a:t>▪ 对流：热烟气上升，沿天花板扩散</a:t>
            </a:r>
          </a:p>
          <a:p>
            <a:pPr>
              <a:spcAft>
                <a:spcPts val="1000"/>
              </a:spcAft>
            </a:pPr>
            <a:r>
              <a:rPr sz="2000">
                <a:solidFill>
                  <a:srgbClr val="222B33"/>
                </a:solidFill>
                <a:latin typeface="Microsoft YaHei"/>
              </a:rPr>
              <a:t>▪ 辐射：隔着空气也能烤着旁边的东西</a:t>
            </a:r>
          </a:p>
          <a:p>
            <a:pPr>
              <a:spcAft>
                <a:spcPts val="1000"/>
              </a:spcAft>
            </a:pPr>
            <a:r>
              <a:rPr sz="2000">
                <a:solidFill>
                  <a:srgbClr val="222B33"/>
                </a:solidFill>
                <a:latin typeface="Microsoft YaHei"/>
              </a:rPr>
              <a:t>▪ 火靠这三种方式蔓延，可燃物要远离热源</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热传递有三种方式：传导——热通过固体（如金属棒、金属台面、管道）从高温处传到低温处；对流——受热的空气和烟气上升，沿天花板和走廊扩散，把热带到远处；辐射——火焰和高温物体向四周发出热辐射，不接触也能把旁边的可燃物烤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以为隔开一段距离、不接触火焰就不会被引燃</a:t>
            </a:r>
          </a:p>
          <a:p>
            <a:pPr>
              <a:spcAft>
                <a:spcPts val="1000"/>
              </a:spcAft>
            </a:pPr>
            <a:r>
              <a:rPr sz="1500">
                <a:solidFill>
                  <a:srgbClr val="222B33"/>
                </a:solidFill>
                <a:latin typeface="Microsoft YaHei"/>
              </a:rPr>
              <a:t>▪ 把“易熔元件”当成一种热传递方式</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灭火就是拿掉一个要素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灭火，就是拿掉燃烧四面体中的一个要素</a:t>
            </a:r>
          </a:p>
          <a:p>
            <a:pPr>
              <a:spcAft>
                <a:spcPts val="1000"/>
              </a:spcAft>
            </a:pPr>
            <a:r>
              <a:rPr sz="2000">
                <a:solidFill>
                  <a:srgbClr val="222B33"/>
                </a:solidFill>
                <a:latin typeface="Microsoft YaHei"/>
              </a:rPr>
              <a:t>▪ 四种方法：冷却、隔离、窒息、化学抑制</a:t>
            </a:r>
          </a:p>
          <a:p>
            <a:pPr>
              <a:spcAft>
                <a:spcPts val="1000"/>
              </a:spcAft>
            </a:pPr>
            <a:r>
              <a:rPr sz="2000">
                <a:solidFill>
                  <a:srgbClr val="222B33"/>
                </a:solidFill>
                <a:latin typeface="Microsoft YaHei"/>
              </a:rPr>
              <a:t>▪ 去掉任何一项，火就会灭</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既然燃烧要四个要素同时具备，灭火就是去掉其中至少一个：降低温度（冷却法）、去掉可燃物（隔离法）、隔绝氧气（窒息法）、打断链式反应（化学抑制法）。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只知道用水灭火，不了解其他灭火原理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冷却法和隔离法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冷却法：带走热量，如用水</a:t>
            </a:r>
          </a:p>
          <a:p>
            <a:pPr>
              <a:spcAft>
                <a:spcPts val="1000"/>
              </a:spcAft>
            </a:pPr>
            <a:r>
              <a:rPr sz="2000">
                <a:solidFill>
                  <a:srgbClr val="222B33"/>
                </a:solidFill>
                <a:latin typeface="Microsoft YaHei"/>
              </a:rPr>
              <a:t>▪ 隔离法：断掉燃料，如关闭阀门</a:t>
            </a:r>
          </a:p>
          <a:p>
            <a:pPr>
              <a:spcAft>
                <a:spcPts val="1000"/>
              </a:spcAft>
            </a:pPr>
            <a:r>
              <a:rPr sz="2000">
                <a:solidFill>
                  <a:srgbClr val="222B33"/>
                </a:solidFill>
                <a:latin typeface="Microsoft YaHei"/>
              </a:rPr>
              <a:t>▪ 移开旁边的可燃物，也是隔离</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冷却法：用水等灭火剂吸收热量，把燃烧物的温度降到燃点以下，火就熄灭。水适合扑救 A 类固体火，但不能用于金属火和带电设备火。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火边的溶剂瓶不移开，只顾扑火</a:t>
            </a:r>
          </a:p>
          <a:p>
            <a:pPr>
              <a:spcAft>
                <a:spcPts val="1000"/>
              </a:spcAft>
            </a:pPr>
            <a:r>
              <a:rPr sz="1500">
                <a:solidFill>
                  <a:srgbClr val="222B33"/>
                </a:solidFill>
                <a:latin typeface="Microsoft YaHei"/>
              </a:rPr>
              <a:t>▪ 气体泄漏着火时不先关阀门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窒息法和化学抑制法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窒息法：盖住它，隔绝空气</a:t>
            </a:r>
          </a:p>
          <a:p>
            <a:pPr>
              <a:spcAft>
                <a:spcPts val="1000"/>
              </a:spcAft>
            </a:pPr>
            <a:r>
              <a:rPr sz="2000">
                <a:solidFill>
                  <a:srgbClr val="222B33"/>
                </a:solidFill>
                <a:latin typeface="Microsoft YaHei"/>
              </a:rPr>
              <a:t>▪ 灭火毯、盖灯帽、二氧化碳主要是窒息</a:t>
            </a:r>
          </a:p>
          <a:p>
            <a:pPr>
              <a:spcAft>
                <a:spcPts val="1000"/>
              </a:spcAft>
            </a:pPr>
            <a:r>
              <a:rPr sz="2000">
                <a:solidFill>
                  <a:srgbClr val="222B33"/>
                </a:solidFill>
                <a:latin typeface="Microsoft YaHei"/>
              </a:rPr>
              <a:t>▪ 化学抑制：干粉等灭火剂打断链式反应</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窒息法：隔绝或冲淡空气中的氧，使燃烧因缺氧而熄灭。台面上的小火用灭火毯一盖、酒精灯盖上灯帽、二氧化碳灭火器喷出的气体，主要都是窒息作用。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用嘴吹灭酒精灯，而不是盖灯帽</a:t>
            </a:r>
          </a:p>
          <a:p>
            <a:pPr>
              <a:spcAft>
                <a:spcPts val="1000"/>
              </a:spcAft>
            </a:pPr>
            <a:r>
              <a:rPr sz="1500">
                <a:solidFill>
                  <a:srgbClr val="222B33"/>
                </a:solidFill>
                <a:latin typeface="Microsoft YaHei"/>
              </a:rPr>
              <a:t>▪ 以为二氧化碳是靠化学抑制灭火</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火灾按燃烧物分六类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 GB/T 4968-2008，火灾分 A、B、C、D、E、F 六类</a:t>
            </a:r>
          </a:p>
          <a:p>
            <a:pPr>
              <a:spcAft>
                <a:spcPts val="1000"/>
              </a:spcAft>
            </a:pPr>
            <a:r>
              <a:rPr sz="2000">
                <a:solidFill>
                  <a:srgbClr val="222B33"/>
                </a:solidFill>
                <a:latin typeface="Microsoft YaHei"/>
              </a:rPr>
              <a:t>▪ A 固体、B 液体、C 气体</a:t>
            </a:r>
          </a:p>
          <a:p>
            <a:pPr>
              <a:spcAft>
                <a:spcPts val="1000"/>
              </a:spcAft>
            </a:pPr>
            <a:r>
              <a:rPr sz="2000">
                <a:solidFill>
                  <a:srgbClr val="222B33"/>
                </a:solidFill>
                <a:latin typeface="Microsoft YaHei"/>
              </a:rPr>
              <a:t>▪ D 金属、E 带电、F 烹饪油脂</a:t>
            </a:r>
          </a:p>
          <a:p>
            <a:pPr>
              <a:spcAft>
                <a:spcPts val="1000"/>
              </a:spcAft>
            </a:pPr>
            <a:r>
              <a:rPr sz="2000">
                <a:solidFill>
                  <a:srgbClr val="222B33"/>
                </a:solidFill>
                <a:latin typeface="Microsoft YaHei"/>
              </a:rPr>
              <a:t>▪ 国内外分类不同，以国标和灭火器标签为准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我国按 GB/T 4968-2008（以现行文本为准）《火灾分类》，根据可燃物的类型和燃烧特性把火灾分为六类：A 类（固体物质火灾）、B 类（液体或可熔化的固体物质火灾）、C 类（气体火灾）、D 类（金属火灾）、E ……</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把国外资料中的“C 类火”当成带电火</a:t>
            </a:r>
          </a:p>
          <a:p>
            <a:pPr>
              <a:spcAft>
                <a:spcPts val="1000"/>
              </a:spcAft>
            </a:pPr>
            <a:r>
              <a:rPr sz="1500">
                <a:solidFill>
                  <a:srgbClr val="222B33"/>
                </a:solidFill>
                <a:latin typeface="Microsoft YaHei"/>
              </a:rPr>
              <a:t>▪ 不看灭火器标签就随手拿来用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A类：固体物质火灾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A 类：固体物质火灾，燃烧后常有灼热余烬</a:t>
            </a:r>
          </a:p>
          <a:p>
            <a:pPr>
              <a:spcAft>
                <a:spcPts val="1000"/>
              </a:spcAft>
            </a:pPr>
            <a:r>
              <a:rPr sz="2000">
                <a:solidFill>
                  <a:srgbClr val="222B33"/>
                </a:solidFill>
                <a:latin typeface="Microsoft YaHei"/>
              </a:rPr>
              <a:t>▪ 如木材、纸张、棉布等</a:t>
            </a:r>
          </a:p>
          <a:p>
            <a:pPr>
              <a:spcAft>
                <a:spcPts val="1000"/>
              </a:spcAft>
            </a:pPr>
            <a:r>
              <a:rPr sz="2000">
                <a:solidFill>
                  <a:srgbClr val="222B33"/>
                </a:solidFill>
                <a:latin typeface="Microsoft YaHei"/>
              </a:rPr>
              <a:t>▪ 实验室里的纸箱、擦拭纸、包装材料都是</a:t>
            </a:r>
          </a:p>
          <a:p>
            <a:pPr>
              <a:spcAft>
                <a:spcPts val="1000"/>
              </a:spcAft>
            </a:pPr>
            <a:r>
              <a:rPr sz="2000">
                <a:solidFill>
                  <a:srgbClr val="222B33"/>
                </a:solidFill>
                <a:latin typeface="Microsoft YaHei"/>
              </a:rPr>
              <a:t>▪ 可燃杂物别堆在角落，及时清出实验室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A 类火灾是固体物质火灾，这些物质通常是有机物，燃烧时一般能产生灼热的余烬，如木材、纸张、棉、麻、布料等。实验室里的纸箱、擦拭纸、包装泡沫等都是常见的 A 类可燃物。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在实验室角落长期堆放纸箱</a:t>
            </a:r>
          </a:p>
          <a:p>
            <a:pPr>
              <a:spcAft>
                <a:spcPts val="1000"/>
              </a:spcAft>
            </a:pPr>
            <a:r>
              <a:rPr sz="1500">
                <a:solidFill>
                  <a:srgbClr val="222B33"/>
                </a:solidFill>
                <a:latin typeface="Microsoft YaHei"/>
              </a:rPr>
              <a:t>▪ 把废纸、擦拭纸堆在加热设备旁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B类：液体和可熔化固体火灾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B 类：液体或可熔化的固体物质火灾</a:t>
            </a:r>
          </a:p>
          <a:p>
            <a:pPr>
              <a:spcAft>
                <a:spcPts val="1000"/>
              </a:spcAft>
            </a:pPr>
            <a:r>
              <a:rPr sz="2000">
                <a:solidFill>
                  <a:srgbClr val="222B33"/>
                </a:solidFill>
                <a:latin typeface="Microsoft YaHei"/>
              </a:rPr>
              <a:t>▪ 如汽油、乙醇、有机溶剂、油漆</a:t>
            </a:r>
          </a:p>
          <a:p>
            <a:pPr>
              <a:spcAft>
                <a:spcPts val="1000"/>
              </a:spcAft>
            </a:pPr>
            <a:r>
              <a:rPr sz="2000">
                <a:solidFill>
                  <a:srgbClr val="222B33"/>
                </a:solidFill>
                <a:latin typeface="Microsoft YaHei"/>
              </a:rPr>
              <a:t>▪ 石蜡、沥青等可熔化固体也属 B 类</a:t>
            </a:r>
          </a:p>
          <a:p>
            <a:pPr>
              <a:spcAft>
                <a:spcPts val="1000"/>
              </a:spcAft>
            </a:pPr>
            <a:r>
              <a:rPr sz="2000">
                <a:solidFill>
                  <a:srgbClr val="222B33"/>
                </a:solidFill>
                <a:latin typeface="Microsoft YaHei"/>
              </a:rPr>
              <a:t>▪ 实验室溶剂多，B 类火很常见</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B 类火灾是液体或可熔化的固体物质火灾，如汽油、煤油、甲醇、乙醇等有机溶剂和油漆，以及石蜡、沥青等受热会熔化流动的固体。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用水泼燃烧的溶剂</a:t>
            </a:r>
          </a:p>
          <a:p>
            <a:pPr>
              <a:spcAft>
                <a:spcPts val="1000"/>
              </a:spcAft>
            </a:pPr>
            <a:r>
              <a:rPr sz="1500">
                <a:solidFill>
                  <a:srgbClr val="222B33"/>
                </a:solidFill>
                <a:latin typeface="Microsoft YaHei"/>
              </a:rPr>
              <a:t>▪ 认为石蜡是固体，属于 A 类</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C类气体、D类金属火灾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C 类：气体火灾，如甲烷、丙烷、氢气</a:t>
            </a:r>
          </a:p>
          <a:p>
            <a:pPr>
              <a:spcAft>
                <a:spcPts val="1000"/>
              </a:spcAft>
            </a:pPr>
            <a:r>
              <a:rPr sz="2000">
                <a:solidFill>
                  <a:srgbClr val="222B33"/>
                </a:solidFill>
                <a:latin typeface="Microsoft YaHei"/>
              </a:rPr>
              <a:t>▪ D 类：金属火灾，如钾、钠、镁、锂</a:t>
            </a:r>
          </a:p>
          <a:p>
            <a:pPr>
              <a:spcAft>
                <a:spcPts val="1000"/>
              </a:spcAft>
            </a:pPr>
            <a:r>
              <a:rPr sz="2000">
                <a:solidFill>
                  <a:srgbClr val="222B33"/>
                </a:solidFill>
                <a:latin typeface="Microsoft YaHei"/>
              </a:rPr>
              <a:t>▪ 化学实验室里真的会有金属火</a:t>
            </a:r>
          </a:p>
          <a:p>
            <a:pPr>
              <a:spcAft>
                <a:spcPts val="1000"/>
              </a:spcAft>
            </a:pPr>
            <a:r>
              <a:rPr sz="2000">
                <a:solidFill>
                  <a:srgbClr val="222B33"/>
                </a:solidFill>
                <a:latin typeface="Microsoft YaHei"/>
              </a:rPr>
              <a:t>▪ 金属火不能用水，用干砂或专用灭火剂</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C 类火灾是气体火灾，如天然气（甲烷）、丙烷、丁烷、氢气等可燃气体着火。扑救气体火灾的关键是先关闭气源阀门（隔离法），气源未切断时贸然把火扑灭，泄漏的气体可能再次被引燃甚至爆炸（气瓶安全见第11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气体火先扑火，不关气源</a:t>
            </a:r>
          </a:p>
          <a:p>
            <a:pPr>
              <a:spcAft>
                <a:spcPts val="1000"/>
              </a:spcAft>
            </a:pPr>
            <a:r>
              <a:rPr sz="1500">
                <a:solidFill>
                  <a:srgbClr val="222B33"/>
                </a:solidFill>
                <a:latin typeface="Microsoft YaHei"/>
              </a:rPr>
              <a:t>▪ 用水或二氧化碳扑救金属钠着火</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E类带电、F类烹饪油脂火灾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E 类：带电设备火灾</a:t>
            </a:r>
          </a:p>
          <a:p>
            <a:pPr>
              <a:spcAft>
                <a:spcPts val="1000"/>
              </a:spcAft>
            </a:pPr>
            <a:r>
              <a:rPr sz="2000">
                <a:solidFill>
                  <a:srgbClr val="222B33"/>
                </a:solidFill>
                <a:latin typeface="Microsoft YaHei"/>
              </a:rPr>
              <a:t>▪ 先断电；断电后按燃烧物本身处理</a:t>
            </a:r>
          </a:p>
          <a:p>
            <a:pPr>
              <a:spcAft>
                <a:spcPts val="1000"/>
              </a:spcAft>
            </a:pPr>
            <a:r>
              <a:rPr sz="2000">
                <a:solidFill>
                  <a:srgbClr val="222B33"/>
                </a:solidFill>
                <a:latin typeface="Microsoft YaHei"/>
              </a:rPr>
              <a:t>▪ 带电时不能用水和泡沫扑救</a:t>
            </a:r>
          </a:p>
          <a:p>
            <a:pPr>
              <a:spcAft>
                <a:spcPts val="1000"/>
              </a:spcAft>
            </a:pPr>
            <a:r>
              <a:rPr sz="2000">
                <a:solidFill>
                  <a:srgbClr val="222B33"/>
                </a:solidFill>
                <a:latin typeface="Microsoft YaHei"/>
              </a:rPr>
              <a:t>▪ F 类：烹饪器具内的油脂火灾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E 类火灾是物体带电燃烧的火灾，如通电的仪器、配电箱、电线着火。扑救前先切断电源；断电后，火灾就按燃烧物本身的类别（如 A 类、B 类）处理。带电时不能用水和泡沫扑救，以免触电（电气火灾见第 107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仪器着火不断电，直接用水浇</a:t>
            </a:r>
          </a:p>
          <a:p>
            <a:pPr>
              <a:spcAft>
                <a:spcPts val="1000"/>
              </a:spcAft>
            </a:pPr>
            <a:r>
              <a:rPr sz="1500">
                <a:solidFill>
                  <a:srgbClr val="222B33"/>
                </a:solidFill>
                <a:latin typeface="Microsoft YaHei"/>
              </a:rPr>
              <a:t>▪ 油锅着火用水泼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轰燃：火突然布满房间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火越烧越大，热烟积在天花板下</a:t>
            </a:r>
          </a:p>
          <a:p>
            <a:pPr>
              <a:spcAft>
                <a:spcPts val="1000"/>
              </a:spcAft>
            </a:pPr>
            <a:r>
              <a:rPr sz="2000">
                <a:solidFill>
                  <a:srgbClr val="222B33"/>
                </a:solidFill>
                <a:latin typeface="Microsoft YaHei"/>
              </a:rPr>
              <a:t>▪ 房间里的可燃物突然一齐起火，叫轰燃</a:t>
            </a:r>
          </a:p>
          <a:p>
            <a:pPr>
              <a:spcAft>
                <a:spcPts val="1000"/>
              </a:spcAft>
            </a:pPr>
            <a:r>
              <a:rPr sz="2000">
                <a:solidFill>
                  <a:srgbClr val="222B33"/>
                </a:solidFill>
                <a:latin typeface="Microsoft YaHei"/>
              </a:rPr>
              <a:t>▪ 浓烟有毒，比火更快伤人</a:t>
            </a:r>
          </a:p>
          <a:p>
            <a:pPr>
              <a:spcAft>
                <a:spcPts val="1000"/>
              </a:spcAft>
            </a:pPr>
            <a:r>
              <a:rPr sz="2000">
                <a:solidFill>
                  <a:srgbClr val="222B33"/>
                </a:solidFill>
                <a:latin typeface="Microsoft YaHei"/>
              </a:rPr>
              <a:t>▪ 轰燃后很难逃生，必须提前撤离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室内火灾发展时，热烟气在天花板下越积越厚、温度越来越高，通过热辐射烤热整个房间的可燃物；达到一定程度时，房间内的可燃物几乎同时起火，火焰突然布满整个房间，这就是轰燃。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火已经蔓延到天花板，还留在室内扑救</a:t>
            </a:r>
          </a:p>
          <a:p>
            <a:pPr>
              <a:spcAft>
                <a:spcPts val="1000"/>
              </a:spcAft>
            </a:pPr>
            <a:r>
              <a:rPr sz="1500">
                <a:solidFill>
                  <a:srgbClr val="222B33"/>
                </a:solidFill>
                <a:latin typeface="Microsoft YaHei"/>
              </a:rPr>
              <a:t>▪ 认为离火远就安全，忽视浓烟</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初起火灾好扑救，扑不灭就撤离报警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火灾分初起、发展、猛烈、衰减几个阶段</a:t>
            </a:r>
          </a:p>
          <a:p>
            <a:pPr>
              <a:spcAft>
                <a:spcPts val="1000"/>
              </a:spcAft>
            </a:pPr>
            <a:r>
              <a:rPr sz="2000">
                <a:solidFill>
                  <a:srgbClr val="222B33"/>
                </a:solidFill>
                <a:latin typeface="Microsoft YaHei"/>
              </a:rPr>
              <a:t>▪ 初起阶段火势小，是扑救的最好时机</a:t>
            </a:r>
          </a:p>
          <a:p>
            <a:pPr>
              <a:spcAft>
                <a:spcPts val="1000"/>
              </a:spcAft>
            </a:pPr>
            <a:r>
              <a:rPr sz="2000">
                <a:solidFill>
                  <a:srgbClr val="222B33"/>
                </a:solidFill>
                <a:latin typeface="Microsoft YaHei"/>
              </a:rPr>
              <a:t>▪ 扑不灭或火势扩大，立即撤离，拨打 119</a:t>
            </a:r>
          </a:p>
          <a:p>
            <a:pPr>
              <a:spcAft>
                <a:spcPts val="1000"/>
              </a:spcAft>
            </a:pPr>
            <a:r>
              <a:rPr sz="2000">
                <a:solidFill>
                  <a:srgbClr val="222B33"/>
                </a:solidFill>
                <a:latin typeface="Microsoft YaHei"/>
              </a:rPr>
              <a:t>▪ 同时报告实验室负责人和学校保卫处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火灾一般经历初起、发展、猛烈和衰减几个阶段。初起阶段燃烧面积小、温度不高，用灭火器、灭火毯就可能扑灭，是扑救的最好时机。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火势已大仍坚持扑救，错过撤离时机</a:t>
            </a:r>
          </a:p>
          <a:p>
            <a:pPr>
              <a:spcAft>
                <a:spcPts val="1000"/>
              </a:spcAft>
            </a:pPr>
            <a:r>
              <a:rPr sz="1500">
                <a:solidFill>
                  <a:srgbClr val="222B33"/>
                </a:solidFill>
                <a:latin typeface="Microsoft YaHei"/>
              </a:rPr>
              <a:t>▪ 自己扑灭了小火就不报告</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燃烧四面体的四个要素是：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可燃物、助燃物、点火源、链式反应</a:t>
            </a:r>
          </a:p>
          <a:p>
            <a:pPr algn="l"/>
            <a:r>
              <a:rPr sz="1500" b="0">
                <a:solidFill>
                  <a:srgbClr val="222B33"/>
                </a:solidFill>
                <a:latin typeface="Microsoft YaHei"/>
              </a:rPr>
              <a:t>B. 可燃物、水、热、氧气</a:t>
            </a:r>
          </a:p>
          <a:p>
            <a:pPr algn="l"/>
            <a:r>
              <a:rPr sz="1500" b="0">
                <a:solidFill>
                  <a:srgbClr val="222B33"/>
                </a:solidFill>
                <a:latin typeface="Microsoft YaHei"/>
              </a:rPr>
              <a:t>C. 氧气、二氧化碳、热、光</a:t>
            </a:r>
          </a:p>
          <a:p>
            <a:pPr algn="l"/>
            <a:r>
              <a:rPr sz="1500" b="0">
                <a:solidFill>
                  <a:srgbClr val="222B33"/>
                </a:solidFill>
                <a:latin typeface="Microsoft YaHei"/>
              </a:rPr>
              <a:t>D. 可燃物、助燃物、灭火器、热</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用灭火毯盖住台面小火，主要利用的灭火方法是：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冷却法</a:t>
            </a:r>
          </a:p>
          <a:p>
            <a:pPr algn="l"/>
            <a:r>
              <a:rPr sz="1500" b="0">
                <a:solidFill>
                  <a:srgbClr val="222B33"/>
                </a:solidFill>
                <a:latin typeface="Microsoft YaHei"/>
              </a:rPr>
              <a:t>B. 隔离法</a:t>
            </a:r>
          </a:p>
          <a:p>
            <a:pPr algn="l"/>
            <a:r>
              <a:rPr sz="1500" b="0">
                <a:solidFill>
                  <a:srgbClr val="222B33"/>
                </a:solidFill>
                <a:latin typeface="Microsoft YaHei"/>
              </a:rPr>
              <a:t>C. 窒息法</a:t>
            </a:r>
          </a:p>
          <a:p>
            <a:pPr algn="l"/>
            <a:r>
              <a:rPr sz="1500" b="0">
                <a:solidFill>
                  <a:srgbClr val="222B33"/>
                </a:solidFill>
                <a:latin typeface="Microsoft YaHei"/>
              </a:rPr>
              <a:t>D. 化学抑制法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按 GB/T 4968-2008，金属钠着火属于：</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A 类</a:t>
            </a:r>
          </a:p>
          <a:p>
            <a:pPr algn="l"/>
            <a:r>
              <a:rPr sz="1500" b="0">
                <a:solidFill>
                  <a:srgbClr val="222B33"/>
                </a:solidFill>
                <a:latin typeface="Microsoft YaHei"/>
              </a:rPr>
              <a:t>B. B 类</a:t>
            </a:r>
          </a:p>
          <a:p>
            <a:pPr algn="l"/>
            <a:r>
              <a:rPr sz="1500" b="0">
                <a:solidFill>
                  <a:srgbClr val="222B33"/>
                </a:solidFill>
                <a:latin typeface="Microsoft YaHei"/>
              </a:rPr>
              <a:t>C. C 类</a:t>
            </a:r>
          </a:p>
          <a:p>
            <a:pPr algn="l"/>
            <a:r>
              <a:rPr sz="1500" b="0">
                <a:solidFill>
                  <a:srgbClr val="222B33"/>
                </a:solidFill>
                <a:latin typeface="Microsoft YaHei"/>
              </a:rPr>
              <a:t>D. D 类</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判断：按我国火灾分类，C 类火灾是带电设备火灾。</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030 · 燃烧原理与火灾分类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030 燃烧原理与火灾分类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判断：只要不直接接触火焰，旁边的可燃物就不会被引燃。</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简答：什么是轰燃？遇到火势扩大该怎么做？</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燃烧是放热发光的化学反应</a:t>
            </a:r>
          </a:p>
          <a:p>
            <a:pPr>
              <a:spcAft>
                <a:spcPts val="800"/>
              </a:spcAft>
            </a:pPr>
            <a:r>
              <a:rPr sz="1500">
                <a:solidFill>
                  <a:srgbClr val="FFFFFF"/>
                </a:solidFill>
                <a:latin typeface="Microsoft YaHei"/>
              </a:rPr>
              <a:t>▪ K2  燃烧三角：可燃物、助燃物、点火源</a:t>
            </a:r>
          </a:p>
          <a:p>
            <a:pPr>
              <a:spcAft>
                <a:spcPts val="800"/>
              </a:spcAft>
            </a:pPr>
            <a:r>
              <a:rPr sz="1500">
                <a:solidFill>
                  <a:srgbClr val="FFFFFF"/>
                </a:solidFill>
                <a:latin typeface="Microsoft YaHei"/>
              </a:rPr>
              <a:t>▪ K3  燃烧四面体：加上链式反应</a:t>
            </a:r>
          </a:p>
          <a:p>
            <a:pPr>
              <a:spcAft>
                <a:spcPts val="800"/>
              </a:spcAft>
            </a:pPr>
            <a:r>
              <a:rPr sz="1500">
                <a:solidFill>
                  <a:srgbClr val="FFFFFF"/>
                </a:solidFill>
                <a:latin typeface="Microsoft YaHei"/>
              </a:rPr>
              <a:t>▪ K4  热传递三种方式：传导、对流、辐射</a:t>
            </a:r>
          </a:p>
          <a:p>
            <a:pPr>
              <a:spcAft>
                <a:spcPts val="800"/>
              </a:spcAft>
            </a:pPr>
            <a:r>
              <a:rPr sz="1500">
                <a:solidFill>
                  <a:srgbClr val="FFFFFF"/>
                </a:solidFill>
                <a:latin typeface="Microsoft YaHei"/>
              </a:rPr>
              <a:t>▪ K5  灭火就是拿掉一个要素</a:t>
            </a:r>
          </a:p>
          <a:p>
            <a:pPr>
              <a:spcAft>
                <a:spcPts val="800"/>
              </a:spcAft>
            </a:pPr>
            <a:r>
              <a:rPr sz="1500">
                <a:solidFill>
                  <a:srgbClr val="FFFFFF"/>
                </a:solidFill>
                <a:latin typeface="Microsoft YaHei"/>
              </a:rPr>
              <a:t>▪ K6  冷却法和隔离法</a:t>
            </a:r>
          </a:p>
          <a:p>
            <a:pPr>
              <a:spcAft>
                <a:spcPts val="800"/>
              </a:spcAft>
            </a:pPr>
            <a:r>
              <a:rPr sz="1500">
                <a:solidFill>
                  <a:srgbClr val="FFFFFF"/>
                </a:solidFill>
                <a:latin typeface="Microsoft YaHei"/>
              </a:rPr>
              <a:t>▪ K7  窒息法和化学抑制法</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火灾按燃烧物分六类</a:t>
            </a:r>
          </a:p>
          <a:p>
            <a:pPr>
              <a:spcAft>
                <a:spcPts val="800"/>
              </a:spcAft>
            </a:pPr>
            <a:r>
              <a:rPr sz="1500">
                <a:solidFill>
                  <a:srgbClr val="FFFFFF"/>
                </a:solidFill>
                <a:latin typeface="Microsoft YaHei"/>
              </a:rPr>
              <a:t>▪ K9  A类：固体物质火灾</a:t>
            </a:r>
          </a:p>
          <a:p>
            <a:pPr>
              <a:spcAft>
                <a:spcPts val="800"/>
              </a:spcAft>
            </a:pPr>
            <a:r>
              <a:rPr sz="1500">
                <a:solidFill>
                  <a:srgbClr val="FFFFFF"/>
                </a:solidFill>
                <a:latin typeface="Microsoft YaHei"/>
              </a:rPr>
              <a:t>▪ K10  B类：液体和可熔化固体火灾</a:t>
            </a:r>
          </a:p>
          <a:p>
            <a:pPr>
              <a:spcAft>
                <a:spcPts val="800"/>
              </a:spcAft>
            </a:pPr>
            <a:r>
              <a:rPr sz="1500">
                <a:solidFill>
                  <a:srgbClr val="FFFFFF"/>
                </a:solidFill>
                <a:latin typeface="Microsoft YaHei"/>
              </a:rPr>
              <a:t>▪ K11  C类气体、D类金属火灾</a:t>
            </a:r>
          </a:p>
          <a:p>
            <a:pPr>
              <a:spcAft>
                <a:spcPts val="800"/>
              </a:spcAft>
            </a:pPr>
            <a:r>
              <a:rPr sz="1500">
                <a:solidFill>
                  <a:srgbClr val="FFFFFF"/>
                </a:solidFill>
                <a:latin typeface="Microsoft YaHei"/>
              </a:rPr>
              <a:t>▪ K12  E类带电、F类烹饪油脂火灾</a:t>
            </a:r>
          </a:p>
          <a:p>
            <a:pPr>
              <a:spcAft>
                <a:spcPts val="800"/>
              </a:spcAft>
            </a:pPr>
            <a:r>
              <a:rPr sz="1500">
                <a:solidFill>
                  <a:srgbClr val="FFFFFF"/>
                </a:solidFill>
                <a:latin typeface="Microsoft YaHei"/>
              </a:rPr>
              <a:t>▪ K13  轰燃：火突然布满房间</a:t>
            </a:r>
          </a:p>
          <a:p>
            <a:pPr>
              <a:spcAft>
                <a:spcPts val="800"/>
              </a:spcAft>
            </a:pPr>
            <a:r>
              <a:rPr sz="1500">
                <a:solidFill>
                  <a:srgbClr val="FFFFFF"/>
                </a:solidFill>
                <a:latin typeface="Microsoft YaHei"/>
              </a:rPr>
              <a:t>▪ S1  初起火灾好扑救，扑不灭就撤离报警</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实验室火灾的预防</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第4章 消防安全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57 镜）　适用对象：全体进入高校实验室的本科生、研究生和教职工（必修）；使用明火、加热设备和易燃试剂的实验人员重点学习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能说出实验室火灾的危害和单位、个人的消防责任，认清易燃试剂、可燃物和点火源三类隐患。</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能做到实验室严禁吸烟、明火按规定审批，明火少用、人不离开、用灯帽盖灭，酒精消毒后等干再点火。</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能做到易燃物远离热源、台面少放，加热设备不无人值守，高温灯具远离可燃物，私用电热器具不进实验室、插线板不串接。</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能做到及时清走可燃废料，离开前关设备、查水电气、关门窗，过夜运行设备按规定报批挂牌。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《中华人民共和国消防法》（以现行文本为准）：单位和个人的消防安全责任，禁止在具有火灾、爆炸危险的场所吸烟、使用明火</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号，以现行文本为准）：实验室消防安全、用电安全和安全检查要求</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高校实验室安全检查项目表（以现行文本为准）：明火使用、电热设备、插线板、易燃品存放和离开前检查等检查内容</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日起施行）及《危险化学品安全管理条例》（以现行文本为准）：易燃危险化学品的使用安全</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《中华人民共和国安全生产法》（以现行文本为准）：危险作业（如动火作业）的审批和现场安全管理</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本校消防安全管理、动火审批和实验室用电管理规定（以本校规定为准）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实验室火灾不多，但损失大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教学实验室起火不多，但风险很大</a:t>
            </a:r>
          </a:p>
          <a:p>
            <a:pPr>
              <a:spcAft>
                <a:spcPts val="1000"/>
              </a:spcAft>
            </a:pPr>
            <a:r>
              <a:rPr sz="2000">
                <a:solidFill>
                  <a:srgbClr val="222B33"/>
                </a:solidFill>
                <a:latin typeface="Microsoft YaHei"/>
              </a:rPr>
              <a:t>▪ 火灾伤人，烟气往往比火更致命</a:t>
            </a:r>
          </a:p>
          <a:p>
            <a:pPr>
              <a:spcAft>
                <a:spcPts val="1000"/>
              </a:spcAft>
            </a:pPr>
            <a:r>
              <a:rPr sz="2000">
                <a:solidFill>
                  <a:srgbClr val="222B33"/>
                </a:solidFill>
                <a:latin typeface="Microsoft YaHei"/>
              </a:rPr>
              <a:t>▪ 会毁掉仪器、房屋和多年的数据样本</a:t>
            </a:r>
          </a:p>
          <a:p>
            <a:pPr>
              <a:spcAft>
                <a:spcPts val="1000"/>
              </a:spcAft>
            </a:pPr>
            <a:r>
              <a:rPr sz="2000">
                <a:solidFill>
                  <a:srgbClr val="222B33"/>
                </a:solidFill>
                <a:latin typeface="Microsoft YaHei"/>
              </a:rPr>
              <a:t>▪ 化学品散出会污染环境，恢复工作也难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教学实验室发生火灾的次数不多，火通常也不大，但后果可能很严重：首先是伤人——烧伤，以及吸入有毒烟气，烟气往往比火焰更致命；其次，数据、样本和仪器是多年的心血，一场火就可能全部毁掉，实验室房屋和设备的财产损失也很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认为实验室很少着火，不用费心预防</a:t>
            </a:r>
          </a:p>
          <a:p>
            <a:pPr>
              <a:spcAft>
                <a:spcPts val="1000"/>
              </a:spcAft>
            </a:pPr>
            <a:r>
              <a:rPr sz="1500">
                <a:solidFill>
                  <a:srgbClr val="222B33"/>
                </a:solidFill>
                <a:latin typeface="Microsoft YaHei"/>
              </a:rPr>
              <a:t>▪ 只想到烧伤，忽视烟气和科研成果的损失</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消防有法规，人人有责任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实验室防火有消防法，也有学校规定</a:t>
            </a:r>
          </a:p>
          <a:p>
            <a:pPr>
              <a:spcAft>
                <a:spcPts val="1000"/>
              </a:spcAft>
            </a:pPr>
            <a:r>
              <a:rPr sz="2000">
                <a:solidFill>
                  <a:srgbClr val="222B33"/>
                </a:solidFill>
                <a:latin typeface="Microsoft YaHei"/>
              </a:rPr>
              <a:t>▪ 单位和个人都有消防安全责任</a:t>
            </a:r>
          </a:p>
          <a:p>
            <a:pPr>
              <a:spcAft>
                <a:spcPts val="1000"/>
              </a:spcAft>
            </a:pPr>
            <a:r>
              <a:rPr sz="2000">
                <a:solidFill>
                  <a:srgbClr val="222B33"/>
                </a:solidFill>
                <a:latin typeface="Microsoft YaHei"/>
              </a:rPr>
              <a:t>▪ 做好火灾风险评估，识别和管控隐患</a:t>
            </a:r>
          </a:p>
          <a:p>
            <a:pPr>
              <a:spcAft>
                <a:spcPts val="1000"/>
              </a:spcAft>
            </a:pPr>
            <a:r>
              <a:rPr sz="2000">
                <a:solidFill>
                  <a:srgbClr val="222B33"/>
                </a:solidFill>
                <a:latin typeface="Microsoft YaHei"/>
              </a:rPr>
              <a:t>▪ 消防上偷工减料，代价太大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防火有国家法律法规和学校制度的明确要求。按《中华人民共和国消防法》，单位和个人都有维护消防安全、预防火灾的义务；学校、学院和实验室逐级落实消防安全责任，实验室负责人是本实验室安全第一责任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认为消防是保卫处的事，与自己无关</a:t>
            </a:r>
          </a:p>
          <a:p>
            <a:pPr>
              <a:spcAft>
                <a:spcPts val="1000"/>
              </a:spcAft>
            </a:pPr>
            <a:r>
              <a:rPr sz="1500">
                <a:solidFill>
                  <a:srgbClr val="222B33"/>
                </a:solidFill>
                <a:latin typeface="Microsoft YaHei"/>
              </a:rPr>
              <a:t>▪ 消防器材坏了不报修</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认清实验室的火灾隐患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易燃品：乙醇、含醇消毒剂、有机溶剂</a:t>
            </a:r>
          </a:p>
          <a:p>
            <a:pPr>
              <a:spcAft>
                <a:spcPts val="1000"/>
              </a:spcAft>
            </a:pPr>
            <a:r>
              <a:rPr sz="2000">
                <a:solidFill>
                  <a:srgbClr val="222B33"/>
                </a:solidFill>
                <a:latin typeface="Microsoft YaHei"/>
              </a:rPr>
              <a:t>▪ 可燃物：纸张、包装、塑料耗材</a:t>
            </a:r>
          </a:p>
          <a:p>
            <a:pPr>
              <a:spcAft>
                <a:spcPts val="1000"/>
              </a:spcAft>
            </a:pPr>
            <a:r>
              <a:rPr sz="2000">
                <a:solidFill>
                  <a:srgbClr val="222B33"/>
                </a:solidFill>
                <a:latin typeface="Microsoft YaHei"/>
              </a:rPr>
              <a:t>▪ 点火源：明火、电热设备、电火花</a:t>
            </a:r>
          </a:p>
          <a:p>
            <a:pPr>
              <a:spcAft>
                <a:spcPts val="1000"/>
              </a:spcAft>
            </a:pPr>
            <a:r>
              <a:rPr sz="2000">
                <a:solidFill>
                  <a:srgbClr val="222B33"/>
                </a:solidFill>
                <a:latin typeface="Microsoft YaHei"/>
              </a:rPr>
              <a:t>▪ 线路故障、无人看管的明火最常引发火灾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里的火灾隐患主要有三类：易燃品——乙醇、含醇消毒剂和各种有机溶剂；可燃物——纸张、包装材料、塑料耗材等；点火源——酒精灯、燃气灯等明火，加热板、烘箱等电热设备，以及电火花、静电。管理不好，三样凑在一起就会着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只把明火当点火源，忽视电火花和热表面</a:t>
            </a:r>
          </a:p>
          <a:p>
            <a:pPr>
              <a:spcAft>
                <a:spcPts val="1000"/>
              </a:spcAft>
            </a:pPr>
            <a:r>
              <a:rPr sz="1500">
                <a:solidFill>
                  <a:srgbClr val="222B33"/>
                </a:solidFill>
                <a:latin typeface="Microsoft YaHei"/>
              </a:rPr>
              <a:t>▪ 把含醇消毒剂当作普通清洁剂随意放置</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严禁吸烟，明火要审批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实验楼内严禁吸烟</a:t>
            </a:r>
          </a:p>
          <a:p>
            <a:pPr>
              <a:spcAft>
                <a:spcPts val="1000"/>
              </a:spcAft>
            </a:pPr>
            <a:r>
              <a:rPr sz="2000">
                <a:solidFill>
                  <a:srgbClr val="222B33"/>
                </a:solidFill>
                <a:latin typeface="Microsoft YaHei"/>
              </a:rPr>
              <a:t>▪ 只能在学校指定的地点吸烟</a:t>
            </a:r>
          </a:p>
          <a:p>
            <a:pPr>
              <a:spcAft>
                <a:spcPts val="1000"/>
              </a:spcAft>
            </a:pPr>
            <a:r>
              <a:rPr sz="2000">
                <a:solidFill>
                  <a:srgbClr val="222B33"/>
                </a:solidFill>
                <a:latin typeface="Microsoft YaHei"/>
              </a:rPr>
              <a:t>▪ 确需明火，按规定审批、登记、有人值守</a:t>
            </a:r>
          </a:p>
          <a:p>
            <a:pPr>
              <a:spcAft>
                <a:spcPts val="1000"/>
              </a:spcAft>
            </a:pPr>
            <a:r>
              <a:rPr sz="2000">
                <a:solidFill>
                  <a:srgbClr val="222B33"/>
                </a:solidFill>
                <a:latin typeface="Microsoft YaHei"/>
              </a:rPr>
              <a:t>▪ 楼内焊接切割等动火作业必须先审批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火源平时就要管住。实验楼内严禁吸烟，只能在学校指定的吸烟地点吸烟；实验以外不得使用明火。实验确需使用明火的，按本校规定审批、登记，使用时有人值守。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在实验楼楼梯间、卫生间偷偷吸烟</a:t>
            </a:r>
          </a:p>
          <a:p>
            <a:pPr>
              <a:spcAft>
                <a:spcPts val="1000"/>
              </a:spcAft>
            </a:pPr>
            <a:r>
              <a:rPr sz="1500">
                <a:solidFill>
                  <a:srgbClr val="222B33"/>
                </a:solidFill>
                <a:latin typeface="Microsoft YaHei"/>
              </a:rPr>
              <a:t>▪ 装修维修时未办审批就在楼内动火</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明火少用，人不离开，用完盖灭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明火能少用就少用，能用电热就不用明火</a:t>
            </a:r>
          </a:p>
          <a:p>
            <a:pPr>
              <a:spcAft>
                <a:spcPts val="1000"/>
              </a:spcAft>
            </a:pPr>
            <a:r>
              <a:rPr sz="2000">
                <a:solidFill>
                  <a:srgbClr val="222B33"/>
                </a:solidFill>
                <a:latin typeface="Microsoft YaHei"/>
              </a:rPr>
              <a:t>▪ 点火前清走周围易燃物，不用一盏灯点另一盏</a:t>
            </a:r>
          </a:p>
          <a:p>
            <a:pPr>
              <a:spcAft>
                <a:spcPts val="1000"/>
              </a:spcAft>
            </a:pPr>
            <a:r>
              <a:rPr sz="2000">
                <a:solidFill>
                  <a:srgbClr val="222B33"/>
                </a:solidFill>
                <a:latin typeface="Microsoft YaHei"/>
              </a:rPr>
              <a:t>▪ 火开着，人不能离开</a:t>
            </a:r>
          </a:p>
          <a:p>
            <a:pPr>
              <a:spcAft>
                <a:spcPts val="1000"/>
              </a:spcAft>
            </a:pPr>
            <a:r>
              <a:rPr sz="2000">
                <a:solidFill>
                  <a:srgbClr val="222B33"/>
                </a:solidFill>
                <a:latin typeface="Microsoft YaHei"/>
              </a:rPr>
              <a:t>▪ 酒精灯用灯帽盖灭；燃气用完关阀并确认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明火能少用就少用，能用电热设备代替的尽量代替。使用前清走周围的易燃物；点燃酒精灯用火柴或点火器，不要用一盏酒精灯去点另一盏（酒精会洒出起火）。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用嘴吹灭酒精灯</a:t>
            </a:r>
          </a:p>
          <a:p>
            <a:pPr>
              <a:spcAft>
                <a:spcPts val="1000"/>
              </a:spcAft>
            </a:pPr>
            <a:r>
              <a:rPr sz="1500">
                <a:solidFill>
                  <a:srgbClr val="222B33"/>
                </a:solidFill>
                <a:latin typeface="Microsoft YaHei"/>
              </a:rPr>
              <a:t>▪ 点着燃气灯后离开去拿东西</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酒精消毒后，等干了再点火</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喷完酒精消毒台面，先别点火</a:t>
            </a:r>
          </a:p>
          <a:p>
            <a:pPr>
              <a:spcAft>
                <a:spcPts val="1000"/>
              </a:spcAft>
            </a:pPr>
            <a:r>
              <a:rPr sz="2000">
                <a:solidFill>
                  <a:srgbClr val="222B33"/>
                </a:solidFill>
                <a:latin typeface="Microsoft YaHei"/>
              </a:rPr>
              <a:t>▪ 手上酒精没干，别靠近火焰</a:t>
            </a:r>
          </a:p>
          <a:p>
            <a:pPr>
              <a:spcAft>
                <a:spcPts val="1000"/>
              </a:spcAft>
            </a:pPr>
            <a:r>
              <a:rPr sz="2000">
                <a:solidFill>
                  <a:srgbClr val="222B33"/>
                </a:solidFill>
                <a:latin typeface="Microsoft YaHei"/>
              </a:rPr>
              <a:t>▪ 等酒精挥发干了，再点灯</a:t>
            </a:r>
          </a:p>
          <a:p>
            <a:pPr>
              <a:spcAft>
                <a:spcPts val="1000"/>
              </a:spcAft>
            </a:pPr>
            <a:r>
              <a:rPr sz="2000">
                <a:solidFill>
                  <a:srgbClr val="222B33"/>
                </a:solidFill>
                <a:latin typeface="Microsoft YaHei"/>
              </a:rPr>
              <a:t>▪ 添酒精先熄灭、等冷却；易燃清洁剂少量取用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生物实验室常用乙醇消毒，又常用酒精灯，二者结合很容易起火。喷完酒精消毒台面后，先不要点火；手上的含醇消毒液没干，不要靠近火焰。等酒精完全挥发干了，再点灯。</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刚喷完酒精就点酒精灯</a:t>
            </a:r>
          </a:p>
          <a:p>
            <a:pPr>
              <a:spcAft>
                <a:spcPts val="1000"/>
              </a:spcAft>
            </a:pPr>
            <a:r>
              <a:rPr sz="1500">
                <a:solidFill>
                  <a:srgbClr val="222B33"/>
                </a:solidFill>
                <a:latin typeface="Microsoft YaHei"/>
              </a:rPr>
              <a:t>▪ 酒精灯没熄灭就添加酒精</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易燃物远离热源，台面少放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易燃物远离热源，辐射热也能烤着</a:t>
            </a:r>
          </a:p>
          <a:p>
            <a:pPr>
              <a:spcAft>
                <a:spcPts val="1000"/>
              </a:spcAft>
            </a:pPr>
            <a:r>
              <a:rPr sz="2000">
                <a:solidFill>
                  <a:srgbClr val="222B33"/>
                </a:solidFill>
                <a:latin typeface="Microsoft YaHei"/>
              </a:rPr>
              <a:t>▪ 台面少放，多余的放回防火柜</a:t>
            </a:r>
          </a:p>
          <a:p>
            <a:pPr>
              <a:spcAft>
                <a:spcPts val="1000"/>
              </a:spcAft>
            </a:pPr>
            <a:r>
              <a:rPr sz="2000">
                <a:solidFill>
                  <a:srgbClr val="222B33"/>
                </a:solidFill>
                <a:latin typeface="Microsoft YaHei"/>
              </a:rPr>
              <a:t>▪ 不用明火直接加热易燃液体</a:t>
            </a:r>
          </a:p>
          <a:p>
            <a:pPr>
              <a:spcAft>
                <a:spcPts val="1000"/>
              </a:spcAft>
            </a:pPr>
            <a:r>
              <a:rPr sz="2000">
                <a:solidFill>
                  <a:srgbClr val="222B33"/>
                </a:solidFill>
                <a:latin typeface="Microsoft YaHei"/>
              </a:rPr>
              <a:t>▪ 关了的加热板余热还很高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多数实验室火灾是可以预防的。常见的例子：沾了溶剂的纸巾丢在电热板旁，被烤着起火。易燃物要远离热源，即使不接触火焰，热源的辐射热也能烤着旁边的易燃物。台面保持清爽，只放本次用量的易燃试剂，多余的放回易燃品柜（防火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把沾了溶剂的纸巾扔在加热板旁</a:t>
            </a:r>
          </a:p>
          <a:p>
            <a:pPr>
              <a:spcAft>
                <a:spcPts val="1000"/>
              </a:spcAft>
            </a:pPr>
            <a:r>
              <a:rPr sz="1500">
                <a:solidFill>
                  <a:srgbClr val="222B33"/>
                </a:solidFill>
                <a:latin typeface="Microsoft YaHei"/>
              </a:rPr>
              <a:t>▪ 台面上摆着整瓶溶剂，紧挨加热设备</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加热设备不无人值守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就像做饭不能走开，加热时人不离开</a:t>
            </a:r>
          </a:p>
          <a:p>
            <a:pPr>
              <a:spcAft>
                <a:spcPts val="1000"/>
              </a:spcAft>
            </a:pPr>
            <a:r>
              <a:rPr sz="2000">
                <a:solidFill>
                  <a:srgbClr val="222B33"/>
                </a:solidFill>
                <a:latin typeface="Microsoft YaHei"/>
              </a:rPr>
              <a:t>▪ 使用时把易燃试剂移远</a:t>
            </a:r>
          </a:p>
          <a:p>
            <a:pPr>
              <a:spcAft>
                <a:spcPts val="1000"/>
              </a:spcAft>
            </a:pPr>
            <a:r>
              <a:rPr sz="2000">
                <a:solidFill>
                  <a:srgbClr val="222B33"/>
                </a:solidFill>
                <a:latin typeface="Microsoft YaHei"/>
              </a:rPr>
              <a:t>▪ 设好定时器提醒，到点就关</a:t>
            </a:r>
          </a:p>
          <a:p>
            <a:pPr>
              <a:spcAft>
                <a:spcPts val="1000"/>
              </a:spcAft>
            </a:pPr>
            <a:r>
              <a:rPr sz="2000">
                <a:solidFill>
                  <a:srgbClr val="222B33"/>
                </a:solidFill>
                <a:latin typeface="Microsoft YaHei"/>
              </a:rPr>
              <a:t>▪ 人要离开，先断电</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实验室里有不少明火和高温热源。就像在家做饭不能走开一样，加热时人要守在旁边，不能无人值守；使用前把易燃试剂移远。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开着加热板去吃饭</a:t>
            </a:r>
          </a:p>
          <a:p>
            <a:pPr>
              <a:spcAft>
                <a:spcPts val="1000"/>
              </a:spcAft>
            </a:pPr>
            <a:r>
              <a:rPr sz="1500">
                <a:solidFill>
                  <a:srgbClr val="222B33"/>
                </a:solidFill>
                <a:latin typeface="Microsoft YaHei"/>
              </a:rPr>
              <a:t>▪ 以为设备有温控就可以无人看管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高温灯具远离可燃物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高温灯具周围不放纸张和溶剂</a:t>
            </a:r>
          </a:p>
          <a:p>
            <a:pPr>
              <a:spcAft>
                <a:spcPts val="1000"/>
              </a:spcAft>
            </a:pPr>
            <a:r>
              <a:rPr sz="2000">
                <a:solidFill>
                  <a:srgbClr val="222B33"/>
                </a:solidFill>
                <a:latin typeface="Microsoft YaHei"/>
              </a:rPr>
              <a:t>▪ 大功率照明灯要固定牢，远离可燃物</a:t>
            </a:r>
          </a:p>
          <a:p>
            <a:pPr>
              <a:spcAft>
                <a:spcPts val="1000"/>
              </a:spcAft>
            </a:pPr>
            <a:r>
              <a:rPr sz="2000">
                <a:solidFill>
                  <a:srgbClr val="222B33"/>
                </a:solidFill>
                <a:latin typeface="Microsoft YaHei"/>
              </a:rPr>
              <a:t>▪ 换灯先断电，等灯冷却再动手</a:t>
            </a:r>
          </a:p>
          <a:p>
            <a:pPr>
              <a:spcAft>
                <a:spcPts val="1000"/>
              </a:spcAft>
            </a:pPr>
            <a:r>
              <a:rPr sz="2000">
                <a:solidFill>
                  <a:srgbClr val="222B33"/>
                </a:solidFill>
                <a:latin typeface="Microsoft YaHei"/>
              </a:rPr>
              <a:t>▪ 不用手指直接碰石英灯壳</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光源灯、大功率照明灯工作时温度很高，周围不能放纸张、溶剂等可燃物；大功率灯具要固定牢靠，防止倾倒碰到可燃物。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在高温光源上盖纸遮光</a:t>
            </a:r>
          </a:p>
          <a:p>
            <a:pPr>
              <a:spcAft>
                <a:spcPts val="1000"/>
              </a:spcAft>
            </a:pPr>
            <a:r>
              <a:rPr sz="1500">
                <a:solidFill>
                  <a:srgbClr val="222B33"/>
                </a:solidFill>
                <a:latin typeface="Microsoft YaHei"/>
              </a:rPr>
              <a:t>▪ 灯刚关就徒手去换</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私用电器不进实验室，插线板不串接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电水壶、取暖器等私用电热器具不进实验室</a:t>
            </a:r>
          </a:p>
          <a:p>
            <a:pPr>
              <a:spcAft>
                <a:spcPts val="1000"/>
              </a:spcAft>
            </a:pPr>
            <a:r>
              <a:rPr sz="2000">
                <a:solidFill>
                  <a:srgbClr val="222B33"/>
                </a:solidFill>
                <a:latin typeface="Microsoft YaHei"/>
              </a:rPr>
              <a:t>▪ 插线板不串接，不私拉电线</a:t>
            </a:r>
          </a:p>
          <a:p>
            <a:pPr>
              <a:spcAft>
                <a:spcPts val="1000"/>
              </a:spcAft>
            </a:pPr>
            <a:r>
              <a:rPr sz="2000">
                <a:solidFill>
                  <a:srgbClr val="222B33"/>
                </a:solidFill>
                <a:latin typeface="Microsoft YaHei"/>
              </a:rPr>
              <a:t>▪ 用电问题找专业人员处理</a:t>
            </a:r>
          </a:p>
          <a:p>
            <a:pPr>
              <a:spcAft>
                <a:spcPts val="1000"/>
              </a:spcAft>
            </a:pPr>
            <a:r>
              <a:rPr sz="2000">
                <a:solidFill>
                  <a:srgbClr val="222B33"/>
                </a:solidFill>
                <a:latin typeface="Microsoft YaHei"/>
              </a:rPr>
              <a:t>▪ 举办活动的场所同样不私拉电线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电水壶、电暖器、电热毯等私用电热器具功率大，又常靠近可燃物，容易起火；实验室里不得使用，按学校规定管理。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在实验室用电水壶烧水</a:t>
            </a:r>
          </a:p>
          <a:p>
            <a:pPr>
              <a:spcAft>
                <a:spcPts val="1000"/>
              </a:spcAft>
            </a:pPr>
            <a:r>
              <a:rPr sz="1500">
                <a:solidFill>
                  <a:srgbClr val="222B33"/>
                </a:solidFill>
                <a:latin typeface="Microsoft YaHei"/>
              </a:rPr>
              <a:t>▪ 插线板接插线板，挂满设备</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可燃废料和油抹布及时清走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纸箱、木板、油抹布遇火就着</a:t>
            </a:r>
          </a:p>
          <a:p>
            <a:pPr>
              <a:spcAft>
                <a:spcPts val="1000"/>
              </a:spcAft>
            </a:pPr>
            <a:r>
              <a:rPr sz="2000">
                <a:solidFill>
                  <a:srgbClr val="222B33"/>
                </a:solidFill>
                <a:latin typeface="Microsoft YaHei"/>
              </a:rPr>
              <a:t>▪ 油抹布放进带盖铁桶</a:t>
            </a:r>
          </a:p>
          <a:p>
            <a:pPr>
              <a:spcAft>
                <a:spcPts val="1000"/>
              </a:spcAft>
            </a:pPr>
            <a:r>
              <a:rPr sz="2000">
                <a:solidFill>
                  <a:srgbClr val="222B33"/>
                </a:solidFill>
                <a:latin typeface="Microsoft YaHei"/>
              </a:rPr>
              <a:t>▪ 可燃废料及时清走，不堆在设备旁</a:t>
            </a:r>
          </a:p>
          <a:p>
            <a:pPr>
              <a:spcAft>
                <a:spcPts val="1000"/>
              </a:spcAft>
            </a:pPr>
            <a:r>
              <a:rPr sz="2000">
                <a:solidFill>
                  <a:srgbClr val="222B33"/>
                </a:solidFill>
                <a:latin typeface="Microsoft YaHei"/>
              </a:rPr>
              <a:t>▪ 沾化学品的废料按危险废物处置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纸箱、木板、油抹布等可燃废料遇火就着，堆在设备旁和角落就是火灾隐患。沾油的抹布还可能因氧化发热而自燃，要放进带盖的金属桶，并及时清走。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油抹布团成一团丢在角落</a:t>
            </a:r>
          </a:p>
          <a:p>
            <a:pPr>
              <a:spcAft>
                <a:spcPts val="1000"/>
              </a:spcAft>
            </a:pPr>
            <a:r>
              <a:rPr sz="1500">
                <a:solidFill>
                  <a:srgbClr val="222B33"/>
                </a:solidFill>
                <a:latin typeface="Microsoft YaHei"/>
              </a:rPr>
              <a:t>▪ 纸箱攒多了才一起清理</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用完关设备，离开前查水电气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工作结束，关掉设备</a:t>
            </a:r>
          </a:p>
          <a:p>
            <a:pPr>
              <a:spcAft>
                <a:spcPts val="1000"/>
              </a:spcAft>
            </a:pPr>
            <a:r>
              <a:rPr sz="2000">
                <a:solidFill>
                  <a:srgbClr val="222B33"/>
                </a:solidFill>
                <a:latin typeface="Microsoft YaHei"/>
              </a:rPr>
              <a:t>▪ 不需要通电的，拔掉插头</a:t>
            </a:r>
          </a:p>
          <a:p>
            <a:pPr>
              <a:spcAft>
                <a:spcPts val="1000"/>
              </a:spcAft>
            </a:pPr>
            <a:r>
              <a:rPr sz="2000">
                <a:solidFill>
                  <a:srgbClr val="222B33"/>
                </a:solidFill>
                <a:latin typeface="Microsoft YaHei"/>
              </a:rPr>
              <a:t>▪ 离开前查一遍水、电、气</a:t>
            </a:r>
          </a:p>
          <a:p>
            <a:pPr>
              <a:spcAft>
                <a:spcPts val="1000"/>
              </a:spcAft>
            </a:pPr>
            <a:r>
              <a:rPr sz="2000">
                <a:solidFill>
                  <a:srgbClr val="222B33"/>
                </a:solidFill>
                <a:latin typeface="Microsoft YaHei"/>
              </a:rPr>
              <a:t>▪ 关好门窗，关灯锁门再离开</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工作结束，关掉用过的设备；不需要持续通电的，拔掉插头再走。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以为别人会关，自己直接走</a:t>
            </a:r>
          </a:p>
          <a:p>
            <a:pPr>
              <a:spcAft>
                <a:spcPts val="1000"/>
              </a:spcAft>
            </a:pPr>
            <a:r>
              <a:rPr sz="1500">
                <a:solidFill>
                  <a:srgbClr val="222B33"/>
                </a:solidFill>
                <a:latin typeface="Microsoft YaHei"/>
              </a:rPr>
              <a:t>▪ 只关灯，不查加热设备和燃气阀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过夜运行要报批，挂牌留联系方式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设备需要过夜或长时间运行，先按规定报批</a:t>
            </a:r>
          </a:p>
          <a:p>
            <a:pPr>
              <a:spcAft>
                <a:spcPts val="1000"/>
              </a:spcAft>
            </a:pPr>
            <a:r>
              <a:rPr sz="2000">
                <a:solidFill>
                  <a:srgbClr val="222B33"/>
                </a:solidFill>
                <a:latin typeface="Microsoft YaHei"/>
              </a:rPr>
              <a:t>▪ 设备旁挂牌，写明运行情况和联系人</a:t>
            </a:r>
          </a:p>
          <a:p>
            <a:pPr>
              <a:spcAft>
                <a:spcPts val="1000"/>
              </a:spcAft>
            </a:pPr>
            <a:r>
              <a:rPr sz="2000">
                <a:solidFill>
                  <a:srgbClr val="222B33"/>
                </a:solidFill>
                <a:latin typeface="Microsoft YaHei"/>
              </a:rPr>
              <a:t>▪ 采取超温保护等安全措施</a:t>
            </a:r>
          </a:p>
          <a:p>
            <a:pPr>
              <a:spcAft>
                <a:spcPts val="1000"/>
              </a:spcAft>
            </a:pPr>
            <a:r>
              <a:rPr sz="2000">
                <a:solidFill>
                  <a:srgbClr val="222B33"/>
                </a:solidFill>
                <a:latin typeface="Microsoft YaHei"/>
              </a:rPr>
              <a:t>▪ 未经批准，加热设备不过夜运行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有些实验需要设备过夜或长时间运行。要先按本校规定报批，确认设备状态良好、周围没有可燃物、有超温或断电保护等安全措施。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不报批就让烘箱过夜运行</a:t>
            </a:r>
          </a:p>
          <a:p>
            <a:pPr>
              <a:spcAft>
                <a:spcPts val="1000"/>
              </a:spcAft>
            </a:pPr>
            <a:r>
              <a:rPr sz="1500">
                <a:solidFill>
                  <a:srgbClr val="222B33"/>
                </a:solidFill>
                <a:latin typeface="Microsoft YaHei"/>
              </a:rPr>
              <a:t>▪ 设备旁没有联系人信息，出了问题找不到人</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下列做法中，正确的是：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用一盏酒精灯去点另一盏</a:t>
            </a:r>
          </a:p>
          <a:p>
            <a:pPr algn="l"/>
            <a:r>
              <a:rPr sz="1500" b="0">
                <a:solidFill>
                  <a:srgbClr val="222B33"/>
                </a:solidFill>
                <a:latin typeface="Microsoft YaHei"/>
              </a:rPr>
              <a:t>B. 用嘴吹灭酒精灯</a:t>
            </a:r>
          </a:p>
          <a:p>
            <a:pPr algn="l"/>
            <a:r>
              <a:rPr sz="1500" b="0">
                <a:solidFill>
                  <a:srgbClr val="222B33"/>
                </a:solidFill>
                <a:latin typeface="Microsoft YaHei"/>
              </a:rPr>
              <a:t>C. 用灯帽盖灭酒精灯</a:t>
            </a:r>
          </a:p>
          <a:p>
            <a:pPr algn="l"/>
            <a:r>
              <a:rPr sz="1500" b="0">
                <a:solidFill>
                  <a:srgbClr val="222B33"/>
                </a:solidFill>
                <a:latin typeface="Microsoft YaHei"/>
              </a:rPr>
              <a:t>D. 酒精灯没熄灭就添加酒精</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判断：喷完酒精消毒台面后，可以马上点燃酒精灯进行无菌操作。</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实验室中关于加热设备，正确的做法是：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开着加热板去吃饭</a:t>
            </a:r>
          </a:p>
          <a:p>
            <a:pPr algn="l"/>
            <a:r>
              <a:rPr sz="1500" b="0">
                <a:solidFill>
                  <a:srgbClr val="222B33"/>
                </a:solidFill>
                <a:latin typeface="Microsoft YaHei"/>
              </a:rPr>
              <a:t>B. 加热时人不离开，离开前断电</a:t>
            </a:r>
          </a:p>
          <a:p>
            <a:pPr algn="l"/>
            <a:r>
              <a:rPr sz="1500" b="0">
                <a:solidFill>
                  <a:srgbClr val="222B33"/>
                </a:solidFill>
                <a:latin typeface="Microsoft YaHei"/>
              </a:rPr>
              <a:t>C. 设备有温控就可以无人看管</a:t>
            </a:r>
          </a:p>
          <a:p>
            <a:pPr algn="l"/>
            <a:r>
              <a:rPr sz="1500" b="0">
                <a:solidFill>
                  <a:srgbClr val="222B33"/>
                </a:solidFill>
                <a:latin typeface="Microsoft YaHei"/>
              </a:rPr>
              <a:t>D. 在加热板旁放溶剂瓶方便取用</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判断：在实验室里可以使用自带的电水壶，只要用完拔掉插头。</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031 · 实验室火灾的预防</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031 实验室火灾的预防</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每天最后离开实验室时应做的是：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只关灯</a:t>
            </a:r>
          </a:p>
          <a:p>
            <a:pPr algn="l"/>
            <a:r>
              <a:rPr sz="1500" b="0">
                <a:solidFill>
                  <a:srgbClr val="222B33"/>
                </a:solidFill>
                <a:latin typeface="Microsoft YaHei"/>
              </a:rPr>
              <a:t>B. 关设备、拔不需要通电的插头，检查水、电、气，关好门窗再锁门</a:t>
            </a:r>
          </a:p>
          <a:p>
            <a:pPr algn="l"/>
            <a:r>
              <a:rPr sz="1500" b="0">
                <a:solidFill>
                  <a:srgbClr val="222B33"/>
                </a:solidFill>
                <a:latin typeface="Microsoft YaHei"/>
              </a:rPr>
              <a:t>C. 留着设备方便第二天用</a:t>
            </a:r>
          </a:p>
          <a:p>
            <a:pPr algn="l"/>
            <a:r>
              <a:rPr sz="1500" b="0">
                <a:solidFill>
                  <a:srgbClr val="222B33"/>
                </a:solidFill>
                <a:latin typeface="Microsoft YaHei"/>
              </a:rPr>
              <a:t>D. 交给保洁人员检查</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简答：实验室常见的三类火灾隐患是什么？各举一例。</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实验室火灾不多，但损失大</a:t>
            </a:r>
          </a:p>
          <a:p>
            <a:pPr>
              <a:spcAft>
                <a:spcPts val="800"/>
              </a:spcAft>
            </a:pPr>
            <a:r>
              <a:rPr sz="1500">
                <a:solidFill>
                  <a:srgbClr val="FFFFFF"/>
                </a:solidFill>
                <a:latin typeface="Microsoft YaHei"/>
              </a:rPr>
              <a:t>▪ K2  消防有法规，人人有责任</a:t>
            </a:r>
          </a:p>
          <a:p>
            <a:pPr>
              <a:spcAft>
                <a:spcPts val="800"/>
              </a:spcAft>
            </a:pPr>
            <a:r>
              <a:rPr sz="1500">
                <a:solidFill>
                  <a:srgbClr val="FFFFFF"/>
                </a:solidFill>
                <a:latin typeface="Microsoft YaHei"/>
              </a:rPr>
              <a:t>▪ K3  认清实验室的火灾隐患</a:t>
            </a:r>
          </a:p>
          <a:p>
            <a:pPr>
              <a:spcAft>
                <a:spcPts val="800"/>
              </a:spcAft>
            </a:pPr>
            <a:r>
              <a:rPr sz="1500">
                <a:solidFill>
                  <a:srgbClr val="FFFFFF"/>
                </a:solidFill>
                <a:latin typeface="Microsoft YaHei"/>
              </a:rPr>
              <a:t>▪ K4  严禁吸烟，明火要审批</a:t>
            </a:r>
          </a:p>
          <a:p>
            <a:pPr>
              <a:spcAft>
                <a:spcPts val="800"/>
              </a:spcAft>
            </a:pPr>
            <a:r>
              <a:rPr sz="1500">
                <a:solidFill>
                  <a:srgbClr val="FFFFFF"/>
                </a:solidFill>
                <a:latin typeface="Microsoft YaHei"/>
              </a:rPr>
              <a:t>▪ K5  明火少用，人不离开，用完盖灭</a:t>
            </a:r>
          </a:p>
          <a:p>
            <a:pPr>
              <a:spcAft>
                <a:spcPts val="800"/>
              </a:spcAft>
            </a:pPr>
            <a:r>
              <a:rPr sz="1500">
                <a:solidFill>
                  <a:srgbClr val="FFFFFF"/>
                </a:solidFill>
                <a:latin typeface="Microsoft YaHei"/>
              </a:rPr>
              <a:t>▪ K6  酒精消毒后，等干了再点火</a:t>
            </a:r>
          </a:p>
          <a:p>
            <a:pPr>
              <a:spcAft>
                <a:spcPts val="800"/>
              </a:spcAft>
            </a:pPr>
            <a:r>
              <a:rPr sz="1500">
                <a:solidFill>
                  <a:srgbClr val="FFFFFF"/>
                </a:solidFill>
                <a:latin typeface="Microsoft YaHei"/>
              </a:rPr>
              <a:t>▪ K7  易燃物远离热源，台面少放</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加热设备不无人值守</a:t>
            </a:r>
          </a:p>
          <a:p>
            <a:pPr>
              <a:spcAft>
                <a:spcPts val="800"/>
              </a:spcAft>
            </a:pPr>
            <a:r>
              <a:rPr sz="1500">
                <a:solidFill>
                  <a:srgbClr val="FFFFFF"/>
                </a:solidFill>
                <a:latin typeface="Microsoft YaHei"/>
              </a:rPr>
              <a:t>▪ K9  高温灯具远离可燃物</a:t>
            </a:r>
          </a:p>
          <a:p>
            <a:pPr>
              <a:spcAft>
                <a:spcPts val="800"/>
              </a:spcAft>
            </a:pPr>
            <a:r>
              <a:rPr sz="1500">
                <a:solidFill>
                  <a:srgbClr val="FFFFFF"/>
                </a:solidFill>
                <a:latin typeface="Microsoft YaHei"/>
              </a:rPr>
              <a:t>▪ K10  私用电器不进实验室，插线板不串接</a:t>
            </a:r>
          </a:p>
          <a:p>
            <a:pPr>
              <a:spcAft>
                <a:spcPts val="800"/>
              </a:spcAft>
            </a:pPr>
            <a:r>
              <a:rPr sz="1500">
                <a:solidFill>
                  <a:srgbClr val="FFFFFF"/>
                </a:solidFill>
                <a:latin typeface="Microsoft YaHei"/>
              </a:rPr>
              <a:t>▪ K11  可燃废料和油抹布及时清走</a:t>
            </a:r>
          </a:p>
          <a:p>
            <a:pPr>
              <a:spcAft>
                <a:spcPts val="800"/>
              </a:spcAft>
            </a:pPr>
            <a:r>
              <a:rPr sz="1500">
                <a:solidFill>
                  <a:srgbClr val="FFFFFF"/>
                </a:solidFill>
                <a:latin typeface="Microsoft YaHei"/>
              </a:rPr>
              <a:t>▪ K12  用完关设备，离开前查水电气</a:t>
            </a:r>
          </a:p>
          <a:p>
            <a:pPr>
              <a:spcAft>
                <a:spcPts val="800"/>
              </a:spcAft>
            </a:pPr>
            <a:r>
              <a:rPr sz="1500">
                <a:solidFill>
                  <a:srgbClr val="FFFFFF"/>
                </a:solidFill>
                <a:latin typeface="Microsoft YaHei"/>
              </a:rPr>
              <a:t>▪ S1  过夜运行要报批，挂牌留联系方式</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032</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灭火器的种类与选用</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第4章 消防安全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60 镜）　适用对象：全体进入高校实验室的本科生、研究生和教职工（必修）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能说出水基型、泡沫、干粉（ABC 型、BC 型）、二氧化碳和金属火专用灭火器的灭火原理和适用火灾类别。</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能做到先判断火灾类别、再看灭火器铭牌选用，不用水扑救易燃液体火、带电设备火、金属火和油锅火。</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能说出二氧化碳灭火器防冻伤、在狭小房间使用防窒息的要求。</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能做到进入实验室先确认灭火器的位置和种类，火势控制不住时立即撤离并拨打 119。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《中华人民共和国消防法》（以现行文本为准）：单位按标准配置消防器材，任何人发现火灾都应立即报警</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4351-2023（以现行文本为准）《手提式灭火器》：灭火器按灭火剂分类，铭牌标明适用的火灾类别</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4968-2008（以现行文本为准）《火灾分类》：A、B、C、D、E、F 六类火灾</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50140（以现行文本为准）《建筑灭火器配置设计规范》：按场所火灾种类和危险等级配置灭火器</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《消耗臭氧层物质管理条例》（以现行文本为准）：哈龙等消耗臭氧层物质的淘汰与管理</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号，以现行文本为准）：实验室消防器材配备和消防安全教育</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高校实验室安全检查项目表（以现行文本为准）：灭火器配置与人员会用消防器材</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本校消防安全管理规定和火灾应急预案（以本校规定为准）</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没有万能灭火器，按火灾类别选</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灭火器有好几种，没有能灭所有火的</a:t>
            </a:r>
          </a:p>
          <a:p>
            <a:pPr>
              <a:spcAft>
                <a:spcPts val="1000"/>
              </a:spcAft>
            </a:pPr>
            <a:r>
              <a:rPr sz="2000">
                <a:solidFill>
                  <a:srgbClr val="222B33"/>
                </a:solidFill>
                <a:latin typeface="Microsoft YaHei"/>
              </a:rPr>
              <a:t>▪ 铭牌标明灭火剂和适用的火灾类别</a:t>
            </a:r>
          </a:p>
          <a:p>
            <a:pPr>
              <a:spcAft>
                <a:spcPts val="1000"/>
              </a:spcAft>
            </a:pPr>
            <a:r>
              <a:rPr sz="2000">
                <a:solidFill>
                  <a:srgbClr val="222B33"/>
                </a:solidFill>
                <a:latin typeface="Microsoft YaHei"/>
              </a:rPr>
              <a:t>▪ 国内按国标和铭牌选用，不靠外壳颜色认</a:t>
            </a:r>
          </a:p>
          <a:p>
            <a:pPr>
              <a:spcAft>
                <a:spcPts val="1000"/>
              </a:spcAft>
            </a:pPr>
            <a:r>
              <a:rPr sz="2000">
                <a:solidFill>
                  <a:srgbClr val="222B33"/>
                </a:solidFill>
                <a:latin typeface="Microsoft YaHei"/>
              </a:rPr>
              <a:t>▪ 先判断火灾类别，再选灭火器，用错火可能更大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 GB 4351-2023（以现行文本为准），手提式灭火器按充装的灭火剂分为水基型（含清水、泡沫等）、干粉型、二氧化碳、洁净气体等类型，另有扑救金属火的专用灭火器。每种灭火器只适用于某几类火灾，没有哪一种能扑灭所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随手拿一具灭火器就喷，不看适用类别</a:t>
            </a:r>
          </a:p>
          <a:p>
            <a:pPr>
              <a:spcAft>
                <a:spcPts val="1000"/>
              </a:spcAft>
            </a:pPr>
            <a:r>
              <a:rPr sz="1500">
                <a:solidFill>
                  <a:srgbClr val="222B33"/>
                </a:solidFill>
                <a:latin typeface="Microsoft YaHei"/>
              </a:rPr>
              <a:t>▪ 照搬国外资料的颜色和字母分类</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水基型灭火器：靠冷却，扑A类火</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水基型灭火器主要靠冷却降温灭火</a:t>
            </a:r>
          </a:p>
          <a:p>
            <a:pPr>
              <a:spcAft>
                <a:spcPts val="1000"/>
              </a:spcAft>
            </a:pPr>
            <a:r>
              <a:rPr sz="2000">
                <a:solidFill>
                  <a:srgbClr val="222B33"/>
                </a:solidFill>
                <a:latin typeface="Microsoft YaHei"/>
              </a:rPr>
              <a:t>▪ 适合 A 类火：木头、纸张、布料</a:t>
            </a:r>
          </a:p>
          <a:p>
            <a:pPr>
              <a:spcAft>
                <a:spcPts val="1000"/>
              </a:spcAft>
            </a:pPr>
            <a:r>
              <a:rPr sz="2000">
                <a:solidFill>
                  <a:srgbClr val="222B33"/>
                </a:solidFill>
                <a:latin typeface="Microsoft YaHei"/>
              </a:rPr>
              <a:t>▪ 带电、油锅、气体火不用水型</a:t>
            </a:r>
          </a:p>
          <a:p>
            <a:pPr>
              <a:spcAft>
                <a:spcPts val="1000"/>
              </a:spcAft>
            </a:pPr>
            <a:r>
              <a:rPr sz="2000">
                <a:solidFill>
                  <a:srgbClr val="222B33"/>
                </a:solidFill>
                <a:latin typeface="Microsoft YaHei"/>
              </a:rPr>
              <a:t>▪ 个别型号可扑带电火，以铭牌标注为准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水型（清水型）灭火器喷出的水吸收大量热量，把燃烧物温度降到燃点以下，主要用于扑救 A 类固体物质火灾，如木材、纸张、棉布等普通可燃物着火。A 类火也可以用 ABC 干粉灭火器扑救。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用水型灭火器扑救溶剂火或带电设备火</a:t>
            </a:r>
          </a:p>
          <a:p>
            <a:pPr>
              <a:spcAft>
                <a:spcPts val="1000"/>
              </a:spcAft>
            </a:pPr>
            <a:r>
              <a:rPr sz="1500">
                <a:solidFill>
                  <a:srgbClr val="222B33"/>
                </a:solidFill>
                <a:latin typeface="Microsoft YaHei"/>
              </a:rPr>
              <a:t>▪ 不看铭牌，以为水基型都能扑电器火</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泡沫灭火器：扑固体和液体火</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泡沫覆盖液面，隔绝空气并冷却</a:t>
            </a:r>
          </a:p>
          <a:p>
            <a:pPr>
              <a:spcAft>
                <a:spcPts val="1000"/>
              </a:spcAft>
            </a:pPr>
            <a:r>
              <a:rPr sz="2000">
                <a:solidFill>
                  <a:srgbClr val="222B33"/>
                </a:solidFill>
                <a:latin typeface="Microsoft YaHei"/>
              </a:rPr>
              <a:t>▪ 适合 A 类固体火和 B 类液体火</a:t>
            </a:r>
          </a:p>
          <a:p>
            <a:pPr>
              <a:spcAft>
                <a:spcPts val="1000"/>
              </a:spcAft>
            </a:pPr>
            <a:r>
              <a:rPr sz="2000">
                <a:solidFill>
                  <a:srgbClr val="222B33"/>
                </a:solidFill>
                <a:latin typeface="Microsoft YaHei"/>
              </a:rPr>
              <a:t>▪ 汽油、油类等易燃液体火，选标有 B 类的灭火器</a:t>
            </a:r>
          </a:p>
          <a:p>
            <a:pPr>
              <a:spcAft>
                <a:spcPts val="1000"/>
              </a:spcAft>
            </a:pPr>
            <a:r>
              <a:rPr sz="2000">
                <a:solidFill>
                  <a:srgbClr val="222B33"/>
                </a:solidFill>
                <a:latin typeface="Microsoft YaHei"/>
              </a:rPr>
              <a:t>▪ 泡沫含水，带电火和金属火不能用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泡沫灭火器喷出的泡沫覆盖在燃烧物表面，隔绝空气（窒息），泡沫中的水又能冷却，主要用于扑救 B 类易燃液体火（如汽油、油类、部分有机溶剂），也可扑救 A 类固体火。扑救液体火时选用铭牌标有 B 类的灭火器。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用泡沫灭火器扑救带电设备火</a:t>
            </a:r>
          </a:p>
          <a:p>
            <a:pPr>
              <a:spcAft>
                <a:spcPts val="1000"/>
              </a:spcAft>
            </a:pPr>
            <a:r>
              <a:rPr sz="1500">
                <a:solidFill>
                  <a:srgbClr val="222B33"/>
                </a:solidFill>
                <a:latin typeface="Microsoft YaHei"/>
              </a:rPr>
              <a:t>▪ 以为泡沫能扑一切液体火，不看是否标明适用</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液体火、带电火不能用水泼</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溶剂着火泼水，火会随水流蔓延</a:t>
            </a:r>
          </a:p>
          <a:p>
            <a:pPr>
              <a:spcAft>
                <a:spcPts val="1000"/>
              </a:spcAft>
            </a:pPr>
            <a:r>
              <a:rPr sz="2000">
                <a:solidFill>
                  <a:srgbClr val="222B33"/>
                </a:solidFill>
                <a:latin typeface="Microsoft YaHei"/>
              </a:rPr>
              <a:t>▪ 电器着火泼水，可能触电</a:t>
            </a:r>
          </a:p>
          <a:p>
            <a:pPr>
              <a:spcAft>
                <a:spcPts val="1000"/>
              </a:spcAft>
            </a:pPr>
            <a:r>
              <a:rPr sz="2000">
                <a:solidFill>
                  <a:srgbClr val="222B33"/>
                </a:solidFill>
                <a:latin typeface="Microsoft YaHei"/>
              </a:rPr>
              <a:t>▪ 燃油、溶剂小火用干粉、二氧化碳或灭火毯</a:t>
            </a:r>
          </a:p>
          <a:p>
            <a:pPr>
              <a:spcAft>
                <a:spcPts val="1000"/>
              </a:spcAft>
            </a:pPr>
            <a:r>
              <a:rPr sz="2000">
                <a:solidFill>
                  <a:srgbClr val="222B33"/>
                </a:solidFill>
                <a:latin typeface="Microsoft YaHei"/>
              </a:rPr>
              <a:t>▪ 带电设备着火先断电再扑救</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多数有机溶剂和燃油比水轻、不溶于水，泼水后燃烧的液体浮在水面上随水流散开，火势反而蔓延；水还导电，泼向带电设备会使扑救者触电。</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端起水杯、水盆泼向溶剂火</a:t>
            </a:r>
          </a:p>
          <a:p>
            <a:pPr>
              <a:spcAft>
                <a:spcPts val="1000"/>
              </a:spcAft>
            </a:pPr>
            <a:r>
              <a:rPr sz="1500">
                <a:solidFill>
                  <a:srgbClr val="222B33"/>
                </a:solidFill>
                <a:latin typeface="Microsoft YaHei"/>
              </a:rPr>
              <a:t>▪ 不断电就扑救电器火</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干粉灭火器：ABC型和BC型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干粉打断燃烧的链式反应，灭火快</a:t>
            </a:r>
          </a:p>
          <a:p>
            <a:pPr>
              <a:spcAft>
                <a:spcPts val="1000"/>
              </a:spcAft>
            </a:pPr>
            <a:r>
              <a:rPr sz="2000">
                <a:solidFill>
                  <a:srgbClr val="222B33"/>
                </a:solidFill>
                <a:latin typeface="Microsoft YaHei"/>
              </a:rPr>
              <a:t>▪ ABC 干粉：固体、液体、气体火都能灭</a:t>
            </a:r>
          </a:p>
          <a:p>
            <a:pPr>
              <a:spcAft>
                <a:spcPts val="1000"/>
              </a:spcAft>
            </a:pPr>
            <a:r>
              <a:rPr sz="2000">
                <a:solidFill>
                  <a:srgbClr val="222B33"/>
                </a:solidFill>
                <a:latin typeface="Microsoft YaHei"/>
              </a:rPr>
              <a:t>▪ BC 干粉扑固体火易复燃</a:t>
            </a:r>
          </a:p>
          <a:p>
            <a:pPr>
              <a:spcAft>
                <a:spcPts val="1000"/>
              </a:spcAft>
            </a:pPr>
            <a:r>
              <a:rPr sz="2000">
                <a:solidFill>
                  <a:srgbClr val="222B33"/>
                </a:solidFill>
                <a:latin typeface="Microsoft YaHei"/>
              </a:rPr>
              <a:t>▪ 可扑带电初起火，缺点是粉末会损坏仪器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干粉灭火器喷出的干粉主要通过化学抑制（打断燃烧的链式反应）灭火，灭火速度快。按适用火灾分为 ABC 干粉（磷酸铵盐类）和 BC 干粉（碳酸氢钠类）：ABC 干粉可扑救 A 类固体、B 类液体、C 类气体火；BC 干粉……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以为所有干粉灭火器都能扑固体火，不分 ABC 和 BC</a:t>
            </a:r>
          </a:p>
          <a:p>
            <a:pPr>
              <a:spcAft>
                <a:spcPts val="1000"/>
              </a:spcAft>
            </a:pPr>
            <a:r>
              <a:rPr sz="1500">
                <a:solidFill>
                  <a:srgbClr val="222B33"/>
                </a:solidFill>
                <a:latin typeface="Microsoft YaHei"/>
              </a:rPr>
              <a:t>▪ 在精密仪器旁首选干粉，忽视对仪器的损坏</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干粉最常见，记住它放在哪</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实验室最常配的是干粉灭火器，多放在出口旁</a:t>
            </a:r>
          </a:p>
          <a:p>
            <a:pPr>
              <a:spcAft>
                <a:spcPts val="1000"/>
              </a:spcAft>
            </a:pPr>
            <a:r>
              <a:rPr sz="2000">
                <a:solidFill>
                  <a:srgbClr val="222B33"/>
                </a:solidFill>
                <a:latin typeface="Microsoft YaHei"/>
              </a:rPr>
              <a:t>▪ 干粉能扑救多种常见的初起火灾</a:t>
            </a:r>
          </a:p>
          <a:p>
            <a:pPr>
              <a:spcAft>
                <a:spcPts val="1000"/>
              </a:spcAft>
            </a:pPr>
            <a:r>
              <a:rPr sz="2000">
                <a:solidFill>
                  <a:srgbClr val="222B33"/>
                </a:solidFill>
                <a:latin typeface="Microsoft YaHei"/>
              </a:rPr>
              <a:t>▪ 进入实验室先记住灭火器位置</a:t>
            </a:r>
          </a:p>
          <a:p>
            <a:pPr>
              <a:spcAft>
                <a:spcPts val="1000"/>
              </a:spcAft>
            </a:pPr>
            <a:r>
              <a:rPr sz="2000">
                <a:solidFill>
                  <a:srgbClr val="222B33"/>
                </a:solidFill>
                <a:latin typeface="Microsoft YaHei"/>
              </a:rPr>
              <a:t>▪ 哈龙灭火器破坏臭氧层，已基本淘汰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干粉灭火器适用范围广，是实验室和教学楼最常见的灭火器，通常放在实验室出口、走廊等明显、便于取用的位置。每间实验室都应按规定配备灭火器，火稍大一点、不能用灭火毯盖灭时，就要用灭火器扑救（灭火器的使用见第 033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着火了才到处找灭火器</a:t>
            </a:r>
          </a:p>
          <a:p>
            <a:pPr>
              <a:spcAft>
                <a:spcPts val="1000"/>
              </a:spcAft>
            </a:pPr>
            <a:r>
              <a:rPr sz="1500">
                <a:solidFill>
                  <a:srgbClr val="222B33"/>
                </a:solidFill>
                <a:latin typeface="Microsoft YaHei"/>
              </a:rPr>
              <a:t>▪ 继续使用哈龙等已淘汰的灭火器</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二氧化碳灭火器：不留残渣，适合仪器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适合液体火、气体火和带电设备火</a:t>
            </a:r>
          </a:p>
          <a:p>
            <a:pPr>
              <a:spcAft>
                <a:spcPts val="1000"/>
              </a:spcAft>
            </a:pPr>
            <a:r>
              <a:rPr sz="2000">
                <a:solidFill>
                  <a:srgbClr val="222B33"/>
                </a:solidFill>
                <a:latin typeface="Microsoft YaHei"/>
              </a:rPr>
              <a:t>▪ 不留残渣，仪器室、机房常配</a:t>
            </a:r>
          </a:p>
          <a:p>
            <a:pPr>
              <a:spcAft>
                <a:spcPts val="1000"/>
              </a:spcAft>
            </a:pPr>
            <a:r>
              <a:rPr sz="2000">
                <a:solidFill>
                  <a:srgbClr val="222B33"/>
                </a:solidFill>
                <a:latin typeface="Microsoft YaHei"/>
              </a:rPr>
              <a:t>▪ 固体火易复燃，金属和油锅火不能用</a:t>
            </a:r>
          </a:p>
          <a:p>
            <a:pPr>
              <a:spcAft>
                <a:spcPts val="1000"/>
              </a:spcAft>
            </a:pPr>
            <a:r>
              <a:rPr sz="2000">
                <a:solidFill>
                  <a:srgbClr val="222B33"/>
                </a:solidFill>
                <a:latin typeface="Microsoft YaHei"/>
              </a:rPr>
              <a:t>▪ 喷射时别握喇叭筒，防冻伤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二氧化碳灭火器喷出的二氧化碳主要通过窒息（冲淡氧气）和一定的冷却作用灭火，适用于 B 类液体火、C 类气体火和带电设备火。二氧化碳不导电、不留残渣，不会污染仪器，因此精密仪器室、计算机机房常配二氧化碳灭火器。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手握喇叭筒喷射，造成冻伤</a:t>
            </a:r>
          </a:p>
          <a:p>
            <a:pPr>
              <a:spcAft>
                <a:spcPts val="1000"/>
              </a:spcAft>
            </a:pPr>
            <a:r>
              <a:rPr sz="1500">
                <a:solidFill>
                  <a:srgbClr val="222B33"/>
                </a:solidFill>
                <a:latin typeface="Microsoft YaHei"/>
              </a:rPr>
              <a:t>▪ 用二氧化碳扑救金属火</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小房间喷二氧化碳会缺氧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狭小密闭房间喷二氧化碳，氧气被挤走</a:t>
            </a:r>
          </a:p>
          <a:p>
            <a:pPr>
              <a:spcAft>
                <a:spcPts val="1000"/>
              </a:spcAft>
            </a:pPr>
            <a:r>
              <a:rPr sz="2000">
                <a:solidFill>
                  <a:srgbClr val="222B33"/>
                </a:solidFill>
                <a:latin typeface="Microsoft YaHei"/>
              </a:rPr>
              <a:t>▪ 人留在里面会头晕、窒息</a:t>
            </a:r>
          </a:p>
          <a:p>
            <a:pPr>
              <a:spcAft>
                <a:spcPts val="1000"/>
              </a:spcAft>
            </a:pPr>
            <a:r>
              <a:rPr sz="2000">
                <a:solidFill>
                  <a:srgbClr val="222B33"/>
                </a:solidFill>
                <a:latin typeface="Microsoft YaHei"/>
              </a:rPr>
              <a:t>▪ 用完马上撤出，通风后再进入</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二氧化碳靠冲淡氧气灭火，在狭小、通风差的房间（如小仪器间、储藏间）大量喷放后，空气中的氧含量明显下降，留在里面的人会头晕、窒息。</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喷完二氧化碳后留在小房间里观察</a:t>
            </a:r>
          </a:p>
          <a:p>
            <a:pPr>
              <a:spcAft>
                <a:spcPts val="1000"/>
              </a:spcAft>
            </a:pPr>
            <a:r>
              <a:rPr sz="1500">
                <a:solidFill>
                  <a:srgbClr val="222B33"/>
                </a:solidFill>
                <a:latin typeface="Microsoft YaHei"/>
              </a:rPr>
              <a:t>▪ 不通风就进入刚喷放过的房间</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金属火：不用水和二氧化碳</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活泼金属着火较少见，但很危险</a:t>
            </a:r>
          </a:p>
          <a:p>
            <a:pPr>
              <a:spcAft>
                <a:spcPts val="1000"/>
              </a:spcAft>
            </a:pPr>
            <a:r>
              <a:rPr sz="2000">
                <a:solidFill>
                  <a:srgbClr val="222B33"/>
                </a:solidFill>
                <a:latin typeface="Microsoft YaHei"/>
              </a:rPr>
              <a:t>▪ 不能用水，也不能用二氧化碳</a:t>
            </a:r>
          </a:p>
          <a:p>
            <a:pPr>
              <a:spcAft>
                <a:spcPts val="1000"/>
              </a:spcAft>
            </a:pPr>
            <a:r>
              <a:rPr sz="2000">
                <a:solidFill>
                  <a:srgbClr val="222B33"/>
                </a:solidFill>
                <a:latin typeface="Microsoft YaHei"/>
              </a:rPr>
              <a:t>▪ 普通干粉也扑不了活泼金属火</a:t>
            </a:r>
          </a:p>
          <a:p>
            <a:pPr>
              <a:spcAft>
                <a:spcPts val="1000"/>
              </a:spcAft>
            </a:pPr>
            <a:r>
              <a:rPr sz="2000">
                <a:solidFill>
                  <a:srgbClr val="222B33"/>
                </a:solidFill>
                <a:latin typeface="Microsoft YaHei"/>
              </a:rPr>
              <a:t>▪ 用干砂或金属火专用灭火剂覆盖，没把握就撤离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钾、钠、锂、镁等活泼金属着火属于 D 类火，在实验室比较少见，但非常危险：水会与活泼金属剧烈反应放出氢气，引起爆燃；二氧化碳会与燃烧的金属反应，使火势更猛；普通干粉、泡沫灭火器也扑不灭。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用水或二氧化碳扑救金属钠、镁着火</a:t>
            </a:r>
          </a:p>
          <a:p>
            <a:pPr>
              <a:spcAft>
                <a:spcPts val="1000"/>
              </a:spcAft>
            </a:pPr>
            <a:r>
              <a:rPr sz="1500">
                <a:solidFill>
                  <a:srgbClr val="222B33"/>
                </a:solidFill>
                <a:latin typeface="Microsoft YaHei"/>
              </a:rPr>
              <a:t>▪ 使用活泼金属却没有准备干砂</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油锅火：盖锅盖或用F类灭火器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锅里的食用油着火是 F 类火</a:t>
            </a:r>
          </a:p>
          <a:p>
            <a:pPr>
              <a:spcAft>
                <a:spcPts val="1000"/>
              </a:spcAft>
            </a:pPr>
            <a:r>
              <a:rPr sz="2000">
                <a:solidFill>
                  <a:srgbClr val="222B33"/>
                </a:solidFill>
                <a:latin typeface="Microsoft YaHei"/>
              </a:rPr>
              <a:t>▪ 油锅火绝不能泼水</a:t>
            </a:r>
          </a:p>
          <a:p>
            <a:pPr>
              <a:spcAft>
                <a:spcPts val="1000"/>
              </a:spcAft>
            </a:pPr>
            <a:r>
              <a:rPr sz="2000">
                <a:solidFill>
                  <a:srgbClr val="222B33"/>
                </a:solidFill>
                <a:latin typeface="Microsoft YaHei"/>
              </a:rPr>
              <a:t>▪ 先关火，再盖锅盖或灭火毯</a:t>
            </a:r>
          </a:p>
          <a:p>
            <a:pPr>
              <a:spcAft>
                <a:spcPts val="1000"/>
              </a:spcAft>
            </a:pPr>
            <a:r>
              <a:rPr sz="2000">
                <a:solidFill>
                  <a:srgbClr val="222B33"/>
                </a:solidFill>
                <a:latin typeface="Microsoft YaHei"/>
              </a:rPr>
              <a:t>▪ 或用标有 F 类的专用灭火器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烹饪器具内的食用油、动植物油脂着火属于 F 类火，常见于食堂、宿舍违规做饭和用油加热的场合。油温很高，泼水会使燃油飞溅、火势猛增。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往着火的油锅里泼水</a:t>
            </a:r>
          </a:p>
          <a:p>
            <a:pPr>
              <a:spcAft>
                <a:spcPts val="1000"/>
              </a:spcAft>
            </a:pPr>
            <a:r>
              <a:rPr sz="1500">
                <a:solidFill>
                  <a:srgbClr val="222B33"/>
                </a:solidFill>
                <a:latin typeface="Microsoft YaHei"/>
              </a:rPr>
              <a:t>▪ 火刚灭就揭开锅盖</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按场所配置，先认身边灭火器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灭火器按场所的火灾危险配置</a:t>
            </a:r>
          </a:p>
          <a:p>
            <a:pPr>
              <a:spcAft>
                <a:spcPts val="1000"/>
              </a:spcAft>
            </a:pPr>
            <a:r>
              <a:rPr sz="2000">
                <a:solidFill>
                  <a:srgbClr val="222B33"/>
                </a:solidFill>
                <a:latin typeface="Microsoft YaHei"/>
              </a:rPr>
              <a:t>▪ 化学实验室常配干粉，仪器室多配二氧化碳</a:t>
            </a:r>
          </a:p>
          <a:p>
            <a:pPr>
              <a:spcAft>
                <a:spcPts val="1000"/>
              </a:spcAft>
            </a:pPr>
            <a:r>
              <a:rPr sz="2000">
                <a:solidFill>
                  <a:srgbClr val="222B33"/>
                </a:solidFill>
                <a:latin typeface="Microsoft YaHei"/>
              </a:rPr>
              <a:t>▪ 活泼金属旁备干砂等专用器材</a:t>
            </a:r>
          </a:p>
          <a:p>
            <a:pPr>
              <a:spcAft>
                <a:spcPts val="1000"/>
              </a:spcAft>
            </a:pPr>
            <a:r>
              <a:rPr sz="2000">
                <a:solidFill>
                  <a:srgbClr val="222B33"/>
                </a:solidFill>
                <a:latin typeface="Microsoft YaHei"/>
              </a:rPr>
              <a:t>▪ 看设备运行前，先认认身边的灭火器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灭火器由学校按照 GB 50140（以现行文本为准）等规范，根据场所可能发生的火灾种类和危险等级配置：化学实验室常配干粉灭火器，精密仪器室、机房多配二氧化碳灭火器，使用活泼金属的地方备干砂或金属火专用灭火器。灭火器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把灭火器挪去别处或当门挡</a:t>
            </a:r>
          </a:p>
          <a:p>
            <a:pPr>
              <a:spcAft>
                <a:spcPts val="1000"/>
              </a:spcAft>
            </a:pPr>
            <a:r>
              <a:rPr sz="1500">
                <a:solidFill>
                  <a:srgbClr val="222B33"/>
                </a:solidFill>
                <a:latin typeface="Microsoft YaHei"/>
              </a:rPr>
              <a:t>▪ 只顾看设备运行，不知道灭火器在哪</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扑不灭就撤离，拨打119</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灭火器只用于初起火灾</a:t>
            </a:r>
          </a:p>
          <a:p>
            <a:pPr>
              <a:spcAft>
                <a:spcPts val="1000"/>
              </a:spcAft>
            </a:pPr>
            <a:r>
              <a:rPr sz="2000">
                <a:solidFill>
                  <a:srgbClr val="222B33"/>
                </a:solidFill>
                <a:latin typeface="Microsoft YaHei"/>
              </a:rPr>
              <a:t>▪ 火势控制不住，马上撤离并随手关门</a:t>
            </a:r>
          </a:p>
          <a:p>
            <a:pPr>
              <a:spcAft>
                <a:spcPts val="1000"/>
              </a:spcAft>
            </a:pPr>
            <a:r>
              <a:rPr sz="2000">
                <a:solidFill>
                  <a:srgbClr val="222B33"/>
                </a:solidFill>
                <a:latin typeface="Microsoft YaHei"/>
              </a:rPr>
              <a:t>▪ 拨打 119，说清地点、火情和有无伤员</a:t>
            </a:r>
          </a:p>
          <a:p>
            <a:pPr>
              <a:spcAft>
                <a:spcPts val="1000"/>
              </a:spcAft>
            </a:pPr>
            <a:r>
              <a:rPr sz="2000">
                <a:solidFill>
                  <a:srgbClr val="222B33"/>
                </a:solidFill>
                <a:latin typeface="Microsoft YaHei"/>
              </a:rPr>
              <a:t>▪ 同时报告实验室负责人和学校保卫处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灭火器只适合扑救初起火灾。火势扩大、烟雾变浓、灭火器喷完火还没灭，或者不能确定用哪种灭火器时，不要继续扑救，立即撤离并随手关门，阻止火势和烟气蔓延。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灭火器喷完了还留在火场继续扑救</a:t>
            </a:r>
          </a:p>
          <a:p>
            <a:pPr>
              <a:spcAft>
                <a:spcPts val="1000"/>
              </a:spcAft>
            </a:pPr>
            <a:r>
              <a:rPr sz="1500">
                <a:solidFill>
                  <a:srgbClr val="222B33"/>
                </a:solidFill>
                <a:latin typeface="Microsoft YaHei"/>
              </a:rPr>
              <a:t>▪ 只顾扑火，不报警、不报告</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实验室里精密仪器着火（已断电），为了尽量减少对仪器的损坏，最适合选用：</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水型灭火器</a:t>
            </a:r>
          </a:p>
          <a:p>
            <a:pPr algn="l"/>
            <a:r>
              <a:rPr sz="1500" b="0">
                <a:solidFill>
                  <a:srgbClr val="222B33"/>
                </a:solidFill>
                <a:latin typeface="Microsoft YaHei"/>
              </a:rPr>
              <a:t>B. 泡沫灭火器</a:t>
            </a:r>
          </a:p>
          <a:p>
            <a:pPr algn="l"/>
            <a:r>
              <a:rPr sz="1500" b="0">
                <a:solidFill>
                  <a:srgbClr val="222B33"/>
                </a:solidFill>
                <a:latin typeface="Microsoft YaHei"/>
              </a:rPr>
              <a:t>C. 二氧化碳灭火器</a:t>
            </a:r>
          </a:p>
          <a:p>
            <a:pPr algn="l"/>
            <a:r>
              <a:rPr sz="1500" b="0">
                <a:solidFill>
                  <a:srgbClr val="222B33"/>
                </a:solidFill>
                <a:latin typeface="Microsoft YaHei"/>
              </a:rPr>
              <a:t>D. 干砂</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金属钠着火，正确的做法是：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用水浇灭</a:t>
            </a:r>
          </a:p>
          <a:p>
            <a:pPr algn="l"/>
            <a:r>
              <a:rPr sz="1500" b="0">
                <a:solidFill>
                  <a:srgbClr val="222B33"/>
                </a:solidFill>
                <a:latin typeface="Microsoft YaHei"/>
              </a:rPr>
              <a:t>B. 用二氧化碳灭火器</a:t>
            </a:r>
          </a:p>
          <a:p>
            <a:pPr algn="l"/>
            <a:r>
              <a:rPr sz="1500" b="0">
                <a:solidFill>
                  <a:srgbClr val="222B33"/>
                </a:solidFill>
                <a:latin typeface="Microsoft YaHei"/>
              </a:rPr>
              <a:t>C. 用干砂或金属火专用灭火剂覆盖</a:t>
            </a:r>
          </a:p>
          <a:p>
            <a:pPr algn="l"/>
            <a:r>
              <a:rPr sz="1500" b="0">
                <a:solidFill>
                  <a:srgbClr val="222B33"/>
                </a:solidFill>
                <a:latin typeface="Microsoft YaHei"/>
              </a:rPr>
              <a:t>D. 用泡沫灭火器</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判断：ABC 干粉灭火器可以扑救固体、液体和气体火灾。</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判断：使用二氧化碳灭火器时，应一手握住喇叭筒，对准火焰喷射。</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032 · 灭火器的种类与选用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032 灭火器的种类与选用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判断：台面上的乙醇着火，应立即用水泼灭。</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简答：选用灭火器的基本方法是什么？</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没有万能灭火器，按火灾类别选</a:t>
            </a:r>
          </a:p>
          <a:p>
            <a:pPr>
              <a:spcAft>
                <a:spcPts val="800"/>
              </a:spcAft>
            </a:pPr>
            <a:r>
              <a:rPr sz="1500">
                <a:solidFill>
                  <a:srgbClr val="FFFFFF"/>
                </a:solidFill>
                <a:latin typeface="Microsoft YaHei"/>
              </a:rPr>
              <a:t>▪ K2  水基型灭火器：靠冷却，扑A类火</a:t>
            </a:r>
          </a:p>
          <a:p>
            <a:pPr>
              <a:spcAft>
                <a:spcPts val="800"/>
              </a:spcAft>
            </a:pPr>
            <a:r>
              <a:rPr sz="1500">
                <a:solidFill>
                  <a:srgbClr val="FFFFFF"/>
                </a:solidFill>
                <a:latin typeface="Microsoft YaHei"/>
              </a:rPr>
              <a:t>▪ K3  泡沫灭火器：扑固体和液体火</a:t>
            </a:r>
          </a:p>
          <a:p>
            <a:pPr>
              <a:spcAft>
                <a:spcPts val="800"/>
              </a:spcAft>
            </a:pPr>
            <a:r>
              <a:rPr sz="1500">
                <a:solidFill>
                  <a:srgbClr val="FFFFFF"/>
                </a:solidFill>
                <a:latin typeface="Microsoft YaHei"/>
              </a:rPr>
              <a:t>▪ K4  液体火、带电火不能用水泼</a:t>
            </a:r>
          </a:p>
          <a:p>
            <a:pPr>
              <a:spcAft>
                <a:spcPts val="800"/>
              </a:spcAft>
            </a:pPr>
            <a:r>
              <a:rPr sz="1500">
                <a:solidFill>
                  <a:srgbClr val="FFFFFF"/>
                </a:solidFill>
                <a:latin typeface="Microsoft YaHei"/>
              </a:rPr>
              <a:t>▪ K5  干粉灭火器：ABC型和BC型</a:t>
            </a:r>
          </a:p>
          <a:p>
            <a:pPr>
              <a:spcAft>
                <a:spcPts val="800"/>
              </a:spcAft>
            </a:pPr>
            <a:r>
              <a:rPr sz="1500">
                <a:solidFill>
                  <a:srgbClr val="FFFFFF"/>
                </a:solidFill>
                <a:latin typeface="Microsoft YaHei"/>
              </a:rPr>
              <a:t>▪ K6  干粉最常见，记住它放在哪</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二氧化碳灭火器：不留残渣，适合仪器</a:t>
            </a:r>
          </a:p>
          <a:p>
            <a:pPr>
              <a:spcAft>
                <a:spcPts val="800"/>
              </a:spcAft>
            </a:pPr>
            <a:r>
              <a:rPr sz="1500">
                <a:solidFill>
                  <a:srgbClr val="FFFFFF"/>
                </a:solidFill>
                <a:latin typeface="Microsoft YaHei"/>
              </a:rPr>
              <a:t>▪ K8  小房间喷二氧化碳会缺氧</a:t>
            </a:r>
          </a:p>
          <a:p>
            <a:pPr>
              <a:spcAft>
                <a:spcPts val="800"/>
              </a:spcAft>
            </a:pPr>
            <a:r>
              <a:rPr sz="1500">
                <a:solidFill>
                  <a:srgbClr val="FFFFFF"/>
                </a:solidFill>
                <a:latin typeface="Microsoft YaHei"/>
              </a:rPr>
              <a:t>▪ K9  金属火：不用水和二氧化碳</a:t>
            </a:r>
          </a:p>
          <a:p>
            <a:pPr>
              <a:spcAft>
                <a:spcPts val="800"/>
              </a:spcAft>
            </a:pPr>
            <a:r>
              <a:rPr sz="1500">
                <a:solidFill>
                  <a:srgbClr val="FFFFFF"/>
                </a:solidFill>
                <a:latin typeface="Microsoft YaHei"/>
              </a:rPr>
              <a:t>▪ K10  油锅火：盖锅盖或用F类灭火器</a:t>
            </a:r>
          </a:p>
          <a:p>
            <a:pPr>
              <a:spcAft>
                <a:spcPts val="800"/>
              </a:spcAft>
            </a:pPr>
            <a:r>
              <a:rPr sz="1500">
                <a:solidFill>
                  <a:srgbClr val="FFFFFF"/>
                </a:solidFill>
                <a:latin typeface="Microsoft YaHei"/>
              </a:rPr>
              <a:t>▪ K11  按场所配置，先认身边灭火器</a:t>
            </a:r>
          </a:p>
          <a:p>
            <a:pPr>
              <a:spcAft>
                <a:spcPts val="800"/>
              </a:spcAft>
            </a:pPr>
            <a:r>
              <a:rPr sz="1500">
                <a:solidFill>
                  <a:srgbClr val="FFFFFF"/>
                </a:solidFill>
                <a:latin typeface="Microsoft YaHei"/>
              </a:rPr>
              <a:t>▪ K12  扑不灭就撤离，拨打119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033</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灭火器的使用与检查</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第4章 消防安全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57 镜）　适用对象：全体进入高校实验室的本科生、研究生和教职工（必修）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能做到按“提、拔、握、压”四步使用手提式灭火器，对准火焰根部左右扫射。</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能做到灭火时保持安全距离、站在上风、背对出口，动手前判断能不能扑救。</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能判断何时放弃扑救：火势扩大、退路受阻、灭火器不对路时立即撤离并拨打 119。</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能说出灭火器日常检查的内容（压力、保险销和铅封、软管喷嘴、筒体、有效期）和放置要求。</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《中华人民共和国消防法》（以现行文本为准）：单位组织消防培训、定期检验维修消防器材；任何人不得损坏、挪用消防设施和器材</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4351-2023（以现行文本为准）《手提式灭火器》：灭火器的结构、铭牌和使用说明</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50444（以现行文本为准）《建筑灭火器配置验收及检查规范》：灭火器的日常检查、维修和报废</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号，以现行文本为准）：实验室人员会使用消防器材，消防器材定期检查</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高校实验室安全检查项目表（以现行文本为准）：灭火器在有效期内、压力正常、取用方便</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本校消防安全管理规定、消防培训和灭火器检查制度（以本校规定为准）</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先培训，人人会用灭火器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灭火器要先经过消防培训才会用</a:t>
            </a:r>
          </a:p>
          <a:p>
            <a:pPr>
              <a:spcAft>
                <a:spcPts val="1000"/>
              </a:spcAft>
            </a:pPr>
            <a:r>
              <a:rPr sz="2000">
                <a:solidFill>
                  <a:srgbClr val="222B33"/>
                </a:solidFill>
                <a:latin typeface="Microsoft YaHei"/>
              </a:rPr>
              <a:t>▪ 实验室里人人都要会用</a:t>
            </a:r>
          </a:p>
          <a:p>
            <a:pPr>
              <a:spcAft>
                <a:spcPts val="1000"/>
              </a:spcAft>
            </a:pPr>
            <a:r>
              <a:rPr sz="2000">
                <a:solidFill>
                  <a:srgbClr val="222B33"/>
                </a:solidFill>
                <a:latin typeface="Microsoft YaHei"/>
              </a:rPr>
              <a:t>▪ 知道灭火器和应急器材在哪里</a:t>
            </a:r>
          </a:p>
          <a:p>
            <a:pPr>
              <a:spcAft>
                <a:spcPts val="1000"/>
              </a:spcAft>
            </a:pPr>
            <a:r>
              <a:rPr sz="2000">
                <a:solidFill>
                  <a:srgbClr val="222B33"/>
                </a:solidFill>
                <a:latin typeface="Microsoft YaHei"/>
              </a:rPr>
              <a:t>▪ 平时多练，紧张时才不会乱</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灭火器操作并不复杂，但第一次在真实火情下使用，很容易因为紧张拔不出保险销、喷错位置。所以进入实验室前要参加学校组织的消防安全培训，在培训场地用训练灭火器或模拟器亲手练习，并知道本实验室灭火器、灭火毯、泄漏应急处理箱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从没摸过灭火器，以为“到时候看说明就会”</a:t>
            </a:r>
          </a:p>
          <a:p>
            <a:pPr>
              <a:spcAft>
                <a:spcPts val="1000"/>
              </a:spcAft>
            </a:pPr>
            <a:r>
              <a:rPr sz="1500">
                <a:solidFill>
                  <a:srgbClr val="222B33"/>
                </a:solidFill>
                <a:latin typeface="Microsoft YaHei"/>
              </a:rPr>
              <a:t>▪ 不参加消防培训和演练</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听老师安排，自己也要会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实验室起火，一般由在场老师组织扑救</a:t>
            </a:r>
          </a:p>
          <a:p>
            <a:pPr>
              <a:spcAft>
                <a:spcPts val="1000"/>
              </a:spcAft>
            </a:pPr>
            <a:r>
              <a:rPr sz="2000">
                <a:solidFill>
                  <a:srgbClr val="222B33"/>
                </a:solidFill>
                <a:latin typeface="Microsoft YaHei"/>
              </a:rPr>
              <a:t>▪ 谁灭火、谁报警、谁疏散，听老师安排</a:t>
            </a:r>
          </a:p>
          <a:p>
            <a:pPr>
              <a:spcAft>
                <a:spcPts val="1000"/>
              </a:spcAft>
            </a:pPr>
            <a:r>
              <a:rPr sz="2000">
                <a:solidFill>
                  <a:srgbClr val="222B33"/>
                </a:solidFill>
                <a:latin typeface="Microsoft YaHei"/>
              </a:rPr>
              <a:t>▪ 自己也要会用，以防身边没人</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教学实验中起火，一般由指导教师或实验室负责人判断能否扑救、组织扑救，学生按老师的安排报警、疏散或协助，不要自行冲上去，也不要围观。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老师在场时自行冲上去扑救或围观</a:t>
            </a:r>
          </a:p>
          <a:p>
            <a:pPr>
              <a:spcAft>
                <a:spcPts val="1000"/>
              </a:spcAft>
            </a:pPr>
            <a:r>
              <a:rPr sz="1500">
                <a:solidFill>
                  <a:srgbClr val="222B33"/>
                </a:solidFill>
                <a:latin typeface="Microsoft YaHei"/>
              </a:rPr>
              <a:t>▪ 以为灭火是老师的事，自己不用学</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动手前先问三个问题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能避开有毒烟气吗？</a:t>
            </a:r>
          </a:p>
          <a:p>
            <a:pPr>
              <a:spcAft>
                <a:spcPts val="1000"/>
              </a:spcAft>
            </a:pPr>
            <a:r>
              <a:rPr sz="2000">
                <a:solidFill>
                  <a:srgbClr val="222B33"/>
                </a:solidFill>
                <a:latin typeface="Microsoft YaHei"/>
              </a:rPr>
              <a:t>▪ 背后有逃生路线吗？</a:t>
            </a:r>
          </a:p>
          <a:p>
            <a:pPr>
              <a:spcAft>
                <a:spcPts val="1000"/>
              </a:spcAft>
            </a:pPr>
            <a:r>
              <a:rPr sz="2000">
                <a:solidFill>
                  <a:srgbClr val="222B33"/>
                </a:solidFill>
                <a:latin typeface="Microsoft YaHei"/>
              </a:rPr>
              <a:t>▪ 手里的灭火器对路吗？</a:t>
            </a:r>
          </a:p>
          <a:p>
            <a:pPr>
              <a:spcAft>
                <a:spcPts val="1000"/>
              </a:spcAft>
            </a:pPr>
            <a:r>
              <a:rPr sz="2000">
                <a:solidFill>
                  <a:srgbClr val="222B33"/>
                </a:solidFill>
                <a:latin typeface="Microsoft YaHei"/>
              </a:rPr>
              <a:t>▪ 有一个答不上来，就撤离报警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动手灭火前先问自己三个问题：我能避开有毒烟气吗？我背后有逃生路线吗？我手里的灭火器适用于这类火吗？三个问题都能回答“是”，而且火还很小、其他人已经撤开，才使用灭火器扑救。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不判断火势和退路，见火就扑</a:t>
            </a:r>
          </a:p>
          <a:p>
            <a:pPr>
              <a:spcAft>
                <a:spcPts val="1000"/>
              </a:spcAft>
            </a:pPr>
            <a:r>
              <a:rPr sz="1500">
                <a:solidFill>
                  <a:srgbClr val="222B33"/>
                </a:solidFill>
                <a:latin typeface="Microsoft YaHei"/>
              </a:rPr>
              <a:t>▪ 别人还在火旁就开始喷射</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使用四步：提、拔、握、压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提：握住提把，提起灭火器</a:t>
            </a:r>
          </a:p>
          <a:p>
            <a:pPr>
              <a:spcAft>
                <a:spcPts val="1000"/>
              </a:spcAft>
            </a:pPr>
            <a:r>
              <a:rPr sz="2000">
                <a:solidFill>
                  <a:srgbClr val="222B33"/>
                </a:solidFill>
                <a:latin typeface="Microsoft YaHei"/>
              </a:rPr>
              <a:t>▪ 拔：拔掉保险销</a:t>
            </a:r>
          </a:p>
          <a:p>
            <a:pPr>
              <a:spcAft>
                <a:spcPts val="1000"/>
              </a:spcAft>
            </a:pPr>
            <a:r>
              <a:rPr sz="2000">
                <a:solidFill>
                  <a:srgbClr val="222B33"/>
                </a:solidFill>
                <a:latin typeface="Microsoft YaHei"/>
              </a:rPr>
              <a:t>▪ 握：一手握住喷管，对准火焰根部</a:t>
            </a:r>
          </a:p>
          <a:p>
            <a:pPr>
              <a:spcAft>
                <a:spcPts val="1000"/>
              </a:spcAft>
            </a:pPr>
            <a:r>
              <a:rPr sz="2000">
                <a:solidFill>
                  <a:srgbClr val="222B33"/>
                </a:solidFill>
                <a:latin typeface="Microsoft YaHei"/>
              </a:rPr>
              <a:t>▪ 压：另一手用力压下压把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手提式灭火器的使用可以记成“提、拔、握、压”四步：第一步提起灭火器，走到距火适当的位置（上风、背对出口）；第二步拔掉保险销（铅封随之断开）；第三步一手握住喷管（或喷嘴），对准火焰根部；第四步另一手用力压下压把，灭火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不拔保险销就压压把</a:t>
            </a:r>
          </a:p>
          <a:p>
            <a:pPr>
              <a:spcAft>
                <a:spcPts val="1000"/>
              </a:spcAft>
            </a:pPr>
            <a:r>
              <a:rPr sz="1500">
                <a:solidFill>
                  <a:srgbClr val="222B33"/>
                </a:solidFill>
                <a:latin typeface="Microsoft YaHei"/>
              </a:rPr>
              <a:t>▪ 单手提着灭火器乱喷，喷管没握住</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对准火焰根部，左右扫射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喷嘴对准火焰根部，不对火苗顶部</a:t>
            </a:r>
          </a:p>
          <a:p>
            <a:pPr>
              <a:spcAft>
                <a:spcPts val="1000"/>
              </a:spcAft>
            </a:pPr>
            <a:r>
              <a:rPr sz="2000">
                <a:solidFill>
                  <a:srgbClr val="222B33"/>
                </a:solidFill>
                <a:latin typeface="Microsoft YaHei"/>
              </a:rPr>
              <a:t>▪ 压住压把，从近到远左右扫射</a:t>
            </a:r>
          </a:p>
          <a:p>
            <a:pPr>
              <a:spcAft>
                <a:spcPts val="1000"/>
              </a:spcAft>
            </a:pPr>
            <a:r>
              <a:rPr sz="2000">
                <a:solidFill>
                  <a:srgbClr val="222B33"/>
                </a:solidFill>
                <a:latin typeface="Microsoft YaHei"/>
              </a:rPr>
              <a:t>▪ 直到扑灭，再盯住余烬防复燃</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火焰的根部是燃烧物所在的位置，灭火剂要喷到这里才能扑灭火源；对着火苗顶部喷射，灭火剂被火焰和热气流带走，火源仍在燃烧。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对着火苗顶部或烟雾喷射</a:t>
            </a:r>
          </a:p>
          <a:p>
            <a:pPr>
              <a:spcAft>
                <a:spcPts val="1000"/>
              </a:spcAft>
            </a:pPr>
            <a:r>
              <a:rPr sz="1500">
                <a:solidFill>
                  <a:srgbClr val="222B33"/>
                </a:solidFill>
                <a:latin typeface="Microsoft YaHei"/>
              </a:rPr>
              <a:t>▪ 火刚灭就转身离开，不防复燃</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一具灭火器只能喷很短时间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手提式灭火器只能连续喷射很短时间</a:t>
            </a:r>
          </a:p>
          <a:p>
            <a:pPr>
              <a:spcAft>
                <a:spcPts val="1000"/>
              </a:spcAft>
            </a:pPr>
            <a:r>
              <a:rPr sz="2000">
                <a:solidFill>
                  <a:srgbClr val="222B33"/>
                </a:solidFill>
                <a:latin typeface="Microsoft YaHei"/>
              </a:rPr>
              <a:t>▪ 一开始就对准火根，不要浪费在空中</a:t>
            </a:r>
          </a:p>
          <a:p>
            <a:pPr>
              <a:spcAft>
                <a:spcPts val="1000"/>
              </a:spcAft>
            </a:pPr>
            <a:r>
              <a:rPr sz="2000">
                <a:solidFill>
                  <a:srgbClr val="222B33"/>
                </a:solidFill>
                <a:latin typeface="Microsoft YaHei"/>
              </a:rPr>
              <a:t>▪ 喷射时间因型号而异，看铭牌和培训</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手提式灭火器的灭火剂量有限，一具只能连续喷射很短的时间，喷完就没有了。所以要在走近到有效距离后再压下压把，一开始就对准火焰根部，不要对着空中或火苗顶部浪费。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离火很远就开始喷，灭火剂还没到火边就喷完</a:t>
            </a:r>
          </a:p>
          <a:p>
            <a:pPr>
              <a:spcAft>
                <a:spcPts val="1000"/>
              </a:spcAft>
            </a:pPr>
            <a:r>
              <a:rPr sz="1500">
                <a:solidFill>
                  <a:srgbClr val="222B33"/>
                </a:solidFill>
                <a:latin typeface="Microsoft YaHei"/>
              </a:rPr>
              <a:t>▪ 喷完一具不撤离，还到处找第二具</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保持安全距离，站在上风</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先认清燃烧物，再选灭火器</a:t>
            </a:r>
          </a:p>
          <a:p>
            <a:pPr>
              <a:spcAft>
                <a:spcPts val="1000"/>
              </a:spcAft>
            </a:pPr>
            <a:r>
              <a:rPr sz="2000">
                <a:solidFill>
                  <a:srgbClr val="222B33"/>
                </a:solidFill>
                <a:latin typeface="Microsoft YaHei"/>
              </a:rPr>
              <a:t>▪ 太近会烤伤，太远喷不到</a:t>
            </a:r>
          </a:p>
          <a:p>
            <a:pPr>
              <a:spcAft>
                <a:spcPts val="1000"/>
              </a:spcAft>
            </a:pPr>
            <a:r>
              <a:rPr sz="2000">
                <a:solidFill>
                  <a:srgbClr val="222B33"/>
                </a:solidFill>
                <a:latin typeface="Microsoft YaHei"/>
              </a:rPr>
              <a:t>▪ 保持安全距离，按火势逐步靠近</a:t>
            </a:r>
          </a:p>
          <a:p>
            <a:pPr>
              <a:spcAft>
                <a:spcPts val="1000"/>
              </a:spcAft>
            </a:pPr>
            <a:r>
              <a:rPr sz="2000">
                <a:solidFill>
                  <a:srgbClr val="222B33"/>
                </a:solidFill>
                <a:latin typeface="Microsoft YaHei"/>
              </a:rPr>
              <a:t>▪ 站在上风方向，避开烟气</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接近火源前先看清烧的是什么，选对灭火器。灭火时离火太近会被热辐射烤伤，太远灭火剂又喷不到；应在灭火器的有效喷射距离内、保持安全距离，随着火势减小再逐步靠近。具体距离要看火势大小和灭火器的说明，不能套用固定数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贴近火源喷射</a:t>
            </a:r>
          </a:p>
          <a:p>
            <a:pPr>
              <a:spcAft>
                <a:spcPts val="1000"/>
              </a:spcAft>
            </a:pPr>
            <a:r>
              <a:rPr sz="1500">
                <a:solidFill>
                  <a:srgbClr val="222B33"/>
                </a:solidFill>
                <a:latin typeface="Microsoft YaHei"/>
              </a:rPr>
              <a:t>▪ 站在下风处，被烟气和粉雾呛到</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背对出口，退路留在身后</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灭火时背对出口，面向火</a:t>
            </a:r>
          </a:p>
          <a:p>
            <a:pPr>
              <a:spcAft>
                <a:spcPts val="1000"/>
              </a:spcAft>
            </a:pPr>
            <a:r>
              <a:rPr sz="2000">
                <a:solidFill>
                  <a:srgbClr val="222B33"/>
                </a:solidFill>
                <a:latin typeface="Microsoft YaHei"/>
              </a:rPr>
              <a:t>▪ 别让火挡在你和出口之间</a:t>
            </a:r>
          </a:p>
          <a:p>
            <a:pPr>
              <a:spcAft>
                <a:spcPts val="1000"/>
              </a:spcAft>
            </a:pPr>
            <a:r>
              <a:rPr sz="2000">
                <a:solidFill>
                  <a:srgbClr val="222B33"/>
                </a:solidFill>
                <a:latin typeface="Microsoft YaHei"/>
              </a:rPr>
              <a:t>▪ 火控制不住，转身就能撤</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灭火时的站位与东南西北无关，关键是让出口始终在自己身后：背对出口、面向火源。这样一旦火势扩大或灭火器喷完，转身就能从出口撤离。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绕到火的里侧灭火，出口在火的另一边</a:t>
            </a:r>
          </a:p>
          <a:p>
            <a:pPr>
              <a:spcAft>
                <a:spcPts val="1000"/>
              </a:spcAft>
            </a:pPr>
            <a:r>
              <a:rPr sz="1500">
                <a:solidFill>
                  <a:srgbClr val="222B33"/>
                </a:solidFill>
                <a:latin typeface="Microsoft YaHei"/>
              </a:rPr>
              <a:t>▪ 灭火时关上身后的门，挡住退路</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二氧化碳灭火器：防冻伤，防窒息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同样按提、拔、握、压使用</a:t>
            </a:r>
          </a:p>
          <a:p>
            <a:pPr>
              <a:spcAft>
                <a:spcPts val="1000"/>
              </a:spcAft>
            </a:pPr>
            <a:r>
              <a:rPr sz="2000">
                <a:solidFill>
                  <a:srgbClr val="222B33"/>
                </a:solidFill>
                <a:latin typeface="Microsoft YaHei"/>
              </a:rPr>
              <a:t>▪ 手握手柄，别直接握喇叭筒</a:t>
            </a:r>
          </a:p>
          <a:p>
            <a:pPr>
              <a:spcAft>
                <a:spcPts val="1000"/>
              </a:spcAft>
            </a:pPr>
            <a:r>
              <a:rPr sz="2000">
                <a:solidFill>
                  <a:srgbClr val="222B33"/>
                </a:solidFill>
                <a:latin typeface="Microsoft YaHei"/>
              </a:rPr>
              <a:t>▪ 喇叭筒极冷，会冻伤</a:t>
            </a:r>
          </a:p>
          <a:p>
            <a:pPr>
              <a:spcAft>
                <a:spcPts val="1000"/>
              </a:spcAft>
            </a:pPr>
            <a:r>
              <a:rPr sz="2000">
                <a:solidFill>
                  <a:srgbClr val="222B33"/>
                </a:solidFill>
                <a:latin typeface="Microsoft YaHei"/>
              </a:rPr>
              <a:t>▪ 小房间喷完先撤出，通风后再进</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二氧化碳灭火器同样按提起、拔销、握住、压下的步骤使用，对准火焰根部喷射。喷射时二氧化碳迅速汽化吸热，喇叭筒和金属连接管温度极低，只能握住手柄（或喇叭筒上的隔热把手），不能直接握喇叭筒，以免冻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徒手握住喇叭筒喷射</a:t>
            </a:r>
          </a:p>
          <a:p>
            <a:pPr>
              <a:spcAft>
                <a:spcPts val="1000"/>
              </a:spcAft>
            </a:pPr>
            <a:r>
              <a:rPr sz="1500">
                <a:solidFill>
                  <a:srgbClr val="222B33"/>
                </a:solidFill>
                <a:latin typeface="Microsoft YaHei"/>
              </a:rPr>
              <a:t>▪ 在小房间喷完后留在里面观察</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扑不灭就撤，生命高于财产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火太大扑不灭，马上让所有人撤离</a:t>
            </a:r>
          </a:p>
          <a:p>
            <a:pPr>
              <a:spcAft>
                <a:spcPts val="1000"/>
              </a:spcAft>
            </a:pPr>
            <a:r>
              <a:rPr sz="2000">
                <a:solidFill>
                  <a:srgbClr val="222B33"/>
                </a:solidFill>
                <a:latin typeface="Microsoft YaHei"/>
              </a:rPr>
              <a:t>▪ 低姿捂口鼻，走楼梯，不坐电梯</a:t>
            </a:r>
          </a:p>
          <a:p>
            <a:pPr>
              <a:spcAft>
                <a:spcPts val="1000"/>
              </a:spcAft>
            </a:pPr>
            <a:r>
              <a:rPr sz="2000">
                <a:solidFill>
                  <a:srgbClr val="222B33"/>
                </a:solidFill>
                <a:latin typeface="Microsoft YaHei"/>
              </a:rPr>
              <a:t>▪ 到安全处拨打 119，报告老师和保卫处</a:t>
            </a:r>
          </a:p>
          <a:p>
            <a:pPr>
              <a:spcAft>
                <a:spcPts val="1000"/>
              </a:spcAft>
            </a:pPr>
            <a:r>
              <a:rPr sz="2000">
                <a:solidFill>
                  <a:srgbClr val="222B33"/>
                </a:solidFill>
                <a:latin typeface="Microsoft YaHei"/>
              </a:rPr>
              <a:t>▪ 生命高于财产，不回头取东西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初起小火能灭就灭；火势变大、灭火器喷完火未灭、烟雾变浓或退路受到威胁时，立即放弃扑救，招呼所有人撤离，随手关门阻隔火势。撤离时低姿前进、用湿毛巾或衣物捂住口鼻，沿疏散标志走楼梯，不乘电梯。</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火已扩大还坚持扑救</a:t>
            </a:r>
          </a:p>
          <a:p>
            <a:pPr>
              <a:spcAft>
                <a:spcPts val="1000"/>
              </a:spcAft>
            </a:pPr>
            <a:r>
              <a:rPr sz="1500">
                <a:solidFill>
                  <a:srgbClr val="222B33"/>
                </a:solidFill>
                <a:latin typeface="Microsoft YaHei"/>
              </a:rPr>
              <a:t>▪ 撤离后返回实验室取电脑、样品</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灭火器的日常检查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压力表指针要在绿区</a:t>
            </a:r>
          </a:p>
          <a:p>
            <a:pPr>
              <a:spcAft>
                <a:spcPts val="1000"/>
              </a:spcAft>
            </a:pPr>
            <a:r>
              <a:rPr sz="2000">
                <a:solidFill>
                  <a:srgbClr val="222B33"/>
                </a:solidFill>
                <a:latin typeface="Microsoft YaHei"/>
              </a:rPr>
              <a:t>▪ 保险销、铅封完好，软管喷嘴不裂不堵</a:t>
            </a:r>
          </a:p>
          <a:p>
            <a:pPr>
              <a:spcAft>
                <a:spcPts val="1000"/>
              </a:spcAft>
            </a:pPr>
            <a:r>
              <a:rPr sz="2000">
                <a:solidFill>
                  <a:srgbClr val="222B33"/>
                </a:solidFill>
                <a:latin typeface="Microsoft YaHei"/>
              </a:rPr>
              <a:t>▪ 筒体无锈蚀变形，在有效期内</a:t>
            </a:r>
          </a:p>
          <a:p>
            <a:pPr>
              <a:spcAft>
                <a:spcPts val="1000"/>
              </a:spcAft>
            </a:pPr>
            <a:r>
              <a:rPr sz="2000">
                <a:solidFill>
                  <a:srgbClr val="222B33"/>
                </a:solidFill>
                <a:latin typeface="Microsoft YaHei"/>
              </a:rPr>
              <a:t>▪ 定期检查签卡，发现问题及时报修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灭火器要定期检查，检查周期和记录方式按 GB 50444（以现行文本为准）和本校规定执行。检查内容：压力表指针在绿区（红区表示压力不足，黄区表示压力过高）；保险销和铅封完好，没有被动过；软管、喷嘴无开裂、老化、堵塞；……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只看灭火器在不在，不看压力表和有效期</a:t>
            </a:r>
          </a:p>
          <a:p>
            <a:pPr>
              <a:spcAft>
                <a:spcPts val="1000"/>
              </a:spcAft>
            </a:pPr>
            <a:r>
              <a:rPr sz="1500">
                <a:solidFill>
                  <a:srgbClr val="222B33"/>
                </a:solidFill>
                <a:latin typeface="Microsoft YaHei"/>
              </a:rPr>
              <a:t>▪ 发现压力不足不报修</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放在明处，不挡不挪，用后更换</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放在显眼、顺手、取用方便的地方</a:t>
            </a:r>
          </a:p>
          <a:p>
            <a:pPr>
              <a:spcAft>
                <a:spcPts val="1000"/>
              </a:spcAft>
            </a:pPr>
            <a:r>
              <a:rPr sz="2000">
                <a:solidFill>
                  <a:srgbClr val="222B33"/>
                </a:solidFill>
                <a:latin typeface="Microsoft YaHei"/>
              </a:rPr>
              <a:t>▪ 前面不堆杂物，伸手就能拿到</a:t>
            </a:r>
          </a:p>
          <a:p>
            <a:pPr>
              <a:spcAft>
                <a:spcPts val="1000"/>
              </a:spcAft>
            </a:pPr>
            <a:r>
              <a:rPr sz="2000">
                <a:solidFill>
                  <a:srgbClr val="222B33"/>
                </a:solidFill>
                <a:latin typeface="Microsoft YaHei"/>
              </a:rPr>
              <a:t>▪ 屈膝提起，推车式两人配合</a:t>
            </a:r>
          </a:p>
          <a:p>
            <a:pPr>
              <a:spcAft>
                <a:spcPts val="1000"/>
              </a:spcAft>
            </a:pPr>
            <a:r>
              <a:rPr sz="2000">
                <a:solidFill>
                  <a:srgbClr val="222B33"/>
                </a:solidFill>
                <a:latin typeface="Microsoft YaHei"/>
              </a:rPr>
              <a:t>▪ 不得挪用；用过一次马上报告更换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灭火器应放在明显、便于取用的位置（如出口旁、走廊），前面不堆放纸箱、仪器等杂物，不被遮挡或锁住，伸手就能拿到。取用时屈膝提起，一手握提把、一手握喷管，避免扭伤腰部；大型推车式灭火器至少两人配合使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灭火器被纸箱、设备挡住</a:t>
            </a:r>
          </a:p>
          <a:p>
            <a:pPr>
              <a:spcAft>
                <a:spcPts val="1000"/>
              </a:spcAft>
            </a:pPr>
            <a:r>
              <a:rPr sz="1500">
                <a:solidFill>
                  <a:srgbClr val="222B33"/>
                </a:solidFill>
                <a:latin typeface="Microsoft YaHei"/>
              </a:rPr>
              <a:t>▪ 用过的灭火器放回原处不报告</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使用手提式灭火器的正确顺序是：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拔、提、压、握</a:t>
            </a:r>
          </a:p>
          <a:p>
            <a:pPr algn="l"/>
            <a:r>
              <a:rPr sz="1500" b="0">
                <a:solidFill>
                  <a:srgbClr val="222B33"/>
                </a:solidFill>
                <a:latin typeface="Microsoft YaHei"/>
              </a:rPr>
              <a:t>B. 提、拔、握、压</a:t>
            </a:r>
          </a:p>
          <a:p>
            <a:pPr algn="l"/>
            <a:r>
              <a:rPr sz="1500" b="0">
                <a:solidFill>
                  <a:srgbClr val="222B33"/>
                </a:solidFill>
                <a:latin typeface="Microsoft YaHei"/>
              </a:rPr>
              <a:t>C. 压、拔、握、提</a:t>
            </a:r>
          </a:p>
          <a:p>
            <a:pPr algn="l"/>
            <a:r>
              <a:rPr sz="1500" b="0">
                <a:solidFill>
                  <a:srgbClr val="222B33"/>
                </a:solidFill>
                <a:latin typeface="Microsoft YaHei"/>
              </a:rPr>
              <a:t>D. 握、压、提、拔</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灭火时喷嘴应对准：</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火苗顶部</a:t>
            </a:r>
          </a:p>
          <a:p>
            <a:pPr algn="l"/>
            <a:r>
              <a:rPr sz="1500" b="0">
                <a:solidFill>
                  <a:srgbClr val="222B33"/>
                </a:solidFill>
                <a:latin typeface="Microsoft YaHei"/>
              </a:rPr>
              <a:t>B. 烟雾最浓处</a:t>
            </a:r>
          </a:p>
          <a:p>
            <a:pPr algn="l"/>
            <a:r>
              <a:rPr sz="1500" b="0">
                <a:solidFill>
                  <a:srgbClr val="222B33"/>
                </a:solidFill>
                <a:latin typeface="Microsoft YaHei"/>
              </a:rPr>
              <a:t>C. 火焰根部</a:t>
            </a:r>
          </a:p>
          <a:p>
            <a:pPr algn="l"/>
            <a:r>
              <a:rPr sz="1500" b="0">
                <a:solidFill>
                  <a:srgbClr val="222B33"/>
                </a:solidFill>
                <a:latin typeface="Microsoft YaHei"/>
              </a:rPr>
              <a:t>D. 天花板</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判断：灭火时应绕到火的里侧，让出口在火的另一边，便于把火往外赶。</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判断：灭火器压力表指针在红区，说明压力不足，应报修。</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033 · 灭火器的使用与检查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033 灭火器的使用与检查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下列情况中，应立即放弃扑救、撤离报警的是：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废纸篓里刚冒小火</a:t>
            </a:r>
          </a:p>
          <a:p>
            <a:pPr algn="l"/>
            <a:r>
              <a:rPr sz="1500" b="0">
                <a:solidFill>
                  <a:srgbClr val="222B33"/>
                </a:solidFill>
                <a:latin typeface="Microsoft YaHei"/>
              </a:rPr>
              <a:t>B. 灭火器喷完火还没灭</a:t>
            </a:r>
          </a:p>
          <a:p>
            <a:pPr algn="l"/>
            <a:r>
              <a:rPr sz="1500" b="0">
                <a:solidFill>
                  <a:srgbClr val="222B33"/>
                </a:solidFill>
                <a:latin typeface="Microsoft YaHei"/>
              </a:rPr>
              <a:t>C. 酒精灯打翻的小火已用灭火毯盖住</a:t>
            </a:r>
          </a:p>
          <a:p>
            <a:pPr algn="l"/>
            <a:r>
              <a:rPr sz="1500" b="0">
                <a:solidFill>
                  <a:srgbClr val="222B33"/>
                </a:solidFill>
                <a:latin typeface="Microsoft YaHei"/>
              </a:rPr>
              <a:t>D. 火已熄灭只剩一点烟</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简答：动手灭火前要先问自己哪三个问题？</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先培训，人人会用灭火器</a:t>
            </a:r>
          </a:p>
          <a:p>
            <a:pPr>
              <a:spcAft>
                <a:spcPts val="800"/>
              </a:spcAft>
            </a:pPr>
            <a:r>
              <a:rPr sz="1500">
                <a:solidFill>
                  <a:srgbClr val="FFFFFF"/>
                </a:solidFill>
                <a:latin typeface="Microsoft YaHei"/>
              </a:rPr>
              <a:t>▪ K2  听老师安排，自己也要会</a:t>
            </a:r>
          </a:p>
          <a:p>
            <a:pPr>
              <a:spcAft>
                <a:spcPts val="800"/>
              </a:spcAft>
            </a:pPr>
            <a:r>
              <a:rPr sz="1500">
                <a:solidFill>
                  <a:srgbClr val="FFFFFF"/>
                </a:solidFill>
                <a:latin typeface="Microsoft YaHei"/>
              </a:rPr>
              <a:t>▪ K3  动手前先问三个问题</a:t>
            </a:r>
          </a:p>
          <a:p>
            <a:pPr>
              <a:spcAft>
                <a:spcPts val="800"/>
              </a:spcAft>
            </a:pPr>
            <a:r>
              <a:rPr sz="1500">
                <a:solidFill>
                  <a:srgbClr val="FFFFFF"/>
                </a:solidFill>
                <a:latin typeface="Microsoft YaHei"/>
              </a:rPr>
              <a:t>▪ K4  使用四步：提、拔、握、压</a:t>
            </a:r>
          </a:p>
          <a:p>
            <a:pPr>
              <a:spcAft>
                <a:spcPts val="800"/>
              </a:spcAft>
            </a:pPr>
            <a:r>
              <a:rPr sz="1500">
                <a:solidFill>
                  <a:srgbClr val="FFFFFF"/>
                </a:solidFill>
                <a:latin typeface="Microsoft YaHei"/>
              </a:rPr>
              <a:t>▪ K5  对准火焰根部，左右扫射</a:t>
            </a:r>
          </a:p>
          <a:p>
            <a:pPr>
              <a:spcAft>
                <a:spcPts val="800"/>
              </a:spcAft>
            </a:pPr>
            <a:r>
              <a:rPr sz="1500">
                <a:solidFill>
                  <a:srgbClr val="FFFFFF"/>
                </a:solidFill>
                <a:latin typeface="Microsoft YaHei"/>
              </a:rPr>
              <a:t>▪ K6  一具灭火器只能喷很短时间</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保持安全距离，站在上风</a:t>
            </a:r>
          </a:p>
          <a:p>
            <a:pPr>
              <a:spcAft>
                <a:spcPts val="800"/>
              </a:spcAft>
            </a:pPr>
            <a:r>
              <a:rPr sz="1500">
                <a:solidFill>
                  <a:srgbClr val="FFFFFF"/>
                </a:solidFill>
                <a:latin typeface="Microsoft YaHei"/>
              </a:rPr>
              <a:t>▪ K8  背对出口，退路留在身后</a:t>
            </a:r>
          </a:p>
          <a:p>
            <a:pPr>
              <a:spcAft>
                <a:spcPts val="800"/>
              </a:spcAft>
            </a:pPr>
            <a:r>
              <a:rPr sz="1500">
                <a:solidFill>
                  <a:srgbClr val="FFFFFF"/>
                </a:solidFill>
                <a:latin typeface="Microsoft YaHei"/>
              </a:rPr>
              <a:t>▪ K9  二氧化碳灭火器：防冻伤，防窒息</a:t>
            </a:r>
          </a:p>
          <a:p>
            <a:pPr>
              <a:spcAft>
                <a:spcPts val="800"/>
              </a:spcAft>
            </a:pPr>
            <a:r>
              <a:rPr sz="1500">
                <a:solidFill>
                  <a:srgbClr val="FFFFFF"/>
                </a:solidFill>
                <a:latin typeface="Microsoft YaHei"/>
              </a:rPr>
              <a:t>▪ K10  扑不灭就撤，生命高于财产</a:t>
            </a:r>
          </a:p>
          <a:p>
            <a:pPr>
              <a:spcAft>
                <a:spcPts val="800"/>
              </a:spcAft>
            </a:pPr>
            <a:r>
              <a:rPr sz="1500">
                <a:solidFill>
                  <a:srgbClr val="FFFFFF"/>
                </a:solidFill>
                <a:latin typeface="Microsoft YaHei"/>
              </a:rPr>
              <a:t>▪ K11  灭火器的日常检查</a:t>
            </a:r>
          </a:p>
          <a:p>
            <a:pPr>
              <a:spcAft>
                <a:spcPts val="800"/>
              </a:spcAft>
            </a:pPr>
            <a:r>
              <a:rPr sz="1500">
                <a:solidFill>
                  <a:srgbClr val="FFFFFF"/>
                </a:solidFill>
                <a:latin typeface="Microsoft YaHei"/>
              </a:rPr>
              <a:t>▪ K12  放在明处，不挡不挪，用后更换</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034</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初起火灾与衣物着火</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第4章 消防安全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4 分钟（卡通视频 51 镜）　适用对象：全体进入高校实验室的本科生、研究生和教职工（必修）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能做到起火时先喊人、先撤人，先救处在直接危险中的人。</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能做到用盖子、灭火毯、干砂等扑灭容器小火，气体火先关阀，通风柜内着火先拉下柜门。</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能做到衣服着火时“停、躺、滚”，就近使用紧急喷淋，会用灭火毯帮助他人灭火。</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能判断何时放弃扑救、撤离并拨打 119/120，并知道生物实验室起火要告知生物危害。</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《中华人民共和国消防法》（以现行文本为准）：发现火灾立即报警，单位组织扑救初起火灾和疏散人员，任何人应当无偿为报警提供便利</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4968-2008（以现行文本为准）《火灾分类》：气体火、金属火、烹饪油脂火等类别</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38144-2025（以现行文本为准）《眼面部防护 应急喷淋和洗眼设备》：应急喷淋设备的设置与使用</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号，以现行文本为准）：实验室配备灭火毯等消防器材和应急喷淋设施，开展应急处置培训</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高校实验室安全检查项目表（以现行文本为准）：灭火毯、沙箱、应急喷淋配置和人员会用</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生物安全通用要求》：生物安全实验室的消防与应急预案</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本校火灾应急预案和实验室事故报告制度（以本校规定为准）</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起火别慌，先喊人、先撤人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火灾是实验室常见的物理事故之一</a:t>
            </a:r>
          </a:p>
          <a:p>
            <a:pPr>
              <a:spcAft>
                <a:spcPts val="1000"/>
              </a:spcAft>
            </a:pPr>
            <a:r>
              <a:rPr sz="2000">
                <a:solidFill>
                  <a:srgbClr val="222B33"/>
                </a:solidFill>
                <a:latin typeface="Microsoft YaHei"/>
              </a:rPr>
              <a:t>▪ 着火先别慌，先喊人、先撤人</a:t>
            </a:r>
          </a:p>
          <a:p>
            <a:pPr>
              <a:spcAft>
                <a:spcPts val="1000"/>
              </a:spcAft>
            </a:pPr>
            <a:r>
              <a:rPr sz="2000">
                <a:solidFill>
                  <a:srgbClr val="222B33"/>
                </a:solidFill>
                <a:latin typeface="Microsoft YaHei"/>
              </a:rPr>
              <a:t>▪ 无关的人马上离开</a:t>
            </a:r>
          </a:p>
          <a:p>
            <a:pPr>
              <a:spcAft>
                <a:spcPts val="1000"/>
              </a:spcAft>
            </a:pPr>
            <a:r>
              <a:rPr sz="2000">
                <a:solidFill>
                  <a:srgbClr val="222B33"/>
                </a:solidFill>
                <a:latin typeface="Microsoft YaHei"/>
              </a:rPr>
              <a:t>▪ 生命高于财产，没受过培训别硬上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火灾与滑倒、坠落一样，是实验室常见的物理事故。酒精灯、加热板等热源离易燃化学品太近，台面就可能着火。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起火后只顾自己扑火，不提醒周围的人</a:t>
            </a:r>
          </a:p>
          <a:p>
            <a:pPr>
              <a:spcAft>
                <a:spcPts val="1000"/>
              </a:spcAft>
            </a:pPr>
            <a:r>
              <a:rPr sz="1500">
                <a:solidFill>
                  <a:srgbClr val="222B33"/>
                </a:solidFill>
                <a:latin typeface="Microsoft YaHei"/>
              </a:rPr>
              <a:t>▪ 为了抢救仪器、数据冒险</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先救处在直接危险中的人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着火了，先救处在直接危险中的人</a:t>
            </a:r>
          </a:p>
          <a:p>
            <a:pPr>
              <a:spcAft>
                <a:spcPts val="1000"/>
              </a:spcAft>
            </a:pPr>
            <a:r>
              <a:rPr sz="2000">
                <a:solidFill>
                  <a:srgbClr val="222B33"/>
                </a:solidFill>
                <a:latin typeface="Microsoft YaHei"/>
              </a:rPr>
              <a:t>▪ 救人也要先保护好自己</a:t>
            </a:r>
          </a:p>
          <a:p>
            <a:pPr>
              <a:spcAft>
                <a:spcPts val="1000"/>
              </a:spcAft>
            </a:pPr>
            <a:r>
              <a:rPr sz="2000">
                <a:solidFill>
                  <a:srgbClr val="222B33"/>
                </a:solidFill>
                <a:latin typeface="Microsoft YaHei"/>
              </a:rPr>
              <a:t>▪ 清点人数，确认没人被落下</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发生火灾时，首先抢救正处在火焰、浓烟等直接危险中的人，把他们带离危险区域，然后再考虑扑救和保护财产，即“先救人、后救火”。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先抢救仪器、样品，再想到人</a:t>
            </a:r>
          </a:p>
          <a:p>
            <a:pPr>
              <a:spcAft>
                <a:spcPts val="1000"/>
              </a:spcAft>
            </a:pPr>
            <a:r>
              <a:rPr sz="1500">
                <a:solidFill>
                  <a:srgbClr val="222B33"/>
                </a:solidFill>
                <a:latin typeface="Microsoft YaHei"/>
              </a:rPr>
              <a:t>▪ 不顾自身安全冲进浓烟中救人</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容器小火：断热源，盖住隔绝空气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先关热源、断电，移走旁边的溶剂</a:t>
            </a:r>
          </a:p>
          <a:p>
            <a:pPr>
              <a:spcAft>
                <a:spcPts val="1000"/>
              </a:spcAft>
            </a:pPr>
            <a:r>
              <a:rPr sz="2000">
                <a:solidFill>
                  <a:srgbClr val="222B33"/>
                </a:solidFill>
                <a:latin typeface="Microsoft YaHei"/>
              </a:rPr>
              <a:t>▪ 用表面皿、大烧杯或盖子扣灭</a:t>
            </a:r>
          </a:p>
          <a:p>
            <a:pPr>
              <a:spcAft>
                <a:spcPts val="1000"/>
              </a:spcAft>
            </a:pPr>
            <a:r>
              <a:rPr sz="2000">
                <a:solidFill>
                  <a:srgbClr val="222B33"/>
                </a:solidFill>
                <a:latin typeface="Microsoft YaHei"/>
              </a:rPr>
              <a:t>▪ 盖住就隔绝了空气</a:t>
            </a:r>
          </a:p>
          <a:p>
            <a:pPr>
              <a:spcAft>
                <a:spcPts val="1000"/>
              </a:spcAft>
            </a:pPr>
            <a:r>
              <a:rPr sz="2000">
                <a:solidFill>
                  <a:srgbClr val="222B33"/>
                </a:solidFill>
                <a:latin typeface="Microsoft YaHei"/>
              </a:rPr>
              <a:t>▪ 初起小火也可用灭火毯或灭火器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烧杯、烧瓶口或小容器内的溶剂着火，先关闭加热板、电热套等热源并断电，把附近的溶剂瓶移开；再用表面皿、大烧杯、石棉网或合适的盖子扣在容器口上，隔绝空气，火很快就会熄灭（燃烧三角缺了助燃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不关热源就去扑火</a:t>
            </a:r>
          </a:p>
          <a:p>
            <a:pPr>
              <a:spcAft>
                <a:spcPts val="1000"/>
              </a:spcAft>
            </a:pPr>
            <a:r>
              <a:rPr sz="1500">
                <a:solidFill>
                  <a:srgbClr val="222B33"/>
                </a:solidFill>
                <a:latin typeface="Microsoft YaHei"/>
              </a:rPr>
              <a:t>▪ 用嘴吹或用手扇容器口的火</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灭火毯：整块盖住，别急掀开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灭火毯能盖灭小火，也能救衣服着火的人</a:t>
            </a:r>
          </a:p>
          <a:p>
            <a:pPr>
              <a:spcAft>
                <a:spcPts val="1000"/>
              </a:spcAft>
            </a:pPr>
            <a:r>
              <a:rPr sz="2000">
                <a:solidFill>
                  <a:srgbClr val="222B33"/>
                </a:solidFill>
                <a:latin typeface="Microsoft YaHei"/>
              </a:rPr>
              <a:t>▪ 拉出灭火毯，双手捏住两角</a:t>
            </a:r>
          </a:p>
          <a:p>
            <a:pPr>
              <a:spcAft>
                <a:spcPts val="1000"/>
              </a:spcAft>
            </a:pPr>
            <a:r>
              <a:rPr sz="2000">
                <a:solidFill>
                  <a:srgbClr val="222B33"/>
                </a:solidFill>
                <a:latin typeface="Microsoft YaHei"/>
              </a:rPr>
              <a:t>▪ 护住手，从身前向外整块盖住火焰</a:t>
            </a:r>
          </a:p>
          <a:p>
            <a:pPr>
              <a:spcAft>
                <a:spcPts val="1000"/>
              </a:spcAft>
            </a:pPr>
            <a:r>
              <a:rPr sz="2000">
                <a:solidFill>
                  <a:srgbClr val="222B33"/>
                </a:solidFill>
                <a:latin typeface="Microsoft YaHei"/>
              </a:rPr>
              <a:t>▪ 盖好别急着掀开，等它冷却</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灭火毯用耐火材料制成，平时装在墙上的盒子里。使用时双手拉住两条拉带，把毯子拉出，捏住两角，把毯子边缘卷起护住双手，从身前向外、整块盖住着火的托盘、烧杯或小范围的火焰，使火因隔绝空气而熄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把灭火毯扔向火焰，没有整块盖住</a:t>
            </a:r>
          </a:p>
          <a:p>
            <a:pPr>
              <a:spcAft>
                <a:spcPts val="1000"/>
              </a:spcAft>
            </a:pPr>
            <a:r>
              <a:rPr sz="1500">
                <a:solidFill>
                  <a:srgbClr val="222B33"/>
                </a:solidFill>
                <a:latin typeface="Microsoft YaHei"/>
              </a:rPr>
              <a:t>▪ 刚盖住就掀开查看</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气体火先关阀，柜内火拉下柜门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气体着火，最要紧的是关阀断气</a:t>
            </a:r>
          </a:p>
          <a:p>
            <a:pPr>
              <a:spcAft>
                <a:spcPts val="1000"/>
              </a:spcAft>
            </a:pPr>
            <a:r>
              <a:rPr sz="2000">
                <a:solidFill>
                  <a:srgbClr val="222B33"/>
                </a:solidFill>
                <a:latin typeface="Microsoft YaHei"/>
              </a:rPr>
              <a:t>▪ 只灭火不断气，泄漏的气体更危险</a:t>
            </a:r>
          </a:p>
          <a:p>
            <a:pPr>
              <a:spcAft>
                <a:spcPts val="1000"/>
              </a:spcAft>
            </a:pPr>
            <a:r>
              <a:rPr sz="2000">
                <a:solidFill>
                  <a:srgbClr val="222B33"/>
                </a:solidFill>
                <a:latin typeface="Microsoft YaHei"/>
              </a:rPr>
              <a:t>▪ 通风柜里着火，先拉下柜门</a:t>
            </a:r>
          </a:p>
          <a:p>
            <a:pPr>
              <a:spcAft>
                <a:spcPts val="1000"/>
              </a:spcAft>
            </a:pPr>
            <a:r>
              <a:rPr sz="2000">
                <a:solidFill>
                  <a:srgbClr val="222B33"/>
                </a:solidFill>
                <a:latin typeface="Microsoft YaHei"/>
              </a:rPr>
              <a:t>▪ 金属着火用干砂，电器着火先断电</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可燃气体着火时，如果能安全地关闭气瓶或管道阀门，先关阀切断气源，火会随之熄灭；如果只把火扑灭而不断气，气体继续泄漏，与空气混合后遇火源可能爆炸。关不了阀，立即撤离报警。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气体火只灭火不关阀</a:t>
            </a:r>
          </a:p>
          <a:p>
            <a:pPr>
              <a:spcAft>
                <a:spcPts val="1000"/>
              </a:spcAft>
            </a:pPr>
            <a:r>
              <a:rPr sz="1500">
                <a:solidFill>
                  <a:srgbClr val="222B33"/>
                </a:solidFill>
                <a:latin typeface="Microsoft YaHei"/>
              </a:rPr>
              <a:t>▪ 通风柜内着火时把柜门开大去扑火</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油锅起火：关火，盖锅盖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油锅起火，千万不能泼水</a:t>
            </a:r>
          </a:p>
          <a:p>
            <a:pPr>
              <a:spcAft>
                <a:spcPts val="1000"/>
              </a:spcAft>
            </a:pPr>
            <a:r>
              <a:rPr sz="2000">
                <a:solidFill>
                  <a:srgbClr val="222B33"/>
                </a:solidFill>
                <a:latin typeface="Microsoft YaHei"/>
              </a:rPr>
              <a:t>▪ 先关火，再盖锅盖或灭火毯</a:t>
            </a:r>
          </a:p>
          <a:p>
            <a:pPr>
              <a:spcAft>
                <a:spcPts val="1000"/>
              </a:spcAft>
            </a:pPr>
            <a:r>
              <a:rPr sz="2000">
                <a:solidFill>
                  <a:srgbClr val="222B33"/>
                </a:solidFill>
                <a:latin typeface="Microsoft YaHei"/>
              </a:rPr>
              <a:t>▪ 国内把油锅火单列为 F 类火</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锅里的食用油着火时，泼水会使高温的油飞溅，形成更大的火。正确做法是先关掉热源，再用锅盖或灭火毯盖住，隔绝空气灭火，盖住后不要马上掀开。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往着火的油锅里泼水</a:t>
            </a:r>
          </a:p>
          <a:p>
            <a:pPr>
              <a:spcAft>
                <a:spcPts val="1000"/>
              </a:spcAft>
            </a:pPr>
            <a:r>
              <a:rPr sz="1500">
                <a:solidFill>
                  <a:srgbClr val="222B33"/>
                </a:solidFill>
                <a:latin typeface="Microsoft YaHei"/>
              </a:rPr>
              <a:t>▪ 端起着火的油锅往外跑</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扑灭后检查，防止复燃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火灭了，还要检查会不会复燃</a:t>
            </a:r>
          </a:p>
          <a:p>
            <a:pPr>
              <a:spcAft>
                <a:spcPts val="1000"/>
              </a:spcAft>
            </a:pPr>
            <a:r>
              <a:rPr sz="2000">
                <a:solidFill>
                  <a:srgbClr val="222B33"/>
                </a:solidFill>
                <a:latin typeface="Microsoft YaHei"/>
              </a:rPr>
              <a:t>▪ 确认没有余火，再离开</a:t>
            </a:r>
          </a:p>
          <a:p>
            <a:pPr>
              <a:spcAft>
                <a:spcPts val="1000"/>
              </a:spcAft>
            </a:pPr>
            <a:r>
              <a:rPr sz="2000">
                <a:solidFill>
                  <a:srgbClr val="222B33"/>
                </a:solidFill>
                <a:latin typeface="Microsoft YaHei"/>
              </a:rPr>
              <a:t>▪ 扑灭后报告实验室负责人</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明火扑灭后，纸张、织物等燃烧物的余烬仍可能复燃，溶剂和热表面也可能重新引燃。要仔细检查有没有残留的火星和高温物体，确认没有余火后再离开。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火一灭就离开，不检查余火</a:t>
            </a:r>
          </a:p>
          <a:p>
            <a:pPr>
              <a:spcAft>
                <a:spcPts val="1000"/>
              </a:spcAft>
            </a:pPr>
            <a:r>
              <a:rPr sz="1500">
                <a:solidFill>
                  <a:srgbClr val="222B33"/>
                </a:solidFill>
                <a:latin typeface="Microsoft YaHei"/>
              </a:rPr>
              <a:t>▪ 小火灭了就不报告</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衣服着火：停、躺、滚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衣服着火千万别跑，越跑火越大</a:t>
            </a:r>
          </a:p>
          <a:p>
            <a:pPr>
              <a:spcAft>
                <a:spcPts val="1000"/>
              </a:spcAft>
            </a:pPr>
            <a:r>
              <a:rPr sz="2000">
                <a:solidFill>
                  <a:srgbClr val="222B33"/>
                </a:solidFill>
                <a:latin typeface="Microsoft YaHei"/>
              </a:rPr>
              <a:t>▪ 停下，躺倒，双手捂住脸</a:t>
            </a:r>
          </a:p>
          <a:p>
            <a:pPr>
              <a:spcAft>
                <a:spcPts val="1000"/>
              </a:spcAft>
            </a:pPr>
            <a:r>
              <a:rPr sz="2000">
                <a:solidFill>
                  <a:srgbClr val="222B33"/>
                </a:solidFill>
                <a:latin typeface="Microsoft YaHei"/>
              </a:rPr>
              <a:t>▪ 就地来回翻滚，压灭火焰</a:t>
            </a:r>
          </a:p>
          <a:p>
            <a:pPr>
              <a:spcAft>
                <a:spcPts val="1000"/>
              </a:spcAft>
            </a:pPr>
            <a:r>
              <a:rPr sz="2000">
                <a:solidFill>
                  <a:srgbClr val="222B33"/>
                </a:solidFill>
                <a:latin typeface="Microsoft YaHei"/>
              </a:rPr>
              <a:t>▪ 附近有紧急喷淋或灭火毯，也可以用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衣服着火时奔跑会带来更多空气，火势更大，火焰还会向上烧到脸部和头发。正确做法是“停、躺、滚”：立即停下，躺倒在地，双手捂住脸，来回翻滚，把火焰压灭。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衣服着火后惊慌奔跑</a:t>
            </a:r>
          </a:p>
          <a:p>
            <a:pPr>
              <a:spcAft>
                <a:spcPts val="1000"/>
              </a:spcAft>
            </a:pPr>
            <a:r>
              <a:rPr sz="1500">
                <a:solidFill>
                  <a:srgbClr val="222B33"/>
                </a:solidFill>
                <a:latin typeface="Microsoft YaHei"/>
              </a:rPr>
              <a:t>▪ 用手拍打火焰，不护住脸</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紧急喷淋：全身淋湿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附近有紧急喷淋，马上去冲淋</a:t>
            </a:r>
          </a:p>
          <a:p>
            <a:pPr>
              <a:spcAft>
                <a:spcPts val="1000"/>
              </a:spcAft>
            </a:pPr>
            <a:r>
              <a:rPr sz="2000">
                <a:solidFill>
                  <a:srgbClr val="222B33"/>
                </a:solidFill>
                <a:latin typeface="Microsoft YaHei"/>
              </a:rPr>
              <a:t>▪ 拉下拉杆，让全身都淋湿</a:t>
            </a:r>
          </a:p>
          <a:p>
            <a:pPr>
              <a:spcAft>
                <a:spcPts val="1000"/>
              </a:spcAft>
            </a:pPr>
            <a:r>
              <a:rPr sz="2000">
                <a:solidFill>
                  <a:srgbClr val="222B33"/>
                </a:solidFill>
                <a:latin typeface="Microsoft YaHei"/>
              </a:rPr>
              <a:t>▪ 请旁边的人拨打 120 急救</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身上着火、附近有紧急喷淋时，立即站到喷淋下，拉下拉杆，让全身都被淋湿，火焰熄灭后继续冲淋降温。紧急喷淋的位置、操作和检查见第 027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不知道紧急喷淋在哪，着火后到处找水</a:t>
            </a:r>
          </a:p>
          <a:p>
            <a:pPr>
              <a:spcAft>
                <a:spcPts val="1000"/>
              </a:spcAft>
            </a:pPr>
            <a:r>
              <a:rPr sz="1500">
                <a:solidFill>
                  <a:srgbClr val="222B33"/>
                </a:solidFill>
                <a:latin typeface="Microsoft YaHei"/>
              </a:rPr>
              <a:t>▪ 火灭后不就医</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用灭火毯救人：躺倒、裹住、翻滚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别让人站着裹毯子，火会往头上窜</a:t>
            </a:r>
          </a:p>
          <a:p>
            <a:pPr>
              <a:spcAft>
                <a:spcPts val="1000"/>
              </a:spcAft>
            </a:pPr>
            <a:r>
              <a:rPr sz="2000">
                <a:solidFill>
                  <a:srgbClr val="222B33"/>
                </a:solidFill>
                <a:latin typeface="Microsoft YaHei"/>
              </a:rPr>
              <a:t>▪ 扶他躺倒，用灭火毯裹住</a:t>
            </a:r>
          </a:p>
          <a:p>
            <a:pPr>
              <a:spcAft>
                <a:spcPts val="1000"/>
              </a:spcAft>
            </a:pPr>
            <a:r>
              <a:rPr sz="2000">
                <a:solidFill>
                  <a:srgbClr val="222B33"/>
                </a:solidFill>
                <a:latin typeface="Microsoft YaHei"/>
              </a:rPr>
              <a:t>▪ 帮他翻滚，直到火灭</a:t>
            </a:r>
          </a:p>
          <a:p>
            <a:pPr>
              <a:spcAft>
                <a:spcPts val="1000"/>
              </a:spcAft>
            </a:pPr>
            <a:r>
              <a:rPr sz="2000">
                <a:solidFill>
                  <a:srgbClr val="222B33"/>
                </a:solidFill>
                <a:latin typeface="Microsoft YaHei"/>
              </a:rPr>
              <a:t>▪ 火灭后用流动冷水冲烧伤处，再送医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用灭火毯救衣服着火的人时，不要让他站着裹毯子：站立时火焰向上蹿，毯子会把火和热气引向脸部和头部。应先扶他躺倒，用灭火毯从颈部向下裹住身体，帮助他翻滚，直到火焰熄灭。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让着火的人站着用毯子裹身</a:t>
            </a:r>
          </a:p>
          <a:p>
            <a:pPr>
              <a:spcAft>
                <a:spcPts val="1000"/>
              </a:spcAft>
            </a:pPr>
            <a:r>
              <a:rPr sz="1500">
                <a:solidFill>
                  <a:srgbClr val="222B33"/>
                </a:solidFill>
                <a:latin typeface="Microsoft YaHei"/>
              </a:rPr>
              <a:t>▪ 用毯子盖住头面部</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火大就撤：低姿、关门、报警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火大了、烟浓了，马上撤离</a:t>
            </a:r>
          </a:p>
          <a:p>
            <a:pPr>
              <a:spcAft>
                <a:spcPts val="1000"/>
              </a:spcAft>
            </a:pPr>
            <a:r>
              <a:rPr sz="2000">
                <a:solidFill>
                  <a:srgbClr val="222B33"/>
                </a:solidFill>
                <a:latin typeface="Microsoft YaHei"/>
              </a:rPr>
              <a:t>▪ 低姿前进，湿毛巾捂住口鼻</a:t>
            </a:r>
          </a:p>
          <a:p>
            <a:pPr>
              <a:spcAft>
                <a:spcPts val="1000"/>
              </a:spcAft>
            </a:pPr>
            <a:r>
              <a:rPr sz="2000">
                <a:solidFill>
                  <a:srgbClr val="222B33"/>
                </a:solidFill>
                <a:latin typeface="Microsoft YaHei"/>
              </a:rPr>
              <a:t>▪ 随手关门，走楼梯，不坐电梯</a:t>
            </a:r>
          </a:p>
          <a:p>
            <a:pPr>
              <a:spcAft>
                <a:spcPts val="1000"/>
              </a:spcAft>
            </a:pPr>
            <a:r>
              <a:rPr sz="2000">
                <a:solidFill>
                  <a:srgbClr val="222B33"/>
                </a:solidFill>
                <a:latin typeface="Microsoft YaHei"/>
              </a:rPr>
              <a:t>▪ 拨打 119/120，报告负责人、学院和保卫处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初起的小火有把握才扑救。火势扩大、烟雾变浓，或者扑救无效，立即撤离：低姿前进，用湿毛巾或衣物捂住口鼻，随手关门阻隔火势和烟气，沿疏散指示走楼梯，不乘电梯。</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火大了还坚持扑救</a:t>
            </a:r>
          </a:p>
          <a:p>
            <a:pPr>
              <a:spcAft>
                <a:spcPts val="1000"/>
              </a:spcAft>
            </a:pPr>
            <a:r>
              <a:rPr sz="1500">
                <a:solidFill>
                  <a:srgbClr val="222B33"/>
                </a:solidFill>
                <a:latin typeface="Microsoft YaHei"/>
              </a:rPr>
              <a:t>▪ 撤离时乘电梯，或返回取物</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生物实验室起火：告知生物危害</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来得及就盖好样品，撤离时随手关门</a:t>
            </a:r>
          </a:p>
          <a:p>
            <a:pPr>
              <a:spcAft>
                <a:spcPts val="1000"/>
              </a:spcAft>
            </a:pPr>
            <a:r>
              <a:rPr sz="2000">
                <a:solidFill>
                  <a:srgbClr val="222B33"/>
                </a:solidFill>
                <a:latin typeface="Microsoft YaHei"/>
              </a:rPr>
              <a:t>▪ 不要把感染性材料带出实验室</a:t>
            </a:r>
          </a:p>
          <a:p>
            <a:pPr>
              <a:spcAft>
                <a:spcPts val="1000"/>
              </a:spcAft>
            </a:pPr>
            <a:r>
              <a:rPr sz="2000">
                <a:solidFill>
                  <a:srgbClr val="222B33"/>
                </a:solidFill>
                <a:latin typeface="Microsoft YaHei"/>
              </a:rPr>
              <a:t>▪ 告诉消防救援人员哪里有生物危害</a:t>
            </a:r>
          </a:p>
          <a:p>
            <a:pPr>
              <a:spcAft>
                <a:spcPts val="1000"/>
              </a:spcAft>
            </a:pPr>
            <a:r>
              <a:rPr sz="2000">
                <a:solidFill>
                  <a:srgbClr val="222B33"/>
                </a:solidFill>
                <a:latin typeface="Microsoft YaHei"/>
              </a:rPr>
              <a:t>▪ 火灾后先评估、去污，再恢复使用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微生物等生物实验室起火，除了一般的扑救和撤离要求，还要防止病原扩散：时间允许时盖好样品容器、关闭生物安全柜操作，撤离时随手关门；不要把感染性材料带出实验室。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撤离时把培养物、样品带出实验室</a:t>
            </a:r>
          </a:p>
          <a:p>
            <a:pPr>
              <a:spcAft>
                <a:spcPts val="1000"/>
              </a:spcAft>
            </a:pPr>
            <a:r>
              <a:rPr sz="1500">
                <a:solidFill>
                  <a:srgbClr val="222B33"/>
                </a:solidFill>
                <a:latin typeface="Microsoft YaHei"/>
              </a:rPr>
              <a:t>▪ 不告诉消防救援人员实验室有生物危害</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烧杯口的少量溶剂着火，首先应该：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用嘴吹灭</a:t>
            </a:r>
          </a:p>
          <a:p>
            <a:pPr algn="l"/>
            <a:r>
              <a:rPr sz="1500" b="0">
                <a:solidFill>
                  <a:srgbClr val="222B33"/>
                </a:solidFill>
                <a:latin typeface="Microsoft YaHei"/>
              </a:rPr>
              <a:t>B. 关闭热源，用表面皿或大烧杯扣灭</a:t>
            </a:r>
          </a:p>
          <a:p>
            <a:pPr algn="l"/>
            <a:r>
              <a:rPr sz="1500" b="0">
                <a:solidFill>
                  <a:srgbClr val="222B33"/>
                </a:solidFill>
                <a:latin typeface="Microsoft YaHei"/>
              </a:rPr>
              <a:t>C. 端起烧杯跑到水池</a:t>
            </a:r>
          </a:p>
          <a:p>
            <a:pPr algn="l"/>
            <a:r>
              <a:rPr sz="1500" b="0">
                <a:solidFill>
                  <a:srgbClr val="222B33"/>
                </a:solidFill>
                <a:latin typeface="Microsoft YaHei"/>
              </a:rPr>
              <a:t>D. 泼水</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衣服着火时，正确的做法是：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跑到室外</a:t>
            </a:r>
          </a:p>
          <a:p>
            <a:pPr algn="l"/>
            <a:r>
              <a:rPr sz="1500" b="0">
                <a:solidFill>
                  <a:srgbClr val="222B33"/>
                </a:solidFill>
                <a:latin typeface="Microsoft YaHei"/>
              </a:rPr>
              <a:t>B. 用手拍打</a:t>
            </a:r>
          </a:p>
          <a:p>
            <a:pPr algn="l"/>
            <a:r>
              <a:rPr sz="1500" b="0">
                <a:solidFill>
                  <a:srgbClr val="222B33"/>
                </a:solidFill>
                <a:latin typeface="Microsoft YaHei"/>
              </a:rPr>
              <a:t>C. 停下、躺倒、捂脸、来回翻滚</a:t>
            </a:r>
          </a:p>
          <a:p>
            <a:pPr algn="l"/>
            <a:r>
              <a:rPr sz="1500" b="0">
                <a:solidFill>
                  <a:srgbClr val="222B33"/>
                </a:solidFill>
                <a:latin typeface="Microsoft YaHei"/>
              </a:rPr>
              <a:t>D. 站着脱衣服</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判断：用灭火毯救衣服着火的人时，应让他站着用毯子裹住全身。</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判断：可燃气体着火时，能安全关闭阀门的，应先关阀断气。</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034 · 初起火灾与衣物着火</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034 初起火灾与衣物着火</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用灭火毯盖住台面小火后，应该：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马上掀开看火灭没灭</a:t>
            </a:r>
          </a:p>
          <a:p>
            <a:pPr algn="l"/>
            <a:r>
              <a:rPr sz="1500" b="0">
                <a:solidFill>
                  <a:srgbClr val="222B33"/>
                </a:solidFill>
                <a:latin typeface="Microsoft YaHei"/>
              </a:rPr>
              <a:t>B. 盖好不动，等冷却后再拿开</a:t>
            </a:r>
          </a:p>
          <a:p>
            <a:pPr algn="l"/>
            <a:r>
              <a:rPr sz="1500" b="0">
                <a:solidFill>
                  <a:srgbClr val="222B33"/>
                </a:solidFill>
                <a:latin typeface="Microsoft YaHei"/>
              </a:rPr>
              <a:t>C. 往毯子上泼水</a:t>
            </a:r>
          </a:p>
          <a:p>
            <a:pPr algn="l"/>
            <a:r>
              <a:rPr sz="1500" b="0">
                <a:solidFill>
                  <a:srgbClr val="222B33"/>
                </a:solidFill>
                <a:latin typeface="Microsoft YaHei"/>
              </a:rPr>
              <a:t>D. 离开实验室不管</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简答：微生物实验室起火撤离时，要注意哪些与生物危害有关的事项？</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起火别慌，先喊人、先撤人</a:t>
            </a:r>
          </a:p>
          <a:p>
            <a:pPr>
              <a:spcAft>
                <a:spcPts val="800"/>
              </a:spcAft>
            </a:pPr>
            <a:r>
              <a:rPr sz="1500">
                <a:solidFill>
                  <a:srgbClr val="FFFFFF"/>
                </a:solidFill>
                <a:latin typeface="Microsoft YaHei"/>
              </a:rPr>
              <a:t>▪ K2  先救处在直接危险中的人</a:t>
            </a:r>
          </a:p>
          <a:p>
            <a:pPr>
              <a:spcAft>
                <a:spcPts val="800"/>
              </a:spcAft>
            </a:pPr>
            <a:r>
              <a:rPr sz="1500">
                <a:solidFill>
                  <a:srgbClr val="FFFFFF"/>
                </a:solidFill>
                <a:latin typeface="Microsoft YaHei"/>
              </a:rPr>
              <a:t>▪ K3  容器小火：断热源，盖住隔绝空气</a:t>
            </a:r>
          </a:p>
          <a:p>
            <a:pPr>
              <a:spcAft>
                <a:spcPts val="800"/>
              </a:spcAft>
            </a:pPr>
            <a:r>
              <a:rPr sz="1500">
                <a:solidFill>
                  <a:srgbClr val="FFFFFF"/>
                </a:solidFill>
                <a:latin typeface="Microsoft YaHei"/>
              </a:rPr>
              <a:t>▪ K4  灭火毯：整块盖住，别急掀开</a:t>
            </a:r>
          </a:p>
          <a:p>
            <a:pPr>
              <a:spcAft>
                <a:spcPts val="800"/>
              </a:spcAft>
            </a:pPr>
            <a:r>
              <a:rPr sz="1500">
                <a:solidFill>
                  <a:srgbClr val="FFFFFF"/>
                </a:solidFill>
                <a:latin typeface="Microsoft YaHei"/>
              </a:rPr>
              <a:t>▪ K5  气体火先关阀，柜内火拉下柜门</a:t>
            </a:r>
          </a:p>
          <a:p>
            <a:pPr>
              <a:spcAft>
                <a:spcPts val="800"/>
              </a:spcAft>
            </a:pPr>
            <a:r>
              <a:rPr sz="1500">
                <a:solidFill>
                  <a:srgbClr val="FFFFFF"/>
                </a:solidFill>
                <a:latin typeface="Microsoft YaHei"/>
              </a:rPr>
              <a:t>▪ K6  油锅起火：关火，盖锅盖</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扑灭后检查，防止复燃</a:t>
            </a:r>
          </a:p>
          <a:p>
            <a:pPr>
              <a:spcAft>
                <a:spcPts val="800"/>
              </a:spcAft>
            </a:pPr>
            <a:r>
              <a:rPr sz="1500">
                <a:solidFill>
                  <a:srgbClr val="FFFFFF"/>
                </a:solidFill>
                <a:latin typeface="Microsoft YaHei"/>
              </a:rPr>
              <a:t>▪ K8  衣服着火：停、躺、滚</a:t>
            </a:r>
          </a:p>
          <a:p>
            <a:pPr>
              <a:spcAft>
                <a:spcPts val="800"/>
              </a:spcAft>
            </a:pPr>
            <a:r>
              <a:rPr sz="1500">
                <a:solidFill>
                  <a:srgbClr val="FFFFFF"/>
                </a:solidFill>
                <a:latin typeface="Microsoft YaHei"/>
              </a:rPr>
              <a:t>▪ K9  紧急喷淋：全身淋湿</a:t>
            </a:r>
          </a:p>
          <a:p>
            <a:pPr>
              <a:spcAft>
                <a:spcPts val="800"/>
              </a:spcAft>
            </a:pPr>
            <a:r>
              <a:rPr sz="1500">
                <a:solidFill>
                  <a:srgbClr val="FFFFFF"/>
                </a:solidFill>
                <a:latin typeface="Microsoft YaHei"/>
              </a:rPr>
              <a:t>▪ K10  用灭火毯救人：躺倒、裹住、翻滚</a:t>
            </a:r>
          </a:p>
          <a:p>
            <a:pPr>
              <a:spcAft>
                <a:spcPts val="800"/>
              </a:spcAft>
            </a:pPr>
            <a:r>
              <a:rPr sz="1500">
                <a:solidFill>
                  <a:srgbClr val="FFFFFF"/>
                </a:solidFill>
                <a:latin typeface="Microsoft YaHei"/>
              </a:rPr>
              <a:t>▪ K11  火大就撤：低姿、关门、报警</a:t>
            </a:r>
          </a:p>
          <a:p>
            <a:pPr>
              <a:spcAft>
                <a:spcPts val="800"/>
              </a:spcAft>
            </a:pPr>
            <a:r>
              <a:rPr sz="1500">
                <a:solidFill>
                  <a:srgbClr val="FFFFFF"/>
                </a:solidFill>
                <a:latin typeface="Microsoft YaHei"/>
              </a:rPr>
              <a:t>▪ K12  生物实验室起火：告知生物危害</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035</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火灾报警与消防设施</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第4章 消防安全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57 镜）　适用对象：全体进入高校实验室的本科生、研究生和教职工（必修）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能说出火灾自动报警系统的组成（探测器、手动报警按钮、控制器、声光警报）和信号送到消防控制室的过程。</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能做到进入实验室先找到手动报警按钮、消火栓箱和出口，发现火情会按报警按钮，警报响了立即撤离。</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能说出感温、差温、感烟探测器和自动喷水、消火栓、水泵接合器、气体灭火、防火门的作用。</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能做到不遮挡、不堆物、不损坏、不擅自停用消防设施，发现异常及时报修。</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《中华人民共和国消防法》（以现行文本为准）：不得损坏、挪用或者擅自拆除、停用消防设施、器材，不得埋压、圈占、遮挡消火栓，不得占用、堵塞、封闭疏散通道和安全出口</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4717-2024（以现行文本为准）《火灾报警控制器》：火灾报警控制器的功能与要求</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50116（以现行文本为准）《火灾自动报警系统设计规范》：探测器、手动报警按钮、声光警报器和消防控制室的设置</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50084（以现行文本为准）《自动喷水灭火系统设计规范》：湿式、干式等系统和喷头布置</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50974（以现行文本为准）《消防给水及消火栓系统技术规范》：室内外消火栓和水泵接合器</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号，以现行文本为准）：实验室消防设施配置与维护</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高校实验室安全检查项目表（以现行文本为准）：消防设施完好、不被遮挡，疏散通道畅通</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本校消防安全管理规定（以本校规定为准）</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进实验室，先认报警和应急设施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向实验室负责人了解报警和应急系统</a:t>
            </a:r>
          </a:p>
          <a:p>
            <a:pPr>
              <a:spcAft>
                <a:spcPts val="1000"/>
              </a:spcAft>
            </a:pPr>
            <a:r>
              <a:rPr sz="2000">
                <a:solidFill>
                  <a:srgbClr val="222B33"/>
                </a:solidFill>
                <a:latin typeface="Microsoft YaHei"/>
              </a:rPr>
              <a:t>▪ 报警按钮在哪，警报响了怎么办</a:t>
            </a:r>
          </a:p>
          <a:p>
            <a:pPr>
              <a:spcAft>
                <a:spcPts val="1000"/>
              </a:spcAft>
            </a:pPr>
            <a:r>
              <a:rPr sz="2000">
                <a:solidFill>
                  <a:srgbClr val="222B33"/>
                </a:solidFill>
                <a:latin typeface="Microsoft YaHei"/>
              </a:rPr>
              <a:t>▪ 要到现场亲眼看、亲手找到</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进入一个新的实验室或楼层，要向实验室负责人了解这里的火灾报警和应急系统：手动火灾报警按钮、消火栓箱、灭火器、应急喷淋和安全出口在哪里，警报响了该怎么做、到哪里集合。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在实验室工作很久，却说不出报警按钮在哪</a:t>
            </a:r>
          </a:p>
          <a:p>
            <a:pPr>
              <a:spcAft>
                <a:spcPts val="1000"/>
              </a:spcAft>
            </a:pPr>
            <a:r>
              <a:rPr sz="1500">
                <a:solidFill>
                  <a:srgbClr val="222B33"/>
                </a:solidFill>
                <a:latin typeface="Microsoft YaHei"/>
              </a:rPr>
              <a:t>▪ 只看疏散图，不到现场确认</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手动报警按钮：发现火情先按它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最基础的报警，靠人手动启动</a:t>
            </a:r>
          </a:p>
          <a:p>
            <a:pPr>
              <a:spcAft>
                <a:spcPts val="1000"/>
              </a:spcAft>
            </a:pPr>
            <a:r>
              <a:rPr sz="2000">
                <a:solidFill>
                  <a:srgbClr val="222B33"/>
                </a:solidFill>
                <a:latin typeface="Microsoft YaHei"/>
              </a:rPr>
              <a:t>▪ 发现火情，先按下手动报警按钮</a:t>
            </a:r>
          </a:p>
          <a:p>
            <a:pPr>
              <a:spcAft>
                <a:spcPts val="1000"/>
              </a:spcAft>
            </a:pPr>
            <a:r>
              <a:rPr sz="2000">
                <a:solidFill>
                  <a:srgbClr val="222B33"/>
                </a:solidFill>
                <a:latin typeface="Microsoft YaHei"/>
              </a:rPr>
              <a:t>▪ 报警按钮前别堆东西</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手动火灾报警按钮是火灾报警系统中最基本的触发装置，安装在走廊、楼梯口、出口附近的墙上。发现火情时，用力按下按钮（有的需要按下或击碎保护片），信号立即送到消防控制室，并启动声光警报，提醒整栋楼的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发现火情只顾自己扑救，不按报警按钮</a:t>
            </a:r>
          </a:p>
          <a:p>
            <a:pPr>
              <a:spcAft>
                <a:spcPts val="1000"/>
              </a:spcAft>
            </a:pPr>
            <a:r>
              <a:rPr sz="1500">
                <a:solidFill>
                  <a:srgbClr val="222B33"/>
                </a:solidFill>
                <a:latin typeface="Microsoft YaHei"/>
              </a:rPr>
              <a:t>▪ 报警按钮被柜子、纸箱挡住</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自动报警：信号送到消防控制室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自动报警系统由探测器、报警按钮、控制器等组成</a:t>
            </a:r>
          </a:p>
          <a:p>
            <a:pPr>
              <a:spcAft>
                <a:spcPts val="1000"/>
              </a:spcAft>
            </a:pPr>
            <a:r>
              <a:rPr sz="2000">
                <a:solidFill>
                  <a:srgbClr val="222B33"/>
                </a:solidFill>
                <a:latin typeface="Microsoft YaHei"/>
              </a:rPr>
              <a:t>▪ 信号经专线、光缆或无线送出</a:t>
            </a:r>
          </a:p>
          <a:p>
            <a:pPr>
              <a:spcAft>
                <a:spcPts val="1000"/>
              </a:spcAft>
            </a:pPr>
            <a:r>
              <a:rPr sz="2000">
                <a:solidFill>
                  <a:srgbClr val="222B33"/>
                </a:solidFill>
                <a:latin typeface="Microsoft YaHei"/>
              </a:rPr>
              <a:t>▪ 送到消防控制室，有人值守</a:t>
            </a:r>
          </a:p>
          <a:p>
            <a:pPr>
              <a:spcAft>
                <a:spcPts val="1000"/>
              </a:spcAft>
            </a:pPr>
            <a:r>
              <a:rPr sz="2000">
                <a:solidFill>
                  <a:srgbClr val="222B33"/>
                </a:solidFill>
                <a:latin typeface="Microsoft YaHei"/>
              </a:rPr>
              <a:t>▪ 值班员核实后组织处置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火灾自动报警系统由火灾探测器、手动火灾报警按钮、火灾报警控制器、声光警报器等组成。探测器或报警按钮发出的信号，通过专用线路、电话线、光缆或无线方式传到火灾报警控制器（按 GB 4717-2024，以现行文本为准）。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以为自动报警会自动叫来消防车，自己不用报警</a:t>
            </a:r>
          </a:p>
          <a:p>
            <a:pPr>
              <a:spcAft>
                <a:spcPts val="1000"/>
              </a:spcAft>
            </a:pPr>
            <a:r>
              <a:rPr sz="1500">
                <a:solidFill>
                  <a:srgbClr val="222B33"/>
                </a:solidFill>
                <a:latin typeface="Microsoft YaHei"/>
              </a:rPr>
              <a:t>▪ 擅自关闭报警控制器上的报警</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探测器：感温、差温、感烟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温度达到设定值，感温探测器报警</a:t>
            </a:r>
          </a:p>
          <a:p>
            <a:pPr>
              <a:spcAft>
                <a:spcPts val="1000"/>
              </a:spcAft>
            </a:pPr>
            <a:r>
              <a:rPr sz="2000">
                <a:solidFill>
                  <a:srgbClr val="222B33"/>
                </a:solidFill>
                <a:latin typeface="Microsoft YaHei"/>
              </a:rPr>
              <a:t>▪ 升温速度太快，差温探测器报警</a:t>
            </a:r>
          </a:p>
          <a:p>
            <a:pPr>
              <a:spcAft>
                <a:spcPts val="1000"/>
              </a:spcAft>
            </a:pPr>
            <a:r>
              <a:rPr sz="2000">
                <a:solidFill>
                  <a:srgbClr val="222B33"/>
                </a:solidFill>
                <a:latin typeface="Microsoft YaHei"/>
              </a:rPr>
              <a:t>▪ 烟雾进入，感烟探测器报警</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火灾探测器是自动报警系统的“眼睛”：感温（定温）探测器在环境温度达到设定值时报警；差温探测器在温度上升速度超过设定值时报警；感烟探测器检测到烟雾颗粒时报警。此外还有感光（火焰）、可燃气体探测器等，按场所特点设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不知道烟雾和温度都会触发报警</a:t>
            </a:r>
          </a:p>
          <a:p>
            <a:pPr>
              <a:spcAft>
                <a:spcPts val="1000"/>
              </a:spcAft>
            </a:pPr>
            <a:r>
              <a:rPr sz="1500">
                <a:solidFill>
                  <a:srgbClr val="222B33"/>
                </a:solidFill>
                <a:latin typeface="Microsoft YaHei"/>
              </a:rPr>
              <a:t>▪ 在探测器下方直接加热、产烟</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感烟探测器：光电型和离子型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感烟探测器分光电型和离子型</a:t>
            </a:r>
          </a:p>
          <a:p>
            <a:pPr>
              <a:spcAft>
                <a:spcPts val="1000"/>
              </a:spcAft>
            </a:pPr>
            <a:r>
              <a:rPr sz="2000">
                <a:solidFill>
                  <a:srgbClr val="222B33"/>
                </a:solidFill>
                <a:latin typeface="Microsoft YaHei"/>
              </a:rPr>
              <a:t>▪ 光电型对冒浓烟、无明火的阴燃更灵敏</a:t>
            </a:r>
          </a:p>
          <a:p>
            <a:pPr>
              <a:spcAft>
                <a:spcPts val="1000"/>
              </a:spcAft>
            </a:pPr>
            <a:r>
              <a:rPr sz="2000">
                <a:solidFill>
                  <a:srgbClr val="222B33"/>
                </a:solidFill>
                <a:latin typeface="Microsoft YaHei"/>
              </a:rPr>
              <a:t>▪ 离子型对燃烧迅速的明火反应更快</a:t>
            </a:r>
          </a:p>
          <a:p>
            <a:pPr>
              <a:spcAft>
                <a:spcPts val="1000"/>
              </a:spcAft>
            </a:pPr>
            <a:r>
              <a:rPr sz="2000">
                <a:solidFill>
                  <a:srgbClr val="222B33"/>
                </a:solidFill>
                <a:latin typeface="Microsoft YaHei"/>
              </a:rPr>
              <a:t>▪ 两种各有所长，按设计配置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感烟探测器主要有两类：光电型利用烟雾颗粒对光的散射或遮挡来探测，对冒浓烟、没有明火的阴燃火（如电线、织物闷烧）更灵敏；离子型利用烟雾颗粒改变电离室电流来探测，对燃烧迅速、烟颗粒细小的明火反应更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以为所有感烟探测器对各种火反应都一样</a:t>
            </a:r>
          </a:p>
          <a:p>
            <a:pPr>
              <a:spcAft>
                <a:spcPts val="1000"/>
              </a:spcAft>
            </a:pPr>
            <a:r>
              <a:rPr sz="1500">
                <a:solidFill>
                  <a:srgbClr val="222B33"/>
                </a:solidFill>
                <a:latin typeface="Microsoft YaHei"/>
              </a:rPr>
              <a:t>▪ 自行拆下、更换探测器</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自动喷水：直接洒向火点，帮人逃生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喷头受热动作，水直接洒向火点</a:t>
            </a:r>
          </a:p>
          <a:p>
            <a:pPr>
              <a:spcAft>
                <a:spcPts val="1000"/>
              </a:spcAft>
            </a:pPr>
            <a:r>
              <a:rPr sz="2000">
                <a:solidFill>
                  <a:srgbClr val="222B33"/>
                </a:solidFill>
                <a:latin typeface="Microsoft YaHei"/>
              </a:rPr>
              <a:t>▪ 限制烟和热，楼上的人更容易撤离</a:t>
            </a:r>
          </a:p>
          <a:p>
            <a:pPr>
              <a:spcAft>
                <a:spcPts val="1000"/>
              </a:spcAft>
            </a:pPr>
            <a:r>
              <a:rPr sz="2000">
                <a:solidFill>
                  <a:srgbClr val="222B33"/>
                </a:solidFill>
                <a:latin typeface="Microsoft YaHei"/>
              </a:rPr>
              <a:t>▪ 每个喷头只管一小片，排起来盖满</a:t>
            </a:r>
          </a:p>
          <a:p>
            <a:pPr>
              <a:spcAft>
                <a:spcPts val="1000"/>
              </a:spcAft>
            </a:pPr>
            <a:r>
              <a:rPr sz="2000">
                <a:solidFill>
                  <a:srgbClr val="222B33"/>
                </a:solidFill>
                <a:latin typeface="Microsoft YaHei"/>
              </a:rPr>
              <a:t>▪ 喷头间距按规范布置，不能随便改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自动喷水灭火系统的闭式喷头平时封闭，火灾时喷头附近温度升高，玻璃球或易熔元件动作，水直接洒向起火点。它能在火灾初期控制或扑灭火灾，限制烟和热的产生，为人员撤离争取时间，尤其帮助楼上的人员逃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以为喷头会对着整个房间喷水，随意加隔断</a:t>
            </a:r>
          </a:p>
          <a:p>
            <a:pPr>
              <a:spcAft>
                <a:spcPts val="1000"/>
              </a:spcAft>
            </a:pPr>
            <a:r>
              <a:rPr sz="1500">
                <a:solidFill>
                  <a:srgbClr val="222B33"/>
                </a:solidFill>
                <a:latin typeface="Microsoft YaHei"/>
              </a:rPr>
              <a:t>▪ 自行拆除或移动喷头</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水流报警与干式系统（了解）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喷淋管里有水流动，就会报警</a:t>
            </a:r>
          </a:p>
          <a:p>
            <a:pPr>
              <a:spcAft>
                <a:spcPts val="1000"/>
              </a:spcAft>
            </a:pPr>
            <a:r>
              <a:rPr sz="2000">
                <a:solidFill>
                  <a:srgbClr val="222B33"/>
                </a:solidFill>
                <a:latin typeface="Microsoft YaHei"/>
              </a:rPr>
              <a:t>▪ 会结冰的地方用干式系统，管里充气</a:t>
            </a:r>
          </a:p>
          <a:p>
            <a:pPr>
              <a:spcAft>
                <a:spcPts val="1000"/>
              </a:spcAft>
            </a:pPr>
            <a:r>
              <a:rPr sz="2000">
                <a:solidFill>
                  <a:srgbClr val="222B33"/>
                </a:solidFill>
                <a:latin typeface="Microsoft YaHei"/>
              </a:rPr>
              <a:t>▪ 干式阀上方气压明显低于下方水压</a:t>
            </a:r>
          </a:p>
          <a:p>
            <a:pPr>
              <a:spcAft>
                <a:spcPts val="1000"/>
              </a:spcAft>
            </a:pPr>
            <a:r>
              <a:rPr sz="2000">
                <a:solidFill>
                  <a:srgbClr val="222B33"/>
                </a:solidFill>
                <a:latin typeface="Microsoft YaHei"/>
              </a:rPr>
              <a:t>▪ 喷头一开气压降，水就冲进管道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自动喷水系统中设有水流指示器和报警阀，管道中一旦有水流动（喷头动作或管道破裂），就会发出报警信号，水力警铃响起。报警装置的设置按国家标准执行。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听到水力警铃不当回事</a:t>
            </a:r>
          </a:p>
          <a:p>
            <a:pPr>
              <a:spcAft>
                <a:spcPts val="1000"/>
              </a:spcAft>
            </a:pPr>
            <a:r>
              <a:rPr sz="1500">
                <a:solidFill>
                  <a:srgbClr val="222B33"/>
                </a:solidFill>
                <a:latin typeface="Microsoft YaHei"/>
              </a:rPr>
              <a:t>▪ 擅自调节报警阀和压力表</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室内消火栓：箱前不能堆东西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室内消火栓箱里有水带、水枪和阀门</a:t>
            </a:r>
          </a:p>
          <a:p>
            <a:pPr>
              <a:spcAft>
                <a:spcPts val="1000"/>
              </a:spcAft>
            </a:pPr>
            <a:r>
              <a:rPr sz="2000">
                <a:solidFill>
                  <a:srgbClr val="222B33"/>
                </a:solidFill>
                <a:latin typeface="Microsoft YaHei"/>
              </a:rPr>
              <a:t>▪ 消火栓是灭火取水的接口</a:t>
            </a:r>
          </a:p>
          <a:p>
            <a:pPr>
              <a:spcAft>
                <a:spcPts val="1000"/>
              </a:spcAft>
            </a:pPr>
            <a:r>
              <a:rPr sz="2000">
                <a:solidFill>
                  <a:srgbClr val="222B33"/>
                </a:solidFill>
                <a:latin typeface="Microsoft YaHei"/>
              </a:rPr>
              <a:t>▪ 湿式栓体里有水，干式没水防冻</a:t>
            </a:r>
          </a:p>
          <a:p>
            <a:pPr>
              <a:spcAft>
                <a:spcPts val="1000"/>
              </a:spcAft>
            </a:pPr>
            <a:r>
              <a:rPr sz="2000">
                <a:solidFill>
                  <a:srgbClr val="222B33"/>
                </a:solidFill>
                <a:latin typeface="Microsoft YaHei"/>
              </a:rPr>
              <a:t>▪ 箱前不能堆东西，不能遮挡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室内消火栓箱设在走廊、楼梯口等处，箱内有消火栓阀门、水带和水枪，有的还有启泵按钮和消防软管卷盘，主要供消防救援人员和受过训练的人员接水带取水灭火。室外消火栓设在建筑周围，有地上式和地下式，按出水口多少分为不同型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在消火栓箱前堆放纸箱、仪器</a:t>
            </a:r>
          </a:p>
          <a:p>
            <a:pPr>
              <a:spcAft>
                <a:spcPts val="1000"/>
              </a:spcAft>
            </a:pPr>
            <a:r>
              <a:rPr sz="1500">
                <a:solidFill>
                  <a:srgbClr val="222B33"/>
                </a:solidFill>
                <a:latin typeface="Microsoft YaHei"/>
              </a:rPr>
              <a:t>▪ 把消火栓箱当储物柜</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水泵接合器：前面不停车、不堆物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消防车通过外墙的水泵接合器往楼里供水</a:t>
            </a:r>
          </a:p>
          <a:p>
            <a:pPr>
              <a:spcAft>
                <a:spcPts val="1000"/>
              </a:spcAft>
            </a:pPr>
            <a:r>
              <a:rPr sz="2000">
                <a:solidFill>
                  <a:srgbClr val="222B33"/>
                </a:solidFill>
                <a:latin typeface="Microsoft YaHei"/>
              </a:rPr>
              <a:t>▪ 接合器设在建筑外，便于消防车连接</a:t>
            </a:r>
          </a:p>
          <a:p>
            <a:pPr>
              <a:spcAft>
                <a:spcPts val="1000"/>
              </a:spcAft>
            </a:pPr>
            <a:r>
              <a:rPr sz="2000">
                <a:solidFill>
                  <a:srgbClr val="222B33"/>
                </a:solidFill>
                <a:latin typeface="Microsoft YaHei"/>
              </a:rPr>
              <a:t>▪ 接合器前不能停车、堆东西</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消防水泵接合器设在建筑外墙或附近，火灾时消防车通过它向楼内的消火栓和自动喷水系统加压供水，是高层和大型建筑灭火的重要设施。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把车停在水泵接合器和室外消火栓前</a:t>
            </a:r>
          </a:p>
          <a:p>
            <a:pPr>
              <a:spcAft>
                <a:spcPts val="1000"/>
              </a:spcAft>
            </a:pPr>
            <a:r>
              <a:rPr sz="1500">
                <a:solidFill>
                  <a:srgbClr val="222B33"/>
                </a:solidFill>
                <a:latin typeface="Microsoft YaHei"/>
              </a:rPr>
              <a:t>▪ 在接合器旁堆放建筑垃圾</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气体灭火房间：报警后马上撤离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有的房间装的是气体灭火系统</a:t>
            </a:r>
          </a:p>
          <a:p>
            <a:pPr>
              <a:spcAft>
                <a:spcPts val="1000"/>
              </a:spcAft>
            </a:pPr>
            <a:r>
              <a:rPr sz="2000">
                <a:solidFill>
                  <a:srgbClr val="222B33"/>
                </a:solidFill>
                <a:latin typeface="Microsoft YaHei"/>
              </a:rPr>
              <a:t>▪ 报警后到放气前，人要马上离开</a:t>
            </a:r>
          </a:p>
          <a:p>
            <a:pPr>
              <a:spcAft>
                <a:spcPts val="1000"/>
              </a:spcAft>
            </a:pPr>
            <a:r>
              <a:rPr sz="2000">
                <a:solidFill>
                  <a:srgbClr val="222B33"/>
                </a:solidFill>
                <a:latin typeface="Microsoft YaHei"/>
              </a:rPr>
              <a:t>▪ 放气后别进去，等专业人员处理</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计算机机房、精密仪器室、档案室等不宜用水的房间，常装有气体灭火系统。系统启动时先发出声光预警，经过一段延时后喷放灭火气体，门口一般设有警示标志和放气指示灯。</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听到预警还留在房间里收拾东西</a:t>
            </a:r>
          </a:p>
          <a:p>
            <a:pPr>
              <a:spcAft>
                <a:spcPts val="1000"/>
              </a:spcAft>
            </a:pPr>
            <a:r>
              <a:rPr sz="1500">
                <a:solidFill>
                  <a:srgbClr val="222B33"/>
                </a:solidFill>
                <a:latin typeface="Microsoft YaHei"/>
              </a:rPr>
              <a:t>▪ 喷放后马上推门进去查看</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探测器和喷头：不遮挡、不停用、定期测试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喷头上不挂东西，下方不堆高物</a:t>
            </a:r>
          </a:p>
          <a:p>
            <a:pPr>
              <a:spcAft>
                <a:spcPts val="1000"/>
              </a:spcAft>
            </a:pPr>
            <a:r>
              <a:rPr sz="2000">
                <a:solidFill>
                  <a:srgbClr val="222B33"/>
                </a:solidFill>
                <a:latin typeface="Microsoft YaHei"/>
              </a:rPr>
              <a:t>▪ 不能遮挡烟感，不能擅自停用</a:t>
            </a:r>
          </a:p>
          <a:p>
            <a:pPr>
              <a:spcAft>
                <a:spcPts val="1000"/>
              </a:spcAft>
            </a:pPr>
            <a:r>
              <a:rPr sz="2000">
                <a:solidFill>
                  <a:srgbClr val="222B33"/>
                </a:solidFill>
                <a:latin typeface="Microsoft YaHei"/>
              </a:rPr>
              <a:t>▪ 会产烟的操作，先报备再处理</a:t>
            </a:r>
          </a:p>
          <a:p>
            <a:pPr>
              <a:spcAft>
                <a:spcPts val="1000"/>
              </a:spcAft>
            </a:pPr>
            <a:r>
              <a:rPr sz="2000">
                <a:solidFill>
                  <a:srgbClr val="222B33"/>
                </a:solidFill>
                <a:latin typeface="Microsoft YaHei"/>
              </a:rPr>
              <a:t>▪ 定期测试，指示灯异常马上报修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喷头上挂衣物、下方堆放过高的物品，会妨碍喷头感温和洒水；用塑料袋、胶带罩住烟感探测器，起火时就无法报警。实验室人员不得遮挡、拆除或擅自停用探测器和喷头。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嫌误报，用塑料袋罩住烟感</a:t>
            </a:r>
          </a:p>
          <a:p>
            <a:pPr>
              <a:spcAft>
                <a:spcPts val="1000"/>
              </a:spcAft>
            </a:pPr>
            <a:r>
              <a:rPr sz="1500">
                <a:solidFill>
                  <a:srgbClr val="222B33"/>
                </a:solidFill>
                <a:latin typeface="Microsoft YaHei"/>
              </a:rPr>
              <a:t>▪ 在喷头上挂衣服、吊东西</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消防设施和通道前不堆物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灭火器、电箱、出口前不准堆东西</a:t>
            </a:r>
          </a:p>
          <a:p>
            <a:pPr>
              <a:spcAft>
                <a:spcPts val="1000"/>
              </a:spcAft>
            </a:pPr>
            <a:r>
              <a:rPr sz="2000">
                <a:solidFill>
                  <a:srgbClr val="222B33"/>
                </a:solidFill>
                <a:latin typeface="Microsoft YaHei"/>
              </a:rPr>
              <a:t>▪ 疏散通道时刻保持畅通</a:t>
            </a:r>
          </a:p>
          <a:p>
            <a:pPr>
              <a:spcAft>
                <a:spcPts val="1000"/>
              </a:spcAft>
            </a:pPr>
            <a:r>
              <a:rPr sz="2000">
                <a:solidFill>
                  <a:srgbClr val="222B33"/>
                </a:solidFill>
                <a:latin typeface="Microsoft YaHei"/>
              </a:rPr>
              <a:t>▪ 不得损坏、挪用、擅自停用消防设施</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灭火器、配电箱、消火栓、报警按钮和安全出口前都要保持畅通，不准堆放纸箱、仪器、废旧设备，紧急时才能马上取用和撤离。疏散通道和楼梯间不得堆物、停放自行车或电动车。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在出口和配电箱前堆放包装箱</a:t>
            </a:r>
          </a:p>
          <a:p>
            <a:pPr>
              <a:spcAft>
                <a:spcPts val="1000"/>
              </a:spcAft>
            </a:pPr>
            <a:r>
              <a:rPr sz="1500">
                <a:solidFill>
                  <a:srgbClr val="222B33"/>
                </a:solidFill>
                <a:latin typeface="Microsoft YaHei"/>
              </a:rPr>
              <a:t>▪ 在楼道里停放电动车、堆放杂物</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防火门常闭，不用东西顶住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楼道里的防火门，平时要关着</a:t>
            </a:r>
          </a:p>
          <a:p>
            <a:pPr>
              <a:spcAft>
                <a:spcPts val="1000"/>
              </a:spcAft>
            </a:pPr>
            <a:r>
              <a:rPr sz="2000">
                <a:solidFill>
                  <a:srgbClr val="222B33"/>
                </a:solidFill>
                <a:latin typeface="Microsoft YaHei"/>
              </a:rPr>
              <a:t>▪ 不能用纸箱、楔子把它顶开</a:t>
            </a:r>
          </a:p>
          <a:p>
            <a:pPr>
              <a:spcAft>
                <a:spcPts val="1000"/>
              </a:spcAft>
            </a:pPr>
            <a:r>
              <a:rPr sz="2000">
                <a:solidFill>
                  <a:srgbClr val="222B33"/>
                </a:solidFill>
                <a:latin typeface="Microsoft YaHei"/>
              </a:rPr>
              <a:t>▪ 关着的门，能把烟火挡在外面</a:t>
            </a:r>
          </a:p>
          <a:p>
            <a:pPr>
              <a:spcAft>
                <a:spcPts val="1000"/>
              </a:spcAft>
            </a:pPr>
            <a:r>
              <a:rPr sz="2000">
                <a:solidFill>
                  <a:srgbClr val="222B33"/>
                </a:solidFill>
                <a:latin typeface="Microsoft YaHei"/>
              </a:rPr>
              <a:t>▪ 门关不上了，及时报修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楼梯间、走廊上的常闭式防火门平时应保持关闭，起火时把烟和火挡在一侧，保护楼梯间等疏散通道。为了方便通行用纸箱、楔子、灭火器把防火门顶开，起火时烟火就会进入楼梯间，阻断逃生路线。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用楔子或纸箱顶住防火门</a:t>
            </a:r>
          </a:p>
          <a:p>
            <a:pPr>
              <a:spcAft>
                <a:spcPts val="1000"/>
              </a:spcAft>
            </a:pPr>
            <a:r>
              <a:rPr sz="1500">
                <a:solidFill>
                  <a:srgbClr val="222B33"/>
                </a:solidFill>
                <a:latin typeface="Microsoft YaHei"/>
              </a:rPr>
              <a:t>▪ 防火门关不上却不报修</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声光警报响了，立即撤离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控制器收到信号，启动声光警报</a:t>
            </a:r>
          </a:p>
          <a:p>
            <a:pPr>
              <a:spcAft>
                <a:spcPts val="1000"/>
              </a:spcAft>
            </a:pPr>
            <a:r>
              <a:rPr sz="2000">
                <a:solidFill>
                  <a:srgbClr val="222B33"/>
                </a:solidFill>
                <a:latin typeface="Microsoft YaHei"/>
              </a:rPr>
              <a:t>▪ 警报一响，停下实验，关掉热源，立即撤离</a:t>
            </a:r>
          </a:p>
          <a:p>
            <a:pPr>
              <a:spcAft>
                <a:spcPts val="1000"/>
              </a:spcAft>
            </a:pPr>
            <a:r>
              <a:rPr sz="2000">
                <a:solidFill>
                  <a:srgbClr val="222B33"/>
                </a:solidFill>
                <a:latin typeface="Microsoft YaHei"/>
              </a:rPr>
              <a:t>▪ 别以为是误报，不要等着看</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火灾报警控制器接到探测器或报警按钮的信号后，启动楼内的声光警报器（警铃、蜂鸣和闪光），通知人员疏散。警报响起时，立即停止实验，在安全的前提下关闭热源、气源，盖好容器，按疏散路线撤离到集合点（见第 036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警报响了继续做实验</a:t>
            </a:r>
          </a:p>
          <a:p>
            <a:pPr>
              <a:spcAft>
                <a:spcPts val="1000"/>
              </a:spcAft>
            </a:pPr>
            <a:r>
              <a:rPr sz="1500">
                <a:solidFill>
                  <a:srgbClr val="222B33"/>
                </a:solidFill>
                <a:latin typeface="Microsoft YaHei"/>
              </a:rPr>
              <a:t>▪ 撤离前回去收拾个人物品</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发现走廊里冒烟起火，最先应使用的报警设施是：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消火栓</a:t>
            </a:r>
          </a:p>
          <a:p>
            <a:pPr algn="l"/>
            <a:r>
              <a:rPr sz="1500" b="0">
                <a:solidFill>
                  <a:srgbClr val="222B33"/>
                </a:solidFill>
                <a:latin typeface="Microsoft YaHei"/>
              </a:rPr>
              <a:t>B. 手动火灾报警按钮</a:t>
            </a:r>
          </a:p>
          <a:p>
            <a:pPr algn="l"/>
            <a:r>
              <a:rPr sz="1500" b="0">
                <a:solidFill>
                  <a:srgbClr val="222B33"/>
                </a:solidFill>
                <a:latin typeface="Microsoft YaHei"/>
              </a:rPr>
              <a:t>C. 水泵接合器</a:t>
            </a:r>
          </a:p>
          <a:p>
            <a:pPr algn="l"/>
            <a:r>
              <a:rPr sz="1500" b="0">
                <a:solidFill>
                  <a:srgbClr val="222B33"/>
                </a:solidFill>
                <a:latin typeface="Microsoft YaHei"/>
              </a:rPr>
              <a:t>D. 防火门</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对冒浓烟、没有明火的阴燃火更灵敏的是：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光电型感烟探测器</a:t>
            </a:r>
          </a:p>
          <a:p>
            <a:pPr algn="l"/>
            <a:r>
              <a:rPr sz="1500" b="0">
                <a:solidFill>
                  <a:srgbClr val="222B33"/>
                </a:solidFill>
                <a:latin typeface="Microsoft YaHei"/>
              </a:rPr>
              <a:t>B. 离子型感烟探测器</a:t>
            </a:r>
          </a:p>
          <a:p>
            <a:pPr algn="l"/>
            <a:r>
              <a:rPr sz="1500" b="0">
                <a:solidFill>
                  <a:srgbClr val="222B33"/>
                </a:solidFill>
                <a:latin typeface="Microsoft YaHei"/>
              </a:rPr>
              <a:t>C. 定温探测器</a:t>
            </a:r>
          </a:p>
          <a:p>
            <a:pPr algn="l"/>
            <a:r>
              <a:rPr sz="1500" b="0">
                <a:solidFill>
                  <a:srgbClr val="222B33"/>
                </a:solidFill>
                <a:latin typeface="Microsoft YaHei"/>
              </a:rPr>
              <a:t>D. 水流指示器</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判断：烟感探测器经常误报，可以用塑料袋罩住。</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判断：为方便通行，可以用楔子把楼梯间的防火门顶开。</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035 · 火灾报警与消防设施</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035 火灾报警与消防设施</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装有气体灭火系统的房间发出预警，房间里的人应该：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留下来观察火情</a:t>
            </a:r>
          </a:p>
          <a:p>
            <a:pPr algn="l"/>
            <a:r>
              <a:rPr sz="1500" b="0">
                <a:solidFill>
                  <a:srgbClr val="222B33"/>
                </a:solidFill>
                <a:latin typeface="Microsoft YaHei"/>
              </a:rPr>
              <a:t>B. 关掉警报继续工作</a:t>
            </a:r>
          </a:p>
          <a:p>
            <a:pPr algn="l"/>
            <a:r>
              <a:rPr sz="1500" b="0">
                <a:solidFill>
                  <a:srgbClr val="222B33"/>
                </a:solidFill>
                <a:latin typeface="Microsoft YaHei"/>
              </a:rPr>
              <a:t>C. 在放气前立即撤出并关门</a:t>
            </a:r>
          </a:p>
          <a:p>
            <a:pPr algn="l"/>
            <a:r>
              <a:rPr sz="1500" b="0">
                <a:solidFill>
                  <a:srgbClr val="222B33"/>
                </a:solidFill>
                <a:latin typeface="Microsoft YaHei"/>
              </a:rPr>
              <a:t>D. 打开门窗通风</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简答：日常使用中，同学们对消火栓、喷头、报警按钮等消防设施要做到哪些？</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进实验室，先认报警和应急设施</a:t>
            </a:r>
          </a:p>
          <a:p>
            <a:pPr>
              <a:spcAft>
                <a:spcPts val="800"/>
              </a:spcAft>
            </a:pPr>
            <a:r>
              <a:rPr sz="1500">
                <a:solidFill>
                  <a:srgbClr val="FFFFFF"/>
                </a:solidFill>
                <a:latin typeface="Microsoft YaHei"/>
              </a:rPr>
              <a:t>▪ K2  手动报警按钮：发现火情先按它</a:t>
            </a:r>
          </a:p>
          <a:p>
            <a:pPr>
              <a:spcAft>
                <a:spcPts val="800"/>
              </a:spcAft>
            </a:pPr>
            <a:r>
              <a:rPr sz="1500">
                <a:solidFill>
                  <a:srgbClr val="FFFFFF"/>
                </a:solidFill>
                <a:latin typeface="Microsoft YaHei"/>
              </a:rPr>
              <a:t>▪ K3  自动报警：信号送到消防控制室</a:t>
            </a:r>
          </a:p>
          <a:p>
            <a:pPr>
              <a:spcAft>
                <a:spcPts val="800"/>
              </a:spcAft>
            </a:pPr>
            <a:r>
              <a:rPr sz="1500">
                <a:solidFill>
                  <a:srgbClr val="FFFFFF"/>
                </a:solidFill>
                <a:latin typeface="Microsoft YaHei"/>
              </a:rPr>
              <a:t>▪ K4  探测器：感温、差温、感烟</a:t>
            </a:r>
          </a:p>
          <a:p>
            <a:pPr>
              <a:spcAft>
                <a:spcPts val="800"/>
              </a:spcAft>
            </a:pPr>
            <a:r>
              <a:rPr sz="1500">
                <a:solidFill>
                  <a:srgbClr val="FFFFFF"/>
                </a:solidFill>
                <a:latin typeface="Microsoft YaHei"/>
              </a:rPr>
              <a:t>▪ K5  感烟探测器：光电型和离子型</a:t>
            </a:r>
          </a:p>
          <a:p>
            <a:pPr>
              <a:spcAft>
                <a:spcPts val="800"/>
              </a:spcAft>
            </a:pPr>
            <a:r>
              <a:rPr sz="1500">
                <a:solidFill>
                  <a:srgbClr val="FFFFFF"/>
                </a:solidFill>
                <a:latin typeface="Microsoft YaHei"/>
              </a:rPr>
              <a:t>▪ K6  自动喷水：直接洒向火点，帮人逃生</a:t>
            </a:r>
          </a:p>
          <a:p>
            <a:pPr>
              <a:spcAft>
                <a:spcPts val="800"/>
              </a:spcAft>
            </a:pPr>
            <a:r>
              <a:rPr sz="1500">
                <a:solidFill>
                  <a:srgbClr val="FFFFFF"/>
                </a:solidFill>
                <a:latin typeface="Microsoft YaHei"/>
              </a:rPr>
              <a:t>▪ K7  水流报警与干式系统（了解）</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室内消火栓：箱前不能堆东西</a:t>
            </a:r>
          </a:p>
          <a:p>
            <a:pPr>
              <a:spcAft>
                <a:spcPts val="800"/>
              </a:spcAft>
            </a:pPr>
            <a:r>
              <a:rPr sz="1500">
                <a:solidFill>
                  <a:srgbClr val="FFFFFF"/>
                </a:solidFill>
                <a:latin typeface="Microsoft YaHei"/>
              </a:rPr>
              <a:t>▪ K9  水泵接合器：前面不停车、不堆物</a:t>
            </a:r>
          </a:p>
          <a:p>
            <a:pPr>
              <a:spcAft>
                <a:spcPts val="800"/>
              </a:spcAft>
            </a:pPr>
            <a:r>
              <a:rPr sz="1500">
                <a:solidFill>
                  <a:srgbClr val="FFFFFF"/>
                </a:solidFill>
                <a:latin typeface="Microsoft YaHei"/>
              </a:rPr>
              <a:t>▪ K10  气体灭火房间：报警后马上撤离</a:t>
            </a:r>
          </a:p>
          <a:p>
            <a:pPr>
              <a:spcAft>
                <a:spcPts val="800"/>
              </a:spcAft>
            </a:pPr>
            <a:r>
              <a:rPr sz="1500">
                <a:solidFill>
                  <a:srgbClr val="FFFFFF"/>
                </a:solidFill>
                <a:latin typeface="Microsoft YaHei"/>
              </a:rPr>
              <a:t>▪ K11  探测器和喷头：不遮挡、不停用、定期测试</a:t>
            </a:r>
          </a:p>
          <a:p>
            <a:pPr>
              <a:spcAft>
                <a:spcPts val="800"/>
              </a:spcAft>
            </a:pPr>
            <a:r>
              <a:rPr sz="1500">
                <a:solidFill>
                  <a:srgbClr val="FFFFFF"/>
                </a:solidFill>
                <a:latin typeface="Microsoft YaHei"/>
              </a:rPr>
              <a:t>▪ K12  消防设施和通道前不堆物</a:t>
            </a:r>
          </a:p>
          <a:p>
            <a:pPr>
              <a:spcAft>
                <a:spcPts val="800"/>
              </a:spcAft>
            </a:pPr>
            <a:r>
              <a:rPr sz="1500">
                <a:solidFill>
                  <a:srgbClr val="FFFFFF"/>
                </a:solidFill>
                <a:latin typeface="Microsoft YaHei"/>
              </a:rPr>
              <a:t>▪ K13  防火门常闭，不用东西顶住</a:t>
            </a:r>
          </a:p>
          <a:p>
            <a:pPr>
              <a:spcAft>
                <a:spcPts val="800"/>
              </a:spcAft>
            </a:pPr>
            <a:r>
              <a:rPr sz="1500">
                <a:solidFill>
                  <a:srgbClr val="FFFFFF"/>
                </a:solidFill>
                <a:latin typeface="Microsoft YaHei"/>
              </a:rPr>
              <a:t>▪ S1  声光警报响了，立即撤离</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