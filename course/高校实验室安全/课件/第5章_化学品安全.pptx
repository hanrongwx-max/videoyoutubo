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一瓶化学品真正被取用的时间很短，大部分时间都在柜子或货架上放着。储存不当，比如不相容物混放、容器破损、存量过大，即使操作再规范，也可能在无人时发生泄漏、起火甚至爆炸。</a:t>
            </a:r>
          </a:p>
          <a:p>
            <a:r>
              <a:t>储存是化学品采购、验收、储存、使用、废弃全过程管理中的重要一环（全过程管理见第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化学品按主要危险性质（易燃、氧化、腐蚀、毒害等，依据 GB 30000 系列的分类和说明书第 2 部分）分类、分区存放：易燃品、氧化剂、腐蚀品、毒害品分柜，气瓶单独固定存放（见第 131 课）。储存原则参照 GB 15603-2022（以现行文本为准）：分类、分区，禁忌物不混存；储存场所要通风、防火，控制温度和湿度。</a:t>
            </a:r>
          </a:p>
          <a:p>
            <a:r>
              <a:t>同时建好化学品台账，做到账物相符、少存少放；剧毒等管控化学品专人、专柜（加锁）管理（见第 045 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相互会发生危险反应的化学品叫不相容物（禁配物），必须分开存放：酸和碱放在一起，容器泄漏时会剧烈放热；含氰化物的试剂碰到酸，会放出剧毒气体；氧化剂和易燃物放在一起，可能引起燃烧甚至爆炸。</a:t>
            </a:r>
          </a:p>
          <a:p>
            <a:r>
              <a:t>能不能放在一起，要查说明书第 7 部分（储存条件）和第 10 部分（禁配物）（见第 041 课）。实验室可以张贴常见禁配组合表，随时对照。分开存放可用不同柜子，或在同一柜内用隔板、二次容器隔离，以本校规定为准。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遇水会放出易燃气体或着火的物质（遇湿易燃物品），不能和易燃液体放在同一个房间：一旦易燃液体着火，用水灭火会让遇水危险品反应，火势更大。</a:t>
            </a:r>
          </a:p>
          <a:p>
            <a:r>
              <a:t>遇水危险品要干燥、密封保存，远离水管、水槽和喷淋头（反应性化学品见第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很多人习惯按名称拼音或字母顺序摆放试剂，方便查找，但这样不相容的化学品很可能挨在一起。正确做法是先按危险类别分区，在同一类别内部再按名称排序，兼顾安全和查找。</a:t>
            </a:r>
          </a:p>
          <a:p>
            <a:r>
              <a:t>可以在柜门内侧贴上分区示意图，取用后按图放回，避免放错位置。</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储存容器本身要合格，无裂纹、无破损，瓶盖完好；还要和所装物质相匹配，考虑是否耐腐蚀、是否能密封，例如某些腐蚀性液体不能用金属容器，见光分解的用棕色瓶。</a:t>
            </a:r>
          </a:p>
          <a:p>
            <a:r>
              <a:t>严禁用饮料瓶、食品容器装试剂，以免误食；不敞口放置，容器下面放托盘。生物样品放进密封、防漏的盒子（生物样品管理见第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每种化学品在柜内都有固定的位置，用完马上放回原处，既方便查找，也避免误放到不相容物旁边。</a:t>
            </a:r>
          </a:p>
          <a:p>
            <a:r>
              <a:t>储存处要通风、阴凉、避光，远离暖气、烘箱等热源，避免阳光直射。需要低温保存的易燃试剂，只能放在防爆冰箱里（化学品冰箱见第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实验台面和通风柜是做实验的地方，不是储存化学品的仓库。化学品堆在台面上，容易被碰倒、打翻；一旦着火，台面上的化学品没有任何保护，会使火势迅速扩大。</a:t>
            </a:r>
          </a:p>
          <a:p>
            <a:r>
              <a:t>通风柜里堆满试剂瓶，会挡住气流，降低排风效果（通风柜的正确使用见第 052 课）。实验结束后，把化学品放回指定的储存柜。</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化学品不放在地上（易被踢倒），也不放在高处（取放时易掉落、液体会溅到脸上）。</a:t>
            </a:r>
          </a:p>
          <a:p>
            <a:r>
              <a:t>大瓶和腐蚀性液体（如大瓶酸碱）放在柜子下层，下面配耐腐蚀的托盘或二次容器，万一泄漏能接住，不扩散。</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储存化学品的货架、柜子要牢固稳定，必要时固定在墙上或地面，防止倾倒。隔板边缘宜有挡边，瓶子不要靠在架边放。</a:t>
            </a:r>
          </a:p>
          <a:p>
            <a:r>
              <a:t>货架不超载，重的、大的放下层，轻的、小的放上层，保持重心稳定。具体设施要求以本校规定为准。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实验室存放化学品的数量是有规定的，存得越多，一旦发生火灾或泄漏，后果越严重。存量够用就好，不囤货；具体限量以学校和学院规定为准，问清楚再存。</a:t>
            </a:r>
          </a:p>
          <a:p>
            <a:r>
              <a:t>放在安全柜以外的易燃液体数量有上限，超出的部分必须放进合格的易燃品安全柜（见第 044 课）。按需领用，用多少领多少，用不完的及时退回或按规定处置。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安全检查时常问：试剂柜里哪里不对？最常见的问题是瓶子没有标签、标签模糊或摆放杂乱。每瓶化学品都要有清楚的标签（自配溶液也要标明名称、浓度、日期和配制人，见第 039 课），摆放整齐。</a:t>
            </a:r>
          </a:p>
          <a:p>
            <a:r>
              <a:t>台账记录每种化学品的入库、领用和剩余量，做到账物相符；台账和说明书联动，方便应急时查找（见第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储存的化学品要定期检查：容器和瓶盖有没有腐蚀、裂纹，有没有渗漏，内容物有没有变色、结块、分层等变质迹象，标签是否清楚。</a:t>
            </a:r>
          </a:p>
          <a:p>
            <a:r>
              <a:t>靠在架子边缘的瓶子要往里推。发现问题及时报告实验室负责人处理（安全检查见第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柜子深处多年不用的老试剂，可能已经变质、容器老化，有的还会随时间产生危险（如生成过氧化物），是常见隐患。</a:t>
            </a:r>
          </a:p>
          <a:p>
            <a:r>
              <a:t>过期、变质、标签不清的化学品要登记，标签看不清的按未知物上报，交学校统一处置，不得自行倒入下水道或混入生活垃圾（废物收集和处置见第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答案：C。解析：酸碱、含氰试剂与酸、氧化剂与易燃物都是不相容组合，必须隔开；同类相容的易燃溶剂可放在易燃品柜内。</a:t>
            </a:r>
          </a:p>
          <a:p>
            <a:r>
              <a:t>第 2 题 答案：B。解析：按字母顺序排，不相容物可能挨在一起；应先按危险类别分区，类内再按名称排。</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答案：C。解析：不放地上、不放高处，大瓶放下层并配托盘，通风柜和台面不是仓库。</a:t>
            </a:r>
          </a:p>
          <a:p>
            <a:r>
              <a:t>第 4 题 答案：B。解析：应登记后交学校统一处置，标签不清的按未知物上报，不得自行倒掉。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答案：按性质分类分区、不相容物隔离（查说明书第 7、10 部分）；容器合格匹配、固定位置、阴凉通风避光；放低放稳、配托盘、货架牢固；存量够用即可、标签清楚、账物相符；定期检查，过期变质及时清理。解析：储存原则参照 GB 15603-2022，并以本校规定为准。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灭火争取时间。</a:t>
            </a:r>
          </a:p>
          <a:p>
            <a:r>
              <a:t>柜体上要贴易燃警示标志，安放在远离热源、火源和电气开关的位置，柜旁不放可燃杂物。实验室内的存量够用即可（见第 043 课）；数量更大的，要存放在学校专用的危险化学品库房，具体限量以本校规定为准。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需要分装、转移或暂存少量易燃液体时，用合格的安全罐（安全储液罐）。安全罐罐盖能自动关闭，罐口装有阻火网等阻火装置，外部火源靠近时能阻止火焰回窜到罐内。</a:t>
            </a:r>
          </a:p>
          <a:p>
            <a:r>
              <a:t>每个容器都要贴好标签，写明名称和危险性，避免弄混（标签见第 039 课）。安全罐只是分装容器，不能代替储存柜：数量多时，连同安全罐一起放进易燃品柜。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乙醇、有机溶剂等易燃品用完要马上放回指定的易燃品柜，不能长期摆在实验台、通风柜里或地上（台面和通风柜不是仓库，见第 043 课）。</a:t>
            </a:r>
          </a:p>
          <a:p>
            <a:r>
              <a:t>实验台上只留当天实验够用的少量，下班或实验结束前全部放回柜内并关好柜门。</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安全柜只有关着门才能起到保护作用：柜门平时关好、扣紧，不用楔子或其他东西顶住柜门；按学校规定上锁，钥匙由专人保管。</a:t>
            </a:r>
          </a:p>
          <a:p>
            <a:r>
              <a:t>易燃品柜是否连接排风，按产品说明和本校规定执行；若连接排风，排风管路上要设置阻火器，管路不能随意改动。柜体上的接地装置按说明可靠接地，用于导除静电。柜内不放纸箱、抹布等可燃杂物，不超量存放；柜前不堆放物品，保持取用和应急通道畅通。柜体、柜门密封和接地线由实验室定期检查，发现损坏报告实验室负责人维修。</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a:p>
            <a:r>
              <a:t>大瓶溶液放在下层，下面配耐腐蚀托盘。易燃溶剂不放进腐蚀品柜，腐蚀品也不放进易燃品柜。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有毒化学品存放在专用的毒害品柜中，柜子加锁，由专人管理。剧毒化学品实行“五双”管理，其中储存要求双人双锁，必要时使用保险柜，并按学校要求做好防盗、监控等安全防范措施。</a:t>
            </a:r>
          </a:p>
          <a:p>
            <a:r>
              <a:t>每次领用都要登记，做到账物相符；具体的购买、储存、领用、台账和备案要求见第 045 课，以现行法规和本校规定为准。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普通家用冰箱内部的门灯开关、温控器等电气元件工作时会产生电火花。易燃试剂在冰箱密闭空间里挥发出的蒸气积聚，遇到火花可能燃烧甚至爆炸。</a:t>
            </a:r>
          </a:p>
          <a:p>
            <a:r>
              <a:t>因此普通冰箱绝不能存放易燃物（包括装有易燃溶剂的样品）。需要冷藏的易燃试剂，必须使用防爆冰箱（或经专业防爆改造并符合学校要求的冰箱）。选用哪种冰箱、能存放哪些物品，按学校规定执行。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存放化学品、生物样品的实验冰箱只能专用，绝不能存放食物、饮料，以防污染和误食；职工的食品冰箱要放在实验区以外，不能混用一台。冰箱门上贴“化学品专用、禁放食品”等标识。</a:t>
            </a:r>
          </a:p>
          <a:p>
            <a:r>
              <a:t>放进冰箱的容器要密封、贴好标签，不相容物同样要分开放置。实验室定期清理冰箱，过期、变质、标签不清的样品和试剂登记后交学校处置（见第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答案：B。解析：普通冰箱内的开关、温控器会产生电火花，可能点燃易燃蒸气；冷藏易燃试剂须用防爆冰箱。</a:t>
            </a:r>
          </a:p>
          <a:p>
            <a:r>
              <a:t>第 2 题 答案：B。解析：化学品冰箱专用，绝不存放食物饮料；食品冰箱应放在实验区以外。</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答案：C。解析：柜门关着才能起保护作用；柜内不放可燃杂物；腐蚀品放腐蚀品柜。</a:t>
            </a:r>
          </a:p>
          <a:p>
            <a:r>
              <a:t>第 4 题 答案：B。解析：酸碱是不相容物，应分柜或分格隔开存放。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易燃品柜存放易燃液体，柜门关好，通风须有阻火措施，柜体接地；腐蚀品柜耐腐蚀，酸碱分开，大瓶下层配托盘；毒害品柜加锁、专人管理，剧毒品双人双锁、领用登记。解析：具体配置和管理以本校规定为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化学品储存原则与相容性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能说出化学品按危险性质分类、分区储存的原则，以及储存场所的基本要求（参照 GB 15603-2022）。</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能判断常见不相容组合（酸与碱、氧化剂与易燃物、含氰试剂与酸、遇水危险品与易燃液体）并做到隔离存放，不按字母顺序排放。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能做到容器合格匹配、固定位置、放低放稳、货架防倾倒，台面和通风柜不堆放试剂。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能做到存量够用即可、标签清楚、账物相符、定期检查，过期变质试剂登记后交学校处置。</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日起施行）及《危险化学品安全管理条例》（以现行文本为准）：危险化学品分类储存，剧毒化学品专柜、专人管理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15603-2022（以现行文本为准）《危险化学品仓库储存通则》：分类、分区储存，禁忌物不得混存，储存场所通风、防火、温湿度要求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部分储存条件、第 10 部分禁配物</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系列（以现行文本为准）《化学品分类和标签规范》：危险性分类是分类储存的依据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《国家危险废物名录》（以现行文本为准）：过期、变质试剂按危险废物交学校统一处置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号，以现行文本为准）：化学品分类存放、控制存量、建立台账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高校实验室安全检查项目表（以现行文本为准）：存放区通风、不相容化学品隔离、存量和台账要求</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储存不当，就谈不上安全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化学品大部分时间都在柜子里放着</a:t>
            </a:r>
          </a:p>
          <a:p>
            <a:pPr>
              <a:spcAft>
                <a:spcPts val="1000"/>
              </a:spcAft>
            </a:pPr>
            <a:r>
              <a:rPr sz="2000">
                <a:solidFill>
                  <a:srgbClr val="222B33"/>
                </a:solidFill>
                <a:latin typeface="Microsoft YaHei"/>
              </a:rPr>
              <a:t>▪ 储存没做好，操作也谈不上安全</a:t>
            </a:r>
          </a:p>
          <a:p>
            <a:pPr>
              <a:spcAft>
                <a:spcPts val="1000"/>
              </a:spcAft>
            </a:pPr>
            <a:r>
              <a:rPr sz="2000">
                <a:solidFill>
                  <a:srgbClr val="222B33"/>
                </a:solidFill>
                <a:latin typeface="Microsoft YaHei"/>
              </a:rPr>
              <a:t>▪ 储存是化学品全过程管理的重要一环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一瓶化学品真正被取用的时间很短，大部分时间都在柜子或货架上放着。储存不当，比如不相容物混放、容器破损、存量过大，即使操作再规范，也可能在无人时发生泄漏、起火甚至爆炸。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只重视实验操作，忽视储存</a:t>
            </a:r>
          </a:p>
          <a:p>
            <a:pPr>
              <a:spcAft>
                <a:spcPts val="1000"/>
              </a:spcAft>
            </a:pPr>
            <a:r>
              <a:rPr sz="1500">
                <a:solidFill>
                  <a:srgbClr val="222B33"/>
                </a:solidFill>
                <a:latin typeface="Microsoft YaHei"/>
              </a:rPr>
              <a:t>▪ 认为放在柜子里就安全了</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按性质分类、分区存放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按主要危险性质分类、分区存放</a:t>
            </a:r>
          </a:p>
          <a:p>
            <a:pPr>
              <a:spcAft>
                <a:spcPts val="1000"/>
              </a:spcAft>
            </a:pPr>
            <a:r>
              <a:rPr sz="2000">
                <a:solidFill>
                  <a:srgbClr val="222B33"/>
                </a:solidFill>
                <a:latin typeface="Microsoft YaHei"/>
              </a:rPr>
              <a:t>▪ 易燃、氧化、腐蚀、毒害、气瓶各用专柜</a:t>
            </a:r>
          </a:p>
          <a:p>
            <a:pPr>
              <a:spcAft>
                <a:spcPts val="1000"/>
              </a:spcAft>
            </a:pPr>
            <a:r>
              <a:rPr sz="2000">
                <a:solidFill>
                  <a:srgbClr val="222B33"/>
                </a:solidFill>
                <a:latin typeface="Microsoft YaHei"/>
              </a:rPr>
              <a:t>▪ 储存场所通风防火，控制温湿度</a:t>
            </a:r>
          </a:p>
          <a:p>
            <a:pPr>
              <a:spcAft>
                <a:spcPts val="1000"/>
              </a:spcAft>
            </a:pPr>
            <a:r>
              <a:rPr sz="2000">
                <a:solidFill>
                  <a:srgbClr val="222B33"/>
                </a:solidFill>
                <a:latin typeface="Microsoft YaHei"/>
              </a:rPr>
              <a:t>▪ 建好台账，剧毒等管控化学品专人专柜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化学品按主要危险性质（易燃、氧化、腐蚀、毒害等，依据 GB 30000 系列的分类和说明书第 2 部分）分类、分区存放：易燃品、氧化剂、腐蚀品、毒害品分柜，气瓶单独固定存放（见第 131 课）。储存原则参照 GB 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所有试剂混放在一个柜子里</a:t>
            </a:r>
          </a:p>
          <a:p>
            <a:pPr>
              <a:spcAft>
                <a:spcPts val="1000"/>
              </a:spcAft>
            </a:pPr>
            <a:r>
              <a:rPr sz="1500">
                <a:solidFill>
                  <a:srgbClr val="222B33"/>
                </a:solidFill>
                <a:latin typeface="Microsoft YaHei"/>
              </a:rPr>
              <a:t>▪ 剧毒品和普通试剂放在一起</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不相容物一定隔开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酸和碱放一起，泄漏会剧烈放热</a:t>
            </a:r>
          </a:p>
          <a:p>
            <a:pPr>
              <a:spcAft>
                <a:spcPts val="1000"/>
              </a:spcAft>
            </a:pPr>
            <a:r>
              <a:rPr sz="2000">
                <a:solidFill>
                  <a:srgbClr val="222B33"/>
                </a:solidFill>
                <a:latin typeface="Microsoft YaHei"/>
              </a:rPr>
              <a:t>▪ 含氰试剂碰到酸，会放出剧毒气体</a:t>
            </a:r>
          </a:p>
          <a:p>
            <a:pPr>
              <a:spcAft>
                <a:spcPts val="1000"/>
              </a:spcAft>
            </a:pPr>
            <a:r>
              <a:rPr sz="2000">
                <a:solidFill>
                  <a:srgbClr val="222B33"/>
                </a:solidFill>
                <a:latin typeface="Microsoft YaHei"/>
              </a:rPr>
              <a:t>▪ 氧化剂和易燃物，绝不能放一起</a:t>
            </a:r>
          </a:p>
          <a:p>
            <a:pPr>
              <a:spcAft>
                <a:spcPts val="1000"/>
              </a:spcAft>
            </a:pPr>
            <a:r>
              <a:rPr sz="2000">
                <a:solidFill>
                  <a:srgbClr val="222B33"/>
                </a:solidFill>
                <a:latin typeface="Microsoft YaHei"/>
              </a:rPr>
              <a:t>▪ 拿不准，查说明书第 7、10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相互会发生危险反应的化学品叫不相容物（禁配物），必须分开存放：酸和碱放在一起，容器泄漏时会剧烈放热；含氰化物的试剂碰到酸，会放出剧毒气体；氧化剂和易燃物放在一起，可能引起燃烧甚至爆炸。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酸碱放在同一层</a:t>
            </a:r>
          </a:p>
          <a:p>
            <a:pPr>
              <a:spcAft>
                <a:spcPts val="1000"/>
              </a:spcAft>
            </a:pPr>
            <a:r>
              <a:rPr sz="1500">
                <a:solidFill>
                  <a:srgbClr val="222B33"/>
                </a:solidFill>
                <a:latin typeface="Microsoft YaHei"/>
              </a:rPr>
              <a:t>▪ 不查禁配物，凭经验摆放</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遇水危险品不与易燃液体同室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遇水会着火的物质，不与易燃液体同室存放</a:t>
            </a:r>
          </a:p>
          <a:p>
            <a:pPr>
              <a:spcAft>
                <a:spcPts val="1000"/>
              </a:spcAft>
            </a:pPr>
            <a:r>
              <a:rPr sz="2000">
                <a:solidFill>
                  <a:srgbClr val="222B33"/>
                </a:solidFill>
                <a:latin typeface="Microsoft YaHei"/>
              </a:rPr>
              <a:t>▪ 遇水危险品干燥密封，远离水源</a:t>
            </a:r>
          </a:p>
          <a:p>
            <a:pPr>
              <a:spcAft>
                <a:spcPts val="1000"/>
              </a:spcAft>
            </a:pPr>
            <a:r>
              <a:rPr sz="2000">
                <a:solidFill>
                  <a:srgbClr val="222B33"/>
                </a:solidFill>
                <a:latin typeface="Microsoft YaHei"/>
              </a:rPr>
              <a:t>▪ 同室着火时用水灭火会更危险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遇水会放出易燃气体或着火的物质（遇湿易燃物品），不能和易燃液体放在同一个房间：一旦易燃液体着火，用水灭火会让遇水危险品反应，火势更大。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遇水危险品放在水槽下面的柜子</a:t>
            </a:r>
          </a:p>
          <a:p>
            <a:pPr>
              <a:spcAft>
                <a:spcPts val="1000"/>
              </a:spcAft>
            </a:pPr>
            <a:r>
              <a:rPr sz="1500">
                <a:solidFill>
                  <a:srgbClr val="222B33"/>
                </a:solidFill>
                <a:latin typeface="Microsoft YaHei"/>
              </a:rPr>
              <a:t>▪ 和易燃溶剂放在同一个房间</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不按字母顺序排放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按名称或字母顺序排，危险品可能挨在一起</a:t>
            </a:r>
          </a:p>
          <a:p>
            <a:pPr>
              <a:spcAft>
                <a:spcPts val="1000"/>
              </a:spcAft>
            </a:pPr>
            <a:r>
              <a:rPr sz="2000">
                <a:solidFill>
                  <a:srgbClr val="222B33"/>
                </a:solidFill>
                <a:latin typeface="Microsoft YaHei"/>
              </a:rPr>
              <a:t>▪ 先按危险类别分区，类内再按名称排</a:t>
            </a:r>
          </a:p>
          <a:p>
            <a:pPr>
              <a:spcAft>
                <a:spcPts val="1000"/>
              </a:spcAft>
            </a:pPr>
            <a:r>
              <a:rPr sz="2000">
                <a:solidFill>
                  <a:srgbClr val="222B33"/>
                </a:solidFill>
                <a:latin typeface="Microsoft YaHei"/>
              </a:rPr>
              <a:t>▪ 柜门贴分区图，放回不出错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很多人习惯按名称拼音或字母顺序摆放试剂，方便查找，但这样不相容的化学品很可能挨在一起。正确做法是先按危险类别分区，在同一类别内部再按名称排序，兼顾安全和查找。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整个试剂柜按字母顺序排列</a:t>
            </a:r>
          </a:p>
          <a:p>
            <a:pPr>
              <a:spcAft>
                <a:spcPts val="1000"/>
              </a:spcAft>
            </a:pPr>
            <a:r>
              <a:rPr sz="1500">
                <a:solidFill>
                  <a:srgbClr val="222B33"/>
                </a:solidFill>
                <a:latin typeface="Microsoft YaHei"/>
              </a:rPr>
              <a:t>▪ 用完随手放到空位上</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容器合格，与物质匹配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容器本身要合格，没有破损</a:t>
            </a:r>
          </a:p>
          <a:p>
            <a:pPr>
              <a:spcAft>
                <a:spcPts val="1000"/>
              </a:spcAft>
            </a:pPr>
            <a:r>
              <a:rPr sz="2000">
                <a:solidFill>
                  <a:srgbClr val="222B33"/>
                </a:solidFill>
                <a:latin typeface="Microsoft YaHei"/>
              </a:rPr>
              <a:t>▪ 容器材质与物质匹配，耐腐蚀、能密封</a:t>
            </a:r>
          </a:p>
          <a:p>
            <a:pPr>
              <a:spcAft>
                <a:spcPts val="1000"/>
              </a:spcAft>
            </a:pPr>
            <a:r>
              <a:rPr sz="2000">
                <a:solidFill>
                  <a:srgbClr val="222B33"/>
                </a:solidFill>
                <a:latin typeface="Microsoft YaHei"/>
              </a:rPr>
              <a:t>▪ 不用饮料瓶装试剂，不敞口放置</a:t>
            </a:r>
          </a:p>
          <a:p>
            <a:pPr>
              <a:spcAft>
                <a:spcPts val="1000"/>
              </a:spcAft>
            </a:pPr>
            <a:r>
              <a:rPr sz="2000">
                <a:solidFill>
                  <a:srgbClr val="222B33"/>
                </a:solidFill>
                <a:latin typeface="Microsoft YaHei"/>
              </a:rPr>
              <a:t>▪ 生物样品放进密封、防漏的盒子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储存容器本身要合格，无裂纹、无破损，瓶盖完好；还要和所装物质相匹配，考虑是否耐腐蚀、是否能密封，例如某些腐蚀性液体不能用金属容器，见光分解的用棕色瓶。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用矿泉水瓶分装试剂</a:t>
            </a:r>
          </a:p>
          <a:p>
            <a:pPr>
              <a:spcAft>
                <a:spcPts val="1000"/>
              </a:spcAft>
            </a:pPr>
            <a:r>
              <a:rPr sz="1500">
                <a:solidFill>
                  <a:srgbClr val="222B33"/>
                </a:solidFill>
                <a:latin typeface="Microsoft YaHei"/>
              </a:rPr>
              <a:t>▪ 用不耐腐蚀的容器长期存放酸碱</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固定位置，阴凉通风避光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每种化学品都有固定位置，用完马上放回</a:t>
            </a:r>
          </a:p>
          <a:p>
            <a:pPr>
              <a:spcAft>
                <a:spcPts val="1000"/>
              </a:spcAft>
            </a:pPr>
            <a:r>
              <a:rPr sz="2000">
                <a:solidFill>
                  <a:srgbClr val="222B33"/>
                </a:solidFill>
                <a:latin typeface="Microsoft YaHei"/>
              </a:rPr>
              <a:t>▪ 远离热源，避开阳光直射</a:t>
            </a:r>
          </a:p>
          <a:p>
            <a:pPr>
              <a:spcAft>
                <a:spcPts val="1000"/>
              </a:spcAft>
            </a:pPr>
            <a:r>
              <a:rPr sz="2000">
                <a:solidFill>
                  <a:srgbClr val="222B33"/>
                </a:solidFill>
                <a:latin typeface="Microsoft YaHei"/>
              </a:rPr>
              <a:t>▪ 储存处通风、阴凉、避光</a:t>
            </a:r>
          </a:p>
          <a:p>
            <a:pPr>
              <a:spcAft>
                <a:spcPts val="1000"/>
              </a:spcAft>
            </a:pPr>
            <a:r>
              <a:rPr sz="2000">
                <a:solidFill>
                  <a:srgbClr val="222B33"/>
                </a:solidFill>
                <a:latin typeface="Microsoft YaHei"/>
              </a:rPr>
              <a:t>▪ 易燃试剂冷藏要用防爆冰箱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每种化学品在柜内都有固定的位置，用完马上放回原处，既方便查找，也避免误放到不相容物旁边。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用完随手放在窗台或台面</a:t>
            </a:r>
          </a:p>
          <a:p>
            <a:pPr>
              <a:spcAft>
                <a:spcPts val="1000"/>
              </a:spcAft>
            </a:pPr>
            <a:r>
              <a:rPr sz="1500">
                <a:solidFill>
                  <a:srgbClr val="222B33"/>
                </a:solidFill>
                <a:latin typeface="Microsoft YaHei"/>
              </a:rPr>
              <a:t>▪ 易燃试剂放在普通家用冰箱</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台面和通风柜不是仓库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台面和通风柜不能当化学品仓库</a:t>
            </a:r>
          </a:p>
          <a:p>
            <a:pPr>
              <a:spcAft>
                <a:spcPts val="1000"/>
              </a:spcAft>
            </a:pPr>
            <a:r>
              <a:rPr sz="2000">
                <a:solidFill>
                  <a:srgbClr val="222B33"/>
                </a:solidFill>
                <a:latin typeface="Microsoft YaHei"/>
              </a:rPr>
              <a:t>▪ 堆在台面上容易碰倒</a:t>
            </a:r>
          </a:p>
          <a:p>
            <a:pPr>
              <a:spcAft>
                <a:spcPts val="1000"/>
              </a:spcAft>
            </a:pPr>
            <a:r>
              <a:rPr sz="2000">
                <a:solidFill>
                  <a:srgbClr val="222B33"/>
                </a:solidFill>
                <a:latin typeface="Microsoft YaHei"/>
              </a:rPr>
              <a:t>▪ 着火时台面上的化学品没有任何保护</a:t>
            </a:r>
          </a:p>
          <a:p>
            <a:pPr>
              <a:spcAft>
                <a:spcPts val="1000"/>
              </a:spcAft>
            </a:pPr>
            <a:r>
              <a:rPr sz="2000">
                <a:solidFill>
                  <a:srgbClr val="222B33"/>
                </a:solidFill>
                <a:latin typeface="Microsoft YaHei"/>
              </a:rPr>
              <a:t>▪ 通风柜堆满试剂会挡住气流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实验台面和通风柜是做实验的地方，不是储存化学品的仓库。化学品堆在台面上，容易被碰倒、打翻；一旦着火，台面上的化学品没有任何保护，会使火势迅速扩大。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常用试剂长期摆在台面上</a:t>
            </a:r>
          </a:p>
          <a:p>
            <a:pPr>
              <a:spcAft>
                <a:spcPts val="1000"/>
              </a:spcAft>
            </a:pPr>
            <a:r>
              <a:rPr sz="1500">
                <a:solidFill>
                  <a:srgbClr val="222B33"/>
                </a:solidFill>
                <a:latin typeface="Microsoft YaHei"/>
              </a:rPr>
              <a:t>▪ 把通风柜当储存柜用</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放低放稳，大瓶下层配托盘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试剂不放地上、不放高处</a:t>
            </a:r>
          </a:p>
          <a:p>
            <a:pPr>
              <a:spcAft>
                <a:spcPts val="1000"/>
              </a:spcAft>
            </a:pPr>
            <a:r>
              <a:rPr sz="2000">
                <a:solidFill>
                  <a:srgbClr val="222B33"/>
                </a:solidFill>
                <a:latin typeface="Microsoft YaHei"/>
              </a:rPr>
              <a:t>▪ 大瓶酸碱放在柜子下层</a:t>
            </a:r>
          </a:p>
          <a:p>
            <a:pPr>
              <a:spcAft>
                <a:spcPts val="1000"/>
              </a:spcAft>
            </a:pPr>
            <a:r>
              <a:rPr sz="2000">
                <a:solidFill>
                  <a:srgbClr val="222B33"/>
                </a:solidFill>
                <a:latin typeface="Microsoft YaHei"/>
              </a:rPr>
              <a:t>▪ 配托盘，泄漏时能接住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化学品不放在地上（易被踢倒），也不放在高处（取放时易掉落、液体会溅到脸上）。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大瓶酸放在高于视线的架子上</a:t>
            </a:r>
          </a:p>
          <a:p>
            <a:pPr>
              <a:spcAft>
                <a:spcPts val="1000"/>
              </a:spcAft>
            </a:pPr>
            <a:r>
              <a:rPr sz="1500">
                <a:solidFill>
                  <a:srgbClr val="222B33"/>
                </a:solidFill>
                <a:latin typeface="Microsoft YaHei"/>
              </a:rPr>
              <a:t>▪ 试剂瓶直接放在地上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货架牢固，防倾倒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货架要牢固，固定在墙上或地面</a:t>
            </a:r>
          </a:p>
          <a:p>
            <a:pPr>
              <a:spcAft>
                <a:spcPts val="1000"/>
              </a:spcAft>
            </a:pPr>
            <a:r>
              <a:rPr sz="2000">
                <a:solidFill>
                  <a:srgbClr val="222B33"/>
                </a:solidFill>
                <a:latin typeface="Microsoft YaHei"/>
              </a:rPr>
              <a:t>▪ 隔板有挡边，瓶子往里放</a:t>
            </a:r>
          </a:p>
          <a:p>
            <a:pPr>
              <a:spcAft>
                <a:spcPts val="1000"/>
              </a:spcAft>
            </a:pPr>
            <a:r>
              <a:rPr sz="2000">
                <a:solidFill>
                  <a:srgbClr val="222B33"/>
                </a:solidFill>
                <a:latin typeface="Microsoft YaHei"/>
              </a:rPr>
              <a:t>▪ 不超载，重的放下面</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储存化学品的货架、柜子要牢固稳定，必要时固定在墙上或地面，防止倾倒。隔板边缘宜有挡边，瓶子不要靠在架边放。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高货架不固定，一碰就晃</a:t>
            </a:r>
          </a:p>
          <a:p>
            <a:pPr>
              <a:spcAft>
                <a:spcPts val="1000"/>
              </a:spcAft>
            </a:pPr>
            <a:r>
              <a:rPr sz="1500">
                <a:solidFill>
                  <a:srgbClr val="222B33"/>
                </a:solidFill>
                <a:latin typeface="Microsoft YaHei"/>
              </a:rPr>
              <a:t>▪ 瓶子摆在隔板边缘</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存量控制：够用就好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实验室存量够用就好，不囤货</a:t>
            </a:r>
          </a:p>
          <a:p>
            <a:pPr>
              <a:spcAft>
                <a:spcPts val="1000"/>
              </a:spcAft>
            </a:pPr>
            <a:r>
              <a:rPr sz="2000">
                <a:solidFill>
                  <a:srgbClr val="222B33"/>
                </a:solidFill>
                <a:latin typeface="Microsoft YaHei"/>
              </a:rPr>
              <a:t>▪ 能存多少按学校规定，问清楚再存</a:t>
            </a:r>
          </a:p>
          <a:p>
            <a:pPr>
              <a:spcAft>
                <a:spcPts val="1000"/>
              </a:spcAft>
            </a:pPr>
            <a:r>
              <a:rPr sz="2000">
                <a:solidFill>
                  <a:srgbClr val="222B33"/>
                </a:solidFill>
                <a:latin typeface="Microsoft YaHei"/>
              </a:rPr>
              <a:t>▪ 柜外易燃液体有上限，超出放进安全柜</a:t>
            </a:r>
          </a:p>
          <a:p>
            <a:pPr>
              <a:spcAft>
                <a:spcPts val="1000"/>
              </a:spcAft>
            </a:pPr>
            <a:r>
              <a:rPr sz="2000">
                <a:solidFill>
                  <a:srgbClr val="222B33"/>
                </a:solidFill>
                <a:latin typeface="Microsoft YaHei"/>
              </a:rPr>
              <a:t>▪ 按需领用，用多少领多少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实验室存放化学品的数量是有规定的，存得越多，一旦发生火灾或泄漏，后果越严重。存量够用就好，不囤货；具体限量以学校和学院规定为准，问清楚再存。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为了“省事”一次买很多</a:t>
            </a:r>
          </a:p>
          <a:p>
            <a:pPr>
              <a:spcAft>
                <a:spcPts val="1000"/>
              </a:spcAft>
            </a:pPr>
            <a:r>
              <a:rPr sz="1500">
                <a:solidFill>
                  <a:srgbClr val="222B33"/>
                </a:solidFill>
                <a:latin typeface="Microsoft YaHei"/>
              </a:rPr>
              <a:t>▪ 易燃溶剂大量堆放在柜外</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标签清楚，账物相符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每瓶化学品都要有清楚的标签</a:t>
            </a:r>
          </a:p>
          <a:p>
            <a:pPr>
              <a:spcAft>
                <a:spcPts val="1000"/>
              </a:spcAft>
            </a:pPr>
            <a:r>
              <a:rPr sz="2000">
                <a:solidFill>
                  <a:srgbClr val="222B33"/>
                </a:solidFill>
                <a:latin typeface="Microsoft YaHei"/>
              </a:rPr>
              <a:t>▪ 摆放整齐</a:t>
            </a:r>
          </a:p>
          <a:p>
            <a:pPr>
              <a:spcAft>
                <a:spcPts val="1000"/>
              </a:spcAft>
            </a:pPr>
            <a:r>
              <a:rPr sz="2000">
                <a:solidFill>
                  <a:srgbClr val="222B33"/>
                </a:solidFill>
                <a:latin typeface="Microsoft YaHei"/>
              </a:rPr>
              <a:t>▪ 台账记录入库、领用、剩余</a:t>
            </a:r>
          </a:p>
          <a:p>
            <a:pPr>
              <a:spcAft>
                <a:spcPts val="1000"/>
              </a:spcAft>
            </a:pPr>
            <a:r>
              <a:rPr sz="2000">
                <a:solidFill>
                  <a:srgbClr val="222B33"/>
                </a:solidFill>
                <a:latin typeface="Microsoft YaHei"/>
              </a:rPr>
              <a:t>▪ 台账和实物要对得上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安全检查时常问：试剂柜里哪里不对？最常见的问题是瓶子没有标签、标签模糊或摆放杂乱。每瓶化学品都要有清楚的标签（自配溶液也要标明名称、浓度、日期和配制人，见第 039 课），摆放整齐。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自配溶液不贴标签</a:t>
            </a:r>
          </a:p>
          <a:p>
            <a:pPr>
              <a:spcAft>
                <a:spcPts val="1000"/>
              </a:spcAft>
            </a:pPr>
            <a:r>
              <a:rPr sz="1500">
                <a:solidFill>
                  <a:srgbClr val="222B33"/>
                </a:solidFill>
                <a:latin typeface="Microsoft YaHei"/>
              </a:rPr>
              <a:t>▪ 台账多年不更新，与实物对不上</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经常检查储存容器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经常检查储存的容器</a:t>
            </a:r>
          </a:p>
          <a:p>
            <a:pPr>
              <a:spcAft>
                <a:spcPts val="1000"/>
              </a:spcAft>
            </a:pPr>
            <a:r>
              <a:rPr sz="2000">
                <a:solidFill>
                  <a:srgbClr val="222B33"/>
                </a:solidFill>
                <a:latin typeface="Microsoft YaHei"/>
              </a:rPr>
              <a:t>▪ 看有没有腐蚀、渗漏、变质</a:t>
            </a:r>
          </a:p>
          <a:p>
            <a:pPr>
              <a:spcAft>
                <a:spcPts val="1000"/>
              </a:spcAft>
            </a:pPr>
            <a:r>
              <a:rPr sz="2000">
                <a:solidFill>
                  <a:srgbClr val="222B33"/>
                </a:solidFill>
                <a:latin typeface="Microsoft YaHei"/>
              </a:rPr>
              <a:t>▪ 靠在架边的瓶子，往里推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储存的化学品要定期检查：容器和瓶盖有没有腐蚀、裂纹，有没有渗漏，内容物有没有变色、结块、分层等变质迹象，标签是否清楚。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试剂放进柜子就多年不看</a:t>
            </a:r>
          </a:p>
          <a:p>
            <a:pPr>
              <a:spcAft>
                <a:spcPts val="1000"/>
              </a:spcAft>
            </a:pPr>
            <a:r>
              <a:rPr sz="1500">
                <a:solidFill>
                  <a:srgbClr val="222B33"/>
                </a:solidFill>
                <a:latin typeface="Microsoft YaHei"/>
              </a:rPr>
              <a:t>▪ 发现瓶盖锈蚀也不处理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过期变质试剂及时清理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柜子深处的老试剂也是隐患</a:t>
            </a:r>
          </a:p>
          <a:p>
            <a:pPr>
              <a:spcAft>
                <a:spcPts val="1000"/>
              </a:spcAft>
            </a:pPr>
            <a:r>
              <a:rPr sz="2000">
                <a:solidFill>
                  <a:srgbClr val="222B33"/>
                </a:solidFill>
                <a:latin typeface="Microsoft YaHei"/>
              </a:rPr>
              <a:t>▪ 过期、变质、标签不清的要登记</a:t>
            </a:r>
          </a:p>
          <a:p>
            <a:pPr>
              <a:spcAft>
                <a:spcPts val="1000"/>
              </a:spcAft>
            </a:pPr>
            <a:r>
              <a:rPr sz="2000">
                <a:solidFill>
                  <a:srgbClr val="222B33"/>
                </a:solidFill>
                <a:latin typeface="Microsoft YaHei"/>
              </a:rPr>
              <a:t>▪ 交学校统一处置，别自己倒掉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柜子深处多年不用的老试剂，可能已经变质、容器老化，有的还会随时间产生危险（如生成过氧化物），是常见隐患。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把过期试剂倒进水槽</a:t>
            </a:r>
          </a:p>
          <a:p>
            <a:pPr>
              <a:spcAft>
                <a:spcPts val="1000"/>
              </a:spcAft>
            </a:pPr>
            <a:r>
              <a:rPr sz="1500">
                <a:solidFill>
                  <a:srgbClr val="222B33"/>
                </a:solidFill>
                <a:latin typeface="Microsoft YaHei"/>
              </a:rPr>
              <a:t>▪ 老试剂舍不得处理，一直留着</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下列哪组化学品可以放在同一储存柜的同一层？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浓盐酸和氢氧化钠溶液</a:t>
            </a:r>
          </a:p>
          <a:p>
            <a:pPr algn="l"/>
            <a:r>
              <a:rPr sz="1500" b="0">
                <a:solidFill>
                  <a:srgbClr val="222B33"/>
                </a:solidFill>
                <a:latin typeface="Microsoft YaHei"/>
              </a:rPr>
              <a:t>B. 含氰试剂和硫酸</a:t>
            </a:r>
          </a:p>
          <a:p>
            <a:pPr algn="l"/>
            <a:r>
              <a:rPr sz="1500" b="0">
                <a:solidFill>
                  <a:srgbClr val="222B33"/>
                </a:solidFill>
                <a:latin typeface="Microsoft YaHei"/>
              </a:rPr>
              <a:t>C. 两种同类的有机易燃溶剂</a:t>
            </a:r>
          </a:p>
          <a:p>
            <a:pPr algn="l"/>
            <a:r>
              <a:rPr sz="1500" b="0">
                <a:solidFill>
                  <a:srgbClr val="222B33"/>
                </a:solidFill>
                <a:latin typeface="Microsoft YaHei"/>
              </a:rPr>
              <a:t>D. 高锰酸钾和乙醇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判断：为了方便查找，试剂柜里的化学品最好全部按名称字母顺序排列。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大瓶酸碱的正确存放位置是：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柜顶</a:t>
            </a:r>
          </a:p>
          <a:p>
            <a:pPr algn="l"/>
            <a:r>
              <a:rPr sz="1500" b="0">
                <a:solidFill>
                  <a:srgbClr val="222B33"/>
                </a:solidFill>
                <a:latin typeface="Microsoft YaHei"/>
              </a:rPr>
              <a:t>B. 地面</a:t>
            </a:r>
          </a:p>
          <a:p>
            <a:pPr algn="l"/>
            <a:r>
              <a:rPr sz="1500" b="0">
                <a:solidFill>
                  <a:srgbClr val="222B33"/>
                </a:solidFill>
                <a:latin typeface="Microsoft YaHei"/>
              </a:rPr>
              <a:t>C. 柜子下层，配托盘</a:t>
            </a:r>
          </a:p>
          <a:p>
            <a:pPr algn="l"/>
            <a:r>
              <a:rPr sz="1500" b="0">
                <a:solidFill>
                  <a:srgbClr val="222B33"/>
                </a:solidFill>
                <a:latin typeface="Microsoft YaHei"/>
              </a:rPr>
              <a:t>D. 通风柜内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判断：过期或标签不清的试剂，可以用大量水稀释后倒入下水道。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简答：实验室化学品储存要做到哪几点？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储存不当，就谈不上安全</a:t>
            </a:r>
          </a:p>
          <a:p>
            <a:pPr>
              <a:spcAft>
                <a:spcPts val="800"/>
              </a:spcAft>
            </a:pPr>
            <a:r>
              <a:rPr sz="1500">
                <a:solidFill>
                  <a:srgbClr val="FFFFFF"/>
                </a:solidFill>
                <a:latin typeface="Microsoft YaHei"/>
              </a:rPr>
              <a:t>▪ K2  按性质分类、分区存放</a:t>
            </a:r>
          </a:p>
          <a:p>
            <a:pPr>
              <a:spcAft>
                <a:spcPts val="800"/>
              </a:spcAft>
            </a:pPr>
            <a:r>
              <a:rPr sz="1500">
                <a:solidFill>
                  <a:srgbClr val="FFFFFF"/>
                </a:solidFill>
                <a:latin typeface="Microsoft YaHei"/>
              </a:rPr>
              <a:t>▪ K3  不相容物一定隔开</a:t>
            </a:r>
          </a:p>
          <a:p>
            <a:pPr>
              <a:spcAft>
                <a:spcPts val="800"/>
              </a:spcAft>
            </a:pPr>
            <a:r>
              <a:rPr sz="1500">
                <a:solidFill>
                  <a:srgbClr val="FFFFFF"/>
                </a:solidFill>
                <a:latin typeface="Microsoft YaHei"/>
              </a:rPr>
              <a:t>▪ K4  遇水危险品不与易燃液体同室</a:t>
            </a:r>
          </a:p>
          <a:p>
            <a:pPr>
              <a:spcAft>
                <a:spcPts val="800"/>
              </a:spcAft>
            </a:pPr>
            <a:r>
              <a:rPr sz="1500">
                <a:solidFill>
                  <a:srgbClr val="FFFFFF"/>
                </a:solidFill>
                <a:latin typeface="Microsoft YaHei"/>
              </a:rPr>
              <a:t>▪ S1  不按字母顺序排放</a:t>
            </a:r>
          </a:p>
          <a:p>
            <a:pPr>
              <a:spcAft>
                <a:spcPts val="800"/>
              </a:spcAft>
            </a:pPr>
            <a:r>
              <a:rPr sz="1500">
                <a:solidFill>
                  <a:srgbClr val="FFFFFF"/>
                </a:solidFill>
                <a:latin typeface="Microsoft YaHei"/>
              </a:rPr>
              <a:t>▪ K5  容器合格，与物质匹配</a:t>
            </a:r>
          </a:p>
          <a:p>
            <a:pPr>
              <a:spcAft>
                <a:spcPts val="800"/>
              </a:spcAft>
            </a:pPr>
            <a:r>
              <a:rPr sz="1500">
                <a:solidFill>
                  <a:srgbClr val="FFFFFF"/>
                </a:solidFill>
                <a:latin typeface="Microsoft YaHei"/>
              </a:rPr>
              <a:t>▪ K6  固定位置，阴凉通风避光</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台面和通风柜不是仓库</a:t>
            </a:r>
          </a:p>
          <a:p>
            <a:pPr>
              <a:spcAft>
                <a:spcPts val="800"/>
              </a:spcAft>
            </a:pPr>
            <a:r>
              <a:rPr sz="1500">
                <a:solidFill>
                  <a:srgbClr val="FFFFFF"/>
                </a:solidFill>
                <a:latin typeface="Microsoft YaHei"/>
              </a:rPr>
              <a:t>▪ K8  放低放稳，大瓶下层配托盘</a:t>
            </a:r>
          </a:p>
          <a:p>
            <a:pPr>
              <a:spcAft>
                <a:spcPts val="800"/>
              </a:spcAft>
            </a:pPr>
            <a:r>
              <a:rPr sz="1500">
                <a:solidFill>
                  <a:srgbClr val="FFFFFF"/>
                </a:solidFill>
                <a:latin typeface="Microsoft YaHei"/>
              </a:rPr>
              <a:t>▪ S2  货架牢固，防倾倒</a:t>
            </a:r>
          </a:p>
          <a:p>
            <a:pPr>
              <a:spcAft>
                <a:spcPts val="800"/>
              </a:spcAft>
            </a:pPr>
            <a:r>
              <a:rPr sz="1500">
                <a:solidFill>
                  <a:srgbClr val="FFFFFF"/>
                </a:solidFill>
                <a:latin typeface="Microsoft YaHei"/>
              </a:rPr>
              <a:t>▪ K9  存量控制：够用就好</a:t>
            </a:r>
          </a:p>
          <a:p>
            <a:pPr>
              <a:spcAft>
                <a:spcPts val="800"/>
              </a:spcAft>
            </a:pPr>
            <a:r>
              <a:rPr sz="1500">
                <a:solidFill>
                  <a:srgbClr val="FFFFFF"/>
                </a:solidFill>
                <a:latin typeface="Microsoft YaHei"/>
              </a:rPr>
              <a:t>▪ K10  标签清楚，账物相符</a:t>
            </a:r>
          </a:p>
          <a:p>
            <a:pPr>
              <a:spcAft>
                <a:spcPts val="800"/>
              </a:spcAft>
            </a:pPr>
            <a:r>
              <a:rPr sz="1500">
                <a:solidFill>
                  <a:srgbClr val="FFFFFF"/>
                </a:solidFill>
                <a:latin typeface="Microsoft YaHei"/>
              </a:rPr>
              <a:t>▪ K11  经常检查储存容器</a:t>
            </a:r>
          </a:p>
          <a:p>
            <a:pPr>
              <a:spcAft>
                <a:spcPts val="800"/>
              </a:spcAft>
            </a:pPr>
            <a:r>
              <a:rPr sz="1500">
                <a:solidFill>
                  <a:srgbClr val="FFFFFF"/>
                </a:solidFill>
                <a:latin typeface="Microsoft YaHei"/>
              </a:rPr>
              <a:t>▪ K12  过期变质试剂及时清理</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安全柜与化学品冰箱</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能说出易燃品柜、酸碱腐蚀品柜、毒害品柜各自的用途，做到易燃、腐蚀、毒害化学品各进专柜。</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能做到少量易燃液体用安全罐分装、用完放回柜内、台面只留当天少量，柜门关好、柜内柜前不堆杂物。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能说出安全柜通风须有阻火措施、柜体按说明接地，具体以产品说明和本校规定为准。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能判断普通冰箱不能存放易燃物、冷藏易燃试剂须用防爆冰箱，化学品冰箱专用、禁止存放食物饮料。</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日起施行）及《危险化学品安全管理条例》（以现行文本为准）：危险化学品专用储存设施，剧毒化学品专柜储存、专人管理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15603-2022（以现行文本为准）《危险化学品仓库储存通则》：分类、分区储存，禁忌物不得混存，储存设施防火、通风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系列（以现行文本为准）《化学品分类和标签规范》：易燃、腐蚀、急性毒性等危险性分类是选柜依据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2894-2025（以现行文本为准）《安全色和安全标志》：储存柜、冰箱上的警告和禁止标志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号，以现行文本为准）：危险化学品分类存放于专用柜，控制存量，剧毒品双人双锁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高校实验室安全检查项目表（以现行文本为准）：易燃品柜、腐蚀品柜、毒害品柜的配置与使用，存放化学品的冰箱须防爆或经防爆改造，不得存放食物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本校危险化学品储存和安全柜、冰箱管理规定</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易燃液体放进合格的易燃品柜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易燃液体不能堆在开放架子上</a:t>
            </a:r>
          </a:p>
          <a:p>
            <a:pPr>
              <a:spcAft>
                <a:spcPts val="1000"/>
              </a:spcAft>
            </a:pPr>
            <a:r>
              <a:rPr sz="2000">
                <a:solidFill>
                  <a:srgbClr val="222B33"/>
                </a:solidFill>
                <a:latin typeface="Microsoft YaHei"/>
              </a:rPr>
              <a:t>▪ 放进合格的易燃品安全柜</a:t>
            </a:r>
          </a:p>
          <a:p>
            <a:pPr>
              <a:spcAft>
                <a:spcPts val="1000"/>
              </a:spcAft>
            </a:pPr>
            <a:r>
              <a:rPr sz="2000">
                <a:solidFill>
                  <a:srgbClr val="222B33"/>
                </a:solidFill>
                <a:latin typeface="Microsoft YaHei"/>
              </a:rPr>
              <a:t>▪ 柜上贴易燃警示，远离火源</a:t>
            </a:r>
          </a:p>
          <a:p>
            <a:pPr>
              <a:spcAft>
                <a:spcPts val="1000"/>
              </a:spcAft>
            </a:pPr>
            <a:r>
              <a:rPr sz="2000">
                <a:solidFill>
                  <a:srgbClr val="222B33"/>
                </a:solidFill>
                <a:latin typeface="Microsoft YaHei"/>
              </a:rPr>
              <a:t>▪ 量更大的进学校专用库房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易燃溶剂放在敞开的木架或窗台上</a:t>
            </a:r>
          </a:p>
          <a:p>
            <a:pPr>
              <a:spcAft>
                <a:spcPts val="1000"/>
              </a:spcAft>
            </a:pPr>
            <a:r>
              <a:rPr sz="1500">
                <a:solidFill>
                  <a:srgbClr val="222B33"/>
                </a:solidFill>
                <a:latin typeface="Microsoft YaHei"/>
              </a:rPr>
              <a:t>▪ 用普通文件柜代替易燃品柜</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少量分装用安全罐，量多进柜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少量易燃液体用合格的安全罐装</a:t>
            </a:r>
          </a:p>
          <a:p>
            <a:pPr>
              <a:spcAft>
                <a:spcPts val="1000"/>
              </a:spcAft>
            </a:pPr>
            <a:r>
              <a:rPr sz="2000">
                <a:solidFill>
                  <a:srgbClr val="222B33"/>
                </a:solidFill>
                <a:latin typeface="Microsoft YaHei"/>
              </a:rPr>
              <a:t>▪ 罐口阻火装置能挡住回火</a:t>
            </a:r>
          </a:p>
          <a:p>
            <a:pPr>
              <a:spcAft>
                <a:spcPts val="1000"/>
              </a:spcAft>
            </a:pPr>
            <a:r>
              <a:rPr sz="2000">
                <a:solidFill>
                  <a:srgbClr val="222B33"/>
                </a:solidFill>
                <a:latin typeface="Microsoft YaHei"/>
              </a:rPr>
              <a:t>▪ 每个容器都贴好标签</a:t>
            </a:r>
          </a:p>
          <a:p>
            <a:pPr>
              <a:spcAft>
                <a:spcPts val="1000"/>
              </a:spcAft>
            </a:pPr>
            <a:r>
              <a:rPr sz="2000">
                <a:solidFill>
                  <a:srgbClr val="222B33"/>
                </a:solidFill>
                <a:latin typeface="Microsoft YaHei"/>
              </a:rPr>
              <a:t>▪ 量多的放进易燃品柜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需要分装、转移或暂存少量易燃液体时，用合格的安全罐（安全储液罐）。安全罐罐盖能自动关闭，罐口装有阻火网等阻火装置，外部火源靠近时能阻止火焰回窜到罐内。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用饮料瓶、无盖烧杯分装溶剂</a:t>
            </a:r>
          </a:p>
          <a:p>
            <a:pPr>
              <a:spcAft>
                <a:spcPts val="1000"/>
              </a:spcAft>
            </a:pPr>
            <a:r>
              <a:rPr sz="1500">
                <a:solidFill>
                  <a:srgbClr val="222B33"/>
                </a:solidFill>
                <a:latin typeface="Microsoft YaHei"/>
              </a:rPr>
              <a:t>▪ 安全罐不贴标签，几种溶剂混用</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用完放回柜里，台面只留少量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易燃品用完马上放回专用柜</a:t>
            </a:r>
          </a:p>
          <a:p>
            <a:pPr>
              <a:spcAft>
                <a:spcPts val="1000"/>
              </a:spcAft>
            </a:pPr>
            <a:r>
              <a:rPr sz="2000">
                <a:solidFill>
                  <a:srgbClr val="222B33"/>
                </a:solidFill>
                <a:latin typeface="Microsoft YaHei"/>
              </a:rPr>
              <a:t>▪ 台面只留当天够用的少量</a:t>
            </a:r>
          </a:p>
          <a:p>
            <a:pPr>
              <a:spcAft>
                <a:spcPts val="1000"/>
              </a:spcAft>
            </a:pPr>
            <a:r>
              <a:rPr sz="2000">
                <a:solidFill>
                  <a:srgbClr val="222B33"/>
                </a:solidFill>
                <a:latin typeface="Microsoft YaHei"/>
              </a:rPr>
              <a:t>▪ 下班前溶剂全部回柜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乙醇、有机溶剂等易燃品用完要马上放回指定的易燃品柜，不能长期摆在实验台、通风柜里或地上（台面和通风柜不是仓库，见第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常用溶剂长期摆在台面上</a:t>
            </a:r>
          </a:p>
          <a:p>
            <a:pPr>
              <a:spcAft>
                <a:spcPts val="1000"/>
              </a:spcAft>
            </a:pPr>
            <a:r>
              <a:rPr sz="1500">
                <a:solidFill>
                  <a:srgbClr val="222B33"/>
                </a:solidFill>
                <a:latin typeface="Microsoft YaHei"/>
              </a:rPr>
              <a:t>▪ 实验结束不收拾，溶剂瓶留在通风柜里</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柜门关好，通风接地按规定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柜门平时关好，不用东西顶开</a:t>
            </a:r>
          </a:p>
          <a:p>
            <a:pPr>
              <a:spcAft>
                <a:spcPts val="1000"/>
              </a:spcAft>
            </a:pPr>
            <a:r>
              <a:rPr sz="1700">
                <a:solidFill>
                  <a:srgbClr val="222B33"/>
                </a:solidFill>
                <a:latin typeface="Microsoft YaHei"/>
              </a:rPr>
              <a:t>▪ 按规定上锁，钥匙专人保管</a:t>
            </a:r>
          </a:p>
          <a:p>
            <a:pPr>
              <a:spcAft>
                <a:spcPts val="1000"/>
              </a:spcAft>
            </a:pPr>
            <a:r>
              <a:rPr sz="1700">
                <a:solidFill>
                  <a:srgbClr val="222B33"/>
                </a:solidFill>
                <a:latin typeface="Microsoft YaHei"/>
              </a:rPr>
              <a:t>▪ 柜子若接排风，管路要有阻火器</a:t>
            </a:r>
          </a:p>
          <a:p>
            <a:pPr>
              <a:spcAft>
                <a:spcPts val="1000"/>
              </a:spcAft>
            </a:pPr>
            <a:r>
              <a:rPr sz="1700">
                <a:solidFill>
                  <a:srgbClr val="222B33"/>
                </a:solidFill>
                <a:latin typeface="Microsoft YaHei"/>
              </a:rPr>
              <a:t>▪ 柜体按说明接地，导走静电</a:t>
            </a:r>
          </a:p>
          <a:p>
            <a:pPr>
              <a:spcAft>
                <a:spcPts val="1000"/>
              </a:spcAft>
            </a:pPr>
            <a:r>
              <a:rPr sz="1700">
                <a:solidFill>
                  <a:srgbClr val="222B33"/>
                </a:solidFill>
                <a:latin typeface="Microsoft YaHei"/>
              </a:rPr>
              <a:t>▪ 柜里不放杂物，柜前不堆东西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安全柜只有关着门才能起到保护作用：柜门平时关好、扣紧，不用楔子或其他东西顶住柜门；按学校规定上锁，钥匙由专人保管。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为了方便取用，把柜门一直敞开</a:t>
            </a:r>
          </a:p>
          <a:p>
            <a:pPr>
              <a:spcAft>
                <a:spcPts val="1000"/>
              </a:spcAft>
            </a:pPr>
            <a:r>
              <a:rPr sz="1500">
                <a:solidFill>
                  <a:srgbClr val="222B33"/>
                </a:solidFill>
                <a:latin typeface="Microsoft YaHei"/>
              </a:rPr>
              <a:t>▪ 自行在柜体上开孔、接管</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酸碱腐蚀品柜：酸碱分开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酸碱放进耐腐蚀的专用柜</a:t>
            </a:r>
          </a:p>
          <a:p>
            <a:pPr>
              <a:spcAft>
                <a:spcPts val="1000"/>
              </a:spcAft>
            </a:pPr>
            <a:r>
              <a:rPr sz="2000">
                <a:solidFill>
                  <a:srgbClr val="222B33"/>
                </a:solidFill>
                <a:latin typeface="Microsoft YaHei"/>
              </a:rPr>
              <a:t>▪ 酸、碱分柜，或分格隔开</a:t>
            </a:r>
          </a:p>
          <a:p>
            <a:pPr>
              <a:spcAft>
                <a:spcPts val="1000"/>
              </a:spcAft>
            </a:pPr>
            <a:r>
              <a:rPr sz="2000">
                <a:solidFill>
                  <a:srgbClr val="222B33"/>
                </a:solidFill>
                <a:latin typeface="Microsoft YaHei"/>
              </a:rPr>
              <a:t>▪ 腐蚀品不放普通金属柜</a:t>
            </a:r>
          </a:p>
          <a:p>
            <a:pPr>
              <a:spcAft>
                <a:spcPts val="1000"/>
              </a:spcAft>
            </a:pPr>
            <a:r>
              <a:rPr sz="2000">
                <a:solidFill>
                  <a:srgbClr val="222B33"/>
                </a:solidFill>
                <a:latin typeface="Microsoft YaHei"/>
              </a:rPr>
              <a:t>▪ 大瓶放下层，配耐腐蚀托盘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酸和碱放在同一格</a:t>
            </a:r>
          </a:p>
          <a:p>
            <a:pPr>
              <a:spcAft>
                <a:spcPts val="1000"/>
              </a:spcAft>
            </a:pPr>
            <a:r>
              <a:rPr sz="1500">
                <a:solidFill>
                  <a:srgbClr val="222B33"/>
                </a:solidFill>
                <a:latin typeface="Microsoft YaHei"/>
              </a:rPr>
              <a:t>▪ 浓酸放在普通铁皮柜里</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毒害品柜：加锁专人管理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毒害品放进专用柜并加锁</a:t>
            </a:r>
          </a:p>
          <a:p>
            <a:pPr>
              <a:spcAft>
                <a:spcPts val="1000"/>
              </a:spcAft>
            </a:pPr>
            <a:r>
              <a:rPr sz="2000">
                <a:solidFill>
                  <a:srgbClr val="222B33"/>
                </a:solidFill>
                <a:latin typeface="Microsoft YaHei"/>
              </a:rPr>
              <a:t>▪ 剧毒品双人双锁管理</a:t>
            </a:r>
          </a:p>
          <a:p>
            <a:pPr>
              <a:spcAft>
                <a:spcPts val="1000"/>
              </a:spcAft>
            </a:pPr>
            <a:r>
              <a:rPr sz="2000">
                <a:solidFill>
                  <a:srgbClr val="222B33"/>
                </a:solidFill>
                <a:latin typeface="Microsoft YaHei"/>
              </a:rPr>
              <a:t>▪ 领用登记，账物相符</a:t>
            </a:r>
          </a:p>
          <a:p>
            <a:pPr>
              <a:spcAft>
                <a:spcPts val="1000"/>
              </a:spcAft>
            </a:pPr>
            <a:r>
              <a:rPr sz="2000">
                <a:solidFill>
                  <a:srgbClr val="222B33"/>
                </a:solidFill>
                <a:latin typeface="Microsoft YaHei"/>
              </a:rPr>
              <a:t>▪ 存放区按学校要求做好防盗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有毒化学品存放在专用的毒害品柜中，柜子加锁，由专人管理。剧毒化学品实行“五双”管理，其中储存要求双人双锁，必要时使用保险柜，并按学校要求做好防盗、监控等安全防范措施。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毒害品和普通试剂混放在不上锁的柜子</a:t>
            </a:r>
          </a:p>
          <a:p>
            <a:pPr>
              <a:spcAft>
                <a:spcPts val="1000"/>
              </a:spcAft>
            </a:pPr>
            <a:r>
              <a:rPr sz="1500">
                <a:solidFill>
                  <a:srgbClr val="222B33"/>
                </a:solidFill>
                <a:latin typeface="Microsoft YaHei"/>
              </a:rPr>
              <a:t>▪ 一个人同时掌握两把钥匙</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普通冰箱不放易燃物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普通冰箱内的开关、温控器会打火花</a:t>
            </a:r>
          </a:p>
          <a:p>
            <a:pPr>
              <a:spcAft>
                <a:spcPts val="1000"/>
              </a:spcAft>
            </a:pPr>
            <a:r>
              <a:rPr sz="2000">
                <a:solidFill>
                  <a:srgbClr val="222B33"/>
                </a:solidFill>
                <a:latin typeface="Microsoft YaHei"/>
              </a:rPr>
              <a:t>▪ 易燃蒸气遇火花可能引起爆炸</a:t>
            </a:r>
          </a:p>
          <a:p>
            <a:pPr>
              <a:spcAft>
                <a:spcPts val="1000"/>
              </a:spcAft>
            </a:pPr>
            <a:r>
              <a:rPr sz="2000">
                <a:solidFill>
                  <a:srgbClr val="222B33"/>
                </a:solidFill>
                <a:latin typeface="Microsoft YaHei"/>
              </a:rPr>
              <a:t>▪ 普通冰箱绝不能放易燃物</a:t>
            </a:r>
          </a:p>
          <a:p>
            <a:pPr>
              <a:spcAft>
                <a:spcPts val="1000"/>
              </a:spcAft>
            </a:pPr>
            <a:r>
              <a:rPr sz="2000">
                <a:solidFill>
                  <a:srgbClr val="222B33"/>
                </a:solidFill>
                <a:latin typeface="Microsoft YaHei"/>
              </a:rPr>
              <a:t>▪ 需要冷藏易燃试剂，用防爆冰箱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普通家用冰箱内部的门灯开关、温控器等电气元件工作时会产生电火花。易燃试剂在冰箱密闭空间里挥发出的蒸气积聚，遇到火花可能燃烧甚至爆炸。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用普通家用冰箱冷藏乙醚、石油醚等溶剂</a:t>
            </a:r>
          </a:p>
          <a:p>
            <a:pPr>
              <a:spcAft>
                <a:spcPts val="1000"/>
              </a:spcAft>
            </a:pPr>
            <a:r>
              <a:rPr sz="1500">
                <a:solidFill>
                  <a:srgbClr val="222B33"/>
                </a:solidFill>
                <a:latin typeface="Microsoft YaHei"/>
              </a:rPr>
              <a:t>▪ 以为瓶盖拧紧了就可以放进普通冰箱</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化学品冰箱专用，禁放食物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实验冰箱绝不存放食物饮料</a:t>
            </a:r>
          </a:p>
          <a:p>
            <a:pPr>
              <a:spcAft>
                <a:spcPts val="1000"/>
              </a:spcAft>
            </a:pPr>
            <a:r>
              <a:rPr sz="2000">
                <a:solidFill>
                  <a:srgbClr val="222B33"/>
                </a:solidFill>
                <a:latin typeface="Microsoft YaHei"/>
              </a:rPr>
              <a:t>▪ 门上贴“化学品专用、禁放食品”标识</a:t>
            </a:r>
          </a:p>
          <a:p>
            <a:pPr>
              <a:spcAft>
                <a:spcPts val="1000"/>
              </a:spcAft>
            </a:pPr>
            <a:r>
              <a:rPr sz="2000">
                <a:solidFill>
                  <a:srgbClr val="222B33"/>
                </a:solidFill>
                <a:latin typeface="Microsoft YaHei"/>
              </a:rPr>
              <a:t>▪ 容器密封、贴标签，不相容物隔开</a:t>
            </a:r>
          </a:p>
          <a:p>
            <a:pPr>
              <a:spcAft>
                <a:spcPts val="1000"/>
              </a:spcAft>
            </a:pPr>
            <a:r>
              <a:rPr sz="2000">
                <a:solidFill>
                  <a:srgbClr val="222B33"/>
                </a:solidFill>
                <a:latin typeface="Microsoft YaHei"/>
              </a:rPr>
              <a:t>▪ 定期清理，过期的登记处置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存放化学品、生物样品的实验冰箱只能专用，绝不能存放食物、饮料，以防污染和误食；职工的食品冰箱要放在实验区以外，不能混用一台。冰箱门上贴“化学品专用、禁放食品”等标识。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在实验冰箱里放午饭或饮料</a:t>
            </a:r>
          </a:p>
          <a:p>
            <a:pPr>
              <a:spcAft>
                <a:spcPts val="1000"/>
              </a:spcAft>
            </a:pPr>
            <a:r>
              <a:rPr sz="1500">
                <a:solidFill>
                  <a:srgbClr val="222B33"/>
                </a:solidFill>
                <a:latin typeface="Microsoft YaHei"/>
              </a:rPr>
              <a:t>▪ 冰箱里放敞口、无标签的容器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需要冷藏一瓶易燃有机溶剂，正确的做法是：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拧紧瓶盖放进普通冰箱</a:t>
            </a:r>
          </a:p>
          <a:p>
            <a:pPr algn="l"/>
            <a:r>
              <a:rPr sz="1500" b="0">
                <a:solidFill>
                  <a:srgbClr val="222B33"/>
                </a:solidFill>
                <a:latin typeface="Microsoft YaHei"/>
              </a:rPr>
              <a:t>B. 放进防爆冰箱</a:t>
            </a:r>
          </a:p>
          <a:p>
            <a:pPr algn="l"/>
            <a:r>
              <a:rPr sz="1500" b="0">
                <a:solidFill>
                  <a:srgbClr val="222B33"/>
                </a:solidFill>
                <a:latin typeface="Microsoft YaHei"/>
              </a:rPr>
              <a:t>C. 放进办公室冰箱</a:t>
            </a:r>
          </a:p>
          <a:p>
            <a:pPr algn="l"/>
            <a:r>
              <a:rPr sz="1500" b="0">
                <a:solidFill>
                  <a:srgbClr val="222B33"/>
                </a:solidFill>
                <a:latin typeface="Microsoft YaHei"/>
              </a:rPr>
              <a:t>D. 放在窗台阴凉处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判断：实验室冰箱空间很大，可以在里面放一份午饭，只要和试剂分开放即可。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关于易燃品安全柜，下列做法正确的是：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用楔子顶住柜门方便取用</a:t>
            </a:r>
          </a:p>
          <a:p>
            <a:pPr algn="l"/>
            <a:r>
              <a:rPr sz="1500" b="0">
                <a:solidFill>
                  <a:srgbClr val="222B33"/>
                </a:solidFill>
                <a:latin typeface="Microsoft YaHei"/>
              </a:rPr>
              <a:t>B. 柜内放纸箱和抹布</a:t>
            </a:r>
          </a:p>
          <a:p>
            <a:pPr algn="l"/>
            <a:r>
              <a:rPr sz="1500" b="0">
                <a:solidFill>
                  <a:srgbClr val="222B33"/>
                </a:solidFill>
                <a:latin typeface="Microsoft YaHei"/>
              </a:rPr>
              <a:t>C. 柜门平时关好，若接排风则管路设阻火器</a:t>
            </a:r>
          </a:p>
          <a:p>
            <a:pPr algn="l"/>
            <a:r>
              <a:rPr sz="1500" b="0">
                <a:solidFill>
                  <a:srgbClr val="222B33"/>
                </a:solidFill>
                <a:latin typeface="Microsoft YaHei"/>
              </a:rPr>
              <a:t>D. 把酸瓶也放进去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判断：酸和碱都是腐蚀品，可以放在腐蚀品柜的同一格里。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简答：易燃品柜、腐蚀品柜、毒害品柜的使用要点分别是什么？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易燃液体放进合格的易燃品柜</a:t>
            </a:r>
          </a:p>
          <a:p>
            <a:pPr>
              <a:spcAft>
                <a:spcPts val="800"/>
              </a:spcAft>
            </a:pPr>
            <a:r>
              <a:rPr sz="1800">
                <a:solidFill>
                  <a:srgbClr val="FFFFFF"/>
                </a:solidFill>
                <a:latin typeface="Microsoft YaHei"/>
              </a:rPr>
              <a:t>▪ K2  少量分装用安全罐，量多进柜</a:t>
            </a:r>
          </a:p>
          <a:p>
            <a:pPr>
              <a:spcAft>
                <a:spcPts val="800"/>
              </a:spcAft>
            </a:pPr>
            <a:r>
              <a:rPr sz="1800">
                <a:solidFill>
                  <a:srgbClr val="FFFFFF"/>
                </a:solidFill>
                <a:latin typeface="Microsoft YaHei"/>
              </a:rPr>
              <a:t>▪ K3  用完放回柜里，台面只留少量</a:t>
            </a:r>
          </a:p>
          <a:p>
            <a:pPr>
              <a:spcAft>
                <a:spcPts val="800"/>
              </a:spcAft>
            </a:pPr>
            <a:r>
              <a:rPr sz="1800">
                <a:solidFill>
                  <a:srgbClr val="FFFFFF"/>
                </a:solidFill>
                <a:latin typeface="Microsoft YaHei"/>
              </a:rPr>
              <a:t>▪ K4  柜门关好，通风接地按规定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酸碱腐蚀品柜：酸碱分开</a:t>
            </a:r>
          </a:p>
          <a:p>
            <a:pPr>
              <a:spcAft>
                <a:spcPts val="800"/>
              </a:spcAft>
            </a:pPr>
            <a:r>
              <a:rPr sz="1800">
                <a:solidFill>
                  <a:srgbClr val="FFFFFF"/>
                </a:solidFill>
                <a:latin typeface="Microsoft YaHei"/>
              </a:rPr>
              <a:t>▪ S2  毒害品柜：加锁专人管理</a:t>
            </a:r>
          </a:p>
          <a:p>
            <a:pPr>
              <a:spcAft>
                <a:spcPts val="800"/>
              </a:spcAft>
            </a:pPr>
            <a:r>
              <a:rPr sz="1800">
                <a:solidFill>
                  <a:srgbClr val="FFFFFF"/>
                </a:solidFill>
                <a:latin typeface="Microsoft YaHei"/>
              </a:rPr>
              <a:t>▪ K5  普通冰箱不放易燃物</a:t>
            </a:r>
          </a:p>
          <a:p>
            <a:pPr>
              <a:spcAft>
                <a:spcPts val="800"/>
              </a:spcAft>
            </a:pPr>
            <a:r>
              <a:rPr sz="1800">
                <a:solidFill>
                  <a:srgbClr val="FFFFFF"/>
                </a:solidFill>
                <a:latin typeface="Microsoft YaHei"/>
              </a:rPr>
              <a:t>▪ K6  化学品冰箱专用，禁放食物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