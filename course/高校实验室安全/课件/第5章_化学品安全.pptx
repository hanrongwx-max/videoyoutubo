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甲醛（福尔马林是它的水溶液）常用于固定组织和动物标本、病理制片；戊二醛常用于器械消毒和电镜样品固定。两者在医学、生命科学实验室中非常常见。</a:t>
            </a:r>
          </a:p>
          <a:p>
            <a:r>
              <a:t>正因为常见，容易被忽视。甲醛既有强刺激性和致敏性，又是致癌物，国家对其职业接触有专门的限值要求，属于需要重点管控的毒害化学品。</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甲醛和戊二醛接触皮肤、眼睛和黏膜后很快出现刺激症状：轻者发红、刺痛、流泪，重者灼伤；反复接触还可能引起过敏性皮炎。</a:t>
            </a:r>
          </a:p>
          <a:p>
            <a:r>
              <a:t>吸入蒸气会刺激呼吸道，出现咳嗽、恶心、咽喉炎，可能诱发哮喘、支气管炎，严重时损害呼吸功能，还可能引起呕吐、腹泻。浓度极高时可导致抽搐、昏迷甚至死亡。这些急性症状容易识别，一旦出现要立即处理。</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慢性危害往往在多年后才表现出来。甲醛已被确认为人类致癌物，长期过量接触会增加患癌（如鼻咽部肿瘤等）的风险；反复接触还可能造成永久性的呼吸道损伤和致敏。</a:t>
            </a:r>
          </a:p>
          <a:p>
            <a:r>
              <a:t>所以不能等到“有感觉”才防护，平时就要把接触降到最低。</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怀疑自己接触过量，或出现眼鼻刺激、咳嗽、皮疹、头痛等症状时，立即停止操作、离开现场，报告实验室负责人，由实验室负责人报告学院（报告程序见第 157 课）。</a:t>
            </a:r>
          </a:p>
          <a:p>
            <a:r>
              <a:t>及早就医，就医时带上化学品安全技术说明书，多数情况能够好转。不要拖延或隐瞒。</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2.1（以现行文本为准）规定了职业接触限值，包括时间加权平均容许浓度、短时间接触容许浓度或最高容许浓度。这些标准最初针对工业上的大量使用，目的是把工作中的接触降到最低。</a:t>
            </a:r>
          </a:p>
          <a:p>
            <a:r>
              <a:t>按《中华人民共和国职业病防治法》，使用单位要在使用场所设置告知卡，告知职业病危害（包括致癌风险）和防护措施。限值数字是为保护使用者而设，具体数值查 GBZ 2.1 现行文本和本校规定；有疑问就问学院实验室安全管理员（接触限值的概念见第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经常或大量使用甲醛等毒害品的场所，学校要组织有资质的机构进行工作场所空气检测，必要时做个人采样：把采样器佩戴在操作者衣领附近，采集呼吸带（口鼻周围）的空气。</a:t>
            </a:r>
          </a:p>
          <a:p>
            <a:r>
              <a:t>检测结果与 GBZ 2.1 的限值比较：长时间的平均接触达到或超过限值，就要改进通风、调整操作、加强个人防护，直到降下来；只看平均值可能掩盖短时间的高浓度，所以开瓶、倒液、换液等短时操作的峰值也要控制。</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所有使用甲醛、戊二醛等毒害品的人员都要接受培训：知道本实验室哪些地方在用、有哪些危害、怎样减少接触，并定期复训（准入培训见第 007 课）。</a:t>
            </a:r>
          </a:p>
          <a:p>
            <a:r>
              <a:t>使用前阅读厂家提供的中文安全技术说明书，了解危害特性、暴露途径、健康影响、防护和应急措施；操作和储存按说明书和本实验室操作规程执行，每天都一样，不打折扣。有担心或发现隐患，及时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化学品安全标签是最直接的危害信息来源（GB 30000 系列、GB 15258-2009，以现行文本为准）。含甲醛的溶液和混合物，以及会释放甲醛的材料，都要在标签上标明含甲醛；含量较高的还要写明主要危害，特别是“可能致癌”。</a:t>
            </a:r>
          </a:p>
          <a:p>
            <a:r>
              <a:t>自配溶液、分装容器同样要贴标签（标签见第 039 课）。标签写不下的内容会指引查阅安全技术说明书，说明书还告诉你怎样避免过量接触。</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实验前按本校风险管理要求进行风险评估：用量多少、操作多长时间、在什么场所做，决定需要的通风条件和防护措施（风险评估见第 014 课）。</a:t>
            </a:r>
          </a:p>
          <a:p>
            <a:r>
              <a:t>防护的目标是不让毒害品接触到人：不吸入、不沾皮肤、不溅进眼睛。佩戴护目镜（易溅时加面屏），按说明书选择耐该化学品的手套（醛类常用丁腈手套，具体以说明书为准），穿实验服；通风不能满足时按评估结果使用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把蒸气挡在呼吸带之外，最有效的方法是局部排风。开瓶、量取、配制、换液、标本取材都在通风柜或专用排风台里进行，不在敞开的台面上开瓶倒液。</a:t>
            </a:r>
          </a:p>
          <a:p>
            <a:r>
              <a:t>台面铺吸水垫，便于收集滴洒；用完随手盖紧容器。不同的通风设备（通风柜、取材台、局部排风罩）用法不尽相同，先弄懂怎么用，再按使用规则操作（通风柜使用见第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从浓溶液自行稀释、分装时接触风险最大，要在通风柜里操作并做好防护。现在多采用预先稀释好的成品或预分装容器，可以减少开瓶和倒液的次数。</a:t>
            </a:r>
          </a:p>
          <a:p>
            <a:r>
              <a:t>稀溶液同样有刺激性和致癌性，不能因为“已经稀释了”就放松防护。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甲醛等毒害品原容器密闭，存放在阴凉、通风的柜子里，远离氧化剂；部分含甲醇的甲醛溶液还具有易燃性，按易燃品要求存放（见第 046 课）。</a:t>
            </a:r>
          </a:p>
          <a:p>
            <a:r>
              <a:t>按实验需要少量领用，记入台账，用完登记。标本瓶、浸泡缸用后随手盖紧，不长期敞口放置。列入剧毒化学品目录的毒害品按“五双”制度管理（见第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发生溅洒、泄漏或接触时，按本实验室的应急程序处置（泄漏处置见第 056 课，灼伤急救见第 160 课）。应急程序要在平时通过培训和演练熟悉：洗眼器、喷淋、泄漏处理包在哪里，怎样报告。</a:t>
            </a:r>
          </a:p>
          <a:p>
            <a:r>
              <a:t>对操作中的担心和发现的隐患，及时向实验室负责人报告，不要等出了事再说。</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二氯甲烷是萃取、色谱等实验中最常用的溶剂之一，不易燃，常被误认为“比较安全”，所以需要专门培训。</a:t>
            </a:r>
          </a:p>
          <a:p>
            <a:r>
              <a:t>吸入二氯甲烷会抑制中枢神经，在体内还会代谢产生一氧化碳，加重心脏负担；长期或反复大量接触可损害心脏、肝脏和神经系统，并可能增加患癌风险。伤害是慢慢积累的，不能等出现症状才防护。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二氯甲烷沸点低、挥发快，蒸气比空气重，会积聚在地面、地沟、低处的容器和柜子里。使用前读安全技术说明书和标签，了解它的特性。</a:t>
            </a:r>
          </a:p>
          <a:p>
            <a:r>
              <a:t>取用、分装、萃取都在通风柜里进行；旋转蒸发等浓缩操作要在通风条件下进行，尾气按规定处理；不在台面上敞口挥干溶剂。用完随手盖紧，减少挥发。</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二氯甲烷等的职业接触标准源于工业上的大量使用，但实验室用量小并不等于风险小：近距离操作、通风柜使用不当、敞口挥发都可能造成短时高浓度接触。</a:t>
            </a:r>
          </a:p>
          <a:p>
            <a:r>
              <a:t>要重视危害，确认控制措施真的有效：通风柜风速正常、柜门高度正确、容器密闭、手套适用（二氯甲烷能很快穿透很多常见手套材料，按说明书选择）。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使用二氯甲烷等挥发性溶剂时，出现头晕、头痛、发困、注意力不集中，说明可能吸入过量。马上停止操作，离开到空气新鲜的地方，并提醒周围的人。</a:t>
            </a:r>
          </a:p>
          <a:p>
            <a:r>
              <a:t>报告实验室负责人，查清通风柜或排风哪里出了问题，修好前不再使用。症状不缓解或加重，及时就医，必要时拨打 120。</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重铬酸钾、铬酸盐等六价铬化合物是确认的致癌物，同时是强致敏物和氧化剂：接触皮肤可引起溃疡和过敏性皮炎，吸入粉尘或雾滴会损伤鼻腔和呼吸道（GB 30000 系列分类，以安全技术说明书为准）。</a:t>
            </a:r>
          </a:p>
          <a:p>
            <a:r>
              <a:t>能用低毒替代方法的优先替代。必须使用时，称量粉末在通风柜或带排风的称量台里进行，防止扬尘，戴护目镜和合适的手套；含铬废液单独收集、标明成分，按《国家危险废物名录》（以现行文本为准）交有资质单位处置，不得倒入下水道（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金属汞在常温下就会挥发，汞蒸气无色无味，人察觉不到。长期吸入会损害神经系统和肾脏，出现手抖、情绪改变、记忆力下降等表现。汞的可溶性化合物毒性更大，有的属于剧毒化学品（按“五双”管理，见第 045 课）。</a:t>
            </a:r>
          </a:p>
          <a:p>
            <a:r>
              <a:t>实验室中的含汞温度计、压力计、汞灯等，能用电子仪器或无汞产品替代的尽量替代；保留使用的放在托盘里，防止打碎后汞珠散落。</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含汞温度计、压力计破损后，汞会散成许多到处滚动的小珠，钻进缝隙。不要用手碰，不要用扫帚扫，更不能用吸尘器吸——会把汞打散并加速挥发。</a:t>
            </a:r>
          </a:p>
          <a:p>
            <a:r>
              <a:t>无关人员先离开，隔开现场，开窗或保持通风，关闭附近热源；报告实验室负责人，由经过培训的人员用专用汞处理包收集，收集物密封后按危险废物处置。详细处置流程见第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按《中华人民共和国职业病防治法》和 GBZ 188（以现行文本为准），长期、规律接触甲醛、汞、六价铬、苯等职业病危害因素的人员，应按规定进行上岗前、在岗期间和离岗时的职业健康检查，由学校组织到有资质的机构进行，结果存入个人健康档案。具体范围以本校职业健康管理规定为准。</a:t>
            </a:r>
          </a:p>
          <a:p>
            <a:r>
              <a:t>检查发现异常或出现与接触有关的健康损害，要及时调整岗位或工作内容。怀孕、哺乳、过敏体质等特殊情况，主动告知实验室负责人，调整接触安排（见第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答案：C。解析：稀溶液照样有危害，开瓶、量取、分装都在通风柜里做。</a:t>
            </a:r>
          </a:p>
          <a:p>
            <a:r>
              <a:t>第 2 题 答案：B。解析：二氯甲烷易挥发、蒸气比空气重，长期接触伤心、伤肝、伤脑并可能致癌，取用、浓缩都在通风柜里。</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答案：B。解析：头晕发困是吸入过量的信号。</a:t>
            </a:r>
          </a:p>
          <a:p>
            <a:r>
              <a:t>第 4 题 答案：C。解析：扫和吸会打散汞并加速挥发；收集物按危险废物处置，流程见第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答案：B。解析：长时间平均和短时高峰都要与 GBZ 2.1 的限值比较，超限要加强防护。</a:t>
            </a:r>
          </a:p>
          <a:p>
            <a:r>
              <a:t>第 6 题 答案：按规定进行上岗前、在岗期间和离岗时的职业健康检查，结果存档；出现异常及时调整岗位；怀孕、过敏等特殊情况主动告知实验室负责人。解析：依据《中华人民共和国职业病防治法》和 GBZ 188（以现行文本为准）。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很多化学品名称又长又拗口，名称相近的试剂可能只差一个字或一个前缀，危害却完全不同。取错试剂可能导致剧烈反应、中毒或实验失败。</a:t>
            </a:r>
          </a:p>
          <a:p>
            <a:r>
              <a:t>取用前，对照实验记录或操作规程，逐字核对化学品安全标签上的名称、浓度、规格，并看清象形图和防范说明（GB 30000 系列、GB 15258-2009，以现行文本为准；标签识读见第 041 课）。</a:t>
            </a:r>
          </a:p>
          <a:p>
            <a:r>
              <a:t>标签脱落、模糊或无标签的容器一律不使用，报告实验室负责人按规定处理，不凭颜色、气味或记忆“猜”是什么。</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实验室里的任何化学品都不能用嘴尝来鉴别，也不能把鼻子凑到容器口直接闻，以免吸入高浓度的有毒、刺激性蒸气。</a:t>
            </a:r>
          </a:p>
          <a:p>
            <a:r>
              <a:t>教学实验中确需辨别气味时，按老师要求：容器离开面部一段距离，用手掌在容器口上方把少量气体轻轻扇向鼻子，浅浅闻一下即可，不深吸。有毒、易挥发或有刺激性气味的化学品，一律在通风柜内取用和操作（通风柜使用见第 052 课）。</a:t>
            </a:r>
          </a:p>
          <a:p>
            <a:r>
              <a:t>实验室内不吃不喝；不把笔、手指、标签纸等放到嘴边，防止化学品经口进入人体。</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嘴吸移液管是实验室的严禁行为：吸力稍大或注意力不集中，液体会直接进入口腔，造成化学灼伤、中毒或感染。这一要求对所有液体（包括清水、缓冲液）和所有实验室（化学、生物，包括一级生物安全实验室）都适用。</a:t>
            </a:r>
          </a:p>
          <a:p>
            <a:r>
              <a:t>玻璃移液管用洗耳球（吸耳球）或移液辅助器吸取；微量液体使用移液器，按规范装吸头、按压、吸液、排液，用过的吸头弃入指定容器。</a:t>
            </a:r>
          </a:p>
          <a:p>
            <a:r>
              <a:t>破损的玻璃移液管、碎玻璃放入锐器盒或专用碎玻璃收集容器，不徒手捡拾、不混入普通垃圾。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移液管、药匙直接伸进原试剂瓶，会把杂质、水分或其他试剂带入整瓶，造成污染，甚至引发反应。正确做法是：估计用量，先把略多于所需的量倒入干净的小烧杯或称量容器，再从中移取。</a:t>
            </a:r>
          </a:p>
          <a:p>
            <a:r>
              <a:t>取出后剩余的试剂不得倒回原瓶。一点污染就可能毁掉整瓶试剂，严重时造成危险。按需少量取用，剩余的按本实验室规定回收或作为废液分类收集（见第 053 课）。</a:t>
            </a:r>
          </a:p>
          <a:p>
            <a:r>
              <a:t>展开剂、溶剂等也按需少取，试剂瓶随开随盖，容器不长时间敞口。</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倾倒液体时握住瓶身，标签朝向手心，这样即使有液体沿瓶口流下也不会腐蚀、污染标签，保证后来的人能看清名称和危害。</a:t>
            </a:r>
          </a:p>
          <a:p>
            <a:r>
              <a:t>取下的瓶盖（瓶塞）口朝上倒放在台面上或拿在手中，既不沾污台面，也不把台面上的杂质带回瓶中。向小口容器倾倒时使用漏斗，容器下面垫托盘，万一洒漏能兜住。</a:t>
            </a:r>
          </a:p>
          <a:p>
            <a:r>
              <a:t>倾倒动作要平稳、果断：起倒和收尾干脆利落，犹犹豫豫会让液体顺着瓶壁外侧流下。浓酸碱的倾倒要点见第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倒完液体后，瓶口常挂着液滴，顺瓶壁流下会形成小洒漏，污染台面和试剂架，下一个拿瓶子的人可能直接接触到化学品。</a:t>
            </a:r>
          </a:p>
          <a:p>
            <a:r>
              <a:t>倒完后用纸巾擦净瓶口和瓶身外侧的液滴（沾有化学品的纸巾按规定作为固体废物收集），把瓶盖完全拧紧，放回原来的位置。</a:t>
            </a:r>
          </a:p>
          <a:p>
            <a:r>
              <a:t>试剂瓶随开随盖，不敞口放置，减少挥发和吸潮。</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粉末状化学品容易在取用和称量时扬起，被吸入或落到皮肤、台面上。称量前先查阅安全技术说明书，穿戴实验服、手套和护目镜。</a:t>
            </a:r>
          </a:p>
          <a:p>
            <a:r>
              <a:t>用药匙轻取轻放，在天平防风罩内操作，关好防风门，不对着粉末说话、吹气；有毒或高活性粉末（如激素等）在通风柜或专用的通风称量罩内称量，必要时佩戴合适的呼吸防护。</a:t>
            </a:r>
          </a:p>
          <a:p>
            <a:r>
              <a:t>称量完毕用小刷或湿巾清理天平和台面；配制的母液、溶液贴好标签，写明名称、浓度、日期和配制人，按要求存放。</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化学品只能在实验室内按规定使用和存放，不得装进书包、口袋私自带出实验室，更不能带回宿舍、教室、食堂等公共场所。私带化学品既有中毒、火灾风险，也违反危险化学品管理规定。</a:t>
            </a:r>
          </a:p>
          <a:p>
            <a:r>
              <a:t>确需在实验室之间转移的，先经实验室负责人同意，按本校规定登记（管控类化学品的领用和转移要求见第 045 课），并按 K9、K10 的要求使用二次容器或推车转移。</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之间、楼层之间转移化学品时，把试剂瓶放进防破碎的二次容器（如带盖的塑料桶、橡胶提桶、专用防护套），万一瓶子破裂，液体也能被兜住，不洒到走廊和楼梯上。易燃易爆化学品更要使用二次容器。</a:t>
            </a:r>
          </a:p>
          <a:p>
            <a:r>
              <a:t>多个试剂瓶用带隔挡的提篮装好，瓶子直立、互不碰撞，双手平稳提拿。只拿一瓶时，一手握瓶身、一手托住瓶底，不要单手拎瓶颈或瓶盖。</a:t>
            </a:r>
          </a:p>
          <a:p>
            <a:r>
              <a:t>一次不要拿太多，不把瓶子叠放；转移时避开人员密集的时段和路线，乘电梯等具体要求以本校规定为准。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需要搬运多瓶或较重的化学品时，不要抱着走长路，使用带护边（护栏）、轮子较大、重心低的化学品推车，瓶子放在托盘或二次容器里，防止滑落。</a:t>
            </a:r>
          </a:p>
          <a:p>
            <a:r>
              <a:t>普通仪器车、小推车轮子小、护边低，遇到门槛、电梯缝或不平地面容易翻倒，不能用来搬运化学品。</a:t>
            </a:r>
          </a:p>
          <a:p>
            <a:r>
              <a:t>推车时慢慢走，提前确认路线通畅，避开人流和障碍物；过门槛和进出电梯时放慢速度，必要时两人配合。</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校外运输的危险化学品属于危险货物，要按国家标准分类（GB 6944-2025、GB 12268-2025，以现行文本为准），使用合规的包装并可靠封装，包装上粘贴危险货物包装标志（GB 190-2009，以现行文本为准）。破损、渗漏的包装不得运输。</a:t>
            </a:r>
          </a:p>
          <a:p>
            <a:r>
              <a:t>危险化学品不得随身携带乘坐公共交通工具，不得夹带在普通货物中，也不得通过普通快递、邮寄寄递。需要采购或运输的，通过学校主管部门联系具备相应资质的单位承运，按《中华人民共和国危险化学品安全法》《危险化学品安全管理条例》《危险货物道路运输安全管理办法》等规定执行（以现行文本和本校规定为准）。</a:t>
            </a:r>
          </a:p>
          <a:p>
            <a:r>
              <a:t>装卸、搬运和运输由经过培训、合格的人员负责，熟悉所运化学品的危害，随货携带安全技术说明书，出现泄漏等状况时懂得应急处置（泄漏处置见第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答案：B。解析：任何液体都严禁用嘴吸，一律用洗耳球、移液辅助器或移液器。</a:t>
            </a:r>
          </a:p>
          <a:p>
            <a:r>
              <a:t>第 2 题 答案：B。解析：多余试剂不倒回原瓶，防止污染整瓶；按需少取，剩余的按规定处理。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答案：C。解析：标签朝手心保护标签，瓶盖倒放不沾污，动作果断防止顺壁流，倒完擦净、盖紧。</a:t>
            </a:r>
          </a:p>
          <a:p>
            <a:r>
              <a:t>第 4 题 答案：C。解析：校内转移用二次容器、提篮或稳固推车，慢走、走通畅路线。</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能随身携带或用普通快递寄送；通过学校主管部门联系具备资质的单位承运，按规定包装、封装并粘贴危险货物包装标志，由培训合格的人员办理，随货附安全技术说明书。解析：危险化学品运输必须走正规渠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重点毒害品安全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适用对象：使用甲醛、戊二醛、二氯甲烷、汞、铬盐等毒害化学品的高校本科生、研究生和教职工（必修）；医学、生命科学、化学、化工、材料、环境等专业重点学习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能说出甲醛、戊二醛、二氯甲烷、汞和六价铬盐的主要急性和慢性危害，能判断哪些属于致癌物或致敏物。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能做到使用前培训、读标签和安全技术说明书、做风险评估，在通风柜里开瓶、量取、配制和浓缩，选用合适的个人防护，密闭储存、少量领用。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能说出职业接触限值、呼吸带采样监测和职业健康检查的作用，知道限值按国家职业卫生标准执行。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能做到出现头晕、刺激等症状立即离开、报告并就医；汞洒落时不碰、不扫、不吸，隔离通风并报告。</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《中华人民共和国职业病防治法》：职业病危害因素检测、告知，劳动者培训和职业健康检查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188（以现行文本为准）《职业健康监护技术规范》：上岗前、在岗期间、离岗时职业健康检查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日起施行）及《危险化学品安全管理条例》（以现行文本为准）：学校、科研机构使用危险化学品的安全责任，中文安全技术说明书和安全标签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系列（以现行文本为准）《化学品分类和标签规范》：急性毒性、致癌性、呼吸或皮肤致敏、特异性靶器官毒性的分类和象形图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内容和项目顺序》：危险性概述、接触控制和个体防护、毒理学信息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《国家危险废物名录》（以现行文本为准）：含汞、含铬废物及废弃毒害化学品按危险废物收集处置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号，以现行文本为准）及高校实验室安全检查项目表、本校危险化学品和职业健康管理制度</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甲醛和戊二醛：常用而有毒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甲醛和戊二醛都是有毒的醛</a:t>
            </a:r>
          </a:p>
          <a:p>
            <a:pPr>
              <a:spcAft>
                <a:spcPts val="1000"/>
              </a:spcAft>
            </a:pPr>
            <a:r>
              <a:rPr sz="2000">
                <a:solidFill>
                  <a:srgbClr val="222B33"/>
                </a:solidFill>
                <a:latin typeface="Microsoft YaHei"/>
              </a:rPr>
              <a:t>▪ 常用来固定标本、消毒器械</a:t>
            </a:r>
          </a:p>
          <a:p>
            <a:pPr>
              <a:spcAft>
                <a:spcPts val="1000"/>
              </a:spcAft>
            </a:pPr>
            <a:r>
              <a:rPr sz="2000">
                <a:solidFill>
                  <a:srgbClr val="222B33"/>
                </a:solidFill>
                <a:latin typeface="Microsoft YaHei"/>
              </a:rPr>
              <a:t>▪ 甲醛很常见，危害却格外特殊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甲醛（福尔马林是它的水溶液）常用于固定组织和动物标本、病理制片；戊二醛常用于器械消毒和电镜样品固定。两者在医学、生命科学实验室中非常常见。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把标本罐当普通容器随手打开</a:t>
            </a:r>
          </a:p>
          <a:p>
            <a:pPr>
              <a:spcAft>
                <a:spcPts val="1000"/>
              </a:spcAft>
            </a:pPr>
            <a:r>
              <a:rPr sz="1500">
                <a:solidFill>
                  <a:srgbClr val="222B33"/>
                </a:solidFill>
                <a:latin typeface="Microsoft YaHei"/>
              </a:rPr>
              <a:t>▪ 以为消毒液都是低毒的</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一接触就刺激：皮肤、眼睛、呼吸道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皮肤、眼睛、黏膜一接触就受刺激</a:t>
            </a:r>
          </a:p>
          <a:p>
            <a:pPr>
              <a:spcAft>
                <a:spcPts val="1000"/>
              </a:spcAft>
            </a:pPr>
            <a:r>
              <a:rPr sz="2000">
                <a:solidFill>
                  <a:srgbClr val="222B33"/>
                </a:solidFill>
                <a:latin typeface="Microsoft YaHei"/>
              </a:rPr>
              <a:t>▪ 轻则发红刺痛，重则灼伤</a:t>
            </a:r>
          </a:p>
          <a:p>
            <a:pPr>
              <a:spcAft>
                <a:spcPts val="1000"/>
              </a:spcAft>
            </a:pPr>
            <a:r>
              <a:rPr sz="2000">
                <a:solidFill>
                  <a:srgbClr val="222B33"/>
                </a:solidFill>
                <a:latin typeface="Microsoft YaHei"/>
              </a:rPr>
              <a:t>▪ 吸入蒸气会咳嗽、恶心，引发喉炎、哮喘</a:t>
            </a:r>
          </a:p>
          <a:p>
            <a:pPr>
              <a:spcAft>
                <a:spcPts val="1000"/>
              </a:spcAft>
            </a:pPr>
            <a:r>
              <a:rPr sz="2000">
                <a:solidFill>
                  <a:srgbClr val="222B33"/>
                </a:solidFill>
                <a:latin typeface="Microsoft YaHei"/>
              </a:rPr>
              <a:t>▪ 浓度极高时，可致昏迷甚至死亡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甲醛和戊二醛接触皮肤、眼睛和黏膜后很快出现刺激症状：轻者发红、刺痛、流泪，重者灼伤；反复接触还可能引起过敏性皮炎。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闻到刺激味还继续操作</a:t>
            </a:r>
          </a:p>
          <a:p>
            <a:pPr>
              <a:spcAft>
                <a:spcPts val="1000"/>
              </a:spcAft>
            </a:pPr>
            <a:r>
              <a:rPr sz="1500">
                <a:solidFill>
                  <a:srgbClr val="222B33"/>
                </a:solidFill>
                <a:latin typeface="Microsoft YaHei"/>
              </a:rPr>
              <a:t>▪ 眼睛刺痛时用手揉</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甲醛致癌，长期接触伤害慢慢显现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长期接触的伤害，不会马上显现</a:t>
            </a:r>
          </a:p>
          <a:p>
            <a:pPr>
              <a:spcAft>
                <a:spcPts val="1000"/>
              </a:spcAft>
            </a:pPr>
            <a:r>
              <a:rPr sz="2000">
                <a:solidFill>
                  <a:srgbClr val="222B33"/>
                </a:solidFill>
                <a:latin typeface="Microsoft YaHei"/>
              </a:rPr>
              <a:t>▪ 甲醛是致癌物，过量接触增加患癌风险</a:t>
            </a:r>
          </a:p>
          <a:p>
            <a:pPr>
              <a:spcAft>
                <a:spcPts val="1000"/>
              </a:spcAft>
            </a:pPr>
            <a:r>
              <a:rPr sz="2000">
                <a:solidFill>
                  <a:srgbClr val="222B33"/>
                </a:solidFill>
                <a:latin typeface="Microsoft YaHei"/>
              </a:rPr>
              <a:t>▪ 反复接触，还会永久损伤呼吸道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慢性危害往往在多年后才表现出来。甲醛已被确认为人类致癌物，长期过量接触会增加患癌（如鼻咽部肿瘤等）的风险；反复接触还可能造成永久性的呼吸道损伤和致敏。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认为没有症状就没有伤害</a:t>
            </a:r>
          </a:p>
          <a:p>
            <a:pPr>
              <a:spcAft>
                <a:spcPts val="1000"/>
              </a:spcAft>
            </a:pPr>
            <a:r>
              <a:rPr sz="1500">
                <a:solidFill>
                  <a:srgbClr val="222B33"/>
                </a:solidFill>
                <a:latin typeface="Microsoft YaHei"/>
              </a:rPr>
              <a:t>▪ 习惯了气味就不再防护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有症状，立即报告就医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怀疑接触过量、出现症状，立即报告</a:t>
            </a:r>
          </a:p>
          <a:p>
            <a:pPr>
              <a:spcAft>
                <a:spcPts val="1000"/>
              </a:spcAft>
            </a:pPr>
            <a:r>
              <a:rPr sz="2000">
                <a:solidFill>
                  <a:srgbClr val="222B33"/>
                </a:solidFill>
                <a:latin typeface="Microsoft YaHei"/>
              </a:rPr>
              <a:t>▪ 报告实验室负责人</a:t>
            </a:r>
          </a:p>
          <a:p>
            <a:pPr>
              <a:spcAft>
                <a:spcPts val="1000"/>
              </a:spcAft>
            </a:pPr>
            <a:r>
              <a:rPr sz="2000">
                <a:solidFill>
                  <a:srgbClr val="222B33"/>
                </a:solidFill>
                <a:latin typeface="Microsoft YaHei"/>
              </a:rPr>
              <a:t>▪ 及早就医，多数情况能够好转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怀疑自己接触过量，或出现眼鼻刺激、咳嗽、皮疹、头痛等症状时，立即停止操作、离开现场，报告实验室负责人，由实验室负责人报告学院（报告程序见第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觉得不严重就忍着</a:t>
            </a:r>
          </a:p>
          <a:p>
            <a:pPr>
              <a:spcAft>
                <a:spcPts val="1000"/>
              </a:spcAft>
            </a:pPr>
            <a:r>
              <a:rPr sz="1500">
                <a:solidFill>
                  <a:srgbClr val="222B33"/>
                </a:solidFill>
                <a:latin typeface="Microsoft YaHei"/>
              </a:rPr>
              <a:t>▪ 怕被批评不报告</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职业接触有国家标准和限值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国内依据职业病防治法管理</a:t>
            </a:r>
          </a:p>
          <a:p>
            <a:pPr>
              <a:spcAft>
                <a:spcPts val="1000"/>
              </a:spcAft>
            </a:pPr>
            <a:r>
              <a:rPr sz="2000">
                <a:solidFill>
                  <a:srgbClr val="222B33"/>
                </a:solidFill>
                <a:latin typeface="Microsoft YaHei"/>
              </a:rPr>
              <a:t>▪ 接触限值按 GBZ 2.1 现行文本执行</a:t>
            </a:r>
          </a:p>
          <a:p>
            <a:pPr>
              <a:spcAft>
                <a:spcPts val="1000"/>
              </a:spcAft>
            </a:pPr>
            <a:r>
              <a:rPr sz="2000">
                <a:solidFill>
                  <a:srgbClr val="222B33"/>
                </a:solidFill>
                <a:latin typeface="Microsoft YaHei"/>
              </a:rPr>
              <a:t>▪ 标准起因于工业大量使用，目的是把接触降到最低</a:t>
            </a:r>
          </a:p>
          <a:p>
            <a:pPr>
              <a:spcAft>
                <a:spcPts val="1000"/>
              </a:spcAft>
            </a:pPr>
            <a:r>
              <a:rPr sz="2000">
                <a:solidFill>
                  <a:srgbClr val="222B33"/>
                </a:solidFill>
                <a:latin typeface="Microsoft YaHei"/>
              </a:rPr>
              <a:t>▪ 限值为保护你而设，使用场所要告知致癌风险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以为限值只适用于工厂</a:t>
            </a:r>
          </a:p>
          <a:p>
            <a:pPr>
              <a:spcAft>
                <a:spcPts val="1000"/>
              </a:spcAft>
            </a:pPr>
            <a:r>
              <a:rPr sz="1500">
                <a:solidFill>
                  <a:srgbClr val="222B33"/>
                </a:solidFill>
                <a:latin typeface="Microsoft YaHei"/>
              </a:rPr>
              <a:t>▪ 不看告知卡就开始操作</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接触监测：采呼吸带空气，平均和高峰都要控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常用或大量使用，要监测接触量</a:t>
            </a:r>
          </a:p>
          <a:p>
            <a:pPr>
              <a:spcAft>
                <a:spcPts val="1000"/>
              </a:spcAft>
            </a:pPr>
            <a:r>
              <a:rPr sz="2000">
                <a:solidFill>
                  <a:srgbClr val="222B33"/>
                </a:solidFill>
                <a:latin typeface="Microsoft YaHei"/>
              </a:rPr>
              <a:t>▪ 采的是你呼吸带里的空气</a:t>
            </a:r>
          </a:p>
          <a:p>
            <a:pPr>
              <a:spcAft>
                <a:spcPts val="1000"/>
              </a:spcAft>
            </a:pPr>
            <a:r>
              <a:rPr sz="2000">
                <a:solidFill>
                  <a:srgbClr val="222B33"/>
                </a:solidFill>
                <a:latin typeface="Microsoft YaHei"/>
              </a:rPr>
              <a:t>▪ 平均水平达到或超过限值，就要加强防护</a:t>
            </a:r>
          </a:p>
          <a:p>
            <a:pPr>
              <a:spcAft>
                <a:spcPts val="1000"/>
              </a:spcAft>
            </a:pPr>
            <a:r>
              <a:rPr sz="2000">
                <a:solidFill>
                  <a:srgbClr val="222B33"/>
                </a:solidFill>
                <a:latin typeface="Microsoft YaHei"/>
              </a:rPr>
              <a:t>▪ 短时间的高峰也要控制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经常或大量使用甲醛等毒害品的场所，学校要组织有资质的机构进行工作场所空气检测，必要时做个人采样：把采样器佩戴在操作者衣领附近，采集呼吸带（口鼻周围）的空气。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只看全天平均，不管换液时的高峰</a:t>
            </a:r>
          </a:p>
          <a:p>
            <a:pPr>
              <a:spcAft>
                <a:spcPts val="1000"/>
              </a:spcAft>
            </a:pPr>
            <a:r>
              <a:rPr sz="1500">
                <a:solidFill>
                  <a:srgbClr val="222B33"/>
                </a:solidFill>
                <a:latin typeface="Microsoft YaHei"/>
              </a:rPr>
              <a:t>▪ 检测超标后不整改</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先培训，读说明书，守规程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使用的人都要先接受培训，并定期复训</a:t>
            </a:r>
          </a:p>
          <a:p>
            <a:pPr>
              <a:spcAft>
                <a:spcPts val="1000"/>
              </a:spcAft>
            </a:pPr>
            <a:r>
              <a:rPr sz="2000">
                <a:solidFill>
                  <a:srgbClr val="222B33"/>
                </a:solidFill>
                <a:latin typeface="Microsoft YaHei"/>
              </a:rPr>
              <a:t>▪ 先弄清哪里在用，怎样减少接触</a:t>
            </a:r>
          </a:p>
          <a:p>
            <a:pPr>
              <a:spcAft>
                <a:spcPts val="1000"/>
              </a:spcAft>
            </a:pPr>
            <a:r>
              <a:rPr sz="2000">
                <a:solidFill>
                  <a:srgbClr val="222B33"/>
                </a:solidFill>
                <a:latin typeface="Microsoft YaHei"/>
              </a:rPr>
              <a:t>▪ 先看说明书：危害、途径、健康影响</a:t>
            </a:r>
          </a:p>
          <a:p>
            <a:pPr>
              <a:spcAft>
                <a:spcPts val="1000"/>
              </a:spcAft>
            </a:pPr>
            <a:r>
              <a:rPr sz="2000">
                <a:solidFill>
                  <a:srgbClr val="222B33"/>
                </a:solidFill>
                <a:latin typeface="Microsoft YaHei"/>
              </a:rPr>
              <a:t>▪ 天天按规程和标准做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所有使用甲醛、戊二醛等毒害品的人员都要接受培训：知道本实验室哪些地方在用、有哪些危害、怎样减少接触，并定期复训（准入培训见第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没培训就跟着师兄师姐做</a:t>
            </a:r>
          </a:p>
          <a:p>
            <a:pPr>
              <a:spcAft>
                <a:spcPts val="1000"/>
              </a:spcAft>
            </a:pPr>
            <a:r>
              <a:rPr sz="1500">
                <a:solidFill>
                  <a:srgbClr val="222B33"/>
                </a:solidFill>
                <a:latin typeface="Microsoft YaHei"/>
              </a:rPr>
              <a:t>▪ 只看过一次说明书就不再看</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标签写明含甲醛和致癌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容器标签是最直接的信息来源</a:t>
            </a:r>
          </a:p>
          <a:p>
            <a:pPr>
              <a:spcAft>
                <a:spcPts val="1000"/>
              </a:spcAft>
            </a:pPr>
            <a:r>
              <a:rPr sz="2000">
                <a:solidFill>
                  <a:srgbClr val="222B33"/>
                </a:solidFill>
                <a:latin typeface="Microsoft YaHei"/>
              </a:rPr>
              <a:t>▪ 含甲醛的溶液、材料都要标明</a:t>
            </a:r>
          </a:p>
          <a:p>
            <a:pPr>
              <a:spcAft>
                <a:spcPts val="1000"/>
              </a:spcAft>
            </a:pPr>
            <a:r>
              <a:rPr sz="2000">
                <a:solidFill>
                  <a:srgbClr val="222B33"/>
                </a:solidFill>
                <a:latin typeface="Microsoft YaHei"/>
              </a:rPr>
              <a:t>▪ 含量较高的写明主要危害和可能致癌</a:t>
            </a:r>
          </a:p>
          <a:p>
            <a:pPr>
              <a:spcAft>
                <a:spcPts val="1000"/>
              </a:spcAft>
            </a:pPr>
            <a:r>
              <a:rPr sz="2000">
                <a:solidFill>
                  <a:srgbClr val="222B33"/>
                </a:solidFill>
                <a:latin typeface="Microsoft YaHei"/>
              </a:rPr>
              <a:t>▪ 标签写不下，就去查说明书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化学品安全标签是最直接的危害信息来源（GB 30000 系列、GB 15258-2009，以现行文本为准）。含甲醛的溶液和混合物，以及会释放甲醛的材料，都要在标签上标明含甲醛；含量较高的还要写明主要危害，特别是“可能……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自配的固定液不贴标签</a:t>
            </a:r>
          </a:p>
          <a:p>
            <a:pPr>
              <a:spcAft>
                <a:spcPts val="1000"/>
              </a:spcAft>
            </a:pPr>
            <a:r>
              <a:rPr sz="1500">
                <a:solidFill>
                  <a:srgbClr val="222B33"/>
                </a:solidFill>
                <a:latin typeface="Microsoft YaHei"/>
              </a:rPr>
              <a:t>▪ 分装到小瓶后丢掉了危害信息</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风险评估定防护，不让它接触你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实验前按要求做风险评估</a:t>
            </a:r>
          </a:p>
          <a:p>
            <a:pPr>
              <a:spcAft>
                <a:spcPts val="1000"/>
              </a:spcAft>
            </a:pPr>
            <a:r>
              <a:rPr sz="2000">
                <a:solidFill>
                  <a:srgbClr val="222B33"/>
                </a:solidFill>
                <a:latin typeface="Microsoft YaHei"/>
              </a:rPr>
              <a:t>▪ 用多少、做多久、在哪做，决定怎么防</a:t>
            </a:r>
          </a:p>
          <a:p>
            <a:pPr>
              <a:spcAft>
                <a:spcPts val="1000"/>
              </a:spcAft>
            </a:pPr>
            <a:r>
              <a:rPr sz="2000">
                <a:solidFill>
                  <a:srgbClr val="222B33"/>
                </a:solidFill>
                <a:latin typeface="Microsoft YaHei"/>
              </a:rPr>
              <a:t>▪ 不吸入、不沾皮肤、不溅进眼睛</a:t>
            </a:r>
          </a:p>
          <a:p>
            <a:pPr>
              <a:spcAft>
                <a:spcPts val="1000"/>
              </a:spcAft>
            </a:pPr>
            <a:r>
              <a:rPr sz="2000">
                <a:solidFill>
                  <a:srgbClr val="222B33"/>
                </a:solidFill>
                <a:latin typeface="Microsoft YaHei"/>
              </a:rPr>
              <a:t>▪ 护目镜、合适的手套、实验服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实验前按本校风险管理要求进行风险评估：用量多少、操作多长时间、在什么场所做，决定需要的通风条件和防护措施（风险评估见第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用普通乳胶手套长时间接触</a:t>
            </a:r>
          </a:p>
          <a:p>
            <a:pPr>
              <a:spcAft>
                <a:spcPts val="1000"/>
              </a:spcAft>
            </a:pPr>
            <a:r>
              <a:rPr sz="1500">
                <a:solidFill>
                  <a:srgbClr val="222B33"/>
                </a:solidFill>
                <a:latin typeface="Microsoft YaHei"/>
              </a:rPr>
              <a:t>▪ 不评估就把用量放大</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通风最重要：在通风柜里开瓶配制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保持通风是最重要的做法之一</a:t>
            </a:r>
          </a:p>
          <a:p>
            <a:pPr>
              <a:spcAft>
                <a:spcPts val="1000"/>
              </a:spcAft>
            </a:pPr>
            <a:r>
              <a:rPr sz="2000">
                <a:solidFill>
                  <a:srgbClr val="222B33"/>
                </a:solidFill>
                <a:latin typeface="Microsoft YaHei"/>
              </a:rPr>
              <a:t>▪ 开瓶、量取、配制、取材都在通风柜里做</a:t>
            </a:r>
          </a:p>
          <a:p>
            <a:pPr>
              <a:spcAft>
                <a:spcPts val="1000"/>
              </a:spcAft>
            </a:pPr>
            <a:r>
              <a:rPr sz="2000">
                <a:solidFill>
                  <a:srgbClr val="222B33"/>
                </a:solidFill>
                <a:latin typeface="Microsoft YaHei"/>
              </a:rPr>
              <a:t>▪ 不在敞开的台面上开瓶倒液</a:t>
            </a:r>
          </a:p>
          <a:p>
            <a:pPr>
              <a:spcAft>
                <a:spcPts val="1000"/>
              </a:spcAft>
            </a:pPr>
            <a:r>
              <a:rPr sz="2000">
                <a:solidFill>
                  <a:srgbClr val="222B33"/>
                </a:solidFill>
                <a:latin typeface="Microsoft YaHei"/>
              </a:rPr>
              <a:t>▪ 铺好吸水垫，用完随手盖紧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把蒸气挡在呼吸带之外，最有效的方法是局部排风。开瓶、量取、配制、换液、标本取材都在通风柜或专用排风台里进行，不在敞开的台面上开瓶倒液。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在普通台面上换标本固定液</a:t>
            </a:r>
          </a:p>
          <a:p>
            <a:pPr>
              <a:spcAft>
                <a:spcPts val="1000"/>
              </a:spcAft>
            </a:pPr>
            <a:r>
              <a:rPr sz="1500">
                <a:solidFill>
                  <a:srgbClr val="222B33"/>
                </a:solidFill>
                <a:latin typeface="Microsoft YaHei"/>
              </a:rPr>
              <a:t>▪ 用完不盖，敞口放在柜里</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稀释要小心，稀溶液也有害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自行稀释、分装，要格外小心</a:t>
            </a:r>
          </a:p>
          <a:p>
            <a:pPr>
              <a:spcAft>
                <a:spcPts val="1000"/>
              </a:spcAft>
            </a:pPr>
            <a:r>
              <a:rPr sz="2000">
                <a:solidFill>
                  <a:srgbClr val="222B33"/>
                </a:solidFill>
                <a:latin typeface="Microsoft YaHei"/>
              </a:rPr>
              <a:t>▪ 尽量用预先分装好的容器</a:t>
            </a:r>
          </a:p>
          <a:p>
            <a:pPr>
              <a:spcAft>
                <a:spcPts val="1000"/>
              </a:spcAft>
            </a:pPr>
            <a:r>
              <a:rPr sz="2000">
                <a:solidFill>
                  <a:srgbClr val="222B33"/>
                </a:solidFill>
                <a:latin typeface="Microsoft YaHei"/>
              </a:rPr>
              <a:t>▪ 稀溶液，照样有危害</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从浓溶液自行稀释、分装时接触风险最大，要在通风柜里操作并做好防护。现在多采用预先稀释好的成品或预分装容器，可以减少开瓶和倒液的次数。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认为稀释后就无害</a:t>
            </a:r>
          </a:p>
          <a:p>
            <a:pPr>
              <a:spcAft>
                <a:spcPts val="1000"/>
              </a:spcAft>
            </a:pPr>
            <a:r>
              <a:rPr sz="1500">
                <a:solidFill>
                  <a:srgbClr val="222B33"/>
                </a:solidFill>
                <a:latin typeface="Microsoft YaHei"/>
              </a:rPr>
              <a:t>▪ 在台面上用量筒分装</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密闭储存，少量领用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密闭存放，阴凉通风</a:t>
            </a:r>
          </a:p>
          <a:p>
            <a:pPr>
              <a:spcAft>
                <a:spcPts val="1000"/>
              </a:spcAft>
            </a:pPr>
            <a:r>
              <a:rPr sz="2000">
                <a:solidFill>
                  <a:srgbClr val="222B33"/>
                </a:solidFill>
                <a:latin typeface="Microsoft YaHei"/>
              </a:rPr>
              <a:t>▪ 远离氧化剂，有的还易燃</a:t>
            </a:r>
          </a:p>
          <a:p>
            <a:pPr>
              <a:spcAft>
                <a:spcPts val="1000"/>
              </a:spcAft>
            </a:pPr>
            <a:r>
              <a:rPr sz="2000">
                <a:solidFill>
                  <a:srgbClr val="222B33"/>
                </a:solidFill>
                <a:latin typeface="Microsoft YaHei"/>
              </a:rPr>
              <a:t>▪ 按需少量领用，用完登记</a:t>
            </a:r>
          </a:p>
          <a:p>
            <a:pPr>
              <a:spcAft>
                <a:spcPts val="1000"/>
              </a:spcAft>
            </a:pPr>
            <a:r>
              <a:rPr sz="2000">
                <a:solidFill>
                  <a:srgbClr val="222B33"/>
                </a:solidFill>
                <a:latin typeface="Microsoft YaHei"/>
              </a:rPr>
              <a:t>▪ 标本瓶用完随手盖紧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甲醛等毒害品原容器密闭，存放在阴凉、通风的柜子里，远离氧化剂；部分含甲醇的甲醛溶液还具有易燃性，按易燃品要求存放（见第 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大桶固定液长期开着盖</a:t>
            </a:r>
          </a:p>
          <a:p>
            <a:pPr>
              <a:spcAft>
                <a:spcPts val="1000"/>
              </a:spcAft>
            </a:pPr>
            <a:r>
              <a:rPr sz="1500">
                <a:solidFill>
                  <a:srgbClr val="222B33"/>
                </a:solidFill>
                <a:latin typeface="Microsoft YaHei"/>
              </a:rPr>
              <a:t>▪ 领用不登记</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应急程序，平时就要熟悉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出了事，按实验室的程序处置</a:t>
            </a:r>
          </a:p>
          <a:p>
            <a:pPr>
              <a:spcAft>
                <a:spcPts val="1000"/>
              </a:spcAft>
            </a:pPr>
            <a:r>
              <a:rPr sz="2000">
                <a:solidFill>
                  <a:srgbClr val="222B33"/>
                </a:solidFill>
                <a:latin typeface="Microsoft YaHei"/>
              </a:rPr>
              <a:t>▪ 应急程序平时就要熟悉</a:t>
            </a:r>
          </a:p>
          <a:p>
            <a:pPr>
              <a:spcAft>
                <a:spcPts val="1000"/>
              </a:spcAft>
            </a:pPr>
            <a:r>
              <a:rPr sz="2000">
                <a:solidFill>
                  <a:srgbClr val="222B33"/>
                </a:solidFill>
                <a:latin typeface="Microsoft YaHei"/>
              </a:rPr>
              <a:t>▪ 有担心、有隐患，及时报告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发生溅洒、泄漏或接触时，按本实验室的应急程序处置（泄漏处置见第 056 课，灼伤急救见第 160 课）。应急程序要在平时通过培训和演练熟悉：洗眼器、喷淋、泄漏处理包在哪里，怎样报告。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出事时才去找应急程序</a:t>
            </a:r>
          </a:p>
          <a:p>
            <a:pPr>
              <a:spcAft>
                <a:spcPts val="1000"/>
              </a:spcAft>
            </a:pPr>
            <a:r>
              <a:rPr sz="1500">
                <a:solidFill>
                  <a:srgbClr val="222B33"/>
                </a:solidFill>
                <a:latin typeface="Microsoft YaHei"/>
              </a:rPr>
              <a:t>▪ 不知道泄漏处理包在哪里</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二氯甲烷：危害容易被小看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就是个溶剂？它的危害容易被小看</a:t>
            </a:r>
          </a:p>
          <a:p>
            <a:pPr>
              <a:spcAft>
                <a:spcPts val="1000"/>
              </a:spcAft>
            </a:pPr>
            <a:r>
              <a:rPr sz="2000">
                <a:solidFill>
                  <a:srgbClr val="222B33"/>
                </a:solidFill>
                <a:latin typeface="Microsoft YaHei"/>
              </a:rPr>
              <a:t>▪ 长期或反复大量接触，伤心、伤肝、伤脑</a:t>
            </a:r>
          </a:p>
          <a:p>
            <a:pPr>
              <a:spcAft>
                <a:spcPts val="1000"/>
              </a:spcAft>
            </a:pPr>
            <a:r>
              <a:rPr sz="2000">
                <a:solidFill>
                  <a:srgbClr val="222B33"/>
                </a:solidFill>
                <a:latin typeface="Microsoft YaHei"/>
              </a:rPr>
              <a:t>▪ 还可能增加患癌风险</a:t>
            </a:r>
          </a:p>
          <a:p>
            <a:pPr>
              <a:spcAft>
                <a:spcPts val="1000"/>
              </a:spcAft>
            </a:pPr>
            <a:r>
              <a:rPr sz="2000">
                <a:solidFill>
                  <a:srgbClr val="222B33"/>
                </a:solidFill>
                <a:latin typeface="Microsoft YaHei"/>
              </a:rPr>
              <a:t>▪ 伤害慢慢积累，不能等有感觉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二氯甲烷是萃取、色谱等实验中最常用的溶剂之一，不易燃，常被误认为“比较安全”，所以需要专门培训。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因为不易燃就在台面上随意使用</a:t>
            </a:r>
          </a:p>
          <a:p>
            <a:pPr>
              <a:spcAft>
                <a:spcPts val="1000"/>
              </a:spcAft>
            </a:pPr>
            <a:r>
              <a:rPr sz="1500">
                <a:solidFill>
                  <a:srgbClr val="222B33"/>
                </a:solidFill>
                <a:latin typeface="Microsoft YaHei"/>
              </a:rPr>
              <a:t>▪ 用它洗手上的污渍</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易挥发、蒸气下沉，在通风柜里用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沸点低，一开盖就挥发很快</a:t>
            </a:r>
          </a:p>
          <a:p>
            <a:pPr>
              <a:spcAft>
                <a:spcPts val="1000"/>
              </a:spcAft>
            </a:pPr>
            <a:r>
              <a:rPr sz="2000">
                <a:solidFill>
                  <a:srgbClr val="222B33"/>
                </a:solidFill>
                <a:latin typeface="Microsoft YaHei"/>
              </a:rPr>
              <a:t>▪ 蒸气比空气重，会往低处积聚</a:t>
            </a:r>
          </a:p>
          <a:p>
            <a:pPr>
              <a:spcAft>
                <a:spcPts val="1000"/>
              </a:spcAft>
            </a:pPr>
            <a:r>
              <a:rPr sz="2000">
                <a:solidFill>
                  <a:srgbClr val="222B33"/>
                </a:solidFill>
                <a:latin typeface="Microsoft YaHei"/>
              </a:rPr>
              <a:t>▪ 取用、分装、浓缩，都在通风柜里</a:t>
            </a:r>
          </a:p>
          <a:p>
            <a:pPr>
              <a:spcAft>
                <a:spcPts val="1000"/>
              </a:spcAft>
            </a:pPr>
            <a:r>
              <a:rPr sz="2000">
                <a:solidFill>
                  <a:srgbClr val="222B33"/>
                </a:solidFill>
                <a:latin typeface="Microsoft YaHei"/>
              </a:rPr>
              <a:t>▪ 不在台面上敞口挥干，用完随手盖紧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二氯甲烷沸点低、挥发快，蒸气比空气重，会积聚在地面、地沟、低处的容器和柜子里。使用前读安全技术说明书和标签，了解它的特性。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把萃取后的溶液放在台面上自然挥干</a:t>
            </a:r>
          </a:p>
          <a:p>
            <a:pPr>
              <a:spcAft>
                <a:spcPts val="1000"/>
              </a:spcAft>
            </a:pPr>
            <a:r>
              <a:rPr sz="1500">
                <a:solidFill>
                  <a:srgbClr val="222B33"/>
                </a:solidFill>
                <a:latin typeface="Microsoft YaHei"/>
              </a:rPr>
              <a:t>▪ 在地下室等低处、通风差的房间大量使用</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用量小，规矩不减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职业接触标准起因于工业大量使用</a:t>
            </a:r>
          </a:p>
          <a:p>
            <a:pPr>
              <a:spcAft>
                <a:spcPts val="1000"/>
              </a:spcAft>
            </a:pPr>
            <a:r>
              <a:rPr sz="2000">
                <a:solidFill>
                  <a:srgbClr val="222B33"/>
                </a:solidFill>
                <a:latin typeface="Microsoft YaHei"/>
              </a:rPr>
              <a:t>▪ 实验室用量小，规矩一样不能少</a:t>
            </a:r>
          </a:p>
          <a:p>
            <a:pPr>
              <a:spcAft>
                <a:spcPts val="1000"/>
              </a:spcAft>
            </a:pPr>
            <a:r>
              <a:rPr sz="2000">
                <a:solidFill>
                  <a:srgbClr val="222B33"/>
                </a:solidFill>
                <a:latin typeface="Microsoft YaHei"/>
              </a:rPr>
              <a:t>▪ 重视危害，确认控制措施真的有效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二氯甲烷等的职业接触标准源于工业上的大量使用，但实验室用量小并不等于风险小：近距离操作、通风柜使用不当、敞口挥发都可能造成短时高浓度接触。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以为用几毫升就不用防护</a:t>
            </a:r>
          </a:p>
          <a:p>
            <a:pPr>
              <a:spcAft>
                <a:spcPts val="1000"/>
              </a:spcAft>
            </a:pPr>
            <a:r>
              <a:rPr sz="1500">
                <a:solidFill>
                  <a:srgbClr val="222B33"/>
                </a:solidFill>
                <a:latin typeface="Microsoft YaHei"/>
              </a:rPr>
              <a:t>▪ 不看通风柜风速指示就开始操作</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头晕发困就是警报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头晕、发困，是吸入过量的信号</a:t>
            </a:r>
          </a:p>
          <a:p>
            <a:pPr>
              <a:spcAft>
                <a:spcPts val="1000"/>
              </a:spcAft>
            </a:pPr>
            <a:r>
              <a:rPr sz="2000">
                <a:solidFill>
                  <a:srgbClr val="222B33"/>
                </a:solidFill>
                <a:latin typeface="Microsoft YaHei"/>
              </a:rPr>
              <a:t>▪ 马上离开，到空气新鲜的地方</a:t>
            </a:r>
          </a:p>
          <a:p>
            <a:pPr>
              <a:spcAft>
                <a:spcPts val="1000"/>
              </a:spcAft>
            </a:pPr>
            <a:r>
              <a:rPr sz="2000">
                <a:solidFill>
                  <a:srgbClr val="222B33"/>
                </a:solidFill>
                <a:latin typeface="Microsoft YaHei"/>
              </a:rPr>
              <a:t>▪ 报告负责人，查清通风哪里出了问题</a:t>
            </a:r>
          </a:p>
          <a:p>
            <a:pPr>
              <a:spcAft>
                <a:spcPts val="1000"/>
              </a:spcAft>
            </a:pPr>
            <a:r>
              <a:rPr sz="2000">
                <a:solidFill>
                  <a:srgbClr val="222B33"/>
                </a:solidFill>
                <a:latin typeface="Microsoft YaHei"/>
              </a:rPr>
              <a:t>▪ 症状不缓解，及时就医，急救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使用二氯甲烷等挥发性溶剂时，出现头晕、头痛、发困、注意力不集中，说明可能吸入过量。马上停止操作，离开到空气新鲜的地方，并提醒周围的人。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以为是没睡好，坚持做完</a:t>
            </a:r>
          </a:p>
          <a:p>
            <a:pPr>
              <a:spcAft>
                <a:spcPts val="1000"/>
              </a:spcAft>
            </a:pPr>
            <a:r>
              <a:rPr sz="1500">
                <a:solidFill>
                  <a:srgbClr val="222B33"/>
                </a:solidFill>
                <a:latin typeface="Microsoft YaHei"/>
              </a:rPr>
              <a:t>▪ 离开后不报告，下次照样用</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六价铬盐：致癌致敏，防尘单独收集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六价铬盐能致癌，也会致敏</a:t>
            </a:r>
          </a:p>
          <a:p>
            <a:pPr>
              <a:spcAft>
                <a:spcPts val="1000"/>
              </a:spcAft>
            </a:pPr>
            <a:r>
              <a:rPr sz="2000">
                <a:solidFill>
                  <a:srgbClr val="222B33"/>
                </a:solidFill>
                <a:latin typeface="Microsoft YaHei"/>
              </a:rPr>
              <a:t>▪ 会腐蚀皮肤，伤害鼻腔和呼吸道</a:t>
            </a:r>
          </a:p>
          <a:p>
            <a:pPr>
              <a:spcAft>
                <a:spcPts val="1000"/>
              </a:spcAft>
            </a:pPr>
            <a:r>
              <a:rPr sz="2000">
                <a:solidFill>
                  <a:srgbClr val="222B33"/>
                </a:solidFill>
                <a:latin typeface="Microsoft YaHei"/>
              </a:rPr>
              <a:t>▪ 称量粉末在通风柜里，防扬尘，戴手套</a:t>
            </a:r>
          </a:p>
          <a:p>
            <a:pPr>
              <a:spcAft>
                <a:spcPts val="1000"/>
              </a:spcAft>
            </a:pPr>
            <a:r>
              <a:rPr sz="2000">
                <a:solidFill>
                  <a:srgbClr val="222B33"/>
                </a:solidFill>
                <a:latin typeface="Microsoft YaHei"/>
              </a:rPr>
              <a:t>▪ 含铬废液单独收集，按危险废物处置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重铬酸钾、铬酸盐等六价铬化合物是确认的致癌物，同时是强致敏物和氧化剂：接触皮肤可引起溃疡和过敏性皮炎，吸入粉尘或雾滴会损伤鼻腔和呼吸道（GB 30000 系列分类，以安全技术说明书为准）。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在开放台面称量铬盐粉末</a:t>
            </a:r>
          </a:p>
          <a:p>
            <a:pPr>
              <a:spcAft>
                <a:spcPts val="1000"/>
              </a:spcAft>
            </a:pPr>
            <a:r>
              <a:rPr sz="1500">
                <a:solidFill>
                  <a:srgbClr val="222B33"/>
                </a:solidFill>
                <a:latin typeface="Microsoft YaHei"/>
              </a:rPr>
              <a:t>▪ 含铬废液混入普通废液桶</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汞：蒸气看不见，能替代就替代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汞常温就挥发，蒸气看不见、闻不到</a:t>
            </a:r>
          </a:p>
          <a:p>
            <a:pPr>
              <a:spcAft>
                <a:spcPts val="1000"/>
              </a:spcAft>
            </a:pPr>
            <a:r>
              <a:rPr sz="2000">
                <a:solidFill>
                  <a:srgbClr val="222B33"/>
                </a:solidFill>
                <a:latin typeface="Microsoft YaHei"/>
              </a:rPr>
              <a:t>▪ 长期吸入伤神经和肾脏</a:t>
            </a:r>
          </a:p>
          <a:p>
            <a:pPr>
              <a:spcAft>
                <a:spcPts val="1000"/>
              </a:spcAft>
            </a:pPr>
            <a:r>
              <a:rPr sz="2000">
                <a:solidFill>
                  <a:srgbClr val="222B33"/>
                </a:solidFill>
                <a:latin typeface="Microsoft YaHei"/>
              </a:rPr>
              <a:t>▪ 能用无汞仪器，就替换掉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金属汞在常温下就会挥发，汞蒸气无色无味，人察觉不到。长期吸入会损害神经系统和肾脏，出现手抖、情绪改变、记忆力下降等表现。汞的可溶性化合物毒性更大，有的属于剧毒化学品（按“五双”管理，见第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以为没有气味就没有汞蒸气</a:t>
            </a:r>
          </a:p>
          <a:p>
            <a:pPr>
              <a:spcAft>
                <a:spcPts val="1000"/>
              </a:spcAft>
            </a:pPr>
            <a:r>
              <a:rPr sz="1500">
                <a:solidFill>
                  <a:srgbClr val="222B33"/>
                </a:solidFill>
                <a:latin typeface="Microsoft YaHei"/>
              </a:rPr>
              <a:t>▪ 含汞仪器随手放在台边</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汞洒了：别碰、别扫、别吸，先报告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汞洒了会变成到处滚的小珠</a:t>
            </a:r>
          </a:p>
          <a:p>
            <a:pPr>
              <a:spcAft>
                <a:spcPts val="1000"/>
              </a:spcAft>
            </a:pPr>
            <a:r>
              <a:rPr sz="2000">
                <a:solidFill>
                  <a:srgbClr val="222B33"/>
                </a:solidFill>
                <a:latin typeface="Microsoft YaHei"/>
              </a:rPr>
              <a:t>▪ 别用手碰，别扫，别用吸尘器</a:t>
            </a:r>
          </a:p>
          <a:p>
            <a:pPr>
              <a:spcAft>
                <a:spcPts val="1000"/>
              </a:spcAft>
            </a:pPr>
            <a:r>
              <a:rPr sz="2000">
                <a:solidFill>
                  <a:srgbClr val="222B33"/>
                </a:solidFill>
                <a:latin typeface="Microsoft YaHei"/>
              </a:rPr>
              <a:t>▪ 人先离开，隔开现场，保持通风</a:t>
            </a:r>
          </a:p>
          <a:p>
            <a:pPr>
              <a:spcAft>
                <a:spcPts val="1000"/>
              </a:spcAft>
            </a:pPr>
            <a:r>
              <a:rPr sz="2000">
                <a:solidFill>
                  <a:srgbClr val="222B33"/>
                </a:solidFill>
                <a:latin typeface="Microsoft YaHei"/>
              </a:rPr>
              <a:t>▪ 报告老师，由专人用专用工具处理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含汞温度计、压力计破损后，汞会散成许多到处滚动的小珠，钻进缝隙。不要用手碰，不要用扫帚扫，更不能用吸尘器吸——会把汞打散并加速挥发。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用扫帚把汞珠扫到一起</a:t>
            </a:r>
          </a:p>
          <a:p>
            <a:pPr>
              <a:spcAft>
                <a:spcPts val="1000"/>
              </a:spcAft>
            </a:pPr>
            <a:r>
              <a:rPr sz="1500">
                <a:solidFill>
                  <a:srgbClr val="222B33"/>
                </a:solidFill>
                <a:latin typeface="Microsoft YaHei"/>
              </a:rPr>
              <a:t>▪ 用吸尘器清理</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接触重点毒害品，按规定做职业健康检查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长期接触要做职业健康检查</a:t>
            </a:r>
          </a:p>
          <a:p>
            <a:pPr>
              <a:spcAft>
                <a:spcPts val="1000"/>
              </a:spcAft>
            </a:pPr>
            <a:r>
              <a:rPr sz="2000">
                <a:solidFill>
                  <a:srgbClr val="222B33"/>
                </a:solidFill>
                <a:latin typeface="Microsoft YaHei"/>
              </a:rPr>
              <a:t>▪ 上岗前、在岗期间、离岗时都要查</a:t>
            </a:r>
          </a:p>
          <a:p>
            <a:pPr>
              <a:spcAft>
                <a:spcPts val="1000"/>
              </a:spcAft>
            </a:pPr>
            <a:r>
              <a:rPr sz="2000">
                <a:solidFill>
                  <a:srgbClr val="222B33"/>
                </a:solidFill>
                <a:latin typeface="Microsoft YaHei"/>
              </a:rPr>
              <a:t>▪ 结果存档，异常及时调整岗位</a:t>
            </a:r>
          </a:p>
          <a:p>
            <a:pPr>
              <a:spcAft>
                <a:spcPts val="1000"/>
              </a:spcAft>
            </a:pPr>
            <a:r>
              <a:rPr sz="2000">
                <a:solidFill>
                  <a:srgbClr val="222B33"/>
                </a:solidFill>
                <a:latin typeface="Microsoft YaHei"/>
              </a:rPr>
              <a:t>▪ 怀孕、过敏等情况，主动告知老师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按《中华人民共和国职业病防治法》和 GBZ 188（以现行文本为准），长期、规律接触甲醛、汞、六价铬、苯等职业病危害因素的人员，应按规定进行上岗前、在岗期间和离岗时的职业健康检查，由学校组织到有资质的机构进行，结果存……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觉得学生不需要职业健康检查</a:t>
            </a:r>
          </a:p>
          <a:p>
            <a:pPr>
              <a:spcAft>
                <a:spcPts val="1000"/>
              </a:spcAft>
            </a:pPr>
            <a:r>
              <a:rPr sz="1500">
                <a:solidFill>
                  <a:srgbClr val="222B33"/>
                </a:solidFill>
                <a:latin typeface="Microsoft YaHei"/>
              </a:rPr>
              <a:t>▪ 隐瞒怀孕或过敏史继续接触</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四件事：知危害、识材料、会防护、备应急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毒害品有害，但能安全使用</a:t>
            </a:r>
          </a:p>
          <a:p>
            <a:pPr>
              <a:spcAft>
                <a:spcPts val="1000"/>
              </a:spcAft>
            </a:pPr>
            <a:r>
              <a:rPr sz="2000">
                <a:solidFill>
                  <a:srgbClr val="222B33"/>
                </a:solidFill>
                <a:latin typeface="Microsoft YaHei"/>
              </a:rPr>
              <a:t>▪ 知危害：知道它伤哪里</a:t>
            </a:r>
          </a:p>
          <a:p>
            <a:pPr>
              <a:spcAft>
                <a:spcPts val="1000"/>
              </a:spcAft>
            </a:pPr>
            <a:r>
              <a:rPr sz="2000">
                <a:solidFill>
                  <a:srgbClr val="222B33"/>
                </a:solidFill>
                <a:latin typeface="Microsoft YaHei"/>
              </a:rPr>
              <a:t>▪ 识材料：认清哪些含毒害成分</a:t>
            </a:r>
          </a:p>
          <a:p>
            <a:pPr>
              <a:spcAft>
                <a:spcPts val="1000"/>
              </a:spcAft>
            </a:pPr>
            <a:r>
              <a:rPr sz="2000">
                <a:solidFill>
                  <a:srgbClr val="222B33"/>
                </a:solidFill>
                <a:latin typeface="Microsoft YaHei"/>
              </a:rPr>
              <a:t>▪ 会防护、备应急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只记得防护，不熟悉应急</a:t>
            </a:r>
          </a:p>
          <a:p>
            <a:pPr>
              <a:spcAft>
                <a:spcPts val="1000"/>
              </a:spcAft>
            </a:pPr>
            <a:r>
              <a:rPr sz="1500">
                <a:solidFill>
                  <a:srgbClr val="222B33"/>
                </a:solidFill>
                <a:latin typeface="Microsoft YaHei"/>
              </a:rPr>
              <a:t>▪ 因为害怕而隐瞒接触情况</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关于甲醛，下列说法错误的是：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刺激皮肤、眼睛和呼吸道</a:t>
            </a:r>
          </a:p>
          <a:p>
            <a:pPr algn="l"/>
            <a:r>
              <a:rPr sz="1500" b="0">
                <a:solidFill>
                  <a:srgbClr val="222B33"/>
                </a:solidFill>
                <a:latin typeface="Microsoft YaHei"/>
              </a:rPr>
              <a:t>B. 是致癌物</a:t>
            </a:r>
          </a:p>
          <a:p>
            <a:pPr algn="l"/>
            <a:r>
              <a:rPr sz="1500" b="0">
                <a:solidFill>
                  <a:srgbClr val="222B33"/>
                </a:solidFill>
                <a:latin typeface="Microsoft YaHei"/>
              </a:rPr>
              <a:t>C. 稀溶液无害，可以在台面上随意分装</a:t>
            </a:r>
          </a:p>
          <a:p>
            <a:pPr algn="l"/>
            <a:r>
              <a:rPr sz="1500" b="0">
                <a:solidFill>
                  <a:srgbClr val="222B33"/>
                </a:solidFill>
                <a:latin typeface="Microsoft YaHei"/>
              </a:rPr>
              <a:t>D. 职业接触有国家限值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判断：二氯甲烷不易燃，所以可以在实验台面上敞口挥干。</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使用二氯甲烷时感到头晕、发困，应该：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坚持做完再休息</a:t>
            </a:r>
          </a:p>
          <a:p>
            <a:pPr algn="l"/>
            <a:r>
              <a:rPr sz="1500" b="0">
                <a:solidFill>
                  <a:srgbClr val="222B33"/>
                </a:solidFill>
                <a:latin typeface="Microsoft YaHei"/>
              </a:rPr>
              <a:t>B. 马上离开到空气新鲜处，报告负责人查通风，不缓解就医</a:t>
            </a:r>
          </a:p>
          <a:p>
            <a:pPr algn="l"/>
            <a:r>
              <a:rPr sz="1500" b="0">
                <a:solidFill>
                  <a:srgbClr val="222B33"/>
                </a:solidFill>
                <a:latin typeface="Microsoft YaHei"/>
              </a:rPr>
              <a:t>C. 喝杯咖啡提神</a:t>
            </a:r>
          </a:p>
          <a:p>
            <a:pPr algn="l"/>
            <a:r>
              <a:rPr sz="1500" b="0">
                <a:solidFill>
                  <a:srgbClr val="222B33"/>
                </a:solidFill>
                <a:latin typeface="Microsoft YaHei"/>
              </a:rPr>
              <a:t>D. 戴上口罩继续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水银温度计打碎，汞珠洒在地上，正确的做法是：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用扫帚扫起来</a:t>
            </a:r>
          </a:p>
          <a:p>
            <a:pPr algn="l"/>
            <a:r>
              <a:rPr sz="1500" b="0">
                <a:solidFill>
                  <a:srgbClr val="222B33"/>
                </a:solidFill>
                <a:latin typeface="Microsoft YaHei"/>
              </a:rPr>
              <a:t>B. 用吸尘器吸</a:t>
            </a:r>
          </a:p>
          <a:p>
            <a:pPr algn="l"/>
            <a:r>
              <a:rPr sz="1500" b="0">
                <a:solidFill>
                  <a:srgbClr val="222B33"/>
                </a:solidFill>
                <a:latin typeface="Microsoft YaHei"/>
              </a:rPr>
              <a:t>C. 人员离开、隔开现场、通风，报告老师，由专人用汞处理包处理</a:t>
            </a:r>
          </a:p>
          <a:p>
            <a:pPr algn="l"/>
            <a:r>
              <a:rPr sz="1500" b="0">
                <a:solidFill>
                  <a:srgbClr val="222B33"/>
                </a:solidFill>
                <a:latin typeface="Microsoft YaHei"/>
              </a:rPr>
              <a:t>D. 用手捡起来</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甲醛的接触监测，采样的是：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实验室门口的空气</a:t>
            </a:r>
          </a:p>
          <a:p>
            <a:pPr algn="l"/>
            <a:r>
              <a:rPr sz="1500" b="0">
                <a:solidFill>
                  <a:srgbClr val="222B33"/>
                </a:solidFill>
                <a:latin typeface="Microsoft YaHei"/>
              </a:rPr>
              <a:t>B. 操作者呼吸带（口鼻周围）的空气</a:t>
            </a:r>
          </a:p>
          <a:p>
            <a:pPr algn="l"/>
            <a:r>
              <a:rPr sz="1500" b="0">
                <a:solidFill>
                  <a:srgbClr val="222B33"/>
                </a:solidFill>
                <a:latin typeface="Microsoft YaHei"/>
              </a:rPr>
              <a:t>C. 通风柜排风口的空气</a:t>
            </a:r>
          </a:p>
          <a:p>
            <a:pPr algn="l"/>
            <a:r>
              <a:rPr sz="1500" b="0">
                <a:solidFill>
                  <a:srgbClr val="222B33"/>
                </a:solidFill>
                <a:latin typeface="Microsoft YaHei"/>
              </a:rPr>
              <a:t>D. 储存柜里的空气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简答：长期接触甲醛、汞等重点毒害品的人员，在健康管理上有什么要求？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甲醛和戊二醛：常用而有毒</a:t>
            </a:r>
          </a:p>
          <a:p>
            <a:pPr>
              <a:spcAft>
                <a:spcPts val="800"/>
              </a:spcAft>
            </a:pPr>
            <a:r>
              <a:rPr sz="1500">
                <a:solidFill>
                  <a:srgbClr val="FFFFFF"/>
                </a:solidFill>
                <a:latin typeface="Microsoft YaHei"/>
              </a:rPr>
              <a:t>▪ K2  一接触就刺激：皮肤、眼睛、呼吸道</a:t>
            </a:r>
          </a:p>
          <a:p>
            <a:pPr>
              <a:spcAft>
                <a:spcPts val="800"/>
              </a:spcAft>
            </a:pPr>
            <a:r>
              <a:rPr sz="1500">
                <a:solidFill>
                  <a:srgbClr val="FFFFFF"/>
                </a:solidFill>
                <a:latin typeface="Microsoft YaHei"/>
              </a:rPr>
              <a:t>▪ K3  甲醛致癌，长期接触伤害慢慢显现</a:t>
            </a:r>
          </a:p>
          <a:p>
            <a:pPr>
              <a:spcAft>
                <a:spcPts val="800"/>
              </a:spcAft>
            </a:pPr>
            <a:r>
              <a:rPr sz="1500">
                <a:solidFill>
                  <a:srgbClr val="FFFFFF"/>
                </a:solidFill>
                <a:latin typeface="Microsoft YaHei"/>
              </a:rPr>
              <a:t>▪ K4  有症状，立即报告就医</a:t>
            </a:r>
          </a:p>
          <a:p>
            <a:pPr>
              <a:spcAft>
                <a:spcPts val="800"/>
              </a:spcAft>
            </a:pPr>
            <a:r>
              <a:rPr sz="1500">
                <a:solidFill>
                  <a:srgbClr val="FFFFFF"/>
                </a:solidFill>
                <a:latin typeface="Microsoft YaHei"/>
              </a:rPr>
              <a:t>▪ K5  职业接触有国家标准和限值</a:t>
            </a:r>
          </a:p>
          <a:p>
            <a:pPr>
              <a:spcAft>
                <a:spcPts val="800"/>
              </a:spcAft>
            </a:pPr>
            <a:r>
              <a:rPr sz="1500">
                <a:solidFill>
                  <a:srgbClr val="FFFFFF"/>
                </a:solidFill>
                <a:latin typeface="Microsoft YaHei"/>
              </a:rPr>
              <a:t>▪ K6  接触监测：采呼吸带空气，平均和高峰都要控</a:t>
            </a:r>
          </a:p>
          <a:p>
            <a:pPr>
              <a:spcAft>
                <a:spcPts val="800"/>
              </a:spcAft>
            </a:pPr>
            <a:r>
              <a:rPr sz="1500">
                <a:solidFill>
                  <a:srgbClr val="FFFFFF"/>
                </a:solidFill>
                <a:latin typeface="Microsoft YaHei"/>
              </a:rPr>
              <a:t>▪ K7  先培训，读说明书，守规程</a:t>
            </a:r>
          </a:p>
          <a:p>
            <a:pPr>
              <a:spcAft>
                <a:spcPts val="800"/>
              </a:spcAft>
            </a:pPr>
            <a:r>
              <a:rPr sz="1500">
                <a:solidFill>
                  <a:srgbClr val="FFFFFF"/>
                </a:solidFill>
                <a:latin typeface="Microsoft YaHei"/>
              </a:rPr>
              <a:t>▪ K8  标签写明含甲醛和致癌</a:t>
            </a:r>
          </a:p>
          <a:p>
            <a:pPr>
              <a:spcAft>
                <a:spcPts val="800"/>
              </a:spcAft>
            </a:pPr>
            <a:r>
              <a:rPr sz="1500">
                <a:solidFill>
                  <a:srgbClr val="FFFFFF"/>
                </a:solidFill>
                <a:latin typeface="Microsoft YaHei"/>
              </a:rPr>
              <a:t>▪ K9  风险评估定防护，不让它接触你</a:t>
            </a:r>
          </a:p>
          <a:p>
            <a:pPr>
              <a:spcAft>
                <a:spcPts val="800"/>
              </a:spcAft>
            </a:pPr>
            <a:r>
              <a:rPr sz="1500">
                <a:solidFill>
                  <a:srgbClr val="FFFFFF"/>
                </a:solidFill>
                <a:latin typeface="Microsoft YaHei"/>
              </a:rPr>
              <a:t>▪ K10  通风最重要：在通风柜里开瓶配制</a:t>
            </a:r>
          </a:p>
          <a:p>
            <a:pPr>
              <a:spcAft>
                <a:spcPts val="800"/>
              </a:spcAft>
            </a:pPr>
            <a:r>
              <a:rPr sz="1500">
                <a:solidFill>
                  <a:srgbClr val="FFFFFF"/>
                </a:solidFill>
                <a:latin typeface="Microsoft YaHei"/>
              </a:rPr>
              <a:t>▪ K11  稀释要小心，稀溶液也有害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密闭储存，少量领用</a:t>
            </a:r>
          </a:p>
          <a:p>
            <a:pPr>
              <a:spcAft>
                <a:spcPts val="800"/>
              </a:spcAft>
            </a:pPr>
            <a:r>
              <a:rPr sz="1500">
                <a:solidFill>
                  <a:srgbClr val="FFFFFF"/>
                </a:solidFill>
                <a:latin typeface="Microsoft YaHei"/>
              </a:rPr>
              <a:t>▪ K13  应急程序，平时就要熟悉</a:t>
            </a:r>
          </a:p>
          <a:p>
            <a:pPr>
              <a:spcAft>
                <a:spcPts val="800"/>
              </a:spcAft>
            </a:pPr>
            <a:r>
              <a:rPr sz="1500">
                <a:solidFill>
                  <a:srgbClr val="FFFFFF"/>
                </a:solidFill>
                <a:latin typeface="Microsoft YaHei"/>
              </a:rPr>
              <a:t>▪ K14  二氯甲烷：危害容易被小看</a:t>
            </a:r>
          </a:p>
          <a:p>
            <a:pPr>
              <a:spcAft>
                <a:spcPts val="800"/>
              </a:spcAft>
            </a:pPr>
            <a:r>
              <a:rPr sz="1500">
                <a:solidFill>
                  <a:srgbClr val="FFFFFF"/>
                </a:solidFill>
                <a:latin typeface="Microsoft YaHei"/>
              </a:rPr>
              <a:t>▪ K15  易挥发、蒸气下沉，在通风柜里用</a:t>
            </a:r>
          </a:p>
          <a:p>
            <a:pPr>
              <a:spcAft>
                <a:spcPts val="800"/>
              </a:spcAft>
            </a:pPr>
            <a:r>
              <a:rPr sz="1500">
                <a:solidFill>
                  <a:srgbClr val="FFFFFF"/>
                </a:solidFill>
                <a:latin typeface="Microsoft YaHei"/>
              </a:rPr>
              <a:t>▪ K16  用量小，规矩不减</a:t>
            </a:r>
          </a:p>
          <a:p>
            <a:pPr>
              <a:spcAft>
                <a:spcPts val="800"/>
              </a:spcAft>
            </a:pPr>
            <a:r>
              <a:rPr sz="1500">
                <a:solidFill>
                  <a:srgbClr val="FFFFFF"/>
                </a:solidFill>
                <a:latin typeface="Microsoft YaHei"/>
              </a:rPr>
              <a:t>▪ K17  头晕发困就是警报</a:t>
            </a:r>
          </a:p>
          <a:p>
            <a:pPr>
              <a:spcAft>
                <a:spcPts val="800"/>
              </a:spcAft>
            </a:pPr>
            <a:r>
              <a:rPr sz="1500">
                <a:solidFill>
                  <a:srgbClr val="FFFFFF"/>
                </a:solidFill>
                <a:latin typeface="Microsoft YaHei"/>
              </a:rPr>
              <a:t>▪ S1  六价铬盐：致癌致敏，防尘单独收集</a:t>
            </a:r>
          </a:p>
          <a:p>
            <a:pPr>
              <a:spcAft>
                <a:spcPts val="800"/>
              </a:spcAft>
            </a:pPr>
            <a:r>
              <a:rPr sz="1500">
                <a:solidFill>
                  <a:srgbClr val="FFFFFF"/>
                </a:solidFill>
                <a:latin typeface="Microsoft YaHei"/>
              </a:rPr>
              <a:t>▪ S2  汞：蒸气看不见，能替代就替代</a:t>
            </a:r>
          </a:p>
          <a:p>
            <a:pPr>
              <a:spcAft>
                <a:spcPts val="800"/>
              </a:spcAft>
            </a:pPr>
            <a:r>
              <a:rPr sz="1500">
                <a:solidFill>
                  <a:srgbClr val="FFFFFF"/>
                </a:solidFill>
                <a:latin typeface="Microsoft YaHei"/>
              </a:rPr>
              <a:t>▪ K18  汞洒了：别碰、别扫、别吸，先报告</a:t>
            </a:r>
          </a:p>
          <a:p>
            <a:pPr>
              <a:spcAft>
                <a:spcPts val="800"/>
              </a:spcAft>
            </a:pPr>
            <a:r>
              <a:rPr sz="1500">
                <a:solidFill>
                  <a:srgbClr val="FFFFFF"/>
                </a:solidFill>
                <a:latin typeface="Microsoft YaHei"/>
              </a:rPr>
              <a:t>▪ S3  接触重点毒害品，按规定做职业健康检查</a:t>
            </a:r>
          </a:p>
          <a:p>
            <a:pPr>
              <a:spcAft>
                <a:spcPts val="800"/>
              </a:spcAft>
            </a:pPr>
            <a:r>
              <a:rPr sz="1500">
                <a:solidFill>
                  <a:srgbClr val="FFFFFF"/>
                </a:solidFill>
                <a:latin typeface="Microsoft YaHei"/>
              </a:rPr>
              <a:t>▪ K19  四件事：知危害、识材料、会防护、备应急</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化学品取用、转移与运输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适用对象：全体进入化学、生物、材料、环境、医学等涉及化学品实验室的高校本科生、研究生和教职工（必修）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能做到取用前逐字核对名称和浓度，不尝、不凑闻，需要时扇闻，移液一律用洗耳球或移液器，严禁用嘴吸。</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能做到按需少取、不把移液管伸进原瓶、不把多余试剂倒回原瓶；倾倒时标签朝手心、瓶盖倒放、动作果断，倒完擦净瓶外并盖紧；称量粉末防扬尘。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能做到化学品不随意带出实验室，校内转移使用二次容器、提篮或稳固推车。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能说出危险货物运输要规范包装、粘贴包装标志、由有资质的单位和培训合格的人员承担，不夹带、不用普通快递寄递。</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日起施行）及《危险化学品安全管理条例》（以现行文本为准）：学校、科研机构使用危险化学品的安全责任；危险化学品运输须由具备条件的单位承担</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系列（以现行文本为准）《化学品分类和标签规范》、GB 15258-2009（以现行文本为准）《化学品安全标签编写规定》：化学品名称、象形图和防范说明的识别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190-2009（以现行文本为准）《危险货物包装标志》：危险货物运输包装上的标志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6944-2025（以现行文本为准）《危险货物分类和品名编号》、GB 12268-2025（以现行文本为准）《危险货物品名表》：危险货物的分类和品名</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《危险货物道路运输安全管理办法》（以现行文本为准）：危险货物道路运输的托运、承运、包装和人员要求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号，以现行文本为准）及高校实验室安全检查项目表、本校危险化学品领用和转移管理制度</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取用前核对名称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化学品名称长且相似，一字之差危害不同</a:t>
            </a:r>
          </a:p>
          <a:p>
            <a:pPr>
              <a:spcAft>
                <a:spcPts val="1000"/>
              </a:spcAft>
            </a:pPr>
            <a:r>
              <a:rPr sz="2000">
                <a:solidFill>
                  <a:srgbClr val="222B33"/>
                </a:solidFill>
                <a:latin typeface="Microsoft YaHei"/>
              </a:rPr>
              <a:t>▪ 取用前逐字核对名称、浓度和规格</a:t>
            </a:r>
          </a:p>
          <a:p>
            <a:pPr>
              <a:spcAft>
                <a:spcPts val="1000"/>
              </a:spcAft>
            </a:pPr>
            <a:r>
              <a:rPr sz="2000">
                <a:solidFill>
                  <a:srgbClr val="222B33"/>
                </a:solidFill>
                <a:latin typeface="Microsoft YaHei"/>
              </a:rPr>
              <a:t>▪ 标签不清或无标签的不用，先报告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很多化学品名称又长又拗口，名称相近的试剂可能只差一个字或一个前缀，危害却完全不同。取错试剂可能导致剧烈反应、中毒或实验失败。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凭瓶子位置和颜色取用，不看标签</a:t>
            </a:r>
          </a:p>
          <a:p>
            <a:pPr>
              <a:spcAft>
                <a:spcPts val="1000"/>
              </a:spcAft>
            </a:pPr>
            <a:r>
              <a:rPr sz="1500">
                <a:solidFill>
                  <a:srgbClr val="222B33"/>
                </a:solidFill>
                <a:latin typeface="Microsoft YaHei"/>
              </a:rPr>
              <a:t>▪ 名称相近的试剂没逐字核对就用</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不尝不凑闻，需要时扇闻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绝不用尝的方法检验化学品</a:t>
            </a:r>
          </a:p>
          <a:p>
            <a:pPr>
              <a:spcAft>
                <a:spcPts val="1000"/>
              </a:spcAft>
            </a:pPr>
            <a:r>
              <a:rPr sz="1700">
                <a:solidFill>
                  <a:srgbClr val="222B33"/>
                </a:solidFill>
                <a:latin typeface="Microsoft YaHei"/>
              </a:rPr>
              <a:t>▪ 不把鼻子凑到瓶口闻</a:t>
            </a:r>
          </a:p>
          <a:p>
            <a:pPr>
              <a:spcAft>
                <a:spcPts val="1000"/>
              </a:spcAft>
            </a:pPr>
            <a:r>
              <a:rPr sz="1700">
                <a:solidFill>
                  <a:srgbClr val="222B33"/>
                </a:solidFill>
                <a:latin typeface="Microsoft YaHei"/>
              </a:rPr>
              <a:t>▪ 需要闻气味时，远离瓶口用手轻轻扇闻</a:t>
            </a:r>
          </a:p>
          <a:p>
            <a:pPr>
              <a:spcAft>
                <a:spcPts val="1000"/>
              </a:spcAft>
            </a:pPr>
            <a:r>
              <a:rPr sz="1700">
                <a:solidFill>
                  <a:srgbClr val="222B33"/>
                </a:solidFill>
                <a:latin typeface="Microsoft YaHei"/>
              </a:rPr>
              <a:t>▪ 有毒、易挥发的在通风柜里取用</a:t>
            </a:r>
          </a:p>
          <a:p>
            <a:pPr>
              <a:spcAft>
                <a:spcPts val="1000"/>
              </a:spcAft>
            </a:pPr>
            <a:r>
              <a:rPr sz="1700">
                <a:solidFill>
                  <a:srgbClr val="222B33"/>
                </a:solidFill>
                <a:latin typeface="Microsoft YaHei"/>
              </a:rPr>
              <a:t>▪ 笔、手和标签都别往嘴边放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实验室里的任何化学品都不能用嘴尝来鉴别，也不能把鼻子凑到容器口直接闻，以免吸入高浓度的有毒、刺激性蒸气。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凑近瓶口深吸辨别气味</a:t>
            </a:r>
          </a:p>
          <a:p>
            <a:pPr>
              <a:spcAft>
                <a:spcPts val="1000"/>
              </a:spcAft>
            </a:pPr>
            <a:r>
              <a:rPr sz="1500">
                <a:solidFill>
                  <a:srgbClr val="222B33"/>
                </a:solidFill>
                <a:latin typeface="Microsoft YaHei"/>
              </a:rPr>
              <a:t>▪ 在台面上敞开取用挥发性有毒试剂</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移液不用嘴吸，用洗耳球或移液器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移液严禁用嘴吸，任何液体都不行</a:t>
            </a:r>
          </a:p>
          <a:p>
            <a:pPr>
              <a:spcAft>
                <a:spcPts val="1000"/>
              </a:spcAft>
            </a:pPr>
            <a:r>
              <a:rPr sz="1700">
                <a:solidFill>
                  <a:srgbClr val="222B33"/>
                </a:solidFill>
                <a:latin typeface="Microsoft YaHei"/>
              </a:rPr>
              <a:t>▪ 一失手，试剂会吸进嘴里</a:t>
            </a:r>
          </a:p>
          <a:p>
            <a:pPr>
              <a:spcAft>
                <a:spcPts val="1000"/>
              </a:spcAft>
            </a:pPr>
            <a:r>
              <a:rPr sz="1700">
                <a:solidFill>
                  <a:srgbClr val="222B33"/>
                </a:solidFill>
                <a:latin typeface="Microsoft YaHei"/>
              </a:rPr>
              <a:t>▪ 用洗耳球、移液辅助器或移液器</a:t>
            </a:r>
          </a:p>
          <a:p>
            <a:pPr>
              <a:spcAft>
                <a:spcPts val="1000"/>
              </a:spcAft>
            </a:pPr>
            <a:r>
              <a:rPr sz="1700">
                <a:solidFill>
                  <a:srgbClr val="222B33"/>
                </a:solidFill>
                <a:latin typeface="Microsoft YaHei"/>
              </a:rPr>
              <a:t>▪ 化学、生物实验，规矩都一样</a:t>
            </a:r>
          </a:p>
          <a:p>
            <a:pPr>
              <a:spcAft>
                <a:spcPts val="1000"/>
              </a:spcAft>
            </a:pPr>
            <a:r>
              <a:rPr sz="1700">
                <a:solidFill>
                  <a:srgbClr val="222B33"/>
                </a:solidFill>
                <a:latin typeface="Microsoft YaHei"/>
              </a:rPr>
              <a:t>▪ 碎玻璃移液管放进锐器盒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嘴吸移液管是实验室的严禁行为：吸力稍大或注意力不集中，液体会直接进入口腔，造成化学灼伤、中毒或感染。这一要求对所有液体（包括清水、缓冲液）和所有实验室（化学、生物，包括一级生物安全实验室）都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觉得是清水就用嘴吸</a:t>
            </a:r>
          </a:p>
          <a:p>
            <a:pPr>
              <a:spcAft>
                <a:spcPts val="1000"/>
              </a:spcAft>
            </a:pPr>
            <a:r>
              <a:rPr sz="1500">
                <a:solidFill>
                  <a:srgbClr val="222B33"/>
                </a:solidFill>
                <a:latin typeface="Microsoft YaHei"/>
              </a:rPr>
              <a:t>▪ 没有洗耳球就“偶尔吸一下”</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按需少取，不伸进原瓶、不倒回原瓶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移液管不直接伸进原试剂瓶</a:t>
            </a:r>
          </a:p>
          <a:p>
            <a:pPr>
              <a:spcAft>
                <a:spcPts val="1000"/>
              </a:spcAft>
            </a:pPr>
            <a:r>
              <a:rPr sz="2000">
                <a:solidFill>
                  <a:srgbClr val="222B33"/>
                </a:solidFill>
                <a:latin typeface="Microsoft YaHei"/>
              </a:rPr>
              <a:t>▪ 先倒少量到小烧杯，再从中移取</a:t>
            </a:r>
          </a:p>
          <a:p>
            <a:pPr>
              <a:spcAft>
                <a:spcPts val="1000"/>
              </a:spcAft>
            </a:pPr>
            <a:r>
              <a:rPr sz="2000">
                <a:solidFill>
                  <a:srgbClr val="222B33"/>
                </a:solidFill>
                <a:latin typeface="Microsoft YaHei"/>
              </a:rPr>
              <a:t>▪ 多余试剂不倒回原瓶，防止污染</a:t>
            </a:r>
          </a:p>
          <a:p>
            <a:pPr>
              <a:spcAft>
                <a:spcPts val="1000"/>
              </a:spcAft>
            </a:pPr>
            <a:r>
              <a:rPr sz="2000">
                <a:solidFill>
                  <a:srgbClr val="222B33"/>
                </a:solidFill>
                <a:latin typeface="Microsoft YaHei"/>
              </a:rPr>
              <a:t>▪ 按需少取，剩余的按规定处理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移液管、药匙直接伸进原试剂瓶，会把杂质、水分或其他试剂带入整瓶，造成污染，甚至引发反应。正确做法是：估计用量，先把略多于所需的量倒入干净的小烧杯或称量容器，再从中移取。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把用过的移液管伸回原瓶再吸</a:t>
            </a:r>
          </a:p>
          <a:p>
            <a:pPr>
              <a:spcAft>
                <a:spcPts val="1000"/>
              </a:spcAft>
            </a:pPr>
            <a:r>
              <a:rPr sz="1500">
                <a:solidFill>
                  <a:srgbClr val="222B33"/>
                </a:solidFill>
                <a:latin typeface="Microsoft YaHei"/>
              </a:rPr>
              <a:t>▪ 把没用完的试剂倒回原瓶</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倾倒：标签朝手心，瓶盖倒放，动作果断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倒液体时标签朝手心，不污染标签</a:t>
            </a:r>
          </a:p>
          <a:p>
            <a:pPr>
              <a:spcAft>
                <a:spcPts val="1000"/>
              </a:spcAft>
            </a:pPr>
            <a:r>
              <a:rPr sz="2000">
                <a:solidFill>
                  <a:srgbClr val="222B33"/>
                </a:solidFill>
                <a:latin typeface="Microsoft YaHei"/>
              </a:rPr>
              <a:t>▪ 瓶盖倒放，不沾污台面</a:t>
            </a:r>
          </a:p>
          <a:p>
            <a:pPr>
              <a:spcAft>
                <a:spcPts val="1000"/>
              </a:spcAft>
            </a:pPr>
            <a:r>
              <a:rPr sz="2000">
                <a:solidFill>
                  <a:srgbClr val="222B33"/>
                </a:solidFill>
                <a:latin typeface="Microsoft YaHei"/>
              </a:rPr>
              <a:t>▪ 小口容器用漏斗，下面垫托盘</a:t>
            </a:r>
          </a:p>
          <a:p>
            <a:pPr>
              <a:spcAft>
                <a:spcPts val="1000"/>
              </a:spcAft>
            </a:pPr>
            <a:r>
              <a:rPr sz="2000">
                <a:solidFill>
                  <a:srgbClr val="222B33"/>
                </a:solidFill>
                <a:latin typeface="Microsoft YaHei"/>
              </a:rPr>
              <a:t>▪ 起倒、收尾干脆，防止液体顺壁流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倾倒液体时握住瓶身，标签朝向手心，这样即使有液体沿瓶口流下也不会腐蚀、污染标签，保证后来的人能看清名称和危害。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标签朝下倒，标签被腐蚀看不清</a:t>
            </a:r>
          </a:p>
          <a:p>
            <a:pPr>
              <a:spcAft>
                <a:spcPts val="1000"/>
              </a:spcAft>
            </a:pPr>
            <a:r>
              <a:rPr sz="1500">
                <a:solidFill>
                  <a:srgbClr val="222B33"/>
                </a:solidFill>
                <a:latin typeface="Microsoft YaHei"/>
              </a:rPr>
              <a:t>▪ 瓶盖口朝下放在台面上</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倒完擦净瓶外，随手盖紧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瓶口挂着的液滴不能不管</a:t>
            </a:r>
          </a:p>
          <a:p>
            <a:pPr>
              <a:spcAft>
                <a:spcPts val="1000"/>
              </a:spcAft>
            </a:pPr>
            <a:r>
              <a:rPr sz="2000">
                <a:solidFill>
                  <a:srgbClr val="222B33"/>
                </a:solidFill>
                <a:latin typeface="Microsoft YaHei"/>
              </a:rPr>
              <a:t>▪ 擦净瓶口和瓶身，防止下一个人接触</a:t>
            </a:r>
          </a:p>
          <a:p>
            <a:pPr>
              <a:spcAft>
                <a:spcPts val="1000"/>
              </a:spcAft>
            </a:pPr>
            <a:r>
              <a:rPr sz="2000">
                <a:solidFill>
                  <a:srgbClr val="222B33"/>
                </a:solidFill>
                <a:latin typeface="Microsoft YaHei"/>
              </a:rPr>
              <a:t>▪ 随开随盖，用完盖紧放回原处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倒完液体后，瓶口常挂着液滴，顺瓶壁流下会形成小洒漏，污染台面和试剂架，下一个拿瓶子的人可能直接接触到化学品。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瓶外留着流痕就放回架上</a:t>
            </a:r>
          </a:p>
          <a:p>
            <a:pPr>
              <a:spcAft>
                <a:spcPts val="1000"/>
              </a:spcAft>
            </a:pPr>
            <a:r>
              <a:rPr sz="1500">
                <a:solidFill>
                  <a:srgbClr val="222B33"/>
                </a:solidFill>
                <a:latin typeface="Microsoft YaHei"/>
              </a:rPr>
              <a:t>▪ 瓶盖只是搭在瓶口没拧紧</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称量粉末防扬尘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称粉末要防止粉尘扬起</a:t>
            </a:r>
          </a:p>
          <a:p>
            <a:pPr>
              <a:spcAft>
                <a:spcPts val="1000"/>
              </a:spcAft>
            </a:pPr>
            <a:r>
              <a:rPr sz="2000">
                <a:solidFill>
                  <a:srgbClr val="222B33"/>
                </a:solidFill>
                <a:latin typeface="Microsoft YaHei"/>
              </a:rPr>
              <a:t>▪ 轻取轻放，在天平防风罩内称量</a:t>
            </a:r>
          </a:p>
          <a:p>
            <a:pPr>
              <a:spcAft>
                <a:spcPts val="1000"/>
              </a:spcAft>
            </a:pPr>
            <a:r>
              <a:rPr sz="2000">
                <a:solidFill>
                  <a:srgbClr val="222B33"/>
                </a:solidFill>
                <a:latin typeface="Microsoft YaHei"/>
              </a:rPr>
              <a:t>▪ 有毒粉末在通风设施里称，戴好防护</a:t>
            </a:r>
          </a:p>
          <a:p>
            <a:pPr>
              <a:spcAft>
                <a:spcPts val="1000"/>
              </a:spcAft>
            </a:pPr>
            <a:r>
              <a:rPr sz="2000">
                <a:solidFill>
                  <a:srgbClr val="222B33"/>
                </a:solidFill>
                <a:latin typeface="Microsoft YaHei"/>
              </a:rPr>
              <a:t>▪ 称完清理天平，配好的母液贴标签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粉末状化学品容易在取用和称量时扬起，被吸入或落到皮肤、台面上。称量前先查阅安全技术说明书，穿戴实验服、手套和护目镜。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在敞开天平上快速倾倒粉末</a:t>
            </a:r>
          </a:p>
          <a:p>
            <a:pPr>
              <a:spcAft>
                <a:spcPts val="1000"/>
              </a:spcAft>
            </a:pPr>
            <a:r>
              <a:rPr sz="1500">
                <a:solidFill>
                  <a:srgbClr val="222B33"/>
                </a:solidFill>
                <a:latin typeface="Microsoft YaHei"/>
              </a:rPr>
              <a:t>▪ 称完不清理，粉末留在天平上</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化学品不随意带出实验室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化学品不能随身带出实验室</a:t>
            </a:r>
          </a:p>
          <a:p>
            <a:pPr>
              <a:spcAft>
                <a:spcPts val="1000"/>
              </a:spcAft>
            </a:pPr>
            <a:r>
              <a:rPr sz="2000">
                <a:solidFill>
                  <a:srgbClr val="222B33"/>
                </a:solidFill>
                <a:latin typeface="Microsoft YaHei"/>
              </a:rPr>
              <a:t>▪ 不带回宿舍，不带进公共场所</a:t>
            </a:r>
          </a:p>
          <a:p>
            <a:pPr>
              <a:spcAft>
                <a:spcPts val="1000"/>
              </a:spcAft>
            </a:pPr>
            <a:r>
              <a:rPr sz="2000">
                <a:solidFill>
                  <a:srgbClr val="222B33"/>
                </a:solidFill>
                <a:latin typeface="Microsoft YaHei"/>
              </a:rPr>
              <a:t>▪ 确需转移，先经老师同意并登记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化学品只能在实验室内按规定使用和存放，不得装进书包、口袋私自带出实验室，更不能带回宿舍、教室、食堂等公共场所。私带化学品既有中毒、火灾风险，也违反危险化学品管理规定。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把少量试剂装进小瓶带回宿舍</a:t>
            </a:r>
          </a:p>
          <a:p>
            <a:pPr>
              <a:spcAft>
                <a:spcPts val="1000"/>
              </a:spcAft>
            </a:pPr>
            <a:r>
              <a:rPr sz="1500">
                <a:solidFill>
                  <a:srgbClr val="222B33"/>
                </a:solidFill>
                <a:latin typeface="Microsoft YaHei"/>
              </a:rPr>
              <a:t>▪ 不登记就把试剂借给其他实验室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校内转移：二次容器和提篮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实验室之间转移，用防破碎的二次容器</a:t>
            </a:r>
          </a:p>
          <a:p>
            <a:pPr>
              <a:spcAft>
                <a:spcPts val="1000"/>
              </a:spcAft>
            </a:pPr>
            <a:r>
              <a:rPr sz="1700">
                <a:solidFill>
                  <a:srgbClr val="222B33"/>
                </a:solidFill>
                <a:latin typeface="Microsoft YaHei"/>
              </a:rPr>
              <a:t>▪ 瓶子破了也能兜住不洒</a:t>
            </a:r>
          </a:p>
          <a:p>
            <a:pPr>
              <a:spcAft>
                <a:spcPts val="1000"/>
              </a:spcAft>
            </a:pPr>
            <a:r>
              <a:rPr sz="1700">
                <a:solidFill>
                  <a:srgbClr val="222B33"/>
                </a:solidFill>
                <a:latin typeface="Microsoft YaHei"/>
              </a:rPr>
              <a:t>▪ 用带隔挡的提篮，双手平稳拿</a:t>
            </a:r>
          </a:p>
          <a:p>
            <a:pPr>
              <a:spcAft>
                <a:spcPts val="1000"/>
              </a:spcAft>
            </a:pPr>
            <a:r>
              <a:rPr sz="1700">
                <a:solidFill>
                  <a:srgbClr val="222B33"/>
                </a:solidFill>
                <a:latin typeface="Microsoft YaHei"/>
              </a:rPr>
              <a:t>▪ 单瓶托住瓶底，不拎瓶颈</a:t>
            </a:r>
          </a:p>
          <a:p>
            <a:pPr>
              <a:spcAft>
                <a:spcPts val="1000"/>
              </a:spcAft>
            </a:pPr>
            <a:r>
              <a:rPr sz="1700">
                <a:solidFill>
                  <a:srgbClr val="222B33"/>
                </a:solidFill>
                <a:latin typeface="Microsoft YaHei"/>
              </a:rPr>
              <a:t>▪ 一次别拿太多，不叠放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实验室之间、楼层之间转移化学品时，把试剂瓶放进防破碎的二次容器（如带盖的塑料桶、橡胶提桶、专用防护套），万一瓶子破裂，液体也能被兜住，不洒到走廊和楼梯上。易燃易爆化学品更要使用二次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抱着几个瓶子走长路</a:t>
            </a:r>
          </a:p>
          <a:p>
            <a:pPr>
              <a:spcAft>
                <a:spcPts val="1000"/>
              </a:spcAft>
            </a:pPr>
            <a:r>
              <a:rPr sz="1500">
                <a:solidFill>
                  <a:srgbClr val="222B33"/>
                </a:solidFill>
                <a:latin typeface="Microsoft YaHei"/>
              </a:rPr>
              <a:t>▪ 单手拎着瓶颈上下楼</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多瓶搬运用稳固推车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瓶子多就用带护边的推车</a:t>
            </a:r>
          </a:p>
          <a:p>
            <a:pPr>
              <a:spcAft>
                <a:spcPts val="1000"/>
              </a:spcAft>
            </a:pPr>
            <a:r>
              <a:rPr sz="2000">
                <a:solidFill>
                  <a:srgbClr val="222B33"/>
                </a:solidFill>
                <a:latin typeface="Microsoft YaHei"/>
              </a:rPr>
              <a:t>▪ 仪器车、小推车容易翻，不能用</a:t>
            </a:r>
          </a:p>
          <a:p>
            <a:pPr>
              <a:spcAft>
                <a:spcPts val="1000"/>
              </a:spcAft>
            </a:pPr>
            <a:r>
              <a:rPr sz="2000">
                <a:solidFill>
                  <a:srgbClr val="222B33"/>
                </a:solidFill>
                <a:latin typeface="Microsoft YaHei"/>
              </a:rPr>
              <a:t>▪ 地面不平用大轮稳固推车</a:t>
            </a:r>
          </a:p>
          <a:p>
            <a:pPr>
              <a:spcAft>
                <a:spcPts val="1000"/>
              </a:spcAft>
            </a:pPr>
            <a:r>
              <a:rPr sz="2000">
                <a:solidFill>
                  <a:srgbClr val="222B33"/>
                </a:solidFill>
                <a:latin typeface="Microsoft YaHei"/>
              </a:rPr>
              <a:t>▪ 慢慢推，走通畅的路线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需要搬运多瓶或较重的化学品时，不要抱着走长路，使用带护边（护栏）、轮子较大、重心低的化学品推车，瓶子放在托盘或二次容器里，防止滑落。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用无护边的小推车运试剂</a:t>
            </a:r>
          </a:p>
          <a:p>
            <a:pPr>
              <a:spcAft>
                <a:spcPts val="1000"/>
              </a:spcAft>
            </a:pPr>
            <a:r>
              <a:rPr sz="1500">
                <a:solidFill>
                  <a:srgbClr val="222B33"/>
                </a:solidFill>
                <a:latin typeface="Microsoft YaHei"/>
              </a:rPr>
              <a:t>▪ 推车堆得很高、走得很快</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运输：规范包装、标志和专业人员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危险货物包装要合规，粘贴包装标志</a:t>
            </a:r>
          </a:p>
          <a:p>
            <a:pPr>
              <a:spcAft>
                <a:spcPts val="1000"/>
              </a:spcAft>
            </a:pPr>
            <a:r>
              <a:rPr sz="1700">
                <a:solidFill>
                  <a:srgbClr val="222B33"/>
                </a:solidFill>
                <a:latin typeface="Microsoft YaHei"/>
              </a:rPr>
              <a:t>▪ 封装可靠，破损渗漏的不能运</a:t>
            </a:r>
          </a:p>
          <a:p>
            <a:pPr>
              <a:spcAft>
                <a:spcPts val="1000"/>
              </a:spcAft>
            </a:pPr>
            <a:r>
              <a:rPr sz="1700">
                <a:solidFill>
                  <a:srgbClr val="222B33"/>
                </a:solidFill>
                <a:latin typeface="Microsoft YaHei"/>
              </a:rPr>
              <a:t>▪ 不随身夹带，不用普通快递寄递</a:t>
            </a:r>
          </a:p>
          <a:p>
            <a:pPr>
              <a:spcAft>
                <a:spcPts val="1000"/>
              </a:spcAft>
            </a:pPr>
            <a:r>
              <a:rPr sz="1700">
                <a:solidFill>
                  <a:srgbClr val="222B33"/>
                </a:solidFill>
                <a:latin typeface="Microsoft YaHei"/>
              </a:rPr>
              <a:t>▪ 需要运输，通过学校走正规渠道</a:t>
            </a:r>
          </a:p>
          <a:p>
            <a:pPr>
              <a:spcAft>
                <a:spcPts val="1000"/>
              </a:spcAft>
            </a:pPr>
            <a:r>
              <a:rPr sz="1700">
                <a:solidFill>
                  <a:srgbClr val="222B33"/>
                </a:solidFill>
                <a:latin typeface="Microsoft YaHei"/>
              </a:rPr>
              <a:t>▪ 由培训合格的人员操作，懂得应急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校外运输的危险化学品属于危险货物，要按国家标准分类（GB 6944-2025、GB 12268-2025，以现行文本为准），使用合规的包装并可靠封装，包装上粘贴危险货物包装标志（GB 190-2009，以现行文本为准……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把试剂装进行李箱带上高铁</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用玻璃移液管吸取缓冲液，正确的做法是：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缓冲液无毒，可以用嘴吸</a:t>
            </a:r>
          </a:p>
          <a:p>
            <a:pPr algn="l"/>
            <a:r>
              <a:rPr sz="1500" b="0">
                <a:solidFill>
                  <a:srgbClr val="222B33"/>
                </a:solidFill>
                <a:latin typeface="Microsoft YaHei"/>
              </a:rPr>
              <a:t>B. 用洗耳球或移液辅助器</a:t>
            </a:r>
          </a:p>
          <a:p>
            <a:pPr algn="l"/>
            <a:r>
              <a:rPr sz="1500" b="0">
                <a:solidFill>
                  <a:srgbClr val="222B33"/>
                </a:solidFill>
                <a:latin typeface="Microsoft YaHei"/>
              </a:rPr>
              <a:t>C. 先用嘴吸一点再换洗耳球</a:t>
            </a:r>
          </a:p>
          <a:p>
            <a:pPr algn="l"/>
            <a:r>
              <a:rPr sz="1500" b="0">
                <a:solidFill>
                  <a:srgbClr val="222B33"/>
                </a:solidFill>
                <a:latin typeface="Microsoft YaHei"/>
              </a:rPr>
              <a:t>D. 直接把移液管伸进原试剂瓶用嘴吸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判断：取出的试剂没用完，只要没被污染，可以倒回原瓶。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倾倒试剂时，下列做法正确的是：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标签朝下</a:t>
            </a:r>
          </a:p>
          <a:p>
            <a:pPr algn="l"/>
            <a:r>
              <a:rPr sz="1500" b="0">
                <a:solidFill>
                  <a:srgbClr val="222B33"/>
                </a:solidFill>
                <a:latin typeface="Microsoft YaHei"/>
              </a:rPr>
              <a:t>B. 瓶盖口朝下放在台面</a:t>
            </a:r>
          </a:p>
          <a:p>
            <a:pPr algn="l"/>
            <a:r>
              <a:rPr sz="1500" b="0">
                <a:solidFill>
                  <a:srgbClr val="222B33"/>
                </a:solidFill>
                <a:latin typeface="Microsoft YaHei"/>
              </a:rPr>
              <a:t>C. 标签朝手心，瓶盖倒放，倒完擦净瓶外并盖紧</a:t>
            </a:r>
          </a:p>
          <a:p>
            <a:pPr algn="l"/>
            <a:r>
              <a:rPr sz="1500" b="0">
                <a:solidFill>
                  <a:srgbClr val="222B33"/>
                </a:solidFill>
                <a:latin typeface="Microsoft YaHei"/>
              </a:rPr>
              <a:t>D. 慢慢犹豫地倒</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需要把几瓶溶剂从一楼实验室送到三楼实验室，最合适的方式是：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抱在怀里走楼梯</a:t>
            </a:r>
          </a:p>
          <a:p>
            <a:pPr algn="l"/>
            <a:r>
              <a:rPr sz="1500" b="0">
                <a:solidFill>
                  <a:srgbClr val="222B33"/>
                </a:solidFill>
                <a:latin typeface="Microsoft YaHei"/>
              </a:rPr>
              <a:t>B. 单手拎着瓶颈</a:t>
            </a:r>
          </a:p>
          <a:p>
            <a:pPr algn="l"/>
            <a:r>
              <a:rPr sz="1500" b="0">
                <a:solidFill>
                  <a:srgbClr val="222B33"/>
                </a:solidFill>
                <a:latin typeface="Microsoft YaHei"/>
              </a:rPr>
              <a:t>C. 装进带隔挡的提篮或二次容器，瓶多时用带护边的推车</a:t>
            </a:r>
          </a:p>
          <a:p>
            <a:pPr algn="l"/>
            <a:r>
              <a:rPr sz="1500" b="0">
                <a:solidFill>
                  <a:srgbClr val="222B33"/>
                </a:solidFill>
                <a:latin typeface="Microsoft YaHei"/>
              </a:rPr>
              <a:t>D. 用普通仪器车快速推过去</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简答：课题组需要把一批危险化学品送到外地合作单位，应该怎么办？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取用前核对名称</a:t>
            </a:r>
          </a:p>
          <a:p>
            <a:pPr>
              <a:spcAft>
                <a:spcPts val="800"/>
              </a:spcAft>
            </a:pPr>
            <a:r>
              <a:rPr sz="1500">
                <a:solidFill>
                  <a:srgbClr val="FFFFFF"/>
                </a:solidFill>
                <a:latin typeface="Microsoft YaHei"/>
              </a:rPr>
              <a:t>▪ K2  不尝不凑闻，需要时扇闻</a:t>
            </a:r>
          </a:p>
          <a:p>
            <a:pPr>
              <a:spcAft>
                <a:spcPts val="800"/>
              </a:spcAft>
            </a:pPr>
            <a:r>
              <a:rPr sz="1500">
                <a:solidFill>
                  <a:srgbClr val="FFFFFF"/>
                </a:solidFill>
                <a:latin typeface="Microsoft YaHei"/>
              </a:rPr>
              <a:t>▪ K3  移液不用嘴吸，用洗耳球或移液器</a:t>
            </a:r>
          </a:p>
          <a:p>
            <a:pPr>
              <a:spcAft>
                <a:spcPts val="800"/>
              </a:spcAft>
            </a:pPr>
            <a:r>
              <a:rPr sz="1500">
                <a:solidFill>
                  <a:srgbClr val="FFFFFF"/>
                </a:solidFill>
                <a:latin typeface="Microsoft YaHei"/>
              </a:rPr>
              <a:t>▪ K4  按需少取，不伸进原瓶、不倒回原瓶</a:t>
            </a:r>
          </a:p>
          <a:p>
            <a:pPr>
              <a:spcAft>
                <a:spcPts val="800"/>
              </a:spcAft>
            </a:pPr>
            <a:r>
              <a:rPr sz="1500">
                <a:solidFill>
                  <a:srgbClr val="FFFFFF"/>
                </a:solidFill>
                <a:latin typeface="Microsoft YaHei"/>
              </a:rPr>
              <a:t>▪ K5  倾倒：标签朝手心，瓶盖倒放，动作果断</a:t>
            </a:r>
          </a:p>
          <a:p>
            <a:pPr>
              <a:spcAft>
                <a:spcPts val="800"/>
              </a:spcAft>
            </a:pPr>
            <a:r>
              <a:rPr sz="1500">
                <a:solidFill>
                  <a:srgbClr val="FFFFFF"/>
                </a:solidFill>
                <a:latin typeface="Microsoft YaHei"/>
              </a:rPr>
              <a:t>▪ K6  倒完擦净瓶外，随手盖紧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称量粉末防扬尘</a:t>
            </a:r>
          </a:p>
          <a:p>
            <a:pPr>
              <a:spcAft>
                <a:spcPts val="800"/>
              </a:spcAft>
            </a:pPr>
            <a:r>
              <a:rPr sz="1500">
                <a:solidFill>
                  <a:srgbClr val="FFFFFF"/>
                </a:solidFill>
                <a:latin typeface="Microsoft YaHei"/>
              </a:rPr>
              <a:t>▪ K8  化学品不随意带出实验室</a:t>
            </a:r>
          </a:p>
          <a:p>
            <a:pPr>
              <a:spcAft>
                <a:spcPts val="800"/>
              </a:spcAft>
            </a:pPr>
            <a:r>
              <a:rPr sz="1500">
                <a:solidFill>
                  <a:srgbClr val="FFFFFF"/>
                </a:solidFill>
                <a:latin typeface="Microsoft YaHei"/>
              </a:rPr>
              <a:t>▪ K9  校内转移：二次容器和提篮</a:t>
            </a:r>
          </a:p>
          <a:p>
            <a:pPr>
              <a:spcAft>
                <a:spcPts val="800"/>
              </a:spcAft>
            </a:pPr>
            <a:r>
              <a:rPr sz="1500">
                <a:solidFill>
                  <a:srgbClr val="FFFFFF"/>
                </a:solidFill>
                <a:latin typeface="Microsoft YaHei"/>
              </a:rPr>
              <a:t>▪ K10  多瓶搬运用稳固推车</a:t>
            </a:r>
          </a:p>
          <a:p>
            <a:pPr>
              <a:spcAft>
                <a:spcPts val="800"/>
              </a:spcAft>
            </a:pPr>
            <a:r>
              <a:rPr sz="1500">
                <a:solidFill>
                  <a:srgbClr val="FFFFFF"/>
                </a:solidFill>
                <a:latin typeface="Microsoft YaHei"/>
              </a:rPr>
              <a:t>▪ K11  运输：规范包装、标志和专业人员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