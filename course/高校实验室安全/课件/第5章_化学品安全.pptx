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甲醛（福尔马林是它的水溶液）常用于固定组织和动物标本、病理制片；戊二醛常用于器械消毒和电镜样品固定。两者在医学、生命科学实验室中非常常见。</a:t>
            </a:r>
          </a:p>
          <a:p>
            <a:r>
              <a:t>正因为常见，容易被忽视。甲醛既有强刺激性和致敏性，又是致癌物，国家对其职业接触有专门的限值要求，属于需要重点管控的毒害化学品。</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甲醛和戊二醛接触皮肤、眼睛和黏膜后很快出现刺激症状：轻者发红、刺痛、流泪，重者灼伤；反复接触还可能引起过敏性皮炎。</a:t>
            </a:r>
          </a:p>
          <a:p>
            <a:r>
              <a:t>吸入蒸气会刺激呼吸道，出现咳嗽、恶心、咽喉炎，可能诱发哮喘、支气管炎，严重时损害呼吸功能，还可能引起呕吐、腹泻。浓度极高时可导致抽搐、昏迷甚至死亡。这些急性症状容易识别，一旦出现要立即处理。</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慢性危害往往在多年后才表现出来。甲醛已被确认为人类致癌物，长期过量接触会增加患癌（如鼻咽部肿瘤等）的风险；反复接触还可能造成永久性的呼吸道损伤和致敏。</a:t>
            </a:r>
          </a:p>
          <a:p>
            <a:r>
              <a:t>所以不能等到“有感觉”才防护，平时就要把接触降到最低。</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怀疑自己接触过量，或出现眼鼻刺激、咳嗽、皮疹、头痛等症状时，立即停止操作、离开现场，报告实验室负责人，由实验室负责人报告学院（报告程序见第 157 课）。</a:t>
            </a:r>
          </a:p>
          <a:p>
            <a:r>
              <a:t>及早就医，就医时带上化学品安全技术说明书，多数情况能够好转。不要拖延或隐瞒。</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2.1（以现行文本为准）规定了职业接触限值，包括时间加权平均容许浓度、短时间接触容许浓度或最高容许浓度。这些标准最初针对工业上的大量使用，目的是把工作中的接触降到最低。</a:t>
            </a:r>
          </a:p>
          <a:p>
            <a:r>
              <a:t>按《中华人民共和国职业病防治法》，使用单位要在使用场所设置告知卡，告知职业病危害（包括致癌风险）和防护措施。限值数字是为保护使用者而设，具体数值查 GBZ 2.1 现行文本和本校规定；有疑问就问学院实验室安全管理员（接触限值的概念见第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经常或大量使用甲醛等毒害品的场所，学校要组织有资质的机构进行工作场所空气检测，必要时做个人采样：把采样器佩戴在操作者衣领附近，采集呼吸带（口鼻周围）的空气。</a:t>
            </a:r>
          </a:p>
          <a:p>
            <a:r>
              <a:t>检测结果与 GBZ 2.1 的限值比较：长时间的平均接触达到或超过限值，就要改进通风、调整操作、加强个人防护，直到降下来；只看平均值可能掩盖短时间的高浓度，所以开瓶、倒液、换液等短时操作的峰值也要控制。</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所有使用甲醛、戊二醛等毒害品的人员都要接受培训：知道本实验室哪些地方在用、有哪些危害、怎样减少接触，并定期复训（准入培训见第 007 课）。</a:t>
            </a:r>
          </a:p>
          <a:p>
            <a:r>
              <a:t>使用前阅读厂家提供的中文安全技术说明书，了解危害特性、暴露途径、健康影响、防护和应急措施；操作和储存按说明书和本实验室操作规程执行，每天都一样，不打折扣。有担心或发现隐患，及时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化学品安全标签是最直接的危害信息来源（GB 30000 系列、GB 15258-2009，以现行文本为准）。含甲醛的溶液和混合物，以及会释放甲醛的材料，都要在标签上标明含甲醛；含量较高的还要写明主要危害，特别是“可能致癌”。</a:t>
            </a:r>
          </a:p>
          <a:p>
            <a:r>
              <a:t>自配溶液、分装容器同样要贴标签（标签见第 039 课）。标签写不下的内容会指引查阅安全技术说明书，说明书还告诉你怎样避免过量接触。</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实验前按本校风险管理要求进行风险评估：用量多少、操作多长时间、在什么场所做，决定需要的通风条件和防护措施（风险评估见第 014 课）。</a:t>
            </a:r>
          </a:p>
          <a:p>
            <a:r>
              <a:t>防护的目标是不让毒害品接触到人：不吸入、不沾皮肤、不溅进眼睛。佩戴护目镜（易溅时加面屏），按说明书选择耐该化学品的手套（醛类常用丁腈手套，具体以说明书为准），穿实验服；通风不能满足时按评估结果使用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把蒸气挡在呼吸带之外，最有效的方法是局部排风。开瓶、量取、配制、换液、标本取材都在通风柜或专用排风台里进行，不在敞开的台面上开瓶倒液。</a:t>
            </a:r>
          </a:p>
          <a:p>
            <a:r>
              <a:t>台面铺吸水垫，便于收集滴洒；用完随手盖紧容器。不同的通风设备（通风柜、取材台、局部排风罩）用法不尽相同，先弄懂怎么用，再按使用规则操作（通风柜使用见第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从浓溶液自行稀释、分装时接触风险最大，要在通风柜里操作并做好防护。现在多采用预先稀释好的成品或预分装容器，可以减少开瓶和倒液的次数。</a:t>
            </a:r>
          </a:p>
          <a:p>
            <a:r>
              <a:t>稀溶液同样有刺激性和致癌性，不能因为“已经稀释了”就放松防护。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甲醛等毒害品原容器密闭，存放在阴凉、通风的柜子里，远离氧化剂；部分含甲醇的甲醛溶液还具有易燃性，按易燃品要求存放（见第 046 课）。</a:t>
            </a:r>
          </a:p>
          <a:p>
            <a:r>
              <a:t>按实验需要少量领用，记入台账，用完登记。标本瓶、浸泡缸用后随手盖紧，不长期敞口放置。列入剧毒化学品目录的毒害品按“五双”制度管理（见第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发生溅洒、泄漏或接触时，按本实验室的应急程序处置（泄漏处置见第 056 课，灼伤急救见第 160 课）。应急程序要在平时通过培训和演练熟悉：洗眼器、喷淋、泄漏处理包在哪里，怎样报告。</a:t>
            </a:r>
          </a:p>
          <a:p>
            <a:r>
              <a:t>对操作中的担心和发现的隐患，及时向实验室负责人报告，不要等出了事再说。</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二氯甲烷是萃取、色谱等实验中最常用的溶剂之一，不易燃，常被误认为“比较安全”，所以需要专门培训。</a:t>
            </a:r>
          </a:p>
          <a:p>
            <a:r>
              <a:t>吸入二氯甲烷会抑制中枢神经，在体内还会代谢产生一氧化碳，加重心脏负担；长期或反复大量接触可损害心脏、肝脏和神经系统，并可能增加患癌风险。伤害是慢慢积累的，不能等出现症状才防护。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二氯甲烷沸点低、挥发快，蒸气比空气重，会积聚在地面、地沟、低处的容器和柜子里。使用前读安全技术说明书和标签，了解它的特性。</a:t>
            </a:r>
          </a:p>
          <a:p>
            <a:r>
              <a:t>取用、分装、萃取都在通风柜里进行；旋转蒸发等浓缩操作要在通风条件下进行，尾气按规定处理；不在台面上敞口挥干溶剂。用完随手盖紧，减少挥发。</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二氯甲烷等的职业接触标准源于工业上的大量使用，但实验室用量小并不等于风险小：近距离操作、通风柜使用不当、敞口挥发都可能造成短时高浓度接触。</a:t>
            </a:r>
          </a:p>
          <a:p>
            <a:r>
              <a:t>要重视危害，确认控制措施真的有效：通风柜风速正常、柜门高度正确、容器密闭、手套适用（二氯甲烷能很快穿透很多常见手套材料，按说明书选择）。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使用二氯甲烷等挥发性溶剂时，出现头晕、头痛、发困、注意力不集中，说明可能吸入过量。马上停止操作，离开到空气新鲜的地方，并提醒周围的人。</a:t>
            </a:r>
          </a:p>
          <a:p>
            <a:r>
              <a:t>报告实验室负责人，查清通风柜或排风哪里出了问题，修好前不再使用。症状不缓解或加重，及时就医，必要时拨打 120。</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重铬酸钾、铬酸盐等六价铬化合物是确认的致癌物，同时是强致敏物和氧化剂：接触皮肤可引起溃疡和过敏性皮炎，吸入粉尘或雾滴会损伤鼻腔和呼吸道（GB 30000 系列分类，以安全技术说明书为准）。</a:t>
            </a:r>
          </a:p>
          <a:p>
            <a:r>
              <a:t>能用低毒替代方法的优先替代。必须使用时，称量粉末在通风柜或带排风的称量台里进行，防止扬尘，戴护目镜和合适的手套；含铬废液单独收集、标明成分，按《国家危险废物名录》（以现行文本为准）交有资质单位处置，不得倒入下水道（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金属汞在常温下就会挥发，汞蒸气无色无味，人察觉不到。长期吸入会损害神经系统和肾脏，出现手抖、情绪改变、记忆力下降等表现。汞的可溶性化合物毒性更大，有的属于剧毒化学品（按“五双”管理，见第 045 课）。</a:t>
            </a:r>
          </a:p>
          <a:p>
            <a:r>
              <a:t>实验室中的含汞温度计、压力计、汞灯等，能用电子仪器或无汞产品替代的尽量替代；保留使用的放在托盘里，防止打碎后汞珠散落。</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含汞温度计、压力计破损后，汞会散成许多到处滚动的小珠，钻进缝隙。不要用手碰，不要用扫帚扫，更不能用吸尘器吸——会把汞打散并加速挥发。</a:t>
            </a:r>
          </a:p>
          <a:p>
            <a:r>
              <a:t>无关人员先离开，隔开现场，开窗或保持通风，关闭附近热源；报告实验室负责人，由经过培训的人员用专用汞处理包收集，收集物密封后按危险废物处置。详细处置流程见第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按《中华人民共和国职业病防治法》和 GBZ 188（以现行文本为准），长期、规律接触甲醛、汞、六价铬、苯等职业病危害因素的人员，应按规定进行上岗前、在岗期间和离岗时的职业健康检查，由学校组织到有资质的机构进行，结果存入个人健康档案。具体范围以本校职业健康管理规定为准。</a:t>
            </a:r>
          </a:p>
          <a:p>
            <a:r>
              <a:t>检查发现异常或出现与接触有关的健康损害，要及时调整岗位或工作内容。怀孕、哺乳、过敏体质等特殊情况，主动告知实验室负责人，调整接触安排（见第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答案：C。解析：稀溶液照样有危害，开瓶、量取、分装都在通风柜里做。</a:t>
            </a:r>
          </a:p>
          <a:p>
            <a:r>
              <a:t>第 2 题 答案：B。解析：二氯甲烷易挥发、蒸气比空气重，长期接触伤心、伤肝、伤脑并可能致癌，取用、浓缩都在通风柜里。</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答案：B。解析：头晕发困是吸入过量的信号。</a:t>
            </a:r>
          </a:p>
          <a:p>
            <a:r>
              <a:t>第 4 题 答案：C。解析：扫和吸会打散汞并加速挥发；收集物按危险废物处置，流程见第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答案：B。解析：长时间平均和短时高峰都要与 GBZ 2.1 的限值比较，超限要加强防护。</a:t>
            </a:r>
          </a:p>
          <a:p>
            <a:r>
              <a:t>第 6 题 答案：按规定进行上岗前、在岗期间和离岗时的职业健康检查，结果存档；出现异常及时调整岗位；怀孕、过敏等特殊情况主动告知实验室负责人。解析：依据《中华人民共和国职业病防治法》和 GBZ 188（以现行文本为准）。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很多化学品名称又长又拗口，名称相近的试剂可能只差一个字或一个前缀，危害却完全不同。取错试剂可能导致剧烈反应、中毒或实验失败。</a:t>
            </a:r>
          </a:p>
          <a:p>
            <a:r>
              <a:t>取用前，对照实验记录或操作规程，逐字核对化学品安全标签上的名称、浓度、规格，并看清象形图和防范说明（GB 30000 系列、GB 15258-2009，以现行文本为准；标签识读见第 039 课）。</a:t>
            </a:r>
          </a:p>
          <a:p>
            <a:r>
              <a:t>标签脱落、模糊或无标签的容器一律不使用，报告实验室负责人按规定处理，不凭颜色、气味或记忆“猜”是什么。</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实验室里的任何化学品都不能用嘴尝来鉴别，也不能把鼻子凑到容器口直接闻，以免吸入高浓度的有毒、刺激性蒸气。</a:t>
            </a:r>
          </a:p>
          <a:p>
            <a:r>
              <a:t>教学实验中确需辨别气味时，按老师要求：容器离开面部一段距离，用手掌在容器口上方把少量气体轻轻扇向鼻子，浅浅闻一下即可，不深吸。有毒、易挥发或有刺激性气味的化学品，一律在通风柜内取用和操作（通风柜使用见第 052 课）。</a:t>
            </a:r>
          </a:p>
          <a:p>
            <a:r>
              <a:t>实验室内不吃不喝；不把笔、手指、标签纸等放到嘴边，防止化学品经口进入人体。</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嘴吸移液管是实验室的严禁行为：吸力稍大或注意力不集中，液体会直接进入口腔，造成化学灼伤、中毒或感染。这一要求对所有液体（包括清水、缓冲液）和所有实验室（化学、生物，包括一级生物安全实验室）都适用。</a:t>
            </a:r>
          </a:p>
          <a:p>
            <a:r>
              <a:t>玻璃移液管用洗耳球（吸耳球）或移液辅助器吸取；微量液体使用移液器，按规范装吸头、按压、吸液、排液，用过的吸头弃入指定容器。</a:t>
            </a:r>
          </a:p>
          <a:p>
            <a:r>
              <a:t>破损的玻璃移液管、碎玻璃放入锐器盒或专用碎玻璃收集容器，不徒手捡拾、不混入普通垃圾。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移液管、药匙直接伸进原试剂瓶，会把杂质、水分或其他试剂带入整瓶，造成污染，甚至引发反应。正确做法是：估计用量，先把略多于所需的量倒入干净的小烧杯或称量容器，再从中移取。</a:t>
            </a:r>
          </a:p>
          <a:p>
            <a:r>
              <a:t>取出后剩余的试剂不得倒回原瓶。一点污染就可能毁掉整瓶试剂，严重时造成危险。按需少量取用，剩余的按本实验室规定回收或作为废液分类收集（见第 053 课）。</a:t>
            </a:r>
          </a:p>
          <a:p>
            <a:r>
              <a:t>展开剂、溶剂等也按需少取，试剂瓶随开随盖，容器不长时间敞口。</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倾倒液体时握住瓶身，标签朝向手心，这样即使有液体沿瓶口流下也不会腐蚀、污染标签，保证后来的人能看清名称和危害。</a:t>
            </a:r>
          </a:p>
          <a:p>
            <a:r>
              <a:t>取下的瓶盖（瓶塞）口朝上倒放在台面上或拿在手中，既不沾污台面，也不把台面上的杂质带回瓶中。向小口容器倾倒时使用漏斗，容器下面垫托盘，万一洒漏能兜住。</a:t>
            </a:r>
          </a:p>
          <a:p>
            <a:r>
              <a:t>倾倒动作要平稳、果断：起倒和收尾干脆利落，犹犹豫豫会让液体顺着瓶壁外侧流下。浓酸碱的倾倒要点见第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倒完液体后，瓶口常挂着液滴，顺瓶壁流下会形成小洒漏，污染台面和试剂架，下一个拿瓶子的人可能直接接触到化学品。</a:t>
            </a:r>
          </a:p>
          <a:p>
            <a:r>
              <a:t>倒完后用纸巾擦净瓶口和瓶身外侧的液滴（沾有化学品的纸巾按规定作为固体废物收集），把瓶盖完全拧紧，放回原来的位置。</a:t>
            </a:r>
          </a:p>
          <a:p>
            <a:r>
              <a:t>试剂瓶随开随盖，不敞口放置，减少挥发和吸潮。</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粉末状化学品容易在取用和称量时扬起，被吸入或落到皮肤、台面上。称量前先查阅安全技术说明书，穿戴实验服、手套和护目镜。</a:t>
            </a:r>
          </a:p>
          <a:p>
            <a:r>
              <a:t>用药匙轻取轻放，在天平防风罩内操作，关好防风门，不对着粉末说话、吹气；有毒或高活性粉末（如激素等）在通风柜或专用的通风称量罩内称量，必要时佩戴合适的呼吸防护。</a:t>
            </a:r>
          </a:p>
          <a:p>
            <a:r>
              <a:t>称量完毕用小刷或湿巾清理天平和台面；配制的母液、溶液贴好标签，写明名称、浓度、日期和配制人，按要求存放。</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化学品只能在实验室内按规定使用和存放，不得装进书包、口袋私自带出实验室，更不能带回宿舍、教室、食堂等公共场所。私带化学品既有中毒、火灾风险，也违反危险化学品管理规定。</a:t>
            </a:r>
          </a:p>
          <a:p>
            <a:r>
              <a:t>确需在实验室之间转移的，先经实验室负责人同意，按本校规定登记（管控类化学品的领用和转移要求见第 045 课），并按 K9、K10 的要求使用二次容器或推车转移。</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之间、楼层之间转移化学品时，把试剂瓶放进防破碎的二次容器（如带盖的塑料桶、橡胶提桶、专用防护套），万一瓶子破裂，液体也能被兜住，不洒到走廊和楼梯上。易燃易爆化学品更要使用二次容器。</a:t>
            </a:r>
          </a:p>
          <a:p>
            <a:r>
              <a:t>多个试剂瓶用带隔挡的提篮装好，瓶子直立、互不碰撞，双手平稳提拿。只拿一瓶时，一手握瓶身、一手托住瓶底，不要单手拎瓶颈或瓶盖。</a:t>
            </a:r>
          </a:p>
          <a:p>
            <a:r>
              <a:t>一次不要拿太多，不把瓶子叠放；转移时避开人员密集的时段和路线，乘电梯等具体要求以本校规定为准。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需要搬运多瓶或较重的化学品时，不要抱着走长路，使用带护边（护栏）、轮子较大、重心低的化学品推车，瓶子放在托盘或二次容器里，防止滑落。</a:t>
            </a:r>
          </a:p>
          <a:p>
            <a:r>
              <a:t>普通仪器车、小推车轮子小、护边低，遇到门槛、电梯缝或不平地面容易翻倒，不能用来搬运化学品。</a:t>
            </a:r>
          </a:p>
          <a:p>
            <a:r>
              <a:t>推车时慢慢走，提前确认路线通畅，避开人流和障碍物；过门槛和进出电梯时放慢速度，必要时两人配合。</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校外运输的危险化学品属于危险货物，要按国家标准分类（GB 6944-2025、GB 12268-2025，以现行文本为准），使用合规的包装并可靠封装，包装上粘贴危险货物包装标志（GB 190-2009，以现行文本为准）。破损、渗漏的包装不得运输。</a:t>
            </a:r>
          </a:p>
          <a:p>
            <a:r>
              <a:t>危险化学品不得随身携带乘坐公共交通工具，不得夹带在普通货物中，也不得通过普通快递、邮寄寄递。需要采购或运输的，通过学校主管部门联系具备相应资质的单位承运，按《中华人民共和国危险化学品安全法》《危险化学品安全管理条例》《危险货物道路运输安全管理办法》等规定执行（以现行文本和本校规定为准）。</a:t>
            </a:r>
          </a:p>
          <a:p>
            <a:r>
              <a:t>装卸、搬运和运输由经过培训、合格的人员负责，熟悉所运化学品的危害，随货携带安全技术说明书，出现泄漏等状况时懂得应急处置（泄漏处置见第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答案：B。解析：任何液体都严禁用嘴吸，一律用洗耳球、移液辅助器或移液器。</a:t>
            </a:r>
          </a:p>
          <a:p>
            <a:r>
              <a:t>第 2 题 答案：B。解析：多余试剂不倒回原瓶，防止污染整瓶；按需少取，剩余的按规定处理。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答案：C。解析：标签朝手心保护标签，瓶盖倒放不沾污，动作果断防止顺壁流，倒完擦净、盖紧。</a:t>
            </a:r>
          </a:p>
          <a:p>
            <a:r>
              <a:t>第 4 题 答案：C。解析：校内转移用二次容器、提篮或稳固推车，慢走、走通畅路线。</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能随身携带或用普通快递寄送；通过学校主管部门联系具备资质的单位承运，按规定包装、封装并粘贴危险货物包装标志，由培训合格的人员办理，随货附安全技术说明书。解析：危险化学品运输必须走正规渠道。</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许多化学品在使用中会放出有害的烟、雾、蒸气和颗粒物。人的口鼻周围的空气区域称为呼吸带，有害物进入呼吸带就会被吸入体内。</a:t>
            </a:r>
          </a:p>
          <a:p>
            <a:r>
              <a:t>化学通风柜是实验室最常用的局部排风设施：它把操作中产生的有害蒸气和粉尘捕集住、抽走并排到室外，把污染物挡在操作者的呼吸带之外。做有毒、有刺激性或易挥发化学品的实验，应在通风柜内进行。</a:t>
            </a:r>
          </a:p>
          <a:p>
            <a:r>
              <a:t>通风柜有台式、落地式、变风量等多种形式，基本原理相同。通风柜、超净工作台和生物安全柜的区别见第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排风机通过风管从柜内持续抽气，室内空气从柜口不断流入，在柜口形成一道向内的空气屏障（气帘），把柜内产生的污染物关在柜里。</a:t>
            </a:r>
          </a:p>
          <a:p>
            <a:r>
              <a:t>污染物随气流经柜后的导流板缝隙进入风管，排到楼外，在室外大气中进一步稀释。只要气流正常，污染物就进不了实验室。</a:t>
            </a:r>
          </a:p>
          <a:p>
            <a:r>
              <a:t>视窗（前窗）是这道屏障的一部分：视窗越低，开口越小，屏障越稳定，还能挡住飞溅，因此使用时视窗要尽量放低（视窗高度的具体要求见第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面风速是空气流过通风柜开口时的平均速度，反映向内气流的强弱。面风速过低，屏障太弱，蒸气容易逸出柜外。</a:t>
            </a:r>
          </a:p>
          <a:p>
            <a:r>
              <a:t>面风速也不是越大越好：风速过大会在柜口和操作者身体前方产生湍流和旋涡，反而把污染物卷出柜外，还会浪费能源、干扰柜内操作。</a:t>
            </a:r>
          </a:p>
          <a:p>
            <a:r>
              <a:t>面风速应在规定范围内，并定期检测，不能过期。具体数值以本校规定和设备标识为准，本课程不给出具体数值。</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气流看不见、摸不着，可以借助烟雾或轻飘带直观地看到。柜口下沿贴一条轻飘带，风机开启时飘带向柜内飘动，说明柜子在抽风。</a:t>
            </a:r>
          </a:p>
          <a:p>
            <a:r>
              <a:t>检测时用发烟装置在柜口放出少量白烟，白烟平稳地流向柜后、不打转、不外溢，说明气流方向和组织正常。</a:t>
            </a:r>
          </a:p>
          <a:p>
            <a:r>
              <a:t>飘带只能判断风机开没开、气流方向对不对，不能用来判断面风速够不够；风速必须由专业人员用仪器测量（见 K10）。</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通风柜的保护效果依赖平稳的向内气流，而这种气流很容易被打断或改变。影响因素主要有：视窗高度、柜内堆放的物品和大设备、柜前人员走动和快速动作、门窗开关和送风口、风扇等横向气流。</a:t>
            </a:r>
          </a:p>
          <a:p>
            <a:r>
              <a:t>视窗开得越大，开口面积越大，在排风量不变时柜口风速越低，屏障越弱。柜内堆满瓶子或物品，会挡住后部排风缝隙，造成气流死角和回流。</a:t>
            </a:r>
          </a:p>
          <a:p>
            <a:r>
              <a:t>气流被打乱后，柜内的污染空气会被带到柜外，吸进操作者的呼吸带。因此使用时要注意这些因素，绝不能干扰通风柜内的气流（使用规范见第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旋转蒸发仪、加热浴、电炉等较大的设备直接放在柜内台面上，会挡住流向下部排风缝的气流，在设备前后形成旋涡。</a:t>
            </a:r>
          </a:p>
          <a:p>
            <a:r>
              <a:t>把设备放在稳固的垫块或支架上垫高几厘米，让空气能从设备下方流过，进入柜后的排风缝隙。设备与后部导流板之间也要留出距离，不要堵住排风缝。</a:t>
            </a:r>
          </a:p>
          <a:p>
            <a:r>
              <a:t>垫高时要保证设备稳固、不倾倒，电源线不被挤压。</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人在走动时，身体后方会形成空气旋涡。从正在使用的通风柜前快速走过，旋涡的作用可能超过柜口的向内气流，把柜内的污染物拉出柜外。</a:t>
            </a:r>
          </a:p>
          <a:p>
            <a:r>
              <a:t>有人在使用通风柜时，其他人不要贴着柜口来回走动或快速经过，柜前保持足够的空间，必要时绕行。操作者自己也要避免在柜前快速转身和大幅度动作。</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a:p>
            <a:r>
              <a:t>作为使用者，要注意不在通风柜旁开窗、开电风扇对着柜口吹，不长时间敞开靠近通风柜的门。发现送风口正对柜口等明显问题，报告实验室负责人。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通风柜在新安装、实验室通风系统改造后，以及使用期间定期都要进行性能检测，检测结果记录在案，合格的贴有检测标识。风机在响、听着在转，不等于合格。</a:t>
            </a:r>
          </a:p>
          <a:p>
            <a:r>
              <a:t>使用前看一眼柜体上的检测标识：是否检测过、是否在有效期内。没有标识或已过期的，按不合格对待，不使用，报告实验室负责人并报修。</a:t>
            </a:r>
          </a:p>
          <a:p>
            <a:r>
              <a:t>发现故障或检测不合格的通风柜，挂牌停用、报修，不擅自拆改。检测周期和标识样式以本校规定为准。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a:p>
            <a:r>
              <a:t>检测不合格的，在调整好之前不得使用；需要时调整导流板、排风量，甚至改造实验室通风系统。</a:t>
            </a:r>
          </a:p>
          <a:p>
            <a:r>
              <a:t>学生和一般使用者不得自行拧动导流板、调节风阀或改变风量。具体检测方法和指标以国家相关标准、本校规定和设备标识为准。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通风柜应配有风量（风速）监测显示和报警装置，风量低于设定值时发出灯光和声音报警，提醒操作者保护已经失效。</a:t>
            </a:r>
          </a:p>
          <a:p>
            <a:r>
              <a:t>报警器通常同时有灯光和声音提示。不要把声音关掉，因为操作时往往低头专注于实验，只有声音报警才能让人及时发现。</a:t>
            </a:r>
          </a:p>
          <a:p>
            <a:r>
              <a:t>报警功能是否灵敏，由设施管理人员按设备说明书定期测试，并做好记录。使用前看一眼风量显示是否正常。</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通风柜一旦报警，说明排风可能不足，立即按“停、关、报”处理：停止实验操作，关闭热源，盖好容器；把视窗拉下关闭；报告实验室负责人和学院实验室安全管理员，联系设施维修人员。</a:t>
            </a:r>
          </a:p>
          <a:p>
            <a:r>
              <a:t>如已闻到明显异味或感到不适，先撤离实验室，必要时按应急程序报告（报警与事故报告见第 157 课，以本校应急预案为准）。</a:t>
            </a:r>
          </a:p>
          <a:p>
            <a:r>
              <a:t>故障排除后，由相关人员按设备说明书复位报警器，确认风量恢复正常后再继续实验。</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除通风柜等局部排风外，化学实验室还要有全面通风，持续运行、不断换气，稀释和排出逸散到室内的有害气体。换气次数按实验室设计和本校规定执行，不能只靠通风柜作为唯一的排风出口。</a:t>
            </a:r>
          </a:p>
          <a:p>
            <a:r>
              <a:t>化学实验室通常保持相对走廊的负压，空气从走廊流入实验室，再经排风系统排出，有害气体就不会扩散到走廊和办公室。</a:t>
            </a:r>
          </a:p>
          <a:p>
            <a:r>
              <a:t>为维持负压和气流组织，实验室门不要长时间敞开，送风口、排风口不要用纸箱、物品遮挡；夜间和节假日通风系统的运行要求以本校规定为准。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除普通化学通风柜外，还有针对特殊危害的专用通风柜，平时不常用，但要知道它们的用途，不能混用。</a:t>
            </a:r>
          </a:p>
          <a:p>
            <a:r>
              <a:t>高氯酸加热等操作会在柜体和风管内留下危险残留物，越积越多可能引发爆炸。高氯酸专用通风柜采用耐腐蚀材料，并设有水冲洗系统，可定期冲洗柜体内壁和风管。高氯酸专用柜内绝不能放置或使用有机物，普通通风柜也不得用于高氯酸加热操作（以本校规定为准）。</a:t>
            </a:r>
          </a:p>
          <a:p>
            <a:r>
              <a:t>开放性放射性物质的操作要在专用的通风柜或手套箱内进行，并按辐射安全管理要求执行（见第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答案：B。解析：空气从柜口持续流入，形成向内屏障，污染物随气流经风管排到楼外。</a:t>
            </a:r>
          </a:p>
          <a:p>
            <a:r>
              <a:t>第 2 题 答案：B。解析：风速过大会产生湍流，反而把污染物卷出；面风速要在规定范围内，以本校规定和设备标识为准。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答案：B。解析：人员走动带起的旋涡会把污染物拉出柜外。</a:t>
            </a:r>
          </a:p>
          <a:p>
            <a:r>
              <a:t>第 4 题 答案：C。解析：报警按“停、关、报”处理，故障排除后按说明书复位。</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答案：实验室要持续通风换气并保持负压，稀释和排出逸散的有害气体，防止扩散到走廊和办公室；排风不能只靠通风柜，运行要求以本校规定为准。解析：试剂柜、废液桶等在无人时也会持续挥发。</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通风柜的保护效果，一半取决于设计、安装和检测（见第 051 课），另一半取决于使用者的操作习惯。视窗开得太高、头伸进柜内、柜内堆满杂物，都会让一台合格的通风柜失去保护作用。</a:t>
            </a:r>
          </a:p>
          <a:p>
            <a:r>
              <a:t>需要放进通风柜做的操作，说明所用物质有毒、易挥发或易燃，本身就有危险。使用要点可概括为：检测合格、深处操作、不当储存柜；看风量显示、拉低视窗、定期检测；选对柜子、用对方法。</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凡可能产生有害气体、烟雾或粉尘的操作，挥发性、有毒、有刺激性化学品的取用和倾倒，都应在化学通风柜内进行，不在敞开的实验台上图省事，也不凑近闻。</a:t>
            </a:r>
          </a:p>
          <a:p>
            <a:r>
              <a:t>使用易燃有机溶剂的反应，加热或煮沸乙醇、丙酮等溶剂，蒸馏、升华、重结晶等装置并不完全密闭，会放出易燃或有毒蒸气，要搭在通风柜内，通风柜及时排走蒸气，避免其积聚并接触热源；装置通大气的出口引向柜内排风处。移取挥发性、有毒液体，配制持久性有机污染物等有毒标准品，也在柜内进行，戴好手套和护目镜，剩余物和废液收入危险废物容器。</a:t>
            </a:r>
          </a:p>
          <a:p>
            <a:r>
              <a:t>化学通风柜不保护样品，也不适合病原微生物操作，生物操作使用生物安全柜（区别见第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使用前先打开风机，查看风速（风量）显示和指示灯是否正常；可在柜口拿一条纸巾或飘带，确认气流向柜内流动（纸条只能确认风机在抽风，不能判断风速是否合格）。</a:t>
            </a:r>
          </a:p>
          <a:p>
            <a:r>
              <a:t>查看检测标识，确认通风柜检测过且在有效期内；检查视窗升降顺畅、柜内整洁、柜内设备已移到靠里的位置，多余的瓶子和设备已拿走。</a:t>
            </a:r>
          </a:p>
          <a:p>
            <a:r>
              <a:t>没有向内气流、风速显示异常或报警的，不使用，挂牌停用，立即报告实验室负责人报修（检测与报警见第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通风柜只是工程控制措施之一，不能代替个人防护。操作前先阅读安全技术说明书，了解所用化学品的成分、危害和防护要求。</a:t>
            </a:r>
          </a:p>
          <a:p>
            <a:r>
              <a:t>在通风柜内操作时，照常佩戴护目镜（GB 14866-2023，以现行文本为准）、穿实验服、戴按说明书选择的化学防护手套（GB 28881-2023，以现行文本为准）；处理腐蚀性液体或有飞溅风险时，加戴面屏等更高等级的防护。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到脸上。</a:t>
            </a:r>
          </a:p>
          <a:p>
            <a:r>
              <a:t>视窗要挡在面部和化学品之间，下沿不能与口鼻齐平；放低的视窗还能挡住飞溅、喷射，甚至小的燃烧和爆炸。</a:t>
            </a:r>
          </a:p>
          <a:p>
            <a:r>
              <a:t>视窗也不是越低越好：开口过小，局部风速过大，也可能产生湍流带出蒸气。具体高度以柜体标线、本校规定和设备标识为准。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使用通风柜一般要站着操作，身体在柜外，保持视窗挡在面部前方。坐得太低，脸就到了视窗下沿以下，失去视窗的保护。</a:t>
            </a:r>
          </a:p>
          <a:p>
            <a:r>
              <a:t>绝不把头伸进通风柜：既会扰乱气流，又会直接吸入柜内的有害气体。需要观察时隔着视窗玻璃看。柜内装置需要调整、手够不着时，停下来找老师商量，不要探身进柜。</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柜口前沿附近的气流最弱、最容易受外界干扰，化学品越靠近柜口越容易漏出来；放在柜内深处，就能被完整地吸走。</a:t>
            </a:r>
          </a:p>
          <a:p>
            <a:r>
              <a:t>所有器皿、装置和操作都放在柜内足够深的位置，离柜口前沿保持一段距离，不把试剂瓶、器材堆在柜口边上。有的通风柜在台面上画有操作区标线，具体距离以柜内标线和本校规定为准。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通风柜的抽力其实并不大，柜前的快速动作很容易扰乱柜口气流。开工前把所需器材和试剂一次放进柜内，减少手臂进出。</a:t>
            </a:r>
          </a:p>
          <a:p>
            <a:r>
              <a:t>升降视窗要缓慢，猛拉猛推会把蒸气带出。确需把手臂移出柜外时，慢慢地、垂直于柜面抽出，不要斜着或快速甩出。在柜前操作时动作要稳，不快速转身；旁人也不要从柜前快步走过（见第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a:p>
            <a:r>
              <a:t>柜内只放本次实验要用的东西，用不上的及时放回专用储存柜（储存柜见第 044 课）。后部排风口前不放东西，让气流均匀流过整个台面；大设备垫高，让空气从下面流过（见第 051 课）。</a:t>
            </a:r>
          </a:p>
          <a:p>
            <a:r>
              <a:t>纸张、薄膜等轻质物品不要放在排风口附近，以免被吸进风管或风机，降低通风效果。</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通风柜内有易燃溶剂时，加热板等热源要远离溶剂，不使用明火；电器插头不放在柜内插拔，插座宜在柜外，防止电火花点燃蒸气。溶剂用完马上盖好。</a:t>
            </a:r>
          </a:p>
          <a:p>
            <a:r>
              <a:t>通风柜不是废液处理器：不能把废液敞口放在柜内任其挥发，也不能倒进柜内水槽。实验废液按性质分类收集到专用容器中，贴好标签、盖紧，按危险废物管理（见第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导流板、排风口、视窗、联锁装置和防护罩都是通风柜安全性能的一部分。使用者不得拆卸导流板、堵塞排风口、在柜口加装风扇，也不得随意拆除设备的防护罩和联锁装置。</a:t>
            </a:r>
          </a:p>
          <a:p>
            <a:r>
              <a:t>觉得排风不对劲时，报告实验室负责人和设施管理人员，维修、调整和检测交给专业人员（见第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a:p>
            <a:r>
              <a:t>平时要事先了解本单位的应急预案，知道停风、停电时怎么办（见第 156、157 课）。觉得通风柜不对劲时，及时告诉老师，需要时请专业人员重新检测，检测合格后再使用。</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实验结束后，把用不上的器材和试剂拿出通风柜，试剂放回储存柜，擦净柜内台面，让下一位使用者面对的是干净的通风柜。</a:t>
            </a:r>
          </a:p>
          <a:p>
            <a:r>
              <a:t>不操作时把视窗关好，一旦柜内发生溢洒或着火，关闭的视窗能减轻影响；视窗关闭还能减少排风能耗。风机的运行要求（是否保持运行）以本校规定为准。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答案：B。解析：视窗按标线放低；开得太高进风变慢，蒸气可能扑到脸上；也不是越低越好。</a:t>
            </a:r>
          </a:p>
          <a:p>
            <a:r>
              <a:t>第 2 题 答案：B。解析：通风柜不是储存柜，堆放会挡住风口、扰乱气流，溢洒着火时事故更大。</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答案：C。解析：深处操作、动作轻缓；头不伸进柜内，废液分类收集盖紧。</a:t>
            </a:r>
          </a:p>
          <a:p>
            <a:r>
              <a:t>第 4 题 答案：C。解析：报警或停风按“停、盖、关、撤、报”处理。</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答案：打开风机，看风速显示和指示灯是否正常，确认柜口气流向里；看检测标识是否在有效期内；检查视窗升降顺畅、柜内整洁；异常的不使用并报告报修。解析：用前自检是正确使用的第一步。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重点毒害品安全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适用对象：使用甲醛、戊二醛、二氯甲烷、汞、铬盐等毒害化学品的高校本科生、研究生和教职工（必修）；医学、生命科学、化学、化工、材料、环境等专业重点学习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能说出甲醛、戊二醛、二氯甲烷、汞和六价铬盐的主要急性和慢性危害，能判断哪些属于致癌物或致敏物。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能做到使用前培训、读标签和安全技术说明书、做风险评估，在通风柜里开瓶、量取、配制和浓缩，选用合适的个人防护，密闭储存、少量领用。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能说出职业接触限值、呼吸带采样监测和职业健康检查的作用，知道限值按国家职业卫生标准执行。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能做到出现头晕、刺激等症状立即离开、报告并就医；汞洒落时不碰、不扫、不吸，隔离通风并报告。</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《中华人民共和国职业病防治法》：职业病危害因素检测、告知，劳动者培训和职业健康检查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188（以现行文本为准）《职业健康监护技术规范》：上岗前、在岗期间、离岗时职业健康检查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日起施行）及《危险化学品安全管理条例》（以现行文本为准）：学校、科研机构使用危险化学品的安全责任，中文安全技术说明书和安全标签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系列（以现行文本为准）《化学品分类和标签规范》：急性毒性、致癌性、呼吸或皮肤致敏、特异性靶器官毒性的分类和象形图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内容和项目顺序》：危险性概述、接触控制和个体防护、毒理学信息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《国家危险废物名录》（以现行文本为准）：含汞、含铬废物及废弃毒害化学品按危险废物收集处置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号，以现行文本为准）及高校实验室安全检查项目表、本校危险化学品和职业健康管理制度</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甲醛和戊二醛：常用而有毒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甲醛和戊二醛都是有毒的醛</a:t>
            </a:r>
          </a:p>
          <a:p>
            <a:pPr>
              <a:spcAft>
                <a:spcPts val="1000"/>
              </a:spcAft>
            </a:pPr>
            <a:r>
              <a:rPr sz="2000">
                <a:solidFill>
                  <a:srgbClr val="222B33"/>
                </a:solidFill>
                <a:latin typeface="Microsoft YaHei"/>
              </a:rPr>
              <a:t>▪ 常用来固定标本、消毒器械</a:t>
            </a:r>
          </a:p>
          <a:p>
            <a:pPr>
              <a:spcAft>
                <a:spcPts val="1000"/>
              </a:spcAft>
            </a:pPr>
            <a:r>
              <a:rPr sz="2000">
                <a:solidFill>
                  <a:srgbClr val="222B33"/>
                </a:solidFill>
                <a:latin typeface="Microsoft YaHei"/>
              </a:rPr>
              <a:t>▪ 甲醛很常见，危害却格外特殊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甲醛（福尔马林是它的水溶液）常用于固定组织和动物标本、病理制片；戊二醛常用于器械消毒和电镜样品固定。两者在医学、生命科学实验室中非常常见。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把标本罐当普通容器随手打开</a:t>
            </a:r>
          </a:p>
          <a:p>
            <a:pPr>
              <a:spcAft>
                <a:spcPts val="1000"/>
              </a:spcAft>
            </a:pPr>
            <a:r>
              <a:rPr sz="1500">
                <a:solidFill>
                  <a:srgbClr val="222B33"/>
                </a:solidFill>
                <a:latin typeface="Microsoft YaHei"/>
              </a:rPr>
              <a:t>▪ 以为消毒液都是低毒的</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一接触就刺激：皮肤、眼睛、呼吸道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皮肤、眼睛、黏膜一接触就受刺激</a:t>
            </a:r>
          </a:p>
          <a:p>
            <a:pPr>
              <a:spcAft>
                <a:spcPts val="1000"/>
              </a:spcAft>
            </a:pPr>
            <a:r>
              <a:rPr sz="2000">
                <a:solidFill>
                  <a:srgbClr val="222B33"/>
                </a:solidFill>
                <a:latin typeface="Microsoft YaHei"/>
              </a:rPr>
              <a:t>▪ 轻则发红刺痛，重则灼伤</a:t>
            </a:r>
          </a:p>
          <a:p>
            <a:pPr>
              <a:spcAft>
                <a:spcPts val="1000"/>
              </a:spcAft>
            </a:pPr>
            <a:r>
              <a:rPr sz="2000">
                <a:solidFill>
                  <a:srgbClr val="222B33"/>
                </a:solidFill>
                <a:latin typeface="Microsoft YaHei"/>
              </a:rPr>
              <a:t>▪ 吸入蒸气会咳嗽、恶心，引发喉炎、哮喘</a:t>
            </a:r>
          </a:p>
          <a:p>
            <a:pPr>
              <a:spcAft>
                <a:spcPts val="1000"/>
              </a:spcAft>
            </a:pPr>
            <a:r>
              <a:rPr sz="2000">
                <a:solidFill>
                  <a:srgbClr val="222B33"/>
                </a:solidFill>
                <a:latin typeface="Microsoft YaHei"/>
              </a:rPr>
              <a:t>▪ 浓度极高时，可致昏迷甚至死亡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甲醛和戊二醛接触皮肤、眼睛和黏膜后很快出现刺激症状：轻者发红、刺痛、流泪，重者灼伤；反复接触还可能引起过敏性皮炎。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闻到刺激味还继续操作</a:t>
            </a:r>
          </a:p>
          <a:p>
            <a:pPr>
              <a:spcAft>
                <a:spcPts val="1000"/>
              </a:spcAft>
            </a:pPr>
            <a:r>
              <a:rPr sz="1500">
                <a:solidFill>
                  <a:srgbClr val="222B33"/>
                </a:solidFill>
                <a:latin typeface="Microsoft YaHei"/>
              </a:rPr>
              <a:t>▪ 眼睛刺痛时用手揉</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甲醛致癌，长期接触伤害慢慢显现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长期接触的伤害，不会马上显现</a:t>
            </a:r>
          </a:p>
          <a:p>
            <a:pPr>
              <a:spcAft>
                <a:spcPts val="1000"/>
              </a:spcAft>
            </a:pPr>
            <a:r>
              <a:rPr sz="2000">
                <a:solidFill>
                  <a:srgbClr val="222B33"/>
                </a:solidFill>
                <a:latin typeface="Microsoft YaHei"/>
              </a:rPr>
              <a:t>▪ 甲醛是致癌物，过量接触增加患癌风险</a:t>
            </a:r>
          </a:p>
          <a:p>
            <a:pPr>
              <a:spcAft>
                <a:spcPts val="1000"/>
              </a:spcAft>
            </a:pPr>
            <a:r>
              <a:rPr sz="2000">
                <a:solidFill>
                  <a:srgbClr val="222B33"/>
                </a:solidFill>
                <a:latin typeface="Microsoft YaHei"/>
              </a:rPr>
              <a:t>▪ 反复接触，还会永久损伤呼吸道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慢性危害往往在多年后才表现出来。甲醛已被确认为人类致癌物，长期过量接触会增加患癌（如鼻咽部肿瘤等）的风险；反复接触还可能造成永久性的呼吸道损伤和致敏。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认为没有症状就没有伤害</a:t>
            </a:r>
          </a:p>
          <a:p>
            <a:pPr>
              <a:spcAft>
                <a:spcPts val="1000"/>
              </a:spcAft>
            </a:pPr>
            <a:r>
              <a:rPr sz="1500">
                <a:solidFill>
                  <a:srgbClr val="222B33"/>
                </a:solidFill>
                <a:latin typeface="Microsoft YaHei"/>
              </a:rPr>
              <a:t>▪ 习惯了气味就不再防护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有症状，立即报告就医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怀疑接触过量、出现症状，立即报告</a:t>
            </a:r>
          </a:p>
          <a:p>
            <a:pPr>
              <a:spcAft>
                <a:spcPts val="1000"/>
              </a:spcAft>
            </a:pPr>
            <a:r>
              <a:rPr sz="2000">
                <a:solidFill>
                  <a:srgbClr val="222B33"/>
                </a:solidFill>
                <a:latin typeface="Microsoft YaHei"/>
              </a:rPr>
              <a:t>▪ 报告实验室负责人</a:t>
            </a:r>
          </a:p>
          <a:p>
            <a:pPr>
              <a:spcAft>
                <a:spcPts val="1000"/>
              </a:spcAft>
            </a:pPr>
            <a:r>
              <a:rPr sz="2000">
                <a:solidFill>
                  <a:srgbClr val="222B33"/>
                </a:solidFill>
                <a:latin typeface="Microsoft YaHei"/>
              </a:rPr>
              <a:t>▪ 及早就医，多数情况能够好转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怀疑自己接触过量，或出现眼鼻刺激、咳嗽、皮疹、头痛等症状时，立即停止操作、离开现场，报告实验室负责人，由实验室负责人报告学院（报告程序见第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觉得不严重就忍着</a:t>
            </a:r>
          </a:p>
          <a:p>
            <a:pPr>
              <a:spcAft>
                <a:spcPts val="1000"/>
              </a:spcAft>
            </a:pPr>
            <a:r>
              <a:rPr sz="1500">
                <a:solidFill>
                  <a:srgbClr val="222B33"/>
                </a:solidFill>
                <a:latin typeface="Microsoft YaHei"/>
              </a:rPr>
              <a:t>▪ 怕被批评不报告</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职业接触有国家标准和限值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国内依据职业病防治法管理</a:t>
            </a:r>
          </a:p>
          <a:p>
            <a:pPr>
              <a:spcAft>
                <a:spcPts val="1000"/>
              </a:spcAft>
            </a:pPr>
            <a:r>
              <a:rPr sz="2000">
                <a:solidFill>
                  <a:srgbClr val="222B33"/>
                </a:solidFill>
                <a:latin typeface="Microsoft YaHei"/>
              </a:rPr>
              <a:t>▪ 接触限值按 GBZ 2.1 现行文本执行</a:t>
            </a:r>
          </a:p>
          <a:p>
            <a:pPr>
              <a:spcAft>
                <a:spcPts val="1000"/>
              </a:spcAft>
            </a:pPr>
            <a:r>
              <a:rPr sz="2000">
                <a:solidFill>
                  <a:srgbClr val="222B33"/>
                </a:solidFill>
                <a:latin typeface="Microsoft YaHei"/>
              </a:rPr>
              <a:t>▪ 标准起因于工业大量使用，目的是把接触降到最低</a:t>
            </a:r>
          </a:p>
          <a:p>
            <a:pPr>
              <a:spcAft>
                <a:spcPts val="1000"/>
              </a:spcAft>
            </a:pPr>
            <a:r>
              <a:rPr sz="2000">
                <a:solidFill>
                  <a:srgbClr val="222B33"/>
                </a:solidFill>
                <a:latin typeface="Microsoft YaHei"/>
              </a:rPr>
              <a:t>▪ 限值为保护你而设，使用场所要告知致癌风险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以为限值只适用于工厂</a:t>
            </a:r>
          </a:p>
          <a:p>
            <a:pPr>
              <a:spcAft>
                <a:spcPts val="1000"/>
              </a:spcAft>
            </a:pPr>
            <a:r>
              <a:rPr sz="1500">
                <a:solidFill>
                  <a:srgbClr val="222B33"/>
                </a:solidFill>
                <a:latin typeface="Microsoft YaHei"/>
              </a:rPr>
              <a:t>▪ 不看告知卡就开始操作</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接触监测：采呼吸带空气，平均和高峰都要控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常用或大量使用，要监测接触量</a:t>
            </a:r>
          </a:p>
          <a:p>
            <a:pPr>
              <a:spcAft>
                <a:spcPts val="1000"/>
              </a:spcAft>
            </a:pPr>
            <a:r>
              <a:rPr sz="2000">
                <a:solidFill>
                  <a:srgbClr val="222B33"/>
                </a:solidFill>
                <a:latin typeface="Microsoft YaHei"/>
              </a:rPr>
              <a:t>▪ 采的是你呼吸带里的空气</a:t>
            </a:r>
          </a:p>
          <a:p>
            <a:pPr>
              <a:spcAft>
                <a:spcPts val="1000"/>
              </a:spcAft>
            </a:pPr>
            <a:r>
              <a:rPr sz="2000">
                <a:solidFill>
                  <a:srgbClr val="222B33"/>
                </a:solidFill>
                <a:latin typeface="Microsoft YaHei"/>
              </a:rPr>
              <a:t>▪ 平均水平达到或超过限值，就要加强防护</a:t>
            </a:r>
          </a:p>
          <a:p>
            <a:pPr>
              <a:spcAft>
                <a:spcPts val="1000"/>
              </a:spcAft>
            </a:pPr>
            <a:r>
              <a:rPr sz="2000">
                <a:solidFill>
                  <a:srgbClr val="222B33"/>
                </a:solidFill>
                <a:latin typeface="Microsoft YaHei"/>
              </a:rPr>
              <a:t>▪ 短时间的高峰也要控制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经常或大量使用甲醛等毒害品的场所，学校要组织有资质的机构进行工作场所空气检测，必要时做个人采样：把采样器佩戴在操作者衣领附近，采集呼吸带（口鼻周围）的空气。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只看全天平均，不管换液时的高峰</a:t>
            </a:r>
          </a:p>
          <a:p>
            <a:pPr>
              <a:spcAft>
                <a:spcPts val="1000"/>
              </a:spcAft>
            </a:pPr>
            <a:r>
              <a:rPr sz="1500">
                <a:solidFill>
                  <a:srgbClr val="222B33"/>
                </a:solidFill>
                <a:latin typeface="Microsoft YaHei"/>
              </a:rPr>
              <a:t>▪ 检测超标后不整改</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先培训，读说明书，守规程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使用的人都要先接受培训，并定期复训</a:t>
            </a:r>
          </a:p>
          <a:p>
            <a:pPr>
              <a:spcAft>
                <a:spcPts val="1000"/>
              </a:spcAft>
            </a:pPr>
            <a:r>
              <a:rPr sz="2000">
                <a:solidFill>
                  <a:srgbClr val="222B33"/>
                </a:solidFill>
                <a:latin typeface="Microsoft YaHei"/>
              </a:rPr>
              <a:t>▪ 先弄清哪里在用，怎样减少接触</a:t>
            </a:r>
          </a:p>
          <a:p>
            <a:pPr>
              <a:spcAft>
                <a:spcPts val="1000"/>
              </a:spcAft>
            </a:pPr>
            <a:r>
              <a:rPr sz="2000">
                <a:solidFill>
                  <a:srgbClr val="222B33"/>
                </a:solidFill>
                <a:latin typeface="Microsoft YaHei"/>
              </a:rPr>
              <a:t>▪ 先看说明书：危害、途径、健康影响</a:t>
            </a:r>
          </a:p>
          <a:p>
            <a:pPr>
              <a:spcAft>
                <a:spcPts val="1000"/>
              </a:spcAft>
            </a:pPr>
            <a:r>
              <a:rPr sz="2000">
                <a:solidFill>
                  <a:srgbClr val="222B33"/>
                </a:solidFill>
                <a:latin typeface="Microsoft YaHei"/>
              </a:rPr>
              <a:t>▪ 天天按规程和标准做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所有使用甲醛、戊二醛等毒害品的人员都要接受培训：知道本实验室哪些地方在用、有哪些危害、怎样减少接触，并定期复训（准入培训见第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没培训就跟着师兄师姐做</a:t>
            </a:r>
          </a:p>
          <a:p>
            <a:pPr>
              <a:spcAft>
                <a:spcPts val="1000"/>
              </a:spcAft>
            </a:pPr>
            <a:r>
              <a:rPr sz="1500">
                <a:solidFill>
                  <a:srgbClr val="222B33"/>
                </a:solidFill>
                <a:latin typeface="Microsoft YaHei"/>
              </a:rPr>
              <a:t>▪ 只看过一次说明书就不再看</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标签写明含甲醛和致癌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容器标签是最直接的信息来源</a:t>
            </a:r>
          </a:p>
          <a:p>
            <a:pPr>
              <a:spcAft>
                <a:spcPts val="1000"/>
              </a:spcAft>
            </a:pPr>
            <a:r>
              <a:rPr sz="2000">
                <a:solidFill>
                  <a:srgbClr val="222B33"/>
                </a:solidFill>
                <a:latin typeface="Microsoft YaHei"/>
              </a:rPr>
              <a:t>▪ 含甲醛的溶液、材料都要标明</a:t>
            </a:r>
          </a:p>
          <a:p>
            <a:pPr>
              <a:spcAft>
                <a:spcPts val="1000"/>
              </a:spcAft>
            </a:pPr>
            <a:r>
              <a:rPr sz="2000">
                <a:solidFill>
                  <a:srgbClr val="222B33"/>
                </a:solidFill>
                <a:latin typeface="Microsoft YaHei"/>
              </a:rPr>
              <a:t>▪ 含量较高的写明主要危害和可能致癌</a:t>
            </a:r>
          </a:p>
          <a:p>
            <a:pPr>
              <a:spcAft>
                <a:spcPts val="1000"/>
              </a:spcAft>
            </a:pPr>
            <a:r>
              <a:rPr sz="2000">
                <a:solidFill>
                  <a:srgbClr val="222B33"/>
                </a:solidFill>
                <a:latin typeface="Microsoft YaHei"/>
              </a:rPr>
              <a:t>▪ 标签写不下，就去查说明书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化学品安全标签是最直接的危害信息来源（GB 30000 系列、GB 15258-2009，以现行文本为准）。含甲醛的溶液和混合物，以及会释放甲醛的材料，都要在标签上标明含甲醛；含量较高的还要写明主要危害，特别是“可能……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自配的固定液不贴标签</a:t>
            </a:r>
          </a:p>
          <a:p>
            <a:pPr>
              <a:spcAft>
                <a:spcPts val="1000"/>
              </a:spcAft>
            </a:pPr>
            <a:r>
              <a:rPr sz="1500">
                <a:solidFill>
                  <a:srgbClr val="222B33"/>
                </a:solidFill>
                <a:latin typeface="Microsoft YaHei"/>
              </a:rPr>
              <a:t>▪ 分装到小瓶后丢掉了危害信息</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风险评估定防护，不让它接触你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实验前按要求做风险评估</a:t>
            </a:r>
          </a:p>
          <a:p>
            <a:pPr>
              <a:spcAft>
                <a:spcPts val="1000"/>
              </a:spcAft>
            </a:pPr>
            <a:r>
              <a:rPr sz="2000">
                <a:solidFill>
                  <a:srgbClr val="222B33"/>
                </a:solidFill>
                <a:latin typeface="Microsoft YaHei"/>
              </a:rPr>
              <a:t>▪ 用多少、做多久、在哪做，决定怎么防</a:t>
            </a:r>
          </a:p>
          <a:p>
            <a:pPr>
              <a:spcAft>
                <a:spcPts val="1000"/>
              </a:spcAft>
            </a:pPr>
            <a:r>
              <a:rPr sz="2000">
                <a:solidFill>
                  <a:srgbClr val="222B33"/>
                </a:solidFill>
                <a:latin typeface="Microsoft YaHei"/>
              </a:rPr>
              <a:t>▪ 不吸入、不沾皮肤、不溅进眼睛</a:t>
            </a:r>
          </a:p>
          <a:p>
            <a:pPr>
              <a:spcAft>
                <a:spcPts val="1000"/>
              </a:spcAft>
            </a:pPr>
            <a:r>
              <a:rPr sz="2000">
                <a:solidFill>
                  <a:srgbClr val="222B33"/>
                </a:solidFill>
                <a:latin typeface="Microsoft YaHei"/>
              </a:rPr>
              <a:t>▪ 护目镜、合适的手套、实验服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实验前按本校风险管理要求进行风险评估：用量多少、操作多长时间、在什么场所做，决定需要的通风条件和防护措施（风险评估见第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用普通乳胶手套长时间接触</a:t>
            </a:r>
          </a:p>
          <a:p>
            <a:pPr>
              <a:spcAft>
                <a:spcPts val="1000"/>
              </a:spcAft>
            </a:pPr>
            <a:r>
              <a:rPr sz="1500">
                <a:solidFill>
                  <a:srgbClr val="222B33"/>
                </a:solidFill>
                <a:latin typeface="Microsoft YaHei"/>
              </a:rPr>
              <a:t>▪ 不评估就把用量放大</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通风最重要：在通风柜里开瓶配制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保持通风是最重要的做法之一</a:t>
            </a:r>
          </a:p>
          <a:p>
            <a:pPr>
              <a:spcAft>
                <a:spcPts val="1000"/>
              </a:spcAft>
            </a:pPr>
            <a:r>
              <a:rPr sz="2000">
                <a:solidFill>
                  <a:srgbClr val="222B33"/>
                </a:solidFill>
                <a:latin typeface="Microsoft YaHei"/>
              </a:rPr>
              <a:t>▪ 开瓶、量取、配制、取材都在通风柜里做</a:t>
            </a:r>
          </a:p>
          <a:p>
            <a:pPr>
              <a:spcAft>
                <a:spcPts val="1000"/>
              </a:spcAft>
            </a:pPr>
            <a:r>
              <a:rPr sz="2000">
                <a:solidFill>
                  <a:srgbClr val="222B33"/>
                </a:solidFill>
                <a:latin typeface="Microsoft YaHei"/>
              </a:rPr>
              <a:t>▪ 不在敞开的台面上开瓶倒液</a:t>
            </a:r>
          </a:p>
          <a:p>
            <a:pPr>
              <a:spcAft>
                <a:spcPts val="1000"/>
              </a:spcAft>
            </a:pPr>
            <a:r>
              <a:rPr sz="2000">
                <a:solidFill>
                  <a:srgbClr val="222B33"/>
                </a:solidFill>
                <a:latin typeface="Microsoft YaHei"/>
              </a:rPr>
              <a:t>▪ 铺好吸水垫，用完随手盖紧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把蒸气挡在呼吸带之外，最有效的方法是局部排风。开瓶、量取、配制、换液、标本取材都在通风柜或专用排风台里进行，不在敞开的台面上开瓶倒液。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在普通台面上换标本固定液</a:t>
            </a:r>
          </a:p>
          <a:p>
            <a:pPr>
              <a:spcAft>
                <a:spcPts val="1000"/>
              </a:spcAft>
            </a:pPr>
            <a:r>
              <a:rPr sz="1500">
                <a:solidFill>
                  <a:srgbClr val="222B33"/>
                </a:solidFill>
                <a:latin typeface="Microsoft YaHei"/>
              </a:rPr>
              <a:t>▪ 用完不盖，敞口放在柜里</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稀释要小心，稀溶液也有害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自行稀释、分装，要格外小心</a:t>
            </a:r>
          </a:p>
          <a:p>
            <a:pPr>
              <a:spcAft>
                <a:spcPts val="1000"/>
              </a:spcAft>
            </a:pPr>
            <a:r>
              <a:rPr sz="2000">
                <a:solidFill>
                  <a:srgbClr val="222B33"/>
                </a:solidFill>
                <a:latin typeface="Microsoft YaHei"/>
              </a:rPr>
              <a:t>▪ 尽量用预先分装好的容器</a:t>
            </a:r>
          </a:p>
          <a:p>
            <a:pPr>
              <a:spcAft>
                <a:spcPts val="1000"/>
              </a:spcAft>
            </a:pPr>
            <a:r>
              <a:rPr sz="2000">
                <a:solidFill>
                  <a:srgbClr val="222B33"/>
                </a:solidFill>
                <a:latin typeface="Microsoft YaHei"/>
              </a:rPr>
              <a:t>▪ 稀溶液，照样有危害</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从浓溶液自行稀释、分装时接触风险最大，要在通风柜里操作并做好防护。现在多采用预先稀释好的成品或预分装容器，可以减少开瓶和倒液的次数。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认为稀释后就无害</a:t>
            </a:r>
          </a:p>
          <a:p>
            <a:pPr>
              <a:spcAft>
                <a:spcPts val="1000"/>
              </a:spcAft>
            </a:pPr>
            <a:r>
              <a:rPr sz="1500">
                <a:solidFill>
                  <a:srgbClr val="222B33"/>
                </a:solidFill>
                <a:latin typeface="Microsoft YaHei"/>
              </a:rPr>
              <a:t>▪ 在台面上用量筒分装</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密闭储存，少量领用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密闭存放，阴凉通风</a:t>
            </a:r>
          </a:p>
          <a:p>
            <a:pPr>
              <a:spcAft>
                <a:spcPts val="1000"/>
              </a:spcAft>
            </a:pPr>
            <a:r>
              <a:rPr sz="2000">
                <a:solidFill>
                  <a:srgbClr val="222B33"/>
                </a:solidFill>
                <a:latin typeface="Microsoft YaHei"/>
              </a:rPr>
              <a:t>▪ 远离氧化剂，有的还易燃</a:t>
            </a:r>
          </a:p>
          <a:p>
            <a:pPr>
              <a:spcAft>
                <a:spcPts val="1000"/>
              </a:spcAft>
            </a:pPr>
            <a:r>
              <a:rPr sz="2000">
                <a:solidFill>
                  <a:srgbClr val="222B33"/>
                </a:solidFill>
                <a:latin typeface="Microsoft YaHei"/>
              </a:rPr>
              <a:t>▪ 按需少量领用，用完登记</a:t>
            </a:r>
          </a:p>
          <a:p>
            <a:pPr>
              <a:spcAft>
                <a:spcPts val="1000"/>
              </a:spcAft>
            </a:pPr>
            <a:r>
              <a:rPr sz="2000">
                <a:solidFill>
                  <a:srgbClr val="222B33"/>
                </a:solidFill>
                <a:latin typeface="Microsoft YaHei"/>
              </a:rPr>
              <a:t>▪ 标本瓶用完随手盖紧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甲醛等毒害品原容器密闭，存放在阴凉、通风的柜子里，远离氧化剂；部分含甲醇的甲醛溶液还具有易燃性，按易燃品要求存放（见第 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大桶固定液长期开着盖</a:t>
            </a:r>
          </a:p>
          <a:p>
            <a:pPr>
              <a:spcAft>
                <a:spcPts val="1000"/>
              </a:spcAft>
            </a:pPr>
            <a:r>
              <a:rPr sz="1500">
                <a:solidFill>
                  <a:srgbClr val="222B33"/>
                </a:solidFill>
                <a:latin typeface="Microsoft YaHei"/>
              </a:rPr>
              <a:t>▪ 领用不登记</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应急程序，平时就要熟悉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出了事，按实验室的程序处置</a:t>
            </a:r>
          </a:p>
          <a:p>
            <a:pPr>
              <a:spcAft>
                <a:spcPts val="1000"/>
              </a:spcAft>
            </a:pPr>
            <a:r>
              <a:rPr sz="2000">
                <a:solidFill>
                  <a:srgbClr val="222B33"/>
                </a:solidFill>
                <a:latin typeface="Microsoft YaHei"/>
              </a:rPr>
              <a:t>▪ 应急程序平时就要熟悉</a:t>
            </a:r>
          </a:p>
          <a:p>
            <a:pPr>
              <a:spcAft>
                <a:spcPts val="1000"/>
              </a:spcAft>
            </a:pPr>
            <a:r>
              <a:rPr sz="2000">
                <a:solidFill>
                  <a:srgbClr val="222B33"/>
                </a:solidFill>
                <a:latin typeface="Microsoft YaHei"/>
              </a:rPr>
              <a:t>▪ 有担心、有隐患，及时报告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发生溅洒、泄漏或接触时，按本实验室的应急程序处置（泄漏处置见第 056 课，灼伤急救见第 160 课）。应急程序要在平时通过培训和演练熟悉：洗眼器、喷淋、泄漏处理包在哪里，怎样报告。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出事时才去找应急程序</a:t>
            </a:r>
          </a:p>
          <a:p>
            <a:pPr>
              <a:spcAft>
                <a:spcPts val="1000"/>
              </a:spcAft>
            </a:pPr>
            <a:r>
              <a:rPr sz="1500">
                <a:solidFill>
                  <a:srgbClr val="222B33"/>
                </a:solidFill>
                <a:latin typeface="Microsoft YaHei"/>
              </a:rPr>
              <a:t>▪ 不知道泄漏处理包在哪里</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二氯甲烷：危害容易被小看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就是个溶剂？它的危害容易被小看</a:t>
            </a:r>
          </a:p>
          <a:p>
            <a:pPr>
              <a:spcAft>
                <a:spcPts val="1000"/>
              </a:spcAft>
            </a:pPr>
            <a:r>
              <a:rPr sz="2000">
                <a:solidFill>
                  <a:srgbClr val="222B33"/>
                </a:solidFill>
                <a:latin typeface="Microsoft YaHei"/>
              </a:rPr>
              <a:t>▪ 长期或反复大量接触，伤心、伤肝、伤脑</a:t>
            </a:r>
          </a:p>
          <a:p>
            <a:pPr>
              <a:spcAft>
                <a:spcPts val="1000"/>
              </a:spcAft>
            </a:pPr>
            <a:r>
              <a:rPr sz="2000">
                <a:solidFill>
                  <a:srgbClr val="222B33"/>
                </a:solidFill>
                <a:latin typeface="Microsoft YaHei"/>
              </a:rPr>
              <a:t>▪ 还可能增加患癌风险</a:t>
            </a:r>
          </a:p>
          <a:p>
            <a:pPr>
              <a:spcAft>
                <a:spcPts val="1000"/>
              </a:spcAft>
            </a:pPr>
            <a:r>
              <a:rPr sz="2000">
                <a:solidFill>
                  <a:srgbClr val="222B33"/>
                </a:solidFill>
                <a:latin typeface="Microsoft YaHei"/>
              </a:rPr>
              <a:t>▪ 伤害慢慢积累，不能等有感觉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二氯甲烷是萃取、色谱等实验中最常用的溶剂之一，不易燃，常被误认为“比较安全”，所以需要专门培训。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因为不易燃就在台面上随意使用</a:t>
            </a:r>
          </a:p>
          <a:p>
            <a:pPr>
              <a:spcAft>
                <a:spcPts val="1000"/>
              </a:spcAft>
            </a:pPr>
            <a:r>
              <a:rPr sz="1500">
                <a:solidFill>
                  <a:srgbClr val="222B33"/>
                </a:solidFill>
                <a:latin typeface="Microsoft YaHei"/>
              </a:rPr>
              <a:t>▪ 用它洗手上的污渍</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易挥发、蒸气下沉，在通风柜里用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沸点低，一开盖就挥发很快</a:t>
            </a:r>
          </a:p>
          <a:p>
            <a:pPr>
              <a:spcAft>
                <a:spcPts val="1000"/>
              </a:spcAft>
            </a:pPr>
            <a:r>
              <a:rPr sz="2000">
                <a:solidFill>
                  <a:srgbClr val="222B33"/>
                </a:solidFill>
                <a:latin typeface="Microsoft YaHei"/>
              </a:rPr>
              <a:t>▪ 蒸气比空气重，会往低处积聚</a:t>
            </a:r>
          </a:p>
          <a:p>
            <a:pPr>
              <a:spcAft>
                <a:spcPts val="1000"/>
              </a:spcAft>
            </a:pPr>
            <a:r>
              <a:rPr sz="2000">
                <a:solidFill>
                  <a:srgbClr val="222B33"/>
                </a:solidFill>
                <a:latin typeface="Microsoft YaHei"/>
              </a:rPr>
              <a:t>▪ 取用、分装、浓缩，都在通风柜里</a:t>
            </a:r>
          </a:p>
          <a:p>
            <a:pPr>
              <a:spcAft>
                <a:spcPts val="1000"/>
              </a:spcAft>
            </a:pPr>
            <a:r>
              <a:rPr sz="2000">
                <a:solidFill>
                  <a:srgbClr val="222B33"/>
                </a:solidFill>
                <a:latin typeface="Microsoft YaHei"/>
              </a:rPr>
              <a:t>▪ 不在台面上敞口挥干，用完随手盖紧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二氯甲烷沸点低、挥发快，蒸气比空气重，会积聚在地面、地沟、低处的容器和柜子里。使用前读安全技术说明书和标签，了解它的特性。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把萃取后的溶液放在台面上自然挥干</a:t>
            </a:r>
          </a:p>
          <a:p>
            <a:pPr>
              <a:spcAft>
                <a:spcPts val="1000"/>
              </a:spcAft>
            </a:pPr>
            <a:r>
              <a:rPr sz="1500">
                <a:solidFill>
                  <a:srgbClr val="222B33"/>
                </a:solidFill>
                <a:latin typeface="Microsoft YaHei"/>
              </a:rPr>
              <a:t>▪ 在地下室等低处、通风差的房间大量使用</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用量小，规矩不减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职业接触标准起因于工业大量使用</a:t>
            </a:r>
          </a:p>
          <a:p>
            <a:pPr>
              <a:spcAft>
                <a:spcPts val="1000"/>
              </a:spcAft>
            </a:pPr>
            <a:r>
              <a:rPr sz="2000">
                <a:solidFill>
                  <a:srgbClr val="222B33"/>
                </a:solidFill>
                <a:latin typeface="Microsoft YaHei"/>
              </a:rPr>
              <a:t>▪ 实验室用量小，规矩一样不能少</a:t>
            </a:r>
          </a:p>
          <a:p>
            <a:pPr>
              <a:spcAft>
                <a:spcPts val="1000"/>
              </a:spcAft>
            </a:pPr>
            <a:r>
              <a:rPr sz="2000">
                <a:solidFill>
                  <a:srgbClr val="222B33"/>
                </a:solidFill>
                <a:latin typeface="Microsoft YaHei"/>
              </a:rPr>
              <a:t>▪ 重视危害，确认控制措施真的有效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二氯甲烷等的职业接触标准源于工业上的大量使用，但实验室用量小并不等于风险小：近距离操作、通风柜使用不当、敞口挥发都可能造成短时高浓度接触。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以为用几毫升就不用防护</a:t>
            </a:r>
          </a:p>
          <a:p>
            <a:pPr>
              <a:spcAft>
                <a:spcPts val="1000"/>
              </a:spcAft>
            </a:pPr>
            <a:r>
              <a:rPr sz="1500">
                <a:solidFill>
                  <a:srgbClr val="222B33"/>
                </a:solidFill>
                <a:latin typeface="Microsoft YaHei"/>
              </a:rPr>
              <a:t>▪ 不看通风柜风速指示就开始操作</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头晕发困就是警报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头晕、发困，是吸入过量的信号</a:t>
            </a:r>
          </a:p>
          <a:p>
            <a:pPr>
              <a:spcAft>
                <a:spcPts val="1000"/>
              </a:spcAft>
            </a:pPr>
            <a:r>
              <a:rPr sz="2000">
                <a:solidFill>
                  <a:srgbClr val="222B33"/>
                </a:solidFill>
                <a:latin typeface="Microsoft YaHei"/>
              </a:rPr>
              <a:t>▪ 马上离开，到空气新鲜的地方</a:t>
            </a:r>
          </a:p>
          <a:p>
            <a:pPr>
              <a:spcAft>
                <a:spcPts val="1000"/>
              </a:spcAft>
            </a:pPr>
            <a:r>
              <a:rPr sz="2000">
                <a:solidFill>
                  <a:srgbClr val="222B33"/>
                </a:solidFill>
                <a:latin typeface="Microsoft YaHei"/>
              </a:rPr>
              <a:t>▪ 报告负责人，查清通风哪里出了问题</a:t>
            </a:r>
          </a:p>
          <a:p>
            <a:pPr>
              <a:spcAft>
                <a:spcPts val="1000"/>
              </a:spcAft>
            </a:pPr>
            <a:r>
              <a:rPr sz="2000">
                <a:solidFill>
                  <a:srgbClr val="222B33"/>
                </a:solidFill>
                <a:latin typeface="Microsoft YaHei"/>
              </a:rPr>
              <a:t>▪ 症状不缓解，及时就医，急救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使用二氯甲烷等挥发性溶剂时，出现头晕、头痛、发困、注意力不集中，说明可能吸入过量。马上停止操作，离开到空气新鲜的地方，并提醒周围的人。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以为是没睡好，坚持做完</a:t>
            </a:r>
          </a:p>
          <a:p>
            <a:pPr>
              <a:spcAft>
                <a:spcPts val="1000"/>
              </a:spcAft>
            </a:pPr>
            <a:r>
              <a:rPr sz="1500">
                <a:solidFill>
                  <a:srgbClr val="222B33"/>
                </a:solidFill>
                <a:latin typeface="Microsoft YaHei"/>
              </a:rPr>
              <a:t>▪ 离开后不报告，下次照样用</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六价铬盐：致癌致敏，防尘单独收集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六价铬盐能致癌，也会致敏</a:t>
            </a:r>
          </a:p>
          <a:p>
            <a:pPr>
              <a:spcAft>
                <a:spcPts val="1000"/>
              </a:spcAft>
            </a:pPr>
            <a:r>
              <a:rPr sz="2000">
                <a:solidFill>
                  <a:srgbClr val="222B33"/>
                </a:solidFill>
                <a:latin typeface="Microsoft YaHei"/>
              </a:rPr>
              <a:t>▪ 会腐蚀皮肤，伤害鼻腔和呼吸道</a:t>
            </a:r>
          </a:p>
          <a:p>
            <a:pPr>
              <a:spcAft>
                <a:spcPts val="1000"/>
              </a:spcAft>
            </a:pPr>
            <a:r>
              <a:rPr sz="2000">
                <a:solidFill>
                  <a:srgbClr val="222B33"/>
                </a:solidFill>
                <a:latin typeface="Microsoft YaHei"/>
              </a:rPr>
              <a:t>▪ 称量粉末在通风柜里，防扬尘，戴手套</a:t>
            </a:r>
          </a:p>
          <a:p>
            <a:pPr>
              <a:spcAft>
                <a:spcPts val="1000"/>
              </a:spcAft>
            </a:pPr>
            <a:r>
              <a:rPr sz="2000">
                <a:solidFill>
                  <a:srgbClr val="222B33"/>
                </a:solidFill>
                <a:latin typeface="Microsoft YaHei"/>
              </a:rPr>
              <a:t>▪ 含铬废液单独收集，按危险废物处置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重铬酸钾、铬酸盐等六价铬化合物是确认的致癌物，同时是强致敏物和氧化剂：接触皮肤可引起溃疡和过敏性皮炎，吸入粉尘或雾滴会损伤鼻腔和呼吸道（GB 30000 系列分类，以安全技术说明书为准）。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在开放台面称量铬盐粉末</a:t>
            </a:r>
          </a:p>
          <a:p>
            <a:pPr>
              <a:spcAft>
                <a:spcPts val="1000"/>
              </a:spcAft>
            </a:pPr>
            <a:r>
              <a:rPr sz="1500">
                <a:solidFill>
                  <a:srgbClr val="222B33"/>
                </a:solidFill>
                <a:latin typeface="Microsoft YaHei"/>
              </a:rPr>
              <a:t>▪ 含铬废液混入普通废液桶</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汞：蒸气看不见，能替代就替代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汞常温就挥发，蒸气看不见、闻不到</a:t>
            </a:r>
          </a:p>
          <a:p>
            <a:pPr>
              <a:spcAft>
                <a:spcPts val="1000"/>
              </a:spcAft>
            </a:pPr>
            <a:r>
              <a:rPr sz="2000">
                <a:solidFill>
                  <a:srgbClr val="222B33"/>
                </a:solidFill>
                <a:latin typeface="Microsoft YaHei"/>
              </a:rPr>
              <a:t>▪ 长期吸入伤神经和肾脏</a:t>
            </a:r>
          </a:p>
          <a:p>
            <a:pPr>
              <a:spcAft>
                <a:spcPts val="1000"/>
              </a:spcAft>
            </a:pPr>
            <a:r>
              <a:rPr sz="2000">
                <a:solidFill>
                  <a:srgbClr val="222B33"/>
                </a:solidFill>
                <a:latin typeface="Microsoft YaHei"/>
              </a:rPr>
              <a:t>▪ 能用无汞仪器，就替换掉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金属汞在常温下就会挥发，汞蒸气无色无味，人察觉不到。长期吸入会损害神经系统和肾脏，出现手抖、情绪改变、记忆力下降等表现。汞的可溶性化合物毒性更大，有的属于剧毒化学品（按“五双”管理，见第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以为没有气味就没有汞蒸气</a:t>
            </a:r>
          </a:p>
          <a:p>
            <a:pPr>
              <a:spcAft>
                <a:spcPts val="1000"/>
              </a:spcAft>
            </a:pPr>
            <a:r>
              <a:rPr sz="1500">
                <a:solidFill>
                  <a:srgbClr val="222B33"/>
                </a:solidFill>
                <a:latin typeface="Microsoft YaHei"/>
              </a:rPr>
              <a:t>▪ 含汞仪器随手放在台边</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汞洒了：别碰、别扫、别吸，先报告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汞洒了会变成到处滚的小珠</a:t>
            </a:r>
          </a:p>
          <a:p>
            <a:pPr>
              <a:spcAft>
                <a:spcPts val="1000"/>
              </a:spcAft>
            </a:pPr>
            <a:r>
              <a:rPr sz="2000">
                <a:solidFill>
                  <a:srgbClr val="222B33"/>
                </a:solidFill>
                <a:latin typeface="Microsoft YaHei"/>
              </a:rPr>
              <a:t>▪ 别用手碰，别扫，别用吸尘器</a:t>
            </a:r>
          </a:p>
          <a:p>
            <a:pPr>
              <a:spcAft>
                <a:spcPts val="1000"/>
              </a:spcAft>
            </a:pPr>
            <a:r>
              <a:rPr sz="2000">
                <a:solidFill>
                  <a:srgbClr val="222B33"/>
                </a:solidFill>
                <a:latin typeface="Microsoft YaHei"/>
              </a:rPr>
              <a:t>▪ 人先离开，隔开现场，保持通风</a:t>
            </a:r>
          </a:p>
          <a:p>
            <a:pPr>
              <a:spcAft>
                <a:spcPts val="1000"/>
              </a:spcAft>
            </a:pPr>
            <a:r>
              <a:rPr sz="2000">
                <a:solidFill>
                  <a:srgbClr val="222B33"/>
                </a:solidFill>
                <a:latin typeface="Microsoft YaHei"/>
              </a:rPr>
              <a:t>▪ 报告老师，由专人用专用工具处理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含汞温度计、压力计破损后，汞会散成许多到处滚动的小珠，钻进缝隙。不要用手碰，不要用扫帚扫，更不能用吸尘器吸——会把汞打散并加速挥发。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用扫帚把汞珠扫到一起</a:t>
            </a:r>
          </a:p>
          <a:p>
            <a:pPr>
              <a:spcAft>
                <a:spcPts val="1000"/>
              </a:spcAft>
            </a:pPr>
            <a:r>
              <a:rPr sz="1500">
                <a:solidFill>
                  <a:srgbClr val="222B33"/>
                </a:solidFill>
                <a:latin typeface="Microsoft YaHei"/>
              </a:rPr>
              <a:t>▪ 用吸尘器清理</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接触重点毒害品，按规定做职业健康检查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长期接触要做职业健康检查</a:t>
            </a:r>
          </a:p>
          <a:p>
            <a:pPr>
              <a:spcAft>
                <a:spcPts val="1000"/>
              </a:spcAft>
            </a:pPr>
            <a:r>
              <a:rPr sz="2000">
                <a:solidFill>
                  <a:srgbClr val="222B33"/>
                </a:solidFill>
                <a:latin typeface="Microsoft YaHei"/>
              </a:rPr>
              <a:t>▪ 上岗前、在岗期间、离岗时都要查</a:t>
            </a:r>
          </a:p>
          <a:p>
            <a:pPr>
              <a:spcAft>
                <a:spcPts val="1000"/>
              </a:spcAft>
            </a:pPr>
            <a:r>
              <a:rPr sz="2000">
                <a:solidFill>
                  <a:srgbClr val="222B33"/>
                </a:solidFill>
                <a:latin typeface="Microsoft YaHei"/>
              </a:rPr>
              <a:t>▪ 结果存档，异常及时调整岗位</a:t>
            </a:r>
          </a:p>
          <a:p>
            <a:pPr>
              <a:spcAft>
                <a:spcPts val="1000"/>
              </a:spcAft>
            </a:pPr>
            <a:r>
              <a:rPr sz="2000">
                <a:solidFill>
                  <a:srgbClr val="222B33"/>
                </a:solidFill>
                <a:latin typeface="Microsoft YaHei"/>
              </a:rPr>
              <a:t>▪ 怀孕、过敏等情况，主动告知老师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按《中华人民共和国职业病防治法》和 GBZ 188（以现行文本为准），长期、规律接触甲醛、汞、六价铬、苯等职业病危害因素的人员，应按规定进行上岗前、在岗期间和离岗时的职业健康检查，由学校组织到有资质的机构进行，结果存……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觉得学生不需要职业健康检查</a:t>
            </a:r>
          </a:p>
          <a:p>
            <a:pPr>
              <a:spcAft>
                <a:spcPts val="1000"/>
              </a:spcAft>
            </a:pPr>
            <a:r>
              <a:rPr sz="1500">
                <a:solidFill>
                  <a:srgbClr val="222B33"/>
                </a:solidFill>
                <a:latin typeface="Microsoft YaHei"/>
              </a:rPr>
              <a:t>▪ 隐瞒怀孕或过敏史继续接触</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四件事：知危害、识材料、会防护、备应急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毒害品有害，但能安全使用</a:t>
            </a:r>
          </a:p>
          <a:p>
            <a:pPr>
              <a:spcAft>
                <a:spcPts val="1000"/>
              </a:spcAft>
            </a:pPr>
            <a:r>
              <a:rPr sz="2000">
                <a:solidFill>
                  <a:srgbClr val="222B33"/>
                </a:solidFill>
                <a:latin typeface="Microsoft YaHei"/>
              </a:rPr>
              <a:t>▪ 知危害：知道它伤哪里</a:t>
            </a:r>
          </a:p>
          <a:p>
            <a:pPr>
              <a:spcAft>
                <a:spcPts val="1000"/>
              </a:spcAft>
            </a:pPr>
            <a:r>
              <a:rPr sz="2000">
                <a:solidFill>
                  <a:srgbClr val="222B33"/>
                </a:solidFill>
                <a:latin typeface="Microsoft YaHei"/>
              </a:rPr>
              <a:t>▪ 识材料：认清哪些含毒害成分</a:t>
            </a:r>
          </a:p>
          <a:p>
            <a:pPr>
              <a:spcAft>
                <a:spcPts val="1000"/>
              </a:spcAft>
            </a:pPr>
            <a:r>
              <a:rPr sz="2000">
                <a:solidFill>
                  <a:srgbClr val="222B33"/>
                </a:solidFill>
                <a:latin typeface="Microsoft YaHei"/>
              </a:rPr>
              <a:t>▪ 会防护、备应急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只记得防护，不熟悉应急</a:t>
            </a:r>
          </a:p>
          <a:p>
            <a:pPr>
              <a:spcAft>
                <a:spcPts val="1000"/>
              </a:spcAft>
            </a:pPr>
            <a:r>
              <a:rPr sz="1500">
                <a:solidFill>
                  <a:srgbClr val="222B33"/>
                </a:solidFill>
                <a:latin typeface="Microsoft YaHei"/>
              </a:rPr>
              <a:t>▪ 因为害怕而隐瞒接触情况</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关于甲醛，下列说法错误的是：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刺激皮肤、眼睛和呼吸道</a:t>
            </a:r>
          </a:p>
          <a:p>
            <a:pPr algn="l"/>
            <a:r>
              <a:rPr sz="1500" b="0">
                <a:solidFill>
                  <a:srgbClr val="222B33"/>
                </a:solidFill>
                <a:latin typeface="Microsoft YaHei"/>
              </a:rPr>
              <a:t>B. 是致癌物</a:t>
            </a:r>
          </a:p>
          <a:p>
            <a:pPr algn="l"/>
            <a:r>
              <a:rPr sz="1500" b="0">
                <a:solidFill>
                  <a:srgbClr val="222B33"/>
                </a:solidFill>
                <a:latin typeface="Microsoft YaHei"/>
              </a:rPr>
              <a:t>C. 稀溶液无害，可以在台面上随意分装</a:t>
            </a:r>
          </a:p>
          <a:p>
            <a:pPr algn="l"/>
            <a:r>
              <a:rPr sz="1500" b="0">
                <a:solidFill>
                  <a:srgbClr val="222B33"/>
                </a:solidFill>
                <a:latin typeface="Microsoft YaHei"/>
              </a:rPr>
              <a:t>D. 职业接触有国家限值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判断：二氯甲烷不易燃，所以可以在实验台面上敞口挥干。</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使用二氯甲烷时感到头晕、发困，应该：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坚持做完再休息</a:t>
            </a:r>
          </a:p>
          <a:p>
            <a:pPr algn="l"/>
            <a:r>
              <a:rPr sz="1500" b="0">
                <a:solidFill>
                  <a:srgbClr val="222B33"/>
                </a:solidFill>
                <a:latin typeface="Microsoft YaHei"/>
              </a:rPr>
              <a:t>B. 马上离开到空气新鲜处，报告负责人查通风，不缓解就医</a:t>
            </a:r>
          </a:p>
          <a:p>
            <a:pPr algn="l"/>
            <a:r>
              <a:rPr sz="1500" b="0">
                <a:solidFill>
                  <a:srgbClr val="222B33"/>
                </a:solidFill>
                <a:latin typeface="Microsoft YaHei"/>
              </a:rPr>
              <a:t>C. 喝杯咖啡提神</a:t>
            </a:r>
          </a:p>
          <a:p>
            <a:pPr algn="l"/>
            <a:r>
              <a:rPr sz="1500" b="0">
                <a:solidFill>
                  <a:srgbClr val="222B33"/>
                </a:solidFill>
                <a:latin typeface="Microsoft YaHei"/>
              </a:rPr>
              <a:t>D. 戴上口罩继续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水银温度计打碎，汞珠洒在地上，正确的做法是：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用扫帚扫起来</a:t>
            </a:r>
          </a:p>
          <a:p>
            <a:pPr algn="l"/>
            <a:r>
              <a:rPr sz="1500" b="0">
                <a:solidFill>
                  <a:srgbClr val="222B33"/>
                </a:solidFill>
                <a:latin typeface="Microsoft YaHei"/>
              </a:rPr>
              <a:t>B. 用吸尘器吸</a:t>
            </a:r>
          </a:p>
          <a:p>
            <a:pPr algn="l"/>
            <a:r>
              <a:rPr sz="1500" b="0">
                <a:solidFill>
                  <a:srgbClr val="222B33"/>
                </a:solidFill>
                <a:latin typeface="Microsoft YaHei"/>
              </a:rPr>
              <a:t>C. 人员离开、隔开现场、通风，报告老师，由专人用汞处理包处理</a:t>
            </a:r>
          </a:p>
          <a:p>
            <a:pPr algn="l"/>
            <a:r>
              <a:rPr sz="1500" b="0">
                <a:solidFill>
                  <a:srgbClr val="222B33"/>
                </a:solidFill>
                <a:latin typeface="Microsoft YaHei"/>
              </a:rPr>
              <a:t>D. 用手捡起来</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甲醛的接触监测，采样的是：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实验室门口的空气</a:t>
            </a:r>
          </a:p>
          <a:p>
            <a:pPr algn="l"/>
            <a:r>
              <a:rPr sz="1500" b="0">
                <a:solidFill>
                  <a:srgbClr val="222B33"/>
                </a:solidFill>
                <a:latin typeface="Microsoft YaHei"/>
              </a:rPr>
              <a:t>B. 操作者呼吸带（口鼻周围）的空气</a:t>
            </a:r>
          </a:p>
          <a:p>
            <a:pPr algn="l"/>
            <a:r>
              <a:rPr sz="1500" b="0">
                <a:solidFill>
                  <a:srgbClr val="222B33"/>
                </a:solidFill>
                <a:latin typeface="Microsoft YaHei"/>
              </a:rPr>
              <a:t>C. 通风柜排风口的空气</a:t>
            </a:r>
          </a:p>
          <a:p>
            <a:pPr algn="l"/>
            <a:r>
              <a:rPr sz="1500" b="0">
                <a:solidFill>
                  <a:srgbClr val="222B33"/>
                </a:solidFill>
                <a:latin typeface="Microsoft YaHei"/>
              </a:rPr>
              <a:t>D. 储存柜里的空气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简答：长期接触甲醛、汞等重点毒害品的人员，在健康管理上有什么要求？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甲醛和戊二醛：常用而有毒</a:t>
            </a:r>
          </a:p>
          <a:p>
            <a:pPr>
              <a:spcAft>
                <a:spcPts val="800"/>
              </a:spcAft>
            </a:pPr>
            <a:r>
              <a:rPr sz="1500">
                <a:solidFill>
                  <a:srgbClr val="FFFFFF"/>
                </a:solidFill>
                <a:latin typeface="Microsoft YaHei"/>
              </a:rPr>
              <a:t>▪ K2  一接触就刺激：皮肤、眼睛、呼吸道</a:t>
            </a:r>
          </a:p>
          <a:p>
            <a:pPr>
              <a:spcAft>
                <a:spcPts val="800"/>
              </a:spcAft>
            </a:pPr>
            <a:r>
              <a:rPr sz="1500">
                <a:solidFill>
                  <a:srgbClr val="FFFFFF"/>
                </a:solidFill>
                <a:latin typeface="Microsoft YaHei"/>
              </a:rPr>
              <a:t>▪ K3  甲醛致癌，长期接触伤害慢慢显现</a:t>
            </a:r>
          </a:p>
          <a:p>
            <a:pPr>
              <a:spcAft>
                <a:spcPts val="800"/>
              </a:spcAft>
            </a:pPr>
            <a:r>
              <a:rPr sz="1500">
                <a:solidFill>
                  <a:srgbClr val="FFFFFF"/>
                </a:solidFill>
                <a:latin typeface="Microsoft YaHei"/>
              </a:rPr>
              <a:t>▪ K4  有症状，立即报告就医</a:t>
            </a:r>
          </a:p>
          <a:p>
            <a:pPr>
              <a:spcAft>
                <a:spcPts val="800"/>
              </a:spcAft>
            </a:pPr>
            <a:r>
              <a:rPr sz="1500">
                <a:solidFill>
                  <a:srgbClr val="FFFFFF"/>
                </a:solidFill>
                <a:latin typeface="Microsoft YaHei"/>
              </a:rPr>
              <a:t>▪ K5  职业接触有国家标准和限值</a:t>
            </a:r>
          </a:p>
          <a:p>
            <a:pPr>
              <a:spcAft>
                <a:spcPts val="800"/>
              </a:spcAft>
            </a:pPr>
            <a:r>
              <a:rPr sz="1500">
                <a:solidFill>
                  <a:srgbClr val="FFFFFF"/>
                </a:solidFill>
                <a:latin typeface="Microsoft YaHei"/>
              </a:rPr>
              <a:t>▪ K6  接触监测：采呼吸带空气，平均和高峰都要控</a:t>
            </a:r>
          </a:p>
          <a:p>
            <a:pPr>
              <a:spcAft>
                <a:spcPts val="800"/>
              </a:spcAft>
            </a:pPr>
            <a:r>
              <a:rPr sz="1500">
                <a:solidFill>
                  <a:srgbClr val="FFFFFF"/>
                </a:solidFill>
                <a:latin typeface="Microsoft YaHei"/>
              </a:rPr>
              <a:t>▪ K7  先培训，读说明书，守规程</a:t>
            </a:r>
          </a:p>
          <a:p>
            <a:pPr>
              <a:spcAft>
                <a:spcPts val="800"/>
              </a:spcAft>
            </a:pPr>
            <a:r>
              <a:rPr sz="1500">
                <a:solidFill>
                  <a:srgbClr val="FFFFFF"/>
                </a:solidFill>
                <a:latin typeface="Microsoft YaHei"/>
              </a:rPr>
              <a:t>▪ K8  标签写明含甲醛和致癌</a:t>
            </a:r>
          </a:p>
          <a:p>
            <a:pPr>
              <a:spcAft>
                <a:spcPts val="800"/>
              </a:spcAft>
            </a:pPr>
            <a:r>
              <a:rPr sz="1500">
                <a:solidFill>
                  <a:srgbClr val="FFFFFF"/>
                </a:solidFill>
                <a:latin typeface="Microsoft YaHei"/>
              </a:rPr>
              <a:t>▪ K9  风险评估定防护，不让它接触你</a:t>
            </a:r>
          </a:p>
          <a:p>
            <a:pPr>
              <a:spcAft>
                <a:spcPts val="800"/>
              </a:spcAft>
            </a:pPr>
            <a:r>
              <a:rPr sz="1500">
                <a:solidFill>
                  <a:srgbClr val="FFFFFF"/>
                </a:solidFill>
                <a:latin typeface="Microsoft YaHei"/>
              </a:rPr>
              <a:t>▪ K10  通风最重要：在通风柜里开瓶配制</a:t>
            </a:r>
          </a:p>
          <a:p>
            <a:pPr>
              <a:spcAft>
                <a:spcPts val="800"/>
              </a:spcAft>
            </a:pPr>
            <a:r>
              <a:rPr sz="1500">
                <a:solidFill>
                  <a:srgbClr val="FFFFFF"/>
                </a:solidFill>
                <a:latin typeface="Microsoft YaHei"/>
              </a:rPr>
              <a:t>▪ K11  稀释要小心，稀溶液也有害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密闭储存，少量领用</a:t>
            </a:r>
          </a:p>
          <a:p>
            <a:pPr>
              <a:spcAft>
                <a:spcPts val="800"/>
              </a:spcAft>
            </a:pPr>
            <a:r>
              <a:rPr sz="1500">
                <a:solidFill>
                  <a:srgbClr val="FFFFFF"/>
                </a:solidFill>
                <a:latin typeface="Microsoft YaHei"/>
              </a:rPr>
              <a:t>▪ K13  应急程序，平时就要熟悉</a:t>
            </a:r>
          </a:p>
          <a:p>
            <a:pPr>
              <a:spcAft>
                <a:spcPts val="800"/>
              </a:spcAft>
            </a:pPr>
            <a:r>
              <a:rPr sz="1500">
                <a:solidFill>
                  <a:srgbClr val="FFFFFF"/>
                </a:solidFill>
                <a:latin typeface="Microsoft YaHei"/>
              </a:rPr>
              <a:t>▪ K14  二氯甲烷：危害容易被小看</a:t>
            </a:r>
          </a:p>
          <a:p>
            <a:pPr>
              <a:spcAft>
                <a:spcPts val="800"/>
              </a:spcAft>
            </a:pPr>
            <a:r>
              <a:rPr sz="1500">
                <a:solidFill>
                  <a:srgbClr val="FFFFFF"/>
                </a:solidFill>
                <a:latin typeface="Microsoft YaHei"/>
              </a:rPr>
              <a:t>▪ K15  易挥发、蒸气下沉，在通风柜里用</a:t>
            </a:r>
          </a:p>
          <a:p>
            <a:pPr>
              <a:spcAft>
                <a:spcPts val="800"/>
              </a:spcAft>
            </a:pPr>
            <a:r>
              <a:rPr sz="1500">
                <a:solidFill>
                  <a:srgbClr val="FFFFFF"/>
                </a:solidFill>
                <a:latin typeface="Microsoft YaHei"/>
              </a:rPr>
              <a:t>▪ K16  用量小，规矩不减</a:t>
            </a:r>
          </a:p>
          <a:p>
            <a:pPr>
              <a:spcAft>
                <a:spcPts val="800"/>
              </a:spcAft>
            </a:pPr>
            <a:r>
              <a:rPr sz="1500">
                <a:solidFill>
                  <a:srgbClr val="FFFFFF"/>
                </a:solidFill>
                <a:latin typeface="Microsoft YaHei"/>
              </a:rPr>
              <a:t>▪ K17  头晕发困就是警报</a:t>
            </a:r>
          </a:p>
          <a:p>
            <a:pPr>
              <a:spcAft>
                <a:spcPts val="800"/>
              </a:spcAft>
            </a:pPr>
            <a:r>
              <a:rPr sz="1500">
                <a:solidFill>
                  <a:srgbClr val="FFFFFF"/>
                </a:solidFill>
                <a:latin typeface="Microsoft YaHei"/>
              </a:rPr>
              <a:t>▪ S1  六价铬盐：致癌致敏，防尘单独收集</a:t>
            </a:r>
          </a:p>
          <a:p>
            <a:pPr>
              <a:spcAft>
                <a:spcPts val="800"/>
              </a:spcAft>
            </a:pPr>
            <a:r>
              <a:rPr sz="1500">
                <a:solidFill>
                  <a:srgbClr val="FFFFFF"/>
                </a:solidFill>
                <a:latin typeface="Microsoft YaHei"/>
              </a:rPr>
              <a:t>▪ S2  汞：蒸气看不见，能替代就替代</a:t>
            </a:r>
          </a:p>
          <a:p>
            <a:pPr>
              <a:spcAft>
                <a:spcPts val="800"/>
              </a:spcAft>
            </a:pPr>
            <a:r>
              <a:rPr sz="1500">
                <a:solidFill>
                  <a:srgbClr val="FFFFFF"/>
                </a:solidFill>
                <a:latin typeface="Microsoft YaHei"/>
              </a:rPr>
              <a:t>▪ K18  汞洒了：别碰、别扫、别吸，先报告</a:t>
            </a:r>
          </a:p>
          <a:p>
            <a:pPr>
              <a:spcAft>
                <a:spcPts val="800"/>
              </a:spcAft>
            </a:pPr>
            <a:r>
              <a:rPr sz="1500">
                <a:solidFill>
                  <a:srgbClr val="FFFFFF"/>
                </a:solidFill>
                <a:latin typeface="Microsoft YaHei"/>
              </a:rPr>
              <a:t>▪ S3  接触重点毒害品，按规定做职业健康检查</a:t>
            </a:r>
          </a:p>
          <a:p>
            <a:pPr>
              <a:spcAft>
                <a:spcPts val="800"/>
              </a:spcAft>
            </a:pPr>
            <a:r>
              <a:rPr sz="1500">
                <a:solidFill>
                  <a:srgbClr val="FFFFFF"/>
                </a:solidFill>
                <a:latin typeface="Microsoft YaHei"/>
              </a:rPr>
              <a:t>▪ K19  四件事：知危害、识材料、会防护、备应急</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化学品取用、转移与运输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适用对象：全体进入化学、生物、材料、环境、医学等涉及化学品实验室的高校本科生、研究生和教职工（必修）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能做到取用前逐字核对名称和浓度，不尝、不凑闻，需要时扇闻，移液一律用洗耳球或移液器，严禁用嘴吸。</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能做到按需少取、不把移液管伸进原瓶、不把多余试剂倒回原瓶；倾倒时标签朝手心、瓶盖倒放、动作果断，倒完擦净瓶外并盖紧；称量粉末防扬尘。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能做到化学品不随意带出实验室，校内转移使用二次容器、提篮或稳固推车。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能说出危险货物运输要规范包装、粘贴包装标志、由有资质的单位和培训合格的人员承担，不夹带、不用普通快递寄递。</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日起施行）及《危险化学品安全管理条例》（以现行文本为准）：学校、科研机构使用危险化学品的安全责任；危险化学品运输须由具备条件的单位承担</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系列（以现行文本为准）《化学品分类和标签规范》、GB 15258-2009（以现行文本为准）《化学品安全标签编写规定》：化学品名称、象形图和防范说明的识别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190-2009（以现行文本为准）《危险货物包装标志》：危险货物运输包装上的标志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6944-2025（以现行文本为准）《危险货物分类和品名编号》、GB 12268-2025（以现行文本为准）《危险货物品名表》：危险货物的分类和品名</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《危险货物道路运输安全管理办法》（以现行文本为准）：危险货物道路运输的托运、承运、包装和人员要求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号，以现行文本为准）及高校实验室安全检查项目表、本校危险化学品领用和转移管理制度</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取用前核对名称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化学品名称长且相似，一字之差危害不同</a:t>
            </a:r>
          </a:p>
          <a:p>
            <a:pPr>
              <a:spcAft>
                <a:spcPts val="1000"/>
              </a:spcAft>
            </a:pPr>
            <a:r>
              <a:rPr sz="2000">
                <a:solidFill>
                  <a:srgbClr val="222B33"/>
                </a:solidFill>
                <a:latin typeface="Microsoft YaHei"/>
              </a:rPr>
              <a:t>▪ 取用前逐字核对名称、浓度和规格</a:t>
            </a:r>
          </a:p>
          <a:p>
            <a:pPr>
              <a:spcAft>
                <a:spcPts val="1000"/>
              </a:spcAft>
            </a:pPr>
            <a:r>
              <a:rPr sz="2000">
                <a:solidFill>
                  <a:srgbClr val="222B33"/>
                </a:solidFill>
                <a:latin typeface="Microsoft YaHei"/>
              </a:rPr>
              <a:t>▪ 标签不清或无标签的不用，先报告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很多化学品名称又长又拗口，名称相近的试剂可能只差一个字或一个前缀，危害却完全不同。取错试剂可能导致剧烈反应、中毒或实验失败。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凭瓶子位置和颜色取用，不看标签</a:t>
            </a:r>
          </a:p>
          <a:p>
            <a:pPr>
              <a:spcAft>
                <a:spcPts val="1000"/>
              </a:spcAft>
            </a:pPr>
            <a:r>
              <a:rPr sz="1500">
                <a:solidFill>
                  <a:srgbClr val="222B33"/>
                </a:solidFill>
                <a:latin typeface="Microsoft YaHei"/>
              </a:rPr>
              <a:t>▪ 名称相近的试剂没逐字核对就用</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不尝不凑闻，需要时扇闻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绝不用尝的方法检验化学品</a:t>
            </a:r>
          </a:p>
          <a:p>
            <a:pPr>
              <a:spcAft>
                <a:spcPts val="1000"/>
              </a:spcAft>
            </a:pPr>
            <a:r>
              <a:rPr sz="1700">
                <a:solidFill>
                  <a:srgbClr val="222B33"/>
                </a:solidFill>
                <a:latin typeface="Microsoft YaHei"/>
              </a:rPr>
              <a:t>▪ 不把鼻子凑到瓶口闻</a:t>
            </a:r>
          </a:p>
          <a:p>
            <a:pPr>
              <a:spcAft>
                <a:spcPts val="1000"/>
              </a:spcAft>
            </a:pPr>
            <a:r>
              <a:rPr sz="1700">
                <a:solidFill>
                  <a:srgbClr val="222B33"/>
                </a:solidFill>
                <a:latin typeface="Microsoft YaHei"/>
              </a:rPr>
              <a:t>▪ 需要闻气味时，远离瓶口用手轻轻扇闻</a:t>
            </a:r>
          </a:p>
          <a:p>
            <a:pPr>
              <a:spcAft>
                <a:spcPts val="1000"/>
              </a:spcAft>
            </a:pPr>
            <a:r>
              <a:rPr sz="1700">
                <a:solidFill>
                  <a:srgbClr val="222B33"/>
                </a:solidFill>
                <a:latin typeface="Microsoft YaHei"/>
              </a:rPr>
              <a:t>▪ 有毒、易挥发的在通风柜里取用</a:t>
            </a:r>
          </a:p>
          <a:p>
            <a:pPr>
              <a:spcAft>
                <a:spcPts val="1000"/>
              </a:spcAft>
            </a:pPr>
            <a:r>
              <a:rPr sz="1700">
                <a:solidFill>
                  <a:srgbClr val="222B33"/>
                </a:solidFill>
                <a:latin typeface="Microsoft YaHei"/>
              </a:rPr>
              <a:t>▪ 笔、手和标签都别往嘴边放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实验室里的任何化学品都不能用嘴尝来鉴别，也不能把鼻子凑到容器口直接闻，以免吸入高浓度的有毒、刺激性蒸气。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凑近瓶口深吸辨别气味</a:t>
            </a:r>
          </a:p>
          <a:p>
            <a:pPr>
              <a:spcAft>
                <a:spcPts val="1000"/>
              </a:spcAft>
            </a:pPr>
            <a:r>
              <a:rPr sz="1500">
                <a:solidFill>
                  <a:srgbClr val="222B33"/>
                </a:solidFill>
                <a:latin typeface="Microsoft YaHei"/>
              </a:rPr>
              <a:t>▪ 在台面上敞开取用挥发性有毒试剂</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移液不用嘴吸，用洗耳球或移液器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移液严禁用嘴吸，任何液体都不行</a:t>
            </a:r>
          </a:p>
          <a:p>
            <a:pPr>
              <a:spcAft>
                <a:spcPts val="1000"/>
              </a:spcAft>
            </a:pPr>
            <a:r>
              <a:rPr sz="1700">
                <a:solidFill>
                  <a:srgbClr val="222B33"/>
                </a:solidFill>
                <a:latin typeface="Microsoft YaHei"/>
              </a:rPr>
              <a:t>▪ 一失手，试剂会吸进嘴里</a:t>
            </a:r>
          </a:p>
          <a:p>
            <a:pPr>
              <a:spcAft>
                <a:spcPts val="1000"/>
              </a:spcAft>
            </a:pPr>
            <a:r>
              <a:rPr sz="1700">
                <a:solidFill>
                  <a:srgbClr val="222B33"/>
                </a:solidFill>
                <a:latin typeface="Microsoft YaHei"/>
              </a:rPr>
              <a:t>▪ 用洗耳球、移液辅助器或移液器</a:t>
            </a:r>
          </a:p>
          <a:p>
            <a:pPr>
              <a:spcAft>
                <a:spcPts val="1000"/>
              </a:spcAft>
            </a:pPr>
            <a:r>
              <a:rPr sz="1700">
                <a:solidFill>
                  <a:srgbClr val="222B33"/>
                </a:solidFill>
                <a:latin typeface="Microsoft YaHei"/>
              </a:rPr>
              <a:t>▪ 化学、生物实验，规矩都一样</a:t>
            </a:r>
          </a:p>
          <a:p>
            <a:pPr>
              <a:spcAft>
                <a:spcPts val="1000"/>
              </a:spcAft>
            </a:pPr>
            <a:r>
              <a:rPr sz="1700">
                <a:solidFill>
                  <a:srgbClr val="222B33"/>
                </a:solidFill>
                <a:latin typeface="Microsoft YaHei"/>
              </a:rPr>
              <a:t>▪ 碎玻璃移液管放进锐器盒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嘴吸移液管是实验室的严禁行为：吸力稍大或注意力不集中，液体会直接进入口腔，造成化学灼伤、中毒或感染。这一要求对所有液体（包括清水、缓冲液）和所有实验室（化学、生物，包括一级生物安全实验室）都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觉得是清水就用嘴吸</a:t>
            </a:r>
          </a:p>
          <a:p>
            <a:pPr>
              <a:spcAft>
                <a:spcPts val="1000"/>
              </a:spcAft>
            </a:pPr>
            <a:r>
              <a:rPr sz="1500">
                <a:solidFill>
                  <a:srgbClr val="222B33"/>
                </a:solidFill>
                <a:latin typeface="Microsoft YaHei"/>
              </a:rPr>
              <a:t>▪ 没有洗耳球就“偶尔吸一下”</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按需少取，不伸进原瓶、不倒回原瓶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移液管不直接伸进原试剂瓶</a:t>
            </a:r>
          </a:p>
          <a:p>
            <a:pPr>
              <a:spcAft>
                <a:spcPts val="1000"/>
              </a:spcAft>
            </a:pPr>
            <a:r>
              <a:rPr sz="2000">
                <a:solidFill>
                  <a:srgbClr val="222B33"/>
                </a:solidFill>
                <a:latin typeface="Microsoft YaHei"/>
              </a:rPr>
              <a:t>▪ 先倒少量到小烧杯，再从中移取</a:t>
            </a:r>
          </a:p>
          <a:p>
            <a:pPr>
              <a:spcAft>
                <a:spcPts val="1000"/>
              </a:spcAft>
            </a:pPr>
            <a:r>
              <a:rPr sz="2000">
                <a:solidFill>
                  <a:srgbClr val="222B33"/>
                </a:solidFill>
                <a:latin typeface="Microsoft YaHei"/>
              </a:rPr>
              <a:t>▪ 多余试剂不倒回原瓶，防止污染</a:t>
            </a:r>
          </a:p>
          <a:p>
            <a:pPr>
              <a:spcAft>
                <a:spcPts val="1000"/>
              </a:spcAft>
            </a:pPr>
            <a:r>
              <a:rPr sz="2000">
                <a:solidFill>
                  <a:srgbClr val="222B33"/>
                </a:solidFill>
                <a:latin typeface="Microsoft YaHei"/>
              </a:rPr>
              <a:t>▪ 按需少取，剩余的按规定处理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移液管、药匙直接伸进原试剂瓶，会把杂质、水分或其他试剂带入整瓶，造成污染，甚至引发反应。正确做法是：估计用量，先把略多于所需的量倒入干净的小烧杯或称量容器，再从中移取。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把用过的移液管伸回原瓶再吸</a:t>
            </a:r>
          </a:p>
          <a:p>
            <a:pPr>
              <a:spcAft>
                <a:spcPts val="1000"/>
              </a:spcAft>
            </a:pPr>
            <a:r>
              <a:rPr sz="1500">
                <a:solidFill>
                  <a:srgbClr val="222B33"/>
                </a:solidFill>
                <a:latin typeface="Microsoft YaHei"/>
              </a:rPr>
              <a:t>▪ 把没用完的试剂倒回原瓶</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倾倒：标签朝手心，瓶盖倒放，动作果断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倒液体时标签朝手心，不污染标签</a:t>
            </a:r>
          </a:p>
          <a:p>
            <a:pPr>
              <a:spcAft>
                <a:spcPts val="1000"/>
              </a:spcAft>
            </a:pPr>
            <a:r>
              <a:rPr sz="2000">
                <a:solidFill>
                  <a:srgbClr val="222B33"/>
                </a:solidFill>
                <a:latin typeface="Microsoft YaHei"/>
              </a:rPr>
              <a:t>▪ 瓶盖倒放，不沾污台面</a:t>
            </a:r>
          </a:p>
          <a:p>
            <a:pPr>
              <a:spcAft>
                <a:spcPts val="1000"/>
              </a:spcAft>
            </a:pPr>
            <a:r>
              <a:rPr sz="2000">
                <a:solidFill>
                  <a:srgbClr val="222B33"/>
                </a:solidFill>
                <a:latin typeface="Microsoft YaHei"/>
              </a:rPr>
              <a:t>▪ 小口容器用漏斗，下面垫托盘</a:t>
            </a:r>
          </a:p>
          <a:p>
            <a:pPr>
              <a:spcAft>
                <a:spcPts val="1000"/>
              </a:spcAft>
            </a:pPr>
            <a:r>
              <a:rPr sz="2000">
                <a:solidFill>
                  <a:srgbClr val="222B33"/>
                </a:solidFill>
                <a:latin typeface="Microsoft YaHei"/>
              </a:rPr>
              <a:t>▪ 起倒、收尾干脆，防止液体顺壁流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倾倒液体时握住瓶身，标签朝向手心，这样即使有液体沿瓶口流下也不会腐蚀、污染标签，保证后来的人能看清名称和危害。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标签朝下倒，标签被腐蚀看不清</a:t>
            </a:r>
          </a:p>
          <a:p>
            <a:pPr>
              <a:spcAft>
                <a:spcPts val="1000"/>
              </a:spcAft>
            </a:pPr>
            <a:r>
              <a:rPr sz="1500">
                <a:solidFill>
                  <a:srgbClr val="222B33"/>
                </a:solidFill>
                <a:latin typeface="Microsoft YaHei"/>
              </a:rPr>
              <a:t>▪ 瓶盖口朝下放在台面上</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倒完擦净瓶外，随手盖紧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瓶口挂着的液滴不能不管</a:t>
            </a:r>
          </a:p>
          <a:p>
            <a:pPr>
              <a:spcAft>
                <a:spcPts val="1000"/>
              </a:spcAft>
            </a:pPr>
            <a:r>
              <a:rPr sz="2000">
                <a:solidFill>
                  <a:srgbClr val="222B33"/>
                </a:solidFill>
                <a:latin typeface="Microsoft YaHei"/>
              </a:rPr>
              <a:t>▪ 擦净瓶口和瓶身，防止下一个人接触</a:t>
            </a:r>
          </a:p>
          <a:p>
            <a:pPr>
              <a:spcAft>
                <a:spcPts val="1000"/>
              </a:spcAft>
            </a:pPr>
            <a:r>
              <a:rPr sz="2000">
                <a:solidFill>
                  <a:srgbClr val="222B33"/>
                </a:solidFill>
                <a:latin typeface="Microsoft YaHei"/>
              </a:rPr>
              <a:t>▪ 随开随盖，用完盖紧放回原处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倒完液体后，瓶口常挂着液滴，顺瓶壁流下会形成小洒漏，污染台面和试剂架，下一个拿瓶子的人可能直接接触到化学品。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瓶外留着流痕就放回架上</a:t>
            </a:r>
          </a:p>
          <a:p>
            <a:pPr>
              <a:spcAft>
                <a:spcPts val="1000"/>
              </a:spcAft>
            </a:pPr>
            <a:r>
              <a:rPr sz="1500">
                <a:solidFill>
                  <a:srgbClr val="222B33"/>
                </a:solidFill>
                <a:latin typeface="Microsoft YaHei"/>
              </a:rPr>
              <a:t>▪ 瓶盖只是搭在瓶口没拧紧</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称量粉末防扬尘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称粉末要防止粉尘扬起</a:t>
            </a:r>
          </a:p>
          <a:p>
            <a:pPr>
              <a:spcAft>
                <a:spcPts val="1000"/>
              </a:spcAft>
            </a:pPr>
            <a:r>
              <a:rPr sz="2000">
                <a:solidFill>
                  <a:srgbClr val="222B33"/>
                </a:solidFill>
                <a:latin typeface="Microsoft YaHei"/>
              </a:rPr>
              <a:t>▪ 轻取轻放，在天平防风罩内称量</a:t>
            </a:r>
          </a:p>
          <a:p>
            <a:pPr>
              <a:spcAft>
                <a:spcPts val="1000"/>
              </a:spcAft>
            </a:pPr>
            <a:r>
              <a:rPr sz="2000">
                <a:solidFill>
                  <a:srgbClr val="222B33"/>
                </a:solidFill>
                <a:latin typeface="Microsoft YaHei"/>
              </a:rPr>
              <a:t>▪ 有毒粉末在通风设施里称，戴好防护</a:t>
            </a:r>
          </a:p>
          <a:p>
            <a:pPr>
              <a:spcAft>
                <a:spcPts val="1000"/>
              </a:spcAft>
            </a:pPr>
            <a:r>
              <a:rPr sz="2000">
                <a:solidFill>
                  <a:srgbClr val="222B33"/>
                </a:solidFill>
                <a:latin typeface="Microsoft YaHei"/>
              </a:rPr>
              <a:t>▪ 称完清理天平，配好的母液贴标签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粉末状化学品容易在取用和称量时扬起，被吸入或落到皮肤、台面上。称量前先查阅安全技术说明书，穿戴实验服、手套和护目镜。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在敞开天平上快速倾倒粉末</a:t>
            </a:r>
          </a:p>
          <a:p>
            <a:pPr>
              <a:spcAft>
                <a:spcPts val="1000"/>
              </a:spcAft>
            </a:pPr>
            <a:r>
              <a:rPr sz="1500">
                <a:solidFill>
                  <a:srgbClr val="222B33"/>
                </a:solidFill>
                <a:latin typeface="Microsoft YaHei"/>
              </a:rPr>
              <a:t>▪ 称完不清理，粉末留在天平上</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化学品不随意带出实验室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化学品不能随身带出实验室</a:t>
            </a:r>
          </a:p>
          <a:p>
            <a:pPr>
              <a:spcAft>
                <a:spcPts val="1000"/>
              </a:spcAft>
            </a:pPr>
            <a:r>
              <a:rPr sz="2000">
                <a:solidFill>
                  <a:srgbClr val="222B33"/>
                </a:solidFill>
                <a:latin typeface="Microsoft YaHei"/>
              </a:rPr>
              <a:t>▪ 不带回宿舍，不带进公共场所</a:t>
            </a:r>
          </a:p>
          <a:p>
            <a:pPr>
              <a:spcAft>
                <a:spcPts val="1000"/>
              </a:spcAft>
            </a:pPr>
            <a:r>
              <a:rPr sz="2000">
                <a:solidFill>
                  <a:srgbClr val="222B33"/>
                </a:solidFill>
                <a:latin typeface="Microsoft YaHei"/>
              </a:rPr>
              <a:t>▪ 确需转移，先经老师同意并登记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化学品只能在实验室内按规定使用和存放，不得装进书包、口袋私自带出实验室，更不能带回宿舍、教室、食堂等公共场所。私带化学品既有中毒、火灾风险，也违反危险化学品管理规定。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把少量试剂装进小瓶带回宿舍</a:t>
            </a:r>
          </a:p>
          <a:p>
            <a:pPr>
              <a:spcAft>
                <a:spcPts val="1000"/>
              </a:spcAft>
            </a:pPr>
            <a:r>
              <a:rPr sz="1500">
                <a:solidFill>
                  <a:srgbClr val="222B33"/>
                </a:solidFill>
                <a:latin typeface="Microsoft YaHei"/>
              </a:rPr>
              <a:t>▪ 不登记就把试剂借给其他实验室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校内转移：二次容器和提篮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实验室之间转移，用防破碎的二次容器</a:t>
            </a:r>
          </a:p>
          <a:p>
            <a:pPr>
              <a:spcAft>
                <a:spcPts val="1000"/>
              </a:spcAft>
            </a:pPr>
            <a:r>
              <a:rPr sz="1700">
                <a:solidFill>
                  <a:srgbClr val="222B33"/>
                </a:solidFill>
                <a:latin typeface="Microsoft YaHei"/>
              </a:rPr>
              <a:t>▪ 瓶子破了也能兜住不洒</a:t>
            </a:r>
          </a:p>
          <a:p>
            <a:pPr>
              <a:spcAft>
                <a:spcPts val="1000"/>
              </a:spcAft>
            </a:pPr>
            <a:r>
              <a:rPr sz="1700">
                <a:solidFill>
                  <a:srgbClr val="222B33"/>
                </a:solidFill>
                <a:latin typeface="Microsoft YaHei"/>
              </a:rPr>
              <a:t>▪ 用带隔挡的提篮，双手平稳拿</a:t>
            </a:r>
          </a:p>
          <a:p>
            <a:pPr>
              <a:spcAft>
                <a:spcPts val="1000"/>
              </a:spcAft>
            </a:pPr>
            <a:r>
              <a:rPr sz="1700">
                <a:solidFill>
                  <a:srgbClr val="222B33"/>
                </a:solidFill>
                <a:latin typeface="Microsoft YaHei"/>
              </a:rPr>
              <a:t>▪ 单瓶托住瓶底，不拎瓶颈</a:t>
            </a:r>
          </a:p>
          <a:p>
            <a:pPr>
              <a:spcAft>
                <a:spcPts val="1000"/>
              </a:spcAft>
            </a:pPr>
            <a:r>
              <a:rPr sz="1700">
                <a:solidFill>
                  <a:srgbClr val="222B33"/>
                </a:solidFill>
                <a:latin typeface="Microsoft YaHei"/>
              </a:rPr>
              <a:t>▪ 一次别拿太多，不叠放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实验室之间、楼层之间转移化学品时，把试剂瓶放进防破碎的二次容器（如带盖的塑料桶、橡胶提桶、专用防护套），万一瓶子破裂，液体也能被兜住，不洒到走廊和楼梯上。易燃易爆化学品更要使用二次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抱着几个瓶子走长路</a:t>
            </a:r>
          </a:p>
          <a:p>
            <a:pPr>
              <a:spcAft>
                <a:spcPts val="1000"/>
              </a:spcAft>
            </a:pPr>
            <a:r>
              <a:rPr sz="1500">
                <a:solidFill>
                  <a:srgbClr val="222B33"/>
                </a:solidFill>
                <a:latin typeface="Microsoft YaHei"/>
              </a:rPr>
              <a:t>▪ 单手拎着瓶颈上下楼</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多瓶搬运用稳固推车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瓶子多就用带护边的推车</a:t>
            </a:r>
          </a:p>
          <a:p>
            <a:pPr>
              <a:spcAft>
                <a:spcPts val="1000"/>
              </a:spcAft>
            </a:pPr>
            <a:r>
              <a:rPr sz="2000">
                <a:solidFill>
                  <a:srgbClr val="222B33"/>
                </a:solidFill>
                <a:latin typeface="Microsoft YaHei"/>
              </a:rPr>
              <a:t>▪ 仪器车、小推车容易翻，不能用</a:t>
            </a:r>
          </a:p>
          <a:p>
            <a:pPr>
              <a:spcAft>
                <a:spcPts val="1000"/>
              </a:spcAft>
            </a:pPr>
            <a:r>
              <a:rPr sz="2000">
                <a:solidFill>
                  <a:srgbClr val="222B33"/>
                </a:solidFill>
                <a:latin typeface="Microsoft YaHei"/>
              </a:rPr>
              <a:t>▪ 地面不平用大轮稳固推车</a:t>
            </a:r>
          </a:p>
          <a:p>
            <a:pPr>
              <a:spcAft>
                <a:spcPts val="1000"/>
              </a:spcAft>
            </a:pPr>
            <a:r>
              <a:rPr sz="2000">
                <a:solidFill>
                  <a:srgbClr val="222B33"/>
                </a:solidFill>
                <a:latin typeface="Microsoft YaHei"/>
              </a:rPr>
              <a:t>▪ 慢慢推，走通畅的路线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需要搬运多瓶或较重的化学品时，不要抱着走长路，使用带护边（护栏）、轮子较大、重心低的化学品推车，瓶子放在托盘或二次容器里，防止滑落。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用无护边的小推车运试剂</a:t>
            </a:r>
          </a:p>
          <a:p>
            <a:pPr>
              <a:spcAft>
                <a:spcPts val="1000"/>
              </a:spcAft>
            </a:pPr>
            <a:r>
              <a:rPr sz="1500">
                <a:solidFill>
                  <a:srgbClr val="222B33"/>
                </a:solidFill>
                <a:latin typeface="Microsoft YaHei"/>
              </a:rPr>
              <a:t>▪ 推车堆得很高、走得很快</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运输：规范包装、标志和专业人员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危险货物包装要合规，粘贴包装标志</a:t>
            </a:r>
          </a:p>
          <a:p>
            <a:pPr>
              <a:spcAft>
                <a:spcPts val="1000"/>
              </a:spcAft>
            </a:pPr>
            <a:r>
              <a:rPr sz="1700">
                <a:solidFill>
                  <a:srgbClr val="222B33"/>
                </a:solidFill>
                <a:latin typeface="Microsoft YaHei"/>
              </a:rPr>
              <a:t>▪ 封装可靠，破损渗漏的不能运</a:t>
            </a:r>
          </a:p>
          <a:p>
            <a:pPr>
              <a:spcAft>
                <a:spcPts val="1000"/>
              </a:spcAft>
            </a:pPr>
            <a:r>
              <a:rPr sz="1700">
                <a:solidFill>
                  <a:srgbClr val="222B33"/>
                </a:solidFill>
                <a:latin typeface="Microsoft YaHei"/>
              </a:rPr>
              <a:t>▪ 不随身夹带，不用普通快递寄递</a:t>
            </a:r>
          </a:p>
          <a:p>
            <a:pPr>
              <a:spcAft>
                <a:spcPts val="1000"/>
              </a:spcAft>
            </a:pPr>
            <a:r>
              <a:rPr sz="1700">
                <a:solidFill>
                  <a:srgbClr val="222B33"/>
                </a:solidFill>
                <a:latin typeface="Microsoft YaHei"/>
              </a:rPr>
              <a:t>▪ 需要运输，通过学校走正规渠道</a:t>
            </a:r>
          </a:p>
          <a:p>
            <a:pPr>
              <a:spcAft>
                <a:spcPts val="1000"/>
              </a:spcAft>
            </a:pPr>
            <a:r>
              <a:rPr sz="1700">
                <a:solidFill>
                  <a:srgbClr val="222B33"/>
                </a:solidFill>
                <a:latin typeface="Microsoft YaHei"/>
              </a:rPr>
              <a:t>▪ 由培训合格的人员操作，懂得应急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校外运输的危险化学品属于危险货物，要按国家标准分类（GB 6944-2025、GB 12268-2025，以现行文本为准），使用合规的包装并可靠封装，包装上粘贴危险货物包装标志（GB 190-2009，以现行文本为准……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把试剂装进行李箱带上高铁</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用玻璃移液管吸取缓冲液，正确的做法是：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缓冲液无毒，可以用嘴吸</a:t>
            </a:r>
          </a:p>
          <a:p>
            <a:pPr algn="l"/>
            <a:r>
              <a:rPr sz="1500" b="0">
                <a:solidFill>
                  <a:srgbClr val="222B33"/>
                </a:solidFill>
                <a:latin typeface="Microsoft YaHei"/>
              </a:rPr>
              <a:t>B. 用洗耳球或移液辅助器</a:t>
            </a:r>
          </a:p>
          <a:p>
            <a:pPr algn="l"/>
            <a:r>
              <a:rPr sz="1500" b="0">
                <a:solidFill>
                  <a:srgbClr val="222B33"/>
                </a:solidFill>
                <a:latin typeface="Microsoft YaHei"/>
              </a:rPr>
              <a:t>C. 先用嘴吸一点再换洗耳球</a:t>
            </a:r>
          </a:p>
          <a:p>
            <a:pPr algn="l"/>
            <a:r>
              <a:rPr sz="1500" b="0">
                <a:solidFill>
                  <a:srgbClr val="222B33"/>
                </a:solidFill>
                <a:latin typeface="Microsoft YaHei"/>
              </a:rPr>
              <a:t>D. 直接把移液管伸进原试剂瓶用嘴吸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判断：取出的试剂没用完，只要没被污染，可以倒回原瓶。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倾倒试剂时，下列做法正确的是：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标签朝下</a:t>
            </a:r>
          </a:p>
          <a:p>
            <a:pPr algn="l"/>
            <a:r>
              <a:rPr sz="1500" b="0">
                <a:solidFill>
                  <a:srgbClr val="222B33"/>
                </a:solidFill>
                <a:latin typeface="Microsoft YaHei"/>
              </a:rPr>
              <a:t>B. 瓶盖口朝下放在台面</a:t>
            </a:r>
          </a:p>
          <a:p>
            <a:pPr algn="l"/>
            <a:r>
              <a:rPr sz="1500" b="0">
                <a:solidFill>
                  <a:srgbClr val="222B33"/>
                </a:solidFill>
                <a:latin typeface="Microsoft YaHei"/>
              </a:rPr>
              <a:t>C. 标签朝手心，瓶盖倒放，倒完擦净瓶外并盖紧</a:t>
            </a:r>
          </a:p>
          <a:p>
            <a:pPr algn="l"/>
            <a:r>
              <a:rPr sz="1500" b="0">
                <a:solidFill>
                  <a:srgbClr val="222B33"/>
                </a:solidFill>
                <a:latin typeface="Microsoft YaHei"/>
              </a:rPr>
              <a:t>D. 慢慢犹豫地倒</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需要把几瓶溶剂从一楼实验室送到三楼实验室，最合适的方式是：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抱在怀里走楼梯</a:t>
            </a:r>
          </a:p>
          <a:p>
            <a:pPr algn="l"/>
            <a:r>
              <a:rPr sz="1500" b="0">
                <a:solidFill>
                  <a:srgbClr val="222B33"/>
                </a:solidFill>
                <a:latin typeface="Microsoft YaHei"/>
              </a:rPr>
              <a:t>B. 单手拎着瓶颈</a:t>
            </a:r>
          </a:p>
          <a:p>
            <a:pPr algn="l"/>
            <a:r>
              <a:rPr sz="1500" b="0">
                <a:solidFill>
                  <a:srgbClr val="222B33"/>
                </a:solidFill>
                <a:latin typeface="Microsoft YaHei"/>
              </a:rPr>
              <a:t>C. 装进带隔挡的提篮或二次容器，瓶多时用带护边的推车</a:t>
            </a:r>
          </a:p>
          <a:p>
            <a:pPr algn="l"/>
            <a:r>
              <a:rPr sz="1500" b="0">
                <a:solidFill>
                  <a:srgbClr val="222B33"/>
                </a:solidFill>
                <a:latin typeface="Microsoft YaHei"/>
              </a:rPr>
              <a:t>D. 用普通仪器车快速推过去</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简答：课题组需要把一批危险化学品送到外地合作单位，应该怎么办？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取用前核对名称</a:t>
            </a:r>
          </a:p>
          <a:p>
            <a:pPr>
              <a:spcAft>
                <a:spcPts val="800"/>
              </a:spcAft>
            </a:pPr>
            <a:r>
              <a:rPr sz="1500">
                <a:solidFill>
                  <a:srgbClr val="FFFFFF"/>
                </a:solidFill>
                <a:latin typeface="Microsoft YaHei"/>
              </a:rPr>
              <a:t>▪ K2  不尝不凑闻，需要时扇闻</a:t>
            </a:r>
          </a:p>
          <a:p>
            <a:pPr>
              <a:spcAft>
                <a:spcPts val="800"/>
              </a:spcAft>
            </a:pPr>
            <a:r>
              <a:rPr sz="1500">
                <a:solidFill>
                  <a:srgbClr val="FFFFFF"/>
                </a:solidFill>
                <a:latin typeface="Microsoft YaHei"/>
              </a:rPr>
              <a:t>▪ K3  移液不用嘴吸，用洗耳球或移液器</a:t>
            </a:r>
          </a:p>
          <a:p>
            <a:pPr>
              <a:spcAft>
                <a:spcPts val="800"/>
              </a:spcAft>
            </a:pPr>
            <a:r>
              <a:rPr sz="1500">
                <a:solidFill>
                  <a:srgbClr val="FFFFFF"/>
                </a:solidFill>
                <a:latin typeface="Microsoft YaHei"/>
              </a:rPr>
              <a:t>▪ K4  按需少取，不伸进原瓶、不倒回原瓶</a:t>
            </a:r>
          </a:p>
          <a:p>
            <a:pPr>
              <a:spcAft>
                <a:spcPts val="800"/>
              </a:spcAft>
            </a:pPr>
            <a:r>
              <a:rPr sz="1500">
                <a:solidFill>
                  <a:srgbClr val="FFFFFF"/>
                </a:solidFill>
                <a:latin typeface="Microsoft YaHei"/>
              </a:rPr>
              <a:t>▪ K5  倾倒：标签朝手心，瓶盖倒放，动作果断</a:t>
            </a:r>
          </a:p>
          <a:p>
            <a:pPr>
              <a:spcAft>
                <a:spcPts val="800"/>
              </a:spcAft>
            </a:pPr>
            <a:r>
              <a:rPr sz="1500">
                <a:solidFill>
                  <a:srgbClr val="FFFFFF"/>
                </a:solidFill>
                <a:latin typeface="Microsoft YaHei"/>
              </a:rPr>
              <a:t>▪ K6  倒完擦净瓶外，随手盖紧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称量粉末防扬尘</a:t>
            </a:r>
          </a:p>
          <a:p>
            <a:pPr>
              <a:spcAft>
                <a:spcPts val="800"/>
              </a:spcAft>
            </a:pPr>
            <a:r>
              <a:rPr sz="1500">
                <a:solidFill>
                  <a:srgbClr val="FFFFFF"/>
                </a:solidFill>
                <a:latin typeface="Microsoft YaHei"/>
              </a:rPr>
              <a:t>▪ K8  化学品不随意带出实验室</a:t>
            </a:r>
          </a:p>
          <a:p>
            <a:pPr>
              <a:spcAft>
                <a:spcPts val="800"/>
              </a:spcAft>
            </a:pPr>
            <a:r>
              <a:rPr sz="1500">
                <a:solidFill>
                  <a:srgbClr val="FFFFFF"/>
                </a:solidFill>
                <a:latin typeface="Microsoft YaHei"/>
              </a:rPr>
              <a:t>▪ K9  校内转移：二次容器和提篮</a:t>
            </a:r>
          </a:p>
          <a:p>
            <a:pPr>
              <a:spcAft>
                <a:spcPts val="800"/>
              </a:spcAft>
            </a:pPr>
            <a:r>
              <a:rPr sz="1500">
                <a:solidFill>
                  <a:srgbClr val="FFFFFF"/>
                </a:solidFill>
                <a:latin typeface="Microsoft YaHei"/>
              </a:rPr>
              <a:t>▪ K10  多瓶搬运用稳固推车</a:t>
            </a:r>
          </a:p>
          <a:p>
            <a:pPr>
              <a:spcAft>
                <a:spcPts val="800"/>
              </a:spcAft>
            </a:pPr>
            <a:r>
              <a:rPr sz="1500">
                <a:solidFill>
                  <a:srgbClr val="FFFFFF"/>
                </a:solidFill>
                <a:latin typeface="Microsoft YaHei"/>
              </a:rPr>
              <a:t>▪ K11  运输：规范包装、标志和专业人员</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通风柜原理与实验室通风</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适用对象：全体使用化学通风柜和在化学类实验室工作的高校本科生、研究生和教职工（必修）；化学、化工、材料、环境、医学、生命科学等专业重点学习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能说出化学通风柜靠向内气流形成屏障、把有害物捕集并排到室外，从而护住呼吸带；面风速要在规定范围内，不是越大越好。</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能判断视窗高度、柜内杂物和大设备、人员走动、门窗和送风口等因素会打乱气流。</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能做到使用前查看检测合格标识和风量报警器，报警时“停、关、报”，检测和调整交给专业人员。</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能说出实验室全面通风要持续运行并保持负压，高氯酸等特殊危害要使用专用通风柜。</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日起施行）及《危险化学品安全管理条例》（以现行文本为准）：学校、科研机构使用危险化学品应具备相应的安全设施并保持正常使用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号，以现行文本为准）及高校实验室安全检查项目表：通风柜等安全设施的配置、定期检测和维护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JGJ 91（以现行文本为准）《科研建筑设计标准》：实验室通风、排风和气流组织的设计要求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本校实验室通风设施管理规定和通风柜检测制度：面风速、换气次数等具体指标以本校规定和设备标识为准</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通风柜：捕集排走有害物，护住呼吸带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很多化学品会放出有害的烟、雾、蒸气和粉尘</a:t>
            </a:r>
          </a:p>
          <a:p>
            <a:pPr>
              <a:spcAft>
                <a:spcPts val="1000"/>
              </a:spcAft>
            </a:pPr>
            <a:r>
              <a:rPr sz="2000">
                <a:solidFill>
                  <a:srgbClr val="222B33"/>
                </a:solidFill>
                <a:latin typeface="Microsoft YaHei"/>
              </a:rPr>
              <a:t>▪ 通风柜把污染物捕集并排走，护住呼吸带</a:t>
            </a:r>
          </a:p>
          <a:p>
            <a:pPr>
              <a:spcAft>
                <a:spcPts val="1000"/>
              </a:spcAft>
            </a:pPr>
            <a:r>
              <a:rPr sz="2000">
                <a:solidFill>
                  <a:srgbClr val="222B33"/>
                </a:solidFill>
                <a:latin typeface="Microsoft YaHei"/>
              </a:rPr>
              <a:t>▪ 有毒化学品实验在通风柜内进行</a:t>
            </a:r>
          </a:p>
          <a:p>
            <a:pPr>
              <a:spcAft>
                <a:spcPts val="1000"/>
              </a:spcAft>
            </a:pPr>
            <a:r>
              <a:rPr sz="2000">
                <a:solidFill>
                  <a:srgbClr val="222B33"/>
                </a:solidFill>
                <a:latin typeface="Microsoft YaHei"/>
              </a:rPr>
              <a:t>▪ 通风柜有多种形式，原理基本相同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许多化学品在使用中会放出有害的烟、雾、蒸气和颗粒物。人的口鼻周围的空气区域称为呼吸带，有害物进入呼吸带就会被吸入体内。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把通风柜当成普通储物柜或实验台</a:t>
            </a:r>
          </a:p>
          <a:p>
            <a:pPr>
              <a:spcAft>
                <a:spcPts val="1000"/>
              </a:spcAft>
            </a:pPr>
            <a:r>
              <a:rPr sz="1500">
                <a:solidFill>
                  <a:srgbClr val="222B33"/>
                </a:solidFill>
                <a:latin typeface="Microsoft YaHei"/>
              </a:rPr>
              <a:t>▪ 认为开窗通风就能代替通风柜</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工作原理：向内气流形成屏障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空气不断从柜口吸进柜内</a:t>
            </a:r>
          </a:p>
          <a:p>
            <a:pPr>
              <a:spcAft>
                <a:spcPts val="1000"/>
              </a:spcAft>
            </a:pPr>
            <a:r>
              <a:rPr sz="2000">
                <a:solidFill>
                  <a:srgbClr val="222B33"/>
                </a:solidFill>
                <a:latin typeface="Microsoft YaHei"/>
              </a:rPr>
              <a:t>▪ 柜口形成一道向内的空气屏障</a:t>
            </a:r>
          </a:p>
          <a:p>
            <a:pPr>
              <a:spcAft>
                <a:spcPts val="1000"/>
              </a:spcAft>
            </a:pPr>
            <a:r>
              <a:rPr sz="2000">
                <a:solidFill>
                  <a:srgbClr val="222B33"/>
                </a:solidFill>
                <a:latin typeface="Microsoft YaHei"/>
              </a:rPr>
              <a:t>▪ 污染物从柜后被抽走，经风管排到楼外稀释</a:t>
            </a:r>
          </a:p>
          <a:p>
            <a:pPr>
              <a:spcAft>
                <a:spcPts val="1000"/>
              </a:spcAft>
            </a:pPr>
            <a:r>
              <a:rPr sz="2000">
                <a:solidFill>
                  <a:srgbClr val="222B33"/>
                </a:solidFill>
                <a:latin typeface="Microsoft YaHei"/>
              </a:rPr>
              <a:t>▪ 视窗仍要尽量放低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排风机通过风管从柜内持续抽气，室内空气从柜口不断流入，在柜口形成一道向内的空气屏障（气帘），把柜内产生的污染物关在柜里。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以为通风柜会把有害物“过滤净化”后吹回室内</a:t>
            </a:r>
          </a:p>
          <a:p>
            <a:pPr>
              <a:spcAft>
                <a:spcPts val="1000"/>
              </a:spcAft>
            </a:pPr>
            <a:r>
              <a:rPr sz="1500">
                <a:solidFill>
                  <a:srgbClr val="222B33"/>
                </a:solidFill>
                <a:latin typeface="Microsoft YaHei"/>
              </a:rPr>
              <a:t>▪ 认为视窗开得越大越通风</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面风速在规定范围，不是越大越好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柜口的平均风速叫面风速</a:t>
            </a:r>
          </a:p>
          <a:p>
            <a:pPr>
              <a:spcAft>
                <a:spcPts val="1000"/>
              </a:spcAft>
            </a:pPr>
            <a:r>
              <a:rPr sz="2000">
                <a:solidFill>
                  <a:srgbClr val="222B33"/>
                </a:solidFill>
                <a:latin typeface="Microsoft YaHei"/>
              </a:rPr>
              <a:t>▪ 风速太小，挡不住蒸气</a:t>
            </a:r>
          </a:p>
          <a:p>
            <a:pPr>
              <a:spcAft>
                <a:spcPts val="1000"/>
              </a:spcAft>
            </a:pPr>
            <a:r>
              <a:rPr sz="2000">
                <a:solidFill>
                  <a:srgbClr val="222B33"/>
                </a:solidFill>
                <a:latin typeface="Microsoft YaHei"/>
              </a:rPr>
              <a:t>▪ 风速太大会起湍流，同样不好</a:t>
            </a:r>
          </a:p>
          <a:p>
            <a:pPr>
              <a:spcAft>
                <a:spcPts val="1000"/>
              </a:spcAft>
            </a:pPr>
            <a:r>
              <a:rPr sz="2000">
                <a:solidFill>
                  <a:srgbClr val="222B33"/>
                </a:solidFill>
                <a:latin typeface="Microsoft YaHei"/>
              </a:rPr>
              <a:t>▪ 要在规定范围内，以本校规定和设备标识为准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面风速是空气流过通风柜开口时的平均速度，反映向内气流的强弱。面风速过低，屏障太弱，蒸气容易逸出柜外。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自行把风量调到最大以为更安全</a:t>
            </a:r>
          </a:p>
          <a:p>
            <a:pPr>
              <a:spcAft>
                <a:spcPts val="1000"/>
              </a:spcAft>
            </a:pPr>
            <a:r>
              <a:rPr sz="1500">
                <a:solidFill>
                  <a:srgbClr val="222B33"/>
                </a:solidFill>
                <a:latin typeface="Microsoft YaHei"/>
              </a:rPr>
              <a:t>▪ 不知道本柜面风速是否合格就使用</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借烟雾和飘带看见气流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气流看不见，可借烟雾或飘带观察</a:t>
            </a:r>
          </a:p>
          <a:p>
            <a:pPr>
              <a:spcAft>
                <a:spcPts val="1000"/>
              </a:spcAft>
            </a:pPr>
            <a:r>
              <a:rPr sz="2000">
                <a:solidFill>
                  <a:srgbClr val="222B33"/>
                </a:solidFill>
                <a:latin typeface="Microsoft YaHei"/>
              </a:rPr>
              <a:t>▪ 白烟平稳往里走，说明气流方向正常</a:t>
            </a:r>
          </a:p>
          <a:p>
            <a:pPr>
              <a:spcAft>
                <a:spcPts val="1000"/>
              </a:spcAft>
            </a:pPr>
            <a:r>
              <a:rPr sz="2000">
                <a:solidFill>
                  <a:srgbClr val="222B33"/>
                </a:solidFill>
                <a:latin typeface="Microsoft YaHei"/>
              </a:rPr>
              <a:t>▪ 飘带只能看出风机在抽风，看不出风速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气流看不见、摸不着，可以借助烟雾或轻飘带直观地看到。柜口下沿贴一条轻飘带，风机开启时飘带向柜内飘动，说明柜子在抽风。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看到飘带往里飘就认为一定合格</a:t>
            </a:r>
          </a:p>
          <a:p>
            <a:pPr>
              <a:spcAft>
                <a:spcPts val="1000"/>
              </a:spcAft>
            </a:pPr>
            <a:r>
              <a:rPr sz="1500">
                <a:solidFill>
                  <a:srgbClr val="222B33"/>
                </a:solidFill>
                <a:latin typeface="Microsoft YaHei"/>
              </a:rPr>
              <a:t>▪ 在柜内点烟或燃烧物品“看气流”</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气流容易被打乱，不要干扰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柜内气流很容易被打乱</a:t>
            </a:r>
          </a:p>
          <a:p>
            <a:pPr>
              <a:spcAft>
                <a:spcPts val="1000"/>
              </a:spcAft>
            </a:pPr>
            <a:r>
              <a:rPr sz="2000">
                <a:solidFill>
                  <a:srgbClr val="222B33"/>
                </a:solidFill>
                <a:latin typeface="Microsoft YaHei"/>
              </a:rPr>
              <a:t>▪ 视窗高度、柜内杂物、人员走动、门窗都有影响</a:t>
            </a:r>
          </a:p>
          <a:p>
            <a:pPr>
              <a:spcAft>
                <a:spcPts val="1000"/>
              </a:spcAft>
            </a:pPr>
            <a:r>
              <a:rPr sz="2000">
                <a:solidFill>
                  <a:srgbClr val="222B33"/>
                </a:solidFill>
                <a:latin typeface="Microsoft YaHei"/>
              </a:rPr>
              <a:t>▪ 视窗开得越大，柜口风速越低</a:t>
            </a:r>
          </a:p>
          <a:p>
            <a:pPr>
              <a:spcAft>
                <a:spcPts val="1000"/>
              </a:spcAft>
            </a:pPr>
            <a:r>
              <a:rPr sz="2000">
                <a:solidFill>
                  <a:srgbClr val="222B33"/>
                </a:solidFill>
                <a:latin typeface="Microsoft YaHei"/>
              </a:rPr>
              <a:t>▪ 气流一乱，污染空气会跑出来，绝不能干扰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通风柜的保护效果依赖平稳的向内气流，而这种气流很容易被打断或改变。影响因素主要有：视窗高度、柜内堆放的物品和大设备、柜前人员走动和快速动作、门窗开关和送风口、风扇等横向气流。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柜内长期堆放试剂和杂物</a:t>
            </a:r>
          </a:p>
          <a:p>
            <a:pPr>
              <a:spcAft>
                <a:spcPts val="1000"/>
              </a:spcAft>
            </a:pPr>
            <a:r>
              <a:rPr sz="1500">
                <a:solidFill>
                  <a:srgbClr val="222B33"/>
                </a:solidFill>
                <a:latin typeface="Microsoft YaHei"/>
              </a:rPr>
              <a:t>▪ 视窗全开做实验</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柜内大设备要垫高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柜内大设备会挡住气流</a:t>
            </a:r>
          </a:p>
          <a:p>
            <a:pPr>
              <a:spcAft>
                <a:spcPts val="1000"/>
              </a:spcAft>
            </a:pPr>
            <a:r>
              <a:rPr sz="2000">
                <a:solidFill>
                  <a:srgbClr val="222B33"/>
                </a:solidFill>
                <a:latin typeface="Microsoft YaHei"/>
              </a:rPr>
              <a:t>▪ 把设备垫高，让空气从下面流过</a:t>
            </a:r>
          </a:p>
          <a:p>
            <a:pPr>
              <a:spcAft>
                <a:spcPts val="1000"/>
              </a:spcAft>
            </a:pPr>
            <a:r>
              <a:rPr sz="2000">
                <a:solidFill>
                  <a:srgbClr val="222B33"/>
                </a:solidFill>
                <a:latin typeface="Microsoft YaHei"/>
              </a:rPr>
              <a:t>▪ 设备不要贴着后部排风缝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旋转蒸发仪、加热浴、电炉等较大的设备直接放在柜内台面上，会挡住流向下部排风缝的气流，在设备前后形成旋涡。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大设备直接压在柜底台面上</a:t>
            </a:r>
          </a:p>
          <a:p>
            <a:pPr>
              <a:spcAft>
                <a:spcPts val="1000"/>
              </a:spcAft>
            </a:pPr>
            <a:r>
              <a:rPr sz="1500">
                <a:solidFill>
                  <a:srgbClr val="222B33"/>
                </a:solidFill>
                <a:latin typeface="Microsoft YaHei"/>
              </a:rPr>
              <a:t>▪ 设备紧贴后部导流板</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人员走动会把污染物拉出来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人走路时身后会带起旋涡</a:t>
            </a:r>
          </a:p>
          <a:p>
            <a:pPr>
              <a:spcAft>
                <a:spcPts val="1000"/>
              </a:spcAft>
            </a:pPr>
            <a:r>
              <a:rPr sz="2000">
                <a:solidFill>
                  <a:srgbClr val="222B33"/>
                </a:solidFill>
                <a:latin typeface="Microsoft YaHei"/>
              </a:rPr>
              <a:t>▪ 旋涡会把柜内污染物拉出柜外</a:t>
            </a:r>
          </a:p>
          <a:p>
            <a:pPr>
              <a:spcAft>
                <a:spcPts val="1000"/>
              </a:spcAft>
            </a:pPr>
            <a:r>
              <a:rPr sz="2000">
                <a:solidFill>
                  <a:srgbClr val="222B33"/>
                </a:solidFill>
                <a:latin typeface="Microsoft YaHei"/>
              </a:rPr>
              <a:t>▪ 有人在用通风柜，别贴着柜口走</a:t>
            </a:r>
          </a:p>
          <a:p>
            <a:pPr>
              <a:spcAft>
                <a:spcPts val="1000"/>
              </a:spcAft>
            </a:pPr>
            <a:r>
              <a:rPr sz="2000">
                <a:solidFill>
                  <a:srgbClr val="222B33"/>
                </a:solidFill>
                <a:latin typeface="Microsoft YaHei"/>
              </a:rPr>
              <a:t>▪ 柜前留出空间，绕开走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人在走动时，身体后方会形成空气旋涡。从正在使用的通风柜前快速走过，旋涡的作用可能超过柜口的向内气流，把柜内的污染物拉出柜外。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在别人正在使用的通风柜前来回穿行</a:t>
            </a:r>
          </a:p>
          <a:p>
            <a:pPr>
              <a:spcAft>
                <a:spcPts val="1000"/>
              </a:spcAft>
            </a:pPr>
            <a:r>
              <a:rPr sz="1500">
                <a:solidFill>
                  <a:srgbClr val="222B33"/>
                </a:solidFill>
                <a:latin typeface="Microsoft YaHei"/>
              </a:rPr>
              <a:t>▪ 多人围在一个通风柜前看热闹</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通风柜位置：远离门窗和送风口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通风柜的位置也影响效果</a:t>
            </a:r>
          </a:p>
          <a:p>
            <a:pPr>
              <a:spcAft>
                <a:spcPts val="1000"/>
              </a:spcAft>
            </a:pPr>
            <a:r>
              <a:rPr sz="2000">
                <a:solidFill>
                  <a:srgbClr val="222B33"/>
                </a:solidFill>
                <a:latin typeface="Microsoft YaHei"/>
              </a:rPr>
              <a:t>▪ 远离门、窗、风扇和天花板送风口</a:t>
            </a:r>
          </a:p>
          <a:p>
            <a:pPr>
              <a:spcAft>
                <a:spcPts val="1000"/>
              </a:spcAft>
            </a:pPr>
            <a:r>
              <a:rPr sz="2000">
                <a:solidFill>
                  <a:srgbClr val="222B33"/>
                </a:solidFill>
                <a:latin typeface="Microsoft YaHei"/>
              </a:rPr>
              <a:t>▪ 放在人少走动的地方</a:t>
            </a:r>
          </a:p>
          <a:p>
            <a:pPr>
              <a:spcAft>
                <a:spcPts val="1000"/>
              </a:spcAft>
            </a:pPr>
            <a:r>
              <a:rPr sz="2000">
                <a:solidFill>
                  <a:srgbClr val="222B33"/>
                </a:solidFill>
                <a:latin typeface="Microsoft YaHei"/>
              </a:rPr>
              <a:t>▪ 使用时不在柜旁开窗、开风扇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夏天在通风柜旁开电扇降温</a:t>
            </a:r>
          </a:p>
          <a:p>
            <a:pPr>
              <a:spcAft>
                <a:spcPts val="1000"/>
              </a:spcAft>
            </a:pPr>
            <a:r>
              <a:rPr sz="1500">
                <a:solidFill>
                  <a:srgbClr val="222B33"/>
                </a:solidFill>
                <a:latin typeface="Microsoft YaHei"/>
              </a:rPr>
              <a:t>▪ 自行移动通风柜或改动送风口</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定期检测，用前看合格标识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新装、通风改造后和平时都要定期检测</a:t>
            </a:r>
          </a:p>
          <a:p>
            <a:pPr>
              <a:spcAft>
                <a:spcPts val="1000"/>
              </a:spcAft>
            </a:pPr>
            <a:r>
              <a:rPr sz="2000">
                <a:solidFill>
                  <a:srgbClr val="222B33"/>
                </a:solidFill>
                <a:latin typeface="Microsoft YaHei"/>
              </a:rPr>
              <a:t>▪ 检测合格贴有检测标识，有记录</a:t>
            </a:r>
          </a:p>
          <a:p>
            <a:pPr>
              <a:spcAft>
                <a:spcPts val="1000"/>
              </a:spcAft>
            </a:pPr>
            <a:r>
              <a:rPr sz="2000">
                <a:solidFill>
                  <a:srgbClr val="222B33"/>
                </a:solidFill>
                <a:latin typeface="Microsoft YaHei"/>
              </a:rPr>
              <a:t>▪ 用前看标识：检测过没有、过没过期</a:t>
            </a:r>
          </a:p>
          <a:p>
            <a:pPr>
              <a:spcAft>
                <a:spcPts val="1000"/>
              </a:spcAft>
            </a:pPr>
            <a:r>
              <a:rPr sz="2000">
                <a:solidFill>
                  <a:srgbClr val="222B33"/>
                </a:solidFill>
                <a:latin typeface="Microsoft YaHei"/>
              </a:rPr>
              <a:t>▪ 无标识或过期就当不合格，报告报修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通风柜在新安装、实验室通风系统改造后，以及使用期间定期都要进行性能检测，检测结果记录在案，合格的贴有检测标识。风机在响、听着在转，不等于合格。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只凭风机声音判断通风柜好坏</a:t>
            </a:r>
          </a:p>
          <a:p>
            <a:pPr>
              <a:spcAft>
                <a:spcPts val="1000"/>
              </a:spcAft>
            </a:pPr>
            <a:r>
              <a:rPr sz="1500">
                <a:solidFill>
                  <a:srgbClr val="222B33"/>
                </a:solidFill>
                <a:latin typeface="Microsoft YaHei"/>
              </a:rPr>
              <a:t>▪ 标识过期仍继续使用</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性能检测和调整交给专业人员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专业人员用仪器在柜口逐格测面风速</a:t>
            </a:r>
          </a:p>
          <a:p>
            <a:pPr>
              <a:spcAft>
                <a:spcPts val="1000"/>
              </a:spcAft>
            </a:pPr>
            <a:r>
              <a:rPr sz="2000">
                <a:solidFill>
                  <a:srgbClr val="222B33"/>
                </a:solidFill>
                <a:latin typeface="Microsoft YaHei"/>
              </a:rPr>
              <a:t>▪ 还要检查柜前横风和发烟气流有无外溢</a:t>
            </a:r>
          </a:p>
          <a:p>
            <a:pPr>
              <a:spcAft>
                <a:spcPts val="1000"/>
              </a:spcAft>
            </a:pPr>
            <a:r>
              <a:rPr sz="2000">
                <a:solidFill>
                  <a:srgbClr val="222B33"/>
                </a:solidFill>
                <a:latin typeface="Microsoft YaHei"/>
              </a:rPr>
              <a:t>▪ 不合格的调整好之前不能使用</a:t>
            </a:r>
          </a:p>
          <a:p>
            <a:pPr>
              <a:spcAft>
                <a:spcPts val="1000"/>
              </a:spcAft>
            </a:pPr>
            <a:r>
              <a:rPr sz="2000">
                <a:solidFill>
                  <a:srgbClr val="222B33"/>
                </a:solidFill>
                <a:latin typeface="Microsoft YaHei"/>
              </a:rPr>
              <a:t>▪ 学生不自己拧导流板、改风量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嫌风大自己调小风阀</a:t>
            </a:r>
          </a:p>
          <a:p>
            <a:pPr>
              <a:spcAft>
                <a:spcPts val="1000"/>
              </a:spcAft>
            </a:pPr>
            <a:r>
              <a:rPr sz="1500">
                <a:solidFill>
                  <a:srgbClr val="222B33"/>
                </a:solidFill>
                <a:latin typeface="Microsoft YaHei"/>
              </a:rPr>
              <a:t>▪ 用纸条代替风速检测</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风量报警器要能用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每台通风柜都应有风量监测和报警装置</a:t>
            </a:r>
          </a:p>
          <a:p>
            <a:pPr>
              <a:spcAft>
                <a:spcPts val="1000"/>
              </a:spcAft>
            </a:pPr>
            <a:r>
              <a:rPr sz="2000">
                <a:solidFill>
                  <a:srgbClr val="222B33"/>
                </a:solidFill>
                <a:latin typeface="Microsoft YaHei"/>
              </a:rPr>
              <a:t>▪ 风量不足时会发出声光报警</a:t>
            </a:r>
          </a:p>
          <a:p>
            <a:pPr>
              <a:spcAft>
                <a:spcPts val="1000"/>
              </a:spcAft>
            </a:pPr>
            <a:r>
              <a:rPr sz="2000">
                <a:solidFill>
                  <a:srgbClr val="222B33"/>
                </a:solidFill>
                <a:latin typeface="Microsoft YaHei"/>
              </a:rPr>
              <a:t>▪ 声音提示别关掉，低头干活也能发现</a:t>
            </a:r>
          </a:p>
          <a:p>
            <a:pPr>
              <a:spcAft>
                <a:spcPts val="1000"/>
              </a:spcAft>
            </a:pPr>
            <a:r>
              <a:rPr sz="2000">
                <a:solidFill>
                  <a:srgbClr val="222B33"/>
                </a:solidFill>
                <a:latin typeface="Microsoft YaHei"/>
              </a:rPr>
              <a:t>▪ 报警功能定期测试并记录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通风柜应配有风量（风速）监测显示和报警装置，风量低于设定值时发出灯光和声音报警，提醒操作者保护已经失效。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嫌吵把报警声音关掉</a:t>
            </a:r>
          </a:p>
          <a:p>
            <a:pPr>
              <a:spcAft>
                <a:spcPts val="1000"/>
              </a:spcAft>
            </a:pPr>
            <a:r>
              <a:rPr sz="1500">
                <a:solidFill>
                  <a:srgbClr val="222B33"/>
                </a:solidFill>
                <a:latin typeface="Microsoft YaHei"/>
              </a:rPr>
              <a:t>▪ 报警灯一直亮着也不理会</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报警了：停、关、报，再复位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一旦报警，马上停止工作</a:t>
            </a:r>
          </a:p>
          <a:p>
            <a:pPr>
              <a:spcAft>
                <a:spcPts val="1000"/>
              </a:spcAft>
            </a:pPr>
            <a:r>
              <a:rPr sz="2000">
                <a:solidFill>
                  <a:srgbClr val="222B33"/>
                </a:solidFill>
                <a:latin typeface="Microsoft YaHei"/>
              </a:rPr>
              <a:t>▪ 盖好容器，把视窗拉下来</a:t>
            </a:r>
          </a:p>
          <a:p>
            <a:pPr>
              <a:spcAft>
                <a:spcPts val="1000"/>
              </a:spcAft>
            </a:pPr>
            <a:r>
              <a:rPr sz="2000">
                <a:solidFill>
                  <a:srgbClr val="222B33"/>
                </a:solidFill>
                <a:latin typeface="Microsoft YaHei"/>
              </a:rPr>
              <a:t>▪ 报告实验室负责人和学院安全管理员</a:t>
            </a:r>
          </a:p>
          <a:p>
            <a:pPr>
              <a:spcAft>
                <a:spcPts val="1000"/>
              </a:spcAft>
            </a:pPr>
            <a:r>
              <a:rPr sz="2000">
                <a:solidFill>
                  <a:srgbClr val="222B33"/>
                </a:solidFill>
                <a:latin typeface="Microsoft YaHei"/>
              </a:rPr>
              <a:t>▪ 处理好后按说明书复位报警器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通风柜一旦报警，说明排风可能不足，立即按“停、关、报”处理：停止实验操作，关闭热源，盖好容器；把视窗拉下关闭；报告实验室负责人和学院实验室安全管理员，联系设施维修人员。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自己按掉报警就继续操作</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全面通风持续运行，实验室保持负压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实验室通风要持续运行，不断换气</a:t>
            </a:r>
          </a:p>
          <a:p>
            <a:pPr>
              <a:spcAft>
                <a:spcPts val="1000"/>
              </a:spcAft>
            </a:pPr>
            <a:r>
              <a:rPr sz="2000">
                <a:solidFill>
                  <a:srgbClr val="222B33"/>
                </a:solidFill>
                <a:latin typeface="Microsoft YaHei"/>
              </a:rPr>
              <a:t>▪ 换气次数按设计和本校规定</a:t>
            </a:r>
          </a:p>
          <a:p>
            <a:pPr>
              <a:spcAft>
                <a:spcPts val="1000"/>
              </a:spcAft>
            </a:pPr>
            <a:r>
              <a:rPr sz="2000">
                <a:solidFill>
                  <a:srgbClr val="222B33"/>
                </a:solidFill>
                <a:latin typeface="Microsoft YaHei"/>
              </a:rPr>
              <a:t>▪ 排风不能只靠通风柜一个出口</a:t>
            </a:r>
          </a:p>
          <a:p>
            <a:pPr>
              <a:spcAft>
                <a:spcPts val="1000"/>
              </a:spcAft>
            </a:pPr>
            <a:r>
              <a:rPr sz="2000">
                <a:solidFill>
                  <a:srgbClr val="222B33"/>
                </a:solidFill>
                <a:latin typeface="Microsoft YaHei"/>
              </a:rPr>
              <a:t>▪ 实验室保持负压，门别长开、风口别堵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除通风柜等局部排风外，化学实验室还要有全面通风，持续运行、不断换气，稀释和排出逸散到室内的有害气体。换气次数按实验室设计和本校规定执行，不能只靠通风柜作为唯一的排风出口。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下班就关掉实验室全部排风</a:t>
            </a:r>
          </a:p>
          <a:p>
            <a:pPr>
              <a:spcAft>
                <a:spcPts val="1000"/>
              </a:spcAft>
            </a:pPr>
            <a:r>
              <a:rPr sz="1500">
                <a:solidFill>
                  <a:srgbClr val="222B33"/>
                </a:solidFill>
                <a:latin typeface="Microsoft YaHei"/>
              </a:rPr>
              <a:t>▪ 用纸板堵住排风口防噪声</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特殊用途通风柜：高氯酸专用柜等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有专门对付特殊危害的通风柜</a:t>
            </a:r>
          </a:p>
          <a:p>
            <a:pPr>
              <a:spcAft>
                <a:spcPts val="1000"/>
              </a:spcAft>
            </a:pPr>
            <a:r>
              <a:rPr sz="2000">
                <a:solidFill>
                  <a:srgbClr val="222B33"/>
                </a:solidFill>
                <a:latin typeface="Microsoft YaHei"/>
              </a:rPr>
              <a:t>▪ 高氯酸专用柜能用水冲洗柜体和风管</a:t>
            </a:r>
          </a:p>
          <a:p>
            <a:pPr>
              <a:spcAft>
                <a:spcPts val="1000"/>
              </a:spcAft>
            </a:pPr>
            <a:r>
              <a:rPr sz="2000">
                <a:solidFill>
                  <a:srgbClr val="222B33"/>
                </a:solidFill>
                <a:latin typeface="Microsoft YaHei"/>
              </a:rPr>
              <a:t>▪ 高氯酸柜内绝不能放有机物</a:t>
            </a:r>
          </a:p>
          <a:p>
            <a:pPr>
              <a:spcAft>
                <a:spcPts val="1000"/>
              </a:spcAft>
            </a:pPr>
            <a:r>
              <a:rPr sz="2000">
                <a:solidFill>
                  <a:srgbClr val="222B33"/>
                </a:solidFill>
                <a:latin typeface="Microsoft YaHei"/>
              </a:rPr>
              <a:t>▪ 放射性操作使用专用通风柜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除普通化学通风柜外，还有针对特殊危害的专用通风柜，平时不常用，但要知道它们的用途，不能混用。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在普通通风柜里加热高氯酸</a:t>
            </a:r>
          </a:p>
          <a:p>
            <a:pPr>
              <a:spcAft>
                <a:spcPts val="1000"/>
              </a:spcAft>
            </a:pPr>
            <a:r>
              <a:rPr sz="1500">
                <a:solidFill>
                  <a:srgbClr val="222B33"/>
                </a:solidFill>
                <a:latin typeface="Microsoft YaHei"/>
              </a:rPr>
              <a:t>▪ 在高氯酸专用柜里放有机溶剂</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化学通风柜保护操作者的主要原理是：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把有害气体过滤后吹回室内</a:t>
            </a:r>
          </a:p>
          <a:p>
            <a:pPr algn="l"/>
            <a:r>
              <a:rPr sz="1500" b="0">
                <a:solidFill>
                  <a:srgbClr val="222B33"/>
                </a:solidFill>
                <a:latin typeface="Microsoft YaHei"/>
              </a:rPr>
              <a:t>B. 柜口形成向内的气流屏障，把污染物抽走排到室外</a:t>
            </a:r>
          </a:p>
          <a:p>
            <a:pPr algn="l"/>
            <a:r>
              <a:rPr sz="1500" b="0">
                <a:solidFill>
                  <a:srgbClr val="222B33"/>
                </a:solidFill>
                <a:latin typeface="Microsoft YaHei"/>
              </a:rPr>
              <a:t>C. 靠视窗玻璃完全密封</a:t>
            </a:r>
          </a:p>
          <a:p>
            <a:pPr algn="l"/>
            <a:r>
              <a:rPr sz="1500" b="0">
                <a:solidFill>
                  <a:srgbClr val="222B33"/>
                </a:solidFill>
                <a:latin typeface="Microsoft YaHei"/>
              </a:rPr>
              <a:t>D. 靠柜内的照明灯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判断：通风柜的面风速越大越安全。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下列做法中，会干扰通风柜气流的是：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把大设备垫高</a:t>
            </a:r>
          </a:p>
          <a:p>
            <a:pPr algn="l"/>
            <a:r>
              <a:rPr sz="1500" b="0">
                <a:solidFill>
                  <a:srgbClr val="222B33"/>
                </a:solidFill>
                <a:latin typeface="Microsoft YaHei"/>
              </a:rPr>
              <a:t>B. 在别人使用的通风柜前来回快速走动</a:t>
            </a:r>
          </a:p>
          <a:p>
            <a:pPr algn="l"/>
            <a:r>
              <a:rPr sz="1500" b="0">
                <a:solidFill>
                  <a:srgbClr val="222B33"/>
                </a:solidFill>
                <a:latin typeface="Microsoft YaHei"/>
              </a:rPr>
              <a:t>C. 视窗放低</a:t>
            </a:r>
          </a:p>
          <a:p>
            <a:pPr algn="l"/>
            <a:r>
              <a:rPr sz="1500" b="0">
                <a:solidFill>
                  <a:srgbClr val="222B33"/>
                </a:solidFill>
                <a:latin typeface="Microsoft YaHei"/>
              </a:rPr>
              <a:t>D. 柜内少放物品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使用通风柜时风量报警器响了，正确的做法是：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按掉报警继续做完</a:t>
            </a:r>
          </a:p>
          <a:p>
            <a:pPr algn="l"/>
            <a:r>
              <a:rPr sz="1500" b="0">
                <a:solidFill>
                  <a:srgbClr val="222B33"/>
                </a:solidFill>
                <a:latin typeface="Microsoft YaHei"/>
              </a:rPr>
              <a:t>B. 把视窗开大加强通风</a:t>
            </a:r>
          </a:p>
          <a:p>
            <a:pPr algn="l"/>
            <a:r>
              <a:rPr sz="1500" b="0">
                <a:solidFill>
                  <a:srgbClr val="222B33"/>
                </a:solidFill>
                <a:latin typeface="Microsoft YaHei"/>
              </a:rPr>
              <a:t>C. 停止操作、盖好容器、拉下视窗，报告负责人和学院安全管理员</a:t>
            </a:r>
          </a:p>
          <a:p>
            <a:pPr algn="l"/>
            <a:r>
              <a:rPr sz="1500" b="0">
                <a:solidFill>
                  <a:srgbClr val="222B33"/>
                </a:solidFill>
                <a:latin typeface="Microsoft YaHei"/>
              </a:rPr>
              <a:t>D. 关掉声音只看灯</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简答：为什么下班后不能把实验室的全面通风全部关掉？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通风柜：捕集排走有害物，护住呼吸带</a:t>
            </a:r>
          </a:p>
          <a:p>
            <a:pPr>
              <a:spcAft>
                <a:spcPts val="800"/>
              </a:spcAft>
            </a:pPr>
            <a:r>
              <a:rPr sz="1500">
                <a:solidFill>
                  <a:srgbClr val="FFFFFF"/>
                </a:solidFill>
                <a:latin typeface="Microsoft YaHei"/>
              </a:rPr>
              <a:t>▪ K2  工作原理：向内气流形成屏障</a:t>
            </a:r>
          </a:p>
          <a:p>
            <a:pPr>
              <a:spcAft>
                <a:spcPts val="800"/>
              </a:spcAft>
            </a:pPr>
            <a:r>
              <a:rPr sz="1500">
                <a:solidFill>
                  <a:srgbClr val="FFFFFF"/>
                </a:solidFill>
                <a:latin typeface="Microsoft YaHei"/>
              </a:rPr>
              <a:t>▪ K3  面风速在规定范围，不是越大越好</a:t>
            </a:r>
          </a:p>
          <a:p>
            <a:pPr>
              <a:spcAft>
                <a:spcPts val="800"/>
              </a:spcAft>
            </a:pPr>
            <a:r>
              <a:rPr sz="1500">
                <a:solidFill>
                  <a:srgbClr val="FFFFFF"/>
                </a:solidFill>
                <a:latin typeface="Microsoft YaHei"/>
              </a:rPr>
              <a:t>▪ K4  借烟雾和飘带看见气流</a:t>
            </a:r>
          </a:p>
          <a:p>
            <a:pPr>
              <a:spcAft>
                <a:spcPts val="800"/>
              </a:spcAft>
            </a:pPr>
            <a:r>
              <a:rPr sz="1500">
                <a:solidFill>
                  <a:srgbClr val="FFFFFF"/>
                </a:solidFill>
                <a:latin typeface="Microsoft YaHei"/>
              </a:rPr>
              <a:t>▪ K5  气流容易被打乱，不要干扰</a:t>
            </a:r>
          </a:p>
          <a:p>
            <a:pPr>
              <a:spcAft>
                <a:spcPts val="800"/>
              </a:spcAft>
            </a:pPr>
            <a:r>
              <a:rPr sz="1500">
                <a:solidFill>
                  <a:srgbClr val="FFFFFF"/>
                </a:solidFill>
                <a:latin typeface="Microsoft YaHei"/>
              </a:rPr>
              <a:t>▪ K6  柜内大设备要垫高</a:t>
            </a:r>
          </a:p>
          <a:p>
            <a:pPr>
              <a:spcAft>
                <a:spcPts val="800"/>
              </a:spcAft>
            </a:pPr>
            <a:r>
              <a:rPr sz="1500">
                <a:solidFill>
                  <a:srgbClr val="FFFFFF"/>
                </a:solidFill>
                <a:latin typeface="Microsoft YaHei"/>
              </a:rPr>
              <a:t>▪ K7  人员走动会把污染物拉出来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通风柜位置：远离门窗和送风口</a:t>
            </a:r>
          </a:p>
          <a:p>
            <a:pPr>
              <a:spcAft>
                <a:spcPts val="800"/>
              </a:spcAft>
            </a:pPr>
            <a:r>
              <a:rPr sz="1500">
                <a:solidFill>
                  <a:srgbClr val="FFFFFF"/>
                </a:solidFill>
                <a:latin typeface="Microsoft YaHei"/>
              </a:rPr>
              <a:t>▪ K9  定期检测，用前看合格标识</a:t>
            </a:r>
          </a:p>
          <a:p>
            <a:pPr>
              <a:spcAft>
                <a:spcPts val="800"/>
              </a:spcAft>
            </a:pPr>
            <a:r>
              <a:rPr sz="1500">
                <a:solidFill>
                  <a:srgbClr val="FFFFFF"/>
                </a:solidFill>
                <a:latin typeface="Microsoft YaHei"/>
              </a:rPr>
              <a:t>▪ K10  性能检测和调整交给专业人员</a:t>
            </a:r>
          </a:p>
          <a:p>
            <a:pPr>
              <a:spcAft>
                <a:spcPts val="800"/>
              </a:spcAft>
            </a:pPr>
            <a:r>
              <a:rPr sz="1500">
                <a:solidFill>
                  <a:srgbClr val="FFFFFF"/>
                </a:solidFill>
                <a:latin typeface="Microsoft YaHei"/>
              </a:rPr>
              <a:t>▪ K11  风量报警器要能用</a:t>
            </a:r>
          </a:p>
          <a:p>
            <a:pPr>
              <a:spcAft>
                <a:spcPts val="800"/>
              </a:spcAft>
            </a:pPr>
            <a:r>
              <a:rPr sz="1500">
                <a:solidFill>
                  <a:srgbClr val="FFFFFF"/>
                </a:solidFill>
                <a:latin typeface="Microsoft YaHei"/>
              </a:rPr>
              <a:t>▪ K12  报警了：停、关、报，再复位</a:t>
            </a:r>
          </a:p>
          <a:p>
            <a:pPr>
              <a:spcAft>
                <a:spcPts val="800"/>
              </a:spcAft>
            </a:pPr>
            <a:r>
              <a:rPr sz="1500">
                <a:solidFill>
                  <a:srgbClr val="FFFFFF"/>
                </a:solidFill>
                <a:latin typeface="Microsoft YaHei"/>
              </a:rPr>
              <a:t>▪ K13  全面通风持续运行，实验室保持负压</a:t>
            </a:r>
          </a:p>
          <a:p>
            <a:pPr>
              <a:spcAft>
                <a:spcPts val="800"/>
              </a:spcAft>
            </a:pPr>
            <a:r>
              <a:rPr sz="1500">
                <a:solidFill>
                  <a:srgbClr val="FFFFFF"/>
                </a:solidFill>
                <a:latin typeface="Microsoft YaHei"/>
              </a:rPr>
              <a:t>▪ K14  特殊用途通风柜：高氯酸专用柜等</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通风柜的正确使用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适用对象：全体使用化学通风柜的高校本科生、研究生和教职工（必修，上机操作前完成）；化学、化工、材料、环境、医学、生命科学等专业重点学习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能判断哪些操作必须在通风柜内进行：可能产生有害气体、挥发性或有毒化学品、加热易燃溶剂、蒸馏、升华等。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能做到使用前开风机、确认向内气流和风速指示、查看检测标识，穿戴好个人防护。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能做到视窗拉到标线以下、站着操作、头不伸进柜内、在柜内深处操作、动作轻缓，柜内不堆放、不挡风口、不敞放废液、不擅自改动。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能做到报警或停风时“停、盖、关、撤、报”，用完清理台面、关闭视窗。</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日起施行）及《危险化学品安全管理条例》（以现行文本为准）：学校、科研机构使用危险化学品应遵守操作规程，保证安全设施正常使用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号，以现行文本为准）及高校实验室安全检查项目表：通风柜的使用、柜内不得堆放化学品等要求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14866-2023（以现行文本为准）《眼面防护具通用技术规范》：柜内操作时护目镜、面屏的选用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《国家危险废物名录》（以现行版本为准）：实验废液按危险废物分类收集，不得敞口挥发或倒入下水道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本校实验室通风柜使用管理规定和应急预案：视窗高度、操作距离等以本校规定和设备标识为准</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装好只是一半，用对才完整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通风柜装得好只是一半，用得对才完整</a:t>
            </a:r>
          </a:p>
          <a:p>
            <a:pPr>
              <a:spcAft>
                <a:spcPts val="1000"/>
              </a:spcAft>
            </a:pPr>
            <a:r>
              <a:rPr sz="2000">
                <a:solidFill>
                  <a:srgbClr val="222B33"/>
                </a:solidFill>
                <a:latin typeface="Microsoft YaHei"/>
              </a:rPr>
              <a:t>▪ 保护效果很大程度取决于使用习惯</a:t>
            </a:r>
          </a:p>
          <a:p>
            <a:pPr>
              <a:spcAft>
                <a:spcPts val="1000"/>
              </a:spcAft>
            </a:pPr>
            <a:r>
              <a:rPr sz="2000">
                <a:solidFill>
                  <a:srgbClr val="222B33"/>
                </a:solidFill>
                <a:latin typeface="Microsoft YaHei"/>
              </a:rPr>
              <a:t>▪ 需要进柜做的操作，本身就有危险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通风柜的保护效果，一半取决于设计、安装和检测（见第 051 课），另一半取决于使用者的操作习惯。视窗开得太高、头伸进柜内、柜内堆满杂物，都会让一台合格的通风柜失去保护作用。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认为“有通风柜就安全了”，不注意使用方法</a:t>
            </a:r>
          </a:p>
          <a:p>
            <a:pPr>
              <a:spcAft>
                <a:spcPts val="1000"/>
              </a:spcAft>
            </a:pPr>
            <a:r>
              <a:rPr sz="1500">
                <a:solidFill>
                  <a:srgbClr val="222B33"/>
                </a:solidFill>
                <a:latin typeface="Microsoft YaHei"/>
              </a:rPr>
              <a:t>▪ 做“小量”实验就不进通风柜</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有害、挥发、易燃加热的操作进柜做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可能产生有害气体的操作，在通风柜里做</a:t>
            </a:r>
          </a:p>
          <a:p>
            <a:pPr>
              <a:spcAft>
                <a:spcPts val="1000"/>
              </a:spcAft>
            </a:pPr>
            <a:r>
              <a:rPr sz="1700">
                <a:solidFill>
                  <a:srgbClr val="222B33"/>
                </a:solidFill>
                <a:latin typeface="Microsoft YaHei"/>
              </a:rPr>
              <a:t>▪ 挥发、有毒的化学品不在敞开台面倾倒</a:t>
            </a:r>
          </a:p>
          <a:p>
            <a:pPr>
              <a:spcAft>
                <a:spcPts val="1000"/>
              </a:spcAft>
            </a:pPr>
            <a:r>
              <a:rPr sz="1700">
                <a:solidFill>
                  <a:srgbClr val="222B33"/>
                </a:solidFill>
                <a:latin typeface="Microsoft YaHei"/>
              </a:rPr>
              <a:t>▪ 加热易燃溶剂、蒸馏、升华、重结晶进柜做</a:t>
            </a:r>
          </a:p>
          <a:p>
            <a:pPr>
              <a:spcAft>
                <a:spcPts val="1000"/>
              </a:spcAft>
            </a:pPr>
            <a:r>
              <a:rPr sz="1700">
                <a:solidFill>
                  <a:srgbClr val="222B33"/>
                </a:solidFill>
                <a:latin typeface="Microsoft YaHei"/>
              </a:rPr>
              <a:t>▪ 装置通大气的出口引向排风处</a:t>
            </a:r>
          </a:p>
          <a:p>
            <a:pPr>
              <a:spcAft>
                <a:spcPts val="1000"/>
              </a:spcAft>
            </a:pPr>
            <a:r>
              <a:rPr sz="1700">
                <a:solidFill>
                  <a:srgbClr val="222B33"/>
                </a:solidFill>
                <a:latin typeface="Microsoft YaHei"/>
              </a:rPr>
              <a:t>▪ 病原微生物操作用生物安全柜，不用通风柜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凡可能产生有害气体、烟雾或粉尘的操作，挥发性、有毒、有刺激性化学品的取用和倾倒，都应在化学通风柜内进行，不在敞开的实验台上图省事，也不凑近闻。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在敞开台面上煮沸有机溶剂</a:t>
            </a:r>
          </a:p>
          <a:p>
            <a:pPr>
              <a:spcAft>
                <a:spcPts val="1000"/>
              </a:spcAft>
            </a:pPr>
            <a:r>
              <a:rPr sz="1500">
                <a:solidFill>
                  <a:srgbClr val="222B33"/>
                </a:solidFill>
                <a:latin typeface="Microsoft YaHei"/>
              </a:rPr>
              <a:t>▪ 在化学通风柜里做病原微生物操作</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用前自检：开风机、看气流、看标识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用之前，先打开风机</a:t>
            </a:r>
          </a:p>
          <a:p>
            <a:pPr>
              <a:spcAft>
                <a:spcPts val="1000"/>
              </a:spcAft>
            </a:pPr>
            <a:r>
              <a:rPr sz="1700">
                <a:solidFill>
                  <a:srgbClr val="222B33"/>
                </a:solidFill>
                <a:latin typeface="Microsoft YaHei"/>
              </a:rPr>
              <a:t>▪ 看风速显示是否正常，确认气流向里</a:t>
            </a:r>
          </a:p>
          <a:p>
            <a:pPr>
              <a:spcAft>
                <a:spcPts val="1000"/>
              </a:spcAft>
            </a:pPr>
            <a:r>
              <a:rPr sz="1700">
                <a:solidFill>
                  <a:srgbClr val="222B33"/>
                </a:solidFill>
                <a:latin typeface="Microsoft YaHei"/>
              </a:rPr>
              <a:t>▪ 看检测标识是否在有效期内</a:t>
            </a:r>
          </a:p>
          <a:p>
            <a:pPr>
              <a:spcAft>
                <a:spcPts val="1000"/>
              </a:spcAft>
            </a:pPr>
            <a:r>
              <a:rPr sz="1700">
                <a:solidFill>
                  <a:srgbClr val="222B33"/>
                </a:solidFill>
                <a:latin typeface="Microsoft YaHei"/>
              </a:rPr>
              <a:t>▪ 视窗升降顺畅，柜内整洁</a:t>
            </a:r>
          </a:p>
          <a:p>
            <a:pPr>
              <a:spcAft>
                <a:spcPts val="1000"/>
              </a:spcAft>
            </a:pPr>
            <a:r>
              <a:rPr sz="1700">
                <a:solidFill>
                  <a:srgbClr val="222B33"/>
                </a:solidFill>
                <a:latin typeface="Microsoft YaHei"/>
              </a:rPr>
              <a:t>▪ 没气流或报警，不用，挂牌报修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使用前先打开风机，查看风速（风量）显示和指示灯是否正常；可在柜口拿一条纸巾或飘带，确认气流向柜内流动（纸条只能确认风机在抽风，不能判断风速是否合格）。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不开风机就开始倒试剂</a:t>
            </a:r>
          </a:p>
          <a:p>
            <a:pPr>
              <a:spcAft>
                <a:spcPts val="1000"/>
              </a:spcAft>
            </a:pPr>
            <a:r>
              <a:rPr sz="1500">
                <a:solidFill>
                  <a:srgbClr val="222B33"/>
                </a:solidFill>
                <a:latin typeface="Microsoft YaHei"/>
              </a:rPr>
              <a:t>▪ 不看检测标识和风速显示</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柜内操作也要穿戴防护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先读安全技术说明书，了解成分和危害</a:t>
            </a:r>
          </a:p>
          <a:p>
            <a:pPr>
              <a:spcAft>
                <a:spcPts val="1000"/>
              </a:spcAft>
            </a:pPr>
            <a:r>
              <a:rPr sz="2000">
                <a:solidFill>
                  <a:srgbClr val="222B33"/>
                </a:solidFill>
                <a:latin typeface="Microsoft YaHei"/>
              </a:rPr>
              <a:t>▪ 在通风柜里，护目镜、实验服、手套不能少</a:t>
            </a:r>
          </a:p>
          <a:p>
            <a:pPr>
              <a:spcAft>
                <a:spcPts val="1000"/>
              </a:spcAft>
            </a:pPr>
            <a:r>
              <a:rPr sz="2000">
                <a:solidFill>
                  <a:srgbClr val="222B33"/>
                </a:solidFill>
                <a:latin typeface="Microsoft YaHei"/>
              </a:rPr>
              <a:t>▪ 需要更多防护，就加上面屏等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通风柜只是工程控制措施之一，不能代替个人防护。操作前先阅读安全技术说明书，了解所用化学品的成分、危害和防护要求。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有视窗挡着就不戴护目镜</a:t>
            </a:r>
          </a:p>
          <a:p>
            <a:pPr>
              <a:spcAft>
                <a:spcPts val="1000"/>
              </a:spcAft>
            </a:pPr>
            <a:r>
              <a:rPr sz="1500">
                <a:solidFill>
                  <a:srgbClr val="222B33"/>
                </a:solidFill>
                <a:latin typeface="Microsoft YaHei"/>
              </a:rPr>
              <a:t>▪ 手套不按化学品性质选择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视窗拉到标线以下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操作时视窗下沿对准标定线或更低</a:t>
            </a:r>
          </a:p>
          <a:p>
            <a:pPr>
              <a:spcAft>
                <a:spcPts val="1000"/>
              </a:spcAft>
            </a:pPr>
            <a:r>
              <a:rPr sz="2000">
                <a:solidFill>
                  <a:srgbClr val="222B33"/>
                </a:solidFill>
                <a:latin typeface="Microsoft YaHei"/>
              </a:rPr>
              <a:t>▪ 开得太高，进风变慢，蒸气会扑到脸上</a:t>
            </a:r>
          </a:p>
          <a:p>
            <a:pPr>
              <a:spcAft>
                <a:spcPts val="1000"/>
              </a:spcAft>
            </a:pPr>
            <a:r>
              <a:rPr sz="2000">
                <a:solidFill>
                  <a:srgbClr val="222B33"/>
                </a:solidFill>
                <a:latin typeface="Microsoft YaHei"/>
              </a:rPr>
              <a:t>▪ 视窗挡在脸和化学品之间，还能挡飞溅</a:t>
            </a:r>
          </a:p>
          <a:p>
            <a:pPr>
              <a:spcAft>
                <a:spcPts val="1000"/>
              </a:spcAft>
            </a:pPr>
            <a:r>
              <a:rPr sz="2000">
                <a:solidFill>
                  <a:srgbClr val="222B33"/>
                </a:solidFill>
                <a:latin typeface="Microsoft YaHei"/>
              </a:rPr>
              <a:t>▪ 也不是越低越好，太低会起湍流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视窗推到顶方便操作</a:t>
            </a:r>
          </a:p>
          <a:p>
            <a:pPr>
              <a:spcAft>
                <a:spcPts val="1000"/>
              </a:spcAft>
            </a:pPr>
            <a:r>
              <a:rPr sz="1500">
                <a:solidFill>
                  <a:srgbClr val="222B33"/>
                </a:solidFill>
                <a:latin typeface="Microsoft YaHei"/>
              </a:rPr>
              <a:t>▪ 视窗下沿正对口鼻</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站着操作，头不伸进柜内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一般要站着操作</a:t>
            </a:r>
          </a:p>
          <a:p>
            <a:pPr>
              <a:spcAft>
                <a:spcPts val="1000"/>
              </a:spcAft>
            </a:pPr>
            <a:r>
              <a:rPr sz="1700">
                <a:solidFill>
                  <a:srgbClr val="222B33"/>
                </a:solidFill>
                <a:latin typeface="Microsoft YaHei"/>
              </a:rPr>
              <a:t>▪ 坐得太低，脸会到视窗下面</a:t>
            </a:r>
          </a:p>
          <a:p>
            <a:pPr>
              <a:spcAft>
                <a:spcPts val="1000"/>
              </a:spcAft>
            </a:pPr>
            <a:r>
              <a:rPr sz="1700">
                <a:solidFill>
                  <a:srgbClr val="222B33"/>
                </a:solidFill>
                <a:latin typeface="Microsoft YaHei"/>
              </a:rPr>
              <a:t>▪ 绝不把头伸进通风柜</a:t>
            </a:r>
          </a:p>
          <a:p>
            <a:pPr>
              <a:spcAft>
                <a:spcPts val="1000"/>
              </a:spcAft>
            </a:pPr>
            <a:r>
              <a:rPr sz="1700">
                <a:solidFill>
                  <a:srgbClr val="222B33"/>
                </a:solidFill>
                <a:latin typeface="Microsoft YaHei"/>
              </a:rPr>
              <a:t>▪ 要看清楚，就隔着玻璃看</a:t>
            </a:r>
          </a:p>
          <a:p>
            <a:pPr>
              <a:spcAft>
                <a:spcPts val="1000"/>
              </a:spcAft>
            </a:pPr>
            <a:r>
              <a:rPr sz="1700">
                <a:solidFill>
                  <a:srgbClr val="222B33"/>
                </a:solidFill>
                <a:latin typeface="Microsoft YaHei"/>
              </a:rPr>
              <a:t>▪ 柜内需要调整，找老师商量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使用通风柜一般要站着操作，身体在柜外，保持视窗挡在面部前方。坐得太低，脸就到了视窗下沿以下，失去视窗的保护。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探头进柜观察反应</a:t>
            </a:r>
          </a:p>
          <a:p>
            <a:pPr>
              <a:spcAft>
                <a:spcPts val="1000"/>
              </a:spcAft>
            </a:pPr>
            <a:r>
              <a:rPr sz="1500">
                <a:solidFill>
                  <a:srgbClr val="222B33"/>
                </a:solidFill>
                <a:latin typeface="Microsoft YaHei"/>
              </a:rPr>
              <a:t>▪ 坐在矮凳上，脸低于视窗下沿</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在柜内深处操作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越靠近柜口，越容易漏出来</a:t>
            </a:r>
          </a:p>
          <a:p>
            <a:pPr>
              <a:spcAft>
                <a:spcPts val="1000"/>
              </a:spcAft>
            </a:pPr>
            <a:r>
              <a:rPr sz="2000">
                <a:solidFill>
                  <a:srgbClr val="222B33"/>
                </a:solidFill>
                <a:latin typeface="Microsoft YaHei"/>
              </a:rPr>
              <a:t>▪ 器皿往里放，在柜内深处操作</a:t>
            </a:r>
          </a:p>
          <a:p>
            <a:pPr>
              <a:spcAft>
                <a:spcPts val="1000"/>
              </a:spcAft>
            </a:pPr>
            <a:r>
              <a:rPr sz="2000">
                <a:solidFill>
                  <a:srgbClr val="222B33"/>
                </a:solidFill>
                <a:latin typeface="Microsoft YaHei"/>
              </a:rPr>
              <a:t>▪ 柜口边上不放东西</a:t>
            </a:r>
          </a:p>
          <a:p>
            <a:pPr>
              <a:spcAft>
                <a:spcPts val="1000"/>
              </a:spcAft>
            </a:pPr>
            <a:r>
              <a:rPr sz="2000">
                <a:solidFill>
                  <a:srgbClr val="222B33"/>
                </a:solidFill>
                <a:latin typeface="Microsoft YaHei"/>
              </a:rPr>
              <a:t>▪ 距离按柜内标线和本校规定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柜口前沿附近的气流最弱、最容易受外界干扰，化学品越靠近柜口越容易漏出来；放在柜内深处，就能被完整地吸走。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贴着柜口前沿操作</a:t>
            </a:r>
          </a:p>
          <a:p>
            <a:pPr>
              <a:spcAft>
                <a:spcPts val="1000"/>
              </a:spcAft>
            </a:pPr>
            <a:r>
              <a:rPr sz="1500">
                <a:solidFill>
                  <a:srgbClr val="222B33"/>
                </a:solidFill>
                <a:latin typeface="Microsoft YaHei"/>
              </a:rPr>
              <a:t>▪ 把试剂瓶放在柜口边上</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动作轻缓，材料一次放齐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开工前，把所需材料一次放齐</a:t>
            </a:r>
          </a:p>
          <a:p>
            <a:pPr>
              <a:spcAft>
                <a:spcPts val="1000"/>
              </a:spcAft>
            </a:pPr>
            <a:r>
              <a:rPr sz="2000">
                <a:solidFill>
                  <a:srgbClr val="222B33"/>
                </a:solidFill>
                <a:latin typeface="Microsoft YaHei"/>
              </a:rPr>
              <a:t>▪ 视窗升降要慢</a:t>
            </a:r>
          </a:p>
          <a:p>
            <a:pPr>
              <a:spcAft>
                <a:spcPts val="1000"/>
              </a:spcAft>
            </a:pPr>
            <a:r>
              <a:rPr sz="2000">
                <a:solidFill>
                  <a:srgbClr val="222B33"/>
                </a:solidFill>
                <a:latin typeface="Microsoft YaHei"/>
              </a:rPr>
              <a:t>▪ 手臂慢慢、垂直于柜面抽出</a:t>
            </a:r>
          </a:p>
          <a:p>
            <a:pPr>
              <a:spcAft>
                <a:spcPts val="1000"/>
              </a:spcAft>
            </a:pPr>
            <a:r>
              <a:rPr sz="2000">
                <a:solidFill>
                  <a:srgbClr val="222B33"/>
                </a:solidFill>
                <a:latin typeface="Microsoft YaHei"/>
              </a:rPr>
              <a:t>▪ 在柜前动作稳、慢，不快速转身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通风柜的抽力其实并不大，柜前的快速动作很容易扰乱柜口气流。开工前把所需器材和试剂一次放进柜内，减少手臂进出。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操作中途反复伸手出柜取东西</a:t>
            </a:r>
          </a:p>
          <a:p>
            <a:pPr>
              <a:spcAft>
                <a:spcPts val="1000"/>
              </a:spcAft>
            </a:pPr>
            <a:r>
              <a:rPr sz="1500">
                <a:solidFill>
                  <a:srgbClr val="222B33"/>
                </a:solidFill>
                <a:latin typeface="Microsoft YaHei"/>
              </a:rPr>
              <a:t>▪ 猛地拉下视窗</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不堆放、不挡风口，不当储存柜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通风柜不是储存柜，不堆放化学品</a:t>
            </a:r>
          </a:p>
          <a:p>
            <a:pPr>
              <a:spcAft>
                <a:spcPts val="1000"/>
              </a:spcAft>
            </a:pPr>
            <a:r>
              <a:rPr sz="1700">
                <a:solidFill>
                  <a:srgbClr val="222B33"/>
                </a:solidFill>
                <a:latin typeface="Microsoft YaHei"/>
              </a:rPr>
              <a:t>▪ 堆满会挡住风口，吸力下降、气流紊乱</a:t>
            </a:r>
          </a:p>
          <a:p>
            <a:pPr>
              <a:spcAft>
                <a:spcPts val="1000"/>
              </a:spcAft>
            </a:pPr>
            <a:r>
              <a:rPr sz="1700">
                <a:solidFill>
                  <a:srgbClr val="222B33"/>
                </a:solidFill>
                <a:latin typeface="Microsoft YaHei"/>
              </a:rPr>
              <a:t>▪ 东西多了，溢洒着火事故更大</a:t>
            </a:r>
          </a:p>
          <a:p>
            <a:pPr>
              <a:spcAft>
                <a:spcPts val="1000"/>
              </a:spcAft>
            </a:pPr>
            <a:r>
              <a:rPr sz="1700">
                <a:solidFill>
                  <a:srgbClr val="222B33"/>
                </a:solidFill>
                <a:latin typeface="Microsoft YaHei"/>
              </a:rPr>
              <a:t>▪ 柜内只放这次实验要用的东西</a:t>
            </a:r>
          </a:p>
          <a:p>
            <a:pPr>
              <a:spcAft>
                <a:spcPts val="1000"/>
              </a:spcAft>
            </a:pPr>
            <a:r>
              <a:rPr sz="1700">
                <a:solidFill>
                  <a:srgbClr val="222B33"/>
                </a:solidFill>
                <a:latin typeface="Microsoft YaHei"/>
              </a:rPr>
              <a:t>▪ 大设备垫高，纸张别被吸进风管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把通风柜当作长期存放试剂的地方</a:t>
            </a:r>
          </a:p>
          <a:p>
            <a:pPr>
              <a:spcAft>
                <a:spcPts val="1000"/>
              </a:spcAft>
            </a:pPr>
            <a:r>
              <a:rPr sz="1500">
                <a:solidFill>
                  <a:srgbClr val="222B33"/>
                </a:solidFill>
                <a:latin typeface="Microsoft YaHei"/>
              </a:rPr>
              <a:t>▪ 后部排风缝被瓶子挡住</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易燃物远离热源，不敞放废液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柜里有易燃溶剂，热源要远离</a:t>
            </a:r>
          </a:p>
          <a:p>
            <a:pPr>
              <a:spcAft>
                <a:spcPts val="1000"/>
              </a:spcAft>
            </a:pPr>
            <a:r>
              <a:rPr sz="2000">
                <a:solidFill>
                  <a:srgbClr val="222B33"/>
                </a:solidFill>
                <a:latin typeface="Microsoft YaHei"/>
              </a:rPr>
              <a:t>▪ 不用明火，插头不在柜内插拔</a:t>
            </a:r>
          </a:p>
          <a:p>
            <a:pPr>
              <a:spcAft>
                <a:spcPts val="1000"/>
              </a:spcAft>
            </a:pPr>
            <a:r>
              <a:rPr sz="2000">
                <a:solidFill>
                  <a:srgbClr val="222B33"/>
                </a:solidFill>
                <a:latin typeface="Microsoft YaHei"/>
              </a:rPr>
              <a:t>▪ 废液不能敞着挥发，也不能倒进柜内水槽</a:t>
            </a:r>
          </a:p>
          <a:p>
            <a:pPr>
              <a:spcAft>
                <a:spcPts val="1000"/>
              </a:spcAft>
            </a:pPr>
            <a:r>
              <a:rPr sz="2000">
                <a:solidFill>
                  <a:srgbClr val="222B33"/>
                </a:solidFill>
                <a:latin typeface="Microsoft YaHei"/>
              </a:rPr>
              <a:t>▪ 废液分类收集，贴好标签盖紧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通风柜内有易燃溶剂时，加热板等热源要远离溶剂，不使用明火；电器插头不放在柜内插拔，插座宜在柜外，防止电火花点燃蒸气。溶剂用完马上盖好。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把废溶剂放在柜里“自然挥发”</a:t>
            </a:r>
          </a:p>
          <a:p>
            <a:pPr>
              <a:spcAft>
                <a:spcPts val="1000"/>
              </a:spcAft>
            </a:pPr>
            <a:r>
              <a:rPr sz="1500">
                <a:solidFill>
                  <a:srgbClr val="222B33"/>
                </a:solidFill>
                <a:latin typeface="Microsoft YaHei"/>
              </a:rPr>
              <a:t>▪ 在柜内插拔加热设备电源</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不擅自改动通风柜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不拆导流板、不堵排风口、不加风扇</a:t>
            </a:r>
          </a:p>
          <a:p>
            <a:pPr>
              <a:spcAft>
                <a:spcPts val="1000"/>
              </a:spcAft>
            </a:pPr>
            <a:r>
              <a:rPr sz="2000">
                <a:solidFill>
                  <a:srgbClr val="222B33"/>
                </a:solidFill>
                <a:latin typeface="Microsoft YaHei"/>
              </a:rPr>
              <a:t>▪ 防护罩、联锁装置不能随意拆</a:t>
            </a:r>
          </a:p>
          <a:p>
            <a:pPr>
              <a:spcAft>
                <a:spcPts val="1000"/>
              </a:spcAft>
            </a:pPr>
            <a:r>
              <a:rPr sz="2000">
                <a:solidFill>
                  <a:srgbClr val="222B33"/>
                </a:solidFill>
                <a:latin typeface="Microsoft YaHei"/>
              </a:rPr>
              <a:t>▪ 排风不对劲，报告设施人员检修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导流板、排风口、视窗、联锁装置和防护罩都是通风柜安全性能的一部分。使用者不得拆卸导流板、堵塞排风口、在柜口加装风扇，也不得随意拆除设备的防护罩和联锁装置。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嫌噪声大把排风口堵上</a:t>
            </a:r>
          </a:p>
          <a:p>
            <a:pPr>
              <a:spcAft>
                <a:spcPts val="1000"/>
              </a:spcAft>
            </a:pPr>
            <a:r>
              <a:rPr sz="1500">
                <a:solidFill>
                  <a:srgbClr val="222B33"/>
                </a:solidFill>
                <a:latin typeface="Microsoft YaHei"/>
              </a:rPr>
              <a:t>▪ 在柜口放电扇“加强通风”</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报警或停风：停、盖、关、撤、报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报警或停风时，有害物会跑出来</a:t>
            </a:r>
          </a:p>
          <a:p>
            <a:pPr>
              <a:spcAft>
                <a:spcPts val="1000"/>
              </a:spcAft>
            </a:pPr>
            <a:r>
              <a:rPr sz="1700">
                <a:solidFill>
                  <a:srgbClr val="222B33"/>
                </a:solidFill>
                <a:latin typeface="Microsoft YaHei"/>
              </a:rPr>
              <a:t>▪ 立即停止操作，盖好容器</a:t>
            </a:r>
          </a:p>
          <a:p>
            <a:pPr>
              <a:spcAft>
                <a:spcPts val="1000"/>
              </a:spcAft>
            </a:pPr>
            <a:r>
              <a:rPr sz="1700">
                <a:solidFill>
                  <a:srgbClr val="222B33"/>
                </a:solidFill>
                <a:latin typeface="Microsoft YaHei"/>
              </a:rPr>
              <a:t>▪ 关掉热源，拉下视窗</a:t>
            </a:r>
          </a:p>
          <a:p>
            <a:pPr>
              <a:spcAft>
                <a:spcPts val="1000"/>
              </a:spcAft>
            </a:pPr>
            <a:r>
              <a:rPr sz="1700">
                <a:solidFill>
                  <a:srgbClr val="222B33"/>
                </a:solidFill>
                <a:latin typeface="Microsoft YaHei"/>
              </a:rPr>
              <a:t>▪ 离开到安全处，立即报告</a:t>
            </a:r>
          </a:p>
          <a:p>
            <a:pPr>
              <a:spcAft>
                <a:spcPts val="1000"/>
              </a:spcAft>
            </a:pPr>
            <a:r>
              <a:rPr sz="1700">
                <a:solidFill>
                  <a:srgbClr val="222B33"/>
                </a:solidFill>
                <a:latin typeface="Microsoft YaHei"/>
              </a:rPr>
              <a:t>▪ 事先了解本单位应急预案，修好检测合格再用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停风后留在实验室里等</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用完清理，关闭视窗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做完实验，清空台面，擦干净</a:t>
            </a:r>
          </a:p>
          <a:p>
            <a:pPr>
              <a:spcAft>
                <a:spcPts val="1000"/>
              </a:spcAft>
            </a:pPr>
            <a:r>
              <a:rPr sz="2000">
                <a:solidFill>
                  <a:srgbClr val="222B33"/>
                </a:solidFill>
                <a:latin typeface="Microsoft YaHei"/>
              </a:rPr>
              <a:t>▪ 试剂归位，用不上的拿出来</a:t>
            </a:r>
          </a:p>
          <a:p>
            <a:pPr>
              <a:spcAft>
                <a:spcPts val="1000"/>
              </a:spcAft>
            </a:pPr>
            <a:r>
              <a:rPr sz="2000">
                <a:solidFill>
                  <a:srgbClr val="222B33"/>
                </a:solidFill>
                <a:latin typeface="Microsoft YaHei"/>
              </a:rPr>
              <a:t>▪ 不用时，把视窗关好</a:t>
            </a:r>
          </a:p>
          <a:p>
            <a:pPr>
              <a:spcAft>
                <a:spcPts val="1000"/>
              </a:spcAft>
            </a:pPr>
            <a:r>
              <a:rPr sz="2000">
                <a:solidFill>
                  <a:srgbClr val="222B33"/>
                </a:solidFill>
                <a:latin typeface="Microsoft YaHei"/>
              </a:rPr>
              <a:t>▪ 随手关窗，节能又安全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实验结束后，把用不上的器材和试剂拿出通风柜，试剂放回储存柜，擦净柜内台面，让下一位使用者面对的是干净的通风柜。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用完视窗敞着就离开</a:t>
            </a:r>
          </a:p>
          <a:p>
            <a:pPr>
              <a:spcAft>
                <a:spcPts val="1000"/>
              </a:spcAft>
            </a:pPr>
            <a:r>
              <a:rPr sz="1500">
                <a:solidFill>
                  <a:srgbClr val="222B33"/>
                </a:solidFill>
                <a:latin typeface="Microsoft YaHei"/>
              </a:rPr>
              <a:t>▪ 把用过的器皿留在柜里</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使用通风柜时，视窗的正确位置是：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推到顶，方便操作</a:t>
            </a:r>
          </a:p>
          <a:p>
            <a:pPr algn="l"/>
            <a:r>
              <a:rPr sz="1500" b="0">
                <a:solidFill>
                  <a:srgbClr val="222B33"/>
                </a:solidFill>
                <a:latin typeface="Microsoft YaHei"/>
              </a:rPr>
              <a:t>B. 下沿对准标定线或更低，挡在脸和化学品之间</a:t>
            </a:r>
          </a:p>
          <a:p>
            <a:pPr algn="l"/>
            <a:r>
              <a:rPr sz="1500" b="0">
                <a:solidFill>
                  <a:srgbClr val="222B33"/>
                </a:solidFill>
                <a:latin typeface="Microsoft YaHei"/>
              </a:rPr>
              <a:t>C. 下沿与口鼻齐平</a:t>
            </a:r>
          </a:p>
          <a:p>
            <a:pPr algn="l"/>
            <a:r>
              <a:rPr sz="1500" b="0">
                <a:solidFill>
                  <a:srgbClr val="222B33"/>
                </a:solidFill>
                <a:latin typeface="Microsoft YaHei"/>
              </a:rPr>
              <a:t>D. 完全关闭后再把手伸进去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判断：通风柜排风很好，可以把常用的试剂长期放在柜里。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探头进柜看反应</a:t>
            </a:r>
          </a:p>
          <a:p>
            <a:pPr algn="l"/>
            <a:r>
              <a:rPr sz="1500" b="0">
                <a:solidFill>
                  <a:srgbClr val="222B33"/>
                </a:solidFill>
                <a:latin typeface="Microsoft YaHei"/>
              </a:rPr>
              <a:t>B. 在柜口前沿倾倒试剂</a:t>
            </a:r>
          </a:p>
          <a:p>
            <a:pPr algn="l"/>
            <a:r>
              <a:rPr sz="1500" b="0">
                <a:solidFill>
                  <a:srgbClr val="222B33"/>
                </a:solidFill>
                <a:latin typeface="Microsoft YaHei"/>
              </a:rPr>
              <a:t>C. 器皿放在柜内深处，手臂慢慢垂直抽出</a:t>
            </a:r>
          </a:p>
          <a:p>
            <a:pPr algn="l"/>
            <a:r>
              <a:rPr sz="1500" b="0">
                <a:solidFill>
                  <a:srgbClr val="222B33"/>
                </a:solidFill>
                <a:latin typeface="Microsoft YaHei"/>
              </a:rPr>
              <a:t>D. 把废溶剂敞口放在柜里挥发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正在通风柜里加热溶剂时风量报警器响了，首先应该：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a:t>
            </a:r>
          </a:p>
          <a:p>
            <a:pPr algn="l"/>
            <a:r>
              <a:rPr sz="1500" b="0">
                <a:solidFill>
                  <a:srgbClr val="222B33"/>
                </a:solidFill>
                <a:latin typeface="Microsoft YaHei"/>
              </a:rPr>
              <a:t>B. 把视窗推高加大通风</a:t>
            </a:r>
          </a:p>
          <a:p>
            <a:pPr algn="l"/>
            <a:r>
              <a:rPr sz="1500" b="0">
                <a:solidFill>
                  <a:srgbClr val="222B33"/>
                </a:solidFill>
                <a:latin typeface="Microsoft YaHei"/>
              </a:rPr>
              <a:t>C. 停止操作、盖好容器、关掉热源、拉下视窗，离开并报告</a:t>
            </a:r>
          </a:p>
          <a:p>
            <a:pPr algn="l"/>
            <a:r>
              <a:rPr sz="1500" b="0">
                <a:solidFill>
                  <a:srgbClr val="222B33"/>
                </a:solidFill>
                <a:latin typeface="Microsoft YaHei"/>
              </a:rPr>
              <a:t>D. 打开电扇对着柜口吹</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简答：使用通风柜前应检查哪些内容？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装好只是一半，用对才完整</a:t>
            </a:r>
          </a:p>
          <a:p>
            <a:pPr>
              <a:spcAft>
                <a:spcPts val="800"/>
              </a:spcAft>
            </a:pPr>
            <a:r>
              <a:rPr sz="1500">
                <a:solidFill>
                  <a:srgbClr val="FFFFFF"/>
                </a:solidFill>
                <a:latin typeface="Microsoft YaHei"/>
              </a:rPr>
              <a:t>▪ K2  有害、挥发、易燃加热的操作进柜做</a:t>
            </a:r>
          </a:p>
          <a:p>
            <a:pPr>
              <a:spcAft>
                <a:spcPts val="800"/>
              </a:spcAft>
            </a:pPr>
            <a:r>
              <a:rPr sz="1500">
                <a:solidFill>
                  <a:srgbClr val="FFFFFF"/>
                </a:solidFill>
                <a:latin typeface="Microsoft YaHei"/>
              </a:rPr>
              <a:t>▪ K3  用前自检：开风机、看气流、看标识</a:t>
            </a:r>
          </a:p>
          <a:p>
            <a:pPr>
              <a:spcAft>
                <a:spcPts val="800"/>
              </a:spcAft>
            </a:pPr>
            <a:r>
              <a:rPr sz="1500">
                <a:solidFill>
                  <a:srgbClr val="FFFFFF"/>
                </a:solidFill>
                <a:latin typeface="Microsoft YaHei"/>
              </a:rPr>
              <a:t>▪ K4  柜内操作也要穿戴防护</a:t>
            </a:r>
          </a:p>
          <a:p>
            <a:pPr>
              <a:spcAft>
                <a:spcPts val="800"/>
              </a:spcAft>
            </a:pPr>
            <a:r>
              <a:rPr sz="1500">
                <a:solidFill>
                  <a:srgbClr val="FFFFFF"/>
                </a:solidFill>
                <a:latin typeface="Microsoft YaHei"/>
              </a:rPr>
              <a:t>▪ K5  视窗拉到标线以下</a:t>
            </a:r>
          </a:p>
          <a:p>
            <a:pPr>
              <a:spcAft>
                <a:spcPts val="800"/>
              </a:spcAft>
            </a:pPr>
            <a:r>
              <a:rPr sz="1500">
                <a:solidFill>
                  <a:srgbClr val="FFFFFF"/>
                </a:solidFill>
                <a:latin typeface="Microsoft YaHei"/>
              </a:rPr>
              <a:t>▪ K6  站着操作，头不伸进柜内</a:t>
            </a:r>
          </a:p>
          <a:p>
            <a:pPr>
              <a:spcAft>
                <a:spcPts val="800"/>
              </a:spcAft>
            </a:pPr>
            <a:r>
              <a:rPr sz="1500">
                <a:solidFill>
                  <a:srgbClr val="FFFFFF"/>
                </a:solidFill>
                <a:latin typeface="Microsoft YaHei"/>
              </a:rPr>
              <a:t>▪ K7  在柜内深处操作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动作轻缓，材料一次放齐</a:t>
            </a:r>
          </a:p>
          <a:p>
            <a:pPr>
              <a:spcAft>
                <a:spcPts val="800"/>
              </a:spcAft>
            </a:pPr>
            <a:r>
              <a:rPr sz="1500">
                <a:solidFill>
                  <a:srgbClr val="FFFFFF"/>
                </a:solidFill>
                <a:latin typeface="Microsoft YaHei"/>
              </a:rPr>
              <a:t>▪ K9  不堆放、不挡风口，不当储存柜</a:t>
            </a:r>
          </a:p>
          <a:p>
            <a:pPr>
              <a:spcAft>
                <a:spcPts val="800"/>
              </a:spcAft>
            </a:pPr>
            <a:r>
              <a:rPr sz="1500">
                <a:solidFill>
                  <a:srgbClr val="FFFFFF"/>
                </a:solidFill>
                <a:latin typeface="Microsoft YaHei"/>
              </a:rPr>
              <a:t>▪ K10  易燃物远离热源，不敞放废液</a:t>
            </a:r>
          </a:p>
          <a:p>
            <a:pPr>
              <a:spcAft>
                <a:spcPts val="800"/>
              </a:spcAft>
            </a:pPr>
            <a:r>
              <a:rPr sz="1500">
                <a:solidFill>
                  <a:srgbClr val="FFFFFF"/>
                </a:solidFill>
                <a:latin typeface="Microsoft YaHei"/>
              </a:rPr>
              <a:t>▪ K11  不擅自改动通风柜</a:t>
            </a:r>
          </a:p>
          <a:p>
            <a:pPr>
              <a:spcAft>
                <a:spcPts val="800"/>
              </a:spcAft>
            </a:pPr>
            <a:r>
              <a:rPr sz="1500">
                <a:solidFill>
                  <a:srgbClr val="FFFFFF"/>
                </a:solidFill>
                <a:latin typeface="Microsoft YaHei"/>
              </a:rPr>
              <a:t>▪ K12  报警或停风：停、盖、关、撤、报</a:t>
            </a:r>
          </a:p>
          <a:p>
            <a:pPr>
              <a:spcAft>
                <a:spcPts val="800"/>
              </a:spcAft>
            </a:pPr>
            <a:r>
              <a:rPr sz="1500">
                <a:solidFill>
                  <a:srgbClr val="FFFFFF"/>
                </a:solidFill>
                <a:latin typeface="Microsoft YaHei"/>
              </a:rPr>
              <a:t>▪ K13  用完清理，关闭视窗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