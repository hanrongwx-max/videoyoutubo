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化学品安全，就是让化学品在实验室里被安全地使用、安全地储存、安全地处置。三个环节任何一个出问题，都可能引发火灾、爆炸、中毒、灼伤等事故，或者让有害物质进入下水道、土壤和空气，污染环境。</a:t>
            </a:r>
          </a:p>
          <a:p>
            <a:r>
              <a:t>所以化学品安全既是为了保护实验室里的人，也是为了保护周围的人和环境。本章各课分别讲分类、标签、说明书、储存、取用、通风和废物处置，本课先讲法规要求和全过程管理的总框架。</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不只化学实验室用化学品。微生物、生命科学、医学、材料、环境等实验室同样大量使用化学品：台面和器材消毒用的乙醇、含氯消毒剂，染色用的染料，固定标本用的甲醛、戊二醛，配制缓冲液和培养基用的各种试剂。</a:t>
            </a:r>
          </a:p>
          <a:p>
            <a:r>
              <a:t>这些化学品中不少是易燃、腐蚀或有毒的危险化学品（分类见第 038 课）。任何使用化学品的实验室，都要按本章要求管理化学品，不能因为“我们是生物实验室”就放松。</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实验室的操作规程和安全规定，很多是从以往事故中总结出来的。按规程操作、不跳步、不擅自改变用量和条件，可以预防溢洒、火灾、爆炸等事故。</a:t>
            </a:r>
          </a:p>
          <a:p>
            <a:r>
              <a:t>管好化学品还能保护仪器和样品：化学品洒漏会腐蚀仪器、污染甚至毁掉样品；试剂拿错、混用或被污染，实验结果就不可靠，实验白做。安全和科研质量是一致的。</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我国对危险化学品实行严格管理，有专门的法律和行政法规（见 S1），教育部和学校也有实验室安全规范、检查项目和本校管理制度，学校和学院定期开展安全检查。</a:t>
            </a:r>
          </a:p>
          <a:p>
            <a:r>
              <a:t>遵守这些规定，不只是为了通过检查、避免处罚，更是为了保护自己、同学和周围的人。检查中发现的隐患要按要求整改。</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《中华人民共和国危险化学品安全法》于 2025 年 12 月 27 日通过，2026 年 5 月 1 日起施行，对危险化学品生产、储存、使用、经营、运输等各环节作出规定，并设专章规定“使用安全”。学校、科研机构使用危险化学品，属于该法规定的责任主体；该法要求危险化学品附有中文的化学品安全技术说明书和安全标签（见第 039、040 课）。《危险化学品安全管理条例》仍需一并遵守，具体以现行文本为准。</a:t>
            </a:r>
          </a:p>
          <a:p>
            <a:r>
              <a:t>剧毒化学品、易制毒化学品、易制爆危险化学品在购买、储存、使用上还有更严格的规定（“五双”管理、公安备案等），见第 045 课。</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高校对化学品实行全生命周期管理：采购审批、到货验收、入库建账、分类储存、领用登记、规范使用、废弃处置，每个环节都有记录，形成闭环，做到来源可查、去向可追。</a:t>
            </a:r>
          </a:p>
          <a:p>
            <a:r>
              <a:t>管理上实行学校—学院—实验室三级负责：学校主管部门制定制度、统一采购和处置渠道；学院落实检查和培训；实验室负责人是本实验室安全的第一责任人，组织日常管理。每个使用化学品的人对自己领用、使用的化学品负责。具体分工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购买危险化学品要先提出申请，说明品名、规格、数量和用途，经实验室负责人（导师）和学院审核批准后，通过学校指定的采购平台或渠道，向具有相应资质的单位购买。管控类化学品还要按第 045 课的规定办理审批和备案。</a:t>
            </a:r>
          </a:p>
          <a:p>
            <a:r>
              <a:t>个人不得私自网购、从校外私人渠道购买，也不得在实验室之间私下转让、转借危险化学品。按实验需要少量购买，避免大量囤积，既降低风险，也减少过期浪费。已经私自购入、来路不明的化学品，不要使用，交实验室负责人按学校规定处理。</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化学品到货后，由实验室指定人员戴好手套验收：核对品名、规格、数量与采购单是否一致；检查每个容器上有没有中文化学品安全标签（象形图、信号词、危险说明等，见第 039 课）；检查是否随货提供中文化学品安全技术说明书（SDS，见第 040 课），这就是“一书一签”。</a:t>
            </a:r>
          </a:p>
          <a:p>
            <a:r>
              <a:t>同时检查包装是否完好、瓶盖是否密封、有无破损渗漏。缺标签、缺说明书或包装破损的，不接收、不使用，联系供应单位补齐或退换。验收合格后再入库登记。</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实验室要建立化学品台账（纸质或学校化学品管理信息系统），记录品名、规格、数量、存放位置、入库日期、责任人。入库时逐瓶登记，很多学校用条码或二维码实现一瓶一码。</a:t>
            </a:r>
          </a:p>
          <a:p>
            <a:r>
              <a:t>领用、消耗、废弃时及时登记，台账随时反映实际库存。定期盘点，做到账物相符；发现账上有、柜里没有（或相反），要查清原因并报告实验室负责人。</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实验室发生火灾、泄漏等事故时，消防和救援人员要马上知道屋里有哪些危险化学品、大概多少、放在哪里，才能选择灭火和防护方法。所以化学品清单要随台账实时更新，并能在应急时迅速提供。</a:t>
            </a:r>
          </a:p>
          <a:p>
            <a:r>
              <a:t>实验室门口的安全信息牌应写明主要危险类别、安全负责人和联系电话，内容变化时及时更新（具体格式以本校规定为准）。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从库房或试剂柜领用化学品，要登记领用人、品名、数量、用途和日期；按当次实验需要少量领取，不在台面上大量存放。使用前阅读标签和安全技术说明书，了解危害和防护要求，做好风险评估和个人防护。</a:t>
            </a:r>
          </a:p>
          <a:p>
            <a:r>
              <a:t>领用的化学品只用于登记的实验，不转给他人，不带出实验室或带回宿舍。用剩的放回原储存位置并更新台账；管控类化学品的领用按第 045 课的规定执行。</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实验室里长期没人管理的旧试剂——前人留下的、标签模糊的、放在角落和储藏间的——风险会随时间增加：容器老化、标签脱落、有的试剂变质甚至变得更危险。</a:t>
            </a:r>
          </a:p>
          <a:p>
            <a:r>
              <a:t>一个案例：一批汞被放在储藏间后无人记得，多年后装修时被碰洒，清理的人不知道是什么、没有防护，造成了汞暴露。如果当初及时登记和清理，这样的事故完全可以避免。汞等化学品洒落的处置见第 056 课。</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实验室要定期清查化学品，包括试剂柜、冰箱、储藏间等角落，核对台账。过期的、标签脱落无法确认成分的、长期无人认领的化学品，要清理出来，不能继续使用。</a:t>
            </a:r>
          </a:p>
          <a:p>
            <a:r>
              <a:t>清出的化学品按危险废物包装、贴标签，登记后交学校统一收集处置（见第 053、054 课），不能倒掉或扔进垃圾桶。学生毕业、人员调离前，要把自己名下的化学品清点交接或处置，做到人走账清。</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废弃的危险化学品和实验废液属于危险废物，处置依照生态环境保护法律法规执行。实验室按学校要求分类收集，容器贴好标签，写明成分和产生人，放在指定暂存位置。</a:t>
            </a:r>
          </a:p>
          <a:p>
            <a:r>
              <a:t>严禁倒入下水道、混入生活垃圾或自行焚烧掩埋。学校统一收集后，委托具有危险废物经营许可证的单位处置。处置时在台账上销账登记，化学品从采购到处置的全过程闭环。废物分类收集和暂存处置的具体要求见第 053、054 课。</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答案：C。解析：该法 2025 年 12 月 27 日通过，2026 年 5 月 1 日起施行；《危险化学品安全管理条例》仍需一并遵守。</a:t>
            </a:r>
          </a:p>
          <a:p>
            <a:r>
              <a:t>第 2 题 答案：B。解析：每种危险化学品要随货附中文安全技术说明书，容器上有中文安全标签，缺一不收不用。</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答案：B。解析：采购要经审批，通过学校渠道向有资质的单位购买，不得私自网购。</a:t>
            </a:r>
          </a:p>
          <a:p>
            <a:r>
              <a:t>第 4 题 答案：A。解析：过时的清单会误导救援，台账和清单要账物相符、实时更新。</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答案：C。解析：过期、不明、无人认领的化学品要清出，按危险废物交学校统一处置。</a:t>
            </a:r>
          </a:p>
          <a:p>
            <a:r>
              <a:t>第 6 题 答案：采购审批、到货验收（一书一签）、入库建账、分类储存、领用登记、规范使用、废弃处置，全过程记录闭环。解析：实行学校—学院—实验室三级负责，实验室负责人是第一责任人。</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危险物品（俗称危险品）是因其化学、生物或物理性质，可能伤害人体、损坏财产或污染环境的物质和物品。它们对人和环境都有风险，所以在使用、储存、运输和废弃时都要按规定管理。</a:t>
            </a:r>
          </a:p>
          <a:p>
            <a:r>
              <a:t>危险化学品是危险物品中最常见的一类。按照我国法规，具有毒害、腐蚀、爆炸、燃烧、助燃等性质，对人体、设施、环境具有危害的剧毒化学品和其他化学品属于危险化学品，具体以《危险化学品目录》和现行法规为准。</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物品的形态多样：粉末和颗粒等固体、溶剂和酸碱等液体、钢瓶中的压缩或液化气体。形态不同，伤人的方式也不同：液体容易洒出和溅到皮肤眼睛，粉末和蒸气容易被吸入，沾在手上可能被误食，处理不当还会污染环境。</a:t>
            </a:r>
          </a:p>
          <a:p>
            <a:r>
              <a:t>针对每一种方式都要提前防护：密闭容器、在通风柜内操作、戴护目镜和手套、实验室不吃不喝、废物按规定收集。化学品进入人体的途径见第 042 课。</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很多化学品在常温常压下看起来平静，但本身具有潜在危险。加热、加压或与其他物质混合时，可能发生分解、着火、爆炸或放出有毒气体。</a:t>
            </a:r>
          </a:p>
          <a:p>
            <a:r>
              <a:t>所以使用前要了解化学品的危险性和不相容物（查标签和安全技术说明书），不随意加热、不随意混合；储存时按相容性分类隔离（见第 043、047 课）。</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联合国推行的“全球化学品统一分类和标签制度”（GHS）统一了化学品危险性的分类方法、标签和安全技术说明书的格式，使各国的化学品标签和说明书样式基本一致，便于识别。</a:t>
            </a:r>
          </a:p>
          <a:p>
            <a:r>
              <a:t>我国采用这一制度，化学品分类和标签按 GB 30000 系列国家标准《化学品分类和标签规范》（如 GB 30000.7-2013 易燃液体，以现行文本为准）执行，标签按 GB 15258-2009 编写（见第 039 课），说明书按 GB/T 16483-2008 编写（见第 040 课）。</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 GB 30000 系列，化学品危险性分为三大类：理化危险、健康危害和环境危害，每一类下面又分为若干危险类别和级别。</a:t>
            </a:r>
          </a:p>
          <a:p>
            <a:r>
              <a:t>理化危险包括爆炸物、易燃气体、气溶胶、氧化性气体、加压气体、易燃液体、易燃固体、自反应物质、自燃液体和固体、自热物质、遇水放出易燃气体的物质、氧化性液体和固体、有机过氧化物、金属腐蚀物等；健康危害包括急性毒性、皮肤腐蚀/刺激、严重眼损伤/眼刺激、呼吸或皮肤致敏、生殖细胞致突变性、致癌性、生殖毒性、特异性靶器官毒性、吸入危害等；环境危害包括危害水生环境和危害臭氧层。类别名称和划分以现行文本为准，标签上用象形图表示（见第 039 课）。</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在实验室日常管理和安全教育中，常把危险物品按主要危险性质分为七组：易燃和可燃物、腐蚀性物质、有毒物质、反应性和爆炸性物质、放射性物质、生物危害物质、压缩气体。这种分组便于记忆和日常防护。</a:t>
            </a:r>
          </a:p>
          <a:p>
            <a:r>
              <a:t>它与 GB 30000 系列的危险性分类和 GB 6944 的危险货物分类并不矛盾，正式的分类、标签和运输以国家标准为准。一种物质可能同时属于几组（例如既易燃又有毒），防护要兼顾。</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易燃和可燃物遇到明火、火花或高温很容易着火，蒸气与空气混合还可能爆炸。实验室常见的有乙醇、丙酮等有机溶剂，生活中常见的有汽油、液化石油气（含丙烷）。</a:t>
            </a:r>
          </a:p>
          <a:p>
            <a:r>
              <a:t>使用时远离明火、电热设备和电火花，少量取用，用后盖紧；储存放在防火柜中（见第 044、046 课）。</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腐蚀性物质接触皮肤和眼睛会造成化学灼伤，严重时导致失明，还会腐蚀金属和设备。常见的有盐酸、硫酸、硝酸等强酸，氢氧化钠、氢氧化钾等强碱。</a:t>
            </a:r>
          </a:p>
          <a:p>
            <a:r>
              <a:t>取用时必须戴护目镜（必要时戴面屏）、合适的手套和实验服，小心倒取、防止飞溅；腐蚀品单独存放在耐腐蚀柜中（见第 048 课）。</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有毒物质可以经呼吸道吸入、经口误食或经皮肤吸收进入人体，引起急性或慢性中毒。常见的有某些农药、汞及其化合物；氰化物等属于剧毒化学品，按“五双”管理（见第 045 课）。</a:t>
            </a:r>
          </a:p>
          <a:p>
            <a:r>
              <a:t>防护要点：在通风柜内操作，戴合适的手套；实验室内不吃不喝、不化妆，不把食物带进实验室；操作后、离开前洗手。毒性与接触限值见第 042 课。</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反应性和爆炸性物质性质不稳定，受热、撞击、摩擦或接触空气、水、其他物质时可能剧烈反应甚至爆炸，例如某些过氧化物、硝酸铵等硝酸盐类和多硝基化合物。</a:t>
            </a:r>
          </a:p>
          <a:p>
            <a:r>
              <a:t>这类物品中很多属于易制爆危险化学品或爆炸品，购买、储存和领用受严格管控，要按规定审批、登记，双人管理（见第 045、047 课）。本课只认识类别，不涉及性质条件和用量。</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放射性物质会自发放出电离辐射，射线能损伤人体细胞和 DNA，导致急性损伤或远期健康危害。常见的有铀、镭及钴-60 等放射源。</a:t>
            </a:r>
          </a:p>
          <a:p>
            <a:r>
              <a:t>放射性物质只能由取得许可的单位和经过辐射安全培训的人员使用；门口有电离辐射标志的场所，未经许可不得进入。辐射安全见第 7 章。</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危害物质包括细菌、病毒、真菌等病原微生物和生物毒素，能让人和动物生病。我国按危害程度把病原微生物分为四类，第一类危害最大，第一类、第二类合称高致病性病原微生物（以《病原微生物实验室生物安全管理条例》现行文本为准）。</a:t>
            </a:r>
          </a:p>
          <a:p>
            <a:r>
              <a:t>实验前要做生物风险评估，在相应防护级别的实验室开展；产生气溶胶的操作在生物安全柜内进行。生物安全见第 6 章。</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压缩气体和液化气体在钢瓶中高压储存，气瓶倾倒、受热或阀门损坏可能爆裂伤人。气体泄漏还会造成危害：惰性气体可使人窒息，氯气、氨等有毒，氢气等易燃，氧气助燃。</a:t>
            </a:r>
          </a:p>
          <a:p>
            <a:r>
              <a:t>气瓶要直立固定、远离热源，使用减压阀，用完关闭瓶阀，定期检漏。气瓶安全见第 11 章。</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为了运输安全，国际上把危险货物分为九类，我国对应的国家标准是 GB 6944-2025（以现行文本为准）《危险货物分类和品名编号》。某种具体物质属于哪一类、编号是多少，查 GB 12268-2025（以现行文本为准）《危险货物品名表》。</a:t>
            </a:r>
          </a:p>
          <a:p>
            <a:r>
              <a:t>运输分类和 GB 30000 的化学品危险性分类目的不同、类别也不完全对应，二者都以国家标准为准。标准会修订，以现行文本为准。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类是爆炸品，实验室一般不使用，确需使用的要严格审批、管控。第 2 类是气体，分为易燃气体（如氢气）、非易燃无毒气体（如氮气、氧气）和毒性气体（如氯气）。</a:t>
            </a:r>
          </a:p>
          <a:p>
            <a:r>
              <a:t>第 3 类是易燃液体，乙醇、丙酮、乙醚等有机溶剂都属于这一类，是实验室最常见的危险品，要少量存放在防火柜中，远离点火源（见第 044、046 课）。</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4 类包括易燃固体、易于自燃的物质和遇水放出易燃气体的物质，例如某些活泼金属遇水会放出易燃气体。第 5 类是氧化性物质和有机过氧化物，本身不一定燃烧，但会助燃，要和可燃物分开存放。</a:t>
            </a:r>
          </a:p>
          <a:p>
            <a:r>
              <a:t>第 6 类是毒性物质和感染性物质，既包括有毒化学品，也包括含病原微生物的感染性物质。病原微生物菌（毒）种和样本的运输按国家专门规定办理审批和包装，不能自行邮寄（见第 6 章）。</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7 类是放射性物质，只有取得许可的单位才能使用和运输。第 8 类是腐蚀性物质，强酸、强碱等都属于这一类。</a:t>
            </a:r>
          </a:p>
          <a:p>
            <a:r>
              <a:t>第 9 类是杂项危险物质和物品，包括锂电池、干冰、危害环境物质等。“杂项”不是“不危险”：锂电池会起火，干冰升华会让密闭空间缺氧、容器胀裂，危害环境物质会污染水体。</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危险货物运输时，包装件上要贴菱形的危险货物包装标志，用颜色和图形表示所属类别（如火焰表示易燃，骷髅表示毒性，腐蚀图形表示腐蚀性）。看到标志，就能知道里面是哪类危险，应该怎样搬运和防护。</a:t>
            </a:r>
          </a:p>
          <a:p>
            <a:r>
              <a:t>标志式样以 GB 190-2009（以现行文本为准）《危险货物包装标志》为准。它与化学品安全标签上的 GHS 象形图（见第 039 课）外形相似但用途不同；搬运危险货物包装件见第 050 课。</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实验室里常见的危险物品有酸碱、有机溶剂、有毒试剂、病原微生物、气瓶等，用完要放回原位，不随手乱放在台面上。</a:t>
            </a:r>
          </a:p>
          <a:p>
            <a:r>
              <a:t>医院里有药品（如细胞毒性药物）、感染性样本、消毒剂等，用过的按医疗废物处理。工厂里的工业化学品和燃料用量更大，一旦泄漏或起火后果更严重。</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危险物品不只在实验室。家里和宿舍里的清洁剂、油漆、电池、杀虫剂、燃料、药品等，同样可能伤人。这些产品的包装背面通常印有警示和使用说明，使用前要先看。</a:t>
            </a:r>
          </a:p>
          <a:p>
            <a:r>
              <a:t>家中危险物品要放在儿童够不着的地方，不要倒进饮料瓶等食品容器。宿舍禁止存放实验室化学品。</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含氯漂白剂、含氨清洁剂、酸性洁厕剂等都是生活中常见的化学品。不同清洁剂混在一起可能发生反应，放出有毒气体，在卫生间等狭小空间里尤其危险。</a:t>
            </a:r>
          </a:p>
          <a:p>
            <a:r>
              <a:t>使用时只用一种，按说明稀释，戴手套，开窗通风；如果闻到刺激性气味、感到不适，立即离开到空气新鲜处。</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汽油、液化石油气、煤油等燃料易燃易爆，要远离火源和高温。电池也是危险物品：铅酸电池里有腐蚀性电解液，锂电池过充、挤压、破损可能起火，鼓包的电池停止使用，废电池按规定回收。</a:t>
            </a:r>
          </a:p>
          <a:p>
            <a:r>
              <a:t>杀虫剂和驱虫剂喷完先离开房间，通风后再进入，远离食物和儿童。药品也是化学品，抗生素、化疗药等要按医嘱和说明使用，不乱吃，不随便给别人。</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危险物品对人的伤害，首先是烧伤：火焰造成热烧伤，腐蚀品造成化学灼伤；化学品溅到皮肤或眼睛，要立即用大量清水冲洗（急救见第 14 章）。</a:t>
            </a:r>
          </a:p>
          <a:p>
            <a:r>
              <a:t>其次是中毒：毒物可经呼吸、口和皮肤进入身体。第三是损伤呼吸道和肺：挥发性、刺激性气体和粉尘会伤害呼吸系统，这类操作要在通风柜内进行。</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有些化学品的危害不会马上表现出来：致癌、致突变、生殖毒性等长期危害，可能多年后才显现，所以不能因为“当时没感觉”就放松防护。</a:t>
            </a:r>
          </a:p>
          <a:p>
            <a:r>
              <a:t>病原微生物和感染性样本可能造成感染，要按生物安全要求在相应级别实验室和生物安全柜中操作。最严重时，危险物品会危及生命，所以个人防护和操作规程一步都不能省。</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危险物品进入环境会污染河流、湖泊和地下水，渗入土壤后很难清除。实验室废液必须倒入专用收集桶，按危险废物处置，不得倒入下水道（见第 053 课）。</a:t>
            </a:r>
          </a:p>
          <a:p>
            <a:r>
              <a:t>重金属和一些难降解的有机物会在生物体内蓄积，沿着食物链逐级富集，最后回到人身上。污染还会破坏生态系统，使物种减少、生物多样性下降。</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答案：B。解析：化学品分类和标签按 GB 30000 系列《化学品分类和标签规范》执行。</a:t>
            </a:r>
          </a:p>
          <a:p>
            <a:r>
              <a:t>第 2 题 答案：B。解析：每一大类下又分若干危险类别，标签上用象形图表示。</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答案：D。解析：第 9 类为杂项危险物质和物品，“杂项”不等于不危险。</a:t>
            </a:r>
          </a:p>
          <a:p>
            <a:r>
              <a:t>第 4 题 答案：B。解析：第一类危害最大，第一类、第二类为高致病性病原微生物。</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答案：B。解析：不同清洁剂混用可能产生有毒气体，应单独使用、戴手套、开窗通风。</a:t>
            </a:r>
          </a:p>
          <a:p>
            <a:r>
              <a:t>第 6 题 答案：污染水体和土壤且难以清除；有些毒素在生物体内蓄积并沿食物链回到人；破坏生态系统、使物种减少。解析：因此废液进专用收集桶，不进下水道。</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危害告知（也叫危险信息传递）就是让每个接触化学品的人知道它有什么危害、怎样防护、出事怎么办。容器上的标签、随货的说明书、交接时的口头说明，都是这门“安全语言”的一部分。</a:t>
            </a:r>
          </a:p>
          <a:p>
            <a:r>
              <a:t>安全意识首先来自把危害讲清楚。这门语言要融入日常：随时问自己，如果此刻出事，标签清楚吗？说明书在吗？别人知道这瓶里是什么吗？</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只要有危险化学品，就要做好危害告知，没有例外。告知对象不只是做实验的人，保洁、维修、来帮忙的同学和外来人员，凡是可能接触的，都要知道三件事：这里有什么危害、怎样防护、出事怎么办。</a:t>
            </a:r>
          </a:p>
          <a:p>
            <a:r>
              <a:t>每个人都有权知道自己接触的是什么化学品、有什么危害。对不清楚的化学品，有权询问实验室负责人，查阅标签和说明书后再操作。</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危险信息的源头是化学品的生产和进口单位：它们要按国家标准对化学品进行危险性分类、评估危害，编制中文安全标签和安全技术说明书，随产品一起提供，把危害信息传递给经营者和使用者。</a:t>
            </a:r>
          </a:p>
          <a:p>
            <a:r>
              <a:t>使用单位采购时要向供应单位索取“一书一签”，到货验收时核对（见第 037 课）。</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联合国推行的全球化学品统一分类和标签制度统一了分类、标签和说明书的格式，各国的人看到的是同样的警示。我国按 GB 30000 系列分类，按 GB 15258-2009 编写标签，按 GB/T 16483-2008 编写说明书；某种化学品是否属于危险化学品，查现行《危险化学品目录》。</a:t>
            </a:r>
          </a:p>
          <a:p>
            <a:r>
              <a:t>《中华人民共和国危险化学品安全法》要求危险化学品附有中文的安全技术说明书和安全标签，即“一书一签”。说明书要放在实验室里随手可查（见第 040 课）；没有标签或标签无法辨认的试剂，一律不使用。</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使用化学品的学校、学院和实验室，要保证每个容器上的标签完好、清晰，保证每种化学品的安全技术说明书在实验室里随手可得——纸质文件夹或电脑、平板上的电子版都可以，关键是出事时能马上查到。</a:t>
            </a:r>
          </a:p>
          <a:p>
            <a:r>
              <a:t>实验室安全员和使用人定期检查标签和说明书，发现缺失、损坏或版本过旧，及时补齐更新。</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使用一种试剂前，先看清标签上的名称、象形图和信号词，一眼就能知道它是什么类型的危险、有多危险。标签是“第一张危险说明”，但篇幅有限。</a:t>
            </a:r>
          </a:p>
          <a:p>
            <a:r>
              <a:t>需要了解危害、个人防护、储存条件、急救和泄漏处理的细节时，查安全技术说明书。看标签、查说明书之后，再选择防护和操作方法。说明书的使用见第 040、041 课。</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 GB 15258-2009（以现行文本为准），化学品安全标签的要素包括：化学品标识（名称）、象形图、信号词、危险性说明、防范说明、供应商标识、应急咨询电话和资料参阅提示语（提示查阅安全技术说明书）。防范说明中包括预防措施、事故响应（含急救）、安全储存和废弃处置。</a:t>
            </a:r>
          </a:p>
          <a:p>
            <a:r>
              <a:t>化学品放在专用化学品柜中，每瓶都要有完整的安全标签。读标签时按“名称—象形图—信号词—说明—供应商和应急电话”的顺序看。</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GB 30000 系列规定的危险象形图是红色边框的菱形，白色背景，中间是黑色图形，一共九种：爆炸弹、火焰、圆圈上方火焰、气瓶、腐蚀、骷髅和交叉骨、感叹号、健康危害（人形）、环境（枯树和死鱼）。</a:t>
            </a:r>
          </a:p>
          <a:p>
            <a:r>
              <a:t>象形图是不分语言的图形语言，一眼就能认出危害类型。多数化学品标签上有一两个象形图，有的有三个甚至更多。九种都要认全，骷髅图（急性毒性）千万不能忽略。</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表示理化危险的象形图：爆炸弹表示爆炸物、自反应物质等不稳定物质；火焰表示易燃（气体、液体、固体等）；圆圈上方的火焰表示氧化性物质，它能放出氧、引发或助长燃烧，所以氧化剂要远离可燃物；气瓶表示加压气体；腐蚀表示金属腐蚀物和皮肤腐蚀、严重眼损伤。</a:t>
            </a:r>
          </a:p>
          <a:p>
            <a:r>
              <a:t>易燃易爆品的存放处还设有“当心火灾”等警告标志（按 GB 2894-2025，以现行文本为准），看到这些标志要格外当心火源。</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表示健康和环境危害的象形图：骷髅和交叉骨表示急性毒性（较高级别），少量接触就可能严重中毒；感叹号表示皮肤刺激、眼刺激、皮肤致敏、较低级别急性毒性等相对较轻的危害；人形图（胸部有星爆）表示致癌、致突变、生殖毒性、呼吸致敏、特异性靶器官毒性、吸入危害等严重的健康危害，往往是慢性的；枯树和死鱼表示危害水生环境。</a:t>
            </a:r>
          </a:p>
          <a:p>
            <a:r>
              <a:t>信号词“危险”比“警告”更严重。看到人形图，不要因为“当时没感觉”而放松防护。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很多化学品同时具有几种危害，例如既易燃又刺激，或者既腐蚀又有毒，标签上就会有几个象形图。</a:t>
            </a:r>
          </a:p>
          <a:p>
            <a:r>
              <a:t>要把每个象形图都看一遍，逐一对应防护：易燃要远离火源，有毒要在通风柜内操作，腐蚀要戴护目镜和手套。</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标签上象形图旁边有信号词，只有两个：“危险”和“警告”，用来粗略表示危害的相对严重程度。“危险”用于较严重的危害类别，“警告”用于相对较轻的。一种化学品标签上只用一个信号词，有“危险”时就不再用“警告”。</a:t>
            </a:r>
          </a:p>
          <a:p>
            <a:r>
              <a:t>信号词只是提示，具体危害要看危险说明，防护要看防范说明。</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危险说明用简短的句子描述化学品的危害性质和程度，例如“高度易燃液体和蒸气”“吞咽有害”。防范说明告诉你怎样预防接触、发生事故怎样处置（包括急救）、怎样储存和废弃。</a:t>
            </a:r>
          </a:p>
          <a:p>
            <a:r>
              <a:t>读完标签，如果有低毒或无毒的替代品能满足实验要求，优先选用低毒的，这是从源头降低风险的最好办法。</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危险货物运输标志（按 GB 190-2009，以现行文本为准）是彩色底的菱形，下角标有类别号，贴在运输包装件上；化学品安全标签上的象形图（按 GB 30000 系列）是白底红框的菱形，在容器标签和安全技术说明书上。两者图形相似，但用途和规定不同。</a:t>
            </a:r>
          </a:p>
          <a:p>
            <a:r>
              <a:t>危险货物运输分类见第 038 课。寄送危险品不能自行邮寄或用普通快递，要交给有资质的承运单位，按规定包装和标识（见第 050 课）。</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部分进口试剂的资料或国外实验室里能看到一种四色菱形标识：蓝色表示健康危害，红色表示易燃性，黄色表示反应性，白色写特殊危害（如遇水剧烈反应），格内用数字表示程度。</a:t>
            </a:r>
          </a:p>
          <a:p>
            <a:r>
              <a:t>它不是我国的化学品标签要求，只作了解，不能代替中文安全标签。国内判断化学品危害，看 GB 30000 象形图、信号词和危险说明，详情查中文安全技术说明书。</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原装容器上的标签由生产或供应单位贴好，使用中要保持完好，不能撕掉、涂改或用别的标签覆盖。取用时标签朝向手心，防止试剂流下腐蚀标签。</a:t>
            </a:r>
          </a:p>
          <a:p>
            <a:r>
              <a:t>标签被腐蚀、模糊或脱落时，在确认内容无误（核对台账、来源）后及时补贴新标签。无法确认内容的化学品，不使用，报告实验室负责人，按不明化学品处理（见第 037 课）。</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化学品从原瓶分装到洗瓶、小试剂瓶、烧杯等容器里，新容器（二级容器）也要贴标签，写明化学品名称、浓度、主要危害（可画象形图）、日期和分装人，不能靠记忆。分装出来的小瓶最容易出事，检查时台面上的洗瓶会逐个查看。</a:t>
            </a:r>
          </a:p>
          <a:p>
            <a:r>
              <a:t>绝不能用饮料瓶、食品容器盛装化学品。没有标签或标签看不清的容器，一律不用；标签损坏及时补贴或上报。</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自己配制的溶液、标准溶液和缓冲液，配好后马上贴标签，再转入试剂瓶按要求存放。标签写明名称、浓度、主要危害、配制日期和配制人（使用人），缓冲液还要写 pH。动手之前先弄清容器里装的是什么，来历不明的瓶子会带来各种风险。</a:t>
            </a:r>
          </a:p>
          <a:p>
            <a:r>
              <a:t>没有标签的溶液，别人不敢用，也无法确定怎样废弃处置，最后成为隐患。配制缓冲液时用到的 pH 计，电极用完冲净后套上装有保存液的保护帽，不干放，也不长期泡在蒸馏水里；电线远离液体，湿手不碰插头开关（仪器使用见第 15 章）。</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标签上要写化学品的中文全称（或规范名称），不要只写缩写、分子式简写或课题组内部代号。同一个缩写在不同领域可能代表完全不同的物质，有的是致癌物，有的是普通溶剂，别人无法判断危害。</a:t>
            </a:r>
          </a:p>
          <a:p>
            <a:r>
              <a:t>写全称还方便其他人和救援人员查到对应的安全技术说明书。</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每个盛装化学品的容器都必须正确标识，让任何人一看就明白。有的国外规定对“本人当班立即使用”的容器有免贴情形，在国内高校不适用：所有容器都要有标签。因为人会离开，瓶子还在，标签替你告诉别人这是什么。</a:t>
            </a:r>
          </a:p>
          <a:p>
            <a:r>
              <a:t>化学品要装在合适的容器里，贴好标签，放进通风柜或指定柜。工作区也要做好标识：容器写清内容、所有人和日期，有危害的区域设置警示标志。</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很多溶液和溶剂无色透明，看上去都像水。实验进行中的烧杯、锥形瓶，也要用标签纸或记号笔临时标明内容，否则自己或别人很容易拿混。</a:t>
            </a:r>
          </a:p>
          <a:p>
            <a:r>
              <a:t>不要把无标签的溶液留在台面上走开，哪怕只是一小会儿。过夜晾干或反应的样品要贴标签，写明内容、使用人和日期，放在指定位置，不留在公共台面上。</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除了容器标签，使用有毒有害化学品的工作场所还要在醒目位置设置警示标识和危害告知卡，写明化学品名称、危害、防护措施和应急处置方法（按职业病防治相关规定和本校要求）。</a:t>
            </a:r>
          </a:p>
          <a:p>
            <a:r>
              <a:t>实验室负责人要如实向学生和工作人员告知所接触化学品的危害、防护办法和应急措施，不能隐瞒或淡化。</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一个案例：一瓶特殊试剂深夜送到实验室，第二天就被直接分装使用，没有人查看随货的说明书。一天多后，操作者出现严重的接触性皮炎——原来它是强致敏物，需要专用的防护手套和操作方式。</a:t>
            </a:r>
          </a:p>
          <a:p>
            <a:r>
              <a:t>到货验收和分装是危害信息最容易“断线”的环节。新试剂到货要先看标签和说明书，把危害和防护要求告知使用者；分装时把标签信息完整转到新容器上。</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让每个人都会读这门安全语言，一靠正式培训（入室安全培训和化学品专项培训），二靠日常信息共享（组会提醒、交接说明、更新告知卡）。</a:t>
            </a:r>
          </a:p>
          <a:p>
            <a:r>
              <a:t>针对常见问题的改法：缺分装标签，就在台边备好标签模板和笔；说明书过期，就在新购入时同步更新；培训只签到，就记录培训内容和考核结果；外来人员（维修、参观、保洁）进门前先告知危害和注意事项。</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答案：D。解析：标签要素包括名称、象形图、信号词、危险性说明、防范说明、供应商标识、应急咨询电话和资料参阅提示语。</a:t>
            </a:r>
          </a:p>
          <a:p>
            <a:r>
              <a:t>第 2 题 答案：A。解析：信号词只有两个，“危险”比“警告”更严重。</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答案：B。解析：氧化性物质能放出氧、助长燃烧，要远离可燃物。</a:t>
            </a:r>
          </a:p>
          <a:p>
            <a:r>
              <a:t>第 4 题 答案：B。解析：国内高校所有容器都要有标签，人走了瓶还在，标签替你说话。</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答案：B。解析：同一个缩写可能代表不同物质，要写全称，方便别人判断危害、查说明书。</a:t>
            </a:r>
          </a:p>
          <a:p>
            <a:r>
              <a:t>第 6 题 答案：名称（全称）、浓度、主要危害、配制日期和配制人；缓冲液还要写 pH。解析：配好马上贴签，没有标签的溶液没人敢用也无法处置。</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实验室每天都在使用化学品，实验离不开它们。但如果防护不当，化学品会伤害身体。</a:t>
            </a:r>
          </a:p>
          <a:p>
            <a:r>
              <a:t>危险化学品的危害种类很多：易燃的、腐蚀的、刺激的、致敏的、有毒的，甚至致癌的。危害不同，需要的防护装备、操作方式和应急处置也不同，所以必须针对每一种化学品了解它的具体危害。</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安全使用一种化学品，先问自己三个问题：怎样安全地取用和储存？需要戴哪些个人防护装备？发生泄漏、着火或接触时怎么办？</a:t>
            </a:r>
          </a:p>
          <a:p>
            <a:r>
              <a:t>这三个问题的答案，都可以在这种化学品的安全技术说明书里找到。回答不了，就不要动手。</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安全技术说明书（SDS）是关于一种化学品的详细信息文件，记录它的名称、成分、理化性质、危害、防护和应急等基本数据，就像这种化学品的“身份档案”。</a:t>
            </a:r>
          </a:p>
          <a:p>
            <a:r>
              <a:t>不论是单一物质还是混合物（如配好的试剂、试剂盒中的溶液、商品清洁剂），都应有自己的一份说明书。</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安全技术说明书过去常被称为 MSDS（物质安全数据表），现在按全球统一的分类和标签制度统称 SDS。两个名称说的是同一类文件，见到旧名称不要以为是两样东西。</a:t>
            </a:r>
          </a:p>
          <a:p>
            <a:r>
              <a:t>我国国家标准中的正式名称是“化学品安全技术说明书”。安全知识竞赛和检查中常问“MSDS/SDS 是什么”，要能答出：它是提供化学品危害、防护和应急信息的说明书，用前要读。</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过去，化学品的安全信息写在物质安全数据单里，由生产商和进口商随货提供。但当时格式五花八门，同样的信息在不同厂家的资料里位置不同，紧急时翻半天找不到，耽误宝贵时间；而且术语多，像只写给专家看，可消防员、急救人员和普通使用者都需要看懂。</a:t>
            </a:r>
          </a:p>
          <a:p>
            <a:r>
              <a:t>为此，联合国制定了全球化学品统一分类和标签制度，统一了说明书的格式和顺序，让各国的人都能快速找到并看懂化学品危害信息。我国按这一制度制定了相应国家标准（见 K6）。</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提供安全技术说明书是法律的要求。《中华人民共和国危险化学品安全法》（2026 年 5 月 1 日起施行）要求危险化学品附有中文的化学品安全技术说明书和安全标签，即“一书一签”；《危险化学品安全管理条例》也要求生产企业提供说明书、粘贴安全标签（以现行文本为准）。</a:t>
            </a:r>
          </a:p>
          <a:p>
            <a:r>
              <a:t>说明书的内容和项目顺序按 GB/T 16483-2008，编写方法按 GB/T 17519-2013，危险性分类和标签按 GB 30000 系列和 GB 15258-2009（均以现行文本为准）。供应方必须提供，使用单位必须持有并让使用者能查到。</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实验室使用、储存的每一种化学品都必须有对应的安全技术说明书，包括很少使用的和存量很小的。</a:t>
            </a:r>
          </a:p>
          <a:p>
            <a:r>
              <a:t>可以对照化学品台账逐项检查：台账上的每一种都要能找到对应的说明书；缺失的及时向供应单位索取或从学校化学品管理系统下载。</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安全技术说明书的主要目的，是让两类人掌握必要的信息：一是每天使用和接触这种化学品的人，二是发生事故时赶来的消防、急救等应急人员。</a:t>
            </a:r>
          </a:p>
          <a:p>
            <a:r>
              <a:t>使用者要靠它安全地操作、储存和处置；救援人员要靠它判断危害、选择灭火剂和防护装备、实施急救。所以说明书必须随时能拿到、能交给救援人员。</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说明书首先告诉你怎样安全操作：要戴哪些防护装备，在通风柜还是普通台面操作，哪些做法绝对不行。</a:t>
            </a:r>
          </a:p>
          <a:p>
            <a:r>
              <a:t>其次告诉你怎样妥善储存：存放温度、是否避光、是否密封，以及不能和哪些物质放在一起。最后告诉你怎样正确处置：剩余试剂和废液不倒下水道，分类收集，交给有资质的单位处理。使用前对照着看，心里就有底。</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讲清化学品的四类风险。健康风险：经哪些途径进入人体，伤害眼睛、皮肤、呼吸系统还是其他器官，有的一次接触就伤人，有的长期累积。火灾危险：是否易燃、着火有多猛，要远离哪些火源和热源，着火时用什么灭火。</a:t>
            </a:r>
          </a:p>
          <a:p>
            <a:r>
              <a:t>反应性：是否稳定，遇热、遇水、遇空气会不会出事，和哪些物质混在一起会剧烈反应，知道了才能分开存放。环境影响：对水生生物和土壤是否有害，这也是废液必须收集处置的原因。</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说明书由化学品生产商（或进口商）按全球统一的分类和标签制度编写，随货提供。了解一种化学品的危害，第一站就查它的说明书，先看与危害相关的几个部分。</a:t>
            </a:r>
          </a:p>
          <a:p>
            <a:r>
              <a:t>说明书是安全使用危险物料的第一依据：例如说明书显示有爆炸危险，就要采用更严格的操作规程、更小的用量和相应的防护措施，必要时报告实验室负责人审批。</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 GB/T 16483-2008（以现行文本为准），化学品安全技术说明书包括十六个部分，顺序固定：从化学品及企业标识、危险性概述、成分，到急救、消防、泄漏应急、操作处置与储存、接触控制和个体防护、理化特性、稳定性和反应性、毒理学、生态学、废弃处置、运输、法规信息和其他信息。名称、生产商、危险成分、理化特性、火灾爆炸和反应性、健康危害、安全操作和控制措施都包括在内。</a:t>
            </a:r>
          </a:p>
          <a:p>
            <a:r>
              <a:t>说明书的主要目的是提供化学品的详细危害信息和安全操作、储存、应急要求；它不是着装规定，也不是培训档案。各部分的具体读法见第 041 课。</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识别化学品的危害，主要靠两件工具：安全技术说明书和容器上的安全标签。说明书内容全面，标签简明直观。</a:t>
            </a:r>
          </a:p>
          <a:p>
            <a:r>
              <a:t>了解一种化学品时，先查说明书掌握完整的危害和防护信息，再看瓶上的安全标签和象形图，确认手中这一瓶的危险（标签见第 039 课）。</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安全标签是说明书的浓缩版，只列出最关键的信息；说明书是详细版。标签上的象形图、信号词、危险说明和防范说明应与说明书第 2 部分（危险性概述）一致，标签按 GB 15258-2009（以现行文本为准）编写。</a:t>
            </a:r>
          </a:p>
          <a:p>
            <a:r>
              <a:t>日常取用时先看标签，遇到拿不准的情况——比如要加热、要和别的试剂混合、发生泄漏——就翻说明书查详细信息。</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进入实验室首先要知道本实验室的安全技术说明书放在哪里（纸质文件夹、电脑或学校系统）。第一次使用某种化学品之前，先读它的说明书和标签，了解危害、防护、急救、灭火和泄漏处理方法。</a:t>
            </a:r>
          </a:p>
          <a:p>
            <a:r>
              <a:t>说明书里还有闪点、职业接触限值等关键数据，是选择通风和防护措施的依据（接触限值国内以 GBZ 2.1 为准，见第 042 课）。原则是：碰化学品之前就已经读过，而不是出事后才去找。</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不只针对试剂瓶里的化学品。核酸提取等商品试剂盒中的裂解液、洗液含有化学试剂，用前同样要查说明书；撕膜、加样时戴好护目镜和手套。有的裂解液与含氯消毒剂混合会产生有害物质，裂解废液要单独收集，不与含氯消毒剂混合，按规定处置。</a:t>
            </a:r>
          </a:p>
          <a:p>
            <a:r>
              <a:t>滴定等常规实验也要先看标签和说明书：碱液会伤眼，有的指示剂溶液易燃；强酸强碱溶液有腐蚀性，留意象形图；盐酸属于易制毒化学品，领用要按规定登记（见第 045 课）。清洁剂、废液等同样以说明书为首要资料。</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说明书内容多，不需要从头到尾背下来。第一次使用前，重点看：危害是什么、要戴什么防护、急救措施、洒了怎么办、操作和储存要求。实验中需要加热、长期储存或废弃处置时，再看对应的部分。</a:t>
            </a:r>
          </a:p>
          <a:p>
            <a:r>
              <a:t>读完说明书后做风险评估：据此选择个人防护装备、确定操作规程和应急措施，写入实验方案，经导师（实验室负责人）审核同意后再动手做（风险评估见第 2 章）。</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采购化学品时，要求供应商提供中文安全技术说明书和安全标签。到货后对照查看：说明书是否随货、是否为中文、内容是否齐全，瓶上标签是否与说明书一致。</a:t>
            </a:r>
          </a:p>
          <a:p>
            <a:r>
              <a:t>没有标签或没有说明书的化学品不入库、不使用（验收见第 037 课）。验收合格后，说明书归入实验室说明书档案，台账上的每种化学品都有一份，人人都能查到。</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技术说明书要放在化学品的使用场所，纸质文件夹或电脑、学校化学品管理系统中的电子版都可以，关键是实验室里的每个人都知道在哪里、能随时查到。每种化学品性质不同、危害各有特点，必须能查到对应的那一份。</a:t>
            </a:r>
          </a:p>
          <a:p>
            <a:r>
              <a:t>安全检查时常要求在几分钟内调出指定化学品的说明书。只用电子版的，要有纸质备份或离线方式，防止停电、断网时查不到。</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查阅的说明书必须与手中的化学品对应：化学品名称、供应商、浓度和规格一致。同一种物质，浓度不同、混合物配方不同，危害和防护要求可能不同，不能随便拿一份代替。</a:t>
            </a:r>
          </a:p>
          <a:p>
            <a:r>
              <a:t>生产商会根据新的数据更新说明书。发现版本过旧，或者厂家发布了新版本，及时更换，旧版撤出，避免按过时信息操作。</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一个案例：某实验室发生酸泄漏，应急人员赶到后，几分钟内就从化学品台账中调出了这种酸的说明书，按其中的泄漏应急和防护要求迅速处置。</a:t>
            </a:r>
          </a:p>
          <a:p>
            <a:r>
              <a:t>把化学品台账（管理系统）和说明书关联起来，事故时可以按名称或存放位置立即调出说明书交给救援人员，抢回宝贵时间（台账见第 037 课，泄漏处置见第 056 课）。</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对于混合物，生产厂家可以对具体成分或配比作商业秘密处理，但危害、防护、急救、泄漏处置等安全信息必须完整写明，不能因为保密而省略。</a:t>
            </a:r>
          </a:p>
          <a:p>
            <a:r>
              <a:t>如果有人接触了保密配方的产品，医生救治急需知道成分，厂家应当按规定提供，不能拒绝——救人第一。说明书上的应急咨询电话就是用于这种情况（具体要求以现行文本为准）。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很有用，但不是万能的。它面向生产、运输、使用等很多类人群，有些内容（如大批量储运）与实验室小量使用关系不大；也可能有错误和遗漏，同一种化学品不同厂家写的可能不一样，有的话没错却帮不上忙。</a:t>
            </a:r>
          </a:p>
          <a:p>
            <a:r>
              <a:t>所以要学会批判地读：带着“我要做什么操作、会有什么风险”的问题去读，必要时对照其他权威资料和本校规定，向实验室负责人请教，多方核对后确定合理的防护措施。识别危害是风险管理的重要一环。</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答案：B。解析：旧称 MSDS（物质安全数据表），现在统一叫 SDS，中文名为化学品安全技术说明书。</a:t>
            </a:r>
          </a:p>
          <a:p>
            <a:r>
              <a:t>第 2 题 答案：B。解析：说明书分十六个部分、顺序固定，编写指南见 GB/T 17519-2013。</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答案：B。解析：试剂盒中的溶液含化学试剂，用前同样要查说明书，废液按规定分开收集。</a:t>
            </a:r>
          </a:p>
          <a:p>
            <a:r>
              <a:t>第 4 题 答案：B。解析：说明书要几分钟内能调出，电子版应有纸质备份或离线方式。</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答案：B。解析：使用者靠它安全操作、储存、处置，救援人员靠它判断危害、选择处置方法。</a:t>
            </a:r>
          </a:p>
          <a:p>
            <a:r>
              <a:t>第 6 题 答案：找到与手中试剂对应（名称、供应商、规格一致）的最新版中文说明书，重点阅读危害、防护、急救、泄漏、操作储存等部分，据此做风险评估、定防护和规程，经导师审核后再操作。解析：说明书不是万能的，拿不准要多方核对。</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化学品安全技术说明书按联合国全球化学品统一分类和标签制度编写，我国的内容和顺序由 GB/T 16483-2008 规定、编写方法见 GB/T 17519-2013：一律分为十六个部分，名称和顺序固定。因此不论哪个供应商提供的说明书，要查急救、消防或防护，都能直接翻到同一个部分，紧急时节省时间。</a:t>
            </a:r>
          </a:p>
          <a:p>
            <a:r>
              <a:t>十六个部分依次是：①化学品及企业标识；②危险性概述；③成分/组成信息；④急救措施；⑤消防措施；⑥泄漏应急处理；⑦操作处置与储存；⑧接触控制和个体防护；⑨理化特性；⑩稳定性和反应性；⑪毒理学信息；⑫生态学信息；⑬废弃处置；⑭运输信息；⑮法规信息；⑯其他信息。</a:t>
            </a:r>
          </a:p>
          <a:p>
            <a:r>
              <a:t>标签和说明书的关系可以这样理解：标签是“字母表”，简明提示主要危害；说明书是“字典”，给出完整信息（说明书的作用和法定要求见第 040 课）。使用前至少要读急救、泄漏、操作储存和个体防护几部分。</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现行十六部分格式和过去的旧版说明书大体相近，主要区别是第 2、3 部分换了位置：旧版先写成分、后写危险性，现行版把“危险性概述”提到第 2 部分，让读者先看到危害，再看成分。</a:t>
            </a:r>
          </a:p>
          <a:p>
            <a:r>
              <a:t>实验室里如果还保存着旧格式的说明书，要按第 040 课的要求向供应商索取现行版本替换；查阅旧版时注意第 2、3 部分顺序不同，不要看错。</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十六部分不是随意排列的，而是按“需要的先后”：最前面是最急需、最好懂的信息（是什么、有什么危害、怎么急救），接着是防护措施，专业的技术数据放在后面。</a:t>
            </a:r>
          </a:p>
          <a:p>
            <a:r>
              <a:t>可以把说明书看成回答四个问题：①这是什么、有什么危害？看第 1–3 部分（名称和供应商；信号词、象形图和危险说明；成分）。②出了问题怎么办？看第 4–6 部分（接触后的急救、着火怎么灭、泄漏怎么围堵清理）。③怎样预防？看第 7–10 部分（操作和储存、接触限值和个体防护、外观闪点等性质、怎样避免危险反应）。④还需要知道什么？看第 11–16 部分（毒理、生态、废弃、运输、法规、其他信息），常用于编写操作规程和风险评估，也应快速浏览一遍。</a:t>
            </a:r>
          </a:p>
          <a:p>
            <a:r>
              <a:t>一个实用的检查：你身上戴的防护装备，要和第 8 部分的要求对得上。</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部分“化学品及企业标识”首先写明物质或混合物的名称。读说明书的第一步，就是确认它和手中的试剂是同一种：名称要和瓶上标签一致。</a:t>
            </a:r>
          </a:p>
          <a:p>
            <a:r>
              <a:t>同一种物质常常有好几个名字（化学名、俗名、商品名），容易混淆；CAS 号等识别号是唯一的，名字可能相似，号码不会重复。例如氢氧化钠，名称加 CAS 号就能锁定它。</a:t>
            </a:r>
          </a:p>
          <a:p>
            <a:r>
              <a:t>浓度和规格也要对上：同一物质浓溶液和稀溶液的危害可能差别很大，不能用稀溶液的说明书指导浓溶液的使用。</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部分还写明化学品的推荐用途和限制用途。实验中如果要把它用在推荐用途之外，要先问清楚导师和实验室负责人，评估新的风险后再做。</a:t>
            </a:r>
          </a:p>
          <a:p>
            <a:r>
              <a:t>这一部分还列出供应商（生产商或进口商）的名称、地址和联系电话，有的还有应急咨询电话。对化学品有疑问或发生事故时，可以据此联系厂家获取信息；发生事故仍须先按本校程序报告实验室负责人和学院，需要时拨打 119、120。</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2 部分“危险性概述”先给出按统一规则（我国为 GB 30000 系列）得出的危险性分类，比如皮肤腐蚀、易燃液体。</a:t>
            </a:r>
          </a:p>
          <a:p>
            <a:r>
              <a:t>接着是标签要素：信号词（“危险”或“警告”，“危险”更严重）、危险说明（会造成什么伤害，统一的标准表述，一种化学品通常只有几条）、防范说明（该怎样预防和应对），以及象形图（一眼看出危害类型，如腐蚀象形图表示会腐蚀皮肤和金属）。</a:t>
            </a:r>
          </a:p>
          <a:p>
            <a:r>
              <a:t>这些内容和瓶上安全标签一致（标签读法见第 039 课）；两者不一致时，要报告实验室负责人核实。</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以常用试剂氢氧化钠为例：说明书第 2 部分显示它的信号词是“危险”，带腐蚀象形图，危险说明为会造成严重的皮肤灼伤和眼损伤。</a:t>
            </a:r>
          </a:p>
          <a:p>
            <a:r>
              <a:t>所以取用氢氧化钠时绝不能徒手抓取，要戴耐化学品手套和护目镜（具体防护见 K19）。常用试剂往往最容易被轻视，越是天天用，越要按说明书来。</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部分“成分/组成信息”对纯物质写明其化学名称、俗名和 CAS 号等识别号；对混合物则列出每种危险成分及其浓度或浓度范围，哪种成分带来危害一看便知。</a:t>
            </a:r>
          </a:p>
          <a:p>
            <a:r>
              <a:t>例如固体氢氧化钠是纯物质，浓度接近百分之百；自己配成溶液后，新容器上要另外标明名称和浓度，按配制后的浓度判断危害。供应商可以按规定对商业秘密成分保密，但危害信息不能缺（见第 040 课）。</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4 部分“急救措施”按不同接触途径分别给出急救方法。想一种化学品会怎样伤人，先想这几条路：吸入、皮肤接触、食入、眼睛接触（暴露途径详见第 042 课）。</a:t>
            </a:r>
          </a:p>
          <a:p>
            <a:r>
              <a:t>常见写法：皮肤接触，立即脱去污染的衣物，用大量流动清水冲洗，必要时用肥皂和水洗净，然后就医；眼睛接触，立即在洗眼器上用大量清水冲洗，冲洗时间按说明书和本校规定，冲洗后立即就医。吸入则迅速离开现场到空气新鲜处。</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4 部分还写明接触后可能出现的症状和效应（如刺激、灼伤、咳嗽、头晕），帮助判断有没有人受到暴露、是急性还是迟发的反应。</a:t>
            </a:r>
          </a:p>
          <a:p>
            <a:r>
              <a:t>说明书会写明哪些情况必须立即就医，必要时拨打 120，并把说明书或标签带给医生。同时按程序报告实验室负责人和学院（报告流程见第 157 课）。</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仍以氢氧化钠为例：说明书第 4 部分写明，误食后不要催吐，因为腐蚀性物质催吐会再次灼伤食道；应漱口并立即送医。</a:t>
            </a:r>
          </a:p>
          <a:p>
            <a:r>
              <a:t>说明书怎么写就怎么做，不凭“常识”乱处理。最好的预防是从源头杜绝食入：实验室内禁止饮食，不把食品饮料带进实验室。</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急救信息要在事故发生前就读过：事故发生时没有时间慢慢查。使用一种化学品之前，先读第 4 部分，明确各种接触途径下怎么处理。</a:t>
            </a:r>
          </a:p>
          <a:p>
            <a:r>
              <a:t>同时要确认本实验室急救箱、洗眼器和紧急喷淋的位置，并知道怎么使用（洗眼器和喷淋的使用见第 027 课，眼部急救见第 160 课）。</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部分“消防措施”首先写明适用和不适用的灭火剂，如水、泡沫、干粉、二氧化碳。有的化学品遇水会剧烈反应，绝不能用水灭火；用错灭火剂会使火势扩大。</a:t>
            </a:r>
          </a:p>
          <a:p>
            <a:r>
              <a:t>还写明特别危险性：燃烧时会产生什么，比如有毒烟气，或者容器受热爆裂。这些信息决定了能不能扑救、要不要立即撤离（灭火器选用见第 032 课）。</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部分还写明灭火的基本策略和消防人员需要的防护装备（如全套防护服和空气呼吸器）。这些是给专业救援人员的：发生火灾时，实验人员按本校应急程序撤离、报警（119），并把相关化学品的说明书交给赶到的救援人员。</a:t>
            </a:r>
          </a:p>
          <a:p>
            <a:r>
              <a:t>以氢氧化钠为例：它本身不燃烧，但遇到某些金属会放出易燃的氢气；火场中可以用水雾冷却容器。这类“本身不燃但有间接危险”的信息，只有说明书里才写得清楚。</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6 部分“泄漏应急处理”先写人员防护：处理者穿戴好说明书要求的防护用品，无关人员撤离。再写环境保护措施：防止泄漏物流入下水道和水体。</a:t>
            </a:r>
          </a:p>
          <a:p>
            <a:r>
              <a:t>然后是清理方法：先围堵防止扩散，再按说明书选用合适的材料吸收或收集，装入化学废物容器，按危险废物处置；不要直接用水冲进水池。照着说明书做，配合泄漏应急处理包使用（泄漏处置的完整流程见第 056 课）。超出自己处理能力的泄漏，立即撤离并报告。</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7 部分“操作处置与储存”写明安全操作要求：避免接触眼睛、皮肤和衣物；避免吸入粉尘和蒸气，在通风良好处或通风柜内操作；搬运前确认容器盖紧、拿稳。</a:t>
            </a:r>
          </a:p>
          <a:p>
            <a:r>
              <a:t>储存部分写明放在哪里、怎么放：温度、通风、避光、密封，以及禁配物要分开存放，比如酸和碱。以氢氧化钠为例：储存于阴凉干燥处，远离酸和金属，用完立即盖紧，防止吸潮（储存原则见第 043 课）。</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8 部分“接触控制和个体防护”先写工程控制：用局部排风、通风柜等设施把危害控制在源头，这比单靠个人防护更可靠。</a:t>
            </a:r>
          </a:p>
          <a:p>
            <a:r>
              <a:t>能在通风柜里做的操作，就不要在敞开的实验台上做；说明书要求在密闭系统中操作的物质，必须按要求使用密闭装置（通风柜的使用见第 052 课）。</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8 部分还列出职业接触限值，表示工作场所空气中该物质容许的浓度水平，常见有时间加权平均等形式。国内以 GBZ 2.1（以现行文本为准）规定的限值为准，进口化学品说明书上的国外限值只作参考。</a:t>
            </a:r>
          </a:p>
          <a:p>
            <a:r>
              <a:t>比较时记住：限值越低，说明吸入危害越严重，越要小心。例如一氧化碳的限值远低于乙醇，就要更加小心防护。单位和实验室据此安排通风和防护措施（接触限值的类型和暴露监测见第 042 课）。</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8 部分写明需要的个体防护装备：眼睛戴安全眼镜或护目镜，必要时加面屏；手部戴材质合适的防护手套（不同材质对不同化学品的防护效果不同，说明书会写明）；身体穿实验服或防护服；需要呼吸防护时选用合适的防毒面具并配对应的滤毒罐，按本校规定经培训后使用。</a:t>
            </a:r>
          </a:p>
          <a:p>
            <a:r>
              <a:t>以氢氧化钠为例：要戴耐化学品手套和护目镜，配制浓溶液等有喷溅风险时再加面屏，因为碱溅入眼睛伤害很重。你身上的防护，要和第 8 部分对得上（个体防护选用见第 021 课，手套见第 023 课）。</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9 部分“理化特性”列出外观（状态、颜色）、气味、pH、熔点、沸点、闪点、溶解度、蒸气压等数据，帮助判断该怎样操作和防护。气味信息仅供参考，千万不要凑近去闻。</a:t>
            </a:r>
          </a:p>
          <a:p>
            <a:r>
              <a:t>加热、混合之前，先看 pH、沸点、熔点等关键数据；蒸气压越高，越容易挥发进空气，越需要在通风柜里操作。例如氢氧化钠是白色固体，极易溶于水。</a:t>
            </a:r>
          </a:p>
          <a:p>
            <a:r>
              <a:t>标签损坏时，理化特性可以帮助判断容器里可能是什么，但不能自行认定，要上报实验室负责人按未知物处理。</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9 部分中的沸点和闪点是判断易燃性的关键数据：闪点越低，越容易形成可燃蒸气而着火。</a:t>
            </a:r>
          </a:p>
          <a:p>
            <a:r>
              <a:t>例如乙醚闪点很低，在室温下挥发出的蒸气遇到火源就能被点燃，所以使用时要远离一切火源和热源，在通风柜内操作（易燃易爆化学品见第 046 课）。</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10 部分“稳定性和反应性”写明化学品在正常条件下是否稳定、可能发生哪些危险反应、应避免的条件（如受热、受压、撞击），以及禁配物（不相容物质）和危险分解产物，分解、聚合等危险也写在这里。</a:t>
            </a:r>
          </a:p>
          <a:p>
            <a:r>
              <a:t>禁配物不能放在一起，更不能混合，储存时就要分开（见第 043 课）。很多实验室事故，是把不相容的废液倒进了同一个废液桶。例如乙醚不能和氧化剂、强酸混放；氢氧化钠遇酸会剧烈反应，碰到某些金属还会放出易燃的氢气。</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11 部分“毒理学信息”写明接触途径（从哪进入身体）、可能的症状，以及急性和慢性影响：急性效应来得快，慢性效应慢慢积累。接触途径找对了，防护才有针对性。</a:t>
            </a:r>
          </a:p>
          <a:p>
            <a:r>
              <a:t>还有毒性数据，如半数致死量（使一半受试动物死亡的剂量），这个数越小，说明毒性越大。实验室里首先要防急性危害，例如乙醚单次吸入即可致头晕嗜睡；氢氧化钠会严重灼伤皮肤和眼睛，粉尘吸入会刺激呼吸道（毒性和剂量—反应详见第 042 课）。</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某项写着“无可用数据”时，要格外小心：化学品成千上万，做过完整毒性测试的只是少数；也可能是编写者没写进去。“无数据”只代表不知道或没人查过，绝不等于安全，应按可能有害采取防护，并向导师或负责人请教、查阅其他资料。</a:t>
            </a:r>
          </a:p>
          <a:p>
            <a:r>
              <a:t>“不适用”表示这项性质对该物质没有意义（如固体的某些液体参数）；而“N/A”可能是不适用，也可能是查不到，需要分辨。</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12 部分“生态学信息”说明化学品泄漏或排放后对环境的危害，包括水生毒性（对鱼类等水生生物的毒害）、持久性和降解性（在环境中能留存多久）等。</a:t>
            </a:r>
          </a:p>
          <a:p>
            <a:r>
              <a:t>例如氢氧化钠进入水体会使 pH 升高，伤害鱼类。这也是化学品和废液不能倒入下水道的原因之一。</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13 部分“废弃处置”写明化学品本身及其包装容器的处置方法，处置必须符合国家和地方规定（《国家危险废物名录》等，以现行文本为准）。</a:t>
            </a:r>
          </a:p>
          <a:p>
            <a:r>
              <a:t>危险废物不能倒入下水道。以氢氧化钠废液为例：不能直接倒进水槽，要按说明书和学校规定分类收集，交学校统一处置；中和等处理由专业人员进行，学生不自行操作（废物分类收集见第 053 课）。</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14 部分“运输信息”写明联合国编号（UN 编号，四位数字）、正式运输名称、运输危险类别和包装类别。包装类别分三类，Ⅰ类危险程度最大、Ⅱ类中等、Ⅲ类较小。</a:t>
            </a:r>
          </a:p>
          <a:p>
            <a:r>
              <a:t>例如氢氧化钠溶液属于第 8 类腐蚀性物质，包装类别视浓度而定。国内危险货物分类和品名编号以 GB 6944-2025、GB 12268-2025（以现行文本为准）为准。实验室搬运和寄送化学品须按学校规定，委托有资质的单位运输（见第 050 课）。</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15 部分“法规信息”列出管理这种化学品的安全、健康和环境法规。国内主要依据《中华人民共和国危险化学品安全法》及《危险化学品安全管理条例》（以现行文本为准），以及《危险化学品目录》等。</a:t>
            </a:r>
          </a:p>
          <a:p>
            <a:r>
              <a:t>名录状态说明该物质是否列入相关名录，如现有化学物质名录、危险化学品目录；列入剧毒、易制毒、易制爆等管制名录的，购买、储存和使用按专门规定管理（见第 045 课）。进口说明书上列的国外法规只作参考。</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16 部分“其他信息”包括说明书的编制日期、修订日期和修订说明，以及缩略语、参考文献等。</a:t>
            </a:r>
          </a:p>
          <a:p>
            <a:r>
              <a:t>通过修订日期可以判断手中的说明书是否为最新版本；版本过旧的，向供应商索取新版替换（见第 040 课）。读完十六部分，把关键要求写进风险评估和操作规程。</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答案：B。解析：说明书分十六个部分、顺序固定，内容和项目顺序按 GB/T 16483-2008，编写指南见 GB/T 17519-2013。</a:t>
            </a:r>
          </a:p>
          <a:p>
            <a:r>
              <a:t>第 2 题 答案：B。解析：第 4 部分“急救措施”按接触途径写明处理方法；应立即用洗眼器大量清水冲洗，再就医并报告。</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答案：B。解析：“无数据”只代表不知道或没人测过，绝不等于安全，应按可能有害采取防护。</a:t>
            </a:r>
          </a:p>
          <a:p>
            <a:r>
              <a:t>第 4 题 答案：B。解析：第 7 部分写储存条件和禁配物，第 10 部分写稳定性、反应性和不相容物质。</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答案：B。解析：限值越低，吸入危害越严重；国内限值以 GBZ 2.1 现行文本为准。</a:t>
            </a:r>
          </a:p>
          <a:p>
            <a:r>
              <a:t>第 6 题 答案：①是什么、有什么危害（第 1–3 部分）；②出了问题怎么办（第 4–6 部分）；③怎样预防（第 7–10 部分）；④还需要知道什么（第 11–16 部分）。解析：使用前至少读第 1–8 部分，你戴的防护要和第 8 部分对得上。</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做风险评估的第一步，是想清楚化学品会通过什么途径进入人体。危险物质进入人体有四条途径：吸入蒸气、气体、粉尘或烟雾；皮肤和眼睛接触（溅入眼睛、皮肤沾染）；注入（被扎破、割伤）；食入（吃进嘴里）。</a:t>
            </a:r>
          </a:p>
          <a:p>
            <a:r>
              <a:t>每条途径对应不同的防护：通风柜挡吸入，手套、实验服和护目镜挡皮肤和眼睛接触，规范处理锐器防注入，禁止饮食防食入。总原则只有一句：别让危险物质碰到你。</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吸入是实验室里最常见的暴露途径。气体、挥发性液体的蒸气、固体的粉尘和烟雾都可能被吸入；有些化学品不用碰到就能伤人。</a:t>
            </a:r>
          </a:p>
          <a:p>
            <a:r>
              <a:t>闻到气味，就说明你已经吸入了；但闻不到也不等于安全：有的气体无色无味（如一氧化碳，会使血液无法正常输送氧气，所以不能在封闭空间里发动车辆或使用燃烧设备），有的浓度太低闻不出来但仍有害。挥发性操作一律在通风柜内进行（通风柜见第 051、052 课；一氧化碳等气体见第 134 课）。</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皮肤和眼睛接触是第二常见的暴露途径。化学品可以灼伤皮肤，有的还能透过皮肤进入血液。</a:t>
            </a:r>
          </a:p>
          <a:p>
            <a:r>
              <a:t>眼睛组织极其娇嫩，少量化学品就可能造成严重甚至永久的伤害，所以要把眼睛单独作为一条途径考虑：在实验室始终佩戴合适的眼面部防护（见第 022 课），并知道洗眼器的位置（见第 027 课）。</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注入是指化学品通过伤口直接进入体内，例如被沾有化学品的碎玻璃割伤、被针头扎伤。规范处理锐器和碎玻璃（见第 029 课）就能大大降低这种风险。</a:t>
            </a:r>
          </a:p>
          <a:p>
            <a:r>
              <a:t>食入在严格遵守规定时很少发生：实验室严禁品尝任何化学品，严禁饮食、吸烟和化妆。要注意间接食入：戴着沾染的手套摸手机、门把手，或不洗手就吃东西，有毒物质就会进嘴；沾染还会污染样品，毁掉实验结果。离开实验室前脱手套、洗手。</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以微生物降解农药的实验为例：实验要用到农药，而农药本身就是毒物，既可能被吸入，也能透过皮肤吸收。</a:t>
            </a:r>
          </a:p>
          <a:p>
            <a:r>
              <a:t>配制含农药的培养基要在通风柜内进行，戴好手套和护目镜；属于剧毒化学品的品种按规定领用，用多少领多少（管控化学品见第 045 课）。一旦沾到皮肤，立即用大量清水冲洗，并报告负责人。</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新合成的产物、来历不明或标签缺失的样品，毒性并不清楚，一律按有毒物质对待：不闻、不尝、不用手直接接触，戴好手套和护目镜，只取需要的最少量。</a:t>
            </a:r>
          </a:p>
          <a:p>
            <a:r>
              <a:t>分类不明时，先按最危险的情况防护，查阅资料、请教导师，确认后再处理；无法确认的按未知废物交学校处置。</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化学品对人体的危害分为急性和慢性。急性危害在接触后短时间内出现，如腐蚀灼伤、急性中毒；局部腐蚀造成的伤害往往难以恢复，中毒要及时处理。</a:t>
            </a:r>
          </a:p>
          <a:p>
            <a:r>
              <a:t>慢性危害来得慢：一次接触没事，不等于没事，长期小量接触，伤害会逐渐累积，患癌症、呼吸系统疾病、神经系统损害等慢性病的风险慢慢升高，而且往往多年后才显现。</a:t>
            </a:r>
          </a:p>
          <a:p>
            <a:r>
              <a:t>因此保护人员的关键是尽量减少接触：每一次都按规定防护，不因“上次没事”而图省事。少接触，就少受伤、少生病、少留后患。</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毒理学的基本规律是“剂量决定毒性”：同一种物质，进入人体的剂量（或接触的浓度和时间）越大，产生的伤害越重，这叫剂量—反应关系。所以控制接触量、缩短接触时间，是降低危害的根本办法。</a:t>
            </a:r>
          </a:p>
          <a:p>
            <a:r>
              <a:t>不同物质的毒性差别很大：毒性强的物质很小剂量就能造成严重伤害。说明书第 11 部分的半数致死量等数据可用于比较，数值越小毒性越大；GB 30000 系列按急性毒性把化学品分为不同类别。剧毒化学品按专门规定管理（见第 045 课）。</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GB 30000 系列中的致癌性、生殖细胞致突变性、生殖毒性（可能致畸、影响生育）属于严重的慢性健康危害，标签上通常带“健康危害”象形图。使用这类物质要尽量用替代品、减少用量，在通风柜内操作，做好个体防护，并按本校规定登记管理。</a:t>
            </a:r>
          </a:p>
          <a:p>
            <a:r>
              <a:t>不同人群敏感程度不同：孕期、哺乳期人员应主动向导师和实验室负责人报告，依据《女职工劳动保护特别规定》（以现行文本为准）和本校规定调整工作，避免接触有生殖毒性等危害的物质；对某些化学品过敏或有相关疾病的人，也要提前说明，采取额外保护（职业健康监护与特殊人群见第 152 课）。</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有些化学品中毒的症状不会立刻出现，可能几小时甚至更久以后才显现。接触后即使暂时没有不适，也不能掉以轻心。</a:t>
            </a:r>
          </a:p>
          <a:p>
            <a:r>
              <a:t>就医时要向医生说清接触过什么化学品、接触方式和时间，最好带上说明书或标签；同时报告实验室负责人，如实记录事件（报告程序见第 157 课）。</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职业接触限值是针对工作场所空气中有害物质浓度规定的界线：在此之下，绝大多数人长期反复接触不会受到明显的健康损害。国外资料中常见的“阈限值”等也是类似概念，国内统一按 GBZ 2.1（以现行文本为准）执行。</a:t>
            </a:r>
          </a:p>
          <a:p>
            <a:r>
              <a:t>每种物质的限值不同，没有一个统一的数，要查标准，不凭记忆。高校实验室不是例外，同样要遵守；接近限值时就要加强监测和防护。</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我国化学有害因素的职业接触限值由 GBZ 2.1 规定，主要分三类：时间加权平均容许浓度（PC-TWA）、短时间接触容许浓度（PC-STEL）和最高容许浓度（MAC）。</a:t>
            </a:r>
          </a:p>
          <a:p>
            <a:r>
              <a:t>进口化学品的说明书上常见国外的限值缩写和数值，只作了解，国内评价和防护以国家标准现行文本为准。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时间加权平均容许浓度，是把一个工作日内高低变化的接触浓度按时间加权平均后的容许值，用来控制长期、每天的接触。按正常工作日计算的平均浓度不能超过它；长期接触不超过这条线，绝大多数人正常工作不会损害健康。</a:t>
            </a:r>
          </a:p>
          <a:p>
            <a:r>
              <a:t>具体数值以 GBZ 2.1 现行文本为准，查标准，不靠背。</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开瓶、倾倒试剂、转移溶剂时，空气中的浓度会短暂冒高。短时间接触容许浓度规定了短时间内（具体时长按 GBZ 2.1 现行文本）接触浓度的上限，管的就是这种短时高峰。</a:t>
            </a:r>
          </a:p>
          <a:p>
            <a:r>
              <a:t>只看平均值是不够的：全天平均没超，但短时尖峰超了，同样不符合要求。所以开瓶、倾倒等操作也要在通风柜内进行。</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最高容许浓度是指在一个工作日内、任何时间、任何地点都不应超过的浓度，通常对作用快、刺激性或毒性强的物质规定（具体物质和数值以 GBZ 2.1 现行文本为准）。</a:t>
            </a:r>
          </a:p>
          <a:p>
            <a:r>
              <a:t>只要测得浓度达到它，就属于超标，应立即停止作业、撤离并报告，查找原因整改。</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立即威胁生命或健康的浓度（GB 18664-2025 等标准中称为立即威胁生命或健康的环境，以现行文本为准）是指一旦接触就可能致死、造成不可逆健康损害或使人失去逃生能力的浓度。</a:t>
            </a:r>
          </a:p>
          <a:p>
            <a:r>
              <a:t>这样的环境，人不能在里面作业，也绝不能为了救人贸然冲进去；只有经过检测、配备合适呼吸防护（如空气呼吸器）的专业人员才能进入。普通师生遇到气体大量泄漏等情况，应立即撤离，报告实验室负责人和保卫处，需要时拨打 119。具体数值不靠记，靠检测和撤离。</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可以把这些概念想成四级台阶：最下面是长期接触的界线（接触限值），然后是每天的平均（时间加权平均），再往上是短时尖峰的上限（短时间接触），最高一级是立即危及生命的浓度。</a:t>
            </a:r>
          </a:p>
          <a:p>
            <a:r>
              <a:t>前两个关注长期和每日平均的接触，后两个关注短时高峰和立即危险。国内的三类限值和最高容许浓度见 K10—K13。</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职业接触限值是管理的上限，不是安全与危险的绝对分界：低于限值也不等于绝对安全，个别敏感的人即使在限值以下也可能受到影响，需要额外保护。</a:t>
            </a:r>
          </a:p>
          <a:p>
            <a:r>
              <a:t>正确的做法是尽量降低接触：能少用就少用，能换成低毒物质就换，挥发性操作放进通风柜（控制层级见第 017 课）。接触越低越好，而不是“贴着限值线”就行。</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说明书和标准中会出现“行动水平”的概念：接触水平虽然还没超过限值，但已经高到需要采取措施的程度，就要开展接触监测、职业健康检查、培训和告知等工作（具体以 GBZ 2.1 现行文本和本校规定为准）。</a:t>
            </a:r>
          </a:p>
          <a:p>
            <a:r>
              <a:t>使用有害化学品的实验室，要关注所用有害物在空气中的浓度，确保不超过国家规定的职业接触限值（职业健康监护见第 152 课）。</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大量使用挥发性溶剂，或者有人出现头痛、头晕等不适，怀疑空气中浓度超标时，要报告实验室负责人，由学校委托的专业人员或有资质的机构检测空气，不要凭感觉估计。</a:t>
            </a:r>
          </a:p>
          <a:p>
            <a:r>
              <a:t>测量结果都有误差，判断时要留出余量，不能“刚好不超”就算合格。结果偏高时，要改进通风、减少用量或改变操作方式，并定期复测确认效果（气体检测报警见第 135 课）。</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空气检测结果要及时告知实验室的所有人员，包括结果是否超标、采取了哪些改进措施。依据《中华人民共和国职业病防治法》（以现行文本为准），职业病危害因素检测结果应当告知劳动者。</a:t>
            </a:r>
          </a:p>
          <a:p>
            <a:r>
              <a:t>报告锁在柜子里、不告诉大家是不行的：每个人都有权知道自己接触的危害，才能做好防护。</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答案：C。解析：气体、蒸气、粉尘烟雾都可能被吸入；闻到气味就说明已经吸入，闻不到也不一定安全。</a:t>
            </a:r>
          </a:p>
          <a:p>
            <a:r>
              <a:t>第 2 题 答案：B。解析：短时间接触容许浓度管短时高峰，平均没超、尖峰超了也不行。</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答案：B。解析：GBZ 2.1 规定时间加权平均容许浓度、短时间接触容许浓度和最高容许浓度，国外限值只作了解。</a:t>
            </a:r>
          </a:p>
          <a:p>
            <a:r>
              <a:t>第 4 题 答案：C。解析：可能处于立即威胁生命或健康的浓度环境，未经检测和防护绝不进入，由配备呼吸器的专业人员施救。</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答案：B。解析：限值不是安全线，有人更敏感；能少用就少用、能替换就替换，接触越低越好。</a:t>
            </a:r>
          </a:p>
          <a:p>
            <a:r>
              <a:t>第 6 题 答案：一律按有毒对待：不闻、不尝、不用手碰；戴好手套和护目镜，只取需要的一点；按最危险的情况防护，查资料、问导师，确认后再处理。解析：未知不等于无害。</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037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危险化学品法规与全过程管理</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71 镜）　适用对象：全体使用化学品的高校本科生、研究生和教职工（必修）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能说出化学品安全的目的（安全使用、储存、处置，护人护环境）和守规程的意义。</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能说出《中华人民共和国危险化学品安全法》的施行时间及其对学校、科研机构的基本要求。</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能做到按“审批采购—验收（一书一签）—入账—领用登记—定期清查—规范处置”的全过程管理化学品。</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能判断私自网购、无签无书、账物不符、遗留旧试剂等违规情形并及时报告。</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日起施行）及《危险化学品安全管理条例》（以现行文本为准）：学校、科研机构为使用危险化学品的责任主体；危险化学品附中文化学品安全技术说明书和安全标签</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《中华人民共和国安全生产法》（以现行文本为准）：单位主要负责人对本单位安全工作全面负责</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《中华人民共和国固体废物污染环境防治法》（以现行文本为准）及《国家危险废物名录》（以现行文本为准）：废弃危险化学品按危险废物管理，交有资质单位处置</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15258-2009（以现行文本为准）《化学品安全标签编写规定》；GB/T 16483-2008（以现行文本为准）《化学品安全技术说明书 内容和项目顺序》</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号，以现行文本为准）：危险化学品采购、储存、使用、处置全过程管理，建立台账</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高校实验室安全检查项目表（以现行文本为准）：化学品台账、账物相符、过期试剂清理、实验室安全信息牌</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本校化学品采购、验收、领用和废弃物处置管理规定（以本校规定为准）</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化学品安全：用、存、废都安全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化学品安全管三件事：使用、储存、处置</a:t>
            </a:r>
          </a:p>
          <a:p>
            <a:pPr>
              <a:spcAft>
                <a:spcPts val="1000"/>
              </a:spcAft>
            </a:pPr>
            <a:r>
              <a:rPr sz="2000">
                <a:solidFill>
                  <a:srgbClr val="222B33"/>
                </a:solidFill>
                <a:latin typeface="Microsoft YaHei"/>
              </a:rPr>
              <a:t>▪ 目的是防止事故和人身伤害</a:t>
            </a:r>
          </a:p>
          <a:p>
            <a:pPr>
              <a:spcAft>
                <a:spcPts val="1000"/>
              </a:spcAft>
            </a:pPr>
            <a:r>
              <a:rPr sz="2000">
                <a:solidFill>
                  <a:srgbClr val="222B33"/>
                </a:solidFill>
                <a:latin typeface="Microsoft YaHei"/>
              </a:rPr>
              <a:t>▪ 也要防止污染环境</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化学品安全，就是让化学品在实验室里被安全地使用、安全地储存、安全地处置。三个环节任何一个出问题，都可能引发火灾、爆炸、中毒、灼伤等事故，或者让有害物质进入下水道、土壤和空气，污染环境。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只注意实验操作安全，不管储存和废弃</a:t>
            </a:r>
          </a:p>
          <a:p>
            <a:pPr>
              <a:spcAft>
                <a:spcPts val="1000"/>
              </a:spcAft>
            </a:pPr>
            <a:r>
              <a:rPr sz="1500">
                <a:solidFill>
                  <a:srgbClr val="222B33"/>
                </a:solidFill>
                <a:latin typeface="Microsoft YaHei"/>
              </a:rPr>
              <a:t>▪ 把废液、废试剂倒进水槽“冲掉了事”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各类实验室都离不开化学品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生物、医学实验室也天天用化学品</a:t>
            </a:r>
          </a:p>
          <a:p>
            <a:pPr>
              <a:spcAft>
                <a:spcPts val="1000"/>
              </a:spcAft>
            </a:pPr>
            <a:r>
              <a:rPr sz="2000">
                <a:solidFill>
                  <a:srgbClr val="222B33"/>
                </a:solidFill>
                <a:latin typeface="Microsoft YaHei"/>
              </a:rPr>
              <a:t>▪ 消毒、染色、固定、配试剂都用化学品</a:t>
            </a:r>
          </a:p>
          <a:p>
            <a:pPr>
              <a:spcAft>
                <a:spcPts val="1000"/>
              </a:spcAft>
            </a:pPr>
            <a:r>
              <a:rPr sz="2000">
                <a:solidFill>
                  <a:srgbClr val="222B33"/>
                </a:solidFill>
                <a:latin typeface="Microsoft YaHei"/>
              </a:rPr>
              <a:t>▪ 不少化学品易燃、有腐蚀性或有毒</a:t>
            </a:r>
          </a:p>
          <a:p>
            <a:pPr>
              <a:spcAft>
                <a:spcPts val="1000"/>
              </a:spcAft>
            </a:pPr>
            <a:r>
              <a:rPr sz="2000">
                <a:solidFill>
                  <a:srgbClr val="222B33"/>
                </a:solidFill>
                <a:latin typeface="Microsoft YaHei"/>
              </a:rPr>
              <a:t>▪ 处理不当，伤人也伤环境</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不只化学实验室用化学品。微生物、生命科学、医学、材料、环境等实验室同样大量使用化学品：台面和器材消毒用的乙醇、含氯消毒剂，染色用的染料，固定标本用的甲醛、戊二醛，配制缓冲液和培养基用的各种试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认为生物实验室“没有危化品”</a:t>
            </a:r>
          </a:p>
          <a:p>
            <a:pPr>
              <a:spcAft>
                <a:spcPts val="1000"/>
              </a:spcAft>
            </a:pPr>
            <a:r>
              <a:rPr sz="1500">
                <a:solidFill>
                  <a:srgbClr val="222B33"/>
                </a:solidFill>
                <a:latin typeface="Microsoft YaHei"/>
              </a:rPr>
              <a:t>▪ 消毒剂、固定液随意分装、不贴标签</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守规程：防事故、护样品、保结果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照规程做，能防溢洒、火灾和爆炸</a:t>
            </a:r>
          </a:p>
          <a:p>
            <a:pPr>
              <a:spcAft>
                <a:spcPts val="1000"/>
              </a:spcAft>
            </a:pPr>
            <a:r>
              <a:rPr sz="2000">
                <a:solidFill>
                  <a:srgbClr val="222B33"/>
                </a:solidFill>
                <a:latin typeface="Microsoft YaHei"/>
              </a:rPr>
              <a:t>▪ 规程是用事故换来的，别跳步</a:t>
            </a:r>
          </a:p>
          <a:p>
            <a:pPr>
              <a:spcAft>
                <a:spcPts val="1000"/>
              </a:spcAft>
            </a:pPr>
            <a:r>
              <a:rPr sz="2000">
                <a:solidFill>
                  <a:srgbClr val="222B33"/>
                </a:solidFill>
                <a:latin typeface="Microsoft YaHei"/>
              </a:rPr>
              <a:t>▪ 洒漏会腐蚀仪器、污染毁掉样品</a:t>
            </a:r>
          </a:p>
          <a:p>
            <a:pPr>
              <a:spcAft>
                <a:spcPts val="1000"/>
              </a:spcAft>
            </a:pPr>
            <a:r>
              <a:rPr sz="2000">
                <a:solidFill>
                  <a:srgbClr val="222B33"/>
                </a:solidFill>
                <a:latin typeface="Microsoft YaHei"/>
              </a:rPr>
              <a:t>▪ 试剂用乱混用，实验结果就不准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实验室的操作规程和安全规定，很多是从以往事故中总结出来的。按规程操作、不跳步、不擅自改变用量和条件，可以预防溢洒、火灾、爆炸等事故。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为省时间跳过规程中的步骤</a:t>
            </a:r>
          </a:p>
          <a:p>
            <a:pPr>
              <a:spcAft>
                <a:spcPts val="1000"/>
              </a:spcAft>
            </a:pPr>
            <a:r>
              <a:rPr sz="1500">
                <a:solidFill>
                  <a:srgbClr val="222B33"/>
                </a:solidFill>
                <a:latin typeface="Microsoft YaHei"/>
              </a:rPr>
              <a:t>▪ 试剂瓶不盖、混放，导致交叉污染</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依法合规，为的是护人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国家对危险化学品有专门的法律法规</a:t>
            </a:r>
          </a:p>
          <a:p>
            <a:pPr>
              <a:spcAft>
                <a:spcPts val="1000"/>
              </a:spcAft>
            </a:pPr>
            <a:r>
              <a:rPr sz="2000">
                <a:solidFill>
                  <a:srgbClr val="222B33"/>
                </a:solidFill>
                <a:latin typeface="Microsoft YaHei"/>
              </a:rPr>
              <a:t>▪ 学校有安全规范和定期安全检查</a:t>
            </a:r>
          </a:p>
          <a:p>
            <a:pPr>
              <a:spcAft>
                <a:spcPts val="1000"/>
              </a:spcAft>
            </a:pPr>
            <a:r>
              <a:rPr sz="2000">
                <a:solidFill>
                  <a:srgbClr val="222B33"/>
                </a:solidFill>
                <a:latin typeface="Microsoft YaHei"/>
              </a:rPr>
              <a:t>▪ 守规矩不只为免罚，更为保护人</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我国对危险化学品实行严格管理，有专门的法律和行政法规（见 S1），教育部和学校也有实验室安全规范、检查项目和本校管理制度，学校和学院定期开展安全检查。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把安全检查当作“应付检查”，检查过后照旧</a:t>
            </a:r>
          </a:p>
          <a:p>
            <a:pPr>
              <a:spcAft>
                <a:spcPts val="1000"/>
              </a:spcAft>
            </a:pPr>
            <a:r>
              <a:rPr sz="1500">
                <a:solidFill>
                  <a:srgbClr val="222B33"/>
                </a:solidFill>
                <a:latin typeface="Microsoft YaHei"/>
              </a:rPr>
              <a:t>▪ 认为规定只是管理部门的事，与自己无关</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危化品安全法：学校是责任主体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危化品安全法 2026 年 5 月 1 日起施行</a:t>
            </a:r>
          </a:p>
          <a:p>
            <a:pPr>
              <a:spcAft>
                <a:spcPts val="1000"/>
              </a:spcAft>
            </a:pPr>
            <a:r>
              <a:rPr sz="1700">
                <a:solidFill>
                  <a:srgbClr val="222B33"/>
                </a:solidFill>
                <a:latin typeface="Microsoft YaHei"/>
              </a:rPr>
              <a:t>▪ 设专章规定危险化学品的使用安全</a:t>
            </a:r>
          </a:p>
          <a:p>
            <a:pPr>
              <a:spcAft>
                <a:spcPts val="1000"/>
              </a:spcAft>
            </a:pPr>
            <a:r>
              <a:rPr sz="1700">
                <a:solidFill>
                  <a:srgbClr val="222B33"/>
                </a:solidFill>
                <a:latin typeface="Microsoft YaHei"/>
              </a:rPr>
              <a:t>▪ 学校、科研机构是使用危化品的责任主体</a:t>
            </a:r>
          </a:p>
          <a:p>
            <a:pPr>
              <a:spcAft>
                <a:spcPts val="1000"/>
              </a:spcAft>
            </a:pPr>
            <a:r>
              <a:rPr sz="1700">
                <a:solidFill>
                  <a:srgbClr val="222B33"/>
                </a:solidFill>
                <a:latin typeface="Microsoft YaHei"/>
              </a:rPr>
              <a:t>▪ 危化品要有中文说明书和安全标签</a:t>
            </a:r>
          </a:p>
          <a:p>
            <a:pPr>
              <a:spcAft>
                <a:spcPts val="1000"/>
              </a:spcAft>
            </a:pPr>
            <a:r>
              <a:rPr sz="1700">
                <a:solidFill>
                  <a:srgbClr val="222B33"/>
                </a:solidFill>
                <a:latin typeface="Microsoft YaHei"/>
              </a:rPr>
              <a:t>▪ 剧毒、易制毒、易制爆另有严格管控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《中华人民共和国危险化学品安全法》于 2025 年 12 月 27 日通过，2026 年 5 月 1 日起施行，对危险化学品生产、储存、使用、经营、运输等各环节作出规定，并设专章规定“使用安全”。学校、科研机构使用危……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认为少量试剂“不算危化品”，不受法规约束</a:t>
            </a:r>
          </a:p>
          <a:p>
            <a:pPr>
              <a:spcAft>
                <a:spcPts val="1000"/>
              </a:spcAft>
            </a:pPr>
            <a:r>
              <a:rPr sz="1500">
                <a:solidFill>
                  <a:srgbClr val="222B33"/>
                </a:solidFill>
                <a:latin typeface="Microsoft YaHei"/>
              </a:rPr>
              <a:t>▪ 不知道新法已施行，仍按老习惯随意管理</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全过程管理，三级负责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采购、验收、储存、使用、处置全过程闭环</a:t>
            </a:r>
          </a:p>
          <a:p>
            <a:pPr>
              <a:spcAft>
                <a:spcPts val="1000"/>
              </a:spcAft>
            </a:pPr>
            <a:r>
              <a:rPr sz="2000">
                <a:solidFill>
                  <a:srgbClr val="222B33"/>
                </a:solidFill>
                <a:latin typeface="Microsoft YaHei"/>
              </a:rPr>
              <a:t>▪ 学校、学院、实验室三级管理</a:t>
            </a:r>
          </a:p>
          <a:p>
            <a:pPr>
              <a:spcAft>
                <a:spcPts val="1000"/>
              </a:spcAft>
            </a:pPr>
            <a:r>
              <a:rPr sz="2000">
                <a:solidFill>
                  <a:srgbClr val="222B33"/>
                </a:solidFill>
                <a:latin typeface="Microsoft YaHei"/>
              </a:rPr>
              <a:t>▪ 实验室负责人是第一责任人</a:t>
            </a:r>
          </a:p>
          <a:p>
            <a:pPr>
              <a:spcAft>
                <a:spcPts val="1000"/>
              </a:spcAft>
            </a:pPr>
            <a:r>
              <a:rPr sz="2000">
                <a:solidFill>
                  <a:srgbClr val="222B33"/>
                </a:solidFill>
                <a:latin typeface="Microsoft YaHei"/>
              </a:rPr>
              <a:t>▪ 谁使用，谁负责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高校对化学品实行全生命周期管理：采购审批、到货验收、入库建账、分类储存、领用登记、规范使用、废弃处置，每个环节都有记录，形成闭环，做到来源可查、去向可追。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认为化学品管理只是实验室安全员的事</a:t>
            </a:r>
          </a:p>
          <a:p>
            <a:pPr>
              <a:spcAft>
                <a:spcPts val="1000"/>
              </a:spcAft>
            </a:pPr>
            <a:r>
              <a:rPr sz="1500">
                <a:solidFill>
                  <a:srgbClr val="222B33"/>
                </a:solidFill>
                <a:latin typeface="Microsoft YaHei"/>
              </a:rPr>
              <a:t>▪ 只管“买”和“用”，不管“账”和“废”</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采购要审批，渠道要合规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买化学品先提申请，经导师和学院审批</a:t>
            </a:r>
          </a:p>
          <a:p>
            <a:pPr>
              <a:spcAft>
                <a:spcPts val="1000"/>
              </a:spcAft>
            </a:pPr>
            <a:r>
              <a:rPr sz="1700">
                <a:solidFill>
                  <a:srgbClr val="222B33"/>
                </a:solidFill>
                <a:latin typeface="Microsoft YaHei"/>
              </a:rPr>
              <a:t>▪ 按学校渠道，向有资质的单位购买</a:t>
            </a:r>
          </a:p>
          <a:p>
            <a:pPr>
              <a:spcAft>
                <a:spcPts val="1000"/>
              </a:spcAft>
            </a:pPr>
            <a:r>
              <a:rPr sz="1700">
                <a:solidFill>
                  <a:srgbClr val="222B33"/>
                </a:solidFill>
                <a:latin typeface="Microsoft YaHei"/>
              </a:rPr>
              <a:t>▪ 不私自网购，不私下转让、转借</a:t>
            </a:r>
          </a:p>
          <a:p>
            <a:pPr>
              <a:spcAft>
                <a:spcPts val="1000"/>
              </a:spcAft>
            </a:pPr>
            <a:r>
              <a:rPr sz="1700">
                <a:solidFill>
                  <a:srgbClr val="222B33"/>
                </a:solidFill>
                <a:latin typeface="Microsoft YaHei"/>
              </a:rPr>
              <a:t>▪ 按需少量购买，不囤货</a:t>
            </a:r>
          </a:p>
          <a:p>
            <a:pPr>
              <a:spcAft>
                <a:spcPts val="1000"/>
              </a:spcAft>
            </a:pPr>
            <a:r>
              <a:rPr sz="1700">
                <a:solidFill>
                  <a:srgbClr val="222B33"/>
                </a:solidFill>
                <a:latin typeface="Microsoft YaHei"/>
              </a:rPr>
              <a:t>▪ 来路不明的交老师按规定处理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购买危险化学品要先提出申请，说明品名、规格、数量和用途，经实验室负责人（导师）和学院审核批准后，通过学校指定的采购平台或渠道，向具有相应资质的单位购买。管控类化学品还要按第 045 课的规定办理审批和备案。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为了快，自己在网上下单买试剂</a:t>
            </a:r>
          </a:p>
          <a:p>
            <a:pPr>
              <a:spcAft>
                <a:spcPts val="1000"/>
              </a:spcAft>
            </a:pPr>
            <a:r>
              <a:rPr sz="1500">
                <a:solidFill>
                  <a:srgbClr val="222B33"/>
                </a:solidFill>
                <a:latin typeface="Microsoft YaHei"/>
              </a:rPr>
              <a:t>▪ 一次买很多“备着”，长期积压过期</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到货验收：一书一签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到货先验收，再入库</a:t>
            </a:r>
          </a:p>
          <a:p>
            <a:pPr>
              <a:spcAft>
                <a:spcPts val="1000"/>
              </a:spcAft>
            </a:pPr>
            <a:r>
              <a:rPr sz="1700">
                <a:solidFill>
                  <a:srgbClr val="222B33"/>
                </a:solidFill>
                <a:latin typeface="Microsoft YaHei"/>
              </a:rPr>
              <a:t>▪ 核对标签：品名、规格、危害信息</a:t>
            </a:r>
          </a:p>
          <a:p>
            <a:pPr>
              <a:spcAft>
                <a:spcPts val="1000"/>
              </a:spcAft>
            </a:pPr>
            <a:r>
              <a:rPr sz="1700">
                <a:solidFill>
                  <a:srgbClr val="222B33"/>
                </a:solidFill>
                <a:latin typeface="Microsoft YaHei"/>
              </a:rPr>
              <a:t>▪ 中文安全技术说明书要随货齐全</a:t>
            </a:r>
          </a:p>
          <a:p>
            <a:pPr>
              <a:spcAft>
                <a:spcPts val="1000"/>
              </a:spcAft>
            </a:pPr>
            <a:r>
              <a:rPr sz="1700">
                <a:solidFill>
                  <a:srgbClr val="222B33"/>
                </a:solidFill>
                <a:latin typeface="Microsoft YaHei"/>
              </a:rPr>
              <a:t>▪ 包装破损、渗漏的不收</a:t>
            </a:r>
          </a:p>
          <a:p>
            <a:pPr>
              <a:spcAft>
                <a:spcPts val="1000"/>
              </a:spcAft>
            </a:pPr>
            <a:r>
              <a:rPr sz="1700">
                <a:solidFill>
                  <a:srgbClr val="222B33"/>
                </a:solidFill>
                <a:latin typeface="Microsoft YaHei"/>
              </a:rPr>
              <a:t>▪ 缺签缺书，不收、不用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化学品到货后，由实验室指定人员戴好手套验收：核对品名、规格、数量与采购单是否一致；检查每个容器上有没有中文化学品安全标签（象形图、信号词、危险说明等，见第 039 课）；检查是否随货提供中文化学品安全技术说明书（SD……</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快递到了直接拆开上架，不核对</a:t>
            </a:r>
          </a:p>
          <a:p>
            <a:pPr>
              <a:spcAft>
                <a:spcPts val="1000"/>
              </a:spcAft>
            </a:pPr>
            <a:r>
              <a:rPr sz="1500">
                <a:solidFill>
                  <a:srgbClr val="222B33"/>
                </a:solidFill>
                <a:latin typeface="Microsoft YaHei"/>
              </a:rPr>
              <a:t>▪ 没有说明书也先用着，“以后再要”</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建台账，账物相符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有多少化学品，要心里有数</a:t>
            </a:r>
          </a:p>
          <a:p>
            <a:pPr>
              <a:spcAft>
                <a:spcPts val="1000"/>
              </a:spcAft>
            </a:pPr>
            <a:r>
              <a:rPr sz="2000">
                <a:solidFill>
                  <a:srgbClr val="222B33"/>
                </a:solidFill>
                <a:latin typeface="Microsoft YaHei"/>
              </a:rPr>
              <a:t>▪ 入库扫码或登记，一瓶一码</a:t>
            </a:r>
          </a:p>
          <a:p>
            <a:pPr>
              <a:spcAft>
                <a:spcPts val="1000"/>
              </a:spcAft>
            </a:pPr>
            <a:r>
              <a:rPr sz="2000">
                <a:solidFill>
                  <a:srgbClr val="222B33"/>
                </a:solidFill>
                <a:latin typeface="Microsoft YaHei"/>
              </a:rPr>
              <a:t>▪ 进、用、废都记在台账上</a:t>
            </a:r>
          </a:p>
          <a:p>
            <a:pPr>
              <a:spcAft>
                <a:spcPts val="1000"/>
              </a:spcAft>
            </a:pPr>
            <a:r>
              <a:rPr sz="2000">
                <a:solidFill>
                  <a:srgbClr val="222B33"/>
                </a:solidFill>
                <a:latin typeface="Microsoft YaHei"/>
              </a:rPr>
              <a:t>▪ 定期盘点，账物相符；不符要查清报告</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实验室要建立化学品台账（纸质或学校化学品管理信息系统），记录品名、规格、数量、存放位置、入库日期、责任人。入库时逐瓶登记，很多学校用条码或二维码实现一瓶一码。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只在入库时登记，用完、废弃不销账</a:t>
            </a:r>
          </a:p>
          <a:p>
            <a:pPr>
              <a:spcAft>
                <a:spcPts val="1000"/>
              </a:spcAft>
            </a:pPr>
            <a:r>
              <a:rPr sz="1500">
                <a:solidFill>
                  <a:srgbClr val="222B33"/>
                </a:solidFill>
                <a:latin typeface="Microsoft YaHei"/>
              </a:rPr>
              <a:t>▪ 盘点走过场，账物长期不符</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实时清单，救援心中有数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出了事，救援人员要知道屋里有什么</a:t>
            </a:r>
          </a:p>
          <a:p>
            <a:pPr>
              <a:spcAft>
                <a:spcPts val="1000"/>
              </a:spcAft>
            </a:pPr>
            <a:r>
              <a:rPr sz="2000">
                <a:solidFill>
                  <a:srgbClr val="222B33"/>
                </a:solidFill>
                <a:latin typeface="Microsoft YaHei"/>
              </a:rPr>
              <a:t>▪ 化学品清单要实时更新</a:t>
            </a:r>
          </a:p>
          <a:p>
            <a:pPr>
              <a:spcAft>
                <a:spcPts val="1000"/>
              </a:spcAft>
            </a:pPr>
            <a:r>
              <a:rPr sz="2000">
                <a:solidFill>
                  <a:srgbClr val="222B33"/>
                </a:solidFill>
                <a:latin typeface="Microsoft YaHei"/>
              </a:rPr>
              <a:t>▪ 过时的清单会误导救援</a:t>
            </a:r>
          </a:p>
          <a:p>
            <a:pPr>
              <a:spcAft>
                <a:spcPts val="1000"/>
              </a:spcAft>
            </a:pPr>
            <a:r>
              <a:rPr sz="2000">
                <a:solidFill>
                  <a:srgbClr val="222B33"/>
                </a:solidFill>
                <a:latin typeface="Microsoft YaHei"/>
              </a:rPr>
              <a:t>▪ 门口信息牌写明主要危险和联系人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实验室发生火灾、泄漏等事故时，消防和救援人员要马上知道屋里有哪些危险化学品、大概多少、放在哪里，才能选择灭火和防护方法。所以化学品清单要随台账实时更新，并能在应急时迅速提供。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清单多年不更新，与实际库存差别很大</a:t>
            </a:r>
          </a:p>
          <a:p>
            <a:pPr>
              <a:spcAft>
                <a:spcPts val="1000"/>
              </a:spcAft>
            </a:pPr>
            <a:r>
              <a:rPr sz="1500">
                <a:solidFill>
                  <a:srgbClr val="222B33"/>
                </a:solidFill>
                <a:latin typeface="Microsoft YaHei"/>
              </a:rPr>
              <a:t>▪ 门口信息牌内容过时、联系人已离校</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按需领用，登记去向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领用登记：谁领、领多少、做什么</a:t>
            </a:r>
          </a:p>
          <a:p>
            <a:pPr>
              <a:spcAft>
                <a:spcPts val="1000"/>
              </a:spcAft>
            </a:pPr>
            <a:r>
              <a:rPr sz="1700">
                <a:solidFill>
                  <a:srgbClr val="222B33"/>
                </a:solidFill>
                <a:latin typeface="Microsoft YaHei"/>
              </a:rPr>
              <a:t>▪ 按实验需要少量领取</a:t>
            </a:r>
          </a:p>
          <a:p>
            <a:pPr>
              <a:spcAft>
                <a:spcPts val="1000"/>
              </a:spcAft>
            </a:pPr>
            <a:r>
              <a:rPr sz="1700">
                <a:solidFill>
                  <a:srgbClr val="222B33"/>
                </a:solidFill>
                <a:latin typeface="Microsoft YaHei"/>
              </a:rPr>
              <a:t>▪ 用前看标签和说明书，评估风险</a:t>
            </a:r>
          </a:p>
          <a:p>
            <a:pPr>
              <a:spcAft>
                <a:spcPts val="1000"/>
              </a:spcAft>
            </a:pPr>
            <a:r>
              <a:rPr sz="1700">
                <a:solidFill>
                  <a:srgbClr val="222B33"/>
                </a:solidFill>
                <a:latin typeface="Microsoft YaHei"/>
              </a:rPr>
              <a:t>▪ 不转给他人，不带出实验室</a:t>
            </a:r>
          </a:p>
          <a:p>
            <a:pPr>
              <a:spcAft>
                <a:spcPts val="1000"/>
              </a:spcAft>
            </a:pPr>
            <a:r>
              <a:rPr sz="1700">
                <a:solidFill>
                  <a:srgbClr val="222B33"/>
                </a:solidFill>
                <a:latin typeface="Microsoft YaHei"/>
              </a:rPr>
              <a:t>▪ 用剩的放回原处，及时登记</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从库房或试剂柜领用化学品，要登记领用人、品名、数量、用途和日期；按当次实验需要少量领取，不在台面上大量存放。使用前阅读标签和安全技术说明书，了解危害和防护要求，做好风险评估和个人防护。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不登记就从柜里拿试剂</a:t>
            </a:r>
          </a:p>
          <a:p>
            <a:pPr>
              <a:spcAft>
                <a:spcPts val="1000"/>
              </a:spcAft>
            </a:pPr>
            <a:r>
              <a:rPr sz="1500">
                <a:solidFill>
                  <a:srgbClr val="222B33"/>
                </a:solidFill>
                <a:latin typeface="Microsoft YaHei"/>
              </a:rPr>
              <a:t>▪ 把试剂带出实验室或转给别的课题组</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遗留旧试剂是定时炸弹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没人管的旧库存是定时炸弹</a:t>
            </a:r>
          </a:p>
          <a:p>
            <a:pPr>
              <a:spcAft>
                <a:spcPts val="1000"/>
              </a:spcAft>
            </a:pPr>
            <a:r>
              <a:rPr sz="2000">
                <a:solidFill>
                  <a:srgbClr val="222B33"/>
                </a:solidFill>
                <a:latin typeface="Microsoft YaHei"/>
              </a:rPr>
              <a:t>▪ 案例：一瓶汞在储藏间被遗忘多年</a:t>
            </a:r>
          </a:p>
          <a:p>
            <a:pPr>
              <a:spcAft>
                <a:spcPts val="1000"/>
              </a:spcAft>
            </a:pPr>
            <a:r>
              <a:rPr sz="2000">
                <a:solidFill>
                  <a:srgbClr val="222B33"/>
                </a:solidFill>
                <a:latin typeface="Microsoft YaHei"/>
              </a:rPr>
              <a:t>▪ 装修时被碰洒，清理人员无防护接触</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实验室里长期没人管理的旧试剂——前人留下的、标签模糊的、放在角落和储藏间的——风险会随时间增加：容器老化、标签脱落、有的试剂变质甚至变得更危险。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前人留下的试剂“先放着不管”</a:t>
            </a:r>
          </a:p>
          <a:p>
            <a:pPr>
              <a:spcAft>
                <a:spcPts val="1000"/>
              </a:spcAft>
            </a:pPr>
            <a:r>
              <a:rPr sz="1500">
                <a:solidFill>
                  <a:srgbClr val="222B33"/>
                </a:solidFill>
                <a:latin typeface="Microsoft YaHei"/>
              </a:rPr>
              <a:t>▪ 不明液体随手清理，不报告、不防护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定期清查，过期不明当危废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定期清查试剂，不留死角</a:t>
            </a:r>
          </a:p>
          <a:p>
            <a:pPr>
              <a:spcAft>
                <a:spcPts val="1000"/>
              </a:spcAft>
            </a:pPr>
            <a:r>
              <a:rPr sz="2000">
                <a:solidFill>
                  <a:srgbClr val="222B33"/>
                </a:solidFill>
                <a:latin typeface="Microsoft YaHei"/>
              </a:rPr>
              <a:t>▪ 过期、不明、无人认领的要清出</a:t>
            </a:r>
          </a:p>
          <a:p>
            <a:pPr>
              <a:spcAft>
                <a:spcPts val="1000"/>
              </a:spcAft>
            </a:pPr>
            <a:r>
              <a:rPr sz="2000">
                <a:solidFill>
                  <a:srgbClr val="222B33"/>
                </a:solidFill>
                <a:latin typeface="Microsoft YaHei"/>
              </a:rPr>
              <a:t>▪ 按危险废物交学校统一处置</a:t>
            </a:r>
          </a:p>
          <a:p>
            <a:pPr>
              <a:spcAft>
                <a:spcPts val="1000"/>
              </a:spcAft>
            </a:pPr>
            <a:r>
              <a:rPr sz="2000">
                <a:solidFill>
                  <a:srgbClr val="222B33"/>
                </a:solidFill>
                <a:latin typeface="Microsoft YaHei"/>
              </a:rPr>
              <a:t>▪ 人员离开前，试剂交接清楚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实验室要定期清查化学品，包括试剂柜、冰箱、储藏间等角落，核对台账。过期的、标签脱落无法确认成分的、长期无人认领的化学品，要清理出来，不能继续使用。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把过期试剂倒入水槽或混进生活垃圾</a:t>
            </a:r>
          </a:p>
          <a:p>
            <a:pPr>
              <a:spcAft>
                <a:spcPts val="1000"/>
              </a:spcAft>
            </a:pPr>
            <a:r>
              <a:rPr sz="1500">
                <a:solidFill>
                  <a:srgbClr val="222B33"/>
                </a:solidFill>
                <a:latin typeface="Microsoft YaHei"/>
              </a:rPr>
              <a:t>▪ 毕业离校时留下一柜子没人认领的试剂</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废弃处置交有资质单位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废弃化学品分类收集，贴好标签</a:t>
            </a:r>
          </a:p>
          <a:p>
            <a:pPr>
              <a:spcAft>
                <a:spcPts val="1000"/>
              </a:spcAft>
            </a:pPr>
            <a:r>
              <a:rPr sz="2000">
                <a:solidFill>
                  <a:srgbClr val="222B33"/>
                </a:solidFill>
                <a:latin typeface="Microsoft YaHei"/>
              </a:rPr>
              <a:t>▪ 不倒下水道，不混入生活垃圾</a:t>
            </a:r>
          </a:p>
          <a:p>
            <a:pPr>
              <a:spcAft>
                <a:spcPts val="1000"/>
              </a:spcAft>
            </a:pPr>
            <a:r>
              <a:rPr sz="2000">
                <a:solidFill>
                  <a:srgbClr val="222B33"/>
                </a:solidFill>
                <a:latin typeface="Microsoft YaHei"/>
              </a:rPr>
              <a:t>▪ 学校统一交有资质的单位处置</a:t>
            </a:r>
          </a:p>
          <a:p>
            <a:pPr>
              <a:spcAft>
                <a:spcPts val="1000"/>
              </a:spcAft>
            </a:pPr>
            <a:r>
              <a:rPr sz="2000">
                <a:solidFill>
                  <a:srgbClr val="222B33"/>
                </a:solidFill>
                <a:latin typeface="Microsoft YaHei"/>
              </a:rPr>
              <a:t>▪ 处置也要登记，台账闭环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废弃的危险化学品和实验废液属于危险废物，处置依照生态环境保护法律法规执行。实验室按学校要求分类收集，容器贴好标签，写明成分和产生人，放在指定暂存位置。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少量废液“冲走就行”</a:t>
            </a:r>
          </a:p>
          <a:p>
            <a:pPr>
              <a:spcAft>
                <a:spcPts val="1000"/>
              </a:spcAft>
            </a:pPr>
            <a:r>
              <a:rPr sz="1500">
                <a:solidFill>
                  <a:srgbClr val="222B33"/>
                </a:solidFill>
                <a:latin typeface="Microsoft YaHei"/>
              </a:rPr>
              <a:t>▪ 废液桶不贴标签，成分不明</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《中华人民共和国危险化学品安全法》的施行日期是：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2025 年 12 月 27 日</a:t>
            </a:r>
          </a:p>
          <a:p>
            <a:pPr algn="l"/>
            <a:r>
              <a:rPr sz="1500" b="0">
                <a:solidFill>
                  <a:srgbClr val="222B33"/>
                </a:solidFill>
                <a:latin typeface="Microsoft YaHei"/>
              </a:rPr>
              <a:t>B. 2026 年 1 月 1 日</a:t>
            </a:r>
          </a:p>
          <a:p>
            <a:pPr algn="l"/>
            <a:r>
              <a:rPr sz="1500" b="0">
                <a:solidFill>
                  <a:srgbClr val="222B33"/>
                </a:solidFill>
                <a:latin typeface="Microsoft YaHei"/>
              </a:rPr>
              <a:t>C. 2026 年 5 月 1 日</a:t>
            </a:r>
          </a:p>
          <a:p>
            <a:pPr algn="l"/>
            <a:r>
              <a:rPr sz="1500" b="0">
                <a:solidFill>
                  <a:srgbClr val="222B33"/>
                </a:solidFill>
                <a:latin typeface="Microsoft YaHei"/>
              </a:rPr>
              <a:t>D. 2027 年 1 月 1 日</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化学品到货验收时，“一书一签”指的是：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一份发票和一张收据</a:t>
            </a:r>
          </a:p>
          <a:p>
            <a:pPr algn="l"/>
            <a:r>
              <a:rPr sz="1500" b="0">
                <a:solidFill>
                  <a:srgbClr val="222B33"/>
                </a:solidFill>
                <a:latin typeface="Microsoft YaHei"/>
              </a:rPr>
              <a:t>B. 中文化学品安全技术说明书和安全标签</a:t>
            </a:r>
          </a:p>
          <a:p>
            <a:pPr algn="l"/>
            <a:r>
              <a:rPr sz="1500" b="0">
                <a:solidFill>
                  <a:srgbClr val="222B33"/>
                </a:solidFill>
                <a:latin typeface="Microsoft YaHei"/>
              </a:rPr>
              <a:t>C. 采购申请书和审批签字</a:t>
            </a:r>
          </a:p>
          <a:p>
            <a:pPr algn="l"/>
            <a:r>
              <a:rPr sz="1500" b="0">
                <a:solidFill>
                  <a:srgbClr val="222B33"/>
                </a:solidFill>
                <a:latin typeface="Microsoft YaHei"/>
              </a:rPr>
              <a:t>D. 台账和签收单</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判断：为了实验进度，研究生可以自己在网上购买少量危险化学品，用完再补登记。</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判断：实验室化学品清单应随库存变化实时更新，以便事故时救援人员了解现场危险。</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清查试剂柜时发现一瓶标签脱落、成分不明的液体，正确做法是：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闻一闻判断成分</a:t>
            </a:r>
          </a:p>
          <a:p>
            <a:pPr algn="l"/>
            <a:r>
              <a:rPr sz="1500" b="0">
                <a:solidFill>
                  <a:srgbClr val="222B33"/>
                </a:solidFill>
                <a:latin typeface="Microsoft YaHei"/>
              </a:rPr>
              <a:t>B. 倒入水槽用水冲走</a:t>
            </a:r>
          </a:p>
          <a:p>
            <a:pPr algn="l"/>
            <a:r>
              <a:rPr sz="1500" b="0">
                <a:solidFill>
                  <a:srgbClr val="222B33"/>
                </a:solidFill>
                <a:latin typeface="Microsoft YaHei"/>
              </a:rPr>
              <a:t>C. 不使用，报告实验室负责人，按危险废物交学校处置</a:t>
            </a:r>
          </a:p>
          <a:p>
            <a:pPr algn="l"/>
            <a:r>
              <a:rPr sz="1500" b="0">
                <a:solidFill>
                  <a:srgbClr val="222B33"/>
                </a:solidFill>
                <a:latin typeface="Microsoft YaHei"/>
              </a:rPr>
              <a:t>D. 留着以后再说</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简答：化学品全过程管理包括哪些环节？</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化学品安全：用、存、废都安全</a:t>
            </a:r>
          </a:p>
          <a:p>
            <a:pPr>
              <a:spcAft>
                <a:spcPts val="800"/>
              </a:spcAft>
            </a:pPr>
            <a:r>
              <a:rPr sz="1500">
                <a:solidFill>
                  <a:srgbClr val="FFFFFF"/>
                </a:solidFill>
                <a:latin typeface="Microsoft YaHei"/>
              </a:rPr>
              <a:t>▪ K2  各类实验室都离不开化学品</a:t>
            </a:r>
          </a:p>
          <a:p>
            <a:pPr>
              <a:spcAft>
                <a:spcPts val="800"/>
              </a:spcAft>
            </a:pPr>
            <a:r>
              <a:rPr sz="1500">
                <a:solidFill>
                  <a:srgbClr val="FFFFFF"/>
                </a:solidFill>
                <a:latin typeface="Microsoft YaHei"/>
              </a:rPr>
              <a:t>▪ K3  守规程：防事故、护样品、保结果</a:t>
            </a:r>
          </a:p>
          <a:p>
            <a:pPr>
              <a:spcAft>
                <a:spcPts val="800"/>
              </a:spcAft>
            </a:pPr>
            <a:r>
              <a:rPr sz="1500">
                <a:solidFill>
                  <a:srgbClr val="FFFFFF"/>
                </a:solidFill>
                <a:latin typeface="Microsoft YaHei"/>
              </a:rPr>
              <a:t>▪ K4  依法合规，为的是护人</a:t>
            </a:r>
          </a:p>
          <a:p>
            <a:pPr>
              <a:spcAft>
                <a:spcPts val="800"/>
              </a:spcAft>
            </a:pPr>
            <a:r>
              <a:rPr sz="1500">
                <a:solidFill>
                  <a:srgbClr val="FFFFFF"/>
                </a:solidFill>
                <a:latin typeface="Microsoft YaHei"/>
              </a:rPr>
              <a:t>▪ S1  危化品安全法：学校是责任主体</a:t>
            </a:r>
          </a:p>
          <a:p>
            <a:pPr>
              <a:spcAft>
                <a:spcPts val="800"/>
              </a:spcAft>
            </a:pPr>
            <a:r>
              <a:rPr sz="1500">
                <a:solidFill>
                  <a:srgbClr val="FFFFFF"/>
                </a:solidFill>
                <a:latin typeface="Microsoft YaHei"/>
              </a:rPr>
              <a:t>▪ S2  全过程管理，三级负责</a:t>
            </a:r>
          </a:p>
          <a:p>
            <a:pPr>
              <a:spcAft>
                <a:spcPts val="800"/>
              </a:spcAft>
            </a:pPr>
            <a:r>
              <a:rPr sz="1500">
                <a:solidFill>
                  <a:srgbClr val="FFFFFF"/>
                </a:solidFill>
                <a:latin typeface="Microsoft YaHei"/>
              </a:rPr>
              <a:t>▪ S3  采购要审批，渠道要合规</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K5  到货验收：一书一签</a:t>
            </a:r>
          </a:p>
          <a:p>
            <a:pPr>
              <a:spcAft>
                <a:spcPts val="800"/>
              </a:spcAft>
            </a:pPr>
            <a:r>
              <a:rPr sz="1500">
                <a:solidFill>
                  <a:srgbClr val="FFFFFF"/>
                </a:solidFill>
                <a:latin typeface="Microsoft YaHei"/>
              </a:rPr>
              <a:t>▪ K6  建台账，账物相符</a:t>
            </a:r>
          </a:p>
          <a:p>
            <a:pPr>
              <a:spcAft>
                <a:spcPts val="800"/>
              </a:spcAft>
            </a:pPr>
            <a:r>
              <a:rPr sz="1500">
                <a:solidFill>
                  <a:srgbClr val="FFFFFF"/>
                </a:solidFill>
                <a:latin typeface="Microsoft YaHei"/>
              </a:rPr>
              <a:t>▪ K7  实时清单，救援心中有数</a:t>
            </a:r>
          </a:p>
          <a:p>
            <a:pPr>
              <a:spcAft>
                <a:spcPts val="800"/>
              </a:spcAft>
            </a:pPr>
            <a:r>
              <a:rPr sz="1500">
                <a:solidFill>
                  <a:srgbClr val="FFFFFF"/>
                </a:solidFill>
                <a:latin typeface="Microsoft YaHei"/>
              </a:rPr>
              <a:t>▪ S4  按需领用，登记去向</a:t>
            </a:r>
          </a:p>
          <a:p>
            <a:pPr>
              <a:spcAft>
                <a:spcPts val="800"/>
              </a:spcAft>
            </a:pPr>
            <a:r>
              <a:rPr sz="1500">
                <a:solidFill>
                  <a:srgbClr val="FFFFFF"/>
                </a:solidFill>
                <a:latin typeface="Microsoft YaHei"/>
              </a:rPr>
              <a:t>▪ K8  遗留旧试剂是定时炸弹</a:t>
            </a:r>
          </a:p>
          <a:p>
            <a:pPr>
              <a:spcAft>
                <a:spcPts val="800"/>
              </a:spcAft>
            </a:pPr>
            <a:r>
              <a:rPr sz="1500">
                <a:solidFill>
                  <a:srgbClr val="FFFFFF"/>
                </a:solidFill>
                <a:latin typeface="Microsoft YaHei"/>
              </a:rPr>
              <a:t>▪ K9  定期清查，过期不明当危废</a:t>
            </a:r>
          </a:p>
          <a:p>
            <a:pPr>
              <a:spcAft>
                <a:spcPts val="800"/>
              </a:spcAft>
            </a:pPr>
            <a:r>
              <a:rPr sz="1500">
                <a:solidFill>
                  <a:srgbClr val="FFFFFF"/>
                </a:solidFill>
                <a:latin typeface="Microsoft YaHei"/>
              </a:rPr>
              <a:t>▪ S5  废弃处置交有资质单位</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038</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化学品与危险物品分类</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72 镜）　适用对象：全体使用化学品和其他危险物品的高校本科生、研究生和教职工（必修）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能说出危险物品的含义、存在形态和伤人途径，以及高温、高压、混合会加大危险。</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 GB 30000 系列的理化、健康、环境三大类危害，以及常见危险物品的七组分类和防护要点。</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能说出危险货物九类（GB 6944-2025）的名称，看到菱形类别标志能判断危险类别。</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能举出实验室、医院、工厂、家庭和宿舍中的危险物品例子，说出它们对人和环境的主要风险。</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日起施行）及《危险化学品安全管理条例》（以现行文本为准）：危险化学品的含义与分类管理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《危险化学品目录》（以现行版本为准）：列入目录的化学品按危险化学品管理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系列（如 GB 30000.7-2013，以现行文本为准）《化学品分类和标签规范》：理化危险、健康危害、环境危害的分类</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6944-2025（以现行文本为准）《危险货物分类和品名编号》：危险货物九类</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12268-2025（以现行文本为准）《危险货物品名表》：具体物质的类别和编号</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190-2009（以现行文本为准）《危险货物包装标志》：运输菱形类别标志</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《病原微生物实验室生物安全管理条例》（以现行文本为准）：病原微生物按危害程度分为四类</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号，以现行文本为准）：危险化学品、病原微生物、放射源等危险源的辨识和分类管理</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危险物品：伤人、毁物、污染环境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危险物品俗称危险品</a:t>
            </a:r>
          </a:p>
          <a:p>
            <a:pPr>
              <a:spcAft>
                <a:spcPts val="1000"/>
              </a:spcAft>
            </a:pPr>
            <a:r>
              <a:rPr sz="2000">
                <a:solidFill>
                  <a:srgbClr val="222B33"/>
                </a:solidFill>
                <a:latin typeface="Microsoft YaHei"/>
              </a:rPr>
              <a:t>▪ 会伤害人体、毁坏财产、污染环境</a:t>
            </a:r>
          </a:p>
          <a:p>
            <a:pPr>
              <a:spcAft>
                <a:spcPts val="1000"/>
              </a:spcAft>
            </a:pPr>
            <a:r>
              <a:rPr sz="2000">
                <a:solidFill>
                  <a:srgbClr val="222B33"/>
                </a:solidFill>
                <a:latin typeface="Microsoft YaHei"/>
              </a:rPr>
              <a:t>▪ 原因在于化学、生物或物理性质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危险物品（俗称危险品）是因其化学、生物或物理性质，可能伤害人体、损坏财产或污染环境的物质和物品。它们对人和环境都有风险，所以在使用、储存、运输和废弃时都要按规定管理。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以为只有“剧毒”“爆炸”才算危险物品</a:t>
            </a:r>
          </a:p>
          <a:p>
            <a:pPr>
              <a:spcAft>
                <a:spcPts val="1000"/>
              </a:spcAft>
            </a:pPr>
            <a:r>
              <a:rPr sz="1500">
                <a:solidFill>
                  <a:srgbClr val="222B33"/>
                </a:solidFill>
                <a:latin typeface="Microsoft YaHei"/>
              </a:rPr>
              <a:t>▪ 只关心伤人，忽视对设施和环境的危害</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固液气都有，多种方式伤人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危险物品有固体、液体，也有气体</a:t>
            </a:r>
          </a:p>
          <a:p>
            <a:pPr>
              <a:spcAft>
                <a:spcPts val="1000"/>
              </a:spcAft>
            </a:pPr>
            <a:r>
              <a:rPr sz="2000">
                <a:solidFill>
                  <a:srgbClr val="222B33"/>
                </a:solidFill>
                <a:latin typeface="Microsoft YaHei"/>
              </a:rPr>
              <a:t>▪ 洒出、吸入、误食、接触、乱处理都会伤人</a:t>
            </a:r>
          </a:p>
          <a:p>
            <a:pPr>
              <a:spcAft>
                <a:spcPts val="1000"/>
              </a:spcAft>
            </a:pPr>
            <a:r>
              <a:rPr sz="2000">
                <a:solidFill>
                  <a:srgbClr val="222B33"/>
                </a:solidFill>
                <a:latin typeface="Microsoft YaHei"/>
              </a:rPr>
              <a:t>▪ 每一种方式，都要提前防住</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危险物品的形态多样：粉末和颗粒等固体、溶剂和酸碱等液体、钢瓶中的压缩或液化气体。形态不同，伤人的方式也不同：液体容易洒出和溅到皮肤眼睛，粉末和蒸气容易被吸入，沾在手上可能被误食，处理不当还会污染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只防液体飞溅，不防粉尘和蒸气吸入</a:t>
            </a:r>
          </a:p>
          <a:p>
            <a:pPr>
              <a:spcAft>
                <a:spcPts val="1000"/>
              </a:spcAft>
            </a:pPr>
            <a:r>
              <a:rPr sz="1500">
                <a:solidFill>
                  <a:srgbClr val="222B33"/>
                </a:solidFill>
                <a:latin typeface="Microsoft YaHei"/>
              </a:rPr>
              <a:t>▪ 戴手套操作后用手揉眼、拿食物</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遇高温、高压或混合更危险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很多化学品本身就有潜在危险</a:t>
            </a:r>
          </a:p>
          <a:p>
            <a:pPr>
              <a:spcAft>
                <a:spcPts val="1000"/>
              </a:spcAft>
            </a:pPr>
            <a:r>
              <a:rPr sz="2000">
                <a:solidFill>
                  <a:srgbClr val="222B33"/>
                </a:solidFill>
                <a:latin typeface="Microsoft YaHei"/>
              </a:rPr>
              <a:t>▪ 遇到高温、高压，危险加大</a:t>
            </a:r>
          </a:p>
          <a:p>
            <a:pPr>
              <a:spcAft>
                <a:spcPts val="1000"/>
              </a:spcAft>
            </a:pPr>
            <a:r>
              <a:rPr sz="2000">
                <a:solidFill>
                  <a:srgbClr val="222B33"/>
                </a:solidFill>
                <a:latin typeface="Microsoft YaHei"/>
              </a:rPr>
              <a:t>▪ 不同化学品互相混合，可能剧烈反应</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很多化学品在常温常压下看起来平静，但本身具有潜在危险。加热、加压或与其他物质混合时，可能发生分解、着火、爆炸或放出有毒气体。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不查资料就把两种试剂倒在一起</a:t>
            </a:r>
          </a:p>
          <a:p>
            <a:pPr>
              <a:spcAft>
                <a:spcPts val="1000"/>
              </a:spcAft>
            </a:pPr>
            <a:r>
              <a:rPr sz="1500">
                <a:solidFill>
                  <a:srgbClr val="222B33"/>
                </a:solidFill>
                <a:latin typeface="Microsoft YaHei"/>
              </a:rPr>
              <a:t>▪ 把废液随意混倒进同一个桶</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全球统一分类，我国按GB 30000</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国际上有统一的化学品分类和标签制度</a:t>
            </a:r>
          </a:p>
          <a:p>
            <a:pPr>
              <a:spcAft>
                <a:spcPts val="1000"/>
              </a:spcAft>
            </a:pPr>
            <a:r>
              <a:rPr sz="2000">
                <a:solidFill>
                  <a:srgbClr val="222B33"/>
                </a:solidFill>
                <a:latin typeface="Microsoft YaHei"/>
              </a:rPr>
              <a:t>▪ 各国的标签和说明书样式基本一致</a:t>
            </a:r>
          </a:p>
          <a:p>
            <a:pPr>
              <a:spcAft>
                <a:spcPts val="1000"/>
              </a:spcAft>
            </a:pPr>
            <a:r>
              <a:rPr sz="2000">
                <a:solidFill>
                  <a:srgbClr val="222B33"/>
                </a:solidFill>
                <a:latin typeface="Microsoft YaHei"/>
              </a:rPr>
              <a:t>▪ 我国按 GB 30000 系列国家标准分类</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联合国推行的“全球化学品统一分类和标签制度”（GHS）统一了化学品危险性的分类方法、标签和安全技术说明书的格式，使各国的化学品标签和说明书样式基本一致，便于识别。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以为进口试剂和国产试剂的危险分类标准不同</a:t>
            </a:r>
          </a:p>
          <a:p>
            <a:pPr>
              <a:spcAft>
                <a:spcPts val="1000"/>
              </a:spcAft>
            </a:pPr>
            <a:r>
              <a:rPr sz="1500">
                <a:solidFill>
                  <a:srgbClr val="222B33"/>
                </a:solidFill>
                <a:latin typeface="Microsoft YaHei"/>
              </a:rPr>
              <a:t>▪ 用国外标签或其他颜色编码体系代替国家标准</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三大类危害：理化、健康、环境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GB 30000 系列把危害分成三大类</a:t>
            </a:r>
          </a:p>
          <a:p>
            <a:pPr>
              <a:spcAft>
                <a:spcPts val="1000"/>
              </a:spcAft>
            </a:pPr>
            <a:r>
              <a:rPr sz="2000">
                <a:solidFill>
                  <a:srgbClr val="222B33"/>
                </a:solidFill>
                <a:latin typeface="Microsoft YaHei"/>
              </a:rPr>
              <a:t>▪ 理化危险：爆炸、易燃、氧化、加压、腐蚀金属等</a:t>
            </a:r>
          </a:p>
          <a:p>
            <a:pPr>
              <a:spcAft>
                <a:spcPts val="1000"/>
              </a:spcAft>
            </a:pPr>
            <a:r>
              <a:rPr sz="2000">
                <a:solidFill>
                  <a:srgbClr val="222B33"/>
                </a:solidFill>
                <a:latin typeface="Microsoft YaHei"/>
              </a:rPr>
              <a:t>▪ 健康危害：急性毒性、腐蚀刺激、致敏、致癌等</a:t>
            </a:r>
          </a:p>
          <a:p>
            <a:pPr>
              <a:spcAft>
                <a:spcPts val="1000"/>
              </a:spcAft>
            </a:pPr>
            <a:r>
              <a:rPr sz="2000">
                <a:solidFill>
                  <a:srgbClr val="222B33"/>
                </a:solidFill>
                <a:latin typeface="Microsoft YaHei"/>
              </a:rPr>
              <a:t>▪ 环境危害：危害水生环境和臭氧层</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 GB 30000 系列，化学品危险性分为三大类：理化危险、健康危害和环境危害，每一类下面又分为若干危险类别和级别。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只看是否易燃，忽视慢性健康危害</a:t>
            </a:r>
          </a:p>
          <a:p>
            <a:pPr>
              <a:spcAft>
                <a:spcPts val="1000"/>
              </a:spcAft>
            </a:pPr>
            <a:r>
              <a:rPr sz="1500">
                <a:solidFill>
                  <a:srgbClr val="222B33"/>
                </a:solidFill>
                <a:latin typeface="Microsoft YaHei"/>
              </a:rPr>
              <a:t>▪ 不知道“危害水生环境”也是危险性，随意倒掉</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常见危险物品分七组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按危险性质，常见危险物品分为七组</a:t>
            </a:r>
          </a:p>
          <a:p>
            <a:pPr>
              <a:spcAft>
                <a:spcPts val="1000"/>
              </a:spcAft>
            </a:pPr>
            <a:r>
              <a:rPr sz="2000">
                <a:solidFill>
                  <a:srgbClr val="222B33"/>
                </a:solidFill>
                <a:latin typeface="Microsoft YaHei"/>
              </a:rPr>
              <a:t>▪ 易燃、腐蚀、有毒、反应性、放射性</a:t>
            </a:r>
          </a:p>
          <a:p>
            <a:pPr>
              <a:spcAft>
                <a:spcPts val="1000"/>
              </a:spcAft>
            </a:pPr>
            <a:r>
              <a:rPr sz="2000">
                <a:solidFill>
                  <a:srgbClr val="222B33"/>
                </a:solidFill>
                <a:latin typeface="Microsoft YaHei"/>
              </a:rPr>
              <a:t>▪ 还有生物危害和压缩气体</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在实验室日常管理和安全教育中，常把危险物品按主要危险性质分为七组：易燃和可燃物、腐蚀性物质、有毒物质、反应性和爆炸性物质、放射性物质、生物危害物质、压缩气体。这种分组便于记忆和日常防护。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以为一种化学品只有一种危险</a:t>
            </a:r>
          </a:p>
          <a:p>
            <a:pPr>
              <a:spcAft>
                <a:spcPts val="1000"/>
              </a:spcAft>
            </a:pPr>
            <a:r>
              <a:rPr sz="1500">
                <a:solidFill>
                  <a:srgbClr val="222B33"/>
                </a:solidFill>
                <a:latin typeface="Microsoft YaHei"/>
              </a:rPr>
              <a:t>▪ 用简化分组代替标签和说明书上的正式分类</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易燃和可燃物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很容易着火，甚至爆炸</a:t>
            </a:r>
          </a:p>
          <a:p>
            <a:pPr>
              <a:spcAft>
                <a:spcPts val="1000"/>
              </a:spcAft>
            </a:pPr>
            <a:r>
              <a:rPr sz="2000">
                <a:solidFill>
                  <a:srgbClr val="222B33"/>
                </a:solidFill>
                <a:latin typeface="Microsoft YaHei"/>
              </a:rPr>
              <a:t>▪ 比如汽油、乙醇、丙烷、丙酮</a:t>
            </a:r>
          </a:p>
          <a:p>
            <a:pPr>
              <a:spcAft>
                <a:spcPts val="1000"/>
              </a:spcAft>
            </a:pPr>
            <a:r>
              <a:rPr sz="2000">
                <a:solidFill>
                  <a:srgbClr val="222B33"/>
                </a:solidFill>
                <a:latin typeface="Microsoft YaHei"/>
              </a:rPr>
              <a:t>▪ 远离明火和热源</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易燃和可燃物遇到明火、火花或高温很容易着火，蒸气与空气混合还可能爆炸。实验室常见的有乙醇、丙酮等有机溶剂，生活中常见的有汽油、液化石油气（含丙烷）。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在明火旁倒溶剂</a:t>
            </a:r>
          </a:p>
          <a:p>
            <a:pPr>
              <a:spcAft>
                <a:spcPts val="1000"/>
              </a:spcAft>
            </a:pPr>
            <a:r>
              <a:rPr sz="1500">
                <a:solidFill>
                  <a:srgbClr val="222B33"/>
                </a:solidFill>
                <a:latin typeface="Microsoft YaHei"/>
              </a:rPr>
              <a:t>▪ 溶剂瓶敞口放在台面上</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腐蚀性物质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会伤害皮肤和眼睛，腐蚀金属</a:t>
            </a:r>
          </a:p>
          <a:p>
            <a:pPr>
              <a:spcAft>
                <a:spcPts val="1000"/>
              </a:spcAft>
            </a:pPr>
            <a:r>
              <a:rPr sz="2000">
                <a:solidFill>
                  <a:srgbClr val="222B33"/>
                </a:solidFill>
                <a:latin typeface="Microsoft YaHei"/>
              </a:rPr>
              <a:t>▪ 比如盐酸、硫酸、氢氧化钠</a:t>
            </a:r>
          </a:p>
          <a:p>
            <a:pPr>
              <a:spcAft>
                <a:spcPts val="1000"/>
              </a:spcAft>
            </a:pPr>
            <a:r>
              <a:rPr sz="2000">
                <a:solidFill>
                  <a:srgbClr val="222B33"/>
                </a:solidFill>
                <a:latin typeface="Microsoft YaHei"/>
              </a:rPr>
              <a:t>▪ 护目镜和手套，一样不能少</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腐蚀性物质接触皮肤和眼睛会造成化学灼伤，严重时导致失明，还会腐蚀金属和设备。常见的有盐酸、硫酸、硝酸等强酸，氢氧化钠、氢氧化钾等强碱。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只戴手套不戴护目镜</a:t>
            </a:r>
          </a:p>
          <a:p>
            <a:pPr>
              <a:spcAft>
                <a:spcPts val="1000"/>
              </a:spcAft>
            </a:pPr>
            <a:r>
              <a:rPr sz="1500">
                <a:solidFill>
                  <a:srgbClr val="222B33"/>
                </a:solidFill>
                <a:latin typeface="Microsoft YaHei"/>
              </a:rPr>
              <a:t>▪ 把酸碱放在高处或和金属物品混放</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有毒物质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吸入、误食、经皮吸收都会中毒</a:t>
            </a:r>
          </a:p>
          <a:p>
            <a:pPr>
              <a:spcAft>
                <a:spcPts val="1000"/>
              </a:spcAft>
            </a:pPr>
            <a:r>
              <a:rPr sz="2000">
                <a:solidFill>
                  <a:srgbClr val="222B33"/>
                </a:solidFill>
                <a:latin typeface="Microsoft YaHei"/>
              </a:rPr>
              <a:t>▪ 比如某些农药、汞化合物、氰化物</a:t>
            </a:r>
          </a:p>
          <a:p>
            <a:pPr>
              <a:spcAft>
                <a:spcPts val="1000"/>
              </a:spcAft>
            </a:pPr>
            <a:r>
              <a:rPr sz="2000">
                <a:solidFill>
                  <a:srgbClr val="222B33"/>
                </a:solidFill>
                <a:latin typeface="Microsoft YaHei"/>
              </a:rPr>
              <a:t>▪ 实验室不吃不喝，用完洗手</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有毒物质可以经呼吸道吸入、经口误食或经皮肤吸收进入人体，引起急性或慢性中毒。常见的有某些农药、汞及其化合物；氰化物等属于剧毒化学品，按“五双”管理（见第 045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在实验室里喝水、吃零食</a:t>
            </a:r>
          </a:p>
          <a:p>
            <a:pPr>
              <a:spcAft>
                <a:spcPts val="1000"/>
              </a:spcAft>
            </a:pPr>
            <a:r>
              <a:rPr sz="1500">
                <a:solidFill>
                  <a:srgbClr val="222B33"/>
                </a:solidFill>
                <a:latin typeface="Microsoft YaHei"/>
              </a:rPr>
              <a:t>▪ 摘手套后不洗手就离开</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反应性和爆炸性物质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性质不稳定，遇空气、水或其他物质剧烈反应</a:t>
            </a:r>
          </a:p>
          <a:p>
            <a:pPr>
              <a:spcAft>
                <a:spcPts val="1000"/>
              </a:spcAft>
            </a:pPr>
            <a:r>
              <a:rPr sz="2000">
                <a:solidFill>
                  <a:srgbClr val="222B33"/>
                </a:solidFill>
                <a:latin typeface="Microsoft YaHei"/>
              </a:rPr>
              <a:t>▪ 比如某些过氧化物、硝酸盐类</a:t>
            </a:r>
          </a:p>
          <a:p>
            <a:pPr>
              <a:spcAft>
                <a:spcPts val="1000"/>
              </a:spcAft>
            </a:pPr>
            <a:r>
              <a:rPr sz="2000">
                <a:solidFill>
                  <a:srgbClr val="222B33"/>
                </a:solidFill>
                <a:latin typeface="Microsoft YaHei"/>
              </a:rPr>
              <a:t>▪ 这类物品多数受管控，登记领用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反应性和爆炸性物质性质不稳定，受热、撞击、摩擦或接触空气、水、其他物质时可能剧烈反应甚至爆炸，例如某些过氧化物、硝酸铵等硝酸盐类和多硝基化合物。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长期存放容易形成过氧化物的试剂不检查</a:t>
            </a:r>
          </a:p>
          <a:p>
            <a:pPr>
              <a:spcAft>
                <a:spcPts val="1000"/>
              </a:spcAft>
            </a:pPr>
            <a:r>
              <a:rPr sz="1500">
                <a:solidFill>
                  <a:srgbClr val="222B33"/>
                </a:solidFill>
                <a:latin typeface="Microsoft YaHei"/>
              </a:rPr>
              <a:t>▪ 不登记私自领用受管控物品</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放射性物质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射线能损伤细胞和 DNA</a:t>
            </a:r>
          </a:p>
          <a:p>
            <a:pPr>
              <a:spcAft>
                <a:spcPts val="1000"/>
              </a:spcAft>
            </a:pPr>
            <a:r>
              <a:rPr sz="2000">
                <a:solidFill>
                  <a:srgbClr val="222B33"/>
                </a:solidFill>
                <a:latin typeface="Microsoft YaHei"/>
              </a:rPr>
              <a:t>▪ 比如铀、镭、钴-60</a:t>
            </a:r>
          </a:p>
          <a:p>
            <a:pPr>
              <a:spcAft>
                <a:spcPts val="1000"/>
              </a:spcAft>
            </a:pPr>
            <a:r>
              <a:rPr sz="2000">
                <a:solidFill>
                  <a:srgbClr val="222B33"/>
                </a:solidFill>
                <a:latin typeface="Microsoft YaHei"/>
              </a:rPr>
              <a:t>▪ 看到电离辐射标志，未经许可不进入</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放射性物质会自发放出电离辐射，射线能损伤人体细胞和 DNA，导致急性损伤或远期健康危害。常见的有铀、镭及钴-60 等放射源。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好奇进入有电离辐射标志的房间</a:t>
            </a:r>
          </a:p>
          <a:p>
            <a:pPr>
              <a:spcAft>
                <a:spcPts val="1000"/>
              </a:spcAft>
            </a:pPr>
            <a:r>
              <a:rPr sz="1500">
                <a:solidFill>
                  <a:srgbClr val="222B33"/>
                </a:solidFill>
                <a:latin typeface="Microsoft YaHei"/>
              </a:rPr>
              <a:t>▪ 不知道放射源使用需要许可</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生物危害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细菌、病毒、真菌和生物毒素能致病</a:t>
            </a:r>
          </a:p>
          <a:p>
            <a:pPr>
              <a:spcAft>
                <a:spcPts val="1000"/>
              </a:spcAft>
            </a:pPr>
            <a:r>
              <a:rPr sz="2000">
                <a:solidFill>
                  <a:srgbClr val="222B33"/>
                </a:solidFill>
                <a:latin typeface="Microsoft YaHei"/>
              </a:rPr>
              <a:t>▪ 我国病原微生物分四类，第一类最危险</a:t>
            </a:r>
          </a:p>
          <a:p>
            <a:pPr>
              <a:spcAft>
                <a:spcPts val="1000"/>
              </a:spcAft>
            </a:pPr>
            <a:r>
              <a:rPr sz="2000">
                <a:solidFill>
                  <a:srgbClr val="222B33"/>
                </a:solidFill>
                <a:latin typeface="Microsoft YaHei"/>
              </a:rPr>
              <a:t>▪ 按风险评估定级别，在生物安全柜里操作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危害物质包括细菌、病毒、真菌等病原微生物和生物毒素，能让人和动物生病。我国按危害程度把病原微生物分为四类，第一类危害最大，第一类、第二类合称高致病性病原微生物（以《病原微生物实验室生物安全管理条例》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以为“第四类最危险”</a:t>
            </a:r>
          </a:p>
          <a:p>
            <a:pPr>
              <a:spcAft>
                <a:spcPts val="1000"/>
              </a:spcAft>
            </a:pPr>
            <a:r>
              <a:rPr sz="1500">
                <a:solidFill>
                  <a:srgbClr val="222B33"/>
                </a:solidFill>
                <a:latin typeface="Microsoft YaHei"/>
              </a:rPr>
              <a:t>▪ 在开放台面上做可能产生气溶胶的操作</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压缩气体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高压储存，可能爆裂</a:t>
            </a:r>
          </a:p>
          <a:p>
            <a:pPr>
              <a:spcAft>
                <a:spcPts val="1000"/>
              </a:spcAft>
            </a:pPr>
            <a:r>
              <a:rPr sz="2000">
                <a:solidFill>
                  <a:srgbClr val="222B33"/>
                </a:solidFill>
                <a:latin typeface="Microsoft YaHei"/>
              </a:rPr>
              <a:t>▪ 泄漏会造成窒息或中毒</a:t>
            </a:r>
          </a:p>
          <a:p>
            <a:pPr>
              <a:spcAft>
                <a:spcPts val="1000"/>
              </a:spcAft>
            </a:pPr>
            <a:r>
              <a:rPr sz="2000">
                <a:solidFill>
                  <a:srgbClr val="222B33"/>
                </a:solidFill>
                <a:latin typeface="Microsoft YaHei"/>
              </a:rPr>
              <a:t>▪ 比如氧气、氯气、氨；气瓶要固定，用完关阀</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压缩气体和液化气体在钢瓶中高压储存，气瓶倾倒、受热或阀门损坏可能爆裂伤人。气体泄漏还会造成危害：惰性气体可使人窒息，氯气、氨等有毒，氢气等易燃，氧气助燃。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气瓶不固定，靠墙随意放置</a:t>
            </a:r>
          </a:p>
          <a:p>
            <a:pPr>
              <a:spcAft>
                <a:spcPts val="1000"/>
              </a:spcAft>
            </a:pPr>
            <a:r>
              <a:rPr sz="1500">
                <a:solidFill>
                  <a:srgbClr val="222B33"/>
                </a:solidFill>
                <a:latin typeface="Microsoft YaHei"/>
              </a:rPr>
              <a:t>▪ 用完只关减压阀不关瓶阀</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运输分九类：看GB 6944</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为了运输安全，危险货物分九类</a:t>
            </a:r>
          </a:p>
          <a:p>
            <a:pPr>
              <a:spcAft>
                <a:spcPts val="1000"/>
              </a:spcAft>
            </a:pPr>
            <a:r>
              <a:rPr sz="2000">
                <a:solidFill>
                  <a:srgbClr val="222B33"/>
                </a:solidFill>
                <a:latin typeface="Microsoft YaHei"/>
              </a:rPr>
              <a:t>▪ 国内对应国家标准 GB 6944</a:t>
            </a:r>
          </a:p>
          <a:p>
            <a:pPr>
              <a:spcAft>
                <a:spcPts val="1000"/>
              </a:spcAft>
            </a:pPr>
            <a:r>
              <a:rPr sz="2000">
                <a:solidFill>
                  <a:srgbClr val="222B33"/>
                </a:solidFill>
                <a:latin typeface="Microsoft YaHei"/>
              </a:rPr>
              <a:t>▪ 具体物质查危险货物品名表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为了运输安全，国际上把危险货物分为九类，我国对应的国家标准是 GB 6944-2025（以现行文本为准）《危险货物分类和品名编号》。某种具体物质属于哪一类、编号是多少，查 GB 12268-2025（以现行文本为准）……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把运输九类和化学品危险性分类混为一谈</a:t>
            </a:r>
          </a:p>
          <a:p>
            <a:pPr>
              <a:spcAft>
                <a:spcPts val="1000"/>
              </a:spcAft>
            </a:pPr>
            <a:r>
              <a:rPr sz="1500">
                <a:solidFill>
                  <a:srgbClr val="222B33"/>
                </a:solidFill>
                <a:latin typeface="Microsoft YaHei"/>
              </a:rPr>
              <a:t>▪ 引用已被替代的旧版标准</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第1至3类：爆炸品、气体、易燃液体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1 类爆炸品，实验室严格管控</a:t>
            </a:r>
          </a:p>
          <a:p>
            <a:pPr>
              <a:spcAft>
                <a:spcPts val="1000"/>
              </a:spcAft>
            </a:pPr>
            <a:r>
              <a:rPr sz="2000">
                <a:solidFill>
                  <a:srgbClr val="222B33"/>
                </a:solidFill>
                <a:latin typeface="Microsoft YaHei"/>
              </a:rPr>
              <a:t>▪ 第 2 类气体：易燃、不燃、有毒的都有</a:t>
            </a:r>
          </a:p>
          <a:p>
            <a:pPr>
              <a:spcAft>
                <a:spcPts val="1000"/>
              </a:spcAft>
            </a:pPr>
            <a:r>
              <a:rPr sz="2000">
                <a:solidFill>
                  <a:srgbClr val="222B33"/>
                </a:solidFill>
                <a:latin typeface="Microsoft YaHei"/>
              </a:rPr>
              <a:t>▪ 第 3 类易燃液体最常见，放防火柜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 1 类是爆炸品，实验室一般不使用，确需使用的要严格审批、管控。第 2 类是气体，分为易燃气体（如氢气）、非易燃无毒气体（如氮气、氧气）和毒性气体（如氯气）。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以为不燃气体就没有危险（可致窒息）</a:t>
            </a:r>
          </a:p>
          <a:p>
            <a:pPr>
              <a:spcAft>
                <a:spcPts val="1000"/>
              </a:spcAft>
            </a:pPr>
            <a:r>
              <a:rPr sz="1500">
                <a:solidFill>
                  <a:srgbClr val="222B33"/>
                </a:solidFill>
                <a:latin typeface="Microsoft YaHei"/>
              </a:rPr>
              <a:t>▪ 大量溶剂放在普通木柜或台面上</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第4至6类：易燃固体、氧化性、毒性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4 类：易燃固体、易于自燃和遇水放出易燃气体的物质</a:t>
            </a:r>
          </a:p>
          <a:p>
            <a:pPr>
              <a:spcAft>
                <a:spcPts val="1000"/>
              </a:spcAft>
            </a:pPr>
            <a:r>
              <a:rPr sz="2000">
                <a:solidFill>
                  <a:srgbClr val="222B33"/>
                </a:solidFill>
                <a:latin typeface="Microsoft YaHei"/>
              </a:rPr>
              <a:t>▪ 第 5 类：氧化性物质和有机过氧化物，会助燃</a:t>
            </a:r>
          </a:p>
          <a:p>
            <a:pPr>
              <a:spcAft>
                <a:spcPts val="1000"/>
              </a:spcAft>
            </a:pPr>
            <a:r>
              <a:rPr sz="2000">
                <a:solidFill>
                  <a:srgbClr val="222B33"/>
                </a:solidFill>
                <a:latin typeface="Microsoft YaHei"/>
              </a:rPr>
              <a:t>▪ 第 6 类：毒性物质和感染性物质</a:t>
            </a:r>
          </a:p>
          <a:p>
            <a:pPr>
              <a:spcAft>
                <a:spcPts val="1000"/>
              </a:spcAft>
            </a:pPr>
            <a:r>
              <a:rPr sz="2000">
                <a:solidFill>
                  <a:srgbClr val="222B33"/>
                </a:solidFill>
                <a:latin typeface="Microsoft YaHei"/>
              </a:rPr>
              <a:t>▪ 菌毒种和样本运输，另有专门规定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4 类包括易燃固体、易于自燃的物质和遇水放出易燃气体的物质，例如某些活泼金属遇水会放出易燃气体。第 5 类是氧化性物质和有机过氧化物，本身不一定燃烧，但会助燃，要和可燃物分开存放。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把氧化剂和纸箱、有机溶剂放在一起</a:t>
            </a:r>
          </a:p>
          <a:p>
            <a:pPr>
              <a:spcAft>
                <a:spcPts val="1000"/>
              </a:spcAft>
            </a:pPr>
            <a:r>
              <a:rPr sz="1500">
                <a:solidFill>
                  <a:srgbClr val="222B33"/>
                </a:solidFill>
                <a:latin typeface="Microsoft YaHei"/>
              </a:rPr>
              <a:t>▪ 用普通快递寄送感染性样本</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第7至9类：放射性、腐蚀性、杂项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7 类放射性物质，持证单位才能使用和运输</a:t>
            </a:r>
          </a:p>
          <a:p>
            <a:pPr>
              <a:spcAft>
                <a:spcPts val="1000"/>
              </a:spcAft>
            </a:pPr>
            <a:r>
              <a:rPr sz="2000">
                <a:solidFill>
                  <a:srgbClr val="222B33"/>
                </a:solidFill>
                <a:latin typeface="Microsoft YaHei"/>
              </a:rPr>
              <a:t>▪ 第 8 类腐蚀性物质，强酸强碱都在这一类</a:t>
            </a:r>
          </a:p>
          <a:p>
            <a:pPr>
              <a:spcAft>
                <a:spcPts val="1000"/>
              </a:spcAft>
            </a:pPr>
            <a:r>
              <a:rPr sz="2000">
                <a:solidFill>
                  <a:srgbClr val="222B33"/>
                </a:solidFill>
                <a:latin typeface="Microsoft YaHei"/>
              </a:rPr>
              <a:t>▪ 第 9 类杂项：如锂电池、干冰、危害环境物质</a:t>
            </a:r>
          </a:p>
          <a:p>
            <a:pPr>
              <a:spcAft>
                <a:spcPts val="1000"/>
              </a:spcAft>
            </a:pPr>
            <a:r>
              <a:rPr sz="2000">
                <a:solidFill>
                  <a:srgbClr val="222B33"/>
                </a:solidFill>
                <a:latin typeface="Microsoft YaHei"/>
              </a:rPr>
              <a:t>▪ 杂项，不等于不危险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7 类是放射性物质，只有取得许可的单位才能使用和运输。第 8 类是腐蚀性物质，强酸、强碱等都属于这一类。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把锂电池、干冰当普通物品寄运</a:t>
            </a:r>
          </a:p>
          <a:p>
            <a:pPr>
              <a:spcAft>
                <a:spcPts val="1000"/>
              </a:spcAft>
            </a:pPr>
            <a:r>
              <a:rPr sz="1500">
                <a:solidFill>
                  <a:srgbClr val="222B33"/>
                </a:solidFill>
                <a:latin typeface="Microsoft YaHei"/>
              </a:rPr>
              <a:t>▪ 把干冰放进密闭容器</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菱形类别标志，一眼认危险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运输和储存时，货包贴菱形类别标志</a:t>
            </a:r>
          </a:p>
          <a:p>
            <a:pPr>
              <a:spcAft>
                <a:spcPts val="1000"/>
              </a:spcAft>
            </a:pPr>
            <a:r>
              <a:rPr sz="2000">
                <a:solidFill>
                  <a:srgbClr val="222B33"/>
                </a:solidFill>
                <a:latin typeface="Microsoft YaHei"/>
              </a:rPr>
              <a:t>▪ 一眼就知道里面是哪类危险</a:t>
            </a:r>
          </a:p>
          <a:p>
            <a:pPr>
              <a:spcAft>
                <a:spcPts val="1000"/>
              </a:spcAft>
            </a:pPr>
            <a:r>
              <a:rPr sz="2000">
                <a:solidFill>
                  <a:srgbClr val="222B33"/>
                </a:solidFill>
                <a:latin typeface="Microsoft YaHei"/>
              </a:rPr>
              <a:t>▪ 先认标志，就知道该怎么防</a:t>
            </a:r>
          </a:p>
          <a:p>
            <a:pPr>
              <a:spcAft>
                <a:spcPts val="1000"/>
              </a:spcAft>
            </a:pPr>
            <a:r>
              <a:rPr sz="2000">
                <a:solidFill>
                  <a:srgbClr val="222B33"/>
                </a:solidFill>
                <a:latin typeface="Microsoft YaHei"/>
              </a:rPr>
              <a:t>▪ 标志式样按 GB 190-2009</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危险货物运输时，包装件上要贴菱形的危险货物包装标志，用颜色和图形表示所属类别（如火焰表示易燃，骷髅表示毒性，腐蚀图形表示腐蚀性）。看到标志，就能知道里面是哪类危险，应该怎样搬运和防护。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不看包装标志就徒手拆箱</a:t>
            </a:r>
          </a:p>
          <a:p>
            <a:pPr>
              <a:spcAft>
                <a:spcPts val="1000"/>
              </a:spcAft>
            </a:pPr>
            <a:r>
              <a:rPr sz="1500">
                <a:solidFill>
                  <a:srgbClr val="222B33"/>
                </a:solidFill>
                <a:latin typeface="Microsoft YaHei"/>
              </a:rPr>
              <a:t>▪ 把运输标志和化学品标签象形图混为一谈</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实验室、医院、工厂里的危险物品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实验室：酸、有机溶剂、病原微生物</a:t>
            </a:r>
          </a:p>
          <a:p>
            <a:pPr>
              <a:spcAft>
                <a:spcPts val="1000"/>
              </a:spcAft>
            </a:pPr>
            <a:r>
              <a:rPr sz="2000">
                <a:solidFill>
                  <a:srgbClr val="222B33"/>
                </a:solidFill>
                <a:latin typeface="Microsoft YaHei"/>
              </a:rPr>
              <a:t>▪ 医院：药品、感染性样本、消毒剂</a:t>
            </a:r>
          </a:p>
          <a:p>
            <a:pPr>
              <a:spcAft>
                <a:spcPts val="1000"/>
              </a:spcAft>
            </a:pPr>
            <a:r>
              <a:rPr sz="2000">
                <a:solidFill>
                  <a:srgbClr val="222B33"/>
                </a:solidFill>
                <a:latin typeface="Microsoft YaHei"/>
              </a:rPr>
              <a:t>▪ 工厂：工业化学品和燃料，用量更大</a:t>
            </a:r>
          </a:p>
          <a:p>
            <a:pPr>
              <a:spcAft>
                <a:spcPts val="1000"/>
              </a:spcAft>
            </a:pPr>
            <a:r>
              <a:rPr sz="2000">
                <a:solidFill>
                  <a:srgbClr val="222B33"/>
                </a:solidFill>
                <a:latin typeface="Microsoft YaHei"/>
              </a:rPr>
              <a:t>▪ 用完归位，不随手乱放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实验室里常见的危险物品有酸碱、有机溶剂、有毒试剂、病原微生物、气瓶等，用完要放回原位，不随手乱放在台面上。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用完的试剂瓶留在台面、通风柜里</a:t>
            </a:r>
          </a:p>
          <a:p>
            <a:pPr>
              <a:spcAft>
                <a:spcPts val="1000"/>
              </a:spcAft>
            </a:pPr>
            <a:r>
              <a:rPr sz="1500">
                <a:solidFill>
                  <a:srgbClr val="222B33"/>
                </a:solidFill>
                <a:latin typeface="Microsoft YaHei"/>
              </a:rPr>
              <a:t>▪ 用过的感染性物品混入生活垃圾</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家里宿舍也有，看背面警示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家里和宿舍也藏着危险物品</a:t>
            </a:r>
          </a:p>
          <a:p>
            <a:pPr>
              <a:spcAft>
                <a:spcPts val="1000"/>
              </a:spcAft>
            </a:pPr>
            <a:r>
              <a:rPr sz="2000">
                <a:solidFill>
                  <a:srgbClr val="222B33"/>
                </a:solidFill>
                <a:latin typeface="Microsoft YaHei"/>
              </a:rPr>
              <a:t>▪ 清洁剂、油漆、电池、杀虫剂都是</a:t>
            </a:r>
          </a:p>
          <a:p>
            <a:pPr>
              <a:spcAft>
                <a:spcPts val="1000"/>
              </a:spcAft>
            </a:pPr>
            <a:r>
              <a:rPr sz="2000">
                <a:solidFill>
                  <a:srgbClr val="222B33"/>
                </a:solidFill>
                <a:latin typeface="Microsoft YaHei"/>
              </a:rPr>
              <a:t>▪ 看看瓶子背面，就有警示</a:t>
            </a:r>
          </a:p>
          <a:p>
            <a:pPr>
              <a:spcAft>
                <a:spcPts val="1000"/>
              </a:spcAft>
            </a:pPr>
            <a:r>
              <a:rPr sz="2000">
                <a:solidFill>
                  <a:srgbClr val="222B33"/>
                </a:solidFill>
                <a:latin typeface="Microsoft YaHei"/>
              </a:rPr>
              <a:t>▪ 放在孩子够不着的地方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危险物品不只在实验室。家里和宿舍里的清洁剂、油漆、电池、杀虫剂、燃料、药品等，同样可能伤人。这些产品的包装背面通常印有警示和使用说明，使用前要先看。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用饮料瓶分装清洁剂、杀虫剂</a:t>
            </a:r>
          </a:p>
          <a:p>
            <a:pPr>
              <a:spcAft>
                <a:spcPts val="1000"/>
              </a:spcAft>
            </a:pPr>
            <a:r>
              <a:rPr sz="1500">
                <a:solidFill>
                  <a:srgbClr val="222B33"/>
                </a:solidFill>
                <a:latin typeface="Microsoft YaHei"/>
              </a:rPr>
              <a:t>▪ 把实验室试剂带回宿舍</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清洁剂不能混用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漂白剂、氨水等清洁剂常见于家里宿舍</a:t>
            </a:r>
          </a:p>
          <a:p>
            <a:pPr>
              <a:spcAft>
                <a:spcPts val="1000"/>
              </a:spcAft>
            </a:pPr>
            <a:r>
              <a:rPr sz="2000">
                <a:solidFill>
                  <a:srgbClr val="222B33"/>
                </a:solidFill>
                <a:latin typeface="Microsoft YaHei"/>
              </a:rPr>
              <a:t>▪ 不同清洁剂混用会产生有毒气体</a:t>
            </a:r>
          </a:p>
          <a:p>
            <a:pPr>
              <a:spcAft>
                <a:spcPts val="1000"/>
              </a:spcAft>
            </a:pPr>
            <a:r>
              <a:rPr sz="2000">
                <a:solidFill>
                  <a:srgbClr val="222B33"/>
                </a:solidFill>
                <a:latin typeface="Microsoft YaHei"/>
              </a:rPr>
              <a:t>▪ 单独用，戴手套，开窗通风</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含氯漂白剂、含氨清洁剂、酸性洁厕剂等都是生活中常见的化学品。不同清洁剂混在一起可能发生反应，放出有毒气体，在卫生间等狭小空间里尤其危险。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为了“清洁更强”把两种清洁剂混用</a:t>
            </a:r>
          </a:p>
          <a:p>
            <a:pPr>
              <a:spcAft>
                <a:spcPts val="1000"/>
              </a:spcAft>
            </a:pPr>
            <a:r>
              <a:rPr sz="1500">
                <a:solidFill>
                  <a:srgbClr val="222B33"/>
                </a:solidFill>
                <a:latin typeface="Microsoft YaHei"/>
              </a:rPr>
              <a:t>▪ 在门窗紧闭的卫生间里大量使用</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燃料、电池、杀虫剂和药品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汽油、液化气、煤油易燃易爆，远离火源</a:t>
            </a:r>
          </a:p>
          <a:p>
            <a:pPr>
              <a:spcAft>
                <a:spcPts val="1000"/>
              </a:spcAft>
            </a:pPr>
            <a:r>
              <a:rPr sz="2000">
                <a:solidFill>
                  <a:srgbClr val="222B33"/>
                </a:solidFill>
                <a:latin typeface="Microsoft YaHei"/>
              </a:rPr>
              <a:t>▪ 铅酸电池有腐蚀液，锂电池会起火</a:t>
            </a:r>
          </a:p>
          <a:p>
            <a:pPr>
              <a:spcAft>
                <a:spcPts val="1000"/>
              </a:spcAft>
            </a:pPr>
            <a:r>
              <a:rPr sz="2000">
                <a:solidFill>
                  <a:srgbClr val="222B33"/>
                </a:solidFill>
                <a:latin typeface="Microsoft YaHei"/>
              </a:rPr>
              <a:t>▪ 杀虫剂喷完先离开，通风后再进</a:t>
            </a:r>
          </a:p>
          <a:p>
            <a:pPr>
              <a:spcAft>
                <a:spcPts val="1000"/>
              </a:spcAft>
            </a:pPr>
            <a:r>
              <a:rPr sz="2000">
                <a:solidFill>
                  <a:srgbClr val="222B33"/>
                </a:solidFill>
                <a:latin typeface="Microsoft YaHei"/>
              </a:rPr>
              <a:t>▪ 药也是化学品，按说明使用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汽油、液化石油气、煤油等燃料易燃易爆，要远离火源和高温。电池也是危险物品：铅酸电池里有腐蚀性电解液，锂电池过充、挤压、破损可能起火，鼓包的电池停止使用，废电池按规定回收。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给鼓包的锂电池继续充电</a:t>
            </a:r>
          </a:p>
          <a:p>
            <a:pPr>
              <a:spcAft>
                <a:spcPts val="1000"/>
              </a:spcAft>
            </a:pPr>
            <a:r>
              <a:rPr sz="1500">
                <a:solidFill>
                  <a:srgbClr val="222B33"/>
                </a:solidFill>
                <a:latin typeface="Microsoft YaHei"/>
              </a:rPr>
              <a:t>▪ 喷完杀虫剂立即在房间里睡觉、吃东西</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对人：烧伤、中毒、伤呼吸道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危险物品对人和环境都有风险</a:t>
            </a:r>
          </a:p>
          <a:p>
            <a:pPr>
              <a:spcAft>
                <a:spcPts val="1000"/>
              </a:spcAft>
            </a:pPr>
            <a:r>
              <a:rPr sz="2000">
                <a:solidFill>
                  <a:srgbClr val="222B33"/>
                </a:solidFill>
                <a:latin typeface="Microsoft YaHei"/>
              </a:rPr>
              <a:t>▪ 火烧和腐蚀都会烧伤，立即冲洗</a:t>
            </a:r>
          </a:p>
          <a:p>
            <a:pPr>
              <a:spcAft>
                <a:spcPts val="1000"/>
              </a:spcAft>
            </a:pPr>
            <a:r>
              <a:rPr sz="2000">
                <a:solidFill>
                  <a:srgbClr val="222B33"/>
                </a:solidFill>
                <a:latin typeface="Microsoft YaHei"/>
              </a:rPr>
              <a:t>▪ 毒物经呼吸、嘴巴和皮肤进入身体</a:t>
            </a:r>
          </a:p>
          <a:p>
            <a:pPr>
              <a:spcAft>
                <a:spcPts val="1000"/>
              </a:spcAft>
            </a:pPr>
            <a:r>
              <a:rPr sz="2000">
                <a:solidFill>
                  <a:srgbClr val="222B33"/>
                </a:solidFill>
                <a:latin typeface="Microsoft YaHei"/>
              </a:rPr>
              <a:t>▪ 挥发性物质伤呼吸道和肺，进通风柜做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危险物品对人的伤害，首先是烧伤：火焰造成热烧伤，腐蚀品造成化学灼伤；化学品溅到皮肤或眼睛，要立即用大量清水冲洗（急救见第 14 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化学品溅到皮肤只用纸擦，不冲洗</a:t>
            </a:r>
          </a:p>
          <a:p>
            <a:pPr>
              <a:spcAft>
                <a:spcPts val="1000"/>
              </a:spcAft>
            </a:pPr>
            <a:r>
              <a:rPr sz="1500">
                <a:solidFill>
                  <a:srgbClr val="222B33"/>
                </a:solidFill>
                <a:latin typeface="Microsoft YaHei"/>
              </a:rPr>
              <a:t>▪ 在敞开台面上处理挥发性试剂</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对人：长期危害、感染、致命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致癌等长期危害，可能多年后才显现</a:t>
            </a:r>
          </a:p>
          <a:p>
            <a:pPr>
              <a:spcAft>
                <a:spcPts val="1000"/>
              </a:spcAft>
            </a:pPr>
            <a:r>
              <a:rPr sz="2000">
                <a:solidFill>
                  <a:srgbClr val="222B33"/>
                </a:solidFill>
                <a:latin typeface="Microsoft YaHei"/>
              </a:rPr>
              <a:t>▪ 病原和样本会感染，按生物安全要求操作</a:t>
            </a:r>
          </a:p>
          <a:p>
            <a:pPr>
              <a:spcAft>
                <a:spcPts val="1000"/>
              </a:spcAft>
            </a:pPr>
            <a:r>
              <a:rPr sz="2000">
                <a:solidFill>
                  <a:srgbClr val="222B33"/>
                </a:solidFill>
                <a:latin typeface="Microsoft YaHei"/>
              </a:rPr>
              <a:t>▪ 最严重时危及生命，防护一步都不能省</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有些化学品的危害不会马上表现出来：致癌、致突变、生殖毒性等长期危害，可能多年后才显现，所以不能因为“当时没感觉”就放松防护。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认为“闻着没事、摸了没事”就是安全</a:t>
            </a:r>
          </a:p>
          <a:p>
            <a:pPr>
              <a:spcAft>
                <a:spcPts val="1000"/>
              </a:spcAft>
            </a:pPr>
            <a:r>
              <a:rPr sz="1500">
                <a:solidFill>
                  <a:srgbClr val="222B33"/>
                </a:solidFill>
                <a:latin typeface="Microsoft YaHei"/>
              </a:rPr>
              <a:t>▪ 嫌麻烦省略护目镜、手套</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对环境：污染水土、蓄积、破坏生态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污染水体，渗进土壤也很难清除</a:t>
            </a:r>
          </a:p>
          <a:p>
            <a:pPr>
              <a:spcAft>
                <a:spcPts val="1000"/>
              </a:spcAft>
            </a:pPr>
            <a:r>
              <a:rPr sz="2000">
                <a:solidFill>
                  <a:srgbClr val="222B33"/>
                </a:solidFill>
                <a:latin typeface="Microsoft YaHei"/>
              </a:rPr>
              <a:t>▪ 废液进专用桶，不进下水道</a:t>
            </a:r>
          </a:p>
          <a:p>
            <a:pPr>
              <a:spcAft>
                <a:spcPts val="1000"/>
              </a:spcAft>
            </a:pPr>
            <a:r>
              <a:rPr sz="2000">
                <a:solidFill>
                  <a:srgbClr val="222B33"/>
                </a:solidFill>
                <a:latin typeface="Microsoft YaHei"/>
              </a:rPr>
              <a:t>▪ 有些毒素在生物体内蓄积，沿食物链回到人</a:t>
            </a:r>
          </a:p>
          <a:p>
            <a:pPr>
              <a:spcAft>
                <a:spcPts val="1000"/>
              </a:spcAft>
            </a:pPr>
            <a:r>
              <a:rPr sz="2000">
                <a:solidFill>
                  <a:srgbClr val="222B33"/>
                </a:solidFill>
                <a:latin typeface="Microsoft YaHei"/>
              </a:rPr>
              <a:t>▪ 破坏生态系统，物种减少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危险物品进入环境会污染河流、湖泊和地下水，渗入土壤后很难清除。实验室废液必须倒入专用收集桶，按危险废物处置，不得倒入下水道（见第 053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少量废液倒进水槽“稀释就好”</a:t>
            </a:r>
          </a:p>
          <a:p>
            <a:pPr>
              <a:spcAft>
                <a:spcPts val="1000"/>
              </a:spcAft>
            </a:pPr>
            <a:r>
              <a:rPr sz="1500">
                <a:solidFill>
                  <a:srgbClr val="222B33"/>
                </a:solidFill>
                <a:latin typeface="Microsoft YaHei"/>
              </a:rPr>
              <a:t>▪ 把含重金属的废液和普通废水混排</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我国化学品危险性分类的国家标准是：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GB 2894</a:t>
            </a:r>
          </a:p>
          <a:p>
            <a:pPr algn="l"/>
            <a:r>
              <a:rPr sz="1500" b="0">
                <a:solidFill>
                  <a:srgbClr val="222B33"/>
                </a:solidFill>
                <a:latin typeface="Microsoft YaHei"/>
              </a:rPr>
              <a:t>B. GB 30000 系列</a:t>
            </a:r>
          </a:p>
          <a:p>
            <a:pPr algn="l"/>
            <a:r>
              <a:rPr sz="1500" b="0">
                <a:solidFill>
                  <a:srgbClr val="222B33"/>
                </a:solidFill>
                <a:latin typeface="Microsoft YaHei"/>
              </a:rPr>
              <a:t>C. GB 50016</a:t>
            </a:r>
          </a:p>
          <a:p>
            <a:pPr algn="l"/>
            <a:r>
              <a:rPr sz="1500" b="0">
                <a:solidFill>
                  <a:srgbClr val="222B33"/>
                </a:solidFill>
                <a:latin typeface="Microsoft YaHei"/>
              </a:rPr>
              <a:t>D. GB 18871</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GB 30000 系列把化学品危害分为哪三大类？</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固体、液体、气体</a:t>
            </a:r>
          </a:p>
          <a:p>
            <a:pPr algn="l"/>
            <a:r>
              <a:rPr sz="1500" b="0">
                <a:solidFill>
                  <a:srgbClr val="222B33"/>
                </a:solidFill>
                <a:latin typeface="Microsoft YaHei"/>
              </a:rPr>
              <a:t>B. 理化危险、健康危害、环境危害</a:t>
            </a:r>
          </a:p>
          <a:p>
            <a:pPr algn="l"/>
            <a:r>
              <a:rPr sz="1500" b="0">
                <a:solidFill>
                  <a:srgbClr val="222B33"/>
                </a:solidFill>
                <a:latin typeface="Microsoft YaHei"/>
              </a:rPr>
              <a:t>C. 剧毒、有毒、低毒</a:t>
            </a:r>
          </a:p>
          <a:p>
            <a:pPr algn="l"/>
            <a:r>
              <a:rPr sz="1500" b="0">
                <a:solidFill>
                  <a:srgbClr val="222B33"/>
                </a:solidFill>
                <a:latin typeface="Microsoft YaHei"/>
              </a:rPr>
              <a:t>D. 一级、二级、三级</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按 GB 6944，锂电池、干冰属于危险货物的：</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 2 类</a:t>
            </a:r>
          </a:p>
          <a:p>
            <a:pPr algn="l"/>
            <a:r>
              <a:rPr sz="1500" b="0">
                <a:solidFill>
                  <a:srgbClr val="222B33"/>
                </a:solidFill>
                <a:latin typeface="Microsoft YaHei"/>
              </a:rPr>
              <a:t>B. 第 4 类</a:t>
            </a:r>
          </a:p>
          <a:p>
            <a:pPr algn="l"/>
            <a:r>
              <a:rPr sz="1500" b="0">
                <a:solidFill>
                  <a:srgbClr val="222B33"/>
                </a:solidFill>
                <a:latin typeface="Microsoft YaHei"/>
              </a:rPr>
              <a:t>C. 第 8 类</a:t>
            </a:r>
          </a:p>
          <a:p>
            <a:pPr algn="l"/>
            <a:r>
              <a:rPr sz="1500" b="0">
                <a:solidFill>
                  <a:srgbClr val="222B33"/>
                </a:solidFill>
                <a:latin typeface="Microsoft YaHei"/>
              </a:rPr>
              <a:t>D. 第 9 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判断：我国病原微生物按危害程度分为四类，第四类危害最大。</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判断：宿舍打扫卫生时，把两种清洁剂混在一起效果更好。</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简答：危险物品对环境有哪些主要风险？</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危险物品：伤人、毁物、污染环境</a:t>
            </a:r>
          </a:p>
          <a:p>
            <a:pPr>
              <a:spcAft>
                <a:spcPts val="800"/>
              </a:spcAft>
            </a:pPr>
            <a:r>
              <a:rPr sz="1500">
                <a:solidFill>
                  <a:srgbClr val="FFFFFF"/>
                </a:solidFill>
                <a:latin typeface="Microsoft YaHei"/>
              </a:rPr>
              <a:t>▪ K2  固液气都有，多种方式伤人</a:t>
            </a:r>
          </a:p>
          <a:p>
            <a:pPr>
              <a:spcAft>
                <a:spcPts val="800"/>
              </a:spcAft>
            </a:pPr>
            <a:r>
              <a:rPr sz="1500">
                <a:solidFill>
                  <a:srgbClr val="FFFFFF"/>
                </a:solidFill>
                <a:latin typeface="Microsoft YaHei"/>
              </a:rPr>
              <a:t>▪ K3  遇高温、高压或混合更危险</a:t>
            </a:r>
          </a:p>
          <a:p>
            <a:pPr>
              <a:spcAft>
                <a:spcPts val="800"/>
              </a:spcAft>
            </a:pPr>
            <a:r>
              <a:rPr sz="1500">
                <a:solidFill>
                  <a:srgbClr val="FFFFFF"/>
                </a:solidFill>
                <a:latin typeface="Microsoft YaHei"/>
              </a:rPr>
              <a:t>▪ K4  全球统一分类，我国按GB 30000</a:t>
            </a:r>
          </a:p>
          <a:p>
            <a:pPr>
              <a:spcAft>
                <a:spcPts val="800"/>
              </a:spcAft>
            </a:pPr>
            <a:r>
              <a:rPr sz="1500">
                <a:solidFill>
                  <a:srgbClr val="FFFFFF"/>
                </a:solidFill>
                <a:latin typeface="Microsoft YaHei"/>
              </a:rPr>
              <a:t>▪ S1  三大类危害：理化、健康、环境</a:t>
            </a:r>
          </a:p>
          <a:p>
            <a:pPr>
              <a:spcAft>
                <a:spcPts val="800"/>
              </a:spcAft>
            </a:pPr>
            <a:r>
              <a:rPr sz="1500">
                <a:solidFill>
                  <a:srgbClr val="FFFFFF"/>
                </a:solidFill>
                <a:latin typeface="Microsoft YaHei"/>
              </a:rPr>
              <a:t>▪ K5  常见危险物品分七组</a:t>
            </a:r>
          </a:p>
          <a:p>
            <a:pPr>
              <a:spcAft>
                <a:spcPts val="800"/>
              </a:spcAft>
            </a:pPr>
            <a:r>
              <a:rPr sz="1500">
                <a:solidFill>
                  <a:srgbClr val="FFFFFF"/>
                </a:solidFill>
                <a:latin typeface="Microsoft YaHei"/>
              </a:rPr>
              <a:t>▪ K6  易燃和可燃物</a:t>
            </a:r>
          </a:p>
          <a:p>
            <a:pPr>
              <a:spcAft>
                <a:spcPts val="800"/>
              </a:spcAft>
            </a:pPr>
            <a:r>
              <a:rPr sz="1500">
                <a:solidFill>
                  <a:srgbClr val="FFFFFF"/>
                </a:solidFill>
                <a:latin typeface="Microsoft YaHei"/>
              </a:rPr>
              <a:t>▪ K7  腐蚀性物质</a:t>
            </a:r>
          </a:p>
          <a:p>
            <a:pPr>
              <a:spcAft>
                <a:spcPts val="800"/>
              </a:spcAft>
            </a:pPr>
            <a:r>
              <a:rPr sz="1500">
                <a:solidFill>
                  <a:srgbClr val="FFFFFF"/>
                </a:solidFill>
                <a:latin typeface="Microsoft YaHei"/>
              </a:rPr>
              <a:t>▪ K8  有毒物质</a:t>
            </a:r>
          </a:p>
          <a:p>
            <a:pPr>
              <a:spcAft>
                <a:spcPts val="800"/>
              </a:spcAft>
            </a:pPr>
            <a:r>
              <a:rPr sz="1500">
                <a:solidFill>
                  <a:srgbClr val="FFFFFF"/>
                </a:solidFill>
                <a:latin typeface="Microsoft YaHei"/>
              </a:rPr>
              <a:t>▪ K9  反应性和爆炸性物质</a:t>
            </a:r>
          </a:p>
          <a:p>
            <a:pPr>
              <a:spcAft>
                <a:spcPts val="800"/>
              </a:spcAft>
            </a:pPr>
            <a:r>
              <a:rPr sz="1500">
                <a:solidFill>
                  <a:srgbClr val="FFFFFF"/>
                </a:solidFill>
                <a:latin typeface="Microsoft YaHei"/>
              </a:rPr>
              <a:t>▪ K10  放射性物质</a:t>
            </a:r>
          </a:p>
          <a:p>
            <a:pPr>
              <a:spcAft>
                <a:spcPts val="800"/>
              </a:spcAft>
            </a:pPr>
            <a:r>
              <a:rPr sz="1500">
                <a:solidFill>
                  <a:srgbClr val="FFFFFF"/>
                </a:solidFill>
                <a:latin typeface="Microsoft YaHei"/>
              </a:rPr>
              <a:t>▪ K11  生物危害</a:t>
            </a:r>
          </a:p>
          <a:p>
            <a:pPr>
              <a:spcAft>
                <a:spcPts val="800"/>
              </a:spcAft>
            </a:pPr>
            <a:r>
              <a:rPr sz="1500">
                <a:solidFill>
                  <a:srgbClr val="FFFFFF"/>
                </a:solidFill>
                <a:latin typeface="Microsoft YaHei"/>
              </a:rPr>
              <a:t>▪ K12  压缩气体</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K13  运输分九类：看GB 6944</a:t>
            </a:r>
          </a:p>
          <a:p>
            <a:pPr>
              <a:spcAft>
                <a:spcPts val="800"/>
              </a:spcAft>
            </a:pPr>
            <a:r>
              <a:rPr sz="1500">
                <a:solidFill>
                  <a:srgbClr val="FFFFFF"/>
                </a:solidFill>
                <a:latin typeface="Microsoft YaHei"/>
              </a:rPr>
              <a:t>▪ K14  第1至3类：爆炸品、气体、易燃液体</a:t>
            </a:r>
          </a:p>
          <a:p>
            <a:pPr>
              <a:spcAft>
                <a:spcPts val="800"/>
              </a:spcAft>
            </a:pPr>
            <a:r>
              <a:rPr sz="1500">
                <a:solidFill>
                  <a:srgbClr val="FFFFFF"/>
                </a:solidFill>
                <a:latin typeface="Microsoft YaHei"/>
              </a:rPr>
              <a:t>▪ K15  第4至6类：易燃固体、氧化性、毒性</a:t>
            </a:r>
          </a:p>
          <a:p>
            <a:pPr>
              <a:spcAft>
                <a:spcPts val="800"/>
              </a:spcAft>
            </a:pPr>
            <a:r>
              <a:rPr sz="1500">
                <a:solidFill>
                  <a:srgbClr val="FFFFFF"/>
                </a:solidFill>
                <a:latin typeface="Microsoft YaHei"/>
              </a:rPr>
              <a:t>▪ K16  第7至9类：放射性、腐蚀性、杂项</a:t>
            </a:r>
          </a:p>
          <a:p>
            <a:pPr>
              <a:spcAft>
                <a:spcPts val="800"/>
              </a:spcAft>
            </a:pPr>
            <a:r>
              <a:rPr sz="1500">
                <a:solidFill>
                  <a:srgbClr val="FFFFFF"/>
                </a:solidFill>
                <a:latin typeface="Microsoft YaHei"/>
              </a:rPr>
              <a:t>▪ K17  菱形类别标志，一眼认危险</a:t>
            </a:r>
          </a:p>
          <a:p>
            <a:pPr>
              <a:spcAft>
                <a:spcPts val="800"/>
              </a:spcAft>
            </a:pPr>
            <a:r>
              <a:rPr sz="1500">
                <a:solidFill>
                  <a:srgbClr val="FFFFFF"/>
                </a:solidFill>
                <a:latin typeface="Microsoft YaHei"/>
              </a:rPr>
              <a:t>▪ K18  实验室、医院、工厂里的危险物品</a:t>
            </a:r>
          </a:p>
          <a:p>
            <a:pPr>
              <a:spcAft>
                <a:spcPts val="800"/>
              </a:spcAft>
            </a:pPr>
            <a:r>
              <a:rPr sz="1500">
                <a:solidFill>
                  <a:srgbClr val="FFFFFF"/>
                </a:solidFill>
                <a:latin typeface="Microsoft YaHei"/>
              </a:rPr>
              <a:t>▪ K19  家里宿舍也有，看背面警示</a:t>
            </a:r>
          </a:p>
          <a:p>
            <a:pPr>
              <a:spcAft>
                <a:spcPts val="800"/>
              </a:spcAft>
            </a:pPr>
            <a:r>
              <a:rPr sz="1500">
                <a:solidFill>
                  <a:srgbClr val="FFFFFF"/>
                </a:solidFill>
                <a:latin typeface="Microsoft YaHei"/>
              </a:rPr>
              <a:t>▪ K20  清洁剂不能混用</a:t>
            </a:r>
          </a:p>
          <a:p>
            <a:pPr>
              <a:spcAft>
                <a:spcPts val="800"/>
              </a:spcAft>
            </a:pPr>
            <a:r>
              <a:rPr sz="1500">
                <a:solidFill>
                  <a:srgbClr val="FFFFFF"/>
                </a:solidFill>
                <a:latin typeface="Microsoft YaHei"/>
              </a:rPr>
              <a:t>▪ K21  燃料、电池、杀虫剂和药品</a:t>
            </a:r>
          </a:p>
          <a:p>
            <a:pPr>
              <a:spcAft>
                <a:spcPts val="800"/>
              </a:spcAft>
            </a:pPr>
            <a:r>
              <a:rPr sz="1500">
                <a:solidFill>
                  <a:srgbClr val="FFFFFF"/>
                </a:solidFill>
                <a:latin typeface="Microsoft YaHei"/>
              </a:rPr>
              <a:t>▪ K22  对人：烧伤、中毒、伤呼吸道</a:t>
            </a:r>
          </a:p>
          <a:p>
            <a:pPr>
              <a:spcAft>
                <a:spcPts val="800"/>
              </a:spcAft>
            </a:pPr>
            <a:r>
              <a:rPr sz="1500">
                <a:solidFill>
                  <a:srgbClr val="FFFFFF"/>
                </a:solidFill>
                <a:latin typeface="Microsoft YaHei"/>
              </a:rPr>
              <a:t>▪ K23  对人：长期危害、感染、致命</a:t>
            </a:r>
          </a:p>
          <a:p>
            <a:pPr>
              <a:spcAft>
                <a:spcPts val="800"/>
              </a:spcAft>
            </a:pPr>
            <a:r>
              <a:rPr sz="1500">
                <a:solidFill>
                  <a:srgbClr val="FFFFFF"/>
                </a:solidFill>
                <a:latin typeface="Microsoft YaHei"/>
              </a:rPr>
              <a:t>▪ K24  对环境：污染水土、蓄积、破坏生态</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039</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化学品标签与危害告知</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73 镜）　适用对象：全体使用化学品的高校本科生、研究生和教职工（必修）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能说出危害告知的意义，以及生产进口单位、使用单位在“一书一签”上的责任。</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能读懂中文化学品安全标签的要素（GB 15258-2009）：名称、象形图、信号词、危险说明、防范说明、供应商和应急电话。</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能认出 GB 30000 系列的九种象形图和“危险”“警告”两个信号词，区分运输标志和象形图。</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能做到给分装容器、自配溶液、使用中的容器贴全称标签，标签损坏及时补贴，并参与危害告知培训。</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日起施行）及《危险化学品安全管理条例》（以现行文本为准）：危险化学品附中文化学品安全技术说明书和安全标签</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15258-2009（以现行文本为准）《化学品安全标签编写规定》：标签要素和编写要求</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系列（如 GB 30000.7-2013，以现行文本为准）《化学品分类和标签规范》：危险性分类、象形图和信号词</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190-2009（以现行文本为准）《危险货物包装标志》：运输菱形标志</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《中华人民共和国职业病防治法》（以现行文本为准）：用人单位如实告知职业病危害，设置警示标识和中文警示说明</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号，以现行文本为准）：化学品标签清晰、容器标识、安全培训</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高校实验室安全检查项目表（以现行文本为准）：试剂和自配溶液标签完整、安全技术说明书可查</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危害告知是安全的共同语言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每个容器、每批到货、每次交接都在传递危险信息</a:t>
            </a:r>
          </a:p>
          <a:p>
            <a:pPr>
              <a:spcAft>
                <a:spcPts val="1000"/>
              </a:spcAft>
            </a:pPr>
            <a:r>
              <a:rPr sz="2000">
                <a:solidFill>
                  <a:srgbClr val="222B33"/>
                </a:solidFill>
                <a:latin typeface="Microsoft YaHei"/>
              </a:rPr>
              <a:t>▪ 会读、会说、会转告，大家才安全</a:t>
            </a:r>
          </a:p>
          <a:p>
            <a:pPr>
              <a:spcAft>
                <a:spcPts val="1000"/>
              </a:spcAft>
            </a:pPr>
            <a:r>
              <a:rPr sz="2000">
                <a:solidFill>
                  <a:srgbClr val="222B33"/>
                </a:solidFill>
                <a:latin typeface="Microsoft YaHei"/>
              </a:rPr>
              <a:t>▪ 安全意识从把危害讲清楚开始</a:t>
            </a:r>
          </a:p>
          <a:p>
            <a:pPr>
              <a:spcAft>
                <a:spcPts val="1000"/>
              </a:spcAft>
            </a:pPr>
            <a:r>
              <a:rPr sz="2000">
                <a:solidFill>
                  <a:srgbClr val="222B33"/>
                </a:solidFill>
                <a:latin typeface="Microsoft YaHei"/>
              </a:rPr>
              <a:t>▪ 不是一年一次的讲座，而是每天的习惯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危害告知（也叫危险信息传递）就是让每个接触化学品的人知道它有什么危害、怎样防护、出事怎么办。容器上的标签、随货的说明书、交接时的口头说明，都是这门“安全语言”的一部分。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交接实验时不说明在用的化学品和危害</a:t>
            </a:r>
          </a:p>
          <a:p>
            <a:pPr>
              <a:spcAft>
                <a:spcPts val="1000"/>
              </a:spcAft>
            </a:pPr>
            <a:r>
              <a:rPr sz="1500">
                <a:solidFill>
                  <a:srgbClr val="222B33"/>
                </a:solidFill>
                <a:latin typeface="Microsoft YaHei"/>
              </a:rPr>
              <a:t>▪ 只在迎检和培训时才关注标签</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可能接触的人都有权知道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有危险化学品的地方，就要做好危害告知</a:t>
            </a:r>
          </a:p>
          <a:p>
            <a:pPr>
              <a:spcAft>
                <a:spcPts val="1000"/>
              </a:spcAft>
            </a:pPr>
            <a:r>
              <a:rPr sz="2000">
                <a:solidFill>
                  <a:srgbClr val="222B33"/>
                </a:solidFill>
                <a:latin typeface="Microsoft YaHei"/>
              </a:rPr>
              <a:t>▪ 做实验的、打扫的、来帮忙的都要知道</a:t>
            </a:r>
          </a:p>
          <a:p>
            <a:pPr>
              <a:spcAft>
                <a:spcPts val="1000"/>
              </a:spcAft>
            </a:pPr>
            <a:r>
              <a:rPr sz="2000">
                <a:solidFill>
                  <a:srgbClr val="222B33"/>
                </a:solidFill>
                <a:latin typeface="Microsoft YaHei"/>
              </a:rPr>
              <a:t>▪ 你有权知道自己接触的是什么</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只要有危险化学品，就要做好危害告知，没有例外。告知对象不只是做实验的人，保洁、维修、来帮忙的同学和外来人员，凡是可能接触的，都要知道三件事：这里有什么危害、怎样防护、出事怎么办。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保洁、维修人员进实验室前不告知危害</a:t>
            </a:r>
          </a:p>
          <a:p>
            <a:pPr>
              <a:spcAft>
                <a:spcPts val="1000"/>
              </a:spcAft>
            </a:pPr>
            <a:r>
              <a:rPr sz="1500">
                <a:solidFill>
                  <a:srgbClr val="222B33"/>
                </a:solidFill>
                <a:latin typeface="Microsoft YaHei"/>
              </a:rPr>
              <a:t>▪ 不清楚是什么也不敢问，凭感觉操作</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生产进口单位：评估危害，配齐一书一签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生产、进口单位先评估化学品的危害</a:t>
            </a:r>
          </a:p>
          <a:p>
            <a:pPr>
              <a:spcAft>
                <a:spcPts val="1000"/>
              </a:spcAft>
            </a:pPr>
            <a:r>
              <a:rPr sz="2000">
                <a:solidFill>
                  <a:srgbClr val="222B33"/>
                </a:solidFill>
                <a:latin typeface="Microsoft YaHei"/>
              </a:rPr>
              <a:t>▪ 配齐安全标签和安全技术说明书</a:t>
            </a:r>
          </a:p>
          <a:p>
            <a:pPr>
              <a:spcAft>
                <a:spcPts val="1000"/>
              </a:spcAft>
            </a:pPr>
            <a:r>
              <a:rPr sz="2000">
                <a:solidFill>
                  <a:srgbClr val="222B33"/>
                </a:solidFill>
                <a:latin typeface="Microsoft YaHei"/>
              </a:rPr>
              <a:t>▪ 把危害信息传给下游使用者</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危险信息的源头是化学品的生产和进口单位：它们要按国家标准对化学品进行危险性分类、评估危害，编制中文安全标签和安全技术说明书，随产品一起提供，把危害信息传递给经营者和使用者。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认为说明书“网上能查”，不向供应单位索取</a:t>
            </a:r>
          </a:p>
          <a:p>
            <a:pPr>
              <a:spcAft>
                <a:spcPts val="1000"/>
              </a:spcAft>
            </a:pPr>
            <a:r>
              <a:rPr sz="1500">
                <a:solidFill>
                  <a:srgbClr val="222B33"/>
                </a:solidFill>
                <a:latin typeface="Microsoft YaHei"/>
              </a:rPr>
              <a:t>▪ 接收没有中文标签的进口试剂</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国内要求：中文一书一签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国际上有统一的化学品分类和标签制度</a:t>
            </a:r>
          </a:p>
          <a:p>
            <a:pPr>
              <a:spcAft>
                <a:spcPts val="1000"/>
              </a:spcAft>
            </a:pPr>
            <a:r>
              <a:rPr sz="2000">
                <a:solidFill>
                  <a:srgbClr val="222B33"/>
                </a:solidFill>
                <a:latin typeface="Microsoft YaHei"/>
              </a:rPr>
              <a:t>▪ 我国按 GB 30000 系列分类和贴标签</a:t>
            </a:r>
          </a:p>
          <a:p>
            <a:pPr>
              <a:spcAft>
                <a:spcPts val="1000"/>
              </a:spcAft>
            </a:pPr>
            <a:r>
              <a:rPr sz="2000">
                <a:solidFill>
                  <a:srgbClr val="222B33"/>
                </a:solidFill>
                <a:latin typeface="Microsoft YaHei"/>
              </a:rPr>
              <a:t>▪ 安全技术说明书和安全标签要有中文版</a:t>
            </a:r>
          </a:p>
          <a:p>
            <a:pPr>
              <a:spcAft>
                <a:spcPts val="1000"/>
              </a:spcAft>
            </a:pPr>
            <a:r>
              <a:rPr sz="2000">
                <a:solidFill>
                  <a:srgbClr val="222B33"/>
                </a:solidFill>
                <a:latin typeface="Microsoft YaHei"/>
              </a:rPr>
              <a:t>▪ 没有标签的试剂，不使用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联合国推行的全球化学品统一分类和标签制度统一了分类、标签和说明书的格式，各国的人看到的是同样的警示。我国按 GB 30000 系列分类，按 GB 15258-2009 编写标签，按 GB/T 16483-2008 编……</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只有外文标签也照常使用</a:t>
            </a:r>
          </a:p>
          <a:p>
            <a:pPr>
              <a:spcAft>
                <a:spcPts val="1000"/>
              </a:spcAft>
            </a:pPr>
            <a:r>
              <a:rPr sz="1500">
                <a:solidFill>
                  <a:srgbClr val="222B33"/>
                </a:solidFill>
                <a:latin typeface="Microsoft YaHei"/>
              </a:rPr>
              <a:t>▪ 说明书锁在办公室，实验室里查不到</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使用单位：标签完好，说明书随手可得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使用单位和实验室保证标签完好</a:t>
            </a:r>
          </a:p>
          <a:p>
            <a:pPr>
              <a:spcAft>
                <a:spcPts val="1000"/>
              </a:spcAft>
            </a:pPr>
            <a:r>
              <a:rPr sz="2000">
                <a:solidFill>
                  <a:srgbClr val="222B33"/>
                </a:solidFill>
                <a:latin typeface="Microsoft YaHei"/>
              </a:rPr>
              <a:t>▪ 说明书放在实验室，随手可得</a:t>
            </a:r>
          </a:p>
          <a:p>
            <a:pPr>
              <a:spcAft>
                <a:spcPts val="1000"/>
              </a:spcAft>
            </a:pPr>
            <a:r>
              <a:rPr sz="2000">
                <a:solidFill>
                  <a:srgbClr val="222B33"/>
                </a:solidFill>
                <a:latin typeface="Microsoft YaHei"/>
              </a:rPr>
              <a:t>▪ 纸质或电子版都要能马上查到</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使用化学品的学校、学院和实验室，要保证每个容器上的标签完好、清晰，保证每种化学品的安全技术说明书在实验室里随手可得——纸质文件夹或电脑、平板上的电子版都可以，关键是出事时能马上查到。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说明书只存在某个人的电脑里</a:t>
            </a:r>
          </a:p>
          <a:p>
            <a:pPr>
              <a:spcAft>
                <a:spcPts val="1000"/>
              </a:spcAft>
            </a:pPr>
            <a:r>
              <a:rPr sz="1500">
                <a:solidFill>
                  <a:srgbClr val="222B33"/>
                </a:solidFill>
                <a:latin typeface="Microsoft YaHei"/>
              </a:rPr>
              <a:t>▪ 标签被试剂腐蚀也没人管</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用前先看标签，详情再查SDS</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了解化学品，先看标签</a:t>
            </a:r>
          </a:p>
          <a:p>
            <a:pPr>
              <a:spcAft>
                <a:spcPts val="1000"/>
              </a:spcAft>
            </a:pPr>
            <a:r>
              <a:rPr sz="2000">
                <a:solidFill>
                  <a:srgbClr val="222B33"/>
                </a:solidFill>
                <a:latin typeface="Microsoft YaHei"/>
              </a:rPr>
              <a:t>▪ 标签是第一张危险说明</a:t>
            </a:r>
          </a:p>
          <a:p>
            <a:pPr>
              <a:spcAft>
                <a:spcPts val="1000"/>
              </a:spcAft>
            </a:pPr>
            <a:r>
              <a:rPr sz="2000">
                <a:solidFill>
                  <a:srgbClr val="222B33"/>
                </a:solidFill>
                <a:latin typeface="Microsoft YaHei"/>
              </a:rPr>
              <a:t>▪ 更详细的查安全技术说明书（SDS）</a:t>
            </a:r>
          </a:p>
          <a:p>
            <a:pPr>
              <a:spcAft>
                <a:spcPts val="1000"/>
              </a:spcAft>
            </a:pPr>
            <a:r>
              <a:rPr sz="2000">
                <a:solidFill>
                  <a:srgbClr val="222B33"/>
                </a:solidFill>
                <a:latin typeface="Microsoft YaHei"/>
              </a:rPr>
              <a:t>▪ 防护、急救、泄漏处理，说明书里都有</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使用一种试剂前，先看清标签上的名称、象形图和信号词，一眼就能知道它是什么类型的危险、有多危险。标签是“第一张危险说明”，但篇幅有限。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不看标签，凭瓶子颜色和位置拿试剂</a:t>
            </a:r>
          </a:p>
          <a:p>
            <a:pPr>
              <a:spcAft>
                <a:spcPts val="1000"/>
              </a:spcAft>
            </a:pPr>
            <a:r>
              <a:rPr sz="1500">
                <a:solidFill>
                  <a:srgbClr val="222B33"/>
                </a:solidFill>
                <a:latin typeface="Microsoft YaHei"/>
              </a:rPr>
              <a:t>▪ 只看标签名称，不看象形图和信号词</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安全标签上有什么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标签是说明书的浓缩版</a:t>
            </a:r>
          </a:p>
          <a:p>
            <a:pPr>
              <a:spcAft>
                <a:spcPts val="1000"/>
              </a:spcAft>
            </a:pPr>
            <a:r>
              <a:rPr sz="2000">
                <a:solidFill>
                  <a:srgbClr val="222B33"/>
                </a:solidFill>
                <a:latin typeface="Microsoft YaHei"/>
              </a:rPr>
              <a:t>▪ 名称、象形图、信号词、危险说明、防范说明</a:t>
            </a:r>
          </a:p>
          <a:p>
            <a:pPr>
              <a:spcAft>
                <a:spcPts val="1000"/>
              </a:spcAft>
            </a:pPr>
            <a:r>
              <a:rPr sz="2000">
                <a:solidFill>
                  <a:srgbClr val="222B33"/>
                </a:solidFill>
                <a:latin typeface="Microsoft YaHei"/>
              </a:rPr>
              <a:t>▪ 供应商标识、应急咨询电话、资料参阅提示</a:t>
            </a:r>
          </a:p>
          <a:p>
            <a:pPr>
              <a:spcAft>
                <a:spcPts val="1000"/>
              </a:spcAft>
            </a:pPr>
            <a:r>
              <a:rPr sz="2000">
                <a:solidFill>
                  <a:srgbClr val="222B33"/>
                </a:solidFill>
                <a:latin typeface="Microsoft YaHei"/>
              </a:rPr>
              <a:t>▪ 标签怎么写，按 GB 15258-2009</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 GB 15258-2009（以现行文本为准），化学品安全标签的要素包括：化学品标识（名称）、象形图、信号词、危险性说明、防范说明、供应商标识、应急咨询电话和资料参阅提示语（提示查阅安全技术说明书）。防范说明中包括……</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只认名称，不读危险说明和防范说明</a:t>
            </a:r>
          </a:p>
          <a:p>
            <a:pPr>
              <a:spcAft>
                <a:spcPts val="1000"/>
              </a:spcAft>
            </a:pPr>
            <a:r>
              <a:rPr sz="1500">
                <a:solidFill>
                  <a:srgbClr val="222B33"/>
                </a:solidFill>
                <a:latin typeface="Microsoft YaHei"/>
              </a:rPr>
              <a:t>▪ 不知道标签上有应急咨询电话</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象形图：红框白底黑图，共九种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象形图是红色菱形框、白底、黑色图形</a:t>
            </a:r>
          </a:p>
          <a:p>
            <a:pPr>
              <a:spcAft>
                <a:spcPts val="1000"/>
              </a:spcAft>
            </a:pPr>
            <a:r>
              <a:rPr sz="2000">
                <a:solidFill>
                  <a:srgbClr val="222B33"/>
                </a:solidFill>
                <a:latin typeface="Microsoft YaHei"/>
              </a:rPr>
              <a:t>▪ 一共九种，每种代表一类危害</a:t>
            </a:r>
          </a:p>
          <a:p>
            <a:pPr>
              <a:spcAft>
                <a:spcPts val="1000"/>
              </a:spcAft>
            </a:pPr>
            <a:r>
              <a:rPr sz="2000">
                <a:solidFill>
                  <a:srgbClr val="222B33"/>
                </a:solidFill>
                <a:latin typeface="Microsoft YaHei"/>
              </a:rPr>
              <a:t>▪ 九种都要认全</a:t>
            </a:r>
          </a:p>
          <a:p>
            <a:pPr>
              <a:spcAft>
                <a:spcPts val="1000"/>
              </a:spcAft>
            </a:pPr>
            <a:r>
              <a:rPr sz="2000">
                <a:solidFill>
                  <a:srgbClr val="222B33"/>
                </a:solidFill>
                <a:latin typeface="Microsoft YaHei"/>
              </a:rPr>
              <a:t>▪ 不管说什么语言，一眼就能认出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GB 30000 系列规定的危险象形图是红色边框的菱形，白色背景，中间是黑色图形，一共九种：爆炸弹、火焰、圆圈上方火焰、气瓶、腐蚀、骷髅和交叉骨、感叹号、健康危害（人形）、环境（枯树和死鱼）。</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只认识火焰和骷髅，其他象形图不认得</a:t>
            </a:r>
          </a:p>
          <a:p>
            <a:pPr>
              <a:spcAft>
                <a:spcPts val="1000"/>
              </a:spcAft>
            </a:pPr>
            <a:r>
              <a:rPr sz="1500">
                <a:solidFill>
                  <a:srgbClr val="222B33"/>
                </a:solidFill>
                <a:latin typeface="Microsoft YaHei"/>
              </a:rPr>
              <a:t>▪ 把黑底、黄底的其他标志当作象形图</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爆炸、易燃、氧化、气瓶、腐蚀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爆炸弹：爆炸物或不稳定物质</a:t>
            </a:r>
          </a:p>
          <a:p>
            <a:pPr>
              <a:spcAft>
                <a:spcPts val="1000"/>
              </a:spcAft>
            </a:pPr>
            <a:r>
              <a:rPr sz="2000">
                <a:solidFill>
                  <a:srgbClr val="222B33"/>
                </a:solidFill>
                <a:latin typeface="Microsoft YaHei"/>
              </a:rPr>
              <a:t>▪ 火焰：易燃；圆圈上方火焰：氧化性，会助燃</a:t>
            </a:r>
          </a:p>
          <a:p>
            <a:pPr>
              <a:spcAft>
                <a:spcPts val="1000"/>
              </a:spcAft>
            </a:pPr>
            <a:r>
              <a:rPr sz="2000">
                <a:solidFill>
                  <a:srgbClr val="222B33"/>
                </a:solidFill>
                <a:latin typeface="Microsoft YaHei"/>
              </a:rPr>
              <a:t>▪ 气瓶：加压气体</a:t>
            </a:r>
          </a:p>
          <a:p>
            <a:pPr>
              <a:spcAft>
                <a:spcPts val="1000"/>
              </a:spcAft>
            </a:pPr>
            <a:r>
              <a:rPr sz="2000">
                <a:solidFill>
                  <a:srgbClr val="222B33"/>
                </a:solidFill>
                <a:latin typeface="Microsoft YaHei"/>
              </a:rPr>
              <a:t>▪ 腐蚀：伤皮肤、伤眼睛、腐蚀金属</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表示理化危险的象形图：爆炸弹表示爆炸物、自反应物质等不稳定物质；火焰表示易燃（气体、液体、固体等）；圆圈上方的火焰表示氧化性物质，它能放出氧、引发或助长燃烧，所以氧化剂要远离可燃物；气瓶表示加压气体；腐蚀表示金属腐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把氧化性象形图当作易燃，混放氧化剂和可燃物</a:t>
            </a:r>
          </a:p>
          <a:p>
            <a:pPr>
              <a:spcAft>
                <a:spcPts val="1000"/>
              </a:spcAft>
            </a:pPr>
            <a:r>
              <a:rPr sz="1500">
                <a:solidFill>
                  <a:srgbClr val="222B33"/>
                </a:solidFill>
                <a:latin typeface="Microsoft YaHei"/>
              </a:rPr>
              <a:t>▪ 以为腐蚀图只针对金属，不戴护目镜</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骷髅、感叹号、健康危害、环境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骷髅：急性毒性，千万别忽略</a:t>
            </a:r>
          </a:p>
          <a:p>
            <a:pPr>
              <a:spcAft>
                <a:spcPts val="1000"/>
              </a:spcAft>
            </a:pPr>
            <a:r>
              <a:rPr sz="2000">
                <a:solidFill>
                  <a:srgbClr val="222B33"/>
                </a:solidFill>
                <a:latin typeface="Microsoft YaHei"/>
              </a:rPr>
              <a:t>▪ 感叹号：刺激、致敏等较轻危害</a:t>
            </a:r>
          </a:p>
          <a:p>
            <a:pPr>
              <a:spcAft>
                <a:spcPts val="1000"/>
              </a:spcAft>
            </a:pPr>
            <a:r>
              <a:rPr sz="2000">
                <a:solidFill>
                  <a:srgbClr val="222B33"/>
                </a:solidFill>
                <a:latin typeface="Microsoft YaHei"/>
              </a:rPr>
              <a:t>▪ 人形图：致癌等严重的慢性健康危害</a:t>
            </a:r>
          </a:p>
          <a:p>
            <a:pPr>
              <a:spcAft>
                <a:spcPts val="1000"/>
              </a:spcAft>
            </a:pPr>
            <a:r>
              <a:rPr sz="2000">
                <a:solidFill>
                  <a:srgbClr val="222B33"/>
                </a:solidFill>
                <a:latin typeface="Microsoft YaHei"/>
              </a:rPr>
              <a:t>▪ 枯树死鱼：危害水生环境</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表示健康和环境危害的象形图：骷髅和交叉骨表示急性毒性（较高级别），少量接触就可能严重中毒；感叹号表示皮肤刺激、眼刺激、皮肤致敏、较低级别急性毒性等相对较轻的危害；人形图（胸部有星爆）表示致癌、致突变、生殖毒性、呼吸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以为感叹号“问题不大”，不做防护</a:t>
            </a:r>
          </a:p>
          <a:p>
            <a:pPr>
              <a:spcAft>
                <a:spcPts val="1000"/>
              </a:spcAft>
            </a:pPr>
            <a:r>
              <a:rPr sz="1500">
                <a:solidFill>
                  <a:srgbClr val="222B33"/>
                </a:solidFill>
                <a:latin typeface="Microsoft YaHei"/>
              </a:rPr>
              <a:t>▪ 没有骷髅图就当作无毒</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一物多险，每个象形图都要看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一种物质可能有好几种危险</a:t>
            </a:r>
          </a:p>
          <a:p>
            <a:pPr>
              <a:spcAft>
                <a:spcPts val="1000"/>
              </a:spcAft>
            </a:pPr>
            <a:r>
              <a:rPr sz="2000">
                <a:solidFill>
                  <a:srgbClr val="222B33"/>
                </a:solidFill>
                <a:latin typeface="Microsoft YaHei"/>
              </a:rPr>
              <a:t>▪ 不要只看第一个象形图</a:t>
            </a:r>
          </a:p>
          <a:p>
            <a:pPr>
              <a:spcAft>
                <a:spcPts val="1000"/>
              </a:spcAft>
            </a:pPr>
            <a:r>
              <a:rPr sz="2000">
                <a:solidFill>
                  <a:srgbClr val="222B33"/>
                </a:solidFill>
                <a:latin typeface="Microsoft YaHei"/>
              </a:rPr>
              <a:t>▪ 每个象形图对应一种防护</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很多化学品同时具有几种危害，例如既易燃又刺激，或者既腐蚀又有毒，标签上就会有几个象形图。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只看到火焰，忽视旁边的健康危害图</a:t>
            </a:r>
          </a:p>
          <a:p>
            <a:pPr>
              <a:spcAft>
                <a:spcPts val="1000"/>
              </a:spcAft>
            </a:pPr>
            <a:r>
              <a:rPr sz="1500">
                <a:solidFill>
                  <a:srgbClr val="222B33"/>
                </a:solidFill>
                <a:latin typeface="Microsoft YaHei"/>
              </a:rPr>
              <a:t>▪ 防护只针对一种危险</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信号词：危险重于警告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信号词只有两个：“危险”和“警告”</a:t>
            </a:r>
          </a:p>
          <a:p>
            <a:pPr>
              <a:spcAft>
                <a:spcPts val="1000"/>
              </a:spcAft>
            </a:pPr>
            <a:r>
              <a:rPr sz="2000">
                <a:solidFill>
                  <a:srgbClr val="222B33"/>
                </a:solidFill>
                <a:latin typeface="Microsoft YaHei"/>
              </a:rPr>
              <a:t>▪ 它粗略表示危害的相对程度</a:t>
            </a:r>
          </a:p>
          <a:p>
            <a:pPr>
              <a:spcAft>
                <a:spcPts val="1000"/>
              </a:spcAft>
            </a:pPr>
            <a:r>
              <a:rPr sz="2000">
                <a:solidFill>
                  <a:srgbClr val="222B33"/>
                </a:solidFill>
                <a:latin typeface="Microsoft YaHei"/>
              </a:rPr>
              <a:t>▪ “危险”更严重，“警告”相对较轻</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标签上象形图旁边有信号词，只有两个：“危险”和“警告”，用来粗略表示危害的相对严重程度。“危险”用于较严重的危害类别，“警告”用于相对较轻的。一种化学品标签上只用一个信号词，有“危险”时就不再用“警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看到“警告”就以为没有危险</a:t>
            </a:r>
          </a:p>
          <a:p>
            <a:pPr>
              <a:spcAft>
                <a:spcPts val="1000"/>
              </a:spcAft>
            </a:pPr>
            <a:r>
              <a:rPr sz="1500">
                <a:solidFill>
                  <a:srgbClr val="222B33"/>
                </a:solidFill>
                <a:latin typeface="Microsoft YaHei"/>
              </a:rPr>
              <a:t>▪ 以为还有“注意”“小心”等其他信号词</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危险说明讲危害，防范说明讲做法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危险说明：这种化学品有什么危害</a:t>
            </a:r>
          </a:p>
          <a:p>
            <a:pPr>
              <a:spcAft>
                <a:spcPts val="1000"/>
              </a:spcAft>
            </a:pPr>
            <a:r>
              <a:rPr sz="2000">
                <a:solidFill>
                  <a:srgbClr val="222B33"/>
                </a:solidFill>
                <a:latin typeface="Microsoft YaHei"/>
              </a:rPr>
              <a:t>▪ 防范说明：怎样安全使用</a:t>
            </a:r>
          </a:p>
          <a:p>
            <a:pPr>
              <a:spcAft>
                <a:spcPts val="1000"/>
              </a:spcAft>
            </a:pPr>
            <a:r>
              <a:rPr sz="2000">
                <a:solidFill>
                  <a:srgbClr val="222B33"/>
                </a:solidFill>
                <a:latin typeface="Microsoft YaHei"/>
              </a:rPr>
              <a:t>▪ 预防、应急、储存、废弃都写在上面</a:t>
            </a:r>
          </a:p>
          <a:p>
            <a:pPr>
              <a:spcAft>
                <a:spcPts val="1000"/>
              </a:spcAft>
            </a:pPr>
            <a:r>
              <a:rPr sz="2000">
                <a:solidFill>
                  <a:srgbClr val="222B33"/>
                </a:solidFill>
                <a:latin typeface="Microsoft YaHei"/>
              </a:rPr>
              <a:t>▪ 能用低毒的，就别用高毒的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危险说明用简短的句子描述化学品的危害性质和程度，例如“高度易燃液体和蒸气”“吞咽有害”。防范说明告诉你怎样预防接触、发生事故怎样处置（包括急救）、怎样储存和废弃。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只看象形图，不读防范说明</a:t>
            </a:r>
          </a:p>
          <a:p>
            <a:pPr>
              <a:spcAft>
                <a:spcPts val="1000"/>
              </a:spcAft>
            </a:pPr>
            <a:r>
              <a:rPr sz="1500">
                <a:solidFill>
                  <a:srgbClr val="222B33"/>
                </a:solidFill>
                <a:latin typeface="Microsoft YaHei"/>
              </a:rPr>
              <a:t>▪ 有低毒替代品仍习惯性使用高毒试剂</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运输标志和象形图是两套体系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运输标志和象形图是两套体系</a:t>
            </a:r>
          </a:p>
          <a:p>
            <a:pPr>
              <a:spcAft>
                <a:spcPts val="1000"/>
              </a:spcAft>
            </a:pPr>
            <a:r>
              <a:rPr sz="2000">
                <a:solidFill>
                  <a:srgbClr val="222B33"/>
                </a:solidFill>
                <a:latin typeface="Microsoft YaHei"/>
              </a:rPr>
              <a:t>▪ 运输标志：彩色底，下角有类别号，贴在货包上</a:t>
            </a:r>
          </a:p>
          <a:p>
            <a:pPr>
              <a:spcAft>
                <a:spcPts val="1000"/>
              </a:spcAft>
            </a:pPr>
            <a:r>
              <a:rPr sz="2000">
                <a:solidFill>
                  <a:srgbClr val="222B33"/>
                </a:solidFill>
                <a:latin typeface="Microsoft YaHei"/>
              </a:rPr>
              <a:t>▪ 象形图：白底红框，在瓶签和说明书上</a:t>
            </a:r>
          </a:p>
          <a:p>
            <a:pPr>
              <a:spcAft>
                <a:spcPts val="1000"/>
              </a:spcAft>
            </a:pPr>
            <a:r>
              <a:rPr sz="2000">
                <a:solidFill>
                  <a:srgbClr val="222B33"/>
                </a:solidFill>
                <a:latin typeface="Microsoft YaHei"/>
              </a:rPr>
              <a:t>▪ 寄送危险品，交有资质的承运方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危险货物运输标志（按 GB 190-2009，以现行文本为准）是彩色底的菱形，下角标有类别号，贴在运输包装件上；化学品安全标签上的象形图（按 GB 30000 系列）是白底红框的菱形，在容器标签和安全技术说明书上。两……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把运输标志贴到试剂瓶上当标签</a:t>
            </a:r>
          </a:p>
          <a:p>
            <a:pPr>
              <a:spcAft>
                <a:spcPts val="1000"/>
              </a:spcAft>
            </a:pPr>
            <a:r>
              <a:rPr sz="1500">
                <a:solidFill>
                  <a:srgbClr val="222B33"/>
                </a:solidFill>
                <a:latin typeface="Microsoft YaHei"/>
              </a:rPr>
              <a:t>▪ 用普通快递寄送化学品</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国外四色菱形只作了解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有的进口资料上印有四色菱形标识</a:t>
            </a:r>
          </a:p>
          <a:p>
            <a:pPr>
              <a:spcAft>
                <a:spcPts val="1000"/>
              </a:spcAft>
            </a:pPr>
            <a:r>
              <a:rPr sz="2000">
                <a:solidFill>
                  <a:srgbClr val="222B33"/>
                </a:solidFill>
                <a:latin typeface="Microsoft YaHei"/>
              </a:rPr>
              <a:t>▪ 蓝健康、红易燃、黄反应性、白特殊危害</a:t>
            </a:r>
          </a:p>
          <a:p>
            <a:pPr>
              <a:spcAft>
                <a:spcPts val="1000"/>
              </a:spcAft>
            </a:pPr>
            <a:r>
              <a:rPr sz="2000">
                <a:solidFill>
                  <a:srgbClr val="222B33"/>
                </a:solidFill>
                <a:latin typeface="Microsoft YaHei"/>
              </a:rPr>
              <a:t>▪ 这是国外标识，只作了解</a:t>
            </a:r>
          </a:p>
          <a:p>
            <a:pPr>
              <a:spcAft>
                <a:spcPts val="1000"/>
              </a:spcAft>
            </a:pPr>
            <a:r>
              <a:rPr sz="2000">
                <a:solidFill>
                  <a:srgbClr val="222B33"/>
                </a:solidFill>
                <a:latin typeface="Microsoft YaHei"/>
              </a:rPr>
              <a:t>▪ 国内标签看象形图和信号词</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部分进口试剂的资料或国外实验室里能看到一种四色菱形标识：蓝色表示健康危害，红色表示易燃性，黄色表示反应性，白色写特殊危害（如遇水剧烈反应），格内用数字表示程度。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用四色菱形代替中文安全标签</a:t>
            </a:r>
          </a:p>
          <a:p>
            <a:pPr>
              <a:spcAft>
                <a:spcPts val="1000"/>
              </a:spcAft>
            </a:pPr>
            <a:r>
              <a:rPr sz="1500">
                <a:solidFill>
                  <a:srgbClr val="222B33"/>
                </a:solidFill>
                <a:latin typeface="Microsoft YaHei"/>
              </a:rPr>
              <a:t>▪ 按国外标识的数字判断防护等级</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原装标签不撕不改，坏了及时补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原装标签由生产厂家贴好，保持完好</a:t>
            </a:r>
          </a:p>
          <a:p>
            <a:pPr>
              <a:spcAft>
                <a:spcPts val="1000"/>
              </a:spcAft>
            </a:pPr>
            <a:r>
              <a:rPr sz="2000">
                <a:solidFill>
                  <a:srgbClr val="222B33"/>
                </a:solidFill>
                <a:latin typeface="Microsoft YaHei"/>
              </a:rPr>
              <a:t>▪ 不能撕、不能涂改、不能覆盖</a:t>
            </a:r>
          </a:p>
          <a:p>
            <a:pPr>
              <a:spcAft>
                <a:spcPts val="1000"/>
              </a:spcAft>
            </a:pPr>
            <a:r>
              <a:rPr sz="2000">
                <a:solidFill>
                  <a:srgbClr val="222B33"/>
                </a:solidFill>
                <a:latin typeface="Microsoft YaHei"/>
              </a:rPr>
              <a:t>▪ 模糊、脱落，确认无误后及时补贴</a:t>
            </a:r>
          </a:p>
          <a:p>
            <a:pPr>
              <a:spcAft>
                <a:spcPts val="1000"/>
              </a:spcAft>
            </a:pPr>
            <a:r>
              <a:rPr sz="2000">
                <a:solidFill>
                  <a:srgbClr val="222B33"/>
                </a:solidFill>
                <a:latin typeface="Microsoft YaHei"/>
              </a:rPr>
              <a:t>▪ 确认不了内容的不用，上报处理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原装容器上的标签由生产或供应单位贴好，使用中要保持完好，不能撕掉、涂改或用别的标签覆盖。取用时标签朝向手心，防止试剂流下腐蚀标签。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在旧标签上直接涂改写新名称</a:t>
            </a:r>
          </a:p>
          <a:p>
            <a:pPr>
              <a:spcAft>
                <a:spcPts val="1000"/>
              </a:spcAft>
            </a:pPr>
            <a:r>
              <a:rPr sz="1500">
                <a:solidFill>
                  <a:srgbClr val="222B33"/>
                </a:solidFill>
                <a:latin typeface="Microsoft YaHei"/>
              </a:rPr>
              <a:t>▪ 凭记忆给脱落标签的瓶子补签</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分装容器也要贴标签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分装到洗瓶、小瓶，新容器也要贴签</a:t>
            </a:r>
          </a:p>
          <a:p>
            <a:pPr>
              <a:spcAft>
                <a:spcPts val="1000"/>
              </a:spcAft>
            </a:pPr>
            <a:r>
              <a:rPr sz="2000">
                <a:solidFill>
                  <a:srgbClr val="222B33"/>
                </a:solidFill>
                <a:latin typeface="Microsoft YaHei"/>
              </a:rPr>
              <a:t>▪ 写明名称、浓度、危害和日期</a:t>
            </a:r>
          </a:p>
          <a:p>
            <a:pPr>
              <a:spcAft>
                <a:spcPts val="1000"/>
              </a:spcAft>
            </a:pPr>
            <a:r>
              <a:rPr sz="2000">
                <a:solidFill>
                  <a:srgbClr val="222B33"/>
                </a:solidFill>
                <a:latin typeface="Microsoft YaHei"/>
              </a:rPr>
              <a:t>▪ 绝不能用饮料瓶装化学品</a:t>
            </a:r>
          </a:p>
          <a:p>
            <a:pPr>
              <a:spcAft>
                <a:spcPts val="1000"/>
              </a:spcAft>
            </a:pPr>
            <a:r>
              <a:rPr sz="2000">
                <a:solidFill>
                  <a:srgbClr val="222B33"/>
                </a:solidFill>
                <a:latin typeface="Microsoft YaHei"/>
              </a:rPr>
              <a:t>▪ 无标签、看不清的，一律不用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化学品从原瓶分装到洗瓶、小试剂瓶、烧杯等容器里，新容器（二级容器）也要贴标签，写明化学品名称、浓度、主要危害（可画象形图）、日期和分装人，不能靠记忆。分装出来的小瓶最容易出事，检查时台面上的洗瓶会逐个查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洗瓶装了溶剂不贴签</a:t>
            </a:r>
          </a:p>
          <a:p>
            <a:pPr>
              <a:spcAft>
                <a:spcPts val="1000"/>
              </a:spcAft>
            </a:pPr>
            <a:r>
              <a:rPr sz="1500">
                <a:solidFill>
                  <a:srgbClr val="222B33"/>
                </a:solidFill>
                <a:latin typeface="Microsoft YaHei"/>
              </a:rPr>
              <a:t>▪ 用矿泉水瓶分装试剂</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自配溶液马上贴签，写全信息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配好的溶液马上贴标签</a:t>
            </a:r>
          </a:p>
          <a:p>
            <a:pPr>
              <a:spcAft>
                <a:spcPts val="1000"/>
              </a:spcAft>
            </a:pPr>
            <a:r>
              <a:rPr sz="2000">
                <a:solidFill>
                  <a:srgbClr val="222B33"/>
                </a:solidFill>
                <a:latin typeface="Microsoft YaHei"/>
              </a:rPr>
              <a:t>▪ 名称、浓度、危害、日期、配制人</a:t>
            </a:r>
          </a:p>
          <a:p>
            <a:pPr>
              <a:spcAft>
                <a:spcPts val="1000"/>
              </a:spcAft>
            </a:pPr>
            <a:r>
              <a:rPr sz="2000">
                <a:solidFill>
                  <a:srgbClr val="222B33"/>
                </a:solidFill>
                <a:latin typeface="Microsoft YaHei"/>
              </a:rPr>
              <a:t>▪ 缓冲液还要写 pH</a:t>
            </a:r>
          </a:p>
          <a:p>
            <a:pPr>
              <a:spcAft>
                <a:spcPts val="1000"/>
              </a:spcAft>
            </a:pPr>
            <a:r>
              <a:rPr sz="2000">
                <a:solidFill>
                  <a:srgbClr val="222B33"/>
                </a:solidFill>
                <a:latin typeface="Microsoft YaHei"/>
              </a:rPr>
              <a:t>▪ 无名瓶子没人敢用，也没法处理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自己配制的溶液、标准溶液和缓冲液，配好后马上贴标签，再转入试剂瓶按要求存放。标签写明名称、浓度、主要危害、配制日期和配制人（使用人），缓冲液还要写 pH。动手之前先弄清容器里装的是什么，来历不明的瓶子会带来各种风险。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配好溶液“等会儿再贴”，结果忘了</a:t>
            </a:r>
          </a:p>
          <a:p>
            <a:pPr>
              <a:spcAft>
                <a:spcPts val="1000"/>
              </a:spcAft>
            </a:pPr>
            <a:r>
              <a:rPr sz="1500">
                <a:solidFill>
                  <a:srgbClr val="222B33"/>
                </a:solidFill>
                <a:latin typeface="Microsoft YaHei"/>
              </a:rPr>
              <a:t>▪ 标签只写“A液”“1号”</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写全称，不写缩写代号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只写缩写或代号，别人可能看不懂</a:t>
            </a:r>
          </a:p>
          <a:p>
            <a:pPr>
              <a:spcAft>
                <a:spcPts val="1000"/>
              </a:spcAft>
            </a:pPr>
            <a:r>
              <a:rPr sz="2000">
                <a:solidFill>
                  <a:srgbClr val="222B33"/>
                </a:solidFill>
                <a:latin typeface="Microsoft YaHei"/>
              </a:rPr>
              <a:t>▪ 同一个缩写可能是致癌物，也可能是溶剂</a:t>
            </a:r>
          </a:p>
          <a:p>
            <a:pPr>
              <a:spcAft>
                <a:spcPts val="1000"/>
              </a:spcAft>
            </a:pPr>
            <a:r>
              <a:rPr sz="2000">
                <a:solidFill>
                  <a:srgbClr val="222B33"/>
                </a:solidFill>
                <a:latin typeface="Microsoft YaHei"/>
              </a:rPr>
              <a:t>▪ 写全称，别人也方便查说明书</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标签上要写化学品的中文全称（或规范名称），不要只写缩写、分子式简写或课题组内部代号。同一个缩写在不同领域可能代表完全不同的物质，有的是致癌物，有的是普通溶剂，别人无法判断危害。</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只写英文缩写或自编代号</a:t>
            </a:r>
          </a:p>
          <a:p>
            <a:pPr>
              <a:spcAft>
                <a:spcPts val="1000"/>
              </a:spcAft>
            </a:pPr>
            <a:r>
              <a:rPr sz="1500">
                <a:solidFill>
                  <a:srgbClr val="222B33"/>
                </a:solidFill>
                <a:latin typeface="Microsoft YaHei"/>
              </a:rPr>
              <a:t>▪ 用颜色、记号代替名称</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所有容器都要标，没有例外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每个容器都要标清楚，谁看都明白</a:t>
            </a:r>
          </a:p>
          <a:p>
            <a:pPr>
              <a:spcAft>
                <a:spcPts val="1000"/>
              </a:spcAft>
            </a:pPr>
            <a:r>
              <a:rPr sz="2000">
                <a:solidFill>
                  <a:srgbClr val="222B33"/>
                </a:solidFill>
                <a:latin typeface="Microsoft YaHei"/>
              </a:rPr>
              <a:t>▪ 自己当天用的洗瓶也要贴标签</a:t>
            </a:r>
          </a:p>
          <a:p>
            <a:pPr>
              <a:spcAft>
                <a:spcPts val="1000"/>
              </a:spcAft>
            </a:pPr>
            <a:r>
              <a:rPr sz="2000">
                <a:solidFill>
                  <a:srgbClr val="222B33"/>
                </a:solidFill>
                <a:latin typeface="Microsoft YaHei"/>
              </a:rPr>
              <a:t>▪ 人走了瓶还在，标签替你说话</a:t>
            </a:r>
          </a:p>
          <a:p>
            <a:pPr>
              <a:spcAft>
                <a:spcPts val="1000"/>
              </a:spcAft>
            </a:pPr>
            <a:r>
              <a:rPr sz="2000">
                <a:solidFill>
                  <a:srgbClr val="222B33"/>
                </a:solidFill>
                <a:latin typeface="Microsoft YaHei"/>
              </a:rPr>
              <a:t>▪ 写清是什么、谁的、哪天的，放指定柜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里每个盛装化学品的容器都必须正确标识，让任何人一看就明白。有的国外规定对“本人当班立即使用”的容器有免贴情形，在国内高校不适用：所有容器都要有标签。因为人会离开，瓶子还在，标签替你告诉别人这是什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“只是自己用一下”就不贴签</a:t>
            </a:r>
          </a:p>
          <a:p>
            <a:pPr>
              <a:spcAft>
                <a:spcPts val="1000"/>
              </a:spcAft>
            </a:pPr>
            <a:r>
              <a:rPr sz="1500">
                <a:solidFill>
                  <a:srgbClr val="222B33"/>
                </a:solidFill>
                <a:latin typeface="Microsoft YaHei"/>
              </a:rPr>
              <a:t>▪ 实验结束后把无标签容器留给别人处理</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使用中的容器和过夜样品也要标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很多溶液看上去都像水</a:t>
            </a:r>
          </a:p>
          <a:p>
            <a:pPr>
              <a:spcAft>
                <a:spcPts val="1000"/>
              </a:spcAft>
            </a:pPr>
            <a:r>
              <a:rPr sz="2000">
                <a:solidFill>
                  <a:srgbClr val="222B33"/>
                </a:solidFill>
                <a:latin typeface="Microsoft YaHei"/>
              </a:rPr>
              <a:t>▪ 使用中的烧杯、锥形瓶临时贴标签</a:t>
            </a:r>
          </a:p>
          <a:p>
            <a:pPr>
              <a:spcAft>
                <a:spcPts val="1000"/>
              </a:spcAft>
            </a:pPr>
            <a:r>
              <a:rPr sz="2000">
                <a:solidFill>
                  <a:srgbClr val="222B33"/>
                </a:solidFill>
                <a:latin typeface="Microsoft YaHei"/>
              </a:rPr>
              <a:t>▪ 走开一小会儿，也不留无标签溶液</a:t>
            </a:r>
          </a:p>
          <a:p>
            <a:pPr>
              <a:spcAft>
                <a:spcPts val="1000"/>
              </a:spcAft>
            </a:pPr>
            <a:r>
              <a:rPr sz="2000">
                <a:solidFill>
                  <a:srgbClr val="222B33"/>
                </a:solidFill>
                <a:latin typeface="Microsoft YaHei"/>
              </a:rPr>
              <a:t>▪ 过夜样品贴签，放指定位置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很多溶液和溶剂无色透明，看上去都像水。实验进行中的烧杯、锥形瓶，也要用标签纸或记号笔临时标明内容，否则自己或别人很容易拿混。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几个烧杯装着不同无色溶液，都没标记</a:t>
            </a:r>
          </a:p>
          <a:p>
            <a:pPr>
              <a:spcAft>
                <a:spcPts val="1000"/>
              </a:spcAft>
            </a:pPr>
            <a:r>
              <a:rPr sz="1500">
                <a:solidFill>
                  <a:srgbClr val="222B33"/>
                </a:solidFill>
                <a:latin typeface="Microsoft YaHei"/>
              </a:rPr>
              <a:t>▪ 过夜样品放在公共台面，无人认领</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工作场所设警示标识和告知卡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每个盛装容器都要有清楚的标签</a:t>
            </a:r>
          </a:p>
          <a:p>
            <a:pPr>
              <a:spcAft>
                <a:spcPts val="1000"/>
              </a:spcAft>
            </a:pPr>
            <a:r>
              <a:rPr sz="2000">
                <a:solidFill>
                  <a:srgbClr val="222B33"/>
                </a:solidFill>
                <a:latin typeface="Microsoft YaHei"/>
              </a:rPr>
              <a:t>▪ 工作场所设警示标识和危害告知卡</a:t>
            </a:r>
          </a:p>
          <a:p>
            <a:pPr>
              <a:spcAft>
                <a:spcPts val="1000"/>
              </a:spcAft>
            </a:pPr>
            <a:r>
              <a:rPr sz="2000">
                <a:solidFill>
                  <a:srgbClr val="222B33"/>
                </a:solidFill>
                <a:latin typeface="Microsoft YaHei"/>
              </a:rPr>
              <a:t>▪ 负责人如实告知危害和防护办法</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除了容器标签，使用有毒有害化学品的工作场所还要在醒目位置设置警示标识和危害告知卡，写明化学品名称、危害、防护措施和应急处置方法（按职业病防治相关规定和本校要求）。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告知卡内容多年不更新</a:t>
            </a:r>
          </a:p>
          <a:p>
            <a:pPr>
              <a:spcAft>
                <a:spcPts val="1000"/>
              </a:spcAft>
            </a:pPr>
            <a:r>
              <a:rPr sz="1500">
                <a:solidFill>
                  <a:srgbClr val="222B33"/>
                </a:solidFill>
                <a:latin typeface="Microsoft YaHei"/>
              </a:rPr>
              <a:t>▪ 新成员进实验室不做危害告知</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教训：到货分装没看说明书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案例：一瓶特殊试剂深夜送到</a:t>
            </a:r>
          </a:p>
          <a:p>
            <a:pPr>
              <a:spcAft>
                <a:spcPts val="1000"/>
              </a:spcAft>
            </a:pPr>
            <a:r>
              <a:rPr sz="2000">
                <a:solidFill>
                  <a:srgbClr val="222B33"/>
                </a:solidFill>
                <a:latin typeface="Microsoft YaHei"/>
              </a:rPr>
              <a:t>▪ 第二天直接分装，没看说明书</a:t>
            </a:r>
          </a:p>
          <a:p>
            <a:pPr>
              <a:spcAft>
                <a:spcPts val="1000"/>
              </a:spcAft>
            </a:pPr>
            <a:r>
              <a:rPr sz="2000">
                <a:solidFill>
                  <a:srgbClr val="222B33"/>
                </a:solidFill>
                <a:latin typeface="Microsoft YaHei"/>
              </a:rPr>
              <a:t>▪ 一天多后出现严重接触性皮炎：它是强致敏物</a:t>
            </a:r>
          </a:p>
          <a:p>
            <a:pPr>
              <a:spcAft>
                <a:spcPts val="1000"/>
              </a:spcAft>
            </a:pPr>
            <a:r>
              <a:rPr sz="2000">
                <a:solidFill>
                  <a:srgbClr val="222B33"/>
                </a:solidFill>
                <a:latin typeface="Microsoft YaHei"/>
              </a:rPr>
              <a:t>▪ 收货和分装，最容易漏掉告知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一个案例：一瓶特殊试剂深夜送到实验室，第二天就被直接分装使用，没有人查看随货的说明书。一天多后，操作者出现严重的接触性皮炎——原来它是强致敏物，需要专用的防护手套和操作方式。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新试剂到货直接用，不看说明书</a:t>
            </a:r>
          </a:p>
          <a:p>
            <a:pPr>
              <a:spcAft>
                <a:spcPts val="1000"/>
              </a:spcAft>
            </a:pPr>
            <a:r>
              <a:rPr sz="1500">
                <a:solidFill>
                  <a:srgbClr val="222B33"/>
                </a:solidFill>
                <a:latin typeface="Microsoft YaHei"/>
              </a:rPr>
              <a:t>▪ 分装时只写名称，不写危害</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靠培训和信息共享，人人会读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人人会读，靠正式培训，也靠信息共享</a:t>
            </a:r>
          </a:p>
          <a:p>
            <a:pPr>
              <a:spcAft>
                <a:spcPts val="1000"/>
              </a:spcAft>
            </a:pPr>
            <a:r>
              <a:rPr sz="2000">
                <a:solidFill>
                  <a:srgbClr val="222B33"/>
                </a:solidFill>
                <a:latin typeface="Microsoft YaHei"/>
              </a:rPr>
              <a:t>▪ 缺分装标签？台边备好标签模板</a:t>
            </a:r>
          </a:p>
          <a:p>
            <a:pPr>
              <a:spcAft>
                <a:spcPts val="1000"/>
              </a:spcAft>
            </a:pPr>
            <a:r>
              <a:rPr sz="2000">
                <a:solidFill>
                  <a:srgbClr val="222B33"/>
                </a:solidFill>
                <a:latin typeface="Microsoft YaHei"/>
              </a:rPr>
              <a:t>▪ 说明书过期？新购入时同步更新</a:t>
            </a:r>
          </a:p>
          <a:p>
            <a:pPr>
              <a:spcAft>
                <a:spcPts val="1000"/>
              </a:spcAft>
            </a:pPr>
            <a:r>
              <a:rPr sz="2000">
                <a:solidFill>
                  <a:srgbClr val="222B33"/>
                </a:solidFill>
                <a:latin typeface="Microsoft YaHei"/>
              </a:rPr>
              <a:t>▪ 培训记内容和考核；外来人员进门先告知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让每个人都会读这门安全语言，一靠正式培训（入室安全培训和化学品专项培训），二靠日常信息共享（组会提醒、交接说明、更新告知卡）。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培训只签到，不考核</a:t>
            </a:r>
          </a:p>
          <a:p>
            <a:pPr>
              <a:spcAft>
                <a:spcPts val="1000"/>
              </a:spcAft>
            </a:pPr>
            <a:r>
              <a:rPr sz="1500">
                <a:solidFill>
                  <a:srgbClr val="222B33"/>
                </a:solidFill>
                <a:latin typeface="Microsoft YaHei"/>
              </a:rPr>
              <a:t>▪ 外来维修人员直接进实验室作业</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下列哪一项不属于 GB 15258-2009 规定的化学品安全标签要素？</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象形图</a:t>
            </a:r>
          </a:p>
          <a:p>
            <a:pPr algn="l"/>
            <a:r>
              <a:rPr sz="1500" b="0">
                <a:solidFill>
                  <a:srgbClr val="222B33"/>
                </a:solidFill>
                <a:latin typeface="Microsoft YaHei"/>
              </a:rPr>
              <a:t>B. 信号词</a:t>
            </a:r>
          </a:p>
          <a:p>
            <a:pPr algn="l"/>
            <a:r>
              <a:rPr sz="1500" b="0">
                <a:solidFill>
                  <a:srgbClr val="222B33"/>
                </a:solidFill>
                <a:latin typeface="Microsoft YaHei"/>
              </a:rPr>
              <a:t>C. 应急咨询电话</a:t>
            </a:r>
          </a:p>
          <a:p>
            <a:pPr algn="l"/>
            <a:r>
              <a:rPr sz="1500" b="0">
                <a:solidFill>
                  <a:srgbClr val="222B33"/>
                </a:solidFill>
                <a:latin typeface="Microsoft YaHei"/>
              </a:rPr>
              <a:t>D. 产品价格</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化学品安全标签上的信号词有：</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危险、警告</a:t>
            </a:r>
          </a:p>
          <a:p>
            <a:pPr algn="l"/>
            <a:r>
              <a:rPr sz="1500" b="0">
                <a:solidFill>
                  <a:srgbClr val="222B33"/>
                </a:solidFill>
                <a:latin typeface="Microsoft YaHei"/>
              </a:rPr>
              <a:t>B. 危险、注意、小心</a:t>
            </a:r>
          </a:p>
          <a:p>
            <a:pPr algn="l"/>
            <a:r>
              <a:rPr sz="1500" b="0">
                <a:solidFill>
                  <a:srgbClr val="222B33"/>
                </a:solidFill>
                <a:latin typeface="Microsoft YaHei"/>
              </a:rPr>
              <a:t>C. 剧毒、有毒、低毒</a:t>
            </a:r>
          </a:p>
          <a:p>
            <a:pPr algn="l"/>
            <a:r>
              <a:rPr sz="1500" b="0">
                <a:solidFill>
                  <a:srgbClr val="222B33"/>
                </a:solidFill>
                <a:latin typeface="Microsoft YaHei"/>
              </a:rPr>
              <a:t>D. 一级、二级</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标签上“圆圈上方火焰”的象形图表示：</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易燃</a:t>
            </a:r>
          </a:p>
          <a:p>
            <a:pPr algn="l"/>
            <a:r>
              <a:rPr sz="1500" b="0">
                <a:solidFill>
                  <a:srgbClr val="222B33"/>
                </a:solidFill>
                <a:latin typeface="Microsoft YaHei"/>
              </a:rPr>
              <a:t>B. 氧化性</a:t>
            </a:r>
          </a:p>
          <a:p>
            <a:pPr algn="l"/>
            <a:r>
              <a:rPr sz="1500" b="0">
                <a:solidFill>
                  <a:srgbClr val="222B33"/>
                </a:solidFill>
                <a:latin typeface="Microsoft YaHei"/>
              </a:rPr>
              <a:t>C. 爆炸</a:t>
            </a:r>
          </a:p>
          <a:p>
            <a:pPr algn="l"/>
            <a:r>
              <a:rPr sz="1500" b="0">
                <a:solidFill>
                  <a:srgbClr val="222B33"/>
                </a:solidFill>
                <a:latin typeface="Microsoft YaHei"/>
              </a:rPr>
              <a:t>D. 加压气体</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判断：自己当天要用的洗瓶装了溶剂，用完就倒掉，可以不贴标签。</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判断：标签上可以只写课题组内部的缩写，大家都知道是什么。</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简答：自配溶液的标签至少要写哪些信息？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危害告知是安全的共同语言</a:t>
            </a:r>
          </a:p>
          <a:p>
            <a:pPr>
              <a:spcAft>
                <a:spcPts val="800"/>
              </a:spcAft>
            </a:pPr>
            <a:r>
              <a:rPr sz="1500">
                <a:solidFill>
                  <a:srgbClr val="FFFFFF"/>
                </a:solidFill>
                <a:latin typeface="Microsoft YaHei"/>
              </a:rPr>
              <a:t>▪ K2  可能接触的人都有权知道</a:t>
            </a:r>
          </a:p>
          <a:p>
            <a:pPr>
              <a:spcAft>
                <a:spcPts val="800"/>
              </a:spcAft>
            </a:pPr>
            <a:r>
              <a:rPr sz="1500">
                <a:solidFill>
                  <a:srgbClr val="FFFFFF"/>
                </a:solidFill>
                <a:latin typeface="Microsoft YaHei"/>
              </a:rPr>
              <a:t>▪ K3  生产进口单位：评估危害，配齐一书一签</a:t>
            </a:r>
          </a:p>
          <a:p>
            <a:pPr>
              <a:spcAft>
                <a:spcPts val="800"/>
              </a:spcAft>
            </a:pPr>
            <a:r>
              <a:rPr sz="1500">
                <a:solidFill>
                  <a:srgbClr val="FFFFFF"/>
                </a:solidFill>
                <a:latin typeface="Microsoft YaHei"/>
              </a:rPr>
              <a:t>▪ K4  国内要求：中文一书一签</a:t>
            </a:r>
          </a:p>
          <a:p>
            <a:pPr>
              <a:spcAft>
                <a:spcPts val="800"/>
              </a:spcAft>
            </a:pPr>
            <a:r>
              <a:rPr sz="1500">
                <a:solidFill>
                  <a:srgbClr val="FFFFFF"/>
                </a:solidFill>
                <a:latin typeface="Microsoft YaHei"/>
              </a:rPr>
              <a:t>▪ K5  使用单位：标签完好，说明书随手可得</a:t>
            </a:r>
          </a:p>
          <a:p>
            <a:pPr>
              <a:spcAft>
                <a:spcPts val="800"/>
              </a:spcAft>
            </a:pPr>
            <a:r>
              <a:rPr sz="1500">
                <a:solidFill>
                  <a:srgbClr val="FFFFFF"/>
                </a:solidFill>
                <a:latin typeface="Microsoft YaHei"/>
              </a:rPr>
              <a:t>▪ K6  用前先看标签，详情再查SDS</a:t>
            </a:r>
          </a:p>
          <a:p>
            <a:pPr>
              <a:spcAft>
                <a:spcPts val="800"/>
              </a:spcAft>
            </a:pPr>
            <a:r>
              <a:rPr sz="1500">
                <a:solidFill>
                  <a:srgbClr val="FFFFFF"/>
                </a:solidFill>
                <a:latin typeface="Microsoft YaHei"/>
              </a:rPr>
              <a:t>▪ K7  安全标签上有什么</a:t>
            </a:r>
          </a:p>
          <a:p>
            <a:pPr>
              <a:spcAft>
                <a:spcPts val="800"/>
              </a:spcAft>
            </a:pPr>
            <a:r>
              <a:rPr sz="1500">
                <a:solidFill>
                  <a:srgbClr val="FFFFFF"/>
                </a:solidFill>
                <a:latin typeface="Microsoft YaHei"/>
              </a:rPr>
              <a:t>▪ K8  象形图：红框白底黑图，共九种</a:t>
            </a:r>
          </a:p>
          <a:p>
            <a:pPr>
              <a:spcAft>
                <a:spcPts val="800"/>
              </a:spcAft>
            </a:pPr>
            <a:r>
              <a:rPr sz="1500">
                <a:solidFill>
                  <a:srgbClr val="FFFFFF"/>
                </a:solidFill>
                <a:latin typeface="Microsoft YaHei"/>
              </a:rPr>
              <a:t>▪ K9  爆炸、易燃、氧化、气瓶、腐蚀</a:t>
            </a:r>
          </a:p>
          <a:p>
            <a:pPr>
              <a:spcAft>
                <a:spcPts val="800"/>
              </a:spcAft>
            </a:pPr>
            <a:r>
              <a:rPr sz="1500">
                <a:solidFill>
                  <a:srgbClr val="FFFFFF"/>
                </a:solidFill>
                <a:latin typeface="Microsoft YaHei"/>
              </a:rPr>
              <a:t>▪ K10  骷髅、感叹号、健康危害、环境</a:t>
            </a:r>
          </a:p>
          <a:p>
            <a:pPr>
              <a:spcAft>
                <a:spcPts val="800"/>
              </a:spcAft>
            </a:pPr>
            <a:r>
              <a:rPr sz="1500">
                <a:solidFill>
                  <a:srgbClr val="FFFFFF"/>
                </a:solidFill>
                <a:latin typeface="Microsoft YaHei"/>
              </a:rPr>
              <a:t>▪ K11  一物多险，每个象形图都要看</a:t>
            </a:r>
          </a:p>
          <a:p>
            <a:pPr>
              <a:spcAft>
                <a:spcPts val="800"/>
              </a:spcAft>
            </a:pPr>
            <a:r>
              <a:rPr sz="1500">
                <a:solidFill>
                  <a:srgbClr val="FFFFFF"/>
                </a:solidFill>
                <a:latin typeface="Microsoft YaHei"/>
              </a:rPr>
              <a:t>▪ K12  信号词：危险重于警告</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K13  危险说明讲危害，防范说明讲做法</a:t>
            </a:r>
          </a:p>
          <a:p>
            <a:pPr>
              <a:spcAft>
                <a:spcPts val="800"/>
              </a:spcAft>
            </a:pPr>
            <a:r>
              <a:rPr sz="1500">
                <a:solidFill>
                  <a:srgbClr val="FFFFFF"/>
                </a:solidFill>
                <a:latin typeface="Microsoft YaHei"/>
              </a:rPr>
              <a:t>▪ K14  运输标志和象形图是两套体系</a:t>
            </a:r>
          </a:p>
          <a:p>
            <a:pPr>
              <a:spcAft>
                <a:spcPts val="800"/>
              </a:spcAft>
            </a:pPr>
            <a:r>
              <a:rPr sz="1500">
                <a:solidFill>
                  <a:srgbClr val="FFFFFF"/>
                </a:solidFill>
                <a:latin typeface="Microsoft YaHei"/>
              </a:rPr>
              <a:t>▪ K15  国外四色菱形只作了解</a:t>
            </a:r>
          </a:p>
          <a:p>
            <a:pPr>
              <a:spcAft>
                <a:spcPts val="800"/>
              </a:spcAft>
            </a:pPr>
            <a:r>
              <a:rPr sz="1500">
                <a:solidFill>
                  <a:srgbClr val="FFFFFF"/>
                </a:solidFill>
                <a:latin typeface="Microsoft YaHei"/>
              </a:rPr>
              <a:t>▪ K16  原装标签不撕不改，坏了及时补</a:t>
            </a:r>
          </a:p>
          <a:p>
            <a:pPr>
              <a:spcAft>
                <a:spcPts val="800"/>
              </a:spcAft>
            </a:pPr>
            <a:r>
              <a:rPr sz="1500">
                <a:solidFill>
                  <a:srgbClr val="FFFFFF"/>
                </a:solidFill>
                <a:latin typeface="Microsoft YaHei"/>
              </a:rPr>
              <a:t>▪ K17  分装容器也要贴标签</a:t>
            </a:r>
          </a:p>
          <a:p>
            <a:pPr>
              <a:spcAft>
                <a:spcPts val="800"/>
              </a:spcAft>
            </a:pPr>
            <a:r>
              <a:rPr sz="1500">
                <a:solidFill>
                  <a:srgbClr val="FFFFFF"/>
                </a:solidFill>
                <a:latin typeface="Microsoft YaHei"/>
              </a:rPr>
              <a:t>▪ K18  自配溶液马上贴签，写全信息</a:t>
            </a:r>
          </a:p>
          <a:p>
            <a:pPr>
              <a:spcAft>
                <a:spcPts val="800"/>
              </a:spcAft>
            </a:pPr>
            <a:r>
              <a:rPr sz="1500">
                <a:solidFill>
                  <a:srgbClr val="FFFFFF"/>
                </a:solidFill>
                <a:latin typeface="Microsoft YaHei"/>
              </a:rPr>
              <a:t>▪ K19  写全称，不写缩写代号</a:t>
            </a:r>
          </a:p>
          <a:p>
            <a:pPr>
              <a:spcAft>
                <a:spcPts val="800"/>
              </a:spcAft>
            </a:pPr>
            <a:r>
              <a:rPr sz="1500">
                <a:solidFill>
                  <a:srgbClr val="FFFFFF"/>
                </a:solidFill>
                <a:latin typeface="Microsoft YaHei"/>
              </a:rPr>
              <a:t>▪ K20  所有容器都要标，没有例外</a:t>
            </a:r>
          </a:p>
          <a:p>
            <a:pPr>
              <a:spcAft>
                <a:spcPts val="800"/>
              </a:spcAft>
            </a:pPr>
            <a:r>
              <a:rPr sz="1500">
                <a:solidFill>
                  <a:srgbClr val="FFFFFF"/>
                </a:solidFill>
                <a:latin typeface="Microsoft YaHei"/>
              </a:rPr>
              <a:t>▪ K21  使用中的容器和过夜样品也要标</a:t>
            </a:r>
          </a:p>
          <a:p>
            <a:pPr>
              <a:spcAft>
                <a:spcPts val="800"/>
              </a:spcAft>
            </a:pPr>
            <a:r>
              <a:rPr sz="1500">
                <a:solidFill>
                  <a:srgbClr val="FFFFFF"/>
                </a:solidFill>
                <a:latin typeface="Microsoft YaHei"/>
              </a:rPr>
              <a:t>▪ K22  工作场所设警示标识和告知卡</a:t>
            </a:r>
          </a:p>
          <a:p>
            <a:pPr>
              <a:spcAft>
                <a:spcPts val="800"/>
              </a:spcAft>
            </a:pPr>
            <a:r>
              <a:rPr sz="1500">
                <a:solidFill>
                  <a:srgbClr val="FFFFFF"/>
                </a:solidFill>
                <a:latin typeface="Microsoft YaHei"/>
              </a:rPr>
              <a:t>▪ K23  教训：到货分装没看说明书</a:t>
            </a:r>
          </a:p>
          <a:p>
            <a:pPr>
              <a:spcAft>
                <a:spcPts val="800"/>
              </a:spcAft>
            </a:pPr>
            <a:r>
              <a:rPr sz="1500">
                <a:solidFill>
                  <a:srgbClr val="FFFFFF"/>
                </a:solidFill>
                <a:latin typeface="Microsoft YaHei"/>
              </a:rPr>
              <a:t>▪ K24  靠培训和信息共享，人人会读</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040</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安全技术说明书（SDS）概述</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79 镜）　适用对象：全体使用化学品的高校本科生、研究生和教职工（必修）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能说出化学品安全技术说明书（SDS，旧称 MSDS）是什么、写给谁、提供哪些信息。</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能说出国内对中文安全技术说明书的法定要求和编写依据（GB/T 16483-2008、GB/T 17519-2013）。</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能做到知道本实验室说明书放在哪里，第一次使用化学品（含试剂盒、清洁剂）前先读说明书并做风险评估。</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能判断说明书是否与手中试剂对应、版本是否过旧，并能批判地阅读、多方核对。</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日起施行）及《危险化学品安全管理条例》（以现行文本为准）：危险化学品附中文化学品安全技术说明书和安全标签</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内容和项目顺序》：十六个部分及顺序</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17519-2013（以现行文本为准）《化学品安全技术说明书编写指南》</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15258-2009（以现行文本为准）《化学品安全标签编写规定》：标签与说明书内容一致</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系列（以现行文本为准）《化学品分类和标签规范》：危险性分类</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《易制毒化学品管理条例》（以现行文本为准）：盐酸等易制毒化学品领用登记</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号，以现行文本为准）：化学品安全技术说明书齐全、便于查阅，使用前开展风险评估</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高校实验室安全检查项目表（以现行文本为准）：实验室存有所用化学品的中文安全技术说明书</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化学品天天用，危害各不同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化学品每天都在用，实验离不开</a:t>
            </a:r>
          </a:p>
          <a:p>
            <a:pPr>
              <a:spcAft>
                <a:spcPts val="1000"/>
              </a:spcAft>
            </a:pPr>
            <a:r>
              <a:rPr sz="2000">
                <a:solidFill>
                  <a:srgbClr val="222B33"/>
                </a:solidFill>
                <a:latin typeface="Microsoft YaHei"/>
              </a:rPr>
              <a:t>▪ 防护不当，就会伤身体</a:t>
            </a:r>
          </a:p>
          <a:p>
            <a:pPr>
              <a:spcAft>
                <a:spcPts val="1000"/>
              </a:spcAft>
            </a:pPr>
            <a:r>
              <a:rPr sz="2000">
                <a:solidFill>
                  <a:srgbClr val="222B33"/>
                </a:solidFill>
                <a:latin typeface="Microsoft YaHei"/>
              </a:rPr>
              <a:t>▪ 易燃、腐蚀、刺激、致敏、有毒、致癌，种类多</a:t>
            </a:r>
          </a:p>
          <a:p>
            <a:pPr>
              <a:spcAft>
                <a:spcPts val="1000"/>
              </a:spcAft>
            </a:pPr>
            <a:r>
              <a:rPr sz="2000">
                <a:solidFill>
                  <a:srgbClr val="222B33"/>
                </a:solidFill>
                <a:latin typeface="Microsoft YaHei"/>
              </a:rPr>
              <a:t>▪ 每一类，防护和应急都不一样</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实验室每天都在使用化学品，实验离不开它们。但如果防护不当，化学品会伤害身体。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用同一套防护应对所有化学品</a:t>
            </a:r>
          </a:p>
          <a:p>
            <a:pPr>
              <a:spcAft>
                <a:spcPts val="1000"/>
              </a:spcAft>
            </a:pPr>
            <a:r>
              <a:rPr sz="1500">
                <a:solidFill>
                  <a:srgbClr val="222B33"/>
                </a:solidFill>
                <a:latin typeface="Microsoft YaHei"/>
              </a:rPr>
              <a:t>▪ 以为常用试剂“用惯了”就没有危险</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安全用化学品，先问三个问题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怎么拿、怎么存？</a:t>
            </a:r>
          </a:p>
          <a:p>
            <a:pPr>
              <a:spcAft>
                <a:spcPts val="1000"/>
              </a:spcAft>
            </a:pPr>
            <a:r>
              <a:rPr sz="2000">
                <a:solidFill>
                  <a:srgbClr val="222B33"/>
                </a:solidFill>
                <a:latin typeface="Microsoft YaHei"/>
              </a:rPr>
              <a:t>▪ 要戴什么防护？</a:t>
            </a:r>
          </a:p>
          <a:p>
            <a:pPr>
              <a:spcAft>
                <a:spcPts val="1000"/>
              </a:spcAft>
            </a:pPr>
            <a:r>
              <a:rPr sz="2000">
                <a:solidFill>
                  <a:srgbClr val="222B33"/>
                </a:solidFill>
                <a:latin typeface="Microsoft YaHei"/>
              </a:rPr>
              <a:t>▪ 出事了怎么办？</a:t>
            </a:r>
          </a:p>
          <a:p>
            <a:pPr>
              <a:spcAft>
                <a:spcPts val="1000"/>
              </a:spcAft>
            </a:pPr>
            <a:r>
              <a:rPr sz="2000">
                <a:solidFill>
                  <a:srgbClr val="222B33"/>
                </a:solidFill>
                <a:latin typeface="Microsoft YaHei"/>
              </a:rPr>
              <a:t>▪ 答案都在安全技术说明书里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安全使用一种化学品，先问自己三个问题：怎样安全地取用和储存？需要戴哪些个人防护装备？发生泄漏、着火或接触时怎么办？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不了解应急措施就开始实验</a:t>
            </a:r>
          </a:p>
          <a:p>
            <a:pPr>
              <a:spcAft>
                <a:spcPts val="1000"/>
              </a:spcAft>
            </a:pPr>
            <a:r>
              <a:rPr sz="1500">
                <a:solidFill>
                  <a:srgbClr val="222B33"/>
                </a:solidFill>
                <a:latin typeface="Microsoft YaHei"/>
              </a:rPr>
              <a:t>▪ 只问“怎么做实验”，不问“出事怎么办”</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SDS：化学品的身份档案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SDS 是化学品的详细资料文件</a:t>
            </a:r>
          </a:p>
          <a:p>
            <a:pPr>
              <a:spcAft>
                <a:spcPts val="1000"/>
              </a:spcAft>
            </a:pPr>
            <a:r>
              <a:rPr sz="2000">
                <a:solidFill>
                  <a:srgbClr val="222B33"/>
                </a:solidFill>
                <a:latin typeface="Microsoft YaHei"/>
              </a:rPr>
              <a:t>▪ 写明成分、性质和危害，像一份身份档案</a:t>
            </a:r>
          </a:p>
          <a:p>
            <a:pPr>
              <a:spcAft>
                <a:spcPts val="1000"/>
              </a:spcAft>
            </a:pPr>
            <a:r>
              <a:rPr sz="2000">
                <a:solidFill>
                  <a:srgbClr val="222B33"/>
                </a:solidFill>
                <a:latin typeface="Microsoft YaHei"/>
              </a:rPr>
              <a:t>▪ 纯物质和混合物，都有自己的一份</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安全技术说明书（SDS）是关于一种化学品的详细信息文件，记录它的名称、成分、理化性质、危害、防护和应急等基本数据，就像这种化学品的“身份档案”。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以为只有纯化学试剂才有说明书</a:t>
            </a:r>
          </a:p>
          <a:p>
            <a:pPr>
              <a:spcAft>
                <a:spcPts val="1000"/>
              </a:spcAft>
            </a:pPr>
            <a:r>
              <a:rPr sz="1500">
                <a:solidFill>
                  <a:srgbClr val="222B33"/>
                </a:solidFill>
                <a:latin typeface="Microsoft YaHei"/>
              </a:rPr>
              <a:t>▪ 用别的品牌、别的浓度的说明书代替</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旧称MSDS，现在统一叫SDS</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以前叫 MSDS（物质安全数据表）</a:t>
            </a:r>
          </a:p>
          <a:p>
            <a:pPr>
              <a:spcAft>
                <a:spcPts val="1000"/>
              </a:spcAft>
            </a:pPr>
            <a:r>
              <a:rPr sz="2000">
                <a:solidFill>
                  <a:srgbClr val="222B33"/>
                </a:solidFill>
                <a:latin typeface="Microsoft YaHei"/>
              </a:rPr>
              <a:t>▪ 现在统一叫 SDS，说的是同一样东西</a:t>
            </a:r>
          </a:p>
          <a:p>
            <a:pPr>
              <a:spcAft>
                <a:spcPts val="1000"/>
              </a:spcAft>
            </a:pPr>
            <a:r>
              <a:rPr sz="2000">
                <a:solidFill>
                  <a:srgbClr val="222B33"/>
                </a:solidFill>
                <a:latin typeface="Microsoft YaHei"/>
              </a:rPr>
              <a:t>▪ 中文全称：化学品安全技术说明书</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安全技术说明书过去常被称为 MSDS（物质安全数据表），现在按全球统一的分类和标签制度统称 SDS。两个名称说的是同一类文件，见到旧名称不要以为是两样东西。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 MSDS 和 SDS 是两种不同文件</a:t>
            </a:r>
          </a:p>
          <a:p>
            <a:pPr>
              <a:spcAft>
                <a:spcPts val="1000"/>
              </a:spcAft>
            </a:pPr>
            <a:r>
              <a:rPr sz="1500">
                <a:solidFill>
                  <a:srgbClr val="222B33"/>
                </a:solidFill>
                <a:latin typeface="Microsoft YaHei"/>
              </a:rPr>
              <a:t>▪ 只知道英文缩写，不知道中文名称</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旧格式乱、难懂，才有了统一制度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过去由生产商、进口商随货提供数据单</a:t>
            </a:r>
          </a:p>
          <a:p>
            <a:pPr>
              <a:spcAft>
                <a:spcPts val="1000"/>
              </a:spcAft>
            </a:pPr>
            <a:r>
              <a:rPr sz="2000">
                <a:solidFill>
                  <a:srgbClr val="222B33"/>
                </a:solidFill>
                <a:latin typeface="Microsoft YaHei"/>
              </a:rPr>
              <a:t>▪ 旧格式五花八门，紧急时半天找不到</a:t>
            </a:r>
          </a:p>
          <a:p>
            <a:pPr>
              <a:spcAft>
                <a:spcPts val="1000"/>
              </a:spcAft>
            </a:pPr>
            <a:r>
              <a:rPr sz="2000">
                <a:solidFill>
                  <a:srgbClr val="222B33"/>
                </a:solidFill>
                <a:latin typeface="Microsoft YaHei"/>
              </a:rPr>
              <a:t>▪ 术语太多，救援人员也看不懂</a:t>
            </a:r>
          </a:p>
          <a:p>
            <a:pPr>
              <a:spcAft>
                <a:spcPts val="1000"/>
              </a:spcAft>
            </a:pPr>
            <a:r>
              <a:rPr sz="2000">
                <a:solidFill>
                  <a:srgbClr val="222B33"/>
                </a:solidFill>
                <a:latin typeface="Microsoft YaHei"/>
              </a:rPr>
              <a:t>▪ 于是联合国制定了全球统一制度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过去，化学品的安全信息写在物质安全数据单里，由生产商和进口商随货提供。但当时格式五花八门，同样的信息在不同厂家的资料里位置不同，紧急时翻半天找不到，耽误宝贵时间；而且术语多，像只写给专家看，可消防员、急救人员和普通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继续使用格式混乱、多年未更新的旧资料</a:t>
            </a:r>
          </a:p>
          <a:p>
            <a:pPr>
              <a:spcAft>
                <a:spcPts val="1000"/>
              </a:spcAft>
            </a:pPr>
            <a:r>
              <a:rPr sz="1500">
                <a:solidFill>
                  <a:srgbClr val="222B33"/>
                </a:solidFill>
                <a:latin typeface="Microsoft YaHei"/>
              </a:rPr>
              <a:t>▪ 认为说明书“看不懂”就不看</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依法必须提供：中文安全技术说明书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提供说明书是法律的要求</a:t>
            </a:r>
          </a:p>
          <a:p>
            <a:pPr>
              <a:spcAft>
                <a:spcPts val="1000"/>
              </a:spcAft>
            </a:pPr>
            <a:r>
              <a:rPr sz="2000">
                <a:solidFill>
                  <a:srgbClr val="222B33"/>
                </a:solidFill>
                <a:latin typeface="Microsoft YaHei"/>
              </a:rPr>
              <a:t>▪ 危化品安全法要求中文说明书和安全标签</a:t>
            </a:r>
          </a:p>
          <a:p>
            <a:pPr>
              <a:spcAft>
                <a:spcPts val="1000"/>
              </a:spcAft>
            </a:pPr>
            <a:r>
              <a:rPr sz="2000">
                <a:solidFill>
                  <a:srgbClr val="222B33"/>
                </a:solidFill>
                <a:latin typeface="Microsoft YaHei"/>
              </a:rPr>
              <a:t>▪ 内容按 GB/T 16483，编写按 GB/T 17519</a:t>
            </a:r>
          </a:p>
          <a:p>
            <a:pPr>
              <a:spcAft>
                <a:spcPts val="1000"/>
              </a:spcAft>
            </a:pPr>
            <a:r>
              <a:rPr sz="2000">
                <a:solidFill>
                  <a:srgbClr val="222B33"/>
                </a:solidFill>
                <a:latin typeface="Microsoft YaHei"/>
              </a:rPr>
              <a:t>▪ 供应方要给，使用方要有</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提供安全技术说明书是法律的要求。《中华人民共和国危险化学品安全法》（2026 年 5 月 1 日起施行）要求危险化学品附有中文的化学品安全技术说明书和安全标签，即“一书一签”；《危险化学品安全管理条例》也要求生产企业……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认为说明书只是“参考资料”，可有可无</a:t>
            </a:r>
          </a:p>
          <a:p>
            <a:pPr>
              <a:spcAft>
                <a:spcPts val="1000"/>
              </a:spcAft>
            </a:pPr>
            <a:r>
              <a:rPr sz="1500">
                <a:solidFill>
                  <a:srgbClr val="222B33"/>
                </a:solidFill>
                <a:latin typeface="Microsoft YaHei"/>
              </a:rPr>
              <a:t>▪ 只有外文说明书也照常使用</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每种化学品都要有一份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每种化学品，都必须有一份说明书</a:t>
            </a:r>
          </a:p>
          <a:p>
            <a:pPr>
              <a:spcAft>
                <a:spcPts val="1000"/>
              </a:spcAft>
            </a:pPr>
            <a:r>
              <a:rPr sz="2000">
                <a:solidFill>
                  <a:srgbClr val="222B33"/>
                </a:solidFill>
                <a:latin typeface="Microsoft YaHei"/>
              </a:rPr>
              <a:t>▪ 台账上的每一种，都要有对应说明书</a:t>
            </a:r>
          </a:p>
          <a:p>
            <a:pPr>
              <a:spcAft>
                <a:spcPts val="1000"/>
              </a:spcAft>
            </a:pPr>
            <a:r>
              <a:rPr sz="2000">
                <a:solidFill>
                  <a:srgbClr val="222B33"/>
                </a:solidFill>
                <a:latin typeface="Microsoft YaHei"/>
              </a:rPr>
              <a:t>▪ 缺了要及时向供应单位索取</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实验室使用、储存的每一种化学品都必须有对应的安全技术说明书，包括很少使用的和存量很小的。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只为常用试剂准备说明书</a:t>
            </a:r>
          </a:p>
          <a:p>
            <a:pPr>
              <a:spcAft>
                <a:spcPts val="1000"/>
              </a:spcAft>
            </a:pPr>
            <a:r>
              <a:rPr sz="1500">
                <a:solidFill>
                  <a:srgbClr val="222B33"/>
                </a:solidFill>
                <a:latin typeface="Microsoft YaHei"/>
              </a:rPr>
              <a:t>▪ 新增试剂入账，说明书不归档</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写给两类人：使用者和救援者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一是每天和它打交道的使用者</a:t>
            </a:r>
          </a:p>
          <a:p>
            <a:pPr>
              <a:spcAft>
                <a:spcPts val="1000"/>
              </a:spcAft>
            </a:pPr>
            <a:r>
              <a:rPr sz="2000">
                <a:solidFill>
                  <a:srgbClr val="222B33"/>
                </a:solidFill>
                <a:latin typeface="Microsoft YaHei"/>
              </a:rPr>
              <a:t>▪ 二是出事时赶来的应急救援人员</a:t>
            </a:r>
          </a:p>
          <a:p>
            <a:pPr>
              <a:spcAft>
                <a:spcPts val="1000"/>
              </a:spcAft>
            </a:pPr>
            <a:r>
              <a:rPr sz="2000">
                <a:solidFill>
                  <a:srgbClr val="222B33"/>
                </a:solidFill>
                <a:latin typeface="Microsoft YaHei"/>
              </a:rPr>
              <a:t>▪ 救援人员靠它决定怎么处置</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安全技术说明书的主要目的，是让两类人掌握必要的信息：一是每天使用和接触这种化学品的人，二是发生事故时赶来的消防、急救等应急人员。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认为说明书只是给管理人员看的</a:t>
            </a:r>
          </a:p>
          <a:p>
            <a:pPr>
              <a:spcAft>
                <a:spcPts val="1000"/>
              </a:spcAft>
            </a:pPr>
            <a:r>
              <a:rPr sz="1500">
                <a:solidFill>
                  <a:srgbClr val="222B33"/>
                </a:solidFill>
                <a:latin typeface="Microsoft YaHei"/>
              </a:rPr>
              <a:t>▪ 事故时说不出化学品名称，也拿不出说明书</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告诉你怎么用、怎么存、怎么处置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怎么用：戴什么、在哪做、什么不能做</a:t>
            </a:r>
          </a:p>
          <a:p>
            <a:pPr>
              <a:spcAft>
                <a:spcPts val="1000"/>
              </a:spcAft>
            </a:pPr>
            <a:r>
              <a:rPr sz="2000">
                <a:solidFill>
                  <a:srgbClr val="222B33"/>
                </a:solidFill>
                <a:latin typeface="Microsoft YaHei"/>
              </a:rPr>
              <a:t>▪ 怎么存：温度、避光、密封、远离什么</a:t>
            </a:r>
          </a:p>
          <a:p>
            <a:pPr>
              <a:spcAft>
                <a:spcPts val="1000"/>
              </a:spcAft>
            </a:pPr>
            <a:r>
              <a:rPr sz="2000">
                <a:solidFill>
                  <a:srgbClr val="222B33"/>
                </a:solidFill>
                <a:latin typeface="Microsoft YaHei"/>
              </a:rPr>
              <a:t>▪ 怎么处置：分类收集，不倒下水道，交有资质单位</a:t>
            </a:r>
          </a:p>
          <a:p>
            <a:pPr>
              <a:spcAft>
                <a:spcPts val="1000"/>
              </a:spcAft>
            </a:pPr>
            <a:r>
              <a:rPr sz="2000">
                <a:solidFill>
                  <a:srgbClr val="222B33"/>
                </a:solidFill>
                <a:latin typeface="Microsoft YaHei"/>
              </a:rPr>
              <a:t>▪ 用之前对照着看，心里就有底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说明书首先告诉你怎样安全操作：要戴哪些防护装备，在通风柜还是普通台面操作，哪些做法绝对不行。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储存条件凭经验，不看说明书</a:t>
            </a:r>
          </a:p>
          <a:p>
            <a:pPr>
              <a:spcAft>
                <a:spcPts val="1000"/>
              </a:spcAft>
            </a:pPr>
            <a:r>
              <a:rPr sz="1500">
                <a:solidFill>
                  <a:srgbClr val="222B33"/>
                </a:solidFill>
                <a:latin typeface="Microsoft YaHei"/>
              </a:rPr>
              <a:t>▪ 废液处置不查说明书，随意混倒</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讲清四类风险：健康、火灾、反应、环境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健康：从哪进入人体，伤眼、伤皮肤、伤肺</a:t>
            </a:r>
          </a:p>
          <a:p>
            <a:pPr>
              <a:spcAft>
                <a:spcPts val="1000"/>
              </a:spcAft>
            </a:pPr>
            <a:r>
              <a:rPr sz="2000">
                <a:solidFill>
                  <a:srgbClr val="222B33"/>
                </a:solidFill>
                <a:latin typeface="Microsoft YaHei"/>
              </a:rPr>
              <a:t>▪ 火灾：易不易燃，远离什么，着火用什么灭</a:t>
            </a:r>
          </a:p>
          <a:p>
            <a:pPr>
              <a:spcAft>
                <a:spcPts val="1000"/>
              </a:spcAft>
            </a:pPr>
            <a:r>
              <a:rPr sz="2000">
                <a:solidFill>
                  <a:srgbClr val="222B33"/>
                </a:solidFill>
                <a:latin typeface="Microsoft YaHei"/>
              </a:rPr>
              <a:t>▪ 反应性：遇热、水、空气会怎样，和谁要分开</a:t>
            </a:r>
          </a:p>
          <a:p>
            <a:pPr>
              <a:spcAft>
                <a:spcPts val="1000"/>
              </a:spcAft>
            </a:pPr>
            <a:r>
              <a:rPr sz="2000">
                <a:solidFill>
                  <a:srgbClr val="222B33"/>
                </a:solidFill>
                <a:latin typeface="Microsoft YaHei"/>
              </a:rPr>
              <a:t>▪ 环境：对水生生物和土壤有没有危害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讲清化学品的四类风险。健康风险：经哪些途径进入人体，伤害眼睛、皮肤、呼吸系统还是其他器官，有的一次接触就伤人，有的长期累积。火灾危险：是否易燃、着火有多猛，要远离哪些火源和热源，着火时用什么灭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只关心健康危害，忽视反应性和不相容物</a:t>
            </a:r>
          </a:p>
          <a:p>
            <a:pPr>
              <a:spcAft>
                <a:spcPts val="1000"/>
              </a:spcAft>
            </a:pPr>
            <a:r>
              <a:rPr sz="1500">
                <a:solidFill>
                  <a:srgbClr val="222B33"/>
                </a:solidFill>
                <a:latin typeface="Microsoft YaHei"/>
              </a:rPr>
              <a:t>▪ 不知道灭火方法，着火时用错灭火器</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了解危害第一站，操作第一依据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生产商随货提供，按统一制度编写</a:t>
            </a:r>
          </a:p>
          <a:p>
            <a:pPr>
              <a:spcAft>
                <a:spcPts val="1000"/>
              </a:spcAft>
            </a:pPr>
            <a:r>
              <a:rPr sz="2000">
                <a:solidFill>
                  <a:srgbClr val="222B33"/>
                </a:solidFill>
                <a:latin typeface="Microsoft YaHei"/>
              </a:rPr>
              <a:t>▪ 了解危害，第一站就查说明书</a:t>
            </a:r>
          </a:p>
          <a:p>
            <a:pPr>
              <a:spcAft>
                <a:spcPts val="1000"/>
              </a:spcAft>
            </a:pPr>
            <a:r>
              <a:rPr sz="2000">
                <a:solidFill>
                  <a:srgbClr val="222B33"/>
                </a:solidFill>
                <a:latin typeface="Microsoft YaHei"/>
              </a:rPr>
              <a:t>▪ 说明书是用好危险物料的第一依据</a:t>
            </a:r>
          </a:p>
          <a:p>
            <a:pPr>
              <a:spcAft>
                <a:spcPts val="1000"/>
              </a:spcAft>
            </a:pPr>
            <a:r>
              <a:rPr sz="2000">
                <a:solidFill>
                  <a:srgbClr val="222B33"/>
                </a:solidFill>
                <a:latin typeface="Microsoft YaHei"/>
              </a:rPr>
              <a:t>▪ 看到爆炸等高风险，就按更严的规程来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说明书由化学品生产商（或进口商）按全球统一的分类和标签制度编写，随货提供。了解一种化学品的危害，第一站就查它的说明书，先看与危害相关的几个部分。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先上网搜“经验帖”，不看说明书</a:t>
            </a:r>
          </a:p>
          <a:p>
            <a:pPr>
              <a:spcAft>
                <a:spcPts val="1000"/>
              </a:spcAft>
            </a:pPr>
            <a:r>
              <a:rPr sz="1500">
                <a:solidFill>
                  <a:srgbClr val="222B33"/>
                </a:solidFill>
                <a:latin typeface="Microsoft YaHei"/>
              </a:rPr>
              <a:t>▪ 看到高风险提示仍按普通规程操作</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十六个部分，顺序固定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说明书分十六个部分，顺序固定</a:t>
            </a:r>
          </a:p>
          <a:p>
            <a:pPr>
              <a:spcAft>
                <a:spcPts val="1000"/>
              </a:spcAft>
            </a:pPr>
            <a:r>
              <a:rPr sz="2000">
                <a:solidFill>
                  <a:srgbClr val="222B33"/>
                </a:solidFill>
                <a:latin typeface="Microsoft YaHei"/>
              </a:rPr>
              <a:t>▪ 性质、危害、防护、应急都在里面</a:t>
            </a:r>
          </a:p>
          <a:p>
            <a:pPr>
              <a:spcAft>
                <a:spcPts val="1000"/>
              </a:spcAft>
            </a:pPr>
            <a:r>
              <a:rPr sz="2000">
                <a:solidFill>
                  <a:srgbClr val="222B33"/>
                </a:solidFill>
                <a:latin typeface="Microsoft YaHei"/>
              </a:rPr>
              <a:t>▪ 它讲化学品，不是着装规定或培训档案</a:t>
            </a:r>
          </a:p>
          <a:p>
            <a:pPr>
              <a:spcAft>
                <a:spcPts val="1000"/>
              </a:spcAft>
            </a:pPr>
            <a:r>
              <a:rPr sz="2000">
                <a:solidFill>
                  <a:srgbClr val="222B33"/>
                </a:solidFill>
                <a:latin typeface="Microsoft YaHei"/>
              </a:rPr>
              <a:t>▪ 十六部分怎么读，见第 041 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 GB/T 16483-2008（以现行文本为准），化学品安全技术说明书包括十六个部分，顺序固定：从化学品及企业标识、危险性概述、成分，到急救、消防、泄漏应急、操作处置与储存、接触控制和个体防护、理化特性、稳定性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以为说明书各家格式不同，找不到需要的内容</a:t>
            </a:r>
          </a:p>
          <a:p>
            <a:pPr>
              <a:spcAft>
                <a:spcPts val="1000"/>
              </a:spcAft>
            </a:pPr>
            <a:r>
              <a:rPr sz="1500">
                <a:solidFill>
                  <a:srgbClr val="222B33"/>
                </a:solidFill>
                <a:latin typeface="Microsoft YaHei"/>
              </a:rPr>
              <a:t>▪ 把说明书当成实验室规章或培训记录</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识别危害两件工具：说明书和标签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识别化学品危害，靠两件工具</a:t>
            </a:r>
          </a:p>
          <a:p>
            <a:pPr>
              <a:spcAft>
                <a:spcPts val="1000"/>
              </a:spcAft>
            </a:pPr>
            <a:r>
              <a:rPr sz="2000">
                <a:solidFill>
                  <a:srgbClr val="222B33"/>
                </a:solidFill>
                <a:latin typeface="Microsoft YaHei"/>
              </a:rPr>
              <a:t>▪ 一是安全技术说明书，二是安全标签</a:t>
            </a:r>
          </a:p>
          <a:p>
            <a:pPr>
              <a:spcAft>
                <a:spcPts val="1000"/>
              </a:spcAft>
            </a:pPr>
            <a:r>
              <a:rPr sz="2000">
                <a:solidFill>
                  <a:srgbClr val="222B33"/>
                </a:solidFill>
                <a:latin typeface="Microsoft YaHei"/>
              </a:rPr>
              <a:t>▪ 先查说明书，再看瓶上标签和象形图</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识别化学品的危害，主要靠两件工具：安全技术说明书和容器上的安全标签。说明书内容全面，标签简明直观。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只看其中一样，不互相对照</a:t>
            </a:r>
          </a:p>
          <a:p>
            <a:pPr>
              <a:spcAft>
                <a:spcPts val="1000"/>
              </a:spcAft>
            </a:pPr>
            <a:r>
              <a:rPr sz="1500">
                <a:solidFill>
                  <a:srgbClr val="222B33"/>
                </a:solidFill>
                <a:latin typeface="Microsoft YaHei"/>
              </a:rPr>
              <a:t>▪ 不知道这两件工具在哪里找</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标签是简版，说明书是详版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瓶上的安全标签是说明书的简版</a:t>
            </a:r>
          </a:p>
          <a:p>
            <a:pPr>
              <a:spcAft>
                <a:spcPts val="1000"/>
              </a:spcAft>
            </a:pPr>
            <a:r>
              <a:rPr sz="2000">
                <a:solidFill>
                  <a:srgbClr val="222B33"/>
                </a:solidFill>
                <a:latin typeface="Microsoft YaHei"/>
              </a:rPr>
              <a:t>▪ 象形图、信号词、危险说明，两者要一致</a:t>
            </a:r>
          </a:p>
          <a:p>
            <a:pPr>
              <a:spcAft>
                <a:spcPts val="1000"/>
              </a:spcAft>
            </a:pPr>
            <a:r>
              <a:rPr sz="2000">
                <a:solidFill>
                  <a:srgbClr val="222B33"/>
                </a:solidFill>
                <a:latin typeface="Microsoft YaHei"/>
              </a:rPr>
              <a:t>▪ 标签按 GB 15258-2009 编写</a:t>
            </a:r>
          </a:p>
          <a:p>
            <a:pPr>
              <a:spcAft>
                <a:spcPts val="1000"/>
              </a:spcAft>
            </a:pPr>
            <a:r>
              <a:rPr sz="2000">
                <a:solidFill>
                  <a:srgbClr val="222B33"/>
                </a:solidFill>
                <a:latin typeface="Microsoft YaHei"/>
              </a:rPr>
              <a:t>▪ 先看标签，拿不准就翻说明书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安全标签是说明书的浓缩版，只列出最关键的信息；说明书是详细版。标签上的象形图、信号词、危险说明和防范说明应与说明书第 2 部分（危险性概述）一致，标签按 GB 15258-2009（以现行文本为准）编写。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发现标签与说明书不一致也不报告</a:t>
            </a:r>
          </a:p>
          <a:p>
            <a:pPr>
              <a:spcAft>
                <a:spcPts val="1000"/>
              </a:spcAft>
            </a:pPr>
            <a:r>
              <a:rPr sz="1500">
                <a:solidFill>
                  <a:srgbClr val="222B33"/>
                </a:solidFill>
                <a:latin typeface="Microsoft YaHei"/>
              </a:rPr>
              <a:t>▪ 以为看过标签就不需要看说明书</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知道放在哪，先读再用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先知道本实验室的说明书放在哪里</a:t>
            </a:r>
          </a:p>
          <a:p>
            <a:pPr>
              <a:spcAft>
                <a:spcPts val="1000"/>
              </a:spcAft>
            </a:pPr>
            <a:r>
              <a:rPr sz="2000">
                <a:solidFill>
                  <a:srgbClr val="222B33"/>
                </a:solidFill>
                <a:latin typeface="Microsoft YaHei"/>
              </a:rPr>
              <a:t>▪ 第一次用某种化学品，先读再用</a:t>
            </a:r>
          </a:p>
          <a:p>
            <a:pPr>
              <a:spcAft>
                <a:spcPts val="1000"/>
              </a:spcAft>
            </a:pPr>
            <a:r>
              <a:rPr sz="2000">
                <a:solidFill>
                  <a:srgbClr val="222B33"/>
                </a:solidFill>
                <a:latin typeface="Microsoft YaHei"/>
              </a:rPr>
              <a:t>▪ 闪点、接触限值等关键数据都在说明书里</a:t>
            </a:r>
          </a:p>
          <a:p>
            <a:pPr>
              <a:spcAft>
                <a:spcPts val="1000"/>
              </a:spcAft>
            </a:pPr>
            <a:r>
              <a:rPr sz="2000">
                <a:solidFill>
                  <a:srgbClr val="222B33"/>
                </a:solidFill>
                <a:latin typeface="Microsoft YaHei"/>
              </a:rPr>
              <a:t>▪ 碰化学品之前，就该读过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进入实验室首先要知道本实验室的安全技术说明书放在哪里（纸质文件夹、电脑或学校系统）。第一次使用某种化学品之前，先读它的说明书和标签，了解危害、防护、急救、灭火和泄漏处理方法。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不知道说明书放在哪</a:t>
            </a:r>
          </a:p>
          <a:p>
            <a:pPr>
              <a:spcAft>
                <a:spcPts val="1000"/>
              </a:spcAft>
            </a:pPr>
            <a:r>
              <a:rPr sz="1500">
                <a:solidFill>
                  <a:srgbClr val="222B33"/>
                </a:solidFill>
                <a:latin typeface="Microsoft YaHei"/>
              </a:rPr>
              <a:t>▪ 出了事才第一次翻说明书</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试剂盒、清洁剂、废液也要查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试剂盒里的裂解液、洗液也含化学试剂</a:t>
            </a:r>
          </a:p>
          <a:p>
            <a:pPr>
              <a:spcAft>
                <a:spcPts val="1000"/>
              </a:spcAft>
            </a:pPr>
            <a:r>
              <a:rPr sz="2000">
                <a:solidFill>
                  <a:srgbClr val="222B33"/>
                </a:solidFill>
                <a:latin typeface="Microsoft YaHei"/>
              </a:rPr>
              <a:t>▪ 裂解废液不能和含氯消毒剂混</a:t>
            </a:r>
          </a:p>
          <a:p>
            <a:pPr>
              <a:spcAft>
                <a:spcPts val="1000"/>
              </a:spcAft>
            </a:pPr>
            <a:r>
              <a:rPr sz="2000">
                <a:solidFill>
                  <a:srgbClr val="222B33"/>
                </a:solidFill>
                <a:latin typeface="Microsoft YaHei"/>
              </a:rPr>
              <a:t>▪ 碱液伤眼，指示剂可能易燃；盐酸领用要登记</a:t>
            </a:r>
          </a:p>
          <a:p>
            <a:pPr>
              <a:spcAft>
                <a:spcPts val="1000"/>
              </a:spcAft>
            </a:pPr>
            <a:r>
              <a:rPr sz="2000">
                <a:solidFill>
                  <a:srgbClr val="222B33"/>
                </a:solidFill>
                <a:latin typeface="Microsoft YaHei"/>
              </a:rPr>
              <a:t>▪ 清洁剂、废液也都要查说明书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不只针对试剂瓶里的化学品。核酸提取等商品试剂盒中的裂解液、洗液含有化学试剂，用前同样要查说明书；撕膜、加样时戴好护目镜和手套。有的裂解液与含氯消毒剂混合会产生有害物质，裂解废液要单独收集，不与含氯消毒剂混合，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以为商品试剂盒“很安全”，不查说明书</a:t>
            </a:r>
          </a:p>
          <a:p>
            <a:pPr>
              <a:spcAft>
                <a:spcPts val="1000"/>
              </a:spcAft>
            </a:pPr>
            <a:r>
              <a:rPr sz="1500">
                <a:solidFill>
                  <a:srgbClr val="222B33"/>
                </a:solidFill>
                <a:latin typeface="Microsoft YaHei"/>
              </a:rPr>
              <a:t>▪ 把试剂盒废液倒进含氯消毒剂桶</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重点读几节，再做风险评估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说明书很厚，不用从头背</a:t>
            </a:r>
          </a:p>
          <a:p>
            <a:pPr>
              <a:spcAft>
                <a:spcPts val="1000"/>
              </a:spcAft>
            </a:pPr>
            <a:r>
              <a:rPr sz="2000">
                <a:solidFill>
                  <a:srgbClr val="222B33"/>
                </a:solidFill>
                <a:latin typeface="Microsoft YaHei"/>
              </a:rPr>
              <a:t>▪ 用前先看：危害、防护、急救、泄漏</a:t>
            </a:r>
          </a:p>
          <a:p>
            <a:pPr>
              <a:spcAft>
                <a:spcPts val="1000"/>
              </a:spcAft>
            </a:pPr>
            <a:r>
              <a:rPr sz="2000">
                <a:solidFill>
                  <a:srgbClr val="222B33"/>
                </a:solidFill>
                <a:latin typeface="Microsoft YaHei"/>
              </a:rPr>
              <a:t>▪ 要加热、储存、处置时，再看对应部分</a:t>
            </a:r>
          </a:p>
          <a:p>
            <a:pPr>
              <a:spcAft>
                <a:spcPts val="1000"/>
              </a:spcAft>
            </a:pPr>
            <a:r>
              <a:rPr sz="2000">
                <a:solidFill>
                  <a:srgbClr val="222B33"/>
                </a:solidFill>
                <a:latin typeface="Microsoft YaHei"/>
              </a:rPr>
              <a:t>▪ 据此定防护和规程，导师审核后再做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说明书内容多，不需要从头到尾背下来。第一次使用前，重点看：危害是什么、要戴什么防护、急救措施、洒了怎么办、操作和储存要求。实验中需要加热、长期储存或废弃处置时，再看对应的部分。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只看第一页就开始实验</a:t>
            </a:r>
          </a:p>
          <a:p>
            <a:pPr>
              <a:spcAft>
                <a:spcPts val="1000"/>
              </a:spcAft>
            </a:pPr>
            <a:r>
              <a:rPr sz="1500">
                <a:solidFill>
                  <a:srgbClr val="222B33"/>
                </a:solidFill>
                <a:latin typeface="Microsoft YaHei"/>
              </a:rPr>
              <a:t>▪ 读了说明书但不写进风险评估和规程</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采购索取中文SDS，不全不入库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买化学品时，向供应商索取中文说明书</a:t>
            </a:r>
          </a:p>
          <a:p>
            <a:pPr>
              <a:spcAft>
                <a:spcPts val="1000"/>
              </a:spcAft>
            </a:pPr>
            <a:r>
              <a:rPr sz="2000">
                <a:solidFill>
                  <a:srgbClr val="222B33"/>
                </a:solidFill>
                <a:latin typeface="Microsoft YaHei"/>
              </a:rPr>
              <a:t>▪ 随货附说明书，收货后对照查看</a:t>
            </a:r>
          </a:p>
          <a:p>
            <a:pPr>
              <a:spcAft>
                <a:spcPts val="1000"/>
              </a:spcAft>
            </a:pPr>
            <a:r>
              <a:rPr sz="2000">
                <a:solidFill>
                  <a:srgbClr val="222B33"/>
                </a:solidFill>
                <a:latin typeface="Microsoft YaHei"/>
              </a:rPr>
              <a:t>▪ 标签要和说明书一致，内容要齐全</a:t>
            </a:r>
          </a:p>
          <a:p>
            <a:pPr>
              <a:spcAft>
                <a:spcPts val="1000"/>
              </a:spcAft>
            </a:pPr>
            <a:r>
              <a:rPr sz="2000">
                <a:solidFill>
                  <a:srgbClr val="222B33"/>
                </a:solidFill>
                <a:latin typeface="Microsoft YaHei"/>
              </a:rPr>
              <a:t>▪ 没有标签、没有说明书，不入库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采购化学品时，要求供应商提供中文安全技术说明书和安全标签。到货后对照查看：说明书是否随货、是否为中文、内容是否齐全，瓶上标签是否与说明书一致。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收货时把说明书随包装箱一起扔掉</a:t>
            </a:r>
          </a:p>
          <a:p>
            <a:pPr>
              <a:spcAft>
                <a:spcPts val="1000"/>
              </a:spcAft>
            </a:pPr>
            <a:r>
              <a:rPr sz="1500">
                <a:solidFill>
                  <a:srgbClr val="222B33"/>
                </a:solidFill>
                <a:latin typeface="Microsoft YaHei"/>
              </a:rPr>
              <a:t>▪ 只有英文说明书也入库</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放在使用场所，几分钟内能调出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说明书放在使用场所，人人能找到</a:t>
            </a:r>
          </a:p>
          <a:p>
            <a:pPr>
              <a:spcAft>
                <a:spcPts val="1000"/>
              </a:spcAft>
            </a:pPr>
            <a:r>
              <a:rPr sz="2000">
                <a:solidFill>
                  <a:srgbClr val="222B33"/>
                </a:solidFill>
                <a:latin typeface="Microsoft YaHei"/>
              </a:rPr>
              <a:t>▪ 纸质或电子版都行</a:t>
            </a:r>
          </a:p>
          <a:p>
            <a:pPr>
              <a:spcAft>
                <a:spcPts val="1000"/>
              </a:spcAft>
            </a:pPr>
            <a:r>
              <a:rPr sz="2000">
                <a:solidFill>
                  <a:srgbClr val="222B33"/>
                </a:solidFill>
                <a:latin typeface="Microsoft YaHei"/>
              </a:rPr>
              <a:t>▪ 检查时要几分钟内调出</a:t>
            </a:r>
          </a:p>
          <a:p>
            <a:pPr>
              <a:spcAft>
                <a:spcPts val="1000"/>
              </a:spcAft>
            </a:pPr>
            <a:r>
              <a:rPr sz="2000">
                <a:solidFill>
                  <a:srgbClr val="222B33"/>
                </a:solidFill>
                <a:latin typeface="Microsoft YaHei"/>
              </a:rPr>
              <a:t>▪ 电子版要有纸质备份，停电断网也能查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技术说明书要放在化学品的使用场所，纸质文件夹或电脑、学校化学品管理系统中的电子版都可以，关键是实验室里的每个人都知道在哪里、能随时查到。每种化学品性质不同、危害各有特点，必须能查到对应的那一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说明书锁在办公室或只存在个人电脑</a:t>
            </a:r>
          </a:p>
          <a:p>
            <a:pPr>
              <a:spcAft>
                <a:spcPts val="1000"/>
              </a:spcAft>
            </a:pPr>
            <a:r>
              <a:rPr sz="1500">
                <a:solidFill>
                  <a:srgbClr val="222B33"/>
                </a:solidFill>
                <a:latin typeface="Microsoft YaHei"/>
              </a:rPr>
              <a:t>▪ 只有在线版，断网就查不到</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说明书要对得上、版本要新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说明书要和手里这瓶对得上</a:t>
            </a:r>
          </a:p>
          <a:p>
            <a:pPr>
              <a:spcAft>
                <a:spcPts val="1000"/>
              </a:spcAft>
            </a:pPr>
            <a:r>
              <a:rPr sz="2000">
                <a:solidFill>
                  <a:srgbClr val="222B33"/>
                </a:solidFill>
                <a:latin typeface="Microsoft YaHei"/>
              </a:rPr>
              <a:t>▪ 名称、供应商、浓度规格要一致</a:t>
            </a:r>
          </a:p>
          <a:p>
            <a:pPr>
              <a:spcAft>
                <a:spcPts val="1000"/>
              </a:spcAft>
            </a:pPr>
            <a:r>
              <a:rPr sz="2000">
                <a:solidFill>
                  <a:srgbClr val="222B33"/>
                </a:solidFill>
                <a:latin typeface="Microsoft YaHei"/>
              </a:rPr>
              <a:t>▪ 版本过旧的，及时换新</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查阅的说明书必须与手中的化学品对应：化学品名称、供应商、浓度和规格一致。同一种物质，浓度不同、混合物配方不同，危害和防护要求可能不同，不能随便拿一份代替。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用别家、别的浓度的说明书代替</a:t>
            </a:r>
          </a:p>
          <a:p>
            <a:pPr>
              <a:spcAft>
                <a:spcPts val="1000"/>
              </a:spcAft>
            </a:pPr>
            <a:r>
              <a:rPr sz="1500">
                <a:solidFill>
                  <a:srgbClr val="222B33"/>
                </a:solidFill>
                <a:latin typeface="Microsoft YaHei"/>
              </a:rPr>
              <a:t>▪ 文件夹里的说明书多年不更新</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台账和说明书联动，应急更快</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案例：一次酸泄漏，应急人员几分钟拿到说明书</a:t>
            </a:r>
          </a:p>
          <a:p>
            <a:pPr>
              <a:spcAft>
                <a:spcPts val="1000"/>
              </a:spcAft>
            </a:pPr>
            <a:r>
              <a:rPr sz="2000">
                <a:solidFill>
                  <a:srgbClr val="222B33"/>
                </a:solidFill>
                <a:latin typeface="Microsoft YaHei"/>
              </a:rPr>
              <a:t>▪ 台账和说明书联动，一点就能调出</a:t>
            </a:r>
          </a:p>
          <a:p>
            <a:pPr>
              <a:spcAft>
                <a:spcPts val="1000"/>
              </a:spcAft>
            </a:pPr>
            <a:r>
              <a:rPr sz="2000">
                <a:solidFill>
                  <a:srgbClr val="222B33"/>
                </a:solidFill>
                <a:latin typeface="Microsoft YaHei"/>
              </a:rPr>
              <a:t>▪ 信息到得快，就抢回了时间</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一个案例：某实验室发生酸泄漏，应急人员赶到后，几分钟内就从化学品台账中调出了这种酸的说明书，按其中的泄漏应急和防护要求迅速处置。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台账和说明书分开放，事故时找不到对应关系</a:t>
            </a:r>
          </a:p>
          <a:p>
            <a:pPr>
              <a:spcAft>
                <a:spcPts val="1000"/>
              </a:spcAft>
            </a:pPr>
            <a:r>
              <a:rPr sz="1500">
                <a:solidFill>
                  <a:srgbClr val="222B33"/>
                </a:solidFill>
                <a:latin typeface="Microsoft YaHei"/>
              </a:rPr>
              <a:t>▪ 新试剂入账不上传说明书</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配方可保密，安全信息不能少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厂家可以对具体成分保密</a:t>
            </a:r>
          </a:p>
          <a:p>
            <a:pPr>
              <a:spcAft>
                <a:spcPts val="1000"/>
              </a:spcAft>
            </a:pPr>
            <a:r>
              <a:rPr sz="2000">
                <a:solidFill>
                  <a:srgbClr val="222B33"/>
                </a:solidFill>
                <a:latin typeface="Microsoft YaHei"/>
              </a:rPr>
              <a:t>▪ 危害、防护、急救信息一样不能少</a:t>
            </a:r>
          </a:p>
          <a:p>
            <a:pPr>
              <a:spcAft>
                <a:spcPts val="1000"/>
              </a:spcAft>
            </a:pPr>
            <a:r>
              <a:rPr sz="2000">
                <a:solidFill>
                  <a:srgbClr val="222B33"/>
                </a:solidFill>
                <a:latin typeface="Microsoft YaHei"/>
              </a:rPr>
              <a:t>▪ 急救需要成分时，厂家不能拒绝</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对于混合物，生产厂家可以对具体成分或配比作商业秘密处理，但危害、防护、急救、泄漏处置等安全信息必须完整写明，不能因为保密而省略。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说明书成分栏保密，就以为危害也不清楚</a:t>
            </a:r>
          </a:p>
          <a:p>
            <a:pPr>
              <a:spcAft>
                <a:spcPts val="1000"/>
              </a:spcAft>
            </a:pPr>
            <a:r>
              <a:rPr sz="1500">
                <a:solidFill>
                  <a:srgbClr val="222B33"/>
                </a:solidFill>
                <a:latin typeface="Microsoft YaHei"/>
              </a:rPr>
              <a:t>▪ 不知道可以拨打应急咨询电话</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说明书不是万能的，要会读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说明书写给很多人看，有些内容与实验室无关</a:t>
            </a:r>
          </a:p>
          <a:p>
            <a:pPr>
              <a:spcAft>
                <a:spcPts val="1000"/>
              </a:spcAft>
            </a:pPr>
            <a:r>
              <a:rPr sz="2000">
                <a:solidFill>
                  <a:srgbClr val="222B33"/>
                </a:solidFill>
                <a:latin typeface="Microsoft YaHei"/>
              </a:rPr>
              <a:t>▪ 也会有错误和遗漏，不同厂家写法不同</a:t>
            </a:r>
          </a:p>
          <a:p>
            <a:pPr>
              <a:spcAft>
                <a:spcPts val="1000"/>
              </a:spcAft>
            </a:pPr>
            <a:r>
              <a:rPr sz="2000">
                <a:solidFill>
                  <a:srgbClr val="222B33"/>
                </a:solidFill>
                <a:latin typeface="Microsoft YaHei"/>
              </a:rPr>
              <a:t>▪ 多方核对，不要只信一份</a:t>
            </a:r>
          </a:p>
          <a:p>
            <a:pPr>
              <a:spcAft>
                <a:spcPts val="1000"/>
              </a:spcAft>
            </a:pPr>
            <a:r>
              <a:rPr sz="2000">
                <a:solidFill>
                  <a:srgbClr val="222B33"/>
                </a:solidFill>
                <a:latin typeface="Microsoft YaHei"/>
              </a:rPr>
              <a:t>▪ 带着问题读，合理防护安全用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很有用，但不是万能的。它面向生产、运输、使用等很多类人群，有些内容（如大批量储运）与实验室小量使用关系不大；也可能有错误和遗漏，同一种化学品不同厂家写的可能不一样，有的话没错却帮不上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说明书上没写的风险就认为不存在</a:t>
            </a:r>
          </a:p>
          <a:p>
            <a:pPr>
              <a:spcAft>
                <a:spcPts val="1000"/>
              </a:spcAft>
            </a:pPr>
            <a:r>
              <a:rPr sz="1500">
                <a:solidFill>
                  <a:srgbClr val="222B33"/>
                </a:solidFill>
                <a:latin typeface="Microsoft YaHei"/>
              </a:rPr>
              <a:t>▪ 不同说明书说法不一时随便选一份</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化学品安全技术说明书的英文缩写，以及它的旧称是：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SOP，MSDS</a:t>
            </a:r>
          </a:p>
          <a:p>
            <a:pPr algn="l"/>
            <a:r>
              <a:rPr sz="1500" b="0">
                <a:solidFill>
                  <a:srgbClr val="222B33"/>
                </a:solidFill>
                <a:latin typeface="Microsoft YaHei"/>
              </a:rPr>
              <a:t>B. SDS，MSDS</a:t>
            </a:r>
          </a:p>
          <a:p>
            <a:pPr algn="l"/>
            <a:r>
              <a:rPr sz="1500" b="0">
                <a:solidFill>
                  <a:srgbClr val="222B33"/>
                </a:solidFill>
                <a:latin typeface="Microsoft YaHei"/>
              </a:rPr>
              <a:t>C. PPE，SDS</a:t>
            </a:r>
          </a:p>
          <a:p>
            <a:pPr algn="l"/>
            <a:r>
              <a:rPr sz="1500" b="0">
                <a:solidFill>
                  <a:srgbClr val="222B33"/>
                </a:solidFill>
                <a:latin typeface="Microsoft YaHei"/>
              </a:rPr>
              <a:t>D. GHS，SOP</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我国化学品安全技术说明书的内容和项目顺序依据：</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GB 2894-2025</a:t>
            </a:r>
          </a:p>
          <a:p>
            <a:pPr algn="l"/>
            <a:r>
              <a:rPr sz="1500" b="0">
                <a:solidFill>
                  <a:srgbClr val="222B33"/>
                </a:solidFill>
                <a:latin typeface="Microsoft YaHei"/>
              </a:rPr>
              <a:t>B. GB/T 16483-2008</a:t>
            </a:r>
          </a:p>
          <a:p>
            <a:pPr algn="l"/>
            <a:r>
              <a:rPr sz="1500" b="0">
                <a:solidFill>
                  <a:srgbClr val="222B33"/>
                </a:solidFill>
                <a:latin typeface="Microsoft YaHei"/>
              </a:rPr>
              <a:t>C. GB 13495.1-2015</a:t>
            </a:r>
          </a:p>
          <a:p>
            <a:pPr algn="l"/>
            <a:r>
              <a:rPr sz="1500" b="0">
                <a:solidFill>
                  <a:srgbClr val="222B33"/>
                </a:solidFill>
                <a:latin typeface="Microsoft YaHei"/>
              </a:rPr>
              <a:t>D. GB 6944-2025</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判断：商品试剂盒里的裂解液、洗液不是“化学品”，不需要查说明书。</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判断：说明书只要有电子版即可，不需要考虑停电断网的情况。</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说明书主要写给哪两类人？</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采购员和会计</a:t>
            </a:r>
          </a:p>
          <a:p>
            <a:pPr algn="l"/>
            <a:r>
              <a:rPr sz="1500" b="0">
                <a:solidFill>
                  <a:srgbClr val="222B33"/>
                </a:solidFill>
                <a:latin typeface="Microsoft YaHei"/>
              </a:rPr>
              <a:t>B. 使用者和应急救援人员</a:t>
            </a:r>
          </a:p>
          <a:p>
            <a:pPr algn="l"/>
            <a:r>
              <a:rPr sz="1500" b="0">
                <a:solidFill>
                  <a:srgbClr val="222B33"/>
                </a:solidFill>
                <a:latin typeface="Microsoft YaHei"/>
              </a:rPr>
              <a:t>C. 校领导和检查组</a:t>
            </a:r>
          </a:p>
          <a:p>
            <a:pPr algn="l"/>
            <a:r>
              <a:rPr sz="1500" b="0">
                <a:solidFill>
                  <a:srgbClr val="222B33"/>
                </a:solidFill>
                <a:latin typeface="Microsoft YaHei"/>
              </a:rPr>
              <a:t>D. 供应商和快递员</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简答：第一次使用一种新化学品前，应该怎样使用说明书？</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化学品天天用，危害各不同</a:t>
            </a:r>
          </a:p>
          <a:p>
            <a:pPr>
              <a:spcAft>
                <a:spcPts val="800"/>
              </a:spcAft>
            </a:pPr>
            <a:r>
              <a:rPr sz="1500">
                <a:solidFill>
                  <a:srgbClr val="FFFFFF"/>
                </a:solidFill>
                <a:latin typeface="Microsoft YaHei"/>
              </a:rPr>
              <a:t>▪ K2  安全用化学品，先问三个问题</a:t>
            </a:r>
          </a:p>
          <a:p>
            <a:pPr>
              <a:spcAft>
                <a:spcPts val="800"/>
              </a:spcAft>
            </a:pPr>
            <a:r>
              <a:rPr sz="1500">
                <a:solidFill>
                  <a:srgbClr val="FFFFFF"/>
                </a:solidFill>
                <a:latin typeface="Microsoft YaHei"/>
              </a:rPr>
              <a:t>▪ K3  SDS：化学品的身份档案</a:t>
            </a:r>
          </a:p>
          <a:p>
            <a:pPr>
              <a:spcAft>
                <a:spcPts val="800"/>
              </a:spcAft>
            </a:pPr>
            <a:r>
              <a:rPr sz="1500">
                <a:solidFill>
                  <a:srgbClr val="FFFFFF"/>
                </a:solidFill>
                <a:latin typeface="Microsoft YaHei"/>
              </a:rPr>
              <a:t>▪ K4  旧称MSDS，现在统一叫SDS</a:t>
            </a:r>
          </a:p>
          <a:p>
            <a:pPr>
              <a:spcAft>
                <a:spcPts val="800"/>
              </a:spcAft>
            </a:pPr>
            <a:r>
              <a:rPr sz="1500">
                <a:solidFill>
                  <a:srgbClr val="FFFFFF"/>
                </a:solidFill>
                <a:latin typeface="Microsoft YaHei"/>
              </a:rPr>
              <a:t>▪ K5  旧格式乱、难懂，才有了统一制度</a:t>
            </a:r>
          </a:p>
          <a:p>
            <a:pPr>
              <a:spcAft>
                <a:spcPts val="800"/>
              </a:spcAft>
            </a:pPr>
            <a:r>
              <a:rPr sz="1500">
                <a:solidFill>
                  <a:srgbClr val="FFFFFF"/>
                </a:solidFill>
                <a:latin typeface="Microsoft YaHei"/>
              </a:rPr>
              <a:t>▪ K6  依法必须提供：中文安全技术说明书</a:t>
            </a:r>
          </a:p>
          <a:p>
            <a:pPr>
              <a:spcAft>
                <a:spcPts val="800"/>
              </a:spcAft>
            </a:pPr>
            <a:r>
              <a:rPr sz="1500">
                <a:solidFill>
                  <a:srgbClr val="FFFFFF"/>
                </a:solidFill>
                <a:latin typeface="Microsoft YaHei"/>
              </a:rPr>
              <a:t>▪ K7  每种化学品都要有一份</a:t>
            </a:r>
          </a:p>
          <a:p>
            <a:pPr>
              <a:spcAft>
                <a:spcPts val="800"/>
              </a:spcAft>
            </a:pPr>
            <a:r>
              <a:rPr sz="1500">
                <a:solidFill>
                  <a:srgbClr val="FFFFFF"/>
                </a:solidFill>
                <a:latin typeface="Microsoft YaHei"/>
              </a:rPr>
              <a:t>▪ K8  写给两类人：使用者和救援者</a:t>
            </a:r>
          </a:p>
          <a:p>
            <a:pPr>
              <a:spcAft>
                <a:spcPts val="800"/>
              </a:spcAft>
            </a:pPr>
            <a:r>
              <a:rPr sz="1500">
                <a:solidFill>
                  <a:srgbClr val="FFFFFF"/>
                </a:solidFill>
                <a:latin typeface="Microsoft YaHei"/>
              </a:rPr>
              <a:t>▪ K9  告诉你怎么用、怎么存、怎么处置</a:t>
            </a:r>
          </a:p>
          <a:p>
            <a:pPr>
              <a:spcAft>
                <a:spcPts val="800"/>
              </a:spcAft>
            </a:pPr>
            <a:r>
              <a:rPr sz="1500">
                <a:solidFill>
                  <a:srgbClr val="FFFFFF"/>
                </a:solidFill>
                <a:latin typeface="Microsoft YaHei"/>
              </a:rPr>
              <a:t>▪ K10  讲清四类风险：健康、火灾、反应、环境</a:t>
            </a:r>
          </a:p>
          <a:p>
            <a:pPr>
              <a:spcAft>
                <a:spcPts val="800"/>
              </a:spcAft>
            </a:pPr>
            <a:r>
              <a:rPr sz="1500">
                <a:solidFill>
                  <a:srgbClr val="FFFFFF"/>
                </a:solidFill>
                <a:latin typeface="Microsoft YaHei"/>
              </a:rPr>
              <a:t>▪ K11  了解危害第一站，操作第一依据</a:t>
            </a:r>
          </a:p>
          <a:p>
            <a:pPr>
              <a:spcAft>
                <a:spcPts val="800"/>
              </a:spcAft>
            </a:pPr>
            <a:r>
              <a:rPr sz="1500">
                <a:solidFill>
                  <a:srgbClr val="FFFFFF"/>
                </a:solidFill>
                <a:latin typeface="Microsoft YaHei"/>
              </a:rPr>
              <a:t>▪ K12  十六个部分，顺序固定</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K13  识别危害两件工具：说明书和标签</a:t>
            </a:r>
          </a:p>
          <a:p>
            <a:pPr>
              <a:spcAft>
                <a:spcPts val="800"/>
              </a:spcAft>
            </a:pPr>
            <a:r>
              <a:rPr sz="1500">
                <a:solidFill>
                  <a:srgbClr val="FFFFFF"/>
                </a:solidFill>
                <a:latin typeface="Microsoft YaHei"/>
              </a:rPr>
              <a:t>▪ K14  标签是简版，说明书是详版</a:t>
            </a:r>
          </a:p>
          <a:p>
            <a:pPr>
              <a:spcAft>
                <a:spcPts val="800"/>
              </a:spcAft>
            </a:pPr>
            <a:r>
              <a:rPr sz="1500">
                <a:solidFill>
                  <a:srgbClr val="FFFFFF"/>
                </a:solidFill>
                <a:latin typeface="Microsoft YaHei"/>
              </a:rPr>
              <a:t>▪ K15  知道放在哪，先读再用</a:t>
            </a:r>
          </a:p>
          <a:p>
            <a:pPr>
              <a:spcAft>
                <a:spcPts val="800"/>
              </a:spcAft>
            </a:pPr>
            <a:r>
              <a:rPr sz="1500">
                <a:solidFill>
                  <a:srgbClr val="FFFFFF"/>
                </a:solidFill>
                <a:latin typeface="Microsoft YaHei"/>
              </a:rPr>
              <a:t>▪ K16  试剂盒、清洁剂、废液也要查</a:t>
            </a:r>
          </a:p>
          <a:p>
            <a:pPr>
              <a:spcAft>
                <a:spcPts val="800"/>
              </a:spcAft>
            </a:pPr>
            <a:r>
              <a:rPr sz="1500">
                <a:solidFill>
                  <a:srgbClr val="FFFFFF"/>
                </a:solidFill>
                <a:latin typeface="Microsoft YaHei"/>
              </a:rPr>
              <a:t>▪ K17  重点读几节，再做风险评估</a:t>
            </a:r>
          </a:p>
          <a:p>
            <a:pPr>
              <a:spcAft>
                <a:spcPts val="800"/>
              </a:spcAft>
            </a:pPr>
            <a:r>
              <a:rPr sz="1500">
                <a:solidFill>
                  <a:srgbClr val="FFFFFF"/>
                </a:solidFill>
                <a:latin typeface="Microsoft YaHei"/>
              </a:rPr>
              <a:t>▪ K18  采购索取中文SDS，不全不入库</a:t>
            </a:r>
          </a:p>
          <a:p>
            <a:pPr>
              <a:spcAft>
                <a:spcPts val="800"/>
              </a:spcAft>
            </a:pPr>
            <a:r>
              <a:rPr sz="1500">
                <a:solidFill>
                  <a:srgbClr val="FFFFFF"/>
                </a:solidFill>
                <a:latin typeface="Microsoft YaHei"/>
              </a:rPr>
              <a:t>▪ K19  放在使用场所，几分钟内能调出</a:t>
            </a:r>
          </a:p>
          <a:p>
            <a:pPr>
              <a:spcAft>
                <a:spcPts val="800"/>
              </a:spcAft>
            </a:pPr>
            <a:r>
              <a:rPr sz="1500">
                <a:solidFill>
                  <a:srgbClr val="FFFFFF"/>
                </a:solidFill>
                <a:latin typeface="Microsoft YaHei"/>
              </a:rPr>
              <a:t>▪ K20  说明书要对得上、版本要新</a:t>
            </a:r>
          </a:p>
          <a:p>
            <a:pPr>
              <a:spcAft>
                <a:spcPts val="800"/>
              </a:spcAft>
            </a:pPr>
            <a:r>
              <a:rPr sz="1500">
                <a:solidFill>
                  <a:srgbClr val="FFFFFF"/>
                </a:solidFill>
                <a:latin typeface="Microsoft YaHei"/>
              </a:rPr>
              <a:t>▪ K21  台账和说明书联动，应急更快</a:t>
            </a:r>
          </a:p>
          <a:p>
            <a:pPr>
              <a:spcAft>
                <a:spcPts val="800"/>
              </a:spcAft>
            </a:pPr>
            <a:r>
              <a:rPr sz="1500">
                <a:solidFill>
                  <a:srgbClr val="FFFFFF"/>
                </a:solidFill>
                <a:latin typeface="Microsoft YaHei"/>
              </a:rPr>
              <a:t>▪ K22  配方可保密，安全信息不能少</a:t>
            </a:r>
          </a:p>
          <a:p>
            <a:pPr>
              <a:spcAft>
                <a:spcPts val="800"/>
              </a:spcAft>
            </a:pPr>
            <a:r>
              <a:rPr sz="1500">
                <a:solidFill>
                  <a:srgbClr val="FFFFFF"/>
                </a:solidFill>
                <a:latin typeface="Microsoft YaHei"/>
              </a:rPr>
              <a:t>▪ K23  说明书不是万能的，要会读</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041</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读懂SDS十六部分</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8 分钟（卡通视频 97 镜）　适用对象：全体使用化学品的高校本科生、研究生和教职工（必修）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能说出化学品安全技术说明书十六个部分的名称和固定顺序，以及按“四个问题”分组查阅的方法。</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能做到使用化学品前先读第 1–8 部分，核对名称、CAS 号和浓度，找到急救、泄漏、储存和个体防护要求。</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能判断第 9–11 部分的理化、反应性和毒理信息对操作的意义（闪点、禁配物、急慢性毒性），知道“无数据”不等于安全。</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能说出第 12–16 部分（生态、废弃、运输、法规、其他信息）的用途，并会查修订日期。</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日起施行）及《危险化学品安全管理条例》（以现行文本为准）：危险化学品附中文化学品安全技术说明书和安全标签</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内容和项目顺序》：十六个部分的名称和顺序</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17519-2013（以现行文本为准）《化学品安全技术说明书编写指南》：各部分应写的内容</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系列（以现行文本为准）《化学品分类和标签规范》：危险性分类、信号词、危险说明、防范说明、象形图</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2.1（以现行文本为准）《工作场所有害因素职业接触限值 第1部分：化学有害因素》：国内职业接触限值</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6944-2025、GB 12268-2025（以现行文本为准）《危险货物分类和品名编号》《危险货物品名表》：运输信息</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《国家危险废物名录》（以现行文本为准）：危险废物分类收集，不得倒入下水道</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号，以现行文本为准）：使用化学品前查阅安全技术说明书、开展风险评估</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统一格式：十六部分，顺序固定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说明书一共十六个部分，顺序固定</a:t>
            </a:r>
          </a:p>
          <a:p>
            <a:pPr>
              <a:spcAft>
                <a:spcPts val="1000"/>
              </a:spcAft>
            </a:pPr>
            <a:r>
              <a:rPr sz="1700">
                <a:solidFill>
                  <a:srgbClr val="222B33"/>
                </a:solidFill>
                <a:latin typeface="Microsoft YaHei"/>
              </a:rPr>
              <a:t>▪ 格式按全球统一制度和 GB/T 16483、GB/T 17519</a:t>
            </a:r>
          </a:p>
          <a:p>
            <a:pPr>
              <a:spcAft>
                <a:spcPts val="1000"/>
              </a:spcAft>
            </a:pPr>
            <a:r>
              <a:rPr sz="1700">
                <a:solidFill>
                  <a:srgbClr val="222B33"/>
                </a:solidFill>
                <a:latin typeface="Microsoft YaHei"/>
              </a:rPr>
              <a:t>▪ 不论哪家的说明书，同一项都在同一处</a:t>
            </a:r>
          </a:p>
          <a:p>
            <a:pPr>
              <a:spcAft>
                <a:spcPts val="1000"/>
              </a:spcAft>
            </a:pPr>
            <a:r>
              <a:rPr sz="1700">
                <a:solidFill>
                  <a:srgbClr val="222B33"/>
                </a:solidFill>
                <a:latin typeface="Microsoft YaHei"/>
              </a:rPr>
              <a:t>▪ 标签像字母表，说明书就是字典</a:t>
            </a:r>
          </a:p>
          <a:p>
            <a:pPr>
              <a:spcAft>
                <a:spcPts val="1000"/>
              </a:spcAft>
            </a:pPr>
            <a:r>
              <a:rPr sz="1700">
                <a:solidFill>
                  <a:srgbClr val="222B33"/>
                </a:solidFill>
                <a:latin typeface="Microsoft YaHei"/>
              </a:rPr>
              <a:t>▪ 急救、泄漏、储存、防护，用前先看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化学品安全技术说明书按联合国全球化学品统一分类和标签制度编写，我国的内容和顺序由 GB/T 16483-2008 规定、编写方法见 GB/T 17519-2013：一律分为十六个部分，名称和顺序固定。因此不论哪个供应……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每次从头到尾乱翻，不知道要查的信息在第几部分</a:t>
            </a:r>
          </a:p>
          <a:p>
            <a:pPr>
              <a:spcAft>
                <a:spcPts val="1000"/>
              </a:spcAft>
            </a:pPr>
            <a:r>
              <a:rPr sz="1500">
                <a:solidFill>
                  <a:srgbClr val="222B33"/>
                </a:solidFill>
                <a:latin typeface="Microsoft YaHei"/>
              </a:rPr>
              <a:t>▪ 只看标签，从不打开说明书</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和旧版比：第2、3部分换了位置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现行格式和旧版说明书很像</a:t>
            </a:r>
          </a:p>
          <a:p>
            <a:pPr>
              <a:spcAft>
                <a:spcPts val="1000"/>
              </a:spcAft>
            </a:pPr>
            <a:r>
              <a:rPr sz="2000">
                <a:solidFill>
                  <a:srgbClr val="222B33"/>
                </a:solidFill>
                <a:latin typeface="Microsoft YaHei"/>
              </a:rPr>
              <a:t>▪ 旧版第 2 部分是成分，第 3 部分是危险性</a:t>
            </a:r>
          </a:p>
          <a:p>
            <a:pPr>
              <a:spcAft>
                <a:spcPts val="1000"/>
              </a:spcAft>
            </a:pPr>
            <a:r>
              <a:rPr sz="2000">
                <a:solidFill>
                  <a:srgbClr val="222B33"/>
                </a:solidFill>
                <a:latin typeface="Microsoft YaHei"/>
              </a:rPr>
              <a:t>▪ 现行：第 2 部分危险性概述，第 3 部分成分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现行十六部分格式和过去的旧版说明书大体相近，主要区别是第 2、3 部分换了位置：旧版先写成分、后写危险性，现行版把“危险性概述”提到第 2 部分，让读者先看到危害，再看成分。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拿着旧版说明书按新顺序找，把成分当成危险性</a:t>
            </a:r>
          </a:p>
          <a:p>
            <a:pPr>
              <a:spcAft>
                <a:spcPts val="1000"/>
              </a:spcAft>
            </a:pPr>
            <a:r>
              <a:rPr sz="1500">
                <a:solidFill>
                  <a:srgbClr val="222B33"/>
                </a:solidFill>
                <a:latin typeface="Microsoft YaHei"/>
              </a:rPr>
              <a:t>▪ 长期使用旧格式说明书不更新</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按需排序：四个问题分组查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内容按需要的先后排列，技术数据放后面</a:t>
            </a:r>
          </a:p>
          <a:p>
            <a:pPr>
              <a:spcAft>
                <a:spcPts val="1000"/>
              </a:spcAft>
            </a:pPr>
            <a:r>
              <a:rPr sz="1700">
                <a:solidFill>
                  <a:srgbClr val="222B33"/>
                </a:solidFill>
                <a:latin typeface="Microsoft YaHei"/>
              </a:rPr>
              <a:t>▪ 1–3：是什么，有什么危害</a:t>
            </a:r>
          </a:p>
          <a:p>
            <a:pPr>
              <a:spcAft>
                <a:spcPts val="1000"/>
              </a:spcAft>
            </a:pPr>
            <a:r>
              <a:rPr sz="1700">
                <a:solidFill>
                  <a:srgbClr val="222B33"/>
                </a:solidFill>
                <a:latin typeface="Microsoft YaHei"/>
              </a:rPr>
              <a:t>▪ 4–6：出了问题怎么办（急救、消防、泄漏）</a:t>
            </a:r>
          </a:p>
          <a:p>
            <a:pPr>
              <a:spcAft>
                <a:spcPts val="1000"/>
              </a:spcAft>
            </a:pPr>
            <a:r>
              <a:rPr sz="1700">
                <a:solidFill>
                  <a:srgbClr val="222B33"/>
                </a:solidFill>
                <a:latin typeface="Microsoft YaHei"/>
              </a:rPr>
              <a:t>▪ 7–10：怎样预防（操作储存、防护、性质反应）</a:t>
            </a:r>
          </a:p>
          <a:p>
            <a:pPr>
              <a:spcAft>
                <a:spcPts val="1000"/>
              </a:spcAft>
            </a:pPr>
            <a:r>
              <a:rPr sz="1700">
                <a:solidFill>
                  <a:srgbClr val="222B33"/>
                </a:solidFill>
                <a:latin typeface="Microsoft YaHei"/>
              </a:rPr>
              <a:t>▪ 11–16：还要知道什么，写规程常用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十六部分不是随意排列的，而是按“需要的先后”：最前面是最急需、最好懂的信息（是什么、有什么危害、怎么急救），接着是防护措施，专业的技术数据放在后面。</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只看第 1–3 部分就开始操作，不看应急和防护</a:t>
            </a:r>
          </a:p>
          <a:p>
            <a:pPr>
              <a:spcAft>
                <a:spcPts val="1000"/>
              </a:spcAft>
            </a:pPr>
            <a:r>
              <a:rPr sz="1500">
                <a:solidFill>
                  <a:srgbClr val="222B33"/>
                </a:solidFill>
                <a:latin typeface="Microsoft YaHei"/>
              </a:rPr>
              <a:t>▪ 认为第 11–16 部分“没用”，从不浏览</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第1部分：认准是哪种化学品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先确认说明书就是手中这种化学品</a:t>
            </a:r>
          </a:p>
          <a:p>
            <a:pPr>
              <a:spcAft>
                <a:spcPts val="1000"/>
              </a:spcAft>
            </a:pPr>
            <a:r>
              <a:rPr sz="2000">
                <a:solidFill>
                  <a:srgbClr val="222B33"/>
                </a:solidFill>
                <a:latin typeface="Microsoft YaHei"/>
              </a:rPr>
              <a:t>▪ 名称要和瓶上标签一致</a:t>
            </a:r>
          </a:p>
          <a:p>
            <a:pPr>
              <a:spcAft>
                <a:spcPts val="1000"/>
              </a:spcAft>
            </a:pPr>
            <a:r>
              <a:rPr sz="2000">
                <a:solidFill>
                  <a:srgbClr val="222B33"/>
                </a:solidFill>
                <a:latin typeface="Microsoft YaHei"/>
              </a:rPr>
              <a:t>▪ 同一物质常有多个名字，CAS 号唯一</a:t>
            </a:r>
          </a:p>
          <a:p>
            <a:pPr>
              <a:spcAft>
                <a:spcPts val="1000"/>
              </a:spcAft>
            </a:pPr>
            <a:r>
              <a:rPr sz="2000">
                <a:solidFill>
                  <a:srgbClr val="222B33"/>
                </a:solidFill>
                <a:latin typeface="Microsoft YaHei"/>
              </a:rPr>
              <a:t>▪ 浓度也要对上，浓的不能查稀的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 部分“化学品及企业标识”首先写明物质或混合物的名称。读说明书的第一步，就是确认它和手中的试剂是同一种：名称要和瓶上标签一致。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只凭名字相似就认为是同一种化学品</a:t>
            </a:r>
          </a:p>
          <a:p>
            <a:pPr>
              <a:spcAft>
                <a:spcPts val="1000"/>
              </a:spcAft>
            </a:pPr>
            <a:r>
              <a:rPr sz="1500">
                <a:solidFill>
                  <a:srgbClr val="222B33"/>
                </a:solidFill>
                <a:latin typeface="Microsoft YaHei"/>
              </a:rPr>
              <a:t>▪ 用低浓度的说明书代替高浓度试剂</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第1部分：推荐用途和供应商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推荐用途：它本来是做什么用的</a:t>
            </a:r>
          </a:p>
          <a:p>
            <a:pPr>
              <a:spcAft>
                <a:spcPts val="1000"/>
              </a:spcAft>
            </a:pPr>
            <a:r>
              <a:rPr sz="2000">
                <a:solidFill>
                  <a:srgbClr val="222B33"/>
                </a:solidFill>
                <a:latin typeface="Microsoft YaHei"/>
              </a:rPr>
              <a:t>▪ 用途之外的用法，先问导师和负责人</a:t>
            </a:r>
          </a:p>
          <a:p>
            <a:pPr>
              <a:spcAft>
                <a:spcPts val="1000"/>
              </a:spcAft>
            </a:pPr>
            <a:r>
              <a:rPr sz="2000">
                <a:solidFill>
                  <a:srgbClr val="222B33"/>
                </a:solidFill>
                <a:latin typeface="Microsoft YaHei"/>
              </a:rPr>
              <a:t>▪ 有供应商名称、地址、电话</a:t>
            </a:r>
          </a:p>
          <a:p>
            <a:pPr>
              <a:spcAft>
                <a:spcPts val="1000"/>
              </a:spcAft>
            </a:pPr>
            <a:r>
              <a:rPr sz="2000">
                <a:solidFill>
                  <a:srgbClr val="222B33"/>
                </a:solidFill>
                <a:latin typeface="Microsoft YaHei"/>
              </a:rPr>
              <a:t>▪ 可能还有应急咨询电话</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 部分还写明化学品的推荐用途和限制用途。实验中如果要把它用在推荐用途之外，要先问清楚导师和实验室负责人，评估新的风险后再做。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未经评估就把化学品挪作他用</a:t>
            </a:r>
          </a:p>
          <a:p>
            <a:pPr>
              <a:spcAft>
                <a:spcPts val="1000"/>
              </a:spcAft>
            </a:pPr>
            <a:r>
              <a:rPr sz="1500">
                <a:solidFill>
                  <a:srgbClr val="222B33"/>
                </a:solidFill>
                <a:latin typeface="Microsoft YaHei"/>
              </a:rPr>
              <a:t>▪ 事故时只找厂家，不按程序报告</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第2部分：危险性概述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先按统一规则分类，如腐蚀、易燃</a:t>
            </a:r>
          </a:p>
          <a:p>
            <a:pPr>
              <a:spcAft>
                <a:spcPts val="1000"/>
              </a:spcAft>
            </a:pPr>
            <a:r>
              <a:rPr sz="2000">
                <a:solidFill>
                  <a:srgbClr val="222B33"/>
                </a:solidFill>
                <a:latin typeface="Microsoft YaHei"/>
              </a:rPr>
              <a:t>▪ 标签要素：信号词、危险说明、防范说明</a:t>
            </a:r>
          </a:p>
          <a:p>
            <a:pPr>
              <a:spcAft>
                <a:spcPts val="1000"/>
              </a:spcAft>
            </a:pPr>
            <a:r>
              <a:rPr sz="2000">
                <a:solidFill>
                  <a:srgbClr val="222B33"/>
                </a:solidFill>
                <a:latin typeface="Microsoft YaHei"/>
              </a:rPr>
              <a:t>▪ “危险”比“警告”更严重</a:t>
            </a:r>
          </a:p>
          <a:p>
            <a:pPr>
              <a:spcAft>
                <a:spcPts val="1000"/>
              </a:spcAft>
            </a:pPr>
            <a:r>
              <a:rPr sz="2000">
                <a:solidFill>
                  <a:srgbClr val="222B33"/>
                </a:solidFill>
                <a:latin typeface="Microsoft YaHei"/>
              </a:rPr>
              <a:t>▪ 象形图和瓶上标签的一样</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2 部分“危险性概述”先给出按统一规则（我国为 GB 30000 系列）得出的危险性分类，比如皮肤腐蚀、易燃液体。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把“警告”当成“没什么危险”</a:t>
            </a:r>
          </a:p>
          <a:p>
            <a:pPr>
              <a:spcAft>
                <a:spcPts val="1000"/>
              </a:spcAft>
            </a:pPr>
            <a:r>
              <a:rPr sz="1500">
                <a:solidFill>
                  <a:srgbClr val="222B33"/>
                </a:solidFill>
                <a:latin typeface="Microsoft YaHei"/>
              </a:rPr>
              <a:t>▪ 说明书和标签象形图不一致也不报告</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例：氢氧化钠，信号词“危险”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氢氧化钠的信号词是“危险”</a:t>
            </a:r>
          </a:p>
          <a:p>
            <a:pPr>
              <a:spcAft>
                <a:spcPts val="1000"/>
              </a:spcAft>
            </a:pPr>
            <a:r>
              <a:rPr sz="2000">
                <a:solidFill>
                  <a:srgbClr val="222B33"/>
                </a:solidFill>
                <a:latin typeface="Microsoft YaHei"/>
              </a:rPr>
              <a:t>▪ 会造成严重皮肤灼伤和眼损伤</a:t>
            </a:r>
          </a:p>
          <a:p>
            <a:pPr>
              <a:spcAft>
                <a:spcPts val="1000"/>
              </a:spcAft>
            </a:pPr>
            <a:r>
              <a:rPr sz="2000">
                <a:solidFill>
                  <a:srgbClr val="222B33"/>
                </a:solidFill>
                <a:latin typeface="Microsoft YaHei"/>
              </a:rPr>
              <a:t>▪ 不能徒手拿，要戴防护</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以常用试剂氢氧化钠为例：说明书第 2 部分显示它的信号词是“危险”，带腐蚀象形图，危险说明为会造成严重的皮肤灼伤和眼损伤。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徒手抓取氢氧化钠颗粒</a:t>
            </a:r>
          </a:p>
          <a:p>
            <a:pPr>
              <a:spcAft>
                <a:spcPts val="1000"/>
              </a:spcAft>
            </a:pPr>
            <a:r>
              <a:rPr sz="1500">
                <a:solidFill>
                  <a:srgbClr val="222B33"/>
                </a:solidFill>
                <a:latin typeface="Microsoft YaHei"/>
              </a:rPr>
              <a:t>▪ 认为常用试剂危险性小</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第3部分：成分和浓度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写化学名、俗名和登记编号</a:t>
            </a:r>
          </a:p>
          <a:p>
            <a:pPr>
              <a:spcAft>
                <a:spcPts val="1000"/>
              </a:spcAft>
            </a:pPr>
            <a:r>
              <a:rPr sz="2000">
                <a:solidFill>
                  <a:srgbClr val="222B33"/>
                </a:solidFill>
                <a:latin typeface="Microsoft YaHei"/>
              </a:rPr>
              <a:t>▪ 纯物质写明化学组成</a:t>
            </a:r>
          </a:p>
          <a:p>
            <a:pPr>
              <a:spcAft>
                <a:spcPts val="1000"/>
              </a:spcAft>
            </a:pPr>
            <a:r>
              <a:rPr sz="2000">
                <a:solidFill>
                  <a:srgbClr val="222B33"/>
                </a:solidFill>
                <a:latin typeface="Microsoft YaHei"/>
              </a:rPr>
              <a:t>▪ 混合物列出各成分和浓度，危害一看便知</a:t>
            </a:r>
          </a:p>
          <a:p>
            <a:pPr>
              <a:spcAft>
                <a:spcPts val="1000"/>
              </a:spcAft>
            </a:pPr>
            <a:r>
              <a:rPr sz="2000">
                <a:solidFill>
                  <a:srgbClr val="222B33"/>
                </a:solidFill>
                <a:latin typeface="Microsoft YaHei"/>
              </a:rPr>
              <a:t>▪ 配成溶液后，浓度要另外标明</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3 部分“成分/组成信息”对纯物质写明其化学名称、俗名和 CAS 号等识别号；对混合物则列出每种危险成分及其浓度或浓度范围，哪种成分带来危害一看便知。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自配溶液不标浓度</a:t>
            </a:r>
          </a:p>
          <a:p>
            <a:pPr>
              <a:spcAft>
                <a:spcPts val="1000"/>
              </a:spcAft>
            </a:pPr>
            <a:r>
              <a:rPr sz="1500">
                <a:solidFill>
                  <a:srgbClr val="222B33"/>
                </a:solidFill>
                <a:latin typeface="Microsoft YaHei"/>
              </a:rPr>
              <a:t>▪ 只看主成分，忽略混合物里的少量危险成分</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第4部分：按接触途径急救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4 部分按接触途径分别写急救方法</a:t>
            </a:r>
          </a:p>
          <a:p>
            <a:pPr>
              <a:spcAft>
                <a:spcPts val="1000"/>
              </a:spcAft>
            </a:pPr>
            <a:r>
              <a:rPr sz="2000">
                <a:solidFill>
                  <a:srgbClr val="222B33"/>
                </a:solidFill>
                <a:latin typeface="Microsoft YaHei"/>
              </a:rPr>
              <a:t>▪ 途径：吸入、皮肤接触、食入、眼睛接触</a:t>
            </a:r>
          </a:p>
          <a:p>
            <a:pPr>
              <a:spcAft>
                <a:spcPts val="1000"/>
              </a:spcAft>
            </a:pPr>
            <a:r>
              <a:rPr sz="2000">
                <a:solidFill>
                  <a:srgbClr val="222B33"/>
                </a:solidFill>
                <a:latin typeface="Microsoft YaHei"/>
              </a:rPr>
              <a:t>▪ 沾到皮肤：脱去污染衣物，冲洗后就医</a:t>
            </a:r>
          </a:p>
          <a:p>
            <a:pPr>
              <a:spcAft>
                <a:spcPts val="1000"/>
              </a:spcAft>
            </a:pPr>
            <a:r>
              <a:rPr sz="2000">
                <a:solidFill>
                  <a:srgbClr val="222B33"/>
                </a:solidFill>
                <a:latin typeface="Microsoft YaHei"/>
              </a:rPr>
              <a:t>▪ 溅入眼睛：立即用大量清水冲洗，再就医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4 部分“急救措施”按不同接触途径分别给出急救方法。想一种化学品会怎样伤人，先想这几条路：吸入、皮肤接触、食入、眼睛接触（暴露途径详见第 042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不同途径用同一种处理方法</a:t>
            </a:r>
          </a:p>
          <a:p>
            <a:pPr>
              <a:spcAft>
                <a:spcPts val="1000"/>
              </a:spcAft>
            </a:pPr>
            <a:r>
              <a:rPr sz="1500">
                <a:solidFill>
                  <a:srgbClr val="222B33"/>
                </a:solidFill>
                <a:latin typeface="Microsoft YaHei"/>
              </a:rPr>
              <a:t>▪ 眼睛溅入后先揉眼或冲一下就停</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第4部分：症状和何时就医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写明可能出现的症状和效应</a:t>
            </a:r>
          </a:p>
          <a:p>
            <a:pPr>
              <a:spcAft>
                <a:spcPts val="1000"/>
              </a:spcAft>
            </a:pPr>
            <a:r>
              <a:rPr sz="2000">
                <a:solidFill>
                  <a:srgbClr val="222B33"/>
                </a:solidFill>
                <a:latin typeface="Microsoft YaHei"/>
              </a:rPr>
              <a:t>▪ 知道症状，才能及早发现暴露</a:t>
            </a:r>
          </a:p>
          <a:p>
            <a:pPr>
              <a:spcAft>
                <a:spcPts val="1000"/>
              </a:spcAft>
            </a:pPr>
            <a:r>
              <a:rPr sz="2000">
                <a:solidFill>
                  <a:srgbClr val="222B33"/>
                </a:solidFill>
                <a:latin typeface="Microsoft YaHei"/>
              </a:rPr>
              <a:t>▪ 写明哪些情况须立即就医</a:t>
            </a:r>
          </a:p>
          <a:p>
            <a:pPr>
              <a:spcAft>
                <a:spcPts val="1000"/>
              </a:spcAft>
            </a:pPr>
            <a:r>
              <a:rPr sz="2000">
                <a:solidFill>
                  <a:srgbClr val="222B33"/>
                </a:solidFill>
                <a:latin typeface="Microsoft YaHei"/>
              </a:rPr>
              <a:t>▪ 就医同时报告实验室负责人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4 部分还写明接触后可能出现的症状和效应（如刺激、灼伤、咳嗽、头晕），帮助判断有没有人受到暴露、是急性还是迟发的反应。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有症状也自认为“没事”，不就医不报告</a:t>
            </a:r>
          </a:p>
          <a:p>
            <a:pPr>
              <a:spcAft>
                <a:spcPts val="1000"/>
              </a:spcAft>
            </a:pPr>
            <a:r>
              <a:rPr sz="1500">
                <a:solidFill>
                  <a:srgbClr val="222B33"/>
                </a:solidFill>
                <a:latin typeface="Microsoft YaHei"/>
              </a:rPr>
              <a:t>▪ 送医时不带说明书，医生不知道接触了什么</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例：误食碱，不催吐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误食氢氧化钠，不要催吐</a:t>
            </a:r>
          </a:p>
          <a:p>
            <a:pPr>
              <a:spcAft>
                <a:spcPts val="1000"/>
              </a:spcAft>
            </a:pPr>
            <a:r>
              <a:rPr sz="2000">
                <a:solidFill>
                  <a:srgbClr val="222B33"/>
                </a:solidFill>
                <a:latin typeface="Microsoft YaHei"/>
              </a:rPr>
              <a:t>▪ 漱口，并立即送医</a:t>
            </a:r>
          </a:p>
          <a:p>
            <a:pPr>
              <a:spcAft>
                <a:spcPts val="1000"/>
              </a:spcAft>
            </a:pPr>
            <a:r>
              <a:rPr sz="2000">
                <a:solidFill>
                  <a:srgbClr val="222B33"/>
                </a:solidFill>
                <a:latin typeface="Microsoft YaHei"/>
              </a:rPr>
              <a:t>▪ 最好的预防：实验室内不吃不喝</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仍以氢氧化钠为例：说明书第 4 部分写明，误食后不要催吐，因为腐蚀性物质催吐会再次灼伤食道；应漱口并立即送医。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误食腐蚀品后自行催吐</a:t>
            </a:r>
          </a:p>
          <a:p>
            <a:pPr>
              <a:spcAft>
                <a:spcPts val="1000"/>
              </a:spcAft>
            </a:pPr>
            <a:r>
              <a:rPr sz="1500">
                <a:solidFill>
                  <a:srgbClr val="222B33"/>
                </a:solidFill>
                <a:latin typeface="Microsoft YaHei"/>
              </a:rPr>
              <a:t>▪ 在实验台上吃东西、喝水</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用前先读急救，找到洗眼器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使用前就先读第 4 部分</a:t>
            </a:r>
          </a:p>
          <a:p>
            <a:pPr>
              <a:spcAft>
                <a:spcPts val="1000"/>
              </a:spcAft>
            </a:pPr>
            <a:r>
              <a:rPr sz="2000">
                <a:solidFill>
                  <a:srgbClr val="222B33"/>
                </a:solidFill>
                <a:latin typeface="Microsoft YaHei"/>
              </a:rPr>
              <a:t>▪ 知道急救箱在哪里</a:t>
            </a:r>
          </a:p>
          <a:p>
            <a:pPr>
              <a:spcAft>
                <a:spcPts val="1000"/>
              </a:spcAft>
            </a:pPr>
            <a:r>
              <a:rPr sz="2000">
                <a:solidFill>
                  <a:srgbClr val="222B33"/>
                </a:solidFill>
                <a:latin typeface="Microsoft YaHei"/>
              </a:rPr>
              <a:t>▪ 知道洗眼器和紧急喷淋在哪里</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急救信息要在事故发生前就读过：事故发生时没有时间慢慢查。使用一种化学品之前，先读第 4 部分，明确各种接触途径下怎么处理。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出事后才第一次翻说明书</a:t>
            </a:r>
          </a:p>
          <a:p>
            <a:pPr>
              <a:spcAft>
                <a:spcPts val="1000"/>
              </a:spcAft>
            </a:pPr>
            <a:r>
              <a:rPr sz="1500">
                <a:solidFill>
                  <a:srgbClr val="222B33"/>
                </a:solidFill>
                <a:latin typeface="Microsoft YaHei"/>
              </a:rPr>
              <a:t>▪ 不知道洗眼器在哪里</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第5部分：灭火剂和特别危险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写明适用的灭火剂，如水、泡沫、干粉、二氧化碳</a:t>
            </a:r>
          </a:p>
          <a:p>
            <a:pPr>
              <a:spcAft>
                <a:spcPts val="1000"/>
              </a:spcAft>
            </a:pPr>
            <a:r>
              <a:rPr sz="2000">
                <a:solidFill>
                  <a:srgbClr val="222B33"/>
                </a:solidFill>
                <a:latin typeface="Microsoft YaHei"/>
              </a:rPr>
              <a:t>▪ 有的遇水反应，不能用水</a:t>
            </a:r>
          </a:p>
          <a:p>
            <a:pPr>
              <a:spcAft>
                <a:spcPts val="1000"/>
              </a:spcAft>
            </a:pPr>
            <a:r>
              <a:rPr sz="2000">
                <a:solidFill>
                  <a:srgbClr val="222B33"/>
                </a:solidFill>
                <a:latin typeface="Microsoft YaHei"/>
              </a:rPr>
              <a:t>▪ 用错灭火剂，会火上浇油</a:t>
            </a:r>
          </a:p>
          <a:p>
            <a:pPr>
              <a:spcAft>
                <a:spcPts val="1000"/>
              </a:spcAft>
            </a:pPr>
            <a:r>
              <a:rPr sz="2000">
                <a:solidFill>
                  <a:srgbClr val="222B33"/>
                </a:solidFill>
                <a:latin typeface="Microsoft YaHei"/>
              </a:rPr>
              <a:t>▪ 特别危险：有毒烟气、容器爆裂</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5 部分“消防措施”首先写明适用和不适用的灭火剂，如水、泡沫、干粉、二氧化碳。有的化学品遇水会剧烈反应，绝不能用水灭火；用错灭火剂会使火势扩大。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不分化学品一律用水灭火</a:t>
            </a:r>
          </a:p>
          <a:p>
            <a:pPr>
              <a:spcAft>
                <a:spcPts val="1000"/>
              </a:spcAft>
            </a:pPr>
            <a:r>
              <a:rPr sz="1500">
                <a:solidFill>
                  <a:srgbClr val="222B33"/>
                </a:solidFill>
                <a:latin typeface="Microsoft YaHei"/>
              </a:rPr>
              <a:t>▪ 不知道燃烧会产生有毒烟气，靠近扑救</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第5部分：消防防护，说明书交救援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写明灭火策略和消防人员需要的防护</a:t>
            </a:r>
          </a:p>
          <a:p>
            <a:pPr>
              <a:spcAft>
                <a:spcPts val="1000"/>
              </a:spcAft>
            </a:pPr>
            <a:r>
              <a:rPr sz="2000">
                <a:solidFill>
                  <a:srgbClr val="222B33"/>
                </a:solidFill>
                <a:latin typeface="Microsoft YaHei"/>
              </a:rPr>
              <a:t>▪ 火警时，把说明书交给救援人员</a:t>
            </a:r>
          </a:p>
          <a:p>
            <a:pPr>
              <a:spcAft>
                <a:spcPts val="1000"/>
              </a:spcAft>
            </a:pPr>
            <a:r>
              <a:rPr sz="2000">
                <a:solidFill>
                  <a:srgbClr val="222B33"/>
                </a:solidFill>
                <a:latin typeface="Microsoft YaHei"/>
              </a:rPr>
              <a:t>▪ 例：氢氧化钠不燃，遇某些金属放出氢气</a:t>
            </a:r>
          </a:p>
          <a:p>
            <a:pPr>
              <a:spcAft>
                <a:spcPts val="1000"/>
              </a:spcAft>
            </a:pPr>
            <a:r>
              <a:rPr sz="2000">
                <a:solidFill>
                  <a:srgbClr val="222B33"/>
                </a:solidFill>
                <a:latin typeface="Microsoft YaHei"/>
              </a:rPr>
              <a:t>▪ 火场中可用水雾冷却容器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5 部分还写明灭火的基本策略和消防人员需要的防护装备（如全套防护服和空气呼吸器）。这些是给专业救援人员的：发生火灾时，实验人员按本校应急程序撤离、报警（119），并把相关化学品的说明书交给赶到的救援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实验人员穿着实验服冒险扑救大火</a:t>
            </a:r>
          </a:p>
          <a:p>
            <a:pPr>
              <a:spcAft>
                <a:spcPts val="1000"/>
              </a:spcAft>
            </a:pPr>
            <a:r>
              <a:rPr sz="1500">
                <a:solidFill>
                  <a:srgbClr val="222B33"/>
                </a:solidFill>
                <a:latin typeface="Microsoft YaHei"/>
              </a:rPr>
              <a:t>▪ 救援人员到场时说不清有哪些化学品</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第6部分：泄漏应急处理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先保护自己：穿戴好防护用品</a:t>
            </a:r>
          </a:p>
          <a:p>
            <a:pPr>
              <a:spcAft>
                <a:spcPts val="1000"/>
              </a:spcAft>
            </a:pPr>
            <a:r>
              <a:rPr sz="2000">
                <a:solidFill>
                  <a:srgbClr val="222B33"/>
                </a:solidFill>
                <a:latin typeface="Microsoft YaHei"/>
              </a:rPr>
              <a:t>▪ 让无关人员离开</a:t>
            </a:r>
          </a:p>
          <a:p>
            <a:pPr>
              <a:spcAft>
                <a:spcPts val="1000"/>
              </a:spcAft>
            </a:pPr>
            <a:r>
              <a:rPr sz="2000">
                <a:solidFill>
                  <a:srgbClr val="222B33"/>
                </a:solidFill>
                <a:latin typeface="Microsoft YaHei"/>
              </a:rPr>
              <a:t>▪ 先围堵，再按说明书吸收、收集</a:t>
            </a:r>
          </a:p>
          <a:p>
            <a:pPr>
              <a:spcAft>
                <a:spcPts val="1000"/>
              </a:spcAft>
            </a:pPr>
            <a:r>
              <a:rPr sz="2000">
                <a:solidFill>
                  <a:srgbClr val="222B33"/>
                </a:solidFill>
                <a:latin typeface="Microsoft YaHei"/>
              </a:rPr>
              <a:t>▪ 装入化学废物容器，不冲下水道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6 部分“泄漏应急处理”先写人员防护：处理者穿戴好说明书要求的防护用品，无关人员撤离。再写环境保护措施：防止泄漏物流入下水道和水体。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不戴防护就去擦拭泄漏物</a:t>
            </a:r>
          </a:p>
          <a:p>
            <a:pPr>
              <a:spcAft>
                <a:spcPts val="1000"/>
              </a:spcAft>
            </a:pPr>
            <a:r>
              <a:rPr sz="1500">
                <a:solidFill>
                  <a:srgbClr val="222B33"/>
                </a:solidFill>
                <a:latin typeface="Microsoft YaHei"/>
              </a:rPr>
              <a:t>▪ 用水把泄漏物冲进下水道</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第7部分：操作处置与储存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避免接触眼睛、皮肤和衣物</a:t>
            </a:r>
          </a:p>
          <a:p>
            <a:pPr>
              <a:spcAft>
                <a:spcPts val="1000"/>
              </a:spcAft>
            </a:pPr>
            <a:r>
              <a:rPr sz="2000">
                <a:solidFill>
                  <a:srgbClr val="222B33"/>
                </a:solidFill>
                <a:latin typeface="Microsoft YaHei"/>
              </a:rPr>
              <a:t>▪ 避免吸入粉尘和蒸气，在通风良好处使用</a:t>
            </a:r>
          </a:p>
          <a:p>
            <a:pPr>
              <a:spcAft>
                <a:spcPts val="1000"/>
              </a:spcAft>
            </a:pPr>
            <a:r>
              <a:rPr sz="2000">
                <a:solidFill>
                  <a:srgbClr val="222B33"/>
                </a:solidFill>
                <a:latin typeface="Microsoft YaHei"/>
              </a:rPr>
              <a:t>▪ 搬运前确认容器盖好、拿稳</a:t>
            </a:r>
          </a:p>
          <a:p>
            <a:pPr>
              <a:spcAft>
                <a:spcPts val="1000"/>
              </a:spcAft>
            </a:pPr>
            <a:r>
              <a:rPr sz="2000">
                <a:solidFill>
                  <a:srgbClr val="222B33"/>
                </a:solidFill>
                <a:latin typeface="Microsoft YaHei"/>
              </a:rPr>
              <a:t>▪ 储存条件和禁配物，如碱远离酸和金属</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7 部分“操作处置与储存”写明安全操作要求：避免接触眼睛、皮肤和衣物；避免吸入粉尘和蒸气，在通风良好处或通风柜内操作；搬运前确认容器盖紧、拿稳。</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称量粉末状试剂不在通风处</a:t>
            </a:r>
          </a:p>
          <a:p>
            <a:pPr>
              <a:spcAft>
                <a:spcPts val="1000"/>
              </a:spcAft>
            </a:pPr>
            <a:r>
              <a:rPr sz="1500">
                <a:solidFill>
                  <a:srgbClr val="222B33"/>
                </a:solidFill>
                <a:latin typeface="Microsoft YaHei"/>
              </a:rPr>
              <a:t>▪ 用完不盖紧，酸碱混放</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第8部分：工程控制优先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先靠工程控制挡住危害，如局部排风</a:t>
            </a:r>
          </a:p>
          <a:p>
            <a:pPr>
              <a:spcAft>
                <a:spcPts val="1000"/>
              </a:spcAft>
            </a:pPr>
            <a:r>
              <a:rPr sz="2000">
                <a:solidFill>
                  <a:srgbClr val="222B33"/>
                </a:solidFill>
                <a:latin typeface="Microsoft YaHei"/>
              </a:rPr>
              <a:t>▪ 能在通风柜里做，就不在敞开台面做</a:t>
            </a:r>
          </a:p>
          <a:p>
            <a:pPr>
              <a:spcAft>
                <a:spcPts val="1000"/>
              </a:spcAft>
            </a:pPr>
            <a:r>
              <a:rPr sz="2000">
                <a:solidFill>
                  <a:srgbClr val="222B33"/>
                </a:solidFill>
                <a:latin typeface="Microsoft YaHei"/>
              </a:rPr>
              <a:t>▪ 有的物质要在密闭系统里操作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 8 部分“接触控制和个体防护”先写工程控制：用局部排风、通风柜等设施把危害控制在源头，这比单靠个人防护更可靠。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有通风柜不用，只戴口罩在台面操作</a:t>
            </a:r>
          </a:p>
          <a:p>
            <a:pPr>
              <a:spcAft>
                <a:spcPts val="1000"/>
              </a:spcAft>
            </a:pPr>
            <a:r>
              <a:rPr sz="1500">
                <a:solidFill>
                  <a:srgbClr val="222B33"/>
                </a:solidFill>
                <a:latin typeface="Microsoft YaHei"/>
              </a:rPr>
              <a:t>▪ 把需要密闭操作的物质在敞口容器中处理</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第8部分：职业接触限值</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职业接触限值：空气中容许的最高浓度水平</a:t>
            </a:r>
          </a:p>
          <a:p>
            <a:pPr>
              <a:spcAft>
                <a:spcPts val="1000"/>
              </a:spcAft>
            </a:pPr>
            <a:r>
              <a:rPr sz="2000">
                <a:solidFill>
                  <a:srgbClr val="222B33"/>
                </a:solidFill>
                <a:latin typeface="Microsoft YaHei"/>
              </a:rPr>
              <a:t>▪ 国内限值以 GBZ 2.1 现行文本为准</a:t>
            </a:r>
          </a:p>
          <a:p>
            <a:pPr>
              <a:spcAft>
                <a:spcPts val="1000"/>
              </a:spcAft>
            </a:pPr>
            <a:r>
              <a:rPr sz="2000">
                <a:solidFill>
                  <a:srgbClr val="222B33"/>
                </a:solidFill>
                <a:latin typeface="Microsoft YaHei"/>
              </a:rPr>
              <a:t>▪ 限值越低，吸入危害越大</a:t>
            </a:r>
          </a:p>
          <a:p>
            <a:pPr>
              <a:spcAft>
                <a:spcPts val="1000"/>
              </a:spcAft>
            </a:pPr>
            <a:r>
              <a:rPr sz="2000">
                <a:solidFill>
                  <a:srgbClr val="222B33"/>
                </a:solidFill>
                <a:latin typeface="Microsoft YaHei"/>
              </a:rPr>
              <a:t>▪ 单位据此安排通风和防护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8 部分还列出职业接触限值，表示工作场所空气中该物质容许的浓度水平，常见有时间加权平均等形式。国内以 GBZ 2.1（以现行文本为准）规定的限值为准，进口化学品说明书上的国外限值只作参考。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把国外资料上的限值数值当作国内依据</a:t>
            </a:r>
          </a:p>
          <a:p>
            <a:pPr>
              <a:spcAft>
                <a:spcPts val="1000"/>
              </a:spcAft>
            </a:pPr>
            <a:r>
              <a:rPr sz="1500">
                <a:solidFill>
                  <a:srgbClr val="222B33"/>
                </a:solidFill>
                <a:latin typeface="Microsoft YaHei"/>
              </a:rPr>
              <a:t>▪ 闻不到气味就认为没有超限</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第8部分：个体防护要对得上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写明戴什么、穿什么：眼、手、皮肤、呼吸</a:t>
            </a:r>
          </a:p>
          <a:p>
            <a:pPr>
              <a:spcAft>
                <a:spcPts val="1000"/>
              </a:spcAft>
            </a:pPr>
            <a:r>
              <a:rPr sz="2000">
                <a:solidFill>
                  <a:srgbClr val="222B33"/>
                </a:solidFill>
                <a:latin typeface="Microsoft YaHei"/>
              </a:rPr>
              <a:t>▪ 手套材质要对，说明书会写清楚</a:t>
            </a:r>
          </a:p>
          <a:p>
            <a:pPr>
              <a:spcAft>
                <a:spcPts val="1000"/>
              </a:spcAft>
            </a:pPr>
            <a:r>
              <a:rPr sz="2000">
                <a:solidFill>
                  <a:srgbClr val="222B33"/>
                </a:solidFill>
                <a:latin typeface="Microsoft YaHei"/>
              </a:rPr>
              <a:t>▪ 呼吸防护要选对滤毒罐</a:t>
            </a:r>
          </a:p>
          <a:p>
            <a:pPr>
              <a:spcAft>
                <a:spcPts val="1000"/>
              </a:spcAft>
            </a:pPr>
            <a:r>
              <a:rPr sz="2000">
                <a:solidFill>
                  <a:srgbClr val="222B33"/>
                </a:solidFill>
                <a:latin typeface="Microsoft YaHei"/>
              </a:rPr>
              <a:t>▪ 氢氧化钠：耐碱手套、护目镜，再加面屏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8 部分写明需要的个体防护装备：眼睛戴安全眼镜或护目镜，必要时加面屏；手部戴材质合适的防护手套（不同材质对不同化学品的防护效果不同，说明书会写明）；身体穿实验服或防护服；需要呼吸防护时选用合适的防毒面具并配对应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任何化学品都只戴同一种薄手套</a:t>
            </a:r>
          </a:p>
          <a:p>
            <a:pPr>
              <a:spcAft>
                <a:spcPts val="1000"/>
              </a:spcAft>
            </a:pPr>
            <a:r>
              <a:rPr sz="1500">
                <a:solidFill>
                  <a:srgbClr val="222B33"/>
                </a:solidFill>
                <a:latin typeface="Microsoft YaHei"/>
              </a:rPr>
              <a:t>▪ 有喷溅风险时只戴普通眼镜</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第9部分：理化特性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外观、状态、颜色、气味，但别凑近闻</a:t>
            </a:r>
          </a:p>
          <a:p>
            <a:pPr>
              <a:spcAft>
                <a:spcPts val="1000"/>
              </a:spcAft>
            </a:pPr>
            <a:r>
              <a:rPr sz="2000">
                <a:solidFill>
                  <a:srgbClr val="222B33"/>
                </a:solidFill>
                <a:latin typeface="Microsoft YaHei"/>
              </a:rPr>
              <a:t>▪ pH、沸点、熔点：加热、混合前先看</a:t>
            </a:r>
          </a:p>
          <a:p>
            <a:pPr>
              <a:spcAft>
                <a:spcPts val="1000"/>
              </a:spcAft>
            </a:pPr>
            <a:r>
              <a:rPr sz="2000">
                <a:solidFill>
                  <a:srgbClr val="222B33"/>
                </a:solidFill>
                <a:latin typeface="Microsoft YaHei"/>
              </a:rPr>
              <a:t>▪ 溶解度、蒸气压：蒸气压高越易挥发</a:t>
            </a:r>
          </a:p>
          <a:p>
            <a:pPr>
              <a:spcAft>
                <a:spcPts val="1000"/>
              </a:spcAft>
            </a:pPr>
            <a:r>
              <a:rPr sz="2000">
                <a:solidFill>
                  <a:srgbClr val="222B33"/>
                </a:solidFill>
                <a:latin typeface="Microsoft YaHei"/>
              </a:rPr>
              <a:t>▪ 标签损坏时可帮助辨认，但须上报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9 部分“理化特性”列出外观（状态、颜色）、气味、pH、熔点、沸点、闪点、溶解度、蒸气压等数据，帮助判断该怎样操作和防护。气味信息仅供参考，千万不要凑近去闻。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凑近容器口闻气味辨认化学品</a:t>
            </a:r>
          </a:p>
          <a:p>
            <a:pPr>
              <a:spcAft>
                <a:spcPts val="1000"/>
              </a:spcAft>
            </a:pPr>
            <a:r>
              <a:rPr sz="1500">
                <a:solidFill>
                  <a:srgbClr val="222B33"/>
                </a:solidFill>
                <a:latin typeface="Microsoft YaHei"/>
              </a:rPr>
              <a:t>▪ 根据外观自行判断标签不清的试剂并使用</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第9部分：闪点看易燃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沸点和闪点，用来判断易不易燃</a:t>
            </a:r>
          </a:p>
          <a:p>
            <a:pPr>
              <a:spcAft>
                <a:spcPts val="1000"/>
              </a:spcAft>
            </a:pPr>
            <a:r>
              <a:rPr sz="2000">
                <a:solidFill>
                  <a:srgbClr val="222B33"/>
                </a:solidFill>
                <a:latin typeface="Microsoft YaHei"/>
              </a:rPr>
              <a:t>▪ 闪点越低，越容易着火</a:t>
            </a:r>
          </a:p>
          <a:p>
            <a:pPr>
              <a:spcAft>
                <a:spcPts val="1000"/>
              </a:spcAft>
            </a:pPr>
            <a:r>
              <a:rPr sz="2000">
                <a:solidFill>
                  <a:srgbClr val="222B33"/>
                </a:solidFill>
                <a:latin typeface="Microsoft YaHei"/>
              </a:rPr>
              <a:t>▪ 乙醚闪点很低，室温下蒸气就能点燃</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 9 部分中的沸点和闪点是判断易燃性的关键数据：闪点越低，越容易形成可燃蒸气而着火。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认为室温下没有明火就不会着火</a:t>
            </a:r>
          </a:p>
          <a:p>
            <a:pPr>
              <a:spcAft>
                <a:spcPts val="1000"/>
              </a:spcAft>
            </a:pPr>
            <a:r>
              <a:rPr sz="1500">
                <a:solidFill>
                  <a:srgbClr val="222B33"/>
                </a:solidFill>
                <a:latin typeface="Microsoft YaHei"/>
              </a:rPr>
              <a:t>▪ 在加热设备旁使用低闪点溶剂</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第10部分：稳定性、反应性和禁配物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稳定性：正常条件下稳不稳定</a:t>
            </a:r>
          </a:p>
          <a:p>
            <a:pPr>
              <a:spcAft>
                <a:spcPts val="1000"/>
              </a:spcAft>
            </a:pPr>
            <a:r>
              <a:rPr sz="1700">
                <a:solidFill>
                  <a:srgbClr val="222B33"/>
                </a:solidFill>
                <a:latin typeface="Microsoft YaHei"/>
              </a:rPr>
              <a:t>▪ 要避免的条件：受热、受压、撞击等</a:t>
            </a:r>
          </a:p>
          <a:p>
            <a:pPr>
              <a:spcAft>
                <a:spcPts val="1000"/>
              </a:spcAft>
            </a:pPr>
            <a:r>
              <a:rPr sz="1700">
                <a:solidFill>
                  <a:srgbClr val="222B33"/>
                </a:solidFill>
                <a:latin typeface="Microsoft YaHei"/>
              </a:rPr>
              <a:t>▪ 禁配物不能放一起、不能混，存放时分开</a:t>
            </a:r>
          </a:p>
          <a:p>
            <a:pPr>
              <a:spcAft>
                <a:spcPts val="1000"/>
              </a:spcAft>
            </a:pPr>
            <a:r>
              <a:rPr sz="1700">
                <a:solidFill>
                  <a:srgbClr val="222B33"/>
                </a:solidFill>
                <a:latin typeface="Microsoft YaHei"/>
              </a:rPr>
              <a:t>▪ 很多事故源于禁配物倒进同一废液桶</a:t>
            </a:r>
          </a:p>
          <a:p>
            <a:pPr>
              <a:spcAft>
                <a:spcPts val="1000"/>
              </a:spcAft>
            </a:pPr>
            <a:r>
              <a:rPr sz="1700">
                <a:solidFill>
                  <a:srgbClr val="222B33"/>
                </a:solidFill>
                <a:latin typeface="Microsoft YaHei"/>
              </a:rPr>
              <a:t>▪ 写明危险分解产物和聚合等危险</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第 10 部分“稳定性和反应性”写明化学品在正常条件下是否稳定、可能发生哪些危险反应、应避免的条件（如受热、受压、撞击），以及禁配物（不相容物质）和危险分解产物，分解、聚合等危险也写在这里。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不查禁配物就把不同废液倒进同一桶</a:t>
            </a:r>
          </a:p>
          <a:p>
            <a:pPr>
              <a:spcAft>
                <a:spcPts val="1000"/>
              </a:spcAft>
            </a:pPr>
            <a:r>
              <a:rPr sz="1500">
                <a:solidFill>
                  <a:srgbClr val="222B33"/>
                </a:solidFill>
                <a:latin typeface="Microsoft YaHei"/>
              </a:rPr>
              <a:t>▪ 酸碱、氧化剂和易燃物混放</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第11部分：毒理学信息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先看接触途径：从哪进入身体</a:t>
            </a:r>
          </a:p>
          <a:p>
            <a:pPr>
              <a:spcAft>
                <a:spcPts val="1000"/>
              </a:spcAft>
            </a:pPr>
            <a:r>
              <a:rPr sz="2000">
                <a:solidFill>
                  <a:srgbClr val="222B33"/>
                </a:solidFill>
                <a:latin typeface="Microsoft YaHei"/>
              </a:rPr>
              <a:t>▪ 写明症状、急性和迟发（慢性）影响</a:t>
            </a:r>
          </a:p>
          <a:p>
            <a:pPr>
              <a:spcAft>
                <a:spcPts val="1000"/>
              </a:spcAft>
            </a:pPr>
            <a:r>
              <a:rPr sz="2000">
                <a:solidFill>
                  <a:srgbClr val="222B33"/>
                </a:solidFill>
                <a:latin typeface="Microsoft YaHei"/>
              </a:rPr>
              <a:t>▪ 毒性数据如半数致死量，数越小毒性越大</a:t>
            </a:r>
          </a:p>
          <a:p>
            <a:pPr>
              <a:spcAft>
                <a:spcPts val="1000"/>
              </a:spcAft>
            </a:pPr>
            <a:r>
              <a:rPr sz="2000">
                <a:solidFill>
                  <a:srgbClr val="222B33"/>
                </a:solidFill>
                <a:latin typeface="Microsoft YaHei"/>
              </a:rPr>
              <a:t>▪ 例：乙醚吸入会头晕嗜睡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11 部分“毒理学信息”写明接触途径（从哪进入身体）、可能的症状，以及急性和慢性影响：急性效应来得快，慢性效应慢慢积累。接触途径找对了，防护才有针对性。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把半数致死量数值大小理解反</a:t>
            </a:r>
          </a:p>
          <a:p>
            <a:pPr>
              <a:spcAft>
                <a:spcPts val="1000"/>
              </a:spcAft>
            </a:pPr>
            <a:r>
              <a:rPr sz="1500">
                <a:solidFill>
                  <a:srgbClr val="222B33"/>
                </a:solidFill>
                <a:latin typeface="Microsoft YaHei"/>
              </a:rPr>
              <a:t>▪ 只关心急性症状，忽视长期接触的慢性影响</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“无数据”不等于安全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看到“无可用数据”，要格外小心</a:t>
            </a:r>
          </a:p>
          <a:p>
            <a:pPr>
              <a:spcAft>
                <a:spcPts val="1000"/>
              </a:spcAft>
            </a:pPr>
            <a:r>
              <a:rPr sz="2000">
                <a:solidFill>
                  <a:srgbClr val="222B33"/>
                </a:solidFill>
                <a:latin typeface="Microsoft YaHei"/>
              </a:rPr>
              <a:t>▪ 测过毒性的化学品只是少数</a:t>
            </a:r>
          </a:p>
          <a:p>
            <a:pPr>
              <a:spcAft>
                <a:spcPts val="1000"/>
              </a:spcAft>
            </a:pPr>
            <a:r>
              <a:rPr sz="2000">
                <a:solidFill>
                  <a:srgbClr val="222B33"/>
                </a:solidFill>
                <a:latin typeface="Microsoft YaHei"/>
              </a:rPr>
              <a:t>▪ “无数据”只是不知道，绝不等于安全</a:t>
            </a:r>
          </a:p>
          <a:p>
            <a:pPr>
              <a:spcAft>
                <a:spcPts val="1000"/>
              </a:spcAft>
            </a:pPr>
            <a:r>
              <a:rPr sz="2000">
                <a:solidFill>
                  <a:srgbClr val="222B33"/>
                </a:solidFill>
                <a:latin typeface="Microsoft YaHei"/>
              </a:rPr>
              <a:t>▪ “不适用”与 N/A 要分清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某项写着“无可用数据”时，要格外小心：化学品成千上万，做过完整毒性测试的只是少数；也可能是编写者没写进去。“无数据”只代表不知道或没人查过，绝不等于安全，应按可能有害采取防护，并向导师或负责人请教、查阅其他资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把“无数据”理解为“无毒”</a:t>
            </a:r>
          </a:p>
          <a:p>
            <a:pPr>
              <a:spcAft>
                <a:spcPts val="1000"/>
              </a:spcAft>
            </a:pPr>
            <a:r>
              <a:rPr sz="1500">
                <a:solidFill>
                  <a:srgbClr val="222B33"/>
                </a:solidFill>
                <a:latin typeface="Microsoft YaHei"/>
              </a:rPr>
              <a:t>▪ 看到 N/A 就跳过不管</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第12部分：生态学信息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写明化学品对环境的影响</a:t>
            </a:r>
          </a:p>
          <a:p>
            <a:pPr>
              <a:spcAft>
                <a:spcPts val="1000"/>
              </a:spcAft>
            </a:pPr>
            <a:r>
              <a:rPr sz="2000">
                <a:solidFill>
                  <a:srgbClr val="222B33"/>
                </a:solidFill>
                <a:latin typeface="Microsoft YaHei"/>
              </a:rPr>
              <a:t>▪ 水生毒性：对水中生物的毒害</a:t>
            </a:r>
          </a:p>
          <a:p>
            <a:pPr>
              <a:spcAft>
                <a:spcPts val="1000"/>
              </a:spcAft>
            </a:pPr>
            <a:r>
              <a:rPr sz="2000">
                <a:solidFill>
                  <a:srgbClr val="222B33"/>
                </a:solidFill>
                <a:latin typeface="Microsoft YaHei"/>
              </a:rPr>
              <a:t>▪ 持久性和降解性：在环境中留多久</a:t>
            </a:r>
          </a:p>
          <a:p>
            <a:pPr>
              <a:spcAft>
                <a:spcPts val="1000"/>
              </a:spcAft>
            </a:pPr>
            <a:r>
              <a:rPr sz="2000">
                <a:solidFill>
                  <a:srgbClr val="222B33"/>
                </a:solidFill>
                <a:latin typeface="Microsoft YaHei"/>
              </a:rPr>
              <a:t>▪ 例：碱进入水体使 pH 升高，伤害鱼类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12 部分“生态学信息”说明化学品泄漏或排放后对环境的危害，包括水生毒性（对鱼类等水生生物的毒害）、持久性和降解性（在环境中能留存多久）等。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认为少量化学品冲进下水道无害</a:t>
            </a:r>
          </a:p>
          <a:p>
            <a:pPr>
              <a:spcAft>
                <a:spcPts val="1000"/>
              </a:spcAft>
            </a:pPr>
            <a:r>
              <a:rPr sz="1500">
                <a:solidFill>
                  <a:srgbClr val="222B33"/>
                </a:solidFill>
                <a:latin typeface="Microsoft YaHei"/>
              </a:rPr>
              <a:t>▪ 只关心对人的危害，忽视对环境的危害</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第13部分：废弃处置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化学品本身和容器都要妥善处置</a:t>
            </a:r>
          </a:p>
          <a:p>
            <a:pPr>
              <a:spcAft>
                <a:spcPts val="1000"/>
              </a:spcAft>
            </a:pPr>
            <a:r>
              <a:rPr sz="2000">
                <a:solidFill>
                  <a:srgbClr val="222B33"/>
                </a:solidFill>
                <a:latin typeface="Microsoft YaHei"/>
              </a:rPr>
              <a:t>▪ 处置符合国家和地方规定</a:t>
            </a:r>
          </a:p>
          <a:p>
            <a:pPr>
              <a:spcAft>
                <a:spcPts val="1000"/>
              </a:spcAft>
            </a:pPr>
            <a:r>
              <a:rPr sz="2000">
                <a:solidFill>
                  <a:srgbClr val="222B33"/>
                </a:solidFill>
                <a:latin typeface="Microsoft YaHei"/>
              </a:rPr>
              <a:t>▪ 危险废物不能倒进下水道</a:t>
            </a:r>
          </a:p>
          <a:p>
            <a:pPr>
              <a:spcAft>
                <a:spcPts val="1000"/>
              </a:spcAft>
            </a:pPr>
            <a:r>
              <a:rPr sz="2000">
                <a:solidFill>
                  <a:srgbClr val="222B33"/>
                </a:solidFill>
                <a:latin typeface="Microsoft YaHei"/>
              </a:rPr>
              <a:t>▪ 碱液分类收集，中和等处理由专业人员做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13 部分“废弃处置”写明化学品本身及其包装容器的处置方法，处置必须符合国家和地方规定（《国家危险废物名录》等，以现行文本为准）。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把碱液、酸液直接倒入水槽</a:t>
            </a:r>
          </a:p>
          <a:p>
            <a:pPr>
              <a:spcAft>
                <a:spcPts val="1000"/>
              </a:spcAft>
            </a:pPr>
            <a:r>
              <a:rPr sz="1500">
                <a:solidFill>
                  <a:srgbClr val="222B33"/>
                </a:solidFill>
                <a:latin typeface="Microsoft YaHei"/>
              </a:rPr>
              <a:t>▪ 学生自行中和后排放</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第14部分：运输信息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联合国编号（UN 编号）：四位数字</a:t>
            </a:r>
          </a:p>
          <a:p>
            <a:pPr>
              <a:spcAft>
                <a:spcPts val="1000"/>
              </a:spcAft>
            </a:pPr>
            <a:r>
              <a:rPr sz="2000">
                <a:solidFill>
                  <a:srgbClr val="222B33"/>
                </a:solidFill>
                <a:latin typeface="Microsoft YaHei"/>
              </a:rPr>
              <a:t>▪ 正式运输名称</a:t>
            </a:r>
          </a:p>
          <a:p>
            <a:pPr>
              <a:spcAft>
                <a:spcPts val="1000"/>
              </a:spcAft>
            </a:pPr>
            <a:r>
              <a:rPr sz="2000">
                <a:solidFill>
                  <a:srgbClr val="222B33"/>
                </a:solidFill>
                <a:latin typeface="Microsoft YaHei"/>
              </a:rPr>
              <a:t>▪ 运输危险类别和包装类别（Ⅰ类危险最大）</a:t>
            </a:r>
          </a:p>
          <a:p>
            <a:pPr>
              <a:spcAft>
                <a:spcPts val="1000"/>
              </a:spcAft>
            </a:pPr>
            <a:r>
              <a:rPr sz="2000">
                <a:solidFill>
                  <a:srgbClr val="222B33"/>
                </a:solidFill>
                <a:latin typeface="Microsoft YaHei"/>
              </a:rPr>
              <a:t>▪ 例：氢氧化钠溶液属第 8 类腐蚀性物质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14 部分“运输信息”写明联合国编号（UN 编号，四位数字）、正式运输名称、运输危险类别和包装类别。包装类别分三类，Ⅰ类危险程度最大、Ⅱ类中等、Ⅲ类较小。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把危险化学品当普通快递寄送</a:t>
            </a:r>
          </a:p>
          <a:p>
            <a:pPr>
              <a:spcAft>
                <a:spcPts val="1000"/>
              </a:spcAft>
            </a:pPr>
            <a:r>
              <a:rPr sz="1500">
                <a:solidFill>
                  <a:srgbClr val="222B33"/>
                </a:solidFill>
                <a:latin typeface="Microsoft YaHei"/>
              </a:rPr>
              <a:t>▪ 认为运输信息与实验室无关</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第15部分：法规信息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列出适用的安全、健康、环境法规</a:t>
            </a:r>
          </a:p>
          <a:p>
            <a:pPr>
              <a:spcAft>
                <a:spcPts val="1000"/>
              </a:spcAft>
            </a:pPr>
            <a:r>
              <a:rPr sz="2000">
                <a:solidFill>
                  <a:srgbClr val="222B33"/>
                </a:solidFill>
                <a:latin typeface="Microsoft YaHei"/>
              </a:rPr>
              <a:t>▪ 国内主要看危险化学品安全法及配套目录</a:t>
            </a:r>
          </a:p>
          <a:p>
            <a:pPr>
              <a:spcAft>
                <a:spcPts val="1000"/>
              </a:spcAft>
            </a:pPr>
            <a:r>
              <a:rPr sz="2000">
                <a:solidFill>
                  <a:srgbClr val="222B33"/>
                </a:solidFill>
                <a:latin typeface="Microsoft YaHei"/>
              </a:rPr>
              <a:t>▪ 名录状态：是否列入监管名录</a:t>
            </a:r>
          </a:p>
          <a:p>
            <a:pPr>
              <a:spcAft>
                <a:spcPts val="1000"/>
              </a:spcAft>
            </a:pPr>
            <a:r>
              <a:rPr sz="2000">
                <a:solidFill>
                  <a:srgbClr val="222B33"/>
                </a:solidFill>
                <a:latin typeface="Microsoft YaHei"/>
              </a:rPr>
              <a:t>▪ 列入管制名录的，按专门规定管理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15 部分“法规信息”列出管理这种化学品的安全、健康和环境法规。国内主要依据《中华人民共和国危险化学品安全法》及《危险化学品安全管理条例》（以现行文本为准），以及《危险化学品目录》等。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不查名录状态，把管控化学品当普通试剂</a:t>
            </a:r>
          </a:p>
          <a:p>
            <a:pPr>
              <a:spcAft>
                <a:spcPts val="1000"/>
              </a:spcAft>
            </a:pPr>
            <a:r>
              <a:rPr sz="1500">
                <a:solidFill>
                  <a:srgbClr val="222B33"/>
                </a:solidFill>
                <a:latin typeface="Microsoft YaHei"/>
              </a:rPr>
              <a:t>▪ 把国外法规当作国内依据</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第16部分：其他信息和修订日期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16 部分是其他信息</a:t>
            </a:r>
          </a:p>
          <a:p>
            <a:pPr>
              <a:spcAft>
                <a:spcPts val="1000"/>
              </a:spcAft>
            </a:pPr>
            <a:r>
              <a:rPr sz="2000">
                <a:solidFill>
                  <a:srgbClr val="222B33"/>
                </a:solidFill>
                <a:latin typeface="Microsoft YaHei"/>
              </a:rPr>
              <a:t>▪ 写明编制和修订日期</a:t>
            </a:r>
          </a:p>
          <a:p>
            <a:pPr>
              <a:spcAft>
                <a:spcPts val="1000"/>
              </a:spcAft>
            </a:pPr>
            <a:r>
              <a:rPr sz="2000">
                <a:solidFill>
                  <a:srgbClr val="222B33"/>
                </a:solidFill>
                <a:latin typeface="Microsoft YaHei"/>
              </a:rPr>
              <a:t>▪ 据此判断说明书是不是最新版本</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 16 部分“其他信息”包括说明书的编制日期、修订日期和修订说明，以及缩略语、参考文献等。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从不看修订日期，多年使用旧版</a:t>
            </a:r>
          </a:p>
          <a:p>
            <a:pPr>
              <a:spcAft>
                <a:spcPts val="1000"/>
              </a:spcAft>
            </a:pPr>
            <a:r>
              <a:rPr sz="1500">
                <a:solidFill>
                  <a:srgbClr val="222B33"/>
                </a:solidFill>
                <a:latin typeface="Microsoft YaHei"/>
              </a:rPr>
              <a:t>▪ 读完说明书不把要求落实到规程中</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化学品安全技术说明书一共有几个部分？哪项国家标准规定了它的内容和顺序？</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12 个，GB 15258-2009</a:t>
            </a:r>
          </a:p>
          <a:p>
            <a:pPr algn="l"/>
            <a:r>
              <a:rPr sz="1500" b="0">
                <a:solidFill>
                  <a:srgbClr val="222B33"/>
                </a:solidFill>
                <a:latin typeface="Microsoft YaHei"/>
              </a:rPr>
              <a:t>B. 16 个，GB/T 16483-2008</a:t>
            </a:r>
          </a:p>
          <a:p>
            <a:pPr algn="l"/>
            <a:r>
              <a:rPr sz="1500" b="0">
                <a:solidFill>
                  <a:srgbClr val="222B33"/>
                </a:solidFill>
                <a:latin typeface="Microsoft YaHei"/>
              </a:rPr>
              <a:t>C. 16 个，GB 2894-2025</a:t>
            </a:r>
          </a:p>
          <a:p>
            <a:pPr algn="l"/>
            <a:r>
              <a:rPr sz="1500" b="0">
                <a:solidFill>
                  <a:srgbClr val="222B33"/>
                </a:solidFill>
                <a:latin typeface="Microsoft YaHei"/>
              </a:rPr>
              <a:t>D. 8 个，GB/T 17519-2013</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实验中氢氧化钠溅入眼睛，应首先查阅说明书的哪一部分（平时应提前读过）？</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 2 部分</a:t>
            </a:r>
          </a:p>
          <a:p>
            <a:pPr algn="l"/>
            <a:r>
              <a:rPr sz="1500" b="0">
                <a:solidFill>
                  <a:srgbClr val="222B33"/>
                </a:solidFill>
                <a:latin typeface="Microsoft YaHei"/>
              </a:rPr>
              <a:t>B. 第 4 部分</a:t>
            </a:r>
          </a:p>
          <a:p>
            <a:pPr algn="l"/>
            <a:r>
              <a:rPr sz="1500" b="0">
                <a:solidFill>
                  <a:srgbClr val="222B33"/>
                </a:solidFill>
                <a:latin typeface="Microsoft YaHei"/>
              </a:rPr>
              <a:t>C. 第 9 部分</a:t>
            </a:r>
          </a:p>
          <a:p>
            <a:pPr algn="l"/>
            <a:r>
              <a:rPr sz="1500" b="0">
                <a:solidFill>
                  <a:srgbClr val="222B33"/>
                </a:solidFill>
                <a:latin typeface="Microsoft YaHei"/>
              </a:rPr>
              <a:t>D. 第 14 部分</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判断：说明书第 11 部分毒性数据写着“无可用数据”，说明这种化学品无毒，可以不戴防护。</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要查某化学品不能和哪些物质混放、混倒，应看：</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 3 部分</a:t>
            </a:r>
          </a:p>
          <a:p>
            <a:pPr algn="l"/>
            <a:r>
              <a:rPr sz="1500" b="0">
                <a:solidFill>
                  <a:srgbClr val="222B33"/>
                </a:solidFill>
                <a:latin typeface="Microsoft YaHei"/>
              </a:rPr>
              <a:t>B. 第 7 部分和第 10 部分</a:t>
            </a:r>
          </a:p>
          <a:p>
            <a:pPr algn="l"/>
            <a:r>
              <a:rPr sz="1500" b="0">
                <a:solidFill>
                  <a:srgbClr val="222B33"/>
                </a:solidFill>
                <a:latin typeface="Microsoft YaHei"/>
              </a:rPr>
              <a:t>C. 第 12 部分</a:t>
            </a:r>
          </a:p>
          <a:p>
            <a:pPr algn="l"/>
            <a:r>
              <a:rPr sz="1500" b="0">
                <a:solidFill>
                  <a:srgbClr val="222B33"/>
                </a:solidFill>
                <a:latin typeface="Microsoft YaHei"/>
              </a:rPr>
              <a:t>D. 第 16 部分</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判断：职业接触限值越低，说明该物质吸入危害越小。</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简答：说明书的十六个部分可以按哪四个问题分组查阅？</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统一格式：十六部分，顺序固定</a:t>
            </a:r>
          </a:p>
          <a:p>
            <a:pPr>
              <a:spcAft>
                <a:spcPts val="800"/>
              </a:spcAft>
            </a:pPr>
            <a:r>
              <a:rPr sz="1500">
                <a:solidFill>
                  <a:srgbClr val="FFFFFF"/>
                </a:solidFill>
                <a:latin typeface="Microsoft YaHei"/>
              </a:rPr>
              <a:t>▪ K2  和旧版比：第2、3部分换了位置</a:t>
            </a:r>
          </a:p>
          <a:p>
            <a:pPr>
              <a:spcAft>
                <a:spcPts val="800"/>
              </a:spcAft>
            </a:pPr>
            <a:r>
              <a:rPr sz="1500">
                <a:solidFill>
                  <a:srgbClr val="FFFFFF"/>
                </a:solidFill>
                <a:latin typeface="Microsoft YaHei"/>
              </a:rPr>
              <a:t>▪ K3  按需排序：四个问题分组查</a:t>
            </a:r>
          </a:p>
          <a:p>
            <a:pPr>
              <a:spcAft>
                <a:spcPts val="800"/>
              </a:spcAft>
            </a:pPr>
            <a:r>
              <a:rPr sz="1500">
                <a:solidFill>
                  <a:srgbClr val="FFFFFF"/>
                </a:solidFill>
                <a:latin typeface="Microsoft YaHei"/>
              </a:rPr>
              <a:t>▪ K4  第1部分：认准是哪种化学品</a:t>
            </a:r>
          </a:p>
          <a:p>
            <a:pPr>
              <a:spcAft>
                <a:spcPts val="800"/>
              </a:spcAft>
            </a:pPr>
            <a:r>
              <a:rPr sz="1500">
                <a:solidFill>
                  <a:srgbClr val="FFFFFF"/>
                </a:solidFill>
                <a:latin typeface="Microsoft YaHei"/>
              </a:rPr>
              <a:t>▪ K5  第1部分：推荐用途和供应商</a:t>
            </a:r>
          </a:p>
          <a:p>
            <a:pPr>
              <a:spcAft>
                <a:spcPts val="800"/>
              </a:spcAft>
            </a:pPr>
            <a:r>
              <a:rPr sz="1500">
                <a:solidFill>
                  <a:srgbClr val="FFFFFF"/>
                </a:solidFill>
                <a:latin typeface="Microsoft YaHei"/>
              </a:rPr>
              <a:t>▪ K6  第2部分：危险性概述</a:t>
            </a:r>
          </a:p>
          <a:p>
            <a:pPr>
              <a:spcAft>
                <a:spcPts val="800"/>
              </a:spcAft>
            </a:pPr>
            <a:r>
              <a:rPr sz="1500">
                <a:solidFill>
                  <a:srgbClr val="FFFFFF"/>
                </a:solidFill>
                <a:latin typeface="Microsoft YaHei"/>
              </a:rPr>
              <a:t>▪ K7  例：氢氧化钠，信号词“危险”</a:t>
            </a:r>
          </a:p>
          <a:p>
            <a:pPr>
              <a:spcAft>
                <a:spcPts val="800"/>
              </a:spcAft>
            </a:pPr>
            <a:r>
              <a:rPr sz="1500">
                <a:solidFill>
                  <a:srgbClr val="FFFFFF"/>
                </a:solidFill>
                <a:latin typeface="Microsoft YaHei"/>
              </a:rPr>
              <a:t>▪ K8  第3部分：成分和浓度</a:t>
            </a:r>
          </a:p>
          <a:p>
            <a:pPr>
              <a:spcAft>
                <a:spcPts val="800"/>
              </a:spcAft>
            </a:pPr>
            <a:r>
              <a:rPr sz="1500">
                <a:solidFill>
                  <a:srgbClr val="FFFFFF"/>
                </a:solidFill>
                <a:latin typeface="Microsoft YaHei"/>
              </a:rPr>
              <a:t>▪ K9  第4部分：按接触途径急救</a:t>
            </a:r>
          </a:p>
          <a:p>
            <a:pPr>
              <a:spcAft>
                <a:spcPts val="800"/>
              </a:spcAft>
            </a:pPr>
            <a:r>
              <a:rPr sz="1500">
                <a:solidFill>
                  <a:srgbClr val="FFFFFF"/>
                </a:solidFill>
                <a:latin typeface="Microsoft YaHei"/>
              </a:rPr>
              <a:t>▪ K10  第4部分：症状和何时就医</a:t>
            </a:r>
          </a:p>
          <a:p>
            <a:pPr>
              <a:spcAft>
                <a:spcPts val="800"/>
              </a:spcAft>
            </a:pPr>
            <a:r>
              <a:rPr sz="1500">
                <a:solidFill>
                  <a:srgbClr val="FFFFFF"/>
                </a:solidFill>
                <a:latin typeface="Microsoft YaHei"/>
              </a:rPr>
              <a:t>▪ K11  例：误食碱，不催吐</a:t>
            </a:r>
          </a:p>
          <a:p>
            <a:pPr>
              <a:spcAft>
                <a:spcPts val="800"/>
              </a:spcAft>
            </a:pPr>
            <a:r>
              <a:rPr sz="1500">
                <a:solidFill>
                  <a:srgbClr val="FFFFFF"/>
                </a:solidFill>
                <a:latin typeface="Microsoft YaHei"/>
              </a:rPr>
              <a:t>▪ K12  用前先读急救，找到洗眼器</a:t>
            </a:r>
          </a:p>
          <a:p>
            <a:pPr>
              <a:spcAft>
                <a:spcPts val="800"/>
              </a:spcAft>
            </a:pPr>
            <a:r>
              <a:rPr sz="1500">
                <a:solidFill>
                  <a:srgbClr val="FFFFFF"/>
                </a:solidFill>
                <a:latin typeface="Microsoft YaHei"/>
              </a:rPr>
              <a:t>▪ K13  第5部分：灭火剂和特别危险</a:t>
            </a:r>
          </a:p>
          <a:p>
            <a:pPr>
              <a:spcAft>
                <a:spcPts val="800"/>
              </a:spcAft>
            </a:pPr>
            <a:r>
              <a:rPr sz="1500">
                <a:solidFill>
                  <a:srgbClr val="FFFFFF"/>
                </a:solidFill>
                <a:latin typeface="Microsoft YaHei"/>
              </a:rPr>
              <a:t>▪ K14  第5部分：消防防护，说明书交救援</a:t>
            </a:r>
          </a:p>
          <a:p>
            <a:pPr>
              <a:spcAft>
                <a:spcPts val="800"/>
              </a:spcAft>
            </a:pPr>
            <a:r>
              <a:rPr sz="1500">
                <a:solidFill>
                  <a:srgbClr val="FFFFFF"/>
                </a:solidFill>
                <a:latin typeface="Microsoft YaHei"/>
              </a:rPr>
              <a:t>▪ K15  第6部分：泄漏应急处理</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K16  第7部分：操作处置与储存</a:t>
            </a:r>
          </a:p>
          <a:p>
            <a:pPr>
              <a:spcAft>
                <a:spcPts val="800"/>
              </a:spcAft>
            </a:pPr>
            <a:r>
              <a:rPr sz="1500">
                <a:solidFill>
                  <a:srgbClr val="FFFFFF"/>
                </a:solidFill>
                <a:latin typeface="Microsoft YaHei"/>
              </a:rPr>
              <a:t>▪ K17  第8部分：工程控制优先</a:t>
            </a:r>
          </a:p>
          <a:p>
            <a:pPr>
              <a:spcAft>
                <a:spcPts val="800"/>
              </a:spcAft>
            </a:pPr>
            <a:r>
              <a:rPr sz="1500">
                <a:solidFill>
                  <a:srgbClr val="FFFFFF"/>
                </a:solidFill>
                <a:latin typeface="Microsoft YaHei"/>
              </a:rPr>
              <a:t>▪ K18  第8部分：职业接触限值</a:t>
            </a:r>
          </a:p>
          <a:p>
            <a:pPr>
              <a:spcAft>
                <a:spcPts val="800"/>
              </a:spcAft>
            </a:pPr>
            <a:r>
              <a:rPr sz="1500">
                <a:solidFill>
                  <a:srgbClr val="FFFFFF"/>
                </a:solidFill>
                <a:latin typeface="Microsoft YaHei"/>
              </a:rPr>
              <a:t>▪ K19  第8部分：个体防护要对得上</a:t>
            </a:r>
          </a:p>
          <a:p>
            <a:pPr>
              <a:spcAft>
                <a:spcPts val="800"/>
              </a:spcAft>
            </a:pPr>
            <a:r>
              <a:rPr sz="1500">
                <a:solidFill>
                  <a:srgbClr val="FFFFFF"/>
                </a:solidFill>
                <a:latin typeface="Microsoft YaHei"/>
              </a:rPr>
              <a:t>▪ K20  第9部分：理化特性</a:t>
            </a:r>
          </a:p>
          <a:p>
            <a:pPr>
              <a:spcAft>
                <a:spcPts val="800"/>
              </a:spcAft>
            </a:pPr>
            <a:r>
              <a:rPr sz="1500">
                <a:solidFill>
                  <a:srgbClr val="FFFFFF"/>
                </a:solidFill>
                <a:latin typeface="Microsoft YaHei"/>
              </a:rPr>
              <a:t>▪ K21  第9部分：闪点看易燃</a:t>
            </a:r>
          </a:p>
          <a:p>
            <a:pPr>
              <a:spcAft>
                <a:spcPts val="800"/>
              </a:spcAft>
            </a:pPr>
            <a:r>
              <a:rPr sz="1500">
                <a:solidFill>
                  <a:srgbClr val="FFFFFF"/>
                </a:solidFill>
                <a:latin typeface="Microsoft YaHei"/>
              </a:rPr>
              <a:t>▪ K22  第10部分：稳定性、反应性和禁配物</a:t>
            </a:r>
          </a:p>
          <a:p>
            <a:pPr>
              <a:spcAft>
                <a:spcPts val="800"/>
              </a:spcAft>
            </a:pPr>
            <a:r>
              <a:rPr sz="1500">
                <a:solidFill>
                  <a:srgbClr val="FFFFFF"/>
                </a:solidFill>
                <a:latin typeface="Microsoft YaHei"/>
              </a:rPr>
              <a:t>▪ K23  第11部分：毒理学信息</a:t>
            </a:r>
          </a:p>
          <a:p>
            <a:pPr>
              <a:spcAft>
                <a:spcPts val="800"/>
              </a:spcAft>
            </a:pPr>
            <a:r>
              <a:rPr sz="1500">
                <a:solidFill>
                  <a:srgbClr val="FFFFFF"/>
                </a:solidFill>
                <a:latin typeface="Microsoft YaHei"/>
              </a:rPr>
              <a:t>▪ K24  “无数据”不等于安全</a:t>
            </a:r>
          </a:p>
          <a:p>
            <a:pPr>
              <a:spcAft>
                <a:spcPts val="800"/>
              </a:spcAft>
            </a:pPr>
            <a:r>
              <a:rPr sz="1500">
                <a:solidFill>
                  <a:srgbClr val="FFFFFF"/>
                </a:solidFill>
                <a:latin typeface="Microsoft YaHei"/>
              </a:rPr>
              <a:t>▪ K25  第12部分：生态学信息</a:t>
            </a:r>
          </a:p>
          <a:p>
            <a:pPr>
              <a:spcAft>
                <a:spcPts val="800"/>
              </a:spcAft>
            </a:pPr>
            <a:r>
              <a:rPr sz="1500">
                <a:solidFill>
                  <a:srgbClr val="FFFFFF"/>
                </a:solidFill>
                <a:latin typeface="Microsoft YaHei"/>
              </a:rPr>
              <a:t>▪ K26  第13部分：废弃处置</a:t>
            </a:r>
          </a:p>
          <a:p>
            <a:pPr>
              <a:spcAft>
                <a:spcPts val="800"/>
              </a:spcAft>
            </a:pPr>
            <a:r>
              <a:rPr sz="1500">
                <a:solidFill>
                  <a:srgbClr val="FFFFFF"/>
                </a:solidFill>
                <a:latin typeface="Microsoft YaHei"/>
              </a:rPr>
              <a:t>▪ K27  第14部分：运输信息</a:t>
            </a:r>
          </a:p>
          <a:p>
            <a:pPr>
              <a:spcAft>
                <a:spcPts val="800"/>
              </a:spcAft>
            </a:pPr>
            <a:r>
              <a:rPr sz="1500">
                <a:solidFill>
                  <a:srgbClr val="FFFFFF"/>
                </a:solidFill>
                <a:latin typeface="Microsoft YaHei"/>
              </a:rPr>
              <a:t>▪ K28  第15部分：法规信息</a:t>
            </a:r>
          </a:p>
          <a:p>
            <a:pPr>
              <a:spcAft>
                <a:spcPts val="800"/>
              </a:spcAft>
            </a:pPr>
            <a:r>
              <a:rPr sz="1500">
                <a:solidFill>
                  <a:srgbClr val="FFFFFF"/>
                </a:solidFill>
                <a:latin typeface="Microsoft YaHei"/>
              </a:rPr>
              <a:t>▪ K29  第16部分：其他信息和修订日期</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042</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毒性、暴露途径与接触限值</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70 镜）　适用对象：全体使用化学品的高校本科生、研究生和教职工（必修）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能说出化学品进入人体的四条途径（吸入、皮肤和眼睛接触、注入、食入）及各自的防护要点。</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能说出急性与慢性毒性、剂量—反应关系，以及致癌、致突变、生殖毒性物质和特殊人群的防护要求。</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能说出国内职业接触限值的三类（时间加权平均、短时间接触、最高容许浓度）和立即威胁生命或健康浓度的含义，具体数值以 GBZ 2.1 现行文本为准。</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能判断“低于限值不等于安全”，知道怀疑超标时请专业人员检测、结果要告知全体人员。</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《中华人民共和国职业病防治法》（以现行文本为准）：工作场所职业病危害因素检测、评价和告知，职业健康检查</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2.1（以现行文本为准）《工作场所有害因素职业接触限值 第1部分：化学有害因素》：时间加权平均容许浓度、短时间接触容许浓度、最高容许浓度</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18664-2025（以现行文本为准）《呼吸防护装备的选择、使用和维护》：立即威胁生命或健康的环境</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系列（以现行文本为准）《化学品分类和标签规范》：急性毒性、致癌性、生殖细胞致突变性、生殖毒性等健康危害分类</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内容和项目顺序》：第 8 部分接触控制、第 11 部分毒理学信息</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日起施行）及《危险化学品安全管理条例》（以现行文本为准）：剧毒化学品等的使用管理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《女职工劳动保护特别规定》（以现行文本为准）：孕期、哺乳期女职工禁忌从事的作业</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号，以现行文本为准）：实验室禁止饮食，开展风险评估和个人防护</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先想清楚：化学品怎么进入人体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第一步：想清楚化学品怎么进入人体</a:t>
            </a:r>
          </a:p>
          <a:p>
            <a:pPr>
              <a:spcAft>
                <a:spcPts val="1000"/>
              </a:spcAft>
            </a:pPr>
            <a:r>
              <a:rPr sz="2000">
                <a:solidFill>
                  <a:srgbClr val="222B33"/>
                </a:solidFill>
                <a:latin typeface="Microsoft YaHei"/>
              </a:rPr>
              <a:t>▪ 四条途径：吸入、皮肤和眼睛接触、注入、食入</a:t>
            </a:r>
          </a:p>
          <a:p>
            <a:pPr>
              <a:spcAft>
                <a:spcPts val="1000"/>
              </a:spcAft>
            </a:pPr>
            <a:r>
              <a:rPr sz="2000">
                <a:solidFill>
                  <a:srgbClr val="222B33"/>
                </a:solidFill>
                <a:latin typeface="Microsoft YaHei"/>
              </a:rPr>
              <a:t>▪ 总原则：别让化学品碰到你</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做风险评估的第一步，是想清楚化学品会通过什么途径进入人体。危险物质进入人体有四条途径：吸入蒸气、气体、粉尘或烟雾；皮肤和眼睛接触（溅入眼睛、皮肤沾染）；注入（被扎破、割伤）；食入（吃进嘴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只防溅到身上，忽视吸入</a:t>
            </a:r>
          </a:p>
          <a:p>
            <a:pPr>
              <a:spcAft>
                <a:spcPts val="1000"/>
              </a:spcAft>
            </a:pPr>
            <a:r>
              <a:rPr sz="1500">
                <a:solidFill>
                  <a:srgbClr val="222B33"/>
                </a:solidFill>
                <a:latin typeface="Microsoft YaHei"/>
              </a:rPr>
              <a:t>▪ 不做途径分析就开始实验</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吸入：最常见，闻到就已吸入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吸入是最常见的途径</a:t>
            </a:r>
          </a:p>
          <a:p>
            <a:pPr>
              <a:spcAft>
                <a:spcPts val="1000"/>
              </a:spcAft>
            </a:pPr>
            <a:r>
              <a:rPr sz="2000">
                <a:solidFill>
                  <a:srgbClr val="222B33"/>
                </a:solidFill>
                <a:latin typeface="Microsoft YaHei"/>
              </a:rPr>
              <a:t>▪ 气体、液体蒸气、固体粉尘烟雾都能吸入</a:t>
            </a:r>
          </a:p>
          <a:p>
            <a:pPr>
              <a:spcAft>
                <a:spcPts val="1000"/>
              </a:spcAft>
            </a:pPr>
            <a:r>
              <a:rPr sz="2000">
                <a:solidFill>
                  <a:srgbClr val="222B33"/>
                </a:solidFill>
                <a:latin typeface="Microsoft YaHei"/>
              </a:rPr>
              <a:t>▪ 闻到气味，说明已经吸进去了</a:t>
            </a:r>
          </a:p>
          <a:p>
            <a:pPr>
              <a:spcAft>
                <a:spcPts val="1000"/>
              </a:spcAft>
            </a:pPr>
            <a:r>
              <a:rPr sz="2000">
                <a:solidFill>
                  <a:srgbClr val="222B33"/>
                </a:solidFill>
                <a:latin typeface="Microsoft YaHei"/>
              </a:rPr>
              <a:t>▪ 无色无味或浓度低，闻不到也可能有害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吸入是实验室里最常见的暴露途径。气体、挥发性液体的蒸气、固体的粉尘和烟雾都可能被吸入；有些化学品不用碰到就能伤人。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用“有没有味道”判断是否安全</a:t>
            </a:r>
          </a:p>
          <a:p>
            <a:pPr>
              <a:spcAft>
                <a:spcPts val="1000"/>
              </a:spcAft>
            </a:pPr>
            <a:r>
              <a:rPr sz="1500">
                <a:solidFill>
                  <a:srgbClr val="222B33"/>
                </a:solidFill>
                <a:latin typeface="Microsoft YaHei"/>
              </a:rPr>
              <a:t>▪ 在敞开台面使用挥发性溶剂</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皮肤和眼睛：眼睛单列一条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第二常见的途径是皮肤和眼睛接触</a:t>
            </a:r>
          </a:p>
          <a:p>
            <a:pPr>
              <a:spcAft>
                <a:spcPts val="1000"/>
              </a:spcAft>
            </a:pPr>
            <a:r>
              <a:rPr sz="2000">
                <a:solidFill>
                  <a:srgbClr val="222B33"/>
                </a:solidFill>
                <a:latin typeface="Microsoft YaHei"/>
              </a:rPr>
              <a:t>▪ 眼睛极其娇嫩，要单独当一条途径</a:t>
            </a:r>
          </a:p>
          <a:p>
            <a:pPr>
              <a:spcAft>
                <a:spcPts val="1000"/>
              </a:spcAft>
            </a:pPr>
            <a:r>
              <a:rPr sz="2000">
                <a:solidFill>
                  <a:srgbClr val="222B33"/>
                </a:solidFill>
                <a:latin typeface="Microsoft YaHei"/>
              </a:rPr>
              <a:t>▪ 戴手套、穿实验服、戴护目镜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皮肤和眼睛接触是第二常见的暴露途径。化学品可以灼伤皮肤，有的还能透过皮肤进入血液。</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嫌麻烦不戴护目镜</a:t>
            </a:r>
          </a:p>
          <a:p>
            <a:pPr>
              <a:spcAft>
                <a:spcPts val="1000"/>
              </a:spcAft>
            </a:pPr>
            <a:r>
              <a:rPr sz="1500">
                <a:solidFill>
                  <a:srgbClr val="222B33"/>
                </a:solidFill>
                <a:latin typeface="Microsoft YaHei"/>
              </a:rPr>
              <a:t>▪ 戴手套后用手揉眼睛</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注入和食入：碎玻璃与入口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被沾化学品的碎玻璃、针头割伤就是注入</a:t>
            </a:r>
          </a:p>
          <a:p>
            <a:pPr>
              <a:spcAft>
                <a:spcPts val="1000"/>
              </a:spcAft>
            </a:pPr>
            <a:r>
              <a:rPr sz="2000">
                <a:solidFill>
                  <a:srgbClr val="222B33"/>
                </a:solidFill>
                <a:latin typeface="Microsoft YaHei"/>
              </a:rPr>
              <a:t>▪ 严禁品尝化学品，实验室严禁饮食</a:t>
            </a:r>
          </a:p>
          <a:p>
            <a:pPr>
              <a:spcAft>
                <a:spcPts val="1000"/>
              </a:spcAft>
            </a:pPr>
            <a:r>
              <a:rPr sz="2000">
                <a:solidFill>
                  <a:srgbClr val="222B33"/>
                </a:solidFill>
                <a:latin typeface="Microsoft YaHei"/>
              </a:rPr>
              <a:t>▪ 手套沾染会带到嘴边，也会污染样品</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注入是指化学品通过伤口直接进入体内，例如被沾有化学品的碎玻璃割伤、被针头扎伤。规范处理锐器和碎玻璃（见第 029 课）就能大大降低这种风险。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戴着手套接电话、摸门把手</a:t>
            </a:r>
          </a:p>
          <a:p>
            <a:pPr>
              <a:spcAft>
                <a:spcPts val="1000"/>
              </a:spcAft>
            </a:pPr>
            <a:r>
              <a:rPr sz="1500">
                <a:solidFill>
                  <a:srgbClr val="222B33"/>
                </a:solidFill>
                <a:latin typeface="Microsoft YaHei"/>
              </a:rPr>
              <a:t>▪ 在实验室喝水、吃零食</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例：农药能吸入，也能透皮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农药本身有毒，能吸入，也能透过皮肤吸收</a:t>
            </a:r>
          </a:p>
          <a:p>
            <a:pPr>
              <a:spcAft>
                <a:spcPts val="1000"/>
              </a:spcAft>
            </a:pPr>
            <a:r>
              <a:rPr sz="2000">
                <a:solidFill>
                  <a:srgbClr val="222B33"/>
                </a:solidFill>
                <a:latin typeface="Microsoft YaHei"/>
              </a:rPr>
              <a:t>▪ 配含农药的培养基，在通风柜里做</a:t>
            </a:r>
          </a:p>
          <a:p>
            <a:pPr>
              <a:spcAft>
                <a:spcPts val="1000"/>
              </a:spcAft>
            </a:pPr>
            <a:r>
              <a:rPr sz="2000">
                <a:solidFill>
                  <a:srgbClr val="222B33"/>
                </a:solidFill>
                <a:latin typeface="Microsoft YaHei"/>
              </a:rPr>
              <a:t>▪ 剧毒品种按规定领用，用多少领多少</a:t>
            </a:r>
          </a:p>
          <a:p>
            <a:pPr>
              <a:spcAft>
                <a:spcPts val="1000"/>
              </a:spcAft>
            </a:pPr>
            <a:r>
              <a:rPr sz="2000">
                <a:solidFill>
                  <a:srgbClr val="222B33"/>
                </a:solidFill>
                <a:latin typeface="Microsoft YaHei"/>
              </a:rPr>
              <a:t>▪ 沾到皮肤，马上用大量清水冲洗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以微生物降解农药的实验为例：实验要用到农药，而农药本身就是毒物，既可能被吸入，也能透过皮肤吸收。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认为农药是“常见物品”不用防护</a:t>
            </a:r>
          </a:p>
          <a:p>
            <a:pPr>
              <a:spcAft>
                <a:spcPts val="1000"/>
              </a:spcAft>
            </a:pPr>
            <a:r>
              <a:rPr sz="1500">
                <a:solidFill>
                  <a:srgbClr val="222B33"/>
                </a:solidFill>
                <a:latin typeface="Microsoft YaHei"/>
              </a:rPr>
              <a:t>▪ 一次领用大量剧毒品种存放在实验台</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未知物一律按有毒对待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未知样品，一律当有毒的对待</a:t>
            </a:r>
          </a:p>
          <a:p>
            <a:pPr>
              <a:spcAft>
                <a:spcPts val="1000"/>
              </a:spcAft>
            </a:pPr>
            <a:r>
              <a:rPr sz="2000">
                <a:solidFill>
                  <a:srgbClr val="222B33"/>
                </a:solidFill>
                <a:latin typeface="Microsoft YaHei"/>
              </a:rPr>
              <a:t>▪ 不闻、不尝、不用手碰</a:t>
            </a:r>
          </a:p>
          <a:p>
            <a:pPr>
              <a:spcAft>
                <a:spcPts val="1000"/>
              </a:spcAft>
            </a:pPr>
            <a:r>
              <a:rPr sz="2000">
                <a:solidFill>
                  <a:srgbClr val="222B33"/>
                </a:solidFill>
                <a:latin typeface="Microsoft YaHei"/>
              </a:rPr>
              <a:t>▪ 戴好手套护目镜，只取需要的一点</a:t>
            </a:r>
          </a:p>
          <a:p>
            <a:pPr>
              <a:spcAft>
                <a:spcPts val="1000"/>
              </a:spcAft>
            </a:pPr>
            <a:r>
              <a:rPr sz="2000">
                <a:solidFill>
                  <a:srgbClr val="222B33"/>
                </a:solidFill>
                <a:latin typeface="Microsoft YaHei"/>
              </a:rPr>
              <a:t>▪ 来历不明的，按最危险防护，问清再处理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新合成的产物、来历不明或标签缺失的样品，毒性并不清楚，一律按有毒物质对待：不闻、不尝、不用手直接接触，戴好手套和护目镜，只取需要的最少量。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闻气味来判断未知物</a:t>
            </a:r>
          </a:p>
          <a:p>
            <a:pPr>
              <a:spcAft>
                <a:spcPts val="1000"/>
              </a:spcAft>
            </a:pPr>
            <a:r>
              <a:rPr sz="1500">
                <a:solidFill>
                  <a:srgbClr val="222B33"/>
                </a:solidFill>
                <a:latin typeface="Microsoft YaHei"/>
              </a:rPr>
              <a:t>▪ 认为自己合成的东西“应该没毒”</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急性与慢性：伤害会累积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毒性分急性和慢性</a:t>
            </a:r>
          </a:p>
          <a:p>
            <a:pPr>
              <a:spcAft>
                <a:spcPts val="1000"/>
              </a:spcAft>
            </a:pPr>
            <a:r>
              <a:rPr sz="1700">
                <a:solidFill>
                  <a:srgbClr val="222B33"/>
                </a:solidFill>
                <a:latin typeface="Microsoft YaHei"/>
              </a:rPr>
              <a:t>▪ 急性：腐蚀灼伤、急性中毒，要及时处理</a:t>
            </a:r>
          </a:p>
          <a:p>
            <a:pPr>
              <a:spcAft>
                <a:spcPts val="1000"/>
              </a:spcAft>
            </a:pPr>
            <a:r>
              <a:rPr sz="1700">
                <a:solidFill>
                  <a:srgbClr val="222B33"/>
                </a:solidFill>
                <a:latin typeface="Microsoft YaHei"/>
              </a:rPr>
              <a:t>▪ 一次没事不等于没事，长期小量接触会累积</a:t>
            </a:r>
          </a:p>
          <a:p>
            <a:pPr>
              <a:spcAft>
                <a:spcPts val="1000"/>
              </a:spcAft>
            </a:pPr>
            <a:r>
              <a:rPr sz="1700">
                <a:solidFill>
                  <a:srgbClr val="222B33"/>
                </a:solidFill>
                <a:latin typeface="Microsoft YaHei"/>
              </a:rPr>
              <a:t>▪ 慢性危害：癌症、呼吸系统疾病、神经损害</a:t>
            </a:r>
          </a:p>
          <a:p>
            <a:pPr>
              <a:spcAft>
                <a:spcPts val="1000"/>
              </a:spcAft>
            </a:pPr>
            <a:r>
              <a:rPr sz="1700">
                <a:solidFill>
                  <a:srgbClr val="222B33"/>
                </a:solidFill>
                <a:latin typeface="Microsoft YaHei"/>
              </a:rPr>
              <a:t>▪ 少接触，就少受伤、少生病、少留后患</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化学品对人体的危害分为急性和慢性。急性危害在接触后短时间内出现，如腐蚀灼伤、急性中毒；局部腐蚀造成的伤害往往难以恢复，中毒要及时处理。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“做了很多次都没事”，就不再防护</a:t>
            </a:r>
          </a:p>
          <a:p>
            <a:pPr>
              <a:spcAft>
                <a:spcPts val="1000"/>
              </a:spcAft>
            </a:pPr>
            <a:r>
              <a:rPr sz="1500">
                <a:solidFill>
                  <a:srgbClr val="222B33"/>
                </a:solidFill>
                <a:latin typeface="Microsoft YaHei"/>
              </a:rPr>
              <a:t>▪ 只关注急性症状，忽视长期慢性影响</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剂量决定毒性：剂量—反应</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剂量越大，伤害越重：剂量—反应关系</a:t>
            </a:r>
          </a:p>
          <a:p>
            <a:pPr>
              <a:spcAft>
                <a:spcPts val="1000"/>
              </a:spcAft>
            </a:pPr>
            <a:r>
              <a:rPr sz="2000">
                <a:solidFill>
                  <a:srgbClr val="222B33"/>
                </a:solidFill>
                <a:latin typeface="Microsoft YaHei"/>
              </a:rPr>
              <a:t>▪ 毒性强的物质，很小剂量就能伤人</a:t>
            </a:r>
          </a:p>
          <a:p>
            <a:pPr>
              <a:spcAft>
                <a:spcPts val="1000"/>
              </a:spcAft>
            </a:pPr>
            <a:r>
              <a:rPr sz="2000">
                <a:solidFill>
                  <a:srgbClr val="222B33"/>
                </a:solidFill>
                <a:latin typeface="Microsoft YaHei"/>
              </a:rPr>
              <a:t>▪ 半数致死量越小，毒性越大（见第 041 课）</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毒理学的基本规律是“剂量决定毒性”：同一种物质，进入人体的剂量（或接触的浓度和时间）越大，产生的伤害越重，这叫剂量—反应关系。所以控制接触量、缩短接触时间，是降低危害的根本办法。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认为“只用一点点”就一定安全</a:t>
            </a:r>
          </a:p>
          <a:p>
            <a:pPr>
              <a:spcAft>
                <a:spcPts val="1000"/>
              </a:spcAft>
            </a:pPr>
            <a:r>
              <a:rPr sz="1500">
                <a:solidFill>
                  <a:srgbClr val="222B33"/>
                </a:solidFill>
                <a:latin typeface="Microsoft YaHei"/>
              </a:rPr>
              <a:t>▪ 把半数致死量的大小理解反</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致癌、致畸、致突变与特殊人群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致癌、致突变、生殖毒性物质要格外防护</a:t>
            </a:r>
          </a:p>
          <a:p>
            <a:pPr>
              <a:spcAft>
                <a:spcPts val="1000"/>
              </a:spcAft>
            </a:pPr>
            <a:r>
              <a:rPr sz="2000">
                <a:solidFill>
                  <a:srgbClr val="222B33"/>
                </a:solidFill>
                <a:latin typeface="Microsoft YaHei"/>
              </a:rPr>
              <a:t>▪ 看标签和说明书上的健康危害象形图</a:t>
            </a:r>
          </a:p>
          <a:p>
            <a:pPr>
              <a:spcAft>
                <a:spcPts val="1000"/>
              </a:spcAft>
            </a:pPr>
            <a:r>
              <a:rPr sz="2000">
                <a:solidFill>
                  <a:srgbClr val="222B33"/>
                </a:solidFill>
                <a:latin typeface="Microsoft YaHei"/>
              </a:rPr>
              <a:t>▪ 孕期、哺乳期主动报告，调整实验工作</a:t>
            </a:r>
          </a:p>
          <a:p>
            <a:pPr>
              <a:spcAft>
                <a:spcPts val="1000"/>
              </a:spcAft>
            </a:pPr>
            <a:r>
              <a:rPr sz="2000">
                <a:solidFill>
                  <a:srgbClr val="222B33"/>
                </a:solidFill>
                <a:latin typeface="Microsoft YaHei"/>
              </a:rPr>
              <a:t>▪ 过敏、敏感人群需要额外保护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GB 30000 系列中的致癌性、生殖细胞致突变性、生殖毒性（可能致畸、影响生育）属于严重的慢性健康危害，标签上通常带“健康危害”象形图。使用这类物质要尽量用替代品、减少用量，在通风柜内操作，做好个体防护，并按本校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怀孕后不好意思说，继续接触有害物质</a:t>
            </a:r>
          </a:p>
          <a:p>
            <a:pPr>
              <a:spcAft>
                <a:spcPts val="1000"/>
              </a:spcAft>
            </a:pPr>
            <a:r>
              <a:rPr sz="1500">
                <a:solidFill>
                  <a:srgbClr val="222B33"/>
                </a:solidFill>
                <a:latin typeface="Microsoft YaHei"/>
              </a:rPr>
              <a:t>▪ 使用致癌物时不进通风柜</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症状可能迟发，就医说明接触史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有些中毒症状会迟发</a:t>
            </a:r>
          </a:p>
          <a:p>
            <a:pPr>
              <a:spcAft>
                <a:spcPts val="1000"/>
              </a:spcAft>
            </a:pPr>
            <a:r>
              <a:rPr sz="2000">
                <a:solidFill>
                  <a:srgbClr val="222B33"/>
                </a:solidFill>
                <a:latin typeface="Microsoft YaHei"/>
              </a:rPr>
              <a:t>▪ 就医时说清接触过什么，带上说明书</a:t>
            </a:r>
          </a:p>
          <a:p>
            <a:pPr>
              <a:spcAft>
                <a:spcPts val="1000"/>
              </a:spcAft>
            </a:pPr>
            <a:r>
              <a:rPr sz="2000">
                <a:solidFill>
                  <a:srgbClr val="222B33"/>
                </a:solidFill>
                <a:latin typeface="Microsoft YaHei"/>
              </a:rPr>
              <a:t>▪ 同时报告负责人，如实记录</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有些化学品中毒的症状不会立刻出现，可能几小时甚至更久以后才显现。接触后即使暂时没有不适，也不能掉以轻心。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当时没症状就不报告</a:t>
            </a:r>
          </a:p>
          <a:p>
            <a:pPr>
              <a:spcAft>
                <a:spcPts val="1000"/>
              </a:spcAft>
            </a:pPr>
            <a:r>
              <a:rPr sz="1500">
                <a:solidFill>
                  <a:srgbClr val="222B33"/>
                </a:solidFill>
                <a:latin typeface="Microsoft YaHei"/>
              </a:rPr>
              <a:t>▪ 就医时说不清接触了什么</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接触限值：空气中有害物的浓度界线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接触限值指工作场所空气中有害物的浓度界线</a:t>
            </a:r>
          </a:p>
          <a:p>
            <a:pPr>
              <a:spcAft>
                <a:spcPts val="1000"/>
              </a:spcAft>
            </a:pPr>
            <a:r>
              <a:rPr sz="2000">
                <a:solidFill>
                  <a:srgbClr val="222B33"/>
                </a:solidFill>
                <a:latin typeface="Microsoft YaHei"/>
              </a:rPr>
              <a:t>▪ 在此之下，多数人长期接触不受伤害</a:t>
            </a:r>
          </a:p>
          <a:p>
            <a:pPr>
              <a:spcAft>
                <a:spcPts val="1000"/>
              </a:spcAft>
            </a:pPr>
            <a:r>
              <a:rPr sz="2000">
                <a:solidFill>
                  <a:srgbClr val="222B33"/>
                </a:solidFill>
                <a:latin typeface="Microsoft YaHei"/>
              </a:rPr>
              <a:t>▪ 每种物质限值不同，没有统一的数</a:t>
            </a:r>
          </a:p>
          <a:p>
            <a:pPr>
              <a:spcAft>
                <a:spcPts val="1000"/>
              </a:spcAft>
            </a:pPr>
            <a:r>
              <a:rPr sz="2000">
                <a:solidFill>
                  <a:srgbClr val="222B33"/>
                </a:solidFill>
                <a:latin typeface="Microsoft YaHei"/>
              </a:rPr>
              <a:t>▪ 实验室不是例外，同样要遵守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职业接触限值是针对工作场所空气中有害物质浓度规定的界线：在此之下，绝大多数人长期反复接触不会受到明显的健康损害。国外资料中常见的“阈限值”等也是类似概念，国内统一按 GBZ 2.1（以现行文本为准）执行。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以为接触限值只管工厂，不管实验室</a:t>
            </a:r>
          </a:p>
          <a:p>
            <a:pPr>
              <a:spcAft>
                <a:spcPts val="1000"/>
              </a:spcAft>
            </a:pPr>
            <a:r>
              <a:rPr sz="1500">
                <a:solidFill>
                  <a:srgbClr val="222B33"/>
                </a:solidFill>
                <a:latin typeface="Microsoft YaHei"/>
              </a:rPr>
              <a:t>▪ 凭记忆说限值，不查标准</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国内三类限值，以GBZ 2.1为准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国内看 GBZ 2.1 职业接触限值</a:t>
            </a:r>
          </a:p>
          <a:p>
            <a:pPr>
              <a:spcAft>
                <a:spcPts val="1000"/>
              </a:spcAft>
            </a:pPr>
            <a:r>
              <a:rPr sz="2000">
                <a:solidFill>
                  <a:srgbClr val="222B33"/>
                </a:solidFill>
                <a:latin typeface="Microsoft YaHei"/>
              </a:rPr>
              <a:t>▪ 三类：时间加权平均、短时间接触、最高容许</a:t>
            </a:r>
          </a:p>
          <a:p>
            <a:pPr>
              <a:spcAft>
                <a:spcPts val="1000"/>
              </a:spcAft>
            </a:pPr>
            <a:r>
              <a:rPr sz="2000">
                <a:solidFill>
                  <a:srgbClr val="222B33"/>
                </a:solidFill>
                <a:latin typeface="Microsoft YaHei"/>
              </a:rPr>
              <a:t>▪ 国外缩写只作了解，以国标为准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我国化学有害因素的职业接触限值由 GBZ 2.1 规定，主要分三类：时间加权平均容许浓度（PC-TWA）、短时间接触容许浓度（PC-STEL）和最高容许浓度（MAC）。</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用进口说明书上的国外限值作国内依据</a:t>
            </a:r>
          </a:p>
          <a:p>
            <a:pPr>
              <a:spcAft>
                <a:spcPts val="1000"/>
              </a:spcAft>
            </a:pPr>
            <a:r>
              <a:rPr sz="1500">
                <a:solidFill>
                  <a:srgbClr val="222B33"/>
                </a:solidFill>
                <a:latin typeface="Microsoft YaHei"/>
              </a:rPr>
              <a:t>▪ 只知道一种限值，不知道还有短时和最高限值</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时间加权平均：整天平均不能超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把一天里高高低低的浓度平均一下</a:t>
            </a:r>
          </a:p>
          <a:p>
            <a:pPr>
              <a:spcAft>
                <a:spcPts val="1000"/>
              </a:spcAft>
            </a:pPr>
            <a:r>
              <a:rPr sz="2000">
                <a:solidFill>
                  <a:srgbClr val="222B33"/>
                </a:solidFill>
                <a:latin typeface="Microsoft YaHei"/>
              </a:rPr>
              <a:t>▪ 按正常工作日平均，平均值不能超</a:t>
            </a:r>
          </a:p>
          <a:p>
            <a:pPr>
              <a:spcAft>
                <a:spcPts val="1000"/>
              </a:spcAft>
            </a:pPr>
            <a:r>
              <a:rPr sz="2000">
                <a:solidFill>
                  <a:srgbClr val="222B33"/>
                </a:solidFill>
                <a:latin typeface="Microsoft YaHei"/>
              </a:rPr>
              <a:t>▪ 长期接触不超这条线，正常工作不伤身</a:t>
            </a:r>
          </a:p>
          <a:p>
            <a:pPr>
              <a:spcAft>
                <a:spcPts val="1000"/>
              </a:spcAft>
            </a:pPr>
            <a:r>
              <a:rPr sz="2000">
                <a:solidFill>
                  <a:srgbClr val="222B33"/>
                </a:solidFill>
                <a:latin typeface="Microsoft YaHei"/>
              </a:rPr>
              <a:t>▪ 具体数值查国家标准，不靠背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时间加权平均容许浓度，是把一个工作日内高低变化的接触浓度按时间加权平均后的容许值，用来控制长期、每天的接触。按正常工作日计算的平均浓度不能超过它；长期接触不超过这条线，绝大多数人正常工作不会损害健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拿一次瞬时读数直接和平均限值比较</a:t>
            </a:r>
          </a:p>
          <a:p>
            <a:pPr>
              <a:spcAft>
                <a:spcPts val="1000"/>
              </a:spcAft>
            </a:pPr>
            <a:r>
              <a:rPr sz="1500">
                <a:solidFill>
                  <a:srgbClr val="222B33"/>
                </a:solidFill>
                <a:latin typeface="Microsoft YaHei"/>
              </a:rPr>
              <a:t>▪ 记错数值，不查标准</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短时间接触：尖峰也不能超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倒试剂、开瓶时，浓度会短暂冒高</a:t>
            </a:r>
          </a:p>
          <a:p>
            <a:pPr>
              <a:spcAft>
                <a:spcPts val="1000"/>
              </a:spcAft>
            </a:pPr>
            <a:r>
              <a:rPr sz="2000">
                <a:solidFill>
                  <a:srgbClr val="222B33"/>
                </a:solidFill>
                <a:latin typeface="Microsoft YaHei"/>
              </a:rPr>
              <a:t>▪ 短时间接触容许浓度管短时高峰</a:t>
            </a:r>
          </a:p>
          <a:p>
            <a:pPr>
              <a:spcAft>
                <a:spcPts val="1000"/>
              </a:spcAft>
            </a:pPr>
            <a:r>
              <a:rPr sz="2000">
                <a:solidFill>
                  <a:srgbClr val="222B33"/>
                </a:solidFill>
                <a:latin typeface="Microsoft YaHei"/>
              </a:rPr>
              <a:t>▪ 平均没超，尖峰超了也不行</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开瓶、倾倒试剂、转移溶剂时，空气中的浓度会短暂冒高。短时间接触容许浓度规定了短时间内（具体时长按 GBZ 2.1 现行文本）接触浓度的上限，管的就是这种短时高峰。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认为“平均没超就行”</a:t>
            </a:r>
          </a:p>
          <a:p>
            <a:pPr>
              <a:spcAft>
                <a:spcPts val="1000"/>
              </a:spcAft>
            </a:pPr>
            <a:r>
              <a:rPr sz="1500">
                <a:solidFill>
                  <a:srgbClr val="222B33"/>
                </a:solidFill>
                <a:latin typeface="Microsoft YaHei"/>
              </a:rPr>
              <a:t>▪ 在通风柜外开瓶、倒溶剂</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最高容许浓度：任何时候不能超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最高容许浓度：任何时候都不能超过</a:t>
            </a:r>
          </a:p>
          <a:p>
            <a:pPr>
              <a:spcAft>
                <a:spcPts val="1000"/>
              </a:spcAft>
            </a:pPr>
            <a:r>
              <a:rPr sz="2000">
                <a:solidFill>
                  <a:srgbClr val="222B33"/>
                </a:solidFill>
                <a:latin typeface="Microsoft YaHei"/>
              </a:rPr>
              <a:t>▪ 对刺激性强、作用快的物质规定</a:t>
            </a:r>
          </a:p>
          <a:p>
            <a:pPr>
              <a:spcAft>
                <a:spcPts val="1000"/>
              </a:spcAft>
            </a:pPr>
            <a:r>
              <a:rPr sz="2000">
                <a:solidFill>
                  <a:srgbClr val="222B33"/>
                </a:solidFill>
                <a:latin typeface="Microsoft YaHei"/>
              </a:rPr>
              <a:t>▪ 一碰到就是超标，立即停止并处理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最高容许浓度是指在一个工作日内、任何时间、任何地点都不应超过的浓度，通常对作用快、刺激性或毒性强的物质规定（具体物质和数值以 GBZ 2.1 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把最高容许浓度当作平均值使用</a:t>
            </a:r>
          </a:p>
          <a:p>
            <a:pPr>
              <a:spcAft>
                <a:spcPts val="1000"/>
              </a:spcAft>
            </a:pPr>
            <a:r>
              <a:rPr sz="1500">
                <a:solidFill>
                  <a:srgbClr val="222B33"/>
                </a:solidFill>
                <a:latin typeface="Microsoft YaHei"/>
              </a:rPr>
              <a:t>▪ 发现超标仍继续作业</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立即威胁生命或健康的浓度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达到这个浓度，接触即可能危及生命</a:t>
            </a:r>
          </a:p>
          <a:p>
            <a:pPr>
              <a:spcAft>
                <a:spcPts val="1000"/>
              </a:spcAft>
            </a:pPr>
            <a:r>
              <a:rPr sz="2000">
                <a:solidFill>
                  <a:srgbClr val="222B33"/>
                </a:solidFill>
                <a:latin typeface="Microsoft YaHei"/>
              </a:rPr>
              <a:t>▪ 人不能在里面作业，也绝不能贸然冲进去</a:t>
            </a:r>
          </a:p>
          <a:p>
            <a:pPr>
              <a:spcAft>
                <a:spcPts val="1000"/>
              </a:spcAft>
            </a:pPr>
            <a:r>
              <a:rPr sz="2000">
                <a:solidFill>
                  <a:srgbClr val="222B33"/>
                </a:solidFill>
                <a:latin typeface="Microsoft YaHei"/>
              </a:rPr>
              <a:t>▪ 未经检测和防护绝不进入，撤离并报告</a:t>
            </a:r>
          </a:p>
          <a:p>
            <a:pPr>
              <a:spcAft>
                <a:spcPts val="1000"/>
              </a:spcAft>
            </a:pPr>
            <a:r>
              <a:rPr sz="2000">
                <a:solidFill>
                  <a:srgbClr val="222B33"/>
                </a:solidFill>
                <a:latin typeface="Microsoft YaHei"/>
              </a:rPr>
              <a:t>▪ 具体数值查说明书和标准，不凭记忆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立即威胁生命或健康的浓度（GB 18664-2025 等标准中称为立即威胁生命或健康的环境，以现行文本为准）是指一旦接触就可能致死、造成不可逆健康损害或使人失去逃生能力的浓度。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同伴倒下时冲进去施救，造成连环伤亡</a:t>
            </a:r>
          </a:p>
          <a:p>
            <a:pPr>
              <a:spcAft>
                <a:spcPts val="1000"/>
              </a:spcAft>
            </a:pPr>
            <a:r>
              <a:rPr sz="1500">
                <a:solidFill>
                  <a:srgbClr val="222B33"/>
                </a:solidFill>
                <a:latin typeface="Microsoft YaHei"/>
              </a:rPr>
              <a:t>▪ 戴普通口罩进入高浓度区域</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四个概念像四级台阶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接触限值、平均、短时、立即危险像四级台阶</a:t>
            </a:r>
          </a:p>
          <a:p>
            <a:pPr>
              <a:spcAft>
                <a:spcPts val="1000"/>
              </a:spcAft>
            </a:pPr>
            <a:r>
              <a:rPr sz="2000">
                <a:solidFill>
                  <a:srgbClr val="222B33"/>
                </a:solidFill>
                <a:latin typeface="Microsoft YaHei"/>
              </a:rPr>
              <a:t>▪ 前两个看长期和每天的平均</a:t>
            </a:r>
          </a:p>
          <a:p>
            <a:pPr>
              <a:spcAft>
                <a:spcPts val="1000"/>
              </a:spcAft>
            </a:pPr>
            <a:r>
              <a:rPr sz="2000">
                <a:solidFill>
                  <a:srgbClr val="222B33"/>
                </a:solidFill>
                <a:latin typeface="Microsoft YaHei"/>
              </a:rPr>
              <a:t>▪ 后两个看短时尖峰和立即危险</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可以把这些概念想成四级台阶：最下面是长期接触的界线（接触限值），然后是每天的平均（时间加权平均），再往上是短时尖峰的上限（短时间接触），最高一级是立即危及生命的浓度。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把几个概念混为一谈</a:t>
            </a:r>
          </a:p>
          <a:p>
            <a:pPr>
              <a:spcAft>
                <a:spcPts val="1000"/>
              </a:spcAft>
            </a:pPr>
            <a:r>
              <a:rPr sz="1500">
                <a:solidFill>
                  <a:srgbClr val="222B33"/>
                </a:solidFill>
                <a:latin typeface="Microsoft YaHei"/>
              </a:rPr>
              <a:t>▪ 以为立即危险浓度以下就可以随便待</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限值不是安全线，越低越好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低于限值，不等于绝对安全</a:t>
            </a:r>
          </a:p>
          <a:p>
            <a:pPr>
              <a:spcAft>
                <a:spcPts val="1000"/>
              </a:spcAft>
            </a:pPr>
            <a:r>
              <a:rPr sz="2000">
                <a:solidFill>
                  <a:srgbClr val="222B33"/>
                </a:solidFill>
                <a:latin typeface="Microsoft YaHei"/>
              </a:rPr>
              <a:t>▪ 有人更敏感，需要额外保护</a:t>
            </a:r>
          </a:p>
          <a:p>
            <a:pPr>
              <a:spcAft>
                <a:spcPts val="1000"/>
              </a:spcAft>
            </a:pPr>
            <a:r>
              <a:rPr sz="2000">
                <a:solidFill>
                  <a:srgbClr val="222B33"/>
                </a:solidFill>
                <a:latin typeface="Microsoft YaHei"/>
              </a:rPr>
              <a:t>▪ 能少用就少用，能替换就替换，进通风柜</a:t>
            </a:r>
          </a:p>
          <a:p>
            <a:pPr>
              <a:spcAft>
                <a:spcPts val="1000"/>
              </a:spcAft>
            </a:pPr>
            <a:r>
              <a:rPr sz="2000">
                <a:solidFill>
                  <a:srgbClr val="222B33"/>
                </a:solidFill>
                <a:latin typeface="Microsoft YaHei"/>
              </a:rPr>
              <a:t>▪ 接触越低越好，不是贴线就行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职业接触限值是管理的上限，不是安全与危险的绝对分界：低于限值也不等于绝对安全，个别敏感的人即使在限值以下也可能受到影响，需要额外保护。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认为“没超限”就不用再改进</a:t>
            </a:r>
          </a:p>
          <a:p>
            <a:pPr>
              <a:spcAft>
                <a:spcPts val="1000"/>
              </a:spcAft>
            </a:pPr>
            <a:r>
              <a:rPr sz="1500">
                <a:solidFill>
                  <a:srgbClr val="222B33"/>
                </a:solidFill>
                <a:latin typeface="Microsoft YaHei"/>
              </a:rPr>
              <a:t>▪ 不考虑个人敏感差异</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行动水平：该监测、该体检了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浓度达到行动水平，就要启动监测</a:t>
            </a:r>
          </a:p>
          <a:p>
            <a:pPr>
              <a:spcAft>
                <a:spcPts val="1000"/>
              </a:spcAft>
            </a:pPr>
            <a:r>
              <a:rPr sz="2000">
                <a:solidFill>
                  <a:srgbClr val="222B33"/>
                </a:solidFill>
                <a:latin typeface="Microsoft YaHei"/>
              </a:rPr>
              <a:t>▪ 还要开展职业健康检查等措施</a:t>
            </a:r>
          </a:p>
          <a:p>
            <a:pPr>
              <a:spcAft>
                <a:spcPts val="1000"/>
              </a:spcAft>
            </a:pPr>
            <a:r>
              <a:rPr sz="2000">
                <a:solidFill>
                  <a:srgbClr val="222B33"/>
                </a:solidFill>
                <a:latin typeface="Microsoft YaHei"/>
              </a:rPr>
              <a:t>▪ 监测有害物浓度，确保不超国家限值</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说明书和标准中会出现“行动水平”的概念：接触水平虽然还没超过限值，但已经高到需要采取措施的程度，就要开展接触监测、职业健康检查、培训和告知等工作（具体以 GBZ 2.1 现行文本和本校规定为准）。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等到超标才想起监测</a:t>
            </a:r>
          </a:p>
          <a:p>
            <a:pPr>
              <a:spcAft>
                <a:spcPts val="1000"/>
              </a:spcAft>
            </a:pPr>
            <a:r>
              <a:rPr sz="1500">
                <a:solidFill>
                  <a:srgbClr val="222B33"/>
                </a:solidFill>
                <a:latin typeface="Microsoft YaHei"/>
              </a:rPr>
              <a:t>▪ 长期接触有害物却从不参加职业健康检查</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怀疑超标，请专业人员检测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大量用挥发性溶剂、怀疑超标，就要检测</a:t>
            </a:r>
          </a:p>
          <a:p>
            <a:pPr>
              <a:spcAft>
                <a:spcPts val="1000"/>
              </a:spcAft>
            </a:pPr>
            <a:r>
              <a:rPr sz="2000">
                <a:solidFill>
                  <a:srgbClr val="222B33"/>
                </a:solidFill>
                <a:latin typeface="Microsoft YaHei"/>
              </a:rPr>
              <a:t>▪ 请专业人员检测空气，不自己估计</a:t>
            </a:r>
          </a:p>
          <a:p>
            <a:pPr>
              <a:spcAft>
                <a:spcPts val="1000"/>
              </a:spcAft>
            </a:pPr>
            <a:r>
              <a:rPr sz="2000">
                <a:solidFill>
                  <a:srgbClr val="222B33"/>
                </a:solidFill>
                <a:latin typeface="Microsoft YaHei"/>
              </a:rPr>
              <a:t>▪ 测量有误差，判断时要留余量</a:t>
            </a:r>
          </a:p>
          <a:p>
            <a:pPr>
              <a:spcAft>
                <a:spcPts val="1000"/>
              </a:spcAft>
            </a:pPr>
            <a:r>
              <a:rPr sz="2000">
                <a:solidFill>
                  <a:srgbClr val="222B33"/>
                </a:solidFill>
                <a:latin typeface="Microsoft YaHei"/>
              </a:rPr>
              <a:t>▪ 结果偏高，改进措施并定期复测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大量使用挥发性溶剂，或者有人出现头痛、头晕等不适，怀疑空气中浓度超标时，要报告实验室负责人，由学校委托的专业人员或有资质的机构检测空气，不要凭感觉估计。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凭气味大小判断是否超标</a:t>
            </a:r>
          </a:p>
          <a:p>
            <a:pPr>
              <a:spcAft>
                <a:spcPts val="1000"/>
              </a:spcAft>
            </a:pPr>
            <a:r>
              <a:rPr sz="1500">
                <a:solidFill>
                  <a:srgbClr val="222B33"/>
                </a:solidFill>
                <a:latin typeface="Microsoft YaHei"/>
              </a:rPr>
              <a:t>▪ 检测偏高后不整改、不复测</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检测结果要告知大家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检测结果要及时告知实验室人员</a:t>
            </a:r>
          </a:p>
          <a:p>
            <a:pPr>
              <a:spcAft>
                <a:spcPts val="1000"/>
              </a:spcAft>
            </a:pPr>
            <a:r>
              <a:rPr sz="2000">
                <a:solidFill>
                  <a:srgbClr val="222B33"/>
                </a:solidFill>
                <a:latin typeface="Microsoft YaHei"/>
              </a:rPr>
              <a:t>▪ 不能锁在柜子里不告诉大家</a:t>
            </a:r>
          </a:p>
          <a:p>
            <a:pPr>
              <a:spcAft>
                <a:spcPts val="1000"/>
              </a:spcAft>
            </a:pPr>
            <a:r>
              <a:rPr sz="2000">
                <a:solidFill>
                  <a:srgbClr val="222B33"/>
                </a:solidFill>
                <a:latin typeface="Microsoft YaHei"/>
              </a:rPr>
              <a:t>▪ 每个人都有权知道自己接触了什么</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空气检测结果要及时告知实验室的所有人员，包括结果是否超标、采取了哪些改进措施。依据《中华人民共和国职业病防治法》（以现行文本为准），职业病危害因素检测结果应当告知劳动者。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检测报告只交给领导存档</a:t>
            </a:r>
          </a:p>
          <a:p>
            <a:pPr>
              <a:spcAft>
                <a:spcPts val="1000"/>
              </a:spcAft>
            </a:pPr>
            <a:r>
              <a:rPr sz="1500">
                <a:solidFill>
                  <a:srgbClr val="222B33"/>
                </a:solidFill>
                <a:latin typeface="Microsoft YaHei"/>
              </a:rPr>
              <a:t>▪ 结果偏高却怕影响实验而隐瞒</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化学品进入人体最常见的途径是：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食入</a:t>
            </a:r>
          </a:p>
          <a:p>
            <a:pPr algn="l"/>
            <a:r>
              <a:rPr sz="1500" b="0">
                <a:solidFill>
                  <a:srgbClr val="222B33"/>
                </a:solidFill>
                <a:latin typeface="Microsoft YaHei"/>
              </a:rPr>
              <a:t>B. 注入</a:t>
            </a:r>
          </a:p>
          <a:p>
            <a:pPr algn="l"/>
            <a:r>
              <a:rPr sz="1500" b="0">
                <a:solidFill>
                  <a:srgbClr val="222B33"/>
                </a:solidFill>
                <a:latin typeface="Microsoft YaHei"/>
              </a:rPr>
              <a:t>C. 吸入</a:t>
            </a:r>
          </a:p>
          <a:p>
            <a:pPr algn="l"/>
            <a:r>
              <a:rPr sz="1500" b="0">
                <a:solidFill>
                  <a:srgbClr val="222B33"/>
                </a:solidFill>
                <a:latin typeface="Microsoft YaHei"/>
              </a:rPr>
              <a:t>D. 眼睛接触</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判断：开瓶倾倒溶剂时浓度短暂冒高，只要全天平均浓度没超过时间加权平均容许浓度就没问题。</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我国化学有害因素职业接触限值的依据是：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GB 2894-2025</a:t>
            </a:r>
          </a:p>
          <a:p>
            <a:pPr algn="l"/>
            <a:r>
              <a:rPr sz="1500" b="0">
                <a:solidFill>
                  <a:srgbClr val="222B33"/>
                </a:solidFill>
                <a:latin typeface="Microsoft YaHei"/>
              </a:rPr>
              <a:t>B. GBZ 2.1（以现行文本为准）</a:t>
            </a:r>
          </a:p>
          <a:p>
            <a:pPr algn="l"/>
            <a:r>
              <a:rPr sz="1500" b="0">
                <a:solidFill>
                  <a:srgbClr val="222B33"/>
                </a:solidFill>
                <a:latin typeface="Microsoft YaHei"/>
              </a:rPr>
              <a:t>C. GB 15603-2022</a:t>
            </a:r>
          </a:p>
          <a:p>
            <a:pPr algn="l"/>
            <a:r>
              <a:rPr sz="1500" b="0">
                <a:solidFill>
                  <a:srgbClr val="222B33"/>
                </a:solidFill>
                <a:latin typeface="Microsoft YaHei"/>
              </a:rPr>
              <a:t>D. GB/T 7144-2016</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同伴在气体大量泄漏的房间里倒下，你应该：</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立即冲进去把人拖出来</a:t>
            </a:r>
          </a:p>
          <a:p>
            <a:pPr algn="l"/>
            <a:r>
              <a:rPr sz="1500" b="0">
                <a:solidFill>
                  <a:srgbClr val="222B33"/>
                </a:solidFill>
                <a:latin typeface="Microsoft YaHei"/>
              </a:rPr>
              <a:t>B. 戴上普通口罩进去</a:t>
            </a:r>
          </a:p>
          <a:p>
            <a:pPr algn="l"/>
            <a:r>
              <a:rPr sz="1500" b="0">
                <a:solidFill>
                  <a:srgbClr val="222B33"/>
                </a:solidFill>
                <a:latin typeface="Microsoft YaHei"/>
              </a:rPr>
              <a:t>C. 不贸然进入，撤离并报告，拨打 119、120</a:t>
            </a:r>
          </a:p>
          <a:p>
            <a:pPr algn="l"/>
            <a:r>
              <a:rPr sz="1500" b="0">
                <a:solidFill>
                  <a:srgbClr val="222B33"/>
                </a:solidFill>
                <a:latin typeface="Microsoft YaHei"/>
              </a:rPr>
              <a:t>D. 先打开灯查看</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判断：只要接触浓度低于职业接触限值，就绝对安全，不需要再采取措施。</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简答：处理一瓶来历不明的样品应注意什么？</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先想清楚：化学品怎么进入人体</a:t>
            </a:r>
          </a:p>
          <a:p>
            <a:pPr>
              <a:spcAft>
                <a:spcPts val="800"/>
              </a:spcAft>
            </a:pPr>
            <a:r>
              <a:rPr sz="1500">
                <a:solidFill>
                  <a:srgbClr val="FFFFFF"/>
                </a:solidFill>
                <a:latin typeface="Microsoft YaHei"/>
              </a:rPr>
              <a:t>▪ K2  吸入：最常见，闻到就已吸入</a:t>
            </a:r>
          </a:p>
          <a:p>
            <a:pPr>
              <a:spcAft>
                <a:spcPts val="800"/>
              </a:spcAft>
            </a:pPr>
            <a:r>
              <a:rPr sz="1500">
                <a:solidFill>
                  <a:srgbClr val="FFFFFF"/>
                </a:solidFill>
                <a:latin typeface="Microsoft YaHei"/>
              </a:rPr>
              <a:t>▪ K3  皮肤和眼睛：眼睛单列一条</a:t>
            </a:r>
          </a:p>
          <a:p>
            <a:pPr>
              <a:spcAft>
                <a:spcPts val="800"/>
              </a:spcAft>
            </a:pPr>
            <a:r>
              <a:rPr sz="1500">
                <a:solidFill>
                  <a:srgbClr val="FFFFFF"/>
                </a:solidFill>
                <a:latin typeface="Microsoft YaHei"/>
              </a:rPr>
              <a:t>▪ K4  注入和食入：碎玻璃与入口</a:t>
            </a:r>
          </a:p>
          <a:p>
            <a:pPr>
              <a:spcAft>
                <a:spcPts val="800"/>
              </a:spcAft>
            </a:pPr>
            <a:r>
              <a:rPr sz="1500">
                <a:solidFill>
                  <a:srgbClr val="FFFFFF"/>
                </a:solidFill>
                <a:latin typeface="Microsoft YaHei"/>
              </a:rPr>
              <a:t>▪ K5  例：农药能吸入，也能透皮</a:t>
            </a:r>
          </a:p>
          <a:p>
            <a:pPr>
              <a:spcAft>
                <a:spcPts val="800"/>
              </a:spcAft>
            </a:pPr>
            <a:r>
              <a:rPr sz="1500">
                <a:solidFill>
                  <a:srgbClr val="FFFFFF"/>
                </a:solidFill>
                <a:latin typeface="Microsoft YaHei"/>
              </a:rPr>
              <a:t>▪ K6  未知物一律按有毒对待</a:t>
            </a:r>
          </a:p>
          <a:p>
            <a:pPr>
              <a:spcAft>
                <a:spcPts val="800"/>
              </a:spcAft>
            </a:pPr>
            <a:r>
              <a:rPr sz="1500">
                <a:solidFill>
                  <a:srgbClr val="FFFFFF"/>
                </a:solidFill>
                <a:latin typeface="Microsoft YaHei"/>
              </a:rPr>
              <a:t>▪ K7  急性与慢性：伤害会累积</a:t>
            </a:r>
          </a:p>
          <a:p>
            <a:pPr>
              <a:spcAft>
                <a:spcPts val="800"/>
              </a:spcAft>
            </a:pPr>
            <a:r>
              <a:rPr sz="1500">
                <a:solidFill>
                  <a:srgbClr val="FFFFFF"/>
                </a:solidFill>
                <a:latin typeface="Microsoft YaHei"/>
              </a:rPr>
              <a:t>▪ S1  剂量决定毒性：剂量—反应</a:t>
            </a:r>
          </a:p>
          <a:p>
            <a:pPr>
              <a:spcAft>
                <a:spcPts val="800"/>
              </a:spcAft>
            </a:pPr>
            <a:r>
              <a:rPr sz="1500">
                <a:solidFill>
                  <a:srgbClr val="FFFFFF"/>
                </a:solidFill>
                <a:latin typeface="Microsoft YaHei"/>
              </a:rPr>
              <a:t>▪ S2  致癌、致畸、致突变与特殊人群</a:t>
            </a:r>
          </a:p>
          <a:p>
            <a:pPr>
              <a:spcAft>
                <a:spcPts val="800"/>
              </a:spcAft>
            </a:pPr>
            <a:r>
              <a:rPr sz="1500">
                <a:solidFill>
                  <a:srgbClr val="FFFFFF"/>
                </a:solidFill>
                <a:latin typeface="Microsoft YaHei"/>
              </a:rPr>
              <a:t>▪ K8  症状可能迟发，就医说明接触史</a:t>
            </a:r>
          </a:p>
          <a:p>
            <a:pPr>
              <a:spcAft>
                <a:spcPts val="800"/>
              </a:spcAft>
            </a:pPr>
            <a:r>
              <a:rPr sz="1500">
                <a:solidFill>
                  <a:srgbClr val="FFFFFF"/>
                </a:solidFill>
                <a:latin typeface="Microsoft YaHei"/>
              </a:rPr>
              <a:t>▪ K9  接触限值：空气中有害物的浓度界线</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K10  国内三类限值，以GBZ 2.1为准</a:t>
            </a:r>
          </a:p>
          <a:p>
            <a:pPr>
              <a:spcAft>
                <a:spcPts val="800"/>
              </a:spcAft>
            </a:pPr>
            <a:r>
              <a:rPr sz="1500">
                <a:solidFill>
                  <a:srgbClr val="FFFFFF"/>
                </a:solidFill>
                <a:latin typeface="Microsoft YaHei"/>
              </a:rPr>
              <a:t>▪ K11  时间加权平均：整天平均不能超</a:t>
            </a:r>
          </a:p>
          <a:p>
            <a:pPr>
              <a:spcAft>
                <a:spcPts val="800"/>
              </a:spcAft>
            </a:pPr>
            <a:r>
              <a:rPr sz="1500">
                <a:solidFill>
                  <a:srgbClr val="FFFFFF"/>
                </a:solidFill>
                <a:latin typeface="Microsoft YaHei"/>
              </a:rPr>
              <a:t>▪ K12  短时间接触：尖峰也不能超</a:t>
            </a:r>
          </a:p>
          <a:p>
            <a:pPr>
              <a:spcAft>
                <a:spcPts val="800"/>
              </a:spcAft>
            </a:pPr>
            <a:r>
              <a:rPr sz="1500">
                <a:solidFill>
                  <a:srgbClr val="FFFFFF"/>
                </a:solidFill>
                <a:latin typeface="Microsoft YaHei"/>
              </a:rPr>
              <a:t>▪ K13  最高容许浓度：任何时候不能超</a:t>
            </a:r>
          </a:p>
          <a:p>
            <a:pPr>
              <a:spcAft>
                <a:spcPts val="800"/>
              </a:spcAft>
            </a:pPr>
            <a:r>
              <a:rPr sz="1500">
                <a:solidFill>
                  <a:srgbClr val="FFFFFF"/>
                </a:solidFill>
                <a:latin typeface="Microsoft YaHei"/>
              </a:rPr>
              <a:t>▪ K14  立即威胁生命或健康的浓度</a:t>
            </a:r>
          </a:p>
          <a:p>
            <a:pPr>
              <a:spcAft>
                <a:spcPts val="800"/>
              </a:spcAft>
            </a:pPr>
            <a:r>
              <a:rPr sz="1500">
                <a:solidFill>
                  <a:srgbClr val="FFFFFF"/>
                </a:solidFill>
                <a:latin typeface="Microsoft YaHei"/>
              </a:rPr>
              <a:t>▪ K15  四个概念像四级台阶</a:t>
            </a:r>
          </a:p>
          <a:p>
            <a:pPr>
              <a:spcAft>
                <a:spcPts val="800"/>
              </a:spcAft>
            </a:pPr>
            <a:r>
              <a:rPr sz="1500">
                <a:solidFill>
                  <a:srgbClr val="FFFFFF"/>
                </a:solidFill>
                <a:latin typeface="Microsoft YaHei"/>
              </a:rPr>
              <a:t>▪ K16  限值不是安全线，越低越好</a:t>
            </a:r>
          </a:p>
          <a:p>
            <a:pPr>
              <a:spcAft>
                <a:spcPts val="800"/>
              </a:spcAft>
            </a:pPr>
            <a:r>
              <a:rPr sz="1500">
                <a:solidFill>
                  <a:srgbClr val="FFFFFF"/>
                </a:solidFill>
                <a:latin typeface="Microsoft YaHei"/>
              </a:rPr>
              <a:t>▪ K17  行动水平：该监测、该体检了</a:t>
            </a:r>
          </a:p>
          <a:p>
            <a:pPr>
              <a:spcAft>
                <a:spcPts val="800"/>
              </a:spcAft>
            </a:pPr>
            <a:r>
              <a:rPr sz="1500">
                <a:solidFill>
                  <a:srgbClr val="FFFFFF"/>
                </a:solidFill>
                <a:latin typeface="Microsoft YaHei"/>
              </a:rPr>
              <a:t>▪ K18  怀疑超标，请专业人员检测</a:t>
            </a:r>
          </a:p>
          <a:p>
            <a:pPr>
              <a:spcAft>
                <a:spcPts val="800"/>
              </a:spcAft>
            </a:pPr>
            <a:r>
              <a:rPr sz="1500">
                <a:solidFill>
                  <a:srgbClr val="FFFFFF"/>
                </a:solidFill>
                <a:latin typeface="Microsoft YaHei"/>
              </a:rPr>
              <a:t>▪ K19  检测结果要告知大家</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《高校实验室安全》学习课件</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