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化学品安全，就是让化学品在实验室里被安全地使用、安全地储存、安全地处置。三个环节任何一个出问题，都可能引发火灾、爆炸、中毒、灼伤等事故，或者让有害物质进入下水道、土壤和空气，污染环境。</a:t>
            </a:r>
          </a:p>
          <a:p>
            <a:r>
              <a:t>所以化学品安全既是为了保护实验室里的人，也是为了保护周围的人和环境。本章各课分别讲分类、标签、说明书、储存、取用、通风和废物处置，本课先讲法规要求和全过程管理的总框架。</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只化学实验室用化学品。微生物、生命科学、医学、材料、环境等实验室同样大量使用化学品：台面和器材消毒用的乙醇、含氯消毒剂，染色用的染料，固定标本用的甲醛、戊二醛，配制缓冲液和培养基用的各种试剂。</a:t>
            </a:r>
          </a:p>
          <a:p>
            <a:r>
              <a:t>这些化学品中不少是易燃、腐蚀或有毒的危险化学品（分类见第 038 课）。任何使用化学品的实验室，都要按本章要求管理化学品，不能因为“我们是生物实验室”就放松。</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实验室的操作规程和安全规定，很多是从以往事故中总结出来的。按规程操作、不跳步、不擅自改变用量和条件，可以预防溢洒、火灾、爆炸等事故。</a:t>
            </a:r>
          </a:p>
          <a:p>
            <a:r>
              <a:t>管好化学品还能保护仪器和样品：化学品洒漏会腐蚀仪器、污染甚至毁掉样品；试剂拿错、混用或被污染，实验结果就不可靠，实验白做。安全和科研质量是一致的。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我国对危险化学品实行严格管理，有专门的法律和行政法规（见 S1），教育部和学校也有实验室安全规范、检查项目和本校管理制度，学校和学院定期开展安全检查。</a:t>
            </a:r>
          </a:p>
          <a:p>
            <a:r>
              <a:t>遵守这些规定，不只是为了通过检查、避免处罚，更是为了保护自己、同学和周围的人。检查中发现的隐患要按要求整改。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《中华人民共和国危险化学品安全法》于 2025 年 12 月 27 日通过，2026 年 5 月 1 日起施行，对危险化学品生产、储存、使用、经营、运输等各环节作出规定，并设专章规定“使用安全”。学校、科研机构使用危险化学品，属于该法规定的责任主体；该法要求危险化学品附有中文的化学品安全技术说明书和安全标签（见第 039、040 课）。《危险化学品安全管理条例》仍需一并遵守，具体以现行文本为准。</a:t>
            </a:r>
          </a:p>
          <a:p>
            <a:r>
              <a:t>剧毒化学品、易制毒化学品、易制爆危险化学品在购买、储存、使用上还有更严格的规定（“五双”管理、公安备案等），见第 045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高校对化学品实行全生命周期管理：采购审批、到货验收、入库建账、分类储存、领用登记、规范使用、废弃处置，每个环节都有记录，形成闭环，做到来源可查、去向可追。</a:t>
            </a:r>
          </a:p>
          <a:p>
            <a:r>
              <a:t>管理上实行学校—学院—实验室三级负责：学校主管部门制定制度、统一采购和处置渠道；学院落实检查和培训；实验室负责人是本实验室安全的第一责任人，组织日常管理。每个使用化学品的人对自己领用、使用的化学品负责。具体分工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购买危险化学品要先提出申请，说明品名、规格、数量和用途，经实验室负责人（导师）和学院审核批准后，通过学校指定的采购平台或渠道，向具有相应资质的单位购买。管控类化学品还要按第 045 课的规定办理审批和备案。</a:t>
            </a:r>
          </a:p>
          <a:p>
            <a:r>
              <a:t>个人不得私自网购、从校外私人渠道购买，也不得在实验室之间私下转让、转借危险化学品。按实验需要少量购买，避免大量囤积，既降低风险，也减少过期浪费。已经私自购入、来路不明的化学品，不要使用，交实验室负责人按学校规定处理。</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化学品到货后，由实验室指定人员戴好手套验收：核对品名、规格、数量与采购单是否一致；检查每个容器上有没有中文化学品安全标签（象形图、信号词、危险说明等，见第 039 课）；检查是否随货提供中文化学品安全技术说明书（SDS，见第 040 课），这就是“一书一签”。</a:t>
            </a:r>
          </a:p>
          <a:p>
            <a:r>
              <a:t>同时检查包装是否完好、瓶盖是否密封、有无破损渗漏。缺标签、缺说明书或包装破损的，不接收、不使用，联系供应单位补齐或退换。验收合格后再入库登记。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实验室要建立化学品台账（纸质或学校化学品管理信息系统），记录品名、规格、数量、存放位置、入库日期、责任人。入库时逐瓶登记，很多学校用条码或二维码实现一瓶一码。</a:t>
            </a:r>
          </a:p>
          <a:p>
            <a:r>
              <a:t>领用、消耗、废弃时及时登记，台账随时反映实际库存。定期盘点，做到账物相符；发现账上有、柜里没有（或相反），要查清原因并报告实验室负责人。</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实验室发生火灾、泄漏等事故时，消防和救援人员要马上知道屋里有哪些危险化学品、大概多少、放在哪里，才能选择灭火和防护方法。所以化学品清单要随台账实时更新，并能在应急时迅速提供。</a:t>
            </a:r>
          </a:p>
          <a:p>
            <a:r>
              <a:t>实验室门口的安全信息牌应写明主要危险类别、安全负责人和联系电话，内容变化时及时更新（具体格式以本校规定为准）。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从库房或试剂柜领用化学品，要登记领用人、品名、数量、用途和日期；按当次实验需要少量领取，不在台面上大量存放。使用前阅读标签和安全技术说明书，了解危害和防护要求，做好风险评估和个人防护。</a:t>
            </a:r>
          </a:p>
          <a:p>
            <a:r>
              <a:t>领用的化学品只用于登记的实验，不转给他人，不带出实验室或带回宿舍。用剩的放回原储存位置并更新台账；管控类化学品的领用按第 045 课的规定执行。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实验室里长期没人管理的旧试剂——前人留下的、标签模糊的、放在角落和储藏间的——风险会随时间增加：容器老化、标签脱落、有的试剂变质甚至变得更危险。</a:t>
            </a:r>
          </a:p>
          <a:p>
            <a:r>
              <a:t>一个案例：一批汞被放在储藏间后无人记得，多年后装修时被碰洒，清理的人不知道是什么、没有防护，造成了汞暴露。如果当初及时登记和清理，这样的事故完全可以避免。汞等化学品洒落的处置见第 056 课。</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实验室要定期清查化学品，包括试剂柜、冰箱、储藏间等角落，核对台账。过期的、标签脱落无法确认成分的、长期无人认领的化学品，要清理出来，不能继续使用。</a:t>
            </a:r>
          </a:p>
          <a:p>
            <a:r>
              <a:t>清出的化学品按危险废物包装、贴标签，登记后交学校统一收集处置（见第 053、054 课），不能倒掉或扔进垃圾桶。学生毕业、人员调离前，要把自己名下的化学品清点交接或处置，做到人走账清。</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废弃的危险化学品和实验废液属于危险废物，处置依照生态环境保护法律法规执行。实验室按学校要求分类收集，容器贴好标签，写明成分和产生人，放在指定暂存位置。</a:t>
            </a:r>
          </a:p>
          <a:p>
            <a:r>
              <a:t>严禁倒入下水道、混入生活垃圾或自行焚烧掩埋。学校统一收集后，委托具有危险废物经营许可证的单位处置。处置时在台账上销账登记，化学品从采购到处置的全过程闭环。废物分类收集和暂存处置的具体要求见第 053、054 课。</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答案：C。解析：该法 2025 年 12 月 27 日通过，2026 年 5 月 1 日起施行；《危险化学品安全管理条例》仍需一并遵守。</a:t>
            </a:r>
          </a:p>
          <a:p>
            <a:r>
              <a:t>第 2 题 答案：B。解析：每种危险化学品要随货附中文安全技术说明书，容器上有中文安全标签，缺一不收不用。</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答案：B。解析：采购要经审批，通过学校渠道向有资质的单位购买，不得私自网购。</a:t>
            </a:r>
          </a:p>
          <a:p>
            <a:r>
              <a:t>第 4 题 答案：A。解析：过时的清单会误导救援，台账和清单要账物相符、实时更新。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答案：C。解析：过期、不明、无人认领的化学品要清出，按危险废物交学校统一处置。</a:t>
            </a:r>
          </a:p>
          <a:p>
            <a:r>
              <a:t>第 6 题 答案：采购审批、到货验收（一书一签）、入库建账、分类储存、领用登记、规范使用、废弃处置，全过程记录闭环。解析：实行学校—学院—实验室三级负责，实验室负责人是第一责任人。</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危险物品（俗称危险品）是因其化学、生物或物理性质，可能伤害人体、损坏财产或污染环境的物质和物品。它们对人和环境都有风险，所以在使用、储存、运输和废弃时都要按规定管理。</a:t>
            </a:r>
          </a:p>
          <a:p>
            <a:r>
              <a:t>危险化学品是危险物品中最常见的一类。按照我国法规，具有毒害、腐蚀、爆炸、燃烧、助燃等性质，对人体、设施、环境具有危害的剧毒化学品和其他化学品属于危险化学品，具体以《危险化学品目录》和现行法规为准。</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物品的形态多样：粉末和颗粒等固体、溶剂和酸碱等液体、钢瓶中的压缩或液化气体。形态不同，伤人的方式也不同：液体容易洒出和溅到皮肤眼睛，粉末和蒸气容易被吸入，沾在手上可能被误食，处理不当还会污染环境。</a:t>
            </a:r>
          </a:p>
          <a:p>
            <a:r>
              <a:t>针对每一种方式都要提前防护：密闭容器、在通风柜内操作、戴护目镜和手套、实验室不吃不喝、废物按规定收集。化学品进入人体的途径见第 042 课。</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很多化学品在常温常压下看起来平静，但本身具有潜在危险。加热、加压或与其他物质混合时，可能发生分解、着火、爆炸或放出有毒气体。</a:t>
            </a:r>
          </a:p>
          <a:p>
            <a:r>
              <a:t>所以使用前要了解化学品的危险性和不相容物（查标签和安全技术说明书），不随意加热、不随意混合；储存时按相容性分类隔离（见第 043、047 课）。</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联合国推行的“全球化学品统一分类和标签制度”（GHS）统一了化学品危险性的分类方法、标签和安全技术说明书的格式，使各国的化学品标签和说明书样式基本一致，便于识别。</a:t>
            </a:r>
          </a:p>
          <a:p>
            <a:r>
              <a:t>我国采用这一制度，化学品分类和标签按 GB 30000 系列国家标准《化学品分类和标签规范》（如 GB 30000.7-2013 易燃液体，以现行文本为准）执行，标签按 GB 15258-2009 编写（见第 039 课），说明书按 GB/T 16483-2008 编写（见第 040 课）。</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 30000 系列，化学品危险性分为三大类：理化危险、健康危害和环境危害，每一类下面又分为若干危险类别和级别。</a:t>
            </a:r>
          </a:p>
          <a:p>
            <a:r>
              <a:t>理化危险包括爆炸物、易燃气体、气溶胶、氧化性气体、加压气体、易燃液体、易燃固体、自反应物质、自燃液体和固体、自热物质、遇水放出易燃气体的物质、氧化性液体和固体、有机过氧化物、金属腐蚀物等；健康危害包括急性毒性、皮肤腐蚀/刺激、严重眼损伤/眼刺激、呼吸或皮肤致敏、生殖细胞致突变性、致癌性、生殖毒性、特异性靶器官毒性、吸入危害等；环境危害包括危害水生环境和危害臭氧层。类别名称和划分以现行文本为准，标签上用象形图表示（见第 039 课）。</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在实验室日常管理和安全教育中，常把危险物品按主要危险性质分为七组：易燃和可燃物、腐蚀性物质、有毒物质、反应性和爆炸性物质、放射性物质、生物危害物质、压缩气体。这种分组便于记忆和日常防护。</a:t>
            </a:r>
          </a:p>
          <a:p>
            <a:r>
              <a:t>它与 GB 30000 系列的危险性分类和 GB 6944 的危险货物分类并不矛盾，正式的分类、标签和运输以国家标准为准。一种物质可能同时属于几组（例如既易燃又有毒），防护要兼顾。</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易燃和可燃物遇到明火、火花或高温很容易着火，蒸气与空气混合还可能爆炸。实验室常见的有乙醇、丙酮等有机溶剂，生活中常见的有汽油、液化石油气（含丙烷）。</a:t>
            </a:r>
          </a:p>
          <a:p>
            <a:r>
              <a:t>使用时远离明火、电热设备和电火花，少量取用，用后盖紧；储存放在防火柜中（见第 044、046 课）。</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腐蚀性物质接触皮肤和眼睛会造成化学灼伤，严重时导致失明，还会腐蚀金属和设备。常见的有盐酸、硫酸、硝酸等强酸，氢氧化钠、氢氧化钾等强碱。</a:t>
            </a:r>
          </a:p>
          <a:p>
            <a:r>
              <a:t>取用时必须戴护目镜（必要时戴面屏）、合适的手套和实验服，小心倒取、防止飞溅；腐蚀品单独存放在耐腐蚀柜中（见第 048 课）。</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有毒物质可以经呼吸道吸入、经口误食或经皮肤吸收进入人体，引起急性或慢性中毒。常见的有某些农药、汞及其化合物；氰化物等属于剧毒化学品，按“五双”管理（见第 045 课）。</a:t>
            </a:r>
          </a:p>
          <a:p>
            <a:r>
              <a:t>防护要点：在通风柜内操作，戴合适的手套；实验室内不吃不喝、不化妆，不把食物带进实验室；操作后、离开前洗手。毒性与接触限值见第 042 课。</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反应性和爆炸性物质性质不稳定，受热、撞击、摩擦或接触空气、水、其他物质时可能剧烈反应甚至爆炸，例如某些过氧化物、硝酸铵等硝酸盐类和多硝基化合物。</a:t>
            </a:r>
          </a:p>
          <a:p>
            <a:r>
              <a:t>这类物品中很多属于易制爆危险化学品或爆炸品，购买、储存和领用受严格管控，要按规定审批、登记，双人管理（见第 045、047 课）。本课只认识类别，不涉及性质条件和用量。</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放射性物质会自发放出电离辐射，射线能损伤人体细胞和 DNA，导致急性损伤或远期健康危害。常见的有铀、镭及钴-60 等放射源。</a:t>
            </a:r>
          </a:p>
          <a:p>
            <a:r>
              <a:t>放射性物质只能由取得许可的单位和经过辐射安全培训的人员使用；门口有电离辐射标志的场所，未经许可不得进入。辐射安全见第 7 章。</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危害物质包括细菌、病毒、真菌等病原微生物和生物毒素，能让人和动物生病。我国按危害程度把病原微生物分为四类，第一类危害最大，第一类、第二类合称高致病性病原微生物（以《病原微生物实验室生物安全管理条例》现行文本为准）。</a:t>
            </a:r>
          </a:p>
          <a:p>
            <a:r>
              <a:t>实验前要做生物风险评估，在相应防护级别的实验室开展；产生气溶胶的操作在生物安全柜内进行。生物安全见第 6 章。</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压缩气体和液化气体在钢瓶中高压储存，气瓶倾倒、受热或阀门损坏可能爆裂伤人。气体泄漏还会造成危害：惰性气体可使人窒息，氯气、氨等有毒，氢气等易燃，氧气助燃。</a:t>
            </a:r>
          </a:p>
          <a:p>
            <a:r>
              <a:t>气瓶要直立固定、远离热源，使用减压阀，用完关闭瓶阀，定期检漏。气瓶安全见第 11 章。</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为了运输安全，国际上把危险货物分为九类，我国对应的国家标准是 GB 6944-2025（以现行文本为准）《危险货物分类和品名编号》。某种具体物质属于哪一类、编号是多少，查 GB 12268-2025（以现行文本为准）《危险货物品名表》。</a:t>
            </a:r>
          </a:p>
          <a:p>
            <a:r>
              <a:t>运输分类和 GB 30000 的化学品危险性分类目的不同、类别也不完全对应，二者都以国家标准为准。标准会修订，以现行文本为准。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类是爆炸品，实验室一般不使用，确需使用的要严格审批、管控。第 2 类是气体，分为易燃气体（如氢气）、非易燃无毒气体（如氮气、氧气）和毒性气体（如氯气）。</a:t>
            </a:r>
          </a:p>
          <a:p>
            <a:r>
              <a:t>第 3 类是易燃液体，乙醇、丙酮、乙醚等有机溶剂都属于这一类，是实验室最常见的危险品，要少量存放在防火柜中，远离点火源（见第 044、046 课）。</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类包括易燃固体、易于自燃的物质和遇水放出易燃气体的物质，例如某些活泼金属遇水会放出易燃气体。第 5 类是氧化性物质和有机过氧化物，本身不一定燃烧，但会助燃，要和可燃物分开存放。</a:t>
            </a:r>
          </a:p>
          <a:p>
            <a:r>
              <a:t>第 6 类是毒性物质和感染性物质，既包括有毒化学品，也包括含病原微生物的感染性物质。病原微生物菌（毒）种和样本的运输按国家专门规定办理审批和包装，不能自行邮寄（见第 6 章）。</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7 类是放射性物质，只有取得许可的单位才能使用和运输。第 8 类是腐蚀性物质，强酸、强碱等都属于这一类。</a:t>
            </a:r>
          </a:p>
          <a:p>
            <a:r>
              <a:t>第 9 类是杂项危险物质和物品，包括锂电池、干冰、危害环境物质等。“杂项”不是“不危险”：锂电池会起火，干冰升华会让密闭空间缺氧、容器胀裂，危害环境物质会污染水体。</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危险货物运输时，包装件上要贴菱形的危险货物包装标志，用颜色和图形表示所属类别（如火焰表示易燃，骷髅表示毒性，腐蚀图形表示腐蚀性）。看到标志，就能知道里面是哪类危险，应该怎样搬运和防护。</a:t>
            </a:r>
          </a:p>
          <a:p>
            <a:r>
              <a:t>标志式样以 GB 190-2009（以现行文本为准）《危险货物包装标志》为准。它与化学品安全标签上的 GHS 象形图（见第 039 课）外形相似但用途不同；搬运危险货物包装件见第 050 课。</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实验室里常见的危险物品有酸碱、有机溶剂、有毒试剂、病原微生物、气瓶等，用完要放回原位，不随手乱放在台面上。</a:t>
            </a:r>
          </a:p>
          <a:p>
            <a:r>
              <a:t>医院里有药品（如细胞毒性药物）、感染性样本、消毒剂等，用过的按医疗废物处理。工厂里的工业化学品和燃料用量更大，一旦泄漏或起火后果更严重。</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危险物品不只在实验室。家里和宿舍里的清洁剂、油漆、电池、杀虫剂、燃料、药品等，同样可能伤人。这些产品的包装背面通常印有警示和使用说明，使用前要先看。</a:t>
            </a:r>
          </a:p>
          <a:p>
            <a:r>
              <a:t>家中危险物品要放在儿童够不着的地方，不要倒进饮料瓶等食品容器。宿舍禁止存放实验室化学品。</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含氯漂白剂、含氨清洁剂、酸性洁厕剂等都是生活中常见的化学品。不同清洁剂混在一起可能发生反应，放出有毒气体，在卫生间等狭小空间里尤其危险。</a:t>
            </a:r>
          </a:p>
          <a:p>
            <a:r>
              <a:t>使用时只用一种，按说明稀释，戴手套，开窗通风；如果闻到刺激性气味、感到不适，立即离开到空气新鲜处。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汽油、液化石油气、煤油等燃料易燃易爆，要远离火源和高温。电池也是危险物品：铅酸电池里有腐蚀性电解液，锂电池过充、挤压、破损可能起火，鼓包的电池停止使用，废电池按规定回收。</a:t>
            </a:r>
          </a:p>
          <a:p>
            <a:r>
              <a:t>杀虫剂和驱虫剂喷完先离开房间，通风后再进入，远离食物和儿童。药品也是化学品，抗生素、化疗药等要按医嘱和说明使用，不乱吃，不随便给别人。</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危险物品对人的伤害，首先是烧伤：火焰造成热烧伤，腐蚀品造成化学灼伤；化学品溅到皮肤或眼睛，要立即用大量清水冲洗（急救见第 14 章）。</a:t>
            </a:r>
          </a:p>
          <a:p>
            <a:r>
              <a:t>其次是中毒：毒物可经呼吸、口和皮肤进入身体。第三是损伤呼吸道和肺：挥发性、刺激性气体和粉尘会伤害呼吸系统，这类操作要在通风柜内进行。</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有些化学品的危害不会马上表现出来：致癌、致突变、生殖毒性等长期危害，可能多年后才显现，所以不能因为“当时没感觉”就放松防护。</a:t>
            </a:r>
          </a:p>
          <a:p>
            <a:r>
              <a:t>病原微生物和感染性样本可能造成感染，要按生物安全要求在相应级别实验室和生物安全柜中操作。最严重时，危险物品会危及生命，所以个人防护和操作规程一步都不能省。</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危险物品进入环境会污染河流、湖泊和地下水，渗入土壤后很难清除。实验室废液必须倒入专用收集桶，按危险废物处置，不得倒入下水道（见第 053 课）。</a:t>
            </a:r>
          </a:p>
          <a:p>
            <a:r>
              <a:t>重金属和一些难降解的有机物会在生物体内蓄积，沿着食物链逐级富集，最后回到人身上。污染还会破坏生态系统，使物种减少、生物多样性下降。</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答案：B。解析：化学品分类和标签按 GB 30000 系列《化学品分类和标签规范》执行。</a:t>
            </a:r>
          </a:p>
          <a:p>
            <a:r>
              <a:t>第 2 题 答案：B。解析：每一大类下又分若干危险类别，标签上用象形图表示。</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答案：D。解析：第 9 类为杂项危险物质和物品，“杂项”不等于不危险。</a:t>
            </a:r>
          </a:p>
          <a:p>
            <a:r>
              <a:t>第 4 题 答案：B。解析：第一类危害最大，第一类、第二类为高致病性病原微生物。</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答案：B。解析：不同清洁剂混用可能产生有毒气体，应单独使用、戴手套、开窗通风。</a:t>
            </a:r>
          </a:p>
          <a:p>
            <a:r>
              <a:t>第 6 题 答案：污染水体和土壤且难以清除；有些毒素在生物体内蓄积并沿食物链回到人；破坏生态系统、使物种减少。解析：因此废液进专用收集桶，不进下水道。</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危害告知（也叫危险信息传递）就是让每个接触化学品的人知道它有什么危害、怎样防护、出事怎么办。容器上的标签、随货的说明书、交接时的口头说明，都是这门“安全语言”的一部分。</a:t>
            </a:r>
          </a:p>
          <a:p>
            <a:r>
              <a:t>安全意识首先来自把危害讲清楚。这门语言要融入日常：随时问自己，如果此刻出事，标签清楚吗？说明书在吗？别人知道这瓶里是什么吗？</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只要有危险化学品，就要做好危害告知，没有例外。告知对象不只是做实验的人，保洁、维修、来帮忙的同学和外来人员，凡是可能接触的，都要知道三件事：这里有什么危害、怎样防护、出事怎么办。</a:t>
            </a:r>
          </a:p>
          <a:p>
            <a:r>
              <a:t>每个人都有权知道自己接触的是什么化学品、有什么危害。对不清楚的化学品，有权询问实验室负责人，查阅标签和说明书后再操作。</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危险信息的源头是化学品的生产和进口单位：它们要按国家标准对化学品进行危险性分类、评估危害，编制中文安全标签和安全技术说明书，随产品一起提供，把危害信息传递给经营者和使用者。</a:t>
            </a:r>
          </a:p>
          <a:p>
            <a:r>
              <a:t>使用单位采购时要向供应单位索取“一书一签”，到货验收时核对（见第 037 课）。</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联合国推行的全球化学品统一分类和标签制度统一了分类、标签和说明书的格式，各国的人看到的是同样的警示。我国按 GB 30000 系列分类，按 GB 15258-2009 编写标签，按 GB/T 16483-2008 编写说明书；某种化学品是否属于危险化学品，查现行《危险化学品目录》。</a:t>
            </a:r>
          </a:p>
          <a:p>
            <a:r>
              <a:t>《中华人民共和国危险化学品安全法》要求危险化学品附有中文的安全技术说明书和安全标签，即“一书一签”。说明书要放在实验室里随手可查（见第 040 课）；没有标签或标签无法辨认的试剂，一律不使用。</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使用化学品的学校、学院和实验室，要保证每个容器上的标签完好、清晰，保证每种化学品的安全技术说明书在实验室里随手可得——纸质文件夹或电脑、平板上的电子版都可以，关键是出事时能马上查到。</a:t>
            </a:r>
          </a:p>
          <a:p>
            <a:r>
              <a:t>实验室安全员和使用人定期检查标签和说明书，发现缺失、损坏或版本过旧，及时补齐更新。</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使用一种试剂前，先看清标签上的名称、象形图和信号词，一眼就能知道它是什么类型的危险、有多危险。标签是“第一张危险说明”，但篇幅有限。</a:t>
            </a:r>
          </a:p>
          <a:p>
            <a:r>
              <a:t>需要了解危害、个人防护、储存条件、急救和泄漏处理的细节时，查安全技术说明书。看标签、查说明书之后，再选择防护和操作方法。说明书的使用见第 040、041 课。</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 15258-2009（以现行文本为准），化学品安全标签的要素包括：化学品标识（名称）、象形图、信号词、危险性说明、防范说明、供应商标识、应急咨询电话和资料参阅提示语（提示查阅安全技术说明书）。防范说明中包括预防措施、事故响应（含急救）、安全储存和废弃处置。</a:t>
            </a:r>
          </a:p>
          <a:p>
            <a:r>
              <a:t>化学品放在专用化学品柜中，每瓶都要有完整的安全标签。读标签时按“名称—象形图—信号词—说明—供应商和应急电话”的顺序看。</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30000 系列规定的危险象形图是红色边框的菱形，白色背景，中间是黑色图形，一共九种：爆炸弹、火焰、圆圈上方火焰、气瓶、腐蚀、骷髅和交叉骨、感叹号、健康危害（人形）、环境（枯树和死鱼）。</a:t>
            </a:r>
          </a:p>
          <a:p>
            <a:r>
              <a:t>象形图是不分语言的图形语言，一眼就能认出危害类型。多数化学品标签上有一两个象形图，有的有三个甚至更多。九种都要认全，骷髅图（急性毒性）千万不能忽略。</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示理化危险的象形图：爆炸弹表示爆炸物、自反应物质等不稳定物质；火焰表示易燃（气体、液体、固体等）；圆圈上方的火焰表示氧化性物质，它能放出氧、引发或助长燃烧，所以氧化剂要远离可燃物；气瓶表示加压气体；腐蚀表示金属腐蚀物和皮肤腐蚀、严重眼损伤。</a:t>
            </a:r>
          </a:p>
          <a:p>
            <a:r>
              <a:t>易燃易爆品的存放处还设有“当心火灾”等警告标志（按 GB 2894-2025，以现行文本为准），看到这些标志要格外当心火源。</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示健康和环境危害的象形图：骷髅和交叉骨表示急性毒性（较高级别），少量接触就可能严重中毒；感叹号表示皮肤刺激、眼刺激、皮肤致敏、较低级别急性毒性等相对较轻的危害；人形图（胸部有星爆）表示致癌、致突变、生殖毒性、呼吸致敏、特异性靶器官毒性、吸入危害等严重的健康危害，往往是慢性的；枯树和死鱼表示危害水生环境。</a:t>
            </a:r>
          </a:p>
          <a:p>
            <a:r>
              <a:t>信号词“危险”比“警告”更严重。看到人形图，不要因为“当时没感觉”而放松防护。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很多化学品同时具有几种危害，例如既易燃又刺激，或者既腐蚀又有毒，标签上就会有几个象形图。</a:t>
            </a:r>
          </a:p>
          <a:p>
            <a:r>
              <a:t>要把每个象形图都看一遍，逐一对应防护：易燃要远离火源，有毒要在通风柜内操作，腐蚀要戴护目镜和手套。</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标签上象形图旁边有信号词，只有两个：“危险”和“警告”，用来粗略表示危害的相对严重程度。“危险”用于较严重的危害类别，“警告”用于相对较轻的。一种化学品标签上只用一个信号词，有“危险”时就不再用“警告”。</a:t>
            </a:r>
          </a:p>
          <a:p>
            <a:r>
              <a:t>信号词只是提示，具体危害要看危险说明，防护要看防范说明。</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危险说明用简短的句子描述化学品的危害性质和程度，例如“高度易燃液体和蒸气”“吞咽有害”。防范说明告诉你怎样预防接触、发生事故怎样处置（包括急救）、怎样储存和废弃。</a:t>
            </a:r>
          </a:p>
          <a:p>
            <a:r>
              <a:t>读完标签，如果有低毒或无毒的替代品能满足实验要求，优先选用低毒的，这是从源头降低风险的最好办法。</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危险货物运输标志（按 GB 190-2009，以现行文本为准）是彩色底的菱形，下角标有类别号，贴在运输包装件上；化学品安全标签上的象形图（按 GB 30000 系列）是白底红框的菱形，在容器标签和安全技术说明书上。两者图形相似，但用途和规定不同。</a:t>
            </a:r>
          </a:p>
          <a:p>
            <a:r>
              <a:t>危险货物运输分类见第 038 课。寄送危险品不能自行邮寄或用普通快递，要交给有资质的承运单位，按规定包装和标识（见第 050 课）。</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部分进口试剂的资料或国外实验室里能看到一种四色菱形标识：蓝色表示健康危害，红色表示易燃性，黄色表示反应性，白色写特殊危害（如遇水剧烈反应），格内用数字表示程度。</a:t>
            </a:r>
          </a:p>
          <a:p>
            <a:r>
              <a:t>它不是我国的化学品标签要求，只作了解，不能代替中文安全标签。国内判断化学品危害，看 GB 30000 象形图、信号词和危险说明，详情查中文安全技术说明书。</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原装容器上的标签由生产或供应单位贴好，使用中要保持完好，不能撕掉、涂改或用别的标签覆盖。取用时标签朝向手心，防止试剂流下腐蚀标签。</a:t>
            </a:r>
          </a:p>
          <a:p>
            <a:r>
              <a:t>标签被腐蚀、模糊或脱落时，在确认内容无误（核对台账、来源）后及时补贴新标签。无法确认内容的化学品，不使用，报告实验室负责人，按不明化学品处理（见第 037 课）。</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化学品从原瓶分装到洗瓶、小试剂瓶、烧杯等容器里，新容器（二级容器）也要贴标签，写明化学品名称、浓度、主要危害（可画象形图）、日期和分装人，不能靠记忆。分装出来的小瓶最容易出事，检查时台面上的洗瓶会逐个查看。</a:t>
            </a:r>
          </a:p>
          <a:p>
            <a:r>
              <a:t>绝不能用饮料瓶、食品容器盛装化学品。没有标签或标签看不清的容器，一律不用；标签损坏及时补贴或上报。</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自己配制的溶液、标准溶液和缓冲液，配好后马上贴标签，再转入试剂瓶按要求存放。标签写明名称、浓度、主要危害、配制日期和配制人（使用人），缓冲液还要写 pH。动手之前先弄清容器里装的是什么，来历不明的瓶子会带来各种风险。</a:t>
            </a:r>
          </a:p>
          <a:p>
            <a:r>
              <a:t>没有标签的溶液，别人不敢用，也无法确定怎样废弃处置，最后成为隐患。配制缓冲液时用到的 pH 计，电极用完冲净后套上装有保存液的保护帽，不干放，也不长期泡在蒸馏水里；电线远离液体，湿手不碰插头开关（仪器使用见第 15 章）。</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标签上要写化学品的中文全称（或规范名称），不要只写缩写、分子式简写或课题组内部代号。同一个缩写在不同领域可能代表完全不同的物质，有的是致癌物，有的是普通溶剂，别人无法判断危害。</a:t>
            </a:r>
          </a:p>
          <a:p>
            <a:r>
              <a:t>写全称还方便其他人和救援人员查到对应的安全技术说明书。</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每个盛装化学品的容器都必须正确标识，让任何人一看就明白。有的国外规定对“本人当班立即使用”的容器有免贴情形，在国内高校不适用：所有容器都要有标签。因为人会离开，瓶子还在，标签替你告诉别人这是什么。</a:t>
            </a:r>
          </a:p>
          <a:p>
            <a:r>
              <a:t>化学品要装在合适的容器里，贴好标签，放进通风柜或指定柜。工作区也要做好标识：容器写清内容、所有人和日期，有危害的区域设置警示标志。</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很多溶液和溶剂无色透明，看上去都像水。实验进行中的烧杯、锥形瓶，也要用标签纸或记号笔临时标明内容，否则自己或别人很容易拿混。</a:t>
            </a:r>
          </a:p>
          <a:p>
            <a:r>
              <a:t>不要把无标签的溶液留在台面上走开，哪怕只是一小会儿。过夜晾干或反应的样品要贴标签，写明内容、使用人和日期，放在指定位置，不留在公共台面上。</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除了容器标签，使用有毒有害化学品的工作场所还要在醒目位置设置警示标识和危害告知卡，写明化学品名称、危害、防护措施和应急处置方法（按职业病防治相关规定和本校要求）。</a:t>
            </a:r>
          </a:p>
          <a:p>
            <a:r>
              <a:t>实验室负责人要如实向学生和工作人员告知所接触化学品的危害、防护办法和应急措施，不能隐瞒或淡化。</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一个案例：一瓶特殊试剂深夜送到实验室，第二天就被直接分装使用，没有人查看随货的说明书。一天多后，操作者出现严重的接触性皮炎——原来它是强致敏物，需要专用的防护手套和操作方式。</a:t>
            </a:r>
          </a:p>
          <a:p>
            <a:r>
              <a:t>到货验收和分装是危害信息最容易“断线”的环节。新试剂到货要先看标签和说明书，把危害和防护要求告知使用者；分装时把标签信息完整转到新容器上。</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让每个人都会读这门安全语言，一靠正式培训（入室安全培训和化学品专项培训），二靠日常信息共享（组会提醒、交接说明、更新告知卡）。</a:t>
            </a:r>
          </a:p>
          <a:p>
            <a:r>
              <a:t>针对常见问题的改法：缺分装标签，就在台边备好标签模板和笔；说明书过期，就在新购入时同步更新；培训只签到，就记录培训内容和考核结果；外来人员（维修、参观、保洁）进门前先告知危害和注意事项。</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答案：D。解析：标签要素包括名称、象形图、信号词、危险性说明、防范说明、供应商标识、应急咨询电话和资料参阅提示语。</a:t>
            </a:r>
          </a:p>
          <a:p>
            <a:r>
              <a:t>第 2 题 答案：A。解析：信号词只有两个，“危险”比“警告”更严重。</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答案：B。解析：氧化性物质能放出氧、助长燃烧，要远离可燃物。</a:t>
            </a:r>
          </a:p>
          <a:p>
            <a:r>
              <a:t>第 4 题 答案：B。解析：国内高校所有容器都要有标签，人走了瓶还在，标签替你说话。</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答案：B。解析：同一个缩写可能代表不同物质，要写全称，方便别人判断危害、查说明书。</a:t>
            </a:r>
          </a:p>
          <a:p>
            <a:r>
              <a:t>第 6 题 答案：名称（全称）、浓度、主要危害、配制日期和配制人；缓冲液还要写 pH。解析：配好马上贴签，没有标签的溶液没人敢用也无法处置。</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实验室每天都在使用化学品，实验离不开它们。但如果防护不当，化学品会伤害身体。</a:t>
            </a:r>
          </a:p>
          <a:p>
            <a:r>
              <a:t>危险化学品的危害种类很多：易燃的、腐蚀的、刺激的、致敏的、有毒的，甚至致癌的。危害不同，需要的防护装备、操作方式和应急处置也不同，所以必须针对每一种化学品了解它的具体危害。</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安全使用一种化学品，先问自己三个问题：怎样安全地取用和储存？需要戴哪些个人防护装备？发生泄漏、着火或接触时怎么办？</a:t>
            </a:r>
          </a:p>
          <a:p>
            <a:r>
              <a:t>这三个问题的答案，都可以在这种化学品的安全技术说明书里找到。回答不了，就不要动手。</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安全技术说明书（SDS）是关于一种化学品的详细信息文件，记录它的名称、成分、理化性质、危害、防护和应急等基本数据，就像这种化学品的“身份档案”。</a:t>
            </a:r>
          </a:p>
          <a:p>
            <a:r>
              <a:t>不论是单一物质还是混合物（如配好的试剂、试剂盒中的溶液、商品清洁剂），都应有自己的一份说明书。</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安全技术说明书过去常被称为 MSDS（物质安全数据表），现在按全球统一的分类和标签制度统称 SDS。两个名称说的是同一类文件，见到旧名称不要以为是两样东西。</a:t>
            </a:r>
          </a:p>
          <a:p>
            <a:r>
              <a:t>我国国家标准中的正式名称是“化学品安全技术说明书”。安全知识竞赛和检查中常问“MSDS/SDS 是什么”，要能答出：它是提供化学品危害、防护和应急信息的说明书，用前要读。</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过去，化学品的安全信息写在物质安全数据单里，由生产商和进口商随货提供。但当时格式五花八门，同样的信息在不同厂家的资料里位置不同，紧急时翻半天找不到，耽误宝贵时间；而且术语多，像只写给专家看，可消防员、急救人员和普通使用者都需要看懂。</a:t>
            </a:r>
          </a:p>
          <a:p>
            <a:r>
              <a:t>为此，联合国制定了全球化学品统一分类和标签制度，统一了说明书的格式和顺序，让各国的人都能快速找到并看懂化学品危害信息。我国按这一制度制定了相应国家标准（见 K6）。</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提供安全技术说明书是法律的要求。《中华人民共和国危险化学品安全法》（2026 年 5 月 1 日起施行）要求危险化学品附有中文的化学品安全技术说明书和安全标签，即“一书一签”；《危险化学品安全管理条例》也要求生产企业提供说明书、粘贴安全标签（以现行文本为准）。</a:t>
            </a:r>
          </a:p>
          <a:p>
            <a:r>
              <a:t>说明书的内容和项目顺序按 GB/T 16483-2008，编写方法按 GB/T 17519-2013，危险性分类和标签按 GB 30000 系列和 GB 15258-2009（均以现行文本为准）。供应方必须提供，使用单位必须持有并让使用者能查到。</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实验室使用、储存的每一种化学品都必须有对应的安全技术说明书，包括很少使用的和存量很小的。</a:t>
            </a:r>
          </a:p>
          <a:p>
            <a:r>
              <a:t>可以对照化学品台账逐项检查：台账上的每一种都要能找到对应的说明书；缺失的及时向供应单位索取或从学校化学品管理系统下载。</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安全技术说明书的主要目的，是让两类人掌握必要的信息：一是每天使用和接触这种化学品的人，二是发生事故时赶来的消防、急救等应急人员。</a:t>
            </a:r>
          </a:p>
          <a:p>
            <a:r>
              <a:t>使用者要靠它安全地操作、储存和处置；救援人员要靠它判断危害、选择灭火剂和防护装备、实施急救。所以说明书必须随时能拿到、能交给救援人员。</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说明书首先告诉你怎样安全操作：要戴哪些防护装备，在通风柜还是普通台面操作，哪些做法绝对不行。</a:t>
            </a:r>
          </a:p>
          <a:p>
            <a:r>
              <a:t>其次告诉你怎样妥善储存：存放温度、是否避光、是否密封，以及不能和哪些物质放在一起。最后告诉你怎样正确处置：剩余试剂和废液不倒下水道，分类收集，交给有资质的单位处理。使用前对照着看，心里就有底。</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讲清化学品的四类风险。健康风险：经哪些途径进入人体，伤害眼睛、皮肤、呼吸系统还是其他器官，有的一次接触就伤人，有的长期累积。火灾危险：是否易燃、着火有多猛，要远离哪些火源和热源，着火时用什么灭火。</a:t>
            </a:r>
          </a:p>
          <a:p>
            <a:r>
              <a:t>反应性：是否稳定，遇热、遇水、遇空气会不会出事，和哪些物质混在一起会剧烈反应，知道了才能分开存放。环境影响：对水生生物和土壤是否有害，这也是废液必须收集处置的原因。</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说明书由化学品生产商（或进口商）按全球统一的分类和标签制度编写，随货提供。了解一种化学品的危害，第一站就查它的说明书，先看与危害相关的几个部分。</a:t>
            </a:r>
          </a:p>
          <a:p>
            <a:r>
              <a:t>说明书是安全使用危险物料的第一依据：例如说明书显示有爆炸危险，就要采用更严格的操作规程、更小的用量和相应的防护措施，必要时报告实验室负责人审批。</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GB/T 16483-2008（以现行文本为准），化学品安全技术说明书包括十六个部分，顺序固定：从化学品及企业标识、危险性概述、成分，到急救、消防、泄漏应急、操作处置与储存、接触控制和个体防护、理化特性、稳定性和反应性、毒理学、生态学、废弃处置、运输、法规信息和其他信息。名称、生产商、危险成分、理化特性、火灾爆炸和反应性、健康危害、安全操作和控制措施都包括在内。</a:t>
            </a:r>
          </a:p>
          <a:p>
            <a:r>
              <a:t>说明书的主要目的是提供化学品的详细危害信息和安全操作、储存、应急要求；它不是着装规定，也不是培训档案。各部分的具体读法见第 041 课。</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识别化学品的危害，主要靠两件工具：安全技术说明书和容器上的安全标签。说明书内容全面，标签简明直观。</a:t>
            </a:r>
          </a:p>
          <a:p>
            <a:r>
              <a:t>了解一种化学品时，先查说明书掌握完整的危害和防护信息，再看瓶上的安全标签和象形图，确认手中这一瓶的危险（标签见第 039 课）。</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安全标签是说明书的浓缩版，只列出最关键的信息；说明书是详细版。标签上的象形图、信号词、危险说明和防范说明应与说明书第 2 部分（危险性概述）一致，标签按 GB 15258-2009（以现行文本为准）编写。</a:t>
            </a:r>
          </a:p>
          <a:p>
            <a:r>
              <a:t>日常取用时先看标签，遇到拿不准的情况——比如要加热、要和别的试剂混合、发生泄漏——就翻说明书查详细信息。</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进入实验室首先要知道本实验室的安全技术说明书放在哪里（纸质文件夹、电脑或学校系统）。第一次使用某种化学品之前，先读它的说明书和标签，了解危害、防护、急救、灭火和泄漏处理方法。</a:t>
            </a:r>
          </a:p>
          <a:p>
            <a:r>
              <a:t>说明书里还有闪点、职业接触限值等关键数据，是选择通风和防护措施的依据（接触限值国内以 GBZ 2.1 为准，见第 042 课）。原则是：碰化学品之前就已经读过，而不是出事后才去找。</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不只针对试剂瓶里的化学品。核酸提取等商品试剂盒中的裂解液、洗液含有化学试剂，用前同样要查说明书；撕膜、加样时戴好护目镜和手套。有的裂解液与含氯消毒剂混合会产生有害物质，裂解废液要单独收集，不与含氯消毒剂混合，按规定处置。</a:t>
            </a:r>
          </a:p>
          <a:p>
            <a:r>
              <a:t>滴定等常规实验也要先看标签和说明书：碱液会伤眼，有的指示剂溶液易燃；强酸强碱溶液有腐蚀性，留意象形图；盐酸属于易制毒化学品，领用要按规定登记（见第 045 课）。清洁剂、废液等同样以说明书为首要资料。</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说明书内容多，不需要从头到尾背下来。第一次使用前，重点看：危害是什么、要戴什么防护、急救措施、洒了怎么办、操作和储存要求。实验中需要加热、长期储存或废弃处置时，再看对应的部分。</a:t>
            </a:r>
          </a:p>
          <a:p>
            <a:r>
              <a:t>读完说明书后做风险评估：据此选择个人防护装备、确定操作规程和应急措施，写入实验方案，经导师（实验室负责人）审核同意后再动手做（风险评估见第 2 章）。</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采购化学品时，要求供应商提供中文安全技术说明书和安全标签。到货后对照查看：说明书是否随货、是否为中文、内容是否齐全，瓶上标签是否与说明书一致。</a:t>
            </a:r>
          </a:p>
          <a:p>
            <a:r>
              <a:t>没有标签或没有说明书的化学品不入库、不使用（验收见第 037 课）。验收合格后，说明书归入实验室说明书档案，台账上的每种化学品都有一份，人人都能查到。</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技术说明书要放在化学品的使用场所，纸质文件夹或电脑、学校化学品管理系统中的电子版都可以，关键是实验室里的每个人都知道在哪里、能随时查到。每种化学品性质不同、危害各有特点，必须能查到对应的那一份。</a:t>
            </a:r>
          </a:p>
          <a:p>
            <a:r>
              <a:t>安全检查时常要求在几分钟内调出指定化学品的说明书。只用电子版的，要有纸质备份或离线方式，防止停电、断网时查不到。</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查阅的说明书必须与手中的化学品对应：化学品名称、供应商、浓度和规格一致。同一种物质，浓度不同、混合物配方不同，危害和防护要求可能不同，不能随便拿一份代替。</a:t>
            </a:r>
          </a:p>
          <a:p>
            <a:r>
              <a:t>生产商会根据新的数据更新说明书。发现版本过旧，或者厂家发布了新版本，及时更换，旧版撤出，避免按过时信息操作。</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一个案例：某实验室发生酸泄漏，应急人员赶到后，几分钟内就从化学品台账中调出了这种酸的说明书，按其中的泄漏应急和防护要求迅速处置。</a:t>
            </a:r>
          </a:p>
          <a:p>
            <a:r>
              <a:t>把化学品台账（管理系统）和说明书关联起来，事故时可以按名称或存放位置立即调出说明书交给救援人员，抢回宝贵时间（台账见第 037 课，泄漏处置见第 056 课）。</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对于混合物，生产厂家可以对具体成分或配比作商业秘密处理，但危害、防护、急救、泄漏处置等安全信息必须完整写明，不能因为保密而省略。</a:t>
            </a:r>
          </a:p>
          <a:p>
            <a:r>
              <a:t>如果有人接触了保密配方的产品，医生救治急需知道成分，厂家应当按规定提供，不能拒绝——救人第一。说明书上的应急咨询电话就是用于这种情况（具体要求以现行文本为准）。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很有用，但不是万能的。它面向生产、运输、使用等很多类人群，有些内容（如大批量储运）与实验室小量使用关系不大；也可能有错误和遗漏，同一种化学品不同厂家写的可能不一样，有的话没错却帮不上忙。</a:t>
            </a:r>
          </a:p>
          <a:p>
            <a:r>
              <a:t>所以要学会批判地读：带着“我要做什么操作、会有什么风险”的问题去读，必要时对照其他权威资料和本校规定，向实验室负责人请教，多方核对后确定合理的防护措施。识别危害是风险管理的重要一环。</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答案：B。解析：旧称 MSDS（物质安全数据表），现在统一叫 SDS，中文名为化学品安全技术说明书。</a:t>
            </a:r>
          </a:p>
          <a:p>
            <a:r>
              <a:t>第 2 题 答案：B。解析：说明书分十六个部分、顺序固定，编写指南见 GB/T 17519-2013。</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答案：B。解析：试剂盒中的溶液含化学试剂，用前同样要查说明书，废液按规定分开收集。</a:t>
            </a:r>
          </a:p>
          <a:p>
            <a:r>
              <a:t>第 4 题 答案：B。解析：说明书要几分钟内能调出，电子版应有纸质备份或离线方式。</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答案：B。解析：使用者靠它安全操作、储存、处置，救援人员靠它判断危害、选择处置方法。</a:t>
            </a:r>
          </a:p>
          <a:p>
            <a:r>
              <a:t>第 6 题 答案：找到与手中试剂对应（名称、供应商、规格一致）的最新版中文说明书，重点阅读危害、防护、急救、泄漏、操作储存等部分，据此做风险评估、定防护和规程，经导师审核后再操作。解析：说明书不是万能的，拿不准要多方核对。</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化学品安全技术说明书按联合国全球化学品统一分类和标签制度编写，我国的内容和顺序由 GB/T 16483-2008 规定、编写方法见 GB/T 17519-2013：一律分为十六个部分，名称和顺序固定。因此不论哪个供应商提供的说明书，要查急救、消防或防护，都能直接翻到同一个部分，紧急时节省时间。</a:t>
            </a:r>
          </a:p>
          <a:p>
            <a:r>
              <a:t>十六个部分依次是：①化学品及企业标识；②危险性概述；③成分/组成信息；④急救措施；⑤消防措施；⑥泄漏应急处理；⑦操作处置与储存；⑧接触控制和个体防护；⑨理化特性；⑩稳定性和反应性；⑪毒理学信息；⑫生态学信息；⑬废弃处置；⑭运输信息；⑮法规信息；⑯其他信息。</a:t>
            </a:r>
          </a:p>
          <a:p>
            <a:r>
              <a:t>标签和说明书的关系可以这样理解：标签是“字母表”，简明提示主要危害；说明书是“字典”，给出完整信息（说明书的作用和法定要求见第 040 课）。使用前至少要读急救、泄漏、操作储存和个体防护几部分。</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现行十六部分格式和过去的旧版说明书大体相近，主要区别是第 2、3 部分换了位置：旧版先写成分、后写危险性，现行版把“危险性概述”提到第 2 部分，让读者先看到危害，再看成分。</a:t>
            </a:r>
          </a:p>
          <a:p>
            <a:r>
              <a:t>实验室里如果还保存着旧格式的说明书，要按第 040 课的要求向供应商索取现行版本替换；查阅旧版时注意第 2、3 部分顺序不同，不要看错。</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十六部分不是随意排列的，而是按“需要的先后”：最前面是最急需、最好懂的信息（是什么、有什么危害、怎么急救），接着是防护措施，专业的技术数据放在后面。</a:t>
            </a:r>
          </a:p>
          <a:p>
            <a:r>
              <a:t>可以把说明书看成回答四个问题：①这是什么、有什么危害？看第 1–3 部分（名称和供应商；信号词、象形图和危险说明；成分）。②出了问题怎么办？看第 4–6 部分（接触后的急救、着火怎么灭、泄漏怎么围堵清理）。③怎样预防？看第 7–10 部分（操作和储存、接触限值和个体防护、外观闪点等性质、怎样避免危险反应）。④还需要知道什么？看第 11–16 部分（毒理、生态、废弃、运输、法规、其他信息），常用于编写操作规程和风险评估，也应快速浏览一遍。</a:t>
            </a:r>
          </a:p>
          <a:p>
            <a:r>
              <a:t>一个实用的检查：你身上戴的防护装备，要和第 8 部分的要求对得上。</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部分“化学品及企业标识”首先写明物质或混合物的名称。读说明书的第一步，就是确认它和手中的试剂是同一种：名称要和瓶上标签一致。</a:t>
            </a:r>
          </a:p>
          <a:p>
            <a:r>
              <a:t>同一种物质常常有好几个名字（化学名、俗名、商品名），容易混淆；CAS 号等识别号是唯一的，名字可能相似，号码不会重复。例如氢氧化钠，名称加 CAS 号就能锁定它。</a:t>
            </a:r>
          </a:p>
          <a:p>
            <a:r>
              <a:t>浓度和规格也要对上：同一物质浓溶液和稀溶液的危害可能差别很大，不能用稀溶液的说明书指导浓溶液的使用。</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部分还写明化学品的推荐用途和限制用途。实验中如果要把它用在推荐用途之外，要先问清楚导师和实验室负责人，评估新的风险后再做。</a:t>
            </a:r>
          </a:p>
          <a:p>
            <a:r>
              <a:t>这一部分还列出供应商（生产商或进口商）的名称、地址和联系电话，有的还有应急咨询电话。对化学品有疑问或发生事故时，可以据此联系厂家获取信息；发生事故仍须先按本校程序报告实验室负责人和学院，需要时拨打 119、120。</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 部分“危险性概述”先给出按统一规则（我国为 GB 30000 系列）得出的危险性分类，比如皮肤腐蚀、易燃液体。</a:t>
            </a:r>
          </a:p>
          <a:p>
            <a:r>
              <a:t>接着是标签要素：信号词（“危险”或“警告”，“危险”更严重）、危险说明（会造成什么伤害，统一的标准表述，一种化学品通常只有几条）、防范说明（该怎样预防和应对），以及象形图（一眼看出危害类型，如腐蚀象形图表示会腐蚀皮肤和金属）。</a:t>
            </a:r>
          </a:p>
          <a:p>
            <a:r>
              <a:t>这些内容和瓶上安全标签一致（标签读法见第 039 课）；两者不一致时，要报告实验室负责人核实。</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以常用试剂氢氧化钠为例：说明书第 2 部分显示它的信号词是“危险”，带腐蚀象形图，危险说明为会造成严重的皮肤灼伤和眼损伤。</a:t>
            </a:r>
          </a:p>
          <a:p>
            <a:r>
              <a:t>所以取用氢氧化钠时绝不能徒手抓取，要戴耐化学品手套和护目镜（具体防护见 K19）。常用试剂往往最容易被轻视，越是天天用，越要按说明书来。</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部分“成分/组成信息”对纯物质写明其化学名称、俗名和 CAS 号等识别号；对混合物则列出每种危险成分及其浓度或浓度范围，哪种成分带来危害一看便知。</a:t>
            </a:r>
          </a:p>
          <a:p>
            <a:r>
              <a:t>例如固体氢氧化钠是纯物质，浓度接近百分之百；自己配成溶液后，新容器上要另外标明名称和浓度，按配制后的浓度判断危害。供应商可以按规定对商业秘密成分保密，但危害信息不能缺（见第 040 课）。</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部分“急救措施”按不同接触途径分别给出急救方法。想一种化学品会怎样伤人，先想这几条路：吸入、皮肤接触、食入、眼睛接触（暴露途径详见第 042 课）。</a:t>
            </a:r>
          </a:p>
          <a:p>
            <a:r>
              <a:t>常见写法：皮肤接触，立即脱去污染的衣物，用大量流动清水冲洗，必要时用肥皂和水洗净，然后就医；眼睛接触，立即在洗眼器上用大量清水冲洗，冲洗时间按说明书和本校规定，冲洗后立即就医。吸入则迅速离开现场到空气新鲜处。</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部分还写明接触后可能出现的症状和效应（如刺激、灼伤、咳嗽、头晕），帮助判断有没有人受到暴露、是急性还是迟发的反应。</a:t>
            </a:r>
          </a:p>
          <a:p>
            <a:r>
              <a:t>说明书会写明哪些情况必须立即就医，必要时拨打 120，并把说明书或标签带给医生。同时按程序报告实验室负责人和学院（报告流程见第 157 课）。</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仍以氢氧化钠为例：说明书第 4 部分写明，误食后不要催吐，因为腐蚀性物质催吐会再次灼伤食道；应漱口并立即送医。</a:t>
            </a:r>
          </a:p>
          <a:p>
            <a:r>
              <a:t>说明书怎么写就怎么做，不凭“常识”乱处理。最好的预防是从源头杜绝食入：实验室内禁止饮食，不把食品饮料带进实验室。</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急救信息要在事故发生前就读过：事故发生时没有时间慢慢查。使用一种化学品之前，先读第 4 部分，明确各种接触途径下怎么处理。</a:t>
            </a:r>
          </a:p>
          <a:p>
            <a:r>
              <a:t>同时要确认本实验室急救箱、洗眼器和紧急喷淋的位置，并知道怎么使用（洗眼器和喷淋的使用见第 027 课，眼部急救见第 160 课）。</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部分“消防措施”首先写明适用和不适用的灭火剂，如水、泡沫、干粉、二氧化碳。有的化学品遇水会剧烈反应，绝不能用水灭火；用错灭火剂会使火势扩大。</a:t>
            </a:r>
          </a:p>
          <a:p>
            <a:r>
              <a:t>还写明特别危险性：燃烧时会产生什么，比如有毒烟气，或者容器受热爆裂。这些信息决定了能不能扑救、要不要立即撤离（灭火器选用见第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部分还写明灭火的基本策略和消防人员需要的防护装备（如全套防护服和空气呼吸器）。这些是给专业救援人员的：发生火灾时，实验人员按本校应急程序撤离、报警（119），并把相关化学品的说明书交给赶到的救援人员。</a:t>
            </a:r>
          </a:p>
          <a:p>
            <a:r>
              <a:t>以氢氧化钠为例：它本身不燃烧，但遇到某些金属会放出易燃的氢气；火场中可以用水雾冷却容器。这类“本身不燃但有间接危险”的信息，只有说明书里才写得清楚。</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6 部分“泄漏应急处理”先写人员防护：处理者穿戴好说明书要求的防护用品，无关人员撤离。再写环境保护措施：防止泄漏物流入下水道和水体。</a:t>
            </a:r>
          </a:p>
          <a:p>
            <a:r>
              <a:t>然后是清理方法：先围堵防止扩散，再按说明书选用合适的材料吸收或收集，装入化学废物容器，按危险废物处置；不要直接用水冲进水池。照着说明书做，配合泄漏应急处理包使用（泄漏处置的完整流程见第 056 课）。超出自己处理能力的泄漏，立即撤离并报告。</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7 部分“操作处置与储存”写明安全操作要求：避免接触眼睛、皮肤和衣物；避免吸入粉尘和蒸气，在通风良好处或通风柜内操作；搬运前确认容器盖紧、拿稳。</a:t>
            </a:r>
          </a:p>
          <a:p>
            <a:r>
              <a:t>储存部分写明放在哪里、怎么放：温度、通风、避光、密封，以及禁配物要分开存放，比如酸和碱。以氢氧化钠为例：储存于阴凉干燥处，远离酸和金属，用完立即盖紧，防止吸潮（储存原则见第 043 课）。</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8 部分“接触控制和个体防护”先写工程控制：用局部排风、通风柜等设施把危害控制在源头，这比单靠个人防护更可靠。</a:t>
            </a:r>
          </a:p>
          <a:p>
            <a:r>
              <a:t>能在通风柜里做的操作，就不要在敞开的实验台上做；说明书要求在密闭系统中操作的物质，必须按要求使用密闭装置（通风柜的使用见第 052 课）。</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8 部分还列出职业接触限值，表示工作场所空气中该物质容许的浓度水平，常见有时间加权平均等形式。国内以 GBZ 2.1（以现行文本为准）规定的限值为准，进口化学品说明书上的国外限值只作参考。</a:t>
            </a:r>
          </a:p>
          <a:p>
            <a:r>
              <a:t>比较时记住：限值越低，说明吸入危害越严重，越要小心。例如一氧化碳的限值远低于乙醇，就要更加小心防护。单位和实验室据此安排通风和防护措施（接触限值的类型和暴露监测见第 042 课）。</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8 部分写明需要的个体防护装备：眼睛戴安全眼镜或护目镜，必要时加面屏；手部戴材质合适的防护手套（不同材质对不同化学品的防护效果不同，说明书会写明）；身体穿实验服或防护服；需要呼吸防护时选用合适的防毒面具并配对应的滤毒罐，按本校规定经培训后使用。</a:t>
            </a:r>
          </a:p>
          <a:p>
            <a:r>
              <a:t>以氢氧化钠为例：要戴耐化学品手套和护目镜，配制浓溶液等有喷溅风险时再加面屏，因为碱溅入眼睛伤害很重。你身上的防护，要和第 8 部分对得上（个体防护选用见第 021 课，手套见第 023 课）。</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9 部分“理化特性”列出外观（状态、颜色）、气味、pH、熔点、沸点、闪点、溶解度、蒸气压等数据，帮助判断该怎样操作和防护。气味信息仅供参考，千万不要凑近去闻。</a:t>
            </a:r>
          </a:p>
          <a:p>
            <a:r>
              <a:t>加热、混合之前，先看 pH、沸点、熔点等关键数据；蒸气压越高，越容易挥发进空气，越需要在通风柜里操作。例如氢氧化钠是白色固体，极易溶于水。</a:t>
            </a:r>
          </a:p>
          <a:p>
            <a:r>
              <a:t>标签损坏时，理化特性可以帮助判断容器里可能是什么，但不能自行认定，要上报实验室负责人按未知物处理。</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9 部分中的沸点和闪点是判断易燃性的关键数据：闪点越低，越容易形成可燃蒸气而着火。</a:t>
            </a:r>
          </a:p>
          <a:p>
            <a:r>
              <a:t>例如乙醚闪点很低，在室温下挥发出的蒸气遇到火源就能被点燃，所以使用时要远离一切火源和热源，在通风柜内操作（易燃易爆化学品见第 046 课）。</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10 部分“稳定性和反应性”写明化学品在正常条件下是否稳定、可能发生哪些危险反应、应避免的条件（如受热、受压、撞击），以及禁配物（不相容物质）和危险分解产物，分解、聚合等危险也写在这里。</a:t>
            </a:r>
          </a:p>
          <a:p>
            <a:r>
              <a:t>禁配物不能放在一起，更不能混合，储存时就要分开（见第 043 课）。很多实验室事故，是把不相容的废液倒进了同一个废液桶。例如乙醚不能和氧化剂、强酸混放；氢氧化钠遇酸会剧烈反应，碰到某些金属还会放出易燃的氢气。</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11 部分“毒理学信息”写明接触途径（从哪进入身体）、可能的症状，以及急性和慢性影响：急性效应来得快，慢性效应慢慢积累。接触途径找对了，防护才有针对性。</a:t>
            </a:r>
          </a:p>
          <a:p>
            <a:r>
              <a:t>还有毒性数据，如半数致死量（使一半受试动物死亡的剂量），这个数越小，说明毒性越大。实验室里首先要防急性危害，例如乙醚单次吸入即可致头晕嗜睡；氢氧化钠会严重灼伤皮肤和眼睛，粉尘吸入会刺激呼吸道（毒性和剂量—反应详见第 042 课）。</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某项写着“无可用数据”时，要格外小心：化学品成千上万，做过完整毒性测试的只是少数；也可能是编写者没写进去。“无数据”只代表不知道或没人查过，绝不等于安全，应按可能有害采取防护，并向导师或负责人请教、查阅其他资料。</a:t>
            </a:r>
          </a:p>
          <a:p>
            <a:r>
              <a:t>“不适用”表示这项性质对该物质没有意义（如固体的某些液体参数）；而“N/A”可能是不适用，也可能是查不到，需要分辨。</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12 部分“生态学信息”说明化学品泄漏或排放后对环境的危害，包括水生毒性（对鱼类等水生生物的毒害）、持久性和降解性（在环境中能留存多久）等。</a:t>
            </a:r>
          </a:p>
          <a:p>
            <a:r>
              <a:t>例如氢氧化钠进入水体会使 pH 升高，伤害鱼类。这也是化学品和废液不能倒入下水道的原因之一。</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13 部分“废弃处置”写明化学品本身及其包装容器的处置方法，处置必须符合国家和地方规定（《国家危险废物名录》等，以现行文本为准）。</a:t>
            </a:r>
          </a:p>
          <a:p>
            <a:r>
              <a:t>危险废物不能倒入下水道。以氢氧化钠废液为例：不能直接倒进水槽，要按说明书和学校规定分类收集，交学校统一处置；中和等处理由专业人员进行，学生不自行操作（废物分类收集见第 053 课）。</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14 部分“运输信息”写明联合国编号（UN 编号，四位数字）、正式运输名称、运输危险类别和包装类别。包装类别分三类，Ⅰ类危险程度最大、Ⅱ类中等、Ⅲ类较小。</a:t>
            </a:r>
          </a:p>
          <a:p>
            <a:r>
              <a:t>例如氢氧化钠溶液属于第 8 类腐蚀性物质，包装类别视浓度而定。国内危险货物分类和品名编号以 GB 6944-2025、GB 12268-2025（以现行文本为准）为准。实验室搬运和寄送化学品须按学校规定，委托有资质的单位运输（见第 050 课）。</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15 部分“法规信息”列出管理这种化学品的安全、健康和环境法规。国内主要依据《中华人民共和国危险化学品安全法》及《危险化学品安全管理条例》（以现行文本为准），以及《危险化学品目录》等。</a:t>
            </a:r>
          </a:p>
          <a:p>
            <a:r>
              <a:t>名录状态说明该物质是否列入相关名录，如现有化学物质名录、危险化学品目录；列入剧毒、易制毒、易制爆等管制名录的，购买、储存和使用按专门规定管理（见第 045 课）。进口说明书上列的国外法规只作参考。</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16 部分“其他信息”包括说明书的编制日期、修订日期和修订说明，以及缩略语、参考文献等。</a:t>
            </a:r>
          </a:p>
          <a:p>
            <a:r>
              <a:t>通过修订日期可以判断手中的说明书是否为最新版本；版本过旧的，向供应商索取新版替换（见第 040 课）。读完十六部分，把关键要求写进风险评估和操作规程。</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答案：B。解析：说明书分十六个部分、顺序固定，内容和项目顺序按 GB/T 16483-2008，编写指南见 GB/T 17519-2013。</a:t>
            </a:r>
          </a:p>
          <a:p>
            <a:r>
              <a:t>第 2 题 答案：B。解析：第 4 部分“急救措施”按接触途径写明处理方法；应立即用洗眼器大量清水冲洗，再就医并报告。</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答案：B。解析：“无数据”只代表不知道或没人测过，绝不等于安全，应按可能有害采取防护。</a:t>
            </a:r>
          </a:p>
          <a:p>
            <a:r>
              <a:t>第 4 题 答案：B。解析：第 7 部分写储存条件和禁配物，第 10 部分写稳定性、反应性和不相容物质。</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答案：B。解析：限值越低，吸入危害越严重；国内限值以 GBZ 2.1 现行文本为准。</a:t>
            </a:r>
          </a:p>
          <a:p>
            <a:r>
              <a:t>第 6 题 答案：①是什么、有什么危害（第 1–3 部分）；②出了问题怎么办（第 4–6 部分）；③怎样预防（第 7–10 部分）；④还需要知道什么（第 11–16 部分）。解析：使用前至少读第 1–8 部分，你戴的防护要和第 8 部分对得上。</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做风险评估的第一步，是想清楚化学品会通过什么途径进入人体。危险物质进入人体有四条途径：吸入蒸气、气体、粉尘或烟雾；皮肤和眼睛接触（溅入眼睛、皮肤沾染）；注入（被扎破、割伤）；食入（吃进嘴里）。</a:t>
            </a:r>
          </a:p>
          <a:p>
            <a:r>
              <a:t>每条途径对应不同的防护：通风柜挡吸入，手套、实验服和护目镜挡皮肤和眼睛接触，规范处理锐器防注入，禁止饮食防食入。总原则只有一句：别让危险物质碰到你。</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吸入是实验室里最常见的暴露途径。气体、挥发性液体的蒸气、固体的粉尘和烟雾都可能被吸入；有些化学品不用碰到就能伤人。</a:t>
            </a:r>
          </a:p>
          <a:p>
            <a:r>
              <a:t>闻到气味，就说明你已经吸入了；但闻不到也不等于安全：有的气体无色无味（如一氧化碳，会使血液无法正常输送氧气，所以不能在封闭空间里发动车辆或使用燃烧设备），有的浓度太低闻不出来但仍有害。挥发性操作一律在通风柜内进行（通风柜见第 051、052 课；一氧化碳等气体见第 134 课）。</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皮肤和眼睛接触是第二常见的暴露途径。化学品可以灼伤皮肤，有的还能透过皮肤进入血液。</a:t>
            </a:r>
          </a:p>
          <a:p>
            <a:r>
              <a:t>眼睛组织极其娇嫩，少量化学品就可能造成严重甚至永久的伤害，所以要把眼睛单独作为一条途径考虑：在实验室始终佩戴合适的眼面部防护（见第 022 课），并知道洗眼器的位置（见第 027 课）。</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注入是指化学品通过伤口直接进入体内，例如被沾有化学品的碎玻璃割伤、被针头扎伤。规范处理锐器和碎玻璃（见第 029 课）就能大大降低这种风险。</a:t>
            </a:r>
          </a:p>
          <a:p>
            <a:r>
              <a:t>食入在严格遵守规定时很少发生：实验室严禁品尝任何化学品，严禁饮食、吸烟和化妆。要注意间接食入：戴着沾染的手套摸手机、门把手，或不洗手就吃东西，有毒物质就会进嘴；沾染还会污染样品，毁掉实验结果。离开实验室前脱手套、洗手。</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以微生物降解农药的实验为例：实验要用到农药，而农药本身就是毒物，既可能被吸入，也能透过皮肤吸收。</a:t>
            </a:r>
          </a:p>
          <a:p>
            <a:r>
              <a:t>配制含农药的培养基要在通风柜内进行，戴好手套和护目镜；属于剧毒化学品的品种按规定领用，用多少领多少（管控化学品见第 045 课）。一旦沾到皮肤，立即用大量清水冲洗，并报告负责人。</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新合成的产物、来历不明或标签缺失的样品，毒性并不清楚，一律按有毒物质对待：不闻、不尝、不用手直接接触，戴好手套和护目镜，只取需要的最少量。</a:t>
            </a:r>
          </a:p>
          <a:p>
            <a:r>
              <a:t>分类不明时，先按最危险的情况防护，查阅资料、请教导师，确认后再处理；无法确认的按未知废物交学校处置。</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化学品对人体的危害分为急性和慢性。急性危害在接触后短时间内出现，如腐蚀灼伤、急性中毒；局部腐蚀造成的伤害往往难以恢复，中毒要及时处理。</a:t>
            </a:r>
          </a:p>
          <a:p>
            <a:r>
              <a:t>慢性危害来得慢：一次接触没事，不等于没事，长期小量接触，伤害会逐渐累积，患癌症、呼吸系统疾病、神经系统损害等慢性病的风险慢慢升高，而且往往多年后才显现。</a:t>
            </a:r>
          </a:p>
          <a:p>
            <a:r>
              <a:t>因此保护人员的关键是尽量减少接触：每一次都按规定防护，不因“上次没事”而图省事。少接触，就少受伤、少生病、少留后患。</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毒理学的基本规律是“剂量决定毒性”：同一种物质，进入人体的剂量（或接触的浓度和时间）越大，产生的伤害越重，这叫剂量—反应关系。所以控制接触量、缩短接触时间，是降低危害的根本办法。</a:t>
            </a:r>
          </a:p>
          <a:p>
            <a:r>
              <a:t>不同物质的毒性差别很大：毒性强的物质很小剂量就能造成严重伤害。说明书第 11 部分的半数致死量等数据可用于比较，数值越小毒性越大；GB 30000 系列按急性毒性把化学品分为不同类别。剧毒化学品按专门规定管理（见第 045 课）。</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GB 30000 系列中的致癌性、生殖细胞致突变性、生殖毒性（可能致畸、影响生育）属于严重的慢性健康危害，标签上通常带“健康危害”象形图。使用这类物质要尽量用替代品、减少用量，在通风柜内操作，做好个体防护，并按本校规定登记管理。</a:t>
            </a:r>
          </a:p>
          <a:p>
            <a:r>
              <a:t>不同人群敏感程度不同：孕期、哺乳期人员应主动向导师和实验室负责人报告，依据《女职工劳动保护特别规定》（以现行文本为准）和本校规定调整工作，避免接触有生殖毒性等危害的物质；对某些化学品过敏或有相关疾病的人，也要提前说明，采取额外保护（职业健康监护与特殊人群见第 152 课）。</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有些化学品中毒的症状不会立刻出现，可能几小时甚至更久以后才显现。接触后即使暂时没有不适，也不能掉以轻心。</a:t>
            </a:r>
          </a:p>
          <a:p>
            <a:r>
              <a:t>就医时要向医生说清接触过什么化学品、接触方式和时间，最好带上说明书或标签；同时报告实验室负责人，如实记录事件（报告程序见第 157 课）。</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职业接触限值是针对工作场所空气中有害物质浓度规定的界线：在此之下，绝大多数人长期反复接触不会受到明显的健康损害。国外资料中常见的“阈限值”等也是类似概念，国内统一按 GBZ 2.1（以现行文本为准）执行。</a:t>
            </a:r>
          </a:p>
          <a:p>
            <a:r>
              <a:t>每种物质的限值不同，没有一个统一的数，要查标准，不凭记忆。高校实验室不是例外，同样要遵守；接近限值时就要加强监测和防护。</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我国化学有害因素的职业接触限值由 GBZ 2.1 规定，主要分三类：时间加权平均容许浓度（PC-TWA）、短时间接触容许浓度（PC-STEL）和最高容许浓度（MAC）。</a:t>
            </a:r>
          </a:p>
          <a:p>
            <a:r>
              <a:t>进口化学品的说明书上常见国外的限值缩写和数值，只作了解，国内评价和防护以国家标准现行文本为准。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时间加权平均容许浓度，是把一个工作日内高低变化的接触浓度按时间加权平均后的容许值，用来控制长期、每天的接触。按正常工作日计算的平均浓度不能超过它；长期接触不超过这条线，绝大多数人正常工作不会损害健康。</a:t>
            </a:r>
          </a:p>
          <a:p>
            <a:r>
              <a:t>具体数值以 GBZ 2.1 现行文本为准，查标准，不靠背。</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开瓶、倾倒试剂、转移溶剂时，空气中的浓度会短暂冒高。短时间接触容许浓度规定了短时间内（具体时长按 GBZ 2.1 现行文本）接触浓度的上限，管的就是这种短时高峰。</a:t>
            </a:r>
          </a:p>
          <a:p>
            <a:r>
              <a:t>只看平均值是不够的：全天平均没超，但短时尖峰超了，同样不符合要求。所以开瓶、倾倒等操作也要在通风柜内进行。</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最高容许浓度是指在一个工作日内、任何时间、任何地点都不应超过的浓度，通常对作用快、刺激性或毒性强的物质规定（具体物质和数值以 GBZ 2.1 现行文本为准）。</a:t>
            </a:r>
          </a:p>
          <a:p>
            <a:r>
              <a:t>只要测得浓度达到它，就属于超标，应立即停止作业、撤离并报告，查找原因整改。</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立即威胁生命或健康的浓度（GB 18664-2025 等标准中称为立即威胁生命或健康的环境，以现行文本为准）是指一旦接触就可能致死、造成不可逆健康损害或使人失去逃生能力的浓度。</a:t>
            </a:r>
          </a:p>
          <a:p>
            <a:r>
              <a:t>这样的环境，人不能在里面作业，也绝不能为了救人贸然冲进去；只有经过检测、配备合适呼吸防护（如空气呼吸器）的专业人员才能进入。普通师生遇到气体大量泄漏等情况，应立即撤离，报告实验室负责人和保卫处，需要时拨打 119。具体数值不靠记，靠检测和撤离。</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可以把这些概念想成四级台阶：最下面是长期接触的界线（接触限值），然后是每天的平均（时间加权平均），再往上是短时尖峰的上限（短时间接触），最高一级是立即危及生命的浓度。</a:t>
            </a:r>
          </a:p>
          <a:p>
            <a:r>
              <a:t>前两个关注长期和每日平均的接触，后两个关注短时高峰和立即危险。国内的三类限值和最高容许浓度见 K10—K13。</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职业接触限值是管理的上限，不是安全与危险的绝对分界：低于限值也不等于绝对安全，个别敏感的人即使在限值以下也可能受到影响，需要额外保护。</a:t>
            </a:r>
          </a:p>
          <a:p>
            <a:r>
              <a:t>正确的做法是尽量降低接触：能少用就少用，能换成低毒物质就换，挥发性操作放进通风柜（控制层级见第 017 课）。接触越低越好，而不是“贴着限值线”就行。</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说明书和标准中会出现“行动水平”的概念：接触水平虽然还没超过限值，但已经高到需要采取措施的程度，就要开展接触监测、职业健康检查、培训和告知等工作（具体以 GBZ 2.1 现行文本和本校规定为准）。</a:t>
            </a:r>
          </a:p>
          <a:p>
            <a:r>
              <a:t>使用有害化学品的实验室，要关注所用有害物在空气中的浓度，确保不超过国家规定的职业接触限值（职业健康监护见第 152 课）。</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大量使用挥发性溶剂，或者有人出现头痛、头晕等不适，怀疑空气中浓度超标时，要报告实验室负责人，由学校委托的专业人员或有资质的机构检测空气，不要凭感觉估计。</a:t>
            </a:r>
          </a:p>
          <a:p>
            <a:r>
              <a:t>测量结果都有误差，判断时要留出余量，不能“刚好不超”就算合格。结果偏高时，要改进通风、减少用量或改变操作方式，并定期复测确认效果（气体检测报警见第 135 课）。</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空气检测结果要及时告知实验室的所有人员，包括结果是否超标、采取了哪些改进措施。依据《中华人民共和国职业病防治法》（以现行文本为准），职业病危害因素检测结果应当告知劳动者。</a:t>
            </a:r>
          </a:p>
          <a:p>
            <a:r>
              <a:t>报告锁在柜子里、不告诉大家是不行的：每个人都有权知道自己接触的危害，才能做好防护。</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答案：C。解析：气体、蒸气、粉尘烟雾都可能被吸入；闻到气味就说明已经吸入，闻不到也不一定安全。</a:t>
            </a:r>
          </a:p>
          <a:p>
            <a:r>
              <a:t>第 2 题 答案：B。解析：短时间接触容许浓度管短时高峰，平均没超、尖峰超了也不行。</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答案：B。解析：GBZ 2.1 规定时间加权平均容许浓度、短时间接触容许浓度和最高容许浓度，国外限值只作了解。</a:t>
            </a:r>
          </a:p>
          <a:p>
            <a:r>
              <a:t>第 4 题 答案：C。解析：可能处于立即威胁生命或健康的浓度环境，未经检测和防护绝不进入，由配备呼吸器的专业人员施救。</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答案：B。解析：限值不是安全线，有人更敏感；能少用就少用、能替换就替换，接触越低越好。</a:t>
            </a:r>
          </a:p>
          <a:p>
            <a:r>
              <a:t>第 6 题 答案：一律按有毒对待：不闻、不尝、不用手碰；戴好手套和护目镜，只取需要的一点；按最危险的情况防护，查资料、问导师，确认后再处理。解析：未知不等于无害。</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一瓶化学品真正被取用的时间很短，大部分时间都在柜子或货架上放着。储存不当，比如不相容物混放、容器破损、存量过大，即使操作再规范，也可能在无人时发生泄漏、起火甚至爆炸。</a:t>
            </a:r>
          </a:p>
          <a:p>
            <a:r>
              <a:t>储存是化学品采购、验收、储存、使用、废弃全过程管理中的重要一环（全过程管理见第 037 课）。</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化学品按主要危险性质（易燃、氧化、腐蚀、毒害等，依据 GB 30000 系列的分类和说明书第 2 部分）分类、分区存放：易燃品、氧化剂、腐蚀品、毒害品分柜，气瓶单独固定存放（见第 131 课）。储存原则参照 GB 15603-2022（以现行文本为准）：分类、分区，禁忌物不混存；储存场所要通风、防火，控制温度和湿度。</a:t>
            </a:r>
          </a:p>
          <a:p>
            <a:r>
              <a:t>同时建好化学品台账，做到账物相符、少存少放；剧毒等管控化学品专人、专柜（加锁）管理（见第 045 课，储存柜见第 044 课）。</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相互会发生危险反应的化学品叫不相容物（禁配物），必须分开存放：酸和碱放在一起，容器泄漏时会剧烈放热；含氰化物的试剂碰到酸，会放出剧毒气体；氧化剂和易燃物放在一起，可能引起燃烧甚至爆炸。</a:t>
            </a:r>
          </a:p>
          <a:p>
            <a:r>
              <a:t>能不能放在一起，要查说明书第 7 部分（储存条件）和第 10 部分（禁配物）（见第 041 课）。实验室可以张贴常见禁配组合表，随时对照。分开存放可用不同柜子，或在同一柜内用隔板、二次容器隔离，以本校规定为准。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遇水会放出易燃气体或着火的物质（遇湿易燃物品），不能和易燃液体放在同一个房间：一旦易燃液体着火，用水灭火会让遇水危险品反应，火势更大。</a:t>
            </a:r>
          </a:p>
          <a:p>
            <a:r>
              <a:t>遇水危险品要干燥、密封保存，远离水管、水槽和喷淋头（反应性化学品见第 047 课）。</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很多人习惯按名称拼音或字母顺序摆放试剂，方便查找，但这样不相容的化学品很可能挨在一起。正确做法是先按危险类别分区，在同一类别内部再按名称排序，兼顾安全和查找。</a:t>
            </a:r>
          </a:p>
          <a:p>
            <a:r>
              <a:t>可以在柜门内侧贴上分区示意图，取用后按图放回，避免放错位置。</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储存容器本身要合格，无裂纹、无破损，瓶盖完好；还要和所装物质相匹配，考虑是否耐腐蚀、是否能密封，例如某些腐蚀性液体不能用金属容器，见光分解的用棕色瓶。</a:t>
            </a:r>
          </a:p>
          <a:p>
            <a:r>
              <a:t>严禁用饮料瓶、食品容器装试剂，以免误食；不敞口放置，容器下面放托盘。生物样品放进密封、防漏的盒子（生物样品管理见第 6 章）。</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每种化学品在柜内都有固定的位置，用完马上放回原处，既方便查找，也避免误放到不相容物旁边。</a:t>
            </a:r>
          </a:p>
          <a:p>
            <a:r>
              <a:t>储存处要通风、阴凉、避光，远离暖气、烘箱等热源，避免阳光直射。需要低温保存的易燃试剂，只能放在防爆冰箱里（化学品冰箱见第 044 课）。</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实验台面和通风柜是做实验的地方，不是储存化学品的仓库。化学品堆在台面上，容易被碰倒、打翻；一旦着火，台面上的化学品没有任何保护，会使火势迅速扩大。</a:t>
            </a:r>
          </a:p>
          <a:p>
            <a:r>
              <a:t>通风柜里堆满试剂瓶，会挡住气流，降低排风效果（通风柜的正确使用见第 052 课）。实验结束后，把化学品放回指定的储存柜。</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化学品不放在地上（易被踢倒），也不放在高处（取放时易掉落、液体会溅到脸上）。</a:t>
            </a:r>
          </a:p>
          <a:p>
            <a:r>
              <a:t>大瓶和腐蚀性液体（如大瓶酸碱）放在柜子下层，下面配耐腐蚀的托盘或二次容器，万一泄漏能接住，不扩散。</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储存化学品的货架、柜子要牢固稳定，必要时固定在墙上或地面，防止倾倒。隔板边缘宜有挡边，瓶子不要靠在架边放。</a:t>
            </a:r>
          </a:p>
          <a:p>
            <a:r>
              <a:t>货架不超载，重的、大的放下层，轻的、小的放上层，保持重心稳定。具体设施要求以本校规定为准。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实验室存放化学品的数量是有规定的，存得越多，一旦发生火灾或泄漏，后果越严重。存量够用就好，不囤货；具体限量以学校和学院规定为准，问清楚再存。</a:t>
            </a:r>
          </a:p>
          <a:p>
            <a:r>
              <a:t>放在安全柜以外的易燃液体数量有上限，超出的部分必须放进合格的易燃品安全柜（见第 044 课）。按需领用，用多少领多少，用不完的及时退回或按规定处置。</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安全检查时常问：试剂柜里哪里不对？最常见的问题是瓶子没有标签、标签模糊或摆放杂乱。每瓶化学品都要有清楚的标签（自配溶液也要标明名称、浓度、日期和配制人，见第 039 课），摆放整齐。</a:t>
            </a:r>
          </a:p>
          <a:p>
            <a:r>
              <a:t>台账记录每种化学品的入库、领用和剩余量，做到账物相符；台账和说明书联动，方便应急时查找（见第 040 课）。</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储存的化学品要定期检查：容器和瓶盖有没有腐蚀、裂纹，有没有渗漏，内容物有没有变色、结块、分层等变质迹象，标签是否清楚。</a:t>
            </a:r>
          </a:p>
          <a:p>
            <a:r>
              <a:t>靠在架子边缘的瓶子要往里推。发现问题及时报告实验室负责人处理（安全检查见第 005 课）。</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柜子深处多年不用的老试剂，可能已经变质、容器老化，有的还会随时间产生危险（如生成过氧化物），是常见隐患。</a:t>
            </a:r>
          </a:p>
          <a:p>
            <a:r>
              <a:t>过期、变质、标签不清的化学品要登记，标签看不清的按未知物上报，交学校统一处置，不得自行倒入下水道或混入生活垃圾（废物收集和处置见第 053、054 课）。</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答案：C。解析：酸碱、含氰试剂与酸、氧化剂与易燃物都是不相容组合，必须隔开；同类相容的易燃溶剂可放在易燃品柜内。</a:t>
            </a:r>
          </a:p>
          <a:p>
            <a:r>
              <a:t>第 2 题 答案：B。解析：按字母顺序排，不相容物可能挨在一起；应先按危险类别分区，类内再按名称排。</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答案：C。解析：不放地上、不放高处，大瓶放下层并配托盘，通风柜和台面不是仓库。</a:t>
            </a:r>
          </a:p>
          <a:p>
            <a:r>
              <a:t>第 4 题 答案：B。解析：应登记后交学校统一处置，标签不清的按未知物上报，不得自行倒掉。</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答案：按性质分类分区、不相容物隔离（查说明书第 7、10 部分）；容器合格匹配、固定位置、阴凉通风避光；放低放稳、配托盘、货架牢固；存量够用即可、标签清楚、账物相符；定期检查，过期变质及时清理。解析：储存原则参照 GB 15603-2022，并以本校规定为准。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燃液体（乙醇、丙酮、乙醚、石油醚等有机溶剂）不能堆放在开放的架子上，尤其不能放在木架子上，要放进合格的易燃品安全柜。合格的易燃品柜一般为双层钢板结构，柜门能关严，在发生火灾时能在一段时间内减缓柜内温度上升，为疏散和灭火争取时间。</a:t>
            </a:r>
          </a:p>
          <a:p>
            <a:r>
              <a:t>柜体上要贴易燃警示标志，安放在远离热源、火源和电气开关的位置，柜旁不放可燃杂物。实验室内的存量够用即可（见第 043 课）；数量更大的，要存放在学校专用的危险化学品库房，具体限量以本校规定为准。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需要分装、转移或暂存少量易燃液体时，用合格的安全罐（安全储液罐）。安全罐罐盖能自动关闭，罐口装有阻火网等阻火装置，外部火源靠近时能阻止火焰回窜到罐内。</a:t>
            </a:r>
          </a:p>
          <a:p>
            <a:r>
              <a:t>每个容器都要贴好标签，写明名称和危险性，避免弄混（标签见第 039 课）。安全罐只是分装容器，不能代替储存柜：数量多时，连同安全罐一起放进易燃品柜。</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乙醇、有机溶剂等易燃品用完要马上放回指定的易燃品柜，不能长期摆在实验台、通风柜里或地上（台面和通风柜不是仓库，见第 043 课）。</a:t>
            </a:r>
          </a:p>
          <a:p>
            <a:r>
              <a:t>实验台上只留当天实验够用的少量，下班或实验结束前全部放回柜内并关好柜门。</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安全柜只有关着门才能起到保护作用：柜门平时关好、扣紧，不用楔子或其他东西顶住柜门；按学校规定上锁，钥匙由专人保管。</a:t>
            </a:r>
          </a:p>
          <a:p>
            <a:r>
              <a:t>易燃品柜是否连接排风，按产品说明和本校规定执行；若连接排风，排风管路上要设置阻火器，管路不能随意改动。柜体上的接地装置按说明可靠接地，用于导除静电。柜内不放纸箱、抹布等可燃杂物，不超量存放；柜前不堆放物品，保持取用和应急通道畅通。柜体、柜门密封和接地线由实验室定期检查，发现损坏报告实验室负责人维修。</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酸、碱等腐蚀品要存放在耐腐蚀材料制成的腐蚀品柜里，普通金属柜会被酸雾腐蚀生锈，导致隔板损坏、瓶子倾倒。酸和碱是不相容物，要分柜存放，或在同一柜内分格隔开（不相容物见第 043 课）；氧化性酸与有机物也要分开。</a:t>
            </a:r>
          </a:p>
          <a:p>
            <a:r>
              <a:t>大瓶溶液放在下层，下面配耐腐蚀托盘。易燃溶剂不放进腐蚀品柜，腐蚀品也不放进易燃品柜。</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有毒化学品存放在专用的毒害品柜中，柜子加锁，由专人管理。剧毒化学品实行“五双”管理，其中储存要求双人双锁，必要时使用保险柜，并按学校要求做好防盗、监控等安全防范措施。</a:t>
            </a:r>
          </a:p>
          <a:p>
            <a:r>
              <a:t>每次领用都要登记，做到账物相符；具体的购买、储存、领用、台账和备案要求见第 045 课，以现行法规和本校规定为准。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普通家用冰箱内部的门灯开关、温控器等电气元件工作时会产生电火花。易燃试剂在冰箱密闭空间里挥发出的蒸气积聚，遇到火花可能燃烧甚至爆炸。</a:t>
            </a:r>
          </a:p>
          <a:p>
            <a:r>
              <a:t>因此普通冰箱绝不能存放易燃物（包括装有易燃溶剂的样品）。需要冷藏的易燃试剂，必须使用防爆冰箱（或经专业防爆改造并符合学校要求的冰箱）。选用哪种冰箱、能存放哪些物品，按学校规定执行。</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存放化学品、生物样品的实验冰箱只能专用，绝不能存放食物、饮料，以防污染和误食；职工的食品冰箱要放在实验区以外，不能混用一台。冰箱门上贴“化学品专用、禁放食品”等标识。</a:t>
            </a:r>
          </a:p>
          <a:p>
            <a:r>
              <a:t>放进冰箱的容器要密封、贴好标签，不相容物同样要分开放置。实验室定期清理冰箱，过期、变质、标签不清的样品和试剂登记后交学校处置（见第 043 课）。</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答案：B。解析：普通冰箱内的开关、温控器会产生电火花，可能点燃易燃蒸气；冷藏易燃试剂须用防爆冰箱。</a:t>
            </a:r>
          </a:p>
          <a:p>
            <a:r>
              <a:t>第 2 题 答案：B。解析：化学品冰箱专用，绝不存放食物饮料；食品冰箱应放在实验区以外。</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答案：C。解析：柜门关着才能起保护作用；柜内不放可燃杂物；腐蚀品放腐蚀品柜。</a:t>
            </a:r>
          </a:p>
          <a:p>
            <a:r>
              <a:t>第 4 题 答案：B。解析：酸碱是不相容物，应分柜或分格隔开存放。</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易燃品柜存放易燃液体，柜门关好，通风须有阻火措施，柜体接地；腐蚀品柜耐腐蚀，酸碱分开，大瓶下层配托盘；毒害品柜加锁、专人管理，剧毒品双人双锁、领用登记。解析：具体配置和管理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了一般危险化学品，国家对三类化学品实行专门管控：剧毒化学品（在《危险化学品目录》中标注为剧毒）、易制毒化学品（列入《易制毒化学品管理条例》附表）、易制爆危险化学品（列入公安部发布的《易制爆危险化学品名录》）。</a:t>
            </a:r>
          </a:p>
          <a:p>
            <a:r>
              <a:t>使用前先查询所用化学品是否属于这几类：可以查上述目录和名录，也可以在学校化学品管理平台上查询。一旦属于管控类，先问清学院和学校的管理规定，再按规定办理采购、保管和领用登记。</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是否属于管控类化学品，看的是物质本身，而不是用量多少：哪怕只有一小瓶、几克，也要按管控品管理。</a:t>
            </a:r>
          </a:p>
          <a:p>
            <a:r>
              <a:t>管控类化学品要专柜、专区存放（储存柜见第 044 课），存取出入都要登记。用后的剩余物、废液和包装等废弃物同样要单独收集、登记，交学校按专门规定处置，不能混入普通废液或自行处理（废物处置见第 053、054 课）。具体做法以学校制度为准。</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对剧毒化学品普遍实行“五双”管理：双人验收（收发）、双人保管、双人领用（取用时双人在场）、双把锁、双本账。两把钥匙分别由两名保管人掌握，任何一人都不能单独开柜；两本台账分别记录，做到账账相符、账物相符。</a:t>
            </a:r>
          </a:p>
          <a:p>
            <a:r>
              <a:t>剧毒化学品存放在专用保险柜或专柜内，存放场所按学校要求落实防盗等安全防范措施。“五双”的具体表述和执行细则以本校制度为准；剧毒化学品的购买许可、储存备案等由学校按《中华人民共和国危险化学品安全法》《危险化学品安全管理条例》（以现行文本为准）统一办理。</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环境检测、传感器研究等实验常要测定砷，需要使用含砷标准品。砷的许多化合物毒性很强，部分列为剧毒化学品（以《危险化学品目录》为准），含砷标准品要按剧毒品管理：专柜存放、专人管理，领用登记，用多少记多少。</a:t>
            </a:r>
          </a:p>
          <a:p>
            <a:r>
              <a:t>含砷废液和沾染物要单独收集、贴好标签，交学校统一处置，不得倒入下水道。</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制毒化学品是可用于非法制造毒品的原料和配剂，依据《易制毒化学品管理条例》（以现行文本为准）分为三类管理，购买须按类别取得许可或办理备案。例如乙酸酐属于易制毒化学品，有机化学实验中常会用到。</a:t>
            </a:r>
          </a:p>
          <a:p>
            <a:r>
              <a:t>高校实验室使用易制毒化学品，要按学校规定申请、领用并登记，用多少领多少；专柜存放、专人管理，台账记录入库、领用和结存。不得私自转让、出借或带出实验室。实验产生的废液按类别分开收集，不得倒入下水道。</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易制爆危险化学品是可用于制造爆炸物品的化学品，依据《易制爆危险化学品治安管理办法》（以现行文本为准）管理，品种以公安部发布的《易制爆危险化学品名录》为准。</a:t>
            </a:r>
          </a:p>
          <a:p>
            <a:r>
              <a:t>实验室要专柜存放、专人管理，领用多少、使用多少、剩余多少如实登记，做到购买、储存、使用、处置的流向全程可查。不得出借、转让，不得私自带出实验室。储存场所的治安防范要求、信息系统备案等由学校按公安机关要求落实，具体按现行规定和学校制度执行。</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炸药等爆炸物品属于国家严格管控的物品，依据《民用爆炸物品安全管理条例》（以现行文本为准），未经许可任何单位和个人不得获取、储存、使用。</a:t>
            </a:r>
          </a:p>
          <a:p>
            <a:r>
              <a:t>学生不得出于好奇自行获取、保存或试验爆炸物品，也不要模仿网络上的相关视频。确需开展的相关研究，由具备资质的单位按规定审批后进行。有疑问先问导师和学院。</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管控类化学品只能由学校作为购买单位，通过学校化学品采购平台向有资质的供应商采购，严禁个人私自购买，严禁从网络或无资质渠道购买。</a:t>
            </a:r>
          </a:p>
          <a:p>
            <a:r>
              <a:t>申购一般经导师（实验室负责人）、学院、学校管理部门逐级审批；需要的购买许可、备案等手续，由学校统一向公安机关等部门办理。具体流程以本校制度为准。</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领用管控类化学品要经审批，按实验需要领取。称量时如实记录称取量和用途，做到用多少记多少。</a:t>
            </a:r>
          </a:p>
          <a:p>
            <a:r>
              <a:t>用剩的按规定退回专柜，并在台账上登记结存，做到账物相符。领用和使用台账要妥善保存，以备检查和追溯，保存期限以现行规定和本校制度为准。</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管控类化学品一旦发现丢失、被盗、误用或账物不符，要立即报告实验室负责人，并报学院和保卫处；学校按规定立即报告公安机关和有关部门。</a:t>
            </a:r>
          </a:p>
          <a:p>
            <a:r>
              <a:t>不得瞒报、迟报，也不要自行寻找了事；保护好现场和台账，配合调查。</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答案：D。解析：国家专门管控的是剧毒、易制毒、易制爆三类，品种以相应目录和名录为准。</a:t>
            </a:r>
          </a:p>
          <a:p>
            <a:r>
              <a:t>第 2 题 答案：B。解析：管不管控看物质本身，不看用量；领用必须审批登记，用多少记多少。</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答案：D。解析：两把钥匙由两人分别掌握，任何一人不能单独开柜。</a:t>
            </a:r>
          </a:p>
          <a:p>
            <a:r>
              <a:t>第 4 题 答案：B。解析：易制爆、易制毒化学品不得出借、转让，流向必须可查。</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答案：C。解析：丢失、被盗、账物不符要立即报告，学校按规定报告公安机关，不得瞒报迟报。</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易燃物是容易着火燃烧的物质。实验室常用的乙醇、丙酮、乙醚、石油醚、乙酸乙酯、甲苯等有机溶剂都属于易燃液体，此外还有易燃气体（如氢气、甲烷）和易燃固体。</a:t>
            </a:r>
          </a:p>
          <a:p>
            <a:r>
              <a:t>使用任何化学品之前，都要先弄清它是否易燃易爆、危险程度如何；操作和储存前先查化学品安全技术说明书和本实验室的操作规程。</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这是一条简单实用的保守原则：在没有查清楚之前，把水以外的液体都当作易燃液体对待，不靠近明火、热源和电火花。</a:t>
            </a:r>
          </a:p>
          <a:p>
            <a:r>
              <a:t>查阅标签和说明书确认它的性质后，再按相应要求使用。宁可多防一步，也不要凭感觉判断。</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化学品安全标签上的象形图能快速提示危险性（GB 30000 系列）：红色菱形框内一团火焰表示易燃；火焰下面有一个圆圈表示氧化性，两者很像，要看清楚（象形图见第 039 课）。</a:t>
            </a:r>
          </a:p>
          <a:p>
            <a:r>
              <a:t>“易燃”只是一个笼统的说法，具体属于哪一类、有多危险，要查说明书：第 9 部分理化特性给出闪点、爆炸极限、自燃温度等数据，第 5 部分给出消防措施（说明书见第 041 课）。</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易燃液体燃烧时，真正烧起来的是液体表面挥发出的蒸气，而不是液体本身。蒸气无色、看不见，会向四周飘散。</a:t>
            </a:r>
          </a:p>
          <a:p>
            <a:r>
              <a:t>很多有机溶剂的蒸气比空气重（蒸气密度大于空气），会像水一样沿着台面、地面流动、积聚在低处，可能流到较远的插座、加热设备等火源处被点燃，火焰再沿蒸气回燃到容器。乙醚等溶剂极易燃，还会在久放后生成过氧化物，要注意开封日期（见第 047 课），在通风柜里使用，附近不得有火源。</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一种液体，温度低时挥发的蒸气少，温度升高后蒸气增多。在规定条件下，液体表面的蒸气遇到火源能发生闪燃（一闪即灭）的最低温度，叫闪点。温度继续升高，点着后能持续燃烧的最低温度叫燃点，燃点一般比闪点高一些。</a:t>
            </a:r>
          </a:p>
          <a:p>
            <a:r>
              <a:t>闪点越低，越容易着火。不少常用溶剂的闪点低于室温，也就是说在常温下就会挥发出能被点燃的蒸气，具体数值查说明书第 9 部分。</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易燃液体和可燃液体常放在一起讲，区分它们主要看闪点：闪点越低，越容易着火，越要小心。</a:t>
            </a:r>
          </a:p>
          <a:p>
            <a:r>
              <a:t>不同领域的分类方法有差别：化学品分类按 GB 30000.7-2013（以现行文本为准）依据闪点和初沸点把易燃液体分为若干类别；消防领域另有物质火灾危险性分类（按现行国家消防技术标准）。具体界限以现行标准为准，实际使用时查说明书和标签上的分类。</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可燃蒸气或气体与空气混合，只有浓度在一定范围内遇火源才会燃烧甚至爆炸，这个范围叫燃烧极限（爆炸极限）。最低浓度叫下限，低于下限蒸气太少点不着；最高浓度叫上限，高于上限空气太少也点不着。处在这个范围内的混合物就是爆炸性混合物。</a:t>
            </a:r>
          </a:p>
          <a:p>
            <a:r>
              <a:t>很多溶剂的爆炸范围很宽，而下限往往很低，打开容器、少量泄漏就可能很快达到，所以实验室容易发生火灾和爆炸。蒸气浓度高到能燃烧时，往往早已超过对人体有害的程度。因此要通风、密闭，别让蒸气进入这个区间（具体数值查说明书第 9 部分）。</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物质在没有明火的情况下，被加热到一定温度就会自行着火，这个最低温度叫自燃点（引燃温度）。有的溶剂自燃点较低，热的灯泡、蒸汽管道、加热板表面都足以把它的蒸气引燃。</a:t>
            </a:r>
          </a:p>
          <a:p>
            <a:r>
              <a:t>易燃物要远离一切高温表面。加热板关闭后表面仍然很烫，不要马上在旁边倾倒溶剂。</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易燃物和爆炸品始终是危险的。爆炸品反应极快，会在瞬间放出大量气体和热量。有的化学品对撞击、摩擦敏感，有的受热、日晒会分解，取用时要轻拿轻放；还有的遇空气或水会自燃（反应性化学品见第 047 课）。</a:t>
            </a:r>
          </a:p>
          <a:p>
            <a:r>
              <a:t>爆炸性化学品要远离明火、热源和火花，避免阳光直射，最好划出专门区域单独存放和使用；属于易制爆危险化学品的，还要按第 045 课的规定管理。</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使用易燃物前，先把周围的明火、加热板、电热设备等热源和火花源移走。普通搅拌器、真空泵、插头插座、开关等电器工作时可能产生电火花，也是点火源。</a:t>
            </a:r>
          </a:p>
          <a:p>
            <a:r>
              <a:t>加热易燃液体不用明火，也不用裸露的加热板，改用加热套、水浴等方式，并按规程控制温度。人离开时，关闭明火和加热设备。</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无菌操作、组织培养常同时用到酒精和明火。消毒用的乙醇、异丙醇都是易燃液体：不要在火焰附近喷洒酒精，浸泡器械的酒精杯要远离火焰，用完盖好。</a:t>
            </a:r>
          </a:p>
          <a:p>
            <a:r>
              <a:t>使用酒精灯时，用灯帽盖灭，不能用嘴吹；不给燃着的酒精灯添加酒精，不用一盏酒精灯去点另一盏。灭菌器要培训后才能使用（见第 123 课）。</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通风是控制易燃蒸气最重要的手段：配制展开剂、处理含油样品和溶剂等操作在通风柜里进行，让蒸气浓度远低于燃烧下限，同时减少吸入（通风柜使用见第 052 课）。局部排风还能防止蒸气流向远处的火源，必要时增加房间辅助通风。</a:t>
            </a:r>
          </a:p>
          <a:p>
            <a:r>
              <a:t>擦拭镜片、器具用的溶剂少量取用，用过的纸放进带盖的桶里。含溶剂、含油的废液收进危险废物桶，不倒进水槽（废物处置见第 053 课）。</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防火要从源头做起：实验台面上只放当次够用的易燃溶剂，大桶和用完的试剂放回易燃品柜（见第 044 课）。</a:t>
            </a:r>
          </a:p>
          <a:p>
            <a:r>
              <a:t>柱层析等操作收集的一架架敞口馏分，同样会挥发出大量蒸气，要远离热源和电火花，及时合并、浓缩或盖好，不要敞口久放。</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易燃液体只能用合格、密闭、完好的容器盛装，不用饮料瓶、破损容器。少量试剂可以留在完好的原包装里使用和存放；数量界限按国家规定和本校规定执行。</a:t>
            </a:r>
          </a:p>
          <a:p>
            <a:r>
              <a:t>实验室出口、楼梯间、走廊等人员通行和疏散的通道，不得存放易燃液体，一旦着火会堵住逃生路线（疏散见第 036 课）。</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涉及可能发生爆炸或剧烈反应的操作，装置放在通风柜内并加防爆屏（防护挡板），人员戴面屏（护目镜之外加面屏）、合适的手套，穿阻燃材料的实验服。</a:t>
            </a:r>
          </a:p>
          <a:p>
            <a:r>
              <a:t>这类高风险实验要事先进行风险评估，经实验室负责人审核，按本校规定履行审批（风险评估见第 014、015 课）。</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野外实习、户外活动、停电应急使用发电机等设备时，会用到汽油、柴油等燃料。燃油要装在合格的专用油桶里，标明内容，不能用饮料瓶、普通塑料桶盛装（普通塑料桶不耐油，还易积聚静电）。</a:t>
            </a:r>
          </a:p>
          <a:p>
            <a:r>
              <a:t>汽油属于易燃液体，是危险化学品，要少量存放在指定的专门地点，不得放在实验室、宿舍和生活区，具体按本校危险化学品管理制度执行。</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油桶要远离运行中的发电机、排气管和其他热源，加油前先停机冷却。香烟、打火机、火柴等火源都要远离燃油。</a:t>
            </a:r>
          </a:p>
          <a:p>
            <a:r>
              <a:t>存油和加油的地方严禁吸烟，设置禁止吸烟、禁止烟火标志（GB 2894-2025，以现行文本为准）。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使用易燃易爆化学品时，清楚每一步操作，时刻保持专注，不边玩手机边做实验。</a:t>
            </a:r>
          </a:p>
          <a:p>
            <a:r>
              <a:t>牢记五条：知道哪些东西易燃易爆；身边不留点火源；通风要足；会正确搬运和储存；随时做好应急准备（灭火器选用见第 032 课，泄漏处置见第 056 课）。</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答案：B。解析：烧的是蒸气，蒸气看不见、会扩散，很多溶剂蒸气比空气重会沿台面流动。</a:t>
            </a:r>
          </a:p>
          <a:p>
            <a:r>
              <a:t>第 2 题 答案：B。解析：电火花、灯泡、加热板等高温表面也能引燃，物质达到自燃点会自行着火。</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答案：B。解析：可燃蒸气与空气的比例在上下限之间才会燃烧爆炸；要通风使蒸气浓度远低于下限。</a:t>
            </a:r>
          </a:p>
          <a:p>
            <a:r>
              <a:t>第 4 题 答案：C。解析：加热易燃物不用明火和加热板，改用加热套或水浴。</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答案：B。解析：燃油用合格专用容器，汽油是危险化学品，不进实验室和宿舍，远离火源、严禁吸烟。</a:t>
            </a:r>
          </a:p>
          <a:p>
            <a:r>
              <a:t>第 6 题 答案：知道哪些东西易燃易爆；身边不留点火源；通风要足；会搬会存；随时做好应急准备。解析：同时要时刻保持专注。</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化学品安全标签上，红色菱形框内“圆圈上方一团火焰”的象形图表示氧化性（GB 30000 系列），注意和只有一团火焰的易燃象形图区分（见第 039、046 课）。</a:t>
            </a:r>
          </a:p>
          <a:p>
            <a:r>
              <a:t>氧化剂本身不一定可燃，但它能放出氧或夺取电子，引发或加剧其他物质燃烧，与可燃物接触时火势会更猛、更难扑灭。因此氧化剂要远离纸张、木材、有机溶剂等可燃物，单独或分区存放（储存相容性见第 043 课）。</a:t>
            </a:r>
          </a:p>
          <a:p>
            <a:r>
              <a:t>薄层色谱等实验使用的部分显色剂具有氧化性和腐蚀性，要在通风柜里使用，用完及时盖好，与易燃溶剂分开放。</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研磨会产生摩擦和局部发热，氧化剂与可燃物或还原剂一起研磨可能引起剧烈反应甚至燃烧爆炸，因此严禁混合研磨。</a:t>
            </a:r>
          </a:p>
          <a:p>
            <a:r>
              <a:t>需要研磨样品时，佩戴护目镜，只取需要的少量，动作轻柔；研钵、研杵用完立即洗净晾干，防止残留物混进下一个样品。不确定能否研磨的物质，先查安全技术说明书或请教老师。</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有机过氧化物、自反应物质等不稳定化学品在受热、光照、撞击或摩擦时可能迅速分解，放出大量热和气体。温度升高会加快分解，混入杂质、金属屑或催化剂也可能引发反应。</a:t>
            </a:r>
          </a:p>
          <a:p>
            <a:r>
              <a:t>这类物质按安全技术说明书第 7 部分和第 10 部分的要求储存：阴凉、避光、远离热源，必要时按说明书要求冷藏（化学品冰箱见第 044 课）；取用时轻拿轻放，用干净的工具，不把用剩的倒回原瓶。</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不相容的化学品接触后可能发热、起火、爆炸或放出有毒气体，例如氧化剂与还原剂、可燃物，酸与碱等。混合任何两种物料之前，先查安全技术说明书第 10 部分（稳定性和反应性）和本实验室的相容性表。</a:t>
            </a:r>
          </a:p>
          <a:p>
            <a:r>
              <a:t>倒废液时同样要先确认相容性，不相容的废液不能倒进同一个收集容器（废液分类见第 053 课）。储存时禁配物要分柜或用隔板、托盘分开，按 GB 15603-2022（以现行文本为准）和本校规定分类分区存放（见第 043 课）。</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活泼金属、部分金属氢化物等属于“遇水放出易燃气体的物质”，接触水或潮湿空气会放出易燃气体并放热，可能引起燃烧（GB 30000 系列）。</a:t>
            </a:r>
          </a:p>
          <a:p>
            <a:r>
              <a:t>这类物品要放在专门的防潮柜子里，远离水池、水管、喷淋设施和潮湿环境，容器密封。存放场所的消防设施和灭火方式要事先评估，按安全技术说明书第 5 部分选择灭火剂，不能用水扑救的要在醒目位置标明（灭火器选用见第 032 课）。</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放热反应放出的热量如果来不及散出，温度会升高、反应会加快，进而放出更多热量，形成“失控反应”，可能导致冲料、容器破裂、起火或爆炸。</a:t>
            </a:r>
          </a:p>
          <a:p>
            <a:r>
              <a:t>首次做的反应、放热明显的反应，开始前要查阅文献和安全技术说明书，做书面风险评估并经实验室负责人批准（见第 014、015 课）；先用小量试验，按规程控制加料，备好冷却措施，实验过程中有人看守。放大规模、改变条件都属于方案变更，要重新评估和审批（见第 019 课）。具体条件按经批准的操作规程执行。</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自燃液体和自燃固体（GB 30000 系列）接触空气后即使很少量也会在短时间内自行燃烧。这类高风险操作首先依靠工程控制：在手套箱或经批准的密闭、惰性气氛装置中操作（控制层级见第 017 课）。</a:t>
            </a:r>
          </a:p>
          <a:p>
            <a:r>
              <a:t>操作者必须经过专门培训并获实验室负责人批准，按书面操作规程执行；穿阻燃实验服、戴护目镜或面屏和合适的手套，不穿易燃化纤衣物；不得单独操作，要有熟悉情况的人在场。附近准备好适用的灭火器材，清理无关易燃物。</a:t>
            </a:r>
          </a:p>
          <a:p>
            <a:r>
              <a:t>细胞毒性物质、高活性药物等其他高风险物质同样遵循“工程控制优先、个人防护补充”的原则（见第 049 课）。</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曾有高校实验室发生自燃试剂事故：操作者在转移自燃试剂时失手，试剂接触空气起火，因为没有穿阻燃服，衣物被引燃，造成严重烧伤直至死亡。</a:t>
            </a:r>
          </a:p>
          <a:p>
            <a:r>
              <a:t>事故的教训是：防护装备、培训、结伴操作、操作规程中的每一步都有它的理由，任何一步都不能为了省事而跳过。发现规程不清楚、防护不到位时，要停下来向实验室负责人报告。</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乙醚、四氢呋喃、二氧六环等醚类和部分其他溶剂在接触空气、光照下放置较久，会慢慢生成过氧化物。过氧化物极不稳定，遇热、撞击、摩擦都可能爆炸，瓶盖螺纹处的结晶在拧盖时就可能被引爆。</a:t>
            </a:r>
          </a:p>
          <a:p>
            <a:r>
              <a:t>蒸馏、浓缩会使过氧化物富集，危险最大。因此陈旧的这类溶剂绝不能直接浓缩或蒸馏，必须先按规程检测，检测合格后才能使用；发现异常不要乱动，报告老师按规定处理。</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易形成过氧化物的化学品，收到时在标签上写收货日期，开封时写开封日期，记入化学品台账。按学校规程规定的周期检测，在规定期限内用完；检测周期和使用期限以本校危险化学品管理规定为准。</a:t>
            </a:r>
          </a:p>
          <a:p>
            <a:r>
              <a:t>采购时按实验需要少量购买，不长期囤放，定期清理过期和不再使用的化学品，减少存量和风险。</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这类化学品的标签会提示“可能形成爆炸性过氧化物”。保存时使用原包装，瓶盖拧紧，放在阴凉避光处，尽量减少与空气接触，远离热源和明火。</a:t>
            </a:r>
          </a:p>
          <a:p>
            <a:r>
              <a:t>使用前先观察：如果瓶内或瓶口出现结晶、液体变色、浑浊或分层，说明可能已生成较多过氧化物，绝不能打开，按下一条可疑容器处理。</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发现老旧、超过检测期限、来历不明或已出现结晶的容器，不要打开，也不要摇晃、拧盖或挪动。就地隔离，挂上警示标志，阻止其他人靠近。</a:t>
            </a:r>
          </a:p>
          <a:p>
            <a:r>
              <a:t>立即报告实验室负责人，由实验室负责人报告学院和学校实验室管理部门、保卫处，由学校安排专业人员处置（报告程序见第 157 课）。发生火灾拨打 119，有人受伤拨打 120。</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过氧化物试纸法简便，是实验室检查易形成过氧化物溶剂的常用方法。检测只适用于外观正常、在检测期限内的容器；有结晶或可疑的容器按 K11 处理，不检测。</a:t>
            </a:r>
          </a:p>
          <a:p>
            <a:r>
              <a:t>检测在通风柜里进行，穿戴护目镜、实验服和合适的手套，穿长裤和不露脚面的鞋。试纸的使用方法以产品说明书和本校标准操作规程为准。</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从试纸罐中按需要取出试纸，捏住不带测试区的一端，不用手指碰测试区，以免污染影响结果。取完立即盖紧试纸罐，防止受潮。</a:t>
            </a:r>
          </a:p>
          <a:p>
            <a:r>
              <a:t>使用前检查试纸的有效期，过期的试纸结果不可靠，要换新的再用。</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检测废液时可以直接用试纸蘸取。检测还要继续使用的试剂时，先在通风柜里倒出少量到干净的小烧杯中，再用试纸蘸取小杯里的液体，避免把整瓶试剂污染。</a:t>
            </a:r>
          </a:p>
          <a:p>
            <a:r>
              <a:t>测完的少量液体和用过的试纸按本校化学废物规定收集，不倒回原瓶。</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试纸蘸取后，轻轻甩掉多余液体，按产品说明书规定的时间等待。</a:t>
            </a:r>
          </a:p>
          <a:p>
            <a:r>
              <a:t>检测有机溶液时，说明书通常还要求在测试区加水，这是关键步骤，漏掉会使结果偏低、不准确。为避免出错，检测水溶液时也按同样步骤操作。具体步骤和时间以试纸说明书和本校规程为准。</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把试纸测试区与试纸罐上的比色卡对照读出结果，测试区变蓝说明含有过氧化物，颜色越深含量越高。</a:t>
            </a:r>
          </a:p>
          <a:p>
            <a:r>
              <a:t>把检测结果、检测日期和检测人签名记录在瓶上的专用标签和台账里，方便下次检测和他人使用时了解情况。</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检测结果超出学校规定限值的，立即停止使用，贴上停用标签，报告实验室负责人。限值以本校危险化学品管理规定为准。</a:t>
            </a:r>
          </a:p>
          <a:p>
            <a:r>
              <a:t>停用的化学品按《国家危险废物名录》（以现行文本为准）和本校规定作为危险废物，交有资质的专业单位处置（见第 054 课）；不得自行处理，更不能倒进下水道或混入生活垃圾。</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答案：B。解析：氧化性物质能放出氧，引发或助长燃烧，要远离可燃物；只有一团火焰的是易燃。</a:t>
            </a:r>
          </a:p>
          <a:p>
            <a:r>
              <a:t>第 2 题 答案：B。解析：氧化剂不能和可燃物、还原剂一起研磨，研磨时戴护目镜、量少、动作轻，研钵用完洗净。</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答案：B。解析：遇水危险品专柜防潮存放，远离水池水管，存放场所的灭火方式要事先评估。</a:t>
            </a:r>
          </a:p>
          <a:p>
            <a:r>
              <a:t>第 4 题 答案：C。解析：可能已生成过氧化物，摩擦即可能爆炸；由学校安排专业人员处置。</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答案：B。解析：非废液另取少量检测，避免污染试剂；有机溶液别漏加水步骤；结果记在专用标签上。</a:t>
            </a:r>
          </a:p>
          <a:p>
            <a:r>
              <a:t>第 6 题 答案：收货、开封都写日期；原瓶盖紧、避光、远离热源；按学校规程定期检测、按期用完；少量采购不囤放；见结晶、变色、浑浊不打开并报告；超限停用按危险废物处置。解析：检测合格前不得蒸馏或浓缩。</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化学品安全标签上红色菱形框内“液体滴到手和金属上被腐蚀”的象形图表示腐蚀性（GB 30000 系列）。硫酸、盐酸、硝酸等强酸，氢氧化钠、氢氧化钾等强碱，浓硫酸等脱水剂以及部分氧化剂都具有腐蚀性。</a:t>
            </a:r>
          </a:p>
          <a:p>
            <a:r>
              <a:t>腐蚀品对皮肤和眼睛的伤害最重：酸灼伤疼痛剧烈、愈合慢；碱会持续向组织深处渗透，溅入眼睛造成的损伤往往更严重，可能导致失明。氢氟酸等特殊腐蚀品还有全身毒性，使用前须接受专门培训并备好专用急救用品（以本校规定为准，急救见第 160 课）。</a:t>
            </a:r>
          </a:p>
          <a:p>
            <a:r>
              <a:t>腐蚀品还会腐蚀金属架子、仪器和管道，造成设备损坏和泄漏。</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使用腐蚀品之前，先阅读安全技术说明书，了解成分、性质、危害、个体防护和急救措施（见第 041 课），并熟悉本校实验室安全手册和本实验室的操作规程。</a:t>
            </a:r>
          </a:p>
          <a:p>
            <a:r>
              <a:t>操作时始终佩戴护目镜（GB 14866-2023，以现行文本为准）、穿实验服、戴耐酸碱的化学防护手套（GB 28881-2023，以现行文本为准），穿长裤和不露脚面的鞋；量较大或容易飞溅时，在护目镜外再加戴面屏，必要时穿防护围裙。</a:t>
            </a:r>
          </a:p>
          <a:p>
            <a:r>
              <a:t>配制培养基、缓冲液时调节酸碱度、称量药品，同样要戴护目镜和手套；激素等试剂也按化学品管理。</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浓酸（特别是浓硫酸）溶于水会放出大量的热。正确做法是“酸入水”：先在容器中放好水，再把酸缓慢地加入水中。如果把水倒进浓酸里，少量水在酸表面迅速沸腾，会把酸液溅出伤人。</a:t>
            </a:r>
          </a:p>
          <a:p>
            <a:r>
              <a:t>固体氢氧化钠等强碱溶解时同样放热，也要少量分次加入水中，并搅拌散热。</a:t>
            </a:r>
          </a:p>
          <a:p>
            <a:r>
              <a:t>稀释操作时要专心，不边聊天边操作，不玩手机，遵守本实验室操作规程。</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浓盐酸、浓硝酸等会挥发出刺激性、腐蚀性气体，稀释和取用浓溶液、挥发性溶剂都应在通风柜里进行，柜门拉到合适高度（通风柜使用见第 052 课）。</a:t>
            </a:r>
          </a:p>
          <a:p>
            <a:r>
              <a:t>加酸时沿玻璃棒或容器内壁缓慢加入，边加边搅拌，使热量及时散开；容器明显发热时暂停，待冷却后再继续。使用耐热的玻璃容器，不用量筒等不耐热的容器直接稀释。</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取用浓酸时，按需要量用滴管或合适的移液工具少量取用，不直接从大瓶往小容器里猛倒。打开瓶盖和倾倒时，瓶口不对着自己和他人。</a:t>
            </a:r>
          </a:p>
          <a:p>
            <a:r>
              <a:t>倾倒操作在台面高度、视线以下进行，不把瓶子举过眼睛，防止液体沿瓶身流下或溅入眼睛。向含酸的反应液中加水，或反应结束后加水淬灭时，也要缓慢分次加入，防止放热飞溅。取用和转移的通用要求见第 050 课。</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滴加酸碱或调节 pH 时，容器放在稳固的台面或用铁架台固定，不用手悬空端着操作，防止打翻。</a:t>
            </a:r>
          </a:p>
          <a:p>
            <a:r>
              <a:t>观察时保持适当距离，脸不要凑近容器口，避免溅出的液滴和逸出的气体伤及眼睛和呼吸道。调节酸碱度时逐滴加入，边加边搅拌，接近目标值时更要慢。</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酸和碱相互接触会剧烈反应放热，存放时要分柜或分格隔开（储存相容性见第 043 课）。</a:t>
            </a:r>
          </a:p>
          <a:p>
            <a:r>
              <a:t>强碱溶液会腐蚀玻璃，使磨口玻璃塞与瓶口粘连打不开，因此碱液用耐碱的塑料瓶盛装，不用磨口玻璃塞。自配的酸碱溶液，标签上写清名称、浓度、配制日期和配制人，用完立即拧紧瓶盖。</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腐蚀品存放在柜子下层，不放在高过视线的架子上，取放时不会因失手而从高处洒落到脸上。瓶子放在耐腐蚀的托盘或二次容器里，万一泄漏能兜住，不扩散。</a:t>
            </a:r>
          </a:p>
          <a:p>
            <a:r>
              <a:t>硝酸、高氯酸等氧化性酸与有机溶剂、有机酸等有机物分开存放。腐蚀品放入专用的腐蚀品柜（耐腐蚀材料，必要时接排风），远离金属设备和电气设施，按 GB 15603-2022（以现行文本为准）和本校规定分类存放（储存柜见第 044 课）。</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腐蚀品溅到皮肤上，立即用大量流动的清水冲洗，范围大时使用紧急喷淋，边冲洗边脱去被污染的衣物和饰品。溅入眼睛时，马上到洗眼器用流水冲洗，用手指撑开眼睑、转动眼球，冲洗时间要足够，不要揉眼睛（洗眼器使用见第 027 课）。</a:t>
            </a:r>
          </a:p>
          <a:p>
            <a:r>
              <a:t>冲洗后立即报告实验室负责人，伤情较重或眼部受伤时拨打 120 或尽快就医，并带上安全技术说明书。详细的灼伤急救流程见第 160 课，泄漏处置见第 056 课。</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答案：B。解析：“酸入水”，在通风柜里慢慢加并搅拌散热；水倒进浓酸会剧烈放热飞溅。</a:t>
            </a:r>
          </a:p>
          <a:p>
            <a:r>
              <a:t>第 2 题 答案：B。解析：碱溅入眼睛损伤往往更严重，要立即到洗眼器用流水冲洗足够时间，报告并就医。</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答案：B。解析：碱会使磨口玻璃塞粘住打不开；酸碱分开，腐蚀品放低处、放托盘、进专柜。</a:t>
            </a:r>
          </a:p>
          <a:p>
            <a:r>
              <a:t>第 4 题 答案：C。解析：不在高于视线的位置倾倒，防止溅入眼睛。</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答案：立即用大量流动清水冲洗（必要时用紧急喷淋），边冲洗边脱去被污染的衣物，冲洗足够时间后报告实验室负责人，伤情较重时拨打 120 就医。解析：不要先找中和剂，冲水最重要。</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甲醛（福尔马林是它的水溶液）常用于固定组织和动物标本、病理制片；戊二醛常用于器械消毒和电镜样品固定。两者在医学、生命科学实验室中非常常见。</a:t>
            </a:r>
          </a:p>
          <a:p>
            <a:r>
              <a:t>正因为常见，容易被忽视。甲醛既有强刺激性和致敏性，又是致癌物，国家对其职业接触有专门的限值要求，属于需要重点管控的毒害化学品。</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甲醛和戊二醛接触皮肤、眼睛和黏膜后很快出现刺激症状：轻者发红、刺痛、流泪，重者灼伤；反复接触还可能引起过敏性皮炎。</a:t>
            </a:r>
          </a:p>
          <a:p>
            <a:r>
              <a:t>吸入蒸气会刺激呼吸道，出现咳嗽、恶心、咽喉炎，可能诱发哮喘、支气管炎，严重时损害呼吸功能，还可能引起呕吐、腹泻。浓度极高时可导致抽搐、昏迷甚至死亡。这些急性症状容易识别，一旦出现要立即处理。</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慢性危害往往在多年后才表现出来。甲醛已被确认为人类致癌物，长期过量接触会增加患癌（如鼻咽部肿瘤等）的风险；反复接触还可能造成永久性的呼吸道损伤和致敏。</a:t>
            </a:r>
          </a:p>
          <a:p>
            <a:r>
              <a:t>所以不能等到“有感觉”才防护，平时就要把接触降到最低。</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怀疑自己接触过量，或出现眼鼻刺激、咳嗽、皮疹、头痛等症状时，立即停止操作、离开现场，报告实验室负责人，由实验室负责人报告学院（报告程序见第 157 课）。</a:t>
            </a:r>
          </a:p>
          <a:p>
            <a:r>
              <a:t>及早就医，就医时带上化学品安全技术说明书，多数情况能够好转。不要拖延或隐瞒。</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甲醛、二氯甲烷、汞、六价铬化合物等因危害明确，国家职业卫生标准 GBZ 2.1（以现行文本为准）规定了职业接触限值，包括时间加权平均容许浓度、短时间接触容许浓度或最高容许浓度。这些标准最初针对工业上的大量使用，目的是把工作中的接触降到最低。</a:t>
            </a:r>
          </a:p>
          <a:p>
            <a:r>
              <a:t>按《中华人民共和国职业病防治法》，使用单位要在使用场所设置告知卡，告知职业病危害（包括致癌风险）和防护措施。限值数字是为保护使用者而设，具体数值查 GBZ 2.1 现行文本和本校规定；有疑问就问学院实验室安全管理员（接触限值的概念见第 042 课）。</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经常或大量使用甲醛等毒害品的场所，学校要组织有资质的机构进行工作场所空气检测，必要时做个人采样：把采样器佩戴在操作者衣领附近，采集呼吸带（口鼻周围）的空气。</a:t>
            </a:r>
          </a:p>
          <a:p>
            <a:r>
              <a:t>检测结果与 GBZ 2.1 的限值比较：长时间的平均接触达到或超过限值，就要改进通风、调整操作、加强个人防护，直到降下来；只看平均值可能掩盖短时间的高浓度，所以开瓶、倒液、换液等短时操作的峰值也要控制。</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所有使用甲醛、戊二醛等毒害品的人员都要接受培训：知道本实验室哪些地方在用、有哪些危害、怎样减少接触，并定期复训（准入培训见第 007 课）。</a:t>
            </a:r>
          </a:p>
          <a:p>
            <a:r>
              <a:t>使用前阅读厂家提供的中文安全技术说明书，了解危害特性、暴露途径、健康影响、防护和应急措施；操作和储存按说明书和本实验室操作规程执行，每天都一样，不打折扣。有担心或发现隐患，及时向实验室负责人报告。</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化学品安全标签是最直接的危害信息来源（GB 30000 系列、GB 15258-2009，以现行文本为准）。含甲醛的溶液和混合物，以及会释放甲醛的材料，都要在标签上标明含甲醛；含量较高的还要写明主要危害，特别是“可能致癌”。</a:t>
            </a:r>
          </a:p>
          <a:p>
            <a:r>
              <a:t>自配溶液、分装容器同样要贴标签（标签见第 039 课）。标签写不下的内容会指引查阅安全技术说明书，说明书还告诉你怎样避免过量接触。</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实验前按本校风险管理要求进行风险评估：用量多少、操作多长时间、在什么场所做，决定需要的通风条件和防护措施（风险评估见第 014 课）。</a:t>
            </a:r>
          </a:p>
          <a:p>
            <a:r>
              <a:t>防护的目标是不让毒害品接触到人：不吸入、不沾皮肤、不溅进眼睛。佩戴护目镜（易溅时加面屏），按说明书选择耐该化学品的手套（醛类常用丁腈手套，具体以说明书为准），穿实验服；通风不能满足时按评估结果使用呼吸防护（见第 025 课）。</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把蒸气挡在呼吸带之外，最有效的方法是局部排风。开瓶、量取、配制、换液、标本取材都在通风柜或专用排风台里进行，不在敞开的台面上开瓶倒液。</a:t>
            </a:r>
          </a:p>
          <a:p>
            <a:r>
              <a:t>台面铺吸水垫，便于收集滴洒；用完随手盖紧容器。不同的通风设备（通风柜、取材台、局部排风罩）用法不尽相同，先弄懂怎么用，再按使用规则操作（通风柜使用见第 052 课）。</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从浓溶液自行稀释、分装时接触风险最大，要在通风柜里操作并做好防护。现在多采用预先稀释好的成品或预分装容器，可以减少开瓶和倒液的次数。</a:t>
            </a:r>
          </a:p>
          <a:p>
            <a:r>
              <a:t>稀溶液同样有刺激性和致癌性，不能因为“已经稀释了”就放松防护。</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甲醛等毒害品原容器密闭，存放在阴凉、通风的柜子里，远离氧化剂；部分含甲醇的甲醛溶液还具有易燃性，按易燃品要求存放（见第 046 课）。</a:t>
            </a:r>
          </a:p>
          <a:p>
            <a:r>
              <a:t>按实验需要少量领用，记入台账，用完登记。标本瓶、浸泡缸用后随手盖紧，不长期敞口放置。列入剧毒化学品目录的毒害品按“五双”制度管理（见第 045 课）。</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发生溅洒、泄漏或接触时，按本实验室的应急程序处置（泄漏处置见第 056 课，灼伤急救见第 160 课）。应急程序要在平时通过培训和演练熟悉：洗眼器、喷淋、泄漏处理包在哪里，怎样报告。</a:t>
            </a:r>
          </a:p>
          <a:p>
            <a:r>
              <a:t>对操作中的担心和发现的隐患，及时向实验室负责人报告，不要等出了事再说。</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二氯甲烷是萃取、色谱等实验中最常用的溶剂之一，不易燃，常被误认为“比较安全”，所以需要专门培训。</a:t>
            </a:r>
          </a:p>
          <a:p>
            <a:r>
              <a:t>吸入二氯甲烷会抑制中枢神经，在体内还会代谢产生一氧化碳，加重心脏负担；长期或反复大量接触可损害心脏、肝脏和神经系统，并可能增加患癌风险。伤害是慢慢积累的，不能等出现症状才防护。</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二氯甲烷沸点低、挥发快，蒸气比空气重，会积聚在地面、地沟、低处的容器和柜子里。使用前读安全技术说明书和标签，了解它的特性。</a:t>
            </a:r>
          </a:p>
          <a:p>
            <a:r>
              <a:t>取用、分装、萃取都在通风柜里进行；旋转蒸发等浓缩操作要在通风条件下进行，尾气按规定处理；不在台面上敞口挥干溶剂。用完随手盖紧，减少挥发。</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二氯甲烷等的职业接触标准源于工业上的大量使用，但实验室用量小并不等于风险小：近距离操作、通风柜使用不当、敞口挥发都可能造成短时高浓度接触。</a:t>
            </a:r>
          </a:p>
          <a:p>
            <a:r>
              <a:t>要重视危害，确认控制措施真的有效：通风柜风速正常、柜门高度正确、容器密闭、手套适用（二氯甲烷能很快穿透很多常见手套材料，按说明书选择）。</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使用二氯甲烷等挥发性溶剂时，出现头晕、头痛、发困、注意力不集中，说明可能吸入过量。马上停止操作，离开到空气新鲜的地方，并提醒周围的人。</a:t>
            </a:r>
          </a:p>
          <a:p>
            <a:r>
              <a:t>报告实验室负责人，查清通风柜或排风哪里出了问题，修好前不再使用。症状不缓解或加重，及时就医，必要时拨打 120。</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重铬酸钾、铬酸盐等六价铬化合物是确认的致癌物，同时是强致敏物和氧化剂：接触皮肤可引起溃疡和过敏性皮炎，吸入粉尘或雾滴会损伤鼻腔和呼吸道（GB 30000 系列分类，以安全技术说明书为准）。</a:t>
            </a:r>
          </a:p>
          <a:p>
            <a:r>
              <a:t>能用低毒替代方法的优先替代。必须使用时，称量粉末在通风柜或带排风的称量台里进行，防止扬尘，戴护目镜和合适的手套；含铬废液单独收集、标明成分，按《国家危险废物名录》（以现行文本为准）交有资质单位处置，不得倒入下水道（见第 053、054 课）。</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金属汞在常温下就会挥发，汞蒸气无色无味，人察觉不到。长期吸入会损害神经系统和肾脏，出现手抖、情绪改变、记忆力下降等表现。汞的可溶性化合物毒性更大，有的属于剧毒化学品（按“五双”管理，见第 045 课）。</a:t>
            </a:r>
          </a:p>
          <a:p>
            <a:r>
              <a:t>实验室中的含汞温度计、压力计、汞灯等，能用电子仪器或无汞产品替代的尽量替代；保留使用的放在托盘里，防止打碎后汞珠散落。</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含汞温度计、压力计破损后，汞会散成许多到处滚动的小珠，钻进缝隙。不要用手碰，不要用扫帚扫，更不能用吸尘器吸——会把汞打散并加速挥发。</a:t>
            </a:r>
          </a:p>
          <a:p>
            <a:r>
              <a:t>无关人员先离开，隔开现场，开窗或保持通风，关闭附近热源；报告实验室负责人，由经过培训的人员用专用汞处理包收集，收集物密封后按危险废物处置。详细处置流程见第 056 课。</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按《中华人民共和国职业病防治法》和 GBZ 188（以现行文本为准），长期、规律接触甲醛、汞、六价铬、苯等职业病危害因素的人员，应按规定进行上岗前、在岗期间和离岗时的职业健康检查，由学校组织到有资质的机构进行，结果存入个人健康档案。具体范围以本校职业健康管理规定为准。</a:t>
            </a:r>
          </a:p>
          <a:p>
            <a:r>
              <a:t>检查发现异常或出现与接触有关的健康损害，要及时调整岗位或工作内容。怀孕、哺乳、过敏体质等特殊情况，主动告知实验室负责人，调整接触安排（见第 152 课）。</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点毒害品虽然有害，但只要做到四件事就能安全使用：知危害——了解急性和慢性危害；识材料——通过标签和说明书认清哪些试剂和材料含毒害成分；会防护——通风柜、个人防护、密闭储存；备应急——熟悉应急程序，出现症状或洒漏立即报告。</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答案：C。解析：稀溶液照样有危害，开瓶、量取、分装都在通风柜里做。</a:t>
            </a:r>
          </a:p>
          <a:p>
            <a:r>
              <a:t>第 2 题 答案：B。解析：二氯甲烷易挥发、蒸气比空气重，长期接触伤心、伤肝、伤脑并可能致癌，取用、浓缩都在通风柜里。</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答案：B。解析：头晕发困是吸入过量的信号。</a:t>
            </a:r>
          </a:p>
          <a:p>
            <a:r>
              <a:t>第 4 题 答案：C。解析：扫和吸会打散汞并加速挥发；收集物按危险废物处置，流程见第 056 课。</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答案：B。解析：长时间平均和短时高峰都要与 GBZ 2.1 的限值比较，超限要加强防护。</a:t>
            </a:r>
          </a:p>
          <a:p>
            <a:r>
              <a:t>第 6 题 答案：按规定进行上岗前、在岗期间和离岗时的职业健康检查，结果存档；出现异常及时调整岗位；怀孕、过敏等特殊情况主动告知实验室负责人。解析：依据《中华人民共和国职业病防治法》和 GBZ 188（以现行文本为准）。</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很多化学品名称又长又拗口，名称相近的试剂可能只差一个字或一个前缀，危害却完全不同。取错试剂可能导致剧烈反应、中毒或实验失败。</a:t>
            </a:r>
          </a:p>
          <a:p>
            <a:r>
              <a:t>取用前，对照实验记录或操作规程，逐字核对化学品安全标签上的名称、浓度、规格，并看清象形图和防范说明（GB 30000 系列、GB 15258-2009，以现行文本为准；标签识读见第 039 课）。</a:t>
            </a:r>
          </a:p>
          <a:p>
            <a:r>
              <a:t>标签脱落、模糊或无标签的容器一律不使用，报告实验室负责人按规定处理，不凭颜色、气味或记忆“猜”是什么。</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实验室里的任何化学品都不能用嘴尝来鉴别，也不能把鼻子凑到容器口直接闻，以免吸入高浓度的有毒、刺激性蒸气。</a:t>
            </a:r>
          </a:p>
          <a:p>
            <a:r>
              <a:t>教学实验中确需辨别气味时，按老师要求：容器离开面部一段距离，用手掌在容器口上方把少量气体轻轻扇向鼻子，浅浅闻一下即可，不深吸。有毒、易挥发或有刺激性气味的化学品，一律在通风柜内取用和操作（通风柜使用见第 052 课）。</a:t>
            </a:r>
          </a:p>
          <a:p>
            <a:r>
              <a:t>实验室内不吃不喝；不把笔、手指、标签纸等放到嘴边，防止化学品经口进入人体。</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嘴吸移液管是实验室的严禁行为：吸力稍大或注意力不集中，液体会直接进入口腔，造成化学灼伤、中毒或感染。这一要求对所有液体（包括清水、缓冲液）和所有实验室（化学、生物，包括一级生物安全实验室）都适用。</a:t>
            </a:r>
          </a:p>
          <a:p>
            <a:r>
              <a:t>玻璃移液管用洗耳球（吸耳球）或移液辅助器吸取；微量液体使用移液器，按规范装吸头、按压、吸液、排液，用过的吸头弃入指定容器。</a:t>
            </a:r>
          </a:p>
          <a:p>
            <a:r>
              <a:t>破损的玻璃移液管、碎玻璃放入锐器盒或专用碎玻璃收集容器，不徒手捡拾、不混入普通垃圾。</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移液管、药匙直接伸进原试剂瓶，会把杂质、水分或其他试剂带入整瓶，造成污染，甚至引发反应。正确做法是：估计用量，先把略多于所需的量倒入干净的小烧杯或称量容器，再从中移取。</a:t>
            </a:r>
          </a:p>
          <a:p>
            <a:r>
              <a:t>取出后剩余的试剂不得倒回原瓶。一点污染就可能毁掉整瓶试剂，严重时造成危险。按需少量取用，剩余的按本实验室规定回收或作为废液分类收集（见第 053 课）。</a:t>
            </a:r>
          </a:p>
          <a:p>
            <a:r>
              <a:t>展开剂、溶剂等也按需少取，试剂瓶随开随盖，容器不长时间敞口。</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倾倒液体时握住瓶身，标签朝向手心，这样即使有液体沿瓶口流下也不会腐蚀、污染标签，保证后来的人能看清名称和危害。</a:t>
            </a:r>
          </a:p>
          <a:p>
            <a:r>
              <a:t>取下的瓶盖（瓶塞）口朝上倒放在台面上或拿在手中，既不沾污台面，也不把台面上的杂质带回瓶中。向小口容器倾倒时使用漏斗，容器下面垫托盘，万一洒漏能兜住。</a:t>
            </a:r>
          </a:p>
          <a:p>
            <a:r>
              <a:t>倾倒动作要平稳、果断：起倒和收尾干脆利落，犹犹豫豫会让液体顺着瓶壁外侧流下。浓酸碱的倾倒要点见第 048 课。</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倒完液体后，瓶口常挂着液滴，顺瓶壁流下会形成小洒漏，污染台面和试剂架，下一个拿瓶子的人可能直接接触到化学品。</a:t>
            </a:r>
          </a:p>
          <a:p>
            <a:r>
              <a:t>倒完后用纸巾擦净瓶口和瓶身外侧的液滴（沾有化学品的纸巾按规定作为固体废物收集），把瓶盖完全拧紧，放回原来的位置。</a:t>
            </a:r>
          </a:p>
          <a:p>
            <a:r>
              <a:t>试剂瓶随开随盖，不敞口放置，减少挥发和吸潮。</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粉末状化学品容易在取用和称量时扬起，被吸入或落到皮肤、台面上。称量前先查阅安全技术说明书，穿戴实验服、手套和护目镜。</a:t>
            </a:r>
          </a:p>
          <a:p>
            <a:r>
              <a:t>用药匙轻取轻放，在天平防风罩内操作，关好防风门，不对着粉末说话、吹气；有毒或高活性粉末（如激素等）在通风柜或专用的通风称量罩内称量，必要时佩戴合适的呼吸防护。</a:t>
            </a:r>
          </a:p>
          <a:p>
            <a:r>
              <a:t>称量完毕用小刷或湿巾清理天平和台面；配制的母液、溶液贴好标签，写明名称、浓度、日期和配制人，按要求存放。</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化学品只能在实验室内按规定使用和存放，不得装进书包、口袋私自带出实验室，更不能带回宿舍、教室、食堂等公共场所。私带化学品既有中毒、火灾风险，也违反危险化学品管理规定。</a:t>
            </a:r>
          </a:p>
          <a:p>
            <a:r>
              <a:t>确需在实验室之间转移的，先经实验室负责人同意，按本校规定登记（管控类化学品的领用和转移要求见第 045 课），并按 K9、K10 的要求使用二次容器或推车转移。</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实验室之间、楼层之间转移化学品时，把试剂瓶放进防破碎的二次容器（如带盖的塑料桶、橡胶提桶、专用防护套），万一瓶子破裂，液体也能被兜住，不洒到走廊和楼梯上。易燃易爆化学品更要使用二次容器。</a:t>
            </a:r>
          </a:p>
          <a:p>
            <a:r>
              <a:t>多个试剂瓶用带隔挡的提篮装好，瓶子直立、互不碰撞，双手平稳提拿。只拿一瓶时，一手握瓶身、一手托住瓶底，不要单手拎瓶颈或瓶盖。</a:t>
            </a:r>
          </a:p>
          <a:p>
            <a:r>
              <a:t>一次不要拿太多，不把瓶子叠放；转移时避开人员密集的时段和路线，乘电梯等具体要求以本校规定为准。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需要搬运多瓶或较重的化学品时，不要抱着走长路，使用带护边（护栏）、轮子较大、重心低的化学品推车，瓶子放在托盘或二次容器里，防止滑落。</a:t>
            </a:r>
          </a:p>
          <a:p>
            <a:r>
              <a:t>普通仪器车、小推车轮子小、护边低，遇到门槛、电梯缝或不平地面容易翻倒，不能用来搬运化学品。</a:t>
            </a:r>
          </a:p>
          <a:p>
            <a:r>
              <a:t>推车时慢慢走，提前确认路线通畅，避开人流和障碍物；过门槛和进出电梯时放慢速度，必要时两人配合。</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校外运输的危险化学品属于危险货物，要按国家标准分类（GB 6944-2025、GB 12268-2025，以现行文本为准），使用合规的包装并可靠封装，包装上粘贴危险货物包装标志（GB 190-2009，以现行文本为准）。破损、渗漏的包装不得运输。</a:t>
            </a:r>
          </a:p>
          <a:p>
            <a:r>
              <a:t>危险化学品不得随身携带乘坐公共交通工具，不得夹带在普通货物中，也不得通过普通快递、邮寄寄递。需要采购或运输的，通过学校主管部门联系具备相应资质的单位承运，按《中华人民共和国危险化学品安全法》《危险化学品安全管理条例》《危险货物道路运输安全管理办法》等规定执行（以现行文本和本校规定为准）。</a:t>
            </a:r>
          </a:p>
          <a:p>
            <a:r>
              <a:t>装卸、搬运和运输由经过培训、合格的人员负责，熟悉所运化学品的危害，随货携带安全技术说明书，出现泄漏等状况时懂得应急处置（泄漏处置见第 056 课）。</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答案：B。解析：任何液体都严禁用嘴吸，一律用洗耳球、移液辅助器或移液器。</a:t>
            </a:r>
          </a:p>
          <a:p>
            <a:r>
              <a:t>第 2 题 答案：B。解析：多余试剂不倒回原瓶，防止污染整瓶；按需少取，剩余的按规定处理。</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答案：C。解析：标签朝手心保护标签，瓶盖倒放不沾污，动作果断防止顺壁流，倒完擦净、盖紧。</a:t>
            </a:r>
          </a:p>
          <a:p>
            <a:r>
              <a:t>第 4 题 答案：C。解析：校内转移用二次容器、提篮或稳固推车，慢走、走通畅路线。</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不能随身携带或用普通快递寄送；通过学校主管部门联系具备资质的单位承运，按规定包装、封装并粘贴危险货物包装标志，由培训合格的人员办理，随货附安全技术说明书。解析：危险化学品运输必须走正规渠道。</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许多化学品在使用中会放出有害的烟、雾、蒸气和颗粒物。人的口鼻周围的空气区域称为呼吸带，有害物进入呼吸带就会被吸入体内。</a:t>
            </a:r>
          </a:p>
          <a:p>
            <a:r>
              <a:t>化学通风柜是实验室最常用的局部排风设施：它把操作中产生的有害蒸气和粉尘捕集住、抽走并排到室外，把污染物挡在操作者的呼吸带之外。做有毒、有刺激性或易挥发化学品的实验，应在通风柜内进行。</a:t>
            </a:r>
          </a:p>
          <a:p>
            <a:r>
              <a:t>通风柜有台式、落地式、变风量等多种形式，基本原理相同。通风柜、超净工作台和生物安全柜的区别见第 071 课。</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排风机通过风管从柜内持续抽气，室内空气从柜口不断流入，在柜口形成一道向内的空气屏障（气帘），把柜内产生的污染物关在柜里。</a:t>
            </a:r>
          </a:p>
          <a:p>
            <a:r>
              <a:t>污染物随气流经柜后的导流板缝隙进入风管，排到楼外，在室外大气中进一步稀释。只要气流正常，污染物就进不了实验室。</a:t>
            </a:r>
          </a:p>
          <a:p>
            <a:r>
              <a:t>视窗（前窗）是这道屏障的一部分：视窗越低，开口越小，屏障越稳定，还能挡住飞溅，因此使用时视窗要尽量放低（视窗高度的具体要求见第 052 课）。</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面风速是空气流过通风柜开口时的平均速度，反映向内气流的强弱。面风速过低，屏障太弱，蒸气容易逸出柜外。</a:t>
            </a:r>
          </a:p>
          <a:p>
            <a:r>
              <a:t>面风速也不是越大越好：风速过大会在柜口和操作者身体前方产生湍流和旋涡，反而把污染物卷出柜外，还会浪费能源、干扰柜内操作。</a:t>
            </a:r>
          </a:p>
          <a:p>
            <a:r>
              <a:t>面风速应在规定范围内，并定期检测，不能过期。具体数值以本校规定和设备标识为准，本课程不给出具体数值。</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气流看不见、摸不着，可以借助烟雾或轻飘带直观地看到。柜口下沿贴一条轻飘带，风机开启时飘带向柜内飘动，说明柜子在抽风。</a:t>
            </a:r>
          </a:p>
          <a:p>
            <a:r>
              <a:t>检测时用发烟装置在柜口放出少量白烟，白烟平稳地流向柜后、不打转、不外溢，说明气流方向和组织正常。</a:t>
            </a:r>
          </a:p>
          <a:p>
            <a:r>
              <a:t>飘带只能判断风机开没开、气流方向对不对，不能用来判断面风速够不够；风速必须由专业人员用仪器测量（见 K10）。</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通风柜的保护效果依赖平稳的向内气流，而这种气流很容易被打断或改变。影响因素主要有：视窗高度、柜内堆放的物品和大设备、柜前人员走动和快速动作、门窗开关和送风口、风扇等横向气流。</a:t>
            </a:r>
          </a:p>
          <a:p>
            <a:r>
              <a:t>视窗开得越大，开口面积越大，在排风量不变时柜口风速越低，屏障越弱。柜内堆满瓶子或物品，会挡住后部排风缝隙，造成气流死角和回流。</a:t>
            </a:r>
          </a:p>
          <a:p>
            <a:r>
              <a:t>气流被打乱后，柜内的污染空气会被带到柜外，吸进操作者的呼吸带。因此使用时要注意这些因素，绝不能干扰通风柜内的气流（使用规范见第 052 课）。</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旋转蒸发仪、加热浴、电炉等较大的设备直接放在柜内台面上，会挡住流向下部排风缝的气流，在设备前后形成旋涡。</a:t>
            </a:r>
          </a:p>
          <a:p>
            <a:r>
              <a:t>把设备放在稳固的垫块或支架上垫高几厘米，让空气能从设备下方流过，进入柜后的排风缝隙。设备与后部导流板之间也要留出距离，不要堵住排风缝。</a:t>
            </a:r>
          </a:p>
          <a:p>
            <a:r>
              <a:t>垫高时要保证设备稳固、不倾倒，电源线不被挤压。</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人在走动时，身体后方会形成空气旋涡。从正在使用的通风柜前快速走过，旋涡的作用可能超过柜口的向内气流，把柜内的污染物拉出柜外。</a:t>
            </a:r>
          </a:p>
          <a:p>
            <a:r>
              <a:t>有人在使用通风柜时，其他人不要贴着柜口来回走动或快速经过，柜前保持足够的空间，必要时绕行。操作者自己也要避免在柜前快速转身和大幅度动作。</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门、窗、电风扇和空调或天花板送风口会在柜口形成横向气流，把柜内蒸气吹出或吸出柜外。因此通风柜应设置在远离门、窗和送风口、人员较少走动的位置，这是实验室设计和改造时由学校相关部门统筹考虑的（以本校规定为准）。</a:t>
            </a:r>
          </a:p>
          <a:p>
            <a:r>
              <a:t>作为使用者，要注意不在通风柜旁开窗、开电风扇对着柜口吹，不长时间敞开靠近通风柜的门。发现送风口正对柜口等明显问题，报告实验室负责人。</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通风柜在新安装、实验室通风系统改造后，以及使用期间定期都要进行性能检测，检测结果记录在案，合格的贴有检测标识。风机在响、听着在转，不等于合格。</a:t>
            </a:r>
          </a:p>
          <a:p>
            <a:r>
              <a:t>使用前看一眼柜体上的检测标识：是否检测过、是否在有效期内。没有标识或已过期的，按不合格对待，不使用，报告实验室负责人并报修。</a:t>
            </a:r>
          </a:p>
          <a:p>
            <a:r>
              <a:t>发现故障或检测不合格的通风柜，挂牌停用、报修，不擅自拆改。检测周期和标识样式以本校规定为准。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性能检测有规定的步骤，由学校委托的专业人员或设施管理人员完成：检查柜前横向气流是否过大；在柜口放少量烟雾，观察烟雾流向和有无打转外溢；把视窗放在工作位置，将柜口分成若干小格，用风速仪逐格测量面风速。</a:t>
            </a:r>
          </a:p>
          <a:p>
            <a:r>
              <a:t>检测不合格的，在调整好之前不得使用；需要时调整导流板、排风量，甚至改造实验室通风系统。</a:t>
            </a:r>
          </a:p>
          <a:p>
            <a:r>
              <a:t>学生和一般使用者不得自行拧动导流板、调节风阀或改变风量。具体检测方法和指标以国家相关标准、本校规定和设备标识为准。</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通风柜应配有风量（风速）监测显示和报警装置，风量低于设定值时发出灯光和声音报警，提醒操作者保护已经失效。</a:t>
            </a:r>
          </a:p>
          <a:p>
            <a:r>
              <a:t>报警器通常同时有灯光和声音提示。不要把声音关掉，因为操作时往往低头专注于实验，只有声音报警才能让人及时发现。</a:t>
            </a:r>
          </a:p>
          <a:p>
            <a:r>
              <a:t>报警功能是否灵敏，由设施管理人员按设备说明书定期测试，并做好记录。使用前看一眼风量显示是否正常。</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通风柜一旦报警，说明排风可能不足，立即按“停、关、报”处理：停止实验操作，关闭热源，盖好容器；把视窗拉下关闭；报告实验室负责人和学院实验室安全管理员，联系设施维修人员。</a:t>
            </a:r>
          </a:p>
          <a:p>
            <a:r>
              <a:t>如已闻到明显异味或感到不适，先撤离实验室，必要时按应急程序报告（报警与事故报告见第 157 课，以本校应急预案为准）。</a:t>
            </a:r>
          </a:p>
          <a:p>
            <a:r>
              <a:t>故障排除后，由相关人员按设备说明书复位报警器，确认风量恢复正常后再继续实验。</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除通风柜等局部排风外，化学实验室还要有全面通风，持续运行、不断换气，稀释和排出逸散到室内的有害气体。换气次数按实验室设计和本校规定执行，不能只靠通风柜作为唯一的排风出口。</a:t>
            </a:r>
          </a:p>
          <a:p>
            <a:r>
              <a:t>化学实验室通常保持相对走廊的负压，空气从走廊流入实验室，再经排风系统排出，有害气体就不会扩散到走廊和办公室。</a:t>
            </a:r>
          </a:p>
          <a:p>
            <a:r>
              <a:t>为维持负压和气流组织，实验室门不要长时间敞开，送风口、排风口不要用纸箱、物品遮挡；夜间和节假日通风系统的运行要求以本校规定为准。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除普通化学通风柜外，还有针对特殊危害的专用通风柜，平时不常用，但要知道它们的用途，不能混用。</a:t>
            </a:r>
          </a:p>
          <a:p>
            <a:r>
              <a:t>高氯酸加热等操作会在柜体和风管内留下危险残留物，越积越多可能引发爆炸。高氯酸专用通风柜采用耐腐蚀材料，并设有水冲洗系统，可定期冲洗柜体内壁和风管。高氯酸专用柜内绝不能放置或使用有机物，普通通风柜也不得用于高氯酸加热操作（以本校规定为准）。</a:t>
            </a:r>
          </a:p>
          <a:p>
            <a:r>
              <a:t>开放性放射性物质的操作要在专用的通风柜或手套箱内进行，并按辐射安全管理要求执行（见第 091 课）。</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答案：B。解析：空气从柜口持续流入，形成向内屏障，污染物随气流经风管排到楼外。</a:t>
            </a:r>
          </a:p>
          <a:p>
            <a:r>
              <a:t>第 2 题 答案：B。解析：风速过大会产生湍流，反而把污染物卷出；面风速要在规定范围内，以本校规定和设备标识为准。</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答案：B。解析：人员走动带起的旋涡会把污染物拉出柜外。</a:t>
            </a:r>
          </a:p>
          <a:p>
            <a:r>
              <a:t>第 4 题 答案：C。解析：报警按“停、关、报”处理，故障排除后按说明书复位。</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答案：实验室要持续通风换气并保持负压，稀释和排出逸散的有害气体，防止扩散到走廊和办公室；排风不能只靠通风柜，运行要求以本校规定为准。解析：试剂柜、废液桶等在无人时也会持续挥发。</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通风柜的保护效果，一半取决于设计、安装和检测（见第 051 课），另一半取决于使用者的操作习惯。视窗开得太高、头伸进柜内、柜内堆满杂物，都会让一台合格的通风柜失去保护作用。</a:t>
            </a:r>
          </a:p>
          <a:p>
            <a:r>
              <a:t>需要放进通风柜做的操作，说明所用物质有毒、易挥发或易燃，本身就有危险。使用要点可概括为：检测合格、深处操作、不当储存柜；看风量显示、拉低视窗、定期检测；选对柜子、用对方法。</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凡可能产生有害气体、烟雾或粉尘的操作，挥发性、有毒、有刺激性化学品的取用和倾倒，都应在化学通风柜内进行，不在敞开的实验台上图省事，也不凑近闻。</a:t>
            </a:r>
          </a:p>
          <a:p>
            <a:r>
              <a:t>使用易燃有机溶剂的反应，加热或煮沸乙醇、丙酮等溶剂，蒸馏、升华、重结晶等装置并不完全密闭，会放出易燃或有毒蒸气，要搭在通风柜内，通风柜及时排走蒸气，避免其积聚并接触热源；装置通大气的出口引向柜内排风处。移取挥发性、有毒液体，配制持久性有机污染物等有毒标准品，也在柜内进行，戴好手套和护目镜，剩余物和废液收入危险废物容器。</a:t>
            </a:r>
          </a:p>
          <a:p>
            <a:r>
              <a:t>化学通风柜不保护样品，也不适合病原微生物操作，生物操作使用生物安全柜（区别见第 071 课）。</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使用前先打开风机，查看风速（风量）显示和指示灯是否正常；可在柜口拿一条纸巾或飘带，确认气流向柜内流动（纸条只能确认风机在抽风，不能判断风速是否合格）。</a:t>
            </a:r>
          </a:p>
          <a:p>
            <a:r>
              <a:t>查看检测标识，确认通风柜检测过且在有效期内；检查视窗升降顺畅、柜内整洁、柜内设备已移到靠里的位置，多余的瓶子和设备已拿走。</a:t>
            </a:r>
          </a:p>
          <a:p>
            <a:r>
              <a:t>没有向内气流、风速显示异常或报警的，不使用，挂牌停用，立即报告实验室负责人报修（检测与报警见第 051 课）。</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通风柜只是工程控制措施之一，不能代替个人防护。操作前先阅读安全技术说明书，了解所用化学品的成分、危害和防护要求。</a:t>
            </a:r>
          </a:p>
          <a:p>
            <a:r>
              <a:t>在通风柜内操作时，照常佩戴护目镜（GB 14866-2023，以现行文本为准）、穿实验服、戴按说明书选择的化学防护手套（GB 28881-2023，以现行文本为准）；处理腐蚀性液体或有飞溅风险时，加戴面屏等更高等级的防护。</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视窗（前窗）可以上下滑动，柜体上标有检测时标定的工作高度标线。操作时视窗下沿放在标线处或更低，在方便操作的前提下尽量放低，手从视窗下方伸入操作。不要图方便把视窗推到顶：开口过大，进风速度下降，蒸气就可能漏出来扑到脸上。</a:t>
            </a:r>
          </a:p>
          <a:p>
            <a:r>
              <a:t>视窗要挡在面部和化学品之间，下沿不能与口鼻齐平；放低的视窗还能挡住飞溅、喷射，甚至小的燃烧和爆炸。</a:t>
            </a:r>
          </a:p>
          <a:p>
            <a:r>
              <a:t>视窗也不是越低越好：开口过小，局部风速过大，也可能产生湍流带出蒸气。具体高度以柜体标线、本校规定和设备标识为准。</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使用通风柜一般要站着操作，身体在柜外，保持视窗挡在面部前方。坐得太低，脸就到了视窗下沿以下，失去视窗的保护。</a:t>
            </a:r>
          </a:p>
          <a:p>
            <a:r>
              <a:t>绝不把头伸进通风柜：既会扰乱气流，又会直接吸入柜内的有害气体。需要观察时隔着视窗玻璃看。柜内装置需要调整、手够不着时，停下来找老师商量，不要探身进柜。</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柜口前沿附近的气流最弱、最容易受外界干扰，化学品越靠近柜口越容易漏出来；放在柜内深处，就能被完整地吸走。</a:t>
            </a:r>
          </a:p>
          <a:p>
            <a:r>
              <a:t>所有器皿、装置和操作都放在柜内足够深的位置，离柜口前沿保持一段距离，不把试剂瓶、器材堆在柜口边上。有的通风柜在台面上画有操作区标线，具体距离以柜内标线和本校规定为准。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通风柜的抽力其实并不大，柜前的快速动作很容易扰乱柜口气流。开工前把所需器材和试剂一次放进柜内，减少手臂进出。</a:t>
            </a:r>
          </a:p>
          <a:p>
            <a:r>
              <a:t>升降视窗要缓慢，猛拉猛推会把蒸气带出。确需把手臂移出柜外时，慢慢地、垂直于柜面抽出，不要斜着或快速甩出。在柜前操作时动作要稳，不快速转身；旁人也不要从柜前快步走过（见第 051 课）。</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不是试剂储存柜。柜内堆满瓶子和杂物，会挡住后部排风口，吸力下降，气流紊乱，把有毒气体带出来；不相容的化学品堆在一起可能相互反应，一旦溢洒或着火，还多了燃料，事故更大。易燃化学品不在通风柜内存放。</a:t>
            </a:r>
          </a:p>
          <a:p>
            <a:r>
              <a:t>柜内只放本次实验要用的东西，用不上的及时放回专用储存柜（储存柜见第 044 课）。后部排风口前不放东西，让气流均匀流过整个台面；大设备垫高，让空气从下面流过（见第 051 课）。</a:t>
            </a:r>
          </a:p>
          <a:p>
            <a:r>
              <a:t>纸张、薄膜等轻质物品不要放在排风口附近，以免被吸进风管或风机，降低通风效果。</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通风柜内有易燃溶剂时，加热板等热源要远离溶剂，不使用明火；电器插头不放在柜内插拔，插座宜在柜外，防止电火花点燃蒸气。溶剂用完马上盖好。</a:t>
            </a:r>
          </a:p>
          <a:p>
            <a:r>
              <a:t>通风柜不是废液处理器：不能把废液敞口放在柜内任其挥发，也不能倒进柜内水槽。实验废液按性质分类收集到专用容器中，贴好标签、盖紧，按危险废物管理（见第 053 课）。</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导流板、排风口、视窗、联锁装置和防护罩都是通风柜安全性能的一部分。使用者不得拆卸导流板、堵塞排风口、在柜口加装风扇，也不得随意拆除设备的防护罩和联锁装置。</a:t>
            </a:r>
          </a:p>
          <a:p>
            <a:r>
              <a:t>觉得排风不对劲时，报告实验室负责人和设施管理人员，维修、调整和检测交给专业人员（见第 051 课）。</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风量报警、风机或线路故障时，通风会减弱甚至突然停止，柜内的有害物会跑出来。此时按“停、盖、关、撤、报”处理：停止操作；盖好容器；关闭热源，拉下视窗；离开到安全处；立即报告实验室负责人和学院安全管理员，请设施人员检修。</a:t>
            </a:r>
          </a:p>
          <a:p>
            <a:r>
              <a:t>平时要事先了解本单位的应急预案，知道停风、停电时怎么办（见第 156、157 课）。觉得通风柜不对劲时，及时告诉老师，需要时请专业人员重新检测，检测合格后再使用。</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实验结束后，把用不上的器材和试剂拿出通风柜，试剂放回储存柜，擦净柜内台面，让下一位使用者面对的是干净的通风柜。</a:t>
            </a:r>
          </a:p>
          <a:p>
            <a:r>
              <a:t>不操作时把视窗关好，一旦柜内发生溢洒或着火，关闭的视窗能减轻影响；视窗关闭还能减少排风能耗。风机的运行要求（是否保持运行）以本校规定为准。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答案：B。解析：视窗按标线放低；开得太高进风变慢，蒸气可能扑到脸上；也不是越低越好。</a:t>
            </a:r>
          </a:p>
          <a:p>
            <a:r>
              <a:t>第 2 题 答案：B。解析：通风柜不是储存柜，堆放会挡住风口、扰乱气流，溢洒着火时事故更大。</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答案：C。解析：深处操作、动作轻缓；头不伸进柜内，废液分类收集盖紧。</a:t>
            </a:r>
          </a:p>
          <a:p>
            <a:r>
              <a:t>第 4 题 答案：C。解析：报警或停风按“停、盖、关、撤、报”处理。</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答案：打开风机，看风速显示和指示灯是否正常，确认柜口气流向里；看检测标识是否在有效期内；检查视窗升降顺畅、柜内整洁；异常的不使用并报告报修。解析：用前自检是正确使用的第一步。</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任何实验都会产生废物。废物管理看起来不起眼，却是实验室安全的重要一环：从产生的那一刻起，废物就要分好类、标识清楚、规范存放，直到交学校统一送有资质的单位处置，中间一步都不能少。</a:t>
            </a:r>
          </a:p>
          <a:p>
            <a:r>
              <a:t>管理不好，后果立即而且严重。原片举过一个例子：一次本可预防的废物事故在通风柜里引发火灾，造成重大损失，整个实验室停工。乱倒乱排还会危害人员健康，污染土壤、水体和空气；处置出错时，单位要依法承担法律责任，个人也要承担相应责任。</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废物处置要在实验开始之前就规划好，而不是做完才想。使用一种化学品之前，先弄清楚它和产物会形成什么废物、归哪一类、放进哪个容器、谁来收运。</a:t>
            </a:r>
          </a:p>
          <a:p>
            <a:r>
              <a:t>依据有两个：一是安全技术说明书的“废弃处置”部分（见第 041 课）；二是实验室和学校的书面废物管理规定。化学和感染性废物都要按制度处理；有些废物（如活性高、毒性大的）处置更复杂，先查说明书、做好防护。拿不准的，事先问导师和安全管理人员，不自作主张。</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实验室废物一般分为：化学废物（废液、废固、沾染化学品的包装和耗材）、生物废物（培养物、样本、沾染生物材料的耗材，见第 077 课）、放射性废物（见第 091 课）、锐器（针头、刀片、碎玻璃，见第 029 课）、电子废物和废电池，以及一般生活垃圾。各类废物管理体系不同，要分开收集，不能混放。</a:t>
            </a:r>
          </a:p>
          <a:p>
            <a:r>
              <a:t>处置之前先想清楚它是什么：沾了化学品的吸头和沾了生物样品的吸头要分开；沾生物污染的抹布纸巾按医疗废物要求处理，不进普通垃圾桶；生物材料先灭活（如高压灭菌），没有指示不打开细菌培养物。实验台要整洁、容易清洁，收集容器放在固定位置。具体类别和容器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最好的废物管理是少产生废物。实验室从按需领用、减少用量做起，遵循“减量、再利用、再循环”的思路（绿色实验室理念见第 055 课）。</a:t>
            </a:r>
          </a:p>
          <a:p>
            <a:r>
              <a:t>实验结束后，剩余的试剂和溶液能分享就分享，给需要的同学使用；没有人要的，倒进规定的废液容器。废物产生后按老师要求及时处理，但要分清哪些是废物、哪些是后面还要用的试剂，不要误丢。</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水道处理不了实验室化学品。易燃废液倒进去，蒸气会在管道里积聚，遇火源可能起火爆炸；酸碱和腐蚀性废液会腐蚀管道；有毒物质进入污水系统，污水处理厂处理不了，会污染水源和环境。倒错一次，后果就可能无法挽回。</a:t>
            </a:r>
          </a:p>
          <a:p>
            <a:r>
              <a:t>按国内法规和高校要求，实验室危险废液一律收集，不倒入水槽和下水道，也不混进生活垃圾。原片中“酸碱稀释后可以冲下水道”的做法不照做，稀释过的酸碱、用过的甲醛等醛类溶液、剩余的灭菌剂和消毒剂，都收集起来、贴好标签，交学校统一委托有资质的单位处置。能不能排放、怎么处置，以安全技术说明书和本校规定为准，不确定的先问。</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液按性质分类收集，相互会反应的绝不能混在一个桶里。不相容的废液混合，可能放出有毒气体（如酸与含氰废液）、剧烈放热沸溢（如浓酸与浓碱）、着火（如氧化剂与易燃有机物），有的组合还会爆炸。多数实验室废物事故，都源于混错了废液。</a:t>
            </a:r>
          </a:p>
          <a:p>
            <a:r>
              <a:t>倒进对应的废物容器；倒错桶，就可能和里面已有的东西反应。相容性判断见第 043 课，拿不准先问再倒。分开收集还能降低处置难度和费用。分类收集的废物贴好标签，由学校统一交给有资质的单位处置。</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废液不只是反应结束时剩下的那一瓶。过滤的滤液、重结晶的母液、蒸馏的馏出液和残液、各种洗涤液和冲洗溶剂、滴定剩余的酸碱、pH 电极排出的内充液和旧保存液、移液剩余的溶液，都要按类别倒进对应的废液容器，不随手倒进水槽。</a:t>
            </a:r>
          </a:p>
          <a:p>
            <a:r>
              <a:t>清洗玻璃器皿前，先把残液倒进废液桶，再趁残留未干时用低毒溶剂冲洗，冲洗液同样收集；洗不掉的找老师。用酒精擦拭台面时远离明火和热源。边做边清理，不把废液攒到实验结束。各类实验操作中的废物处理要点见第 15 章相关各课。</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机废液通常要区分含卤（如二氯甲烷、氯仿）和不含卤两类，分开收集；萃取后剩下的有机相和水相也分开，洗下来的水层同样按本校规定收集，不倒水槽。二氯甲烷等含卤溶剂有毒，倒废液时不吸入蒸气，桶口不敞开（重点毒害品见第 049 课）。</a:t>
            </a:r>
          </a:p>
          <a:p>
            <a:r>
              <a:t>含铬、含汞、含铜、锌、镍等重金属的废液单独收集，不和其他废液混装；含金属化合物的残渣和废样也单独收集，不进垃圾桶。既含微生物又含重金属的废液，先问清处置方法再处理。特殊废液的暂存和处置见第 054 课；具体分类以本校规定为准。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原片举过一个例子：有人把少量硝酸倒进了有机溶剂废液桶，桶慢慢发热，几小时后起火。桶上的标签写得没错，只是倒的人没有看。</a:t>
            </a:r>
          </a:p>
          <a:p>
            <a:r>
              <a:t>所以每次往废液桶里倒之前，都要停一下，读一遍标签，对照安全技术说明书和相容性要求判断能不能混；倒完立即在桶上的记录单写明名称和大致数量，方便后来的人判断和最终处置。</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废液容器要耐化学品腐蚀，材质与所装废液相容（GB 18597-2023，以现行文本为准），例如腐蚀性废液不用会被腐蚀的容器。容器要完好、不渗漏，盖子能盖紧。</a:t>
            </a:r>
          </a:p>
          <a:p>
            <a:r>
              <a:t>废液桶放在防漏托盘里，防止渗漏和倾倒时外流；不要装得太满，留出空间，避免倾倒溢出和受热膨胀。容器放在固定位置，远离热源、火源和通道。装量、托盘规格以本校规定为准。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废物容器从开始使用就要贴好标签，暂存期间一看就懂。标签一般写明：废物名称、主要成分及大致比例、危险特性（易燃、腐蚀、有毒等）、开始收集日期、产生的实验室和责任人。式样以本校规定为准。</a:t>
            </a:r>
          </a:p>
          <a:p>
            <a:r>
              <a:t>两次添加之间容器也要盖紧，不能敞着口。快满时封好，送到指定暂存点等待统一收运（暂存与处置见第 054 课）。要读懂学校的废物处置规定：自己产生的废物，自己负责到底，不能装好就不管。</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倒废液时同样有溅洒和吸入风险。挥发性、有毒的废液在通风柜内倾倒，戴好护目镜、手套，穿实验服，用漏斗慢慢倒；倒完取下漏斗，立即盖紧桶盖。</a:t>
            </a:r>
          </a:p>
          <a:p>
            <a:r>
              <a:t>不能把废溶剂敞口放在通风柜里让它挥发掉来“处置”，那等于把污染物排到大气里，还会造成柜内易燃蒸气积聚。确实需要蒸发浓缩溶剂的，先问实验室负责人按规定的方法进行。废液分类登记，交学校统一处置。</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容易被忽视的危险废物包括：盛装过危险化学品的空瓶、空桶等包装物；沾了化学品的手套、抹布、纸巾和滤纸；用过的硅胶、砂、棉花、干燥剂、活性炭渣和薄层板；沾溶剂的吸头和滴管。它们按固体化学废物收集，写清内容，盖好桶盖，不扔进普通垃圾桶。</a:t>
            </a:r>
          </a:p>
          <a:p>
            <a:r>
              <a:t>毛细管、碎玻璃属于玻璃锐器，放进专用盒（见第 029 课）。过期试剂和标签脱落、成分不明的试剂，不能随手倒掉，要单独存放、标明情况，报告实验室负责人按规定处理。具体以本校规定为准。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废旧电池放进专用的回收箱，不扔进生活垃圾。鼓包、漏液、破损的电池可能短路起火，单独存放在不燃容器内并报告处理（电池安全见第 103 课）。</a:t>
            </a:r>
          </a:p>
          <a:p>
            <a:r>
              <a:t>仪器维修换下的旧电源、电路板等电子部件，交回统一回收处置，不混进生活垃圾。焊接等作业留下的空焊丝盘和废丝分开回收，废丝不留在地上和台面上。回收渠道以本校规定为准。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废液桶出现发热、冒气、鼓胀、变色或异常气味，说明桶内可能发生了反应。此时立即停止往里添加，不要打开桶盖查看，带周围人员远离。</a:t>
            </a:r>
          </a:p>
          <a:p>
            <a:r>
              <a:t>在安全处报告实验室负责人和学院，按本单位应急预案处置；出现泄漏、起火时按第 056 课和消防应急要求处理，必要时拨打 119、120。</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答案：B。解析：危险废液一律收集，不倒下水道，稀释过的酸碱也一样；不靠挥发处理；倒前要看标签、查相容。</a:t>
            </a:r>
          </a:p>
          <a:p>
            <a:r>
              <a:t>第 2 题 答案：B。解析：很多事故是标签没错、只是没人看；每次倒之前都要读一遍标签，倒后记录。</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答案：D。解析：沾染危险化学品的包装物和耗材也是危险废物，不进生活垃圾。</a:t>
            </a:r>
          </a:p>
          <a:p>
            <a:r>
              <a:t>第 4 题 答案：B。解析：不要装太满，留出空间，快满就送暂存点。</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答案：立即停止添加，不打开桶盖，带人员远离；在安全处报告实验室负责人和学院，按应急预案处置，必要时拨打 119、120。解析：废液桶异常说明桶内可能在反应，按“停加、远离、报告”处理。</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危险废物从产生的那一刻起就要纳入管理，经过实验室暂存点、学校（学院）集中贮存，再由有资质的单位运输和处置，每一个环节都要有记录可查，形成完整的追踪链条。</a:t>
            </a:r>
          </a:p>
          <a:p>
            <a:r>
              <a:t>链条中任何一环断了，例如桶上没有标签、交接没有登记、转运没有联单，这批废物的去向就说不清，出了问题也无法追溯。</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依据《中华人民共和国固体废物污染环境防治法》和《国家危险废物名录》管理危险废物。判定一种废物是不是危险废物，一是看它是否列入名录（实验室废液、沾染危险化学品的包装物和耗材等通常在列）；二是看它是否具有腐蚀性、毒性、易燃性、反应性或感染性等危险特性，必要时按国家危险废物鉴别标准鉴别。</a:t>
            </a:r>
          </a:p>
          <a:p>
            <a:r>
              <a:t>实验室人员拿不准时，按危险废物管理，并请教实验室安全管理人员，不自行认定为一般废物。感染性废物另有专门要求（见第 077 课），放射性废物见第 091 课。危险废物由学校统一收集，交有资质的单位处置。</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产生危险废物的单位要建立危险废物管理台账，如实记录产生的种类、数量、去向等。实验室每次产生、交出废物都要登记，按月统计，做到心里有数。</a:t>
            </a:r>
          </a:p>
          <a:p>
            <a:r>
              <a:t>产生量越大，管理要求越严格。实验室的台账汇总到学院和学校，学校据此制定管理计划、依法申报，并安排收运和处置。台账格式和统计周期以本校规定为准。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实验室产生的危险废物，先放在产生点附近划定的暂存区，由使用的人直接看管，便于随时添加、检查和登记。</a:t>
            </a:r>
          </a:p>
          <a:p>
            <a:r>
              <a:t>暂存区的存量有上限，具体数量以本校规定为准。按上限和实际产生量选择合适大小的收集容器，不用过大的桶长期攒废物。</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 18597-2023（以现行文本为准）《危险废物贮存污染控制标准》的原则和本校规定管理实验室暂存点：位置固定，设置危险废物标志，每个容器贴好危险废物标签（标签内容见第 053 课）。</a:t>
            </a:r>
          </a:p>
          <a:p>
            <a:r>
              <a:t>不相容的废物分区、隔开存放（如酸与碱、氧化剂与有机物）；液态废物放在防漏托盘内，地面防渗，防止泄漏外流。暂存点保持通风，容器完好、盖紧；远离热源、火源和电源，不堵塞通道和应急设施，附近配备灭火器材和泄漏应急物资。</a:t>
            </a:r>
          </a:p>
          <a:p>
            <a:r>
              <a:t>安排专人定期检查容器是否完好、有无渗漏和异常，废物入出都登记。</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容器装到规定量（不要装太满）就封好，及时联系学校或学院的收运部门，在规定时间内转运到学校集中贮存点。具体时限以本校规定为准。</a:t>
            </a:r>
          </a:p>
          <a:p>
            <a:r>
              <a:t>转运前拧紧桶盖，擦净容器外壁，确认标签完整清楚。装满的桶长期堆在实验室，不仅占地方、增加火灾和泄漏风险，也违反管理规定。</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含汞、含铬等重金属的废液和废物单独收集、单独存放，不与其他废液混装，标明成分，交学校按危险废物处置。实验室不自行用沉淀、还原等方法“处理”废液后排放，处置工作由有资质的单位完成。洒落汞的应急处置见第 056 课。</a:t>
            </a:r>
          </a:p>
          <a:p>
            <a:r>
              <a:t>剧毒、易制毒、易制爆等管控类化学品及其废弃物，按管控要求登记、存放，报告学院和学校管理部门后统一处置，不得擅自处置（见第 045 课）。标签脱落、成分不明的废物和试剂单独存放，挂牌标明，报告安全管理人员安排鉴别和处置。</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部分化学品可以回收利用，但具有爆炸性的残留物例外：它们不能冲进下水道，也不能送去回收，更不能自行处理。</a:t>
            </a:r>
          </a:p>
          <a:p>
            <a:r>
              <a:t>遇到这类残留物，保持原状，不摩擦、不撞击、不加热，立即报告实验室负责人，由学校联系有资质的单位按专门程序处置（易燃易爆化学品见第 046 课，反应性化学品见第 047 课）。</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危险废物按学校或学院通知的收运时间和地点送交，用推车等方式平稳搬运（校内搬运要求见第 050 课）。</a:t>
            </a:r>
          </a:p>
          <a:p>
            <a:r>
              <a:t>交接时核对容器标签与台账是否一致，检查包装完好、盖紧、不渗漏；不合格的退回整改。交接双方在交接单上登记签字，留存记录。</a:t>
            </a:r>
          </a:p>
          <a:p>
            <a:r>
              <a:t>实验室和个人不得私自把危险废物交给废品收购人员或其他无资质的单位、个人。</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危险废物运出学校时，按《危险废物转移管理办法》（以现行文本为准）执行转移联单制度，目前一般通过电子联单办理。联单记录产生单位、运输单位和接收处置单位，形成不间断的监管链。</a:t>
            </a:r>
          </a:p>
          <a:p>
            <a:r>
              <a:t>联单要跟踪到闭环：处置单位接收并确认后，这批废物的转移才算完成；联单没有按时完成的，学校管理部门要追查原因。联单、台账和交接记录按规定期限保存备查。</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实验室的危险废物分类收集、贴好标签、规范暂存后，由学校统一委托持有危险废物经营许可证的单位运输和处置，学校负责核实对方的资质和许可范围。</a:t>
            </a:r>
          </a:p>
          <a:p>
            <a:r>
              <a:t>产生单位的责任不会因为废物交出去而转移：接收单位处置不当，产生单位依法也要承担相应责任。所以一定要交给有资质的单位，不能图便宜找无资质的人处理。任何时候，危险废物都不倒入下水道，不混入生活垃圾。</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危险废物管理要随时经得起检查：暂存点不超量、不超期，分类和标签正确，台账、交接记录和联单相互对得上。学校和上级部门的实验室安全检查会把废物管理作为重点项目（见第 005 课）。</a:t>
            </a:r>
          </a:p>
          <a:p>
            <a:r>
              <a:t>在危险废物问题上，“不知道”不是理由。每位实验室人员都要读懂本校的危险废物管理规定，按规定做好自己这一环。</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答案：B。解析：一看名录，二看是否有腐蚀性、毒性、易燃性、反应性、感染性等危险特性；拿不准按危险废物管理。</a:t>
            </a:r>
          </a:p>
          <a:p>
            <a:r>
              <a:t>第 2 题 答案：B。解析：装满要及时联系学校收运，在规定时间内转走，堆在实验室就是违规。</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答案：B。解析：不相容的废物要分区、隔开存放。</a:t>
            </a:r>
          </a:p>
          <a:p>
            <a:r>
              <a:t>第 4 题 答案：C。解析：产生者责任不转移；学校核实资质，联单签回才算闭环。</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答案：不倒掉、不和其他废液混装；单独存放并挂牌标明情况，报告实验室负责人和安全管理人员，安排鉴别后按危险废物处置。解析：不明废物单独处理，不自行认定。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9.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0.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1.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3.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4.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037</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危险化学品法规与全过程管理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71 镜）　适用对象：全体使用化学品的高校本科生、研究生和教职工（必修）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能说出化学品安全的目的（安全使用、储存、处置，护人护环境）和守规程的意义。</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能说出《中华人民共和国危险化学品安全法》的施行时间及其对学校、科研机构的基本要求。</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能做到按“审批采购—验收（一书一签）—入账—领用登记—定期清查—规范处置”的全过程管理化学品。</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能判断私自网购、无签无书、账物不符、遗留旧试剂等违规情形并及时报告。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日起施行）及《危险化学品安全管理条例》（以现行文本为准）：学校、科研机构为使用危险化学品的责任主体；危险化学品附中文化学品安全技术说明书和安全标签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《中华人民共和国安全生产法》（以现行文本为准）：单位主要负责人对本单位安全工作全面负责</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《中华人民共和国固体废物污染环境防治法》（以现行文本为准）及《国家危险废物名录》（以现行文本为准）：废弃危险化学品按危险废物管理，交有资质单位处置</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15258-2009（以现行文本为准）《化学品安全标签编写规定》；GB/T 16483-2008（以现行文本为准）《化学品安全技术说明书 内容和项目顺序》</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号，以现行文本为准）：危险化学品采购、储存、使用、处置全过程管理，建立台账</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高校实验室安全检查项目表（以现行文本为准）：化学品台账、账物相符、过期试剂清理、实验室安全信息牌</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本校化学品采购、验收、领用和废弃物处置管理规定（以本校规定为准）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化学品安全：用、存、废都安全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化学品安全管三件事：使用、储存、处置</a:t>
            </a:r>
          </a:p>
          <a:p>
            <a:pPr>
              <a:spcAft>
                <a:spcPts val="1000"/>
              </a:spcAft>
            </a:pPr>
            <a:r>
              <a:rPr sz="2000">
                <a:solidFill>
                  <a:srgbClr val="222B33"/>
                </a:solidFill>
                <a:latin typeface="Microsoft YaHei"/>
              </a:rPr>
              <a:t>▪ 目的是防止事故和人身伤害</a:t>
            </a:r>
          </a:p>
          <a:p>
            <a:pPr>
              <a:spcAft>
                <a:spcPts val="1000"/>
              </a:spcAft>
            </a:pPr>
            <a:r>
              <a:rPr sz="2000">
                <a:solidFill>
                  <a:srgbClr val="222B33"/>
                </a:solidFill>
                <a:latin typeface="Microsoft YaHei"/>
              </a:rPr>
              <a:t>▪ 也要防止污染环境</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化学品安全，就是让化学品在实验室里被安全地使用、安全地储存、安全地处置。三个环节任何一个出问题，都可能引发火灾、爆炸、中毒、灼伤等事故，或者让有害物质进入下水道、土壤和空气，污染环境。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只注意实验操作安全，不管储存和废弃</a:t>
            </a:r>
          </a:p>
          <a:p>
            <a:pPr>
              <a:spcAft>
                <a:spcPts val="1000"/>
              </a:spcAft>
            </a:pPr>
            <a:r>
              <a:rPr sz="1500">
                <a:solidFill>
                  <a:srgbClr val="222B33"/>
                </a:solidFill>
                <a:latin typeface="Microsoft YaHei"/>
              </a:rPr>
              <a:t>▪ 把废液、废试剂倒进水槽“冲掉了事”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各类实验室都离不开化学品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生物、医学实验室也天天用化学品</a:t>
            </a:r>
          </a:p>
          <a:p>
            <a:pPr>
              <a:spcAft>
                <a:spcPts val="1000"/>
              </a:spcAft>
            </a:pPr>
            <a:r>
              <a:rPr sz="2000">
                <a:solidFill>
                  <a:srgbClr val="222B33"/>
                </a:solidFill>
                <a:latin typeface="Microsoft YaHei"/>
              </a:rPr>
              <a:t>▪ 消毒、染色、固定、配试剂都用化学品</a:t>
            </a:r>
          </a:p>
          <a:p>
            <a:pPr>
              <a:spcAft>
                <a:spcPts val="1000"/>
              </a:spcAft>
            </a:pPr>
            <a:r>
              <a:rPr sz="2000">
                <a:solidFill>
                  <a:srgbClr val="222B33"/>
                </a:solidFill>
                <a:latin typeface="Microsoft YaHei"/>
              </a:rPr>
              <a:t>▪ 不少化学品易燃、有腐蚀性或有毒</a:t>
            </a:r>
          </a:p>
          <a:p>
            <a:pPr>
              <a:spcAft>
                <a:spcPts val="1000"/>
              </a:spcAft>
            </a:pPr>
            <a:r>
              <a:rPr sz="2000">
                <a:solidFill>
                  <a:srgbClr val="222B33"/>
                </a:solidFill>
                <a:latin typeface="Microsoft YaHei"/>
              </a:rPr>
              <a:t>▪ 处理不当，伤人也伤环境</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不只化学实验室用化学品。微生物、生命科学、医学、材料、环境等实验室同样大量使用化学品：台面和器材消毒用的乙醇、含氯消毒剂，染色用的染料，固定标本用的甲醛、戊二醛，配制缓冲液和培养基用的各种试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认为生物实验室“没有危化品”</a:t>
            </a:r>
          </a:p>
          <a:p>
            <a:pPr>
              <a:spcAft>
                <a:spcPts val="1000"/>
              </a:spcAft>
            </a:pPr>
            <a:r>
              <a:rPr sz="1500">
                <a:solidFill>
                  <a:srgbClr val="222B33"/>
                </a:solidFill>
                <a:latin typeface="Microsoft YaHei"/>
              </a:rPr>
              <a:t>▪ 消毒剂、固定液随意分装、不贴标签</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守规程：防事故、护样品、保结果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照规程做，能防溢洒、火灾和爆炸</a:t>
            </a:r>
          </a:p>
          <a:p>
            <a:pPr>
              <a:spcAft>
                <a:spcPts val="1000"/>
              </a:spcAft>
            </a:pPr>
            <a:r>
              <a:rPr sz="2000">
                <a:solidFill>
                  <a:srgbClr val="222B33"/>
                </a:solidFill>
                <a:latin typeface="Microsoft YaHei"/>
              </a:rPr>
              <a:t>▪ 规程是用事故换来的，别跳步</a:t>
            </a:r>
          </a:p>
          <a:p>
            <a:pPr>
              <a:spcAft>
                <a:spcPts val="1000"/>
              </a:spcAft>
            </a:pPr>
            <a:r>
              <a:rPr sz="2000">
                <a:solidFill>
                  <a:srgbClr val="222B33"/>
                </a:solidFill>
                <a:latin typeface="Microsoft YaHei"/>
              </a:rPr>
              <a:t>▪ 洒漏会腐蚀仪器、污染毁掉样品</a:t>
            </a:r>
          </a:p>
          <a:p>
            <a:pPr>
              <a:spcAft>
                <a:spcPts val="1000"/>
              </a:spcAft>
            </a:pPr>
            <a:r>
              <a:rPr sz="2000">
                <a:solidFill>
                  <a:srgbClr val="222B33"/>
                </a:solidFill>
                <a:latin typeface="Microsoft YaHei"/>
              </a:rPr>
              <a:t>▪ 试剂用乱混用，实验结果就不准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实验室的操作规程和安全规定，很多是从以往事故中总结出来的。按规程操作、不跳步、不擅自改变用量和条件，可以预防溢洒、火灾、爆炸等事故。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为省时间跳过规程中的步骤</a:t>
            </a:r>
          </a:p>
          <a:p>
            <a:pPr>
              <a:spcAft>
                <a:spcPts val="1000"/>
              </a:spcAft>
            </a:pPr>
            <a:r>
              <a:rPr sz="1500">
                <a:solidFill>
                  <a:srgbClr val="222B33"/>
                </a:solidFill>
                <a:latin typeface="Microsoft YaHei"/>
              </a:rPr>
              <a:t>▪ 试剂瓶不盖、混放，导致交叉污染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依法合规，为的是护人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国家对危险化学品有专门的法律法规</a:t>
            </a:r>
          </a:p>
          <a:p>
            <a:pPr>
              <a:spcAft>
                <a:spcPts val="1000"/>
              </a:spcAft>
            </a:pPr>
            <a:r>
              <a:rPr sz="2000">
                <a:solidFill>
                  <a:srgbClr val="222B33"/>
                </a:solidFill>
                <a:latin typeface="Microsoft YaHei"/>
              </a:rPr>
              <a:t>▪ 学校有安全规范和定期安全检查</a:t>
            </a:r>
          </a:p>
          <a:p>
            <a:pPr>
              <a:spcAft>
                <a:spcPts val="1000"/>
              </a:spcAft>
            </a:pPr>
            <a:r>
              <a:rPr sz="2000">
                <a:solidFill>
                  <a:srgbClr val="222B33"/>
                </a:solidFill>
                <a:latin typeface="Microsoft YaHei"/>
              </a:rPr>
              <a:t>▪ 守规矩不只为免罚，更为保护人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我国对危险化学品实行严格管理，有专门的法律和行政法规（见 S1），教育部和学校也有实验室安全规范、检查项目和本校管理制度，学校和学院定期开展安全检查。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把安全检查当作“应付检查”，检查过后照旧</a:t>
            </a:r>
          </a:p>
          <a:p>
            <a:pPr>
              <a:spcAft>
                <a:spcPts val="1000"/>
              </a:spcAft>
            </a:pPr>
            <a:r>
              <a:rPr sz="1500">
                <a:solidFill>
                  <a:srgbClr val="222B33"/>
                </a:solidFill>
                <a:latin typeface="Microsoft YaHei"/>
              </a:rPr>
              <a:t>▪ 认为规定只是管理部门的事，与自己无关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危化品安全法：学校是责任主体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危化品安全法 2026 年 5 月 1 日起施行</a:t>
            </a:r>
          </a:p>
          <a:p>
            <a:pPr>
              <a:spcAft>
                <a:spcPts val="1000"/>
              </a:spcAft>
            </a:pPr>
            <a:r>
              <a:rPr sz="1700">
                <a:solidFill>
                  <a:srgbClr val="222B33"/>
                </a:solidFill>
                <a:latin typeface="Microsoft YaHei"/>
              </a:rPr>
              <a:t>▪ 设专章规定危险化学品的使用安全</a:t>
            </a:r>
          </a:p>
          <a:p>
            <a:pPr>
              <a:spcAft>
                <a:spcPts val="1000"/>
              </a:spcAft>
            </a:pPr>
            <a:r>
              <a:rPr sz="1700">
                <a:solidFill>
                  <a:srgbClr val="222B33"/>
                </a:solidFill>
                <a:latin typeface="Microsoft YaHei"/>
              </a:rPr>
              <a:t>▪ 学校、科研机构是使用危化品的责任主体</a:t>
            </a:r>
          </a:p>
          <a:p>
            <a:pPr>
              <a:spcAft>
                <a:spcPts val="1000"/>
              </a:spcAft>
            </a:pPr>
            <a:r>
              <a:rPr sz="1700">
                <a:solidFill>
                  <a:srgbClr val="222B33"/>
                </a:solidFill>
                <a:latin typeface="Microsoft YaHei"/>
              </a:rPr>
              <a:t>▪ 危化品要有中文说明书和安全标签</a:t>
            </a:r>
          </a:p>
          <a:p>
            <a:pPr>
              <a:spcAft>
                <a:spcPts val="1000"/>
              </a:spcAft>
            </a:pPr>
            <a:r>
              <a:rPr sz="1700">
                <a:solidFill>
                  <a:srgbClr val="222B33"/>
                </a:solidFill>
                <a:latin typeface="Microsoft YaHei"/>
              </a:rPr>
              <a:t>▪ 剧毒、易制毒、易制爆另有严格管控</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《中华人民共和国危险化学品安全法》于 2025 年 12 月 27 日通过，2026 年 5 月 1 日起施行，对危险化学品生产、储存、使用、经营、运输等各环节作出规定，并设专章规定“使用安全”。学校、科研机构使用危……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认为少量试剂“不算危化品”，不受法规约束</a:t>
            </a:r>
          </a:p>
          <a:p>
            <a:pPr>
              <a:spcAft>
                <a:spcPts val="1000"/>
              </a:spcAft>
            </a:pPr>
            <a:r>
              <a:rPr sz="1500">
                <a:solidFill>
                  <a:srgbClr val="222B33"/>
                </a:solidFill>
                <a:latin typeface="Microsoft YaHei"/>
              </a:rPr>
              <a:t>▪ 不知道新法已施行，仍按老习惯随意管理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全过程管理，三级负责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采购、验收、储存、使用、处置全过程闭环</a:t>
            </a:r>
          </a:p>
          <a:p>
            <a:pPr>
              <a:spcAft>
                <a:spcPts val="1000"/>
              </a:spcAft>
            </a:pPr>
            <a:r>
              <a:rPr sz="2000">
                <a:solidFill>
                  <a:srgbClr val="222B33"/>
                </a:solidFill>
                <a:latin typeface="Microsoft YaHei"/>
              </a:rPr>
              <a:t>▪ 学校、学院、实验室三级管理</a:t>
            </a:r>
          </a:p>
          <a:p>
            <a:pPr>
              <a:spcAft>
                <a:spcPts val="1000"/>
              </a:spcAft>
            </a:pPr>
            <a:r>
              <a:rPr sz="2000">
                <a:solidFill>
                  <a:srgbClr val="222B33"/>
                </a:solidFill>
                <a:latin typeface="Microsoft YaHei"/>
              </a:rPr>
              <a:t>▪ 实验室负责人是第一责任人</a:t>
            </a:r>
          </a:p>
          <a:p>
            <a:pPr>
              <a:spcAft>
                <a:spcPts val="1000"/>
              </a:spcAft>
            </a:pPr>
            <a:r>
              <a:rPr sz="2000">
                <a:solidFill>
                  <a:srgbClr val="222B33"/>
                </a:solidFill>
                <a:latin typeface="Microsoft YaHei"/>
              </a:rPr>
              <a:t>▪ 谁使用，谁负责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高校对化学品实行全生命周期管理：采购审批、到货验收、入库建账、分类储存、领用登记、规范使用、废弃处置，每个环节都有记录，形成闭环，做到来源可查、去向可追。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认为化学品管理只是实验室安全员的事</a:t>
            </a:r>
          </a:p>
          <a:p>
            <a:pPr>
              <a:spcAft>
                <a:spcPts val="1000"/>
              </a:spcAft>
            </a:pPr>
            <a:r>
              <a:rPr sz="1500">
                <a:solidFill>
                  <a:srgbClr val="222B33"/>
                </a:solidFill>
                <a:latin typeface="Microsoft YaHei"/>
              </a:rPr>
              <a:t>▪ 只管“买”和“用”，不管“账”和“废”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采购要审批，渠道要合规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买化学品先提申请，经导师和学院审批</a:t>
            </a:r>
          </a:p>
          <a:p>
            <a:pPr>
              <a:spcAft>
                <a:spcPts val="1000"/>
              </a:spcAft>
            </a:pPr>
            <a:r>
              <a:rPr sz="1700">
                <a:solidFill>
                  <a:srgbClr val="222B33"/>
                </a:solidFill>
                <a:latin typeface="Microsoft YaHei"/>
              </a:rPr>
              <a:t>▪ 按学校渠道，向有资质的单位购买</a:t>
            </a:r>
          </a:p>
          <a:p>
            <a:pPr>
              <a:spcAft>
                <a:spcPts val="1000"/>
              </a:spcAft>
            </a:pPr>
            <a:r>
              <a:rPr sz="1700">
                <a:solidFill>
                  <a:srgbClr val="222B33"/>
                </a:solidFill>
                <a:latin typeface="Microsoft YaHei"/>
              </a:rPr>
              <a:t>▪ 不私自网购，不私下转让、转借</a:t>
            </a:r>
          </a:p>
          <a:p>
            <a:pPr>
              <a:spcAft>
                <a:spcPts val="1000"/>
              </a:spcAft>
            </a:pPr>
            <a:r>
              <a:rPr sz="1700">
                <a:solidFill>
                  <a:srgbClr val="222B33"/>
                </a:solidFill>
                <a:latin typeface="Microsoft YaHei"/>
              </a:rPr>
              <a:t>▪ 按需少量购买，不囤货</a:t>
            </a:r>
          </a:p>
          <a:p>
            <a:pPr>
              <a:spcAft>
                <a:spcPts val="1000"/>
              </a:spcAft>
            </a:pPr>
            <a:r>
              <a:rPr sz="1700">
                <a:solidFill>
                  <a:srgbClr val="222B33"/>
                </a:solidFill>
                <a:latin typeface="Microsoft YaHei"/>
              </a:rPr>
              <a:t>▪ 来路不明的交老师按规定处理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购买危险化学品要先提出申请，说明品名、规格、数量和用途，经实验室负责人（导师）和学院审核批准后，通过学校指定的采购平台或渠道，向具有相应资质的单位购买。管控类化学品还要按第 045 课的规定办理审批和备案。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为了快，自己在网上下单买试剂</a:t>
            </a:r>
          </a:p>
          <a:p>
            <a:pPr>
              <a:spcAft>
                <a:spcPts val="1000"/>
              </a:spcAft>
            </a:pPr>
            <a:r>
              <a:rPr sz="1500">
                <a:solidFill>
                  <a:srgbClr val="222B33"/>
                </a:solidFill>
                <a:latin typeface="Microsoft YaHei"/>
              </a:rPr>
              <a:t>▪ 一次买很多“备着”，长期积压过期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到货验收：一书一签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到货先验收，再入库</a:t>
            </a:r>
          </a:p>
          <a:p>
            <a:pPr>
              <a:spcAft>
                <a:spcPts val="1000"/>
              </a:spcAft>
            </a:pPr>
            <a:r>
              <a:rPr sz="1700">
                <a:solidFill>
                  <a:srgbClr val="222B33"/>
                </a:solidFill>
                <a:latin typeface="Microsoft YaHei"/>
              </a:rPr>
              <a:t>▪ 核对标签：品名、规格、危害信息</a:t>
            </a:r>
          </a:p>
          <a:p>
            <a:pPr>
              <a:spcAft>
                <a:spcPts val="1000"/>
              </a:spcAft>
            </a:pPr>
            <a:r>
              <a:rPr sz="1700">
                <a:solidFill>
                  <a:srgbClr val="222B33"/>
                </a:solidFill>
                <a:latin typeface="Microsoft YaHei"/>
              </a:rPr>
              <a:t>▪ 中文安全技术说明书要随货齐全</a:t>
            </a:r>
          </a:p>
          <a:p>
            <a:pPr>
              <a:spcAft>
                <a:spcPts val="1000"/>
              </a:spcAft>
            </a:pPr>
            <a:r>
              <a:rPr sz="1700">
                <a:solidFill>
                  <a:srgbClr val="222B33"/>
                </a:solidFill>
                <a:latin typeface="Microsoft YaHei"/>
              </a:rPr>
              <a:t>▪ 包装破损、渗漏的不收</a:t>
            </a:r>
          </a:p>
          <a:p>
            <a:pPr>
              <a:spcAft>
                <a:spcPts val="1000"/>
              </a:spcAft>
            </a:pPr>
            <a:r>
              <a:rPr sz="1700">
                <a:solidFill>
                  <a:srgbClr val="222B33"/>
                </a:solidFill>
                <a:latin typeface="Microsoft YaHei"/>
              </a:rPr>
              <a:t>▪ 缺签缺书，不收、不用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化学品到货后，由实验室指定人员戴好手套验收：核对品名、规格、数量与采购单是否一致；检查每个容器上有没有中文化学品安全标签（象形图、信号词、危险说明等，见第 039 课）；检查是否随货提供中文化学品安全技术说明书（SD……</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快递到了直接拆开上架，不核对</a:t>
            </a:r>
          </a:p>
          <a:p>
            <a:pPr>
              <a:spcAft>
                <a:spcPts val="1000"/>
              </a:spcAft>
            </a:pPr>
            <a:r>
              <a:rPr sz="1500">
                <a:solidFill>
                  <a:srgbClr val="222B33"/>
                </a:solidFill>
                <a:latin typeface="Microsoft YaHei"/>
              </a:rPr>
              <a:t>▪ 没有说明书也先用着，“以后再要”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建台账，账物相符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有多少化学品，要心里有数</a:t>
            </a:r>
          </a:p>
          <a:p>
            <a:pPr>
              <a:spcAft>
                <a:spcPts val="1000"/>
              </a:spcAft>
            </a:pPr>
            <a:r>
              <a:rPr sz="2000">
                <a:solidFill>
                  <a:srgbClr val="222B33"/>
                </a:solidFill>
                <a:latin typeface="Microsoft YaHei"/>
              </a:rPr>
              <a:t>▪ 入库扫码或登记，一瓶一码</a:t>
            </a:r>
          </a:p>
          <a:p>
            <a:pPr>
              <a:spcAft>
                <a:spcPts val="1000"/>
              </a:spcAft>
            </a:pPr>
            <a:r>
              <a:rPr sz="2000">
                <a:solidFill>
                  <a:srgbClr val="222B33"/>
                </a:solidFill>
                <a:latin typeface="Microsoft YaHei"/>
              </a:rPr>
              <a:t>▪ 进、用、废都记在台账上</a:t>
            </a:r>
          </a:p>
          <a:p>
            <a:pPr>
              <a:spcAft>
                <a:spcPts val="1000"/>
              </a:spcAft>
            </a:pPr>
            <a:r>
              <a:rPr sz="2000">
                <a:solidFill>
                  <a:srgbClr val="222B33"/>
                </a:solidFill>
                <a:latin typeface="Microsoft YaHei"/>
              </a:rPr>
              <a:t>▪ 定期盘点，账物相符；不符要查清报告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实验室要建立化学品台账（纸质或学校化学品管理信息系统），记录品名、规格、数量、存放位置、入库日期、责任人。入库时逐瓶登记，很多学校用条码或二维码实现一瓶一码。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只在入库时登记，用完、废弃不销账</a:t>
            </a:r>
          </a:p>
          <a:p>
            <a:pPr>
              <a:spcAft>
                <a:spcPts val="1000"/>
              </a:spcAft>
            </a:pPr>
            <a:r>
              <a:rPr sz="1500">
                <a:solidFill>
                  <a:srgbClr val="222B33"/>
                </a:solidFill>
                <a:latin typeface="Microsoft YaHei"/>
              </a:rPr>
              <a:t>▪ 盘点走过场，账物长期不符</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实时清单，救援心中有数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出了事，救援人员要知道屋里有什么</a:t>
            </a:r>
          </a:p>
          <a:p>
            <a:pPr>
              <a:spcAft>
                <a:spcPts val="1000"/>
              </a:spcAft>
            </a:pPr>
            <a:r>
              <a:rPr sz="2000">
                <a:solidFill>
                  <a:srgbClr val="222B33"/>
                </a:solidFill>
                <a:latin typeface="Microsoft YaHei"/>
              </a:rPr>
              <a:t>▪ 化学品清单要实时更新</a:t>
            </a:r>
          </a:p>
          <a:p>
            <a:pPr>
              <a:spcAft>
                <a:spcPts val="1000"/>
              </a:spcAft>
            </a:pPr>
            <a:r>
              <a:rPr sz="2000">
                <a:solidFill>
                  <a:srgbClr val="222B33"/>
                </a:solidFill>
                <a:latin typeface="Microsoft YaHei"/>
              </a:rPr>
              <a:t>▪ 过时的清单会误导救援</a:t>
            </a:r>
          </a:p>
          <a:p>
            <a:pPr>
              <a:spcAft>
                <a:spcPts val="1000"/>
              </a:spcAft>
            </a:pPr>
            <a:r>
              <a:rPr sz="2000">
                <a:solidFill>
                  <a:srgbClr val="222B33"/>
                </a:solidFill>
                <a:latin typeface="Microsoft YaHei"/>
              </a:rPr>
              <a:t>▪ 门口信息牌写明主要危险和联系人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实验室发生火灾、泄漏等事故时，消防和救援人员要马上知道屋里有哪些危险化学品、大概多少、放在哪里，才能选择灭火和防护方法。所以化学品清单要随台账实时更新，并能在应急时迅速提供。</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清单多年不更新，与实际库存差别很大</a:t>
            </a:r>
          </a:p>
          <a:p>
            <a:pPr>
              <a:spcAft>
                <a:spcPts val="1000"/>
              </a:spcAft>
            </a:pPr>
            <a:r>
              <a:rPr sz="1500">
                <a:solidFill>
                  <a:srgbClr val="222B33"/>
                </a:solidFill>
                <a:latin typeface="Microsoft YaHei"/>
              </a:rPr>
              <a:t>▪ 门口信息牌内容过时、联系人已离校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按需领用，登记去向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领用登记：谁领、领多少、做什么</a:t>
            </a:r>
          </a:p>
          <a:p>
            <a:pPr>
              <a:spcAft>
                <a:spcPts val="1000"/>
              </a:spcAft>
            </a:pPr>
            <a:r>
              <a:rPr sz="1700">
                <a:solidFill>
                  <a:srgbClr val="222B33"/>
                </a:solidFill>
                <a:latin typeface="Microsoft YaHei"/>
              </a:rPr>
              <a:t>▪ 按实验需要少量领取</a:t>
            </a:r>
          </a:p>
          <a:p>
            <a:pPr>
              <a:spcAft>
                <a:spcPts val="1000"/>
              </a:spcAft>
            </a:pPr>
            <a:r>
              <a:rPr sz="1700">
                <a:solidFill>
                  <a:srgbClr val="222B33"/>
                </a:solidFill>
                <a:latin typeface="Microsoft YaHei"/>
              </a:rPr>
              <a:t>▪ 用前看标签和说明书，评估风险</a:t>
            </a:r>
          </a:p>
          <a:p>
            <a:pPr>
              <a:spcAft>
                <a:spcPts val="1000"/>
              </a:spcAft>
            </a:pPr>
            <a:r>
              <a:rPr sz="1700">
                <a:solidFill>
                  <a:srgbClr val="222B33"/>
                </a:solidFill>
                <a:latin typeface="Microsoft YaHei"/>
              </a:rPr>
              <a:t>▪ 不转给他人，不带出实验室</a:t>
            </a:r>
          </a:p>
          <a:p>
            <a:pPr>
              <a:spcAft>
                <a:spcPts val="1000"/>
              </a:spcAft>
            </a:pPr>
            <a:r>
              <a:rPr sz="1700">
                <a:solidFill>
                  <a:srgbClr val="222B33"/>
                </a:solidFill>
                <a:latin typeface="Microsoft YaHei"/>
              </a:rPr>
              <a:t>▪ 用剩的放回原处，及时登记</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从库房或试剂柜领用化学品，要登记领用人、品名、数量、用途和日期；按当次实验需要少量领取，不在台面上大量存放。使用前阅读标签和安全技术说明书，了解危害和防护要求，做好风险评估和个人防护。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不登记就从柜里拿试剂</a:t>
            </a:r>
          </a:p>
          <a:p>
            <a:pPr>
              <a:spcAft>
                <a:spcPts val="1000"/>
              </a:spcAft>
            </a:pPr>
            <a:r>
              <a:rPr sz="1500">
                <a:solidFill>
                  <a:srgbClr val="222B33"/>
                </a:solidFill>
                <a:latin typeface="Microsoft YaHei"/>
              </a:rPr>
              <a:t>▪ 把试剂带出实验室或转给别的课题组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遗留旧试剂是定时炸弹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没人管的旧库存是定时炸弹</a:t>
            </a:r>
          </a:p>
          <a:p>
            <a:pPr>
              <a:spcAft>
                <a:spcPts val="1000"/>
              </a:spcAft>
            </a:pPr>
            <a:r>
              <a:rPr sz="2000">
                <a:solidFill>
                  <a:srgbClr val="222B33"/>
                </a:solidFill>
                <a:latin typeface="Microsoft YaHei"/>
              </a:rPr>
              <a:t>▪ 案例：一瓶汞在储藏间被遗忘多年</a:t>
            </a:r>
          </a:p>
          <a:p>
            <a:pPr>
              <a:spcAft>
                <a:spcPts val="1000"/>
              </a:spcAft>
            </a:pPr>
            <a:r>
              <a:rPr sz="2000">
                <a:solidFill>
                  <a:srgbClr val="222B33"/>
                </a:solidFill>
                <a:latin typeface="Microsoft YaHei"/>
              </a:rPr>
              <a:t>▪ 装修时被碰洒，清理人员无防护接触</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实验室里长期没人管理的旧试剂——前人留下的、标签模糊的、放在角落和储藏间的——风险会随时间增加：容器老化、标签脱落、有的试剂变质甚至变得更危险。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前人留下的试剂“先放着不管”</a:t>
            </a:r>
          </a:p>
          <a:p>
            <a:pPr>
              <a:spcAft>
                <a:spcPts val="1000"/>
              </a:spcAft>
            </a:pPr>
            <a:r>
              <a:rPr sz="1500">
                <a:solidFill>
                  <a:srgbClr val="222B33"/>
                </a:solidFill>
                <a:latin typeface="Microsoft YaHei"/>
              </a:rPr>
              <a:t>▪ 不明液体随手清理，不报告、不防护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定期清查，过期不明当危废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定期清查试剂，不留死角</a:t>
            </a:r>
          </a:p>
          <a:p>
            <a:pPr>
              <a:spcAft>
                <a:spcPts val="1000"/>
              </a:spcAft>
            </a:pPr>
            <a:r>
              <a:rPr sz="2000">
                <a:solidFill>
                  <a:srgbClr val="222B33"/>
                </a:solidFill>
                <a:latin typeface="Microsoft YaHei"/>
              </a:rPr>
              <a:t>▪ 过期、不明、无人认领的要清出</a:t>
            </a:r>
          </a:p>
          <a:p>
            <a:pPr>
              <a:spcAft>
                <a:spcPts val="1000"/>
              </a:spcAft>
            </a:pPr>
            <a:r>
              <a:rPr sz="2000">
                <a:solidFill>
                  <a:srgbClr val="222B33"/>
                </a:solidFill>
                <a:latin typeface="Microsoft YaHei"/>
              </a:rPr>
              <a:t>▪ 按危险废物交学校统一处置</a:t>
            </a:r>
          </a:p>
          <a:p>
            <a:pPr>
              <a:spcAft>
                <a:spcPts val="1000"/>
              </a:spcAft>
            </a:pPr>
            <a:r>
              <a:rPr sz="2000">
                <a:solidFill>
                  <a:srgbClr val="222B33"/>
                </a:solidFill>
                <a:latin typeface="Microsoft YaHei"/>
              </a:rPr>
              <a:t>▪ 人员离开前，试剂交接清楚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实验室要定期清查化学品，包括试剂柜、冰箱、储藏间等角落，核对台账。过期的、标签脱落无法确认成分的、长期无人认领的化学品，要清理出来，不能继续使用。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把过期试剂倒入水槽或混进生活垃圾</a:t>
            </a:r>
          </a:p>
          <a:p>
            <a:pPr>
              <a:spcAft>
                <a:spcPts val="1000"/>
              </a:spcAft>
            </a:pPr>
            <a:r>
              <a:rPr sz="1500">
                <a:solidFill>
                  <a:srgbClr val="222B33"/>
                </a:solidFill>
                <a:latin typeface="Microsoft YaHei"/>
              </a:rPr>
              <a:t>▪ 毕业离校时留下一柜子没人认领的试剂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废弃处置交有资质单位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废弃化学品分类收集，贴好标签</a:t>
            </a:r>
          </a:p>
          <a:p>
            <a:pPr>
              <a:spcAft>
                <a:spcPts val="1000"/>
              </a:spcAft>
            </a:pPr>
            <a:r>
              <a:rPr sz="2000">
                <a:solidFill>
                  <a:srgbClr val="222B33"/>
                </a:solidFill>
                <a:latin typeface="Microsoft YaHei"/>
              </a:rPr>
              <a:t>▪ 不倒下水道，不混入生活垃圾</a:t>
            </a:r>
          </a:p>
          <a:p>
            <a:pPr>
              <a:spcAft>
                <a:spcPts val="1000"/>
              </a:spcAft>
            </a:pPr>
            <a:r>
              <a:rPr sz="2000">
                <a:solidFill>
                  <a:srgbClr val="222B33"/>
                </a:solidFill>
                <a:latin typeface="Microsoft YaHei"/>
              </a:rPr>
              <a:t>▪ 学校统一交有资质的单位处置</a:t>
            </a:r>
          </a:p>
          <a:p>
            <a:pPr>
              <a:spcAft>
                <a:spcPts val="1000"/>
              </a:spcAft>
            </a:pPr>
            <a:r>
              <a:rPr sz="2000">
                <a:solidFill>
                  <a:srgbClr val="222B33"/>
                </a:solidFill>
                <a:latin typeface="Microsoft YaHei"/>
              </a:rPr>
              <a:t>▪ 处置也要登记，台账闭环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废弃的危险化学品和实验废液属于危险废物，处置依照生态环境保护法律法规执行。实验室按学校要求分类收集，容器贴好标签，写明成分和产生人，放在指定暂存位置。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少量废液“冲走就行”</a:t>
            </a:r>
          </a:p>
          <a:p>
            <a:pPr>
              <a:spcAft>
                <a:spcPts val="1000"/>
              </a:spcAft>
            </a:pPr>
            <a:r>
              <a:rPr sz="1500">
                <a:solidFill>
                  <a:srgbClr val="222B33"/>
                </a:solidFill>
                <a:latin typeface="Microsoft YaHei"/>
              </a:rPr>
              <a:t>▪ 废液桶不贴标签，成分不明</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《中华人民共和国危险化学品安全法》的施行日期是：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2025 年 12 月 27 日</a:t>
            </a:r>
          </a:p>
          <a:p>
            <a:pPr algn="l"/>
            <a:r>
              <a:rPr sz="1500" b="0">
                <a:solidFill>
                  <a:srgbClr val="222B33"/>
                </a:solidFill>
                <a:latin typeface="Microsoft YaHei"/>
              </a:rPr>
              <a:t>B. 2026 年 1 月 1 日</a:t>
            </a:r>
          </a:p>
          <a:p>
            <a:pPr algn="l"/>
            <a:r>
              <a:rPr sz="1500" b="0">
                <a:solidFill>
                  <a:srgbClr val="222B33"/>
                </a:solidFill>
                <a:latin typeface="Microsoft YaHei"/>
              </a:rPr>
              <a:t>C. 2026 年 5 月 1 日</a:t>
            </a:r>
          </a:p>
          <a:p>
            <a:pPr algn="l"/>
            <a:r>
              <a:rPr sz="1500" b="0">
                <a:solidFill>
                  <a:srgbClr val="222B33"/>
                </a:solidFill>
                <a:latin typeface="Microsoft YaHei"/>
              </a:rPr>
              <a:t>D. 2027 年 1 月 1 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化学品到货验收时，“一书一签”指的是：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一份发票和一张收据</a:t>
            </a:r>
          </a:p>
          <a:p>
            <a:pPr algn="l"/>
            <a:r>
              <a:rPr sz="1500" b="0">
                <a:solidFill>
                  <a:srgbClr val="222B33"/>
                </a:solidFill>
                <a:latin typeface="Microsoft YaHei"/>
              </a:rPr>
              <a:t>B. 中文化学品安全技术说明书和安全标签</a:t>
            </a:r>
          </a:p>
          <a:p>
            <a:pPr algn="l"/>
            <a:r>
              <a:rPr sz="1500" b="0">
                <a:solidFill>
                  <a:srgbClr val="222B33"/>
                </a:solidFill>
                <a:latin typeface="Microsoft YaHei"/>
              </a:rPr>
              <a:t>C. 采购申请书和审批签字</a:t>
            </a:r>
          </a:p>
          <a:p>
            <a:pPr algn="l"/>
            <a:r>
              <a:rPr sz="1500" b="0">
                <a:solidFill>
                  <a:srgbClr val="222B33"/>
                </a:solidFill>
                <a:latin typeface="Microsoft YaHei"/>
              </a:rPr>
              <a:t>D. 台账和签收单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判断：为了实验进度，研究生可以自己在网上购买少量危险化学品，用完再补登记。</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判断：实验室化学品清单应随库存变化实时更新，以便事故时救援人员了解现场危险。</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037 · 危险化学品法规与全过程管理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037 危险化学品法规与全过程管理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清查试剂柜时发现一瓶标签脱落、成分不明的液体，正确做法是：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闻一闻判断成分</a:t>
            </a:r>
          </a:p>
          <a:p>
            <a:pPr algn="l"/>
            <a:r>
              <a:rPr sz="1500" b="0">
                <a:solidFill>
                  <a:srgbClr val="222B33"/>
                </a:solidFill>
                <a:latin typeface="Microsoft YaHei"/>
              </a:rPr>
              <a:t>B. 倒入水槽用水冲走</a:t>
            </a:r>
          </a:p>
          <a:p>
            <a:pPr algn="l"/>
            <a:r>
              <a:rPr sz="1500" b="0">
                <a:solidFill>
                  <a:srgbClr val="222B33"/>
                </a:solidFill>
                <a:latin typeface="Microsoft YaHei"/>
              </a:rPr>
              <a:t>C. 不使用，报告实验室负责人，按危险废物交学校处置</a:t>
            </a:r>
          </a:p>
          <a:p>
            <a:pPr algn="l"/>
            <a:r>
              <a:rPr sz="1500" b="0">
                <a:solidFill>
                  <a:srgbClr val="222B33"/>
                </a:solidFill>
                <a:latin typeface="Microsoft YaHei"/>
              </a:rPr>
              <a:t>D. 留着以后再说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简答：化学品全过程管理包括哪些环节？</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化学品安全：用、存、废都安全</a:t>
            </a:r>
          </a:p>
          <a:p>
            <a:pPr>
              <a:spcAft>
                <a:spcPts val="800"/>
              </a:spcAft>
            </a:pPr>
            <a:r>
              <a:rPr sz="1500">
                <a:solidFill>
                  <a:srgbClr val="FFFFFF"/>
                </a:solidFill>
                <a:latin typeface="Microsoft YaHei"/>
              </a:rPr>
              <a:t>▪ K2  各类实验室都离不开化学品</a:t>
            </a:r>
          </a:p>
          <a:p>
            <a:pPr>
              <a:spcAft>
                <a:spcPts val="800"/>
              </a:spcAft>
            </a:pPr>
            <a:r>
              <a:rPr sz="1500">
                <a:solidFill>
                  <a:srgbClr val="FFFFFF"/>
                </a:solidFill>
                <a:latin typeface="Microsoft YaHei"/>
              </a:rPr>
              <a:t>▪ K3  守规程：防事故、护样品、保结果</a:t>
            </a:r>
          </a:p>
          <a:p>
            <a:pPr>
              <a:spcAft>
                <a:spcPts val="800"/>
              </a:spcAft>
            </a:pPr>
            <a:r>
              <a:rPr sz="1500">
                <a:solidFill>
                  <a:srgbClr val="FFFFFF"/>
                </a:solidFill>
                <a:latin typeface="Microsoft YaHei"/>
              </a:rPr>
              <a:t>▪ K4  依法合规，为的是护人</a:t>
            </a:r>
          </a:p>
          <a:p>
            <a:pPr>
              <a:spcAft>
                <a:spcPts val="800"/>
              </a:spcAft>
            </a:pPr>
            <a:r>
              <a:rPr sz="1500">
                <a:solidFill>
                  <a:srgbClr val="FFFFFF"/>
                </a:solidFill>
                <a:latin typeface="Microsoft YaHei"/>
              </a:rPr>
              <a:t>▪ S1  危化品安全法：学校是责任主体</a:t>
            </a:r>
          </a:p>
          <a:p>
            <a:pPr>
              <a:spcAft>
                <a:spcPts val="800"/>
              </a:spcAft>
            </a:pPr>
            <a:r>
              <a:rPr sz="1500">
                <a:solidFill>
                  <a:srgbClr val="FFFFFF"/>
                </a:solidFill>
                <a:latin typeface="Microsoft YaHei"/>
              </a:rPr>
              <a:t>▪ S2  全过程管理，三级负责</a:t>
            </a:r>
          </a:p>
          <a:p>
            <a:pPr>
              <a:spcAft>
                <a:spcPts val="800"/>
              </a:spcAft>
            </a:pPr>
            <a:r>
              <a:rPr sz="1500">
                <a:solidFill>
                  <a:srgbClr val="FFFFFF"/>
                </a:solidFill>
                <a:latin typeface="Microsoft YaHei"/>
              </a:rPr>
              <a:t>▪ S3  采购要审批，渠道要合规</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K5  到货验收：一书一签</a:t>
            </a:r>
          </a:p>
          <a:p>
            <a:pPr>
              <a:spcAft>
                <a:spcPts val="800"/>
              </a:spcAft>
            </a:pPr>
            <a:r>
              <a:rPr sz="1500">
                <a:solidFill>
                  <a:srgbClr val="FFFFFF"/>
                </a:solidFill>
                <a:latin typeface="Microsoft YaHei"/>
              </a:rPr>
              <a:t>▪ K6  建台账，账物相符</a:t>
            </a:r>
          </a:p>
          <a:p>
            <a:pPr>
              <a:spcAft>
                <a:spcPts val="800"/>
              </a:spcAft>
            </a:pPr>
            <a:r>
              <a:rPr sz="1500">
                <a:solidFill>
                  <a:srgbClr val="FFFFFF"/>
                </a:solidFill>
                <a:latin typeface="Microsoft YaHei"/>
              </a:rPr>
              <a:t>▪ K7  实时清单，救援心中有数</a:t>
            </a:r>
          </a:p>
          <a:p>
            <a:pPr>
              <a:spcAft>
                <a:spcPts val="800"/>
              </a:spcAft>
            </a:pPr>
            <a:r>
              <a:rPr sz="1500">
                <a:solidFill>
                  <a:srgbClr val="FFFFFF"/>
                </a:solidFill>
                <a:latin typeface="Microsoft YaHei"/>
              </a:rPr>
              <a:t>▪ S4  按需领用，登记去向</a:t>
            </a:r>
          </a:p>
          <a:p>
            <a:pPr>
              <a:spcAft>
                <a:spcPts val="800"/>
              </a:spcAft>
            </a:pPr>
            <a:r>
              <a:rPr sz="1500">
                <a:solidFill>
                  <a:srgbClr val="FFFFFF"/>
                </a:solidFill>
                <a:latin typeface="Microsoft YaHei"/>
              </a:rPr>
              <a:t>▪ K8  遗留旧试剂是定时炸弹</a:t>
            </a:r>
          </a:p>
          <a:p>
            <a:pPr>
              <a:spcAft>
                <a:spcPts val="800"/>
              </a:spcAft>
            </a:pPr>
            <a:r>
              <a:rPr sz="1500">
                <a:solidFill>
                  <a:srgbClr val="FFFFFF"/>
                </a:solidFill>
                <a:latin typeface="Microsoft YaHei"/>
              </a:rPr>
              <a:t>▪ K9  定期清查，过期不明当危废</a:t>
            </a:r>
          </a:p>
          <a:p>
            <a:pPr>
              <a:spcAft>
                <a:spcPts val="800"/>
              </a:spcAft>
            </a:pPr>
            <a:r>
              <a:rPr sz="1500">
                <a:solidFill>
                  <a:srgbClr val="FFFFFF"/>
                </a:solidFill>
                <a:latin typeface="Microsoft YaHei"/>
              </a:rPr>
              <a:t>▪ S5  废弃处置交有资质单位</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038</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化学品与危险物品分类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适用对象：全体使用化学品和其他危险物品的高校本科生、研究生和教职工（必修）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能说出危险物品的含义、存在形态和伤人途径，以及高温、高压、混合会加大危险。</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 GB 30000 系列的理化、健康、环境三大类危害，以及常见危险物品的七组分类和防护要点。</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能说出危险货物九类（GB 6944-2025）的名称，看到菱形类别标志能判断危险类别。</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能举出实验室、医院、工厂、家庭和宿舍中的危险物品例子，说出它们对人和环境的主要风险。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日起施行）及《危险化学品安全管理条例》（以现行文本为准）：危险化学品的含义与分类管理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《危险化学品目录》（以现行版本为准）：列入目录的化学品按危险化学品管理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系列（如 GB 30000.7-2013，以现行文本为准）《化学品分类和标签规范》：理化危险、健康危害、环境危害的分类</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6944-2025（以现行文本为准）《危险货物分类和品名编号》：危险货物九类</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12268-2025（以现行文本为准）《危险货物品名表》：具体物质的类别和编号</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190-2009（以现行文本为准）《危险货物包装标志》：运输菱形类别标志</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《病原微生物实验室生物安全管理条例》（以现行文本为准）：病原微生物按危害程度分为四类</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号，以现行文本为准）：危险化学品、病原微生物、放射源等危险源的辨识和分类管理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危险物品：伤人、毁物、污染环境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危险物品俗称危险品</a:t>
            </a:r>
          </a:p>
          <a:p>
            <a:pPr>
              <a:spcAft>
                <a:spcPts val="1000"/>
              </a:spcAft>
            </a:pPr>
            <a:r>
              <a:rPr sz="2000">
                <a:solidFill>
                  <a:srgbClr val="222B33"/>
                </a:solidFill>
                <a:latin typeface="Microsoft YaHei"/>
              </a:rPr>
              <a:t>▪ 会伤害人体、毁坏财产、污染环境</a:t>
            </a:r>
          </a:p>
          <a:p>
            <a:pPr>
              <a:spcAft>
                <a:spcPts val="1000"/>
              </a:spcAft>
            </a:pPr>
            <a:r>
              <a:rPr sz="2000">
                <a:solidFill>
                  <a:srgbClr val="222B33"/>
                </a:solidFill>
                <a:latin typeface="Microsoft YaHei"/>
              </a:rPr>
              <a:t>▪ 原因在于化学、生物或物理性质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危险物品（俗称危险品）是因其化学、生物或物理性质，可能伤害人体、损坏财产或污染环境的物质和物品。它们对人和环境都有风险，所以在使用、储存、运输和废弃时都要按规定管理。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以为只有“剧毒”“爆炸”才算危险物品</a:t>
            </a:r>
          </a:p>
          <a:p>
            <a:pPr>
              <a:spcAft>
                <a:spcPts val="1000"/>
              </a:spcAft>
            </a:pPr>
            <a:r>
              <a:rPr sz="1500">
                <a:solidFill>
                  <a:srgbClr val="222B33"/>
                </a:solidFill>
                <a:latin typeface="Microsoft YaHei"/>
              </a:rPr>
              <a:t>▪ 只关心伤人，忽视对设施和环境的危害</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固液气都有，多种方式伤人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危险物品有固体、液体，也有气体</a:t>
            </a:r>
          </a:p>
          <a:p>
            <a:pPr>
              <a:spcAft>
                <a:spcPts val="1000"/>
              </a:spcAft>
            </a:pPr>
            <a:r>
              <a:rPr sz="2000">
                <a:solidFill>
                  <a:srgbClr val="222B33"/>
                </a:solidFill>
                <a:latin typeface="Microsoft YaHei"/>
              </a:rPr>
              <a:t>▪ 洒出、吸入、误食、接触、乱处理都会伤人</a:t>
            </a:r>
          </a:p>
          <a:p>
            <a:pPr>
              <a:spcAft>
                <a:spcPts val="1000"/>
              </a:spcAft>
            </a:pPr>
            <a:r>
              <a:rPr sz="2000">
                <a:solidFill>
                  <a:srgbClr val="222B33"/>
                </a:solidFill>
                <a:latin typeface="Microsoft YaHei"/>
              </a:rPr>
              <a:t>▪ 每一种方式，都要提前防住</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物品的形态多样：粉末和颗粒等固体、溶剂和酸碱等液体、钢瓶中的压缩或液化气体。形态不同，伤人的方式也不同：液体容易洒出和溅到皮肤眼睛，粉末和蒸气容易被吸入，沾在手上可能被误食，处理不当还会污染环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只防液体飞溅，不防粉尘和蒸气吸入</a:t>
            </a:r>
          </a:p>
          <a:p>
            <a:pPr>
              <a:spcAft>
                <a:spcPts val="1000"/>
              </a:spcAft>
            </a:pPr>
            <a:r>
              <a:rPr sz="1500">
                <a:solidFill>
                  <a:srgbClr val="222B33"/>
                </a:solidFill>
                <a:latin typeface="Microsoft YaHei"/>
              </a:rPr>
              <a:t>▪ 戴手套操作后用手揉眼、拿食物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遇高温、高压或混合更危险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很多化学品本身就有潜在危险</a:t>
            </a:r>
          </a:p>
          <a:p>
            <a:pPr>
              <a:spcAft>
                <a:spcPts val="1000"/>
              </a:spcAft>
            </a:pPr>
            <a:r>
              <a:rPr sz="2000">
                <a:solidFill>
                  <a:srgbClr val="222B33"/>
                </a:solidFill>
                <a:latin typeface="Microsoft YaHei"/>
              </a:rPr>
              <a:t>▪ 遇到高温、高压，危险加大</a:t>
            </a:r>
          </a:p>
          <a:p>
            <a:pPr>
              <a:spcAft>
                <a:spcPts val="1000"/>
              </a:spcAft>
            </a:pPr>
            <a:r>
              <a:rPr sz="2000">
                <a:solidFill>
                  <a:srgbClr val="222B33"/>
                </a:solidFill>
                <a:latin typeface="Microsoft YaHei"/>
              </a:rPr>
              <a:t>▪ 不同化学品互相混合，可能剧烈反应</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很多化学品在常温常压下看起来平静，但本身具有潜在危险。加热、加压或与其他物质混合时，可能发生分解、着火、爆炸或放出有毒气体。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不查资料就把两种试剂倒在一起</a:t>
            </a:r>
          </a:p>
          <a:p>
            <a:pPr>
              <a:spcAft>
                <a:spcPts val="1000"/>
              </a:spcAft>
            </a:pPr>
            <a:r>
              <a:rPr sz="1500">
                <a:solidFill>
                  <a:srgbClr val="222B33"/>
                </a:solidFill>
                <a:latin typeface="Microsoft YaHei"/>
              </a:rPr>
              <a:t>▪ 把废液随意混倒进同一个桶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全球统一分类，我国按GB 30000</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国际上有统一的化学品分类和标签制度</a:t>
            </a:r>
          </a:p>
          <a:p>
            <a:pPr>
              <a:spcAft>
                <a:spcPts val="1000"/>
              </a:spcAft>
            </a:pPr>
            <a:r>
              <a:rPr sz="2000">
                <a:solidFill>
                  <a:srgbClr val="222B33"/>
                </a:solidFill>
                <a:latin typeface="Microsoft YaHei"/>
              </a:rPr>
              <a:t>▪ 各国的标签和说明书样式基本一致</a:t>
            </a:r>
          </a:p>
          <a:p>
            <a:pPr>
              <a:spcAft>
                <a:spcPts val="1000"/>
              </a:spcAft>
            </a:pPr>
            <a:r>
              <a:rPr sz="2000">
                <a:solidFill>
                  <a:srgbClr val="222B33"/>
                </a:solidFill>
                <a:latin typeface="Microsoft YaHei"/>
              </a:rPr>
              <a:t>▪ 我国按 GB 30000 系列国家标准分类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联合国推行的“全球化学品统一分类和标签制度”（GHS）统一了化学品危险性的分类方法、标签和安全技术说明书的格式，使各国的化学品标签和说明书样式基本一致，便于识别。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以为进口试剂和国产试剂的危险分类标准不同</a:t>
            </a:r>
          </a:p>
          <a:p>
            <a:pPr>
              <a:spcAft>
                <a:spcPts val="1000"/>
              </a:spcAft>
            </a:pPr>
            <a:r>
              <a:rPr sz="1500">
                <a:solidFill>
                  <a:srgbClr val="222B33"/>
                </a:solidFill>
                <a:latin typeface="Microsoft YaHei"/>
              </a:rPr>
              <a:t>▪ 用国外标签或其他颜色编码体系代替国家标准</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三大类危害：理化、健康、环境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GB 30000 系列把危害分成三大类</a:t>
            </a:r>
          </a:p>
          <a:p>
            <a:pPr>
              <a:spcAft>
                <a:spcPts val="1000"/>
              </a:spcAft>
            </a:pPr>
            <a:r>
              <a:rPr sz="2000">
                <a:solidFill>
                  <a:srgbClr val="222B33"/>
                </a:solidFill>
                <a:latin typeface="Microsoft YaHei"/>
              </a:rPr>
              <a:t>▪ 理化危险：爆炸、易燃、氧化、加压、腐蚀金属等</a:t>
            </a:r>
          </a:p>
          <a:p>
            <a:pPr>
              <a:spcAft>
                <a:spcPts val="1000"/>
              </a:spcAft>
            </a:pPr>
            <a:r>
              <a:rPr sz="2000">
                <a:solidFill>
                  <a:srgbClr val="222B33"/>
                </a:solidFill>
                <a:latin typeface="Microsoft YaHei"/>
              </a:rPr>
              <a:t>▪ 健康危害：急性毒性、腐蚀刺激、致敏、致癌等</a:t>
            </a:r>
          </a:p>
          <a:p>
            <a:pPr>
              <a:spcAft>
                <a:spcPts val="1000"/>
              </a:spcAft>
            </a:pPr>
            <a:r>
              <a:rPr sz="2000">
                <a:solidFill>
                  <a:srgbClr val="222B33"/>
                </a:solidFill>
                <a:latin typeface="Microsoft YaHei"/>
              </a:rPr>
              <a:t>▪ 环境危害：危害水生环境和臭氧层</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 30000 系列，化学品危险性分为三大类：理化危险、健康危害和环境危害，每一类下面又分为若干危险类别和级别。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只看是否易燃，忽视慢性健康危害</a:t>
            </a:r>
          </a:p>
          <a:p>
            <a:pPr>
              <a:spcAft>
                <a:spcPts val="1000"/>
              </a:spcAft>
            </a:pPr>
            <a:r>
              <a:rPr sz="1500">
                <a:solidFill>
                  <a:srgbClr val="222B33"/>
                </a:solidFill>
                <a:latin typeface="Microsoft YaHei"/>
              </a:rPr>
              <a:t>▪ 不知道“危害水生环境”也是危险性，随意倒掉</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常见危险物品分七组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按危险性质，常见危险物品分为七组</a:t>
            </a:r>
          </a:p>
          <a:p>
            <a:pPr>
              <a:spcAft>
                <a:spcPts val="1000"/>
              </a:spcAft>
            </a:pPr>
            <a:r>
              <a:rPr sz="2000">
                <a:solidFill>
                  <a:srgbClr val="222B33"/>
                </a:solidFill>
                <a:latin typeface="Microsoft YaHei"/>
              </a:rPr>
              <a:t>▪ 易燃、腐蚀、有毒、反应性、放射性</a:t>
            </a:r>
          </a:p>
          <a:p>
            <a:pPr>
              <a:spcAft>
                <a:spcPts val="1000"/>
              </a:spcAft>
            </a:pPr>
            <a:r>
              <a:rPr sz="2000">
                <a:solidFill>
                  <a:srgbClr val="222B33"/>
                </a:solidFill>
                <a:latin typeface="Microsoft YaHei"/>
              </a:rPr>
              <a:t>▪ 还有生物危害和压缩气体</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在实验室日常管理和安全教育中，常把危险物品按主要危险性质分为七组：易燃和可燃物、腐蚀性物质、有毒物质、反应性和爆炸性物质、放射性物质、生物危害物质、压缩气体。这种分组便于记忆和日常防护。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以为一种化学品只有一种危险</a:t>
            </a:r>
          </a:p>
          <a:p>
            <a:pPr>
              <a:spcAft>
                <a:spcPts val="1000"/>
              </a:spcAft>
            </a:pPr>
            <a:r>
              <a:rPr sz="1500">
                <a:solidFill>
                  <a:srgbClr val="222B33"/>
                </a:solidFill>
                <a:latin typeface="Microsoft YaHei"/>
              </a:rPr>
              <a:t>▪ 用简化分组代替标签和说明书上的正式分类</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易燃和可燃物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很容易着火，甚至爆炸</a:t>
            </a:r>
          </a:p>
          <a:p>
            <a:pPr>
              <a:spcAft>
                <a:spcPts val="1000"/>
              </a:spcAft>
            </a:pPr>
            <a:r>
              <a:rPr sz="2000">
                <a:solidFill>
                  <a:srgbClr val="222B33"/>
                </a:solidFill>
                <a:latin typeface="Microsoft YaHei"/>
              </a:rPr>
              <a:t>▪ 比如汽油、乙醇、丙烷、丙酮</a:t>
            </a:r>
          </a:p>
          <a:p>
            <a:pPr>
              <a:spcAft>
                <a:spcPts val="1000"/>
              </a:spcAft>
            </a:pPr>
            <a:r>
              <a:rPr sz="2000">
                <a:solidFill>
                  <a:srgbClr val="222B33"/>
                </a:solidFill>
                <a:latin typeface="Microsoft YaHei"/>
              </a:rPr>
              <a:t>▪ 远离明火和热源</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易燃和可燃物遇到明火、火花或高温很容易着火，蒸气与空气混合还可能爆炸。实验室常见的有乙醇、丙酮等有机溶剂，生活中常见的有汽油、液化石油气（含丙烷）。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在明火旁倒溶剂</a:t>
            </a:r>
          </a:p>
          <a:p>
            <a:pPr>
              <a:spcAft>
                <a:spcPts val="1000"/>
              </a:spcAft>
            </a:pPr>
            <a:r>
              <a:rPr sz="1500">
                <a:solidFill>
                  <a:srgbClr val="222B33"/>
                </a:solidFill>
                <a:latin typeface="Microsoft YaHei"/>
              </a:rPr>
              <a:t>▪ 溶剂瓶敞口放在台面上</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腐蚀性物质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会伤害皮肤和眼睛，腐蚀金属</a:t>
            </a:r>
          </a:p>
          <a:p>
            <a:pPr>
              <a:spcAft>
                <a:spcPts val="1000"/>
              </a:spcAft>
            </a:pPr>
            <a:r>
              <a:rPr sz="2000">
                <a:solidFill>
                  <a:srgbClr val="222B33"/>
                </a:solidFill>
                <a:latin typeface="Microsoft YaHei"/>
              </a:rPr>
              <a:t>▪ 比如盐酸、硫酸、氢氧化钠</a:t>
            </a:r>
          </a:p>
          <a:p>
            <a:pPr>
              <a:spcAft>
                <a:spcPts val="1000"/>
              </a:spcAft>
            </a:pPr>
            <a:r>
              <a:rPr sz="2000">
                <a:solidFill>
                  <a:srgbClr val="222B33"/>
                </a:solidFill>
                <a:latin typeface="Microsoft YaHei"/>
              </a:rPr>
              <a:t>▪ 护目镜和手套，一样不能少</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腐蚀性物质接触皮肤和眼睛会造成化学灼伤，严重时导致失明，还会腐蚀金属和设备。常见的有盐酸、硫酸、硝酸等强酸，氢氧化钠、氢氧化钾等强碱。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只戴手套不戴护目镜</a:t>
            </a:r>
          </a:p>
          <a:p>
            <a:pPr>
              <a:spcAft>
                <a:spcPts val="1000"/>
              </a:spcAft>
            </a:pPr>
            <a:r>
              <a:rPr sz="1500">
                <a:solidFill>
                  <a:srgbClr val="222B33"/>
                </a:solidFill>
                <a:latin typeface="Microsoft YaHei"/>
              </a:rPr>
              <a:t>▪ 把酸碱放在高处或和金属物品混放</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有毒物质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吸入、误食、经皮吸收都会中毒</a:t>
            </a:r>
          </a:p>
          <a:p>
            <a:pPr>
              <a:spcAft>
                <a:spcPts val="1000"/>
              </a:spcAft>
            </a:pPr>
            <a:r>
              <a:rPr sz="2000">
                <a:solidFill>
                  <a:srgbClr val="222B33"/>
                </a:solidFill>
                <a:latin typeface="Microsoft YaHei"/>
              </a:rPr>
              <a:t>▪ 比如某些农药、汞化合物、氰化物</a:t>
            </a:r>
          </a:p>
          <a:p>
            <a:pPr>
              <a:spcAft>
                <a:spcPts val="1000"/>
              </a:spcAft>
            </a:pPr>
            <a:r>
              <a:rPr sz="2000">
                <a:solidFill>
                  <a:srgbClr val="222B33"/>
                </a:solidFill>
                <a:latin typeface="Microsoft YaHei"/>
              </a:rPr>
              <a:t>▪ 实验室不吃不喝，用完洗手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有毒物质可以经呼吸道吸入、经口误食或经皮肤吸收进入人体，引起急性或慢性中毒。常见的有某些农药、汞及其化合物；氰化物等属于剧毒化学品，按“五双”管理（见第 045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在实验室里喝水、吃零食</a:t>
            </a:r>
          </a:p>
          <a:p>
            <a:pPr>
              <a:spcAft>
                <a:spcPts val="1000"/>
              </a:spcAft>
            </a:pPr>
            <a:r>
              <a:rPr sz="1500">
                <a:solidFill>
                  <a:srgbClr val="222B33"/>
                </a:solidFill>
                <a:latin typeface="Microsoft YaHei"/>
              </a:rPr>
              <a:t>▪ 摘手套后不洗手就离开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反应性和爆炸性物质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性质不稳定，遇空气、水或其他物质剧烈反应</a:t>
            </a:r>
          </a:p>
          <a:p>
            <a:pPr>
              <a:spcAft>
                <a:spcPts val="1000"/>
              </a:spcAft>
            </a:pPr>
            <a:r>
              <a:rPr sz="2000">
                <a:solidFill>
                  <a:srgbClr val="222B33"/>
                </a:solidFill>
                <a:latin typeface="Microsoft YaHei"/>
              </a:rPr>
              <a:t>▪ 比如某些过氧化物、硝酸盐类</a:t>
            </a:r>
          </a:p>
          <a:p>
            <a:pPr>
              <a:spcAft>
                <a:spcPts val="1000"/>
              </a:spcAft>
            </a:pPr>
            <a:r>
              <a:rPr sz="2000">
                <a:solidFill>
                  <a:srgbClr val="222B33"/>
                </a:solidFill>
                <a:latin typeface="Microsoft YaHei"/>
              </a:rPr>
              <a:t>▪ 这类物品多数受管控，登记领用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反应性和爆炸性物质性质不稳定，受热、撞击、摩擦或接触空气、水、其他物质时可能剧烈反应甚至爆炸，例如某些过氧化物、硝酸铵等硝酸盐类和多硝基化合物。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长期存放容易形成过氧化物的试剂不检查</a:t>
            </a:r>
          </a:p>
          <a:p>
            <a:pPr>
              <a:spcAft>
                <a:spcPts val="1000"/>
              </a:spcAft>
            </a:pPr>
            <a:r>
              <a:rPr sz="1500">
                <a:solidFill>
                  <a:srgbClr val="222B33"/>
                </a:solidFill>
                <a:latin typeface="Microsoft YaHei"/>
              </a:rPr>
              <a:t>▪ 不登记私自领用受管控物品</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放射性物质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射线能损伤细胞和 DNA</a:t>
            </a:r>
          </a:p>
          <a:p>
            <a:pPr>
              <a:spcAft>
                <a:spcPts val="1000"/>
              </a:spcAft>
            </a:pPr>
            <a:r>
              <a:rPr sz="2000">
                <a:solidFill>
                  <a:srgbClr val="222B33"/>
                </a:solidFill>
                <a:latin typeface="Microsoft YaHei"/>
              </a:rPr>
              <a:t>▪ 比如铀、镭、钴-60</a:t>
            </a:r>
          </a:p>
          <a:p>
            <a:pPr>
              <a:spcAft>
                <a:spcPts val="1000"/>
              </a:spcAft>
            </a:pPr>
            <a:r>
              <a:rPr sz="2000">
                <a:solidFill>
                  <a:srgbClr val="222B33"/>
                </a:solidFill>
                <a:latin typeface="Microsoft YaHei"/>
              </a:rPr>
              <a:t>▪ 看到电离辐射标志，未经许可不进入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放射性物质会自发放出电离辐射，射线能损伤人体细胞和 DNA，导致急性损伤或远期健康危害。常见的有铀、镭及钴-60 等放射源。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好奇进入有电离辐射标志的房间</a:t>
            </a:r>
          </a:p>
          <a:p>
            <a:pPr>
              <a:spcAft>
                <a:spcPts val="1000"/>
              </a:spcAft>
            </a:pPr>
            <a:r>
              <a:rPr sz="1500">
                <a:solidFill>
                  <a:srgbClr val="222B33"/>
                </a:solidFill>
                <a:latin typeface="Microsoft YaHei"/>
              </a:rPr>
              <a:t>▪ 不知道放射源使用需要许可</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生物危害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细菌、病毒、真菌和生物毒素能致病</a:t>
            </a:r>
          </a:p>
          <a:p>
            <a:pPr>
              <a:spcAft>
                <a:spcPts val="1000"/>
              </a:spcAft>
            </a:pPr>
            <a:r>
              <a:rPr sz="2000">
                <a:solidFill>
                  <a:srgbClr val="222B33"/>
                </a:solidFill>
                <a:latin typeface="Microsoft YaHei"/>
              </a:rPr>
              <a:t>▪ 我国病原微生物分四类，第一类最危险</a:t>
            </a:r>
          </a:p>
          <a:p>
            <a:pPr>
              <a:spcAft>
                <a:spcPts val="1000"/>
              </a:spcAft>
            </a:pPr>
            <a:r>
              <a:rPr sz="2000">
                <a:solidFill>
                  <a:srgbClr val="222B33"/>
                </a:solidFill>
                <a:latin typeface="Microsoft YaHei"/>
              </a:rPr>
              <a:t>▪ 按风险评估定级别，在生物安全柜里操作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生物危害物质包括细菌、病毒、真菌等病原微生物和生物毒素，能让人和动物生病。我国按危害程度把病原微生物分为四类，第一类危害最大，第一类、第二类合称高致病性病原微生物（以《病原微生物实验室生物安全管理条例》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以为“第四类最危险”</a:t>
            </a:r>
          </a:p>
          <a:p>
            <a:pPr>
              <a:spcAft>
                <a:spcPts val="1000"/>
              </a:spcAft>
            </a:pPr>
            <a:r>
              <a:rPr sz="1500">
                <a:solidFill>
                  <a:srgbClr val="222B33"/>
                </a:solidFill>
                <a:latin typeface="Microsoft YaHei"/>
              </a:rPr>
              <a:t>▪ 在开放台面上做可能产生气溶胶的操作</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压缩气体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高压储存，可能爆裂</a:t>
            </a:r>
          </a:p>
          <a:p>
            <a:pPr>
              <a:spcAft>
                <a:spcPts val="1000"/>
              </a:spcAft>
            </a:pPr>
            <a:r>
              <a:rPr sz="2000">
                <a:solidFill>
                  <a:srgbClr val="222B33"/>
                </a:solidFill>
                <a:latin typeface="Microsoft YaHei"/>
              </a:rPr>
              <a:t>▪ 泄漏会造成窒息或中毒</a:t>
            </a:r>
          </a:p>
          <a:p>
            <a:pPr>
              <a:spcAft>
                <a:spcPts val="1000"/>
              </a:spcAft>
            </a:pPr>
            <a:r>
              <a:rPr sz="2000">
                <a:solidFill>
                  <a:srgbClr val="222B33"/>
                </a:solidFill>
                <a:latin typeface="Microsoft YaHei"/>
              </a:rPr>
              <a:t>▪ 比如氧气、氯气、氨；气瓶要固定，用完关阀</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压缩气体和液化气体在钢瓶中高压储存，气瓶倾倒、受热或阀门损坏可能爆裂伤人。气体泄漏还会造成危害：惰性气体可使人窒息，氯气、氨等有毒，氢气等易燃，氧气助燃。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气瓶不固定，靠墙随意放置</a:t>
            </a:r>
          </a:p>
          <a:p>
            <a:pPr>
              <a:spcAft>
                <a:spcPts val="1000"/>
              </a:spcAft>
            </a:pPr>
            <a:r>
              <a:rPr sz="1500">
                <a:solidFill>
                  <a:srgbClr val="222B33"/>
                </a:solidFill>
                <a:latin typeface="Microsoft YaHei"/>
              </a:rPr>
              <a:t>▪ 用完只关减压阀不关瓶阀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运输分九类：看GB 6944</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为了运输安全，危险货物分九类</a:t>
            </a:r>
          </a:p>
          <a:p>
            <a:pPr>
              <a:spcAft>
                <a:spcPts val="1000"/>
              </a:spcAft>
            </a:pPr>
            <a:r>
              <a:rPr sz="2000">
                <a:solidFill>
                  <a:srgbClr val="222B33"/>
                </a:solidFill>
                <a:latin typeface="Microsoft YaHei"/>
              </a:rPr>
              <a:t>▪ 国内对应国家标准 GB 6944</a:t>
            </a:r>
          </a:p>
          <a:p>
            <a:pPr>
              <a:spcAft>
                <a:spcPts val="1000"/>
              </a:spcAft>
            </a:pPr>
            <a:r>
              <a:rPr sz="2000">
                <a:solidFill>
                  <a:srgbClr val="222B33"/>
                </a:solidFill>
                <a:latin typeface="Microsoft YaHei"/>
              </a:rPr>
              <a:t>▪ 具体物质查危险货物品名表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为了运输安全，国际上把危险货物分为九类，我国对应的国家标准是 GB 6944-2025（以现行文本为准）《危险货物分类和品名编号》。某种具体物质属于哪一类、编号是多少，查 GB 12268-2025（以现行文本为准）……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把运输九类和化学品危险性分类混为一谈</a:t>
            </a:r>
          </a:p>
          <a:p>
            <a:pPr>
              <a:spcAft>
                <a:spcPts val="1000"/>
              </a:spcAft>
            </a:pPr>
            <a:r>
              <a:rPr sz="1500">
                <a:solidFill>
                  <a:srgbClr val="222B33"/>
                </a:solidFill>
                <a:latin typeface="Microsoft YaHei"/>
              </a:rPr>
              <a:t>▪ 引用已被替代的旧版标准</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第1至3类：爆炸品、气体、易燃液体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1 类爆炸品，实验室严格管控</a:t>
            </a:r>
          </a:p>
          <a:p>
            <a:pPr>
              <a:spcAft>
                <a:spcPts val="1000"/>
              </a:spcAft>
            </a:pPr>
            <a:r>
              <a:rPr sz="2000">
                <a:solidFill>
                  <a:srgbClr val="222B33"/>
                </a:solidFill>
                <a:latin typeface="Microsoft YaHei"/>
              </a:rPr>
              <a:t>▪ 第 2 类气体：易燃、不燃、有毒的都有</a:t>
            </a:r>
          </a:p>
          <a:p>
            <a:pPr>
              <a:spcAft>
                <a:spcPts val="1000"/>
              </a:spcAft>
            </a:pPr>
            <a:r>
              <a:rPr sz="2000">
                <a:solidFill>
                  <a:srgbClr val="222B33"/>
                </a:solidFill>
                <a:latin typeface="Microsoft YaHei"/>
              </a:rPr>
              <a:t>▪ 第 3 类易燃液体最常见，放防火柜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 1 类是爆炸品，实验室一般不使用，确需使用的要严格审批、管控。第 2 类是气体，分为易燃气体（如氢气）、非易燃无毒气体（如氮气、氧气）和毒性气体（如氯气）。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以为不燃气体就没有危险（可致窒息）</a:t>
            </a:r>
          </a:p>
          <a:p>
            <a:pPr>
              <a:spcAft>
                <a:spcPts val="1000"/>
              </a:spcAft>
            </a:pPr>
            <a:r>
              <a:rPr sz="1500">
                <a:solidFill>
                  <a:srgbClr val="222B33"/>
                </a:solidFill>
                <a:latin typeface="Microsoft YaHei"/>
              </a:rPr>
              <a:t>▪ 大量溶剂放在普通木柜或台面上</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第4至6类：易燃固体、氧化性、毒性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4 类：易燃固体、易于自燃和遇水放出易燃气体的物质</a:t>
            </a:r>
          </a:p>
          <a:p>
            <a:pPr>
              <a:spcAft>
                <a:spcPts val="1000"/>
              </a:spcAft>
            </a:pPr>
            <a:r>
              <a:rPr sz="2000">
                <a:solidFill>
                  <a:srgbClr val="222B33"/>
                </a:solidFill>
                <a:latin typeface="Microsoft YaHei"/>
              </a:rPr>
              <a:t>▪ 第 5 类：氧化性物质和有机过氧化物，会助燃</a:t>
            </a:r>
          </a:p>
          <a:p>
            <a:pPr>
              <a:spcAft>
                <a:spcPts val="1000"/>
              </a:spcAft>
            </a:pPr>
            <a:r>
              <a:rPr sz="2000">
                <a:solidFill>
                  <a:srgbClr val="222B33"/>
                </a:solidFill>
                <a:latin typeface="Microsoft YaHei"/>
              </a:rPr>
              <a:t>▪ 第 6 类：毒性物质和感染性物质</a:t>
            </a:r>
          </a:p>
          <a:p>
            <a:pPr>
              <a:spcAft>
                <a:spcPts val="1000"/>
              </a:spcAft>
            </a:pPr>
            <a:r>
              <a:rPr sz="2000">
                <a:solidFill>
                  <a:srgbClr val="222B33"/>
                </a:solidFill>
                <a:latin typeface="Microsoft YaHei"/>
              </a:rPr>
              <a:t>▪ 菌毒种和样本运输，另有专门规定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4 类包括易燃固体、易于自燃的物质和遇水放出易燃气体的物质，例如某些活泼金属遇水会放出易燃气体。第 5 类是氧化性物质和有机过氧化物，本身不一定燃烧，但会助燃，要和可燃物分开存放。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把氧化剂和纸箱、有机溶剂放在一起</a:t>
            </a:r>
          </a:p>
          <a:p>
            <a:pPr>
              <a:spcAft>
                <a:spcPts val="1000"/>
              </a:spcAft>
            </a:pPr>
            <a:r>
              <a:rPr sz="1500">
                <a:solidFill>
                  <a:srgbClr val="222B33"/>
                </a:solidFill>
                <a:latin typeface="Microsoft YaHei"/>
              </a:rPr>
              <a:t>▪ 用普通快递寄送感染性样本</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第7至9类：放射性、腐蚀性、杂项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7 类放射性物质，持证单位才能使用和运输</a:t>
            </a:r>
          </a:p>
          <a:p>
            <a:pPr>
              <a:spcAft>
                <a:spcPts val="1000"/>
              </a:spcAft>
            </a:pPr>
            <a:r>
              <a:rPr sz="2000">
                <a:solidFill>
                  <a:srgbClr val="222B33"/>
                </a:solidFill>
                <a:latin typeface="Microsoft YaHei"/>
              </a:rPr>
              <a:t>▪ 第 8 类腐蚀性物质，强酸强碱都在这一类</a:t>
            </a:r>
          </a:p>
          <a:p>
            <a:pPr>
              <a:spcAft>
                <a:spcPts val="1000"/>
              </a:spcAft>
            </a:pPr>
            <a:r>
              <a:rPr sz="2000">
                <a:solidFill>
                  <a:srgbClr val="222B33"/>
                </a:solidFill>
                <a:latin typeface="Microsoft YaHei"/>
              </a:rPr>
              <a:t>▪ 第 9 类杂项：如锂电池、干冰、危害环境物质</a:t>
            </a:r>
          </a:p>
          <a:p>
            <a:pPr>
              <a:spcAft>
                <a:spcPts val="1000"/>
              </a:spcAft>
            </a:pPr>
            <a:r>
              <a:rPr sz="2000">
                <a:solidFill>
                  <a:srgbClr val="222B33"/>
                </a:solidFill>
                <a:latin typeface="Microsoft YaHei"/>
              </a:rPr>
              <a:t>▪ 杂项，不等于不危险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7 类是放射性物质，只有取得许可的单位才能使用和运输。第 8 类是腐蚀性物质，强酸、强碱等都属于这一类。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把锂电池、干冰当普通物品寄运</a:t>
            </a:r>
          </a:p>
          <a:p>
            <a:pPr>
              <a:spcAft>
                <a:spcPts val="1000"/>
              </a:spcAft>
            </a:pPr>
            <a:r>
              <a:rPr sz="1500">
                <a:solidFill>
                  <a:srgbClr val="222B33"/>
                </a:solidFill>
                <a:latin typeface="Microsoft YaHei"/>
              </a:rPr>
              <a:t>▪ 把干冰放进密闭容器</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菱形类别标志，一眼认危险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运输和储存时，货包贴菱形类别标志</a:t>
            </a:r>
          </a:p>
          <a:p>
            <a:pPr>
              <a:spcAft>
                <a:spcPts val="1000"/>
              </a:spcAft>
            </a:pPr>
            <a:r>
              <a:rPr sz="2000">
                <a:solidFill>
                  <a:srgbClr val="222B33"/>
                </a:solidFill>
                <a:latin typeface="Microsoft YaHei"/>
              </a:rPr>
              <a:t>▪ 一眼就知道里面是哪类危险</a:t>
            </a:r>
          </a:p>
          <a:p>
            <a:pPr>
              <a:spcAft>
                <a:spcPts val="1000"/>
              </a:spcAft>
            </a:pPr>
            <a:r>
              <a:rPr sz="2000">
                <a:solidFill>
                  <a:srgbClr val="222B33"/>
                </a:solidFill>
                <a:latin typeface="Microsoft YaHei"/>
              </a:rPr>
              <a:t>▪ 先认标志，就知道该怎么防</a:t>
            </a:r>
          </a:p>
          <a:p>
            <a:pPr>
              <a:spcAft>
                <a:spcPts val="1000"/>
              </a:spcAft>
            </a:pPr>
            <a:r>
              <a:rPr sz="2000">
                <a:solidFill>
                  <a:srgbClr val="222B33"/>
                </a:solidFill>
                <a:latin typeface="Microsoft YaHei"/>
              </a:rPr>
              <a:t>▪ 标志式样按 GB 190-2009</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危险货物运输时，包装件上要贴菱形的危险货物包装标志，用颜色和图形表示所属类别（如火焰表示易燃，骷髅表示毒性，腐蚀图形表示腐蚀性）。看到标志，就能知道里面是哪类危险，应该怎样搬运和防护。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不看包装标志就徒手拆箱</a:t>
            </a:r>
          </a:p>
          <a:p>
            <a:pPr>
              <a:spcAft>
                <a:spcPts val="1000"/>
              </a:spcAft>
            </a:pPr>
            <a:r>
              <a:rPr sz="1500">
                <a:solidFill>
                  <a:srgbClr val="222B33"/>
                </a:solidFill>
                <a:latin typeface="Microsoft YaHei"/>
              </a:rPr>
              <a:t>▪ 把运输标志和化学品标签象形图混为一谈</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实验室、医院、工厂里的危险物品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实验室：酸、有机溶剂、病原微生物</a:t>
            </a:r>
          </a:p>
          <a:p>
            <a:pPr>
              <a:spcAft>
                <a:spcPts val="1000"/>
              </a:spcAft>
            </a:pPr>
            <a:r>
              <a:rPr sz="2000">
                <a:solidFill>
                  <a:srgbClr val="222B33"/>
                </a:solidFill>
                <a:latin typeface="Microsoft YaHei"/>
              </a:rPr>
              <a:t>▪ 医院：药品、感染性样本、消毒剂</a:t>
            </a:r>
          </a:p>
          <a:p>
            <a:pPr>
              <a:spcAft>
                <a:spcPts val="1000"/>
              </a:spcAft>
            </a:pPr>
            <a:r>
              <a:rPr sz="2000">
                <a:solidFill>
                  <a:srgbClr val="222B33"/>
                </a:solidFill>
                <a:latin typeface="Microsoft YaHei"/>
              </a:rPr>
              <a:t>▪ 工厂：工业化学品和燃料，用量更大</a:t>
            </a:r>
          </a:p>
          <a:p>
            <a:pPr>
              <a:spcAft>
                <a:spcPts val="1000"/>
              </a:spcAft>
            </a:pPr>
            <a:r>
              <a:rPr sz="2000">
                <a:solidFill>
                  <a:srgbClr val="222B33"/>
                </a:solidFill>
                <a:latin typeface="Microsoft YaHei"/>
              </a:rPr>
              <a:t>▪ 用完归位，不随手乱放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实验室里常见的危险物品有酸碱、有机溶剂、有毒试剂、病原微生物、气瓶等，用完要放回原位，不随手乱放在台面上。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用完的试剂瓶留在台面、通风柜里</a:t>
            </a:r>
          </a:p>
          <a:p>
            <a:pPr>
              <a:spcAft>
                <a:spcPts val="1000"/>
              </a:spcAft>
            </a:pPr>
            <a:r>
              <a:rPr sz="1500">
                <a:solidFill>
                  <a:srgbClr val="222B33"/>
                </a:solidFill>
                <a:latin typeface="Microsoft YaHei"/>
              </a:rPr>
              <a:t>▪ 用过的感染性物品混入生活垃圾</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家里宿舍也有，看背面警示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家里和宿舍也藏着危险物品</a:t>
            </a:r>
          </a:p>
          <a:p>
            <a:pPr>
              <a:spcAft>
                <a:spcPts val="1000"/>
              </a:spcAft>
            </a:pPr>
            <a:r>
              <a:rPr sz="2000">
                <a:solidFill>
                  <a:srgbClr val="222B33"/>
                </a:solidFill>
                <a:latin typeface="Microsoft YaHei"/>
              </a:rPr>
              <a:t>▪ 清洁剂、油漆、电池、杀虫剂都是</a:t>
            </a:r>
          </a:p>
          <a:p>
            <a:pPr>
              <a:spcAft>
                <a:spcPts val="1000"/>
              </a:spcAft>
            </a:pPr>
            <a:r>
              <a:rPr sz="2000">
                <a:solidFill>
                  <a:srgbClr val="222B33"/>
                </a:solidFill>
                <a:latin typeface="Microsoft YaHei"/>
              </a:rPr>
              <a:t>▪ 看看瓶子背面，就有警示</a:t>
            </a:r>
          </a:p>
          <a:p>
            <a:pPr>
              <a:spcAft>
                <a:spcPts val="1000"/>
              </a:spcAft>
            </a:pPr>
            <a:r>
              <a:rPr sz="2000">
                <a:solidFill>
                  <a:srgbClr val="222B33"/>
                </a:solidFill>
                <a:latin typeface="Microsoft YaHei"/>
              </a:rPr>
              <a:t>▪ 放在孩子够不着的地方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危险物品不只在实验室。家里和宿舍里的清洁剂、油漆、电池、杀虫剂、燃料、药品等，同样可能伤人。这些产品的包装背面通常印有警示和使用说明，使用前要先看。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用饮料瓶分装清洁剂、杀虫剂</a:t>
            </a:r>
          </a:p>
          <a:p>
            <a:pPr>
              <a:spcAft>
                <a:spcPts val="1000"/>
              </a:spcAft>
            </a:pPr>
            <a:r>
              <a:rPr sz="1500">
                <a:solidFill>
                  <a:srgbClr val="222B33"/>
                </a:solidFill>
                <a:latin typeface="Microsoft YaHei"/>
              </a:rPr>
              <a:t>▪ 把实验室试剂带回宿舍</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清洁剂不能混用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漂白剂、氨水等清洁剂常见于家里宿舍</a:t>
            </a:r>
          </a:p>
          <a:p>
            <a:pPr>
              <a:spcAft>
                <a:spcPts val="1000"/>
              </a:spcAft>
            </a:pPr>
            <a:r>
              <a:rPr sz="2000">
                <a:solidFill>
                  <a:srgbClr val="222B33"/>
                </a:solidFill>
                <a:latin typeface="Microsoft YaHei"/>
              </a:rPr>
              <a:t>▪ 不同清洁剂混用会产生有毒气体</a:t>
            </a:r>
          </a:p>
          <a:p>
            <a:pPr>
              <a:spcAft>
                <a:spcPts val="1000"/>
              </a:spcAft>
            </a:pPr>
            <a:r>
              <a:rPr sz="2000">
                <a:solidFill>
                  <a:srgbClr val="222B33"/>
                </a:solidFill>
                <a:latin typeface="Microsoft YaHei"/>
              </a:rPr>
              <a:t>▪ 单独用，戴手套，开窗通风</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含氯漂白剂、含氨清洁剂、酸性洁厕剂等都是生活中常见的化学品。不同清洁剂混在一起可能发生反应，放出有毒气体，在卫生间等狭小空间里尤其危险。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为了“清洁更强”把两种清洁剂混用</a:t>
            </a:r>
          </a:p>
          <a:p>
            <a:pPr>
              <a:spcAft>
                <a:spcPts val="1000"/>
              </a:spcAft>
            </a:pPr>
            <a:r>
              <a:rPr sz="1500">
                <a:solidFill>
                  <a:srgbClr val="222B33"/>
                </a:solidFill>
                <a:latin typeface="Microsoft YaHei"/>
              </a:rPr>
              <a:t>▪ 在门窗紧闭的卫生间里大量使用</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燃料、电池、杀虫剂和药品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汽油、液化气、煤油易燃易爆，远离火源</a:t>
            </a:r>
          </a:p>
          <a:p>
            <a:pPr>
              <a:spcAft>
                <a:spcPts val="1000"/>
              </a:spcAft>
            </a:pPr>
            <a:r>
              <a:rPr sz="2000">
                <a:solidFill>
                  <a:srgbClr val="222B33"/>
                </a:solidFill>
                <a:latin typeface="Microsoft YaHei"/>
              </a:rPr>
              <a:t>▪ 铅酸电池有腐蚀液，锂电池会起火</a:t>
            </a:r>
          </a:p>
          <a:p>
            <a:pPr>
              <a:spcAft>
                <a:spcPts val="1000"/>
              </a:spcAft>
            </a:pPr>
            <a:r>
              <a:rPr sz="2000">
                <a:solidFill>
                  <a:srgbClr val="222B33"/>
                </a:solidFill>
                <a:latin typeface="Microsoft YaHei"/>
              </a:rPr>
              <a:t>▪ 杀虫剂喷完先离开，通风后再进</a:t>
            </a:r>
          </a:p>
          <a:p>
            <a:pPr>
              <a:spcAft>
                <a:spcPts val="1000"/>
              </a:spcAft>
            </a:pPr>
            <a:r>
              <a:rPr sz="2000">
                <a:solidFill>
                  <a:srgbClr val="222B33"/>
                </a:solidFill>
                <a:latin typeface="Microsoft YaHei"/>
              </a:rPr>
              <a:t>▪ 药也是化学品，按说明使用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汽油、液化石油气、煤油等燃料易燃易爆，要远离火源和高温。电池也是危险物品：铅酸电池里有腐蚀性电解液，锂电池过充、挤压、破损可能起火，鼓包的电池停止使用，废电池按规定回收。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给鼓包的锂电池继续充电</a:t>
            </a:r>
          </a:p>
          <a:p>
            <a:pPr>
              <a:spcAft>
                <a:spcPts val="1000"/>
              </a:spcAft>
            </a:pPr>
            <a:r>
              <a:rPr sz="1500">
                <a:solidFill>
                  <a:srgbClr val="222B33"/>
                </a:solidFill>
                <a:latin typeface="Microsoft YaHei"/>
              </a:rPr>
              <a:t>▪ 喷完杀虫剂立即在房间里睡觉、吃东西</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对人：烧伤、中毒、伤呼吸道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危险物品对人和环境都有风险</a:t>
            </a:r>
          </a:p>
          <a:p>
            <a:pPr>
              <a:spcAft>
                <a:spcPts val="1000"/>
              </a:spcAft>
            </a:pPr>
            <a:r>
              <a:rPr sz="2000">
                <a:solidFill>
                  <a:srgbClr val="222B33"/>
                </a:solidFill>
                <a:latin typeface="Microsoft YaHei"/>
              </a:rPr>
              <a:t>▪ 火烧和腐蚀都会烧伤，立即冲洗</a:t>
            </a:r>
          </a:p>
          <a:p>
            <a:pPr>
              <a:spcAft>
                <a:spcPts val="1000"/>
              </a:spcAft>
            </a:pPr>
            <a:r>
              <a:rPr sz="2000">
                <a:solidFill>
                  <a:srgbClr val="222B33"/>
                </a:solidFill>
                <a:latin typeface="Microsoft YaHei"/>
              </a:rPr>
              <a:t>▪ 毒物经呼吸、嘴巴和皮肤进入身体</a:t>
            </a:r>
          </a:p>
          <a:p>
            <a:pPr>
              <a:spcAft>
                <a:spcPts val="1000"/>
              </a:spcAft>
            </a:pPr>
            <a:r>
              <a:rPr sz="2000">
                <a:solidFill>
                  <a:srgbClr val="222B33"/>
                </a:solidFill>
                <a:latin typeface="Microsoft YaHei"/>
              </a:rPr>
              <a:t>▪ 挥发性物质伤呼吸道和肺，进通风柜做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危险物品对人的伤害，首先是烧伤：火焰造成热烧伤，腐蚀品造成化学灼伤；化学品溅到皮肤或眼睛，要立即用大量清水冲洗（急救见第 14 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化学品溅到皮肤只用纸擦，不冲洗</a:t>
            </a:r>
          </a:p>
          <a:p>
            <a:pPr>
              <a:spcAft>
                <a:spcPts val="1000"/>
              </a:spcAft>
            </a:pPr>
            <a:r>
              <a:rPr sz="1500">
                <a:solidFill>
                  <a:srgbClr val="222B33"/>
                </a:solidFill>
                <a:latin typeface="Microsoft YaHei"/>
              </a:rPr>
              <a:t>▪ 在敞开台面上处理挥发性试剂</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对人：长期危害、感染、致命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致癌等长期危害，可能多年后才显现</a:t>
            </a:r>
          </a:p>
          <a:p>
            <a:pPr>
              <a:spcAft>
                <a:spcPts val="1000"/>
              </a:spcAft>
            </a:pPr>
            <a:r>
              <a:rPr sz="2000">
                <a:solidFill>
                  <a:srgbClr val="222B33"/>
                </a:solidFill>
                <a:latin typeface="Microsoft YaHei"/>
              </a:rPr>
              <a:t>▪ 病原和样本会感染，按生物安全要求操作</a:t>
            </a:r>
          </a:p>
          <a:p>
            <a:pPr>
              <a:spcAft>
                <a:spcPts val="1000"/>
              </a:spcAft>
            </a:pPr>
            <a:r>
              <a:rPr sz="2000">
                <a:solidFill>
                  <a:srgbClr val="222B33"/>
                </a:solidFill>
                <a:latin typeface="Microsoft YaHei"/>
              </a:rPr>
              <a:t>▪ 最严重时危及生命，防护一步都不能省</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有些化学品的危害不会马上表现出来：致癌、致突变、生殖毒性等长期危害，可能多年后才显现，所以不能因为“当时没感觉”就放松防护。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认为“闻着没事、摸了没事”就是安全</a:t>
            </a:r>
          </a:p>
          <a:p>
            <a:pPr>
              <a:spcAft>
                <a:spcPts val="1000"/>
              </a:spcAft>
            </a:pPr>
            <a:r>
              <a:rPr sz="1500">
                <a:solidFill>
                  <a:srgbClr val="222B33"/>
                </a:solidFill>
                <a:latin typeface="Microsoft YaHei"/>
              </a:rPr>
              <a:t>▪ 嫌麻烦省略护目镜、手套</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对环境：污染水土、蓄积、破坏生态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污染水体，渗进土壤也很难清除</a:t>
            </a:r>
          </a:p>
          <a:p>
            <a:pPr>
              <a:spcAft>
                <a:spcPts val="1000"/>
              </a:spcAft>
            </a:pPr>
            <a:r>
              <a:rPr sz="2000">
                <a:solidFill>
                  <a:srgbClr val="222B33"/>
                </a:solidFill>
                <a:latin typeface="Microsoft YaHei"/>
              </a:rPr>
              <a:t>▪ 废液进专用桶，不进下水道</a:t>
            </a:r>
          </a:p>
          <a:p>
            <a:pPr>
              <a:spcAft>
                <a:spcPts val="1000"/>
              </a:spcAft>
            </a:pPr>
            <a:r>
              <a:rPr sz="2000">
                <a:solidFill>
                  <a:srgbClr val="222B33"/>
                </a:solidFill>
                <a:latin typeface="Microsoft YaHei"/>
              </a:rPr>
              <a:t>▪ 有些毒素在生物体内蓄积，沿食物链回到人</a:t>
            </a:r>
          </a:p>
          <a:p>
            <a:pPr>
              <a:spcAft>
                <a:spcPts val="1000"/>
              </a:spcAft>
            </a:pPr>
            <a:r>
              <a:rPr sz="2000">
                <a:solidFill>
                  <a:srgbClr val="222B33"/>
                </a:solidFill>
                <a:latin typeface="Microsoft YaHei"/>
              </a:rPr>
              <a:t>▪ 破坏生态系统，物种减少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危险物品进入环境会污染河流、湖泊和地下水，渗入土壤后很难清除。实验室废液必须倒入专用收集桶，按危险废物处置，不得倒入下水道（见第 053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少量废液倒进水槽“稀释就好”</a:t>
            </a:r>
          </a:p>
          <a:p>
            <a:pPr>
              <a:spcAft>
                <a:spcPts val="1000"/>
              </a:spcAft>
            </a:pPr>
            <a:r>
              <a:rPr sz="1500">
                <a:solidFill>
                  <a:srgbClr val="222B33"/>
                </a:solidFill>
                <a:latin typeface="Microsoft YaHei"/>
              </a:rPr>
              <a:t>▪ 把含重金属的废液和普通废水混排</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我国化学品危险性分类的国家标准是：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GB 2894</a:t>
            </a:r>
          </a:p>
          <a:p>
            <a:pPr algn="l"/>
            <a:r>
              <a:rPr sz="1500" b="0">
                <a:solidFill>
                  <a:srgbClr val="222B33"/>
                </a:solidFill>
                <a:latin typeface="Microsoft YaHei"/>
              </a:rPr>
              <a:t>B. GB 30000 系列</a:t>
            </a:r>
          </a:p>
          <a:p>
            <a:pPr algn="l"/>
            <a:r>
              <a:rPr sz="1500" b="0">
                <a:solidFill>
                  <a:srgbClr val="222B33"/>
                </a:solidFill>
                <a:latin typeface="Microsoft YaHei"/>
              </a:rPr>
              <a:t>C. GB 50016</a:t>
            </a:r>
          </a:p>
          <a:p>
            <a:pPr algn="l"/>
            <a:r>
              <a:rPr sz="1500" b="0">
                <a:solidFill>
                  <a:srgbClr val="222B33"/>
                </a:solidFill>
                <a:latin typeface="Microsoft YaHei"/>
              </a:rPr>
              <a:t>D. GB 18871</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GB 30000 系列把化学品危害分为哪三大类？</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固体、液体、气体</a:t>
            </a:r>
          </a:p>
          <a:p>
            <a:pPr algn="l"/>
            <a:r>
              <a:rPr sz="1500" b="0">
                <a:solidFill>
                  <a:srgbClr val="222B33"/>
                </a:solidFill>
                <a:latin typeface="Microsoft YaHei"/>
              </a:rPr>
              <a:t>B. 理化危险、健康危害、环境危害</a:t>
            </a:r>
          </a:p>
          <a:p>
            <a:pPr algn="l"/>
            <a:r>
              <a:rPr sz="1500" b="0">
                <a:solidFill>
                  <a:srgbClr val="222B33"/>
                </a:solidFill>
                <a:latin typeface="Microsoft YaHei"/>
              </a:rPr>
              <a:t>C. 剧毒、有毒、低毒</a:t>
            </a:r>
          </a:p>
          <a:p>
            <a:pPr algn="l"/>
            <a:r>
              <a:rPr sz="1500" b="0">
                <a:solidFill>
                  <a:srgbClr val="222B33"/>
                </a:solidFill>
                <a:latin typeface="Microsoft YaHei"/>
              </a:rPr>
              <a:t>D. 一级、二级、三级</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按 GB 6944，锂电池、干冰属于危险货物的：</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第 2 类</a:t>
            </a:r>
          </a:p>
          <a:p>
            <a:pPr algn="l"/>
            <a:r>
              <a:rPr sz="1500" b="0">
                <a:solidFill>
                  <a:srgbClr val="222B33"/>
                </a:solidFill>
                <a:latin typeface="Microsoft YaHei"/>
              </a:rPr>
              <a:t>B. 第 4 类</a:t>
            </a:r>
          </a:p>
          <a:p>
            <a:pPr algn="l"/>
            <a:r>
              <a:rPr sz="1500" b="0">
                <a:solidFill>
                  <a:srgbClr val="222B33"/>
                </a:solidFill>
                <a:latin typeface="Microsoft YaHei"/>
              </a:rPr>
              <a:t>C. 第 8 类</a:t>
            </a:r>
          </a:p>
          <a:p>
            <a:pPr algn="l"/>
            <a:r>
              <a:rPr sz="1500" b="0">
                <a:solidFill>
                  <a:srgbClr val="222B33"/>
                </a:solidFill>
                <a:latin typeface="Microsoft YaHei"/>
              </a:rPr>
              <a:t>D. 第 9 类</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判断：我国病原微生物按危害程度分为四类，第四类危害最大。</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038 · 化学品与危险物品分类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038 化学品与危险物品分类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判断：宿舍打扫卫生时，把两种清洁剂混在一起效果更好。</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简答：危险物品对环境有哪些主要风险？</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危险物品：伤人、毁物、污染环境</a:t>
            </a:r>
          </a:p>
          <a:p>
            <a:pPr>
              <a:spcAft>
                <a:spcPts val="800"/>
              </a:spcAft>
            </a:pPr>
            <a:r>
              <a:rPr sz="1500">
                <a:solidFill>
                  <a:srgbClr val="FFFFFF"/>
                </a:solidFill>
                <a:latin typeface="Microsoft YaHei"/>
              </a:rPr>
              <a:t>▪ K2  固液气都有，多种方式伤人</a:t>
            </a:r>
          </a:p>
          <a:p>
            <a:pPr>
              <a:spcAft>
                <a:spcPts val="800"/>
              </a:spcAft>
            </a:pPr>
            <a:r>
              <a:rPr sz="1500">
                <a:solidFill>
                  <a:srgbClr val="FFFFFF"/>
                </a:solidFill>
                <a:latin typeface="Microsoft YaHei"/>
              </a:rPr>
              <a:t>▪ K3  遇高温、高压或混合更危险</a:t>
            </a:r>
          </a:p>
          <a:p>
            <a:pPr>
              <a:spcAft>
                <a:spcPts val="800"/>
              </a:spcAft>
            </a:pPr>
            <a:r>
              <a:rPr sz="1500">
                <a:solidFill>
                  <a:srgbClr val="FFFFFF"/>
                </a:solidFill>
                <a:latin typeface="Microsoft YaHei"/>
              </a:rPr>
              <a:t>▪ K4  全球统一分类，我国按GB 30000</a:t>
            </a:r>
          </a:p>
          <a:p>
            <a:pPr>
              <a:spcAft>
                <a:spcPts val="800"/>
              </a:spcAft>
            </a:pPr>
            <a:r>
              <a:rPr sz="1500">
                <a:solidFill>
                  <a:srgbClr val="FFFFFF"/>
                </a:solidFill>
                <a:latin typeface="Microsoft YaHei"/>
              </a:rPr>
              <a:t>▪ S1  三大类危害：理化、健康、环境</a:t>
            </a:r>
          </a:p>
          <a:p>
            <a:pPr>
              <a:spcAft>
                <a:spcPts val="800"/>
              </a:spcAft>
            </a:pPr>
            <a:r>
              <a:rPr sz="1500">
                <a:solidFill>
                  <a:srgbClr val="FFFFFF"/>
                </a:solidFill>
                <a:latin typeface="Microsoft YaHei"/>
              </a:rPr>
              <a:t>▪ K5  常见危险物品分七组</a:t>
            </a:r>
          </a:p>
          <a:p>
            <a:pPr>
              <a:spcAft>
                <a:spcPts val="800"/>
              </a:spcAft>
            </a:pPr>
            <a:r>
              <a:rPr sz="1500">
                <a:solidFill>
                  <a:srgbClr val="FFFFFF"/>
                </a:solidFill>
                <a:latin typeface="Microsoft YaHei"/>
              </a:rPr>
              <a:t>▪ K6  易燃和可燃物</a:t>
            </a:r>
          </a:p>
          <a:p>
            <a:pPr>
              <a:spcAft>
                <a:spcPts val="800"/>
              </a:spcAft>
            </a:pPr>
            <a:r>
              <a:rPr sz="1500">
                <a:solidFill>
                  <a:srgbClr val="FFFFFF"/>
                </a:solidFill>
                <a:latin typeface="Microsoft YaHei"/>
              </a:rPr>
              <a:t>▪ K7  腐蚀性物质</a:t>
            </a:r>
          </a:p>
          <a:p>
            <a:pPr>
              <a:spcAft>
                <a:spcPts val="800"/>
              </a:spcAft>
            </a:pPr>
            <a:r>
              <a:rPr sz="1500">
                <a:solidFill>
                  <a:srgbClr val="FFFFFF"/>
                </a:solidFill>
                <a:latin typeface="Microsoft YaHei"/>
              </a:rPr>
              <a:t>▪ K8  有毒物质</a:t>
            </a:r>
          </a:p>
          <a:p>
            <a:pPr>
              <a:spcAft>
                <a:spcPts val="800"/>
              </a:spcAft>
            </a:pPr>
            <a:r>
              <a:rPr sz="1500">
                <a:solidFill>
                  <a:srgbClr val="FFFFFF"/>
                </a:solidFill>
                <a:latin typeface="Microsoft YaHei"/>
              </a:rPr>
              <a:t>▪ K9  反应性和爆炸性物质</a:t>
            </a:r>
          </a:p>
          <a:p>
            <a:pPr>
              <a:spcAft>
                <a:spcPts val="800"/>
              </a:spcAft>
            </a:pPr>
            <a:r>
              <a:rPr sz="1500">
                <a:solidFill>
                  <a:srgbClr val="FFFFFF"/>
                </a:solidFill>
                <a:latin typeface="Microsoft YaHei"/>
              </a:rPr>
              <a:t>▪ K10  放射性物质</a:t>
            </a:r>
          </a:p>
          <a:p>
            <a:pPr>
              <a:spcAft>
                <a:spcPts val="800"/>
              </a:spcAft>
            </a:pPr>
            <a:r>
              <a:rPr sz="1500">
                <a:solidFill>
                  <a:srgbClr val="FFFFFF"/>
                </a:solidFill>
                <a:latin typeface="Microsoft YaHei"/>
              </a:rPr>
              <a:t>▪ K11  生物危害</a:t>
            </a:r>
          </a:p>
          <a:p>
            <a:pPr>
              <a:spcAft>
                <a:spcPts val="800"/>
              </a:spcAft>
            </a:pPr>
            <a:r>
              <a:rPr sz="1500">
                <a:solidFill>
                  <a:srgbClr val="FFFFFF"/>
                </a:solidFill>
                <a:latin typeface="Microsoft YaHei"/>
              </a:rPr>
              <a:t>▪ K12  压缩气体</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K13  运输分九类：看GB 6944</a:t>
            </a:r>
          </a:p>
          <a:p>
            <a:pPr>
              <a:spcAft>
                <a:spcPts val="800"/>
              </a:spcAft>
            </a:pPr>
            <a:r>
              <a:rPr sz="1500">
                <a:solidFill>
                  <a:srgbClr val="FFFFFF"/>
                </a:solidFill>
                <a:latin typeface="Microsoft YaHei"/>
              </a:rPr>
              <a:t>▪ K14  第1至3类：爆炸品、气体、易燃液体</a:t>
            </a:r>
          </a:p>
          <a:p>
            <a:pPr>
              <a:spcAft>
                <a:spcPts val="800"/>
              </a:spcAft>
            </a:pPr>
            <a:r>
              <a:rPr sz="1500">
                <a:solidFill>
                  <a:srgbClr val="FFFFFF"/>
                </a:solidFill>
                <a:latin typeface="Microsoft YaHei"/>
              </a:rPr>
              <a:t>▪ K15  第4至6类：易燃固体、氧化性、毒性</a:t>
            </a:r>
          </a:p>
          <a:p>
            <a:pPr>
              <a:spcAft>
                <a:spcPts val="800"/>
              </a:spcAft>
            </a:pPr>
            <a:r>
              <a:rPr sz="1500">
                <a:solidFill>
                  <a:srgbClr val="FFFFFF"/>
                </a:solidFill>
                <a:latin typeface="Microsoft YaHei"/>
              </a:rPr>
              <a:t>▪ K16  第7至9类：放射性、腐蚀性、杂项</a:t>
            </a:r>
          </a:p>
          <a:p>
            <a:pPr>
              <a:spcAft>
                <a:spcPts val="800"/>
              </a:spcAft>
            </a:pPr>
            <a:r>
              <a:rPr sz="1500">
                <a:solidFill>
                  <a:srgbClr val="FFFFFF"/>
                </a:solidFill>
                <a:latin typeface="Microsoft YaHei"/>
              </a:rPr>
              <a:t>▪ K17  菱形类别标志，一眼认危险</a:t>
            </a:r>
          </a:p>
          <a:p>
            <a:pPr>
              <a:spcAft>
                <a:spcPts val="800"/>
              </a:spcAft>
            </a:pPr>
            <a:r>
              <a:rPr sz="1500">
                <a:solidFill>
                  <a:srgbClr val="FFFFFF"/>
                </a:solidFill>
                <a:latin typeface="Microsoft YaHei"/>
              </a:rPr>
              <a:t>▪ K18  实验室、医院、工厂里的危险物品</a:t>
            </a:r>
          </a:p>
          <a:p>
            <a:pPr>
              <a:spcAft>
                <a:spcPts val="800"/>
              </a:spcAft>
            </a:pPr>
            <a:r>
              <a:rPr sz="1500">
                <a:solidFill>
                  <a:srgbClr val="FFFFFF"/>
                </a:solidFill>
                <a:latin typeface="Microsoft YaHei"/>
              </a:rPr>
              <a:t>▪ K19  家里宿舍也有，看背面警示</a:t>
            </a:r>
          </a:p>
          <a:p>
            <a:pPr>
              <a:spcAft>
                <a:spcPts val="800"/>
              </a:spcAft>
            </a:pPr>
            <a:r>
              <a:rPr sz="1500">
                <a:solidFill>
                  <a:srgbClr val="FFFFFF"/>
                </a:solidFill>
                <a:latin typeface="Microsoft YaHei"/>
              </a:rPr>
              <a:t>▪ K20  清洁剂不能混用</a:t>
            </a:r>
          </a:p>
          <a:p>
            <a:pPr>
              <a:spcAft>
                <a:spcPts val="800"/>
              </a:spcAft>
            </a:pPr>
            <a:r>
              <a:rPr sz="1500">
                <a:solidFill>
                  <a:srgbClr val="FFFFFF"/>
                </a:solidFill>
                <a:latin typeface="Microsoft YaHei"/>
              </a:rPr>
              <a:t>▪ K21  燃料、电池、杀虫剂和药品</a:t>
            </a:r>
          </a:p>
          <a:p>
            <a:pPr>
              <a:spcAft>
                <a:spcPts val="800"/>
              </a:spcAft>
            </a:pPr>
            <a:r>
              <a:rPr sz="1500">
                <a:solidFill>
                  <a:srgbClr val="FFFFFF"/>
                </a:solidFill>
                <a:latin typeface="Microsoft YaHei"/>
              </a:rPr>
              <a:t>▪ K22  对人：烧伤、中毒、伤呼吸道</a:t>
            </a:r>
          </a:p>
          <a:p>
            <a:pPr>
              <a:spcAft>
                <a:spcPts val="800"/>
              </a:spcAft>
            </a:pPr>
            <a:r>
              <a:rPr sz="1500">
                <a:solidFill>
                  <a:srgbClr val="FFFFFF"/>
                </a:solidFill>
                <a:latin typeface="Microsoft YaHei"/>
              </a:rPr>
              <a:t>▪ K23  对人：长期危害、感染、致命</a:t>
            </a:r>
          </a:p>
          <a:p>
            <a:pPr>
              <a:spcAft>
                <a:spcPts val="800"/>
              </a:spcAft>
            </a:pPr>
            <a:r>
              <a:rPr sz="1500">
                <a:solidFill>
                  <a:srgbClr val="FFFFFF"/>
                </a:solidFill>
                <a:latin typeface="Microsoft YaHei"/>
              </a:rPr>
              <a:t>▪ K24  对环境：污染水土、蓄积、破坏生态</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039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化学品标签与危害告知</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73 镜）　适用对象：全体使用化学品的高校本科生、研究生和教职工（必修）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能说出危害告知的意义，以及生产进口单位、使用单位在“一书一签”上的责任。</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能读懂中文化学品安全标签的要素（GB 15258-2009）：名称、象形图、信号词、危险说明、防范说明、供应商和应急电话。</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能认出 GB 30000 系列的九种象形图和“危险”“警告”两个信号词，区分运输标志和象形图。</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能做到给分装容器、自配溶液、使用中的容器贴全称标签，标签损坏及时补贴，并参与危害告知培训。</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日起施行）及《危险化学品安全管理条例》（以现行文本为准）：危险化学品附中文化学品安全技术说明书和安全标签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15258-2009（以现行文本为准）《化学品安全标签编写规定》：标签要素和编写要求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系列（如 GB 30000.7-2013，以现行文本为准）《化学品分类和标签规范》：危险性分类、象形图和信号词</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190-2009（以现行文本为准）《危险货物包装标志》：运输菱形标志</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《中华人民共和国职业病防治法》（以现行文本为准）：用人单位如实告知职业病危害，设置警示标识和中文警示说明</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号，以现行文本为准）：化学品标签清晰、容器标识、安全培训</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高校实验室安全检查项目表（以现行文本为准）：试剂和自配溶液标签完整、安全技术说明书可查</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危害告知是安全的共同语言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每个容器、每批到货、每次交接都在传递危险信息</a:t>
            </a:r>
          </a:p>
          <a:p>
            <a:pPr>
              <a:spcAft>
                <a:spcPts val="1000"/>
              </a:spcAft>
            </a:pPr>
            <a:r>
              <a:rPr sz="2000">
                <a:solidFill>
                  <a:srgbClr val="222B33"/>
                </a:solidFill>
                <a:latin typeface="Microsoft YaHei"/>
              </a:rPr>
              <a:t>▪ 会读、会说、会转告，大家才安全</a:t>
            </a:r>
          </a:p>
          <a:p>
            <a:pPr>
              <a:spcAft>
                <a:spcPts val="1000"/>
              </a:spcAft>
            </a:pPr>
            <a:r>
              <a:rPr sz="2000">
                <a:solidFill>
                  <a:srgbClr val="222B33"/>
                </a:solidFill>
                <a:latin typeface="Microsoft YaHei"/>
              </a:rPr>
              <a:t>▪ 安全意识从把危害讲清楚开始</a:t>
            </a:r>
          </a:p>
          <a:p>
            <a:pPr>
              <a:spcAft>
                <a:spcPts val="1000"/>
              </a:spcAft>
            </a:pPr>
            <a:r>
              <a:rPr sz="2000">
                <a:solidFill>
                  <a:srgbClr val="222B33"/>
                </a:solidFill>
                <a:latin typeface="Microsoft YaHei"/>
              </a:rPr>
              <a:t>▪ 不是一年一次的讲座，而是每天的习惯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危害告知（也叫危险信息传递）就是让每个接触化学品的人知道它有什么危害、怎样防护、出事怎么办。容器上的标签、随货的说明书、交接时的口头说明，都是这门“安全语言”的一部分。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交接实验时不说明在用的化学品和危害</a:t>
            </a:r>
          </a:p>
          <a:p>
            <a:pPr>
              <a:spcAft>
                <a:spcPts val="1000"/>
              </a:spcAft>
            </a:pPr>
            <a:r>
              <a:rPr sz="1500">
                <a:solidFill>
                  <a:srgbClr val="222B33"/>
                </a:solidFill>
                <a:latin typeface="Microsoft YaHei"/>
              </a:rPr>
              <a:t>▪ 只在迎检和培训时才关注标签</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可能接触的人都有权知道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有危险化学品的地方，就要做好危害告知</a:t>
            </a:r>
          </a:p>
          <a:p>
            <a:pPr>
              <a:spcAft>
                <a:spcPts val="1000"/>
              </a:spcAft>
            </a:pPr>
            <a:r>
              <a:rPr sz="2000">
                <a:solidFill>
                  <a:srgbClr val="222B33"/>
                </a:solidFill>
                <a:latin typeface="Microsoft YaHei"/>
              </a:rPr>
              <a:t>▪ 做实验的、打扫的、来帮忙的都要知道</a:t>
            </a:r>
          </a:p>
          <a:p>
            <a:pPr>
              <a:spcAft>
                <a:spcPts val="1000"/>
              </a:spcAft>
            </a:pPr>
            <a:r>
              <a:rPr sz="2000">
                <a:solidFill>
                  <a:srgbClr val="222B33"/>
                </a:solidFill>
                <a:latin typeface="Microsoft YaHei"/>
              </a:rPr>
              <a:t>▪ 你有权知道自己接触的是什么</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只要有危险化学品，就要做好危害告知，没有例外。告知对象不只是做实验的人，保洁、维修、来帮忙的同学和外来人员，凡是可能接触的，都要知道三件事：这里有什么危害、怎样防护、出事怎么办。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保洁、维修人员进实验室前不告知危害</a:t>
            </a:r>
          </a:p>
          <a:p>
            <a:pPr>
              <a:spcAft>
                <a:spcPts val="1000"/>
              </a:spcAft>
            </a:pPr>
            <a:r>
              <a:rPr sz="1500">
                <a:solidFill>
                  <a:srgbClr val="222B33"/>
                </a:solidFill>
                <a:latin typeface="Microsoft YaHei"/>
              </a:rPr>
              <a:t>▪ 不清楚是什么也不敢问，凭感觉操作</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生产进口单位：评估危害，配齐一书一签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生产、进口单位先评估化学品的危害</a:t>
            </a:r>
          </a:p>
          <a:p>
            <a:pPr>
              <a:spcAft>
                <a:spcPts val="1000"/>
              </a:spcAft>
            </a:pPr>
            <a:r>
              <a:rPr sz="2000">
                <a:solidFill>
                  <a:srgbClr val="222B33"/>
                </a:solidFill>
                <a:latin typeface="Microsoft YaHei"/>
              </a:rPr>
              <a:t>▪ 配齐安全标签和安全技术说明书</a:t>
            </a:r>
          </a:p>
          <a:p>
            <a:pPr>
              <a:spcAft>
                <a:spcPts val="1000"/>
              </a:spcAft>
            </a:pPr>
            <a:r>
              <a:rPr sz="2000">
                <a:solidFill>
                  <a:srgbClr val="222B33"/>
                </a:solidFill>
                <a:latin typeface="Microsoft YaHei"/>
              </a:rPr>
              <a:t>▪ 把危害信息传给下游使用者</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危险信息的源头是化学品的生产和进口单位：它们要按国家标准对化学品进行危险性分类、评估危害，编制中文安全标签和安全技术说明书，随产品一起提供，把危害信息传递给经营者和使用者。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认为说明书“网上能查”，不向供应单位索取</a:t>
            </a:r>
          </a:p>
          <a:p>
            <a:pPr>
              <a:spcAft>
                <a:spcPts val="1000"/>
              </a:spcAft>
            </a:pPr>
            <a:r>
              <a:rPr sz="1500">
                <a:solidFill>
                  <a:srgbClr val="222B33"/>
                </a:solidFill>
                <a:latin typeface="Microsoft YaHei"/>
              </a:rPr>
              <a:t>▪ 接收没有中文标签的进口试剂</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国内要求：中文一书一签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国际上有统一的化学品分类和标签制度</a:t>
            </a:r>
          </a:p>
          <a:p>
            <a:pPr>
              <a:spcAft>
                <a:spcPts val="1000"/>
              </a:spcAft>
            </a:pPr>
            <a:r>
              <a:rPr sz="2000">
                <a:solidFill>
                  <a:srgbClr val="222B33"/>
                </a:solidFill>
                <a:latin typeface="Microsoft YaHei"/>
              </a:rPr>
              <a:t>▪ 我国按 GB 30000 系列分类和贴标签</a:t>
            </a:r>
          </a:p>
          <a:p>
            <a:pPr>
              <a:spcAft>
                <a:spcPts val="1000"/>
              </a:spcAft>
            </a:pPr>
            <a:r>
              <a:rPr sz="2000">
                <a:solidFill>
                  <a:srgbClr val="222B33"/>
                </a:solidFill>
                <a:latin typeface="Microsoft YaHei"/>
              </a:rPr>
              <a:t>▪ 安全技术说明书和安全标签要有中文版</a:t>
            </a:r>
          </a:p>
          <a:p>
            <a:pPr>
              <a:spcAft>
                <a:spcPts val="1000"/>
              </a:spcAft>
            </a:pPr>
            <a:r>
              <a:rPr sz="2000">
                <a:solidFill>
                  <a:srgbClr val="222B33"/>
                </a:solidFill>
                <a:latin typeface="Microsoft YaHei"/>
              </a:rPr>
              <a:t>▪ 没有标签的试剂，不使用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联合国推行的全球化学品统一分类和标签制度统一了分类、标签和说明书的格式，各国的人看到的是同样的警示。我国按 GB 30000 系列分类，按 GB 15258-2009 编写标签，按 GB/T 16483-2008 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只有外文标签也照常使用</a:t>
            </a:r>
          </a:p>
          <a:p>
            <a:pPr>
              <a:spcAft>
                <a:spcPts val="1000"/>
              </a:spcAft>
            </a:pPr>
            <a:r>
              <a:rPr sz="1500">
                <a:solidFill>
                  <a:srgbClr val="222B33"/>
                </a:solidFill>
                <a:latin typeface="Microsoft YaHei"/>
              </a:rPr>
              <a:t>▪ 说明书锁在办公室，实验室里查不到</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使用单位：标签完好，说明书随手可得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使用单位和实验室保证标签完好</a:t>
            </a:r>
          </a:p>
          <a:p>
            <a:pPr>
              <a:spcAft>
                <a:spcPts val="1000"/>
              </a:spcAft>
            </a:pPr>
            <a:r>
              <a:rPr sz="2000">
                <a:solidFill>
                  <a:srgbClr val="222B33"/>
                </a:solidFill>
                <a:latin typeface="Microsoft YaHei"/>
              </a:rPr>
              <a:t>▪ 说明书放在实验室，随手可得</a:t>
            </a:r>
          </a:p>
          <a:p>
            <a:pPr>
              <a:spcAft>
                <a:spcPts val="1000"/>
              </a:spcAft>
            </a:pPr>
            <a:r>
              <a:rPr sz="2000">
                <a:solidFill>
                  <a:srgbClr val="222B33"/>
                </a:solidFill>
                <a:latin typeface="Microsoft YaHei"/>
              </a:rPr>
              <a:t>▪ 纸质或电子版都要能马上查到</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使用化学品的学校、学院和实验室，要保证每个容器上的标签完好、清晰，保证每种化学品的安全技术说明书在实验室里随手可得——纸质文件夹或电脑、平板上的电子版都可以，关键是出事时能马上查到。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说明书只存在某个人的电脑里</a:t>
            </a:r>
          </a:p>
          <a:p>
            <a:pPr>
              <a:spcAft>
                <a:spcPts val="1000"/>
              </a:spcAft>
            </a:pPr>
            <a:r>
              <a:rPr sz="1500">
                <a:solidFill>
                  <a:srgbClr val="222B33"/>
                </a:solidFill>
                <a:latin typeface="Microsoft YaHei"/>
              </a:rPr>
              <a:t>▪ 标签被试剂腐蚀也没人管</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用前先看标签，详情再查SDS</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了解化学品，先看标签</a:t>
            </a:r>
          </a:p>
          <a:p>
            <a:pPr>
              <a:spcAft>
                <a:spcPts val="1000"/>
              </a:spcAft>
            </a:pPr>
            <a:r>
              <a:rPr sz="2000">
                <a:solidFill>
                  <a:srgbClr val="222B33"/>
                </a:solidFill>
                <a:latin typeface="Microsoft YaHei"/>
              </a:rPr>
              <a:t>▪ 标签是第一张危险说明</a:t>
            </a:r>
          </a:p>
          <a:p>
            <a:pPr>
              <a:spcAft>
                <a:spcPts val="1000"/>
              </a:spcAft>
            </a:pPr>
            <a:r>
              <a:rPr sz="2000">
                <a:solidFill>
                  <a:srgbClr val="222B33"/>
                </a:solidFill>
                <a:latin typeface="Microsoft YaHei"/>
              </a:rPr>
              <a:t>▪ 更详细的查安全技术说明书（SDS）</a:t>
            </a:r>
          </a:p>
          <a:p>
            <a:pPr>
              <a:spcAft>
                <a:spcPts val="1000"/>
              </a:spcAft>
            </a:pPr>
            <a:r>
              <a:rPr sz="2000">
                <a:solidFill>
                  <a:srgbClr val="222B33"/>
                </a:solidFill>
                <a:latin typeface="Microsoft YaHei"/>
              </a:rPr>
              <a:t>▪ 防护、急救、泄漏处理，说明书里都有</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使用一种试剂前，先看清标签上的名称、象形图和信号词，一眼就能知道它是什么类型的危险、有多危险。标签是“第一张危险说明”，但篇幅有限。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不看标签，凭瓶子颜色和位置拿试剂</a:t>
            </a:r>
          </a:p>
          <a:p>
            <a:pPr>
              <a:spcAft>
                <a:spcPts val="1000"/>
              </a:spcAft>
            </a:pPr>
            <a:r>
              <a:rPr sz="1500">
                <a:solidFill>
                  <a:srgbClr val="222B33"/>
                </a:solidFill>
                <a:latin typeface="Microsoft YaHei"/>
              </a:rPr>
              <a:t>▪ 只看标签名称，不看象形图和信号词</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安全标签上有什么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标签是说明书的浓缩版</a:t>
            </a:r>
          </a:p>
          <a:p>
            <a:pPr>
              <a:spcAft>
                <a:spcPts val="1000"/>
              </a:spcAft>
            </a:pPr>
            <a:r>
              <a:rPr sz="2000">
                <a:solidFill>
                  <a:srgbClr val="222B33"/>
                </a:solidFill>
                <a:latin typeface="Microsoft YaHei"/>
              </a:rPr>
              <a:t>▪ 名称、象形图、信号词、危险说明、防范说明</a:t>
            </a:r>
          </a:p>
          <a:p>
            <a:pPr>
              <a:spcAft>
                <a:spcPts val="1000"/>
              </a:spcAft>
            </a:pPr>
            <a:r>
              <a:rPr sz="2000">
                <a:solidFill>
                  <a:srgbClr val="222B33"/>
                </a:solidFill>
                <a:latin typeface="Microsoft YaHei"/>
              </a:rPr>
              <a:t>▪ 供应商标识、应急咨询电话、资料参阅提示</a:t>
            </a:r>
          </a:p>
          <a:p>
            <a:pPr>
              <a:spcAft>
                <a:spcPts val="1000"/>
              </a:spcAft>
            </a:pPr>
            <a:r>
              <a:rPr sz="2000">
                <a:solidFill>
                  <a:srgbClr val="222B33"/>
                </a:solidFill>
                <a:latin typeface="Microsoft YaHei"/>
              </a:rPr>
              <a:t>▪ 标签怎么写，按 GB 15258-2009</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 15258-2009（以现行文本为准），化学品安全标签的要素包括：化学品标识（名称）、象形图、信号词、危险性说明、防范说明、供应商标识、应急咨询电话和资料参阅提示语（提示查阅安全技术说明书）。防范说明中包括……</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只认名称，不读危险说明和防范说明</a:t>
            </a:r>
          </a:p>
          <a:p>
            <a:pPr>
              <a:spcAft>
                <a:spcPts val="1000"/>
              </a:spcAft>
            </a:pPr>
            <a:r>
              <a:rPr sz="1500">
                <a:solidFill>
                  <a:srgbClr val="222B33"/>
                </a:solidFill>
                <a:latin typeface="Microsoft YaHei"/>
              </a:rPr>
              <a:t>▪ 不知道标签上有应急咨询电话</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象形图：红框白底黑图，共九种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象形图是红色菱形框、白底、黑色图形</a:t>
            </a:r>
          </a:p>
          <a:p>
            <a:pPr>
              <a:spcAft>
                <a:spcPts val="1000"/>
              </a:spcAft>
            </a:pPr>
            <a:r>
              <a:rPr sz="2000">
                <a:solidFill>
                  <a:srgbClr val="222B33"/>
                </a:solidFill>
                <a:latin typeface="Microsoft YaHei"/>
              </a:rPr>
              <a:t>▪ 一共九种，每种代表一类危害</a:t>
            </a:r>
          </a:p>
          <a:p>
            <a:pPr>
              <a:spcAft>
                <a:spcPts val="1000"/>
              </a:spcAft>
            </a:pPr>
            <a:r>
              <a:rPr sz="2000">
                <a:solidFill>
                  <a:srgbClr val="222B33"/>
                </a:solidFill>
                <a:latin typeface="Microsoft YaHei"/>
              </a:rPr>
              <a:t>▪ 九种都要认全</a:t>
            </a:r>
          </a:p>
          <a:p>
            <a:pPr>
              <a:spcAft>
                <a:spcPts val="1000"/>
              </a:spcAft>
            </a:pPr>
            <a:r>
              <a:rPr sz="2000">
                <a:solidFill>
                  <a:srgbClr val="222B33"/>
                </a:solidFill>
                <a:latin typeface="Microsoft YaHei"/>
              </a:rPr>
              <a:t>▪ 不管说什么语言，一眼就能认出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GB 30000 系列规定的危险象形图是红色边框的菱形，白色背景，中间是黑色图形，一共九种：爆炸弹、火焰、圆圈上方火焰、气瓶、腐蚀、骷髅和交叉骨、感叹号、健康危害（人形）、环境（枯树和死鱼）。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只认识火焰和骷髅，其他象形图不认得</a:t>
            </a:r>
          </a:p>
          <a:p>
            <a:pPr>
              <a:spcAft>
                <a:spcPts val="1000"/>
              </a:spcAft>
            </a:pPr>
            <a:r>
              <a:rPr sz="1500">
                <a:solidFill>
                  <a:srgbClr val="222B33"/>
                </a:solidFill>
                <a:latin typeface="Microsoft YaHei"/>
              </a:rPr>
              <a:t>▪ 把黑底、黄底的其他标志当作象形图</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爆炸、易燃、氧化、气瓶、腐蚀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爆炸弹：爆炸物或不稳定物质</a:t>
            </a:r>
          </a:p>
          <a:p>
            <a:pPr>
              <a:spcAft>
                <a:spcPts val="1000"/>
              </a:spcAft>
            </a:pPr>
            <a:r>
              <a:rPr sz="2000">
                <a:solidFill>
                  <a:srgbClr val="222B33"/>
                </a:solidFill>
                <a:latin typeface="Microsoft YaHei"/>
              </a:rPr>
              <a:t>▪ 火焰：易燃；圆圈上方火焰：氧化性，会助燃</a:t>
            </a:r>
          </a:p>
          <a:p>
            <a:pPr>
              <a:spcAft>
                <a:spcPts val="1000"/>
              </a:spcAft>
            </a:pPr>
            <a:r>
              <a:rPr sz="2000">
                <a:solidFill>
                  <a:srgbClr val="222B33"/>
                </a:solidFill>
                <a:latin typeface="Microsoft YaHei"/>
              </a:rPr>
              <a:t>▪ 气瓶：加压气体</a:t>
            </a:r>
          </a:p>
          <a:p>
            <a:pPr>
              <a:spcAft>
                <a:spcPts val="1000"/>
              </a:spcAft>
            </a:pPr>
            <a:r>
              <a:rPr sz="2000">
                <a:solidFill>
                  <a:srgbClr val="222B33"/>
                </a:solidFill>
                <a:latin typeface="Microsoft YaHei"/>
              </a:rPr>
              <a:t>▪ 腐蚀：伤皮肤、伤眼睛、腐蚀金属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表示理化危险的象形图：爆炸弹表示爆炸物、自反应物质等不稳定物质；火焰表示易燃（气体、液体、固体等）；圆圈上方的火焰表示氧化性物质，它能放出氧、引发或助长燃烧，所以氧化剂要远离可燃物；气瓶表示加压气体；腐蚀表示金属腐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把氧化性象形图当作易燃，混放氧化剂和可燃物</a:t>
            </a:r>
          </a:p>
          <a:p>
            <a:pPr>
              <a:spcAft>
                <a:spcPts val="1000"/>
              </a:spcAft>
            </a:pPr>
            <a:r>
              <a:rPr sz="1500">
                <a:solidFill>
                  <a:srgbClr val="222B33"/>
                </a:solidFill>
                <a:latin typeface="Microsoft YaHei"/>
              </a:rPr>
              <a:t>▪ 以为腐蚀图只针对金属，不戴护目镜</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骷髅、感叹号、健康危害、环境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骷髅：急性毒性，千万别忽略</a:t>
            </a:r>
          </a:p>
          <a:p>
            <a:pPr>
              <a:spcAft>
                <a:spcPts val="1000"/>
              </a:spcAft>
            </a:pPr>
            <a:r>
              <a:rPr sz="2000">
                <a:solidFill>
                  <a:srgbClr val="222B33"/>
                </a:solidFill>
                <a:latin typeface="Microsoft YaHei"/>
              </a:rPr>
              <a:t>▪ 感叹号：刺激、致敏等较轻危害</a:t>
            </a:r>
          </a:p>
          <a:p>
            <a:pPr>
              <a:spcAft>
                <a:spcPts val="1000"/>
              </a:spcAft>
            </a:pPr>
            <a:r>
              <a:rPr sz="2000">
                <a:solidFill>
                  <a:srgbClr val="222B33"/>
                </a:solidFill>
                <a:latin typeface="Microsoft YaHei"/>
              </a:rPr>
              <a:t>▪ 人形图：致癌等严重的慢性健康危害</a:t>
            </a:r>
          </a:p>
          <a:p>
            <a:pPr>
              <a:spcAft>
                <a:spcPts val="1000"/>
              </a:spcAft>
            </a:pPr>
            <a:r>
              <a:rPr sz="2000">
                <a:solidFill>
                  <a:srgbClr val="222B33"/>
                </a:solidFill>
                <a:latin typeface="Microsoft YaHei"/>
              </a:rPr>
              <a:t>▪ 枯树死鱼：危害水生环境</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表示健康和环境危害的象形图：骷髅和交叉骨表示急性毒性（较高级别），少量接触就可能严重中毒；感叹号表示皮肤刺激、眼刺激、皮肤致敏、较低级别急性毒性等相对较轻的危害；人形图（胸部有星爆）表示致癌、致突变、生殖毒性、呼吸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以为感叹号“问题不大”，不做防护</a:t>
            </a:r>
          </a:p>
          <a:p>
            <a:pPr>
              <a:spcAft>
                <a:spcPts val="1000"/>
              </a:spcAft>
            </a:pPr>
            <a:r>
              <a:rPr sz="1500">
                <a:solidFill>
                  <a:srgbClr val="222B33"/>
                </a:solidFill>
                <a:latin typeface="Microsoft YaHei"/>
              </a:rPr>
              <a:t>▪ 没有骷髅图就当作无毒</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一物多险，每个象形图都要看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一种物质可能有好几种危险</a:t>
            </a:r>
          </a:p>
          <a:p>
            <a:pPr>
              <a:spcAft>
                <a:spcPts val="1000"/>
              </a:spcAft>
            </a:pPr>
            <a:r>
              <a:rPr sz="2000">
                <a:solidFill>
                  <a:srgbClr val="222B33"/>
                </a:solidFill>
                <a:latin typeface="Microsoft YaHei"/>
              </a:rPr>
              <a:t>▪ 不要只看第一个象形图</a:t>
            </a:r>
          </a:p>
          <a:p>
            <a:pPr>
              <a:spcAft>
                <a:spcPts val="1000"/>
              </a:spcAft>
            </a:pPr>
            <a:r>
              <a:rPr sz="2000">
                <a:solidFill>
                  <a:srgbClr val="222B33"/>
                </a:solidFill>
                <a:latin typeface="Microsoft YaHei"/>
              </a:rPr>
              <a:t>▪ 每个象形图对应一种防护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很多化学品同时具有几种危害，例如既易燃又刺激，或者既腐蚀又有毒，标签上就会有几个象形图。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只看到火焰，忽视旁边的健康危害图</a:t>
            </a:r>
          </a:p>
          <a:p>
            <a:pPr>
              <a:spcAft>
                <a:spcPts val="1000"/>
              </a:spcAft>
            </a:pPr>
            <a:r>
              <a:rPr sz="1500">
                <a:solidFill>
                  <a:srgbClr val="222B33"/>
                </a:solidFill>
                <a:latin typeface="Microsoft YaHei"/>
              </a:rPr>
              <a:t>▪ 防护只针对一种危险</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信号词：危险重于警告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信号词只有两个：“危险”和“警告”</a:t>
            </a:r>
          </a:p>
          <a:p>
            <a:pPr>
              <a:spcAft>
                <a:spcPts val="1000"/>
              </a:spcAft>
            </a:pPr>
            <a:r>
              <a:rPr sz="2000">
                <a:solidFill>
                  <a:srgbClr val="222B33"/>
                </a:solidFill>
                <a:latin typeface="Microsoft YaHei"/>
              </a:rPr>
              <a:t>▪ 它粗略表示危害的相对程度</a:t>
            </a:r>
          </a:p>
          <a:p>
            <a:pPr>
              <a:spcAft>
                <a:spcPts val="1000"/>
              </a:spcAft>
            </a:pPr>
            <a:r>
              <a:rPr sz="2000">
                <a:solidFill>
                  <a:srgbClr val="222B33"/>
                </a:solidFill>
                <a:latin typeface="Microsoft YaHei"/>
              </a:rPr>
              <a:t>▪ “危险”更严重，“警告”相对较轻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标签上象形图旁边有信号词，只有两个：“危险”和“警告”，用来粗略表示危害的相对严重程度。“危险”用于较严重的危害类别，“警告”用于相对较轻的。一种化学品标签上只用一个信号词，有“危险”时就不再用“警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看到“警告”就以为没有危险</a:t>
            </a:r>
          </a:p>
          <a:p>
            <a:pPr>
              <a:spcAft>
                <a:spcPts val="1000"/>
              </a:spcAft>
            </a:pPr>
            <a:r>
              <a:rPr sz="1500">
                <a:solidFill>
                  <a:srgbClr val="222B33"/>
                </a:solidFill>
                <a:latin typeface="Microsoft YaHei"/>
              </a:rPr>
              <a:t>▪ 以为还有“注意”“小心”等其他信号词</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危险说明讲危害，防范说明讲做法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危险说明：这种化学品有什么危害</a:t>
            </a:r>
          </a:p>
          <a:p>
            <a:pPr>
              <a:spcAft>
                <a:spcPts val="1000"/>
              </a:spcAft>
            </a:pPr>
            <a:r>
              <a:rPr sz="2000">
                <a:solidFill>
                  <a:srgbClr val="222B33"/>
                </a:solidFill>
                <a:latin typeface="Microsoft YaHei"/>
              </a:rPr>
              <a:t>▪ 防范说明：怎样安全使用</a:t>
            </a:r>
          </a:p>
          <a:p>
            <a:pPr>
              <a:spcAft>
                <a:spcPts val="1000"/>
              </a:spcAft>
            </a:pPr>
            <a:r>
              <a:rPr sz="2000">
                <a:solidFill>
                  <a:srgbClr val="222B33"/>
                </a:solidFill>
                <a:latin typeface="Microsoft YaHei"/>
              </a:rPr>
              <a:t>▪ 预防、应急、储存、废弃都写在上面</a:t>
            </a:r>
          </a:p>
          <a:p>
            <a:pPr>
              <a:spcAft>
                <a:spcPts val="1000"/>
              </a:spcAft>
            </a:pPr>
            <a:r>
              <a:rPr sz="2000">
                <a:solidFill>
                  <a:srgbClr val="222B33"/>
                </a:solidFill>
                <a:latin typeface="Microsoft YaHei"/>
              </a:rPr>
              <a:t>▪ 能用低毒的，就别用高毒的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危险说明用简短的句子描述化学品的危害性质和程度，例如“高度易燃液体和蒸气”“吞咽有害”。防范说明告诉你怎样预防接触、发生事故怎样处置（包括急救）、怎样储存和废弃。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只看象形图，不读防范说明</a:t>
            </a:r>
          </a:p>
          <a:p>
            <a:pPr>
              <a:spcAft>
                <a:spcPts val="1000"/>
              </a:spcAft>
            </a:pPr>
            <a:r>
              <a:rPr sz="1500">
                <a:solidFill>
                  <a:srgbClr val="222B33"/>
                </a:solidFill>
                <a:latin typeface="Microsoft YaHei"/>
              </a:rPr>
              <a:t>▪ 有低毒替代品仍习惯性使用高毒试剂</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运输标志和象形图是两套体系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运输标志和象形图是两套体系</a:t>
            </a:r>
          </a:p>
          <a:p>
            <a:pPr>
              <a:spcAft>
                <a:spcPts val="1000"/>
              </a:spcAft>
            </a:pPr>
            <a:r>
              <a:rPr sz="2000">
                <a:solidFill>
                  <a:srgbClr val="222B33"/>
                </a:solidFill>
                <a:latin typeface="Microsoft YaHei"/>
              </a:rPr>
              <a:t>▪ 运输标志：彩色底，下角有类别号，贴在货包上</a:t>
            </a:r>
          </a:p>
          <a:p>
            <a:pPr>
              <a:spcAft>
                <a:spcPts val="1000"/>
              </a:spcAft>
            </a:pPr>
            <a:r>
              <a:rPr sz="2000">
                <a:solidFill>
                  <a:srgbClr val="222B33"/>
                </a:solidFill>
                <a:latin typeface="Microsoft YaHei"/>
              </a:rPr>
              <a:t>▪ 象形图：白底红框，在瓶签和说明书上</a:t>
            </a:r>
          </a:p>
          <a:p>
            <a:pPr>
              <a:spcAft>
                <a:spcPts val="1000"/>
              </a:spcAft>
            </a:pPr>
            <a:r>
              <a:rPr sz="2000">
                <a:solidFill>
                  <a:srgbClr val="222B33"/>
                </a:solidFill>
                <a:latin typeface="Microsoft YaHei"/>
              </a:rPr>
              <a:t>▪ 寄送危险品，交有资质的承运方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危险货物运输标志（按 GB 190-2009，以现行文本为准）是彩色底的菱形，下角标有类别号，贴在运输包装件上；化学品安全标签上的象形图（按 GB 30000 系列）是白底红框的菱形，在容器标签和安全技术说明书上。两……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把运输标志贴到试剂瓶上当标签</a:t>
            </a:r>
          </a:p>
          <a:p>
            <a:pPr>
              <a:spcAft>
                <a:spcPts val="1000"/>
              </a:spcAft>
            </a:pPr>
            <a:r>
              <a:rPr sz="1500">
                <a:solidFill>
                  <a:srgbClr val="222B33"/>
                </a:solidFill>
                <a:latin typeface="Microsoft YaHei"/>
              </a:rPr>
              <a:t>▪ 用普通快递寄送化学品</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国外四色菱形只作了解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有的进口资料上印有四色菱形标识</a:t>
            </a:r>
          </a:p>
          <a:p>
            <a:pPr>
              <a:spcAft>
                <a:spcPts val="1000"/>
              </a:spcAft>
            </a:pPr>
            <a:r>
              <a:rPr sz="2000">
                <a:solidFill>
                  <a:srgbClr val="222B33"/>
                </a:solidFill>
                <a:latin typeface="Microsoft YaHei"/>
              </a:rPr>
              <a:t>▪ 蓝健康、红易燃、黄反应性、白特殊危害</a:t>
            </a:r>
          </a:p>
          <a:p>
            <a:pPr>
              <a:spcAft>
                <a:spcPts val="1000"/>
              </a:spcAft>
            </a:pPr>
            <a:r>
              <a:rPr sz="2000">
                <a:solidFill>
                  <a:srgbClr val="222B33"/>
                </a:solidFill>
                <a:latin typeface="Microsoft YaHei"/>
              </a:rPr>
              <a:t>▪ 这是国外标识，只作了解</a:t>
            </a:r>
          </a:p>
          <a:p>
            <a:pPr>
              <a:spcAft>
                <a:spcPts val="1000"/>
              </a:spcAft>
            </a:pPr>
            <a:r>
              <a:rPr sz="2000">
                <a:solidFill>
                  <a:srgbClr val="222B33"/>
                </a:solidFill>
                <a:latin typeface="Microsoft YaHei"/>
              </a:rPr>
              <a:t>▪ 国内标签看象形图和信号词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部分进口试剂的资料或国外实验室里能看到一种四色菱形标识：蓝色表示健康危害，红色表示易燃性，黄色表示反应性，白色写特殊危害（如遇水剧烈反应），格内用数字表示程度。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用四色菱形代替中文安全标签</a:t>
            </a:r>
          </a:p>
          <a:p>
            <a:pPr>
              <a:spcAft>
                <a:spcPts val="1000"/>
              </a:spcAft>
            </a:pPr>
            <a:r>
              <a:rPr sz="1500">
                <a:solidFill>
                  <a:srgbClr val="222B33"/>
                </a:solidFill>
                <a:latin typeface="Microsoft YaHei"/>
              </a:rPr>
              <a:t>▪ 按国外标识的数字判断防护等级</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原装标签不撕不改，坏了及时补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原装标签由生产厂家贴好，保持完好</a:t>
            </a:r>
          </a:p>
          <a:p>
            <a:pPr>
              <a:spcAft>
                <a:spcPts val="1000"/>
              </a:spcAft>
            </a:pPr>
            <a:r>
              <a:rPr sz="2000">
                <a:solidFill>
                  <a:srgbClr val="222B33"/>
                </a:solidFill>
                <a:latin typeface="Microsoft YaHei"/>
              </a:rPr>
              <a:t>▪ 不能撕、不能涂改、不能覆盖</a:t>
            </a:r>
          </a:p>
          <a:p>
            <a:pPr>
              <a:spcAft>
                <a:spcPts val="1000"/>
              </a:spcAft>
            </a:pPr>
            <a:r>
              <a:rPr sz="2000">
                <a:solidFill>
                  <a:srgbClr val="222B33"/>
                </a:solidFill>
                <a:latin typeface="Microsoft YaHei"/>
              </a:rPr>
              <a:t>▪ 模糊、脱落，确认无误后及时补贴</a:t>
            </a:r>
          </a:p>
          <a:p>
            <a:pPr>
              <a:spcAft>
                <a:spcPts val="1000"/>
              </a:spcAft>
            </a:pPr>
            <a:r>
              <a:rPr sz="2000">
                <a:solidFill>
                  <a:srgbClr val="222B33"/>
                </a:solidFill>
                <a:latin typeface="Microsoft YaHei"/>
              </a:rPr>
              <a:t>▪ 确认不了内容的不用，上报处理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原装容器上的标签由生产或供应单位贴好，使用中要保持完好，不能撕掉、涂改或用别的标签覆盖。取用时标签朝向手心，防止试剂流下腐蚀标签。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在旧标签上直接涂改写新名称</a:t>
            </a:r>
          </a:p>
          <a:p>
            <a:pPr>
              <a:spcAft>
                <a:spcPts val="1000"/>
              </a:spcAft>
            </a:pPr>
            <a:r>
              <a:rPr sz="1500">
                <a:solidFill>
                  <a:srgbClr val="222B33"/>
                </a:solidFill>
                <a:latin typeface="Microsoft YaHei"/>
              </a:rPr>
              <a:t>▪ 凭记忆给脱落标签的瓶子补签</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分装容器也要贴标签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分装到洗瓶、小瓶，新容器也要贴签</a:t>
            </a:r>
          </a:p>
          <a:p>
            <a:pPr>
              <a:spcAft>
                <a:spcPts val="1000"/>
              </a:spcAft>
            </a:pPr>
            <a:r>
              <a:rPr sz="2000">
                <a:solidFill>
                  <a:srgbClr val="222B33"/>
                </a:solidFill>
                <a:latin typeface="Microsoft YaHei"/>
              </a:rPr>
              <a:t>▪ 写明名称、浓度、危害和日期</a:t>
            </a:r>
          </a:p>
          <a:p>
            <a:pPr>
              <a:spcAft>
                <a:spcPts val="1000"/>
              </a:spcAft>
            </a:pPr>
            <a:r>
              <a:rPr sz="2000">
                <a:solidFill>
                  <a:srgbClr val="222B33"/>
                </a:solidFill>
                <a:latin typeface="Microsoft YaHei"/>
              </a:rPr>
              <a:t>▪ 绝不能用饮料瓶装化学品</a:t>
            </a:r>
          </a:p>
          <a:p>
            <a:pPr>
              <a:spcAft>
                <a:spcPts val="1000"/>
              </a:spcAft>
            </a:pPr>
            <a:r>
              <a:rPr sz="2000">
                <a:solidFill>
                  <a:srgbClr val="222B33"/>
                </a:solidFill>
                <a:latin typeface="Microsoft YaHei"/>
              </a:rPr>
              <a:t>▪ 无标签、看不清的，一律不用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把化学品从原瓶分装到洗瓶、小试剂瓶、烧杯等容器里，新容器（二级容器）也要贴标签，写明化学品名称、浓度、主要危害（可画象形图）、日期和分装人，不能靠记忆。分装出来的小瓶最容易出事，检查时台面上的洗瓶会逐个查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洗瓶装了溶剂不贴签</a:t>
            </a:r>
          </a:p>
          <a:p>
            <a:pPr>
              <a:spcAft>
                <a:spcPts val="1000"/>
              </a:spcAft>
            </a:pPr>
            <a:r>
              <a:rPr sz="1500">
                <a:solidFill>
                  <a:srgbClr val="222B33"/>
                </a:solidFill>
                <a:latin typeface="Microsoft YaHei"/>
              </a:rPr>
              <a:t>▪ 用矿泉水瓶分装试剂</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自配溶液马上贴签，写全信息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配好的溶液马上贴标签</a:t>
            </a:r>
          </a:p>
          <a:p>
            <a:pPr>
              <a:spcAft>
                <a:spcPts val="1000"/>
              </a:spcAft>
            </a:pPr>
            <a:r>
              <a:rPr sz="2000">
                <a:solidFill>
                  <a:srgbClr val="222B33"/>
                </a:solidFill>
                <a:latin typeface="Microsoft YaHei"/>
              </a:rPr>
              <a:t>▪ 名称、浓度、危害、日期、配制人</a:t>
            </a:r>
          </a:p>
          <a:p>
            <a:pPr>
              <a:spcAft>
                <a:spcPts val="1000"/>
              </a:spcAft>
            </a:pPr>
            <a:r>
              <a:rPr sz="2000">
                <a:solidFill>
                  <a:srgbClr val="222B33"/>
                </a:solidFill>
                <a:latin typeface="Microsoft YaHei"/>
              </a:rPr>
              <a:t>▪ 缓冲液还要写 pH</a:t>
            </a:r>
          </a:p>
          <a:p>
            <a:pPr>
              <a:spcAft>
                <a:spcPts val="1000"/>
              </a:spcAft>
            </a:pPr>
            <a:r>
              <a:rPr sz="2000">
                <a:solidFill>
                  <a:srgbClr val="222B33"/>
                </a:solidFill>
                <a:latin typeface="Microsoft YaHei"/>
              </a:rPr>
              <a:t>▪ 无名瓶子没人敢用，也没法处理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自己配制的溶液、标准溶液和缓冲液，配好后马上贴标签，再转入试剂瓶按要求存放。标签写明名称、浓度、主要危害、配制日期和配制人（使用人），缓冲液还要写 pH。动手之前先弄清容器里装的是什么，来历不明的瓶子会带来各种风险。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配好溶液“等会儿再贴”，结果忘了</a:t>
            </a:r>
          </a:p>
          <a:p>
            <a:pPr>
              <a:spcAft>
                <a:spcPts val="1000"/>
              </a:spcAft>
            </a:pPr>
            <a:r>
              <a:rPr sz="1500">
                <a:solidFill>
                  <a:srgbClr val="222B33"/>
                </a:solidFill>
                <a:latin typeface="Microsoft YaHei"/>
              </a:rPr>
              <a:t>▪ 标签只写“A液”“1号”</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写全称，不写缩写代号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只写缩写或代号，别人可能看不懂</a:t>
            </a:r>
          </a:p>
          <a:p>
            <a:pPr>
              <a:spcAft>
                <a:spcPts val="1000"/>
              </a:spcAft>
            </a:pPr>
            <a:r>
              <a:rPr sz="2000">
                <a:solidFill>
                  <a:srgbClr val="222B33"/>
                </a:solidFill>
                <a:latin typeface="Microsoft YaHei"/>
              </a:rPr>
              <a:t>▪ 同一个缩写可能是致癌物，也可能是溶剂</a:t>
            </a:r>
          </a:p>
          <a:p>
            <a:pPr>
              <a:spcAft>
                <a:spcPts val="1000"/>
              </a:spcAft>
            </a:pPr>
            <a:r>
              <a:rPr sz="2000">
                <a:solidFill>
                  <a:srgbClr val="222B33"/>
                </a:solidFill>
                <a:latin typeface="Microsoft YaHei"/>
              </a:rPr>
              <a:t>▪ 写全称，别人也方便查说明书</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标签上要写化学品的中文全称（或规范名称），不要只写缩写、分子式简写或课题组内部代号。同一个缩写在不同领域可能代表完全不同的物质，有的是致癌物，有的是普通溶剂，别人无法判断危害。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只写英文缩写或自编代号</a:t>
            </a:r>
          </a:p>
          <a:p>
            <a:pPr>
              <a:spcAft>
                <a:spcPts val="1000"/>
              </a:spcAft>
            </a:pPr>
            <a:r>
              <a:rPr sz="1500">
                <a:solidFill>
                  <a:srgbClr val="222B33"/>
                </a:solidFill>
                <a:latin typeface="Microsoft YaHei"/>
              </a:rPr>
              <a:t>▪ 用颜色、记号代替名称</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所有容器都要标，没有例外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每个容器都要标清楚，谁看都明白</a:t>
            </a:r>
          </a:p>
          <a:p>
            <a:pPr>
              <a:spcAft>
                <a:spcPts val="1000"/>
              </a:spcAft>
            </a:pPr>
            <a:r>
              <a:rPr sz="2000">
                <a:solidFill>
                  <a:srgbClr val="222B33"/>
                </a:solidFill>
                <a:latin typeface="Microsoft YaHei"/>
              </a:rPr>
              <a:t>▪ 自己当天用的洗瓶也要贴标签</a:t>
            </a:r>
          </a:p>
          <a:p>
            <a:pPr>
              <a:spcAft>
                <a:spcPts val="1000"/>
              </a:spcAft>
            </a:pPr>
            <a:r>
              <a:rPr sz="2000">
                <a:solidFill>
                  <a:srgbClr val="222B33"/>
                </a:solidFill>
                <a:latin typeface="Microsoft YaHei"/>
              </a:rPr>
              <a:t>▪ 人走了瓶还在，标签替你说话</a:t>
            </a:r>
          </a:p>
          <a:p>
            <a:pPr>
              <a:spcAft>
                <a:spcPts val="1000"/>
              </a:spcAft>
            </a:pPr>
            <a:r>
              <a:rPr sz="2000">
                <a:solidFill>
                  <a:srgbClr val="222B33"/>
                </a:solidFill>
                <a:latin typeface="Microsoft YaHei"/>
              </a:rPr>
              <a:t>▪ 写清是什么、谁的、哪天的，放指定柜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里每个盛装化学品的容器都必须正确标识，让任何人一看就明白。有的国外规定对“本人当班立即使用”的容器有免贴情形，在国内高校不适用：所有容器都要有标签。因为人会离开，瓶子还在，标签替你告诉别人这是什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“只是自己用一下”就不贴签</a:t>
            </a:r>
          </a:p>
          <a:p>
            <a:pPr>
              <a:spcAft>
                <a:spcPts val="1000"/>
              </a:spcAft>
            </a:pPr>
            <a:r>
              <a:rPr sz="1500">
                <a:solidFill>
                  <a:srgbClr val="222B33"/>
                </a:solidFill>
                <a:latin typeface="Microsoft YaHei"/>
              </a:rPr>
              <a:t>▪ 实验结束后把无标签容器留给别人处理</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使用中的容器和过夜样品也要标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很多溶液看上去都像水</a:t>
            </a:r>
          </a:p>
          <a:p>
            <a:pPr>
              <a:spcAft>
                <a:spcPts val="1000"/>
              </a:spcAft>
            </a:pPr>
            <a:r>
              <a:rPr sz="2000">
                <a:solidFill>
                  <a:srgbClr val="222B33"/>
                </a:solidFill>
                <a:latin typeface="Microsoft YaHei"/>
              </a:rPr>
              <a:t>▪ 使用中的烧杯、锥形瓶临时贴标签</a:t>
            </a:r>
          </a:p>
          <a:p>
            <a:pPr>
              <a:spcAft>
                <a:spcPts val="1000"/>
              </a:spcAft>
            </a:pPr>
            <a:r>
              <a:rPr sz="2000">
                <a:solidFill>
                  <a:srgbClr val="222B33"/>
                </a:solidFill>
                <a:latin typeface="Microsoft YaHei"/>
              </a:rPr>
              <a:t>▪ 走开一小会儿，也不留无标签溶液</a:t>
            </a:r>
          </a:p>
          <a:p>
            <a:pPr>
              <a:spcAft>
                <a:spcPts val="1000"/>
              </a:spcAft>
            </a:pPr>
            <a:r>
              <a:rPr sz="2000">
                <a:solidFill>
                  <a:srgbClr val="222B33"/>
                </a:solidFill>
                <a:latin typeface="Microsoft YaHei"/>
              </a:rPr>
              <a:t>▪ 过夜样品贴签，放指定位置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很多溶液和溶剂无色透明，看上去都像水。实验进行中的烧杯、锥形瓶，也要用标签纸或记号笔临时标明内容，否则自己或别人很容易拿混。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几个烧杯装着不同无色溶液，都没标记</a:t>
            </a:r>
          </a:p>
          <a:p>
            <a:pPr>
              <a:spcAft>
                <a:spcPts val="1000"/>
              </a:spcAft>
            </a:pPr>
            <a:r>
              <a:rPr sz="1500">
                <a:solidFill>
                  <a:srgbClr val="222B33"/>
                </a:solidFill>
                <a:latin typeface="Microsoft YaHei"/>
              </a:rPr>
              <a:t>▪ 过夜样品放在公共台面，无人认领</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工作场所设警示标识和告知卡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每个盛装容器都要有清楚的标签</a:t>
            </a:r>
          </a:p>
          <a:p>
            <a:pPr>
              <a:spcAft>
                <a:spcPts val="1000"/>
              </a:spcAft>
            </a:pPr>
            <a:r>
              <a:rPr sz="2000">
                <a:solidFill>
                  <a:srgbClr val="222B33"/>
                </a:solidFill>
                <a:latin typeface="Microsoft YaHei"/>
              </a:rPr>
              <a:t>▪ 工作场所设警示标识和危害告知卡</a:t>
            </a:r>
          </a:p>
          <a:p>
            <a:pPr>
              <a:spcAft>
                <a:spcPts val="1000"/>
              </a:spcAft>
            </a:pPr>
            <a:r>
              <a:rPr sz="2000">
                <a:solidFill>
                  <a:srgbClr val="222B33"/>
                </a:solidFill>
                <a:latin typeface="Microsoft YaHei"/>
              </a:rPr>
              <a:t>▪ 负责人如实告知危害和防护办法</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除了容器标签，使用有毒有害化学品的工作场所还要在醒目位置设置警示标识和危害告知卡，写明化学品名称、危害、防护措施和应急处置方法（按职业病防治相关规定和本校要求）。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告知卡内容多年不更新</a:t>
            </a:r>
          </a:p>
          <a:p>
            <a:pPr>
              <a:spcAft>
                <a:spcPts val="1000"/>
              </a:spcAft>
            </a:pPr>
            <a:r>
              <a:rPr sz="1500">
                <a:solidFill>
                  <a:srgbClr val="222B33"/>
                </a:solidFill>
                <a:latin typeface="Microsoft YaHei"/>
              </a:rPr>
              <a:t>▪ 新成员进实验室不做危害告知</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教训：到货分装没看说明书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案例：一瓶特殊试剂深夜送到</a:t>
            </a:r>
          </a:p>
          <a:p>
            <a:pPr>
              <a:spcAft>
                <a:spcPts val="1000"/>
              </a:spcAft>
            </a:pPr>
            <a:r>
              <a:rPr sz="2000">
                <a:solidFill>
                  <a:srgbClr val="222B33"/>
                </a:solidFill>
                <a:latin typeface="Microsoft YaHei"/>
              </a:rPr>
              <a:t>▪ 第二天直接分装，没看说明书</a:t>
            </a:r>
          </a:p>
          <a:p>
            <a:pPr>
              <a:spcAft>
                <a:spcPts val="1000"/>
              </a:spcAft>
            </a:pPr>
            <a:r>
              <a:rPr sz="2000">
                <a:solidFill>
                  <a:srgbClr val="222B33"/>
                </a:solidFill>
                <a:latin typeface="Microsoft YaHei"/>
              </a:rPr>
              <a:t>▪ 一天多后出现严重接触性皮炎：它是强致敏物</a:t>
            </a:r>
          </a:p>
          <a:p>
            <a:pPr>
              <a:spcAft>
                <a:spcPts val="1000"/>
              </a:spcAft>
            </a:pPr>
            <a:r>
              <a:rPr sz="2000">
                <a:solidFill>
                  <a:srgbClr val="222B33"/>
                </a:solidFill>
                <a:latin typeface="Microsoft YaHei"/>
              </a:rPr>
              <a:t>▪ 收货和分装，最容易漏掉告知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一个案例：一瓶特殊试剂深夜送到实验室，第二天就被直接分装使用，没有人查看随货的说明书。一天多后，操作者出现严重的接触性皮炎——原来它是强致敏物，需要专用的防护手套和操作方式。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新试剂到货直接用，不看说明书</a:t>
            </a:r>
          </a:p>
          <a:p>
            <a:pPr>
              <a:spcAft>
                <a:spcPts val="1000"/>
              </a:spcAft>
            </a:pPr>
            <a:r>
              <a:rPr sz="1500">
                <a:solidFill>
                  <a:srgbClr val="222B33"/>
                </a:solidFill>
                <a:latin typeface="Microsoft YaHei"/>
              </a:rPr>
              <a:t>▪ 分装时只写名称，不写危害</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靠培训和信息共享，人人会读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人人会读，靠正式培训，也靠信息共享</a:t>
            </a:r>
          </a:p>
          <a:p>
            <a:pPr>
              <a:spcAft>
                <a:spcPts val="1000"/>
              </a:spcAft>
            </a:pPr>
            <a:r>
              <a:rPr sz="2000">
                <a:solidFill>
                  <a:srgbClr val="222B33"/>
                </a:solidFill>
                <a:latin typeface="Microsoft YaHei"/>
              </a:rPr>
              <a:t>▪ 缺分装标签？台边备好标签模板</a:t>
            </a:r>
          </a:p>
          <a:p>
            <a:pPr>
              <a:spcAft>
                <a:spcPts val="1000"/>
              </a:spcAft>
            </a:pPr>
            <a:r>
              <a:rPr sz="2000">
                <a:solidFill>
                  <a:srgbClr val="222B33"/>
                </a:solidFill>
                <a:latin typeface="Microsoft YaHei"/>
              </a:rPr>
              <a:t>▪ 说明书过期？新购入时同步更新</a:t>
            </a:r>
          </a:p>
          <a:p>
            <a:pPr>
              <a:spcAft>
                <a:spcPts val="1000"/>
              </a:spcAft>
            </a:pPr>
            <a:r>
              <a:rPr sz="2000">
                <a:solidFill>
                  <a:srgbClr val="222B33"/>
                </a:solidFill>
                <a:latin typeface="Microsoft YaHei"/>
              </a:rPr>
              <a:t>▪ 培训记内容和考核；外来人员进门先告知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让每个人都会读这门安全语言，一靠正式培训（入室安全培训和化学品专项培训），二靠日常信息共享（组会提醒、交接说明、更新告知卡）。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培训只签到，不考核</a:t>
            </a:r>
          </a:p>
          <a:p>
            <a:pPr>
              <a:spcAft>
                <a:spcPts val="1000"/>
              </a:spcAft>
            </a:pPr>
            <a:r>
              <a:rPr sz="1500">
                <a:solidFill>
                  <a:srgbClr val="222B33"/>
                </a:solidFill>
                <a:latin typeface="Microsoft YaHei"/>
              </a:rPr>
              <a:t>▪ 外来维修人员直接进实验室作业</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下列哪一项不属于 GB 15258-2009 规定的化学品安全标签要素？</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象形图</a:t>
            </a:r>
          </a:p>
          <a:p>
            <a:pPr algn="l"/>
            <a:r>
              <a:rPr sz="1500" b="0">
                <a:solidFill>
                  <a:srgbClr val="222B33"/>
                </a:solidFill>
                <a:latin typeface="Microsoft YaHei"/>
              </a:rPr>
              <a:t>B. 信号词</a:t>
            </a:r>
          </a:p>
          <a:p>
            <a:pPr algn="l"/>
            <a:r>
              <a:rPr sz="1500" b="0">
                <a:solidFill>
                  <a:srgbClr val="222B33"/>
                </a:solidFill>
                <a:latin typeface="Microsoft YaHei"/>
              </a:rPr>
              <a:t>C. 应急咨询电话</a:t>
            </a:r>
          </a:p>
          <a:p>
            <a:pPr algn="l"/>
            <a:r>
              <a:rPr sz="1500" b="0">
                <a:solidFill>
                  <a:srgbClr val="222B33"/>
                </a:solidFill>
                <a:latin typeface="Microsoft YaHei"/>
              </a:rPr>
              <a:t>D. 产品价格</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化学品安全标签上的信号词有：</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危险、警告</a:t>
            </a:r>
          </a:p>
          <a:p>
            <a:pPr algn="l"/>
            <a:r>
              <a:rPr sz="1500" b="0">
                <a:solidFill>
                  <a:srgbClr val="222B33"/>
                </a:solidFill>
                <a:latin typeface="Microsoft YaHei"/>
              </a:rPr>
              <a:t>B. 危险、注意、小心</a:t>
            </a:r>
          </a:p>
          <a:p>
            <a:pPr algn="l"/>
            <a:r>
              <a:rPr sz="1500" b="0">
                <a:solidFill>
                  <a:srgbClr val="222B33"/>
                </a:solidFill>
                <a:latin typeface="Microsoft YaHei"/>
              </a:rPr>
              <a:t>C. 剧毒、有毒、低毒</a:t>
            </a:r>
          </a:p>
          <a:p>
            <a:pPr algn="l"/>
            <a:r>
              <a:rPr sz="1500" b="0">
                <a:solidFill>
                  <a:srgbClr val="222B33"/>
                </a:solidFill>
                <a:latin typeface="Microsoft YaHei"/>
              </a:rPr>
              <a:t>D. 一级、二级</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标签上“圆圈上方火焰”的象形图表示：</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易燃</a:t>
            </a:r>
          </a:p>
          <a:p>
            <a:pPr algn="l"/>
            <a:r>
              <a:rPr sz="1500" b="0">
                <a:solidFill>
                  <a:srgbClr val="222B33"/>
                </a:solidFill>
                <a:latin typeface="Microsoft YaHei"/>
              </a:rPr>
              <a:t>B. 氧化性</a:t>
            </a:r>
          </a:p>
          <a:p>
            <a:pPr algn="l"/>
            <a:r>
              <a:rPr sz="1500" b="0">
                <a:solidFill>
                  <a:srgbClr val="222B33"/>
                </a:solidFill>
                <a:latin typeface="Microsoft YaHei"/>
              </a:rPr>
              <a:t>C. 爆炸</a:t>
            </a:r>
          </a:p>
          <a:p>
            <a:pPr algn="l"/>
            <a:r>
              <a:rPr sz="1500" b="0">
                <a:solidFill>
                  <a:srgbClr val="222B33"/>
                </a:solidFill>
                <a:latin typeface="Microsoft YaHei"/>
              </a:rPr>
              <a:t>D. 加压气体</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判断：自己当天要用的洗瓶装了溶剂，用完就倒掉，可以不贴标签。</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039 · 化学品标签与危害告知</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039 化学品标签与危害告知</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判断：标签上可以只写课题组内部的缩写，大家都知道是什么。</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简答：自配溶液的标签至少要写哪些信息？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危害告知是安全的共同语言</a:t>
            </a:r>
          </a:p>
          <a:p>
            <a:pPr>
              <a:spcAft>
                <a:spcPts val="800"/>
              </a:spcAft>
            </a:pPr>
            <a:r>
              <a:rPr sz="1500">
                <a:solidFill>
                  <a:srgbClr val="FFFFFF"/>
                </a:solidFill>
                <a:latin typeface="Microsoft YaHei"/>
              </a:rPr>
              <a:t>▪ K2  可能接触的人都有权知道</a:t>
            </a:r>
          </a:p>
          <a:p>
            <a:pPr>
              <a:spcAft>
                <a:spcPts val="800"/>
              </a:spcAft>
            </a:pPr>
            <a:r>
              <a:rPr sz="1500">
                <a:solidFill>
                  <a:srgbClr val="FFFFFF"/>
                </a:solidFill>
                <a:latin typeface="Microsoft YaHei"/>
              </a:rPr>
              <a:t>▪ K3  生产进口单位：评估危害，配齐一书一签</a:t>
            </a:r>
          </a:p>
          <a:p>
            <a:pPr>
              <a:spcAft>
                <a:spcPts val="800"/>
              </a:spcAft>
            </a:pPr>
            <a:r>
              <a:rPr sz="1500">
                <a:solidFill>
                  <a:srgbClr val="FFFFFF"/>
                </a:solidFill>
                <a:latin typeface="Microsoft YaHei"/>
              </a:rPr>
              <a:t>▪ K4  国内要求：中文一书一签</a:t>
            </a:r>
          </a:p>
          <a:p>
            <a:pPr>
              <a:spcAft>
                <a:spcPts val="800"/>
              </a:spcAft>
            </a:pPr>
            <a:r>
              <a:rPr sz="1500">
                <a:solidFill>
                  <a:srgbClr val="FFFFFF"/>
                </a:solidFill>
                <a:latin typeface="Microsoft YaHei"/>
              </a:rPr>
              <a:t>▪ K5  使用单位：标签完好，说明书随手可得</a:t>
            </a:r>
          </a:p>
          <a:p>
            <a:pPr>
              <a:spcAft>
                <a:spcPts val="800"/>
              </a:spcAft>
            </a:pPr>
            <a:r>
              <a:rPr sz="1500">
                <a:solidFill>
                  <a:srgbClr val="FFFFFF"/>
                </a:solidFill>
                <a:latin typeface="Microsoft YaHei"/>
              </a:rPr>
              <a:t>▪ K6  用前先看标签，详情再查SDS</a:t>
            </a:r>
          </a:p>
          <a:p>
            <a:pPr>
              <a:spcAft>
                <a:spcPts val="800"/>
              </a:spcAft>
            </a:pPr>
            <a:r>
              <a:rPr sz="1500">
                <a:solidFill>
                  <a:srgbClr val="FFFFFF"/>
                </a:solidFill>
                <a:latin typeface="Microsoft YaHei"/>
              </a:rPr>
              <a:t>▪ K7  安全标签上有什么</a:t>
            </a:r>
          </a:p>
          <a:p>
            <a:pPr>
              <a:spcAft>
                <a:spcPts val="800"/>
              </a:spcAft>
            </a:pPr>
            <a:r>
              <a:rPr sz="1500">
                <a:solidFill>
                  <a:srgbClr val="FFFFFF"/>
                </a:solidFill>
                <a:latin typeface="Microsoft YaHei"/>
              </a:rPr>
              <a:t>▪ K8  象形图：红框白底黑图，共九种</a:t>
            </a:r>
          </a:p>
          <a:p>
            <a:pPr>
              <a:spcAft>
                <a:spcPts val="800"/>
              </a:spcAft>
            </a:pPr>
            <a:r>
              <a:rPr sz="1500">
                <a:solidFill>
                  <a:srgbClr val="FFFFFF"/>
                </a:solidFill>
                <a:latin typeface="Microsoft YaHei"/>
              </a:rPr>
              <a:t>▪ K9  爆炸、易燃、氧化、气瓶、腐蚀</a:t>
            </a:r>
          </a:p>
          <a:p>
            <a:pPr>
              <a:spcAft>
                <a:spcPts val="800"/>
              </a:spcAft>
            </a:pPr>
            <a:r>
              <a:rPr sz="1500">
                <a:solidFill>
                  <a:srgbClr val="FFFFFF"/>
                </a:solidFill>
                <a:latin typeface="Microsoft YaHei"/>
              </a:rPr>
              <a:t>▪ K10  骷髅、感叹号、健康危害、环境</a:t>
            </a:r>
          </a:p>
          <a:p>
            <a:pPr>
              <a:spcAft>
                <a:spcPts val="800"/>
              </a:spcAft>
            </a:pPr>
            <a:r>
              <a:rPr sz="1500">
                <a:solidFill>
                  <a:srgbClr val="FFFFFF"/>
                </a:solidFill>
                <a:latin typeface="Microsoft YaHei"/>
              </a:rPr>
              <a:t>▪ K11  一物多险，每个象形图都要看</a:t>
            </a:r>
          </a:p>
          <a:p>
            <a:pPr>
              <a:spcAft>
                <a:spcPts val="800"/>
              </a:spcAft>
            </a:pPr>
            <a:r>
              <a:rPr sz="1500">
                <a:solidFill>
                  <a:srgbClr val="FFFFFF"/>
                </a:solidFill>
                <a:latin typeface="Microsoft YaHei"/>
              </a:rPr>
              <a:t>▪ K12  信号词：危险重于警告</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K13  危险说明讲危害，防范说明讲做法</a:t>
            </a:r>
          </a:p>
          <a:p>
            <a:pPr>
              <a:spcAft>
                <a:spcPts val="800"/>
              </a:spcAft>
            </a:pPr>
            <a:r>
              <a:rPr sz="1500">
                <a:solidFill>
                  <a:srgbClr val="FFFFFF"/>
                </a:solidFill>
                <a:latin typeface="Microsoft YaHei"/>
              </a:rPr>
              <a:t>▪ K14  运输标志和象形图是两套体系</a:t>
            </a:r>
          </a:p>
          <a:p>
            <a:pPr>
              <a:spcAft>
                <a:spcPts val="800"/>
              </a:spcAft>
            </a:pPr>
            <a:r>
              <a:rPr sz="1500">
                <a:solidFill>
                  <a:srgbClr val="FFFFFF"/>
                </a:solidFill>
                <a:latin typeface="Microsoft YaHei"/>
              </a:rPr>
              <a:t>▪ K15  国外四色菱形只作了解</a:t>
            </a:r>
          </a:p>
          <a:p>
            <a:pPr>
              <a:spcAft>
                <a:spcPts val="800"/>
              </a:spcAft>
            </a:pPr>
            <a:r>
              <a:rPr sz="1500">
                <a:solidFill>
                  <a:srgbClr val="FFFFFF"/>
                </a:solidFill>
                <a:latin typeface="Microsoft YaHei"/>
              </a:rPr>
              <a:t>▪ K16  原装标签不撕不改，坏了及时补</a:t>
            </a:r>
          </a:p>
          <a:p>
            <a:pPr>
              <a:spcAft>
                <a:spcPts val="800"/>
              </a:spcAft>
            </a:pPr>
            <a:r>
              <a:rPr sz="1500">
                <a:solidFill>
                  <a:srgbClr val="FFFFFF"/>
                </a:solidFill>
                <a:latin typeface="Microsoft YaHei"/>
              </a:rPr>
              <a:t>▪ K17  分装容器也要贴标签</a:t>
            </a:r>
          </a:p>
          <a:p>
            <a:pPr>
              <a:spcAft>
                <a:spcPts val="800"/>
              </a:spcAft>
            </a:pPr>
            <a:r>
              <a:rPr sz="1500">
                <a:solidFill>
                  <a:srgbClr val="FFFFFF"/>
                </a:solidFill>
                <a:latin typeface="Microsoft YaHei"/>
              </a:rPr>
              <a:t>▪ K18  自配溶液马上贴签，写全信息</a:t>
            </a:r>
          </a:p>
          <a:p>
            <a:pPr>
              <a:spcAft>
                <a:spcPts val="800"/>
              </a:spcAft>
            </a:pPr>
            <a:r>
              <a:rPr sz="1500">
                <a:solidFill>
                  <a:srgbClr val="FFFFFF"/>
                </a:solidFill>
                <a:latin typeface="Microsoft YaHei"/>
              </a:rPr>
              <a:t>▪ K19  写全称，不写缩写代号</a:t>
            </a:r>
          </a:p>
          <a:p>
            <a:pPr>
              <a:spcAft>
                <a:spcPts val="800"/>
              </a:spcAft>
            </a:pPr>
            <a:r>
              <a:rPr sz="1500">
                <a:solidFill>
                  <a:srgbClr val="FFFFFF"/>
                </a:solidFill>
                <a:latin typeface="Microsoft YaHei"/>
              </a:rPr>
              <a:t>▪ K20  所有容器都要标，没有例外</a:t>
            </a:r>
          </a:p>
          <a:p>
            <a:pPr>
              <a:spcAft>
                <a:spcPts val="800"/>
              </a:spcAft>
            </a:pPr>
            <a:r>
              <a:rPr sz="1500">
                <a:solidFill>
                  <a:srgbClr val="FFFFFF"/>
                </a:solidFill>
                <a:latin typeface="Microsoft YaHei"/>
              </a:rPr>
              <a:t>▪ K21  使用中的容器和过夜样品也要标</a:t>
            </a:r>
          </a:p>
          <a:p>
            <a:pPr>
              <a:spcAft>
                <a:spcPts val="800"/>
              </a:spcAft>
            </a:pPr>
            <a:r>
              <a:rPr sz="1500">
                <a:solidFill>
                  <a:srgbClr val="FFFFFF"/>
                </a:solidFill>
                <a:latin typeface="Microsoft YaHei"/>
              </a:rPr>
              <a:t>▪ K22  工作场所设警示标识和告知卡</a:t>
            </a:r>
          </a:p>
          <a:p>
            <a:pPr>
              <a:spcAft>
                <a:spcPts val="800"/>
              </a:spcAft>
            </a:pPr>
            <a:r>
              <a:rPr sz="1500">
                <a:solidFill>
                  <a:srgbClr val="FFFFFF"/>
                </a:solidFill>
                <a:latin typeface="Microsoft YaHei"/>
              </a:rPr>
              <a:t>▪ K23  教训：到货分装没看说明书</a:t>
            </a:r>
          </a:p>
          <a:p>
            <a:pPr>
              <a:spcAft>
                <a:spcPts val="800"/>
              </a:spcAft>
            </a:pPr>
            <a:r>
              <a:rPr sz="1500">
                <a:solidFill>
                  <a:srgbClr val="FFFFFF"/>
                </a:solidFill>
                <a:latin typeface="Microsoft YaHei"/>
              </a:rPr>
              <a:t>▪ K24  靠培训和信息共享，人人会读</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安全技术说明书（SDS）概述</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79 镜）　适用对象：全体使用化学品的高校本科生、研究生和教职工（必修）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能说出化学品安全技术说明书（SDS，旧称 MSDS）是什么、写给谁、提供哪些信息。</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能说出国内对中文安全技术说明书的法定要求和编写依据（GB/T 16483-2008、GB/T 17519-2013）。</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能做到知道本实验室说明书放在哪里，第一次使用化学品（含试剂盒、清洁剂）前先读说明书并做风险评估。</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能判断说明书是否与手中试剂对应、版本是否过旧，并能批判地阅读、多方核对。</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日起施行）及《危险化学品安全管理条例》（以现行文本为准）：危险化学品附中文化学品安全技术说明书和安全标签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内容和项目顺序》：十六个部分及顺序</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17519-2013（以现行文本为准）《化学品安全技术说明书编写指南》</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15258-2009（以现行文本为准）《化学品安全标签编写规定》：标签与说明书内容一致</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系列（以现行文本为准）《化学品分类和标签规范》：危险性分类</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《易制毒化学品管理条例》（以现行文本为准）：盐酸等易制毒化学品领用登记</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号，以现行文本为准）：化学品安全技术说明书齐全、便于查阅，使用前开展风险评估</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高校实验室安全检查项目表（以现行文本为准）：实验室存有所用化学品的中文安全技术说明书</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化学品天天用，危害各不同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化学品每天都在用，实验离不开</a:t>
            </a:r>
          </a:p>
          <a:p>
            <a:pPr>
              <a:spcAft>
                <a:spcPts val="1000"/>
              </a:spcAft>
            </a:pPr>
            <a:r>
              <a:rPr sz="2000">
                <a:solidFill>
                  <a:srgbClr val="222B33"/>
                </a:solidFill>
                <a:latin typeface="Microsoft YaHei"/>
              </a:rPr>
              <a:t>▪ 防护不当，就会伤身体</a:t>
            </a:r>
          </a:p>
          <a:p>
            <a:pPr>
              <a:spcAft>
                <a:spcPts val="1000"/>
              </a:spcAft>
            </a:pPr>
            <a:r>
              <a:rPr sz="2000">
                <a:solidFill>
                  <a:srgbClr val="222B33"/>
                </a:solidFill>
                <a:latin typeface="Microsoft YaHei"/>
              </a:rPr>
              <a:t>▪ 易燃、腐蚀、刺激、致敏、有毒、致癌，种类多</a:t>
            </a:r>
          </a:p>
          <a:p>
            <a:pPr>
              <a:spcAft>
                <a:spcPts val="1000"/>
              </a:spcAft>
            </a:pPr>
            <a:r>
              <a:rPr sz="2000">
                <a:solidFill>
                  <a:srgbClr val="222B33"/>
                </a:solidFill>
                <a:latin typeface="Microsoft YaHei"/>
              </a:rPr>
              <a:t>▪ 每一类，防护和应急都不一样</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实验室每天都在使用化学品，实验离不开它们。但如果防护不当，化学品会伤害身体。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用同一套防护应对所有化学品</a:t>
            </a:r>
          </a:p>
          <a:p>
            <a:pPr>
              <a:spcAft>
                <a:spcPts val="1000"/>
              </a:spcAft>
            </a:pPr>
            <a:r>
              <a:rPr sz="1500">
                <a:solidFill>
                  <a:srgbClr val="222B33"/>
                </a:solidFill>
                <a:latin typeface="Microsoft YaHei"/>
              </a:rPr>
              <a:t>▪ 以为常用试剂“用惯了”就没有危险</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安全用化学品，先问三个问题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怎么拿、怎么存？</a:t>
            </a:r>
          </a:p>
          <a:p>
            <a:pPr>
              <a:spcAft>
                <a:spcPts val="1000"/>
              </a:spcAft>
            </a:pPr>
            <a:r>
              <a:rPr sz="2000">
                <a:solidFill>
                  <a:srgbClr val="222B33"/>
                </a:solidFill>
                <a:latin typeface="Microsoft YaHei"/>
              </a:rPr>
              <a:t>▪ 要戴什么防护？</a:t>
            </a:r>
          </a:p>
          <a:p>
            <a:pPr>
              <a:spcAft>
                <a:spcPts val="1000"/>
              </a:spcAft>
            </a:pPr>
            <a:r>
              <a:rPr sz="2000">
                <a:solidFill>
                  <a:srgbClr val="222B33"/>
                </a:solidFill>
                <a:latin typeface="Microsoft YaHei"/>
              </a:rPr>
              <a:t>▪ 出事了怎么办？</a:t>
            </a:r>
          </a:p>
          <a:p>
            <a:pPr>
              <a:spcAft>
                <a:spcPts val="1000"/>
              </a:spcAft>
            </a:pPr>
            <a:r>
              <a:rPr sz="2000">
                <a:solidFill>
                  <a:srgbClr val="222B33"/>
                </a:solidFill>
                <a:latin typeface="Microsoft YaHei"/>
              </a:rPr>
              <a:t>▪ 答案都在安全技术说明书里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安全使用一种化学品，先问自己三个问题：怎样安全地取用和储存？需要戴哪些个人防护装备？发生泄漏、着火或接触时怎么办？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不了解应急措施就开始实验</a:t>
            </a:r>
          </a:p>
          <a:p>
            <a:pPr>
              <a:spcAft>
                <a:spcPts val="1000"/>
              </a:spcAft>
            </a:pPr>
            <a:r>
              <a:rPr sz="1500">
                <a:solidFill>
                  <a:srgbClr val="222B33"/>
                </a:solidFill>
                <a:latin typeface="Microsoft YaHei"/>
              </a:rPr>
              <a:t>▪ 只问“怎么做实验”，不问“出事怎么办”</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SDS：化学品的身份档案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SDS 是化学品的详细资料文件</a:t>
            </a:r>
          </a:p>
          <a:p>
            <a:pPr>
              <a:spcAft>
                <a:spcPts val="1000"/>
              </a:spcAft>
            </a:pPr>
            <a:r>
              <a:rPr sz="2000">
                <a:solidFill>
                  <a:srgbClr val="222B33"/>
                </a:solidFill>
                <a:latin typeface="Microsoft YaHei"/>
              </a:rPr>
              <a:t>▪ 写明成分、性质和危害，像一份身份档案</a:t>
            </a:r>
          </a:p>
          <a:p>
            <a:pPr>
              <a:spcAft>
                <a:spcPts val="1000"/>
              </a:spcAft>
            </a:pPr>
            <a:r>
              <a:rPr sz="2000">
                <a:solidFill>
                  <a:srgbClr val="222B33"/>
                </a:solidFill>
                <a:latin typeface="Microsoft YaHei"/>
              </a:rPr>
              <a:t>▪ 纯物质和混合物，都有自己的一份</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安全技术说明书（SDS）是关于一种化学品的详细信息文件，记录它的名称、成分、理化性质、危害、防护和应急等基本数据，就像这种化学品的“身份档案”。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以为只有纯化学试剂才有说明书</a:t>
            </a:r>
          </a:p>
          <a:p>
            <a:pPr>
              <a:spcAft>
                <a:spcPts val="1000"/>
              </a:spcAft>
            </a:pPr>
            <a:r>
              <a:rPr sz="1500">
                <a:solidFill>
                  <a:srgbClr val="222B33"/>
                </a:solidFill>
                <a:latin typeface="Microsoft YaHei"/>
              </a:rPr>
              <a:t>▪ 用别的品牌、别的浓度的说明书代替</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旧称MSDS，现在统一叫SDS</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以前叫 MSDS（物质安全数据表）</a:t>
            </a:r>
          </a:p>
          <a:p>
            <a:pPr>
              <a:spcAft>
                <a:spcPts val="1000"/>
              </a:spcAft>
            </a:pPr>
            <a:r>
              <a:rPr sz="2000">
                <a:solidFill>
                  <a:srgbClr val="222B33"/>
                </a:solidFill>
                <a:latin typeface="Microsoft YaHei"/>
              </a:rPr>
              <a:t>▪ 现在统一叫 SDS，说的是同一样东西</a:t>
            </a:r>
          </a:p>
          <a:p>
            <a:pPr>
              <a:spcAft>
                <a:spcPts val="1000"/>
              </a:spcAft>
            </a:pPr>
            <a:r>
              <a:rPr sz="2000">
                <a:solidFill>
                  <a:srgbClr val="222B33"/>
                </a:solidFill>
                <a:latin typeface="Microsoft YaHei"/>
              </a:rPr>
              <a:t>▪ 中文全称：化学品安全技术说明书</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安全技术说明书过去常被称为 MSDS（物质安全数据表），现在按全球统一的分类和标签制度统称 SDS。两个名称说的是同一类文件，见到旧名称不要以为是两样东西。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 MSDS 和 SDS 是两种不同文件</a:t>
            </a:r>
          </a:p>
          <a:p>
            <a:pPr>
              <a:spcAft>
                <a:spcPts val="1000"/>
              </a:spcAft>
            </a:pPr>
            <a:r>
              <a:rPr sz="1500">
                <a:solidFill>
                  <a:srgbClr val="222B33"/>
                </a:solidFill>
                <a:latin typeface="Microsoft YaHei"/>
              </a:rPr>
              <a:t>▪ 只知道英文缩写，不知道中文名称</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旧格式乱、难懂，才有了统一制度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过去由生产商、进口商随货提供数据单</a:t>
            </a:r>
          </a:p>
          <a:p>
            <a:pPr>
              <a:spcAft>
                <a:spcPts val="1000"/>
              </a:spcAft>
            </a:pPr>
            <a:r>
              <a:rPr sz="2000">
                <a:solidFill>
                  <a:srgbClr val="222B33"/>
                </a:solidFill>
                <a:latin typeface="Microsoft YaHei"/>
              </a:rPr>
              <a:t>▪ 旧格式五花八门，紧急时半天找不到</a:t>
            </a:r>
          </a:p>
          <a:p>
            <a:pPr>
              <a:spcAft>
                <a:spcPts val="1000"/>
              </a:spcAft>
            </a:pPr>
            <a:r>
              <a:rPr sz="2000">
                <a:solidFill>
                  <a:srgbClr val="222B33"/>
                </a:solidFill>
                <a:latin typeface="Microsoft YaHei"/>
              </a:rPr>
              <a:t>▪ 术语太多，救援人员也看不懂</a:t>
            </a:r>
          </a:p>
          <a:p>
            <a:pPr>
              <a:spcAft>
                <a:spcPts val="1000"/>
              </a:spcAft>
            </a:pPr>
            <a:r>
              <a:rPr sz="2000">
                <a:solidFill>
                  <a:srgbClr val="222B33"/>
                </a:solidFill>
                <a:latin typeface="Microsoft YaHei"/>
              </a:rPr>
              <a:t>▪ 于是联合国制定了全球统一制度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过去，化学品的安全信息写在物质安全数据单里，由生产商和进口商随货提供。但当时格式五花八门，同样的信息在不同厂家的资料里位置不同，紧急时翻半天找不到，耽误宝贵时间；而且术语多，像只写给专家看，可消防员、急救人员和普通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继续使用格式混乱、多年未更新的旧资料</a:t>
            </a:r>
          </a:p>
          <a:p>
            <a:pPr>
              <a:spcAft>
                <a:spcPts val="1000"/>
              </a:spcAft>
            </a:pPr>
            <a:r>
              <a:rPr sz="1500">
                <a:solidFill>
                  <a:srgbClr val="222B33"/>
                </a:solidFill>
                <a:latin typeface="Microsoft YaHei"/>
              </a:rPr>
              <a:t>▪ 认为说明书“看不懂”就不看</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依法必须提供：中文安全技术说明书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提供说明书是法律的要求</a:t>
            </a:r>
          </a:p>
          <a:p>
            <a:pPr>
              <a:spcAft>
                <a:spcPts val="1000"/>
              </a:spcAft>
            </a:pPr>
            <a:r>
              <a:rPr sz="2000">
                <a:solidFill>
                  <a:srgbClr val="222B33"/>
                </a:solidFill>
                <a:latin typeface="Microsoft YaHei"/>
              </a:rPr>
              <a:t>▪ 危化品安全法要求中文说明书和安全标签</a:t>
            </a:r>
          </a:p>
          <a:p>
            <a:pPr>
              <a:spcAft>
                <a:spcPts val="1000"/>
              </a:spcAft>
            </a:pPr>
            <a:r>
              <a:rPr sz="2000">
                <a:solidFill>
                  <a:srgbClr val="222B33"/>
                </a:solidFill>
                <a:latin typeface="Microsoft YaHei"/>
              </a:rPr>
              <a:t>▪ 内容按 GB/T 16483，编写按 GB/T 17519</a:t>
            </a:r>
          </a:p>
          <a:p>
            <a:pPr>
              <a:spcAft>
                <a:spcPts val="1000"/>
              </a:spcAft>
            </a:pPr>
            <a:r>
              <a:rPr sz="2000">
                <a:solidFill>
                  <a:srgbClr val="222B33"/>
                </a:solidFill>
                <a:latin typeface="Microsoft YaHei"/>
              </a:rPr>
              <a:t>▪ 供应方要给，使用方要有</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提供安全技术说明书是法律的要求。《中华人民共和国危险化学品安全法》（2026 年 5 月 1 日起施行）要求危险化学品附有中文的化学品安全技术说明书和安全标签，即“一书一签”；《危险化学品安全管理条例》也要求生产企业……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认为说明书只是“参考资料”，可有可无</a:t>
            </a:r>
          </a:p>
          <a:p>
            <a:pPr>
              <a:spcAft>
                <a:spcPts val="1000"/>
              </a:spcAft>
            </a:pPr>
            <a:r>
              <a:rPr sz="1500">
                <a:solidFill>
                  <a:srgbClr val="222B33"/>
                </a:solidFill>
                <a:latin typeface="Microsoft YaHei"/>
              </a:rPr>
              <a:t>▪ 只有外文说明书也照常使用</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每种化学品都要有一份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每种化学品，都必须有一份说明书</a:t>
            </a:r>
          </a:p>
          <a:p>
            <a:pPr>
              <a:spcAft>
                <a:spcPts val="1000"/>
              </a:spcAft>
            </a:pPr>
            <a:r>
              <a:rPr sz="2000">
                <a:solidFill>
                  <a:srgbClr val="222B33"/>
                </a:solidFill>
                <a:latin typeface="Microsoft YaHei"/>
              </a:rPr>
              <a:t>▪ 台账上的每一种，都要有对应说明书</a:t>
            </a:r>
          </a:p>
          <a:p>
            <a:pPr>
              <a:spcAft>
                <a:spcPts val="1000"/>
              </a:spcAft>
            </a:pPr>
            <a:r>
              <a:rPr sz="2000">
                <a:solidFill>
                  <a:srgbClr val="222B33"/>
                </a:solidFill>
                <a:latin typeface="Microsoft YaHei"/>
              </a:rPr>
              <a:t>▪ 缺了要及时向供应单位索取</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实验室使用、储存的每一种化学品都必须有对应的安全技术说明书，包括很少使用的和存量很小的。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只为常用试剂准备说明书</a:t>
            </a:r>
          </a:p>
          <a:p>
            <a:pPr>
              <a:spcAft>
                <a:spcPts val="1000"/>
              </a:spcAft>
            </a:pPr>
            <a:r>
              <a:rPr sz="1500">
                <a:solidFill>
                  <a:srgbClr val="222B33"/>
                </a:solidFill>
                <a:latin typeface="Microsoft YaHei"/>
              </a:rPr>
              <a:t>▪ 新增试剂入账，说明书不归档</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写给两类人：使用者和救援者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一是每天和它打交道的使用者</a:t>
            </a:r>
          </a:p>
          <a:p>
            <a:pPr>
              <a:spcAft>
                <a:spcPts val="1000"/>
              </a:spcAft>
            </a:pPr>
            <a:r>
              <a:rPr sz="2000">
                <a:solidFill>
                  <a:srgbClr val="222B33"/>
                </a:solidFill>
                <a:latin typeface="Microsoft YaHei"/>
              </a:rPr>
              <a:t>▪ 二是出事时赶来的应急救援人员</a:t>
            </a:r>
          </a:p>
          <a:p>
            <a:pPr>
              <a:spcAft>
                <a:spcPts val="1000"/>
              </a:spcAft>
            </a:pPr>
            <a:r>
              <a:rPr sz="2000">
                <a:solidFill>
                  <a:srgbClr val="222B33"/>
                </a:solidFill>
                <a:latin typeface="Microsoft YaHei"/>
              </a:rPr>
              <a:t>▪ 救援人员靠它决定怎么处置</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安全技术说明书的主要目的，是让两类人掌握必要的信息：一是每天使用和接触这种化学品的人，二是发生事故时赶来的消防、急救等应急人员。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认为说明书只是给管理人员看的</a:t>
            </a:r>
          </a:p>
          <a:p>
            <a:pPr>
              <a:spcAft>
                <a:spcPts val="1000"/>
              </a:spcAft>
            </a:pPr>
            <a:r>
              <a:rPr sz="1500">
                <a:solidFill>
                  <a:srgbClr val="222B33"/>
                </a:solidFill>
                <a:latin typeface="Microsoft YaHei"/>
              </a:rPr>
              <a:t>▪ 事故时说不出化学品名称，也拿不出说明书</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告诉你怎么用、怎么存、怎么处置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怎么用：戴什么、在哪做、什么不能做</a:t>
            </a:r>
          </a:p>
          <a:p>
            <a:pPr>
              <a:spcAft>
                <a:spcPts val="1000"/>
              </a:spcAft>
            </a:pPr>
            <a:r>
              <a:rPr sz="2000">
                <a:solidFill>
                  <a:srgbClr val="222B33"/>
                </a:solidFill>
                <a:latin typeface="Microsoft YaHei"/>
              </a:rPr>
              <a:t>▪ 怎么存：温度、避光、密封、远离什么</a:t>
            </a:r>
          </a:p>
          <a:p>
            <a:pPr>
              <a:spcAft>
                <a:spcPts val="1000"/>
              </a:spcAft>
            </a:pPr>
            <a:r>
              <a:rPr sz="2000">
                <a:solidFill>
                  <a:srgbClr val="222B33"/>
                </a:solidFill>
                <a:latin typeface="Microsoft YaHei"/>
              </a:rPr>
              <a:t>▪ 怎么处置：分类收集，不倒下水道，交有资质单位</a:t>
            </a:r>
          </a:p>
          <a:p>
            <a:pPr>
              <a:spcAft>
                <a:spcPts val="1000"/>
              </a:spcAft>
            </a:pPr>
            <a:r>
              <a:rPr sz="2000">
                <a:solidFill>
                  <a:srgbClr val="222B33"/>
                </a:solidFill>
                <a:latin typeface="Microsoft YaHei"/>
              </a:rPr>
              <a:t>▪ 用之前对照着看，心里就有底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说明书首先告诉你怎样安全操作：要戴哪些防护装备，在通风柜还是普通台面操作，哪些做法绝对不行。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储存条件凭经验，不看说明书</a:t>
            </a:r>
          </a:p>
          <a:p>
            <a:pPr>
              <a:spcAft>
                <a:spcPts val="1000"/>
              </a:spcAft>
            </a:pPr>
            <a:r>
              <a:rPr sz="1500">
                <a:solidFill>
                  <a:srgbClr val="222B33"/>
                </a:solidFill>
                <a:latin typeface="Microsoft YaHei"/>
              </a:rPr>
              <a:t>▪ 废液处置不查说明书，随意混倒</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讲清四类风险：健康、火灾、反应、环境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健康：从哪进入人体，伤眼、伤皮肤、伤肺</a:t>
            </a:r>
          </a:p>
          <a:p>
            <a:pPr>
              <a:spcAft>
                <a:spcPts val="1000"/>
              </a:spcAft>
            </a:pPr>
            <a:r>
              <a:rPr sz="2000">
                <a:solidFill>
                  <a:srgbClr val="222B33"/>
                </a:solidFill>
                <a:latin typeface="Microsoft YaHei"/>
              </a:rPr>
              <a:t>▪ 火灾：易不易燃，远离什么，着火用什么灭</a:t>
            </a:r>
          </a:p>
          <a:p>
            <a:pPr>
              <a:spcAft>
                <a:spcPts val="1000"/>
              </a:spcAft>
            </a:pPr>
            <a:r>
              <a:rPr sz="2000">
                <a:solidFill>
                  <a:srgbClr val="222B33"/>
                </a:solidFill>
                <a:latin typeface="Microsoft YaHei"/>
              </a:rPr>
              <a:t>▪ 反应性：遇热、水、空气会怎样，和谁要分开</a:t>
            </a:r>
          </a:p>
          <a:p>
            <a:pPr>
              <a:spcAft>
                <a:spcPts val="1000"/>
              </a:spcAft>
            </a:pPr>
            <a:r>
              <a:rPr sz="2000">
                <a:solidFill>
                  <a:srgbClr val="222B33"/>
                </a:solidFill>
                <a:latin typeface="Microsoft YaHei"/>
              </a:rPr>
              <a:t>▪ 环境：对水生生物和土壤有没有危害</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讲清化学品的四类风险。健康风险：经哪些途径进入人体，伤害眼睛、皮肤、呼吸系统还是其他器官，有的一次接触就伤人，有的长期累积。火灾危险：是否易燃、着火有多猛，要远离哪些火源和热源，着火时用什么灭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只关心健康危害，忽视反应性和不相容物</a:t>
            </a:r>
          </a:p>
          <a:p>
            <a:pPr>
              <a:spcAft>
                <a:spcPts val="1000"/>
              </a:spcAft>
            </a:pPr>
            <a:r>
              <a:rPr sz="1500">
                <a:solidFill>
                  <a:srgbClr val="222B33"/>
                </a:solidFill>
                <a:latin typeface="Microsoft YaHei"/>
              </a:rPr>
              <a:t>▪ 不知道灭火方法，着火时用错灭火器</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了解危害第一站，操作第一依据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生产商随货提供，按统一制度编写</a:t>
            </a:r>
          </a:p>
          <a:p>
            <a:pPr>
              <a:spcAft>
                <a:spcPts val="1000"/>
              </a:spcAft>
            </a:pPr>
            <a:r>
              <a:rPr sz="2000">
                <a:solidFill>
                  <a:srgbClr val="222B33"/>
                </a:solidFill>
                <a:latin typeface="Microsoft YaHei"/>
              </a:rPr>
              <a:t>▪ 了解危害，第一站就查说明书</a:t>
            </a:r>
          </a:p>
          <a:p>
            <a:pPr>
              <a:spcAft>
                <a:spcPts val="1000"/>
              </a:spcAft>
            </a:pPr>
            <a:r>
              <a:rPr sz="2000">
                <a:solidFill>
                  <a:srgbClr val="222B33"/>
                </a:solidFill>
                <a:latin typeface="Microsoft YaHei"/>
              </a:rPr>
              <a:t>▪ 说明书是用好危险物料的第一依据</a:t>
            </a:r>
          </a:p>
          <a:p>
            <a:pPr>
              <a:spcAft>
                <a:spcPts val="1000"/>
              </a:spcAft>
            </a:pPr>
            <a:r>
              <a:rPr sz="2000">
                <a:solidFill>
                  <a:srgbClr val="222B33"/>
                </a:solidFill>
                <a:latin typeface="Microsoft YaHei"/>
              </a:rPr>
              <a:t>▪ 看到爆炸等高风险，就按更严的规程来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说明书由化学品生产商（或进口商）按全球统一的分类和标签制度编写，随货提供。了解一种化学品的危害，第一站就查它的说明书，先看与危害相关的几个部分。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先上网搜“经验帖”，不看说明书</a:t>
            </a:r>
          </a:p>
          <a:p>
            <a:pPr>
              <a:spcAft>
                <a:spcPts val="1000"/>
              </a:spcAft>
            </a:pPr>
            <a:r>
              <a:rPr sz="1500">
                <a:solidFill>
                  <a:srgbClr val="222B33"/>
                </a:solidFill>
                <a:latin typeface="Microsoft YaHei"/>
              </a:rPr>
              <a:t>▪ 看到高风险提示仍按普通规程操作</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十六个部分，顺序固定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说明书分十六个部分，顺序固定</a:t>
            </a:r>
          </a:p>
          <a:p>
            <a:pPr>
              <a:spcAft>
                <a:spcPts val="1000"/>
              </a:spcAft>
            </a:pPr>
            <a:r>
              <a:rPr sz="2000">
                <a:solidFill>
                  <a:srgbClr val="222B33"/>
                </a:solidFill>
                <a:latin typeface="Microsoft YaHei"/>
              </a:rPr>
              <a:t>▪ 性质、危害、防护、应急都在里面</a:t>
            </a:r>
          </a:p>
          <a:p>
            <a:pPr>
              <a:spcAft>
                <a:spcPts val="1000"/>
              </a:spcAft>
            </a:pPr>
            <a:r>
              <a:rPr sz="2000">
                <a:solidFill>
                  <a:srgbClr val="222B33"/>
                </a:solidFill>
                <a:latin typeface="Microsoft YaHei"/>
              </a:rPr>
              <a:t>▪ 它讲化学品，不是着装规定或培训档案</a:t>
            </a:r>
          </a:p>
          <a:p>
            <a:pPr>
              <a:spcAft>
                <a:spcPts val="1000"/>
              </a:spcAft>
            </a:pPr>
            <a:r>
              <a:rPr sz="2000">
                <a:solidFill>
                  <a:srgbClr val="222B33"/>
                </a:solidFill>
                <a:latin typeface="Microsoft YaHei"/>
              </a:rPr>
              <a:t>▪ 十六部分怎么读，见第 041 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GB/T 16483-2008（以现行文本为准），化学品安全技术说明书包括十六个部分，顺序固定：从化学品及企业标识、危险性概述、成分，到急救、消防、泄漏应急、操作处置与储存、接触控制和个体防护、理化特性、稳定性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以为说明书各家格式不同，找不到需要的内容</a:t>
            </a:r>
          </a:p>
          <a:p>
            <a:pPr>
              <a:spcAft>
                <a:spcPts val="1000"/>
              </a:spcAft>
            </a:pPr>
            <a:r>
              <a:rPr sz="1500">
                <a:solidFill>
                  <a:srgbClr val="222B33"/>
                </a:solidFill>
                <a:latin typeface="Microsoft YaHei"/>
              </a:rPr>
              <a:t>▪ 把说明书当成实验室规章或培训记录</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识别危害两件工具：说明书和标签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识别化学品危害，靠两件工具</a:t>
            </a:r>
          </a:p>
          <a:p>
            <a:pPr>
              <a:spcAft>
                <a:spcPts val="1000"/>
              </a:spcAft>
            </a:pPr>
            <a:r>
              <a:rPr sz="2000">
                <a:solidFill>
                  <a:srgbClr val="222B33"/>
                </a:solidFill>
                <a:latin typeface="Microsoft YaHei"/>
              </a:rPr>
              <a:t>▪ 一是安全技术说明书，二是安全标签</a:t>
            </a:r>
          </a:p>
          <a:p>
            <a:pPr>
              <a:spcAft>
                <a:spcPts val="1000"/>
              </a:spcAft>
            </a:pPr>
            <a:r>
              <a:rPr sz="2000">
                <a:solidFill>
                  <a:srgbClr val="222B33"/>
                </a:solidFill>
                <a:latin typeface="Microsoft YaHei"/>
              </a:rPr>
              <a:t>▪ 先查说明书，再看瓶上标签和象形图</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识别化学品的危害，主要靠两件工具：安全技术说明书和容器上的安全标签。说明书内容全面，标签简明直观。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只看其中一样，不互相对照</a:t>
            </a:r>
          </a:p>
          <a:p>
            <a:pPr>
              <a:spcAft>
                <a:spcPts val="1000"/>
              </a:spcAft>
            </a:pPr>
            <a:r>
              <a:rPr sz="1500">
                <a:solidFill>
                  <a:srgbClr val="222B33"/>
                </a:solidFill>
                <a:latin typeface="Microsoft YaHei"/>
              </a:rPr>
              <a:t>▪ 不知道这两件工具在哪里找</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标签是简版，说明书是详版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瓶上的安全标签是说明书的简版</a:t>
            </a:r>
          </a:p>
          <a:p>
            <a:pPr>
              <a:spcAft>
                <a:spcPts val="1000"/>
              </a:spcAft>
            </a:pPr>
            <a:r>
              <a:rPr sz="2000">
                <a:solidFill>
                  <a:srgbClr val="222B33"/>
                </a:solidFill>
                <a:latin typeface="Microsoft YaHei"/>
              </a:rPr>
              <a:t>▪ 象形图、信号词、危险说明，两者要一致</a:t>
            </a:r>
          </a:p>
          <a:p>
            <a:pPr>
              <a:spcAft>
                <a:spcPts val="1000"/>
              </a:spcAft>
            </a:pPr>
            <a:r>
              <a:rPr sz="2000">
                <a:solidFill>
                  <a:srgbClr val="222B33"/>
                </a:solidFill>
                <a:latin typeface="Microsoft YaHei"/>
              </a:rPr>
              <a:t>▪ 标签按 GB 15258-2009 编写</a:t>
            </a:r>
          </a:p>
          <a:p>
            <a:pPr>
              <a:spcAft>
                <a:spcPts val="1000"/>
              </a:spcAft>
            </a:pPr>
            <a:r>
              <a:rPr sz="2000">
                <a:solidFill>
                  <a:srgbClr val="222B33"/>
                </a:solidFill>
                <a:latin typeface="Microsoft YaHei"/>
              </a:rPr>
              <a:t>▪ 先看标签，拿不准就翻说明书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安全标签是说明书的浓缩版，只列出最关键的信息；说明书是详细版。标签上的象形图、信号词、危险说明和防范说明应与说明书第 2 部分（危险性概述）一致，标签按 GB 15258-2009（以现行文本为准）编写。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发现标签与说明书不一致也不报告</a:t>
            </a:r>
          </a:p>
          <a:p>
            <a:pPr>
              <a:spcAft>
                <a:spcPts val="1000"/>
              </a:spcAft>
            </a:pPr>
            <a:r>
              <a:rPr sz="1500">
                <a:solidFill>
                  <a:srgbClr val="222B33"/>
                </a:solidFill>
                <a:latin typeface="Microsoft YaHei"/>
              </a:rPr>
              <a:t>▪ 以为看过标签就不需要看说明书</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知道放在哪，先读再用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先知道本实验室的说明书放在哪里</a:t>
            </a:r>
          </a:p>
          <a:p>
            <a:pPr>
              <a:spcAft>
                <a:spcPts val="1000"/>
              </a:spcAft>
            </a:pPr>
            <a:r>
              <a:rPr sz="2000">
                <a:solidFill>
                  <a:srgbClr val="222B33"/>
                </a:solidFill>
                <a:latin typeface="Microsoft YaHei"/>
              </a:rPr>
              <a:t>▪ 第一次用某种化学品，先读再用</a:t>
            </a:r>
          </a:p>
          <a:p>
            <a:pPr>
              <a:spcAft>
                <a:spcPts val="1000"/>
              </a:spcAft>
            </a:pPr>
            <a:r>
              <a:rPr sz="2000">
                <a:solidFill>
                  <a:srgbClr val="222B33"/>
                </a:solidFill>
                <a:latin typeface="Microsoft YaHei"/>
              </a:rPr>
              <a:t>▪ 闪点、接触限值等关键数据都在说明书里</a:t>
            </a:r>
          </a:p>
          <a:p>
            <a:pPr>
              <a:spcAft>
                <a:spcPts val="1000"/>
              </a:spcAft>
            </a:pPr>
            <a:r>
              <a:rPr sz="2000">
                <a:solidFill>
                  <a:srgbClr val="222B33"/>
                </a:solidFill>
                <a:latin typeface="Microsoft YaHei"/>
              </a:rPr>
              <a:t>▪ 碰化学品之前，就该读过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进入实验室首先要知道本实验室的安全技术说明书放在哪里（纸质文件夹、电脑或学校系统）。第一次使用某种化学品之前，先读它的说明书和标签，了解危害、防护、急救、灭火和泄漏处理方法。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不知道说明书放在哪</a:t>
            </a:r>
          </a:p>
          <a:p>
            <a:pPr>
              <a:spcAft>
                <a:spcPts val="1000"/>
              </a:spcAft>
            </a:pPr>
            <a:r>
              <a:rPr sz="1500">
                <a:solidFill>
                  <a:srgbClr val="222B33"/>
                </a:solidFill>
                <a:latin typeface="Microsoft YaHei"/>
              </a:rPr>
              <a:t>▪ 出了事才第一次翻说明书</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试剂盒、清洁剂、废液也要查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试剂盒里的裂解液、洗液也含化学试剂</a:t>
            </a:r>
          </a:p>
          <a:p>
            <a:pPr>
              <a:spcAft>
                <a:spcPts val="1000"/>
              </a:spcAft>
            </a:pPr>
            <a:r>
              <a:rPr sz="2000">
                <a:solidFill>
                  <a:srgbClr val="222B33"/>
                </a:solidFill>
                <a:latin typeface="Microsoft YaHei"/>
              </a:rPr>
              <a:t>▪ 裂解废液不能和含氯消毒剂混</a:t>
            </a:r>
          </a:p>
          <a:p>
            <a:pPr>
              <a:spcAft>
                <a:spcPts val="1000"/>
              </a:spcAft>
            </a:pPr>
            <a:r>
              <a:rPr sz="2000">
                <a:solidFill>
                  <a:srgbClr val="222B33"/>
                </a:solidFill>
                <a:latin typeface="Microsoft YaHei"/>
              </a:rPr>
              <a:t>▪ 碱液伤眼，指示剂可能易燃；盐酸领用要登记</a:t>
            </a:r>
          </a:p>
          <a:p>
            <a:pPr>
              <a:spcAft>
                <a:spcPts val="1000"/>
              </a:spcAft>
            </a:pPr>
            <a:r>
              <a:rPr sz="2000">
                <a:solidFill>
                  <a:srgbClr val="222B33"/>
                </a:solidFill>
                <a:latin typeface="Microsoft YaHei"/>
              </a:rPr>
              <a:t>▪ 清洁剂、废液也都要查说明书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不只针对试剂瓶里的化学品。核酸提取等商品试剂盒中的裂解液、洗液含有化学试剂，用前同样要查说明书；撕膜、加样时戴好护目镜和手套。有的裂解液与含氯消毒剂混合会产生有害物质，裂解废液要单独收集，不与含氯消毒剂混合，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以为商品试剂盒“很安全”，不查说明书</a:t>
            </a:r>
          </a:p>
          <a:p>
            <a:pPr>
              <a:spcAft>
                <a:spcPts val="1000"/>
              </a:spcAft>
            </a:pPr>
            <a:r>
              <a:rPr sz="1500">
                <a:solidFill>
                  <a:srgbClr val="222B33"/>
                </a:solidFill>
                <a:latin typeface="Microsoft YaHei"/>
              </a:rPr>
              <a:t>▪ 把试剂盒废液倒进含氯消毒剂桶</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重点读几节，再做风险评估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说明书很厚，不用从头背</a:t>
            </a:r>
          </a:p>
          <a:p>
            <a:pPr>
              <a:spcAft>
                <a:spcPts val="1000"/>
              </a:spcAft>
            </a:pPr>
            <a:r>
              <a:rPr sz="2000">
                <a:solidFill>
                  <a:srgbClr val="222B33"/>
                </a:solidFill>
                <a:latin typeface="Microsoft YaHei"/>
              </a:rPr>
              <a:t>▪ 用前先看：危害、防护、急救、泄漏</a:t>
            </a:r>
          </a:p>
          <a:p>
            <a:pPr>
              <a:spcAft>
                <a:spcPts val="1000"/>
              </a:spcAft>
            </a:pPr>
            <a:r>
              <a:rPr sz="2000">
                <a:solidFill>
                  <a:srgbClr val="222B33"/>
                </a:solidFill>
                <a:latin typeface="Microsoft YaHei"/>
              </a:rPr>
              <a:t>▪ 要加热、储存、处置时，再看对应部分</a:t>
            </a:r>
          </a:p>
          <a:p>
            <a:pPr>
              <a:spcAft>
                <a:spcPts val="1000"/>
              </a:spcAft>
            </a:pPr>
            <a:r>
              <a:rPr sz="2000">
                <a:solidFill>
                  <a:srgbClr val="222B33"/>
                </a:solidFill>
                <a:latin typeface="Microsoft YaHei"/>
              </a:rPr>
              <a:t>▪ 据此定防护和规程，导师审核后再做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说明书内容多，不需要从头到尾背下来。第一次使用前，重点看：危害是什么、要戴什么防护、急救措施、洒了怎么办、操作和储存要求。实验中需要加热、长期储存或废弃处置时，再看对应的部分。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只看第一页就开始实验</a:t>
            </a:r>
          </a:p>
          <a:p>
            <a:pPr>
              <a:spcAft>
                <a:spcPts val="1000"/>
              </a:spcAft>
            </a:pPr>
            <a:r>
              <a:rPr sz="1500">
                <a:solidFill>
                  <a:srgbClr val="222B33"/>
                </a:solidFill>
                <a:latin typeface="Microsoft YaHei"/>
              </a:rPr>
              <a:t>▪ 读了说明书但不写进风险评估和规程</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采购索取中文SDS，不全不入库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买化学品时，向供应商索取中文说明书</a:t>
            </a:r>
          </a:p>
          <a:p>
            <a:pPr>
              <a:spcAft>
                <a:spcPts val="1000"/>
              </a:spcAft>
            </a:pPr>
            <a:r>
              <a:rPr sz="2000">
                <a:solidFill>
                  <a:srgbClr val="222B33"/>
                </a:solidFill>
                <a:latin typeface="Microsoft YaHei"/>
              </a:rPr>
              <a:t>▪ 随货附说明书，收货后对照查看</a:t>
            </a:r>
          </a:p>
          <a:p>
            <a:pPr>
              <a:spcAft>
                <a:spcPts val="1000"/>
              </a:spcAft>
            </a:pPr>
            <a:r>
              <a:rPr sz="2000">
                <a:solidFill>
                  <a:srgbClr val="222B33"/>
                </a:solidFill>
                <a:latin typeface="Microsoft YaHei"/>
              </a:rPr>
              <a:t>▪ 标签要和说明书一致，内容要齐全</a:t>
            </a:r>
          </a:p>
          <a:p>
            <a:pPr>
              <a:spcAft>
                <a:spcPts val="1000"/>
              </a:spcAft>
            </a:pPr>
            <a:r>
              <a:rPr sz="2000">
                <a:solidFill>
                  <a:srgbClr val="222B33"/>
                </a:solidFill>
                <a:latin typeface="Microsoft YaHei"/>
              </a:rPr>
              <a:t>▪ 没有标签、没有说明书，不入库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采购化学品时，要求供应商提供中文安全技术说明书和安全标签。到货后对照查看：说明书是否随货、是否为中文、内容是否齐全，瓶上标签是否与说明书一致。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收货时把说明书随包装箱一起扔掉</a:t>
            </a:r>
          </a:p>
          <a:p>
            <a:pPr>
              <a:spcAft>
                <a:spcPts val="1000"/>
              </a:spcAft>
            </a:pPr>
            <a:r>
              <a:rPr sz="1500">
                <a:solidFill>
                  <a:srgbClr val="222B33"/>
                </a:solidFill>
                <a:latin typeface="Microsoft YaHei"/>
              </a:rPr>
              <a:t>▪ 只有英文说明书也入库</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放在使用场所，几分钟内能调出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说明书放在使用场所，人人能找到</a:t>
            </a:r>
          </a:p>
          <a:p>
            <a:pPr>
              <a:spcAft>
                <a:spcPts val="1000"/>
              </a:spcAft>
            </a:pPr>
            <a:r>
              <a:rPr sz="2000">
                <a:solidFill>
                  <a:srgbClr val="222B33"/>
                </a:solidFill>
                <a:latin typeface="Microsoft YaHei"/>
              </a:rPr>
              <a:t>▪ 纸质或电子版都行</a:t>
            </a:r>
          </a:p>
          <a:p>
            <a:pPr>
              <a:spcAft>
                <a:spcPts val="1000"/>
              </a:spcAft>
            </a:pPr>
            <a:r>
              <a:rPr sz="2000">
                <a:solidFill>
                  <a:srgbClr val="222B33"/>
                </a:solidFill>
                <a:latin typeface="Microsoft YaHei"/>
              </a:rPr>
              <a:t>▪ 检查时要几分钟内调出</a:t>
            </a:r>
          </a:p>
          <a:p>
            <a:pPr>
              <a:spcAft>
                <a:spcPts val="1000"/>
              </a:spcAft>
            </a:pPr>
            <a:r>
              <a:rPr sz="2000">
                <a:solidFill>
                  <a:srgbClr val="222B33"/>
                </a:solidFill>
                <a:latin typeface="Microsoft YaHei"/>
              </a:rPr>
              <a:t>▪ 电子版要有纸质备份，停电断网也能查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技术说明书要放在化学品的使用场所，纸质文件夹或电脑、学校化学品管理系统中的电子版都可以，关键是实验室里的每个人都知道在哪里、能随时查到。每种化学品性质不同、危害各有特点，必须能查到对应的那一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说明书锁在办公室或只存在个人电脑</a:t>
            </a:r>
          </a:p>
          <a:p>
            <a:pPr>
              <a:spcAft>
                <a:spcPts val="1000"/>
              </a:spcAft>
            </a:pPr>
            <a:r>
              <a:rPr sz="1500">
                <a:solidFill>
                  <a:srgbClr val="222B33"/>
                </a:solidFill>
                <a:latin typeface="Microsoft YaHei"/>
              </a:rPr>
              <a:t>▪ 只有在线版，断网就查不到</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说明书要对得上、版本要新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说明书要和手里这瓶对得上</a:t>
            </a:r>
          </a:p>
          <a:p>
            <a:pPr>
              <a:spcAft>
                <a:spcPts val="1000"/>
              </a:spcAft>
            </a:pPr>
            <a:r>
              <a:rPr sz="2000">
                <a:solidFill>
                  <a:srgbClr val="222B33"/>
                </a:solidFill>
                <a:latin typeface="Microsoft YaHei"/>
              </a:rPr>
              <a:t>▪ 名称、供应商、浓度规格要一致</a:t>
            </a:r>
          </a:p>
          <a:p>
            <a:pPr>
              <a:spcAft>
                <a:spcPts val="1000"/>
              </a:spcAft>
            </a:pPr>
            <a:r>
              <a:rPr sz="2000">
                <a:solidFill>
                  <a:srgbClr val="222B33"/>
                </a:solidFill>
                <a:latin typeface="Microsoft YaHei"/>
              </a:rPr>
              <a:t>▪ 版本过旧的，及时换新</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查阅的说明书必须与手中的化学品对应：化学品名称、供应商、浓度和规格一致。同一种物质，浓度不同、混合物配方不同，危害和防护要求可能不同，不能随便拿一份代替。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用别家、别的浓度的说明书代替</a:t>
            </a:r>
          </a:p>
          <a:p>
            <a:pPr>
              <a:spcAft>
                <a:spcPts val="1000"/>
              </a:spcAft>
            </a:pPr>
            <a:r>
              <a:rPr sz="1500">
                <a:solidFill>
                  <a:srgbClr val="222B33"/>
                </a:solidFill>
                <a:latin typeface="Microsoft YaHei"/>
              </a:rPr>
              <a:t>▪ 文件夹里的说明书多年不更新</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台账和说明书联动，应急更快</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案例：一次酸泄漏，应急人员几分钟拿到说明书</a:t>
            </a:r>
          </a:p>
          <a:p>
            <a:pPr>
              <a:spcAft>
                <a:spcPts val="1000"/>
              </a:spcAft>
            </a:pPr>
            <a:r>
              <a:rPr sz="2000">
                <a:solidFill>
                  <a:srgbClr val="222B33"/>
                </a:solidFill>
                <a:latin typeface="Microsoft YaHei"/>
              </a:rPr>
              <a:t>▪ 台账和说明书联动，一点就能调出</a:t>
            </a:r>
          </a:p>
          <a:p>
            <a:pPr>
              <a:spcAft>
                <a:spcPts val="1000"/>
              </a:spcAft>
            </a:pPr>
            <a:r>
              <a:rPr sz="2000">
                <a:solidFill>
                  <a:srgbClr val="222B33"/>
                </a:solidFill>
                <a:latin typeface="Microsoft YaHei"/>
              </a:rPr>
              <a:t>▪ 信息到得快，就抢回了时间</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一个案例：某实验室发生酸泄漏，应急人员赶到后，几分钟内就从化学品台账中调出了这种酸的说明书，按其中的泄漏应急和防护要求迅速处置。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台账和说明书分开放，事故时找不到对应关系</a:t>
            </a:r>
          </a:p>
          <a:p>
            <a:pPr>
              <a:spcAft>
                <a:spcPts val="1000"/>
              </a:spcAft>
            </a:pPr>
            <a:r>
              <a:rPr sz="1500">
                <a:solidFill>
                  <a:srgbClr val="222B33"/>
                </a:solidFill>
                <a:latin typeface="Microsoft YaHei"/>
              </a:rPr>
              <a:t>▪ 新试剂入账不上传说明书</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配方可保密，安全信息不能少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厂家可以对具体成分保密</a:t>
            </a:r>
          </a:p>
          <a:p>
            <a:pPr>
              <a:spcAft>
                <a:spcPts val="1000"/>
              </a:spcAft>
            </a:pPr>
            <a:r>
              <a:rPr sz="2000">
                <a:solidFill>
                  <a:srgbClr val="222B33"/>
                </a:solidFill>
                <a:latin typeface="Microsoft YaHei"/>
              </a:rPr>
              <a:t>▪ 危害、防护、急救信息一样不能少</a:t>
            </a:r>
          </a:p>
          <a:p>
            <a:pPr>
              <a:spcAft>
                <a:spcPts val="1000"/>
              </a:spcAft>
            </a:pPr>
            <a:r>
              <a:rPr sz="2000">
                <a:solidFill>
                  <a:srgbClr val="222B33"/>
                </a:solidFill>
                <a:latin typeface="Microsoft YaHei"/>
              </a:rPr>
              <a:t>▪ 急救需要成分时，厂家不能拒绝</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对于混合物，生产厂家可以对具体成分或配比作商业秘密处理，但危害、防护、急救、泄漏处置等安全信息必须完整写明，不能因为保密而省略。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说明书成分栏保密，就以为危害也不清楚</a:t>
            </a:r>
          </a:p>
          <a:p>
            <a:pPr>
              <a:spcAft>
                <a:spcPts val="1000"/>
              </a:spcAft>
            </a:pPr>
            <a:r>
              <a:rPr sz="1500">
                <a:solidFill>
                  <a:srgbClr val="222B33"/>
                </a:solidFill>
                <a:latin typeface="Microsoft YaHei"/>
              </a:rPr>
              <a:t>▪ 不知道可以拨打应急咨询电话</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说明书不是万能的，要会读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说明书写给很多人看，有些内容与实验室无关</a:t>
            </a:r>
          </a:p>
          <a:p>
            <a:pPr>
              <a:spcAft>
                <a:spcPts val="1000"/>
              </a:spcAft>
            </a:pPr>
            <a:r>
              <a:rPr sz="2000">
                <a:solidFill>
                  <a:srgbClr val="222B33"/>
                </a:solidFill>
                <a:latin typeface="Microsoft YaHei"/>
              </a:rPr>
              <a:t>▪ 也会有错误和遗漏，不同厂家写法不同</a:t>
            </a:r>
          </a:p>
          <a:p>
            <a:pPr>
              <a:spcAft>
                <a:spcPts val="1000"/>
              </a:spcAft>
            </a:pPr>
            <a:r>
              <a:rPr sz="2000">
                <a:solidFill>
                  <a:srgbClr val="222B33"/>
                </a:solidFill>
                <a:latin typeface="Microsoft YaHei"/>
              </a:rPr>
              <a:t>▪ 多方核对，不要只信一份</a:t>
            </a:r>
          </a:p>
          <a:p>
            <a:pPr>
              <a:spcAft>
                <a:spcPts val="1000"/>
              </a:spcAft>
            </a:pPr>
            <a:r>
              <a:rPr sz="2000">
                <a:solidFill>
                  <a:srgbClr val="222B33"/>
                </a:solidFill>
                <a:latin typeface="Microsoft YaHei"/>
              </a:rPr>
              <a:t>▪ 带着问题读，合理防护安全用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很有用，但不是万能的。它面向生产、运输、使用等很多类人群，有些内容（如大批量储运）与实验室小量使用关系不大；也可能有错误和遗漏，同一种化学品不同厂家写的可能不一样，有的话没错却帮不上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说明书上没写的风险就认为不存在</a:t>
            </a:r>
          </a:p>
          <a:p>
            <a:pPr>
              <a:spcAft>
                <a:spcPts val="1000"/>
              </a:spcAft>
            </a:pPr>
            <a:r>
              <a:rPr sz="1500">
                <a:solidFill>
                  <a:srgbClr val="222B33"/>
                </a:solidFill>
                <a:latin typeface="Microsoft YaHei"/>
              </a:rPr>
              <a:t>▪ 不同说明书说法不一时随便选一份</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化学品安全技术说明书的英文缩写，以及它的旧称是：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SOP，MSDS</a:t>
            </a:r>
          </a:p>
          <a:p>
            <a:pPr algn="l"/>
            <a:r>
              <a:rPr sz="1500" b="0">
                <a:solidFill>
                  <a:srgbClr val="222B33"/>
                </a:solidFill>
                <a:latin typeface="Microsoft YaHei"/>
              </a:rPr>
              <a:t>B. SDS，MSDS</a:t>
            </a:r>
          </a:p>
          <a:p>
            <a:pPr algn="l"/>
            <a:r>
              <a:rPr sz="1500" b="0">
                <a:solidFill>
                  <a:srgbClr val="222B33"/>
                </a:solidFill>
                <a:latin typeface="Microsoft YaHei"/>
              </a:rPr>
              <a:t>C. PPE，SDS</a:t>
            </a:r>
          </a:p>
          <a:p>
            <a:pPr algn="l"/>
            <a:r>
              <a:rPr sz="1500" b="0">
                <a:solidFill>
                  <a:srgbClr val="222B33"/>
                </a:solidFill>
                <a:latin typeface="Microsoft YaHei"/>
              </a:rPr>
              <a:t>D. GHS，SOP</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我国化学品安全技术说明书的内容和项目顺序依据：</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GB 2894-2025</a:t>
            </a:r>
          </a:p>
          <a:p>
            <a:pPr algn="l"/>
            <a:r>
              <a:rPr sz="1500" b="0">
                <a:solidFill>
                  <a:srgbClr val="222B33"/>
                </a:solidFill>
                <a:latin typeface="Microsoft YaHei"/>
              </a:rPr>
              <a:t>B. GB/T 16483-2008</a:t>
            </a:r>
          </a:p>
          <a:p>
            <a:pPr algn="l"/>
            <a:r>
              <a:rPr sz="1500" b="0">
                <a:solidFill>
                  <a:srgbClr val="222B33"/>
                </a:solidFill>
                <a:latin typeface="Microsoft YaHei"/>
              </a:rPr>
              <a:t>C. GB 13495.1-2015</a:t>
            </a:r>
          </a:p>
          <a:p>
            <a:pPr algn="l"/>
            <a:r>
              <a:rPr sz="1500" b="0">
                <a:solidFill>
                  <a:srgbClr val="222B33"/>
                </a:solidFill>
                <a:latin typeface="Microsoft YaHei"/>
              </a:rPr>
              <a:t>D. GB 6944-2025</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判断：商品试剂盒里的裂解液、洗液不是“化学品”，不需要查说明书。</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判断：说明书只要有电子版即可，不需要考虑停电断网的情况。</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040 · 安全技术说明书（SDS）概述</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040 安全技术说明书（SDS）概述</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说明书主要写给哪两类人？</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采购员和会计</a:t>
            </a:r>
          </a:p>
          <a:p>
            <a:pPr algn="l"/>
            <a:r>
              <a:rPr sz="1500" b="0">
                <a:solidFill>
                  <a:srgbClr val="222B33"/>
                </a:solidFill>
                <a:latin typeface="Microsoft YaHei"/>
              </a:rPr>
              <a:t>B. 使用者和应急救援人员</a:t>
            </a:r>
          </a:p>
          <a:p>
            <a:pPr algn="l"/>
            <a:r>
              <a:rPr sz="1500" b="0">
                <a:solidFill>
                  <a:srgbClr val="222B33"/>
                </a:solidFill>
                <a:latin typeface="Microsoft YaHei"/>
              </a:rPr>
              <a:t>C. 校领导和检查组</a:t>
            </a:r>
          </a:p>
          <a:p>
            <a:pPr algn="l"/>
            <a:r>
              <a:rPr sz="1500" b="0">
                <a:solidFill>
                  <a:srgbClr val="222B33"/>
                </a:solidFill>
                <a:latin typeface="Microsoft YaHei"/>
              </a:rPr>
              <a:t>D. 供应商和快递员</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简答：第一次使用一种新化学品前，应该怎样使用说明书？</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化学品天天用，危害各不同</a:t>
            </a:r>
          </a:p>
          <a:p>
            <a:pPr>
              <a:spcAft>
                <a:spcPts val="800"/>
              </a:spcAft>
            </a:pPr>
            <a:r>
              <a:rPr sz="1500">
                <a:solidFill>
                  <a:srgbClr val="FFFFFF"/>
                </a:solidFill>
                <a:latin typeface="Microsoft YaHei"/>
              </a:rPr>
              <a:t>▪ K2  安全用化学品，先问三个问题</a:t>
            </a:r>
          </a:p>
          <a:p>
            <a:pPr>
              <a:spcAft>
                <a:spcPts val="800"/>
              </a:spcAft>
            </a:pPr>
            <a:r>
              <a:rPr sz="1500">
                <a:solidFill>
                  <a:srgbClr val="FFFFFF"/>
                </a:solidFill>
                <a:latin typeface="Microsoft YaHei"/>
              </a:rPr>
              <a:t>▪ K3  SDS：化学品的身份档案</a:t>
            </a:r>
          </a:p>
          <a:p>
            <a:pPr>
              <a:spcAft>
                <a:spcPts val="800"/>
              </a:spcAft>
            </a:pPr>
            <a:r>
              <a:rPr sz="1500">
                <a:solidFill>
                  <a:srgbClr val="FFFFFF"/>
                </a:solidFill>
                <a:latin typeface="Microsoft YaHei"/>
              </a:rPr>
              <a:t>▪ K4  旧称MSDS，现在统一叫SDS</a:t>
            </a:r>
          </a:p>
          <a:p>
            <a:pPr>
              <a:spcAft>
                <a:spcPts val="800"/>
              </a:spcAft>
            </a:pPr>
            <a:r>
              <a:rPr sz="1500">
                <a:solidFill>
                  <a:srgbClr val="FFFFFF"/>
                </a:solidFill>
                <a:latin typeface="Microsoft YaHei"/>
              </a:rPr>
              <a:t>▪ K5  旧格式乱、难懂，才有了统一制度</a:t>
            </a:r>
          </a:p>
          <a:p>
            <a:pPr>
              <a:spcAft>
                <a:spcPts val="800"/>
              </a:spcAft>
            </a:pPr>
            <a:r>
              <a:rPr sz="1500">
                <a:solidFill>
                  <a:srgbClr val="FFFFFF"/>
                </a:solidFill>
                <a:latin typeface="Microsoft YaHei"/>
              </a:rPr>
              <a:t>▪ K6  依法必须提供：中文安全技术说明书</a:t>
            </a:r>
          </a:p>
          <a:p>
            <a:pPr>
              <a:spcAft>
                <a:spcPts val="800"/>
              </a:spcAft>
            </a:pPr>
            <a:r>
              <a:rPr sz="1500">
                <a:solidFill>
                  <a:srgbClr val="FFFFFF"/>
                </a:solidFill>
                <a:latin typeface="Microsoft YaHei"/>
              </a:rPr>
              <a:t>▪ K7  每种化学品都要有一份</a:t>
            </a:r>
          </a:p>
          <a:p>
            <a:pPr>
              <a:spcAft>
                <a:spcPts val="800"/>
              </a:spcAft>
            </a:pPr>
            <a:r>
              <a:rPr sz="1500">
                <a:solidFill>
                  <a:srgbClr val="FFFFFF"/>
                </a:solidFill>
                <a:latin typeface="Microsoft YaHei"/>
              </a:rPr>
              <a:t>▪ K8  写给两类人：使用者和救援者</a:t>
            </a:r>
          </a:p>
          <a:p>
            <a:pPr>
              <a:spcAft>
                <a:spcPts val="800"/>
              </a:spcAft>
            </a:pPr>
            <a:r>
              <a:rPr sz="1500">
                <a:solidFill>
                  <a:srgbClr val="FFFFFF"/>
                </a:solidFill>
                <a:latin typeface="Microsoft YaHei"/>
              </a:rPr>
              <a:t>▪ K9  告诉你怎么用、怎么存、怎么处置</a:t>
            </a:r>
          </a:p>
          <a:p>
            <a:pPr>
              <a:spcAft>
                <a:spcPts val="800"/>
              </a:spcAft>
            </a:pPr>
            <a:r>
              <a:rPr sz="1500">
                <a:solidFill>
                  <a:srgbClr val="FFFFFF"/>
                </a:solidFill>
                <a:latin typeface="Microsoft YaHei"/>
              </a:rPr>
              <a:t>▪ K10  讲清四类风险：健康、火灾、反应、环境</a:t>
            </a:r>
          </a:p>
          <a:p>
            <a:pPr>
              <a:spcAft>
                <a:spcPts val="800"/>
              </a:spcAft>
            </a:pPr>
            <a:r>
              <a:rPr sz="1500">
                <a:solidFill>
                  <a:srgbClr val="FFFFFF"/>
                </a:solidFill>
                <a:latin typeface="Microsoft YaHei"/>
              </a:rPr>
              <a:t>▪ K11  了解危害第一站，操作第一依据</a:t>
            </a:r>
          </a:p>
          <a:p>
            <a:pPr>
              <a:spcAft>
                <a:spcPts val="800"/>
              </a:spcAft>
            </a:pPr>
            <a:r>
              <a:rPr sz="1500">
                <a:solidFill>
                  <a:srgbClr val="FFFFFF"/>
                </a:solidFill>
                <a:latin typeface="Microsoft YaHei"/>
              </a:rPr>
              <a:t>▪ K12  十六个部分，顺序固定</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K13  识别危害两件工具：说明书和标签</a:t>
            </a:r>
          </a:p>
          <a:p>
            <a:pPr>
              <a:spcAft>
                <a:spcPts val="800"/>
              </a:spcAft>
            </a:pPr>
            <a:r>
              <a:rPr sz="1500">
                <a:solidFill>
                  <a:srgbClr val="FFFFFF"/>
                </a:solidFill>
                <a:latin typeface="Microsoft YaHei"/>
              </a:rPr>
              <a:t>▪ K14  标签是简版，说明书是详版</a:t>
            </a:r>
          </a:p>
          <a:p>
            <a:pPr>
              <a:spcAft>
                <a:spcPts val="800"/>
              </a:spcAft>
            </a:pPr>
            <a:r>
              <a:rPr sz="1500">
                <a:solidFill>
                  <a:srgbClr val="FFFFFF"/>
                </a:solidFill>
                <a:latin typeface="Microsoft YaHei"/>
              </a:rPr>
              <a:t>▪ K15  知道放在哪，先读再用</a:t>
            </a:r>
          </a:p>
          <a:p>
            <a:pPr>
              <a:spcAft>
                <a:spcPts val="800"/>
              </a:spcAft>
            </a:pPr>
            <a:r>
              <a:rPr sz="1500">
                <a:solidFill>
                  <a:srgbClr val="FFFFFF"/>
                </a:solidFill>
                <a:latin typeface="Microsoft YaHei"/>
              </a:rPr>
              <a:t>▪ K16  试剂盒、清洁剂、废液也要查</a:t>
            </a:r>
          </a:p>
          <a:p>
            <a:pPr>
              <a:spcAft>
                <a:spcPts val="800"/>
              </a:spcAft>
            </a:pPr>
            <a:r>
              <a:rPr sz="1500">
                <a:solidFill>
                  <a:srgbClr val="FFFFFF"/>
                </a:solidFill>
                <a:latin typeface="Microsoft YaHei"/>
              </a:rPr>
              <a:t>▪ K17  重点读几节，再做风险评估</a:t>
            </a:r>
          </a:p>
          <a:p>
            <a:pPr>
              <a:spcAft>
                <a:spcPts val="800"/>
              </a:spcAft>
            </a:pPr>
            <a:r>
              <a:rPr sz="1500">
                <a:solidFill>
                  <a:srgbClr val="FFFFFF"/>
                </a:solidFill>
                <a:latin typeface="Microsoft YaHei"/>
              </a:rPr>
              <a:t>▪ K18  采购索取中文SDS，不全不入库</a:t>
            </a:r>
          </a:p>
          <a:p>
            <a:pPr>
              <a:spcAft>
                <a:spcPts val="800"/>
              </a:spcAft>
            </a:pPr>
            <a:r>
              <a:rPr sz="1500">
                <a:solidFill>
                  <a:srgbClr val="FFFFFF"/>
                </a:solidFill>
                <a:latin typeface="Microsoft YaHei"/>
              </a:rPr>
              <a:t>▪ K19  放在使用场所，几分钟内能调出</a:t>
            </a:r>
          </a:p>
          <a:p>
            <a:pPr>
              <a:spcAft>
                <a:spcPts val="800"/>
              </a:spcAft>
            </a:pPr>
            <a:r>
              <a:rPr sz="1500">
                <a:solidFill>
                  <a:srgbClr val="FFFFFF"/>
                </a:solidFill>
                <a:latin typeface="Microsoft YaHei"/>
              </a:rPr>
              <a:t>▪ K20  说明书要对得上、版本要新</a:t>
            </a:r>
          </a:p>
          <a:p>
            <a:pPr>
              <a:spcAft>
                <a:spcPts val="800"/>
              </a:spcAft>
            </a:pPr>
            <a:r>
              <a:rPr sz="1500">
                <a:solidFill>
                  <a:srgbClr val="FFFFFF"/>
                </a:solidFill>
                <a:latin typeface="Microsoft YaHei"/>
              </a:rPr>
              <a:t>▪ K21  台账和说明书联动，应急更快</a:t>
            </a:r>
          </a:p>
          <a:p>
            <a:pPr>
              <a:spcAft>
                <a:spcPts val="800"/>
              </a:spcAft>
            </a:pPr>
            <a:r>
              <a:rPr sz="1500">
                <a:solidFill>
                  <a:srgbClr val="FFFFFF"/>
                </a:solidFill>
                <a:latin typeface="Microsoft YaHei"/>
              </a:rPr>
              <a:t>▪ K22  配方可保密，安全信息不能少</a:t>
            </a:r>
          </a:p>
          <a:p>
            <a:pPr>
              <a:spcAft>
                <a:spcPts val="800"/>
              </a:spcAft>
            </a:pPr>
            <a:r>
              <a:rPr sz="1500">
                <a:solidFill>
                  <a:srgbClr val="FFFFFF"/>
                </a:solidFill>
                <a:latin typeface="Microsoft YaHei"/>
              </a:rPr>
              <a:t>▪ K23  说明书不是万能的，要会读</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读懂SDS十六部分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8 分钟（卡通视频 97 镜）　适用对象：全体使用化学品的高校本科生、研究生和教职工（必修）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能说出化学品安全技术说明书十六个部分的名称和固定顺序，以及按“四个问题”分组查阅的方法。</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能做到使用化学品前先读第 1–8 部分，核对名称、CAS 号和浓度，找到急救、泄漏、储存和个体防护要求。</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能判断第 9–11 部分的理化、反应性和毒理信息对操作的意义（闪点、禁配物、急慢性毒性），知道“无数据”不等于安全。</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能说出第 12–16 部分（生态、废弃、运输、法规、其他信息）的用途，并会查修订日期。</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日起施行）及《危险化学品安全管理条例》（以现行文本为准）：危险化学品附中文化学品安全技术说明书和安全标签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内容和项目顺序》：十六个部分的名称和顺序</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17519-2013（以现行文本为准）《化学品安全技术说明书编写指南》：各部分应写的内容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系列（以现行文本为准）《化学品分类和标签规范》：危险性分类、信号词、危险说明、防范说明、象形图</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2.1（以现行文本为准）《工作场所有害因素职业接触限值 第1部分：化学有害因素》：国内职业接触限值</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6944-2025、GB 12268-2025（以现行文本为准）《危险货物分类和品名编号》《危险货物品名表》：运输信息</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《国家危险废物名录》（以现行文本为准）：危险废物分类收集，不得倒入下水道</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号，以现行文本为准）：使用化学品前查阅安全技术说明书、开展风险评估</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统一格式：十六部分，顺序固定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说明书一共十六个部分，顺序固定</a:t>
            </a:r>
          </a:p>
          <a:p>
            <a:pPr>
              <a:spcAft>
                <a:spcPts val="1000"/>
              </a:spcAft>
            </a:pPr>
            <a:r>
              <a:rPr sz="1700">
                <a:solidFill>
                  <a:srgbClr val="222B33"/>
                </a:solidFill>
                <a:latin typeface="Microsoft YaHei"/>
              </a:rPr>
              <a:t>▪ 格式按全球统一制度和 GB/T 16483、GB/T 17519</a:t>
            </a:r>
          </a:p>
          <a:p>
            <a:pPr>
              <a:spcAft>
                <a:spcPts val="1000"/>
              </a:spcAft>
            </a:pPr>
            <a:r>
              <a:rPr sz="1700">
                <a:solidFill>
                  <a:srgbClr val="222B33"/>
                </a:solidFill>
                <a:latin typeface="Microsoft YaHei"/>
              </a:rPr>
              <a:t>▪ 不论哪家的说明书，同一项都在同一处</a:t>
            </a:r>
          </a:p>
          <a:p>
            <a:pPr>
              <a:spcAft>
                <a:spcPts val="1000"/>
              </a:spcAft>
            </a:pPr>
            <a:r>
              <a:rPr sz="1700">
                <a:solidFill>
                  <a:srgbClr val="222B33"/>
                </a:solidFill>
                <a:latin typeface="Microsoft YaHei"/>
              </a:rPr>
              <a:t>▪ 标签像字母表，说明书就是字典</a:t>
            </a:r>
          </a:p>
          <a:p>
            <a:pPr>
              <a:spcAft>
                <a:spcPts val="1000"/>
              </a:spcAft>
            </a:pPr>
            <a:r>
              <a:rPr sz="1700">
                <a:solidFill>
                  <a:srgbClr val="222B33"/>
                </a:solidFill>
                <a:latin typeface="Microsoft YaHei"/>
              </a:rPr>
              <a:t>▪ 急救、泄漏、储存、防护，用前先看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化学品安全技术说明书按联合国全球化学品统一分类和标签制度编写，我国的内容和顺序由 GB/T 16483-2008 规定、编写方法见 GB/T 17519-2013：一律分为十六个部分，名称和顺序固定。因此不论哪个供应……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每次从头到尾乱翻，不知道要查的信息在第几部分</a:t>
            </a:r>
          </a:p>
          <a:p>
            <a:pPr>
              <a:spcAft>
                <a:spcPts val="1000"/>
              </a:spcAft>
            </a:pPr>
            <a:r>
              <a:rPr sz="1500">
                <a:solidFill>
                  <a:srgbClr val="222B33"/>
                </a:solidFill>
                <a:latin typeface="Microsoft YaHei"/>
              </a:rPr>
              <a:t>▪ 只看标签，从不打开说明书</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和旧版比：第2、3部分换了位置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现行格式和旧版说明书很像</a:t>
            </a:r>
          </a:p>
          <a:p>
            <a:pPr>
              <a:spcAft>
                <a:spcPts val="1000"/>
              </a:spcAft>
            </a:pPr>
            <a:r>
              <a:rPr sz="2000">
                <a:solidFill>
                  <a:srgbClr val="222B33"/>
                </a:solidFill>
                <a:latin typeface="Microsoft YaHei"/>
              </a:rPr>
              <a:t>▪ 旧版第 2 部分是成分，第 3 部分是危险性</a:t>
            </a:r>
          </a:p>
          <a:p>
            <a:pPr>
              <a:spcAft>
                <a:spcPts val="1000"/>
              </a:spcAft>
            </a:pPr>
            <a:r>
              <a:rPr sz="2000">
                <a:solidFill>
                  <a:srgbClr val="222B33"/>
                </a:solidFill>
                <a:latin typeface="Microsoft YaHei"/>
              </a:rPr>
              <a:t>▪ 现行：第 2 部分危险性概述，第 3 部分成分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现行十六部分格式和过去的旧版说明书大体相近，主要区别是第 2、3 部分换了位置：旧版先写成分、后写危险性，现行版把“危险性概述”提到第 2 部分，让读者先看到危害，再看成分。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拿着旧版说明书按新顺序找，把成分当成危险性</a:t>
            </a:r>
          </a:p>
          <a:p>
            <a:pPr>
              <a:spcAft>
                <a:spcPts val="1000"/>
              </a:spcAft>
            </a:pPr>
            <a:r>
              <a:rPr sz="1500">
                <a:solidFill>
                  <a:srgbClr val="222B33"/>
                </a:solidFill>
                <a:latin typeface="Microsoft YaHei"/>
              </a:rPr>
              <a:t>▪ 长期使用旧格式说明书不更新</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按需排序：四个问题分组查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内容按需要的先后排列，技术数据放后面</a:t>
            </a:r>
          </a:p>
          <a:p>
            <a:pPr>
              <a:spcAft>
                <a:spcPts val="1000"/>
              </a:spcAft>
            </a:pPr>
            <a:r>
              <a:rPr sz="1700">
                <a:solidFill>
                  <a:srgbClr val="222B33"/>
                </a:solidFill>
                <a:latin typeface="Microsoft YaHei"/>
              </a:rPr>
              <a:t>▪ 1–3：是什么，有什么危害</a:t>
            </a:r>
          </a:p>
          <a:p>
            <a:pPr>
              <a:spcAft>
                <a:spcPts val="1000"/>
              </a:spcAft>
            </a:pPr>
            <a:r>
              <a:rPr sz="1700">
                <a:solidFill>
                  <a:srgbClr val="222B33"/>
                </a:solidFill>
                <a:latin typeface="Microsoft YaHei"/>
              </a:rPr>
              <a:t>▪ 4–6：出了问题怎么办（急救、消防、泄漏）</a:t>
            </a:r>
          </a:p>
          <a:p>
            <a:pPr>
              <a:spcAft>
                <a:spcPts val="1000"/>
              </a:spcAft>
            </a:pPr>
            <a:r>
              <a:rPr sz="1700">
                <a:solidFill>
                  <a:srgbClr val="222B33"/>
                </a:solidFill>
                <a:latin typeface="Microsoft YaHei"/>
              </a:rPr>
              <a:t>▪ 7–10：怎样预防（操作储存、防护、性质反应）</a:t>
            </a:r>
          </a:p>
          <a:p>
            <a:pPr>
              <a:spcAft>
                <a:spcPts val="1000"/>
              </a:spcAft>
            </a:pPr>
            <a:r>
              <a:rPr sz="1700">
                <a:solidFill>
                  <a:srgbClr val="222B33"/>
                </a:solidFill>
                <a:latin typeface="Microsoft YaHei"/>
              </a:rPr>
              <a:t>▪ 11–16：还要知道什么，写规程常用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十六部分不是随意排列的，而是按“需要的先后”：最前面是最急需、最好懂的信息（是什么、有什么危害、怎么急救），接着是防护措施，专业的技术数据放在后面。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只看第 1–3 部分就开始操作，不看应急和防护</a:t>
            </a:r>
          </a:p>
          <a:p>
            <a:pPr>
              <a:spcAft>
                <a:spcPts val="1000"/>
              </a:spcAft>
            </a:pPr>
            <a:r>
              <a:rPr sz="1500">
                <a:solidFill>
                  <a:srgbClr val="222B33"/>
                </a:solidFill>
                <a:latin typeface="Microsoft YaHei"/>
              </a:rPr>
              <a:t>▪ 认为第 11–16 部分“没用”，从不浏览</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第1部分：认准是哪种化学品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先确认说明书就是手中这种化学品</a:t>
            </a:r>
          </a:p>
          <a:p>
            <a:pPr>
              <a:spcAft>
                <a:spcPts val="1000"/>
              </a:spcAft>
            </a:pPr>
            <a:r>
              <a:rPr sz="2000">
                <a:solidFill>
                  <a:srgbClr val="222B33"/>
                </a:solidFill>
                <a:latin typeface="Microsoft YaHei"/>
              </a:rPr>
              <a:t>▪ 名称要和瓶上标签一致</a:t>
            </a:r>
          </a:p>
          <a:p>
            <a:pPr>
              <a:spcAft>
                <a:spcPts val="1000"/>
              </a:spcAft>
            </a:pPr>
            <a:r>
              <a:rPr sz="2000">
                <a:solidFill>
                  <a:srgbClr val="222B33"/>
                </a:solidFill>
                <a:latin typeface="Microsoft YaHei"/>
              </a:rPr>
              <a:t>▪ 同一物质常有多个名字，CAS 号唯一</a:t>
            </a:r>
          </a:p>
          <a:p>
            <a:pPr>
              <a:spcAft>
                <a:spcPts val="1000"/>
              </a:spcAft>
            </a:pPr>
            <a:r>
              <a:rPr sz="2000">
                <a:solidFill>
                  <a:srgbClr val="222B33"/>
                </a:solidFill>
                <a:latin typeface="Microsoft YaHei"/>
              </a:rPr>
              <a:t>▪ 浓度也要对上，浓的不能查稀的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 部分“化学品及企业标识”首先写明物质或混合物的名称。读说明书的第一步，就是确认它和手中的试剂是同一种：名称要和瓶上标签一致。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只凭名字相似就认为是同一种化学品</a:t>
            </a:r>
          </a:p>
          <a:p>
            <a:pPr>
              <a:spcAft>
                <a:spcPts val="1000"/>
              </a:spcAft>
            </a:pPr>
            <a:r>
              <a:rPr sz="1500">
                <a:solidFill>
                  <a:srgbClr val="222B33"/>
                </a:solidFill>
                <a:latin typeface="Microsoft YaHei"/>
              </a:rPr>
              <a:t>▪ 用低浓度的说明书代替高浓度试剂</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第1部分：推荐用途和供应商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推荐用途：它本来是做什么用的</a:t>
            </a:r>
          </a:p>
          <a:p>
            <a:pPr>
              <a:spcAft>
                <a:spcPts val="1000"/>
              </a:spcAft>
            </a:pPr>
            <a:r>
              <a:rPr sz="2000">
                <a:solidFill>
                  <a:srgbClr val="222B33"/>
                </a:solidFill>
                <a:latin typeface="Microsoft YaHei"/>
              </a:rPr>
              <a:t>▪ 用途之外的用法，先问导师和负责人</a:t>
            </a:r>
          </a:p>
          <a:p>
            <a:pPr>
              <a:spcAft>
                <a:spcPts val="1000"/>
              </a:spcAft>
            </a:pPr>
            <a:r>
              <a:rPr sz="2000">
                <a:solidFill>
                  <a:srgbClr val="222B33"/>
                </a:solidFill>
                <a:latin typeface="Microsoft YaHei"/>
              </a:rPr>
              <a:t>▪ 有供应商名称、地址、电话</a:t>
            </a:r>
          </a:p>
          <a:p>
            <a:pPr>
              <a:spcAft>
                <a:spcPts val="1000"/>
              </a:spcAft>
            </a:pPr>
            <a:r>
              <a:rPr sz="2000">
                <a:solidFill>
                  <a:srgbClr val="222B33"/>
                </a:solidFill>
                <a:latin typeface="Microsoft YaHei"/>
              </a:rPr>
              <a:t>▪ 可能还有应急咨询电话</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 部分还写明化学品的推荐用途和限制用途。实验中如果要把它用在推荐用途之外，要先问清楚导师和实验室负责人，评估新的风险后再做。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未经评估就把化学品挪作他用</a:t>
            </a:r>
          </a:p>
          <a:p>
            <a:pPr>
              <a:spcAft>
                <a:spcPts val="1000"/>
              </a:spcAft>
            </a:pPr>
            <a:r>
              <a:rPr sz="1500">
                <a:solidFill>
                  <a:srgbClr val="222B33"/>
                </a:solidFill>
                <a:latin typeface="Microsoft YaHei"/>
              </a:rPr>
              <a:t>▪ 事故时只找厂家，不按程序报告</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第2部分：危险性概述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先按统一规则分类，如腐蚀、易燃</a:t>
            </a:r>
          </a:p>
          <a:p>
            <a:pPr>
              <a:spcAft>
                <a:spcPts val="1000"/>
              </a:spcAft>
            </a:pPr>
            <a:r>
              <a:rPr sz="2000">
                <a:solidFill>
                  <a:srgbClr val="222B33"/>
                </a:solidFill>
                <a:latin typeface="Microsoft YaHei"/>
              </a:rPr>
              <a:t>▪ 标签要素：信号词、危险说明、防范说明</a:t>
            </a:r>
          </a:p>
          <a:p>
            <a:pPr>
              <a:spcAft>
                <a:spcPts val="1000"/>
              </a:spcAft>
            </a:pPr>
            <a:r>
              <a:rPr sz="2000">
                <a:solidFill>
                  <a:srgbClr val="222B33"/>
                </a:solidFill>
                <a:latin typeface="Microsoft YaHei"/>
              </a:rPr>
              <a:t>▪ “危险”比“警告”更严重</a:t>
            </a:r>
          </a:p>
          <a:p>
            <a:pPr>
              <a:spcAft>
                <a:spcPts val="1000"/>
              </a:spcAft>
            </a:pPr>
            <a:r>
              <a:rPr sz="2000">
                <a:solidFill>
                  <a:srgbClr val="222B33"/>
                </a:solidFill>
                <a:latin typeface="Microsoft YaHei"/>
              </a:rPr>
              <a:t>▪ 象形图和瓶上标签的一样</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2 部分“危险性概述”先给出按统一规则（我国为 GB 30000 系列）得出的危险性分类，比如皮肤腐蚀、易燃液体。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把“警告”当成“没什么危险”</a:t>
            </a:r>
          </a:p>
          <a:p>
            <a:pPr>
              <a:spcAft>
                <a:spcPts val="1000"/>
              </a:spcAft>
            </a:pPr>
            <a:r>
              <a:rPr sz="1500">
                <a:solidFill>
                  <a:srgbClr val="222B33"/>
                </a:solidFill>
                <a:latin typeface="Microsoft YaHei"/>
              </a:rPr>
              <a:t>▪ 说明书和标签象形图不一致也不报告</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例：氢氧化钠，信号词“危险”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氢氧化钠的信号词是“危险”</a:t>
            </a:r>
          </a:p>
          <a:p>
            <a:pPr>
              <a:spcAft>
                <a:spcPts val="1000"/>
              </a:spcAft>
            </a:pPr>
            <a:r>
              <a:rPr sz="2000">
                <a:solidFill>
                  <a:srgbClr val="222B33"/>
                </a:solidFill>
                <a:latin typeface="Microsoft YaHei"/>
              </a:rPr>
              <a:t>▪ 会造成严重皮肤灼伤和眼损伤</a:t>
            </a:r>
          </a:p>
          <a:p>
            <a:pPr>
              <a:spcAft>
                <a:spcPts val="1000"/>
              </a:spcAft>
            </a:pPr>
            <a:r>
              <a:rPr sz="2000">
                <a:solidFill>
                  <a:srgbClr val="222B33"/>
                </a:solidFill>
                <a:latin typeface="Microsoft YaHei"/>
              </a:rPr>
              <a:t>▪ 不能徒手拿，要戴防护</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以常用试剂氢氧化钠为例：说明书第 2 部分显示它的信号词是“危险”，带腐蚀象形图，危险说明为会造成严重的皮肤灼伤和眼损伤。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徒手抓取氢氧化钠颗粒</a:t>
            </a:r>
          </a:p>
          <a:p>
            <a:pPr>
              <a:spcAft>
                <a:spcPts val="1000"/>
              </a:spcAft>
            </a:pPr>
            <a:r>
              <a:rPr sz="1500">
                <a:solidFill>
                  <a:srgbClr val="222B33"/>
                </a:solidFill>
                <a:latin typeface="Microsoft YaHei"/>
              </a:rPr>
              <a:t>▪ 认为常用试剂危险性小</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第3部分：成分和浓度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写化学名、俗名和登记编号</a:t>
            </a:r>
          </a:p>
          <a:p>
            <a:pPr>
              <a:spcAft>
                <a:spcPts val="1000"/>
              </a:spcAft>
            </a:pPr>
            <a:r>
              <a:rPr sz="2000">
                <a:solidFill>
                  <a:srgbClr val="222B33"/>
                </a:solidFill>
                <a:latin typeface="Microsoft YaHei"/>
              </a:rPr>
              <a:t>▪ 纯物质写明化学组成</a:t>
            </a:r>
          </a:p>
          <a:p>
            <a:pPr>
              <a:spcAft>
                <a:spcPts val="1000"/>
              </a:spcAft>
            </a:pPr>
            <a:r>
              <a:rPr sz="2000">
                <a:solidFill>
                  <a:srgbClr val="222B33"/>
                </a:solidFill>
                <a:latin typeface="Microsoft YaHei"/>
              </a:rPr>
              <a:t>▪ 混合物列出各成分和浓度，危害一看便知</a:t>
            </a:r>
          </a:p>
          <a:p>
            <a:pPr>
              <a:spcAft>
                <a:spcPts val="1000"/>
              </a:spcAft>
            </a:pPr>
            <a:r>
              <a:rPr sz="2000">
                <a:solidFill>
                  <a:srgbClr val="222B33"/>
                </a:solidFill>
                <a:latin typeface="Microsoft YaHei"/>
              </a:rPr>
              <a:t>▪ 配成溶液后，浓度要另外标明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3 部分“成分/组成信息”对纯物质写明其化学名称、俗名和 CAS 号等识别号；对混合物则列出每种危险成分及其浓度或浓度范围，哪种成分带来危害一看便知。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自配溶液不标浓度</a:t>
            </a:r>
          </a:p>
          <a:p>
            <a:pPr>
              <a:spcAft>
                <a:spcPts val="1000"/>
              </a:spcAft>
            </a:pPr>
            <a:r>
              <a:rPr sz="1500">
                <a:solidFill>
                  <a:srgbClr val="222B33"/>
                </a:solidFill>
                <a:latin typeface="Microsoft YaHei"/>
              </a:rPr>
              <a:t>▪ 只看主成分，忽略混合物里的少量危险成分</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第4部分：按接触途径急救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4 部分按接触途径分别写急救方法</a:t>
            </a:r>
          </a:p>
          <a:p>
            <a:pPr>
              <a:spcAft>
                <a:spcPts val="1000"/>
              </a:spcAft>
            </a:pPr>
            <a:r>
              <a:rPr sz="2000">
                <a:solidFill>
                  <a:srgbClr val="222B33"/>
                </a:solidFill>
                <a:latin typeface="Microsoft YaHei"/>
              </a:rPr>
              <a:t>▪ 途径：吸入、皮肤接触、食入、眼睛接触</a:t>
            </a:r>
          </a:p>
          <a:p>
            <a:pPr>
              <a:spcAft>
                <a:spcPts val="1000"/>
              </a:spcAft>
            </a:pPr>
            <a:r>
              <a:rPr sz="2000">
                <a:solidFill>
                  <a:srgbClr val="222B33"/>
                </a:solidFill>
                <a:latin typeface="Microsoft YaHei"/>
              </a:rPr>
              <a:t>▪ 沾到皮肤：脱去污染衣物，冲洗后就医</a:t>
            </a:r>
          </a:p>
          <a:p>
            <a:pPr>
              <a:spcAft>
                <a:spcPts val="1000"/>
              </a:spcAft>
            </a:pPr>
            <a:r>
              <a:rPr sz="2000">
                <a:solidFill>
                  <a:srgbClr val="222B33"/>
                </a:solidFill>
                <a:latin typeface="Microsoft YaHei"/>
              </a:rPr>
              <a:t>▪ 溅入眼睛：立即用大量清水冲洗，再就医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4 部分“急救措施”按不同接触途径分别给出急救方法。想一种化学品会怎样伤人，先想这几条路：吸入、皮肤接触、食入、眼睛接触（暴露途径详见第 042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不同途径用同一种处理方法</a:t>
            </a:r>
          </a:p>
          <a:p>
            <a:pPr>
              <a:spcAft>
                <a:spcPts val="1000"/>
              </a:spcAft>
            </a:pPr>
            <a:r>
              <a:rPr sz="1500">
                <a:solidFill>
                  <a:srgbClr val="222B33"/>
                </a:solidFill>
                <a:latin typeface="Microsoft YaHei"/>
              </a:rPr>
              <a:t>▪ 眼睛溅入后先揉眼或冲一下就停</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第4部分：症状和何时就医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写明可能出现的症状和效应</a:t>
            </a:r>
          </a:p>
          <a:p>
            <a:pPr>
              <a:spcAft>
                <a:spcPts val="1000"/>
              </a:spcAft>
            </a:pPr>
            <a:r>
              <a:rPr sz="2000">
                <a:solidFill>
                  <a:srgbClr val="222B33"/>
                </a:solidFill>
                <a:latin typeface="Microsoft YaHei"/>
              </a:rPr>
              <a:t>▪ 知道症状，才能及早发现暴露</a:t>
            </a:r>
          </a:p>
          <a:p>
            <a:pPr>
              <a:spcAft>
                <a:spcPts val="1000"/>
              </a:spcAft>
            </a:pPr>
            <a:r>
              <a:rPr sz="2000">
                <a:solidFill>
                  <a:srgbClr val="222B33"/>
                </a:solidFill>
                <a:latin typeface="Microsoft YaHei"/>
              </a:rPr>
              <a:t>▪ 写明哪些情况须立即就医</a:t>
            </a:r>
          </a:p>
          <a:p>
            <a:pPr>
              <a:spcAft>
                <a:spcPts val="1000"/>
              </a:spcAft>
            </a:pPr>
            <a:r>
              <a:rPr sz="2000">
                <a:solidFill>
                  <a:srgbClr val="222B33"/>
                </a:solidFill>
                <a:latin typeface="Microsoft YaHei"/>
              </a:rPr>
              <a:t>▪ 就医同时报告实验室负责人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4 部分还写明接触后可能出现的症状和效应（如刺激、灼伤、咳嗽、头晕），帮助判断有没有人受到暴露、是急性还是迟发的反应。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有症状也自认为“没事”，不就医不报告</a:t>
            </a:r>
          </a:p>
          <a:p>
            <a:pPr>
              <a:spcAft>
                <a:spcPts val="1000"/>
              </a:spcAft>
            </a:pPr>
            <a:r>
              <a:rPr sz="1500">
                <a:solidFill>
                  <a:srgbClr val="222B33"/>
                </a:solidFill>
                <a:latin typeface="Microsoft YaHei"/>
              </a:rPr>
              <a:t>▪ 送医时不带说明书，医生不知道接触了什么</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例：误食碱，不催吐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误食氢氧化钠，不要催吐</a:t>
            </a:r>
          </a:p>
          <a:p>
            <a:pPr>
              <a:spcAft>
                <a:spcPts val="1000"/>
              </a:spcAft>
            </a:pPr>
            <a:r>
              <a:rPr sz="2000">
                <a:solidFill>
                  <a:srgbClr val="222B33"/>
                </a:solidFill>
                <a:latin typeface="Microsoft YaHei"/>
              </a:rPr>
              <a:t>▪ 漱口，并立即送医</a:t>
            </a:r>
          </a:p>
          <a:p>
            <a:pPr>
              <a:spcAft>
                <a:spcPts val="1000"/>
              </a:spcAft>
            </a:pPr>
            <a:r>
              <a:rPr sz="2000">
                <a:solidFill>
                  <a:srgbClr val="222B33"/>
                </a:solidFill>
                <a:latin typeface="Microsoft YaHei"/>
              </a:rPr>
              <a:t>▪ 最好的预防：实验室内不吃不喝</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仍以氢氧化钠为例：说明书第 4 部分写明，误食后不要催吐，因为腐蚀性物质催吐会再次灼伤食道；应漱口并立即送医。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误食腐蚀品后自行催吐</a:t>
            </a:r>
          </a:p>
          <a:p>
            <a:pPr>
              <a:spcAft>
                <a:spcPts val="1000"/>
              </a:spcAft>
            </a:pPr>
            <a:r>
              <a:rPr sz="1500">
                <a:solidFill>
                  <a:srgbClr val="222B33"/>
                </a:solidFill>
                <a:latin typeface="Microsoft YaHei"/>
              </a:rPr>
              <a:t>▪ 在实验台上吃东西、喝水</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用前先读急救，找到洗眼器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使用前就先读第 4 部分</a:t>
            </a:r>
          </a:p>
          <a:p>
            <a:pPr>
              <a:spcAft>
                <a:spcPts val="1000"/>
              </a:spcAft>
            </a:pPr>
            <a:r>
              <a:rPr sz="2000">
                <a:solidFill>
                  <a:srgbClr val="222B33"/>
                </a:solidFill>
                <a:latin typeface="Microsoft YaHei"/>
              </a:rPr>
              <a:t>▪ 知道急救箱在哪里</a:t>
            </a:r>
          </a:p>
          <a:p>
            <a:pPr>
              <a:spcAft>
                <a:spcPts val="1000"/>
              </a:spcAft>
            </a:pPr>
            <a:r>
              <a:rPr sz="2000">
                <a:solidFill>
                  <a:srgbClr val="222B33"/>
                </a:solidFill>
                <a:latin typeface="Microsoft YaHei"/>
              </a:rPr>
              <a:t>▪ 知道洗眼器和紧急喷淋在哪里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急救信息要在事故发生前就读过：事故发生时没有时间慢慢查。使用一种化学品之前，先读第 4 部分，明确各种接触途径下怎么处理。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出事后才第一次翻说明书</a:t>
            </a:r>
          </a:p>
          <a:p>
            <a:pPr>
              <a:spcAft>
                <a:spcPts val="1000"/>
              </a:spcAft>
            </a:pPr>
            <a:r>
              <a:rPr sz="1500">
                <a:solidFill>
                  <a:srgbClr val="222B33"/>
                </a:solidFill>
                <a:latin typeface="Microsoft YaHei"/>
              </a:rPr>
              <a:t>▪ 不知道洗眼器在哪里</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第5部分：灭火剂和特别危险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写明适用的灭火剂，如水、泡沫、干粉、二氧化碳</a:t>
            </a:r>
          </a:p>
          <a:p>
            <a:pPr>
              <a:spcAft>
                <a:spcPts val="1000"/>
              </a:spcAft>
            </a:pPr>
            <a:r>
              <a:rPr sz="2000">
                <a:solidFill>
                  <a:srgbClr val="222B33"/>
                </a:solidFill>
                <a:latin typeface="Microsoft YaHei"/>
              </a:rPr>
              <a:t>▪ 有的遇水反应，不能用水</a:t>
            </a:r>
          </a:p>
          <a:p>
            <a:pPr>
              <a:spcAft>
                <a:spcPts val="1000"/>
              </a:spcAft>
            </a:pPr>
            <a:r>
              <a:rPr sz="2000">
                <a:solidFill>
                  <a:srgbClr val="222B33"/>
                </a:solidFill>
                <a:latin typeface="Microsoft YaHei"/>
              </a:rPr>
              <a:t>▪ 用错灭火剂，会火上浇油</a:t>
            </a:r>
          </a:p>
          <a:p>
            <a:pPr>
              <a:spcAft>
                <a:spcPts val="1000"/>
              </a:spcAft>
            </a:pPr>
            <a:r>
              <a:rPr sz="2000">
                <a:solidFill>
                  <a:srgbClr val="222B33"/>
                </a:solidFill>
                <a:latin typeface="Microsoft YaHei"/>
              </a:rPr>
              <a:t>▪ 特别危险：有毒烟气、容器爆裂</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5 部分“消防措施”首先写明适用和不适用的灭火剂，如水、泡沫、干粉、二氧化碳。有的化学品遇水会剧烈反应，绝不能用水灭火；用错灭火剂会使火势扩大。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不分化学品一律用水灭火</a:t>
            </a:r>
          </a:p>
          <a:p>
            <a:pPr>
              <a:spcAft>
                <a:spcPts val="1000"/>
              </a:spcAft>
            </a:pPr>
            <a:r>
              <a:rPr sz="1500">
                <a:solidFill>
                  <a:srgbClr val="222B33"/>
                </a:solidFill>
                <a:latin typeface="Microsoft YaHei"/>
              </a:rPr>
              <a:t>▪ 不知道燃烧会产生有毒烟气，靠近扑救</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第5部分：消防防护，说明书交救援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写明灭火策略和消防人员需要的防护</a:t>
            </a:r>
          </a:p>
          <a:p>
            <a:pPr>
              <a:spcAft>
                <a:spcPts val="1000"/>
              </a:spcAft>
            </a:pPr>
            <a:r>
              <a:rPr sz="2000">
                <a:solidFill>
                  <a:srgbClr val="222B33"/>
                </a:solidFill>
                <a:latin typeface="Microsoft YaHei"/>
              </a:rPr>
              <a:t>▪ 火警时，把说明书交给救援人员</a:t>
            </a:r>
          </a:p>
          <a:p>
            <a:pPr>
              <a:spcAft>
                <a:spcPts val="1000"/>
              </a:spcAft>
            </a:pPr>
            <a:r>
              <a:rPr sz="2000">
                <a:solidFill>
                  <a:srgbClr val="222B33"/>
                </a:solidFill>
                <a:latin typeface="Microsoft YaHei"/>
              </a:rPr>
              <a:t>▪ 例：氢氧化钠不燃，遇某些金属放出氢气</a:t>
            </a:r>
          </a:p>
          <a:p>
            <a:pPr>
              <a:spcAft>
                <a:spcPts val="1000"/>
              </a:spcAft>
            </a:pPr>
            <a:r>
              <a:rPr sz="2000">
                <a:solidFill>
                  <a:srgbClr val="222B33"/>
                </a:solidFill>
                <a:latin typeface="Microsoft YaHei"/>
              </a:rPr>
              <a:t>▪ 火场中可用水雾冷却容器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5 部分还写明灭火的基本策略和消防人员需要的防护装备（如全套防护服和空气呼吸器）。这些是给专业救援人员的：发生火灾时，实验人员按本校应急程序撤离、报警（119），并把相关化学品的说明书交给赶到的救援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实验人员穿着实验服冒险扑救大火</a:t>
            </a:r>
          </a:p>
          <a:p>
            <a:pPr>
              <a:spcAft>
                <a:spcPts val="1000"/>
              </a:spcAft>
            </a:pPr>
            <a:r>
              <a:rPr sz="1500">
                <a:solidFill>
                  <a:srgbClr val="222B33"/>
                </a:solidFill>
                <a:latin typeface="Microsoft YaHei"/>
              </a:rPr>
              <a:t>▪ 救援人员到场时说不清有哪些化学品</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第6部分：泄漏应急处理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先保护自己：穿戴好防护用品</a:t>
            </a:r>
          </a:p>
          <a:p>
            <a:pPr>
              <a:spcAft>
                <a:spcPts val="1000"/>
              </a:spcAft>
            </a:pPr>
            <a:r>
              <a:rPr sz="2000">
                <a:solidFill>
                  <a:srgbClr val="222B33"/>
                </a:solidFill>
                <a:latin typeface="Microsoft YaHei"/>
              </a:rPr>
              <a:t>▪ 让无关人员离开</a:t>
            </a:r>
          </a:p>
          <a:p>
            <a:pPr>
              <a:spcAft>
                <a:spcPts val="1000"/>
              </a:spcAft>
            </a:pPr>
            <a:r>
              <a:rPr sz="2000">
                <a:solidFill>
                  <a:srgbClr val="222B33"/>
                </a:solidFill>
                <a:latin typeface="Microsoft YaHei"/>
              </a:rPr>
              <a:t>▪ 先围堵，再按说明书吸收、收集</a:t>
            </a:r>
          </a:p>
          <a:p>
            <a:pPr>
              <a:spcAft>
                <a:spcPts val="1000"/>
              </a:spcAft>
            </a:pPr>
            <a:r>
              <a:rPr sz="2000">
                <a:solidFill>
                  <a:srgbClr val="222B33"/>
                </a:solidFill>
                <a:latin typeface="Microsoft YaHei"/>
              </a:rPr>
              <a:t>▪ 装入化学废物容器，不冲下水道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6 部分“泄漏应急处理”先写人员防护：处理者穿戴好说明书要求的防护用品，无关人员撤离。再写环境保护措施：防止泄漏物流入下水道和水体。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不戴防护就去擦拭泄漏物</a:t>
            </a:r>
          </a:p>
          <a:p>
            <a:pPr>
              <a:spcAft>
                <a:spcPts val="1000"/>
              </a:spcAft>
            </a:pPr>
            <a:r>
              <a:rPr sz="1500">
                <a:solidFill>
                  <a:srgbClr val="222B33"/>
                </a:solidFill>
                <a:latin typeface="Microsoft YaHei"/>
              </a:rPr>
              <a:t>▪ 用水把泄漏物冲进下水道</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第7部分：操作处置与储存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避免接触眼睛、皮肤和衣物</a:t>
            </a:r>
          </a:p>
          <a:p>
            <a:pPr>
              <a:spcAft>
                <a:spcPts val="1000"/>
              </a:spcAft>
            </a:pPr>
            <a:r>
              <a:rPr sz="2000">
                <a:solidFill>
                  <a:srgbClr val="222B33"/>
                </a:solidFill>
                <a:latin typeface="Microsoft YaHei"/>
              </a:rPr>
              <a:t>▪ 避免吸入粉尘和蒸气，在通风良好处使用</a:t>
            </a:r>
          </a:p>
          <a:p>
            <a:pPr>
              <a:spcAft>
                <a:spcPts val="1000"/>
              </a:spcAft>
            </a:pPr>
            <a:r>
              <a:rPr sz="2000">
                <a:solidFill>
                  <a:srgbClr val="222B33"/>
                </a:solidFill>
                <a:latin typeface="Microsoft YaHei"/>
              </a:rPr>
              <a:t>▪ 搬运前确认容器盖好、拿稳</a:t>
            </a:r>
          </a:p>
          <a:p>
            <a:pPr>
              <a:spcAft>
                <a:spcPts val="1000"/>
              </a:spcAft>
            </a:pPr>
            <a:r>
              <a:rPr sz="2000">
                <a:solidFill>
                  <a:srgbClr val="222B33"/>
                </a:solidFill>
                <a:latin typeface="Microsoft YaHei"/>
              </a:rPr>
              <a:t>▪ 储存条件和禁配物，如碱远离酸和金属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7 部分“操作处置与储存”写明安全操作要求：避免接触眼睛、皮肤和衣物；避免吸入粉尘和蒸气，在通风良好处或通风柜内操作；搬运前确认容器盖紧、拿稳。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称量粉末状试剂不在通风处</a:t>
            </a:r>
          </a:p>
          <a:p>
            <a:pPr>
              <a:spcAft>
                <a:spcPts val="1000"/>
              </a:spcAft>
            </a:pPr>
            <a:r>
              <a:rPr sz="1500">
                <a:solidFill>
                  <a:srgbClr val="222B33"/>
                </a:solidFill>
                <a:latin typeface="Microsoft YaHei"/>
              </a:rPr>
              <a:t>▪ 用完不盖紧，酸碱混放</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第8部分：工程控制优先</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先靠工程控制挡住危害，如局部排风</a:t>
            </a:r>
          </a:p>
          <a:p>
            <a:pPr>
              <a:spcAft>
                <a:spcPts val="1000"/>
              </a:spcAft>
            </a:pPr>
            <a:r>
              <a:rPr sz="2000">
                <a:solidFill>
                  <a:srgbClr val="222B33"/>
                </a:solidFill>
                <a:latin typeface="Microsoft YaHei"/>
              </a:rPr>
              <a:t>▪ 能在通风柜里做，就不在敞开台面做</a:t>
            </a:r>
          </a:p>
          <a:p>
            <a:pPr>
              <a:spcAft>
                <a:spcPts val="1000"/>
              </a:spcAft>
            </a:pPr>
            <a:r>
              <a:rPr sz="2000">
                <a:solidFill>
                  <a:srgbClr val="222B33"/>
                </a:solidFill>
                <a:latin typeface="Microsoft YaHei"/>
              </a:rPr>
              <a:t>▪ 有的物质要在密闭系统里操作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 8 部分“接触控制和个体防护”先写工程控制：用局部排风、通风柜等设施把危害控制在源头，这比单靠个人防护更可靠。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有通风柜不用，只戴口罩在台面操作</a:t>
            </a:r>
          </a:p>
          <a:p>
            <a:pPr>
              <a:spcAft>
                <a:spcPts val="1000"/>
              </a:spcAft>
            </a:pPr>
            <a:r>
              <a:rPr sz="1500">
                <a:solidFill>
                  <a:srgbClr val="222B33"/>
                </a:solidFill>
                <a:latin typeface="Microsoft YaHei"/>
              </a:rPr>
              <a:t>▪ 把需要密闭操作的物质在敞口容器中处理</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第8部分：职业接触限值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职业接触限值：空气中容许的最高浓度水平</a:t>
            </a:r>
          </a:p>
          <a:p>
            <a:pPr>
              <a:spcAft>
                <a:spcPts val="1000"/>
              </a:spcAft>
            </a:pPr>
            <a:r>
              <a:rPr sz="2000">
                <a:solidFill>
                  <a:srgbClr val="222B33"/>
                </a:solidFill>
                <a:latin typeface="Microsoft YaHei"/>
              </a:rPr>
              <a:t>▪ 国内限值以 GBZ 2.1 现行文本为准</a:t>
            </a:r>
          </a:p>
          <a:p>
            <a:pPr>
              <a:spcAft>
                <a:spcPts val="1000"/>
              </a:spcAft>
            </a:pPr>
            <a:r>
              <a:rPr sz="2000">
                <a:solidFill>
                  <a:srgbClr val="222B33"/>
                </a:solidFill>
                <a:latin typeface="Microsoft YaHei"/>
              </a:rPr>
              <a:t>▪ 限值越低，吸入危害越大</a:t>
            </a:r>
          </a:p>
          <a:p>
            <a:pPr>
              <a:spcAft>
                <a:spcPts val="1000"/>
              </a:spcAft>
            </a:pPr>
            <a:r>
              <a:rPr sz="2000">
                <a:solidFill>
                  <a:srgbClr val="222B33"/>
                </a:solidFill>
                <a:latin typeface="Microsoft YaHei"/>
              </a:rPr>
              <a:t>▪ 单位据此安排通风和防护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8 部分还列出职业接触限值，表示工作场所空气中该物质容许的浓度水平，常见有时间加权平均等形式。国内以 GBZ 2.1（以现行文本为准）规定的限值为准，进口化学品说明书上的国外限值只作参考。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把国外资料上的限值数值当作国内依据</a:t>
            </a:r>
          </a:p>
          <a:p>
            <a:pPr>
              <a:spcAft>
                <a:spcPts val="1000"/>
              </a:spcAft>
            </a:pPr>
            <a:r>
              <a:rPr sz="1500">
                <a:solidFill>
                  <a:srgbClr val="222B33"/>
                </a:solidFill>
                <a:latin typeface="Microsoft YaHei"/>
              </a:rPr>
              <a:t>▪ 闻不到气味就认为没有超限</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第8部分：个体防护要对得上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写明戴什么、穿什么：眼、手、皮肤、呼吸</a:t>
            </a:r>
          </a:p>
          <a:p>
            <a:pPr>
              <a:spcAft>
                <a:spcPts val="1000"/>
              </a:spcAft>
            </a:pPr>
            <a:r>
              <a:rPr sz="2000">
                <a:solidFill>
                  <a:srgbClr val="222B33"/>
                </a:solidFill>
                <a:latin typeface="Microsoft YaHei"/>
              </a:rPr>
              <a:t>▪ 手套材质要对，说明书会写清楚</a:t>
            </a:r>
          </a:p>
          <a:p>
            <a:pPr>
              <a:spcAft>
                <a:spcPts val="1000"/>
              </a:spcAft>
            </a:pPr>
            <a:r>
              <a:rPr sz="2000">
                <a:solidFill>
                  <a:srgbClr val="222B33"/>
                </a:solidFill>
                <a:latin typeface="Microsoft YaHei"/>
              </a:rPr>
              <a:t>▪ 呼吸防护要选对滤毒罐</a:t>
            </a:r>
          </a:p>
          <a:p>
            <a:pPr>
              <a:spcAft>
                <a:spcPts val="1000"/>
              </a:spcAft>
            </a:pPr>
            <a:r>
              <a:rPr sz="2000">
                <a:solidFill>
                  <a:srgbClr val="222B33"/>
                </a:solidFill>
                <a:latin typeface="Microsoft YaHei"/>
              </a:rPr>
              <a:t>▪ 氢氧化钠：耐碱手套、护目镜，再加面屏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8 部分写明需要的个体防护装备：眼睛戴安全眼镜或护目镜，必要时加面屏；手部戴材质合适的防护手套（不同材质对不同化学品的防护效果不同，说明书会写明）；身体穿实验服或防护服；需要呼吸防护时选用合适的防毒面具并配对应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任何化学品都只戴同一种薄手套</a:t>
            </a:r>
          </a:p>
          <a:p>
            <a:pPr>
              <a:spcAft>
                <a:spcPts val="1000"/>
              </a:spcAft>
            </a:pPr>
            <a:r>
              <a:rPr sz="1500">
                <a:solidFill>
                  <a:srgbClr val="222B33"/>
                </a:solidFill>
                <a:latin typeface="Microsoft YaHei"/>
              </a:rPr>
              <a:t>▪ 有喷溅风险时只戴普通眼镜</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第9部分：理化特性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外观、状态、颜色、气味，但别凑近闻</a:t>
            </a:r>
          </a:p>
          <a:p>
            <a:pPr>
              <a:spcAft>
                <a:spcPts val="1000"/>
              </a:spcAft>
            </a:pPr>
            <a:r>
              <a:rPr sz="2000">
                <a:solidFill>
                  <a:srgbClr val="222B33"/>
                </a:solidFill>
                <a:latin typeface="Microsoft YaHei"/>
              </a:rPr>
              <a:t>▪ pH、沸点、熔点：加热、混合前先看</a:t>
            </a:r>
          </a:p>
          <a:p>
            <a:pPr>
              <a:spcAft>
                <a:spcPts val="1000"/>
              </a:spcAft>
            </a:pPr>
            <a:r>
              <a:rPr sz="2000">
                <a:solidFill>
                  <a:srgbClr val="222B33"/>
                </a:solidFill>
                <a:latin typeface="Microsoft YaHei"/>
              </a:rPr>
              <a:t>▪ 溶解度、蒸气压：蒸气压高越易挥发</a:t>
            </a:r>
          </a:p>
          <a:p>
            <a:pPr>
              <a:spcAft>
                <a:spcPts val="1000"/>
              </a:spcAft>
            </a:pPr>
            <a:r>
              <a:rPr sz="2000">
                <a:solidFill>
                  <a:srgbClr val="222B33"/>
                </a:solidFill>
                <a:latin typeface="Microsoft YaHei"/>
              </a:rPr>
              <a:t>▪ 标签损坏时可帮助辨认，但须上报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9 部分“理化特性”列出外观（状态、颜色）、气味、pH、熔点、沸点、闪点、溶解度、蒸气压等数据，帮助判断该怎样操作和防护。气味信息仅供参考，千万不要凑近去闻。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凑近容器口闻气味辨认化学品</a:t>
            </a:r>
          </a:p>
          <a:p>
            <a:pPr>
              <a:spcAft>
                <a:spcPts val="1000"/>
              </a:spcAft>
            </a:pPr>
            <a:r>
              <a:rPr sz="1500">
                <a:solidFill>
                  <a:srgbClr val="222B33"/>
                </a:solidFill>
                <a:latin typeface="Microsoft YaHei"/>
              </a:rPr>
              <a:t>▪ 根据外观自行判断标签不清的试剂并使用</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第9部分：闪点看易燃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沸点和闪点，用来判断易不易燃</a:t>
            </a:r>
          </a:p>
          <a:p>
            <a:pPr>
              <a:spcAft>
                <a:spcPts val="1000"/>
              </a:spcAft>
            </a:pPr>
            <a:r>
              <a:rPr sz="2000">
                <a:solidFill>
                  <a:srgbClr val="222B33"/>
                </a:solidFill>
                <a:latin typeface="Microsoft YaHei"/>
              </a:rPr>
              <a:t>▪ 闪点越低，越容易着火</a:t>
            </a:r>
          </a:p>
          <a:p>
            <a:pPr>
              <a:spcAft>
                <a:spcPts val="1000"/>
              </a:spcAft>
            </a:pPr>
            <a:r>
              <a:rPr sz="2000">
                <a:solidFill>
                  <a:srgbClr val="222B33"/>
                </a:solidFill>
                <a:latin typeface="Microsoft YaHei"/>
              </a:rPr>
              <a:t>▪ 乙醚闪点很低，室温下蒸气就能点燃</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 9 部分中的沸点和闪点是判断易燃性的关键数据：闪点越低，越容易形成可燃蒸气而着火。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认为室温下没有明火就不会着火</a:t>
            </a:r>
          </a:p>
          <a:p>
            <a:pPr>
              <a:spcAft>
                <a:spcPts val="1000"/>
              </a:spcAft>
            </a:pPr>
            <a:r>
              <a:rPr sz="1500">
                <a:solidFill>
                  <a:srgbClr val="222B33"/>
                </a:solidFill>
                <a:latin typeface="Microsoft YaHei"/>
              </a:rPr>
              <a:t>▪ 在加热设备旁使用低闪点溶剂</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第10部分：稳定性、反应性和禁配物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稳定性：正常条件下稳不稳定</a:t>
            </a:r>
          </a:p>
          <a:p>
            <a:pPr>
              <a:spcAft>
                <a:spcPts val="1000"/>
              </a:spcAft>
            </a:pPr>
            <a:r>
              <a:rPr sz="1700">
                <a:solidFill>
                  <a:srgbClr val="222B33"/>
                </a:solidFill>
                <a:latin typeface="Microsoft YaHei"/>
              </a:rPr>
              <a:t>▪ 要避免的条件：受热、受压、撞击等</a:t>
            </a:r>
          </a:p>
          <a:p>
            <a:pPr>
              <a:spcAft>
                <a:spcPts val="1000"/>
              </a:spcAft>
            </a:pPr>
            <a:r>
              <a:rPr sz="1700">
                <a:solidFill>
                  <a:srgbClr val="222B33"/>
                </a:solidFill>
                <a:latin typeface="Microsoft YaHei"/>
              </a:rPr>
              <a:t>▪ 禁配物不能放一起、不能混，存放时分开</a:t>
            </a:r>
          </a:p>
          <a:p>
            <a:pPr>
              <a:spcAft>
                <a:spcPts val="1000"/>
              </a:spcAft>
            </a:pPr>
            <a:r>
              <a:rPr sz="1700">
                <a:solidFill>
                  <a:srgbClr val="222B33"/>
                </a:solidFill>
                <a:latin typeface="Microsoft YaHei"/>
              </a:rPr>
              <a:t>▪ 很多事故源于禁配物倒进同一废液桶</a:t>
            </a:r>
          </a:p>
          <a:p>
            <a:pPr>
              <a:spcAft>
                <a:spcPts val="1000"/>
              </a:spcAft>
            </a:pPr>
            <a:r>
              <a:rPr sz="1700">
                <a:solidFill>
                  <a:srgbClr val="222B33"/>
                </a:solidFill>
                <a:latin typeface="Microsoft YaHei"/>
              </a:rPr>
              <a:t>▪ 写明危险分解产物和聚合等危险</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第 10 部分“稳定性和反应性”写明化学品在正常条件下是否稳定、可能发生哪些危险反应、应避免的条件（如受热、受压、撞击），以及禁配物（不相容物质）和危险分解产物，分解、聚合等危险也写在这里。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不查禁配物就把不同废液倒进同一桶</a:t>
            </a:r>
          </a:p>
          <a:p>
            <a:pPr>
              <a:spcAft>
                <a:spcPts val="1000"/>
              </a:spcAft>
            </a:pPr>
            <a:r>
              <a:rPr sz="1500">
                <a:solidFill>
                  <a:srgbClr val="222B33"/>
                </a:solidFill>
                <a:latin typeface="Microsoft YaHei"/>
              </a:rPr>
              <a:t>▪ 酸碱、氧化剂和易燃物混放</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第11部分：毒理学信息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先看接触途径：从哪进入身体</a:t>
            </a:r>
          </a:p>
          <a:p>
            <a:pPr>
              <a:spcAft>
                <a:spcPts val="1000"/>
              </a:spcAft>
            </a:pPr>
            <a:r>
              <a:rPr sz="2000">
                <a:solidFill>
                  <a:srgbClr val="222B33"/>
                </a:solidFill>
                <a:latin typeface="Microsoft YaHei"/>
              </a:rPr>
              <a:t>▪ 写明症状、急性和迟发（慢性）影响</a:t>
            </a:r>
          </a:p>
          <a:p>
            <a:pPr>
              <a:spcAft>
                <a:spcPts val="1000"/>
              </a:spcAft>
            </a:pPr>
            <a:r>
              <a:rPr sz="2000">
                <a:solidFill>
                  <a:srgbClr val="222B33"/>
                </a:solidFill>
                <a:latin typeface="Microsoft YaHei"/>
              </a:rPr>
              <a:t>▪ 毒性数据如半数致死量，数越小毒性越大</a:t>
            </a:r>
          </a:p>
          <a:p>
            <a:pPr>
              <a:spcAft>
                <a:spcPts val="1000"/>
              </a:spcAft>
            </a:pPr>
            <a:r>
              <a:rPr sz="2000">
                <a:solidFill>
                  <a:srgbClr val="222B33"/>
                </a:solidFill>
                <a:latin typeface="Microsoft YaHei"/>
              </a:rPr>
              <a:t>▪ 例：乙醚吸入会头晕嗜睡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11 部分“毒理学信息”写明接触途径（从哪进入身体）、可能的症状，以及急性和慢性影响：急性效应来得快，慢性效应慢慢积累。接触途径找对了，防护才有针对性。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把半数致死量数值大小理解反</a:t>
            </a:r>
          </a:p>
          <a:p>
            <a:pPr>
              <a:spcAft>
                <a:spcPts val="1000"/>
              </a:spcAft>
            </a:pPr>
            <a:r>
              <a:rPr sz="1500">
                <a:solidFill>
                  <a:srgbClr val="222B33"/>
                </a:solidFill>
                <a:latin typeface="Microsoft YaHei"/>
              </a:rPr>
              <a:t>▪ 只关心急性症状，忽视长期接触的慢性影响</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“无数据”不等于安全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看到“无可用数据”，要格外小心</a:t>
            </a:r>
          </a:p>
          <a:p>
            <a:pPr>
              <a:spcAft>
                <a:spcPts val="1000"/>
              </a:spcAft>
            </a:pPr>
            <a:r>
              <a:rPr sz="2000">
                <a:solidFill>
                  <a:srgbClr val="222B33"/>
                </a:solidFill>
                <a:latin typeface="Microsoft YaHei"/>
              </a:rPr>
              <a:t>▪ 测过毒性的化学品只是少数</a:t>
            </a:r>
          </a:p>
          <a:p>
            <a:pPr>
              <a:spcAft>
                <a:spcPts val="1000"/>
              </a:spcAft>
            </a:pPr>
            <a:r>
              <a:rPr sz="2000">
                <a:solidFill>
                  <a:srgbClr val="222B33"/>
                </a:solidFill>
                <a:latin typeface="Microsoft YaHei"/>
              </a:rPr>
              <a:t>▪ “无数据”只是不知道，绝不等于安全</a:t>
            </a:r>
          </a:p>
          <a:p>
            <a:pPr>
              <a:spcAft>
                <a:spcPts val="1000"/>
              </a:spcAft>
            </a:pPr>
            <a:r>
              <a:rPr sz="2000">
                <a:solidFill>
                  <a:srgbClr val="222B33"/>
                </a:solidFill>
                <a:latin typeface="Microsoft YaHei"/>
              </a:rPr>
              <a:t>▪ “不适用”与 N/A 要分清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说明书某项写着“无可用数据”时，要格外小心：化学品成千上万，做过完整毒性测试的只是少数；也可能是编写者没写进去。“无数据”只代表不知道或没人查过，绝不等于安全，应按可能有害采取防护，并向导师或负责人请教、查阅其他资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把“无数据”理解为“无毒”</a:t>
            </a:r>
          </a:p>
          <a:p>
            <a:pPr>
              <a:spcAft>
                <a:spcPts val="1000"/>
              </a:spcAft>
            </a:pPr>
            <a:r>
              <a:rPr sz="1500">
                <a:solidFill>
                  <a:srgbClr val="222B33"/>
                </a:solidFill>
                <a:latin typeface="Microsoft YaHei"/>
              </a:rPr>
              <a:t>▪ 看到 N/A 就跳过不管</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第12部分：生态学信息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写明化学品对环境的影响</a:t>
            </a:r>
          </a:p>
          <a:p>
            <a:pPr>
              <a:spcAft>
                <a:spcPts val="1000"/>
              </a:spcAft>
            </a:pPr>
            <a:r>
              <a:rPr sz="2000">
                <a:solidFill>
                  <a:srgbClr val="222B33"/>
                </a:solidFill>
                <a:latin typeface="Microsoft YaHei"/>
              </a:rPr>
              <a:t>▪ 水生毒性：对水中生物的毒害</a:t>
            </a:r>
          </a:p>
          <a:p>
            <a:pPr>
              <a:spcAft>
                <a:spcPts val="1000"/>
              </a:spcAft>
            </a:pPr>
            <a:r>
              <a:rPr sz="2000">
                <a:solidFill>
                  <a:srgbClr val="222B33"/>
                </a:solidFill>
                <a:latin typeface="Microsoft YaHei"/>
              </a:rPr>
              <a:t>▪ 持久性和降解性：在环境中留多久</a:t>
            </a:r>
          </a:p>
          <a:p>
            <a:pPr>
              <a:spcAft>
                <a:spcPts val="1000"/>
              </a:spcAft>
            </a:pPr>
            <a:r>
              <a:rPr sz="2000">
                <a:solidFill>
                  <a:srgbClr val="222B33"/>
                </a:solidFill>
                <a:latin typeface="Microsoft YaHei"/>
              </a:rPr>
              <a:t>▪ 例：碱进入水体使 pH 升高，伤害鱼类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12 部分“生态学信息”说明化学品泄漏或排放后对环境的危害，包括水生毒性（对鱼类等水生生物的毒害）、持久性和降解性（在环境中能留存多久）等。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认为少量化学品冲进下水道无害</a:t>
            </a:r>
          </a:p>
          <a:p>
            <a:pPr>
              <a:spcAft>
                <a:spcPts val="1000"/>
              </a:spcAft>
            </a:pPr>
            <a:r>
              <a:rPr sz="1500">
                <a:solidFill>
                  <a:srgbClr val="222B33"/>
                </a:solidFill>
                <a:latin typeface="Microsoft YaHei"/>
              </a:rPr>
              <a:t>▪ 只关心对人的危害，忽视对环境的危害</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第13部分：废弃处置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化学品本身和容器都要妥善处置</a:t>
            </a:r>
          </a:p>
          <a:p>
            <a:pPr>
              <a:spcAft>
                <a:spcPts val="1000"/>
              </a:spcAft>
            </a:pPr>
            <a:r>
              <a:rPr sz="2000">
                <a:solidFill>
                  <a:srgbClr val="222B33"/>
                </a:solidFill>
                <a:latin typeface="Microsoft YaHei"/>
              </a:rPr>
              <a:t>▪ 处置符合国家和地方规定</a:t>
            </a:r>
          </a:p>
          <a:p>
            <a:pPr>
              <a:spcAft>
                <a:spcPts val="1000"/>
              </a:spcAft>
            </a:pPr>
            <a:r>
              <a:rPr sz="2000">
                <a:solidFill>
                  <a:srgbClr val="222B33"/>
                </a:solidFill>
                <a:latin typeface="Microsoft YaHei"/>
              </a:rPr>
              <a:t>▪ 危险废物不能倒进下水道</a:t>
            </a:r>
          </a:p>
          <a:p>
            <a:pPr>
              <a:spcAft>
                <a:spcPts val="1000"/>
              </a:spcAft>
            </a:pPr>
            <a:r>
              <a:rPr sz="2000">
                <a:solidFill>
                  <a:srgbClr val="222B33"/>
                </a:solidFill>
                <a:latin typeface="Microsoft YaHei"/>
              </a:rPr>
              <a:t>▪ 碱液分类收集，中和等处理由专业人员做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13 部分“废弃处置”写明化学品本身及其包装容器的处置方法，处置必须符合国家和地方规定（《国家危险废物名录》等，以现行文本为准）。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把碱液、酸液直接倒入水槽</a:t>
            </a:r>
          </a:p>
          <a:p>
            <a:pPr>
              <a:spcAft>
                <a:spcPts val="1000"/>
              </a:spcAft>
            </a:pPr>
            <a:r>
              <a:rPr sz="1500">
                <a:solidFill>
                  <a:srgbClr val="222B33"/>
                </a:solidFill>
                <a:latin typeface="Microsoft YaHei"/>
              </a:rPr>
              <a:t>▪ 学生自行中和后排放</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第14部分：运输信息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联合国编号（UN 编号）：四位数字</a:t>
            </a:r>
          </a:p>
          <a:p>
            <a:pPr>
              <a:spcAft>
                <a:spcPts val="1000"/>
              </a:spcAft>
            </a:pPr>
            <a:r>
              <a:rPr sz="2000">
                <a:solidFill>
                  <a:srgbClr val="222B33"/>
                </a:solidFill>
                <a:latin typeface="Microsoft YaHei"/>
              </a:rPr>
              <a:t>▪ 正式运输名称</a:t>
            </a:r>
          </a:p>
          <a:p>
            <a:pPr>
              <a:spcAft>
                <a:spcPts val="1000"/>
              </a:spcAft>
            </a:pPr>
            <a:r>
              <a:rPr sz="2000">
                <a:solidFill>
                  <a:srgbClr val="222B33"/>
                </a:solidFill>
                <a:latin typeface="Microsoft YaHei"/>
              </a:rPr>
              <a:t>▪ 运输危险类别和包装类别（Ⅰ类危险最大）</a:t>
            </a:r>
          </a:p>
          <a:p>
            <a:pPr>
              <a:spcAft>
                <a:spcPts val="1000"/>
              </a:spcAft>
            </a:pPr>
            <a:r>
              <a:rPr sz="2000">
                <a:solidFill>
                  <a:srgbClr val="222B33"/>
                </a:solidFill>
                <a:latin typeface="Microsoft YaHei"/>
              </a:rPr>
              <a:t>▪ 例：氢氧化钠溶液属第 8 类腐蚀性物质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14 部分“运输信息”写明联合国编号（UN 编号，四位数字）、正式运输名称、运输危险类别和包装类别。包装类别分三类，Ⅰ类危险程度最大、Ⅱ类中等、Ⅲ类较小。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把危险化学品当普通快递寄送</a:t>
            </a:r>
          </a:p>
          <a:p>
            <a:pPr>
              <a:spcAft>
                <a:spcPts val="1000"/>
              </a:spcAft>
            </a:pPr>
            <a:r>
              <a:rPr sz="1500">
                <a:solidFill>
                  <a:srgbClr val="222B33"/>
                </a:solidFill>
                <a:latin typeface="Microsoft YaHei"/>
              </a:rPr>
              <a:t>▪ 认为运输信息与实验室无关</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第15部分：法规信息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列出适用的安全、健康、环境法规</a:t>
            </a:r>
          </a:p>
          <a:p>
            <a:pPr>
              <a:spcAft>
                <a:spcPts val="1000"/>
              </a:spcAft>
            </a:pPr>
            <a:r>
              <a:rPr sz="2000">
                <a:solidFill>
                  <a:srgbClr val="222B33"/>
                </a:solidFill>
                <a:latin typeface="Microsoft YaHei"/>
              </a:rPr>
              <a:t>▪ 国内主要看危险化学品安全法及配套目录</a:t>
            </a:r>
          </a:p>
          <a:p>
            <a:pPr>
              <a:spcAft>
                <a:spcPts val="1000"/>
              </a:spcAft>
            </a:pPr>
            <a:r>
              <a:rPr sz="2000">
                <a:solidFill>
                  <a:srgbClr val="222B33"/>
                </a:solidFill>
                <a:latin typeface="Microsoft YaHei"/>
              </a:rPr>
              <a:t>▪ 名录状态：是否列入监管名录</a:t>
            </a:r>
          </a:p>
          <a:p>
            <a:pPr>
              <a:spcAft>
                <a:spcPts val="1000"/>
              </a:spcAft>
            </a:pPr>
            <a:r>
              <a:rPr sz="2000">
                <a:solidFill>
                  <a:srgbClr val="222B33"/>
                </a:solidFill>
                <a:latin typeface="Microsoft YaHei"/>
              </a:rPr>
              <a:t>▪ 列入管制名录的，按专门规定管理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第 15 部分“法规信息”列出管理这种化学品的安全、健康和环境法规。国内主要依据《中华人民共和国危险化学品安全法》及《危险化学品安全管理条例》（以现行文本为准），以及《危险化学品目录》等。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不查名录状态，把管控化学品当普通试剂</a:t>
            </a:r>
          </a:p>
          <a:p>
            <a:pPr>
              <a:spcAft>
                <a:spcPts val="1000"/>
              </a:spcAft>
            </a:pPr>
            <a:r>
              <a:rPr sz="1500">
                <a:solidFill>
                  <a:srgbClr val="222B33"/>
                </a:solidFill>
                <a:latin typeface="Microsoft YaHei"/>
              </a:rPr>
              <a:t>▪ 把国外法规当作国内依据</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第16部分：其他信息和修订日期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 16 部分是其他信息</a:t>
            </a:r>
          </a:p>
          <a:p>
            <a:pPr>
              <a:spcAft>
                <a:spcPts val="1000"/>
              </a:spcAft>
            </a:pPr>
            <a:r>
              <a:rPr sz="2000">
                <a:solidFill>
                  <a:srgbClr val="222B33"/>
                </a:solidFill>
                <a:latin typeface="Microsoft YaHei"/>
              </a:rPr>
              <a:t>▪ 写明编制和修订日期</a:t>
            </a:r>
          </a:p>
          <a:p>
            <a:pPr>
              <a:spcAft>
                <a:spcPts val="1000"/>
              </a:spcAft>
            </a:pPr>
            <a:r>
              <a:rPr sz="2000">
                <a:solidFill>
                  <a:srgbClr val="222B33"/>
                </a:solidFill>
                <a:latin typeface="Microsoft YaHei"/>
              </a:rPr>
              <a:t>▪ 据此判断说明书是不是最新版本</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第 16 部分“其他信息”包括说明书的编制日期、修订日期和修订说明，以及缩略语、参考文献等。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从不看修订日期，多年使用旧版</a:t>
            </a:r>
          </a:p>
          <a:p>
            <a:pPr>
              <a:spcAft>
                <a:spcPts val="1000"/>
              </a:spcAft>
            </a:pPr>
            <a:r>
              <a:rPr sz="1500">
                <a:solidFill>
                  <a:srgbClr val="222B33"/>
                </a:solidFill>
                <a:latin typeface="Microsoft YaHei"/>
              </a:rPr>
              <a:t>▪ 读完说明书不把要求落实到规程中</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化学品安全技术说明书一共有几个部分？哪项国家标准规定了它的内容和顺序？</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12 个，GB 15258-2009</a:t>
            </a:r>
          </a:p>
          <a:p>
            <a:pPr algn="l"/>
            <a:r>
              <a:rPr sz="1500" b="0">
                <a:solidFill>
                  <a:srgbClr val="222B33"/>
                </a:solidFill>
                <a:latin typeface="Microsoft YaHei"/>
              </a:rPr>
              <a:t>B. 16 个，GB/T 16483-2008</a:t>
            </a:r>
          </a:p>
          <a:p>
            <a:pPr algn="l"/>
            <a:r>
              <a:rPr sz="1500" b="0">
                <a:solidFill>
                  <a:srgbClr val="222B33"/>
                </a:solidFill>
                <a:latin typeface="Microsoft YaHei"/>
              </a:rPr>
              <a:t>C. 16 个，GB 2894-2025</a:t>
            </a:r>
          </a:p>
          <a:p>
            <a:pPr algn="l"/>
            <a:r>
              <a:rPr sz="1500" b="0">
                <a:solidFill>
                  <a:srgbClr val="222B33"/>
                </a:solidFill>
                <a:latin typeface="Microsoft YaHei"/>
              </a:rPr>
              <a:t>D. 8 个，GB/T 17519-2013</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实验中氢氧化钠溅入眼睛，应首先查阅说明书的哪一部分（平时应提前读过）？</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第 2 部分</a:t>
            </a:r>
          </a:p>
          <a:p>
            <a:pPr algn="l"/>
            <a:r>
              <a:rPr sz="1500" b="0">
                <a:solidFill>
                  <a:srgbClr val="222B33"/>
                </a:solidFill>
                <a:latin typeface="Microsoft YaHei"/>
              </a:rPr>
              <a:t>B. 第 4 部分</a:t>
            </a:r>
          </a:p>
          <a:p>
            <a:pPr algn="l"/>
            <a:r>
              <a:rPr sz="1500" b="0">
                <a:solidFill>
                  <a:srgbClr val="222B33"/>
                </a:solidFill>
                <a:latin typeface="Microsoft YaHei"/>
              </a:rPr>
              <a:t>C. 第 9 部分</a:t>
            </a:r>
          </a:p>
          <a:p>
            <a:pPr algn="l"/>
            <a:r>
              <a:rPr sz="1500" b="0">
                <a:solidFill>
                  <a:srgbClr val="222B33"/>
                </a:solidFill>
                <a:latin typeface="Microsoft YaHei"/>
              </a:rPr>
              <a:t>D. 第 14 部分</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判断：说明书第 11 部分毒性数据写着“无可用数据”，说明这种化学品无毒，可以不戴防护。</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要查某化学品不能和哪些物质混放、混倒，应看：</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第 3 部分</a:t>
            </a:r>
          </a:p>
          <a:p>
            <a:pPr algn="l"/>
            <a:r>
              <a:rPr sz="1500" b="0">
                <a:solidFill>
                  <a:srgbClr val="222B33"/>
                </a:solidFill>
                <a:latin typeface="Microsoft YaHei"/>
              </a:rPr>
              <a:t>B. 第 7 部分和第 10 部分</a:t>
            </a:r>
          </a:p>
          <a:p>
            <a:pPr algn="l"/>
            <a:r>
              <a:rPr sz="1500" b="0">
                <a:solidFill>
                  <a:srgbClr val="222B33"/>
                </a:solidFill>
                <a:latin typeface="Microsoft YaHei"/>
              </a:rPr>
              <a:t>C. 第 12 部分</a:t>
            </a:r>
          </a:p>
          <a:p>
            <a:pPr algn="l"/>
            <a:r>
              <a:rPr sz="1500" b="0">
                <a:solidFill>
                  <a:srgbClr val="222B33"/>
                </a:solidFill>
                <a:latin typeface="Microsoft YaHei"/>
              </a:rPr>
              <a:t>D. 第 16 部分</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041 · 读懂SDS十六部分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041 读懂SDS十六部分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判断：职业接触限值越低，说明该物质吸入危害越小。</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简答：说明书的十六个部分可以按哪四个问题分组查阅？</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统一格式：十六部分，顺序固定</a:t>
            </a:r>
          </a:p>
          <a:p>
            <a:pPr>
              <a:spcAft>
                <a:spcPts val="800"/>
              </a:spcAft>
            </a:pPr>
            <a:r>
              <a:rPr sz="1500">
                <a:solidFill>
                  <a:srgbClr val="FFFFFF"/>
                </a:solidFill>
                <a:latin typeface="Microsoft YaHei"/>
              </a:rPr>
              <a:t>▪ K2  和旧版比：第2、3部分换了位置</a:t>
            </a:r>
          </a:p>
          <a:p>
            <a:pPr>
              <a:spcAft>
                <a:spcPts val="800"/>
              </a:spcAft>
            </a:pPr>
            <a:r>
              <a:rPr sz="1500">
                <a:solidFill>
                  <a:srgbClr val="FFFFFF"/>
                </a:solidFill>
                <a:latin typeface="Microsoft YaHei"/>
              </a:rPr>
              <a:t>▪ K3  按需排序：四个问题分组查</a:t>
            </a:r>
          </a:p>
          <a:p>
            <a:pPr>
              <a:spcAft>
                <a:spcPts val="800"/>
              </a:spcAft>
            </a:pPr>
            <a:r>
              <a:rPr sz="1500">
                <a:solidFill>
                  <a:srgbClr val="FFFFFF"/>
                </a:solidFill>
                <a:latin typeface="Microsoft YaHei"/>
              </a:rPr>
              <a:t>▪ K4  第1部分：认准是哪种化学品</a:t>
            </a:r>
          </a:p>
          <a:p>
            <a:pPr>
              <a:spcAft>
                <a:spcPts val="800"/>
              </a:spcAft>
            </a:pPr>
            <a:r>
              <a:rPr sz="1500">
                <a:solidFill>
                  <a:srgbClr val="FFFFFF"/>
                </a:solidFill>
                <a:latin typeface="Microsoft YaHei"/>
              </a:rPr>
              <a:t>▪ K5  第1部分：推荐用途和供应商</a:t>
            </a:r>
          </a:p>
          <a:p>
            <a:pPr>
              <a:spcAft>
                <a:spcPts val="800"/>
              </a:spcAft>
            </a:pPr>
            <a:r>
              <a:rPr sz="1500">
                <a:solidFill>
                  <a:srgbClr val="FFFFFF"/>
                </a:solidFill>
                <a:latin typeface="Microsoft YaHei"/>
              </a:rPr>
              <a:t>▪ K6  第2部分：危险性概述</a:t>
            </a:r>
          </a:p>
          <a:p>
            <a:pPr>
              <a:spcAft>
                <a:spcPts val="800"/>
              </a:spcAft>
            </a:pPr>
            <a:r>
              <a:rPr sz="1500">
                <a:solidFill>
                  <a:srgbClr val="FFFFFF"/>
                </a:solidFill>
                <a:latin typeface="Microsoft YaHei"/>
              </a:rPr>
              <a:t>▪ K7  例：氢氧化钠，信号词“危险”</a:t>
            </a:r>
          </a:p>
          <a:p>
            <a:pPr>
              <a:spcAft>
                <a:spcPts val="800"/>
              </a:spcAft>
            </a:pPr>
            <a:r>
              <a:rPr sz="1500">
                <a:solidFill>
                  <a:srgbClr val="FFFFFF"/>
                </a:solidFill>
                <a:latin typeface="Microsoft YaHei"/>
              </a:rPr>
              <a:t>▪ K8  第3部分：成分和浓度</a:t>
            </a:r>
          </a:p>
          <a:p>
            <a:pPr>
              <a:spcAft>
                <a:spcPts val="800"/>
              </a:spcAft>
            </a:pPr>
            <a:r>
              <a:rPr sz="1500">
                <a:solidFill>
                  <a:srgbClr val="FFFFFF"/>
                </a:solidFill>
                <a:latin typeface="Microsoft YaHei"/>
              </a:rPr>
              <a:t>▪ K9  第4部分：按接触途径急救</a:t>
            </a:r>
          </a:p>
          <a:p>
            <a:pPr>
              <a:spcAft>
                <a:spcPts val="800"/>
              </a:spcAft>
            </a:pPr>
            <a:r>
              <a:rPr sz="1500">
                <a:solidFill>
                  <a:srgbClr val="FFFFFF"/>
                </a:solidFill>
                <a:latin typeface="Microsoft YaHei"/>
              </a:rPr>
              <a:t>▪ K10  第4部分：症状和何时就医</a:t>
            </a:r>
          </a:p>
          <a:p>
            <a:pPr>
              <a:spcAft>
                <a:spcPts val="800"/>
              </a:spcAft>
            </a:pPr>
            <a:r>
              <a:rPr sz="1500">
                <a:solidFill>
                  <a:srgbClr val="FFFFFF"/>
                </a:solidFill>
                <a:latin typeface="Microsoft YaHei"/>
              </a:rPr>
              <a:t>▪ K11  例：误食碱，不催吐</a:t>
            </a:r>
          </a:p>
          <a:p>
            <a:pPr>
              <a:spcAft>
                <a:spcPts val="800"/>
              </a:spcAft>
            </a:pPr>
            <a:r>
              <a:rPr sz="1500">
                <a:solidFill>
                  <a:srgbClr val="FFFFFF"/>
                </a:solidFill>
                <a:latin typeface="Microsoft YaHei"/>
              </a:rPr>
              <a:t>▪ K12  用前先读急救，找到洗眼器</a:t>
            </a:r>
          </a:p>
          <a:p>
            <a:pPr>
              <a:spcAft>
                <a:spcPts val="800"/>
              </a:spcAft>
            </a:pPr>
            <a:r>
              <a:rPr sz="1500">
                <a:solidFill>
                  <a:srgbClr val="FFFFFF"/>
                </a:solidFill>
                <a:latin typeface="Microsoft YaHei"/>
              </a:rPr>
              <a:t>▪ K13  第5部分：灭火剂和特别危险</a:t>
            </a:r>
          </a:p>
          <a:p>
            <a:pPr>
              <a:spcAft>
                <a:spcPts val="800"/>
              </a:spcAft>
            </a:pPr>
            <a:r>
              <a:rPr sz="1500">
                <a:solidFill>
                  <a:srgbClr val="FFFFFF"/>
                </a:solidFill>
                <a:latin typeface="Microsoft YaHei"/>
              </a:rPr>
              <a:t>▪ K14  第5部分：消防防护，说明书交救援</a:t>
            </a:r>
          </a:p>
          <a:p>
            <a:pPr>
              <a:spcAft>
                <a:spcPts val="800"/>
              </a:spcAft>
            </a:pPr>
            <a:r>
              <a:rPr sz="1500">
                <a:solidFill>
                  <a:srgbClr val="FFFFFF"/>
                </a:solidFill>
                <a:latin typeface="Microsoft YaHei"/>
              </a:rPr>
              <a:t>▪ K15  第6部分：泄漏应急处理</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K16  第7部分：操作处置与储存</a:t>
            </a:r>
          </a:p>
          <a:p>
            <a:pPr>
              <a:spcAft>
                <a:spcPts val="800"/>
              </a:spcAft>
            </a:pPr>
            <a:r>
              <a:rPr sz="1500">
                <a:solidFill>
                  <a:srgbClr val="FFFFFF"/>
                </a:solidFill>
                <a:latin typeface="Microsoft YaHei"/>
              </a:rPr>
              <a:t>▪ K17  第8部分：工程控制优先</a:t>
            </a:r>
          </a:p>
          <a:p>
            <a:pPr>
              <a:spcAft>
                <a:spcPts val="800"/>
              </a:spcAft>
            </a:pPr>
            <a:r>
              <a:rPr sz="1500">
                <a:solidFill>
                  <a:srgbClr val="FFFFFF"/>
                </a:solidFill>
                <a:latin typeface="Microsoft YaHei"/>
              </a:rPr>
              <a:t>▪ K18  第8部分：职业接触限值</a:t>
            </a:r>
          </a:p>
          <a:p>
            <a:pPr>
              <a:spcAft>
                <a:spcPts val="800"/>
              </a:spcAft>
            </a:pPr>
            <a:r>
              <a:rPr sz="1500">
                <a:solidFill>
                  <a:srgbClr val="FFFFFF"/>
                </a:solidFill>
                <a:latin typeface="Microsoft YaHei"/>
              </a:rPr>
              <a:t>▪ K19  第8部分：个体防护要对得上</a:t>
            </a:r>
          </a:p>
          <a:p>
            <a:pPr>
              <a:spcAft>
                <a:spcPts val="800"/>
              </a:spcAft>
            </a:pPr>
            <a:r>
              <a:rPr sz="1500">
                <a:solidFill>
                  <a:srgbClr val="FFFFFF"/>
                </a:solidFill>
                <a:latin typeface="Microsoft YaHei"/>
              </a:rPr>
              <a:t>▪ K20  第9部分：理化特性</a:t>
            </a:r>
          </a:p>
          <a:p>
            <a:pPr>
              <a:spcAft>
                <a:spcPts val="800"/>
              </a:spcAft>
            </a:pPr>
            <a:r>
              <a:rPr sz="1500">
                <a:solidFill>
                  <a:srgbClr val="FFFFFF"/>
                </a:solidFill>
                <a:latin typeface="Microsoft YaHei"/>
              </a:rPr>
              <a:t>▪ K21  第9部分：闪点看易燃</a:t>
            </a:r>
          </a:p>
          <a:p>
            <a:pPr>
              <a:spcAft>
                <a:spcPts val="800"/>
              </a:spcAft>
            </a:pPr>
            <a:r>
              <a:rPr sz="1500">
                <a:solidFill>
                  <a:srgbClr val="FFFFFF"/>
                </a:solidFill>
                <a:latin typeface="Microsoft YaHei"/>
              </a:rPr>
              <a:t>▪ K22  第10部分：稳定性、反应性和禁配物</a:t>
            </a:r>
          </a:p>
          <a:p>
            <a:pPr>
              <a:spcAft>
                <a:spcPts val="800"/>
              </a:spcAft>
            </a:pPr>
            <a:r>
              <a:rPr sz="1500">
                <a:solidFill>
                  <a:srgbClr val="FFFFFF"/>
                </a:solidFill>
                <a:latin typeface="Microsoft YaHei"/>
              </a:rPr>
              <a:t>▪ K23  第11部分：毒理学信息</a:t>
            </a:r>
          </a:p>
          <a:p>
            <a:pPr>
              <a:spcAft>
                <a:spcPts val="800"/>
              </a:spcAft>
            </a:pPr>
            <a:r>
              <a:rPr sz="1500">
                <a:solidFill>
                  <a:srgbClr val="FFFFFF"/>
                </a:solidFill>
                <a:latin typeface="Microsoft YaHei"/>
              </a:rPr>
              <a:t>▪ K24  “无数据”不等于安全</a:t>
            </a:r>
          </a:p>
          <a:p>
            <a:pPr>
              <a:spcAft>
                <a:spcPts val="800"/>
              </a:spcAft>
            </a:pPr>
            <a:r>
              <a:rPr sz="1500">
                <a:solidFill>
                  <a:srgbClr val="FFFFFF"/>
                </a:solidFill>
                <a:latin typeface="Microsoft YaHei"/>
              </a:rPr>
              <a:t>▪ K25  第12部分：生态学信息</a:t>
            </a:r>
          </a:p>
          <a:p>
            <a:pPr>
              <a:spcAft>
                <a:spcPts val="800"/>
              </a:spcAft>
            </a:pPr>
            <a:r>
              <a:rPr sz="1500">
                <a:solidFill>
                  <a:srgbClr val="FFFFFF"/>
                </a:solidFill>
                <a:latin typeface="Microsoft YaHei"/>
              </a:rPr>
              <a:t>▪ K26  第13部分：废弃处置</a:t>
            </a:r>
          </a:p>
          <a:p>
            <a:pPr>
              <a:spcAft>
                <a:spcPts val="800"/>
              </a:spcAft>
            </a:pPr>
            <a:r>
              <a:rPr sz="1500">
                <a:solidFill>
                  <a:srgbClr val="FFFFFF"/>
                </a:solidFill>
                <a:latin typeface="Microsoft YaHei"/>
              </a:rPr>
              <a:t>▪ K27  第14部分：运输信息</a:t>
            </a:r>
          </a:p>
          <a:p>
            <a:pPr>
              <a:spcAft>
                <a:spcPts val="800"/>
              </a:spcAft>
            </a:pPr>
            <a:r>
              <a:rPr sz="1500">
                <a:solidFill>
                  <a:srgbClr val="FFFFFF"/>
                </a:solidFill>
                <a:latin typeface="Microsoft YaHei"/>
              </a:rPr>
              <a:t>▪ K28  第15部分：法规信息</a:t>
            </a:r>
          </a:p>
          <a:p>
            <a:pPr>
              <a:spcAft>
                <a:spcPts val="800"/>
              </a:spcAft>
            </a:pPr>
            <a:r>
              <a:rPr sz="1500">
                <a:solidFill>
                  <a:srgbClr val="FFFFFF"/>
                </a:solidFill>
                <a:latin typeface="Microsoft YaHei"/>
              </a:rPr>
              <a:t>▪ K29  第16部分：其他信息和修订日期</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毒性、暴露途径与接触限值</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70 镜）　适用对象：全体使用化学品的高校本科生、研究生和教职工（必修）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能说出化学品进入人体的四条途径（吸入、皮肤和眼睛接触、注入、食入）及各自的防护要点。</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能说出急性与慢性毒性、剂量—反应关系，以及致癌、致突变、生殖毒性物质和特殊人群的防护要求。</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能说出国内职业接触限值的三类（时间加权平均、短时间接触、最高容许浓度）和立即威胁生命或健康浓度的含义，具体数值以 GBZ 2.1 现行文本为准。</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能判断“低于限值不等于安全”，知道怀疑超标时请专业人员检测、结果要告知全体人员。</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《中华人民共和国职业病防治法》（以现行文本为准）：工作场所职业病危害因素检测、评价和告知，职业健康检查</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2.1（以现行文本为准）《工作场所有害因素职业接触限值 第1部分：化学有害因素》：时间加权平均容许浓度、短时间接触容许浓度、最高容许浓度</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18664-2025（以现行文本为准）《呼吸防护装备的选择、使用和维护》：立即威胁生命或健康的环境</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系列（以现行文本为准）《化学品分类和标签规范》：急性毒性、致癌性、生殖细胞致突变性、生殖毒性等健康危害分类</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内容和项目顺序》：第 8 部分接触控制、第 11 部分毒理学信息</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日起施行）及《危险化学品安全管理条例》（以现行文本为准）：剧毒化学品等的使用管理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《女职工劳动保护特别规定》（以现行文本为准）：孕期、哺乳期女职工禁忌从事的作业</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号，以现行文本为准）：实验室禁止饮食，开展风险评估和个人防护</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先想清楚：化学品怎么进入人体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第一步：想清楚化学品怎么进入人体</a:t>
            </a:r>
          </a:p>
          <a:p>
            <a:pPr>
              <a:spcAft>
                <a:spcPts val="1000"/>
              </a:spcAft>
            </a:pPr>
            <a:r>
              <a:rPr sz="2000">
                <a:solidFill>
                  <a:srgbClr val="222B33"/>
                </a:solidFill>
                <a:latin typeface="Microsoft YaHei"/>
              </a:rPr>
              <a:t>▪ 四条途径：吸入、皮肤和眼睛接触、注入、食入</a:t>
            </a:r>
          </a:p>
          <a:p>
            <a:pPr>
              <a:spcAft>
                <a:spcPts val="1000"/>
              </a:spcAft>
            </a:pPr>
            <a:r>
              <a:rPr sz="2000">
                <a:solidFill>
                  <a:srgbClr val="222B33"/>
                </a:solidFill>
                <a:latin typeface="Microsoft YaHei"/>
              </a:rPr>
              <a:t>▪ 总原则：别让化学品碰到你</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做风险评估的第一步，是想清楚化学品会通过什么途径进入人体。危险物质进入人体有四条途径：吸入蒸气、气体、粉尘或烟雾；皮肤和眼睛接触（溅入眼睛、皮肤沾染）；注入（被扎破、割伤）；食入（吃进嘴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只防溅到身上，忽视吸入</a:t>
            </a:r>
          </a:p>
          <a:p>
            <a:pPr>
              <a:spcAft>
                <a:spcPts val="1000"/>
              </a:spcAft>
            </a:pPr>
            <a:r>
              <a:rPr sz="1500">
                <a:solidFill>
                  <a:srgbClr val="222B33"/>
                </a:solidFill>
                <a:latin typeface="Microsoft YaHei"/>
              </a:rPr>
              <a:t>▪ 不做途径分析就开始实验</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吸入：最常见，闻到就已吸入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吸入是最常见的途径</a:t>
            </a:r>
          </a:p>
          <a:p>
            <a:pPr>
              <a:spcAft>
                <a:spcPts val="1000"/>
              </a:spcAft>
            </a:pPr>
            <a:r>
              <a:rPr sz="2000">
                <a:solidFill>
                  <a:srgbClr val="222B33"/>
                </a:solidFill>
                <a:latin typeface="Microsoft YaHei"/>
              </a:rPr>
              <a:t>▪ 气体、液体蒸气、固体粉尘烟雾都能吸入</a:t>
            </a:r>
          </a:p>
          <a:p>
            <a:pPr>
              <a:spcAft>
                <a:spcPts val="1000"/>
              </a:spcAft>
            </a:pPr>
            <a:r>
              <a:rPr sz="2000">
                <a:solidFill>
                  <a:srgbClr val="222B33"/>
                </a:solidFill>
                <a:latin typeface="Microsoft YaHei"/>
              </a:rPr>
              <a:t>▪ 闻到气味，说明已经吸进去了</a:t>
            </a:r>
          </a:p>
          <a:p>
            <a:pPr>
              <a:spcAft>
                <a:spcPts val="1000"/>
              </a:spcAft>
            </a:pPr>
            <a:r>
              <a:rPr sz="2000">
                <a:solidFill>
                  <a:srgbClr val="222B33"/>
                </a:solidFill>
                <a:latin typeface="Microsoft YaHei"/>
              </a:rPr>
              <a:t>▪ 无色无味或浓度低，闻不到也可能有害</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吸入是实验室里最常见的暴露途径。气体、挥发性液体的蒸气、固体的粉尘和烟雾都可能被吸入；有些化学品不用碰到就能伤人。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用“有没有味道”判断是否安全</a:t>
            </a:r>
          </a:p>
          <a:p>
            <a:pPr>
              <a:spcAft>
                <a:spcPts val="1000"/>
              </a:spcAft>
            </a:pPr>
            <a:r>
              <a:rPr sz="1500">
                <a:solidFill>
                  <a:srgbClr val="222B33"/>
                </a:solidFill>
                <a:latin typeface="Microsoft YaHei"/>
              </a:rPr>
              <a:t>▪ 在敞开台面使用挥发性溶剂</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皮肤和眼睛：眼睛单列一条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第二常见的途径是皮肤和眼睛接触</a:t>
            </a:r>
          </a:p>
          <a:p>
            <a:pPr>
              <a:spcAft>
                <a:spcPts val="1000"/>
              </a:spcAft>
            </a:pPr>
            <a:r>
              <a:rPr sz="2000">
                <a:solidFill>
                  <a:srgbClr val="222B33"/>
                </a:solidFill>
                <a:latin typeface="Microsoft YaHei"/>
              </a:rPr>
              <a:t>▪ 眼睛极其娇嫩，要单独当一条途径</a:t>
            </a:r>
          </a:p>
          <a:p>
            <a:pPr>
              <a:spcAft>
                <a:spcPts val="1000"/>
              </a:spcAft>
            </a:pPr>
            <a:r>
              <a:rPr sz="2000">
                <a:solidFill>
                  <a:srgbClr val="222B33"/>
                </a:solidFill>
                <a:latin typeface="Microsoft YaHei"/>
              </a:rPr>
              <a:t>▪ 戴手套、穿实验服、戴护目镜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皮肤和眼睛接触是第二常见的暴露途径。化学品可以灼伤皮肤，有的还能透过皮肤进入血液。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嫌麻烦不戴护目镜</a:t>
            </a:r>
          </a:p>
          <a:p>
            <a:pPr>
              <a:spcAft>
                <a:spcPts val="1000"/>
              </a:spcAft>
            </a:pPr>
            <a:r>
              <a:rPr sz="1500">
                <a:solidFill>
                  <a:srgbClr val="222B33"/>
                </a:solidFill>
                <a:latin typeface="Microsoft YaHei"/>
              </a:rPr>
              <a:t>▪ 戴手套后用手揉眼睛</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注入和食入：碎玻璃与入口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被沾化学品的碎玻璃、针头割伤就是注入</a:t>
            </a:r>
          </a:p>
          <a:p>
            <a:pPr>
              <a:spcAft>
                <a:spcPts val="1000"/>
              </a:spcAft>
            </a:pPr>
            <a:r>
              <a:rPr sz="2000">
                <a:solidFill>
                  <a:srgbClr val="222B33"/>
                </a:solidFill>
                <a:latin typeface="Microsoft YaHei"/>
              </a:rPr>
              <a:t>▪ 严禁品尝化学品，实验室严禁饮食</a:t>
            </a:r>
          </a:p>
          <a:p>
            <a:pPr>
              <a:spcAft>
                <a:spcPts val="1000"/>
              </a:spcAft>
            </a:pPr>
            <a:r>
              <a:rPr sz="2000">
                <a:solidFill>
                  <a:srgbClr val="222B33"/>
                </a:solidFill>
                <a:latin typeface="Microsoft YaHei"/>
              </a:rPr>
              <a:t>▪ 手套沾染会带到嘴边，也会污染样品</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注入是指化学品通过伤口直接进入体内，例如被沾有化学品的碎玻璃割伤、被针头扎伤。规范处理锐器和碎玻璃（见第 029 课）就能大大降低这种风险。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戴着手套接电话、摸门把手</a:t>
            </a:r>
          </a:p>
          <a:p>
            <a:pPr>
              <a:spcAft>
                <a:spcPts val="1000"/>
              </a:spcAft>
            </a:pPr>
            <a:r>
              <a:rPr sz="1500">
                <a:solidFill>
                  <a:srgbClr val="222B33"/>
                </a:solidFill>
                <a:latin typeface="Microsoft YaHei"/>
              </a:rPr>
              <a:t>▪ 在实验室喝水、吃零食</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例：农药能吸入，也能透皮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农药本身有毒，能吸入，也能透过皮肤吸收</a:t>
            </a:r>
          </a:p>
          <a:p>
            <a:pPr>
              <a:spcAft>
                <a:spcPts val="1000"/>
              </a:spcAft>
            </a:pPr>
            <a:r>
              <a:rPr sz="2000">
                <a:solidFill>
                  <a:srgbClr val="222B33"/>
                </a:solidFill>
                <a:latin typeface="Microsoft YaHei"/>
              </a:rPr>
              <a:t>▪ 配含农药的培养基，在通风柜里做</a:t>
            </a:r>
          </a:p>
          <a:p>
            <a:pPr>
              <a:spcAft>
                <a:spcPts val="1000"/>
              </a:spcAft>
            </a:pPr>
            <a:r>
              <a:rPr sz="2000">
                <a:solidFill>
                  <a:srgbClr val="222B33"/>
                </a:solidFill>
                <a:latin typeface="Microsoft YaHei"/>
              </a:rPr>
              <a:t>▪ 剧毒品种按规定领用，用多少领多少</a:t>
            </a:r>
          </a:p>
          <a:p>
            <a:pPr>
              <a:spcAft>
                <a:spcPts val="1000"/>
              </a:spcAft>
            </a:pPr>
            <a:r>
              <a:rPr sz="2000">
                <a:solidFill>
                  <a:srgbClr val="222B33"/>
                </a:solidFill>
                <a:latin typeface="Microsoft YaHei"/>
              </a:rPr>
              <a:t>▪ 沾到皮肤，马上用大量清水冲洗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以微生物降解农药的实验为例：实验要用到农药，而农药本身就是毒物，既可能被吸入，也能透过皮肤吸收。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认为农药是“常见物品”不用防护</a:t>
            </a:r>
          </a:p>
          <a:p>
            <a:pPr>
              <a:spcAft>
                <a:spcPts val="1000"/>
              </a:spcAft>
            </a:pPr>
            <a:r>
              <a:rPr sz="1500">
                <a:solidFill>
                  <a:srgbClr val="222B33"/>
                </a:solidFill>
                <a:latin typeface="Microsoft YaHei"/>
              </a:rPr>
              <a:t>▪ 一次领用大量剧毒品种存放在实验台</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未知物一律按有毒对待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未知样品，一律当有毒的对待</a:t>
            </a:r>
          </a:p>
          <a:p>
            <a:pPr>
              <a:spcAft>
                <a:spcPts val="1000"/>
              </a:spcAft>
            </a:pPr>
            <a:r>
              <a:rPr sz="2000">
                <a:solidFill>
                  <a:srgbClr val="222B33"/>
                </a:solidFill>
                <a:latin typeface="Microsoft YaHei"/>
              </a:rPr>
              <a:t>▪ 不闻、不尝、不用手碰</a:t>
            </a:r>
          </a:p>
          <a:p>
            <a:pPr>
              <a:spcAft>
                <a:spcPts val="1000"/>
              </a:spcAft>
            </a:pPr>
            <a:r>
              <a:rPr sz="2000">
                <a:solidFill>
                  <a:srgbClr val="222B33"/>
                </a:solidFill>
                <a:latin typeface="Microsoft YaHei"/>
              </a:rPr>
              <a:t>▪ 戴好手套护目镜，只取需要的一点</a:t>
            </a:r>
          </a:p>
          <a:p>
            <a:pPr>
              <a:spcAft>
                <a:spcPts val="1000"/>
              </a:spcAft>
            </a:pPr>
            <a:r>
              <a:rPr sz="2000">
                <a:solidFill>
                  <a:srgbClr val="222B33"/>
                </a:solidFill>
                <a:latin typeface="Microsoft YaHei"/>
              </a:rPr>
              <a:t>▪ 来历不明的，按最危险防护，问清再处理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新合成的产物、来历不明或标签缺失的样品，毒性并不清楚，一律按有毒物质对待：不闻、不尝、不用手直接接触，戴好手套和护目镜，只取需要的最少量。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闻气味来判断未知物</a:t>
            </a:r>
          </a:p>
          <a:p>
            <a:pPr>
              <a:spcAft>
                <a:spcPts val="1000"/>
              </a:spcAft>
            </a:pPr>
            <a:r>
              <a:rPr sz="1500">
                <a:solidFill>
                  <a:srgbClr val="222B33"/>
                </a:solidFill>
                <a:latin typeface="Microsoft YaHei"/>
              </a:rPr>
              <a:t>▪ 认为自己合成的东西“应该没毒”</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急性与慢性：伤害会累积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毒性分急性和慢性</a:t>
            </a:r>
          </a:p>
          <a:p>
            <a:pPr>
              <a:spcAft>
                <a:spcPts val="1000"/>
              </a:spcAft>
            </a:pPr>
            <a:r>
              <a:rPr sz="1700">
                <a:solidFill>
                  <a:srgbClr val="222B33"/>
                </a:solidFill>
                <a:latin typeface="Microsoft YaHei"/>
              </a:rPr>
              <a:t>▪ 急性：腐蚀灼伤、急性中毒，要及时处理</a:t>
            </a:r>
          </a:p>
          <a:p>
            <a:pPr>
              <a:spcAft>
                <a:spcPts val="1000"/>
              </a:spcAft>
            </a:pPr>
            <a:r>
              <a:rPr sz="1700">
                <a:solidFill>
                  <a:srgbClr val="222B33"/>
                </a:solidFill>
                <a:latin typeface="Microsoft YaHei"/>
              </a:rPr>
              <a:t>▪ 一次没事不等于没事，长期小量接触会累积</a:t>
            </a:r>
          </a:p>
          <a:p>
            <a:pPr>
              <a:spcAft>
                <a:spcPts val="1000"/>
              </a:spcAft>
            </a:pPr>
            <a:r>
              <a:rPr sz="1700">
                <a:solidFill>
                  <a:srgbClr val="222B33"/>
                </a:solidFill>
                <a:latin typeface="Microsoft YaHei"/>
              </a:rPr>
              <a:t>▪ 慢性危害：癌症、呼吸系统疾病、神经损害</a:t>
            </a:r>
          </a:p>
          <a:p>
            <a:pPr>
              <a:spcAft>
                <a:spcPts val="1000"/>
              </a:spcAft>
            </a:pPr>
            <a:r>
              <a:rPr sz="1700">
                <a:solidFill>
                  <a:srgbClr val="222B33"/>
                </a:solidFill>
                <a:latin typeface="Microsoft YaHei"/>
              </a:rPr>
              <a:t>▪ 少接触，就少受伤、少生病、少留后患</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化学品对人体的危害分为急性和慢性。急性危害在接触后短时间内出现，如腐蚀灼伤、急性中毒；局部腐蚀造成的伤害往往难以恢复，中毒要及时处理。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“做了很多次都没事”，就不再防护</a:t>
            </a:r>
          </a:p>
          <a:p>
            <a:pPr>
              <a:spcAft>
                <a:spcPts val="1000"/>
              </a:spcAft>
            </a:pPr>
            <a:r>
              <a:rPr sz="1500">
                <a:solidFill>
                  <a:srgbClr val="222B33"/>
                </a:solidFill>
                <a:latin typeface="Microsoft YaHei"/>
              </a:rPr>
              <a:t>▪ 只关注急性症状，忽视长期慢性影响</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剂量决定毒性：剂量—反应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剂量越大，伤害越重：剂量—反应关系</a:t>
            </a:r>
          </a:p>
          <a:p>
            <a:pPr>
              <a:spcAft>
                <a:spcPts val="1000"/>
              </a:spcAft>
            </a:pPr>
            <a:r>
              <a:rPr sz="2000">
                <a:solidFill>
                  <a:srgbClr val="222B33"/>
                </a:solidFill>
                <a:latin typeface="Microsoft YaHei"/>
              </a:rPr>
              <a:t>▪ 毒性强的物质，很小剂量就能伤人</a:t>
            </a:r>
          </a:p>
          <a:p>
            <a:pPr>
              <a:spcAft>
                <a:spcPts val="1000"/>
              </a:spcAft>
            </a:pPr>
            <a:r>
              <a:rPr sz="2000">
                <a:solidFill>
                  <a:srgbClr val="222B33"/>
                </a:solidFill>
                <a:latin typeface="Microsoft YaHei"/>
              </a:rPr>
              <a:t>▪ 半数致死量越小，毒性越大（见第 041 课）</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毒理学的基本规律是“剂量决定毒性”：同一种物质，进入人体的剂量（或接触的浓度和时间）越大，产生的伤害越重，这叫剂量—反应关系。所以控制接触量、缩短接触时间，是降低危害的根本办法。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认为“只用一点点”就一定安全</a:t>
            </a:r>
          </a:p>
          <a:p>
            <a:pPr>
              <a:spcAft>
                <a:spcPts val="1000"/>
              </a:spcAft>
            </a:pPr>
            <a:r>
              <a:rPr sz="1500">
                <a:solidFill>
                  <a:srgbClr val="222B33"/>
                </a:solidFill>
                <a:latin typeface="Microsoft YaHei"/>
              </a:rPr>
              <a:t>▪ 把半数致死量的大小理解反</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致癌、致畸、致突变与特殊人群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致癌、致突变、生殖毒性物质要格外防护</a:t>
            </a:r>
          </a:p>
          <a:p>
            <a:pPr>
              <a:spcAft>
                <a:spcPts val="1000"/>
              </a:spcAft>
            </a:pPr>
            <a:r>
              <a:rPr sz="2000">
                <a:solidFill>
                  <a:srgbClr val="222B33"/>
                </a:solidFill>
                <a:latin typeface="Microsoft YaHei"/>
              </a:rPr>
              <a:t>▪ 看标签和说明书上的健康危害象形图</a:t>
            </a:r>
          </a:p>
          <a:p>
            <a:pPr>
              <a:spcAft>
                <a:spcPts val="1000"/>
              </a:spcAft>
            </a:pPr>
            <a:r>
              <a:rPr sz="2000">
                <a:solidFill>
                  <a:srgbClr val="222B33"/>
                </a:solidFill>
                <a:latin typeface="Microsoft YaHei"/>
              </a:rPr>
              <a:t>▪ 孕期、哺乳期主动报告，调整实验工作</a:t>
            </a:r>
          </a:p>
          <a:p>
            <a:pPr>
              <a:spcAft>
                <a:spcPts val="1000"/>
              </a:spcAft>
            </a:pPr>
            <a:r>
              <a:rPr sz="2000">
                <a:solidFill>
                  <a:srgbClr val="222B33"/>
                </a:solidFill>
                <a:latin typeface="Microsoft YaHei"/>
              </a:rPr>
              <a:t>▪ 过敏、敏感人群需要额外保护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GB 30000 系列中的致癌性、生殖细胞致突变性、生殖毒性（可能致畸、影响生育）属于严重的慢性健康危害，标签上通常带“健康危害”象形图。使用这类物质要尽量用替代品、减少用量，在通风柜内操作，做好个体防护，并按本校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怀孕后不好意思说，继续接触有害物质</a:t>
            </a:r>
          </a:p>
          <a:p>
            <a:pPr>
              <a:spcAft>
                <a:spcPts val="1000"/>
              </a:spcAft>
            </a:pPr>
            <a:r>
              <a:rPr sz="1500">
                <a:solidFill>
                  <a:srgbClr val="222B33"/>
                </a:solidFill>
                <a:latin typeface="Microsoft YaHei"/>
              </a:rPr>
              <a:t>▪ 使用致癌物时不进通风柜</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症状可能迟发，就医说明接触史</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有些中毒症状会迟发</a:t>
            </a:r>
          </a:p>
          <a:p>
            <a:pPr>
              <a:spcAft>
                <a:spcPts val="1000"/>
              </a:spcAft>
            </a:pPr>
            <a:r>
              <a:rPr sz="2000">
                <a:solidFill>
                  <a:srgbClr val="222B33"/>
                </a:solidFill>
                <a:latin typeface="Microsoft YaHei"/>
              </a:rPr>
              <a:t>▪ 就医时说清接触过什么，带上说明书</a:t>
            </a:r>
          </a:p>
          <a:p>
            <a:pPr>
              <a:spcAft>
                <a:spcPts val="1000"/>
              </a:spcAft>
            </a:pPr>
            <a:r>
              <a:rPr sz="2000">
                <a:solidFill>
                  <a:srgbClr val="222B33"/>
                </a:solidFill>
                <a:latin typeface="Microsoft YaHei"/>
              </a:rPr>
              <a:t>▪ 同时报告负责人，如实记录</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有些化学品中毒的症状不会立刻出现，可能几小时甚至更久以后才显现。接触后即使暂时没有不适，也不能掉以轻心。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当时没症状就不报告</a:t>
            </a:r>
          </a:p>
          <a:p>
            <a:pPr>
              <a:spcAft>
                <a:spcPts val="1000"/>
              </a:spcAft>
            </a:pPr>
            <a:r>
              <a:rPr sz="1500">
                <a:solidFill>
                  <a:srgbClr val="222B33"/>
                </a:solidFill>
                <a:latin typeface="Microsoft YaHei"/>
              </a:rPr>
              <a:t>▪ 就医时说不清接触了什么</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接触限值：空气中有害物的浓度界线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接触限值指工作场所空气中有害物的浓度界线</a:t>
            </a:r>
          </a:p>
          <a:p>
            <a:pPr>
              <a:spcAft>
                <a:spcPts val="1000"/>
              </a:spcAft>
            </a:pPr>
            <a:r>
              <a:rPr sz="2000">
                <a:solidFill>
                  <a:srgbClr val="222B33"/>
                </a:solidFill>
                <a:latin typeface="Microsoft YaHei"/>
              </a:rPr>
              <a:t>▪ 在此之下，多数人长期接触不受伤害</a:t>
            </a:r>
          </a:p>
          <a:p>
            <a:pPr>
              <a:spcAft>
                <a:spcPts val="1000"/>
              </a:spcAft>
            </a:pPr>
            <a:r>
              <a:rPr sz="2000">
                <a:solidFill>
                  <a:srgbClr val="222B33"/>
                </a:solidFill>
                <a:latin typeface="Microsoft YaHei"/>
              </a:rPr>
              <a:t>▪ 每种物质限值不同，没有统一的数</a:t>
            </a:r>
          </a:p>
          <a:p>
            <a:pPr>
              <a:spcAft>
                <a:spcPts val="1000"/>
              </a:spcAft>
            </a:pPr>
            <a:r>
              <a:rPr sz="2000">
                <a:solidFill>
                  <a:srgbClr val="222B33"/>
                </a:solidFill>
                <a:latin typeface="Microsoft YaHei"/>
              </a:rPr>
              <a:t>▪ 实验室不是例外，同样要遵守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职业接触限值是针对工作场所空气中有害物质浓度规定的界线：在此之下，绝大多数人长期反复接触不会受到明显的健康损害。国外资料中常见的“阈限值”等也是类似概念，国内统一按 GBZ 2.1（以现行文本为准）执行。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以为接触限值只管工厂，不管实验室</a:t>
            </a:r>
          </a:p>
          <a:p>
            <a:pPr>
              <a:spcAft>
                <a:spcPts val="1000"/>
              </a:spcAft>
            </a:pPr>
            <a:r>
              <a:rPr sz="1500">
                <a:solidFill>
                  <a:srgbClr val="222B33"/>
                </a:solidFill>
                <a:latin typeface="Microsoft YaHei"/>
              </a:rPr>
              <a:t>▪ 凭记忆说限值，不查标准</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国内三类限值，以GBZ 2.1为准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国内看 GBZ 2.1 职业接触限值</a:t>
            </a:r>
          </a:p>
          <a:p>
            <a:pPr>
              <a:spcAft>
                <a:spcPts val="1000"/>
              </a:spcAft>
            </a:pPr>
            <a:r>
              <a:rPr sz="2000">
                <a:solidFill>
                  <a:srgbClr val="222B33"/>
                </a:solidFill>
                <a:latin typeface="Microsoft YaHei"/>
              </a:rPr>
              <a:t>▪ 三类：时间加权平均、短时间接触、最高容许</a:t>
            </a:r>
          </a:p>
          <a:p>
            <a:pPr>
              <a:spcAft>
                <a:spcPts val="1000"/>
              </a:spcAft>
            </a:pPr>
            <a:r>
              <a:rPr sz="2000">
                <a:solidFill>
                  <a:srgbClr val="222B33"/>
                </a:solidFill>
                <a:latin typeface="Microsoft YaHei"/>
              </a:rPr>
              <a:t>▪ 国外缩写只作了解，以国标为准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我国化学有害因素的职业接触限值由 GBZ 2.1 规定，主要分三类：时间加权平均容许浓度（PC-TWA）、短时间接触容许浓度（PC-STEL）和最高容许浓度（MAC）。</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用进口说明书上的国外限值作国内依据</a:t>
            </a:r>
          </a:p>
          <a:p>
            <a:pPr>
              <a:spcAft>
                <a:spcPts val="1000"/>
              </a:spcAft>
            </a:pPr>
            <a:r>
              <a:rPr sz="1500">
                <a:solidFill>
                  <a:srgbClr val="222B33"/>
                </a:solidFill>
                <a:latin typeface="Microsoft YaHei"/>
              </a:rPr>
              <a:t>▪ 只知道一种限值，不知道还有短时和最高限值</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时间加权平均：整天平均不能超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把一天里高高低低的浓度平均一下</a:t>
            </a:r>
          </a:p>
          <a:p>
            <a:pPr>
              <a:spcAft>
                <a:spcPts val="1000"/>
              </a:spcAft>
            </a:pPr>
            <a:r>
              <a:rPr sz="2000">
                <a:solidFill>
                  <a:srgbClr val="222B33"/>
                </a:solidFill>
                <a:latin typeface="Microsoft YaHei"/>
              </a:rPr>
              <a:t>▪ 按正常工作日平均，平均值不能超</a:t>
            </a:r>
          </a:p>
          <a:p>
            <a:pPr>
              <a:spcAft>
                <a:spcPts val="1000"/>
              </a:spcAft>
            </a:pPr>
            <a:r>
              <a:rPr sz="2000">
                <a:solidFill>
                  <a:srgbClr val="222B33"/>
                </a:solidFill>
                <a:latin typeface="Microsoft YaHei"/>
              </a:rPr>
              <a:t>▪ 长期接触不超这条线，正常工作不伤身</a:t>
            </a:r>
          </a:p>
          <a:p>
            <a:pPr>
              <a:spcAft>
                <a:spcPts val="1000"/>
              </a:spcAft>
            </a:pPr>
            <a:r>
              <a:rPr sz="2000">
                <a:solidFill>
                  <a:srgbClr val="222B33"/>
                </a:solidFill>
                <a:latin typeface="Microsoft YaHei"/>
              </a:rPr>
              <a:t>▪ 具体数值查国家标准，不靠背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时间加权平均容许浓度，是把一个工作日内高低变化的接触浓度按时间加权平均后的容许值，用来控制长期、每天的接触。按正常工作日计算的平均浓度不能超过它；长期接触不超过这条线，绝大多数人正常工作不会损害健康。</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拿一次瞬时读数直接和平均限值比较</a:t>
            </a:r>
          </a:p>
          <a:p>
            <a:pPr>
              <a:spcAft>
                <a:spcPts val="1000"/>
              </a:spcAft>
            </a:pPr>
            <a:r>
              <a:rPr sz="1500">
                <a:solidFill>
                  <a:srgbClr val="222B33"/>
                </a:solidFill>
                <a:latin typeface="Microsoft YaHei"/>
              </a:rPr>
              <a:t>▪ 记错数值，不查标准</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短时间接触：尖峰也不能超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倒试剂、开瓶时，浓度会短暂冒高</a:t>
            </a:r>
          </a:p>
          <a:p>
            <a:pPr>
              <a:spcAft>
                <a:spcPts val="1000"/>
              </a:spcAft>
            </a:pPr>
            <a:r>
              <a:rPr sz="2000">
                <a:solidFill>
                  <a:srgbClr val="222B33"/>
                </a:solidFill>
                <a:latin typeface="Microsoft YaHei"/>
              </a:rPr>
              <a:t>▪ 短时间接触容许浓度管短时高峰</a:t>
            </a:r>
          </a:p>
          <a:p>
            <a:pPr>
              <a:spcAft>
                <a:spcPts val="1000"/>
              </a:spcAft>
            </a:pPr>
            <a:r>
              <a:rPr sz="2000">
                <a:solidFill>
                  <a:srgbClr val="222B33"/>
                </a:solidFill>
                <a:latin typeface="Microsoft YaHei"/>
              </a:rPr>
              <a:t>▪ 平均没超，尖峰超了也不行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开瓶、倾倒试剂、转移溶剂时，空气中的浓度会短暂冒高。短时间接触容许浓度规定了短时间内（具体时长按 GBZ 2.1 现行文本）接触浓度的上限，管的就是这种短时高峰。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认为“平均没超就行”</a:t>
            </a:r>
          </a:p>
          <a:p>
            <a:pPr>
              <a:spcAft>
                <a:spcPts val="1000"/>
              </a:spcAft>
            </a:pPr>
            <a:r>
              <a:rPr sz="1500">
                <a:solidFill>
                  <a:srgbClr val="222B33"/>
                </a:solidFill>
                <a:latin typeface="Microsoft YaHei"/>
              </a:rPr>
              <a:t>▪ 在通风柜外开瓶、倒溶剂</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最高容许浓度：任何时候不能超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最高容许浓度：任何时候都不能超过</a:t>
            </a:r>
          </a:p>
          <a:p>
            <a:pPr>
              <a:spcAft>
                <a:spcPts val="1000"/>
              </a:spcAft>
            </a:pPr>
            <a:r>
              <a:rPr sz="2000">
                <a:solidFill>
                  <a:srgbClr val="222B33"/>
                </a:solidFill>
                <a:latin typeface="Microsoft YaHei"/>
              </a:rPr>
              <a:t>▪ 对刺激性强、作用快的物质规定</a:t>
            </a:r>
          </a:p>
          <a:p>
            <a:pPr>
              <a:spcAft>
                <a:spcPts val="1000"/>
              </a:spcAft>
            </a:pPr>
            <a:r>
              <a:rPr sz="2000">
                <a:solidFill>
                  <a:srgbClr val="222B33"/>
                </a:solidFill>
                <a:latin typeface="Microsoft YaHei"/>
              </a:rPr>
              <a:t>▪ 一碰到就是超标，立即停止并处理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最高容许浓度是指在一个工作日内、任何时间、任何地点都不应超过的浓度，通常对作用快、刺激性或毒性强的物质规定（具体物质和数值以 GBZ 2.1 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把最高容许浓度当作平均值使用</a:t>
            </a:r>
          </a:p>
          <a:p>
            <a:pPr>
              <a:spcAft>
                <a:spcPts val="1000"/>
              </a:spcAft>
            </a:pPr>
            <a:r>
              <a:rPr sz="1500">
                <a:solidFill>
                  <a:srgbClr val="222B33"/>
                </a:solidFill>
                <a:latin typeface="Microsoft YaHei"/>
              </a:rPr>
              <a:t>▪ 发现超标仍继续作业</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立即威胁生命或健康的浓度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达到这个浓度，接触即可能危及生命</a:t>
            </a:r>
          </a:p>
          <a:p>
            <a:pPr>
              <a:spcAft>
                <a:spcPts val="1000"/>
              </a:spcAft>
            </a:pPr>
            <a:r>
              <a:rPr sz="2000">
                <a:solidFill>
                  <a:srgbClr val="222B33"/>
                </a:solidFill>
                <a:latin typeface="Microsoft YaHei"/>
              </a:rPr>
              <a:t>▪ 人不能在里面作业，也绝不能贸然冲进去</a:t>
            </a:r>
          </a:p>
          <a:p>
            <a:pPr>
              <a:spcAft>
                <a:spcPts val="1000"/>
              </a:spcAft>
            </a:pPr>
            <a:r>
              <a:rPr sz="2000">
                <a:solidFill>
                  <a:srgbClr val="222B33"/>
                </a:solidFill>
                <a:latin typeface="Microsoft YaHei"/>
              </a:rPr>
              <a:t>▪ 未经检测和防护绝不进入，撤离并报告</a:t>
            </a:r>
          </a:p>
          <a:p>
            <a:pPr>
              <a:spcAft>
                <a:spcPts val="1000"/>
              </a:spcAft>
            </a:pPr>
            <a:r>
              <a:rPr sz="2000">
                <a:solidFill>
                  <a:srgbClr val="222B33"/>
                </a:solidFill>
                <a:latin typeface="Microsoft YaHei"/>
              </a:rPr>
              <a:t>▪ 具体数值查说明书和标准，不凭记忆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立即威胁生命或健康的浓度（GB 18664-2025 等标准中称为立即威胁生命或健康的环境，以现行文本为准）是指一旦接触就可能致死、造成不可逆健康损害或使人失去逃生能力的浓度。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同伴倒下时冲进去施救，造成连环伤亡</a:t>
            </a:r>
          </a:p>
          <a:p>
            <a:pPr>
              <a:spcAft>
                <a:spcPts val="1000"/>
              </a:spcAft>
            </a:pPr>
            <a:r>
              <a:rPr sz="1500">
                <a:solidFill>
                  <a:srgbClr val="222B33"/>
                </a:solidFill>
                <a:latin typeface="Microsoft YaHei"/>
              </a:rPr>
              <a:t>▪ 戴普通口罩进入高浓度区域</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四个概念像四级台阶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接触限值、平均、短时、立即危险像四级台阶</a:t>
            </a:r>
          </a:p>
          <a:p>
            <a:pPr>
              <a:spcAft>
                <a:spcPts val="1000"/>
              </a:spcAft>
            </a:pPr>
            <a:r>
              <a:rPr sz="2000">
                <a:solidFill>
                  <a:srgbClr val="222B33"/>
                </a:solidFill>
                <a:latin typeface="Microsoft YaHei"/>
              </a:rPr>
              <a:t>▪ 前两个看长期和每天的平均</a:t>
            </a:r>
          </a:p>
          <a:p>
            <a:pPr>
              <a:spcAft>
                <a:spcPts val="1000"/>
              </a:spcAft>
            </a:pPr>
            <a:r>
              <a:rPr sz="2000">
                <a:solidFill>
                  <a:srgbClr val="222B33"/>
                </a:solidFill>
                <a:latin typeface="Microsoft YaHei"/>
              </a:rPr>
              <a:t>▪ 后两个看短时尖峰和立即危险</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可以把这些概念想成四级台阶：最下面是长期接触的界线（接触限值），然后是每天的平均（时间加权平均），再往上是短时尖峰的上限（短时间接触），最高一级是立即危及生命的浓度。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把几个概念混为一谈</a:t>
            </a:r>
          </a:p>
          <a:p>
            <a:pPr>
              <a:spcAft>
                <a:spcPts val="1000"/>
              </a:spcAft>
            </a:pPr>
            <a:r>
              <a:rPr sz="1500">
                <a:solidFill>
                  <a:srgbClr val="222B33"/>
                </a:solidFill>
                <a:latin typeface="Microsoft YaHei"/>
              </a:rPr>
              <a:t>▪ 以为立即危险浓度以下就可以随便待</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限值不是安全线，越低越好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低于限值，不等于绝对安全</a:t>
            </a:r>
          </a:p>
          <a:p>
            <a:pPr>
              <a:spcAft>
                <a:spcPts val="1000"/>
              </a:spcAft>
            </a:pPr>
            <a:r>
              <a:rPr sz="2000">
                <a:solidFill>
                  <a:srgbClr val="222B33"/>
                </a:solidFill>
                <a:latin typeface="Microsoft YaHei"/>
              </a:rPr>
              <a:t>▪ 有人更敏感，需要额外保护</a:t>
            </a:r>
          </a:p>
          <a:p>
            <a:pPr>
              <a:spcAft>
                <a:spcPts val="1000"/>
              </a:spcAft>
            </a:pPr>
            <a:r>
              <a:rPr sz="2000">
                <a:solidFill>
                  <a:srgbClr val="222B33"/>
                </a:solidFill>
                <a:latin typeface="Microsoft YaHei"/>
              </a:rPr>
              <a:t>▪ 能少用就少用，能替换就替换，进通风柜</a:t>
            </a:r>
          </a:p>
          <a:p>
            <a:pPr>
              <a:spcAft>
                <a:spcPts val="1000"/>
              </a:spcAft>
            </a:pPr>
            <a:r>
              <a:rPr sz="2000">
                <a:solidFill>
                  <a:srgbClr val="222B33"/>
                </a:solidFill>
                <a:latin typeface="Microsoft YaHei"/>
              </a:rPr>
              <a:t>▪ 接触越低越好，不是贴线就行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职业接触限值是管理的上限，不是安全与危险的绝对分界：低于限值也不等于绝对安全，个别敏感的人即使在限值以下也可能受到影响，需要额外保护。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认为“没超限”就不用再改进</a:t>
            </a:r>
          </a:p>
          <a:p>
            <a:pPr>
              <a:spcAft>
                <a:spcPts val="1000"/>
              </a:spcAft>
            </a:pPr>
            <a:r>
              <a:rPr sz="1500">
                <a:solidFill>
                  <a:srgbClr val="222B33"/>
                </a:solidFill>
                <a:latin typeface="Microsoft YaHei"/>
              </a:rPr>
              <a:t>▪ 不考虑个人敏感差异</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行动水平：该监测、该体检了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浓度达到行动水平，就要启动监测</a:t>
            </a:r>
          </a:p>
          <a:p>
            <a:pPr>
              <a:spcAft>
                <a:spcPts val="1000"/>
              </a:spcAft>
            </a:pPr>
            <a:r>
              <a:rPr sz="2000">
                <a:solidFill>
                  <a:srgbClr val="222B33"/>
                </a:solidFill>
                <a:latin typeface="Microsoft YaHei"/>
              </a:rPr>
              <a:t>▪ 还要开展职业健康检查等措施</a:t>
            </a:r>
          </a:p>
          <a:p>
            <a:pPr>
              <a:spcAft>
                <a:spcPts val="1000"/>
              </a:spcAft>
            </a:pPr>
            <a:r>
              <a:rPr sz="2000">
                <a:solidFill>
                  <a:srgbClr val="222B33"/>
                </a:solidFill>
                <a:latin typeface="Microsoft YaHei"/>
              </a:rPr>
              <a:t>▪ 监测有害物浓度，确保不超国家限值</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说明书和标准中会出现“行动水平”的概念：接触水平虽然还没超过限值，但已经高到需要采取措施的程度，就要开展接触监测、职业健康检查、培训和告知等工作（具体以 GBZ 2.1 现行文本和本校规定为准）。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等到超标才想起监测</a:t>
            </a:r>
          </a:p>
          <a:p>
            <a:pPr>
              <a:spcAft>
                <a:spcPts val="1000"/>
              </a:spcAft>
            </a:pPr>
            <a:r>
              <a:rPr sz="1500">
                <a:solidFill>
                  <a:srgbClr val="222B33"/>
                </a:solidFill>
                <a:latin typeface="Microsoft YaHei"/>
              </a:rPr>
              <a:t>▪ 长期接触有害物却从不参加职业健康检查</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怀疑超标，请专业人员检测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大量用挥发性溶剂、怀疑超标，就要检测</a:t>
            </a:r>
          </a:p>
          <a:p>
            <a:pPr>
              <a:spcAft>
                <a:spcPts val="1000"/>
              </a:spcAft>
            </a:pPr>
            <a:r>
              <a:rPr sz="2000">
                <a:solidFill>
                  <a:srgbClr val="222B33"/>
                </a:solidFill>
                <a:latin typeface="Microsoft YaHei"/>
              </a:rPr>
              <a:t>▪ 请专业人员检测空气，不自己估计</a:t>
            </a:r>
          </a:p>
          <a:p>
            <a:pPr>
              <a:spcAft>
                <a:spcPts val="1000"/>
              </a:spcAft>
            </a:pPr>
            <a:r>
              <a:rPr sz="2000">
                <a:solidFill>
                  <a:srgbClr val="222B33"/>
                </a:solidFill>
                <a:latin typeface="Microsoft YaHei"/>
              </a:rPr>
              <a:t>▪ 测量有误差，判断时要留余量</a:t>
            </a:r>
          </a:p>
          <a:p>
            <a:pPr>
              <a:spcAft>
                <a:spcPts val="1000"/>
              </a:spcAft>
            </a:pPr>
            <a:r>
              <a:rPr sz="2000">
                <a:solidFill>
                  <a:srgbClr val="222B33"/>
                </a:solidFill>
                <a:latin typeface="Microsoft YaHei"/>
              </a:rPr>
              <a:t>▪ 结果偏高，改进措施并定期复测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大量使用挥发性溶剂，或者有人出现头痛、头晕等不适，怀疑空气中浓度超标时，要报告实验室负责人，由学校委托的专业人员或有资质的机构检测空气，不要凭感觉估计。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凭气味大小判断是否超标</a:t>
            </a:r>
          </a:p>
          <a:p>
            <a:pPr>
              <a:spcAft>
                <a:spcPts val="1000"/>
              </a:spcAft>
            </a:pPr>
            <a:r>
              <a:rPr sz="1500">
                <a:solidFill>
                  <a:srgbClr val="222B33"/>
                </a:solidFill>
                <a:latin typeface="Microsoft YaHei"/>
              </a:rPr>
              <a:t>▪ 检测偏高后不整改、不复测</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检测结果要告知大家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检测结果要及时告知实验室人员</a:t>
            </a:r>
          </a:p>
          <a:p>
            <a:pPr>
              <a:spcAft>
                <a:spcPts val="1000"/>
              </a:spcAft>
            </a:pPr>
            <a:r>
              <a:rPr sz="2000">
                <a:solidFill>
                  <a:srgbClr val="222B33"/>
                </a:solidFill>
                <a:latin typeface="Microsoft YaHei"/>
              </a:rPr>
              <a:t>▪ 不能锁在柜子里不告诉大家</a:t>
            </a:r>
          </a:p>
          <a:p>
            <a:pPr>
              <a:spcAft>
                <a:spcPts val="1000"/>
              </a:spcAft>
            </a:pPr>
            <a:r>
              <a:rPr sz="2000">
                <a:solidFill>
                  <a:srgbClr val="222B33"/>
                </a:solidFill>
                <a:latin typeface="Microsoft YaHei"/>
              </a:rPr>
              <a:t>▪ 每个人都有权知道自己接触了什么</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空气检测结果要及时告知实验室的所有人员，包括结果是否超标、采取了哪些改进措施。依据《中华人民共和国职业病防治法》（以现行文本为准），职业病危害因素检测结果应当告知劳动者。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检测报告只交给领导存档</a:t>
            </a:r>
          </a:p>
          <a:p>
            <a:pPr>
              <a:spcAft>
                <a:spcPts val="1000"/>
              </a:spcAft>
            </a:pPr>
            <a:r>
              <a:rPr sz="1500">
                <a:solidFill>
                  <a:srgbClr val="222B33"/>
                </a:solidFill>
                <a:latin typeface="Microsoft YaHei"/>
              </a:rPr>
              <a:t>▪ 结果偏高却怕影响实验而隐瞒</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化学品进入人体最常见的途径是：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食入</a:t>
            </a:r>
          </a:p>
          <a:p>
            <a:pPr algn="l"/>
            <a:r>
              <a:rPr sz="1500" b="0">
                <a:solidFill>
                  <a:srgbClr val="222B33"/>
                </a:solidFill>
                <a:latin typeface="Microsoft YaHei"/>
              </a:rPr>
              <a:t>B. 注入</a:t>
            </a:r>
          </a:p>
          <a:p>
            <a:pPr algn="l"/>
            <a:r>
              <a:rPr sz="1500" b="0">
                <a:solidFill>
                  <a:srgbClr val="222B33"/>
                </a:solidFill>
                <a:latin typeface="Microsoft YaHei"/>
              </a:rPr>
              <a:t>C. 吸入</a:t>
            </a:r>
          </a:p>
          <a:p>
            <a:pPr algn="l"/>
            <a:r>
              <a:rPr sz="1500" b="0">
                <a:solidFill>
                  <a:srgbClr val="222B33"/>
                </a:solidFill>
                <a:latin typeface="Microsoft YaHei"/>
              </a:rPr>
              <a:t>D. 眼睛接触</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判断：开瓶倾倒溶剂时浓度短暂冒高，只要全天平均浓度没超过时间加权平均容许浓度就没问题。</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我国化学有害因素职业接触限值的依据是：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GB 2894-2025</a:t>
            </a:r>
          </a:p>
          <a:p>
            <a:pPr algn="l"/>
            <a:r>
              <a:rPr sz="1500" b="0">
                <a:solidFill>
                  <a:srgbClr val="222B33"/>
                </a:solidFill>
                <a:latin typeface="Microsoft YaHei"/>
              </a:rPr>
              <a:t>B. GBZ 2.1（以现行文本为准）</a:t>
            </a:r>
          </a:p>
          <a:p>
            <a:pPr algn="l"/>
            <a:r>
              <a:rPr sz="1500" b="0">
                <a:solidFill>
                  <a:srgbClr val="222B33"/>
                </a:solidFill>
                <a:latin typeface="Microsoft YaHei"/>
              </a:rPr>
              <a:t>C. GB 15603-2022</a:t>
            </a:r>
          </a:p>
          <a:p>
            <a:pPr algn="l"/>
            <a:r>
              <a:rPr sz="1500" b="0">
                <a:solidFill>
                  <a:srgbClr val="222B33"/>
                </a:solidFill>
                <a:latin typeface="Microsoft YaHei"/>
              </a:rPr>
              <a:t>D. GB/T 7144-2016</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同伴在气体大量泄漏的房间里倒下，你应该：</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立即冲进去把人拖出来</a:t>
            </a:r>
          </a:p>
          <a:p>
            <a:pPr algn="l"/>
            <a:r>
              <a:rPr sz="1500" b="0">
                <a:solidFill>
                  <a:srgbClr val="222B33"/>
                </a:solidFill>
                <a:latin typeface="Microsoft YaHei"/>
              </a:rPr>
              <a:t>B. 戴上普通口罩进去</a:t>
            </a:r>
          </a:p>
          <a:p>
            <a:pPr algn="l"/>
            <a:r>
              <a:rPr sz="1500" b="0">
                <a:solidFill>
                  <a:srgbClr val="222B33"/>
                </a:solidFill>
                <a:latin typeface="Microsoft YaHei"/>
              </a:rPr>
              <a:t>C. 不贸然进入，撤离并报告，拨打 119、120</a:t>
            </a:r>
          </a:p>
          <a:p>
            <a:pPr algn="l"/>
            <a:r>
              <a:rPr sz="1500" b="0">
                <a:solidFill>
                  <a:srgbClr val="222B33"/>
                </a:solidFill>
                <a:latin typeface="Microsoft YaHei"/>
              </a:rPr>
              <a:t>D. 先打开灯查看</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042 · 毒性、暴露途径与接触限值</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042 毒性、暴露途径与接触限值</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判断：只要接触浓度低于职业接触限值，就绝对安全，不需要再采取措施。</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简答：处理一瓶来历不明的样品应注意什么？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先想清楚：化学品怎么进入人体</a:t>
            </a:r>
          </a:p>
          <a:p>
            <a:pPr>
              <a:spcAft>
                <a:spcPts val="800"/>
              </a:spcAft>
            </a:pPr>
            <a:r>
              <a:rPr sz="1500">
                <a:solidFill>
                  <a:srgbClr val="FFFFFF"/>
                </a:solidFill>
                <a:latin typeface="Microsoft YaHei"/>
              </a:rPr>
              <a:t>▪ K2  吸入：最常见，闻到就已吸入</a:t>
            </a:r>
          </a:p>
          <a:p>
            <a:pPr>
              <a:spcAft>
                <a:spcPts val="800"/>
              </a:spcAft>
            </a:pPr>
            <a:r>
              <a:rPr sz="1500">
                <a:solidFill>
                  <a:srgbClr val="FFFFFF"/>
                </a:solidFill>
                <a:latin typeface="Microsoft YaHei"/>
              </a:rPr>
              <a:t>▪ K3  皮肤和眼睛：眼睛单列一条</a:t>
            </a:r>
          </a:p>
          <a:p>
            <a:pPr>
              <a:spcAft>
                <a:spcPts val="800"/>
              </a:spcAft>
            </a:pPr>
            <a:r>
              <a:rPr sz="1500">
                <a:solidFill>
                  <a:srgbClr val="FFFFFF"/>
                </a:solidFill>
                <a:latin typeface="Microsoft YaHei"/>
              </a:rPr>
              <a:t>▪ K4  注入和食入：碎玻璃与入口</a:t>
            </a:r>
          </a:p>
          <a:p>
            <a:pPr>
              <a:spcAft>
                <a:spcPts val="800"/>
              </a:spcAft>
            </a:pPr>
            <a:r>
              <a:rPr sz="1500">
                <a:solidFill>
                  <a:srgbClr val="FFFFFF"/>
                </a:solidFill>
                <a:latin typeface="Microsoft YaHei"/>
              </a:rPr>
              <a:t>▪ K5  例：农药能吸入，也能透皮</a:t>
            </a:r>
          </a:p>
          <a:p>
            <a:pPr>
              <a:spcAft>
                <a:spcPts val="800"/>
              </a:spcAft>
            </a:pPr>
            <a:r>
              <a:rPr sz="1500">
                <a:solidFill>
                  <a:srgbClr val="FFFFFF"/>
                </a:solidFill>
                <a:latin typeface="Microsoft YaHei"/>
              </a:rPr>
              <a:t>▪ K6  未知物一律按有毒对待</a:t>
            </a:r>
          </a:p>
          <a:p>
            <a:pPr>
              <a:spcAft>
                <a:spcPts val="800"/>
              </a:spcAft>
            </a:pPr>
            <a:r>
              <a:rPr sz="1500">
                <a:solidFill>
                  <a:srgbClr val="FFFFFF"/>
                </a:solidFill>
                <a:latin typeface="Microsoft YaHei"/>
              </a:rPr>
              <a:t>▪ K7  急性与慢性：伤害会累积</a:t>
            </a:r>
          </a:p>
          <a:p>
            <a:pPr>
              <a:spcAft>
                <a:spcPts val="800"/>
              </a:spcAft>
            </a:pPr>
            <a:r>
              <a:rPr sz="1500">
                <a:solidFill>
                  <a:srgbClr val="FFFFFF"/>
                </a:solidFill>
                <a:latin typeface="Microsoft YaHei"/>
              </a:rPr>
              <a:t>▪ S1  剂量决定毒性：剂量—反应</a:t>
            </a:r>
          </a:p>
          <a:p>
            <a:pPr>
              <a:spcAft>
                <a:spcPts val="800"/>
              </a:spcAft>
            </a:pPr>
            <a:r>
              <a:rPr sz="1500">
                <a:solidFill>
                  <a:srgbClr val="FFFFFF"/>
                </a:solidFill>
                <a:latin typeface="Microsoft YaHei"/>
              </a:rPr>
              <a:t>▪ S2  致癌、致畸、致突变与特殊人群</a:t>
            </a:r>
          </a:p>
          <a:p>
            <a:pPr>
              <a:spcAft>
                <a:spcPts val="800"/>
              </a:spcAft>
            </a:pPr>
            <a:r>
              <a:rPr sz="1500">
                <a:solidFill>
                  <a:srgbClr val="FFFFFF"/>
                </a:solidFill>
                <a:latin typeface="Microsoft YaHei"/>
              </a:rPr>
              <a:t>▪ K8  症状可能迟发，就医说明接触史</a:t>
            </a:r>
          </a:p>
          <a:p>
            <a:pPr>
              <a:spcAft>
                <a:spcPts val="800"/>
              </a:spcAft>
            </a:pPr>
            <a:r>
              <a:rPr sz="1500">
                <a:solidFill>
                  <a:srgbClr val="FFFFFF"/>
                </a:solidFill>
                <a:latin typeface="Microsoft YaHei"/>
              </a:rPr>
              <a:t>▪ K9  接触限值：空气中有害物的浓度界线</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国内三类限值，以GBZ 2.1为准</a:t>
            </a:r>
          </a:p>
          <a:p>
            <a:pPr>
              <a:spcAft>
                <a:spcPts val="800"/>
              </a:spcAft>
            </a:pPr>
            <a:r>
              <a:rPr sz="1500">
                <a:solidFill>
                  <a:srgbClr val="FFFFFF"/>
                </a:solidFill>
                <a:latin typeface="Microsoft YaHei"/>
              </a:rPr>
              <a:t>▪ K11  时间加权平均：整天平均不能超</a:t>
            </a:r>
          </a:p>
          <a:p>
            <a:pPr>
              <a:spcAft>
                <a:spcPts val="800"/>
              </a:spcAft>
            </a:pPr>
            <a:r>
              <a:rPr sz="1500">
                <a:solidFill>
                  <a:srgbClr val="FFFFFF"/>
                </a:solidFill>
                <a:latin typeface="Microsoft YaHei"/>
              </a:rPr>
              <a:t>▪ K12  短时间接触：尖峰也不能超</a:t>
            </a:r>
          </a:p>
          <a:p>
            <a:pPr>
              <a:spcAft>
                <a:spcPts val="800"/>
              </a:spcAft>
            </a:pPr>
            <a:r>
              <a:rPr sz="1500">
                <a:solidFill>
                  <a:srgbClr val="FFFFFF"/>
                </a:solidFill>
                <a:latin typeface="Microsoft YaHei"/>
              </a:rPr>
              <a:t>▪ K13  最高容许浓度：任何时候不能超</a:t>
            </a:r>
          </a:p>
          <a:p>
            <a:pPr>
              <a:spcAft>
                <a:spcPts val="800"/>
              </a:spcAft>
            </a:pPr>
            <a:r>
              <a:rPr sz="1500">
                <a:solidFill>
                  <a:srgbClr val="FFFFFF"/>
                </a:solidFill>
                <a:latin typeface="Microsoft YaHei"/>
              </a:rPr>
              <a:t>▪ K14  立即威胁生命或健康的浓度</a:t>
            </a:r>
          </a:p>
          <a:p>
            <a:pPr>
              <a:spcAft>
                <a:spcPts val="800"/>
              </a:spcAft>
            </a:pPr>
            <a:r>
              <a:rPr sz="1500">
                <a:solidFill>
                  <a:srgbClr val="FFFFFF"/>
                </a:solidFill>
                <a:latin typeface="Microsoft YaHei"/>
              </a:rPr>
              <a:t>▪ K15  四个概念像四级台阶</a:t>
            </a:r>
          </a:p>
          <a:p>
            <a:pPr>
              <a:spcAft>
                <a:spcPts val="800"/>
              </a:spcAft>
            </a:pPr>
            <a:r>
              <a:rPr sz="1500">
                <a:solidFill>
                  <a:srgbClr val="FFFFFF"/>
                </a:solidFill>
                <a:latin typeface="Microsoft YaHei"/>
              </a:rPr>
              <a:t>▪ K16  限值不是安全线，越低越好</a:t>
            </a:r>
          </a:p>
          <a:p>
            <a:pPr>
              <a:spcAft>
                <a:spcPts val="800"/>
              </a:spcAft>
            </a:pPr>
            <a:r>
              <a:rPr sz="1500">
                <a:solidFill>
                  <a:srgbClr val="FFFFFF"/>
                </a:solidFill>
                <a:latin typeface="Microsoft YaHei"/>
              </a:rPr>
              <a:t>▪ K17  行动水平：该监测、该体检了</a:t>
            </a:r>
          </a:p>
          <a:p>
            <a:pPr>
              <a:spcAft>
                <a:spcPts val="800"/>
              </a:spcAft>
            </a:pPr>
            <a:r>
              <a:rPr sz="1500">
                <a:solidFill>
                  <a:srgbClr val="FFFFFF"/>
                </a:solidFill>
                <a:latin typeface="Microsoft YaHei"/>
              </a:rPr>
              <a:t>▪ K18  怀疑超标，请专业人员检测</a:t>
            </a:r>
          </a:p>
          <a:p>
            <a:pPr>
              <a:spcAft>
                <a:spcPts val="800"/>
              </a:spcAft>
            </a:pPr>
            <a:r>
              <a:rPr sz="1500">
                <a:solidFill>
                  <a:srgbClr val="FFFFFF"/>
                </a:solidFill>
                <a:latin typeface="Microsoft YaHei"/>
              </a:rPr>
              <a:t>▪ K19  检测结果要告知大家</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化学品储存原则与相容性</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58 镜）　适用对象：全体使用和管理化学品的高校本科生、研究生和教职工（必修）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能说出化学品按危险性质分类、分区储存的原则，以及储存场所的基本要求（参照 GB 15603-2022）。</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能判断常见不相容组合（酸与碱、氧化剂与易燃物、含氰试剂与酸、遇水危险品与易燃液体）并做到隔离存放，不按字母顺序排放。</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能做到容器合格匹配、固定位置、放低放稳、货架防倾倒，台面和通风柜不堆放试剂。</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能做到存量够用即可、标签清楚、账物相符、定期检查，过期变质试剂登记后交学校处置。</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日起施行）及《危险化学品安全管理条例》（以现行文本为准）：危险化学品分类储存，剧毒化学品专柜、专人管理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15603-2022（以现行文本为准）《危险化学品仓库储存通则》：分类、分区储存，禁忌物不得混存，储存场所通风、防火、温湿度要求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内容和项目顺序》：第 7 部分储存条件、第 10 部分禁配物</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系列（以现行文本为准）《化学品分类和标签规范》：危险性分类是分类储存的依据</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《国家危险废物名录》（以现行文本为准）：过期、变质试剂按危险废物交学校统一处置</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号，以现行文本为准）：化学品分类存放、控制存量、建立台账</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高校实验室安全检查项目表（以现行文本为准）：存放区通风、不相容化学品隔离、存量和台账要求</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储存不当，就谈不上安全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化学品大部分时间都在柜子里放着</a:t>
            </a:r>
          </a:p>
          <a:p>
            <a:pPr>
              <a:spcAft>
                <a:spcPts val="1000"/>
              </a:spcAft>
            </a:pPr>
            <a:r>
              <a:rPr sz="2000">
                <a:solidFill>
                  <a:srgbClr val="222B33"/>
                </a:solidFill>
                <a:latin typeface="Microsoft YaHei"/>
              </a:rPr>
              <a:t>▪ 储存没做好，操作也谈不上安全</a:t>
            </a:r>
          </a:p>
          <a:p>
            <a:pPr>
              <a:spcAft>
                <a:spcPts val="1000"/>
              </a:spcAft>
            </a:pPr>
            <a:r>
              <a:rPr sz="2000">
                <a:solidFill>
                  <a:srgbClr val="222B33"/>
                </a:solidFill>
                <a:latin typeface="Microsoft YaHei"/>
              </a:rPr>
              <a:t>▪ 储存是化学品全过程管理的重要一环</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一瓶化学品真正被取用的时间很短，大部分时间都在柜子或货架上放着。储存不当，比如不相容物混放、容器破损、存量过大，即使操作再规范，也可能在无人时发生泄漏、起火甚至爆炸。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只重视实验操作，忽视储存</a:t>
            </a:r>
          </a:p>
          <a:p>
            <a:pPr>
              <a:spcAft>
                <a:spcPts val="1000"/>
              </a:spcAft>
            </a:pPr>
            <a:r>
              <a:rPr sz="1500">
                <a:solidFill>
                  <a:srgbClr val="222B33"/>
                </a:solidFill>
                <a:latin typeface="Microsoft YaHei"/>
              </a:rPr>
              <a:t>▪ 认为放在柜子里就安全了</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按性质分类、分区存放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按主要危险性质分类、分区存放</a:t>
            </a:r>
          </a:p>
          <a:p>
            <a:pPr>
              <a:spcAft>
                <a:spcPts val="1000"/>
              </a:spcAft>
            </a:pPr>
            <a:r>
              <a:rPr sz="2000">
                <a:solidFill>
                  <a:srgbClr val="222B33"/>
                </a:solidFill>
                <a:latin typeface="Microsoft YaHei"/>
              </a:rPr>
              <a:t>▪ 易燃、氧化、腐蚀、毒害、气瓶各用专柜</a:t>
            </a:r>
          </a:p>
          <a:p>
            <a:pPr>
              <a:spcAft>
                <a:spcPts val="1000"/>
              </a:spcAft>
            </a:pPr>
            <a:r>
              <a:rPr sz="2000">
                <a:solidFill>
                  <a:srgbClr val="222B33"/>
                </a:solidFill>
                <a:latin typeface="Microsoft YaHei"/>
              </a:rPr>
              <a:t>▪ 储存场所通风防火，控制温湿度</a:t>
            </a:r>
          </a:p>
          <a:p>
            <a:pPr>
              <a:spcAft>
                <a:spcPts val="1000"/>
              </a:spcAft>
            </a:pPr>
            <a:r>
              <a:rPr sz="2000">
                <a:solidFill>
                  <a:srgbClr val="222B33"/>
                </a:solidFill>
                <a:latin typeface="Microsoft YaHei"/>
              </a:rPr>
              <a:t>▪ 建好台账，剧毒等管控化学品专人专柜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化学品按主要危险性质（易燃、氧化、腐蚀、毒害等，依据 GB 30000 系列的分类和说明书第 2 部分）分类、分区存放：易燃品、氧化剂、腐蚀品、毒害品分柜，气瓶单独固定存放（见第 131 课）。储存原则参照 GB 1……</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所有试剂混放在一个柜子里</a:t>
            </a:r>
          </a:p>
          <a:p>
            <a:pPr>
              <a:spcAft>
                <a:spcPts val="1000"/>
              </a:spcAft>
            </a:pPr>
            <a:r>
              <a:rPr sz="1500">
                <a:solidFill>
                  <a:srgbClr val="222B33"/>
                </a:solidFill>
                <a:latin typeface="Microsoft YaHei"/>
              </a:rPr>
              <a:t>▪ 剧毒品和普通试剂放在一起</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不相容物一定隔开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酸和碱放一起，泄漏会剧烈放热</a:t>
            </a:r>
          </a:p>
          <a:p>
            <a:pPr>
              <a:spcAft>
                <a:spcPts val="1000"/>
              </a:spcAft>
            </a:pPr>
            <a:r>
              <a:rPr sz="2000">
                <a:solidFill>
                  <a:srgbClr val="222B33"/>
                </a:solidFill>
                <a:latin typeface="Microsoft YaHei"/>
              </a:rPr>
              <a:t>▪ 含氰试剂碰到酸，会放出剧毒气体</a:t>
            </a:r>
          </a:p>
          <a:p>
            <a:pPr>
              <a:spcAft>
                <a:spcPts val="1000"/>
              </a:spcAft>
            </a:pPr>
            <a:r>
              <a:rPr sz="2000">
                <a:solidFill>
                  <a:srgbClr val="222B33"/>
                </a:solidFill>
                <a:latin typeface="Microsoft YaHei"/>
              </a:rPr>
              <a:t>▪ 氧化剂和易燃物，绝不能放一起</a:t>
            </a:r>
          </a:p>
          <a:p>
            <a:pPr>
              <a:spcAft>
                <a:spcPts val="1000"/>
              </a:spcAft>
            </a:pPr>
            <a:r>
              <a:rPr sz="2000">
                <a:solidFill>
                  <a:srgbClr val="222B33"/>
                </a:solidFill>
                <a:latin typeface="Microsoft YaHei"/>
              </a:rPr>
              <a:t>▪ 拿不准，查说明书第 7、10 部分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相互会发生危险反应的化学品叫不相容物（禁配物），必须分开存放：酸和碱放在一起，容器泄漏时会剧烈放热；含氰化物的试剂碰到酸，会放出剧毒气体；氧化剂和易燃物放在一起，可能引起燃烧甚至爆炸。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酸碱放在同一层</a:t>
            </a:r>
          </a:p>
          <a:p>
            <a:pPr>
              <a:spcAft>
                <a:spcPts val="1000"/>
              </a:spcAft>
            </a:pPr>
            <a:r>
              <a:rPr sz="1500">
                <a:solidFill>
                  <a:srgbClr val="222B33"/>
                </a:solidFill>
                <a:latin typeface="Microsoft YaHei"/>
              </a:rPr>
              <a:t>▪ 不查禁配物，凭经验摆放</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遇水危险品不与易燃液体同室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遇水会着火的物质，不与易燃液体同室存放</a:t>
            </a:r>
          </a:p>
          <a:p>
            <a:pPr>
              <a:spcAft>
                <a:spcPts val="1000"/>
              </a:spcAft>
            </a:pPr>
            <a:r>
              <a:rPr sz="2000">
                <a:solidFill>
                  <a:srgbClr val="222B33"/>
                </a:solidFill>
                <a:latin typeface="Microsoft YaHei"/>
              </a:rPr>
              <a:t>▪ 遇水危险品干燥密封，远离水源</a:t>
            </a:r>
          </a:p>
          <a:p>
            <a:pPr>
              <a:spcAft>
                <a:spcPts val="1000"/>
              </a:spcAft>
            </a:pPr>
            <a:r>
              <a:rPr sz="2000">
                <a:solidFill>
                  <a:srgbClr val="222B33"/>
                </a:solidFill>
                <a:latin typeface="Microsoft YaHei"/>
              </a:rPr>
              <a:t>▪ 同室着火时用水灭火会更危险</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遇水会放出易燃气体或着火的物质（遇湿易燃物品），不能和易燃液体放在同一个房间：一旦易燃液体着火，用水灭火会让遇水危险品反应，火势更大。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遇水危险品放在水槽下面的柜子</a:t>
            </a:r>
          </a:p>
          <a:p>
            <a:pPr>
              <a:spcAft>
                <a:spcPts val="1000"/>
              </a:spcAft>
            </a:pPr>
            <a:r>
              <a:rPr sz="1500">
                <a:solidFill>
                  <a:srgbClr val="222B33"/>
                </a:solidFill>
                <a:latin typeface="Microsoft YaHei"/>
              </a:rPr>
              <a:t>▪ 和易燃溶剂放在同一个房间</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不按字母顺序排放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按名称或字母顺序排，危险品可能挨在一起</a:t>
            </a:r>
          </a:p>
          <a:p>
            <a:pPr>
              <a:spcAft>
                <a:spcPts val="1000"/>
              </a:spcAft>
            </a:pPr>
            <a:r>
              <a:rPr sz="2000">
                <a:solidFill>
                  <a:srgbClr val="222B33"/>
                </a:solidFill>
                <a:latin typeface="Microsoft YaHei"/>
              </a:rPr>
              <a:t>▪ 先按危险类别分区，类内再按名称排</a:t>
            </a:r>
          </a:p>
          <a:p>
            <a:pPr>
              <a:spcAft>
                <a:spcPts val="1000"/>
              </a:spcAft>
            </a:pPr>
            <a:r>
              <a:rPr sz="2000">
                <a:solidFill>
                  <a:srgbClr val="222B33"/>
                </a:solidFill>
                <a:latin typeface="Microsoft YaHei"/>
              </a:rPr>
              <a:t>▪ 柜门贴分区图，放回不出错</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很多人习惯按名称拼音或字母顺序摆放试剂，方便查找，但这样不相容的化学品很可能挨在一起。正确做法是先按危险类别分区，在同一类别内部再按名称排序，兼顾安全和查找。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整个试剂柜按字母顺序排列</a:t>
            </a:r>
          </a:p>
          <a:p>
            <a:pPr>
              <a:spcAft>
                <a:spcPts val="1000"/>
              </a:spcAft>
            </a:pPr>
            <a:r>
              <a:rPr sz="1500">
                <a:solidFill>
                  <a:srgbClr val="222B33"/>
                </a:solidFill>
                <a:latin typeface="Microsoft YaHei"/>
              </a:rPr>
              <a:t>▪ 用完随手放到空位上</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容器合格，与物质匹配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容器本身要合格，没有破损</a:t>
            </a:r>
          </a:p>
          <a:p>
            <a:pPr>
              <a:spcAft>
                <a:spcPts val="1000"/>
              </a:spcAft>
            </a:pPr>
            <a:r>
              <a:rPr sz="2000">
                <a:solidFill>
                  <a:srgbClr val="222B33"/>
                </a:solidFill>
                <a:latin typeface="Microsoft YaHei"/>
              </a:rPr>
              <a:t>▪ 容器材质与物质匹配，耐腐蚀、能密封</a:t>
            </a:r>
          </a:p>
          <a:p>
            <a:pPr>
              <a:spcAft>
                <a:spcPts val="1000"/>
              </a:spcAft>
            </a:pPr>
            <a:r>
              <a:rPr sz="2000">
                <a:solidFill>
                  <a:srgbClr val="222B33"/>
                </a:solidFill>
                <a:latin typeface="Microsoft YaHei"/>
              </a:rPr>
              <a:t>▪ 不用饮料瓶装试剂，不敞口放置</a:t>
            </a:r>
          </a:p>
          <a:p>
            <a:pPr>
              <a:spcAft>
                <a:spcPts val="1000"/>
              </a:spcAft>
            </a:pPr>
            <a:r>
              <a:rPr sz="2000">
                <a:solidFill>
                  <a:srgbClr val="222B33"/>
                </a:solidFill>
                <a:latin typeface="Microsoft YaHei"/>
              </a:rPr>
              <a:t>▪ 生物样品放进密封、防漏的盒子</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储存容器本身要合格，无裂纹、无破损，瓶盖完好；还要和所装物质相匹配，考虑是否耐腐蚀、是否能密封，例如某些腐蚀性液体不能用金属容器，见光分解的用棕色瓶。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用矿泉水瓶分装试剂</a:t>
            </a:r>
          </a:p>
          <a:p>
            <a:pPr>
              <a:spcAft>
                <a:spcPts val="1000"/>
              </a:spcAft>
            </a:pPr>
            <a:r>
              <a:rPr sz="1500">
                <a:solidFill>
                  <a:srgbClr val="222B33"/>
                </a:solidFill>
                <a:latin typeface="Microsoft YaHei"/>
              </a:rPr>
              <a:t>▪ 用不耐腐蚀的容器长期存放酸碱</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固定位置，阴凉通风避光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每种化学品都有固定位置，用完马上放回</a:t>
            </a:r>
          </a:p>
          <a:p>
            <a:pPr>
              <a:spcAft>
                <a:spcPts val="1000"/>
              </a:spcAft>
            </a:pPr>
            <a:r>
              <a:rPr sz="2000">
                <a:solidFill>
                  <a:srgbClr val="222B33"/>
                </a:solidFill>
                <a:latin typeface="Microsoft YaHei"/>
              </a:rPr>
              <a:t>▪ 远离热源，避开阳光直射</a:t>
            </a:r>
          </a:p>
          <a:p>
            <a:pPr>
              <a:spcAft>
                <a:spcPts val="1000"/>
              </a:spcAft>
            </a:pPr>
            <a:r>
              <a:rPr sz="2000">
                <a:solidFill>
                  <a:srgbClr val="222B33"/>
                </a:solidFill>
                <a:latin typeface="Microsoft YaHei"/>
              </a:rPr>
              <a:t>▪ 储存处通风、阴凉、避光</a:t>
            </a:r>
          </a:p>
          <a:p>
            <a:pPr>
              <a:spcAft>
                <a:spcPts val="1000"/>
              </a:spcAft>
            </a:pPr>
            <a:r>
              <a:rPr sz="2000">
                <a:solidFill>
                  <a:srgbClr val="222B33"/>
                </a:solidFill>
                <a:latin typeface="Microsoft YaHei"/>
              </a:rPr>
              <a:t>▪ 易燃试剂冷藏要用防爆冰箱</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每种化学品在柜内都有固定的位置，用完马上放回原处，既方便查找，也避免误放到不相容物旁边。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用完随手放在窗台或台面</a:t>
            </a:r>
          </a:p>
          <a:p>
            <a:pPr>
              <a:spcAft>
                <a:spcPts val="1000"/>
              </a:spcAft>
            </a:pPr>
            <a:r>
              <a:rPr sz="1500">
                <a:solidFill>
                  <a:srgbClr val="222B33"/>
                </a:solidFill>
                <a:latin typeface="Microsoft YaHei"/>
              </a:rPr>
              <a:t>▪ 易燃试剂放在普通家用冰箱</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台面和通风柜不是仓库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台面和通风柜不能当化学品仓库</a:t>
            </a:r>
          </a:p>
          <a:p>
            <a:pPr>
              <a:spcAft>
                <a:spcPts val="1000"/>
              </a:spcAft>
            </a:pPr>
            <a:r>
              <a:rPr sz="2000">
                <a:solidFill>
                  <a:srgbClr val="222B33"/>
                </a:solidFill>
                <a:latin typeface="Microsoft YaHei"/>
              </a:rPr>
              <a:t>▪ 堆在台面上容易碰倒</a:t>
            </a:r>
          </a:p>
          <a:p>
            <a:pPr>
              <a:spcAft>
                <a:spcPts val="1000"/>
              </a:spcAft>
            </a:pPr>
            <a:r>
              <a:rPr sz="2000">
                <a:solidFill>
                  <a:srgbClr val="222B33"/>
                </a:solidFill>
                <a:latin typeface="Microsoft YaHei"/>
              </a:rPr>
              <a:t>▪ 着火时台面上的化学品没有任何保护</a:t>
            </a:r>
          </a:p>
          <a:p>
            <a:pPr>
              <a:spcAft>
                <a:spcPts val="1000"/>
              </a:spcAft>
            </a:pPr>
            <a:r>
              <a:rPr sz="2000">
                <a:solidFill>
                  <a:srgbClr val="222B33"/>
                </a:solidFill>
                <a:latin typeface="Microsoft YaHei"/>
              </a:rPr>
              <a:t>▪ 通风柜堆满试剂会挡住气流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实验台面和通风柜是做实验的地方，不是储存化学品的仓库。化学品堆在台面上，容易被碰倒、打翻；一旦着火，台面上的化学品没有任何保护，会使火势迅速扩大。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常用试剂长期摆在台面上</a:t>
            </a:r>
          </a:p>
          <a:p>
            <a:pPr>
              <a:spcAft>
                <a:spcPts val="1000"/>
              </a:spcAft>
            </a:pPr>
            <a:r>
              <a:rPr sz="1500">
                <a:solidFill>
                  <a:srgbClr val="222B33"/>
                </a:solidFill>
                <a:latin typeface="Microsoft YaHei"/>
              </a:rPr>
              <a:t>▪ 把通风柜当储存柜用</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放低放稳，大瓶下层配托盘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试剂不放地上、不放高处</a:t>
            </a:r>
          </a:p>
          <a:p>
            <a:pPr>
              <a:spcAft>
                <a:spcPts val="1000"/>
              </a:spcAft>
            </a:pPr>
            <a:r>
              <a:rPr sz="2000">
                <a:solidFill>
                  <a:srgbClr val="222B33"/>
                </a:solidFill>
                <a:latin typeface="Microsoft YaHei"/>
              </a:rPr>
              <a:t>▪ 大瓶酸碱放在柜子下层</a:t>
            </a:r>
          </a:p>
          <a:p>
            <a:pPr>
              <a:spcAft>
                <a:spcPts val="1000"/>
              </a:spcAft>
            </a:pPr>
            <a:r>
              <a:rPr sz="2000">
                <a:solidFill>
                  <a:srgbClr val="222B33"/>
                </a:solidFill>
                <a:latin typeface="Microsoft YaHei"/>
              </a:rPr>
              <a:t>▪ 配托盘，泄漏时能接住</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化学品不放在地上（易被踢倒），也不放在高处（取放时易掉落、液体会溅到脸上）。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大瓶酸放在高于视线的架子上</a:t>
            </a:r>
          </a:p>
          <a:p>
            <a:pPr>
              <a:spcAft>
                <a:spcPts val="1000"/>
              </a:spcAft>
            </a:pPr>
            <a:r>
              <a:rPr sz="1500">
                <a:solidFill>
                  <a:srgbClr val="222B33"/>
                </a:solidFill>
                <a:latin typeface="Microsoft YaHei"/>
              </a:rPr>
              <a:t>▪ 试剂瓶直接放在地上</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货架牢固，防倾倒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货架要牢固，固定在墙上或地面</a:t>
            </a:r>
          </a:p>
          <a:p>
            <a:pPr>
              <a:spcAft>
                <a:spcPts val="1000"/>
              </a:spcAft>
            </a:pPr>
            <a:r>
              <a:rPr sz="2000">
                <a:solidFill>
                  <a:srgbClr val="222B33"/>
                </a:solidFill>
                <a:latin typeface="Microsoft YaHei"/>
              </a:rPr>
              <a:t>▪ 隔板有挡边，瓶子往里放</a:t>
            </a:r>
          </a:p>
          <a:p>
            <a:pPr>
              <a:spcAft>
                <a:spcPts val="1000"/>
              </a:spcAft>
            </a:pPr>
            <a:r>
              <a:rPr sz="2000">
                <a:solidFill>
                  <a:srgbClr val="222B33"/>
                </a:solidFill>
                <a:latin typeface="Microsoft YaHei"/>
              </a:rPr>
              <a:t>▪ 不超载，重的放下面</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储存化学品的货架、柜子要牢固稳定，必要时固定在墙上或地面，防止倾倒。隔板边缘宜有挡边，瓶子不要靠在架边放。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高货架不固定，一碰就晃</a:t>
            </a:r>
          </a:p>
          <a:p>
            <a:pPr>
              <a:spcAft>
                <a:spcPts val="1000"/>
              </a:spcAft>
            </a:pPr>
            <a:r>
              <a:rPr sz="1500">
                <a:solidFill>
                  <a:srgbClr val="222B33"/>
                </a:solidFill>
                <a:latin typeface="Microsoft YaHei"/>
              </a:rPr>
              <a:t>▪ 瓶子摆在隔板边缘</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存量控制：够用就好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实验室存量够用就好，不囤货</a:t>
            </a:r>
          </a:p>
          <a:p>
            <a:pPr>
              <a:spcAft>
                <a:spcPts val="1000"/>
              </a:spcAft>
            </a:pPr>
            <a:r>
              <a:rPr sz="2000">
                <a:solidFill>
                  <a:srgbClr val="222B33"/>
                </a:solidFill>
                <a:latin typeface="Microsoft YaHei"/>
              </a:rPr>
              <a:t>▪ 能存多少按学校规定，问清楚再存</a:t>
            </a:r>
          </a:p>
          <a:p>
            <a:pPr>
              <a:spcAft>
                <a:spcPts val="1000"/>
              </a:spcAft>
            </a:pPr>
            <a:r>
              <a:rPr sz="2000">
                <a:solidFill>
                  <a:srgbClr val="222B33"/>
                </a:solidFill>
                <a:latin typeface="Microsoft YaHei"/>
              </a:rPr>
              <a:t>▪ 柜外易燃液体有上限，超出放进安全柜</a:t>
            </a:r>
          </a:p>
          <a:p>
            <a:pPr>
              <a:spcAft>
                <a:spcPts val="1000"/>
              </a:spcAft>
            </a:pPr>
            <a:r>
              <a:rPr sz="2000">
                <a:solidFill>
                  <a:srgbClr val="222B33"/>
                </a:solidFill>
                <a:latin typeface="Microsoft YaHei"/>
              </a:rPr>
              <a:t>▪ 按需领用，用多少领多少</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实验室存放化学品的数量是有规定的，存得越多，一旦发生火灾或泄漏，后果越严重。存量够用就好，不囤货；具体限量以学校和学院规定为准，问清楚再存。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为了“省事”一次买很多</a:t>
            </a:r>
          </a:p>
          <a:p>
            <a:pPr>
              <a:spcAft>
                <a:spcPts val="1000"/>
              </a:spcAft>
            </a:pPr>
            <a:r>
              <a:rPr sz="1500">
                <a:solidFill>
                  <a:srgbClr val="222B33"/>
                </a:solidFill>
                <a:latin typeface="Microsoft YaHei"/>
              </a:rPr>
              <a:t>▪ 易燃溶剂大量堆放在柜外</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标签清楚，账物相符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每瓶化学品都要有清楚的标签</a:t>
            </a:r>
          </a:p>
          <a:p>
            <a:pPr>
              <a:spcAft>
                <a:spcPts val="1000"/>
              </a:spcAft>
            </a:pPr>
            <a:r>
              <a:rPr sz="2000">
                <a:solidFill>
                  <a:srgbClr val="222B33"/>
                </a:solidFill>
                <a:latin typeface="Microsoft YaHei"/>
              </a:rPr>
              <a:t>▪ 摆放整齐</a:t>
            </a:r>
          </a:p>
          <a:p>
            <a:pPr>
              <a:spcAft>
                <a:spcPts val="1000"/>
              </a:spcAft>
            </a:pPr>
            <a:r>
              <a:rPr sz="2000">
                <a:solidFill>
                  <a:srgbClr val="222B33"/>
                </a:solidFill>
                <a:latin typeface="Microsoft YaHei"/>
              </a:rPr>
              <a:t>▪ 台账记录入库、领用、剩余</a:t>
            </a:r>
          </a:p>
          <a:p>
            <a:pPr>
              <a:spcAft>
                <a:spcPts val="1000"/>
              </a:spcAft>
            </a:pPr>
            <a:r>
              <a:rPr sz="2000">
                <a:solidFill>
                  <a:srgbClr val="222B33"/>
                </a:solidFill>
                <a:latin typeface="Microsoft YaHei"/>
              </a:rPr>
              <a:t>▪ 台账和实物要对得上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安全检查时常问：试剂柜里哪里不对？最常见的问题是瓶子没有标签、标签模糊或摆放杂乱。每瓶化学品都要有清楚的标签（自配溶液也要标明名称、浓度、日期和配制人，见第 039 课），摆放整齐。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自配溶液不贴标签</a:t>
            </a:r>
          </a:p>
          <a:p>
            <a:pPr>
              <a:spcAft>
                <a:spcPts val="1000"/>
              </a:spcAft>
            </a:pPr>
            <a:r>
              <a:rPr sz="1500">
                <a:solidFill>
                  <a:srgbClr val="222B33"/>
                </a:solidFill>
                <a:latin typeface="Microsoft YaHei"/>
              </a:rPr>
              <a:t>▪ 台账多年不更新，与实物对不上</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经常检查储存容器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经常检查储存的容器</a:t>
            </a:r>
          </a:p>
          <a:p>
            <a:pPr>
              <a:spcAft>
                <a:spcPts val="1000"/>
              </a:spcAft>
            </a:pPr>
            <a:r>
              <a:rPr sz="2000">
                <a:solidFill>
                  <a:srgbClr val="222B33"/>
                </a:solidFill>
                <a:latin typeface="Microsoft YaHei"/>
              </a:rPr>
              <a:t>▪ 看有没有腐蚀、渗漏、变质</a:t>
            </a:r>
          </a:p>
          <a:p>
            <a:pPr>
              <a:spcAft>
                <a:spcPts val="1000"/>
              </a:spcAft>
            </a:pPr>
            <a:r>
              <a:rPr sz="2000">
                <a:solidFill>
                  <a:srgbClr val="222B33"/>
                </a:solidFill>
                <a:latin typeface="Microsoft YaHei"/>
              </a:rPr>
              <a:t>▪ 靠在架边的瓶子，往里推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储存的化学品要定期检查：容器和瓶盖有没有腐蚀、裂纹，有没有渗漏，内容物有没有变色、结块、分层等变质迹象，标签是否清楚。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试剂放进柜子就多年不看</a:t>
            </a:r>
          </a:p>
          <a:p>
            <a:pPr>
              <a:spcAft>
                <a:spcPts val="1000"/>
              </a:spcAft>
            </a:pPr>
            <a:r>
              <a:rPr sz="1500">
                <a:solidFill>
                  <a:srgbClr val="222B33"/>
                </a:solidFill>
                <a:latin typeface="Microsoft YaHei"/>
              </a:rPr>
              <a:t>▪ 发现瓶盖锈蚀也不处理</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过期变质试剂及时清理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柜子深处的老试剂也是隐患</a:t>
            </a:r>
          </a:p>
          <a:p>
            <a:pPr>
              <a:spcAft>
                <a:spcPts val="1000"/>
              </a:spcAft>
            </a:pPr>
            <a:r>
              <a:rPr sz="2000">
                <a:solidFill>
                  <a:srgbClr val="222B33"/>
                </a:solidFill>
                <a:latin typeface="Microsoft YaHei"/>
              </a:rPr>
              <a:t>▪ 过期、变质、标签不清的要登记</a:t>
            </a:r>
          </a:p>
          <a:p>
            <a:pPr>
              <a:spcAft>
                <a:spcPts val="1000"/>
              </a:spcAft>
            </a:pPr>
            <a:r>
              <a:rPr sz="2000">
                <a:solidFill>
                  <a:srgbClr val="222B33"/>
                </a:solidFill>
                <a:latin typeface="Microsoft YaHei"/>
              </a:rPr>
              <a:t>▪ 交学校统一处置，别自己倒掉</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柜子深处多年不用的老试剂，可能已经变质、容器老化，有的还会随时间产生危险（如生成过氧化物），是常见隐患。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把过期试剂倒进水槽</a:t>
            </a:r>
          </a:p>
          <a:p>
            <a:pPr>
              <a:spcAft>
                <a:spcPts val="1000"/>
              </a:spcAft>
            </a:pPr>
            <a:r>
              <a:rPr sz="1500">
                <a:solidFill>
                  <a:srgbClr val="222B33"/>
                </a:solidFill>
                <a:latin typeface="Microsoft YaHei"/>
              </a:rPr>
              <a:t>▪ 老试剂舍不得处理，一直留着</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下列哪组化学品可以放在同一储存柜的同一层？</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浓盐酸和氢氧化钠溶液</a:t>
            </a:r>
          </a:p>
          <a:p>
            <a:pPr algn="l"/>
            <a:r>
              <a:rPr sz="1500" b="0">
                <a:solidFill>
                  <a:srgbClr val="222B33"/>
                </a:solidFill>
                <a:latin typeface="Microsoft YaHei"/>
              </a:rPr>
              <a:t>B. 含氰试剂和硫酸</a:t>
            </a:r>
          </a:p>
          <a:p>
            <a:pPr algn="l"/>
            <a:r>
              <a:rPr sz="1500" b="0">
                <a:solidFill>
                  <a:srgbClr val="222B33"/>
                </a:solidFill>
                <a:latin typeface="Microsoft YaHei"/>
              </a:rPr>
              <a:t>C. 两种同类的有机易燃溶剂</a:t>
            </a:r>
          </a:p>
          <a:p>
            <a:pPr algn="l"/>
            <a:r>
              <a:rPr sz="1500" b="0">
                <a:solidFill>
                  <a:srgbClr val="222B33"/>
                </a:solidFill>
                <a:latin typeface="Microsoft YaHei"/>
              </a:rPr>
              <a:t>D. 高锰酸钾和乙醇</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判断：为了方便查找，试剂柜里的化学品最好全部按名称字母顺序排列。</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大瓶酸碱的正确存放位置是：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柜顶</a:t>
            </a:r>
          </a:p>
          <a:p>
            <a:pPr algn="l"/>
            <a:r>
              <a:rPr sz="1500" b="0">
                <a:solidFill>
                  <a:srgbClr val="222B33"/>
                </a:solidFill>
                <a:latin typeface="Microsoft YaHei"/>
              </a:rPr>
              <a:t>B. 地面</a:t>
            </a:r>
          </a:p>
          <a:p>
            <a:pPr algn="l"/>
            <a:r>
              <a:rPr sz="1500" b="0">
                <a:solidFill>
                  <a:srgbClr val="222B33"/>
                </a:solidFill>
                <a:latin typeface="Microsoft YaHei"/>
              </a:rPr>
              <a:t>C. 柜子下层，配托盘</a:t>
            </a:r>
          </a:p>
          <a:p>
            <a:pPr algn="l"/>
            <a:r>
              <a:rPr sz="1500" b="0">
                <a:solidFill>
                  <a:srgbClr val="222B33"/>
                </a:solidFill>
                <a:latin typeface="Microsoft YaHei"/>
              </a:rPr>
              <a:t>D. 通风柜内</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判断：过期或标签不清的试剂，可以用大量水稀释后倒入下水道。</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043 · 化学品储存原则与相容性</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043 化学品储存原则与相容性</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简答：实验室化学品储存要做到哪几点？</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储存不当，就谈不上安全</a:t>
            </a:r>
          </a:p>
          <a:p>
            <a:pPr>
              <a:spcAft>
                <a:spcPts val="800"/>
              </a:spcAft>
            </a:pPr>
            <a:r>
              <a:rPr sz="1500">
                <a:solidFill>
                  <a:srgbClr val="FFFFFF"/>
                </a:solidFill>
                <a:latin typeface="Microsoft YaHei"/>
              </a:rPr>
              <a:t>▪ K2  按性质分类、分区存放</a:t>
            </a:r>
          </a:p>
          <a:p>
            <a:pPr>
              <a:spcAft>
                <a:spcPts val="800"/>
              </a:spcAft>
            </a:pPr>
            <a:r>
              <a:rPr sz="1500">
                <a:solidFill>
                  <a:srgbClr val="FFFFFF"/>
                </a:solidFill>
                <a:latin typeface="Microsoft YaHei"/>
              </a:rPr>
              <a:t>▪ K3  不相容物一定隔开</a:t>
            </a:r>
          </a:p>
          <a:p>
            <a:pPr>
              <a:spcAft>
                <a:spcPts val="800"/>
              </a:spcAft>
            </a:pPr>
            <a:r>
              <a:rPr sz="1500">
                <a:solidFill>
                  <a:srgbClr val="FFFFFF"/>
                </a:solidFill>
                <a:latin typeface="Microsoft YaHei"/>
              </a:rPr>
              <a:t>▪ K4  遇水危险品不与易燃液体同室</a:t>
            </a:r>
          </a:p>
          <a:p>
            <a:pPr>
              <a:spcAft>
                <a:spcPts val="800"/>
              </a:spcAft>
            </a:pPr>
            <a:r>
              <a:rPr sz="1500">
                <a:solidFill>
                  <a:srgbClr val="FFFFFF"/>
                </a:solidFill>
                <a:latin typeface="Microsoft YaHei"/>
              </a:rPr>
              <a:t>▪ S1  不按字母顺序排放</a:t>
            </a:r>
          </a:p>
          <a:p>
            <a:pPr>
              <a:spcAft>
                <a:spcPts val="800"/>
              </a:spcAft>
            </a:pPr>
            <a:r>
              <a:rPr sz="1500">
                <a:solidFill>
                  <a:srgbClr val="FFFFFF"/>
                </a:solidFill>
                <a:latin typeface="Microsoft YaHei"/>
              </a:rPr>
              <a:t>▪ K5  容器合格，与物质匹配</a:t>
            </a:r>
          </a:p>
          <a:p>
            <a:pPr>
              <a:spcAft>
                <a:spcPts val="800"/>
              </a:spcAft>
            </a:pPr>
            <a:r>
              <a:rPr sz="1500">
                <a:solidFill>
                  <a:srgbClr val="FFFFFF"/>
                </a:solidFill>
                <a:latin typeface="Microsoft YaHei"/>
              </a:rPr>
              <a:t>▪ K6  固定位置，阴凉通风避光</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台面和通风柜不是仓库</a:t>
            </a:r>
          </a:p>
          <a:p>
            <a:pPr>
              <a:spcAft>
                <a:spcPts val="800"/>
              </a:spcAft>
            </a:pPr>
            <a:r>
              <a:rPr sz="1500">
                <a:solidFill>
                  <a:srgbClr val="FFFFFF"/>
                </a:solidFill>
                <a:latin typeface="Microsoft YaHei"/>
              </a:rPr>
              <a:t>▪ K8  放低放稳，大瓶下层配托盘</a:t>
            </a:r>
          </a:p>
          <a:p>
            <a:pPr>
              <a:spcAft>
                <a:spcPts val="800"/>
              </a:spcAft>
            </a:pPr>
            <a:r>
              <a:rPr sz="1500">
                <a:solidFill>
                  <a:srgbClr val="FFFFFF"/>
                </a:solidFill>
                <a:latin typeface="Microsoft YaHei"/>
              </a:rPr>
              <a:t>▪ S2  货架牢固，防倾倒</a:t>
            </a:r>
          </a:p>
          <a:p>
            <a:pPr>
              <a:spcAft>
                <a:spcPts val="800"/>
              </a:spcAft>
            </a:pPr>
            <a:r>
              <a:rPr sz="1500">
                <a:solidFill>
                  <a:srgbClr val="FFFFFF"/>
                </a:solidFill>
                <a:latin typeface="Microsoft YaHei"/>
              </a:rPr>
              <a:t>▪ K9  存量控制：够用就好</a:t>
            </a:r>
          </a:p>
          <a:p>
            <a:pPr>
              <a:spcAft>
                <a:spcPts val="800"/>
              </a:spcAft>
            </a:pPr>
            <a:r>
              <a:rPr sz="1500">
                <a:solidFill>
                  <a:srgbClr val="FFFFFF"/>
                </a:solidFill>
                <a:latin typeface="Microsoft YaHei"/>
              </a:rPr>
              <a:t>▪ K10  标签清楚，账物相符</a:t>
            </a:r>
          </a:p>
          <a:p>
            <a:pPr>
              <a:spcAft>
                <a:spcPts val="800"/>
              </a:spcAft>
            </a:pPr>
            <a:r>
              <a:rPr sz="1500">
                <a:solidFill>
                  <a:srgbClr val="FFFFFF"/>
                </a:solidFill>
                <a:latin typeface="Microsoft YaHei"/>
              </a:rPr>
              <a:t>▪ K11  经常检查储存容器</a:t>
            </a:r>
          </a:p>
          <a:p>
            <a:pPr>
              <a:spcAft>
                <a:spcPts val="800"/>
              </a:spcAft>
            </a:pPr>
            <a:r>
              <a:rPr sz="1500">
                <a:solidFill>
                  <a:srgbClr val="FFFFFF"/>
                </a:solidFill>
                <a:latin typeface="Microsoft YaHei"/>
              </a:rPr>
              <a:t>▪ K12  过期变质试剂及时清理</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安全柜与化学品冰箱</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48 镜）　适用对象：全体使用和管理化学品的高校本科生、研究生和教职工（必修）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能说出易燃品柜、酸碱腐蚀品柜、毒害品柜各自的用途，做到易燃、腐蚀、毒害化学品各进专柜。</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能做到少量易燃液体用安全罐分装、用完放回柜内、台面只留当天少量，柜门关好、柜内柜前不堆杂物。</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能说出安全柜通风须有阻火措施、柜体按说明接地，具体以产品说明和本校规定为准。</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能判断普通冰箱不能存放易燃物、冷藏易燃试剂须用防爆冰箱，化学品冰箱专用、禁止存放食物饮料。</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日起施行）及《危险化学品安全管理条例》（以现行文本为准）：危险化学品专用储存设施，剧毒化学品专柜储存、专人管理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15603-2022（以现行文本为准）《危险化学品仓库储存通则》：分类、分区储存，禁忌物不得混存，储存设施防火、通风</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系列（以现行文本为准）《化学品分类和标签规范》：易燃、腐蚀、急性毒性等危险性分类是选柜依据</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2894-2025（以现行文本为准）《安全色和安全标志》：储存柜、冰箱上的警告和禁止标志</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号，以现行文本为准）：危险化学品分类存放于专用柜，控制存量，剧毒品双人双锁</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高校实验室安全检查项目表（以现行文本为准）：易燃品柜、腐蚀品柜、毒害品柜的配置与使用，存放化学品的冰箱须防爆或经防爆改造，不得存放食物</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本校危险化学品储存和安全柜、冰箱管理规定</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易燃液体放进合格的易燃品柜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易燃液体不能堆在开放架子上</a:t>
            </a:r>
          </a:p>
          <a:p>
            <a:pPr>
              <a:spcAft>
                <a:spcPts val="1000"/>
              </a:spcAft>
            </a:pPr>
            <a:r>
              <a:rPr sz="2000">
                <a:solidFill>
                  <a:srgbClr val="222B33"/>
                </a:solidFill>
                <a:latin typeface="Microsoft YaHei"/>
              </a:rPr>
              <a:t>▪ 放进合格的易燃品安全柜</a:t>
            </a:r>
          </a:p>
          <a:p>
            <a:pPr>
              <a:spcAft>
                <a:spcPts val="1000"/>
              </a:spcAft>
            </a:pPr>
            <a:r>
              <a:rPr sz="2000">
                <a:solidFill>
                  <a:srgbClr val="222B33"/>
                </a:solidFill>
                <a:latin typeface="Microsoft YaHei"/>
              </a:rPr>
              <a:t>▪ 柜上贴易燃警示，远离火源</a:t>
            </a:r>
          </a:p>
          <a:p>
            <a:pPr>
              <a:spcAft>
                <a:spcPts val="1000"/>
              </a:spcAft>
            </a:pPr>
            <a:r>
              <a:rPr sz="2000">
                <a:solidFill>
                  <a:srgbClr val="222B33"/>
                </a:solidFill>
                <a:latin typeface="Microsoft YaHei"/>
              </a:rPr>
              <a:t>▪ 量更大的进学校专用库房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易燃液体（乙醇、丙酮、乙醚、石油醚等有机溶剂）不能堆放在开放的架子上，尤其不能放在木架子上，要放进合格的易燃品安全柜。合格的易燃品柜一般为双层钢板结构，柜门能关严，在发生火灾时能在一段时间内减缓柜内温度上升，为疏散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易燃溶剂放在敞开的木架或窗台上</a:t>
            </a:r>
          </a:p>
          <a:p>
            <a:pPr>
              <a:spcAft>
                <a:spcPts val="1000"/>
              </a:spcAft>
            </a:pPr>
            <a:r>
              <a:rPr sz="1500">
                <a:solidFill>
                  <a:srgbClr val="222B33"/>
                </a:solidFill>
                <a:latin typeface="Microsoft YaHei"/>
              </a:rPr>
              <a:t>▪ 用普通文件柜代替易燃品柜</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少量分装用安全罐，量多进柜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少量易燃液体用合格的安全罐装</a:t>
            </a:r>
          </a:p>
          <a:p>
            <a:pPr>
              <a:spcAft>
                <a:spcPts val="1000"/>
              </a:spcAft>
            </a:pPr>
            <a:r>
              <a:rPr sz="2000">
                <a:solidFill>
                  <a:srgbClr val="222B33"/>
                </a:solidFill>
                <a:latin typeface="Microsoft YaHei"/>
              </a:rPr>
              <a:t>▪ 罐口阻火装置能挡住回火</a:t>
            </a:r>
          </a:p>
          <a:p>
            <a:pPr>
              <a:spcAft>
                <a:spcPts val="1000"/>
              </a:spcAft>
            </a:pPr>
            <a:r>
              <a:rPr sz="2000">
                <a:solidFill>
                  <a:srgbClr val="222B33"/>
                </a:solidFill>
                <a:latin typeface="Microsoft YaHei"/>
              </a:rPr>
              <a:t>▪ 每个容器都贴好标签</a:t>
            </a:r>
          </a:p>
          <a:p>
            <a:pPr>
              <a:spcAft>
                <a:spcPts val="1000"/>
              </a:spcAft>
            </a:pPr>
            <a:r>
              <a:rPr sz="2000">
                <a:solidFill>
                  <a:srgbClr val="222B33"/>
                </a:solidFill>
                <a:latin typeface="Microsoft YaHei"/>
              </a:rPr>
              <a:t>▪ 量多的放进易燃品柜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需要分装、转移或暂存少量易燃液体时，用合格的安全罐（安全储液罐）。安全罐罐盖能自动关闭，罐口装有阻火网等阻火装置，外部火源靠近时能阻止火焰回窜到罐内。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用饮料瓶、无盖烧杯分装溶剂</a:t>
            </a:r>
          </a:p>
          <a:p>
            <a:pPr>
              <a:spcAft>
                <a:spcPts val="1000"/>
              </a:spcAft>
            </a:pPr>
            <a:r>
              <a:rPr sz="1500">
                <a:solidFill>
                  <a:srgbClr val="222B33"/>
                </a:solidFill>
                <a:latin typeface="Microsoft YaHei"/>
              </a:rPr>
              <a:t>▪ 安全罐不贴标签，几种溶剂混用</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用完放回柜里，台面只留少量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易燃品用完马上放回专用柜</a:t>
            </a:r>
          </a:p>
          <a:p>
            <a:pPr>
              <a:spcAft>
                <a:spcPts val="1000"/>
              </a:spcAft>
            </a:pPr>
            <a:r>
              <a:rPr sz="2000">
                <a:solidFill>
                  <a:srgbClr val="222B33"/>
                </a:solidFill>
                <a:latin typeface="Microsoft YaHei"/>
              </a:rPr>
              <a:t>▪ 台面只留当天够用的少量</a:t>
            </a:r>
          </a:p>
          <a:p>
            <a:pPr>
              <a:spcAft>
                <a:spcPts val="1000"/>
              </a:spcAft>
            </a:pPr>
            <a:r>
              <a:rPr sz="2000">
                <a:solidFill>
                  <a:srgbClr val="222B33"/>
                </a:solidFill>
                <a:latin typeface="Microsoft YaHei"/>
              </a:rPr>
              <a:t>▪ 下班前溶剂全部回柜</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乙醇、有机溶剂等易燃品用完要马上放回指定的易燃品柜，不能长期摆在实验台、通风柜里或地上（台面和通风柜不是仓库，见第 043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常用溶剂长期摆在台面上</a:t>
            </a:r>
          </a:p>
          <a:p>
            <a:pPr>
              <a:spcAft>
                <a:spcPts val="1000"/>
              </a:spcAft>
            </a:pPr>
            <a:r>
              <a:rPr sz="1500">
                <a:solidFill>
                  <a:srgbClr val="222B33"/>
                </a:solidFill>
                <a:latin typeface="Microsoft YaHei"/>
              </a:rPr>
              <a:t>▪ 实验结束不收拾，溶剂瓶留在通风柜里</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柜门关好，通风接地按规定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柜门平时关好，不用东西顶开</a:t>
            </a:r>
          </a:p>
          <a:p>
            <a:pPr>
              <a:spcAft>
                <a:spcPts val="1000"/>
              </a:spcAft>
            </a:pPr>
            <a:r>
              <a:rPr sz="1700">
                <a:solidFill>
                  <a:srgbClr val="222B33"/>
                </a:solidFill>
                <a:latin typeface="Microsoft YaHei"/>
              </a:rPr>
              <a:t>▪ 按规定上锁，钥匙专人保管</a:t>
            </a:r>
          </a:p>
          <a:p>
            <a:pPr>
              <a:spcAft>
                <a:spcPts val="1000"/>
              </a:spcAft>
            </a:pPr>
            <a:r>
              <a:rPr sz="1700">
                <a:solidFill>
                  <a:srgbClr val="222B33"/>
                </a:solidFill>
                <a:latin typeface="Microsoft YaHei"/>
              </a:rPr>
              <a:t>▪ 柜子若接排风，管路要有阻火器</a:t>
            </a:r>
          </a:p>
          <a:p>
            <a:pPr>
              <a:spcAft>
                <a:spcPts val="1000"/>
              </a:spcAft>
            </a:pPr>
            <a:r>
              <a:rPr sz="1700">
                <a:solidFill>
                  <a:srgbClr val="222B33"/>
                </a:solidFill>
                <a:latin typeface="Microsoft YaHei"/>
              </a:rPr>
              <a:t>▪ 柜体按说明接地，导走静电</a:t>
            </a:r>
          </a:p>
          <a:p>
            <a:pPr>
              <a:spcAft>
                <a:spcPts val="1000"/>
              </a:spcAft>
            </a:pPr>
            <a:r>
              <a:rPr sz="1700">
                <a:solidFill>
                  <a:srgbClr val="222B33"/>
                </a:solidFill>
                <a:latin typeface="Microsoft YaHei"/>
              </a:rPr>
              <a:t>▪ 柜里不放杂物，柜前不堆东西</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安全柜只有关着门才能起到保护作用：柜门平时关好、扣紧，不用楔子或其他东西顶住柜门；按学校规定上锁，钥匙由专人保管。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为了方便取用，把柜门一直敞开</a:t>
            </a:r>
          </a:p>
          <a:p>
            <a:pPr>
              <a:spcAft>
                <a:spcPts val="1000"/>
              </a:spcAft>
            </a:pPr>
            <a:r>
              <a:rPr sz="1500">
                <a:solidFill>
                  <a:srgbClr val="222B33"/>
                </a:solidFill>
                <a:latin typeface="Microsoft YaHei"/>
              </a:rPr>
              <a:t>▪ 自行在柜体上开孔、接管</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酸碱腐蚀品柜：酸碱分开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酸碱放进耐腐蚀的专用柜</a:t>
            </a:r>
          </a:p>
          <a:p>
            <a:pPr>
              <a:spcAft>
                <a:spcPts val="1000"/>
              </a:spcAft>
            </a:pPr>
            <a:r>
              <a:rPr sz="2000">
                <a:solidFill>
                  <a:srgbClr val="222B33"/>
                </a:solidFill>
                <a:latin typeface="Microsoft YaHei"/>
              </a:rPr>
              <a:t>▪ 酸、碱分柜，或分格隔开</a:t>
            </a:r>
          </a:p>
          <a:p>
            <a:pPr>
              <a:spcAft>
                <a:spcPts val="1000"/>
              </a:spcAft>
            </a:pPr>
            <a:r>
              <a:rPr sz="2000">
                <a:solidFill>
                  <a:srgbClr val="222B33"/>
                </a:solidFill>
                <a:latin typeface="Microsoft YaHei"/>
              </a:rPr>
              <a:t>▪ 腐蚀品不放普通金属柜</a:t>
            </a:r>
          </a:p>
          <a:p>
            <a:pPr>
              <a:spcAft>
                <a:spcPts val="1000"/>
              </a:spcAft>
            </a:pPr>
            <a:r>
              <a:rPr sz="2000">
                <a:solidFill>
                  <a:srgbClr val="222B33"/>
                </a:solidFill>
                <a:latin typeface="Microsoft YaHei"/>
              </a:rPr>
              <a:t>▪ 大瓶放下层，配耐腐蚀托盘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酸、碱等腐蚀品要存放在耐腐蚀材料制成的腐蚀品柜里，普通金属柜会被酸雾腐蚀生锈，导致隔板损坏、瓶子倾倒。酸和碱是不相容物，要分柜存放，或在同一柜内分格隔开（不相容物见第 043 课）；氧化性酸与有机物也要分开。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酸和碱放在同一格</a:t>
            </a:r>
          </a:p>
          <a:p>
            <a:pPr>
              <a:spcAft>
                <a:spcPts val="1000"/>
              </a:spcAft>
            </a:pPr>
            <a:r>
              <a:rPr sz="1500">
                <a:solidFill>
                  <a:srgbClr val="222B33"/>
                </a:solidFill>
                <a:latin typeface="Microsoft YaHei"/>
              </a:rPr>
              <a:t>▪ 浓酸放在普通铁皮柜里</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毒害品柜：加锁专人管理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毒害品放进专用柜并加锁</a:t>
            </a:r>
          </a:p>
          <a:p>
            <a:pPr>
              <a:spcAft>
                <a:spcPts val="1000"/>
              </a:spcAft>
            </a:pPr>
            <a:r>
              <a:rPr sz="2000">
                <a:solidFill>
                  <a:srgbClr val="222B33"/>
                </a:solidFill>
                <a:latin typeface="Microsoft YaHei"/>
              </a:rPr>
              <a:t>▪ 剧毒品双人双锁管理</a:t>
            </a:r>
          </a:p>
          <a:p>
            <a:pPr>
              <a:spcAft>
                <a:spcPts val="1000"/>
              </a:spcAft>
            </a:pPr>
            <a:r>
              <a:rPr sz="2000">
                <a:solidFill>
                  <a:srgbClr val="222B33"/>
                </a:solidFill>
                <a:latin typeface="Microsoft YaHei"/>
              </a:rPr>
              <a:t>▪ 领用登记，账物相符</a:t>
            </a:r>
          </a:p>
          <a:p>
            <a:pPr>
              <a:spcAft>
                <a:spcPts val="1000"/>
              </a:spcAft>
            </a:pPr>
            <a:r>
              <a:rPr sz="2000">
                <a:solidFill>
                  <a:srgbClr val="222B33"/>
                </a:solidFill>
                <a:latin typeface="Microsoft YaHei"/>
              </a:rPr>
              <a:t>▪ 存放区按学校要求做好防盗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有毒化学品存放在专用的毒害品柜中，柜子加锁，由专人管理。剧毒化学品实行“五双”管理，其中储存要求双人双锁，必要时使用保险柜，并按学校要求做好防盗、监控等安全防范措施。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毒害品和普通试剂混放在不上锁的柜子</a:t>
            </a:r>
          </a:p>
          <a:p>
            <a:pPr>
              <a:spcAft>
                <a:spcPts val="1000"/>
              </a:spcAft>
            </a:pPr>
            <a:r>
              <a:rPr sz="1500">
                <a:solidFill>
                  <a:srgbClr val="222B33"/>
                </a:solidFill>
                <a:latin typeface="Microsoft YaHei"/>
              </a:rPr>
              <a:t>▪ 一个人同时掌握两把钥匙</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普通冰箱不放易燃物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普通冰箱内的开关、温控器会打火花</a:t>
            </a:r>
          </a:p>
          <a:p>
            <a:pPr>
              <a:spcAft>
                <a:spcPts val="1000"/>
              </a:spcAft>
            </a:pPr>
            <a:r>
              <a:rPr sz="2000">
                <a:solidFill>
                  <a:srgbClr val="222B33"/>
                </a:solidFill>
                <a:latin typeface="Microsoft YaHei"/>
              </a:rPr>
              <a:t>▪ 易燃蒸气遇火花可能引起爆炸</a:t>
            </a:r>
          </a:p>
          <a:p>
            <a:pPr>
              <a:spcAft>
                <a:spcPts val="1000"/>
              </a:spcAft>
            </a:pPr>
            <a:r>
              <a:rPr sz="2000">
                <a:solidFill>
                  <a:srgbClr val="222B33"/>
                </a:solidFill>
                <a:latin typeface="Microsoft YaHei"/>
              </a:rPr>
              <a:t>▪ 普通冰箱绝不能放易燃物</a:t>
            </a:r>
          </a:p>
          <a:p>
            <a:pPr>
              <a:spcAft>
                <a:spcPts val="1000"/>
              </a:spcAft>
            </a:pPr>
            <a:r>
              <a:rPr sz="2000">
                <a:solidFill>
                  <a:srgbClr val="222B33"/>
                </a:solidFill>
                <a:latin typeface="Microsoft YaHei"/>
              </a:rPr>
              <a:t>▪ 需要冷藏易燃试剂，用防爆冰箱</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普通家用冰箱内部的门灯开关、温控器等电气元件工作时会产生电火花。易燃试剂在冰箱密闭空间里挥发出的蒸气积聚，遇到火花可能燃烧甚至爆炸。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用普通家用冰箱冷藏乙醚、石油醚等溶剂</a:t>
            </a:r>
          </a:p>
          <a:p>
            <a:pPr>
              <a:spcAft>
                <a:spcPts val="1000"/>
              </a:spcAft>
            </a:pPr>
            <a:r>
              <a:rPr sz="1500">
                <a:solidFill>
                  <a:srgbClr val="222B33"/>
                </a:solidFill>
                <a:latin typeface="Microsoft YaHei"/>
              </a:rPr>
              <a:t>▪ 以为瓶盖拧紧了就可以放进普通冰箱</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化学品冰箱专用，禁放食物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实验冰箱绝不存放食物饮料</a:t>
            </a:r>
          </a:p>
          <a:p>
            <a:pPr>
              <a:spcAft>
                <a:spcPts val="1000"/>
              </a:spcAft>
            </a:pPr>
            <a:r>
              <a:rPr sz="2000">
                <a:solidFill>
                  <a:srgbClr val="222B33"/>
                </a:solidFill>
                <a:latin typeface="Microsoft YaHei"/>
              </a:rPr>
              <a:t>▪ 门上贴“化学品专用、禁放食品”标识</a:t>
            </a:r>
          </a:p>
          <a:p>
            <a:pPr>
              <a:spcAft>
                <a:spcPts val="1000"/>
              </a:spcAft>
            </a:pPr>
            <a:r>
              <a:rPr sz="2000">
                <a:solidFill>
                  <a:srgbClr val="222B33"/>
                </a:solidFill>
                <a:latin typeface="Microsoft YaHei"/>
              </a:rPr>
              <a:t>▪ 容器密封、贴标签，不相容物隔开</a:t>
            </a:r>
          </a:p>
          <a:p>
            <a:pPr>
              <a:spcAft>
                <a:spcPts val="1000"/>
              </a:spcAft>
            </a:pPr>
            <a:r>
              <a:rPr sz="2000">
                <a:solidFill>
                  <a:srgbClr val="222B33"/>
                </a:solidFill>
                <a:latin typeface="Microsoft YaHei"/>
              </a:rPr>
              <a:t>▪ 定期清理，过期的登记处置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存放化学品、生物样品的实验冰箱只能专用，绝不能存放食物、饮料，以防污染和误食；职工的食品冰箱要放在实验区以外，不能混用一台。冰箱门上贴“化学品专用、禁放食品”等标识。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在实验冰箱里放午饭或饮料</a:t>
            </a:r>
          </a:p>
          <a:p>
            <a:pPr>
              <a:spcAft>
                <a:spcPts val="1000"/>
              </a:spcAft>
            </a:pPr>
            <a:r>
              <a:rPr sz="1500">
                <a:solidFill>
                  <a:srgbClr val="222B33"/>
                </a:solidFill>
                <a:latin typeface="Microsoft YaHei"/>
              </a:rPr>
              <a:t>▪ 冰箱里放敞口、无标签的容器</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需要冷藏一瓶易燃有机溶剂，正确的做法是：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拧紧瓶盖放进普通冰箱</a:t>
            </a:r>
          </a:p>
          <a:p>
            <a:pPr algn="l"/>
            <a:r>
              <a:rPr sz="1500" b="0">
                <a:solidFill>
                  <a:srgbClr val="222B33"/>
                </a:solidFill>
                <a:latin typeface="Microsoft YaHei"/>
              </a:rPr>
              <a:t>B. 放进防爆冰箱</a:t>
            </a:r>
          </a:p>
          <a:p>
            <a:pPr algn="l"/>
            <a:r>
              <a:rPr sz="1500" b="0">
                <a:solidFill>
                  <a:srgbClr val="222B33"/>
                </a:solidFill>
                <a:latin typeface="Microsoft YaHei"/>
              </a:rPr>
              <a:t>C. 放进办公室冰箱</a:t>
            </a:r>
          </a:p>
          <a:p>
            <a:pPr algn="l"/>
            <a:r>
              <a:rPr sz="1500" b="0">
                <a:solidFill>
                  <a:srgbClr val="222B33"/>
                </a:solidFill>
                <a:latin typeface="Microsoft YaHei"/>
              </a:rPr>
              <a:t>D. 放在窗台阴凉处</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判断：实验室冰箱空间很大，可以在里面放一份午饭，只要和试剂分开放即可。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关于易燃品安全柜，下列做法正确的是：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用楔子顶住柜门方便取用</a:t>
            </a:r>
          </a:p>
          <a:p>
            <a:pPr algn="l"/>
            <a:r>
              <a:rPr sz="1500" b="0">
                <a:solidFill>
                  <a:srgbClr val="222B33"/>
                </a:solidFill>
                <a:latin typeface="Microsoft YaHei"/>
              </a:rPr>
              <a:t>B. 柜内放纸箱和抹布</a:t>
            </a:r>
          </a:p>
          <a:p>
            <a:pPr algn="l"/>
            <a:r>
              <a:rPr sz="1500" b="0">
                <a:solidFill>
                  <a:srgbClr val="222B33"/>
                </a:solidFill>
                <a:latin typeface="Microsoft YaHei"/>
              </a:rPr>
              <a:t>C. 柜门平时关好，若接排风则管路设阻火器</a:t>
            </a:r>
          </a:p>
          <a:p>
            <a:pPr algn="l"/>
            <a:r>
              <a:rPr sz="1500" b="0">
                <a:solidFill>
                  <a:srgbClr val="222B33"/>
                </a:solidFill>
                <a:latin typeface="Microsoft YaHei"/>
              </a:rPr>
              <a:t>D. 把酸瓶也放进去</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判断：酸和碱都是腐蚀品，可以放在腐蚀品柜的同一格里。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044 · 安全柜与化学品冰箱</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044 安全柜与化学品冰箱</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简答：易燃品柜、腐蚀品柜、毒害品柜的使用要点分别是什么？</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易燃液体放进合格的易燃品柜</a:t>
            </a:r>
          </a:p>
          <a:p>
            <a:pPr>
              <a:spcAft>
                <a:spcPts val="800"/>
              </a:spcAft>
            </a:pPr>
            <a:r>
              <a:rPr sz="1800">
                <a:solidFill>
                  <a:srgbClr val="FFFFFF"/>
                </a:solidFill>
                <a:latin typeface="Microsoft YaHei"/>
              </a:rPr>
              <a:t>▪ K2  少量分装用安全罐，量多进柜</a:t>
            </a:r>
          </a:p>
          <a:p>
            <a:pPr>
              <a:spcAft>
                <a:spcPts val="800"/>
              </a:spcAft>
            </a:pPr>
            <a:r>
              <a:rPr sz="1800">
                <a:solidFill>
                  <a:srgbClr val="FFFFFF"/>
                </a:solidFill>
                <a:latin typeface="Microsoft YaHei"/>
              </a:rPr>
              <a:t>▪ K3  用完放回柜里，台面只留少量</a:t>
            </a:r>
          </a:p>
          <a:p>
            <a:pPr>
              <a:spcAft>
                <a:spcPts val="800"/>
              </a:spcAft>
            </a:pPr>
            <a:r>
              <a:rPr sz="1800">
                <a:solidFill>
                  <a:srgbClr val="FFFFFF"/>
                </a:solidFill>
                <a:latin typeface="Microsoft YaHei"/>
              </a:rPr>
              <a:t>▪ K4  柜门关好，通风接地按规定</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S1  酸碱腐蚀品柜：酸碱分开</a:t>
            </a:r>
          </a:p>
          <a:p>
            <a:pPr>
              <a:spcAft>
                <a:spcPts val="800"/>
              </a:spcAft>
            </a:pPr>
            <a:r>
              <a:rPr sz="1800">
                <a:solidFill>
                  <a:srgbClr val="FFFFFF"/>
                </a:solidFill>
                <a:latin typeface="Microsoft YaHei"/>
              </a:rPr>
              <a:t>▪ S2  毒害品柜：加锁专人管理</a:t>
            </a:r>
          </a:p>
          <a:p>
            <a:pPr>
              <a:spcAft>
                <a:spcPts val="800"/>
              </a:spcAft>
            </a:pPr>
            <a:r>
              <a:rPr sz="1800">
                <a:solidFill>
                  <a:srgbClr val="FFFFFF"/>
                </a:solidFill>
                <a:latin typeface="Microsoft YaHei"/>
              </a:rPr>
              <a:t>▪ K5  普通冰箱不放易燃物</a:t>
            </a:r>
          </a:p>
          <a:p>
            <a:pPr>
              <a:spcAft>
                <a:spcPts val="800"/>
              </a:spcAft>
            </a:pPr>
            <a:r>
              <a:rPr sz="1800">
                <a:solidFill>
                  <a:srgbClr val="FFFFFF"/>
                </a:solidFill>
                <a:latin typeface="Microsoft YaHei"/>
              </a:rPr>
              <a:t>▪ K6  化学品冰箱专用，禁放食物</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045</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管控类化学品管理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60 镜）　适用对象：全体使用和管理化学品的高校本科生、研究生和教职工（必修）；采购、保管管控类化学品的人员重点学习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能说出剧毒化学品、易制毒化学品、易制爆危险化学品三类管控类化学品，会查《危险化学品目录》等名录和本校平台；能判断“管不管控看物质，不看用量”。</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能说出剧毒化学品“五双”管理的内容，含砷标准品等按剧毒品管理。</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能做到管控类化学品只通过学校平台采购、逐级审批，专柜存放、专人管理，领用称量如实登记、剩余退回，不外借不转让。</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能做到发现丢失、被盗、账物不符立即报告实验室负责人、学院和保卫处；学生不得私自获取、保存或试验爆炸物品。</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日起施行）及《危险化学品安全管理条例》（以现行文本为准）：剧毒化学品购买许可、专用储存、专人管理、储存情况报公安机关备案，丢失被盗立即报告</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《易制毒化学品管理条例》（以现行文本为准）：易制毒化学品分三类管理，购买许可或备案，如实记录，不得转借</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《易制爆危险化学品治安管理办法》（以现行文本为准）及《易制爆危险化学品名录》（公安部发布，以现行版本为准）：购买和流向登记、专库专柜储存、专人管理、不得出借转让，丢失被盗及时报告公安机关</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《民用爆炸物品安全管理条例》（以现行文本为准）：爆炸物品严格管控，未经许可不得获取、储存、使用</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《危险化学品目录》（以现行版本为准）：判断是否属于危险化学品和剧毒化学品</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《国家危险废物名录》（以现行文本为准）：管控类化学品的废弃物单独收集，交学校按规定处置</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号，以现行文本为准）：管控类化学品全过程管理，剧毒品“五双”管理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高校实验室安全检查项目表（以现行文本为准）及本校危险化学品管理制度</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认出管控类化学品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剧毒、易制毒、易制爆化学品由国家专门管控</a:t>
            </a:r>
          </a:p>
          <a:p>
            <a:pPr>
              <a:spcAft>
                <a:spcPts val="1000"/>
              </a:spcAft>
            </a:pPr>
            <a:r>
              <a:rPr sz="2000">
                <a:solidFill>
                  <a:srgbClr val="222B33"/>
                </a:solidFill>
                <a:latin typeface="Microsoft YaHei"/>
              </a:rPr>
              <a:t>▪ 查危险化学品目录、相关名录和学校平台</a:t>
            </a:r>
          </a:p>
          <a:p>
            <a:pPr>
              <a:spcAft>
                <a:spcPts val="1000"/>
              </a:spcAft>
            </a:pPr>
            <a:r>
              <a:rPr sz="2000">
                <a:solidFill>
                  <a:srgbClr val="222B33"/>
                </a:solidFill>
                <a:latin typeface="Microsoft YaHei"/>
              </a:rPr>
              <a:t>▪ 属于这几类，先问清本校规定</a:t>
            </a:r>
          </a:p>
          <a:p>
            <a:pPr>
              <a:spcAft>
                <a:spcPts val="1000"/>
              </a:spcAft>
            </a:pPr>
            <a:r>
              <a:rPr sz="2000">
                <a:solidFill>
                  <a:srgbClr val="222B33"/>
                </a:solidFill>
                <a:latin typeface="Microsoft YaHei"/>
              </a:rPr>
              <a:t>▪ 采购、保管、领用都要按规定登记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了一般危险化学品，国家对三类化学品实行专门管控：剧毒化学品（在《危险化学品目录》中标注为剧毒）、易制毒化学品（列入《易制毒化学品管理条例》附表）、易制爆危险化学品（列入公安部发布的《易制爆危险化学品名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不查名录，把管控品当普通试剂使用</a:t>
            </a:r>
          </a:p>
          <a:p>
            <a:pPr>
              <a:spcAft>
                <a:spcPts val="1000"/>
              </a:spcAft>
            </a:pPr>
            <a:r>
              <a:rPr sz="1500">
                <a:solidFill>
                  <a:srgbClr val="222B33"/>
                </a:solidFill>
                <a:latin typeface="Microsoft YaHei"/>
              </a:rPr>
              <a:t>▪ 以为只有剧毒品才需要专门管理</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看物质本身，专区专管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管不管控看物质本身，不看用量多少</a:t>
            </a:r>
          </a:p>
          <a:p>
            <a:pPr>
              <a:spcAft>
                <a:spcPts val="1000"/>
              </a:spcAft>
            </a:pPr>
            <a:r>
              <a:rPr sz="2000">
                <a:solidFill>
                  <a:srgbClr val="222B33"/>
                </a:solidFill>
                <a:latin typeface="Microsoft YaHei"/>
              </a:rPr>
              <a:t>▪ 哪怕只有一小瓶，也要专柜专区管理</a:t>
            </a:r>
          </a:p>
          <a:p>
            <a:pPr>
              <a:spcAft>
                <a:spcPts val="1000"/>
              </a:spcAft>
            </a:pPr>
            <a:r>
              <a:rPr sz="2000">
                <a:solidFill>
                  <a:srgbClr val="222B33"/>
                </a:solidFill>
                <a:latin typeface="Microsoft YaHei"/>
              </a:rPr>
              <a:t>▪ 专柜专区，出入登记</a:t>
            </a:r>
          </a:p>
          <a:p>
            <a:pPr>
              <a:spcAft>
                <a:spcPts val="1000"/>
              </a:spcAft>
            </a:pPr>
            <a:r>
              <a:rPr sz="2000">
                <a:solidFill>
                  <a:srgbClr val="222B33"/>
                </a:solidFill>
                <a:latin typeface="Microsoft YaHei"/>
              </a:rPr>
              <a:t>▪ 废弃物也按专门规定处理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是否属于管控类化学品，看的是物质本身，而不是用量多少：哪怕只有一小瓶、几克，也要按管控品管理。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量少就随便放在普通试剂柜里</a:t>
            </a:r>
          </a:p>
          <a:p>
            <a:pPr>
              <a:spcAft>
                <a:spcPts val="1000"/>
              </a:spcAft>
            </a:pPr>
            <a:r>
              <a:rPr sz="1500">
                <a:solidFill>
                  <a:srgbClr val="222B33"/>
                </a:solidFill>
                <a:latin typeface="Microsoft YaHei"/>
              </a:rPr>
              <a:t>▪ 管控品废液混入普通废液桶</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剧毒化学品“五双”管理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剧毒化学品实行“五双”管理</a:t>
            </a:r>
          </a:p>
          <a:p>
            <a:pPr>
              <a:spcAft>
                <a:spcPts val="1000"/>
              </a:spcAft>
            </a:pPr>
            <a:r>
              <a:rPr sz="2000">
                <a:solidFill>
                  <a:srgbClr val="222B33"/>
                </a:solidFill>
                <a:latin typeface="Microsoft YaHei"/>
              </a:rPr>
              <a:t>▪ 双人验收、双人保管、双人领用</a:t>
            </a:r>
          </a:p>
          <a:p>
            <a:pPr>
              <a:spcAft>
                <a:spcPts val="1000"/>
              </a:spcAft>
            </a:pPr>
            <a:r>
              <a:rPr sz="2000">
                <a:solidFill>
                  <a:srgbClr val="222B33"/>
                </a:solidFill>
                <a:latin typeface="Microsoft YaHei"/>
              </a:rPr>
              <a:t>▪ 双把锁，两人各管一把钥匙</a:t>
            </a:r>
          </a:p>
          <a:p>
            <a:pPr>
              <a:spcAft>
                <a:spcPts val="1000"/>
              </a:spcAft>
            </a:pPr>
            <a:r>
              <a:rPr sz="2000">
                <a:solidFill>
                  <a:srgbClr val="222B33"/>
                </a:solidFill>
                <a:latin typeface="Microsoft YaHei"/>
              </a:rPr>
              <a:t>▪ 双本账，账账相符、账物相符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对剧毒化学品普遍实行“五双”管理：双人验收（收发）、双人保管、双人领用（取用时双人在场）、双把锁、双本账。两把钥匙分别由两名保管人掌握，任何一人都不能单独开柜；两本台账分别记录，做到账账相符、账物相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一个人同时保管两把钥匙</a:t>
            </a:r>
          </a:p>
          <a:p>
            <a:pPr>
              <a:spcAft>
                <a:spcPts val="1000"/>
              </a:spcAft>
            </a:pPr>
            <a:r>
              <a:rPr sz="1500">
                <a:solidFill>
                  <a:srgbClr val="222B33"/>
                </a:solidFill>
                <a:latin typeface="Microsoft YaHei"/>
              </a:rPr>
              <a:t>▪ 只记一本账，或领用后不及时登记</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含砷样品和标准品按剧毒品管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砷的不少化合物是剧毒，检测要用含砷标准品</a:t>
            </a:r>
          </a:p>
          <a:p>
            <a:pPr>
              <a:spcAft>
                <a:spcPts val="1000"/>
              </a:spcAft>
            </a:pPr>
            <a:r>
              <a:rPr sz="2000">
                <a:solidFill>
                  <a:srgbClr val="222B33"/>
                </a:solidFill>
                <a:latin typeface="Microsoft YaHei"/>
              </a:rPr>
              <a:t>▪ 含砷标准品按剧毒品专人专管</a:t>
            </a:r>
          </a:p>
          <a:p>
            <a:pPr>
              <a:spcAft>
                <a:spcPts val="1000"/>
              </a:spcAft>
            </a:pPr>
            <a:r>
              <a:rPr sz="2000">
                <a:solidFill>
                  <a:srgbClr val="222B33"/>
                </a:solidFill>
                <a:latin typeface="Microsoft YaHei"/>
              </a:rPr>
              <a:t>▪ 领用登记，用多少记多少</a:t>
            </a:r>
          </a:p>
          <a:p>
            <a:pPr>
              <a:spcAft>
                <a:spcPts val="1000"/>
              </a:spcAft>
            </a:pPr>
            <a:r>
              <a:rPr sz="2000">
                <a:solidFill>
                  <a:srgbClr val="222B33"/>
                </a:solidFill>
                <a:latin typeface="Microsoft YaHei"/>
              </a:rPr>
              <a:t>▪ 含砷废液单独收集，交学校处置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环境检测、传感器研究等实验常要测定砷，需要使用含砷标准品。砷的许多化合物毒性很强，部分列为剧毒化学品（以《危险化学品目录》为准），含砷标准品要按剧毒品管理：专柜存放、专人管理，领用登记，用多少记多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觉得标准品量很少，随手放在普通冰箱</a:t>
            </a:r>
          </a:p>
          <a:p>
            <a:pPr>
              <a:spcAft>
                <a:spcPts val="1000"/>
              </a:spcAft>
            </a:pPr>
            <a:r>
              <a:rPr sz="1500">
                <a:solidFill>
                  <a:srgbClr val="222B33"/>
                </a:solidFill>
                <a:latin typeface="Microsoft YaHei"/>
              </a:rPr>
              <a:t>▪ 含砷废液混入普通废液</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易制毒化学品：按规定领用登记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易制毒化学品按条例分三类管理</a:t>
            </a:r>
          </a:p>
          <a:p>
            <a:pPr>
              <a:spcAft>
                <a:spcPts val="1000"/>
              </a:spcAft>
            </a:pPr>
            <a:r>
              <a:rPr sz="2000">
                <a:solidFill>
                  <a:srgbClr val="222B33"/>
                </a:solidFill>
                <a:latin typeface="Microsoft YaHei"/>
              </a:rPr>
              <a:t>▪ 如乙酸酐，按规定领用，用多少领多少</a:t>
            </a:r>
          </a:p>
          <a:p>
            <a:pPr>
              <a:spcAft>
                <a:spcPts val="1000"/>
              </a:spcAft>
            </a:pPr>
            <a:r>
              <a:rPr sz="2000">
                <a:solidFill>
                  <a:srgbClr val="222B33"/>
                </a:solidFill>
                <a:latin typeface="Microsoft YaHei"/>
              </a:rPr>
              <a:t>▪ 专柜存放、专人管理、台账清楚</a:t>
            </a:r>
          </a:p>
          <a:p>
            <a:pPr>
              <a:spcAft>
                <a:spcPts val="1000"/>
              </a:spcAft>
            </a:pPr>
            <a:r>
              <a:rPr sz="2000">
                <a:solidFill>
                  <a:srgbClr val="222B33"/>
                </a:solidFill>
                <a:latin typeface="Microsoft YaHei"/>
              </a:rPr>
              <a:t>▪ 不得私自转让、出借，废液不倒下水道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易制毒化学品是可用于非法制造毒品的原料和配剂，依据《易制毒化学品管理条例》（以现行文本为准）分为三类管理，购买须按类别取得许可或办理备案。例如乙酸酐属于易制毒化学品，有机化学实验中常会用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觉得是常用试剂，不登记就领用</a:t>
            </a:r>
          </a:p>
          <a:p>
            <a:pPr>
              <a:spcAft>
                <a:spcPts val="1000"/>
              </a:spcAft>
            </a:pPr>
            <a:r>
              <a:rPr sz="1500">
                <a:solidFill>
                  <a:srgbClr val="222B33"/>
                </a:solidFill>
                <a:latin typeface="Microsoft YaHei"/>
              </a:rPr>
              <a:t>▪ 课题组之间私下借用</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易制爆化学品：专柜专人，不外借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易制爆化学品按治安管理办法管理</a:t>
            </a:r>
          </a:p>
          <a:p>
            <a:pPr>
              <a:spcAft>
                <a:spcPts val="1000"/>
              </a:spcAft>
            </a:pPr>
            <a:r>
              <a:rPr sz="2000">
                <a:solidFill>
                  <a:srgbClr val="222B33"/>
                </a:solidFill>
                <a:latin typeface="Microsoft YaHei"/>
              </a:rPr>
              <a:t>▪ 专柜存放，专人管理</a:t>
            </a:r>
          </a:p>
          <a:p>
            <a:pPr>
              <a:spcAft>
                <a:spcPts val="1000"/>
              </a:spcAft>
            </a:pPr>
            <a:r>
              <a:rPr sz="2000">
                <a:solidFill>
                  <a:srgbClr val="222B33"/>
                </a:solidFill>
                <a:latin typeface="Microsoft YaHei"/>
              </a:rPr>
              <a:t>▪ 领了多少、用了多少，如实登记</a:t>
            </a:r>
          </a:p>
          <a:p>
            <a:pPr>
              <a:spcAft>
                <a:spcPts val="1000"/>
              </a:spcAft>
            </a:pPr>
            <a:r>
              <a:rPr sz="2000">
                <a:solidFill>
                  <a:srgbClr val="222B33"/>
                </a:solidFill>
                <a:latin typeface="Microsoft YaHei"/>
              </a:rPr>
              <a:t>▪ 不外借、不转让，购买到处置流向可查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易制爆危险化学品是可用于制造爆炸物品的化学品，依据《易制爆危险化学品治安管理办法》（以现行文本为准）管理，品种以公安部发布的《易制爆危险化学品名录》为准。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借给其他课题组或个人</a:t>
            </a:r>
          </a:p>
          <a:p>
            <a:pPr>
              <a:spcAft>
                <a:spcPts val="1000"/>
              </a:spcAft>
            </a:pPr>
            <a:r>
              <a:rPr sz="1500">
                <a:solidFill>
                  <a:srgbClr val="222B33"/>
                </a:solidFill>
                <a:latin typeface="Microsoft YaHei"/>
              </a:rPr>
              <a:t>▪ 只登记领用，不登记实际用量和剩余</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爆炸物品：学生不私取、不自试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炸药等爆炸物品由国家严格管控</a:t>
            </a:r>
          </a:p>
          <a:p>
            <a:pPr>
              <a:spcAft>
                <a:spcPts val="1000"/>
              </a:spcAft>
            </a:pPr>
            <a:r>
              <a:rPr sz="2000">
                <a:solidFill>
                  <a:srgbClr val="222B33"/>
                </a:solidFill>
                <a:latin typeface="Microsoft YaHei"/>
              </a:rPr>
              <a:t>▪ 学生不得自行获取、保存或试验</a:t>
            </a:r>
          </a:p>
          <a:p>
            <a:pPr>
              <a:spcAft>
                <a:spcPts val="1000"/>
              </a:spcAft>
            </a:pPr>
            <a:r>
              <a:rPr sz="2000">
                <a:solidFill>
                  <a:srgbClr val="222B33"/>
                </a:solidFill>
                <a:latin typeface="Microsoft YaHei"/>
              </a:rPr>
              <a:t>▪ 相关研究由有资质的单位依规开展</a:t>
            </a:r>
          </a:p>
          <a:p>
            <a:pPr>
              <a:spcAft>
                <a:spcPts val="1000"/>
              </a:spcAft>
            </a:pPr>
            <a:r>
              <a:rPr sz="2000">
                <a:solidFill>
                  <a:srgbClr val="222B33"/>
                </a:solidFill>
                <a:latin typeface="Microsoft YaHei"/>
              </a:rPr>
              <a:t>▪ 有疑问先问导师和学院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炸药等爆炸物品属于国家严格管控的物品，依据《民用爆炸物品安全管理条例》（以现行文本为准），未经许可任何单位和个人不得获取、储存、使用。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出于好奇模仿网上视频做“小实验”</a:t>
            </a:r>
          </a:p>
          <a:p>
            <a:pPr>
              <a:spcAft>
                <a:spcPts val="1000"/>
              </a:spcAft>
            </a:pPr>
            <a:r>
              <a:rPr sz="1500">
                <a:solidFill>
                  <a:srgbClr val="222B33"/>
                </a:solidFill>
                <a:latin typeface="Microsoft YaHei"/>
              </a:rPr>
              <a:t>▪ 认为少量试一试没关系</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采购走学校平台，许可备案由学校办</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管控品只能通过学校平台采购</a:t>
            </a:r>
          </a:p>
          <a:p>
            <a:pPr>
              <a:spcAft>
                <a:spcPts val="1000"/>
              </a:spcAft>
            </a:pPr>
            <a:r>
              <a:rPr sz="2000">
                <a:solidFill>
                  <a:srgbClr val="222B33"/>
                </a:solidFill>
                <a:latin typeface="Microsoft YaHei"/>
              </a:rPr>
              <a:t>▪ 不得个人私自购买</a:t>
            </a:r>
          </a:p>
          <a:p>
            <a:pPr>
              <a:spcAft>
                <a:spcPts val="1000"/>
              </a:spcAft>
            </a:pPr>
            <a:r>
              <a:rPr sz="2000">
                <a:solidFill>
                  <a:srgbClr val="222B33"/>
                </a:solidFill>
                <a:latin typeface="Microsoft YaHei"/>
              </a:rPr>
              <a:t>▪ 导师、学院、管理部门逐级审批</a:t>
            </a:r>
          </a:p>
          <a:p>
            <a:pPr>
              <a:spcAft>
                <a:spcPts val="1000"/>
              </a:spcAft>
            </a:pPr>
            <a:r>
              <a:rPr sz="2000">
                <a:solidFill>
                  <a:srgbClr val="222B33"/>
                </a:solidFill>
                <a:latin typeface="Microsoft YaHei"/>
              </a:rPr>
              <a:t>▪ 许可和备案由学校统一向公安机关办理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管控类化学品只能由学校作为购买单位，通过学校化学品采购平台向有资质的供应商采购，严禁个人私自购买，严禁从网络或无资质渠道购买。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用个人账户网购管控类试剂</a:t>
            </a:r>
          </a:p>
          <a:p>
            <a:pPr>
              <a:spcAft>
                <a:spcPts val="1000"/>
              </a:spcAft>
            </a:pPr>
            <a:r>
              <a:rPr sz="1500">
                <a:solidFill>
                  <a:srgbClr val="222B33"/>
                </a:solidFill>
                <a:latin typeface="Microsoft YaHei"/>
              </a:rPr>
              <a:t>▪ 绕过审批，直接找供应商送货</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领用称量，如实登记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管控品领用要审批，称量按规定进行</a:t>
            </a:r>
          </a:p>
          <a:p>
            <a:pPr>
              <a:spcAft>
                <a:spcPts val="1000"/>
              </a:spcAft>
            </a:pPr>
            <a:r>
              <a:rPr sz="2000">
                <a:solidFill>
                  <a:srgbClr val="222B33"/>
                </a:solidFill>
                <a:latin typeface="Microsoft YaHei"/>
              </a:rPr>
              <a:t>▪ 称了多少、用在哪，如实登记</a:t>
            </a:r>
          </a:p>
          <a:p>
            <a:pPr>
              <a:spcAft>
                <a:spcPts val="1000"/>
              </a:spcAft>
            </a:pPr>
            <a:r>
              <a:rPr sz="2000">
                <a:solidFill>
                  <a:srgbClr val="222B33"/>
                </a:solidFill>
                <a:latin typeface="Microsoft YaHei"/>
              </a:rPr>
              <a:t>▪ 剩余的按规定退回专柜</a:t>
            </a:r>
          </a:p>
          <a:p>
            <a:pPr>
              <a:spcAft>
                <a:spcPts val="1000"/>
              </a:spcAft>
            </a:pPr>
            <a:r>
              <a:rPr sz="2000">
                <a:solidFill>
                  <a:srgbClr val="222B33"/>
                </a:solidFill>
                <a:latin typeface="Microsoft YaHei"/>
              </a:rPr>
              <a:t>▪ 用多少记多少，台账妥善保存备查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领用管控类化学品要经审批，按实验需要领取。称量时如实记录称取量和用途，做到用多少记多少。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先用后补登记，或凭估计填写用量</a:t>
            </a:r>
          </a:p>
          <a:p>
            <a:pPr>
              <a:spcAft>
                <a:spcPts val="1000"/>
              </a:spcAft>
            </a:pPr>
            <a:r>
              <a:rPr sz="1500">
                <a:solidFill>
                  <a:srgbClr val="222B33"/>
                </a:solidFill>
                <a:latin typeface="Microsoft YaHei"/>
              </a:rPr>
              <a:t>▪ 剩余部分留在自己的抽屉里</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丢失被盗，立即报告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发现丢失、被盗、账物不符要立即报告</a:t>
            </a:r>
          </a:p>
          <a:p>
            <a:pPr>
              <a:spcAft>
                <a:spcPts val="1000"/>
              </a:spcAft>
            </a:pPr>
            <a:r>
              <a:rPr sz="2000">
                <a:solidFill>
                  <a:srgbClr val="222B33"/>
                </a:solidFill>
                <a:latin typeface="Microsoft YaHei"/>
              </a:rPr>
              <a:t>▪ 报告实验室负责人、学院和保卫处</a:t>
            </a:r>
          </a:p>
          <a:p>
            <a:pPr>
              <a:spcAft>
                <a:spcPts val="1000"/>
              </a:spcAft>
            </a:pPr>
            <a:r>
              <a:rPr sz="2000">
                <a:solidFill>
                  <a:srgbClr val="222B33"/>
                </a:solidFill>
                <a:latin typeface="Microsoft YaHei"/>
              </a:rPr>
              <a:t>▪ 学校按规定报告公安机关</a:t>
            </a:r>
          </a:p>
          <a:p>
            <a:pPr>
              <a:spcAft>
                <a:spcPts val="1000"/>
              </a:spcAft>
            </a:pPr>
            <a:r>
              <a:rPr sz="2000">
                <a:solidFill>
                  <a:srgbClr val="222B33"/>
                </a:solidFill>
                <a:latin typeface="Microsoft YaHei"/>
              </a:rPr>
              <a:t>▪ 不瞒报、不迟报、不自行寻找了事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管控类化学品一旦发现丢失、被盗、误用或账物不符，要立即报告实验室负责人，并报学院和保卫处；学校按规定立即报告公安机关和有关部门。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少了一点就自己补账</a:t>
            </a:r>
          </a:p>
          <a:p>
            <a:pPr>
              <a:spcAft>
                <a:spcPts val="1000"/>
              </a:spcAft>
            </a:pPr>
            <a:r>
              <a:rPr sz="1500">
                <a:solidFill>
                  <a:srgbClr val="222B33"/>
                </a:solidFill>
                <a:latin typeface="Microsoft YaHei"/>
              </a:rPr>
              <a:t>▪ 怕担责任不报告</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下列不属于国家专门管控的三类化学品的是：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剧毒化学品</a:t>
            </a:r>
          </a:p>
          <a:p>
            <a:pPr algn="l"/>
            <a:r>
              <a:rPr sz="1500" b="0">
                <a:solidFill>
                  <a:srgbClr val="222B33"/>
                </a:solidFill>
                <a:latin typeface="Microsoft YaHei"/>
              </a:rPr>
              <a:t>B. 易制毒化学品</a:t>
            </a:r>
          </a:p>
          <a:p>
            <a:pPr algn="l"/>
            <a:r>
              <a:rPr sz="1500" b="0">
                <a:solidFill>
                  <a:srgbClr val="222B33"/>
                </a:solidFill>
                <a:latin typeface="Microsoft YaHei"/>
              </a:rPr>
              <a:t>C. 易制爆危险化学品</a:t>
            </a:r>
          </a:p>
          <a:p>
            <a:pPr algn="l"/>
            <a:r>
              <a:rPr sz="1500" b="0">
                <a:solidFill>
                  <a:srgbClr val="222B33"/>
                </a:solidFill>
                <a:latin typeface="Microsoft YaHei"/>
              </a:rPr>
              <a:t>D. 一般实验用缓冲盐</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判断：某种易制毒化学品只用几克，量很少，可以不登记直接取用。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剧毒化学品“五双”管理不包括：</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双人保管</a:t>
            </a:r>
          </a:p>
          <a:p>
            <a:pPr algn="l"/>
            <a:r>
              <a:rPr sz="1500" b="0">
                <a:solidFill>
                  <a:srgbClr val="222B33"/>
                </a:solidFill>
                <a:latin typeface="Microsoft YaHei"/>
              </a:rPr>
              <a:t>B. 双把锁</a:t>
            </a:r>
          </a:p>
          <a:p>
            <a:pPr algn="l"/>
            <a:r>
              <a:rPr sz="1500" b="0">
                <a:solidFill>
                  <a:srgbClr val="222B33"/>
                </a:solidFill>
                <a:latin typeface="Microsoft YaHei"/>
              </a:rPr>
              <a:t>C. 双本账</a:t>
            </a:r>
          </a:p>
          <a:p>
            <a:pPr algn="l"/>
            <a:r>
              <a:rPr sz="1500" b="0">
                <a:solidFill>
                  <a:srgbClr val="222B33"/>
                </a:solidFill>
                <a:latin typeface="Microsoft YaHei"/>
              </a:rPr>
              <a:t>D. 双人可各自单独开柜</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判断：隔壁课题组急用易制爆化学品，可以先借给他们，再补登记。</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045 · 管控类化学品管理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045 管控类化学品管理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发现专柜里的剧毒品账物不符，正确的做法是：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自己补记一笔</a:t>
            </a:r>
          </a:p>
          <a:p>
            <a:pPr algn="l"/>
            <a:r>
              <a:rPr sz="1500" b="0">
                <a:solidFill>
                  <a:srgbClr val="222B33"/>
                </a:solidFill>
                <a:latin typeface="Microsoft YaHei"/>
              </a:rPr>
              <a:t>B. 先找找，找不到再说</a:t>
            </a:r>
          </a:p>
          <a:p>
            <a:pPr algn="l"/>
            <a:r>
              <a:rPr sz="1500" b="0">
                <a:solidFill>
                  <a:srgbClr val="222B33"/>
                </a:solidFill>
                <a:latin typeface="Microsoft YaHei"/>
              </a:rPr>
              <a:t>C. 立即报告实验室负责人、学院和保卫处</a:t>
            </a:r>
          </a:p>
          <a:p>
            <a:pPr algn="l"/>
            <a:r>
              <a:rPr sz="1500" b="0">
                <a:solidFill>
                  <a:srgbClr val="222B33"/>
                </a:solidFill>
                <a:latin typeface="Microsoft YaHei"/>
              </a:rPr>
              <a:t>D. 等下次检查时说明</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认出管控类化学品</a:t>
            </a:r>
          </a:p>
          <a:p>
            <a:pPr>
              <a:spcAft>
                <a:spcPts val="800"/>
              </a:spcAft>
            </a:pPr>
            <a:r>
              <a:rPr sz="1800">
                <a:solidFill>
                  <a:srgbClr val="FFFFFF"/>
                </a:solidFill>
                <a:latin typeface="Microsoft YaHei"/>
              </a:rPr>
              <a:t>▪ K2  看物质本身，专区专管</a:t>
            </a:r>
          </a:p>
          <a:p>
            <a:pPr>
              <a:spcAft>
                <a:spcPts val="800"/>
              </a:spcAft>
            </a:pPr>
            <a:r>
              <a:rPr sz="1800">
                <a:solidFill>
                  <a:srgbClr val="FFFFFF"/>
                </a:solidFill>
                <a:latin typeface="Microsoft YaHei"/>
              </a:rPr>
              <a:t>▪ K3  剧毒化学品“五双”管理</a:t>
            </a:r>
          </a:p>
          <a:p>
            <a:pPr>
              <a:spcAft>
                <a:spcPts val="800"/>
              </a:spcAft>
            </a:pPr>
            <a:r>
              <a:rPr sz="1800">
                <a:solidFill>
                  <a:srgbClr val="FFFFFF"/>
                </a:solidFill>
                <a:latin typeface="Microsoft YaHei"/>
              </a:rPr>
              <a:t>▪ K4  含砷样品和标准品按剧毒品管</a:t>
            </a:r>
          </a:p>
          <a:p>
            <a:pPr>
              <a:spcAft>
                <a:spcPts val="800"/>
              </a:spcAft>
            </a:pPr>
            <a:r>
              <a:rPr sz="1800">
                <a:solidFill>
                  <a:srgbClr val="FFFFFF"/>
                </a:solidFill>
                <a:latin typeface="Microsoft YaHei"/>
              </a:rPr>
              <a:t>▪ K5  易制毒化学品：按规定领用登记</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K6  易制爆化学品：专柜专人，不外借</a:t>
            </a:r>
          </a:p>
          <a:p>
            <a:pPr>
              <a:spcAft>
                <a:spcPts val="800"/>
              </a:spcAft>
            </a:pPr>
            <a:r>
              <a:rPr sz="1800">
                <a:solidFill>
                  <a:srgbClr val="FFFFFF"/>
                </a:solidFill>
                <a:latin typeface="Microsoft YaHei"/>
              </a:rPr>
              <a:t>▪ K7  爆炸物品：学生不私取、不自试</a:t>
            </a:r>
          </a:p>
          <a:p>
            <a:pPr>
              <a:spcAft>
                <a:spcPts val="800"/>
              </a:spcAft>
            </a:pPr>
            <a:r>
              <a:rPr sz="1800">
                <a:solidFill>
                  <a:srgbClr val="FFFFFF"/>
                </a:solidFill>
                <a:latin typeface="Microsoft YaHei"/>
              </a:rPr>
              <a:t>▪ S1  采购走学校平台，许可备案由学校办</a:t>
            </a:r>
          </a:p>
          <a:p>
            <a:pPr>
              <a:spcAft>
                <a:spcPts val="800"/>
              </a:spcAft>
            </a:pPr>
            <a:r>
              <a:rPr sz="1800">
                <a:solidFill>
                  <a:srgbClr val="FFFFFF"/>
                </a:solidFill>
                <a:latin typeface="Microsoft YaHei"/>
              </a:rPr>
              <a:t>▪ K8  领用称量，如实登记</a:t>
            </a:r>
          </a:p>
          <a:p>
            <a:pPr>
              <a:spcAft>
                <a:spcPts val="800"/>
              </a:spcAft>
            </a:pPr>
            <a:r>
              <a:rPr sz="1800">
                <a:solidFill>
                  <a:srgbClr val="FFFFFF"/>
                </a:solidFill>
                <a:latin typeface="Microsoft YaHei"/>
              </a:rPr>
              <a:t>▪ S2  丢失被盗，立即报告</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易燃易爆化学品</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82 镜）　适用对象：全体使用化学品、酒精和燃油的高校本科生、研究生和教职工（必修）；化学、化工、材料、生物等专业重点学习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能说出易燃液体“烧的是蒸气”，以及闪点、燃点、自燃点、爆炸极限和蒸气密度的含义，能判断闪点低、下限低的物质更危险。</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能通过标签象形图和说明书判断物质的易燃易爆性，拿不准时把非水液体按易燃对待；能区分易燃与氧化性象形图。</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能做到使用易燃易爆化学品时远离点火源、不用明火和加热板加热、在通风柜里操作、台面少放、用合格容器、不堵通道，有爆炸可能时使用防爆屏和防护用品。</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能做到汽油、柴油等燃料用合格容器储运，远离火源热源、严禁吸烟，不进实验室和宿舍。</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日起施行）及《危险化学品安全管理条例》（以现行文本为准）：易燃易爆危险化学品的使用安全和储存要求</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《中华人民共和国消防法》：消除火灾隐患，不得占用、堵塞疏散通道和安全出口，易燃易爆场所严禁吸烟和违规使用明火</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30000.7-2013（以现行文本为准）《化学品分类和标签规范 第7部分：易燃液体》及 GB 30000 系列其他部分：易燃液体按闪点和初沸点分类，爆炸物、易燃气体、易燃固体等分类和象形图</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内容和项目顺序》：第 5 部分消防措施、第 9 部分理化特性（闪点、爆炸极限、自燃温度等）</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15603-2022（以现行文本为准）《危险化学品仓库储存通则》：易燃易爆物品远离火源热源、专区储存</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2894-2025（以现行文本为准）《安全色和安全标志》：禁止吸烟、禁止烟火等标志</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号，以现行文本为准）：易燃易爆化学品存量控制、远离火源、通风</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高校实验室安全检查项目表（以现行文本为准）及本校危险化学品管理制度</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易燃物很常见，先弄清易燃易爆性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易燃物就是容易着火燃烧的物质</a:t>
            </a:r>
          </a:p>
          <a:p>
            <a:pPr>
              <a:spcAft>
                <a:spcPts val="1000"/>
              </a:spcAft>
            </a:pPr>
            <a:r>
              <a:rPr sz="2000">
                <a:solidFill>
                  <a:srgbClr val="222B33"/>
                </a:solidFill>
                <a:latin typeface="Microsoft YaHei"/>
              </a:rPr>
              <a:t>▪ 实验室很多常用溶剂都易燃</a:t>
            </a:r>
          </a:p>
          <a:p>
            <a:pPr>
              <a:spcAft>
                <a:spcPts val="1000"/>
              </a:spcAft>
            </a:pPr>
            <a:r>
              <a:rPr sz="2000">
                <a:solidFill>
                  <a:srgbClr val="222B33"/>
                </a:solidFill>
                <a:latin typeface="Microsoft YaHei"/>
              </a:rPr>
              <a:t>▪ 用之前先弄清它的易燃易爆性</a:t>
            </a:r>
          </a:p>
          <a:p>
            <a:pPr>
              <a:spcAft>
                <a:spcPts val="1000"/>
              </a:spcAft>
            </a:pPr>
            <a:r>
              <a:rPr sz="2000">
                <a:solidFill>
                  <a:srgbClr val="222B33"/>
                </a:solidFill>
                <a:latin typeface="Microsoft YaHei"/>
              </a:rPr>
              <a:t>▪ 操作和储存前先查说明书和指南</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易燃物是容易着火燃烧的物质。实验室常用的乙醇、丙酮、乙醚、石油醚、乙酸乙酯、甲苯等有机溶剂都属于易燃液体，此外还有易燃气体（如氢气、甲烷）和易燃固体。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以为只有汽油才是易燃物</a:t>
            </a:r>
          </a:p>
          <a:p>
            <a:pPr>
              <a:spcAft>
                <a:spcPts val="1000"/>
              </a:spcAft>
            </a:pPr>
            <a:r>
              <a:rPr sz="1500">
                <a:solidFill>
                  <a:srgbClr val="222B33"/>
                </a:solidFill>
                <a:latin typeface="Microsoft YaHei"/>
              </a:rPr>
              <a:t>▪ 凭经验使用，不查说明书</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除了水，液体都当易燃看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除了水，液体都先当易燃的看</a:t>
            </a:r>
          </a:p>
          <a:p>
            <a:pPr>
              <a:spcAft>
                <a:spcPts val="1000"/>
              </a:spcAft>
            </a:pPr>
            <a:r>
              <a:rPr sz="2000">
                <a:solidFill>
                  <a:srgbClr val="222B33"/>
                </a:solidFill>
                <a:latin typeface="Microsoft YaHei"/>
              </a:rPr>
              <a:t>▪ 拿不准的液体，别靠近火源</a:t>
            </a:r>
          </a:p>
          <a:p>
            <a:pPr>
              <a:spcAft>
                <a:spcPts val="1000"/>
              </a:spcAft>
            </a:pPr>
            <a:r>
              <a:rPr sz="2000">
                <a:solidFill>
                  <a:srgbClr val="222B33"/>
                </a:solidFill>
                <a:latin typeface="Microsoft YaHei"/>
              </a:rPr>
              <a:t>▪ 查清楚之前，按易燃对待</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这是一条简单实用的保守原则：在没有查清楚之前，把水以外的液体都当作易燃液体对待，不靠近明火、热源和电火花。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看着像水就当水处理</a:t>
            </a:r>
          </a:p>
          <a:p>
            <a:pPr>
              <a:spcAft>
                <a:spcPts val="1000"/>
              </a:spcAft>
            </a:pPr>
            <a:r>
              <a:rPr sz="1500">
                <a:solidFill>
                  <a:srgbClr val="222B33"/>
                </a:solidFill>
                <a:latin typeface="Microsoft YaHei"/>
              </a:rPr>
              <a:t>▪ 不明液体放在加热设备旁边</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看标签象形图，查说明书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用之前先看标签上的象形图</a:t>
            </a:r>
          </a:p>
          <a:p>
            <a:pPr>
              <a:spcAft>
                <a:spcPts val="1000"/>
              </a:spcAft>
            </a:pPr>
            <a:r>
              <a:rPr sz="2000">
                <a:solidFill>
                  <a:srgbClr val="222B33"/>
                </a:solidFill>
                <a:latin typeface="Microsoft YaHei"/>
              </a:rPr>
              <a:t>▪ 易燃和氧化性的象形图很像</a:t>
            </a:r>
          </a:p>
          <a:p>
            <a:pPr>
              <a:spcAft>
                <a:spcPts val="1000"/>
              </a:spcAft>
            </a:pPr>
            <a:r>
              <a:rPr sz="2000">
                <a:solidFill>
                  <a:srgbClr val="222B33"/>
                </a:solidFill>
                <a:latin typeface="Microsoft YaHei"/>
              </a:rPr>
              <a:t>▪ 火焰下面有个圈的是氧化性</a:t>
            </a:r>
          </a:p>
          <a:p>
            <a:pPr>
              <a:spcAft>
                <a:spcPts val="1000"/>
              </a:spcAft>
            </a:pPr>
            <a:r>
              <a:rPr sz="2000">
                <a:solidFill>
                  <a:srgbClr val="222B33"/>
                </a:solidFill>
                <a:latin typeface="Microsoft YaHei"/>
              </a:rPr>
              <a:t>▪ “易燃”笼统，具体看说明书第 5、9 部分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化学品安全标签上的象形图能快速提示危险性（GB 30000 系列）：红色菱形框内一团火焰表示易燃；火焰下面有一个圆圈表示氧化性，两者很像，要看清楚（象形图见第 039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把氧化性象形图看成易燃</a:t>
            </a:r>
          </a:p>
          <a:p>
            <a:pPr>
              <a:spcAft>
                <a:spcPts val="1000"/>
              </a:spcAft>
            </a:pPr>
            <a:r>
              <a:rPr sz="1500">
                <a:solidFill>
                  <a:srgbClr val="222B33"/>
                </a:solidFill>
                <a:latin typeface="Microsoft YaHei"/>
              </a:rPr>
              <a:t>▪ 只看“易燃”二字，不查具体数据</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烧的是蒸气，蒸气会贴地流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烧的是蒸气，不是液体本身</a:t>
            </a:r>
          </a:p>
          <a:p>
            <a:pPr>
              <a:spcAft>
                <a:spcPts val="1000"/>
              </a:spcAft>
            </a:pPr>
            <a:r>
              <a:rPr sz="2000">
                <a:solidFill>
                  <a:srgbClr val="222B33"/>
                </a:solidFill>
                <a:latin typeface="Microsoft YaHei"/>
              </a:rPr>
              <a:t>▪ 蒸气看不见，却会四处飘散</a:t>
            </a:r>
          </a:p>
          <a:p>
            <a:pPr>
              <a:spcAft>
                <a:spcPts val="1000"/>
              </a:spcAft>
            </a:pPr>
            <a:r>
              <a:rPr sz="2000">
                <a:solidFill>
                  <a:srgbClr val="222B33"/>
                </a:solidFill>
                <a:latin typeface="Microsoft YaHei"/>
              </a:rPr>
              <a:t>▪ 很多溶剂蒸气比空气重，贴着台面和地面流</a:t>
            </a:r>
          </a:p>
          <a:p>
            <a:pPr>
              <a:spcAft>
                <a:spcPts val="1000"/>
              </a:spcAft>
            </a:pPr>
            <a:r>
              <a:rPr sz="2000">
                <a:solidFill>
                  <a:srgbClr val="222B33"/>
                </a:solidFill>
                <a:latin typeface="Microsoft YaHei"/>
              </a:rPr>
              <a:t>▪ 远处的火源也能把它点着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易燃液体燃烧时，真正烧起来的是液体表面挥发出的蒸气，而不是液体本身。蒸气无色、看不见，会向四周飘散。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认为火源离得远就没事</a:t>
            </a:r>
          </a:p>
          <a:p>
            <a:pPr>
              <a:spcAft>
                <a:spcPts val="1000"/>
              </a:spcAft>
            </a:pPr>
            <a:r>
              <a:rPr sz="1500">
                <a:solidFill>
                  <a:srgbClr val="222B33"/>
                </a:solidFill>
                <a:latin typeface="Microsoft YaHei"/>
              </a:rPr>
              <a:t>▪ 在低处、地沟附近倾倒溶剂</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闪点和燃点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温度够了，液体才冒出足够的可燃蒸气</a:t>
            </a:r>
          </a:p>
          <a:p>
            <a:pPr>
              <a:spcAft>
                <a:spcPts val="1000"/>
              </a:spcAft>
            </a:pPr>
            <a:r>
              <a:rPr sz="2000">
                <a:solidFill>
                  <a:srgbClr val="222B33"/>
                </a:solidFill>
                <a:latin typeface="Microsoft YaHei"/>
              </a:rPr>
              <a:t>▪ 闪点：蒸气遇火能闪燃的最低温度</a:t>
            </a:r>
          </a:p>
          <a:p>
            <a:pPr>
              <a:spcAft>
                <a:spcPts val="1000"/>
              </a:spcAft>
            </a:pPr>
            <a:r>
              <a:rPr sz="2000">
                <a:solidFill>
                  <a:srgbClr val="222B33"/>
                </a:solidFill>
                <a:latin typeface="Microsoft YaHei"/>
              </a:rPr>
              <a:t>▪ 燃点：点着后能持续燃烧的最低温度</a:t>
            </a:r>
          </a:p>
          <a:p>
            <a:pPr>
              <a:spcAft>
                <a:spcPts val="1000"/>
              </a:spcAft>
            </a:pPr>
            <a:r>
              <a:rPr sz="2000">
                <a:solidFill>
                  <a:srgbClr val="222B33"/>
                </a:solidFill>
                <a:latin typeface="Microsoft YaHei"/>
              </a:rPr>
              <a:t>▪ 燃点一般比闪点高；闪点越低越易着火</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同一种液体，温度低时挥发的蒸气少，温度升高后蒸气增多。在规定条件下，液体表面的蒸气遇到火源能发生闪燃（一闪即灭）的最低温度，叫闪点。温度继续升高，点着后能持续燃烧的最低温度叫燃点，燃点一般比闪点高一些。</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以为常温下溶剂不会着火</a:t>
            </a:r>
          </a:p>
          <a:p>
            <a:pPr>
              <a:spcAft>
                <a:spcPts val="1000"/>
              </a:spcAft>
            </a:pPr>
            <a:r>
              <a:rPr sz="1500">
                <a:solidFill>
                  <a:srgbClr val="222B33"/>
                </a:solidFill>
                <a:latin typeface="Microsoft YaHei"/>
              </a:rPr>
              <a:t>▪ 把闪点和燃点、自燃点混为一谈</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按闪点区分易燃与可燃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易燃液体和可燃液体，主要看闪点高低</a:t>
            </a:r>
          </a:p>
          <a:p>
            <a:pPr>
              <a:spcAft>
                <a:spcPts val="1000"/>
              </a:spcAft>
            </a:pPr>
            <a:r>
              <a:rPr sz="2000">
                <a:solidFill>
                  <a:srgbClr val="222B33"/>
                </a:solidFill>
                <a:latin typeface="Microsoft YaHei"/>
              </a:rPr>
              <a:t>▪ 不同行业的分类方法可能不一样</a:t>
            </a:r>
          </a:p>
          <a:p>
            <a:pPr>
              <a:spcAft>
                <a:spcPts val="1000"/>
              </a:spcAft>
            </a:pPr>
            <a:r>
              <a:rPr sz="2000">
                <a:solidFill>
                  <a:srgbClr val="222B33"/>
                </a:solidFill>
                <a:latin typeface="Microsoft YaHei"/>
              </a:rPr>
              <a:t>▪ 怎么分类，查说明书和国家标准</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易燃液体和可燃液体常放在一起讲，区分它们主要看闪点：闪点越低，越容易着火，越要小心。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以为“可燃”就不会着火</a:t>
            </a:r>
          </a:p>
          <a:p>
            <a:pPr>
              <a:spcAft>
                <a:spcPts val="1000"/>
              </a:spcAft>
            </a:pPr>
            <a:r>
              <a:rPr sz="1500">
                <a:solidFill>
                  <a:srgbClr val="222B33"/>
                </a:solidFill>
                <a:latin typeface="Microsoft YaHei"/>
              </a:rPr>
              <a:t>▪ 用国外的温度界限判断国内的分类</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爆炸极限：下限很快就到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有火花也不一定着火，要看蒸气和空气的比例</a:t>
            </a:r>
          </a:p>
          <a:p>
            <a:pPr>
              <a:spcAft>
                <a:spcPts val="1000"/>
              </a:spcAft>
            </a:pPr>
            <a:r>
              <a:rPr sz="2000">
                <a:solidFill>
                  <a:srgbClr val="222B33"/>
                </a:solidFill>
                <a:latin typeface="Microsoft YaHei"/>
              </a:rPr>
              <a:t>▪ 低于下限太稀，高于上限太浓，都点不着</a:t>
            </a:r>
          </a:p>
          <a:p>
            <a:pPr>
              <a:spcAft>
                <a:spcPts val="1000"/>
              </a:spcAft>
            </a:pPr>
            <a:r>
              <a:rPr sz="2000">
                <a:solidFill>
                  <a:srgbClr val="222B33"/>
                </a:solidFill>
                <a:latin typeface="Microsoft YaHei"/>
              </a:rPr>
              <a:t>▪ 很多溶剂可燃范围宽，下限很快就能达到</a:t>
            </a:r>
          </a:p>
          <a:p>
            <a:pPr>
              <a:spcAft>
                <a:spcPts val="1000"/>
              </a:spcAft>
            </a:pPr>
            <a:r>
              <a:rPr sz="2000">
                <a:solidFill>
                  <a:srgbClr val="222B33"/>
                </a:solidFill>
                <a:latin typeface="Microsoft YaHei"/>
              </a:rPr>
              <a:t>▪ 能燃烧的浓度，往往早已超过毒性限度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可燃蒸气或气体与空气混合，只有浓度在一定范围内遇火源才会燃烧甚至爆炸，这个范围叫燃烧极限（爆炸极限）。最低浓度叫下限，低于下限蒸气太少点不着；最高浓度叫上限，高于上限空气太少也点不着。处在这个范围内的混合物就是爆炸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认为浓度越高越容易爆炸</a:t>
            </a:r>
          </a:p>
          <a:p>
            <a:pPr>
              <a:spcAft>
                <a:spcPts val="1000"/>
              </a:spcAft>
            </a:pPr>
            <a:r>
              <a:rPr sz="1500">
                <a:solidFill>
                  <a:srgbClr val="222B33"/>
                </a:solidFill>
                <a:latin typeface="Microsoft YaHei"/>
              </a:rPr>
              <a:t>▪ 闻到气味也不当回事</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自燃点：热表面也能引燃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不用明火，热到一定温度也会自燃</a:t>
            </a:r>
          </a:p>
          <a:p>
            <a:pPr>
              <a:spcAft>
                <a:spcPts val="1000"/>
              </a:spcAft>
            </a:pPr>
            <a:r>
              <a:rPr sz="2000">
                <a:solidFill>
                  <a:srgbClr val="222B33"/>
                </a:solidFill>
                <a:latin typeface="Microsoft YaHei"/>
              </a:rPr>
              <a:t>▪ 灯泡、蒸汽管、加热板表面都可能引燃</a:t>
            </a:r>
          </a:p>
          <a:p>
            <a:pPr>
              <a:spcAft>
                <a:spcPts val="1000"/>
              </a:spcAft>
            </a:pPr>
            <a:r>
              <a:rPr sz="2000">
                <a:solidFill>
                  <a:srgbClr val="222B33"/>
                </a:solidFill>
                <a:latin typeface="Microsoft YaHei"/>
              </a:rPr>
              <a:t>▪ 易燃物远离高温表面</a:t>
            </a:r>
          </a:p>
          <a:p>
            <a:pPr>
              <a:spcAft>
                <a:spcPts val="1000"/>
              </a:spcAft>
            </a:pPr>
            <a:r>
              <a:rPr sz="2000">
                <a:solidFill>
                  <a:srgbClr val="222B33"/>
                </a:solidFill>
                <a:latin typeface="Microsoft YaHei"/>
              </a:rPr>
              <a:t>▪ 关掉的加热板表面也还很烫</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物质在没有明火的情况下，被加热到一定温度就会自行着火，这个最低温度叫自燃点（引燃温度）。有的溶剂自燃点较低，热的灯泡、蒸汽管道、加热板表面都足以把它的蒸气引燃。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以为没有火焰就不会着火</a:t>
            </a:r>
          </a:p>
          <a:p>
            <a:pPr>
              <a:spcAft>
                <a:spcPts val="1000"/>
              </a:spcAft>
            </a:pPr>
            <a:r>
              <a:rPr sz="1500">
                <a:solidFill>
                  <a:srgbClr val="222B33"/>
                </a:solidFill>
                <a:latin typeface="Microsoft YaHei"/>
              </a:rPr>
              <a:t>▪ 溶剂瓶放在烘箱或热管道旁边</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爆炸品：怕热怕撞怕摩擦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爆炸品反应极快，瞬间放出气体和热</a:t>
            </a:r>
          </a:p>
          <a:p>
            <a:pPr>
              <a:spcAft>
                <a:spcPts val="1000"/>
              </a:spcAft>
            </a:pPr>
            <a:r>
              <a:rPr sz="2000">
                <a:solidFill>
                  <a:srgbClr val="222B33"/>
                </a:solidFill>
                <a:latin typeface="Microsoft YaHei"/>
              </a:rPr>
              <a:t>▪ 有的怕撞怕磨，有的怕热怕晒，要轻拿轻放</a:t>
            </a:r>
          </a:p>
          <a:p>
            <a:pPr>
              <a:spcAft>
                <a:spcPts val="1000"/>
              </a:spcAft>
            </a:pPr>
            <a:r>
              <a:rPr sz="2000">
                <a:solidFill>
                  <a:srgbClr val="222B33"/>
                </a:solidFill>
                <a:latin typeface="Microsoft YaHei"/>
              </a:rPr>
              <a:t>▪ 有的遇空气或水会自燃（见第 047 课）</a:t>
            </a:r>
          </a:p>
          <a:p>
            <a:pPr>
              <a:spcAft>
                <a:spcPts val="1000"/>
              </a:spcAft>
            </a:pPr>
            <a:r>
              <a:rPr sz="2000">
                <a:solidFill>
                  <a:srgbClr val="222B33"/>
                </a:solidFill>
                <a:latin typeface="Microsoft YaHei"/>
              </a:rPr>
              <a:t>▪ 爆炸性化学品划专区单独存放，远离火源</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易燃物和爆炸品始终是危险的。爆炸品反应极快，会在瞬间放出大量气体和热量。有的化学品对撞击、摩擦敏感，有的受热、日晒会分解，取用时要轻拿轻放；还有的遇空气或水会自燃（反应性化学品见第 047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随手摔放、拖拽容器</a:t>
            </a:r>
          </a:p>
          <a:p>
            <a:pPr>
              <a:spcAft>
                <a:spcPts val="1000"/>
              </a:spcAft>
            </a:pPr>
            <a:r>
              <a:rPr sz="1500">
                <a:solidFill>
                  <a:srgbClr val="222B33"/>
                </a:solidFill>
                <a:latin typeface="Microsoft YaHei"/>
              </a:rPr>
              <a:t>▪ 放在窗边阳光直射处</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远离点火源，不用明火和加热板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用易燃物前，移走热源和火花源</a:t>
            </a:r>
          </a:p>
          <a:p>
            <a:pPr>
              <a:spcAft>
                <a:spcPts val="1000"/>
              </a:spcAft>
            </a:pPr>
            <a:r>
              <a:rPr sz="2000">
                <a:solidFill>
                  <a:srgbClr val="222B33"/>
                </a:solidFill>
                <a:latin typeface="Microsoft YaHei"/>
              </a:rPr>
              <a:t>▪ 搅拌器、泵等电器也可能打出火花</a:t>
            </a:r>
          </a:p>
          <a:p>
            <a:pPr>
              <a:spcAft>
                <a:spcPts val="1000"/>
              </a:spcAft>
            </a:pPr>
            <a:r>
              <a:rPr sz="2000">
                <a:solidFill>
                  <a:srgbClr val="222B33"/>
                </a:solidFill>
                <a:latin typeface="Microsoft YaHei"/>
              </a:rPr>
              <a:t>▪ 加热易燃物不用明火和加热板</a:t>
            </a:r>
          </a:p>
          <a:p>
            <a:pPr>
              <a:spcAft>
                <a:spcPts val="1000"/>
              </a:spcAft>
            </a:pPr>
            <a:r>
              <a:rPr sz="2000">
                <a:solidFill>
                  <a:srgbClr val="222B33"/>
                </a:solidFill>
                <a:latin typeface="Microsoft YaHei"/>
              </a:rPr>
              <a:t>▪ 改用加热套或水浴，人走关设备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使用易燃物前，先把周围的明火、加热板、电热设备等热源和火花源移走。普通搅拌器、真空泵、插头插座、开关等电器工作时可能产生电火花，也是点火源。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用明火直接加热有机溶剂</a:t>
            </a:r>
          </a:p>
          <a:p>
            <a:pPr>
              <a:spcAft>
                <a:spcPts val="1000"/>
              </a:spcAft>
            </a:pPr>
            <a:r>
              <a:rPr sz="1500">
                <a:solidFill>
                  <a:srgbClr val="222B33"/>
                </a:solidFill>
                <a:latin typeface="Microsoft YaHei"/>
              </a:rPr>
              <a:t>▪ 在插座旁倾倒大量溶剂</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酒精也易燃：消毒灭菌远离火焰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消毒用的乙醇、异丙醇也是易燃液体</a:t>
            </a:r>
          </a:p>
          <a:p>
            <a:pPr>
              <a:spcAft>
                <a:spcPts val="1000"/>
              </a:spcAft>
            </a:pPr>
            <a:r>
              <a:rPr sz="2000">
                <a:solidFill>
                  <a:srgbClr val="222B33"/>
                </a:solidFill>
                <a:latin typeface="Microsoft YaHei"/>
              </a:rPr>
              <a:t>▪ 不在火焰附近喷酒精，泡器械的酒精远离火焰</a:t>
            </a:r>
          </a:p>
          <a:p>
            <a:pPr>
              <a:spcAft>
                <a:spcPts val="1000"/>
              </a:spcAft>
            </a:pPr>
            <a:r>
              <a:rPr sz="2000">
                <a:solidFill>
                  <a:srgbClr val="222B33"/>
                </a:solidFill>
                <a:latin typeface="Microsoft YaHei"/>
              </a:rPr>
              <a:t>▪ 酒精灯用灯帽盖灭，不能用嘴吹</a:t>
            </a:r>
          </a:p>
          <a:p>
            <a:pPr>
              <a:spcAft>
                <a:spcPts val="1000"/>
              </a:spcAft>
            </a:pPr>
            <a:r>
              <a:rPr sz="2000">
                <a:solidFill>
                  <a:srgbClr val="222B33"/>
                </a:solidFill>
                <a:latin typeface="Microsoft YaHei"/>
              </a:rPr>
              <a:t>▪ 不给燃着的灯添酒精，不用灯对火</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无菌操作、组织培养常同时用到酒精和明火。消毒用的乙醇、异丙醇都是易燃液体：不要在火焰附近喷洒酒精，浸泡器械的酒精杯要远离火焰，用完盖好。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刚喷完酒精的手马上靠近火焰</a:t>
            </a:r>
          </a:p>
          <a:p>
            <a:pPr>
              <a:spcAft>
                <a:spcPts val="1000"/>
              </a:spcAft>
            </a:pPr>
            <a:r>
              <a:rPr sz="1500">
                <a:solidFill>
                  <a:srgbClr val="222B33"/>
                </a:solidFill>
                <a:latin typeface="Microsoft YaHei"/>
              </a:rPr>
              <a:t>▪ 用嘴吹灭酒精灯</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通风要足，在通风柜里操作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易燃溶剂在通风柜里操作，把蒸气排出去</a:t>
            </a:r>
          </a:p>
          <a:p>
            <a:pPr>
              <a:spcAft>
                <a:spcPts val="1000"/>
              </a:spcAft>
            </a:pPr>
            <a:r>
              <a:rPr sz="2000">
                <a:solidFill>
                  <a:srgbClr val="222B33"/>
                </a:solidFill>
                <a:latin typeface="Microsoft YaHei"/>
              </a:rPr>
              <a:t>▪ 让蒸气浓度远低于燃烧下限</a:t>
            </a:r>
          </a:p>
          <a:p>
            <a:pPr>
              <a:spcAft>
                <a:spcPts val="1000"/>
              </a:spcAft>
            </a:pPr>
            <a:r>
              <a:rPr sz="2000">
                <a:solidFill>
                  <a:srgbClr val="222B33"/>
                </a:solidFill>
                <a:latin typeface="Microsoft YaHei"/>
              </a:rPr>
              <a:t>▪ 局部排风，必要时加辅助通风</a:t>
            </a:r>
          </a:p>
          <a:p>
            <a:pPr>
              <a:spcAft>
                <a:spcPts val="1000"/>
              </a:spcAft>
            </a:pPr>
            <a:r>
              <a:rPr sz="2000">
                <a:solidFill>
                  <a:srgbClr val="222B33"/>
                </a:solidFill>
                <a:latin typeface="Microsoft YaHei"/>
              </a:rPr>
              <a:t>▪ 擦拭纸放带盖桶，废液进危废桶不进水槽</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通风是控制易燃蒸气最重要的手段：配制展开剂、处理含油样品和溶剂等操作在通风柜里进行，让蒸气浓度远低于燃烧下限，同时减少吸入（通风柜使用见第 052 课）。局部排风还能防止蒸气流向远处的火源，必要时增加房间辅助通风。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在敞开台面上大量使用溶剂</a:t>
            </a:r>
          </a:p>
          <a:p>
            <a:pPr>
              <a:spcAft>
                <a:spcPts val="1000"/>
              </a:spcAft>
            </a:pPr>
            <a:r>
              <a:rPr sz="1500">
                <a:solidFill>
                  <a:srgbClr val="222B33"/>
                </a:solidFill>
                <a:latin typeface="Microsoft YaHei"/>
              </a:rPr>
              <a:t>▪ 沾溶剂的纸扔进敞口垃圾桶</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台面少放，用完回柜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防火先防源头，台面只放够用的量</a:t>
            </a:r>
          </a:p>
          <a:p>
            <a:pPr>
              <a:spcAft>
                <a:spcPts val="1000"/>
              </a:spcAft>
            </a:pPr>
            <a:r>
              <a:rPr sz="2000">
                <a:solidFill>
                  <a:srgbClr val="222B33"/>
                </a:solidFill>
                <a:latin typeface="Microsoft YaHei"/>
              </a:rPr>
              <a:t>▪ 大桶用完放回易燃品柜</a:t>
            </a:r>
          </a:p>
          <a:p>
            <a:pPr>
              <a:spcAft>
                <a:spcPts val="1000"/>
              </a:spcAft>
            </a:pPr>
            <a:r>
              <a:rPr sz="2000">
                <a:solidFill>
                  <a:srgbClr val="222B33"/>
                </a:solidFill>
                <a:latin typeface="Microsoft YaHei"/>
              </a:rPr>
              <a:t>▪ 敞口馏分远离热源和电火花</a:t>
            </a:r>
          </a:p>
          <a:p>
            <a:pPr>
              <a:spcAft>
                <a:spcPts val="1000"/>
              </a:spcAft>
            </a:pPr>
            <a:r>
              <a:rPr sz="2000">
                <a:solidFill>
                  <a:srgbClr val="222B33"/>
                </a:solidFill>
                <a:latin typeface="Microsoft YaHei"/>
              </a:rPr>
              <a:t>▪ 及时合并处理，别敞口久放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防火要从源头做起：实验台面上只放当次够用的易燃溶剂，大桶和用完的试剂放回易燃品柜（见第 044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大桶溶剂一直放在台面上</a:t>
            </a:r>
          </a:p>
          <a:p>
            <a:pPr>
              <a:spcAft>
                <a:spcPts val="1000"/>
              </a:spcAft>
            </a:pPr>
            <a:r>
              <a:rPr sz="1500">
                <a:solidFill>
                  <a:srgbClr val="222B33"/>
                </a:solidFill>
                <a:latin typeface="Microsoft YaHei"/>
              </a:rPr>
              <a:t>▪ 敞口馏分放过夜</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合格容器，通道不放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易燃液体只用合格容器盛装</a:t>
            </a:r>
          </a:p>
          <a:p>
            <a:pPr>
              <a:spcAft>
                <a:spcPts val="1000"/>
              </a:spcAft>
            </a:pPr>
            <a:r>
              <a:rPr sz="2000">
                <a:solidFill>
                  <a:srgbClr val="222B33"/>
                </a:solidFill>
                <a:latin typeface="Microsoft YaHei"/>
              </a:rPr>
              <a:t>▪ 少量试剂可留在完好的原包装里</a:t>
            </a:r>
          </a:p>
          <a:p>
            <a:pPr>
              <a:spcAft>
                <a:spcPts val="1000"/>
              </a:spcAft>
            </a:pPr>
            <a:r>
              <a:rPr sz="2000">
                <a:solidFill>
                  <a:srgbClr val="222B33"/>
                </a:solidFill>
                <a:latin typeface="Microsoft YaHei"/>
              </a:rPr>
              <a:t>▪ 出口、楼梯、通道不放易燃液体</a:t>
            </a:r>
          </a:p>
          <a:p>
            <a:pPr>
              <a:spcAft>
                <a:spcPts val="1000"/>
              </a:spcAft>
            </a:pPr>
            <a:r>
              <a:rPr sz="2000">
                <a:solidFill>
                  <a:srgbClr val="222B33"/>
                </a:solidFill>
                <a:latin typeface="Microsoft YaHei"/>
              </a:rPr>
              <a:t>▪ 一旦着火，会堵住逃生路</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易燃液体只能用合格、密闭、完好的容器盛装，不用饮料瓶、破损容器。少量试剂可以留在完好的原包装里使用和存放；数量界限按国家规定和本校规定执行。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用矿泉水瓶分装溶剂</a:t>
            </a:r>
          </a:p>
          <a:p>
            <a:pPr>
              <a:spcAft>
                <a:spcPts val="1000"/>
              </a:spcAft>
            </a:pPr>
            <a:r>
              <a:rPr sz="1500">
                <a:solidFill>
                  <a:srgbClr val="222B33"/>
                </a:solidFill>
                <a:latin typeface="Microsoft YaHei"/>
              </a:rPr>
              <a:t>▪ 把溶剂桶临时放在走廊</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有爆炸可能：防爆屏和防护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有爆炸可能，装置放在防爆屏后</a:t>
            </a:r>
          </a:p>
          <a:p>
            <a:pPr>
              <a:spcAft>
                <a:spcPts val="1000"/>
              </a:spcAft>
            </a:pPr>
            <a:r>
              <a:rPr sz="2000">
                <a:solidFill>
                  <a:srgbClr val="222B33"/>
                </a:solidFill>
                <a:latin typeface="Microsoft YaHei"/>
              </a:rPr>
              <a:t>▪ 戴面屏和合适的手套</a:t>
            </a:r>
          </a:p>
          <a:p>
            <a:pPr>
              <a:spcAft>
                <a:spcPts val="1000"/>
              </a:spcAft>
            </a:pPr>
            <a:r>
              <a:rPr sz="2000">
                <a:solidFill>
                  <a:srgbClr val="222B33"/>
                </a:solidFill>
                <a:latin typeface="Microsoft YaHei"/>
              </a:rPr>
              <a:t>▪ 穿阻燃材料的实验服</a:t>
            </a:r>
          </a:p>
          <a:p>
            <a:pPr>
              <a:spcAft>
                <a:spcPts val="1000"/>
              </a:spcAft>
            </a:pPr>
            <a:r>
              <a:rPr sz="2000">
                <a:solidFill>
                  <a:srgbClr val="222B33"/>
                </a:solidFill>
                <a:latin typeface="Microsoft YaHei"/>
              </a:rPr>
              <a:t>▪ 高风险实验先做风险评估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涉及可能发生爆炸或剧烈反应的操作，装置放在通风柜内并加防爆屏（防护挡板），人员戴面屏（护目镜之外加面屏）、合适的手套，穿阻燃材料的实验服。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只戴护目镜就做有爆炸风险的实验</a:t>
            </a:r>
          </a:p>
          <a:p>
            <a:pPr>
              <a:spcAft>
                <a:spcPts val="1000"/>
              </a:spcAft>
            </a:pPr>
            <a:r>
              <a:rPr sz="1500">
                <a:solidFill>
                  <a:srgbClr val="222B33"/>
                </a:solidFill>
                <a:latin typeface="Microsoft YaHei"/>
              </a:rPr>
              <a:t>▪ 穿化纤衣物做易燃易爆实验</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燃油用合格容器，不进宿舍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燃油装在合格的专用容器里，标明内容</a:t>
            </a:r>
          </a:p>
          <a:p>
            <a:pPr>
              <a:spcAft>
                <a:spcPts val="1000"/>
              </a:spcAft>
            </a:pPr>
            <a:r>
              <a:rPr sz="2000">
                <a:solidFill>
                  <a:srgbClr val="222B33"/>
                </a:solidFill>
                <a:latin typeface="Microsoft YaHei"/>
              </a:rPr>
              <a:t>▪ 不用饮料瓶、普通塑料桶装汽油柴油</a:t>
            </a:r>
          </a:p>
          <a:p>
            <a:pPr>
              <a:spcAft>
                <a:spcPts val="1000"/>
              </a:spcAft>
            </a:pPr>
            <a:r>
              <a:rPr sz="2000">
                <a:solidFill>
                  <a:srgbClr val="222B33"/>
                </a:solidFill>
                <a:latin typeface="Microsoft YaHei"/>
              </a:rPr>
              <a:t>▪ 汽油是危险化学品，少量专门存放</a:t>
            </a:r>
          </a:p>
          <a:p>
            <a:pPr>
              <a:spcAft>
                <a:spcPts val="1000"/>
              </a:spcAft>
            </a:pPr>
            <a:r>
              <a:rPr sz="2000">
                <a:solidFill>
                  <a:srgbClr val="222B33"/>
                </a:solidFill>
                <a:latin typeface="Microsoft YaHei"/>
              </a:rPr>
              <a:t>▪ 不放在实验室、宿舍和生活区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野外实习、户外活动、停电应急使用发电机等设备时，会用到汽油、柴油等燃料。燃油要装在合格的专用油桶里，标明内容，不能用饮料瓶、普通塑料桶盛装（普通塑料桶不耐油，还易积聚静电）。</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用饮料瓶装汽油</a:t>
            </a:r>
          </a:p>
          <a:p>
            <a:pPr>
              <a:spcAft>
                <a:spcPts val="1000"/>
              </a:spcAft>
            </a:pPr>
            <a:r>
              <a:rPr sz="1500">
                <a:solidFill>
                  <a:srgbClr val="222B33"/>
                </a:solidFill>
                <a:latin typeface="Microsoft YaHei"/>
              </a:rPr>
              <a:t>▪ 把备用油桶放在宿舍或帐篷里</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燃油远离火源，严禁吸烟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油桶远离发电机和各种热源</a:t>
            </a:r>
          </a:p>
          <a:p>
            <a:pPr>
              <a:spcAft>
                <a:spcPts val="1000"/>
              </a:spcAft>
            </a:pPr>
            <a:r>
              <a:rPr sz="2000">
                <a:solidFill>
                  <a:srgbClr val="222B33"/>
                </a:solidFill>
                <a:latin typeface="Microsoft YaHei"/>
              </a:rPr>
              <a:t>▪ 香烟、打火机、火柴都要远离</a:t>
            </a:r>
          </a:p>
          <a:p>
            <a:pPr>
              <a:spcAft>
                <a:spcPts val="1000"/>
              </a:spcAft>
            </a:pPr>
            <a:r>
              <a:rPr sz="2000">
                <a:solidFill>
                  <a:srgbClr val="222B33"/>
                </a:solidFill>
                <a:latin typeface="Microsoft YaHei"/>
              </a:rPr>
              <a:t>▪ 存油的地方严禁吸烟</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油桶要远离运行中的发电机、排气管和其他热源，加油前先停机冷却。香烟、打火机、火柴等火源都要远离燃油。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发电机运行时加油</a:t>
            </a:r>
          </a:p>
          <a:p>
            <a:pPr>
              <a:spcAft>
                <a:spcPts val="1000"/>
              </a:spcAft>
            </a:pPr>
            <a:r>
              <a:rPr sz="1500">
                <a:solidFill>
                  <a:srgbClr val="222B33"/>
                </a:solidFill>
                <a:latin typeface="Microsoft YaHei"/>
              </a:rPr>
              <a:t>▪ 在油桶旁边抽烟</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时刻专注，牢记五条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易燃易爆物从来不能大意，时刻专注</a:t>
            </a:r>
          </a:p>
          <a:p>
            <a:pPr>
              <a:spcAft>
                <a:spcPts val="1000"/>
              </a:spcAft>
            </a:pPr>
            <a:r>
              <a:rPr sz="2000">
                <a:solidFill>
                  <a:srgbClr val="222B33"/>
                </a:solidFill>
                <a:latin typeface="Microsoft YaHei"/>
              </a:rPr>
              <a:t>▪ 知道哪些东西易燃易爆</a:t>
            </a:r>
          </a:p>
          <a:p>
            <a:pPr>
              <a:spcAft>
                <a:spcPts val="1000"/>
              </a:spcAft>
            </a:pPr>
            <a:r>
              <a:rPr sz="2000">
                <a:solidFill>
                  <a:srgbClr val="222B33"/>
                </a:solidFill>
                <a:latin typeface="Microsoft YaHei"/>
              </a:rPr>
              <a:t>▪ 身边不留点火源，通风要足</a:t>
            </a:r>
          </a:p>
          <a:p>
            <a:pPr>
              <a:spcAft>
                <a:spcPts val="1000"/>
              </a:spcAft>
            </a:pPr>
            <a:r>
              <a:rPr sz="2000">
                <a:solidFill>
                  <a:srgbClr val="222B33"/>
                </a:solidFill>
                <a:latin typeface="Microsoft YaHei"/>
              </a:rPr>
              <a:t>▪ 会搬会存，随时做好应急准备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使用易燃易爆化学品时，清楚每一步操作，时刻保持专注，不边玩手机边做实验。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边看手机边操作</a:t>
            </a:r>
          </a:p>
          <a:p>
            <a:pPr>
              <a:spcAft>
                <a:spcPts val="1000"/>
              </a:spcAft>
            </a:pPr>
            <a:r>
              <a:rPr sz="1500">
                <a:solidFill>
                  <a:srgbClr val="222B33"/>
                </a:solidFill>
                <a:latin typeface="Microsoft YaHei"/>
              </a:rPr>
              <a:t>▪ 不清楚灭火器和应急器材的位置</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易燃液体燃烧时，真正燃烧的是：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液体本身</a:t>
            </a:r>
          </a:p>
          <a:p>
            <a:pPr algn="l"/>
            <a:r>
              <a:rPr sz="1500" b="0">
                <a:solidFill>
                  <a:srgbClr val="222B33"/>
                </a:solidFill>
                <a:latin typeface="Microsoft YaHei"/>
              </a:rPr>
              <a:t>B. 液体表面挥发的蒸气</a:t>
            </a:r>
          </a:p>
          <a:p>
            <a:pPr algn="l"/>
            <a:r>
              <a:rPr sz="1500" b="0">
                <a:solidFill>
                  <a:srgbClr val="222B33"/>
                </a:solidFill>
                <a:latin typeface="Microsoft YaHei"/>
              </a:rPr>
              <a:t>C. 容器</a:t>
            </a:r>
          </a:p>
          <a:p>
            <a:pPr algn="l"/>
            <a:r>
              <a:rPr sz="1500" b="0">
                <a:solidFill>
                  <a:srgbClr val="222B33"/>
                </a:solidFill>
                <a:latin typeface="Microsoft YaHei"/>
              </a:rPr>
              <a:t>D. 空气中的水分</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判断：只要附近没有明火，易燃溶剂就不会着火。</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关于爆炸极限，下列说法正确的是：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浓度越高越容易爆炸</a:t>
            </a:r>
          </a:p>
          <a:p>
            <a:pPr algn="l"/>
            <a:r>
              <a:rPr sz="1500" b="0">
                <a:solidFill>
                  <a:srgbClr val="222B33"/>
                </a:solidFill>
                <a:latin typeface="Microsoft YaHei"/>
              </a:rPr>
              <a:t>B. 低于下限和高于上限都点不着，很多溶剂下限很快就能达到</a:t>
            </a:r>
          </a:p>
          <a:p>
            <a:pPr algn="l"/>
            <a:r>
              <a:rPr sz="1500" b="0">
                <a:solidFill>
                  <a:srgbClr val="222B33"/>
                </a:solidFill>
                <a:latin typeface="Microsoft YaHei"/>
              </a:rPr>
              <a:t>C. 有火花一定会爆炸</a:t>
            </a:r>
          </a:p>
          <a:p>
            <a:pPr algn="l"/>
            <a:r>
              <a:rPr sz="1500" b="0">
                <a:solidFill>
                  <a:srgbClr val="222B33"/>
                </a:solidFill>
                <a:latin typeface="Microsoft YaHei"/>
              </a:rPr>
              <a:t>D. 只有气体才有爆炸极限</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加热乙醇等易燃液体，应选用：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酒精灯明火</a:t>
            </a:r>
          </a:p>
          <a:p>
            <a:pPr algn="l"/>
            <a:r>
              <a:rPr sz="1500" b="0">
                <a:solidFill>
                  <a:srgbClr val="222B33"/>
                </a:solidFill>
                <a:latin typeface="Microsoft YaHei"/>
              </a:rPr>
              <a:t>B. 裸露的加热板</a:t>
            </a:r>
          </a:p>
          <a:p>
            <a:pPr algn="l"/>
            <a:r>
              <a:rPr sz="1500" b="0">
                <a:solidFill>
                  <a:srgbClr val="222B33"/>
                </a:solidFill>
                <a:latin typeface="Microsoft YaHei"/>
              </a:rPr>
              <a:t>C. 加热套或水浴</a:t>
            </a:r>
          </a:p>
          <a:p>
            <a:pPr algn="l"/>
            <a:r>
              <a:rPr sz="1500" b="0">
                <a:solidFill>
                  <a:srgbClr val="222B33"/>
                </a:solidFill>
                <a:latin typeface="Microsoft YaHei"/>
              </a:rPr>
              <a:t>D. 电炉</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046 · 易燃易爆化学品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046 易燃易爆化学品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判断：野外实习用的备用汽油，可以装在饮料瓶里放在宿舍。</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简答：使用易燃易爆化学品的“五条要点”是什么？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易燃物很常见，先弄清易燃易爆性</a:t>
            </a:r>
          </a:p>
          <a:p>
            <a:pPr>
              <a:spcAft>
                <a:spcPts val="800"/>
              </a:spcAft>
            </a:pPr>
            <a:r>
              <a:rPr sz="1500">
                <a:solidFill>
                  <a:srgbClr val="FFFFFF"/>
                </a:solidFill>
                <a:latin typeface="Microsoft YaHei"/>
              </a:rPr>
              <a:t>▪ K2  除了水，液体都当易燃看</a:t>
            </a:r>
          </a:p>
          <a:p>
            <a:pPr>
              <a:spcAft>
                <a:spcPts val="800"/>
              </a:spcAft>
            </a:pPr>
            <a:r>
              <a:rPr sz="1500">
                <a:solidFill>
                  <a:srgbClr val="FFFFFF"/>
                </a:solidFill>
                <a:latin typeface="Microsoft YaHei"/>
              </a:rPr>
              <a:t>▪ K3  看标签象形图，查说明书</a:t>
            </a:r>
          </a:p>
          <a:p>
            <a:pPr>
              <a:spcAft>
                <a:spcPts val="800"/>
              </a:spcAft>
            </a:pPr>
            <a:r>
              <a:rPr sz="1500">
                <a:solidFill>
                  <a:srgbClr val="FFFFFF"/>
                </a:solidFill>
                <a:latin typeface="Microsoft YaHei"/>
              </a:rPr>
              <a:t>▪ K4  烧的是蒸气，蒸气会贴地流</a:t>
            </a:r>
          </a:p>
          <a:p>
            <a:pPr>
              <a:spcAft>
                <a:spcPts val="800"/>
              </a:spcAft>
            </a:pPr>
            <a:r>
              <a:rPr sz="1500">
                <a:solidFill>
                  <a:srgbClr val="FFFFFF"/>
                </a:solidFill>
                <a:latin typeface="Microsoft YaHei"/>
              </a:rPr>
              <a:t>▪ K5  闪点和燃点</a:t>
            </a:r>
          </a:p>
          <a:p>
            <a:pPr>
              <a:spcAft>
                <a:spcPts val="800"/>
              </a:spcAft>
            </a:pPr>
            <a:r>
              <a:rPr sz="1500">
                <a:solidFill>
                  <a:srgbClr val="FFFFFF"/>
                </a:solidFill>
                <a:latin typeface="Microsoft YaHei"/>
              </a:rPr>
              <a:t>▪ K6  按闪点区分易燃与可燃</a:t>
            </a:r>
          </a:p>
          <a:p>
            <a:pPr>
              <a:spcAft>
                <a:spcPts val="800"/>
              </a:spcAft>
            </a:pPr>
            <a:r>
              <a:rPr sz="1500">
                <a:solidFill>
                  <a:srgbClr val="FFFFFF"/>
                </a:solidFill>
                <a:latin typeface="Microsoft YaHei"/>
              </a:rPr>
              <a:t>▪ K7  爆炸极限：下限很快就到</a:t>
            </a:r>
          </a:p>
          <a:p>
            <a:pPr>
              <a:spcAft>
                <a:spcPts val="800"/>
              </a:spcAft>
            </a:pPr>
            <a:r>
              <a:rPr sz="1500">
                <a:solidFill>
                  <a:srgbClr val="FFFFFF"/>
                </a:solidFill>
                <a:latin typeface="Microsoft YaHei"/>
              </a:rPr>
              <a:t>▪ K8  自燃点：热表面也能引燃</a:t>
            </a:r>
          </a:p>
          <a:p>
            <a:pPr>
              <a:spcAft>
                <a:spcPts val="800"/>
              </a:spcAft>
            </a:pPr>
            <a:r>
              <a:rPr sz="1500">
                <a:solidFill>
                  <a:srgbClr val="FFFFFF"/>
                </a:solidFill>
                <a:latin typeface="Microsoft YaHei"/>
              </a:rPr>
              <a:t>▪ K9  爆炸品：怕热怕撞怕摩擦</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远离点火源，不用明火和加热板</a:t>
            </a:r>
          </a:p>
          <a:p>
            <a:pPr>
              <a:spcAft>
                <a:spcPts val="800"/>
              </a:spcAft>
            </a:pPr>
            <a:r>
              <a:rPr sz="1500">
                <a:solidFill>
                  <a:srgbClr val="FFFFFF"/>
                </a:solidFill>
                <a:latin typeface="Microsoft YaHei"/>
              </a:rPr>
              <a:t>▪ K11  酒精也易燃：消毒灭菌远离火焰</a:t>
            </a:r>
          </a:p>
          <a:p>
            <a:pPr>
              <a:spcAft>
                <a:spcPts val="800"/>
              </a:spcAft>
            </a:pPr>
            <a:r>
              <a:rPr sz="1500">
                <a:solidFill>
                  <a:srgbClr val="FFFFFF"/>
                </a:solidFill>
                <a:latin typeface="Microsoft YaHei"/>
              </a:rPr>
              <a:t>▪ K12  通风要足，在通风柜里操作</a:t>
            </a:r>
          </a:p>
          <a:p>
            <a:pPr>
              <a:spcAft>
                <a:spcPts val="800"/>
              </a:spcAft>
            </a:pPr>
            <a:r>
              <a:rPr sz="1500">
                <a:solidFill>
                  <a:srgbClr val="FFFFFF"/>
                </a:solidFill>
                <a:latin typeface="Microsoft YaHei"/>
              </a:rPr>
              <a:t>▪ K13  台面少放，用完回柜</a:t>
            </a:r>
          </a:p>
          <a:p>
            <a:pPr>
              <a:spcAft>
                <a:spcPts val="800"/>
              </a:spcAft>
            </a:pPr>
            <a:r>
              <a:rPr sz="1500">
                <a:solidFill>
                  <a:srgbClr val="FFFFFF"/>
                </a:solidFill>
                <a:latin typeface="Microsoft YaHei"/>
              </a:rPr>
              <a:t>▪ K14  合格容器，通道不放</a:t>
            </a:r>
          </a:p>
          <a:p>
            <a:pPr>
              <a:spcAft>
                <a:spcPts val="800"/>
              </a:spcAft>
            </a:pPr>
            <a:r>
              <a:rPr sz="1500">
                <a:solidFill>
                  <a:srgbClr val="FFFFFF"/>
                </a:solidFill>
                <a:latin typeface="Microsoft YaHei"/>
              </a:rPr>
              <a:t>▪ K15  有爆炸可能：防爆屏和防护</a:t>
            </a:r>
          </a:p>
          <a:p>
            <a:pPr>
              <a:spcAft>
                <a:spcPts val="800"/>
              </a:spcAft>
            </a:pPr>
            <a:r>
              <a:rPr sz="1500">
                <a:solidFill>
                  <a:srgbClr val="FFFFFF"/>
                </a:solidFill>
                <a:latin typeface="Microsoft YaHei"/>
              </a:rPr>
              <a:t>▪ K16  燃油用合格容器，不进宿舍</a:t>
            </a:r>
          </a:p>
          <a:p>
            <a:pPr>
              <a:spcAft>
                <a:spcPts val="800"/>
              </a:spcAft>
            </a:pPr>
            <a:r>
              <a:rPr sz="1500">
                <a:solidFill>
                  <a:srgbClr val="FFFFFF"/>
                </a:solidFill>
                <a:latin typeface="Microsoft YaHei"/>
              </a:rPr>
              <a:t>▪ K17  燃油远离火源，严禁吸烟</a:t>
            </a:r>
          </a:p>
          <a:p>
            <a:pPr>
              <a:spcAft>
                <a:spcPts val="800"/>
              </a:spcAft>
            </a:pPr>
            <a:r>
              <a:rPr sz="1500">
                <a:solidFill>
                  <a:srgbClr val="FFFFFF"/>
                </a:solidFill>
                <a:latin typeface="Microsoft YaHei"/>
              </a:rPr>
              <a:t>▪ K18  时刻专注，牢记五条</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047</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氧化剂与反应性化学品</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73 镜）　适用对象：全体使用化学品的高校本科生、研究生和教职工（必修）；化学、化工、材料、药学、生命科学等专业重点学习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能认出氧化性象形图，说出氧化剂助燃的原因，能做到氧化剂远离可燃物、不与可燃物和还原剂一起研磨。</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能说出不稳定物质、遇水放出易燃气体物质、自燃物品和放热反应的主要危险，能做到混合前查相容性、禁配物隔开存放、高风险操作先评估审批并依靠工程控制和防护。</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能做到易形成过氧化物的化学品写收货和开封日期、定期检测、按期用完，能按试纸说明书规范完成过氧化物检测并记录。</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能判断可疑容器（老旧、超期、来历不明、有结晶）并做到不开、不动、隔离、报告，检测超限的按危险废物处置。</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日起施行）及《危险化学品安全管理条例》（以现行文本为准）：学校、科研机构使用危险化学品的安全责任，按安全技术说明书和安全标签的要求使用、储存，禁配物分开存放</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系列（以现行文本为准）《化学品分类和标签规范》：氧化性液体和固体、有机过氧化物、自反应物质、自燃液体和固体、遇水放出易燃气体的物质等分类和象形图</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内容和项目顺序》：第 7 部分操作处置与储存、第 10 部分稳定性和反应性</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15603-2022（以现行文本为准）《危险化学品仓库储存通则》：按性质分类分区储存，禁配物不得混存，遇水危险物品防潮防水</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号，以现行文本为准）：危险化学品存量控制、台账、高风险实验风险评估和个人防护</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《国家危险废物名录》（以现行文本为准）：废弃化学品按危险废物交有资质单位处置，不得倒入下水道</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高校实验室安全检查项目表（以现行文本为准）及本校危险化学品管理制度、标准操作规程</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氧化剂会助燃，远离可燃物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圆圈上面一团火，表示氧化性</a:t>
            </a:r>
          </a:p>
          <a:p>
            <a:pPr>
              <a:spcAft>
                <a:spcPts val="1000"/>
              </a:spcAft>
            </a:pPr>
            <a:r>
              <a:rPr sz="2000">
                <a:solidFill>
                  <a:srgbClr val="222B33"/>
                </a:solidFill>
                <a:latin typeface="Microsoft YaHei"/>
              </a:rPr>
              <a:t>▪ 氧化剂能放出氧，引发或助长燃烧</a:t>
            </a:r>
          </a:p>
          <a:p>
            <a:pPr>
              <a:spcAft>
                <a:spcPts val="1000"/>
              </a:spcAft>
            </a:pPr>
            <a:r>
              <a:rPr sz="2000">
                <a:solidFill>
                  <a:srgbClr val="222B33"/>
                </a:solidFill>
                <a:latin typeface="Microsoft YaHei"/>
              </a:rPr>
              <a:t>▪ 氧化剂要远离可燃物和易燃溶剂</a:t>
            </a:r>
          </a:p>
          <a:p>
            <a:pPr>
              <a:spcAft>
                <a:spcPts val="1000"/>
              </a:spcAft>
            </a:pPr>
            <a:r>
              <a:rPr sz="2000">
                <a:solidFill>
                  <a:srgbClr val="222B33"/>
                </a:solidFill>
                <a:latin typeface="Microsoft YaHei"/>
              </a:rPr>
              <a:t>▪ 有的显色剂也是氧化剂，用完盖好</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化学品安全标签上，红色菱形框内“圆圈上方一团火焰”的象形图表示氧化性（GB 30000 系列），注意和只有一团火焰的易燃象形图区分（见第 039、046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把氧化性象形图当成易燃象形图</a:t>
            </a:r>
          </a:p>
          <a:p>
            <a:pPr>
              <a:spcAft>
                <a:spcPts val="1000"/>
              </a:spcAft>
            </a:pPr>
            <a:r>
              <a:rPr sz="1500">
                <a:solidFill>
                  <a:srgbClr val="222B33"/>
                </a:solidFill>
                <a:latin typeface="Microsoft YaHei"/>
              </a:rPr>
              <a:t>▪ 氧化剂和溶剂、纸箱挤在同一格架子上</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氧化剂不和可燃物、还原剂一起研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氧化剂不能和可燃物一起研磨</a:t>
            </a:r>
          </a:p>
          <a:p>
            <a:pPr>
              <a:spcAft>
                <a:spcPts val="1000"/>
              </a:spcAft>
            </a:pPr>
            <a:r>
              <a:rPr sz="2000">
                <a:solidFill>
                  <a:srgbClr val="222B33"/>
                </a:solidFill>
                <a:latin typeface="Microsoft YaHei"/>
              </a:rPr>
              <a:t>▪ 也不能和还原剂一起研磨</a:t>
            </a:r>
          </a:p>
          <a:p>
            <a:pPr>
              <a:spcAft>
                <a:spcPts val="1000"/>
              </a:spcAft>
            </a:pPr>
            <a:r>
              <a:rPr sz="2000">
                <a:solidFill>
                  <a:srgbClr val="222B33"/>
                </a:solidFill>
                <a:latin typeface="Microsoft YaHei"/>
              </a:rPr>
              <a:t>▪ 研磨戴护目镜，量少、动作轻</a:t>
            </a:r>
          </a:p>
          <a:p>
            <a:pPr>
              <a:spcAft>
                <a:spcPts val="1000"/>
              </a:spcAft>
            </a:pPr>
            <a:r>
              <a:rPr sz="2000">
                <a:solidFill>
                  <a:srgbClr val="222B33"/>
                </a:solidFill>
                <a:latin typeface="Microsoft YaHei"/>
              </a:rPr>
              <a:t>▪ 研钵用完洗净，别混进下个样品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研磨会产生摩擦和局部发热，氧化剂与可燃物或还原剂一起研磨可能引起剧烈反应甚至燃烧爆炸，因此严禁混合研磨。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为了省事把几种固体放在一起研磨</a:t>
            </a:r>
          </a:p>
          <a:p>
            <a:pPr>
              <a:spcAft>
                <a:spcPts val="1000"/>
              </a:spcAft>
            </a:pPr>
            <a:r>
              <a:rPr sz="1500">
                <a:solidFill>
                  <a:srgbClr val="222B33"/>
                </a:solidFill>
                <a:latin typeface="Microsoft YaHei"/>
              </a:rPr>
              <a:t>▪ 研钵不洗就接着用</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不稳定物质：怕热怕光怕撞</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不稳定的物质怕热、怕光、怕撞</a:t>
            </a:r>
          </a:p>
          <a:p>
            <a:pPr>
              <a:spcAft>
                <a:spcPts val="1000"/>
              </a:spcAft>
            </a:pPr>
            <a:r>
              <a:rPr sz="2000">
                <a:solidFill>
                  <a:srgbClr val="222B33"/>
                </a:solidFill>
                <a:latin typeface="Microsoft YaHei"/>
              </a:rPr>
              <a:t>▪ 温度一升高就可能迅速分解</a:t>
            </a:r>
          </a:p>
          <a:p>
            <a:pPr>
              <a:spcAft>
                <a:spcPts val="1000"/>
              </a:spcAft>
            </a:pPr>
            <a:r>
              <a:rPr sz="2000">
                <a:solidFill>
                  <a:srgbClr val="222B33"/>
                </a:solidFill>
                <a:latin typeface="Microsoft YaHei"/>
              </a:rPr>
              <a:t>▪ 杂质或催化剂也会引发反应</a:t>
            </a:r>
          </a:p>
          <a:p>
            <a:pPr>
              <a:spcAft>
                <a:spcPts val="1000"/>
              </a:spcAft>
            </a:pPr>
            <a:r>
              <a:rPr sz="2000">
                <a:solidFill>
                  <a:srgbClr val="222B33"/>
                </a:solidFill>
                <a:latin typeface="Microsoft YaHei"/>
              </a:rPr>
              <a:t>▪ 阴凉避光存放，轻拿轻放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有机过氧化物、自反应物质等不稳定化学品在受热、光照、撞击或摩擦时可能迅速分解，放出大量热和气体。温度升高会加快分解，混入杂质、金属屑或催化剂也可能引发反应。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放在窗边阳光直射处或加热设备旁</a:t>
            </a:r>
          </a:p>
          <a:p>
            <a:pPr>
              <a:spcAft>
                <a:spcPts val="1000"/>
              </a:spcAft>
            </a:pPr>
            <a:r>
              <a:rPr sz="1500">
                <a:solidFill>
                  <a:srgbClr val="222B33"/>
                </a:solidFill>
                <a:latin typeface="Microsoft YaHei"/>
              </a:rPr>
              <a:t>▪ 用不洁净的药匙取用</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小心混合：先查相容性，禁配隔开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有些化学品碰在一起就危险</a:t>
            </a:r>
          </a:p>
          <a:p>
            <a:pPr>
              <a:spcAft>
                <a:spcPts val="1000"/>
              </a:spcAft>
            </a:pPr>
            <a:r>
              <a:rPr sz="2000">
                <a:solidFill>
                  <a:srgbClr val="222B33"/>
                </a:solidFill>
                <a:latin typeface="Microsoft YaHei"/>
              </a:rPr>
              <a:t>▪ 两种物料混合前，先查是否相容</a:t>
            </a:r>
          </a:p>
          <a:p>
            <a:pPr>
              <a:spcAft>
                <a:spcPts val="1000"/>
              </a:spcAft>
            </a:pPr>
            <a:r>
              <a:rPr sz="2000">
                <a:solidFill>
                  <a:srgbClr val="222B33"/>
                </a:solidFill>
                <a:latin typeface="Microsoft YaHei"/>
              </a:rPr>
              <a:t>▪ 倒废液也一样，不相容的不能混</a:t>
            </a:r>
          </a:p>
          <a:p>
            <a:pPr>
              <a:spcAft>
                <a:spcPts val="1000"/>
              </a:spcAft>
            </a:pPr>
            <a:r>
              <a:rPr sz="2000">
                <a:solidFill>
                  <a:srgbClr val="222B33"/>
                </a:solidFill>
                <a:latin typeface="Microsoft YaHei"/>
              </a:rPr>
              <a:t>▪ 禁配的东西，存放时就要隔开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不相容的化学品接触后可能发热、起火、爆炸或放出有毒气体，例如氧化剂与还原剂、可燃物，酸与碱等。混合任何两种物料之前，先查安全技术说明书第 10 部分（稳定性和反应性）和本实验室的相容性表。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凭感觉把废液倒进手边的废液桶</a:t>
            </a:r>
          </a:p>
          <a:p>
            <a:pPr>
              <a:spcAft>
                <a:spcPts val="1000"/>
              </a:spcAft>
            </a:pPr>
            <a:r>
              <a:rPr sz="1500">
                <a:solidFill>
                  <a:srgbClr val="222B33"/>
                </a:solidFill>
                <a:latin typeface="Microsoft YaHei"/>
              </a:rPr>
              <a:t>▪ 按字母顺序摆放化学品，禁配物挨在一起</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遇水危险品：专柜存放，消防先评估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有的物质遇水会放出易燃气体</a:t>
            </a:r>
          </a:p>
          <a:p>
            <a:pPr>
              <a:spcAft>
                <a:spcPts val="1000"/>
              </a:spcAft>
            </a:pPr>
            <a:r>
              <a:rPr sz="2000">
                <a:solidFill>
                  <a:srgbClr val="222B33"/>
                </a:solidFill>
                <a:latin typeface="Microsoft YaHei"/>
              </a:rPr>
              <a:t>▪ 遇水危险的要放专门的柜子</a:t>
            </a:r>
          </a:p>
          <a:p>
            <a:pPr>
              <a:spcAft>
                <a:spcPts val="1000"/>
              </a:spcAft>
            </a:pPr>
            <a:r>
              <a:rPr sz="2000">
                <a:solidFill>
                  <a:srgbClr val="222B33"/>
                </a:solidFill>
                <a:latin typeface="Microsoft YaHei"/>
              </a:rPr>
              <a:t>▪ 远离水池、水管和潮湿处</a:t>
            </a:r>
          </a:p>
          <a:p>
            <a:pPr>
              <a:spcAft>
                <a:spcPts val="1000"/>
              </a:spcAft>
            </a:pPr>
            <a:r>
              <a:rPr sz="2000">
                <a:solidFill>
                  <a:srgbClr val="222B33"/>
                </a:solidFill>
                <a:latin typeface="Microsoft YaHei"/>
              </a:rPr>
              <a:t>▪ 存放场所的消防设施要事先评估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活泼金属、部分金属氢化物等属于“遇水放出易燃气体的物质”，接触水或潮湿空气会放出易燃气体并放热，可能引起燃烧（GB 30000 系列）。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放在水池下方的柜子里</a:t>
            </a:r>
          </a:p>
          <a:p>
            <a:pPr>
              <a:spcAft>
                <a:spcPts val="1000"/>
              </a:spcAft>
            </a:pPr>
            <a:r>
              <a:rPr sz="1500">
                <a:solidFill>
                  <a:srgbClr val="222B33"/>
                </a:solidFill>
                <a:latin typeface="Microsoft YaHei"/>
              </a:rPr>
              <a:t>▪ 不看说明书就准备用水灭火</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放热与失控反应：先评估，小量起步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有的反应放热，越放越快就会失控</a:t>
            </a:r>
          </a:p>
          <a:p>
            <a:pPr>
              <a:spcAft>
                <a:spcPts val="1000"/>
              </a:spcAft>
            </a:pPr>
            <a:r>
              <a:rPr sz="2000">
                <a:solidFill>
                  <a:srgbClr val="222B33"/>
                </a:solidFill>
                <a:latin typeface="Microsoft YaHei"/>
              </a:rPr>
              <a:t>▪ 做之前查资料、做书面风险评估</a:t>
            </a:r>
          </a:p>
          <a:p>
            <a:pPr>
              <a:spcAft>
                <a:spcPts val="1000"/>
              </a:spcAft>
            </a:pPr>
            <a:r>
              <a:rPr sz="2000">
                <a:solidFill>
                  <a:srgbClr val="222B33"/>
                </a:solidFill>
                <a:latin typeface="Microsoft YaHei"/>
              </a:rPr>
              <a:t>▪ 先小量做，放大要重新评估审批</a:t>
            </a:r>
          </a:p>
          <a:p>
            <a:pPr>
              <a:spcAft>
                <a:spcPts val="1000"/>
              </a:spcAft>
            </a:pPr>
            <a:r>
              <a:rPr sz="2000">
                <a:solidFill>
                  <a:srgbClr val="222B33"/>
                </a:solidFill>
                <a:latin typeface="Microsoft YaHei"/>
              </a:rPr>
              <a:t>▪ 备好冷却，人不离开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放热反应放出的热量如果来不及散出，温度会升高、反应会加快，进而放出更多热量，形成“失控反应”，可能导致冲料、容器破裂、起火或爆炸。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第一次做就直接放大规模</a:t>
            </a:r>
          </a:p>
          <a:p>
            <a:pPr>
              <a:spcAft>
                <a:spcPts val="1000"/>
              </a:spcAft>
            </a:pPr>
            <a:r>
              <a:rPr sz="1500">
                <a:solidFill>
                  <a:srgbClr val="222B33"/>
                </a:solidFill>
                <a:latin typeface="Microsoft YaHei"/>
              </a:rPr>
              <a:t>▪ 反应开始后离开去做别的事</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自燃物品：工程控制加防护，结伴做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自燃物品接触空气就可能着火</a:t>
            </a:r>
          </a:p>
          <a:p>
            <a:pPr>
              <a:spcAft>
                <a:spcPts val="1000"/>
              </a:spcAft>
            </a:pPr>
            <a:r>
              <a:rPr sz="2000">
                <a:solidFill>
                  <a:srgbClr val="222B33"/>
                </a:solidFill>
                <a:latin typeface="Microsoft YaHei"/>
              </a:rPr>
              <a:t>▪ 高风险操作主要靠工程控制，如手套箱</a:t>
            </a:r>
          </a:p>
          <a:p>
            <a:pPr>
              <a:spcAft>
                <a:spcPts val="1000"/>
              </a:spcAft>
            </a:pPr>
            <a:r>
              <a:rPr sz="2000">
                <a:solidFill>
                  <a:srgbClr val="222B33"/>
                </a:solidFill>
                <a:latin typeface="Microsoft YaHei"/>
              </a:rPr>
              <a:t>▪ 穿阻燃实验服，做好眼面部防护</a:t>
            </a:r>
          </a:p>
          <a:p>
            <a:pPr>
              <a:spcAft>
                <a:spcPts val="1000"/>
              </a:spcAft>
            </a:pPr>
            <a:r>
              <a:rPr sz="2000">
                <a:solidFill>
                  <a:srgbClr val="222B33"/>
                </a:solidFill>
                <a:latin typeface="Microsoft YaHei"/>
              </a:rPr>
              <a:t>▪ 结伴做，先培训、经批准再上手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自燃液体和自燃固体（GB 30000 系列）接触空气后即使很少量也会在短时间内自行燃烧。这类高风险操作首先依靠工程控制：在手套箱或经批准的密闭、惰性气氛装置中操作（控制层级见第 017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没经过培训就独自操作</a:t>
            </a:r>
          </a:p>
          <a:p>
            <a:pPr>
              <a:spcAft>
                <a:spcPts val="1000"/>
              </a:spcAft>
            </a:pPr>
            <a:r>
              <a:rPr sz="1500">
                <a:solidFill>
                  <a:srgbClr val="222B33"/>
                </a:solidFill>
                <a:latin typeface="Microsoft YaHei"/>
              </a:rPr>
              <a:t>▪ 穿普通化纤衣服、不戴面屏</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省掉一步，代价无法挽回</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曾有高校实验室因转移自燃试剂失手致死</a:t>
            </a:r>
          </a:p>
          <a:p>
            <a:pPr>
              <a:spcAft>
                <a:spcPts val="1000"/>
              </a:spcAft>
            </a:pPr>
            <a:r>
              <a:rPr sz="2000">
                <a:solidFill>
                  <a:srgbClr val="222B33"/>
                </a:solidFill>
                <a:latin typeface="Microsoft YaHei"/>
              </a:rPr>
              <a:t>▪ 当事人没穿阻燃服，伤势严重</a:t>
            </a:r>
          </a:p>
          <a:p>
            <a:pPr>
              <a:spcAft>
                <a:spcPts val="1000"/>
              </a:spcAft>
            </a:pPr>
            <a:r>
              <a:rPr sz="2000">
                <a:solidFill>
                  <a:srgbClr val="222B33"/>
                </a:solidFill>
                <a:latin typeface="Microsoft YaHei"/>
              </a:rPr>
              <a:t>▪ 规程每一步都不能省</a:t>
            </a:r>
          </a:p>
          <a:p>
            <a:pPr>
              <a:spcAft>
                <a:spcPts val="1000"/>
              </a:spcAft>
            </a:pPr>
            <a:r>
              <a:rPr sz="2000">
                <a:solidFill>
                  <a:srgbClr val="222B33"/>
                </a:solidFill>
                <a:latin typeface="Microsoft YaHei"/>
              </a:rPr>
              <a:t>▪ 省掉一步，后果无法挽回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曾有高校实验室发生自燃试剂事故：操作者在转移自燃试剂时失手，试剂接触空气起火，因为没有穿阻燃服，衣物被引燃，造成严重烧伤直至死亡。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觉得“很快就做完”而不穿防护</a:t>
            </a:r>
          </a:p>
          <a:p>
            <a:pPr>
              <a:spcAft>
                <a:spcPts val="1000"/>
              </a:spcAft>
            </a:pPr>
            <a:r>
              <a:rPr sz="1500">
                <a:solidFill>
                  <a:srgbClr val="222B33"/>
                </a:solidFill>
                <a:latin typeface="Microsoft YaHei"/>
              </a:rPr>
              <a:t>▪ 熟练以后简化操作步骤</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过氧化物形成物：久放会变得敏感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乙醚等溶剂久放会生成过氧化物</a:t>
            </a:r>
          </a:p>
          <a:p>
            <a:pPr>
              <a:spcAft>
                <a:spcPts val="1000"/>
              </a:spcAft>
            </a:pPr>
            <a:r>
              <a:rPr sz="2000">
                <a:solidFill>
                  <a:srgbClr val="222B33"/>
                </a:solidFill>
                <a:latin typeface="Microsoft YaHei"/>
              </a:rPr>
              <a:t>▪ 过氧化物很不稳定，摩擦撞击都可能爆炸</a:t>
            </a:r>
          </a:p>
          <a:p>
            <a:pPr>
              <a:spcAft>
                <a:spcPts val="1000"/>
              </a:spcAft>
            </a:pPr>
            <a:r>
              <a:rPr sz="2000">
                <a:solidFill>
                  <a:srgbClr val="222B33"/>
                </a:solidFill>
                <a:latin typeface="Microsoft YaHei"/>
              </a:rPr>
              <a:t>▪ 陈旧的瓶子绝不能直接浓缩蒸馏</a:t>
            </a:r>
          </a:p>
          <a:p>
            <a:pPr>
              <a:spcAft>
                <a:spcPts val="1000"/>
              </a:spcAft>
            </a:pPr>
            <a:r>
              <a:rPr sz="2000">
                <a:solidFill>
                  <a:srgbClr val="222B33"/>
                </a:solidFill>
                <a:latin typeface="Microsoft YaHei"/>
              </a:rPr>
              <a:t>▪ 没检测合格，不能蒸馏或浓缩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乙醚、四氢呋喃、二氧六环等醚类和部分其他溶剂在接触空气、光照下放置较久，会慢慢生成过氧化物。过氧化物极不稳定，遇热、撞击、摩擦都可能爆炸，瓶盖螺纹处的结晶在拧盖时就可能被引爆。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把放了很久的溶剂直接拿去旋蒸</a:t>
            </a:r>
          </a:p>
          <a:p>
            <a:pPr>
              <a:spcAft>
                <a:spcPts val="1000"/>
              </a:spcAft>
            </a:pPr>
            <a:r>
              <a:rPr sz="1500">
                <a:solidFill>
                  <a:srgbClr val="222B33"/>
                </a:solidFill>
                <a:latin typeface="Microsoft YaHei"/>
              </a:rPr>
              <a:t>▪ 用力拧开瓶盖已经卡住的旧瓶子</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收货开封写日期，定期检测按期用完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收货、开封，都要写上日期</a:t>
            </a:r>
          </a:p>
          <a:p>
            <a:pPr>
              <a:spcAft>
                <a:spcPts val="1000"/>
              </a:spcAft>
            </a:pPr>
            <a:r>
              <a:rPr sz="2000">
                <a:solidFill>
                  <a:srgbClr val="222B33"/>
                </a:solidFill>
                <a:latin typeface="Microsoft YaHei"/>
              </a:rPr>
              <a:t>▪ 按学校规程定期检测，按期用完</a:t>
            </a:r>
          </a:p>
          <a:p>
            <a:pPr>
              <a:spcAft>
                <a:spcPts val="1000"/>
              </a:spcAft>
            </a:pPr>
            <a:r>
              <a:rPr sz="2000">
                <a:solidFill>
                  <a:srgbClr val="222B33"/>
                </a:solidFill>
                <a:latin typeface="Microsoft YaHei"/>
              </a:rPr>
              <a:t>▪ 少量采购，不要长期囤放</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易形成过氧化物的化学品，收到时在标签上写收货日期，开封时写开封日期，记入化学品台账。按学校规程规定的周期检测，在规定期限内用完；检测周期和使用期限以本校危险化学品管理规定为准。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只写收货日期，不写开封日期</a:t>
            </a:r>
          </a:p>
          <a:p>
            <a:pPr>
              <a:spcAft>
                <a:spcPts val="1000"/>
              </a:spcAft>
            </a:pPr>
            <a:r>
              <a:rPr sz="1500">
                <a:solidFill>
                  <a:srgbClr val="222B33"/>
                </a:solidFill>
                <a:latin typeface="Microsoft YaHei"/>
              </a:rPr>
              <a:t>▪ 一次买很多，放几年没用完</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盖紧避光，见结晶变色不打开</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原瓶盖紧，避光，少接触空气</a:t>
            </a:r>
          </a:p>
          <a:p>
            <a:pPr>
              <a:spcAft>
                <a:spcPts val="1000"/>
              </a:spcAft>
            </a:pPr>
            <a:r>
              <a:rPr sz="2000">
                <a:solidFill>
                  <a:srgbClr val="222B33"/>
                </a:solidFill>
                <a:latin typeface="Microsoft YaHei"/>
              </a:rPr>
              <a:t>▪ 远离热源</a:t>
            </a:r>
          </a:p>
          <a:p>
            <a:pPr>
              <a:spcAft>
                <a:spcPts val="1000"/>
              </a:spcAft>
            </a:pPr>
            <a:r>
              <a:rPr sz="2000">
                <a:solidFill>
                  <a:srgbClr val="222B33"/>
                </a:solidFill>
                <a:latin typeface="Microsoft YaHei"/>
              </a:rPr>
              <a:t>▪ 看到结晶、变色、浑浊，绝不能打开</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这类化学品的标签会提示“可能形成爆炸性过氧化物”。保存时使用原包装，瓶盖拧紧，放在阴凉避光处，尽量减少与空气接触，远离热源和明火。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开封后瓶盖不拧紧</a:t>
            </a:r>
          </a:p>
          <a:p>
            <a:pPr>
              <a:spcAft>
                <a:spcPts val="1000"/>
              </a:spcAft>
            </a:pPr>
            <a:r>
              <a:rPr sz="1500">
                <a:solidFill>
                  <a:srgbClr val="222B33"/>
                </a:solidFill>
                <a:latin typeface="Microsoft YaHei"/>
              </a:rPr>
              <a:t>▪ 看到瓶口有结晶仍然拧盖</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可疑容器：不开、不动、先报告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老旧、超期、来历不明的瓶子，别打开</a:t>
            </a:r>
          </a:p>
          <a:p>
            <a:pPr>
              <a:spcAft>
                <a:spcPts val="1000"/>
              </a:spcAft>
            </a:pPr>
            <a:r>
              <a:rPr sz="2000">
                <a:solidFill>
                  <a:srgbClr val="222B33"/>
                </a:solidFill>
                <a:latin typeface="Microsoft YaHei"/>
              </a:rPr>
              <a:t>▪ 不摇、不拧、不挪动</a:t>
            </a:r>
          </a:p>
          <a:p>
            <a:pPr>
              <a:spcAft>
                <a:spcPts val="1000"/>
              </a:spcAft>
            </a:pPr>
            <a:r>
              <a:rPr sz="2000">
                <a:solidFill>
                  <a:srgbClr val="222B33"/>
                </a:solidFill>
                <a:latin typeface="Microsoft YaHei"/>
              </a:rPr>
              <a:t>▪ 就地隔离，挂警示，别让人靠近</a:t>
            </a:r>
          </a:p>
          <a:p>
            <a:pPr>
              <a:spcAft>
                <a:spcPts val="1000"/>
              </a:spcAft>
            </a:pPr>
            <a:r>
              <a:rPr sz="2000">
                <a:solidFill>
                  <a:srgbClr val="222B33"/>
                </a:solidFill>
                <a:latin typeface="Microsoft YaHei"/>
              </a:rPr>
              <a:t>▪ 报告实验室负责人和学校主管部门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发现老旧、超过检测期限、来历不明或已出现结晶的容器，不要打开，也不要摇晃、拧盖或挪动。就地隔离，挂上警示标志，阻止其他人靠近。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好奇打开看看还能不能用</a:t>
            </a:r>
          </a:p>
          <a:p>
            <a:pPr>
              <a:spcAft>
                <a:spcPts val="1000"/>
              </a:spcAft>
            </a:pPr>
            <a:r>
              <a:rPr sz="1500">
                <a:solidFill>
                  <a:srgbClr val="222B33"/>
                </a:solidFill>
                <a:latin typeface="Microsoft YaHei"/>
              </a:rPr>
              <a:t>▪ 自己把瓶子挪到别处或扔进垃圾桶</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试纸检测：通风柜里，穿戴好防护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过氧化物可以用专用试纸检测</a:t>
            </a:r>
          </a:p>
          <a:p>
            <a:pPr>
              <a:spcAft>
                <a:spcPts val="1000"/>
              </a:spcAft>
            </a:pPr>
            <a:r>
              <a:rPr sz="2000">
                <a:solidFill>
                  <a:srgbClr val="222B33"/>
                </a:solidFill>
                <a:latin typeface="Microsoft YaHei"/>
              </a:rPr>
              <a:t>▪ 检测在通风柜里做</a:t>
            </a:r>
          </a:p>
          <a:p>
            <a:pPr>
              <a:spcAft>
                <a:spcPts val="1000"/>
              </a:spcAft>
            </a:pPr>
            <a:r>
              <a:rPr sz="2000">
                <a:solidFill>
                  <a:srgbClr val="222B33"/>
                </a:solidFill>
                <a:latin typeface="Microsoft YaHei"/>
              </a:rPr>
              <a:t>▪ 护目镜、实验服、手套、长裤、包脚鞋</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过氧化物试纸法简便，是实验室检查易形成过氧化物溶剂的常用方法。检测只适用于外观正常、在检测期限内的容器；有结晶或可疑的容器按 K11 处理，不检测。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在开放台面上检测</a:t>
            </a:r>
          </a:p>
          <a:p>
            <a:pPr>
              <a:spcAft>
                <a:spcPts val="1000"/>
              </a:spcAft>
            </a:pPr>
            <a:r>
              <a:rPr sz="1500">
                <a:solidFill>
                  <a:srgbClr val="222B33"/>
                </a:solidFill>
                <a:latin typeface="Microsoft YaHei"/>
              </a:rPr>
              <a:t>▪ 不戴护目镜</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取试纸：够用就好，别碰测试区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需要几条取几条，不要多拿</a:t>
            </a:r>
          </a:p>
          <a:p>
            <a:pPr>
              <a:spcAft>
                <a:spcPts val="1000"/>
              </a:spcAft>
            </a:pPr>
            <a:r>
              <a:rPr sz="2000">
                <a:solidFill>
                  <a:srgbClr val="222B33"/>
                </a:solidFill>
                <a:latin typeface="Microsoft YaHei"/>
              </a:rPr>
              <a:t>▪ 尽量别碰试纸上的测试区</a:t>
            </a:r>
          </a:p>
          <a:p>
            <a:pPr>
              <a:spcAft>
                <a:spcPts val="1000"/>
              </a:spcAft>
            </a:pPr>
            <a:r>
              <a:rPr sz="2000">
                <a:solidFill>
                  <a:srgbClr val="222B33"/>
                </a:solidFill>
                <a:latin typeface="Microsoft YaHei"/>
              </a:rPr>
              <a:t>▪ 取完马上盖好试纸罐</a:t>
            </a:r>
          </a:p>
          <a:p>
            <a:pPr>
              <a:spcAft>
                <a:spcPts val="1000"/>
              </a:spcAft>
            </a:pPr>
            <a:r>
              <a:rPr sz="2000">
                <a:solidFill>
                  <a:srgbClr val="222B33"/>
                </a:solidFill>
                <a:latin typeface="Microsoft YaHei"/>
              </a:rPr>
              <a:t>▪ 试纸过期要换新的再用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从试纸罐中按需要取出试纸，捏住不带测试区的一端，不用手指碰测试区，以免污染影响结果。取完立即盖紧试纸罐，防止受潮。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一次倒出很多试纸放在台面上</a:t>
            </a:r>
          </a:p>
          <a:p>
            <a:pPr>
              <a:spcAft>
                <a:spcPts val="1000"/>
              </a:spcAft>
            </a:pPr>
            <a:r>
              <a:rPr sz="1500">
                <a:solidFill>
                  <a:srgbClr val="222B33"/>
                </a:solidFill>
                <a:latin typeface="Microsoft YaHei"/>
              </a:rPr>
              <a:t>▪ 用过期试纸检测</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非废液，另取少量来测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测废液，可以直接蘸取</a:t>
            </a:r>
          </a:p>
          <a:p>
            <a:pPr>
              <a:spcAft>
                <a:spcPts val="1000"/>
              </a:spcAft>
            </a:pPr>
            <a:r>
              <a:rPr sz="2000">
                <a:solidFill>
                  <a:srgbClr val="222B33"/>
                </a:solidFill>
                <a:latin typeface="Microsoft YaHei"/>
              </a:rPr>
              <a:t>▪ 不是废液，先倒少量到小杯里测</a:t>
            </a:r>
          </a:p>
          <a:p>
            <a:pPr>
              <a:spcAft>
                <a:spcPts val="1000"/>
              </a:spcAft>
            </a:pPr>
            <a:r>
              <a:rPr sz="2000">
                <a:solidFill>
                  <a:srgbClr val="222B33"/>
                </a:solidFill>
                <a:latin typeface="Microsoft YaHei"/>
              </a:rPr>
              <a:t>▪ 试纸别伸进原瓶，免得弄脏试剂</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检测废液时可以直接用试纸蘸取。检测还要继续使用的试剂时，先在通风柜里倒出少量到干净的小烧杯中，再用试纸蘸取小杯里的液体，避免把整瓶试剂污染。</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把试纸直接伸进试剂原瓶</a:t>
            </a:r>
          </a:p>
          <a:p>
            <a:pPr>
              <a:spcAft>
                <a:spcPts val="1000"/>
              </a:spcAft>
            </a:pPr>
            <a:r>
              <a:rPr sz="1500">
                <a:solidFill>
                  <a:srgbClr val="222B33"/>
                </a:solidFill>
                <a:latin typeface="Microsoft YaHei"/>
              </a:rPr>
              <a:t>▪ 测完的液体倒回原瓶</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按说明书完成全部步骤，别漏加水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甩掉多余液体，按说明书时间等待</a:t>
            </a:r>
          </a:p>
          <a:p>
            <a:pPr>
              <a:spcAft>
                <a:spcPts val="1000"/>
              </a:spcAft>
            </a:pPr>
            <a:r>
              <a:rPr sz="2000">
                <a:solidFill>
                  <a:srgbClr val="222B33"/>
                </a:solidFill>
                <a:latin typeface="Microsoft YaHei"/>
              </a:rPr>
              <a:t>▪ 测有机溶液，说明书还有加水这一步</a:t>
            </a:r>
          </a:p>
          <a:p>
            <a:pPr>
              <a:spcAft>
                <a:spcPts val="1000"/>
              </a:spcAft>
            </a:pPr>
            <a:r>
              <a:rPr sz="2000">
                <a:solidFill>
                  <a:srgbClr val="222B33"/>
                </a:solidFill>
                <a:latin typeface="Microsoft YaHei"/>
              </a:rPr>
              <a:t>▪ 漏了这一步，结果就不准</a:t>
            </a:r>
          </a:p>
          <a:p>
            <a:pPr>
              <a:spcAft>
                <a:spcPts val="1000"/>
              </a:spcAft>
            </a:pPr>
            <a:r>
              <a:rPr sz="2000">
                <a:solidFill>
                  <a:srgbClr val="222B33"/>
                </a:solidFill>
                <a:latin typeface="Microsoft YaHei"/>
              </a:rPr>
              <a:t>▪ 测水溶液也照做，步骤统一</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试纸蘸取后，轻轻甩掉多余液体，按产品说明书规定的时间等待。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不等够时间就读结果</a:t>
            </a:r>
          </a:p>
          <a:p>
            <a:pPr>
              <a:spcAft>
                <a:spcPts val="1000"/>
              </a:spcAft>
            </a:pPr>
            <a:r>
              <a:rPr sz="1500">
                <a:solidFill>
                  <a:srgbClr val="222B33"/>
                </a:solidFill>
                <a:latin typeface="Microsoft YaHei"/>
              </a:rPr>
              <a:t>▪ 测有机溶剂漏掉加水步骤</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对照比色卡，在标签上记录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把测试区和比色卡对照读结果</a:t>
            </a:r>
          </a:p>
          <a:p>
            <a:pPr>
              <a:spcAft>
                <a:spcPts val="1000"/>
              </a:spcAft>
            </a:pPr>
            <a:r>
              <a:rPr sz="2000">
                <a:solidFill>
                  <a:srgbClr val="222B33"/>
                </a:solidFill>
                <a:latin typeface="Microsoft YaHei"/>
              </a:rPr>
              <a:t>▪ 测试区变蓝，说明有过氧化物</a:t>
            </a:r>
          </a:p>
          <a:p>
            <a:pPr>
              <a:spcAft>
                <a:spcPts val="1000"/>
              </a:spcAft>
            </a:pPr>
            <a:r>
              <a:rPr sz="2000">
                <a:solidFill>
                  <a:srgbClr val="222B33"/>
                </a:solidFill>
                <a:latin typeface="Microsoft YaHei"/>
              </a:rPr>
              <a:t>▪ 在专用标签上记下结果、日期和签名</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把试纸测试区与试纸罐上的比色卡对照读出结果，测试区变蓝说明含有过氧化物，颜色越深含量越高。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测完不记录</a:t>
            </a:r>
          </a:p>
          <a:p>
            <a:pPr>
              <a:spcAft>
                <a:spcPts val="1000"/>
              </a:spcAft>
            </a:pPr>
            <a:r>
              <a:rPr sz="1500">
                <a:solidFill>
                  <a:srgbClr val="222B33"/>
                </a:solidFill>
                <a:latin typeface="Microsoft YaHei"/>
              </a:rPr>
              <a:t>▪ 只凭记忆判断上次什么时候测的</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超限停用，按危险废物处置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结果超出学校限值，立即停用</a:t>
            </a:r>
          </a:p>
          <a:p>
            <a:pPr>
              <a:spcAft>
                <a:spcPts val="1000"/>
              </a:spcAft>
            </a:pPr>
            <a:r>
              <a:rPr sz="2000">
                <a:solidFill>
                  <a:srgbClr val="222B33"/>
                </a:solidFill>
                <a:latin typeface="Microsoft YaHei"/>
              </a:rPr>
              <a:t>▪ 按危险废物交专业单位处置</a:t>
            </a:r>
          </a:p>
          <a:p>
            <a:pPr>
              <a:spcAft>
                <a:spcPts val="1000"/>
              </a:spcAft>
            </a:pPr>
            <a:r>
              <a:rPr sz="2000">
                <a:solidFill>
                  <a:srgbClr val="222B33"/>
                </a:solidFill>
                <a:latin typeface="Microsoft YaHei"/>
              </a:rPr>
              <a:t>▪ 不得自行处理，更不能倒下水道</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检测结果超出学校规定限值的，立即停止使用，贴上停用标签，报告实验室负责人。限值以本校危险化学品管理规定为准。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超限了仍然“小心用”</a:t>
            </a:r>
          </a:p>
          <a:p>
            <a:pPr>
              <a:spcAft>
                <a:spcPts val="1000"/>
              </a:spcAft>
            </a:pPr>
            <a:r>
              <a:rPr sz="1500">
                <a:solidFill>
                  <a:srgbClr val="222B33"/>
                </a:solidFill>
                <a:latin typeface="Microsoft YaHei"/>
              </a:rPr>
              <a:t>▪ 自己倒进下水道冲掉</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化学品安全标签上“圆圈上方一团火焰”的象形图表示：</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易燃</a:t>
            </a:r>
          </a:p>
          <a:p>
            <a:pPr algn="l"/>
            <a:r>
              <a:rPr sz="1500" b="0">
                <a:solidFill>
                  <a:srgbClr val="222B33"/>
                </a:solidFill>
                <a:latin typeface="Microsoft YaHei"/>
              </a:rPr>
              <a:t>B. 氧化性</a:t>
            </a:r>
          </a:p>
          <a:p>
            <a:pPr algn="l"/>
            <a:r>
              <a:rPr sz="1500" b="0">
                <a:solidFill>
                  <a:srgbClr val="222B33"/>
                </a:solidFill>
                <a:latin typeface="Microsoft YaHei"/>
              </a:rPr>
              <a:t>C. 爆炸</a:t>
            </a:r>
          </a:p>
          <a:p>
            <a:pPr algn="l"/>
            <a:r>
              <a:rPr sz="1500" b="0">
                <a:solidFill>
                  <a:srgbClr val="222B33"/>
                </a:solidFill>
                <a:latin typeface="Microsoft YaHei"/>
              </a:rPr>
              <a:t>D. 腐蚀</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判断：氧化剂和还原剂可以放在同一个研钵里一起研磨，只要动作轻一些。</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遇水放出易燃气体的物质，下列存放方式正确的是：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放在水池下方的柜子里</a:t>
            </a:r>
          </a:p>
          <a:p>
            <a:pPr algn="l"/>
            <a:r>
              <a:rPr sz="1500" b="0">
                <a:solidFill>
                  <a:srgbClr val="222B33"/>
                </a:solidFill>
                <a:latin typeface="Microsoft YaHei"/>
              </a:rPr>
              <a:t>B. 放在专门的防潮柜里，远离水源，事先评估消防设施</a:t>
            </a:r>
          </a:p>
          <a:p>
            <a:pPr algn="l"/>
            <a:r>
              <a:rPr sz="1500" b="0">
                <a:solidFill>
                  <a:srgbClr val="222B33"/>
                </a:solidFill>
                <a:latin typeface="Microsoft YaHei"/>
              </a:rPr>
              <a:t>C. 和酸放在一起</a:t>
            </a:r>
          </a:p>
          <a:p>
            <a:pPr algn="l"/>
            <a:r>
              <a:rPr sz="1500" b="0">
                <a:solidFill>
                  <a:srgbClr val="222B33"/>
                </a:solidFill>
                <a:latin typeface="Microsoft YaHei"/>
              </a:rPr>
              <a:t>D. 敞口放在通风柜里</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阿杰在柜子深处发现一瓶乙醚，瓶口有白色结晶，正确的做法是：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拧开看看还能不能用</a:t>
            </a:r>
          </a:p>
          <a:p>
            <a:pPr algn="l"/>
            <a:r>
              <a:rPr sz="1500" b="0">
                <a:solidFill>
                  <a:srgbClr val="222B33"/>
                </a:solidFill>
                <a:latin typeface="Microsoft YaHei"/>
              </a:rPr>
              <a:t>B. 拿去蒸馏提纯</a:t>
            </a:r>
          </a:p>
          <a:p>
            <a:pPr algn="l"/>
            <a:r>
              <a:rPr sz="1500" b="0">
                <a:solidFill>
                  <a:srgbClr val="222B33"/>
                </a:solidFill>
                <a:latin typeface="Microsoft YaHei"/>
              </a:rPr>
              <a:t>C. 不开、不摇、不挪，就地隔离挂警示，报告实验室负责人</a:t>
            </a:r>
          </a:p>
          <a:p>
            <a:pPr algn="l"/>
            <a:r>
              <a:rPr sz="1500" b="0">
                <a:solidFill>
                  <a:srgbClr val="222B33"/>
                </a:solidFill>
                <a:latin typeface="Microsoft YaHei"/>
              </a:rPr>
              <a:t>D. 倒进下水道</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047 · 氧化剂与反应性化学品</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047 氧化剂与反应性化学品</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用试纸检测一瓶还要继续使用的四氢呋喃中的过氧化物，下列做法正确的是：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把试纸直接伸进原瓶</a:t>
            </a:r>
          </a:p>
          <a:p>
            <a:pPr algn="l"/>
            <a:r>
              <a:rPr sz="1500" b="0">
                <a:solidFill>
                  <a:srgbClr val="222B33"/>
                </a:solidFill>
                <a:latin typeface="Microsoft YaHei"/>
              </a:rPr>
              <a:t>B. 倒少量到小烧杯里测，按说明书完成全部步骤（含加水），对照比色卡并记录</a:t>
            </a:r>
          </a:p>
          <a:p>
            <a:pPr algn="l"/>
            <a:r>
              <a:rPr sz="1500" b="0">
                <a:solidFill>
                  <a:srgbClr val="222B33"/>
                </a:solidFill>
                <a:latin typeface="Microsoft YaHei"/>
              </a:rPr>
              <a:t>C. 不戴护目镜在台面上测</a:t>
            </a:r>
          </a:p>
          <a:p>
            <a:pPr algn="l"/>
            <a:r>
              <a:rPr sz="1500" b="0">
                <a:solidFill>
                  <a:srgbClr val="222B33"/>
                </a:solidFill>
                <a:latin typeface="Microsoft YaHei"/>
              </a:rPr>
              <a:t>D. 用过期试纸</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简答：易形成过氧化物的化学品，日常管理要做到哪几点？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氧化剂会助燃，远离可燃物</a:t>
            </a:r>
          </a:p>
          <a:p>
            <a:pPr>
              <a:spcAft>
                <a:spcPts val="800"/>
              </a:spcAft>
            </a:pPr>
            <a:r>
              <a:rPr sz="1500">
                <a:solidFill>
                  <a:srgbClr val="FFFFFF"/>
                </a:solidFill>
                <a:latin typeface="Microsoft YaHei"/>
              </a:rPr>
              <a:t>▪ K2  氧化剂不和可燃物、还原剂一起研</a:t>
            </a:r>
          </a:p>
          <a:p>
            <a:pPr>
              <a:spcAft>
                <a:spcPts val="800"/>
              </a:spcAft>
            </a:pPr>
            <a:r>
              <a:rPr sz="1500">
                <a:solidFill>
                  <a:srgbClr val="FFFFFF"/>
                </a:solidFill>
                <a:latin typeface="Microsoft YaHei"/>
              </a:rPr>
              <a:t>▪ K3  不稳定物质：怕热怕光怕撞</a:t>
            </a:r>
          </a:p>
          <a:p>
            <a:pPr>
              <a:spcAft>
                <a:spcPts val="800"/>
              </a:spcAft>
            </a:pPr>
            <a:r>
              <a:rPr sz="1500">
                <a:solidFill>
                  <a:srgbClr val="FFFFFF"/>
                </a:solidFill>
                <a:latin typeface="Microsoft YaHei"/>
              </a:rPr>
              <a:t>▪ K4  小心混合：先查相容性，禁配隔开</a:t>
            </a:r>
          </a:p>
          <a:p>
            <a:pPr>
              <a:spcAft>
                <a:spcPts val="800"/>
              </a:spcAft>
            </a:pPr>
            <a:r>
              <a:rPr sz="1500">
                <a:solidFill>
                  <a:srgbClr val="FFFFFF"/>
                </a:solidFill>
                <a:latin typeface="Microsoft YaHei"/>
              </a:rPr>
              <a:t>▪ K5  遇水危险品：专柜存放，消防先评估</a:t>
            </a:r>
          </a:p>
          <a:p>
            <a:pPr>
              <a:spcAft>
                <a:spcPts val="800"/>
              </a:spcAft>
            </a:pPr>
            <a:r>
              <a:rPr sz="1500">
                <a:solidFill>
                  <a:srgbClr val="FFFFFF"/>
                </a:solidFill>
                <a:latin typeface="Microsoft YaHei"/>
              </a:rPr>
              <a:t>▪ S1  放热与失控反应：先评估，小量起步</a:t>
            </a:r>
          </a:p>
          <a:p>
            <a:pPr>
              <a:spcAft>
                <a:spcPts val="800"/>
              </a:spcAft>
            </a:pPr>
            <a:r>
              <a:rPr sz="1500">
                <a:solidFill>
                  <a:srgbClr val="FFFFFF"/>
                </a:solidFill>
                <a:latin typeface="Microsoft YaHei"/>
              </a:rPr>
              <a:t>▪ K6  自燃物品：工程控制加防护，结伴做</a:t>
            </a:r>
          </a:p>
          <a:p>
            <a:pPr>
              <a:spcAft>
                <a:spcPts val="800"/>
              </a:spcAft>
            </a:pPr>
            <a:r>
              <a:rPr sz="1500">
                <a:solidFill>
                  <a:srgbClr val="FFFFFF"/>
                </a:solidFill>
                <a:latin typeface="Microsoft YaHei"/>
              </a:rPr>
              <a:t>▪ K7  省掉一步，代价无法挽回</a:t>
            </a:r>
          </a:p>
          <a:p>
            <a:pPr>
              <a:spcAft>
                <a:spcPts val="800"/>
              </a:spcAft>
            </a:pPr>
            <a:r>
              <a:rPr sz="1500">
                <a:solidFill>
                  <a:srgbClr val="FFFFFF"/>
                </a:solidFill>
                <a:latin typeface="Microsoft YaHei"/>
              </a:rPr>
              <a:t>▪ K8  过氧化物形成物：久放会变得敏感</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收货开封写日期，定期检测按期用完</a:t>
            </a:r>
          </a:p>
          <a:p>
            <a:pPr>
              <a:spcAft>
                <a:spcPts val="800"/>
              </a:spcAft>
            </a:pPr>
            <a:r>
              <a:rPr sz="1500">
                <a:solidFill>
                  <a:srgbClr val="FFFFFF"/>
                </a:solidFill>
                <a:latin typeface="Microsoft YaHei"/>
              </a:rPr>
              <a:t>▪ K10  盖紧避光，见结晶变色不打开</a:t>
            </a:r>
          </a:p>
          <a:p>
            <a:pPr>
              <a:spcAft>
                <a:spcPts val="800"/>
              </a:spcAft>
            </a:pPr>
            <a:r>
              <a:rPr sz="1500">
                <a:solidFill>
                  <a:srgbClr val="FFFFFF"/>
                </a:solidFill>
                <a:latin typeface="Microsoft YaHei"/>
              </a:rPr>
              <a:t>▪ K11  可疑容器：不开、不动、先报告</a:t>
            </a:r>
          </a:p>
          <a:p>
            <a:pPr>
              <a:spcAft>
                <a:spcPts val="800"/>
              </a:spcAft>
            </a:pPr>
            <a:r>
              <a:rPr sz="1500">
                <a:solidFill>
                  <a:srgbClr val="FFFFFF"/>
                </a:solidFill>
                <a:latin typeface="Microsoft YaHei"/>
              </a:rPr>
              <a:t>▪ K12  试纸检测：通风柜里，穿戴好防护</a:t>
            </a:r>
          </a:p>
          <a:p>
            <a:pPr>
              <a:spcAft>
                <a:spcPts val="800"/>
              </a:spcAft>
            </a:pPr>
            <a:r>
              <a:rPr sz="1500">
                <a:solidFill>
                  <a:srgbClr val="FFFFFF"/>
                </a:solidFill>
                <a:latin typeface="Microsoft YaHei"/>
              </a:rPr>
              <a:t>▪ K13  取试纸：够用就好，别碰测试区</a:t>
            </a:r>
          </a:p>
          <a:p>
            <a:pPr>
              <a:spcAft>
                <a:spcPts val="800"/>
              </a:spcAft>
            </a:pPr>
            <a:r>
              <a:rPr sz="1500">
                <a:solidFill>
                  <a:srgbClr val="FFFFFF"/>
                </a:solidFill>
                <a:latin typeface="Microsoft YaHei"/>
              </a:rPr>
              <a:t>▪ K14  非废液，另取少量来测</a:t>
            </a:r>
          </a:p>
          <a:p>
            <a:pPr>
              <a:spcAft>
                <a:spcPts val="800"/>
              </a:spcAft>
            </a:pPr>
            <a:r>
              <a:rPr sz="1500">
                <a:solidFill>
                  <a:srgbClr val="FFFFFF"/>
                </a:solidFill>
                <a:latin typeface="Microsoft YaHei"/>
              </a:rPr>
              <a:t>▪ K15  按说明书完成全部步骤，别漏加水</a:t>
            </a:r>
          </a:p>
          <a:p>
            <a:pPr>
              <a:spcAft>
                <a:spcPts val="800"/>
              </a:spcAft>
            </a:pPr>
            <a:r>
              <a:rPr sz="1500">
                <a:solidFill>
                  <a:srgbClr val="FFFFFF"/>
                </a:solidFill>
                <a:latin typeface="Microsoft YaHei"/>
              </a:rPr>
              <a:t>▪ K16  对照比色卡，在标签上记录</a:t>
            </a:r>
          </a:p>
          <a:p>
            <a:pPr>
              <a:spcAft>
                <a:spcPts val="800"/>
              </a:spcAft>
            </a:pPr>
            <a:r>
              <a:rPr sz="1500">
                <a:solidFill>
                  <a:srgbClr val="FFFFFF"/>
                </a:solidFill>
                <a:latin typeface="Microsoft YaHei"/>
              </a:rPr>
              <a:t>▪ K17  超限停用，按危险废物处置</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048</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酸碱腐蚀品安全</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4 分钟（卡通视频 48 镜）　适用对象：全体使用酸、碱等腐蚀性化学品的高校本科生、研究生和教职工（必修）；化学、化工、材料、生物、环境、农学等专业重点学习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能说出强酸、强碱、脱水剂等腐蚀品对皮肤、眼睛和金属的危害，能判断碱溅入眼睛尤其严重。</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能做到使用前读安全技术说明书、始终穿戴护目镜、实验服和耐酸碱手套，量大易溅时加戴面屏。</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能做到稀释时“酸入水”、在通风柜里慢慢加并搅拌散热，浓酸少量取用、瓶口不对人、不在高于视线处倾倒，滴加时容器放稳、脸不凑近。</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能做到酸碱分开、碱液用塑料瓶、腐蚀品放低处和托盘里进专柜；溅到皮肤或眼睛立即冲洗、报告并就医。</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日起施行）及《危险化学品安全管理条例》（以现行文本为准）：学校、科研机构使用危险化学品的安全责任，按安全技术说明书和安全标签要求使用和储存</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系列（以现行文本为准）《化学品分类和标签规范》：金属腐蚀物、皮肤腐蚀/刺激、严重眼损伤/眼刺激的分类和腐蚀象形图</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内容和项目顺序》：危险性概述、急救措施、操作处置与储存、个体防护</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15603-2022（以现行文本为准）《危险化学品仓库储存通则》：按性质分类储存，酸碱等禁配物不得混存</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14866-2023（以现行文本为准）《眼面防护具通用技术规范》：护目镜、面屏的选用</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28881-2023（以现行文本为准）《手部防护 化学品及微生物防护手套》：耐化学品手套的选用</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38144-2025（以现行文本为准）《眼面部防护 应急喷淋和洗眼设备》：洗眼器和紧急喷淋的配置</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号，以现行文本为准）及高校实验室安全检查项目表、本校危险化学品管理制度</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腐蚀品伤皮肤，更伤眼睛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腐蚀象形图表示腐蚀性</a:t>
            </a:r>
          </a:p>
          <a:p>
            <a:pPr>
              <a:spcAft>
                <a:spcPts val="1000"/>
              </a:spcAft>
            </a:pPr>
            <a:r>
              <a:rPr sz="1700">
                <a:solidFill>
                  <a:srgbClr val="222B33"/>
                </a:solidFill>
                <a:latin typeface="Microsoft YaHei"/>
              </a:rPr>
              <a:t>▪ 强酸、强碱、脱水剂、部分氧化剂都有腐蚀性</a:t>
            </a:r>
          </a:p>
          <a:p>
            <a:pPr>
              <a:spcAft>
                <a:spcPts val="1000"/>
              </a:spcAft>
            </a:pPr>
            <a:r>
              <a:rPr sz="1700">
                <a:solidFill>
                  <a:srgbClr val="222B33"/>
                </a:solidFill>
                <a:latin typeface="Microsoft YaHei"/>
              </a:rPr>
              <a:t>▪ 对皮肤和眼睛伤害最重，酸灼伤疼、愈合慢</a:t>
            </a:r>
          </a:p>
          <a:p>
            <a:pPr>
              <a:spcAft>
                <a:spcPts val="1000"/>
              </a:spcAft>
            </a:pPr>
            <a:r>
              <a:rPr sz="1700">
                <a:solidFill>
                  <a:srgbClr val="222B33"/>
                </a:solidFill>
                <a:latin typeface="Microsoft YaHei"/>
              </a:rPr>
              <a:t>▪ 碱溅进眼睛，损伤往往更严重</a:t>
            </a:r>
          </a:p>
          <a:p>
            <a:pPr>
              <a:spcAft>
                <a:spcPts val="1000"/>
              </a:spcAft>
            </a:pPr>
            <a:r>
              <a:rPr sz="1700">
                <a:solidFill>
                  <a:srgbClr val="222B33"/>
                </a:solidFill>
                <a:latin typeface="Microsoft YaHei"/>
              </a:rPr>
              <a:t>▪ 腐蚀品还会腐蚀金属和设备</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化学品安全标签上红色菱形框内“液体滴到手和金属上被腐蚀”的象形图表示腐蚀性（GB 30000 系列）。硫酸、盐酸、硝酸等强酸，氢氧化钠、氢氧化钾等强碱，浓硫酸等脱水剂以及部分氧化剂都具有腐蚀性。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以为稀酸稀碱不伤人</a:t>
            </a:r>
          </a:p>
          <a:p>
            <a:pPr>
              <a:spcAft>
                <a:spcPts val="1000"/>
              </a:spcAft>
            </a:pPr>
            <a:r>
              <a:rPr sz="1500">
                <a:solidFill>
                  <a:srgbClr val="222B33"/>
                </a:solidFill>
                <a:latin typeface="Microsoft YaHei"/>
              </a:rPr>
              <a:t>▪ 认为碱比酸“温和”</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先读说明书，始终穿戴防护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用之前先读安全技术说明书</a:t>
            </a:r>
          </a:p>
          <a:p>
            <a:pPr>
              <a:spcAft>
                <a:spcPts val="1000"/>
              </a:spcAft>
            </a:pPr>
            <a:r>
              <a:rPr sz="1700">
                <a:solidFill>
                  <a:srgbClr val="222B33"/>
                </a:solidFill>
                <a:latin typeface="Microsoft YaHei"/>
              </a:rPr>
              <a:t>▪ 熟悉本校安全手册和操作规程</a:t>
            </a:r>
          </a:p>
          <a:p>
            <a:pPr>
              <a:spcAft>
                <a:spcPts val="1000"/>
              </a:spcAft>
            </a:pPr>
            <a:r>
              <a:rPr sz="1700">
                <a:solidFill>
                  <a:srgbClr val="222B33"/>
                </a:solidFill>
                <a:latin typeface="Microsoft YaHei"/>
              </a:rPr>
              <a:t>▪ 护目镜、实验服、耐酸碱手套</a:t>
            </a:r>
          </a:p>
          <a:p>
            <a:pPr>
              <a:spcAft>
                <a:spcPts val="1000"/>
              </a:spcAft>
            </a:pPr>
            <a:r>
              <a:rPr sz="1700">
                <a:solidFill>
                  <a:srgbClr val="222B33"/>
                </a:solidFill>
                <a:latin typeface="Microsoft YaHei"/>
              </a:rPr>
              <a:t>▪ 量大或容易溅时，再加戴面屏</a:t>
            </a:r>
          </a:p>
          <a:p>
            <a:pPr>
              <a:spcAft>
                <a:spcPts val="1000"/>
              </a:spcAft>
            </a:pPr>
            <a:r>
              <a:rPr sz="1700">
                <a:solidFill>
                  <a:srgbClr val="222B33"/>
                </a:solidFill>
                <a:latin typeface="Microsoft YaHei"/>
              </a:rPr>
              <a:t>▪ 配培养基调酸碱，也要戴护目镜</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使用腐蚀品之前，先阅读安全技术说明书，了解成分、性质、危害、个体防护和急救措施（见第 041 课），并熟悉本校实验室安全手册和本实验室的操作规程。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只做“一点点”就不戴护目镜</a:t>
            </a:r>
          </a:p>
          <a:p>
            <a:pPr>
              <a:spcAft>
                <a:spcPts val="1000"/>
              </a:spcAft>
            </a:pPr>
            <a:r>
              <a:rPr sz="1500">
                <a:solidFill>
                  <a:srgbClr val="222B33"/>
                </a:solidFill>
                <a:latin typeface="Microsoft YaHei"/>
              </a:rPr>
              <a:t>▪ 用一次性薄手套长时间接触浓酸碱</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稀释酸碱：酸入水，不能反过来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稀释酸碱，把酸加进水里</a:t>
            </a:r>
          </a:p>
          <a:p>
            <a:pPr>
              <a:spcAft>
                <a:spcPts val="1000"/>
              </a:spcAft>
            </a:pPr>
            <a:r>
              <a:rPr sz="1700">
                <a:solidFill>
                  <a:srgbClr val="222B33"/>
                </a:solidFill>
                <a:latin typeface="Microsoft YaHei"/>
              </a:rPr>
              <a:t>▪ 反过来倒，会剧烈放热、溅出伤人</a:t>
            </a:r>
          </a:p>
          <a:p>
            <a:pPr>
              <a:spcAft>
                <a:spcPts val="1000"/>
              </a:spcAft>
            </a:pPr>
            <a:r>
              <a:rPr sz="1700">
                <a:solidFill>
                  <a:srgbClr val="222B33"/>
                </a:solidFill>
                <a:latin typeface="Microsoft YaHei"/>
              </a:rPr>
              <a:t>▪ 先放水，再慢慢加酸</a:t>
            </a:r>
          </a:p>
          <a:p>
            <a:pPr>
              <a:spcAft>
                <a:spcPts val="1000"/>
              </a:spcAft>
            </a:pPr>
            <a:r>
              <a:rPr sz="1700">
                <a:solidFill>
                  <a:srgbClr val="222B33"/>
                </a:solidFill>
                <a:latin typeface="Microsoft YaHei"/>
              </a:rPr>
              <a:t>▪ 固体碱溶解也放热，同样慢慢加</a:t>
            </a:r>
          </a:p>
          <a:p>
            <a:pPr>
              <a:spcAft>
                <a:spcPts val="1000"/>
              </a:spcAft>
            </a:pPr>
            <a:r>
              <a:rPr sz="1700">
                <a:solidFill>
                  <a:srgbClr val="222B33"/>
                </a:solidFill>
                <a:latin typeface="Microsoft YaHei"/>
              </a:rPr>
              <a:t>▪ 专心操作，别边聊边干</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浓酸（特别是浓硫酸）溶于水会放出大量的热。正确做法是“酸入水”：先在容器中放好水，再把酸缓慢地加入水中。如果把水倒进浓酸里，少量水在酸表面迅速沸腾，会把酸液溅出伤人。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往浓酸里倒水</a:t>
            </a:r>
          </a:p>
          <a:p>
            <a:pPr>
              <a:spcAft>
                <a:spcPts val="1000"/>
              </a:spcAft>
            </a:pPr>
            <a:r>
              <a:rPr sz="1500">
                <a:solidFill>
                  <a:srgbClr val="222B33"/>
                </a:solidFill>
                <a:latin typeface="Microsoft YaHei"/>
              </a:rPr>
              <a:t>▪ 一次把酸全部倒进去</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在通风柜里慢慢加，边加边搅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稀释浓酸在通风柜里做</a:t>
            </a:r>
          </a:p>
          <a:p>
            <a:pPr>
              <a:spcAft>
                <a:spcPts val="1000"/>
              </a:spcAft>
            </a:pPr>
            <a:r>
              <a:rPr sz="2000">
                <a:solidFill>
                  <a:srgbClr val="222B33"/>
                </a:solidFill>
                <a:latin typeface="Microsoft YaHei"/>
              </a:rPr>
              <a:t>▪ 浓溶液和挥发性溶剂都在通风柜里取用</a:t>
            </a:r>
          </a:p>
          <a:p>
            <a:pPr>
              <a:spcAft>
                <a:spcPts val="1000"/>
              </a:spcAft>
            </a:pPr>
            <a:r>
              <a:rPr sz="2000">
                <a:solidFill>
                  <a:srgbClr val="222B33"/>
                </a:solidFill>
                <a:latin typeface="Microsoft YaHei"/>
              </a:rPr>
              <a:t>▪ 慢慢加，边加边搅，让热量散开</a:t>
            </a:r>
          </a:p>
          <a:p>
            <a:pPr>
              <a:spcAft>
                <a:spcPts val="1000"/>
              </a:spcAft>
            </a:pPr>
            <a:r>
              <a:rPr sz="2000">
                <a:solidFill>
                  <a:srgbClr val="222B33"/>
                </a:solidFill>
                <a:latin typeface="Microsoft YaHei"/>
              </a:rPr>
              <a:t>▪ 容器明显变热就停一停再加</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浓盐酸、浓硝酸等会挥发出刺激性、腐蚀性气体，稀释和取用浓溶液、挥发性溶剂都应在通风柜里进行，柜门拉到合适高度（通风柜使用见第 052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在开放台面上稀释浓酸</a:t>
            </a:r>
          </a:p>
          <a:p>
            <a:pPr>
              <a:spcAft>
                <a:spcPts val="1000"/>
              </a:spcAft>
            </a:pPr>
            <a:r>
              <a:rPr sz="1500">
                <a:solidFill>
                  <a:srgbClr val="222B33"/>
                </a:solidFill>
                <a:latin typeface="Microsoft YaHei"/>
              </a:rPr>
              <a:t>▪ 不搅拌，热量集中导致局部沸腾</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浓酸取用：少量取，瓶口不对人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浓酸用滴管或移液器少量取</a:t>
            </a:r>
          </a:p>
          <a:p>
            <a:pPr>
              <a:spcAft>
                <a:spcPts val="1000"/>
              </a:spcAft>
            </a:pPr>
            <a:r>
              <a:rPr sz="2000">
                <a:solidFill>
                  <a:srgbClr val="222B33"/>
                </a:solidFill>
                <a:latin typeface="Microsoft YaHei"/>
              </a:rPr>
              <a:t>▪ 瓶口不对着自己和别人</a:t>
            </a:r>
          </a:p>
          <a:p>
            <a:pPr>
              <a:spcAft>
                <a:spcPts val="1000"/>
              </a:spcAft>
            </a:pPr>
            <a:r>
              <a:rPr sz="2000">
                <a:solidFill>
                  <a:srgbClr val="222B33"/>
                </a:solidFill>
                <a:latin typeface="Microsoft YaHei"/>
              </a:rPr>
              <a:t>▪ 不在高于视线的位置倾倒</a:t>
            </a:r>
          </a:p>
          <a:p>
            <a:pPr>
              <a:spcAft>
                <a:spcPts val="1000"/>
              </a:spcAft>
            </a:pPr>
            <a:r>
              <a:rPr sz="2000">
                <a:solidFill>
                  <a:srgbClr val="222B33"/>
                </a:solidFill>
                <a:latin typeface="Microsoft YaHei"/>
              </a:rPr>
              <a:t>▪ 反应液加水也要慢，防止放热飞溅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取用浓酸时，按需要量用滴管或合适的移液工具少量取用，不直接从大瓶往小容器里猛倒。打开瓶盖和倾倒时，瓶口不对着自己和他人。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把酸瓶举过头顶看液面</a:t>
            </a:r>
          </a:p>
          <a:p>
            <a:pPr>
              <a:spcAft>
                <a:spcPts val="1000"/>
              </a:spcAft>
            </a:pPr>
            <a:r>
              <a:rPr sz="1500">
                <a:solidFill>
                  <a:srgbClr val="222B33"/>
                </a:solidFill>
                <a:latin typeface="Microsoft YaHei"/>
              </a:rPr>
              <a:t>▪ 打开瓶盖时瓶口对着脸</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滴加放稳，脸不凑近</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滴加时容器要放稳</a:t>
            </a:r>
          </a:p>
          <a:p>
            <a:pPr>
              <a:spcAft>
                <a:spcPts val="1000"/>
              </a:spcAft>
            </a:pPr>
            <a:r>
              <a:rPr sz="2000">
                <a:solidFill>
                  <a:srgbClr val="222B33"/>
                </a:solidFill>
                <a:latin typeface="Microsoft YaHei"/>
              </a:rPr>
              <a:t>▪ 脸不要凑近容器口</a:t>
            </a:r>
          </a:p>
          <a:p>
            <a:pPr>
              <a:spcAft>
                <a:spcPts val="1000"/>
              </a:spcAft>
            </a:pPr>
            <a:r>
              <a:rPr sz="2000">
                <a:solidFill>
                  <a:srgbClr val="222B33"/>
                </a:solidFill>
                <a:latin typeface="Microsoft YaHei"/>
              </a:rPr>
              <a:t>▪ 调酸碱度，逐滴加，边加边搅</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滴加酸碱或调节 pH 时，容器放在稳固的台面或用铁架台固定，不用手悬空端着操作，防止打翻。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一手端烧杯一手滴加</a:t>
            </a:r>
          </a:p>
          <a:p>
            <a:pPr>
              <a:spcAft>
                <a:spcPts val="1000"/>
              </a:spcAft>
            </a:pPr>
            <a:r>
              <a:rPr sz="1500">
                <a:solidFill>
                  <a:srgbClr val="222B33"/>
                </a:solidFill>
                <a:latin typeface="Microsoft YaHei"/>
              </a:rPr>
              <a:t>▪ 低头凑到烧杯口闻或看</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酸碱分开放，碱液用塑料瓶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酸和碱分开存放</a:t>
            </a:r>
          </a:p>
          <a:p>
            <a:pPr>
              <a:spcAft>
                <a:spcPts val="1000"/>
              </a:spcAft>
            </a:pPr>
            <a:r>
              <a:rPr sz="2000">
                <a:solidFill>
                  <a:srgbClr val="222B33"/>
                </a:solidFill>
                <a:latin typeface="Microsoft YaHei"/>
              </a:rPr>
              <a:t>▪ 碱液用塑料瓶</a:t>
            </a:r>
          </a:p>
          <a:p>
            <a:pPr>
              <a:spcAft>
                <a:spcPts val="1000"/>
              </a:spcAft>
            </a:pPr>
            <a:r>
              <a:rPr sz="2000">
                <a:solidFill>
                  <a:srgbClr val="222B33"/>
                </a:solidFill>
                <a:latin typeface="Microsoft YaHei"/>
              </a:rPr>
              <a:t>▪ 别用磨口玻璃塞，会粘住打不开</a:t>
            </a:r>
          </a:p>
          <a:p>
            <a:pPr>
              <a:spcAft>
                <a:spcPts val="1000"/>
              </a:spcAft>
            </a:pPr>
            <a:r>
              <a:rPr sz="2000">
                <a:solidFill>
                  <a:srgbClr val="222B33"/>
                </a:solidFill>
                <a:latin typeface="Microsoft YaHei"/>
              </a:rPr>
              <a:t>▪ 标签写清名称和浓度，瓶盖拧紧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酸和碱相互接触会剧烈反应放热，存放时要分柜或分格隔开（储存相容性见第 043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酸碱放在同一个托盘里</a:t>
            </a:r>
          </a:p>
          <a:p>
            <a:pPr>
              <a:spcAft>
                <a:spcPts val="1000"/>
              </a:spcAft>
            </a:pPr>
            <a:r>
              <a:rPr sz="1500">
                <a:solidFill>
                  <a:srgbClr val="222B33"/>
                </a:solidFill>
                <a:latin typeface="Microsoft YaHei"/>
              </a:rPr>
              <a:t>▪ 自配溶液不贴标签</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腐蚀品存低处，放托盘进专柜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腐蚀品放低处，不高过视线</a:t>
            </a:r>
          </a:p>
          <a:p>
            <a:pPr>
              <a:spcAft>
                <a:spcPts val="1000"/>
              </a:spcAft>
            </a:pPr>
            <a:r>
              <a:rPr sz="2000">
                <a:solidFill>
                  <a:srgbClr val="222B33"/>
                </a:solidFill>
                <a:latin typeface="Microsoft YaHei"/>
              </a:rPr>
              <a:t>▪ 放在耐腐蚀托盘里，漏了也能兜住</a:t>
            </a:r>
          </a:p>
          <a:p>
            <a:pPr>
              <a:spcAft>
                <a:spcPts val="1000"/>
              </a:spcAft>
            </a:pPr>
            <a:r>
              <a:rPr sz="2000">
                <a:solidFill>
                  <a:srgbClr val="222B33"/>
                </a:solidFill>
                <a:latin typeface="Microsoft YaHei"/>
              </a:rPr>
              <a:t>▪ 氧化性的酸和有机物分开放</a:t>
            </a:r>
          </a:p>
          <a:p>
            <a:pPr>
              <a:spcAft>
                <a:spcPts val="1000"/>
              </a:spcAft>
            </a:pPr>
            <a:r>
              <a:rPr sz="2000">
                <a:solidFill>
                  <a:srgbClr val="222B33"/>
                </a:solidFill>
                <a:latin typeface="Microsoft YaHei"/>
              </a:rPr>
              <a:t>▪ 放进腐蚀品柜，远离金属设备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腐蚀品存放在柜子下层，不放在高过视线的架子上，取放时不会因失手而从高处洒落到脸上。瓶子放在耐腐蚀的托盘或二次容器里，万一泄漏能兜住，不扩散。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把酸瓶放在最高一层架子上</a:t>
            </a:r>
          </a:p>
          <a:p>
            <a:pPr>
              <a:spcAft>
                <a:spcPts val="1000"/>
              </a:spcAft>
            </a:pPr>
            <a:r>
              <a:rPr sz="1500">
                <a:solidFill>
                  <a:srgbClr val="222B33"/>
                </a:solidFill>
                <a:latin typeface="Microsoft YaHei"/>
              </a:rPr>
              <a:t>▪ 腐蚀品放在普通金属柜里不加托盘</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溅到就冲，报告就医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溅到皮肤，立即用大量流水冲洗</a:t>
            </a:r>
          </a:p>
          <a:p>
            <a:pPr>
              <a:spcAft>
                <a:spcPts val="1000"/>
              </a:spcAft>
            </a:pPr>
            <a:r>
              <a:rPr sz="2000">
                <a:solidFill>
                  <a:srgbClr val="222B33"/>
                </a:solidFill>
                <a:latin typeface="Microsoft YaHei"/>
              </a:rPr>
              <a:t>▪ 边冲边脱掉被污染的衣物</a:t>
            </a:r>
          </a:p>
          <a:p>
            <a:pPr>
              <a:spcAft>
                <a:spcPts val="1000"/>
              </a:spcAft>
            </a:pPr>
            <a:r>
              <a:rPr sz="2000">
                <a:solidFill>
                  <a:srgbClr val="222B33"/>
                </a:solidFill>
                <a:latin typeface="Microsoft YaHei"/>
              </a:rPr>
              <a:t>▪ 溅进眼睛，马上到洗眼器冲洗，撑开眼皮</a:t>
            </a:r>
          </a:p>
          <a:p>
            <a:pPr>
              <a:spcAft>
                <a:spcPts val="1000"/>
              </a:spcAft>
            </a:pPr>
            <a:r>
              <a:rPr sz="2000">
                <a:solidFill>
                  <a:srgbClr val="222B33"/>
                </a:solidFill>
                <a:latin typeface="Microsoft YaHei"/>
              </a:rPr>
              <a:t>▪ 报告老师，需要时拨打 120</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腐蚀品溅到皮肤上，立即用大量流动的清水冲洗，范围大时使用紧急喷淋，边冲洗边脱去被污染的衣物和饰品。溅入眼睛时，马上到洗眼器用流水冲洗，用手指撑开眼睑、转动眼球，冲洗时间要足够，不要揉眼睛（洗眼器使用见第 027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先找中和剂而不是立即冲水</a:t>
            </a:r>
          </a:p>
          <a:p>
            <a:pPr>
              <a:spcAft>
                <a:spcPts val="1000"/>
              </a:spcAft>
            </a:pPr>
            <a:r>
              <a:rPr sz="1500">
                <a:solidFill>
                  <a:srgbClr val="222B33"/>
                </a:solidFill>
                <a:latin typeface="Microsoft YaHei"/>
              </a:rPr>
              <a:t>▪ 冲几秒钟觉得不疼就停</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稀释浓硫酸，正确的操作是：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把水快速倒进浓硫酸</a:t>
            </a:r>
          </a:p>
          <a:p>
            <a:pPr algn="l"/>
            <a:r>
              <a:rPr sz="1500" b="0">
                <a:solidFill>
                  <a:srgbClr val="222B33"/>
                </a:solidFill>
                <a:latin typeface="Microsoft YaHei"/>
              </a:rPr>
              <a:t>B. 把浓硫酸缓慢加入水中，边加边搅拌</a:t>
            </a:r>
          </a:p>
          <a:p>
            <a:pPr algn="l"/>
            <a:r>
              <a:rPr sz="1500" b="0">
                <a:solidFill>
                  <a:srgbClr val="222B33"/>
                </a:solidFill>
                <a:latin typeface="Microsoft YaHei"/>
              </a:rPr>
              <a:t>C. 一次把酸和水倒进同一个容器</a:t>
            </a:r>
          </a:p>
          <a:p>
            <a:pPr algn="l"/>
            <a:r>
              <a:rPr sz="1500" b="0">
                <a:solidFill>
                  <a:srgbClr val="222B33"/>
                </a:solidFill>
                <a:latin typeface="Microsoft YaHei"/>
              </a:rPr>
              <a:t>D. 在量筒里直接稀释</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判断：碱溅入眼睛比酸温和，用纸巾擦干即可。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关于碱液的存放，下列说法正确的是：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用磨口玻璃塞的玻璃瓶</a:t>
            </a:r>
          </a:p>
          <a:p>
            <a:pPr algn="l"/>
            <a:r>
              <a:rPr sz="1500" b="0">
                <a:solidFill>
                  <a:srgbClr val="222B33"/>
                </a:solidFill>
                <a:latin typeface="Microsoft YaHei"/>
              </a:rPr>
              <a:t>B. 用塑料瓶，写清名称和浓度，和酸分开存放</a:t>
            </a:r>
          </a:p>
          <a:p>
            <a:pPr algn="l"/>
            <a:r>
              <a:rPr sz="1500" b="0">
                <a:solidFill>
                  <a:srgbClr val="222B33"/>
                </a:solidFill>
                <a:latin typeface="Microsoft YaHei"/>
              </a:rPr>
              <a:t>C. 和酸放在同一托盘</a:t>
            </a:r>
          </a:p>
          <a:p>
            <a:pPr algn="l"/>
            <a:r>
              <a:rPr sz="1500" b="0">
                <a:solidFill>
                  <a:srgbClr val="222B33"/>
                </a:solidFill>
                <a:latin typeface="Microsoft YaHei"/>
              </a:rPr>
              <a:t>D. 放在最高一层架子上</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取用浓酸时，下列做法错误的是：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用滴管少量取用</a:t>
            </a:r>
          </a:p>
          <a:p>
            <a:pPr algn="l"/>
            <a:r>
              <a:rPr sz="1500" b="0">
                <a:solidFill>
                  <a:srgbClr val="222B33"/>
                </a:solidFill>
                <a:latin typeface="Microsoft YaHei"/>
              </a:rPr>
              <a:t>B. 瓶口不对着人</a:t>
            </a:r>
          </a:p>
          <a:p>
            <a:pPr algn="l"/>
            <a:r>
              <a:rPr sz="1500" b="0">
                <a:solidFill>
                  <a:srgbClr val="222B33"/>
                </a:solidFill>
                <a:latin typeface="Microsoft YaHei"/>
              </a:rPr>
              <a:t>C. 把酸瓶举到眼睛以上倾倒</a:t>
            </a:r>
          </a:p>
          <a:p>
            <a:pPr algn="l"/>
            <a:r>
              <a:rPr sz="1500" b="0">
                <a:solidFill>
                  <a:srgbClr val="222B33"/>
                </a:solidFill>
                <a:latin typeface="Microsoft YaHei"/>
              </a:rPr>
              <a:t>D. 在通风柜里操作</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048 · 酸碱腐蚀品安全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048 酸碱腐蚀品安全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简答：浓碱溶液溅到前臂上，应该怎么做？</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K1  腐蚀品伤皮肤，更伤眼睛</a:t>
            </a:r>
          </a:p>
          <a:p>
            <a:pPr>
              <a:spcAft>
                <a:spcPts val="800"/>
              </a:spcAft>
            </a:pPr>
            <a:r>
              <a:rPr sz="1800">
                <a:solidFill>
                  <a:srgbClr val="FFFFFF"/>
                </a:solidFill>
                <a:latin typeface="Microsoft YaHei"/>
              </a:rPr>
              <a:t>▪ K2  先读说明书，始终穿戴防护</a:t>
            </a:r>
          </a:p>
          <a:p>
            <a:pPr>
              <a:spcAft>
                <a:spcPts val="800"/>
              </a:spcAft>
            </a:pPr>
            <a:r>
              <a:rPr sz="1800">
                <a:solidFill>
                  <a:srgbClr val="FFFFFF"/>
                </a:solidFill>
                <a:latin typeface="Microsoft YaHei"/>
              </a:rPr>
              <a:t>▪ K3  稀释酸碱：酸入水，不能反过来</a:t>
            </a:r>
          </a:p>
          <a:p>
            <a:pPr>
              <a:spcAft>
                <a:spcPts val="800"/>
              </a:spcAft>
            </a:pPr>
            <a:r>
              <a:rPr sz="1800">
                <a:solidFill>
                  <a:srgbClr val="FFFFFF"/>
                </a:solidFill>
                <a:latin typeface="Microsoft YaHei"/>
              </a:rPr>
              <a:t>▪ K4  在通风柜里慢慢加，边加边搅</a:t>
            </a:r>
          </a:p>
          <a:p>
            <a:pPr>
              <a:spcAft>
                <a:spcPts val="800"/>
              </a:spcAft>
            </a:pPr>
            <a:r>
              <a:rPr sz="1800">
                <a:solidFill>
                  <a:srgbClr val="FFFFFF"/>
                </a:solidFill>
                <a:latin typeface="Microsoft YaHei"/>
              </a:rPr>
              <a:t>▪ K5  浓酸取用：少量取，瓶口不对人</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800">
                <a:solidFill>
                  <a:srgbClr val="FFFFFF"/>
                </a:solidFill>
                <a:latin typeface="Microsoft YaHei"/>
              </a:rPr>
              <a:t>▪ K6  滴加放稳，脸不凑近</a:t>
            </a:r>
          </a:p>
          <a:p>
            <a:pPr>
              <a:spcAft>
                <a:spcPts val="800"/>
              </a:spcAft>
            </a:pPr>
            <a:r>
              <a:rPr sz="1800">
                <a:solidFill>
                  <a:srgbClr val="FFFFFF"/>
                </a:solidFill>
                <a:latin typeface="Microsoft YaHei"/>
              </a:rPr>
              <a:t>▪ K7  酸碱分开放，碱液用塑料瓶</a:t>
            </a:r>
          </a:p>
          <a:p>
            <a:pPr>
              <a:spcAft>
                <a:spcPts val="800"/>
              </a:spcAft>
            </a:pPr>
            <a:r>
              <a:rPr sz="1800">
                <a:solidFill>
                  <a:srgbClr val="FFFFFF"/>
                </a:solidFill>
                <a:latin typeface="Microsoft YaHei"/>
              </a:rPr>
              <a:t>▪ S1  腐蚀品存低处，放托盘进专柜</a:t>
            </a:r>
          </a:p>
          <a:p>
            <a:pPr>
              <a:spcAft>
                <a:spcPts val="800"/>
              </a:spcAft>
            </a:pPr>
            <a:r>
              <a:rPr sz="1800">
                <a:solidFill>
                  <a:srgbClr val="FFFFFF"/>
                </a:solidFill>
                <a:latin typeface="Microsoft YaHei"/>
              </a:rPr>
              <a:t>▪ K8  溅到就冲，报告就医</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049</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重点毒害品安全</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71 镜）　适用对象：使用甲醛、戊二醛、二氯甲烷、汞、铬盐等毒害化学品的高校本科生、研究生和教职工（必修）；医学、生命科学、化学、化工、材料、环境等专业重点学习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能说出甲醛、戊二醛、二氯甲烷、汞和六价铬盐的主要急性和慢性危害，能判断哪些属于致癌物或致敏物。</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能做到使用前培训、读标签和安全技术说明书、做风险评估，在通风柜里开瓶、量取、配制和浓缩，选用合适的个人防护，密闭储存、少量领用。</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能说出职业接触限值、呼吸带采样监测和职业健康检查的作用，知道限值按国家职业卫生标准执行。</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能做到出现头晕、刺激等症状立即离开、报告并就医；汞洒落时不碰、不扫、不吸，隔离通风并报告。</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《中华人民共和国职业病防治法》：职业病危害因素检测、告知，劳动者培训和职业健康检查</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2.1（以现行文本为准）《工作场所有害因素职业接触限值 第1部分：化学有害因素》：时间加权平均容许浓度、短时间接触容许浓度、最高容许浓度</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188（以现行文本为准）《职业健康监护技术规范》：上岗前、在岗期间、离岗时职业健康检查</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日起施行）及《危险化学品安全管理条例》（以现行文本为准）：学校、科研机构使用危险化学品的安全责任，中文安全技术说明书和安全标签</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系列（以现行文本为准）《化学品分类和标签规范》：急性毒性、致癌性、呼吸或皮肤致敏、特异性靶器官毒性的分类和象形图</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16483-2008（以现行文本为准）《化学品安全技术说明书 内容和项目顺序》：危险性概述、接触控制和个体防护、毒理学信息</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《国家危险废物名录》（以现行文本为准）：含汞、含铬废物及废弃毒害化学品按危险废物收集处置</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号，以现行文本为准）及高校实验室安全检查项目表、本校危险化学品和职业健康管理制度</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甲醛和戊二醛：常用而有毒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甲醛和戊二醛都是有毒的醛</a:t>
            </a:r>
          </a:p>
          <a:p>
            <a:pPr>
              <a:spcAft>
                <a:spcPts val="1000"/>
              </a:spcAft>
            </a:pPr>
            <a:r>
              <a:rPr sz="2000">
                <a:solidFill>
                  <a:srgbClr val="222B33"/>
                </a:solidFill>
                <a:latin typeface="Microsoft YaHei"/>
              </a:rPr>
              <a:t>▪ 常用来固定标本、消毒器械</a:t>
            </a:r>
          </a:p>
          <a:p>
            <a:pPr>
              <a:spcAft>
                <a:spcPts val="1000"/>
              </a:spcAft>
            </a:pPr>
            <a:r>
              <a:rPr sz="2000">
                <a:solidFill>
                  <a:srgbClr val="222B33"/>
                </a:solidFill>
                <a:latin typeface="Microsoft YaHei"/>
              </a:rPr>
              <a:t>▪ 甲醛很常见，危害却格外特殊</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甲醛（福尔马林是它的水溶液）常用于固定组织和动物标本、病理制片；戊二醛常用于器械消毒和电镜样品固定。两者在医学、生命科学实验室中非常常见。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把标本罐当普通容器随手打开</a:t>
            </a:r>
          </a:p>
          <a:p>
            <a:pPr>
              <a:spcAft>
                <a:spcPts val="1000"/>
              </a:spcAft>
            </a:pPr>
            <a:r>
              <a:rPr sz="1500">
                <a:solidFill>
                  <a:srgbClr val="222B33"/>
                </a:solidFill>
                <a:latin typeface="Microsoft YaHei"/>
              </a:rPr>
              <a:t>▪ 以为消毒液都是低毒的</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一接触就刺激：皮肤、眼睛、呼吸道</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皮肤、眼睛、黏膜一接触就受刺激</a:t>
            </a:r>
          </a:p>
          <a:p>
            <a:pPr>
              <a:spcAft>
                <a:spcPts val="1000"/>
              </a:spcAft>
            </a:pPr>
            <a:r>
              <a:rPr sz="2000">
                <a:solidFill>
                  <a:srgbClr val="222B33"/>
                </a:solidFill>
                <a:latin typeface="Microsoft YaHei"/>
              </a:rPr>
              <a:t>▪ 轻则发红刺痛，重则灼伤</a:t>
            </a:r>
          </a:p>
          <a:p>
            <a:pPr>
              <a:spcAft>
                <a:spcPts val="1000"/>
              </a:spcAft>
            </a:pPr>
            <a:r>
              <a:rPr sz="2000">
                <a:solidFill>
                  <a:srgbClr val="222B33"/>
                </a:solidFill>
                <a:latin typeface="Microsoft YaHei"/>
              </a:rPr>
              <a:t>▪ 吸入蒸气会咳嗽、恶心，引发喉炎、哮喘</a:t>
            </a:r>
          </a:p>
          <a:p>
            <a:pPr>
              <a:spcAft>
                <a:spcPts val="1000"/>
              </a:spcAft>
            </a:pPr>
            <a:r>
              <a:rPr sz="2000">
                <a:solidFill>
                  <a:srgbClr val="222B33"/>
                </a:solidFill>
                <a:latin typeface="Microsoft YaHei"/>
              </a:rPr>
              <a:t>▪ 浓度极高时，可致昏迷甚至死亡</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甲醛和戊二醛接触皮肤、眼睛和黏膜后很快出现刺激症状：轻者发红、刺痛、流泪，重者灼伤；反复接触还可能引起过敏性皮炎。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闻到刺激味还继续操作</a:t>
            </a:r>
          </a:p>
          <a:p>
            <a:pPr>
              <a:spcAft>
                <a:spcPts val="1000"/>
              </a:spcAft>
            </a:pPr>
            <a:r>
              <a:rPr sz="1500">
                <a:solidFill>
                  <a:srgbClr val="222B33"/>
                </a:solidFill>
                <a:latin typeface="Microsoft YaHei"/>
              </a:rPr>
              <a:t>▪ 眼睛刺痛时用手揉</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甲醛致癌，长期接触伤害慢慢显现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长期接触的伤害，不会马上显现</a:t>
            </a:r>
          </a:p>
          <a:p>
            <a:pPr>
              <a:spcAft>
                <a:spcPts val="1000"/>
              </a:spcAft>
            </a:pPr>
            <a:r>
              <a:rPr sz="2000">
                <a:solidFill>
                  <a:srgbClr val="222B33"/>
                </a:solidFill>
                <a:latin typeface="Microsoft YaHei"/>
              </a:rPr>
              <a:t>▪ 甲醛是致癌物，过量接触增加患癌风险</a:t>
            </a:r>
          </a:p>
          <a:p>
            <a:pPr>
              <a:spcAft>
                <a:spcPts val="1000"/>
              </a:spcAft>
            </a:pPr>
            <a:r>
              <a:rPr sz="2000">
                <a:solidFill>
                  <a:srgbClr val="222B33"/>
                </a:solidFill>
                <a:latin typeface="Microsoft YaHei"/>
              </a:rPr>
              <a:t>▪ 反复接触，还会永久损伤呼吸道</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慢性危害往往在多年后才表现出来。甲醛已被确认为人类致癌物，长期过量接触会增加患癌（如鼻咽部肿瘤等）的风险；反复接触还可能造成永久性的呼吸道损伤和致敏。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认为没有症状就没有伤害</a:t>
            </a:r>
          </a:p>
          <a:p>
            <a:pPr>
              <a:spcAft>
                <a:spcPts val="1000"/>
              </a:spcAft>
            </a:pPr>
            <a:r>
              <a:rPr sz="1500">
                <a:solidFill>
                  <a:srgbClr val="222B33"/>
                </a:solidFill>
                <a:latin typeface="Microsoft YaHei"/>
              </a:rPr>
              <a:t>▪ 习惯了气味就不再防护</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有症状，立即报告就医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怀疑接触过量、出现症状，立即报告</a:t>
            </a:r>
          </a:p>
          <a:p>
            <a:pPr>
              <a:spcAft>
                <a:spcPts val="1000"/>
              </a:spcAft>
            </a:pPr>
            <a:r>
              <a:rPr sz="2000">
                <a:solidFill>
                  <a:srgbClr val="222B33"/>
                </a:solidFill>
                <a:latin typeface="Microsoft YaHei"/>
              </a:rPr>
              <a:t>▪ 报告实验室负责人</a:t>
            </a:r>
          </a:p>
          <a:p>
            <a:pPr>
              <a:spcAft>
                <a:spcPts val="1000"/>
              </a:spcAft>
            </a:pPr>
            <a:r>
              <a:rPr sz="2000">
                <a:solidFill>
                  <a:srgbClr val="222B33"/>
                </a:solidFill>
                <a:latin typeface="Microsoft YaHei"/>
              </a:rPr>
              <a:t>▪ 及早就医，多数情况能够好转</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怀疑自己接触过量，或出现眼鼻刺激、咳嗽、皮疹、头痛等症状时，立即停止操作、离开现场，报告实验室负责人，由实验室负责人报告学院（报告程序见第 157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觉得不严重就忍着</a:t>
            </a:r>
          </a:p>
          <a:p>
            <a:pPr>
              <a:spcAft>
                <a:spcPts val="1000"/>
              </a:spcAft>
            </a:pPr>
            <a:r>
              <a:rPr sz="1500">
                <a:solidFill>
                  <a:srgbClr val="222B33"/>
                </a:solidFill>
                <a:latin typeface="Microsoft YaHei"/>
              </a:rPr>
              <a:t>▪ 怕被批评不报告</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职业接触有国家标准和限值</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国内依据职业病防治法管理</a:t>
            </a:r>
          </a:p>
          <a:p>
            <a:pPr>
              <a:spcAft>
                <a:spcPts val="1000"/>
              </a:spcAft>
            </a:pPr>
            <a:r>
              <a:rPr sz="2000">
                <a:solidFill>
                  <a:srgbClr val="222B33"/>
                </a:solidFill>
                <a:latin typeface="Microsoft YaHei"/>
              </a:rPr>
              <a:t>▪ 接触限值按 GBZ 2.1 现行文本执行</a:t>
            </a:r>
          </a:p>
          <a:p>
            <a:pPr>
              <a:spcAft>
                <a:spcPts val="1000"/>
              </a:spcAft>
            </a:pPr>
            <a:r>
              <a:rPr sz="2000">
                <a:solidFill>
                  <a:srgbClr val="222B33"/>
                </a:solidFill>
                <a:latin typeface="Microsoft YaHei"/>
              </a:rPr>
              <a:t>▪ 标准起因于工业大量使用，目的是把接触降到最低</a:t>
            </a:r>
          </a:p>
          <a:p>
            <a:pPr>
              <a:spcAft>
                <a:spcPts val="1000"/>
              </a:spcAft>
            </a:pPr>
            <a:r>
              <a:rPr sz="2000">
                <a:solidFill>
                  <a:srgbClr val="222B33"/>
                </a:solidFill>
                <a:latin typeface="Microsoft YaHei"/>
              </a:rPr>
              <a:t>▪ 限值为保护你而设，使用场所要告知致癌风险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甲醛、二氯甲烷、汞、六价铬化合物等因危害明确，国家职业卫生标准 GBZ 2.1（以现行文本为准）规定了职业接触限值，包括时间加权平均容许浓度、短时间接触容许浓度或最高容许浓度。这些标准最初针对工业上的大量使用，目的是……</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以为限值只适用于工厂</a:t>
            </a:r>
          </a:p>
          <a:p>
            <a:pPr>
              <a:spcAft>
                <a:spcPts val="1000"/>
              </a:spcAft>
            </a:pPr>
            <a:r>
              <a:rPr sz="1500">
                <a:solidFill>
                  <a:srgbClr val="222B33"/>
                </a:solidFill>
                <a:latin typeface="Microsoft YaHei"/>
              </a:rPr>
              <a:t>▪ 不看告知卡就开始操作</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接触监测：采呼吸带空气，平均和高峰都要控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常用或大量使用，要监测接触量</a:t>
            </a:r>
          </a:p>
          <a:p>
            <a:pPr>
              <a:spcAft>
                <a:spcPts val="1000"/>
              </a:spcAft>
            </a:pPr>
            <a:r>
              <a:rPr sz="2000">
                <a:solidFill>
                  <a:srgbClr val="222B33"/>
                </a:solidFill>
                <a:latin typeface="Microsoft YaHei"/>
              </a:rPr>
              <a:t>▪ 采的是你呼吸带里的空气</a:t>
            </a:r>
          </a:p>
          <a:p>
            <a:pPr>
              <a:spcAft>
                <a:spcPts val="1000"/>
              </a:spcAft>
            </a:pPr>
            <a:r>
              <a:rPr sz="2000">
                <a:solidFill>
                  <a:srgbClr val="222B33"/>
                </a:solidFill>
                <a:latin typeface="Microsoft YaHei"/>
              </a:rPr>
              <a:t>▪ 平均水平达到或超过限值，就要加强防护</a:t>
            </a:r>
          </a:p>
          <a:p>
            <a:pPr>
              <a:spcAft>
                <a:spcPts val="1000"/>
              </a:spcAft>
            </a:pPr>
            <a:r>
              <a:rPr sz="2000">
                <a:solidFill>
                  <a:srgbClr val="222B33"/>
                </a:solidFill>
                <a:latin typeface="Microsoft YaHei"/>
              </a:rPr>
              <a:t>▪ 短时间的高峰也要控制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经常或大量使用甲醛等毒害品的场所，学校要组织有资质的机构进行工作场所空气检测，必要时做个人采样：把采样器佩戴在操作者衣领附近，采集呼吸带（口鼻周围）的空气。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只看全天平均，不管换液时的高峰</a:t>
            </a:r>
          </a:p>
          <a:p>
            <a:pPr>
              <a:spcAft>
                <a:spcPts val="1000"/>
              </a:spcAft>
            </a:pPr>
            <a:r>
              <a:rPr sz="1500">
                <a:solidFill>
                  <a:srgbClr val="222B33"/>
                </a:solidFill>
                <a:latin typeface="Microsoft YaHei"/>
              </a:rPr>
              <a:t>▪ 检测超标后不整改</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先培训，读说明书，守规程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使用的人都要先接受培训，并定期复训</a:t>
            </a:r>
          </a:p>
          <a:p>
            <a:pPr>
              <a:spcAft>
                <a:spcPts val="1000"/>
              </a:spcAft>
            </a:pPr>
            <a:r>
              <a:rPr sz="2000">
                <a:solidFill>
                  <a:srgbClr val="222B33"/>
                </a:solidFill>
                <a:latin typeface="Microsoft YaHei"/>
              </a:rPr>
              <a:t>▪ 先弄清哪里在用，怎样减少接触</a:t>
            </a:r>
          </a:p>
          <a:p>
            <a:pPr>
              <a:spcAft>
                <a:spcPts val="1000"/>
              </a:spcAft>
            </a:pPr>
            <a:r>
              <a:rPr sz="2000">
                <a:solidFill>
                  <a:srgbClr val="222B33"/>
                </a:solidFill>
                <a:latin typeface="Microsoft YaHei"/>
              </a:rPr>
              <a:t>▪ 先看说明书：危害、途径、健康影响</a:t>
            </a:r>
          </a:p>
          <a:p>
            <a:pPr>
              <a:spcAft>
                <a:spcPts val="1000"/>
              </a:spcAft>
            </a:pPr>
            <a:r>
              <a:rPr sz="2000">
                <a:solidFill>
                  <a:srgbClr val="222B33"/>
                </a:solidFill>
                <a:latin typeface="Microsoft YaHei"/>
              </a:rPr>
              <a:t>▪ 天天按规程和标准做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所有使用甲醛、戊二醛等毒害品的人员都要接受培训：知道本实验室哪些地方在用、有哪些危害、怎样减少接触，并定期复训（准入培训见第 007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没培训就跟着师兄师姐做</a:t>
            </a:r>
          </a:p>
          <a:p>
            <a:pPr>
              <a:spcAft>
                <a:spcPts val="1000"/>
              </a:spcAft>
            </a:pPr>
            <a:r>
              <a:rPr sz="1500">
                <a:solidFill>
                  <a:srgbClr val="222B33"/>
                </a:solidFill>
                <a:latin typeface="Microsoft YaHei"/>
              </a:rPr>
              <a:t>▪ 只看过一次说明书就不再看</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标签写明含甲醛和致癌</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容器标签是最直接的信息来源</a:t>
            </a:r>
          </a:p>
          <a:p>
            <a:pPr>
              <a:spcAft>
                <a:spcPts val="1000"/>
              </a:spcAft>
            </a:pPr>
            <a:r>
              <a:rPr sz="2000">
                <a:solidFill>
                  <a:srgbClr val="222B33"/>
                </a:solidFill>
                <a:latin typeface="Microsoft YaHei"/>
              </a:rPr>
              <a:t>▪ 含甲醛的溶液、材料都要标明</a:t>
            </a:r>
          </a:p>
          <a:p>
            <a:pPr>
              <a:spcAft>
                <a:spcPts val="1000"/>
              </a:spcAft>
            </a:pPr>
            <a:r>
              <a:rPr sz="2000">
                <a:solidFill>
                  <a:srgbClr val="222B33"/>
                </a:solidFill>
                <a:latin typeface="Microsoft YaHei"/>
              </a:rPr>
              <a:t>▪ 含量较高的写明主要危害和可能致癌</a:t>
            </a:r>
          </a:p>
          <a:p>
            <a:pPr>
              <a:spcAft>
                <a:spcPts val="1000"/>
              </a:spcAft>
            </a:pPr>
            <a:r>
              <a:rPr sz="2000">
                <a:solidFill>
                  <a:srgbClr val="222B33"/>
                </a:solidFill>
                <a:latin typeface="Microsoft YaHei"/>
              </a:rPr>
              <a:t>▪ 标签写不下，就去查说明书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化学品安全标签是最直接的危害信息来源（GB 30000 系列、GB 15258-2009，以现行文本为准）。含甲醛的溶液和混合物，以及会释放甲醛的材料，都要在标签上标明含甲醛；含量较高的还要写明主要危害，特别是“可能……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自配的固定液不贴标签</a:t>
            </a:r>
          </a:p>
          <a:p>
            <a:pPr>
              <a:spcAft>
                <a:spcPts val="1000"/>
              </a:spcAft>
            </a:pPr>
            <a:r>
              <a:rPr sz="1500">
                <a:solidFill>
                  <a:srgbClr val="222B33"/>
                </a:solidFill>
                <a:latin typeface="Microsoft YaHei"/>
              </a:rPr>
              <a:t>▪ 分装到小瓶后丢掉了危害信息</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风险评估定防护，不让它接触你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实验前按要求做风险评估</a:t>
            </a:r>
          </a:p>
          <a:p>
            <a:pPr>
              <a:spcAft>
                <a:spcPts val="1000"/>
              </a:spcAft>
            </a:pPr>
            <a:r>
              <a:rPr sz="2000">
                <a:solidFill>
                  <a:srgbClr val="222B33"/>
                </a:solidFill>
                <a:latin typeface="Microsoft YaHei"/>
              </a:rPr>
              <a:t>▪ 用多少、做多久、在哪做，决定怎么防</a:t>
            </a:r>
          </a:p>
          <a:p>
            <a:pPr>
              <a:spcAft>
                <a:spcPts val="1000"/>
              </a:spcAft>
            </a:pPr>
            <a:r>
              <a:rPr sz="2000">
                <a:solidFill>
                  <a:srgbClr val="222B33"/>
                </a:solidFill>
                <a:latin typeface="Microsoft YaHei"/>
              </a:rPr>
              <a:t>▪ 不吸入、不沾皮肤、不溅进眼睛</a:t>
            </a:r>
          </a:p>
          <a:p>
            <a:pPr>
              <a:spcAft>
                <a:spcPts val="1000"/>
              </a:spcAft>
            </a:pPr>
            <a:r>
              <a:rPr sz="2000">
                <a:solidFill>
                  <a:srgbClr val="222B33"/>
                </a:solidFill>
                <a:latin typeface="Microsoft YaHei"/>
              </a:rPr>
              <a:t>▪ 护目镜、合适的手套、实验服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实验前按本校风险管理要求进行风险评估：用量多少、操作多长时间、在什么场所做，决定需要的通风条件和防护措施（风险评估见第 014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用普通乳胶手套长时间接触</a:t>
            </a:r>
          </a:p>
          <a:p>
            <a:pPr>
              <a:spcAft>
                <a:spcPts val="1000"/>
              </a:spcAft>
            </a:pPr>
            <a:r>
              <a:rPr sz="1500">
                <a:solidFill>
                  <a:srgbClr val="222B33"/>
                </a:solidFill>
                <a:latin typeface="Microsoft YaHei"/>
              </a:rPr>
              <a:t>▪ 不评估就把用量放大</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通风最重要：在通风柜里开瓶配制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保持通风是最重要的做法之一</a:t>
            </a:r>
          </a:p>
          <a:p>
            <a:pPr>
              <a:spcAft>
                <a:spcPts val="1000"/>
              </a:spcAft>
            </a:pPr>
            <a:r>
              <a:rPr sz="2000">
                <a:solidFill>
                  <a:srgbClr val="222B33"/>
                </a:solidFill>
                <a:latin typeface="Microsoft YaHei"/>
              </a:rPr>
              <a:t>▪ 开瓶、量取、配制、取材都在通风柜里做</a:t>
            </a:r>
          </a:p>
          <a:p>
            <a:pPr>
              <a:spcAft>
                <a:spcPts val="1000"/>
              </a:spcAft>
            </a:pPr>
            <a:r>
              <a:rPr sz="2000">
                <a:solidFill>
                  <a:srgbClr val="222B33"/>
                </a:solidFill>
                <a:latin typeface="Microsoft YaHei"/>
              </a:rPr>
              <a:t>▪ 不在敞开的台面上开瓶倒液</a:t>
            </a:r>
          </a:p>
          <a:p>
            <a:pPr>
              <a:spcAft>
                <a:spcPts val="1000"/>
              </a:spcAft>
            </a:pPr>
            <a:r>
              <a:rPr sz="2000">
                <a:solidFill>
                  <a:srgbClr val="222B33"/>
                </a:solidFill>
                <a:latin typeface="Microsoft YaHei"/>
              </a:rPr>
              <a:t>▪ 铺好吸水垫，用完随手盖紧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把蒸气挡在呼吸带之外，最有效的方法是局部排风。开瓶、量取、配制、换液、标本取材都在通风柜或专用排风台里进行，不在敞开的台面上开瓶倒液。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在普通台面上换标本固定液</a:t>
            </a:r>
          </a:p>
          <a:p>
            <a:pPr>
              <a:spcAft>
                <a:spcPts val="1000"/>
              </a:spcAft>
            </a:pPr>
            <a:r>
              <a:rPr sz="1500">
                <a:solidFill>
                  <a:srgbClr val="222B33"/>
                </a:solidFill>
                <a:latin typeface="Microsoft YaHei"/>
              </a:rPr>
              <a:t>▪ 用完不盖，敞口放在柜里</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稀释要小心，稀溶液也有害</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自行稀释、分装，要格外小心</a:t>
            </a:r>
          </a:p>
          <a:p>
            <a:pPr>
              <a:spcAft>
                <a:spcPts val="1000"/>
              </a:spcAft>
            </a:pPr>
            <a:r>
              <a:rPr sz="2000">
                <a:solidFill>
                  <a:srgbClr val="222B33"/>
                </a:solidFill>
                <a:latin typeface="Microsoft YaHei"/>
              </a:rPr>
              <a:t>▪ 尽量用预先分装好的容器</a:t>
            </a:r>
          </a:p>
          <a:p>
            <a:pPr>
              <a:spcAft>
                <a:spcPts val="1000"/>
              </a:spcAft>
            </a:pPr>
            <a:r>
              <a:rPr sz="2000">
                <a:solidFill>
                  <a:srgbClr val="222B33"/>
                </a:solidFill>
                <a:latin typeface="Microsoft YaHei"/>
              </a:rPr>
              <a:t>▪ 稀溶液，照样有危害</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从浓溶液自行稀释、分装时接触风险最大，要在通风柜里操作并做好防护。现在多采用预先稀释好的成品或预分装容器，可以减少开瓶和倒液的次数。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认为稀释后就无害</a:t>
            </a:r>
          </a:p>
          <a:p>
            <a:pPr>
              <a:spcAft>
                <a:spcPts val="1000"/>
              </a:spcAft>
            </a:pPr>
            <a:r>
              <a:rPr sz="1500">
                <a:solidFill>
                  <a:srgbClr val="222B33"/>
                </a:solidFill>
                <a:latin typeface="Microsoft YaHei"/>
              </a:rPr>
              <a:t>▪ 在台面上用量筒分装</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密闭储存，少量领用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密闭存放，阴凉通风</a:t>
            </a:r>
          </a:p>
          <a:p>
            <a:pPr>
              <a:spcAft>
                <a:spcPts val="1000"/>
              </a:spcAft>
            </a:pPr>
            <a:r>
              <a:rPr sz="2000">
                <a:solidFill>
                  <a:srgbClr val="222B33"/>
                </a:solidFill>
                <a:latin typeface="Microsoft YaHei"/>
              </a:rPr>
              <a:t>▪ 远离氧化剂，有的还易燃</a:t>
            </a:r>
          </a:p>
          <a:p>
            <a:pPr>
              <a:spcAft>
                <a:spcPts val="1000"/>
              </a:spcAft>
            </a:pPr>
            <a:r>
              <a:rPr sz="2000">
                <a:solidFill>
                  <a:srgbClr val="222B33"/>
                </a:solidFill>
                <a:latin typeface="Microsoft YaHei"/>
              </a:rPr>
              <a:t>▪ 按需少量领用，用完登记</a:t>
            </a:r>
          </a:p>
          <a:p>
            <a:pPr>
              <a:spcAft>
                <a:spcPts val="1000"/>
              </a:spcAft>
            </a:pPr>
            <a:r>
              <a:rPr sz="2000">
                <a:solidFill>
                  <a:srgbClr val="222B33"/>
                </a:solidFill>
                <a:latin typeface="Microsoft YaHei"/>
              </a:rPr>
              <a:t>▪ 标本瓶用完随手盖紧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甲醛等毒害品原容器密闭，存放在阴凉、通风的柜子里，远离氧化剂；部分含甲醇的甲醛溶液还具有易燃性，按易燃品要求存放（见第 046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大桶固定液长期开着盖</a:t>
            </a:r>
          </a:p>
          <a:p>
            <a:pPr>
              <a:spcAft>
                <a:spcPts val="1000"/>
              </a:spcAft>
            </a:pPr>
            <a:r>
              <a:rPr sz="1500">
                <a:solidFill>
                  <a:srgbClr val="222B33"/>
                </a:solidFill>
                <a:latin typeface="Microsoft YaHei"/>
              </a:rPr>
              <a:t>▪ 领用不登记</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应急程序，平时就要熟悉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出了事，按实验室的程序处置</a:t>
            </a:r>
          </a:p>
          <a:p>
            <a:pPr>
              <a:spcAft>
                <a:spcPts val="1000"/>
              </a:spcAft>
            </a:pPr>
            <a:r>
              <a:rPr sz="2000">
                <a:solidFill>
                  <a:srgbClr val="222B33"/>
                </a:solidFill>
                <a:latin typeface="Microsoft YaHei"/>
              </a:rPr>
              <a:t>▪ 应急程序平时就要熟悉</a:t>
            </a:r>
          </a:p>
          <a:p>
            <a:pPr>
              <a:spcAft>
                <a:spcPts val="1000"/>
              </a:spcAft>
            </a:pPr>
            <a:r>
              <a:rPr sz="2000">
                <a:solidFill>
                  <a:srgbClr val="222B33"/>
                </a:solidFill>
                <a:latin typeface="Microsoft YaHei"/>
              </a:rPr>
              <a:t>▪ 有担心、有隐患，及时报告</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发生溅洒、泄漏或接触时，按本实验室的应急程序处置（泄漏处置见第 056 课，灼伤急救见第 160 课）。应急程序要在平时通过培训和演练熟悉：洗眼器、喷淋、泄漏处理包在哪里，怎样报告。</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出事时才去找应急程序</a:t>
            </a:r>
          </a:p>
          <a:p>
            <a:pPr>
              <a:spcAft>
                <a:spcPts val="1000"/>
              </a:spcAft>
            </a:pPr>
            <a:r>
              <a:rPr sz="1500">
                <a:solidFill>
                  <a:srgbClr val="222B33"/>
                </a:solidFill>
                <a:latin typeface="Microsoft YaHei"/>
              </a:rPr>
              <a:t>▪ 不知道泄漏处理包在哪里</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二氯甲烷：危害容易被小看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就是个溶剂？它的危害容易被小看</a:t>
            </a:r>
          </a:p>
          <a:p>
            <a:pPr>
              <a:spcAft>
                <a:spcPts val="1000"/>
              </a:spcAft>
            </a:pPr>
            <a:r>
              <a:rPr sz="2000">
                <a:solidFill>
                  <a:srgbClr val="222B33"/>
                </a:solidFill>
                <a:latin typeface="Microsoft YaHei"/>
              </a:rPr>
              <a:t>▪ 长期或反复大量接触，伤心、伤肝、伤脑</a:t>
            </a:r>
          </a:p>
          <a:p>
            <a:pPr>
              <a:spcAft>
                <a:spcPts val="1000"/>
              </a:spcAft>
            </a:pPr>
            <a:r>
              <a:rPr sz="2000">
                <a:solidFill>
                  <a:srgbClr val="222B33"/>
                </a:solidFill>
                <a:latin typeface="Microsoft YaHei"/>
              </a:rPr>
              <a:t>▪ 还可能增加患癌风险</a:t>
            </a:r>
          </a:p>
          <a:p>
            <a:pPr>
              <a:spcAft>
                <a:spcPts val="1000"/>
              </a:spcAft>
            </a:pPr>
            <a:r>
              <a:rPr sz="2000">
                <a:solidFill>
                  <a:srgbClr val="222B33"/>
                </a:solidFill>
                <a:latin typeface="Microsoft YaHei"/>
              </a:rPr>
              <a:t>▪ 伤害慢慢积累，不能等有感觉</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二氯甲烷是萃取、色谱等实验中最常用的溶剂之一，不易燃，常被误认为“比较安全”，所以需要专门培训。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因为不易燃就在台面上随意使用</a:t>
            </a:r>
          </a:p>
          <a:p>
            <a:pPr>
              <a:spcAft>
                <a:spcPts val="1000"/>
              </a:spcAft>
            </a:pPr>
            <a:r>
              <a:rPr sz="1500">
                <a:solidFill>
                  <a:srgbClr val="222B33"/>
                </a:solidFill>
                <a:latin typeface="Microsoft YaHei"/>
              </a:rPr>
              <a:t>▪ 用它洗手上的污渍</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易挥发、蒸气下沉，在通风柜里用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沸点低，一开盖就挥发很快</a:t>
            </a:r>
          </a:p>
          <a:p>
            <a:pPr>
              <a:spcAft>
                <a:spcPts val="1000"/>
              </a:spcAft>
            </a:pPr>
            <a:r>
              <a:rPr sz="2000">
                <a:solidFill>
                  <a:srgbClr val="222B33"/>
                </a:solidFill>
                <a:latin typeface="Microsoft YaHei"/>
              </a:rPr>
              <a:t>▪ 蒸气比空气重，会往低处积聚</a:t>
            </a:r>
          </a:p>
          <a:p>
            <a:pPr>
              <a:spcAft>
                <a:spcPts val="1000"/>
              </a:spcAft>
            </a:pPr>
            <a:r>
              <a:rPr sz="2000">
                <a:solidFill>
                  <a:srgbClr val="222B33"/>
                </a:solidFill>
                <a:latin typeface="Microsoft YaHei"/>
              </a:rPr>
              <a:t>▪ 取用、分装、浓缩，都在通风柜里</a:t>
            </a:r>
          </a:p>
          <a:p>
            <a:pPr>
              <a:spcAft>
                <a:spcPts val="1000"/>
              </a:spcAft>
            </a:pPr>
            <a:r>
              <a:rPr sz="2000">
                <a:solidFill>
                  <a:srgbClr val="222B33"/>
                </a:solidFill>
                <a:latin typeface="Microsoft YaHei"/>
              </a:rPr>
              <a:t>▪ 不在台面上敞口挥干，用完随手盖紧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二氯甲烷沸点低、挥发快，蒸气比空气重，会积聚在地面、地沟、低处的容器和柜子里。使用前读安全技术说明书和标签，了解它的特性。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把萃取后的溶液放在台面上自然挥干</a:t>
            </a:r>
          </a:p>
          <a:p>
            <a:pPr>
              <a:spcAft>
                <a:spcPts val="1000"/>
              </a:spcAft>
            </a:pPr>
            <a:r>
              <a:rPr sz="1500">
                <a:solidFill>
                  <a:srgbClr val="222B33"/>
                </a:solidFill>
                <a:latin typeface="Microsoft YaHei"/>
              </a:rPr>
              <a:t>▪ 在地下室等低处、通风差的房间大量使用</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用量小，规矩不减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职业接触标准起因于工业大量使用</a:t>
            </a:r>
          </a:p>
          <a:p>
            <a:pPr>
              <a:spcAft>
                <a:spcPts val="1000"/>
              </a:spcAft>
            </a:pPr>
            <a:r>
              <a:rPr sz="2000">
                <a:solidFill>
                  <a:srgbClr val="222B33"/>
                </a:solidFill>
                <a:latin typeface="Microsoft YaHei"/>
              </a:rPr>
              <a:t>▪ 实验室用量小，规矩一样不能少</a:t>
            </a:r>
          </a:p>
          <a:p>
            <a:pPr>
              <a:spcAft>
                <a:spcPts val="1000"/>
              </a:spcAft>
            </a:pPr>
            <a:r>
              <a:rPr sz="2000">
                <a:solidFill>
                  <a:srgbClr val="222B33"/>
                </a:solidFill>
                <a:latin typeface="Microsoft YaHei"/>
              </a:rPr>
              <a:t>▪ 重视危害，确认控制措施真的有效</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二氯甲烷等的职业接触标准源于工业上的大量使用，但实验室用量小并不等于风险小：近距离操作、通风柜使用不当、敞口挥发都可能造成短时高浓度接触。</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以为用几毫升就不用防护</a:t>
            </a:r>
          </a:p>
          <a:p>
            <a:pPr>
              <a:spcAft>
                <a:spcPts val="1000"/>
              </a:spcAft>
            </a:pPr>
            <a:r>
              <a:rPr sz="1500">
                <a:solidFill>
                  <a:srgbClr val="222B33"/>
                </a:solidFill>
                <a:latin typeface="Microsoft YaHei"/>
              </a:rPr>
              <a:t>▪ 不看通风柜风速指示就开始操作</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头晕发困就是警报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头晕、发困，是吸入过量的信号</a:t>
            </a:r>
          </a:p>
          <a:p>
            <a:pPr>
              <a:spcAft>
                <a:spcPts val="1000"/>
              </a:spcAft>
            </a:pPr>
            <a:r>
              <a:rPr sz="2000">
                <a:solidFill>
                  <a:srgbClr val="222B33"/>
                </a:solidFill>
                <a:latin typeface="Microsoft YaHei"/>
              </a:rPr>
              <a:t>▪ 马上离开，到空气新鲜的地方</a:t>
            </a:r>
          </a:p>
          <a:p>
            <a:pPr>
              <a:spcAft>
                <a:spcPts val="1000"/>
              </a:spcAft>
            </a:pPr>
            <a:r>
              <a:rPr sz="2000">
                <a:solidFill>
                  <a:srgbClr val="222B33"/>
                </a:solidFill>
                <a:latin typeface="Microsoft YaHei"/>
              </a:rPr>
              <a:t>▪ 报告负责人，查清通风哪里出了问题</a:t>
            </a:r>
          </a:p>
          <a:p>
            <a:pPr>
              <a:spcAft>
                <a:spcPts val="1000"/>
              </a:spcAft>
            </a:pPr>
            <a:r>
              <a:rPr sz="2000">
                <a:solidFill>
                  <a:srgbClr val="222B33"/>
                </a:solidFill>
                <a:latin typeface="Microsoft YaHei"/>
              </a:rPr>
              <a:t>▪ 症状不缓解，及时就医，急救 120</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使用二氯甲烷等挥发性溶剂时，出现头晕、头痛、发困、注意力不集中，说明可能吸入过量。马上停止操作，离开到空气新鲜的地方，并提醒周围的人。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以为是没睡好，坚持做完</a:t>
            </a:r>
          </a:p>
          <a:p>
            <a:pPr>
              <a:spcAft>
                <a:spcPts val="1000"/>
              </a:spcAft>
            </a:pPr>
            <a:r>
              <a:rPr sz="1500">
                <a:solidFill>
                  <a:srgbClr val="222B33"/>
                </a:solidFill>
                <a:latin typeface="Microsoft YaHei"/>
              </a:rPr>
              <a:t>▪ 离开后不报告，下次照样用</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六价铬盐：致癌致敏，防尘单独收集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六价铬盐能致癌，也会致敏</a:t>
            </a:r>
          </a:p>
          <a:p>
            <a:pPr>
              <a:spcAft>
                <a:spcPts val="1000"/>
              </a:spcAft>
            </a:pPr>
            <a:r>
              <a:rPr sz="2000">
                <a:solidFill>
                  <a:srgbClr val="222B33"/>
                </a:solidFill>
                <a:latin typeface="Microsoft YaHei"/>
              </a:rPr>
              <a:t>▪ 会腐蚀皮肤，伤害鼻腔和呼吸道</a:t>
            </a:r>
          </a:p>
          <a:p>
            <a:pPr>
              <a:spcAft>
                <a:spcPts val="1000"/>
              </a:spcAft>
            </a:pPr>
            <a:r>
              <a:rPr sz="2000">
                <a:solidFill>
                  <a:srgbClr val="222B33"/>
                </a:solidFill>
                <a:latin typeface="Microsoft YaHei"/>
              </a:rPr>
              <a:t>▪ 称量粉末在通风柜里，防扬尘，戴手套</a:t>
            </a:r>
          </a:p>
          <a:p>
            <a:pPr>
              <a:spcAft>
                <a:spcPts val="1000"/>
              </a:spcAft>
            </a:pPr>
            <a:r>
              <a:rPr sz="2000">
                <a:solidFill>
                  <a:srgbClr val="222B33"/>
                </a:solidFill>
                <a:latin typeface="Microsoft YaHei"/>
              </a:rPr>
              <a:t>▪ 含铬废液单独收集，按危险废物处置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重铬酸钾、铬酸盐等六价铬化合物是确认的致癌物，同时是强致敏物和氧化剂：接触皮肤可引起溃疡和过敏性皮炎，吸入粉尘或雾滴会损伤鼻腔和呼吸道（GB 30000 系列分类，以安全技术说明书为准）。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在开放台面称量铬盐粉末</a:t>
            </a:r>
          </a:p>
          <a:p>
            <a:pPr>
              <a:spcAft>
                <a:spcPts val="1000"/>
              </a:spcAft>
            </a:pPr>
            <a:r>
              <a:rPr sz="1500">
                <a:solidFill>
                  <a:srgbClr val="222B33"/>
                </a:solidFill>
                <a:latin typeface="Microsoft YaHei"/>
              </a:rPr>
              <a:t>▪ 含铬废液混入普通废液桶</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汞：蒸气看不见，能替代就替代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汞常温就挥发，蒸气看不见、闻不到</a:t>
            </a:r>
          </a:p>
          <a:p>
            <a:pPr>
              <a:spcAft>
                <a:spcPts val="1000"/>
              </a:spcAft>
            </a:pPr>
            <a:r>
              <a:rPr sz="2000">
                <a:solidFill>
                  <a:srgbClr val="222B33"/>
                </a:solidFill>
                <a:latin typeface="Microsoft YaHei"/>
              </a:rPr>
              <a:t>▪ 长期吸入伤神经和肾脏</a:t>
            </a:r>
          </a:p>
          <a:p>
            <a:pPr>
              <a:spcAft>
                <a:spcPts val="1000"/>
              </a:spcAft>
            </a:pPr>
            <a:r>
              <a:rPr sz="2000">
                <a:solidFill>
                  <a:srgbClr val="222B33"/>
                </a:solidFill>
                <a:latin typeface="Microsoft YaHei"/>
              </a:rPr>
              <a:t>▪ 能用无汞仪器，就替换掉</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金属汞在常温下就会挥发，汞蒸气无色无味，人察觉不到。长期吸入会损害神经系统和肾脏，出现手抖、情绪改变、记忆力下降等表现。汞的可溶性化合物毒性更大，有的属于剧毒化学品（按“五双”管理，见第 045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以为没有气味就没有汞蒸气</a:t>
            </a:r>
          </a:p>
          <a:p>
            <a:pPr>
              <a:spcAft>
                <a:spcPts val="1000"/>
              </a:spcAft>
            </a:pPr>
            <a:r>
              <a:rPr sz="1500">
                <a:solidFill>
                  <a:srgbClr val="222B33"/>
                </a:solidFill>
                <a:latin typeface="Microsoft YaHei"/>
              </a:rPr>
              <a:t>▪ 含汞仪器随手放在台边</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汞洒了：别碰、别扫、别吸，先报告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汞洒了会变成到处滚的小珠</a:t>
            </a:r>
          </a:p>
          <a:p>
            <a:pPr>
              <a:spcAft>
                <a:spcPts val="1000"/>
              </a:spcAft>
            </a:pPr>
            <a:r>
              <a:rPr sz="2000">
                <a:solidFill>
                  <a:srgbClr val="222B33"/>
                </a:solidFill>
                <a:latin typeface="Microsoft YaHei"/>
              </a:rPr>
              <a:t>▪ 别用手碰，别扫，别用吸尘器</a:t>
            </a:r>
          </a:p>
          <a:p>
            <a:pPr>
              <a:spcAft>
                <a:spcPts val="1000"/>
              </a:spcAft>
            </a:pPr>
            <a:r>
              <a:rPr sz="2000">
                <a:solidFill>
                  <a:srgbClr val="222B33"/>
                </a:solidFill>
                <a:latin typeface="Microsoft YaHei"/>
              </a:rPr>
              <a:t>▪ 人先离开，隔开现场，保持通风</a:t>
            </a:r>
          </a:p>
          <a:p>
            <a:pPr>
              <a:spcAft>
                <a:spcPts val="1000"/>
              </a:spcAft>
            </a:pPr>
            <a:r>
              <a:rPr sz="2000">
                <a:solidFill>
                  <a:srgbClr val="222B33"/>
                </a:solidFill>
                <a:latin typeface="Microsoft YaHei"/>
              </a:rPr>
              <a:t>▪ 报告老师，由专人用专用工具处理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含汞温度计、压力计破损后，汞会散成许多到处滚动的小珠，钻进缝隙。不要用手碰，不要用扫帚扫，更不能用吸尘器吸——会把汞打散并加速挥发。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用扫帚把汞珠扫到一起</a:t>
            </a:r>
          </a:p>
          <a:p>
            <a:pPr>
              <a:spcAft>
                <a:spcPts val="1000"/>
              </a:spcAft>
            </a:pPr>
            <a:r>
              <a:rPr sz="1500">
                <a:solidFill>
                  <a:srgbClr val="222B33"/>
                </a:solidFill>
                <a:latin typeface="Microsoft YaHei"/>
              </a:rPr>
              <a:t>▪ 用吸尘器清理</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接触重点毒害品，按规定做职业健康检查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长期接触要做职业健康检查</a:t>
            </a:r>
          </a:p>
          <a:p>
            <a:pPr>
              <a:spcAft>
                <a:spcPts val="1000"/>
              </a:spcAft>
            </a:pPr>
            <a:r>
              <a:rPr sz="2000">
                <a:solidFill>
                  <a:srgbClr val="222B33"/>
                </a:solidFill>
                <a:latin typeface="Microsoft YaHei"/>
              </a:rPr>
              <a:t>▪ 上岗前、在岗期间、离岗时都要查</a:t>
            </a:r>
          </a:p>
          <a:p>
            <a:pPr>
              <a:spcAft>
                <a:spcPts val="1000"/>
              </a:spcAft>
            </a:pPr>
            <a:r>
              <a:rPr sz="2000">
                <a:solidFill>
                  <a:srgbClr val="222B33"/>
                </a:solidFill>
                <a:latin typeface="Microsoft YaHei"/>
              </a:rPr>
              <a:t>▪ 结果存档，异常及时调整岗位</a:t>
            </a:r>
          </a:p>
          <a:p>
            <a:pPr>
              <a:spcAft>
                <a:spcPts val="1000"/>
              </a:spcAft>
            </a:pPr>
            <a:r>
              <a:rPr sz="2000">
                <a:solidFill>
                  <a:srgbClr val="222B33"/>
                </a:solidFill>
                <a:latin typeface="Microsoft YaHei"/>
              </a:rPr>
              <a:t>▪ 怀孕、过敏等情况，主动告知老师</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按《中华人民共和国职业病防治法》和 GBZ 188（以现行文本为准），长期、规律接触甲醛、汞、六价铬、苯等职业病危害因素的人员，应按规定进行上岗前、在岗期间和离岗时的职业健康检查，由学校组织到有资质的机构进行，结果存……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觉得学生不需要职业健康检查</a:t>
            </a:r>
          </a:p>
          <a:p>
            <a:pPr>
              <a:spcAft>
                <a:spcPts val="1000"/>
              </a:spcAft>
            </a:pPr>
            <a:r>
              <a:rPr sz="1500">
                <a:solidFill>
                  <a:srgbClr val="222B33"/>
                </a:solidFill>
                <a:latin typeface="Microsoft YaHei"/>
              </a:rPr>
              <a:t>▪ 隐瞒怀孕或过敏史继续接触</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四件事：知危害、识材料、会防护、备应急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毒害品有害，但能安全使用</a:t>
            </a:r>
          </a:p>
          <a:p>
            <a:pPr>
              <a:spcAft>
                <a:spcPts val="1000"/>
              </a:spcAft>
            </a:pPr>
            <a:r>
              <a:rPr sz="2000">
                <a:solidFill>
                  <a:srgbClr val="222B33"/>
                </a:solidFill>
                <a:latin typeface="Microsoft YaHei"/>
              </a:rPr>
              <a:t>▪ 知危害：知道它伤哪里</a:t>
            </a:r>
          </a:p>
          <a:p>
            <a:pPr>
              <a:spcAft>
                <a:spcPts val="1000"/>
              </a:spcAft>
            </a:pPr>
            <a:r>
              <a:rPr sz="2000">
                <a:solidFill>
                  <a:srgbClr val="222B33"/>
                </a:solidFill>
                <a:latin typeface="Microsoft YaHei"/>
              </a:rPr>
              <a:t>▪ 识材料：认清哪些含毒害成分</a:t>
            </a:r>
          </a:p>
          <a:p>
            <a:pPr>
              <a:spcAft>
                <a:spcPts val="1000"/>
              </a:spcAft>
            </a:pPr>
            <a:r>
              <a:rPr sz="2000">
                <a:solidFill>
                  <a:srgbClr val="222B33"/>
                </a:solidFill>
                <a:latin typeface="Microsoft YaHei"/>
              </a:rPr>
              <a:t>▪ 会防护、备应急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重点毒害品虽然有害，但只要做到四件事就能安全使用：知危害——了解急性和慢性危害；识材料——通过标签和说明书认清哪些试剂和材料含毒害成分；会防护——通风柜、个人防护、密闭储存；备应急——熟悉应急程序，出现症状或洒漏立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只记得防护，不熟悉应急</a:t>
            </a:r>
          </a:p>
          <a:p>
            <a:pPr>
              <a:spcAft>
                <a:spcPts val="1000"/>
              </a:spcAft>
            </a:pPr>
            <a:r>
              <a:rPr sz="1500">
                <a:solidFill>
                  <a:srgbClr val="222B33"/>
                </a:solidFill>
                <a:latin typeface="Microsoft YaHei"/>
              </a:rPr>
              <a:t>▪ 因为害怕而隐瞒接触情况</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关于甲醛，下列说法错误的是：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刺激皮肤、眼睛和呼吸道</a:t>
            </a:r>
          </a:p>
          <a:p>
            <a:pPr algn="l"/>
            <a:r>
              <a:rPr sz="1500" b="0">
                <a:solidFill>
                  <a:srgbClr val="222B33"/>
                </a:solidFill>
                <a:latin typeface="Microsoft YaHei"/>
              </a:rPr>
              <a:t>B. 是致癌物</a:t>
            </a:r>
          </a:p>
          <a:p>
            <a:pPr algn="l"/>
            <a:r>
              <a:rPr sz="1500" b="0">
                <a:solidFill>
                  <a:srgbClr val="222B33"/>
                </a:solidFill>
                <a:latin typeface="Microsoft YaHei"/>
              </a:rPr>
              <a:t>C. 稀溶液无害，可以在台面上随意分装</a:t>
            </a:r>
          </a:p>
          <a:p>
            <a:pPr algn="l"/>
            <a:r>
              <a:rPr sz="1500" b="0">
                <a:solidFill>
                  <a:srgbClr val="222B33"/>
                </a:solidFill>
                <a:latin typeface="Microsoft YaHei"/>
              </a:rPr>
              <a:t>D. 职业接触有国家限值</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判断：二氯甲烷不易燃，所以可以在实验台面上敞口挥干。</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使用二氯甲烷时感到头晕、发困，应该：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坚持做完再休息</a:t>
            </a:r>
          </a:p>
          <a:p>
            <a:pPr algn="l"/>
            <a:r>
              <a:rPr sz="1500" b="0">
                <a:solidFill>
                  <a:srgbClr val="222B33"/>
                </a:solidFill>
                <a:latin typeface="Microsoft YaHei"/>
              </a:rPr>
              <a:t>B. 马上离开到空气新鲜处，报告负责人查通风，不缓解就医</a:t>
            </a:r>
          </a:p>
          <a:p>
            <a:pPr algn="l"/>
            <a:r>
              <a:rPr sz="1500" b="0">
                <a:solidFill>
                  <a:srgbClr val="222B33"/>
                </a:solidFill>
                <a:latin typeface="Microsoft YaHei"/>
              </a:rPr>
              <a:t>C. 喝杯咖啡提神</a:t>
            </a:r>
          </a:p>
          <a:p>
            <a:pPr algn="l"/>
            <a:r>
              <a:rPr sz="1500" b="0">
                <a:solidFill>
                  <a:srgbClr val="222B33"/>
                </a:solidFill>
                <a:latin typeface="Microsoft YaHei"/>
              </a:rPr>
              <a:t>D. 戴上口罩继续</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水银温度计打碎，汞珠洒在地上，正确的做法是：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用扫帚扫起来</a:t>
            </a:r>
          </a:p>
          <a:p>
            <a:pPr algn="l"/>
            <a:r>
              <a:rPr sz="1500" b="0">
                <a:solidFill>
                  <a:srgbClr val="222B33"/>
                </a:solidFill>
                <a:latin typeface="Microsoft YaHei"/>
              </a:rPr>
              <a:t>B. 用吸尘器吸</a:t>
            </a:r>
          </a:p>
          <a:p>
            <a:pPr algn="l"/>
            <a:r>
              <a:rPr sz="1500" b="0">
                <a:solidFill>
                  <a:srgbClr val="222B33"/>
                </a:solidFill>
                <a:latin typeface="Microsoft YaHei"/>
              </a:rPr>
              <a:t>C. 人员离开、隔开现场、通风，报告老师，由专人用汞处理包处理</a:t>
            </a:r>
          </a:p>
          <a:p>
            <a:pPr algn="l"/>
            <a:r>
              <a:rPr sz="1500" b="0">
                <a:solidFill>
                  <a:srgbClr val="222B33"/>
                </a:solidFill>
                <a:latin typeface="Microsoft YaHei"/>
              </a:rPr>
              <a:t>D. 用手捡起来</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049 · 重点毒害品安全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049 重点毒害品安全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甲醛的接触监测，采样的是：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实验室门口的空气</a:t>
            </a:r>
          </a:p>
          <a:p>
            <a:pPr algn="l"/>
            <a:r>
              <a:rPr sz="1500" b="0">
                <a:solidFill>
                  <a:srgbClr val="222B33"/>
                </a:solidFill>
                <a:latin typeface="Microsoft YaHei"/>
              </a:rPr>
              <a:t>B. 操作者呼吸带（口鼻周围）的空气</a:t>
            </a:r>
          </a:p>
          <a:p>
            <a:pPr algn="l"/>
            <a:r>
              <a:rPr sz="1500" b="0">
                <a:solidFill>
                  <a:srgbClr val="222B33"/>
                </a:solidFill>
                <a:latin typeface="Microsoft YaHei"/>
              </a:rPr>
              <a:t>C. 通风柜排风口的空气</a:t>
            </a:r>
          </a:p>
          <a:p>
            <a:pPr algn="l"/>
            <a:r>
              <a:rPr sz="1500" b="0">
                <a:solidFill>
                  <a:srgbClr val="222B33"/>
                </a:solidFill>
                <a:latin typeface="Microsoft YaHei"/>
              </a:rPr>
              <a:t>D. 储存柜里的空气</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简答：长期接触甲醛、汞等重点毒害品的人员，在健康管理上有什么要求？</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甲醛和戊二醛：常用而有毒</a:t>
            </a:r>
          </a:p>
          <a:p>
            <a:pPr>
              <a:spcAft>
                <a:spcPts val="800"/>
              </a:spcAft>
            </a:pPr>
            <a:r>
              <a:rPr sz="1500">
                <a:solidFill>
                  <a:srgbClr val="FFFFFF"/>
                </a:solidFill>
                <a:latin typeface="Microsoft YaHei"/>
              </a:rPr>
              <a:t>▪ K2  一接触就刺激：皮肤、眼睛、呼吸道</a:t>
            </a:r>
          </a:p>
          <a:p>
            <a:pPr>
              <a:spcAft>
                <a:spcPts val="800"/>
              </a:spcAft>
            </a:pPr>
            <a:r>
              <a:rPr sz="1500">
                <a:solidFill>
                  <a:srgbClr val="FFFFFF"/>
                </a:solidFill>
                <a:latin typeface="Microsoft YaHei"/>
              </a:rPr>
              <a:t>▪ K3  甲醛致癌，长期接触伤害慢慢显现</a:t>
            </a:r>
          </a:p>
          <a:p>
            <a:pPr>
              <a:spcAft>
                <a:spcPts val="800"/>
              </a:spcAft>
            </a:pPr>
            <a:r>
              <a:rPr sz="1500">
                <a:solidFill>
                  <a:srgbClr val="FFFFFF"/>
                </a:solidFill>
                <a:latin typeface="Microsoft YaHei"/>
              </a:rPr>
              <a:t>▪ K4  有症状，立即报告就医</a:t>
            </a:r>
          </a:p>
          <a:p>
            <a:pPr>
              <a:spcAft>
                <a:spcPts val="800"/>
              </a:spcAft>
            </a:pPr>
            <a:r>
              <a:rPr sz="1500">
                <a:solidFill>
                  <a:srgbClr val="FFFFFF"/>
                </a:solidFill>
                <a:latin typeface="Microsoft YaHei"/>
              </a:rPr>
              <a:t>▪ K5  职业接触有国家标准和限值</a:t>
            </a:r>
          </a:p>
          <a:p>
            <a:pPr>
              <a:spcAft>
                <a:spcPts val="800"/>
              </a:spcAft>
            </a:pPr>
            <a:r>
              <a:rPr sz="1500">
                <a:solidFill>
                  <a:srgbClr val="FFFFFF"/>
                </a:solidFill>
                <a:latin typeface="Microsoft YaHei"/>
              </a:rPr>
              <a:t>▪ K6  接触监测：采呼吸带空气，平均和高峰都要控</a:t>
            </a:r>
          </a:p>
          <a:p>
            <a:pPr>
              <a:spcAft>
                <a:spcPts val="800"/>
              </a:spcAft>
            </a:pPr>
            <a:r>
              <a:rPr sz="1500">
                <a:solidFill>
                  <a:srgbClr val="FFFFFF"/>
                </a:solidFill>
                <a:latin typeface="Microsoft YaHei"/>
              </a:rPr>
              <a:t>▪ K7  先培训，读说明书，守规程</a:t>
            </a:r>
          </a:p>
          <a:p>
            <a:pPr>
              <a:spcAft>
                <a:spcPts val="800"/>
              </a:spcAft>
            </a:pPr>
            <a:r>
              <a:rPr sz="1500">
                <a:solidFill>
                  <a:srgbClr val="FFFFFF"/>
                </a:solidFill>
                <a:latin typeface="Microsoft YaHei"/>
              </a:rPr>
              <a:t>▪ K8  标签写明含甲醛和致癌</a:t>
            </a:r>
          </a:p>
          <a:p>
            <a:pPr>
              <a:spcAft>
                <a:spcPts val="800"/>
              </a:spcAft>
            </a:pPr>
            <a:r>
              <a:rPr sz="1500">
                <a:solidFill>
                  <a:srgbClr val="FFFFFF"/>
                </a:solidFill>
                <a:latin typeface="Microsoft YaHei"/>
              </a:rPr>
              <a:t>▪ K9  风险评估定防护，不让它接触你</a:t>
            </a:r>
          </a:p>
          <a:p>
            <a:pPr>
              <a:spcAft>
                <a:spcPts val="800"/>
              </a:spcAft>
            </a:pPr>
            <a:r>
              <a:rPr sz="1500">
                <a:solidFill>
                  <a:srgbClr val="FFFFFF"/>
                </a:solidFill>
                <a:latin typeface="Microsoft YaHei"/>
              </a:rPr>
              <a:t>▪ K10  通风最重要：在通风柜里开瓶配制</a:t>
            </a:r>
          </a:p>
          <a:p>
            <a:pPr>
              <a:spcAft>
                <a:spcPts val="800"/>
              </a:spcAft>
            </a:pPr>
            <a:r>
              <a:rPr sz="1500">
                <a:solidFill>
                  <a:srgbClr val="FFFFFF"/>
                </a:solidFill>
                <a:latin typeface="Microsoft YaHei"/>
              </a:rPr>
              <a:t>▪ K11  稀释要小心，稀溶液也有害</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K12  密闭储存，少量领用</a:t>
            </a:r>
          </a:p>
          <a:p>
            <a:pPr>
              <a:spcAft>
                <a:spcPts val="800"/>
              </a:spcAft>
            </a:pPr>
            <a:r>
              <a:rPr sz="1500">
                <a:solidFill>
                  <a:srgbClr val="FFFFFF"/>
                </a:solidFill>
                <a:latin typeface="Microsoft YaHei"/>
              </a:rPr>
              <a:t>▪ K13  应急程序，平时就要熟悉</a:t>
            </a:r>
          </a:p>
          <a:p>
            <a:pPr>
              <a:spcAft>
                <a:spcPts val="800"/>
              </a:spcAft>
            </a:pPr>
            <a:r>
              <a:rPr sz="1500">
                <a:solidFill>
                  <a:srgbClr val="FFFFFF"/>
                </a:solidFill>
                <a:latin typeface="Microsoft YaHei"/>
              </a:rPr>
              <a:t>▪ K14  二氯甲烷：危害容易被小看</a:t>
            </a:r>
          </a:p>
          <a:p>
            <a:pPr>
              <a:spcAft>
                <a:spcPts val="800"/>
              </a:spcAft>
            </a:pPr>
            <a:r>
              <a:rPr sz="1500">
                <a:solidFill>
                  <a:srgbClr val="FFFFFF"/>
                </a:solidFill>
                <a:latin typeface="Microsoft YaHei"/>
              </a:rPr>
              <a:t>▪ K15  易挥发、蒸气下沉，在通风柜里用</a:t>
            </a:r>
          </a:p>
          <a:p>
            <a:pPr>
              <a:spcAft>
                <a:spcPts val="800"/>
              </a:spcAft>
            </a:pPr>
            <a:r>
              <a:rPr sz="1500">
                <a:solidFill>
                  <a:srgbClr val="FFFFFF"/>
                </a:solidFill>
                <a:latin typeface="Microsoft YaHei"/>
              </a:rPr>
              <a:t>▪ K16  用量小，规矩不减</a:t>
            </a:r>
          </a:p>
          <a:p>
            <a:pPr>
              <a:spcAft>
                <a:spcPts val="800"/>
              </a:spcAft>
            </a:pPr>
            <a:r>
              <a:rPr sz="1500">
                <a:solidFill>
                  <a:srgbClr val="FFFFFF"/>
                </a:solidFill>
                <a:latin typeface="Microsoft YaHei"/>
              </a:rPr>
              <a:t>▪ K17  头晕发困就是警报</a:t>
            </a:r>
          </a:p>
          <a:p>
            <a:pPr>
              <a:spcAft>
                <a:spcPts val="800"/>
              </a:spcAft>
            </a:pPr>
            <a:r>
              <a:rPr sz="1500">
                <a:solidFill>
                  <a:srgbClr val="FFFFFF"/>
                </a:solidFill>
                <a:latin typeface="Microsoft YaHei"/>
              </a:rPr>
              <a:t>▪ S1  六价铬盐：致癌致敏，防尘单独收集</a:t>
            </a:r>
          </a:p>
          <a:p>
            <a:pPr>
              <a:spcAft>
                <a:spcPts val="800"/>
              </a:spcAft>
            </a:pPr>
            <a:r>
              <a:rPr sz="1500">
                <a:solidFill>
                  <a:srgbClr val="FFFFFF"/>
                </a:solidFill>
                <a:latin typeface="Microsoft YaHei"/>
              </a:rPr>
              <a:t>▪ S2  汞：蒸气看不见，能替代就替代</a:t>
            </a:r>
          </a:p>
          <a:p>
            <a:pPr>
              <a:spcAft>
                <a:spcPts val="800"/>
              </a:spcAft>
            </a:pPr>
            <a:r>
              <a:rPr sz="1500">
                <a:solidFill>
                  <a:srgbClr val="FFFFFF"/>
                </a:solidFill>
                <a:latin typeface="Microsoft YaHei"/>
              </a:rPr>
              <a:t>▪ K18  汞洒了：别碰、别扫、别吸，先报告</a:t>
            </a:r>
          </a:p>
          <a:p>
            <a:pPr>
              <a:spcAft>
                <a:spcPts val="800"/>
              </a:spcAft>
            </a:pPr>
            <a:r>
              <a:rPr sz="1500">
                <a:solidFill>
                  <a:srgbClr val="FFFFFF"/>
                </a:solidFill>
                <a:latin typeface="Microsoft YaHei"/>
              </a:rPr>
              <a:t>▪ S3  接触重点毒害品，按规定做职业健康检查</a:t>
            </a:r>
          </a:p>
          <a:p>
            <a:pPr>
              <a:spcAft>
                <a:spcPts val="800"/>
              </a:spcAft>
            </a:pPr>
            <a:r>
              <a:rPr sz="1500">
                <a:solidFill>
                  <a:srgbClr val="FFFFFF"/>
                </a:solidFill>
                <a:latin typeface="Microsoft YaHei"/>
              </a:rPr>
              <a:t>▪ K19  四件事：知危害、识材料、会防护、备应急</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化学品取用、转移与运输</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62 镜）　适用对象：全体进入化学、生物、材料、环境、医学等涉及化学品实验室的高校本科生、研究生和教职工（必修）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能做到取用前逐字核对名称和浓度，不尝、不凑闻，需要时扇闻，移液一律用洗耳球或移液器，严禁用嘴吸。</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能做到按需少取、不把移液管伸进原瓶、不把多余试剂倒回原瓶；倾倒时标签朝手心、瓶盖倒放、动作果断，倒完擦净瓶外并盖紧；称量粉末防扬尘。</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能做到化学品不随意带出实验室，校内转移使用二次容器、提篮或稳固推车。</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能说出危险货物运输要规范包装、粘贴包装标志、由有资质的单位和培训合格的人员承担，不夹带、不用普通快递寄递。</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日起施行）及《危险化学品安全管理条例》（以现行文本为准）：学校、科研机构使用危险化学品的安全责任；危险化学品运输须由具备条件的单位承担</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30000 系列（以现行文本为准）《化学品分类和标签规范》、GB 15258-2009（以现行文本为准）《化学品安全标签编写规定》：化学品名称、象形图和防范说明的识别</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190-2009（以现行文本为准）《危险货物包装标志》：危险货物运输包装上的标志</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6944-2025（以现行文本为准）《危险货物分类和品名编号》、GB 12268-2025（以现行文本为准）《危险货物品名表》：危险货物的分类和品名</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《危险货物道路运输安全管理办法》（以现行文本为准）：危险货物道路运输的托运、承运、包装和人员要求</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号，以现行文本为准）及高校实验室安全检查项目表、本校危险化学品领用和转移管理制度</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取用前核对名称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化学品名称长且相似，一字之差危害不同</a:t>
            </a:r>
          </a:p>
          <a:p>
            <a:pPr>
              <a:spcAft>
                <a:spcPts val="1000"/>
              </a:spcAft>
            </a:pPr>
            <a:r>
              <a:rPr sz="2000">
                <a:solidFill>
                  <a:srgbClr val="222B33"/>
                </a:solidFill>
                <a:latin typeface="Microsoft YaHei"/>
              </a:rPr>
              <a:t>▪ 取用前逐字核对名称、浓度和规格</a:t>
            </a:r>
          </a:p>
          <a:p>
            <a:pPr>
              <a:spcAft>
                <a:spcPts val="1000"/>
              </a:spcAft>
            </a:pPr>
            <a:r>
              <a:rPr sz="2000">
                <a:solidFill>
                  <a:srgbClr val="222B33"/>
                </a:solidFill>
                <a:latin typeface="Microsoft YaHei"/>
              </a:rPr>
              <a:t>▪ 标签不清或无标签的不用，先报告</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很多化学品名称又长又拗口，名称相近的试剂可能只差一个字或一个前缀，危害却完全不同。取错试剂可能导致剧烈反应、中毒或实验失败。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凭瓶子位置和颜色取用，不看标签</a:t>
            </a:r>
          </a:p>
          <a:p>
            <a:pPr>
              <a:spcAft>
                <a:spcPts val="1000"/>
              </a:spcAft>
            </a:pPr>
            <a:r>
              <a:rPr sz="1500">
                <a:solidFill>
                  <a:srgbClr val="222B33"/>
                </a:solidFill>
                <a:latin typeface="Microsoft YaHei"/>
              </a:rPr>
              <a:t>▪ 名称相近的试剂没逐字核对就用</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不尝不凑闻，需要时扇闻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绝不用尝的方法检验化学品</a:t>
            </a:r>
          </a:p>
          <a:p>
            <a:pPr>
              <a:spcAft>
                <a:spcPts val="1000"/>
              </a:spcAft>
            </a:pPr>
            <a:r>
              <a:rPr sz="1700">
                <a:solidFill>
                  <a:srgbClr val="222B33"/>
                </a:solidFill>
                <a:latin typeface="Microsoft YaHei"/>
              </a:rPr>
              <a:t>▪ 不把鼻子凑到瓶口闻</a:t>
            </a:r>
          </a:p>
          <a:p>
            <a:pPr>
              <a:spcAft>
                <a:spcPts val="1000"/>
              </a:spcAft>
            </a:pPr>
            <a:r>
              <a:rPr sz="1700">
                <a:solidFill>
                  <a:srgbClr val="222B33"/>
                </a:solidFill>
                <a:latin typeface="Microsoft YaHei"/>
              </a:rPr>
              <a:t>▪ 需要闻气味时，远离瓶口用手轻轻扇闻</a:t>
            </a:r>
          </a:p>
          <a:p>
            <a:pPr>
              <a:spcAft>
                <a:spcPts val="1000"/>
              </a:spcAft>
            </a:pPr>
            <a:r>
              <a:rPr sz="1700">
                <a:solidFill>
                  <a:srgbClr val="222B33"/>
                </a:solidFill>
                <a:latin typeface="Microsoft YaHei"/>
              </a:rPr>
              <a:t>▪ 有毒、易挥发的在通风柜里取用</a:t>
            </a:r>
          </a:p>
          <a:p>
            <a:pPr>
              <a:spcAft>
                <a:spcPts val="1000"/>
              </a:spcAft>
            </a:pPr>
            <a:r>
              <a:rPr sz="1700">
                <a:solidFill>
                  <a:srgbClr val="222B33"/>
                </a:solidFill>
                <a:latin typeface="Microsoft YaHei"/>
              </a:rPr>
              <a:t>▪ 笔、手和标签都别往嘴边放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实验室里的任何化学品都不能用嘴尝来鉴别，也不能把鼻子凑到容器口直接闻，以免吸入高浓度的有毒、刺激性蒸气。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凑近瓶口深吸辨别气味</a:t>
            </a:r>
          </a:p>
          <a:p>
            <a:pPr>
              <a:spcAft>
                <a:spcPts val="1000"/>
              </a:spcAft>
            </a:pPr>
            <a:r>
              <a:rPr sz="1500">
                <a:solidFill>
                  <a:srgbClr val="222B33"/>
                </a:solidFill>
                <a:latin typeface="Microsoft YaHei"/>
              </a:rPr>
              <a:t>▪ 在台面上敞开取用挥发性有毒试剂</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移液不用嘴吸，用洗耳球或移液器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移液严禁用嘴吸，任何液体都不行</a:t>
            </a:r>
          </a:p>
          <a:p>
            <a:pPr>
              <a:spcAft>
                <a:spcPts val="1000"/>
              </a:spcAft>
            </a:pPr>
            <a:r>
              <a:rPr sz="1700">
                <a:solidFill>
                  <a:srgbClr val="222B33"/>
                </a:solidFill>
                <a:latin typeface="Microsoft YaHei"/>
              </a:rPr>
              <a:t>▪ 一失手，试剂会吸进嘴里</a:t>
            </a:r>
          </a:p>
          <a:p>
            <a:pPr>
              <a:spcAft>
                <a:spcPts val="1000"/>
              </a:spcAft>
            </a:pPr>
            <a:r>
              <a:rPr sz="1700">
                <a:solidFill>
                  <a:srgbClr val="222B33"/>
                </a:solidFill>
                <a:latin typeface="Microsoft YaHei"/>
              </a:rPr>
              <a:t>▪ 用洗耳球、移液辅助器或移液器</a:t>
            </a:r>
          </a:p>
          <a:p>
            <a:pPr>
              <a:spcAft>
                <a:spcPts val="1000"/>
              </a:spcAft>
            </a:pPr>
            <a:r>
              <a:rPr sz="1700">
                <a:solidFill>
                  <a:srgbClr val="222B33"/>
                </a:solidFill>
                <a:latin typeface="Microsoft YaHei"/>
              </a:rPr>
              <a:t>▪ 化学、生物实验，规矩都一样</a:t>
            </a:r>
          </a:p>
          <a:p>
            <a:pPr>
              <a:spcAft>
                <a:spcPts val="1000"/>
              </a:spcAft>
            </a:pPr>
            <a:r>
              <a:rPr sz="1700">
                <a:solidFill>
                  <a:srgbClr val="222B33"/>
                </a:solidFill>
                <a:latin typeface="Microsoft YaHei"/>
              </a:rPr>
              <a:t>▪ 碎玻璃移液管放进锐器盒</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用嘴吸移液管是实验室的严禁行为：吸力稍大或注意力不集中，液体会直接进入口腔，造成化学灼伤、中毒或感染。这一要求对所有液体（包括清水、缓冲液）和所有实验室（化学、生物，包括一级生物安全实验室）都适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觉得是清水就用嘴吸</a:t>
            </a:r>
          </a:p>
          <a:p>
            <a:pPr>
              <a:spcAft>
                <a:spcPts val="1000"/>
              </a:spcAft>
            </a:pPr>
            <a:r>
              <a:rPr sz="1500">
                <a:solidFill>
                  <a:srgbClr val="222B33"/>
                </a:solidFill>
                <a:latin typeface="Microsoft YaHei"/>
              </a:rPr>
              <a:t>▪ 没有洗耳球就“偶尔吸一下”</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按需少取，不伸进原瓶、不倒回原瓶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移液管不直接伸进原试剂瓶</a:t>
            </a:r>
          </a:p>
          <a:p>
            <a:pPr>
              <a:spcAft>
                <a:spcPts val="1000"/>
              </a:spcAft>
            </a:pPr>
            <a:r>
              <a:rPr sz="2000">
                <a:solidFill>
                  <a:srgbClr val="222B33"/>
                </a:solidFill>
                <a:latin typeface="Microsoft YaHei"/>
              </a:rPr>
              <a:t>▪ 先倒少量到小烧杯，再从中移取</a:t>
            </a:r>
          </a:p>
          <a:p>
            <a:pPr>
              <a:spcAft>
                <a:spcPts val="1000"/>
              </a:spcAft>
            </a:pPr>
            <a:r>
              <a:rPr sz="2000">
                <a:solidFill>
                  <a:srgbClr val="222B33"/>
                </a:solidFill>
                <a:latin typeface="Microsoft YaHei"/>
              </a:rPr>
              <a:t>▪ 多余试剂不倒回原瓶，防止污染</a:t>
            </a:r>
          </a:p>
          <a:p>
            <a:pPr>
              <a:spcAft>
                <a:spcPts val="1000"/>
              </a:spcAft>
            </a:pPr>
            <a:r>
              <a:rPr sz="2000">
                <a:solidFill>
                  <a:srgbClr val="222B33"/>
                </a:solidFill>
                <a:latin typeface="Microsoft YaHei"/>
              </a:rPr>
              <a:t>▪ 按需少取，剩余的按规定处理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移液管、药匙直接伸进原试剂瓶，会把杂质、水分或其他试剂带入整瓶，造成污染，甚至引发反应。正确做法是：估计用量，先把略多于所需的量倒入干净的小烧杯或称量容器，再从中移取。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把用过的移液管伸回原瓶再吸</a:t>
            </a:r>
          </a:p>
          <a:p>
            <a:pPr>
              <a:spcAft>
                <a:spcPts val="1000"/>
              </a:spcAft>
            </a:pPr>
            <a:r>
              <a:rPr sz="1500">
                <a:solidFill>
                  <a:srgbClr val="222B33"/>
                </a:solidFill>
                <a:latin typeface="Microsoft YaHei"/>
              </a:rPr>
              <a:t>▪ 把没用完的试剂倒回原瓶</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倾倒：标签朝手心，瓶盖倒放，动作果断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倒液体时标签朝手心，不污染标签</a:t>
            </a:r>
          </a:p>
          <a:p>
            <a:pPr>
              <a:spcAft>
                <a:spcPts val="1000"/>
              </a:spcAft>
            </a:pPr>
            <a:r>
              <a:rPr sz="2000">
                <a:solidFill>
                  <a:srgbClr val="222B33"/>
                </a:solidFill>
                <a:latin typeface="Microsoft YaHei"/>
              </a:rPr>
              <a:t>▪ 瓶盖倒放，不沾污台面</a:t>
            </a:r>
          </a:p>
          <a:p>
            <a:pPr>
              <a:spcAft>
                <a:spcPts val="1000"/>
              </a:spcAft>
            </a:pPr>
            <a:r>
              <a:rPr sz="2000">
                <a:solidFill>
                  <a:srgbClr val="222B33"/>
                </a:solidFill>
                <a:latin typeface="Microsoft YaHei"/>
              </a:rPr>
              <a:t>▪ 小口容器用漏斗，下面垫托盘</a:t>
            </a:r>
          </a:p>
          <a:p>
            <a:pPr>
              <a:spcAft>
                <a:spcPts val="1000"/>
              </a:spcAft>
            </a:pPr>
            <a:r>
              <a:rPr sz="2000">
                <a:solidFill>
                  <a:srgbClr val="222B33"/>
                </a:solidFill>
                <a:latin typeface="Microsoft YaHei"/>
              </a:rPr>
              <a:t>▪ 起倒、收尾干脆，防止液体顺壁流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倾倒液体时握住瓶身，标签朝向手心，这样即使有液体沿瓶口流下也不会腐蚀、污染标签，保证后来的人能看清名称和危害。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标签朝下倒，标签被腐蚀看不清</a:t>
            </a:r>
          </a:p>
          <a:p>
            <a:pPr>
              <a:spcAft>
                <a:spcPts val="1000"/>
              </a:spcAft>
            </a:pPr>
            <a:r>
              <a:rPr sz="1500">
                <a:solidFill>
                  <a:srgbClr val="222B33"/>
                </a:solidFill>
                <a:latin typeface="Microsoft YaHei"/>
              </a:rPr>
              <a:t>▪ 瓶盖口朝下放在台面上</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倒完擦净瓶外，随手盖紧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瓶口挂着的液滴不能不管</a:t>
            </a:r>
          </a:p>
          <a:p>
            <a:pPr>
              <a:spcAft>
                <a:spcPts val="1000"/>
              </a:spcAft>
            </a:pPr>
            <a:r>
              <a:rPr sz="2000">
                <a:solidFill>
                  <a:srgbClr val="222B33"/>
                </a:solidFill>
                <a:latin typeface="Microsoft YaHei"/>
              </a:rPr>
              <a:t>▪ 擦净瓶口和瓶身，防止下一个人接触</a:t>
            </a:r>
          </a:p>
          <a:p>
            <a:pPr>
              <a:spcAft>
                <a:spcPts val="1000"/>
              </a:spcAft>
            </a:pPr>
            <a:r>
              <a:rPr sz="2000">
                <a:solidFill>
                  <a:srgbClr val="222B33"/>
                </a:solidFill>
                <a:latin typeface="Microsoft YaHei"/>
              </a:rPr>
              <a:t>▪ 随开随盖，用完盖紧放回原处</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倒完液体后，瓶口常挂着液滴，顺瓶壁流下会形成小洒漏，污染台面和试剂架，下一个拿瓶子的人可能直接接触到化学品。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瓶外留着流痕就放回架上</a:t>
            </a:r>
          </a:p>
          <a:p>
            <a:pPr>
              <a:spcAft>
                <a:spcPts val="1000"/>
              </a:spcAft>
            </a:pPr>
            <a:r>
              <a:rPr sz="1500">
                <a:solidFill>
                  <a:srgbClr val="222B33"/>
                </a:solidFill>
                <a:latin typeface="Microsoft YaHei"/>
              </a:rPr>
              <a:t>▪ 瓶盖只是搭在瓶口没拧紧</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称量粉末防扬尘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称粉末要防止粉尘扬起</a:t>
            </a:r>
          </a:p>
          <a:p>
            <a:pPr>
              <a:spcAft>
                <a:spcPts val="1000"/>
              </a:spcAft>
            </a:pPr>
            <a:r>
              <a:rPr sz="2000">
                <a:solidFill>
                  <a:srgbClr val="222B33"/>
                </a:solidFill>
                <a:latin typeface="Microsoft YaHei"/>
              </a:rPr>
              <a:t>▪ 轻取轻放，在天平防风罩内称量</a:t>
            </a:r>
          </a:p>
          <a:p>
            <a:pPr>
              <a:spcAft>
                <a:spcPts val="1000"/>
              </a:spcAft>
            </a:pPr>
            <a:r>
              <a:rPr sz="2000">
                <a:solidFill>
                  <a:srgbClr val="222B33"/>
                </a:solidFill>
                <a:latin typeface="Microsoft YaHei"/>
              </a:rPr>
              <a:t>▪ 有毒粉末在通风设施里称，戴好防护</a:t>
            </a:r>
          </a:p>
          <a:p>
            <a:pPr>
              <a:spcAft>
                <a:spcPts val="1000"/>
              </a:spcAft>
            </a:pPr>
            <a:r>
              <a:rPr sz="2000">
                <a:solidFill>
                  <a:srgbClr val="222B33"/>
                </a:solidFill>
                <a:latin typeface="Microsoft YaHei"/>
              </a:rPr>
              <a:t>▪ 称完清理天平，配好的母液贴标签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粉末状化学品容易在取用和称量时扬起，被吸入或落到皮肤、台面上。称量前先查阅安全技术说明书，穿戴实验服、手套和护目镜。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在敞开天平上快速倾倒粉末</a:t>
            </a:r>
          </a:p>
          <a:p>
            <a:pPr>
              <a:spcAft>
                <a:spcPts val="1000"/>
              </a:spcAft>
            </a:pPr>
            <a:r>
              <a:rPr sz="1500">
                <a:solidFill>
                  <a:srgbClr val="222B33"/>
                </a:solidFill>
                <a:latin typeface="Microsoft YaHei"/>
              </a:rPr>
              <a:t>▪ 称完不清理，粉末留在天平上</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化学品不随意带出实验室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化学品不能随身带出实验室</a:t>
            </a:r>
          </a:p>
          <a:p>
            <a:pPr>
              <a:spcAft>
                <a:spcPts val="1000"/>
              </a:spcAft>
            </a:pPr>
            <a:r>
              <a:rPr sz="2000">
                <a:solidFill>
                  <a:srgbClr val="222B33"/>
                </a:solidFill>
                <a:latin typeface="Microsoft YaHei"/>
              </a:rPr>
              <a:t>▪ 不带回宿舍，不带进公共场所</a:t>
            </a:r>
          </a:p>
          <a:p>
            <a:pPr>
              <a:spcAft>
                <a:spcPts val="1000"/>
              </a:spcAft>
            </a:pPr>
            <a:r>
              <a:rPr sz="2000">
                <a:solidFill>
                  <a:srgbClr val="222B33"/>
                </a:solidFill>
                <a:latin typeface="Microsoft YaHei"/>
              </a:rPr>
              <a:t>▪ 确需转移，先经老师同意并登记</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化学品只能在实验室内按规定使用和存放，不得装进书包、口袋私自带出实验室，更不能带回宿舍、教室、食堂等公共场所。私带化学品既有中毒、火灾风险，也违反危险化学品管理规定。</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把少量试剂装进小瓶带回宿舍</a:t>
            </a:r>
          </a:p>
          <a:p>
            <a:pPr>
              <a:spcAft>
                <a:spcPts val="1000"/>
              </a:spcAft>
            </a:pPr>
            <a:r>
              <a:rPr sz="1500">
                <a:solidFill>
                  <a:srgbClr val="222B33"/>
                </a:solidFill>
                <a:latin typeface="Microsoft YaHei"/>
              </a:rPr>
              <a:t>▪ 不登记就把试剂借给其他实验室</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校内转移：二次容器和提篮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实验室之间转移，用防破碎的二次容器</a:t>
            </a:r>
          </a:p>
          <a:p>
            <a:pPr>
              <a:spcAft>
                <a:spcPts val="1000"/>
              </a:spcAft>
            </a:pPr>
            <a:r>
              <a:rPr sz="1700">
                <a:solidFill>
                  <a:srgbClr val="222B33"/>
                </a:solidFill>
                <a:latin typeface="Microsoft YaHei"/>
              </a:rPr>
              <a:t>▪ 瓶子破了也能兜住不洒</a:t>
            </a:r>
          </a:p>
          <a:p>
            <a:pPr>
              <a:spcAft>
                <a:spcPts val="1000"/>
              </a:spcAft>
            </a:pPr>
            <a:r>
              <a:rPr sz="1700">
                <a:solidFill>
                  <a:srgbClr val="222B33"/>
                </a:solidFill>
                <a:latin typeface="Microsoft YaHei"/>
              </a:rPr>
              <a:t>▪ 用带隔挡的提篮，双手平稳拿</a:t>
            </a:r>
          </a:p>
          <a:p>
            <a:pPr>
              <a:spcAft>
                <a:spcPts val="1000"/>
              </a:spcAft>
            </a:pPr>
            <a:r>
              <a:rPr sz="1700">
                <a:solidFill>
                  <a:srgbClr val="222B33"/>
                </a:solidFill>
                <a:latin typeface="Microsoft YaHei"/>
              </a:rPr>
              <a:t>▪ 单瓶托住瓶底，不拎瓶颈</a:t>
            </a:r>
          </a:p>
          <a:p>
            <a:pPr>
              <a:spcAft>
                <a:spcPts val="1000"/>
              </a:spcAft>
            </a:pPr>
            <a:r>
              <a:rPr sz="1700">
                <a:solidFill>
                  <a:srgbClr val="222B33"/>
                </a:solidFill>
                <a:latin typeface="Microsoft YaHei"/>
              </a:rPr>
              <a:t>▪ 一次别拿太多，不叠放</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在实验室之间、楼层之间转移化学品时，把试剂瓶放进防破碎的二次容器（如带盖的塑料桶、橡胶提桶、专用防护套），万一瓶子破裂，液体也能被兜住，不洒到走廊和楼梯上。易燃易爆化学品更要使用二次容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抱着几个瓶子走长路</a:t>
            </a:r>
          </a:p>
          <a:p>
            <a:pPr>
              <a:spcAft>
                <a:spcPts val="1000"/>
              </a:spcAft>
            </a:pPr>
            <a:r>
              <a:rPr sz="1500">
                <a:solidFill>
                  <a:srgbClr val="222B33"/>
                </a:solidFill>
                <a:latin typeface="Microsoft YaHei"/>
              </a:rPr>
              <a:t>▪ 单手拎着瓶颈上下楼</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多瓶搬运用稳固推车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瓶子多就用带护边的推车</a:t>
            </a:r>
          </a:p>
          <a:p>
            <a:pPr>
              <a:spcAft>
                <a:spcPts val="1000"/>
              </a:spcAft>
            </a:pPr>
            <a:r>
              <a:rPr sz="2000">
                <a:solidFill>
                  <a:srgbClr val="222B33"/>
                </a:solidFill>
                <a:latin typeface="Microsoft YaHei"/>
              </a:rPr>
              <a:t>▪ 仪器车、小推车容易翻，不能用</a:t>
            </a:r>
          </a:p>
          <a:p>
            <a:pPr>
              <a:spcAft>
                <a:spcPts val="1000"/>
              </a:spcAft>
            </a:pPr>
            <a:r>
              <a:rPr sz="2000">
                <a:solidFill>
                  <a:srgbClr val="222B33"/>
                </a:solidFill>
                <a:latin typeface="Microsoft YaHei"/>
              </a:rPr>
              <a:t>▪ 地面不平用大轮稳固推车</a:t>
            </a:r>
          </a:p>
          <a:p>
            <a:pPr>
              <a:spcAft>
                <a:spcPts val="1000"/>
              </a:spcAft>
            </a:pPr>
            <a:r>
              <a:rPr sz="2000">
                <a:solidFill>
                  <a:srgbClr val="222B33"/>
                </a:solidFill>
                <a:latin typeface="Microsoft YaHei"/>
              </a:rPr>
              <a:t>▪ 慢慢推，走通畅的路线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需要搬运多瓶或较重的化学品时，不要抱着走长路，使用带护边（护栏）、轮子较大、重心低的化学品推车，瓶子放在托盘或二次容器里，防止滑落。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用无护边的小推车运试剂</a:t>
            </a:r>
          </a:p>
          <a:p>
            <a:pPr>
              <a:spcAft>
                <a:spcPts val="1000"/>
              </a:spcAft>
            </a:pPr>
            <a:r>
              <a:rPr sz="1500">
                <a:solidFill>
                  <a:srgbClr val="222B33"/>
                </a:solidFill>
                <a:latin typeface="Microsoft YaHei"/>
              </a:rPr>
              <a:t>▪ 推车堆得很高、走得很快</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运输：规范包装、标志和专业人员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危险货物包装要合规，粘贴包装标志</a:t>
            </a:r>
          </a:p>
          <a:p>
            <a:pPr>
              <a:spcAft>
                <a:spcPts val="1000"/>
              </a:spcAft>
            </a:pPr>
            <a:r>
              <a:rPr sz="1700">
                <a:solidFill>
                  <a:srgbClr val="222B33"/>
                </a:solidFill>
                <a:latin typeface="Microsoft YaHei"/>
              </a:rPr>
              <a:t>▪ 封装可靠，破损渗漏的不能运</a:t>
            </a:r>
          </a:p>
          <a:p>
            <a:pPr>
              <a:spcAft>
                <a:spcPts val="1000"/>
              </a:spcAft>
            </a:pPr>
            <a:r>
              <a:rPr sz="1700">
                <a:solidFill>
                  <a:srgbClr val="222B33"/>
                </a:solidFill>
                <a:latin typeface="Microsoft YaHei"/>
              </a:rPr>
              <a:t>▪ 不随身夹带，不用普通快递寄递</a:t>
            </a:r>
          </a:p>
          <a:p>
            <a:pPr>
              <a:spcAft>
                <a:spcPts val="1000"/>
              </a:spcAft>
            </a:pPr>
            <a:r>
              <a:rPr sz="1700">
                <a:solidFill>
                  <a:srgbClr val="222B33"/>
                </a:solidFill>
                <a:latin typeface="Microsoft YaHei"/>
              </a:rPr>
              <a:t>▪ 需要运输，通过学校走正规渠道</a:t>
            </a:r>
          </a:p>
          <a:p>
            <a:pPr>
              <a:spcAft>
                <a:spcPts val="1000"/>
              </a:spcAft>
            </a:pPr>
            <a:r>
              <a:rPr sz="1700">
                <a:solidFill>
                  <a:srgbClr val="222B33"/>
                </a:solidFill>
                <a:latin typeface="Microsoft YaHei"/>
              </a:rPr>
              <a:t>▪ 由培训合格的人员操作，懂得应急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校外运输的危险化学品属于危险货物，要按国家标准分类（GB 6944-2025、GB 12268-2025，以现行文本为准），使用合规的包装并可靠封装，包装上粘贴危险货物包装标志（GB 190-2009，以现行文本为准……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把试剂装进行李箱带上高铁</a:t>
            </a:r>
          </a:p>
          <a:p>
            <a:pPr>
              <a:spcAft>
                <a:spcPts val="1000"/>
              </a:spcAft>
            </a:pPr>
            <a:r>
              <a:rPr sz="1500">
                <a:solidFill>
                  <a:srgbClr val="222B33"/>
                </a:solidFill>
                <a:latin typeface="Microsoft YaHei"/>
              </a:rPr>
              <a:t>▪ 用普通快递寄送化学品</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用玻璃移液管吸取缓冲液，正确的做法是：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缓冲液无毒，可以用嘴吸</a:t>
            </a:r>
          </a:p>
          <a:p>
            <a:pPr algn="l"/>
            <a:r>
              <a:rPr sz="1500" b="0">
                <a:solidFill>
                  <a:srgbClr val="222B33"/>
                </a:solidFill>
                <a:latin typeface="Microsoft YaHei"/>
              </a:rPr>
              <a:t>B. 用洗耳球或移液辅助器</a:t>
            </a:r>
          </a:p>
          <a:p>
            <a:pPr algn="l"/>
            <a:r>
              <a:rPr sz="1500" b="0">
                <a:solidFill>
                  <a:srgbClr val="222B33"/>
                </a:solidFill>
                <a:latin typeface="Microsoft YaHei"/>
              </a:rPr>
              <a:t>C. 先用嘴吸一点再换洗耳球</a:t>
            </a:r>
          </a:p>
          <a:p>
            <a:pPr algn="l"/>
            <a:r>
              <a:rPr sz="1500" b="0">
                <a:solidFill>
                  <a:srgbClr val="222B33"/>
                </a:solidFill>
                <a:latin typeface="Microsoft YaHei"/>
              </a:rPr>
              <a:t>D. 直接把移液管伸进原试剂瓶用嘴吸</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判断：取出的试剂没用完，只要没被污染，可以倒回原瓶。</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倾倒试剂时，下列做法正确的是：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标签朝下</a:t>
            </a:r>
          </a:p>
          <a:p>
            <a:pPr algn="l"/>
            <a:r>
              <a:rPr sz="1500" b="0">
                <a:solidFill>
                  <a:srgbClr val="222B33"/>
                </a:solidFill>
                <a:latin typeface="Microsoft YaHei"/>
              </a:rPr>
              <a:t>B. 瓶盖口朝下放在台面</a:t>
            </a:r>
          </a:p>
          <a:p>
            <a:pPr algn="l"/>
            <a:r>
              <a:rPr sz="1500" b="0">
                <a:solidFill>
                  <a:srgbClr val="222B33"/>
                </a:solidFill>
                <a:latin typeface="Microsoft YaHei"/>
              </a:rPr>
              <a:t>C. 标签朝手心，瓶盖倒放，倒完擦净瓶外并盖紧</a:t>
            </a:r>
          </a:p>
          <a:p>
            <a:pPr algn="l"/>
            <a:r>
              <a:rPr sz="1500" b="0">
                <a:solidFill>
                  <a:srgbClr val="222B33"/>
                </a:solidFill>
                <a:latin typeface="Microsoft YaHei"/>
              </a:rPr>
              <a:t>D. 慢慢犹豫地倒</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需要把几瓶溶剂从一楼实验室送到三楼实验室，最合适的方式是：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抱在怀里走楼梯</a:t>
            </a:r>
          </a:p>
          <a:p>
            <a:pPr algn="l"/>
            <a:r>
              <a:rPr sz="1500" b="0">
                <a:solidFill>
                  <a:srgbClr val="222B33"/>
                </a:solidFill>
                <a:latin typeface="Microsoft YaHei"/>
              </a:rPr>
              <a:t>B. 单手拎着瓶颈</a:t>
            </a:r>
          </a:p>
          <a:p>
            <a:pPr algn="l"/>
            <a:r>
              <a:rPr sz="1500" b="0">
                <a:solidFill>
                  <a:srgbClr val="222B33"/>
                </a:solidFill>
                <a:latin typeface="Microsoft YaHei"/>
              </a:rPr>
              <a:t>C. 装进带隔挡的提篮或二次容器，瓶多时用带护边的推车</a:t>
            </a:r>
          </a:p>
          <a:p>
            <a:pPr algn="l"/>
            <a:r>
              <a:rPr sz="1500" b="0">
                <a:solidFill>
                  <a:srgbClr val="222B33"/>
                </a:solidFill>
                <a:latin typeface="Microsoft YaHei"/>
              </a:rPr>
              <a:t>D. 用普通仪器车快速推过去</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050 · 化学品取用、转移与运输</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050 化学品取用、转移与运输</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简答：课题组需要把一批危险化学品送到外地合作单位，应该怎么办？</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取用前核对名称</a:t>
            </a:r>
          </a:p>
          <a:p>
            <a:pPr>
              <a:spcAft>
                <a:spcPts val="800"/>
              </a:spcAft>
            </a:pPr>
            <a:r>
              <a:rPr sz="1500">
                <a:solidFill>
                  <a:srgbClr val="FFFFFF"/>
                </a:solidFill>
                <a:latin typeface="Microsoft YaHei"/>
              </a:rPr>
              <a:t>▪ K2  不尝不凑闻，需要时扇闻</a:t>
            </a:r>
          </a:p>
          <a:p>
            <a:pPr>
              <a:spcAft>
                <a:spcPts val="800"/>
              </a:spcAft>
            </a:pPr>
            <a:r>
              <a:rPr sz="1500">
                <a:solidFill>
                  <a:srgbClr val="FFFFFF"/>
                </a:solidFill>
                <a:latin typeface="Microsoft YaHei"/>
              </a:rPr>
              <a:t>▪ K3  移液不用嘴吸，用洗耳球或移液器</a:t>
            </a:r>
          </a:p>
          <a:p>
            <a:pPr>
              <a:spcAft>
                <a:spcPts val="800"/>
              </a:spcAft>
            </a:pPr>
            <a:r>
              <a:rPr sz="1500">
                <a:solidFill>
                  <a:srgbClr val="FFFFFF"/>
                </a:solidFill>
                <a:latin typeface="Microsoft YaHei"/>
              </a:rPr>
              <a:t>▪ K4  按需少取，不伸进原瓶、不倒回原瓶</a:t>
            </a:r>
          </a:p>
          <a:p>
            <a:pPr>
              <a:spcAft>
                <a:spcPts val="800"/>
              </a:spcAft>
            </a:pPr>
            <a:r>
              <a:rPr sz="1500">
                <a:solidFill>
                  <a:srgbClr val="FFFFFF"/>
                </a:solidFill>
                <a:latin typeface="Microsoft YaHei"/>
              </a:rPr>
              <a:t>▪ K5  倾倒：标签朝手心，瓶盖倒放，动作果断</a:t>
            </a:r>
          </a:p>
          <a:p>
            <a:pPr>
              <a:spcAft>
                <a:spcPts val="800"/>
              </a:spcAft>
            </a:pPr>
            <a:r>
              <a:rPr sz="1500">
                <a:solidFill>
                  <a:srgbClr val="FFFFFF"/>
                </a:solidFill>
                <a:latin typeface="Microsoft YaHei"/>
              </a:rPr>
              <a:t>▪ K6  倒完擦净瓶外，随手盖紧</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称量粉末防扬尘</a:t>
            </a:r>
          </a:p>
          <a:p>
            <a:pPr>
              <a:spcAft>
                <a:spcPts val="800"/>
              </a:spcAft>
            </a:pPr>
            <a:r>
              <a:rPr sz="1500">
                <a:solidFill>
                  <a:srgbClr val="FFFFFF"/>
                </a:solidFill>
                <a:latin typeface="Microsoft YaHei"/>
              </a:rPr>
              <a:t>▪ K8  化学品不随意带出实验室</a:t>
            </a:r>
          </a:p>
          <a:p>
            <a:pPr>
              <a:spcAft>
                <a:spcPts val="800"/>
              </a:spcAft>
            </a:pPr>
            <a:r>
              <a:rPr sz="1500">
                <a:solidFill>
                  <a:srgbClr val="FFFFFF"/>
                </a:solidFill>
                <a:latin typeface="Microsoft YaHei"/>
              </a:rPr>
              <a:t>▪ K9  校内转移：二次容器和提篮</a:t>
            </a:r>
          </a:p>
          <a:p>
            <a:pPr>
              <a:spcAft>
                <a:spcPts val="800"/>
              </a:spcAft>
            </a:pPr>
            <a:r>
              <a:rPr sz="1500">
                <a:solidFill>
                  <a:srgbClr val="FFFFFF"/>
                </a:solidFill>
                <a:latin typeface="Microsoft YaHei"/>
              </a:rPr>
              <a:t>▪ K10  多瓶搬运用稳固推车</a:t>
            </a:r>
          </a:p>
          <a:p>
            <a:pPr>
              <a:spcAft>
                <a:spcPts val="800"/>
              </a:spcAft>
            </a:pPr>
            <a:r>
              <a:rPr sz="1500">
                <a:solidFill>
                  <a:srgbClr val="FFFFFF"/>
                </a:solidFill>
                <a:latin typeface="Microsoft YaHei"/>
              </a:rPr>
              <a:t>▪ K11  运输：规范包装、标志和专业人员</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通风柜原理与实验室通风</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6.5 分钟（卡通视频 79 镜）　适用对象：全体使用化学通风柜和在化学类实验室工作的高校本科生、研究生和教职工（必修）；化学、化工、材料、环境、医学、生命科学等专业重点学习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能说出化学通风柜靠向内气流形成屏障、把有害物捕集并排到室外，从而护住呼吸带；面风速要在规定范围内，不是越大越好。</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能判断视窗高度、柜内杂物和大设备、人员走动、门窗和送风口等因素会打乱气流。</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能做到使用前查看检测合格标识和风量报警器，报警时“停、关、报”，检测和调整交给专业人员。</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能说出实验室全面通风要持续运行并保持负压，高氯酸等特殊危害要使用专用通风柜。</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日起施行）及《危险化学品安全管理条例》（以现行文本为准）：学校、科研机构使用危险化学品应具备相应的安全设施并保持正常使用</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号，以现行文本为准）及高校实验室安全检查项目表：通风柜等安全设施的配置、定期检测和维护</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2.1（以现行文本为准）《工作场所有害因素职业接触限值 第1部分：化学有害因素》：控制有害物接触，优先采用通风等工程控制</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JGJ 91（以现行文本为准）《科研建筑设计标准》：实验室通风、排风和气流组织的设计要求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本校实验室通风设施管理规定和通风柜检测制度：面风速、换气次数等具体指标以本校规定和设备标识为准</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通风柜：捕集排走有害物，护住呼吸带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很多化学品会放出有害的烟、雾、蒸气和粉尘</a:t>
            </a:r>
          </a:p>
          <a:p>
            <a:pPr>
              <a:spcAft>
                <a:spcPts val="1000"/>
              </a:spcAft>
            </a:pPr>
            <a:r>
              <a:rPr sz="2000">
                <a:solidFill>
                  <a:srgbClr val="222B33"/>
                </a:solidFill>
                <a:latin typeface="Microsoft YaHei"/>
              </a:rPr>
              <a:t>▪ 通风柜把污染物捕集并排走，护住呼吸带</a:t>
            </a:r>
          </a:p>
          <a:p>
            <a:pPr>
              <a:spcAft>
                <a:spcPts val="1000"/>
              </a:spcAft>
            </a:pPr>
            <a:r>
              <a:rPr sz="2000">
                <a:solidFill>
                  <a:srgbClr val="222B33"/>
                </a:solidFill>
                <a:latin typeface="Microsoft YaHei"/>
              </a:rPr>
              <a:t>▪ 有毒化学品实验在通风柜内进行</a:t>
            </a:r>
          </a:p>
          <a:p>
            <a:pPr>
              <a:spcAft>
                <a:spcPts val="1000"/>
              </a:spcAft>
            </a:pPr>
            <a:r>
              <a:rPr sz="2000">
                <a:solidFill>
                  <a:srgbClr val="222B33"/>
                </a:solidFill>
                <a:latin typeface="Microsoft YaHei"/>
              </a:rPr>
              <a:t>▪ 通风柜有多种形式，原理基本相同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许多化学品在使用中会放出有害的烟、雾、蒸气和颗粒物。人的口鼻周围的空气区域称为呼吸带，有害物进入呼吸带就会被吸入体内。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把通风柜当成普通储物柜或实验台</a:t>
            </a:r>
          </a:p>
          <a:p>
            <a:pPr>
              <a:spcAft>
                <a:spcPts val="1000"/>
              </a:spcAft>
            </a:pPr>
            <a:r>
              <a:rPr sz="1500">
                <a:solidFill>
                  <a:srgbClr val="222B33"/>
                </a:solidFill>
                <a:latin typeface="Microsoft YaHei"/>
              </a:rPr>
              <a:t>▪ 认为开窗通风就能代替通风柜</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工作原理：向内气流形成屏障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空气不断从柜口吸进柜内</a:t>
            </a:r>
          </a:p>
          <a:p>
            <a:pPr>
              <a:spcAft>
                <a:spcPts val="1000"/>
              </a:spcAft>
            </a:pPr>
            <a:r>
              <a:rPr sz="2000">
                <a:solidFill>
                  <a:srgbClr val="222B33"/>
                </a:solidFill>
                <a:latin typeface="Microsoft YaHei"/>
              </a:rPr>
              <a:t>▪ 柜口形成一道向内的空气屏障</a:t>
            </a:r>
          </a:p>
          <a:p>
            <a:pPr>
              <a:spcAft>
                <a:spcPts val="1000"/>
              </a:spcAft>
            </a:pPr>
            <a:r>
              <a:rPr sz="2000">
                <a:solidFill>
                  <a:srgbClr val="222B33"/>
                </a:solidFill>
                <a:latin typeface="Microsoft YaHei"/>
              </a:rPr>
              <a:t>▪ 污染物从柜后被抽走，经风管排到楼外稀释</a:t>
            </a:r>
          </a:p>
          <a:p>
            <a:pPr>
              <a:spcAft>
                <a:spcPts val="1000"/>
              </a:spcAft>
            </a:pPr>
            <a:r>
              <a:rPr sz="2000">
                <a:solidFill>
                  <a:srgbClr val="222B33"/>
                </a:solidFill>
                <a:latin typeface="Microsoft YaHei"/>
              </a:rPr>
              <a:t>▪ 视窗仍要尽量放低</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排风机通过风管从柜内持续抽气，室内空气从柜口不断流入，在柜口形成一道向内的空气屏障（气帘），把柜内产生的污染物关在柜里。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以为通风柜会把有害物“过滤净化”后吹回室内</a:t>
            </a:r>
          </a:p>
          <a:p>
            <a:pPr>
              <a:spcAft>
                <a:spcPts val="1000"/>
              </a:spcAft>
            </a:pPr>
            <a:r>
              <a:rPr sz="1500">
                <a:solidFill>
                  <a:srgbClr val="222B33"/>
                </a:solidFill>
                <a:latin typeface="Microsoft YaHei"/>
              </a:rPr>
              <a:t>▪ 认为视窗开得越大越通风</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面风速在规定范围，不是越大越好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柜口的平均风速叫面风速</a:t>
            </a:r>
          </a:p>
          <a:p>
            <a:pPr>
              <a:spcAft>
                <a:spcPts val="1000"/>
              </a:spcAft>
            </a:pPr>
            <a:r>
              <a:rPr sz="2000">
                <a:solidFill>
                  <a:srgbClr val="222B33"/>
                </a:solidFill>
                <a:latin typeface="Microsoft YaHei"/>
              </a:rPr>
              <a:t>▪ 风速太小，挡不住蒸气</a:t>
            </a:r>
          </a:p>
          <a:p>
            <a:pPr>
              <a:spcAft>
                <a:spcPts val="1000"/>
              </a:spcAft>
            </a:pPr>
            <a:r>
              <a:rPr sz="2000">
                <a:solidFill>
                  <a:srgbClr val="222B33"/>
                </a:solidFill>
                <a:latin typeface="Microsoft YaHei"/>
              </a:rPr>
              <a:t>▪ 风速太大会起湍流，同样不好</a:t>
            </a:r>
          </a:p>
          <a:p>
            <a:pPr>
              <a:spcAft>
                <a:spcPts val="1000"/>
              </a:spcAft>
            </a:pPr>
            <a:r>
              <a:rPr sz="2000">
                <a:solidFill>
                  <a:srgbClr val="222B33"/>
                </a:solidFill>
                <a:latin typeface="Microsoft YaHei"/>
              </a:rPr>
              <a:t>▪ 要在规定范围内，以本校规定和设备标识为准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面风速是空气流过通风柜开口时的平均速度，反映向内气流的强弱。面风速过低，屏障太弱，蒸气容易逸出柜外。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自行把风量调到最大以为更安全</a:t>
            </a:r>
          </a:p>
          <a:p>
            <a:pPr>
              <a:spcAft>
                <a:spcPts val="1000"/>
              </a:spcAft>
            </a:pPr>
            <a:r>
              <a:rPr sz="1500">
                <a:solidFill>
                  <a:srgbClr val="222B33"/>
                </a:solidFill>
                <a:latin typeface="Microsoft YaHei"/>
              </a:rPr>
              <a:t>▪ 不知道本柜面风速是否合格就使用</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借烟雾和飘带看见气流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气流看不见，可借烟雾或飘带观察</a:t>
            </a:r>
          </a:p>
          <a:p>
            <a:pPr>
              <a:spcAft>
                <a:spcPts val="1000"/>
              </a:spcAft>
            </a:pPr>
            <a:r>
              <a:rPr sz="2000">
                <a:solidFill>
                  <a:srgbClr val="222B33"/>
                </a:solidFill>
                <a:latin typeface="Microsoft YaHei"/>
              </a:rPr>
              <a:t>▪ 白烟平稳往里走，说明气流方向正常</a:t>
            </a:r>
          </a:p>
          <a:p>
            <a:pPr>
              <a:spcAft>
                <a:spcPts val="1000"/>
              </a:spcAft>
            </a:pPr>
            <a:r>
              <a:rPr sz="2000">
                <a:solidFill>
                  <a:srgbClr val="222B33"/>
                </a:solidFill>
                <a:latin typeface="Microsoft YaHei"/>
              </a:rPr>
              <a:t>▪ 飘带只能看出风机在抽风，看不出风速</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气流看不见、摸不着，可以借助烟雾或轻飘带直观地看到。柜口下沿贴一条轻飘带，风机开启时飘带向柜内飘动，说明柜子在抽风。</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看到飘带往里飘就认为一定合格</a:t>
            </a:r>
          </a:p>
          <a:p>
            <a:pPr>
              <a:spcAft>
                <a:spcPts val="1000"/>
              </a:spcAft>
            </a:pPr>
            <a:r>
              <a:rPr sz="1500">
                <a:solidFill>
                  <a:srgbClr val="222B33"/>
                </a:solidFill>
                <a:latin typeface="Microsoft YaHei"/>
              </a:rPr>
              <a:t>▪ 在柜内点烟或燃烧物品“看气流”</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气流容易被打乱，不要干扰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柜内气流很容易被打乱</a:t>
            </a:r>
          </a:p>
          <a:p>
            <a:pPr>
              <a:spcAft>
                <a:spcPts val="1000"/>
              </a:spcAft>
            </a:pPr>
            <a:r>
              <a:rPr sz="2000">
                <a:solidFill>
                  <a:srgbClr val="222B33"/>
                </a:solidFill>
                <a:latin typeface="Microsoft YaHei"/>
              </a:rPr>
              <a:t>▪ 视窗高度、柜内杂物、人员走动、门窗都有影响</a:t>
            </a:r>
          </a:p>
          <a:p>
            <a:pPr>
              <a:spcAft>
                <a:spcPts val="1000"/>
              </a:spcAft>
            </a:pPr>
            <a:r>
              <a:rPr sz="2000">
                <a:solidFill>
                  <a:srgbClr val="222B33"/>
                </a:solidFill>
                <a:latin typeface="Microsoft YaHei"/>
              </a:rPr>
              <a:t>▪ 视窗开得越大，柜口风速越低</a:t>
            </a:r>
          </a:p>
          <a:p>
            <a:pPr>
              <a:spcAft>
                <a:spcPts val="1000"/>
              </a:spcAft>
            </a:pPr>
            <a:r>
              <a:rPr sz="2000">
                <a:solidFill>
                  <a:srgbClr val="222B33"/>
                </a:solidFill>
                <a:latin typeface="Microsoft YaHei"/>
              </a:rPr>
              <a:t>▪ 气流一乱，污染空气会跑出来，绝不能干扰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通风柜的保护效果依赖平稳的向内气流，而这种气流很容易被打断或改变。影响因素主要有：视窗高度、柜内堆放的物品和大设备、柜前人员走动和快速动作、门窗开关和送风口、风扇等横向气流。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柜内长期堆放试剂和杂物</a:t>
            </a:r>
          </a:p>
          <a:p>
            <a:pPr>
              <a:spcAft>
                <a:spcPts val="1000"/>
              </a:spcAft>
            </a:pPr>
            <a:r>
              <a:rPr sz="1500">
                <a:solidFill>
                  <a:srgbClr val="222B33"/>
                </a:solidFill>
                <a:latin typeface="Microsoft YaHei"/>
              </a:rPr>
              <a:t>▪ 视窗全开做实验</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柜内大设备要垫高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柜内大设备会挡住气流</a:t>
            </a:r>
          </a:p>
          <a:p>
            <a:pPr>
              <a:spcAft>
                <a:spcPts val="1000"/>
              </a:spcAft>
            </a:pPr>
            <a:r>
              <a:rPr sz="2000">
                <a:solidFill>
                  <a:srgbClr val="222B33"/>
                </a:solidFill>
                <a:latin typeface="Microsoft YaHei"/>
              </a:rPr>
              <a:t>▪ 把设备垫高，让空气从下面流过</a:t>
            </a:r>
          </a:p>
          <a:p>
            <a:pPr>
              <a:spcAft>
                <a:spcPts val="1000"/>
              </a:spcAft>
            </a:pPr>
            <a:r>
              <a:rPr sz="2000">
                <a:solidFill>
                  <a:srgbClr val="222B33"/>
                </a:solidFill>
                <a:latin typeface="Microsoft YaHei"/>
              </a:rPr>
              <a:t>▪ 设备不要贴着后部排风缝</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旋转蒸发仪、加热浴、电炉等较大的设备直接放在柜内台面上，会挡住流向下部排风缝的气流，在设备前后形成旋涡。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大设备直接压在柜底台面上</a:t>
            </a:r>
          </a:p>
          <a:p>
            <a:pPr>
              <a:spcAft>
                <a:spcPts val="1000"/>
              </a:spcAft>
            </a:pPr>
            <a:r>
              <a:rPr sz="1500">
                <a:solidFill>
                  <a:srgbClr val="222B33"/>
                </a:solidFill>
                <a:latin typeface="Microsoft YaHei"/>
              </a:rPr>
              <a:t>▪ 设备紧贴后部导流板</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人员走动会把污染物拉出来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人走路时身后会带起旋涡</a:t>
            </a:r>
          </a:p>
          <a:p>
            <a:pPr>
              <a:spcAft>
                <a:spcPts val="1000"/>
              </a:spcAft>
            </a:pPr>
            <a:r>
              <a:rPr sz="2000">
                <a:solidFill>
                  <a:srgbClr val="222B33"/>
                </a:solidFill>
                <a:latin typeface="Microsoft YaHei"/>
              </a:rPr>
              <a:t>▪ 旋涡会把柜内污染物拉出柜外</a:t>
            </a:r>
          </a:p>
          <a:p>
            <a:pPr>
              <a:spcAft>
                <a:spcPts val="1000"/>
              </a:spcAft>
            </a:pPr>
            <a:r>
              <a:rPr sz="2000">
                <a:solidFill>
                  <a:srgbClr val="222B33"/>
                </a:solidFill>
                <a:latin typeface="Microsoft YaHei"/>
              </a:rPr>
              <a:t>▪ 有人在用通风柜，别贴着柜口走</a:t>
            </a:r>
          </a:p>
          <a:p>
            <a:pPr>
              <a:spcAft>
                <a:spcPts val="1000"/>
              </a:spcAft>
            </a:pPr>
            <a:r>
              <a:rPr sz="2000">
                <a:solidFill>
                  <a:srgbClr val="222B33"/>
                </a:solidFill>
                <a:latin typeface="Microsoft YaHei"/>
              </a:rPr>
              <a:t>▪ 柜前留出空间，绕开走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人在走动时，身体后方会形成空气旋涡。从正在使用的通风柜前快速走过，旋涡的作用可能超过柜口的向内气流，把柜内的污染物拉出柜外。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在别人正在使用的通风柜前来回穿行</a:t>
            </a:r>
          </a:p>
          <a:p>
            <a:pPr>
              <a:spcAft>
                <a:spcPts val="1000"/>
              </a:spcAft>
            </a:pPr>
            <a:r>
              <a:rPr sz="1500">
                <a:solidFill>
                  <a:srgbClr val="222B33"/>
                </a:solidFill>
                <a:latin typeface="Microsoft YaHei"/>
              </a:rPr>
              <a:t>▪ 多人围在一个通风柜前看热闹</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通风柜位置：远离门窗和送风口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通风柜的位置也影响效果</a:t>
            </a:r>
          </a:p>
          <a:p>
            <a:pPr>
              <a:spcAft>
                <a:spcPts val="1000"/>
              </a:spcAft>
            </a:pPr>
            <a:r>
              <a:rPr sz="2000">
                <a:solidFill>
                  <a:srgbClr val="222B33"/>
                </a:solidFill>
                <a:latin typeface="Microsoft YaHei"/>
              </a:rPr>
              <a:t>▪ 远离门、窗、风扇和天花板送风口</a:t>
            </a:r>
          </a:p>
          <a:p>
            <a:pPr>
              <a:spcAft>
                <a:spcPts val="1000"/>
              </a:spcAft>
            </a:pPr>
            <a:r>
              <a:rPr sz="2000">
                <a:solidFill>
                  <a:srgbClr val="222B33"/>
                </a:solidFill>
                <a:latin typeface="Microsoft YaHei"/>
              </a:rPr>
              <a:t>▪ 放在人少走动的地方</a:t>
            </a:r>
          </a:p>
          <a:p>
            <a:pPr>
              <a:spcAft>
                <a:spcPts val="1000"/>
              </a:spcAft>
            </a:pPr>
            <a:r>
              <a:rPr sz="2000">
                <a:solidFill>
                  <a:srgbClr val="222B33"/>
                </a:solidFill>
                <a:latin typeface="Microsoft YaHei"/>
              </a:rPr>
              <a:t>▪ 使用时不在柜旁开窗、开风扇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门、窗、电风扇和空调或天花板送风口会在柜口形成横向气流，把柜内蒸气吹出或吸出柜外。因此通风柜应设置在远离门、窗和送风口、人员较少走动的位置，这是实验室设计和改造时由学校相关部门统筹考虑的（以本校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夏天在通风柜旁开电扇降温</a:t>
            </a:r>
          </a:p>
          <a:p>
            <a:pPr>
              <a:spcAft>
                <a:spcPts val="1000"/>
              </a:spcAft>
            </a:pPr>
            <a:r>
              <a:rPr sz="1500">
                <a:solidFill>
                  <a:srgbClr val="222B33"/>
                </a:solidFill>
                <a:latin typeface="Microsoft YaHei"/>
              </a:rPr>
              <a:t>▪ 自行移动通风柜或改动送风口</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定期检测，用前看合格标识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新装、通风改造后和平时都要定期检测</a:t>
            </a:r>
          </a:p>
          <a:p>
            <a:pPr>
              <a:spcAft>
                <a:spcPts val="1000"/>
              </a:spcAft>
            </a:pPr>
            <a:r>
              <a:rPr sz="2000">
                <a:solidFill>
                  <a:srgbClr val="222B33"/>
                </a:solidFill>
                <a:latin typeface="Microsoft YaHei"/>
              </a:rPr>
              <a:t>▪ 检测合格贴有检测标识，有记录</a:t>
            </a:r>
          </a:p>
          <a:p>
            <a:pPr>
              <a:spcAft>
                <a:spcPts val="1000"/>
              </a:spcAft>
            </a:pPr>
            <a:r>
              <a:rPr sz="2000">
                <a:solidFill>
                  <a:srgbClr val="222B33"/>
                </a:solidFill>
                <a:latin typeface="Microsoft YaHei"/>
              </a:rPr>
              <a:t>▪ 用前看标识：检测过没有、过没过期</a:t>
            </a:r>
          </a:p>
          <a:p>
            <a:pPr>
              <a:spcAft>
                <a:spcPts val="1000"/>
              </a:spcAft>
            </a:pPr>
            <a:r>
              <a:rPr sz="2000">
                <a:solidFill>
                  <a:srgbClr val="222B33"/>
                </a:solidFill>
                <a:latin typeface="Microsoft YaHei"/>
              </a:rPr>
              <a:t>▪ 无标识或过期就当不合格，报告报修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通风柜在新安装、实验室通风系统改造后，以及使用期间定期都要进行性能检测，检测结果记录在案，合格的贴有检测标识。风机在响、听着在转，不等于合格。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只凭风机声音判断通风柜好坏</a:t>
            </a:r>
          </a:p>
          <a:p>
            <a:pPr>
              <a:spcAft>
                <a:spcPts val="1000"/>
              </a:spcAft>
            </a:pPr>
            <a:r>
              <a:rPr sz="1500">
                <a:solidFill>
                  <a:srgbClr val="222B33"/>
                </a:solidFill>
                <a:latin typeface="Microsoft YaHei"/>
              </a:rPr>
              <a:t>▪ 标识过期仍继续使用</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性能检测和调整交给专业人员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专业人员用仪器在柜口逐格测面风速</a:t>
            </a:r>
          </a:p>
          <a:p>
            <a:pPr>
              <a:spcAft>
                <a:spcPts val="1000"/>
              </a:spcAft>
            </a:pPr>
            <a:r>
              <a:rPr sz="2000">
                <a:solidFill>
                  <a:srgbClr val="222B33"/>
                </a:solidFill>
                <a:latin typeface="Microsoft YaHei"/>
              </a:rPr>
              <a:t>▪ 还要检查柜前横风和发烟气流有无外溢</a:t>
            </a:r>
          </a:p>
          <a:p>
            <a:pPr>
              <a:spcAft>
                <a:spcPts val="1000"/>
              </a:spcAft>
            </a:pPr>
            <a:r>
              <a:rPr sz="2000">
                <a:solidFill>
                  <a:srgbClr val="222B33"/>
                </a:solidFill>
                <a:latin typeface="Microsoft YaHei"/>
              </a:rPr>
              <a:t>▪ 不合格的调整好之前不能使用</a:t>
            </a:r>
          </a:p>
          <a:p>
            <a:pPr>
              <a:spcAft>
                <a:spcPts val="1000"/>
              </a:spcAft>
            </a:pPr>
            <a:r>
              <a:rPr sz="2000">
                <a:solidFill>
                  <a:srgbClr val="222B33"/>
                </a:solidFill>
                <a:latin typeface="Microsoft YaHei"/>
              </a:rPr>
              <a:t>▪ 学生不自己拧导流板、改风量</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性能检测有规定的步骤，由学校委托的专业人员或设施管理人员完成：检查柜前横向气流是否过大；在柜口放少量烟雾，观察烟雾流向和有无打转外溢；把视窗放在工作位置，将柜口分成若干小格，用风速仪逐格测量面风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嫌风大自己调小风阀</a:t>
            </a:r>
          </a:p>
          <a:p>
            <a:pPr>
              <a:spcAft>
                <a:spcPts val="1000"/>
              </a:spcAft>
            </a:pPr>
            <a:r>
              <a:rPr sz="1500">
                <a:solidFill>
                  <a:srgbClr val="222B33"/>
                </a:solidFill>
                <a:latin typeface="Microsoft YaHei"/>
              </a:rPr>
              <a:t>▪ 用纸条代替风速检测</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风量报警器要能用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每台通风柜都应有风量监测和报警装置</a:t>
            </a:r>
          </a:p>
          <a:p>
            <a:pPr>
              <a:spcAft>
                <a:spcPts val="1000"/>
              </a:spcAft>
            </a:pPr>
            <a:r>
              <a:rPr sz="2000">
                <a:solidFill>
                  <a:srgbClr val="222B33"/>
                </a:solidFill>
                <a:latin typeface="Microsoft YaHei"/>
              </a:rPr>
              <a:t>▪ 风量不足时会发出声光报警</a:t>
            </a:r>
          </a:p>
          <a:p>
            <a:pPr>
              <a:spcAft>
                <a:spcPts val="1000"/>
              </a:spcAft>
            </a:pPr>
            <a:r>
              <a:rPr sz="2000">
                <a:solidFill>
                  <a:srgbClr val="222B33"/>
                </a:solidFill>
                <a:latin typeface="Microsoft YaHei"/>
              </a:rPr>
              <a:t>▪ 声音提示别关掉，低头干活也能发现</a:t>
            </a:r>
          </a:p>
          <a:p>
            <a:pPr>
              <a:spcAft>
                <a:spcPts val="1000"/>
              </a:spcAft>
            </a:pPr>
            <a:r>
              <a:rPr sz="2000">
                <a:solidFill>
                  <a:srgbClr val="222B33"/>
                </a:solidFill>
                <a:latin typeface="Microsoft YaHei"/>
              </a:rPr>
              <a:t>▪ 报警功能定期测试并记录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通风柜应配有风量（风速）监测显示和报警装置，风量低于设定值时发出灯光和声音报警，提醒操作者保护已经失效。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嫌吵把报警声音关掉</a:t>
            </a:r>
          </a:p>
          <a:p>
            <a:pPr>
              <a:spcAft>
                <a:spcPts val="1000"/>
              </a:spcAft>
            </a:pPr>
            <a:r>
              <a:rPr sz="1500">
                <a:solidFill>
                  <a:srgbClr val="222B33"/>
                </a:solidFill>
                <a:latin typeface="Microsoft YaHei"/>
              </a:rPr>
              <a:t>▪ 报警灯一直亮着也不理会</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报警了：停、关、报，再复位</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一旦报警，马上停止工作</a:t>
            </a:r>
          </a:p>
          <a:p>
            <a:pPr>
              <a:spcAft>
                <a:spcPts val="1000"/>
              </a:spcAft>
            </a:pPr>
            <a:r>
              <a:rPr sz="2000">
                <a:solidFill>
                  <a:srgbClr val="222B33"/>
                </a:solidFill>
                <a:latin typeface="Microsoft YaHei"/>
              </a:rPr>
              <a:t>▪ 盖好容器，把视窗拉下来</a:t>
            </a:r>
          </a:p>
          <a:p>
            <a:pPr>
              <a:spcAft>
                <a:spcPts val="1000"/>
              </a:spcAft>
            </a:pPr>
            <a:r>
              <a:rPr sz="2000">
                <a:solidFill>
                  <a:srgbClr val="222B33"/>
                </a:solidFill>
                <a:latin typeface="Microsoft YaHei"/>
              </a:rPr>
              <a:t>▪ 报告实验室负责人和学院安全管理员</a:t>
            </a:r>
          </a:p>
          <a:p>
            <a:pPr>
              <a:spcAft>
                <a:spcPts val="1000"/>
              </a:spcAft>
            </a:pPr>
            <a:r>
              <a:rPr sz="2000">
                <a:solidFill>
                  <a:srgbClr val="222B33"/>
                </a:solidFill>
                <a:latin typeface="Microsoft YaHei"/>
              </a:rPr>
              <a:t>▪ 处理好后按说明书复位报警器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通风柜一旦报警，说明排风可能不足，立即按“停、关、报”处理：停止实验操作，关闭热源，盖好容器；把视窗拉下关闭；报告实验室负责人和学院实验室安全管理员，联系设施维修人员。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报警了还想“把这一步做完”</a:t>
            </a:r>
          </a:p>
          <a:p>
            <a:pPr>
              <a:spcAft>
                <a:spcPts val="1000"/>
              </a:spcAft>
            </a:pPr>
            <a:r>
              <a:rPr sz="1500">
                <a:solidFill>
                  <a:srgbClr val="222B33"/>
                </a:solidFill>
                <a:latin typeface="Microsoft YaHei"/>
              </a:rPr>
              <a:t>▪ 自己按掉报警就继续操作</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全面通风持续运行，实验室保持负压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实验室通风要持续运行，不断换气</a:t>
            </a:r>
          </a:p>
          <a:p>
            <a:pPr>
              <a:spcAft>
                <a:spcPts val="1000"/>
              </a:spcAft>
            </a:pPr>
            <a:r>
              <a:rPr sz="2000">
                <a:solidFill>
                  <a:srgbClr val="222B33"/>
                </a:solidFill>
                <a:latin typeface="Microsoft YaHei"/>
              </a:rPr>
              <a:t>▪ 换气次数按设计和本校规定</a:t>
            </a:r>
          </a:p>
          <a:p>
            <a:pPr>
              <a:spcAft>
                <a:spcPts val="1000"/>
              </a:spcAft>
            </a:pPr>
            <a:r>
              <a:rPr sz="2000">
                <a:solidFill>
                  <a:srgbClr val="222B33"/>
                </a:solidFill>
                <a:latin typeface="Microsoft YaHei"/>
              </a:rPr>
              <a:t>▪ 排风不能只靠通风柜一个出口</a:t>
            </a:r>
          </a:p>
          <a:p>
            <a:pPr>
              <a:spcAft>
                <a:spcPts val="1000"/>
              </a:spcAft>
            </a:pPr>
            <a:r>
              <a:rPr sz="2000">
                <a:solidFill>
                  <a:srgbClr val="222B33"/>
                </a:solidFill>
                <a:latin typeface="Microsoft YaHei"/>
              </a:rPr>
              <a:t>▪ 实验室保持负压，门别长开、风口别堵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除通风柜等局部排风外，化学实验室还要有全面通风，持续运行、不断换气，稀释和排出逸散到室内的有害气体。换气次数按实验室设计和本校规定执行，不能只靠通风柜作为唯一的排风出口。</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下班就关掉实验室全部排风</a:t>
            </a:r>
          </a:p>
          <a:p>
            <a:pPr>
              <a:spcAft>
                <a:spcPts val="1000"/>
              </a:spcAft>
            </a:pPr>
            <a:r>
              <a:rPr sz="1500">
                <a:solidFill>
                  <a:srgbClr val="222B33"/>
                </a:solidFill>
                <a:latin typeface="Microsoft YaHei"/>
              </a:rPr>
              <a:t>▪ 用纸板堵住排风口防噪声</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特殊用途通风柜：高氯酸专用柜等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有专门对付特殊危害的通风柜</a:t>
            </a:r>
          </a:p>
          <a:p>
            <a:pPr>
              <a:spcAft>
                <a:spcPts val="1000"/>
              </a:spcAft>
            </a:pPr>
            <a:r>
              <a:rPr sz="2000">
                <a:solidFill>
                  <a:srgbClr val="222B33"/>
                </a:solidFill>
                <a:latin typeface="Microsoft YaHei"/>
              </a:rPr>
              <a:t>▪ 高氯酸专用柜能用水冲洗柜体和风管</a:t>
            </a:r>
          </a:p>
          <a:p>
            <a:pPr>
              <a:spcAft>
                <a:spcPts val="1000"/>
              </a:spcAft>
            </a:pPr>
            <a:r>
              <a:rPr sz="2000">
                <a:solidFill>
                  <a:srgbClr val="222B33"/>
                </a:solidFill>
                <a:latin typeface="Microsoft YaHei"/>
              </a:rPr>
              <a:t>▪ 高氯酸柜内绝不能放有机物</a:t>
            </a:r>
          </a:p>
          <a:p>
            <a:pPr>
              <a:spcAft>
                <a:spcPts val="1000"/>
              </a:spcAft>
            </a:pPr>
            <a:r>
              <a:rPr sz="2000">
                <a:solidFill>
                  <a:srgbClr val="222B33"/>
                </a:solidFill>
                <a:latin typeface="Microsoft YaHei"/>
              </a:rPr>
              <a:t>▪ 放射性操作使用专用通风柜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除普通化学通风柜外，还有针对特殊危害的专用通风柜，平时不常用，但要知道它们的用途，不能混用。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在普通通风柜里加热高氯酸</a:t>
            </a:r>
          </a:p>
          <a:p>
            <a:pPr>
              <a:spcAft>
                <a:spcPts val="1000"/>
              </a:spcAft>
            </a:pPr>
            <a:r>
              <a:rPr sz="1500">
                <a:solidFill>
                  <a:srgbClr val="222B33"/>
                </a:solidFill>
                <a:latin typeface="Microsoft YaHei"/>
              </a:rPr>
              <a:t>▪ 在高氯酸专用柜里放有机溶剂</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化学通风柜保护操作者的主要原理是：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把有害气体过滤后吹回室内</a:t>
            </a:r>
          </a:p>
          <a:p>
            <a:pPr algn="l"/>
            <a:r>
              <a:rPr sz="1500" b="0">
                <a:solidFill>
                  <a:srgbClr val="222B33"/>
                </a:solidFill>
                <a:latin typeface="Microsoft YaHei"/>
              </a:rPr>
              <a:t>B. 柜口形成向内的气流屏障，把污染物抽走排到室外</a:t>
            </a:r>
          </a:p>
          <a:p>
            <a:pPr algn="l"/>
            <a:r>
              <a:rPr sz="1500" b="0">
                <a:solidFill>
                  <a:srgbClr val="222B33"/>
                </a:solidFill>
                <a:latin typeface="Microsoft YaHei"/>
              </a:rPr>
              <a:t>C. 靠视窗玻璃完全密封</a:t>
            </a:r>
          </a:p>
          <a:p>
            <a:pPr algn="l"/>
            <a:r>
              <a:rPr sz="1500" b="0">
                <a:solidFill>
                  <a:srgbClr val="222B33"/>
                </a:solidFill>
                <a:latin typeface="Microsoft YaHei"/>
              </a:rPr>
              <a:t>D. 靠柜内的照明灯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判断：通风柜的面风速越大越安全。</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下列做法中，会干扰通风柜气流的是：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把大设备垫高</a:t>
            </a:r>
          </a:p>
          <a:p>
            <a:pPr algn="l"/>
            <a:r>
              <a:rPr sz="1500" b="0">
                <a:solidFill>
                  <a:srgbClr val="222B33"/>
                </a:solidFill>
                <a:latin typeface="Microsoft YaHei"/>
              </a:rPr>
              <a:t>B. 在别人使用的通风柜前来回快速走动</a:t>
            </a:r>
          </a:p>
          <a:p>
            <a:pPr algn="l"/>
            <a:r>
              <a:rPr sz="1500" b="0">
                <a:solidFill>
                  <a:srgbClr val="222B33"/>
                </a:solidFill>
                <a:latin typeface="Microsoft YaHei"/>
              </a:rPr>
              <a:t>C. 视窗放低</a:t>
            </a:r>
          </a:p>
          <a:p>
            <a:pPr algn="l"/>
            <a:r>
              <a:rPr sz="1500" b="0">
                <a:solidFill>
                  <a:srgbClr val="222B33"/>
                </a:solidFill>
                <a:latin typeface="Microsoft YaHei"/>
              </a:rPr>
              <a:t>D. 柜内少放物品</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使用通风柜时风量报警器响了，正确的做法是：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按掉报警继续做完</a:t>
            </a:r>
          </a:p>
          <a:p>
            <a:pPr algn="l"/>
            <a:r>
              <a:rPr sz="1500" b="0">
                <a:solidFill>
                  <a:srgbClr val="222B33"/>
                </a:solidFill>
                <a:latin typeface="Microsoft YaHei"/>
              </a:rPr>
              <a:t>B. 把视窗开大加强通风</a:t>
            </a:r>
          </a:p>
          <a:p>
            <a:pPr algn="l"/>
            <a:r>
              <a:rPr sz="1500" b="0">
                <a:solidFill>
                  <a:srgbClr val="222B33"/>
                </a:solidFill>
                <a:latin typeface="Microsoft YaHei"/>
              </a:rPr>
              <a:t>C. 停止操作、盖好容器、拉下视窗，报告负责人和学院安全管理员</a:t>
            </a:r>
          </a:p>
          <a:p>
            <a:pPr algn="l"/>
            <a:r>
              <a:rPr sz="1500" b="0">
                <a:solidFill>
                  <a:srgbClr val="222B33"/>
                </a:solidFill>
                <a:latin typeface="Microsoft YaHei"/>
              </a:rPr>
              <a:t>D. 关掉声音只看灯</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051 · 通风柜原理与实验室通风</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051 通风柜原理与实验室通风</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简答：为什么下班后不能把实验室的全面通风全部关掉？</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通风柜：捕集排走有害物，护住呼吸带</a:t>
            </a:r>
          </a:p>
          <a:p>
            <a:pPr>
              <a:spcAft>
                <a:spcPts val="800"/>
              </a:spcAft>
            </a:pPr>
            <a:r>
              <a:rPr sz="1500">
                <a:solidFill>
                  <a:srgbClr val="FFFFFF"/>
                </a:solidFill>
                <a:latin typeface="Microsoft YaHei"/>
              </a:rPr>
              <a:t>▪ K2  工作原理：向内气流形成屏障</a:t>
            </a:r>
          </a:p>
          <a:p>
            <a:pPr>
              <a:spcAft>
                <a:spcPts val="800"/>
              </a:spcAft>
            </a:pPr>
            <a:r>
              <a:rPr sz="1500">
                <a:solidFill>
                  <a:srgbClr val="FFFFFF"/>
                </a:solidFill>
                <a:latin typeface="Microsoft YaHei"/>
              </a:rPr>
              <a:t>▪ K3  面风速在规定范围，不是越大越好</a:t>
            </a:r>
          </a:p>
          <a:p>
            <a:pPr>
              <a:spcAft>
                <a:spcPts val="800"/>
              </a:spcAft>
            </a:pPr>
            <a:r>
              <a:rPr sz="1500">
                <a:solidFill>
                  <a:srgbClr val="FFFFFF"/>
                </a:solidFill>
                <a:latin typeface="Microsoft YaHei"/>
              </a:rPr>
              <a:t>▪ K4  借烟雾和飘带看见气流</a:t>
            </a:r>
          </a:p>
          <a:p>
            <a:pPr>
              <a:spcAft>
                <a:spcPts val="800"/>
              </a:spcAft>
            </a:pPr>
            <a:r>
              <a:rPr sz="1500">
                <a:solidFill>
                  <a:srgbClr val="FFFFFF"/>
                </a:solidFill>
                <a:latin typeface="Microsoft YaHei"/>
              </a:rPr>
              <a:t>▪ K5  气流容易被打乱，不要干扰</a:t>
            </a:r>
          </a:p>
          <a:p>
            <a:pPr>
              <a:spcAft>
                <a:spcPts val="800"/>
              </a:spcAft>
            </a:pPr>
            <a:r>
              <a:rPr sz="1500">
                <a:solidFill>
                  <a:srgbClr val="FFFFFF"/>
                </a:solidFill>
                <a:latin typeface="Microsoft YaHei"/>
              </a:rPr>
              <a:t>▪ K6  柜内大设备要垫高</a:t>
            </a:r>
          </a:p>
          <a:p>
            <a:pPr>
              <a:spcAft>
                <a:spcPts val="800"/>
              </a:spcAft>
            </a:pPr>
            <a:r>
              <a:rPr sz="1500">
                <a:solidFill>
                  <a:srgbClr val="FFFFFF"/>
                </a:solidFill>
                <a:latin typeface="Microsoft YaHei"/>
              </a:rPr>
              <a:t>▪ K7  人员走动会把污染物拉出来</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通风柜位置：远离门窗和送风口</a:t>
            </a:r>
          </a:p>
          <a:p>
            <a:pPr>
              <a:spcAft>
                <a:spcPts val="800"/>
              </a:spcAft>
            </a:pPr>
            <a:r>
              <a:rPr sz="1500">
                <a:solidFill>
                  <a:srgbClr val="FFFFFF"/>
                </a:solidFill>
                <a:latin typeface="Microsoft YaHei"/>
              </a:rPr>
              <a:t>▪ K9  定期检测，用前看合格标识</a:t>
            </a:r>
          </a:p>
          <a:p>
            <a:pPr>
              <a:spcAft>
                <a:spcPts val="800"/>
              </a:spcAft>
            </a:pPr>
            <a:r>
              <a:rPr sz="1500">
                <a:solidFill>
                  <a:srgbClr val="FFFFFF"/>
                </a:solidFill>
                <a:latin typeface="Microsoft YaHei"/>
              </a:rPr>
              <a:t>▪ K10  性能检测和调整交给专业人员</a:t>
            </a:r>
          </a:p>
          <a:p>
            <a:pPr>
              <a:spcAft>
                <a:spcPts val="800"/>
              </a:spcAft>
            </a:pPr>
            <a:r>
              <a:rPr sz="1500">
                <a:solidFill>
                  <a:srgbClr val="FFFFFF"/>
                </a:solidFill>
                <a:latin typeface="Microsoft YaHei"/>
              </a:rPr>
              <a:t>▪ K11  风量报警器要能用</a:t>
            </a:r>
          </a:p>
          <a:p>
            <a:pPr>
              <a:spcAft>
                <a:spcPts val="800"/>
              </a:spcAft>
            </a:pPr>
            <a:r>
              <a:rPr sz="1500">
                <a:solidFill>
                  <a:srgbClr val="FFFFFF"/>
                </a:solidFill>
                <a:latin typeface="Microsoft YaHei"/>
              </a:rPr>
              <a:t>▪ K12  报警了：停、关、报，再复位</a:t>
            </a:r>
          </a:p>
          <a:p>
            <a:pPr>
              <a:spcAft>
                <a:spcPts val="800"/>
              </a:spcAft>
            </a:pPr>
            <a:r>
              <a:rPr sz="1500">
                <a:solidFill>
                  <a:srgbClr val="FFFFFF"/>
                </a:solidFill>
                <a:latin typeface="Microsoft YaHei"/>
              </a:rPr>
              <a:t>▪ K13  全面通风持续运行，实验室保持负压</a:t>
            </a:r>
          </a:p>
          <a:p>
            <a:pPr>
              <a:spcAft>
                <a:spcPts val="800"/>
              </a:spcAft>
            </a:pPr>
            <a:r>
              <a:rPr sz="1500">
                <a:solidFill>
                  <a:srgbClr val="FFFFFF"/>
                </a:solidFill>
                <a:latin typeface="Microsoft YaHei"/>
              </a:rPr>
              <a:t>▪ K14  特殊用途通风柜：高氯酸专用柜等</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通风柜的正确使用</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适用对象：全体使用化学通风柜的高校本科生、研究生和教职工（必修，上机操作前完成）；化学、化工、材料、环境、医学、生命科学等专业重点学习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能判断哪些操作必须在通风柜内进行：可能产生有害气体、挥发性或有毒化学品、加热易燃溶剂、蒸馏、升华等。</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能做到使用前开风机、确认向内气流和风速指示、查看检测标识，穿戴好个人防护。</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能做到视窗拉到标线以下、站着操作、头不伸进柜内、在柜内深处操作、动作轻缓，柜内不堆放、不挡风口、不敞放废液、不擅自改动。</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能做到报警或停风时“停、盖、关、撤、报”，用完清理台面、关闭视窗。</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日起施行）及《危险化学品安全管理条例》（以现行文本为准）：学校、科研机构使用危险化学品应遵守操作规程，保证安全设施正常使用</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号，以现行文本为准）及高校实验室安全检查项目表：通风柜的使用、柜内不得堆放化学品等要求</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GBZ 2.1（以现行文本为准）《工作场所有害因素职业接触限值 第1部分：化学有害因素》：控制有害物接触，优先采用通风等工程控制</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14866-2023（以现行文本为准）《眼面防护具通用技术规范》：柜内操作时护目镜、面屏的选用</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28881-2023（以现行文本为准）《手部防护 化学品及微生物防护手套》：耐化学品手套的选用</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《国家危险废物名录》（以现行版本为准）：实验废液按危险废物分类收集，不得敞口挥发或倒入下水道</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本校实验室通风柜使用管理规定和应急预案：视窗高度、操作距离等以本校规定和设备标识为准</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装好只是一半，用对才完整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通风柜装得好只是一半，用得对才完整</a:t>
            </a:r>
          </a:p>
          <a:p>
            <a:pPr>
              <a:spcAft>
                <a:spcPts val="1000"/>
              </a:spcAft>
            </a:pPr>
            <a:r>
              <a:rPr sz="2000">
                <a:solidFill>
                  <a:srgbClr val="222B33"/>
                </a:solidFill>
                <a:latin typeface="Microsoft YaHei"/>
              </a:rPr>
              <a:t>▪ 保护效果很大程度取决于使用习惯</a:t>
            </a:r>
          </a:p>
          <a:p>
            <a:pPr>
              <a:spcAft>
                <a:spcPts val="1000"/>
              </a:spcAft>
            </a:pPr>
            <a:r>
              <a:rPr sz="2000">
                <a:solidFill>
                  <a:srgbClr val="222B33"/>
                </a:solidFill>
                <a:latin typeface="Microsoft YaHei"/>
              </a:rPr>
              <a:t>▪ 需要进柜做的操作，本身就有危险</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通风柜的保护效果，一半取决于设计、安装和检测（见第 051 课），另一半取决于使用者的操作习惯。视窗开得太高、头伸进柜内、柜内堆满杂物，都会让一台合格的通风柜失去保护作用。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认为“有通风柜就安全了”，不注意使用方法</a:t>
            </a:r>
          </a:p>
          <a:p>
            <a:pPr>
              <a:spcAft>
                <a:spcPts val="1000"/>
              </a:spcAft>
            </a:pPr>
            <a:r>
              <a:rPr sz="1500">
                <a:solidFill>
                  <a:srgbClr val="222B33"/>
                </a:solidFill>
                <a:latin typeface="Microsoft YaHei"/>
              </a:rPr>
              <a:t>▪ 做“小量”实验就不进通风柜</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有害、挥发、易燃加热的操作进柜做</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可能产生有害气体的操作，在通风柜里做</a:t>
            </a:r>
          </a:p>
          <a:p>
            <a:pPr>
              <a:spcAft>
                <a:spcPts val="1000"/>
              </a:spcAft>
            </a:pPr>
            <a:r>
              <a:rPr sz="1700">
                <a:solidFill>
                  <a:srgbClr val="222B33"/>
                </a:solidFill>
                <a:latin typeface="Microsoft YaHei"/>
              </a:rPr>
              <a:t>▪ 挥发、有毒的化学品不在敞开台面倾倒</a:t>
            </a:r>
          </a:p>
          <a:p>
            <a:pPr>
              <a:spcAft>
                <a:spcPts val="1000"/>
              </a:spcAft>
            </a:pPr>
            <a:r>
              <a:rPr sz="1700">
                <a:solidFill>
                  <a:srgbClr val="222B33"/>
                </a:solidFill>
                <a:latin typeface="Microsoft YaHei"/>
              </a:rPr>
              <a:t>▪ 加热易燃溶剂、蒸馏、升华、重结晶进柜做</a:t>
            </a:r>
          </a:p>
          <a:p>
            <a:pPr>
              <a:spcAft>
                <a:spcPts val="1000"/>
              </a:spcAft>
            </a:pPr>
            <a:r>
              <a:rPr sz="1700">
                <a:solidFill>
                  <a:srgbClr val="222B33"/>
                </a:solidFill>
                <a:latin typeface="Microsoft YaHei"/>
              </a:rPr>
              <a:t>▪ 装置通大气的出口引向排风处</a:t>
            </a:r>
          </a:p>
          <a:p>
            <a:pPr>
              <a:spcAft>
                <a:spcPts val="1000"/>
              </a:spcAft>
            </a:pPr>
            <a:r>
              <a:rPr sz="1700">
                <a:solidFill>
                  <a:srgbClr val="222B33"/>
                </a:solidFill>
                <a:latin typeface="Microsoft YaHei"/>
              </a:rPr>
              <a:t>▪ 病原微生物操作用生物安全柜，不用通风柜</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凡可能产生有害气体、烟雾或粉尘的操作，挥发性、有毒、有刺激性化学品的取用和倾倒，都应在化学通风柜内进行，不在敞开的实验台上图省事，也不凑近闻。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在敞开台面上煮沸有机溶剂</a:t>
            </a:r>
          </a:p>
          <a:p>
            <a:pPr>
              <a:spcAft>
                <a:spcPts val="1000"/>
              </a:spcAft>
            </a:pPr>
            <a:r>
              <a:rPr sz="1500">
                <a:solidFill>
                  <a:srgbClr val="222B33"/>
                </a:solidFill>
                <a:latin typeface="Microsoft YaHei"/>
              </a:rPr>
              <a:t>▪ 在化学通风柜里做病原微生物操作</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用前自检：开风机、看气流、看标识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用之前，先打开风机</a:t>
            </a:r>
          </a:p>
          <a:p>
            <a:pPr>
              <a:spcAft>
                <a:spcPts val="1000"/>
              </a:spcAft>
            </a:pPr>
            <a:r>
              <a:rPr sz="1700">
                <a:solidFill>
                  <a:srgbClr val="222B33"/>
                </a:solidFill>
                <a:latin typeface="Microsoft YaHei"/>
              </a:rPr>
              <a:t>▪ 看风速显示是否正常，确认气流向里</a:t>
            </a:r>
          </a:p>
          <a:p>
            <a:pPr>
              <a:spcAft>
                <a:spcPts val="1000"/>
              </a:spcAft>
            </a:pPr>
            <a:r>
              <a:rPr sz="1700">
                <a:solidFill>
                  <a:srgbClr val="222B33"/>
                </a:solidFill>
                <a:latin typeface="Microsoft YaHei"/>
              </a:rPr>
              <a:t>▪ 看检测标识是否在有效期内</a:t>
            </a:r>
          </a:p>
          <a:p>
            <a:pPr>
              <a:spcAft>
                <a:spcPts val="1000"/>
              </a:spcAft>
            </a:pPr>
            <a:r>
              <a:rPr sz="1700">
                <a:solidFill>
                  <a:srgbClr val="222B33"/>
                </a:solidFill>
                <a:latin typeface="Microsoft YaHei"/>
              </a:rPr>
              <a:t>▪ 视窗升降顺畅，柜内整洁</a:t>
            </a:r>
          </a:p>
          <a:p>
            <a:pPr>
              <a:spcAft>
                <a:spcPts val="1000"/>
              </a:spcAft>
            </a:pPr>
            <a:r>
              <a:rPr sz="1700">
                <a:solidFill>
                  <a:srgbClr val="222B33"/>
                </a:solidFill>
                <a:latin typeface="Microsoft YaHei"/>
              </a:rPr>
              <a:t>▪ 没气流或报警，不用，挂牌报修</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使用前先打开风机，查看风速（风量）显示和指示灯是否正常；可在柜口拿一条纸巾或飘带，确认气流向柜内流动（纸条只能确认风机在抽风，不能判断风速是否合格）。</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不开风机就开始倒试剂</a:t>
            </a:r>
          </a:p>
          <a:p>
            <a:pPr>
              <a:spcAft>
                <a:spcPts val="1000"/>
              </a:spcAft>
            </a:pPr>
            <a:r>
              <a:rPr sz="1500">
                <a:solidFill>
                  <a:srgbClr val="222B33"/>
                </a:solidFill>
                <a:latin typeface="Microsoft YaHei"/>
              </a:rPr>
              <a:t>▪ 不看检测标识和风速显示</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柜内操作也要穿戴防护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先读安全技术说明书，了解成分和危害</a:t>
            </a:r>
          </a:p>
          <a:p>
            <a:pPr>
              <a:spcAft>
                <a:spcPts val="1000"/>
              </a:spcAft>
            </a:pPr>
            <a:r>
              <a:rPr sz="2000">
                <a:solidFill>
                  <a:srgbClr val="222B33"/>
                </a:solidFill>
                <a:latin typeface="Microsoft YaHei"/>
              </a:rPr>
              <a:t>▪ 在通风柜里，护目镜、实验服、手套不能少</a:t>
            </a:r>
          </a:p>
          <a:p>
            <a:pPr>
              <a:spcAft>
                <a:spcPts val="1000"/>
              </a:spcAft>
            </a:pPr>
            <a:r>
              <a:rPr sz="2000">
                <a:solidFill>
                  <a:srgbClr val="222B33"/>
                </a:solidFill>
                <a:latin typeface="Microsoft YaHei"/>
              </a:rPr>
              <a:t>▪ 需要更多防护，就加上面屏等</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通风柜只是工程控制措施之一，不能代替个人防护。操作前先阅读安全技术说明书，了解所用化学品的成分、危害和防护要求。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有视窗挡着就不戴护目镜</a:t>
            </a:r>
          </a:p>
          <a:p>
            <a:pPr>
              <a:spcAft>
                <a:spcPts val="1000"/>
              </a:spcAft>
            </a:pPr>
            <a:r>
              <a:rPr sz="1500">
                <a:solidFill>
                  <a:srgbClr val="222B33"/>
                </a:solidFill>
                <a:latin typeface="Microsoft YaHei"/>
              </a:rPr>
              <a:t>▪ 手套不按化学品性质选择</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视窗拉到标线以下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操作时视窗下沿对准标定线或更低</a:t>
            </a:r>
          </a:p>
          <a:p>
            <a:pPr>
              <a:spcAft>
                <a:spcPts val="1000"/>
              </a:spcAft>
            </a:pPr>
            <a:r>
              <a:rPr sz="2000">
                <a:solidFill>
                  <a:srgbClr val="222B33"/>
                </a:solidFill>
                <a:latin typeface="Microsoft YaHei"/>
              </a:rPr>
              <a:t>▪ 开得太高，进风变慢，蒸气会扑到脸上</a:t>
            </a:r>
          </a:p>
          <a:p>
            <a:pPr>
              <a:spcAft>
                <a:spcPts val="1000"/>
              </a:spcAft>
            </a:pPr>
            <a:r>
              <a:rPr sz="2000">
                <a:solidFill>
                  <a:srgbClr val="222B33"/>
                </a:solidFill>
                <a:latin typeface="Microsoft YaHei"/>
              </a:rPr>
              <a:t>▪ 视窗挡在脸和化学品之间，还能挡飞溅</a:t>
            </a:r>
          </a:p>
          <a:p>
            <a:pPr>
              <a:spcAft>
                <a:spcPts val="1000"/>
              </a:spcAft>
            </a:pPr>
            <a:r>
              <a:rPr sz="2000">
                <a:solidFill>
                  <a:srgbClr val="222B33"/>
                </a:solidFill>
                <a:latin typeface="Microsoft YaHei"/>
              </a:rPr>
              <a:t>▪ 也不是越低越好，太低会起湍流</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视窗（前窗）可以上下滑动，柜体上标有检测时标定的工作高度标线。操作时视窗下沿放在标线处或更低，在方便操作的前提下尽量放低，手从视窗下方伸入操作。不要图方便把视窗推到顶：开口过大，进风速度下降，蒸气就可能漏出来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视窗推到顶方便操作</a:t>
            </a:r>
          </a:p>
          <a:p>
            <a:pPr>
              <a:spcAft>
                <a:spcPts val="1000"/>
              </a:spcAft>
            </a:pPr>
            <a:r>
              <a:rPr sz="1500">
                <a:solidFill>
                  <a:srgbClr val="222B33"/>
                </a:solidFill>
                <a:latin typeface="Microsoft YaHei"/>
              </a:rPr>
              <a:t>▪ 视窗下沿正对口鼻</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站着操作，头不伸进柜内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一般要站着操作</a:t>
            </a:r>
          </a:p>
          <a:p>
            <a:pPr>
              <a:spcAft>
                <a:spcPts val="1000"/>
              </a:spcAft>
            </a:pPr>
            <a:r>
              <a:rPr sz="1700">
                <a:solidFill>
                  <a:srgbClr val="222B33"/>
                </a:solidFill>
                <a:latin typeface="Microsoft YaHei"/>
              </a:rPr>
              <a:t>▪ 坐得太低，脸会到视窗下面</a:t>
            </a:r>
          </a:p>
          <a:p>
            <a:pPr>
              <a:spcAft>
                <a:spcPts val="1000"/>
              </a:spcAft>
            </a:pPr>
            <a:r>
              <a:rPr sz="1700">
                <a:solidFill>
                  <a:srgbClr val="222B33"/>
                </a:solidFill>
                <a:latin typeface="Microsoft YaHei"/>
              </a:rPr>
              <a:t>▪ 绝不把头伸进通风柜</a:t>
            </a:r>
          </a:p>
          <a:p>
            <a:pPr>
              <a:spcAft>
                <a:spcPts val="1000"/>
              </a:spcAft>
            </a:pPr>
            <a:r>
              <a:rPr sz="1700">
                <a:solidFill>
                  <a:srgbClr val="222B33"/>
                </a:solidFill>
                <a:latin typeface="Microsoft YaHei"/>
              </a:rPr>
              <a:t>▪ 要看清楚，就隔着玻璃看</a:t>
            </a:r>
          </a:p>
          <a:p>
            <a:pPr>
              <a:spcAft>
                <a:spcPts val="1000"/>
              </a:spcAft>
            </a:pPr>
            <a:r>
              <a:rPr sz="1700">
                <a:solidFill>
                  <a:srgbClr val="222B33"/>
                </a:solidFill>
                <a:latin typeface="Microsoft YaHei"/>
              </a:rPr>
              <a:t>▪ 柜内需要调整，找老师商量</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使用通风柜一般要站着操作，身体在柜外，保持视窗挡在面部前方。坐得太低，脸就到了视窗下沿以下，失去视窗的保护。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探头进柜观察反应</a:t>
            </a:r>
          </a:p>
          <a:p>
            <a:pPr>
              <a:spcAft>
                <a:spcPts val="1000"/>
              </a:spcAft>
            </a:pPr>
            <a:r>
              <a:rPr sz="1500">
                <a:solidFill>
                  <a:srgbClr val="222B33"/>
                </a:solidFill>
                <a:latin typeface="Microsoft YaHei"/>
              </a:rPr>
              <a:t>▪ 坐在矮凳上，脸低于视窗下沿</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在柜内深处操作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越靠近柜口，越容易漏出来</a:t>
            </a:r>
          </a:p>
          <a:p>
            <a:pPr>
              <a:spcAft>
                <a:spcPts val="1000"/>
              </a:spcAft>
            </a:pPr>
            <a:r>
              <a:rPr sz="2000">
                <a:solidFill>
                  <a:srgbClr val="222B33"/>
                </a:solidFill>
                <a:latin typeface="Microsoft YaHei"/>
              </a:rPr>
              <a:t>▪ 器皿往里放，在柜内深处操作</a:t>
            </a:r>
          </a:p>
          <a:p>
            <a:pPr>
              <a:spcAft>
                <a:spcPts val="1000"/>
              </a:spcAft>
            </a:pPr>
            <a:r>
              <a:rPr sz="2000">
                <a:solidFill>
                  <a:srgbClr val="222B33"/>
                </a:solidFill>
                <a:latin typeface="Microsoft YaHei"/>
              </a:rPr>
              <a:t>▪ 柜口边上不放东西</a:t>
            </a:r>
          </a:p>
          <a:p>
            <a:pPr>
              <a:spcAft>
                <a:spcPts val="1000"/>
              </a:spcAft>
            </a:pPr>
            <a:r>
              <a:rPr sz="2000">
                <a:solidFill>
                  <a:srgbClr val="222B33"/>
                </a:solidFill>
                <a:latin typeface="Microsoft YaHei"/>
              </a:rPr>
              <a:t>▪ 距离按柜内标线和本校规定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柜口前沿附近的气流最弱、最容易受外界干扰，化学品越靠近柜口越容易漏出来；放在柜内深处，就能被完整地吸走。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贴着柜口前沿操作</a:t>
            </a:r>
          </a:p>
          <a:p>
            <a:pPr>
              <a:spcAft>
                <a:spcPts val="1000"/>
              </a:spcAft>
            </a:pPr>
            <a:r>
              <a:rPr sz="1500">
                <a:solidFill>
                  <a:srgbClr val="222B33"/>
                </a:solidFill>
                <a:latin typeface="Microsoft YaHei"/>
              </a:rPr>
              <a:t>▪ 把试剂瓶放在柜口边上</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动作轻缓，材料一次放齐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开工前，把所需材料一次放齐</a:t>
            </a:r>
          </a:p>
          <a:p>
            <a:pPr>
              <a:spcAft>
                <a:spcPts val="1000"/>
              </a:spcAft>
            </a:pPr>
            <a:r>
              <a:rPr sz="2000">
                <a:solidFill>
                  <a:srgbClr val="222B33"/>
                </a:solidFill>
                <a:latin typeface="Microsoft YaHei"/>
              </a:rPr>
              <a:t>▪ 视窗升降要慢</a:t>
            </a:r>
          </a:p>
          <a:p>
            <a:pPr>
              <a:spcAft>
                <a:spcPts val="1000"/>
              </a:spcAft>
            </a:pPr>
            <a:r>
              <a:rPr sz="2000">
                <a:solidFill>
                  <a:srgbClr val="222B33"/>
                </a:solidFill>
                <a:latin typeface="Microsoft YaHei"/>
              </a:rPr>
              <a:t>▪ 手臂慢慢、垂直于柜面抽出</a:t>
            </a:r>
          </a:p>
          <a:p>
            <a:pPr>
              <a:spcAft>
                <a:spcPts val="1000"/>
              </a:spcAft>
            </a:pPr>
            <a:r>
              <a:rPr sz="2000">
                <a:solidFill>
                  <a:srgbClr val="222B33"/>
                </a:solidFill>
                <a:latin typeface="Microsoft YaHei"/>
              </a:rPr>
              <a:t>▪ 在柜前动作稳、慢，不快速转身</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通风柜的抽力其实并不大，柜前的快速动作很容易扰乱柜口气流。开工前把所需器材和试剂一次放进柜内，减少手臂进出。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操作中途反复伸手出柜取东西</a:t>
            </a:r>
          </a:p>
          <a:p>
            <a:pPr>
              <a:spcAft>
                <a:spcPts val="1000"/>
              </a:spcAft>
            </a:pPr>
            <a:r>
              <a:rPr sz="1500">
                <a:solidFill>
                  <a:srgbClr val="222B33"/>
                </a:solidFill>
                <a:latin typeface="Microsoft YaHei"/>
              </a:rPr>
              <a:t>▪ 猛地拉下视窗</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不堆放、不挡风口，不当储存柜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通风柜不是储存柜，不堆放化学品</a:t>
            </a:r>
          </a:p>
          <a:p>
            <a:pPr>
              <a:spcAft>
                <a:spcPts val="1000"/>
              </a:spcAft>
            </a:pPr>
            <a:r>
              <a:rPr sz="1700">
                <a:solidFill>
                  <a:srgbClr val="222B33"/>
                </a:solidFill>
                <a:latin typeface="Microsoft YaHei"/>
              </a:rPr>
              <a:t>▪ 堆满会挡住风口，吸力下降、气流紊乱</a:t>
            </a:r>
          </a:p>
          <a:p>
            <a:pPr>
              <a:spcAft>
                <a:spcPts val="1000"/>
              </a:spcAft>
            </a:pPr>
            <a:r>
              <a:rPr sz="1700">
                <a:solidFill>
                  <a:srgbClr val="222B33"/>
                </a:solidFill>
                <a:latin typeface="Microsoft YaHei"/>
              </a:rPr>
              <a:t>▪ 东西多了，溢洒着火事故更大</a:t>
            </a:r>
          </a:p>
          <a:p>
            <a:pPr>
              <a:spcAft>
                <a:spcPts val="1000"/>
              </a:spcAft>
            </a:pPr>
            <a:r>
              <a:rPr sz="1700">
                <a:solidFill>
                  <a:srgbClr val="222B33"/>
                </a:solidFill>
                <a:latin typeface="Microsoft YaHei"/>
              </a:rPr>
              <a:t>▪ 柜内只放这次实验要用的东西</a:t>
            </a:r>
          </a:p>
          <a:p>
            <a:pPr>
              <a:spcAft>
                <a:spcPts val="1000"/>
              </a:spcAft>
            </a:pPr>
            <a:r>
              <a:rPr sz="1700">
                <a:solidFill>
                  <a:srgbClr val="222B33"/>
                </a:solidFill>
                <a:latin typeface="Microsoft YaHei"/>
              </a:rPr>
              <a:t>▪ 大设备垫高，纸张别被吸进风管</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通风柜不是试剂储存柜。柜内堆满瓶子和杂物，会挡住后部排风口，吸力下降，气流紊乱，把有毒气体带出来；不相容的化学品堆在一起可能相互反应，一旦溢洒或着火，还多了燃料，事故更大。易燃化学品不在通风柜内存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把通风柜当作长期存放试剂的地方</a:t>
            </a:r>
          </a:p>
          <a:p>
            <a:pPr>
              <a:spcAft>
                <a:spcPts val="1000"/>
              </a:spcAft>
            </a:pPr>
            <a:r>
              <a:rPr sz="1500">
                <a:solidFill>
                  <a:srgbClr val="222B33"/>
                </a:solidFill>
                <a:latin typeface="Microsoft YaHei"/>
              </a:rPr>
              <a:t>▪ 后部排风缝被瓶子挡住</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易燃物远离热源，不敞放废液</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柜里有易燃溶剂，热源要远离</a:t>
            </a:r>
          </a:p>
          <a:p>
            <a:pPr>
              <a:spcAft>
                <a:spcPts val="1000"/>
              </a:spcAft>
            </a:pPr>
            <a:r>
              <a:rPr sz="2000">
                <a:solidFill>
                  <a:srgbClr val="222B33"/>
                </a:solidFill>
                <a:latin typeface="Microsoft YaHei"/>
              </a:rPr>
              <a:t>▪ 不用明火，插头不在柜内插拔</a:t>
            </a:r>
          </a:p>
          <a:p>
            <a:pPr>
              <a:spcAft>
                <a:spcPts val="1000"/>
              </a:spcAft>
            </a:pPr>
            <a:r>
              <a:rPr sz="2000">
                <a:solidFill>
                  <a:srgbClr val="222B33"/>
                </a:solidFill>
                <a:latin typeface="Microsoft YaHei"/>
              </a:rPr>
              <a:t>▪ 废液不能敞着挥发，也不能倒进柜内水槽</a:t>
            </a:r>
          </a:p>
          <a:p>
            <a:pPr>
              <a:spcAft>
                <a:spcPts val="1000"/>
              </a:spcAft>
            </a:pPr>
            <a:r>
              <a:rPr sz="2000">
                <a:solidFill>
                  <a:srgbClr val="222B33"/>
                </a:solidFill>
                <a:latin typeface="Microsoft YaHei"/>
              </a:rPr>
              <a:t>▪ 废液分类收集，贴好标签盖紧</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通风柜内有易燃溶剂时，加热板等热源要远离溶剂，不使用明火；电器插头不放在柜内插拔，插座宜在柜外，防止电火花点燃蒸气。溶剂用完马上盖好。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把废溶剂放在柜里“自然挥发”</a:t>
            </a:r>
          </a:p>
          <a:p>
            <a:pPr>
              <a:spcAft>
                <a:spcPts val="1000"/>
              </a:spcAft>
            </a:pPr>
            <a:r>
              <a:rPr sz="1500">
                <a:solidFill>
                  <a:srgbClr val="222B33"/>
                </a:solidFill>
                <a:latin typeface="Microsoft YaHei"/>
              </a:rPr>
              <a:t>▪ 在柜内插拔加热设备电源</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不擅自改动通风柜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不拆导流板、不堵排风口、不加风扇</a:t>
            </a:r>
          </a:p>
          <a:p>
            <a:pPr>
              <a:spcAft>
                <a:spcPts val="1000"/>
              </a:spcAft>
            </a:pPr>
            <a:r>
              <a:rPr sz="2000">
                <a:solidFill>
                  <a:srgbClr val="222B33"/>
                </a:solidFill>
                <a:latin typeface="Microsoft YaHei"/>
              </a:rPr>
              <a:t>▪ 防护罩、联锁装置不能随意拆</a:t>
            </a:r>
          </a:p>
          <a:p>
            <a:pPr>
              <a:spcAft>
                <a:spcPts val="1000"/>
              </a:spcAft>
            </a:pPr>
            <a:r>
              <a:rPr sz="2000">
                <a:solidFill>
                  <a:srgbClr val="222B33"/>
                </a:solidFill>
                <a:latin typeface="Microsoft YaHei"/>
              </a:rPr>
              <a:t>▪ 排风不对劲，报告设施人员检修</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导流板、排风口、视窗、联锁装置和防护罩都是通风柜安全性能的一部分。使用者不得拆卸导流板、堵塞排风口、在柜口加装风扇，也不得随意拆除设备的防护罩和联锁装置。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嫌噪声大把排风口堵上</a:t>
            </a:r>
          </a:p>
          <a:p>
            <a:pPr>
              <a:spcAft>
                <a:spcPts val="1000"/>
              </a:spcAft>
            </a:pPr>
            <a:r>
              <a:rPr sz="1500">
                <a:solidFill>
                  <a:srgbClr val="222B33"/>
                </a:solidFill>
                <a:latin typeface="Microsoft YaHei"/>
              </a:rPr>
              <a:t>▪ 在柜口放电扇“加强通风”</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报警或停风：停、盖、关、撤、报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报警或停风时，有害物会跑出来</a:t>
            </a:r>
          </a:p>
          <a:p>
            <a:pPr>
              <a:spcAft>
                <a:spcPts val="1000"/>
              </a:spcAft>
            </a:pPr>
            <a:r>
              <a:rPr sz="1700">
                <a:solidFill>
                  <a:srgbClr val="222B33"/>
                </a:solidFill>
                <a:latin typeface="Microsoft YaHei"/>
              </a:rPr>
              <a:t>▪ 立即停止操作，盖好容器</a:t>
            </a:r>
          </a:p>
          <a:p>
            <a:pPr>
              <a:spcAft>
                <a:spcPts val="1000"/>
              </a:spcAft>
            </a:pPr>
            <a:r>
              <a:rPr sz="1700">
                <a:solidFill>
                  <a:srgbClr val="222B33"/>
                </a:solidFill>
                <a:latin typeface="Microsoft YaHei"/>
              </a:rPr>
              <a:t>▪ 关掉热源，拉下视窗</a:t>
            </a:r>
          </a:p>
          <a:p>
            <a:pPr>
              <a:spcAft>
                <a:spcPts val="1000"/>
              </a:spcAft>
            </a:pPr>
            <a:r>
              <a:rPr sz="1700">
                <a:solidFill>
                  <a:srgbClr val="222B33"/>
                </a:solidFill>
                <a:latin typeface="Microsoft YaHei"/>
              </a:rPr>
              <a:t>▪ 离开到安全处，立即报告</a:t>
            </a:r>
          </a:p>
          <a:p>
            <a:pPr>
              <a:spcAft>
                <a:spcPts val="1000"/>
              </a:spcAft>
            </a:pPr>
            <a:r>
              <a:rPr sz="1700">
                <a:solidFill>
                  <a:srgbClr val="222B33"/>
                </a:solidFill>
                <a:latin typeface="Microsoft YaHei"/>
              </a:rPr>
              <a:t>▪ 事先了解本单位应急预案，修好检测合格再用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风量报警、风机或线路故障时，通风会减弱甚至突然停止，柜内的有害物会跑出来。此时按“停、盖、关、撤、报”处理：停止操作；盖好容器；关闭热源，拉下视窗；离开到安全处；立即报告实验室负责人和学院安全管理员，请设施人员检修。</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报警了还想把这一步做完</a:t>
            </a:r>
          </a:p>
          <a:p>
            <a:pPr>
              <a:spcAft>
                <a:spcPts val="1000"/>
              </a:spcAft>
            </a:pPr>
            <a:r>
              <a:rPr sz="1500">
                <a:solidFill>
                  <a:srgbClr val="222B33"/>
                </a:solidFill>
                <a:latin typeface="Microsoft YaHei"/>
              </a:rPr>
              <a:t>▪ 停风后留在实验室里等</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用完清理，关闭视窗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做完实验，清空台面，擦干净</a:t>
            </a:r>
          </a:p>
          <a:p>
            <a:pPr>
              <a:spcAft>
                <a:spcPts val="1000"/>
              </a:spcAft>
            </a:pPr>
            <a:r>
              <a:rPr sz="2000">
                <a:solidFill>
                  <a:srgbClr val="222B33"/>
                </a:solidFill>
                <a:latin typeface="Microsoft YaHei"/>
              </a:rPr>
              <a:t>▪ 试剂归位，用不上的拿出来</a:t>
            </a:r>
          </a:p>
          <a:p>
            <a:pPr>
              <a:spcAft>
                <a:spcPts val="1000"/>
              </a:spcAft>
            </a:pPr>
            <a:r>
              <a:rPr sz="2000">
                <a:solidFill>
                  <a:srgbClr val="222B33"/>
                </a:solidFill>
                <a:latin typeface="Microsoft YaHei"/>
              </a:rPr>
              <a:t>▪ 不用时，把视窗关好</a:t>
            </a:r>
          </a:p>
          <a:p>
            <a:pPr>
              <a:spcAft>
                <a:spcPts val="1000"/>
              </a:spcAft>
            </a:pPr>
            <a:r>
              <a:rPr sz="2000">
                <a:solidFill>
                  <a:srgbClr val="222B33"/>
                </a:solidFill>
                <a:latin typeface="Microsoft YaHei"/>
              </a:rPr>
              <a:t>▪ 随手关窗，节能又安全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实验结束后，把用不上的器材和试剂拿出通风柜，试剂放回储存柜，擦净柜内台面，让下一位使用者面对的是干净的通风柜。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用完视窗敞着就离开</a:t>
            </a:r>
          </a:p>
          <a:p>
            <a:pPr>
              <a:spcAft>
                <a:spcPts val="1000"/>
              </a:spcAft>
            </a:pPr>
            <a:r>
              <a:rPr sz="1500">
                <a:solidFill>
                  <a:srgbClr val="222B33"/>
                </a:solidFill>
                <a:latin typeface="Microsoft YaHei"/>
              </a:rPr>
              <a:t>▪ 把用过的器皿留在柜里</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使用通风柜时，视窗的正确位置是：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推到顶，方便操作</a:t>
            </a:r>
          </a:p>
          <a:p>
            <a:pPr algn="l"/>
            <a:r>
              <a:rPr sz="1500" b="0">
                <a:solidFill>
                  <a:srgbClr val="222B33"/>
                </a:solidFill>
                <a:latin typeface="Microsoft YaHei"/>
              </a:rPr>
              <a:t>B. 下沿对准标定线或更低，挡在脸和化学品之间</a:t>
            </a:r>
          </a:p>
          <a:p>
            <a:pPr algn="l"/>
            <a:r>
              <a:rPr sz="1500" b="0">
                <a:solidFill>
                  <a:srgbClr val="222B33"/>
                </a:solidFill>
                <a:latin typeface="Microsoft YaHei"/>
              </a:rPr>
              <a:t>C. 下沿与口鼻齐平</a:t>
            </a:r>
          </a:p>
          <a:p>
            <a:pPr algn="l"/>
            <a:r>
              <a:rPr sz="1500" b="0">
                <a:solidFill>
                  <a:srgbClr val="222B33"/>
                </a:solidFill>
                <a:latin typeface="Microsoft YaHei"/>
              </a:rPr>
              <a:t>D. 完全关闭后再把手伸进去</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判断：通风柜排风很好，可以把常用的试剂长期放在柜里。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探头进柜看反应</a:t>
            </a:r>
          </a:p>
          <a:p>
            <a:pPr algn="l"/>
            <a:r>
              <a:rPr sz="1500" b="0">
                <a:solidFill>
                  <a:srgbClr val="222B33"/>
                </a:solidFill>
                <a:latin typeface="Microsoft YaHei"/>
              </a:rPr>
              <a:t>B. 在柜口前沿倾倒试剂</a:t>
            </a:r>
          </a:p>
          <a:p>
            <a:pPr algn="l"/>
            <a:r>
              <a:rPr sz="1500" b="0">
                <a:solidFill>
                  <a:srgbClr val="222B33"/>
                </a:solidFill>
                <a:latin typeface="Microsoft YaHei"/>
              </a:rPr>
              <a:t>C. 器皿放在柜内深处，手臂慢慢垂直抽出</a:t>
            </a:r>
          </a:p>
          <a:p>
            <a:pPr algn="l"/>
            <a:r>
              <a:rPr sz="1500" b="0">
                <a:solidFill>
                  <a:srgbClr val="222B33"/>
                </a:solidFill>
                <a:latin typeface="Microsoft YaHei"/>
              </a:rPr>
              <a:t>D. 把废溶剂敞口放在柜里挥发</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正在通风柜里加热溶剂时风量报警器响了，首先应该：</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按掉报警继续</a:t>
            </a:r>
          </a:p>
          <a:p>
            <a:pPr algn="l"/>
            <a:r>
              <a:rPr sz="1500" b="0">
                <a:solidFill>
                  <a:srgbClr val="222B33"/>
                </a:solidFill>
                <a:latin typeface="Microsoft YaHei"/>
              </a:rPr>
              <a:t>B. 把视窗推高加大通风</a:t>
            </a:r>
          </a:p>
          <a:p>
            <a:pPr algn="l"/>
            <a:r>
              <a:rPr sz="1500" b="0">
                <a:solidFill>
                  <a:srgbClr val="222B33"/>
                </a:solidFill>
                <a:latin typeface="Microsoft YaHei"/>
              </a:rPr>
              <a:t>C. 停止操作、盖好容器、关掉热源、拉下视窗，离开并报告</a:t>
            </a:r>
          </a:p>
          <a:p>
            <a:pPr algn="l"/>
            <a:r>
              <a:rPr sz="1500" b="0">
                <a:solidFill>
                  <a:srgbClr val="222B33"/>
                </a:solidFill>
                <a:latin typeface="Microsoft YaHei"/>
              </a:rPr>
              <a:t>D. 打开电扇对着柜口吹</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052 · 通风柜的正确使用</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052 通风柜的正确使用</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简答：使用通风柜前应检查哪些内容？</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装好只是一半，用对才完整</a:t>
            </a:r>
          </a:p>
          <a:p>
            <a:pPr>
              <a:spcAft>
                <a:spcPts val="800"/>
              </a:spcAft>
            </a:pPr>
            <a:r>
              <a:rPr sz="1500">
                <a:solidFill>
                  <a:srgbClr val="FFFFFF"/>
                </a:solidFill>
                <a:latin typeface="Microsoft YaHei"/>
              </a:rPr>
              <a:t>▪ K2  有害、挥发、易燃加热的操作进柜做</a:t>
            </a:r>
          </a:p>
          <a:p>
            <a:pPr>
              <a:spcAft>
                <a:spcPts val="800"/>
              </a:spcAft>
            </a:pPr>
            <a:r>
              <a:rPr sz="1500">
                <a:solidFill>
                  <a:srgbClr val="FFFFFF"/>
                </a:solidFill>
                <a:latin typeface="Microsoft YaHei"/>
              </a:rPr>
              <a:t>▪ K3  用前自检：开风机、看气流、看标识</a:t>
            </a:r>
          </a:p>
          <a:p>
            <a:pPr>
              <a:spcAft>
                <a:spcPts val="800"/>
              </a:spcAft>
            </a:pPr>
            <a:r>
              <a:rPr sz="1500">
                <a:solidFill>
                  <a:srgbClr val="FFFFFF"/>
                </a:solidFill>
                <a:latin typeface="Microsoft YaHei"/>
              </a:rPr>
              <a:t>▪ K4  柜内操作也要穿戴防护</a:t>
            </a:r>
          </a:p>
          <a:p>
            <a:pPr>
              <a:spcAft>
                <a:spcPts val="800"/>
              </a:spcAft>
            </a:pPr>
            <a:r>
              <a:rPr sz="1500">
                <a:solidFill>
                  <a:srgbClr val="FFFFFF"/>
                </a:solidFill>
                <a:latin typeface="Microsoft YaHei"/>
              </a:rPr>
              <a:t>▪ K5  视窗拉到标线以下</a:t>
            </a:r>
          </a:p>
          <a:p>
            <a:pPr>
              <a:spcAft>
                <a:spcPts val="800"/>
              </a:spcAft>
            </a:pPr>
            <a:r>
              <a:rPr sz="1500">
                <a:solidFill>
                  <a:srgbClr val="FFFFFF"/>
                </a:solidFill>
                <a:latin typeface="Microsoft YaHei"/>
              </a:rPr>
              <a:t>▪ K6  站着操作，头不伸进柜内</a:t>
            </a:r>
          </a:p>
          <a:p>
            <a:pPr>
              <a:spcAft>
                <a:spcPts val="800"/>
              </a:spcAft>
            </a:pPr>
            <a:r>
              <a:rPr sz="1500">
                <a:solidFill>
                  <a:srgbClr val="FFFFFF"/>
                </a:solidFill>
                <a:latin typeface="Microsoft YaHei"/>
              </a:rPr>
              <a:t>▪ K7  在柜内深处操作</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动作轻缓，材料一次放齐</a:t>
            </a:r>
          </a:p>
          <a:p>
            <a:pPr>
              <a:spcAft>
                <a:spcPts val="800"/>
              </a:spcAft>
            </a:pPr>
            <a:r>
              <a:rPr sz="1500">
                <a:solidFill>
                  <a:srgbClr val="FFFFFF"/>
                </a:solidFill>
                <a:latin typeface="Microsoft YaHei"/>
              </a:rPr>
              <a:t>▪ K9  不堆放、不挡风口，不当储存柜</a:t>
            </a:r>
          </a:p>
          <a:p>
            <a:pPr>
              <a:spcAft>
                <a:spcPts val="800"/>
              </a:spcAft>
            </a:pPr>
            <a:r>
              <a:rPr sz="1500">
                <a:solidFill>
                  <a:srgbClr val="FFFFFF"/>
                </a:solidFill>
                <a:latin typeface="Microsoft YaHei"/>
              </a:rPr>
              <a:t>▪ K10  易燃物远离热源，不敞放废液</a:t>
            </a:r>
          </a:p>
          <a:p>
            <a:pPr>
              <a:spcAft>
                <a:spcPts val="800"/>
              </a:spcAft>
            </a:pPr>
            <a:r>
              <a:rPr sz="1500">
                <a:solidFill>
                  <a:srgbClr val="FFFFFF"/>
                </a:solidFill>
                <a:latin typeface="Microsoft YaHei"/>
              </a:rPr>
              <a:t>▪ K11  不擅自改动通风柜</a:t>
            </a:r>
          </a:p>
          <a:p>
            <a:pPr>
              <a:spcAft>
                <a:spcPts val="800"/>
              </a:spcAft>
            </a:pPr>
            <a:r>
              <a:rPr sz="1500">
                <a:solidFill>
                  <a:srgbClr val="FFFFFF"/>
                </a:solidFill>
                <a:latin typeface="Microsoft YaHei"/>
              </a:rPr>
              <a:t>▪ K12  报警或停风：停、盖、关、撤、报</a:t>
            </a:r>
          </a:p>
          <a:p>
            <a:pPr>
              <a:spcAft>
                <a:spcPts val="800"/>
              </a:spcAft>
            </a:pPr>
            <a:r>
              <a:rPr sz="1500">
                <a:solidFill>
                  <a:srgbClr val="FFFFFF"/>
                </a:solidFill>
                <a:latin typeface="Microsoft YaHei"/>
              </a:rPr>
              <a:t>▪ K13  用完清理，关闭视窗</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实验室废物分类与收集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适用对象：全体在实验室产生废物的高校本科生、研究生和教职工（必修，进入实验室前完成）；化学、化工、材料、环境、医学、生命科学等专业重点学习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能说出实验室废物的主要类别（化学、生物、放射性、锐器、电子废物、一般废物），以及“分好、标好、存好、送走”的管理链条。</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能做到动手前规划废物处置、从源头减量，废液一律收集、不倒入下水道、不靠挥发处理。</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能判断废液能否混装：按性质分类收集，不相容不混装，含卤、含重金属废液单独收集，倒前先看标签并记录。</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能做到选用相容容器、放防漏托盘、不装满、标签写全、随手盖紧；空容器、沾污固体、废电池和电子废件按规定回收，废液桶异常时停加、远离、报告。</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《中华人民共和国固体废物污染环境防治法》（以现行文本为准）：产生危险废物的单位按规定分类收集、贮存，交有相应资质的单位利用处置</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日起施行）及《危险化学品安全管理条例》（以现行文本为准）：废弃危险化学品的处置依照生态环境保护法律法规执行</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《国家危险废物名录》（以现行版本为准）：实验室废液、沾染危险化学品的包装物和固体废物按危险废物管理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《中华人民共和国水污染防治法》（以现行文本为准）：禁止向水体和下水道排放有毒有害废液</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号，以现行文本为准）及高校实验室安全检查项目表：实验室废弃物分类收集、规范标识、不得倒入下水道</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18597-2023（以现行文本为准）《危险废物贮存污染控制标准》：容器材质与废物相容、不相容废物不混装、容器加盖和标识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《废弃电器电子产品回收处理管理条例》（以现行文本为准）：废弃电器电子产品交规范渠道回收处理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本校实验室废物管理规定：分类类别、标签式样、收集与交接流程以本校规定为准</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废物管理是实验安全的一环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实验总会产生废物，管理是安全的一环</a:t>
            </a:r>
          </a:p>
          <a:p>
            <a:pPr>
              <a:spcAft>
                <a:spcPts val="1000"/>
              </a:spcAft>
            </a:pPr>
            <a:r>
              <a:rPr sz="2000">
                <a:solidFill>
                  <a:srgbClr val="222B33"/>
                </a:solidFill>
                <a:latin typeface="Microsoft YaHei"/>
              </a:rPr>
              <a:t>▪ 分好、标好、存好、送走，一步不能少</a:t>
            </a:r>
          </a:p>
          <a:p>
            <a:pPr>
              <a:spcAft>
                <a:spcPts val="1000"/>
              </a:spcAft>
            </a:pPr>
            <a:r>
              <a:rPr sz="2000">
                <a:solidFill>
                  <a:srgbClr val="222B33"/>
                </a:solidFill>
                <a:latin typeface="Microsoft YaHei"/>
              </a:rPr>
              <a:t>▪ 管不好会引发火灾，实验全部停摆</a:t>
            </a:r>
          </a:p>
          <a:p>
            <a:pPr>
              <a:spcAft>
                <a:spcPts val="1000"/>
              </a:spcAft>
            </a:pPr>
            <a:r>
              <a:rPr sz="2000">
                <a:solidFill>
                  <a:srgbClr val="222B33"/>
                </a:solidFill>
                <a:latin typeface="Microsoft YaHei"/>
              </a:rPr>
              <a:t>▪ 处置出错危害健康和环境，单位担法律责任</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任何实验都会产生废物。废物管理看起来不起眼，却是实验室安全的重要一环：从产生的那一刻起，废物就要分好类、标识清楚、规范存放，直到交学校统一送有资质的单位处置，中间一步都不能少。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认为废物“倒掉就完事”，与安全无关</a:t>
            </a:r>
          </a:p>
          <a:p>
            <a:pPr>
              <a:spcAft>
                <a:spcPts val="1000"/>
              </a:spcAft>
            </a:pPr>
            <a:r>
              <a:rPr sz="1500">
                <a:solidFill>
                  <a:srgbClr val="222B33"/>
                </a:solidFill>
                <a:latin typeface="Microsoft YaHei"/>
              </a:rPr>
              <a:t>▪ 只管做实验，不管实验后的废物</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动手之前，先想好废物怎么处置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用一种化学品之前，先想好怎么处置</a:t>
            </a:r>
          </a:p>
          <a:p>
            <a:pPr>
              <a:spcAft>
                <a:spcPts val="1000"/>
              </a:spcAft>
            </a:pPr>
            <a:r>
              <a:rPr sz="2000">
                <a:solidFill>
                  <a:srgbClr val="222B33"/>
                </a:solidFill>
                <a:latin typeface="Microsoft YaHei"/>
              </a:rPr>
              <a:t>▪ 查安全技术说明书的废弃处置部分</a:t>
            </a:r>
          </a:p>
          <a:p>
            <a:pPr>
              <a:spcAft>
                <a:spcPts val="1000"/>
              </a:spcAft>
            </a:pPr>
            <a:r>
              <a:rPr sz="2000">
                <a:solidFill>
                  <a:srgbClr val="222B33"/>
                </a:solidFill>
                <a:latin typeface="Microsoft YaHei"/>
              </a:rPr>
              <a:t>▪ 按实验室和本校的书面规定执行</a:t>
            </a:r>
          </a:p>
          <a:p>
            <a:pPr>
              <a:spcAft>
                <a:spcPts val="1000"/>
              </a:spcAft>
            </a:pPr>
            <a:r>
              <a:rPr sz="2000">
                <a:solidFill>
                  <a:srgbClr val="222B33"/>
                </a:solidFill>
                <a:latin typeface="Microsoft YaHei"/>
              </a:rPr>
              <a:t>▪ 拿不准，就问导师和安全管理员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废物处置要在实验开始之前就规划好，而不是做完才想。使用一种化学品之前，先弄清楚它和产物会形成什么废物、归哪一类、放进哪个容器、谁来收运。</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实验做完才发现不知道废物放哪</a:t>
            </a:r>
          </a:p>
          <a:p>
            <a:pPr>
              <a:spcAft>
                <a:spcPts val="1000"/>
              </a:spcAft>
            </a:pPr>
            <a:r>
              <a:rPr sz="1500">
                <a:solidFill>
                  <a:srgbClr val="222B33"/>
                </a:solidFill>
                <a:latin typeface="Microsoft YaHei"/>
              </a:rPr>
              <a:t>▪ 凭经验判断能不能倒，不查说明书和规定</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实验室废物分几类，分开收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化学、生物、放射性、锐器、电子废物分开收</a:t>
            </a:r>
          </a:p>
          <a:p>
            <a:pPr>
              <a:spcAft>
                <a:spcPts val="1000"/>
              </a:spcAft>
            </a:pPr>
            <a:r>
              <a:rPr sz="2000">
                <a:solidFill>
                  <a:srgbClr val="222B33"/>
                </a:solidFill>
                <a:latin typeface="Microsoft YaHei"/>
              </a:rPr>
              <a:t>▪ 一般生活垃圾单独放，不和危废混</a:t>
            </a:r>
          </a:p>
          <a:p>
            <a:pPr>
              <a:spcAft>
                <a:spcPts val="1000"/>
              </a:spcAft>
            </a:pPr>
            <a:r>
              <a:rPr sz="2000">
                <a:solidFill>
                  <a:srgbClr val="222B33"/>
                </a:solidFill>
                <a:latin typeface="Microsoft YaHei"/>
              </a:rPr>
              <a:t>▪ 沾化学品和沾生物样品的分开收</a:t>
            </a:r>
          </a:p>
          <a:p>
            <a:pPr>
              <a:spcAft>
                <a:spcPts val="1000"/>
              </a:spcAft>
            </a:pPr>
            <a:r>
              <a:rPr sz="2000">
                <a:solidFill>
                  <a:srgbClr val="222B33"/>
                </a:solidFill>
                <a:latin typeface="Microsoft YaHei"/>
              </a:rPr>
              <a:t>▪ 生物废物先灭活，按专门要求处置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实验室废物一般分为：化学废物（废液、废固、沾染化学品的包装和耗材）、生物废物（培养物、样本、沾染生物材料的耗材，见第 077 课）、放射性废物（见第 091 课）、锐器（针头、刀片、碎玻璃，见第 029 课）、电子废……</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沾化学品的手套、纸巾扔进生活垃圾桶</a:t>
            </a:r>
          </a:p>
          <a:p>
            <a:pPr>
              <a:spcAft>
                <a:spcPts val="1000"/>
              </a:spcAft>
            </a:pPr>
            <a:r>
              <a:rPr sz="1500">
                <a:solidFill>
                  <a:srgbClr val="222B33"/>
                </a:solidFill>
                <a:latin typeface="Microsoft YaHei"/>
              </a:rPr>
              <a:t>▪ 化学废物和生物废物混在一个容器</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从源头减量，剩余试剂别浪费</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废物管理先从减量做起，按需领用</a:t>
            </a:r>
          </a:p>
          <a:p>
            <a:pPr>
              <a:spcAft>
                <a:spcPts val="1000"/>
              </a:spcAft>
            </a:pPr>
            <a:r>
              <a:rPr sz="2000">
                <a:solidFill>
                  <a:srgbClr val="222B33"/>
                </a:solidFill>
                <a:latin typeface="Microsoft YaHei"/>
              </a:rPr>
              <a:t>▪ 减量、再利用、再循环</a:t>
            </a:r>
          </a:p>
          <a:p>
            <a:pPr>
              <a:spcAft>
                <a:spcPts val="1000"/>
              </a:spcAft>
            </a:pPr>
            <a:r>
              <a:rPr sz="2000">
                <a:solidFill>
                  <a:srgbClr val="222B33"/>
                </a:solidFill>
                <a:latin typeface="Microsoft YaHei"/>
              </a:rPr>
              <a:t>▪ 剩余溶液可分给需要的人，没人要再入桶</a:t>
            </a:r>
          </a:p>
          <a:p>
            <a:pPr>
              <a:spcAft>
                <a:spcPts val="1000"/>
              </a:spcAft>
            </a:pPr>
            <a:r>
              <a:rPr sz="2000">
                <a:solidFill>
                  <a:srgbClr val="222B33"/>
                </a:solidFill>
                <a:latin typeface="Microsoft YaHei"/>
              </a:rPr>
              <a:t>▪ 后面还要用的试剂，别误当废物丢掉</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最好的废物管理是少产生废物。实验室从按需领用、减少用量做起，遵循“减量、再利用、再循环”的思路（绿色实验室理念见第 055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一次领取大量试剂，用不完变成废物</a:t>
            </a:r>
          </a:p>
          <a:p>
            <a:pPr>
              <a:spcAft>
                <a:spcPts val="1000"/>
              </a:spcAft>
            </a:pPr>
            <a:r>
              <a:rPr sz="1500">
                <a:solidFill>
                  <a:srgbClr val="222B33"/>
                </a:solidFill>
                <a:latin typeface="Microsoft YaHei"/>
              </a:rPr>
              <a:t>▪ 把后续还要用的溶液当废液倒掉</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下水道不是废液桶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危险废液严禁倒进水槽和下水道</a:t>
            </a:r>
          </a:p>
          <a:p>
            <a:pPr>
              <a:spcAft>
                <a:spcPts val="1000"/>
              </a:spcAft>
            </a:pPr>
            <a:r>
              <a:rPr sz="2000">
                <a:solidFill>
                  <a:srgbClr val="222B33"/>
                </a:solidFill>
                <a:latin typeface="Microsoft YaHei"/>
              </a:rPr>
              <a:t>▪ 易燃废液在管道里积蒸气，会起火爆炸</a:t>
            </a:r>
          </a:p>
          <a:p>
            <a:pPr>
              <a:spcAft>
                <a:spcPts val="1000"/>
              </a:spcAft>
            </a:pPr>
            <a:r>
              <a:rPr sz="2000">
                <a:solidFill>
                  <a:srgbClr val="222B33"/>
                </a:solidFill>
                <a:latin typeface="Microsoft YaHei"/>
              </a:rPr>
              <a:t>▪ 会腐蚀管道、污染水体，污水厂处理不了</a:t>
            </a:r>
          </a:p>
          <a:p>
            <a:pPr>
              <a:spcAft>
                <a:spcPts val="1000"/>
              </a:spcAft>
            </a:pPr>
            <a:r>
              <a:rPr sz="2000">
                <a:solidFill>
                  <a:srgbClr val="222B33"/>
                </a:solidFill>
                <a:latin typeface="Microsoft YaHei"/>
              </a:rPr>
              <a:t>▪ 稀释过的酸碱、醛类和灭菌剂废液也收集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下水道处理不了实验室化学品。易燃废液倒进去，蒸气会在管道里积聚，遇火源可能起火爆炸；酸碱和腐蚀性废液会腐蚀管道；有毒物质进入污水系统，污水处理厂处理不了，会污染水源和环境。倒错一次，后果就可能无法挽回。</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少量废液随手倒进水槽</a:t>
            </a:r>
          </a:p>
          <a:p>
            <a:pPr>
              <a:spcAft>
                <a:spcPts val="1000"/>
              </a:spcAft>
            </a:pPr>
            <a:r>
              <a:rPr sz="1500">
                <a:solidFill>
                  <a:srgbClr val="222B33"/>
                </a:solidFill>
                <a:latin typeface="Microsoft YaHei"/>
              </a:rPr>
              <a:t>▪ 认为稀释后就可以冲下水道</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按性质分类收集，不相容不混装</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不相容的废液混在一起，会出大事</a:t>
            </a:r>
          </a:p>
          <a:p>
            <a:pPr>
              <a:spcAft>
                <a:spcPts val="1000"/>
              </a:spcAft>
            </a:pPr>
            <a:r>
              <a:rPr sz="2000">
                <a:solidFill>
                  <a:srgbClr val="222B33"/>
                </a:solidFill>
                <a:latin typeface="Microsoft YaHei"/>
              </a:rPr>
              <a:t>▪ 酸碱混合放热沸溢，氧化剂遇易燃物起火</a:t>
            </a:r>
          </a:p>
          <a:p>
            <a:pPr>
              <a:spcAft>
                <a:spcPts val="1000"/>
              </a:spcAft>
            </a:pPr>
            <a:r>
              <a:rPr sz="2000">
                <a:solidFill>
                  <a:srgbClr val="222B33"/>
                </a:solidFill>
                <a:latin typeface="Microsoft YaHei"/>
              </a:rPr>
              <a:t>▪ 多数废物事故，都是混错了</a:t>
            </a:r>
          </a:p>
          <a:p>
            <a:pPr>
              <a:spcAft>
                <a:spcPts val="1000"/>
              </a:spcAft>
            </a:pPr>
            <a:r>
              <a:rPr sz="2000">
                <a:solidFill>
                  <a:srgbClr val="222B33"/>
                </a:solidFill>
                <a:latin typeface="Microsoft YaHei"/>
              </a:rPr>
              <a:t>▪ 按性质分开收，混装风险高、处置也贵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废液按性质分类收集，相互会反应的绝不能混在一个桶里。不相容的废液混合，可能放出有毒气体（如酸与含氰废液）、剧烈放热沸溢（如浓酸与浓碱）、着火（如氧化剂与易燃有机物），有的组合还会爆炸。多数实验室废物事故，都源于混错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为省事把各种废液倒进同一个桶</a:t>
            </a:r>
          </a:p>
          <a:p>
            <a:pPr>
              <a:spcAft>
                <a:spcPts val="1000"/>
              </a:spcAft>
            </a:pPr>
            <a:r>
              <a:rPr sz="1500">
                <a:solidFill>
                  <a:srgbClr val="222B33"/>
                </a:solidFill>
                <a:latin typeface="Microsoft YaHei"/>
              </a:rPr>
              <a:t>▪ 不知道桶里装的是什么就往里倒</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实验各环节的废液都要收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洗器皿前，残液先倒进废液桶</a:t>
            </a:r>
          </a:p>
          <a:p>
            <a:pPr>
              <a:spcAft>
                <a:spcPts val="1000"/>
              </a:spcAft>
            </a:pPr>
            <a:r>
              <a:rPr sz="2000">
                <a:solidFill>
                  <a:srgbClr val="222B33"/>
                </a:solidFill>
                <a:latin typeface="Microsoft YaHei"/>
              </a:rPr>
              <a:t>▪ 母液、滤液、馏出液、洗涤液都要收集</a:t>
            </a:r>
          </a:p>
          <a:p>
            <a:pPr>
              <a:spcAft>
                <a:spcPts val="1000"/>
              </a:spcAft>
            </a:pPr>
            <a:r>
              <a:rPr sz="2000">
                <a:solidFill>
                  <a:srgbClr val="222B33"/>
                </a:solidFill>
                <a:latin typeface="Microsoft YaHei"/>
              </a:rPr>
              <a:t>▪ 滴定废液、电极旧保存液也要收集</a:t>
            </a:r>
          </a:p>
          <a:p>
            <a:pPr>
              <a:spcAft>
                <a:spcPts val="1000"/>
              </a:spcAft>
            </a:pPr>
            <a:r>
              <a:rPr sz="2000">
                <a:solidFill>
                  <a:srgbClr val="222B33"/>
                </a:solidFill>
                <a:latin typeface="Microsoft YaHei"/>
              </a:rPr>
              <a:t>▪ 冲洗溶剂也收，边做边清理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废液不只是反应结束时剩下的那一瓶。过滤的滤液、重结晶的母液、蒸馏的馏出液和残液、各种洗涤液和冲洗溶剂、滴定剩余的酸碱、pH 电极排出的内充液和旧保存液、移液剩余的溶液，都要按类别倒进对应的废液容器，不随手倒进水槽。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洗涤液、冲洗液直接倒进水槽</a:t>
            </a:r>
          </a:p>
          <a:p>
            <a:pPr>
              <a:spcAft>
                <a:spcPts val="1000"/>
              </a:spcAft>
            </a:pPr>
            <a:r>
              <a:rPr sz="1500">
                <a:solidFill>
                  <a:srgbClr val="222B33"/>
                </a:solidFill>
                <a:latin typeface="Microsoft YaHei"/>
              </a:rPr>
              <a:t>▪ 废液先放在烧杯里，攒到最后一起处理</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含卤、含重金属的废液单独收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含卤和不含卤的有机废液分开收集</a:t>
            </a:r>
          </a:p>
          <a:p>
            <a:pPr>
              <a:spcAft>
                <a:spcPts val="1000"/>
              </a:spcAft>
            </a:pPr>
            <a:r>
              <a:rPr sz="2000">
                <a:solidFill>
                  <a:srgbClr val="222B33"/>
                </a:solidFill>
                <a:latin typeface="Microsoft YaHei"/>
              </a:rPr>
              <a:t>▪ 萃取后的有机相和水相分开收集</a:t>
            </a:r>
          </a:p>
          <a:p>
            <a:pPr>
              <a:spcAft>
                <a:spcPts val="1000"/>
              </a:spcAft>
            </a:pPr>
            <a:r>
              <a:rPr sz="2000">
                <a:solidFill>
                  <a:srgbClr val="222B33"/>
                </a:solidFill>
                <a:latin typeface="Microsoft YaHei"/>
              </a:rPr>
              <a:t>▪ 含铬、含汞等重金属废液单独收集</a:t>
            </a:r>
          </a:p>
          <a:p>
            <a:pPr>
              <a:spcAft>
                <a:spcPts val="1000"/>
              </a:spcAft>
            </a:pPr>
            <a:r>
              <a:rPr sz="2000">
                <a:solidFill>
                  <a:srgbClr val="222B33"/>
                </a:solidFill>
                <a:latin typeface="Microsoft YaHei"/>
              </a:rPr>
              <a:t>▪ 含金属的残渣单独收，混合污染的先问清</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有机废液通常要区分含卤（如二氯甲烷、氯仿）和不含卤两类，分开收集；萃取后剩下的有机相和水相也分开，洗下来的水层同样按本校规定收集，不倒水槽。二氯甲烷等含卤溶剂有毒，倒废液时不吸入蒸气，桶口不敞开（重点毒害品见第 04……</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含卤溶剂倒进不含卤的有机废液桶</a:t>
            </a:r>
          </a:p>
          <a:p>
            <a:pPr>
              <a:spcAft>
                <a:spcPts val="1000"/>
              </a:spcAft>
            </a:pPr>
            <a:r>
              <a:rPr sz="1500">
                <a:solidFill>
                  <a:srgbClr val="222B33"/>
                </a:solidFill>
                <a:latin typeface="Microsoft YaHei"/>
              </a:rPr>
              <a:t>▪ 含重金属的废液与普通废液混装</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每次倒之前，先看标签再记录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倒错一次，几小时后也可能起火</a:t>
            </a:r>
          </a:p>
          <a:p>
            <a:pPr>
              <a:spcAft>
                <a:spcPts val="1000"/>
              </a:spcAft>
            </a:pPr>
            <a:r>
              <a:rPr sz="2000">
                <a:solidFill>
                  <a:srgbClr val="222B33"/>
                </a:solidFill>
                <a:latin typeface="Microsoft YaHei"/>
              </a:rPr>
              <a:t>▪ 标签没错，事故常因为没人看</a:t>
            </a:r>
          </a:p>
          <a:p>
            <a:pPr>
              <a:spcAft>
                <a:spcPts val="1000"/>
              </a:spcAft>
            </a:pPr>
            <a:r>
              <a:rPr sz="2000">
                <a:solidFill>
                  <a:srgbClr val="222B33"/>
                </a:solidFill>
                <a:latin typeface="Microsoft YaHei"/>
              </a:rPr>
              <a:t>▪ 每次倒之前，都读一遍标签、查相容</a:t>
            </a:r>
          </a:p>
          <a:p>
            <a:pPr>
              <a:spcAft>
                <a:spcPts val="1000"/>
              </a:spcAft>
            </a:pPr>
            <a:r>
              <a:rPr sz="2000">
                <a:solidFill>
                  <a:srgbClr val="222B33"/>
                </a:solidFill>
                <a:latin typeface="Microsoft YaHei"/>
              </a:rPr>
              <a:t>▪ 倒了什么、多少，马上记在桶上</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原片举过一个例子：有人把少量硝酸倒进了有机溶剂废液桶，桶慢慢发热，几小时后起火。桶上的标签写得没错，只是倒的人没有看。</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不看标签，凭印象倒</a:t>
            </a:r>
          </a:p>
          <a:p>
            <a:pPr>
              <a:spcAft>
                <a:spcPts val="1000"/>
              </a:spcAft>
            </a:pPr>
            <a:r>
              <a:rPr sz="1500">
                <a:solidFill>
                  <a:srgbClr val="222B33"/>
                </a:solidFill>
                <a:latin typeface="Microsoft YaHei"/>
              </a:rPr>
              <a:t>▪ 倒了不记录，桶里成分说不清</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容器相容耐腐蚀，放托盘、不装满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用耐化学品的塑料或金属容器，材质与废液相容</a:t>
            </a:r>
          </a:p>
          <a:p>
            <a:pPr>
              <a:spcAft>
                <a:spcPts val="1000"/>
              </a:spcAft>
            </a:pPr>
            <a:r>
              <a:rPr sz="2000">
                <a:solidFill>
                  <a:srgbClr val="222B33"/>
                </a:solidFill>
                <a:latin typeface="Microsoft YaHei"/>
              </a:rPr>
              <a:t>▪ 废液桶放进防漏托盘</a:t>
            </a:r>
          </a:p>
          <a:p>
            <a:pPr>
              <a:spcAft>
                <a:spcPts val="1000"/>
              </a:spcAft>
            </a:pPr>
            <a:r>
              <a:rPr sz="2000">
                <a:solidFill>
                  <a:srgbClr val="222B33"/>
                </a:solidFill>
                <a:latin typeface="Microsoft YaHei"/>
              </a:rPr>
              <a:t>▪ 不要装太满，留出空间</a:t>
            </a:r>
          </a:p>
          <a:p>
            <a:pPr>
              <a:spcAft>
                <a:spcPts val="1000"/>
              </a:spcAft>
            </a:pPr>
            <a:r>
              <a:rPr sz="2000">
                <a:solidFill>
                  <a:srgbClr val="222B33"/>
                </a:solidFill>
                <a:latin typeface="Microsoft YaHei"/>
              </a:rPr>
              <a:t>▪ 远离热源和火源</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废液容器要耐化学品腐蚀，材质与所装废液相容（GB 18597-2023，以现行文本为准），例如腐蚀性废液不用会被腐蚀的容器。容器要完好、不渗漏，盖子能盖紧。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用饮料瓶等不合适的容器装废液</a:t>
            </a:r>
          </a:p>
          <a:p>
            <a:pPr>
              <a:spcAft>
                <a:spcPts val="1000"/>
              </a:spcAft>
            </a:pPr>
            <a:r>
              <a:rPr sz="1500">
                <a:solidFill>
                  <a:srgbClr val="222B33"/>
                </a:solidFill>
                <a:latin typeface="Microsoft YaHei"/>
              </a:rPr>
              <a:t>▪ 废液桶装到瓶口，直接放在地上</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标签写全，随手盖紧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容器不能没有标签，标签要一看就懂</a:t>
            </a:r>
          </a:p>
          <a:p>
            <a:pPr>
              <a:spcAft>
                <a:spcPts val="1000"/>
              </a:spcAft>
            </a:pPr>
            <a:r>
              <a:rPr sz="2000">
                <a:solidFill>
                  <a:srgbClr val="222B33"/>
                </a:solidFill>
                <a:latin typeface="Microsoft YaHei"/>
              </a:rPr>
              <a:t>▪ 写明成分和大致比例、危险特性、日期、单位</a:t>
            </a:r>
          </a:p>
          <a:p>
            <a:pPr>
              <a:spcAft>
                <a:spcPts val="1000"/>
              </a:spcAft>
            </a:pPr>
            <a:r>
              <a:rPr sz="2000">
                <a:solidFill>
                  <a:srgbClr val="222B33"/>
                </a:solidFill>
                <a:latin typeface="Microsoft YaHei"/>
              </a:rPr>
              <a:t>▪ 倒完随手盖紧，不能敞口</a:t>
            </a:r>
          </a:p>
          <a:p>
            <a:pPr>
              <a:spcAft>
                <a:spcPts val="1000"/>
              </a:spcAft>
            </a:pPr>
            <a:r>
              <a:rPr sz="2000">
                <a:solidFill>
                  <a:srgbClr val="222B33"/>
                </a:solidFill>
                <a:latin typeface="Microsoft YaHei"/>
              </a:rPr>
              <a:t>▪ 快满就送暂存点，自己的废物负责到底</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废物容器从开始使用就要贴好标签，暂存期间一看就懂。标签一般写明：废物名称、主要成分及大致比例、危险特性（易燃、腐蚀、有毒等）、开始收集日期、产生的实验室和责任人。式样以本校规定为准。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先倒废液，标签以后再补</a:t>
            </a:r>
          </a:p>
          <a:p>
            <a:pPr>
              <a:spcAft>
                <a:spcPts val="1000"/>
              </a:spcAft>
            </a:pPr>
            <a:r>
              <a:rPr sz="1500">
                <a:solidFill>
                  <a:srgbClr val="222B33"/>
                </a:solidFill>
                <a:latin typeface="Microsoft YaHei"/>
              </a:rPr>
              <a:t>▪ 漏斗插在桶口不盖盖子</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倒废液做好防护，不靠挥发处理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在通风柜里戴好防护，用漏斗慢慢倒</a:t>
            </a:r>
          </a:p>
          <a:p>
            <a:pPr>
              <a:spcAft>
                <a:spcPts val="1000"/>
              </a:spcAft>
            </a:pPr>
            <a:r>
              <a:rPr sz="2000">
                <a:solidFill>
                  <a:srgbClr val="222B33"/>
                </a:solidFill>
                <a:latin typeface="Microsoft YaHei"/>
              </a:rPr>
              <a:t>▪ 倒完取下漏斗，立即盖紧</a:t>
            </a:r>
          </a:p>
          <a:p>
            <a:pPr>
              <a:spcAft>
                <a:spcPts val="1000"/>
              </a:spcAft>
            </a:pPr>
            <a:r>
              <a:rPr sz="2000">
                <a:solidFill>
                  <a:srgbClr val="222B33"/>
                </a:solidFill>
                <a:latin typeface="Microsoft YaHei"/>
              </a:rPr>
              <a:t>▪ 不能把溶剂放通风柜里挥发了事</a:t>
            </a:r>
          </a:p>
          <a:p>
            <a:pPr>
              <a:spcAft>
                <a:spcPts val="1000"/>
              </a:spcAft>
            </a:pPr>
            <a:r>
              <a:rPr sz="2000">
                <a:solidFill>
                  <a:srgbClr val="222B33"/>
                </a:solidFill>
                <a:latin typeface="Microsoft YaHei"/>
              </a:rPr>
              <a:t>▪ 需要蒸发溶剂，先问负责人怎么做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倒废液时同样有溅洒和吸入风险。挥发性、有毒的废液在通风柜内倾倒，戴好护目镜、手套，穿实验服，用漏斗慢慢倒；倒完取下漏斗，立即盖紧桶盖。</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敞口放在通风柜里让废溶剂自己挥发</a:t>
            </a:r>
          </a:p>
          <a:p>
            <a:pPr>
              <a:spcAft>
                <a:spcPts val="1000"/>
              </a:spcAft>
            </a:pPr>
            <a:r>
              <a:rPr sz="1500">
                <a:solidFill>
                  <a:srgbClr val="222B33"/>
                </a:solidFill>
                <a:latin typeface="Microsoft YaHei"/>
              </a:rPr>
              <a:t>▪ 不戴防护、不用漏斗直接倒</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空瓶、手套、滤纸也是危险废物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沾染化学品的空瓶空桶也是危险废物</a:t>
            </a:r>
          </a:p>
          <a:p>
            <a:pPr>
              <a:spcAft>
                <a:spcPts val="1000"/>
              </a:spcAft>
            </a:pPr>
            <a:r>
              <a:rPr sz="2000">
                <a:solidFill>
                  <a:srgbClr val="222B33"/>
                </a:solidFill>
                <a:latin typeface="Microsoft YaHei"/>
              </a:rPr>
              <a:t>▪ 沾污手套、纸巾、滤纸进固体化学废物桶</a:t>
            </a:r>
          </a:p>
          <a:p>
            <a:pPr>
              <a:spcAft>
                <a:spcPts val="1000"/>
              </a:spcAft>
            </a:pPr>
            <a:r>
              <a:rPr sz="2000">
                <a:solidFill>
                  <a:srgbClr val="222B33"/>
                </a:solidFill>
                <a:latin typeface="Microsoft YaHei"/>
              </a:rPr>
              <a:t>▪ 废硅胶、干燥剂、薄层板也按危废收</a:t>
            </a:r>
          </a:p>
          <a:p>
            <a:pPr>
              <a:spcAft>
                <a:spcPts val="1000"/>
              </a:spcAft>
            </a:pPr>
            <a:r>
              <a:rPr sz="2000">
                <a:solidFill>
                  <a:srgbClr val="222B33"/>
                </a:solidFill>
                <a:latin typeface="Microsoft YaHei"/>
              </a:rPr>
              <a:t>▪ 过期、不明试剂单独存放，报告处理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容易被忽视的危险废物包括：盛装过危险化学品的空瓶、空桶等包装物；沾了化学品的手套、抹布、纸巾和滤纸；用过的硅胶、砂、棉花、干燥剂、活性炭渣和薄层板；沾溶剂的吸头和滴管。它们按固体化学废物收集，写清内容，盖好桶盖，不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空试剂瓶当普通垃圾扔掉</a:t>
            </a:r>
          </a:p>
          <a:p>
            <a:pPr>
              <a:spcAft>
                <a:spcPts val="1000"/>
              </a:spcAft>
            </a:pPr>
            <a:r>
              <a:rPr sz="1500">
                <a:solidFill>
                  <a:srgbClr val="222B33"/>
                </a:solidFill>
                <a:latin typeface="Microsoft YaHei"/>
              </a:rPr>
              <a:t>▪ 沾溶剂的硅胶、滤纸扔进生活垃圾桶</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废电池和电子废件回收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废旧电池放进专用回收箱</a:t>
            </a:r>
          </a:p>
          <a:p>
            <a:pPr>
              <a:spcAft>
                <a:spcPts val="1000"/>
              </a:spcAft>
            </a:pPr>
            <a:r>
              <a:rPr sz="2000">
                <a:solidFill>
                  <a:srgbClr val="222B33"/>
                </a:solidFill>
                <a:latin typeface="Microsoft YaHei"/>
              </a:rPr>
              <a:t>▪ 鼓包、破损的电池可能起火，单独存放</a:t>
            </a:r>
          </a:p>
          <a:p>
            <a:pPr>
              <a:spcAft>
                <a:spcPts val="1000"/>
              </a:spcAft>
            </a:pPr>
            <a:r>
              <a:rPr sz="2000">
                <a:solidFill>
                  <a:srgbClr val="222B33"/>
                </a:solidFill>
                <a:latin typeface="Microsoft YaHei"/>
              </a:rPr>
              <a:t>▪ 换下的电源等电子部件交回统一回收</a:t>
            </a:r>
          </a:p>
          <a:p>
            <a:pPr>
              <a:spcAft>
                <a:spcPts val="1000"/>
              </a:spcAft>
            </a:pPr>
            <a:r>
              <a:rPr sz="2000">
                <a:solidFill>
                  <a:srgbClr val="222B33"/>
                </a:solidFill>
                <a:latin typeface="Microsoft YaHei"/>
              </a:rPr>
              <a:t>▪ 空焊丝盘和废丝分开回收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废旧电池放进专用的回收箱，不扔进生活垃圾。鼓包、漏液、破损的电池可能短路起火，单独存放在不燃容器内并报告处理（电池安全见第 103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废电池随手扔进垃圾桶</a:t>
            </a:r>
          </a:p>
          <a:p>
            <a:pPr>
              <a:spcAft>
                <a:spcPts val="1000"/>
              </a:spcAft>
            </a:pPr>
            <a:r>
              <a:rPr sz="1500">
                <a:solidFill>
                  <a:srgbClr val="222B33"/>
                </a:solidFill>
                <a:latin typeface="Microsoft YaHei"/>
              </a:rPr>
              <a:t>▪ 换下的电子部件堆在实验室角落</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废液桶异常：停加、远离、报告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废液桶发热、冒气、鼓胀是危险信号</a:t>
            </a:r>
          </a:p>
          <a:p>
            <a:pPr>
              <a:spcAft>
                <a:spcPts val="1000"/>
              </a:spcAft>
            </a:pPr>
            <a:r>
              <a:rPr sz="2000">
                <a:solidFill>
                  <a:srgbClr val="222B33"/>
                </a:solidFill>
                <a:latin typeface="Microsoft YaHei"/>
              </a:rPr>
              <a:t>▪ 立即停止添加，人员远离</a:t>
            </a:r>
          </a:p>
          <a:p>
            <a:pPr>
              <a:spcAft>
                <a:spcPts val="1000"/>
              </a:spcAft>
            </a:pPr>
            <a:r>
              <a:rPr sz="2000">
                <a:solidFill>
                  <a:srgbClr val="222B33"/>
                </a:solidFill>
                <a:latin typeface="Microsoft YaHei"/>
              </a:rPr>
              <a:t>▪ 报告负责人，按应急预案处置</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废液桶出现发热、冒气、鼓胀、变色或异常气味，说明桶内可能发生了反应。此时立即停止往里添加，不要打开桶盖查看，带周围人员远离。</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发现桶发热还继续往里倒</a:t>
            </a:r>
          </a:p>
          <a:p>
            <a:pPr>
              <a:spcAft>
                <a:spcPts val="1000"/>
              </a:spcAft>
            </a:pPr>
            <a:r>
              <a:rPr sz="1500">
                <a:solidFill>
                  <a:srgbClr val="222B33"/>
                </a:solidFill>
                <a:latin typeface="Microsoft YaHei"/>
              </a:rPr>
              <a:t>▪ 自己打开鼓胀的桶盖查看</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实验结束后，烧杯里剩下少量稀释过的酸溶液，正确做法是：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倒进水槽，用大量水冲</a:t>
            </a:r>
          </a:p>
          <a:p>
            <a:pPr algn="l"/>
            <a:r>
              <a:rPr sz="1500" b="0">
                <a:solidFill>
                  <a:srgbClr val="222B33"/>
                </a:solidFill>
                <a:latin typeface="Microsoft YaHei"/>
              </a:rPr>
              <a:t>B. 倒进对应类别、贴好标签的废液桶并盖紧</a:t>
            </a:r>
          </a:p>
          <a:p>
            <a:pPr algn="l"/>
            <a:r>
              <a:rPr sz="1500" b="0">
                <a:solidFill>
                  <a:srgbClr val="222B33"/>
                </a:solidFill>
                <a:latin typeface="Microsoft YaHei"/>
              </a:rPr>
              <a:t>C. 敞口放在通风柜里让它挥发</a:t>
            </a:r>
          </a:p>
          <a:p>
            <a:pPr algn="l"/>
            <a:r>
              <a:rPr sz="1500" b="0">
                <a:solidFill>
                  <a:srgbClr val="222B33"/>
                </a:solidFill>
                <a:latin typeface="Microsoft YaHei"/>
              </a:rPr>
              <a:t>D. 倒进任意一个有空间的废液桶</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判断：只要桶上标签写得正确，倒废液时就不必再看标签。</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下列物品中，应按固体化学废物收集的是：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沾了有机溶剂的滤纸和手套</a:t>
            </a:r>
          </a:p>
          <a:p>
            <a:pPr algn="l"/>
            <a:r>
              <a:rPr sz="1500" b="0">
                <a:solidFill>
                  <a:srgbClr val="222B33"/>
                </a:solidFill>
                <a:latin typeface="Microsoft YaHei"/>
              </a:rPr>
              <a:t>B. 用过的硅胶</a:t>
            </a:r>
          </a:p>
          <a:p>
            <a:pPr algn="l"/>
            <a:r>
              <a:rPr sz="1500" b="0">
                <a:solidFill>
                  <a:srgbClr val="222B33"/>
                </a:solidFill>
                <a:latin typeface="Microsoft YaHei"/>
              </a:rPr>
              <a:t>C. 盛装过危险化学品的空试剂瓶</a:t>
            </a:r>
          </a:p>
          <a:p>
            <a:pPr algn="l"/>
            <a:r>
              <a:rPr sz="1500" b="0">
                <a:solidFill>
                  <a:srgbClr val="222B33"/>
                </a:solidFill>
                <a:latin typeface="Microsoft YaHei"/>
              </a:rPr>
              <a:t>D. 以上都是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关于废液容器，下列做法错误的是：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放在防漏托盘里</a:t>
            </a:r>
          </a:p>
          <a:p>
            <a:pPr algn="l"/>
            <a:r>
              <a:rPr sz="1500" b="0">
                <a:solidFill>
                  <a:srgbClr val="222B33"/>
                </a:solidFill>
                <a:latin typeface="Microsoft YaHei"/>
              </a:rPr>
              <a:t>B. 装到瓶口再送走，减少送的次数</a:t>
            </a:r>
          </a:p>
          <a:p>
            <a:pPr algn="l"/>
            <a:r>
              <a:rPr sz="1500" b="0">
                <a:solidFill>
                  <a:srgbClr val="222B33"/>
                </a:solidFill>
                <a:latin typeface="Microsoft YaHei"/>
              </a:rPr>
              <a:t>C. 材质与废液相容</a:t>
            </a:r>
          </a:p>
          <a:p>
            <a:pPr algn="l"/>
            <a:r>
              <a:rPr sz="1500" b="0">
                <a:solidFill>
                  <a:srgbClr val="222B33"/>
                </a:solidFill>
                <a:latin typeface="Microsoft YaHei"/>
              </a:rPr>
              <a:t>D. 远离热源和火源</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053 · 实验室废物分类与收集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053 实验室废物分类与收集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简答：发现废液桶发热、冒气、鼓胀，应该怎么做？</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废物管理是实验安全的一环</a:t>
            </a:r>
          </a:p>
          <a:p>
            <a:pPr>
              <a:spcAft>
                <a:spcPts val="800"/>
              </a:spcAft>
            </a:pPr>
            <a:r>
              <a:rPr sz="1500">
                <a:solidFill>
                  <a:srgbClr val="FFFFFF"/>
                </a:solidFill>
                <a:latin typeface="Microsoft YaHei"/>
              </a:rPr>
              <a:t>▪ K2  动手之前，先想好废物怎么处置</a:t>
            </a:r>
          </a:p>
          <a:p>
            <a:pPr>
              <a:spcAft>
                <a:spcPts val="800"/>
              </a:spcAft>
            </a:pPr>
            <a:r>
              <a:rPr sz="1500">
                <a:solidFill>
                  <a:srgbClr val="FFFFFF"/>
                </a:solidFill>
                <a:latin typeface="Microsoft YaHei"/>
              </a:rPr>
              <a:t>▪ K3  实验室废物分几类，分开收</a:t>
            </a:r>
          </a:p>
          <a:p>
            <a:pPr>
              <a:spcAft>
                <a:spcPts val="800"/>
              </a:spcAft>
            </a:pPr>
            <a:r>
              <a:rPr sz="1500">
                <a:solidFill>
                  <a:srgbClr val="FFFFFF"/>
                </a:solidFill>
                <a:latin typeface="Microsoft YaHei"/>
              </a:rPr>
              <a:t>▪ K4  从源头减量，剩余试剂别浪费</a:t>
            </a:r>
          </a:p>
          <a:p>
            <a:pPr>
              <a:spcAft>
                <a:spcPts val="800"/>
              </a:spcAft>
            </a:pPr>
            <a:r>
              <a:rPr sz="1500">
                <a:solidFill>
                  <a:srgbClr val="FFFFFF"/>
                </a:solidFill>
                <a:latin typeface="Microsoft YaHei"/>
              </a:rPr>
              <a:t>▪ K5  下水道不是废液桶</a:t>
            </a:r>
          </a:p>
          <a:p>
            <a:pPr>
              <a:spcAft>
                <a:spcPts val="800"/>
              </a:spcAft>
            </a:pPr>
            <a:r>
              <a:rPr sz="1500">
                <a:solidFill>
                  <a:srgbClr val="FFFFFF"/>
                </a:solidFill>
                <a:latin typeface="Microsoft YaHei"/>
              </a:rPr>
              <a:t>▪ K6  按性质分类收集，不相容不混装</a:t>
            </a:r>
          </a:p>
          <a:p>
            <a:pPr>
              <a:spcAft>
                <a:spcPts val="800"/>
              </a:spcAft>
            </a:pPr>
            <a:r>
              <a:rPr sz="1500">
                <a:solidFill>
                  <a:srgbClr val="FFFFFF"/>
                </a:solidFill>
                <a:latin typeface="Microsoft YaHei"/>
              </a:rPr>
              <a:t>▪ K7  实验各环节的废液都要收</a:t>
            </a:r>
          </a:p>
          <a:p>
            <a:pPr>
              <a:spcAft>
                <a:spcPts val="800"/>
              </a:spcAft>
            </a:pPr>
            <a:r>
              <a:rPr sz="1500">
                <a:solidFill>
                  <a:srgbClr val="FFFFFF"/>
                </a:solidFill>
                <a:latin typeface="Microsoft YaHei"/>
              </a:rPr>
              <a:t>▪ K8  含卤、含重金属的废液单独收</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每次倒之前，先看标签再记录</a:t>
            </a:r>
          </a:p>
          <a:p>
            <a:pPr>
              <a:spcAft>
                <a:spcPts val="800"/>
              </a:spcAft>
            </a:pPr>
            <a:r>
              <a:rPr sz="1500">
                <a:solidFill>
                  <a:srgbClr val="FFFFFF"/>
                </a:solidFill>
                <a:latin typeface="Microsoft YaHei"/>
              </a:rPr>
              <a:t>▪ K10  容器相容耐腐蚀，放托盘、不装满</a:t>
            </a:r>
          </a:p>
          <a:p>
            <a:pPr>
              <a:spcAft>
                <a:spcPts val="800"/>
              </a:spcAft>
            </a:pPr>
            <a:r>
              <a:rPr sz="1500">
                <a:solidFill>
                  <a:srgbClr val="FFFFFF"/>
                </a:solidFill>
                <a:latin typeface="Microsoft YaHei"/>
              </a:rPr>
              <a:t>▪ K11  标签写全，随手盖紧</a:t>
            </a:r>
          </a:p>
          <a:p>
            <a:pPr>
              <a:spcAft>
                <a:spcPts val="800"/>
              </a:spcAft>
            </a:pPr>
            <a:r>
              <a:rPr sz="1500">
                <a:solidFill>
                  <a:srgbClr val="FFFFFF"/>
                </a:solidFill>
                <a:latin typeface="Microsoft YaHei"/>
              </a:rPr>
              <a:t>▪ K12  倒废液做好防护，不靠挥发处理</a:t>
            </a:r>
          </a:p>
          <a:p>
            <a:pPr>
              <a:spcAft>
                <a:spcPts val="800"/>
              </a:spcAft>
            </a:pPr>
            <a:r>
              <a:rPr sz="1500">
                <a:solidFill>
                  <a:srgbClr val="FFFFFF"/>
                </a:solidFill>
                <a:latin typeface="Microsoft YaHei"/>
              </a:rPr>
              <a:t>▪ K13  空瓶、手套、滤纸也是危险废物</a:t>
            </a:r>
          </a:p>
          <a:p>
            <a:pPr>
              <a:spcAft>
                <a:spcPts val="800"/>
              </a:spcAft>
            </a:pPr>
            <a:r>
              <a:rPr sz="1500">
                <a:solidFill>
                  <a:srgbClr val="FFFFFF"/>
                </a:solidFill>
                <a:latin typeface="Microsoft YaHei"/>
              </a:rPr>
              <a:t>▪ K14  废电池和电子废件回收</a:t>
            </a:r>
          </a:p>
          <a:p>
            <a:pPr>
              <a:spcAft>
                <a:spcPts val="800"/>
              </a:spcAft>
            </a:pPr>
            <a:r>
              <a:rPr sz="1500">
                <a:solidFill>
                  <a:srgbClr val="FFFFFF"/>
                </a:solidFill>
                <a:latin typeface="Microsoft YaHei"/>
              </a:rPr>
              <a:t>▪ K15  废液桶异常：停加、远离、报告</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危险废物暂存与处置</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60 镜）　适用对象：全体产生危险废物的实验室人员（必修），实验室安全员、废物暂存点管理人员和学院安全管理人员重点学习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能说出危险废物的判定依据（《国家危险废物名录》和危险特性），以及“产生—暂存—转运—转移—处置”全程追踪的链条。</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能做到登记台账、在产生点旁规范暂存（分区、托盘、标志、标签、通风、远离火源）、不超量、装满及时转运。</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能判断含汞含铬废液、管控类化学品废弃物、成分不明废物和爆炸性残留物须单独处理，不自行处置。</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能说出校内交接登记、转移联单闭环、交有资质单位处置和“产生者责任不转移”的要求。</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《中华人民共和国固体废物污染环境防治法》（以现行文本为准）：危险废物产生单位建立管理台账、规范贮存、按规定转移，交持有许可证的单位利用处置</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日起施行）及《危险化学品安全管理条例》（以现行文本为准）：废弃危险化学品的处置依照生态环境保护法律法规执行</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《国家危险废物名录》（以现行版本为准）：危险废物的判定依据之一</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《危险废物转移管理办法》（以现行文本为准）：危险废物转移执行转移联单制度</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18597-2023（以现行文本为准）《危险废物贮存污染控制标准》：贮存设施防渗、分区、标志，不相容废物分开贮存，容器完好加盖</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《易制毒化学品管理条例》、《易制爆危险化学品治安管理办法》及剧毒化学品“五双”管理（以现行文本为准）：管控类化学品的废弃物按管控要求登记处置</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号，以现行文本为准）及高校实验室安全检查项目表：实验室废弃物暂存、及时清运与台账</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本校危险废物管理规定：暂存量、转运时限、交接流程以本校规定为准</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从产生到处置，全程追踪</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危险废物从产生一直追踪到最终处置</a:t>
            </a:r>
          </a:p>
          <a:p>
            <a:pPr>
              <a:spcAft>
                <a:spcPts val="1000"/>
              </a:spcAft>
            </a:pPr>
            <a:r>
              <a:rPr sz="2000">
                <a:solidFill>
                  <a:srgbClr val="222B33"/>
                </a:solidFill>
                <a:latin typeface="Microsoft YaHei"/>
              </a:rPr>
              <a:t>▪ 实验室、暂存点、学校贮存、处置单位</a:t>
            </a:r>
          </a:p>
          <a:p>
            <a:pPr>
              <a:spcAft>
                <a:spcPts val="1000"/>
              </a:spcAft>
            </a:pPr>
            <a:r>
              <a:rPr sz="2000">
                <a:solidFill>
                  <a:srgbClr val="222B33"/>
                </a:solidFill>
                <a:latin typeface="Microsoft YaHei"/>
              </a:rPr>
              <a:t>▪ 每一桶都要有记录，哪一环都不能断</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危险废物从产生的那一刻起就要纳入管理，经过实验室暂存点、学校（学院）集中贮存，再由有资质的单位运输和处置，每一个环节都要有记录可查，形成完整的追踪链条。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废物交出去之前不做任何记录</a:t>
            </a:r>
          </a:p>
          <a:p>
            <a:pPr>
              <a:spcAft>
                <a:spcPts val="1000"/>
              </a:spcAft>
            </a:pPr>
            <a:r>
              <a:rPr sz="1500">
                <a:solidFill>
                  <a:srgbClr val="222B33"/>
                </a:solidFill>
                <a:latin typeface="Microsoft YaHei"/>
              </a:rPr>
              <a:t>▪ 认为“送出实验室就和我无关了”</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怎样判定危险废物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一看是否列在《国家危险废物名录》里</a:t>
            </a:r>
          </a:p>
          <a:p>
            <a:pPr>
              <a:spcAft>
                <a:spcPts val="1000"/>
              </a:spcAft>
            </a:pPr>
            <a:r>
              <a:rPr sz="2000">
                <a:solidFill>
                  <a:srgbClr val="222B33"/>
                </a:solidFill>
                <a:latin typeface="Microsoft YaHei"/>
              </a:rPr>
              <a:t>▪ 二看是否有易燃、腐蚀、反应、毒性等危险特性</a:t>
            </a:r>
          </a:p>
          <a:p>
            <a:pPr>
              <a:spcAft>
                <a:spcPts val="1000"/>
              </a:spcAft>
            </a:pPr>
            <a:r>
              <a:rPr sz="2000">
                <a:solidFill>
                  <a:srgbClr val="222B33"/>
                </a:solidFill>
                <a:latin typeface="Microsoft YaHei"/>
              </a:rPr>
              <a:t>▪ 拿不准，就按危险废物管理并请教</a:t>
            </a:r>
          </a:p>
          <a:p>
            <a:pPr>
              <a:spcAft>
                <a:spcPts val="1000"/>
              </a:spcAft>
            </a:pPr>
            <a:r>
              <a:rPr sz="2000">
                <a:solidFill>
                  <a:srgbClr val="222B33"/>
                </a:solidFill>
                <a:latin typeface="Microsoft YaHei"/>
              </a:rPr>
              <a:t>▪ 依据固废法和名录，学校统一交有资质单位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依据《中华人民共和国固体废物污染环境防治法》和《国家危险废物名录》管理危险废物。判定一种废物是不是危险废物，一是看它是否列入名录（实验室废液、沾染危险化学品的包装物和耗材等通常在列）；二是看它是否具有腐蚀性、毒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认为“量少”就不算危险废物</a:t>
            </a:r>
          </a:p>
          <a:p>
            <a:pPr>
              <a:spcAft>
                <a:spcPts val="1000"/>
              </a:spcAft>
            </a:pPr>
            <a:r>
              <a:rPr sz="1500">
                <a:solidFill>
                  <a:srgbClr val="222B33"/>
                </a:solidFill>
                <a:latin typeface="Microsoft YaHei"/>
              </a:rPr>
              <a:t>▪ 自行把沾染化学品的废物当生活垃圾</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产生多少，登记统计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产生了什么、多少，登记台账</a:t>
            </a:r>
          </a:p>
          <a:p>
            <a:pPr>
              <a:spcAft>
                <a:spcPts val="1000"/>
              </a:spcAft>
            </a:pPr>
            <a:r>
              <a:rPr sz="2000">
                <a:solidFill>
                  <a:srgbClr val="222B33"/>
                </a:solidFill>
                <a:latin typeface="Microsoft YaHei"/>
              </a:rPr>
              <a:t>▪ 按月统计，产生越多，管理要求越严</a:t>
            </a:r>
          </a:p>
          <a:p>
            <a:pPr>
              <a:spcAft>
                <a:spcPts val="1000"/>
              </a:spcAft>
            </a:pPr>
            <a:r>
              <a:rPr sz="2000">
                <a:solidFill>
                  <a:srgbClr val="222B33"/>
                </a:solidFill>
                <a:latin typeface="Microsoft YaHei"/>
              </a:rPr>
              <a:t>▪ 台账汇总到学院和学校，据此申报处置</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产生危险废物的单位要建立危险废物管理台账，如实记录产生的种类、数量、去向等。实验室每次产生、交出废物都要登记，按月统计，做到心里有数。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不登记，交废物时才估个大概</a:t>
            </a:r>
          </a:p>
          <a:p>
            <a:pPr>
              <a:spcAft>
                <a:spcPts val="1000"/>
              </a:spcAft>
            </a:pPr>
            <a:r>
              <a:rPr sz="1500">
                <a:solidFill>
                  <a:srgbClr val="222B33"/>
                </a:solidFill>
                <a:latin typeface="Microsoft YaHei"/>
              </a:rPr>
              <a:t>▪ 台账与桶里的实际情况对不上</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暂存点设在产生点旁，存量有上限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废液先放在产生点旁的暂存区</a:t>
            </a:r>
          </a:p>
          <a:p>
            <a:pPr>
              <a:spcAft>
                <a:spcPts val="1000"/>
              </a:spcAft>
            </a:pPr>
            <a:r>
              <a:rPr sz="2000">
                <a:solidFill>
                  <a:srgbClr val="222B33"/>
                </a:solidFill>
                <a:latin typeface="Microsoft YaHei"/>
              </a:rPr>
              <a:t>▪ 由产生废物的人直接看管</a:t>
            </a:r>
          </a:p>
          <a:p>
            <a:pPr>
              <a:spcAft>
                <a:spcPts val="1000"/>
              </a:spcAft>
            </a:pPr>
            <a:r>
              <a:rPr sz="2000">
                <a:solidFill>
                  <a:srgbClr val="222B33"/>
                </a:solidFill>
                <a:latin typeface="Microsoft YaHei"/>
              </a:rPr>
              <a:t>▪ 暂存量有上限，不能越堆越多</a:t>
            </a:r>
          </a:p>
          <a:p>
            <a:pPr>
              <a:spcAft>
                <a:spcPts val="1000"/>
              </a:spcAft>
            </a:pPr>
            <a:r>
              <a:rPr sz="2000">
                <a:solidFill>
                  <a:srgbClr val="222B33"/>
                </a:solidFill>
                <a:latin typeface="Microsoft YaHei"/>
              </a:rPr>
              <a:t>▪ 按上限和产生量选合适大小的桶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实验室产生的危险废物，先放在产生点附近划定的暂存区，由使用的人直接看管，便于随时添加、检查和登记。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把废液桶放在走廊、楼梯间等公共区域</a:t>
            </a:r>
          </a:p>
          <a:p>
            <a:pPr>
              <a:spcAft>
                <a:spcPts val="1000"/>
              </a:spcAft>
            </a:pPr>
            <a:r>
              <a:rPr sz="1500">
                <a:solidFill>
                  <a:srgbClr val="222B33"/>
                </a:solidFill>
                <a:latin typeface="Microsoft YaHei"/>
              </a:rPr>
              <a:t>▪ 实验室里废液桶越堆越多</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实验室暂存点的日常管理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位置固定，设危废标志，每桶贴标签</a:t>
            </a:r>
          </a:p>
          <a:p>
            <a:pPr>
              <a:spcAft>
                <a:spcPts val="1000"/>
              </a:spcAft>
            </a:pPr>
            <a:r>
              <a:rPr sz="2000">
                <a:solidFill>
                  <a:srgbClr val="222B33"/>
                </a:solidFill>
                <a:latin typeface="Microsoft YaHei"/>
              </a:rPr>
              <a:t>▪ 不相容的废物分区隔开存放</a:t>
            </a:r>
          </a:p>
          <a:p>
            <a:pPr>
              <a:spcAft>
                <a:spcPts val="1000"/>
              </a:spcAft>
            </a:pPr>
            <a:r>
              <a:rPr sz="2000">
                <a:solidFill>
                  <a:srgbClr val="222B33"/>
                </a:solidFill>
                <a:latin typeface="Microsoft YaHei"/>
              </a:rPr>
              <a:t>▪ 放托盘、防渗漏，保持通风，桶盖盖紧</a:t>
            </a:r>
          </a:p>
          <a:p>
            <a:pPr>
              <a:spcAft>
                <a:spcPts val="1000"/>
              </a:spcAft>
            </a:pPr>
            <a:r>
              <a:rPr sz="2000">
                <a:solidFill>
                  <a:srgbClr val="222B33"/>
                </a:solidFill>
                <a:latin typeface="Microsoft YaHei"/>
              </a:rPr>
              <a:t>▪ 远离火源热源，不堵通道，定期检查登记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 18597-2023（以现行文本为准）《危险废物贮存污染控制标准》的原则和本校规定管理实验室暂存点：位置固定，设置危险废物标志，每个容器贴好危险废物标签（标签内容见第 053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不同类别的废液桶挤在一起</a:t>
            </a:r>
          </a:p>
          <a:p>
            <a:pPr>
              <a:spcAft>
                <a:spcPts val="1000"/>
              </a:spcAft>
            </a:pPr>
            <a:r>
              <a:rPr sz="1500">
                <a:solidFill>
                  <a:srgbClr val="222B33"/>
                </a:solidFill>
                <a:latin typeface="Microsoft YaHei"/>
              </a:rPr>
              <a:t>▪ 废液桶直接放在地上，没有托盘</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装满及时转运，不在实验室堆积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装满了，及时联系学校收运</a:t>
            </a:r>
          </a:p>
          <a:p>
            <a:pPr>
              <a:spcAft>
                <a:spcPts val="1000"/>
              </a:spcAft>
            </a:pPr>
            <a:r>
              <a:rPr sz="2000">
                <a:solidFill>
                  <a:srgbClr val="222B33"/>
                </a:solidFill>
                <a:latin typeface="Microsoft YaHei"/>
              </a:rPr>
              <a:t>▪ 在规定时间内转走，时限以本校规定为准</a:t>
            </a:r>
          </a:p>
          <a:p>
            <a:pPr>
              <a:spcAft>
                <a:spcPts val="1000"/>
              </a:spcAft>
            </a:pPr>
            <a:r>
              <a:rPr sz="2000">
                <a:solidFill>
                  <a:srgbClr val="222B33"/>
                </a:solidFill>
                <a:latin typeface="Microsoft YaHei"/>
              </a:rPr>
              <a:t>▪ 转运前盖紧盖子，擦净外壁</a:t>
            </a:r>
          </a:p>
          <a:p>
            <a:pPr>
              <a:spcAft>
                <a:spcPts val="1000"/>
              </a:spcAft>
            </a:pPr>
            <a:r>
              <a:rPr sz="2000">
                <a:solidFill>
                  <a:srgbClr val="222B33"/>
                </a:solidFill>
                <a:latin typeface="Microsoft YaHei"/>
              </a:rPr>
              <a:t>▪ 一直堆在实验室，就是违规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容器装到规定量（不要装太满）就封好，及时联系学校或学院的收运部门，在规定时间内转运到学校集中贮存点。具体时限以本校规定为准。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桶满了继续放着，等“攒够一车”</a:t>
            </a:r>
          </a:p>
          <a:p>
            <a:pPr>
              <a:spcAft>
                <a:spcPts val="1000"/>
              </a:spcAft>
            </a:pPr>
            <a:r>
              <a:rPr sz="1500">
                <a:solidFill>
                  <a:srgbClr val="222B33"/>
                </a:solidFill>
                <a:latin typeface="Microsoft YaHei"/>
              </a:rPr>
              <a:t>▪ 桶外壁沾着废液就送走</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含汞含铬、管控类和不明废物单独处理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含汞、含铬等特殊废液单独收集存放</a:t>
            </a:r>
          </a:p>
          <a:p>
            <a:pPr>
              <a:spcAft>
                <a:spcPts val="1000"/>
              </a:spcAft>
            </a:pPr>
            <a:r>
              <a:rPr sz="2000">
                <a:solidFill>
                  <a:srgbClr val="222B33"/>
                </a:solidFill>
                <a:latin typeface="Microsoft YaHei"/>
              </a:rPr>
              <a:t>▪ 不在实验室自行沉淀、还原处理废液</a:t>
            </a:r>
          </a:p>
          <a:p>
            <a:pPr>
              <a:spcAft>
                <a:spcPts val="1000"/>
              </a:spcAft>
            </a:pPr>
            <a:r>
              <a:rPr sz="2000">
                <a:solidFill>
                  <a:srgbClr val="222B33"/>
                </a:solidFill>
                <a:latin typeface="Microsoft YaHei"/>
              </a:rPr>
              <a:t>▪ 管控类化学品的废弃物按管控要求登记</a:t>
            </a:r>
          </a:p>
          <a:p>
            <a:pPr>
              <a:spcAft>
                <a:spcPts val="1000"/>
              </a:spcAft>
            </a:pPr>
            <a:r>
              <a:rPr sz="2000">
                <a:solidFill>
                  <a:srgbClr val="222B33"/>
                </a:solidFill>
                <a:latin typeface="Microsoft YaHei"/>
              </a:rPr>
              <a:t>▪ 成分不明的单独放，报告鉴别</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含汞、含铬等重金属的废液和废物单独收集、单独存放，不与其他废液混装，标明成分，交学校按危险废物处置。实验室不自行用沉淀、还原等方法“处理”废液后排放，处置工作由有资质的单位完成。洒落汞的应急处置见第 056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自己在实验室把含重金属废液沉淀后倒掉</a:t>
            </a:r>
          </a:p>
          <a:p>
            <a:pPr>
              <a:spcAft>
                <a:spcPts val="1000"/>
              </a:spcAft>
            </a:pPr>
            <a:r>
              <a:rPr sz="1500">
                <a:solidFill>
                  <a:srgbClr val="222B33"/>
                </a:solidFill>
                <a:latin typeface="Microsoft YaHei"/>
              </a:rPr>
              <a:t>▪ 剧毒化学品的空瓶、残液随普通废物交出</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爆炸性残留物不回收，先问负责人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爆炸性残留物风险特别大</a:t>
            </a:r>
          </a:p>
          <a:p>
            <a:pPr>
              <a:spcAft>
                <a:spcPts val="1000"/>
              </a:spcAft>
            </a:pPr>
            <a:r>
              <a:rPr sz="2000">
                <a:solidFill>
                  <a:srgbClr val="222B33"/>
                </a:solidFill>
                <a:latin typeface="Microsoft YaHei"/>
              </a:rPr>
              <a:t>▪ 不冲下水道，不送去回收</a:t>
            </a:r>
          </a:p>
          <a:p>
            <a:pPr>
              <a:spcAft>
                <a:spcPts val="1000"/>
              </a:spcAft>
            </a:pPr>
            <a:r>
              <a:rPr sz="2000">
                <a:solidFill>
                  <a:srgbClr val="222B33"/>
                </a:solidFill>
                <a:latin typeface="Microsoft YaHei"/>
              </a:rPr>
              <a:t>▪ 怎么处置，先问实验室负责人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部分化学品可以回收利用，但具有爆炸性的残留物例外：它们不能冲进下水道，也不能送去回收，更不能自行处理。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把可疑的爆炸性残留物和普通固废混在一起</a:t>
            </a:r>
          </a:p>
          <a:p>
            <a:pPr>
              <a:spcAft>
                <a:spcPts val="1000"/>
              </a:spcAft>
            </a:pPr>
            <a:r>
              <a:rPr sz="1500">
                <a:solidFill>
                  <a:srgbClr val="222B33"/>
                </a:solidFill>
                <a:latin typeface="Microsoft YaHei"/>
              </a:rPr>
              <a:t>▪ 自己尝试“销毁”残留物</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按学校安排交接，登记签字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按学校通知的时间地点送交</a:t>
            </a:r>
          </a:p>
          <a:p>
            <a:pPr>
              <a:spcAft>
                <a:spcPts val="1000"/>
              </a:spcAft>
            </a:pPr>
            <a:r>
              <a:rPr sz="2000">
                <a:solidFill>
                  <a:srgbClr val="222B33"/>
                </a:solidFill>
                <a:latin typeface="Microsoft YaHei"/>
              </a:rPr>
              <a:t>▪ 核对标签，包装完好不渗漏</a:t>
            </a:r>
          </a:p>
          <a:p>
            <a:pPr>
              <a:spcAft>
                <a:spcPts val="1000"/>
              </a:spcAft>
            </a:pPr>
            <a:r>
              <a:rPr sz="2000">
                <a:solidFill>
                  <a:srgbClr val="222B33"/>
                </a:solidFill>
                <a:latin typeface="Microsoft YaHei"/>
              </a:rPr>
              <a:t>▪ 交接登记，双方签字</a:t>
            </a:r>
          </a:p>
          <a:p>
            <a:pPr>
              <a:spcAft>
                <a:spcPts val="1000"/>
              </a:spcAft>
            </a:pPr>
            <a:r>
              <a:rPr sz="2000">
                <a:solidFill>
                  <a:srgbClr val="222B33"/>
                </a:solidFill>
                <a:latin typeface="Microsoft YaHei"/>
              </a:rPr>
              <a:t>▪ 不私自交给无资质的单位或个人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危险废物按学校或学院通知的收运时间和地点送交，用推车等方式平稳搬运（校内搬运要求见第 050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不按收运时间，把桶直接放在贮存点门口</a:t>
            </a:r>
          </a:p>
          <a:p>
            <a:pPr>
              <a:spcAft>
                <a:spcPts val="1000"/>
              </a:spcAft>
            </a:pPr>
            <a:r>
              <a:rPr sz="1500">
                <a:solidFill>
                  <a:srgbClr val="222B33"/>
                </a:solidFill>
                <a:latin typeface="Microsoft YaHei"/>
              </a:rPr>
              <a:t>▪ 把废溶剂桶卖给废品收购人员</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转移联单，跟踪到闭环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运出危险废物，要有转移联单</a:t>
            </a:r>
          </a:p>
          <a:p>
            <a:pPr>
              <a:spcAft>
                <a:spcPts val="1000"/>
              </a:spcAft>
            </a:pPr>
            <a:r>
              <a:rPr sz="2000">
                <a:solidFill>
                  <a:srgbClr val="222B33"/>
                </a:solidFill>
                <a:latin typeface="Microsoft YaHei"/>
              </a:rPr>
              <a:t>▪ 谁产生、谁运输、谁处置，一清二楚</a:t>
            </a:r>
          </a:p>
          <a:p>
            <a:pPr>
              <a:spcAft>
                <a:spcPts val="1000"/>
              </a:spcAft>
            </a:pPr>
            <a:r>
              <a:rPr sz="2000">
                <a:solidFill>
                  <a:srgbClr val="222B33"/>
                </a:solidFill>
                <a:latin typeface="Microsoft YaHei"/>
              </a:rPr>
              <a:t>▪ 处置单位签回，才算闭环；没回来要追查</a:t>
            </a:r>
          </a:p>
          <a:p>
            <a:pPr>
              <a:spcAft>
                <a:spcPts val="1000"/>
              </a:spcAft>
            </a:pPr>
            <a:r>
              <a:rPr sz="2000">
                <a:solidFill>
                  <a:srgbClr val="222B33"/>
                </a:solidFill>
                <a:latin typeface="Microsoft YaHei"/>
              </a:rPr>
              <a:t>▪ 联单和台账按规定保存备查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危险废物运出学校时，按《危险废物转移管理办法》（以现行文本为准）执行转移联单制度，目前一般通过电子联单办理。联单记录产生单位、运输单位和接收处置单位，形成不间断的监管链。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废物运走后不跟踪联单</a:t>
            </a:r>
          </a:p>
          <a:p>
            <a:pPr>
              <a:spcAft>
                <a:spcPts val="1000"/>
              </a:spcAft>
            </a:pPr>
            <a:r>
              <a:rPr sz="1500">
                <a:solidFill>
                  <a:srgbClr val="222B33"/>
                </a:solidFill>
                <a:latin typeface="Microsoft YaHei"/>
              </a:rPr>
              <a:t>▪ 交接记录、联单随意丢弃</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交有资质单位，产生者责任不转移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学校统一交给持有许可证的处置单位</a:t>
            </a:r>
          </a:p>
          <a:p>
            <a:pPr>
              <a:spcAft>
                <a:spcPts val="1000"/>
              </a:spcAft>
            </a:pPr>
            <a:r>
              <a:rPr sz="2000">
                <a:solidFill>
                  <a:srgbClr val="222B33"/>
                </a:solidFill>
                <a:latin typeface="Microsoft YaHei"/>
              </a:rPr>
              <a:t>▪ 学校核实处置单位的经营许可</a:t>
            </a:r>
          </a:p>
          <a:p>
            <a:pPr>
              <a:spcAft>
                <a:spcPts val="1000"/>
              </a:spcAft>
            </a:pPr>
            <a:r>
              <a:rPr sz="2000">
                <a:solidFill>
                  <a:srgbClr val="222B33"/>
                </a:solidFill>
                <a:latin typeface="Microsoft YaHei"/>
              </a:rPr>
              <a:t>▪ 交出去了，责任并没有交出去</a:t>
            </a:r>
          </a:p>
          <a:p>
            <a:pPr>
              <a:spcAft>
                <a:spcPts val="1000"/>
              </a:spcAft>
            </a:pPr>
            <a:r>
              <a:rPr sz="2000">
                <a:solidFill>
                  <a:srgbClr val="222B33"/>
                </a:solidFill>
                <a:latin typeface="Microsoft YaHei"/>
              </a:rPr>
              <a:t>▪ 不倒下水道，不混进生活垃圾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实验室的危险废物分类收集、贴好标签、规范暂存后，由学校统一委托持有危险废物经营许可证的单位运输和处置，学校负责核实对方的资质和许可范围。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以为交给收运人员后就与学校无关</a:t>
            </a:r>
          </a:p>
          <a:p>
            <a:pPr>
              <a:spcAft>
                <a:spcPts val="1000"/>
              </a:spcAft>
            </a:pPr>
            <a:r>
              <a:rPr sz="1500">
                <a:solidFill>
                  <a:srgbClr val="222B33"/>
                </a:solidFill>
                <a:latin typeface="Microsoft YaHei"/>
              </a:rPr>
              <a:t>▪ 为省费用找无资质的人清运</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从源头到终点都经得起查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暂存不超量，分类不出错</a:t>
            </a:r>
          </a:p>
          <a:p>
            <a:pPr>
              <a:spcAft>
                <a:spcPts val="1000"/>
              </a:spcAft>
            </a:pPr>
            <a:r>
              <a:rPr sz="2000">
                <a:solidFill>
                  <a:srgbClr val="222B33"/>
                </a:solidFill>
                <a:latin typeface="Microsoft YaHei"/>
              </a:rPr>
              <a:t>▪ 台账、标签、联单都对得上</a:t>
            </a:r>
          </a:p>
          <a:p>
            <a:pPr>
              <a:spcAft>
                <a:spcPts val="1000"/>
              </a:spcAft>
            </a:pPr>
            <a:r>
              <a:rPr sz="2000">
                <a:solidFill>
                  <a:srgbClr val="222B33"/>
                </a:solidFill>
                <a:latin typeface="Microsoft YaHei"/>
              </a:rPr>
              <a:t>▪ 不知道规定，不能成为借口</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危险废物管理要随时经得起检查：暂存点不超量、不超期，分类和标签正确，台账、交接记录和联单相互对得上。学校和上级部门的实验室安全检查会把废物管理作为重点项目（见第 005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检查前临时突击清运</a:t>
            </a:r>
          </a:p>
          <a:p>
            <a:pPr>
              <a:spcAft>
                <a:spcPts val="1000"/>
              </a:spcAft>
            </a:pPr>
            <a:r>
              <a:rPr sz="1500">
                <a:solidFill>
                  <a:srgbClr val="222B33"/>
                </a:solidFill>
                <a:latin typeface="Microsoft YaHei"/>
              </a:rPr>
              <a:t>▪ 以“没人告诉我”为由不按规定处理</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判定一种实验废物是否属于危险废物，主要依据是：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气味大不大</a:t>
            </a:r>
          </a:p>
          <a:p>
            <a:pPr algn="l"/>
            <a:r>
              <a:rPr sz="1500" b="0">
                <a:solidFill>
                  <a:srgbClr val="222B33"/>
                </a:solidFill>
                <a:latin typeface="Microsoft YaHei"/>
              </a:rPr>
              <a:t>B. 是否列入《国家危险废物名录》或具有危险特性</a:t>
            </a:r>
          </a:p>
          <a:p>
            <a:pPr algn="l"/>
            <a:r>
              <a:rPr sz="1500" b="0">
                <a:solidFill>
                  <a:srgbClr val="222B33"/>
                </a:solidFill>
                <a:latin typeface="Microsoft YaHei"/>
              </a:rPr>
              <a:t>C. 量多不多</a:t>
            </a:r>
          </a:p>
          <a:p>
            <a:pPr algn="l"/>
            <a:r>
              <a:rPr sz="1500" b="0">
                <a:solidFill>
                  <a:srgbClr val="222B33"/>
                </a:solidFill>
                <a:latin typeface="Microsoft YaHei"/>
              </a:rPr>
              <a:t>D. 是否有颜色</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判断：废液桶装满后可以先放在实验室，等攒够几桶再联系收运。</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下列关于实验室暂存点的做法，错误的是：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设危险废物标志，每桶贴标签</a:t>
            </a:r>
          </a:p>
          <a:p>
            <a:pPr algn="l"/>
            <a:r>
              <a:rPr sz="1500" b="0">
                <a:solidFill>
                  <a:srgbClr val="222B33"/>
                </a:solidFill>
                <a:latin typeface="Microsoft YaHei"/>
              </a:rPr>
              <a:t>B. 酸性废液和有机废液紧挨着放在一个托盘里</a:t>
            </a:r>
          </a:p>
          <a:p>
            <a:pPr algn="l"/>
            <a:r>
              <a:rPr sz="1500" b="0">
                <a:solidFill>
                  <a:srgbClr val="222B33"/>
                </a:solidFill>
                <a:latin typeface="Microsoft YaHei"/>
              </a:rPr>
              <a:t>C. 远离热源火源，不堵通道</a:t>
            </a:r>
          </a:p>
          <a:p>
            <a:pPr algn="l"/>
            <a:r>
              <a:rPr sz="1500" b="0">
                <a:solidFill>
                  <a:srgbClr val="222B33"/>
                </a:solidFill>
                <a:latin typeface="Microsoft YaHei"/>
              </a:rPr>
              <a:t>D. 定期检查并登记</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危险废物交给处置单位后，下列说法正确的是：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责任全部转给处置单位</a:t>
            </a:r>
          </a:p>
          <a:p>
            <a:pPr algn="l"/>
            <a:r>
              <a:rPr sz="1500" b="0">
                <a:solidFill>
                  <a:srgbClr val="222B33"/>
                </a:solidFill>
                <a:latin typeface="Microsoft YaHei"/>
              </a:rPr>
              <a:t>B. 不用再跟踪</a:t>
            </a:r>
          </a:p>
          <a:p>
            <a:pPr algn="l"/>
            <a:r>
              <a:rPr sz="1500" b="0">
                <a:solidFill>
                  <a:srgbClr val="222B33"/>
                </a:solidFill>
                <a:latin typeface="Microsoft YaHei"/>
              </a:rPr>
              <a:t>C. 产生单位的责任不转移，要交给有资质的单位并跟踪联单闭环</a:t>
            </a:r>
          </a:p>
          <a:p>
            <a:pPr algn="l"/>
            <a:r>
              <a:rPr sz="1500" b="0">
                <a:solidFill>
                  <a:srgbClr val="222B33"/>
                </a:solidFill>
                <a:latin typeface="Microsoft YaHei"/>
              </a:rPr>
              <a:t>D. 可以交给出价低的个人</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简答：实验室发现一瓶标签脱落、成分不明的废试剂，应怎么处理？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从产生到处置，全程追踪</a:t>
            </a:r>
          </a:p>
          <a:p>
            <a:pPr>
              <a:spcAft>
                <a:spcPts val="800"/>
              </a:spcAft>
            </a:pPr>
            <a:r>
              <a:rPr sz="1500">
                <a:solidFill>
                  <a:srgbClr val="FFFFFF"/>
                </a:solidFill>
                <a:latin typeface="Microsoft YaHei"/>
              </a:rPr>
              <a:t>▪ K2  怎样判定危险废物</a:t>
            </a:r>
          </a:p>
          <a:p>
            <a:pPr>
              <a:spcAft>
                <a:spcPts val="800"/>
              </a:spcAft>
            </a:pPr>
            <a:r>
              <a:rPr sz="1500">
                <a:solidFill>
                  <a:srgbClr val="FFFFFF"/>
                </a:solidFill>
                <a:latin typeface="Microsoft YaHei"/>
              </a:rPr>
              <a:t>▪ K3  产生多少，登记统计</a:t>
            </a:r>
          </a:p>
          <a:p>
            <a:pPr>
              <a:spcAft>
                <a:spcPts val="800"/>
              </a:spcAft>
            </a:pPr>
            <a:r>
              <a:rPr sz="1500">
                <a:solidFill>
                  <a:srgbClr val="FFFFFF"/>
                </a:solidFill>
                <a:latin typeface="Microsoft YaHei"/>
              </a:rPr>
              <a:t>▪ K4  暂存点设在产生点旁，存量有上限</a:t>
            </a:r>
          </a:p>
          <a:p>
            <a:pPr>
              <a:spcAft>
                <a:spcPts val="800"/>
              </a:spcAft>
            </a:pPr>
            <a:r>
              <a:rPr sz="1500">
                <a:solidFill>
                  <a:srgbClr val="FFFFFF"/>
                </a:solidFill>
                <a:latin typeface="Microsoft YaHei"/>
              </a:rPr>
              <a:t>▪ S1  实验室暂存点的日常管理</a:t>
            </a:r>
          </a:p>
          <a:p>
            <a:pPr>
              <a:spcAft>
                <a:spcPts val="800"/>
              </a:spcAft>
            </a:pPr>
            <a:r>
              <a:rPr sz="1500">
                <a:solidFill>
                  <a:srgbClr val="FFFFFF"/>
                </a:solidFill>
                <a:latin typeface="Microsoft YaHei"/>
              </a:rPr>
              <a:t>▪ K5  装满及时转运，不在实验室堆积</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S2  含汞含铬、管控类和不明废物单独处理</a:t>
            </a:r>
          </a:p>
          <a:p>
            <a:pPr>
              <a:spcAft>
                <a:spcPts val="800"/>
              </a:spcAft>
            </a:pPr>
            <a:r>
              <a:rPr sz="1500">
                <a:solidFill>
                  <a:srgbClr val="FFFFFF"/>
                </a:solidFill>
                <a:latin typeface="Microsoft YaHei"/>
              </a:rPr>
              <a:t>▪ K6  爆炸性残留物不回收，先问负责人</a:t>
            </a:r>
          </a:p>
          <a:p>
            <a:pPr>
              <a:spcAft>
                <a:spcPts val="800"/>
              </a:spcAft>
            </a:pPr>
            <a:r>
              <a:rPr sz="1500">
                <a:solidFill>
                  <a:srgbClr val="FFFFFF"/>
                </a:solidFill>
                <a:latin typeface="Microsoft YaHei"/>
              </a:rPr>
              <a:t>▪ S3  按学校安排交接，登记签字</a:t>
            </a:r>
          </a:p>
          <a:p>
            <a:pPr>
              <a:spcAft>
                <a:spcPts val="800"/>
              </a:spcAft>
            </a:pPr>
            <a:r>
              <a:rPr sz="1500">
                <a:solidFill>
                  <a:srgbClr val="FFFFFF"/>
                </a:solidFill>
                <a:latin typeface="Microsoft YaHei"/>
              </a:rPr>
              <a:t>▪ K7  转移联单，跟踪到闭环</a:t>
            </a:r>
          </a:p>
          <a:p>
            <a:pPr>
              <a:spcAft>
                <a:spcPts val="800"/>
              </a:spcAft>
            </a:pPr>
            <a:r>
              <a:rPr sz="1500">
                <a:solidFill>
                  <a:srgbClr val="FFFFFF"/>
                </a:solidFill>
                <a:latin typeface="Microsoft YaHei"/>
              </a:rPr>
              <a:t>▪ K8  交有资质单位，产生者责任不转移</a:t>
            </a:r>
          </a:p>
          <a:p>
            <a:pPr>
              <a:spcAft>
                <a:spcPts val="800"/>
              </a:spcAft>
            </a:pPr>
            <a:r>
              <a:rPr sz="1500">
                <a:solidFill>
                  <a:srgbClr val="FFFFFF"/>
                </a:solidFill>
                <a:latin typeface="Microsoft YaHei"/>
              </a:rPr>
              <a:t>▪ K9  从源头到终点都经得起查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