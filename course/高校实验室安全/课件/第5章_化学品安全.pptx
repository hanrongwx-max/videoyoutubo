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灭火争取时间。</a:t>
            </a:r>
          </a:p>
          <a:p>
            <a:r>
              <a:t>柜体上要贴易燃警示标志，安放在远离热源、火源和电气开关的位置，柜旁不放可燃杂物。实验室内的存量够用即可（见第 043 课）；数量更大的，要存放在学校专用的危险化学品库房，具体限量以本校规定为准。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需要分装、转移或暂存少量易燃液体时，用合格的安全罐（安全储液罐）。安全罐罐盖能自动关闭，罐口装有阻火网等阻火装置，外部火源靠近时能阻止火焰回窜到罐内。</a:t>
            </a:r>
          </a:p>
          <a:p>
            <a:r>
              <a:t>每个容器都要贴好标签，写明名称和危险性，避免弄混（标签见第 039 课）。安全罐只是分装容器，不能代替储存柜：数量多时，连同安全罐一起放进易燃品柜。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乙醇、有机溶剂等易燃品用完要马上放回指定的易燃品柜，不能长期摆在实验台、通风柜里或地上（台面和通风柜不是仓库，见第 043 课）。</a:t>
            </a:r>
          </a:p>
          <a:p>
            <a:r>
              <a:t>实验台上只留当天实验够用的少量，下班或实验结束前全部放回柜内并关好柜门。</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安全柜只有关着门才能起到保护作用：柜门平时关好、扣紧，不用楔子或其他东西顶住柜门；按学校规定上锁，钥匙由专人保管。</a:t>
            </a:r>
          </a:p>
          <a:p>
            <a:r>
              <a:t>易燃品柜是否连接排风，按产品说明和本校规定执行；若连接排风，排风管路上要设置阻火器，管路不能随意改动。柜体上的接地装置按说明可靠接地，用于导除静电。柜内不放纸箱、抹布等可燃杂物，不超量存放；柜前不堆放物品，保持取用和应急通道畅通。柜体、柜门密封和接地线由实验室定期检查，发现损坏报告实验室负责人维修。</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a:p>
            <a:r>
              <a:t>大瓶溶液放在下层，下面配耐腐蚀托盘。易燃溶剂不放进腐蚀品柜，腐蚀品也不放进易燃品柜。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有毒化学品存放在专用的毒害品柜中，柜子加锁，由专人管理。剧毒化学品实行“五双”管理，其中储存要求双人双锁，必要时使用保险柜，并按学校要求做好防盗、监控等安全防范措施。</a:t>
            </a:r>
          </a:p>
          <a:p>
            <a:r>
              <a:t>每次领用都要登记，做到账物相符；具体的购买、储存、领用、台账和备案要求见第 045 课，以现行法规和本校规定为准。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普通家用冰箱内部的门灯开关、温控器等电气元件工作时会产生电火花。易燃试剂在冰箱密闭空间里挥发出的蒸气积聚，遇到火花可能燃烧甚至爆炸。</a:t>
            </a:r>
          </a:p>
          <a:p>
            <a:r>
              <a:t>因此普通冰箱绝不能存放易燃物（包括装有易燃溶剂的样品）。需要冷藏的易燃试剂，必须使用防爆冰箱（或经专业防爆改造并符合学校要求的冰箱）。选用哪种冰箱、能存放哪些物品，按学校规定执行。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存放化学品、生物样品的实验冰箱只能专用，绝不能存放食物、饮料，以防污染和误食；职工的食品冰箱要放在实验区以外，不能混用一台。冰箱门上贴“化学品专用、禁放食品”等标识。</a:t>
            </a:r>
          </a:p>
          <a:p>
            <a:r>
              <a:t>放进冰箱的容器要密封、贴好标签，不相容物同样要分开放置。实验室定期清理冰箱，过期、变质、标签不清的样品和试剂登记后交学校处置（见第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答案：B。解析：普通冰箱内的开关、温控器会产生电火花，可能点燃易燃蒸气；冷藏易燃试剂须用防爆冰箱。</a:t>
            </a:r>
          </a:p>
          <a:p>
            <a:r>
              <a:t>第 2 题 答案：B。解析：化学品冰箱专用，绝不存放食物饮料；食品冰箱应放在实验区以外。</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答案：C。解析：柜门关着才能起保护作用；柜内不放可燃杂物；腐蚀品放腐蚀品柜。</a:t>
            </a:r>
          </a:p>
          <a:p>
            <a:r>
              <a:t>第 4 题 答案：B。解析：酸碱是不相容物，应分柜或分格隔开存放。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易燃品柜存放易燃液体，柜门关好，通风须有阻火措施，柜体接地；腐蚀品柜耐腐蚀，酸碱分开，大瓶下层配托盘；毒害品柜加锁、专人管理，剧毒品双人双锁、领用登记。解析：具体配置和管理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一般危险化学品，国家对三类化学品实行专门管控：剧毒化学品（在《危险化学品目录》中标注为剧毒）、易制毒化学品（列入《易制毒化学品管理条例》附表）、易制爆危险化学品（列入公安部发布的《易制爆危险化学品名录》）。</a:t>
            </a:r>
          </a:p>
          <a:p>
            <a:r>
              <a:t>使用前先查询所用化学品是否属于这几类：可以查上述目录和名录，也可以在学校化学品管理平台上查询。一旦属于管控类，先问清学院和学校的管理规定，再按规定办理采购、保管和领用登记。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是否属于管控类化学品，看的是物质本身，而不是用量多少：哪怕只有一小瓶、几克，也要按管控品管理。</a:t>
            </a:r>
          </a:p>
          <a:p>
            <a:r>
              <a:t>管控类化学品要专柜、专区存放（储存柜见第 044 课），存取出入都要登记。用后的剩余物、废液和包装等废弃物同样要单独收集、登记，交学校按专门规定处置，不能混入普通废液或自行处理（废物处置见第 053、054 课）。具体做法以学校制度为准。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剧毒化学品普遍实行“五双”管理：双人验收（收发）、双人保管、双人领用（取用时双人在场）、双把锁、双本账。两把钥匙分别由两名保管人掌握，任何一人都不能单独开柜；两本台账分别记录，做到账账相符、账物相符。</a:t>
            </a:r>
          </a:p>
          <a:p>
            <a:r>
              <a:t>剧毒化学品存放在专用保险柜或专柜内，存放场所按学校要求落实防盗等安全防范措施。“五双”的具体表述和执行细则以本校制度为准；剧毒化学品的购买许可、储存备案等由学校按《中华人民共和国危险化学品安全法》《危险化学品安全管理条例》（以现行文本为准）统一办理。</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检测、传感器研究等实验常要测定砷，需要使用含砷标准品。砷的许多化合物毒性很强，部分列为剧毒化学品（以《危险化学品目录》为准），含砷标准品要按剧毒品管理：专柜存放、专人管理，领用登记，用多少记多少。</a:t>
            </a:r>
          </a:p>
          <a:p>
            <a:r>
              <a:t>含砷废液和沾染物要单独收集、贴好标签，交学校统一处置，不得倒入下水道。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毒化学品是可用于非法制造毒品的原料和配剂，依据《易制毒化学品管理条例》（以现行文本为准）分为三类管理，购买须按类别取得许可或办理备案。例如乙酸酐属于易制毒化学品，有机化学实验中常会用到。</a:t>
            </a:r>
          </a:p>
          <a:p>
            <a:r>
              <a:t>高校实验室使用易制毒化学品，要按学校规定申请、领用并登记，用多少领多少；专柜存放、专人管理，台账记录入库、领用和结存。不得私自转让、出借或带出实验室。实验产生的废液按类别分开收集，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易制爆危险化学品是可用于制造爆炸物品的化学品，依据《易制爆危险化学品治安管理办法》（以现行文本为准）管理，品种以公安部发布的《易制爆危险化学品名录》为准。</a:t>
            </a:r>
          </a:p>
          <a:p>
            <a:r>
              <a:t>实验室要专柜存放、专人管理，领用多少、使用多少、剩余多少如实登记，做到购买、储存、使用、处置的流向全程可查。不得出借、转让，不得私自带出实验室。储存场所的治安防范要求、信息系统备案等由学校按公安机关要求落实，具体按现行规定和学校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炸药等爆炸物品属于国家严格管控的物品，依据《民用爆炸物品安全管理条例》（以现行文本为准），未经许可任何单位和个人不得获取、储存、使用。</a:t>
            </a:r>
          </a:p>
          <a:p>
            <a:r>
              <a:t>学生不得出于好奇自行获取、保存或试验爆炸物品，也不要模仿网络上的相关视频。确需开展的相关研究，由具备资质的单位按规定审批后进行。有疑问先问导师和学院。</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管控类化学品只能由学校作为购买单位，通过学校化学品采购平台向有资质的供应商采购，严禁个人私自购买，严禁从网络或无资质渠道购买。</a:t>
            </a:r>
          </a:p>
          <a:p>
            <a:r>
              <a:t>申购一般经导师（实验室负责人）、学院、学校管理部门逐级审批；需要的购买许可、备案等手续，由学校统一向公安机关等部门办理。具体流程以本校制度为准。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领用管控类化学品要经审批，按实验需要领取。称量时如实记录称取量和用途，做到用多少记多少。</a:t>
            </a:r>
          </a:p>
          <a:p>
            <a:r>
              <a:t>用剩的按规定退回专柜，并在台账上登记结存，做到账物相符。领用和使用台账要妥善保存，以备检查和追溯，保存期限以现行规定和本校制度为准。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管控类化学品一旦发现丢失、被盗、误用或账物不符，要立即报告实验室负责人，并报学院和保卫处；学校按规定立即报告公安机关和有关部门。</a:t>
            </a:r>
          </a:p>
          <a:p>
            <a:r>
              <a:t>不得瞒报、迟报，也不要自行寻找了事；保护好现场和台账，配合调查。</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答案：D。解析：国家专门管控的是剧毒、易制毒、易制爆三类，品种以相应目录和名录为准。</a:t>
            </a:r>
          </a:p>
          <a:p>
            <a:r>
              <a:t>第 2 题 答案：B。解析：管不管控看物质本身，不看用量；领用必须审批登记，用多少记多少。</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答案：D。解析：两把钥匙由两人分别掌握，任何一人不能单独开柜。</a:t>
            </a:r>
          </a:p>
          <a:p>
            <a:r>
              <a:t>第 4 题 答案：B。解析：易制爆、易制毒化学品不得出借、转让，流向必须可查。</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答案：C。解析：丢失、被盗、账物不符要立即报告，学校按规定报告公安机关，不得瞒报迟报。</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易燃物是容易着火燃烧的物质。实验室常用的乙醇、丙酮、乙醚、石油醚、乙酸乙酯、甲苯等有机溶剂都属于易燃液体，此外还有易燃气体（如氢气、甲烷）和易燃固体。</a:t>
            </a:r>
          </a:p>
          <a:p>
            <a:r>
              <a:t>使用任何化学品之前，都要先弄清它是否易燃易爆、危险程度如何；操作和储存前先查化学品安全技术说明书和本实验室的操作规程。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这是一条简单实用的保守原则：在没有查清楚之前，把水以外的液体都当作易燃液体对待，不靠近明火、热源和电火花。</a:t>
            </a:r>
          </a:p>
          <a:p>
            <a:r>
              <a:t>查阅标签和说明书确认它的性质后，再按相应要求使用。宁可多防一步，也不要凭感觉判断。</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化学品安全标签上的象形图能快速提示危险性（GB 30000 系列）：红色菱形框内一团火焰表示易燃；火焰下面有一个圆圈表示氧化性，两者很像，要看清楚（象形图见第 039 课）。</a:t>
            </a:r>
          </a:p>
          <a:p>
            <a:r>
              <a:t>“易燃”只是一个笼统的说法，具体属于哪一类、有多危险，要查说明书：第 9 部分理化特性给出闪点、爆炸极限、自燃温度等数据，第 5 部分给出消防措施（说明书见第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易燃液体燃烧时，真正烧起来的是液体表面挥发出的蒸气，而不是液体本身。蒸气无色、看不见，会向四周飘散。</a:t>
            </a:r>
          </a:p>
          <a:p>
            <a:r>
              <a:t>很多有机溶剂的蒸气比空气重（蒸气密度大于空气），会像水一样沿着台面、地面流动、积聚在低处，可能流到较远的插座、加热设备等火源处被点燃，火焰再沿蒸气回燃到容器。乙醚等溶剂极易燃，还会在久放后生成过氧化物，要注意开封日期（见第 047 课），在通风柜里使用，附近不得有火源。</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a:p>
            <a:r>
              <a:t>闪点越低，越容易着火。不少常用溶剂的闪点低于室温，也就是说在常温下就会挥发出能被点燃的蒸气，具体数值查说明书第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易燃液体和可燃液体常放在一起讲，区分它们主要看闪点：闪点越低，越容易着火，越要小心。</a:t>
            </a:r>
          </a:p>
          <a:p>
            <a:r>
              <a:t>不同领域的分类方法有差别：化学品分类按 GB 30000.7-2013（以现行文本为准）依据闪点和初沸点把易燃液体分为若干类别；消防领域另有物质火灾危险性分类（按现行国家消防技术标准）。具体界限以现行标准为准，实际使用时查说明书和标签上的分类。</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混合物。</a:t>
            </a:r>
          </a:p>
          <a:p>
            <a:r>
              <a:t>很多溶剂的爆炸范围很宽，而下限往往很低，打开容器、少量泄漏就可能很快达到，所以实验室容易发生火灾和爆炸。蒸气浓度高到能燃烧时，往往早已超过对人体有害的程度。因此要通风、密闭，别让蒸气进入这个区间（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物质在没有明火的情况下，被加热到一定温度就会自行着火，这个最低温度叫自燃点（引燃温度）。有的溶剂自燃点较低，热的灯泡、蒸汽管道、加热板表面都足以把它的蒸气引燃。</a:t>
            </a:r>
          </a:p>
          <a:p>
            <a:r>
              <a:t>易燃物要远离一切高温表面。加热板关闭后表面仍然很烫，不要马上在旁边倾倒溶剂。</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易燃物和爆炸品始终是危险的。爆炸品反应极快，会在瞬间放出大量气体和热量。有的化学品对撞击、摩擦敏感，有的受热、日晒会分解，取用时要轻拿轻放；还有的遇空气或水会自燃（反应性化学品见第 047 课）。</a:t>
            </a:r>
          </a:p>
          <a:p>
            <a:r>
              <a:t>爆炸性化学品要远离明火、热源和火花，避免阳光直射，最好划出专门区域单独存放和使用；属于易制爆危险化学品的，还要按第 045 课的规定管理。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使用易燃物前，先把周围的明火、加热板、电热设备等热源和火花源移走。普通搅拌器、真空泵、插头插座、开关等电器工作时可能产生电火花，也是点火源。</a:t>
            </a:r>
          </a:p>
          <a:p>
            <a:r>
              <a:t>加热易燃液体不用明火，也不用裸露的加热板，改用加热套、水浴等方式，并按规程控制温度。人离开时，关闭明火和加热设备。</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无菌操作、组织培养常同时用到酒精和明火。消毒用的乙醇、异丙醇都是易燃液体：不要在火焰附近喷洒酒精，浸泡器械的酒精杯要远离火焰，用完盖好。</a:t>
            </a:r>
          </a:p>
          <a:p>
            <a:r>
              <a:t>使用酒精灯时，用灯帽盖灭，不能用嘴吹；不给燃着的酒精灯添加酒精，不用一盏酒精灯去点另一盏。灭菌器要培训后才能使用（见第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a:p>
            <a:r>
              <a:t>擦拭镜片、器具用的溶剂少量取用，用过的纸放进带盖的桶里。含溶剂、含油的废液收进危险废物桶，不倒进水槽（废物处置见第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防火要从源头做起：实验台面上只放当次够用的易燃溶剂，大桶和用完的试剂放回易燃品柜（见第 044 课）。</a:t>
            </a:r>
          </a:p>
          <a:p>
            <a:r>
              <a:t>柱层析等操作收集的一架架敞口馏分，同样会挥发出大量蒸气，要远离热源和电火花，及时合并、浓缩或盖好，不要敞口久放。</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易燃液体只能用合格、密闭、完好的容器盛装，不用饮料瓶、破损容器。少量试剂可以留在完好的原包装里使用和存放；数量界限按国家规定和本校规定执行。</a:t>
            </a:r>
          </a:p>
          <a:p>
            <a:r>
              <a:t>实验室出口、楼梯间、走廊等人员通行和疏散的通道，不得存放易燃液体，一旦着火会堵住逃生路线（疏散见第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涉及可能发生爆炸或剧烈反应的操作，装置放在通风柜内并加防爆屏（防护挡板），人员戴面屏（护目镜之外加面屏）、合适的手套，穿阻燃材料的实验服。</a:t>
            </a:r>
          </a:p>
          <a:p>
            <a:r>
              <a:t>这类高风险实验要事先进行风险评估，经实验室负责人审核，按本校规定履行审批（风险评估见第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野外实习、户外活动、停电应急使用发电机等设备时，会用到汽油、柴油等燃料。燃油要装在合格的专用油桶里，标明内容，不能用饮料瓶、普通塑料桶盛装（普通塑料桶不耐油，还易积聚静电）。</a:t>
            </a:r>
          </a:p>
          <a:p>
            <a:r>
              <a:t>汽油属于易燃液体，是危险化学品，要少量存放在指定的专门地点，不得放在实验室、宿舍和生活区，具体按本校危险化学品管理制度执行。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油桶要远离运行中的发电机、排气管和其他热源，加油前先停机冷却。香烟、打火机、火柴等火源都要远离燃油。</a:t>
            </a:r>
          </a:p>
          <a:p>
            <a:r>
              <a:t>存油和加油的地方严禁吸烟，设置禁止吸烟、禁止烟火标志（GB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使用易燃易爆化学品时，清楚每一步操作，时刻保持专注，不边玩手机边做实验。</a:t>
            </a:r>
          </a:p>
          <a:p>
            <a:r>
              <a:t>牢记五条：知道哪些东西易燃易爆；身边不留点火源；通风要足；会正确搬运和储存；随时做好应急准备（灭火器选用见第 032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答案：B。解析：烧的是蒸气，蒸气看不见、会扩散，很多溶剂蒸气比空气重会沿台面流动。</a:t>
            </a:r>
          </a:p>
          <a:p>
            <a:r>
              <a:t>第 2 题 答案：B。解析：电火花、灯泡、加热板等高温表面也能引燃，物质达到自燃点会自行着火。</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答案：B。解析：可燃蒸气与空气的比例在上下限之间才会燃烧爆炸；要通风使蒸气浓度远低于下限。</a:t>
            </a:r>
          </a:p>
          <a:p>
            <a:r>
              <a:t>第 4 题 答案：C。解析：加热易燃物不用明火和加热板，改用加热套或水浴。</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答案：B。解析：燃油用合格专用容器，汽油是危险化学品，不进实验室和宿舍，远离火源、严禁吸烟。</a:t>
            </a:r>
          </a:p>
          <a:p>
            <a:r>
              <a:t>第 6 题 答案：知道哪些东西易燃易爆；身边不留点火源；通风要足；会搬会存；随时做好应急准备。解析：同时要时刻保持专注。</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化学品安全标签上，红色菱形框内“圆圈上方一团火焰”的象形图表示氧化性（GB 30000 系列），注意和只有一团火焰的易燃象形图区分（见第 039、046 课）。</a:t>
            </a:r>
          </a:p>
          <a:p>
            <a:r>
              <a:t>氧化剂本身不一定可燃，但它能放出氧或夺取电子，引发或加剧其他物质燃烧，与可燃物接触时火势会更猛、更难扑灭。因此氧化剂要远离纸张、木材、有机溶剂等可燃物，单独或分区存放（储存相容性见第 043 课）。</a:t>
            </a:r>
          </a:p>
          <a:p>
            <a:r>
              <a:t>薄层色谱等实验使用的部分显色剂具有氧化性和腐蚀性，要在通风柜里使用，用完及时盖好，与易燃溶剂分开放。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研磨会产生摩擦和局部发热，氧化剂与可燃物或还原剂一起研磨可能引起剧烈反应甚至燃烧爆炸，因此严禁混合研磨。</a:t>
            </a:r>
          </a:p>
          <a:p>
            <a:r>
              <a:t>需要研磨样品时，佩戴护目镜，只取需要的少量，动作轻柔；研钵、研杵用完立即洗净晾干，防止残留物混进下一个样品。不确定能否研磨的物质，先查安全技术说明书或请教老师。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有机过氧化物、自反应物质等不稳定化学品在受热、光照、撞击或摩擦时可能迅速分解，放出大量热和气体。温度升高会加快分解，混入杂质、金属屑或催化剂也可能引发反应。</a:t>
            </a:r>
          </a:p>
          <a:p>
            <a:r>
              <a:t>这类物质按安全技术说明书第 7 部分和第 10 部分的要求储存：阴凉、避光、远离热源，必要时按说明书要求冷藏（化学品冰箱见第 044 课）；取用时轻拿轻放，用干净的工具，不把用剩的倒回原瓶。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不相容的化学品接触后可能发热、起火、爆炸或放出有毒气体，例如氧化剂与还原剂、可燃物，酸与碱等。混合任何两种物料之前，先查安全技术说明书第 10 部分（稳定性和反应性）和本实验室的相容性表。</a:t>
            </a:r>
          </a:p>
          <a:p>
            <a:r>
              <a:t>倒废液时同样要先确认相容性，不相容的废液不能倒进同一个收集容器（废液分类见第 053 课）。储存时禁配物要分柜或用隔板、托盘分开，按 GB 15603-2022（以现行文本为准）和本校规定分类分区存放（见第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活泼金属、部分金属氢化物等属于“遇水放出易燃气体的物质”，接触水或潮湿空气会放出易燃气体并放热，可能引起燃烧（GB 30000 系列）。</a:t>
            </a:r>
          </a:p>
          <a:p>
            <a:r>
              <a:t>这类物品要放在专门的防潮柜子里，远离水池、水管、喷淋设施和潮湿环境，容器密封。存放场所的消防设施和灭火方式要事先评估，按安全技术说明书第 5 部分选择灭火剂，不能用水扑救的要在醒目位置标明（灭火器选用见第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放热反应放出的热量如果来不及散出，温度会升高、反应会加快，进而放出更多热量，形成“失控反应”，可能导致冲料、容器破裂、起火或爆炸。</a:t>
            </a:r>
          </a:p>
          <a:p>
            <a:r>
              <a:t>首次做的反应、放热明显的反应，开始前要查阅文献和安全技术说明书，做书面风险评估并经实验室负责人批准（见第 014、015 课）；先用小量试验，按规程控制加料，备好冷却措施，实验过程中有人看守。放大规模、改变条件都属于方案变更，要重新评估和审批（见第 019 课）。具体条件按经批准的操作规程执行。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自燃液体和自燃固体（GB 30000 系列）接触空气后即使很少量也会在短时间内自行燃烧。这类高风险操作首先依靠工程控制：在手套箱或经批准的密闭、惰性气氛装置中操作（控制层级见第 017 课）。</a:t>
            </a:r>
          </a:p>
          <a:p>
            <a:r>
              <a:t>操作者必须经过专门培训并获实验室负责人批准，按书面操作规程执行；穿阻燃实验服、戴护目镜或面屏和合适的手套，不穿易燃化纤衣物；不得单独操作，要有熟悉情况的人在场。附近准备好适用的灭火器材，清理无关易燃物。</a:t>
            </a:r>
          </a:p>
          <a:p>
            <a:r>
              <a:t>细胞毒性物质、高活性药物等其他高风险物质同样遵循“工程控制优先、个人防护补充”的原则（见第 049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曾有高校实验室发生自燃试剂事故：操作者在转移自燃试剂时失手，试剂接触空气起火，因为没有穿阻燃服，衣物被引燃，造成严重烧伤直至死亡。</a:t>
            </a:r>
          </a:p>
          <a:p>
            <a:r>
              <a:t>事故的教训是：防护装备、培训、结伴操作、操作规程中的每一步都有它的理由，任何一步都不能为了省事而跳过。发现规程不清楚、防护不到位时，要停下来向实验室负责人报告。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乙醚、四氢呋喃、二氧六环等醚类和部分其他溶剂在接触空气、光照下放置较久，会慢慢生成过氧化物。过氧化物极不稳定，遇热、撞击、摩擦都可能爆炸，瓶盖螺纹处的结晶在拧盖时就可能被引爆。</a:t>
            </a:r>
          </a:p>
          <a:p>
            <a:r>
              <a:t>蒸馏、浓缩会使过氧化物富集，危险最大。因此陈旧的这类溶剂绝不能直接浓缩或蒸馏，必须先按规程检测，检测合格后才能使用；发现异常不要乱动，报告老师按规定处理。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易形成过氧化物的化学品，收到时在标签上写收货日期，开封时写开封日期，记入化学品台账。按学校规程规定的周期检测，在规定期限内用完；检测周期和使用期限以本校危险化学品管理规定为准。</a:t>
            </a:r>
          </a:p>
          <a:p>
            <a:r>
              <a:t>采购时按实验需要少量购买，不长期囤放，定期清理过期和不再使用的化学品，减少存量和风险。</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这类化学品的标签会提示“可能形成爆炸性过氧化物”。保存时使用原包装，瓶盖拧紧，放在阴凉避光处，尽量减少与空气接触，远离热源和明火。</a:t>
            </a:r>
          </a:p>
          <a:p>
            <a:r>
              <a:t>使用前先观察：如果瓶内或瓶口出现结晶、液体变色、浑浊或分层，说明可能已生成较多过氧化物，绝不能打开，按下一条可疑容器处理。</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发现老旧、超过检测期限、来历不明或已出现结晶的容器，不要打开，也不要摇晃、拧盖或挪动。就地隔离，挂上警示标志，阻止其他人靠近。</a:t>
            </a:r>
          </a:p>
          <a:p>
            <a:r>
              <a:t>立即报告实验室负责人，由实验室负责人报告学院和学校实验室管理部门、保卫处，由学校安排专业人员处置（报告程序见第 157 课）。发生火灾拨打 119，有人受伤拨打 120。</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过氧化物试纸法简便，是实验室检查易形成过氧化物溶剂的常用方法。检测只适用于外观正常、在检测期限内的容器；有结晶或可疑的容器按 K11 处理，不检测。</a:t>
            </a:r>
          </a:p>
          <a:p>
            <a:r>
              <a:t>检测在通风柜里进行，穿戴护目镜、实验服和合适的手套，穿长裤和不露脚面的鞋。试纸的使用方法以产品说明书和本校标准操作规程为准。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从试纸罐中按需要取出试纸，捏住不带测试区的一端，不用手指碰测试区，以免污染影响结果。取完立即盖紧试纸罐，防止受潮。</a:t>
            </a:r>
          </a:p>
          <a:p>
            <a:r>
              <a:t>使用前检查试纸的有效期，过期的试纸结果不可靠，要换新的再用。</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检测废液时可以直接用试纸蘸取。检测还要继续使用的试剂时，先在通风柜里倒出少量到干净的小烧杯中，再用试纸蘸取小杯里的液体，避免把整瓶试剂污染。</a:t>
            </a:r>
          </a:p>
          <a:p>
            <a:r>
              <a:t>测完的少量液体和用过的试纸按本校化学废物规定收集，不倒回原瓶。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试纸蘸取后，轻轻甩掉多余液体，按产品说明书规定的时间等待。</a:t>
            </a:r>
          </a:p>
          <a:p>
            <a:r>
              <a:t>检测有机溶液时，说明书通常还要求在测试区加水，这是关键步骤，漏掉会使结果偏低、不准确。为避免出错，检测水溶液时也按同样步骤操作。具体步骤和时间以试纸说明书和本校规程为准。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把试纸测试区与试纸罐上的比色卡对照读出结果，测试区变蓝说明含有过氧化物，颜色越深含量越高。</a:t>
            </a:r>
          </a:p>
          <a:p>
            <a:r>
              <a:t>把检测结果、检测日期和检测人签名记录在瓶上的专用标签和台账里，方便下次检测和他人使用时了解情况。</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检测结果超出学校规定限值的，立即停止使用，贴上停用标签，报告实验室负责人。限值以本校危险化学品管理规定为准。</a:t>
            </a:r>
          </a:p>
          <a:p>
            <a:r>
              <a:t>停用的化学品按《国家危险废物名录》（以现行文本为准）和本校规定作为危险废物，交有资质的专业单位处置（见第 054 课）；不得自行处理，更不能倒进下水道或混入生活垃圾。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答案：B。解析：氧化性物质能放出氧，引发或助长燃烧，要远离可燃物；只有一团火焰的是易燃。</a:t>
            </a:r>
          </a:p>
          <a:p>
            <a:r>
              <a:t>第 2 题 答案：B。解析：氧化剂不能和可燃物、还原剂一起研磨，研磨时戴护目镜、量少、动作轻，研钵用完洗净。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答案：B。解析：遇水危险品专柜防潮存放，远离水池水管，存放场所的灭火方式要事先评估。</a:t>
            </a:r>
          </a:p>
          <a:p>
            <a:r>
              <a:t>第 4 题 答案：C。解析：可能已生成过氧化物，摩擦即可能爆炸；由学校安排专业人员处置。</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答案：B。解析：非废液另取少量检测，避免污染试剂；有机溶液别漏加水步骤；结果记在专用标签上。</a:t>
            </a:r>
          </a:p>
          <a:p>
            <a:r>
              <a:t>第 6 题 答案：收货、开封都写日期；原瓶盖紧、避光、远离热源；按学校规程定期检测、按期用完；少量采购不囤放；见结晶、变色、浑浊不打开并报告；超限停用按危险废物处置。解析：检测合格前不得蒸馏或浓缩。</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化学品安全标签上红色菱形框内“液体滴到手和金属上被腐蚀”的象形图表示腐蚀性（GB 30000 系列）。硫酸、盐酸、硝酸等强酸，氢氧化钠、氢氧化钾等强碱，浓硫酸等脱水剂以及部分氧化剂都具有腐蚀性。</a:t>
            </a:r>
          </a:p>
          <a:p>
            <a:r>
              <a:t>腐蚀品对皮肤和眼睛的伤害最重：酸灼伤疼痛剧烈、愈合慢；碱会持续向组织深处渗透，溅入眼睛造成的损伤往往更严重，可能导致失明。氢氟酸等特殊腐蚀品还有全身毒性，使用前须接受专门培训并备好专用急救用品（以本校规定为准，急救见第 160 课）。</a:t>
            </a:r>
          </a:p>
          <a:p>
            <a:r>
              <a:t>腐蚀品还会腐蚀金属架子、仪器和管道，造成设备损坏和泄漏。</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使用腐蚀品之前，先阅读安全技术说明书，了解成分、性质、危害、个体防护和急救措施（见第 041 课），并熟悉本校实验室安全手册和本实验室的操作规程。</a:t>
            </a:r>
          </a:p>
          <a:p>
            <a:r>
              <a:t>操作时始终佩戴护目镜（GB 14866-2023，以现行文本为准）、穿实验服、戴耐酸碱的化学防护手套（GB 28881-2023，以现行文本为准），穿长裤和不露脚面的鞋；量较大或容易飞溅时，在护目镜外再加戴面屏，必要时穿防护围裙。</a:t>
            </a:r>
          </a:p>
          <a:p>
            <a:r>
              <a:t>配制培养基、缓冲液时调节酸碱度、称量药品，同样要戴护目镜和手套；激素等试剂也按化学品管理。</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浓酸（特别是浓硫酸）溶于水会放出大量的热。正确做法是“酸入水”：先在容器中放好水，再把酸缓慢地加入水中。如果把水倒进浓酸里，少量水在酸表面迅速沸腾，会把酸液溅出伤人。</a:t>
            </a:r>
          </a:p>
          <a:p>
            <a:r>
              <a:t>固体氢氧化钠等强碱溶解时同样放热，也要少量分次加入水中，并搅拌散热。</a:t>
            </a:r>
          </a:p>
          <a:p>
            <a:r>
              <a:t>稀释操作时要专心，不边聊天边操作，不玩手机，遵守本实验室操作规程。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浓盐酸、浓硝酸等会挥发出刺激性、腐蚀性气体，稀释和取用浓溶液、挥发性溶剂都应在通风柜里进行，柜门拉到合适高度（通风柜使用见第 052 课）。</a:t>
            </a:r>
          </a:p>
          <a:p>
            <a:r>
              <a:t>加酸时沿玻璃棒或容器内壁缓慢加入，边加边搅拌，使热量及时散开；容器明显发热时暂停，待冷却后再继续。使用耐热的玻璃容器，不用量筒等不耐热的容器直接稀释。</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取用浓酸时，按需要量用滴管或合适的移液工具少量取用，不直接从大瓶往小容器里猛倒。打开瓶盖和倾倒时，瓶口不对着自己和他人。</a:t>
            </a:r>
          </a:p>
          <a:p>
            <a:r>
              <a:t>倾倒操作在台面高度、视线以下进行，不把瓶子举过眼睛，防止液体沿瓶身流下或溅入眼睛。向含酸的反应液中加水，或反应结束后加水淬灭时，也要缓慢分次加入，防止放热飞溅。取用和转移的通用要求见第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滴加酸碱或调节 pH 时，容器放在稳固的台面或用铁架台固定，不用手悬空端着操作，防止打翻。</a:t>
            </a:r>
          </a:p>
          <a:p>
            <a:r>
              <a:t>观察时保持适当距离，脸不要凑近容器口，避免溅出的液滴和逸出的气体伤及眼睛和呼吸道。调节酸碱度时逐滴加入，边加边搅拌，接近目标值时更要慢。</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酸和碱相互接触会剧烈反应放热，存放时要分柜或分格隔开（储存相容性见第 043 课）。</a:t>
            </a:r>
          </a:p>
          <a:p>
            <a:r>
              <a:t>强碱溶液会腐蚀玻璃，使磨口玻璃塞与瓶口粘连打不开，因此碱液用耐碱的塑料瓶盛装，不用磨口玻璃塞。自配的酸碱溶液，标签上写清名称、浓度、配制日期和配制人，用完立即拧紧瓶盖。</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腐蚀品存放在柜子下层，不放在高过视线的架子上，取放时不会因失手而从高处洒落到脸上。瓶子放在耐腐蚀的托盘或二次容器里，万一泄漏能兜住，不扩散。</a:t>
            </a:r>
          </a:p>
          <a:p>
            <a:r>
              <a:t>硝酸、高氯酸等氧化性酸与有机溶剂、有机酸等有机物分开存放。腐蚀品放入专用的腐蚀品柜（耐腐蚀材料，必要时接排风），远离金属设备和电气设施，按 GB 15603-2022（以现行文本为准）和本校规定分类存放（储存柜见第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a:p>
            <a:r>
              <a:t>冲洗后立即报告实验室负责人，伤情较重或眼部受伤时拨打 120 或尽快就医，并带上安全技术说明书。详细的灼伤急救流程见第 160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答案：B。解析：“酸入水”，在通风柜里慢慢加并搅拌散热；水倒进浓酸会剧烈放热飞溅。</a:t>
            </a:r>
          </a:p>
          <a:p>
            <a:r>
              <a:t>第 2 题 答案：B。解析：碱溅入眼睛损伤往往更严重，要立即到洗眼器用流水冲洗足够时间，报告并就医。</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答案：B。解析：碱会使磨口玻璃塞粘住打不开；酸碱分开，腐蚀品放低处、放托盘、进专柜。</a:t>
            </a:r>
          </a:p>
          <a:p>
            <a:r>
              <a:t>第 4 题 答案：C。解析：不在高于视线的位置倾倒，防止溅入眼睛。</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答案：立即用大量流动清水冲洗（必要时用紧急喷淋），边冲洗边脱去被污染的衣物，冲洗足够时间后报告实验室负责人，伤情较重时拨打 120 就医。解析：不要先找中和剂，冲水最重要。</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甲醛（福尔马林是它的水溶液）常用于固定组织和动物标本、病理制片；戊二醛常用于器械消毒和电镜样品固定。两者在医学、生命科学实验室中非常常见。</a:t>
            </a:r>
          </a:p>
          <a:p>
            <a:r>
              <a:t>正因为常见，容易被忽视。甲醛既有强刺激性和致敏性，又是致癌物，国家对其职业接触有专门的限值要求，属于需要重点管控的毒害化学品。</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甲醛和戊二醛接触皮肤、眼睛和黏膜后很快出现刺激症状：轻者发红、刺痛、流泪，重者灼伤；反复接触还可能引起过敏性皮炎。</a:t>
            </a:r>
          </a:p>
          <a:p>
            <a:r>
              <a:t>吸入蒸气会刺激呼吸道，出现咳嗽、恶心、咽喉炎，可能诱发哮喘、支气管炎，严重时损害呼吸功能，还可能引起呕吐、腹泻。浓度极高时可导致抽搐、昏迷甚至死亡。这些急性症状容易识别，一旦出现要立即处理。</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慢性危害往往在多年后才表现出来。甲醛已被确认为人类致癌物，长期过量接触会增加患癌（如鼻咽部肿瘤等）的风险；反复接触还可能造成永久性的呼吸道损伤和致敏。</a:t>
            </a:r>
          </a:p>
          <a:p>
            <a:r>
              <a:t>所以不能等到“有感觉”才防护，平时就要把接触降到最低。</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怀疑自己接触过量，或出现眼鼻刺激、咳嗽、皮疹、头痛等症状时，立即停止操作、离开现场，报告实验室负责人，由实验室负责人报告学院（报告程序见第 157 课）。</a:t>
            </a:r>
          </a:p>
          <a:p>
            <a:r>
              <a:t>及早就医，就医时带上化学品安全技术说明书，多数情况能够好转。不要拖延或隐瞒。</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2.1（以现行文本为准）规定了职业接触限值，包括时间加权平均容许浓度、短时间接触容许浓度或最高容许浓度。这些标准最初针对工业上的大量使用，目的是把工作中的接触降到最低。</a:t>
            </a:r>
          </a:p>
          <a:p>
            <a:r>
              <a:t>按《中华人民共和国职业病防治法》，使用单位要在使用场所设置告知卡，告知职业病危害（包括致癌风险）和防护措施。限值数字是为保护使用者而设，具体数值查 GBZ 2.1 现行文本和本校规定；有疑问就问学院实验室安全管理员（接触限值的概念见第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经常或大量使用甲醛等毒害品的场所，学校要组织有资质的机构进行工作场所空气检测，必要时做个人采样：把采样器佩戴在操作者衣领附近，采集呼吸带（口鼻周围）的空气。</a:t>
            </a:r>
          </a:p>
          <a:p>
            <a:r>
              <a:t>检测结果与 GBZ 2.1 的限值比较：长时间的平均接触达到或超过限值，就要改进通风、调整操作、加强个人防护，直到降下来；只看平均值可能掩盖短时间的高浓度，所以开瓶、倒液、换液等短时操作的峰值也要控制。</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所有使用甲醛、戊二醛等毒害品的人员都要接受培训：知道本实验室哪些地方在用、有哪些危害、怎样减少接触，并定期复训（准入培训见第 007 课）。</a:t>
            </a:r>
          </a:p>
          <a:p>
            <a:r>
              <a:t>使用前阅读厂家提供的中文安全技术说明书，了解危害特性、暴露途径、健康影响、防护和应急措施；操作和储存按说明书和本实验室操作规程执行，每天都一样，不打折扣。有担心或发现隐患，及时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化学品安全标签是最直接的危害信息来源（GB 30000 系列、GB 15258-2009，以现行文本为准）。含甲醛的溶液和混合物，以及会释放甲醛的材料，都要在标签上标明含甲醛；含量较高的还要写明主要危害，特别是“可能致癌”。</a:t>
            </a:r>
          </a:p>
          <a:p>
            <a:r>
              <a:t>自配溶液、分装容器同样要贴标签（标签见第 039 课）。标签写不下的内容会指引查阅安全技术说明书，说明书还告诉你怎样避免过量接触。</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实验前按本校风险管理要求进行风险评估：用量多少、操作多长时间、在什么场所做，决定需要的通风条件和防护措施（风险评估见第 014 课）。</a:t>
            </a:r>
          </a:p>
          <a:p>
            <a:r>
              <a:t>防护的目标是不让毒害品接触到人：不吸入、不沾皮肤、不溅进眼睛。佩戴护目镜（易溅时加面屏），按说明书选择耐该化学品的手套（醛类常用丁腈手套，具体以说明书为准），穿实验服；通风不能满足时按评估结果使用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把蒸气挡在呼吸带之外，最有效的方法是局部排风。开瓶、量取、配制、换液、标本取材都在通风柜或专用排风台里进行，不在敞开的台面上开瓶倒液。</a:t>
            </a:r>
          </a:p>
          <a:p>
            <a:r>
              <a:t>台面铺吸水垫，便于收集滴洒；用完随手盖紧容器。不同的通风设备（通风柜、取材台、局部排风罩）用法不尽相同，先弄懂怎么用，再按使用规则操作（通风柜使用见第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从浓溶液自行稀释、分装时接触风险最大，要在通风柜里操作并做好防护。现在多采用预先稀释好的成品或预分装容器，可以减少开瓶和倒液的次数。</a:t>
            </a:r>
          </a:p>
          <a:p>
            <a:r>
              <a:t>稀溶液同样有刺激性和致癌性，不能因为“已经稀释了”就放松防护。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甲醛等毒害品原容器密闭，存放在阴凉、通风的柜子里，远离氧化剂；部分含甲醇的甲醛溶液还具有易燃性，按易燃品要求存放（见第 046 课）。</a:t>
            </a:r>
          </a:p>
          <a:p>
            <a:r>
              <a:t>按实验需要少量领用，记入台账，用完登记。标本瓶、浸泡缸用后随手盖紧，不长期敞口放置。列入剧毒化学品目录的毒害品按“五双”制度管理（见第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发生溅洒、泄漏或接触时，按本实验室的应急程序处置（泄漏处置见第 056 课，灼伤急救见第 160 课）。应急程序要在平时通过培训和演练熟悉：洗眼器、喷淋、泄漏处理包在哪里，怎样报告。</a:t>
            </a:r>
          </a:p>
          <a:p>
            <a:r>
              <a:t>对操作中的担心和发现的隐患，及时向实验室负责人报告，不要等出了事再说。</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二氯甲烷是萃取、色谱等实验中最常用的溶剂之一，不易燃，常被误认为“比较安全”，所以需要专门培训。</a:t>
            </a:r>
          </a:p>
          <a:p>
            <a:r>
              <a:t>吸入二氯甲烷会抑制中枢神经，在体内还会代谢产生一氧化碳，加重心脏负担；长期或反复大量接触可损害心脏、肝脏和神经系统，并可能增加患癌风险。伤害是慢慢积累的，不能等出现症状才防护。</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二氯甲烷沸点低、挥发快，蒸气比空气重，会积聚在地面、地沟、低处的容器和柜子里。使用前读安全技术说明书和标签，了解它的特性。</a:t>
            </a:r>
          </a:p>
          <a:p>
            <a:r>
              <a:t>取用、分装、萃取都在通风柜里进行；旋转蒸发等浓缩操作要在通风条件下进行，尾气按规定处理；不在台面上敞口挥干溶剂。用完随手盖紧，减少挥发。</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二氯甲烷等的职业接触标准源于工业上的大量使用，但实验室用量小并不等于风险小：近距离操作、通风柜使用不当、敞口挥发都可能造成短时高浓度接触。</a:t>
            </a:r>
          </a:p>
          <a:p>
            <a:r>
              <a:t>要重视危害，确认控制措施真的有效：通风柜风速正常、柜门高度正确、容器密闭、手套适用（二氯甲烷能很快穿透很多常见手套材料，按说明书选择）。</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使用二氯甲烷等挥发性溶剂时，出现头晕、头痛、发困、注意力不集中，说明可能吸入过量。马上停止操作，离开到空气新鲜的地方，并提醒周围的人。</a:t>
            </a:r>
          </a:p>
          <a:p>
            <a:r>
              <a:t>报告实验室负责人，查清通风柜或排风哪里出了问题，修好前不再使用。症状不缓解或加重，及时就医，必要时拨打 120。</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重铬酸钾、铬酸盐等六价铬化合物是确认的致癌物，同时是强致敏物和氧化剂：接触皮肤可引起溃疡和过敏性皮炎，吸入粉尘或雾滴会损伤鼻腔和呼吸道（GB 30000 系列分类，以安全技术说明书为准）。</a:t>
            </a:r>
          </a:p>
          <a:p>
            <a:r>
              <a:t>能用低毒替代方法的优先替代。必须使用时，称量粉末在通风柜或带排风的称量台里进行，防止扬尘，戴护目镜和合适的手套；含铬废液单独收集、标明成分，按《国家危险废物名录》（以现行文本为准）交有资质单位处置，不得倒入下水道（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金属汞在常温下就会挥发，汞蒸气无色无味，人察觉不到。长期吸入会损害神经系统和肾脏，出现手抖、情绪改变、记忆力下降等表现。汞的可溶性化合物毒性更大，有的属于剧毒化学品（按“五双”管理，见第 045 课）。</a:t>
            </a:r>
          </a:p>
          <a:p>
            <a:r>
              <a:t>实验室中的含汞温度计、压力计、汞灯等，能用电子仪器或无汞产品替代的尽量替代；保留使用的放在托盘里，防止打碎后汞珠散落。</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含汞温度计、压力计破损后，汞会散成许多到处滚动的小珠，钻进缝隙。不要用手碰，不要用扫帚扫，更不能用吸尘器吸——会把汞打散并加速挥发。</a:t>
            </a:r>
          </a:p>
          <a:p>
            <a:r>
              <a:t>无关人员先离开，隔开现场，开窗或保持通风，关闭附近热源；报告实验室负责人，由经过培训的人员用专用汞处理包收集，收集物密封后按危险废物处置。详细处置流程见第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按《中华人民共和国职业病防治法》和 GBZ 188（以现行文本为准），长期、规律接触甲醛、汞、六价铬、苯等职业病危害因素的人员，应按规定进行上岗前、在岗期间和离岗时的职业健康检查，由学校组织到有资质的机构进行，结果存入个人健康档案。具体范围以本校职业健康管理规定为准。</a:t>
            </a:r>
          </a:p>
          <a:p>
            <a:r>
              <a:t>检查发现异常或出现与接触有关的健康损害，要及时调整岗位或工作内容。怀孕、哺乳、过敏体质等特殊情况，主动告知实验室负责人，调整接触安排（见第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答案：C。解析：稀溶液照样有危害，开瓶、量取、分装都在通风柜里做。</a:t>
            </a:r>
          </a:p>
          <a:p>
            <a:r>
              <a:t>第 2 题 答案：B。解析：二氯甲烷易挥发、蒸气比空气重，长期接触伤心、伤肝、伤脑并可能致癌，取用、浓缩都在通风柜里。</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答案：B。解析：头晕发困是吸入过量的信号。</a:t>
            </a:r>
          </a:p>
          <a:p>
            <a:r>
              <a:t>第 4 题 答案：C。解析：扫和吸会打散汞并加速挥发；收集物按危险废物处置，流程见第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答案：B。解析：长时间平均和短时高峰都要与 GBZ 2.1 的限值比较，超限要加强防护。</a:t>
            </a:r>
          </a:p>
          <a:p>
            <a:r>
              <a:t>第 6 题 答案：按规定进行上岗前、在岗期间和离岗时的职业健康检查，结果存档；出现异常及时调整岗位；怀孕、过敏等特殊情况主动告知实验室负责人。解析：依据《中华人民共和国职业病防治法》和 GBZ 188（以现行文本为准）。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很多化学品名称又长又拗口，名称相近的试剂可能只差一个字或一个前缀，危害却完全不同。取错试剂可能导致剧烈反应、中毒或实验失败。</a:t>
            </a:r>
          </a:p>
          <a:p>
            <a:r>
              <a:t>取用前，对照实验记录或操作规程，逐字核对化学品安全标签上的名称、浓度、规格，并看清象形图和防范说明（GB 30000 系列、GB 15258-2009，以现行文本为准；标签识读见第 039 课）。</a:t>
            </a:r>
          </a:p>
          <a:p>
            <a:r>
              <a:t>标签脱落、模糊或无标签的容器一律不使用，报告实验室负责人按规定处理，不凭颜色、气味或记忆“猜”是什么。</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实验室里的任何化学品都不能用嘴尝来鉴别，也不能把鼻子凑到容器口直接闻，以免吸入高浓度的有毒、刺激性蒸气。</a:t>
            </a:r>
          </a:p>
          <a:p>
            <a:r>
              <a:t>教学实验中确需辨别气味时，按老师要求：容器离开面部一段距离，用手掌在容器口上方把少量气体轻轻扇向鼻子，浅浅闻一下即可，不深吸。有毒、易挥发或有刺激性气味的化学品，一律在通风柜内取用和操作（通风柜使用见第 052 课）。</a:t>
            </a:r>
          </a:p>
          <a:p>
            <a:r>
              <a:t>实验室内不吃不喝；不把笔、手指、标签纸等放到嘴边，防止化学品经口进入人体。</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嘴吸移液管是实验室的严禁行为：吸力稍大或注意力不集中，液体会直接进入口腔，造成化学灼伤、中毒或感染。这一要求对所有液体（包括清水、缓冲液）和所有实验室（化学、生物，包括一级生物安全实验室）都适用。</a:t>
            </a:r>
          </a:p>
          <a:p>
            <a:r>
              <a:t>玻璃移液管用洗耳球（吸耳球）或移液辅助器吸取；微量液体使用移液器，按规范装吸头、按压、吸液、排液，用过的吸头弃入指定容器。</a:t>
            </a:r>
          </a:p>
          <a:p>
            <a:r>
              <a:t>破损的玻璃移液管、碎玻璃放入锐器盒或专用碎玻璃收集容器，不徒手捡拾、不混入普通垃圾。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移液管、药匙直接伸进原试剂瓶，会把杂质、水分或其他试剂带入整瓶，造成污染，甚至引发反应。正确做法是：估计用量，先把略多于所需的量倒入干净的小烧杯或称量容器，再从中移取。</a:t>
            </a:r>
          </a:p>
          <a:p>
            <a:r>
              <a:t>取出后剩余的试剂不得倒回原瓶。一点污染就可能毁掉整瓶试剂，严重时造成危险。按需少量取用，剩余的按本实验室规定回收或作为废液分类收集（见第 053 课）。</a:t>
            </a:r>
          </a:p>
          <a:p>
            <a:r>
              <a:t>展开剂、溶剂等也按需少取，试剂瓶随开随盖，容器不长时间敞口。</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倾倒液体时握住瓶身，标签朝向手心，这样即使有液体沿瓶口流下也不会腐蚀、污染标签，保证后来的人能看清名称和危害。</a:t>
            </a:r>
          </a:p>
          <a:p>
            <a:r>
              <a:t>取下的瓶盖（瓶塞）口朝上倒放在台面上或拿在手中，既不沾污台面，也不把台面上的杂质带回瓶中。向小口容器倾倒时使用漏斗，容器下面垫托盘，万一洒漏能兜住。</a:t>
            </a:r>
          </a:p>
          <a:p>
            <a:r>
              <a:t>倾倒动作要平稳、果断：起倒和收尾干脆利落，犹犹豫豫会让液体顺着瓶壁外侧流下。浓酸碱的倾倒要点见第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倒完液体后，瓶口常挂着液滴，顺瓶壁流下会形成小洒漏，污染台面和试剂架，下一个拿瓶子的人可能直接接触到化学品。</a:t>
            </a:r>
          </a:p>
          <a:p>
            <a:r>
              <a:t>倒完后用纸巾擦净瓶口和瓶身外侧的液滴（沾有化学品的纸巾按规定作为固体废物收集），把瓶盖完全拧紧，放回原来的位置。</a:t>
            </a:r>
          </a:p>
          <a:p>
            <a:r>
              <a:t>试剂瓶随开随盖，不敞口放置，减少挥发和吸潮。</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粉末状化学品容易在取用和称量时扬起，被吸入或落到皮肤、台面上。称量前先查阅安全技术说明书，穿戴实验服、手套和护目镜。</a:t>
            </a:r>
          </a:p>
          <a:p>
            <a:r>
              <a:t>用药匙轻取轻放，在天平防风罩内操作，关好防风门，不对着粉末说话、吹气；有毒或高活性粉末（如激素等）在通风柜或专用的通风称量罩内称量，必要时佩戴合适的呼吸防护。</a:t>
            </a:r>
          </a:p>
          <a:p>
            <a:r>
              <a:t>称量完毕用小刷或湿巾清理天平和台面；配制的母液、溶液贴好标签，写明名称、浓度、日期和配制人，按要求存放。</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化学品只能在实验室内按规定使用和存放，不得装进书包、口袋私自带出实验室，更不能带回宿舍、教室、食堂等公共场所。私带化学品既有中毒、火灾风险，也违反危险化学品管理规定。</a:t>
            </a:r>
          </a:p>
          <a:p>
            <a:r>
              <a:t>确需在实验室之间转移的，先经实验室负责人同意，按本校规定登记（管控类化学品的领用和转移要求见第 045 课），并按 K9、K10 的要求使用二次容器或推车转移。</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之间、楼层之间转移化学品时，把试剂瓶放进防破碎的二次容器（如带盖的塑料桶、橡胶提桶、专用防护套），万一瓶子破裂，液体也能被兜住，不洒到走廊和楼梯上。易燃易爆化学品更要使用二次容器。</a:t>
            </a:r>
          </a:p>
          <a:p>
            <a:r>
              <a:t>多个试剂瓶用带隔挡的提篮装好，瓶子直立、互不碰撞，双手平稳提拿。只拿一瓶时，一手握瓶身、一手托住瓶底，不要单手拎瓶颈或瓶盖。</a:t>
            </a:r>
          </a:p>
          <a:p>
            <a:r>
              <a:t>一次不要拿太多，不把瓶子叠放；转移时避开人员密集的时段和路线，乘电梯等具体要求以本校规定为准。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需要搬运多瓶或较重的化学品时，不要抱着走长路，使用带护边（护栏）、轮子较大、重心低的化学品推车，瓶子放在托盘或二次容器里，防止滑落。</a:t>
            </a:r>
          </a:p>
          <a:p>
            <a:r>
              <a:t>普通仪器车、小推车轮子小、护边低，遇到门槛、电梯缝或不平地面容易翻倒，不能用来搬运化学品。</a:t>
            </a:r>
          </a:p>
          <a:p>
            <a:r>
              <a:t>推车时慢慢走，提前确认路线通畅，避开人流和障碍物；过门槛和进出电梯时放慢速度，必要时两人配合。</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校外运输的危险化学品属于危险货物，要按国家标准分类（GB 6944-2025、GB 12268-2025，以现行文本为准），使用合规的包装并可靠封装，包装上粘贴危险货物包装标志（GB 190-2009，以现行文本为准）。破损、渗漏的包装不得运输。</a:t>
            </a:r>
          </a:p>
          <a:p>
            <a:r>
              <a:t>危险化学品不得随身携带乘坐公共交通工具，不得夹带在普通货物中，也不得通过普通快递、邮寄寄递。需要采购或运输的，通过学校主管部门联系具备相应资质的单位承运，按《中华人民共和国危险化学品安全法》《危险化学品安全管理条例》《危险货物道路运输安全管理办法》等规定执行（以现行文本和本校规定为准）。</a:t>
            </a:r>
          </a:p>
          <a:p>
            <a:r>
              <a:t>装卸、搬运和运输由经过培训、合格的人员负责，熟悉所运化学品的危害，随货携带安全技术说明书，出现泄漏等状况时懂得应急处置（泄漏处置见第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答案：B。解析：任何液体都严禁用嘴吸，一律用洗耳球、移液辅助器或移液器。</a:t>
            </a:r>
          </a:p>
          <a:p>
            <a:r>
              <a:t>第 2 题 答案：B。解析：多余试剂不倒回原瓶，防止污染整瓶；按需少取，剩余的按规定处理。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答案：C。解析：标签朝手心保护标签，瓶盖倒放不沾污，动作果断防止顺壁流，倒完擦净、盖紧。</a:t>
            </a:r>
          </a:p>
          <a:p>
            <a:r>
              <a:t>第 4 题 答案：C。解析：校内转移用二次容器、提篮或稳固推车，慢走、走通畅路线。</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能随身携带或用普通快递寄送；通过学校主管部门联系具备资质的单位承运，按规定包装、封装并粘贴危险货物包装标志，由培训合格的人员办理，随货附安全技术说明书。解析：危险化学品运输必须走正规渠道。</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许多化学品在使用中会放出有害的烟、雾、蒸气和颗粒物。人的口鼻周围的空气区域称为呼吸带，有害物进入呼吸带就会被吸入体内。</a:t>
            </a:r>
          </a:p>
          <a:p>
            <a:r>
              <a:t>化学通风柜是实验室最常用的局部排风设施：它把操作中产生的有害蒸气和粉尘捕集住、抽走并排到室外，把污染物挡在操作者的呼吸带之外。做有毒、有刺激性或易挥发化学品的实验，应在通风柜内进行。</a:t>
            </a:r>
          </a:p>
          <a:p>
            <a:r>
              <a:t>通风柜有台式、落地式、变风量等多种形式，基本原理相同。通风柜、超净工作台和生物安全柜的区别见第 071 课。</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排风机通过风管从柜内持续抽气，室内空气从柜口不断流入，在柜口形成一道向内的空气屏障（气帘），把柜内产生的污染物关在柜里。</a:t>
            </a:r>
          </a:p>
          <a:p>
            <a:r>
              <a:t>污染物随气流经柜后的导流板缝隙进入风管，排到楼外，在室外大气中进一步稀释。只要气流正常，污染物就进不了实验室。</a:t>
            </a:r>
          </a:p>
          <a:p>
            <a:r>
              <a:t>视窗（前窗）是这道屏障的一部分：视窗越低，开口越小，屏障越稳定，还能挡住飞溅，因此使用时视窗要尽量放低（视窗高度的具体要求见第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面风速是空气流过通风柜开口时的平均速度，反映向内气流的强弱。面风速过低，屏障太弱，蒸气容易逸出柜外。</a:t>
            </a:r>
          </a:p>
          <a:p>
            <a:r>
              <a:t>面风速也不是越大越好：风速过大会在柜口和操作者身体前方产生湍流和旋涡，反而把污染物卷出柜外，还会浪费能源、干扰柜内操作。</a:t>
            </a:r>
          </a:p>
          <a:p>
            <a:r>
              <a:t>面风速应在规定范围内，并定期检测，不能过期。具体数值以本校规定和设备标识为准，本课程不给出具体数值。</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气流看不见、摸不着，可以借助烟雾或轻飘带直观地看到。柜口下沿贴一条轻飘带，风机开启时飘带向柜内飘动，说明柜子在抽风。</a:t>
            </a:r>
          </a:p>
          <a:p>
            <a:r>
              <a:t>检测时用发烟装置在柜口放出少量白烟，白烟平稳地流向柜后、不打转、不外溢，说明气流方向和组织正常。</a:t>
            </a:r>
          </a:p>
          <a:p>
            <a:r>
              <a:t>飘带只能判断风机开没开、气流方向对不对，不能用来判断面风速够不够；风速必须由专业人员用仪器测量（见 K10）。</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通风柜的保护效果依赖平稳的向内气流，而这种气流很容易被打断或改变。影响因素主要有：视窗高度、柜内堆放的物品和大设备、柜前人员走动和快速动作、门窗开关和送风口、风扇等横向气流。</a:t>
            </a:r>
          </a:p>
          <a:p>
            <a:r>
              <a:t>视窗开得越大，开口面积越大，在排风量不变时柜口风速越低，屏障越弱。柜内堆满瓶子或物品，会挡住后部排风缝隙，造成气流死角和回流。</a:t>
            </a:r>
          </a:p>
          <a:p>
            <a:r>
              <a:t>气流被打乱后，柜内的污染空气会被带到柜外，吸进操作者的呼吸带。因此使用时要注意这些因素，绝不能干扰通风柜内的气流（使用规范见第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旋转蒸发仪、加热浴、电炉等较大的设备直接放在柜内台面上，会挡住流向下部排风缝的气流，在设备前后形成旋涡。</a:t>
            </a:r>
          </a:p>
          <a:p>
            <a:r>
              <a:t>把设备放在稳固的垫块或支架上垫高几厘米，让空气能从设备下方流过，进入柜后的排风缝隙。设备与后部导流板之间也要留出距离，不要堵住排风缝。</a:t>
            </a:r>
          </a:p>
          <a:p>
            <a:r>
              <a:t>垫高时要保证设备稳固、不倾倒，电源线不被挤压。</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人在走动时，身体后方会形成空气旋涡。从正在使用的通风柜前快速走过，旋涡的作用可能超过柜口的向内气流，把柜内的污染物拉出柜外。</a:t>
            </a:r>
          </a:p>
          <a:p>
            <a:r>
              <a:t>有人在使用通风柜时，其他人不要贴着柜口来回走动或快速经过，柜前保持足够的空间，必要时绕行。操作者自己也要避免在柜前快速转身和大幅度动作。</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门、窗、电风扇和空调或天花板送风口会在柜口形成横向气流，把柜内蒸气吹出或吸出柜外。因此通风柜应设置在远离门、窗和送风口、人员较少走动的位置，这是实验室设计和改造时由学校相关部门统筹考虑的（以本校规定为准）。</a:t>
            </a:r>
          </a:p>
          <a:p>
            <a:r>
              <a:t>作为使用者，要注意不在通风柜旁开窗、开电风扇对着柜口吹，不长时间敞开靠近通风柜的门。发现送风口正对柜口等明显问题，报告实验室负责人。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通风柜在新安装、实验室通风系统改造后，以及使用期间定期都要进行性能检测，检测结果记录在案，合格的贴有检测标识。风机在响、听着在转，不等于合格。</a:t>
            </a:r>
          </a:p>
          <a:p>
            <a:r>
              <a:t>使用前看一眼柜体上的检测标识：是否检测过、是否在有效期内。没有标识或已过期的，按不合格对待，不使用，报告实验室负责人并报修。</a:t>
            </a:r>
          </a:p>
          <a:p>
            <a:r>
              <a:t>发现故障或检测不合格的通风柜，挂牌停用、报修，不擅自拆改。检测周期和标识样式以本校规定为准。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性能检测有规定的步骤，由学校委托的专业人员或设施管理人员完成：检查柜前横向气流是否过大；在柜口放少量烟雾，观察烟雾流向和有无打转外溢；把视窗放在工作位置，将柜口分成若干小格，用风速仪逐格测量面风速。</a:t>
            </a:r>
          </a:p>
          <a:p>
            <a:r>
              <a:t>检测不合格的，在调整好之前不得使用；需要时调整导流板、排风量，甚至改造实验室通风系统。</a:t>
            </a:r>
          </a:p>
          <a:p>
            <a:r>
              <a:t>学生和一般使用者不得自行拧动导流板、调节风阀或改变风量。具体检测方法和指标以国家相关标准、本校规定和设备标识为准。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通风柜应配有风量（风速）监测显示和报警装置，风量低于设定值时发出灯光和声音报警，提醒操作者保护已经失效。</a:t>
            </a:r>
          </a:p>
          <a:p>
            <a:r>
              <a:t>报警器通常同时有灯光和声音提示。不要把声音关掉，因为操作时往往低头专注于实验，只有声音报警才能让人及时发现。</a:t>
            </a:r>
          </a:p>
          <a:p>
            <a:r>
              <a:t>报警功能是否灵敏，由设施管理人员按设备说明书定期测试，并做好记录。使用前看一眼风量显示是否正常。</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通风柜一旦报警，说明排风可能不足，立即按“停、关、报”处理：停止实验操作，关闭热源，盖好容器；把视窗拉下关闭；报告实验室负责人和学院实验室安全管理员，联系设施维修人员。</a:t>
            </a:r>
          </a:p>
          <a:p>
            <a:r>
              <a:t>如已闻到明显异味或感到不适，先撤离实验室，必要时按应急程序报告（报警与事故报告见第 157 课，以本校应急预案为准）。</a:t>
            </a:r>
          </a:p>
          <a:p>
            <a:r>
              <a:t>故障排除后，由相关人员按设备说明书复位报警器，确认风量恢复正常后再继续实验。</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除通风柜等局部排风外，化学实验室还要有全面通风，持续运行、不断换气，稀释和排出逸散到室内的有害气体。换气次数按实验室设计和本校规定执行，不能只靠通风柜作为唯一的排风出口。</a:t>
            </a:r>
          </a:p>
          <a:p>
            <a:r>
              <a:t>化学实验室通常保持相对走廊的负压，空气从走廊流入实验室，再经排风系统排出，有害气体就不会扩散到走廊和办公室。</a:t>
            </a:r>
          </a:p>
          <a:p>
            <a:r>
              <a:t>为维持负压和气流组织，实验室门不要长时间敞开，送风口、排风口不要用纸箱、物品遮挡；夜间和节假日通风系统的运行要求以本校规定为准。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除普通化学通风柜外，还有针对特殊危害的专用通风柜，平时不常用，但要知道它们的用途，不能混用。</a:t>
            </a:r>
          </a:p>
          <a:p>
            <a:r>
              <a:t>高氯酸加热等操作会在柜体和风管内留下危险残留物，越积越多可能引发爆炸。高氯酸专用通风柜采用耐腐蚀材料，并设有水冲洗系统，可定期冲洗柜体内壁和风管。高氯酸专用柜内绝不能放置或使用有机物，普通通风柜也不得用于高氯酸加热操作（以本校规定为准）。</a:t>
            </a:r>
          </a:p>
          <a:p>
            <a:r>
              <a:t>开放性放射性物质的操作要在专用的通风柜或手套箱内进行，并按辐射安全管理要求执行（见第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答案：B。解析：空气从柜口持续流入，形成向内屏障，污染物随气流经风管排到楼外。</a:t>
            </a:r>
          </a:p>
          <a:p>
            <a:r>
              <a:t>第 2 题 答案：B。解析：风速过大会产生湍流，反而把污染物卷出；面风速要在规定范围内，以本校规定和设备标识为准。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答案：B。解析：人员走动带起的旋涡会把污染物拉出柜外。</a:t>
            </a:r>
          </a:p>
          <a:p>
            <a:r>
              <a:t>第 4 题 答案：C。解析：报警按“停、关、报”处理，故障排除后按说明书复位。</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答案：实验室要持续通风换气并保持负压，稀释和排出逸散的有害气体，防止扩散到走廊和办公室；排风不能只靠通风柜，运行要求以本校规定为准。解析：试剂柜、废液桶等在无人时也会持续挥发。</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安全柜与化学品冰箱</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能说出易燃品柜、酸碱腐蚀品柜、毒害品柜各自的用途，做到易燃、腐蚀、毒害化学品各进专柜。</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能做到少量易燃液体用安全罐分装、用完放回柜内、台面只留当天少量，柜门关好、柜内柜前不堆杂物。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能说出安全柜通风须有阻火措施、柜体按说明接地，具体以产品说明和本校规定为准。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能判断普通冰箱不能存放易燃物、冷藏易燃试剂须用防爆冰箱，化学品冰箱专用、禁止存放食物饮料。</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日起施行）及《危险化学品安全管理条例》（以现行文本为准）：危险化学品专用储存设施，剧毒化学品专柜储存、专人管理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15603-2022（以现行文本为准）《危险化学品仓库储存通则》：分类、分区储存，禁忌物不得混存，储存设施防火、通风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系列（以现行文本为准）《化学品分类和标签规范》：易燃、腐蚀、急性毒性等危险性分类是选柜依据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2894-2025（以现行文本为准）《安全色和安全标志》：储存柜、冰箱上的警告和禁止标志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号，以现行文本为准）：危险化学品分类存放于专用柜，控制存量，剧毒品双人双锁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高校实验室安全检查项目表（以现行文本为准）：易燃品柜、腐蚀品柜、毒害品柜的配置与使用，存放化学品的冰箱须防爆或经防爆改造，不得存放食物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本校危险化学品储存和安全柜、冰箱管理规定</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易燃液体放进合格的易燃品柜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易燃液体不能堆在开放架子上</a:t>
            </a:r>
          </a:p>
          <a:p>
            <a:pPr>
              <a:spcAft>
                <a:spcPts val="1000"/>
              </a:spcAft>
            </a:pPr>
            <a:r>
              <a:rPr sz="2000">
                <a:solidFill>
                  <a:srgbClr val="222B33"/>
                </a:solidFill>
                <a:latin typeface="Microsoft YaHei"/>
              </a:rPr>
              <a:t>▪ 放进合格的易燃品安全柜</a:t>
            </a:r>
          </a:p>
          <a:p>
            <a:pPr>
              <a:spcAft>
                <a:spcPts val="1000"/>
              </a:spcAft>
            </a:pPr>
            <a:r>
              <a:rPr sz="2000">
                <a:solidFill>
                  <a:srgbClr val="222B33"/>
                </a:solidFill>
                <a:latin typeface="Microsoft YaHei"/>
              </a:rPr>
              <a:t>▪ 柜上贴易燃警示，远离火源</a:t>
            </a:r>
          </a:p>
          <a:p>
            <a:pPr>
              <a:spcAft>
                <a:spcPts val="1000"/>
              </a:spcAft>
            </a:pPr>
            <a:r>
              <a:rPr sz="2000">
                <a:solidFill>
                  <a:srgbClr val="222B33"/>
                </a:solidFill>
                <a:latin typeface="Microsoft YaHei"/>
              </a:rPr>
              <a:t>▪ 量更大的进学校专用库房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易燃溶剂放在敞开的木架或窗台上</a:t>
            </a:r>
          </a:p>
          <a:p>
            <a:pPr>
              <a:spcAft>
                <a:spcPts val="1000"/>
              </a:spcAft>
            </a:pPr>
            <a:r>
              <a:rPr sz="1500">
                <a:solidFill>
                  <a:srgbClr val="222B33"/>
                </a:solidFill>
                <a:latin typeface="Microsoft YaHei"/>
              </a:rPr>
              <a:t>▪ 用普通文件柜代替易燃品柜</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少量分装用安全罐，量多进柜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少量易燃液体用合格的安全罐装</a:t>
            </a:r>
          </a:p>
          <a:p>
            <a:pPr>
              <a:spcAft>
                <a:spcPts val="1000"/>
              </a:spcAft>
            </a:pPr>
            <a:r>
              <a:rPr sz="2000">
                <a:solidFill>
                  <a:srgbClr val="222B33"/>
                </a:solidFill>
                <a:latin typeface="Microsoft YaHei"/>
              </a:rPr>
              <a:t>▪ 罐口阻火装置能挡住回火</a:t>
            </a:r>
          </a:p>
          <a:p>
            <a:pPr>
              <a:spcAft>
                <a:spcPts val="1000"/>
              </a:spcAft>
            </a:pPr>
            <a:r>
              <a:rPr sz="2000">
                <a:solidFill>
                  <a:srgbClr val="222B33"/>
                </a:solidFill>
                <a:latin typeface="Microsoft YaHei"/>
              </a:rPr>
              <a:t>▪ 每个容器都贴好标签</a:t>
            </a:r>
          </a:p>
          <a:p>
            <a:pPr>
              <a:spcAft>
                <a:spcPts val="1000"/>
              </a:spcAft>
            </a:pPr>
            <a:r>
              <a:rPr sz="2000">
                <a:solidFill>
                  <a:srgbClr val="222B33"/>
                </a:solidFill>
                <a:latin typeface="Microsoft YaHei"/>
              </a:rPr>
              <a:t>▪ 量多的放进易燃品柜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需要分装、转移或暂存少量易燃液体时，用合格的安全罐（安全储液罐）。安全罐罐盖能自动关闭，罐口装有阻火网等阻火装置，外部火源靠近时能阻止火焰回窜到罐内。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用饮料瓶、无盖烧杯分装溶剂</a:t>
            </a:r>
          </a:p>
          <a:p>
            <a:pPr>
              <a:spcAft>
                <a:spcPts val="1000"/>
              </a:spcAft>
            </a:pPr>
            <a:r>
              <a:rPr sz="1500">
                <a:solidFill>
                  <a:srgbClr val="222B33"/>
                </a:solidFill>
                <a:latin typeface="Microsoft YaHei"/>
              </a:rPr>
              <a:t>▪ 安全罐不贴标签，几种溶剂混用</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用完放回柜里，台面只留少量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易燃品用完马上放回专用柜</a:t>
            </a:r>
          </a:p>
          <a:p>
            <a:pPr>
              <a:spcAft>
                <a:spcPts val="1000"/>
              </a:spcAft>
            </a:pPr>
            <a:r>
              <a:rPr sz="2000">
                <a:solidFill>
                  <a:srgbClr val="222B33"/>
                </a:solidFill>
                <a:latin typeface="Microsoft YaHei"/>
              </a:rPr>
              <a:t>▪ 台面只留当天够用的少量</a:t>
            </a:r>
          </a:p>
          <a:p>
            <a:pPr>
              <a:spcAft>
                <a:spcPts val="1000"/>
              </a:spcAft>
            </a:pPr>
            <a:r>
              <a:rPr sz="2000">
                <a:solidFill>
                  <a:srgbClr val="222B33"/>
                </a:solidFill>
                <a:latin typeface="Microsoft YaHei"/>
              </a:rPr>
              <a:t>▪ 下班前溶剂全部回柜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乙醇、有机溶剂等易燃品用完要马上放回指定的易燃品柜，不能长期摆在实验台、通风柜里或地上（台面和通风柜不是仓库，见第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常用溶剂长期摆在台面上</a:t>
            </a:r>
          </a:p>
          <a:p>
            <a:pPr>
              <a:spcAft>
                <a:spcPts val="1000"/>
              </a:spcAft>
            </a:pPr>
            <a:r>
              <a:rPr sz="1500">
                <a:solidFill>
                  <a:srgbClr val="222B33"/>
                </a:solidFill>
                <a:latin typeface="Microsoft YaHei"/>
              </a:rPr>
              <a:t>▪ 实验结束不收拾，溶剂瓶留在通风柜里</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柜门关好，通风接地按规定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柜门平时关好，不用东西顶开</a:t>
            </a:r>
          </a:p>
          <a:p>
            <a:pPr>
              <a:spcAft>
                <a:spcPts val="1000"/>
              </a:spcAft>
            </a:pPr>
            <a:r>
              <a:rPr sz="1700">
                <a:solidFill>
                  <a:srgbClr val="222B33"/>
                </a:solidFill>
                <a:latin typeface="Microsoft YaHei"/>
              </a:rPr>
              <a:t>▪ 按规定上锁，钥匙专人保管</a:t>
            </a:r>
          </a:p>
          <a:p>
            <a:pPr>
              <a:spcAft>
                <a:spcPts val="1000"/>
              </a:spcAft>
            </a:pPr>
            <a:r>
              <a:rPr sz="1700">
                <a:solidFill>
                  <a:srgbClr val="222B33"/>
                </a:solidFill>
                <a:latin typeface="Microsoft YaHei"/>
              </a:rPr>
              <a:t>▪ 柜子若接排风，管路要有阻火器</a:t>
            </a:r>
          </a:p>
          <a:p>
            <a:pPr>
              <a:spcAft>
                <a:spcPts val="1000"/>
              </a:spcAft>
            </a:pPr>
            <a:r>
              <a:rPr sz="1700">
                <a:solidFill>
                  <a:srgbClr val="222B33"/>
                </a:solidFill>
                <a:latin typeface="Microsoft YaHei"/>
              </a:rPr>
              <a:t>▪ 柜体按说明接地，导走静电</a:t>
            </a:r>
          </a:p>
          <a:p>
            <a:pPr>
              <a:spcAft>
                <a:spcPts val="1000"/>
              </a:spcAft>
            </a:pPr>
            <a:r>
              <a:rPr sz="1700">
                <a:solidFill>
                  <a:srgbClr val="222B33"/>
                </a:solidFill>
                <a:latin typeface="Microsoft YaHei"/>
              </a:rPr>
              <a:t>▪ 柜里不放杂物，柜前不堆东西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安全柜只有关着门才能起到保护作用：柜门平时关好、扣紧，不用楔子或其他东西顶住柜门；按学校规定上锁，钥匙由专人保管。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为了方便取用，把柜门一直敞开</a:t>
            </a:r>
          </a:p>
          <a:p>
            <a:pPr>
              <a:spcAft>
                <a:spcPts val="1000"/>
              </a:spcAft>
            </a:pPr>
            <a:r>
              <a:rPr sz="1500">
                <a:solidFill>
                  <a:srgbClr val="222B33"/>
                </a:solidFill>
                <a:latin typeface="Microsoft YaHei"/>
              </a:rPr>
              <a:t>▪ 自行在柜体上开孔、接管</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酸碱腐蚀品柜：酸碱分开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酸碱放进耐腐蚀的专用柜</a:t>
            </a:r>
          </a:p>
          <a:p>
            <a:pPr>
              <a:spcAft>
                <a:spcPts val="1000"/>
              </a:spcAft>
            </a:pPr>
            <a:r>
              <a:rPr sz="2000">
                <a:solidFill>
                  <a:srgbClr val="222B33"/>
                </a:solidFill>
                <a:latin typeface="Microsoft YaHei"/>
              </a:rPr>
              <a:t>▪ 酸、碱分柜，或分格隔开</a:t>
            </a:r>
          </a:p>
          <a:p>
            <a:pPr>
              <a:spcAft>
                <a:spcPts val="1000"/>
              </a:spcAft>
            </a:pPr>
            <a:r>
              <a:rPr sz="2000">
                <a:solidFill>
                  <a:srgbClr val="222B33"/>
                </a:solidFill>
                <a:latin typeface="Microsoft YaHei"/>
              </a:rPr>
              <a:t>▪ 腐蚀品不放普通金属柜</a:t>
            </a:r>
          </a:p>
          <a:p>
            <a:pPr>
              <a:spcAft>
                <a:spcPts val="1000"/>
              </a:spcAft>
            </a:pPr>
            <a:r>
              <a:rPr sz="2000">
                <a:solidFill>
                  <a:srgbClr val="222B33"/>
                </a:solidFill>
                <a:latin typeface="Microsoft YaHei"/>
              </a:rPr>
              <a:t>▪ 大瓶放下层，配耐腐蚀托盘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酸和碱放在同一格</a:t>
            </a:r>
          </a:p>
          <a:p>
            <a:pPr>
              <a:spcAft>
                <a:spcPts val="1000"/>
              </a:spcAft>
            </a:pPr>
            <a:r>
              <a:rPr sz="1500">
                <a:solidFill>
                  <a:srgbClr val="222B33"/>
                </a:solidFill>
                <a:latin typeface="Microsoft YaHei"/>
              </a:rPr>
              <a:t>▪ 浓酸放在普通铁皮柜里</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毒害品柜：加锁专人管理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毒害品放进专用柜并加锁</a:t>
            </a:r>
          </a:p>
          <a:p>
            <a:pPr>
              <a:spcAft>
                <a:spcPts val="1000"/>
              </a:spcAft>
            </a:pPr>
            <a:r>
              <a:rPr sz="2000">
                <a:solidFill>
                  <a:srgbClr val="222B33"/>
                </a:solidFill>
                <a:latin typeface="Microsoft YaHei"/>
              </a:rPr>
              <a:t>▪ 剧毒品双人双锁管理</a:t>
            </a:r>
          </a:p>
          <a:p>
            <a:pPr>
              <a:spcAft>
                <a:spcPts val="1000"/>
              </a:spcAft>
            </a:pPr>
            <a:r>
              <a:rPr sz="2000">
                <a:solidFill>
                  <a:srgbClr val="222B33"/>
                </a:solidFill>
                <a:latin typeface="Microsoft YaHei"/>
              </a:rPr>
              <a:t>▪ 领用登记，账物相符</a:t>
            </a:r>
          </a:p>
          <a:p>
            <a:pPr>
              <a:spcAft>
                <a:spcPts val="1000"/>
              </a:spcAft>
            </a:pPr>
            <a:r>
              <a:rPr sz="2000">
                <a:solidFill>
                  <a:srgbClr val="222B33"/>
                </a:solidFill>
                <a:latin typeface="Microsoft YaHei"/>
              </a:rPr>
              <a:t>▪ 存放区按学校要求做好防盗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有毒化学品存放在专用的毒害品柜中，柜子加锁，由专人管理。剧毒化学品实行“五双”管理，其中储存要求双人双锁，必要时使用保险柜，并按学校要求做好防盗、监控等安全防范措施。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毒害品和普通试剂混放在不上锁的柜子</a:t>
            </a:r>
          </a:p>
          <a:p>
            <a:pPr>
              <a:spcAft>
                <a:spcPts val="1000"/>
              </a:spcAft>
            </a:pPr>
            <a:r>
              <a:rPr sz="1500">
                <a:solidFill>
                  <a:srgbClr val="222B33"/>
                </a:solidFill>
                <a:latin typeface="Microsoft YaHei"/>
              </a:rPr>
              <a:t>▪ 一个人同时掌握两把钥匙</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普通冰箱不放易燃物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普通冰箱内的开关、温控器会打火花</a:t>
            </a:r>
          </a:p>
          <a:p>
            <a:pPr>
              <a:spcAft>
                <a:spcPts val="1000"/>
              </a:spcAft>
            </a:pPr>
            <a:r>
              <a:rPr sz="2000">
                <a:solidFill>
                  <a:srgbClr val="222B33"/>
                </a:solidFill>
                <a:latin typeface="Microsoft YaHei"/>
              </a:rPr>
              <a:t>▪ 易燃蒸气遇火花可能引起爆炸</a:t>
            </a:r>
          </a:p>
          <a:p>
            <a:pPr>
              <a:spcAft>
                <a:spcPts val="1000"/>
              </a:spcAft>
            </a:pPr>
            <a:r>
              <a:rPr sz="2000">
                <a:solidFill>
                  <a:srgbClr val="222B33"/>
                </a:solidFill>
                <a:latin typeface="Microsoft YaHei"/>
              </a:rPr>
              <a:t>▪ 普通冰箱绝不能放易燃物</a:t>
            </a:r>
          </a:p>
          <a:p>
            <a:pPr>
              <a:spcAft>
                <a:spcPts val="1000"/>
              </a:spcAft>
            </a:pPr>
            <a:r>
              <a:rPr sz="2000">
                <a:solidFill>
                  <a:srgbClr val="222B33"/>
                </a:solidFill>
                <a:latin typeface="Microsoft YaHei"/>
              </a:rPr>
              <a:t>▪ 需要冷藏易燃试剂，用防爆冰箱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普通家用冰箱内部的门灯开关、温控器等电气元件工作时会产生电火花。易燃试剂在冰箱密闭空间里挥发出的蒸气积聚，遇到火花可能燃烧甚至爆炸。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用普通家用冰箱冷藏乙醚、石油醚等溶剂</a:t>
            </a:r>
          </a:p>
          <a:p>
            <a:pPr>
              <a:spcAft>
                <a:spcPts val="1000"/>
              </a:spcAft>
            </a:pPr>
            <a:r>
              <a:rPr sz="1500">
                <a:solidFill>
                  <a:srgbClr val="222B33"/>
                </a:solidFill>
                <a:latin typeface="Microsoft YaHei"/>
              </a:rPr>
              <a:t>▪ 以为瓶盖拧紧了就可以放进普通冰箱</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化学品冰箱专用，禁放食物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实验冰箱绝不存放食物饮料</a:t>
            </a:r>
          </a:p>
          <a:p>
            <a:pPr>
              <a:spcAft>
                <a:spcPts val="1000"/>
              </a:spcAft>
            </a:pPr>
            <a:r>
              <a:rPr sz="2000">
                <a:solidFill>
                  <a:srgbClr val="222B33"/>
                </a:solidFill>
                <a:latin typeface="Microsoft YaHei"/>
              </a:rPr>
              <a:t>▪ 门上贴“化学品专用、禁放食品”标识</a:t>
            </a:r>
          </a:p>
          <a:p>
            <a:pPr>
              <a:spcAft>
                <a:spcPts val="1000"/>
              </a:spcAft>
            </a:pPr>
            <a:r>
              <a:rPr sz="2000">
                <a:solidFill>
                  <a:srgbClr val="222B33"/>
                </a:solidFill>
                <a:latin typeface="Microsoft YaHei"/>
              </a:rPr>
              <a:t>▪ 容器密封、贴标签，不相容物隔开</a:t>
            </a:r>
          </a:p>
          <a:p>
            <a:pPr>
              <a:spcAft>
                <a:spcPts val="1000"/>
              </a:spcAft>
            </a:pPr>
            <a:r>
              <a:rPr sz="2000">
                <a:solidFill>
                  <a:srgbClr val="222B33"/>
                </a:solidFill>
                <a:latin typeface="Microsoft YaHei"/>
              </a:rPr>
              <a:t>▪ 定期清理，过期的登记处置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存放化学品、生物样品的实验冰箱只能专用，绝不能存放食物、饮料，以防污染和误食；职工的食品冰箱要放在实验区以外，不能混用一台。冰箱门上贴“化学品专用、禁放食品”等标识。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在实验冰箱里放午饭或饮料</a:t>
            </a:r>
          </a:p>
          <a:p>
            <a:pPr>
              <a:spcAft>
                <a:spcPts val="1000"/>
              </a:spcAft>
            </a:pPr>
            <a:r>
              <a:rPr sz="1500">
                <a:solidFill>
                  <a:srgbClr val="222B33"/>
                </a:solidFill>
                <a:latin typeface="Microsoft YaHei"/>
              </a:rPr>
              <a:t>▪ 冰箱里放敞口、无标签的容器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需要冷藏一瓶易燃有机溶剂，正确的做法是：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拧紧瓶盖放进普通冰箱</a:t>
            </a:r>
          </a:p>
          <a:p>
            <a:pPr algn="l"/>
            <a:r>
              <a:rPr sz="1500" b="0">
                <a:solidFill>
                  <a:srgbClr val="222B33"/>
                </a:solidFill>
                <a:latin typeface="Microsoft YaHei"/>
              </a:rPr>
              <a:t>B. 放进防爆冰箱</a:t>
            </a:r>
          </a:p>
          <a:p>
            <a:pPr algn="l"/>
            <a:r>
              <a:rPr sz="1500" b="0">
                <a:solidFill>
                  <a:srgbClr val="222B33"/>
                </a:solidFill>
                <a:latin typeface="Microsoft YaHei"/>
              </a:rPr>
              <a:t>C. 放进办公室冰箱</a:t>
            </a:r>
          </a:p>
          <a:p>
            <a:pPr algn="l"/>
            <a:r>
              <a:rPr sz="1500" b="0">
                <a:solidFill>
                  <a:srgbClr val="222B33"/>
                </a:solidFill>
                <a:latin typeface="Microsoft YaHei"/>
              </a:rPr>
              <a:t>D. 放在窗台阴凉处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判断：实验室冰箱空间很大，可以在里面放一份午饭，只要和试剂分开放即可。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关于易燃品安全柜，下列做法正确的是：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用楔子顶住柜门方便取用</a:t>
            </a:r>
          </a:p>
          <a:p>
            <a:pPr algn="l"/>
            <a:r>
              <a:rPr sz="1500" b="0">
                <a:solidFill>
                  <a:srgbClr val="222B33"/>
                </a:solidFill>
                <a:latin typeface="Microsoft YaHei"/>
              </a:rPr>
              <a:t>B. 柜内放纸箱和抹布</a:t>
            </a:r>
          </a:p>
          <a:p>
            <a:pPr algn="l"/>
            <a:r>
              <a:rPr sz="1500" b="0">
                <a:solidFill>
                  <a:srgbClr val="222B33"/>
                </a:solidFill>
                <a:latin typeface="Microsoft YaHei"/>
              </a:rPr>
              <a:t>C. 柜门平时关好，若接排风则管路设阻火器</a:t>
            </a:r>
          </a:p>
          <a:p>
            <a:pPr algn="l"/>
            <a:r>
              <a:rPr sz="1500" b="0">
                <a:solidFill>
                  <a:srgbClr val="222B33"/>
                </a:solidFill>
                <a:latin typeface="Microsoft YaHei"/>
              </a:rPr>
              <a:t>D. 把酸瓶也放进去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判断：酸和碱都是腐蚀品，可以放在腐蚀品柜的同一格里。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简答：易燃品柜、腐蚀品柜、毒害品柜的使用要点分别是什么？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易燃液体放进合格的易燃品柜</a:t>
            </a:r>
          </a:p>
          <a:p>
            <a:pPr>
              <a:spcAft>
                <a:spcPts val="800"/>
              </a:spcAft>
            </a:pPr>
            <a:r>
              <a:rPr sz="1800">
                <a:solidFill>
                  <a:srgbClr val="FFFFFF"/>
                </a:solidFill>
                <a:latin typeface="Microsoft YaHei"/>
              </a:rPr>
              <a:t>▪ K2  少量分装用安全罐，量多进柜</a:t>
            </a:r>
          </a:p>
          <a:p>
            <a:pPr>
              <a:spcAft>
                <a:spcPts val="800"/>
              </a:spcAft>
            </a:pPr>
            <a:r>
              <a:rPr sz="1800">
                <a:solidFill>
                  <a:srgbClr val="FFFFFF"/>
                </a:solidFill>
                <a:latin typeface="Microsoft YaHei"/>
              </a:rPr>
              <a:t>▪ K3  用完放回柜里，台面只留少量</a:t>
            </a:r>
          </a:p>
          <a:p>
            <a:pPr>
              <a:spcAft>
                <a:spcPts val="800"/>
              </a:spcAft>
            </a:pPr>
            <a:r>
              <a:rPr sz="1800">
                <a:solidFill>
                  <a:srgbClr val="FFFFFF"/>
                </a:solidFill>
                <a:latin typeface="Microsoft YaHei"/>
              </a:rPr>
              <a:t>▪ K4  柜门关好，通风接地按规定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酸碱腐蚀品柜：酸碱分开</a:t>
            </a:r>
          </a:p>
          <a:p>
            <a:pPr>
              <a:spcAft>
                <a:spcPts val="800"/>
              </a:spcAft>
            </a:pPr>
            <a:r>
              <a:rPr sz="1800">
                <a:solidFill>
                  <a:srgbClr val="FFFFFF"/>
                </a:solidFill>
                <a:latin typeface="Microsoft YaHei"/>
              </a:rPr>
              <a:t>▪ S2  毒害品柜：加锁专人管理</a:t>
            </a:r>
          </a:p>
          <a:p>
            <a:pPr>
              <a:spcAft>
                <a:spcPts val="800"/>
              </a:spcAft>
            </a:pPr>
            <a:r>
              <a:rPr sz="1800">
                <a:solidFill>
                  <a:srgbClr val="FFFFFF"/>
                </a:solidFill>
                <a:latin typeface="Microsoft YaHei"/>
              </a:rPr>
              <a:t>▪ K5  普通冰箱不放易燃物</a:t>
            </a:r>
          </a:p>
          <a:p>
            <a:pPr>
              <a:spcAft>
                <a:spcPts val="800"/>
              </a:spcAft>
            </a:pPr>
            <a:r>
              <a:rPr sz="1800">
                <a:solidFill>
                  <a:srgbClr val="FFFFFF"/>
                </a:solidFill>
                <a:latin typeface="Microsoft YaHei"/>
              </a:rPr>
              <a:t>▪ K6  化学品冰箱专用，禁放食物</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管控类化学品管理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适用对象：全体使用和管理化学品的高校本科生、研究生和教职工（必修）；采购、保管管控类化学品的人员重点学习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能说出剧毒化学品、易制毒化学品、易制爆危险化学品三类管控类化学品，会查《危险化学品目录》等名录和本校平台；能判断“管不管控看物质，不看用量”。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能说出剧毒化学品“五双”管理的内容，含砷标准品等按剧毒品管理。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能做到管控类化学品只通过学校平台采购、逐级审批，专柜存放、专人管理，领用称量如实登记、剩余退回，不外借不转让。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能做到发现丢失、被盗、账物不符立即报告实验室负责人、学院和保卫处；学生不得私自获取、保存或试验爆炸物品。</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日起施行）及《危险化学品安全管理条例》（以现行文本为准）：剧毒化学品购买许可、专用储存、专人管理、储存情况报公安机关备案，丢失被盗立即报告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《易制毒化学品管理条例》（以现行文本为准）：易制毒化学品分三类管理，购买许可或备案，如实记录，不得转借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《易制爆危险化学品治安管理办法》（以现行文本为准）及《易制爆危险化学品名录》（公安部发布，以现行版本为准）：购买和流向登记、专库专柜储存、专人管理、不得出借转让，丢失被盗及时报告公安机关</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《民用爆炸物品安全管理条例》（以现行文本为准）：爆炸物品严格管控，未经许可不得获取、储存、使用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《危险化学品目录》（以现行版本为准）：判断是否属于危险化学品和剧毒化学品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《国家危险废物名录》（以现行文本为准）：管控类化学品的废弃物单独收集，交学校按规定处置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号，以现行文本为准）：管控类化学品全过程管理，剧毒品“五双”管理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认出管控类化学品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剧毒、易制毒、易制爆化学品由国家专门管控</a:t>
            </a:r>
          </a:p>
          <a:p>
            <a:pPr>
              <a:spcAft>
                <a:spcPts val="1000"/>
              </a:spcAft>
            </a:pPr>
            <a:r>
              <a:rPr sz="2000">
                <a:solidFill>
                  <a:srgbClr val="222B33"/>
                </a:solidFill>
                <a:latin typeface="Microsoft YaHei"/>
              </a:rPr>
              <a:t>▪ 查危险化学品目录、相关名录和学校平台</a:t>
            </a:r>
          </a:p>
          <a:p>
            <a:pPr>
              <a:spcAft>
                <a:spcPts val="1000"/>
              </a:spcAft>
            </a:pPr>
            <a:r>
              <a:rPr sz="2000">
                <a:solidFill>
                  <a:srgbClr val="222B33"/>
                </a:solidFill>
                <a:latin typeface="Microsoft YaHei"/>
              </a:rPr>
              <a:t>▪ 属于这几类，先问清本校规定</a:t>
            </a:r>
          </a:p>
          <a:p>
            <a:pPr>
              <a:spcAft>
                <a:spcPts val="1000"/>
              </a:spcAft>
            </a:pPr>
            <a:r>
              <a:rPr sz="2000">
                <a:solidFill>
                  <a:srgbClr val="222B33"/>
                </a:solidFill>
                <a:latin typeface="Microsoft YaHei"/>
              </a:rPr>
              <a:t>▪ 采购、保管、领用都要按规定登记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一般危险化学品，国家对三类化学品实行专门管控：剧毒化学品（在《危险化学品目录》中标注为剧毒）、易制毒化学品（列入《易制毒化学品管理条例》附表）、易制爆危险化学品（列入公安部发布的《易制爆危险化学品名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不查名录，把管控品当普通试剂使用</a:t>
            </a:r>
          </a:p>
          <a:p>
            <a:pPr>
              <a:spcAft>
                <a:spcPts val="1000"/>
              </a:spcAft>
            </a:pPr>
            <a:r>
              <a:rPr sz="1500">
                <a:solidFill>
                  <a:srgbClr val="222B33"/>
                </a:solidFill>
                <a:latin typeface="Microsoft YaHei"/>
              </a:rPr>
              <a:t>▪ 以为只有剧毒品才需要专门管理</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看物质本身，专区专管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管不管控看物质本身，不看用量多少</a:t>
            </a:r>
          </a:p>
          <a:p>
            <a:pPr>
              <a:spcAft>
                <a:spcPts val="1000"/>
              </a:spcAft>
            </a:pPr>
            <a:r>
              <a:rPr sz="2000">
                <a:solidFill>
                  <a:srgbClr val="222B33"/>
                </a:solidFill>
                <a:latin typeface="Microsoft YaHei"/>
              </a:rPr>
              <a:t>▪ 哪怕只有一小瓶，也要专柜专区管理</a:t>
            </a:r>
          </a:p>
          <a:p>
            <a:pPr>
              <a:spcAft>
                <a:spcPts val="1000"/>
              </a:spcAft>
            </a:pPr>
            <a:r>
              <a:rPr sz="2000">
                <a:solidFill>
                  <a:srgbClr val="222B33"/>
                </a:solidFill>
                <a:latin typeface="Microsoft YaHei"/>
              </a:rPr>
              <a:t>▪ 专柜专区，出入登记</a:t>
            </a:r>
          </a:p>
          <a:p>
            <a:pPr>
              <a:spcAft>
                <a:spcPts val="1000"/>
              </a:spcAft>
            </a:pPr>
            <a:r>
              <a:rPr sz="2000">
                <a:solidFill>
                  <a:srgbClr val="222B33"/>
                </a:solidFill>
                <a:latin typeface="Microsoft YaHei"/>
              </a:rPr>
              <a:t>▪ 废弃物也按专门规定处理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是否属于管控类化学品，看的是物质本身，而不是用量多少：哪怕只有一小瓶、几克，也要按管控品管理。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量少就随便放在普通试剂柜里</a:t>
            </a:r>
          </a:p>
          <a:p>
            <a:pPr>
              <a:spcAft>
                <a:spcPts val="1000"/>
              </a:spcAft>
            </a:pPr>
            <a:r>
              <a:rPr sz="1500">
                <a:solidFill>
                  <a:srgbClr val="222B33"/>
                </a:solidFill>
                <a:latin typeface="Microsoft YaHei"/>
              </a:rPr>
              <a:t>▪ 管控品废液混入普通废液桶</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剧毒化学品“五双”管理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剧毒化学品实行“五双”管理</a:t>
            </a:r>
          </a:p>
          <a:p>
            <a:pPr>
              <a:spcAft>
                <a:spcPts val="1000"/>
              </a:spcAft>
            </a:pPr>
            <a:r>
              <a:rPr sz="2000">
                <a:solidFill>
                  <a:srgbClr val="222B33"/>
                </a:solidFill>
                <a:latin typeface="Microsoft YaHei"/>
              </a:rPr>
              <a:t>▪ 双人验收、双人保管、双人领用</a:t>
            </a:r>
          </a:p>
          <a:p>
            <a:pPr>
              <a:spcAft>
                <a:spcPts val="1000"/>
              </a:spcAft>
            </a:pPr>
            <a:r>
              <a:rPr sz="2000">
                <a:solidFill>
                  <a:srgbClr val="222B33"/>
                </a:solidFill>
                <a:latin typeface="Microsoft YaHei"/>
              </a:rPr>
              <a:t>▪ 双把锁，两人各管一把钥匙</a:t>
            </a:r>
          </a:p>
          <a:p>
            <a:pPr>
              <a:spcAft>
                <a:spcPts val="1000"/>
              </a:spcAft>
            </a:pPr>
            <a:r>
              <a:rPr sz="2000">
                <a:solidFill>
                  <a:srgbClr val="222B33"/>
                </a:solidFill>
                <a:latin typeface="Microsoft YaHei"/>
              </a:rPr>
              <a:t>▪ 双本账，账账相符、账物相符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剧毒化学品普遍实行“五双”管理：双人验收（收发）、双人保管、双人领用（取用时双人在场）、双把锁、双本账。两把钥匙分别由两名保管人掌握，任何一人都不能单独开柜；两本台账分别记录，做到账账相符、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一个人同时保管两把钥匙</a:t>
            </a:r>
          </a:p>
          <a:p>
            <a:pPr>
              <a:spcAft>
                <a:spcPts val="1000"/>
              </a:spcAft>
            </a:pPr>
            <a:r>
              <a:rPr sz="1500">
                <a:solidFill>
                  <a:srgbClr val="222B33"/>
                </a:solidFill>
                <a:latin typeface="Microsoft YaHei"/>
              </a:rPr>
              <a:t>▪ 只记一本账，或领用后不及时登记</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含砷样品和标准品按剧毒品管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砷的不少化合物是剧毒，检测要用含砷标准品</a:t>
            </a:r>
          </a:p>
          <a:p>
            <a:pPr>
              <a:spcAft>
                <a:spcPts val="1000"/>
              </a:spcAft>
            </a:pPr>
            <a:r>
              <a:rPr sz="2000">
                <a:solidFill>
                  <a:srgbClr val="222B33"/>
                </a:solidFill>
                <a:latin typeface="Microsoft YaHei"/>
              </a:rPr>
              <a:t>▪ 含砷标准品按剧毒品专人专管</a:t>
            </a:r>
          </a:p>
          <a:p>
            <a:pPr>
              <a:spcAft>
                <a:spcPts val="1000"/>
              </a:spcAft>
            </a:pPr>
            <a:r>
              <a:rPr sz="2000">
                <a:solidFill>
                  <a:srgbClr val="222B33"/>
                </a:solidFill>
                <a:latin typeface="Microsoft YaHei"/>
              </a:rPr>
              <a:t>▪ 领用登记，用多少记多少</a:t>
            </a:r>
          </a:p>
          <a:p>
            <a:pPr>
              <a:spcAft>
                <a:spcPts val="1000"/>
              </a:spcAft>
            </a:pPr>
            <a:r>
              <a:rPr sz="2000">
                <a:solidFill>
                  <a:srgbClr val="222B33"/>
                </a:solidFill>
                <a:latin typeface="Microsoft YaHei"/>
              </a:rPr>
              <a:t>▪ 含砷废液单独收集，交学校处置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检测、传感器研究等实验常要测定砷，需要使用含砷标准品。砷的许多化合物毒性很强，部分列为剧毒化学品（以《危险化学品目录》为准），含砷标准品要按剧毒品管理：专柜存放、专人管理，领用登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觉得标准品量很少，随手放在普通冰箱</a:t>
            </a:r>
          </a:p>
          <a:p>
            <a:pPr>
              <a:spcAft>
                <a:spcPts val="1000"/>
              </a:spcAft>
            </a:pPr>
            <a:r>
              <a:rPr sz="1500">
                <a:solidFill>
                  <a:srgbClr val="222B33"/>
                </a:solidFill>
                <a:latin typeface="Microsoft YaHei"/>
              </a:rPr>
              <a:t>▪ 含砷废液混入普通废液</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易制毒化学品：按规定领用登记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易制毒化学品按条例分三类管理</a:t>
            </a:r>
          </a:p>
          <a:p>
            <a:pPr>
              <a:spcAft>
                <a:spcPts val="1000"/>
              </a:spcAft>
            </a:pPr>
            <a:r>
              <a:rPr sz="2000">
                <a:solidFill>
                  <a:srgbClr val="222B33"/>
                </a:solidFill>
                <a:latin typeface="Microsoft YaHei"/>
              </a:rPr>
              <a:t>▪ 如乙酸酐，按规定领用，用多少领多少</a:t>
            </a:r>
          </a:p>
          <a:p>
            <a:pPr>
              <a:spcAft>
                <a:spcPts val="1000"/>
              </a:spcAft>
            </a:pPr>
            <a:r>
              <a:rPr sz="2000">
                <a:solidFill>
                  <a:srgbClr val="222B33"/>
                </a:solidFill>
                <a:latin typeface="Microsoft YaHei"/>
              </a:rPr>
              <a:t>▪ 专柜存放、专人管理、台账清楚</a:t>
            </a:r>
          </a:p>
          <a:p>
            <a:pPr>
              <a:spcAft>
                <a:spcPts val="1000"/>
              </a:spcAft>
            </a:pPr>
            <a:r>
              <a:rPr sz="2000">
                <a:solidFill>
                  <a:srgbClr val="222B33"/>
                </a:solidFill>
                <a:latin typeface="Microsoft YaHei"/>
              </a:rPr>
              <a:t>▪ 不得私自转让、出借，废液不倒下水道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毒化学品是可用于非法制造毒品的原料和配剂，依据《易制毒化学品管理条例》（以现行文本为准）分为三类管理，购买须按类别取得许可或办理备案。例如乙酸酐属于易制毒化学品，有机化学实验中常会用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觉得是常用试剂，不登记就领用</a:t>
            </a:r>
          </a:p>
          <a:p>
            <a:pPr>
              <a:spcAft>
                <a:spcPts val="1000"/>
              </a:spcAft>
            </a:pPr>
            <a:r>
              <a:rPr sz="1500">
                <a:solidFill>
                  <a:srgbClr val="222B33"/>
                </a:solidFill>
                <a:latin typeface="Microsoft YaHei"/>
              </a:rPr>
              <a:t>▪ 课题组之间私下借用</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易制爆化学品：专柜专人，不外借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易制爆化学品按治安管理办法管理</a:t>
            </a:r>
          </a:p>
          <a:p>
            <a:pPr>
              <a:spcAft>
                <a:spcPts val="1000"/>
              </a:spcAft>
            </a:pPr>
            <a:r>
              <a:rPr sz="2000">
                <a:solidFill>
                  <a:srgbClr val="222B33"/>
                </a:solidFill>
                <a:latin typeface="Microsoft YaHei"/>
              </a:rPr>
              <a:t>▪ 专柜存放，专人管理</a:t>
            </a:r>
          </a:p>
          <a:p>
            <a:pPr>
              <a:spcAft>
                <a:spcPts val="1000"/>
              </a:spcAft>
            </a:pPr>
            <a:r>
              <a:rPr sz="2000">
                <a:solidFill>
                  <a:srgbClr val="222B33"/>
                </a:solidFill>
                <a:latin typeface="Microsoft YaHei"/>
              </a:rPr>
              <a:t>▪ 领了多少、用了多少，如实登记</a:t>
            </a:r>
          </a:p>
          <a:p>
            <a:pPr>
              <a:spcAft>
                <a:spcPts val="1000"/>
              </a:spcAft>
            </a:pPr>
            <a:r>
              <a:rPr sz="2000">
                <a:solidFill>
                  <a:srgbClr val="222B33"/>
                </a:solidFill>
                <a:latin typeface="Microsoft YaHei"/>
              </a:rPr>
              <a:t>▪ 不外借、不转让，购买到处置流向可查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易制爆危险化学品是可用于制造爆炸物品的化学品，依据《易制爆危险化学品治安管理办法》（以现行文本为准）管理，品种以公安部发布的《易制爆危险化学品名录》为准。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借给其他课题组或个人</a:t>
            </a:r>
          </a:p>
          <a:p>
            <a:pPr>
              <a:spcAft>
                <a:spcPts val="1000"/>
              </a:spcAft>
            </a:pPr>
            <a:r>
              <a:rPr sz="1500">
                <a:solidFill>
                  <a:srgbClr val="222B33"/>
                </a:solidFill>
                <a:latin typeface="Microsoft YaHei"/>
              </a:rPr>
              <a:t>▪ 只登记领用，不登记实际用量和剩余</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爆炸物品：学生不私取、不自试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炸药等爆炸物品由国家严格管控</a:t>
            </a:r>
          </a:p>
          <a:p>
            <a:pPr>
              <a:spcAft>
                <a:spcPts val="1000"/>
              </a:spcAft>
            </a:pPr>
            <a:r>
              <a:rPr sz="2000">
                <a:solidFill>
                  <a:srgbClr val="222B33"/>
                </a:solidFill>
                <a:latin typeface="Microsoft YaHei"/>
              </a:rPr>
              <a:t>▪ 学生不得自行获取、保存或试验</a:t>
            </a:r>
          </a:p>
          <a:p>
            <a:pPr>
              <a:spcAft>
                <a:spcPts val="1000"/>
              </a:spcAft>
            </a:pPr>
            <a:r>
              <a:rPr sz="2000">
                <a:solidFill>
                  <a:srgbClr val="222B33"/>
                </a:solidFill>
                <a:latin typeface="Microsoft YaHei"/>
              </a:rPr>
              <a:t>▪ 相关研究由有资质的单位依规开展</a:t>
            </a:r>
          </a:p>
          <a:p>
            <a:pPr>
              <a:spcAft>
                <a:spcPts val="1000"/>
              </a:spcAft>
            </a:pPr>
            <a:r>
              <a:rPr sz="2000">
                <a:solidFill>
                  <a:srgbClr val="222B33"/>
                </a:solidFill>
                <a:latin typeface="Microsoft YaHei"/>
              </a:rPr>
              <a:t>▪ 有疑问先问导师和学院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炸药等爆炸物品属于国家严格管控的物品，依据《民用爆炸物品安全管理条例》（以现行文本为准），未经许可任何单位和个人不得获取、储存、使用。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出于好奇模仿网上视频做“小实验”</a:t>
            </a:r>
          </a:p>
          <a:p>
            <a:pPr>
              <a:spcAft>
                <a:spcPts val="1000"/>
              </a:spcAft>
            </a:pPr>
            <a:r>
              <a:rPr sz="1500">
                <a:solidFill>
                  <a:srgbClr val="222B33"/>
                </a:solidFill>
                <a:latin typeface="Microsoft YaHei"/>
              </a:rPr>
              <a:t>▪ 认为少量试一试没关系</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采购走学校平台，许可备案由学校办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管控品只能通过学校平台采购</a:t>
            </a:r>
          </a:p>
          <a:p>
            <a:pPr>
              <a:spcAft>
                <a:spcPts val="1000"/>
              </a:spcAft>
            </a:pPr>
            <a:r>
              <a:rPr sz="2000">
                <a:solidFill>
                  <a:srgbClr val="222B33"/>
                </a:solidFill>
                <a:latin typeface="Microsoft YaHei"/>
              </a:rPr>
              <a:t>▪ 不得个人私自购买</a:t>
            </a:r>
          </a:p>
          <a:p>
            <a:pPr>
              <a:spcAft>
                <a:spcPts val="1000"/>
              </a:spcAft>
            </a:pPr>
            <a:r>
              <a:rPr sz="2000">
                <a:solidFill>
                  <a:srgbClr val="222B33"/>
                </a:solidFill>
                <a:latin typeface="Microsoft YaHei"/>
              </a:rPr>
              <a:t>▪ 导师、学院、管理部门逐级审批</a:t>
            </a:r>
          </a:p>
          <a:p>
            <a:pPr>
              <a:spcAft>
                <a:spcPts val="1000"/>
              </a:spcAft>
            </a:pPr>
            <a:r>
              <a:rPr sz="2000">
                <a:solidFill>
                  <a:srgbClr val="222B33"/>
                </a:solidFill>
                <a:latin typeface="Microsoft YaHei"/>
              </a:rPr>
              <a:t>▪ 许可和备案由学校统一向公安机关办理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管控类化学品只能由学校作为购买单位，通过学校化学品采购平台向有资质的供应商采购，严禁个人私自购买，严禁从网络或无资质渠道购买。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用个人账户网购管控类试剂</a:t>
            </a:r>
          </a:p>
          <a:p>
            <a:pPr>
              <a:spcAft>
                <a:spcPts val="1000"/>
              </a:spcAft>
            </a:pPr>
            <a:r>
              <a:rPr sz="1500">
                <a:solidFill>
                  <a:srgbClr val="222B33"/>
                </a:solidFill>
                <a:latin typeface="Microsoft YaHei"/>
              </a:rPr>
              <a:t>▪ 绕过审批，直接找供应商送货</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领用称量，如实登记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管控品领用要审批，称量按规定进行</a:t>
            </a:r>
          </a:p>
          <a:p>
            <a:pPr>
              <a:spcAft>
                <a:spcPts val="1000"/>
              </a:spcAft>
            </a:pPr>
            <a:r>
              <a:rPr sz="2000">
                <a:solidFill>
                  <a:srgbClr val="222B33"/>
                </a:solidFill>
                <a:latin typeface="Microsoft YaHei"/>
              </a:rPr>
              <a:t>▪ 称了多少、用在哪，如实登记</a:t>
            </a:r>
          </a:p>
          <a:p>
            <a:pPr>
              <a:spcAft>
                <a:spcPts val="1000"/>
              </a:spcAft>
            </a:pPr>
            <a:r>
              <a:rPr sz="2000">
                <a:solidFill>
                  <a:srgbClr val="222B33"/>
                </a:solidFill>
                <a:latin typeface="Microsoft YaHei"/>
              </a:rPr>
              <a:t>▪ 剩余的按规定退回专柜</a:t>
            </a:r>
          </a:p>
          <a:p>
            <a:pPr>
              <a:spcAft>
                <a:spcPts val="1000"/>
              </a:spcAft>
            </a:pPr>
            <a:r>
              <a:rPr sz="2000">
                <a:solidFill>
                  <a:srgbClr val="222B33"/>
                </a:solidFill>
                <a:latin typeface="Microsoft YaHei"/>
              </a:rPr>
              <a:t>▪ 用多少记多少，台账妥善保存备查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领用管控类化学品要经审批，按实验需要领取。称量时如实记录称取量和用途，做到用多少记多少。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先用后补登记，或凭估计填写用量</a:t>
            </a:r>
          </a:p>
          <a:p>
            <a:pPr>
              <a:spcAft>
                <a:spcPts val="1000"/>
              </a:spcAft>
            </a:pPr>
            <a:r>
              <a:rPr sz="1500">
                <a:solidFill>
                  <a:srgbClr val="222B33"/>
                </a:solidFill>
                <a:latin typeface="Microsoft YaHei"/>
              </a:rPr>
              <a:t>▪ 剩余部分留在自己的抽屉里</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发现丢失、被盗、账物不符要立即报告</a:t>
            </a:r>
          </a:p>
          <a:p>
            <a:pPr>
              <a:spcAft>
                <a:spcPts val="1000"/>
              </a:spcAft>
            </a:pPr>
            <a:r>
              <a:rPr sz="2000">
                <a:solidFill>
                  <a:srgbClr val="222B33"/>
                </a:solidFill>
                <a:latin typeface="Microsoft YaHei"/>
              </a:rPr>
              <a:t>▪ 报告实验室负责人、学院和保卫处</a:t>
            </a:r>
          </a:p>
          <a:p>
            <a:pPr>
              <a:spcAft>
                <a:spcPts val="1000"/>
              </a:spcAft>
            </a:pPr>
            <a:r>
              <a:rPr sz="2000">
                <a:solidFill>
                  <a:srgbClr val="222B33"/>
                </a:solidFill>
                <a:latin typeface="Microsoft YaHei"/>
              </a:rPr>
              <a:t>▪ 学校按规定报告公安机关</a:t>
            </a:r>
          </a:p>
          <a:p>
            <a:pPr>
              <a:spcAft>
                <a:spcPts val="1000"/>
              </a:spcAft>
            </a:pPr>
            <a:r>
              <a:rPr sz="2000">
                <a:solidFill>
                  <a:srgbClr val="222B33"/>
                </a:solidFill>
                <a:latin typeface="Microsoft YaHei"/>
              </a:rPr>
              <a:t>▪ 不瞒报、不迟报、不自行寻找了事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管控类化学品一旦发现丢失、被盗、误用或账物不符，要立即报告实验室负责人，并报学院和保卫处；学校按规定立即报告公安机关和有关部门。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少了一点就自己补账</a:t>
            </a:r>
          </a:p>
          <a:p>
            <a:pPr>
              <a:spcAft>
                <a:spcPts val="1000"/>
              </a:spcAft>
            </a:pPr>
            <a:r>
              <a:rPr sz="1500">
                <a:solidFill>
                  <a:srgbClr val="222B33"/>
                </a:solidFill>
                <a:latin typeface="Microsoft YaHei"/>
              </a:rPr>
              <a:t>▪ 怕担责任不报告</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下列不属于国家专门管控的三类化学品的是：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剧毒化学品</a:t>
            </a:r>
          </a:p>
          <a:p>
            <a:pPr algn="l"/>
            <a:r>
              <a:rPr sz="1500" b="0">
                <a:solidFill>
                  <a:srgbClr val="222B33"/>
                </a:solidFill>
                <a:latin typeface="Microsoft YaHei"/>
              </a:rPr>
              <a:t>B. 易制毒化学品</a:t>
            </a:r>
          </a:p>
          <a:p>
            <a:pPr algn="l"/>
            <a:r>
              <a:rPr sz="1500" b="0">
                <a:solidFill>
                  <a:srgbClr val="222B33"/>
                </a:solidFill>
                <a:latin typeface="Microsoft YaHei"/>
              </a:rPr>
              <a:t>C. 易制爆危险化学品</a:t>
            </a:r>
          </a:p>
          <a:p>
            <a:pPr algn="l"/>
            <a:r>
              <a:rPr sz="1500" b="0">
                <a:solidFill>
                  <a:srgbClr val="222B33"/>
                </a:solidFill>
                <a:latin typeface="Microsoft YaHei"/>
              </a:rPr>
              <a:t>D. 一般实验用缓冲盐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判断：某种易制毒化学品只用几克，量很少，可以不登记直接取用。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剧毒化学品“五双”管理不包括：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双人保管</a:t>
            </a:r>
          </a:p>
          <a:p>
            <a:pPr algn="l"/>
            <a:r>
              <a:rPr sz="1500" b="0">
                <a:solidFill>
                  <a:srgbClr val="222B33"/>
                </a:solidFill>
                <a:latin typeface="Microsoft YaHei"/>
              </a:rPr>
              <a:t>B. 双把锁</a:t>
            </a:r>
          </a:p>
          <a:p>
            <a:pPr algn="l"/>
            <a:r>
              <a:rPr sz="1500" b="0">
                <a:solidFill>
                  <a:srgbClr val="222B33"/>
                </a:solidFill>
                <a:latin typeface="Microsoft YaHei"/>
              </a:rPr>
              <a:t>C. 双本账</a:t>
            </a:r>
          </a:p>
          <a:p>
            <a:pPr algn="l"/>
            <a:r>
              <a:rPr sz="1500" b="0">
                <a:solidFill>
                  <a:srgbClr val="222B33"/>
                </a:solidFill>
                <a:latin typeface="Microsoft YaHei"/>
              </a:rPr>
              <a:t>D. 双人可各自单独开柜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判断：隔壁课题组急用易制爆化学品，可以先借给他们，再补登记。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发现专柜里的剧毒品账物不符，正确的做法是：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自己补记一笔</a:t>
            </a:r>
          </a:p>
          <a:p>
            <a:pPr algn="l"/>
            <a:r>
              <a:rPr sz="1500" b="0">
                <a:solidFill>
                  <a:srgbClr val="222B33"/>
                </a:solidFill>
                <a:latin typeface="Microsoft YaHei"/>
              </a:rPr>
              <a:t>B. 先找找，找不到再说</a:t>
            </a:r>
          </a:p>
          <a:p>
            <a:pPr algn="l"/>
            <a:r>
              <a:rPr sz="1500" b="0">
                <a:solidFill>
                  <a:srgbClr val="222B33"/>
                </a:solidFill>
                <a:latin typeface="Microsoft YaHei"/>
              </a:rPr>
              <a:t>C. 立即报告实验室负责人、学院和保卫处</a:t>
            </a:r>
          </a:p>
          <a:p>
            <a:pPr algn="l"/>
            <a:r>
              <a:rPr sz="1500" b="0">
                <a:solidFill>
                  <a:srgbClr val="222B33"/>
                </a:solidFill>
                <a:latin typeface="Microsoft YaHei"/>
              </a:rPr>
              <a:t>D. 等下次检查时说明</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认出管控类化学品</a:t>
            </a:r>
          </a:p>
          <a:p>
            <a:pPr>
              <a:spcAft>
                <a:spcPts val="800"/>
              </a:spcAft>
            </a:pPr>
            <a:r>
              <a:rPr sz="1800">
                <a:solidFill>
                  <a:srgbClr val="FFFFFF"/>
                </a:solidFill>
                <a:latin typeface="Microsoft YaHei"/>
              </a:rPr>
              <a:t>▪ K2  看物质本身，专区专管</a:t>
            </a:r>
          </a:p>
          <a:p>
            <a:pPr>
              <a:spcAft>
                <a:spcPts val="800"/>
              </a:spcAft>
            </a:pPr>
            <a:r>
              <a:rPr sz="1800">
                <a:solidFill>
                  <a:srgbClr val="FFFFFF"/>
                </a:solidFill>
                <a:latin typeface="Microsoft YaHei"/>
              </a:rPr>
              <a:t>▪ K3  剧毒化学品“五双”管理</a:t>
            </a:r>
          </a:p>
          <a:p>
            <a:pPr>
              <a:spcAft>
                <a:spcPts val="800"/>
              </a:spcAft>
            </a:pPr>
            <a:r>
              <a:rPr sz="1800">
                <a:solidFill>
                  <a:srgbClr val="FFFFFF"/>
                </a:solidFill>
                <a:latin typeface="Microsoft YaHei"/>
              </a:rPr>
              <a:t>▪ K4  含砷样品和标准品按剧毒品管</a:t>
            </a:r>
          </a:p>
          <a:p>
            <a:pPr>
              <a:spcAft>
                <a:spcPts val="800"/>
              </a:spcAft>
            </a:pPr>
            <a:r>
              <a:rPr sz="1800">
                <a:solidFill>
                  <a:srgbClr val="FFFFFF"/>
                </a:solidFill>
                <a:latin typeface="Microsoft YaHei"/>
              </a:rPr>
              <a:t>▪ K5  易制毒化学品：按规定领用登记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易制爆化学品：专柜专人，不外借</a:t>
            </a:r>
          </a:p>
          <a:p>
            <a:pPr>
              <a:spcAft>
                <a:spcPts val="800"/>
              </a:spcAft>
            </a:pPr>
            <a:r>
              <a:rPr sz="1800">
                <a:solidFill>
                  <a:srgbClr val="FFFFFF"/>
                </a:solidFill>
                <a:latin typeface="Microsoft YaHei"/>
              </a:rPr>
              <a:t>▪ K7  爆炸物品：学生不私取、不自试</a:t>
            </a:r>
          </a:p>
          <a:p>
            <a:pPr>
              <a:spcAft>
                <a:spcPts val="800"/>
              </a:spcAft>
            </a:pPr>
            <a:r>
              <a:rPr sz="1800">
                <a:solidFill>
                  <a:srgbClr val="FFFFFF"/>
                </a:solidFill>
                <a:latin typeface="Microsoft YaHei"/>
              </a:rPr>
              <a:t>▪ S1  采购走学校平台，许可备案由学校办</a:t>
            </a:r>
          </a:p>
          <a:p>
            <a:pPr>
              <a:spcAft>
                <a:spcPts val="800"/>
              </a:spcAft>
            </a:pPr>
            <a:r>
              <a:rPr sz="1800">
                <a:solidFill>
                  <a:srgbClr val="FFFFFF"/>
                </a:solidFill>
                <a:latin typeface="Microsoft YaHei"/>
              </a:rPr>
              <a:t>▪ K8  领用称量，如实登记</a:t>
            </a:r>
          </a:p>
          <a:p>
            <a:pPr>
              <a:spcAft>
                <a:spcPts val="800"/>
              </a:spcAft>
            </a:pPr>
            <a:r>
              <a:rPr sz="1800">
                <a:solidFill>
                  <a:srgbClr val="FFFFFF"/>
                </a:solidFill>
                <a:latin typeface="Microsoft YaHei"/>
              </a:rPr>
              <a:t>▪ S2  丢失被盗，立即报告</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易燃易爆化学品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82 镜）　适用对象：全体使用化学品、酒精和燃油的高校本科生、研究生和教职工（必修）；化学、化工、材料、生物等专业重点学习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能说出易燃液体“烧的是蒸气”，以及闪点、燃点、自燃点、爆炸极限和蒸气密度的含义，能判断闪点低、下限低的物质更危险。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能通过标签象形图和说明书判断物质的易燃易爆性，拿不准时把非水液体按易燃对待；能区分易燃与氧化性象形图。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能做到使用易燃易爆化学品时远离点火源、不用明火和加热板加热、在通风柜里操作、台面少放、用合格容器、不堵通道，有爆炸可能时使用防爆屏和防护用品。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能做到汽油、柴油等燃料用合格容器储运，远离火源热源、严禁吸烟，不进实验室和宿舍。</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日起施行）及《危险化学品安全管理条例》（以现行文本为准）：易燃易爆危险化学品的使用安全和储存要求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《中华人民共和国消防法》：消除火灾隐患，不得占用、堵塞疏散通道和安全出口，易燃易爆场所严禁吸烟和违规使用明火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30000.7-2013（以现行文本为准）《化学品分类和标签规范 第7部分：易燃液体》及 GB 30000 系列其他部分：易燃液体按闪点和初沸点分类，爆炸物、易燃气体、易燃固体等分类和象形图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5 部分消防措施、第 9 部分理化特性（闪点、爆炸极限、自燃温度等）</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15603-2022（以现行文本为准）《危险化学品仓库储存通则》：易燃易爆物品远离火源热源、专区储存</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2894-2025（以现行文本为准）《安全色和安全标志》：禁止吸烟、禁止烟火等标志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号，以现行文本为准）：易燃易爆化学品存量控制、远离火源、通风</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易燃物很常见，先弄清易燃易爆性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易燃物就是容易着火燃烧的物质</a:t>
            </a:r>
          </a:p>
          <a:p>
            <a:pPr>
              <a:spcAft>
                <a:spcPts val="1000"/>
              </a:spcAft>
            </a:pPr>
            <a:r>
              <a:rPr sz="2000">
                <a:solidFill>
                  <a:srgbClr val="222B33"/>
                </a:solidFill>
                <a:latin typeface="Microsoft YaHei"/>
              </a:rPr>
              <a:t>▪ 实验室很多常用溶剂都易燃</a:t>
            </a:r>
          </a:p>
          <a:p>
            <a:pPr>
              <a:spcAft>
                <a:spcPts val="1000"/>
              </a:spcAft>
            </a:pPr>
            <a:r>
              <a:rPr sz="2000">
                <a:solidFill>
                  <a:srgbClr val="222B33"/>
                </a:solidFill>
                <a:latin typeface="Microsoft YaHei"/>
              </a:rPr>
              <a:t>▪ 用之前先弄清它的易燃易爆性</a:t>
            </a:r>
          </a:p>
          <a:p>
            <a:pPr>
              <a:spcAft>
                <a:spcPts val="1000"/>
              </a:spcAft>
            </a:pPr>
            <a:r>
              <a:rPr sz="2000">
                <a:solidFill>
                  <a:srgbClr val="222B33"/>
                </a:solidFill>
                <a:latin typeface="Microsoft YaHei"/>
              </a:rPr>
              <a:t>▪ 操作和储存前先查说明书和指南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易燃物是容易着火燃烧的物质。实验室常用的乙醇、丙酮、乙醚、石油醚、乙酸乙酯、甲苯等有机溶剂都属于易燃液体，此外还有易燃气体（如氢气、甲烷）和易燃固体。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以为只有汽油才是易燃物</a:t>
            </a:r>
          </a:p>
          <a:p>
            <a:pPr>
              <a:spcAft>
                <a:spcPts val="1000"/>
              </a:spcAft>
            </a:pPr>
            <a:r>
              <a:rPr sz="1500">
                <a:solidFill>
                  <a:srgbClr val="222B33"/>
                </a:solidFill>
                <a:latin typeface="Microsoft YaHei"/>
              </a:rPr>
              <a:t>▪ 凭经验使用，不查说明书</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除了水，液体都当易燃看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除了水，液体都先当易燃的看</a:t>
            </a:r>
          </a:p>
          <a:p>
            <a:pPr>
              <a:spcAft>
                <a:spcPts val="1000"/>
              </a:spcAft>
            </a:pPr>
            <a:r>
              <a:rPr sz="2000">
                <a:solidFill>
                  <a:srgbClr val="222B33"/>
                </a:solidFill>
                <a:latin typeface="Microsoft YaHei"/>
              </a:rPr>
              <a:t>▪ 拿不准的液体，别靠近火源</a:t>
            </a:r>
          </a:p>
          <a:p>
            <a:pPr>
              <a:spcAft>
                <a:spcPts val="1000"/>
              </a:spcAft>
            </a:pPr>
            <a:r>
              <a:rPr sz="2000">
                <a:solidFill>
                  <a:srgbClr val="222B33"/>
                </a:solidFill>
                <a:latin typeface="Microsoft YaHei"/>
              </a:rPr>
              <a:t>▪ 查清楚之前，按易燃对待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这是一条简单实用的保守原则：在没有查清楚之前，把水以外的液体都当作易燃液体对待，不靠近明火、热源和电火花。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看着像水就当水处理</a:t>
            </a:r>
          </a:p>
          <a:p>
            <a:pPr>
              <a:spcAft>
                <a:spcPts val="1000"/>
              </a:spcAft>
            </a:pPr>
            <a:r>
              <a:rPr sz="1500">
                <a:solidFill>
                  <a:srgbClr val="222B33"/>
                </a:solidFill>
                <a:latin typeface="Microsoft YaHei"/>
              </a:rPr>
              <a:t>▪ 不明液体放在加热设备旁边</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看标签象形图，查说明书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用之前先看标签上的象形图</a:t>
            </a:r>
          </a:p>
          <a:p>
            <a:pPr>
              <a:spcAft>
                <a:spcPts val="1000"/>
              </a:spcAft>
            </a:pPr>
            <a:r>
              <a:rPr sz="2000">
                <a:solidFill>
                  <a:srgbClr val="222B33"/>
                </a:solidFill>
                <a:latin typeface="Microsoft YaHei"/>
              </a:rPr>
              <a:t>▪ 易燃和氧化性的象形图很像</a:t>
            </a:r>
          </a:p>
          <a:p>
            <a:pPr>
              <a:spcAft>
                <a:spcPts val="1000"/>
              </a:spcAft>
            </a:pPr>
            <a:r>
              <a:rPr sz="2000">
                <a:solidFill>
                  <a:srgbClr val="222B33"/>
                </a:solidFill>
                <a:latin typeface="Microsoft YaHei"/>
              </a:rPr>
              <a:t>▪ 火焰下面有个圈的是氧化性</a:t>
            </a:r>
          </a:p>
          <a:p>
            <a:pPr>
              <a:spcAft>
                <a:spcPts val="1000"/>
              </a:spcAft>
            </a:pPr>
            <a:r>
              <a:rPr sz="2000">
                <a:solidFill>
                  <a:srgbClr val="222B33"/>
                </a:solidFill>
                <a:latin typeface="Microsoft YaHei"/>
              </a:rPr>
              <a:t>▪ “易燃”笼统，具体看说明书第 5、9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化学品安全标签上的象形图能快速提示危险性（GB 30000 系列）：红色菱形框内一团火焰表示易燃；火焰下面有一个圆圈表示氧化性，两者很像，要看清楚（象形图见第 039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把氧化性象形图看成易燃</a:t>
            </a:r>
          </a:p>
          <a:p>
            <a:pPr>
              <a:spcAft>
                <a:spcPts val="1000"/>
              </a:spcAft>
            </a:pPr>
            <a:r>
              <a:rPr sz="1500">
                <a:solidFill>
                  <a:srgbClr val="222B33"/>
                </a:solidFill>
                <a:latin typeface="Microsoft YaHei"/>
              </a:rPr>
              <a:t>▪ 只看“易燃”二字，不查具体数据</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烧的是蒸气，蒸气会贴地流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烧的是蒸气，不是液体本身</a:t>
            </a:r>
          </a:p>
          <a:p>
            <a:pPr>
              <a:spcAft>
                <a:spcPts val="1000"/>
              </a:spcAft>
            </a:pPr>
            <a:r>
              <a:rPr sz="2000">
                <a:solidFill>
                  <a:srgbClr val="222B33"/>
                </a:solidFill>
                <a:latin typeface="Microsoft YaHei"/>
              </a:rPr>
              <a:t>▪ 蒸气看不见，却会四处飘散</a:t>
            </a:r>
          </a:p>
          <a:p>
            <a:pPr>
              <a:spcAft>
                <a:spcPts val="1000"/>
              </a:spcAft>
            </a:pPr>
            <a:r>
              <a:rPr sz="2000">
                <a:solidFill>
                  <a:srgbClr val="222B33"/>
                </a:solidFill>
                <a:latin typeface="Microsoft YaHei"/>
              </a:rPr>
              <a:t>▪ 很多溶剂蒸气比空气重，贴着台面和地面流</a:t>
            </a:r>
          </a:p>
          <a:p>
            <a:pPr>
              <a:spcAft>
                <a:spcPts val="1000"/>
              </a:spcAft>
            </a:pPr>
            <a:r>
              <a:rPr sz="2000">
                <a:solidFill>
                  <a:srgbClr val="222B33"/>
                </a:solidFill>
                <a:latin typeface="Microsoft YaHei"/>
              </a:rPr>
              <a:t>▪ 远处的火源也能把它点着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易燃液体燃烧时，真正烧起来的是液体表面挥发出的蒸气，而不是液体本身。蒸气无色、看不见，会向四周飘散。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认为火源离得远就没事</a:t>
            </a:r>
          </a:p>
          <a:p>
            <a:pPr>
              <a:spcAft>
                <a:spcPts val="1000"/>
              </a:spcAft>
            </a:pPr>
            <a:r>
              <a:rPr sz="1500">
                <a:solidFill>
                  <a:srgbClr val="222B33"/>
                </a:solidFill>
                <a:latin typeface="Microsoft YaHei"/>
              </a:rPr>
              <a:t>▪ 在低处、地沟附近倾倒溶剂</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闪点和燃点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温度够了，液体才冒出足够的可燃蒸气</a:t>
            </a:r>
          </a:p>
          <a:p>
            <a:pPr>
              <a:spcAft>
                <a:spcPts val="1000"/>
              </a:spcAft>
            </a:pPr>
            <a:r>
              <a:rPr sz="2000">
                <a:solidFill>
                  <a:srgbClr val="222B33"/>
                </a:solidFill>
                <a:latin typeface="Microsoft YaHei"/>
              </a:rPr>
              <a:t>▪ 闪点：蒸气遇火能闪燃的最低温度</a:t>
            </a:r>
          </a:p>
          <a:p>
            <a:pPr>
              <a:spcAft>
                <a:spcPts val="1000"/>
              </a:spcAft>
            </a:pPr>
            <a:r>
              <a:rPr sz="2000">
                <a:solidFill>
                  <a:srgbClr val="222B33"/>
                </a:solidFill>
                <a:latin typeface="Microsoft YaHei"/>
              </a:rPr>
              <a:t>▪ 燃点：点着后能持续燃烧的最低温度</a:t>
            </a:r>
          </a:p>
          <a:p>
            <a:pPr>
              <a:spcAft>
                <a:spcPts val="1000"/>
              </a:spcAft>
            </a:pPr>
            <a:r>
              <a:rPr sz="2000">
                <a:solidFill>
                  <a:srgbClr val="222B33"/>
                </a:solidFill>
                <a:latin typeface="Microsoft YaHei"/>
              </a:rPr>
              <a:t>▪ 燃点一般比闪点高；闪点越低越易着火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以为常温下溶剂不会着火</a:t>
            </a:r>
          </a:p>
          <a:p>
            <a:pPr>
              <a:spcAft>
                <a:spcPts val="1000"/>
              </a:spcAft>
            </a:pPr>
            <a:r>
              <a:rPr sz="1500">
                <a:solidFill>
                  <a:srgbClr val="222B33"/>
                </a:solidFill>
                <a:latin typeface="Microsoft YaHei"/>
              </a:rPr>
              <a:t>▪ 把闪点和燃点、自燃点混为一谈</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按闪点区分易燃与可燃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易燃液体和可燃液体，主要看闪点高低</a:t>
            </a:r>
          </a:p>
          <a:p>
            <a:pPr>
              <a:spcAft>
                <a:spcPts val="1000"/>
              </a:spcAft>
            </a:pPr>
            <a:r>
              <a:rPr sz="2000">
                <a:solidFill>
                  <a:srgbClr val="222B33"/>
                </a:solidFill>
                <a:latin typeface="Microsoft YaHei"/>
              </a:rPr>
              <a:t>▪ 不同行业的分类方法可能不一样</a:t>
            </a:r>
          </a:p>
          <a:p>
            <a:pPr>
              <a:spcAft>
                <a:spcPts val="1000"/>
              </a:spcAft>
            </a:pPr>
            <a:r>
              <a:rPr sz="2000">
                <a:solidFill>
                  <a:srgbClr val="222B33"/>
                </a:solidFill>
                <a:latin typeface="Microsoft YaHei"/>
              </a:rPr>
              <a:t>▪ 怎么分类，查说明书和国家标准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易燃液体和可燃液体常放在一起讲，区分它们主要看闪点：闪点越低，越容易着火，越要小心。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以为“可燃”就不会着火</a:t>
            </a:r>
          </a:p>
          <a:p>
            <a:pPr>
              <a:spcAft>
                <a:spcPts val="1000"/>
              </a:spcAft>
            </a:pPr>
            <a:r>
              <a:rPr sz="1500">
                <a:solidFill>
                  <a:srgbClr val="222B33"/>
                </a:solidFill>
                <a:latin typeface="Microsoft YaHei"/>
              </a:rPr>
              <a:t>▪ 用国外的温度界限判断国内的分类</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爆炸极限：下限很快就到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有火花也不一定着火，要看蒸气和空气的比例</a:t>
            </a:r>
          </a:p>
          <a:p>
            <a:pPr>
              <a:spcAft>
                <a:spcPts val="1000"/>
              </a:spcAft>
            </a:pPr>
            <a:r>
              <a:rPr sz="2000">
                <a:solidFill>
                  <a:srgbClr val="222B33"/>
                </a:solidFill>
                <a:latin typeface="Microsoft YaHei"/>
              </a:rPr>
              <a:t>▪ 低于下限太稀，高于上限太浓，都点不着</a:t>
            </a:r>
          </a:p>
          <a:p>
            <a:pPr>
              <a:spcAft>
                <a:spcPts val="1000"/>
              </a:spcAft>
            </a:pPr>
            <a:r>
              <a:rPr sz="2000">
                <a:solidFill>
                  <a:srgbClr val="222B33"/>
                </a:solidFill>
                <a:latin typeface="Microsoft YaHei"/>
              </a:rPr>
              <a:t>▪ 很多溶剂可燃范围宽，下限很快就能达到</a:t>
            </a:r>
          </a:p>
          <a:p>
            <a:pPr>
              <a:spcAft>
                <a:spcPts val="1000"/>
              </a:spcAft>
            </a:pPr>
            <a:r>
              <a:rPr sz="2000">
                <a:solidFill>
                  <a:srgbClr val="222B33"/>
                </a:solidFill>
                <a:latin typeface="Microsoft YaHei"/>
              </a:rPr>
              <a:t>▪ 能燃烧的浓度，往往早已超过毒性限度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认为浓度越高越容易爆炸</a:t>
            </a:r>
          </a:p>
          <a:p>
            <a:pPr>
              <a:spcAft>
                <a:spcPts val="1000"/>
              </a:spcAft>
            </a:pPr>
            <a:r>
              <a:rPr sz="1500">
                <a:solidFill>
                  <a:srgbClr val="222B33"/>
                </a:solidFill>
                <a:latin typeface="Microsoft YaHei"/>
              </a:rPr>
              <a:t>▪ 闻到气味也不当回事</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自燃点：热表面也能引燃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不用明火，热到一定温度也会自燃</a:t>
            </a:r>
          </a:p>
          <a:p>
            <a:pPr>
              <a:spcAft>
                <a:spcPts val="1000"/>
              </a:spcAft>
            </a:pPr>
            <a:r>
              <a:rPr sz="2000">
                <a:solidFill>
                  <a:srgbClr val="222B33"/>
                </a:solidFill>
                <a:latin typeface="Microsoft YaHei"/>
              </a:rPr>
              <a:t>▪ 灯泡、蒸汽管、加热板表面都可能引燃</a:t>
            </a:r>
          </a:p>
          <a:p>
            <a:pPr>
              <a:spcAft>
                <a:spcPts val="1000"/>
              </a:spcAft>
            </a:pPr>
            <a:r>
              <a:rPr sz="2000">
                <a:solidFill>
                  <a:srgbClr val="222B33"/>
                </a:solidFill>
                <a:latin typeface="Microsoft YaHei"/>
              </a:rPr>
              <a:t>▪ 易燃物远离高温表面</a:t>
            </a:r>
          </a:p>
          <a:p>
            <a:pPr>
              <a:spcAft>
                <a:spcPts val="1000"/>
              </a:spcAft>
            </a:pPr>
            <a:r>
              <a:rPr sz="2000">
                <a:solidFill>
                  <a:srgbClr val="222B33"/>
                </a:solidFill>
                <a:latin typeface="Microsoft YaHei"/>
              </a:rPr>
              <a:t>▪ 关掉的加热板表面也还很烫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物质在没有明火的情况下，被加热到一定温度就会自行着火，这个最低温度叫自燃点（引燃温度）。有的溶剂自燃点较低，热的灯泡、蒸汽管道、加热板表面都足以把它的蒸气引燃。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以为没有火焰就不会着火</a:t>
            </a:r>
          </a:p>
          <a:p>
            <a:pPr>
              <a:spcAft>
                <a:spcPts val="1000"/>
              </a:spcAft>
            </a:pPr>
            <a:r>
              <a:rPr sz="1500">
                <a:solidFill>
                  <a:srgbClr val="222B33"/>
                </a:solidFill>
                <a:latin typeface="Microsoft YaHei"/>
              </a:rPr>
              <a:t>▪ 溶剂瓶放在烘箱或热管道旁边</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爆炸品：怕热怕撞怕摩擦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爆炸品反应极快，瞬间放出气体和热</a:t>
            </a:r>
          </a:p>
          <a:p>
            <a:pPr>
              <a:spcAft>
                <a:spcPts val="1000"/>
              </a:spcAft>
            </a:pPr>
            <a:r>
              <a:rPr sz="2000">
                <a:solidFill>
                  <a:srgbClr val="222B33"/>
                </a:solidFill>
                <a:latin typeface="Microsoft YaHei"/>
              </a:rPr>
              <a:t>▪ 有的怕撞怕磨，有的怕热怕晒，要轻拿轻放</a:t>
            </a:r>
          </a:p>
          <a:p>
            <a:pPr>
              <a:spcAft>
                <a:spcPts val="1000"/>
              </a:spcAft>
            </a:pPr>
            <a:r>
              <a:rPr sz="2000">
                <a:solidFill>
                  <a:srgbClr val="222B33"/>
                </a:solidFill>
                <a:latin typeface="Microsoft YaHei"/>
              </a:rPr>
              <a:t>▪ 有的遇空气或水会自燃（见第 047 课）</a:t>
            </a:r>
          </a:p>
          <a:p>
            <a:pPr>
              <a:spcAft>
                <a:spcPts val="1000"/>
              </a:spcAft>
            </a:pPr>
            <a:r>
              <a:rPr sz="2000">
                <a:solidFill>
                  <a:srgbClr val="222B33"/>
                </a:solidFill>
                <a:latin typeface="Microsoft YaHei"/>
              </a:rPr>
              <a:t>▪ 爆炸性化学品划专区单独存放，远离火源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易燃物和爆炸品始终是危险的。爆炸品反应极快，会在瞬间放出大量气体和热量。有的化学品对撞击、摩擦敏感，有的受热、日晒会分解，取用时要轻拿轻放；还有的遇空气或水会自燃（反应性化学品见第 047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随手摔放、拖拽容器</a:t>
            </a:r>
          </a:p>
          <a:p>
            <a:pPr>
              <a:spcAft>
                <a:spcPts val="1000"/>
              </a:spcAft>
            </a:pPr>
            <a:r>
              <a:rPr sz="1500">
                <a:solidFill>
                  <a:srgbClr val="222B33"/>
                </a:solidFill>
                <a:latin typeface="Microsoft YaHei"/>
              </a:rPr>
              <a:t>▪ 放在窗边阳光直射处</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远离点火源，不用明火和加热板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用易燃物前，移走热源和火花源</a:t>
            </a:r>
          </a:p>
          <a:p>
            <a:pPr>
              <a:spcAft>
                <a:spcPts val="1000"/>
              </a:spcAft>
            </a:pPr>
            <a:r>
              <a:rPr sz="2000">
                <a:solidFill>
                  <a:srgbClr val="222B33"/>
                </a:solidFill>
                <a:latin typeface="Microsoft YaHei"/>
              </a:rPr>
              <a:t>▪ 搅拌器、泵等电器也可能打出火花</a:t>
            </a:r>
          </a:p>
          <a:p>
            <a:pPr>
              <a:spcAft>
                <a:spcPts val="1000"/>
              </a:spcAft>
            </a:pPr>
            <a:r>
              <a:rPr sz="2000">
                <a:solidFill>
                  <a:srgbClr val="222B33"/>
                </a:solidFill>
                <a:latin typeface="Microsoft YaHei"/>
              </a:rPr>
              <a:t>▪ 加热易燃物不用明火和加热板</a:t>
            </a:r>
          </a:p>
          <a:p>
            <a:pPr>
              <a:spcAft>
                <a:spcPts val="1000"/>
              </a:spcAft>
            </a:pPr>
            <a:r>
              <a:rPr sz="2000">
                <a:solidFill>
                  <a:srgbClr val="222B33"/>
                </a:solidFill>
                <a:latin typeface="Microsoft YaHei"/>
              </a:rPr>
              <a:t>▪ 改用加热套或水浴，人走关设备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使用易燃物前，先把周围的明火、加热板、电热设备等热源和火花源移走。普通搅拌器、真空泵、插头插座、开关等电器工作时可能产生电火花，也是点火源。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用明火直接加热有机溶剂</a:t>
            </a:r>
          </a:p>
          <a:p>
            <a:pPr>
              <a:spcAft>
                <a:spcPts val="1000"/>
              </a:spcAft>
            </a:pPr>
            <a:r>
              <a:rPr sz="1500">
                <a:solidFill>
                  <a:srgbClr val="222B33"/>
                </a:solidFill>
                <a:latin typeface="Microsoft YaHei"/>
              </a:rPr>
              <a:t>▪ 在插座旁倾倒大量溶剂</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酒精也易燃：消毒灭菌远离火焰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消毒用的乙醇、异丙醇也是易燃液体</a:t>
            </a:r>
          </a:p>
          <a:p>
            <a:pPr>
              <a:spcAft>
                <a:spcPts val="1000"/>
              </a:spcAft>
            </a:pPr>
            <a:r>
              <a:rPr sz="2000">
                <a:solidFill>
                  <a:srgbClr val="222B33"/>
                </a:solidFill>
                <a:latin typeface="Microsoft YaHei"/>
              </a:rPr>
              <a:t>▪ 不在火焰附近喷酒精，泡器械的酒精远离火焰</a:t>
            </a:r>
          </a:p>
          <a:p>
            <a:pPr>
              <a:spcAft>
                <a:spcPts val="1000"/>
              </a:spcAft>
            </a:pPr>
            <a:r>
              <a:rPr sz="2000">
                <a:solidFill>
                  <a:srgbClr val="222B33"/>
                </a:solidFill>
                <a:latin typeface="Microsoft YaHei"/>
              </a:rPr>
              <a:t>▪ 酒精灯用灯帽盖灭，不能用嘴吹</a:t>
            </a:r>
          </a:p>
          <a:p>
            <a:pPr>
              <a:spcAft>
                <a:spcPts val="1000"/>
              </a:spcAft>
            </a:pPr>
            <a:r>
              <a:rPr sz="2000">
                <a:solidFill>
                  <a:srgbClr val="222B33"/>
                </a:solidFill>
                <a:latin typeface="Microsoft YaHei"/>
              </a:rPr>
              <a:t>▪ 不给燃着的灯添酒精，不用灯对火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无菌操作、组织培养常同时用到酒精和明火。消毒用的乙醇、异丙醇都是易燃液体：不要在火焰附近喷洒酒精，浸泡器械的酒精杯要远离火焰，用完盖好。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刚喷完酒精的手马上靠近火焰</a:t>
            </a:r>
          </a:p>
          <a:p>
            <a:pPr>
              <a:spcAft>
                <a:spcPts val="1000"/>
              </a:spcAft>
            </a:pPr>
            <a:r>
              <a:rPr sz="1500">
                <a:solidFill>
                  <a:srgbClr val="222B33"/>
                </a:solidFill>
                <a:latin typeface="Microsoft YaHei"/>
              </a:rPr>
              <a:t>▪ 用嘴吹灭酒精灯</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通风要足，在通风柜里操作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易燃溶剂在通风柜里操作，把蒸气排出去</a:t>
            </a:r>
          </a:p>
          <a:p>
            <a:pPr>
              <a:spcAft>
                <a:spcPts val="1000"/>
              </a:spcAft>
            </a:pPr>
            <a:r>
              <a:rPr sz="2000">
                <a:solidFill>
                  <a:srgbClr val="222B33"/>
                </a:solidFill>
                <a:latin typeface="Microsoft YaHei"/>
              </a:rPr>
              <a:t>▪ 让蒸气浓度远低于燃烧下限</a:t>
            </a:r>
          </a:p>
          <a:p>
            <a:pPr>
              <a:spcAft>
                <a:spcPts val="1000"/>
              </a:spcAft>
            </a:pPr>
            <a:r>
              <a:rPr sz="2000">
                <a:solidFill>
                  <a:srgbClr val="222B33"/>
                </a:solidFill>
                <a:latin typeface="Microsoft YaHei"/>
              </a:rPr>
              <a:t>▪ 局部排风，必要时加辅助通风</a:t>
            </a:r>
          </a:p>
          <a:p>
            <a:pPr>
              <a:spcAft>
                <a:spcPts val="1000"/>
              </a:spcAft>
            </a:pPr>
            <a:r>
              <a:rPr sz="2000">
                <a:solidFill>
                  <a:srgbClr val="222B33"/>
                </a:solidFill>
                <a:latin typeface="Microsoft YaHei"/>
              </a:rPr>
              <a:t>▪ 擦拭纸放带盖桶，废液进危废桶不进水槽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在敞开台面上大量使用溶剂</a:t>
            </a:r>
          </a:p>
          <a:p>
            <a:pPr>
              <a:spcAft>
                <a:spcPts val="1000"/>
              </a:spcAft>
            </a:pPr>
            <a:r>
              <a:rPr sz="1500">
                <a:solidFill>
                  <a:srgbClr val="222B33"/>
                </a:solidFill>
                <a:latin typeface="Microsoft YaHei"/>
              </a:rPr>
              <a:t>▪ 沾溶剂的纸扔进敞口垃圾桶</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台面少放，用完回柜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防火先防源头，台面只放够用的量</a:t>
            </a:r>
          </a:p>
          <a:p>
            <a:pPr>
              <a:spcAft>
                <a:spcPts val="1000"/>
              </a:spcAft>
            </a:pPr>
            <a:r>
              <a:rPr sz="2000">
                <a:solidFill>
                  <a:srgbClr val="222B33"/>
                </a:solidFill>
                <a:latin typeface="Microsoft YaHei"/>
              </a:rPr>
              <a:t>▪ 大桶用完放回易燃品柜</a:t>
            </a:r>
          </a:p>
          <a:p>
            <a:pPr>
              <a:spcAft>
                <a:spcPts val="1000"/>
              </a:spcAft>
            </a:pPr>
            <a:r>
              <a:rPr sz="2000">
                <a:solidFill>
                  <a:srgbClr val="222B33"/>
                </a:solidFill>
                <a:latin typeface="Microsoft YaHei"/>
              </a:rPr>
              <a:t>▪ 敞口馏分远离热源和电火花</a:t>
            </a:r>
          </a:p>
          <a:p>
            <a:pPr>
              <a:spcAft>
                <a:spcPts val="1000"/>
              </a:spcAft>
            </a:pPr>
            <a:r>
              <a:rPr sz="2000">
                <a:solidFill>
                  <a:srgbClr val="222B33"/>
                </a:solidFill>
                <a:latin typeface="Microsoft YaHei"/>
              </a:rPr>
              <a:t>▪ 及时合并处理，别敞口久放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防火要从源头做起：实验台面上只放当次够用的易燃溶剂，大桶和用完的试剂放回易燃品柜（见第 044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大桶溶剂一直放在台面上</a:t>
            </a:r>
          </a:p>
          <a:p>
            <a:pPr>
              <a:spcAft>
                <a:spcPts val="1000"/>
              </a:spcAft>
            </a:pPr>
            <a:r>
              <a:rPr sz="1500">
                <a:solidFill>
                  <a:srgbClr val="222B33"/>
                </a:solidFill>
                <a:latin typeface="Microsoft YaHei"/>
              </a:rPr>
              <a:t>▪ 敞口馏分放过夜</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合格容器，通道不放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易燃液体只用合格容器盛装</a:t>
            </a:r>
          </a:p>
          <a:p>
            <a:pPr>
              <a:spcAft>
                <a:spcPts val="1000"/>
              </a:spcAft>
            </a:pPr>
            <a:r>
              <a:rPr sz="2000">
                <a:solidFill>
                  <a:srgbClr val="222B33"/>
                </a:solidFill>
                <a:latin typeface="Microsoft YaHei"/>
              </a:rPr>
              <a:t>▪ 少量试剂可留在完好的原包装里</a:t>
            </a:r>
          </a:p>
          <a:p>
            <a:pPr>
              <a:spcAft>
                <a:spcPts val="1000"/>
              </a:spcAft>
            </a:pPr>
            <a:r>
              <a:rPr sz="2000">
                <a:solidFill>
                  <a:srgbClr val="222B33"/>
                </a:solidFill>
                <a:latin typeface="Microsoft YaHei"/>
              </a:rPr>
              <a:t>▪ 出口、楼梯、通道不放易燃液体</a:t>
            </a:r>
          </a:p>
          <a:p>
            <a:pPr>
              <a:spcAft>
                <a:spcPts val="1000"/>
              </a:spcAft>
            </a:pPr>
            <a:r>
              <a:rPr sz="2000">
                <a:solidFill>
                  <a:srgbClr val="222B33"/>
                </a:solidFill>
                <a:latin typeface="Microsoft YaHei"/>
              </a:rPr>
              <a:t>▪ 一旦着火，会堵住逃生路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易燃液体只能用合格、密闭、完好的容器盛装，不用饮料瓶、破损容器。少量试剂可以留在完好的原包装里使用和存放；数量界限按国家规定和本校规定执行。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用矿泉水瓶分装溶剂</a:t>
            </a:r>
          </a:p>
          <a:p>
            <a:pPr>
              <a:spcAft>
                <a:spcPts val="1000"/>
              </a:spcAft>
            </a:pPr>
            <a:r>
              <a:rPr sz="1500">
                <a:solidFill>
                  <a:srgbClr val="222B33"/>
                </a:solidFill>
                <a:latin typeface="Microsoft YaHei"/>
              </a:rPr>
              <a:t>▪ 把溶剂桶临时放在走廊</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有爆炸可能：防爆屏和防护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有爆炸可能，装置放在防爆屏后</a:t>
            </a:r>
          </a:p>
          <a:p>
            <a:pPr>
              <a:spcAft>
                <a:spcPts val="1000"/>
              </a:spcAft>
            </a:pPr>
            <a:r>
              <a:rPr sz="2000">
                <a:solidFill>
                  <a:srgbClr val="222B33"/>
                </a:solidFill>
                <a:latin typeface="Microsoft YaHei"/>
              </a:rPr>
              <a:t>▪ 戴面屏和合适的手套</a:t>
            </a:r>
          </a:p>
          <a:p>
            <a:pPr>
              <a:spcAft>
                <a:spcPts val="1000"/>
              </a:spcAft>
            </a:pPr>
            <a:r>
              <a:rPr sz="2000">
                <a:solidFill>
                  <a:srgbClr val="222B33"/>
                </a:solidFill>
                <a:latin typeface="Microsoft YaHei"/>
              </a:rPr>
              <a:t>▪ 穿阻燃材料的实验服</a:t>
            </a:r>
          </a:p>
          <a:p>
            <a:pPr>
              <a:spcAft>
                <a:spcPts val="1000"/>
              </a:spcAft>
            </a:pPr>
            <a:r>
              <a:rPr sz="2000">
                <a:solidFill>
                  <a:srgbClr val="222B33"/>
                </a:solidFill>
                <a:latin typeface="Microsoft YaHei"/>
              </a:rPr>
              <a:t>▪ 高风险实验先做风险评估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涉及可能发生爆炸或剧烈反应的操作，装置放在通风柜内并加防爆屏（防护挡板），人员戴面屏（护目镜之外加面屏）、合适的手套，穿阻燃材料的实验服。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只戴护目镜就做有爆炸风险的实验</a:t>
            </a:r>
          </a:p>
          <a:p>
            <a:pPr>
              <a:spcAft>
                <a:spcPts val="1000"/>
              </a:spcAft>
            </a:pPr>
            <a:r>
              <a:rPr sz="1500">
                <a:solidFill>
                  <a:srgbClr val="222B33"/>
                </a:solidFill>
                <a:latin typeface="Microsoft YaHei"/>
              </a:rPr>
              <a:t>▪ 穿化纤衣物做易燃易爆实验</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燃油用合格容器，不进宿舍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燃油装在合格的专用容器里，标明内容</a:t>
            </a:r>
          </a:p>
          <a:p>
            <a:pPr>
              <a:spcAft>
                <a:spcPts val="1000"/>
              </a:spcAft>
            </a:pPr>
            <a:r>
              <a:rPr sz="2000">
                <a:solidFill>
                  <a:srgbClr val="222B33"/>
                </a:solidFill>
                <a:latin typeface="Microsoft YaHei"/>
              </a:rPr>
              <a:t>▪ 不用饮料瓶、普通塑料桶装汽油柴油</a:t>
            </a:r>
          </a:p>
          <a:p>
            <a:pPr>
              <a:spcAft>
                <a:spcPts val="1000"/>
              </a:spcAft>
            </a:pPr>
            <a:r>
              <a:rPr sz="2000">
                <a:solidFill>
                  <a:srgbClr val="222B33"/>
                </a:solidFill>
                <a:latin typeface="Microsoft YaHei"/>
              </a:rPr>
              <a:t>▪ 汽油是危险化学品，少量专门存放</a:t>
            </a:r>
          </a:p>
          <a:p>
            <a:pPr>
              <a:spcAft>
                <a:spcPts val="1000"/>
              </a:spcAft>
            </a:pPr>
            <a:r>
              <a:rPr sz="2000">
                <a:solidFill>
                  <a:srgbClr val="222B33"/>
                </a:solidFill>
                <a:latin typeface="Microsoft YaHei"/>
              </a:rPr>
              <a:t>▪ 不放在实验室、宿舍和生活区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野外实习、户外活动、停电应急使用发电机等设备时，会用到汽油、柴油等燃料。燃油要装在合格的专用油桶里，标明内容，不能用饮料瓶、普通塑料桶盛装（普通塑料桶不耐油，还易积聚静电）。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用饮料瓶装汽油</a:t>
            </a:r>
          </a:p>
          <a:p>
            <a:pPr>
              <a:spcAft>
                <a:spcPts val="1000"/>
              </a:spcAft>
            </a:pPr>
            <a:r>
              <a:rPr sz="1500">
                <a:solidFill>
                  <a:srgbClr val="222B33"/>
                </a:solidFill>
                <a:latin typeface="Microsoft YaHei"/>
              </a:rPr>
              <a:t>▪ 把备用油桶放在宿舍或帐篷里</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燃油远离火源，严禁吸烟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油桶远离发电机和各种热源</a:t>
            </a:r>
          </a:p>
          <a:p>
            <a:pPr>
              <a:spcAft>
                <a:spcPts val="1000"/>
              </a:spcAft>
            </a:pPr>
            <a:r>
              <a:rPr sz="2000">
                <a:solidFill>
                  <a:srgbClr val="222B33"/>
                </a:solidFill>
                <a:latin typeface="Microsoft YaHei"/>
              </a:rPr>
              <a:t>▪ 香烟、打火机、火柴都要远离</a:t>
            </a:r>
          </a:p>
          <a:p>
            <a:pPr>
              <a:spcAft>
                <a:spcPts val="1000"/>
              </a:spcAft>
            </a:pPr>
            <a:r>
              <a:rPr sz="2000">
                <a:solidFill>
                  <a:srgbClr val="222B33"/>
                </a:solidFill>
                <a:latin typeface="Microsoft YaHei"/>
              </a:rPr>
              <a:t>▪ 存油的地方严禁吸烟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油桶要远离运行中的发电机、排气管和其他热源，加油前先停机冷却。香烟、打火机、火柴等火源都要远离燃油。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发电机运行时加油</a:t>
            </a:r>
          </a:p>
          <a:p>
            <a:pPr>
              <a:spcAft>
                <a:spcPts val="1000"/>
              </a:spcAft>
            </a:pPr>
            <a:r>
              <a:rPr sz="1500">
                <a:solidFill>
                  <a:srgbClr val="222B33"/>
                </a:solidFill>
                <a:latin typeface="Microsoft YaHei"/>
              </a:rPr>
              <a:t>▪ 在油桶旁边抽烟</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时刻专注，牢记五条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易燃易爆物从来不能大意，时刻专注</a:t>
            </a:r>
          </a:p>
          <a:p>
            <a:pPr>
              <a:spcAft>
                <a:spcPts val="1000"/>
              </a:spcAft>
            </a:pPr>
            <a:r>
              <a:rPr sz="2000">
                <a:solidFill>
                  <a:srgbClr val="222B33"/>
                </a:solidFill>
                <a:latin typeface="Microsoft YaHei"/>
              </a:rPr>
              <a:t>▪ 知道哪些东西易燃易爆</a:t>
            </a:r>
          </a:p>
          <a:p>
            <a:pPr>
              <a:spcAft>
                <a:spcPts val="1000"/>
              </a:spcAft>
            </a:pPr>
            <a:r>
              <a:rPr sz="2000">
                <a:solidFill>
                  <a:srgbClr val="222B33"/>
                </a:solidFill>
                <a:latin typeface="Microsoft YaHei"/>
              </a:rPr>
              <a:t>▪ 身边不留点火源，通风要足</a:t>
            </a:r>
          </a:p>
          <a:p>
            <a:pPr>
              <a:spcAft>
                <a:spcPts val="1000"/>
              </a:spcAft>
            </a:pPr>
            <a:r>
              <a:rPr sz="2000">
                <a:solidFill>
                  <a:srgbClr val="222B33"/>
                </a:solidFill>
                <a:latin typeface="Microsoft YaHei"/>
              </a:rPr>
              <a:t>▪ 会搬会存，随时做好应急准备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使用易燃易爆化学品时，清楚每一步操作，时刻保持专注，不边玩手机边做实验。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边看手机边操作</a:t>
            </a:r>
          </a:p>
          <a:p>
            <a:pPr>
              <a:spcAft>
                <a:spcPts val="1000"/>
              </a:spcAft>
            </a:pPr>
            <a:r>
              <a:rPr sz="1500">
                <a:solidFill>
                  <a:srgbClr val="222B33"/>
                </a:solidFill>
                <a:latin typeface="Microsoft YaHei"/>
              </a:rPr>
              <a:t>▪ 不清楚灭火器和应急器材的位置</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易燃液体燃烧时，真正燃烧的是：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液体本身</a:t>
            </a:r>
          </a:p>
          <a:p>
            <a:pPr algn="l"/>
            <a:r>
              <a:rPr sz="1500" b="0">
                <a:solidFill>
                  <a:srgbClr val="222B33"/>
                </a:solidFill>
                <a:latin typeface="Microsoft YaHei"/>
              </a:rPr>
              <a:t>B. 液体表面挥发的蒸气</a:t>
            </a:r>
          </a:p>
          <a:p>
            <a:pPr algn="l"/>
            <a:r>
              <a:rPr sz="1500" b="0">
                <a:solidFill>
                  <a:srgbClr val="222B33"/>
                </a:solidFill>
                <a:latin typeface="Microsoft YaHei"/>
              </a:rPr>
              <a:t>C. 容器</a:t>
            </a:r>
          </a:p>
          <a:p>
            <a:pPr algn="l"/>
            <a:r>
              <a:rPr sz="1500" b="0">
                <a:solidFill>
                  <a:srgbClr val="222B33"/>
                </a:solidFill>
                <a:latin typeface="Microsoft YaHei"/>
              </a:rPr>
              <a:t>D. 空气中的水分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判断：只要附近没有明火，易燃溶剂就不会着火。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关于爆炸极限，下列说法正确的是：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浓度越高越容易爆炸</a:t>
            </a:r>
          </a:p>
          <a:p>
            <a:pPr algn="l"/>
            <a:r>
              <a:rPr sz="1500" b="0">
                <a:solidFill>
                  <a:srgbClr val="222B33"/>
                </a:solidFill>
                <a:latin typeface="Microsoft YaHei"/>
              </a:rPr>
              <a:t>B. 低于下限和高于上限都点不着，很多溶剂下限很快就能达到</a:t>
            </a:r>
          </a:p>
          <a:p>
            <a:pPr algn="l"/>
            <a:r>
              <a:rPr sz="1500" b="0">
                <a:solidFill>
                  <a:srgbClr val="222B33"/>
                </a:solidFill>
                <a:latin typeface="Microsoft YaHei"/>
              </a:rPr>
              <a:t>C. 有火花一定会爆炸</a:t>
            </a:r>
          </a:p>
          <a:p>
            <a:pPr algn="l"/>
            <a:r>
              <a:rPr sz="1500" b="0">
                <a:solidFill>
                  <a:srgbClr val="222B33"/>
                </a:solidFill>
                <a:latin typeface="Microsoft YaHei"/>
              </a:rPr>
              <a:t>D. 只有气体才有爆炸极限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加热乙醇等易燃液体，应选用：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酒精灯明火</a:t>
            </a:r>
          </a:p>
          <a:p>
            <a:pPr algn="l"/>
            <a:r>
              <a:rPr sz="1500" b="0">
                <a:solidFill>
                  <a:srgbClr val="222B33"/>
                </a:solidFill>
                <a:latin typeface="Microsoft YaHei"/>
              </a:rPr>
              <a:t>B. 裸露的加热板</a:t>
            </a:r>
          </a:p>
          <a:p>
            <a:pPr algn="l"/>
            <a:r>
              <a:rPr sz="1500" b="0">
                <a:solidFill>
                  <a:srgbClr val="222B33"/>
                </a:solidFill>
                <a:latin typeface="Microsoft YaHei"/>
              </a:rPr>
              <a:t>C. 加热套或水浴</a:t>
            </a:r>
          </a:p>
          <a:p>
            <a:pPr algn="l"/>
            <a:r>
              <a:rPr sz="1500" b="0">
                <a:solidFill>
                  <a:srgbClr val="222B33"/>
                </a:solidFill>
                <a:latin typeface="Microsoft YaHei"/>
              </a:rPr>
              <a:t>D. 电炉</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判断：野外实习用的备用汽油，可以装在饮料瓶里放在宿舍。</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简答：使用易燃易爆化学品的“五条要点”是什么？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易燃物很常见，先弄清易燃易爆性</a:t>
            </a:r>
          </a:p>
          <a:p>
            <a:pPr>
              <a:spcAft>
                <a:spcPts val="800"/>
              </a:spcAft>
            </a:pPr>
            <a:r>
              <a:rPr sz="1500">
                <a:solidFill>
                  <a:srgbClr val="FFFFFF"/>
                </a:solidFill>
                <a:latin typeface="Microsoft YaHei"/>
              </a:rPr>
              <a:t>▪ K2  除了水，液体都当易燃看</a:t>
            </a:r>
          </a:p>
          <a:p>
            <a:pPr>
              <a:spcAft>
                <a:spcPts val="800"/>
              </a:spcAft>
            </a:pPr>
            <a:r>
              <a:rPr sz="1500">
                <a:solidFill>
                  <a:srgbClr val="FFFFFF"/>
                </a:solidFill>
                <a:latin typeface="Microsoft YaHei"/>
              </a:rPr>
              <a:t>▪ K3  看标签象形图，查说明书</a:t>
            </a:r>
          </a:p>
          <a:p>
            <a:pPr>
              <a:spcAft>
                <a:spcPts val="800"/>
              </a:spcAft>
            </a:pPr>
            <a:r>
              <a:rPr sz="1500">
                <a:solidFill>
                  <a:srgbClr val="FFFFFF"/>
                </a:solidFill>
                <a:latin typeface="Microsoft YaHei"/>
              </a:rPr>
              <a:t>▪ K4  烧的是蒸气，蒸气会贴地流</a:t>
            </a:r>
          </a:p>
          <a:p>
            <a:pPr>
              <a:spcAft>
                <a:spcPts val="800"/>
              </a:spcAft>
            </a:pPr>
            <a:r>
              <a:rPr sz="1500">
                <a:solidFill>
                  <a:srgbClr val="FFFFFF"/>
                </a:solidFill>
                <a:latin typeface="Microsoft YaHei"/>
              </a:rPr>
              <a:t>▪ K5  闪点和燃点</a:t>
            </a:r>
          </a:p>
          <a:p>
            <a:pPr>
              <a:spcAft>
                <a:spcPts val="800"/>
              </a:spcAft>
            </a:pPr>
            <a:r>
              <a:rPr sz="1500">
                <a:solidFill>
                  <a:srgbClr val="FFFFFF"/>
                </a:solidFill>
                <a:latin typeface="Microsoft YaHei"/>
              </a:rPr>
              <a:t>▪ K6  按闪点区分易燃与可燃</a:t>
            </a:r>
          </a:p>
          <a:p>
            <a:pPr>
              <a:spcAft>
                <a:spcPts val="800"/>
              </a:spcAft>
            </a:pPr>
            <a:r>
              <a:rPr sz="1500">
                <a:solidFill>
                  <a:srgbClr val="FFFFFF"/>
                </a:solidFill>
                <a:latin typeface="Microsoft YaHei"/>
              </a:rPr>
              <a:t>▪ K7  爆炸极限：下限很快就到</a:t>
            </a:r>
          </a:p>
          <a:p>
            <a:pPr>
              <a:spcAft>
                <a:spcPts val="800"/>
              </a:spcAft>
            </a:pPr>
            <a:r>
              <a:rPr sz="1500">
                <a:solidFill>
                  <a:srgbClr val="FFFFFF"/>
                </a:solidFill>
                <a:latin typeface="Microsoft YaHei"/>
              </a:rPr>
              <a:t>▪ K8  自燃点：热表面也能引燃</a:t>
            </a:r>
          </a:p>
          <a:p>
            <a:pPr>
              <a:spcAft>
                <a:spcPts val="800"/>
              </a:spcAft>
            </a:pPr>
            <a:r>
              <a:rPr sz="1500">
                <a:solidFill>
                  <a:srgbClr val="FFFFFF"/>
                </a:solidFill>
                <a:latin typeface="Microsoft YaHei"/>
              </a:rPr>
              <a:t>▪ K9  爆炸品：怕热怕撞怕摩擦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远离点火源，不用明火和加热板</a:t>
            </a:r>
          </a:p>
          <a:p>
            <a:pPr>
              <a:spcAft>
                <a:spcPts val="800"/>
              </a:spcAft>
            </a:pPr>
            <a:r>
              <a:rPr sz="1500">
                <a:solidFill>
                  <a:srgbClr val="FFFFFF"/>
                </a:solidFill>
                <a:latin typeface="Microsoft YaHei"/>
              </a:rPr>
              <a:t>▪ K11  酒精也易燃：消毒灭菌远离火焰</a:t>
            </a:r>
          </a:p>
          <a:p>
            <a:pPr>
              <a:spcAft>
                <a:spcPts val="800"/>
              </a:spcAft>
            </a:pPr>
            <a:r>
              <a:rPr sz="1500">
                <a:solidFill>
                  <a:srgbClr val="FFFFFF"/>
                </a:solidFill>
                <a:latin typeface="Microsoft YaHei"/>
              </a:rPr>
              <a:t>▪ K12  通风要足，在通风柜里操作</a:t>
            </a:r>
          </a:p>
          <a:p>
            <a:pPr>
              <a:spcAft>
                <a:spcPts val="800"/>
              </a:spcAft>
            </a:pPr>
            <a:r>
              <a:rPr sz="1500">
                <a:solidFill>
                  <a:srgbClr val="FFFFFF"/>
                </a:solidFill>
                <a:latin typeface="Microsoft YaHei"/>
              </a:rPr>
              <a:t>▪ K13  台面少放，用完回柜</a:t>
            </a:r>
          </a:p>
          <a:p>
            <a:pPr>
              <a:spcAft>
                <a:spcPts val="800"/>
              </a:spcAft>
            </a:pPr>
            <a:r>
              <a:rPr sz="1500">
                <a:solidFill>
                  <a:srgbClr val="FFFFFF"/>
                </a:solidFill>
                <a:latin typeface="Microsoft YaHei"/>
              </a:rPr>
              <a:t>▪ K14  合格容器，通道不放</a:t>
            </a:r>
          </a:p>
          <a:p>
            <a:pPr>
              <a:spcAft>
                <a:spcPts val="800"/>
              </a:spcAft>
            </a:pPr>
            <a:r>
              <a:rPr sz="1500">
                <a:solidFill>
                  <a:srgbClr val="FFFFFF"/>
                </a:solidFill>
                <a:latin typeface="Microsoft YaHei"/>
              </a:rPr>
              <a:t>▪ K15  有爆炸可能：防爆屏和防护</a:t>
            </a:r>
          </a:p>
          <a:p>
            <a:pPr>
              <a:spcAft>
                <a:spcPts val="800"/>
              </a:spcAft>
            </a:pPr>
            <a:r>
              <a:rPr sz="1500">
                <a:solidFill>
                  <a:srgbClr val="FFFFFF"/>
                </a:solidFill>
                <a:latin typeface="Microsoft YaHei"/>
              </a:rPr>
              <a:t>▪ K16  燃油用合格容器，不进宿舍</a:t>
            </a:r>
          </a:p>
          <a:p>
            <a:pPr>
              <a:spcAft>
                <a:spcPts val="800"/>
              </a:spcAft>
            </a:pPr>
            <a:r>
              <a:rPr sz="1500">
                <a:solidFill>
                  <a:srgbClr val="FFFFFF"/>
                </a:solidFill>
                <a:latin typeface="Microsoft YaHei"/>
              </a:rPr>
              <a:t>▪ K17  燃油远离火源，严禁吸烟</a:t>
            </a:r>
          </a:p>
          <a:p>
            <a:pPr>
              <a:spcAft>
                <a:spcPts val="800"/>
              </a:spcAft>
            </a:pPr>
            <a:r>
              <a:rPr sz="1500">
                <a:solidFill>
                  <a:srgbClr val="FFFFFF"/>
                </a:solidFill>
                <a:latin typeface="Microsoft YaHei"/>
              </a:rPr>
              <a:t>▪ K18  时刻专注，牢记五条</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氧化剂与反应性化学品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适用对象：全体使用化学品的高校本科生、研究生和教职工（必修）；化学、化工、材料、药学、生命科学等专业重点学习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能认出氧化性象形图，说出氧化剂助燃的原因，能做到氧化剂远离可燃物、不与可燃物和还原剂一起研磨。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能说出不稳定物质、遇水放出易燃气体物质、自燃物品和放热反应的主要危险，能做到混合前查相容性、禁配物隔开存放、高风险操作先评估审批并依靠工程控制和防护。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能做到易形成过氧化物的化学品写收货和开封日期、定期检测、按期用完，能按试纸说明书规范完成过氧化物检测并记录。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能判断可疑容器（老旧、超期、来历不明、有结晶）并做到不开、不动、隔离、报告，检测超限的按危险废物处置。</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日起施行）及《危险化学品安全管理条例》（以现行文本为准）：学校、科研机构使用危险化学品的安全责任，按安全技术说明书和安全标签的要求使用、储存，禁配物分开存放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系列（以现行文本为准）《化学品分类和标签规范》：氧化性液体和固体、有机过氧化物、自反应物质、自燃液体和固体、遇水放出易燃气体的物质等分类和象形图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部分操作处置与储存、第 10 部分稳定性和反应性</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15603-2022（以现行文本为准）《危险化学品仓库储存通则》：按性质分类分区储存，禁配物不得混存，遇水危险物品防潮防水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号，以现行文本为准）：危险化学品存量控制、台账、高风险实验风险评估和个人防护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《国家危险废物名录》（以现行文本为准）：废弃化学品按危险废物交有资质单位处置，不得倒入下水道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高校实验室安全检查项目表（以现行文本为准）及本校危险化学品管理制度、标准操作规程</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氧化剂会助燃，远离可燃物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圆圈上面一团火，表示氧化性</a:t>
            </a:r>
          </a:p>
          <a:p>
            <a:pPr>
              <a:spcAft>
                <a:spcPts val="1000"/>
              </a:spcAft>
            </a:pPr>
            <a:r>
              <a:rPr sz="2000">
                <a:solidFill>
                  <a:srgbClr val="222B33"/>
                </a:solidFill>
                <a:latin typeface="Microsoft YaHei"/>
              </a:rPr>
              <a:t>▪ 氧化剂能放出氧，引发或助长燃烧</a:t>
            </a:r>
          </a:p>
          <a:p>
            <a:pPr>
              <a:spcAft>
                <a:spcPts val="1000"/>
              </a:spcAft>
            </a:pPr>
            <a:r>
              <a:rPr sz="2000">
                <a:solidFill>
                  <a:srgbClr val="222B33"/>
                </a:solidFill>
                <a:latin typeface="Microsoft YaHei"/>
              </a:rPr>
              <a:t>▪ 氧化剂要远离可燃物和易燃溶剂</a:t>
            </a:r>
          </a:p>
          <a:p>
            <a:pPr>
              <a:spcAft>
                <a:spcPts val="1000"/>
              </a:spcAft>
            </a:pPr>
            <a:r>
              <a:rPr sz="2000">
                <a:solidFill>
                  <a:srgbClr val="222B33"/>
                </a:solidFill>
                <a:latin typeface="Microsoft YaHei"/>
              </a:rPr>
              <a:t>▪ 有的显色剂也是氧化剂，用完盖好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化学品安全标签上，红色菱形框内“圆圈上方一团火焰”的象形图表示氧化性（GB 30000 系列），注意和只有一团火焰的易燃象形图区分（见第 039、046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把氧化性象形图当成易燃象形图</a:t>
            </a:r>
          </a:p>
          <a:p>
            <a:pPr>
              <a:spcAft>
                <a:spcPts val="1000"/>
              </a:spcAft>
            </a:pPr>
            <a:r>
              <a:rPr sz="1500">
                <a:solidFill>
                  <a:srgbClr val="222B33"/>
                </a:solidFill>
                <a:latin typeface="Microsoft YaHei"/>
              </a:rPr>
              <a:t>▪ 氧化剂和溶剂、纸箱挤在同一格架子上</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氧化剂不和可燃物、还原剂一起研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氧化剂不能和可燃物一起研磨</a:t>
            </a:r>
          </a:p>
          <a:p>
            <a:pPr>
              <a:spcAft>
                <a:spcPts val="1000"/>
              </a:spcAft>
            </a:pPr>
            <a:r>
              <a:rPr sz="2000">
                <a:solidFill>
                  <a:srgbClr val="222B33"/>
                </a:solidFill>
                <a:latin typeface="Microsoft YaHei"/>
              </a:rPr>
              <a:t>▪ 也不能和还原剂一起研磨</a:t>
            </a:r>
          </a:p>
          <a:p>
            <a:pPr>
              <a:spcAft>
                <a:spcPts val="1000"/>
              </a:spcAft>
            </a:pPr>
            <a:r>
              <a:rPr sz="2000">
                <a:solidFill>
                  <a:srgbClr val="222B33"/>
                </a:solidFill>
                <a:latin typeface="Microsoft YaHei"/>
              </a:rPr>
              <a:t>▪ 研磨戴护目镜，量少、动作轻</a:t>
            </a:r>
          </a:p>
          <a:p>
            <a:pPr>
              <a:spcAft>
                <a:spcPts val="1000"/>
              </a:spcAft>
            </a:pPr>
            <a:r>
              <a:rPr sz="2000">
                <a:solidFill>
                  <a:srgbClr val="222B33"/>
                </a:solidFill>
                <a:latin typeface="Microsoft YaHei"/>
              </a:rPr>
              <a:t>▪ 研钵用完洗净，别混进下个样品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研磨会产生摩擦和局部发热，氧化剂与可燃物或还原剂一起研磨可能引起剧烈反应甚至燃烧爆炸，因此严禁混合研磨。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为了省事把几种固体放在一起研磨</a:t>
            </a:r>
          </a:p>
          <a:p>
            <a:pPr>
              <a:spcAft>
                <a:spcPts val="1000"/>
              </a:spcAft>
            </a:pPr>
            <a:r>
              <a:rPr sz="1500">
                <a:solidFill>
                  <a:srgbClr val="222B33"/>
                </a:solidFill>
                <a:latin typeface="Microsoft YaHei"/>
              </a:rPr>
              <a:t>▪ 研钵不洗就接着用</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不稳定物质：怕热怕光怕撞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不稳定的物质怕热、怕光、怕撞</a:t>
            </a:r>
          </a:p>
          <a:p>
            <a:pPr>
              <a:spcAft>
                <a:spcPts val="1000"/>
              </a:spcAft>
            </a:pPr>
            <a:r>
              <a:rPr sz="2000">
                <a:solidFill>
                  <a:srgbClr val="222B33"/>
                </a:solidFill>
                <a:latin typeface="Microsoft YaHei"/>
              </a:rPr>
              <a:t>▪ 温度一升高就可能迅速分解</a:t>
            </a:r>
          </a:p>
          <a:p>
            <a:pPr>
              <a:spcAft>
                <a:spcPts val="1000"/>
              </a:spcAft>
            </a:pPr>
            <a:r>
              <a:rPr sz="2000">
                <a:solidFill>
                  <a:srgbClr val="222B33"/>
                </a:solidFill>
                <a:latin typeface="Microsoft YaHei"/>
              </a:rPr>
              <a:t>▪ 杂质或催化剂也会引发反应</a:t>
            </a:r>
          </a:p>
          <a:p>
            <a:pPr>
              <a:spcAft>
                <a:spcPts val="1000"/>
              </a:spcAft>
            </a:pPr>
            <a:r>
              <a:rPr sz="2000">
                <a:solidFill>
                  <a:srgbClr val="222B33"/>
                </a:solidFill>
                <a:latin typeface="Microsoft YaHei"/>
              </a:rPr>
              <a:t>▪ 阴凉避光存放，轻拿轻放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有机过氧化物、自反应物质等不稳定化学品在受热、光照、撞击或摩擦时可能迅速分解，放出大量热和气体。温度升高会加快分解，混入杂质、金属屑或催化剂也可能引发反应。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放在窗边阳光直射处或加热设备旁</a:t>
            </a:r>
          </a:p>
          <a:p>
            <a:pPr>
              <a:spcAft>
                <a:spcPts val="1000"/>
              </a:spcAft>
            </a:pPr>
            <a:r>
              <a:rPr sz="1500">
                <a:solidFill>
                  <a:srgbClr val="222B33"/>
                </a:solidFill>
                <a:latin typeface="Microsoft YaHei"/>
              </a:rPr>
              <a:t>▪ 用不洁净的药匙取用</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小心混合：先查相容性，禁配隔开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有些化学品碰在一起就危险</a:t>
            </a:r>
          </a:p>
          <a:p>
            <a:pPr>
              <a:spcAft>
                <a:spcPts val="1000"/>
              </a:spcAft>
            </a:pPr>
            <a:r>
              <a:rPr sz="2000">
                <a:solidFill>
                  <a:srgbClr val="222B33"/>
                </a:solidFill>
                <a:latin typeface="Microsoft YaHei"/>
              </a:rPr>
              <a:t>▪ 两种物料混合前，先查是否相容</a:t>
            </a:r>
          </a:p>
          <a:p>
            <a:pPr>
              <a:spcAft>
                <a:spcPts val="1000"/>
              </a:spcAft>
            </a:pPr>
            <a:r>
              <a:rPr sz="2000">
                <a:solidFill>
                  <a:srgbClr val="222B33"/>
                </a:solidFill>
                <a:latin typeface="Microsoft YaHei"/>
              </a:rPr>
              <a:t>▪ 倒废液也一样，不相容的不能混</a:t>
            </a:r>
          </a:p>
          <a:p>
            <a:pPr>
              <a:spcAft>
                <a:spcPts val="1000"/>
              </a:spcAft>
            </a:pPr>
            <a:r>
              <a:rPr sz="2000">
                <a:solidFill>
                  <a:srgbClr val="222B33"/>
                </a:solidFill>
                <a:latin typeface="Microsoft YaHei"/>
              </a:rPr>
              <a:t>▪ 禁配的东西，存放时就要隔开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不相容的化学品接触后可能发热、起火、爆炸或放出有毒气体，例如氧化剂与还原剂、可燃物，酸与碱等。混合任何两种物料之前，先查安全技术说明书第 10 部分（稳定性和反应性）和本实验室的相容性表。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凭感觉把废液倒进手边的废液桶</a:t>
            </a:r>
          </a:p>
          <a:p>
            <a:pPr>
              <a:spcAft>
                <a:spcPts val="1000"/>
              </a:spcAft>
            </a:pPr>
            <a:r>
              <a:rPr sz="1500">
                <a:solidFill>
                  <a:srgbClr val="222B33"/>
                </a:solidFill>
                <a:latin typeface="Microsoft YaHei"/>
              </a:rPr>
              <a:t>▪ 按字母顺序摆放化学品，禁配物挨在一起</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遇水危险品：专柜存放，消防先评估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有的物质遇水会放出易燃气体</a:t>
            </a:r>
          </a:p>
          <a:p>
            <a:pPr>
              <a:spcAft>
                <a:spcPts val="1000"/>
              </a:spcAft>
            </a:pPr>
            <a:r>
              <a:rPr sz="2000">
                <a:solidFill>
                  <a:srgbClr val="222B33"/>
                </a:solidFill>
                <a:latin typeface="Microsoft YaHei"/>
              </a:rPr>
              <a:t>▪ 遇水危险的要放专门的柜子</a:t>
            </a:r>
          </a:p>
          <a:p>
            <a:pPr>
              <a:spcAft>
                <a:spcPts val="1000"/>
              </a:spcAft>
            </a:pPr>
            <a:r>
              <a:rPr sz="2000">
                <a:solidFill>
                  <a:srgbClr val="222B33"/>
                </a:solidFill>
                <a:latin typeface="Microsoft YaHei"/>
              </a:rPr>
              <a:t>▪ 远离水池、水管和潮湿处</a:t>
            </a:r>
          </a:p>
          <a:p>
            <a:pPr>
              <a:spcAft>
                <a:spcPts val="1000"/>
              </a:spcAft>
            </a:pPr>
            <a:r>
              <a:rPr sz="2000">
                <a:solidFill>
                  <a:srgbClr val="222B33"/>
                </a:solidFill>
                <a:latin typeface="Microsoft YaHei"/>
              </a:rPr>
              <a:t>▪ 存放场所的消防设施要事先评估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活泼金属、部分金属氢化物等属于“遇水放出易燃气体的物质”，接触水或潮湿空气会放出易燃气体并放热，可能引起燃烧（GB 30000 系列）。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放在水池下方的柜子里</a:t>
            </a:r>
          </a:p>
          <a:p>
            <a:pPr>
              <a:spcAft>
                <a:spcPts val="1000"/>
              </a:spcAft>
            </a:pPr>
            <a:r>
              <a:rPr sz="1500">
                <a:solidFill>
                  <a:srgbClr val="222B33"/>
                </a:solidFill>
                <a:latin typeface="Microsoft YaHei"/>
              </a:rPr>
              <a:t>▪ 不看说明书就准备用水灭火</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放热与失控反应：先评估，小量起步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有的反应放热，越放越快就会失控</a:t>
            </a:r>
          </a:p>
          <a:p>
            <a:pPr>
              <a:spcAft>
                <a:spcPts val="1000"/>
              </a:spcAft>
            </a:pPr>
            <a:r>
              <a:rPr sz="2000">
                <a:solidFill>
                  <a:srgbClr val="222B33"/>
                </a:solidFill>
                <a:latin typeface="Microsoft YaHei"/>
              </a:rPr>
              <a:t>▪ 做之前查资料、做书面风险评估</a:t>
            </a:r>
          </a:p>
          <a:p>
            <a:pPr>
              <a:spcAft>
                <a:spcPts val="1000"/>
              </a:spcAft>
            </a:pPr>
            <a:r>
              <a:rPr sz="2000">
                <a:solidFill>
                  <a:srgbClr val="222B33"/>
                </a:solidFill>
                <a:latin typeface="Microsoft YaHei"/>
              </a:rPr>
              <a:t>▪ 先小量做，放大要重新评估审批</a:t>
            </a:r>
          </a:p>
          <a:p>
            <a:pPr>
              <a:spcAft>
                <a:spcPts val="1000"/>
              </a:spcAft>
            </a:pPr>
            <a:r>
              <a:rPr sz="2000">
                <a:solidFill>
                  <a:srgbClr val="222B33"/>
                </a:solidFill>
                <a:latin typeface="Microsoft YaHei"/>
              </a:rPr>
              <a:t>▪ 备好冷却，人不离开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放热反应放出的热量如果来不及散出，温度会升高、反应会加快，进而放出更多热量，形成“失控反应”，可能导致冲料、容器破裂、起火或爆炸。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第一次做就直接放大规模</a:t>
            </a:r>
          </a:p>
          <a:p>
            <a:pPr>
              <a:spcAft>
                <a:spcPts val="1000"/>
              </a:spcAft>
            </a:pPr>
            <a:r>
              <a:rPr sz="1500">
                <a:solidFill>
                  <a:srgbClr val="222B33"/>
                </a:solidFill>
                <a:latin typeface="Microsoft YaHei"/>
              </a:rPr>
              <a:t>▪ 反应开始后离开去做别的事</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自燃物品：工程控制加防护，结伴做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自燃物品接触空气就可能着火</a:t>
            </a:r>
          </a:p>
          <a:p>
            <a:pPr>
              <a:spcAft>
                <a:spcPts val="1000"/>
              </a:spcAft>
            </a:pPr>
            <a:r>
              <a:rPr sz="2000">
                <a:solidFill>
                  <a:srgbClr val="222B33"/>
                </a:solidFill>
                <a:latin typeface="Microsoft YaHei"/>
              </a:rPr>
              <a:t>▪ 高风险操作主要靠工程控制，如手套箱</a:t>
            </a:r>
          </a:p>
          <a:p>
            <a:pPr>
              <a:spcAft>
                <a:spcPts val="1000"/>
              </a:spcAft>
            </a:pPr>
            <a:r>
              <a:rPr sz="2000">
                <a:solidFill>
                  <a:srgbClr val="222B33"/>
                </a:solidFill>
                <a:latin typeface="Microsoft YaHei"/>
              </a:rPr>
              <a:t>▪ 穿阻燃实验服，做好眼面部防护</a:t>
            </a:r>
          </a:p>
          <a:p>
            <a:pPr>
              <a:spcAft>
                <a:spcPts val="1000"/>
              </a:spcAft>
            </a:pPr>
            <a:r>
              <a:rPr sz="2000">
                <a:solidFill>
                  <a:srgbClr val="222B33"/>
                </a:solidFill>
                <a:latin typeface="Microsoft YaHei"/>
              </a:rPr>
              <a:t>▪ 结伴做，先培训、经批准再上手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自燃液体和自燃固体（GB 30000 系列）接触空气后即使很少量也会在短时间内自行燃烧。这类高风险操作首先依靠工程控制：在手套箱或经批准的密闭、惰性气氛装置中操作（控制层级见第 017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没经过培训就独自操作</a:t>
            </a:r>
          </a:p>
          <a:p>
            <a:pPr>
              <a:spcAft>
                <a:spcPts val="1000"/>
              </a:spcAft>
            </a:pPr>
            <a:r>
              <a:rPr sz="1500">
                <a:solidFill>
                  <a:srgbClr val="222B33"/>
                </a:solidFill>
                <a:latin typeface="Microsoft YaHei"/>
              </a:rPr>
              <a:t>▪ 穿普通化纤衣服、不戴面屏</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省掉一步，代价无法挽回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曾有高校实验室因转移自燃试剂失手致死</a:t>
            </a:r>
          </a:p>
          <a:p>
            <a:pPr>
              <a:spcAft>
                <a:spcPts val="1000"/>
              </a:spcAft>
            </a:pPr>
            <a:r>
              <a:rPr sz="2000">
                <a:solidFill>
                  <a:srgbClr val="222B33"/>
                </a:solidFill>
                <a:latin typeface="Microsoft YaHei"/>
              </a:rPr>
              <a:t>▪ 当事人没穿阻燃服，伤势严重</a:t>
            </a:r>
          </a:p>
          <a:p>
            <a:pPr>
              <a:spcAft>
                <a:spcPts val="1000"/>
              </a:spcAft>
            </a:pPr>
            <a:r>
              <a:rPr sz="2000">
                <a:solidFill>
                  <a:srgbClr val="222B33"/>
                </a:solidFill>
                <a:latin typeface="Microsoft YaHei"/>
              </a:rPr>
              <a:t>▪ 规程每一步都不能省</a:t>
            </a:r>
          </a:p>
          <a:p>
            <a:pPr>
              <a:spcAft>
                <a:spcPts val="1000"/>
              </a:spcAft>
            </a:pPr>
            <a:r>
              <a:rPr sz="2000">
                <a:solidFill>
                  <a:srgbClr val="222B33"/>
                </a:solidFill>
                <a:latin typeface="Microsoft YaHei"/>
              </a:rPr>
              <a:t>▪ 省掉一步，后果无法挽回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曾有高校实验室发生自燃试剂事故：操作者在转移自燃试剂时失手，试剂接触空气起火，因为没有穿阻燃服，衣物被引燃，造成严重烧伤直至死亡。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觉得“很快就做完”而不穿防护</a:t>
            </a:r>
          </a:p>
          <a:p>
            <a:pPr>
              <a:spcAft>
                <a:spcPts val="1000"/>
              </a:spcAft>
            </a:pPr>
            <a:r>
              <a:rPr sz="1500">
                <a:solidFill>
                  <a:srgbClr val="222B33"/>
                </a:solidFill>
                <a:latin typeface="Microsoft YaHei"/>
              </a:rPr>
              <a:t>▪ 熟练以后简化操作步骤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过氧化物形成物：久放会变得敏感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乙醚等溶剂久放会生成过氧化物</a:t>
            </a:r>
          </a:p>
          <a:p>
            <a:pPr>
              <a:spcAft>
                <a:spcPts val="1000"/>
              </a:spcAft>
            </a:pPr>
            <a:r>
              <a:rPr sz="2000">
                <a:solidFill>
                  <a:srgbClr val="222B33"/>
                </a:solidFill>
                <a:latin typeface="Microsoft YaHei"/>
              </a:rPr>
              <a:t>▪ 过氧化物很不稳定，摩擦撞击都可能爆炸</a:t>
            </a:r>
          </a:p>
          <a:p>
            <a:pPr>
              <a:spcAft>
                <a:spcPts val="1000"/>
              </a:spcAft>
            </a:pPr>
            <a:r>
              <a:rPr sz="2000">
                <a:solidFill>
                  <a:srgbClr val="222B33"/>
                </a:solidFill>
                <a:latin typeface="Microsoft YaHei"/>
              </a:rPr>
              <a:t>▪ 陈旧的瓶子绝不能直接浓缩蒸馏</a:t>
            </a:r>
          </a:p>
          <a:p>
            <a:pPr>
              <a:spcAft>
                <a:spcPts val="1000"/>
              </a:spcAft>
            </a:pPr>
            <a:r>
              <a:rPr sz="2000">
                <a:solidFill>
                  <a:srgbClr val="222B33"/>
                </a:solidFill>
                <a:latin typeface="Microsoft YaHei"/>
              </a:rPr>
              <a:t>▪ 没检测合格，不能蒸馏或浓缩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乙醚、四氢呋喃、二氧六环等醚类和部分其他溶剂在接触空气、光照下放置较久，会慢慢生成过氧化物。过氧化物极不稳定，遇热、撞击、摩擦都可能爆炸，瓶盖螺纹处的结晶在拧盖时就可能被引爆。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把放了很久的溶剂直接拿去旋蒸</a:t>
            </a:r>
          </a:p>
          <a:p>
            <a:pPr>
              <a:spcAft>
                <a:spcPts val="1000"/>
              </a:spcAft>
            </a:pPr>
            <a:r>
              <a:rPr sz="1500">
                <a:solidFill>
                  <a:srgbClr val="222B33"/>
                </a:solidFill>
                <a:latin typeface="Microsoft YaHei"/>
              </a:rPr>
              <a:t>▪ 用力拧开瓶盖已经卡住的旧瓶子</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收货开封写日期，定期检测按期用完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收货、开封，都要写上日期</a:t>
            </a:r>
          </a:p>
          <a:p>
            <a:pPr>
              <a:spcAft>
                <a:spcPts val="1000"/>
              </a:spcAft>
            </a:pPr>
            <a:r>
              <a:rPr sz="2000">
                <a:solidFill>
                  <a:srgbClr val="222B33"/>
                </a:solidFill>
                <a:latin typeface="Microsoft YaHei"/>
              </a:rPr>
              <a:t>▪ 按学校规程定期检测，按期用完</a:t>
            </a:r>
          </a:p>
          <a:p>
            <a:pPr>
              <a:spcAft>
                <a:spcPts val="1000"/>
              </a:spcAft>
            </a:pPr>
            <a:r>
              <a:rPr sz="2000">
                <a:solidFill>
                  <a:srgbClr val="222B33"/>
                </a:solidFill>
                <a:latin typeface="Microsoft YaHei"/>
              </a:rPr>
              <a:t>▪ 少量采购，不要长期囤放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易形成过氧化物的化学品，收到时在标签上写收货日期，开封时写开封日期，记入化学品台账。按学校规程规定的周期检测，在规定期限内用完；检测周期和使用期限以本校危险化学品管理规定为准。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只写收货日期，不写开封日期</a:t>
            </a:r>
          </a:p>
          <a:p>
            <a:pPr>
              <a:spcAft>
                <a:spcPts val="1000"/>
              </a:spcAft>
            </a:pPr>
            <a:r>
              <a:rPr sz="1500">
                <a:solidFill>
                  <a:srgbClr val="222B33"/>
                </a:solidFill>
                <a:latin typeface="Microsoft YaHei"/>
              </a:rPr>
              <a:t>▪ 一次买很多，放几年没用完</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盖紧避光，见结晶变色不打开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原瓶盖紧，避光，少接触空气</a:t>
            </a:r>
          </a:p>
          <a:p>
            <a:pPr>
              <a:spcAft>
                <a:spcPts val="1000"/>
              </a:spcAft>
            </a:pPr>
            <a:r>
              <a:rPr sz="2000">
                <a:solidFill>
                  <a:srgbClr val="222B33"/>
                </a:solidFill>
                <a:latin typeface="Microsoft YaHei"/>
              </a:rPr>
              <a:t>▪ 远离热源</a:t>
            </a:r>
          </a:p>
          <a:p>
            <a:pPr>
              <a:spcAft>
                <a:spcPts val="1000"/>
              </a:spcAft>
            </a:pPr>
            <a:r>
              <a:rPr sz="2000">
                <a:solidFill>
                  <a:srgbClr val="222B33"/>
                </a:solidFill>
                <a:latin typeface="Microsoft YaHei"/>
              </a:rPr>
              <a:t>▪ 看到结晶、变色、浑浊，绝不能打开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这类化学品的标签会提示“可能形成爆炸性过氧化物”。保存时使用原包装，瓶盖拧紧，放在阴凉避光处，尽量减少与空气接触，远离热源和明火。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开封后瓶盖不拧紧</a:t>
            </a:r>
          </a:p>
          <a:p>
            <a:pPr>
              <a:spcAft>
                <a:spcPts val="1000"/>
              </a:spcAft>
            </a:pPr>
            <a:r>
              <a:rPr sz="1500">
                <a:solidFill>
                  <a:srgbClr val="222B33"/>
                </a:solidFill>
                <a:latin typeface="Microsoft YaHei"/>
              </a:rPr>
              <a:t>▪ 看到瓶口有结晶仍然拧盖</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可疑容器：不开、不动、先报告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老旧、超期、来历不明的瓶子，别打开</a:t>
            </a:r>
          </a:p>
          <a:p>
            <a:pPr>
              <a:spcAft>
                <a:spcPts val="1000"/>
              </a:spcAft>
            </a:pPr>
            <a:r>
              <a:rPr sz="2000">
                <a:solidFill>
                  <a:srgbClr val="222B33"/>
                </a:solidFill>
                <a:latin typeface="Microsoft YaHei"/>
              </a:rPr>
              <a:t>▪ 不摇、不拧、不挪动</a:t>
            </a:r>
          </a:p>
          <a:p>
            <a:pPr>
              <a:spcAft>
                <a:spcPts val="1000"/>
              </a:spcAft>
            </a:pPr>
            <a:r>
              <a:rPr sz="2000">
                <a:solidFill>
                  <a:srgbClr val="222B33"/>
                </a:solidFill>
                <a:latin typeface="Microsoft YaHei"/>
              </a:rPr>
              <a:t>▪ 就地隔离，挂警示，别让人靠近</a:t>
            </a:r>
          </a:p>
          <a:p>
            <a:pPr>
              <a:spcAft>
                <a:spcPts val="1000"/>
              </a:spcAft>
            </a:pPr>
            <a:r>
              <a:rPr sz="2000">
                <a:solidFill>
                  <a:srgbClr val="222B33"/>
                </a:solidFill>
                <a:latin typeface="Microsoft YaHei"/>
              </a:rPr>
              <a:t>▪ 报告实验室负责人和学校主管部门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发现老旧、超过检测期限、来历不明或已出现结晶的容器，不要打开，也不要摇晃、拧盖或挪动。就地隔离，挂上警示标志，阻止其他人靠近。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好奇打开看看还能不能用</a:t>
            </a:r>
          </a:p>
          <a:p>
            <a:pPr>
              <a:spcAft>
                <a:spcPts val="1000"/>
              </a:spcAft>
            </a:pPr>
            <a:r>
              <a:rPr sz="1500">
                <a:solidFill>
                  <a:srgbClr val="222B33"/>
                </a:solidFill>
                <a:latin typeface="Microsoft YaHei"/>
              </a:rPr>
              <a:t>▪ 自己把瓶子挪到别处或扔进垃圾桶</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试纸检测：通风柜里，穿戴好防护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过氧化物可以用专用试纸检测</a:t>
            </a:r>
          </a:p>
          <a:p>
            <a:pPr>
              <a:spcAft>
                <a:spcPts val="1000"/>
              </a:spcAft>
            </a:pPr>
            <a:r>
              <a:rPr sz="2000">
                <a:solidFill>
                  <a:srgbClr val="222B33"/>
                </a:solidFill>
                <a:latin typeface="Microsoft YaHei"/>
              </a:rPr>
              <a:t>▪ 检测在通风柜里做</a:t>
            </a:r>
          </a:p>
          <a:p>
            <a:pPr>
              <a:spcAft>
                <a:spcPts val="1000"/>
              </a:spcAft>
            </a:pPr>
            <a:r>
              <a:rPr sz="2000">
                <a:solidFill>
                  <a:srgbClr val="222B33"/>
                </a:solidFill>
                <a:latin typeface="Microsoft YaHei"/>
              </a:rPr>
              <a:t>▪ 护目镜、实验服、手套、长裤、包脚鞋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过氧化物试纸法简便，是实验室检查易形成过氧化物溶剂的常用方法。检测只适用于外观正常、在检测期限内的容器；有结晶或可疑的容器按 K11 处理，不检测。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在开放台面上检测</a:t>
            </a:r>
          </a:p>
          <a:p>
            <a:pPr>
              <a:spcAft>
                <a:spcPts val="1000"/>
              </a:spcAft>
            </a:pPr>
            <a:r>
              <a:rPr sz="1500">
                <a:solidFill>
                  <a:srgbClr val="222B33"/>
                </a:solidFill>
                <a:latin typeface="Microsoft YaHei"/>
              </a:rPr>
              <a:t>▪ 不戴护目镜</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取试纸：够用就好，别碰测试区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需要几条取几条，不要多拿</a:t>
            </a:r>
          </a:p>
          <a:p>
            <a:pPr>
              <a:spcAft>
                <a:spcPts val="1000"/>
              </a:spcAft>
            </a:pPr>
            <a:r>
              <a:rPr sz="2000">
                <a:solidFill>
                  <a:srgbClr val="222B33"/>
                </a:solidFill>
                <a:latin typeface="Microsoft YaHei"/>
              </a:rPr>
              <a:t>▪ 尽量别碰试纸上的测试区</a:t>
            </a:r>
          </a:p>
          <a:p>
            <a:pPr>
              <a:spcAft>
                <a:spcPts val="1000"/>
              </a:spcAft>
            </a:pPr>
            <a:r>
              <a:rPr sz="2000">
                <a:solidFill>
                  <a:srgbClr val="222B33"/>
                </a:solidFill>
                <a:latin typeface="Microsoft YaHei"/>
              </a:rPr>
              <a:t>▪ 取完马上盖好试纸罐</a:t>
            </a:r>
          </a:p>
          <a:p>
            <a:pPr>
              <a:spcAft>
                <a:spcPts val="1000"/>
              </a:spcAft>
            </a:pPr>
            <a:r>
              <a:rPr sz="2000">
                <a:solidFill>
                  <a:srgbClr val="222B33"/>
                </a:solidFill>
                <a:latin typeface="Microsoft YaHei"/>
              </a:rPr>
              <a:t>▪ 试纸过期要换新的再用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从试纸罐中按需要取出试纸，捏住不带测试区的一端，不用手指碰测试区，以免污染影响结果。取完立即盖紧试纸罐，防止受潮。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一次倒出很多试纸放在台面上</a:t>
            </a:r>
          </a:p>
          <a:p>
            <a:pPr>
              <a:spcAft>
                <a:spcPts val="1000"/>
              </a:spcAft>
            </a:pPr>
            <a:r>
              <a:rPr sz="1500">
                <a:solidFill>
                  <a:srgbClr val="222B33"/>
                </a:solidFill>
                <a:latin typeface="Microsoft YaHei"/>
              </a:rPr>
              <a:t>▪ 用过期试纸检测</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非废液，另取少量来测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测废液，可以直接蘸取</a:t>
            </a:r>
          </a:p>
          <a:p>
            <a:pPr>
              <a:spcAft>
                <a:spcPts val="1000"/>
              </a:spcAft>
            </a:pPr>
            <a:r>
              <a:rPr sz="2000">
                <a:solidFill>
                  <a:srgbClr val="222B33"/>
                </a:solidFill>
                <a:latin typeface="Microsoft YaHei"/>
              </a:rPr>
              <a:t>▪ 不是废液，先倒少量到小杯里测</a:t>
            </a:r>
          </a:p>
          <a:p>
            <a:pPr>
              <a:spcAft>
                <a:spcPts val="1000"/>
              </a:spcAft>
            </a:pPr>
            <a:r>
              <a:rPr sz="2000">
                <a:solidFill>
                  <a:srgbClr val="222B33"/>
                </a:solidFill>
                <a:latin typeface="Microsoft YaHei"/>
              </a:rPr>
              <a:t>▪ 试纸别伸进原瓶，免得弄脏试剂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检测废液时可以直接用试纸蘸取。检测还要继续使用的试剂时，先在通风柜里倒出少量到干净的小烧杯中，再用试纸蘸取小杯里的液体，避免把整瓶试剂污染。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把试纸直接伸进试剂原瓶</a:t>
            </a:r>
          </a:p>
          <a:p>
            <a:pPr>
              <a:spcAft>
                <a:spcPts val="1000"/>
              </a:spcAft>
            </a:pPr>
            <a:r>
              <a:rPr sz="1500">
                <a:solidFill>
                  <a:srgbClr val="222B33"/>
                </a:solidFill>
                <a:latin typeface="Microsoft YaHei"/>
              </a:rPr>
              <a:t>▪ 测完的液体倒回原瓶</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按说明书完成全部步骤，别漏加水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甩掉多余液体，按说明书时间等待</a:t>
            </a:r>
          </a:p>
          <a:p>
            <a:pPr>
              <a:spcAft>
                <a:spcPts val="1000"/>
              </a:spcAft>
            </a:pPr>
            <a:r>
              <a:rPr sz="2000">
                <a:solidFill>
                  <a:srgbClr val="222B33"/>
                </a:solidFill>
                <a:latin typeface="Microsoft YaHei"/>
              </a:rPr>
              <a:t>▪ 测有机溶液，说明书还有加水这一步</a:t>
            </a:r>
          </a:p>
          <a:p>
            <a:pPr>
              <a:spcAft>
                <a:spcPts val="1000"/>
              </a:spcAft>
            </a:pPr>
            <a:r>
              <a:rPr sz="2000">
                <a:solidFill>
                  <a:srgbClr val="222B33"/>
                </a:solidFill>
                <a:latin typeface="Microsoft YaHei"/>
              </a:rPr>
              <a:t>▪ 漏了这一步，结果就不准</a:t>
            </a:r>
          </a:p>
          <a:p>
            <a:pPr>
              <a:spcAft>
                <a:spcPts val="1000"/>
              </a:spcAft>
            </a:pPr>
            <a:r>
              <a:rPr sz="2000">
                <a:solidFill>
                  <a:srgbClr val="222B33"/>
                </a:solidFill>
                <a:latin typeface="Microsoft YaHei"/>
              </a:rPr>
              <a:t>▪ 测水溶液也照做，步骤统一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试纸蘸取后，轻轻甩掉多余液体，按产品说明书规定的时间等待。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不等够时间就读结果</a:t>
            </a:r>
          </a:p>
          <a:p>
            <a:pPr>
              <a:spcAft>
                <a:spcPts val="1000"/>
              </a:spcAft>
            </a:pPr>
            <a:r>
              <a:rPr sz="1500">
                <a:solidFill>
                  <a:srgbClr val="222B33"/>
                </a:solidFill>
                <a:latin typeface="Microsoft YaHei"/>
              </a:rPr>
              <a:t>▪ 测有机溶剂漏掉加水步骤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对照比色卡，在标签上记录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把测试区和比色卡对照读结果</a:t>
            </a:r>
          </a:p>
          <a:p>
            <a:pPr>
              <a:spcAft>
                <a:spcPts val="1000"/>
              </a:spcAft>
            </a:pPr>
            <a:r>
              <a:rPr sz="2000">
                <a:solidFill>
                  <a:srgbClr val="222B33"/>
                </a:solidFill>
                <a:latin typeface="Microsoft YaHei"/>
              </a:rPr>
              <a:t>▪ 测试区变蓝，说明有过氧化物</a:t>
            </a:r>
          </a:p>
          <a:p>
            <a:pPr>
              <a:spcAft>
                <a:spcPts val="1000"/>
              </a:spcAft>
            </a:pPr>
            <a:r>
              <a:rPr sz="2000">
                <a:solidFill>
                  <a:srgbClr val="222B33"/>
                </a:solidFill>
                <a:latin typeface="Microsoft YaHei"/>
              </a:rPr>
              <a:t>▪ 在专用标签上记下结果、日期和签名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把试纸测试区与试纸罐上的比色卡对照读出结果，测试区变蓝说明含有过氧化物，颜色越深含量越高。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测完不记录</a:t>
            </a:r>
          </a:p>
          <a:p>
            <a:pPr>
              <a:spcAft>
                <a:spcPts val="1000"/>
              </a:spcAft>
            </a:pPr>
            <a:r>
              <a:rPr sz="1500">
                <a:solidFill>
                  <a:srgbClr val="222B33"/>
                </a:solidFill>
                <a:latin typeface="Microsoft YaHei"/>
              </a:rPr>
              <a:t>▪ 只凭记忆判断上次什么时候测的</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超限停用，按危险废物处置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结果超出学校限值，立即停用</a:t>
            </a:r>
          </a:p>
          <a:p>
            <a:pPr>
              <a:spcAft>
                <a:spcPts val="1000"/>
              </a:spcAft>
            </a:pPr>
            <a:r>
              <a:rPr sz="2000">
                <a:solidFill>
                  <a:srgbClr val="222B33"/>
                </a:solidFill>
                <a:latin typeface="Microsoft YaHei"/>
              </a:rPr>
              <a:t>▪ 按危险废物交专业单位处置</a:t>
            </a:r>
          </a:p>
          <a:p>
            <a:pPr>
              <a:spcAft>
                <a:spcPts val="1000"/>
              </a:spcAft>
            </a:pPr>
            <a:r>
              <a:rPr sz="2000">
                <a:solidFill>
                  <a:srgbClr val="222B33"/>
                </a:solidFill>
                <a:latin typeface="Microsoft YaHei"/>
              </a:rPr>
              <a:t>▪ 不得自行处理，更不能倒下水道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检测结果超出学校规定限值的，立即停止使用，贴上停用标签，报告实验室负责人。限值以本校危险化学品管理规定为准。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超限了仍然“小心用”</a:t>
            </a:r>
          </a:p>
          <a:p>
            <a:pPr>
              <a:spcAft>
                <a:spcPts val="1000"/>
              </a:spcAft>
            </a:pPr>
            <a:r>
              <a:rPr sz="1500">
                <a:solidFill>
                  <a:srgbClr val="222B33"/>
                </a:solidFill>
                <a:latin typeface="Microsoft YaHei"/>
              </a:rPr>
              <a:t>▪ 自己倒进下水道冲掉</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化学品安全标签上“圆圈上方一团火焰”的象形图表示：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腐蚀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判断：氧化剂和还原剂可以放在同一个研钵里一起研磨，只要动作轻一些。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遇水放出易燃气体的物质，下列存放方式正确的是：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放在水池下方的柜子里</a:t>
            </a:r>
          </a:p>
          <a:p>
            <a:pPr algn="l"/>
            <a:r>
              <a:rPr sz="1500" b="0">
                <a:solidFill>
                  <a:srgbClr val="222B33"/>
                </a:solidFill>
                <a:latin typeface="Microsoft YaHei"/>
              </a:rPr>
              <a:t>B. 放在专门的防潮柜里，远离水源，事先评估消防设施</a:t>
            </a:r>
          </a:p>
          <a:p>
            <a:pPr algn="l"/>
            <a:r>
              <a:rPr sz="1500" b="0">
                <a:solidFill>
                  <a:srgbClr val="222B33"/>
                </a:solidFill>
                <a:latin typeface="Microsoft YaHei"/>
              </a:rPr>
              <a:t>C. 和酸放在一起</a:t>
            </a:r>
          </a:p>
          <a:p>
            <a:pPr algn="l"/>
            <a:r>
              <a:rPr sz="1500" b="0">
                <a:solidFill>
                  <a:srgbClr val="222B33"/>
                </a:solidFill>
                <a:latin typeface="Microsoft YaHei"/>
              </a:rPr>
              <a:t>D. 敞口放在通风柜里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阿杰在柜子深处发现一瓶乙醚，瓶口有白色结晶，正确的做法是：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拧开看看还能不能用</a:t>
            </a:r>
          </a:p>
          <a:p>
            <a:pPr algn="l"/>
            <a:r>
              <a:rPr sz="1500" b="0">
                <a:solidFill>
                  <a:srgbClr val="222B33"/>
                </a:solidFill>
                <a:latin typeface="Microsoft YaHei"/>
              </a:rPr>
              <a:t>B. 拿去蒸馏提纯</a:t>
            </a:r>
          </a:p>
          <a:p>
            <a:pPr algn="l"/>
            <a:r>
              <a:rPr sz="1500" b="0">
                <a:solidFill>
                  <a:srgbClr val="222B33"/>
                </a:solidFill>
                <a:latin typeface="Microsoft YaHei"/>
              </a:rPr>
              <a:t>C. 不开、不摇、不挪，就地隔离挂警示，报告实验室负责人</a:t>
            </a:r>
          </a:p>
          <a:p>
            <a:pPr algn="l"/>
            <a:r>
              <a:rPr sz="1500" b="0">
                <a:solidFill>
                  <a:srgbClr val="222B33"/>
                </a:solidFill>
                <a:latin typeface="Microsoft YaHei"/>
              </a:rPr>
              <a:t>D. 倒进下水道</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用试纸检测一瓶还要继续使用的四氢呋喃中的过氧化物，下列做法正确的是：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把试纸直接伸进原瓶</a:t>
            </a:r>
          </a:p>
          <a:p>
            <a:pPr algn="l"/>
            <a:r>
              <a:rPr sz="1500" b="0">
                <a:solidFill>
                  <a:srgbClr val="222B33"/>
                </a:solidFill>
                <a:latin typeface="Microsoft YaHei"/>
              </a:rPr>
              <a:t>B. 倒少量到小烧杯里测，按说明书完成全部步骤（含加水），对照比色卡并记录</a:t>
            </a:r>
          </a:p>
          <a:p>
            <a:pPr algn="l"/>
            <a:r>
              <a:rPr sz="1500" b="0">
                <a:solidFill>
                  <a:srgbClr val="222B33"/>
                </a:solidFill>
                <a:latin typeface="Microsoft YaHei"/>
              </a:rPr>
              <a:t>C. 不戴护目镜在台面上测</a:t>
            </a:r>
          </a:p>
          <a:p>
            <a:pPr algn="l"/>
            <a:r>
              <a:rPr sz="1500" b="0">
                <a:solidFill>
                  <a:srgbClr val="222B33"/>
                </a:solidFill>
                <a:latin typeface="Microsoft YaHei"/>
              </a:rPr>
              <a:t>D. 用过期试纸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简答：易形成过氧化物的化学品，日常管理要做到哪几点？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氧化剂会助燃，远离可燃物</a:t>
            </a:r>
          </a:p>
          <a:p>
            <a:pPr>
              <a:spcAft>
                <a:spcPts val="800"/>
              </a:spcAft>
            </a:pPr>
            <a:r>
              <a:rPr sz="1500">
                <a:solidFill>
                  <a:srgbClr val="FFFFFF"/>
                </a:solidFill>
                <a:latin typeface="Microsoft YaHei"/>
              </a:rPr>
              <a:t>▪ K2  氧化剂不和可燃物、还原剂一起研</a:t>
            </a:r>
          </a:p>
          <a:p>
            <a:pPr>
              <a:spcAft>
                <a:spcPts val="800"/>
              </a:spcAft>
            </a:pPr>
            <a:r>
              <a:rPr sz="1500">
                <a:solidFill>
                  <a:srgbClr val="FFFFFF"/>
                </a:solidFill>
                <a:latin typeface="Microsoft YaHei"/>
              </a:rPr>
              <a:t>▪ K3  不稳定物质：怕热怕光怕撞</a:t>
            </a:r>
          </a:p>
          <a:p>
            <a:pPr>
              <a:spcAft>
                <a:spcPts val="800"/>
              </a:spcAft>
            </a:pPr>
            <a:r>
              <a:rPr sz="1500">
                <a:solidFill>
                  <a:srgbClr val="FFFFFF"/>
                </a:solidFill>
                <a:latin typeface="Microsoft YaHei"/>
              </a:rPr>
              <a:t>▪ K4  小心混合：先查相容性，禁配隔开</a:t>
            </a:r>
          </a:p>
          <a:p>
            <a:pPr>
              <a:spcAft>
                <a:spcPts val="800"/>
              </a:spcAft>
            </a:pPr>
            <a:r>
              <a:rPr sz="1500">
                <a:solidFill>
                  <a:srgbClr val="FFFFFF"/>
                </a:solidFill>
                <a:latin typeface="Microsoft YaHei"/>
              </a:rPr>
              <a:t>▪ K5  遇水危险品：专柜存放，消防先评估</a:t>
            </a:r>
          </a:p>
          <a:p>
            <a:pPr>
              <a:spcAft>
                <a:spcPts val="800"/>
              </a:spcAft>
            </a:pPr>
            <a:r>
              <a:rPr sz="1500">
                <a:solidFill>
                  <a:srgbClr val="FFFFFF"/>
                </a:solidFill>
                <a:latin typeface="Microsoft YaHei"/>
              </a:rPr>
              <a:t>▪ S1  放热与失控反应：先评估，小量起步</a:t>
            </a:r>
          </a:p>
          <a:p>
            <a:pPr>
              <a:spcAft>
                <a:spcPts val="800"/>
              </a:spcAft>
            </a:pPr>
            <a:r>
              <a:rPr sz="1500">
                <a:solidFill>
                  <a:srgbClr val="FFFFFF"/>
                </a:solidFill>
                <a:latin typeface="Microsoft YaHei"/>
              </a:rPr>
              <a:t>▪ K6  自燃物品：工程控制加防护，结伴做</a:t>
            </a:r>
          </a:p>
          <a:p>
            <a:pPr>
              <a:spcAft>
                <a:spcPts val="800"/>
              </a:spcAft>
            </a:pPr>
            <a:r>
              <a:rPr sz="1500">
                <a:solidFill>
                  <a:srgbClr val="FFFFFF"/>
                </a:solidFill>
                <a:latin typeface="Microsoft YaHei"/>
              </a:rPr>
              <a:t>▪ K7  省掉一步，代价无法挽回</a:t>
            </a:r>
          </a:p>
          <a:p>
            <a:pPr>
              <a:spcAft>
                <a:spcPts val="800"/>
              </a:spcAft>
            </a:pPr>
            <a:r>
              <a:rPr sz="1500">
                <a:solidFill>
                  <a:srgbClr val="FFFFFF"/>
                </a:solidFill>
                <a:latin typeface="Microsoft YaHei"/>
              </a:rPr>
              <a:t>▪ K8  过氧化物形成物：久放会变得敏感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收货开封写日期，定期检测按期用完</a:t>
            </a:r>
          </a:p>
          <a:p>
            <a:pPr>
              <a:spcAft>
                <a:spcPts val="800"/>
              </a:spcAft>
            </a:pPr>
            <a:r>
              <a:rPr sz="1500">
                <a:solidFill>
                  <a:srgbClr val="FFFFFF"/>
                </a:solidFill>
                <a:latin typeface="Microsoft YaHei"/>
              </a:rPr>
              <a:t>▪ K10  盖紧避光，见结晶变色不打开</a:t>
            </a:r>
          </a:p>
          <a:p>
            <a:pPr>
              <a:spcAft>
                <a:spcPts val="800"/>
              </a:spcAft>
            </a:pPr>
            <a:r>
              <a:rPr sz="1500">
                <a:solidFill>
                  <a:srgbClr val="FFFFFF"/>
                </a:solidFill>
                <a:latin typeface="Microsoft YaHei"/>
              </a:rPr>
              <a:t>▪ K11  可疑容器：不开、不动、先报告</a:t>
            </a:r>
          </a:p>
          <a:p>
            <a:pPr>
              <a:spcAft>
                <a:spcPts val="800"/>
              </a:spcAft>
            </a:pPr>
            <a:r>
              <a:rPr sz="1500">
                <a:solidFill>
                  <a:srgbClr val="FFFFFF"/>
                </a:solidFill>
                <a:latin typeface="Microsoft YaHei"/>
              </a:rPr>
              <a:t>▪ K12  试纸检测：通风柜里，穿戴好防护</a:t>
            </a:r>
          </a:p>
          <a:p>
            <a:pPr>
              <a:spcAft>
                <a:spcPts val="800"/>
              </a:spcAft>
            </a:pPr>
            <a:r>
              <a:rPr sz="1500">
                <a:solidFill>
                  <a:srgbClr val="FFFFFF"/>
                </a:solidFill>
                <a:latin typeface="Microsoft YaHei"/>
              </a:rPr>
              <a:t>▪ K13  取试纸：够用就好，别碰测试区</a:t>
            </a:r>
          </a:p>
          <a:p>
            <a:pPr>
              <a:spcAft>
                <a:spcPts val="800"/>
              </a:spcAft>
            </a:pPr>
            <a:r>
              <a:rPr sz="1500">
                <a:solidFill>
                  <a:srgbClr val="FFFFFF"/>
                </a:solidFill>
                <a:latin typeface="Microsoft YaHei"/>
              </a:rPr>
              <a:t>▪ K14  非废液，另取少量来测</a:t>
            </a:r>
          </a:p>
          <a:p>
            <a:pPr>
              <a:spcAft>
                <a:spcPts val="800"/>
              </a:spcAft>
            </a:pPr>
            <a:r>
              <a:rPr sz="1500">
                <a:solidFill>
                  <a:srgbClr val="FFFFFF"/>
                </a:solidFill>
                <a:latin typeface="Microsoft YaHei"/>
              </a:rPr>
              <a:t>▪ K15  按说明书完成全部步骤，别漏加水</a:t>
            </a:r>
          </a:p>
          <a:p>
            <a:pPr>
              <a:spcAft>
                <a:spcPts val="800"/>
              </a:spcAft>
            </a:pPr>
            <a:r>
              <a:rPr sz="1500">
                <a:solidFill>
                  <a:srgbClr val="FFFFFF"/>
                </a:solidFill>
                <a:latin typeface="Microsoft YaHei"/>
              </a:rPr>
              <a:t>▪ K16  对照比色卡，在标签上记录</a:t>
            </a:r>
          </a:p>
          <a:p>
            <a:pPr>
              <a:spcAft>
                <a:spcPts val="800"/>
              </a:spcAft>
            </a:pPr>
            <a:r>
              <a:rPr sz="1500">
                <a:solidFill>
                  <a:srgbClr val="FFFFFF"/>
                </a:solidFill>
                <a:latin typeface="Microsoft YaHei"/>
              </a:rPr>
              <a:t>▪ K17  超限停用，按危险废物处置</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酸碱腐蚀品安全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适用对象：全体使用酸、碱等腐蚀性化学品的高校本科生、研究生和教职工（必修）；化学、化工、材料、生物、环境、农学等专业重点学习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能说出强酸、强碱、脱水剂等腐蚀品对皮肤、眼睛和金属的危害，能判断碱溅入眼睛尤其严重。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能做到使用前读安全技术说明书、始终穿戴护目镜、实验服和耐酸碱手套，量大易溅时加戴面屏。</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能做到稀释时“酸入水”、在通风柜里慢慢加并搅拌散热，浓酸少量取用、瓶口不对人、不在高于视线处倾倒，滴加时容器放稳、脸不凑近。</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能做到酸碱分开、碱液用塑料瓶、腐蚀品放低处和托盘里进专柜；溅到皮肤或眼睛立即冲洗、报告并就医。</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日起施行）及《危险化学品安全管理条例》（以现行文本为准）：学校、科研机构使用危险化学品的安全责任，按安全技术说明书和安全标签要求使用和储存</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系列（以现行文本为准）《化学品分类和标签规范》：金属腐蚀物、皮肤腐蚀/刺激、严重眼损伤/眼刺激的分类和腐蚀象形图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内容和项目顺序》：危险性概述、急救措施、操作处置与储存、个体防护</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15603-2022（以现行文本为准）《危险化学品仓库储存通则》：按性质分类储存，酸碱等禁配物不得混存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14866-2023（以现行文本为准）《眼面防护具通用技术规范》：护目镜、面屏的选用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化学品及微生物防护手套》：耐化学品手套的选用</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应急喷淋和洗眼设备》：洗眼器和紧急喷淋的配置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号，以现行文本为准）及高校实验室安全检查项目表、本校危险化学品管理制度</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腐蚀品伤皮肤，更伤眼睛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腐蚀象形图表示腐蚀性</a:t>
            </a:r>
          </a:p>
          <a:p>
            <a:pPr>
              <a:spcAft>
                <a:spcPts val="1000"/>
              </a:spcAft>
            </a:pPr>
            <a:r>
              <a:rPr sz="1700">
                <a:solidFill>
                  <a:srgbClr val="222B33"/>
                </a:solidFill>
                <a:latin typeface="Microsoft YaHei"/>
              </a:rPr>
              <a:t>▪ 强酸、强碱、脱水剂、部分氧化剂都有腐蚀性</a:t>
            </a:r>
          </a:p>
          <a:p>
            <a:pPr>
              <a:spcAft>
                <a:spcPts val="1000"/>
              </a:spcAft>
            </a:pPr>
            <a:r>
              <a:rPr sz="1700">
                <a:solidFill>
                  <a:srgbClr val="222B33"/>
                </a:solidFill>
                <a:latin typeface="Microsoft YaHei"/>
              </a:rPr>
              <a:t>▪ 对皮肤和眼睛伤害最重，酸灼伤疼、愈合慢</a:t>
            </a:r>
          </a:p>
          <a:p>
            <a:pPr>
              <a:spcAft>
                <a:spcPts val="1000"/>
              </a:spcAft>
            </a:pPr>
            <a:r>
              <a:rPr sz="1700">
                <a:solidFill>
                  <a:srgbClr val="222B33"/>
                </a:solidFill>
                <a:latin typeface="Microsoft YaHei"/>
              </a:rPr>
              <a:t>▪ 碱溅进眼睛，损伤往往更严重</a:t>
            </a:r>
          </a:p>
          <a:p>
            <a:pPr>
              <a:spcAft>
                <a:spcPts val="1000"/>
              </a:spcAft>
            </a:pPr>
            <a:r>
              <a:rPr sz="1700">
                <a:solidFill>
                  <a:srgbClr val="222B33"/>
                </a:solidFill>
                <a:latin typeface="Microsoft YaHei"/>
              </a:rPr>
              <a:t>▪ 腐蚀品还会腐蚀金属和设备</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化学品安全标签上红色菱形框内“液体滴到手和金属上被腐蚀”的象形图表示腐蚀性（GB 30000 系列）。硫酸、盐酸、硝酸等强酸，氢氧化钠、氢氧化钾等强碱，浓硫酸等脱水剂以及部分氧化剂都具有腐蚀性。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以为稀酸稀碱不伤人</a:t>
            </a:r>
          </a:p>
          <a:p>
            <a:pPr>
              <a:spcAft>
                <a:spcPts val="1000"/>
              </a:spcAft>
            </a:pPr>
            <a:r>
              <a:rPr sz="1500">
                <a:solidFill>
                  <a:srgbClr val="222B33"/>
                </a:solidFill>
                <a:latin typeface="Microsoft YaHei"/>
              </a:rPr>
              <a:t>▪ 认为碱比酸“温和”</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先读说明书，始终穿戴防护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用之前先读安全技术说明书</a:t>
            </a:r>
          </a:p>
          <a:p>
            <a:pPr>
              <a:spcAft>
                <a:spcPts val="1000"/>
              </a:spcAft>
            </a:pPr>
            <a:r>
              <a:rPr sz="1700">
                <a:solidFill>
                  <a:srgbClr val="222B33"/>
                </a:solidFill>
                <a:latin typeface="Microsoft YaHei"/>
              </a:rPr>
              <a:t>▪ 熟悉本校安全手册和操作规程</a:t>
            </a:r>
          </a:p>
          <a:p>
            <a:pPr>
              <a:spcAft>
                <a:spcPts val="1000"/>
              </a:spcAft>
            </a:pPr>
            <a:r>
              <a:rPr sz="1700">
                <a:solidFill>
                  <a:srgbClr val="222B33"/>
                </a:solidFill>
                <a:latin typeface="Microsoft YaHei"/>
              </a:rPr>
              <a:t>▪ 护目镜、实验服、耐酸碱手套</a:t>
            </a:r>
          </a:p>
          <a:p>
            <a:pPr>
              <a:spcAft>
                <a:spcPts val="1000"/>
              </a:spcAft>
            </a:pPr>
            <a:r>
              <a:rPr sz="1700">
                <a:solidFill>
                  <a:srgbClr val="222B33"/>
                </a:solidFill>
                <a:latin typeface="Microsoft YaHei"/>
              </a:rPr>
              <a:t>▪ 量大或容易溅时，再加戴面屏</a:t>
            </a:r>
          </a:p>
          <a:p>
            <a:pPr>
              <a:spcAft>
                <a:spcPts val="1000"/>
              </a:spcAft>
            </a:pPr>
            <a:r>
              <a:rPr sz="1700">
                <a:solidFill>
                  <a:srgbClr val="222B33"/>
                </a:solidFill>
                <a:latin typeface="Microsoft YaHei"/>
              </a:rPr>
              <a:t>▪ 配培养基调酸碱，也要戴护目镜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使用腐蚀品之前，先阅读安全技术说明书，了解成分、性质、危害、个体防护和急救措施（见第 041 课），并熟悉本校实验室安全手册和本实验室的操作规程。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只做“一点点”就不戴护目镜</a:t>
            </a:r>
          </a:p>
          <a:p>
            <a:pPr>
              <a:spcAft>
                <a:spcPts val="1000"/>
              </a:spcAft>
            </a:pPr>
            <a:r>
              <a:rPr sz="1500">
                <a:solidFill>
                  <a:srgbClr val="222B33"/>
                </a:solidFill>
                <a:latin typeface="Microsoft YaHei"/>
              </a:rPr>
              <a:t>▪ 用一次性薄手套长时间接触浓酸碱</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稀释酸碱：酸入水，不能反过来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稀释酸碱，把酸加进水里</a:t>
            </a:r>
          </a:p>
          <a:p>
            <a:pPr>
              <a:spcAft>
                <a:spcPts val="1000"/>
              </a:spcAft>
            </a:pPr>
            <a:r>
              <a:rPr sz="1700">
                <a:solidFill>
                  <a:srgbClr val="222B33"/>
                </a:solidFill>
                <a:latin typeface="Microsoft YaHei"/>
              </a:rPr>
              <a:t>▪ 反过来倒，会剧烈放热、溅出伤人</a:t>
            </a:r>
          </a:p>
          <a:p>
            <a:pPr>
              <a:spcAft>
                <a:spcPts val="1000"/>
              </a:spcAft>
            </a:pPr>
            <a:r>
              <a:rPr sz="1700">
                <a:solidFill>
                  <a:srgbClr val="222B33"/>
                </a:solidFill>
                <a:latin typeface="Microsoft YaHei"/>
              </a:rPr>
              <a:t>▪ 先放水，再慢慢加酸</a:t>
            </a:r>
          </a:p>
          <a:p>
            <a:pPr>
              <a:spcAft>
                <a:spcPts val="1000"/>
              </a:spcAft>
            </a:pPr>
            <a:r>
              <a:rPr sz="1700">
                <a:solidFill>
                  <a:srgbClr val="222B33"/>
                </a:solidFill>
                <a:latin typeface="Microsoft YaHei"/>
              </a:rPr>
              <a:t>▪ 固体碱溶解也放热，同样慢慢加</a:t>
            </a:r>
          </a:p>
          <a:p>
            <a:pPr>
              <a:spcAft>
                <a:spcPts val="1000"/>
              </a:spcAft>
            </a:pPr>
            <a:r>
              <a:rPr sz="1700">
                <a:solidFill>
                  <a:srgbClr val="222B33"/>
                </a:solidFill>
                <a:latin typeface="Microsoft YaHei"/>
              </a:rPr>
              <a:t>▪ 专心操作，别边聊边干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浓酸（特别是浓硫酸）溶于水会放出大量的热。正确做法是“酸入水”：先在容器中放好水，再把酸缓慢地加入水中。如果把水倒进浓酸里，少量水在酸表面迅速沸腾，会把酸液溅出伤人。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往浓酸里倒水</a:t>
            </a:r>
          </a:p>
          <a:p>
            <a:pPr>
              <a:spcAft>
                <a:spcPts val="1000"/>
              </a:spcAft>
            </a:pPr>
            <a:r>
              <a:rPr sz="1500">
                <a:solidFill>
                  <a:srgbClr val="222B33"/>
                </a:solidFill>
                <a:latin typeface="Microsoft YaHei"/>
              </a:rPr>
              <a:t>▪ 一次把酸全部倒进去</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在通风柜里慢慢加，边加边搅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稀释浓酸在通风柜里做</a:t>
            </a:r>
          </a:p>
          <a:p>
            <a:pPr>
              <a:spcAft>
                <a:spcPts val="1000"/>
              </a:spcAft>
            </a:pPr>
            <a:r>
              <a:rPr sz="2000">
                <a:solidFill>
                  <a:srgbClr val="222B33"/>
                </a:solidFill>
                <a:latin typeface="Microsoft YaHei"/>
              </a:rPr>
              <a:t>▪ 浓溶液和挥发性溶剂都在通风柜里取用</a:t>
            </a:r>
          </a:p>
          <a:p>
            <a:pPr>
              <a:spcAft>
                <a:spcPts val="1000"/>
              </a:spcAft>
            </a:pPr>
            <a:r>
              <a:rPr sz="2000">
                <a:solidFill>
                  <a:srgbClr val="222B33"/>
                </a:solidFill>
                <a:latin typeface="Microsoft YaHei"/>
              </a:rPr>
              <a:t>▪ 慢慢加，边加边搅，让热量散开</a:t>
            </a:r>
          </a:p>
          <a:p>
            <a:pPr>
              <a:spcAft>
                <a:spcPts val="1000"/>
              </a:spcAft>
            </a:pPr>
            <a:r>
              <a:rPr sz="2000">
                <a:solidFill>
                  <a:srgbClr val="222B33"/>
                </a:solidFill>
                <a:latin typeface="Microsoft YaHei"/>
              </a:rPr>
              <a:t>▪ 容器明显变热就停一停再加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浓盐酸、浓硝酸等会挥发出刺激性、腐蚀性气体，稀释和取用浓溶液、挥发性溶剂都应在通风柜里进行，柜门拉到合适高度（通风柜使用见第 052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在开放台面上稀释浓酸</a:t>
            </a:r>
          </a:p>
          <a:p>
            <a:pPr>
              <a:spcAft>
                <a:spcPts val="1000"/>
              </a:spcAft>
            </a:pPr>
            <a:r>
              <a:rPr sz="1500">
                <a:solidFill>
                  <a:srgbClr val="222B33"/>
                </a:solidFill>
                <a:latin typeface="Microsoft YaHei"/>
              </a:rPr>
              <a:t>▪ 不搅拌，热量集中导致局部沸腾</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浓酸取用：少量取，瓶口不对人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浓酸用滴管或移液器少量取</a:t>
            </a:r>
          </a:p>
          <a:p>
            <a:pPr>
              <a:spcAft>
                <a:spcPts val="1000"/>
              </a:spcAft>
            </a:pPr>
            <a:r>
              <a:rPr sz="2000">
                <a:solidFill>
                  <a:srgbClr val="222B33"/>
                </a:solidFill>
                <a:latin typeface="Microsoft YaHei"/>
              </a:rPr>
              <a:t>▪ 瓶口不对着自己和别人</a:t>
            </a:r>
          </a:p>
          <a:p>
            <a:pPr>
              <a:spcAft>
                <a:spcPts val="1000"/>
              </a:spcAft>
            </a:pPr>
            <a:r>
              <a:rPr sz="2000">
                <a:solidFill>
                  <a:srgbClr val="222B33"/>
                </a:solidFill>
                <a:latin typeface="Microsoft YaHei"/>
              </a:rPr>
              <a:t>▪ 不在高于视线的位置倾倒</a:t>
            </a:r>
          </a:p>
          <a:p>
            <a:pPr>
              <a:spcAft>
                <a:spcPts val="1000"/>
              </a:spcAft>
            </a:pPr>
            <a:r>
              <a:rPr sz="2000">
                <a:solidFill>
                  <a:srgbClr val="222B33"/>
                </a:solidFill>
                <a:latin typeface="Microsoft YaHei"/>
              </a:rPr>
              <a:t>▪ 反应液加水也要慢，防止放热飞溅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取用浓酸时，按需要量用滴管或合适的移液工具少量取用，不直接从大瓶往小容器里猛倒。打开瓶盖和倾倒时，瓶口不对着自己和他人。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把酸瓶举过头顶看液面</a:t>
            </a:r>
          </a:p>
          <a:p>
            <a:pPr>
              <a:spcAft>
                <a:spcPts val="1000"/>
              </a:spcAft>
            </a:pPr>
            <a:r>
              <a:rPr sz="1500">
                <a:solidFill>
                  <a:srgbClr val="222B33"/>
                </a:solidFill>
                <a:latin typeface="Microsoft YaHei"/>
              </a:rPr>
              <a:t>▪ 打开瓶盖时瓶口对着脸</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滴加放稳，脸不凑近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滴加时容器要放稳</a:t>
            </a:r>
          </a:p>
          <a:p>
            <a:pPr>
              <a:spcAft>
                <a:spcPts val="1000"/>
              </a:spcAft>
            </a:pPr>
            <a:r>
              <a:rPr sz="2000">
                <a:solidFill>
                  <a:srgbClr val="222B33"/>
                </a:solidFill>
                <a:latin typeface="Microsoft YaHei"/>
              </a:rPr>
              <a:t>▪ 脸不要凑近容器口</a:t>
            </a:r>
          </a:p>
          <a:p>
            <a:pPr>
              <a:spcAft>
                <a:spcPts val="1000"/>
              </a:spcAft>
            </a:pPr>
            <a:r>
              <a:rPr sz="2000">
                <a:solidFill>
                  <a:srgbClr val="222B33"/>
                </a:solidFill>
                <a:latin typeface="Microsoft YaHei"/>
              </a:rPr>
              <a:t>▪ 调酸碱度，逐滴加，边加边搅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滴加酸碱或调节 pH 时，容器放在稳固的台面或用铁架台固定，不用手悬空端着操作，防止打翻。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一手端烧杯一手滴加</a:t>
            </a:r>
          </a:p>
          <a:p>
            <a:pPr>
              <a:spcAft>
                <a:spcPts val="1000"/>
              </a:spcAft>
            </a:pPr>
            <a:r>
              <a:rPr sz="1500">
                <a:solidFill>
                  <a:srgbClr val="222B33"/>
                </a:solidFill>
                <a:latin typeface="Microsoft YaHei"/>
              </a:rPr>
              <a:t>▪ 低头凑到烧杯口闻或看</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酸碱分开放，碱液用塑料瓶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酸和碱分开存放</a:t>
            </a:r>
          </a:p>
          <a:p>
            <a:pPr>
              <a:spcAft>
                <a:spcPts val="1000"/>
              </a:spcAft>
            </a:pPr>
            <a:r>
              <a:rPr sz="2000">
                <a:solidFill>
                  <a:srgbClr val="222B33"/>
                </a:solidFill>
                <a:latin typeface="Microsoft YaHei"/>
              </a:rPr>
              <a:t>▪ 碱液用塑料瓶</a:t>
            </a:r>
          </a:p>
          <a:p>
            <a:pPr>
              <a:spcAft>
                <a:spcPts val="1000"/>
              </a:spcAft>
            </a:pPr>
            <a:r>
              <a:rPr sz="2000">
                <a:solidFill>
                  <a:srgbClr val="222B33"/>
                </a:solidFill>
                <a:latin typeface="Microsoft YaHei"/>
              </a:rPr>
              <a:t>▪ 别用磨口玻璃塞，会粘住打不开</a:t>
            </a:r>
          </a:p>
          <a:p>
            <a:pPr>
              <a:spcAft>
                <a:spcPts val="1000"/>
              </a:spcAft>
            </a:pPr>
            <a:r>
              <a:rPr sz="2000">
                <a:solidFill>
                  <a:srgbClr val="222B33"/>
                </a:solidFill>
                <a:latin typeface="Microsoft YaHei"/>
              </a:rPr>
              <a:t>▪ 标签写清名称和浓度，瓶盖拧紧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酸和碱相互接触会剧烈反应放热，存放时要分柜或分格隔开（储存相容性见第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酸碱放在同一个托盘里</a:t>
            </a:r>
          </a:p>
          <a:p>
            <a:pPr>
              <a:spcAft>
                <a:spcPts val="1000"/>
              </a:spcAft>
            </a:pPr>
            <a:r>
              <a:rPr sz="1500">
                <a:solidFill>
                  <a:srgbClr val="222B33"/>
                </a:solidFill>
                <a:latin typeface="Microsoft YaHei"/>
              </a:rPr>
              <a:t>▪ 自配溶液不贴标签</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腐蚀品存低处，放托盘进专柜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腐蚀品放低处，不高过视线</a:t>
            </a:r>
          </a:p>
          <a:p>
            <a:pPr>
              <a:spcAft>
                <a:spcPts val="1000"/>
              </a:spcAft>
            </a:pPr>
            <a:r>
              <a:rPr sz="2000">
                <a:solidFill>
                  <a:srgbClr val="222B33"/>
                </a:solidFill>
                <a:latin typeface="Microsoft YaHei"/>
              </a:rPr>
              <a:t>▪ 放在耐腐蚀托盘里，漏了也能兜住</a:t>
            </a:r>
          </a:p>
          <a:p>
            <a:pPr>
              <a:spcAft>
                <a:spcPts val="1000"/>
              </a:spcAft>
            </a:pPr>
            <a:r>
              <a:rPr sz="2000">
                <a:solidFill>
                  <a:srgbClr val="222B33"/>
                </a:solidFill>
                <a:latin typeface="Microsoft YaHei"/>
              </a:rPr>
              <a:t>▪ 氧化性的酸和有机物分开放</a:t>
            </a:r>
          </a:p>
          <a:p>
            <a:pPr>
              <a:spcAft>
                <a:spcPts val="1000"/>
              </a:spcAft>
            </a:pPr>
            <a:r>
              <a:rPr sz="2000">
                <a:solidFill>
                  <a:srgbClr val="222B33"/>
                </a:solidFill>
                <a:latin typeface="Microsoft YaHei"/>
              </a:rPr>
              <a:t>▪ 放进腐蚀品柜，远离金属设备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腐蚀品存放在柜子下层，不放在高过视线的架子上，取放时不会因失手而从高处洒落到脸上。瓶子放在耐腐蚀的托盘或二次容器里，万一泄漏能兜住，不扩散。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把酸瓶放在最高一层架子上</a:t>
            </a:r>
          </a:p>
          <a:p>
            <a:pPr>
              <a:spcAft>
                <a:spcPts val="1000"/>
              </a:spcAft>
            </a:pPr>
            <a:r>
              <a:rPr sz="1500">
                <a:solidFill>
                  <a:srgbClr val="222B33"/>
                </a:solidFill>
                <a:latin typeface="Microsoft YaHei"/>
              </a:rPr>
              <a:t>▪ 腐蚀品放在普通金属柜里不加托盘</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溅到就冲，报告就医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溅到皮肤，立即用大量流水冲洗</a:t>
            </a:r>
          </a:p>
          <a:p>
            <a:pPr>
              <a:spcAft>
                <a:spcPts val="1000"/>
              </a:spcAft>
            </a:pPr>
            <a:r>
              <a:rPr sz="2000">
                <a:solidFill>
                  <a:srgbClr val="222B33"/>
                </a:solidFill>
                <a:latin typeface="Microsoft YaHei"/>
              </a:rPr>
              <a:t>▪ 边冲边脱掉被污染的衣物</a:t>
            </a:r>
          </a:p>
          <a:p>
            <a:pPr>
              <a:spcAft>
                <a:spcPts val="1000"/>
              </a:spcAft>
            </a:pPr>
            <a:r>
              <a:rPr sz="2000">
                <a:solidFill>
                  <a:srgbClr val="222B33"/>
                </a:solidFill>
                <a:latin typeface="Microsoft YaHei"/>
              </a:rPr>
              <a:t>▪ 溅进眼睛，马上到洗眼器冲洗，撑开眼皮</a:t>
            </a:r>
          </a:p>
          <a:p>
            <a:pPr>
              <a:spcAft>
                <a:spcPts val="1000"/>
              </a:spcAft>
            </a:pPr>
            <a:r>
              <a:rPr sz="2000">
                <a:solidFill>
                  <a:srgbClr val="222B33"/>
                </a:solidFill>
                <a:latin typeface="Microsoft YaHei"/>
              </a:rPr>
              <a:t>▪ 报告老师，需要时拨打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先找中和剂而不是立即冲水</a:t>
            </a:r>
          </a:p>
          <a:p>
            <a:pPr>
              <a:spcAft>
                <a:spcPts val="1000"/>
              </a:spcAft>
            </a:pPr>
            <a:r>
              <a:rPr sz="1500">
                <a:solidFill>
                  <a:srgbClr val="222B33"/>
                </a:solidFill>
                <a:latin typeface="Microsoft YaHei"/>
              </a:rPr>
              <a:t>▪ 冲几秒钟觉得不疼就停</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稀释浓硫酸，正确的操作是：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把水快速倒进浓硫酸</a:t>
            </a:r>
          </a:p>
          <a:p>
            <a:pPr algn="l"/>
            <a:r>
              <a:rPr sz="1500" b="0">
                <a:solidFill>
                  <a:srgbClr val="222B33"/>
                </a:solidFill>
                <a:latin typeface="Microsoft YaHei"/>
              </a:rPr>
              <a:t>B. 把浓硫酸缓慢加入水中，边加边搅拌</a:t>
            </a:r>
          </a:p>
          <a:p>
            <a:pPr algn="l"/>
            <a:r>
              <a:rPr sz="1500" b="0">
                <a:solidFill>
                  <a:srgbClr val="222B33"/>
                </a:solidFill>
                <a:latin typeface="Microsoft YaHei"/>
              </a:rPr>
              <a:t>C. 一次把酸和水倒进同一个容器</a:t>
            </a:r>
          </a:p>
          <a:p>
            <a:pPr algn="l"/>
            <a:r>
              <a:rPr sz="1500" b="0">
                <a:solidFill>
                  <a:srgbClr val="222B33"/>
                </a:solidFill>
                <a:latin typeface="Microsoft YaHei"/>
              </a:rPr>
              <a:t>D. 在量筒里直接稀释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判断：碱溅入眼睛比酸温和，用纸巾擦干即可。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关于碱液的存放，下列说法正确的是：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用磨口玻璃塞的玻璃瓶</a:t>
            </a:r>
          </a:p>
          <a:p>
            <a:pPr algn="l"/>
            <a:r>
              <a:rPr sz="1500" b="0">
                <a:solidFill>
                  <a:srgbClr val="222B33"/>
                </a:solidFill>
                <a:latin typeface="Microsoft YaHei"/>
              </a:rPr>
              <a:t>B. 用塑料瓶，写清名称和浓度，和酸分开存放</a:t>
            </a:r>
          </a:p>
          <a:p>
            <a:pPr algn="l"/>
            <a:r>
              <a:rPr sz="1500" b="0">
                <a:solidFill>
                  <a:srgbClr val="222B33"/>
                </a:solidFill>
                <a:latin typeface="Microsoft YaHei"/>
              </a:rPr>
              <a:t>C. 和酸放在同一托盘</a:t>
            </a:r>
          </a:p>
          <a:p>
            <a:pPr algn="l"/>
            <a:r>
              <a:rPr sz="1500" b="0">
                <a:solidFill>
                  <a:srgbClr val="222B33"/>
                </a:solidFill>
                <a:latin typeface="Microsoft YaHei"/>
              </a:rPr>
              <a:t>D. 放在最高一层架子上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取用浓酸时，下列做法错误的是：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用滴管少量取用</a:t>
            </a:r>
          </a:p>
          <a:p>
            <a:pPr algn="l"/>
            <a:r>
              <a:rPr sz="1500" b="0">
                <a:solidFill>
                  <a:srgbClr val="222B33"/>
                </a:solidFill>
                <a:latin typeface="Microsoft YaHei"/>
              </a:rPr>
              <a:t>B. 瓶口不对着人</a:t>
            </a:r>
          </a:p>
          <a:p>
            <a:pPr algn="l"/>
            <a:r>
              <a:rPr sz="1500" b="0">
                <a:solidFill>
                  <a:srgbClr val="222B33"/>
                </a:solidFill>
                <a:latin typeface="Microsoft YaHei"/>
              </a:rPr>
              <a:t>C. 把酸瓶举到眼睛以上倾倒</a:t>
            </a:r>
          </a:p>
          <a:p>
            <a:pPr algn="l"/>
            <a:r>
              <a:rPr sz="1500" b="0">
                <a:solidFill>
                  <a:srgbClr val="222B33"/>
                </a:solidFill>
                <a:latin typeface="Microsoft YaHei"/>
              </a:rPr>
              <a:t>D. 在通风柜里操作</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简答：浓碱溶液溅到前臂上，应该怎么做？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腐蚀品伤皮肤，更伤眼睛</a:t>
            </a:r>
          </a:p>
          <a:p>
            <a:pPr>
              <a:spcAft>
                <a:spcPts val="800"/>
              </a:spcAft>
            </a:pPr>
            <a:r>
              <a:rPr sz="1800">
                <a:solidFill>
                  <a:srgbClr val="FFFFFF"/>
                </a:solidFill>
                <a:latin typeface="Microsoft YaHei"/>
              </a:rPr>
              <a:t>▪ K2  先读说明书，始终穿戴防护</a:t>
            </a:r>
          </a:p>
          <a:p>
            <a:pPr>
              <a:spcAft>
                <a:spcPts val="800"/>
              </a:spcAft>
            </a:pPr>
            <a:r>
              <a:rPr sz="1800">
                <a:solidFill>
                  <a:srgbClr val="FFFFFF"/>
                </a:solidFill>
                <a:latin typeface="Microsoft YaHei"/>
              </a:rPr>
              <a:t>▪ K3  稀释酸碱：酸入水，不能反过来</a:t>
            </a:r>
          </a:p>
          <a:p>
            <a:pPr>
              <a:spcAft>
                <a:spcPts val="800"/>
              </a:spcAft>
            </a:pPr>
            <a:r>
              <a:rPr sz="1800">
                <a:solidFill>
                  <a:srgbClr val="FFFFFF"/>
                </a:solidFill>
                <a:latin typeface="Microsoft YaHei"/>
              </a:rPr>
              <a:t>▪ K4  在通风柜里慢慢加，边加边搅</a:t>
            </a:r>
          </a:p>
          <a:p>
            <a:pPr>
              <a:spcAft>
                <a:spcPts val="800"/>
              </a:spcAft>
            </a:pPr>
            <a:r>
              <a:rPr sz="1800">
                <a:solidFill>
                  <a:srgbClr val="FFFFFF"/>
                </a:solidFill>
                <a:latin typeface="Microsoft YaHei"/>
              </a:rPr>
              <a:t>▪ K5  浓酸取用：少量取，瓶口不对人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滴加放稳，脸不凑近</a:t>
            </a:r>
          </a:p>
          <a:p>
            <a:pPr>
              <a:spcAft>
                <a:spcPts val="800"/>
              </a:spcAft>
            </a:pPr>
            <a:r>
              <a:rPr sz="1800">
                <a:solidFill>
                  <a:srgbClr val="FFFFFF"/>
                </a:solidFill>
                <a:latin typeface="Microsoft YaHei"/>
              </a:rPr>
              <a:t>▪ K7  酸碱分开放，碱液用塑料瓶</a:t>
            </a:r>
          </a:p>
          <a:p>
            <a:pPr>
              <a:spcAft>
                <a:spcPts val="800"/>
              </a:spcAft>
            </a:pPr>
            <a:r>
              <a:rPr sz="1800">
                <a:solidFill>
                  <a:srgbClr val="FFFFFF"/>
                </a:solidFill>
                <a:latin typeface="Microsoft YaHei"/>
              </a:rPr>
              <a:t>▪ S1  腐蚀品存低处，放托盘进专柜</a:t>
            </a:r>
          </a:p>
          <a:p>
            <a:pPr>
              <a:spcAft>
                <a:spcPts val="800"/>
              </a:spcAft>
            </a:pPr>
            <a:r>
              <a:rPr sz="1800">
                <a:solidFill>
                  <a:srgbClr val="FFFFFF"/>
                </a:solidFill>
                <a:latin typeface="Microsoft YaHei"/>
              </a:rPr>
              <a:t>▪ K8  溅到就冲，报告就医</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重点毒害品安全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适用对象：使用甲醛、戊二醛、二氯甲烷、汞、铬盐等毒害化学品的高校本科生、研究生和教职工（必修）；医学、生命科学、化学、化工、材料、环境等专业重点学习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能说出甲醛、戊二醛、二氯甲烷、汞和六价铬盐的主要急性和慢性危害，能判断哪些属于致癌物或致敏物。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能做到使用前培训、读标签和安全技术说明书、做风险评估，在通风柜里开瓶、量取、配制和浓缩，选用合适的个人防护，密闭储存、少量领用。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能说出职业接触限值、呼吸带采样监测和职业健康检查的作用，知道限值按国家职业卫生标准执行。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能做到出现头晕、刺激等症状立即离开、报告并就医；汞洒落时不碰、不扫、不吸，隔离通风并报告。</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《中华人民共和国职业病防治法》：职业病危害因素检测、告知，劳动者培训和职业健康检查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188（以现行文本为准）《职业健康监护技术规范》：上岗前、在岗期间、离岗时职业健康检查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日起施行）及《危险化学品安全管理条例》（以现行文本为准）：学校、科研机构使用危险化学品的安全责任，中文安全技术说明书和安全标签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系列（以现行文本为准）《化学品分类和标签规范》：急性毒性、致癌性、呼吸或皮肤致敏、特异性靶器官毒性的分类和象形图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内容和项目顺序》：危险性概述、接触控制和个体防护、毒理学信息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《国家危险废物名录》（以现行文本为准）：含汞、含铬废物及废弃毒害化学品按危险废物收集处置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号，以现行文本为准）及高校实验室安全检查项目表、本校危险化学品和职业健康管理制度</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甲醛和戊二醛：常用而有毒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甲醛和戊二醛都是有毒的醛</a:t>
            </a:r>
          </a:p>
          <a:p>
            <a:pPr>
              <a:spcAft>
                <a:spcPts val="1000"/>
              </a:spcAft>
            </a:pPr>
            <a:r>
              <a:rPr sz="2000">
                <a:solidFill>
                  <a:srgbClr val="222B33"/>
                </a:solidFill>
                <a:latin typeface="Microsoft YaHei"/>
              </a:rPr>
              <a:t>▪ 常用来固定标本、消毒器械</a:t>
            </a:r>
          </a:p>
          <a:p>
            <a:pPr>
              <a:spcAft>
                <a:spcPts val="1000"/>
              </a:spcAft>
            </a:pPr>
            <a:r>
              <a:rPr sz="2000">
                <a:solidFill>
                  <a:srgbClr val="222B33"/>
                </a:solidFill>
                <a:latin typeface="Microsoft YaHei"/>
              </a:rPr>
              <a:t>▪ 甲醛很常见，危害却格外特殊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甲醛（福尔马林是它的水溶液）常用于固定组织和动物标本、病理制片；戊二醛常用于器械消毒和电镜样品固定。两者在医学、生命科学实验室中非常常见。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把标本罐当普通容器随手打开</a:t>
            </a:r>
          </a:p>
          <a:p>
            <a:pPr>
              <a:spcAft>
                <a:spcPts val="1000"/>
              </a:spcAft>
            </a:pPr>
            <a:r>
              <a:rPr sz="1500">
                <a:solidFill>
                  <a:srgbClr val="222B33"/>
                </a:solidFill>
                <a:latin typeface="Microsoft YaHei"/>
              </a:rPr>
              <a:t>▪ 以为消毒液都是低毒的</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一接触就刺激：皮肤、眼睛、呼吸道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皮肤、眼睛、黏膜一接触就受刺激</a:t>
            </a:r>
          </a:p>
          <a:p>
            <a:pPr>
              <a:spcAft>
                <a:spcPts val="1000"/>
              </a:spcAft>
            </a:pPr>
            <a:r>
              <a:rPr sz="2000">
                <a:solidFill>
                  <a:srgbClr val="222B33"/>
                </a:solidFill>
                <a:latin typeface="Microsoft YaHei"/>
              </a:rPr>
              <a:t>▪ 轻则发红刺痛，重则灼伤</a:t>
            </a:r>
          </a:p>
          <a:p>
            <a:pPr>
              <a:spcAft>
                <a:spcPts val="1000"/>
              </a:spcAft>
            </a:pPr>
            <a:r>
              <a:rPr sz="2000">
                <a:solidFill>
                  <a:srgbClr val="222B33"/>
                </a:solidFill>
                <a:latin typeface="Microsoft YaHei"/>
              </a:rPr>
              <a:t>▪ 吸入蒸气会咳嗽、恶心，引发喉炎、哮喘</a:t>
            </a:r>
          </a:p>
          <a:p>
            <a:pPr>
              <a:spcAft>
                <a:spcPts val="1000"/>
              </a:spcAft>
            </a:pPr>
            <a:r>
              <a:rPr sz="2000">
                <a:solidFill>
                  <a:srgbClr val="222B33"/>
                </a:solidFill>
                <a:latin typeface="Microsoft YaHei"/>
              </a:rPr>
              <a:t>▪ 浓度极高时，可致昏迷甚至死亡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甲醛和戊二醛接触皮肤、眼睛和黏膜后很快出现刺激症状：轻者发红、刺痛、流泪，重者灼伤；反复接触还可能引起过敏性皮炎。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闻到刺激味还继续操作</a:t>
            </a:r>
          </a:p>
          <a:p>
            <a:pPr>
              <a:spcAft>
                <a:spcPts val="1000"/>
              </a:spcAft>
            </a:pPr>
            <a:r>
              <a:rPr sz="1500">
                <a:solidFill>
                  <a:srgbClr val="222B33"/>
                </a:solidFill>
                <a:latin typeface="Microsoft YaHei"/>
              </a:rPr>
              <a:t>▪ 眼睛刺痛时用手揉</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甲醛致癌，长期接触伤害慢慢显现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长期接触的伤害，不会马上显现</a:t>
            </a:r>
          </a:p>
          <a:p>
            <a:pPr>
              <a:spcAft>
                <a:spcPts val="1000"/>
              </a:spcAft>
            </a:pPr>
            <a:r>
              <a:rPr sz="2000">
                <a:solidFill>
                  <a:srgbClr val="222B33"/>
                </a:solidFill>
                <a:latin typeface="Microsoft YaHei"/>
              </a:rPr>
              <a:t>▪ 甲醛是致癌物，过量接触增加患癌风险</a:t>
            </a:r>
          </a:p>
          <a:p>
            <a:pPr>
              <a:spcAft>
                <a:spcPts val="1000"/>
              </a:spcAft>
            </a:pPr>
            <a:r>
              <a:rPr sz="2000">
                <a:solidFill>
                  <a:srgbClr val="222B33"/>
                </a:solidFill>
                <a:latin typeface="Microsoft YaHei"/>
              </a:rPr>
              <a:t>▪ 反复接触，还会永久损伤呼吸道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慢性危害往往在多年后才表现出来。甲醛已被确认为人类致癌物，长期过量接触会增加患癌（如鼻咽部肿瘤等）的风险；反复接触还可能造成永久性的呼吸道损伤和致敏。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认为没有症状就没有伤害</a:t>
            </a:r>
          </a:p>
          <a:p>
            <a:pPr>
              <a:spcAft>
                <a:spcPts val="1000"/>
              </a:spcAft>
            </a:pPr>
            <a:r>
              <a:rPr sz="1500">
                <a:solidFill>
                  <a:srgbClr val="222B33"/>
                </a:solidFill>
                <a:latin typeface="Microsoft YaHei"/>
              </a:rPr>
              <a:t>▪ 习惯了气味就不再防护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有症状，立即报告就医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怀疑接触过量、出现症状，立即报告</a:t>
            </a:r>
          </a:p>
          <a:p>
            <a:pPr>
              <a:spcAft>
                <a:spcPts val="1000"/>
              </a:spcAft>
            </a:pPr>
            <a:r>
              <a:rPr sz="2000">
                <a:solidFill>
                  <a:srgbClr val="222B33"/>
                </a:solidFill>
                <a:latin typeface="Microsoft YaHei"/>
              </a:rPr>
              <a:t>▪ 报告实验室负责人</a:t>
            </a:r>
          </a:p>
          <a:p>
            <a:pPr>
              <a:spcAft>
                <a:spcPts val="1000"/>
              </a:spcAft>
            </a:pPr>
            <a:r>
              <a:rPr sz="2000">
                <a:solidFill>
                  <a:srgbClr val="222B33"/>
                </a:solidFill>
                <a:latin typeface="Microsoft YaHei"/>
              </a:rPr>
              <a:t>▪ 及早就医，多数情况能够好转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怀疑自己接触过量，或出现眼鼻刺激、咳嗽、皮疹、头痛等症状时，立即停止操作、离开现场，报告实验室负责人，由实验室负责人报告学院（报告程序见第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觉得不严重就忍着</a:t>
            </a:r>
          </a:p>
          <a:p>
            <a:pPr>
              <a:spcAft>
                <a:spcPts val="1000"/>
              </a:spcAft>
            </a:pPr>
            <a:r>
              <a:rPr sz="1500">
                <a:solidFill>
                  <a:srgbClr val="222B33"/>
                </a:solidFill>
                <a:latin typeface="Microsoft YaHei"/>
              </a:rPr>
              <a:t>▪ 怕被批评不报告</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职业接触有国家标准和限值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国内依据职业病防治法管理</a:t>
            </a:r>
          </a:p>
          <a:p>
            <a:pPr>
              <a:spcAft>
                <a:spcPts val="1000"/>
              </a:spcAft>
            </a:pPr>
            <a:r>
              <a:rPr sz="2000">
                <a:solidFill>
                  <a:srgbClr val="222B33"/>
                </a:solidFill>
                <a:latin typeface="Microsoft YaHei"/>
              </a:rPr>
              <a:t>▪ 接触限值按 GBZ 2.1 现行文本执行</a:t>
            </a:r>
          </a:p>
          <a:p>
            <a:pPr>
              <a:spcAft>
                <a:spcPts val="1000"/>
              </a:spcAft>
            </a:pPr>
            <a:r>
              <a:rPr sz="2000">
                <a:solidFill>
                  <a:srgbClr val="222B33"/>
                </a:solidFill>
                <a:latin typeface="Microsoft YaHei"/>
              </a:rPr>
              <a:t>▪ 标准起因于工业大量使用，目的是把接触降到最低</a:t>
            </a:r>
          </a:p>
          <a:p>
            <a:pPr>
              <a:spcAft>
                <a:spcPts val="1000"/>
              </a:spcAft>
            </a:pPr>
            <a:r>
              <a:rPr sz="2000">
                <a:solidFill>
                  <a:srgbClr val="222B33"/>
                </a:solidFill>
                <a:latin typeface="Microsoft YaHei"/>
              </a:rPr>
              <a:t>▪ 限值为保护你而设，使用场所要告知致癌风险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以为限值只适用于工厂</a:t>
            </a:r>
          </a:p>
          <a:p>
            <a:pPr>
              <a:spcAft>
                <a:spcPts val="1000"/>
              </a:spcAft>
            </a:pPr>
            <a:r>
              <a:rPr sz="1500">
                <a:solidFill>
                  <a:srgbClr val="222B33"/>
                </a:solidFill>
                <a:latin typeface="Microsoft YaHei"/>
              </a:rPr>
              <a:t>▪ 不看告知卡就开始操作</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接触监测：采呼吸带空气，平均和高峰都要控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常用或大量使用，要监测接触量</a:t>
            </a:r>
          </a:p>
          <a:p>
            <a:pPr>
              <a:spcAft>
                <a:spcPts val="1000"/>
              </a:spcAft>
            </a:pPr>
            <a:r>
              <a:rPr sz="2000">
                <a:solidFill>
                  <a:srgbClr val="222B33"/>
                </a:solidFill>
                <a:latin typeface="Microsoft YaHei"/>
              </a:rPr>
              <a:t>▪ 采的是你呼吸带里的空气</a:t>
            </a:r>
          </a:p>
          <a:p>
            <a:pPr>
              <a:spcAft>
                <a:spcPts val="1000"/>
              </a:spcAft>
            </a:pPr>
            <a:r>
              <a:rPr sz="2000">
                <a:solidFill>
                  <a:srgbClr val="222B33"/>
                </a:solidFill>
                <a:latin typeface="Microsoft YaHei"/>
              </a:rPr>
              <a:t>▪ 平均水平达到或超过限值，就要加强防护</a:t>
            </a:r>
          </a:p>
          <a:p>
            <a:pPr>
              <a:spcAft>
                <a:spcPts val="1000"/>
              </a:spcAft>
            </a:pPr>
            <a:r>
              <a:rPr sz="2000">
                <a:solidFill>
                  <a:srgbClr val="222B33"/>
                </a:solidFill>
                <a:latin typeface="Microsoft YaHei"/>
              </a:rPr>
              <a:t>▪ 短时间的高峰也要控制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经常或大量使用甲醛等毒害品的场所，学校要组织有资质的机构进行工作场所空气检测，必要时做个人采样：把采样器佩戴在操作者衣领附近，采集呼吸带（口鼻周围）的空气。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只看全天平均，不管换液时的高峰</a:t>
            </a:r>
          </a:p>
          <a:p>
            <a:pPr>
              <a:spcAft>
                <a:spcPts val="1000"/>
              </a:spcAft>
            </a:pPr>
            <a:r>
              <a:rPr sz="1500">
                <a:solidFill>
                  <a:srgbClr val="222B33"/>
                </a:solidFill>
                <a:latin typeface="Microsoft YaHei"/>
              </a:rPr>
              <a:t>▪ 检测超标后不整改</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先培训，读说明书，守规程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使用的人都要先接受培训，并定期复训</a:t>
            </a:r>
          </a:p>
          <a:p>
            <a:pPr>
              <a:spcAft>
                <a:spcPts val="1000"/>
              </a:spcAft>
            </a:pPr>
            <a:r>
              <a:rPr sz="2000">
                <a:solidFill>
                  <a:srgbClr val="222B33"/>
                </a:solidFill>
                <a:latin typeface="Microsoft YaHei"/>
              </a:rPr>
              <a:t>▪ 先弄清哪里在用，怎样减少接触</a:t>
            </a:r>
          </a:p>
          <a:p>
            <a:pPr>
              <a:spcAft>
                <a:spcPts val="1000"/>
              </a:spcAft>
            </a:pPr>
            <a:r>
              <a:rPr sz="2000">
                <a:solidFill>
                  <a:srgbClr val="222B33"/>
                </a:solidFill>
                <a:latin typeface="Microsoft YaHei"/>
              </a:rPr>
              <a:t>▪ 先看说明书：危害、途径、健康影响</a:t>
            </a:r>
          </a:p>
          <a:p>
            <a:pPr>
              <a:spcAft>
                <a:spcPts val="1000"/>
              </a:spcAft>
            </a:pPr>
            <a:r>
              <a:rPr sz="2000">
                <a:solidFill>
                  <a:srgbClr val="222B33"/>
                </a:solidFill>
                <a:latin typeface="Microsoft YaHei"/>
              </a:rPr>
              <a:t>▪ 天天按规程和标准做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所有使用甲醛、戊二醛等毒害品的人员都要接受培训：知道本实验室哪些地方在用、有哪些危害、怎样减少接触，并定期复训（准入培训见第 007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没培训就跟着师兄师姐做</a:t>
            </a:r>
          </a:p>
          <a:p>
            <a:pPr>
              <a:spcAft>
                <a:spcPts val="1000"/>
              </a:spcAft>
            </a:pPr>
            <a:r>
              <a:rPr sz="1500">
                <a:solidFill>
                  <a:srgbClr val="222B33"/>
                </a:solidFill>
                <a:latin typeface="Microsoft YaHei"/>
              </a:rPr>
              <a:t>▪ 只看过一次说明书就不再看</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标签写明含甲醛和致癌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容器标签是最直接的信息来源</a:t>
            </a:r>
          </a:p>
          <a:p>
            <a:pPr>
              <a:spcAft>
                <a:spcPts val="1000"/>
              </a:spcAft>
            </a:pPr>
            <a:r>
              <a:rPr sz="2000">
                <a:solidFill>
                  <a:srgbClr val="222B33"/>
                </a:solidFill>
                <a:latin typeface="Microsoft YaHei"/>
              </a:rPr>
              <a:t>▪ 含甲醛的溶液、材料都要标明</a:t>
            </a:r>
          </a:p>
          <a:p>
            <a:pPr>
              <a:spcAft>
                <a:spcPts val="1000"/>
              </a:spcAft>
            </a:pPr>
            <a:r>
              <a:rPr sz="2000">
                <a:solidFill>
                  <a:srgbClr val="222B33"/>
                </a:solidFill>
                <a:latin typeface="Microsoft YaHei"/>
              </a:rPr>
              <a:t>▪ 含量较高的写明主要危害和可能致癌</a:t>
            </a:r>
          </a:p>
          <a:p>
            <a:pPr>
              <a:spcAft>
                <a:spcPts val="1000"/>
              </a:spcAft>
            </a:pPr>
            <a:r>
              <a:rPr sz="2000">
                <a:solidFill>
                  <a:srgbClr val="222B33"/>
                </a:solidFill>
                <a:latin typeface="Microsoft YaHei"/>
              </a:rPr>
              <a:t>▪ 标签写不下，就去查说明书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化学品安全标签是最直接的危害信息来源（GB 30000 系列、GB 15258-2009，以现行文本为准）。含甲醛的溶液和混合物，以及会释放甲醛的材料，都要在标签上标明含甲醛；含量较高的还要写明主要危害，特别是“可能……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自配的固定液不贴标签</a:t>
            </a:r>
          </a:p>
          <a:p>
            <a:pPr>
              <a:spcAft>
                <a:spcPts val="1000"/>
              </a:spcAft>
            </a:pPr>
            <a:r>
              <a:rPr sz="1500">
                <a:solidFill>
                  <a:srgbClr val="222B33"/>
                </a:solidFill>
                <a:latin typeface="Microsoft YaHei"/>
              </a:rPr>
              <a:t>▪ 分装到小瓶后丢掉了危害信息</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风险评估定防护，不让它接触你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实验前按要求做风险评估</a:t>
            </a:r>
          </a:p>
          <a:p>
            <a:pPr>
              <a:spcAft>
                <a:spcPts val="1000"/>
              </a:spcAft>
            </a:pPr>
            <a:r>
              <a:rPr sz="2000">
                <a:solidFill>
                  <a:srgbClr val="222B33"/>
                </a:solidFill>
                <a:latin typeface="Microsoft YaHei"/>
              </a:rPr>
              <a:t>▪ 用多少、做多久、在哪做，决定怎么防</a:t>
            </a:r>
          </a:p>
          <a:p>
            <a:pPr>
              <a:spcAft>
                <a:spcPts val="1000"/>
              </a:spcAft>
            </a:pPr>
            <a:r>
              <a:rPr sz="2000">
                <a:solidFill>
                  <a:srgbClr val="222B33"/>
                </a:solidFill>
                <a:latin typeface="Microsoft YaHei"/>
              </a:rPr>
              <a:t>▪ 不吸入、不沾皮肤、不溅进眼睛</a:t>
            </a:r>
          </a:p>
          <a:p>
            <a:pPr>
              <a:spcAft>
                <a:spcPts val="1000"/>
              </a:spcAft>
            </a:pPr>
            <a:r>
              <a:rPr sz="2000">
                <a:solidFill>
                  <a:srgbClr val="222B33"/>
                </a:solidFill>
                <a:latin typeface="Microsoft YaHei"/>
              </a:rPr>
              <a:t>▪ 护目镜、合适的手套、实验服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实验前按本校风险管理要求进行风险评估：用量多少、操作多长时间、在什么场所做，决定需要的通风条件和防护措施（风险评估见第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用普通乳胶手套长时间接触</a:t>
            </a:r>
          </a:p>
          <a:p>
            <a:pPr>
              <a:spcAft>
                <a:spcPts val="1000"/>
              </a:spcAft>
            </a:pPr>
            <a:r>
              <a:rPr sz="1500">
                <a:solidFill>
                  <a:srgbClr val="222B33"/>
                </a:solidFill>
                <a:latin typeface="Microsoft YaHei"/>
              </a:rPr>
              <a:t>▪ 不评估就把用量放大</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通风最重要：在通风柜里开瓶配制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保持通风是最重要的做法之一</a:t>
            </a:r>
          </a:p>
          <a:p>
            <a:pPr>
              <a:spcAft>
                <a:spcPts val="1000"/>
              </a:spcAft>
            </a:pPr>
            <a:r>
              <a:rPr sz="2000">
                <a:solidFill>
                  <a:srgbClr val="222B33"/>
                </a:solidFill>
                <a:latin typeface="Microsoft YaHei"/>
              </a:rPr>
              <a:t>▪ 开瓶、量取、配制、取材都在通风柜里做</a:t>
            </a:r>
          </a:p>
          <a:p>
            <a:pPr>
              <a:spcAft>
                <a:spcPts val="1000"/>
              </a:spcAft>
            </a:pPr>
            <a:r>
              <a:rPr sz="2000">
                <a:solidFill>
                  <a:srgbClr val="222B33"/>
                </a:solidFill>
                <a:latin typeface="Microsoft YaHei"/>
              </a:rPr>
              <a:t>▪ 不在敞开的台面上开瓶倒液</a:t>
            </a:r>
          </a:p>
          <a:p>
            <a:pPr>
              <a:spcAft>
                <a:spcPts val="1000"/>
              </a:spcAft>
            </a:pPr>
            <a:r>
              <a:rPr sz="2000">
                <a:solidFill>
                  <a:srgbClr val="222B33"/>
                </a:solidFill>
                <a:latin typeface="Microsoft YaHei"/>
              </a:rPr>
              <a:t>▪ 铺好吸水垫，用完随手盖紧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把蒸气挡在呼吸带之外，最有效的方法是局部排风。开瓶、量取、配制、换液、标本取材都在通风柜或专用排风台里进行，不在敞开的台面上开瓶倒液。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在普通台面上换标本固定液</a:t>
            </a:r>
          </a:p>
          <a:p>
            <a:pPr>
              <a:spcAft>
                <a:spcPts val="1000"/>
              </a:spcAft>
            </a:pPr>
            <a:r>
              <a:rPr sz="1500">
                <a:solidFill>
                  <a:srgbClr val="222B33"/>
                </a:solidFill>
                <a:latin typeface="Microsoft YaHei"/>
              </a:rPr>
              <a:t>▪ 用完不盖，敞口放在柜里</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稀释要小心，稀溶液也有害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自行稀释、分装，要格外小心</a:t>
            </a:r>
          </a:p>
          <a:p>
            <a:pPr>
              <a:spcAft>
                <a:spcPts val="1000"/>
              </a:spcAft>
            </a:pPr>
            <a:r>
              <a:rPr sz="2000">
                <a:solidFill>
                  <a:srgbClr val="222B33"/>
                </a:solidFill>
                <a:latin typeface="Microsoft YaHei"/>
              </a:rPr>
              <a:t>▪ 尽量用预先分装好的容器</a:t>
            </a:r>
          </a:p>
          <a:p>
            <a:pPr>
              <a:spcAft>
                <a:spcPts val="1000"/>
              </a:spcAft>
            </a:pPr>
            <a:r>
              <a:rPr sz="2000">
                <a:solidFill>
                  <a:srgbClr val="222B33"/>
                </a:solidFill>
                <a:latin typeface="Microsoft YaHei"/>
              </a:rPr>
              <a:t>▪ 稀溶液，照样有危害</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从浓溶液自行稀释、分装时接触风险最大，要在通风柜里操作并做好防护。现在多采用预先稀释好的成品或预分装容器，可以减少开瓶和倒液的次数。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认为稀释后就无害</a:t>
            </a:r>
          </a:p>
          <a:p>
            <a:pPr>
              <a:spcAft>
                <a:spcPts val="1000"/>
              </a:spcAft>
            </a:pPr>
            <a:r>
              <a:rPr sz="1500">
                <a:solidFill>
                  <a:srgbClr val="222B33"/>
                </a:solidFill>
                <a:latin typeface="Microsoft YaHei"/>
              </a:rPr>
              <a:t>▪ 在台面上用量筒分装</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密闭储存，少量领用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密闭存放，阴凉通风</a:t>
            </a:r>
          </a:p>
          <a:p>
            <a:pPr>
              <a:spcAft>
                <a:spcPts val="1000"/>
              </a:spcAft>
            </a:pPr>
            <a:r>
              <a:rPr sz="2000">
                <a:solidFill>
                  <a:srgbClr val="222B33"/>
                </a:solidFill>
                <a:latin typeface="Microsoft YaHei"/>
              </a:rPr>
              <a:t>▪ 远离氧化剂，有的还易燃</a:t>
            </a:r>
          </a:p>
          <a:p>
            <a:pPr>
              <a:spcAft>
                <a:spcPts val="1000"/>
              </a:spcAft>
            </a:pPr>
            <a:r>
              <a:rPr sz="2000">
                <a:solidFill>
                  <a:srgbClr val="222B33"/>
                </a:solidFill>
                <a:latin typeface="Microsoft YaHei"/>
              </a:rPr>
              <a:t>▪ 按需少量领用，用完登记</a:t>
            </a:r>
          </a:p>
          <a:p>
            <a:pPr>
              <a:spcAft>
                <a:spcPts val="1000"/>
              </a:spcAft>
            </a:pPr>
            <a:r>
              <a:rPr sz="2000">
                <a:solidFill>
                  <a:srgbClr val="222B33"/>
                </a:solidFill>
                <a:latin typeface="Microsoft YaHei"/>
              </a:rPr>
              <a:t>▪ 标本瓶用完随手盖紧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甲醛等毒害品原容器密闭，存放在阴凉、通风的柜子里，远离氧化剂；部分含甲醇的甲醛溶液还具有易燃性，按易燃品要求存放（见第 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大桶固定液长期开着盖</a:t>
            </a:r>
          </a:p>
          <a:p>
            <a:pPr>
              <a:spcAft>
                <a:spcPts val="1000"/>
              </a:spcAft>
            </a:pPr>
            <a:r>
              <a:rPr sz="1500">
                <a:solidFill>
                  <a:srgbClr val="222B33"/>
                </a:solidFill>
                <a:latin typeface="Microsoft YaHei"/>
              </a:rPr>
              <a:t>▪ 领用不登记</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应急程序，平时就要熟悉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出了事，按实验室的程序处置</a:t>
            </a:r>
          </a:p>
          <a:p>
            <a:pPr>
              <a:spcAft>
                <a:spcPts val="1000"/>
              </a:spcAft>
            </a:pPr>
            <a:r>
              <a:rPr sz="2000">
                <a:solidFill>
                  <a:srgbClr val="222B33"/>
                </a:solidFill>
                <a:latin typeface="Microsoft YaHei"/>
              </a:rPr>
              <a:t>▪ 应急程序平时就要熟悉</a:t>
            </a:r>
          </a:p>
          <a:p>
            <a:pPr>
              <a:spcAft>
                <a:spcPts val="1000"/>
              </a:spcAft>
            </a:pPr>
            <a:r>
              <a:rPr sz="2000">
                <a:solidFill>
                  <a:srgbClr val="222B33"/>
                </a:solidFill>
                <a:latin typeface="Microsoft YaHei"/>
              </a:rPr>
              <a:t>▪ 有担心、有隐患，及时报告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发生溅洒、泄漏或接触时，按本实验室的应急程序处置（泄漏处置见第 056 课，灼伤急救见第 160 课）。应急程序要在平时通过培训和演练熟悉：洗眼器、喷淋、泄漏处理包在哪里，怎样报告。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出事时才去找应急程序</a:t>
            </a:r>
          </a:p>
          <a:p>
            <a:pPr>
              <a:spcAft>
                <a:spcPts val="1000"/>
              </a:spcAft>
            </a:pPr>
            <a:r>
              <a:rPr sz="1500">
                <a:solidFill>
                  <a:srgbClr val="222B33"/>
                </a:solidFill>
                <a:latin typeface="Microsoft YaHei"/>
              </a:rPr>
              <a:t>▪ 不知道泄漏处理包在哪里</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二氯甲烷：危害容易被小看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就是个溶剂？它的危害容易被小看</a:t>
            </a:r>
          </a:p>
          <a:p>
            <a:pPr>
              <a:spcAft>
                <a:spcPts val="1000"/>
              </a:spcAft>
            </a:pPr>
            <a:r>
              <a:rPr sz="2000">
                <a:solidFill>
                  <a:srgbClr val="222B33"/>
                </a:solidFill>
                <a:latin typeface="Microsoft YaHei"/>
              </a:rPr>
              <a:t>▪ 长期或反复大量接触，伤心、伤肝、伤脑</a:t>
            </a:r>
          </a:p>
          <a:p>
            <a:pPr>
              <a:spcAft>
                <a:spcPts val="1000"/>
              </a:spcAft>
            </a:pPr>
            <a:r>
              <a:rPr sz="2000">
                <a:solidFill>
                  <a:srgbClr val="222B33"/>
                </a:solidFill>
                <a:latin typeface="Microsoft YaHei"/>
              </a:rPr>
              <a:t>▪ 还可能增加患癌风险</a:t>
            </a:r>
          </a:p>
          <a:p>
            <a:pPr>
              <a:spcAft>
                <a:spcPts val="1000"/>
              </a:spcAft>
            </a:pPr>
            <a:r>
              <a:rPr sz="2000">
                <a:solidFill>
                  <a:srgbClr val="222B33"/>
                </a:solidFill>
                <a:latin typeface="Microsoft YaHei"/>
              </a:rPr>
              <a:t>▪ 伤害慢慢积累，不能等有感觉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二氯甲烷是萃取、色谱等实验中最常用的溶剂之一，不易燃，常被误认为“比较安全”，所以需要专门培训。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因为不易燃就在台面上随意使用</a:t>
            </a:r>
          </a:p>
          <a:p>
            <a:pPr>
              <a:spcAft>
                <a:spcPts val="1000"/>
              </a:spcAft>
            </a:pPr>
            <a:r>
              <a:rPr sz="1500">
                <a:solidFill>
                  <a:srgbClr val="222B33"/>
                </a:solidFill>
                <a:latin typeface="Microsoft YaHei"/>
              </a:rPr>
              <a:t>▪ 用它洗手上的污渍</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易挥发、蒸气下沉，在通风柜里用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沸点低，一开盖就挥发很快</a:t>
            </a:r>
          </a:p>
          <a:p>
            <a:pPr>
              <a:spcAft>
                <a:spcPts val="1000"/>
              </a:spcAft>
            </a:pPr>
            <a:r>
              <a:rPr sz="2000">
                <a:solidFill>
                  <a:srgbClr val="222B33"/>
                </a:solidFill>
                <a:latin typeface="Microsoft YaHei"/>
              </a:rPr>
              <a:t>▪ 蒸气比空气重，会往低处积聚</a:t>
            </a:r>
          </a:p>
          <a:p>
            <a:pPr>
              <a:spcAft>
                <a:spcPts val="1000"/>
              </a:spcAft>
            </a:pPr>
            <a:r>
              <a:rPr sz="2000">
                <a:solidFill>
                  <a:srgbClr val="222B33"/>
                </a:solidFill>
                <a:latin typeface="Microsoft YaHei"/>
              </a:rPr>
              <a:t>▪ 取用、分装、浓缩，都在通风柜里</a:t>
            </a:r>
          </a:p>
          <a:p>
            <a:pPr>
              <a:spcAft>
                <a:spcPts val="1000"/>
              </a:spcAft>
            </a:pPr>
            <a:r>
              <a:rPr sz="2000">
                <a:solidFill>
                  <a:srgbClr val="222B33"/>
                </a:solidFill>
                <a:latin typeface="Microsoft YaHei"/>
              </a:rPr>
              <a:t>▪ 不在台面上敞口挥干，用完随手盖紧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二氯甲烷沸点低、挥发快，蒸气比空气重，会积聚在地面、地沟、低处的容器和柜子里。使用前读安全技术说明书和标签，了解它的特性。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把萃取后的溶液放在台面上自然挥干</a:t>
            </a:r>
          </a:p>
          <a:p>
            <a:pPr>
              <a:spcAft>
                <a:spcPts val="1000"/>
              </a:spcAft>
            </a:pPr>
            <a:r>
              <a:rPr sz="1500">
                <a:solidFill>
                  <a:srgbClr val="222B33"/>
                </a:solidFill>
                <a:latin typeface="Microsoft YaHei"/>
              </a:rPr>
              <a:t>▪ 在地下室等低处、通风差的房间大量使用</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用量小，规矩不减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职业接触标准起因于工业大量使用</a:t>
            </a:r>
          </a:p>
          <a:p>
            <a:pPr>
              <a:spcAft>
                <a:spcPts val="1000"/>
              </a:spcAft>
            </a:pPr>
            <a:r>
              <a:rPr sz="2000">
                <a:solidFill>
                  <a:srgbClr val="222B33"/>
                </a:solidFill>
                <a:latin typeface="Microsoft YaHei"/>
              </a:rPr>
              <a:t>▪ 实验室用量小，规矩一样不能少</a:t>
            </a:r>
          </a:p>
          <a:p>
            <a:pPr>
              <a:spcAft>
                <a:spcPts val="1000"/>
              </a:spcAft>
            </a:pPr>
            <a:r>
              <a:rPr sz="2000">
                <a:solidFill>
                  <a:srgbClr val="222B33"/>
                </a:solidFill>
                <a:latin typeface="Microsoft YaHei"/>
              </a:rPr>
              <a:t>▪ 重视危害，确认控制措施真的有效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二氯甲烷等的职业接触标准源于工业上的大量使用，但实验室用量小并不等于风险小：近距离操作、通风柜使用不当、敞口挥发都可能造成短时高浓度接触。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以为用几毫升就不用防护</a:t>
            </a:r>
          </a:p>
          <a:p>
            <a:pPr>
              <a:spcAft>
                <a:spcPts val="1000"/>
              </a:spcAft>
            </a:pPr>
            <a:r>
              <a:rPr sz="1500">
                <a:solidFill>
                  <a:srgbClr val="222B33"/>
                </a:solidFill>
                <a:latin typeface="Microsoft YaHei"/>
              </a:rPr>
              <a:t>▪ 不看通风柜风速指示就开始操作</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头晕发困就是警报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头晕、发困，是吸入过量的信号</a:t>
            </a:r>
          </a:p>
          <a:p>
            <a:pPr>
              <a:spcAft>
                <a:spcPts val="1000"/>
              </a:spcAft>
            </a:pPr>
            <a:r>
              <a:rPr sz="2000">
                <a:solidFill>
                  <a:srgbClr val="222B33"/>
                </a:solidFill>
                <a:latin typeface="Microsoft YaHei"/>
              </a:rPr>
              <a:t>▪ 马上离开，到空气新鲜的地方</a:t>
            </a:r>
          </a:p>
          <a:p>
            <a:pPr>
              <a:spcAft>
                <a:spcPts val="1000"/>
              </a:spcAft>
            </a:pPr>
            <a:r>
              <a:rPr sz="2000">
                <a:solidFill>
                  <a:srgbClr val="222B33"/>
                </a:solidFill>
                <a:latin typeface="Microsoft YaHei"/>
              </a:rPr>
              <a:t>▪ 报告负责人，查清通风哪里出了问题</a:t>
            </a:r>
          </a:p>
          <a:p>
            <a:pPr>
              <a:spcAft>
                <a:spcPts val="1000"/>
              </a:spcAft>
            </a:pPr>
            <a:r>
              <a:rPr sz="2000">
                <a:solidFill>
                  <a:srgbClr val="222B33"/>
                </a:solidFill>
                <a:latin typeface="Microsoft YaHei"/>
              </a:rPr>
              <a:t>▪ 症状不缓解，及时就医，急救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使用二氯甲烷等挥发性溶剂时，出现头晕、头痛、发困、注意力不集中，说明可能吸入过量。马上停止操作，离开到空气新鲜的地方，并提醒周围的人。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以为是没睡好，坚持做完</a:t>
            </a:r>
          </a:p>
          <a:p>
            <a:pPr>
              <a:spcAft>
                <a:spcPts val="1000"/>
              </a:spcAft>
            </a:pPr>
            <a:r>
              <a:rPr sz="1500">
                <a:solidFill>
                  <a:srgbClr val="222B33"/>
                </a:solidFill>
                <a:latin typeface="Microsoft YaHei"/>
              </a:rPr>
              <a:t>▪ 离开后不报告，下次照样用</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六价铬盐：致癌致敏，防尘单独收集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六价铬盐能致癌，也会致敏</a:t>
            </a:r>
          </a:p>
          <a:p>
            <a:pPr>
              <a:spcAft>
                <a:spcPts val="1000"/>
              </a:spcAft>
            </a:pPr>
            <a:r>
              <a:rPr sz="2000">
                <a:solidFill>
                  <a:srgbClr val="222B33"/>
                </a:solidFill>
                <a:latin typeface="Microsoft YaHei"/>
              </a:rPr>
              <a:t>▪ 会腐蚀皮肤，伤害鼻腔和呼吸道</a:t>
            </a:r>
          </a:p>
          <a:p>
            <a:pPr>
              <a:spcAft>
                <a:spcPts val="1000"/>
              </a:spcAft>
            </a:pPr>
            <a:r>
              <a:rPr sz="2000">
                <a:solidFill>
                  <a:srgbClr val="222B33"/>
                </a:solidFill>
                <a:latin typeface="Microsoft YaHei"/>
              </a:rPr>
              <a:t>▪ 称量粉末在通风柜里，防扬尘，戴手套</a:t>
            </a:r>
          </a:p>
          <a:p>
            <a:pPr>
              <a:spcAft>
                <a:spcPts val="1000"/>
              </a:spcAft>
            </a:pPr>
            <a:r>
              <a:rPr sz="2000">
                <a:solidFill>
                  <a:srgbClr val="222B33"/>
                </a:solidFill>
                <a:latin typeface="Microsoft YaHei"/>
              </a:rPr>
              <a:t>▪ 含铬废液单独收集，按危险废物处置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重铬酸钾、铬酸盐等六价铬化合物是确认的致癌物，同时是强致敏物和氧化剂：接触皮肤可引起溃疡和过敏性皮炎，吸入粉尘或雾滴会损伤鼻腔和呼吸道（GB 30000 系列分类，以安全技术说明书为准）。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在开放台面称量铬盐粉末</a:t>
            </a:r>
          </a:p>
          <a:p>
            <a:pPr>
              <a:spcAft>
                <a:spcPts val="1000"/>
              </a:spcAft>
            </a:pPr>
            <a:r>
              <a:rPr sz="1500">
                <a:solidFill>
                  <a:srgbClr val="222B33"/>
                </a:solidFill>
                <a:latin typeface="Microsoft YaHei"/>
              </a:rPr>
              <a:t>▪ 含铬废液混入普通废液桶</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汞：蒸气看不见，能替代就替代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汞常温就挥发，蒸气看不见、闻不到</a:t>
            </a:r>
          </a:p>
          <a:p>
            <a:pPr>
              <a:spcAft>
                <a:spcPts val="1000"/>
              </a:spcAft>
            </a:pPr>
            <a:r>
              <a:rPr sz="2000">
                <a:solidFill>
                  <a:srgbClr val="222B33"/>
                </a:solidFill>
                <a:latin typeface="Microsoft YaHei"/>
              </a:rPr>
              <a:t>▪ 长期吸入伤神经和肾脏</a:t>
            </a:r>
          </a:p>
          <a:p>
            <a:pPr>
              <a:spcAft>
                <a:spcPts val="1000"/>
              </a:spcAft>
            </a:pPr>
            <a:r>
              <a:rPr sz="2000">
                <a:solidFill>
                  <a:srgbClr val="222B33"/>
                </a:solidFill>
                <a:latin typeface="Microsoft YaHei"/>
              </a:rPr>
              <a:t>▪ 能用无汞仪器，就替换掉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金属汞在常温下就会挥发，汞蒸气无色无味，人察觉不到。长期吸入会损害神经系统和肾脏，出现手抖、情绪改变、记忆力下降等表现。汞的可溶性化合物毒性更大，有的属于剧毒化学品（按“五双”管理，见第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以为没有气味就没有汞蒸气</a:t>
            </a:r>
          </a:p>
          <a:p>
            <a:pPr>
              <a:spcAft>
                <a:spcPts val="1000"/>
              </a:spcAft>
            </a:pPr>
            <a:r>
              <a:rPr sz="1500">
                <a:solidFill>
                  <a:srgbClr val="222B33"/>
                </a:solidFill>
                <a:latin typeface="Microsoft YaHei"/>
              </a:rPr>
              <a:t>▪ 含汞仪器随手放在台边</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汞洒了：别碰、别扫、别吸，先报告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汞洒了会变成到处滚的小珠</a:t>
            </a:r>
          </a:p>
          <a:p>
            <a:pPr>
              <a:spcAft>
                <a:spcPts val="1000"/>
              </a:spcAft>
            </a:pPr>
            <a:r>
              <a:rPr sz="2000">
                <a:solidFill>
                  <a:srgbClr val="222B33"/>
                </a:solidFill>
                <a:latin typeface="Microsoft YaHei"/>
              </a:rPr>
              <a:t>▪ 别用手碰，别扫，别用吸尘器</a:t>
            </a:r>
          </a:p>
          <a:p>
            <a:pPr>
              <a:spcAft>
                <a:spcPts val="1000"/>
              </a:spcAft>
            </a:pPr>
            <a:r>
              <a:rPr sz="2000">
                <a:solidFill>
                  <a:srgbClr val="222B33"/>
                </a:solidFill>
                <a:latin typeface="Microsoft YaHei"/>
              </a:rPr>
              <a:t>▪ 人先离开，隔开现场，保持通风</a:t>
            </a:r>
          </a:p>
          <a:p>
            <a:pPr>
              <a:spcAft>
                <a:spcPts val="1000"/>
              </a:spcAft>
            </a:pPr>
            <a:r>
              <a:rPr sz="2000">
                <a:solidFill>
                  <a:srgbClr val="222B33"/>
                </a:solidFill>
                <a:latin typeface="Microsoft YaHei"/>
              </a:rPr>
              <a:t>▪ 报告老师，由专人用专用工具处理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含汞温度计、压力计破损后，汞会散成许多到处滚动的小珠，钻进缝隙。不要用手碰，不要用扫帚扫，更不能用吸尘器吸——会把汞打散并加速挥发。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用扫帚把汞珠扫到一起</a:t>
            </a:r>
          </a:p>
          <a:p>
            <a:pPr>
              <a:spcAft>
                <a:spcPts val="1000"/>
              </a:spcAft>
            </a:pPr>
            <a:r>
              <a:rPr sz="1500">
                <a:solidFill>
                  <a:srgbClr val="222B33"/>
                </a:solidFill>
                <a:latin typeface="Microsoft YaHei"/>
              </a:rPr>
              <a:t>▪ 用吸尘器清理</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接触重点毒害品，按规定做职业健康检查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长期接触要做职业健康检查</a:t>
            </a:r>
          </a:p>
          <a:p>
            <a:pPr>
              <a:spcAft>
                <a:spcPts val="1000"/>
              </a:spcAft>
            </a:pPr>
            <a:r>
              <a:rPr sz="2000">
                <a:solidFill>
                  <a:srgbClr val="222B33"/>
                </a:solidFill>
                <a:latin typeface="Microsoft YaHei"/>
              </a:rPr>
              <a:t>▪ 上岗前、在岗期间、离岗时都要查</a:t>
            </a:r>
          </a:p>
          <a:p>
            <a:pPr>
              <a:spcAft>
                <a:spcPts val="1000"/>
              </a:spcAft>
            </a:pPr>
            <a:r>
              <a:rPr sz="2000">
                <a:solidFill>
                  <a:srgbClr val="222B33"/>
                </a:solidFill>
                <a:latin typeface="Microsoft YaHei"/>
              </a:rPr>
              <a:t>▪ 结果存档，异常及时调整岗位</a:t>
            </a:r>
          </a:p>
          <a:p>
            <a:pPr>
              <a:spcAft>
                <a:spcPts val="1000"/>
              </a:spcAft>
            </a:pPr>
            <a:r>
              <a:rPr sz="2000">
                <a:solidFill>
                  <a:srgbClr val="222B33"/>
                </a:solidFill>
                <a:latin typeface="Microsoft YaHei"/>
              </a:rPr>
              <a:t>▪ 怀孕、过敏等情况，主动告知老师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按《中华人民共和国职业病防治法》和 GBZ 188（以现行文本为准），长期、规律接触甲醛、汞、六价铬、苯等职业病危害因素的人员，应按规定进行上岗前、在岗期间和离岗时的职业健康检查，由学校组织到有资质的机构进行，结果存……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觉得学生不需要职业健康检查</a:t>
            </a:r>
          </a:p>
          <a:p>
            <a:pPr>
              <a:spcAft>
                <a:spcPts val="1000"/>
              </a:spcAft>
            </a:pPr>
            <a:r>
              <a:rPr sz="1500">
                <a:solidFill>
                  <a:srgbClr val="222B33"/>
                </a:solidFill>
                <a:latin typeface="Microsoft YaHei"/>
              </a:rPr>
              <a:t>▪ 隐瞒怀孕或过敏史继续接触</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四件事：知危害、识材料、会防护、备应急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毒害品有害，但能安全使用</a:t>
            </a:r>
          </a:p>
          <a:p>
            <a:pPr>
              <a:spcAft>
                <a:spcPts val="1000"/>
              </a:spcAft>
            </a:pPr>
            <a:r>
              <a:rPr sz="2000">
                <a:solidFill>
                  <a:srgbClr val="222B33"/>
                </a:solidFill>
                <a:latin typeface="Microsoft YaHei"/>
              </a:rPr>
              <a:t>▪ 知危害：知道它伤哪里</a:t>
            </a:r>
          </a:p>
          <a:p>
            <a:pPr>
              <a:spcAft>
                <a:spcPts val="1000"/>
              </a:spcAft>
            </a:pPr>
            <a:r>
              <a:rPr sz="2000">
                <a:solidFill>
                  <a:srgbClr val="222B33"/>
                </a:solidFill>
                <a:latin typeface="Microsoft YaHei"/>
              </a:rPr>
              <a:t>▪ 识材料：认清哪些含毒害成分</a:t>
            </a:r>
          </a:p>
          <a:p>
            <a:pPr>
              <a:spcAft>
                <a:spcPts val="1000"/>
              </a:spcAft>
            </a:pPr>
            <a:r>
              <a:rPr sz="2000">
                <a:solidFill>
                  <a:srgbClr val="222B33"/>
                </a:solidFill>
                <a:latin typeface="Microsoft YaHei"/>
              </a:rPr>
              <a:t>▪ 会防护、备应急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只记得防护，不熟悉应急</a:t>
            </a:r>
          </a:p>
          <a:p>
            <a:pPr>
              <a:spcAft>
                <a:spcPts val="1000"/>
              </a:spcAft>
            </a:pPr>
            <a:r>
              <a:rPr sz="1500">
                <a:solidFill>
                  <a:srgbClr val="222B33"/>
                </a:solidFill>
                <a:latin typeface="Microsoft YaHei"/>
              </a:rPr>
              <a:t>▪ 因为害怕而隐瞒接触情况</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关于甲醛，下列说法错误的是：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刺激皮肤、眼睛和呼吸道</a:t>
            </a:r>
          </a:p>
          <a:p>
            <a:pPr algn="l"/>
            <a:r>
              <a:rPr sz="1500" b="0">
                <a:solidFill>
                  <a:srgbClr val="222B33"/>
                </a:solidFill>
                <a:latin typeface="Microsoft YaHei"/>
              </a:rPr>
              <a:t>B. 是致癌物</a:t>
            </a:r>
          </a:p>
          <a:p>
            <a:pPr algn="l"/>
            <a:r>
              <a:rPr sz="1500" b="0">
                <a:solidFill>
                  <a:srgbClr val="222B33"/>
                </a:solidFill>
                <a:latin typeface="Microsoft YaHei"/>
              </a:rPr>
              <a:t>C. 稀溶液无害，可以在台面上随意分装</a:t>
            </a:r>
          </a:p>
          <a:p>
            <a:pPr algn="l"/>
            <a:r>
              <a:rPr sz="1500" b="0">
                <a:solidFill>
                  <a:srgbClr val="222B33"/>
                </a:solidFill>
                <a:latin typeface="Microsoft YaHei"/>
              </a:rPr>
              <a:t>D. 职业接触有国家限值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判断：二氯甲烷不易燃，所以可以在实验台面上敞口挥干。</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使用二氯甲烷时感到头晕、发困，应该：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坚持做完再休息</a:t>
            </a:r>
          </a:p>
          <a:p>
            <a:pPr algn="l"/>
            <a:r>
              <a:rPr sz="1500" b="0">
                <a:solidFill>
                  <a:srgbClr val="222B33"/>
                </a:solidFill>
                <a:latin typeface="Microsoft YaHei"/>
              </a:rPr>
              <a:t>B. 马上离开到空气新鲜处，报告负责人查通风，不缓解就医</a:t>
            </a:r>
          </a:p>
          <a:p>
            <a:pPr algn="l"/>
            <a:r>
              <a:rPr sz="1500" b="0">
                <a:solidFill>
                  <a:srgbClr val="222B33"/>
                </a:solidFill>
                <a:latin typeface="Microsoft YaHei"/>
              </a:rPr>
              <a:t>C. 喝杯咖啡提神</a:t>
            </a:r>
          </a:p>
          <a:p>
            <a:pPr algn="l"/>
            <a:r>
              <a:rPr sz="1500" b="0">
                <a:solidFill>
                  <a:srgbClr val="222B33"/>
                </a:solidFill>
                <a:latin typeface="Microsoft YaHei"/>
              </a:rPr>
              <a:t>D. 戴上口罩继续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水银温度计打碎，汞珠洒在地上，正确的做法是：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用扫帚扫起来</a:t>
            </a:r>
          </a:p>
          <a:p>
            <a:pPr algn="l"/>
            <a:r>
              <a:rPr sz="1500" b="0">
                <a:solidFill>
                  <a:srgbClr val="222B33"/>
                </a:solidFill>
                <a:latin typeface="Microsoft YaHei"/>
              </a:rPr>
              <a:t>B. 用吸尘器吸</a:t>
            </a:r>
          </a:p>
          <a:p>
            <a:pPr algn="l"/>
            <a:r>
              <a:rPr sz="1500" b="0">
                <a:solidFill>
                  <a:srgbClr val="222B33"/>
                </a:solidFill>
                <a:latin typeface="Microsoft YaHei"/>
              </a:rPr>
              <a:t>C. 人员离开、隔开现场、通风，报告老师，由专人用汞处理包处理</a:t>
            </a:r>
          </a:p>
          <a:p>
            <a:pPr algn="l"/>
            <a:r>
              <a:rPr sz="1500" b="0">
                <a:solidFill>
                  <a:srgbClr val="222B33"/>
                </a:solidFill>
                <a:latin typeface="Microsoft YaHei"/>
              </a:rPr>
              <a:t>D. 用手捡起来</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甲醛的接触监测，采样的是：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实验室门口的空气</a:t>
            </a:r>
          </a:p>
          <a:p>
            <a:pPr algn="l"/>
            <a:r>
              <a:rPr sz="1500" b="0">
                <a:solidFill>
                  <a:srgbClr val="222B33"/>
                </a:solidFill>
                <a:latin typeface="Microsoft YaHei"/>
              </a:rPr>
              <a:t>B. 操作者呼吸带（口鼻周围）的空气</a:t>
            </a:r>
          </a:p>
          <a:p>
            <a:pPr algn="l"/>
            <a:r>
              <a:rPr sz="1500" b="0">
                <a:solidFill>
                  <a:srgbClr val="222B33"/>
                </a:solidFill>
                <a:latin typeface="Microsoft YaHei"/>
              </a:rPr>
              <a:t>C. 通风柜排风口的空气</a:t>
            </a:r>
          </a:p>
          <a:p>
            <a:pPr algn="l"/>
            <a:r>
              <a:rPr sz="1500" b="0">
                <a:solidFill>
                  <a:srgbClr val="222B33"/>
                </a:solidFill>
                <a:latin typeface="Microsoft YaHei"/>
              </a:rPr>
              <a:t>D. 储存柜里的空气</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简答：长期接触甲醛、汞等重点毒害品的人员，在健康管理上有什么要求？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甲醛和戊二醛：常用而有毒</a:t>
            </a:r>
          </a:p>
          <a:p>
            <a:pPr>
              <a:spcAft>
                <a:spcPts val="800"/>
              </a:spcAft>
            </a:pPr>
            <a:r>
              <a:rPr sz="1500">
                <a:solidFill>
                  <a:srgbClr val="FFFFFF"/>
                </a:solidFill>
                <a:latin typeface="Microsoft YaHei"/>
              </a:rPr>
              <a:t>▪ K2  一接触就刺激：皮肤、眼睛、呼吸道</a:t>
            </a:r>
          </a:p>
          <a:p>
            <a:pPr>
              <a:spcAft>
                <a:spcPts val="800"/>
              </a:spcAft>
            </a:pPr>
            <a:r>
              <a:rPr sz="1500">
                <a:solidFill>
                  <a:srgbClr val="FFFFFF"/>
                </a:solidFill>
                <a:latin typeface="Microsoft YaHei"/>
              </a:rPr>
              <a:t>▪ K3  甲醛致癌，长期接触伤害慢慢显现</a:t>
            </a:r>
          </a:p>
          <a:p>
            <a:pPr>
              <a:spcAft>
                <a:spcPts val="800"/>
              </a:spcAft>
            </a:pPr>
            <a:r>
              <a:rPr sz="1500">
                <a:solidFill>
                  <a:srgbClr val="FFFFFF"/>
                </a:solidFill>
                <a:latin typeface="Microsoft YaHei"/>
              </a:rPr>
              <a:t>▪ K4  有症状，立即报告就医</a:t>
            </a:r>
          </a:p>
          <a:p>
            <a:pPr>
              <a:spcAft>
                <a:spcPts val="800"/>
              </a:spcAft>
            </a:pPr>
            <a:r>
              <a:rPr sz="1500">
                <a:solidFill>
                  <a:srgbClr val="FFFFFF"/>
                </a:solidFill>
                <a:latin typeface="Microsoft YaHei"/>
              </a:rPr>
              <a:t>▪ K5  职业接触有国家标准和限值</a:t>
            </a:r>
          </a:p>
          <a:p>
            <a:pPr>
              <a:spcAft>
                <a:spcPts val="800"/>
              </a:spcAft>
            </a:pPr>
            <a:r>
              <a:rPr sz="1500">
                <a:solidFill>
                  <a:srgbClr val="FFFFFF"/>
                </a:solidFill>
                <a:latin typeface="Microsoft YaHei"/>
              </a:rPr>
              <a:t>▪ K6  接触监测：采呼吸带空气，平均和高峰都要控</a:t>
            </a:r>
          </a:p>
          <a:p>
            <a:pPr>
              <a:spcAft>
                <a:spcPts val="800"/>
              </a:spcAft>
            </a:pPr>
            <a:r>
              <a:rPr sz="1500">
                <a:solidFill>
                  <a:srgbClr val="FFFFFF"/>
                </a:solidFill>
                <a:latin typeface="Microsoft YaHei"/>
              </a:rPr>
              <a:t>▪ K7  先培训，读说明书，守规程</a:t>
            </a:r>
          </a:p>
          <a:p>
            <a:pPr>
              <a:spcAft>
                <a:spcPts val="800"/>
              </a:spcAft>
            </a:pPr>
            <a:r>
              <a:rPr sz="1500">
                <a:solidFill>
                  <a:srgbClr val="FFFFFF"/>
                </a:solidFill>
                <a:latin typeface="Microsoft YaHei"/>
              </a:rPr>
              <a:t>▪ K8  标签写明含甲醛和致癌</a:t>
            </a:r>
          </a:p>
          <a:p>
            <a:pPr>
              <a:spcAft>
                <a:spcPts val="800"/>
              </a:spcAft>
            </a:pPr>
            <a:r>
              <a:rPr sz="1500">
                <a:solidFill>
                  <a:srgbClr val="FFFFFF"/>
                </a:solidFill>
                <a:latin typeface="Microsoft YaHei"/>
              </a:rPr>
              <a:t>▪ K9  风险评估定防护，不让它接触你</a:t>
            </a:r>
          </a:p>
          <a:p>
            <a:pPr>
              <a:spcAft>
                <a:spcPts val="800"/>
              </a:spcAft>
            </a:pPr>
            <a:r>
              <a:rPr sz="1500">
                <a:solidFill>
                  <a:srgbClr val="FFFFFF"/>
                </a:solidFill>
                <a:latin typeface="Microsoft YaHei"/>
              </a:rPr>
              <a:t>▪ K10  通风最重要：在通风柜里开瓶配制</a:t>
            </a:r>
          </a:p>
          <a:p>
            <a:pPr>
              <a:spcAft>
                <a:spcPts val="800"/>
              </a:spcAft>
            </a:pPr>
            <a:r>
              <a:rPr sz="1500">
                <a:solidFill>
                  <a:srgbClr val="FFFFFF"/>
                </a:solidFill>
                <a:latin typeface="Microsoft YaHei"/>
              </a:rPr>
              <a:t>▪ K11  稀释要小心，稀溶液也有害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密闭储存，少量领用</a:t>
            </a:r>
          </a:p>
          <a:p>
            <a:pPr>
              <a:spcAft>
                <a:spcPts val="800"/>
              </a:spcAft>
            </a:pPr>
            <a:r>
              <a:rPr sz="1500">
                <a:solidFill>
                  <a:srgbClr val="FFFFFF"/>
                </a:solidFill>
                <a:latin typeface="Microsoft YaHei"/>
              </a:rPr>
              <a:t>▪ K13  应急程序，平时就要熟悉</a:t>
            </a:r>
          </a:p>
          <a:p>
            <a:pPr>
              <a:spcAft>
                <a:spcPts val="800"/>
              </a:spcAft>
            </a:pPr>
            <a:r>
              <a:rPr sz="1500">
                <a:solidFill>
                  <a:srgbClr val="FFFFFF"/>
                </a:solidFill>
                <a:latin typeface="Microsoft YaHei"/>
              </a:rPr>
              <a:t>▪ K14  二氯甲烷：危害容易被小看</a:t>
            </a:r>
          </a:p>
          <a:p>
            <a:pPr>
              <a:spcAft>
                <a:spcPts val="800"/>
              </a:spcAft>
            </a:pPr>
            <a:r>
              <a:rPr sz="1500">
                <a:solidFill>
                  <a:srgbClr val="FFFFFF"/>
                </a:solidFill>
                <a:latin typeface="Microsoft YaHei"/>
              </a:rPr>
              <a:t>▪ K15  易挥发、蒸气下沉，在通风柜里用</a:t>
            </a:r>
          </a:p>
          <a:p>
            <a:pPr>
              <a:spcAft>
                <a:spcPts val="800"/>
              </a:spcAft>
            </a:pPr>
            <a:r>
              <a:rPr sz="1500">
                <a:solidFill>
                  <a:srgbClr val="FFFFFF"/>
                </a:solidFill>
                <a:latin typeface="Microsoft YaHei"/>
              </a:rPr>
              <a:t>▪ K16  用量小，规矩不减</a:t>
            </a:r>
          </a:p>
          <a:p>
            <a:pPr>
              <a:spcAft>
                <a:spcPts val="800"/>
              </a:spcAft>
            </a:pPr>
            <a:r>
              <a:rPr sz="1500">
                <a:solidFill>
                  <a:srgbClr val="FFFFFF"/>
                </a:solidFill>
                <a:latin typeface="Microsoft YaHei"/>
              </a:rPr>
              <a:t>▪ K17  头晕发困就是警报</a:t>
            </a:r>
          </a:p>
          <a:p>
            <a:pPr>
              <a:spcAft>
                <a:spcPts val="800"/>
              </a:spcAft>
            </a:pPr>
            <a:r>
              <a:rPr sz="1500">
                <a:solidFill>
                  <a:srgbClr val="FFFFFF"/>
                </a:solidFill>
                <a:latin typeface="Microsoft YaHei"/>
              </a:rPr>
              <a:t>▪ S1  六价铬盐：致癌致敏，防尘单独收集</a:t>
            </a:r>
          </a:p>
          <a:p>
            <a:pPr>
              <a:spcAft>
                <a:spcPts val="800"/>
              </a:spcAft>
            </a:pPr>
            <a:r>
              <a:rPr sz="1500">
                <a:solidFill>
                  <a:srgbClr val="FFFFFF"/>
                </a:solidFill>
                <a:latin typeface="Microsoft YaHei"/>
              </a:rPr>
              <a:t>▪ S2  汞：蒸气看不见，能替代就替代</a:t>
            </a:r>
          </a:p>
          <a:p>
            <a:pPr>
              <a:spcAft>
                <a:spcPts val="800"/>
              </a:spcAft>
            </a:pPr>
            <a:r>
              <a:rPr sz="1500">
                <a:solidFill>
                  <a:srgbClr val="FFFFFF"/>
                </a:solidFill>
                <a:latin typeface="Microsoft YaHei"/>
              </a:rPr>
              <a:t>▪ K18  汞洒了：别碰、别扫、别吸，先报告</a:t>
            </a:r>
          </a:p>
          <a:p>
            <a:pPr>
              <a:spcAft>
                <a:spcPts val="800"/>
              </a:spcAft>
            </a:pPr>
            <a:r>
              <a:rPr sz="1500">
                <a:solidFill>
                  <a:srgbClr val="FFFFFF"/>
                </a:solidFill>
                <a:latin typeface="Microsoft YaHei"/>
              </a:rPr>
              <a:t>▪ S3  接触重点毒害品，按规定做职业健康检查</a:t>
            </a:r>
          </a:p>
          <a:p>
            <a:pPr>
              <a:spcAft>
                <a:spcPts val="800"/>
              </a:spcAft>
            </a:pPr>
            <a:r>
              <a:rPr sz="1500">
                <a:solidFill>
                  <a:srgbClr val="FFFFFF"/>
                </a:solidFill>
                <a:latin typeface="Microsoft YaHei"/>
              </a:rPr>
              <a:t>▪ K19  四件事：知危害、识材料、会防护、备应急</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化学品取用、转移与运输</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适用对象：全体进入化学、生物、材料、环境、医学等涉及化学品实验室的高校本科生、研究生和教职工（必修）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能做到取用前逐字核对名称和浓度，不尝、不凑闻，需要时扇闻，移液一律用洗耳球或移液器，严禁用嘴吸。</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能做到按需少取、不把移液管伸进原瓶、不把多余试剂倒回原瓶；倾倒时标签朝手心、瓶盖倒放、动作果断，倒完擦净瓶外并盖紧；称量粉末防扬尘。</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能做到化学品不随意带出实验室，校内转移使用二次容器、提篮或稳固推车。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能说出危险货物运输要规范包装、粘贴包装标志、由有资质的单位和培训合格的人员承担，不夹带、不用普通快递寄递。</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日起施行）及《危险化学品安全管理条例》（以现行文本为准）：学校、科研机构使用危险化学品的安全责任；危险化学品运输须由具备条件的单位承担</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系列（以现行文本为准）《化学品分类和标签规范》、GB 15258-2009（以现行文本为准）《化学品安全标签编写规定》：化学品名称、象形图和防范说明的识别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190-2009（以现行文本为准）《危险货物包装标志》：危险货物运输包装上的标志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6944-2025（以现行文本为准）《危险货物分类和品名编号》、GB 12268-2025（以现行文本为准）《危险货物品名表》：危险货物的分类和品名</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《危险货物道路运输安全管理办法》（以现行文本为准）：危险货物道路运输的托运、承运、包装和人员要求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号，以现行文本为准）及高校实验室安全检查项目表、本校危险化学品领用和转移管理制度</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取用前核对名称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化学品名称长且相似，一字之差危害不同</a:t>
            </a:r>
          </a:p>
          <a:p>
            <a:pPr>
              <a:spcAft>
                <a:spcPts val="1000"/>
              </a:spcAft>
            </a:pPr>
            <a:r>
              <a:rPr sz="2000">
                <a:solidFill>
                  <a:srgbClr val="222B33"/>
                </a:solidFill>
                <a:latin typeface="Microsoft YaHei"/>
              </a:rPr>
              <a:t>▪ 取用前逐字核对名称、浓度和规格</a:t>
            </a:r>
          </a:p>
          <a:p>
            <a:pPr>
              <a:spcAft>
                <a:spcPts val="1000"/>
              </a:spcAft>
            </a:pPr>
            <a:r>
              <a:rPr sz="2000">
                <a:solidFill>
                  <a:srgbClr val="222B33"/>
                </a:solidFill>
                <a:latin typeface="Microsoft YaHei"/>
              </a:rPr>
              <a:t>▪ 标签不清或无标签的不用，先报告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很多化学品名称又长又拗口，名称相近的试剂可能只差一个字或一个前缀，危害却完全不同。取错试剂可能导致剧烈反应、中毒或实验失败。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凭瓶子位置和颜色取用，不看标签</a:t>
            </a:r>
          </a:p>
          <a:p>
            <a:pPr>
              <a:spcAft>
                <a:spcPts val="1000"/>
              </a:spcAft>
            </a:pPr>
            <a:r>
              <a:rPr sz="1500">
                <a:solidFill>
                  <a:srgbClr val="222B33"/>
                </a:solidFill>
                <a:latin typeface="Microsoft YaHei"/>
              </a:rPr>
              <a:t>▪ 名称相近的试剂没逐字核对就用</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不尝不凑闻，需要时扇闻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绝不用尝的方法检验化学品</a:t>
            </a:r>
          </a:p>
          <a:p>
            <a:pPr>
              <a:spcAft>
                <a:spcPts val="1000"/>
              </a:spcAft>
            </a:pPr>
            <a:r>
              <a:rPr sz="1700">
                <a:solidFill>
                  <a:srgbClr val="222B33"/>
                </a:solidFill>
                <a:latin typeface="Microsoft YaHei"/>
              </a:rPr>
              <a:t>▪ 不把鼻子凑到瓶口闻</a:t>
            </a:r>
          </a:p>
          <a:p>
            <a:pPr>
              <a:spcAft>
                <a:spcPts val="1000"/>
              </a:spcAft>
            </a:pPr>
            <a:r>
              <a:rPr sz="1700">
                <a:solidFill>
                  <a:srgbClr val="222B33"/>
                </a:solidFill>
                <a:latin typeface="Microsoft YaHei"/>
              </a:rPr>
              <a:t>▪ 需要闻气味时，远离瓶口用手轻轻扇闻</a:t>
            </a:r>
          </a:p>
          <a:p>
            <a:pPr>
              <a:spcAft>
                <a:spcPts val="1000"/>
              </a:spcAft>
            </a:pPr>
            <a:r>
              <a:rPr sz="1700">
                <a:solidFill>
                  <a:srgbClr val="222B33"/>
                </a:solidFill>
                <a:latin typeface="Microsoft YaHei"/>
              </a:rPr>
              <a:t>▪ 有毒、易挥发的在通风柜里取用</a:t>
            </a:r>
          </a:p>
          <a:p>
            <a:pPr>
              <a:spcAft>
                <a:spcPts val="1000"/>
              </a:spcAft>
            </a:pPr>
            <a:r>
              <a:rPr sz="1700">
                <a:solidFill>
                  <a:srgbClr val="222B33"/>
                </a:solidFill>
                <a:latin typeface="Microsoft YaHei"/>
              </a:rPr>
              <a:t>▪ 笔、手和标签都别往嘴边放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实验室里的任何化学品都不能用嘴尝来鉴别，也不能把鼻子凑到容器口直接闻，以免吸入高浓度的有毒、刺激性蒸气。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凑近瓶口深吸辨别气味</a:t>
            </a:r>
          </a:p>
          <a:p>
            <a:pPr>
              <a:spcAft>
                <a:spcPts val="1000"/>
              </a:spcAft>
            </a:pPr>
            <a:r>
              <a:rPr sz="1500">
                <a:solidFill>
                  <a:srgbClr val="222B33"/>
                </a:solidFill>
                <a:latin typeface="Microsoft YaHei"/>
              </a:rPr>
              <a:t>▪ 在台面上敞开取用挥发性有毒试剂</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移液不用嘴吸，用洗耳球或移液器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移液严禁用嘴吸，任何液体都不行</a:t>
            </a:r>
          </a:p>
          <a:p>
            <a:pPr>
              <a:spcAft>
                <a:spcPts val="1000"/>
              </a:spcAft>
            </a:pPr>
            <a:r>
              <a:rPr sz="1700">
                <a:solidFill>
                  <a:srgbClr val="222B33"/>
                </a:solidFill>
                <a:latin typeface="Microsoft YaHei"/>
              </a:rPr>
              <a:t>▪ 一失手，试剂会吸进嘴里</a:t>
            </a:r>
          </a:p>
          <a:p>
            <a:pPr>
              <a:spcAft>
                <a:spcPts val="1000"/>
              </a:spcAft>
            </a:pPr>
            <a:r>
              <a:rPr sz="1700">
                <a:solidFill>
                  <a:srgbClr val="222B33"/>
                </a:solidFill>
                <a:latin typeface="Microsoft YaHei"/>
              </a:rPr>
              <a:t>▪ 用洗耳球、移液辅助器或移液器</a:t>
            </a:r>
          </a:p>
          <a:p>
            <a:pPr>
              <a:spcAft>
                <a:spcPts val="1000"/>
              </a:spcAft>
            </a:pPr>
            <a:r>
              <a:rPr sz="1700">
                <a:solidFill>
                  <a:srgbClr val="222B33"/>
                </a:solidFill>
                <a:latin typeface="Microsoft YaHei"/>
              </a:rPr>
              <a:t>▪ 化学、生物实验，规矩都一样</a:t>
            </a:r>
          </a:p>
          <a:p>
            <a:pPr>
              <a:spcAft>
                <a:spcPts val="1000"/>
              </a:spcAft>
            </a:pPr>
            <a:r>
              <a:rPr sz="1700">
                <a:solidFill>
                  <a:srgbClr val="222B33"/>
                </a:solidFill>
                <a:latin typeface="Microsoft YaHei"/>
              </a:rPr>
              <a:t>▪ 碎玻璃移液管放进锐器盒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嘴吸移液管是实验室的严禁行为：吸力稍大或注意力不集中，液体会直接进入口腔，造成化学灼伤、中毒或感染。这一要求对所有液体（包括清水、缓冲液）和所有实验室（化学、生物，包括一级生物安全实验室）都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觉得是清水就用嘴吸</a:t>
            </a:r>
          </a:p>
          <a:p>
            <a:pPr>
              <a:spcAft>
                <a:spcPts val="1000"/>
              </a:spcAft>
            </a:pPr>
            <a:r>
              <a:rPr sz="1500">
                <a:solidFill>
                  <a:srgbClr val="222B33"/>
                </a:solidFill>
                <a:latin typeface="Microsoft YaHei"/>
              </a:rPr>
              <a:t>▪ 没有洗耳球就“偶尔吸一下”</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按需少取，不伸进原瓶、不倒回原瓶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移液管不直接伸进原试剂瓶</a:t>
            </a:r>
          </a:p>
          <a:p>
            <a:pPr>
              <a:spcAft>
                <a:spcPts val="1000"/>
              </a:spcAft>
            </a:pPr>
            <a:r>
              <a:rPr sz="2000">
                <a:solidFill>
                  <a:srgbClr val="222B33"/>
                </a:solidFill>
                <a:latin typeface="Microsoft YaHei"/>
              </a:rPr>
              <a:t>▪ 先倒少量到小烧杯，再从中移取</a:t>
            </a:r>
          </a:p>
          <a:p>
            <a:pPr>
              <a:spcAft>
                <a:spcPts val="1000"/>
              </a:spcAft>
            </a:pPr>
            <a:r>
              <a:rPr sz="2000">
                <a:solidFill>
                  <a:srgbClr val="222B33"/>
                </a:solidFill>
                <a:latin typeface="Microsoft YaHei"/>
              </a:rPr>
              <a:t>▪ 多余试剂不倒回原瓶，防止污染</a:t>
            </a:r>
          </a:p>
          <a:p>
            <a:pPr>
              <a:spcAft>
                <a:spcPts val="1000"/>
              </a:spcAft>
            </a:pPr>
            <a:r>
              <a:rPr sz="2000">
                <a:solidFill>
                  <a:srgbClr val="222B33"/>
                </a:solidFill>
                <a:latin typeface="Microsoft YaHei"/>
              </a:rPr>
              <a:t>▪ 按需少取，剩余的按规定处理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移液管、药匙直接伸进原试剂瓶，会把杂质、水分或其他试剂带入整瓶，造成污染，甚至引发反应。正确做法是：估计用量，先把略多于所需的量倒入干净的小烧杯或称量容器，再从中移取。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把用过的移液管伸回原瓶再吸</a:t>
            </a:r>
          </a:p>
          <a:p>
            <a:pPr>
              <a:spcAft>
                <a:spcPts val="1000"/>
              </a:spcAft>
            </a:pPr>
            <a:r>
              <a:rPr sz="1500">
                <a:solidFill>
                  <a:srgbClr val="222B33"/>
                </a:solidFill>
                <a:latin typeface="Microsoft YaHei"/>
              </a:rPr>
              <a:t>▪ 把没用完的试剂倒回原瓶</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倾倒：标签朝手心，瓶盖倒放，动作果断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倒液体时标签朝手心，不污染标签</a:t>
            </a:r>
          </a:p>
          <a:p>
            <a:pPr>
              <a:spcAft>
                <a:spcPts val="1000"/>
              </a:spcAft>
            </a:pPr>
            <a:r>
              <a:rPr sz="2000">
                <a:solidFill>
                  <a:srgbClr val="222B33"/>
                </a:solidFill>
                <a:latin typeface="Microsoft YaHei"/>
              </a:rPr>
              <a:t>▪ 瓶盖倒放，不沾污台面</a:t>
            </a:r>
          </a:p>
          <a:p>
            <a:pPr>
              <a:spcAft>
                <a:spcPts val="1000"/>
              </a:spcAft>
            </a:pPr>
            <a:r>
              <a:rPr sz="2000">
                <a:solidFill>
                  <a:srgbClr val="222B33"/>
                </a:solidFill>
                <a:latin typeface="Microsoft YaHei"/>
              </a:rPr>
              <a:t>▪ 小口容器用漏斗，下面垫托盘</a:t>
            </a:r>
          </a:p>
          <a:p>
            <a:pPr>
              <a:spcAft>
                <a:spcPts val="1000"/>
              </a:spcAft>
            </a:pPr>
            <a:r>
              <a:rPr sz="2000">
                <a:solidFill>
                  <a:srgbClr val="222B33"/>
                </a:solidFill>
                <a:latin typeface="Microsoft YaHei"/>
              </a:rPr>
              <a:t>▪ 起倒、收尾干脆，防止液体顺壁流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倾倒液体时握住瓶身，标签朝向手心，这样即使有液体沿瓶口流下也不会腐蚀、污染标签，保证后来的人能看清名称和危害。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标签朝下倒，标签被腐蚀看不清</a:t>
            </a:r>
          </a:p>
          <a:p>
            <a:pPr>
              <a:spcAft>
                <a:spcPts val="1000"/>
              </a:spcAft>
            </a:pPr>
            <a:r>
              <a:rPr sz="1500">
                <a:solidFill>
                  <a:srgbClr val="222B33"/>
                </a:solidFill>
                <a:latin typeface="Microsoft YaHei"/>
              </a:rPr>
              <a:t>▪ 瓶盖口朝下放在台面上</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倒完擦净瓶外，随手盖紧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瓶口挂着的液滴不能不管</a:t>
            </a:r>
          </a:p>
          <a:p>
            <a:pPr>
              <a:spcAft>
                <a:spcPts val="1000"/>
              </a:spcAft>
            </a:pPr>
            <a:r>
              <a:rPr sz="2000">
                <a:solidFill>
                  <a:srgbClr val="222B33"/>
                </a:solidFill>
                <a:latin typeface="Microsoft YaHei"/>
              </a:rPr>
              <a:t>▪ 擦净瓶口和瓶身，防止下一个人接触</a:t>
            </a:r>
          </a:p>
          <a:p>
            <a:pPr>
              <a:spcAft>
                <a:spcPts val="1000"/>
              </a:spcAft>
            </a:pPr>
            <a:r>
              <a:rPr sz="2000">
                <a:solidFill>
                  <a:srgbClr val="222B33"/>
                </a:solidFill>
                <a:latin typeface="Microsoft YaHei"/>
              </a:rPr>
              <a:t>▪ 随开随盖，用完盖紧放回原处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倒完液体后，瓶口常挂着液滴，顺瓶壁流下会形成小洒漏，污染台面和试剂架，下一个拿瓶子的人可能直接接触到化学品。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瓶外留着流痕就放回架上</a:t>
            </a:r>
          </a:p>
          <a:p>
            <a:pPr>
              <a:spcAft>
                <a:spcPts val="1000"/>
              </a:spcAft>
            </a:pPr>
            <a:r>
              <a:rPr sz="1500">
                <a:solidFill>
                  <a:srgbClr val="222B33"/>
                </a:solidFill>
                <a:latin typeface="Microsoft YaHei"/>
              </a:rPr>
              <a:t>▪ 瓶盖只是搭在瓶口没拧紧</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称量粉末防扬尘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称粉末要防止粉尘扬起</a:t>
            </a:r>
          </a:p>
          <a:p>
            <a:pPr>
              <a:spcAft>
                <a:spcPts val="1000"/>
              </a:spcAft>
            </a:pPr>
            <a:r>
              <a:rPr sz="2000">
                <a:solidFill>
                  <a:srgbClr val="222B33"/>
                </a:solidFill>
                <a:latin typeface="Microsoft YaHei"/>
              </a:rPr>
              <a:t>▪ 轻取轻放，在天平防风罩内称量</a:t>
            </a:r>
          </a:p>
          <a:p>
            <a:pPr>
              <a:spcAft>
                <a:spcPts val="1000"/>
              </a:spcAft>
            </a:pPr>
            <a:r>
              <a:rPr sz="2000">
                <a:solidFill>
                  <a:srgbClr val="222B33"/>
                </a:solidFill>
                <a:latin typeface="Microsoft YaHei"/>
              </a:rPr>
              <a:t>▪ 有毒粉末在通风设施里称，戴好防护</a:t>
            </a:r>
          </a:p>
          <a:p>
            <a:pPr>
              <a:spcAft>
                <a:spcPts val="1000"/>
              </a:spcAft>
            </a:pPr>
            <a:r>
              <a:rPr sz="2000">
                <a:solidFill>
                  <a:srgbClr val="222B33"/>
                </a:solidFill>
                <a:latin typeface="Microsoft YaHei"/>
              </a:rPr>
              <a:t>▪ 称完清理天平，配好的母液贴标签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粉末状化学品容易在取用和称量时扬起，被吸入或落到皮肤、台面上。称量前先查阅安全技术说明书，穿戴实验服、手套和护目镜。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在敞开天平上快速倾倒粉末</a:t>
            </a:r>
          </a:p>
          <a:p>
            <a:pPr>
              <a:spcAft>
                <a:spcPts val="1000"/>
              </a:spcAft>
            </a:pPr>
            <a:r>
              <a:rPr sz="1500">
                <a:solidFill>
                  <a:srgbClr val="222B33"/>
                </a:solidFill>
                <a:latin typeface="Microsoft YaHei"/>
              </a:rPr>
              <a:t>▪ 称完不清理，粉末留在天平上</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化学品不随意带出实验室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化学品不能随身带出实验室</a:t>
            </a:r>
          </a:p>
          <a:p>
            <a:pPr>
              <a:spcAft>
                <a:spcPts val="1000"/>
              </a:spcAft>
            </a:pPr>
            <a:r>
              <a:rPr sz="2000">
                <a:solidFill>
                  <a:srgbClr val="222B33"/>
                </a:solidFill>
                <a:latin typeface="Microsoft YaHei"/>
              </a:rPr>
              <a:t>▪ 不带回宿舍，不带进公共场所</a:t>
            </a:r>
          </a:p>
          <a:p>
            <a:pPr>
              <a:spcAft>
                <a:spcPts val="1000"/>
              </a:spcAft>
            </a:pPr>
            <a:r>
              <a:rPr sz="2000">
                <a:solidFill>
                  <a:srgbClr val="222B33"/>
                </a:solidFill>
                <a:latin typeface="Microsoft YaHei"/>
              </a:rPr>
              <a:t>▪ 确需转移，先经老师同意并登记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化学品只能在实验室内按规定使用和存放，不得装进书包、口袋私自带出实验室，更不能带回宿舍、教室、食堂等公共场所。私带化学品既有中毒、火灾风险，也违反危险化学品管理规定。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把少量试剂装进小瓶带回宿舍</a:t>
            </a:r>
          </a:p>
          <a:p>
            <a:pPr>
              <a:spcAft>
                <a:spcPts val="1000"/>
              </a:spcAft>
            </a:pPr>
            <a:r>
              <a:rPr sz="1500">
                <a:solidFill>
                  <a:srgbClr val="222B33"/>
                </a:solidFill>
                <a:latin typeface="Microsoft YaHei"/>
              </a:rPr>
              <a:t>▪ 不登记就把试剂借给其他实验室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校内转移：二次容器和提篮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实验室之间转移，用防破碎的二次容器</a:t>
            </a:r>
          </a:p>
          <a:p>
            <a:pPr>
              <a:spcAft>
                <a:spcPts val="1000"/>
              </a:spcAft>
            </a:pPr>
            <a:r>
              <a:rPr sz="1700">
                <a:solidFill>
                  <a:srgbClr val="222B33"/>
                </a:solidFill>
                <a:latin typeface="Microsoft YaHei"/>
              </a:rPr>
              <a:t>▪ 瓶子破了也能兜住不洒</a:t>
            </a:r>
          </a:p>
          <a:p>
            <a:pPr>
              <a:spcAft>
                <a:spcPts val="1000"/>
              </a:spcAft>
            </a:pPr>
            <a:r>
              <a:rPr sz="1700">
                <a:solidFill>
                  <a:srgbClr val="222B33"/>
                </a:solidFill>
                <a:latin typeface="Microsoft YaHei"/>
              </a:rPr>
              <a:t>▪ 用带隔挡的提篮，双手平稳拿</a:t>
            </a:r>
          </a:p>
          <a:p>
            <a:pPr>
              <a:spcAft>
                <a:spcPts val="1000"/>
              </a:spcAft>
            </a:pPr>
            <a:r>
              <a:rPr sz="1700">
                <a:solidFill>
                  <a:srgbClr val="222B33"/>
                </a:solidFill>
                <a:latin typeface="Microsoft YaHei"/>
              </a:rPr>
              <a:t>▪ 单瓶托住瓶底，不拎瓶颈</a:t>
            </a:r>
          </a:p>
          <a:p>
            <a:pPr>
              <a:spcAft>
                <a:spcPts val="1000"/>
              </a:spcAft>
            </a:pPr>
            <a:r>
              <a:rPr sz="1700">
                <a:solidFill>
                  <a:srgbClr val="222B33"/>
                </a:solidFill>
                <a:latin typeface="Microsoft YaHei"/>
              </a:rPr>
              <a:t>▪ 一次别拿太多，不叠放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实验室之间、楼层之间转移化学品时，把试剂瓶放进防破碎的二次容器（如带盖的塑料桶、橡胶提桶、专用防护套），万一瓶子破裂，液体也能被兜住，不洒到走廊和楼梯上。易燃易爆化学品更要使用二次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抱着几个瓶子走长路</a:t>
            </a:r>
          </a:p>
          <a:p>
            <a:pPr>
              <a:spcAft>
                <a:spcPts val="1000"/>
              </a:spcAft>
            </a:pPr>
            <a:r>
              <a:rPr sz="1500">
                <a:solidFill>
                  <a:srgbClr val="222B33"/>
                </a:solidFill>
                <a:latin typeface="Microsoft YaHei"/>
              </a:rPr>
              <a:t>▪ 单手拎着瓶颈上下楼</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多瓶搬运用稳固推车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瓶子多就用带护边的推车</a:t>
            </a:r>
          </a:p>
          <a:p>
            <a:pPr>
              <a:spcAft>
                <a:spcPts val="1000"/>
              </a:spcAft>
            </a:pPr>
            <a:r>
              <a:rPr sz="2000">
                <a:solidFill>
                  <a:srgbClr val="222B33"/>
                </a:solidFill>
                <a:latin typeface="Microsoft YaHei"/>
              </a:rPr>
              <a:t>▪ 仪器车、小推车容易翻，不能用</a:t>
            </a:r>
          </a:p>
          <a:p>
            <a:pPr>
              <a:spcAft>
                <a:spcPts val="1000"/>
              </a:spcAft>
            </a:pPr>
            <a:r>
              <a:rPr sz="2000">
                <a:solidFill>
                  <a:srgbClr val="222B33"/>
                </a:solidFill>
                <a:latin typeface="Microsoft YaHei"/>
              </a:rPr>
              <a:t>▪ 地面不平用大轮稳固推车</a:t>
            </a:r>
          </a:p>
          <a:p>
            <a:pPr>
              <a:spcAft>
                <a:spcPts val="1000"/>
              </a:spcAft>
            </a:pPr>
            <a:r>
              <a:rPr sz="2000">
                <a:solidFill>
                  <a:srgbClr val="222B33"/>
                </a:solidFill>
                <a:latin typeface="Microsoft YaHei"/>
              </a:rPr>
              <a:t>▪ 慢慢推，走通畅的路线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需要搬运多瓶或较重的化学品时，不要抱着走长路，使用带护边（护栏）、轮子较大、重心低的化学品推车，瓶子放在托盘或二次容器里，防止滑落。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用无护边的小推车运试剂</a:t>
            </a:r>
          </a:p>
          <a:p>
            <a:pPr>
              <a:spcAft>
                <a:spcPts val="1000"/>
              </a:spcAft>
            </a:pPr>
            <a:r>
              <a:rPr sz="1500">
                <a:solidFill>
                  <a:srgbClr val="222B33"/>
                </a:solidFill>
                <a:latin typeface="Microsoft YaHei"/>
              </a:rPr>
              <a:t>▪ 推车堆得很高、走得很快</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运输：规范包装、标志和专业人员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危险货物包装要合规，粘贴包装标志</a:t>
            </a:r>
          </a:p>
          <a:p>
            <a:pPr>
              <a:spcAft>
                <a:spcPts val="1000"/>
              </a:spcAft>
            </a:pPr>
            <a:r>
              <a:rPr sz="1700">
                <a:solidFill>
                  <a:srgbClr val="222B33"/>
                </a:solidFill>
                <a:latin typeface="Microsoft YaHei"/>
              </a:rPr>
              <a:t>▪ 封装可靠，破损渗漏的不能运</a:t>
            </a:r>
          </a:p>
          <a:p>
            <a:pPr>
              <a:spcAft>
                <a:spcPts val="1000"/>
              </a:spcAft>
            </a:pPr>
            <a:r>
              <a:rPr sz="1700">
                <a:solidFill>
                  <a:srgbClr val="222B33"/>
                </a:solidFill>
                <a:latin typeface="Microsoft YaHei"/>
              </a:rPr>
              <a:t>▪ 不随身夹带，不用普通快递寄递</a:t>
            </a:r>
          </a:p>
          <a:p>
            <a:pPr>
              <a:spcAft>
                <a:spcPts val="1000"/>
              </a:spcAft>
            </a:pPr>
            <a:r>
              <a:rPr sz="1700">
                <a:solidFill>
                  <a:srgbClr val="222B33"/>
                </a:solidFill>
                <a:latin typeface="Microsoft YaHei"/>
              </a:rPr>
              <a:t>▪ 需要运输，通过学校走正规渠道</a:t>
            </a:r>
          </a:p>
          <a:p>
            <a:pPr>
              <a:spcAft>
                <a:spcPts val="1000"/>
              </a:spcAft>
            </a:pPr>
            <a:r>
              <a:rPr sz="1700">
                <a:solidFill>
                  <a:srgbClr val="222B33"/>
                </a:solidFill>
                <a:latin typeface="Microsoft YaHei"/>
              </a:rPr>
              <a:t>▪ 由培训合格的人员操作，懂得应急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校外运输的危险化学品属于危险货物，要按国家标准分类（GB 6944-2025、GB 12268-2025，以现行文本为准），使用合规的包装并可靠封装，包装上粘贴危险货物包装标志（GB 190-2009，以现行文本为准……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把试剂装进行李箱带上高铁</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用玻璃移液管吸取缓冲液，正确的做法是：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缓冲液无毒，可以用嘴吸</a:t>
            </a:r>
          </a:p>
          <a:p>
            <a:pPr algn="l"/>
            <a:r>
              <a:rPr sz="1500" b="0">
                <a:solidFill>
                  <a:srgbClr val="222B33"/>
                </a:solidFill>
                <a:latin typeface="Microsoft YaHei"/>
              </a:rPr>
              <a:t>B. 用洗耳球或移液辅助器</a:t>
            </a:r>
          </a:p>
          <a:p>
            <a:pPr algn="l"/>
            <a:r>
              <a:rPr sz="1500" b="0">
                <a:solidFill>
                  <a:srgbClr val="222B33"/>
                </a:solidFill>
                <a:latin typeface="Microsoft YaHei"/>
              </a:rPr>
              <a:t>C. 先用嘴吸一点再换洗耳球</a:t>
            </a:r>
          </a:p>
          <a:p>
            <a:pPr algn="l"/>
            <a:r>
              <a:rPr sz="1500" b="0">
                <a:solidFill>
                  <a:srgbClr val="222B33"/>
                </a:solidFill>
                <a:latin typeface="Microsoft YaHei"/>
              </a:rPr>
              <a:t>D. 直接把移液管伸进原试剂瓶用嘴吸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判断：取出的试剂没用完，只要没被污染，可以倒回原瓶。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倾倒试剂时，下列做法正确的是：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标签朝下</a:t>
            </a:r>
          </a:p>
          <a:p>
            <a:pPr algn="l"/>
            <a:r>
              <a:rPr sz="1500" b="0">
                <a:solidFill>
                  <a:srgbClr val="222B33"/>
                </a:solidFill>
                <a:latin typeface="Microsoft YaHei"/>
              </a:rPr>
              <a:t>B. 瓶盖口朝下放在台面</a:t>
            </a:r>
          </a:p>
          <a:p>
            <a:pPr algn="l"/>
            <a:r>
              <a:rPr sz="1500" b="0">
                <a:solidFill>
                  <a:srgbClr val="222B33"/>
                </a:solidFill>
                <a:latin typeface="Microsoft YaHei"/>
              </a:rPr>
              <a:t>C. 标签朝手心，瓶盖倒放，倒完擦净瓶外并盖紧</a:t>
            </a:r>
          </a:p>
          <a:p>
            <a:pPr algn="l"/>
            <a:r>
              <a:rPr sz="1500" b="0">
                <a:solidFill>
                  <a:srgbClr val="222B33"/>
                </a:solidFill>
                <a:latin typeface="Microsoft YaHei"/>
              </a:rPr>
              <a:t>D. 慢慢犹豫地倒</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需要把几瓶溶剂从一楼实验室送到三楼实验室，最合适的方式是：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抱在怀里走楼梯</a:t>
            </a:r>
          </a:p>
          <a:p>
            <a:pPr algn="l"/>
            <a:r>
              <a:rPr sz="1500" b="0">
                <a:solidFill>
                  <a:srgbClr val="222B33"/>
                </a:solidFill>
                <a:latin typeface="Microsoft YaHei"/>
              </a:rPr>
              <a:t>B. 单手拎着瓶颈</a:t>
            </a:r>
          </a:p>
          <a:p>
            <a:pPr algn="l"/>
            <a:r>
              <a:rPr sz="1500" b="0">
                <a:solidFill>
                  <a:srgbClr val="222B33"/>
                </a:solidFill>
                <a:latin typeface="Microsoft YaHei"/>
              </a:rPr>
              <a:t>C. 装进带隔挡的提篮或二次容器，瓶多时用带护边的推车</a:t>
            </a:r>
          </a:p>
          <a:p>
            <a:pPr algn="l"/>
            <a:r>
              <a:rPr sz="1500" b="0">
                <a:solidFill>
                  <a:srgbClr val="222B33"/>
                </a:solidFill>
                <a:latin typeface="Microsoft YaHei"/>
              </a:rPr>
              <a:t>D. 用普通仪器车快速推过去</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简答：课题组需要把一批危险化学品送到外地合作单位，应该怎么办？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取用前核对名称</a:t>
            </a:r>
          </a:p>
          <a:p>
            <a:pPr>
              <a:spcAft>
                <a:spcPts val="800"/>
              </a:spcAft>
            </a:pPr>
            <a:r>
              <a:rPr sz="1500">
                <a:solidFill>
                  <a:srgbClr val="FFFFFF"/>
                </a:solidFill>
                <a:latin typeface="Microsoft YaHei"/>
              </a:rPr>
              <a:t>▪ K2  不尝不凑闻，需要时扇闻</a:t>
            </a:r>
          </a:p>
          <a:p>
            <a:pPr>
              <a:spcAft>
                <a:spcPts val="800"/>
              </a:spcAft>
            </a:pPr>
            <a:r>
              <a:rPr sz="1500">
                <a:solidFill>
                  <a:srgbClr val="FFFFFF"/>
                </a:solidFill>
                <a:latin typeface="Microsoft YaHei"/>
              </a:rPr>
              <a:t>▪ K3  移液不用嘴吸，用洗耳球或移液器</a:t>
            </a:r>
          </a:p>
          <a:p>
            <a:pPr>
              <a:spcAft>
                <a:spcPts val="800"/>
              </a:spcAft>
            </a:pPr>
            <a:r>
              <a:rPr sz="1500">
                <a:solidFill>
                  <a:srgbClr val="FFFFFF"/>
                </a:solidFill>
                <a:latin typeface="Microsoft YaHei"/>
              </a:rPr>
              <a:t>▪ K4  按需少取，不伸进原瓶、不倒回原瓶</a:t>
            </a:r>
          </a:p>
          <a:p>
            <a:pPr>
              <a:spcAft>
                <a:spcPts val="800"/>
              </a:spcAft>
            </a:pPr>
            <a:r>
              <a:rPr sz="1500">
                <a:solidFill>
                  <a:srgbClr val="FFFFFF"/>
                </a:solidFill>
                <a:latin typeface="Microsoft YaHei"/>
              </a:rPr>
              <a:t>▪ K5  倾倒：标签朝手心，瓶盖倒放，动作果断</a:t>
            </a:r>
          </a:p>
          <a:p>
            <a:pPr>
              <a:spcAft>
                <a:spcPts val="800"/>
              </a:spcAft>
            </a:pPr>
            <a:r>
              <a:rPr sz="1500">
                <a:solidFill>
                  <a:srgbClr val="FFFFFF"/>
                </a:solidFill>
                <a:latin typeface="Microsoft YaHei"/>
              </a:rPr>
              <a:t>▪ K6  倒完擦净瓶外，随手盖紧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称量粉末防扬尘</a:t>
            </a:r>
          </a:p>
          <a:p>
            <a:pPr>
              <a:spcAft>
                <a:spcPts val="800"/>
              </a:spcAft>
            </a:pPr>
            <a:r>
              <a:rPr sz="1500">
                <a:solidFill>
                  <a:srgbClr val="FFFFFF"/>
                </a:solidFill>
                <a:latin typeface="Microsoft YaHei"/>
              </a:rPr>
              <a:t>▪ K8  化学品不随意带出实验室</a:t>
            </a:r>
          </a:p>
          <a:p>
            <a:pPr>
              <a:spcAft>
                <a:spcPts val="800"/>
              </a:spcAft>
            </a:pPr>
            <a:r>
              <a:rPr sz="1500">
                <a:solidFill>
                  <a:srgbClr val="FFFFFF"/>
                </a:solidFill>
                <a:latin typeface="Microsoft YaHei"/>
              </a:rPr>
              <a:t>▪ K9  校内转移：二次容器和提篮</a:t>
            </a:r>
          </a:p>
          <a:p>
            <a:pPr>
              <a:spcAft>
                <a:spcPts val="800"/>
              </a:spcAft>
            </a:pPr>
            <a:r>
              <a:rPr sz="1500">
                <a:solidFill>
                  <a:srgbClr val="FFFFFF"/>
                </a:solidFill>
                <a:latin typeface="Microsoft YaHei"/>
              </a:rPr>
              <a:t>▪ K10  多瓶搬运用稳固推车</a:t>
            </a:r>
          </a:p>
          <a:p>
            <a:pPr>
              <a:spcAft>
                <a:spcPts val="800"/>
              </a:spcAft>
            </a:pPr>
            <a:r>
              <a:rPr sz="1500">
                <a:solidFill>
                  <a:srgbClr val="FFFFFF"/>
                </a:solidFill>
                <a:latin typeface="Microsoft YaHei"/>
              </a:rPr>
              <a:t>▪ K11  运输：规范包装、标志和专业人员</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通风柜原理与实验室通风</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79 镜）　适用对象：全体使用化学通风柜和在化学类实验室工作的高校本科生、研究生和教职工（必修）；化学、化工、材料、环境、医学、生命科学等专业重点学习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能说出化学通风柜靠向内气流形成屏障、把有害物捕集并排到室外，从而护住呼吸带；面风速要在规定范围内，不是越大越好。</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能判断视窗高度、柜内杂物和大设备、人员走动、门窗和送风口等因素会打乱气流。</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能做到使用前查看检测合格标识和风量报警器，报警时“停、关、报”，检测和调整交给专业人员。</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能说出实验室全面通风要持续运行并保持负压，高氯酸等特殊危害要使用专用通风柜。</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日起施行）及《危险化学品安全管理条例》（以现行文本为准）：学校、科研机构使用危险化学品应具备相应的安全设施并保持正常使用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号，以现行文本为准）及高校实验室安全检查项目表：通风柜等安全设施的配置、定期检测和维护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第1部分：化学有害因素》：控制有害物接触，优先采用通风等工程控制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JGJ 91（以现行文本为准）《科研建筑设计标准》：实验室通风、排风和气流组织的设计要求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本校实验室通风设施管理规定和通风柜检测制度：面风速、换气次数等具体指标以本校规定和设备标识为准</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通风柜：捕集排走有害物，护住呼吸带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很多化学品会放出有害的烟、雾、蒸气和粉尘</a:t>
            </a:r>
          </a:p>
          <a:p>
            <a:pPr>
              <a:spcAft>
                <a:spcPts val="1000"/>
              </a:spcAft>
            </a:pPr>
            <a:r>
              <a:rPr sz="2000">
                <a:solidFill>
                  <a:srgbClr val="222B33"/>
                </a:solidFill>
                <a:latin typeface="Microsoft YaHei"/>
              </a:rPr>
              <a:t>▪ 通风柜把污染物捕集并排走，护住呼吸带</a:t>
            </a:r>
          </a:p>
          <a:p>
            <a:pPr>
              <a:spcAft>
                <a:spcPts val="1000"/>
              </a:spcAft>
            </a:pPr>
            <a:r>
              <a:rPr sz="2000">
                <a:solidFill>
                  <a:srgbClr val="222B33"/>
                </a:solidFill>
                <a:latin typeface="Microsoft YaHei"/>
              </a:rPr>
              <a:t>▪ 有毒化学品实验在通风柜内进行</a:t>
            </a:r>
          </a:p>
          <a:p>
            <a:pPr>
              <a:spcAft>
                <a:spcPts val="1000"/>
              </a:spcAft>
            </a:pPr>
            <a:r>
              <a:rPr sz="2000">
                <a:solidFill>
                  <a:srgbClr val="222B33"/>
                </a:solidFill>
                <a:latin typeface="Microsoft YaHei"/>
              </a:rPr>
              <a:t>▪ 通风柜有多种形式，原理基本相同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许多化学品在使用中会放出有害的烟、雾、蒸气和颗粒物。人的口鼻周围的空气区域称为呼吸带，有害物进入呼吸带就会被吸入体内。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把通风柜当成普通储物柜或实验台</a:t>
            </a:r>
          </a:p>
          <a:p>
            <a:pPr>
              <a:spcAft>
                <a:spcPts val="1000"/>
              </a:spcAft>
            </a:pPr>
            <a:r>
              <a:rPr sz="1500">
                <a:solidFill>
                  <a:srgbClr val="222B33"/>
                </a:solidFill>
                <a:latin typeface="Microsoft YaHei"/>
              </a:rPr>
              <a:t>▪ 认为开窗通风就能代替通风柜</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工作原理：向内气流形成屏障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空气不断从柜口吸进柜内</a:t>
            </a:r>
          </a:p>
          <a:p>
            <a:pPr>
              <a:spcAft>
                <a:spcPts val="1000"/>
              </a:spcAft>
            </a:pPr>
            <a:r>
              <a:rPr sz="2000">
                <a:solidFill>
                  <a:srgbClr val="222B33"/>
                </a:solidFill>
                <a:latin typeface="Microsoft YaHei"/>
              </a:rPr>
              <a:t>▪ 柜口形成一道向内的空气屏障</a:t>
            </a:r>
          </a:p>
          <a:p>
            <a:pPr>
              <a:spcAft>
                <a:spcPts val="1000"/>
              </a:spcAft>
            </a:pPr>
            <a:r>
              <a:rPr sz="2000">
                <a:solidFill>
                  <a:srgbClr val="222B33"/>
                </a:solidFill>
                <a:latin typeface="Microsoft YaHei"/>
              </a:rPr>
              <a:t>▪ 污染物从柜后被抽走，经风管排到楼外稀释</a:t>
            </a:r>
          </a:p>
          <a:p>
            <a:pPr>
              <a:spcAft>
                <a:spcPts val="1000"/>
              </a:spcAft>
            </a:pPr>
            <a:r>
              <a:rPr sz="2000">
                <a:solidFill>
                  <a:srgbClr val="222B33"/>
                </a:solidFill>
                <a:latin typeface="Microsoft YaHei"/>
              </a:rPr>
              <a:t>▪ 视窗仍要尽量放低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排风机通过风管从柜内持续抽气，室内空气从柜口不断流入，在柜口形成一道向内的空气屏障（气帘），把柜内产生的污染物关在柜里。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以为通风柜会把有害物“过滤净化”后吹回室内</a:t>
            </a:r>
          </a:p>
          <a:p>
            <a:pPr>
              <a:spcAft>
                <a:spcPts val="1000"/>
              </a:spcAft>
            </a:pPr>
            <a:r>
              <a:rPr sz="1500">
                <a:solidFill>
                  <a:srgbClr val="222B33"/>
                </a:solidFill>
                <a:latin typeface="Microsoft YaHei"/>
              </a:rPr>
              <a:t>▪ 认为视窗开得越大越通风</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面风速在规定范围，不是越大越好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柜口的平均风速叫面风速</a:t>
            </a:r>
          </a:p>
          <a:p>
            <a:pPr>
              <a:spcAft>
                <a:spcPts val="1000"/>
              </a:spcAft>
            </a:pPr>
            <a:r>
              <a:rPr sz="2000">
                <a:solidFill>
                  <a:srgbClr val="222B33"/>
                </a:solidFill>
                <a:latin typeface="Microsoft YaHei"/>
              </a:rPr>
              <a:t>▪ 风速太小，挡不住蒸气</a:t>
            </a:r>
          </a:p>
          <a:p>
            <a:pPr>
              <a:spcAft>
                <a:spcPts val="1000"/>
              </a:spcAft>
            </a:pPr>
            <a:r>
              <a:rPr sz="2000">
                <a:solidFill>
                  <a:srgbClr val="222B33"/>
                </a:solidFill>
                <a:latin typeface="Microsoft YaHei"/>
              </a:rPr>
              <a:t>▪ 风速太大会起湍流，同样不好</a:t>
            </a:r>
          </a:p>
          <a:p>
            <a:pPr>
              <a:spcAft>
                <a:spcPts val="1000"/>
              </a:spcAft>
            </a:pPr>
            <a:r>
              <a:rPr sz="2000">
                <a:solidFill>
                  <a:srgbClr val="222B33"/>
                </a:solidFill>
                <a:latin typeface="Microsoft YaHei"/>
              </a:rPr>
              <a:t>▪ 要在规定范围内，以本校规定和设备标识为准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面风速是空气流过通风柜开口时的平均速度，反映向内气流的强弱。面风速过低，屏障太弱，蒸气容易逸出柜外。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自行把风量调到最大以为更安全</a:t>
            </a:r>
          </a:p>
          <a:p>
            <a:pPr>
              <a:spcAft>
                <a:spcPts val="1000"/>
              </a:spcAft>
            </a:pPr>
            <a:r>
              <a:rPr sz="1500">
                <a:solidFill>
                  <a:srgbClr val="222B33"/>
                </a:solidFill>
                <a:latin typeface="Microsoft YaHei"/>
              </a:rPr>
              <a:t>▪ 不知道本柜面风速是否合格就使用</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借烟雾和飘带看见气流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气流看不见，可借烟雾或飘带观察</a:t>
            </a:r>
          </a:p>
          <a:p>
            <a:pPr>
              <a:spcAft>
                <a:spcPts val="1000"/>
              </a:spcAft>
            </a:pPr>
            <a:r>
              <a:rPr sz="2000">
                <a:solidFill>
                  <a:srgbClr val="222B33"/>
                </a:solidFill>
                <a:latin typeface="Microsoft YaHei"/>
              </a:rPr>
              <a:t>▪ 白烟平稳往里走，说明气流方向正常</a:t>
            </a:r>
          </a:p>
          <a:p>
            <a:pPr>
              <a:spcAft>
                <a:spcPts val="1000"/>
              </a:spcAft>
            </a:pPr>
            <a:r>
              <a:rPr sz="2000">
                <a:solidFill>
                  <a:srgbClr val="222B33"/>
                </a:solidFill>
                <a:latin typeface="Microsoft YaHei"/>
              </a:rPr>
              <a:t>▪ 飘带只能看出风机在抽风，看不出风速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气流看不见、摸不着，可以借助烟雾或轻飘带直观地看到。柜口下沿贴一条轻飘带，风机开启时飘带向柜内飘动，说明柜子在抽风。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看到飘带往里飘就认为一定合格</a:t>
            </a:r>
          </a:p>
          <a:p>
            <a:pPr>
              <a:spcAft>
                <a:spcPts val="1000"/>
              </a:spcAft>
            </a:pPr>
            <a:r>
              <a:rPr sz="1500">
                <a:solidFill>
                  <a:srgbClr val="222B33"/>
                </a:solidFill>
                <a:latin typeface="Microsoft YaHei"/>
              </a:rPr>
              <a:t>▪ 在柜内点烟或燃烧物品“看气流”</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气流容易被打乱，不要干扰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柜内气流很容易被打乱</a:t>
            </a:r>
          </a:p>
          <a:p>
            <a:pPr>
              <a:spcAft>
                <a:spcPts val="1000"/>
              </a:spcAft>
            </a:pPr>
            <a:r>
              <a:rPr sz="2000">
                <a:solidFill>
                  <a:srgbClr val="222B33"/>
                </a:solidFill>
                <a:latin typeface="Microsoft YaHei"/>
              </a:rPr>
              <a:t>▪ 视窗高度、柜内杂物、人员走动、门窗都有影响</a:t>
            </a:r>
          </a:p>
          <a:p>
            <a:pPr>
              <a:spcAft>
                <a:spcPts val="1000"/>
              </a:spcAft>
            </a:pPr>
            <a:r>
              <a:rPr sz="2000">
                <a:solidFill>
                  <a:srgbClr val="222B33"/>
                </a:solidFill>
                <a:latin typeface="Microsoft YaHei"/>
              </a:rPr>
              <a:t>▪ 视窗开得越大，柜口风速越低</a:t>
            </a:r>
          </a:p>
          <a:p>
            <a:pPr>
              <a:spcAft>
                <a:spcPts val="1000"/>
              </a:spcAft>
            </a:pPr>
            <a:r>
              <a:rPr sz="2000">
                <a:solidFill>
                  <a:srgbClr val="222B33"/>
                </a:solidFill>
                <a:latin typeface="Microsoft YaHei"/>
              </a:rPr>
              <a:t>▪ 气流一乱，污染空气会跑出来，绝不能干扰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通风柜的保护效果依赖平稳的向内气流，而这种气流很容易被打断或改变。影响因素主要有：视窗高度、柜内堆放的物品和大设备、柜前人员走动和快速动作、门窗开关和送风口、风扇等横向气流。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柜内长期堆放试剂和杂物</a:t>
            </a:r>
          </a:p>
          <a:p>
            <a:pPr>
              <a:spcAft>
                <a:spcPts val="1000"/>
              </a:spcAft>
            </a:pPr>
            <a:r>
              <a:rPr sz="1500">
                <a:solidFill>
                  <a:srgbClr val="222B33"/>
                </a:solidFill>
                <a:latin typeface="Microsoft YaHei"/>
              </a:rPr>
              <a:t>▪ 视窗全开做实验</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柜内大设备要垫高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柜内大设备会挡住气流</a:t>
            </a:r>
          </a:p>
          <a:p>
            <a:pPr>
              <a:spcAft>
                <a:spcPts val="1000"/>
              </a:spcAft>
            </a:pPr>
            <a:r>
              <a:rPr sz="2000">
                <a:solidFill>
                  <a:srgbClr val="222B33"/>
                </a:solidFill>
                <a:latin typeface="Microsoft YaHei"/>
              </a:rPr>
              <a:t>▪ 把设备垫高，让空气从下面流过</a:t>
            </a:r>
          </a:p>
          <a:p>
            <a:pPr>
              <a:spcAft>
                <a:spcPts val="1000"/>
              </a:spcAft>
            </a:pPr>
            <a:r>
              <a:rPr sz="2000">
                <a:solidFill>
                  <a:srgbClr val="222B33"/>
                </a:solidFill>
                <a:latin typeface="Microsoft YaHei"/>
              </a:rPr>
              <a:t>▪ 设备不要贴着后部排风缝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旋转蒸发仪、加热浴、电炉等较大的设备直接放在柜内台面上，会挡住流向下部排风缝的气流，在设备前后形成旋涡。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大设备直接压在柜底台面上</a:t>
            </a:r>
          </a:p>
          <a:p>
            <a:pPr>
              <a:spcAft>
                <a:spcPts val="1000"/>
              </a:spcAft>
            </a:pPr>
            <a:r>
              <a:rPr sz="1500">
                <a:solidFill>
                  <a:srgbClr val="222B33"/>
                </a:solidFill>
                <a:latin typeface="Microsoft YaHei"/>
              </a:rPr>
              <a:t>▪ 设备紧贴后部导流板</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人员走动会把污染物拉出来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人走路时身后会带起旋涡</a:t>
            </a:r>
          </a:p>
          <a:p>
            <a:pPr>
              <a:spcAft>
                <a:spcPts val="1000"/>
              </a:spcAft>
            </a:pPr>
            <a:r>
              <a:rPr sz="2000">
                <a:solidFill>
                  <a:srgbClr val="222B33"/>
                </a:solidFill>
                <a:latin typeface="Microsoft YaHei"/>
              </a:rPr>
              <a:t>▪ 旋涡会把柜内污染物拉出柜外</a:t>
            </a:r>
          </a:p>
          <a:p>
            <a:pPr>
              <a:spcAft>
                <a:spcPts val="1000"/>
              </a:spcAft>
            </a:pPr>
            <a:r>
              <a:rPr sz="2000">
                <a:solidFill>
                  <a:srgbClr val="222B33"/>
                </a:solidFill>
                <a:latin typeface="Microsoft YaHei"/>
              </a:rPr>
              <a:t>▪ 有人在用通风柜，别贴着柜口走</a:t>
            </a:r>
          </a:p>
          <a:p>
            <a:pPr>
              <a:spcAft>
                <a:spcPts val="1000"/>
              </a:spcAft>
            </a:pPr>
            <a:r>
              <a:rPr sz="2000">
                <a:solidFill>
                  <a:srgbClr val="222B33"/>
                </a:solidFill>
                <a:latin typeface="Microsoft YaHei"/>
              </a:rPr>
              <a:t>▪ 柜前留出空间，绕开走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人在走动时，身体后方会形成空气旋涡。从正在使用的通风柜前快速走过，旋涡的作用可能超过柜口的向内气流，把柜内的污染物拉出柜外。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在别人正在使用的通风柜前来回穿行</a:t>
            </a:r>
          </a:p>
          <a:p>
            <a:pPr>
              <a:spcAft>
                <a:spcPts val="1000"/>
              </a:spcAft>
            </a:pPr>
            <a:r>
              <a:rPr sz="1500">
                <a:solidFill>
                  <a:srgbClr val="222B33"/>
                </a:solidFill>
                <a:latin typeface="Microsoft YaHei"/>
              </a:rPr>
              <a:t>▪ 多人围在一个通风柜前看热闹</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通风柜位置：远离门窗和送风口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通风柜的位置也影响效果</a:t>
            </a:r>
          </a:p>
          <a:p>
            <a:pPr>
              <a:spcAft>
                <a:spcPts val="1000"/>
              </a:spcAft>
            </a:pPr>
            <a:r>
              <a:rPr sz="2000">
                <a:solidFill>
                  <a:srgbClr val="222B33"/>
                </a:solidFill>
                <a:latin typeface="Microsoft YaHei"/>
              </a:rPr>
              <a:t>▪ 远离门、窗、风扇和天花板送风口</a:t>
            </a:r>
          </a:p>
          <a:p>
            <a:pPr>
              <a:spcAft>
                <a:spcPts val="1000"/>
              </a:spcAft>
            </a:pPr>
            <a:r>
              <a:rPr sz="2000">
                <a:solidFill>
                  <a:srgbClr val="222B33"/>
                </a:solidFill>
                <a:latin typeface="Microsoft YaHei"/>
              </a:rPr>
              <a:t>▪ 放在人少走动的地方</a:t>
            </a:r>
          </a:p>
          <a:p>
            <a:pPr>
              <a:spcAft>
                <a:spcPts val="1000"/>
              </a:spcAft>
            </a:pPr>
            <a:r>
              <a:rPr sz="2000">
                <a:solidFill>
                  <a:srgbClr val="222B33"/>
                </a:solidFill>
                <a:latin typeface="Microsoft YaHei"/>
              </a:rPr>
              <a:t>▪ 使用时不在柜旁开窗、开风扇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门、窗、电风扇和空调或天花板送风口会在柜口形成横向气流，把柜内蒸气吹出或吸出柜外。因此通风柜应设置在远离门、窗和送风口、人员较少走动的位置，这是实验室设计和改造时由学校相关部门统筹考虑的（以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夏天在通风柜旁开电扇降温</a:t>
            </a:r>
          </a:p>
          <a:p>
            <a:pPr>
              <a:spcAft>
                <a:spcPts val="1000"/>
              </a:spcAft>
            </a:pPr>
            <a:r>
              <a:rPr sz="1500">
                <a:solidFill>
                  <a:srgbClr val="222B33"/>
                </a:solidFill>
                <a:latin typeface="Microsoft YaHei"/>
              </a:rPr>
              <a:t>▪ 自行移动通风柜或改动送风口</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定期检测，用前看合格标识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新装、通风改造后和平时都要定期检测</a:t>
            </a:r>
          </a:p>
          <a:p>
            <a:pPr>
              <a:spcAft>
                <a:spcPts val="1000"/>
              </a:spcAft>
            </a:pPr>
            <a:r>
              <a:rPr sz="2000">
                <a:solidFill>
                  <a:srgbClr val="222B33"/>
                </a:solidFill>
                <a:latin typeface="Microsoft YaHei"/>
              </a:rPr>
              <a:t>▪ 检测合格贴有检测标识，有记录</a:t>
            </a:r>
          </a:p>
          <a:p>
            <a:pPr>
              <a:spcAft>
                <a:spcPts val="1000"/>
              </a:spcAft>
            </a:pPr>
            <a:r>
              <a:rPr sz="2000">
                <a:solidFill>
                  <a:srgbClr val="222B33"/>
                </a:solidFill>
                <a:latin typeface="Microsoft YaHei"/>
              </a:rPr>
              <a:t>▪ 用前看标识：检测过没有、过没过期</a:t>
            </a:r>
          </a:p>
          <a:p>
            <a:pPr>
              <a:spcAft>
                <a:spcPts val="1000"/>
              </a:spcAft>
            </a:pPr>
            <a:r>
              <a:rPr sz="2000">
                <a:solidFill>
                  <a:srgbClr val="222B33"/>
                </a:solidFill>
                <a:latin typeface="Microsoft YaHei"/>
              </a:rPr>
              <a:t>▪ 无标识或过期就当不合格，报告报修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通风柜在新安装、实验室通风系统改造后，以及使用期间定期都要进行性能检测，检测结果记录在案，合格的贴有检测标识。风机在响、听着在转，不等于合格。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只凭风机声音判断通风柜好坏</a:t>
            </a:r>
          </a:p>
          <a:p>
            <a:pPr>
              <a:spcAft>
                <a:spcPts val="1000"/>
              </a:spcAft>
            </a:pPr>
            <a:r>
              <a:rPr sz="1500">
                <a:solidFill>
                  <a:srgbClr val="222B33"/>
                </a:solidFill>
                <a:latin typeface="Microsoft YaHei"/>
              </a:rPr>
              <a:t>▪ 标识过期仍继续使用</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性能检测和调整交给专业人员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专业人员用仪器在柜口逐格测面风速</a:t>
            </a:r>
          </a:p>
          <a:p>
            <a:pPr>
              <a:spcAft>
                <a:spcPts val="1000"/>
              </a:spcAft>
            </a:pPr>
            <a:r>
              <a:rPr sz="2000">
                <a:solidFill>
                  <a:srgbClr val="222B33"/>
                </a:solidFill>
                <a:latin typeface="Microsoft YaHei"/>
              </a:rPr>
              <a:t>▪ 还要检查柜前横风和发烟气流有无外溢</a:t>
            </a:r>
          </a:p>
          <a:p>
            <a:pPr>
              <a:spcAft>
                <a:spcPts val="1000"/>
              </a:spcAft>
            </a:pPr>
            <a:r>
              <a:rPr sz="2000">
                <a:solidFill>
                  <a:srgbClr val="222B33"/>
                </a:solidFill>
                <a:latin typeface="Microsoft YaHei"/>
              </a:rPr>
              <a:t>▪ 不合格的调整好之前不能使用</a:t>
            </a:r>
          </a:p>
          <a:p>
            <a:pPr>
              <a:spcAft>
                <a:spcPts val="1000"/>
              </a:spcAft>
            </a:pPr>
            <a:r>
              <a:rPr sz="2000">
                <a:solidFill>
                  <a:srgbClr val="222B33"/>
                </a:solidFill>
                <a:latin typeface="Microsoft YaHei"/>
              </a:rPr>
              <a:t>▪ 学生不自己拧导流板、改风量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性能检测有规定的步骤，由学校委托的专业人员或设施管理人员完成：检查柜前横向气流是否过大；在柜口放少量烟雾，观察烟雾流向和有无打转外溢；把视窗放在工作位置，将柜口分成若干小格，用风速仪逐格测量面风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嫌风大自己调小风阀</a:t>
            </a:r>
          </a:p>
          <a:p>
            <a:pPr>
              <a:spcAft>
                <a:spcPts val="1000"/>
              </a:spcAft>
            </a:pPr>
            <a:r>
              <a:rPr sz="1500">
                <a:solidFill>
                  <a:srgbClr val="222B33"/>
                </a:solidFill>
                <a:latin typeface="Microsoft YaHei"/>
              </a:rPr>
              <a:t>▪ 用纸条代替风速检测</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风量报警器要能用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每台通风柜都应有风量监测和报警装置</a:t>
            </a:r>
          </a:p>
          <a:p>
            <a:pPr>
              <a:spcAft>
                <a:spcPts val="1000"/>
              </a:spcAft>
            </a:pPr>
            <a:r>
              <a:rPr sz="2000">
                <a:solidFill>
                  <a:srgbClr val="222B33"/>
                </a:solidFill>
                <a:latin typeface="Microsoft YaHei"/>
              </a:rPr>
              <a:t>▪ 风量不足时会发出声光报警</a:t>
            </a:r>
          </a:p>
          <a:p>
            <a:pPr>
              <a:spcAft>
                <a:spcPts val="1000"/>
              </a:spcAft>
            </a:pPr>
            <a:r>
              <a:rPr sz="2000">
                <a:solidFill>
                  <a:srgbClr val="222B33"/>
                </a:solidFill>
                <a:latin typeface="Microsoft YaHei"/>
              </a:rPr>
              <a:t>▪ 声音提示别关掉，低头干活也能发现</a:t>
            </a:r>
          </a:p>
          <a:p>
            <a:pPr>
              <a:spcAft>
                <a:spcPts val="1000"/>
              </a:spcAft>
            </a:pPr>
            <a:r>
              <a:rPr sz="2000">
                <a:solidFill>
                  <a:srgbClr val="222B33"/>
                </a:solidFill>
                <a:latin typeface="Microsoft YaHei"/>
              </a:rPr>
              <a:t>▪ 报警功能定期测试并记录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通风柜应配有风量（风速）监测显示和报警装置，风量低于设定值时发出灯光和声音报警，提醒操作者保护已经失效。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嫌吵把报警声音关掉</a:t>
            </a:r>
          </a:p>
          <a:p>
            <a:pPr>
              <a:spcAft>
                <a:spcPts val="1000"/>
              </a:spcAft>
            </a:pPr>
            <a:r>
              <a:rPr sz="1500">
                <a:solidFill>
                  <a:srgbClr val="222B33"/>
                </a:solidFill>
                <a:latin typeface="Microsoft YaHei"/>
              </a:rPr>
              <a:t>▪ 报警灯一直亮着也不理会</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报警了：停、关、报，再复位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一旦报警，马上停止工作</a:t>
            </a:r>
          </a:p>
          <a:p>
            <a:pPr>
              <a:spcAft>
                <a:spcPts val="1000"/>
              </a:spcAft>
            </a:pPr>
            <a:r>
              <a:rPr sz="2000">
                <a:solidFill>
                  <a:srgbClr val="222B33"/>
                </a:solidFill>
                <a:latin typeface="Microsoft YaHei"/>
              </a:rPr>
              <a:t>▪ 盖好容器，把视窗拉下来</a:t>
            </a:r>
          </a:p>
          <a:p>
            <a:pPr>
              <a:spcAft>
                <a:spcPts val="1000"/>
              </a:spcAft>
            </a:pPr>
            <a:r>
              <a:rPr sz="2000">
                <a:solidFill>
                  <a:srgbClr val="222B33"/>
                </a:solidFill>
                <a:latin typeface="Microsoft YaHei"/>
              </a:rPr>
              <a:t>▪ 报告实验室负责人和学院安全管理员</a:t>
            </a:r>
          </a:p>
          <a:p>
            <a:pPr>
              <a:spcAft>
                <a:spcPts val="1000"/>
              </a:spcAft>
            </a:pPr>
            <a:r>
              <a:rPr sz="2000">
                <a:solidFill>
                  <a:srgbClr val="222B33"/>
                </a:solidFill>
                <a:latin typeface="Microsoft YaHei"/>
              </a:rPr>
              <a:t>▪ 处理好后按说明书复位报警器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通风柜一旦报警，说明排风可能不足，立即按“停、关、报”处理：停止实验操作，关闭热源，盖好容器；把视窗拉下关闭；报告实验室负责人和学院实验室安全管理员，联系设施维修人员。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报警了还想“把这一步做完”</a:t>
            </a:r>
          </a:p>
          <a:p>
            <a:pPr>
              <a:spcAft>
                <a:spcPts val="1000"/>
              </a:spcAft>
            </a:pPr>
            <a:r>
              <a:rPr sz="1500">
                <a:solidFill>
                  <a:srgbClr val="222B33"/>
                </a:solidFill>
                <a:latin typeface="Microsoft YaHei"/>
              </a:rPr>
              <a:t>▪ 自己按掉报警就继续操作</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全面通风持续运行，实验室保持负压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实验室通风要持续运行，不断换气</a:t>
            </a:r>
          </a:p>
          <a:p>
            <a:pPr>
              <a:spcAft>
                <a:spcPts val="1000"/>
              </a:spcAft>
            </a:pPr>
            <a:r>
              <a:rPr sz="2000">
                <a:solidFill>
                  <a:srgbClr val="222B33"/>
                </a:solidFill>
                <a:latin typeface="Microsoft YaHei"/>
              </a:rPr>
              <a:t>▪ 换气次数按设计和本校规定</a:t>
            </a:r>
          </a:p>
          <a:p>
            <a:pPr>
              <a:spcAft>
                <a:spcPts val="1000"/>
              </a:spcAft>
            </a:pPr>
            <a:r>
              <a:rPr sz="2000">
                <a:solidFill>
                  <a:srgbClr val="222B33"/>
                </a:solidFill>
                <a:latin typeface="Microsoft YaHei"/>
              </a:rPr>
              <a:t>▪ 排风不能只靠通风柜一个出口</a:t>
            </a:r>
          </a:p>
          <a:p>
            <a:pPr>
              <a:spcAft>
                <a:spcPts val="1000"/>
              </a:spcAft>
            </a:pPr>
            <a:r>
              <a:rPr sz="2000">
                <a:solidFill>
                  <a:srgbClr val="222B33"/>
                </a:solidFill>
                <a:latin typeface="Microsoft YaHei"/>
              </a:rPr>
              <a:t>▪ 实验室保持负压，门别长开、风口别堵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除通风柜等局部排风外，化学实验室还要有全面通风，持续运行、不断换气，稀释和排出逸散到室内的有害气体。换气次数按实验室设计和本校规定执行，不能只靠通风柜作为唯一的排风出口。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下班就关掉实验室全部排风</a:t>
            </a:r>
          </a:p>
          <a:p>
            <a:pPr>
              <a:spcAft>
                <a:spcPts val="1000"/>
              </a:spcAft>
            </a:pPr>
            <a:r>
              <a:rPr sz="1500">
                <a:solidFill>
                  <a:srgbClr val="222B33"/>
                </a:solidFill>
                <a:latin typeface="Microsoft YaHei"/>
              </a:rPr>
              <a:t>▪ 用纸板堵住排风口防噪声</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特殊用途通风柜：高氯酸专用柜等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有专门对付特殊危害的通风柜</a:t>
            </a:r>
          </a:p>
          <a:p>
            <a:pPr>
              <a:spcAft>
                <a:spcPts val="1000"/>
              </a:spcAft>
            </a:pPr>
            <a:r>
              <a:rPr sz="2000">
                <a:solidFill>
                  <a:srgbClr val="222B33"/>
                </a:solidFill>
                <a:latin typeface="Microsoft YaHei"/>
              </a:rPr>
              <a:t>▪ 高氯酸专用柜能用水冲洗柜体和风管</a:t>
            </a:r>
          </a:p>
          <a:p>
            <a:pPr>
              <a:spcAft>
                <a:spcPts val="1000"/>
              </a:spcAft>
            </a:pPr>
            <a:r>
              <a:rPr sz="2000">
                <a:solidFill>
                  <a:srgbClr val="222B33"/>
                </a:solidFill>
                <a:latin typeface="Microsoft YaHei"/>
              </a:rPr>
              <a:t>▪ 高氯酸柜内绝不能放有机物</a:t>
            </a:r>
          </a:p>
          <a:p>
            <a:pPr>
              <a:spcAft>
                <a:spcPts val="1000"/>
              </a:spcAft>
            </a:pPr>
            <a:r>
              <a:rPr sz="2000">
                <a:solidFill>
                  <a:srgbClr val="222B33"/>
                </a:solidFill>
                <a:latin typeface="Microsoft YaHei"/>
              </a:rPr>
              <a:t>▪ 放射性操作使用专用通风柜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除普通化学通风柜外，还有针对特殊危害的专用通风柜，平时不常用，但要知道它们的用途，不能混用。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在普通通风柜里加热高氯酸</a:t>
            </a:r>
          </a:p>
          <a:p>
            <a:pPr>
              <a:spcAft>
                <a:spcPts val="1000"/>
              </a:spcAft>
            </a:pPr>
            <a:r>
              <a:rPr sz="1500">
                <a:solidFill>
                  <a:srgbClr val="222B33"/>
                </a:solidFill>
                <a:latin typeface="Microsoft YaHei"/>
              </a:rPr>
              <a:t>▪ 在高氯酸专用柜里放有机溶剂</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化学通风柜保护操作者的主要原理是：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把有害气体过滤后吹回室内</a:t>
            </a:r>
          </a:p>
          <a:p>
            <a:pPr algn="l"/>
            <a:r>
              <a:rPr sz="1500" b="0">
                <a:solidFill>
                  <a:srgbClr val="222B33"/>
                </a:solidFill>
                <a:latin typeface="Microsoft YaHei"/>
              </a:rPr>
              <a:t>B. 柜口形成向内的气流屏障，把污染物抽走排到室外</a:t>
            </a:r>
          </a:p>
          <a:p>
            <a:pPr algn="l"/>
            <a:r>
              <a:rPr sz="1500" b="0">
                <a:solidFill>
                  <a:srgbClr val="222B33"/>
                </a:solidFill>
                <a:latin typeface="Microsoft YaHei"/>
              </a:rPr>
              <a:t>C. 靠视窗玻璃完全密封</a:t>
            </a:r>
          </a:p>
          <a:p>
            <a:pPr algn="l"/>
            <a:r>
              <a:rPr sz="1500" b="0">
                <a:solidFill>
                  <a:srgbClr val="222B33"/>
                </a:solidFill>
                <a:latin typeface="Microsoft YaHei"/>
              </a:rPr>
              <a:t>D. 靠柜内的照明灯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判断：通风柜的面风速越大越安全。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下列做法中，会干扰通风柜气流的是：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把大设备垫高</a:t>
            </a:r>
          </a:p>
          <a:p>
            <a:pPr algn="l"/>
            <a:r>
              <a:rPr sz="1500" b="0">
                <a:solidFill>
                  <a:srgbClr val="222B33"/>
                </a:solidFill>
                <a:latin typeface="Microsoft YaHei"/>
              </a:rPr>
              <a:t>B. 在别人使用的通风柜前来回快速走动</a:t>
            </a:r>
          </a:p>
          <a:p>
            <a:pPr algn="l"/>
            <a:r>
              <a:rPr sz="1500" b="0">
                <a:solidFill>
                  <a:srgbClr val="222B33"/>
                </a:solidFill>
                <a:latin typeface="Microsoft YaHei"/>
              </a:rPr>
              <a:t>C. 视窗放低</a:t>
            </a:r>
          </a:p>
          <a:p>
            <a:pPr algn="l"/>
            <a:r>
              <a:rPr sz="1500" b="0">
                <a:solidFill>
                  <a:srgbClr val="222B33"/>
                </a:solidFill>
                <a:latin typeface="Microsoft YaHei"/>
              </a:rPr>
              <a:t>D. 柜内少放物品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使用通风柜时风量报警器响了，正确的做法是：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按掉报警继续做完</a:t>
            </a:r>
          </a:p>
          <a:p>
            <a:pPr algn="l"/>
            <a:r>
              <a:rPr sz="1500" b="0">
                <a:solidFill>
                  <a:srgbClr val="222B33"/>
                </a:solidFill>
                <a:latin typeface="Microsoft YaHei"/>
              </a:rPr>
              <a:t>B. 把视窗开大加强通风</a:t>
            </a:r>
          </a:p>
          <a:p>
            <a:pPr algn="l"/>
            <a:r>
              <a:rPr sz="1500" b="0">
                <a:solidFill>
                  <a:srgbClr val="222B33"/>
                </a:solidFill>
                <a:latin typeface="Microsoft YaHei"/>
              </a:rPr>
              <a:t>C. 停止操作、盖好容器、拉下视窗，报告负责人和学院安全管理员</a:t>
            </a:r>
          </a:p>
          <a:p>
            <a:pPr algn="l"/>
            <a:r>
              <a:rPr sz="1500" b="0">
                <a:solidFill>
                  <a:srgbClr val="222B33"/>
                </a:solidFill>
                <a:latin typeface="Microsoft YaHei"/>
              </a:rPr>
              <a:t>D. 关掉声音只看灯</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简答：为什么下班后不能把实验室的全面通风全部关掉？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通风柜：捕集排走有害物，护住呼吸带</a:t>
            </a:r>
          </a:p>
          <a:p>
            <a:pPr>
              <a:spcAft>
                <a:spcPts val="800"/>
              </a:spcAft>
            </a:pPr>
            <a:r>
              <a:rPr sz="1500">
                <a:solidFill>
                  <a:srgbClr val="FFFFFF"/>
                </a:solidFill>
                <a:latin typeface="Microsoft YaHei"/>
              </a:rPr>
              <a:t>▪ K2  工作原理：向内气流形成屏障</a:t>
            </a:r>
          </a:p>
          <a:p>
            <a:pPr>
              <a:spcAft>
                <a:spcPts val="800"/>
              </a:spcAft>
            </a:pPr>
            <a:r>
              <a:rPr sz="1500">
                <a:solidFill>
                  <a:srgbClr val="FFFFFF"/>
                </a:solidFill>
                <a:latin typeface="Microsoft YaHei"/>
              </a:rPr>
              <a:t>▪ K3  面风速在规定范围，不是越大越好</a:t>
            </a:r>
          </a:p>
          <a:p>
            <a:pPr>
              <a:spcAft>
                <a:spcPts val="800"/>
              </a:spcAft>
            </a:pPr>
            <a:r>
              <a:rPr sz="1500">
                <a:solidFill>
                  <a:srgbClr val="FFFFFF"/>
                </a:solidFill>
                <a:latin typeface="Microsoft YaHei"/>
              </a:rPr>
              <a:t>▪ K4  借烟雾和飘带看见气流</a:t>
            </a:r>
          </a:p>
          <a:p>
            <a:pPr>
              <a:spcAft>
                <a:spcPts val="800"/>
              </a:spcAft>
            </a:pPr>
            <a:r>
              <a:rPr sz="1500">
                <a:solidFill>
                  <a:srgbClr val="FFFFFF"/>
                </a:solidFill>
                <a:latin typeface="Microsoft YaHei"/>
              </a:rPr>
              <a:t>▪ K5  气流容易被打乱，不要干扰</a:t>
            </a:r>
          </a:p>
          <a:p>
            <a:pPr>
              <a:spcAft>
                <a:spcPts val="800"/>
              </a:spcAft>
            </a:pPr>
            <a:r>
              <a:rPr sz="1500">
                <a:solidFill>
                  <a:srgbClr val="FFFFFF"/>
                </a:solidFill>
                <a:latin typeface="Microsoft YaHei"/>
              </a:rPr>
              <a:t>▪ K6  柜内大设备要垫高</a:t>
            </a:r>
          </a:p>
          <a:p>
            <a:pPr>
              <a:spcAft>
                <a:spcPts val="800"/>
              </a:spcAft>
            </a:pPr>
            <a:r>
              <a:rPr sz="1500">
                <a:solidFill>
                  <a:srgbClr val="FFFFFF"/>
                </a:solidFill>
                <a:latin typeface="Microsoft YaHei"/>
              </a:rPr>
              <a:t>▪ K7  人员走动会把污染物拉出来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通风柜位置：远离门窗和送风口</a:t>
            </a:r>
          </a:p>
          <a:p>
            <a:pPr>
              <a:spcAft>
                <a:spcPts val="800"/>
              </a:spcAft>
            </a:pPr>
            <a:r>
              <a:rPr sz="1500">
                <a:solidFill>
                  <a:srgbClr val="FFFFFF"/>
                </a:solidFill>
                <a:latin typeface="Microsoft YaHei"/>
              </a:rPr>
              <a:t>▪ K9  定期检测，用前看合格标识</a:t>
            </a:r>
          </a:p>
          <a:p>
            <a:pPr>
              <a:spcAft>
                <a:spcPts val="800"/>
              </a:spcAft>
            </a:pPr>
            <a:r>
              <a:rPr sz="1500">
                <a:solidFill>
                  <a:srgbClr val="FFFFFF"/>
                </a:solidFill>
                <a:latin typeface="Microsoft YaHei"/>
              </a:rPr>
              <a:t>▪ K10  性能检测和调整交给专业人员</a:t>
            </a:r>
          </a:p>
          <a:p>
            <a:pPr>
              <a:spcAft>
                <a:spcPts val="800"/>
              </a:spcAft>
            </a:pPr>
            <a:r>
              <a:rPr sz="1500">
                <a:solidFill>
                  <a:srgbClr val="FFFFFF"/>
                </a:solidFill>
                <a:latin typeface="Microsoft YaHei"/>
              </a:rPr>
              <a:t>▪ K11  风量报警器要能用</a:t>
            </a:r>
          </a:p>
          <a:p>
            <a:pPr>
              <a:spcAft>
                <a:spcPts val="800"/>
              </a:spcAft>
            </a:pPr>
            <a:r>
              <a:rPr sz="1500">
                <a:solidFill>
                  <a:srgbClr val="FFFFFF"/>
                </a:solidFill>
                <a:latin typeface="Microsoft YaHei"/>
              </a:rPr>
              <a:t>▪ K12  报警了：停、关、报，再复位</a:t>
            </a:r>
          </a:p>
          <a:p>
            <a:pPr>
              <a:spcAft>
                <a:spcPts val="800"/>
              </a:spcAft>
            </a:pPr>
            <a:r>
              <a:rPr sz="1500">
                <a:solidFill>
                  <a:srgbClr val="FFFFFF"/>
                </a:solidFill>
                <a:latin typeface="Microsoft YaHei"/>
              </a:rPr>
              <a:t>▪ K13  全面通风持续运行，实验室保持负压</a:t>
            </a:r>
          </a:p>
          <a:p>
            <a:pPr>
              <a:spcAft>
                <a:spcPts val="800"/>
              </a:spcAft>
            </a:pPr>
            <a:r>
              <a:rPr sz="1500">
                <a:solidFill>
                  <a:srgbClr val="FFFFFF"/>
                </a:solidFill>
                <a:latin typeface="Microsoft YaHei"/>
              </a:rPr>
              <a:t>▪ K14  特殊用途通风柜：高氯酸专用柜等</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