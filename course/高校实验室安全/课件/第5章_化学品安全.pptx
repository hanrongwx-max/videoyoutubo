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甲醛（福尔马林是它的水溶液）常用于固定组织和动物标本、病理制片；戊二醛常用于器械消毒和电镜样品固定。两者在医学、生命科学实验室中非常常见。</a:t>
            </a:r>
          </a:p>
          <a:p>
            <a:r>
              <a:t>正因为常见，容易被忽视。甲醛既有强刺激性和致敏性，又是致癌物，国家对其职业接触有专门的限值要求，属于需要重点管控的毒害化学品。</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甲醛和戊二醛接触皮肤、眼睛和黏膜后很快出现刺激症状：轻者发红、刺痛、流泪，重者灼伤；反复接触还可能引起过敏性皮炎。</a:t>
            </a:r>
          </a:p>
          <a:p>
            <a:r>
              <a:t>吸入蒸气会刺激呼吸道，出现咳嗽、恶心、咽喉炎，可能诱发哮喘、支气管炎，严重时损害呼吸功能，还可能引起呕吐、腹泻。浓度极高时可导致抽搐、昏迷甚至死亡。这些急性症状容易识别，一旦出现要立即处理。</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慢性危害往往在多年后才表现出来。甲醛已被确认为人类致癌物，长期过量接触会增加患癌（如鼻咽部肿瘤等）的风险；反复接触还可能造成永久性的呼吸道损伤和致敏。</a:t>
            </a:r>
          </a:p>
          <a:p>
            <a:r>
              <a:t>所以不能等到“有感觉”才防护，平时就要把接触降到最低。</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怀疑自己接触过量，或出现眼鼻刺激、咳嗽、皮疹、头痛等症状时，立即停止操作、离开现场，报告实验室负责人，由实验室负责人报告学院（报告程序见第 157 课）。</a:t>
            </a:r>
          </a:p>
          <a:p>
            <a:r>
              <a:t>及早就医，就医时带上化学品安全技术说明书，多数情况能够好转。不要拖延或隐瞒。</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2.1（以现行文本为准）规定了职业接触限值，包括时间加权平均容许浓度、短时间接触容许浓度或最高容许浓度。这些标准最初针对工业上的大量使用，目的是把工作中的接触降到最低。</a:t>
            </a:r>
          </a:p>
          <a:p>
            <a:r>
              <a:t>按《中华人民共和国职业病防治法》，使用单位要在使用场所设置告知卡，告知职业病危害（包括致癌风险）和防护措施。限值数字是为保护使用者而设，具体数值查 GBZ 2.1 现行文本和本校规定；有疑问就问学院实验室安全管理员（接触限值的概念见第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经常或大量使用甲醛等毒害品的场所，学校要组织有资质的机构进行工作场所空气检测，必要时做个人采样：把采样器佩戴在操作者衣领附近，采集呼吸带（口鼻周围）的空气。</a:t>
            </a:r>
          </a:p>
          <a:p>
            <a:r>
              <a:t>检测结果与 GBZ 2.1 的限值比较：长时间的平均接触达到或超过限值，就要改进通风、调整操作、加强个人防护，直到降下来；只看平均值可能掩盖短时间的高浓度，所以开瓶、倒液、换液等短时操作的峰值也要控制。</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所有使用甲醛、戊二醛等毒害品的人员都要接受培训：知道本实验室哪些地方在用、有哪些危害、怎样减少接触，并定期复训（准入培训见第 007 课）。</a:t>
            </a:r>
          </a:p>
          <a:p>
            <a:r>
              <a:t>使用前阅读厂家提供的中文安全技术说明书，了解危害特性、暴露途径、健康影响、防护和应急措施；操作和储存按说明书和本实验室操作规程执行，每天都一样，不打折扣。有担心或发现隐患，及时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化学品安全标签是最直接的危害信息来源（GB 30000 系列、GB 15258-2009，以现行文本为准）。含甲醛的溶液和混合物，以及会释放甲醛的材料，都要在标签上标明含甲醛；含量较高的还要写明主要危害，特别是“可能致癌”。</a:t>
            </a:r>
          </a:p>
          <a:p>
            <a:r>
              <a:t>自配溶液、分装容器同样要贴标签（标签见第 039 课）。标签写不下的内容会指引查阅安全技术说明书，说明书还告诉你怎样避免过量接触。</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实验前按本校风险管理要求进行风险评估：用量多少、操作多长时间、在什么场所做，决定需要的通风条件和防护措施（风险评估见第 014 课）。</a:t>
            </a:r>
          </a:p>
          <a:p>
            <a:r>
              <a:t>防护的目标是不让毒害品接触到人：不吸入、不沾皮肤、不溅进眼睛。佩戴护目镜（易溅时加面屏），按说明书选择耐该化学品的手套（醛类常用丁腈手套，具体以说明书为准），穿实验服；通风不能满足时按评估结果使用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把蒸气挡在呼吸带之外，最有效的方法是局部排风。开瓶、量取、配制、换液、标本取材都在通风柜或专用排风台里进行，不在敞开的台面上开瓶倒液。</a:t>
            </a:r>
          </a:p>
          <a:p>
            <a:r>
              <a:t>台面铺吸水垫，便于收集滴洒；用完随手盖紧容器。不同的通风设备（通风柜、取材台、局部排风罩）用法不尽相同，先弄懂怎么用，再按使用规则操作（通风柜使用见第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从浓溶液自行稀释、分装时接触风险最大，要在通风柜里操作并做好防护。现在多采用预先稀释好的成品或预分装容器，可以减少开瓶和倒液的次数。</a:t>
            </a:r>
          </a:p>
          <a:p>
            <a:r>
              <a:t>稀溶液同样有刺激性和致癌性，不能因为“已经稀释了”就放松防护。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甲醛等毒害品原容器密闭，存放在阴凉、通风的柜子里，远离氧化剂；部分含甲醇的甲醛溶液还具有易燃性，按易燃品要求存放（见第 046 课）。</a:t>
            </a:r>
          </a:p>
          <a:p>
            <a:r>
              <a:t>按实验需要少量领用，记入台账，用完登记。标本瓶、浸泡缸用后随手盖紧，不长期敞口放置。列入剧毒化学品目录的毒害品按“五双”制度管理（见第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发生溅洒、泄漏或接触时，按本实验室的应急程序处置（泄漏处置见第 056 课，灼伤急救见第 160 课）。应急程序要在平时通过培训和演练熟悉：洗眼器、喷淋、泄漏处理包在哪里，怎样报告。</a:t>
            </a:r>
          </a:p>
          <a:p>
            <a:r>
              <a:t>对操作中的担心和发现的隐患，及时向实验室负责人报告，不要等出了事再说。</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二氯甲烷是萃取、色谱等实验中最常用的溶剂之一，不易燃，常被误认为“比较安全”，所以需要专门培训。</a:t>
            </a:r>
          </a:p>
          <a:p>
            <a:r>
              <a:t>吸入二氯甲烷会抑制中枢神经，在体内还会代谢产生一氧化碳，加重心脏负担；长期或反复大量接触可损害心脏、肝脏和神经系统，并可能增加患癌风险。伤害是慢慢积累的，不能等出现症状才防护。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二氯甲烷沸点低、挥发快，蒸气比空气重，会积聚在地面、地沟、低处的容器和柜子里。使用前读安全技术说明书和标签，了解它的特性。</a:t>
            </a:r>
          </a:p>
          <a:p>
            <a:r>
              <a:t>取用、分装、萃取都在通风柜里进行；旋转蒸发等浓缩操作要在通风条件下进行，尾气按规定处理；不在台面上敞口挥干溶剂。用完随手盖紧，减少挥发。</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二氯甲烷等的职业接触标准源于工业上的大量使用，但实验室用量小并不等于风险小：近距离操作、通风柜使用不当、敞口挥发都可能造成短时高浓度接触。</a:t>
            </a:r>
          </a:p>
          <a:p>
            <a:r>
              <a:t>要重视危害，确认控制措施真的有效：通风柜风速正常、柜门高度正确、容器密闭、手套适用（二氯甲烷能很快穿透很多常见手套材料，按说明书选择）。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使用二氯甲烷等挥发性溶剂时，出现头晕、头痛、发困、注意力不集中，说明可能吸入过量。马上停止操作，离开到空气新鲜的地方，并提醒周围的人。</a:t>
            </a:r>
          </a:p>
          <a:p>
            <a:r>
              <a:t>报告实验室负责人，查清通风柜或排风哪里出了问题，修好前不再使用。症状不缓解或加重，及时就医，必要时拨打 120。</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重铬酸钾、铬酸盐等六价铬化合物是确认的致癌物，同时是强致敏物和氧化剂：接触皮肤可引起溃疡和过敏性皮炎，吸入粉尘或雾滴会损伤鼻腔和呼吸道（GB 30000 系列分类，以安全技术说明书为准）。</a:t>
            </a:r>
          </a:p>
          <a:p>
            <a:r>
              <a:t>能用低毒替代方法的优先替代。必须使用时，称量粉末在通风柜或带排风的称量台里进行，防止扬尘，戴护目镜和合适的手套；含铬废液单独收集、标明成分，按《国家危险废物名录》（以现行文本为准）交有资质单位处置，不得倒入下水道（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金属汞在常温下就会挥发，汞蒸气无色无味，人察觉不到。长期吸入会损害神经系统和肾脏，出现手抖、情绪改变、记忆力下降等表现。汞的可溶性化合物毒性更大，有的属于剧毒化学品（按“五双”管理，见第 045 课）。</a:t>
            </a:r>
          </a:p>
          <a:p>
            <a:r>
              <a:t>实验室中的含汞温度计、压力计、汞灯等，能用电子仪器或无汞产品替代的尽量替代；保留使用的放在托盘里，防止打碎后汞珠散落。</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含汞温度计、压力计破损后，汞会散成许多到处滚动的小珠，钻进缝隙。不要用手碰，不要用扫帚扫，更不能用吸尘器吸——会把汞打散并加速挥发。</a:t>
            </a:r>
          </a:p>
          <a:p>
            <a:r>
              <a:t>无关人员先离开，隔开现场，开窗或保持通风，关闭附近热源；报告实验室负责人，由经过培训的人员用专用汞处理包收集，收集物密封后按危险废物处置。详细处置流程见第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按《中华人民共和国职业病防治法》和 GBZ 188（以现行文本为准），长期、规律接触甲醛、汞、六价铬、苯等职业病危害因素的人员，应按规定进行上岗前、在岗期间和离岗时的职业健康检查，由学校组织到有资质的机构进行，结果存入个人健康档案。具体范围以本校职业健康管理规定为准。</a:t>
            </a:r>
          </a:p>
          <a:p>
            <a:r>
              <a:t>检查发现异常或出现与接触有关的健康损害，要及时调整岗位或工作内容。怀孕、哺乳、过敏体质等特殊情况，主动告知实验室负责人，调整接触安排（见第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答案：C。解析：稀溶液照样有危害，开瓶、量取、分装都在通风柜里做。</a:t>
            </a:r>
          </a:p>
          <a:p>
            <a:r>
              <a:t>第 2 题 答案：B。解析：二氯甲烷易挥发、蒸气比空气重，长期接触伤心、伤肝、伤脑并可能致癌，取用、浓缩都在通风柜里。</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答案：B。解析：头晕发困是吸入过量的信号。</a:t>
            </a:r>
          </a:p>
          <a:p>
            <a:r>
              <a:t>第 4 题 答案：C。解析：扫和吸会打散汞并加速挥发；收集物按危险废物处置，流程见第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答案：B。解析：长时间平均和短时高峰都要与 GBZ 2.1 的限值比较，超限要加强防护。</a:t>
            </a:r>
          </a:p>
          <a:p>
            <a:r>
              <a:t>第 6 题 答案：按规定进行上岗前、在岗期间和离岗时的职业健康检查，结果存档；出现异常及时调整岗位；怀孕、过敏等特殊情况主动告知实验室负责人。解析：依据《中华人民共和国职业病防治法》和 GBZ 188（以现行文本为准）。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很多化学品名称又长又拗口，名称相近的试剂可能只差一个字或一个前缀，危害却完全不同。取错试剂可能导致剧烈反应、中毒或实验失败。</a:t>
            </a:r>
          </a:p>
          <a:p>
            <a:r>
              <a:t>取用前，对照实验记录或操作规程，逐字核对化学品安全标签上的名称、浓度、规格，并看清象形图和防范说明（GB 30000 系列、GB 15258-2009，以现行文本为准；标签识读见第 039 课）。</a:t>
            </a:r>
          </a:p>
          <a:p>
            <a:r>
              <a:t>标签脱落、模糊或无标签的容器一律不使用，报告实验室负责人按规定处理，不凭颜色、气味或记忆“猜”是什么。</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实验室里的任何化学品都不能用嘴尝来鉴别，也不能把鼻子凑到容器口直接闻，以免吸入高浓度的有毒、刺激性蒸气。</a:t>
            </a:r>
          </a:p>
          <a:p>
            <a:r>
              <a:t>教学实验中确需辨别气味时，按老师要求：容器离开面部一段距离，用手掌在容器口上方把少量气体轻轻扇向鼻子，浅浅闻一下即可，不深吸。有毒、易挥发或有刺激性气味的化学品，一律在通风柜内取用和操作（通风柜使用见第 052 课）。</a:t>
            </a:r>
          </a:p>
          <a:p>
            <a:r>
              <a:t>实验室内不吃不喝；不把笔、手指、标签纸等放到嘴边，防止化学品经口进入人体。</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嘴吸移液管是实验室的严禁行为：吸力稍大或注意力不集中，液体会直接进入口腔，造成化学灼伤、中毒或感染。这一要求对所有液体（包括清水、缓冲液）和所有实验室（化学、生物，包括一级生物安全实验室）都适用。</a:t>
            </a:r>
          </a:p>
          <a:p>
            <a:r>
              <a:t>玻璃移液管用洗耳球（吸耳球）或移液辅助器吸取；微量液体使用移液器，按规范装吸头、按压、吸液、排液，用过的吸头弃入指定容器。</a:t>
            </a:r>
          </a:p>
          <a:p>
            <a:r>
              <a:t>破损的玻璃移液管、碎玻璃放入锐器盒或专用碎玻璃收集容器，不徒手捡拾、不混入普通垃圾。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移液管、药匙直接伸进原试剂瓶，会把杂质、水分或其他试剂带入整瓶，造成污染，甚至引发反应。正确做法是：估计用量，先把略多于所需的量倒入干净的小烧杯或称量容器，再从中移取。</a:t>
            </a:r>
          </a:p>
          <a:p>
            <a:r>
              <a:t>取出后剩余的试剂不得倒回原瓶。一点污染就可能毁掉整瓶试剂，严重时造成危险。按需少量取用，剩余的按本实验室规定回收或作为废液分类收集（见第 053 课）。</a:t>
            </a:r>
          </a:p>
          <a:p>
            <a:r>
              <a:t>展开剂、溶剂等也按需少取，试剂瓶随开随盖，容器不长时间敞口。</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倾倒液体时握住瓶身，标签朝向手心，这样即使有液体沿瓶口流下也不会腐蚀、污染标签，保证后来的人能看清名称和危害。</a:t>
            </a:r>
          </a:p>
          <a:p>
            <a:r>
              <a:t>取下的瓶盖（瓶塞）口朝上倒放在台面上或拿在手中，既不沾污台面，也不把台面上的杂质带回瓶中。向小口容器倾倒时使用漏斗，容器下面垫托盘，万一洒漏能兜住。</a:t>
            </a:r>
          </a:p>
          <a:p>
            <a:r>
              <a:t>倾倒动作要平稳、果断：起倒和收尾干脆利落，犹犹豫豫会让液体顺着瓶壁外侧流下。浓酸碱的倾倒要点见第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倒完液体后，瓶口常挂着液滴，顺瓶壁流下会形成小洒漏，污染台面和试剂架，下一个拿瓶子的人可能直接接触到化学品。</a:t>
            </a:r>
          </a:p>
          <a:p>
            <a:r>
              <a:t>倒完后用纸巾擦净瓶口和瓶身外侧的液滴（沾有化学品的纸巾按规定作为固体废物收集），把瓶盖完全拧紧，放回原来的位置。</a:t>
            </a:r>
          </a:p>
          <a:p>
            <a:r>
              <a:t>试剂瓶随开随盖，不敞口放置，减少挥发和吸潮。</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粉末状化学品容易在取用和称量时扬起，被吸入或落到皮肤、台面上。称量前先查阅安全技术说明书，穿戴实验服、手套和护目镜。</a:t>
            </a:r>
          </a:p>
          <a:p>
            <a:r>
              <a:t>用药匙轻取轻放，在天平防风罩内操作，关好防风门，不对着粉末说话、吹气；有毒或高活性粉末（如激素等）在通风柜或专用的通风称量罩内称量，必要时佩戴合适的呼吸防护。</a:t>
            </a:r>
          </a:p>
          <a:p>
            <a:r>
              <a:t>称量完毕用小刷或湿巾清理天平和台面；配制的母液、溶液贴好标签，写明名称、浓度、日期和配制人，按要求存放。</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化学品只能在实验室内按规定使用和存放，不得装进书包、口袋私自带出实验室，更不能带回宿舍、教室、食堂等公共场所。私带化学品既有中毒、火灾风险，也违反危险化学品管理规定。</a:t>
            </a:r>
          </a:p>
          <a:p>
            <a:r>
              <a:t>确需在实验室之间转移的，先经实验室负责人同意，按本校规定登记（管控类化学品的领用和转移要求见第 045 课），并按 K9、K10 的要求使用二次容器或推车转移。</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之间、楼层之间转移化学品时，把试剂瓶放进防破碎的二次容器（如带盖的塑料桶、橡胶提桶、专用防护套），万一瓶子破裂，液体也能被兜住，不洒到走廊和楼梯上。易燃易爆化学品更要使用二次容器。</a:t>
            </a:r>
          </a:p>
          <a:p>
            <a:r>
              <a:t>多个试剂瓶用带隔挡的提篮装好，瓶子直立、互不碰撞，双手平稳提拿。只拿一瓶时，一手握瓶身、一手托住瓶底，不要单手拎瓶颈或瓶盖。</a:t>
            </a:r>
          </a:p>
          <a:p>
            <a:r>
              <a:t>一次不要拿太多，不把瓶子叠放；转移时避开人员密集的时段和路线，乘电梯等具体要求以本校规定为准。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需要搬运多瓶或较重的化学品时，不要抱着走长路，使用带护边（护栏）、轮子较大、重心低的化学品推车，瓶子放在托盘或二次容器里，防止滑落。</a:t>
            </a:r>
          </a:p>
          <a:p>
            <a:r>
              <a:t>普通仪器车、小推车轮子小、护边低，遇到门槛、电梯缝或不平地面容易翻倒，不能用来搬运化学品。</a:t>
            </a:r>
          </a:p>
          <a:p>
            <a:r>
              <a:t>推车时慢慢走，提前确认路线通畅，避开人流和障碍物；过门槛和进出电梯时放慢速度，必要时两人配合。</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校外运输的危险化学品属于危险货物，要按国家标准分类（GB 6944-2025、GB 12268-2025，以现行文本为准），使用合规的包装并可靠封装，包装上粘贴危险货物包装标志（GB 190-2009，以现行文本为准）。破损、渗漏的包装不得运输。</a:t>
            </a:r>
          </a:p>
          <a:p>
            <a:r>
              <a:t>危险化学品不得随身携带乘坐公共交通工具，不得夹带在普通货物中，也不得通过普通快递、邮寄寄递。需要采购或运输的，通过学校主管部门联系具备相应资质的单位承运，按《中华人民共和国危险化学品安全法》《危险化学品安全管理条例》《危险货物道路运输安全管理办法》等规定执行（以现行文本和本校规定为准）。</a:t>
            </a:r>
          </a:p>
          <a:p>
            <a:r>
              <a:t>装卸、搬运和运输由经过培训、合格的人员负责，熟悉所运化学品的危害，随货携带安全技术说明书，出现泄漏等状况时懂得应急处置（泄漏处置见第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答案：B。解析：任何液体都严禁用嘴吸，一律用洗耳球、移液辅助器或移液器。</a:t>
            </a:r>
          </a:p>
          <a:p>
            <a:r>
              <a:t>第 2 题 答案：B。解析：多余试剂不倒回原瓶，防止污染整瓶；按需少取，剩余的按规定处理。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答案：C。解析：标签朝手心保护标签，瓶盖倒放不沾污，动作果断防止顺壁流，倒完擦净、盖紧。</a:t>
            </a:r>
          </a:p>
          <a:p>
            <a:r>
              <a:t>第 4 题 答案：C。解析：校内转移用二次容器、提篮或稳固推车，慢走、走通畅路线。</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能随身携带或用普通快递寄送；通过学校主管部门联系具备资质的单位承运，按规定包装、封装并粘贴危险货物包装标志，由培训合格的人员办理，随货附安全技术说明书。解析：危险化学品运输必须走正规渠道。</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许多化学品在使用中会放出有害的烟、雾、蒸气和颗粒物。人的口鼻周围的空气区域称为呼吸带，有害物进入呼吸带就会被吸入体内。</a:t>
            </a:r>
          </a:p>
          <a:p>
            <a:r>
              <a:t>化学通风柜是实验室最常用的局部排风设施：它把操作中产生的有害蒸气和粉尘捕集住、抽走并排到室外，把污染物挡在操作者的呼吸带之外。做有毒、有刺激性或易挥发化学品的实验，应在通风柜内进行。</a:t>
            </a:r>
          </a:p>
          <a:p>
            <a:r>
              <a:t>通风柜有台式、落地式、变风量等多种形式，基本原理相同。通风柜、超净工作台和生物安全柜的区别见第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排风机通过风管从柜内持续抽气，室内空气从柜口不断流入，在柜口形成一道向内的空气屏障（气帘），把柜内产生的污染物关在柜里。</a:t>
            </a:r>
          </a:p>
          <a:p>
            <a:r>
              <a:t>污染物随气流经柜后的导流板缝隙进入风管，排到楼外，在室外大气中进一步稀释。只要气流正常，污染物就进不了实验室。</a:t>
            </a:r>
          </a:p>
          <a:p>
            <a:r>
              <a:t>视窗（前窗）是这道屏障的一部分：视窗越低，开口越小，屏障越稳定，还能挡住飞溅，因此使用时视窗要尽量放低（视窗高度的具体要求见第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面风速是空气流过通风柜开口时的平均速度，反映向内气流的强弱。面风速过低，屏障太弱，蒸气容易逸出柜外。</a:t>
            </a:r>
          </a:p>
          <a:p>
            <a:r>
              <a:t>面风速也不是越大越好：风速过大会在柜口和操作者身体前方产生湍流和旋涡，反而把污染物卷出柜外，还会浪费能源、干扰柜内操作。</a:t>
            </a:r>
          </a:p>
          <a:p>
            <a:r>
              <a:t>面风速应在规定范围内，并定期检测，不能过期。具体数值以本校规定和设备标识为准，本课程不给出具体数值。</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气流看不见、摸不着，可以借助烟雾或轻飘带直观地看到。柜口下沿贴一条轻飘带，风机开启时飘带向柜内飘动，说明柜子在抽风。</a:t>
            </a:r>
          </a:p>
          <a:p>
            <a:r>
              <a:t>检测时用发烟装置在柜口放出少量白烟，白烟平稳地流向柜后、不打转、不外溢，说明气流方向和组织正常。</a:t>
            </a:r>
          </a:p>
          <a:p>
            <a:r>
              <a:t>飘带只能判断风机开没开、气流方向对不对，不能用来判断面风速够不够；风速必须由专业人员用仪器测量（见 K10）。</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通风柜的保护效果依赖平稳的向内气流，而这种气流很容易被打断或改变。影响因素主要有：视窗高度、柜内堆放的物品和大设备、柜前人员走动和快速动作、门窗开关和送风口、风扇等横向气流。</a:t>
            </a:r>
          </a:p>
          <a:p>
            <a:r>
              <a:t>视窗开得越大，开口面积越大，在排风量不变时柜口风速越低，屏障越弱。柜内堆满瓶子或物品，会挡住后部排风缝隙，造成气流死角和回流。</a:t>
            </a:r>
          </a:p>
          <a:p>
            <a:r>
              <a:t>气流被打乱后，柜内的污染空气会被带到柜外，吸进操作者的呼吸带。因此使用时要注意这些因素，绝不能干扰通风柜内的气流（使用规范见第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旋转蒸发仪、加热浴、电炉等较大的设备直接放在柜内台面上，会挡住流向下部排风缝的气流，在设备前后形成旋涡。</a:t>
            </a:r>
          </a:p>
          <a:p>
            <a:r>
              <a:t>把设备放在稳固的垫块或支架上垫高几厘米，让空气能从设备下方流过，进入柜后的排风缝隙。设备与后部导流板之间也要留出距离，不要堵住排风缝。</a:t>
            </a:r>
          </a:p>
          <a:p>
            <a:r>
              <a:t>垫高时要保证设备稳固、不倾倒，电源线不被挤压。</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人在走动时，身体后方会形成空气旋涡。从正在使用的通风柜前快速走过，旋涡的作用可能超过柜口的向内气流，把柜内的污染物拉出柜外。</a:t>
            </a:r>
          </a:p>
          <a:p>
            <a:r>
              <a:t>有人在使用通风柜时，其他人不要贴着柜口来回走动或快速经过，柜前保持足够的空间，必要时绕行。操作者自己也要避免在柜前快速转身和大幅度动作。</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a:p>
            <a:r>
              <a:t>作为使用者，要注意不在通风柜旁开窗、开电风扇对着柜口吹，不长时间敞开靠近通风柜的门。发现送风口正对柜口等明显问题，报告实验室负责人。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通风柜在新安装、实验室通风系统改造后，以及使用期间定期都要进行性能检测，检测结果记录在案，合格的贴有检测标识。风机在响、听着在转，不等于合格。</a:t>
            </a:r>
          </a:p>
          <a:p>
            <a:r>
              <a:t>使用前看一眼柜体上的检测标识：是否检测过、是否在有效期内。没有标识或已过期的，按不合格对待，不使用，报告实验室负责人并报修。</a:t>
            </a:r>
          </a:p>
          <a:p>
            <a:r>
              <a:t>发现故障或检测不合格的通风柜，挂牌停用、报修，不擅自拆改。检测周期和标识样式以本校规定为准。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a:p>
            <a:r>
              <a:t>检测不合格的，在调整好之前不得使用；需要时调整导流板、排风量，甚至改造实验室通风系统。</a:t>
            </a:r>
          </a:p>
          <a:p>
            <a:r>
              <a:t>学生和一般使用者不得自行拧动导流板、调节风阀或改变风量。具体检测方法和指标以国家相关标准、本校规定和设备标识为准。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通风柜应配有风量（风速）监测显示和报警装置，风量低于设定值时发出灯光和声音报警，提醒操作者保护已经失效。</a:t>
            </a:r>
          </a:p>
          <a:p>
            <a:r>
              <a:t>报警器通常同时有灯光和声音提示。不要把声音关掉，因为操作时往往低头专注于实验，只有声音报警才能让人及时发现。</a:t>
            </a:r>
          </a:p>
          <a:p>
            <a:r>
              <a:t>报警功能是否灵敏，由设施管理人员按设备说明书定期测试，并做好记录。使用前看一眼风量显示是否正常。</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通风柜一旦报警，说明排风可能不足，立即按“停、关、报”处理：停止实验操作，关闭热源，盖好容器；把视窗拉下关闭；报告实验室负责人和学院实验室安全管理员，联系设施维修人员。</a:t>
            </a:r>
          </a:p>
          <a:p>
            <a:r>
              <a:t>如已闻到明显异味或感到不适，先撤离实验室，必要时按应急程序报告（报警与事故报告见第 157 课，以本校应急预案为准）。</a:t>
            </a:r>
          </a:p>
          <a:p>
            <a:r>
              <a:t>故障排除后，由相关人员按设备说明书复位报警器，确认风量恢复正常后再继续实验。</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除通风柜等局部排风外，化学实验室还要有全面通风，持续运行、不断换气，稀释和排出逸散到室内的有害气体。换气次数按实验室设计和本校规定执行，不能只靠通风柜作为唯一的排风出口。</a:t>
            </a:r>
          </a:p>
          <a:p>
            <a:r>
              <a:t>化学实验室通常保持相对走廊的负压，空气从走廊流入实验室，再经排风系统排出，有害气体就不会扩散到走廊和办公室。</a:t>
            </a:r>
          </a:p>
          <a:p>
            <a:r>
              <a:t>为维持负压和气流组织，实验室门不要长时间敞开，送风口、排风口不要用纸箱、物品遮挡；夜间和节假日通风系统的运行要求以本校规定为准。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除普通化学通风柜外，还有针对特殊危害的专用通风柜，平时不常用，但要知道它们的用途，不能混用。</a:t>
            </a:r>
          </a:p>
          <a:p>
            <a:r>
              <a:t>高氯酸加热等操作会在柜体和风管内留下危险残留物，越积越多可能引发爆炸。高氯酸专用通风柜采用耐腐蚀材料，并设有水冲洗系统，可定期冲洗柜体内壁和风管。高氯酸专用柜内绝不能放置或使用有机物，普通通风柜也不得用于高氯酸加热操作（以本校规定为准）。</a:t>
            </a:r>
          </a:p>
          <a:p>
            <a:r>
              <a:t>开放性放射性物质的操作要在专用的通风柜或手套箱内进行，并按辐射安全管理要求执行（见第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答案：B。解析：空气从柜口持续流入，形成向内屏障，污染物随气流经风管排到楼外。</a:t>
            </a:r>
          </a:p>
          <a:p>
            <a:r>
              <a:t>第 2 题 答案：B。解析：风速过大会产生湍流，反而把污染物卷出；面风速要在规定范围内，以本校规定和设备标识为准。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答案：B。解析：人员走动带起的旋涡会把污染物拉出柜外。</a:t>
            </a:r>
          </a:p>
          <a:p>
            <a:r>
              <a:t>第 4 题 答案：C。解析：报警按“停、关、报”处理，故障排除后按说明书复位。</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答案：实验室要持续通风换气并保持负压，稀释和排出逸散的有害气体，防止扩散到走廊和办公室；排风不能只靠通风柜，运行要求以本校规定为准。解析：试剂柜、废液桶等在无人时也会持续挥发。</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通风柜的保护效果，一半取决于设计、安装和检测（见第 051 课），另一半取决于使用者的操作习惯。视窗开得太高、头伸进柜内、柜内堆满杂物，都会让一台合格的通风柜失去保护作用。</a:t>
            </a:r>
          </a:p>
          <a:p>
            <a:r>
              <a:t>需要放进通风柜做的操作，说明所用物质有毒、易挥发或易燃，本身就有危险。使用要点可概括为：检测合格、深处操作、不当储存柜；看风量显示、拉低视窗、定期检测；选对柜子、用对方法。</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凡可能产生有害气体、烟雾或粉尘的操作，挥发性、有毒、有刺激性化学品的取用和倾倒，都应在化学通风柜内进行，不在敞开的实验台上图省事，也不凑近闻。</a:t>
            </a:r>
          </a:p>
          <a:p>
            <a:r>
              <a:t>使用易燃有机溶剂的反应，加热或煮沸乙醇、丙酮等溶剂，蒸馏、升华、重结晶等装置并不完全密闭，会放出易燃或有毒蒸气，要搭在通风柜内，通风柜及时排走蒸气，避免其积聚并接触热源；装置通大气的出口引向柜内排风处。移取挥发性、有毒液体，配制持久性有机污染物等有毒标准品，也在柜内进行，戴好手套和护目镜，剩余物和废液收入危险废物容器。</a:t>
            </a:r>
          </a:p>
          <a:p>
            <a:r>
              <a:t>化学通风柜不保护样品，也不适合病原微生物操作，生物操作使用生物安全柜（区别见第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使用前先打开风机，查看风速（风量）显示和指示灯是否正常；可在柜口拿一条纸巾或飘带，确认气流向柜内流动（纸条只能确认风机在抽风，不能判断风速是否合格）。</a:t>
            </a:r>
          </a:p>
          <a:p>
            <a:r>
              <a:t>查看检测标识，确认通风柜检测过且在有效期内；检查视窗升降顺畅、柜内整洁、柜内设备已移到靠里的位置，多余的瓶子和设备已拿走。</a:t>
            </a:r>
          </a:p>
          <a:p>
            <a:r>
              <a:t>没有向内气流、风速显示异常或报警的，不使用，挂牌停用，立即报告实验室负责人报修（检测与报警见第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通风柜只是工程控制措施之一，不能代替个人防护。操作前先阅读安全技术说明书，了解所用化学品的成分、危害和防护要求。</a:t>
            </a:r>
          </a:p>
          <a:p>
            <a:r>
              <a:t>在通风柜内操作时，照常佩戴护目镜（GB 14866-2023，以现行文本为准）、穿实验服、戴按说明书选择的化学防护手套（GB 28881-2023，以现行文本为准）；处理腐蚀性液体或有飞溅风险时，加戴面屏等更高等级的防护。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到脸上。</a:t>
            </a:r>
          </a:p>
          <a:p>
            <a:r>
              <a:t>视窗要挡在面部和化学品之间，下沿不能与口鼻齐平；放低的视窗还能挡住飞溅、喷射，甚至小的燃烧和爆炸。</a:t>
            </a:r>
          </a:p>
          <a:p>
            <a:r>
              <a:t>视窗也不是越低越好：开口过小，局部风速过大，也可能产生湍流带出蒸气。具体高度以柜体标线、本校规定和设备标识为准。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使用通风柜一般要站着操作，身体在柜外，保持视窗挡在面部前方。坐得太低，脸就到了视窗下沿以下，失去视窗的保护。</a:t>
            </a:r>
          </a:p>
          <a:p>
            <a:r>
              <a:t>绝不把头伸进通风柜：既会扰乱气流，又会直接吸入柜内的有害气体。需要观察时隔着视窗玻璃看。柜内装置需要调整、手够不着时，停下来找老师商量，不要探身进柜。</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柜口前沿附近的气流最弱、最容易受外界干扰，化学品越靠近柜口越容易漏出来；放在柜内深处，就能被完整地吸走。</a:t>
            </a:r>
          </a:p>
          <a:p>
            <a:r>
              <a:t>所有器皿、装置和操作都放在柜内足够深的位置，离柜口前沿保持一段距离，不把试剂瓶、器材堆在柜口边上。有的通风柜在台面上画有操作区标线，具体距离以柜内标线和本校规定为准。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通风柜的抽力其实并不大，柜前的快速动作很容易扰乱柜口气流。开工前把所需器材和试剂一次放进柜内，减少手臂进出。</a:t>
            </a:r>
          </a:p>
          <a:p>
            <a:r>
              <a:t>升降视窗要缓慢，猛拉猛推会把蒸气带出。确需把手臂移出柜外时，慢慢地、垂直于柜面抽出，不要斜着或快速甩出。在柜前操作时动作要稳，不快速转身；旁人也不要从柜前快步走过（见第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a:p>
            <a:r>
              <a:t>柜内只放本次实验要用的东西，用不上的及时放回专用储存柜（储存柜见第 044 课）。后部排风口前不放东西，让气流均匀流过整个台面；大设备垫高，让空气从下面流过（见第 051 课）。</a:t>
            </a:r>
          </a:p>
          <a:p>
            <a:r>
              <a:t>纸张、薄膜等轻质物品不要放在排风口附近，以免被吸进风管或风机，降低通风效果。</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通风柜内有易燃溶剂时，加热板等热源要远离溶剂，不使用明火；电器插头不放在柜内插拔，插座宜在柜外，防止电火花点燃蒸气。溶剂用完马上盖好。</a:t>
            </a:r>
          </a:p>
          <a:p>
            <a:r>
              <a:t>通风柜不是废液处理器：不能把废液敞口放在柜内任其挥发，也不能倒进柜内水槽。实验废液按性质分类收集到专用容器中，贴好标签、盖紧，按危险废物管理（见第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导流板、排风口、视窗、联锁装置和防护罩都是通风柜安全性能的一部分。使用者不得拆卸导流板、堵塞排风口、在柜口加装风扇，也不得随意拆除设备的防护罩和联锁装置。</a:t>
            </a:r>
          </a:p>
          <a:p>
            <a:r>
              <a:t>觉得排风不对劲时，报告实验室负责人和设施管理人员，维修、调整和检测交给专业人员（见第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a:p>
            <a:r>
              <a:t>平时要事先了解本单位的应急预案，知道停风、停电时怎么办（见第 156、157 课）。觉得通风柜不对劲时，及时告诉老师，需要时请专业人员重新检测，检测合格后再使用。</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实验结束后，把用不上的器材和试剂拿出通风柜，试剂放回储存柜，擦净柜内台面，让下一位使用者面对的是干净的通风柜。</a:t>
            </a:r>
          </a:p>
          <a:p>
            <a:r>
              <a:t>不操作时把视窗关好，一旦柜内发生溢洒或着火，关闭的视窗能减轻影响；视窗关闭还能减少排风能耗。风机的运行要求（是否保持运行）以本校规定为准。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答案：B。解析：视窗按标线放低；开得太高进风变慢，蒸气可能扑到脸上；也不是越低越好。</a:t>
            </a:r>
          </a:p>
          <a:p>
            <a:r>
              <a:t>第 2 题 答案：B。解析：通风柜不是储存柜，堆放会挡住风口、扰乱气流，溢洒着火时事故更大。</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答案：C。解析：深处操作、动作轻缓；头不伸进柜内，废液分类收集盖紧。</a:t>
            </a:r>
          </a:p>
          <a:p>
            <a:r>
              <a:t>第 4 题 答案：C。解析：报警或停风按“停、盖、关、撤、报”处理。</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答案：打开风机，看风速显示和指示灯是否正常，确认柜口气流向里；看检测标识是否在有效期内；检查视窗升降顺畅、柜内整洁；异常的不使用并报告报修。解析：用前自检是正确使用的第一步。</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任何实验都会产生废物。废物管理看起来不起眼，却是实验室安全的重要一环：从产生的那一刻起，废物就要分好类、标识清楚、规范存放，直到交学校统一送有资质的单位处置，中间一步都不能少。</a:t>
            </a:r>
          </a:p>
          <a:p>
            <a:r>
              <a:t>管理不好，后果立即而且严重。原片举过一个例子：一次本可预防的废物事故在通风柜里引发火灾，造成重大损失，整个实验室停工。乱倒乱排还会危害人员健康，污染土壤、水体和空气；处置出错时，单位要依法承担法律责任，个人也要承担相应责任。</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废物处置要在实验开始之前就规划好，而不是做完才想。使用一种化学品之前，先弄清楚它和产物会形成什么废物、归哪一类、放进哪个容器、谁来收运。</a:t>
            </a:r>
          </a:p>
          <a:p>
            <a:r>
              <a:t>依据有两个：一是安全技术说明书的“废弃处置”部分（见第 041 课）；二是实验室和学校的书面废物管理规定。化学和感染性废物都要按制度处理；有些废物（如活性高、毒性大的）处置更复杂，先查说明书、做好防护。拿不准的，事先问导师和安全管理人员，不自作主张。</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实验室废物一般分为：化学废物（废液、废固、沾染化学品的包装和耗材）、生物废物（培养物、样本、沾染生物材料的耗材，见第 077 课）、放射性废物（见第 091 课）、锐器（针头、刀片、碎玻璃，见第 029 课）、电子废物和废电池，以及一般生活垃圾。各类废物管理体系不同，要分开收集，不能混放。</a:t>
            </a:r>
          </a:p>
          <a:p>
            <a:r>
              <a:t>处置之前先想清楚它是什么：沾了化学品的吸头和沾了生物样品的吸头要分开；沾生物污染的抹布纸巾按医疗废物要求处理，不进普通垃圾桶；生物材料先灭活（如高压灭菌），没有指示不打开细菌培养物。实验台要整洁、容易清洁，收集容器放在固定位置。具体类别和容器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最好的废物管理是少产生废物。实验室从按需领用、减少用量做起，遵循“减量、再利用、再循环”的思路（绿色实验室理念见第 055 课）。</a:t>
            </a:r>
          </a:p>
          <a:p>
            <a:r>
              <a:t>实验结束后，剩余的试剂和溶液能分享就分享，给需要的同学使用；没有人要的，倒进规定的废液容器。废物产生后按老师要求及时处理，但要分清哪些是废物、哪些是后面还要用的试剂，不要误丢。</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水道处理不了实验室化学品。易燃废液倒进去，蒸气会在管道里积聚，遇火源可能起火爆炸；酸碱和腐蚀性废液会腐蚀管道；有毒物质进入污水系统，污水处理厂处理不了，会污染水源和环境。倒错一次，后果就可能无法挽回。</a:t>
            </a:r>
          </a:p>
          <a:p>
            <a:r>
              <a:t>按国内法规和高校要求，实验室危险废液一律收集，不倒入水槽和下水道，也不混进生活垃圾。原片中“酸碱稀释后可以冲下水道”的做法不照做，稀释过的酸碱、用过的甲醛等醛类溶液、剩余的灭菌剂和消毒剂，都收集起来、贴好标签，交学校统一委托有资质的单位处置。能不能排放、怎么处置，以安全技术说明书和本校规定为准，不确定的先问。</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按性质分类收集，相互会反应的绝不能混在一个桶里。不相容的废液混合，可能放出有毒气体（如酸与含氰废液）、剧烈放热沸溢（如浓酸与浓碱）、着火（如氧化剂与易燃有机物），有的组合还会爆炸。多数实验室废物事故，都源于混错了废液。</a:t>
            </a:r>
          </a:p>
          <a:p>
            <a:r>
              <a:t>倒进对应的废物容器；倒错桶，就可能和里面已有的东西反应。相容性判断见第 043 课，拿不准先问再倒。分开收集还能降低处置难度和费用。分类收集的废物贴好标签，由学校统一交给有资质的单位处置。</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废液不只是反应结束时剩下的那一瓶。过滤的滤液、重结晶的母液、蒸馏的馏出液和残液、各种洗涤液和冲洗溶剂、滴定剩余的酸碱、pH 电极排出的内充液和旧保存液、移液剩余的溶液，都要按类别倒进对应的废液容器，不随手倒进水槽。</a:t>
            </a:r>
          </a:p>
          <a:p>
            <a:r>
              <a:t>清洗玻璃器皿前，先把残液倒进废液桶，再趁残留未干时用低毒溶剂冲洗，冲洗液同样收集；洗不掉的找老师。用酒精擦拭台面时远离明火和热源。边做边清理，不把废液攒到实验结束。各类实验操作中的废物处理要点见第 15 章相关各课。</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废液通常要区分含卤（如二氯甲烷、氯仿）和不含卤两类，分开收集；萃取后剩下的有机相和水相也分开，洗下来的水层同样按本校规定收集，不倒水槽。二氯甲烷等含卤溶剂有毒，倒废液时不吸入蒸气，桶口不敞开（重点毒害品见第 049 课）。</a:t>
            </a:r>
          </a:p>
          <a:p>
            <a:r>
              <a:t>含铬、含汞、含铜、锌、镍等重金属的废液单独收集，不和其他废液混装；含金属化合物的残渣和废样也单独收集，不进垃圾桶。既含微生物又含重金属的废液，先问清处置方法再处理。特殊废液的暂存和处置见第 054 课；具体分类以本校规定为准。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原片举过一个例子：有人把少量硝酸倒进了有机溶剂废液桶，桶慢慢发热，几小时后起火。桶上的标签写得没错，只是倒的人没有看。</a:t>
            </a:r>
          </a:p>
          <a:p>
            <a:r>
              <a:t>所以每次往废液桶里倒之前，都要停一下，读一遍标签，对照安全技术说明书和相容性要求判断能不能混；倒完立即在桶上的记录单写明名称和大致数量，方便后来的人判断和最终处置。</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废液容器要耐化学品腐蚀，材质与所装废液相容（GB 18597-2023，以现行文本为准），例如腐蚀性废液不用会被腐蚀的容器。容器要完好、不渗漏，盖子能盖紧。</a:t>
            </a:r>
          </a:p>
          <a:p>
            <a:r>
              <a:t>废液桶放在防漏托盘里，防止渗漏和倾倒时外流；不要装得太满，留出空间，避免倾倒溢出和受热膨胀。容器放在固定位置，远离热源、火源和通道。装量、托盘规格以本校规定为准。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废物容器从开始使用就要贴好标签，暂存期间一看就懂。标签一般写明：废物名称、主要成分及大致比例、危险特性（易燃、腐蚀、有毒等）、开始收集日期、产生的实验室和责任人。式样以本校规定为准。</a:t>
            </a:r>
          </a:p>
          <a:p>
            <a:r>
              <a:t>两次添加之间容器也要盖紧，不能敞着口。快满时封好，送到指定暂存点等待统一收运（暂存与处置见第 054 课）。要读懂学校的废物处置规定：自己产生的废物，自己负责到底，不能装好就不管。</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倒废液时同样有溅洒和吸入风险。挥发性、有毒的废液在通风柜内倾倒，戴好护目镜、手套，穿实验服，用漏斗慢慢倒；倒完取下漏斗，立即盖紧桶盖。</a:t>
            </a:r>
          </a:p>
          <a:p>
            <a:r>
              <a:t>不能把废溶剂敞口放在通风柜里让它挥发掉来“处置”，那等于把污染物排到大气里，还会造成柜内易燃蒸气积聚。确实需要蒸发浓缩溶剂的，先问实验室负责人按规定的方法进行。废液分类登记，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容易被忽视的危险废物包括：盛装过危险化学品的空瓶、空桶等包装物；沾了化学品的手套、抹布、纸巾和滤纸；用过的硅胶、砂、棉花、干燥剂、活性炭渣和薄层板；沾溶剂的吸头和滴管。它们按固体化学废物收集，写清内容，盖好桶盖，不扔进普通垃圾桶。</a:t>
            </a:r>
          </a:p>
          <a:p>
            <a:r>
              <a:t>毛细管、碎玻璃属于玻璃锐器，放进专用盒（见第 029 课）。过期试剂和标签脱落、成分不明的试剂，不能随手倒掉，要单独存放、标明情况，报告实验室负责人按规定处理。具体以本校规定为准。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废旧电池放进专用的回收箱，不扔进生活垃圾。鼓包、漏液、破损的电池可能短路起火，单独存放在不燃容器内并报告处理（电池安全见第 103 课）。</a:t>
            </a:r>
          </a:p>
          <a:p>
            <a:r>
              <a:t>仪器维修换下的旧电源、电路板等电子部件，交回统一回收处置，不混进生活垃圾。焊接等作业留下的空焊丝盘和废丝分开回收，废丝不留在地上和台面上。回收渠道以本校规定为准。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废液桶出现发热、冒气、鼓胀、变色或异常气味，说明桶内可能发生了反应。此时立即停止往里添加，不要打开桶盖查看，带周围人员远离。</a:t>
            </a:r>
          </a:p>
          <a:p>
            <a:r>
              <a:t>在安全处报告实验室负责人和学院，按本单位应急预案处置；出现泄漏、起火时按第 056 课和消防应急要求处理，必要时拨打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答案：B。解析：危险废液一律收集，不倒下水道，稀释过的酸碱也一样；不靠挥发处理；倒前要看标签、查相容。</a:t>
            </a:r>
          </a:p>
          <a:p>
            <a:r>
              <a:t>第 2 题 答案：B。解析：很多事故是标签没错、只是没人看；每次倒之前都要读一遍标签，倒后记录。</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答案：D。解析：沾染危险化学品的包装物和耗材也是危险废物，不进生活垃圾。</a:t>
            </a:r>
          </a:p>
          <a:p>
            <a:r>
              <a:t>第 4 题 答案：B。解析：不要装太满，留出空间，快满就送暂存点。</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答案：立即停止添加，不打开桶盖，带人员远离；在安全处报告实验室负责人和学院，按应急预案处置，必要时拨打 119、120。解析：废液桶异常说明桶内可能在反应，按“停加、远离、报告”处理。</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危险废物从产生的那一刻起就要纳入管理，经过实验室暂存点、学校（学院）集中贮存，再由有资质的单位运输和处置，每一个环节都要有记录可查，形成完整的追踪链条。</a:t>
            </a:r>
          </a:p>
          <a:p>
            <a:r>
              <a:t>链条中任何一环断了，例如桶上没有标签、交接没有登记、转运没有联单，这批废物的去向就说不清，出了问题也无法追溯。</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依据《中华人民共和国固体废物污染环境防治法》和《国家危险废物名录》管理危险废物。判定一种废物是不是危险废物，一是看它是否列入名录（实验室废液、沾染危险化学品的包装物和耗材等通常在列）；二是看它是否具有腐蚀性、毒性、易燃性、反应性或感染性等危险特性，必要时按国家危险废物鉴别标准鉴别。</a:t>
            </a:r>
          </a:p>
          <a:p>
            <a:r>
              <a:t>实验室人员拿不准时，按危险废物管理，并请教实验室安全管理人员，不自行认定为一般废物。感染性废物另有专门要求（见第 077 课），放射性废物见第 091 课。危险废物由学校统一收集，交有资质的单位处置。</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产生危险废物的单位要建立危险废物管理台账，如实记录产生的种类、数量、去向等。实验室每次产生、交出废物都要登记，按月统计，做到心里有数。</a:t>
            </a:r>
          </a:p>
          <a:p>
            <a:r>
              <a:t>产生量越大，管理要求越严格。实验室的台账汇总到学院和学校，学校据此制定管理计划、依法申报，并安排收运和处置。台账格式和统计周期以本校规定为准。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实验室产生的危险废物，先放在产生点附近划定的暂存区，由使用的人直接看管，便于随时添加、检查和登记。</a:t>
            </a:r>
          </a:p>
          <a:p>
            <a:r>
              <a:t>暂存区的存量有上限，具体数量以本校规定为准。按上限和实际产生量选择合适大小的收集容器，不用过大的桶长期攒废物。</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18597-2023（以现行文本为准）《危险废物贮存污染控制标准》的原则和本校规定管理实验室暂存点：位置固定，设置危险废物标志，每个容器贴好危险废物标签（标签内容见第 053 课）。</a:t>
            </a:r>
          </a:p>
          <a:p>
            <a:r>
              <a:t>不相容的废物分区、隔开存放（如酸与碱、氧化剂与有机物）；液态废物放在防漏托盘内，地面防渗，防止泄漏外流。暂存点保持通风，容器完好、盖紧；远离热源、火源和电源，不堵塞通道和应急设施，附近配备灭火器材和泄漏应急物资。</a:t>
            </a:r>
          </a:p>
          <a:p>
            <a:r>
              <a:t>安排专人定期检查容器是否完好、有无渗漏和异常，废物入出都登记。</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容器装到规定量（不要装太满）就封好，及时联系学校或学院的收运部门，在规定时间内转运到学校集中贮存点。具体时限以本校规定为准。</a:t>
            </a:r>
          </a:p>
          <a:p>
            <a:r>
              <a:t>转运前拧紧桶盖，擦净容器外壁，确认标签完整清楚。装满的桶长期堆在实验室，不仅占地方、增加火灾和泄漏风险，也违反管理规定。</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含铬等重金属的废液和废物单独收集、单独存放，不与其他废液混装，标明成分，交学校按危险废物处置。实验室不自行用沉淀、还原等方法“处理”废液后排放，处置工作由有资质的单位完成。洒落汞的应急处置见第 056 课。</a:t>
            </a:r>
          </a:p>
          <a:p>
            <a:r>
              <a:t>剧毒、易制毒、易制爆等管控类化学品及其废弃物，按管控要求登记、存放，报告学院和学校管理部门后统一处置，不得擅自处置（见第 045 课）。标签脱落、成分不明的废物和试剂单独存放，挂牌标明，报告安全管理人员安排鉴别和处置。</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部分化学品可以回收利用，但具有爆炸性的残留物例外：它们不能冲进下水道，也不能送去回收，更不能自行处理。</a:t>
            </a:r>
          </a:p>
          <a:p>
            <a:r>
              <a:t>遇到这类残留物，保持原状，不摩擦、不撞击、不加热，立即报告实验室负责人，由学校联系有资质的单位按专门程序处置（易燃易爆化学品见第 046 课，反应性化学品见第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危险废物按学校或学院通知的收运时间和地点送交，用推车等方式平稳搬运（校内搬运要求见第 050 课）。</a:t>
            </a:r>
          </a:p>
          <a:p>
            <a:r>
              <a:t>交接时核对容器标签与台账是否一致，检查包装完好、盖紧、不渗漏；不合格的退回整改。交接双方在交接单上登记签字，留存记录。</a:t>
            </a:r>
          </a:p>
          <a:p>
            <a:r>
              <a:t>实验室和个人不得私自把危险废物交给废品收购人员或其他无资质的单位、个人。</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危险废物运出学校时，按《危险废物转移管理办法》（以现行文本为准）执行转移联单制度，目前一般通过电子联单办理。联单记录产生单位、运输单位和接收处置单位，形成不间断的监管链。</a:t>
            </a:r>
          </a:p>
          <a:p>
            <a:r>
              <a:t>联单要跟踪到闭环：处置单位接收并确认后，这批废物的转移才算完成；联单没有按时完成的，学校管理部门要追查原因。联单、台账和交接记录按规定期限保存备查。</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实验室的危险废物分类收集、贴好标签、规范暂存后，由学校统一委托持有危险废物经营许可证的单位运输和处置，学校负责核实对方的资质和许可范围。</a:t>
            </a:r>
          </a:p>
          <a:p>
            <a:r>
              <a:t>产生单位的责任不会因为废物交出去而转移：接收单位处置不当，产生单位依法也要承担相应责任。所以一定要交给有资质的单位，不能图便宜找无资质的人处理。任何时候，危险废物都不倒入下水道，不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危险废物管理要随时经得起检查：暂存点不超量、不超期，分类和标签正确，台账、交接记录和联单相互对得上。学校和上级部门的实验室安全检查会把废物管理作为重点项目（见第 005 课）。</a:t>
            </a:r>
          </a:p>
          <a:p>
            <a:r>
              <a:t>在危险废物问题上，“不知道”不是理由。每位实验室人员都要读懂本校的危险废物管理规定，按规定做好自己这一环。</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答案：B。解析：一看名录，二看是否有腐蚀性、毒性、易燃性、反应性、感染性等危险特性；拿不准按危险废物管理。</a:t>
            </a:r>
          </a:p>
          <a:p>
            <a:r>
              <a:t>第 2 题 答案：B。解析：装满要及时联系学校收运，在规定时间内转走，堆在实验室就是违规。</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答案：B。解析：不相容的废物要分区、隔开存放。</a:t>
            </a:r>
          </a:p>
          <a:p>
            <a:r>
              <a:t>第 4 题 答案：C。解析：产生者责任不转移；学校核实资质，联单签回才算闭环。</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答案：不倒掉、不和其他废液混装；单独存放并挂牌标明情况，报告实验室负责人和安全管理人员，安排鉴别后按危险废物处置。解析：不明废物单独处理，不自行认定。</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气候变暖、臭氧层变薄、大气和水土污染等，是全球共同关注的环境问题。气候变暖影响每一个人；臭氧层像一把伞挡住太阳紫外线，变薄后到达地面的紫外线增强。</a:t>
            </a:r>
          </a:p>
          <a:p>
            <a:r>
              <a:t>应对这些问题的方向是可持续发展：既满足当代人的需要，又不损害后代人的发展。保护环境是我国的基本国策，一切单位和个人都有保护环境的义务。落到实验室，少领、少用多余试剂，少产生废物，就是为环境出一份力。</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风能、太阳能、水能等可再生能源，发电时不燃烧燃料，不排放废气和烟尘，属于清洁能源；以煤炭等化石能源为主的发电会排放二氧化碳和污染物。</a:t>
            </a:r>
          </a:p>
          <a:p>
            <a:r>
              <a:t>实验室是学校的用能大户，通风、空调、加热和大型仪器都耗电。节约每一度电，就是减少能源消耗和排放。实验室里随手关掉空转的设备，也是在保护环境。</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绿色实验室的核心理念可以概括为“减量、替代、循环”，与固废法的减量化、资源化、无害化原则一致。</a:t>
            </a:r>
          </a:p>
          <a:p>
            <a:r>
              <a:t>减量：按需领用、按需配制，在保证实验效果的前提下采用小量化、微型化实验，少产生废物（见第 053 课）；剩余试剂在课题组或学校共享平台中共享，避免重复购买、过期报废。</a:t>
            </a:r>
          </a:p>
          <a:p>
            <a:r>
              <a:t>替代：在条件允许时，用低毒、低危害的试剂和溶剂替代高毒、高危害的。改变试剂或方法前，要做风险评估（见第 014 课），经导师和实验室负责人同意。</a:t>
            </a:r>
          </a:p>
          <a:p>
            <a:r>
              <a:t>循环：溶剂回收、器材再利用要安全可行并经批准，按规程进行。环保不是“把废物挥发掉、稀释后倒掉”：这些做法本身违规，危险废物照常分类收集交学校处置（见第 054 课）。</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通风柜是实验室的耗电大户，不使用时及时把视窗拉下关好，既安全又节能（见第 052 课）。闲置的加热板、烘箱、电脑和显示器用完就关；空调温度按学校规定设置，开空调时关好门窗；下班前关灯、关水、关电，检查无误再离开。</a:t>
            </a:r>
          </a:p>
          <a:p>
            <a:r>
              <a:t>节能必须服从安全。正在使用的通风柜、实验室全面通风、储存化学品的冰箱、培养箱、需要持续运行的在线设备，按规程保持运行，不为省电随意断电。冰箱门随手关严，定期除霜清理，内部不过满（化学品冰箱见第 044 课）。节约用水，冷却水按规程使用。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调、冰箱、冷柜靠制冷剂工作。部分旧型制冷剂属于消耗臭氧层物质，我国依据《消耗臭氧层物质管理条例》（以现行文本为准）按规定淘汰，新设备应选用符合国家要求的制冷剂。滤网、压缩机、冷凝器等是空调冰箱的正常部件。</a:t>
            </a:r>
          </a:p>
          <a:p>
            <a:r>
              <a:t>实验室的旧冰箱、空调、冷柜不能自行拆解或放出制冷剂，也不能当废品卖掉。报废时走学校资产报废流程，由学校交专业单位回收处理。存放过化学品或生物样品的冰箱，报废前还要清空、清洁，必要时消毒，并经实验室负责人确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活中也有危险物品。用完的家用废电池、过期药品、杀虫剂罐、废灯管、废油漆桶等，属于生活垃圾分类中的有害垃圾，不随手扔进其他垃圾桶，投进有害垃圾收集容器。具体分类和投放要求按所在城市的规定。</a:t>
            </a:r>
          </a:p>
          <a:p>
            <a:r>
              <a:t>生活垃圾分类和实验室废物分类是两套体系：实验室产生的废液、废试剂和沾染化学品的废物属于危险废物，按第 053、054 课的要求收集交学校处置，不投放到生活有害垃圾桶。</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《中华人民共和国节约能源法》和《公共机构节能条例》（以现行文本为准）要求公共机构厉行节约、降低能耗；教育部等部门推动绿色学校创建（以现行文本为准），把节能环保纳入校园建设和教育。</a:t>
            </a:r>
          </a:p>
          <a:p>
            <a:r>
              <a:t>学校把实验室节能和废物管理纳入日常管理和检查。每一位实验室人员都可以从按需领用、试剂共享、随手关闭、分类收集做起，养成绿色习惯。</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答案：D。解析：风能、太阳能、水能可再生，发电时不排放废气。</a:t>
            </a:r>
          </a:p>
          <a:p>
            <a:r>
              <a:t>第 2 题 答案：B。解析：节能必须服从安全；不用时关视窗，但正在使用的通风柜不能为省电关闭。</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答案：B。解析：旧制冷设备可能含消耗臭氧层物质，不能自行拆解，交专业单位回收。</a:t>
            </a:r>
          </a:p>
          <a:p>
            <a:r>
              <a:t>第 4 题 答案：C。解析：减量、替代、循环；替代要先评估、经同意；危险废物照常交学校处置。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废电池、过期药品属于生活有害垃圾，投进有害垃圾桶，按所在城市规定；实验室废试剂属于危险废物，不能投生活垃圾桶，要分类收集交学校处置。解析：生活垃圾分类和实验室危险废物管理是两套体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重点毒害品安全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适用对象：使用甲醛、戊二醛、二氯甲烷、汞、铬盐等毒害化学品的高校本科生、研究生和教职工（必修）；医学、生命科学、化学、化工、材料、环境等专业重点学习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能说出甲醛、戊二醛、二氯甲烷、汞和六价铬盐的主要急性和慢性危害，能判断哪些属于致癌物或致敏物。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能做到使用前培训、读标签和安全技术说明书、做风险评估，在通风柜里开瓶、量取、配制和浓缩，选用合适的个人防护，密闭储存、少量领用。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能说出职业接触限值、呼吸带采样监测和职业健康检查的作用，知道限值按国家职业卫生标准执行。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能做到出现头晕、刺激等症状立即离开、报告并就医；汞洒落时不碰、不扫、不吸，隔离通风并报告。</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《中华人民共和国职业病防治法》：职业病危害因素检测、告知，劳动者培训和职业健康检查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188（以现行文本为准）《职业健康监护技术规范》：上岗前、在岗期间、离岗时职业健康检查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日起施行）及《危险化学品安全管理条例》（以现行文本为准）：学校、科研机构使用危险化学品的安全责任，中文安全技术说明书和安全标签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系列（以现行文本为准）《化学品分类和标签规范》：急性毒性、致癌性、呼吸或皮肤致敏、特异性靶器官毒性的分类和象形图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内容和项目顺序》：危险性概述、接触控制和个体防护、毒理学信息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《国家危险废物名录》（以现行文本为准）：含汞、含铬废物及废弃毒害化学品按危险废物收集处置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号，以现行文本为准）及高校实验室安全检查项目表、本校危险化学品和职业健康管理制度</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甲醛和戊二醛：常用而有毒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甲醛和戊二醛都是有毒的醛</a:t>
            </a:r>
          </a:p>
          <a:p>
            <a:pPr>
              <a:spcAft>
                <a:spcPts val="1000"/>
              </a:spcAft>
            </a:pPr>
            <a:r>
              <a:rPr sz="2000">
                <a:solidFill>
                  <a:srgbClr val="222B33"/>
                </a:solidFill>
                <a:latin typeface="Microsoft YaHei"/>
              </a:rPr>
              <a:t>▪ 常用来固定标本、消毒器械</a:t>
            </a:r>
          </a:p>
          <a:p>
            <a:pPr>
              <a:spcAft>
                <a:spcPts val="1000"/>
              </a:spcAft>
            </a:pPr>
            <a:r>
              <a:rPr sz="2000">
                <a:solidFill>
                  <a:srgbClr val="222B33"/>
                </a:solidFill>
                <a:latin typeface="Microsoft YaHei"/>
              </a:rPr>
              <a:t>▪ 甲醛很常见，危害却格外特殊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甲醛（福尔马林是它的水溶液）常用于固定组织和动物标本、病理制片；戊二醛常用于器械消毒和电镜样品固定。两者在医学、生命科学实验室中非常常见。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把标本罐当普通容器随手打开</a:t>
            </a:r>
          </a:p>
          <a:p>
            <a:pPr>
              <a:spcAft>
                <a:spcPts val="1000"/>
              </a:spcAft>
            </a:pPr>
            <a:r>
              <a:rPr sz="1500">
                <a:solidFill>
                  <a:srgbClr val="222B33"/>
                </a:solidFill>
                <a:latin typeface="Microsoft YaHei"/>
              </a:rPr>
              <a:t>▪ 以为消毒液都是低毒的</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一接触就刺激：皮肤、眼睛、呼吸道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皮肤、眼睛、黏膜一接触就受刺激</a:t>
            </a:r>
          </a:p>
          <a:p>
            <a:pPr>
              <a:spcAft>
                <a:spcPts val="1000"/>
              </a:spcAft>
            </a:pPr>
            <a:r>
              <a:rPr sz="2000">
                <a:solidFill>
                  <a:srgbClr val="222B33"/>
                </a:solidFill>
                <a:latin typeface="Microsoft YaHei"/>
              </a:rPr>
              <a:t>▪ 轻则发红刺痛，重则灼伤</a:t>
            </a:r>
          </a:p>
          <a:p>
            <a:pPr>
              <a:spcAft>
                <a:spcPts val="1000"/>
              </a:spcAft>
            </a:pPr>
            <a:r>
              <a:rPr sz="2000">
                <a:solidFill>
                  <a:srgbClr val="222B33"/>
                </a:solidFill>
                <a:latin typeface="Microsoft YaHei"/>
              </a:rPr>
              <a:t>▪ 吸入蒸气会咳嗽、恶心，引发喉炎、哮喘</a:t>
            </a:r>
          </a:p>
          <a:p>
            <a:pPr>
              <a:spcAft>
                <a:spcPts val="1000"/>
              </a:spcAft>
            </a:pPr>
            <a:r>
              <a:rPr sz="2000">
                <a:solidFill>
                  <a:srgbClr val="222B33"/>
                </a:solidFill>
                <a:latin typeface="Microsoft YaHei"/>
              </a:rPr>
              <a:t>▪ 浓度极高时，可致昏迷甚至死亡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甲醛和戊二醛接触皮肤、眼睛和黏膜后很快出现刺激症状：轻者发红、刺痛、流泪，重者灼伤；反复接触还可能引起过敏性皮炎。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闻到刺激味还继续操作</a:t>
            </a:r>
          </a:p>
          <a:p>
            <a:pPr>
              <a:spcAft>
                <a:spcPts val="1000"/>
              </a:spcAft>
            </a:pPr>
            <a:r>
              <a:rPr sz="1500">
                <a:solidFill>
                  <a:srgbClr val="222B33"/>
                </a:solidFill>
                <a:latin typeface="Microsoft YaHei"/>
              </a:rPr>
              <a:t>▪ 眼睛刺痛时用手揉</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甲醛致癌，长期接触伤害慢慢显现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长期接触的伤害，不会马上显现</a:t>
            </a:r>
          </a:p>
          <a:p>
            <a:pPr>
              <a:spcAft>
                <a:spcPts val="1000"/>
              </a:spcAft>
            </a:pPr>
            <a:r>
              <a:rPr sz="2000">
                <a:solidFill>
                  <a:srgbClr val="222B33"/>
                </a:solidFill>
                <a:latin typeface="Microsoft YaHei"/>
              </a:rPr>
              <a:t>▪ 甲醛是致癌物，过量接触增加患癌风险</a:t>
            </a:r>
          </a:p>
          <a:p>
            <a:pPr>
              <a:spcAft>
                <a:spcPts val="1000"/>
              </a:spcAft>
            </a:pPr>
            <a:r>
              <a:rPr sz="2000">
                <a:solidFill>
                  <a:srgbClr val="222B33"/>
                </a:solidFill>
                <a:latin typeface="Microsoft YaHei"/>
              </a:rPr>
              <a:t>▪ 反复接触，还会永久损伤呼吸道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慢性危害往往在多年后才表现出来。甲醛已被确认为人类致癌物，长期过量接触会增加患癌（如鼻咽部肿瘤等）的风险；反复接触还可能造成永久性的呼吸道损伤和致敏。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认为没有症状就没有伤害</a:t>
            </a:r>
          </a:p>
          <a:p>
            <a:pPr>
              <a:spcAft>
                <a:spcPts val="1000"/>
              </a:spcAft>
            </a:pPr>
            <a:r>
              <a:rPr sz="1500">
                <a:solidFill>
                  <a:srgbClr val="222B33"/>
                </a:solidFill>
                <a:latin typeface="Microsoft YaHei"/>
              </a:rPr>
              <a:t>▪ 习惯了气味就不再防护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有症状，立即报告就医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怀疑接触过量、出现症状，立即报告</a:t>
            </a:r>
          </a:p>
          <a:p>
            <a:pPr>
              <a:spcAft>
                <a:spcPts val="1000"/>
              </a:spcAft>
            </a:pPr>
            <a:r>
              <a:rPr sz="2000">
                <a:solidFill>
                  <a:srgbClr val="222B33"/>
                </a:solidFill>
                <a:latin typeface="Microsoft YaHei"/>
              </a:rPr>
              <a:t>▪ 报告实验室负责人</a:t>
            </a:r>
          </a:p>
          <a:p>
            <a:pPr>
              <a:spcAft>
                <a:spcPts val="1000"/>
              </a:spcAft>
            </a:pPr>
            <a:r>
              <a:rPr sz="2000">
                <a:solidFill>
                  <a:srgbClr val="222B33"/>
                </a:solidFill>
                <a:latin typeface="Microsoft YaHei"/>
              </a:rPr>
              <a:t>▪ 及早就医，多数情况能够好转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怀疑自己接触过量，或出现眼鼻刺激、咳嗽、皮疹、头痛等症状时，立即停止操作、离开现场，报告实验室负责人，由实验室负责人报告学院（报告程序见第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觉得不严重就忍着</a:t>
            </a:r>
          </a:p>
          <a:p>
            <a:pPr>
              <a:spcAft>
                <a:spcPts val="1000"/>
              </a:spcAft>
            </a:pPr>
            <a:r>
              <a:rPr sz="1500">
                <a:solidFill>
                  <a:srgbClr val="222B33"/>
                </a:solidFill>
                <a:latin typeface="Microsoft YaHei"/>
              </a:rPr>
              <a:t>▪ 怕被批评不报告</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职业接触有国家标准和限值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国内依据职业病防治法管理</a:t>
            </a:r>
          </a:p>
          <a:p>
            <a:pPr>
              <a:spcAft>
                <a:spcPts val="1000"/>
              </a:spcAft>
            </a:pPr>
            <a:r>
              <a:rPr sz="2000">
                <a:solidFill>
                  <a:srgbClr val="222B33"/>
                </a:solidFill>
                <a:latin typeface="Microsoft YaHei"/>
              </a:rPr>
              <a:t>▪ 接触限值按 GBZ 2.1 现行文本执行</a:t>
            </a:r>
          </a:p>
          <a:p>
            <a:pPr>
              <a:spcAft>
                <a:spcPts val="1000"/>
              </a:spcAft>
            </a:pPr>
            <a:r>
              <a:rPr sz="2000">
                <a:solidFill>
                  <a:srgbClr val="222B33"/>
                </a:solidFill>
                <a:latin typeface="Microsoft YaHei"/>
              </a:rPr>
              <a:t>▪ 标准起因于工业大量使用，目的是把接触降到最低</a:t>
            </a:r>
          </a:p>
          <a:p>
            <a:pPr>
              <a:spcAft>
                <a:spcPts val="1000"/>
              </a:spcAft>
            </a:pPr>
            <a:r>
              <a:rPr sz="2000">
                <a:solidFill>
                  <a:srgbClr val="222B33"/>
                </a:solidFill>
                <a:latin typeface="Microsoft YaHei"/>
              </a:rPr>
              <a:t>▪ 限值为保护你而设，使用场所要告知致癌风险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以为限值只适用于工厂</a:t>
            </a:r>
          </a:p>
          <a:p>
            <a:pPr>
              <a:spcAft>
                <a:spcPts val="1000"/>
              </a:spcAft>
            </a:pPr>
            <a:r>
              <a:rPr sz="1500">
                <a:solidFill>
                  <a:srgbClr val="222B33"/>
                </a:solidFill>
                <a:latin typeface="Microsoft YaHei"/>
              </a:rPr>
              <a:t>▪ 不看告知卡就开始操作</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接触监测：采呼吸带空气，平均和高峰都要控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常用或大量使用，要监测接触量</a:t>
            </a:r>
          </a:p>
          <a:p>
            <a:pPr>
              <a:spcAft>
                <a:spcPts val="1000"/>
              </a:spcAft>
            </a:pPr>
            <a:r>
              <a:rPr sz="2000">
                <a:solidFill>
                  <a:srgbClr val="222B33"/>
                </a:solidFill>
                <a:latin typeface="Microsoft YaHei"/>
              </a:rPr>
              <a:t>▪ 采的是你呼吸带里的空气</a:t>
            </a:r>
          </a:p>
          <a:p>
            <a:pPr>
              <a:spcAft>
                <a:spcPts val="1000"/>
              </a:spcAft>
            </a:pPr>
            <a:r>
              <a:rPr sz="2000">
                <a:solidFill>
                  <a:srgbClr val="222B33"/>
                </a:solidFill>
                <a:latin typeface="Microsoft YaHei"/>
              </a:rPr>
              <a:t>▪ 平均水平达到或超过限值，就要加强防护</a:t>
            </a:r>
          </a:p>
          <a:p>
            <a:pPr>
              <a:spcAft>
                <a:spcPts val="1000"/>
              </a:spcAft>
            </a:pPr>
            <a:r>
              <a:rPr sz="2000">
                <a:solidFill>
                  <a:srgbClr val="222B33"/>
                </a:solidFill>
                <a:latin typeface="Microsoft YaHei"/>
              </a:rPr>
              <a:t>▪ 短时间的高峰也要控制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经常或大量使用甲醛等毒害品的场所，学校要组织有资质的机构进行工作场所空气检测，必要时做个人采样：把采样器佩戴在操作者衣领附近，采集呼吸带（口鼻周围）的空气。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只看全天平均，不管换液时的高峰</a:t>
            </a:r>
          </a:p>
          <a:p>
            <a:pPr>
              <a:spcAft>
                <a:spcPts val="1000"/>
              </a:spcAft>
            </a:pPr>
            <a:r>
              <a:rPr sz="1500">
                <a:solidFill>
                  <a:srgbClr val="222B33"/>
                </a:solidFill>
                <a:latin typeface="Microsoft YaHei"/>
              </a:rPr>
              <a:t>▪ 检测超标后不整改</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先培训，读说明书，守规程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使用的人都要先接受培训，并定期复训</a:t>
            </a:r>
          </a:p>
          <a:p>
            <a:pPr>
              <a:spcAft>
                <a:spcPts val="1000"/>
              </a:spcAft>
            </a:pPr>
            <a:r>
              <a:rPr sz="2000">
                <a:solidFill>
                  <a:srgbClr val="222B33"/>
                </a:solidFill>
                <a:latin typeface="Microsoft YaHei"/>
              </a:rPr>
              <a:t>▪ 先弄清哪里在用，怎样减少接触</a:t>
            </a:r>
          </a:p>
          <a:p>
            <a:pPr>
              <a:spcAft>
                <a:spcPts val="1000"/>
              </a:spcAft>
            </a:pPr>
            <a:r>
              <a:rPr sz="2000">
                <a:solidFill>
                  <a:srgbClr val="222B33"/>
                </a:solidFill>
                <a:latin typeface="Microsoft YaHei"/>
              </a:rPr>
              <a:t>▪ 先看说明书：危害、途径、健康影响</a:t>
            </a:r>
          </a:p>
          <a:p>
            <a:pPr>
              <a:spcAft>
                <a:spcPts val="1000"/>
              </a:spcAft>
            </a:pPr>
            <a:r>
              <a:rPr sz="2000">
                <a:solidFill>
                  <a:srgbClr val="222B33"/>
                </a:solidFill>
                <a:latin typeface="Microsoft YaHei"/>
              </a:rPr>
              <a:t>▪ 天天按规程和标准做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所有使用甲醛、戊二醛等毒害品的人员都要接受培训：知道本实验室哪些地方在用、有哪些危害、怎样减少接触，并定期复训（准入培训见第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没培训就跟着师兄师姐做</a:t>
            </a:r>
          </a:p>
          <a:p>
            <a:pPr>
              <a:spcAft>
                <a:spcPts val="1000"/>
              </a:spcAft>
            </a:pPr>
            <a:r>
              <a:rPr sz="1500">
                <a:solidFill>
                  <a:srgbClr val="222B33"/>
                </a:solidFill>
                <a:latin typeface="Microsoft YaHei"/>
              </a:rPr>
              <a:t>▪ 只看过一次说明书就不再看</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标签写明含甲醛和致癌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容器标签是最直接的信息来源</a:t>
            </a:r>
          </a:p>
          <a:p>
            <a:pPr>
              <a:spcAft>
                <a:spcPts val="1000"/>
              </a:spcAft>
            </a:pPr>
            <a:r>
              <a:rPr sz="2000">
                <a:solidFill>
                  <a:srgbClr val="222B33"/>
                </a:solidFill>
                <a:latin typeface="Microsoft YaHei"/>
              </a:rPr>
              <a:t>▪ 含甲醛的溶液、材料都要标明</a:t>
            </a:r>
          </a:p>
          <a:p>
            <a:pPr>
              <a:spcAft>
                <a:spcPts val="1000"/>
              </a:spcAft>
            </a:pPr>
            <a:r>
              <a:rPr sz="2000">
                <a:solidFill>
                  <a:srgbClr val="222B33"/>
                </a:solidFill>
                <a:latin typeface="Microsoft YaHei"/>
              </a:rPr>
              <a:t>▪ 含量较高的写明主要危害和可能致癌</a:t>
            </a:r>
          </a:p>
          <a:p>
            <a:pPr>
              <a:spcAft>
                <a:spcPts val="1000"/>
              </a:spcAft>
            </a:pPr>
            <a:r>
              <a:rPr sz="2000">
                <a:solidFill>
                  <a:srgbClr val="222B33"/>
                </a:solidFill>
                <a:latin typeface="Microsoft YaHei"/>
              </a:rPr>
              <a:t>▪ 标签写不下，就去查说明书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化学品安全标签是最直接的危害信息来源（GB 30000 系列、GB 15258-2009，以现行文本为准）。含甲醛的溶液和混合物，以及会释放甲醛的材料，都要在标签上标明含甲醛；含量较高的还要写明主要危害，特别是“可能……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自配的固定液不贴标签</a:t>
            </a:r>
          </a:p>
          <a:p>
            <a:pPr>
              <a:spcAft>
                <a:spcPts val="1000"/>
              </a:spcAft>
            </a:pPr>
            <a:r>
              <a:rPr sz="1500">
                <a:solidFill>
                  <a:srgbClr val="222B33"/>
                </a:solidFill>
                <a:latin typeface="Microsoft YaHei"/>
              </a:rPr>
              <a:t>▪ 分装到小瓶后丢掉了危害信息</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风险评估定防护，不让它接触你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实验前按要求做风险评估</a:t>
            </a:r>
          </a:p>
          <a:p>
            <a:pPr>
              <a:spcAft>
                <a:spcPts val="1000"/>
              </a:spcAft>
            </a:pPr>
            <a:r>
              <a:rPr sz="2000">
                <a:solidFill>
                  <a:srgbClr val="222B33"/>
                </a:solidFill>
                <a:latin typeface="Microsoft YaHei"/>
              </a:rPr>
              <a:t>▪ 用多少、做多久、在哪做，决定怎么防</a:t>
            </a:r>
          </a:p>
          <a:p>
            <a:pPr>
              <a:spcAft>
                <a:spcPts val="1000"/>
              </a:spcAft>
            </a:pPr>
            <a:r>
              <a:rPr sz="2000">
                <a:solidFill>
                  <a:srgbClr val="222B33"/>
                </a:solidFill>
                <a:latin typeface="Microsoft YaHei"/>
              </a:rPr>
              <a:t>▪ 不吸入、不沾皮肤、不溅进眼睛</a:t>
            </a:r>
          </a:p>
          <a:p>
            <a:pPr>
              <a:spcAft>
                <a:spcPts val="1000"/>
              </a:spcAft>
            </a:pPr>
            <a:r>
              <a:rPr sz="2000">
                <a:solidFill>
                  <a:srgbClr val="222B33"/>
                </a:solidFill>
                <a:latin typeface="Microsoft YaHei"/>
              </a:rPr>
              <a:t>▪ 护目镜、合适的手套、实验服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实验前按本校风险管理要求进行风险评估：用量多少、操作多长时间、在什么场所做，决定需要的通风条件和防护措施（风险评估见第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用普通乳胶手套长时间接触</a:t>
            </a:r>
          </a:p>
          <a:p>
            <a:pPr>
              <a:spcAft>
                <a:spcPts val="1000"/>
              </a:spcAft>
            </a:pPr>
            <a:r>
              <a:rPr sz="1500">
                <a:solidFill>
                  <a:srgbClr val="222B33"/>
                </a:solidFill>
                <a:latin typeface="Microsoft YaHei"/>
              </a:rPr>
              <a:t>▪ 不评估就把用量放大</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通风最重要：在通风柜里开瓶配制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保持通风是最重要的做法之一</a:t>
            </a:r>
          </a:p>
          <a:p>
            <a:pPr>
              <a:spcAft>
                <a:spcPts val="1000"/>
              </a:spcAft>
            </a:pPr>
            <a:r>
              <a:rPr sz="2000">
                <a:solidFill>
                  <a:srgbClr val="222B33"/>
                </a:solidFill>
                <a:latin typeface="Microsoft YaHei"/>
              </a:rPr>
              <a:t>▪ 开瓶、量取、配制、取材都在通风柜里做</a:t>
            </a:r>
          </a:p>
          <a:p>
            <a:pPr>
              <a:spcAft>
                <a:spcPts val="1000"/>
              </a:spcAft>
            </a:pPr>
            <a:r>
              <a:rPr sz="2000">
                <a:solidFill>
                  <a:srgbClr val="222B33"/>
                </a:solidFill>
                <a:latin typeface="Microsoft YaHei"/>
              </a:rPr>
              <a:t>▪ 不在敞开的台面上开瓶倒液</a:t>
            </a:r>
          </a:p>
          <a:p>
            <a:pPr>
              <a:spcAft>
                <a:spcPts val="1000"/>
              </a:spcAft>
            </a:pPr>
            <a:r>
              <a:rPr sz="2000">
                <a:solidFill>
                  <a:srgbClr val="222B33"/>
                </a:solidFill>
                <a:latin typeface="Microsoft YaHei"/>
              </a:rPr>
              <a:t>▪ 铺好吸水垫，用完随手盖紧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把蒸气挡在呼吸带之外，最有效的方法是局部排风。开瓶、量取、配制、换液、标本取材都在通风柜或专用排风台里进行，不在敞开的台面上开瓶倒液。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在普通台面上换标本固定液</a:t>
            </a:r>
          </a:p>
          <a:p>
            <a:pPr>
              <a:spcAft>
                <a:spcPts val="1000"/>
              </a:spcAft>
            </a:pPr>
            <a:r>
              <a:rPr sz="1500">
                <a:solidFill>
                  <a:srgbClr val="222B33"/>
                </a:solidFill>
                <a:latin typeface="Microsoft YaHei"/>
              </a:rPr>
              <a:t>▪ 用完不盖，敞口放在柜里</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稀释要小心，稀溶液也有害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自行稀释、分装，要格外小心</a:t>
            </a:r>
          </a:p>
          <a:p>
            <a:pPr>
              <a:spcAft>
                <a:spcPts val="1000"/>
              </a:spcAft>
            </a:pPr>
            <a:r>
              <a:rPr sz="2000">
                <a:solidFill>
                  <a:srgbClr val="222B33"/>
                </a:solidFill>
                <a:latin typeface="Microsoft YaHei"/>
              </a:rPr>
              <a:t>▪ 尽量用预先分装好的容器</a:t>
            </a:r>
          </a:p>
          <a:p>
            <a:pPr>
              <a:spcAft>
                <a:spcPts val="1000"/>
              </a:spcAft>
            </a:pPr>
            <a:r>
              <a:rPr sz="2000">
                <a:solidFill>
                  <a:srgbClr val="222B33"/>
                </a:solidFill>
                <a:latin typeface="Microsoft YaHei"/>
              </a:rPr>
              <a:t>▪ 稀溶液，照样有危害</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从浓溶液自行稀释、分装时接触风险最大，要在通风柜里操作并做好防护。现在多采用预先稀释好的成品或预分装容器，可以减少开瓶和倒液的次数。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认为稀释后就无害</a:t>
            </a:r>
          </a:p>
          <a:p>
            <a:pPr>
              <a:spcAft>
                <a:spcPts val="1000"/>
              </a:spcAft>
            </a:pPr>
            <a:r>
              <a:rPr sz="1500">
                <a:solidFill>
                  <a:srgbClr val="222B33"/>
                </a:solidFill>
                <a:latin typeface="Microsoft YaHei"/>
              </a:rPr>
              <a:t>▪ 在台面上用量筒分装</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密闭储存，少量领用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密闭存放，阴凉通风</a:t>
            </a:r>
          </a:p>
          <a:p>
            <a:pPr>
              <a:spcAft>
                <a:spcPts val="1000"/>
              </a:spcAft>
            </a:pPr>
            <a:r>
              <a:rPr sz="2000">
                <a:solidFill>
                  <a:srgbClr val="222B33"/>
                </a:solidFill>
                <a:latin typeface="Microsoft YaHei"/>
              </a:rPr>
              <a:t>▪ 远离氧化剂，有的还易燃</a:t>
            </a:r>
          </a:p>
          <a:p>
            <a:pPr>
              <a:spcAft>
                <a:spcPts val="1000"/>
              </a:spcAft>
            </a:pPr>
            <a:r>
              <a:rPr sz="2000">
                <a:solidFill>
                  <a:srgbClr val="222B33"/>
                </a:solidFill>
                <a:latin typeface="Microsoft YaHei"/>
              </a:rPr>
              <a:t>▪ 按需少量领用，用完登记</a:t>
            </a:r>
          </a:p>
          <a:p>
            <a:pPr>
              <a:spcAft>
                <a:spcPts val="1000"/>
              </a:spcAft>
            </a:pPr>
            <a:r>
              <a:rPr sz="2000">
                <a:solidFill>
                  <a:srgbClr val="222B33"/>
                </a:solidFill>
                <a:latin typeface="Microsoft YaHei"/>
              </a:rPr>
              <a:t>▪ 标本瓶用完随手盖紧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甲醛等毒害品原容器密闭，存放在阴凉、通风的柜子里，远离氧化剂；部分含甲醇的甲醛溶液还具有易燃性，按易燃品要求存放（见第 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大桶固定液长期开着盖</a:t>
            </a:r>
          </a:p>
          <a:p>
            <a:pPr>
              <a:spcAft>
                <a:spcPts val="1000"/>
              </a:spcAft>
            </a:pPr>
            <a:r>
              <a:rPr sz="1500">
                <a:solidFill>
                  <a:srgbClr val="222B33"/>
                </a:solidFill>
                <a:latin typeface="Microsoft YaHei"/>
              </a:rPr>
              <a:t>▪ 领用不登记</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应急程序，平时就要熟悉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出了事，按实验室的程序处置</a:t>
            </a:r>
          </a:p>
          <a:p>
            <a:pPr>
              <a:spcAft>
                <a:spcPts val="1000"/>
              </a:spcAft>
            </a:pPr>
            <a:r>
              <a:rPr sz="2000">
                <a:solidFill>
                  <a:srgbClr val="222B33"/>
                </a:solidFill>
                <a:latin typeface="Microsoft YaHei"/>
              </a:rPr>
              <a:t>▪ 应急程序平时就要熟悉</a:t>
            </a:r>
          </a:p>
          <a:p>
            <a:pPr>
              <a:spcAft>
                <a:spcPts val="1000"/>
              </a:spcAft>
            </a:pPr>
            <a:r>
              <a:rPr sz="2000">
                <a:solidFill>
                  <a:srgbClr val="222B33"/>
                </a:solidFill>
                <a:latin typeface="Microsoft YaHei"/>
              </a:rPr>
              <a:t>▪ 有担心、有隐患，及时报告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发生溅洒、泄漏或接触时，按本实验室的应急程序处置（泄漏处置见第 056 课，灼伤急救见第 160 课）。应急程序要在平时通过培训和演练熟悉：洗眼器、喷淋、泄漏处理包在哪里，怎样报告。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出事时才去找应急程序</a:t>
            </a:r>
          </a:p>
          <a:p>
            <a:pPr>
              <a:spcAft>
                <a:spcPts val="1000"/>
              </a:spcAft>
            </a:pPr>
            <a:r>
              <a:rPr sz="1500">
                <a:solidFill>
                  <a:srgbClr val="222B33"/>
                </a:solidFill>
                <a:latin typeface="Microsoft YaHei"/>
              </a:rPr>
              <a:t>▪ 不知道泄漏处理包在哪里</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二氯甲烷：危害容易被小看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就是个溶剂？它的危害容易被小看</a:t>
            </a:r>
          </a:p>
          <a:p>
            <a:pPr>
              <a:spcAft>
                <a:spcPts val="1000"/>
              </a:spcAft>
            </a:pPr>
            <a:r>
              <a:rPr sz="2000">
                <a:solidFill>
                  <a:srgbClr val="222B33"/>
                </a:solidFill>
                <a:latin typeface="Microsoft YaHei"/>
              </a:rPr>
              <a:t>▪ 长期或反复大量接触，伤心、伤肝、伤脑</a:t>
            </a:r>
          </a:p>
          <a:p>
            <a:pPr>
              <a:spcAft>
                <a:spcPts val="1000"/>
              </a:spcAft>
            </a:pPr>
            <a:r>
              <a:rPr sz="2000">
                <a:solidFill>
                  <a:srgbClr val="222B33"/>
                </a:solidFill>
                <a:latin typeface="Microsoft YaHei"/>
              </a:rPr>
              <a:t>▪ 还可能增加患癌风险</a:t>
            </a:r>
          </a:p>
          <a:p>
            <a:pPr>
              <a:spcAft>
                <a:spcPts val="1000"/>
              </a:spcAft>
            </a:pPr>
            <a:r>
              <a:rPr sz="2000">
                <a:solidFill>
                  <a:srgbClr val="222B33"/>
                </a:solidFill>
                <a:latin typeface="Microsoft YaHei"/>
              </a:rPr>
              <a:t>▪ 伤害慢慢积累，不能等有感觉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二氯甲烷是萃取、色谱等实验中最常用的溶剂之一，不易燃，常被误认为“比较安全”，所以需要专门培训。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因为不易燃就在台面上随意使用</a:t>
            </a:r>
          </a:p>
          <a:p>
            <a:pPr>
              <a:spcAft>
                <a:spcPts val="1000"/>
              </a:spcAft>
            </a:pPr>
            <a:r>
              <a:rPr sz="1500">
                <a:solidFill>
                  <a:srgbClr val="222B33"/>
                </a:solidFill>
                <a:latin typeface="Microsoft YaHei"/>
              </a:rPr>
              <a:t>▪ 用它洗手上的污渍</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易挥发、蒸气下沉，在通风柜里用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沸点低，一开盖就挥发很快</a:t>
            </a:r>
          </a:p>
          <a:p>
            <a:pPr>
              <a:spcAft>
                <a:spcPts val="1000"/>
              </a:spcAft>
            </a:pPr>
            <a:r>
              <a:rPr sz="2000">
                <a:solidFill>
                  <a:srgbClr val="222B33"/>
                </a:solidFill>
                <a:latin typeface="Microsoft YaHei"/>
              </a:rPr>
              <a:t>▪ 蒸气比空气重，会往低处积聚</a:t>
            </a:r>
          </a:p>
          <a:p>
            <a:pPr>
              <a:spcAft>
                <a:spcPts val="1000"/>
              </a:spcAft>
            </a:pPr>
            <a:r>
              <a:rPr sz="2000">
                <a:solidFill>
                  <a:srgbClr val="222B33"/>
                </a:solidFill>
                <a:latin typeface="Microsoft YaHei"/>
              </a:rPr>
              <a:t>▪ 取用、分装、浓缩，都在通风柜里</a:t>
            </a:r>
          </a:p>
          <a:p>
            <a:pPr>
              <a:spcAft>
                <a:spcPts val="1000"/>
              </a:spcAft>
            </a:pPr>
            <a:r>
              <a:rPr sz="2000">
                <a:solidFill>
                  <a:srgbClr val="222B33"/>
                </a:solidFill>
                <a:latin typeface="Microsoft YaHei"/>
              </a:rPr>
              <a:t>▪ 不在台面上敞口挥干，用完随手盖紧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二氯甲烷沸点低、挥发快，蒸气比空气重，会积聚在地面、地沟、低处的容器和柜子里。使用前读安全技术说明书和标签，了解它的特性。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把萃取后的溶液放在台面上自然挥干</a:t>
            </a:r>
          </a:p>
          <a:p>
            <a:pPr>
              <a:spcAft>
                <a:spcPts val="1000"/>
              </a:spcAft>
            </a:pPr>
            <a:r>
              <a:rPr sz="1500">
                <a:solidFill>
                  <a:srgbClr val="222B33"/>
                </a:solidFill>
                <a:latin typeface="Microsoft YaHei"/>
              </a:rPr>
              <a:t>▪ 在地下室等低处、通风差的房间大量使用</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用量小，规矩不减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职业接触标准起因于工业大量使用</a:t>
            </a:r>
          </a:p>
          <a:p>
            <a:pPr>
              <a:spcAft>
                <a:spcPts val="1000"/>
              </a:spcAft>
            </a:pPr>
            <a:r>
              <a:rPr sz="2000">
                <a:solidFill>
                  <a:srgbClr val="222B33"/>
                </a:solidFill>
                <a:latin typeface="Microsoft YaHei"/>
              </a:rPr>
              <a:t>▪ 实验室用量小，规矩一样不能少</a:t>
            </a:r>
          </a:p>
          <a:p>
            <a:pPr>
              <a:spcAft>
                <a:spcPts val="1000"/>
              </a:spcAft>
            </a:pPr>
            <a:r>
              <a:rPr sz="2000">
                <a:solidFill>
                  <a:srgbClr val="222B33"/>
                </a:solidFill>
                <a:latin typeface="Microsoft YaHei"/>
              </a:rPr>
              <a:t>▪ 重视危害，确认控制措施真的有效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二氯甲烷等的职业接触标准源于工业上的大量使用，但实验室用量小并不等于风险小：近距离操作、通风柜使用不当、敞口挥发都可能造成短时高浓度接触。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以为用几毫升就不用防护</a:t>
            </a:r>
          </a:p>
          <a:p>
            <a:pPr>
              <a:spcAft>
                <a:spcPts val="1000"/>
              </a:spcAft>
            </a:pPr>
            <a:r>
              <a:rPr sz="1500">
                <a:solidFill>
                  <a:srgbClr val="222B33"/>
                </a:solidFill>
                <a:latin typeface="Microsoft YaHei"/>
              </a:rPr>
              <a:t>▪ 不看通风柜风速指示就开始操作</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头晕发困就是警报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头晕、发困，是吸入过量的信号</a:t>
            </a:r>
          </a:p>
          <a:p>
            <a:pPr>
              <a:spcAft>
                <a:spcPts val="1000"/>
              </a:spcAft>
            </a:pPr>
            <a:r>
              <a:rPr sz="2000">
                <a:solidFill>
                  <a:srgbClr val="222B33"/>
                </a:solidFill>
                <a:latin typeface="Microsoft YaHei"/>
              </a:rPr>
              <a:t>▪ 马上离开，到空气新鲜的地方</a:t>
            </a:r>
          </a:p>
          <a:p>
            <a:pPr>
              <a:spcAft>
                <a:spcPts val="1000"/>
              </a:spcAft>
            </a:pPr>
            <a:r>
              <a:rPr sz="2000">
                <a:solidFill>
                  <a:srgbClr val="222B33"/>
                </a:solidFill>
                <a:latin typeface="Microsoft YaHei"/>
              </a:rPr>
              <a:t>▪ 报告负责人，查清通风哪里出了问题</a:t>
            </a:r>
          </a:p>
          <a:p>
            <a:pPr>
              <a:spcAft>
                <a:spcPts val="1000"/>
              </a:spcAft>
            </a:pPr>
            <a:r>
              <a:rPr sz="2000">
                <a:solidFill>
                  <a:srgbClr val="222B33"/>
                </a:solidFill>
                <a:latin typeface="Microsoft YaHei"/>
              </a:rPr>
              <a:t>▪ 症状不缓解，及时就医，急救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使用二氯甲烷等挥发性溶剂时，出现头晕、头痛、发困、注意力不集中，说明可能吸入过量。马上停止操作，离开到空气新鲜的地方，并提醒周围的人。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以为是没睡好，坚持做完</a:t>
            </a:r>
          </a:p>
          <a:p>
            <a:pPr>
              <a:spcAft>
                <a:spcPts val="1000"/>
              </a:spcAft>
            </a:pPr>
            <a:r>
              <a:rPr sz="1500">
                <a:solidFill>
                  <a:srgbClr val="222B33"/>
                </a:solidFill>
                <a:latin typeface="Microsoft YaHei"/>
              </a:rPr>
              <a:t>▪ 离开后不报告，下次照样用</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六价铬盐：致癌致敏，防尘单独收集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六价铬盐能致癌，也会致敏</a:t>
            </a:r>
          </a:p>
          <a:p>
            <a:pPr>
              <a:spcAft>
                <a:spcPts val="1000"/>
              </a:spcAft>
            </a:pPr>
            <a:r>
              <a:rPr sz="2000">
                <a:solidFill>
                  <a:srgbClr val="222B33"/>
                </a:solidFill>
                <a:latin typeface="Microsoft YaHei"/>
              </a:rPr>
              <a:t>▪ 会腐蚀皮肤，伤害鼻腔和呼吸道</a:t>
            </a:r>
          </a:p>
          <a:p>
            <a:pPr>
              <a:spcAft>
                <a:spcPts val="1000"/>
              </a:spcAft>
            </a:pPr>
            <a:r>
              <a:rPr sz="2000">
                <a:solidFill>
                  <a:srgbClr val="222B33"/>
                </a:solidFill>
                <a:latin typeface="Microsoft YaHei"/>
              </a:rPr>
              <a:t>▪ 称量粉末在通风柜里，防扬尘，戴手套</a:t>
            </a:r>
          </a:p>
          <a:p>
            <a:pPr>
              <a:spcAft>
                <a:spcPts val="1000"/>
              </a:spcAft>
            </a:pPr>
            <a:r>
              <a:rPr sz="2000">
                <a:solidFill>
                  <a:srgbClr val="222B33"/>
                </a:solidFill>
                <a:latin typeface="Microsoft YaHei"/>
              </a:rPr>
              <a:t>▪ 含铬废液单独收集，按危险废物处置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重铬酸钾、铬酸盐等六价铬化合物是确认的致癌物，同时是强致敏物和氧化剂：接触皮肤可引起溃疡和过敏性皮炎，吸入粉尘或雾滴会损伤鼻腔和呼吸道（GB 30000 系列分类，以安全技术说明书为准）。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在开放台面称量铬盐粉末</a:t>
            </a:r>
          </a:p>
          <a:p>
            <a:pPr>
              <a:spcAft>
                <a:spcPts val="1000"/>
              </a:spcAft>
            </a:pPr>
            <a:r>
              <a:rPr sz="1500">
                <a:solidFill>
                  <a:srgbClr val="222B33"/>
                </a:solidFill>
                <a:latin typeface="Microsoft YaHei"/>
              </a:rPr>
              <a:t>▪ 含铬废液混入普通废液桶</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汞：蒸气看不见，能替代就替代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汞常温就挥发，蒸气看不见、闻不到</a:t>
            </a:r>
          </a:p>
          <a:p>
            <a:pPr>
              <a:spcAft>
                <a:spcPts val="1000"/>
              </a:spcAft>
            </a:pPr>
            <a:r>
              <a:rPr sz="2000">
                <a:solidFill>
                  <a:srgbClr val="222B33"/>
                </a:solidFill>
                <a:latin typeface="Microsoft YaHei"/>
              </a:rPr>
              <a:t>▪ 长期吸入伤神经和肾脏</a:t>
            </a:r>
          </a:p>
          <a:p>
            <a:pPr>
              <a:spcAft>
                <a:spcPts val="1000"/>
              </a:spcAft>
            </a:pPr>
            <a:r>
              <a:rPr sz="2000">
                <a:solidFill>
                  <a:srgbClr val="222B33"/>
                </a:solidFill>
                <a:latin typeface="Microsoft YaHei"/>
              </a:rPr>
              <a:t>▪ 能用无汞仪器，就替换掉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金属汞在常温下就会挥发，汞蒸气无色无味，人察觉不到。长期吸入会损害神经系统和肾脏，出现手抖、情绪改变、记忆力下降等表现。汞的可溶性化合物毒性更大，有的属于剧毒化学品（按“五双”管理，见第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以为没有气味就没有汞蒸气</a:t>
            </a:r>
          </a:p>
          <a:p>
            <a:pPr>
              <a:spcAft>
                <a:spcPts val="1000"/>
              </a:spcAft>
            </a:pPr>
            <a:r>
              <a:rPr sz="1500">
                <a:solidFill>
                  <a:srgbClr val="222B33"/>
                </a:solidFill>
                <a:latin typeface="Microsoft YaHei"/>
              </a:rPr>
              <a:t>▪ 含汞仪器随手放在台边</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汞洒了：别碰、别扫、别吸，先报告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汞洒了会变成到处滚的小珠</a:t>
            </a:r>
          </a:p>
          <a:p>
            <a:pPr>
              <a:spcAft>
                <a:spcPts val="1000"/>
              </a:spcAft>
            </a:pPr>
            <a:r>
              <a:rPr sz="2000">
                <a:solidFill>
                  <a:srgbClr val="222B33"/>
                </a:solidFill>
                <a:latin typeface="Microsoft YaHei"/>
              </a:rPr>
              <a:t>▪ 别用手碰，别扫，别用吸尘器</a:t>
            </a:r>
          </a:p>
          <a:p>
            <a:pPr>
              <a:spcAft>
                <a:spcPts val="1000"/>
              </a:spcAft>
            </a:pPr>
            <a:r>
              <a:rPr sz="2000">
                <a:solidFill>
                  <a:srgbClr val="222B33"/>
                </a:solidFill>
                <a:latin typeface="Microsoft YaHei"/>
              </a:rPr>
              <a:t>▪ 人先离开，隔开现场，保持通风</a:t>
            </a:r>
          </a:p>
          <a:p>
            <a:pPr>
              <a:spcAft>
                <a:spcPts val="1000"/>
              </a:spcAft>
            </a:pPr>
            <a:r>
              <a:rPr sz="2000">
                <a:solidFill>
                  <a:srgbClr val="222B33"/>
                </a:solidFill>
                <a:latin typeface="Microsoft YaHei"/>
              </a:rPr>
              <a:t>▪ 报告老师，由专人用专用工具处理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含汞温度计、压力计破损后，汞会散成许多到处滚动的小珠，钻进缝隙。不要用手碰，不要用扫帚扫，更不能用吸尘器吸——会把汞打散并加速挥发。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用扫帚把汞珠扫到一起</a:t>
            </a:r>
          </a:p>
          <a:p>
            <a:pPr>
              <a:spcAft>
                <a:spcPts val="1000"/>
              </a:spcAft>
            </a:pPr>
            <a:r>
              <a:rPr sz="1500">
                <a:solidFill>
                  <a:srgbClr val="222B33"/>
                </a:solidFill>
                <a:latin typeface="Microsoft YaHei"/>
              </a:rPr>
              <a:t>▪ 用吸尘器清理</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接触重点毒害品，按规定做职业健康检查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长期接触要做职业健康检查</a:t>
            </a:r>
          </a:p>
          <a:p>
            <a:pPr>
              <a:spcAft>
                <a:spcPts val="1000"/>
              </a:spcAft>
            </a:pPr>
            <a:r>
              <a:rPr sz="2000">
                <a:solidFill>
                  <a:srgbClr val="222B33"/>
                </a:solidFill>
                <a:latin typeface="Microsoft YaHei"/>
              </a:rPr>
              <a:t>▪ 上岗前、在岗期间、离岗时都要查</a:t>
            </a:r>
          </a:p>
          <a:p>
            <a:pPr>
              <a:spcAft>
                <a:spcPts val="1000"/>
              </a:spcAft>
            </a:pPr>
            <a:r>
              <a:rPr sz="2000">
                <a:solidFill>
                  <a:srgbClr val="222B33"/>
                </a:solidFill>
                <a:latin typeface="Microsoft YaHei"/>
              </a:rPr>
              <a:t>▪ 结果存档，异常及时调整岗位</a:t>
            </a:r>
          </a:p>
          <a:p>
            <a:pPr>
              <a:spcAft>
                <a:spcPts val="1000"/>
              </a:spcAft>
            </a:pPr>
            <a:r>
              <a:rPr sz="2000">
                <a:solidFill>
                  <a:srgbClr val="222B33"/>
                </a:solidFill>
                <a:latin typeface="Microsoft YaHei"/>
              </a:rPr>
              <a:t>▪ 怀孕、过敏等情况，主动告知老师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按《中华人民共和国职业病防治法》和 GBZ 188（以现行文本为准），长期、规律接触甲醛、汞、六价铬、苯等职业病危害因素的人员，应按规定进行上岗前、在岗期间和离岗时的职业健康检查，由学校组织到有资质的机构进行，结果存……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觉得学生不需要职业健康检查</a:t>
            </a:r>
          </a:p>
          <a:p>
            <a:pPr>
              <a:spcAft>
                <a:spcPts val="1000"/>
              </a:spcAft>
            </a:pPr>
            <a:r>
              <a:rPr sz="1500">
                <a:solidFill>
                  <a:srgbClr val="222B33"/>
                </a:solidFill>
                <a:latin typeface="Microsoft YaHei"/>
              </a:rPr>
              <a:t>▪ 隐瞒怀孕或过敏史继续接触</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四件事：知危害、识材料、会防护、备应急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毒害品有害，但能安全使用</a:t>
            </a:r>
          </a:p>
          <a:p>
            <a:pPr>
              <a:spcAft>
                <a:spcPts val="1000"/>
              </a:spcAft>
            </a:pPr>
            <a:r>
              <a:rPr sz="2000">
                <a:solidFill>
                  <a:srgbClr val="222B33"/>
                </a:solidFill>
                <a:latin typeface="Microsoft YaHei"/>
              </a:rPr>
              <a:t>▪ 知危害：知道它伤哪里</a:t>
            </a:r>
          </a:p>
          <a:p>
            <a:pPr>
              <a:spcAft>
                <a:spcPts val="1000"/>
              </a:spcAft>
            </a:pPr>
            <a:r>
              <a:rPr sz="2000">
                <a:solidFill>
                  <a:srgbClr val="222B33"/>
                </a:solidFill>
                <a:latin typeface="Microsoft YaHei"/>
              </a:rPr>
              <a:t>▪ 识材料：认清哪些含毒害成分</a:t>
            </a:r>
          </a:p>
          <a:p>
            <a:pPr>
              <a:spcAft>
                <a:spcPts val="1000"/>
              </a:spcAft>
            </a:pPr>
            <a:r>
              <a:rPr sz="2000">
                <a:solidFill>
                  <a:srgbClr val="222B33"/>
                </a:solidFill>
                <a:latin typeface="Microsoft YaHei"/>
              </a:rPr>
              <a:t>▪ 会防护、备应急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只记得防护，不熟悉应急</a:t>
            </a:r>
          </a:p>
          <a:p>
            <a:pPr>
              <a:spcAft>
                <a:spcPts val="1000"/>
              </a:spcAft>
            </a:pPr>
            <a:r>
              <a:rPr sz="1500">
                <a:solidFill>
                  <a:srgbClr val="222B33"/>
                </a:solidFill>
                <a:latin typeface="Microsoft YaHei"/>
              </a:rPr>
              <a:t>▪ 因为害怕而隐瞒接触情况</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关于甲醛，下列说法错误的是：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刺激皮肤、眼睛和呼吸道</a:t>
            </a:r>
          </a:p>
          <a:p>
            <a:pPr algn="l"/>
            <a:r>
              <a:rPr sz="1500" b="0">
                <a:solidFill>
                  <a:srgbClr val="222B33"/>
                </a:solidFill>
                <a:latin typeface="Microsoft YaHei"/>
              </a:rPr>
              <a:t>B. 是致癌物</a:t>
            </a:r>
          </a:p>
          <a:p>
            <a:pPr algn="l"/>
            <a:r>
              <a:rPr sz="1500" b="0">
                <a:solidFill>
                  <a:srgbClr val="222B33"/>
                </a:solidFill>
                <a:latin typeface="Microsoft YaHei"/>
              </a:rPr>
              <a:t>C. 稀溶液无害，可以在台面上随意分装</a:t>
            </a:r>
          </a:p>
          <a:p>
            <a:pPr algn="l"/>
            <a:r>
              <a:rPr sz="1500" b="0">
                <a:solidFill>
                  <a:srgbClr val="222B33"/>
                </a:solidFill>
                <a:latin typeface="Microsoft YaHei"/>
              </a:rPr>
              <a:t>D. 职业接触有国家限值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判断：二氯甲烷不易燃，所以可以在实验台面上敞口挥干。</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使用二氯甲烷时感到头晕、发困，应该：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坚持做完再休息</a:t>
            </a:r>
          </a:p>
          <a:p>
            <a:pPr algn="l"/>
            <a:r>
              <a:rPr sz="1500" b="0">
                <a:solidFill>
                  <a:srgbClr val="222B33"/>
                </a:solidFill>
                <a:latin typeface="Microsoft YaHei"/>
              </a:rPr>
              <a:t>B. 马上离开到空气新鲜处，报告负责人查通风，不缓解就医</a:t>
            </a:r>
          </a:p>
          <a:p>
            <a:pPr algn="l"/>
            <a:r>
              <a:rPr sz="1500" b="0">
                <a:solidFill>
                  <a:srgbClr val="222B33"/>
                </a:solidFill>
                <a:latin typeface="Microsoft YaHei"/>
              </a:rPr>
              <a:t>C. 喝杯咖啡提神</a:t>
            </a:r>
          </a:p>
          <a:p>
            <a:pPr algn="l"/>
            <a:r>
              <a:rPr sz="1500" b="0">
                <a:solidFill>
                  <a:srgbClr val="222B33"/>
                </a:solidFill>
                <a:latin typeface="Microsoft YaHei"/>
              </a:rPr>
              <a:t>D. 戴上口罩继续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水银温度计打碎，汞珠洒在地上，正确的做法是：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用扫帚扫起来</a:t>
            </a:r>
          </a:p>
          <a:p>
            <a:pPr algn="l"/>
            <a:r>
              <a:rPr sz="1500" b="0">
                <a:solidFill>
                  <a:srgbClr val="222B33"/>
                </a:solidFill>
                <a:latin typeface="Microsoft YaHei"/>
              </a:rPr>
              <a:t>B. 用吸尘器吸</a:t>
            </a:r>
          </a:p>
          <a:p>
            <a:pPr algn="l"/>
            <a:r>
              <a:rPr sz="1500" b="0">
                <a:solidFill>
                  <a:srgbClr val="222B33"/>
                </a:solidFill>
                <a:latin typeface="Microsoft YaHei"/>
              </a:rPr>
              <a:t>C. 人员离开、隔开现场、通风，报告老师，由专人用汞处理包处理</a:t>
            </a:r>
          </a:p>
          <a:p>
            <a:pPr algn="l"/>
            <a:r>
              <a:rPr sz="1500" b="0">
                <a:solidFill>
                  <a:srgbClr val="222B33"/>
                </a:solidFill>
                <a:latin typeface="Microsoft YaHei"/>
              </a:rPr>
              <a:t>D. 用手捡起来</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甲醛的接触监测，采样的是：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实验室门口的空气</a:t>
            </a:r>
          </a:p>
          <a:p>
            <a:pPr algn="l"/>
            <a:r>
              <a:rPr sz="1500" b="0">
                <a:solidFill>
                  <a:srgbClr val="222B33"/>
                </a:solidFill>
                <a:latin typeface="Microsoft YaHei"/>
              </a:rPr>
              <a:t>B. 操作者呼吸带（口鼻周围）的空气</a:t>
            </a:r>
          </a:p>
          <a:p>
            <a:pPr algn="l"/>
            <a:r>
              <a:rPr sz="1500" b="0">
                <a:solidFill>
                  <a:srgbClr val="222B33"/>
                </a:solidFill>
                <a:latin typeface="Microsoft YaHei"/>
              </a:rPr>
              <a:t>C. 通风柜排风口的空气</a:t>
            </a:r>
          </a:p>
          <a:p>
            <a:pPr algn="l"/>
            <a:r>
              <a:rPr sz="1500" b="0">
                <a:solidFill>
                  <a:srgbClr val="222B33"/>
                </a:solidFill>
                <a:latin typeface="Microsoft YaHei"/>
              </a:rPr>
              <a:t>D. 储存柜里的空气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简答：长期接触甲醛、汞等重点毒害品的人员，在健康管理上有什么要求？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甲醛和戊二醛：常用而有毒</a:t>
            </a:r>
          </a:p>
          <a:p>
            <a:pPr>
              <a:spcAft>
                <a:spcPts val="800"/>
              </a:spcAft>
            </a:pPr>
            <a:r>
              <a:rPr sz="1500">
                <a:solidFill>
                  <a:srgbClr val="FFFFFF"/>
                </a:solidFill>
                <a:latin typeface="Microsoft YaHei"/>
              </a:rPr>
              <a:t>▪ K2  一接触就刺激：皮肤、眼睛、呼吸道</a:t>
            </a:r>
          </a:p>
          <a:p>
            <a:pPr>
              <a:spcAft>
                <a:spcPts val="800"/>
              </a:spcAft>
            </a:pPr>
            <a:r>
              <a:rPr sz="1500">
                <a:solidFill>
                  <a:srgbClr val="FFFFFF"/>
                </a:solidFill>
                <a:latin typeface="Microsoft YaHei"/>
              </a:rPr>
              <a:t>▪ K3  甲醛致癌，长期接触伤害慢慢显现</a:t>
            </a:r>
          </a:p>
          <a:p>
            <a:pPr>
              <a:spcAft>
                <a:spcPts val="800"/>
              </a:spcAft>
            </a:pPr>
            <a:r>
              <a:rPr sz="1500">
                <a:solidFill>
                  <a:srgbClr val="FFFFFF"/>
                </a:solidFill>
                <a:latin typeface="Microsoft YaHei"/>
              </a:rPr>
              <a:t>▪ K4  有症状，立即报告就医</a:t>
            </a:r>
          </a:p>
          <a:p>
            <a:pPr>
              <a:spcAft>
                <a:spcPts val="800"/>
              </a:spcAft>
            </a:pPr>
            <a:r>
              <a:rPr sz="1500">
                <a:solidFill>
                  <a:srgbClr val="FFFFFF"/>
                </a:solidFill>
                <a:latin typeface="Microsoft YaHei"/>
              </a:rPr>
              <a:t>▪ K5  职业接触有国家标准和限值</a:t>
            </a:r>
          </a:p>
          <a:p>
            <a:pPr>
              <a:spcAft>
                <a:spcPts val="800"/>
              </a:spcAft>
            </a:pPr>
            <a:r>
              <a:rPr sz="1500">
                <a:solidFill>
                  <a:srgbClr val="FFFFFF"/>
                </a:solidFill>
                <a:latin typeface="Microsoft YaHei"/>
              </a:rPr>
              <a:t>▪ K6  接触监测：采呼吸带空气，平均和高峰都要控</a:t>
            </a:r>
          </a:p>
          <a:p>
            <a:pPr>
              <a:spcAft>
                <a:spcPts val="800"/>
              </a:spcAft>
            </a:pPr>
            <a:r>
              <a:rPr sz="1500">
                <a:solidFill>
                  <a:srgbClr val="FFFFFF"/>
                </a:solidFill>
                <a:latin typeface="Microsoft YaHei"/>
              </a:rPr>
              <a:t>▪ K7  先培训，读说明书，守规程</a:t>
            </a:r>
          </a:p>
          <a:p>
            <a:pPr>
              <a:spcAft>
                <a:spcPts val="800"/>
              </a:spcAft>
            </a:pPr>
            <a:r>
              <a:rPr sz="1500">
                <a:solidFill>
                  <a:srgbClr val="FFFFFF"/>
                </a:solidFill>
                <a:latin typeface="Microsoft YaHei"/>
              </a:rPr>
              <a:t>▪ K8  标签写明含甲醛和致癌</a:t>
            </a:r>
          </a:p>
          <a:p>
            <a:pPr>
              <a:spcAft>
                <a:spcPts val="800"/>
              </a:spcAft>
            </a:pPr>
            <a:r>
              <a:rPr sz="1500">
                <a:solidFill>
                  <a:srgbClr val="FFFFFF"/>
                </a:solidFill>
                <a:latin typeface="Microsoft YaHei"/>
              </a:rPr>
              <a:t>▪ K9  风险评估定防护，不让它接触你</a:t>
            </a:r>
          </a:p>
          <a:p>
            <a:pPr>
              <a:spcAft>
                <a:spcPts val="800"/>
              </a:spcAft>
            </a:pPr>
            <a:r>
              <a:rPr sz="1500">
                <a:solidFill>
                  <a:srgbClr val="FFFFFF"/>
                </a:solidFill>
                <a:latin typeface="Microsoft YaHei"/>
              </a:rPr>
              <a:t>▪ K10  通风最重要：在通风柜里开瓶配制</a:t>
            </a:r>
          </a:p>
          <a:p>
            <a:pPr>
              <a:spcAft>
                <a:spcPts val="800"/>
              </a:spcAft>
            </a:pPr>
            <a:r>
              <a:rPr sz="1500">
                <a:solidFill>
                  <a:srgbClr val="FFFFFF"/>
                </a:solidFill>
                <a:latin typeface="Microsoft YaHei"/>
              </a:rPr>
              <a:t>▪ K11  稀释要小心，稀溶液也有害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密闭储存，少量领用</a:t>
            </a:r>
          </a:p>
          <a:p>
            <a:pPr>
              <a:spcAft>
                <a:spcPts val="800"/>
              </a:spcAft>
            </a:pPr>
            <a:r>
              <a:rPr sz="1500">
                <a:solidFill>
                  <a:srgbClr val="FFFFFF"/>
                </a:solidFill>
                <a:latin typeface="Microsoft YaHei"/>
              </a:rPr>
              <a:t>▪ K13  应急程序，平时就要熟悉</a:t>
            </a:r>
          </a:p>
          <a:p>
            <a:pPr>
              <a:spcAft>
                <a:spcPts val="800"/>
              </a:spcAft>
            </a:pPr>
            <a:r>
              <a:rPr sz="1500">
                <a:solidFill>
                  <a:srgbClr val="FFFFFF"/>
                </a:solidFill>
                <a:latin typeface="Microsoft YaHei"/>
              </a:rPr>
              <a:t>▪ K14  二氯甲烷：危害容易被小看</a:t>
            </a:r>
          </a:p>
          <a:p>
            <a:pPr>
              <a:spcAft>
                <a:spcPts val="800"/>
              </a:spcAft>
            </a:pPr>
            <a:r>
              <a:rPr sz="1500">
                <a:solidFill>
                  <a:srgbClr val="FFFFFF"/>
                </a:solidFill>
                <a:latin typeface="Microsoft YaHei"/>
              </a:rPr>
              <a:t>▪ K15  易挥发、蒸气下沉，在通风柜里用</a:t>
            </a:r>
          </a:p>
          <a:p>
            <a:pPr>
              <a:spcAft>
                <a:spcPts val="800"/>
              </a:spcAft>
            </a:pPr>
            <a:r>
              <a:rPr sz="1500">
                <a:solidFill>
                  <a:srgbClr val="FFFFFF"/>
                </a:solidFill>
                <a:latin typeface="Microsoft YaHei"/>
              </a:rPr>
              <a:t>▪ K16  用量小，规矩不减</a:t>
            </a:r>
          </a:p>
          <a:p>
            <a:pPr>
              <a:spcAft>
                <a:spcPts val="800"/>
              </a:spcAft>
            </a:pPr>
            <a:r>
              <a:rPr sz="1500">
                <a:solidFill>
                  <a:srgbClr val="FFFFFF"/>
                </a:solidFill>
                <a:latin typeface="Microsoft YaHei"/>
              </a:rPr>
              <a:t>▪ K17  头晕发困就是警报</a:t>
            </a:r>
          </a:p>
          <a:p>
            <a:pPr>
              <a:spcAft>
                <a:spcPts val="800"/>
              </a:spcAft>
            </a:pPr>
            <a:r>
              <a:rPr sz="1500">
                <a:solidFill>
                  <a:srgbClr val="FFFFFF"/>
                </a:solidFill>
                <a:latin typeface="Microsoft YaHei"/>
              </a:rPr>
              <a:t>▪ S1  六价铬盐：致癌致敏，防尘单独收集</a:t>
            </a:r>
          </a:p>
          <a:p>
            <a:pPr>
              <a:spcAft>
                <a:spcPts val="800"/>
              </a:spcAft>
            </a:pPr>
            <a:r>
              <a:rPr sz="1500">
                <a:solidFill>
                  <a:srgbClr val="FFFFFF"/>
                </a:solidFill>
                <a:latin typeface="Microsoft YaHei"/>
              </a:rPr>
              <a:t>▪ S2  汞：蒸气看不见，能替代就替代</a:t>
            </a:r>
          </a:p>
          <a:p>
            <a:pPr>
              <a:spcAft>
                <a:spcPts val="800"/>
              </a:spcAft>
            </a:pPr>
            <a:r>
              <a:rPr sz="1500">
                <a:solidFill>
                  <a:srgbClr val="FFFFFF"/>
                </a:solidFill>
                <a:latin typeface="Microsoft YaHei"/>
              </a:rPr>
              <a:t>▪ K18  汞洒了：别碰、别扫、别吸，先报告</a:t>
            </a:r>
          </a:p>
          <a:p>
            <a:pPr>
              <a:spcAft>
                <a:spcPts val="800"/>
              </a:spcAft>
            </a:pPr>
            <a:r>
              <a:rPr sz="1500">
                <a:solidFill>
                  <a:srgbClr val="FFFFFF"/>
                </a:solidFill>
                <a:latin typeface="Microsoft YaHei"/>
              </a:rPr>
              <a:t>▪ S3  接触重点毒害品，按规定做职业健康检查</a:t>
            </a:r>
          </a:p>
          <a:p>
            <a:pPr>
              <a:spcAft>
                <a:spcPts val="800"/>
              </a:spcAft>
            </a:pPr>
            <a:r>
              <a:rPr sz="1500">
                <a:solidFill>
                  <a:srgbClr val="FFFFFF"/>
                </a:solidFill>
                <a:latin typeface="Microsoft YaHei"/>
              </a:rPr>
              <a:t>▪ K19  四件事：知危害、识材料、会防护、备应急</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化学品取用、转移与运输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适用对象：全体进入化学、生物、材料、环境、医学等涉及化学品实验室的高校本科生、研究生和教职工（必修）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能做到取用前逐字核对名称和浓度，不尝、不凑闻，需要时扇闻，移液一律用洗耳球或移液器，严禁用嘴吸。</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能做到按需少取、不把移液管伸进原瓶、不把多余试剂倒回原瓶；倾倒时标签朝手心、瓶盖倒放、动作果断，倒完擦净瓶外并盖紧；称量粉末防扬尘。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能做到化学品不随意带出实验室，校内转移使用二次容器、提篮或稳固推车。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能说出危险货物运输要规范包装、粘贴包装标志、由有资质的单位和培训合格的人员承担，不夹带、不用普通快递寄递。</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日起施行）及《危险化学品安全管理条例》（以现行文本为准）：学校、科研机构使用危险化学品的安全责任；危险化学品运输须由具备条件的单位承担</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系列（以现行文本为准）《化学品分类和标签规范》、GB 15258-2009（以现行文本为准）《化学品安全标签编写规定》：化学品名称、象形图和防范说明的识别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190-2009（以现行文本为准）《危险货物包装标志》：危险货物运输包装上的标志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6944-2025（以现行文本为准）《危险货物分类和品名编号》、GB 12268-2025（以现行文本为准）《危险货物品名表》：危险货物的分类和品名</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《危险货物道路运输安全管理办法》（以现行文本为准）：危险货物道路运输的托运、承运、包装和人员要求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号，以现行文本为准）及高校实验室安全检查项目表、本校危险化学品领用和转移管理制度</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取用前核对名称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化学品名称长且相似，一字之差危害不同</a:t>
            </a:r>
          </a:p>
          <a:p>
            <a:pPr>
              <a:spcAft>
                <a:spcPts val="1000"/>
              </a:spcAft>
            </a:pPr>
            <a:r>
              <a:rPr sz="2000">
                <a:solidFill>
                  <a:srgbClr val="222B33"/>
                </a:solidFill>
                <a:latin typeface="Microsoft YaHei"/>
              </a:rPr>
              <a:t>▪ 取用前逐字核对名称、浓度和规格</a:t>
            </a:r>
          </a:p>
          <a:p>
            <a:pPr>
              <a:spcAft>
                <a:spcPts val="1000"/>
              </a:spcAft>
            </a:pPr>
            <a:r>
              <a:rPr sz="2000">
                <a:solidFill>
                  <a:srgbClr val="222B33"/>
                </a:solidFill>
                <a:latin typeface="Microsoft YaHei"/>
              </a:rPr>
              <a:t>▪ 标签不清或无标签的不用，先报告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很多化学品名称又长又拗口，名称相近的试剂可能只差一个字或一个前缀，危害却完全不同。取错试剂可能导致剧烈反应、中毒或实验失败。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凭瓶子位置和颜色取用，不看标签</a:t>
            </a:r>
          </a:p>
          <a:p>
            <a:pPr>
              <a:spcAft>
                <a:spcPts val="1000"/>
              </a:spcAft>
            </a:pPr>
            <a:r>
              <a:rPr sz="1500">
                <a:solidFill>
                  <a:srgbClr val="222B33"/>
                </a:solidFill>
                <a:latin typeface="Microsoft YaHei"/>
              </a:rPr>
              <a:t>▪ 名称相近的试剂没逐字核对就用</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不尝不凑闻，需要时扇闻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绝不用尝的方法检验化学品</a:t>
            </a:r>
          </a:p>
          <a:p>
            <a:pPr>
              <a:spcAft>
                <a:spcPts val="1000"/>
              </a:spcAft>
            </a:pPr>
            <a:r>
              <a:rPr sz="1700">
                <a:solidFill>
                  <a:srgbClr val="222B33"/>
                </a:solidFill>
                <a:latin typeface="Microsoft YaHei"/>
              </a:rPr>
              <a:t>▪ 不把鼻子凑到瓶口闻</a:t>
            </a:r>
          </a:p>
          <a:p>
            <a:pPr>
              <a:spcAft>
                <a:spcPts val="1000"/>
              </a:spcAft>
            </a:pPr>
            <a:r>
              <a:rPr sz="1700">
                <a:solidFill>
                  <a:srgbClr val="222B33"/>
                </a:solidFill>
                <a:latin typeface="Microsoft YaHei"/>
              </a:rPr>
              <a:t>▪ 需要闻气味时，远离瓶口用手轻轻扇闻</a:t>
            </a:r>
          </a:p>
          <a:p>
            <a:pPr>
              <a:spcAft>
                <a:spcPts val="1000"/>
              </a:spcAft>
            </a:pPr>
            <a:r>
              <a:rPr sz="1700">
                <a:solidFill>
                  <a:srgbClr val="222B33"/>
                </a:solidFill>
                <a:latin typeface="Microsoft YaHei"/>
              </a:rPr>
              <a:t>▪ 有毒、易挥发的在通风柜里取用</a:t>
            </a:r>
          </a:p>
          <a:p>
            <a:pPr>
              <a:spcAft>
                <a:spcPts val="1000"/>
              </a:spcAft>
            </a:pPr>
            <a:r>
              <a:rPr sz="1700">
                <a:solidFill>
                  <a:srgbClr val="222B33"/>
                </a:solidFill>
                <a:latin typeface="Microsoft YaHei"/>
              </a:rPr>
              <a:t>▪ 笔、手和标签都别往嘴边放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实验室里的任何化学品都不能用嘴尝来鉴别，也不能把鼻子凑到容器口直接闻，以免吸入高浓度的有毒、刺激性蒸气。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凑近瓶口深吸辨别气味</a:t>
            </a:r>
          </a:p>
          <a:p>
            <a:pPr>
              <a:spcAft>
                <a:spcPts val="1000"/>
              </a:spcAft>
            </a:pPr>
            <a:r>
              <a:rPr sz="1500">
                <a:solidFill>
                  <a:srgbClr val="222B33"/>
                </a:solidFill>
                <a:latin typeface="Microsoft YaHei"/>
              </a:rPr>
              <a:t>▪ 在台面上敞开取用挥发性有毒试剂</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移液不用嘴吸，用洗耳球或移液器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移液严禁用嘴吸，任何液体都不行</a:t>
            </a:r>
          </a:p>
          <a:p>
            <a:pPr>
              <a:spcAft>
                <a:spcPts val="1000"/>
              </a:spcAft>
            </a:pPr>
            <a:r>
              <a:rPr sz="1700">
                <a:solidFill>
                  <a:srgbClr val="222B33"/>
                </a:solidFill>
                <a:latin typeface="Microsoft YaHei"/>
              </a:rPr>
              <a:t>▪ 一失手，试剂会吸进嘴里</a:t>
            </a:r>
          </a:p>
          <a:p>
            <a:pPr>
              <a:spcAft>
                <a:spcPts val="1000"/>
              </a:spcAft>
            </a:pPr>
            <a:r>
              <a:rPr sz="1700">
                <a:solidFill>
                  <a:srgbClr val="222B33"/>
                </a:solidFill>
                <a:latin typeface="Microsoft YaHei"/>
              </a:rPr>
              <a:t>▪ 用洗耳球、移液辅助器或移液器</a:t>
            </a:r>
          </a:p>
          <a:p>
            <a:pPr>
              <a:spcAft>
                <a:spcPts val="1000"/>
              </a:spcAft>
            </a:pPr>
            <a:r>
              <a:rPr sz="1700">
                <a:solidFill>
                  <a:srgbClr val="222B33"/>
                </a:solidFill>
                <a:latin typeface="Microsoft YaHei"/>
              </a:rPr>
              <a:t>▪ 化学、生物实验，规矩都一样</a:t>
            </a:r>
          </a:p>
          <a:p>
            <a:pPr>
              <a:spcAft>
                <a:spcPts val="1000"/>
              </a:spcAft>
            </a:pPr>
            <a:r>
              <a:rPr sz="1700">
                <a:solidFill>
                  <a:srgbClr val="222B33"/>
                </a:solidFill>
                <a:latin typeface="Microsoft YaHei"/>
              </a:rPr>
              <a:t>▪ 碎玻璃移液管放进锐器盒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嘴吸移液管是实验室的严禁行为：吸力稍大或注意力不集中，液体会直接进入口腔，造成化学灼伤、中毒或感染。这一要求对所有液体（包括清水、缓冲液）和所有实验室（化学、生物，包括一级生物安全实验室）都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觉得是清水就用嘴吸</a:t>
            </a:r>
          </a:p>
          <a:p>
            <a:pPr>
              <a:spcAft>
                <a:spcPts val="1000"/>
              </a:spcAft>
            </a:pPr>
            <a:r>
              <a:rPr sz="1500">
                <a:solidFill>
                  <a:srgbClr val="222B33"/>
                </a:solidFill>
                <a:latin typeface="Microsoft YaHei"/>
              </a:rPr>
              <a:t>▪ 没有洗耳球就“偶尔吸一下”</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按需少取，不伸进原瓶、不倒回原瓶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移液管不直接伸进原试剂瓶</a:t>
            </a:r>
          </a:p>
          <a:p>
            <a:pPr>
              <a:spcAft>
                <a:spcPts val="1000"/>
              </a:spcAft>
            </a:pPr>
            <a:r>
              <a:rPr sz="2000">
                <a:solidFill>
                  <a:srgbClr val="222B33"/>
                </a:solidFill>
                <a:latin typeface="Microsoft YaHei"/>
              </a:rPr>
              <a:t>▪ 先倒少量到小烧杯，再从中移取</a:t>
            </a:r>
          </a:p>
          <a:p>
            <a:pPr>
              <a:spcAft>
                <a:spcPts val="1000"/>
              </a:spcAft>
            </a:pPr>
            <a:r>
              <a:rPr sz="2000">
                <a:solidFill>
                  <a:srgbClr val="222B33"/>
                </a:solidFill>
                <a:latin typeface="Microsoft YaHei"/>
              </a:rPr>
              <a:t>▪ 多余试剂不倒回原瓶，防止污染</a:t>
            </a:r>
          </a:p>
          <a:p>
            <a:pPr>
              <a:spcAft>
                <a:spcPts val="1000"/>
              </a:spcAft>
            </a:pPr>
            <a:r>
              <a:rPr sz="2000">
                <a:solidFill>
                  <a:srgbClr val="222B33"/>
                </a:solidFill>
                <a:latin typeface="Microsoft YaHei"/>
              </a:rPr>
              <a:t>▪ 按需少取，剩余的按规定处理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移液管、药匙直接伸进原试剂瓶，会把杂质、水分或其他试剂带入整瓶，造成污染，甚至引发反应。正确做法是：估计用量，先把略多于所需的量倒入干净的小烧杯或称量容器，再从中移取。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把用过的移液管伸回原瓶再吸</a:t>
            </a:r>
          </a:p>
          <a:p>
            <a:pPr>
              <a:spcAft>
                <a:spcPts val="1000"/>
              </a:spcAft>
            </a:pPr>
            <a:r>
              <a:rPr sz="1500">
                <a:solidFill>
                  <a:srgbClr val="222B33"/>
                </a:solidFill>
                <a:latin typeface="Microsoft YaHei"/>
              </a:rPr>
              <a:t>▪ 把没用完的试剂倒回原瓶</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倾倒：标签朝手心，瓶盖倒放，动作果断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倒液体时标签朝手心，不污染标签</a:t>
            </a:r>
          </a:p>
          <a:p>
            <a:pPr>
              <a:spcAft>
                <a:spcPts val="1000"/>
              </a:spcAft>
            </a:pPr>
            <a:r>
              <a:rPr sz="2000">
                <a:solidFill>
                  <a:srgbClr val="222B33"/>
                </a:solidFill>
                <a:latin typeface="Microsoft YaHei"/>
              </a:rPr>
              <a:t>▪ 瓶盖倒放，不沾污台面</a:t>
            </a:r>
          </a:p>
          <a:p>
            <a:pPr>
              <a:spcAft>
                <a:spcPts val="1000"/>
              </a:spcAft>
            </a:pPr>
            <a:r>
              <a:rPr sz="2000">
                <a:solidFill>
                  <a:srgbClr val="222B33"/>
                </a:solidFill>
                <a:latin typeface="Microsoft YaHei"/>
              </a:rPr>
              <a:t>▪ 小口容器用漏斗，下面垫托盘</a:t>
            </a:r>
          </a:p>
          <a:p>
            <a:pPr>
              <a:spcAft>
                <a:spcPts val="1000"/>
              </a:spcAft>
            </a:pPr>
            <a:r>
              <a:rPr sz="2000">
                <a:solidFill>
                  <a:srgbClr val="222B33"/>
                </a:solidFill>
                <a:latin typeface="Microsoft YaHei"/>
              </a:rPr>
              <a:t>▪ 起倒、收尾干脆，防止液体顺壁流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倾倒液体时握住瓶身，标签朝向手心，这样即使有液体沿瓶口流下也不会腐蚀、污染标签，保证后来的人能看清名称和危害。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标签朝下倒，标签被腐蚀看不清</a:t>
            </a:r>
          </a:p>
          <a:p>
            <a:pPr>
              <a:spcAft>
                <a:spcPts val="1000"/>
              </a:spcAft>
            </a:pPr>
            <a:r>
              <a:rPr sz="1500">
                <a:solidFill>
                  <a:srgbClr val="222B33"/>
                </a:solidFill>
                <a:latin typeface="Microsoft YaHei"/>
              </a:rPr>
              <a:t>▪ 瓶盖口朝下放在台面上</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倒完擦净瓶外，随手盖紧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瓶口挂着的液滴不能不管</a:t>
            </a:r>
          </a:p>
          <a:p>
            <a:pPr>
              <a:spcAft>
                <a:spcPts val="1000"/>
              </a:spcAft>
            </a:pPr>
            <a:r>
              <a:rPr sz="2000">
                <a:solidFill>
                  <a:srgbClr val="222B33"/>
                </a:solidFill>
                <a:latin typeface="Microsoft YaHei"/>
              </a:rPr>
              <a:t>▪ 擦净瓶口和瓶身，防止下一个人接触</a:t>
            </a:r>
          </a:p>
          <a:p>
            <a:pPr>
              <a:spcAft>
                <a:spcPts val="1000"/>
              </a:spcAft>
            </a:pPr>
            <a:r>
              <a:rPr sz="2000">
                <a:solidFill>
                  <a:srgbClr val="222B33"/>
                </a:solidFill>
                <a:latin typeface="Microsoft YaHei"/>
              </a:rPr>
              <a:t>▪ 随开随盖，用完盖紧放回原处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倒完液体后，瓶口常挂着液滴，顺瓶壁流下会形成小洒漏，污染台面和试剂架，下一个拿瓶子的人可能直接接触到化学品。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瓶外留着流痕就放回架上</a:t>
            </a:r>
          </a:p>
          <a:p>
            <a:pPr>
              <a:spcAft>
                <a:spcPts val="1000"/>
              </a:spcAft>
            </a:pPr>
            <a:r>
              <a:rPr sz="1500">
                <a:solidFill>
                  <a:srgbClr val="222B33"/>
                </a:solidFill>
                <a:latin typeface="Microsoft YaHei"/>
              </a:rPr>
              <a:t>▪ 瓶盖只是搭在瓶口没拧紧</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称量粉末防扬尘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称粉末要防止粉尘扬起</a:t>
            </a:r>
          </a:p>
          <a:p>
            <a:pPr>
              <a:spcAft>
                <a:spcPts val="1000"/>
              </a:spcAft>
            </a:pPr>
            <a:r>
              <a:rPr sz="2000">
                <a:solidFill>
                  <a:srgbClr val="222B33"/>
                </a:solidFill>
                <a:latin typeface="Microsoft YaHei"/>
              </a:rPr>
              <a:t>▪ 轻取轻放，在天平防风罩内称量</a:t>
            </a:r>
          </a:p>
          <a:p>
            <a:pPr>
              <a:spcAft>
                <a:spcPts val="1000"/>
              </a:spcAft>
            </a:pPr>
            <a:r>
              <a:rPr sz="2000">
                <a:solidFill>
                  <a:srgbClr val="222B33"/>
                </a:solidFill>
                <a:latin typeface="Microsoft YaHei"/>
              </a:rPr>
              <a:t>▪ 有毒粉末在通风设施里称，戴好防护</a:t>
            </a:r>
          </a:p>
          <a:p>
            <a:pPr>
              <a:spcAft>
                <a:spcPts val="1000"/>
              </a:spcAft>
            </a:pPr>
            <a:r>
              <a:rPr sz="2000">
                <a:solidFill>
                  <a:srgbClr val="222B33"/>
                </a:solidFill>
                <a:latin typeface="Microsoft YaHei"/>
              </a:rPr>
              <a:t>▪ 称完清理天平，配好的母液贴标签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粉末状化学品容易在取用和称量时扬起，被吸入或落到皮肤、台面上。称量前先查阅安全技术说明书，穿戴实验服、手套和护目镜。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在敞开天平上快速倾倒粉末</a:t>
            </a:r>
          </a:p>
          <a:p>
            <a:pPr>
              <a:spcAft>
                <a:spcPts val="1000"/>
              </a:spcAft>
            </a:pPr>
            <a:r>
              <a:rPr sz="1500">
                <a:solidFill>
                  <a:srgbClr val="222B33"/>
                </a:solidFill>
                <a:latin typeface="Microsoft YaHei"/>
              </a:rPr>
              <a:t>▪ 称完不清理，粉末留在天平上</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化学品不随意带出实验室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化学品不能随身带出实验室</a:t>
            </a:r>
          </a:p>
          <a:p>
            <a:pPr>
              <a:spcAft>
                <a:spcPts val="1000"/>
              </a:spcAft>
            </a:pPr>
            <a:r>
              <a:rPr sz="2000">
                <a:solidFill>
                  <a:srgbClr val="222B33"/>
                </a:solidFill>
                <a:latin typeface="Microsoft YaHei"/>
              </a:rPr>
              <a:t>▪ 不带回宿舍，不带进公共场所</a:t>
            </a:r>
          </a:p>
          <a:p>
            <a:pPr>
              <a:spcAft>
                <a:spcPts val="1000"/>
              </a:spcAft>
            </a:pPr>
            <a:r>
              <a:rPr sz="2000">
                <a:solidFill>
                  <a:srgbClr val="222B33"/>
                </a:solidFill>
                <a:latin typeface="Microsoft YaHei"/>
              </a:rPr>
              <a:t>▪ 确需转移，先经老师同意并登记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化学品只能在实验室内按规定使用和存放，不得装进书包、口袋私自带出实验室，更不能带回宿舍、教室、食堂等公共场所。私带化学品既有中毒、火灾风险，也违反危险化学品管理规定。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把少量试剂装进小瓶带回宿舍</a:t>
            </a:r>
          </a:p>
          <a:p>
            <a:pPr>
              <a:spcAft>
                <a:spcPts val="1000"/>
              </a:spcAft>
            </a:pPr>
            <a:r>
              <a:rPr sz="1500">
                <a:solidFill>
                  <a:srgbClr val="222B33"/>
                </a:solidFill>
                <a:latin typeface="Microsoft YaHei"/>
              </a:rPr>
              <a:t>▪ 不登记就把试剂借给其他实验室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校内转移：二次容器和提篮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实验室之间转移，用防破碎的二次容器</a:t>
            </a:r>
          </a:p>
          <a:p>
            <a:pPr>
              <a:spcAft>
                <a:spcPts val="1000"/>
              </a:spcAft>
            </a:pPr>
            <a:r>
              <a:rPr sz="1700">
                <a:solidFill>
                  <a:srgbClr val="222B33"/>
                </a:solidFill>
                <a:latin typeface="Microsoft YaHei"/>
              </a:rPr>
              <a:t>▪ 瓶子破了也能兜住不洒</a:t>
            </a:r>
          </a:p>
          <a:p>
            <a:pPr>
              <a:spcAft>
                <a:spcPts val="1000"/>
              </a:spcAft>
            </a:pPr>
            <a:r>
              <a:rPr sz="1700">
                <a:solidFill>
                  <a:srgbClr val="222B33"/>
                </a:solidFill>
                <a:latin typeface="Microsoft YaHei"/>
              </a:rPr>
              <a:t>▪ 用带隔挡的提篮，双手平稳拿</a:t>
            </a:r>
          </a:p>
          <a:p>
            <a:pPr>
              <a:spcAft>
                <a:spcPts val="1000"/>
              </a:spcAft>
            </a:pPr>
            <a:r>
              <a:rPr sz="1700">
                <a:solidFill>
                  <a:srgbClr val="222B33"/>
                </a:solidFill>
                <a:latin typeface="Microsoft YaHei"/>
              </a:rPr>
              <a:t>▪ 单瓶托住瓶底，不拎瓶颈</a:t>
            </a:r>
          </a:p>
          <a:p>
            <a:pPr>
              <a:spcAft>
                <a:spcPts val="1000"/>
              </a:spcAft>
            </a:pPr>
            <a:r>
              <a:rPr sz="1700">
                <a:solidFill>
                  <a:srgbClr val="222B33"/>
                </a:solidFill>
                <a:latin typeface="Microsoft YaHei"/>
              </a:rPr>
              <a:t>▪ 一次别拿太多，不叠放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实验室之间、楼层之间转移化学品时，把试剂瓶放进防破碎的二次容器（如带盖的塑料桶、橡胶提桶、专用防护套），万一瓶子破裂，液体也能被兜住，不洒到走廊和楼梯上。易燃易爆化学品更要使用二次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抱着几个瓶子走长路</a:t>
            </a:r>
          </a:p>
          <a:p>
            <a:pPr>
              <a:spcAft>
                <a:spcPts val="1000"/>
              </a:spcAft>
            </a:pPr>
            <a:r>
              <a:rPr sz="1500">
                <a:solidFill>
                  <a:srgbClr val="222B33"/>
                </a:solidFill>
                <a:latin typeface="Microsoft YaHei"/>
              </a:rPr>
              <a:t>▪ 单手拎着瓶颈上下楼</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多瓶搬运用稳固推车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瓶子多就用带护边的推车</a:t>
            </a:r>
          </a:p>
          <a:p>
            <a:pPr>
              <a:spcAft>
                <a:spcPts val="1000"/>
              </a:spcAft>
            </a:pPr>
            <a:r>
              <a:rPr sz="2000">
                <a:solidFill>
                  <a:srgbClr val="222B33"/>
                </a:solidFill>
                <a:latin typeface="Microsoft YaHei"/>
              </a:rPr>
              <a:t>▪ 仪器车、小推车容易翻，不能用</a:t>
            </a:r>
          </a:p>
          <a:p>
            <a:pPr>
              <a:spcAft>
                <a:spcPts val="1000"/>
              </a:spcAft>
            </a:pPr>
            <a:r>
              <a:rPr sz="2000">
                <a:solidFill>
                  <a:srgbClr val="222B33"/>
                </a:solidFill>
                <a:latin typeface="Microsoft YaHei"/>
              </a:rPr>
              <a:t>▪ 地面不平用大轮稳固推车</a:t>
            </a:r>
          </a:p>
          <a:p>
            <a:pPr>
              <a:spcAft>
                <a:spcPts val="1000"/>
              </a:spcAft>
            </a:pPr>
            <a:r>
              <a:rPr sz="2000">
                <a:solidFill>
                  <a:srgbClr val="222B33"/>
                </a:solidFill>
                <a:latin typeface="Microsoft YaHei"/>
              </a:rPr>
              <a:t>▪ 慢慢推，走通畅的路线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需要搬运多瓶或较重的化学品时，不要抱着走长路，使用带护边（护栏）、轮子较大、重心低的化学品推车，瓶子放在托盘或二次容器里，防止滑落。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用无护边的小推车运试剂</a:t>
            </a:r>
          </a:p>
          <a:p>
            <a:pPr>
              <a:spcAft>
                <a:spcPts val="1000"/>
              </a:spcAft>
            </a:pPr>
            <a:r>
              <a:rPr sz="1500">
                <a:solidFill>
                  <a:srgbClr val="222B33"/>
                </a:solidFill>
                <a:latin typeface="Microsoft YaHei"/>
              </a:rPr>
              <a:t>▪ 推车堆得很高、走得很快</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运输：规范包装、标志和专业人员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危险货物包装要合规，粘贴包装标志</a:t>
            </a:r>
          </a:p>
          <a:p>
            <a:pPr>
              <a:spcAft>
                <a:spcPts val="1000"/>
              </a:spcAft>
            </a:pPr>
            <a:r>
              <a:rPr sz="1700">
                <a:solidFill>
                  <a:srgbClr val="222B33"/>
                </a:solidFill>
                <a:latin typeface="Microsoft YaHei"/>
              </a:rPr>
              <a:t>▪ 封装可靠，破损渗漏的不能运</a:t>
            </a:r>
          </a:p>
          <a:p>
            <a:pPr>
              <a:spcAft>
                <a:spcPts val="1000"/>
              </a:spcAft>
            </a:pPr>
            <a:r>
              <a:rPr sz="1700">
                <a:solidFill>
                  <a:srgbClr val="222B33"/>
                </a:solidFill>
                <a:latin typeface="Microsoft YaHei"/>
              </a:rPr>
              <a:t>▪ 不随身夹带，不用普通快递寄递</a:t>
            </a:r>
          </a:p>
          <a:p>
            <a:pPr>
              <a:spcAft>
                <a:spcPts val="1000"/>
              </a:spcAft>
            </a:pPr>
            <a:r>
              <a:rPr sz="1700">
                <a:solidFill>
                  <a:srgbClr val="222B33"/>
                </a:solidFill>
                <a:latin typeface="Microsoft YaHei"/>
              </a:rPr>
              <a:t>▪ 需要运输，通过学校走正规渠道</a:t>
            </a:r>
          </a:p>
          <a:p>
            <a:pPr>
              <a:spcAft>
                <a:spcPts val="1000"/>
              </a:spcAft>
            </a:pPr>
            <a:r>
              <a:rPr sz="1700">
                <a:solidFill>
                  <a:srgbClr val="222B33"/>
                </a:solidFill>
                <a:latin typeface="Microsoft YaHei"/>
              </a:rPr>
              <a:t>▪ 由培训合格的人员操作，懂得应急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校外运输的危险化学品属于危险货物，要按国家标准分类（GB 6944-2025、GB 12268-2025，以现行文本为准），使用合规的包装并可靠封装，包装上粘贴危险货物包装标志（GB 190-2009，以现行文本为准……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把试剂装进行李箱带上高铁</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用玻璃移液管吸取缓冲液，正确的做法是：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缓冲液无毒，可以用嘴吸</a:t>
            </a:r>
          </a:p>
          <a:p>
            <a:pPr algn="l"/>
            <a:r>
              <a:rPr sz="1500" b="0">
                <a:solidFill>
                  <a:srgbClr val="222B33"/>
                </a:solidFill>
                <a:latin typeface="Microsoft YaHei"/>
              </a:rPr>
              <a:t>B. 用洗耳球或移液辅助器</a:t>
            </a:r>
          </a:p>
          <a:p>
            <a:pPr algn="l"/>
            <a:r>
              <a:rPr sz="1500" b="0">
                <a:solidFill>
                  <a:srgbClr val="222B33"/>
                </a:solidFill>
                <a:latin typeface="Microsoft YaHei"/>
              </a:rPr>
              <a:t>C. 先用嘴吸一点再换洗耳球</a:t>
            </a:r>
          </a:p>
          <a:p>
            <a:pPr algn="l"/>
            <a:r>
              <a:rPr sz="1500" b="0">
                <a:solidFill>
                  <a:srgbClr val="222B33"/>
                </a:solidFill>
                <a:latin typeface="Microsoft YaHei"/>
              </a:rPr>
              <a:t>D. 直接把移液管伸进原试剂瓶用嘴吸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判断：取出的试剂没用完，只要没被污染，可以倒回原瓶。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倾倒试剂时，下列做法正确的是：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标签朝下</a:t>
            </a:r>
          </a:p>
          <a:p>
            <a:pPr algn="l"/>
            <a:r>
              <a:rPr sz="1500" b="0">
                <a:solidFill>
                  <a:srgbClr val="222B33"/>
                </a:solidFill>
                <a:latin typeface="Microsoft YaHei"/>
              </a:rPr>
              <a:t>B. 瓶盖口朝下放在台面</a:t>
            </a:r>
          </a:p>
          <a:p>
            <a:pPr algn="l"/>
            <a:r>
              <a:rPr sz="1500" b="0">
                <a:solidFill>
                  <a:srgbClr val="222B33"/>
                </a:solidFill>
                <a:latin typeface="Microsoft YaHei"/>
              </a:rPr>
              <a:t>C. 标签朝手心，瓶盖倒放，倒完擦净瓶外并盖紧</a:t>
            </a:r>
          </a:p>
          <a:p>
            <a:pPr algn="l"/>
            <a:r>
              <a:rPr sz="1500" b="0">
                <a:solidFill>
                  <a:srgbClr val="222B33"/>
                </a:solidFill>
                <a:latin typeface="Microsoft YaHei"/>
              </a:rPr>
              <a:t>D. 慢慢犹豫地倒</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需要把几瓶溶剂从一楼实验室送到三楼实验室，最合适的方式是：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抱在怀里走楼梯</a:t>
            </a:r>
          </a:p>
          <a:p>
            <a:pPr algn="l"/>
            <a:r>
              <a:rPr sz="1500" b="0">
                <a:solidFill>
                  <a:srgbClr val="222B33"/>
                </a:solidFill>
                <a:latin typeface="Microsoft YaHei"/>
              </a:rPr>
              <a:t>B. 单手拎着瓶颈</a:t>
            </a:r>
          </a:p>
          <a:p>
            <a:pPr algn="l"/>
            <a:r>
              <a:rPr sz="1500" b="0">
                <a:solidFill>
                  <a:srgbClr val="222B33"/>
                </a:solidFill>
                <a:latin typeface="Microsoft YaHei"/>
              </a:rPr>
              <a:t>C. 装进带隔挡的提篮或二次容器，瓶多时用带护边的推车</a:t>
            </a:r>
          </a:p>
          <a:p>
            <a:pPr algn="l"/>
            <a:r>
              <a:rPr sz="1500" b="0">
                <a:solidFill>
                  <a:srgbClr val="222B33"/>
                </a:solidFill>
                <a:latin typeface="Microsoft YaHei"/>
              </a:rPr>
              <a:t>D. 用普通仪器车快速推过去</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简答：课题组需要把一批危险化学品送到外地合作单位，应该怎么办？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取用前核对名称</a:t>
            </a:r>
          </a:p>
          <a:p>
            <a:pPr>
              <a:spcAft>
                <a:spcPts val="800"/>
              </a:spcAft>
            </a:pPr>
            <a:r>
              <a:rPr sz="1500">
                <a:solidFill>
                  <a:srgbClr val="FFFFFF"/>
                </a:solidFill>
                <a:latin typeface="Microsoft YaHei"/>
              </a:rPr>
              <a:t>▪ K2  不尝不凑闻，需要时扇闻</a:t>
            </a:r>
          </a:p>
          <a:p>
            <a:pPr>
              <a:spcAft>
                <a:spcPts val="800"/>
              </a:spcAft>
            </a:pPr>
            <a:r>
              <a:rPr sz="1500">
                <a:solidFill>
                  <a:srgbClr val="FFFFFF"/>
                </a:solidFill>
                <a:latin typeface="Microsoft YaHei"/>
              </a:rPr>
              <a:t>▪ K3  移液不用嘴吸，用洗耳球或移液器</a:t>
            </a:r>
          </a:p>
          <a:p>
            <a:pPr>
              <a:spcAft>
                <a:spcPts val="800"/>
              </a:spcAft>
            </a:pPr>
            <a:r>
              <a:rPr sz="1500">
                <a:solidFill>
                  <a:srgbClr val="FFFFFF"/>
                </a:solidFill>
                <a:latin typeface="Microsoft YaHei"/>
              </a:rPr>
              <a:t>▪ K4  按需少取，不伸进原瓶、不倒回原瓶</a:t>
            </a:r>
          </a:p>
          <a:p>
            <a:pPr>
              <a:spcAft>
                <a:spcPts val="800"/>
              </a:spcAft>
            </a:pPr>
            <a:r>
              <a:rPr sz="1500">
                <a:solidFill>
                  <a:srgbClr val="FFFFFF"/>
                </a:solidFill>
                <a:latin typeface="Microsoft YaHei"/>
              </a:rPr>
              <a:t>▪ K5  倾倒：标签朝手心，瓶盖倒放，动作果断</a:t>
            </a:r>
          </a:p>
          <a:p>
            <a:pPr>
              <a:spcAft>
                <a:spcPts val="800"/>
              </a:spcAft>
            </a:pPr>
            <a:r>
              <a:rPr sz="1500">
                <a:solidFill>
                  <a:srgbClr val="FFFFFF"/>
                </a:solidFill>
                <a:latin typeface="Microsoft YaHei"/>
              </a:rPr>
              <a:t>▪ K6  倒完擦净瓶外，随手盖紧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称量粉末防扬尘</a:t>
            </a:r>
          </a:p>
          <a:p>
            <a:pPr>
              <a:spcAft>
                <a:spcPts val="800"/>
              </a:spcAft>
            </a:pPr>
            <a:r>
              <a:rPr sz="1500">
                <a:solidFill>
                  <a:srgbClr val="FFFFFF"/>
                </a:solidFill>
                <a:latin typeface="Microsoft YaHei"/>
              </a:rPr>
              <a:t>▪ K8  化学品不随意带出实验室</a:t>
            </a:r>
          </a:p>
          <a:p>
            <a:pPr>
              <a:spcAft>
                <a:spcPts val="800"/>
              </a:spcAft>
            </a:pPr>
            <a:r>
              <a:rPr sz="1500">
                <a:solidFill>
                  <a:srgbClr val="FFFFFF"/>
                </a:solidFill>
                <a:latin typeface="Microsoft YaHei"/>
              </a:rPr>
              <a:t>▪ K9  校内转移：二次容器和提篮</a:t>
            </a:r>
          </a:p>
          <a:p>
            <a:pPr>
              <a:spcAft>
                <a:spcPts val="800"/>
              </a:spcAft>
            </a:pPr>
            <a:r>
              <a:rPr sz="1500">
                <a:solidFill>
                  <a:srgbClr val="FFFFFF"/>
                </a:solidFill>
                <a:latin typeface="Microsoft YaHei"/>
              </a:rPr>
              <a:t>▪ K10  多瓶搬运用稳固推车</a:t>
            </a:r>
          </a:p>
          <a:p>
            <a:pPr>
              <a:spcAft>
                <a:spcPts val="800"/>
              </a:spcAft>
            </a:pPr>
            <a:r>
              <a:rPr sz="1500">
                <a:solidFill>
                  <a:srgbClr val="FFFFFF"/>
                </a:solidFill>
                <a:latin typeface="Microsoft YaHei"/>
              </a:rPr>
              <a:t>▪ K11  运输：规范包装、标志和专业人员</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通风柜原理与实验室通风</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适用对象：全体使用化学通风柜和在化学类实验室工作的高校本科生、研究生和教职工（必修）；化学、化工、材料、环境、医学、生命科学等专业重点学习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能说出化学通风柜靠向内气流形成屏障、把有害物捕集并排到室外，从而护住呼吸带；面风速要在规定范围内，不是越大越好。</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能判断视窗高度、柜内杂物和大设备、人员走动、门窗和送风口等因素会打乱气流。</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能做到使用前查看检测合格标识和风量报警器，报警时“停、关、报”，检测和调整交给专业人员。</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能说出实验室全面通风要持续运行并保持负压，高氯酸等特殊危害要使用专用通风柜。</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日起施行）及《危险化学品安全管理条例》（以现行文本为准）：学校、科研机构使用危险化学品应具备相应的安全设施并保持正常使用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号，以现行文本为准）及高校实验室安全检查项目表：通风柜等安全设施的配置、定期检测和维护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JGJ 91（以现行文本为准）《科研建筑设计标准》：实验室通风、排风和气流组织的设计要求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本校实验室通风设施管理规定和通风柜检测制度：面风速、换气次数等具体指标以本校规定和设备标识为准</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通风柜：捕集排走有害物，护住呼吸带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很多化学品会放出有害的烟、雾、蒸气和粉尘</a:t>
            </a:r>
          </a:p>
          <a:p>
            <a:pPr>
              <a:spcAft>
                <a:spcPts val="1000"/>
              </a:spcAft>
            </a:pPr>
            <a:r>
              <a:rPr sz="2000">
                <a:solidFill>
                  <a:srgbClr val="222B33"/>
                </a:solidFill>
                <a:latin typeface="Microsoft YaHei"/>
              </a:rPr>
              <a:t>▪ 通风柜把污染物捕集并排走，护住呼吸带</a:t>
            </a:r>
          </a:p>
          <a:p>
            <a:pPr>
              <a:spcAft>
                <a:spcPts val="1000"/>
              </a:spcAft>
            </a:pPr>
            <a:r>
              <a:rPr sz="2000">
                <a:solidFill>
                  <a:srgbClr val="222B33"/>
                </a:solidFill>
                <a:latin typeface="Microsoft YaHei"/>
              </a:rPr>
              <a:t>▪ 有毒化学品实验在通风柜内进行</a:t>
            </a:r>
          </a:p>
          <a:p>
            <a:pPr>
              <a:spcAft>
                <a:spcPts val="1000"/>
              </a:spcAft>
            </a:pPr>
            <a:r>
              <a:rPr sz="2000">
                <a:solidFill>
                  <a:srgbClr val="222B33"/>
                </a:solidFill>
                <a:latin typeface="Microsoft YaHei"/>
              </a:rPr>
              <a:t>▪ 通风柜有多种形式，原理基本相同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许多化学品在使用中会放出有害的烟、雾、蒸气和颗粒物。人的口鼻周围的空气区域称为呼吸带，有害物进入呼吸带就会被吸入体内。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把通风柜当成普通储物柜或实验台</a:t>
            </a:r>
          </a:p>
          <a:p>
            <a:pPr>
              <a:spcAft>
                <a:spcPts val="1000"/>
              </a:spcAft>
            </a:pPr>
            <a:r>
              <a:rPr sz="1500">
                <a:solidFill>
                  <a:srgbClr val="222B33"/>
                </a:solidFill>
                <a:latin typeface="Microsoft YaHei"/>
              </a:rPr>
              <a:t>▪ 认为开窗通风就能代替通风柜</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工作原理：向内气流形成屏障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空气不断从柜口吸进柜内</a:t>
            </a:r>
          </a:p>
          <a:p>
            <a:pPr>
              <a:spcAft>
                <a:spcPts val="1000"/>
              </a:spcAft>
            </a:pPr>
            <a:r>
              <a:rPr sz="2000">
                <a:solidFill>
                  <a:srgbClr val="222B33"/>
                </a:solidFill>
                <a:latin typeface="Microsoft YaHei"/>
              </a:rPr>
              <a:t>▪ 柜口形成一道向内的空气屏障</a:t>
            </a:r>
          </a:p>
          <a:p>
            <a:pPr>
              <a:spcAft>
                <a:spcPts val="1000"/>
              </a:spcAft>
            </a:pPr>
            <a:r>
              <a:rPr sz="2000">
                <a:solidFill>
                  <a:srgbClr val="222B33"/>
                </a:solidFill>
                <a:latin typeface="Microsoft YaHei"/>
              </a:rPr>
              <a:t>▪ 污染物从柜后被抽走，经风管排到楼外稀释</a:t>
            </a:r>
          </a:p>
          <a:p>
            <a:pPr>
              <a:spcAft>
                <a:spcPts val="1000"/>
              </a:spcAft>
            </a:pPr>
            <a:r>
              <a:rPr sz="2000">
                <a:solidFill>
                  <a:srgbClr val="222B33"/>
                </a:solidFill>
                <a:latin typeface="Microsoft YaHei"/>
              </a:rPr>
              <a:t>▪ 视窗仍要尽量放低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排风机通过风管从柜内持续抽气，室内空气从柜口不断流入，在柜口形成一道向内的空气屏障（气帘），把柜内产生的污染物关在柜里。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以为通风柜会把有害物“过滤净化”后吹回室内</a:t>
            </a:r>
          </a:p>
          <a:p>
            <a:pPr>
              <a:spcAft>
                <a:spcPts val="1000"/>
              </a:spcAft>
            </a:pPr>
            <a:r>
              <a:rPr sz="1500">
                <a:solidFill>
                  <a:srgbClr val="222B33"/>
                </a:solidFill>
                <a:latin typeface="Microsoft YaHei"/>
              </a:rPr>
              <a:t>▪ 认为视窗开得越大越通风</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面风速在规定范围，不是越大越好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柜口的平均风速叫面风速</a:t>
            </a:r>
          </a:p>
          <a:p>
            <a:pPr>
              <a:spcAft>
                <a:spcPts val="1000"/>
              </a:spcAft>
            </a:pPr>
            <a:r>
              <a:rPr sz="2000">
                <a:solidFill>
                  <a:srgbClr val="222B33"/>
                </a:solidFill>
                <a:latin typeface="Microsoft YaHei"/>
              </a:rPr>
              <a:t>▪ 风速太小，挡不住蒸气</a:t>
            </a:r>
          </a:p>
          <a:p>
            <a:pPr>
              <a:spcAft>
                <a:spcPts val="1000"/>
              </a:spcAft>
            </a:pPr>
            <a:r>
              <a:rPr sz="2000">
                <a:solidFill>
                  <a:srgbClr val="222B33"/>
                </a:solidFill>
                <a:latin typeface="Microsoft YaHei"/>
              </a:rPr>
              <a:t>▪ 风速太大会起湍流，同样不好</a:t>
            </a:r>
          </a:p>
          <a:p>
            <a:pPr>
              <a:spcAft>
                <a:spcPts val="1000"/>
              </a:spcAft>
            </a:pPr>
            <a:r>
              <a:rPr sz="2000">
                <a:solidFill>
                  <a:srgbClr val="222B33"/>
                </a:solidFill>
                <a:latin typeface="Microsoft YaHei"/>
              </a:rPr>
              <a:t>▪ 要在规定范围内，以本校规定和设备标识为准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面风速是空气流过通风柜开口时的平均速度，反映向内气流的强弱。面风速过低，屏障太弱，蒸气容易逸出柜外。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自行把风量调到最大以为更安全</a:t>
            </a:r>
          </a:p>
          <a:p>
            <a:pPr>
              <a:spcAft>
                <a:spcPts val="1000"/>
              </a:spcAft>
            </a:pPr>
            <a:r>
              <a:rPr sz="1500">
                <a:solidFill>
                  <a:srgbClr val="222B33"/>
                </a:solidFill>
                <a:latin typeface="Microsoft YaHei"/>
              </a:rPr>
              <a:t>▪ 不知道本柜面风速是否合格就使用</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借烟雾和飘带看见气流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气流看不见，可借烟雾或飘带观察</a:t>
            </a:r>
          </a:p>
          <a:p>
            <a:pPr>
              <a:spcAft>
                <a:spcPts val="1000"/>
              </a:spcAft>
            </a:pPr>
            <a:r>
              <a:rPr sz="2000">
                <a:solidFill>
                  <a:srgbClr val="222B33"/>
                </a:solidFill>
                <a:latin typeface="Microsoft YaHei"/>
              </a:rPr>
              <a:t>▪ 白烟平稳往里走，说明气流方向正常</a:t>
            </a:r>
          </a:p>
          <a:p>
            <a:pPr>
              <a:spcAft>
                <a:spcPts val="1000"/>
              </a:spcAft>
            </a:pPr>
            <a:r>
              <a:rPr sz="2000">
                <a:solidFill>
                  <a:srgbClr val="222B33"/>
                </a:solidFill>
                <a:latin typeface="Microsoft YaHei"/>
              </a:rPr>
              <a:t>▪ 飘带只能看出风机在抽风，看不出风速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气流看不见、摸不着，可以借助烟雾或轻飘带直观地看到。柜口下沿贴一条轻飘带，风机开启时飘带向柜内飘动，说明柜子在抽风。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看到飘带往里飘就认为一定合格</a:t>
            </a:r>
          </a:p>
          <a:p>
            <a:pPr>
              <a:spcAft>
                <a:spcPts val="1000"/>
              </a:spcAft>
            </a:pPr>
            <a:r>
              <a:rPr sz="1500">
                <a:solidFill>
                  <a:srgbClr val="222B33"/>
                </a:solidFill>
                <a:latin typeface="Microsoft YaHei"/>
              </a:rPr>
              <a:t>▪ 在柜内点烟或燃烧物品“看气流”</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气流容易被打乱，不要干扰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柜内气流很容易被打乱</a:t>
            </a:r>
          </a:p>
          <a:p>
            <a:pPr>
              <a:spcAft>
                <a:spcPts val="1000"/>
              </a:spcAft>
            </a:pPr>
            <a:r>
              <a:rPr sz="2000">
                <a:solidFill>
                  <a:srgbClr val="222B33"/>
                </a:solidFill>
                <a:latin typeface="Microsoft YaHei"/>
              </a:rPr>
              <a:t>▪ 视窗高度、柜内杂物、人员走动、门窗都有影响</a:t>
            </a:r>
          </a:p>
          <a:p>
            <a:pPr>
              <a:spcAft>
                <a:spcPts val="1000"/>
              </a:spcAft>
            </a:pPr>
            <a:r>
              <a:rPr sz="2000">
                <a:solidFill>
                  <a:srgbClr val="222B33"/>
                </a:solidFill>
                <a:latin typeface="Microsoft YaHei"/>
              </a:rPr>
              <a:t>▪ 视窗开得越大，柜口风速越低</a:t>
            </a:r>
          </a:p>
          <a:p>
            <a:pPr>
              <a:spcAft>
                <a:spcPts val="1000"/>
              </a:spcAft>
            </a:pPr>
            <a:r>
              <a:rPr sz="2000">
                <a:solidFill>
                  <a:srgbClr val="222B33"/>
                </a:solidFill>
                <a:latin typeface="Microsoft YaHei"/>
              </a:rPr>
              <a:t>▪ 气流一乱，污染空气会跑出来，绝不能干扰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通风柜的保护效果依赖平稳的向内气流，而这种气流很容易被打断或改变。影响因素主要有：视窗高度、柜内堆放的物品和大设备、柜前人员走动和快速动作、门窗开关和送风口、风扇等横向气流。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柜内长期堆放试剂和杂物</a:t>
            </a:r>
          </a:p>
          <a:p>
            <a:pPr>
              <a:spcAft>
                <a:spcPts val="1000"/>
              </a:spcAft>
            </a:pPr>
            <a:r>
              <a:rPr sz="1500">
                <a:solidFill>
                  <a:srgbClr val="222B33"/>
                </a:solidFill>
                <a:latin typeface="Microsoft YaHei"/>
              </a:rPr>
              <a:t>▪ 视窗全开做实验</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柜内大设备要垫高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柜内大设备会挡住气流</a:t>
            </a:r>
          </a:p>
          <a:p>
            <a:pPr>
              <a:spcAft>
                <a:spcPts val="1000"/>
              </a:spcAft>
            </a:pPr>
            <a:r>
              <a:rPr sz="2000">
                <a:solidFill>
                  <a:srgbClr val="222B33"/>
                </a:solidFill>
                <a:latin typeface="Microsoft YaHei"/>
              </a:rPr>
              <a:t>▪ 把设备垫高，让空气从下面流过</a:t>
            </a:r>
          </a:p>
          <a:p>
            <a:pPr>
              <a:spcAft>
                <a:spcPts val="1000"/>
              </a:spcAft>
            </a:pPr>
            <a:r>
              <a:rPr sz="2000">
                <a:solidFill>
                  <a:srgbClr val="222B33"/>
                </a:solidFill>
                <a:latin typeface="Microsoft YaHei"/>
              </a:rPr>
              <a:t>▪ 设备不要贴着后部排风缝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旋转蒸发仪、加热浴、电炉等较大的设备直接放在柜内台面上，会挡住流向下部排风缝的气流，在设备前后形成旋涡。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大设备直接压在柜底台面上</a:t>
            </a:r>
          </a:p>
          <a:p>
            <a:pPr>
              <a:spcAft>
                <a:spcPts val="1000"/>
              </a:spcAft>
            </a:pPr>
            <a:r>
              <a:rPr sz="1500">
                <a:solidFill>
                  <a:srgbClr val="222B33"/>
                </a:solidFill>
                <a:latin typeface="Microsoft YaHei"/>
              </a:rPr>
              <a:t>▪ 设备紧贴后部导流板</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人员走动会把污染物拉出来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人走路时身后会带起旋涡</a:t>
            </a:r>
          </a:p>
          <a:p>
            <a:pPr>
              <a:spcAft>
                <a:spcPts val="1000"/>
              </a:spcAft>
            </a:pPr>
            <a:r>
              <a:rPr sz="2000">
                <a:solidFill>
                  <a:srgbClr val="222B33"/>
                </a:solidFill>
                <a:latin typeface="Microsoft YaHei"/>
              </a:rPr>
              <a:t>▪ 旋涡会把柜内污染物拉出柜外</a:t>
            </a:r>
          </a:p>
          <a:p>
            <a:pPr>
              <a:spcAft>
                <a:spcPts val="1000"/>
              </a:spcAft>
            </a:pPr>
            <a:r>
              <a:rPr sz="2000">
                <a:solidFill>
                  <a:srgbClr val="222B33"/>
                </a:solidFill>
                <a:latin typeface="Microsoft YaHei"/>
              </a:rPr>
              <a:t>▪ 有人在用通风柜，别贴着柜口走</a:t>
            </a:r>
          </a:p>
          <a:p>
            <a:pPr>
              <a:spcAft>
                <a:spcPts val="1000"/>
              </a:spcAft>
            </a:pPr>
            <a:r>
              <a:rPr sz="2000">
                <a:solidFill>
                  <a:srgbClr val="222B33"/>
                </a:solidFill>
                <a:latin typeface="Microsoft YaHei"/>
              </a:rPr>
              <a:t>▪ 柜前留出空间，绕开走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人在走动时，身体后方会形成空气旋涡。从正在使用的通风柜前快速走过，旋涡的作用可能超过柜口的向内气流，把柜内的污染物拉出柜外。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在别人正在使用的通风柜前来回穿行</a:t>
            </a:r>
          </a:p>
          <a:p>
            <a:pPr>
              <a:spcAft>
                <a:spcPts val="1000"/>
              </a:spcAft>
            </a:pPr>
            <a:r>
              <a:rPr sz="1500">
                <a:solidFill>
                  <a:srgbClr val="222B33"/>
                </a:solidFill>
                <a:latin typeface="Microsoft YaHei"/>
              </a:rPr>
              <a:t>▪ 多人围在一个通风柜前看热闹</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通风柜位置：远离门窗和送风口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通风柜的位置也影响效果</a:t>
            </a:r>
          </a:p>
          <a:p>
            <a:pPr>
              <a:spcAft>
                <a:spcPts val="1000"/>
              </a:spcAft>
            </a:pPr>
            <a:r>
              <a:rPr sz="2000">
                <a:solidFill>
                  <a:srgbClr val="222B33"/>
                </a:solidFill>
                <a:latin typeface="Microsoft YaHei"/>
              </a:rPr>
              <a:t>▪ 远离门、窗、风扇和天花板送风口</a:t>
            </a:r>
          </a:p>
          <a:p>
            <a:pPr>
              <a:spcAft>
                <a:spcPts val="1000"/>
              </a:spcAft>
            </a:pPr>
            <a:r>
              <a:rPr sz="2000">
                <a:solidFill>
                  <a:srgbClr val="222B33"/>
                </a:solidFill>
                <a:latin typeface="Microsoft YaHei"/>
              </a:rPr>
              <a:t>▪ 放在人少走动的地方</a:t>
            </a:r>
          </a:p>
          <a:p>
            <a:pPr>
              <a:spcAft>
                <a:spcPts val="1000"/>
              </a:spcAft>
            </a:pPr>
            <a:r>
              <a:rPr sz="2000">
                <a:solidFill>
                  <a:srgbClr val="222B33"/>
                </a:solidFill>
                <a:latin typeface="Microsoft YaHei"/>
              </a:rPr>
              <a:t>▪ 使用时不在柜旁开窗、开风扇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夏天在通风柜旁开电扇降温</a:t>
            </a:r>
          </a:p>
          <a:p>
            <a:pPr>
              <a:spcAft>
                <a:spcPts val="1000"/>
              </a:spcAft>
            </a:pPr>
            <a:r>
              <a:rPr sz="1500">
                <a:solidFill>
                  <a:srgbClr val="222B33"/>
                </a:solidFill>
                <a:latin typeface="Microsoft YaHei"/>
              </a:rPr>
              <a:t>▪ 自行移动通风柜或改动送风口</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定期检测，用前看合格标识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新装、通风改造后和平时都要定期检测</a:t>
            </a:r>
          </a:p>
          <a:p>
            <a:pPr>
              <a:spcAft>
                <a:spcPts val="1000"/>
              </a:spcAft>
            </a:pPr>
            <a:r>
              <a:rPr sz="2000">
                <a:solidFill>
                  <a:srgbClr val="222B33"/>
                </a:solidFill>
                <a:latin typeface="Microsoft YaHei"/>
              </a:rPr>
              <a:t>▪ 检测合格贴有检测标识，有记录</a:t>
            </a:r>
          </a:p>
          <a:p>
            <a:pPr>
              <a:spcAft>
                <a:spcPts val="1000"/>
              </a:spcAft>
            </a:pPr>
            <a:r>
              <a:rPr sz="2000">
                <a:solidFill>
                  <a:srgbClr val="222B33"/>
                </a:solidFill>
                <a:latin typeface="Microsoft YaHei"/>
              </a:rPr>
              <a:t>▪ 用前看标识：检测过没有、过没过期</a:t>
            </a:r>
          </a:p>
          <a:p>
            <a:pPr>
              <a:spcAft>
                <a:spcPts val="1000"/>
              </a:spcAft>
            </a:pPr>
            <a:r>
              <a:rPr sz="2000">
                <a:solidFill>
                  <a:srgbClr val="222B33"/>
                </a:solidFill>
                <a:latin typeface="Microsoft YaHei"/>
              </a:rPr>
              <a:t>▪ 无标识或过期就当不合格，报告报修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通风柜在新安装、实验室通风系统改造后，以及使用期间定期都要进行性能检测，检测结果记录在案，合格的贴有检测标识。风机在响、听着在转，不等于合格。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只凭风机声音判断通风柜好坏</a:t>
            </a:r>
          </a:p>
          <a:p>
            <a:pPr>
              <a:spcAft>
                <a:spcPts val="1000"/>
              </a:spcAft>
            </a:pPr>
            <a:r>
              <a:rPr sz="1500">
                <a:solidFill>
                  <a:srgbClr val="222B33"/>
                </a:solidFill>
                <a:latin typeface="Microsoft YaHei"/>
              </a:rPr>
              <a:t>▪ 标识过期仍继续使用</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性能检测和调整交给专业人员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专业人员用仪器在柜口逐格测面风速</a:t>
            </a:r>
          </a:p>
          <a:p>
            <a:pPr>
              <a:spcAft>
                <a:spcPts val="1000"/>
              </a:spcAft>
            </a:pPr>
            <a:r>
              <a:rPr sz="2000">
                <a:solidFill>
                  <a:srgbClr val="222B33"/>
                </a:solidFill>
                <a:latin typeface="Microsoft YaHei"/>
              </a:rPr>
              <a:t>▪ 还要检查柜前横风和发烟气流有无外溢</a:t>
            </a:r>
          </a:p>
          <a:p>
            <a:pPr>
              <a:spcAft>
                <a:spcPts val="1000"/>
              </a:spcAft>
            </a:pPr>
            <a:r>
              <a:rPr sz="2000">
                <a:solidFill>
                  <a:srgbClr val="222B33"/>
                </a:solidFill>
                <a:latin typeface="Microsoft YaHei"/>
              </a:rPr>
              <a:t>▪ 不合格的调整好之前不能使用</a:t>
            </a:r>
          </a:p>
          <a:p>
            <a:pPr>
              <a:spcAft>
                <a:spcPts val="1000"/>
              </a:spcAft>
            </a:pPr>
            <a:r>
              <a:rPr sz="2000">
                <a:solidFill>
                  <a:srgbClr val="222B33"/>
                </a:solidFill>
                <a:latin typeface="Microsoft YaHei"/>
              </a:rPr>
              <a:t>▪ 学生不自己拧导流板、改风量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嫌风大自己调小风阀</a:t>
            </a:r>
          </a:p>
          <a:p>
            <a:pPr>
              <a:spcAft>
                <a:spcPts val="1000"/>
              </a:spcAft>
            </a:pPr>
            <a:r>
              <a:rPr sz="1500">
                <a:solidFill>
                  <a:srgbClr val="222B33"/>
                </a:solidFill>
                <a:latin typeface="Microsoft YaHei"/>
              </a:rPr>
              <a:t>▪ 用纸条代替风速检测</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风量报警器要能用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每台通风柜都应有风量监测和报警装置</a:t>
            </a:r>
          </a:p>
          <a:p>
            <a:pPr>
              <a:spcAft>
                <a:spcPts val="1000"/>
              </a:spcAft>
            </a:pPr>
            <a:r>
              <a:rPr sz="2000">
                <a:solidFill>
                  <a:srgbClr val="222B33"/>
                </a:solidFill>
                <a:latin typeface="Microsoft YaHei"/>
              </a:rPr>
              <a:t>▪ 风量不足时会发出声光报警</a:t>
            </a:r>
          </a:p>
          <a:p>
            <a:pPr>
              <a:spcAft>
                <a:spcPts val="1000"/>
              </a:spcAft>
            </a:pPr>
            <a:r>
              <a:rPr sz="2000">
                <a:solidFill>
                  <a:srgbClr val="222B33"/>
                </a:solidFill>
                <a:latin typeface="Microsoft YaHei"/>
              </a:rPr>
              <a:t>▪ 声音提示别关掉，低头干活也能发现</a:t>
            </a:r>
          </a:p>
          <a:p>
            <a:pPr>
              <a:spcAft>
                <a:spcPts val="1000"/>
              </a:spcAft>
            </a:pPr>
            <a:r>
              <a:rPr sz="2000">
                <a:solidFill>
                  <a:srgbClr val="222B33"/>
                </a:solidFill>
                <a:latin typeface="Microsoft YaHei"/>
              </a:rPr>
              <a:t>▪ 报警功能定期测试并记录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通风柜应配有风量（风速）监测显示和报警装置，风量低于设定值时发出灯光和声音报警，提醒操作者保护已经失效。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嫌吵把报警声音关掉</a:t>
            </a:r>
          </a:p>
          <a:p>
            <a:pPr>
              <a:spcAft>
                <a:spcPts val="1000"/>
              </a:spcAft>
            </a:pPr>
            <a:r>
              <a:rPr sz="1500">
                <a:solidFill>
                  <a:srgbClr val="222B33"/>
                </a:solidFill>
                <a:latin typeface="Microsoft YaHei"/>
              </a:rPr>
              <a:t>▪ 报警灯一直亮着也不理会</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报警了：停、关、报，再复位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一旦报警，马上停止工作</a:t>
            </a:r>
          </a:p>
          <a:p>
            <a:pPr>
              <a:spcAft>
                <a:spcPts val="1000"/>
              </a:spcAft>
            </a:pPr>
            <a:r>
              <a:rPr sz="2000">
                <a:solidFill>
                  <a:srgbClr val="222B33"/>
                </a:solidFill>
                <a:latin typeface="Microsoft YaHei"/>
              </a:rPr>
              <a:t>▪ 盖好容器，把视窗拉下来</a:t>
            </a:r>
          </a:p>
          <a:p>
            <a:pPr>
              <a:spcAft>
                <a:spcPts val="1000"/>
              </a:spcAft>
            </a:pPr>
            <a:r>
              <a:rPr sz="2000">
                <a:solidFill>
                  <a:srgbClr val="222B33"/>
                </a:solidFill>
                <a:latin typeface="Microsoft YaHei"/>
              </a:rPr>
              <a:t>▪ 报告实验室负责人和学院安全管理员</a:t>
            </a:r>
          </a:p>
          <a:p>
            <a:pPr>
              <a:spcAft>
                <a:spcPts val="1000"/>
              </a:spcAft>
            </a:pPr>
            <a:r>
              <a:rPr sz="2000">
                <a:solidFill>
                  <a:srgbClr val="222B33"/>
                </a:solidFill>
                <a:latin typeface="Microsoft YaHei"/>
              </a:rPr>
              <a:t>▪ 处理好后按说明书复位报警器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通风柜一旦报警，说明排风可能不足，立即按“停、关、报”处理：停止实验操作，关闭热源，盖好容器；把视窗拉下关闭；报告实验室负责人和学院实验室安全管理员，联系设施维修人员。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自己按掉报警就继续操作</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全面通风持续运行，实验室保持负压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实验室通风要持续运行，不断换气</a:t>
            </a:r>
          </a:p>
          <a:p>
            <a:pPr>
              <a:spcAft>
                <a:spcPts val="1000"/>
              </a:spcAft>
            </a:pPr>
            <a:r>
              <a:rPr sz="2000">
                <a:solidFill>
                  <a:srgbClr val="222B33"/>
                </a:solidFill>
                <a:latin typeface="Microsoft YaHei"/>
              </a:rPr>
              <a:t>▪ 换气次数按设计和本校规定</a:t>
            </a:r>
          </a:p>
          <a:p>
            <a:pPr>
              <a:spcAft>
                <a:spcPts val="1000"/>
              </a:spcAft>
            </a:pPr>
            <a:r>
              <a:rPr sz="2000">
                <a:solidFill>
                  <a:srgbClr val="222B33"/>
                </a:solidFill>
                <a:latin typeface="Microsoft YaHei"/>
              </a:rPr>
              <a:t>▪ 排风不能只靠通风柜一个出口</a:t>
            </a:r>
          </a:p>
          <a:p>
            <a:pPr>
              <a:spcAft>
                <a:spcPts val="1000"/>
              </a:spcAft>
            </a:pPr>
            <a:r>
              <a:rPr sz="2000">
                <a:solidFill>
                  <a:srgbClr val="222B33"/>
                </a:solidFill>
                <a:latin typeface="Microsoft YaHei"/>
              </a:rPr>
              <a:t>▪ 实验室保持负压，门别长开、风口别堵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除通风柜等局部排风外，化学实验室还要有全面通风，持续运行、不断换气，稀释和排出逸散到室内的有害气体。换气次数按实验室设计和本校规定执行，不能只靠通风柜作为唯一的排风出口。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下班就关掉实验室全部排风</a:t>
            </a:r>
          </a:p>
          <a:p>
            <a:pPr>
              <a:spcAft>
                <a:spcPts val="1000"/>
              </a:spcAft>
            </a:pPr>
            <a:r>
              <a:rPr sz="1500">
                <a:solidFill>
                  <a:srgbClr val="222B33"/>
                </a:solidFill>
                <a:latin typeface="Microsoft YaHei"/>
              </a:rPr>
              <a:t>▪ 用纸板堵住排风口防噪声</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特殊用途通风柜：高氯酸专用柜等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有专门对付特殊危害的通风柜</a:t>
            </a:r>
          </a:p>
          <a:p>
            <a:pPr>
              <a:spcAft>
                <a:spcPts val="1000"/>
              </a:spcAft>
            </a:pPr>
            <a:r>
              <a:rPr sz="2000">
                <a:solidFill>
                  <a:srgbClr val="222B33"/>
                </a:solidFill>
                <a:latin typeface="Microsoft YaHei"/>
              </a:rPr>
              <a:t>▪ 高氯酸专用柜能用水冲洗柜体和风管</a:t>
            </a:r>
          </a:p>
          <a:p>
            <a:pPr>
              <a:spcAft>
                <a:spcPts val="1000"/>
              </a:spcAft>
            </a:pPr>
            <a:r>
              <a:rPr sz="2000">
                <a:solidFill>
                  <a:srgbClr val="222B33"/>
                </a:solidFill>
                <a:latin typeface="Microsoft YaHei"/>
              </a:rPr>
              <a:t>▪ 高氯酸柜内绝不能放有机物</a:t>
            </a:r>
          </a:p>
          <a:p>
            <a:pPr>
              <a:spcAft>
                <a:spcPts val="1000"/>
              </a:spcAft>
            </a:pPr>
            <a:r>
              <a:rPr sz="2000">
                <a:solidFill>
                  <a:srgbClr val="222B33"/>
                </a:solidFill>
                <a:latin typeface="Microsoft YaHei"/>
              </a:rPr>
              <a:t>▪ 放射性操作使用专用通风柜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除普通化学通风柜外，还有针对特殊危害的专用通风柜，平时不常用，但要知道它们的用途，不能混用。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在普通通风柜里加热高氯酸</a:t>
            </a:r>
          </a:p>
          <a:p>
            <a:pPr>
              <a:spcAft>
                <a:spcPts val="1000"/>
              </a:spcAft>
            </a:pPr>
            <a:r>
              <a:rPr sz="1500">
                <a:solidFill>
                  <a:srgbClr val="222B33"/>
                </a:solidFill>
                <a:latin typeface="Microsoft YaHei"/>
              </a:rPr>
              <a:t>▪ 在高氯酸专用柜里放有机溶剂</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化学通风柜保护操作者的主要原理是：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把有害气体过滤后吹回室内</a:t>
            </a:r>
          </a:p>
          <a:p>
            <a:pPr algn="l"/>
            <a:r>
              <a:rPr sz="1500" b="0">
                <a:solidFill>
                  <a:srgbClr val="222B33"/>
                </a:solidFill>
                <a:latin typeface="Microsoft YaHei"/>
              </a:rPr>
              <a:t>B. 柜口形成向内的气流屏障，把污染物抽走排到室外</a:t>
            </a:r>
          </a:p>
          <a:p>
            <a:pPr algn="l"/>
            <a:r>
              <a:rPr sz="1500" b="0">
                <a:solidFill>
                  <a:srgbClr val="222B33"/>
                </a:solidFill>
                <a:latin typeface="Microsoft YaHei"/>
              </a:rPr>
              <a:t>C. 靠视窗玻璃完全密封</a:t>
            </a:r>
          </a:p>
          <a:p>
            <a:pPr algn="l"/>
            <a:r>
              <a:rPr sz="1500" b="0">
                <a:solidFill>
                  <a:srgbClr val="222B33"/>
                </a:solidFill>
                <a:latin typeface="Microsoft YaHei"/>
              </a:rPr>
              <a:t>D. 靠柜内的照明灯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判断：通风柜的面风速越大越安全。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下列做法中，会干扰通风柜气流的是：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把大设备垫高</a:t>
            </a:r>
          </a:p>
          <a:p>
            <a:pPr algn="l"/>
            <a:r>
              <a:rPr sz="1500" b="0">
                <a:solidFill>
                  <a:srgbClr val="222B33"/>
                </a:solidFill>
                <a:latin typeface="Microsoft YaHei"/>
              </a:rPr>
              <a:t>B. 在别人使用的通风柜前来回快速走动</a:t>
            </a:r>
          </a:p>
          <a:p>
            <a:pPr algn="l"/>
            <a:r>
              <a:rPr sz="1500" b="0">
                <a:solidFill>
                  <a:srgbClr val="222B33"/>
                </a:solidFill>
                <a:latin typeface="Microsoft YaHei"/>
              </a:rPr>
              <a:t>C. 视窗放低</a:t>
            </a:r>
          </a:p>
          <a:p>
            <a:pPr algn="l"/>
            <a:r>
              <a:rPr sz="1500" b="0">
                <a:solidFill>
                  <a:srgbClr val="222B33"/>
                </a:solidFill>
                <a:latin typeface="Microsoft YaHei"/>
              </a:rPr>
              <a:t>D. 柜内少放物品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使用通风柜时风量报警器响了，正确的做法是：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按掉报警继续做完</a:t>
            </a:r>
          </a:p>
          <a:p>
            <a:pPr algn="l"/>
            <a:r>
              <a:rPr sz="1500" b="0">
                <a:solidFill>
                  <a:srgbClr val="222B33"/>
                </a:solidFill>
                <a:latin typeface="Microsoft YaHei"/>
              </a:rPr>
              <a:t>B. 把视窗开大加强通风</a:t>
            </a:r>
          </a:p>
          <a:p>
            <a:pPr algn="l"/>
            <a:r>
              <a:rPr sz="1500" b="0">
                <a:solidFill>
                  <a:srgbClr val="222B33"/>
                </a:solidFill>
                <a:latin typeface="Microsoft YaHei"/>
              </a:rPr>
              <a:t>C. 停止操作、盖好容器、拉下视窗，报告负责人和学院安全管理员</a:t>
            </a:r>
          </a:p>
          <a:p>
            <a:pPr algn="l"/>
            <a:r>
              <a:rPr sz="1500" b="0">
                <a:solidFill>
                  <a:srgbClr val="222B33"/>
                </a:solidFill>
                <a:latin typeface="Microsoft YaHei"/>
              </a:rPr>
              <a:t>D. 关掉声音只看灯</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简答：为什么下班后不能把实验室的全面通风全部关掉？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通风柜：捕集排走有害物，护住呼吸带</a:t>
            </a:r>
          </a:p>
          <a:p>
            <a:pPr>
              <a:spcAft>
                <a:spcPts val="800"/>
              </a:spcAft>
            </a:pPr>
            <a:r>
              <a:rPr sz="1500">
                <a:solidFill>
                  <a:srgbClr val="FFFFFF"/>
                </a:solidFill>
                <a:latin typeface="Microsoft YaHei"/>
              </a:rPr>
              <a:t>▪ K2  工作原理：向内气流形成屏障</a:t>
            </a:r>
          </a:p>
          <a:p>
            <a:pPr>
              <a:spcAft>
                <a:spcPts val="800"/>
              </a:spcAft>
            </a:pPr>
            <a:r>
              <a:rPr sz="1500">
                <a:solidFill>
                  <a:srgbClr val="FFFFFF"/>
                </a:solidFill>
                <a:latin typeface="Microsoft YaHei"/>
              </a:rPr>
              <a:t>▪ K3  面风速在规定范围，不是越大越好</a:t>
            </a:r>
          </a:p>
          <a:p>
            <a:pPr>
              <a:spcAft>
                <a:spcPts val="800"/>
              </a:spcAft>
            </a:pPr>
            <a:r>
              <a:rPr sz="1500">
                <a:solidFill>
                  <a:srgbClr val="FFFFFF"/>
                </a:solidFill>
                <a:latin typeface="Microsoft YaHei"/>
              </a:rPr>
              <a:t>▪ K4  借烟雾和飘带看见气流</a:t>
            </a:r>
          </a:p>
          <a:p>
            <a:pPr>
              <a:spcAft>
                <a:spcPts val="800"/>
              </a:spcAft>
            </a:pPr>
            <a:r>
              <a:rPr sz="1500">
                <a:solidFill>
                  <a:srgbClr val="FFFFFF"/>
                </a:solidFill>
                <a:latin typeface="Microsoft YaHei"/>
              </a:rPr>
              <a:t>▪ K5  气流容易被打乱，不要干扰</a:t>
            </a:r>
          </a:p>
          <a:p>
            <a:pPr>
              <a:spcAft>
                <a:spcPts val="800"/>
              </a:spcAft>
            </a:pPr>
            <a:r>
              <a:rPr sz="1500">
                <a:solidFill>
                  <a:srgbClr val="FFFFFF"/>
                </a:solidFill>
                <a:latin typeface="Microsoft YaHei"/>
              </a:rPr>
              <a:t>▪ K6  柜内大设备要垫高</a:t>
            </a:r>
          </a:p>
          <a:p>
            <a:pPr>
              <a:spcAft>
                <a:spcPts val="800"/>
              </a:spcAft>
            </a:pPr>
            <a:r>
              <a:rPr sz="1500">
                <a:solidFill>
                  <a:srgbClr val="FFFFFF"/>
                </a:solidFill>
                <a:latin typeface="Microsoft YaHei"/>
              </a:rPr>
              <a:t>▪ K7  人员走动会把污染物拉出来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通风柜位置：远离门窗和送风口</a:t>
            </a:r>
          </a:p>
          <a:p>
            <a:pPr>
              <a:spcAft>
                <a:spcPts val="800"/>
              </a:spcAft>
            </a:pPr>
            <a:r>
              <a:rPr sz="1500">
                <a:solidFill>
                  <a:srgbClr val="FFFFFF"/>
                </a:solidFill>
                <a:latin typeface="Microsoft YaHei"/>
              </a:rPr>
              <a:t>▪ K9  定期检测，用前看合格标识</a:t>
            </a:r>
          </a:p>
          <a:p>
            <a:pPr>
              <a:spcAft>
                <a:spcPts val="800"/>
              </a:spcAft>
            </a:pPr>
            <a:r>
              <a:rPr sz="1500">
                <a:solidFill>
                  <a:srgbClr val="FFFFFF"/>
                </a:solidFill>
                <a:latin typeface="Microsoft YaHei"/>
              </a:rPr>
              <a:t>▪ K10  性能检测和调整交给专业人员</a:t>
            </a:r>
          </a:p>
          <a:p>
            <a:pPr>
              <a:spcAft>
                <a:spcPts val="800"/>
              </a:spcAft>
            </a:pPr>
            <a:r>
              <a:rPr sz="1500">
                <a:solidFill>
                  <a:srgbClr val="FFFFFF"/>
                </a:solidFill>
                <a:latin typeface="Microsoft YaHei"/>
              </a:rPr>
              <a:t>▪ K11  风量报警器要能用</a:t>
            </a:r>
          </a:p>
          <a:p>
            <a:pPr>
              <a:spcAft>
                <a:spcPts val="800"/>
              </a:spcAft>
            </a:pPr>
            <a:r>
              <a:rPr sz="1500">
                <a:solidFill>
                  <a:srgbClr val="FFFFFF"/>
                </a:solidFill>
                <a:latin typeface="Microsoft YaHei"/>
              </a:rPr>
              <a:t>▪ K12  报警了：停、关、报，再复位</a:t>
            </a:r>
          </a:p>
          <a:p>
            <a:pPr>
              <a:spcAft>
                <a:spcPts val="800"/>
              </a:spcAft>
            </a:pPr>
            <a:r>
              <a:rPr sz="1500">
                <a:solidFill>
                  <a:srgbClr val="FFFFFF"/>
                </a:solidFill>
                <a:latin typeface="Microsoft YaHei"/>
              </a:rPr>
              <a:t>▪ K13  全面通风持续运行，实验室保持负压</a:t>
            </a:r>
          </a:p>
          <a:p>
            <a:pPr>
              <a:spcAft>
                <a:spcPts val="800"/>
              </a:spcAft>
            </a:pPr>
            <a:r>
              <a:rPr sz="1500">
                <a:solidFill>
                  <a:srgbClr val="FFFFFF"/>
                </a:solidFill>
                <a:latin typeface="Microsoft YaHei"/>
              </a:rPr>
              <a:t>▪ K14  特殊用途通风柜：高氯酸专用柜等</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通风柜的正确使用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适用对象：全体使用化学通风柜的高校本科生、研究生和教职工（必修，上机操作前完成）；化学、化工、材料、环境、医学、生命科学等专业重点学习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能判断哪些操作必须在通风柜内进行：可能产生有害气体、挥发性或有毒化学品、加热易燃溶剂、蒸馏、升华等。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能做到使用前开风机、确认向内气流和风速指示、查看检测标识，穿戴好个人防护。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能做到视窗拉到标线以下、站着操作、头不伸进柜内、在柜内深处操作、动作轻缓，柜内不堆放、不挡风口、不敞放废液、不擅自改动。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能做到报警或停风时“停、盖、关、撤、报”，用完清理台面、关闭视窗。</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日起施行）及《危险化学品安全管理条例》（以现行文本为准）：学校、科研机构使用危险化学品应遵守操作规程，保证安全设施正常使用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号，以现行文本为准）及高校实验室安全检查项目表：通风柜的使用、柜内不得堆放化学品等要求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14866-2023（以现行文本为准）《眼面防护具通用技术规范》：柜内操作时护目镜、面屏的选用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《国家危险废物名录》（以现行版本为准）：实验废液按危险废物分类收集，不得敞口挥发或倒入下水道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本校实验室通风柜使用管理规定和应急预案：视窗高度、操作距离等以本校规定和设备标识为准</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装好只是一半，用对才完整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通风柜装得好只是一半，用得对才完整</a:t>
            </a:r>
          </a:p>
          <a:p>
            <a:pPr>
              <a:spcAft>
                <a:spcPts val="1000"/>
              </a:spcAft>
            </a:pPr>
            <a:r>
              <a:rPr sz="2000">
                <a:solidFill>
                  <a:srgbClr val="222B33"/>
                </a:solidFill>
                <a:latin typeface="Microsoft YaHei"/>
              </a:rPr>
              <a:t>▪ 保护效果很大程度取决于使用习惯</a:t>
            </a:r>
          </a:p>
          <a:p>
            <a:pPr>
              <a:spcAft>
                <a:spcPts val="1000"/>
              </a:spcAft>
            </a:pPr>
            <a:r>
              <a:rPr sz="2000">
                <a:solidFill>
                  <a:srgbClr val="222B33"/>
                </a:solidFill>
                <a:latin typeface="Microsoft YaHei"/>
              </a:rPr>
              <a:t>▪ 需要进柜做的操作，本身就有危险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通风柜的保护效果，一半取决于设计、安装和检测（见第 051 课），另一半取决于使用者的操作习惯。视窗开得太高、头伸进柜内、柜内堆满杂物，都会让一台合格的通风柜失去保护作用。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认为“有通风柜就安全了”，不注意使用方法</a:t>
            </a:r>
          </a:p>
          <a:p>
            <a:pPr>
              <a:spcAft>
                <a:spcPts val="1000"/>
              </a:spcAft>
            </a:pPr>
            <a:r>
              <a:rPr sz="1500">
                <a:solidFill>
                  <a:srgbClr val="222B33"/>
                </a:solidFill>
                <a:latin typeface="Microsoft YaHei"/>
              </a:rPr>
              <a:t>▪ 做“小量”实验就不进通风柜</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有害、挥发、易燃加热的操作进柜做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可能产生有害气体的操作，在通风柜里做</a:t>
            </a:r>
          </a:p>
          <a:p>
            <a:pPr>
              <a:spcAft>
                <a:spcPts val="1000"/>
              </a:spcAft>
            </a:pPr>
            <a:r>
              <a:rPr sz="1700">
                <a:solidFill>
                  <a:srgbClr val="222B33"/>
                </a:solidFill>
                <a:latin typeface="Microsoft YaHei"/>
              </a:rPr>
              <a:t>▪ 挥发、有毒的化学品不在敞开台面倾倒</a:t>
            </a:r>
          </a:p>
          <a:p>
            <a:pPr>
              <a:spcAft>
                <a:spcPts val="1000"/>
              </a:spcAft>
            </a:pPr>
            <a:r>
              <a:rPr sz="1700">
                <a:solidFill>
                  <a:srgbClr val="222B33"/>
                </a:solidFill>
                <a:latin typeface="Microsoft YaHei"/>
              </a:rPr>
              <a:t>▪ 加热易燃溶剂、蒸馏、升华、重结晶进柜做</a:t>
            </a:r>
          </a:p>
          <a:p>
            <a:pPr>
              <a:spcAft>
                <a:spcPts val="1000"/>
              </a:spcAft>
            </a:pPr>
            <a:r>
              <a:rPr sz="1700">
                <a:solidFill>
                  <a:srgbClr val="222B33"/>
                </a:solidFill>
                <a:latin typeface="Microsoft YaHei"/>
              </a:rPr>
              <a:t>▪ 装置通大气的出口引向排风处</a:t>
            </a:r>
          </a:p>
          <a:p>
            <a:pPr>
              <a:spcAft>
                <a:spcPts val="1000"/>
              </a:spcAft>
            </a:pPr>
            <a:r>
              <a:rPr sz="1700">
                <a:solidFill>
                  <a:srgbClr val="222B33"/>
                </a:solidFill>
                <a:latin typeface="Microsoft YaHei"/>
              </a:rPr>
              <a:t>▪ 病原微生物操作用生物安全柜，不用通风柜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凡可能产生有害气体、烟雾或粉尘的操作，挥发性、有毒、有刺激性化学品的取用和倾倒，都应在化学通风柜内进行，不在敞开的实验台上图省事，也不凑近闻。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在敞开台面上煮沸有机溶剂</a:t>
            </a:r>
          </a:p>
          <a:p>
            <a:pPr>
              <a:spcAft>
                <a:spcPts val="1000"/>
              </a:spcAft>
            </a:pPr>
            <a:r>
              <a:rPr sz="1500">
                <a:solidFill>
                  <a:srgbClr val="222B33"/>
                </a:solidFill>
                <a:latin typeface="Microsoft YaHei"/>
              </a:rPr>
              <a:t>▪ 在化学通风柜里做病原微生物操作</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用前自检：开风机、看气流、看标识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用之前，先打开风机</a:t>
            </a:r>
          </a:p>
          <a:p>
            <a:pPr>
              <a:spcAft>
                <a:spcPts val="1000"/>
              </a:spcAft>
            </a:pPr>
            <a:r>
              <a:rPr sz="1700">
                <a:solidFill>
                  <a:srgbClr val="222B33"/>
                </a:solidFill>
                <a:latin typeface="Microsoft YaHei"/>
              </a:rPr>
              <a:t>▪ 看风速显示是否正常，确认气流向里</a:t>
            </a:r>
          </a:p>
          <a:p>
            <a:pPr>
              <a:spcAft>
                <a:spcPts val="1000"/>
              </a:spcAft>
            </a:pPr>
            <a:r>
              <a:rPr sz="1700">
                <a:solidFill>
                  <a:srgbClr val="222B33"/>
                </a:solidFill>
                <a:latin typeface="Microsoft YaHei"/>
              </a:rPr>
              <a:t>▪ 看检测标识是否在有效期内</a:t>
            </a:r>
          </a:p>
          <a:p>
            <a:pPr>
              <a:spcAft>
                <a:spcPts val="1000"/>
              </a:spcAft>
            </a:pPr>
            <a:r>
              <a:rPr sz="1700">
                <a:solidFill>
                  <a:srgbClr val="222B33"/>
                </a:solidFill>
                <a:latin typeface="Microsoft YaHei"/>
              </a:rPr>
              <a:t>▪ 视窗升降顺畅，柜内整洁</a:t>
            </a:r>
          </a:p>
          <a:p>
            <a:pPr>
              <a:spcAft>
                <a:spcPts val="1000"/>
              </a:spcAft>
            </a:pPr>
            <a:r>
              <a:rPr sz="1700">
                <a:solidFill>
                  <a:srgbClr val="222B33"/>
                </a:solidFill>
                <a:latin typeface="Microsoft YaHei"/>
              </a:rPr>
              <a:t>▪ 没气流或报警，不用，挂牌报修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使用前先打开风机，查看风速（风量）显示和指示灯是否正常；可在柜口拿一条纸巾或飘带，确认气流向柜内流动（纸条只能确认风机在抽风，不能判断风速是否合格）。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不开风机就开始倒试剂</a:t>
            </a:r>
          </a:p>
          <a:p>
            <a:pPr>
              <a:spcAft>
                <a:spcPts val="1000"/>
              </a:spcAft>
            </a:pPr>
            <a:r>
              <a:rPr sz="1500">
                <a:solidFill>
                  <a:srgbClr val="222B33"/>
                </a:solidFill>
                <a:latin typeface="Microsoft YaHei"/>
              </a:rPr>
              <a:t>▪ 不看检测标识和风速显示</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柜内操作也要穿戴防护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先读安全技术说明书，了解成分和危害</a:t>
            </a:r>
          </a:p>
          <a:p>
            <a:pPr>
              <a:spcAft>
                <a:spcPts val="1000"/>
              </a:spcAft>
            </a:pPr>
            <a:r>
              <a:rPr sz="2000">
                <a:solidFill>
                  <a:srgbClr val="222B33"/>
                </a:solidFill>
                <a:latin typeface="Microsoft YaHei"/>
              </a:rPr>
              <a:t>▪ 在通风柜里，护目镜、实验服、手套不能少</a:t>
            </a:r>
          </a:p>
          <a:p>
            <a:pPr>
              <a:spcAft>
                <a:spcPts val="1000"/>
              </a:spcAft>
            </a:pPr>
            <a:r>
              <a:rPr sz="2000">
                <a:solidFill>
                  <a:srgbClr val="222B33"/>
                </a:solidFill>
                <a:latin typeface="Microsoft YaHei"/>
              </a:rPr>
              <a:t>▪ 需要更多防护，就加上面屏等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通风柜只是工程控制措施之一，不能代替个人防护。操作前先阅读安全技术说明书，了解所用化学品的成分、危害和防护要求。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有视窗挡着就不戴护目镜</a:t>
            </a:r>
          </a:p>
          <a:p>
            <a:pPr>
              <a:spcAft>
                <a:spcPts val="1000"/>
              </a:spcAft>
            </a:pPr>
            <a:r>
              <a:rPr sz="1500">
                <a:solidFill>
                  <a:srgbClr val="222B33"/>
                </a:solidFill>
                <a:latin typeface="Microsoft YaHei"/>
              </a:rPr>
              <a:t>▪ 手套不按化学品性质选择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视窗拉到标线以下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操作时视窗下沿对准标定线或更低</a:t>
            </a:r>
          </a:p>
          <a:p>
            <a:pPr>
              <a:spcAft>
                <a:spcPts val="1000"/>
              </a:spcAft>
            </a:pPr>
            <a:r>
              <a:rPr sz="2000">
                <a:solidFill>
                  <a:srgbClr val="222B33"/>
                </a:solidFill>
                <a:latin typeface="Microsoft YaHei"/>
              </a:rPr>
              <a:t>▪ 开得太高，进风变慢，蒸气会扑到脸上</a:t>
            </a:r>
          </a:p>
          <a:p>
            <a:pPr>
              <a:spcAft>
                <a:spcPts val="1000"/>
              </a:spcAft>
            </a:pPr>
            <a:r>
              <a:rPr sz="2000">
                <a:solidFill>
                  <a:srgbClr val="222B33"/>
                </a:solidFill>
                <a:latin typeface="Microsoft YaHei"/>
              </a:rPr>
              <a:t>▪ 视窗挡在脸和化学品之间，还能挡飞溅</a:t>
            </a:r>
          </a:p>
          <a:p>
            <a:pPr>
              <a:spcAft>
                <a:spcPts val="1000"/>
              </a:spcAft>
            </a:pPr>
            <a:r>
              <a:rPr sz="2000">
                <a:solidFill>
                  <a:srgbClr val="222B33"/>
                </a:solidFill>
                <a:latin typeface="Microsoft YaHei"/>
              </a:rPr>
              <a:t>▪ 也不是越低越好，太低会起湍流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视窗推到顶方便操作</a:t>
            </a:r>
          </a:p>
          <a:p>
            <a:pPr>
              <a:spcAft>
                <a:spcPts val="1000"/>
              </a:spcAft>
            </a:pPr>
            <a:r>
              <a:rPr sz="1500">
                <a:solidFill>
                  <a:srgbClr val="222B33"/>
                </a:solidFill>
                <a:latin typeface="Microsoft YaHei"/>
              </a:rPr>
              <a:t>▪ 视窗下沿正对口鼻</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站着操作，头不伸进柜内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一般要站着操作</a:t>
            </a:r>
          </a:p>
          <a:p>
            <a:pPr>
              <a:spcAft>
                <a:spcPts val="1000"/>
              </a:spcAft>
            </a:pPr>
            <a:r>
              <a:rPr sz="1700">
                <a:solidFill>
                  <a:srgbClr val="222B33"/>
                </a:solidFill>
                <a:latin typeface="Microsoft YaHei"/>
              </a:rPr>
              <a:t>▪ 坐得太低，脸会到视窗下面</a:t>
            </a:r>
          </a:p>
          <a:p>
            <a:pPr>
              <a:spcAft>
                <a:spcPts val="1000"/>
              </a:spcAft>
            </a:pPr>
            <a:r>
              <a:rPr sz="1700">
                <a:solidFill>
                  <a:srgbClr val="222B33"/>
                </a:solidFill>
                <a:latin typeface="Microsoft YaHei"/>
              </a:rPr>
              <a:t>▪ 绝不把头伸进通风柜</a:t>
            </a:r>
          </a:p>
          <a:p>
            <a:pPr>
              <a:spcAft>
                <a:spcPts val="1000"/>
              </a:spcAft>
            </a:pPr>
            <a:r>
              <a:rPr sz="1700">
                <a:solidFill>
                  <a:srgbClr val="222B33"/>
                </a:solidFill>
                <a:latin typeface="Microsoft YaHei"/>
              </a:rPr>
              <a:t>▪ 要看清楚，就隔着玻璃看</a:t>
            </a:r>
          </a:p>
          <a:p>
            <a:pPr>
              <a:spcAft>
                <a:spcPts val="1000"/>
              </a:spcAft>
            </a:pPr>
            <a:r>
              <a:rPr sz="1700">
                <a:solidFill>
                  <a:srgbClr val="222B33"/>
                </a:solidFill>
                <a:latin typeface="Microsoft YaHei"/>
              </a:rPr>
              <a:t>▪ 柜内需要调整，找老师商量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使用通风柜一般要站着操作，身体在柜外，保持视窗挡在面部前方。坐得太低，脸就到了视窗下沿以下，失去视窗的保护。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探头进柜观察反应</a:t>
            </a:r>
          </a:p>
          <a:p>
            <a:pPr>
              <a:spcAft>
                <a:spcPts val="1000"/>
              </a:spcAft>
            </a:pPr>
            <a:r>
              <a:rPr sz="1500">
                <a:solidFill>
                  <a:srgbClr val="222B33"/>
                </a:solidFill>
                <a:latin typeface="Microsoft YaHei"/>
              </a:rPr>
              <a:t>▪ 坐在矮凳上，脸低于视窗下沿</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在柜内深处操作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越靠近柜口，越容易漏出来</a:t>
            </a:r>
          </a:p>
          <a:p>
            <a:pPr>
              <a:spcAft>
                <a:spcPts val="1000"/>
              </a:spcAft>
            </a:pPr>
            <a:r>
              <a:rPr sz="2000">
                <a:solidFill>
                  <a:srgbClr val="222B33"/>
                </a:solidFill>
                <a:latin typeface="Microsoft YaHei"/>
              </a:rPr>
              <a:t>▪ 器皿往里放，在柜内深处操作</a:t>
            </a:r>
          </a:p>
          <a:p>
            <a:pPr>
              <a:spcAft>
                <a:spcPts val="1000"/>
              </a:spcAft>
            </a:pPr>
            <a:r>
              <a:rPr sz="2000">
                <a:solidFill>
                  <a:srgbClr val="222B33"/>
                </a:solidFill>
                <a:latin typeface="Microsoft YaHei"/>
              </a:rPr>
              <a:t>▪ 柜口边上不放东西</a:t>
            </a:r>
          </a:p>
          <a:p>
            <a:pPr>
              <a:spcAft>
                <a:spcPts val="1000"/>
              </a:spcAft>
            </a:pPr>
            <a:r>
              <a:rPr sz="2000">
                <a:solidFill>
                  <a:srgbClr val="222B33"/>
                </a:solidFill>
                <a:latin typeface="Microsoft YaHei"/>
              </a:rPr>
              <a:t>▪ 距离按柜内标线和本校规定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柜口前沿附近的气流最弱、最容易受外界干扰，化学品越靠近柜口越容易漏出来；放在柜内深处，就能被完整地吸走。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贴着柜口前沿操作</a:t>
            </a:r>
          </a:p>
          <a:p>
            <a:pPr>
              <a:spcAft>
                <a:spcPts val="1000"/>
              </a:spcAft>
            </a:pPr>
            <a:r>
              <a:rPr sz="1500">
                <a:solidFill>
                  <a:srgbClr val="222B33"/>
                </a:solidFill>
                <a:latin typeface="Microsoft YaHei"/>
              </a:rPr>
              <a:t>▪ 把试剂瓶放在柜口边上</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动作轻缓，材料一次放齐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开工前，把所需材料一次放齐</a:t>
            </a:r>
          </a:p>
          <a:p>
            <a:pPr>
              <a:spcAft>
                <a:spcPts val="1000"/>
              </a:spcAft>
            </a:pPr>
            <a:r>
              <a:rPr sz="2000">
                <a:solidFill>
                  <a:srgbClr val="222B33"/>
                </a:solidFill>
                <a:latin typeface="Microsoft YaHei"/>
              </a:rPr>
              <a:t>▪ 视窗升降要慢</a:t>
            </a:r>
          </a:p>
          <a:p>
            <a:pPr>
              <a:spcAft>
                <a:spcPts val="1000"/>
              </a:spcAft>
            </a:pPr>
            <a:r>
              <a:rPr sz="2000">
                <a:solidFill>
                  <a:srgbClr val="222B33"/>
                </a:solidFill>
                <a:latin typeface="Microsoft YaHei"/>
              </a:rPr>
              <a:t>▪ 手臂慢慢、垂直于柜面抽出</a:t>
            </a:r>
          </a:p>
          <a:p>
            <a:pPr>
              <a:spcAft>
                <a:spcPts val="1000"/>
              </a:spcAft>
            </a:pPr>
            <a:r>
              <a:rPr sz="2000">
                <a:solidFill>
                  <a:srgbClr val="222B33"/>
                </a:solidFill>
                <a:latin typeface="Microsoft YaHei"/>
              </a:rPr>
              <a:t>▪ 在柜前动作稳、慢，不快速转身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通风柜的抽力其实并不大，柜前的快速动作很容易扰乱柜口气流。开工前把所需器材和试剂一次放进柜内，减少手臂进出。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操作中途反复伸手出柜取东西</a:t>
            </a:r>
          </a:p>
          <a:p>
            <a:pPr>
              <a:spcAft>
                <a:spcPts val="1000"/>
              </a:spcAft>
            </a:pPr>
            <a:r>
              <a:rPr sz="1500">
                <a:solidFill>
                  <a:srgbClr val="222B33"/>
                </a:solidFill>
                <a:latin typeface="Microsoft YaHei"/>
              </a:rPr>
              <a:t>▪ 猛地拉下视窗</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不堆放、不挡风口，不当储存柜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通风柜不是储存柜，不堆放化学品</a:t>
            </a:r>
          </a:p>
          <a:p>
            <a:pPr>
              <a:spcAft>
                <a:spcPts val="1000"/>
              </a:spcAft>
            </a:pPr>
            <a:r>
              <a:rPr sz="1700">
                <a:solidFill>
                  <a:srgbClr val="222B33"/>
                </a:solidFill>
                <a:latin typeface="Microsoft YaHei"/>
              </a:rPr>
              <a:t>▪ 堆满会挡住风口，吸力下降、气流紊乱</a:t>
            </a:r>
          </a:p>
          <a:p>
            <a:pPr>
              <a:spcAft>
                <a:spcPts val="1000"/>
              </a:spcAft>
            </a:pPr>
            <a:r>
              <a:rPr sz="1700">
                <a:solidFill>
                  <a:srgbClr val="222B33"/>
                </a:solidFill>
                <a:latin typeface="Microsoft YaHei"/>
              </a:rPr>
              <a:t>▪ 东西多了，溢洒着火事故更大</a:t>
            </a:r>
          </a:p>
          <a:p>
            <a:pPr>
              <a:spcAft>
                <a:spcPts val="1000"/>
              </a:spcAft>
            </a:pPr>
            <a:r>
              <a:rPr sz="1700">
                <a:solidFill>
                  <a:srgbClr val="222B33"/>
                </a:solidFill>
                <a:latin typeface="Microsoft YaHei"/>
              </a:rPr>
              <a:t>▪ 柜内只放这次实验要用的东西</a:t>
            </a:r>
          </a:p>
          <a:p>
            <a:pPr>
              <a:spcAft>
                <a:spcPts val="1000"/>
              </a:spcAft>
            </a:pPr>
            <a:r>
              <a:rPr sz="1700">
                <a:solidFill>
                  <a:srgbClr val="222B33"/>
                </a:solidFill>
                <a:latin typeface="Microsoft YaHei"/>
              </a:rPr>
              <a:t>▪ 大设备垫高，纸张别被吸进风管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把通风柜当作长期存放试剂的地方</a:t>
            </a:r>
          </a:p>
          <a:p>
            <a:pPr>
              <a:spcAft>
                <a:spcPts val="1000"/>
              </a:spcAft>
            </a:pPr>
            <a:r>
              <a:rPr sz="1500">
                <a:solidFill>
                  <a:srgbClr val="222B33"/>
                </a:solidFill>
                <a:latin typeface="Microsoft YaHei"/>
              </a:rPr>
              <a:t>▪ 后部排风缝被瓶子挡住</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易燃物远离热源，不敞放废液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柜里有易燃溶剂，热源要远离</a:t>
            </a:r>
          </a:p>
          <a:p>
            <a:pPr>
              <a:spcAft>
                <a:spcPts val="1000"/>
              </a:spcAft>
            </a:pPr>
            <a:r>
              <a:rPr sz="2000">
                <a:solidFill>
                  <a:srgbClr val="222B33"/>
                </a:solidFill>
                <a:latin typeface="Microsoft YaHei"/>
              </a:rPr>
              <a:t>▪ 不用明火，插头不在柜内插拔</a:t>
            </a:r>
          </a:p>
          <a:p>
            <a:pPr>
              <a:spcAft>
                <a:spcPts val="1000"/>
              </a:spcAft>
            </a:pPr>
            <a:r>
              <a:rPr sz="2000">
                <a:solidFill>
                  <a:srgbClr val="222B33"/>
                </a:solidFill>
                <a:latin typeface="Microsoft YaHei"/>
              </a:rPr>
              <a:t>▪ 废液不能敞着挥发，也不能倒进柜内水槽</a:t>
            </a:r>
          </a:p>
          <a:p>
            <a:pPr>
              <a:spcAft>
                <a:spcPts val="1000"/>
              </a:spcAft>
            </a:pPr>
            <a:r>
              <a:rPr sz="2000">
                <a:solidFill>
                  <a:srgbClr val="222B33"/>
                </a:solidFill>
                <a:latin typeface="Microsoft YaHei"/>
              </a:rPr>
              <a:t>▪ 废液分类收集，贴好标签盖紧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通风柜内有易燃溶剂时，加热板等热源要远离溶剂，不使用明火；电器插头不放在柜内插拔，插座宜在柜外，防止电火花点燃蒸气。溶剂用完马上盖好。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把废溶剂放在柜里“自然挥发”</a:t>
            </a:r>
          </a:p>
          <a:p>
            <a:pPr>
              <a:spcAft>
                <a:spcPts val="1000"/>
              </a:spcAft>
            </a:pPr>
            <a:r>
              <a:rPr sz="1500">
                <a:solidFill>
                  <a:srgbClr val="222B33"/>
                </a:solidFill>
                <a:latin typeface="Microsoft YaHei"/>
              </a:rPr>
              <a:t>▪ 在柜内插拔加热设备电源</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不擅自改动通风柜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不拆导流板、不堵排风口、不加风扇</a:t>
            </a:r>
          </a:p>
          <a:p>
            <a:pPr>
              <a:spcAft>
                <a:spcPts val="1000"/>
              </a:spcAft>
            </a:pPr>
            <a:r>
              <a:rPr sz="2000">
                <a:solidFill>
                  <a:srgbClr val="222B33"/>
                </a:solidFill>
                <a:latin typeface="Microsoft YaHei"/>
              </a:rPr>
              <a:t>▪ 防护罩、联锁装置不能随意拆</a:t>
            </a:r>
          </a:p>
          <a:p>
            <a:pPr>
              <a:spcAft>
                <a:spcPts val="1000"/>
              </a:spcAft>
            </a:pPr>
            <a:r>
              <a:rPr sz="2000">
                <a:solidFill>
                  <a:srgbClr val="222B33"/>
                </a:solidFill>
                <a:latin typeface="Microsoft YaHei"/>
              </a:rPr>
              <a:t>▪ 排风不对劲，报告设施人员检修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导流板、排风口、视窗、联锁装置和防护罩都是通风柜安全性能的一部分。使用者不得拆卸导流板、堵塞排风口、在柜口加装风扇，也不得随意拆除设备的防护罩和联锁装置。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嫌噪声大把排风口堵上</a:t>
            </a:r>
          </a:p>
          <a:p>
            <a:pPr>
              <a:spcAft>
                <a:spcPts val="1000"/>
              </a:spcAft>
            </a:pPr>
            <a:r>
              <a:rPr sz="1500">
                <a:solidFill>
                  <a:srgbClr val="222B33"/>
                </a:solidFill>
                <a:latin typeface="Microsoft YaHei"/>
              </a:rPr>
              <a:t>▪ 在柜口放电扇“加强通风”</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报警或停风：停、盖、关、撤、报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报警或停风时，有害物会跑出来</a:t>
            </a:r>
          </a:p>
          <a:p>
            <a:pPr>
              <a:spcAft>
                <a:spcPts val="1000"/>
              </a:spcAft>
            </a:pPr>
            <a:r>
              <a:rPr sz="1700">
                <a:solidFill>
                  <a:srgbClr val="222B33"/>
                </a:solidFill>
                <a:latin typeface="Microsoft YaHei"/>
              </a:rPr>
              <a:t>▪ 立即停止操作，盖好容器</a:t>
            </a:r>
          </a:p>
          <a:p>
            <a:pPr>
              <a:spcAft>
                <a:spcPts val="1000"/>
              </a:spcAft>
            </a:pPr>
            <a:r>
              <a:rPr sz="1700">
                <a:solidFill>
                  <a:srgbClr val="222B33"/>
                </a:solidFill>
                <a:latin typeface="Microsoft YaHei"/>
              </a:rPr>
              <a:t>▪ 关掉热源，拉下视窗</a:t>
            </a:r>
          </a:p>
          <a:p>
            <a:pPr>
              <a:spcAft>
                <a:spcPts val="1000"/>
              </a:spcAft>
            </a:pPr>
            <a:r>
              <a:rPr sz="1700">
                <a:solidFill>
                  <a:srgbClr val="222B33"/>
                </a:solidFill>
                <a:latin typeface="Microsoft YaHei"/>
              </a:rPr>
              <a:t>▪ 离开到安全处，立即报告</a:t>
            </a:r>
          </a:p>
          <a:p>
            <a:pPr>
              <a:spcAft>
                <a:spcPts val="1000"/>
              </a:spcAft>
            </a:pPr>
            <a:r>
              <a:rPr sz="1700">
                <a:solidFill>
                  <a:srgbClr val="222B33"/>
                </a:solidFill>
                <a:latin typeface="Microsoft YaHei"/>
              </a:rPr>
              <a:t>▪ 事先了解本单位应急预案，修好检测合格再用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停风后留在实验室里等</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用完清理，关闭视窗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做完实验，清空台面，擦干净</a:t>
            </a:r>
          </a:p>
          <a:p>
            <a:pPr>
              <a:spcAft>
                <a:spcPts val="1000"/>
              </a:spcAft>
            </a:pPr>
            <a:r>
              <a:rPr sz="2000">
                <a:solidFill>
                  <a:srgbClr val="222B33"/>
                </a:solidFill>
                <a:latin typeface="Microsoft YaHei"/>
              </a:rPr>
              <a:t>▪ 试剂归位，用不上的拿出来</a:t>
            </a:r>
          </a:p>
          <a:p>
            <a:pPr>
              <a:spcAft>
                <a:spcPts val="1000"/>
              </a:spcAft>
            </a:pPr>
            <a:r>
              <a:rPr sz="2000">
                <a:solidFill>
                  <a:srgbClr val="222B33"/>
                </a:solidFill>
                <a:latin typeface="Microsoft YaHei"/>
              </a:rPr>
              <a:t>▪ 不用时，把视窗关好</a:t>
            </a:r>
          </a:p>
          <a:p>
            <a:pPr>
              <a:spcAft>
                <a:spcPts val="1000"/>
              </a:spcAft>
            </a:pPr>
            <a:r>
              <a:rPr sz="2000">
                <a:solidFill>
                  <a:srgbClr val="222B33"/>
                </a:solidFill>
                <a:latin typeface="Microsoft YaHei"/>
              </a:rPr>
              <a:t>▪ 随手关窗，节能又安全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实验结束后，把用不上的器材和试剂拿出通风柜，试剂放回储存柜，擦净柜内台面，让下一位使用者面对的是干净的通风柜。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用完视窗敞着就离开</a:t>
            </a:r>
          </a:p>
          <a:p>
            <a:pPr>
              <a:spcAft>
                <a:spcPts val="1000"/>
              </a:spcAft>
            </a:pPr>
            <a:r>
              <a:rPr sz="1500">
                <a:solidFill>
                  <a:srgbClr val="222B33"/>
                </a:solidFill>
                <a:latin typeface="Microsoft YaHei"/>
              </a:rPr>
              <a:t>▪ 把用过的器皿留在柜里</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使用通风柜时，视窗的正确位置是：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推到顶，方便操作</a:t>
            </a:r>
          </a:p>
          <a:p>
            <a:pPr algn="l"/>
            <a:r>
              <a:rPr sz="1500" b="0">
                <a:solidFill>
                  <a:srgbClr val="222B33"/>
                </a:solidFill>
                <a:latin typeface="Microsoft YaHei"/>
              </a:rPr>
              <a:t>B. 下沿对准标定线或更低，挡在脸和化学品之间</a:t>
            </a:r>
          </a:p>
          <a:p>
            <a:pPr algn="l"/>
            <a:r>
              <a:rPr sz="1500" b="0">
                <a:solidFill>
                  <a:srgbClr val="222B33"/>
                </a:solidFill>
                <a:latin typeface="Microsoft YaHei"/>
              </a:rPr>
              <a:t>C. 下沿与口鼻齐平</a:t>
            </a:r>
          </a:p>
          <a:p>
            <a:pPr algn="l"/>
            <a:r>
              <a:rPr sz="1500" b="0">
                <a:solidFill>
                  <a:srgbClr val="222B33"/>
                </a:solidFill>
                <a:latin typeface="Microsoft YaHei"/>
              </a:rPr>
              <a:t>D. 完全关闭后再把手伸进去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判断：通风柜排风很好，可以把常用的试剂长期放在柜里。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探头进柜看反应</a:t>
            </a:r>
          </a:p>
          <a:p>
            <a:pPr algn="l"/>
            <a:r>
              <a:rPr sz="1500" b="0">
                <a:solidFill>
                  <a:srgbClr val="222B33"/>
                </a:solidFill>
                <a:latin typeface="Microsoft YaHei"/>
              </a:rPr>
              <a:t>B. 在柜口前沿倾倒试剂</a:t>
            </a:r>
          </a:p>
          <a:p>
            <a:pPr algn="l"/>
            <a:r>
              <a:rPr sz="1500" b="0">
                <a:solidFill>
                  <a:srgbClr val="222B33"/>
                </a:solidFill>
                <a:latin typeface="Microsoft YaHei"/>
              </a:rPr>
              <a:t>C. 器皿放在柜内深处，手臂慢慢垂直抽出</a:t>
            </a:r>
          </a:p>
          <a:p>
            <a:pPr algn="l"/>
            <a:r>
              <a:rPr sz="1500" b="0">
                <a:solidFill>
                  <a:srgbClr val="222B33"/>
                </a:solidFill>
                <a:latin typeface="Microsoft YaHei"/>
              </a:rPr>
              <a:t>D. 把废溶剂敞口放在柜里挥发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正在通风柜里加热溶剂时风量报警器响了，首先应该：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a:t>
            </a:r>
          </a:p>
          <a:p>
            <a:pPr algn="l"/>
            <a:r>
              <a:rPr sz="1500" b="0">
                <a:solidFill>
                  <a:srgbClr val="222B33"/>
                </a:solidFill>
                <a:latin typeface="Microsoft YaHei"/>
              </a:rPr>
              <a:t>B. 把视窗推高加大通风</a:t>
            </a:r>
          </a:p>
          <a:p>
            <a:pPr algn="l"/>
            <a:r>
              <a:rPr sz="1500" b="0">
                <a:solidFill>
                  <a:srgbClr val="222B33"/>
                </a:solidFill>
                <a:latin typeface="Microsoft YaHei"/>
              </a:rPr>
              <a:t>C. 停止操作、盖好容器、关掉热源、拉下视窗，离开并报告</a:t>
            </a:r>
          </a:p>
          <a:p>
            <a:pPr algn="l"/>
            <a:r>
              <a:rPr sz="1500" b="0">
                <a:solidFill>
                  <a:srgbClr val="222B33"/>
                </a:solidFill>
                <a:latin typeface="Microsoft YaHei"/>
              </a:rPr>
              <a:t>D. 打开电扇对着柜口吹</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简答：使用通风柜前应检查哪些内容？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装好只是一半，用对才完整</a:t>
            </a:r>
          </a:p>
          <a:p>
            <a:pPr>
              <a:spcAft>
                <a:spcPts val="800"/>
              </a:spcAft>
            </a:pPr>
            <a:r>
              <a:rPr sz="1500">
                <a:solidFill>
                  <a:srgbClr val="FFFFFF"/>
                </a:solidFill>
                <a:latin typeface="Microsoft YaHei"/>
              </a:rPr>
              <a:t>▪ K2  有害、挥发、易燃加热的操作进柜做</a:t>
            </a:r>
          </a:p>
          <a:p>
            <a:pPr>
              <a:spcAft>
                <a:spcPts val="800"/>
              </a:spcAft>
            </a:pPr>
            <a:r>
              <a:rPr sz="1500">
                <a:solidFill>
                  <a:srgbClr val="FFFFFF"/>
                </a:solidFill>
                <a:latin typeface="Microsoft YaHei"/>
              </a:rPr>
              <a:t>▪ K3  用前自检：开风机、看气流、看标识</a:t>
            </a:r>
          </a:p>
          <a:p>
            <a:pPr>
              <a:spcAft>
                <a:spcPts val="800"/>
              </a:spcAft>
            </a:pPr>
            <a:r>
              <a:rPr sz="1500">
                <a:solidFill>
                  <a:srgbClr val="FFFFFF"/>
                </a:solidFill>
                <a:latin typeface="Microsoft YaHei"/>
              </a:rPr>
              <a:t>▪ K4  柜内操作也要穿戴防护</a:t>
            </a:r>
          </a:p>
          <a:p>
            <a:pPr>
              <a:spcAft>
                <a:spcPts val="800"/>
              </a:spcAft>
            </a:pPr>
            <a:r>
              <a:rPr sz="1500">
                <a:solidFill>
                  <a:srgbClr val="FFFFFF"/>
                </a:solidFill>
                <a:latin typeface="Microsoft YaHei"/>
              </a:rPr>
              <a:t>▪ K5  视窗拉到标线以下</a:t>
            </a:r>
          </a:p>
          <a:p>
            <a:pPr>
              <a:spcAft>
                <a:spcPts val="800"/>
              </a:spcAft>
            </a:pPr>
            <a:r>
              <a:rPr sz="1500">
                <a:solidFill>
                  <a:srgbClr val="FFFFFF"/>
                </a:solidFill>
                <a:latin typeface="Microsoft YaHei"/>
              </a:rPr>
              <a:t>▪ K6  站着操作，头不伸进柜内</a:t>
            </a:r>
          </a:p>
          <a:p>
            <a:pPr>
              <a:spcAft>
                <a:spcPts val="800"/>
              </a:spcAft>
            </a:pPr>
            <a:r>
              <a:rPr sz="1500">
                <a:solidFill>
                  <a:srgbClr val="FFFFFF"/>
                </a:solidFill>
                <a:latin typeface="Microsoft YaHei"/>
              </a:rPr>
              <a:t>▪ K7  在柜内深处操作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动作轻缓，材料一次放齐</a:t>
            </a:r>
          </a:p>
          <a:p>
            <a:pPr>
              <a:spcAft>
                <a:spcPts val="800"/>
              </a:spcAft>
            </a:pPr>
            <a:r>
              <a:rPr sz="1500">
                <a:solidFill>
                  <a:srgbClr val="FFFFFF"/>
                </a:solidFill>
                <a:latin typeface="Microsoft YaHei"/>
              </a:rPr>
              <a:t>▪ K9  不堆放、不挡风口，不当储存柜</a:t>
            </a:r>
          </a:p>
          <a:p>
            <a:pPr>
              <a:spcAft>
                <a:spcPts val="800"/>
              </a:spcAft>
            </a:pPr>
            <a:r>
              <a:rPr sz="1500">
                <a:solidFill>
                  <a:srgbClr val="FFFFFF"/>
                </a:solidFill>
                <a:latin typeface="Microsoft YaHei"/>
              </a:rPr>
              <a:t>▪ K10  易燃物远离热源，不敞放废液</a:t>
            </a:r>
          </a:p>
          <a:p>
            <a:pPr>
              <a:spcAft>
                <a:spcPts val="800"/>
              </a:spcAft>
            </a:pPr>
            <a:r>
              <a:rPr sz="1500">
                <a:solidFill>
                  <a:srgbClr val="FFFFFF"/>
                </a:solidFill>
                <a:latin typeface="Microsoft YaHei"/>
              </a:rPr>
              <a:t>▪ K11  不擅自改动通风柜</a:t>
            </a:r>
          </a:p>
          <a:p>
            <a:pPr>
              <a:spcAft>
                <a:spcPts val="800"/>
              </a:spcAft>
            </a:pPr>
            <a:r>
              <a:rPr sz="1500">
                <a:solidFill>
                  <a:srgbClr val="FFFFFF"/>
                </a:solidFill>
                <a:latin typeface="Microsoft YaHei"/>
              </a:rPr>
              <a:t>▪ K12  报警或停风：停、盖、关、撤、报</a:t>
            </a:r>
          </a:p>
          <a:p>
            <a:pPr>
              <a:spcAft>
                <a:spcPts val="800"/>
              </a:spcAft>
            </a:pPr>
            <a:r>
              <a:rPr sz="1500">
                <a:solidFill>
                  <a:srgbClr val="FFFFFF"/>
                </a:solidFill>
                <a:latin typeface="Microsoft YaHei"/>
              </a:rPr>
              <a:t>▪ K13  用完清理，关闭视窗</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实验室废物分类与收集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适用对象：全体在实验室产生废物的高校本科生、研究生和教职工（必修，进入实验室前完成）；化学、化工、材料、环境、医学、生命科学等专业重点学习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能说出实验室废物的主要类别（化学、生物、放射性、锐器、电子废物、一般废物），以及“分好、标好、存好、送走”的管理链条。</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能做到动手前规划废物处置、从源头减量，废液一律收集、不倒入下水道、不靠挥发处理。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能判断废液能否混装：按性质分类收集，不相容不混装，含卤、含重金属废液单独收集，倒前先看标签并记录。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能做到选用相容容器、放防漏托盘、不装满、标签写全、随手盖紧；空容器、沾污固体、废电池和电子废件按规定回收，废液桶异常时停加、远离、报告。</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《中华人民共和国固体废物污染环境防治法》（以现行文本为准）：产生危险废物的单位按规定分类收集、贮存，交有相应资质的单位利用处置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日起施行）及《危险化学品安全管理条例》（以现行文本为准）：废弃危险化学品的处置依照生态环境保护法律法规执行</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《国家危险废物名录》（以现行版本为准）：实验室废液、沾染危险化学品的包装物和固体废物按危险废物管理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《中华人民共和国水污染防治法》（以现行文本为准）：禁止向水体和下水道排放有毒有害废液</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号，以现行文本为准）及高校实验室安全检查项目表：实验室废弃物分类收集、规范标识、不得倒入下水道</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18597-2023（以现行文本为准）《危险废物贮存污染控制标准》：容器材质与废物相容、不相容废物不混装、容器加盖和标识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《废弃电器电子产品回收处理管理条例》（以现行文本为准）：废弃电器电子产品交规范渠道回收处理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本校实验室废物管理规定：分类类别、标签式样、收集与交接流程以本校规定为准</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废物管理是实验安全的一环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实验总会产生废物，管理是安全的一环</a:t>
            </a:r>
          </a:p>
          <a:p>
            <a:pPr>
              <a:spcAft>
                <a:spcPts val="1000"/>
              </a:spcAft>
            </a:pPr>
            <a:r>
              <a:rPr sz="2000">
                <a:solidFill>
                  <a:srgbClr val="222B33"/>
                </a:solidFill>
                <a:latin typeface="Microsoft YaHei"/>
              </a:rPr>
              <a:t>▪ 分好、标好、存好、送走，一步不能少</a:t>
            </a:r>
          </a:p>
          <a:p>
            <a:pPr>
              <a:spcAft>
                <a:spcPts val="1000"/>
              </a:spcAft>
            </a:pPr>
            <a:r>
              <a:rPr sz="2000">
                <a:solidFill>
                  <a:srgbClr val="222B33"/>
                </a:solidFill>
                <a:latin typeface="Microsoft YaHei"/>
              </a:rPr>
              <a:t>▪ 管不好会引发火灾，实验全部停摆</a:t>
            </a:r>
          </a:p>
          <a:p>
            <a:pPr>
              <a:spcAft>
                <a:spcPts val="1000"/>
              </a:spcAft>
            </a:pPr>
            <a:r>
              <a:rPr sz="2000">
                <a:solidFill>
                  <a:srgbClr val="222B33"/>
                </a:solidFill>
                <a:latin typeface="Microsoft YaHei"/>
              </a:rPr>
              <a:t>▪ 处置出错危害健康和环境，单位担法律责任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任何实验都会产生废物。废物管理看起来不起眼，却是实验室安全的重要一环：从产生的那一刻起，废物就要分好类、标识清楚、规范存放，直到交学校统一送有资质的单位处置，中间一步都不能少。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认为废物“倒掉就完事”，与安全无关</a:t>
            </a:r>
          </a:p>
          <a:p>
            <a:pPr>
              <a:spcAft>
                <a:spcPts val="1000"/>
              </a:spcAft>
            </a:pPr>
            <a:r>
              <a:rPr sz="1500">
                <a:solidFill>
                  <a:srgbClr val="222B33"/>
                </a:solidFill>
                <a:latin typeface="Microsoft YaHei"/>
              </a:rPr>
              <a:t>▪ 只管做实验，不管实验后的废物</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动手之前，先想好废物怎么处置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用一种化学品之前，先想好怎么处置</a:t>
            </a:r>
          </a:p>
          <a:p>
            <a:pPr>
              <a:spcAft>
                <a:spcPts val="1000"/>
              </a:spcAft>
            </a:pPr>
            <a:r>
              <a:rPr sz="2000">
                <a:solidFill>
                  <a:srgbClr val="222B33"/>
                </a:solidFill>
                <a:latin typeface="Microsoft YaHei"/>
              </a:rPr>
              <a:t>▪ 查安全技术说明书的废弃处置部分</a:t>
            </a:r>
          </a:p>
          <a:p>
            <a:pPr>
              <a:spcAft>
                <a:spcPts val="1000"/>
              </a:spcAft>
            </a:pPr>
            <a:r>
              <a:rPr sz="2000">
                <a:solidFill>
                  <a:srgbClr val="222B33"/>
                </a:solidFill>
                <a:latin typeface="Microsoft YaHei"/>
              </a:rPr>
              <a:t>▪ 按实验室和本校的书面规定执行</a:t>
            </a:r>
          </a:p>
          <a:p>
            <a:pPr>
              <a:spcAft>
                <a:spcPts val="1000"/>
              </a:spcAft>
            </a:pPr>
            <a:r>
              <a:rPr sz="2000">
                <a:solidFill>
                  <a:srgbClr val="222B33"/>
                </a:solidFill>
                <a:latin typeface="Microsoft YaHei"/>
              </a:rPr>
              <a:t>▪ 拿不准，就问导师和安全管理员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废物处置要在实验开始之前就规划好，而不是做完才想。使用一种化学品之前，先弄清楚它和产物会形成什么废物、归哪一类、放进哪个容器、谁来收运。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实验做完才发现不知道废物放哪</a:t>
            </a:r>
          </a:p>
          <a:p>
            <a:pPr>
              <a:spcAft>
                <a:spcPts val="1000"/>
              </a:spcAft>
            </a:pPr>
            <a:r>
              <a:rPr sz="1500">
                <a:solidFill>
                  <a:srgbClr val="222B33"/>
                </a:solidFill>
                <a:latin typeface="Microsoft YaHei"/>
              </a:rPr>
              <a:t>▪ 凭经验判断能不能倒，不查说明书和规定</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实验室废物分几类，分开收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化学、生物、放射性、锐器、电子废物分开收</a:t>
            </a:r>
          </a:p>
          <a:p>
            <a:pPr>
              <a:spcAft>
                <a:spcPts val="1000"/>
              </a:spcAft>
            </a:pPr>
            <a:r>
              <a:rPr sz="2000">
                <a:solidFill>
                  <a:srgbClr val="222B33"/>
                </a:solidFill>
                <a:latin typeface="Microsoft YaHei"/>
              </a:rPr>
              <a:t>▪ 一般生活垃圾单独放，不和危废混</a:t>
            </a:r>
          </a:p>
          <a:p>
            <a:pPr>
              <a:spcAft>
                <a:spcPts val="1000"/>
              </a:spcAft>
            </a:pPr>
            <a:r>
              <a:rPr sz="2000">
                <a:solidFill>
                  <a:srgbClr val="222B33"/>
                </a:solidFill>
                <a:latin typeface="Microsoft YaHei"/>
              </a:rPr>
              <a:t>▪ 沾化学品和沾生物样品的分开收</a:t>
            </a:r>
          </a:p>
          <a:p>
            <a:pPr>
              <a:spcAft>
                <a:spcPts val="1000"/>
              </a:spcAft>
            </a:pPr>
            <a:r>
              <a:rPr sz="2000">
                <a:solidFill>
                  <a:srgbClr val="222B33"/>
                </a:solidFill>
                <a:latin typeface="Microsoft YaHei"/>
              </a:rPr>
              <a:t>▪ 生物废物先灭活，按专门要求处置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实验室废物一般分为：化学废物（废液、废固、沾染化学品的包装和耗材）、生物废物（培养物、样本、沾染生物材料的耗材，见第 077 课）、放射性废物（见第 091 课）、锐器（针头、刀片、碎玻璃，见第 029 课）、电子废……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沾化学品的手套、纸巾扔进生活垃圾桶</a:t>
            </a:r>
          </a:p>
          <a:p>
            <a:pPr>
              <a:spcAft>
                <a:spcPts val="1000"/>
              </a:spcAft>
            </a:pPr>
            <a:r>
              <a:rPr sz="1500">
                <a:solidFill>
                  <a:srgbClr val="222B33"/>
                </a:solidFill>
                <a:latin typeface="Microsoft YaHei"/>
              </a:rPr>
              <a:t>▪ 化学废物和生物废物混在一个容器</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从源头减量，剩余试剂别浪费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废物管理先从减量做起，按需领用</a:t>
            </a:r>
          </a:p>
          <a:p>
            <a:pPr>
              <a:spcAft>
                <a:spcPts val="1000"/>
              </a:spcAft>
            </a:pPr>
            <a:r>
              <a:rPr sz="2000">
                <a:solidFill>
                  <a:srgbClr val="222B33"/>
                </a:solidFill>
                <a:latin typeface="Microsoft YaHei"/>
              </a:rPr>
              <a:t>▪ 减量、再利用、再循环</a:t>
            </a:r>
          </a:p>
          <a:p>
            <a:pPr>
              <a:spcAft>
                <a:spcPts val="1000"/>
              </a:spcAft>
            </a:pPr>
            <a:r>
              <a:rPr sz="2000">
                <a:solidFill>
                  <a:srgbClr val="222B33"/>
                </a:solidFill>
                <a:latin typeface="Microsoft YaHei"/>
              </a:rPr>
              <a:t>▪ 剩余溶液可分给需要的人，没人要再入桶</a:t>
            </a:r>
          </a:p>
          <a:p>
            <a:pPr>
              <a:spcAft>
                <a:spcPts val="1000"/>
              </a:spcAft>
            </a:pPr>
            <a:r>
              <a:rPr sz="2000">
                <a:solidFill>
                  <a:srgbClr val="222B33"/>
                </a:solidFill>
                <a:latin typeface="Microsoft YaHei"/>
              </a:rPr>
              <a:t>▪ 后面还要用的试剂，别误当废物丢掉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最好的废物管理是少产生废物。实验室从按需领用、减少用量做起，遵循“减量、再利用、再循环”的思路（绿色实验室理念见第 055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一次领取大量试剂，用不完变成废物</a:t>
            </a:r>
          </a:p>
          <a:p>
            <a:pPr>
              <a:spcAft>
                <a:spcPts val="1000"/>
              </a:spcAft>
            </a:pPr>
            <a:r>
              <a:rPr sz="1500">
                <a:solidFill>
                  <a:srgbClr val="222B33"/>
                </a:solidFill>
                <a:latin typeface="Microsoft YaHei"/>
              </a:rPr>
              <a:t>▪ 把后续还要用的溶液当废液倒掉</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下水道不是废液桶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危险废液严禁倒进水槽和下水道</a:t>
            </a:r>
          </a:p>
          <a:p>
            <a:pPr>
              <a:spcAft>
                <a:spcPts val="1000"/>
              </a:spcAft>
            </a:pPr>
            <a:r>
              <a:rPr sz="2000">
                <a:solidFill>
                  <a:srgbClr val="222B33"/>
                </a:solidFill>
                <a:latin typeface="Microsoft YaHei"/>
              </a:rPr>
              <a:t>▪ 易燃废液在管道里积蒸气，会起火爆炸</a:t>
            </a:r>
          </a:p>
          <a:p>
            <a:pPr>
              <a:spcAft>
                <a:spcPts val="1000"/>
              </a:spcAft>
            </a:pPr>
            <a:r>
              <a:rPr sz="2000">
                <a:solidFill>
                  <a:srgbClr val="222B33"/>
                </a:solidFill>
                <a:latin typeface="Microsoft YaHei"/>
              </a:rPr>
              <a:t>▪ 会腐蚀管道、污染水体，污水厂处理不了</a:t>
            </a:r>
          </a:p>
          <a:p>
            <a:pPr>
              <a:spcAft>
                <a:spcPts val="1000"/>
              </a:spcAft>
            </a:pPr>
            <a:r>
              <a:rPr sz="2000">
                <a:solidFill>
                  <a:srgbClr val="222B33"/>
                </a:solidFill>
                <a:latin typeface="Microsoft YaHei"/>
              </a:rPr>
              <a:t>▪ 稀释过的酸碱、醛类和灭菌剂废液也收集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下水道处理不了实验室化学品。易燃废液倒进去，蒸气会在管道里积聚，遇火源可能起火爆炸；酸碱和腐蚀性废液会腐蚀管道；有毒物质进入污水系统，污水处理厂处理不了，会污染水源和环境。倒错一次，后果就可能无法挽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少量废液随手倒进水槽</a:t>
            </a:r>
          </a:p>
          <a:p>
            <a:pPr>
              <a:spcAft>
                <a:spcPts val="1000"/>
              </a:spcAft>
            </a:pPr>
            <a:r>
              <a:rPr sz="1500">
                <a:solidFill>
                  <a:srgbClr val="222B33"/>
                </a:solidFill>
                <a:latin typeface="Microsoft YaHei"/>
              </a:rPr>
              <a:t>▪ 认为稀释后就可以冲下水道</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按性质分类收集，不相容不混装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不相容的废液混在一起，会出大事</a:t>
            </a:r>
          </a:p>
          <a:p>
            <a:pPr>
              <a:spcAft>
                <a:spcPts val="1000"/>
              </a:spcAft>
            </a:pPr>
            <a:r>
              <a:rPr sz="2000">
                <a:solidFill>
                  <a:srgbClr val="222B33"/>
                </a:solidFill>
                <a:latin typeface="Microsoft YaHei"/>
              </a:rPr>
              <a:t>▪ 酸碱混合放热沸溢，氧化剂遇易燃物起火</a:t>
            </a:r>
          </a:p>
          <a:p>
            <a:pPr>
              <a:spcAft>
                <a:spcPts val="1000"/>
              </a:spcAft>
            </a:pPr>
            <a:r>
              <a:rPr sz="2000">
                <a:solidFill>
                  <a:srgbClr val="222B33"/>
                </a:solidFill>
                <a:latin typeface="Microsoft YaHei"/>
              </a:rPr>
              <a:t>▪ 多数废物事故，都是混错了</a:t>
            </a:r>
          </a:p>
          <a:p>
            <a:pPr>
              <a:spcAft>
                <a:spcPts val="1000"/>
              </a:spcAft>
            </a:pPr>
            <a:r>
              <a:rPr sz="2000">
                <a:solidFill>
                  <a:srgbClr val="222B33"/>
                </a:solidFill>
                <a:latin typeface="Microsoft YaHei"/>
              </a:rPr>
              <a:t>▪ 按性质分开收，混装风险高、处置也贵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按性质分类收集，相互会反应的绝不能混在一个桶里。不相容的废液混合，可能放出有毒气体（如酸与含氰废液）、剧烈放热沸溢（如浓酸与浓碱）、着火（如氧化剂与易燃有机物），有的组合还会爆炸。多数实验室废物事故，都源于混错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为省事把各种废液倒进同一个桶</a:t>
            </a:r>
          </a:p>
          <a:p>
            <a:pPr>
              <a:spcAft>
                <a:spcPts val="1000"/>
              </a:spcAft>
            </a:pPr>
            <a:r>
              <a:rPr sz="1500">
                <a:solidFill>
                  <a:srgbClr val="222B33"/>
                </a:solidFill>
                <a:latin typeface="Microsoft YaHei"/>
              </a:rPr>
              <a:t>▪ 不知道桶里装的是什么就往里倒</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实验各环节的废液都要收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洗器皿前，残液先倒进废液桶</a:t>
            </a:r>
          </a:p>
          <a:p>
            <a:pPr>
              <a:spcAft>
                <a:spcPts val="1000"/>
              </a:spcAft>
            </a:pPr>
            <a:r>
              <a:rPr sz="2000">
                <a:solidFill>
                  <a:srgbClr val="222B33"/>
                </a:solidFill>
                <a:latin typeface="Microsoft YaHei"/>
              </a:rPr>
              <a:t>▪ 母液、滤液、馏出液、洗涤液都要收集</a:t>
            </a:r>
          </a:p>
          <a:p>
            <a:pPr>
              <a:spcAft>
                <a:spcPts val="1000"/>
              </a:spcAft>
            </a:pPr>
            <a:r>
              <a:rPr sz="2000">
                <a:solidFill>
                  <a:srgbClr val="222B33"/>
                </a:solidFill>
                <a:latin typeface="Microsoft YaHei"/>
              </a:rPr>
              <a:t>▪ 滴定废液、电极旧保存液也要收集</a:t>
            </a:r>
          </a:p>
          <a:p>
            <a:pPr>
              <a:spcAft>
                <a:spcPts val="1000"/>
              </a:spcAft>
            </a:pPr>
            <a:r>
              <a:rPr sz="2000">
                <a:solidFill>
                  <a:srgbClr val="222B33"/>
                </a:solidFill>
                <a:latin typeface="Microsoft YaHei"/>
              </a:rPr>
              <a:t>▪ 冲洗溶剂也收，边做边清理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废液不只是反应结束时剩下的那一瓶。过滤的滤液、重结晶的母液、蒸馏的馏出液和残液、各种洗涤液和冲洗溶剂、滴定剩余的酸碱、pH 电极排出的内充液和旧保存液、移液剩余的溶液，都要按类别倒进对应的废液容器，不随手倒进水槽。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洗涤液、冲洗液直接倒进水槽</a:t>
            </a:r>
          </a:p>
          <a:p>
            <a:pPr>
              <a:spcAft>
                <a:spcPts val="1000"/>
              </a:spcAft>
            </a:pPr>
            <a:r>
              <a:rPr sz="1500">
                <a:solidFill>
                  <a:srgbClr val="222B33"/>
                </a:solidFill>
                <a:latin typeface="Microsoft YaHei"/>
              </a:rPr>
              <a:t>▪ 废液先放在烧杯里，攒到最后一起处理</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含卤、含重金属的废液单独收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含卤和不含卤的有机废液分开收集</a:t>
            </a:r>
          </a:p>
          <a:p>
            <a:pPr>
              <a:spcAft>
                <a:spcPts val="1000"/>
              </a:spcAft>
            </a:pPr>
            <a:r>
              <a:rPr sz="2000">
                <a:solidFill>
                  <a:srgbClr val="222B33"/>
                </a:solidFill>
                <a:latin typeface="Microsoft YaHei"/>
              </a:rPr>
              <a:t>▪ 萃取后的有机相和水相分开收集</a:t>
            </a:r>
          </a:p>
          <a:p>
            <a:pPr>
              <a:spcAft>
                <a:spcPts val="1000"/>
              </a:spcAft>
            </a:pPr>
            <a:r>
              <a:rPr sz="2000">
                <a:solidFill>
                  <a:srgbClr val="222B33"/>
                </a:solidFill>
                <a:latin typeface="Microsoft YaHei"/>
              </a:rPr>
              <a:t>▪ 含铬、含汞等重金属废液单独收集</a:t>
            </a:r>
          </a:p>
          <a:p>
            <a:pPr>
              <a:spcAft>
                <a:spcPts val="1000"/>
              </a:spcAft>
            </a:pPr>
            <a:r>
              <a:rPr sz="2000">
                <a:solidFill>
                  <a:srgbClr val="222B33"/>
                </a:solidFill>
                <a:latin typeface="Microsoft YaHei"/>
              </a:rPr>
              <a:t>▪ 含金属的残渣单独收，混合污染的先问清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废液通常要区分含卤（如二氯甲烷、氯仿）和不含卤两类，分开收集；萃取后剩下的有机相和水相也分开，洗下来的水层同样按本校规定收集，不倒水槽。二氯甲烷等含卤溶剂有毒，倒废液时不吸入蒸气，桶口不敞开（重点毒害品见第 04……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含卤溶剂倒进不含卤的有机废液桶</a:t>
            </a:r>
          </a:p>
          <a:p>
            <a:pPr>
              <a:spcAft>
                <a:spcPts val="1000"/>
              </a:spcAft>
            </a:pPr>
            <a:r>
              <a:rPr sz="1500">
                <a:solidFill>
                  <a:srgbClr val="222B33"/>
                </a:solidFill>
                <a:latin typeface="Microsoft YaHei"/>
              </a:rPr>
              <a:t>▪ 含重金属的废液与普通废液混装</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每次倒之前，先看标签再记录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倒错一次，几小时后也可能起火</a:t>
            </a:r>
          </a:p>
          <a:p>
            <a:pPr>
              <a:spcAft>
                <a:spcPts val="1000"/>
              </a:spcAft>
            </a:pPr>
            <a:r>
              <a:rPr sz="2000">
                <a:solidFill>
                  <a:srgbClr val="222B33"/>
                </a:solidFill>
                <a:latin typeface="Microsoft YaHei"/>
              </a:rPr>
              <a:t>▪ 标签没错，事故常因为没人看</a:t>
            </a:r>
          </a:p>
          <a:p>
            <a:pPr>
              <a:spcAft>
                <a:spcPts val="1000"/>
              </a:spcAft>
            </a:pPr>
            <a:r>
              <a:rPr sz="2000">
                <a:solidFill>
                  <a:srgbClr val="222B33"/>
                </a:solidFill>
                <a:latin typeface="Microsoft YaHei"/>
              </a:rPr>
              <a:t>▪ 每次倒之前，都读一遍标签、查相容</a:t>
            </a:r>
          </a:p>
          <a:p>
            <a:pPr>
              <a:spcAft>
                <a:spcPts val="1000"/>
              </a:spcAft>
            </a:pPr>
            <a:r>
              <a:rPr sz="2000">
                <a:solidFill>
                  <a:srgbClr val="222B33"/>
                </a:solidFill>
                <a:latin typeface="Microsoft YaHei"/>
              </a:rPr>
              <a:t>▪ 倒了什么、多少，马上记在桶上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原片举过一个例子：有人把少量硝酸倒进了有机溶剂废液桶，桶慢慢发热，几小时后起火。桶上的标签写得没错，只是倒的人没有看。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不看标签，凭印象倒</a:t>
            </a:r>
          </a:p>
          <a:p>
            <a:pPr>
              <a:spcAft>
                <a:spcPts val="1000"/>
              </a:spcAft>
            </a:pPr>
            <a:r>
              <a:rPr sz="1500">
                <a:solidFill>
                  <a:srgbClr val="222B33"/>
                </a:solidFill>
                <a:latin typeface="Microsoft YaHei"/>
              </a:rPr>
              <a:t>▪ 倒了不记录，桶里成分说不清</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容器相容耐腐蚀，放托盘、不装满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用耐化学品的塑料或金属容器，材质与废液相容</a:t>
            </a:r>
          </a:p>
          <a:p>
            <a:pPr>
              <a:spcAft>
                <a:spcPts val="1000"/>
              </a:spcAft>
            </a:pPr>
            <a:r>
              <a:rPr sz="2000">
                <a:solidFill>
                  <a:srgbClr val="222B33"/>
                </a:solidFill>
                <a:latin typeface="Microsoft YaHei"/>
              </a:rPr>
              <a:t>▪ 废液桶放进防漏托盘</a:t>
            </a:r>
          </a:p>
          <a:p>
            <a:pPr>
              <a:spcAft>
                <a:spcPts val="1000"/>
              </a:spcAft>
            </a:pPr>
            <a:r>
              <a:rPr sz="2000">
                <a:solidFill>
                  <a:srgbClr val="222B33"/>
                </a:solidFill>
                <a:latin typeface="Microsoft YaHei"/>
              </a:rPr>
              <a:t>▪ 不要装太满，留出空间</a:t>
            </a:r>
          </a:p>
          <a:p>
            <a:pPr>
              <a:spcAft>
                <a:spcPts val="1000"/>
              </a:spcAft>
            </a:pPr>
            <a:r>
              <a:rPr sz="2000">
                <a:solidFill>
                  <a:srgbClr val="222B33"/>
                </a:solidFill>
                <a:latin typeface="Microsoft YaHei"/>
              </a:rPr>
              <a:t>▪ 远离热源和火源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废液容器要耐化学品腐蚀，材质与所装废液相容（GB 18597-2023，以现行文本为准），例如腐蚀性废液不用会被腐蚀的容器。容器要完好、不渗漏，盖子能盖紧。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用饮料瓶等不合适的容器装废液</a:t>
            </a:r>
          </a:p>
          <a:p>
            <a:pPr>
              <a:spcAft>
                <a:spcPts val="1000"/>
              </a:spcAft>
            </a:pPr>
            <a:r>
              <a:rPr sz="1500">
                <a:solidFill>
                  <a:srgbClr val="222B33"/>
                </a:solidFill>
                <a:latin typeface="Microsoft YaHei"/>
              </a:rPr>
              <a:t>▪ 废液桶装到瓶口，直接放在地上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标签写全，随手盖紧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容器不能没有标签，标签要一看就懂</a:t>
            </a:r>
          </a:p>
          <a:p>
            <a:pPr>
              <a:spcAft>
                <a:spcPts val="1000"/>
              </a:spcAft>
            </a:pPr>
            <a:r>
              <a:rPr sz="2000">
                <a:solidFill>
                  <a:srgbClr val="222B33"/>
                </a:solidFill>
                <a:latin typeface="Microsoft YaHei"/>
              </a:rPr>
              <a:t>▪ 写明成分和大致比例、危险特性、日期、单位</a:t>
            </a:r>
          </a:p>
          <a:p>
            <a:pPr>
              <a:spcAft>
                <a:spcPts val="1000"/>
              </a:spcAft>
            </a:pPr>
            <a:r>
              <a:rPr sz="2000">
                <a:solidFill>
                  <a:srgbClr val="222B33"/>
                </a:solidFill>
                <a:latin typeface="Microsoft YaHei"/>
              </a:rPr>
              <a:t>▪ 倒完随手盖紧，不能敞口</a:t>
            </a:r>
          </a:p>
          <a:p>
            <a:pPr>
              <a:spcAft>
                <a:spcPts val="1000"/>
              </a:spcAft>
            </a:pPr>
            <a:r>
              <a:rPr sz="2000">
                <a:solidFill>
                  <a:srgbClr val="222B33"/>
                </a:solidFill>
                <a:latin typeface="Microsoft YaHei"/>
              </a:rPr>
              <a:t>▪ 快满就送暂存点，自己的废物负责到底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废物容器从开始使用就要贴好标签，暂存期间一看就懂。标签一般写明：废物名称、主要成分及大致比例、危险特性（易燃、腐蚀、有毒等）、开始收集日期、产生的实验室和责任人。式样以本校规定为准。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先倒废液，标签以后再补</a:t>
            </a:r>
          </a:p>
          <a:p>
            <a:pPr>
              <a:spcAft>
                <a:spcPts val="1000"/>
              </a:spcAft>
            </a:pPr>
            <a:r>
              <a:rPr sz="1500">
                <a:solidFill>
                  <a:srgbClr val="222B33"/>
                </a:solidFill>
                <a:latin typeface="Microsoft YaHei"/>
              </a:rPr>
              <a:t>▪ 漏斗插在桶口不盖盖子</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倒废液做好防护，不靠挥发处理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在通风柜里戴好防护，用漏斗慢慢倒</a:t>
            </a:r>
          </a:p>
          <a:p>
            <a:pPr>
              <a:spcAft>
                <a:spcPts val="1000"/>
              </a:spcAft>
            </a:pPr>
            <a:r>
              <a:rPr sz="2000">
                <a:solidFill>
                  <a:srgbClr val="222B33"/>
                </a:solidFill>
                <a:latin typeface="Microsoft YaHei"/>
              </a:rPr>
              <a:t>▪ 倒完取下漏斗，立即盖紧</a:t>
            </a:r>
          </a:p>
          <a:p>
            <a:pPr>
              <a:spcAft>
                <a:spcPts val="1000"/>
              </a:spcAft>
            </a:pPr>
            <a:r>
              <a:rPr sz="2000">
                <a:solidFill>
                  <a:srgbClr val="222B33"/>
                </a:solidFill>
                <a:latin typeface="Microsoft YaHei"/>
              </a:rPr>
              <a:t>▪ 不能把溶剂放通风柜里挥发了事</a:t>
            </a:r>
          </a:p>
          <a:p>
            <a:pPr>
              <a:spcAft>
                <a:spcPts val="1000"/>
              </a:spcAft>
            </a:pPr>
            <a:r>
              <a:rPr sz="2000">
                <a:solidFill>
                  <a:srgbClr val="222B33"/>
                </a:solidFill>
                <a:latin typeface="Microsoft YaHei"/>
              </a:rPr>
              <a:t>▪ 需要蒸发溶剂，先问负责人怎么做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倒废液时同样有溅洒和吸入风险。挥发性、有毒的废液在通风柜内倾倒，戴好护目镜、手套，穿实验服，用漏斗慢慢倒；倒完取下漏斗，立即盖紧桶盖。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敞口放在通风柜里让废溶剂自己挥发</a:t>
            </a:r>
          </a:p>
          <a:p>
            <a:pPr>
              <a:spcAft>
                <a:spcPts val="1000"/>
              </a:spcAft>
            </a:pPr>
            <a:r>
              <a:rPr sz="1500">
                <a:solidFill>
                  <a:srgbClr val="222B33"/>
                </a:solidFill>
                <a:latin typeface="Microsoft YaHei"/>
              </a:rPr>
              <a:t>▪ 不戴防护、不用漏斗直接倒</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空瓶、手套、滤纸也是危险废物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沾染化学品的空瓶空桶也是危险废物</a:t>
            </a:r>
          </a:p>
          <a:p>
            <a:pPr>
              <a:spcAft>
                <a:spcPts val="1000"/>
              </a:spcAft>
            </a:pPr>
            <a:r>
              <a:rPr sz="2000">
                <a:solidFill>
                  <a:srgbClr val="222B33"/>
                </a:solidFill>
                <a:latin typeface="Microsoft YaHei"/>
              </a:rPr>
              <a:t>▪ 沾污手套、纸巾、滤纸进固体化学废物桶</a:t>
            </a:r>
          </a:p>
          <a:p>
            <a:pPr>
              <a:spcAft>
                <a:spcPts val="1000"/>
              </a:spcAft>
            </a:pPr>
            <a:r>
              <a:rPr sz="2000">
                <a:solidFill>
                  <a:srgbClr val="222B33"/>
                </a:solidFill>
                <a:latin typeface="Microsoft YaHei"/>
              </a:rPr>
              <a:t>▪ 废硅胶、干燥剂、薄层板也按危废收</a:t>
            </a:r>
          </a:p>
          <a:p>
            <a:pPr>
              <a:spcAft>
                <a:spcPts val="1000"/>
              </a:spcAft>
            </a:pPr>
            <a:r>
              <a:rPr sz="2000">
                <a:solidFill>
                  <a:srgbClr val="222B33"/>
                </a:solidFill>
                <a:latin typeface="Microsoft YaHei"/>
              </a:rPr>
              <a:t>▪ 过期、不明试剂单独存放，报告处理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容易被忽视的危险废物包括：盛装过危险化学品的空瓶、空桶等包装物；沾了化学品的手套、抹布、纸巾和滤纸；用过的硅胶、砂、棉花、干燥剂、活性炭渣和薄层板；沾溶剂的吸头和滴管。它们按固体化学废物收集，写清内容，盖好桶盖，不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空试剂瓶当普通垃圾扔掉</a:t>
            </a:r>
          </a:p>
          <a:p>
            <a:pPr>
              <a:spcAft>
                <a:spcPts val="1000"/>
              </a:spcAft>
            </a:pPr>
            <a:r>
              <a:rPr sz="1500">
                <a:solidFill>
                  <a:srgbClr val="222B33"/>
                </a:solidFill>
                <a:latin typeface="Microsoft YaHei"/>
              </a:rPr>
              <a:t>▪ 沾溶剂的硅胶、滤纸扔进生活垃圾桶</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废电池和电子废件回收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废旧电池放进专用回收箱</a:t>
            </a:r>
          </a:p>
          <a:p>
            <a:pPr>
              <a:spcAft>
                <a:spcPts val="1000"/>
              </a:spcAft>
            </a:pPr>
            <a:r>
              <a:rPr sz="2000">
                <a:solidFill>
                  <a:srgbClr val="222B33"/>
                </a:solidFill>
                <a:latin typeface="Microsoft YaHei"/>
              </a:rPr>
              <a:t>▪ 鼓包、破损的电池可能起火，单独存放</a:t>
            </a:r>
          </a:p>
          <a:p>
            <a:pPr>
              <a:spcAft>
                <a:spcPts val="1000"/>
              </a:spcAft>
            </a:pPr>
            <a:r>
              <a:rPr sz="2000">
                <a:solidFill>
                  <a:srgbClr val="222B33"/>
                </a:solidFill>
                <a:latin typeface="Microsoft YaHei"/>
              </a:rPr>
              <a:t>▪ 换下的电源等电子部件交回统一回收</a:t>
            </a:r>
          </a:p>
          <a:p>
            <a:pPr>
              <a:spcAft>
                <a:spcPts val="1000"/>
              </a:spcAft>
            </a:pPr>
            <a:r>
              <a:rPr sz="2000">
                <a:solidFill>
                  <a:srgbClr val="222B33"/>
                </a:solidFill>
                <a:latin typeface="Microsoft YaHei"/>
              </a:rPr>
              <a:t>▪ 空焊丝盘和废丝分开回收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废旧电池放进专用的回收箱，不扔进生活垃圾。鼓包、漏液、破损的电池可能短路起火，单独存放在不燃容器内并报告处理（电池安全见第 103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废电池随手扔进垃圾桶</a:t>
            </a:r>
          </a:p>
          <a:p>
            <a:pPr>
              <a:spcAft>
                <a:spcPts val="1000"/>
              </a:spcAft>
            </a:pPr>
            <a:r>
              <a:rPr sz="1500">
                <a:solidFill>
                  <a:srgbClr val="222B33"/>
                </a:solidFill>
                <a:latin typeface="Microsoft YaHei"/>
              </a:rPr>
              <a:t>▪ 换下的电子部件堆在实验室角落</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废液桶异常：停加、远离、报告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废液桶发热、冒气、鼓胀是危险信号</a:t>
            </a:r>
          </a:p>
          <a:p>
            <a:pPr>
              <a:spcAft>
                <a:spcPts val="1000"/>
              </a:spcAft>
            </a:pPr>
            <a:r>
              <a:rPr sz="2000">
                <a:solidFill>
                  <a:srgbClr val="222B33"/>
                </a:solidFill>
                <a:latin typeface="Microsoft YaHei"/>
              </a:rPr>
              <a:t>▪ 立即停止添加，人员远离</a:t>
            </a:r>
          </a:p>
          <a:p>
            <a:pPr>
              <a:spcAft>
                <a:spcPts val="1000"/>
              </a:spcAft>
            </a:pPr>
            <a:r>
              <a:rPr sz="2000">
                <a:solidFill>
                  <a:srgbClr val="222B33"/>
                </a:solidFill>
                <a:latin typeface="Microsoft YaHei"/>
              </a:rPr>
              <a:t>▪ 报告负责人，按应急预案处置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废液桶出现发热、冒气、鼓胀、变色或异常气味，说明桶内可能发生了反应。此时立即停止往里添加，不要打开桶盖查看，带周围人员远离。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发现桶发热还继续往里倒</a:t>
            </a:r>
          </a:p>
          <a:p>
            <a:pPr>
              <a:spcAft>
                <a:spcPts val="1000"/>
              </a:spcAft>
            </a:pPr>
            <a:r>
              <a:rPr sz="1500">
                <a:solidFill>
                  <a:srgbClr val="222B33"/>
                </a:solidFill>
                <a:latin typeface="Microsoft YaHei"/>
              </a:rPr>
              <a:t>▪ 自己打开鼓胀的桶盖查看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实验结束后，烧杯里剩下少量稀释过的酸溶液，正确做法是：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倒进水槽，用大量水冲</a:t>
            </a:r>
          </a:p>
          <a:p>
            <a:pPr algn="l"/>
            <a:r>
              <a:rPr sz="1500" b="0">
                <a:solidFill>
                  <a:srgbClr val="222B33"/>
                </a:solidFill>
                <a:latin typeface="Microsoft YaHei"/>
              </a:rPr>
              <a:t>B. 倒进对应类别、贴好标签的废液桶并盖紧</a:t>
            </a:r>
          </a:p>
          <a:p>
            <a:pPr algn="l"/>
            <a:r>
              <a:rPr sz="1500" b="0">
                <a:solidFill>
                  <a:srgbClr val="222B33"/>
                </a:solidFill>
                <a:latin typeface="Microsoft YaHei"/>
              </a:rPr>
              <a:t>C. 敞口放在通风柜里让它挥发</a:t>
            </a:r>
          </a:p>
          <a:p>
            <a:pPr algn="l"/>
            <a:r>
              <a:rPr sz="1500" b="0">
                <a:solidFill>
                  <a:srgbClr val="222B33"/>
                </a:solidFill>
                <a:latin typeface="Microsoft YaHei"/>
              </a:rPr>
              <a:t>D. 倒进任意一个有空间的废液桶</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判断：只要桶上标签写得正确，倒废液时就不必再看标签。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下列物品中，应按固体化学废物收集的是：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沾了有机溶剂的滤纸和手套</a:t>
            </a:r>
          </a:p>
          <a:p>
            <a:pPr algn="l"/>
            <a:r>
              <a:rPr sz="1500" b="0">
                <a:solidFill>
                  <a:srgbClr val="222B33"/>
                </a:solidFill>
                <a:latin typeface="Microsoft YaHei"/>
              </a:rPr>
              <a:t>B. 用过的硅胶</a:t>
            </a:r>
          </a:p>
          <a:p>
            <a:pPr algn="l"/>
            <a:r>
              <a:rPr sz="1500" b="0">
                <a:solidFill>
                  <a:srgbClr val="222B33"/>
                </a:solidFill>
                <a:latin typeface="Microsoft YaHei"/>
              </a:rPr>
              <a:t>C. 盛装过危险化学品的空试剂瓶</a:t>
            </a:r>
          </a:p>
          <a:p>
            <a:pPr algn="l"/>
            <a:r>
              <a:rPr sz="1500" b="0">
                <a:solidFill>
                  <a:srgbClr val="222B33"/>
                </a:solidFill>
                <a:latin typeface="Microsoft YaHei"/>
              </a:rPr>
              <a:t>D. 以上都是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关于废液容器，下列做法错误的是：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放在防漏托盘里</a:t>
            </a:r>
          </a:p>
          <a:p>
            <a:pPr algn="l"/>
            <a:r>
              <a:rPr sz="1500" b="0">
                <a:solidFill>
                  <a:srgbClr val="222B33"/>
                </a:solidFill>
                <a:latin typeface="Microsoft YaHei"/>
              </a:rPr>
              <a:t>B. 装到瓶口再送走，减少送的次数</a:t>
            </a:r>
          </a:p>
          <a:p>
            <a:pPr algn="l"/>
            <a:r>
              <a:rPr sz="1500" b="0">
                <a:solidFill>
                  <a:srgbClr val="222B33"/>
                </a:solidFill>
                <a:latin typeface="Microsoft YaHei"/>
              </a:rPr>
              <a:t>C. 材质与废液相容</a:t>
            </a:r>
          </a:p>
          <a:p>
            <a:pPr algn="l"/>
            <a:r>
              <a:rPr sz="1500" b="0">
                <a:solidFill>
                  <a:srgbClr val="222B33"/>
                </a:solidFill>
                <a:latin typeface="Microsoft YaHei"/>
              </a:rPr>
              <a:t>D. 远离热源和火源</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简答：发现废液桶发热、冒气、鼓胀，应该怎么做？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废物管理是实验安全的一环</a:t>
            </a:r>
          </a:p>
          <a:p>
            <a:pPr>
              <a:spcAft>
                <a:spcPts val="800"/>
              </a:spcAft>
            </a:pPr>
            <a:r>
              <a:rPr sz="1500">
                <a:solidFill>
                  <a:srgbClr val="FFFFFF"/>
                </a:solidFill>
                <a:latin typeface="Microsoft YaHei"/>
              </a:rPr>
              <a:t>▪ K2  动手之前，先想好废物怎么处置</a:t>
            </a:r>
          </a:p>
          <a:p>
            <a:pPr>
              <a:spcAft>
                <a:spcPts val="800"/>
              </a:spcAft>
            </a:pPr>
            <a:r>
              <a:rPr sz="1500">
                <a:solidFill>
                  <a:srgbClr val="FFFFFF"/>
                </a:solidFill>
                <a:latin typeface="Microsoft YaHei"/>
              </a:rPr>
              <a:t>▪ K3  实验室废物分几类，分开收</a:t>
            </a:r>
          </a:p>
          <a:p>
            <a:pPr>
              <a:spcAft>
                <a:spcPts val="800"/>
              </a:spcAft>
            </a:pPr>
            <a:r>
              <a:rPr sz="1500">
                <a:solidFill>
                  <a:srgbClr val="FFFFFF"/>
                </a:solidFill>
                <a:latin typeface="Microsoft YaHei"/>
              </a:rPr>
              <a:t>▪ K4  从源头减量，剩余试剂别浪费</a:t>
            </a:r>
          </a:p>
          <a:p>
            <a:pPr>
              <a:spcAft>
                <a:spcPts val="800"/>
              </a:spcAft>
            </a:pPr>
            <a:r>
              <a:rPr sz="1500">
                <a:solidFill>
                  <a:srgbClr val="FFFFFF"/>
                </a:solidFill>
                <a:latin typeface="Microsoft YaHei"/>
              </a:rPr>
              <a:t>▪ K5  下水道不是废液桶</a:t>
            </a:r>
          </a:p>
          <a:p>
            <a:pPr>
              <a:spcAft>
                <a:spcPts val="800"/>
              </a:spcAft>
            </a:pPr>
            <a:r>
              <a:rPr sz="1500">
                <a:solidFill>
                  <a:srgbClr val="FFFFFF"/>
                </a:solidFill>
                <a:latin typeface="Microsoft YaHei"/>
              </a:rPr>
              <a:t>▪ K6  按性质分类收集，不相容不混装</a:t>
            </a:r>
          </a:p>
          <a:p>
            <a:pPr>
              <a:spcAft>
                <a:spcPts val="800"/>
              </a:spcAft>
            </a:pPr>
            <a:r>
              <a:rPr sz="1500">
                <a:solidFill>
                  <a:srgbClr val="FFFFFF"/>
                </a:solidFill>
                <a:latin typeface="Microsoft YaHei"/>
              </a:rPr>
              <a:t>▪ K7  实验各环节的废液都要收</a:t>
            </a:r>
          </a:p>
          <a:p>
            <a:pPr>
              <a:spcAft>
                <a:spcPts val="800"/>
              </a:spcAft>
            </a:pPr>
            <a:r>
              <a:rPr sz="1500">
                <a:solidFill>
                  <a:srgbClr val="FFFFFF"/>
                </a:solidFill>
                <a:latin typeface="Microsoft YaHei"/>
              </a:rPr>
              <a:t>▪ K8  含卤、含重金属的废液单独收</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每次倒之前，先看标签再记录</a:t>
            </a:r>
          </a:p>
          <a:p>
            <a:pPr>
              <a:spcAft>
                <a:spcPts val="800"/>
              </a:spcAft>
            </a:pPr>
            <a:r>
              <a:rPr sz="1500">
                <a:solidFill>
                  <a:srgbClr val="FFFFFF"/>
                </a:solidFill>
                <a:latin typeface="Microsoft YaHei"/>
              </a:rPr>
              <a:t>▪ K10  容器相容耐腐蚀，放托盘、不装满</a:t>
            </a:r>
          </a:p>
          <a:p>
            <a:pPr>
              <a:spcAft>
                <a:spcPts val="800"/>
              </a:spcAft>
            </a:pPr>
            <a:r>
              <a:rPr sz="1500">
                <a:solidFill>
                  <a:srgbClr val="FFFFFF"/>
                </a:solidFill>
                <a:latin typeface="Microsoft YaHei"/>
              </a:rPr>
              <a:t>▪ K11  标签写全，随手盖紧</a:t>
            </a:r>
          </a:p>
          <a:p>
            <a:pPr>
              <a:spcAft>
                <a:spcPts val="800"/>
              </a:spcAft>
            </a:pPr>
            <a:r>
              <a:rPr sz="1500">
                <a:solidFill>
                  <a:srgbClr val="FFFFFF"/>
                </a:solidFill>
                <a:latin typeface="Microsoft YaHei"/>
              </a:rPr>
              <a:t>▪ K12  倒废液做好防护，不靠挥发处理</a:t>
            </a:r>
          </a:p>
          <a:p>
            <a:pPr>
              <a:spcAft>
                <a:spcPts val="800"/>
              </a:spcAft>
            </a:pPr>
            <a:r>
              <a:rPr sz="1500">
                <a:solidFill>
                  <a:srgbClr val="FFFFFF"/>
                </a:solidFill>
                <a:latin typeface="Microsoft YaHei"/>
              </a:rPr>
              <a:t>▪ K13  空瓶、手套、滤纸也是危险废物</a:t>
            </a:r>
          </a:p>
          <a:p>
            <a:pPr>
              <a:spcAft>
                <a:spcPts val="800"/>
              </a:spcAft>
            </a:pPr>
            <a:r>
              <a:rPr sz="1500">
                <a:solidFill>
                  <a:srgbClr val="FFFFFF"/>
                </a:solidFill>
                <a:latin typeface="Microsoft YaHei"/>
              </a:rPr>
              <a:t>▪ K14  废电池和电子废件回收</a:t>
            </a:r>
          </a:p>
          <a:p>
            <a:pPr>
              <a:spcAft>
                <a:spcPts val="800"/>
              </a:spcAft>
            </a:pPr>
            <a:r>
              <a:rPr sz="1500">
                <a:solidFill>
                  <a:srgbClr val="FFFFFF"/>
                </a:solidFill>
                <a:latin typeface="Microsoft YaHei"/>
              </a:rPr>
              <a:t>▪ K15  废液桶异常：停加、远离、报告</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危险废物暂存与处置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适用对象：全体产生危险废物的实验室人员（必修），实验室安全员、废物暂存点管理人员和学院安全管理人员重点学习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能说出危险废物的判定依据（《国家危险废物名录》和危险特性），以及“产生—暂存—转运—转移—处置”全程追踪的链条。</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能做到登记台账、在产生点旁规范暂存（分区、托盘、标志、标签、通风、远离火源）、不超量、装满及时转运。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能判断含汞含铬废液、管控类化学品废弃物、成分不明废物和爆炸性残留物须单独处理，不自行处置。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能说出校内交接登记、转移联单闭环、交有资质单位处置和“产生者责任不转移”的要求。</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《中华人民共和国固体废物污染环境防治法》（以现行文本为准）：危险废物产生单位建立管理台账、规范贮存、按规定转移，交持有许可证的单位利用处置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日起施行）及《危险化学品安全管理条例》（以现行文本为准）：废弃危险化学品的处置依照生态环境保护法律法规执行</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《国家危险废物名录》（以现行版本为准）：危险废物的判定依据之一</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《危险废物转移管理办法》（以现行文本为准）：危险废物转移执行转移联单制度</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18597-2023（以现行文本为准）《危险废物贮存污染控制标准》：贮存设施防渗、分区、标志，不相容废物分开贮存，容器完好加盖</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《易制毒化学品管理条例》、《易制爆危险化学品治安管理办法》及剧毒化学品“五双”管理（以现行文本为准）：管控类化学品的废弃物按管控要求登记处置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号，以现行文本为准）及高校实验室安全检查项目表：实验室废弃物暂存、及时清运与台账</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本校危险废物管理规定：暂存量、转运时限、交接流程以本校规定为准</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从产生到处置，全程追踪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危险废物从产生一直追踪到最终处置</a:t>
            </a:r>
          </a:p>
          <a:p>
            <a:pPr>
              <a:spcAft>
                <a:spcPts val="1000"/>
              </a:spcAft>
            </a:pPr>
            <a:r>
              <a:rPr sz="2000">
                <a:solidFill>
                  <a:srgbClr val="222B33"/>
                </a:solidFill>
                <a:latin typeface="Microsoft YaHei"/>
              </a:rPr>
              <a:t>▪ 实验室、暂存点、学校贮存、处置单位</a:t>
            </a:r>
          </a:p>
          <a:p>
            <a:pPr>
              <a:spcAft>
                <a:spcPts val="1000"/>
              </a:spcAft>
            </a:pPr>
            <a:r>
              <a:rPr sz="2000">
                <a:solidFill>
                  <a:srgbClr val="222B33"/>
                </a:solidFill>
                <a:latin typeface="Microsoft YaHei"/>
              </a:rPr>
              <a:t>▪ 每一桶都要有记录，哪一环都不能断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危险废物从产生的那一刻起就要纳入管理，经过实验室暂存点、学校（学院）集中贮存，再由有资质的单位运输和处置，每一个环节都要有记录可查，形成完整的追踪链条。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废物交出去之前不做任何记录</a:t>
            </a:r>
          </a:p>
          <a:p>
            <a:pPr>
              <a:spcAft>
                <a:spcPts val="1000"/>
              </a:spcAft>
            </a:pPr>
            <a:r>
              <a:rPr sz="1500">
                <a:solidFill>
                  <a:srgbClr val="222B33"/>
                </a:solidFill>
                <a:latin typeface="Microsoft YaHei"/>
              </a:rPr>
              <a:t>▪ 认为“送出实验室就和我无关了”</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怎样判定危险废物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一看是否列在《国家危险废物名录》里</a:t>
            </a:r>
          </a:p>
          <a:p>
            <a:pPr>
              <a:spcAft>
                <a:spcPts val="1000"/>
              </a:spcAft>
            </a:pPr>
            <a:r>
              <a:rPr sz="2000">
                <a:solidFill>
                  <a:srgbClr val="222B33"/>
                </a:solidFill>
                <a:latin typeface="Microsoft YaHei"/>
              </a:rPr>
              <a:t>▪ 二看是否有易燃、腐蚀、反应、毒性等危险特性</a:t>
            </a:r>
          </a:p>
          <a:p>
            <a:pPr>
              <a:spcAft>
                <a:spcPts val="1000"/>
              </a:spcAft>
            </a:pPr>
            <a:r>
              <a:rPr sz="2000">
                <a:solidFill>
                  <a:srgbClr val="222B33"/>
                </a:solidFill>
                <a:latin typeface="Microsoft YaHei"/>
              </a:rPr>
              <a:t>▪ 拿不准，就按危险废物管理并请教</a:t>
            </a:r>
          </a:p>
          <a:p>
            <a:pPr>
              <a:spcAft>
                <a:spcPts val="1000"/>
              </a:spcAft>
            </a:pPr>
            <a:r>
              <a:rPr sz="2000">
                <a:solidFill>
                  <a:srgbClr val="222B33"/>
                </a:solidFill>
                <a:latin typeface="Microsoft YaHei"/>
              </a:rPr>
              <a:t>▪ 依据固废法和名录，学校统一交有资质单位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依据《中华人民共和国固体废物污染环境防治法》和《国家危险废物名录》管理危险废物。判定一种废物是不是危险废物，一是看它是否列入名录（实验室废液、沾染危险化学品的包装物和耗材等通常在列）；二是看它是否具有腐蚀性、毒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认为“量少”就不算危险废物</a:t>
            </a:r>
          </a:p>
          <a:p>
            <a:pPr>
              <a:spcAft>
                <a:spcPts val="1000"/>
              </a:spcAft>
            </a:pPr>
            <a:r>
              <a:rPr sz="1500">
                <a:solidFill>
                  <a:srgbClr val="222B33"/>
                </a:solidFill>
                <a:latin typeface="Microsoft YaHei"/>
              </a:rPr>
              <a:t>▪ 自行把沾染化学品的废物当生活垃圾</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产生多少，登记统计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产生了什么、多少，登记台账</a:t>
            </a:r>
          </a:p>
          <a:p>
            <a:pPr>
              <a:spcAft>
                <a:spcPts val="1000"/>
              </a:spcAft>
            </a:pPr>
            <a:r>
              <a:rPr sz="2000">
                <a:solidFill>
                  <a:srgbClr val="222B33"/>
                </a:solidFill>
                <a:latin typeface="Microsoft YaHei"/>
              </a:rPr>
              <a:t>▪ 按月统计，产生越多，管理要求越严</a:t>
            </a:r>
          </a:p>
          <a:p>
            <a:pPr>
              <a:spcAft>
                <a:spcPts val="1000"/>
              </a:spcAft>
            </a:pPr>
            <a:r>
              <a:rPr sz="2000">
                <a:solidFill>
                  <a:srgbClr val="222B33"/>
                </a:solidFill>
                <a:latin typeface="Microsoft YaHei"/>
              </a:rPr>
              <a:t>▪ 台账汇总到学院和学校，据此申报处置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产生危险废物的单位要建立危险废物管理台账，如实记录产生的种类、数量、去向等。实验室每次产生、交出废物都要登记，按月统计，做到心里有数。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不登记，交废物时才估个大概</a:t>
            </a:r>
          </a:p>
          <a:p>
            <a:pPr>
              <a:spcAft>
                <a:spcPts val="1000"/>
              </a:spcAft>
            </a:pPr>
            <a:r>
              <a:rPr sz="1500">
                <a:solidFill>
                  <a:srgbClr val="222B33"/>
                </a:solidFill>
                <a:latin typeface="Microsoft YaHei"/>
              </a:rPr>
              <a:t>▪ 台账与桶里的实际情况对不上</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暂存点设在产生点旁，存量有上限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废液先放在产生点旁的暂存区</a:t>
            </a:r>
          </a:p>
          <a:p>
            <a:pPr>
              <a:spcAft>
                <a:spcPts val="1000"/>
              </a:spcAft>
            </a:pPr>
            <a:r>
              <a:rPr sz="2000">
                <a:solidFill>
                  <a:srgbClr val="222B33"/>
                </a:solidFill>
                <a:latin typeface="Microsoft YaHei"/>
              </a:rPr>
              <a:t>▪ 由产生废物的人直接看管</a:t>
            </a:r>
          </a:p>
          <a:p>
            <a:pPr>
              <a:spcAft>
                <a:spcPts val="1000"/>
              </a:spcAft>
            </a:pPr>
            <a:r>
              <a:rPr sz="2000">
                <a:solidFill>
                  <a:srgbClr val="222B33"/>
                </a:solidFill>
                <a:latin typeface="Microsoft YaHei"/>
              </a:rPr>
              <a:t>▪ 暂存量有上限，不能越堆越多</a:t>
            </a:r>
          </a:p>
          <a:p>
            <a:pPr>
              <a:spcAft>
                <a:spcPts val="1000"/>
              </a:spcAft>
            </a:pPr>
            <a:r>
              <a:rPr sz="2000">
                <a:solidFill>
                  <a:srgbClr val="222B33"/>
                </a:solidFill>
                <a:latin typeface="Microsoft YaHei"/>
              </a:rPr>
              <a:t>▪ 按上限和产生量选合适大小的桶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实验室产生的危险废物，先放在产生点附近划定的暂存区，由使用的人直接看管，便于随时添加、检查和登记。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把废液桶放在走廊、楼梯间等公共区域</a:t>
            </a:r>
          </a:p>
          <a:p>
            <a:pPr>
              <a:spcAft>
                <a:spcPts val="1000"/>
              </a:spcAft>
            </a:pPr>
            <a:r>
              <a:rPr sz="1500">
                <a:solidFill>
                  <a:srgbClr val="222B33"/>
                </a:solidFill>
                <a:latin typeface="Microsoft YaHei"/>
              </a:rPr>
              <a:t>▪ 实验室里废液桶越堆越多</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实验室暂存点的日常管理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位置固定，设危废标志，每桶贴标签</a:t>
            </a:r>
          </a:p>
          <a:p>
            <a:pPr>
              <a:spcAft>
                <a:spcPts val="1000"/>
              </a:spcAft>
            </a:pPr>
            <a:r>
              <a:rPr sz="2000">
                <a:solidFill>
                  <a:srgbClr val="222B33"/>
                </a:solidFill>
                <a:latin typeface="Microsoft YaHei"/>
              </a:rPr>
              <a:t>▪ 不相容的废物分区隔开存放</a:t>
            </a:r>
          </a:p>
          <a:p>
            <a:pPr>
              <a:spcAft>
                <a:spcPts val="1000"/>
              </a:spcAft>
            </a:pPr>
            <a:r>
              <a:rPr sz="2000">
                <a:solidFill>
                  <a:srgbClr val="222B33"/>
                </a:solidFill>
                <a:latin typeface="Microsoft YaHei"/>
              </a:rPr>
              <a:t>▪ 放托盘、防渗漏，保持通风，桶盖盖紧</a:t>
            </a:r>
          </a:p>
          <a:p>
            <a:pPr>
              <a:spcAft>
                <a:spcPts val="1000"/>
              </a:spcAft>
            </a:pPr>
            <a:r>
              <a:rPr sz="2000">
                <a:solidFill>
                  <a:srgbClr val="222B33"/>
                </a:solidFill>
                <a:latin typeface="Microsoft YaHei"/>
              </a:rPr>
              <a:t>▪ 远离火源热源，不堵通道，定期检查登记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18597-2023（以现行文本为准）《危险废物贮存污染控制标准》的原则和本校规定管理实验室暂存点：位置固定，设置危险废物标志，每个容器贴好危险废物标签（标签内容见第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不同类别的废液桶挤在一起</a:t>
            </a:r>
          </a:p>
          <a:p>
            <a:pPr>
              <a:spcAft>
                <a:spcPts val="1000"/>
              </a:spcAft>
            </a:pPr>
            <a:r>
              <a:rPr sz="1500">
                <a:solidFill>
                  <a:srgbClr val="222B33"/>
                </a:solidFill>
                <a:latin typeface="Microsoft YaHei"/>
              </a:rPr>
              <a:t>▪ 废液桶直接放在地上，没有托盘</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装满及时转运，不在实验室堆积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装满了，及时联系学校收运</a:t>
            </a:r>
          </a:p>
          <a:p>
            <a:pPr>
              <a:spcAft>
                <a:spcPts val="1000"/>
              </a:spcAft>
            </a:pPr>
            <a:r>
              <a:rPr sz="2000">
                <a:solidFill>
                  <a:srgbClr val="222B33"/>
                </a:solidFill>
                <a:latin typeface="Microsoft YaHei"/>
              </a:rPr>
              <a:t>▪ 在规定时间内转走，时限以本校规定为准</a:t>
            </a:r>
          </a:p>
          <a:p>
            <a:pPr>
              <a:spcAft>
                <a:spcPts val="1000"/>
              </a:spcAft>
            </a:pPr>
            <a:r>
              <a:rPr sz="2000">
                <a:solidFill>
                  <a:srgbClr val="222B33"/>
                </a:solidFill>
                <a:latin typeface="Microsoft YaHei"/>
              </a:rPr>
              <a:t>▪ 转运前盖紧盖子，擦净外壁</a:t>
            </a:r>
          </a:p>
          <a:p>
            <a:pPr>
              <a:spcAft>
                <a:spcPts val="1000"/>
              </a:spcAft>
            </a:pPr>
            <a:r>
              <a:rPr sz="2000">
                <a:solidFill>
                  <a:srgbClr val="222B33"/>
                </a:solidFill>
                <a:latin typeface="Microsoft YaHei"/>
              </a:rPr>
              <a:t>▪ 一直堆在实验室，就是违规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容器装到规定量（不要装太满）就封好，及时联系学校或学院的收运部门，在规定时间内转运到学校集中贮存点。具体时限以本校规定为准。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桶满了继续放着，等“攒够一车”</a:t>
            </a:r>
          </a:p>
          <a:p>
            <a:pPr>
              <a:spcAft>
                <a:spcPts val="1000"/>
              </a:spcAft>
            </a:pPr>
            <a:r>
              <a:rPr sz="1500">
                <a:solidFill>
                  <a:srgbClr val="222B33"/>
                </a:solidFill>
                <a:latin typeface="Microsoft YaHei"/>
              </a:rPr>
              <a:t>▪ 桶外壁沾着废液就送走</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含汞含铬、管控类和不明废物单独处理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含汞、含铬等特殊废液单独收集存放</a:t>
            </a:r>
          </a:p>
          <a:p>
            <a:pPr>
              <a:spcAft>
                <a:spcPts val="1000"/>
              </a:spcAft>
            </a:pPr>
            <a:r>
              <a:rPr sz="2000">
                <a:solidFill>
                  <a:srgbClr val="222B33"/>
                </a:solidFill>
                <a:latin typeface="Microsoft YaHei"/>
              </a:rPr>
              <a:t>▪ 不在实验室自行沉淀、还原处理废液</a:t>
            </a:r>
          </a:p>
          <a:p>
            <a:pPr>
              <a:spcAft>
                <a:spcPts val="1000"/>
              </a:spcAft>
            </a:pPr>
            <a:r>
              <a:rPr sz="2000">
                <a:solidFill>
                  <a:srgbClr val="222B33"/>
                </a:solidFill>
                <a:latin typeface="Microsoft YaHei"/>
              </a:rPr>
              <a:t>▪ 管控类化学品的废弃物按管控要求登记</a:t>
            </a:r>
          </a:p>
          <a:p>
            <a:pPr>
              <a:spcAft>
                <a:spcPts val="1000"/>
              </a:spcAft>
            </a:pPr>
            <a:r>
              <a:rPr sz="2000">
                <a:solidFill>
                  <a:srgbClr val="222B33"/>
                </a:solidFill>
                <a:latin typeface="Microsoft YaHei"/>
              </a:rPr>
              <a:t>▪ 成分不明的单独放，报告鉴别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含铬等重金属的废液和废物单独收集、单独存放，不与其他废液混装，标明成分，交学校按危险废物处置。实验室不自行用沉淀、还原等方法“处理”废液后排放，处置工作由有资质的单位完成。洒落汞的应急处置见第 056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自己在实验室把含重金属废液沉淀后倒掉</a:t>
            </a:r>
          </a:p>
          <a:p>
            <a:pPr>
              <a:spcAft>
                <a:spcPts val="1000"/>
              </a:spcAft>
            </a:pPr>
            <a:r>
              <a:rPr sz="1500">
                <a:solidFill>
                  <a:srgbClr val="222B33"/>
                </a:solidFill>
                <a:latin typeface="Microsoft YaHei"/>
              </a:rPr>
              <a:t>▪ 剧毒化学品的空瓶、残液随普通废物交出</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爆炸性残留物不回收，先问负责人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爆炸性残留物风险特别大</a:t>
            </a:r>
          </a:p>
          <a:p>
            <a:pPr>
              <a:spcAft>
                <a:spcPts val="1000"/>
              </a:spcAft>
            </a:pPr>
            <a:r>
              <a:rPr sz="2000">
                <a:solidFill>
                  <a:srgbClr val="222B33"/>
                </a:solidFill>
                <a:latin typeface="Microsoft YaHei"/>
              </a:rPr>
              <a:t>▪ 不冲下水道，不送去回收</a:t>
            </a:r>
          </a:p>
          <a:p>
            <a:pPr>
              <a:spcAft>
                <a:spcPts val="1000"/>
              </a:spcAft>
            </a:pPr>
            <a:r>
              <a:rPr sz="2000">
                <a:solidFill>
                  <a:srgbClr val="222B33"/>
                </a:solidFill>
                <a:latin typeface="Microsoft YaHei"/>
              </a:rPr>
              <a:t>▪ 怎么处置，先问实验室负责人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部分化学品可以回收利用，但具有爆炸性的残留物例外：它们不能冲进下水道，也不能送去回收，更不能自行处理。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把可疑的爆炸性残留物和普通固废混在一起</a:t>
            </a:r>
          </a:p>
          <a:p>
            <a:pPr>
              <a:spcAft>
                <a:spcPts val="1000"/>
              </a:spcAft>
            </a:pPr>
            <a:r>
              <a:rPr sz="1500">
                <a:solidFill>
                  <a:srgbClr val="222B33"/>
                </a:solidFill>
                <a:latin typeface="Microsoft YaHei"/>
              </a:rPr>
              <a:t>▪ 自己尝试“销毁”残留物</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按学校安排交接，登记签字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按学校通知的时间地点送交</a:t>
            </a:r>
          </a:p>
          <a:p>
            <a:pPr>
              <a:spcAft>
                <a:spcPts val="1000"/>
              </a:spcAft>
            </a:pPr>
            <a:r>
              <a:rPr sz="2000">
                <a:solidFill>
                  <a:srgbClr val="222B33"/>
                </a:solidFill>
                <a:latin typeface="Microsoft YaHei"/>
              </a:rPr>
              <a:t>▪ 核对标签，包装完好不渗漏</a:t>
            </a:r>
          </a:p>
          <a:p>
            <a:pPr>
              <a:spcAft>
                <a:spcPts val="1000"/>
              </a:spcAft>
            </a:pPr>
            <a:r>
              <a:rPr sz="2000">
                <a:solidFill>
                  <a:srgbClr val="222B33"/>
                </a:solidFill>
                <a:latin typeface="Microsoft YaHei"/>
              </a:rPr>
              <a:t>▪ 交接登记，双方签字</a:t>
            </a:r>
          </a:p>
          <a:p>
            <a:pPr>
              <a:spcAft>
                <a:spcPts val="1000"/>
              </a:spcAft>
            </a:pPr>
            <a:r>
              <a:rPr sz="2000">
                <a:solidFill>
                  <a:srgbClr val="222B33"/>
                </a:solidFill>
                <a:latin typeface="Microsoft YaHei"/>
              </a:rPr>
              <a:t>▪ 不私自交给无资质的单位或个人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危险废物按学校或学院通知的收运时间和地点送交，用推车等方式平稳搬运（校内搬运要求见第 050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不按收运时间，把桶直接放在贮存点门口</a:t>
            </a:r>
          </a:p>
          <a:p>
            <a:pPr>
              <a:spcAft>
                <a:spcPts val="1000"/>
              </a:spcAft>
            </a:pPr>
            <a:r>
              <a:rPr sz="1500">
                <a:solidFill>
                  <a:srgbClr val="222B33"/>
                </a:solidFill>
                <a:latin typeface="Microsoft YaHei"/>
              </a:rPr>
              <a:t>▪ 把废溶剂桶卖给废品收购人员</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转移联单，跟踪到闭环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运出危险废物，要有转移联单</a:t>
            </a:r>
          </a:p>
          <a:p>
            <a:pPr>
              <a:spcAft>
                <a:spcPts val="1000"/>
              </a:spcAft>
            </a:pPr>
            <a:r>
              <a:rPr sz="2000">
                <a:solidFill>
                  <a:srgbClr val="222B33"/>
                </a:solidFill>
                <a:latin typeface="Microsoft YaHei"/>
              </a:rPr>
              <a:t>▪ 谁产生、谁运输、谁处置，一清二楚</a:t>
            </a:r>
          </a:p>
          <a:p>
            <a:pPr>
              <a:spcAft>
                <a:spcPts val="1000"/>
              </a:spcAft>
            </a:pPr>
            <a:r>
              <a:rPr sz="2000">
                <a:solidFill>
                  <a:srgbClr val="222B33"/>
                </a:solidFill>
                <a:latin typeface="Microsoft YaHei"/>
              </a:rPr>
              <a:t>▪ 处置单位签回，才算闭环；没回来要追查</a:t>
            </a:r>
          </a:p>
          <a:p>
            <a:pPr>
              <a:spcAft>
                <a:spcPts val="1000"/>
              </a:spcAft>
            </a:pPr>
            <a:r>
              <a:rPr sz="2000">
                <a:solidFill>
                  <a:srgbClr val="222B33"/>
                </a:solidFill>
                <a:latin typeface="Microsoft YaHei"/>
              </a:rPr>
              <a:t>▪ 联单和台账按规定保存备查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危险废物运出学校时，按《危险废物转移管理办法》（以现行文本为准）执行转移联单制度，目前一般通过电子联单办理。联单记录产生单位、运输单位和接收处置单位，形成不间断的监管链。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废物运走后不跟踪联单</a:t>
            </a:r>
          </a:p>
          <a:p>
            <a:pPr>
              <a:spcAft>
                <a:spcPts val="1000"/>
              </a:spcAft>
            </a:pPr>
            <a:r>
              <a:rPr sz="1500">
                <a:solidFill>
                  <a:srgbClr val="222B33"/>
                </a:solidFill>
                <a:latin typeface="Microsoft YaHei"/>
              </a:rPr>
              <a:t>▪ 交接记录、联单随意丢弃</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交有资质单位，产生者责任不转移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学校统一交给持有许可证的处置单位</a:t>
            </a:r>
          </a:p>
          <a:p>
            <a:pPr>
              <a:spcAft>
                <a:spcPts val="1000"/>
              </a:spcAft>
            </a:pPr>
            <a:r>
              <a:rPr sz="2000">
                <a:solidFill>
                  <a:srgbClr val="222B33"/>
                </a:solidFill>
                <a:latin typeface="Microsoft YaHei"/>
              </a:rPr>
              <a:t>▪ 学校核实处置单位的经营许可</a:t>
            </a:r>
          </a:p>
          <a:p>
            <a:pPr>
              <a:spcAft>
                <a:spcPts val="1000"/>
              </a:spcAft>
            </a:pPr>
            <a:r>
              <a:rPr sz="2000">
                <a:solidFill>
                  <a:srgbClr val="222B33"/>
                </a:solidFill>
                <a:latin typeface="Microsoft YaHei"/>
              </a:rPr>
              <a:t>▪ 交出去了，责任并没有交出去</a:t>
            </a:r>
          </a:p>
          <a:p>
            <a:pPr>
              <a:spcAft>
                <a:spcPts val="1000"/>
              </a:spcAft>
            </a:pPr>
            <a:r>
              <a:rPr sz="2000">
                <a:solidFill>
                  <a:srgbClr val="222B33"/>
                </a:solidFill>
                <a:latin typeface="Microsoft YaHei"/>
              </a:rPr>
              <a:t>▪ 不倒下水道，不混进生活垃圾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实验室的危险废物分类收集、贴好标签、规范暂存后，由学校统一委托持有危险废物经营许可证的单位运输和处置，学校负责核实对方的资质和许可范围。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以为交给收运人员后就与学校无关</a:t>
            </a:r>
          </a:p>
          <a:p>
            <a:pPr>
              <a:spcAft>
                <a:spcPts val="1000"/>
              </a:spcAft>
            </a:pPr>
            <a:r>
              <a:rPr sz="1500">
                <a:solidFill>
                  <a:srgbClr val="222B33"/>
                </a:solidFill>
                <a:latin typeface="Microsoft YaHei"/>
              </a:rPr>
              <a:t>▪ 为省费用找无资质的人清运</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从源头到终点都经得起查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暂存不超量，分类不出错</a:t>
            </a:r>
          </a:p>
          <a:p>
            <a:pPr>
              <a:spcAft>
                <a:spcPts val="1000"/>
              </a:spcAft>
            </a:pPr>
            <a:r>
              <a:rPr sz="2000">
                <a:solidFill>
                  <a:srgbClr val="222B33"/>
                </a:solidFill>
                <a:latin typeface="Microsoft YaHei"/>
              </a:rPr>
              <a:t>▪ 台账、标签、联单都对得上</a:t>
            </a:r>
          </a:p>
          <a:p>
            <a:pPr>
              <a:spcAft>
                <a:spcPts val="1000"/>
              </a:spcAft>
            </a:pPr>
            <a:r>
              <a:rPr sz="2000">
                <a:solidFill>
                  <a:srgbClr val="222B33"/>
                </a:solidFill>
                <a:latin typeface="Microsoft YaHei"/>
              </a:rPr>
              <a:t>▪ 不知道规定，不能成为借口</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危险废物管理要随时经得起检查：暂存点不超量、不超期，分类和标签正确，台账、交接记录和联单相互对得上。学校和上级部门的实验室安全检查会把废物管理作为重点项目（见第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检查前临时突击清运</a:t>
            </a:r>
          </a:p>
          <a:p>
            <a:pPr>
              <a:spcAft>
                <a:spcPts val="1000"/>
              </a:spcAft>
            </a:pPr>
            <a:r>
              <a:rPr sz="1500">
                <a:solidFill>
                  <a:srgbClr val="222B33"/>
                </a:solidFill>
                <a:latin typeface="Microsoft YaHei"/>
              </a:rPr>
              <a:t>▪ 以“没人告诉我”为由不按规定处理</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判定一种实验废物是否属于危险废物，主要依据是：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气味大不大</a:t>
            </a:r>
          </a:p>
          <a:p>
            <a:pPr algn="l"/>
            <a:r>
              <a:rPr sz="1500" b="0">
                <a:solidFill>
                  <a:srgbClr val="222B33"/>
                </a:solidFill>
                <a:latin typeface="Microsoft YaHei"/>
              </a:rPr>
              <a:t>B. 是否列入《国家危险废物名录》或具有危险特性</a:t>
            </a:r>
          </a:p>
          <a:p>
            <a:pPr algn="l"/>
            <a:r>
              <a:rPr sz="1500" b="0">
                <a:solidFill>
                  <a:srgbClr val="222B33"/>
                </a:solidFill>
                <a:latin typeface="Microsoft YaHei"/>
              </a:rPr>
              <a:t>C. 量多不多</a:t>
            </a:r>
          </a:p>
          <a:p>
            <a:pPr algn="l"/>
            <a:r>
              <a:rPr sz="1500" b="0">
                <a:solidFill>
                  <a:srgbClr val="222B33"/>
                </a:solidFill>
                <a:latin typeface="Microsoft YaHei"/>
              </a:rPr>
              <a:t>D. 是否有颜色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判断：废液桶装满后可以先放在实验室，等攒够几桶再联系收运。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下列关于实验室暂存点的做法，错误的是：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设危险废物标志，每桶贴标签</a:t>
            </a:r>
          </a:p>
          <a:p>
            <a:pPr algn="l"/>
            <a:r>
              <a:rPr sz="1500" b="0">
                <a:solidFill>
                  <a:srgbClr val="222B33"/>
                </a:solidFill>
                <a:latin typeface="Microsoft YaHei"/>
              </a:rPr>
              <a:t>B. 酸性废液和有机废液紧挨着放在一个托盘里</a:t>
            </a:r>
          </a:p>
          <a:p>
            <a:pPr algn="l"/>
            <a:r>
              <a:rPr sz="1500" b="0">
                <a:solidFill>
                  <a:srgbClr val="222B33"/>
                </a:solidFill>
                <a:latin typeface="Microsoft YaHei"/>
              </a:rPr>
              <a:t>C. 远离热源火源，不堵通道</a:t>
            </a:r>
          </a:p>
          <a:p>
            <a:pPr algn="l"/>
            <a:r>
              <a:rPr sz="1500" b="0">
                <a:solidFill>
                  <a:srgbClr val="222B33"/>
                </a:solidFill>
                <a:latin typeface="Microsoft YaHei"/>
              </a:rPr>
              <a:t>D. 定期检查并登记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危险废物交给处置单位后，下列说法正确的是：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责任全部转给处置单位</a:t>
            </a:r>
          </a:p>
          <a:p>
            <a:pPr algn="l"/>
            <a:r>
              <a:rPr sz="1500" b="0">
                <a:solidFill>
                  <a:srgbClr val="222B33"/>
                </a:solidFill>
                <a:latin typeface="Microsoft YaHei"/>
              </a:rPr>
              <a:t>B. 不用再跟踪</a:t>
            </a:r>
          </a:p>
          <a:p>
            <a:pPr algn="l"/>
            <a:r>
              <a:rPr sz="1500" b="0">
                <a:solidFill>
                  <a:srgbClr val="222B33"/>
                </a:solidFill>
                <a:latin typeface="Microsoft YaHei"/>
              </a:rPr>
              <a:t>C. 产生单位的责任不转移，要交给有资质的单位并跟踪联单闭环</a:t>
            </a:r>
          </a:p>
          <a:p>
            <a:pPr algn="l"/>
            <a:r>
              <a:rPr sz="1500" b="0">
                <a:solidFill>
                  <a:srgbClr val="222B33"/>
                </a:solidFill>
                <a:latin typeface="Microsoft YaHei"/>
              </a:rPr>
              <a:t>D. 可以交给出价低的个人</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简答：实验室发现一瓶标签脱落、成分不明的废试剂，应怎么处理？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从产生到处置，全程追踪</a:t>
            </a:r>
          </a:p>
          <a:p>
            <a:pPr>
              <a:spcAft>
                <a:spcPts val="800"/>
              </a:spcAft>
            </a:pPr>
            <a:r>
              <a:rPr sz="1500">
                <a:solidFill>
                  <a:srgbClr val="FFFFFF"/>
                </a:solidFill>
                <a:latin typeface="Microsoft YaHei"/>
              </a:rPr>
              <a:t>▪ K2  怎样判定危险废物</a:t>
            </a:r>
          </a:p>
          <a:p>
            <a:pPr>
              <a:spcAft>
                <a:spcPts val="800"/>
              </a:spcAft>
            </a:pPr>
            <a:r>
              <a:rPr sz="1500">
                <a:solidFill>
                  <a:srgbClr val="FFFFFF"/>
                </a:solidFill>
                <a:latin typeface="Microsoft YaHei"/>
              </a:rPr>
              <a:t>▪ K3  产生多少，登记统计</a:t>
            </a:r>
          </a:p>
          <a:p>
            <a:pPr>
              <a:spcAft>
                <a:spcPts val="800"/>
              </a:spcAft>
            </a:pPr>
            <a:r>
              <a:rPr sz="1500">
                <a:solidFill>
                  <a:srgbClr val="FFFFFF"/>
                </a:solidFill>
                <a:latin typeface="Microsoft YaHei"/>
              </a:rPr>
              <a:t>▪ K4  暂存点设在产生点旁，存量有上限</a:t>
            </a:r>
          </a:p>
          <a:p>
            <a:pPr>
              <a:spcAft>
                <a:spcPts val="800"/>
              </a:spcAft>
            </a:pPr>
            <a:r>
              <a:rPr sz="1500">
                <a:solidFill>
                  <a:srgbClr val="FFFFFF"/>
                </a:solidFill>
                <a:latin typeface="Microsoft YaHei"/>
              </a:rPr>
              <a:t>▪ S1  实验室暂存点的日常管理</a:t>
            </a:r>
          </a:p>
          <a:p>
            <a:pPr>
              <a:spcAft>
                <a:spcPts val="800"/>
              </a:spcAft>
            </a:pPr>
            <a:r>
              <a:rPr sz="1500">
                <a:solidFill>
                  <a:srgbClr val="FFFFFF"/>
                </a:solidFill>
                <a:latin typeface="Microsoft YaHei"/>
              </a:rPr>
              <a:t>▪ K5  装满及时转运，不在实验室堆积</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S2  含汞含铬、管控类和不明废物单独处理</a:t>
            </a:r>
          </a:p>
          <a:p>
            <a:pPr>
              <a:spcAft>
                <a:spcPts val="800"/>
              </a:spcAft>
            </a:pPr>
            <a:r>
              <a:rPr sz="1500">
                <a:solidFill>
                  <a:srgbClr val="FFFFFF"/>
                </a:solidFill>
                <a:latin typeface="Microsoft YaHei"/>
              </a:rPr>
              <a:t>▪ K6  爆炸性残留物不回收，先问负责人</a:t>
            </a:r>
          </a:p>
          <a:p>
            <a:pPr>
              <a:spcAft>
                <a:spcPts val="800"/>
              </a:spcAft>
            </a:pPr>
            <a:r>
              <a:rPr sz="1500">
                <a:solidFill>
                  <a:srgbClr val="FFFFFF"/>
                </a:solidFill>
                <a:latin typeface="Microsoft YaHei"/>
              </a:rPr>
              <a:t>▪ S3  按学校安排交接，登记签字</a:t>
            </a:r>
          </a:p>
          <a:p>
            <a:pPr>
              <a:spcAft>
                <a:spcPts val="800"/>
              </a:spcAft>
            </a:pPr>
            <a:r>
              <a:rPr sz="1500">
                <a:solidFill>
                  <a:srgbClr val="FFFFFF"/>
                </a:solidFill>
                <a:latin typeface="Microsoft YaHei"/>
              </a:rPr>
              <a:t>▪ K7  转移联单，跟踪到闭环</a:t>
            </a:r>
          </a:p>
          <a:p>
            <a:pPr>
              <a:spcAft>
                <a:spcPts val="800"/>
              </a:spcAft>
            </a:pPr>
            <a:r>
              <a:rPr sz="1500">
                <a:solidFill>
                  <a:srgbClr val="FFFFFF"/>
                </a:solidFill>
                <a:latin typeface="Microsoft YaHei"/>
              </a:rPr>
              <a:t>▪ K8  交有资质单位，产生者责任不转移</a:t>
            </a:r>
          </a:p>
          <a:p>
            <a:pPr>
              <a:spcAft>
                <a:spcPts val="800"/>
              </a:spcAft>
            </a:pPr>
            <a:r>
              <a:rPr sz="1500">
                <a:solidFill>
                  <a:srgbClr val="FFFFFF"/>
                </a:solidFill>
                <a:latin typeface="Microsoft YaHei"/>
              </a:rPr>
              <a:t>▪ K9  从源头到终点都经得起查</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绿色实验室与节能环保</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适用对象：全体高校实验室人员和学生（通识必修）；实验室负责人、实验室安全员和设备管理人员重点学习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能说出气候变暖、臭氧层损耗、环境污染等全球环境问题和清洁能源常识，理解实验室节能环保的意义。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能说出绿色实验室“减量、替代、循环”的含义，做到按需领用、试剂共享，替代和回收先评估、经批准。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能做到随手关通风柜视窗、关闲置设备、下班关水电，同时坚持安全优先（正在用的通风柜和需持续运行的设备不为省电关闭）。</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能判断含消耗臭氧层物质的旧制冷设备须交专业单位回收，生活有害垃圾分类投放，实验室危险废物不进生活垃圾。</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《中华人民共和国环境保护法》（以现行文本为准）：保护环境是国家的基本国策，一切单位和个人都有保护环境的义务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《中华人民共和国节约能源法》（以现行文本为准）：公共机构应当厉行节约，降低能源消耗</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《公共机构节能条例》（以现行文本为准）：公共机构（含公办学校）加强用能管理，合理设置空调温度，减少设备待机能耗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《消耗臭氧层物质管理条例》（以现行文本为准）：消耗臭氧层物质按国家规定淘汰，含此类物质的设备报废后交专业单位回收处理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《中华人民共和国固体废物污染环境防治法》（以现行文本为准）：减量化、资源化、无害化原则，生活垃圾分类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《绿色学校创建行动方案》（教育部、国家发展改革委，以现行文本为准）：开展绿色学校创建，培育绿色校园文化</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号，以现行文本为准）：实验室废弃物管理与安全检查要求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本校节能管理和实验室管理规定：空调温度、设备开关、试剂共享与溶剂回收以本校规定为准</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关注全球环境问题，走可持续发展之路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气候变暖、臭氧层损耗、环境污染受全球关注</a:t>
            </a:r>
          </a:p>
          <a:p>
            <a:pPr>
              <a:spcAft>
                <a:spcPts val="1000"/>
              </a:spcAft>
            </a:pPr>
            <a:r>
              <a:rPr sz="2000">
                <a:solidFill>
                  <a:srgbClr val="222B33"/>
                </a:solidFill>
                <a:latin typeface="Microsoft YaHei"/>
              </a:rPr>
              <a:t>▪ 应对之道是可持续发展</a:t>
            </a:r>
          </a:p>
          <a:p>
            <a:pPr>
              <a:spcAft>
                <a:spcPts val="1000"/>
              </a:spcAft>
            </a:pPr>
            <a:r>
              <a:rPr sz="2000">
                <a:solidFill>
                  <a:srgbClr val="222B33"/>
                </a:solidFill>
                <a:latin typeface="Microsoft YaHei"/>
              </a:rPr>
              <a:t>▪ 实验室少用多余试剂，也是出一份力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气候变暖、臭氧层变薄、大气和水土污染等，是全球共同关注的环境问题。气候变暖影响每一个人；臭氧层像一把伞挡住太阳紫外线，变薄后到达地面的紫外线增强。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认为环境问题与实验室无关</a:t>
            </a:r>
          </a:p>
          <a:p>
            <a:pPr>
              <a:spcAft>
                <a:spcPts val="1000"/>
              </a:spcAft>
            </a:pPr>
            <a:r>
              <a:rPr sz="1500">
                <a:solidFill>
                  <a:srgbClr val="222B33"/>
                </a:solidFill>
                <a:latin typeface="Microsoft YaHei"/>
              </a:rPr>
              <a:t>▪ 只顾实验方便，大量领用试剂</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风能、太阳能、水能是清洁能源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风能、太阳能、水能是清洁能源</a:t>
            </a:r>
          </a:p>
          <a:p>
            <a:pPr>
              <a:spcAft>
                <a:spcPts val="1000"/>
              </a:spcAft>
            </a:pPr>
            <a:r>
              <a:rPr sz="2000">
                <a:solidFill>
                  <a:srgbClr val="222B33"/>
                </a:solidFill>
                <a:latin typeface="Microsoft YaHei"/>
              </a:rPr>
              <a:t>▪ 可再生，发电时不排放废气</a:t>
            </a:r>
          </a:p>
          <a:p>
            <a:pPr>
              <a:spcAft>
                <a:spcPts val="1000"/>
              </a:spcAft>
            </a:pPr>
            <a:r>
              <a:rPr sz="2000">
                <a:solidFill>
                  <a:srgbClr val="222B33"/>
                </a:solidFill>
                <a:latin typeface="Microsoft YaHei"/>
              </a:rPr>
              <a:t>▪ 实验室每度电都来之不易</a:t>
            </a:r>
          </a:p>
          <a:p>
            <a:pPr>
              <a:spcAft>
                <a:spcPts val="1000"/>
              </a:spcAft>
            </a:pPr>
            <a:r>
              <a:rPr sz="2000">
                <a:solidFill>
                  <a:srgbClr val="222B33"/>
                </a:solidFill>
                <a:latin typeface="Microsoft YaHei"/>
              </a:rPr>
              <a:t>▪ 随手关掉空转的设备，就是环保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风能、太阳能、水能等可再生能源，发电时不燃烧燃料，不排放废气和烟尘，属于清洁能源；以煤炭等化石能源为主的发电会排放二氧化碳和污染物。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仪器做完实验不关，一直空转</a:t>
            </a:r>
          </a:p>
          <a:p>
            <a:pPr>
              <a:spcAft>
                <a:spcPts val="1000"/>
              </a:spcAft>
            </a:pPr>
            <a:r>
              <a:rPr sz="1500">
                <a:solidFill>
                  <a:srgbClr val="222B33"/>
                </a:solidFill>
                <a:latin typeface="Microsoft YaHei"/>
              </a:rPr>
              <a:t>▪ 认为节电只是为了省钱</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绿色实验室：减量、替代、循环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减量：按需领用，能做小量的不做大量</a:t>
            </a:r>
          </a:p>
          <a:p>
            <a:pPr>
              <a:spcAft>
                <a:spcPts val="1000"/>
              </a:spcAft>
            </a:pPr>
            <a:r>
              <a:rPr sz="2000">
                <a:solidFill>
                  <a:srgbClr val="222B33"/>
                </a:solidFill>
                <a:latin typeface="Microsoft YaHei"/>
              </a:rPr>
              <a:t>▪ 剩余试剂共享，少买少废</a:t>
            </a:r>
          </a:p>
          <a:p>
            <a:pPr>
              <a:spcAft>
                <a:spcPts val="1000"/>
              </a:spcAft>
            </a:pPr>
            <a:r>
              <a:rPr sz="2000">
                <a:solidFill>
                  <a:srgbClr val="222B33"/>
                </a:solidFill>
                <a:latin typeface="Microsoft YaHei"/>
              </a:rPr>
              <a:t>▪ 替代：能用低毒的不用高毒的，先评估、经同意</a:t>
            </a:r>
          </a:p>
          <a:p>
            <a:pPr>
              <a:spcAft>
                <a:spcPts val="1000"/>
              </a:spcAft>
            </a:pPr>
            <a:r>
              <a:rPr sz="2000">
                <a:solidFill>
                  <a:srgbClr val="222B33"/>
                </a:solidFill>
                <a:latin typeface="Microsoft YaHei"/>
              </a:rPr>
              <a:t>▪ 循环：回收再用要经批准；危废照常交学校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绿色实验室的核心理念可以概括为“减量、替代、循环”，与固废法的减量化、资源化、无害化原则一致。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为“环保”把废溶剂敞口挥发或稀释后倒掉</a:t>
            </a:r>
          </a:p>
          <a:p>
            <a:pPr>
              <a:spcAft>
                <a:spcPts val="1000"/>
              </a:spcAft>
            </a:pPr>
            <a:r>
              <a:rPr sz="1500">
                <a:solidFill>
                  <a:srgbClr val="222B33"/>
                </a:solidFill>
                <a:latin typeface="Microsoft YaHei"/>
              </a:rPr>
              <a:t>▪ 未经评估自行更换试剂或方法</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实验室节能：随手关，但安全优先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不用通风柜，随手关好视窗</a:t>
            </a:r>
          </a:p>
          <a:p>
            <a:pPr>
              <a:spcAft>
                <a:spcPts val="1000"/>
              </a:spcAft>
            </a:pPr>
            <a:r>
              <a:rPr sz="2000">
                <a:solidFill>
                  <a:srgbClr val="222B33"/>
                </a:solidFill>
                <a:latin typeface="Microsoft YaHei"/>
              </a:rPr>
              <a:t>▪ 闲置设备用完就关，下班关灯关水关电</a:t>
            </a:r>
          </a:p>
          <a:p>
            <a:pPr>
              <a:spcAft>
                <a:spcPts val="1000"/>
              </a:spcAft>
            </a:pPr>
            <a:r>
              <a:rPr sz="2000">
                <a:solidFill>
                  <a:srgbClr val="222B33"/>
                </a:solidFill>
                <a:latin typeface="Microsoft YaHei"/>
              </a:rPr>
              <a:t>▪ 冰箱、培养箱等按规程不断电，门随手关严</a:t>
            </a:r>
          </a:p>
          <a:p>
            <a:pPr>
              <a:spcAft>
                <a:spcPts val="1000"/>
              </a:spcAft>
            </a:pPr>
            <a:r>
              <a:rPr sz="2000">
                <a:solidFill>
                  <a:srgbClr val="222B33"/>
                </a:solidFill>
                <a:latin typeface="Microsoft YaHei"/>
              </a:rPr>
              <a:t>▪ 正在用的通风柜和通风，不为省电关闭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通风柜是实验室的耗电大户，不使用时及时把视窗拉下关好，既安全又节能（见第 052 课）。闲置的加热板、烘箱、电脑和显示器用完就关；空调温度按学校规定设置，开空调时关好门窗；下班前关灯、关水、关电，检查无误再离开。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为省电关掉正在使用的通风柜风机</a:t>
            </a:r>
          </a:p>
          <a:p>
            <a:pPr>
              <a:spcAft>
                <a:spcPts val="1000"/>
              </a:spcAft>
            </a:pPr>
            <a:r>
              <a:rPr sz="1500">
                <a:solidFill>
                  <a:srgbClr val="222B33"/>
                </a:solidFill>
                <a:latin typeface="Microsoft YaHei"/>
              </a:rPr>
              <a:t>▪ 下班不关加热设备和照明</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淘汰消耗臭氧层物质，旧制冷设备交专业回收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部分旧制冷剂会消耗臭氧层，国家按规定淘汰</a:t>
            </a:r>
          </a:p>
          <a:p>
            <a:pPr>
              <a:spcAft>
                <a:spcPts val="1000"/>
              </a:spcAft>
            </a:pPr>
            <a:r>
              <a:rPr sz="2000">
                <a:solidFill>
                  <a:srgbClr val="222B33"/>
                </a:solidFill>
                <a:latin typeface="Microsoft YaHei"/>
              </a:rPr>
              <a:t>▪ 滤网、压缩机、冷凝器是正常部件</a:t>
            </a:r>
          </a:p>
          <a:p>
            <a:pPr>
              <a:spcAft>
                <a:spcPts val="1000"/>
              </a:spcAft>
            </a:pPr>
            <a:r>
              <a:rPr sz="2000">
                <a:solidFill>
                  <a:srgbClr val="222B33"/>
                </a:solidFill>
                <a:latin typeface="Microsoft YaHei"/>
              </a:rPr>
              <a:t>▪ 旧冰箱、空调不能自己拆</a:t>
            </a:r>
          </a:p>
          <a:p>
            <a:pPr>
              <a:spcAft>
                <a:spcPts val="1000"/>
              </a:spcAft>
            </a:pPr>
            <a:r>
              <a:rPr sz="2000">
                <a:solidFill>
                  <a:srgbClr val="222B33"/>
                </a:solidFill>
                <a:latin typeface="Microsoft YaHei"/>
              </a:rPr>
              <a:t>▪ 报废走学校流程，交专业单位回收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调、冰箱、冷柜靠制冷剂工作。部分旧型制冷剂属于消耗臭氧层物质，我国依据《消耗臭氧层物质管理条例》（以现行文本为准）按规定淘汰，新设备应选用符合国家要求的制冷剂。滤网、压缩机、冷凝器等是空调冰箱的正常部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自己拆旧冰箱卖零件</a:t>
            </a:r>
          </a:p>
          <a:p>
            <a:pPr>
              <a:spcAft>
                <a:spcPts val="1000"/>
              </a:spcAft>
            </a:pPr>
            <a:r>
              <a:rPr sz="1500">
                <a:solidFill>
                  <a:srgbClr val="222B33"/>
                </a:solidFill>
                <a:latin typeface="Microsoft YaHei"/>
              </a:rPr>
              <a:t>▪ 存放过化学品的冰箱不清空就报废</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生活有害垃圾，分类投放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废电池、过期药、杀虫剂罐是生活有害垃圾</a:t>
            </a:r>
          </a:p>
          <a:p>
            <a:pPr>
              <a:spcAft>
                <a:spcPts val="1000"/>
              </a:spcAft>
            </a:pPr>
            <a:r>
              <a:rPr sz="2000">
                <a:solidFill>
                  <a:srgbClr val="222B33"/>
                </a:solidFill>
                <a:latin typeface="Microsoft YaHei"/>
              </a:rPr>
              <a:t>▪ 废灯管、废油漆桶等也属有害垃圾</a:t>
            </a:r>
          </a:p>
          <a:p>
            <a:pPr>
              <a:spcAft>
                <a:spcPts val="1000"/>
              </a:spcAft>
            </a:pPr>
            <a:r>
              <a:rPr sz="2000">
                <a:solidFill>
                  <a:srgbClr val="222B33"/>
                </a:solidFill>
                <a:latin typeface="Microsoft YaHei"/>
              </a:rPr>
              <a:t>▪ 投进有害垃圾桶，按所在城市规定</a:t>
            </a:r>
          </a:p>
          <a:p>
            <a:pPr>
              <a:spcAft>
                <a:spcPts val="1000"/>
              </a:spcAft>
            </a:pPr>
            <a:r>
              <a:rPr sz="2000">
                <a:solidFill>
                  <a:srgbClr val="222B33"/>
                </a:solidFill>
                <a:latin typeface="Microsoft YaHei"/>
              </a:rPr>
              <a:t>▪ 实验室危险废物不投生活垃圾桶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活中也有危险物品。用完的家用废电池、过期药品、杀虫剂罐、废灯管、废油漆桶等，属于生活垃圾分类中的有害垃圾，不随手扔进其他垃圾桶，投进有害垃圾收集容器。具体分类和投放要求按所在城市的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家用废电池、废灯管混进其他垃圾</a:t>
            </a:r>
          </a:p>
          <a:p>
            <a:pPr>
              <a:spcAft>
                <a:spcPts val="1000"/>
              </a:spcAft>
            </a:pPr>
            <a:r>
              <a:rPr sz="1500">
                <a:solidFill>
                  <a:srgbClr val="222B33"/>
                </a:solidFill>
                <a:latin typeface="Microsoft YaHei"/>
              </a:rPr>
              <a:t>▪ 把实验室废试剂瓶投进生活有害垃圾桶</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建设绿色校园，人人参与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国家要求公共机构节能，开展绿色学校创建</a:t>
            </a:r>
          </a:p>
          <a:p>
            <a:pPr>
              <a:spcAft>
                <a:spcPts val="1000"/>
              </a:spcAft>
            </a:pPr>
            <a:r>
              <a:rPr sz="2000">
                <a:solidFill>
                  <a:srgbClr val="222B33"/>
                </a:solidFill>
                <a:latin typeface="Microsoft YaHei"/>
              </a:rPr>
              <a:t>▪ 实验室节能环保纳入学校管理和检查</a:t>
            </a:r>
          </a:p>
          <a:p>
            <a:pPr>
              <a:spcAft>
                <a:spcPts val="1000"/>
              </a:spcAft>
            </a:pPr>
            <a:r>
              <a:rPr sz="2000">
                <a:solidFill>
                  <a:srgbClr val="222B33"/>
                </a:solidFill>
                <a:latin typeface="Microsoft YaHei"/>
              </a:rPr>
              <a:t>▪ 绿色实验室，从每个人做起</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《中华人民共和国节约能源法》和《公共机构节能条例》（以现行文本为准）要求公共机构厉行节约、降低能耗；教育部等部门推动绿色学校创建（以现行文本为准），把节能环保纳入校园建设和教育。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认为节能只是后勤部门的事</a:t>
            </a:r>
          </a:p>
          <a:p>
            <a:pPr>
              <a:spcAft>
                <a:spcPts val="1000"/>
              </a:spcAft>
            </a:pPr>
            <a:r>
              <a:rPr sz="1500">
                <a:solidFill>
                  <a:srgbClr val="222B33"/>
                </a:solidFill>
                <a:latin typeface="Microsoft YaHei"/>
              </a:rPr>
              <a:t>▪ 只在检查时才注意关灯关设备</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下列属于清洁能源的是：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风能</a:t>
            </a:r>
          </a:p>
          <a:p>
            <a:pPr algn="l"/>
            <a:r>
              <a:rPr sz="1500" b="0">
                <a:solidFill>
                  <a:srgbClr val="222B33"/>
                </a:solidFill>
                <a:latin typeface="Microsoft YaHei"/>
              </a:rPr>
              <a:t>B. 太阳能</a:t>
            </a:r>
          </a:p>
          <a:p>
            <a:pPr algn="l"/>
            <a:r>
              <a:rPr sz="1500" b="0">
                <a:solidFill>
                  <a:srgbClr val="222B33"/>
                </a:solidFill>
                <a:latin typeface="Microsoft YaHei"/>
              </a:rPr>
              <a:t>C. 水能</a:t>
            </a:r>
          </a:p>
          <a:p>
            <a:pPr algn="l"/>
            <a:r>
              <a:rPr sz="1500" b="0">
                <a:solidFill>
                  <a:srgbClr val="222B33"/>
                </a:solidFill>
                <a:latin typeface="Microsoft YaHei"/>
              </a:rPr>
              <a:t>D. 以上都是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判断：为了节电，做实验时可以把通风柜的风机关掉。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实验室一台旧冰箱要报废，正确做法是：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自己拆了卖零件</a:t>
            </a:r>
          </a:p>
          <a:p>
            <a:pPr algn="l"/>
            <a:r>
              <a:rPr sz="1500" b="0">
                <a:solidFill>
                  <a:srgbClr val="222B33"/>
                </a:solidFill>
                <a:latin typeface="Microsoft YaHei"/>
              </a:rPr>
              <a:t>B. 清空清洁后走学校报废流程，交专业单位回收</a:t>
            </a:r>
          </a:p>
          <a:p>
            <a:pPr algn="l"/>
            <a:r>
              <a:rPr sz="1500" b="0">
                <a:solidFill>
                  <a:srgbClr val="222B33"/>
                </a:solidFill>
                <a:latin typeface="Microsoft YaHei"/>
              </a:rPr>
              <a:t>C. 放到楼道里</a:t>
            </a:r>
          </a:p>
          <a:p>
            <a:pPr algn="l"/>
            <a:r>
              <a:rPr sz="1500" b="0">
                <a:solidFill>
                  <a:srgbClr val="222B33"/>
                </a:solidFill>
                <a:latin typeface="Microsoft YaHei"/>
              </a:rPr>
              <a:t>D. 放出制冷剂再扔掉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关于“绿色实验室”，下列做法正确的是：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把废溶剂敞口放着挥发</a:t>
            </a:r>
          </a:p>
          <a:p>
            <a:pPr algn="l"/>
            <a:r>
              <a:rPr sz="1500" b="0">
                <a:solidFill>
                  <a:srgbClr val="222B33"/>
                </a:solidFill>
                <a:latin typeface="Microsoft YaHei"/>
              </a:rPr>
              <a:t>B. 一次多领试剂，省得跑</a:t>
            </a:r>
          </a:p>
          <a:p>
            <a:pPr algn="l"/>
            <a:r>
              <a:rPr sz="1500" b="0">
                <a:solidFill>
                  <a:srgbClr val="222B33"/>
                </a:solidFill>
                <a:latin typeface="Microsoft YaHei"/>
              </a:rPr>
              <a:t>C. 按需领用，剩余试剂共享</a:t>
            </a:r>
          </a:p>
          <a:p>
            <a:pPr algn="l"/>
            <a:r>
              <a:rPr sz="1500" b="0">
                <a:solidFill>
                  <a:srgbClr val="222B33"/>
                </a:solidFill>
                <a:latin typeface="Microsoft YaHei"/>
              </a:rPr>
              <a:t>D. 自行换用新溶剂，不告诉导师</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简答：家里用完的废电池、过期药品应怎么处理？实验室的废试剂能否一起投放？</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关注全球环境问题，走可持续发展之路</a:t>
            </a:r>
          </a:p>
          <a:p>
            <a:pPr>
              <a:spcAft>
                <a:spcPts val="800"/>
              </a:spcAft>
            </a:pPr>
            <a:r>
              <a:rPr sz="1800">
                <a:solidFill>
                  <a:srgbClr val="FFFFFF"/>
                </a:solidFill>
                <a:latin typeface="Microsoft YaHei"/>
              </a:rPr>
              <a:t>▪ K2  风能、太阳能、水能是清洁能源</a:t>
            </a:r>
          </a:p>
          <a:p>
            <a:pPr>
              <a:spcAft>
                <a:spcPts val="800"/>
              </a:spcAft>
            </a:pPr>
            <a:r>
              <a:rPr sz="1800">
                <a:solidFill>
                  <a:srgbClr val="FFFFFF"/>
                </a:solidFill>
                <a:latin typeface="Microsoft YaHei"/>
              </a:rPr>
              <a:t>▪ S1  绿色实验室：减量、替代、循环</a:t>
            </a:r>
          </a:p>
          <a:p>
            <a:pPr>
              <a:spcAft>
                <a:spcPts val="800"/>
              </a:spcAft>
            </a:pPr>
            <a:r>
              <a:rPr sz="1800">
                <a:solidFill>
                  <a:srgbClr val="FFFFFF"/>
                </a:solidFill>
                <a:latin typeface="Microsoft YaHei"/>
              </a:rPr>
              <a:t>▪ S2  实验室节能：随手关，但安全优先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淘汰消耗臭氧层物质，旧制冷设备交专业回收</a:t>
            </a:r>
          </a:p>
          <a:p>
            <a:pPr>
              <a:spcAft>
                <a:spcPts val="800"/>
              </a:spcAft>
            </a:pPr>
            <a:r>
              <a:rPr sz="1800">
                <a:solidFill>
                  <a:srgbClr val="FFFFFF"/>
                </a:solidFill>
                <a:latin typeface="Microsoft YaHei"/>
              </a:rPr>
              <a:t>▪ K4  生活有害垃圾，分类投放</a:t>
            </a:r>
          </a:p>
          <a:p>
            <a:pPr>
              <a:spcAft>
                <a:spcPts val="800"/>
              </a:spcAft>
            </a:pPr>
            <a:r>
              <a:rPr sz="1800">
                <a:solidFill>
                  <a:srgbClr val="FFFFFF"/>
                </a:solidFill>
                <a:latin typeface="Microsoft YaHei"/>
              </a:rPr>
              <a:t>▪ S3  建设绿色校园，人人参与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