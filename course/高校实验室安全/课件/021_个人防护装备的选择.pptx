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个人防护装备不是凭习惯随手拿的，而是按风险评估选出来的（风险评估见第 014–015 课）。做实验前，先查所用化学品的安全技术说明书（SDS），其中“接触控制和个体防护”部分给出了眼、手、呼吸和身体防护的建议（SDS 的读法见第 041 课）；再结合用量、浓度、温度、压力、是否加热或产生气溶胶等实验条件，确定要穿戴什么。</a:t>
            </a:r>
          </a:p>
          <a:p>
            <a:r>
              <a:t>反过来也一样：只有台面上所有化学品都已撤走，例如作为讲台使用时，讲解人才可以不穿实验防护。只要有化学品在，就按风险评估穿戴。</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选防护之前，先做书面的危害评估：这次实验有哪些具体危害（飞溅、烫伤、冻伤、吸入、割伤、砸伤），会伤到身体的哪个部位。危害取决于你要做什么，是可以预见的；能预见，就能提前准备好合适的防护。凭感觉乱配，反而会带来新的危险。</a:t>
            </a:r>
          </a:p>
          <a:p>
            <a:r>
              <a:t>不确定需要哪些防护时，问清导师或实验室负责人，该戴的一样不少。同时想好这种化学品或这项操作出了事怎么应急：洗眼器、喷淋、灭火器和泄漏处理用品在哪里（第 027 课）。</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选错的防护比不戴还危险：例如用挡不住某种溶剂的手套去接触它，溶剂会穿透手套并被闷在皮肤上，人却以为自己受到了保护，反而放松了警惕。防护用品必须和具体的危害对得上，选对材质、类型和防护等级。</a:t>
            </a:r>
          </a:p>
          <a:p>
            <a:r>
              <a:t>把选防护当成打勾走过场——“手套、实验服、护目镜，都有了”——只是一场安全表演，护不住人。每次都要问：这件防护挡得住这次的危害吗？</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不同部位有不同的防护：安全眼镜、护目镜、面屏保护眼面部（第 022 课）；手套保护手（第 023 课）；实验服和防护服保护身体（第 024 课）；口罩和呼吸器保护呼吸（第 025 课）；安全帽和安全鞋保护头部和足部（本课 K13、K14）。</a:t>
            </a:r>
          </a:p>
          <a:p>
            <a:r>
              <a:t>要按危害选具体类型：接触危险物料，选能抵御该物料的手套，材质按化学品的说明来选；取用液氮等低温液体，戴防冻手套和面屏；有有害气体、蒸气时，选合适的呼吸防护；处置危险化学品泄漏等事故，按应急预案穿戴相应的防护服。需要时还要加戴口罩和面屏。特殊操作要换上专门的防护（激光防护眼镜见第 114 课，生物防护装备见第 074 课）。</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一般的化学、生物教学和科研实验，最低配置是三件：实验服（扣好）、安全眼镜或护目镜（全程佩戴）、按试剂选择的手套。这三件是在第 020 课着装要求合格（长裤、包脚鞋、长发束起）的基础上穿戴的，风险更高时再按评估增加。</a:t>
            </a:r>
          </a:p>
          <a:p>
            <a:r>
              <a:t>防护用品既能减少受伤，也能避免人体皮屑、毛发和手上的污染进入样品。每项实验都要自己选对、用对防护，不能看别人怎么穿就怎么穿。</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每个实验室都规定了必须穿戴防护的区域，有的在门口、有的在某台设备旁，用“必须戴护目镜”“必须戴防护手套”等指令标志标明（安全标志见第 026 课）。进入前看清标志，按要求穿戴好，进入区域后一步也不能少。</a:t>
            </a:r>
          </a:p>
          <a:p>
            <a:r>
              <a:t>实验室会为工作配备所需的防护用品，通常集中存放在固定的柜子里。新进入实验室时，要知道防护用品放在哪里、谁负责补充（准入培训见第 007 课）。</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按《中华人民共和国安全生产法》等规定，单位要为人员提供符合国家标准或行业标准的劳动防护用品，并教育、监督正确佩戴；在高校，由学校、学院和实验室按实验风险配齐合格的个人防护用品（配备原则见 GB 39800.1-2020，以现行文本为准）。</a:t>
            </a:r>
          </a:p>
          <a:p>
            <a:r>
              <a:t>个人的责任是正确使用：穿对、戴好、保持完好，坏了或不够了及时报告。在规定需要防护的工作中，佩戴防护用品是硬性要求，不是“想戴才戴”的个人选择。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舒适性也是安全问题。护具不合身、太闷热，人就会分心、出汗、厌烦，容易出错，甚至偷偷摘下；长时间穿戴还可能过热、脱水。防护用品戴全了还受伤，多半是不合适或没用对。</a:t>
            </a:r>
          </a:p>
          <a:p>
            <a:r>
              <a:t>实验室应备齐不同尺码的手套、实验服等，个人要选对尺码和型号，调好松紧带，舒服才能坚持戴。戴近视眼镜的同学，选能罩在眼镜外面的护目镜（第 022 课）。长时间穿戴不透气的防护服时，要安排轮换和休息。</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防护用品每次穿戴前都要检查：手套有没有破洞、变色、发硬；护目镜和面屏镜片有没有划花、开裂；实验服有没有破损和污染；呼吸器滤盒有没有过期、失效（第 025 课）。有裂纹、磨损的，能修的修好，不能修的报废换新。还要检查大小是否合身、戴得是否服帖。</a:t>
            </a:r>
          </a:p>
          <a:p>
            <a:r>
              <a:t>使用中，一整天都要留意防护用品的状况：手套沾上化学品、破了或可能被污染，马上摘下、洗手、更换。选用合格产品，按说明书和风险评估使用。</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个人防护虽是最后一道防线（第 017 课），也要维护好、穿戴正确，它才是挡在危害前面的一层墙。可重复使用的护目镜、面屏、呼吸器用完要清洁，单独存放在干净、干燥、避光处，能专人专用的专人专用。</a:t>
            </a:r>
          </a:p>
          <a:p>
            <a:r>
              <a:t>穿戴要按顺序，并检查是否完好、到位；脱下时不碰被污染的外表面，脱完洗手（具体穿脱顺序见第 075 课，手套摘除见第 023 课）。每次进实验都要穿戴好。</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防护用品穿戴不对，等于没戴；用品缺了，暴露风险就上升。发现防护用品缺失、尺码不合适或型号不对时，不要凑合，及时报告实验室负责人或安全员，补齐后再做实验。</a:t>
            </a:r>
          </a:p>
          <a:p>
            <a:r>
              <a:t>不戴防护、戴不合适、戴不对，最能看出一个人是否专业。规范穿戴防护，是实验人员专业素养的一部分。</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最常见的防护失效，往往出在“就一分钟”“就看一眼”“马上就好”的时候：取个试剂、看一下反应、帮同学递个东西，护目镜就没戴。事故不会因为操作时间短而不发生，再短的操作，防护也不能省。</a:t>
            </a:r>
          </a:p>
          <a:p>
            <a:r>
              <a:t>防护用得好不好，要在真实操作中看。实验室负责人和安全员通过日常巡查、现场观察，趁早发现偏离，别等出了事才知道（安全检查见第 005 课）。</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头部防护用于防砸、防撞，并防止长发被卷入。在实验楼施工改造、设备吊装、高处有物体可能坠落、工程实训等场所，要按要求戴安全帽；骑电动车、摩托车要戴头盔。安全帽要按 GB 2811-2019（以现行文本为准）选用合格产品，戴正，调好帽衬松紧，系好下颏带，长发收进帽内。</a:t>
            </a:r>
          </a:p>
          <a:p>
            <a:r>
              <a:t>安全帽不能钻孔通风、加装配件或随意改装，钻孔会削弱帽壳强度，受撞击时容易开裂；也不要涂刷油漆、用溶剂擦拭。受过明显冲击、帽壳有裂纹或变形、超过产品说明规定的使用期限的，要报废更换。</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足部防护要按风险选择：有重物搬运和坠落风险的，穿有保护包头的防砸鞋；地面有钉子、碎屑的，选防刺穿鞋；地面湿滑的，选防滑鞋；可能接触化学品的，选耐化学品的鞋或胶靴（胶靴同样要有防砸包头）；焊接、熔融金属作业，穿防砸、防烫的劳保鞋。有防静电要求的场所穿防静电鞋；带电作业按规定穿电绝缘鞋，两者用途不同，不能混用（具体按 GB 21148-2020 等现行标准和本校规定）。</a:t>
            </a:r>
          </a:p>
          <a:p>
            <a:r>
              <a:t>安全鞋能减轻伤害，但不是保险：穿着安全鞋，也要远离悬吊的重物、转动的设备，按规程操作。</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个人防护穿对、戴好，能大大降低伤害的程度，但它只是控制层级的最后一层（第 017 课）。光靠防护还不够，还要有通风柜、洗眼器和紧急喷淋等安全设施（第 027 课），以及消除、替代、工程控制和管理措施。</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除了基本防护，还有一些按需加配的防护用品：倾倒、转移较大量的酸碱等腐蚀性液体时，在实验服外加耐化学品的防化围裙，必要时加袖套；接触高温器物用隔热手套（第 023 课）；噪声较大的场所戴耳塞或耳罩（第 150 课）。</a:t>
            </a:r>
          </a:p>
          <a:p>
            <a:r>
              <a:t>所有防护用品都要选有产品合格证明、标识清楚、符合国家标准的产品，按说明书规定的用途和期限使用，不用“三无”产品。</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个人防护用品要“会用”才有效。进入实验室前的安全培训中，要学会本实验室所用防护用品的选择、穿戴、脱卸、检查、清洁、存放和报废判断；呼吸器等专业防护还要单独培训和适合性检验（第 025 课）。</a:t>
            </a:r>
          </a:p>
          <a:p>
            <a:r>
              <a:t>学校和实验室按 GB 39800.1-2020（以现行文本为准）等要求，组织防护用品使用培训，并按本校规定记录培训、发放和报废情况。</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答案：B。解析：防护按风险评估选，先查 SDS 的个体防护建议，再结合实验条件确定。</a:t>
            </a:r>
          </a:p>
          <a:p>
            <a:r>
              <a:t>第 2 题 答案：B。解析：选错防护比不戴更危险，它让人误以为安全，化学品还可能穿透并闷在皮肤上。</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答案：B。解析：钻孔会削弱帽壳强度，受撞击时容易开裂。</a:t>
            </a:r>
          </a:p>
          <a:p>
            <a:r>
              <a:t>第 4 题 答案：C。解析：缺了用错要及时报告，补齐再做，不凑合。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答案：C。解析：防静电鞋和绝缘鞋用途不同；胶靴也要防砸；安全鞋不是保险。</a:t>
            </a:r>
          </a:p>
          <a:p>
            <a:r>
              <a:t>第 6 题 答案：事故不因操作时间短而不发生，短时操作恰恰是最常见的防护失效场合。解析：再短的操作，防护也不能省。</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021</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个人防护装备的选择</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第3章 通用安全与个人防护</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5.5 分钟（卡通视频 65 镜）　适用对象：全体进入高校实验室的本科生、研究生和教职工（必修）；实验室负责人、安全员和工程实训、维修施工相关人员重点学习</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能说出个人防护装备按风险评估选择的原则，知道先查安全技术说明书、先预判危害和受伤部位。</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能判断选错、不合身、穿戴不对的防护为什么危险，做到用前检查、坏了脏了及时更换、用后维护存放。</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能说出一般实验的基本三件防护，以及安全帽、安全鞋、围裙等防护用品的适用场合和使用禁忌。</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能做到防护用品缺失或不合适时报告实验室负责人、补齐后再做实验。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《中华人民共和国安全生产法》（以现行文本为准）：生产经营单位为从业人员提供符合国家标准或行业标准的劳动防护用品并监督、教育其正确佩戴使用，从业人员应正确佩戴和使用</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《中华人民共和国职业病防治法》（以现行文本为准）：提供符合防治职业病要求的个人防护用品</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号，以现行文本为准）：按实验风险配备个人防护用品，实验人员按要求佩戴</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39800.1-2020（以现行文本为准）《个体防护装备配备规范 第1部分：总则》：按危害辨识和风险评估配备，培训、使用、检查、维护和报废管理</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2811-2019（以现行文本为准）《头部防护 安全帽》</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21148-2020（以现行文本为准）《足部防护 安全鞋》</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《中华人民共和国危险化学品安全法》（2026 年 5 月 1 日起施行）及《危险化学品安全管理条例》（以现行文本为准）；GB/T 16483-2008（以现行文本为准）《化学品安全技术说明书 内容和项目顺序》</a:t>
            </a:r>
          </a:p>
        </p:txBody>
      </p:sp>
      <p:sp>
        <p:nvSpPr>
          <p:cNvPr id="26" name="Rounded Rectangle 25"/>
          <p:cNvSpPr/>
          <p:nvPr/>
        </p:nvSpPr>
        <p:spPr>
          <a:xfrm>
            <a:off x="6278727"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61607"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8" name="TextBox 27"/>
          <p:cNvSpPr txBox="1"/>
          <p:nvPr/>
        </p:nvSpPr>
        <p:spPr>
          <a:xfrm>
            <a:off x="7101687"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本校实验室安全管理制度、个人防护用品配备和发放规定（以本校规定为准）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按风险评估选防护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戴什么防护，由风险评估决定</a:t>
            </a:r>
          </a:p>
          <a:p>
            <a:pPr>
              <a:spcAft>
                <a:spcPts val="1000"/>
              </a:spcAft>
            </a:pPr>
            <a:r>
              <a:rPr sz="2000">
                <a:solidFill>
                  <a:srgbClr val="222B33"/>
                </a:solidFill>
                <a:latin typeface="Microsoft YaHei"/>
              </a:rPr>
              <a:t>▪ 先查安全技术说明书中的防护建议</a:t>
            </a:r>
          </a:p>
          <a:p>
            <a:pPr>
              <a:spcAft>
                <a:spcPts val="1000"/>
              </a:spcAft>
            </a:pPr>
            <a:r>
              <a:rPr sz="2000">
                <a:solidFill>
                  <a:srgbClr val="222B33"/>
                </a:solidFill>
                <a:latin typeface="Microsoft YaHei"/>
              </a:rPr>
              <a:t>▪ 按所用化学品和实验条件选定</a:t>
            </a:r>
          </a:p>
          <a:p>
            <a:pPr>
              <a:spcAft>
                <a:spcPts val="1000"/>
              </a:spcAft>
            </a:pPr>
            <a:r>
              <a:rPr sz="2000">
                <a:solidFill>
                  <a:srgbClr val="222B33"/>
                </a:solidFill>
                <a:latin typeface="Microsoft YaHei"/>
              </a:rPr>
              <a:t>▪ 撤走全部化学品的讲台，才谈得上不穿防护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个人防护装备不是凭习惯随手拿的，而是按风险评估选出来的（风险评估见第 014–015 课）。做实验前，先查所用化学品的安全技术说明书（SDS），其中“接触控制和个体防护”部分给出了眼、手、呼吸和身体防护的建议（SDS……</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不看说明书，所有实验都只戴一副一次性手套</a:t>
            </a:r>
          </a:p>
          <a:p>
            <a:pPr>
              <a:spcAft>
                <a:spcPts val="1000"/>
              </a:spcAft>
            </a:pPr>
            <a:r>
              <a:rPr sz="1500">
                <a:solidFill>
                  <a:srgbClr val="222B33"/>
                </a:solidFill>
                <a:latin typeface="Microsoft YaHei"/>
              </a:rPr>
              <a:t>▪ 认为“只是讲解一下”，在摆满试剂的台前不戴防护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先预判危害，再定防护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先写下来：有哪些危害、会伤到哪个部位</a:t>
            </a:r>
          </a:p>
          <a:p>
            <a:pPr>
              <a:spcAft>
                <a:spcPts val="1000"/>
              </a:spcAft>
            </a:pPr>
            <a:r>
              <a:rPr sz="2000">
                <a:solidFill>
                  <a:srgbClr val="222B33"/>
                </a:solidFill>
                <a:latin typeface="Microsoft YaHei"/>
              </a:rPr>
              <a:t>▪ 危害是可以预见的，能预见就能提前准备</a:t>
            </a:r>
          </a:p>
          <a:p>
            <a:pPr>
              <a:spcAft>
                <a:spcPts val="1000"/>
              </a:spcAft>
            </a:pPr>
            <a:r>
              <a:rPr sz="2000">
                <a:solidFill>
                  <a:srgbClr val="222B33"/>
                </a:solidFill>
                <a:latin typeface="Microsoft YaHei"/>
              </a:rPr>
              <a:t>▪ 不确定所需防护，问清导师</a:t>
            </a:r>
          </a:p>
          <a:p>
            <a:pPr>
              <a:spcAft>
                <a:spcPts val="1000"/>
              </a:spcAft>
            </a:pPr>
            <a:r>
              <a:rPr sz="2000">
                <a:solidFill>
                  <a:srgbClr val="222B33"/>
                </a:solidFill>
                <a:latin typeface="Microsoft YaHei"/>
              </a:rPr>
              <a:t>▪ 同时想好出了事怎么应急</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选防护之前，先做书面的危害评估：这次实验有哪些具体危害（飞溅、烫伤、冻伤、吸入、割伤、砸伤），会伤到身体的哪个部位。危害取决于你要做什么，是可以预见的；能预见，就能提前准备好合适的防护。凭感觉乱配，反而会带来新的危险。</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先开始做，遇到问题再去找防护用品</a:t>
            </a:r>
          </a:p>
          <a:p>
            <a:pPr>
              <a:spcAft>
                <a:spcPts val="1000"/>
              </a:spcAft>
            </a:pPr>
            <a:r>
              <a:rPr sz="1500">
                <a:solidFill>
                  <a:srgbClr val="222B33"/>
                </a:solidFill>
                <a:latin typeface="Microsoft YaHei"/>
              </a:rPr>
              <a:t>▪ 只想到防护，没想到出了事怎么处置</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选错防护比不戴更危险</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选错防护，比不戴还危险</a:t>
            </a:r>
          </a:p>
          <a:p>
            <a:pPr>
              <a:spcAft>
                <a:spcPts val="1000"/>
              </a:spcAft>
            </a:pPr>
            <a:r>
              <a:rPr sz="2000">
                <a:solidFill>
                  <a:srgbClr val="222B33"/>
                </a:solidFill>
                <a:latin typeface="Microsoft YaHei"/>
              </a:rPr>
              <a:t>▪ 它让人误以为自己很安全</a:t>
            </a:r>
          </a:p>
          <a:p>
            <a:pPr>
              <a:spcAft>
                <a:spcPts val="1000"/>
              </a:spcAft>
            </a:pPr>
            <a:r>
              <a:rPr sz="2000">
                <a:solidFill>
                  <a:srgbClr val="222B33"/>
                </a:solidFill>
                <a:latin typeface="Microsoft YaHei"/>
              </a:rPr>
              <a:t>▪ 防护必须和具体危害对得上</a:t>
            </a:r>
          </a:p>
          <a:p>
            <a:pPr>
              <a:spcAft>
                <a:spcPts val="1000"/>
              </a:spcAft>
            </a:pPr>
            <a:r>
              <a:rPr sz="2000">
                <a:solidFill>
                  <a:srgbClr val="222B33"/>
                </a:solidFill>
                <a:latin typeface="Microsoft YaHei"/>
              </a:rPr>
              <a:t>▪ 防护不是打勾走过场的表演</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选错的防护比不戴还危险：例如用挡不住某种溶剂的手套去接触它，溶剂会穿透手套并被闷在皮肤上，人却以为自己受到了保护，反而放松了警惕。防护用品必须和具体的危害对得上，选对材质、类型和防护等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认为“戴了总比没戴好”，不管型号是否合适</a:t>
            </a:r>
          </a:p>
          <a:p>
            <a:pPr>
              <a:spcAft>
                <a:spcPts val="1000"/>
              </a:spcAft>
            </a:pPr>
            <a:r>
              <a:rPr sz="1500">
                <a:solidFill>
                  <a:srgbClr val="222B33"/>
                </a:solidFill>
                <a:latin typeface="Microsoft YaHei"/>
              </a:rPr>
              <a:t>▪ 填表时一律勾选“已佩戴防护”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按危害和身体部位选</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护目镜面屏护眼面，手套护手</a:t>
            </a:r>
          </a:p>
          <a:p>
            <a:pPr>
              <a:spcAft>
                <a:spcPts val="1000"/>
              </a:spcAft>
            </a:pPr>
            <a:r>
              <a:rPr sz="2000">
                <a:solidFill>
                  <a:srgbClr val="222B33"/>
                </a:solidFill>
                <a:latin typeface="Microsoft YaHei"/>
              </a:rPr>
              <a:t>▪ 口罩和呼吸器护呼吸，实验服防护服护身体</a:t>
            </a:r>
          </a:p>
          <a:p>
            <a:pPr>
              <a:spcAft>
                <a:spcPts val="1000"/>
              </a:spcAft>
            </a:pPr>
            <a:r>
              <a:rPr sz="2000">
                <a:solidFill>
                  <a:srgbClr val="222B33"/>
                </a:solidFill>
                <a:latin typeface="Microsoft YaHei"/>
              </a:rPr>
              <a:t>▪ 取液氮戴防冻手套，手套材质按化学品选</a:t>
            </a:r>
          </a:p>
          <a:p>
            <a:pPr>
              <a:spcAft>
                <a:spcPts val="1000"/>
              </a:spcAft>
            </a:pPr>
            <a:r>
              <a:rPr sz="2000">
                <a:solidFill>
                  <a:srgbClr val="222B33"/>
                </a:solidFill>
                <a:latin typeface="Microsoft YaHei"/>
              </a:rPr>
              <a:t>▪ 特殊工作、应急处置，换上专门的防护</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不同部位有不同的防护：安全眼镜、护目镜、面屏保护眼面部（第 022 课）；手套保护手（第 023 课）；实验服和防护服保护身体（第 024 课）；口罩和呼吸器保护呼吸（第 025 课）；安全帽和安全鞋保护头部和足部（……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用一次性薄手套去拿液氮容器</a:t>
            </a:r>
          </a:p>
          <a:p>
            <a:pPr>
              <a:spcAft>
                <a:spcPts val="1000"/>
              </a:spcAft>
            </a:pPr>
            <a:r>
              <a:rPr sz="1500">
                <a:solidFill>
                  <a:srgbClr val="222B33"/>
                </a:solidFill>
                <a:latin typeface="Microsoft YaHei"/>
              </a:rPr>
              <a:t>▪ 只戴护目镜，做喷溅风险大的操作不加面屏</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一般实验的基本三件</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一般化学实验：实验服、护目镜、手套</a:t>
            </a:r>
          </a:p>
          <a:p>
            <a:pPr>
              <a:spcAft>
                <a:spcPts val="1000"/>
              </a:spcAft>
            </a:pPr>
            <a:r>
              <a:rPr sz="2000">
                <a:solidFill>
                  <a:srgbClr val="222B33"/>
                </a:solidFill>
                <a:latin typeface="Microsoft YaHei"/>
              </a:rPr>
              <a:t>▪ 三件一样不能少，在着装合格的基础上穿戴</a:t>
            </a:r>
          </a:p>
          <a:p>
            <a:pPr>
              <a:spcAft>
                <a:spcPts val="1000"/>
              </a:spcAft>
            </a:pPr>
            <a:r>
              <a:rPr sz="2000">
                <a:solidFill>
                  <a:srgbClr val="222B33"/>
                </a:solidFill>
                <a:latin typeface="Microsoft YaHei"/>
              </a:rPr>
              <a:t>▪ 防护既保护人，也保护样品不被污染</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一般的化学、生物教学和科研实验，最低配置是三件：实验服（扣好）、安全眼镜或护目镜（全程佩戴）、按试剂选择的手套。这三件是在第 020 课着装要求合格（长裤、包脚鞋、长发束起）的基础上穿戴的，风险更高时再按评估增加。</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实验服穿了，护目镜挂在头顶</a:t>
            </a:r>
          </a:p>
          <a:p>
            <a:pPr>
              <a:spcAft>
                <a:spcPts val="1000"/>
              </a:spcAft>
            </a:pPr>
            <a:r>
              <a:rPr sz="1500">
                <a:solidFill>
                  <a:srgbClr val="222B33"/>
                </a:solidFill>
                <a:latin typeface="Microsoft YaHei"/>
              </a:rPr>
              <a:t>▪ 认为“只是配个缓冲液”，三件不全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防护区域和防护用品存放处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每个实验室都规定了必须防护的区域</a:t>
            </a:r>
          </a:p>
          <a:p>
            <a:pPr>
              <a:spcAft>
                <a:spcPts val="1000"/>
              </a:spcAft>
            </a:pPr>
            <a:r>
              <a:rPr sz="2000">
                <a:solidFill>
                  <a:srgbClr val="222B33"/>
                </a:solidFill>
                <a:latin typeface="Microsoft YaHei"/>
              </a:rPr>
              <a:t>▪ 进门先看标志，按要求穿戴</a:t>
            </a:r>
          </a:p>
          <a:p>
            <a:pPr>
              <a:spcAft>
                <a:spcPts val="1000"/>
              </a:spcAft>
            </a:pPr>
            <a:r>
              <a:rPr sz="2000">
                <a:solidFill>
                  <a:srgbClr val="222B33"/>
                </a:solidFill>
                <a:latin typeface="Microsoft YaHei"/>
              </a:rPr>
              <a:t>▪ 知道防护用品集中存放在哪里</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每个实验室都规定了必须穿戴防护的区域，有的在门口、有的在某台设备旁，用“必须戴护目镜”“必须戴防护手套”等指令标志标明（安全标志见第 026 课）。进入前看清标志，按要求穿戴好，进入区域后一步也不能少。</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只看人家穿什么，不看门口的指令标志</a:t>
            </a:r>
          </a:p>
          <a:p>
            <a:pPr>
              <a:spcAft>
                <a:spcPts val="1000"/>
              </a:spcAft>
            </a:pPr>
            <a:r>
              <a:rPr sz="1500">
                <a:solidFill>
                  <a:srgbClr val="222B33"/>
                </a:solidFill>
                <a:latin typeface="Microsoft YaHei"/>
              </a:rPr>
              <a:t>▪ 不知道备用防护用品放在哪里，随手借用别人的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学校配备，个人用好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学校和实验室按规定配齐合格的防护用品</a:t>
            </a:r>
          </a:p>
          <a:p>
            <a:pPr>
              <a:spcAft>
                <a:spcPts val="1000"/>
              </a:spcAft>
            </a:pPr>
            <a:r>
              <a:rPr sz="2000">
                <a:solidFill>
                  <a:srgbClr val="222B33"/>
                </a:solidFill>
                <a:latin typeface="Microsoft YaHei"/>
              </a:rPr>
              <a:t>▪ 穿对、戴好、保持完好，是每个人的责任</a:t>
            </a:r>
          </a:p>
          <a:p>
            <a:pPr>
              <a:spcAft>
                <a:spcPts val="1000"/>
              </a:spcAft>
            </a:pPr>
            <a:r>
              <a:rPr sz="2000">
                <a:solidFill>
                  <a:srgbClr val="222B33"/>
                </a:solidFill>
                <a:latin typeface="Microsoft YaHei"/>
              </a:rPr>
              <a:t>▪ 规定要戴的，是硬要求，不是想戴才戴</a:t>
            </a:r>
          </a:p>
          <a:p>
            <a:pPr>
              <a:spcAft>
                <a:spcPts val="1000"/>
              </a:spcAft>
            </a:pPr>
            <a:r>
              <a:rPr sz="2000">
                <a:solidFill>
                  <a:srgbClr val="222B33"/>
                </a:solidFill>
                <a:latin typeface="Microsoft YaHei"/>
              </a:rPr>
              <a:t>▪ 用品坏了、不够了，及时说</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按《中华人民共和国安全生产法》等规定，单位要为人员提供符合国家标准或行业标准的劳动防护用品，并教育、监督正确佩戴；在高校，由学校、学院和实验室按实验风险配齐合格的个人防护用品（配备原则见 GB 39800.1-202……</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认为防护用品是“建议”，嫌麻烦就不戴</a:t>
            </a:r>
          </a:p>
          <a:p>
            <a:pPr>
              <a:spcAft>
                <a:spcPts val="1000"/>
              </a:spcAft>
            </a:pPr>
            <a:r>
              <a:rPr sz="1500">
                <a:solidFill>
                  <a:srgbClr val="222B33"/>
                </a:solidFill>
                <a:latin typeface="Microsoft YaHei"/>
              </a:rPr>
              <a:t>▪ 防护用品坏了自己凑合用，不报告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舒适合身才会坚持穿</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不合身、太闷热，人就容易出错、偷偷摘下</a:t>
            </a:r>
          </a:p>
          <a:p>
            <a:pPr>
              <a:spcAft>
                <a:spcPts val="1000"/>
              </a:spcAft>
            </a:pPr>
            <a:r>
              <a:rPr sz="2000">
                <a:solidFill>
                  <a:srgbClr val="222B33"/>
                </a:solidFill>
                <a:latin typeface="Microsoft YaHei"/>
              </a:rPr>
              <a:t>▪ 过热、脱水、厌烦都会让人犯错</a:t>
            </a:r>
          </a:p>
          <a:p>
            <a:pPr>
              <a:spcAft>
                <a:spcPts val="1000"/>
              </a:spcAft>
            </a:pPr>
            <a:r>
              <a:rPr sz="2000">
                <a:solidFill>
                  <a:srgbClr val="222B33"/>
                </a:solidFill>
                <a:latin typeface="Microsoft YaHei"/>
              </a:rPr>
              <a:t>▪ 尺码齐全，选对型号，调好松紧</a:t>
            </a:r>
          </a:p>
          <a:p>
            <a:pPr>
              <a:spcAft>
                <a:spcPts val="1000"/>
              </a:spcAft>
            </a:pPr>
            <a:r>
              <a:rPr sz="2000">
                <a:solidFill>
                  <a:srgbClr val="222B33"/>
                </a:solidFill>
                <a:latin typeface="Microsoft YaHei"/>
              </a:rPr>
              <a:t>▪ 戴眼镜的人选能罩住眼镜的护目镜</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舒适性也是安全问题。护具不合身、太闷热，人就会分心、出汗、厌烦，容易出错，甚至偷偷摘下；长时间穿戴还可能过热、脱水。防护用品戴全了还受伤，多半是不合适或没用对。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手套太大，捏不住器皿就摘掉</a:t>
            </a:r>
          </a:p>
          <a:p>
            <a:pPr>
              <a:spcAft>
                <a:spcPts val="1000"/>
              </a:spcAft>
            </a:pPr>
            <a:r>
              <a:rPr sz="1500">
                <a:solidFill>
                  <a:srgbClr val="222B33"/>
                </a:solidFill>
                <a:latin typeface="Microsoft YaHei"/>
              </a:rPr>
              <a:t>▪ 护目镜起雾、勒得疼，干脆推到额头上</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用前检查，坏了脏了就换</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每次用前检查有无破损、裂纹、磨损</a:t>
            </a:r>
          </a:p>
          <a:p>
            <a:pPr>
              <a:spcAft>
                <a:spcPts val="1000"/>
              </a:spcAft>
            </a:pPr>
            <a:r>
              <a:rPr sz="2000">
                <a:solidFill>
                  <a:srgbClr val="222B33"/>
                </a:solidFill>
                <a:latin typeface="Microsoft YaHei"/>
              </a:rPr>
              <a:t>▪ 镜片划花、面屏开裂、手套破洞都要换</a:t>
            </a:r>
          </a:p>
          <a:p>
            <a:pPr>
              <a:spcAft>
                <a:spcPts val="1000"/>
              </a:spcAft>
            </a:pPr>
            <a:r>
              <a:rPr sz="2000">
                <a:solidFill>
                  <a:srgbClr val="222B33"/>
                </a:solidFill>
                <a:latin typeface="Microsoft YaHei"/>
              </a:rPr>
              <a:t>▪ 可能被污染，立即更换</a:t>
            </a:r>
          </a:p>
          <a:p>
            <a:pPr>
              <a:spcAft>
                <a:spcPts val="1000"/>
              </a:spcAft>
            </a:pPr>
            <a:r>
              <a:rPr sz="2000">
                <a:solidFill>
                  <a:srgbClr val="222B33"/>
                </a:solidFill>
                <a:latin typeface="Microsoft YaHei"/>
              </a:rPr>
              <a:t>▪ 一整天都留意防护用品的状况</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防护用品每次穿戴前都要检查：手套有没有破洞、变色、发硬；护目镜和面屏镜片有没有划花、开裂；实验服有没有破损和污染；呼吸器滤盒有没有过期、失效（第 025 课）。有裂纹、磨损的，能修的修好，不能修的报废换新。还要检查大……</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不检查就戴上，做到一半才发现手套漏了</a:t>
            </a:r>
          </a:p>
          <a:p>
            <a:pPr>
              <a:spcAft>
                <a:spcPts val="1000"/>
              </a:spcAft>
            </a:pPr>
            <a:r>
              <a:rPr sz="1500">
                <a:solidFill>
                  <a:srgbClr val="222B33"/>
                </a:solidFill>
                <a:latin typeface="Microsoft YaHei"/>
              </a:rPr>
              <a:t>▪ 手套沾了试剂，擦一擦继续用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维护好，穿戴正确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防护是最后一道防线，也要维护好、穿正确</a:t>
            </a:r>
          </a:p>
          <a:p>
            <a:pPr>
              <a:spcAft>
                <a:spcPts val="1000"/>
              </a:spcAft>
            </a:pPr>
            <a:r>
              <a:rPr sz="2000">
                <a:solidFill>
                  <a:srgbClr val="222B33"/>
                </a:solidFill>
                <a:latin typeface="Microsoft YaHei"/>
              </a:rPr>
              <a:t>▪ 用完清洁，单独妥善存放，能专人专用的专用</a:t>
            </a:r>
          </a:p>
          <a:p>
            <a:pPr>
              <a:spcAft>
                <a:spcPts val="1000"/>
              </a:spcAft>
            </a:pPr>
            <a:r>
              <a:rPr sz="2000">
                <a:solidFill>
                  <a:srgbClr val="222B33"/>
                </a:solidFill>
                <a:latin typeface="Microsoft YaHei"/>
              </a:rPr>
              <a:t>▪ 按顺序穿戴，按顺序脱下</a:t>
            </a:r>
          </a:p>
          <a:p>
            <a:pPr>
              <a:spcAft>
                <a:spcPts val="1000"/>
              </a:spcAft>
            </a:pPr>
            <a:r>
              <a:rPr sz="2000">
                <a:solidFill>
                  <a:srgbClr val="222B33"/>
                </a:solidFill>
                <a:latin typeface="Microsoft YaHei"/>
              </a:rPr>
              <a:t>▪ 脱时不碰外表面，脱完洗手</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个人防护虽是最后一道防线（第 017 课），也要维护好、穿戴正确，它才是挡在危害前面的一层墙。可重复使用的护目镜、面屏、呼吸器用完要清洁，单独存放在干净、干燥、避光处，能专人专用的专人专用。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护目镜用完随手扔在实验台上</a:t>
            </a:r>
          </a:p>
          <a:p>
            <a:pPr>
              <a:spcAft>
                <a:spcPts val="1000"/>
              </a:spcAft>
            </a:pPr>
            <a:r>
              <a:rPr sz="1500">
                <a:solidFill>
                  <a:srgbClr val="222B33"/>
                </a:solidFill>
                <a:latin typeface="Microsoft YaHei"/>
              </a:rPr>
              <a:t>▪ 脱手套时用手抓外面，再徒手碰脸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缺了用错，及时报告补齐</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穿戴不对，等于没戴</a:t>
            </a:r>
          </a:p>
          <a:p>
            <a:pPr>
              <a:spcAft>
                <a:spcPts val="1000"/>
              </a:spcAft>
            </a:pPr>
            <a:r>
              <a:rPr sz="2000">
                <a:solidFill>
                  <a:srgbClr val="222B33"/>
                </a:solidFill>
                <a:latin typeface="Microsoft YaHei"/>
              </a:rPr>
              <a:t>▪ 用品缺了，暴露风险就上升</a:t>
            </a:r>
          </a:p>
          <a:p>
            <a:pPr>
              <a:spcAft>
                <a:spcPts val="1000"/>
              </a:spcAft>
            </a:pPr>
            <a:r>
              <a:rPr sz="2000">
                <a:solidFill>
                  <a:srgbClr val="222B33"/>
                </a:solidFill>
                <a:latin typeface="Microsoft YaHei"/>
              </a:rPr>
              <a:t>▪ 及时报告实验室负责人，补齐再做</a:t>
            </a:r>
          </a:p>
          <a:p>
            <a:pPr>
              <a:spcAft>
                <a:spcPts val="1000"/>
              </a:spcAft>
            </a:pPr>
            <a:r>
              <a:rPr sz="2000">
                <a:solidFill>
                  <a:srgbClr val="222B33"/>
                </a:solidFill>
                <a:latin typeface="Microsoft YaHei"/>
              </a:rPr>
              <a:t>▪ 不戴、戴不对，最显得不专业</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防护用品穿戴不对，等于没戴；用品缺了，暴露风险就上升。发现防护用品缺失、尺码不合适或型号不对时，不要凑合，及时报告实验室负责人或安全员，补齐后再做实验。</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合适的手套用完了，换别的型号凑合</a:t>
            </a:r>
          </a:p>
          <a:p>
            <a:pPr>
              <a:spcAft>
                <a:spcPts val="1000"/>
              </a:spcAft>
            </a:pPr>
            <a:r>
              <a:rPr sz="1500">
                <a:solidFill>
                  <a:srgbClr val="222B33"/>
                </a:solidFill>
                <a:latin typeface="Microsoft YaHei"/>
              </a:rPr>
              <a:t>▪ 看到同学防护不到位，不提醒</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“就一分钟”也要戴</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“就一分钟”，最容易不戴护目镜</a:t>
            </a:r>
          </a:p>
          <a:p>
            <a:pPr>
              <a:spcAft>
                <a:spcPts val="1000"/>
              </a:spcAft>
            </a:pPr>
            <a:r>
              <a:rPr sz="2000">
                <a:solidFill>
                  <a:srgbClr val="222B33"/>
                </a:solidFill>
                <a:latin typeface="Microsoft YaHei"/>
              </a:rPr>
              <a:t>▪ 再短的操作，防护也不能省</a:t>
            </a:r>
          </a:p>
          <a:p>
            <a:pPr>
              <a:spcAft>
                <a:spcPts val="1000"/>
              </a:spcAft>
            </a:pPr>
            <a:r>
              <a:rPr sz="2000">
                <a:solidFill>
                  <a:srgbClr val="222B33"/>
                </a:solidFill>
                <a:latin typeface="Microsoft YaHei"/>
              </a:rPr>
              <a:t>▪ 在真实操作中观察，趁早发现偏离</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最常见的防护失效，往往出在“就一分钟”“就看一眼”“马上就好”的时候：取个试剂、看一下反应、帮同学递个东西，护目镜就没戴。事故不会因为操作时间短而不发生，再短的操作，防护也不能省。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进实验室“拿个东西”不戴护目镜</a:t>
            </a:r>
          </a:p>
          <a:p>
            <a:pPr>
              <a:spcAft>
                <a:spcPts val="1000"/>
              </a:spcAft>
            </a:pPr>
            <a:r>
              <a:rPr sz="1500">
                <a:solidFill>
                  <a:srgbClr val="222B33"/>
                </a:solidFill>
                <a:latin typeface="Microsoft YaHei"/>
              </a:rPr>
              <a:t>▪ 只在检查时戴，平时不戴</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头部防护：安全帽</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有物体坠落、碰头风险时戴安全帽</a:t>
            </a:r>
          </a:p>
          <a:p>
            <a:pPr>
              <a:spcAft>
                <a:spcPts val="1000"/>
              </a:spcAft>
            </a:pPr>
            <a:r>
              <a:rPr sz="2000">
                <a:solidFill>
                  <a:srgbClr val="222B33"/>
                </a:solidFill>
                <a:latin typeface="Microsoft YaHei"/>
              </a:rPr>
              <a:t>▪ 调好帽衬，系好下颏带，长发收进帽内</a:t>
            </a:r>
          </a:p>
          <a:p>
            <a:pPr>
              <a:spcAft>
                <a:spcPts val="1000"/>
              </a:spcAft>
            </a:pPr>
            <a:r>
              <a:rPr sz="2000">
                <a:solidFill>
                  <a:srgbClr val="222B33"/>
                </a:solidFill>
                <a:latin typeface="Microsoft YaHei"/>
              </a:rPr>
              <a:t>▪ 不钻孔、不改装，会削弱强度</a:t>
            </a:r>
          </a:p>
          <a:p>
            <a:pPr>
              <a:spcAft>
                <a:spcPts val="1000"/>
              </a:spcAft>
            </a:pPr>
            <a:r>
              <a:rPr sz="2000">
                <a:solidFill>
                  <a:srgbClr val="222B33"/>
                </a:solidFill>
                <a:latin typeface="Microsoft YaHei"/>
              </a:rPr>
              <a:t>▪ 受过冲击或超过使用期限的要更换</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头部防护用于防砸、防撞，并防止长发被卷入。在实验楼施工改造、设备吊装、高处有物体可能坠落、工程实训等场所，要按要求戴安全帽；骑电动车、摩托车要戴头盔。安全帽要按 GB 2811-2019（以现行文本为准）选用合格产品……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安全帽只顶在头上，不系下颏带</a:t>
            </a:r>
          </a:p>
          <a:p>
            <a:pPr>
              <a:spcAft>
                <a:spcPts val="1000"/>
              </a:spcAft>
            </a:pPr>
            <a:r>
              <a:rPr sz="1500">
                <a:solidFill>
                  <a:srgbClr val="222B33"/>
                </a:solidFill>
                <a:latin typeface="Microsoft YaHei"/>
              </a:rPr>
              <a:t>▪ 为了凉快在帽壳上钻孔</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足部防护：安全鞋</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按风险选防砸、防刺穿、防滑、防化学品的鞋</a:t>
            </a:r>
          </a:p>
          <a:p>
            <a:pPr>
              <a:spcAft>
                <a:spcPts val="1000"/>
              </a:spcAft>
            </a:pPr>
            <a:r>
              <a:rPr sz="2000">
                <a:solidFill>
                  <a:srgbClr val="222B33"/>
                </a:solidFill>
                <a:latin typeface="Microsoft YaHei"/>
              </a:rPr>
              <a:t>▪ 防静电鞋和电绝缘鞋用途不同，不能混用</a:t>
            </a:r>
          </a:p>
          <a:p>
            <a:pPr>
              <a:spcAft>
                <a:spcPts val="1000"/>
              </a:spcAft>
            </a:pPr>
            <a:r>
              <a:rPr sz="2000">
                <a:solidFill>
                  <a:srgbClr val="222B33"/>
                </a:solidFill>
                <a:latin typeface="Microsoft YaHei"/>
              </a:rPr>
              <a:t>▪ 穿胶靴也要防砸；焊接、搬运穿防砸防烫鞋</a:t>
            </a:r>
          </a:p>
          <a:p>
            <a:pPr>
              <a:spcAft>
                <a:spcPts val="1000"/>
              </a:spcAft>
            </a:pPr>
            <a:r>
              <a:rPr sz="2000">
                <a:solidFill>
                  <a:srgbClr val="222B33"/>
                </a:solidFill>
                <a:latin typeface="Microsoft YaHei"/>
              </a:rPr>
              <a:t>▪ 穿了安全鞋，也不能代替远离危险</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足部防护要按风险选择：有重物搬运和坠落风险的，穿有保护包头的防砸鞋；地面有钉子、碎屑的，选防刺穿鞋；地面湿滑的，选防滑鞋；可能接触化学品的，选耐化学品的鞋或胶靴（胶靴同样要有防砸包头）；焊接、熔融金属作业，穿防砸、防……</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穿普通胶靴搬运重物</a:t>
            </a:r>
          </a:p>
          <a:p>
            <a:pPr>
              <a:spcAft>
                <a:spcPts val="1000"/>
              </a:spcAft>
            </a:pPr>
            <a:r>
              <a:rPr sz="1500">
                <a:solidFill>
                  <a:srgbClr val="222B33"/>
                </a:solidFill>
                <a:latin typeface="Microsoft YaHei"/>
              </a:rPr>
              <a:t>▪ 把防静电鞋当成绝缘鞋使用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防护重要，但还不够</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穿对、戴好，能大大降低伤害</a:t>
            </a:r>
          </a:p>
          <a:p>
            <a:pPr>
              <a:spcAft>
                <a:spcPts val="1000"/>
              </a:spcAft>
            </a:pPr>
            <a:r>
              <a:rPr sz="2000">
                <a:solidFill>
                  <a:srgbClr val="222B33"/>
                </a:solidFill>
                <a:latin typeface="Microsoft YaHei"/>
              </a:rPr>
              <a:t>▪ 光靠防护不够，还要安全设施和控制措施</a:t>
            </a:r>
          </a:p>
          <a:p>
            <a:pPr>
              <a:spcAft>
                <a:spcPts val="1000"/>
              </a:spcAft>
            </a:pPr>
            <a:r>
              <a:rPr sz="2000">
                <a:solidFill>
                  <a:srgbClr val="222B33"/>
                </a:solidFill>
                <a:latin typeface="Microsoft YaHei"/>
              </a:rPr>
              <a:t>▪ 防护是控制层级的最后一层</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个人防护穿对、戴好，能大大降低伤害的程度，但它只是控制层级的最后一层（第 017 课）。光靠防护还不够，还要有通风柜、洗眼器和紧急喷淋等安全设施（第 027 课），以及消除、替代、工程控制和管理措施。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认为防护穿全了，就可以不开通风柜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围裙、袖套等其他防护用品</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大量倾倒腐蚀品等，在实验服外加防化围裙</a:t>
            </a:r>
          </a:p>
          <a:p>
            <a:pPr>
              <a:spcAft>
                <a:spcPts val="1000"/>
              </a:spcAft>
            </a:pPr>
            <a:r>
              <a:rPr sz="2000">
                <a:solidFill>
                  <a:srgbClr val="222B33"/>
                </a:solidFill>
                <a:latin typeface="Microsoft YaHei"/>
              </a:rPr>
              <a:t>▪ 袖套、隔热手套、耳塞等按风险加配</a:t>
            </a:r>
          </a:p>
          <a:p>
            <a:pPr>
              <a:spcAft>
                <a:spcPts val="1000"/>
              </a:spcAft>
            </a:pPr>
            <a:r>
              <a:rPr sz="2000">
                <a:solidFill>
                  <a:srgbClr val="222B33"/>
                </a:solidFill>
                <a:latin typeface="Microsoft YaHei"/>
              </a:rPr>
              <a:t>▪ 选有合格证明、标识清楚的产品</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除了基本防护，还有一些按需加配的防护用品：倾倒、转移较大量的酸碱等腐蚀性液体时，在实验服外加耐化学品的防化围裙，必要时加袖套；接触高温器物用隔热手套（第 023 课）；噪声较大的场所戴耳塞或耳罩（第 150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用普通塑料袋当围裙</a:t>
            </a:r>
          </a:p>
          <a:p>
            <a:pPr>
              <a:spcAft>
                <a:spcPts val="1000"/>
              </a:spcAft>
            </a:pPr>
            <a:r>
              <a:rPr sz="1500">
                <a:solidFill>
                  <a:srgbClr val="222B33"/>
                </a:solidFill>
                <a:latin typeface="Microsoft YaHei"/>
              </a:rPr>
              <a:t>▪ 采购没有标识的低价防护用品</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先培训，会选会用</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S2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使用前先接受培训：会选、会穿、会脱</a:t>
            </a:r>
          </a:p>
          <a:p>
            <a:pPr>
              <a:spcAft>
                <a:spcPts val="1000"/>
              </a:spcAft>
            </a:pPr>
            <a:r>
              <a:rPr sz="2000">
                <a:solidFill>
                  <a:srgbClr val="222B33"/>
                </a:solidFill>
                <a:latin typeface="Microsoft YaHei"/>
              </a:rPr>
              <a:t>▪ 还要会检查，知道什么时候报废</a:t>
            </a:r>
          </a:p>
          <a:p>
            <a:pPr>
              <a:spcAft>
                <a:spcPts val="1000"/>
              </a:spcAft>
            </a:pPr>
            <a:r>
              <a:rPr sz="2000">
                <a:solidFill>
                  <a:srgbClr val="222B33"/>
                </a:solidFill>
                <a:latin typeface="Microsoft YaHei"/>
              </a:rPr>
              <a:t>▪ 培训和使用情况按本校规定记录</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个人防护用品要“会用”才有效。进入实验室前的安全培训中，要学会本实验室所用防护用品的选择、穿戴、脱卸、检查、清洁、存放和报废判断；呼吸器等专业防护还要单独培训和适合性检验（第 025 课）。</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第一次用呼吸器，没人教就自己戴上</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选择个人防护装备的主要依据是：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别人穿什么</a:t>
            </a:r>
          </a:p>
          <a:p>
            <a:pPr algn="l"/>
            <a:r>
              <a:rPr sz="1500" b="0">
                <a:solidFill>
                  <a:srgbClr val="222B33"/>
                </a:solidFill>
                <a:latin typeface="Microsoft YaHei"/>
              </a:rPr>
              <a:t>B. 风险评估和化学品安全技术说明书</a:t>
            </a:r>
          </a:p>
          <a:p>
            <a:pPr algn="l"/>
            <a:r>
              <a:rPr sz="1500" b="0">
                <a:solidFill>
                  <a:srgbClr val="222B33"/>
                </a:solidFill>
                <a:latin typeface="Microsoft YaHei"/>
              </a:rPr>
              <a:t>C. 价格</a:t>
            </a:r>
          </a:p>
          <a:p>
            <a:pPr algn="l"/>
            <a:r>
              <a:rPr sz="1500" b="0">
                <a:solidFill>
                  <a:srgbClr val="222B33"/>
                </a:solidFill>
                <a:latin typeface="Microsoft YaHei"/>
              </a:rPr>
              <a:t>D. 个人喜好</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判断：只要戴了手套，不管什么型号，总比不戴好。</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判断：为了通风凉快，可以在安全帽上钻几个小孔。</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实验室合适尺码的手套用完了，正确的做法是：</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换一种型号凑合用</a:t>
            </a:r>
          </a:p>
          <a:p>
            <a:pPr algn="l"/>
            <a:r>
              <a:rPr sz="1500" b="0">
                <a:solidFill>
                  <a:srgbClr val="222B33"/>
                </a:solidFill>
                <a:latin typeface="Microsoft YaHei"/>
              </a:rPr>
              <a:t>B. 不戴手套快点做完</a:t>
            </a:r>
          </a:p>
          <a:p>
            <a:pPr algn="l"/>
            <a:r>
              <a:rPr sz="1500" b="0">
                <a:solidFill>
                  <a:srgbClr val="222B33"/>
                </a:solidFill>
                <a:latin typeface="Microsoft YaHei"/>
              </a:rPr>
              <a:t>C. 报告实验室负责人，补齐后再做</a:t>
            </a:r>
          </a:p>
          <a:p>
            <a:pPr algn="l"/>
            <a:r>
              <a:rPr sz="1500" b="0">
                <a:solidFill>
                  <a:srgbClr val="222B33"/>
                </a:solidFill>
                <a:latin typeface="Microsoft YaHei"/>
              </a:rPr>
              <a:t>D. 借用隔壁实验室的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021 · 个人防护装备的选择</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021 个人防护装备的选择</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下列说法正确的是：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防静电鞋可以当电绝缘鞋用</a:t>
            </a:r>
          </a:p>
          <a:p>
            <a:pPr algn="l"/>
            <a:r>
              <a:rPr sz="1500" b="0">
                <a:solidFill>
                  <a:srgbClr val="222B33"/>
                </a:solidFill>
                <a:latin typeface="Microsoft YaHei"/>
              </a:rPr>
              <a:t>B. 穿胶靴就不需要防砸</a:t>
            </a:r>
          </a:p>
          <a:p>
            <a:pPr algn="l"/>
            <a:r>
              <a:rPr sz="1500" b="0">
                <a:solidFill>
                  <a:srgbClr val="222B33"/>
                </a:solidFill>
                <a:latin typeface="Microsoft YaHei"/>
              </a:rPr>
              <a:t>C. 穿了安全鞋也要远离悬吊重物</a:t>
            </a:r>
          </a:p>
          <a:p>
            <a:pPr algn="l"/>
            <a:r>
              <a:rPr sz="1500" b="0">
                <a:solidFill>
                  <a:srgbClr val="222B33"/>
                </a:solidFill>
                <a:latin typeface="Microsoft YaHei"/>
              </a:rPr>
              <a:t>D. 安全鞋可以代替所有防护</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简答：“就一分钟”的操作为什么也要戴护目镜？</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按风险评估选防护</a:t>
            </a:r>
          </a:p>
          <a:p>
            <a:pPr>
              <a:spcAft>
                <a:spcPts val="800"/>
              </a:spcAft>
            </a:pPr>
            <a:r>
              <a:rPr sz="1500">
                <a:solidFill>
                  <a:srgbClr val="FFFFFF"/>
                </a:solidFill>
                <a:latin typeface="Microsoft YaHei"/>
              </a:rPr>
              <a:t>▪ K2  先预判危害，再定防护</a:t>
            </a:r>
          </a:p>
          <a:p>
            <a:pPr>
              <a:spcAft>
                <a:spcPts val="800"/>
              </a:spcAft>
            </a:pPr>
            <a:r>
              <a:rPr sz="1500">
                <a:solidFill>
                  <a:srgbClr val="FFFFFF"/>
                </a:solidFill>
                <a:latin typeface="Microsoft YaHei"/>
              </a:rPr>
              <a:t>▪ K3  选错防护比不戴更危险</a:t>
            </a:r>
          </a:p>
          <a:p>
            <a:pPr>
              <a:spcAft>
                <a:spcPts val="800"/>
              </a:spcAft>
            </a:pPr>
            <a:r>
              <a:rPr sz="1500">
                <a:solidFill>
                  <a:srgbClr val="FFFFFF"/>
                </a:solidFill>
                <a:latin typeface="Microsoft YaHei"/>
              </a:rPr>
              <a:t>▪ K4  按危害和身体部位选</a:t>
            </a:r>
          </a:p>
          <a:p>
            <a:pPr>
              <a:spcAft>
                <a:spcPts val="800"/>
              </a:spcAft>
            </a:pPr>
            <a:r>
              <a:rPr sz="1500">
                <a:solidFill>
                  <a:srgbClr val="FFFFFF"/>
                </a:solidFill>
                <a:latin typeface="Microsoft YaHei"/>
              </a:rPr>
              <a:t>▪ K5  一般实验的基本三件</a:t>
            </a:r>
          </a:p>
          <a:p>
            <a:pPr>
              <a:spcAft>
                <a:spcPts val="800"/>
              </a:spcAft>
            </a:pPr>
            <a:r>
              <a:rPr sz="1500">
                <a:solidFill>
                  <a:srgbClr val="FFFFFF"/>
                </a:solidFill>
                <a:latin typeface="Microsoft YaHei"/>
              </a:rPr>
              <a:t>▪ K6  防护区域和防护用品存放处</a:t>
            </a:r>
          </a:p>
          <a:p>
            <a:pPr>
              <a:spcAft>
                <a:spcPts val="800"/>
              </a:spcAft>
            </a:pPr>
            <a:r>
              <a:rPr sz="1500">
                <a:solidFill>
                  <a:srgbClr val="FFFFFF"/>
                </a:solidFill>
                <a:latin typeface="Microsoft YaHei"/>
              </a:rPr>
              <a:t>▪ K7  学校配备，个人用好</a:t>
            </a:r>
          </a:p>
          <a:p>
            <a:pPr>
              <a:spcAft>
                <a:spcPts val="800"/>
              </a:spcAft>
            </a:pPr>
            <a:r>
              <a:rPr sz="1500">
                <a:solidFill>
                  <a:srgbClr val="FFFFFF"/>
                </a:solidFill>
                <a:latin typeface="Microsoft YaHei"/>
              </a:rPr>
              <a:t>▪ K8  舒适合身才会坚持穿</a:t>
            </a:r>
          </a:p>
          <a:p>
            <a:pPr>
              <a:spcAft>
                <a:spcPts val="800"/>
              </a:spcAft>
            </a:pPr>
            <a:r>
              <a:rPr sz="1500">
                <a:solidFill>
                  <a:srgbClr val="FFFFFF"/>
                </a:solidFill>
                <a:latin typeface="Microsoft YaHei"/>
              </a:rPr>
              <a:t>▪ K9  用前检查，坏了脏了就换</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K10  维护好，穿戴正确</a:t>
            </a:r>
          </a:p>
          <a:p>
            <a:pPr>
              <a:spcAft>
                <a:spcPts val="800"/>
              </a:spcAft>
            </a:pPr>
            <a:r>
              <a:rPr sz="1500">
                <a:solidFill>
                  <a:srgbClr val="FFFFFF"/>
                </a:solidFill>
                <a:latin typeface="Microsoft YaHei"/>
              </a:rPr>
              <a:t>▪ K11  缺了用错，及时报告补齐</a:t>
            </a:r>
          </a:p>
          <a:p>
            <a:pPr>
              <a:spcAft>
                <a:spcPts val="800"/>
              </a:spcAft>
            </a:pPr>
            <a:r>
              <a:rPr sz="1500">
                <a:solidFill>
                  <a:srgbClr val="FFFFFF"/>
                </a:solidFill>
                <a:latin typeface="Microsoft YaHei"/>
              </a:rPr>
              <a:t>▪ K12  “就一分钟”也要戴</a:t>
            </a:r>
          </a:p>
          <a:p>
            <a:pPr>
              <a:spcAft>
                <a:spcPts val="800"/>
              </a:spcAft>
            </a:pPr>
            <a:r>
              <a:rPr sz="1500">
                <a:solidFill>
                  <a:srgbClr val="FFFFFF"/>
                </a:solidFill>
                <a:latin typeface="Microsoft YaHei"/>
              </a:rPr>
              <a:t>▪ K13  头部防护：安全帽</a:t>
            </a:r>
          </a:p>
          <a:p>
            <a:pPr>
              <a:spcAft>
                <a:spcPts val="800"/>
              </a:spcAft>
            </a:pPr>
            <a:r>
              <a:rPr sz="1500">
                <a:solidFill>
                  <a:srgbClr val="FFFFFF"/>
                </a:solidFill>
                <a:latin typeface="Microsoft YaHei"/>
              </a:rPr>
              <a:t>▪ K14  足部防护：安全鞋</a:t>
            </a:r>
          </a:p>
          <a:p>
            <a:pPr>
              <a:spcAft>
                <a:spcPts val="800"/>
              </a:spcAft>
            </a:pPr>
            <a:r>
              <a:rPr sz="1500">
                <a:solidFill>
                  <a:srgbClr val="FFFFFF"/>
                </a:solidFill>
                <a:latin typeface="Microsoft YaHei"/>
              </a:rPr>
              <a:t>▪ K15  防护重要，但还不够</a:t>
            </a:r>
          </a:p>
          <a:p>
            <a:pPr>
              <a:spcAft>
                <a:spcPts val="800"/>
              </a:spcAft>
            </a:pPr>
            <a:r>
              <a:rPr sz="1500">
                <a:solidFill>
                  <a:srgbClr val="FFFFFF"/>
                </a:solidFill>
                <a:latin typeface="Microsoft YaHei"/>
              </a:rPr>
              <a:t>▪ S1  围裙、袖套等其他防护用品</a:t>
            </a:r>
          </a:p>
          <a:p>
            <a:pPr>
              <a:spcAft>
                <a:spcPts val="800"/>
              </a:spcAft>
            </a:pPr>
            <a:r>
              <a:rPr sz="1500">
                <a:solidFill>
                  <a:srgbClr val="FFFFFF"/>
                </a:solidFill>
                <a:latin typeface="Microsoft YaHei"/>
              </a:rPr>
              <a:t>▪ S2  先培训，会选会用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