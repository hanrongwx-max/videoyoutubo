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眼睛是人体最脆弱的器官之一，化学灼伤、异物击伤和强光伤害往往很难完全恢复。而绝大多数眼部伤害，只要戴好合适的眼面防护就能避免，一副护目镜花钱不多，护住的是一双眼睛。</a:t>
            </a:r>
          </a:p>
          <a:p>
            <a:r>
              <a:t>护眼不只为了化学品：钉钉子、剪断焊丝、切割、打磨时，碎片和断头都可能弹飞；压力气体、焊接、危险物质操作也都会伤眼。剪焊丝等操作时戴好护目镜，脸不要凑得太近，剪下的断头放进废料盒。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验室常用的眼面防护有三类：安全眼镜（防冲击，四周有遮挡）、护目镜（贴合面部，防液体飞溅、粉尘）、面屏（护住整张脸和颈部，作为附加防护）。要按工作中的具体危害选择合适的一种，或者组合使用（选择原则见第 021 课）。</a:t>
            </a:r>
          </a:p>
          <a:p>
            <a:r>
              <a:t>有强光的场合，要选带遮光镜片的护目镜。专门的光辐射另有专用防护：激光要用对应波长和防护等级的激光防护眼镜（第 114 课），焊接要用焊接面罩（第 128 课），紫外灯等非激光光辐射见第 111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安全眼镜的镜片防碎，镜框四周有侧护遮挡，主要用来防飞来的碎屑和冲击；有的尺寸偏大，可以罩在近视眼镜外面；嫌闷热的可选带透气结构的款式。</a:t>
            </a:r>
          </a:p>
          <a:p>
            <a:r>
              <a:t>但安全眼镜与面部之间仍有缝隙，挡不住从侧面、上方溅来的液体。安全眼镜和护目镜用途不同，不能互相代替：有化学液体飞溅危险时，要换成贴合面部的防溅护目镜。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个人防护是最后一道防线，只要可能有液体飞溅，就必须护好眼睛。多数化学实验应戴间接通风的防溅护目镜：镜框四周贴合面部，通风孔带遮罩，液体进不来；直通孔的护目镜只防冲击，不防液体。具体戴哪一种，按风险评估和本校规定。</a:t>
            </a:r>
          </a:p>
          <a:p>
            <a:r>
              <a:t>倾倒消毒剂、配制酸碱溶液、转移液体、加热回流等可能溅洒的操作，都要戴防溅护目镜。戴上后调好松紧带，让镜框四周与面部贴紧，不留缝隙。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面屏能护住整张脸和颈部，挡住大面积的喷溅；但面屏下方和两侧是敞开的，液体仍可能绕进眼睛，所以面屏不能代替护目镜。需要面屏时，先戴好护目镜，再加面屏。</a:t>
            </a:r>
          </a:p>
          <a:p>
            <a:r>
              <a:t>以下情况要在护目镜外再加面屏：在通风柜里倾倒、转移较多的浓酸浓碱；处理腐蚀性强的物质；可能发生剧烈反应、喷溅或爆裂；可能溅到头、面、颈部的操作；取用液氮等低温液体（第 136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很多同学以为戴着近视眼镜就够了。其实普通眼镜两侧和上方都是空的，液体一溅就可能从缝里进入眼睛；普通镜片也不防碎，受到冲击碎裂，碎片反而更伤眼。普通眼镜不能代替任何一种眼部防护。</a:t>
            </a:r>
          </a:p>
          <a:p>
            <a:r>
              <a:t>戴近视眼镜的同学，要选能罩在眼镜外面的护目镜或尺寸偏大的安全眼镜（第 021 课），也可以按本校规定配备带矫正度数的防护眼镜。过滤、减压抽滤、加热、重结晶、薄层色谱和柱色谱等常规操作，全程戴好护目镜。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化学类实验室原则上不戴隐形眼镜。化学品溅入眼睛时，可能被困在隐形镜片和眼球之间，延长接触时间，还会妨碍冲洗；有些蒸气也会被镜片吸附，刺激眼睛。也不要在实验室里摘戴隐形眼镜（第 020 课）。</a:t>
            </a:r>
          </a:p>
          <a:p>
            <a:r>
              <a:t>近视的同学进入化学实验室，改戴框架眼镜，外面罩护目镜。确因医学原因必须佩戴隐形眼镜的，要告知实验室负责人，并按本校规定戴好密合的护目镜。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眼面防护具不能只看样子：外形相似的眼镜，防冲击、防液体、防强光的能力可能完全不同。按 GB 14866-2023（以现行文本为准）《眼面防护具通用技术规范》，合格的眼面防护具在镜框和镜片上有相应的标识，选用前要看清标识和说明书，确认它适用于你要防的危害。</a:t>
            </a:r>
          </a:p>
          <a:p>
            <a:r>
              <a:t>不要使用无标识、来路不明的产品。镜片划花影响视线、镜框开裂、松紧带失去弹性的，及时更换（用前检查见第 021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护目镜推到额头上、挂在脖子上，等于没戴。眼面防护要从进入规定的防护区域开始，到离开为止全程戴在眼睛上（防护区域见第 021 课）。</a:t>
            </a:r>
          </a:p>
          <a:p>
            <a:r>
              <a:t>自己没有操作，也要戴：旁边同学的操作同样可能溅到你。护目镜起雾时，到安全区域摘下处理，或选用防雾产品，不在操作中摘下。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本课程第 15 章各项实验技能课中通用的个人防护要求统一在这里说明：进实验室先穿戴个人防护，实验服扣好、护目镜戴好、按所用试剂选好手套，长发扎起、不穿露趾鞋（第 020 课）。做无菌操作时手套远离酒精灯火焰；色谱、萃取等用到有机溶剂时，手套沾了溶剂及时更换（第 023 课）；不徒手处理样品，手套既保护自己，也防样品被污染。</a:t>
            </a:r>
          </a:p>
          <a:p>
            <a:r>
              <a:t>具体穿戴什么，按实验项目的风险评估确定，不清楚的问导师或学院实验室安全管理员。某项操作特有的防护要点（如滴定装碱、加压柱色谱等），在对应技能课中说明。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即使戴了防护，也可能有意外。眼睛溅入化学品或异物时，立即到最近的洗眼器，用手撑开眼睑，转动眼球，持续冲洗，冲洗时间按本校应急规定和化学品安全技术说明书执行；不要揉眼，不要自行用其他药物中和。</a:t>
            </a:r>
          </a:p>
          <a:p>
            <a:r>
              <a:t>冲洗后报告实验室负责人，带上化学品信息及时就医，必要时拨打 120（洗眼器的位置和使用见第 027 课，眼部急救见第 160 课）。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1 题 答案：C。解析：这是飞溅作业，安全眼镜挡不住液体，面屏不能代替护目镜，要两者一起戴。</a:t>
            </a:r>
          </a:p>
          <a:p>
            <a:r>
              <a:t>第 2 题 答案：B。解析：普通眼镜四周是空的、镜片不防碎，要把罩式护目镜戴在眼镜外面。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3 题 答案：A。解析：化学品可能被困在镜片后，延长接触并妨碍冲洗。</a:t>
            </a:r>
          </a:p>
          <a:p>
            <a:r>
              <a:t>第 4 题 答案：B。解析：安全眼镜防冲击，挡不住侧面和上方溅来的液体。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 5 题 答案：C。解析：护目镜要全程戴在眼睛上，旁边有人操作也要戴。</a:t>
            </a:r>
          </a:p>
          <a:p>
            <a:r>
              <a:t>第 6 题 答案：立即到洗眼器，撑开眼睑持续冲洗，不揉眼；然后报告实验室负责人，带上化学品信息就医。解析：详见第 027、160 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1280160"/>
            <a:ext cx="1005840" cy="100584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022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Microsoft YaHei"/>
              </a:rPr>
              <a:t>眼面部防护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84048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ADCE6"/>
                </a:solidFill>
                <a:latin typeface="Microsoft YaHei"/>
              </a:rPr>
              <a:t>第3章 通用安全与个人防护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3891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CADCE6"/>
                </a:solidFill>
                <a:latin typeface="Microsoft YaHei"/>
              </a:rPr>
              <a:t>课时：约 4 分钟（卡通视频 45 镜）　适用对象：全体进入高校实验室的本科生、研究生和教职工（必修）；化学、生物、医学、工程实训实验室人员和戴近视眼镜的同学重点学习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Microsoft YaHei"/>
              </a:rPr>
              <a:t>《高校实验室安全》学习课件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能说出安全眼镜、防溅护目镜、面屏的区别和各自适用的场合。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3683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733723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3723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能判断普通近视眼镜、单独使用的面屏都不能代替护目镜，化学实验室原则上不戴隐形眼镜。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98767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98767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能做到选用有合格标识的眼面防护具，正确佩戴、调整贴合，从进门到离开全程戴在眼睛上。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3771" y="1828800"/>
            <a:ext cx="2499283" cy="39319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63811" y="2148840"/>
            <a:ext cx="685800" cy="685800"/>
          </a:xfrm>
          <a:prstGeom prst="ellipse">
            <a:avLst/>
          </a:prstGeom>
          <a:solidFill>
            <a:srgbClr val="1D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63811" y="3108960"/>
            <a:ext cx="1859203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222B33"/>
                </a:solidFill>
                <a:latin typeface="Microsoft YaHei"/>
              </a:rPr>
              <a:t>能做到眼睛溅入异物时立即用洗眼器冲洗并报告。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法规与标准依据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14866-2023（以现行文本为准）《眼面防护具通用技术规范》：眼面防护具的分类、技术要求和标识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8727" y="173736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461607" y="198882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01687" y="182880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39800.1-2020（以现行文本为准）《个体防护装备配备规范 第1部分：总则》：按危害配备眼面部防护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《中华人民共和国安全生产法》（以现行文本为准）：提供并正确佩戴使用符合国家标准的劳动防护用品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83464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308610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1687" y="292608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《高等学校实验室安全规范》（教科信厅函〔2023〕5 号，以现行文本为准）：实验人员按实验风险佩戴防护用品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《中华人民共和国危险化学品安全法》（2026 年 5 月 1 日起施行）及《危险化学品安全管理条例》（以现行文本为准）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78727" y="393192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61607" y="418338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01687" y="402336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GB 38144-2025（以现行文本为准）《眼面部防护 应急喷淋和洗眼设备》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29200"/>
            <a:ext cx="5364327" cy="960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280660"/>
            <a:ext cx="457200" cy="45720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120640"/>
            <a:ext cx="4358487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22B33"/>
                </a:solidFill>
                <a:latin typeface="Microsoft YaHei"/>
              </a:rPr>
              <a:t>本校实验室安全管理制度和各实验室防护要求（以本校规定为准）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眼睛最怕伤，护眼最划算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眼睛最脆弱，伤了很难恢复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多数眼伤，戴好防护就能避免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钉钉子、剪焊丝，碎片也会弹飞伤眼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压力气体、焊接、化学品操作都要护眼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眼睛是人体最脆弱的器官之一，化学灼伤、异物击伤和强光伤害往往很难完全恢复。而绝大多数眼部伤害，只要戴好合适的眼面防护就能避免，一副护目镜花钱不多，护住的是一双眼睛。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认为只有化学实验才需要护眼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修理、组装设备时不戴护目镜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三类眼面防护，按用途选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三类：安全眼镜、护目镜、面屏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按危害选一种，或者组合使用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有强光，选带遮光的护目镜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激光、焊接、紫外另有专用防护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实验室常用的眼面防护有三类：安全眼镜（防冲击，四周有遮挡）、护目镜（贴合面部，防液体飞溅、粉尘）、面屏（护住整张脸和颈部，作为附加防护）。要按工作中的具体危害选择合适的一种，或者组合使用（选择原则见第 021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用普通墨镜代替遮光护目镜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做激光实验时随便戴一副护目镜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安全眼镜防冲击，挡不住液体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安全眼镜四周有遮挡，镜片防碎，主要防冲击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挡得住碎屑，挡不住侧面和上方溅来的液体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安全眼镜和护目镜不能互相代替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安全眼镜的镜片防碎，镜框四周有侧护遮挡，主要用来防飞来的碎屑和冲击；有的尺寸偏大，可以罩在近视眼镜外面；嫌闷热的可选带透气结构的款式。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戴着安全眼镜倾倒腐蚀性液体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以为“有镜片挡着”就能防所有危害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有飞溅，戴防溅护目镜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可能有飞溅，就必须戴贴合面部的防溅护目镜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多数化学操作选间接通风的护目镜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倒消毒剂、配酸碱溶液都要戴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调好松紧带，四周贴紧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个人防护是最后一道防线，只要可能有液体飞溅，就必须护好眼睛。多数化学实验应戴间接通风的防溅护目镜：镜框四周贴合面部，通风孔带遮罩，液体进不来；直通孔的护目镜只防冲击，不防液体。具体戴哪一种，按风险评估和本校规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选了直通孔的护目镜做液体操作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松紧带太松，护目镜和脸之间有缝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面屏加在护目镜外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面屏能护住整张脸和颈部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面屏不能代替护目镜，要和护目镜一起戴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倒较多浓酸、腐蚀性强或可能剧烈反应时加面屏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面屏能护住整张脸和颈部，挡住大面积的喷溅；但面屏下方和两侧是敞开的，液体仍可能绕进眼睛，所以面屏不能代替护目镜。需要面屏时，先戴好护目镜，再加面屏。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只戴面屏，不戴护目镜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倾倒大量浓酸时只戴安全眼镜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普通眼镜不能代替护目镜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普通眼镜四周是空的，液体会从缝里进眼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普通镜片不防碎，碎了更伤眼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近视的同学，把罩式护目镜戴在眼镜外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过滤、加热、色谱等操作全程戴护目镜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很多同学以为戴着近视眼镜就够了。其实普通眼镜两侧和上方都是空的，液体一溅就可能从缝里进入眼睛；普通镜片也不防碎，受到冲击碎裂，碎片反而更伤眼。普通眼镜不能代替任何一种眼部防护。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戴着近视眼镜就不戴护目镜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护目镜压在眼镜上不合适，就干脆不戴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化学实验室不戴隐形眼镜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化学类实验室，原则上不戴隐形眼镜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溅入眼中的化学品会被困在镜片后，影响冲洗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近视就戴框架眼镜，外罩护目镜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化学类实验室原则上不戴隐形眼镜。化学品溅入眼睛时，可能被困在隐形镜片和眼球之间，延长接触时间，还会妨碍冲洗；有些蒸气也会被镜片吸附，刺激眼睛。也不要在实验室里摘戴隐形眼镜（第 020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戴着隐形眼镜做化学实验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眼睛溅入化学品后，先找镜盒摘镜片再冲洗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看清标识，选合格产品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眼护具不能只看样子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看清镜框和镜片上的标识，确认防护类型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选符合国家标准、有合格标识的产品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镜片划花、开裂，及时更换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眼面防护具不能只看样子：外形相似的眼镜，防冲击、防液体、防强光的能力可能完全不同。按 GB 14866-2023（以现行文本为准）《眼面防护具通用技术规范》，合格的眼面防护具在镜框和镜片上有相应的标识，选用前要看清标……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把装饰用的平光镜当作安全眼镜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镜片划花看不清，仍继续使用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戴在眼睛上，全程不摘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护目镜要戴在眼睛上，不是额头上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从进入防护区域到离开，全程戴着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旁边有人操作，你也要戴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护目镜推到额头上、挂在脖子上，等于没戴。眼面防护要从进入规定的防护区域开始，到离开为止全程戴在眼睛上（防护区域见第 021 课）。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嫌闷热把护目镜推到额头上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只在自己动手时戴，看别人做时摘下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各类实验的通用防护提醒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K10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各类实验：实验服、护目镜、手套一样不少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手套按评估选，远离火焰，沾了溶剂就换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不徒手处理样品，护己也护样品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穿戴什么按评估，不清楚问安全管理员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782312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48072"/>
            <a:ext cx="5925129" cy="612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本课程第 15 章各项实验技能课中通用的个人防护要求统一在这里说明：进实验室先穿戴个人防护，实验服扣好、护目镜戴好、按所用试剂选好手套，长发扎起、不穿露趾鞋（第 020 课）。做无菌操作时手套远离酒精灯火焰；色谱、萃……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做“简单”实验时省掉护目镜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戴着沾了溶剂的手套继续操作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眼睛进了东西，立即冲洗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Oval 4"/>
          <p:cNvSpPr/>
          <p:nvPr/>
        </p:nvSpPr>
        <p:spPr>
          <a:xfrm>
            <a:off x="10820095" y="411480"/>
            <a:ext cx="822960" cy="822960"/>
          </a:xfrm>
          <a:prstGeom prst="ellipse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</a:rPr>
              <a:t>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6656649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D7A8C"/>
                </a:solidFill>
                <a:latin typeface="Microsoft YaHei"/>
              </a:rPr>
              <a:t>要点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5925129" cy="17007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眼睛溅入化学品或异物，立即到洗眼器冲洗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撑开眼睑持续冲洗，不揉眼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222B33"/>
                </a:solidFill>
                <a:latin typeface="Microsoft YaHei"/>
              </a:rPr>
              <a:t>▪ 报告实验室负责人，及时就医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15384"/>
            <a:ext cx="592512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1D7A8C"/>
                </a:solidFill>
                <a:latin typeface="Microsoft YaHei"/>
              </a:rPr>
              <a:t>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925129" cy="11795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B75"/>
                </a:solidFill>
                <a:latin typeface="Microsoft YaHei"/>
              </a:rPr>
              <a:t>即使戴了防护，也可能有意外。眼睛溅入化学品或异物时，立即到最近的洗眼器，用手撑开眼睑，转动眼球，持续冲洗，冲洗时间按本校应急规定和化学品安全技术说明书执行；不要揉眼，不要自行用其他药物中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71049" y="1645920"/>
            <a:ext cx="4072006" cy="4389120"/>
          </a:xfrm>
          <a:prstGeom prst="roundRect">
            <a:avLst>
              <a:gd name="adj" fmla="val 8000"/>
            </a:avLst>
          </a:prstGeom>
          <a:solidFill>
            <a:srgbClr val="FB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936809" y="18288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1169" y="1874519"/>
            <a:ext cx="279184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392B"/>
                </a:solidFill>
                <a:latin typeface="Microsoft YaHei"/>
              </a:rPr>
              <a:t>常见错误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6809" y="2514600"/>
            <a:ext cx="3340486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先揉眼睛，或只用纸巾擦一擦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222B33"/>
                </a:solidFill>
                <a:latin typeface="Microsoft YaHei"/>
              </a:rPr>
              <a:t>▪ 冲几秒钟就停，不就医也不报告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在通风柜内倾倒较多浓酸，眼面部防护应选：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普通近视眼镜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安全眼镜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防溅护目镜加面屏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只戴面屏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判断：我戴着近视眼镜，做化学实验可以不戴护目镜。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判断：化学类实验室原则上不戴隐形眼镜。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正确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错误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安全眼镜主要用来防护：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液体飞溅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飞来的碎屑和冲击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激光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有毒气体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D7A8C"/>
                </a:solidFill>
                <a:latin typeface="Microsoft YaHei"/>
              </a:rPr>
              <a:t>022 · 眼面部防护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C5D"/>
                </a:solidFill>
                <a:latin typeface="Microsoft YaHei"/>
              </a:rPr>
              <a:t>课后练习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B75"/>
                </a:solidFill>
                <a:latin typeface="Microsoft YaHei"/>
              </a:rPr>
              <a:t>《高校实验室安全》 022 眼面部防护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下列做法正确的是：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A. 护目镜推到额头上，需要时再拉下来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B. 看别人操作时摘下护目镜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C. 从进入防护区域到离开全程戴着</a:t>
            </a:r>
          </a:p>
          <a:p>
            <a:pPr algn="l"/>
            <a:r>
              <a:rPr sz="1500" b="0">
                <a:solidFill>
                  <a:srgbClr val="222B33"/>
                </a:solidFill>
                <a:latin typeface="Microsoft YaHei"/>
              </a:rPr>
              <a:t>D. 镜片划花了继续用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78727" y="1645920"/>
            <a:ext cx="5364327" cy="4389120"/>
          </a:xfrm>
          <a:prstGeom prst="roundRect">
            <a:avLst>
              <a:gd name="adj" fmla="val 8000"/>
            </a:avLst>
          </a:prstGeom>
          <a:solidFill>
            <a:srgbClr val="EE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98767" y="1874519"/>
            <a:ext cx="548640" cy="548640"/>
          </a:xfrm>
          <a:prstGeom prst="ellipse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0287" y="1920240"/>
            <a:ext cx="39927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222B33"/>
                </a:solidFill>
                <a:latin typeface="Microsoft YaHei"/>
              </a:rPr>
              <a:t>简答：眼睛不慎溅入化学品，应该怎么做？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30287" y="3291840"/>
            <a:ext cx="3992727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Microsoft YaHei"/>
              </a:rPr>
              <a:t>本课小结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  眼睛最怕伤，护眼最划算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K2  三类眼面防护，按用途选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K3  安全眼镜防冲击，挡不住液体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K4  有飞溅，戴防溅护目镜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K5  面屏加在护目镜外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K6  普通眼镜不能代替护目镜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8727" y="1645920"/>
            <a:ext cx="5364327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K7  化学实验室不戴隐形眼镜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K8  看清标识，选合格产品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K9  戴在眼睛上，全程不摘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K10  各类实验的通用防护提醒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FFFFF"/>
                </a:solidFill>
                <a:latin typeface="Microsoft YaHei"/>
              </a:rPr>
              <a:t>▪ S1  眼睛进了东西，立即冲洗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《高校实验室安全》学习课件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