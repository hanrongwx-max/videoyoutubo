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标准操作规程（SOP）是把一项工作，特别是危险工作，怎样安全地完成用书面形式一步步写清楚的文件。不同的仪器、不同的危险操作有各自的规程，操作者照规程做，而不是凭感觉、凭记忆。</a:t>
            </a:r>
          </a:p>
          <a:p>
            <a:r>
              <a:t>在控制层级中，规程属于管理控制（第 017 课）。它把风险评估中确定的控制措施落实为具体做法，是培训和检查的依据。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规程的目标是：不同的人照着同一份规程做，过程和结果都应该基本一样，安全上也一样有保障。对检测类工作而言，这也是对委托人负责。</a:t>
            </a:r>
          </a:p>
          <a:p>
            <a:r>
              <a:t>如果每个人各做各的、结果都不相同，说明规程写得不清楚或不可行，需要修改。一份规程只管一个结果，内容过多就拆分成几份；编写时听取各方意见，不断试用、验证、改进。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特殊设备（如高压、高温、高速、辐射、激光设备）和危险化学品的操作，都要有安全操作规程。规程中应写明：适用范围、主要危害、个人防护要求、操作步骤、故障和异常情况的处理、应急和急救措施、废弃物处置以及设备维护要求。</a:t>
            </a:r>
          </a:p>
          <a:p>
            <a:r>
              <a:t>规程要张贴或放置在仪器旁、操作现场显眼处，让每个使用者随时都能看到，并写明设备责任人和联系方式（以本校规定为准）。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动笔写规程之前先问三件事：谁来写——由管理人员和一线操作人员、负责人一起商量；写给谁看——实验人员，以及废物清运人员等相关人员；为什么写——例如为了按规定安全处置实验室废物。规程是写给使用者看的，编写时就请他们参与，定稿前先听一线意见。</a:t>
            </a:r>
          </a:p>
          <a:p>
            <a:r>
              <a:t>以废物处置规程为例，先把全过程想清楚：废物的产生、分类（生物、放射性、化学废物分开），贴好标识，暂存，再交由有资质的单位运走处置；感染性废物要先在本实验室按规定灭菌，再按规定处置（第 053、077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管理文件分层次：政策确定方向和原则；计划安排为实现目标要做的一串事情；程序（规程）则写清每一件事具体怎么做。</a:t>
            </a:r>
          </a:p>
          <a:p>
            <a:r>
              <a:t>一个计划往往要拆成多份规程。例如实验室废物管理计划，可以拆成收集、分类、运输、去污、标识等规程，再配套培训和个人防护的要求。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份规程可以分成四个部分。条件：回答谁使用、什么时候用、为什么用、在哪里用；规程挪到别的场所使用，要重新试用验证。背景：说明输入、行动和输出的关系，并写明前提条件，例如人员已经受训，存放、分类、运输、去污设施都已具备；缺少哪一项，就要先补一份相应的规程。</a:t>
            </a:r>
          </a:p>
          <a:p>
            <a:r>
              <a:t>行动：写清从输入到输出的每一步，例如装入指定容器、贴好标签、送到暂存区、按规定联系清运、装车固定、送到指定地点，可以做成一步一勾的检查单。文件：在附录中列出参考指南和国家、地方的相关法规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规程的格式：封面写明“受控文件”和修订号；篇幅较长的加目录；生僻术语要解释；写清目的；操作步骤按先后顺序一条条写。</a:t>
            </a:r>
          </a:p>
          <a:p>
            <a:r>
              <a:t>有健康风险的步骤要写警示；同时使用几份规程时，要写明它们的相互影响，例如某种消毒剂会伤皮肤、腐蚀设备。还应包括质量控制、参考文献、联系人和附录。规程发放几份、放在哪里由管理人员确定，各个版本都要归档备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编写规程可以按五步循环进行：分析（工作内容、危害和使用者）、设计（结构和流程）、编写、实施、评估；评估后再回头修改，循环往复。</a:t>
            </a:r>
          </a:p>
          <a:p>
            <a:r>
              <a:t>好的规程应当让使用者懂得每一步的道理，能想得出整个流程，能实际动手做，会使用所需的工具；每一步都做得到，也能检查得清。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新规程先到实际工作台试用，问四个问题：看得懂吗——太专业就改简单；做得到吗——例如防护服不合身也做不好；结果对吗；不同的人做结果一样吗。试用中发现的问题都记录下来。</a:t>
            </a:r>
          </a:p>
          <a:p>
            <a:r>
              <a:t>验证可以用只答“是”或“否”的观察题，例如“是否按规程穿戴防护服”；答“否”就去查原因。观察题客观，观察的人自己也在进步；某个人做不到，可能是系统问题，需要沟通解决。编写问卷时可以请被观察的人一起参与，自我检查往往比外人检查更真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编写规程要对照国家法律法规、标准和学校的要求，不能照搬国外或其他单位的文本。规程要经过商议和审核，由实验室负责人（必要时学院）批准后，才在本单位正式生效，再发给使用者；批准过程也要留下记录（审批权限以本校规定为准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操作时要严格按书面规程一步一步做，不跳步，不凭感觉改步骤。良好的工作规范包括规范的操作手法、无菌技术和本实验室的行为守则，要靠每个人的安全意识、培训和日常检查来保持（第 009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使用中觉得规程某一步不合适、做不到或不安全时，不能自己在规程上涂改，也不能擅自跳过；如果继续操作有危险，应先停下。把问题反馈给实验室负责人或管理人员，由他们组织评估和修订，修订版批准后，才按新版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规程是“活”的文件，要定期审查。发生险情或事故、结果不一致、更换设备、出现新的危害或新的规定时，都要及时修订。修订前先查看使用记录，和使用者一起改；缺设备、沟通不畅等问题也要想办法解决。如果某份规程改得太频繁，说明其中某一步有毛病，要找出根本原因。</a:t>
            </a:r>
          </a:p>
          <a:p>
            <a:r>
              <a:t>规程要有版本号，修订后旧版撤下，现场只留最新版本；一切以最新发布的规程、通知和现场标识为准。改了规程，先培训再执行（K14）。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规程更新后，要通知到每一位使用者，组织学习或培训；使用者看过、学过后签字确认，并保存培训记录。没有接受更新培训的人员，不得按新规程独立操作（准入与培训见第 007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开展新实验之前，先写书面风险评估（第 014–015 课）：哪里有电？哪里会烫？会产生什么有害物质？出了事怎么办？措施落实后，把自己写的操作步骤和评估一起交导师和实验室负责人审核批准，没审过不开工。</a:t>
            </a:r>
          </a:p>
          <a:p>
            <a:r>
              <a:t>高风险实验（如涉及剧毒、易制爆等危险化学品，高压、高温、辐射、激光，或病原微生物的实验）要按本校规定逐级报学院、学校审批或备案；涉及病原微生物的实验活动还须按《病原微生物实验室生物安全管理条例》（以现行文本为准）在相应级别的实验室开展并经批准（第 6 章）。操作人员须经过专门培训才能上手。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未经批准的实验绝对不允许做。别人不知道你在做什么，一旦出事，你可能不在场或无法说明情况，周围的人不知道是什么物质、怎么处理，救援也无从下手。</a:t>
            </a:r>
          </a:p>
          <a:p>
            <a:r>
              <a:t>论文选题可以大胆，但动手实验不能随意：真要做，须经导师同意和学校审批。评议同学的论文或实验设想时，也要看看是否考虑了风险、防护和审批，涉及转基因材料的是否按本校生物安全委员会的规定管理；拿不准的安全问题，告诉老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情景：老周交给小研一项课题组以前没做过的新实验操作。小研先翻出现有的风险评估表和操作规程，发现新步骤上面都没有写到。她担心会不会多出溅洒、气溶胶或锐器等新的风险。</a:t>
            </a:r>
          </a:p>
          <a:p>
            <a:r>
              <a:t>阿杰说“先做了再说”，这样不行。现有评估和规程没覆盖的步骤，就是一次变更，拿不准的风险要先评估再动手（下一个知识点的五步）。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步，先停下，不擅自开始，把担心的风险告诉实验室负责人。第二步，和负责人一起对新步骤做风险评估。第三步，根据评估修订操作规程，由实验室负责人审核签字后才能执行；涉及病原微生物、危险化学品等的，按规定报审备案。</a:t>
            </a:r>
          </a:p>
          <a:p>
            <a:r>
              <a:t>第四步，培训到位，防护用品和应急措施准备好，第一次操作请有经验的人在旁指导。第五步，做完后复查，发现问题就改进；用量、设备、人员变了要重新评估，即使没有变化，也要定期复审。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方案的任何变化都是变更：规模（加量、放大）、试剂（换试剂、换浓度）、设备（新装置、换设备）、人员（来了新人）、场所（换房间、换实验室），以及温度、压力、气体等条件的改变。发生事故或险情以后，也要重新评估。</a:t>
            </a:r>
          </a:p>
          <a:p>
            <a:r>
              <a:t>条件一变，就要重新做风险评估，及时更新评估和规程，经实验室负责人同意后再做；放大实验要先评估、再报批。用量放大，危害也可能跟着放大。更新后的评估要重新审核，并讲给每个参与的人听。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为了安全做的改动也是变更。例如换了一种手套，可能影响样品或实验结果；换了设备，样品所处的环境也变了。所以即使是很小的安全改动，也要评估它对安全和实验的影响，并做好记录。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放大实验不是把用量简单地乘以倍数。体积变大后，散热变慢、反应放热和压力升高更难控制，产生的气溶胶也更多，原来小规模下安全的做法可能不再安全。放大前要重新做风险评估，经过审批，才能开始放大或中试。</a:t>
            </a:r>
          </a:p>
          <a:p>
            <a:r>
              <a:t>原片案例：有研究生把一种高能材料的合成一下放大了上百倍，发生了爆炸。评估时只考虑了毒性，漏掉了爆炸危险。只评一种危险，对其余危险就全无防备。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实验室建成后，如果想改变布局、加装隔断、移动通风柜或安全柜等设施，要先进行评估，经学院和学校有关部门审批，由专业人员施工，不能自己动手。改动可能影响通风、气流、疏散通道和防护设施的性能。</a:t>
            </a:r>
          </a:p>
          <a:p>
            <a:r>
              <a:t>改完后要重新检测，确认通风、防护等设施性能合格后再投入使用（校内施工管理见第 12 章）。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答案：C。解析：规程不合适要反馈不私改，旧版撤下，先培训再执行。</a:t>
            </a:r>
          </a:p>
          <a:p>
            <a:r>
              <a:t>第 2 题 答案：D。解析：规模、试剂、人员等任何条件变化都要重新评估；条件不变时按规程做，并定期复审。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答案：B。解析：放大后热量、压力和气溶胶都会变化，放大前要重新评估并审批。</a:t>
            </a:r>
          </a:p>
          <a:p>
            <a:r>
              <a:t>第 4 题 答案：B。解析：安全改动也可能影响实验结果和环境，要评估和记录。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答案：B。解析：五步走：停、评、改、训、复。</a:t>
            </a:r>
          </a:p>
          <a:p>
            <a:r>
              <a:t>第 6 题 答案：适用范围、主要危害、个人防护、操作步骤、故障和异常处理、应急急救、废弃物处置、设备维护。解析：规程要放在仪器旁，人人都能看到。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SOP与方案变更审查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第2章 危险源辨识与风险评估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6 分钟（卡通视频 72 镜）　适用对象：全体进入高校实验室的本科生、研究生和教职工（必修）；编写操作规程的实验室负责人、导师、安全员和开展新实验的研究生重点学习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能说出标准操作规程（SOP）的作用、主要组成部分和应写明的安全内容。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能说出规程从编写、试用、批准生效到培训、执行、修订的全过程，做到按书面规程操作、发现问题反馈不私改。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能判断哪些情况属于实验方案变更（规模、试剂、设备、人员、场所、条件、布局），做到先重新评估、经批准再动手。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能做到：新实验、高危实验先做书面风险评估并按本校规定审批，不做未经批准的实验。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《中华人民共和国安全生产法》（以现行文本为准）：制定安全操作规程，安全教育和培训，风险评估与管控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号，以现行文本为准）：实验室安全操作规程、危险性实验项目风险评估与审批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45001-2020（以现行文本为准）《职业健康安全管理体系 要求及使用指南》：形成文件的信息、变更管理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《中华人民共和国危险化学品安全法》（2026 年 5 月 1 日起施行）及《危险化学品安全管理条例》（以现行文本为准）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《中华人民共和国生物安全法》、《病原微生物实验室生物安全管理条例》（以现行文本为准）：病原微生物实验活动的审批，单位生物安全委员会审查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本校实验室安全操作规程管理、危险性实验项目审批和变更管理规定（以本校规定为准）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什么是标准操作规程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标准操作规程（SOP）是书面的操作步骤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详细写明危险工作怎样安全地做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不同的工作有不同的规程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规程属于管理控制，照规程做，不凭感觉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标准操作规程（SOP）是把一项工作，特别是危险工作，怎样安全地完成用书面形式一步步写清楚的文件。不同的仪器、不同的危险操作有各自的规程，操作者照规程做，而不是凭感觉、凭记忆。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凭记忆或看别人做一遍就上手，不看规程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目标：谁来做结果都一样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不同的人照同一份规程做，结果应基本一样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各做各的、结果不同，说明规程要改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一份规程只管一个结果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规程的目标是：不同的人照着同一份规程做，过程和结果都应该基本一样，安全上也一样有保障。对检测类工作而言，这也是对委托人负责。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同一操作，课题组里每人一套做法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规程要写哪些安全内容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特殊设备和危险化学品要有操作规程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写明适用范围、危害、防护和故障处理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写明应急急救、废弃处置和维护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规程挂在仪器旁，人人都能看到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使用特殊设备（如高压、高温、高速、辐射、激光设备）和危险化学品的操作，都要有安全操作规程。规程中应写明：适用范围、主要危害、个人防护要求、操作步骤、故障和异常情况的处理、应急和急救措施、废弃物处置以及设备维护要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规程锁在柜子里，现场找不到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规程只写操作步骤，没有危害和应急内容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动笔前：谁写、给谁看、为什么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谁写：管理人员、一线人员和负责人一起商量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给谁看：以使用者为中心，请使用者参与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为什么：明确目的，例如安全处置废物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先把全过程想清楚，再下笔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动笔写规程之前先问三件事：谁来写——由管理人员和一线操作人员、负责人一起商量；写给谁看——实验人员，以及废物清运人员等相关人员；为什么写——例如为了按规定安全处置实验室废物。规程是写给使用者看的，编写时就请他们参与，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由一个人闭门写规程，使用者从没参与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政策、计划和程序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政策定方向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计划排好要做的一串事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程序写清每件事怎么做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一个计划可以拆成多份规程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管理文件分层次：政策确定方向和原则；计划安排为实现目标要做的一串事情；程序（规程）则写清每一件事具体怎么做。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把一个大计划写成一份冗长的规程，现场无法使用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规程的四个部分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四个部分：条件、背景、行动、文件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条件：谁用、何时、为何、在哪儿用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背景：输入加行动得到输出，缺什么先补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行动一步一勾；文件列出法规和指南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一份规程可以分成四个部分。条件：回答谁使用、什么时候用、为什么用、在哪里用；规程挪到别的场所使用，要重新试用验证。背景：说明输入、行动和输出的关系，并写明前提条件，例如人员已经受训，存放、分类、运输、去污设施都已具备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步骤写得含糊，如“适当处理”“注意安全”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规程的格式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封面写明受控文件和修订号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写明目的，生僻术语要解释，步骤按顺序写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有健康风险的步骤要写警示，写明规程间相互影响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写明联系人，发放由管理员定，各版本归档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规程的格式：封面写明“受控文件”和修订号；篇幅较长的加目录；生僻术语要解释；写清目的；操作步骤按先后顺序一条条写。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规程没有版本号，现场新旧版本混用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好规程看得懂、做得到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写规程五步：分析、设计、编写、实施、评估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评估完再回头改，循环往复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好规程让人懂道理、想得出流程、做得到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每一步都做得到、查得清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编写规程可以按五步循环进行：分析（工作内容、危害和使用者）、设计（结构和流程）、编写、实施、评估；评估后再回头修改，循环往复。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规程写得过于专业，一线人员看不懂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试用与观察验证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新规程先到工作台试用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问四个问题：看得懂吗？做得到吗？结果对吗？一致吗？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验证用只答是或否的观察题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一人做不到可能是系统问题，要沟通改进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新规程先到实际工作台试用，问四个问题：看得懂吗——太专业就改简单；做得到吗——例如防护服不合身也做不好；结果对吗；不同的人做结果一样吗。试用中发现的问题都记录下来。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规程写完直接发布，从不试用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对照要求，批准后生效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编规程要对照国家和学校的要求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经过商议、审核通过后再发给大家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批准后才在单位内正式生效，批准过程留记录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编写规程要对照国家法律法规、标准和学校的要求，不能照搬国外或其他单位的文本。规程要经过商议和审核，由实验室负责人（必要时学院）批准后，才在本单位正式生效，再发给使用者；批准过程也要留下记录（审批权限以本校规定为准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直接使用网上下载、未经审核的规程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按书面规程一步步做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严格按书面操作规程一步一步做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不跳步，不凭感觉改步骤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良好工作规范靠意识、培训和检查来保持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操作时要严格按书面规程一步一步做，不跳步，不凭感觉改步骤。良好的工作规范包括规范的操作手法、无菌技术和本实验室的行为守则，要靠每个人的安全意识、培训和日常检查来保持（第 009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熟练以后凭记忆操作，省略步骤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规程不合适，反馈不私改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觉得某步不合适，不能自己涂改或跳步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把问题反馈给负责人或管理人员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修订批准后，才按新版做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在使用中觉得规程某一步不合适、做不到或不安全时，不能自己在规程上涂改，也不能擅自跳过；如果继续操作有危险，应先停下。把问题反馈给实验室负责人或管理人员，由他们组织评估和修订，修订版批准后，才按新版执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在规程上手写修改，自己按“改进版”做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规程是活文件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规程要定期审查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出险情事故、结果不一致、有新危害新规定，就要改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改得太频繁，说明某步有毛病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旧版撤下，现场只留最新版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规程是“活”的文件，要定期审查。发生险情或事故、结果不一致、更换设备、出现新的危害或新的规定时，都要及时修订。修订前先查看使用记录，和使用者一起改；缺设备、沟通不畅等问题也要想办法解决。如果某份规程改得太频繁，说明其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设备换了，规程还是旧的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现场同时放着几个版本的规程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规程更新要告知到人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规程更新后，要通知到每位使用者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看过、学过，签字确认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先培训，再执行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规程更新后，要通知到每一位使用者，组织学习或培训；使用者看过、学过后签字确认，并保存培训记录。没有接受更新培训的人员，不得按新规程独立操作（准入与培训见第 007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只在群里发一个新文件，没人确认是否看过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新实验和高危实验先评估审批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做新实验，先写书面风险评估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想清楚：哪里有电、哪里会烫、出事怎么办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自己写的步骤，导师和负责人审核批准再做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高风险实验按本校规定逐级报备，专门培训后上手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开展新实验之前，先写书面风险评估（第 014–015 课）：哪里有电？哪里会烫？会产生什么有害物质？出了事怎么办？措施落实后，把自己写的操作步骤和评估一起交导师和实验室负责人审核批准，没审过不开工。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先做实验，事后补写评估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认为“只是小改动”就不报审批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禁止未经批准的实验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未经批准的实验，绝对不允许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出了事，没人知道怎么处理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能写的题目，不等于能自己动手做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评议论文时也看风险、防护和审批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未经批准的实验绝对不允许做。别人不知道你在做什么，一旦出事，你可能不在场或无法说明情况，周围的人不知道是什么物质、怎么处理，救援也无从下手。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课余时间私自做“小实验”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照着网上视频自行尝试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情景：接到一项新操作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接到课题组从没做过的新操作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先查现有风险评估和规程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新步骤没写到，可能有溅洒、气溶胶、锐器等新风险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拿不准的风险，不能“先做了再说”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情景：老周交给小研一项课题组以前没做过的新实验操作。小研先翻出现有的风险评估表和操作规程，发现新步骤上面都没有写到。她担心会不会多出溅洒、气溶胶或锐器等新的风险。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以为现有规程覆盖了所有步骤，不核对就做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新操作五步走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一停：先停下，报告实验室负责人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二评三改：评估风险，修订规程，审核签字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四训：培训到位，首次在有经验的人指导下做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五复：做完复查改进，定期复审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第一步，先停下，不擅自开始，把担心的风险告诉实验室负责人。第二步，和负责人一起对新步骤做风险评估。第三步，根据评估修订操作规程，由实验室负责人审核签字后才能执行；涉及病原微生物、危险化学品等的，按规定报审备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跳过修订规程，口头交代一下就开始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条件变了就重新评估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规模、试剂、设备、人员、场所变了，都要重新评估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换温度、换气体、出事后，也要重新评估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用量放大，危害也可能跟着放大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更新后重新审核，讲给每个人听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方案的任何变化都是变更：规模（加量、放大）、试剂（换试剂、换浓度）、设备（新装置、换设备）、人员（来了新人）、场所（换房间、换实验室），以及温度、压力、气体等条件的改变。发生事故或险情以后，也要重新评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认为“只是换了个试剂”，照旧规程做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换了人，没有重新培训和评估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安全改动也是变更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换了手套，可能影响实验结果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换了设备，样品所处的环境也变了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再小的安全改动，也要评估和记录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为了安全做的改动也是变更。例如换了一种手套，可能影响样品或实验结果；换了设备，样品所处的环境也变了。所以即使是很小的安全改动，也要评估它对安全和实验的影响，并做好记录。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认为“为安全改的”就不需要评估和记录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放大不是简单乘倍数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放大不是把用量简单乘倍数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体积变大，热量、压力和气溶胶都变了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只评一种危险，其余全无防备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放大前重新评估，经审批再开始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放大实验不是把用量简单地乘以倍数。体积变大后，散热变慢、反应放热和压力升高更难控制，产生的气溶胶也更多，原来小规模下安全的做法可能不再安全。放大前要重新做风险评估，经过审批，才能开始放大或中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小量做成功了，直接按倍数放大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放大时只看毒性，不看放热和压力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改动布局先评估审批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改布局、加隔断，先评估、经审批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不能自己动手改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改完要重新检测，合格再用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实验室建成后，如果想改变布局、加装隔断、移动通风柜或安全柜等设施，要先进行评估，经学院和学校有关部门审批，由专业人员施工，不能自己动手。改动可能影响通风、气流、疏散通道和防护设施的性能。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自行挪动通风柜、加装隔断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关于标准操作规程，下列说法正确的是：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熟练以后可以凭记忆操作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觉得某步不合适可以自己改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修订批准并培训后，才按新版执行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新旧版本都放在现场备用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下列哪种情况不需要重新做风险评估？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实验规模放大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换用另一种溶剂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课题组来了新成员操作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按已批准的规程重复做同一实验，条件都没有变化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判断：小量实验做成功了，放大时只要按倍数增加用量即可。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判断：为了安全换了一种手套，不属于实验变更，不需要评估和记录。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接到一项现有规程没有写到的新操作，第一步应该：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先做了再说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先停下，报告实验室负责人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照网上的方法做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让同学先试一下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简答：一份操作规程中应写明哪些安全内容？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什么是标准操作规程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目标：谁来做结果都一样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规程要写哪些安全内容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动笔前：谁写、给谁看、为什么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政策、计划和程序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规程的四个部分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规程的格式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好规程看得懂、做得到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试用与观察验证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对照要求，批准后生效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按书面规程一步步做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规程不合适，反馈不私改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规程是活文件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规程更新要告知到人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K15  新实验和高危实验先评估审批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K16  禁止未经批准的实验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K17  情景：接到一项新操作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K18  新操作五步走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K19  条件变了就重新评估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K20  安全改动也是变更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K21  放大不是简单乘倍数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K22  改动布局先评估审批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