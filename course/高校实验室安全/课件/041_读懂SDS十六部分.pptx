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化学品安全技术说明书按联合国全球化学品统一分类和标签制度编写，我国的内容和顺序由 GB/T 16483-2008 规定、编写方法见 GB/T 17519-2013：一律分为十六个部分，名称和顺序固定。因此不论哪个供应商提供的说明书，要查急救、消防或防护，都能直接翻到同一个部分，紧急时节省时间。</a:t>
            </a:r>
          </a:p>
          <a:p>
            <a:r>
              <a:t>十六个部分依次是：①化学品及企业标识；②危险性概述；③成分/组成信息；④急救措施；⑤消防措施；⑥泄漏应急处理；⑦操作处置与储存；⑧接触控制和个体防护；⑨理化特性；⑩稳定性和反应性；⑪毒理学信息；⑫生态学信息；⑬废弃处置；⑭运输信息；⑮法规信息；⑯其他信息。</a:t>
            </a:r>
          </a:p>
          <a:p>
            <a:r>
              <a:t>标签和说明书的关系可以这样理解：标签是“字母表”，简明提示主要危害；说明书是“字典”，给出完整信息（说明书的作用和法定要求见第 040 课）。使用前至少要读急救、泄漏、操作储存和个体防护几部分。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现行十六部分格式和过去的旧版说明书大体相近，主要区别是第 2、3 部分换了位置：旧版先写成分、后写危险性，现行版把“危险性概述”提到第 2 部分，让读者先看到危害，再看成分。</a:t>
            </a:r>
          </a:p>
          <a:p>
            <a:r>
              <a:t>实验室里如果还保存着旧格式的说明书，要按第 040 课的要求向供应商索取现行版本替换；查阅旧版时注意第 2、3 部分顺序不同，不要看错。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十六部分不是随意排列的，而是按“需要的先后”：最前面是最急需、最好懂的信息（是什么、有什么危害、怎么急救），接着是防护措施，专业的技术数据放在后面。</a:t>
            </a:r>
          </a:p>
          <a:p>
            <a:r>
              <a:t>可以把说明书看成回答四个问题：①这是什么、有什么危害？看第 1–3 部分（名称和供应商；信号词、象形图和危险说明；成分）。②出了问题怎么办？看第 4–6 部分（接触后的急救、着火怎么灭、泄漏怎么围堵清理）。③怎样预防？看第 7–10 部分（操作和储存、接触限值和个体防护、外观闪点等性质、怎样避免危险反应）。④还需要知道什么？看第 11–16 部分（毒理、生态、废弃、运输、法规、其他信息），常用于编写操作规程和风险评估，也应快速浏览一遍。</a:t>
            </a:r>
          </a:p>
          <a:p>
            <a:r>
              <a:t>一个实用的检查：你身上戴的防护装备，要和第 8 部分的要求对得上。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部分“化学品及企业标识”首先写明物质或混合物的名称。读说明书的第一步，就是确认它和手中的试剂是同一种：名称要和瓶上标签一致。</a:t>
            </a:r>
          </a:p>
          <a:p>
            <a:r>
              <a:t>同一种物质常常有好几个名字（化学名、俗名、商品名），容易混淆；CAS 号等识别号是唯一的，名字可能相似，号码不会重复。例如氢氧化钠，名称加 CAS 号就能锁定它。</a:t>
            </a:r>
          </a:p>
          <a:p>
            <a:r>
              <a:t>浓度和规格也要对上：同一物质浓溶液和稀溶液的危害可能差别很大，不能用稀溶液的说明书指导浓溶液的使用。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部分还写明化学品的推荐用途和限制用途。实验中如果要把它用在推荐用途之外，要先问清楚导师和实验室负责人，评估新的风险后再做。</a:t>
            </a:r>
          </a:p>
          <a:p>
            <a:r>
              <a:t>这一部分还列出供应商（生产商或进口商）的名称、地址和联系电话，有的还有应急咨询电话。对化学品有疑问或发生事故时，可以据此联系厂家获取信息；发生事故仍须先按本校程序报告实验室负责人和学院，需要时拨打 119、120。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部分“危险性概述”先给出按统一规则（我国为 GB 30000 系列）得出的危险性分类，比如皮肤腐蚀、易燃液体。</a:t>
            </a:r>
          </a:p>
          <a:p>
            <a:r>
              <a:t>接着是标签要素：信号词（“危险”或“警告”，“危险”更严重）、危险说明（会造成什么伤害，统一的标准表述，一种化学品通常只有几条）、防范说明（该怎样预防和应对），以及象形图（一眼看出危害类型，如腐蚀象形图表示会腐蚀皮肤和金属）。</a:t>
            </a:r>
          </a:p>
          <a:p>
            <a:r>
              <a:t>这些内容和瓶上安全标签一致（标签读法见第 039 课）；两者不一致时，要报告实验室负责人核实。</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以常用试剂氢氧化钠为例：说明书第 2 部分显示它的信号词是“危险”，带腐蚀象形图，危险说明为会造成严重的皮肤灼伤和眼损伤。</a:t>
            </a:r>
          </a:p>
          <a:p>
            <a:r>
              <a:t>所以取用氢氧化钠时绝不能徒手抓取，要戴耐化学品手套和护目镜（具体防护见 K19）。常用试剂往往最容易被轻视，越是天天用，越要按说明书来。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部分“成分/组成信息”对纯物质写明其化学名称、俗名和 CAS 号等识别号；对混合物则列出每种危险成分及其浓度或浓度范围，哪种成分带来危害一看便知。</a:t>
            </a:r>
          </a:p>
          <a:p>
            <a:r>
              <a:t>例如固体氢氧化钠是纯物质，浓度接近百分之百；自己配成溶液后，新容器上要另外标明名称和浓度，按配制后的浓度判断危害。供应商可以按规定对商业秘密成分保密，但危害信息不能缺（见第 040 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部分“急救措施”按不同接触途径分别给出急救方法。想一种化学品会怎样伤人，先想这几条路：吸入、皮肤接触、食入、眼睛接触（暴露途径详见第 042 课）。</a:t>
            </a:r>
          </a:p>
          <a:p>
            <a:r>
              <a:t>常见写法：皮肤接触，立即脱去污染的衣物，用大量流动清水冲洗，必要时用肥皂和水洗净，然后就医；眼睛接触，立即在洗眼器上用大量清水冲洗，冲洗时间按说明书和本校规定，冲洗后立即就医。吸入则迅速离开现场到空气新鲜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部分还写明接触后可能出现的症状和效应（如刺激、灼伤、咳嗽、头晕），帮助判断有没有人受到暴露、是急性还是迟发的反应。</a:t>
            </a:r>
          </a:p>
          <a:p>
            <a:r>
              <a:t>说明书会写明哪些情况必须立即就医，必要时拨打 120，并把说明书或标签带给医生。同时按程序报告实验室负责人和学院（报告流程见第 157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仍以氢氧化钠为例：说明书第 4 部分写明，误食后不要催吐，因为腐蚀性物质催吐会再次灼伤食道；应漱口并立即送医。</a:t>
            </a:r>
          </a:p>
          <a:p>
            <a:r>
              <a:t>说明书怎么写就怎么做，不凭“常识”乱处理。最好的预防是从源头杜绝食入：实验室内禁止饮食，不把食品饮料带进实验室。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急救信息要在事故发生前就读过：事故发生时没有时间慢慢查。使用一种化学品之前，先读第 4 部分，明确各种接触途径下怎么处理。</a:t>
            </a:r>
          </a:p>
          <a:p>
            <a:r>
              <a:t>同时要确认本实验室急救箱、洗眼器和紧急喷淋的位置，并知道怎么使用（洗眼器和喷淋的使用见第 027 课，眼部急救见第 160 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部分“消防措施”首先写明适用和不适用的灭火剂，如水、泡沫、干粉、二氧化碳。有的化学品遇水会剧烈反应，绝不能用水灭火；用错灭火剂会使火势扩大。</a:t>
            </a:r>
          </a:p>
          <a:p>
            <a:r>
              <a:t>还写明特别危险性：燃烧时会产生什么，比如有毒烟气，或者容器受热爆裂。这些信息决定了能不能扑救、要不要立即撤离（灭火器选用见第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部分还写明灭火的基本策略和消防人员需要的防护装备（如全套防护服和空气呼吸器）。这些是给专业救援人员的：发生火灾时，实验人员按本校应急程序撤离、报警（119），并把相关化学品的说明书交给赶到的救援人员。</a:t>
            </a:r>
          </a:p>
          <a:p>
            <a:r>
              <a:t>以氢氧化钠为例：它本身不燃烧，但遇到某些金属会放出易燃的氢气；火场中可以用水雾冷却容器。这类“本身不燃但有间接危险”的信息，只有说明书里才写得清楚。</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6 部分“泄漏应急处理”先写人员防护：处理者穿戴好说明书要求的防护用品，无关人员撤离。再写环境保护措施：防止泄漏物流入下水道和水体。</a:t>
            </a:r>
          </a:p>
          <a:p>
            <a:r>
              <a:t>然后是清理方法：先围堵防止扩散，再按说明书选用合适的材料吸收或收集，装入化学废物容器，按危险废物处置；不要直接用水冲进水池。照着说明书做，配合泄漏应急处理包使用（泄漏处置的完整流程见第 056 课）。超出自己处理能力的泄漏，立即撤离并报告。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7 部分“操作处置与储存”写明安全操作要求：避免接触眼睛、皮肤和衣物；避免吸入粉尘和蒸气，在通风良好处或通风柜内操作；搬运前确认容器盖紧、拿稳。</a:t>
            </a:r>
          </a:p>
          <a:p>
            <a:r>
              <a:t>储存部分写明放在哪里、怎么放：温度、通风、避光、密封，以及禁配物要分开存放，比如酸和碱。以氢氧化钠为例：储存于阴凉干燥处，远离酸和金属，用完立即盖紧，防止吸潮（储存原则见第 043 课）。</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部分“接触控制和个体防护”先写工程控制：用局部排风、通风柜等设施把危害控制在源头，这比单靠个人防护更可靠。</a:t>
            </a:r>
          </a:p>
          <a:p>
            <a:r>
              <a:t>能在通风柜里做的操作，就不要在敞开的实验台上做；说明书要求在密闭系统中操作的物质，必须按要求使用密闭装置（通风柜的使用见第 052 课）。</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部分还列出职业接触限值，表示工作场所空气中该物质容许的浓度水平，常见有时间加权平均等形式。国内以 GBZ 2.1（以现行文本为准）规定的限值为准，进口化学品说明书上的国外限值只作参考。</a:t>
            </a:r>
          </a:p>
          <a:p>
            <a:r>
              <a:t>比较时记住：限值越低，说明吸入危害越严重，越要小心。例如一氧化碳的限值远低于乙醇，就要更加小心防护。单位和实验室据此安排通风和防护措施（接触限值的类型和暴露监测见第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写明需要的个体防护装备：眼睛戴安全眼镜或护目镜，必要时加面屏；手部戴材质合适的防护手套（不同材质对不同化学品的防护效果不同，说明书会写明）；身体穿实验服或防护服；需要呼吸防护时选用合适的防毒面具并配对应的滤毒罐，按本校规定经培训后使用。</a:t>
            </a:r>
          </a:p>
          <a:p>
            <a:r>
              <a:t>以氢氧化钠为例：要戴耐化学品手套和护目镜，配制浓溶液等有喷溅风险时再加面屏，因为碱溅入眼睛伤害很重。你身上的防护，要和第 8 部分对得上（个体防护选用见第 021 课，手套见第 023 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9 部分“理化特性”列出外观（状态、颜色）、气味、pH、熔点、沸点、闪点、溶解度、蒸气压等数据，帮助判断该怎样操作和防护。气味信息仅供参考，千万不要凑近去闻。</a:t>
            </a:r>
          </a:p>
          <a:p>
            <a:r>
              <a:t>加热、混合之前，先看 pH、沸点、熔点等关键数据；蒸气压越高，越容易挥发进空气，越需要在通风柜里操作。例如氢氧化钠是白色固体，极易溶于水。</a:t>
            </a:r>
          </a:p>
          <a:p>
            <a:r>
              <a:t>标签损坏时，理化特性可以帮助判断容器里可能是什么，但不能自行认定，要上报实验室负责人按未知物处理。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9 部分中的沸点和闪点是判断易燃性的关键数据：闪点越低，越容易形成可燃蒸气而着火。</a:t>
            </a:r>
          </a:p>
          <a:p>
            <a:r>
              <a:t>例如乙醚闪点很低，在室温下挥发出的蒸气遇到火源就能被点燃，所以使用时要远离一切火源和热源，在通风柜内操作（易燃易爆化学品见第 046 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10 部分“稳定性和反应性”写明化学品在正常条件下是否稳定、可能发生哪些危险反应、应避免的条件（如受热、受压、撞击），以及禁配物（不相容物质）和危险分解产物，分解、聚合等危险也写在这里。</a:t>
            </a:r>
          </a:p>
          <a:p>
            <a:r>
              <a:t>禁配物不能放在一起，更不能混合，储存时就要分开（见第 043 课）。很多实验室事故，是把不相容的废液倒进了同一个废液桶。例如乙醚不能和氧化剂、强酸混放；氢氧化钠遇酸会剧烈反应，碰到某些金属还会放出易燃的氢气。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11 部分“毒理学信息”写明接触途径（从哪进入身体）、可能的症状，以及急性和慢性影响：急性效应来得快，慢性效应慢慢积累。接触途径找对了，防护才有针对性。</a:t>
            </a:r>
          </a:p>
          <a:p>
            <a:r>
              <a:t>还有毒性数据，如半数致死量（使一半受试动物死亡的剂量），这个数越小，说明毒性越大。实验室里首先要防急性危害，例如乙醚单次吸入即可致头晕嗜睡；氢氧化钠会严重灼伤皮肤和眼睛，粉尘吸入会刺激呼吸道（毒性和剂量—反应详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某项写着“无可用数据”时，要格外小心：化学品成千上万，做过完整毒性测试的只是少数；也可能是编写者没写进去。“无数据”只代表不知道或没人查过，绝不等于安全，应按可能有害采取防护，并向导师或负责人请教、查阅其他资料。</a:t>
            </a:r>
          </a:p>
          <a:p>
            <a:r>
              <a:t>“不适用”表示这项性质对该物质没有意义（如固体的某些液体参数）；而“N/A”可能是不适用，也可能是查不到，需要分辨。</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12 部分“生态学信息”说明化学品泄漏或排放后对环境的危害，包括水生毒性（对鱼类等水生生物的毒害）、持久性和降解性（在环境中能留存多久）等。</a:t>
            </a:r>
          </a:p>
          <a:p>
            <a:r>
              <a:t>例如氢氧化钠进入水体会使 pH 升高，伤害鱼类。这也是化学品和废液不能倒入下水道的原因之一。</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13 部分“废弃处置”写明化学品本身及其包装容器的处置方法，处置必须符合国家和地方规定（《国家危险废物名录》等，以现行文本为准）。</a:t>
            </a:r>
          </a:p>
          <a:p>
            <a:r>
              <a:t>危险废物不能倒入下水道。以氢氧化钠废液为例：不能直接倒进水槽，要按说明书和学校规定分类收集，交学校统一处置；中和等处理由专业人员进行，学生不自行操作（废物分类收集见第 053 课）。</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14 部分“运输信息”写明联合国编号（UN 编号，四位数字）、正式运输名称、运输危险类别和包装类别。包装类别分三类，Ⅰ类危险程度最大、Ⅱ类中等、Ⅲ类较小。</a:t>
            </a:r>
          </a:p>
          <a:p>
            <a:r>
              <a:t>例如氢氧化钠溶液属于第 8 类腐蚀性物质，包装类别视浓度而定。国内危险货物分类和品名编号以 GB 6944-2025、GB 12268-2025（以现行文本为准）为准。实验室搬运和寄送化学品须按学校规定，委托有资质的单位运输（见第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15 部分“法规信息”列出管理这种化学品的安全、健康和环境法规。国内主要依据《中华人民共和国危险化学品安全法》及《危险化学品安全管理条例》（以现行文本为准），以及《危险化学品目录》等。</a:t>
            </a:r>
          </a:p>
          <a:p>
            <a:r>
              <a:t>名录状态说明该物质是否列入相关名录，如现有化学物质名录、危险化学品目录；列入剧毒、易制毒、易制爆等管制名录的，购买、储存和使用按专门规定管理（见第 045 课）。进口说明书上列的国外法规只作参考。</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16 部分“其他信息”包括说明书的编制日期、修订日期和修订说明，以及缩略语、参考文献等。</a:t>
            </a:r>
          </a:p>
          <a:p>
            <a:r>
              <a:t>通过修订日期可以判断手中的说明书是否为最新版本；版本过旧的，向供应商索取新版替换（见第 040 课）。读完十六部分，把关键要求写进风险评估和操作规程。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答案：B。解析：说明书分十六个部分、顺序固定，内容和项目顺序按 GB/T 16483-2008，编写指南见 GB/T 17519-2013。</a:t>
            </a:r>
          </a:p>
          <a:p>
            <a:r>
              <a:t>第 2 题 答案：B。解析：第 4 部分“急救措施”按接触途径写明处理方法；应立即用洗眼器大量清水冲洗，再就医并报告。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答案：B。解析：“无数据”只代表不知道或没人测过，绝不等于安全，应按可能有害采取防护。</a:t>
            </a:r>
          </a:p>
          <a:p>
            <a:r>
              <a:t>第 4 题 答案：B。解析：第 7 部分写储存条件和禁配物，第 10 部分写稳定性、反应性和不相容物质。</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答案：B。解析：限值越低，吸入危害越严重；国内限值以 GBZ 2.1 现行文本为准。</a:t>
            </a:r>
          </a:p>
          <a:p>
            <a:r>
              <a:t>第 6 题 答案：①是什么、有什么危害（第 1–3 部分）；②出了问题怎么办（第 4–6 部分）；③怎样预防（第 7–10 部分）；④还需要知道什么（第 11–16 部分）。解析：使用前至少读第 1–8 部分，你戴的防护要和第 8 部分对得上。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读懂SDS十六部分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8 分钟（卡通视频 97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能说出化学品安全技术说明书十六个部分的名称和固定顺序，以及按“四个问题”分组查阅的方法。</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能做到使用化学品前先读第 1–8 部分，核对名称、CAS 号和浓度，找到急救、泄漏、储存和个体防护要求。</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能判断第 9–11 部分的理化、反应性和毒理信息对操作的意义（闪点、禁配物、急慢性毒性），知道“无数据”不等于安全。</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能说出第 12–16 部分（生态、废弃、运输、法规、其他信息）的用途，并会查修订日期。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内容和项目顺序》：十六个部分的名称和顺序</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17519-2013（以现行文本为准）《化学品安全技术说明书编写指南》：各部分应写的内容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系列（以现行文本为准）《化学品分类和标签规范》：危险性分类、信号词、危险说明、防范说明、象形图</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第1部分：化学有害因素》：国内职业接触限值</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6944-2025、GB 12268-2025（以现行文本为准）《危险货物分类和品名编号》《危险货物品名表》：运输信息</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《国家危险废物名录》（以现行文本为准）：危险废物分类收集，不得倒入下水道</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号，以现行文本为准）：使用化学品前查阅安全技术说明书、开展风险评估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统一格式：十六部分，顺序固定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说明书一共十六个部分，顺序固定</a:t>
            </a:r>
          </a:p>
          <a:p>
            <a:pPr>
              <a:spcAft>
                <a:spcPts val="1000"/>
              </a:spcAft>
            </a:pPr>
            <a:r>
              <a:rPr sz="1700">
                <a:solidFill>
                  <a:srgbClr val="222B33"/>
                </a:solidFill>
                <a:latin typeface="Microsoft YaHei"/>
              </a:rPr>
              <a:t>▪ 格式按全球统一制度和 GB/T 16483、GB/T 17519</a:t>
            </a:r>
          </a:p>
          <a:p>
            <a:pPr>
              <a:spcAft>
                <a:spcPts val="1000"/>
              </a:spcAft>
            </a:pPr>
            <a:r>
              <a:rPr sz="1700">
                <a:solidFill>
                  <a:srgbClr val="222B33"/>
                </a:solidFill>
                <a:latin typeface="Microsoft YaHei"/>
              </a:rPr>
              <a:t>▪ 不论哪家的说明书，同一项都在同一处</a:t>
            </a:r>
          </a:p>
          <a:p>
            <a:pPr>
              <a:spcAft>
                <a:spcPts val="1000"/>
              </a:spcAft>
            </a:pPr>
            <a:r>
              <a:rPr sz="1700">
                <a:solidFill>
                  <a:srgbClr val="222B33"/>
                </a:solidFill>
                <a:latin typeface="Microsoft YaHei"/>
              </a:rPr>
              <a:t>▪ 标签像字母表，说明书就是字典</a:t>
            </a:r>
          </a:p>
          <a:p>
            <a:pPr>
              <a:spcAft>
                <a:spcPts val="1000"/>
              </a:spcAft>
            </a:pPr>
            <a:r>
              <a:rPr sz="1700">
                <a:solidFill>
                  <a:srgbClr val="222B33"/>
                </a:solidFill>
                <a:latin typeface="Microsoft YaHei"/>
              </a:rPr>
              <a:t>▪ 急救、泄漏、储存、防护，用前先看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化学品安全技术说明书按联合国全球化学品统一分类和标签制度编写，我国的内容和顺序由 GB/T 16483-2008 规定、编写方法见 GB/T 17519-2013：一律分为十六个部分，名称和顺序固定。因此不论哪个供应……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每次从头到尾乱翻，不知道要查的信息在第几部分</a:t>
            </a:r>
          </a:p>
          <a:p>
            <a:pPr>
              <a:spcAft>
                <a:spcPts val="1000"/>
              </a:spcAft>
            </a:pPr>
            <a:r>
              <a:rPr sz="1500">
                <a:solidFill>
                  <a:srgbClr val="222B33"/>
                </a:solidFill>
                <a:latin typeface="Microsoft YaHei"/>
              </a:rPr>
              <a:t>▪ 只看标签，从不打开说明书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和旧版比：第2、3部分换了位置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现行格式和旧版说明书很像</a:t>
            </a:r>
          </a:p>
          <a:p>
            <a:pPr>
              <a:spcAft>
                <a:spcPts val="1000"/>
              </a:spcAft>
            </a:pPr>
            <a:r>
              <a:rPr sz="2000">
                <a:solidFill>
                  <a:srgbClr val="222B33"/>
                </a:solidFill>
                <a:latin typeface="Microsoft YaHei"/>
              </a:rPr>
              <a:t>▪ 旧版第 2 部分是成分，第 3 部分是危险性</a:t>
            </a:r>
          </a:p>
          <a:p>
            <a:pPr>
              <a:spcAft>
                <a:spcPts val="1000"/>
              </a:spcAft>
            </a:pPr>
            <a:r>
              <a:rPr sz="2000">
                <a:solidFill>
                  <a:srgbClr val="222B33"/>
                </a:solidFill>
                <a:latin typeface="Microsoft YaHei"/>
              </a:rPr>
              <a:t>▪ 现行：第 2 部分危险性概述，第 3 部分成分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现行十六部分格式和过去的旧版说明书大体相近，主要区别是第 2、3 部分换了位置：旧版先写成分、后写危险性，现行版把“危险性概述”提到第 2 部分，让读者先看到危害，再看成分。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拿着旧版说明书按新顺序找，把成分当成危险性</a:t>
            </a:r>
          </a:p>
          <a:p>
            <a:pPr>
              <a:spcAft>
                <a:spcPts val="1000"/>
              </a:spcAft>
            </a:pPr>
            <a:r>
              <a:rPr sz="1500">
                <a:solidFill>
                  <a:srgbClr val="222B33"/>
                </a:solidFill>
                <a:latin typeface="Microsoft YaHei"/>
              </a:rPr>
              <a:t>▪ 长期使用旧格式说明书不更新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按需排序：四个问题分组查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内容按需要的先后排列，技术数据放后面</a:t>
            </a:r>
          </a:p>
          <a:p>
            <a:pPr>
              <a:spcAft>
                <a:spcPts val="1000"/>
              </a:spcAft>
            </a:pPr>
            <a:r>
              <a:rPr sz="1700">
                <a:solidFill>
                  <a:srgbClr val="222B33"/>
                </a:solidFill>
                <a:latin typeface="Microsoft YaHei"/>
              </a:rPr>
              <a:t>▪ 1–3：是什么，有什么危害</a:t>
            </a:r>
          </a:p>
          <a:p>
            <a:pPr>
              <a:spcAft>
                <a:spcPts val="1000"/>
              </a:spcAft>
            </a:pPr>
            <a:r>
              <a:rPr sz="1700">
                <a:solidFill>
                  <a:srgbClr val="222B33"/>
                </a:solidFill>
                <a:latin typeface="Microsoft YaHei"/>
              </a:rPr>
              <a:t>▪ 4–6：出了问题怎么办（急救、消防、泄漏）</a:t>
            </a:r>
          </a:p>
          <a:p>
            <a:pPr>
              <a:spcAft>
                <a:spcPts val="1000"/>
              </a:spcAft>
            </a:pPr>
            <a:r>
              <a:rPr sz="1700">
                <a:solidFill>
                  <a:srgbClr val="222B33"/>
                </a:solidFill>
                <a:latin typeface="Microsoft YaHei"/>
              </a:rPr>
              <a:t>▪ 7–10：怎样预防（操作储存、防护、性质反应）</a:t>
            </a:r>
          </a:p>
          <a:p>
            <a:pPr>
              <a:spcAft>
                <a:spcPts val="1000"/>
              </a:spcAft>
            </a:pPr>
            <a:r>
              <a:rPr sz="1700">
                <a:solidFill>
                  <a:srgbClr val="222B33"/>
                </a:solidFill>
                <a:latin typeface="Microsoft YaHei"/>
              </a:rPr>
              <a:t>▪ 11–16：还要知道什么，写规程常用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十六部分不是随意排列的，而是按“需要的先后”：最前面是最急需、最好懂的信息（是什么、有什么危害、怎么急救），接着是防护措施，专业的技术数据放在后面。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只看第 1–3 部分就开始操作，不看应急和防护</a:t>
            </a:r>
          </a:p>
          <a:p>
            <a:pPr>
              <a:spcAft>
                <a:spcPts val="1000"/>
              </a:spcAft>
            </a:pPr>
            <a:r>
              <a:rPr sz="1500">
                <a:solidFill>
                  <a:srgbClr val="222B33"/>
                </a:solidFill>
                <a:latin typeface="Microsoft YaHei"/>
              </a:rPr>
              <a:t>▪ 认为第 11–16 部分“没用”，从不浏览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第1部分：认准是哪种化学品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先确认说明书就是手中这种化学品</a:t>
            </a:r>
          </a:p>
          <a:p>
            <a:pPr>
              <a:spcAft>
                <a:spcPts val="1000"/>
              </a:spcAft>
            </a:pPr>
            <a:r>
              <a:rPr sz="2000">
                <a:solidFill>
                  <a:srgbClr val="222B33"/>
                </a:solidFill>
                <a:latin typeface="Microsoft YaHei"/>
              </a:rPr>
              <a:t>▪ 名称要和瓶上标签一致</a:t>
            </a:r>
          </a:p>
          <a:p>
            <a:pPr>
              <a:spcAft>
                <a:spcPts val="1000"/>
              </a:spcAft>
            </a:pPr>
            <a:r>
              <a:rPr sz="2000">
                <a:solidFill>
                  <a:srgbClr val="222B33"/>
                </a:solidFill>
                <a:latin typeface="Microsoft YaHei"/>
              </a:rPr>
              <a:t>▪ 同一物质常有多个名字，CAS 号唯一</a:t>
            </a:r>
          </a:p>
          <a:p>
            <a:pPr>
              <a:spcAft>
                <a:spcPts val="1000"/>
              </a:spcAft>
            </a:pPr>
            <a:r>
              <a:rPr sz="2000">
                <a:solidFill>
                  <a:srgbClr val="222B33"/>
                </a:solidFill>
                <a:latin typeface="Microsoft YaHei"/>
              </a:rPr>
              <a:t>▪ 浓度也要对上，浓的不能查稀的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 部分“化学品及企业标识”首先写明物质或混合物的名称。读说明书的第一步，就是确认它和手中的试剂是同一种：名称要和瓶上标签一致。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只凭名字相似就认为是同一种化学品</a:t>
            </a:r>
          </a:p>
          <a:p>
            <a:pPr>
              <a:spcAft>
                <a:spcPts val="1000"/>
              </a:spcAft>
            </a:pPr>
            <a:r>
              <a:rPr sz="1500">
                <a:solidFill>
                  <a:srgbClr val="222B33"/>
                </a:solidFill>
                <a:latin typeface="Microsoft YaHei"/>
              </a:rPr>
              <a:t>▪ 用低浓度的说明书代替高浓度试剂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第1部分：推荐用途和供应商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推荐用途：它本来是做什么用的</a:t>
            </a:r>
          </a:p>
          <a:p>
            <a:pPr>
              <a:spcAft>
                <a:spcPts val="1000"/>
              </a:spcAft>
            </a:pPr>
            <a:r>
              <a:rPr sz="2000">
                <a:solidFill>
                  <a:srgbClr val="222B33"/>
                </a:solidFill>
                <a:latin typeface="Microsoft YaHei"/>
              </a:rPr>
              <a:t>▪ 用途之外的用法，先问导师和负责人</a:t>
            </a:r>
          </a:p>
          <a:p>
            <a:pPr>
              <a:spcAft>
                <a:spcPts val="1000"/>
              </a:spcAft>
            </a:pPr>
            <a:r>
              <a:rPr sz="2000">
                <a:solidFill>
                  <a:srgbClr val="222B33"/>
                </a:solidFill>
                <a:latin typeface="Microsoft YaHei"/>
              </a:rPr>
              <a:t>▪ 有供应商名称、地址、电话</a:t>
            </a:r>
          </a:p>
          <a:p>
            <a:pPr>
              <a:spcAft>
                <a:spcPts val="1000"/>
              </a:spcAft>
            </a:pPr>
            <a:r>
              <a:rPr sz="2000">
                <a:solidFill>
                  <a:srgbClr val="222B33"/>
                </a:solidFill>
                <a:latin typeface="Microsoft YaHei"/>
              </a:rPr>
              <a:t>▪ 可能还有应急咨询电话</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 部分还写明化学品的推荐用途和限制用途。实验中如果要把它用在推荐用途之外，要先问清楚导师和实验室负责人，评估新的风险后再做。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未经评估就把化学品挪作他用</a:t>
            </a:r>
          </a:p>
          <a:p>
            <a:pPr>
              <a:spcAft>
                <a:spcPts val="1000"/>
              </a:spcAft>
            </a:pPr>
            <a:r>
              <a:rPr sz="1500">
                <a:solidFill>
                  <a:srgbClr val="222B33"/>
                </a:solidFill>
                <a:latin typeface="Microsoft YaHei"/>
              </a:rPr>
              <a:t>▪ 事故时只找厂家，不按程序报告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第2部分：危险性概述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先按统一规则分类，如腐蚀、易燃</a:t>
            </a:r>
          </a:p>
          <a:p>
            <a:pPr>
              <a:spcAft>
                <a:spcPts val="1000"/>
              </a:spcAft>
            </a:pPr>
            <a:r>
              <a:rPr sz="2000">
                <a:solidFill>
                  <a:srgbClr val="222B33"/>
                </a:solidFill>
                <a:latin typeface="Microsoft YaHei"/>
              </a:rPr>
              <a:t>▪ 标签要素：信号词、危险说明、防范说明</a:t>
            </a:r>
          </a:p>
          <a:p>
            <a:pPr>
              <a:spcAft>
                <a:spcPts val="1000"/>
              </a:spcAft>
            </a:pPr>
            <a:r>
              <a:rPr sz="2000">
                <a:solidFill>
                  <a:srgbClr val="222B33"/>
                </a:solidFill>
                <a:latin typeface="Microsoft YaHei"/>
              </a:rPr>
              <a:t>▪ “危险”比“警告”更严重</a:t>
            </a:r>
          </a:p>
          <a:p>
            <a:pPr>
              <a:spcAft>
                <a:spcPts val="1000"/>
              </a:spcAft>
            </a:pPr>
            <a:r>
              <a:rPr sz="2000">
                <a:solidFill>
                  <a:srgbClr val="222B33"/>
                </a:solidFill>
                <a:latin typeface="Microsoft YaHei"/>
              </a:rPr>
              <a:t>▪ 象形图和瓶上标签的一样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2 部分“危险性概述”先给出按统一规则（我国为 GB 30000 系列）得出的危险性分类，比如皮肤腐蚀、易燃液体。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把“警告”当成“没什么危险”</a:t>
            </a:r>
          </a:p>
          <a:p>
            <a:pPr>
              <a:spcAft>
                <a:spcPts val="1000"/>
              </a:spcAft>
            </a:pPr>
            <a:r>
              <a:rPr sz="1500">
                <a:solidFill>
                  <a:srgbClr val="222B33"/>
                </a:solidFill>
                <a:latin typeface="Microsoft YaHei"/>
              </a:rPr>
              <a:t>▪ 说明书和标签象形图不一致也不报告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例：氢氧化钠，信号词“危险”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氢氧化钠的信号词是“危险”</a:t>
            </a:r>
          </a:p>
          <a:p>
            <a:pPr>
              <a:spcAft>
                <a:spcPts val="1000"/>
              </a:spcAft>
            </a:pPr>
            <a:r>
              <a:rPr sz="2000">
                <a:solidFill>
                  <a:srgbClr val="222B33"/>
                </a:solidFill>
                <a:latin typeface="Microsoft YaHei"/>
              </a:rPr>
              <a:t>▪ 会造成严重皮肤灼伤和眼损伤</a:t>
            </a:r>
          </a:p>
          <a:p>
            <a:pPr>
              <a:spcAft>
                <a:spcPts val="1000"/>
              </a:spcAft>
            </a:pPr>
            <a:r>
              <a:rPr sz="2000">
                <a:solidFill>
                  <a:srgbClr val="222B33"/>
                </a:solidFill>
                <a:latin typeface="Microsoft YaHei"/>
              </a:rPr>
              <a:t>▪ 不能徒手拿，要戴防护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以常用试剂氢氧化钠为例：说明书第 2 部分显示它的信号词是“危险”，带腐蚀象形图，危险说明为会造成严重的皮肤灼伤和眼损伤。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徒手抓取氢氧化钠颗粒</a:t>
            </a:r>
          </a:p>
          <a:p>
            <a:pPr>
              <a:spcAft>
                <a:spcPts val="1000"/>
              </a:spcAft>
            </a:pPr>
            <a:r>
              <a:rPr sz="1500">
                <a:solidFill>
                  <a:srgbClr val="222B33"/>
                </a:solidFill>
                <a:latin typeface="Microsoft YaHei"/>
              </a:rPr>
              <a:t>▪ 认为常用试剂危险性小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第3部分：成分和浓度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写化学名、俗名和登记编号</a:t>
            </a:r>
          </a:p>
          <a:p>
            <a:pPr>
              <a:spcAft>
                <a:spcPts val="1000"/>
              </a:spcAft>
            </a:pPr>
            <a:r>
              <a:rPr sz="2000">
                <a:solidFill>
                  <a:srgbClr val="222B33"/>
                </a:solidFill>
                <a:latin typeface="Microsoft YaHei"/>
              </a:rPr>
              <a:t>▪ 纯物质写明化学组成</a:t>
            </a:r>
          </a:p>
          <a:p>
            <a:pPr>
              <a:spcAft>
                <a:spcPts val="1000"/>
              </a:spcAft>
            </a:pPr>
            <a:r>
              <a:rPr sz="2000">
                <a:solidFill>
                  <a:srgbClr val="222B33"/>
                </a:solidFill>
                <a:latin typeface="Microsoft YaHei"/>
              </a:rPr>
              <a:t>▪ 混合物列出各成分和浓度，危害一看便知</a:t>
            </a:r>
          </a:p>
          <a:p>
            <a:pPr>
              <a:spcAft>
                <a:spcPts val="1000"/>
              </a:spcAft>
            </a:pPr>
            <a:r>
              <a:rPr sz="2000">
                <a:solidFill>
                  <a:srgbClr val="222B33"/>
                </a:solidFill>
                <a:latin typeface="Microsoft YaHei"/>
              </a:rPr>
              <a:t>▪ 配成溶液后，浓度要另外标明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3 部分“成分/组成信息”对纯物质写明其化学名称、俗名和 CAS 号等识别号；对混合物则列出每种危险成分及其浓度或浓度范围，哪种成分带来危害一看便知。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自配溶液不标浓度</a:t>
            </a:r>
          </a:p>
          <a:p>
            <a:pPr>
              <a:spcAft>
                <a:spcPts val="1000"/>
              </a:spcAft>
            </a:pPr>
            <a:r>
              <a:rPr sz="1500">
                <a:solidFill>
                  <a:srgbClr val="222B33"/>
                </a:solidFill>
                <a:latin typeface="Microsoft YaHei"/>
              </a:rPr>
              <a:t>▪ 只看主成分，忽略混合物里的少量危险成分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第4部分：按接触途径急救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4 部分按接触途径分别写急救方法</a:t>
            </a:r>
          </a:p>
          <a:p>
            <a:pPr>
              <a:spcAft>
                <a:spcPts val="1000"/>
              </a:spcAft>
            </a:pPr>
            <a:r>
              <a:rPr sz="2000">
                <a:solidFill>
                  <a:srgbClr val="222B33"/>
                </a:solidFill>
                <a:latin typeface="Microsoft YaHei"/>
              </a:rPr>
              <a:t>▪ 途径：吸入、皮肤接触、食入、眼睛接触</a:t>
            </a:r>
          </a:p>
          <a:p>
            <a:pPr>
              <a:spcAft>
                <a:spcPts val="1000"/>
              </a:spcAft>
            </a:pPr>
            <a:r>
              <a:rPr sz="2000">
                <a:solidFill>
                  <a:srgbClr val="222B33"/>
                </a:solidFill>
                <a:latin typeface="Microsoft YaHei"/>
              </a:rPr>
              <a:t>▪ 沾到皮肤：脱去污染衣物，冲洗后就医</a:t>
            </a:r>
          </a:p>
          <a:p>
            <a:pPr>
              <a:spcAft>
                <a:spcPts val="1000"/>
              </a:spcAft>
            </a:pPr>
            <a:r>
              <a:rPr sz="2000">
                <a:solidFill>
                  <a:srgbClr val="222B33"/>
                </a:solidFill>
                <a:latin typeface="Microsoft YaHei"/>
              </a:rPr>
              <a:t>▪ 溅入眼睛：立即用大量清水冲洗，再就医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4 部分“急救措施”按不同接触途径分别给出急救方法。想一种化学品会怎样伤人，先想这几条路：吸入、皮肤接触、食入、眼睛接触（暴露途径详见第 042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不同途径用同一种处理方法</a:t>
            </a:r>
          </a:p>
          <a:p>
            <a:pPr>
              <a:spcAft>
                <a:spcPts val="1000"/>
              </a:spcAft>
            </a:pPr>
            <a:r>
              <a:rPr sz="1500">
                <a:solidFill>
                  <a:srgbClr val="222B33"/>
                </a:solidFill>
                <a:latin typeface="Microsoft YaHei"/>
              </a:rPr>
              <a:t>▪ 眼睛溅入后先揉眼或冲一下就停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第4部分：症状和何时就医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写明可能出现的症状和效应</a:t>
            </a:r>
          </a:p>
          <a:p>
            <a:pPr>
              <a:spcAft>
                <a:spcPts val="1000"/>
              </a:spcAft>
            </a:pPr>
            <a:r>
              <a:rPr sz="2000">
                <a:solidFill>
                  <a:srgbClr val="222B33"/>
                </a:solidFill>
                <a:latin typeface="Microsoft YaHei"/>
              </a:rPr>
              <a:t>▪ 知道症状，才能及早发现暴露</a:t>
            </a:r>
          </a:p>
          <a:p>
            <a:pPr>
              <a:spcAft>
                <a:spcPts val="1000"/>
              </a:spcAft>
            </a:pPr>
            <a:r>
              <a:rPr sz="2000">
                <a:solidFill>
                  <a:srgbClr val="222B33"/>
                </a:solidFill>
                <a:latin typeface="Microsoft YaHei"/>
              </a:rPr>
              <a:t>▪ 写明哪些情况须立即就医</a:t>
            </a:r>
          </a:p>
          <a:p>
            <a:pPr>
              <a:spcAft>
                <a:spcPts val="1000"/>
              </a:spcAft>
            </a:pPr>
            <a:r>
              <a:rPr sz="2000">
                <a:solidFill>
                  <a:srgbClr val="222B33"/>
                </a:solidFill>
                <a:latin typeface="Microsoft YaHei"/>
              </a:rPr>
              <a:t>▪ 就医同时报告实验室负责人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4 部分还写明接触后可能出现的症状和效应（如刺激、灼伤、咳嗽、头晕），帮助判断有没有人受到暴露、是急性还是迟发的反应。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有症状也自认为“没事”，不就医不报告</a:t>
            </a:r>
          </a:p>
          <a:p>
            <a:pPr>
              <a:spcAft>
                <a:spcPts val="1000"/>
              </a:spcAft>
            </a:pPr>
            <a:r>
              <a:rPr sz="1500">
                <a:solidFill>
                  <a:srgbClr val="222B33"/>
                </a:solidFill>
                <a:latin typeface="Microsoft YaHei"/>
              </a:rPr>
              <a:t>▪ 送医时不带说明书，医生不知道接触了什么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例：误食碱，不催吐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误食氢氧化钠，不要催吐</a:t>
            </a:r>
          </a:p>
          <a:p>
            <a:pPr>
              <a:spcAft>
                <a:spcPts val="1000"/>
              </a:spcAft>
            </a:pPr>
            <a:r>
              <a:rPr sz="2000">
                <a:solidFill>
                  <a:srgbClr val="222B33"/>
                </a:solidFill>
                <a:latin typeface="Microsoft YaHei"/>
              </a:rPr>
              <a:t>▪ 漱口，并立即送医</a:t>
            </a:r>
          </a:p>
          <a:p>
            <a:pPr>
              <a:spcAft>
                <a:spcPts val="1000"/>
              </a:spcAft>
            </a:pPr>
            <a:r>
              <a:rPr sz="2000">
                <a:solidFill>
                  <a:srgbClr val="222B33"/>
                </a:solidFill>
                <a:latin typeface="Microsoft YaHei"/>
              </a:rPr>
              <a:t>▪ 最好的预防：实验室内不吃不喝</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仍以氢氧化钠为例：说明书第 4 部分写明，误食后不要催吐，因为腐蚀性物质催吐会再次灼伤食道；应漱口并立即送医。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误食腐蚀品后自行催吐</a:t>
            </a:r>
          </a:p>
          <a:p>
            <a:pPr>
              <a:spcAft>
                <a:spcPts val="1000"/>
              </a:spcAft>
            </a:pPr>
            <a:r>
              <a:rPr sz="1500">
                <a:solidFill>
                  <a:srgbClr val="222B33"/>
                </a:solidFill>
                <a:latin typeface="Microsoft YaHei"/>
              </a:rPr>
              <a:t>▪ 在实验台上吃东西、喝水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用前先读急救，找到洗眼器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使用前就先读第 4 部分</a:t>
            </a:r>
          </a:p>
          <a:p>
            <a:pPr>
              <a:spcAft>
                <a:spcPts val="1000"/>
              </a:spcAft>
            </a:pPr>
            <a:r>
              <a:rPr sz="2000">
                <a:solidFill>
                  <a:srgbClr val="222B33"/>
                </a:solidFill>
                <a:latin typeface="Microsoft YaHei"/>
              </a:rPr>
              <a:t>▪ 知道急救箱在哪里</a:t>
            </a:r>
          </a:p>
          <a:p>
            <a:pPr>
              <a:spcAft>
                <a:spcPts val="1000"/>
              </a:spcAft>
            </a:pPr>
            <a:r>
              <a:rPr sz="2000">
                <a:solidFill>
                  <a:srgbClr val="222B33"/>
                </a:solidFill>
                <a:latin typeface="Microsoft YaHei"/>
              </a:rPr>
              <a:t>▪ 知道洗眼器和紧急喷淋在哪里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急救信息要在事故发生前就读过：事故发生时没有时间慢慢查。使用一种化学品之前，先读第 4 部分，明确各种接触途径下怎么处理。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出事后才第一次翻说明书</a:t>
            </a:r>
          </a:p>
          <a:p>
            <a:pPr>
              <a:spcAft>
                <a:spcPts val="1000"/>
              </a:spcAft>
            </a:pPr>
            <a:r>
              <a:rPr sz="1500">
                <a:solidFill>
                  <a:srgbClr val="222B33"/>
                </a:solidFill>
                <a:latin typeface="Microsoft YaHei"/>
              </a:rPr>
              <a:t>▪ 不知道洗眼器在哪里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第5部分：灭火剂和特别危险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写明适用的灭火剂，如水、泡沫、干粉、二氧化碳</a:t>
            </a:r>
          </a:p>
          <a:p>
            <a:pPr>
              <a:spcAft>
                <a:spcPts val="1000"/>
              </a:spcAft>
            </a:pPr>
            <a:r>
              <a:rPr sz="2000">
                <a:solidFill>
                  <a:srgbClr val="222B33"/>
                </a:solidFill>
                <a:latin typeface="Microsoft YaHei"/>
              </a:rPr>
              <a:t>▪ 有的遇水反应，不能用水</a:t>
            </a:r>
          </a:p>
          <a:p>
            <a:pPr>
              <a:spcAft>
                <a:spcPts val="1000"/>
              </a:spcAft>
            </a:pPr>
            <a:r>
              <a:rPr sz="2000">
                <a:solidFill>
                  <a:srgbClr val="222B33"/>
                </a:solidFill>
                <a:latin typeface="Microsoft YaHei"/>
              </a:rPr>
              <a:t>▪ 用错灭火剂，会火上浇油</a:t>
            </a:r>
          </a:p>
          <a:p>
            <a:pPr>
              <a:spcAft>
                <a:spcPts val="1000"/>
              </a:spcAft>
            </a:pPr>
            <a:r>
              <a:rPr sz="2000">
                <a:solidFill>
                  <a:srgbClr val="222B33"/>
                </a:solidFill>
                <a:latin typeface="Microsoft YaHei"/>
              </a:rPr>
              <a:t>▪ 特别危险：有毒烟气、容器爆裂</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5 部分“消防措施”首先写明适用和不适用的灭火剂，如水、泡沫、干粉、二氧化碳。有的化学品遇水会剧烈反应，绝不能用水灭火；用错灭火剂会使火势扩大。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不分化学品一律用水灭火</a:t>
            </a:r>
          </a:p>
          <a:p>
            <a:pPr>
              <a:spcAft>
                <a:spcPts val="1000"/>
              </a:spcAft>
            </a:pPr>
            <a:r>
              <a:rPr sz="1500">
                <a:solidFill>
                  <a:srgbClr val="222B33"/>
                </a:solidFill>
                <a:latin typeface="Microsoft YaHei"/>
              </a:rPr>
              <a:t>▪ 不知道燃烧会产生有毒烟气，靠近扑救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第5部分：消防防护，说明书交救援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写明灭火策略和消防人员需要的防护</a:t>
            </a:r>
          </a:p>
          <a:p>
            <a:pPr>
              <a:spcAft>
                <a:spcPts val="1000"/>
              </a:spcAft>
            </a:pPr>
            <a:r>
              <a:rPr sz="2000">
                <a:solidFill>
                  <a:srgbClr val="222B33"/>
                </a:solidFill>
                <a:latin typeface="Microsoft YaHei"/>
              </a:rPr>
              <a:t>▪ 火警时，把说明书交给救援人员</a:t>
            </a:r>
          </a:p>
          <a:p>
            <a:pPr>
              <a:spcAft>
                <a:spcPts val="1000"/>
              </a:spcAft>
            </a:pPr>
            <a:r>
              <a:rPr sz="2000">
                <a:solidFill>
                  <a:srgbClr val="222B33"/>
                </a:solidFill>
                <a:latin typeface="Microsoft YaHei"/>
              </a:rPr>
              <a:t>▪ 例：氢氧化钠不燃，遇某些金属放出氢气</a:t>
            </a:r>
          </a:p>
          <a:p>
            <a:pPr>
              <a:spcAft>
                <a:spcPts val="1000"/>
              </a:spcAft>
            </a:pPr>
            <a:r>
              <a:rPr sz="2000">
                <a:solidFill>
                  <a:srgbClr val="222B33"/>
                </a:solidFill>
                <a:latin typeface="Microsoft YaHei"/>
              </a:rPr>
              <a:t>▪ 火场中可用水雾冷却容器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5 部分还写明灭火的基本策略和消防人员需要的防护装备（如全套防护服和空气呼吸器）。这些是给专业救援人员的：发生火灾时，实验人员按本校应急程序撤离、报警（119），并把相关化学品的说明书交给赶到的救援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实验人员穿着实验服冒险扑救大火</a:t>
            </a:r>
          </a:p>
          <a:p>
            <a:pPr>
              <a:spcAft>
                <a:spcPts val="1000"/>
              </a:spcAft>
            </a:pPr>
            <a:r>
              <a:rPr sz="1500">
                <a:solidFill>
                  <a:srgbClr val="222B33"/>
                </a:solidFill>
                <a:latin typeface="Microsoft YaHei"/>
              </a:rPr>
              <a:t>▪ 救援人员到场时说不清有哪些化学品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第6部分：泄漏应急处理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先保护自己：穿戴好防护用品</a:t>
            </a:r>
          </a:p>
          <a:p>
            <a:pPr>
              <a:spcAft>
                <a:spcPts val="1000"/>
              </a:spcAft>
            </a:pPr>
            <a:r>
              <a:rPr sz="2000">
                <a:solidFill>
                  <a:srgbClr val="222B33"/>
                </a:solidFill>
                <a:latin typeface="Microsoft YaHei"/>
              </a:rPr>
              <a:t>▪ 让无关人员离开</a:t>
            </a:r>
          </a:p>
          <a:p>
            <a:pPr>
              <a:spcAft>
                <a:spcPts val="1000"/>
              </a:spcAft>
            </a:pPr>
            <a:r>
              <a:rPr sz="2000">
                <a:solidFill>
                  <a:srgbClr val="222B33"/>
                </a:solidFill>
                <a:latin typeface="Microsoft YaHei"/>
              </a:rPr>
              <a:t>▪ 先围堵，再按说明书吸收、收集</a:t>
            </a:r>
          </a:p>
          <a:p>
            <a:pPr>
              <a:spcAft>
                <a:spcPts val="1000"/>
              </a:spcAft>
            </a:pPr>
            <a:r>
              <a:rPr sz="2000">
                <a:solidFill>
                  <a:srgbClr val="222B33"/>
                </a:solidFill>
                <a:latin typeface="Microsoft YaHei"/>
              </a:rPr>
              <a:t>▪ 装入化学废物容器，不冲下水道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6 部分“泄漏应急处理”先写人员防护：处理者穿戴好说明书要求的防护用品，无关人员撤离。再写环境保护措施：防止泄漏物流入下水道和水体。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不戴防护就去擦拭泄漏物</a:t>
            </a:r>
          </a:p>
          <a:p>
            <a:pPr>
              <a:spcAft>
                <a:spcPts val="1000"/>
              </a:spcAft>
            </a:pPr>
            <a:r>
              <a:rPr sz="1500">
                <a:solidFill>
                  <a:srgbClr val="222B33"/>
                </a:solidFill>
                <a:latin typeface="Microsoft YaHei"/>
              </a:rPr>
              <a:t>▪ 用水把泄漏物冲进下水道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第7部分：操作处置与储存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避免接触眼睛、皮肤和衣物</a:t>
            </a:r>
          </a:p>
          <a:p>
            <a:pPr>
              <a:spcAft>
                <a:spcPts val="1000"/>
              </a:spcAft>
            </a:pPr>
            <a:r>
              <a:rPr sz="2000">
                <a:solidFill>
                  <a:srgbClr val="222B33"/>
                </a:solidFill>
                <a:latin typeface="Microsoft YaHei"/>
              </a:rPr>
              <a:t>▪ 避免吸入粉尘和蒸气，在通风良好处使用</a:t>
            </a:r>
          </a:p>
          <a:p>
            <a:pPr>
              <a:spcAft>
                <a:spcPts val="1000"/>
              </a:spcAft>
            </a:pPr>
            <a:r>
              <a:rPr sz="2000">
                <a:solidFill>
                  <a:srgbClr val="222B33"/>
                </a:solidFill>
                <a:latin typeface="Microsoft YaHei"/>
              </a:rPr>
              <a:t>▪ 搬运前确认容器盖好、拿稳</a:t>
            </a:r>
          </a:p>
          <a:p>
            <a:pPr>
              <a:spcAft>
                <a:spcPts val="1000"/>
              </a:spcAft>
            </a:pPr>
            <a:r>
              <a:rPr sz="2000">
                <a:solidFill>
                  <a:srgbClr val="222B33"/>
                </a:solidFill>
                <a:latin typeface="Microsoft YaHei"/>
              </a:rPr>
              <a:t>▪ 储存条件和禁配物，如碱远离酸和金属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7 部分“操作处置与储存”写明安全操作要求：避免接触眼睛、皮肤和衣物；避免吸入粉尘和蒸气，在通风良好处或通风柜内操作；搬运前确认容器盖紧、拿稳。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称量粉末状试剂不在通风处</a:t>
            </a:r>
          </a:p>
          <a:p>
            <a:pPr>
              <a:spcAft>
                <a:spcPts val="1000"/>
              </a:spcAft>
            </a:pPr>
            <a:r>
              <a:rPr sz="1500">
                <a:solidFill>
                  <a:srgbClr val="222B33"/>
                </a:solidFill>
                <a:latin typeface="Microsoft YaHei"/>
              </a:rPr>
              <a:t>▪ 用完不盖紧，酸碱混放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第8部分：工程控制优先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先靠工程控制挡住危害，如局部排风</a:t>
            </a:r>
          </a:p>
          <a:p>
            <a:pPr>
              <a:spcAft>
                <a:spcPts val="1000"/>
              </a:spcAft>
            </a:pPr>
            <a:r>
              <a:rPr sz="2000">
                <a:solidFill>
                  <a:srgbClr val="222B33"/>
                </a:solidFill>
                <a:latin typeface="Microsoft YaHei"/>
              </a:rPr>
              <a:t>▪ 能在通风柜里做，就不在敞开台面做</a:t>
            </a:r>
          </a:p>
          <a:p>
            <a:pPr>
              <a:spcAft>
                <a:spcPts val="1000"/>
              </a:spcAft>
            </a:pPr>
            <a:r>
              <a:rPr sz="2000">
                <a:solidFill>
                  <a:srgbClr val="222B33"/>
                </a:solidFill>
                <a:latin typeface="Microsoft YaHei"/>
              </a:rPr>
              <a:t>▪ 有的物质要在密闭系统里操作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8 部分“接触控制和个体防护”先写工程控制：用局部排风、通风柜等设施把危害控制在源头，这比单靠个人防护更可靠。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有通风柜不用，只戴口罩在台面操作</a:t>
            </a:r>
          </a:p>
          <a:p>
            <a:pPr>
              <a:spcAft>
                <a:spcPts val="1000"/>
              </a:spcAft>
            </a:pPr>
            <a:r>
              <a:rPr sz="1500">
                <a:solidFill>
                  <a:srgbClr val="222B33"/>
                </a:solidFill>
                <a:latin typeface="Microsoft YaHei"/>
              </a:rPr>
              <a:t>▪ 把需要密闭操作的物质在敞口容器中处理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第8部分：职业接触限值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职业接触限值：空气中容许的最高浓度水平</a:t>
            </a:r>
          </a:p>
          <a:p>
            <a:pPr>
              <a:spcAft>
                <a:spcPts val="1000"/>
              </a:spcAft>
            </a:pPr>
            <a:r>
              <a:rPr sz="2000">
                <a:solidFill>
                  <a:srgbClr val="222B33"/>
                </a:solidFill>
                <a:latin typeface="Microsoft YaHei"/>
              </a:rPr>
              <a:t>▪ 国内限值以 GBZ 2.1 现行文本为准</a:t>
            </a:r>
          </a:p>
          <a:p>
            <a:pPr>
              <a:spcAft>
                <a:spcPts val="1000"/>
              </a:spcAft>
            </a:pPr>
            <a:r>
              <a:rPr sz="2000">
                <a:solidFill>
                  <a:srgbClr val="222B33"/>
                </a:solidFill>
                <a:latin typeface="Microsoft YaHei"/>
              </a:rPr>
              <a:t>▪ 限值越低，吸入危害越大</a:t>
            </a:r>
          </a:p>
          <a:p>
            <a:pPr>
              <a:spcAft>
                <a:spcPts val="1000"/>
              </a:spcAft>
            </a:pPr>
            <a:r>
              <a:rPr sz="2000">
                <a:solidFill>
                  <a:srgbClr val="222B33"/>
                </a:solidFill>
                <a:latin typeface="Microsoft YaHei"/>
              </a:rPr>
              <a:t>▪ 单位据此安排通风和防护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8 部分还列出职业接触限值，表示工作场所空气中该物质容许的浓度水平，常见有时间加权平均等形式。国内以 GBZ 2.1（以现行文本为准）规定的限值为准，进口化学品说明书上的国外限值只作参考。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把国外资料上的限值数值当作国内依据</a:t>
            </a:r>
          </a:p>
          <a:p>
            <a:pPr>
              <a:spcAft>
                <a:spcPts val="1000"/>
              </a:spcAft>
            </a:pPr>
            <a:r>
              <a:rPr sz="1500">
                <a:solidFill>
                  <a:srgbClr val="222B33"/>
                </a:solidFill>
                <a:latin typeface="Microsoft YaHei"/>
              </a:rPr>
              <a:t>▪ 闻不到气味就认为没有超限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第8部分：个体防护要对得上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写明戴什么、穿什么：眼、手、皮肤、呼吸</a:t>
            </a:r>
          </a:p>
          <a:p>
            <a:pPr>
              <a:spcAft>
                <a:spcPts val="1000"/>
              </a:spcAft>
            </a:pPr>
            <a:r>
              <a:rPr sz="2000">
                <a:solidFill>
                  <a:srgbClr val="222B33"/>
                </a:solidFill>
                <a:latin typeface="Microsoft YaHei"/>
              </a:rPr>
              <a:t>▪ 手套材质要对，说明书会写清楚</a:t>
            </a:r>
          </a:p>
          <a:p>
            <a:pPr>
              <a:spcAft>
                <a:spcPts val="1000"/>
              </a:spcAft>
            </a:pPr>
            <a:r>
              <a:rPr sz="2000">
                <a:solidFill>
                  <a:srgbClr val="222B33"/>
                </a:solidFill>
                <a:latin typeface="Microsoft YaHei"/>
              </a:rPr>
              <a:t>▪ 呼吸防护要选对滤毒罐</a:t>
            </a:r>
          </a:p>
          <a:p>
            <a:pPr>
              <a:spcAft>
                <a:spcPts val="1000"/>
              </a:spcAft>
            </a:pPr>
            <a:r>
              <a:rPr sz="2000">
                <a:solidFill>
                  <a:srgbClr val="222B33"/>
                </a:solidFill>
                <a:latin typeface="Microsoft YaHei"/>
              </a:rPr>
              <a:t>▪ 氢氧化钠：耐碱手套、护目镜，再加面屏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8 部分写明需要的个体防护装备：眼睛戴安全眼镜或护目镜，必要时加面屏；手部戴材质合适的防护手套（不同材质对不同化学品的防护效果不同，说明书会写明）；身体穿实验服或防护服；需要呼吸防护时选用合适的防毒面具并配对应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任何化学品都只戴同一种薄手套</a:t>
            </a:r>
          </a:p>
          <a:p>
            <a:pPr>
              <a:spcAft>
                <a:spcPts val="1000"/>
              </a:spcAft>
            </a:pPr>
            <a:r>
              <a:rPr sz="1500">
                <a:solidFill>
                  <a:srgbClr val="222B33"/>
                </a:solidFill>
                <a:latin typeface="Microsoft YaHei"/>
              </a:rPr>
              <a:t>▪ 有喷溅风险时只戴普通眼镜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第9部分：理化特性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外观、状态、颜色、气味，但别凑近闻</a:t>
            </a:r>
          </a:p>
          <a:p>
            <a:pPr>
              <a:spcAft>
                <a:spcPts val="1000"/>
              </a:spcAft>
            </a:pPr>
            <a:r>
              <a:rPr sz="2000">
                <a:solidFill>
                  <a:srgbClr val="222B33"/>
                </a:solidFill>
                <a:latin typeface="Microsoft YaHei"/>
              </a:rPr>
              <a:t>▪ pH、沸点、熔点：加热、混合前先看</a:t>
            </a:r>
          </a:p>
          <a:p>
            <a:pPr>
              <a:spcAft>
                <a:spcPts val="1000"/>
              </a:spcAft>
            </a:pPr>
            <a:r>
              <a:rPr sz="2000">
                <a:solidFill>
                  <a:srgbClr val="222B33"/>
                </a:solidFill>
                <a:latin typeface="Microsoft YaHei"/>
              </a:rPr>
              <a:t>▪ 溶解度、蒸气压：蒸气压高越易挥发</a:t>
            </a:r>
          </a:p>
          <a:p>
            <a:pPr>
              <a:spcAft>
                <a:spcPts val="1000"/>
              </a:spcAft>
            </a:pPr>
            <a:r>
              <a:rPr sz="2000">
                <a:solidFill>
                  <a:srgbClr val="222B33"/>
                </a:solidFill>
                <a:latin typeface="Microsoft YaHei"/>
              </a:rPr>
              <a:t>▪ 标签损坏时可帮助辨认，但须上报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9 部分“理化特性”列出外观（状态、颜色）、气味、pH、熔点、沸点、闪点、溶解度、蒸气压等数据，帮助判断该怎样操作和防护。气味信息仅供参考，千万不要凑近去闻。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凑近容器口闻气味辨认化学品</a:t>
            </a:r>
          </a:p>
          <a:p>
            <a:pPr>
              <a:spcAft>
                <a:spcPts val="1000"/>
              </a:spcAft>
            </a:pPr>
            <a:r>
              <a:rPr sz="1500">
                <a:solidFill>
                  <a:srgbClr val="222B33"/>
                </a:solidFill>
                <a:latin typeface="Microsoft YaHei"/>
              </a:rPr>
              <a:t>▪ 根据外观自行判断标签不清的试剂并使用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第9部分：闪点看易燃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沸点和闪点，用来判断易不易燃</a:t>
            </a:r>
          </a:p>
          <a:p>
            <a:pPr>
              <a:spcAft>
                <a:spcPts val="1000"/>
              </a:spcAft>
            </a:pPr>
            <a:r>
              <a:rPr sz="2000">
                <a:solidFill>
                  <a:srgbClr val="222B33"/>
                </a:solidFill>
                <a:latin typeface="Microsoft YaHei"/>
              </a:rPr>
              <a:t>▪ 闪点越低，越容易着火</a:t>
            </a:r>
          </a:p>
          <a:p>
            <a:pPr>
              <a:spcAft>
                <a:spcPts val="1000"/>
              </a:spcAft>
            </a:pPr>
            <a:r>
              <a:rPr sz="2000">
                <a:solidFill>
                  <a:srgbClr val="222B33"/>
                </a:solidFill>
                <a:latin typeface="Microsoft YaHei"/>
              </a:rPr>
              <a:t>▪ 乙醚闪点很低，室温下蒸气就能点燃</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9 部分中的沸点和闪点是判断易燃性的关键数据：闪点越低，越容易形成可燃蒸气而着火。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认为室温下没有明火就不会着火</a:t>
            </a:r>
          </a:p>
          <a:p>
            <a:pPr>
              <a:spcAft>
                <a:spcPts val="1000"/>
              </a:spcAft>
            </a:pPr>
            <a:r>
              <a:rPr sz="1500">
                <a:solidFill>
                  <a:srgbClr val="222B33"/>
                </a:solidFill>
                <a:latin typeface="Microsoft YaHei"/>
              </a:rPr>
              <a:t>▪ 在加热设备旁使用低闪点溶剂</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第10部分：稳定性、反应性和禁配物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稳定性：正常条件下稳不稳定</a:t>
            </a:r>
          </a:p>
          <a:p>
            <a:pPr>
              <a:spcAft>
                <a:spcPts val="1000"/>
              </a:spcAft>
            </a:pPr>
            <a:r>
              <a:rPr sz="1700">
                <a:solidFill>
                  <a:srgbClr val="222B33"/>
                </a:solidFill>
                <a:latin typeface="Microsoft YaHei"/>
              </a:rPr>
              <a:t>▪ 要避免的条件：受热、受压、撞击等</a:t>
            </a:r>
          </a:p>
          <a:p>
            <a:pPr>
              <a:spcAft>
                <a:spcPts val="1000"/>
              </a:spcAft>
            </a:pPr>
            <a:r>
              <a:rPr sz="1700">
                <a:solidFill>
                  <a:srgbClr val="222B33"/>
                </a:solidFill>
                <a:latin typeface="Microsoft YaHei"/>
              </a:rPr>
              <a:t>▪ 禁配物不能放一起、不能混，存放时分开</a:t>
            </a:r>
          </a:p>
          <a:p>
            <a:pPr>
              <a:spcAft>
                <a:spcPts val="1000"/>
              </a:spcAft>
            </a:pPr>
            <a:r>
              <a:rPr sz="1700">
                <a:solidFill>
                  <a:srgbClr val="222B33"/>
                </a:solidFill>
                <a:latin typeface="Microsoft YaHei"/>
              </a:rPr>
              <a:t>▪ 很多事故源于禁配物倒进同一废液桶</a:t>
            </a:r>
          </a:p>
          <a:p>
            <a:pPr>
              <a:spcAft>
                <a:spcPts val="1000"/>
              </a:spcAft>
            </a:pPr>
            <a:r>
              <a:rPr sz="1700">
                <a:solidFill>
                  <a:srgbClr val="222B33"/>
                </a:solidFill>
                <a:latin typeface="Microsoft YaHei"/>
              </a:rPr>
              <a:t>▪ 写明危险分解产物和聚合等危险</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第 10 部分“稳定性和反应性”写明化学品在正常条件下是否稳定、可能发生哪些危险反应、应避免的条件（如受热、受压、撞击），以及禁配物（不相容物质）和危险分解产物，分解、聚合等危险也写在这里。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不查禁配物就把不同废液倒进同一桶</a:t>
            </a:r>
          </a:p>
          <a:p>
            <a:pPr>
              <a:spcAft>
                <a:spcPts val="1000"/>
              </a:spcAft>
            </a:pPr>
            <a:r>
              <a:rPr sz="1500">
                <a:solidFill>
                  <a:srgbClr val="222B33"/>
                </a:solidFill>
                <a:latin typeface="Microsoft YaHei"/>
              </a:rPr>
              <a:t>▪ 酸碱、氧化剂和易燃物混放</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第11部分：毒理学信息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先看接触途径：从哪进入身体</a:t>
            </a:r>
          </a:p>
          <a:p>
            <a:pPr>
              <a:spcAft>
                <a:spcPts val="1000"/>
              </a:spcAft>
            </a:pPr>
            <a:r>
              <a:rPr sz="2000">
                <a:solidFill>
                  <a:srgbClr val="222B33"/>
                </a:solidFill>
                <a:latin typeface="Microsoft YaHei"/>
              </a:rPr>
              <a:t>▪ 写明症状、急性和迟发（慢性）影响</a:t>
            </a:r>
          </a:p>
          <a:p>
            <a:pPr>
              <a:spcAft>
                <a:spcPts val="1000"/>
              </a:spcAft>
            </a:pPr>
            <a:r>
              <a:rPr sz="2000">
                <a:solidFill>
                  <a:srgbClr val="222B33"/>
                </a:solidFill>
                <a:latin typeface="Microsoft YaHei"/>
              </a:rPr>
              <a:t>▪ 毒性数据如半数致死量，数越小毒性越大</a:t>
            </a:r>
          </a:p>
          <a:p>
            <a:pPr>
              <a:spcAft>
                <a:spcPts val="1000"/>
              </a:spcAft>
            </a:pPr>
            <a:r>
              <a:rPr sz="2000">
                <a:solidFill>
                  <a:srgbClr val="222B33"/>
                </a:solidFill>
                <a:latin typeface="Microsoft YaHei"/>
              </a:rPr>
              <a:t>▪ 例：乙醚吸入会头晕嗜睡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11 部分“毒理学信息”写明接触途径（从哪进入身体）、可能的症状，以及急性和慢性影响：急性效应来得快，慢性效应慢慢积累。接触途径找对了，防护才有针对性。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把半数致死量数值大小理解反</a:t>
            </a:r>
          </a:p>
          <a:p>
            <a:pPr>
              <a:spcAft>
                <a:spcPts val="1000"/>
              </a:spcAft>
            </a:pPr>
            <a:r>
              <a:rPr sz="1500">
                <a:solidFill>
                  <a:srgbClr val="222B33"/>
                </a:solidFill>
                <a:latin typeface="Microsoft YaHei"/>
              </a:rPr>
              <a:t>▪ 只关心急性症状，忽视长期接触的慢性影响</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“无数据”不等于安全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看到“无可用数据”，要格外小心</a:t>
            </a:r>
          </a:p>
          <a:p>
            <a:pPr>
              <a:spcAft>
                <a:spcPts val="1000"/>
              </a:spcAft>
            </a:pPr>
            <a:r>
              <a:rPr sz="2000">
                <a:solidFill>
                  <a:srgbClr val="222B33"/>
                </a:solidFill>
                <a:latin typeface="Microsoft YaHei"/>
              </a:rPr>
              <a:t>▪ 测过毒性的化学品只是少数</a:t>
            </a:r>
          </a:p>
          <a:p>
            <a:pPr>
              <a:spcAft>
                <a:spcPts val="1000"/>
              </a:spcAft>
            </a:pPr>
            <a:r>
              <a:rPr sz="2000">
                <a:solidFill>
                  <a:srgbClr val="222B33"/>
                </a:solidFill>
                <a:latin typeface="Microsoft YaHei"/>
              </a:rPr>
              <a:t>▪ “无数据”只是不知道，绝不等于安全</a:t>
            </a:r>
          </a:p>
          <a:p>
            <a:pPr>
              <a:spcAft>
                <a:spcPts val="1000"/>
              </a:spcAft>
            </a:pPr>
            <a:r>
              <a:rPr sz="2000">
                <a:solidFill>
                  <a:srgbClr val="222B33"/>
                </a:solidFill>
                <a:latin typeface="Microsoft YaHei"/>
              </a:rPr>
              <a:t>▪ “不适用”与 N/A 要分清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某项写着“无可用数据”时，要格外小心：化学品成千上万，做过完整毒性测试的只是少数；也可能是编写者没写进去。“无数据”只代表不知道或没人查过，绝不等于安全，应按可能有害采取防护，并向导师或负责人请教、查阅其他资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把“无数据”理解为“无毒”</a:t>
            </a:r>
          </a:p>
          <a:p>
            <a:pPr>
              <a:spcAft>
                <a:spcPts val="1000"/>
              </a:spcAft>
            </a:pPr>
            <a:r>
              <a:rPr sz="1500">
                <a:solidFill>
                  <a:srgbClr val="222B33"/>
                </a:solidFill>
                <a:latin typeface="Microsoft YaHei"/>
              </a:rPr>
              <a:t>▪ 看到 N/A 就跳过不管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第12部分：生态学信息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写明化学品对环境的影响</a:t>
            </a:r>
          </a:p>
          <a:p>
            <a:pPr>
              <a:spcAft>
                <a:spcPts val="1000"/>
              </a:spcAft>
            </a:pPr>
            <a:r>
              <a:rPr sz="2000">
                <a:solidFill>
                  <a:srgbClr val="222B33"/>
                </a:solidFill>
                <a:latin typeface="Microsoft YaHei"/>
              </a:rPr>
              <a:t>▪ 水生毒性：对水中生物的毒害</a:t>
            </a:r>
          </a:p>
          <a:p>
            <a:pPr>
              <a:spcAft>
                <a:spcPts val="1000"/>
              </a:spcAft>
            </a:pPr>
            <a:r>
              <a:rPr sz="2000">
                <a:solidFill>
                  <a:srgbClr val="222B33"/>
                </a:solidFill>
                <a:latin typeface="Microsoft YaHei"/>
              </a:rPr>
              <a:t>▪ 持久性和降解性：在环境中留多久</a:t>
            </a:r>
          </a:p>
          <a:p>
            <a:pPr>
              <a:spcAft>
                <a:spcPts val="1000"/>
              </a:spcAft>
            </a:pPr>
            <a:r>
              <a:rPr sz="2000">
                <a:solidFill>
                  <a:srgbClr val="222B33"/>
                </a:solidFill>
                <a:latin typeface="Microsoft YaHei"/>
              </a:rPr>
              <a:t>▪ 例：碱进入水体使 pH 升高，伤害鱼类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12 部分“生态学信息”说明化学品泄漏或排放后对环境的危害，包括水生毒性（对鱼类等水生生物的毒害）、持久性和降解性（在环境中能留存多久）等。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认为少量化学品冲进下水道无害</a:t>
            </a:r>
          </a:p>
          <a:p>
            <a:pPr>
              <a:spcAft>
                <a:spcPts val="1000"/>
              </a:spcAft>
            </a:pPr>
            <a:r>
              <a:rPr sz="1500">
                <a:solidFill>
                  <a:srgbClr val="222B33"/>
                </a:solidFill>
                <a:latin typeface="Microsoft YaHei"/>
              </a:rPr>
              <a:t>▪ 只关心对人的危害，忽视对环境的危害</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第13部分：废弃处置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化学品本身和容器都要妥善处置</a:t>
            </a:r>
          </a:p>
          <a:p>
            <a:pPr>
              <a:spcAft>
                <a:spcPts val="1000"/>
              </a:spcAft>
            </a:pPr>
            <a:r>
              <a:rPr sz="2000">
                <a:solidFill>
                  <a:srgbClr val="222B33"/>
                </a:solidFill>
                <a:latin typeface="Microsoft YaHei"/>
              </a:rPr>
              <a:t>▪ 处置符合国家和地方规定</a:t>
            </a:r>
          </a:p>
          <a:p>
            <a:pPr>
              <a:spcAft>
                <a:spcPts val="1000"/>
              </a:spcAft>
            </a:pPr>
            <a:r>
              <a:rPr sz="2000">
                <a:solidFill>
                  <a:srgbClr val="222B33"/>
                </a:solidFill>
                <a:latin typeface="Microsoft YaHei"/>
              </a:rPr>
              <a:t>▪ 危险废物不能倒进下水道</a:t>
            </a:r>
          </a:p>
          <a:p>
            <a:pPr>
              <a:spcAft>
                <a:spcPts val="1000"/>
              </a:spcAft>
            </a:pPr>
            <a:r>
              <a:rPr sz="2000">
                <a:solidFill>
                  <a:srgbClr val="222B33"/>
                </a:solidFill>
                <a:latin typeface="Microsoft YaHei"/>
              </a:rPr>
              <a:t>▪ 碱液分类收集，中和等处理由专业人员做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13 部分“废弃处置”写明化学品本身及其包装容器的处置方法，处置必须符合国家和地方规定（《国家危险废物名录》等，以现行文本为准）。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把碱液、酸液直接倒入水槽</a:t>
            </a:r>
          </a:p>
          <a:p>
            <a:pPr>
              <a:spcAft>
                <a:spcPts val="1000"/>
              </a:spcAft>
            </a:pPr>
            <a:r>
              <a:rPr sz="1500">
                <a:solidFill>
                  <a:srgbClr val="222B33"/>
                </a:solidFill>
                <a:latin typeface="Microsoft YaHei"/>
              </a:rPr>
              <a:t>▪ 学生自行中和后排放</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第14部分：运输信息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联合国编号（UN 编号）：四位数字</a:t>
            </a:r>
          </a:p>
          <a:p>
            <a:pPr>
              <a:spcAft>
                <a:spcPts val="1000"/>
              </a:spcAft>
            </a:pPr>
            <a:r>
              <a:rPr sz="2000">
                <a:solidFill>
                  <a:srgbClr val="222B33"/>
                </a:solidFill>
                <a:latin typeface="Microsoft YaHei"/>
              </a:rPr>
              <a:t>▪ 正式运输名称</a:t>
            </a:r>
          </a:p>
          <a:p>
            <a:pPr>
              <a:spcAft>
                <a:spcPts val="1000"/>
              </a:spcAft>
            </a:pPr>
            <a:r>
              <a:rPr sz="2000">
                <a:solidFill>
                  <a:srgbClr val="222B33"/>
                </a:solidFill>
                <a:latin typeface="Microsoft YaHei"/>
              </a:rPr>
              <a:t>▪ 运输危险类别和包装类别（Ⅰ类危险最大）</a:t>
            </a:r>
          </a:p>
          <a:p>
            <a:pPr>
              <a:spcAft>
                <a:spcPts val="1000"/>
              </a:spcAft>
            </a:pPr>
            <a:r>
              <a:rPr sz="2000">
                <a:solidFill>
                  <a:srgbClr val="222B33"/>
                </a:solidFill>
                <a:latin typeface="Microsoft YaHei"/>
              </a:rPr>
              <a:t>▪ 例：氢氧化钠溶液属第 8 类腐蚀性物质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14 部分“运输信息”写明联合国编号（UN 编号，四位数字）、正式运输名称、运输危险类别和包装类别。包装类别分三类，Ⅰ类危险程度最大、Ⅱ类中等、Ⅲ类较小。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把危险化学品当普通快递寄送</a:t>
            </a:r>
          </a:p>
          <a:p>
            <a:pPr>
              <a:spcAft>
                <a:spcPts val="1000"/>
              </a:spcAft>
            </a:pPr>
            <a:r>
              <a:rPr sz="1500">
                <a:solidFill>
                  <a:srgbClr val="222B33"/>
                </a:solidFill>
                <a:latin typeface="Microsoft YaHei"/>
              </a:rPr>
              <a:t>▪ 认为运输信息与实验室无关</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第15部分：法规信息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列出适用的安全、健康、环境法规</a:t>
            </a:r>
          </a:p>
          <a:p>
            <a:pPr>
              <a:spcAft>
                <a:spcPts val="1000"/>
              </a:spcAft>
            </a:pPr>
            <a:r>
              <a:rPr sz="2000">
                <a:solidFill>
                  <a:srgbClr val="222B33"/>
                </a:solidFill>
                <a:latin typeface="Microsoft YaHei"/>
              </a:rPr>
              <a:t>▪ 国内主要看危险化学品安全法及配套目录</a:t>
            </a:r>
          </a:p>
          <a:p>
            <a:pPr>
              <a:spcAft>
                <a:spcPts val="1000"/>
              </a:spcAft>
            </a:pPr>
            <a:r>
              <a:rPr sz="2000">
                <a:solidFill>
                  <a:srgbClr val="222B33"/>
                </a:solidFill>
                <a:latin typeface="Microsoft YaHei"/>
              </a:rPr>
              <a:t>▪ 名录状态：是否列入监管名录</a:t>
            </a:r>
          </a:p>
          <a:p>
            <a:pPr>
              <a:spcAft>
                <a:spcPts val="1000"/>
              </a:spcAft>
            </a:pPr>
            <a:r>
              <a:rPr sz="2000">
                <a:solidFill>
                  <a:srgbClr val="222B33"/>
                </a:solidFill>
                <a:latin typeface="Microsoft YaHei"/>
              </a:rPr>
              <a:t>▪ 列入管制名录的，按专门规定管理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15 部分“法规信息”列出管理这种化学品的安全、健康和环境法规。国内主要依据《中华人民共和国危险化学品安全法》及《危险化学品安全管理条例》（以现行文本为准），以及《危险化学品目录》等。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不查名录状态，把管控化学品当普通试剂</a:t>
            </a:r>
          </a:p>
          <a:p>
            <a:pPr>
              <a:spcAft>
                <a:spcPts val="1000"/>
              </a:spcAft>
            </a:pPr>
            <a:r>
              <a:rPr sz="1500">
                <a:solidFill>
                  <a:srgbClr val="222B33"/>
                </a:solidFill>
                <a:latin typeface="Microsoft YaHei"/>
              </a:rPr>
              <a:t>▪ 把国外法规当作国内依据</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第16部分：其他信息和修订日期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16 部分是其他信息</a:t>
            </a:r>
          </a:p>
          <a:p>
            <a:pPr>
              <a:spcAft>
                <a:spcPts val="1000"/>
              </a:spcAft>
            </a:pPr>
            <a:r>
              <a:rPr sz="2000">
                <a:solidFill>
                  <a:srgbClr val="222B33"/>
                </a:solidFill>
                <a:latin typeface="Microsoft YaHei"/>
              </a:rPr>
              <a:t>▪ 写明编制和修订日期</a:t>
            </a:r>
          </a:p>
          <a:p>
            <a:pPr>
              <a:spcAft>
                <a:spcPts val="1000"/>
              </a:spcAft>
            </a:pPr>
            <a:r>
              <a:rPr sz="2000">
                <a:solidFill>
                  <a:srgbClr val="222B33"/>
                </a:solidFill>
                <a:latin typeface="Microsoft YaHei"/>
              </a:rPr>
              <a:t>▪ 据此判断说明书是不是最新版本</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16 部分“其他信息”包括说明书的编制日期、修订日期和修订说明，以及缩略语、参考文献等。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从不看修订日期，多年使用旧版</a:t>
            </a:r>
          </a:p>
          <a:p>
            <a:pPr>
              <a:spcAft>
                <a:spcPts val="1000"/>
              </a:spcAft>
            </a:pPr>
            <a:r>
              <a:rPr sz="1500">
                <a:solidFill>
                  <a:srgbClr val="222B33"/>
                </a:solidFill>
                <a:latin typeface="Microsoft YaHei"/>
              </a:rPr>
              <a:t>▪ 读完说明书不把要求落实到规程中</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化学品安全技术说明书一共有几个部分？哪项国家标准规定了它的内容和顺序？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12 个，GB 15258-2009</a:t>
            </a:r>
          </a:p>
          <a:p>
            <a:pPr algn="l"/>
            <a:r>
              <a:rPr sz="1500" b="0">
                <a:solidFill>
                  <a:srgbClr val="222B33"/>
                </a:solidFill>
                <a:latin typeface="Microsoft YaHei"/>
              </a:rPr>
              <a:t>B. 16 个，GB/T 16483-2008</a:t>
            </a:r>
          </a:p>
          <a:p>
            <a:pPr algn="l"/>
            <a:r>
              <a:rPr sz="1500" b="0">
                <a:solidFill>
                  <a:srgbClr val="222B33"/>
                </a:solidFill>
                <a:latin typeface="Microsoft YaHei"/>
              </a:rPr>
              <a:t>C. 16 个，GB 2894-2025</a:t>
            </a:r>
          </a:p>
          <a:p>
            <a:pPr algn="l"/>
            <a:r>
              <a:rPr sz="1500" b="0">
                <a:solidFill>
                  <a:srgbClr val="222B33"/>
                </a:solidFill>
                <a:latin typeface="Microsoft YaHei"/>
              </a:rPr>
              <a:t>D. 8 个，GB/T 17519-2013</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实验中氢氧化钠溅入眼睛，应首先查阅说明书的哪一部分（平时应提前读过）？</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 2 部分</a:t>
            </a:r>
          </a:p>
          <a:p>
            <a:pPr algn="l"/>
            <a:r>
              <a:rPr sz="1500" b="0">
                <a:solidFill>
                  <a:srgbClr val="222B33"/>
                </a:solidFill>
                <a:latin typeface="Microsoft YaHei"/>
              </a:rPr>
              <a:t>B. 第 4 部分</a:t>
            </a:r>
          </a:p>
          <a:p>
            <a:pPr algn="l"/>
            <a:r>
              <a:rPr sz="1500" b="0">
                <a:solidFill>
                  <a:srgbClr val="222B33"/>
                </a:solidFill>
                <a:latin typeface="Microsoft YaHei"/>
              </a:rPr>
              <a:t>C. 第 9 部分</a:t>
            </a:r>
          </a:p>
          <a:p>
            <a:pPr algn="l"/>
            <a:r>
              <a:rPr sz="1500" b="0">
                <a:solidFill>
                  <a:srgbClr val="222B33"/>
                </a:solidFill>
                <a:latin typeface="Microsoft YaHei"/>
              </a:rPr>
              <a:t>D. 第 14 部分</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判断：说明书第 11 部分毒性数据写着“无可用数据”，说明这种化学品无毒，可以不戴防护。</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要查某化学品不能和哪些物质混放、混倒，应看：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 3 部分</a:t>
            </a:r>
          </a:p>
          <a:p>
            <a:pPr algn="l"/>
            <a:r>
              <a:rPr sz="1500" b="0">
                <a:solidFill>
                  <a:srgbClr val="222B33"/>
                </a:solidFill>
                <a:latin typeface="Microsoft YaHei"/>
              </a:rPr>
              <a:t>B. 第 7 部分和第 10 部分</a:t>
            </a:r>
          </a:p>
          <a:p>
            <a:pPr algn="l"/>
            <a:r>
              <a:rPr sz="1500" b="0">
                <a:solidFill>
                  <a:srgbClr val="222B33"/>
                </a:solidFill>
                <a:latin typeface="Microsoft YaHei"/>
              </a:rPr>
              <a:t>C. 第 12 部分</a:t>
            </a:r>
          </a:p>
          <a:p>
            <a:pPr algn="l"/>
            <a:r>
              <a:rPr sz="1500" b="0">
                <a:solidFill>
                  <a:srgbClr val="222B33"/>
                </a:solidFill>
                <a:latin typeface="Microsoft YaHei"/>
              </a:rPr>
              <a:t>D. 第 16 部分</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判断：职业接触限值越低，说明该物质吸入危害越小。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简答：说明书的十六个部分可以按哪四个问题分组查阅？</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统一格式：十六部分，顺序固定</a:t>
            </a:r>
          </a:p>
          <a:p>
            <a:pPr>
              <a:spcAft>
                <a:spcPts val="800"/>
              </a:spcAft>
            </a:pPr>
            <a:r>
              <a:rPr sz="1500">
                <a:solidFill>
                  <a:srgbClr val="FFFFFF"/>
                </a:solidFill>
                <a:latin typeface="Microsoft YaHei"/>
              </a:rPr>
              <a:t>▪ K2  和旧版比：第2、3部分换了位置</a:t>
            </a:r>
          </a:p>
          <a:p>
            <a:pPr>
              <a:spcAft>
                <a:spcPts val="800"/>
              </a:spcAft>
            </a:pPr>
            <a:r>
              <a:rPr sz="1500">
                <a:solidFill>
                  <a:srgbClr val="FFFFFF"/>
                </a:solidFill>
                <a:latin typeface="Microsoft YaHei"/>
              </a:rPr>
              <a:t>▪ K3  按需排序：四个问题分组查</a:t>
            </a:r>
          </a:p>
          <a:p>
            <a:pPr>
              <a:spcAft>
                <a:spcPts val="800"/>
              </a:spcAft>
            </a:pPr>
            <a:r>
              <a:rPr sz="1500">
                <a:solidFill>
                  <a:srgbClr val="FFFFFF"/>
                </a:solidFill>
                <a:latin typeface="Microsoft YaHei"/>
              </a:rPr>
              <a:t>▪ K4  第1部分：认准是哪种化学品</a:t>
            </a:r>
          </a:p>
          <a:p>
            <a:pPr>
              <a:spcAft>
                <a:spcPts val="800"/>
              </a:spcAft>
            </a:pPr>
            <a:r>
              <a:rPr sz="1500">
                <a:solidFill>
                  <a:srgbClr val="FFFFFF"/>
                </a:solidFill>
                <a:latin typeface="Microsoft YaHei"/>
              </a:rPr>
              <a:t>▪ K5  第1部分：推荐用途和供应商</a:t>
            </a:r>
          </a:p>
          <a:p>
            <a:pPr>
              <a:spcAft>
                <a:spcPts val="800"/>
              </a:spcAft>
            </a:pPr>
            <a:r>
              <a:rPr sz="1500">
                <a:solidFill>
                  <a:srgbClr val="FFFFFF"/>
                </a:solidFill>
                <a:latin typeface="Microsoft YaHei"/>
              </a:rPr>
              <a:t>▪ K6  第2部分：危险性概述</a:t>
            </a:r>
          </a:p>
          <a:p>
            <a:pPr>
              <a:spcAft>
                <a:spcPts val="800"/>
              </a:spcAft>
            </a:pPr>
            <a:r>
              <a:rPr sz="1500">
                <a:solidFill>
                  <a:srgbClr val="FFFFFF"/>
                </a:solidFill>
                <a:latin typeface="Microsoft YaHei"/>
              </a:rPr>
              <a:t>▪ K7  例：氢氧化钠，信号词“危险”</a:t>
            </a:r>
          </a:p>
          <a:p>
            <a:pPr>
              <a:spcAft>
                <a:spcPts val="800"/>
              </a:spcAft>
            </a:pPr>
            <a:r>
              <a:rPr sz="1500">
                <a:solidFill>
                  <a:srgbClr val="FFFFFF"/>
                </a:solidFill>
                <a:latin typeface="Microsoft YaHei"/>
              </a:rPr>
              <a:t>▪ K8  第3部分：成分和浓度</a:t>
            </a:r>
          </a:p>
          <a:p>
            <a:pPr>
              <a:spcAft>
                <a:spcPts val="800"/>
              </a:spcAft>
            </a:pPr>
            <a:r>
              <a:rPr sz="1500">
                <a:solidFill>
                  <a:srgbClr val="FFFFFF"/>
                </a:solidFill>
                <a:latin typeface="Microsoft YaHei"/>
              </a:rPr>
              <a:t>▪ K9  第4部分：按接触途径急救</a:t>
            </a:r>
          </a:p>
          <a:p>
            <a:pPr>
              <a:spcAft>
                <a:spcPts val="800"/>
              </a:spcAft>
            </a:pPr>
            <a:r>
              <a:rPr sz="1500">
                <a:solidFill>
                  <a:srgbClr val="FFFFFF"/>
                </a:solidFill>
                <a:latin typeface="Microsoft YaHei"/>
              </a:rPr>
              <a:t>▪ K10  第4部分：症状和何时就医</a:t>
            </a:r>
          </a:p>
          <a:p>
            <a:pPr>
              <a:spcAft>
                <a:spcPts val="800"/>
              </a:spcAft>
            </a:pPr>
            <a:r>
              <a:rPr sz="1500">
                <a:solidFill>
                  <a:srgbClr val="FFFFFF"/>
                </a:solidFill>
                <a:latin typeface="Microsoft YaHei"/>
              </a:rPr>
              <a:t>▪ K11  例：误食碱，不催吐</a:t>
            </a:r>
          </a:p>
          <a:p>
            <a:pPr>
              <a:spcAft>
                <a:spcPts val="800"/>
              </a:spcAft>
            </a:pPr>
            <a:r>
              <a:rPr sz="1500">
                <a:solidFill>
                  <a:srgbClr val="FFFFFF"/>
                </a:solidFill>
                <a:latin typeface="Microsoft YaHei"/>
              </a:rPr>
              <a:t>▪ K12  用前先读急救，找到洗眼器</a:t>
            </a:r>
          </a:p>
          <a:p>
            <a:pPr>
              <a:spcAft>
                <a:spcPts val="800"/>
              </a:spcAft>
            </a:pPr>
            <a:r>
              <a:rPr sz="1500">
                <a:solidFill>
                  <a:srgbClr val="FFFFFF"/>
                </a:solidFill>
                <a:latin typeface="Microsoft YaHei"/>
              </a:rPr>
              <a:t>▪ K13  第5部分：灭火剂和特别危险</a:t>
            </a:r>
          </a:p>
          <a:p>
            <a:pPr>
              <a:spcAft>
                <a:spcPts val="800"/>
              </a:spcAft>
            </a:pPr>
            <a:r>
              <a:rPr sz="1500">
                <a:solidFill>
                  <a:srgbClr val="FFFFFF"/>
                </a:solidFill>
                <a:latin typeface="Microsoft YaHei"/>
              </a:rPr>
              <a:t>▪ K14  第5部分：消防防护，说明书交救援</a:t>
            </a:r>
          </a:p>
          <a:p>
            <a:pPr>
              <a:spcAft>
                <a:spcPts val="800"/>
              </a:spcAft>
            </a:pPr>
            <a:r>
              <a:rPr sz="1500">
                <a:solidFill>
                  <a:srgbClr val="FFFFFF"/>
                </a:solidFill>
                <a:latin typeface="Microsoft YaHei"/>
              </a:rPr>
              <a:t>▪ K15  第6部分：泄漏应急处理</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K16  第7部分：操作处置与储存</a:t>
            </a:r>
          </a:p>
          <a:p>
            <a:pPr>
              <a:spcAft>
                <a:spcPts val="800"/>
              </a:spcAft>
            </a:pPr>
            <a:r>
              <a:rPr sz="1500">
                <a:solidFill>
                  <a:srgbClr val="FFFFFF"/>
                </a:solidFill>
                <a:latin typeface="Microsoft YaHei"/>
              </a:rPr>
              <a:t>▪ K17  第8部分：工程控制优先</a:t>
            </a:r>
          </a:p>
          <a:p>
            <a:pPr>
              <a:spcAft>
                <a:spcPts val="800"/>
              </a:spcAft>
            </a:pPr>
            <a:r>
              <a:rPr sz="1500">
                <a:solidFill>
                  <a:srgbClr val="FFFFFF"/>
                </a:solidFill>
                <a:latin typeface="Microsoft YaHei"/>
              </a:rPr>
              <a:t>▪ K18  第8部分：职业接触限值</a:t>
            </a:r>
          </a:p>
          <a:p>
            <a:pPr>
              <a:spcAft>
                <a:spcPts val="800"/>
              </a:spcAft>
            </a:pPr>
            <a:r>
              <a:rPr sz="1500">
                <a:solidFill>
                  <a:srgbClr val="FFFFFF"/>
                </a:solidFill>
                <a:latin typeface="Microsoft YaHei"/>
              </a:rPr>
              <a:t>▪ K19  第8部分：个体防护要对得上</a:t>
            </a:r>
          </a:p>
          <a:p>
            <a:pPr>
              <a:spcAft>
                <a:spcPts val="800"/>
              </a:spcAft>
            </a:pPr>
            <a:r>
              <a:rPr sz="1500">
                <a:solidFill>
                  <a:srgbClr val="FFFFFF"/>
                </a:solidFill>
                <a:latin typeface="Microsoft YaHei"/>
              </a:rPr>
              <a:t>▪ K20  第9部分：理化特性</a:t>
            </a:r>
          </a:p>
          <a:p>
            <a:pPr>
              <a:spcAft>
                <a:spcPts val="800"/>
              </a:spcAft>
            </a:pPr>
            <a:r>
              <a:rPr sz="1500">
                <a:solidFill>
                  <a:srgbClr val="FFFFFF"/>
                </a:solidFill>
                <a:latin typeface="Microsoft YaHei"/>
              </a:rPr>
              <a:t>▪ K21  第9部分：闪点看易燃</a:t>
            </a:r>
          </a:p>
          <a:p>
            <a:pPr>
              <a:spcAft>
                <a:spcPts val="800"/>
              </a:spcAft>
            </a:pPr>
            <a:r>
              <a:rPr sz="1500">
                <a:solidFill>
                  <a:srgbClr val="FFFFFF"/>
                </a:solidFill>
                <a:latin typeface="Microsoft YaHei"/>
              </a:rPr>
              <a:t>▪ K22  第10部分：稳定性、反应性和禁配物</a:t>
            </a:r>
          </a:p>
          <a:p>
            <a:pPr>
              <a:spcAft>
                <a:spcPts val="800"/>
              </a:spcAft>
            </a:pPr>
            <a:r>
              <a:rPr sz="1500">
                <a:solidFill>
                  <a:srgbClr val="FFFFFF"/>
                </a:solidFill>
                <a:latin typeface="Microsoft YaHei"/>
              </a:rPr>
              <a:t>▪ K23  第11部分：毒理学信息</a:t>
            </a:r>
          </a:p>
          <a:p>
            <a:pPr>
              <a:spcAft>
                <a:spcPts val="800"/>
              </a:spcAft>
            </a:pPr>
            <a:r>
              <a:rPr sz="1500">
                <a:solidFill>
                  <a:srgbClr val="FFFFFF"/>
                </a:solidFill>
                <a:latin typeface="Microsoft YaHei"/>
              </a:rPr>
              <a:t>▪ K24  “无数据”不等于安全</a:t>
            </a:r>
          </a:p>
          <a:p>
            <a:pPr>
              <a:spcAft>
                <a:spcPts val="800"/>
              </a:spcAft>
            </a:pPr>
            <a:r>
              <a:rPr sz="1500">
                <a:solidFill>
                  <a:srgbClr val="FFFFFF"/>
                </a:solidFill>
                <a:latin typeface="Microsoft YaHei"/>
              </a:rPr>
              <a:t>▪ K25  第12部分：生态学信息</a:t>
            </a:r>
          </a:p>
          <a:p>
            <a:pPr>
              <a:spcAft>
                <a:spcPts val="800"/>
              </a:spcAft>
            </a:pPr>
            <a:r>
              <a:rPr sz="1500">
                <a:solidFill>
                  <a:srgbClr val="FFFFFF"/>
                </a:solidFill>
                <a:latin typeface="Microsoft YaHei"/>
              </a:rPr>
              <a:t>▪ K26  第13部分：废弃处置</a:t>
            </a:r>
          </a:p>
          <a:p>
            <a:pPr>
              <a:spcAft>
                <a:spcPts val="800"/>
              </a:spcAft>
            </a:pPr>
            <a:r>
              <a:rPr sz="1500">
                <a:solidFill>
                  <a:srgbClr val="FFFFFF"/>
                </a:solidFill>
                <a:latin typeface="Microsoft YaHei"/>
              </a:rPr>
              <a:t>▪ K27  第14部分：运输信息</a:t>
            </a:r>
          </a:p>
          <a:p>
            <a:pPr>
              <a:spcAft>
                <a:spcPts val="800"/>
              </a:spcAft>
            </a:pPr>
            <a:r>
              <a:rPr sz="1500">
                <a:solidFill>
                  <a:srgbClr val="FFFFFF"/>
                </a:solidFill>
                <a:latin typeface="Microsoft YaHei"/>
              </a:rPr>
              <a:t>▪ K28  第15部分：法规信息</a:t>
            </a:r>
          </a:p>
          <a:p>
            <a:pPr>
              <a:spcAft>
                <a:spcPts val="800"/>
              </a:spcAft>
            </a:pPr>
            <a:r>
              <a:rPr sz="1500">
                <a:solidFill>
                  <a:srgbClr val="FFFFFF"/>
                </a:solidFill>
                <a:latin typeface="Microsoft YaHei"/>
              </a:rPr>
              <a:t>▪ K29  第16部分：其他信息和修订日期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