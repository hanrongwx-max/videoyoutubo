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与火灾、化学品泄漏相比，辐射事故并不常见，但一旦发生，后果同样严重，而且射线看不见、摸不着、闻不到，人往往没有感觉，只能靠仪器和程序来判断和处置。</a:t>
            </a:r>
          </a:p>
          <a:p>
            <a:r>
              <a:t>处置要依照国家法规、学校应急预案和本实验室规程进行，不走捷径，每一步都按程序办。应急处置中同样遵循辐射防护最优化原则（合理可行尽量低，见第 089 课），用时间、距离、屏蔽减少处置人员和周围人员的受照（见第 090 课）；辐射的影响可能很长远，能少受一点是一点。</a:t>
            </a:r>
          </a:p>
          <a:p>
            <a:r>
              <a:t>各类事故的通用报警和报告程序见第 157 课，本课讲辐射事件的特殊要求。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性同位素与射线装置安全和防护条例》（以现行文本为准）要求使用单位制定辐射事故应急方案。学校有辐射事故应急预案，使用放射性物质和射线装置的实验室还要有本实验室的应急处置规程，写清可能发生的事件类型（丢源、卡源、超剂量照射、洒漏、人员沾污、火灾波及源库等）、处置步骤、负责人和联系电话（应急预案通则见第 155 课）。</a:t>
            </a:r>
          </a:p>
          <a:p>
            <a:r>
              <a:t>应急物资放在固定、显眼的位置并定期检查补充，一般包括：手套、鞋套、防护服、吸水纸、塑料袋和放射性废物袋、警示带和标志、标签和记号笔、去污用品、巡测仪和表面污染仪、必要的屏蔽材料（以本实验室规程为准）。</a:t>
            </a:r>
          </a:p>
          <a:p>
            <a:r>
              <a:t>应急电话（实验室负责人、学院、学校辐射安全管理部门、保卫处、学校值班电话、120）和处置流程图贴在门边等显眼处。定期组织演练，人人知道发生了什么事该怎么做。</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性同位素与射线装置安全和防护条例》（以现行文本为准）根据辐射事故的性质、严重程度、可控性和影响范围等因素，把辐射事故分为特别重大辐射事故、重大辐射事故、较大辐射事故和一般辐射事故四个等级。</a:t>
            </a:r>
          </a:p>
          <a:p>
            <a:r>
              <a:t>定级主要看丢失被盗失控的放射源类别（放射源分类见第 094 课）、人员受照造成的后果（如急性放射病、局部器官残疾）和辐射污染的范围。高类别放射源失控、造成人员急性重度损伤或大范围污染的，等级就高；IV、V 类放射源丢失、被盗、失控，或者人员受到超过年剂量限值的照射，也属于一般辐射事故，具体以现行条例为准。</a:t>
            </a:r>
          </a:p>
          <a:p>
            <a:r>
              <a:t>所以，高校里看似“小”的事件——一个小密封源找不到了、某人剂量超过年限值——同样是要依法报告的辐射事故，不能当作内部小事处理。</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发现放射源异常、剂量率异常、洒漏或有人可能受照时，先做四件事：一是停——立即停止操作，射线装置关机断电，人员后退，防止继续受照；二是救——有人受伤或不适，救命第一，紧急拨打 120，抢救绝不能因为辐射而耽误；三是报——报告实验室负责人和学校辐射安全管理人员（见 K4）；四是守——保护现场，划出区域，不让无关人员进入。</a:t>
            </a:r>
          </a:p>
          <a:p>
            <a:r>
              <a:t>处置的总原则是先控制源、隔离区域、保护人员，再由专业人员去污和收源：隔离、控制，再去污。没有受过训练的人不擅自处理，不移动源，不清理现场。</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源丢失被盗、泄漏、误照射、剂量异常、洒漏失控、放射性药物丢失等，都要立即报告：先报实验室负责人，再报学院和学校辐射安全管理部门；涉及丢失被盗、需要封控现场的，同时通知保卫处；有人受伤先救治，拨打 120。夜里或节假日找不到人时，打学校值班电话（报告程序通则见第 157 课）。</a:t>
            </a:r>
          </a:p>
          <a:p>
            <a:r>
              <a:t>发生辐射事故时，学校按《放射性同位素与射线装置安全和防护条例》（以现行文本为准）立即启动应急方案，并按规定时限向当地生态环境主管部门、公安部门、卫生健康主管部门报告（报告时限和内容以现行规定为准）。</a:t>
            </a:r>
          </a:p>
          <a:p>
            <a:r>
              <a:t>报告要如实、及时，不隐瞒、不拖延、不私自处理；隐瞒不报、谎报和迟报都要承担法律责任（见第 093 课）。</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清点时账物不符、源库里少了一个源、发现源库被撬，都要立即报告实验室负责人、学院、学校辐射安全管理部门和保卫处，由学校按规定向生态环境、公安、卫生健康主管部门报告。丢失被盗的放射源可能被不知情的人捡到，时间拖得越久，受照的人可能越多。</a:t>
            </a:r>
          </a:p>
          <a:p>
            <a:r>
              <a:t>不要自己偷偷找、不要先改台账“对上账”、不要隐瞒。保护源库和现场原状，配合公安和主管部门调查；提供台账、领用记录和最后一次见到源的时间地点。</a:t>
            </a:r>
          </a:p>
          <a:p>
            <a:r>
              <a:t>预防丢失的保管措施见第 094 课。</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曾有案例：治疗用的放射源被遗落在走廊里。路过的人离得远、停留短，受照很低；但如果有人在近处长时间停留，就可能受到危险的照射。</a:t>
            </a:r>
          </a:p>
          <a:p>
            <a:r>
              <a:t>遗失源找到后的处置要按顺序：第一，由受过训练的专业人员在防护下用长柄工具把源收回屏蔽容器（其他人不得接近、不得用手拿）；第二，清场，拉警戒，不让更多人靠近；第三，立即通知实验室负责人和学校辐射安全管理部门。</a:t>
            </a:r>
          </a:p>
          <a:p>
            <a:r>
              <a:t>之后登记所有可能受照的人员（包括路过的人），根据距离和停留时间评估剂量，必要时安排检查；按规定上报，调查原因，改进流程（见 K15）。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γ射线探伤等作业中，源卡在导管里收不回屏蔽容器，叫卡源（探伤作业见第 094 课）。这时源处于暴露状态，人员要立即撤离到安全距离以外，必要时扩大警戒范围，专人看守，不要上前乱碰、乱拉导管，立即报告单位和学校辐射安全管理部门，由经授权的专业人员制定方案处置，学校按规定报主管部门。</a:t>
            </a:r>
          </a:p>
          <a:p>
            <a:r>
              <a:t>怀疑密封源破损泄漏（泄漏检查不合格、源掉落、外观异常）时，先把源放回或留在屏蔽容器中隔离，标出可能污染的区域，马上报告学校辐射安全管理人员，按污染处置程序处理（见第 091 课）。</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丢失的放射源常常看起来像一个普通的小金属件、金属棒或小罐子，不知情的人捡回家，可能造成严重伤害。在实验楼、工地、废品堆等地方看到来历不明的金属件，尤其是带有电离辐射标志的物品，不捡、不碰、不拿走、不当废品卖。</a:t>
            </a:r>
          </a:p>
          <a:p>
            <a:r>
              <a:t>退远一点，守住现场，不让别人靠近，立即报告保卫处和学校辐射安全管理部门（校外拨打 110 或报告当地主管部门）。有人接触后不适或受伤，拨打 120 就医，并告诉医生可能接触了放射源。</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超剂量照射常常发生在设备没关就开门、联锁失效、标志不全或被遮挡、源没收回就靠近等情况下（安全装置见第 094 课）。受到照射时人往往没有感觉，早期也可能没有症状，所以一律以报告和调查为准，不能凭感觉判断。</a:t>
            </a:r>
          </a:p>
          <a:p>
            <a:r>
              <a:t>怀疑自己或他人受到大剂量照射时：先离开现场，防止继续受照；立即报告实验室负责人、学院和学校辐射安全管理部门；个人剂量计马上送检，结合时间、距离和设备参数估算受照剂量；有症状或受伤拨打 120 就医，按安排到有资质的机构做医学检查。早期没有症状也不能侥幸，不能瞒报。</a:t>
            </a:r>
          </a:p>
          <a:p>
            <a:r>
              <a:t>个人剂量读数明显异常、剂量计丢失或怀疑误照射，都要报告，查明原因（剂量报告见第 092 课）。</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性药液或溶液洒落，哪怕只有一两滴，也按溢洒处理；在核医学科的给药、负荷试验等场所和实验室分装时最容易发生。第一步是隔离现场：立刻告诉旁人，人员离开污染区域，不随意走动，以免把污染带到别处。</a:t>
            </a:r>
          </a:p>
          <a:p>
            <a:r>
              <a:t>设置屏障，拉起辐射警示带，挂标志，无关人员远离。由受过训练的人员处理：穿戴防护服（实验服）、手套、鞋套，必要时铅围裙，佩戴个人剂量计；按射线种类用合适的屏蔽挡住（见第 090 课）。</a:t>
            </a:r>
          </a:p>
          <a:p>
            <a:r>
              <a:t>不能徒手擦，不能用水冲进下水道，不能用普通拖把拖地；没有受过训练的人退出并报告，不要上手。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控制住洒漏以后再去污：戴手套，用吸水纸覆盖溢洒处，从外向内吸附，防止扩大污染面积；用过的吸水纸、手套等放进放射性废物袋，标明核素和日期（见第 091 课）。</a:t>
            </a:r>
          </a:p>
          <a:p>
            <a:r>
              <a:t>再用合适的去污剂从外向内清洁受影响的表面，必要时重复。处理结束，小心脱下受污染的防护用品，避免污染皮肤，装袋处理。</a:t>
            </a:r>
          </a:p>
          <a:p>
            <a:r>
              <a:t>用表面污染仪逐处检测台面、地面、工具和人员（手、鞋、衣物），确认达到要求后才能解除隔离；暂时去不掉的，标记、覆盖或封闭，等待衰变或由专业人员处理。报告负责人，记录经过；皮肤沾到要说出来（见 K13）。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发生洒漏时，在场的人一般没有即时危险，先保持冷静，听核医学技师或实验室负责人的统一指挥，医生和研究人员也要听从。</a:t>
            </a:r>
          </a:p>
          <a:p>
            <a:r>
              <a:t>再想帮忙也别伸手，清理交给受过训练的人员，以免越弄越大。接触过排泄物或溢洒物的人，别再去摸门把手、电脑、手机，在检测放行之前先留在原地，不去其他区域。</a:t>
            </a:r>
          </a:p>
          <a:p>
            <a:r>
              <a:t>处置人员在辐射安全管理人员监督下逐个检测在场人员，没有污染才放行。污染较重的房间暂时关闭、挂牌，清理检测合格后再开放；其他房间和后续工作可能照常进行，听从安排。</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皮肤或衣物沾上放射性物质时，按“脱、冲、测、报”处理：先小心脱去污染的衣物和手套，装袋标记；用温水和肥皂在流水下轻轻冲洗沾污部位，从外向内，不用力刷，不用硬毛刷或有机溶剂，别把皮肤擦破，以免放射性进入体内；冲洗后用表面污染仪复测，必要时重复，并马上报告负责人。眼睛沾污用洗眼器冲洗。</a:t>
            </a:r>
          </a:p>
          <a:p>
            <a:r>
              <a:t>怀疑吸入或食入了放射性物质时，马上停止工作，立即报告，先做体表污染检测，按辐射安全管理人员和医生的安排配合内照射监测（内照射见第 087 课）；不要自己乱服药。</a:t>
            </a:r>
          </a:p>
          <a:p>
            <a:r>
              <a:t>皮肤有伤口时沾污，冲洗伤口并立即报告就医。</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件处置后，在场的每个人都要尽快写下经过：自己在做什么、在什么位置、离源或设备多远、停留了多长时间，设备的运行参数（如电压、电流、出束时间），以及看到、听到的情况。这些信息是估算受照剂量和查找原因的依据。</a:t>
            </a:r>
          </a:p>
          <a:p>
            <a:r>
              <a:t>记录要如实、及时，不修饰、不互相“对口径”；同时保存剂量计、监测记录、台账和现场照片等资料，配合学校和主管部门调查。</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事件处理完不等于结束。要调查清楚：源是怎么丢的、联锁为什么失效、洒漏是怎么发生的，找出流程里哪一环断了，是人的失误、设备故障还是管理漏洞（调查和根本原因分析见第 162 课）。</a:t>
            </a:r>
          </a:p>
          <a:p>
            <a:r>
              <a:t>根据调查结果修订规程，补上漏洞（如增加交接核对、改进设备检查、调整分装流程），落实整改并验证效果；按规定向主管部门报告处理结果。</a:t>
            </a:r>
          </a:p>
          <a:p>
            <a:r>
              <a:t>把事件经过和教训讲给实验室的每个人，纳入培训和演练，防止同样的事情再次发生。未遂事件和小的异常也要报告和分析（见第 161 课）。</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答案：C。解析：先隔离再去污；不能徒手擦，不能冲进下水道，没受过训练不上手。</a:t>
            </a:r>
          </a:p>
          <a:p>
            <a:r>
              <a:t>第 2 题 答案：B。解析：IV、V 类放射源丢失被盗失控也属于一般辐射事故，必须立即报告，学校按规定向生态环境、公安、卫生健康主管部门报告。</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答案：C。解析：疑似放射源不能接触，守住现场，报告保卫处和学校辐射安全管理部门。</a:t>
            </a:r>
          </a:p>
          <a:p>
            <a:r>
              <a:t>第 4 题 答案：B。解析：不用力刷、不用溶剂，以免皮肤破损使放射性进入体内。</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答案：B。解析：救命第一，绝不能因为辐射耽误抢救，按常规防护施救并拨打 120。</a:t>
            </a:r>
          </a:p>
          <a:p>
            <a:r>
              <a:t>第 6 题 答案：立即停止出束、离开现场防止继续受照；报告实验室负责人、学院和学校辐射安全管理部门；个人剂量计马上送检，在场人员写清设备参数、距离、时间；有症状或受伤拨打 120，按安排做医学检查；配合调查整改。解析：超量照射人往往没有感觉，不能凭感觉判断、不能瞒报。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096</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辐射事故应急</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第7章 辐射安全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72 镜）　适用对象：使用放射源、射线装置、非密封放射性物质和放射性药物的本科生、研究生和教职工，实验室负责人、辐射安全管理人员，以及可能到场的保卫处、保洁、医护人员</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能说出辐射事故分为特别重大、重大、较大、一般四级，知道小源丢失或超年剂量限值照射也属于辐射事故；知道应急预案、物资和演练的要求。</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能做到发现异常先“停、救、报、守”：停止操作、救命第一、逐级报告、守住现场，不隐瞒、不拖延、不私自处理。</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能判断放射源丢失被盗、遗失源、卡源或源破损、不明金属物、疑似超剂量照射时的正确做法。</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能做到放射性物质洒漏时先隔离再去污、测过才解除，人员沾污“脱、冲、测、报”，事后如实写清经过、配合调查整改。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《中华人民共和国放射性污染防治法》（以现行文本为准）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《放射性同位素与射线装置安全和防护条例》（以现行文本为准）：辐射事故分级、单位应急方案、事故发生后立即启动应急方案并向生态环境、公安、卫生健康主管部门报告</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《放射性同位素与射线装置安全和防护管理办法》（以现行文本为准）：辐射事故应急准备、报告与调查处理</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18871-2002（以现行文本为准）《电离辐射防护与辐射源安全基本标准》：应急照射情况、应急人员防护</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号）：应急预案、演练与事故报告</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本校辐射事故应急预案和本实验室应急处置规程（以本校规定为准）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少见但严重：按程序办，不走捷径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辐射事故少见，后果同样严重</a:t>
            </a:r>
          </a:p>
          <a:p>
            <a:pPr>
              <a:spcAft>
                <a:spcPts val="1000"/>
              </a:spcAft>
            </a:pPr>
            <a:r>
              <a:rPr sz="2000">
                <a:solidFill>
                  <a:srgbClr val="222B33"/>
                </a:solidFill>
                <a:latin typeface="Microsoft YaHei"/>
              </a:rPr>
              <a:t>▪ 射线看不见、摸不着，更要按程序办</a:t>
            </a:r>
          </a:p>
          <a:p>
            <a:pPr>
              <a:spcAft>
                <a:spcPts val="1000"/>
              </a:spcAft>
            </a:pPr>
            <a:r>
              <a:rPr sz="2000">
                <a:solidFill>
                  <a:srgbClr val="222B33"/>
                </a:solidFill>
                <a:latin typeface="Microsoft YaHei"/>
              </a:rPr>
              <a:t>▪ 不走捷径，每一步按预案和规程</a:t>
            </a:r>
          </a:p>
          <a:p>
            <a:pPr>
              <a:spcAft>
                <a:spcPts val="1000"/>
              </a:spcAft>
            </a:pPr>
            <a:r>
              <a:rPr sz="2000">
                <a:solidFill>
                  <a:srgbClr val="222B33"/>
                </a:solidFill>
                <a:latin typeface="Microsoft YaHei"/>
              </a:rPr>
              <a:t>▪ 处置时也要合理可行、尽量少受照</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与火灾、化学品泄漏相比，辐射事故并不常见，但一旦发生，后果同样严重，而且射线看不见、摸不着、闻不到，人往往没有感觉，只能靠仪器和程序来判断和处置。</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觉得“量很小”，不按程序随手处理</a:t>
            </a:r>
          </a:p>
          <a:p>
            <a:pPr>
              <a:spcAft>
                <a:spcPts val="1000"/>
              </a:spcAft>
            </a:pPr>
            <a:r>
              <a:rPr sz="1500">
                <a:solidFill>
                  <a:srgbClr val="222B33"/>
                </a:solidFill>
                <a:latin typeface="Microsoft YaHei"/>
              </a:rPr>
              <a:t>▪ 处置时只顾快，不顾自身防护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应急预案、物资与演练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学校和实验室都要有辐射事故应急预案</a:t>
            </a:r>
          </a:p>
          <a:p>
            <a:pPr>
              <a:spcAft>
                <a:spcPts val="1000"/>
              </a:spcAft>
            </a:pPr>
            <a:r>
              <a:rPr sz="2000">
                <a:solidFill>
                  <a:srgbClr val="222B33"/>
                </a:solidFill>
                <a:latin typeface="Microsoft YaHei"/>
              </a:rPr>
              <a:t>▪ 应急物资齐全，放在固定位置</a:t>
            </a:r>
          </a:p>
          <a:p>
            <a:pPr>
              <a:spcAft>
                <a:spcPts val="1000"/>
              </a:spcAft>
            </a:pPr>
            <a:r>
              <a:rPr sz="2000">
                <a:solidFill>
                  <a:srgbClr val="222B33"/>
                </a:solidFill>
                <a:latin typeface="Microsoft YaHei"/>
              </a:rPr>
              <a:t>▪ 应急电话和流程贴在显眼处</a:t>
            </a:r>
          </a:p>
          <a:p>
            <a:pPr>
              <a:spcAft>
                <a:spcPts val="1000"/>
              </a:spcAft>
            </a:pPr>
            <a:r>
              <a:rPr sz="2000">
                <a:solidFill>
                  <a:srgbClr val="222B33"/>
                </a:solidFill>
                <a:latin typeface="Microsoft YaHei"/>
              </a:rPr>
              <a:t>▪ 定期演练，人人知道怎么做</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放射性同位素与射线装置安全和防护条例》（以现行文本为准）要求使用单位制定辐射事故应急方案。学校有辐射事故应急预案，使用放射性物质和射线装置的实验室还要有本实验室的应急处置规程，写清可能发生的事件类型（丢源、卡源、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应急箱里的东西用完了没人补</a:t>
            </a:r>
          </a:p>
          <a:p>
            <a:pPr>
              <a:spcAft>
                <a:spcPts val="1000"/>
              </a:spcAft>
            </a:pPr>
            <a:r>
              <a:rPr sz="1500">
                <a:solidFill>
                  <a:srgbClr val="222B33"/>
                </a:solidFill>
                <a:latin typeface="Microsoft YaHei"/>
              </a:rPr>
              <a:t>▪ 预案只放在文件柜里，组里没人看过、没演练过</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辐射事故的分级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辐射事故分为特别重大、重大、较大、一般四级</a:t>
            </a:r>
          </a:p>
          <a:p>
            <a:pPr>
              <a:spcAft>
                <a:spcPts val="1000"/>
              </a:spcAft>
            </a:pPr>
            <a:r>
              <a:rPr sz="2000">
                <a:solidFill>
                  <a:srgbClr val="222B33"/>
                </a:solidFill>
                <a:latin typeface="Microsoft YaHei"/>
              </a:rPr>
              <a:t>▪ 按源的类别、人员受照和影响范围定级</a:t>
            </a:r>
          </a:p>
          <a:p>
            <a:pPr>
              <a:spcAft>
                <a:spcPts val="1000"/>
              </a:spcAft>
            </a:pPr>
            <a:r>
              <a:rPr sz="2000">
                <a:solidFill>
                  <a:srgbClr val="222B33"/>
                </a:solidFill>
                <a:latin typeface="Microsoft YaHei"/>
              </a:rPr>
              <a:t>▪ 小源丢失或超年剂量限值照射也是事故</a:t>
            </a:r>
          </a:p>
          <a:p>
            <a:pPr>
              <a:spcAft>
                <a:spcPts val="1000"/>
              </a:spcAft>
            </a:pPr>
            <a:r>
              <a:rPr sz="2000">
                <a:solidFill>
                  <a:srgbClr val="222B33"/>
                </a:solidFill>
                <a:latin typeface="Microsoft YaHei"/>
              </a:rPr>
              <a:t>▪ 具体分级以现行条例为准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放射性同位素与射线装置安全和防护条例》（以现行文本为准）根据辐射事故的性质、严重程度、可控性和影响范围等因素，把辐射事故分为特别重大辐射事故、重大辐射事故、较大辐射事故和一般辐射事故四个等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以为只有大量放射性泄漏才算辐射事故</a:t>
            </a:r>
          </a:p>
          <a:p>
            <a:pPr>
              <a:spcAft>
                <a:spcPts val="1000"/>
              </a:spcAft>
            </a:pPr>
            <a:r>
              <a:rPr sz="1500">
                <a:solidFill>
                  <a:srgbClr val="222B33"/>
                </a:solidFill>
                <a:latin typeface="Microsoft YaHei"/>
              </a:rPr>
              <a:t>▪ 小源丢失只在课题组内部找，不上报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发现异常先做四件事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发现异常：停、救、报、守</a:t>
            </a:r>
          </a:p>
          <a:p>
            <a:pPr>
              <a:spcAft>
                <a:spcPts val="1000"/>
              </a:spcAft>
            </a:pPr>
            <a:r>
              <a:rPr sz="1700">
                <a:solidFill>
                  <a:srgbClr val="222B33"/>
                </a:solidFill>
                <a:latin typeface="Microsoft YaHei"/>
              </a:rPr>
              <a:t>▪ 立即停止操作，人员后退</a:t>
            </a:r>
          </a:p>
          <a:p>
            <a:pPr>
              <a:spcAft>
                <a:spcPts val="1000"/>
              </a:spcAft>
            </a:pPr>
            <a:r>
              <a:rPr sz="1700">
                <a:solidFill>
                  <a:srgbClr val="222B33"/>
                </a:solidFill>
                <a:latin typeface="Microsoft YaHei"/>
              </a:rPr>
              <a:t>▪ 有人受伤，救命第一，拨打120</a:t>
            </a:r>
          </a:p>
          <a:p>
            <a:pPr>
              <a:spcAft>
                <a:spcPts val="1000"/>
              </a:spcAft>
            </a:pPr>
            <a:r>
              <a:rPr sz="1700">
                <a:solidFill>
                  <a:srgbClr val="222B33"/>
                </a:solidFill>
                <a:latin typeface="Microsoft YaHei"/>
              </a:rPr>
              <a:t>▪ 绝不能因为辐射耽误抢救</a:t>
            </a:r>
          </a:p>
          <a:p>
            <a:pPr>
              <a:spcAft>
                <a:spcPts val="1000"/>
              </a:spcAft>
            </a:pPr>
            <a:r>
              <a:rPr sz="1700">
                <a:solidFill>
                  <a:srgbClr val="222B33"/>
                </a:solidFill>
                <a:latin typeface="Microsoft YaHei"/>
              </a:rPr>
              <a:t>▪ 原则：先隔离、控制，再去污</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发现放射源异常、剂量率异常、洒漏或有人可能受照时，先做四件事：一是停——立即停止操作，射线装置关机断电，人员后退，防止继续受照；二是救——有人受伤或不适，救命第一，紧急拨打 120，抢救绝不能因为辐射而耽误；三是报—……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先想着收拾现场，忘了关机和撤人</a:t>
            </a:r>
          </a:p>
          <a:p>
            <a:pPr>
              <a:spcAft>
                <a:spcPts val="1000"/>
              </a:spcAft>
            </a:pPr>
            <a:r>
              <a:rPr sz="1500">
                <a:solidFill>
                  <a:srgbClr val="222B33"/>
                </a:solidFill>
                <a:latin typeface="Microsoft YaHei"/>
              </a:rPr>
              <a:t>▪ 有人受伤时因为怕辐射而不敢救</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报告：逐级上报，不瞒报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报实验室负责人、学院和学校主管部门</a:t>
            </a:r>
          </a:p>
          <a:p>
            <a:pPr>
              <a:spcAft>
                <a:spcPts val="1000"/>
              </a:spcAft>
            </a:pPr>
            <a:r>
              <a:rPr sz="1700">
                <a:solidFill>
                  <a:srgbClr val="222B33"/>
                </a:solidFill>
                <a:latin typeface="Microsoft YaHei"/>
              </a:rPr>
              <a:t>▪ 丢失被盗同时报保卫处，有人受伤打120</a:t>
            </a:r>
          </a:p>
          <a:p>
            <a:pPr>
              <a:spcAft>
                <a:spcPts val="1000"/>
              </a:spcAft>
            </a:pPr>
            <a:r>
              <a:rPr sz="1700">
                <a:solidFill>
                  <a:srgbClr val="222B33"/>
                </a:solidFill>
                <a:latin typeface="Microsoft YaHei"/>
              </a:rPr>
              <a:t>▪ 学校按规定报生态环境、公安、卫生健康部门</a:t>
            </a:r>
          </a:p>
          <a:p>
            <a:pPr>
              <a:spcAft>
                <a:spcPts val="1000"/>
              </a:spcAft>
            </a:pPr>
            <a:r>
              <a:rPr sz="1700">
                <a:solidFill>
                  <a:srgbClr val="222B33"/>
                </a:solidFill>
                <a:latin typeface="Microsoft YaHei"/>
              </a:rPr>
              <a:t>▪ 夜里找不到人，打学校值班电话</a:t>
            </a:r>
          </a:p>
          <a:p>
            <a:pPr>
              <a:spcAft>
                <a:spcPts val="1000"/>
              </a:spcAft>
            </a:pPr>
            <a:r>
              <a:rPr sz="1700">
                <a:solidFill>
                  <a:srgbClr val="222B33"/>
                </a:solidFill>
                <a:latin typeface="Microsoft YaHei"/>
              </a:rPr>
              <a:t>▪ 不隐瞒、不拖延、不私自处理</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放射源丢失被盗、泄漏、误照射、剂量异常、洒漏失控、放射性药物丢失等，都要立即报告：先报实验室负责人，再报学院和学校辐射安全管理部门；涉及丢失被盗、需要封控现场的，同时通知保卫处；有人受伤先救治，拨打 120。夜里或节……</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怕被批评，先自己处理“没事了”再说</a:t>
            </a:r>
          </a:p>
          <a:p>
            <a:pPr>
              <a:spcAft>
                <a:spcPts val="1000"/>
              </a:spcAft>
            </a:pPr>
            <a:r>
              <a:rPr sz="1500">
                <a:solidFill>
                  <a:srgbClr val="222B33"/>
                </a:solidFill>
                <a:latin typeface="Microsoft YaHei"/>
              </a:rPr>
              <a:t>▪ 只告诉同学，不报告负责人</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放射源丢失被盗：立即报告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发现源不见了，一分钟也别拖</a:t>
            </a:r>
          </a:p>
          <a:p>
            <a:pPr>
              <a:spcAft>
                <a:spcPts val="1000"/>
              </a:spcAft>
            </a:pPr>
            <a:r>
              <a:rPr sz="2000">
                <a:solidFill>
                  <a:srgbClr val="222B33"/>
                </a:solidFill>
                <a:latin typeface="Microsoft YaHei"/>
              </a:rPr>
              <a:t>▪ 报负责人、学院、学校主管部门和保卫处</a:t>
            </a:r>
          </a:p>
          <a:p>
            <a:pPr>
              <a:spcAft>
                <a:spcPts val="1000"/>
              </a:spcAft>
            </a:pPr>
            <a:r>
              <a:rPr sz="2000">
                <a:solidFill>
                  <a:srgbClr val="222B33"/>
                </a:solidFill>
                <a:latin typeface="Microsoft YaHei"/>
              </a:rPr>
              <a:t>▪ 不要自己偷偷找，不改台账</a:t>
            </a:r>
          </a:p>
          <a:p>
            <a:pPr>
              <a:spcAft>
                <a:spcPts val="1000"/>
              </a:spcAft>
            </a:pPr>
            <a:r>
              <a:rPr sz="2000">
                <a:solidFill>
                  <a:srgbClr val="222B33"/>
                </a:solidFill>
                <a:latin typeface="Microsoft YaHei"/>
              </a:rPr>
              <a:t>▪ 保护现场，配合公安和主管部门调查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清点时账物不符、源库里少了一个源、发现源库被撬，都要立即报告实验室负责人、学院、学校辐射安全管理部门和保卫处，由学校按规定向生态环境、公安、卫生健康主管部门报告。丢失被盗的放射源可能被不知情的人捡到，时间拖得越久，受……</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先在组里找几天，找不到再报</a:t>
            </a:r>
          </a:p>
          <a:p>
            <a:pPr>
              <a:spcAft>
                <a:spcPts val="1000"/>
              </a:spcAft>
            </a:pPr>
            <a:r>
              <a:rPr sz="1500">
                <a:solidFill>
                  <a:srgbClr val="222B33"/>
                </a:solidFill>
                <a:latin typeface="Microsoft YaHei"/>
              </a:rPr>
              <a:t>▪ 为了对上账修改领用记录</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遗失源的处置顺序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源遗落在公共区域，路过的人也可能受照</a:t>
            </a:r>
          </a:p>
          <a:p>
            <a:pPr>
              <a:spcAft>
                <a:spcPts val="1000"/>
              </a:spcAft>
            </a:pPr>
            <a:r>
              <a:rPr sz="1700">
                <a:solidFill>
                  <a:srgbClr val="222B33"/>
                </a:solidFill>
                <a:latin typeface="Microsoft YaHei"/>
              </a:rPr>
              <a:t>▪ 第一，由专业人员把源收回屏蔽容器</a:t>
            </a:r>
          </a:p>
          <a:p>
            <a:pPr>
              <a:spcAft>
                <a:spcPts val="1000"/>
              </a:spcAft>
            </a:pPr>
            <a:r>
              <a:rPr sz="1700">
                <a:solidFill>
                  <a:srgbClr val="222B33"/>
                </a:solidFill>
                <a:latin typeface="Microsoft YaHei"/>
              </a:rPr>
              <a:t>▪ 第二，清场，不让更多人靠近</a:t>
            </a:r>
          </a:p>
          <a:p>
            <a:pPr>
              <a:spcAft>
                <a:spcPts val="1000"/>
              </a:spcAft>
            </a:pPr>
            <a:r>
              <a:rPr sz="1700">
                <a:solidFill>
                  <a:srgbClr val="222B33"/>
                </a:solidFill>
                <a:latin typeface="Microsoft YaHei"/>
              </a:rPr>
              <a:t>▪ 第三，立刻通知负责人和管理部门</a:t>
            </a:r>
          </a:p>
          <a:p>
            <a:pPr>
              <a:spcAft>
                <a:spcPts val="1000"/>
              </a:spcAft>
            </a:pPr>
            <a:r>
              <a:rPr sz="1700">
                <a:solidFill>
                  <a:srgbClr val="222B33"/>
                </a:solidFill>
                <a:latin typeface="Microsoft YaHei"/>
              </a:rPr>
              <a:t>▪ 登记所有可能受照的人，评估剂量</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曾有案例：治疗用的放射源被遗落在走廊里。路过的人离得远、停留短，受照很低；但如果有人在近处长时间停留，就可能受到危险的照射。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发现源后由在场的人顺手捡回去</a:t>
            </a:r>
          </a:p>
          <a:p>
            <a:pPr>
              <a:spcAft>
                <a:spcPts val="1000"/>
              </a:spcAft>
            </a:pPr>
            <a:r>
              <a:rPr sz="1500">
                <a:solidFill>
                  <a:srgbClr val="222B33"/>
                </a:solidFill>
                <a:latin typeface="Microsoft YaHei"/>
              </a:rPr>
              <a:t>▪ 只登记工作人员，忘了路过的公众</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卡源或源破损：撤离、隔离、报告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源卡住收不回屏蔽容器，就是卡源</a:t>
            </a:r>
          </a:p>
          <a:p>
            <a:pPr>
              <a:spcAft>
                <a:spcPts val="1000"/>
              </a:spcAft>
            </a:pPr>
            <a:r>
              <a:rPr sz="2000">
                <a:solidFill>
                  <a:srgbClr val="222B33"/>
                </a:solidFill>
                <a:latin typeface="Microsoft YaHei"/>
              </a:rPr>
              <a:t>▪ 人员撤离，扩大警戒，不要乱碰</a:t>
            </a:r>
          </a:p>
          <a:p>
            <a:pPr>
              <a:spcAft>
                <a:spcPts val="1000"/>
              </a:spcAft>
            </a:pPr>
            <a:r>
              <a:rPr sz="2000">
                <a:solidFill>
                  <a:srgbClr val="222B33"/>
                </a:solidFill>
                <a:latin typeface="Microsoft YaHei"/>
              </a:rPr>
              <a:t>▪ 怀疑源破损泄漏，先隔离</a:t>
            </a:r>
          </a:p>
          <a:p>
            <a:pPr>
              <a:spcAft>
                <a:spcPts val="1000"/>
              </a:spcAft>
            </a:pPr>
            <a:r>
              <a:rPr sz="2000">
                <a:solidFill>
                  <a:srgbClr val="222B33"/>
                </a:solidFill>
                <a:latin typeface="Microsoft YaHei"/>
              </a:rPr>
              <a:t>▪ 立即报告，等专业人员处置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γ射线探伤等作业中，源卡在导管里收不回屏蔽容器，叫卡源（探伤作业见第 094 课）。这时源处于暴露状态，人员要立即撤离到安全距离以外，必要时扩大警戒范围，专人看守，不要上前乱碰、乱拉导管，立即报告单位和学校辐射安全管……</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卡源后自己上手拉扯导管想把源收回</a:t>
            </a:r>
          </a:p>
          <a:p>
            <a:pPr>
              <a:spcAft>
                <a:spcPts val="1000"/>
              </a:spcAft>
            </a:pPr>
            <a:r>
              <a:rPr sz="1500">
                <a:solidFill>
                  <a:srgbClr val="222B33"/>
                </a:solidFill>
                <a:latin typeface="Microsoft YaHei"/>
              </a:rPr>
              <a:t>▪ 怀疑源破损仍继续使用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不明金属物：不捡不碰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看到不明金属件，不捡、不碰</a:t>
            </a:r>
          </a:p>
          <a:p>
            <a:pPr>
              <a:spcAft>
                <a:spcPts val="1000"/>
              </a:spcAft>
            </a:pPr>
            <a:r>
              <a:rPr sz="2000">
                <a:solidFill>
                  <a:srgbClr val="222B33"/>
                </a:solidFill>
                <a:latin typeface="Microsoft YaHei"/>
              </a:rPr>
              <a:t>▪ 带辐射标志的物品，更不能拿走</a:t>
            </a:r>
          </a:p>
          <a:p>
            <a:pPr>
              <a:spcAft>
                <a:spcPts val="1000"/>
              </a:spcAft>
            </a:pPr>
            <a:r>
              <a:rPr sz="2000">
                <a:solidFill>
                  <a:srgbClr val="222B33"/>
                </a:solidFill>
                <a:latin typeface="Microsoft YaHei"/>
              </a:rPr>
              <a:t>▪ 退远一点，守住现场，立即报告</a:t>
            </a:r>
          </a:p>
          <a:p>
            <a:pPr>
              <a:spcAft>
                <a:spcPts val="1000"/>
              </a:spcAft>
            </a:pPr>
            <a:r>
              <a:rPr sz="2000">
                <a:solidFill>
                  <a:srgbClr val="222B33"/>
                </a:solidFill>
                <a:latin typeface="Microsoft YaHei"/>
              </a:rPr>
              <a:t>▪ 有人不适或受伤，拨打120</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丢失的放射源常常看起来像一个普通的小金属件、金属棒或小罐子，不知情的人捡回家，可能造成严重伤害。在实验楼、工地、废品堆等地方看到来历不明的金属件，尤其是带有电离辐射标志的物品，不捡、不碰、不拿走、不当废品卖。</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好奇地捡起来看看、拍照发群里</a:t>
            </a:r>
          </a:p>
          <a:p>
            <a:pPr>
              <a:spcAft>
                <a:spcPts val="1000"/>
              </a:spcAft>
            </a:pPr>
            <a:r>
              <a:rPr sz="1500">
                <a:solidFill>
                  <a:srgbClr val="222B33"/>
                </a:solidFill>
                <a:latin typeface="Microsoft YaHei"/>
              </a:rPr>
              <a:t>▪ 把带标志的小罐子当废品卖掉</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疑似超剂量照射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超量照射常因没关机、联锁失效、标志不全</a:t>
            </a:r>
          </a:p>
          <a:p>
            <a:pPr>
              <a:spcAft>
                <a:spcPts val="1000"/>
              </a:spcAft>
            </a:pPr>
            <a:r>
              <a:rPr sz="1700">
                <a:solidFill>
                  <a:srgbClr val="222B33"/>
                </a:solidFill>
                <a:latin typeface="Microsoft YaHei"/>
              </a:rPr>
              <a:t>▪ 超量照射，人往往没有感觉</a:t>
            </a:r>
          </a:p>
          <a:p>
            <a:pPr>
              <a:spcAft>
                <a:spcPts val="1000"/>
              </a:spcAft>
            </a:pPr>
            <a:r>
              <a:rPr sz="1700">
                <a:solidFill>
                  <a:srgbClr val="222B33"/>
                </a:solidFill>
                <a:latin typeface="Microsoft YaHei"/>
              </a:rPr>
              <a:t>▪ 怀疑受照，先离开，防止继续受照</a:t>
            </a:r>
          </a:p>
          <a:p>
            <a:pPr>
              <a:spcAft>
                <a:spcPts val="1000"/>
              </a:spcAft>
            </a:pPr>
            <a:r>
              <a:rPr sz="1700">
                <a:solidFill>
                  <a:srgbClr val="222B33"/>
                </a:solidFill>
                <a:latin typeface="Microsoft YaHei"/>
              </a:rPr>
              <a:t>▪ 剂量计马上送检；剂量异常、剂量计丢失都要报告</a:t>
            </a:r>
          </a:p>
          <a:p>
            <a:pPr>
              <a:spcAft>
                <a:spcPts val="1000"/>
              </a:spcAft>
            </a:pPr>
            <a:r>
              <a:rPr sz="1700">
                <a:solidFill>
                  <a:srgbClr val="222B33"/>
                </a:solidFill>
                <a:latin typeface="Microsoft YaHei"/>
              </a:rPr>
              <a:t>▪ 没症状也别侥幸，按安排检查</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超剂量照射常常发生在设备没关就开门、联锁失效、标志不全或被遮挡、源没收回就靠近等情况下（安全装置见第 094 课）。受到照射时人往往没有感觉，早期也可能没有症状，所以一律以报告和调查为准，不能凭感觉判断。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觉得“没有不舒服”，就不报告</a:t>
            </a:r>
          </a:p>
          <a:p>
            <a:pPr>
              <a:spcAft>
                <a:spcPts val="1000"/>
              </a:spcAft>
            </a:pPr>
            <a:r>
              <a:rPr sz="1500">
                <a:solidFill>
                  <a:srgbClr val="222B33"/>
                </a:solidFill>
                <a:latin typeface="Microsoft YaHei"/>
              </a:rPr>
              <a:t>▪ 剂量计丢了不说，换一个继续用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洒漏：一滴也算，先隔离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哪怕一两滴，也算溢洒，要马上控制</a:t>
            </a:r>
          </a:p>
          <a:p>
            <a:pPr>
              <a:spcAft>
                <a:spcPts val="1000"/>
              </a:spcAft>
            </a:pPr>
            <a:r>
              <a:rPr sz="1700">
                <a:solidFill>
                  <a:srgbClr val="222B33"/>
                </a:solidFill>
                <a:latin typeface="Microsoft YaHei"/>
              </a:rPr>
              <a:t>▪ 告诉旁人，人员离开污染区域</a:t>
            </a:r>
          </a:p>
          <a:p>
            <a:pPr>
              <a:spcAft>
                <a:spcPts val="1000"/>
              </a:spcAft>
            </a:pPr>
            <a:r>
              <a:rPr sz="1700">
                <a:solidFill>
                  <a:srgbClr val="222B33"/>
                </a:solidFill>
                <a:latin typeface="Microsoft YaHei"/>
              </a:rPr>
              <a:t>▪ 拉警示带、设屏障，别让人踩、别带出去</a:t>
            </a:r>
          </a:p>
          <a:p>
            <a:pPr>
              <a:spcAft>
                <a:spcPts val="1000"/>
              </a:spcAft>
            </a:pPr>
            <a:r>
              <a:rPr sz="1700">
                <a:solidFill>
                  <a:srgbClr val="222B33"/>
                </a:solidFill>
                <a:latin typeface="Microsoft YaHei"/>
              </a:rPr>
              <a:t>▪ 穿戴齐全，戴剂量计，用屏蔽挡住</a:t>
            </a:r>
          </a:p>
          <a:p>
            <a:pPr>
              <a:spcAft>
                <a:spcPts val="1000"/>
              </a:spcAft>
            </a:pPr>
            <a:r>
              <a:rPr sz="1700">
                <a:solidFill>
                  <a:srgbClr val="222B33"/>
                </a:solidFill>
                <a:latin typeface="Microsoft YaHei"/>
              </a:rPr>
              <a:t>▪ 不能徒手擦，不能冲进下水道</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放射性药液或溶液洒落，哪怕只有一两滴，也按溢洒处理；在核医学科的给药、负荷试验等场所和实验室分装时最容易发生。第一步是隔离现场：立刻告诉旁人，人员离开污染区域，不随意走动，以免把污染带到别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拿纸巾随手一擦扔进普通垃圾桶</a:t>
            </a:r>
          </a:p>
          <a:p>
            <a:pPr>
              <a:spcAft>
                <a:spcPts val="1000"/>
              </a:spcAft>
            </a:pPr>
            <a:r>
              <a:rPr sz="1500">
                <a:solidFill>
                  <a:srgbClr val="222B33"/>
                </a:solidFill>
                <a:latin typeface="Microsoft YaHei"/>
              </a:rPr>
              <a:t>▪ 洒漏后照常走动，把污染踩到走廊</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控制住再去污，测过才解除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戴手套用吸水纸，从外向内吸附</a:t>
            </a:r>
          </a:p>
          <a:p>
            <a:pPr>
              <a:spcAft>
                <a:spcPts val="1000"/>
              </a:spcAft>
            </a:pPr>
            <a:r>
              <a:rPr sz="2000">
                <a:solidFill>
                  <a:srgbClr val="222B33"/>
                </a:solidFill>
                <a:latin typeface="Microsoft YaHei"/>
              </a:rPr>
              <a:t>▪ 用过的材料，放进放射性废物袋</a:t>
            </a:r>
          </a:p>
          <a:p>
            <a:pPr>
              <a:spcAft>
                <a:spcPts val="1000"/>
              </a:spcAft>
            </a:pPr>
            <a:r>
              <a:rPr sz="2000">
                <a:solidFill>
                  <a:srgbClr val="222B33"/>
                </a:solidFill>
                <a:latin typeface="Microsoft YaHei"/>
              </a:rPr>
              <a:t>▪ 再用合适的去污剂清洁，小心脱下污染防护</a:t>
            </a:r>
          </a:p>
          <a:p>
            <a:pPr>
              <a:spcAft>
                <a:spcPts val="1000"/>
              </a:spcAft>
            </a:pPr>
            <a:r>
              <a:rPr sz="2000">
                <a:solidFill>
                  <a:srgbClr val="222B33"/>
                </a:solidFill>
                <a:latin typeface="Microsoft YaHei"/>
              </a:rPr>
              <a:t>▪ 逐处检测，确认达标才解除隔离</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控制住洒漏以后再去污：戴手套，用吸水纸覆盖溢洒处，从外向内吸附，防止扩大污染面积；用过的吸水纸、手套等放进放射性废物袋，标明核素和日期（见第 091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从中间向外擦，把污染越擦越大</a:t>
            </a:r>
          </a:p>
          <a:p>
            <a:pPr>
              <a:spcAft>
                <a:spcPts val="1000"/>
              </a:spcAft>
            </a:pPr>
            <a:r>
              <a:rPr sz="1500">
                <a:solidFill>
                  <a:srgbClr val="222B33"/>
                </a:solidFill>
                <a:latin typeface="Microsoft YaHei"/>
              </a:rPr>
              <a:t>▪ 擦完不测，凭肉眼判断“干净了”</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在场人员：冷静、不伸手、等放行</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在场的人保持冷静，听技师或负责人指挥</a:t>
            </a:r>
          </a:p>
          <a:p>
            <a:pPr>
              <a:spcAft>
                <a:spcPts val="1000"/>
              </a:spcAft>
            </a:pPr>
            <a:r>
              <a:rPr sz="1700">
                <a:solidFill>
                  <a:srgbClr val="222B33"/>
                </a:solidFill>
                <a:latin typeface="Microsoft YaHei"/>
              </a:rPr>
              <a:t>▪ 再想帮忙，也别伸手</a:t>
            </a:r>
          </a:p>
          <a:p>
            <a:pPr>
              <a:spcAft>
                <a:spcPts val="1000"/>
              </a:spcAft>
            </a:pPr>
            <a:r>
              <a:rPr sz="1700">
                <a:solidFill>
                  <a:srgbClr val="222B33"/>
                </a:solidFill>
                <a:latin typeface="Microsoft YaHei"/>
              </a:rPr>
              <a:t>▪ 接触过的手，别摸门把手、电脑</a:t>
            </a:r>
          </a:p>
          <a:p>
            <a:pPr>
              <a:spcAft>
                <a:spcPts val="1000"/>
              </a:spcAft>
            </a:pPr>
            <a:r>
              <a:rPr sz="1700">
                <a:solidFill>
                  <a:srgbClr val="222B33"/>
                </a:solidFill>
                <a:latin typeface="Microsoft YaHei"/>
              </a:rPr>
              <a:t>▪ 逐个检测，没问题才放行</a:t>
            </a:r>
          </a:p>
          <a:p>
            <a:pPr>
              <a:spcAft>
                <a:spcPts val="1000"/>
              </a:spcAft>
            </a:pPr>
            <a:r>
              <a:rPr sz="1700">
                <a:solidFill>
                  <a:srgbClr val="222B33"/>
                </a:solidFill>
                <a:latin typeface="Microsoft YaHei"/>
              </a:rPr>
              <a:t>▪ 污染的房间先关闭，清干净再开放</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发生洒漏时，在场的人一般没有即时危险，先保持冷静，听核医学技师或实验室负责人的统一指挥，医生和研究人员也要听从。</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出于好心直接上手帮忙擦</a:t>
            </a:r>
          </a:p>
          <a:p>
            <a:pPr>
              <a:spcAft>
                <a:spcPts val="1000"/>
              </a:spcAft>
            </a:pPr>
            <a:r>
              <a:rPr sz="1500">
                <a:solidFill>
                  <a:srgbClr val="222B33"/>
                </a:solidFill>
                <a:latin typeface="Microsoft YaHei"/>
              </a:rPr>
              <a:t>▪ 没检测就离开房间去洗手间、食堂</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人员沾污与疑似摄入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皮肤衣物沾污：先脱去，装袋</a:t>
            </a:r>
          </a:p>
          <a:p>
            <a:pPr>
              <a:spcAft>
                <a:spcPts val="1000"/>
              </a:spcAft>
            </a:pPr>
            <a:r>
              <a:rPr sz="1700">
                <a:solidFill>
                  <a:srgbClr val="222B33"/>
                </a:solidFill>
                <a:latin typeface="Microsoft YaHei"/>
              </a:rPr>
              <a:t>▪ 温水肥皂流水轻轻冲，不用力刷</a:t>
            </a:r>
          </a:p>
          <a:p>
            <a:pPr>
              <a:spcAft>
                <a:spcPts val="1000"/>
              </a:spcAft>
            </a:pPr>
            <a:r>
              <a:rPr sz="1700">
                <a:solidFill>
                  <a:srgbClr val="222B33"/>
                </a:solidFill>
                <a:latin typeface="Microsoft YaHei"/>
              </a:rPr>
              <a:t>▪ 冲洗后复测，并报告负责人</a:t>
            </a:r>
          </a:p>
          <a:p>
            <a:pPr>
              <a:spcAft>
                <a:spcPts val="1000"/>
              </a:spcAft>
            </a:pPr>
            <a:r>
              <a:rPr sz="1700">
                <a:solidFill>
                  <a:srgbClr val="222B33"/>
                </a:solidFill>
                <a:latin typeface="Microsoft YaHei"/>
              </a:rPr>
              <a:t>▪ 疑似摄入，停手报告，配合内照射监测</a:t>
            </a:r>
          </a:p>
          <a:p>
            <a:pPr>
              <a:spcAft>
                <a:spcPts val="1000"/>
              </a:spcAft>
            </a:pPr>
            <a:r>
              <a:rPr sz="1700">
                <a:solidFill>
                  <a:srgbClr val="222B33"/>
                </a:solidFill>
                <a:latin typeface="Microsoft YaHei"/>
              </a:rPr>
              <a:t>▪ 不要自己乱服药，听医生安排</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皮肤或衣物沾上放射性物质时，按“脱、冲、测、报”处理：先小心脱去污染的衣物和手套，装袋标记；用温水和肥皂在流水下轻轻冲洗沾污部位，从外向内，不用力刷，不用硬毛刷或有机溶剂，别把皮肤擦破，以免放射性进入体内；冲洗后用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用硬刷子使劲刷，把皮肤刷破</a:t>
            </a:r>
          </a:p>
          <a:p>
            <a:pPr>
              <a:spcAft>
                <a:spcPts val="1000"/>
              </a:spcAft>
            </a:pPr>
            <a:r>
              <a:rPr sz="1500">
                <a:solidFill>
                  <a:srgbClr val="222B33"/>
                </a:solidFill>
                <a:latin typeface="Microsoft YaHei"/>
              </a:rPr>
              <a:t>▪ 怀疑吸入了，怕麻烦不说</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写清事件经过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在场的每个人，都写下经过</a:t>
            </a:r>
          </a:p>
          <a:p>
            <a:pPr>
              <a:spcAft>
                <a:spcPts val="1000"/>
              </a:spcAft>
            </a:pPr>
            <a:r>
              <a:rPr sz="2000">
                <a:solidFill>
                  <a:srgbClr val="222B33"/>
                </a:solidFill>
                <a:latin typeface="Microsoft YaHei"/>
              </a:rPr>
              <a:t>▪ 写清设备参数、距离、时间和看到的情况</a:t>
            </a:r>
          </a:p>
          <a:p>
            <a:pPr>
              <a:spcAft>
                <a:spcPts val="1000"/>
              </a:spcAft>
            </a:pPr>
            <a:r>
              <a:rPr sz="2000">
                <a:solidFill>
                  <a:srgbClr val="222B33"/>
                </a:solidFill>
                <a:latin typeface="Microsoft YaHei"/>
              </a:rPr>
              <a:t>▪ 如实记录，配合调查</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事件处置后，在场的每个人都要尽快写下经过：自己在做什么、在什么位置、离源或设备多远、停留了多长时间，设备的运行参数（如电压、电流、出束时间），以及看到、听到的情况。这些信息是估算受照剂量和查找原因的依据。</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事后凭记忆补写，时间、距离都记不清</a:t>
            </a:r>
          </a:p>
          <a:p>
            <a:pPr>
              <a:spcAft>
                <a:spcPts val="1000"/>
              </a:spcAft>
            </a:pPr>
            <a:r>
              <a:rPr sz="1500">
                <a:solidFill>
                  <a:srgbClr val="222B33"/>
                </a:solidFill>
                <a:latin typeface="Microsoft YaHei"/>
              </a:rPr>
              <a:t>▪ 为了减轻责任，把记录写得含糊</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事后调查与整改</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事后调查：哪一环出了问题</a:t>
            </a:r>
          </a:p>
          <a:p>
            <a:pPr>
              <a:spcAft>
                <a:spcPts val="1000"/>
              </a:spcAft>
            </a:pPr>
            <a:r>
              <a:rPr sz="2000">
                <a:solidFill>
                  <a:srgbClr val="222B33"/>
                </a:solidFill>
                <a:latin typeface="Microsoft YaHei"/>
              </a:rPr>
              <a:t>▪ 找出流程中断的地方，修订规程</a:t>
            </a:r>
          </a:p>
          <a:p>
            <a:pPr>
              <a:spcAft>
                <a:spcPts val="1000"/>
              </a:spcAft>
            </a:pPr>
            <a:r>
              <a:rPr sz="2000">
                <a:solidFill>
                  <a:srgbClr val="222B33"/>
                </a:solidFill>
                <a:latin typeface="Microsoft YaHei"/>
              </a:rPr>
              <a:t>▪ 补上漏洞，落实整改</a:t>
            </a:r>
          </a:p>
          <a:p>
            <a:pPr>
              <a:spcAft>
                <a:spcPts val="1000"/>
              </a:spcAft>
            </a:pPr>
            <a:r>
              <a:rPr sz="2000">
                <a:solidFill>
                  <a:srgbClr val="222B33"/>
                </a:solidFill>
                <a:latin typeface="Microsoft YaHei"/>
              </a:rPr>
              <a:t>▪ 把教训讲给每个人，防止再发生</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事件处理完不等于结束。要调查清楚：源是怎么丢的、联锁为什么失效、洒漏是怎么发生的，找出流程里哪一环断了，是人的失误、设备故障还是管理漏洞（调查和根本原因分析见第 162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处理完就“翻篇”，不查原因</a:t>
            </a:r>
          </a:p>
          <a:p>
            <a:pPr>
              <a:spcAft>
                <a:spcPts val="1000"/>
              </a:spcAft>
            </a:pPr>
            <a:r>
              <a:rPr sz="1500">
                <a:solidFill>
                  <a:srgbClr val="222B33"/>
                </a:solidFill>
                <a:latin typeface="Microsoft YaHei"/>
              </a:rPr>
              <a:t>▪ 只追究个人，不改流程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分装时放射性药液洒到台面上，在场同学的正确做法是：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拿纸巾马上擦干</a:t>
            </a:r>
          </a:p>
          <a:p>
            <a:pPr algn="l"/>
            <a:r>
              <a:rPr sz="1500" b="0">
                <a:solidFill>
                  <a:srgbClr val="222B33"/>
                </a:solidFill>
                <a:latin typeface="Microsoft YaHei"/>
              </a:rPr>
              <a:t>B. 用水冲进水槽</a:t>
            </a:r>
          </a:p>
          <a:p>
            <a:pPr algn="l"/>
            <a:r>
              <a:rPr sz="1500" b="0">
                <a:solidFill>
                  <a:srgbClr val="222B33"/>
                </a:solidFill>
                <a:latin typeface="Microsoft YaHei"/>
              </a:rPr>
              <a:t>C. 告诉旁人、离开污染区，拉警示带隔离并报告，由受过训练的人员处理</a:t>
            </a:r>
          </a:p>
          <a:p>
            <a:pPr algn="l"/>
            <a:r>
              <a:rPr sz="1500" b="0">
                <a:solidFill>
                  <a:srgbClr val="222B33"/>
                </a:solidFill>
                <a:latin typeface="Microsoft YaHei"/>
              </a:rPr>
              <a:t>D. 继续实验，结束后再处理</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判断：一个 V 类小密封源找不到了，属于课题组内部小事，不需要上报。</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在实验楼外发现一个带电离辐射标志的小金属罐，应当：</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捡起来交给保卫处</a:t>
            </a:r>
          </a:p>
          <a:p>
            <a:pPr algn="l"/>
            <a:r>
              <a:rPr sz="1500" b="0">
                <a:solidFill>
                  <a:srgbClr val="222B33"/>
                </a:solidFill>
                <a:latin typeface="Microsoft YaHei"/>
              </a:rPr>
              <a:t>B. 拍照发群里问是什么</a:t>
            </a:r>
          </a:p>
          <a:p>
            <a:pPr algn="l"/>
            <a:r>
              <a:rPr sz="1500" b="0">
                <a:solidFill>
                  <a:srgbClr val="222B33"/>
                </a:solidFill>
                <a:latin typeface="Microsoft YaHei"/>
              </a:rPr>
              <a:t>C. 不捡不碰，退远守住现场，立即报告</a:t>
            </a:r>
          </a:p>
          <a:p>
            <a:pPr algn="l"/>
            <a:r>
              <a:rPr sz="1500" b="0">
                <a:solidFill>
                  <a:srgbClr val="222B33"/>
                </a:solidFill>
                <a:latin typeface="Microsoft YaHei"/>
              </a:rPr>
              <a:t>D. 当废品卖掉</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皮肤沾上放射性溶液后，正确的处理顺序是：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用硬毛刷用力刷洗</a:t>
            </a:r>
          </a:p>
          <a:p>
            <a:pPr algn="l"/>
            <a:r>
              <a:rPr sz="1500" b="0">
                <a:solidFill>
                  <a:srgbClr val="222B33"/>
                </a:solidFill>
                <a:latin typeface="Microsoft YaHei"/>
              </a:rPr>
              <a:t>B. 脱去污染衣物，温水肥皂流水轻轻冲洗，复测并报告</a:t>
            </a:r>
          </a:p>
          <a:p>
            <a:pPr algn="l"/>
            <a:r>
              <a:rPr sz="1500" b="0">
                <a:solidFill>
                  <a:srgbClr val="222B33"/>
                </a:solidFill>
                <a:latin typeface="Microsoft YaHei"/>
              </a:rPr>
              <a:t>C. 用有机溶剂擦拭</a:t>
            </a:r>
          </a:p>
          <a:p>
            <a:pPr algn="l"/>
            <a:r>
              <a:rPr sz="1500" b="0">
                <a:solidFill>
                  <a:srgbClr val="222B33"/>
                </a:solidFill>
                <a:latin typeface="Microsoft YaHei"/>
              </a:rPr>
              <a:t>D. 等下班再洗</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判断：注射过放射性药物的人突然倒地，应等辐射检测结束后再抢救。</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简答：发现射线装置疑似造成超剂量照射，应怎样处置？</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少见但严重：按程序办，不走捷径</a:t>
            </a:r>
          </a:p>
          <a:p>
            <a:pPr>
              <a:spcAft>
                <a:spcPts val="800"/>
              </a:spcAft>
            </a:pPr>
            <a:r>
              <a:rPr sz="1500">
                <a:solidFill>
                  <a:srgbClr val="FFFFFF"/>
                </a:solidFill>
                <a:latin typeface="Microsoft YaHei"/>
              </a:rPr>
              <a:t>▪ K2  应急预案、物资与演练</a:t>
            </a:r>
          </a:p>
          <a:p>
            <a:pPr>
              <a:spcAft>
                <a:spcPts val="800"/>
              </a:spcAft>
            </a:pPr>
            <a:r>
              <a:rPr sz="1500">
                <a:solidFill>
                  <a:srgbClr val="FFFFFF"/>
                </a:solidFill>
                <a:latin typeface="Microsoft YaHei"/>
              </a:rPr>
              <a:t>▪ S1  辐射事故的分级</a:t>
            </a:r>
          </a:p>
          <a:p>
            <a:pPr>
              <a:spcAft>
                <a:spcPts val="800"/>
              </a:spcAft>
            </a:pPr>
            <a:r>
              <a:rPr sz="1500">
                <a:solidFill>
                  <a:srgbClr val="FFFFFF"/>
                </a:solidFill>
                <a:latin typeface="Microsoft YaHei"/>
              </a:rPr>
              <a:t>▪ K3  发现异常先做四件事</a:t>
            </a:r>
          </a:p>
          <a:p>
            <a:pPr>
              <a:spcAft>
                <a:spcPts val="800"/>
              </a:spcAft>
            </a:pPr>
            <a:r>
              <a:rPr sz="1500">
                <a:solidFill>
                  <a:srgbClr val="FFFFFF"/>
                </a:solidFill>
                <a:latin typeface="Microsoft YaHei"/>
              </a:rPr>
              <a:t>▪ K4  报告：逐级上报，不瞒报</a:t>
            </a:r>
          </a:p>
          <a:p>
            <a:pPr>
              <a:spcAft>
                <a:spcPts val="800"/>
              </a:spcAft>
            </a:pPr>
            <a:r>
              <a:rPr sz="1500">
                <a:solidFill>
                  <a:srgbClr val="FFFFFF"/>
                </a:solidFill>
                <a:latin typeface="Microsoft YaHei"/>
              </a:rPr>
              <a:t>▪ K5  放射源丢失被盗：立即报告</a:t>
            </a:r>
          </a:p>
          <a:p>
            <a:pPr>
              <a:spcAft>
                <a:spcPts val="800"/>
              </a:spcAft>
            </a:pPr>
            <a:r>
              <a:rPr sz="1500">
                <a:solidFill>
                  <a:srgbClr val="FFFFFF"/>
                </a:solidFill>
                <a:latin typeface="Microsoft YaHei"/>
              </a:rPr>
              <a:t>▪ K6  遗失源的处置顺序</a:t>
            </a:r>
          </a:p>
          <a:p>
            <a:pPr>
              <a:spcAft>
                <a:spcPts val="800"/>
              </a:spcAft>
            </a:pPr>
            <a:r>
              <a:rPr sz="1500">
                <a:solidFill>
                  <a:srgbClr val="FFFFFF"/>
                </a:solidFill>
                <a:latin typeface="Microsoft YaHei"/>
              </a:rPr>
              <a:t>▪ K7  卡源或源破损：撤离、隔离、报告</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K8  不明金属物：不捡不碰</a:t>
            </a:r>
          </a:p>
          <a:p>
            <a:pPr>
              <a:spcAft>
                <a:spcPts val="800"/>
              </a:spcAft>
            </a:pPr>
            <a:r>
              <a:rPr sz="1500">
                <a:solidFill>
                  <a:srgbClr val="FFFFFF"/>
                </a:solidFill>
                <a:latin typeface="Microsoft YaHei"/>
              </a:rPr>
              <a:t>▪ K9  疑似超剂量照射</a:t>
            </a:r>
          </a:p>
          <a:p>
            <a:pPr>
              <a:spcAft>
                <a:spcPts val="800"/>
              </a:spcAft>
            </a:pPr>
            <a:r>
              <a:rPr sz="1500">
                <a:solidFill>
                  <a:srgbClr val="FFFFFF"/>
                </a:solidFill>
                <a:latin typeface="Microsoft YaHei"/>
              </a:rPr>
              <a:t>▪ K10  洒漏：一滴也算，先隔离</a:t>
            </a:r>
          </a:p>
          <a:p>
            <a:pPr>
              <a:spcAft>
                <a:spcPts val="800"/>
              </a:spcAft>
            </a:pPr>
            <a:r>
              <a:rPr sz="1500">
                <a:solidFill>
                  <a:srgbClr val="FFFFFF"/>
                </a:solidFill>
                <a:latin typeface="Microsoft YaHei"/>
              </a:rPr>
              <a:t>▪ K11  控制住再去污，测过才解除</a:t>
            </a:r>
          </a:p>
          <a:p>
            <a:pPr>
              <a:spcAft>
                <a:spcPts val="800"/>
              </a:spcAft>
            </a:pPr>
            <a:r>
              <a:rPr sz="1500">
                <a:solidFill>
                  <a:srgbClr val="FFFFFF"/>
                </a:solidFill>
                <a:latin typeface="Microsoft YaHei"/>
              </a:rPr>
              <a:t>▪ K12  在场人员：冷静、不伸手、等放行</a:t>
            </a:r>
          </a:p>
          <a:p>
            <a:pPr>
              <a:spcAft>
                <a:spcPts val="800"/>
              </a:spcAft>
            </a:pPr>
            <a:r>
              <a:rPr sz="1500">
                <a:solidFill>
                  <a:srgbClr val="FFFFFF"/>
                </a:solidFill>
                <a:latin typeface="Microsoft YaHei"/>
              </a:rPr>
              <a:t>▪ K13  人员沾污与疑似摄入</a:t>
            </a:r>
          </a:p>
          <a:p>
            <a:pPr>
              <a:spcAft>
                <a:spcPts val="800"/>
              </a:spcAft>
            </a:pPr>
            <a:r>
              <a:rPr sz="1500">
                <a:solidFill>
                  <a:srgbClr val="FFFFFF"/>
                </a:solidFill>
                <a:latin typeface="Microsoft YaHei"/>
              </a:rPr>
              <a:t>▪ K14  写清事件经过</a:t>
            </a:r>
          </a:p>
          <a:p>
            <a:pPr>
              <a:spcAft>
                <a:spcPts val="800"/>
              </a:spcAft>
            </a:pPr>
            <a:r>
              <a:rPr sz="1500">
                <a:solidFill>
                  <a:srgbClr val="FFFFFF"/>
                </a:solidFill>
                <a:latin typeface="Microsoft YaHei"/>
              </a:rPr>
              <a:t>▪ K15  事后调查与整改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