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危险废物从产生的那一刻起就要纳入管理，经过实验室暂存点、学校（学院）集中贮存，再由有资质的单位运输和处置，每一个环节都要有记录可查，形成完整的追踪链条。</a:t>
            </a:r>
          </a:p>
          <a:p>
            <a:r>
              <a:t>链条中任何一环断了，例如桶上没有标签、交接没有登记、转运没有联单，这批废物的去向就说不清，出了问题也无法追溯。</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依据《中华人民共和国固体废物污染环境防治法》和《国家危险废物名录》管理危险废物。判定一种废物是不是危险废物，一是看它是否列入名录（实验室废液、沾染危险化学品的包装物和耗材等通常在列）；二是看它是否具有腐蚀性、毒性、易燃性、反应性或感染性等危险特性，必要时按国家危险废物鉴别标准鉴别。</a:t>
            </a:r>
          </a:p>
          <a:p>
            <a:r>
              <a:t>实验室人员拿不准时，按危险废物管理，并请教实验室安全管理人员，不自行认定为一般废物。感染性废物另有专门要求（见第 077 课），放射性废物见第 091 课。危险废物由学校统一收集，交有资质的单位处置。</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产生危险废物的单位要建立危险废物管理台账，如实记录产生的种类、数量、去向等。实验室每次产生、交出废物都要登记，按月统计，做到心里有数。</a:t>
            </a:r>
          </a:p>
          <a:p>
            <a:r>
              <a:t>产生量越大，管理要求越严格。实验室的台账汇总到学院和学校，学校据此制定管理计划、依法申报，并安排收运和处置。台账格式和统计周期以本校规定为准。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实验室产生的危险废物，先放在产生点附近划定的暂存区，由使用的人直接看管，便于随时添加、检查和登记。</a:t>
            </a:r>
          </a:p>
          <a:p>
            <a:r>
              <a:t>暂存区的存量有上限，具体数量以本校规定为准。按上限和实际产生量选择合适大小的收集容器，不用过大的桶长期攒废物。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 GB 18597-2023（以现行文本为准）《危险废物贮存污染控制标准》的原则和本校规定管理实验室暂存点：位置固定，设置危险废物标志，每个容器贴好危险废物标签（标签内容见第 053 课）。</a:t>
            </a:r>
          </a:p>
          <a:p>
            <a:r>
              <a:t>不相容的废物分区、隔开存放（如酸与碱、氧化剂与有机物）；液态废物放在防漏托盘内，地面防渗，防止泄漏外流。暂存点保持通风，容器完好、盖紧；远离热源、火源和电源，不堵塞通道和应急设施，附近配备灭火器材和泄漏应急物资。</a:t>
            </a:r>
          </a:p>
          <a:p>
            <a:r>
              <a:t>安排专人定期检查容器是否完好、有无渗漏和异常，废物入出都登记。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容器装到规定量（不要装太满）就封好，及时联系学校或学院的收运部门，在规定时间内转运到学校集中贮存点。具体时限以本校规定为准。</a:t>
            </a:r>
          </a:p>
          <a:p>
            <a:r>
              <a:t>转运前拧紧桶盖，擦净容器外壁，确认标签完整清楚。装满的桶长期堆在实验室，不仅占地方、增加火灾和泄漏风险，也违反管理规定。</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含汞、含铬等重金属的废液和废物单独收集、单独存放，不与其他废液混装，标明成分，交学校按危险废物处置。实验室不自行用沉淀、还原等方法“处理”废液后排放，处置工作由有资质的单位完成。洒落汞的应急处置见第 056 课。</a:t>
            </a:r>
          </a:p>
          <a:p>
            <a:r>
              <a:t>剧毒、易制毒、易制爆等管控类化学品及其废弃物，按管控要求登记、存放，报告学院和学校管理部门后统一处置，不得擅自处置（见第 045 课）。标签脱落、成分不明的废物和试剂单独存放，挂牌标明，报告安全管理人员安排鉴别和处置。</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部分化学品可以回收利用，但具有爆炸性的残留物例外：它们不能冲进下水道，也不能送去回收，更不能自行处理。</a:t>
            </a:r>
          </a:p>
          <a:p>
            <a:r>
              <a:t>遇到这类残留物，保持原状，不摩擦、不撞击、不加热，立即报告实验室负责人，由学校联系有资质的单位按专门程序处置（易燃易爆化学品见第 046 课，反应性化学品见第 047 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危险废物按学校或学院通知的收运时间和地点送交，用推车等方式平稳搬运（校内搬运要求见第 050 课）。</a:t>
            </a:r>
          </a:p>
          <a:p>
            <a:r>
              <a:t>交接时核对容器标签与台账是否一致，检查包装完好、盖紧、不渗漏；不合格的退回整改。交接双方在交接单上登记签字，留存记录。</a:t>
            </a:r>
          </a:p>
          <a:p>
            <a:r>
              <a:t>实验室和个人不得私自把危险废物交给废品收购人员或其他无资质的单位、个人。</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危险废物运出学校时，按《危险废物转移管理办法》（以现行文本为准）执行转移联单制度，目前一般通过电子联单办理。联单记录产生单位、运输单位和接收处置单位，形成不间断的监管链。</a:t>
            </a:r>
          </a:p>
          <a:p>
            <a:r>
              <a:t>联单要跟踪到闭环：处置单位接收并确认后，这批废物的转移才算完成；联单没有按时完成的，学校管理部门要追查原因。联单、台账和交接记录按规定期限保存备查。</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实验室的危险废物分类收集、贴好标签、规范暂存后，由学校统一委托持有危险废物经营许可证的单位运输和处置，学校负责核实对方的资质和许可范围。</a:t>
            </a:r>
          </a:p>
          <a:p>
            <a:r>
              <a:t>产生单位的责任不会因为废物交出去而转移：接收单位处置不当，产生单位依法也要承担相应责任。所以一定要交给有资质的单位，不能图便宜找无资质的人处理。任何时候，危险废物都不倒入下水道，不混入生活垃圾。</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危险废物管理要随时经得起检查：暂存点不超量、不超期，分类和标签正确，台账、交接记录和联单相互对得上。学校和上级部门的实验室安全检查会把废物管理作为重点项目（见第 005 课）。</a:t>
            </a:r>
          </a:p>
          <a:p>
            <a:r>
              <a:t>在危险废物问题上，“不知道”不是理由。每位实验室人员都要读懂本校的危险废物管理规定，按规定做好自己这一环。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答案：B。解析：一看名录，二看是否有腐蚀性、毒性、易燃性、反应性、感染性等危险特性；拿不准按危险废物管理。</a:t>
            </a:r>
          </a:p>
          <a:p>
            <a:r>
              <a:t>第 2 题 答案：B。解析：装满要及时联系学校收运，在规定时间内转走，堆在实验室就是违规。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答案：B。解析：不相容的废物要分区、隔开存放。</a:t>
            </a:r>
          </a:p>
          <a:p>
            <a:r>
              <a:t>第 4 题 答案：C。解析：产生者责任不转移；学校核实资质，联单签回才算闭环。</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答案：不倒掉、不和其他废液混装；单独存放并挂牌标明情况，报告实验室负责人和安全管理人员，安排鉴别后按危险废物处置。解析：不明废物单独处理，不自行认定。</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054</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危险废物暂存与处置</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第5章 化学品安全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60 镜）　适用对象：全体产生危险废物的实验室人员（必修），实验室安全员、废物暂存点管理人员和学院安全管理人员重点学习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能说出危险废物的判定依据（《国家危险废物名录》和危险特性），以及“产生—暂存—转运—转移—处置”全程追踪的链条。</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能做到登记台账、在产生点旁规范暂存（分区、托盘、标志、标签、通风、远离火源）、不超量、装满及时转运。</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能判断含汞含铬废液、管控类化学品废弃物、成分不明废物和爆炸性残留物须单独处理，不自行处置。</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能说出校内交接登记、转移联单闭环、交有资质单位处置和“产生者责任不转移”的要求。</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《中华人民共和国固体废物污染环境防治法》（以现行文本为准）：危险废物产生单位建立管理台账、规范贮存、按规定转移，交持有许可证的单位利用处置</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日起施行）及《危险化学品安全管理条例》（以现行文本为准）：废弃危险化学品的处置依照生态环境保护法律法规执行</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《国家危险废物名录》（以现行版本为准）：危险废物的判定依据之一</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《危险废物转移管理办法》（以现行文本为准）：危险废物转移执行转移联单制度</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18597-2023（以现行文本为准）《危险废物贮存污染控制标准》：贮存设施防渗、分区、标志，不相容废物分开贮存，容器完好加盖</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《易制毒化学品管理条例》、《易制爆危险化学品治安管理办法》及剧毒化学品“五双”管理（以现行文本为准）：管控类化学品的废弃物按管控要求登记处置</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号，以现行文本为准）及高校实验室安全检查项目表：实验室废弃物暂存、及时清运与台账</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本校危险废物管理规定：暂存量、转运时限、交接流程以本校规定为准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从产生到处置，全程追踪</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危险废物从产生一直追踪到最终处置</a:t>
            </a:r>
          </a:p>
          <a:p>
            <a:pPr>
              <a:spcAft>
                <a:spcPts val="1000"/>
              </a:spcAft>
            </a:pPr>
            <a:r>
              <a:rPr sz="2000">
                <a:solidFill>
                  <a:srgbClr val="222B33"/>
                </a:solidFill>
                <a:latin typeface="Microsoft YaHei"/>
              </a:rPr>
              <a:t>▪ 实验室、暂存点、学校贮存、处置单位</a:t>
            </a:r>
          </a:p>
          <a:p>
            <a:pPr>
              <a:spcAft>
                <a:spcPts val="1000"/>
              </a:spcAft>
            </a:pPr>
            <a:r>
              <a:rPr sz="2000">
                <a:solidFill>
                  <a:srgbClr val="222B33"/>
                </a:solidFill>
                <a:latin typeface="Microsoft YaHei"/>
              </a:rPr>
              <a:t>▪ 每一桶都要有记录，哪一环都不能断</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危险废物从产生的那一刻起就要纳入管理，经过实验室暂存点、学校（学院）集中贮存，再由有资质的单位运输和处置，每一个环节都要有记录可查，形成完整的追踪链条。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废物交出去之前不做任何记录</a:t>
            </a:r>
          </a:p>
          <a:p>
            <a:pPr>
              <a:spcAft>
                <a:spcPts val="1000"/>
              </a:spcAft>
            </a:pPr>
            <a:r>
              <a:rPr sz="1500">
                <a:solidFill>
                  <a:srgbClr val="222B33"/>
                </a:solidFill>
                <a:latin typeface="Microsoft YaHei"/>
              </a:rPr>
              <a:t>▪ 认为“送出实验室就和我无关了”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怎样判定危险废物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一看是否列在《国家危险废物名录》里</a:t>
            </a:r>
          </a:p>
          <a:p>
            <a:pPr>
              <a:spcAft>
                <a:spcPts val="1000"/>
              </a:spcAft>
            </a:pPr>
            <a:r>
              <a:rPr sz="2000">
                <a:solidFill>
                  <a:srgbClr val="222B33"/>
                </a:solidFill>
                <a:latin typeface="Microsoft YaHei"/>
              </a:rPr>
              <a:t>▪ 二看是否有易燃、腐蚀、反应、毒性等危险特性</a:t>
            </a:r>
          </a:p>
          <a:p>
            <a:pPr>
              <a:spcAft>
                <a:spcPts val="1000"/>
              </a:spcAft>
            </a:pPr>
            <a:r>
              <a:rPr sz="2000">
                <a:solidFill>
                  <a:srgbClr val="222B33"/>
                </a:solidFill>
                <a:latin typeface="Microsoft YaHei"/>
              </a:rPr>
              <a:t>▪ 拿不准，就按危险废物管理并请教</a:t>
            </a:r>
          </a:p>
          <a:p>
            <a:pPr>
              <a:spcAft>
                <a:spcPts val="1000"/>
              </a:spcAft>
            </a:pPr>
            <a:r>
              <a:rPr sz="2000">
                <a:solidFill>
                  <a:srgbClr val="222B33"/>
                </a:solidFill>
                <a:latin typeface="Microsoft YaHei"/>
              </a:rPr>
              <a:t>▪ 依据固废法和名录，学校统一交有资质单位</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我国依据《中华人民共和国固体废物污染环境防治法》和《国家危险废物名录》管理危险废物。判定一种废物是不是危险废物，一是看它是否列入名录（实验室废液、沾染危险化学品的包装物和耗材等通常在列）；二是看它是否具有腐蚀性、毒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认为“量少”就不算危险废物</a:t>
            </a:r>
          </a:p>
          <a:p>
            <a:pPr>
              <a:spcAft>
                <a:spcPts val="1000"/>
              </a:spcAft>
            </a:pPr>
            <a:r>
              <a:rPr sz="1500">
                <a:solidFill>
                  <a:srgbClr val="222B33"/>
                </a:solidFill>
                <a:latin typeface="Microsoft YaHei"/>
              </a:rPr>
              <a:t>▪ 自行把沾染化学品的废物当生活垃圾</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产生多少，登记统计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产生了什么、多少，登记台账</a:t>
            </a:r>
          </a:p>
          <a:p>
            <a:pPr>
              <a:spcAft>
                <a:spcPts val="1000"/>
              </a:spcAft>
            </a:pPr>
            <a:r>
              <a:rPr sz="2000">
                <a:solidFill>
                  <a:srgbClr val="222B33"/>
                </a:solidFill>
                <a:latin typeface="Microsoft YaHei"/>
              </a:rPr>
              <a:t>▪ 按月统计，产生越多，管理要求越严</a:t>
            </a:r>
          </a:p>
          <a:p>
            <a:pPr>
              <a:spcAft>
                <a:spcPts val="1000"/>
              </a:spcAft>
            </a:pPr>
            <a:r>
              <a:rPr sz="2000">
                <a:solidFill>
                  <a:srgbClr val="222B33"/>
                </a:solidFill>
                <a:latin typeface="Microsoft YaHei"/>
              </a:rPr>
              <a:t>▪ 台账汇总到学院和学校，据此申报处置</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产生危险废物的单位要建立危险废物管理台账，如实记录产生的种类、数量、去向等。实验室每次产生、交出废物都要登记，按月统计，做到心里有数。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不登记，交废物时才估个大概</a:t>
            </a:r>
          </a:p>
          <a:p>
            <a:pPr>
              <a:spcAft>
                <a:spcPts val="1000"/>
              </a:spcAft>
            </a:pPr>
            <a:r>
              <a:rPr sz="1500">
                <a:solidFill>
                  <a:srgbClr val="222B33"/>
                </a:solidFill>
                <a:latin typeface="Microsoft YaHei"/>
              </a:rPr>
              <a:t>▪ 台账与桶里的实际情况对不上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暂存点设在产生点旁，存量有上限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废液先放在产生点旁的暂存区</a:t>
            </a:r>
          </a:p>
          <a:p>
            <a:pPr>
              <a:spcAft>
                <a:spcPts val="1000"/>
              </a:spcAft>
            </a:pPr>
            <a:r>
              <a:rPr sz="2000">
                <a:solidFill>
                  <a:srgbClr val="222B33"/>
                </a:solidFill>
                <a:latin typeface="Microsoft YaHei"/>
              </a:rPr>
              <a:t>▪ 由产生废物的人直接看管</a:t>
            </a:r>
          </a:p>
          <a:p>
            <a:pPr>
              <a:spcAft>
                <a:spcPts val="1000"/>
              </a:spcAft>
            </a:pPr>
            <a:r>
              <a:rPr sz="2000">
                <a:solidFill>
                  <a:srgbClr val="222B33"/>
                </a:solidFill>
                <a:latin typeface="Microsoft YaHei"/>
              </a:rPr>
              <a:t>▪ 暂存量有上限，不能越堆越多</a:t>
            </a:r>
          </a:p>
          <a:p>
            <a:pPr>
              <a:spcAft>
                <a:spcPts val="1000"/>
              </a:spcAft>
            </a:pPr>
            <a:r>
              <a:rPr sz="2000">
                <a:solidFill>
                  <a:srgbClr val="222B33"/>
                </a:solidFill>
                <a:latin typeface="Microsoft YaHei"/>
              </a:rPr>
              <a:t>▪ 按上限和产生量选合适大小的桶</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实验室产生的危险废物，先放在产生点附近划定的暂存区，由使用的人直接看管，便于随时添加、检查和登记。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把废液桶放在走廊、楼梯间等公共区域</a:t>
            </a:r>
          </a:p>
          <a:p>
            <a:pPr>
              <a:spcAft>
                <a:spcPts val="1000"/>
              </a:spcAft>
            </a:pPr>
            <a:r>
              <a:rPr sz="1500">
                <a:solidFill>
                  <a:srgbClr val="222B33"/>
                </a:solidFill>
                <a:latin typeface="Microsoft YaHei"/>
              </a:rPr>
              <a:t>▪ 实验室里废液桶越堆越多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实验室暂存点的日常管理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位置固定，设危废标志，每桶贴标签</a:t>
            </a:r>
          </a:p>
          <a:p>
            <a:pPr>
              <a:spcAft>
                <a:spcPts val="1000"/>
              </a:spcAft>
            </a:pPr>
            <a:r>
              <a:rPr sz="2000">
                <a:solidFill>
                  <a:srgbClr val="222B33"/>
                </a:solidFill>
                <a:latin typeface="Microsoft YaHei"/>
              </a:rPr>
              <a:t>▪ 不相容的废物分区隔开存放</a:t>
            </a:r>
          </a:p>
          <a:p>
            <a:pPr>
              <a:spcAft>
                <a:spcPts val="1000"/>
              </a:spcAft>
            </a:pPr>
            <a:r>
              <a:rPr sz="2000">
                <a:solidFill>
                  <a:srgbClr val="222B33"/>
                </a:solidFill>
                <a:latin typeface="Microsoft YaHei"/>
              </a:rPr>
              <a:t>▪ 放托盘、防渗漏，保持通风，桶盖盖紧</a:t>
            </a:r>
          </a:p>
          <a:p>
            <a:pPr>
              <a:spcAft>
                <a:spcPts val="1000"/>
              </a:spcAft>
            </a:pPr>
            <a:r>
              <a:rPr sz="2000">
                <a:solidFill>
                  <a:srgbClr val="222B33"/>
                </a:solidFill>
                <a:latin typeface="Microsoft YaHei"/>
              </a:rPr>
              <a:t>▪ 远离火源热源，不堵通道，定期检查登记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 GB 18597-2023（以现行文本为准）《危险废物贮存污染控制标准》的原则和本校规定管理实验室暂存点：位置固定，设置危险废物标志，每个容器贴好危险废物标签（标签内容见第 053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不同类别的废液桶挤在一起</a:t>
            </a:r>
          </a:p>
          <a:p>
            <a:pPr>
              <a:spcAft>
                <a:spcPts val="1000"/>
              </a:spcAft>
            </a:pPr>
            <a:r>
              <a:rPr sz="1500">
                <a:solidFill>
                  <a:srgbClr val="222B33"/>
                </a:solidFill>
                <a:latin typeface="Microsoft YaHei"/>
              </a:rPr>
              <a:t>▪ 废液桶直接放在地上，没有托盘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装满及时转运，不在实验室堆积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装满了，及时联系学校收运</a:t>
            </a:r>
          </a:p>
          <a:p>
            <a:pPr>
              <a:spcAft>
                <a:spcPts val="1000"/>
              </a:spcAft>
            </a:pPr>
            <a:r>
              <a:rPr sz="2000">
                <a:solidFill>
                  <a:srgbClr val="222B33"/>
                </a:solidFill>
                <a:latin typeface="Microsoft YaHei"/>
              </a:rPr>
              <a:t>▪ 在规定时间内转走，时限以本校规定为准</a:t>
            </a:r>
          </a:p>
          <a:p>
            <a:pPr>
              <a:spcAft>
                <a:spcPts val="1000"/>
              </a:spcAft>
            </a:pPr>
            <a:r>
              <a:rPr sz="2000">
                <a:solidFill>
                  <a:srgbClr val="222B33"/>
                </a:solidFill>
                <a:latin typeface="Microsoft YaHei"/>
              </a:rPr>
              <a:t>▪ 转运前盖紧盖子，擦净外壁</a:t>
            </a:r>
          </a:p>
          <a:p>
            <a:pPr>
              <a:spcAft>
                <a:spcPts val="1000"/>
              </a:spcAft>
            </a:pPr>
            <a:r>
              <a:rPr sz="2000">
                <a:solidFill>
                  <a:srgbClr val="222B33"/>
                </a:solidFill>
                <a:latin typeface="Microsoft YaHei"/>
              </a:rPr>
              <a:t>▪ 一直堆在实验室，就是违规</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容器装到规定量（不要装太满）就封好，及时联系学校或学院的收运部门，在规定时间内转运到学校集中贮存点。具体时限以本校规定为准。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桶满了继续放着，等“攒够一车”</a:t>
            </a:r>
          </a:p>
          <a:p>
            <a:pPr>
              <a:spcAft>
                <a:spcPts val="1000"/>
              </a:spcAft>
            </a:pPr>
            <a:r>
              <a:rPr sz="1500">
                <a:solidFill>
                  <a:srgbClr val="222B33"/>
                </a:solidFill>
                <a:latin typeface="Microsoft YaHei"/>
              </a:rPr>
              <a:t>▪ 桶外壁沾着废液就送走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含汞含铬、管控类和不明废物单独处理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含汞、含铬等特殊废液单独收集存放</a:t>
            </a:r>
          </a:p>
          <a:p>
            <a:pPr>
              <a:spcAft>
                <a:spcPts val="1000"/>
              </a:spcAft>
            </a:pPr>
            <a:r>
              <a:rPr sz="2000">
                <a:solidFill>
                  <a:srgbClr val="222B33"/>
                </a:solidFill>
                <a:latin typeface="Microsoft YaHei"/>
              </a:rPr>
              <a:t>▪ 不在实验室自行沉淀、还原处理废液</a:t>
            </a:r>
          </a:p>
          <a:p>
            <a:pPr>
              <a:spcAft>
                <a:spcPts val="1000"/>
              </a:spcAft>
            </a:pPr>
            <a:r>
              <a:rPr sz="2000">
                <a:solidFill>
                  <a:srgbClr val="222B33"/>
                </a:solidFill>
                <a:latin typeface="Microsoft YaHei"/>
              </a:rPr>
              <a:t>▪ 管控类化学品的废弃物按管控要求登记</a:t>
            </a:r>
          </a:p>
          <a:p>
            <a:pPr>
              <a:spcAft>
                <a:spcPts val="1000"/>
              </a:spcAft>
            </a:pPr>
            <a:r>
              <a:rPr sz="2000">
                <a:solidFill>
                  <a:srgbClr val="222B33"/>
                </a:solidFill>
                <a:latin typeface="Microsoft YaHei"/>
              </a:rPr>
              <a:t>▪ 成分不明的单独放，报告鉴别</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含汞、含铬等重金属的废液和废物单独收集、单独存放，不与其他废液混装，标明成分，交学校按危险废物处置。实验室不自行用沉淀、还原等方法“处理”废液后排放，处置工作由有资质的单位完成。洒落汞的应急处置见第 056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自己在实验室把含重金属废液沉淀后倒掉</a:t>
            </a:r>
          </a:p>
          <a:p>
            <a:pPr>
              <a:spcAft>
                <a:spcPts val="1000"/>
              </a:spcAft>
            </a:pPr>
            <a:r>
              <a:rPr sz="1500">
                <a:solidFill>
                  <a:srgbClr val="222B33"/>
                </a:solidFill>
                <a:latin typeface="Microsoft YaHei"/>
              </a:rPr>
              <a:t>▪ 剧毒化学品的空瓶、残液随普通废物交出</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爆炸性残留物不回收，先问负责人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爆炸性残留物风险特别大</a:t>
            </a:r>
          </a:p>
          <a:p>
            <a:pPr>
              <a:spcAft>
                <a:spcPts val="1000"/>
              </a:spcAft>
            </a:pPr>
            <a:r>
              <a:rPr sz="2000">
                <a:solidFill>
                  <a:srgbClr val="222B33"/>
                </a:solidFill>
                <a:latin typeface="Microsoft YaHei"/>
              </a:rPr>
              <a:t>▪ 不冲下水道，不送去回收</a:t>
            </a:r>
          </a:p>
          <a:p>
            <a:pPr>
              <a:spcAft>
                <a:spcPts val="1000"/>
              </a:spcAft>
            </a:pPr>
            <a:r>
              <a:rPr sz="2000">
                <a:solidFill>
                  <a:srgbClr val="222B33"/>
                </a:solidFill>
                <a:latin typeface="Microsoft YaHei"/>
              </a:rPr>
              <a:t>▪ 怎么处置，先问实验室负责人</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部分化学品可以回收利用，但具有爆炸性的残留物例外：它们不能冲进下水道，也不能送去回收，更不能自行处理。</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把可疑的爆炸性残留物和普通固废混在一起</a:t>
            </a:r>
          </a:p>
          <a:p>
            <a:pPr>
              <a:spcAft>
                <a:spcPts val="1000"/>
              </a:spcAft>
            </a:pPr>
            <a:r>
              <a:rPr sz="1500">
                <a:solidFill>
                  <a:srgbClr val="222B33"/>
                </a:solidFill>
                <a:latin typeface="Microsoft YaHei"/>
              </a:rPr>
              <a:t>▪ 自己尝试“销毁”残留物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按学校安排交接，登记签字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按学校通知的时间地点送交</a:t>
            </a:r>
          </a:p>
          <a:p>
            <a:pPr>
              <a:spcAft>
                <a:spcPts val="1000"/>
              </a:spcAft>
            </a:pPr>
            <a:r>
              <a:rPr sz="2000">
                <a:solidFill>
                  <a:srgbClr val="222B33"/>
                </a:solidFill>
                <a:latin typeface="Microsoft YaHei"/>
              </a:rPr>
              <a:t>▪ 核对标签，包装完好不渗漏</a:t>
            </a:r>
          </a:p>
          <a:p>
            <a:pPr>
              <a:spcAft>
                <a:spcPts val="1000"/>
              </a:spcAft>
            </a:pPr>
            <a:r>
              <a:rPr sz="2000">
                <a:solidFill>
                  <a:srgbClr val="222B33"/>
                </a:solidFill>
                <a:latin typeface="Microsoft YaHei"/>
              </a:rPr>
              <a:t>▪ 交接登记，双方签字</a:t>
            </a:r>
          </a:p>
          <a:p>
            <a:pPr>
              <a:spcAft>
                <a:spcPts val="1000"/>
              </a:spcAft>
            </a:pPr>
            <a:r>
              <a:rPr sz="2000">
                <a:solidFill>
                  <a:srgbClr val="222B33"/>
                </a:solidFill>
                <a:latin typeface="Microsoft YaHei"/>
              </a:rPr>
              <a:t>▪ 不私自交给无资质的单位或个人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危险废物按学校或学院通知的收运时间和地点送交，用推车等方式平稳搬运（校内搬运要求见第 050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不按收运时间，把桶直接放在贮存点门口</a:t>
            </a:r>
          </a:p>
          <a:p>
            <a:pPr>
              <a:spcAft>
                <a:spcPts val="1000"/>
              </a:spcAft>
            </a:pPr>
            <a:r>
              <a:rPr sz="1500">
                <a:solidFill>
                  <a:srgbClr val="222B33"/>
                </a:solidFill>
                <a:latin typeface="Microsoft YaHei"/>
              </a:rPr>
              <a:t>▪ 把废溶剂桶卖给废品收购人员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转移联单，跟踪到闭环</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运出危险废物，要有转移联单</a:t>
            </a:r>
          </a:p>
          <a:p>
            <a:pPr>
              <a:spcAft>
                <a:spcPts val="1000"/>
              </a:spcAft>
            </a:pPr>
            <a:r>
              <a:rPr sz="2000">
                <a:solidFill>
                  <a:srgbClr val="222B33"/>
                </a:solidFill>
                <a:latin typeface="Microsoft YaHei"/>
              </a:rPr>
              <a:t>▪ 谁产生、谁运输、谁处置，一清二楚</a:t>
            </a:r>
          </a:p>
          <a:p>
            <a:pPr>
              <a:spcAft>
                <a:spcPts val="1000"/>
              </a:spcAft>
            </a:pPr>
            <a:r>
              <a:rPr sz="2000">
                <a:solidFill>
                  <a:srgbClr val="222B33"/>
                </a:solidFill>
                <a:latin typeface="Microsoft YaHei"/>
              </a:rPr>
              <a:t>▪ 处置单位签回，才算闭环；没回来要追查</a:t>
            </a:r>
          </a:p>
          <a:p>
            <a:pPr>
              <a:spcAft>
                <a:spcPts val="1000"/>
              </a:spcAft>
            </a:pPr>
            <a:r>
              <a:rPr sz="2000">
                <a:solidFill>
                  <a:srgbClr val="222B33"/>
                </a:solidFill>
                <a:latin typeface="Microsoft YaHei"/>
              </a:rPr>
              <a:t>▪ 联单和台账按规定保存备查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危险废物运出学校时，按《危险废物转移管理办法》（以现行文本为准）执行转移联单制度，目前一般通过电子联单办理。联单记录产生单位、运输单位和接收处置单位，形成不间断的监管链。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废物运走后不跟踪联单</a:t>
            </a:r>
          </a:p>
          <a:p>
            <a:pPr>
              <a:spcAft>
                <a:spcPts val="1000"/>
              </a:spcAft>
            </a:pPr>
            <a:r>
              <a:rPr sz="1500">
                <a:solidFill>
                  <a:srgbClr val="222B33"/>
                </a:solidFill>
                <a:latin typeface="Microsoft YaHei"/>
              </a:rPr>
              <a:t>▪ 交接记录、联单随意丢弃</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交有资质单位，产生者责任不转移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学校统一交给持有许可证的处置单位</a:t>
            </a:r>
          </a:p>
          <a:p>
            <a:pPr>
              <a:spcAft>
                <a:spcPts val="1000"/>
              </a:spcAft>
            </a:pPr>
            <a:r>
              <a:rPr sz="2000">
                <a:solidFill>
                  <a:srgbClr val="222B33"/>
                </a:solidFill>
                <a:latin typeface="Microsoft YaHei"/>
              </a:rPr>
              <a:t>▪ 学校核实处置单位的经营许可</a:t>
            </a:r>
          </a:p>
          <a:p>
            <a:pPr>
              <a:spcAft>
                <a:spcPts val="1000"/>
              </a:spcAft>
            </a:pPr>
            <a:r>
              <a:rPr sz="2000">
                <a:solidFill>
                  <a:srgbClr val="222B33"/>
                </a:solidFill>
                <a:latin typeface="Microsoft YaHei"/>
              </a:rPr>
              <a:t>▪ 交出去了，责任并没有交出去</a:t>
            </a:r>
          </a:p>
          <a:p>
            <a:pPr>
              <a:spcAft>
                <a:spcPts val="1000"/>
              </a:spcAft>
            </a:pPr>
            <a:r>
              <a:rPr sz="2000">
                <a:solidFill>
                  <a:srgbClr val="222B33"/>
                </a:solidFill>
                <a:latin typeface="Microsoft YaHei"/>
              </a:rPr>
              <a:t>▪ 不倒下水道，不混进生活垃圾</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实验室的危险废物分类收集、贴好标签、规范暂存后，由学校统一委托持有危险废物经营许可证的单位运输和处置，学校负责核实对方的资质和许可范围。</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以为交给收运人员后就与学校无关</a:t>
            </a:r>
          </a:p>
          <a:p>
            <a:pPr>
              <a:spcAft>
                <a:spcPts val="1000"/>
              </a:spcAft>
            </a:pPr>
            <a:r>
              <a:rPr sz="1500">
                <a:solidFill>
                  <a:srgbClr val="222B33"/>
                </a:solidFill>
                <a:latin typeface="Microsoft YaHei"/>
              </a:rPr>
              <a:t>▪ 为省费用找无资质的人清运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从源头到终点都经得起查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暂存不超量，分类不出错</a:t>
            </a:r>
          </a:p>
          <a:p>
            <a:pPr>
              <a:spcAft>
                <a:spcPts val="1000"/>
              </a:spcAft>
            </a:pPr>
            <a:r>
              <a:rPr sz="2000">
                <a:solidFill>
                  <a:srgbClr val="222B33"/>
                </a:solidFill>
                <a:latin typeface="Microsoft YaHei"/>
              </a:rPr>
              <a:t>▪ 台账、标签、联单都对得上</a:t>
            </a:r>
          </a:p>
          <a:p>
            <a:pPr>
              <a:spcAft>
                <a:spcPts val="1000"/>
              </a:spcAft>
            </a:pPr>
            <a:r>
              <a:rPr sz="2000">
                <a:solidFill>
                  <a:srgbClr val="222B33"/>
                </a:solidFill>
                <a:latin typeface="Microsoft YaHei"/>
              </a:rPr>
              <a:t>▪ 不知道规定，不能成为借口</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危险废物管理要随时经得起检查：暂存点不超量、不超期，分类和标签正确，台账、交接记录和联单相互对得上。学校和上级部门的实验室安全检查会把废物管理作为重点项目（见第 005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检查前临时突击清运</a:t>
            </a:r>
          </a:p>
          <a:p>
            <a:pPr>
              <a:spcAft>
                <a:spcPts val="1000"/>
              </a:spcAft>
            </a:pPr>
            <a:r>
              <a:rPr sz="1500">
                <a:solidFill>
                  <a:srgbClr val="222B33"/>
                </a:solidFill>
                <a:latin typeface="Microsoft YaHei"/>
              </a:rPr>
              <a:t>▪ 以“没人告诉我”为由不按规定处理</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判定一种实验废物是否属于危险废物，主要依据是：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气味大不大</a:t>
            </a:r>
          </a:p>
          <a:p>
            <a:pPr algn="l"/>
            <a:r>
              <a:rPr sz="1500" b="0">
                <a:solidFill>
                  <a:srgbClr val="222B33"/>
                </a:solidFill>
                <a:latin typeface="Microsoft YaHei"/>
              </a:rPr>
              <a:t>B. 是否列入《国家危险废物名录》或具有危险特性</a:t>
            </a:r>
          </a:p>
          <a:p>
            <a:pPr algn="l"/>
            <a:r>
              <a:rPr sz="1500" b="0">
                <a:solidFill>
                  <a:srgbClr val="222B33"/>
                </a:solidFill>
                <a:latin typeface="Microsoft YaHei"/>
              </a:rPr>
              <a:t>C. 量多不多</a:t>
            </a:r>
          </a:p>
          <a:p>
            <a:pPr algn="l"/>
            <a:r>
              <a:rPr sz="1500" b="0">
                <a:solidFill>
                  <a:srgbClr val="222B33"/>
                </a:solidFill>
                <a:latin typeface="Microsoft YaHei"/>
              </a:rPr>
              <a:t>D. 是否有颜色</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判断：废液桶装满后可以先放在实验室，等攒够几桶再联系收运。</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下列关于实验室暂存点的做法，错误的是：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设危险废物标志，每桶贴标签</a:t>
            </a:r>
          </a:p>
          <a:p>
            <a:pPr algn="l"/>
            <a:r>
              <a:rPr sz="1500" b="0">
                <a:solidFill>
                  <a:srgbClr val="222B33"/>
                </a:solidFill>
                <a:latin typeface="Microsoft YaHei"/>
              </a:rPr>
              <a:t>B. 酸性废液和有机废液紧挨着放在一个托盘里</a:t>
            </a:r>
          </a:p>
          <a:p>
            <a:pPr algn="l"/>
            <a:r>
              <a:rPr sz="1500" b="0">
                <a:solidFill>
                  <a:srgbClr val="222B33"/>
                </a:solidFill>
                <a:latin typeface="Microsoft YaHei"/>
              </a:rPr>
              <a:t>C. 远离热源火源，不堵通道</a:t>
            </a:r>
          </a:p>
          <a:p>
            <a:pPr algn="l"/>
            <a:r>
              <a:rPr sz="1500" b="0">
                <a:solidFill>
                  <a:srgbClr val="222B33"/>
                </a:solidFill>
                <a:latin typeface="Microsoft YaHei"/>
              </a:rPr>
              <a:t>D. 定期检查并登记</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危险废物交给处置单位后，下列说法正确的是：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责任全部转给处置单位</a:t>
            </a:r>
          </a:p>
          <a:p>
            <a:pPr algn="l"/>
            <a:r>
              <a:rPr sz="1500" b="0">
                <a:solidFill>
                  <a:srgbClr val="222B33"/>
                </a:solidFill>
                <a:latin typeface="Microsoft YaHei"/>
              </a:rPr>
              <a:t>B. 不用再跟踪</a:t>
            </a:r>
          </a:p>
          <a:p>
            <a:pPr algn="l"/>
            <a:r>
              <a:rPr sz="1500" b="0">
                <a:solidFill>
                  <a:srgbClr val="222B33"/>
                </a:solidFill>
                <a:latin typeface="Microsoft YaHei"/>
              </a:rPr>
              <a:t>C. 产生单位的责任不转移，要交给有资质的单位并跟踪联单闭环</a:t>
            </a:r>
          </a:p>
          <a:p>
            <a:pPr algn="l"/>
            <a:r>
              <a:rPr sz="1500" b="0">
                <a:solidFill>
                  <a:srgbClr val="222B33"/>
                </a:solidFill>
                <a:latin typeface="Microsoft YaHei"/>
              </a:rPr>
              <a:t>D. 可以交给出价低的个人</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054 · 危险废物暂存与处置</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054 危险废物暂存与处置</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简答：实验室发现一瓶标签脱落、成分不明的废试剂，应怎么处理？</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从产生到处置，全程追踪</a:t>
            </a:r>
          </a:p>
          <a:p>
            <a:pPr>
              <a:spcAft>
                <a:spcPts val="800"/>
              </a:spcAft>
            </a:pPr>
            <a:r>
              <a:rPr sz="1500">
                <a:solidFill>
                  <a:srgbClr val="FFFFFF"/>
                </a:solidFill>
                <a:latin typeface="Microsoft YaHei"/>
              </a:rPr>
              <a:t>▪ K2  怎样判定危险废物</a:t>
            </a:r>
          </a:p>
          <a:p>
            <a:pPr>
              <a:spcAft>
                <a:spcPts val="800"/>
              </a:spcAft>
            </a:pPr>
            <a:r>
              <a:rPr sz="1500">
                <a:solidFill>
                  <a:srgbClr val="FFFFFF"/>
                </a:solidFill>
                <a:latin typeface="Microsoft YaHei"/>
              </a:rPr>
              <a:t>▪ K3  产生多少，登记统计</a:t>
            </a:r>
          </a:p>
          <a:p>
            <a:pPr>
              <a:spcAft>
                <a:spcPts val="800"/>
              </a:spcAft>
            </a:pPr>
            <a:r>
              <a:rPr sz="1500">
                <a:solidFill>
                  <a:srgbClr val="FFFFFF"/>
                </a:solidFill>
                <a:latin typeface="Microsoft YaHei"/>
              </a:rPr>
              <a:t>▪ K4  暂存点设在产生点旁，存量有上限</a:t>
            </a:r>
          </a:p>
          <a:p>
            <a:pPr>
              <a:spcAft>
                <a:spcPts val="800"/>
              </a:spcAft>
            </a:pPr>
            <a:r>
              <a:rPr sz="1500">
                <a:solidFill>
                  <a:srgbClr val="FFFFFF"/>
                </a:solidFill>
                <a:latin typeface="Microsoft YaHei"/>
              </a:rPr>
              <a:t>▪ S1  实验室暂存点的日常管理</a:t>
            </a:r>
          </a:p>
          <a:p>
            <a:pPr>
              <a:spcAft>
                <a:spcPts val="800"/>
              </a:spcAft>
            </a:pPr>
            <a:r>
              <a:rPr sz="1500">
                <a:solidFill>
                  <a:srgbClr val="FFFFFF"/>
                </a:solidFill>
                <a:latin typeface="Microsoft YaHei"/>
              </a:rPr>
              <a:t>▪ K5  装满及时转运，不在实验室堆积</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S2  含汞含铬、管控类和不明废物单独处理</a:t>
            </a:r>
          </a:p>
          <a:p>
            <a:pPr>
              <a:spcAft>
                <a:spcPts val="800"/>
              </a:spcAft>
            </a:pPr>
            <a:r>
              <a:rPr sz="1500">
                <a:solidFill>
                  <a:srgbClr val="FFFFFF"/>
                </a:solidFill>
                <a:latin typeface="Microsoft YaHei"/>
              </a:rPr>
              <a:t>▪ K6  爆炸性残留物不回收，先问负责人</a:t>
            </a:r>
          </a:p>
          <a:p>
            <a:pPr>
              <a:spcAft>
                <a:spcPts val="800"/>
              </a:spcAft>
            </a:pPr>
            <a:r>
              <a:rPr sz="1500">
                <a:solidFill>
                  <a:srgbClr val="FFFFFF"/>
                </a:solidFill>
                <a:latin typeface="Microsoft YaHei"/>
              </a:rPr>
              <a:t>▪ S3  按学校安排交接，登记签字</a:t>
            </a:r>
          </a:p>
          <a:p>
            <a:pPr>
              <a:spcAft>
                <a:spcPts val="800"/>
              </a:spcAft>
            </a:pPr>
            <a:r>
              <a:rPr sz="1500">
                <a:solidFill>
                  <a:srgbClr val="FFFFFF"/>
                </a:solidFill>
                <a:latin typeface="Microsoft YaHei"/>
              </a:rPr>
              <a:t>▪ K7  转移联单，跟踪到闭环</a:t>
            </a:r>
          </a:p>
          <a:p>
            <a:pPr>
              <a:spcAft>
                <a:spcPts val="800"/>
              </a:spcAft>
            </a:pPr>
            <a:r>
              <a:rPr sz="1500">
                <a:solidFill>
                  <a:srgbClr val="FFFFFF"/>
                </a:solidFill>
                <a:latin typeface="Microsoft YaHei"/>
              </a:rPr>
              <a:t>▪ K8  交有资质单位，产生者责任不转移</a:t>
            </a:r>
          </a:p>
          <a:p>
            <a:pPr>
              <a:spcAft>
                <a:spcPts val="800"/>
              </a:spcAft>
            </a:pPr>
            <a:r>
              <a:rPr sz="1500">
                <a:solidFill>
                  <a:srgbClr val="FFFFFF"/>
                </a:solidFill>
                <a:latin typeface="Microsoft YaHei"/>
              </a:rPr>
              <a:t>▪ K9  从源头到终点都经得起查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