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危害告知（也叫危险信息传递）就是让每个接触化学品的人知道它有什么危害、怎样防护、出事怎么办。容器上的标签、随货的说明书、交接时的口头说明，都是这门“安全语言”的一部分。</a:t>
            </a:r>
          </a:p>
          <a:p>
            <a:r>
              <a:t>安全意识首先来自把危害讲清楚。这门语言要融入日常：随时问自己，如果此刻出事，标签清楚吗？说明书在吗？别人知道这瓶里是什么吗？</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只要有危险化学品，就要做好危害告知，没有例外。告知对象不只是做实验的人，保洁、维修、来帮忙的同学和外来人员，凡是可能接触的，都要知道三件事：这里有什么危害、怎样防护、出事怎么办。</a:t>
            </a:r>
          </a:p>
          <a:p>
            <a:r>
              <a:t>每个人都有权知道自己接触的是什么化学品、有什么危害。对不清楚的化学品，有权询问实验室负责人，查阅标签和说明书后再操作。</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危险信息的源头是化学品的生产和进口单位：它们要按国家标准对化学品进行危险性分类、评估危害，编制中文安全标签和安全技术说明书，随产品一起提供，把危害信息传递给经营者和使用者。</a:t>
            </a:r>
          </a:p>
          <a:p>
            <a:r>
              <a:t>使用单位采购时要向供应单位索取“一书一签”，到货验收时核对（见第 037 课）。</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联合国推行的全球化学品统一分类和标签制度统一了分类、标签和说明书的格式，各国的人看到的是同样的警示。我国按 GB 30000 系列分类，按 GB 15258-2009 编写标签，按 GB/T 16483-2008 编写说明书；某种化学品是否属于危险化学品，查现行《危险化学品目录》。</a:t>
            </a:r>
          </a:p>
          <a:p>
            <a:r>
              <a:t>《中华人民共和国危险化学品安全法》要求危险化学品附有中文的安全技术说明书和安全标签，即“一书一签”。说明书要放在实验室里随手可查（见第 040 课）；没有标签或标签无法辨认的试剂，一律不使用。</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使用化学品的学校、学院和实验室，要保证每个容器上的标签完好、清晰，保证每种化学品的安全技术说明书在实验室里随手可得——纸质文件夹或电脑、平板上的电子版都可以，关键是出事时能马上查到。</a:t>
            </a:r>
          </a:p>
          <a:p>
            <a:r>
              <a:t>实验室安全员和使用人定期检查标签和说明书，发现缺失、损坏或版本过旧，及时补齐更新。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使用一种试剂前，先看清标签上的名称、象形图和信号词，一眼就能知道它是什么类型的危险、有多危险。标签是“第一张危险说明”，但篇幅有限。</a:t>
            </a:r>
          </a:p>
          <a:p>
            <a:r>
              <a:t>需要了解危害、个人防护、储存条件、急救和泄漏处理的细节时，查安全技术说明书。看标签、查说明书之后，再选择防护和操作方法。说明书的使用见第 040、041 课。</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 GB 15258-2009（以现行文本为准），化学品安全标签的要素包括：化学品标识（名称）、象形图、信号词、危险性说明、防范说明、供应商标识、应急咨询电话和资料参阅提示语（提示查阅安全技术说明书）。防范说明中包括预防措施、事故响应（含急救）、安全储存和废弃处置。</a:t>
            </a:r>
          </a:p>
          <a:p>
            <a:r>
              <a:t>化学品放在专用化学品柜中，每瓶都要有完整的安全标签。读标签时按“名称—象形图—信号词—说明—供应商和应急电话”的顺序看。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GB 30000 系列规定的危险象形图是红色边框的菱形，白色背景，中间是黑色图形，一共九种：爆炸弹、火焰、圆圈上方火焰、气瓶、腐蚀、骷髅和交叉骨、感叹号、健康危害（人形）、环境（枯树和死鱼）。</a:t>
            </a:r>
          </a:p>
          <a:p>
            <a:r>
              <a:t>象形图是不分语言的图形语言，一眼就能认出危害类型。多数化学品标签上有一两个象形图，有的有三个甚至更多。九种都要认全，骷髅图（急性毒性）千万不能忽略。</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示理化危险的象形图：爆炸弹表示爆炸物、自反应物质等不稳定物质；火焰表示易燃（气体、液体、固体等）；圆圈上方的火焰表示氧化性物质，它能放出氧、引发或助长燃烧，所以氧化剂要远离可燃物；气瓶表示加压气体；腐蚀表示金属腐蚀物和皮肤腐蚀、严重眼损伤。</a:t>
            </a:r>
          </a:p>
          <a:p>
            <a:r>
              <a:t>易燃易爆品的存放处还设有“当心火灾”等警告标志（按 GB 2894-2025，以现行文本为准），看到这些标志要格外当心火源。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示健康和环境危害的象形图：骷髅和交叉骨表示急性毒性（较高级别），少量接触就可能严重中毒；感叹号表示皮肤刺激、眼刺激、皮肤致敏、较低级别急性毒性等相对较轻的危害；人形图（胸部有星爆）表示致癌、致突变、生殖毒性、呼吸致敏、特异性靶器官毒性、吸入危害等严重的健康危害，往往是慢性的；枯树和死鱼表示危害水生环境。</a:t>
            </a:r>
          </a:p>
          <a:p>
            <a:r>
              <a:t>信号词“危险”比“警告”更严重。看到人形图，不要因为“当时没感觉”而放松防护。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很多化学品同时具有几种危害，例如既易燃又刺激，或者既腐蚀又有毒，标签上就会有几个象形图。</a:t>
            </a:r>
          </a:p>
          <a:p>
            <a:r>
              <a:t>要把每个象形图都看一遍，逐一对应防护：易燃要远离火源，有毒要在通风柜内操作，腐蚀要戴护目镜和手套。</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标签上象形图旁边有信号词，只有两个：“危险”和“警告”，用来粗略表示危害的相对严重程度。“危险”用于较严重的危害类别，“警告”用于相对较轻的。一种化学品标签上只用一个信号词，有“危险”时就不再用“警告”。</a:t>
            </a:r>
          </a:p>
          <a:p>
            <a:r>
              <a:t>信号词只是提示，具体危害要看危险说明，防护要看防范说明。</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危险说明用简短的句子描述化学品的危害性质和程度，例如“高度易燃液体和蒸气”“吞咽有害”。防范说明告诉你怎样预防接触、发生事故怎样处置（包括急救）、怎样储存和废弃。</a:t>
            </a:r>
          </a:p>
          <a:p>
            <a:r>
              <a:t>读完标签，如果有低毒或无毒的替代品能满足实验要求，优先选用低毒的，这是从源头降低风险的最好办法。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危险货物运输标志（按 GB 190-2009，以现行文本为准）是彩色底的菱形，下角标有类别号，贴在运输包装件上；化学品安全标签上的象形图（按 GB 30000 系列）是白底红框的菱形，在容器标签和安全技术说明书上。两者图形相似，但用途和规定不同。</a:t>
            </a:r>
          </a:p>
          <a:p>
            <a:r>
              <a:t>危险货物运输分类见第 038 课。寄送危险品不能自行邮寄或用普通快递，要交给有资质的承运单位，按规定包装和标识（见第 050 课）。</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部分进口试剂的资料或国外实验室里能看到一种四色菱形标识：蓝色表示健康危害，红色表示易燃性，黄色表示反应性，白色写特殊危害（如遇水剧烈反应），格内用数字表示程度。</a:t>
            </a:r>
          </a:p>
          <a:p>
            <a:r>
              <a:t>它不是我国的化学品标签要求，只作了解，不能代替中文安全标签。国内判断化学品危害，看 GB 30000 象形图、信号词和危险说明，详情查中文安全技术说明书。</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原装容器上的标签由生产或供应单位贴好，使用中要保持完好，不能撕掉、涂改或用别的标签覆盖。取用时标签朝向手心，防止试剂流下腐蚀标签。</a:t>
            </a:r>
          </a:p>
          <a:p>
            <a:r>
              <a:t>标签被腐蚀、模糊或脱落时，在确认内容无误（核对台账、来源）后及时补贴新标签。无法确认内容的化学品，不使用，报告实验室负责人，按不明化学品处理（见第 037 课）。</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化学品从原瓶分装到洗瓶、小试剂瓶、烧杯等容器里，新容器（二级容器）也要贴标签，写明化学品名称、浓度、主要危害（可画象形图）、日期和分装人，不能靠记忆。分装出来的小瓶最容易出事，检查时台面上的洗瓶会逐个查看。</a:t>
            </a:r>
          </a:p>
          <a:p>
            <a:r>
              <a:t>绝不能用饮料瓶、食品容器盛装化学品。没有标签或标签看不清的容器，一律不用；标签损坏及时补贴或上报。</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自己配制的溶液、标准溶液和缓冲液，配好后马上贴标签，再转入试剂瓶按要求存放。标签写明名称、浓度、主要危害、配制日期和配制人（使用人），缓冲液还要写 pH。动手之前先弄清容器里装的是什么，来历不明的瓶子会带来各种风险。</a:t>
            </a:r>
          </a:p>
          <a:p>
            <a:r>
              <a:t>没有标签的溶液，别人不敢用，也无法确定怎样废弃处置，最后成为隐患。配制缓冲液时用到的 pH 计，电极用完冲净后套上装有保存液的保护帽，不干放，也不长期泡在蒸馏水里；电线远离液体，湿手不碰插头开关（仪器使用见第 15 章）。</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标签上要写化学品的中文全称（或规范名称），不要只写缩写、分子式简写或课题组内部代号。同一个缩写在不同领域可能代表完全不同的物质，有的是致癌物，有的是普通溶剂，别人无法判断危害。</a:t>
            </a:r>
          </a:p>
          <a:p>
            <a:r>
              <a:t>写全称还方便其他人和救援人员查到对应的安全技术说明书。</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里每个盛装化学品的容器都必须正确标识，让任何人一看就明白。有的国外规定对“本人当班立即使用”的容器有免贴情形，在国内高校不适用：所有容器都要有标签。因为人会离开，瓶子还在，标签替你告诉别人这是什么。</a:t>
            </a:r>
          </a:p>
          <a:p>
            <a:r>
              <a:t>化学品要装在合适的容器里，贴好标签，放进通风柜或指定柜。工作区也要做好标识：容器写清内容、所有人和日期，有危害的区域设置警示标志。</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很多溶液和溶剂无色透明，看上去都像水。实验进行中的烧杯、锥形瓶，也要用标签纸或记号笔临时标明内容，否则自己或别人很容易拿混。</a:t>
            </a:r>
          </a:p>
          <a:p>
            <a:r>
              <a:t>不要把无标签的溶液留在台面上走开，哪怕只是一小会儿。过夜晾干或反应的样品要贴标签，写明内容、使用人和日期，放在指定位置，不留在公共台面上。</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除了容器标签，使用有毒有害化学品的工作场所还要在醒目位置设置警示标识和危害告知卡，写明化学品名称、危害、防护措施和应急处置方法（按职业病防治相关规定和本校要求）。</a:t>
            </a:r>
          </a:p>
          <a:p>
            <a:r>
              <a:t>实验室负责人要如实向学生和工作人员告知所接触化学品的危害、防护办法和应急措施，不能隐瞒或淡化。</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一个案例：一瓶特殊试剂深夜送到实验室，第二天就被直接分装使用，没有人查看随货的说明书。一天多后，操作者出现严重的接触性皮炎——原来它是强致敏物，需要专用的防护手套和操作方式。</a:t>
            </a:r>
          </a:p>
          <a:p>
            <a:r>
              <a:t>到货验收和分装是危害信息最容易“断线”的环节。新试剂到货要先看标签和说明书，把危害和防护要求告知使用者；分装时把标签信息完整转到新容器上。</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让每个人都会读这门安全语言，一靠正式培训（入室安全培训和化学品专项培训），二靠日常信息共享（组会提醒、交接说明、更新告知卡）。</a:t>
            </a:r>
          </a:p>
          <a:p>
            <a:r>
              <a:t>针对常见问题的改法：缺分装标签，就在台边备好标签模板和笔；说明书过期，就在新购入时同步更新；培训只签到，就记录培训内容和考核结果；外来人员（维修、参观、保洁）进门前先告知危害和注意事项。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答案：D。解析：标签要素包括名称、象形图、信号词、危险性说明、防范说明、供应商标识、应急咨询电话和资料参阅提示语。</a:t>
            </a:r>
          </a:p>
          <a:p>
            <a:r>
              <a:t>第 2 题 答案：A。解析：信号词只有两个，“危险”比“警告”更严重。</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答案：B。解析：氧化性物质能放出氧、助长燃烧，要远离可燃物。</a:t>
            </a:r>
          </a:p>
          <a:p>
            <a:r>
              <a:t>第 4 题 答案：B。解析：国内高校所有容器都要有标签，人走了瓶还在，标签替你说话。</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答案：B。解析：同一个缩写可能代表不同物质，要写全称，方便别人判断危害、查说明书。</a:t>
            </a:r>
          </a:p>
          <a:p>
            <a:r>
              <a:t>第 6 题 答案：名称（全称）、浓度、主要危害、配制日期和配制人；缓冲液还要写 pH。解析：配好马上贴签，没有标签的溶液没人敢用也无法处置。</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039</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化学品标签与危害告知</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73 镜）　适用对象：全体使用化学品的高校本科生、研究生和教职工（必修）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能说出危害告知的意义，以及生产进口单位、使用单位在“一书一签”上的责任。</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能读懂中文化学品安全标签的要素（GB 15258-2009）：名称、象形图、信号词、危险说明、防范说明、供应商和应急电话。</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能认出 GB 30000 系列的九种象形图和“危险”“警告”两个信号词，区分运输标志和象形图。</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能做到给分装容器、自配溶液、使用中的容器贴全称标签，标签损坏及时补贴，并参与危害告知培训。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日起施行）及《危险化学品安全管理条例》（以现行文本为准）：危险化学品附中文化学品安全技术说明书和安全标签</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15258-2009（以现行文本为准）《化学品安全标签编写规定》：标签要素和编写要求</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 系列（如 GB 30000.7-2013，以现行文本为准）《化学品分类和标签规范》：危险性分类、象形图和信号词</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16483-2008（以现行文本为准）《化学品安全技术说明书 内容和项目顺序》</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190-2009（以现行文本为准）《危险货物包装标志》：运输菱形标志</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《中华人民共和国职业病防治法》（以现行文本为准）：用人单位如实告知职业病危害，设置警示标识和中文警示说明</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号，以现行文本为准）：化学品标签清晰、容器标识、安全培训</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高校实验室安全检查项目表（以现行文本为准）：试剂和自配溶液标签完整、安全技术说明书可查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危害告知是安全的共同语言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每个容器、每批到货、每次交接都在传递危险信息</a:t>
            </a:r>
          </a:p>
          <a:p>
            <a:pPr>
              <a:spcAft>
                <a:spcPts val="1000"/>
              </a:spcAft>
            </a:pPr>
            <a:r>
              <a:rPr sz="2000">
                <a:solidFill>
                  <a:srgbClr val="222B33"/>
                </a:solidFill>
                <a:latin typeface="Microsoft YaHei"/>
              </a:rPr>
              <a:t>▪ 会读、会说、会转告，大家才安全</a:t>
            </a:r>
          </a:p>
          <a:p>
            <a:pPr>
              <a:spcAft>
                <a:spcPts val="1000"/>
              </a:spcAft>
            </a:pPr>
            <a:r>
              <a:rPr sz="2000">
                <a:solidFill>
                  <a:srgbClr val="222B33"/>
                </a:solidFill>
                <a:latin typeface="Microsoft YaHei"/>
              </a:rPr>
              <a:t>▪ 安全意识从把危害讲清楚开始</a:t>
            </a:r>
          </a:p>
          <a:p>
            <a:pPr>
              <a:spcAft>
                <a:spcPts val="1000"/>
              </a:spcAft>
            </a:pPr>
            <a:r>
              <a:rPr sz="2000">
                <a:solidFill>
                  <a:srgbClr val="222B33"/>
                </a:solidFill>
                <a:latin typeface="Microsoft YaHei"/>
              </a:rPr>
              <a:t>▪ 不是一年一次的讲座，而是每天的习惯</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危害告知（也叫危险信息传递）就是让每个接触化学品的人知道它有什么危害、怎样防护、出事怎么办。容器上的标签、随货的说明书、交接时的口头说明，都是这门“安全语言”的一部分。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交接实验时不说明在用的化学品和危害</a:t>
            </a:r>
          </a:p>
          <a:p>
            <a:pPr>
              <a:spcAft>
                <a:spcPts val="1000"/>
              </a:spcAft>
            </a:pPr>
            <a:r>
              <a:rPr sz="1500">
                <a:solidFill>
                  <a:srgbClr val="222B33"/>
                </a:solidFill>
                <a:latin typeface="Microsoft YaHei"/>
              </a:rPr>
              <a:t>▪ 只在迎检和培训时才关注标签</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可能接触的人都有权知道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有危险化学品的地方，就要做好危害告知</a:t>
            </a:r>
          </a:p>
          <a:p>
            <a:pPr>
              <a:spcAft>
                <a:spcPts val="1000"/>
              </a:spcAft>
            </a:pPr>
            <a:r>
              <a:rPr sz="2000">
                <a:solidFill>
                  <a:srgbClr val="222B33"/>
                </a:solidFill>
                <a:latin typeface="Microsoft YaHei"/>
              </a:rPr>
              <a:t>▪ 做实验的、打扫的、来帮忙的都要知道</a:t>
            </a:r>
          </a:p>
          <a:p>
            <a:pPr>
              <a:spcAft>
                <a:spcPts val="1000"/>
              </a:spcAft>
            </a:pPr>
            <a:r>
              <a:rPr sz="2000">
                <a:solidFill>
                  <a:srgbClr val="222B33"/>
                </a:solidFill>
                <a:latin typeface="Microsoft YaHei"/>
              </a:rPr>
              <a:t>▪ 你有权知道自己接触的是什么</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只要有危险化学品，就要做好危害告知，没有例外。告知对象不只是做实验的人，保洁、维修、来帮忙的同学和外来人员，凡是可能接触的，都要知道三件事：这里有什么危害、怎样防护、出事怎么办。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保洁、维修人员进实验室前不告知危害</a:t>
            </a:r>
          </a:p>
          <a:p>
            <a:pPr>
              <a:spcAft>
                <a:spcPts val="1000"/>
              </a:spcAft>
            </a:pPr>
            <a:r>
              <a:rPr sz="1500">
                <a:solidFill>
                  <a:srgbClr val="222B33"/>
                </a:solidFill>
                <a:latin typeface="Microsoft YaHei"/>
              </a:rPr>
              <a:t>▪ 不清楚是什么也不敢问，凭感觉操作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生产进口单位：评估危害，配齐一书一签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生产、进口单位先评估化学品的危害</a:t>
            </a:r>
          </a:p>
          <a:p>
            <a:pPr>
              <a:spcAft>
                <a:spcPts val="1000"/>
              </a:spcAft>
            </a:pPr>
            <a:r>
              <a:rPr sz="2000">
                <a:solidFill>
                  <a:srgbClr val="222B33"/>
                </a:solidFill>
                <a:latin typeface="Microsoft YaHei"/>
              </a:rPr>
              <a:t>▪ 配齐安全标签和安全技术说明书</a:t>
            </a:r>
          </a:p>
          <a:p>
            <a:pPr>
              <a:spcAft>
                <a:spcPts val="1000"/>
              </a:spcAft>
            </a:pPr>
            <a:r>
              <a:rPr sz="2000">
                <a:solidFill>
                  <a:srgbClr val="222B33"/>
                </a:solidFill>
                <a:latin typeface="Microsoft YaHei"/>
              </a:rPr>
              <a:t>▪ 把危害信息传给下游使用者</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危险信息的源头是化学品的生产和进口单位：它们要按国家标准对化学品进行危险性分类、评估危害，编制中文安全标签和安全技术说明书，随产品一起提供，把危害信息传递给经营者和使用者。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认为说明书“网上能查”，不向供应单位索取</a:t>
            </a:r>
          </a:p>
          <a:p>
            <a:pPr>
              <a:spcAft>
                <a:spcPts val="1000"/>
              </a:spcAft>
            </a:pPr>
            <a:r>
              <a:rPr sz="1500">
                <a:solidFill>
                  <a:srgbClr val="222B33"/>
                </a:solidFill>
                <a:latin typeface="Microsoft YaHei"/>
              </a:rPr>
              <a:t>▪ 接收没有中文标签的进口试剂</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国内要求：中文一书一签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国际上有统一的化学品分类和标签制度</a:t>
            </a:r>
          </a:p>
          <a:p>
            <a:pPr>
              <a:spcAft>
                <a:spcPts val="1000"/>
              </a:spcAft>
            </a:pPr>
            <a:r>
              <a:rPr sz="2000">
                <a:solidFill>
                  <a:srgbClr val="222B33"/>
                </a:solidFill>
                <a:latin typeface="Microsoft YaHei"/>
              </a:rPr>
              <a:t>▪ 我国按 GB 30000 系列分类和贴标签</a:t>
            </a:r>
          </a:p>
          <a:p>
            <a:pPr>
              <a:spcAft>
                <a:spcPts val="1000"/>
              </a:spcAft>
            </a:pPr>
            <a:r>
              <a:rPr sz="2000">
                <a:solidFill>
                  <a:srgbClr val="222B33"/>
                </a:solidFill>
                <a:latin typeface="Microsoft YaHei"/>
              </a:rPr>
              <a:t>▪ 安全技术说明书和安全标签要有中文版</a:t>
            </a:r>
          </a:p>
          <a:p>
            <a:pPr>
              <a:spcAft>
                <a:spcPts val="1000"/>
              </a:spcAft>
            </a:pPr>
            <a:r>
              <a:rPr sz="2000">
                <a:solidFill>
                  <a:srgbClr val="222B33"/>
                </a:solidFill>
                <a:latin typeface="Microsoft YaHei"/>
              </a:rPr>
              <a:t>▪ 没有标签的试剂，不使用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联合国推行的全球化学品统一分类和标签制度统一了分类、标签和说明书的格式，各国的人看到的是同样的警示。我国按 GB 30000 系列分类，按 GB 15258-2009 编写标签，按 GB/T 16483-2008 编……</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只有外文标签也照常使用</a:t>
            </a:r>
          </a:p>
          <a:p>
            <a:pPr>
              <a:spcAft>
                <a:spcPts val="1000"/>
              </a:spcAft>
            </a:pPr>
            <a:r>
              <a:rPr sz="1500">
                <a:solidFill>
                  <a:srgbClr val="222B33"/>
                </a:solidFill>
                <a:latin typeface="Microsoft YaHei"/>
              </a:rPr>
              <a:t>▪ 说明书锁在办公室，实验室里查不到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使用单位：标签完好，说明书随手可得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使用单位和实验室保证标签完好</a:t>
            </a:r>
          </a:p>
          <a:p>
            <a:pPr>
              <a:spcAft>
                <a:spcPts val="1000"/>
              </a:spcAft>
            </a:pPr>
            <a:r>
              <a:rPr sz="2000">
                <a:solidFill>
                  <a:srgbClr val="222B33"/>
                </a:solidFill>
                <a:latin typeface="Microsoft YaHei"/>
              </a:rPr>
              <a:t>▪ 说明书放在实验室，随手可得</a:t>
            </a:r>
          </a:p>
          <a:p>
            <a:pPr>
              <a:spcAft>
                <a:spcPts val="1000"/>
              </a:spcAft>
            </a:pPr>
            <a:r>
              <a:rPr sz="2000">
                <a:solidFill>
                  <a:srgbClr val="222B33"/>
                </a:solidFill>
                <a:latin typeface="Microsoft YaHei"/>
              </a:rPr>
              <a:t>▪ 纸质或电子版都要能马上查到</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使用化学品的学校、学院和实验室，要保证每个容器上的标签完好、清晰，保证每种化学品的安全技术说明书在实验室里随手可得——纸质文件夹或电脑、平板上的电子版都可以，关键是出事时能马上查到。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说明书只存在某个人的电脑里</a:t>
            </a:r>
          </a:p>
          <a:p>
            <a:pPr>
              <a:spcAft>
                <a:spcPts val="1000"/>
              </a:spcAft>
            </a:pPr>
            <a:r>
              <a:rPr sz="1500">
                <a:solidFill>
                  <a:srgbClr val="222B33"/>
                </a:solidFill>
                <a:latin typeface="Microsoft YaHei"/>
              </a:rPr>
              <a:t>▪ 标签被试剂腐蚀也没人管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用前先看标签，详情再查SDS</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了解化学品，先看标签</a:t>
            </a:r>
          </a:p>
          <a:p>
            <a:pPr>
              <a:spcAft>
                <a:spcPts val="1000"/>
              </a:spcAft>
            </a:pPr>
            <a:r>
              <a:rPr sz="2000">
                <a:solidFill>
                  <a:srgbClr val="222B33"/>
                </a:solidFill>
                <a:latin typeface="Microsoft YaHei"/>
              </a:rPr>
              <a:t>▪ 标签是第一张危险说明</a:t>
            </a:r>
          </a:p>
          <a:p>
            <a:pPr>
              <a:spcAft>
                <a:spcPts val="1000"/>
              </a:spcAft>
            </a:pPr>
            <a:r>
              <a:rPr sz="2000">
                <a:solidFill>
                  <a:srgbClr val="222B33"/>
                </a:solidFill>
                <a:latin typeface="Microsoft YaHei"/>
              </a:rPr>
              <a:t>▪ 更详细的查安全技术说明书（SDS）</a:t>
            </a:r>
          </a:p>
          <a:p>
            <a:pPr>
              <a:spcAft>
                <a:spcPts val="1000"/>
              </a:spcAft>
            </a:pPr>
            <a:r>
              <a:rPr sz="2000">
                <a:solidFill>
                  <a:srgbClr val="222B33"/>
                </a:solidFill>
                <a:latin typeface="Microsoft YaHei"/>
              </a:rPr>
              <a:t>▪ 防护、急救、泄漏处理，说明书里都有</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使用一种试剂前，先看清标签上的名称、象形图和信号词，一眼就能知道它是什么类型的危险、有多危险。标签是“第一张危险说明”，但篇幅有限。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不看标签，凭瓶子颜色和位置拿试剂</a:t>
            </a:r>
          </a:p>
          <a:p>
            <a:pPr>
              <a:spcAft>
                <a:spcPts val="1000"/>
              </a:spcAft>
            </a:pPr>
            <a:r>
              <a:rPr sz="1500">
                <a:solidFill>
                  <a:srgbClr val="222B33"/>
                </a:solidFill>
                <a:latin typeface="Microsoft YaHei"/>
              </a:rPr>
              <a:t>▪ 只看标签名称，不看象形图和信号词</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安全标签上有什么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标签是说明书的浓缩版</a:t>
            </a:r>
          </a:p>
          <a:p>
            <a:pPr>
              <a:spcAft>
                <a:spcPts val="1000"/>
              </a:spcAft>
            </a:pPr>
            <a:r>
              <a:rPr sz="2000">
                <a:solidFill>
                  <a:srgbClr val="222B33"/>
                </a:solidFill>
                <a:latin typeface="Microsoft YaHei"/>
              </a:rPr>
              <a:t>▪ 名称、象形图、信号词、危险说明、防范说明</a:t>
            </a:r>
          </a:p>
          <a:p>
            <a:pPr>
              <a:spcAft>
                <a:spcPts val="1000"/>
              </a:spcAft>
            </a:pPr>
            <a:r>
              <a:rPr sz="2000">
                <a:solidFill>
                  <a:srgbClr val="222B33"/>
                </a:solidFill>
                <a:latin typeface="Microsoft YaHei"/>
              </a:rPr>
              <a:t>▪ 供应商标识、应急咨询电话、资料参阅提示</a:t>
            </a:r>
          </a:p>
          <a:p>
            <a:pPr>
              <a:spcAft>
                <a:spcPts val="1000"/>
              </a:spcAft>
            </a:pPr>
            <a:r>
              <a:rPr sz="2000">
                <a:solidFill>
                  <a:srgbClr val="222B33"/>
                </a:solidFill>
                <a:latin typeface="Microsoft YaHei"/>
              </a:rPr>
              <a:t>▪ 标签怎么写，按 GB 15258-2009</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 GB 15258-2009（以现行文本为准），化学品安全标签的要素包括：化学品标识（名称）、象形图、信号词、危险性说明、防范说明、供应商标识、应急咨询电话和资料参阅提示语（提示查阅安全技术说明书）。防范说明中包括……</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只认名称，不读危险说明和防范说明</a:t>
            </a:r>
          </a:p>
          <a:p>
            <a:pPr>
              <a:spcAft>
                <a:spcPts val="1000"/>
              </a:spcAft>
            </a:pPr>
            <a:r>
              <a:rPr sz="1500">
                <a:solidFill>
                  <a:srgbClr val="222B33"/>
                </a:solidFill>
                <a:latin typeface="Microsoft YaHei"/>
              </a:rPr>
              <a:t>▪ 不知道标签上有应急咨询电话</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象形图：红框白底黑图，共九种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象形图是红色菱形框、白底、黑色图形</a:t>
            </a:r>
          </a:p>
          <a:p>
            <a:pPr>
              <a:spcAft>
                <a:spcPts val="1000"/>
              </a:spcAft>
            </a:pPr>
            <a:r>
              <a:rPr sz="2000">
                <a:solidFill>
                  <a:srgbClr val="222B33"/>
                </a:solidFill>
                <a:latin typeface="Microsoft YaHei"/>
              </a:rPr>
              <a:t>▪ 一共九种，每种代表一类危害</a:t>
            </a:r>
          </a:p>
          <a:p>
            <a:pPr>
              <a:spcAft>
                <a:spcPts val="1000"/>
              </a:spcAft>
            </a:pPr>
            <a:r>
              <a:rPr sz="2000">
                <a:solidFill>
                  <a:srgbClr val="222B33"/>
                </a:solidFill>
                <a:latin typeface="Microsoft YaHei"/>
              </a:rPr>
              <a:t>▪ 九种都要认全</a:t>
            </a:r>
          </a:p>
          <a:p>
            <a:pPr>
              <a:spcAft>
                <a:spcPts val="1000"/>
              </a:spcAft>
            </a:pPr>
            <a:r>
              <a:rPr sz="2000">
                <a:solidFill>
                  <a:srgbClr val="222B33"/>
                </a:solidFill>
                <a:latin typeface="Microsoft YaHei"/>
              </a:rPr>
              <a:t>▪ 不管说什么语言，一眼就能认出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GB 30000 系列规定的危险象形图是红色边框的菱形，白色背景，中间是黑色图形，一共九种：爆炸弹、火焰、圆圈上方火焰、气瓶、腐蚀、骷髅和交叉骨、感叹号、健康危害（人形）、环境（枯树和死鱼）。</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只认识火焰和骷髅，其他象形图不认得</a:t>
            </a:r>
          </a:p>
          <a:p>
            <a:pPr>
              <a:spcAft>
                <a:spcPts val="1000"/>
              </a:spcAft>
            </a:pPr>
            <a:r>
              <a:rPr sz="1500">
                <a:solidFill>
                  <a:srgbClr val="222B33"/>
                </a:solidFill>
                <a:latin typeface="Microsoft YaHei"/>
              </a:rPr>
              <a:t>▪ 把黑底、黄底的其他标志当作象形图</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爆炸、易燃、氧化、气瓶、腐蚀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爆炸弹：爆炸物或不稳定物质</a:t>
            </a:r>
          </a:p>
          <a:p>
            <a:pPr>
              <a:spcAft>
                <a:spcPts val="1000"/>
              </a:spcAft>
            </a:pPr>
            <a:r>
              <a:rPr sz="2000">
                <a:solidFill>
                  <a:srgbClr val="222B33"/>
                </a:solidFill>
                <a:latin typeface="Microsoft YaHei"/>
              </a:rPr>
              <a:t>▪ 火焰：易燃；圆圈上方火焰：氧化性，会助燃</a:t>
            </a:r>
          </a:p>
          <a:p>
            <a:pPr>
              <a:spcAft>
                <a:spcPts val="1000"/>
              </a:spcAft>
            </a:pPr>
            <a:r>
              <a:rPr sz="2000">
                <a:solidFill>
                  <a:srgbClr val="222B33"/>
                </a:solidFill>
                <a:latin typeface="Microsoft YaHei"/>
              </a:rPr>
              <a:t>▪ 气瓶：加压气体</a:t>
            </a:r>
          </a:p>
          <a:p>
            <a:pPr>
              <a:spcAft>
                <a:spcPts val="1000"/>
              </a:spcAft>
            </a:pPr>
            <a:r>
              <a:rPr sz="2000">
                <a:solidFill>
                  <a:srgbClr val="222B33"/>
                </a:solidFill>
                <a:latin typeface="Microsoft YaHei"/>
              </a:rPr>
              <a:t>▪ 腐蚀：伤皮肤、伤眼睛、腐蚀金属</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表示理化危险的象形图：爆炸弹表示爆炸物、自反应物质等不稳定物质；火焰表示易燃（气体、液体、固体等）；圆圈上方的火焰表示氧化性物质，它能放出氧、引发或助长燃烧，所以氧化剂要远离可燃物；气瓶表示加压气体；腐蚀表示金属腐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把氧化性象形图当作易燃，混放氧化剂和可燃物</a:t>
            </a:r>
          </a:p>
          <a:p>
            <a:pPr>
              <a:spcAft>
                <a:spcPts val="1000"/>
              </a:spcAft>
            </a:pPr>
            <a:r>
              <a:rPr sz="1500">
                <a:solidFill>
                  <a:srgbClr val="222B33"/>
                </a:solidFill>
                <a:latin typeface="Microsoft YaHei"/>
              </a:rPr>
              <a:t>▪ 以为腐蚀图只针对金属，不戴护目镜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骷髅、感叹号、健康危害、环境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骷髅：急性毒性，千万别忽略</a:t>
            </a:r>
          </a:p>
          <a:p>
            <a:pPr>
              <a:spcAft>
                <a:spcPts val="1000"/>
              </a:spcAft>
            </a:pPr>
            <a:r>
              <a:rPr sz="2000">
                <a:solidFill>
                  <a:srgbClr val="222B33"/>
                </a:solidFill>
                <a:latin typeface="Microsoft YaHei"/>
              </a:rPr>
              <a:t>▪ 感叹号：刺激、致敏等较轻危害</a:t>
            </a:r>
          </a:p>
          <a:p>
            <a:pPr>
              <a:spcAft>
                <a:spcPts val="1000"/>
              </a:spcAft>
            </a:pPr>
            <a:r>
              <a:rPr sz="2000">
                <a:solidFill>
                  <a:srgbClr val="222B33"/>
                </a:solidFill>
                <a:latin typeface="Microsoft YaHei"/>
              </a:rPr>
              <a:t>▪ 人形图：致癌等严重的慢性健康危害</a:t>
            </a:r>
          </a:p>
          <a:p>
            <a:pPr>
              <a:spcAft>
                <a:spcPts val="1000"/>
              </a:spcAft>
            </a:pPr>
            <a:r>
              <a:rPr sz="2000">
                <a:solidFill>
                  <a:srgbClr val="222B33"/>
                </a:solidFill>
                <a:latin typeface="Microsoft YaHei"/>
              </a:rPr>
              <a:t>▪ 枯树死鱼：危害水生环境</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表示健康和环境危害的象形图：骷髅和交叉骨表示急性毒性（较高级别），少量接触就可能严重中毒；感叹号表示皮肤刺激、眼刺激、皮肤致敏、较低级别急性毒性等相对较轻的危害；人形图（胸部有星爆）表示致癌、致突变、生殖毒性、呼吸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以为感叹号“问题不大”，不做防护</a:t>
            </a:r>
          </a:p>
          <a:p>
            <a:pPr>
              <a:spcAft>
                <a:spcPts val="1000"/>
              </a:spcAft>
            </a:pPr>
            <a:r>
              <a:rPr sz="1500">
                <a:solidFill>
                  <a:srgbClr val="222B33"/>
                </a:solidFill>
                <a:latin typeface="Microsoft YaHei"/>
              </a:rPr>
              <a:t>▪ 没有骷髅图就当作无毒</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一物多险，每个象形图都要看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一种物质可能有好几种危险</a:t>
            </a:r>
          </a:p>
          <a:p>
            <a:pPr>
              <a:spcAft>
                <a:spcPts val="1000"/>
              </a:spcAft>
            </a:pPr>
            <a:r>
              <a:rPr sz="2000">
                <a:solidFill>
                  <a:srgbClr val="222B33"/>
                </a:solidFill>
                <a:latin typeface="Microsoft YaHei"/>
              </a:rPr>
              <a:t>▪ 不要只看第一个象形图</a:t>
            </a:r>
          </a:p>
          <a:p>
            <a:pPr>
              <a:spcAft>
                <a:spcPts val="1000"/>
              </a:spcAft>
            </a:pPr>
            <a:r>
              <a:rPr sz="2000">
                <a:solidFill>
                  <a:srgbClr val="222B33"/>
                </a:solidFill>
                <a:latin typeface="Microsoft YaHei"/>
              </a:rPr>
              <a:t>▪ 每个象形图对应一种防护</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很多化学品同时具有几种危害，例如既易燃又刺激，或者既腐蚀又有毒，标签上就会有几个象形图。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只看到火焰，忽视旁边的健康危害图</a:t>
            </a:r>
          </a:p>
          <a:p>
            <a:pPr>
              <a:spcAft>
                <a:spcPts val="1000"/>
              </a:spcAft>
            </a:pPr>
            <a:r>
              <a:rPr sz="1500">
                <a:solidFill>
                  <a:srgbClr val="222B33"/>
                </a:solidFill>
                <a:latin typeface="Microsoft YaHei"/>
              </a:rPr>
              <a:t>▪ 防护只针对一种危险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信号词：危险重于警告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信号词只有两个：“危险”和“警告”</a:t>
            </a:r>
          </a:p>
          <a:p>
            <a:pPr>
              <a:spcAft>
                <a:spcPts val="1000"/>
              </a:spcAft>
            </a:pPr>
            <a:r>
              <a:rPr sz="2000">
                <a:solidFill>
                  <a:srgbClr val="222B33"/>
                </a:solidFill>
                <a:latin typeface="Microsoft YaHei"/>
              </a:rPr>
              <a:t>▪ 它粗略表示危害的相对程度</a:t>
            </a:r>
          </a:p>
          <a:p>
            <a:pPr>
              <a:spcAft>
                <a:spcPts val="1000"/>
              </a:spcAft>
            </a:pPr>
            <a:r>
              <a:rPr sz="2000">
                <a:solidFill>
                  <a:srgbClr val="222B33"/>
                </a:solidFill>
                <a:latin typeface="Microsoft YaHei"/>
              </a:rPr>
              <a:t>▪ “危险”更严重，“警告”相对较轻</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标签上象形图旁边有信号词，只有两个：“危险”和“警告”，用来粗略表示危害的相对严重程度。“危险”用于较严重的危害类别，“警告”用于相对较轻的。一种化学品标签上只用一个信号词，有“危险”时就不再用“警告”。</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看到“警告”就以为没有危险</a:t>
            </a:r>
          </a:p>
          <a:p>
            <a:pPr>
              <a:spcAft>
                <a:spcPts val="1000"/>
              </a:spcAft>
            </a:pPr>
            <a:r>
              <a:rPr sz="1500">
                <a:solidFill>
                  <a:srgbClr val="222B33"/>
                </a:solidFill>
                <a:latin typeface="Microsoft YaHei"/>
              </a:rPr>
              <a:t>▪ 以为还有“注意”“小心”等其他信号词</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危险说明讲危害，防范说明讲做法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危险说明：这种化学品有什么危害</a:t>
            </a:r>
          </a:p>
          <a:p>
            <a:pPr>
              <a:spcAft>
                <a:spcPts val="1000"/>
              </a:spcAft>
            </a:pPr>
            <a:r>
              <a:rPr sz="2000">
                <a:solidFill>
                  <a:srgbClr val="222B33"/>
                </a:solidFill>
                <a:latin typeface="Microsoft YaHei"/>
              </a:rPr>
              <a:t>▪ 防范说明：怎样安全使用</a:t>
            </a:r>
          </a:p>
          <a:p>
            <a:pPr>
              <a:spcAft>
                <a:spcPts val="1000"/>
              </a:spcAft>
            </a:pPr>
            <a:r>
              <a:rPr sz="2000">
                <a:solidFill>
                  <a:srgbClr val="222B33"/>
                </a:solidFill>
                <a:latin typeface="Microsoft YaHei"/>
              </a:rPr>
              <a:t>▪ 预防、应急、储存、废弃都写在上面</a:t>
            </a:r>
          </a:p>
          <a:p>
            <a:pPr>
              <a:spcAft>
                <a:spcPts val="1000"/>
              </a:spcAft>
            </a:pPr>
            <a:r>
              <a:rPr sz="2000">
                <a:solidFill>
                  <a:srgbClr val="222B33"/>
                </a:solidFill>
                <a:latin typeface="Microsoft YaHei"/>
              </a:rPr>
              <a:t>▪ 能用低毒的，就别用高毒的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危险说明用简短的句子描述化学品的危害性质和程度，例如“高度易燃液体和蒸气”“吞咽有害”。防范说明告诉你怎样预防接触、发生事故怎样处置（包括急救）、怎样储存和废弃。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只看象形图，不读防范说明</a:t>
            </a:r>
          </a:p>
          <a:p>
            <a:pPr>
              <a:spcAft>
                <a:spcPts val="1000"/>
              </a:spcAft>
            </a:pPr>
            <a:r>
              <a:rPr sz="1500">
                <a:solidFill>
                  <a:srgbClr val="222B33"/>
                </a:solidFill>
                <a:latin typeface="Microsoft YaHei"/>
              </a:rPr>
              <a:t>▪ 有低毒替代品仍习惯性使用高毒试剂</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运输标志和象形图是两套体系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运输标志和象形图是两套体系</a:t>
            </a:r>
          </a:p>
          <a:p>
            <a:pPr>
              <a:spcAft>
                <a:spcPts val="1000"/>
              </a:spcAft>
            </a:pPr>
            <a:r>
              <a:rPr sz="2000">
                <a:solidFill>
                  <a:srgbClr val="222B33"/>
                </a:solidFill>
                <a:latin typeface="Microsoft YaHei"/>
              </a:rPr>
              <a:t>▪ 运输标志：彩色底，下角有类别号，贴在货包上</a:t>
            </a:r>
          </a:p>
          <a:p>
            <a:pPr>
              <a:spcAft>
                <a:spcPts val="1000"/>
              </a:spcAft>
            </a:pPr>
            <a:r>
              <a:rPr sz="2000">
                <a:solidFill>
                  <a:srgbClr val="222B33"/>
                </a:solidFill>
                <a:latin typeface="Microsoft YaHei"/>
              </a:rPr>
              <a:t>▪ 象形图：白底红框，在瓶签和说明书上</a:t>
            </a:r>
          </a:p>
          <a:p>
            <a:pPr>
              <a:spcAft>
                <a:spcPts val="1000"/>
              </a:spcAft>
            </a:pPr>
            <a:r>
              <a:rPr sz="2000">
                <a:solidFill>
                  <a:srgbClr val="222B33"/>
                </a:solidFill>
                <a:latin typeface="Microsoft YaHei"/>
              </a:rPr>
              <a:t>▪ 寄送危险品，交有资质的承运方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危险货物运输标志（按 GB 190-2009，以现行文本为准）是彩色底的菱形，下角标有类别号，贴在运输包装件上；化学品安全标签上的象形图（按 GB 30000 系列）是白底红框的菱形，在容器标签和安全技术说明书上。两……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把运输标志贴到试剂瓶上当标签</a:t>
            </a:r>
          </a:p>
          <a:p>
            <a:pPr>
              <a:spcAft>
                <a:spcPts val="1000"/>
              </a:spcAft>
            </a:pPr>
            <a:r>
              <a:rPr sz="1500">
                <a:solidFill>
                  <a:srgbClr val="222B33"/>
                </a:solidFill>
                <a:latin typeface="Microsoft YaHei"/>
              </a:rPr>
              <a:t>▪ 用普通快递寄送化学品</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国外四色菱形只作了解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有的进口资料上印有四色菱形标识</a:t>
            </a:r>
          </a:p>
          <a:p>
            <a:pPr>
              <a:spcAft>
                <a:spcPts val="1000"/>
              </a:spcAft>
            </a:pPr>
            <a:r>
              <a:rPr sz="2000">
                <a:solidFill>
                  <a:srgbClr val="222B33"/>
                </a:solidFill>
                <a:latin typeface="Microsoft YaHei"/>
              </a:rPr>
              <a:t>▪ 蓝健康、红易燃、黄反应性、白特殊危害</a:t>
            </a:r>
          </a:p>
          <a:p>
            <a:pPr>
              <a:spcAft>
                <a:spcPts val="1000"/>
              </a:spcAft>
            </a:pPr>
            <a:r>
              <a:rPr sz="2000">
                <a:solidFill>
                  <a:srgbClr val="222B33"/>
                </a:solidFill>
                <a:latin typeface="Microsoft YaHei"/>
              </a:rPr>
              <a:t>▪ 这是国外标识，只作了解</a:t>
            </a:r>
          </a:p>
          <a:p>
            <a:pPr>
              <a:spcAft>
                <a:spcPts val="1000"/>
              </a:spcAft>
            </a:pPr>
            <a:r>
              <a:rPr sz="2000">
                <a:solidFill>
                  <a:srgbClr val="222B33"/>
                </a:solidFill>
                <a:latin typeface="Microsoft YaHei"/>
              </a:rPr>
              <a:t>▪ 国内标签看象形图和信号词</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部分进口试剂的资料或国外实验室里能看到一种四色菱形标识：蓝色表示健康危害，红色表示易燃性，黄色表示反应性，白色写特殊危害（如遇水剧烈反应），格内用数字表示程度。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用四色菱形代替中文安全标签</a:t>
            </a:r>
          </a:p>
          <a:p>
            <a:pPr>
              <a:spcAft>
                <a:spcPts val="1000"/>
              </a:spcAft>
            </a:pPr>
            <a:r>
              <a:rPr sz="1500">
                <a:solidFill>
                  <a:srgbClr val="222B33"/>
                </a:solidFill>
                <a:latin typeface="Microsoft YaHei"/>
              </a:rPr>
              <a:t>▪ 按国外标识的数字判断防护等级</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原装标签不撕不改，坏了及时补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原装标签由生产厂家贴好，保持完好</a:t>
            </a:r>
          </a:p>
          <a:p>
            <a:pPr>
              <a:spcAft>
                <a:spcPts val="1000"/>
              </a:spcAft>
            </a:pPr>
            <a:r>
              <a:rPr sz="2000">
                <a:solidFill>
                  <a:srgbClr val="222B33"/>
                </a:solidFill>
                <a:latin typeface="Microsoft YaHei"/>
              </a:rPr>
              <a:t>▪ 不能撕、不能涂改、不能覆盖</a:t>
            </a:r>
          </a:p>
          <a:p>
            <a:pPr>
              <a:spcAft>
                <a:spcPts val="1000"/>
              </a:spcAft>
            </a:pPr>
            <a:r>
              <a:rPr sz="2000">
                <a:solidFill>
                  <a:srgbClr val="222B33"/>
                </a:solidFill>
                <a:latin typeface="Microsoft YaHei"/>
              </a:rPr>
              <a:t>▪ 模糊、脱落，确认无误后及时补贴</a:t>
            </a:r>
          </a:p>
          <a:p>
            <a:pPr>
              <a:spcAft>
                <a:spcPts val="1000"/>
              </a:spcAft>
            </a:pPr>
            <a:r>
              <a:rPr sz="2000">
                <a:solidFill>
                  <a:srgbClr val="222B33"/>
                </a:solidFill>
                <a:latin typeface="Microsoft YaHei"/>
              </a:rPr>
              <a:t>▪ 确认不了内容的不用，上报处理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原装容器上的标签由生产或供应单位贴好，使用中要保持完好，不能撕掉、涂改或用别的标签覆盖。取用时标签朝向手心，防止试剂流下腐蚀标签。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在旧标签上直接涂改写新名称</a:t>
            </a:r>
          </a:p>
          <a:p>
            <a:pPr>
              <a:spcAft>
                <a:spcPts val="1000"/>
              </a:spcAft>
            </a:pPr>
            <a:r>
              <a:rPr sz="1500">
                <a:solidFill>
                  <a:srgbClr val="222B33"/>
                </a:solidFill>
                <a:latin typeface="Microsoft YaHei"/>
              </a:rPr>
              <a:t>▪ 凭记忆给脱落标签的瓶子补签</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分装容器也要贴标签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分装到洗瓶、小瓶，新容器也要贴签</a:t>
            </a:r>
          </a:p>
          <a:p>
            <a:pPr>
              <a:spcAft>
                <a:spcPts val="1000"/>
              </a:spcAft>
            </a:pPr>
            <a:r>
              <a:rPr sz="2000">
                <a:solidFill>
                  <a:srgbClr val="222B33"/>
                </a:solidFill>
                <a:latin typeface="Microsoft YaHei"/>
              </a:rPr>
              <a:t>▪ 写明名称、浓度、危害和日期</a:t>
            </a:r>
          </a:p>
          <a:p>
            <a:pPr>
              <a:spcAft>
                <a:spcPts val="1000"/>
              </a:spcAft>
            </a:pPr>
            <a:r>
              <a:rPr sz="2000">
                <a:solidFill>
                  <a:srgbClr val="222B33"/>
                </a:solidFill>
                <a:latin typeface="Microsoft YaHei"/>
              </a:rPr>
              <a:t>▪ 绝不能用饮料瓶装化学品</a:t>
            </a:r>
          </a:p>
          <a:p>
            <a:pPr>
              <a:spcAft>
                <a:spcPts val="1000"/>
              </a:spcAft>
            </a:pPr>
            <a:r>
              <a:rPr sz="2000">
                <a:solidFill>
                  <a:srgbClr val="222B33"/>
                </a:solidFill>
                <a:latin typeface="Microsoft YaHei"/>
              </a:rPr>
              <a:t>▪ 无标签、看不清的，一律不用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把化学品从原瓶分装到洗瓶、小试剂瓶、烧杯等容器里，新容器（二级容器）也要贴标签，写明化学品名称、浓度、主要危害（可画象形图）、日期和分装人，不能靠记忆。分装出来的小瓶最容易出事，检查时台面上的洗瓶会逐个查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洗瓶装了溶剂不贴签</a:t>
            </a:r>
          </a:p>
          <a:p>
            <a:pPr>
              <a:spcAft>
                <a:spcPts val="1000"/>
              </a:spcAft>
            </a:pPr>
            <a:r>
              <a:rPr sz="1500">
                <a:solidFill>
                  <a:srgbClr val="222B33"/>
                </a:solidFill>
                <a:latin typeface="Microsoft YaHei"/>
              </a:rPr>
              <a:t>▪ 用矿泉水瓶分装试剂</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自配溶液马上贴签，写全信息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配好的溶液马上贴标签</a:t>
            </a:r>
          </a:p>
          <a:p>
            <a:pPr>
              <a:spcAft>
                <a:spcPts val="1000"/>
              </a:spcAft>
            </a:pPr>
            <a:r>
              <a:rPr sz="2000">
                <a:solidFill>
                  <a:srgbClr val="222B33"/>
                </a:solidFill>
                <a:latin typeface="Microsoft YaHei"/>
              </a:rPr>
              <a:t>▪ 名称、浓度、危害、日期、配制人</a:t>
            </a:r>
          </a:p>
          <a:p>
            <a:pPr>
              <a:spcAft>
                <a:spcPts val="1000"/>
              </a:spcAft>
            </a:pPr>
            <a:r>
              <a:rPr sz="2000">
                <a:solidFill>
                  <a:srgbClr val="222B33"/>
                </a:solidFill>
                <a:latin typeface="Microsoft YaHei"/>
              </a:rPr>
              <a:t>▪ 缓冲液还要写 pH</a:t>
            </a:r>
          </a:p>
          <a:p>
            <a:pPr>
              <a:spcAft>
                <a:spcPts val="1000"/>
              </a:spcAft>
            </a:pPr>
            <a:r>
              <a:rPr sz="2000">
                <a:solidFill>
                  <a:srgbClr val="222B33"/>
                </a:solidFill>
                <a:latin typeface="Microsoft YaHei"/>
              </a:rPr>
              <a:t>▪ 无名瓶子没人敢用，也没法处理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自己配制的溶液、标准溶液和缓冲液，配好后马上贴标签，再转入试剂瓶按要求存放。标签写明名称、浓度、主要危害、配制日期和配制人（使用人），缓冲液还要写 pH。动手之前先弄清容器里装的是什么，来历不明的瓶子会带来各种风险。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配好溶液“等会儿再贴”，结果忘了</a:t>
            </a:r>
          </a:p>
          <a:p>
            <a:pPr>
              <a:spcAft>
                <a:spcPts val="1000"/>
              </a:spcAft>
            </a:pPr>
            <a:r>
              <a:rPr sz="1500">
                <a:solidFill>
                  <a:srgbClr val="222B33"/>
                </a:solidFill>
                <a:latin typeface="Microsoft YaHei"/>
              </a:rPr>
              <a:t>▪ 标签只写“A液”“1号”</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写全称，不写缩写代号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只写缩写或代号，别人可能看不懂</a:t>
            </a:r>
          </a:p>
          <a:p>
            <a:pPr>
              <a:spcAft>
                <a:spcPts val="1000"/>
              </a:spcAft>
            </a:pPr>
            <a:r>
              <a:rPr sz="2000">
                <a:solidFill>
                  <a:srgbClr val="222B33"/>
                </a:solidFill>
                <a:latin typeface="Microsoft YaHei"/>
              </a:rPr>
              <a:t>▪ 同一个缩写可能是致癌物，也可能是溶剂</a:t>
            </a:r>
          </a:p>
          <a:p>
            <a:pPr>
              <a:spcAft>
                <a:spcPts val="1000"/>
              </a:spcAft>
            </a:pPr>
            <a:r>
              <a:rPr sz="2000">
                <a:solidFill>
                  <a:srgbClr val="222B33"/>
                </a:solidFill>
                <a:latin typeface="Microsoft YaHei"/>
              </a:rPr>
              <a:t>▪ 写全称，别人也方便查说明书</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标签上要写化学品的中文全称（或规范名称），不要只写缩写、分子式简写或课题组内部代号。同一个缩写在不同领域可能代表完全不同的物质，有的是致癌物，有的是普通溶剂，别人无法判断危害。</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只写英文缩写或自编代号</a:t>
            </a:r>
          </a:p>
          <a:p>
            <a:pPr>
              <a:spcAft>
                <a:spcPts val="1000"/>
              </a:spcAft>
            </a:pPr>
            <a:r>
              <a:rPr sz="1500">
                <a:solidFill>
                  <a:srgbClr val="222B33"/>
                </a:solidFill>
                <a:latin typeface="Microsoft YaHei"/>
              </a:rPr>
              <a:t>▪ 用颜色、记号代替名称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所有容器都要标，没有例外</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每个容器都要标清楚，谁看都明白</a:t>
            </a:r>
          </a:p>
          <a:p>
            <a:pPr>
              <a:spcAft>
                <a:spcPts val="1000"/>
              </a:spcAft>
            </a:pPr>
            <a:r>
              <a:rPr sz="2000">
                <a:solidFill>
                  <a:srgbClr val="222B33"/>
                </a:solidFill>
                <a:latin typeface="Microsoft YaHei"/>
              </a:rPr>
              <a:t>▪ 自己当天用的洗瓶也要贴标签</a:t>
            </a:r>
          </a:p>
          <a:p>
            <a:pPr>
              <a:spcAft>
                <a:spcPts val="1000"/>
              </a:spcAft>
            </a:pPr>
            <a:r>
              <a:rPr sz="2000">
                <a:solidFill>
                  <a:srgbClr val="222B33"/>
                </a:solidFill>
                <a:latin typeface="Microsoft YaHei"/>
              </a:rPr>
              <a:t>▪ 人走了瓶还在，标签替你说话</a:t>
            </a:r>
          </a:p>
          <a:p>
            <a:pPr>
              <a:spcAft>
                <a:spcPts val="1000"/>
              </a:spcAft>
            </a:pPr>
            <a:r>
              <a:rPr sz="2000">
                <a:solidFill>
                  <a:srgbClr val="222B33"/>
                </a:solidFill>
                <a:latin typeface="Microsoft YaHei"/>
              </a:rPr>
              <a:t>▪ 写清是什么、谁的、哪天的，放指定柜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里每个盛装化学品的容器都必须正确标识，让任何人一看就明白。有的国外规定对“本人当班立即使用”的容器有免贴情形，在国内高校不适用：所有容器都要有标签。因为人会离开，瓶子还在，标签替你告诉别人这是什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“只是自己用一下”就不贴签</a:t>
            </a:r>
          </a:p>
          <a:p>
            <a:pPr>
              <a:spcAft>
                <a:spcPts val="1000"/>
              </a:spcAft>
            </a:pPr>
            <a:r>
              <a:rPr sz="1500">
                <a:solidFill>
                  <a:srgbClr val="222B33"/>
                </a:solidFill>
                <a:latin typeface="Microsoft YaHei"/>
              </a:rPr>
              <a:t>▪ 实验结束后把无标签容器留给别人处理</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使用中的容器和过夜样品也要标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很多溶液看上去都像水</a:t>
            </a:r>
          </a:p>
          <a:p>
            <a:pPr>
              <a:spcAft>
                <a:spcPts val="1000"/>
              </a:spcAft>
            </a:pPr>
            <a:r>
              <a:rPr sz="2000">
                <a:solidFill>
                  <a:srgbClr val="222B33"/>
                </a:solidFill>
                <a:latin typeface="Microsoft YaHei"/>
              </a:rPr>
              <a:t>▪ 使用中的烧杯、锥形瓶临时贴标签</a:t>
            </a:r>
          </a:p>
          <a:p>
            <a:pPr>
              <a:spcAft>
                <a:spcPts val="1000"/>
              </a:spcAft>
            </a:pPr>
            <a:r>
              <a:rPr sz="2000">
                <a:solidFill>
                  <a:srgbClr val="222B33"/>
                </a:solidFill>
                <a:latin typeface="Microsoft YaHei"/>
              </a:rPr>
              <a:t>▪ 走开一小会儿，也不留无标签溶液</a:t>
            </a:r>
          </a:p>
          <a:p>
            <a:pPr>
              <a:spcAft>
                <a:spcPts val="1000"/>
              </a:spcAft>
            </a:pPr>
            <a:r>
              <a:rPr sz="2000">
                <a:solidFill>
                  <a:srgbClr val="222B33"/>
                </a:solidFill>
                <a:latin typeface="Microsoft YaHei"/>
              </a:rPr>
              <a:t>▪ 过夜样品贴签，放指定位置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很多溶液和溶剂无色透明，看上去都像水。实验进行中的烧杯、锥形瓶，也要用标签纸或记号笔临时标明内容，否则自己或别人很容易拿混。</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几个烧杯装着不同无色溶液，都没标记</a:t>
            </a:r>
          </a:p>
          <a:p>
            <a:pPr>
              <a:spcAft>
                <a:spcPts val="1000"/>
              </a:spcAft>
            </a:pPr>
            <a:r>
              <a:rPr sz="1500">
                <a:solidFill>
                  <a:srgbClr val="222B33"/>
                </a:solidFill>
                <a:latin typeface="Microsoft YaHei"/>
              </a:rPr>
              <a:t>▪ 过夜样品放在公共台面，无人认领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工作场所设警示标识和告知卡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每个盛装容器都要有清楚的标签</a:t>
            </a:r>
          </a:p>
          <a:p>
            <a:pPr>
              <a:spcAft>
                <a:spcPts val="1000"/>
              </a:spcAft>
            </a:pPr>
            <a:r>
              <a:rPr sz="2000">
                <a:solidFill>
                  <a:srgbClr val="222B33"/>
                </a:solidFill>
                <a:latin typeface="Microsoft YaHei"/>
              </a:rPr>
              <a:t>▪ 工作场所设警示标识和危害告知卡</a:t>
            </a:r>
          </a:p>
          <a:p>
            <a:pPr>
              <a:spcAft>
                <a:spcPts val="1000"/>
              </a:spcAft>
            </a:pPr>
            <a:r>
              <a:rPr sz="2000">
                <a:solidFill>
                  <a:srgbClr val="222B33"/>
                </a:solidFill>
                <a:latin typeface="Microsoft YaHei"/>
              </a:rPr>
              <a:t>▪ 负责人如实告知危害和防护办法</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除了容器标签，使用有毒有害化学品的工作场所还要在醒目位置设置警示标识和危害告知卡，写明化学品名称、危害、防护措施和应急处置方法（按职业病防治相关规定和本校要求）。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告知卡内容多年不更新</a:t>
            </a:r>
          </a:p>
          <a:p>
            <a:pPr>
              <a:spcAft>
                <a:spcPts val="1000"/>
              </a:spcAft>
            </a:pPr>
            <a:r>
              <a:rPr sz="1500">
                <a:solidFill>
                  <a:srgbClr val="222B33"/>
                </a:solidFill>
                <a:latin typeface="Microsoft YaHei"/>
              </a:rPr>
              <a:t>▪ 新成员进实验室不做危害告知</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教训：到货分装没看说明书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案例：一瓶特殊试剂深夜送到</a:t>
            </a:r>
          </a:p>
          <a:p>
            <a:pPr>
              <a:spcAft>
                <a:spcPts val="1000"/>
              </a:spcAft>
            </a:pPr>
            <a:r>
              <a:rPr sz="2000">
                <a:solidFill>
                  <a:srgbClr val="222B33"/>
                </a:solidFill>
                <a:latin typeface="Microsoft YaHei"/>
              </a:rPr>
              <a:t>▪ 第二天直接分装，没看说明书</a:t>
            </a:r>
          </a:p>
          <a:p>
            <a:pPr>
              <a:spcAft>
                <a:spcPts val="1000"/>
              </a:spcAft>
            </a:pPr>
            <a:r>
              <a:rPr sz="2000">
                <a:solidFill>
                  <a:srgbClr val="222B33"/>
                </a:solidFill>
                <a:latin typeface="Microsoft YaHei"/>
              </a:rPr>
              <a:t>▪ 一天多后出现严重接触性皮炎：它是强致敏物</a:t>
            </a:r>
          </a:p>
          <a:p>
            <a:pPr>
              <a:spcAft>
                <a:spcPts val="1000"/>
              </a:spcAft>
            </a:pPr>
            <a:r>
              <a:rPr sz="2000">
                <a:solidFill>
                  <a:srgbClr val="222B33"/>
                </a:solidFill>
                <a:latin typeface="Microsoft YaHei"/>
              </a:rPr>
              <a:t>▪ 收货和分装，最容易漏掉告知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一个案例：一瓶特殊试剂深夜送到实验室，第二天就被直接分装使用，没有人查看随货的说明书。一天多后，操作者出现严重的接触性皮炎——原来它是强致敏物，需要专用的防护手套和操作方式。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新试剂到货直接用，不看说明书</a:t>
            </a:r>
          </a:p>
          <a:p>
            <a:pPr>
              <a:spcAft>
                <a:spcPts val="1000"/>
              </a:spcAft>
            </a:pPr>
            <a:r>
              <a:rPr sz="1500">
                <a:solidFill>
                  <a:srgbClr val="222B33"/>
                </a:solidFill>
                <a:latin typeface="Microsoft YaHei"/>
              </a:rPr>
              <a:t>▪ 分装时只写名称，不写危害</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靠培训和信息共享，人人会读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人人会读，靠正式培训，也靠信息共享</a:t>
            </a:r>
          </a:p>
          <a:p>
            <a:pPr>
              <a:spcAft>
                <a:spcPts val="1000"/>
              </a:spcAft>
            </a:pPr>
            <a:r>
              <a:rPr sz="2000">
                <a:solidFill>
                  <a:srgbClr val="222B33"/>
                </a:solidFill>
                <a:latin typeface="Microsoft YaHei"/>
              </a:rPr>
              <a:t>▪ 缺分装标签？台边备好标签模板</a:t>
            </a:r>
          </a:p>
          <a:p>
            <a:pPr>
              <a:spcAft>
                <a:spcPts val="1000"/>
              </a:spcAft>
            </a:pPr>
            <a:r>
              <a:rPr sz="2000">
                <a:solidFill>
                  <a:srgbClr val="222B33"/>
                </a:solidFill>
                <a:latin typeface="Microsoft YaHei"/>
              </a:rPr>
              <a:t>▪ 说明书过期？新购入时同步更新</a:t>
            </a:r>
          </a:p>
          <a:p>
            <a:pPr>
              <a:spcAft>
                <a:spcPts val="1000"/>
              </a:spcAft>
            </a:pPr>
            <a:r>
              <a:rPr sz="2000">
                <a:solidFill>
                  <a:srgbClr val="222B33"/>
                </a:solidFill>
                <a:latin typeface="Microsoft YaHei"/>
              </a:rPr>
              <a:t>▪ 培训记内容和考核；外来人员进门先告知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让每个人都会读这门安全语言，一靠正式培训（入室安全培训和化学品专项培训），二靠日常信息共享（组会提醒、交接说明、更新告知卡）。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培训只签到，不考核</a:t>
            </a:r>
          </a:p>
          <a:p>
            <a:pPr>
              <a:spcAft>
                <a:spcPts val="1000"/>
              </a:spcAft>
            </a:pPr>
            <a:r>
              <a:rPr sz="1500">
                <a:solidFill>
                  <a:srgbClr val="222B33"/>
                </a:solidFill>
                <a:latin typeface="Microsoft YaHei"/>
              </a:rPr>
              <a:t>▪ 外来维修人员直接进实验室作业</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下列哪一项不属于 GB 15258-2009 规定的化学品安全标签要素？</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象形图</a:t>
            </a:r>
          </a:p>
          <a:p>
            <a:pPr algn="l"/>
            <a:r>
              <a:rPr sz="1500" b="0">
                <a:solidFill>
                  <a:srgbClr val="222B33"/>
                </a:solidFill>
                <a:latin typeface="Microsoft YaHei"/>
              </a:rPr>
              <a:t>B. 信号词</a:t>
            </a:r>
          </a:p>
          <a:p>
            <a:pPr algn="l"/>
            <a:r>
              <a:rPr sz="1500" b="0">
                <a:solidFill>
                  <a:srgbClr val="222B33"/>
                </a:solidFill>
                <a:latin typeface="Microsoft YaHei"/>
              </a:rPr>
              <a:t>C. 应急咨询电话</a:t>
            </a:r>
          </a:p>
          <a:p>
            <a:pPr algn="l"/>
            <a:r>
              <a:rPr sz="1500" b="0">
                <a:solidFill>
                  <a:srgbClr val="222B33"/>
                </a:solidFill>
                <a:latin typeface="Microsoft YaHei"/>
              </a:rPr>
              <a:t>D. 产品价格</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化学品安全标签上的信号词有：</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危险、警告</a:t>
            </a:r>
          </a:p>
          <a:p>
            <a:pPr algn="l"/>
            <a:r>
              <a:rPr sz="1500" b="0">
                <a:solidFill>
                  <a:srgbClr val="222B33"/>
                </a:solidFill>
                <a:latin typeface="Microsoft YaHei"/>
              </a:rPr>
              <a:t>B. 危险、注意、小心</a:t>
            </a:r>
          </a:p>
          <a:p>
            <a:pPr algn="l"/>
            <a:r>
              <a:rPr sz="1500" b="0">
                <a:solidFill>
                  <a:srgbClr val="222B33"/>
                </a:solidFill>
                <a:latin typeface="Microsoft YaHei"/>
              </a:rPr>
              <a:t>C. 剧毒、有毒、低毒</a:t>
            </a:r>
          </a:p>
          <a:p>
            <a:pPr algn="l"/>
            <a:r>
              <a:rPr sz="1500" b="0">
                <a:solidFill>
                  <a:srgbClr val="222B33"/>
                </a:solidFill>
                <a:latin typeface="Microsoft YaHei"/>
              </a:rPr>
              <a:t>D. 一级、二级</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标签上“圆圈上方火焰”的象形图表示：</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易燃</a:t>
            </a:r>
          </a:p>
          <a:p>
            <a:pPr algn="l"/>
            <a:r>
              <a:rPr sz="1500" b="0">
                <a:solidFill>
                  <a:srgbClr val="222B33"/>
                </a:solidFill>
                <a:latin typeface="Microsoft YaHei"/>
              </a:rPr>
              <a:t>B. 氧化性</a:t>
            </a:r>
          </a:p>
          <a:p>
            <a:pPr algn="l"/>
            <a:r>
              <a:rPr sz="1500" b="0">
                <a:solidFill>
                  <a:srgbClr val="222B33"/>
                </a:solidFill>
                <a:latin typeface="Microsoft YaHei"/>
              </a:rPr>
              <a:t>C. 爆炸</a:t>
            </a:r>
          </a:p>
          <a:p>
            <a:pPr algn="l"/>
            <a:r>
              <a:rPr sz="1500" b="0">
                <a:solidFill>
                  <a:srgbClr val="222B33"/>
                </a:solidFill>
                <a:latin typeface="Microsoft YaHei"/>
              </a:rPr>
              <a:t>D. 加压气体</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判断：自己当天要用的洗瓶装了溶剂，用完就倒掉，可以不贴标签。</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判断：标签上可以只写课题组内部的缩写，大家都知道是什么。</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简答：自配溶液的标签至少要写哪些信息？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危害告知是安全的共同语言</a:t>
            </a:r>
          </a:p>
          <a:p>
            <a:pPr>
              <a:spcAft>
                <a:spcPts val="800"/>
              </a:spcAft>
            </a:pPr>
            <a:r>
              <a:rPr sz="1500">
                <a:solidFill>
                  <a:srgbClr val="FFFFFF"/>
                </a:solidFill>
                <a:latin typeface="Microsoft YaHei"/>
              </a:rPr>
              <a:t>▪ K2  可能接触的人都有权知道</a:t>
            </a:r>
          </a:p>
          <a:p>
            <a:pPr>
              <a:spcAft>
                <a:spcPts val="800"/>
              </a:spcAft>
            </a:pPr>
            <a:r>
              <a:rPr sz="1500">
                <a:solidFill>
                  <a:srgbClr val="FFFFFF"/>
                </a:solidFill>
                <a:latin typeface="Microsoft YaHei"/>
              </a:rPr>
              <a:t>▪ K3  生产进口单位：评估危害，配齐一书一签</a:t>
            </a:r>
          </a:p>
          <a:p>
            <a:pPr>
              <a:spcAft>
                <a:spcPts val="800"/>
              </a:spcAft>
            </a:pPr>
            <a:r>
              <a:rPr sz="1500">
                <a:solidFill>
                  <a:srgbClr val="FFFFFF"/>
                </a:solidFill>
                <a:latin typeface="Microsoft YaHei"/>
              </a:rPr>
              <a:t>▪ K4  国内要求：中文一书一签</a:t>
            </a:r>
          </a:p>
          <a:p>
            <a:pPr>
              <a:spcAft>
                <a:spcPts val="800"/>
              </a:spcAft>
            </a:pPr>
            <a:r>
              <a:rPr sz="1500">
                <a:solidFill>
                  <a:srgbClr val="FFFFFF"/>
                </a:solidFill>
                <a:latin typeface="Microsoft YaHei"/>
              </a:rPr>
              <a:t>▪ K5  使用单位：标签完好，说明书随手可得</a:t>
            </a:r>
          </a:p>
          <a:p>
            <a:pPr>
              <a:spcAft>
                <a:spcPts val="800"/>
              </a:spcAft>
            </a:pPr>
            <a:r>
              <a:rPr sz="1500">
                <a:solidFill>
                  <a:srgbClr val="FFFFFF"/>
                </a:solidFill>
                <a:latin typeface="Microsoft YaHei"/>
              </a:rPr>
              <a:t>▪ K6  用前先看标签，详情再查SDS</a:t>
            </a:r>
          </a:p>
          <a:p>
            <a:pPr>
              <a:spcAft>
                <a:spcPts val="800"/>
              </a:spcAft>
            </a:pPr>
            <a:r>
              <a:rPr sz="1500">
                <a:solidFill>
                  <a:srgbClr val="FFFFFF"/>
                </a:solidFill>
                <a:latin typeface="Microsoft YaHei"/>
              </a:rPr>
              <a:t>▪ K7  安全标签上有什么</a:t>
            </a:r>
          </a:p>
          <a:p>
            <a:pPr>
              <a:spcAft>
                <a:spcPts val="800"/>
              </a:spcAft>
            </a:pPr>
            <a:r>
              <a:rPr sz="1500">
                <a:solidFill>
                  <a:srgbClr val="FFFFFF"/>
                </a:solidFill>
                <a:latin typeface="Microsoft YaHei"/>
              </a:rPr>
              <a:t>▪ K8  象形图：红框白底黑图，共九种</a:t>
            </a:r>
          </a:p>
          <a:p>
            <a:pPr>
              <a:spcAft>
                <a:spcPts val="800"/>
              </a:spcAft>
            </a:pPr>
            <a:r>
              <a:rPr sz="1500">
                <a:solidFill>
                  <a:srgbClr val="FFFFFF"/>
                </a:solidFill>
                <a:latin typeface="Microsoft YaHei"/>
              </a:rPr>
              <a:t>▪ K9  爆炸、易燃、氧化、气瓶、腐蚀</a:t>
            </a:r>
          </a:p>
          <a:p>
            <a:pPr>
              <a:spcAft>
                <a:spcPts val="800"/>
              </a:spcAft>
            </a:pPr>
            <a:r>
              <a:rPr sz="1500">
                <a:solidFill>
                  <a:srgbClr val="FFFFFF"/>
                </a:solidFill>
                <a:latin typeface="Microsoft YaHei"/>
              </a:rPr>
              <a:t>▪ K10  骷髅、感叹号、健康危害、环境</a:t>
            </a:r>
          </a:p>
          <a:p>
            <a:pPr>
              <a:spcAft>
                <a:spcPts val="800"/>
              </a:spcAft>
            </a:pPr>
            <a:r>
              <a:rPr sz="1500">
                <a:solidFill>
                  <a:srgbClr val="FFFFFF"/>
                </a:solidFill>
                <a:latin typeface="Microsoft YaHei"/>
              </a:rPr>
              <a:t>▪ K11  一物多险，每个象形图都要看</a:t>
            </a:r>
          </a:p>
          <a:p>
            <a:pPr>
              <a:spcAft>
                <a:spcPts val="800"/>
              </a:spcAft>
            </a:pPr>
            <a:r>
              <a:rPr sz="1500">
                <a:solidFill>
                  <a:srgbClr val="FFFFFF"/>
                </a:solidFill>
                <a:latin typeface="Microsoft YaHei"/>
              </a:rPr>
              <a:t>▪ K12  信号词：危险重于警告</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K13  危险说明讲危害，防范说明讲做法</a:t>
            </a:r>
          </a:p>
          <a:p>
            <a:pPr>
              <a:spcAft>
                <a:spcPts val="800"/>
              </a:spcAft>
            </a:pPr>
            <a:r>
              <a:rPr sz="1500">
                <a:solidFill>
                  <a:srgbClr val="FFFFFF"/>
                </a:solidFill>
                <a:latin typeface="Microsoft YaHei"/>
              </a:rPr>
              <a:t>▪ K14  运输标志和象形图是两套体系</a:t>
            </a:r>
          </a:p>
          <a:p>
            <a:pPr>
              <a:spcAft>
                <a:spcPts val="800"/>
              </a:spcAft>
            </a:pPr>
            <a:r>
              <a:rPr sz="1500">
                <a:solidFill>
                  <a:srgbClr val="FFFFFF"/>
                </a:solidFill>
                <a:latin typeface="Microsoft YaHei"/>
              </a:rPr>
              <a:t>▪ K15  国外四色菱形只作了解</a:t>
            </a:r>
          </a:p>
          <a:p>
            <a:pPr>
              <a:spcAft>
                <a:spcPts val="800"/>
              </a:spcAft>
            </a:pPr>
            <a:r>
              <a:rPr sz="1500">
                <a:solidFill>
                  <a:srgbClr val="FFFFFF"/>
                </a:solidFill>
                <a:latin typeface="Microsoft YaHei"/>
              </a:rPr>
              <a:t>▪ K16  原装标签不撕不改，坏了及时补</a:t>
            </a:r>
          </a:p>
          <a:p>
            <a:pPr>
              <a:spcAft>
                <a:spcPts val="800"/>
              </a:spcAft>
            </a:pPr>
            <a:r>
              <a:rPr sz="1500">
                <a:solidFill>
                  <a:srgbClr val="FFFFFF"/>
                </a:solidFill>
                <a:latin typeface="Microsoft YaHei"/>
              </a:rPr>
              <a:t>▪ K17  分装容器也要贴标签</a:t>
            </a:r>
          </a:p>
          <a:p>
            <a:pPr>
              <a:spcAft>
                <a:spcPts val="800"/>
              </a:spcAft>
            </a:pPr>
            <a:r>
              <a:rPr sz="1500">
                <a:solidFill>
                  <a:srgbClr val="FFFFFF"/>
                </a:solidFill>
                <a:latin typeface="Microsoft YaHei"/>
              </a:rPr>
              <a:t>▪ K18  自配溶液马上贴签，写全信息</a:t>
            </a:r>
          </a:p>
          <a:p>
            <a:pPr>
              <a:spcAft>
                <a:spcPts val="800"/>
              </a:spcAft>
            </a:pPr>
            <a:r>
              <a:rPr sz="1500">
                <a:solidFill>
                  <a:srgbClr val="FFFFFF"/>
                </a:solidFill>
                <a:latin typeface="Microsoft YaHei"/>
              </a:rPr>
              <a:t>▪ K19  写全称，不写缩写代号</a:t>
            </a:r>
          </a:p>
          <a:p>
            <a:pPr>
              <a:spcAft>
                <a:spcPts val="800"/>
              </a:spcAft>
            </a:pPr>
            <a:r>
              <a:rPr sz="1500">
                <a:solidFill>
                  <a:srgbClr val="FFFFFF"/>
                </a:solidFill>
                <a:latin typeface="Microsoft YaHei"/>
              </a:rPr>
              <a:t>▪ K20  所有容器都要标，没有例外</a:t>
            </a:r>
          </a:p>
          <a:p>
            <a:pPr>
              <a:spcAft>
                <a:spcPts val="800"/>
              </a:spcAft>
            </a:pPr>
            <a:r>
              <a:rPr sz="1500">
                <a:solidFill>
                  <a:srgbClr val="FFFFFF"/>
                </a:solidFill>
                <a:latin typeface="Microsoft YaHei"/>
              </a:rPr>
              <a:t>▪ K21  使用中的容器和过夜样品也要标</a:t>
            </a:r>
          </a:p>
          <a:p>
            <a:pPr>
              <a:spcAft>
                <a:spcPts val="800"/>
              </a:spcAft>
            </a:pPr>
            <a:r>
              <a:rPr sz="1500">
                <a:solidFill>
                  <a:srgbClr val="FFFFFF"/>
                </a:solidFill>
                <a:latin typeface="Microsoft YaHei"/>
              </a:rPr>
              <a:t>▪ K22  工作场所设警示标识和告知卡</a:t>
            </a:r>
          </a:p>
          <a:p>
            <a:pPr>
              <a:spcAft>
                <a:spcPts val="800"/>
              </a:spcAft>
            </a:pPr>
            <a:r>
              <a:rPr sz="1500">
                <a:solidFill>
                  <a:srgbClr val="FFFFFF"/>
                </a:solidFill>
                <a:latin typeface="Microsoft YaHei"/>
              </a:rPr>
              <a:t>▪ K23  教训：到货分装没看说明书</a:t>
            </a:r>
          </a:p>
          <a:p>
            <a:pPr>
              <a:spcAft>
                <a:spcPts val="800"/>
              </a:spcAft>
            </a:pPr>
            <a:r>
              <a:rPr sz="1500">
                <a:solidFill>
                  <a:srgbClr val="FFFFFF"/>
                </a:solidFill>
                <a:latin typeface="Microsoft YaHei"/>
              </a:rPr>
              <a:t>▪ K24  靠培训和信息共享，人人会读</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