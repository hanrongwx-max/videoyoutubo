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火灾与滑倒、坠落一样，是实验室常见的物理事故。酒精灯、加热板等热源离易燃化学品太近，台面就可能着火。</a:t>
            </a:r>
          </a:p>
          <a:p>
            <a:r>
              <a:t>一旦起火，先别慌：大声呼喊，提醒周围的人，让无关人员马上离开；小火而且自己会用器材，才在火势蔓延前扑救；火大或没有把握，立即撤离报警。要知道灭火器、灭火毯和泄漏处理箱在哪里，但没受过培训不要硬上，永远记住生命高于财产。</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发生火灾时，首先抢救正处在火焰、浓烟等直接危险中的人，把他们带离危险区域，然后再考虑扑救和保护财产，即“先救人、后救火”。</a:t>
            </a:r>
          </a:p>
          <a:p>
            <a:r>
              <a:t>救人时也要先保护好自己：看清退路，捂住口鼻，不冲进已经充满浓烟或火势猛烈的房间，这种情况立即报警，由消防救援人员施救。撤离后清点人数，确认没有人被落下，发现有人失踪立即告诉老师和消防救援人员。</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烧杯、烧瓶口或小容器内的溶剂着火，先关闭加热板、电热套等热源并断电，把附近的溶剂瓶移开；再用表面皿、大烧杯、石棉网或合适的盖子扣在容器口上，隔绝空气，火很快就会熄灭（燃烧三角缺了助燃物）。</a:t>
            </a:r>
          </a:p>
          <a:p>
            <a:r>
              <a:t>焊接、切割等动火作业中起火，先停止作业、断电，再用灭火器或灭火毯扑救初起小火。被热容器烫伤时，立即用流动冷水冲洗（烧烫伤急救见第 158 课）；火势扩大拨打 119，有人受伤拨打 120，事后报告实验室负责人。</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灭火毯用耐火材料制成，平时装在墙上的盒子里。使用时双手拉住两条拉带，把毯子拉出，捏住两角，把毯子边缘卷起护住双手，从身前向外、整块盖住着火的托盘、烧杯或小范围的火焰，使火因隔绝空气而熄灭。</a:t>
            </a:r>
          </a:p>
          <a:p>
            <a:r>
              <a:t>盖住后不要马上掀开，等燃烧物冷却后再拿开，否则可能复燃。用过的灭火毯要报告更换。</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可燃气体着火时，如果能安全地关闭气瓶或管道阀门，先关阀切断气源，火会随之熄灭；如果只把火扑灭而不断气，气体继续泄漏，与空气混合后遇火源可能爆炸。关不了阀，立即撤离报警。</a:t>
            </a:r>
          </a:p>
          <a:p>
            <a:r>
              <a:t>通风柜内着火，先把柜门拉下，限制火势和烟气，必要时切断柜内电源；很小的火，受过训练的人才用器材扑救；有的通风柜带有灭火装置，按规定启动。活泼金属着火用干砂覆盖，不能用水；电器着火先断电再灭火（见第 032 课）。</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锅里的食用油着火时，泼水会使高温的油飞溅，形成更大的火。正确做法是先关掉热源，再用锅盖或灭火毯盖住，隔绝空气灭火，盖住后不要马上掀开。</a:t>
            </a:r>
          </a:p>
          <a:p>
            <a:r>
              <a:t>按 GB/T 4968-2008，烹饪器具内的烹饪物火灾属于 F 类火（灭火器选用见第 032 课）。实验室和宿舍严禁违规使用明火、电器做饭。</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明火扑灭后，纸张、织物等燃烧物的余烬仍可能复燃，溶剂和热表面也可能重新引燃。要仔细检查有没有残留的火星和高温物体，确认没有余火后再离开。</a:t>
            </a:r>
          </a:p>
          <a:p>
            <a:r>
              <a:t>即使是自己扑灭的小火，也要报告实验室负责人，查明原因、清理现场、补充用过的灭火器材，必要时按学校规定上报。</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衣服着火时奔跑会带来更多空气，火势更大，火焰还会向上烧到脸部和头发。正确做法是“停、躺、滚”：立即停下，躺倒在地，双手捂住脸，来回翻滚，把火焰压灭。</a:t>
            </a:r>
          </a:p>
          <a:p>
            <a:r>
              <a:t>如果紧急喷淋就在身边，可以直接站到喷淋下冲淋（见 K9）；旁边的人可以用灭火毯帮助压灭火焰（见 K10），火灭后送医。有烟时捂住口鼻、低姿撤离。</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身上着火、附近有紧急喷淋时，立即站到喷淋下，拉下拉杆，让全身都被淋湿，火焰熄灭后继续冲淋降温。紧急喷淋的位置、操作和检查见第 027 课。</a:t>
            </a:r>
          </a:p>
          <a:p>
            <a:r>
              <a:t>请旁边的人拨打 120 急救电话，并报告实验室负责人。被烧伤的部位不要涂抹牙膏、油膏，不要强行撕下粘在皮肤上的衣物（烧伤急救见第 158 课）。</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用灭火毯救衣服着火的人时，不要让他站着裹毯子：站立时火焰向上蹿，毯子会把火和热气引向脸部和头部。应先扶他躺倒，用灭火毯从颈部向下裹住身体，帮助他翻滚，直到火焰熄灭。</a:t>
            </a:r>
          </a:p>
          <a:p>
            <a:r>
              <a:t>火灭后用流动冷水冲洗烧伤部位，拨打 120 送医，并报告实验室负责人和学院。</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初起的小火有把握才扑救。火势扩大、烟雾变浓，或者扑救无效，立即撤离：低姿前进，用湿毛巾或衣物捂住口鼻，随手关门阻隔火势和烟气，沿疏散指示走楼梯，不乘电梯。</a:t>
            </a:r>
          </a:p>
          <a:p>
            <a:r>
              <a:t>到安全地点后拨打 119，有人受伤拨打 120，同时报告实验室负责人、学院和学校保卫处；到集合点清点人数，不返回取物（疏散逃生见第 036 课）。</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微生物等生物实验室起火，除了一般的扑救和撤离要求，还要防止病原扩散：时间允许时盖好样品容器、关闭生物安全柜操作，撤离时随手关门；不要把感染性材料带出实验室。</a:t>
            </a:r>
          </a:p>
          <a:p>
            <a:r>
              <a:t>通过实验室负责人和保卫处告知到场的消防救援人员实验室的位置和生物危害情况，由他们决定处置方式。火灾后由实验室负责人组织评估，消毒去污、检查设施后再恢复使用。</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答案：B。解析：先断热源，再盖住容器口隔绝空气，火即熄灭。</a:t>
            </a:r>
          </a:p>
          <a:p>
            <a:r>
              <a:t>第 2 题 答案：C。解析：奔跑会使火更大；“停、躺、滚”能压灭火焰，附近有紧急喷淋也可冲淋。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答案：B。解析：站着时火焰向头部蹿，应扶他躺倒、裹住、帮他翻滚。</a:t>
            </a:r>
          </a:p>
          <a:p>
            <a:r>
              <a:t>第 4 题 答案：A。解析：只灭火不断气，泄漏的气体可能爆炸；关不了阀立即撤离报警。</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答案：B。解析：过早掀开可能复燃，等燃烧物冷却后再拿开，并报告负责人。</a:t>
            </a:r>
          </a:p>
          <a:p>
            <a:r>
              <a:t>第 6 题 答案：来得及就盖好样品、关门撤离；不把感染性材料带出；告知消防救援人员生物危害情况；火灾后先评估、去污再恢复使用。解析：防止病原随火灾和撤离扩散。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034</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初起火灾与衣物着火</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第4章 消防安全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4 分钟（卡通视频 51 镜）　适用对象：全体进入高校实验室的本科生、研究生和教职工（必修）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能做到起火时先喊人、先撤人，先救处在直接危险中的人。</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能做到用盖子、灭火毯、干砂等扑灭容器小火，气体火先关阀，通风柜内着火先拉下柜门。</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能做到衣服着火时“停、躺、滚”，就近使用紧急喷淋，会用灭火毯帮助他人灭火。</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能判断何时放弃扑救、撤离并拨打 119/120，并知道生物实验室起火要告知生物危害。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《中华人民共和国消防法》（以现行文本为准）：发现火灾立即报警，单位组织扑救初起火灾和疏散人员，任何人应当无偿为报警提供便利</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4968-2008（以现行文本为准）《火灾分类》：气体火、金属火、烹饪油脂火等类别</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38144-2025（以现行文本为准）《眼面部防护 应急喷淋和洗眼设备》：应急喷淋设备的设置与使用</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号，以现行文本为准）：实验室配备灭火毯等消防器材和应急喷淋设施，开展应急处置培训</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高校实验室安全检查项目表（以现行文本为准）：灭火毯、沙箱、应急喷淋配置和人员会用</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生物安全通用要求》：生物安全实验室的消防与应急预案</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本校火灾应急预案和实验室事故报告制度（以本校规定为准）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起火别慌，先喊人、先撤人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火灾是实验室常见的物理事故之一</a:t>
            </a:r>
          </a:p>
          <a:p>
            <a:pPr>
              <a:spcAft>
                <a:spcPts val="1000"/>
              </a:spcAft>
            </a:pPr>
            <a:r>
              <a:rPr sz="2000">
                <a:solidFill>
                  <a:srgbClr val="222B33"/>
                </a:solidFill>
                <a:latin typeface="Microsoft YaHei"/>
              </a:rPr>
              <a:t>▪ 着火先别慌，先喊人、先撤人</a:t>
            </a:r>
          </a:p>
          <a:p>
            <a:pPr>
              <a:spcAft>
                <a:spcPts val="1000"/>
              </a:spcAft>
            </a:pPr>
            <a:r>
              <a:rPr sz="2000">
                <a:solidFill>
                  <a:srgbClr val="222B33"/>
                </a:solidFill>
                <a:latin typeface="Microsoft YaHei"/>
              </a:rPr>
              <a:t>▪ 无关的人马上离开</a:t>
            </a:r>
          </a:p>
          <a:p>
            <a:pPr>
              <a:spcAft>
                <a:spcPts val="1000"/>
              </a:spcAft>
            </a:pPr>
            <a:r>
              <a:rPr sz="2000">
                <a:solidFill>
                  <a:srgbClr val="222B33"/>
                </a:solidFill>
                <a:latin typeface="Microsoft YaHei"/>
              </a:rPr>
              <a:t>▪ 生命高于财产，没受过培训别硬上</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火灾与滑倒、坠落一样，是实验室常见的物理事故。酒精灯、加热板等热源离易燃化学品太近，台面就可能着火。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起火后只顾自己扑火，不提醒周围的人</a:t>
            </a:r>
          </a:p>
          <a:p>
            <a:pPr>
              <a:spcAft>
                <a:spcPts val="1000"/>
              </a:spcAft>
            </a:pPr>
            <a:r>
              <a:rPr sz="1500">
                <a:solidFill>
                  <a:srgbClr val="222B33"/>
                </a:solidFill>
                <a:latin typeface="Microsoft YaHei"/>
              </a:rPr>
              <a:t>▪ 为了抢救仪器、数据冒险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先救处在直接危险中的人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着火了，先救处在直接危险中的人</a:t>
            </a:r>
          </a:p>
          <a:p>
            <a:pPr>
              <a:spcAft>
                <a:spcPts val="1000"/>
              </a:spcAft>
            </a:pPr>
            <a:r>
              <a:rPr sz="2000">
                <a:solidFill>
                  <a:srgbClr val="222B33"/>
                </a:solidFill>
                <a:latin typeface="Microsoft YaHei"/>
              </a:rPr>
              <a:t>▪ 救人也要先保护好自己</a:t>
            </a:r>
          </a:p>
          <a:p>
            <a:pPr>
              <a:spcAft>
                <a:spcPts val="1000"/>
              </a:spcAft>
            </a:pPr>
            <a:r>
              <a:rPr sz="2000">
                <a:solidFill>
                  <a:srgbClr val="222B33"/>
                </a:solidFill>
                <a:latin typeface="Microsoft YaHei"/>
              </a:rPr>
              <a:t>▪ 清点人数，确认没人被落下</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发生火灾时，首先抢救正处在火焰、浓烟等直接危险中的人，把他们带离危险区域，然后再考虑扑救和保护财产，即“先救人、后救火”。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先抢救仪器、样品，再想到人</a:t>
            </a:r>
          </a:p>
          <a:p>
            <a:pPr>
              <a:spcAft>
                <a:spcPts val="1000"/>
              </a:spcAft>
            </a:pPr>
            <a:r>
              <a:rPr sz="1500">
                <a:solidFill>
                  <a:srgbClr val="222B33"/>
                </a:solidFill>
                <a:latin typeface="Microsoft YaHei"/>
              </a:rPr>
              <a:t>▪ 不顾自身安全冲进浓烟中救人</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容器小火：断热源，盖住隔绝空气</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先关热源、断电，移走旁边的溶剂</a:t>
            </a:r>
          </a:p>
          <a:p>
            <a:pPr>
              <a:spcAft>
                <a:spcPts val="1000"/>
              </a:spcAft>
            </a:pPr>
            <a:r>
              <a:rPr sz="2000">
                <a:solidFill>
                  <a:srgbClr val="222B33"/>
                </a:solidFill>
                <a:latin typeface="Microsoft YaHei"/>
              </a:rPr>
              <a:t>▪ 用表面皿、大烧杯或盖子扣灭</a:t>
            </a:r>
          </a:p>
          <a:p>
            <a:pPr>
              <a:spcAft>
                <a:spcPts val="1000"/>
              </a:spcAft>
            </a:pPr>
            <a:r>
              <a:rPr sz="2000">
                <a:solidFill>
                  <a:srgbClr val="222B33"/>
                </a:solidFill>
                <a:latin typeface="Microsoft YaHei"/>
              </a:rPr>
              <a:t>▪ 盖住就隔绝了空气</a:t>
            </a:r>
          </a:p>
          <a:p>
            <a:pPr>
              <a:spcAft>
                <a:spcPts val="1000"/>
              </a:spcAft>
            </a:pPr>
            <a:r>
              <a:rPr sz="2000">
                <a:solidFill>
                  <a:srgbClr val="222B33"/>
                </a:solidFill>
                <a:latin typeface="Microsoft YaHei"/>
              </a:rPr>
              <a:t>▪ 初起小火也可用灭火毯或灭火器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烧杯、烧瓶口或小容器内的溶剂着火，先关闭加热板、电热套等热源并断电，把附近的溶剂瓶移开；再用表面皿、大烧杯、石棉网或合适的盖子扣在容器口上，隔绝空气，火很快就会熄灭（燃烧三角缺了助燃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不关热源就去扑火</a:t>
            </a:r>
          </a:p>
          <a:p>
            <a:pPr>
              <a:spcAft>
                <a:spcPts val="1000"/>
              </a:spcAft>
            </a:pPr>
            <a:r>
              <a:rPr sz="1500">
                <a:solidFill>
                  <a:srgbClr val="222B33"/>
                </a:solidFill>
                <a:latin typeface="Microsoft YaHei"/>
              </a:rPr>
              <a:t>▪ 用嘴吹或用手扇容器口的火</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灭火毯：整块盖住，别急掀开</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灭火毯能盖灭小火，也能救衣服着火的人</a:t>
            </a:r>
          </a:p>
          <a:p>
            <a:pPr>
              <a:spcAft>
                <a:spcPts val="1000"/>
              </a:spcAft>
            </a:pPr>
            <a:r>
              <a:rPr sz="2000">
                <a:solidFill>
                  <a:srgbClr val="222B33"/>
                </a:solidFill>
                <a:latin typeface="Microsoft YaHei"/>
              </a:rPr>
              <a:t>▪ 拉出灭火毯，双手捏住两角</a:t>
            </a:r>
          </a:p>
          <a:p>
            <a:pPr>
              <a:spcAft>
                <a:spcPts val="1000"/>
              </a:spcAft>
            </a:pPr>
            <a:r>
              <a:rPr sz="2000">
                <a:solidFill>
                  <a:srgbClr val="222B33"/>
                </a:solidFill>
                <a:latin typeface="Microsoft YaHei"/>
              </a:rPr>
              <a:t>▪ 护住手，从身前向外整块盖住火焰</a:t>
            </a:r>
          </a:p>
          <a:p>
            <a:pPr>
              <a:spcAft>
                <a:spcPts val="1000"/>
              </a:spcAft>
            </a:pPr>
            <a:r>
              <a:rPr sz="2000">
                <a:solidFill>
                  <a:srgbClr val="222B33"/>
                </a:solidFill>
                <a:latin typeface="Microsoft YaHei"/>
              </a:rPr>
              <a:t>▪ 盖好别急着掀开，等它冷却</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灭火毯用耐火材料制成，平时装在墙上的盒子里。使用时双手拉住两条拉带，把毯子拉出，捏住两角，把毯子边缘卷起护住双手，从身前向外、整块盖住着火的托盘、烧杯或小范围的火焰，使火因隔绝空气而熄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把灭火毯扔向火焰，没有整块盖住</a:t>
            </a:r>
          </a:p>
          <a:p>
            <a:pPr>
              <a:spcAft>
                <a:spcPts val="1000"/>
              </a:spcAft>
            </a:pPr>
            <a:r>
              <a:rPr sz="1500">
                <a:solidFill>
                  <a:srgbClr val="222B33"/>
                </a:solidFill>
                <a:latin typeface="Microsoft YaHei"/>
              </a:rPr>
              <a:t>▪ 刚盖住就掀开查看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气体火先关阀，柜内火拉下柜门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气体着火，最要紧的是关阀断气</a:t>
            </a:r>
          </a:p>
          <a:p>
            <a:pPr>
              <a:spcAft>
                <a:spcPts val="1000"/>
              </a:spcAft>
            </a:pPr>
            <a:r>
              <a:rPr sz="2000">
                <a:solidFill>
                  <a:srgbClr val="222B33"/>
                </a:solidFill>
                <a:latin typeface="Microsoft YaHei"/>
              </a:rPr>
              <a:t>▪ 只灭火不断气，泄漏的气体更危险</a:t>
            </a:r>
          </a:p>
          <a:p>
            <a:pPr>
              <a:spcAft>
                <a:spcPts val="1000"/>
              </a:spcAft>
            </a:pPr>
            <a:r>
              <a:rPr sz="2000">
                <a:solidFill>
                  <a:srgbClr val="222B33"/>
                </a:solidFill>
                <a:latin typeface="Microsoft YaHei"/>
              </a:rPr>
              <a:t>▪ 通风柜里着火，先拉下柜门</a:t>
            </a:r>
          </a:p>
          <a:p>
            <a:pPr>
              <a:spcAft>
                <a:spcPts val="1000"/>
              </a:spcAft>
            </a:pPr>
            <a:r>
              <a:rPr sz="2000">
                <a:solidFill>
                  <a:srgbClr val="222B33"/>
                </a:solidFill>
                <a:latin typeface="Microsoft YaHei"/>
              </a:rPr>
              <a:t>▪ 金属着火用干砂，电器着火先断电</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可燃气体着火时，如果能安全地关闭气瓶或管道阀门，先关阀切断气源，火会随之熄灭；如果只把火扑灭而不断气，气体继续泄漏，与空气混合后遇火源可能爆炸。关不了阀，立即撤离报警。</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气体火只灭火不关阀</a:t>
            </a:r>
          </a:p>
          <a:p>
            <a:pPr>
              <a:spcAft>
                <a:spcPts val="1000"/>
              </a:spcAft>
            </a:pPr>
            <a:r>
              <a:rPr sz="1500">
                <a:solidFill>
                  <a:srgbClr val="222B33"/>
                </a:solidFill>
                <a:latin typeface="Microsoft YaHei"/>
              </a:rPr>
              <a:t>▪ 通风柜内着火时把柜门开大去扑火</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油锅起火：关火，盖锅盖</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油锅起火，千万不能泼水</a:t>
            </a:r>
          </a:p>
          <a:p>
            <a:pPr>
              <a:spcAft>
                <a:spcPts val="1000"/>
              </a:spcAft>
            </a:pPr>
            <a:r>
              <a:rPr sz="2000">
                <a:solidFill>
                  <a:srgbClr val="222B33"/>
                </a:solidFill>
                <a:latin typeface="Microsoft YaHei"/>
              </a:rPr>
              <a:t>▪ 先关火，再盖锅盖或灭火毯</a:t>
            </a:r>
          </a:p>
          <a:p>
            <a:pPr>
              <a:spcAft>
                <a:spcPts val="1000"/>
              </a:spcAft>
            </a:pPr>
            <a:r>
              <a:rPr sz="2000">
                <a:solidFill>
                  <a:srgbClr val="222B33"/>
                </a:solidFill>
                <a:latin typeface="Microsoft YaHei"/>
              </a:rPr>
              <a:t>▪ 国内把油锅火单列为 F 类火</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锅里的食用油着火时，泼水会使高温的油飞溅，形成更大的火。正确做法是先关掉热源，再用锅盖或灭火毯盖住，隔绝空气灭火，盖住后不要马上掀开。</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往着火的油锅里泼水</a:t>
            </a:r>
          </a:p>
          <a:p>
            <a:pPr>
              <a:spcAft>
                <a:spcPts val="1000"/>
              </a:spcAft>
            </a:pPr>
            <a:r>
              <a:rPr sz="1500">
                <a:solidFill>
                  <a:srgbClr val="222B33"/>
                </a:solidFill>
                <a:latin typeface="Microsoft YaHei"/>
              </a:rPr>
              <a:t>▪ 端起着火的油锅往外跑</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扑灭后检查，防止复燃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火灭了，还要检查会不会复燃</a:t>
            </a:r>
          </a:p>
          <a:p>
            <a:pPr>
              <a:spcAft>
                <a:spcPts val="1000"/>
              </a:spcAft>
            </a:pPr>
            <a:r>
              <a:rPr sz="2000">
                <a:solidFill>
                  <a:srgbClr val="222B33"/>
                </a:solidFill>
                <a:latin typeface="Microsoft YaHei"/>
              </a:rPr>
              <a:t>▪ 确认没有余火，再离开</a:t>
            </a:r>
          </a:p>
          <a:p>
            <a:pPr>
              <a:spcAft>
                <a:spcPts val="1000"/>
              </a:spcAft>
            </a:pPr>
            <a:r>
              <a:rPr sz="2000">
                <a:solidFill>
                  <a:srgbClr val="222B33"/>
                </a:solidFill>
                <a:latin typeface="Microsoft YaHei"/>
              </a:rPr>
              <a:t>▪ 扑灭后报告实验室负责人</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明火扑灭后，纸张、织物等燃烧物的余烬仍可能复燃，溶剂和热表面也可能重新引燃。要仔细检查有没有残留的火星和高温物体，确认没有余火后再离开。</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火一灭就离开，不检查余火</a:t>
            </a:r>
          </a:p>
          <a:p>
            <a:pPr>
              <a:spcAft>
                <a:spcPts val="1000"/>
              </a:spcAft>
            </a:pPr>
            <a:r>
              <a:rPr sz="1500">
                <a:solidFill>
                  <a:srgbClr val="222B33"/>
                </a:solidFill>
                <a:latin typeface="Microsoft YaHei"/>
              </a:rPr>
              <a:t>▪ 小火灭了就不报告</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衣服着火：停、躺、滚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衣服着火千万别跑，越跑火越大</a:t>
            </a:r>
          </a:p>
          <a:p>
            <a:pPr>
              <a:spcAft>
                <a:spcPts val="1000"/>
              </a:spcAft>
            </a:pPr>
            <a:r>
              <a:rPr sz="2000">
                <a:solidFill>
                  <a:srgbClr val="222B33"/>
                </a:solidFill>
                <a:latin typeface="Microsoft YaHei"/>
              </a:rPr>
              <a:t>▪ 停下，躺倒，双手捂住脸</a:t>
            </a:r>
          </a:p>
          <a:p>
            <a:pPr>
              <a:spcAft>
                <a:spcPts val="1000"/>
              </a:spcAft>
            </a:pPr>
            <a:r>
              <a:rPr sz="2000">
                <a:solidFill>
                  <a:srgbClr val="222B33"/>
                </a:solidFill>
                <a:latin typeface="Microsoft YaHei"/>
              </a:rPr>
              <a:t>▪ 就地来回翻滚，压灭火焰</a:t>
            </a:r>
          </a:p>
          <a:p>
            <a:pPr>
              <a:spcAft>
                <a:spcPts val="1000"/>
              </a:spcAft>
            </a:pPr>
            <a:r>
              <a:rPr sz="2000">
                <a:solidFill>
                  <a:srgbClr val="222B33"/>
                </a:solidFill>
                <a:latin typeface="Microsoft YaHei"/>
              </a:rPr>
              <a:t>▪ 附近有紧急喷淋或灭火毯，也可以用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衣服着火时奔跑会带来更多空气，火势更大，火焰还会向上烧到脸部和头发。正确做法是“停、躺、滚”：立即停下，躺倒在地，双手捂住脸，来回翻滚，把火焰压灭。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衣服着火后惊慌奔跑</a:t>
            </a:r>
          </a:p>
          <a:p>
            <a:pPr>
              <a:spcAft>
                <a:spcPts val="1000"/>
              </a:spcAft>
            </a:pPr>
            <a:r>
              <a:rPr sz="1500">
                <a:solidFill>
                  <a:srgbClr val="222B33"/>
                </a:solidFill>
                <a:latin typeface="Microsoft YaHei"/>
              </a:rPr>
              <a:t>▪ 用手拍打火焰，不护住脸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紧急喷淋：全身淋湿</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附近有紧急喷淋，马上去冲淋</a:t>
            </a:r>
          </a:p>
          <a:p>
            <a:pPr>
              <a:spcAft>
                <a:spcPts val="1000"/>
              </a:spcAft>
            </a:pPr>
            <a:r>
              <a:rPr sz="2000">
                <a:solidFill>
                  <a:srgbClr val="222B33"/>
                </a:solidFill>
                <a:latin typeface="Microsoft YaHei"/>
              </a:rPr>
              <a:t>▪ 拉下拉杆，让全身都淋湿</a:t>
            </a:r>
          </a:p>
          <a:p>
            <a:pPr>
              <a:spcAft>
                <a:spcPts val="1000"/>
              </a:spcAft>
            </a:pPr>
            <a:r>
              <a:rPr sz="2000">
                <a:solidFill>
                  <a:srgbClr val="222B33"/>
                </a:solidFill>
                <a:latin typeface="Microsoft YaHei"/>
              </a:rPr>
              <a:t>▪ 请旁边的人拨打 120 急救</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身上着火、附近有紧急喷淋时，立即站到喷淋下，拉下拉杆，让全身都被淋湿，火焰熄灭后继续冲淋降温。紧急喷淋的位置、操作和检查见第 027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不知道紧急喷淋在哪，着火后到处找水</a:t>
            </a:r>
          </a:p>
          <a:p>
            <a:pPr>
              <a:spcAft>
                <a:spcPts val="1000"/>
              </a:spcAft>
            </a:pPr>
            <a:r>
              <a:rPr sz="1500">
                <a:solidFill>
                  <a:srgbClr val="222B33"/>
                </a:solidFill>
                <a:latin typeface="Microsoft YaHei"/>
              </a:rPr>
              <a:t>▪ 火灭后不就医</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用灭火毯救人：躺倒、裹住、翻滚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别让人站着裹毯子，火会往头上窜</a:t>
            </a:r>
          </a:p>
          <a:p>
            <a:pPr>
              <a:spcAft>
                <a:spcPts val="1000"/>
              </a:spcAft>
            </a:pPr>
            <a:r>
              <a:rPr sz="2000">
                <a:solidFill>
                  <a:srgbClr val="222B33"/>
                </a:solidFill>
                <a:latin typeface="Microsoft YaHei"/>
              </a:rPr>
              <a:t>▪ 扶他躺倒，用灭火毯裹住</a:t>
            </a:r>
          </a:p>
          <a:p>
            <a:pPr>
              <a:spcAft>
                <a:spcPts val="1000"/>
              </a:spcAft>
            </a:pPr>
            <a:r>
              <a:rPr sz="2000">
                <a:solidFill>
                  <a:srgbClr val="222B33"/>
                </a:solidFill>
                <a:latin typeface="Microsoft YaHei"/>
              </a:rPr>
              <a:t>▪ 帮他翻滚，直到火灭</a:t>
            </a:r>
          </a:p>
          <a:p>
            <a:pPr>
              <a:spcAft>
                <a:spcPts val="1000"/>
              </a:spcAft>
            </a:pPr>
            <a:r>
              <a:rPr sz="2000">
                <a:solidFill>
                  <a:srgbClr val="222B33"/>
                </a:solidFill>
                <a:latin typeface="Microsoft YaHei"/>
              </a:rPr>
              <a:t>▪ 火灭后用流动冷水冲烧伤处，再送医</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用灭火毯救衣服着火的人时，不要让他站着裹毯子：站立时火焰向上蹿，毯子会把火和热气引向脸部和头部。应先扶他躺倒，用灭火毯从颈部向下裹住身体，帮助他翻滚，直到火焰熄灭。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让着火的人站着用毯子裹身</a:t>
            </a:r>
          </a:p>
          <a:p>
            <a:pPr>
              <a:spcAft>
                <a:spcPts val="1000"/>
              </a:spcAft>
            </a:pPr>
            <a:r>
              <a:rPr sz="1500">
                <a:solidFill>
                  <a:srgbClr val="222B33"/>
                </a:solidFill>
                <a:latin typeface="Microsoft YaHei"/>
              </a:rPr>
              <a:t>▪ 用毯子盖住头面部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火大就撤：低姿、关门、报警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火大了、烟浓了，马上撤离</a:t>
            </a:r>
          </a:p>
          <a:p>
            <a:pPr>
              <a:spcAft>
                <a:spcPts val="1000"/>
              </a:spcAft>
            </a:pPr>
            <a:r>
              <a:rPr sz="2000">
                <a:solidFill>
                  <a:srgbClr val="222B33"/>
                </a:solidFill>
                <a:latin typeface="Microsoft YaHei"/>
              </a:rPr>
              <a:t>▪ 低姿前进，湿毛巾捂住口鼻</a:t>
            </a:r>
          </a:p>
          <a:p>
            <a:pPr>
              <a:spcAft>
                <a:spcPts val="1000"/>
              </a:spcAft>
            </a:pPr>
            <a:r>
              <a:rPr sz="2000">
                <a:solidFill>
                  <a:srgbClr val="222B33"/>
                </a:solidFill>
                <a:latin typeface="Microsoft YaHei"/>
              </a:rPr>
              <a:t>▪ 随手关门，走楼梯，不坐电梯</a:t>
            </a:r>
          </a:p>
          <a:p>
            <a:pPr>
              <a:spcAft>
                <a:spcPts val="1000"/>
              </a:spcAft>
            </a:pPr>
            <a:r>
              <a:rPr sz="2000">
                <a:solidFill>
                  <a:srgbClr val="222B33"/>
                </a:solidFill>
                <a:latin typeface="Microsoft YaHei"/>
              </a:rPr>
              <a:t>▪ 拨打 119/120，报告负责人、学院和保卫处</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初起的小火有把握才扑救。火势扩大、烟雾变浓，或者扑救无效，立即撤离：低姿前进，用湿毛巾或衣物捂住口鼻，随手关门阻隔火势和烟气，沿疏散指示走楼梯，不乘电梯。</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火大了还坚持扑救</a:t>
            </a:r>
          </a:p>
          <a:p>
            <a:pPr>
              <a:spcAft>
                <a:spcPts val="1000"/>
              </a:spcAft>
            </a:pPr>
            <a:r>
              <a:rPr sz="1500">
                <a:solidFill>
                  <a:srgbClr val="222B33"/>
                </a:solidFill>
                <a:latin typeface="Microsoft YaHei"/>
              </a:rPr>
              <a:t>▪ 撤离时乘电梯，或返回取物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生物实验室起火：告知生物危害</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来得及就盖好样品，撤离时随手关门</a:t>
            </a:r>
          </a:p>
          <a:p>
            <a:pPr>
              <a:spcAft>
                <a:spcPts val="1000"/>
              </a:spcAft>
            </a:pPr>
            <a:r>
              <a:rPr sz="2000">
                <a:solidFill>
                  <a:srgbClr val="222B33"/>
                </a:solidFill>
                <a:latin typeface="Microsoft YaHei"/>
              </a:rPr>
              <a:t>▪ 不要把感染性材料带出实验室</a:t>
            </a:r>
          </a:p>
          <a:p>
            <a:pPr>
              <a:spcAft>
                <a:spcPts val="1000"/>
              </a:spcAft>
            </a:pPr>
            <a:r>
              <a:rPr sz="2000">
                <a:solidFill>
                  <a:srgbClr val="222B33"/>
                </a:solidFill>
                <a:latin typeface="Microsoft YaHei"/>
              </a:rPr>
              <a:t>▪ 告诉消防救援人员哪里有生物危害</a:t>
            </a:r>
          </a:p>
          <a:p>
            <a:pPr>
              <a:spcAft>
                <a:spcPts val="1000"/>
              </a:spcAft>
            </a:pPr>
            <a:r>
              <a:rPr sz="2000">
                <a:solidFill>
                  <a:srgbClr val="222B33"/>
                </a:solidFill>
                <a:latin typeface="Microsoft YaHei"/>
              </a:rPr>
              <a:t>▪ 火灾后先评估、去污，再恢复使用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微生物等生物实验室起火，除了一般的扑救和撤离要求，还要防止病原扩散：时间允许时盖好样品容器、关闭生物安全柜操作，撤离时随手关门；不要把感染性材料带出实验室。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撤离时把培养物、样品带出实验室</a:t>
            </a:r>
          </a:p>
          <a:p>
            <a:pPr>
              <a:spcAft>
                <a:spcPts val="1000"/>
              </a:spcAft>
            </a:pPr>
            <a:r>
              <a:rPr sz="1500">
                <a:solidFill>
                  <a:srgbClr val="222B33"/>
                </a:solidFill>
                <a:latin typeface="Microsoft YaHei"/>
              </a:rPr>
              <a:t>▪ 不告诉消防救援人员实验室有生物危害</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烧杯口的少量溶剂着火，首先应该：</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用嘴吹灭</a:t>
            </a:r>
          </a:p>
          <a:p>
            <a:pPr algn="l"/>
            <a:r>
              <a:rPr sz="1500" b="0">
                <a:solidFill>
                  <a:srgbClr val="222B33"/>
                </a:solidFill>
                <a:latin typeface="Microsoft YaHei"/>
              </a:rPr>
              <a:t>B. 关闭热源，用表面皿或大烧杯扣灭</a:t>
            </a:r>
          </a:p>
          <a:p>
            <a:pPr algn="l"/>
            <a:r>
              <a:rPr sz="1500" b="0">
                <a:solidFill>
                  <a:srgbClr val="222B33"/>
                </a:solidFill>
                <a:latin typeface="Microsoft YaHei"/>
              </a:rPr>
              <a:t>C. 端起烧杯跑到水池</a:t>
            </a:r>
          </a:p>
          <a:p>
            <a:pPr algn="l"/>
            <a:r>
              <a:rPr sz="1500" b="0">
                <a:solidFill>
                  <a:srgbClr val="222B33"/>
                </a:solidFill>
                <a:latin typeface="Microsoft YaHei"/>
              </a:rPr>
              <a:t>D. 泼水</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衣服着火时，正确的做法是：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跑到室外</a:t>
            </a:r>
          </a:p>
          <a:p>
            <a:pPr algn="l"/>
            <a:r>
              <a:rPr sz="1500" b="0">
                <a:solidFill>
                  <a:srgbClr val="222B33"/>
                </a:solidFill>
                <a:latin typeface="Microsoft YaHei"/>
              </a:rPr>
              <a:t>B. 用手拍打</a:t>
            </a:r>
          </a:p>
          <a:p>
            <a:pPr algn="l"/>
            <a:r>
              <a:rPr sz="1500" b="0">
                <a:solidFill>
                  <a:srgbClr val="222B33"/>
                </a:solidFill>
                <a:latin typeface="Microsoft YaHei"/>
              </a:rPr>
              <a:t>C. 停下、躺倒、捂脸、来回翻滚</a:t>
            </a:r>
          </a:p>
          <a:p>
            <a:pPr algn="l"/>
            <a:r>
              <a:rPr sz="1500" b="0">
                <a:solidFill>
                  <a:srgbClr val="222B33"/>
                </a:solidFill>
                <a:latin typeface="Microsoft YaHei"/>
              </a:rPr>
              <a:t>D. 站着脱衣服</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判断：用灭火毯救衣服着火的人时，应让他站着用毯子裹住全身。</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判断：可燃气体着火时，能安全关闭阀门的，应先关阀断气。</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用灭火毯盖住台面小火后，应该：</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马上掀开看火灭没灭</a:t>
            </a:r>
          </a:p>
          <a:p>
            <a:pPr algn="l"/>
            <a:r>
              <a:rPr sz="1500" b="0">
                <a:solidFill>
                  <a:srgbClr val="222B33"/>
                </a:solidFill>
                <a:latin typeface="Microsoft YaHei"/>
              </a:rPr>
              <a:t>B. 盖好不动，等冷却后再拿开</a:t>
            </a:r>
          </a:p>
          <a:p>
            <a:pPr algn="l"/>
            <a:r>
              <a:rPr sz="1500" b="0">
                <a:solidFill>
                  <a:srgbClr val="222B33"/>
                </a:solidFill>
                <a:latin typeface="Microsoft YaHei"/>
              </a:rPr>
              <a:t>C. 往毯子上泼水</a:t>
            </a:r>
          </a:p>
          <a:p>
            <a:pPr algn="l"/>
            <a:r>
              <a:rPr sz="1500" b="0">
                <a:solidFill>
                  <a:srgbClr val="222B33"/>
                </a:solidFill>
                <a:latin typeface="Microsoft YaHei"/>
              </a:rPr>
              <a:t>D. 离开实验室不管</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简答：微生物实验室起火撤离时，要注意哪些与生物危害有关的事项？</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起火别慌，先喊人、先撤人</a:t>
            </a:r>
          </a:p>
          <a:p>
            <a:pPr>
              <a:spcAft>
                <a:spcPts val="800"/>
              </a:spcAft>
            </a:pPr>
            <a:r>
              <a:rPr sz="1500">
                <a:solidFill>
                  <a:srgbClr val="FFFFFF"/>
                </a:solidFill>
                <a:latin typeface="Microsoft YaHei"/>
              </a:rPr>
              <a:t>▪ K2  先救处在直接危险中的人</a:t>
            </a:r>
          </a:p>
          <a:p>
            <a:pPr>
              <a:spcAft>
                <a:spcPts val="800"/>
              </a:spcAft>
            </a:pPr>
            <a:r>
              <a:rPr sz="1500">
                <a:solidFill>
                  <a:srgbClr val="FFFFFF"/>
                </a:solidFill>
                <a:latin typeface="Microsoft YaHei"/>
              </a:rPr>
              <a:t>▪ K3  容器小火：断热源，盖住隔绝空气</a:t>
            </a:r>
          </a:p>
          <a:p>
            <a:pPr>
              <a:spcAft>
                <a:spcPts val="800"/>
              </a:spcAft>
            </a:pPr>
            <a:r>
              <a:rPr sz="1500">
                <a:solidFill>
                  <a:srgbClr val="FFFFFF"/>
                </a:solidFill>
                <a:latin typeface="Microsoft YaHei"/>
              </a:rPr>
              <a:t>▪ K4  灭火毯：整块盖住，别急掀开</a:t>
            </a:r>
          </a:p>
          <a:p>
            <a:pPr>
              <a:spcAft>
                <a:spcPts val="800"/>
              </a:spcAft>
            </a:pPr>
            <a:r>
              <a:rPr sz="1500">
                <a:solidFill>
                  <a:srgbClr val="FFFFFF"/>
                </a:solidFill>
                <a:latin typeface="Microsoft YaHei"/>
              </a:rPr>
              <a:t>▪ K5  气体火先关阀，柜内火拉下柜门</a:t>
            </a:r>
          </a:p>
          <a:p>
            <a:pPr>
              <a:spcAft>
                <a:spcPts val="800"/>
              </a:spcAft>
            </a:pPr>
            <a:r>
              <a:rPr sz="1500">
                <a:solidFill>
                  <a:srgbClr val="FFFFFF"/>
                </a:solidFill>
                <a:latin typeface="Microsoft YaHei"/>
              </a:rPr>
              <a:t>▪ K6  油锅起火：关火，盖锅盖</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K7  扑灭后检查，防止复燃</a:t>
            </a:r>
          </a:p>
          <a:p>
            <a:pPr>
              <a:spcAft>
                <a:spcPts val="800"/>
              </a:spcAft>
            </a:pPr>
            <a:r>
              <a:rPr sz="1500">
                <a:solidFill>
                  <a:srgbClr val="FFFFFF"/>
                </a:solidFill>
                <a:latin typeface="Microsoft YaHei"/>
              </a:rPr>
              <a:t>▪ K8  衣服着火：停、躺、滚</a:t>
            </a:r>
          </a:p>
          <a:p>
            <a:pPr>
              <a:spcAft>
                <a:spcPts val="800"/>
              </a:spcAft>
            </a:pPr>
            <a:r>
              <a:rPr sz="1500">
                <a:solidFill>
                  <a:srgbClr val="FFFFFF"/>
                </a:solidFill>
                <a:latin typeface="Microsoft YaHei"/>
              </a:rPr>
              <a:t>▪ K9  紧急喷淋：全身淋湿</a:t>
            </a:r>
          </a:p>
          <a:p>
            <a:pPr>
              <a:spcAft>
                <a:spcPts val="800"/>
              </a:spcAft>
            </a:pPr>
            <a:r>
              <a:rPr sz="1500">
                <a:solidFill>
                  <a:srgbClr val="FFFFFF"/>
                </a:solidFill>
                <a:latin typeface="Microsoft YaHei"/>
              </a:rPr>
              <a:t>▪ K10  用灭火毯救人：躺倒、裹住、翻滚</a:t>
            </a:r>
          </a:p>
          <a:p>
            <a:pPr>
              <a:spcAft>
                <a:spcPts val="800"/>
              </a:spcAft>
            </a:pPr>
            <a:r>
              <a:rPr sz="1500">
                <a:solidFill>
                  <a:srgbClr val="FFFFFF"/>
                </a:solidFill>
                <a:latin typeface="Microsoft YaHei"/>
              </a:rPr>
              <a:t>▪ K11  火大就撤：低姿、关门、报警</a:t>
            </a:r>
          </a:p>
          <a:p>
            <a:pPr>
              <a:spcAft>
                <a:spcPts val="800"/>
              </a:spcAft>
            </a:pPr>
            <a:r>
              <a:rPr sz="1500">
                <a:solidFill>
                  <a:srgbClr val="FFFFFF"/>
                </a:solidFill>
                <a:latin typeface="Microsoft YaHei"/>
              </a:rPr>
              <a:t>▪ K12  生物实验室起火：告知生物危害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