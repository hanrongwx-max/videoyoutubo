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校实验室安全实行学校、学院（二级单位）、实验室三级管理，逐级明确责任，形成一条完整的责任链。学校层面负责统筹规划、制定制度、保障条件和监督检查，学校主要负责人对全校实验室安全工作负总责；学院层面负责本单位实验室安全的组织落实、培训和检查；实验室层面负责本室的日常安全管理，实验室负责人是本实验室安全的第一责任人（各级责任人的具体称谓和分工以《高等学校实验室安全规范》和本校规定为准）。</a:t>
            </a:r>
          </a:p>
          <a:p>
            <a:r>
              <a:t>责任链条的意义在于“事事有人管、人人有专责”。但这并不意味着安全只是负责人的事：按照安全生产法确立的全员安全生产责任制精神，从校领导到每一名进入实验室的学生，都在自己的岗位上承担相应责任，首先要对自己的安全负责，也要关心他人的安全。</a:t>
            </a:r>
          </a:p>
          <a:p>
            <a:r>
              <a:t>进入一个实验室，首先要知道这条链条上的人分别是谁、怎么联系。</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要求单位为人员提供安全的工作条件。对高校而言，学校和学院要为实验室提供符合要求的场所、通风、消防、应急等安全设施，配备合格的仪器设备和个人防护用品，保证设备得到维护保养和定期检修，并组织安全教育培训、保障必要的安全经费。</a:t>
            </a:r>
          </a:p>
          <a:p>
            <a:r>
              <a:t>实验室负责人在本室范围内落实这些要求：申请和维护安全设施，淘汰老化、不合格的设备，确保防护用品数量和型号满足实验需要。学生发现设施设备缺失、损坏或防护用品不足时，应及时向负责人反映，而不是将就使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负责人（通常是实验室主任、课题组长或导师）对本实验室的安全工作全面负责，是第一责任人。其主要职责包括：贯彻学校和学院的安全制度，结合本室危险源制定安全操作规程和应急措施；组织实验项目的风险评估，审核实验方案特别是新实验和高风险实验；保障安全设施和个人防护用品配备到位；组织进入本室人员的安全培训和准入；组织日常安全检查，督促隐患整改；发生事故时组织处置并按规定报告。</a:t>
            </a:r>
          </a:p>
          <a:p>
            <a:r>
              <a:t>负责人可以指定实验室安全员协助日常管理，但第一责任不因此转移。生物安全负责人、辐射安全负责人等专项职责分别在第 6 章、第 7 章讲解。</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负责人出差、休假或长时间不在岗时，实验室的安全责任不能出现空档。负责人应指定有能力的代理人（如有经验的教师或资深研究生，按本校规定），交代清楚在研实验、重点危险源、钥匙和权限，以及应急处置的要求。</a:t>
            </a:r>
          </a:p>
          <a:p>
            <a:r>
              <a:t>代理人的姓名和联系方式应在门口信息牌或实验室显著位置写明，确保出现紧急情况时，实验室成员和救援人员能找到拿主意的人。负责人返回后，代理人应交接期间发生的情况。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校设有实验室安全管理部门（名称因校而异，如实验室与设备管理处、实验室安全管理办公室等），负责全校实验室安全的制度建设、培训考核、检查督查和专项管理；学院（二级单位）设实验室安全管理员（专职或兼职），负责本单位的培训组织、巡查检查、隐患督办和信息上报；保卫部门负责消防、治安和突发事件的应急联动。</a:t>
            </a:r>
          </a:p>
          <a:p>
            <a:r>
              <a:t>这些人员是实验室安全的重要资源：安全培训的报名、准入考核、危险化学品和废弃物的管理流程、安全设施的报修，以及对某项操作是否安全拿不准时的咨询，都可以找他们。</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一般设一名或几名安全员（通常由教师或资深研究生兼任），在负责人领导下开展日常安全管理：日常巡查，检查大家是否按规程操作和穿戴防护；实验前对新同学或新实验做简短的安全交底；协助识别危害、提出控制建议；协助组织培训、检查和应急演练，参与编写操作规程和应急预案；参与事故和未遂事件的调查。</a:t>
            </a:r>
          </a:p>
          <a:p>
            <a:r>
              <a:t>安全员看到危险操作时，有责任当场提醒和叫停；发现隐患要及时报告实验室负责人，必要时报学院。安全员的职责是管安全，而不是盯实验进度、催产出——风险评估、合规检查、事故调查才是其主要工作。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导师是学生安全意识的第一示范者。导师自己严格遵守规定、规范穿戴防护，在组会上经常讲安全、分享险情和教训，看到问题当场指出，学生才会真正重视安全。</a:t>
            </a:r>
          </a:p>
          <a:p>
            <a:r>
              <a:t>研究生带本科生、老同学带新同学，同样承担带教责任。带教要遵循“先示范、再看着做、确认会了再放手”的顺序：先完整演示正确操作并讲清危险点，再让新人在旁监督下操作，确认其能独立、正确完成后，才允许单独操作。没有学会的操作、没有通过考核的设备，不能让新人单独上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论是教师、学生，还是外来的维修、施工人员，只要进入实验室，就对安全负有责任。按照“谁使用、谁负责”的原则，每个人对自己的操作和所用的设备、试剂负责：参加培训，熟悉规程，严格按规程操作，不图省事、不走捷径。</a:t>
            </a:r>
          </a:p>
          <a:p>
            <a:r>
              <a:t>发现电线破损、设备异常、试剂泄漏等问题时，要及时报告，并在设备上挂“停用”标识，不要擅自拆修（电气维修须由持证电工进行）。实验中出现异常情况，先停下来、确保安全，再报告负责人。报告了，问题才能被及时处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人有责，也人人有权。《中华人民共和国安全生产法》规定了从业人员的知情权（了解作业场所和岗位存在的危险因素、防范措施和事故应急措施）、建议权、批评检举控告权、拒绝违章指挥和强令冒险作业的权利，以及发现直接危及人身安全的紧急情况时停止作业或者在采取可能的应急措施后撤离作业场所的权利。高校实验室中，学生和教职工同样应当享有相应的安全保障（具体以本校规定为准）。</a:t>
            </a:r>
          </a:p>
          <a:p>
            <a:r>
              <a:t>具体来说：你有权在实验前了解所用物质和设备的危险以及防护措施；遇到违反规定的要求或明显冒险的作业，有权拒绝，并可向学院或学校实验室安全管理部门报告；情况危急时，可以先停下、先撤离；如实报告隐患和未遂事件，学校鼓励并保护报告人，不应因此受到打击报复。</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每间实验室门口的安全信息牌上都写有安全责任人和应急联系电话。进入实验室前，要先把这些联系方式记下来（存入手机），同时记住学院安全管理员、学校保卫处和实验室安全管理部门的电话。</a:t>
            </a:r>
          </a:p>
          <a:p>
            <a:r>
              <a:t>出现问题时，按本校程序逐级报告：先报告实验室负责人（或其代理人），再报学院，由学院报保卫处或实验室安全管理部门；情况紧急时可同时报告。发生火灾立即拨打 119，有人受伤需要急救时拨打 120，并在报警后向负责人和学校报告。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为把责任落实到人，学校与学院、学院与实验室之间通常逐级签订安全责任书，进入实验室的个人签订安全承诺书，明确各自的责任和义务。</a:t>
            </a:r>
          </a:p>
          <a:p>
            <a:r>
              <a:t>签字不是形式。学校会通过检查和考核了解各级责任是否落实，把实验室安全工作纳入单位和个人的考核：做得好的给予表彰，失职、渎职造成隐患或事故的，依照有关规定追究责任（具体以本校规定为准）。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答案：B。解析：实验室负责人是本实验室安全的第一责任人；安全员协助日常管理，第一责任不因此转移。</a:t>
            </a:r>
          </a:p>
          <a:p>
            <a:r>
              <a:t>第 2 题 答案：C。解析：安全员管安全，不负责盯实验进度。</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答案：A。解析：对违章指挥和冒险作业，有权拒绝并报告。</a:t>
            </a:r>
          </a:p>
          <a:p>
            <a:r>
              <a:t>第 4 题 答案：B。解析：带教要先示范、再监督操作，确认能独立正确完成后才放手。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答案：实验室负责人→学院→保卫处或实验室安全管理部门；着火打 119，有人受伤打 120。解析：见 K10，紧急时可同时报告。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004</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三级管理与安全责任</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第1章 法规、管理与安全文化</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 分钟（卡通视频 61 镜）　适用对象：全体进入高校实验室的本科生、研究生、新进教职工和博士后（必修）；导师、实验室负责人和实验室安全员重点学习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能说出学校—学院—实验室三级管理的结构，以及实验室负责人作为第一责任人的主要职责。</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能说出学院安全管理员、实验室安全员、导师和带教人、学生各自的责任。</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能说出学生在实验室的安全权利：知情、拒绝违章指挥和冒险作业、紧急撤离、报告隐患。</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能做到：进实验室前记下安全联系人，出现问题按“实验室负责人→学院→保卫处/实验室管理处”逐级报告，紧急时拨打 119、120。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《中华人民共和国安全生产法》（以现行文本为准）：全员安全生产责任制；从业人员的知情权、建议权、拒绝违章指挥和强令冒险作业、紧急情况下停止作业撤离等权利，以及遵守规章、报告隐患的义务</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号，以现行文本为准）：安全责任体系、三级管理、安全责任书与考核</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教育部高校实验室安全检查项目表（以现行文本为准）：责任体系类检查项</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《中华人民共和国职业病防治法》（以现行文本为准）：用人单位提供符合要求的防护设施和用品、组织培训的责任</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本校实验室安全管理办法、安全责任制和问责规定（以本校规定为准）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三级管理：责任共担一条链</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高校实验室实行学校—学院—实验室三级管理</a:t>
            </a:r>
          </a:p>
          <a:p>
            <a:pPr>
              <a:spcAft>
                <a:spcPts val="1000"/>
              </a:spcAft>
            </a:pPr>
            <a:r>
              <a:rPr sz="2000">
                <a:solidFill>
                  <a:srgbClr val="222B33"/>
                </a:solidFill>
                <a:latin typeface="Microsoft YaHei"/>
              </a:rPr>
              <a:t>▪ 学校统筹，学院落实，实验室负责日常</a:t>
            </a:r>
          </a:p>
          <a:p>
            <a:pPr>
              <a:spcAft>
                <a:spcPts val="1000"/>
              </a:spcAft>
            </a:pPr>
            <a:r>
              <a:rPr sz="2000">
                <a:solidFill>
                  <a:srgbClr val="222B33"/>
                </a:solidFill>
                <a:latin typeface="Microsoft YaHei"/>
              </a:rPr>
              <a:t>▪ 每一级都有明确的责任人</a:t>
            </a:r>
          </a:p>
          <a:p>
            <a:pPr>
              <a:spcAft>
                <a:spcPts val="1000"/>
              </a:spcAft>
            </a:pPr>
            <a:r>
              <a:rPr sz="2000">
                <a:solidFill>
                  <a:srgbClr val="222B33"/>
                </a:solidFill>
                <a:latin typeface="Microsoft YaHei"/>
              </a:rPr>
              <a:t>▪ 责任共担，每个人也对自己的安全负责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高校实验室安全实行学校、学院（二级单位）、实验室三级管理，逐级明确责任，形成一条完整的责任链。学校层面负责统筹规划、制定制度、保障条件和监督检查，学校主要负责人对全校实验室安全工作负总责；学院层面负责本单位实验室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认为安全是学校管理部门的事，与自己无关</a:t>
            </a:r>
          </a:p>
          <a:p>
            <a:pPr>
              <a:spcAft>
                <a:spcPts val="1000"/>
              </a:spcAft>
            </a:pPr>
            <a:r>
              <a:rPr sz="1500">
                <a:solidFill>
                  <a:srgbClr val="222B33"/>
                </a:solidFill>
                <a:latin typeface="Microsoft YaHei"/>
              </a:rPr>
              <a:t>▪ 不知道本实验室负责人和学院安全管理员是谁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学校要提供安全条件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实验室安全，单位首先要担起责任</a:t>
            </a:r>
          </a:p>
          <a:p>
            <a:pPr>
              <a:spcAft>
                <a:spcPts val="1000"/>
              </a:spcAft>
            </a:pPr>
            <a:r>
              <a:rPr sz="2000">
                <a:solidFill>
                  <a:srgbClr val="222B33"/>
                </a:solidFill>
                <a:latin typeface="Microsoft YaHei"/>
              </a:rPr>
              <a:t>▪ 提供合格的设施、设备和防护用品</a:t>
            </a:r>
          </a:p>
          <a:p>
            <a:pPr>
              <a:spcAft>
                <a:spcPts val="1000"/>
              </a:spcAft>
            </a:pPr>
            <a:r>
              <a:rPr sz="2000">
                <a:solidFill>
                  <a:srgbClr val="222B33"/>
                </a:solidFill>
                <a:latin typeface="Microsoft YaHei"/>
              </a:rPr>
              <a:t>▪ 保证设备维护保养和定期检修</a:t>
            </a:r>
          </a:p>
          <a:p>
            <a:pPr>
              <a:spcAft>
                <a:spcPts val="1000"/>
              </a:spcAft>
            </a:pPr>
            <a:r>
              <a:rPr sz="2000">
                <a:solidFill>
                  <a:srgbClr val="222B33"/>
                </a:solidFill>
                <a:latin typeface="Microsoft YaHei"/>
              </a:rPr>
              <a:t>▪ 组织安全培训，保障必要经费</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法律要求单位为人员提供安全的工作条件。对高校而言，学校和学院要为实验室提供符合要求的场所、通风、消防、应急等安全设施，配备合格的仪器设备和个人防护用品，保证设备得到维护保养和定期检修，并组织安全教育培训、保障必要的安……</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防护用品不足或型号不对时将就使用</a:t>
            </a:r>
          </a:p>
          <a:p>
            <a:pPr>
              <a:spcAft>
                <a:spcPts val="1000"/>
              </a:spcAft>
            </a:pPr>
            <a:r>
              <a:rPr sz="1500">
                <a:solidFill>
                  <a:srgbClr val="222B33"/>
                </a:solidFill>
                <a:latin typeface="Microsoft YaHei"/>
              </a:rPr>
              <a:t>▪ 老化、故障设备“带病”运行而不报告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实验室负责人是第一责任人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实验室负责人是本室安全第一责任人</a:t>
            </a:r>
          </a:p>
          <a:p>
            <a:pPr>
              <a:spcAft>
                <a:spcPts val="1000"/>
              </a:spcAft>
            </a:pPr>
            <a:r>
              <a:rPr sz="2000">
                <a:solidFill>
                  <a:srgbClr val="222B33"/>
                </a:solidFill>
                <a:latin typeface="Microsoft YaHei"/>
              </a:rPr>
              <a:t>▪ 确保安全制度在本室落地</a:t>
            </a:r>
          </a:p>
          <a:p>
            <a:pPr>
              <a:spcAft>
                <a:spcPts val="1000"/>
              </a:spcAft>
            </a:pPr>
            <a:r>
              <a:rPr sz="2000">
                <a:solidFill>
                  <a:srgbClr val="222B33"/>
                </a:solidFill>
                <a:latin typeface="Microsoft YaHei"/>
              </a:rPr>
              <a:t>▪ 组织风险评估，审核实验方案</a:t>
            </a:r>
          </a:p>
          <a:p>
            <a:pPr>
              <a:spcAft>
                <a:spcPts val="1000"/>
              </a:spcAft>
            </a:pPr>
            <a:r>
              <a:rPr sz="2000">
                <a:solidFill>
                  <a:srgbClr val="222B33"/>
                </a:solidFill>
                <a:latin typeface="Microsoft YaHei"/>
              </a:rPr>
              <a:t>▪ 保障设施和防护到位，组织培训准入和检查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负责人（通常是实验室主任、课题组长或导师）对本实验室的安全工作全面负责，是第一责任人。其主要职责包括：贯彻学校和学院的安全制度，结合本室危险源制定安全操作规程和应急措施；组织实验项目的风险评估，审核实验方案特别……</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负责人把安全全部推给安全员或学生</a:t>
            </a:r>
          </a:p>
          <a:p>
            <a:pPr>
              <a:spcAft>
                <a:spcPts val="1000"/>
              </a:spcAft>
            </a:pPr>
            <a:r>
              <a:rPr sz="1500">
                <a:solidFill>
                  <a:srgbClr val="222B33"/>
                </a:solidFill>
                <a:latin typeface="Microsoft YaHei"/>
              </a:rPr>
              <a:t>▪ 新实验、高风险实验未经负责人审核就开展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负责人外出要指定代理人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负责人出差、休假，责任不能断档</a:t>
            </a:r>
          </a:p>
          <a:p>
            <a:pPr>
              <a:spcAft>
                <a:spcPts val="1000"/>
              </a:spcAft>
            </a:pPr>
            <a:r>
              <a:rPr sz="2000">
                <a:solidFill>
                  <a:srgbClr val="222B33"/>
                </a:solidFill>
                <a:latin typeface="Microsoft YaHei"/>
              </a:rPr>
              <a:t>▪ 指定代理人，交代清楚在研实验和风险</a:t>
            </a:r>
          </a:p>
          <a:p>
            <a:pPr>
              <a:spcAft>
                <a:spcPts val="1000"/>
              </a:spcAft>
            </a:pPr>
            <a:r>
              <a:rPr sz="2000">
                <a:solidFill>
                  <a:srgbClr val="222B33"/>
                </a:solidFill>
                <a:latin typeface="Microsoft YaHei"/>
              </a:rPr>
              <a:t>▪ 门口信息牌写清代理人联系方式</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实验室负责人出差、休假或长时间不在岗时，实验室的安全责任不能出现空档。负责人应指定有能力的代理人（如有经验的教师或资深研究生，按本校规定），交代清楚在研实验、重点危险源、钥匙和权限，以及应急处置的要求。</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负责人外出后实验室无人负责、联系不上</a:t>
            </a:r>
          </a:p>
          <a:p>
            <a:pPr>
              <a:spcAft>
                <a:spcPts val="1000"/>
              </a:spcAft>
            </a:pPr>
            <a:r>
              <a:rPr sz="1500">
                <a:solidFill>
                  <a:srgbClr val="222B33"/>
                </a:solidFill>
                <a:latin typeface="Microsoft YaHei"/>
              </a:rPr>
              <a:t>▪ 代理人不清楚实验室有哪些危险源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学校和学院的安全管理人员</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学院设实验室安全管理员</a:t>
            </a:r>
          </a:p>
          <a:p>
            <a:pPr>
              <a:spcAft>
                <a:spcPts val="1000"/>
              </a:spcAft>
            </a:pPr>
            <a:r>
              <a:rPr sz="2000">
                <a:solidFill>
                  <a:srgbClr val="222B33"/>
                </a:solidFill>
                <a:latin typeface="Microsoft YaHei"/>
              </a:rPr>
              <a:t>▪ 学校设实验室安全管理部门</a:t>
            </a:r>
          </a:p>
          <a:p>
            <a:pPr>
              <a:spcAft>
                <a:spcPts val="1000"/>
              </a:spcAft>
            </a:pPr>
            <a:r>
              <a:rPr sz="2000">
                <a:solidFill>
                  <a:srgbClr val="222B33"/>
                </a:solidFill>
                <a:latin typeface="Microsoft YaHei"/>
              </a:rPr>
              <a:t>▪ 负责监督检查，提供培训和咨询</a:t>
            </a:r>
          </a:p>
          <a:p>
            <a:pPr>
              <a:spcAft>
                <a:spcPts val="1000"/>
              </a:spcAft>
            </a:pPr>
            <a:r>
              <a:rPr sz="2000">
                <a:solidFill>
                  <a:srgbClr val="222B33"/>
                </a:solidFill>
                <a:latin typeface="Microsoft YaHei"/>
              </a:rPr>
              <a:t>▪ 保卫处负责消防治安和应急联动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学校设有实验室安全管理部门（名称因校而异，如实验室与设备管理处、实验室安全管理办公室等），负责全校实验室安全的制度建设、培训考核、检查督查和专项管理；学院（二级单位）设实验室安全管理员（专职或兼职），负责本单位的培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遇到安全问题不知道向谁咨询，自己硬着头皮做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实验室安全员：巡查、叫停、上报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每间实验室设安全员，协助负责人管日常</a:t>
            </a:r>
          </a:p>
          <a:p>
            <a:pPr>
              <a:spcAft>
                <a:spcPts val="1000"/>
              </a:spcAft>
            </a:pPr>
            <a:r>
              <a:rPr sz="2000">
                <a:solidFill>
                  <a:srgbClr val="222B33"/>
                </a:solidFill>
                <a:latin typeface="Microsoft YaHei"/>
              </a:rPr>
              <a:t>▪ 巡查提醒，实验前做安全交底</a:t>
            </a:r>
          </a:p>
          <a:p>
            <a:pPr>
              <a:spcAft>
                <a:spcPts val="1000"/>
              </a:spcAft>
            </a:pPr>
            <a:r>
              <a:rPr sz="2000">
                <a:solidFill>
                  <a:srgbClr val="222B33"/>
                </a:solidFill>
                <a:latin typeface="Microsoft YaHei"/>
              </a:rPr>
              <a:t>▪ 发现危险操作要敢于叫停</a:t>
            </a:r>
          </a:p>
          <a:p>
            <a:pPr>
              <a:spcAft>
                <a:spcPts val="1000"/>
              </a:spcAft>
            </a:pPr>
            <a:r>
              <a:rPr sz="2000">
                <a:solidFill>
                  <a:srgbClr val="222B33"/>
                </a:solidFill>
                <a:latin typeface="Microsoft YaHei"/>
              </a:rPr>
              <a:t>▪ 发现隐患及时上报；安全员不负责盯进度</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一般设一名或几名安全员（通常由教师或资深研究生兼任），在负责人领导下开展日常安全管理：日常巡查，检查大家是否按规程操作和穿戴防护；实验前对新同学或新实验做简短的安全交底；协助识别危害、提出控制建议；协助组织培训……</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安全员碍于情面，看到违规操作不提醒、不叫停</a:t>
            </a:r>
          </a:p>
          <a:p>
            <a:pPr>
              <a:spcAft>
                <a:spcPts val="1000"/>
              </a:spcAft>
            </a:pPr>
            <a:r>
              <a:rPr sz="1500">
                <a:solidFill>
                  <a:srgbClr val="222B33"/>
                </a:solidFill>
                <a:latin typeface="Microsoft YaHei"/>
              </a:rPr>
              <a:t>▪ 把安全员当成“催进度”的角色，忽视其安全职责</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导师和带教人的责任</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导师以身作则，组会常讲安全</a:t>
            </a:r>
          </a:p>
          <a:p>
            <a:pPr>
              <a:spcAft>
                <a:spcPts val="1000"/>
              </a:spcAft>
            </a:pPr>
            <a:r>
              <a:rPr sz="2000">
                <a:solidFill>
                  <a:srgbClr val="222B33"/>
                </a:solidFill>
                <a:latin typeface="Microsoft YaHei"/>
              </a:rPr>
              <a:t>▪ 看到问题马上提醒</a:t>
            </a:r>
          </a:p>
          <a:p>
            <a:pPr>
              <a:spcAft>
                <a:spcPts val="1000"/>
              </a:spcAft>
            </a:pPr>
            <a:r>
              <a:rPr sz="2000">
                <a:solidFill>
                  <a:srgbClr val="222B33"/>
                </a:solidFill>
                <a:latin typeface="Microsoft YaHei"/>
              </a:rPr>
              <a:t>▪ 带新人：先示范，再看着做，确认会了再放手</a:t>
            </a:r>
          </a:p>
          <a:p>
            <a:pPr>
              <a:spcAft>
                <a:spcPts val="1000"/>
              </a:spcAft>
            </a:pPr>
            <a:r>
              <a:rPr sz="2000">
                <a:solidFill>
                  <a:srgbClr val="222B33"/>
                </a:solidFill>
                <a:latin typeface="Microsoft YaHei"/>
              </a:rPr>
              <a:t>▪ 没学会的，不让单独上手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导师是学生安全意识的第一示范者。导师自己严格遵守规定、规范穿戴防护，在组会上经常讲安全、分享险情和教训，看到问题当场指出，学生才会真正重视安全。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只口头交代一句就让新人独立操作</a:t>
            </a:r>
          </a:p>
          <a:p>
            <a:pPr>
              <a:spcAft>
                <a:spcPts val="1000"/>
              </a:spcAft>
            </a:pPr>
            <a:r>
              <a:rPr sz="1500">
                <a:solidFill>
                  <a:srgbClr val="222B33"/>
                </a:solidFill>
                <a:latin typeface="Microsoft YaHei"/>
              </a:rPr>
              <a:t>▪ 导师自己不戴防护，却要求学生戴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人人有责：谁使用，谁负责</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实验室安全，每一个人都有责任</a:t>
            </a:r>
          </a:p>
          <a:p>
            <a:pPr>
              <a:spcAft>
                <a:spcPts val="1000"/>
              </a:spcAft>
            </a:pPr>
            <a:r>
              <a:rPr sz="2000">
                <a:solidFill>
                  <a:srgbClr val="222B33"/>
                </a:solidFill>
                <a:latin typeface="Microsoft YaHei"/>
              </a:rPr>
              <a:t>▪ 外来维修、施工人员同样要守规定</a:t>
            </a:r>
          </a:p>
          <a:p>
            <a:pPr>
              <a:spcAft>
                <a:spcPts val="1000"/>
              </a:spcAft>
            </a:pPr>
            <a:r>
              <a:rPr sz="2000">
                <a:solidFill>
                  <a:srgbClr val="222B33"/>
                </a:solidFill>
                <a:latin typeface="Microsoft YaHei"/>
              </a:rPr>
              <a:t>▪ 谁使用谁负责，严格按规程操作</a:t>
            </a:r>
          </a:p>
          <a:p>
            <a:pPr>
              <a:spcAft>
                <a:spcPts val="1000"/>
              </a:spcAft>
            </a:pPr>
            <a:r>
              <a:rPr sz="2000">
                <a:solidFill>
                  <a:srgbClr val="222B33"/>
                </a:solidFill>
                <a:latin typeface="Microsoft YaHei"/>
              </a:rPr>
              <a:t>▪ 设备损坏及时报告，不擅自维修；异常先停再报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无论是教师、学生，还是外来的维修、施工人员，只要进入实验室，就对安全负有责任。按照“谁使用、谁负责”的原则，每个人对自己的操作和所用的设备、试剂负责：参加培训，熟悉规程，严格按规程操作，不图省事、不走捷径。</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发现设备损坏自己动手拆修</a:t>
            </a:r>
          </a:p>
          <a:p>
            <a:pPr>
              <a:spcAft>
                <a:spcPts val="1000"/>
              </a:spcAft>
            </a:pPr>
            <a:r>
              <a:rPr sz="1500">
                <a:solidFill>
                  <a:srgbClr val="222B33"/>
                </a:solidFill>
                <a:latin typeface="Microsoft YaHei"/>
              </a:rPr>
              <a:t>▪ 出现异常继续操作，事后不报告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学生的安全权利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有权了解实验的危险和防护措施</a:t>
            </a:r>
          </a:p>
          <a:p>
            <a:pPr>
              <a:spcAft>
                <a:spcPts val="1000"/>
              </a:spcAft>
            </a:pPr>
            <a:r>
              <a:rPr sz="2000">
                <a:solidFill>
                  <a:srgbClr val="222B33"/>
                </a:solidFill>
                <a:latin typeface="Microsoft YaHei"/>
              </a:rPr>
              <a:t>▪ 对违章指挥、冒险作业有权拒绝</a:t>
            </a:r>
          </a:p>
          <a:p>
            <a:pPr>
              <a:spcAft>
                <a:spcPts val="1000"/>
              </a:spcAft>
            </a:pPr>
            <a:r>
              <a:rPr sz="2000">
                <a:solidFill>
                  <a:srgbClr val="222B33"/>
                </a:solidFill>
                <a:latin typeface="Microsoft YaHei"/>
              </a:rPr>
              <a:t>▪ 紧急危险时有权停止作业、撤离</a:t>
            </a:r>
          </a:p>
          <a:p>
            <a:pPr>
              <a:spcAft>
                <a:spcPts val="1000"/>
              </a:spcAft>
            </a:pPr>
            <a:r>
              <a:rPr sz="2000">
                <a:solidFill>
                  <a:srgbClr val="222B33"/>
                </a:solidFill>
                <a:latin typeface="Microsoft YaHei"/>
              </a:rPr>
              <a:t>▪ 如实报告隐患，学校鼓励并保护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人人有责，也人人有权。《中华人民共和国安全生产法》规定了从业人员的知情权（了解作业场所和岗位存在的危险因素、防范措施和事故应急措施）、建议权、批评检举控告权、拒绝违章指挥和强令冒险作业的权利，以及发现直接危及人身安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担心影响进度或得罪导师，接受冒险作业</a:t>
            </a:r>
          </a:p>
          <a:p>
            <a:pPr>
              <a:spcAft>
                <a:spcPts val="1000"/>
              </a:spcAft>
            </a:pPr>
            <a:r>
              <a:rPr sz="1500">
                <a:solidFill>
                  <a:srgbClr val="222B33"/>
                </a:solidFill>
                <a:latin typeface="Microsoft YaHei"/>
              </a:rPr>
              <a:t>▪ 怕被批评而隐瞒隐患或未遂事件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记住身边的安全联系人</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门口信息牌写明安全联系人和电话</a:t>
            </a:r>
          </a:p>
          <a:p>
            <a:pPr>
              <a:spcAft>
                <a:spcPts val="1000"/>
              </a:spcAft>
            </a:pPr>
            <a:r>
              <a:rPr sz="2000">
                <a:solidFill>
                  <a:srgbClr val="222B33"/>
                </a:solidFill>
                <a:latin typeface="Microsoft YaHei"/>
              </a:rPr>
              <a:t>▪ 进实验室前先记下找谁</a:t>
            </a:r>
          </a:p>
          <a:p>
            <a:pPr>
              <a:spcAft>
                <a:spcPts val="1000"/>
              </a:spcAft>
            </a:pPr>
            <a:r>
              <a:rPr sz="2000">
                <a:solidFill>
                  <a:srgbClr val="222B33"/>
                </a:solidFill>
                <a:latin typeface="Microsoft YaHei"/>
              </a:rPr>
              <a:t>▪ 逐级报告：负责人→学院→保卫处/实验室管理处</a:t>
            </a:r>
          </a:p>
          <a:p>
            <a:pPr>
              <a:spcAft>
                <a:spcPts val="1000"/>
              </a:spcAft>
            </a:pPr>
            <a:r>
              <a:rPr sz="2000">
                <a:solidFill>
                  <a:srgbClr val="222B33"/>
                </a:solidFill>
                <a:latin typeface="Microsoft YaHei"/>
              </a:rPr>
              <a:t>▪ 火警 119，急救 120</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每间实验室门口的安全信息牌上都写有安全责任人和应急联系电话。进入实验室前，要先把这些联系方式记下来（存入手机），同时记住学院安全管理员、学校保卫处和实验室安全管理部门的电话。</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出事后才临时找电话，耽误处置</a:t>
            </a:r>
          </a:p>
          <a:p>
            <a:pPr>
              <a:spcAft>
                <a:spcPts val="1000"/>
              </a:spcAft>
            </a:pPr>
            <a:r>
              <a:rPr sz="1500">
                <a:solidFill>
                  <a:srgbClr val="222B33"/>
                </a:solidFill>
                <a:latin typeface="Microsoft YaHei"/>
              </a:rPr>
              <a:t>▪ 只打 119 或 120，不向负责人和学校报告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签责任书，履职有考核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学校、学院、实验室层层签订安全责任书</a:t>
            </a:r>
          </a:p>
          <a:p>
            <a:pPr>
              <a:spcAft>
                <a:spcPts val="1000"/>
              </a:spcAft>
            </a:pPr>
            <a:r>
              <a:rPr sz="2000">
                <a:solidFill>
                  <a:srgbClr val="222B33"/>
                </a:solidFill>
                <a:latin typeface="Microsoft YaHei"/>
              </a:rPr>
              <a:t>▪ 个人进实验室前签安全承诺书</a:t>
            </a:r>
          </a:p>
          <a:p>
            <a:pPr>
              <a:spcAft>
                <a:spcPts val="1000"/>
              </a:spcAft>
            </a:pPr>
            <a:r>
              <a:rPr sz="2000">
                <a:solidFill>
                  <a:srgbClr val="222B33"/>
                </a:solidFill>
                <a:latin typeface="Microsoft YaHei"/>
              </a:rPr>
              <a:t>▪ 签了字就要照着做</a:t>
            </a:r>
          </a:p>
          <a:p>
            <a:pPr>
              <a:spcAft>
                <a:spcPts val="1000"/>
              </a:spcAft>
            </a:pPr>
            <a:r>
              <a:rPr sz="2000">
                <a:solidFill>
                  <a:srgbClr val="222B33"/>
                </a:solidFill>
                <a:latin typeface="Microsoft YaHei"/>
              </a:rPr>
              <a:t>▪ 履职纳入考核：做得好表彰，失职追责</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为把责任落实到人，学校与学院、学院与实验室之间通常逐级签订安全责任书，进入实验室的个人签订安全承诺书，明确各自的责任和义务。</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把责任书、承诺书当作走过场</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本实验室安全的第一责任人是：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实验室安全员</a:t>
            </a:r>
          </a:p>
          <a:p>
            <a:pPr algn="l"/>
            <a:r>
              <a:rPr sz="1500" b="0">
                <a:solidFill>
                  <a:srgbClr val="222B33"/>
                </a:solidFill>
                <a:latin typeface="Microsoft YaHei"/>
              </a:rPr>
              <a:t>B. 实验室负责人</a:t>
            </a:r>
          </a:p>
          <a:p>
            <a:pPr algn="l"/>
            <a:r>
              <a:rPr sz="1500" b="0">
                <a:solidFill>
                  <a:srgbClr val="222B33"/>
                </a:solidFill>
                <a:latin typeface="Microsoft YaHei"/>
              </a:rPr>
              <a:t>C. 学院安全管理员</a:t>
            </a:r>
          </a:p>
          <a:p>
            <a:pPr algn="l"/>
            <a:r>
              <a:rPr sz="1500" b="0">
                <a:solidFill>
                  <a:srgbClr val="222B33"/>
                </a:solidFill>
                <a:latin typeface="Microsoft YaHei"/>
              </a:rPr>
              <a:t>D. 学校保卫处</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下列哪项不是实验室安全员的主要职责？</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日常巡查、提醒规范操作</a:t>
            </a:r>
          </a:p>
          <a:p>
            <a:pPr algn="l"/>
            <a:r>
              <a:rPr sz="1500" b="0">
                <a:solidFill>
                  <a:srgbClr val="222B33"/>
                </a:solidFill>
                <a:latin typeface="Microsoft YaHei"/>
              </a:rPr>
              <a:t>B. 发现危险操作时叫停</a:t>
            </a:r>
          </a:p>
          <a:p>
            <a:pPr algn="l"/>
            <a:r>
              <a:rPr sz="1500" b="0">
                <a:solidFill>
                  <a:srgbClr val="222B33"/>
                </a:solidFill>
                <a:latin typeface="Microsoft YaHei"/>
              </a:rPr>
              <a:t>C. 督促大家加快实验进度</a:t>
            </a:r>
          </a:p>
          <a:p>
            <a:pPr algn="l"/>
            <a:r>
              <a:rPr sz="1500" b="0">
                <a:solidFill>
                  <a:srgbClr val="222B33"/>
                </a:solidFill>
                <a:latin typeface="Microsoft YaHei"/>
              </a:rPr>
              <a:t>D. 发现隐患及时上报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判断：导师要求在没有通风柜的情况下大量使用挥发性有毒试剂，学生有权拒绝并向学院报告。</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带新同学学习一项新操作，正确的顺序是：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口头交代后让其独立操作</a:t>
            </a:r>
          </a:p>
          <a:p>
            <a:pPr algn="l"/>
            <a:r>
              <a:rPr sz="1500" b="0">
                <a:solidFill>
                  <a:srgbClr val="222B33"/>
                </a:solidFill>
                <a:latin typeface="Microsoft YaHei"/>
              </a:rPr>
              <a:t>B. 先示范，再看着他做，确认会了再放手</a:t>
            </a:r>
          </a:p>
          <a:p>
            <a:pPr algn="l"/>
            <a:r>
              <a:rPr sz="1500" b="0">
                <a:solidFill>
                  <a:srgbClr val="222B33"/>
                </a:solidFill>
                <a:latin typeface="Microsoft YaHei"/>
              </a:rPr>
              <a:t>C. 让其自己看视频学</a:t>
            </a:r>
          </a:p>
          <a:p>
            <a:pPr algn="l"/>
            <a:r>
              <a:rPr sz="1500" b="0">
                <a:solidFill>
                  <a:srgbClr val="222B33"/>
                </a:solidFill>
                <a:latin typeface="Microsoft YaHei"/>
              </a:rPr>
              <a:t>D. 先让其试，出错再纠正</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004 · 三级管理与安全责任</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004 三级管理与安全责任</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简答：实验室发生问题时，校内逐级报告的顺序是什么？</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三级管理：责任共担一条链</a:t>
            </a:r>
          </a:p>
          <a:p>
            <a:pPr>
              <a:spcAft>
                <a:spcPts val="800"/>
              </a:spcAft>
            </a:pPr>
            <a:r>
              <a:rPr sz="1500">
                <a:solidFill>
                  <a:srgbClr val="FFFFFF"/>
                </a:solidFill>
                <a:latin typeface="Microsoft YaHei"/>
              </a:rPr>
              <a:t>▪ K2  学校要提供安全条件</a:t>
            </a:r>
          </a:p>
          <a:p>
            <a:pPr>
              <a:spcAft>
                <a:spcPts val="800"/>
              </a:spcAft>
            </a:pPr>
            <a:r>
              <a:rPr sz="1500">
                <a:solidFill>
                  <a:srgbClr val="FFFFFF"/>
                </a:solidFill>
                <a:latin typeface="Microsoft YaHei"/>
              </a:rPr>
              <a:t>▪ K3  实验室负责人是第一责任人</a:t>
            </a:r>
          </a:p>
          <a:p>
            <a:pPr>
              <a:spcAft>
                <a:spcPts val="800"/>
              </a:spcAft>
            </a:pPr>
            <a:r>
              <a:rPr sz="1500">
                <a:solidFill>
                  <a:srgbClr val="FFFFFF"/>
                </a:solidFill>
                <a:latin typeface="Microsoft YaHei"/>
              </a:rPr>
              <a:t>▪ K4  负责人外出要指定代理人</a:t>
            </a:r>
          </a:p>
          <a:p>
            <a:pPr>
              <a:spcAft>
                <a:spcPts val="800"/>
              </a:spcAft>
            </a:pPr>
            <a:r>
              <a:rPr sz="1500">
                <a:solidFill>
                  <a:srgbClr val="FFFFFF"/>
                </a:solidFill>
                <a:latin typeface="Microsoft YaHei"/>
              </a:rPr>
              <a:t>▪ K5  学校和学院的安全管理人员</a:t>
            </a:r>
          </a:p>
          <a:p>
            <a:pPr>
              <a:spcAft>
                <a:spcPts val="800"/>
              </a:spcAft>
            </a:pPr>
            <a:r>
              <a:rPr sz="1500">
                <a:solidFill>
                  <a:srgbClr val="FFFFFF"/>
                </a:solidFill>
                <a:latin typeface="Microsoft YaHei"/>
              </a:rPr>
              <a:t>▪ K6  实验室安全员：巡查、叫停、上报</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K7  导师和带教人的责任</a:t>
            </a:r>
          </a:p>
          <a:p>
            <a:pPr>
              <a:spcAft>
                <a:spcPts val="800"/>
              </a:spcAft>
            </a:pPr>
            <a:r>
              <a:rPr sz="1500">
                <a:solidFill>
                  <a:srgbClr val="FFFFFF"/>
                </a:solidFill>
                <a:latin typeface="Microsoft YaHei"/>
              </a:rPr>
              <a:t>▪ K8  人人有责：谁使用，谁负责</a:t>
            </a:r>
          </a:p>
          <a:p>
            <a:pPr>
              <a:spcAft>
                <a:spcPts val="800"/>
              </a:spcAft>
            </a:pPr>
            <a:r>
              <a:rPr sz="1500">
                <a:solidFill>
                  <a:srgbClr val="FFFFFF"/>
                </a:solidFill>
                <a:latin typeface="Microsoft YaHei"/>
              </a:rPr>
              <a:t>▪ K9  学生的安全权利</a:t>
            </a:r>
          </a:p>
          <a:p>
            <a:pPr>
              <a:spcAft>
                <a:spcPts val="800"/>
              </a:spcAft>
            </a:pPr>
            <a:r>
              <a:rPr sz="1500">
                <a:solidFill>
                  <a:srgbClr val="FFFFFF"/>
                </a:solidFill>
                <a:latin typeface="Microsoft YaHei"/>
              </a:rPr>
              <a:t>▪ K10  记住身边的安全联系人</a:t>
            </a:r>
          </a:p>
          <a:p>
            <a:pPr>
              <a:spcAft>
                <a:spcPts val="800"/>
              </a:spcAft>
            </a:pPr>
            <a:r>
              <a:rPr sz="1500">
                <a:solidFill>
                  <a:srgbClr val="FFFFFF"/>
                </a:solidFill>
                <a:latin typeface="Microsoft YaHei"/>
              </a:rPr>
              <a:t>▪ K11  签责任书，履职有考核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