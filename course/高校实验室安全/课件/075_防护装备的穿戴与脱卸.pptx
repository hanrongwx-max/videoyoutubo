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穿戴防护装备前先做准备：摘下戒指、手链、手表等首饰，它们会戳破手套、藏污纳垢，也让手套戴不服帖。手机、外套、包和笔等个人物品放在实验室外的储物柜里，不带进实验区（着装和个人物品要求见第 020 课）。</a:t>
            </a:r>
          </a:p>
          <a:p>
            <a:r>
              <a:t>有长发的，把头发束起、盘好，必要时戴帽子，防止头发垂落沾污或碰到面部。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按风险评估备齐本次要用的装备（选择见第 074 课）。常规操作的基本装备是紧袖口的实验服、手套和带侧护的护目镜；有飞沫、飞溅风险时，换穿隔离衣，加戴口罩和面屏。隔离衣应前襟完整、后开、袖口收紧（针织或松紧袖口）。</a:t>
            </a:r>
          </a:p>
          <a:p>
            <a:r>
              <a:t>实验服、隔离衣和手套要尺码合身，方便活动。穿前逐件检查有无撕裂、破洞、缺扣、系带松脱，有缺陷的换新的，不凑合。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穿戴区和脱卸区要分开设置，避免脱下的污染防护用品碰到干净的衣物和装备。有缓冲间的实验室，防护装备备齐在缓冲间，进去前在这里穿，出来在这里脱。</a:t>
            </a:r>
          </a:p>
          <a:p>
            <a:r>
              <a:t>进入较高风险区域前，在缓冲间按评估要求穿戴好（如送风式呼吸器），用前检查，确认无误再进入实验区。高级别防护装备须经培训考核后才能使用。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穿戴顺序贴在穿戴区墙上，照着做。国内常用的顺序是：手卫生→戴帽子→戴口罩（医用防护口罩做密合性检查）→戴护目镜或面屏→穿隔离衣（或防护服）→戴手套。只穿基本三件时：扣好实验服→戴护目镜→戴手套。</a:t>
            </a:r>
          </a:p>
          <a:p>
            <a:r>
              <a:t>各单位、各类实验室的具体顺序可能略有不同（例如有的规程先穿隔离衣再戴面屏），以本单位标准操作规程为准；共同的原则是手套最后戴、盖住袖口。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戴医用口罩：把耳挂挂在耳后，鼻夹一侧朝上，用双手食指从中间向两侧按压鼻夹，让口罩上缘贴紧鼻梁和面颊，再把口罩下缘拉到下巴下方。不要用单手捏鼻夹，会捏出尖角漏气。</a:t>
            </a:r>
          </a:p>
          <a:p>
            <a:r>
              <a:t>医用防护口罩每次戴好后做密合性检查（双手捂住口罩快速呼气、吸气，感觉边缘是否漏气），漏气就调整鼻夹和头带；适合性检验见第 025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戴面屏：先拉开弹力头带，套到脑后，海绵衬垫贴在眉毛上方的额头。戴好后面屏要盖住前额、下缘过下巴、两侧包住面颊。</a:t>
            </a:r>
          </a:p>
          <a:p>
            <a:r>
              <a:t>戴护目镜时，调整头带让镜框贴合眼周，不压迫口罩上缘；戴眼镜的选能罩在眼镜外的护目镜（眼面防护见第 022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穿隔离衣：手臂伸进袖子，把衣服拉到肩上，在颈后系好领口的带子，腰带在背后或侧面系上。</a:t>
            </a:r>
          </a:p>
          <a:p>
            <a:r>
              <a:t>带子要系牢，但打活结、不要勒得太紧，脱的时候才好解开或扯断。隔离衣要合身、方便活动，前后都要遮住日常衣物，不让里面的衣服露在外面。</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最后戴手套：先把隔离衣袖口拉到掌心，再把手套口拉起，套在袖口外面，而不是塞进袖子里。这样袖子不会滑出来，袖口也不会沾上污染。</a:t>
            </a:r>
          </a:p>
          <a:p>
            <a:r>
              <a:t>穿一次性连体防护服时，先戴内层手套盖住袖口，手腕处是最容易出现缺口的地方，按规程把缝隙封严；处理体液等液体样本时，连体服能在洒出时护住全身。开工前再检查一遍手套，确认没有破口。</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风险较高时，按规程戴双层手套：内层盖住袖口，最后再戴一层外手套。外层沾上污染，在实验室内（或生物安全柜内）脱掉外层，换上新的，内层一直护着手。戴几层、怎么脱，按本实验室规程执行。</a:t>
            </a:r>
          </a:p>
          <a:p>
            <a:r>
              <a:t>手套沾上样本或破损，立即在柜内脱下丢进废物容器，手部消毒后换上新手套。如果手部皮肤也破了，按暴露处置并报告（见第 078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使用动力送风过滤式呼吸器（送风头罩）时，穿戴顺序写在规程里，照规程做。第一步先把装有风机和电池的腰带系好、调好松紧：穿上防护服以后就够不着了。</a:t>
            </a:r>
          </a:p>
          <a:p>
            <a:r>
              <a:t>把送风导管接好、插紧、拧牢；调好头盔（头罩）里的头箍，让它稳稳贴住额头。送风呼吸器的用前检查和故障时的退出程序见第 025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戴头罩之前一定先开机，伸手在头罩里感觉一下，确认有风送进来再戴；不送风就戴上，会憋闷，有窒息危险。顺序不能反。</a:t>
            </a:r>
          </a:p>
          <a:p>
            <a:r>
              <a:t>按规程先穿好连体防护服，风机转着把头罩从头顶套下，戴正，把披肩拉平、盖住肩膀，对镜看披肩有没有卷边。头罩的披肩塞进防护服，导管收在里面不外露，再拉好拉链、系紧颈部。</a:t>
            </a:r>
          </a:p>
          <a:p>
            <a:r>
              <a:t>进门前看风机的指示灯：全亮说明供电和送风正常；指示灯不全亮就不要进入。</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穿完对着镜子逐一检查：头罩或帽子、口罩、护目镜或面屏、拉链和系带、手腕处的手套、脚下的鞋套，有没有缺口和卷边。</a:t>
            </a:r>
          </a:p>
          <a:p>
            <a:r>
              <a:t>镜子看不到背后，请同伴帮忙看后背、颈部和手腕，互相检查后再进门。穿脱流程要反复演练，脱卸区贴好流程图；练熟并经考核合格后，才能独立进入实验室。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脱卸是最容易自我污染的环节。原则是从最脏的脱到最干净的：手套污染最重先脱，口罩贴着口鼻最后摘。国内常用的顺序是：摘手套→手卫生→摘护目镜或面屏→脱隔离衣（或防护服）→手卫生→摘口罩、帽子→洗手（以本单位 SOP 为准）。</a:t>
            </a:r>
          </a:p>
          <a:p>
            <a:r>
              <a:t>防护用品不能穿出实验室，要在脱卸区按规定顺序一件一件脱，脏的一面朝里，不碰到身体和日常衣物；一次性的丢进感染性废物容器，可重复使用的按规程处理。</a:t>
            </a:r>
          </a:p>
          <a:p>
            <a:r>
              <a:t>脱卸的方法和顺序不止一种（见 K18）。实验室要按风险评估先选定一种，写进本实验室的操作规程，大家统一照做，不要临场乱换。</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摘手套动作要慢、要轻，避免弹起飞溅。步骤：①用一只手的手指捏起另一只手套腕部的外侧，注意脏手套不要碰到袖口；②整只拉下，手套翻成里朝外，握在仍戴着手套的手里；③裸手的手指从剩下那只手套的手腕内侧伸进去，向上、向外翻下，把两只包成一团（通用要求见第 023 课）。</a:t>
            </a:r>
          </a:p>
          <a:p>
            <a:r>
              <a:t>整个过程中干净的手不碰手套外面。脱下的手套丢进感染性废物容器，一次性手套绝不重复使用。</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摘下手套后，手上可能已沾上看不见的污染，要先做手卫生：用速干手消毒剂揉搓双手，或洗手；有的规程要求换戴一副干净手套再继续脱其他防护用品。按本实验室规程执行，再脱下一件。</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摘面屏：头稍向前倾，捏住耳朵上方的头带，轻轻提起离开面部；面屏前片可能有污染，不要碰。一次性面屏丢进感染性废物容器。</a:t>
            </a:r>
          </a:p>
          <a:p>
            <a:r>
              <a:t>摘护目镜：捏住太阳穴处的镜腿取下，镜腿沾污的可能小，不碰镜片；放到指定位置，按规程统一清洁消毒。清洁消毒护目镜时也要戴手套，用规定的消毒剂，作用时间要够（以本单位 SOP 和产品说明为准）。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脱隔离衣：解开腰带，抓住两肩向前拉，让颈后的系带松开（或按规程解开）；从肩部往前脱下，远离身体，边脱边卷，让外面翻到里面，卷成一团，脏的外面不碰到裸手和日常衣物，丢进感染性废物容器。</a:t>
            </a:r>
          </a:p>
          <a:p>
            <a:r>
              <a:t>脱实验服：实验服外面可能有污染，裸手不碰；袖口一直被手套盖着，是干净的。解开扣子，捏住一只袖口的内侧把手臂抽出来，另一只同样抽出。可以再穿的实验服挂到指定位置；有明显污染或需要丢弃的，里面朝向自己向外折，里朝外卷成一团，丢进感染性废物容器（实验服的清洗见第 024 课）。</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先摘手套，还有两种规程常用的做法。一种是隔离衣与手套一起脱：抓肩前拉松开领口，往前脱下时手臂往外抽，捏住手套连同袖口一起剥下，手套留在袖子里，双手干净地出来，衣服连手套里朝外卷成一团丢弃，脏面不碰裸手和日常衣物。</a:t>
            </a:r>
          </a:p>
          <a:p>
            <a:r>
              <a:t>另一种是先脱隔离衣、后摘手套：脱到袖子时，把袖子从手套下面拉出来，手套先留在手上，隔离衣卷团丢弃后，再用翻脱法摘手套。</a:t>
            </a:r>
          </a:p>
          <a:p>
            <a:r>
              <a:t>无论哪一种，脱完都要手卫生，具体用哪种由风险评估确定并写进本实验室规程（见 K13）。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口罩贴着口鼻，在其他防护用品脱完、手卫生后最后摘：只捏住耳挂（或头带）从耳后取下，不碰口罩外面，离开面部后直接丢进感染性废物容器。医用防护口罩先拉下下方头带，再拉上方头带。</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摘送风头罩时，风机保持运转，按规程摘下头盔：头罩外面都当作污染，手只碰规定的位置，脸不碰外面。摘下后放到指定位置等待去污，然后再关机、断开电池。摘完马上洗手。</a:t>
            </a:r>
          </a:p>
          <a:p>
            <a:r>
              <a:t>先关风机再摘，头罩内失去正压，外面的污染容易进到面部。</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全部脱完，最后一步是用流动水和洗手液（肥皂）洗手：手心、手背、指缝、指尖、指甲下、拇指和手腕都要认真揉搓，时间要够（洗手步骤见第 020 课）。用一次性纸巾擦干，再用纸巾关水龙头。</a:t>
            </a:r>
          </a:p>
          <a:p>
            <a:r>
              <a:t>摘手套后、接触污染后、离开实验室前都必须洗手。暂时没有洗手条件时，先用速干手消毒剂，有条件后尽快洗手。洗完手再离开实验室。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答案：B。解析：手套最后戴并盖住袖口；具体顺序以本单位 SOP 为准。</a:t>
            </a:r>
          </a:p>
          <a:p>
            <a:r>
              <a:t>第 2 题 答案：B。解析：脱卸从最脏的（手套）开始，口罩最后摘，每脱下高污染物品后做手卫生。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答案：B。解析：干净的手始终不碰手套外面。</a:t>
            </a:r>
          </a:p>
          <a:p>
            <a:r>
              <a:t>第 4 题 答案：B。解析：不送风戴头罩有窒息危险；摘时风机运转，保持正压防止污染进入面部。</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答案：B。解析：脱法按风险评估选定一种，写进规程，统一照做。</a:t>
            </a:r>
          </a:p>
          <a:p>
            <a:r>
              <a:t>第 6 题 答案：在脱卸区进行；从最脏到最干净；手套用翻脱法，裸手不碰外面；摘手套后手卫生；面屏捏头带、口罩捏耳挂；隔离衣外面朝里卷起；最后洗手。解析：脏面朝里、不碰身体和日常衣物。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075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防护装备的穿戴与脱卸</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74 镜）　适用对象：进入生物安全实验室、临床检验或病原微生物实验区的高校本科生、研究生和教职工（必修，须经穿脱演练考核）；实验室负责人和生物安全员重点学习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能做到穿前准备（摘首饰、个人物品留门外、束长发、检查装备），在穿戴区按顺序穿戴：手卫生→帽子→口罩→护目镜/面屏→隔离衣→手套（以本单位 SOP 为准）。</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能做到手套盖住袖口、口罩压紧鼻夹、面屏遮全脸、隔离衣系活结，按需戴双层手套，穿完对镜自查、同伴互查。</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能做到在脱卸区从最脏到最干净脱卸：先摘手套（翻脱法）→手卫生→摘面屏/护目镜→脱隔离衣（外面朝里卷）→摘口罩→洗手，全程不自我污染。</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能说出送风头罩“先开机有风再戴、摘下后再关机”的要求，以及脱卸方法须统一写进本实验室规程。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《病原微生物实验室生物安全管理条例》（以现行文本为准）：实验人员按标准操作规程使用个人防护用品并接受培训</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生物安全通用要求》：个体防护装备的穿戴和脱卸程序、防护区出入要求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233（以现行文本为准）《病原微生物实验室生物安全通用准则》：个人防护和实验室操作规范</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WS/T 311-2023（以现行文本为准）《医院隔离技术标准》：防护用品穿脱顺序和方法（临床实验室参照）</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WS/T 313-2019（以现行文本为准）《医务人员手卫生规范》：洗手与卫生手消毒的时机和方法</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19082-2023、GB 19083-2023（以现行文本为准）：医用一次性防护服、医用防护口罩技术要求</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30864-2014（以现行文本为准）《呼吸防护 动力送风过滤式呼吸器》</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本校生物安全实验室管理规定和本实验室个人防护装备穿脱标准操作规程（以本校规定为准）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穿前准备：摘首饰、物品留门外、束长发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首饰、手表先摘下</a:t>
            </a:r>
          </a:p>
          <a:p>
            <a:pPr>
              <a:spcAft>
                <a:spcPts val="1000"/>
              </a:spcAft>
            </a:pPr>
            <a:r>
              <a:rPr sz="2000">
                <a:solidFill>
                  <a:srgbClr val="222B33"/>
                </a:solidFill>
                <a:latin typeface="Microsoft YaHei"/>
              </a:rPr>
              <a:t>▪ 手机、外套、包、笔留在实验室外</a:t>
            </a:r>
          </a:p>
          <a:p>
            <a:pPr>
              <a:spcAft>
                <a:spcPts val="1000"/>
              </a:spcAft>
            </a:pPr>
            <a:r>
              <a:rPr sz="2000">
                <a:solidFill>
                  <a:srgbClr val="222B33"/>
                </a:solidFill>
                <a:latin typeface="Microsoft YaHei"/>
              </a:rPr>
              <a:t>▪ 长发束起来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穿戴防护装备前先做准备：摘下戒指、手链、手表等首饰，它们会戳破手套、藏污纳垢，也让手套戴不服帖。手机、外套、包和笔等个人物品放在实验室外的储物柜里，不带进实验区（着装和个人物品要求见第 020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戴着戒指、手表戴手套</a:t>
            </a:r>
          </a:p>
          <a:p>
            <a:pPr>
              <a:spcAft>
                <a:spcPts val="1000"/>
              </a:spcAft>
            </a:pPr>
            <a:r>
              <a:rPr sz="1500">
                <a:solidFill>
                  <a:srgbClr val="222B33"/>
                </a:solidFill>
                <a:latin typeface="Microsoft YaHei"/>
              </a:rPr>
              <a:t>▪ 把手机揣在隔离衣里带进实验区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备齐装备，合身无破损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常规操作：实验服、护目镜、手套</a:t>
            </a:r>
          </a:p>
          <a:p>
            <a:pPr>
              <a:spcAft>
                <a:spcPts val="1000"/>
              </a:spcAft>
            </a:pPr>
            <a:r>
              <a:rPr sz="2000">
                <a:solidFill>
                  <a:srgbClr val="222B33"/>
                </a:solidFill>
                <a:latin typeface="Microsoft YaHei"/>
              </a:rPr>
              <a:t>▪ 有飞溅风险：加隔离衣、口罩、面屏</a:t>
            </a:r>
          </a:p>
          <a:p>
            <a:pPr>
              <a:spcAft>
                <a:spcPts val="1000"/>
              </a:spcAft>
            </a:pPr>
            <a:r>
              <a:rPr sz="2000">
                <a:solidFill>
                  <a:srgbClr val="222B33"/>
                </a:solidFill>
                <a:latin typeface="Microsoft YaHei"/>
              </a:rPr>
              <a:t>▪ 隔离衣前襟完整、后开、袖口收紧</a:t>
            </a:r>
          </a:p>
          <a:p>
            <a:pPr>
              <a:spcAft>
                <a:spcPts val="1000"/>
              </a:spcAft>
            </a:pPr>
            <a:r>
              <a:rPr sz="2000">
                <a:solidFill>
                  <a:srgbClr val="222B33"/>
                </a:solidFill>
                <a:latin typeface="Microsoft YaHei"/>
              </a:rPr>
              <a:t>▪ 穿前查破洞、撕裂、系带，坏了就换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按风险评估备齐本次要用的装备（选择见第 074 课）。常规操作的基本装备是紧袖口的实验服、手套和带侧护的护目镜；有飞沫、飞溅风险时，换穿隔离衣，加戴口罩和面屏。隔离衣应前襟完整、后开、袖口收紧（针织或松紧袖口）。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不检查就穿，进去后才发现破洞</a:t>
            </a:r>
          </a:p>
          <a:p>
            <a:pPr>
              <a:spcAft>
                <a:spcPts val="1000"/>
              </a:spcAft>
            </a:pPr>
            <a:r>
              <a:rPr sz="1500">
                <a:solidFill>
                  <a:srgbClr val="222B33"/>
                </a:solidFill>
                <a:latin typeface="Microsoft YaHei"/>
              </a:rPr>
              <a:t>▪ 尺码不合适也凑合着穿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穿脱分区，在缓冲间穿好再进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穿戴区和脱卸区分开</a:t>
            </a:r>
          </a:p>
          <a:p>
            <a:pPr>
              <a:spcAft>
                <a:spcPts val="1000"/>
              </a:spcAft>
            </a:pPr>
            <a:r>
              <a:rPr sz="2000">
                <a:solidFill>
                  <a:srgbClr val="222B33"/>
                </a:solidFill>
                <a:latin typeface="Microsoft YaHei"/>
              </a:rPr>
              <a:t>▪ 免得脏防护用品沾到干净物品</a:t>
            </a:r>
          </a:p>
          <a:p>
            <a:pPr>
              <a:spcAft>
                <a:spcPts val="1000"/>
              </a:spcAft>
            </a:pPr>
            <a:r>
              <a:rPr sz="2000">
                <a:solidFill>
                  <a:srgbClr val="222B33"/>
                </a:solidFill>
                <a:latin typeface="Microsoft YaHei"/>
              </a:rPr>
              <a:t>▪ 在缓冲间穿好，确认无误再进门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穿戴区和脱卸区要分开设置，避免脱下的污染防护用品碰到干净的衣物和装备。有缓冲间的实验室，防护装备备齐在缓冲间，进去前在这里穿，出来在这里脱。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在走廊里穿脱防护用品</a:t>
            </a:r>
          </a:p>
          <a:p>
            <a:pPr>
              <a:spcAft>
                <a:spcPts val="1000"/>
              </a:spcAft>
            </a:pPr>
            <a:r>
              <a:rPr sz="1500">
                <a:solidFill>
                  <a:srgbClr val="222B33"/>
                </a:solidFill>
                <a:latin typeface="Microsoft YaHei"/>
              </a:rPr>
              <a:t>▪ 脱下的隔离衣扔在干净衣物旁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穿戴顺序：口罩护目在前，手套最后</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穿前先做手卫生</a:t>
            </a:r>
          </a:p>
          <a:p>
            <a:pPr>
              <a:spcAft>
                <a:spcPts val="1000"/>
              </a:spcAft>
            </a:pPr>
            <a:r>
              <a:rPr sz="2000">
                <a:solidFill>
                  <a:srgbClr val="222B33"/>
                </a:solidFill>
                <a:latin typeface="Microsoft YaHei"/>
              </a:rPr>
              <a:t>▪ 常用：帽子、口罩、护目镜、隔离衣、手套</a:t>
            </a:r>
          </a:p>
          <a:p>
            <a:pPr>
              <a:spcAft>
                <a:spcPts val="1000"/>
              </a:spcAft>
            </a:pPr>
            <a:r>
              <a:rPr sz="2000">
                <a:solidFill>
                  <a:srgbClr val="222B33"/>
                </a:solidFill>
                <a:latin typeface="Microsoft YaHei"/>
              </a:rPr>
              <a:t>▪ 基本三件：实验服、护目镜、手套</a:t>
            </a:r>
          </a:p>
          <a:p>
            <a:pPr>
              <a:spcAft>
                <a:spcPts val="1000"/>
              </a:spcAft>
            </a:pPr>
            <a:r>
              <a:rPr sz="2000">
                <a:solidFill>
                  <a:srgbClr val="222B33"/>
                </a:solidFill>
                <a:latin typeface="Microsoft YaHei"/>
              </a:rPr>
              <a:t>▪ 手套最后戴，以本单位规程为准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穿戴顺序贴在穿戴区墙上，照着做。国内常用的顺序是：手卫生→戴帽子→戴口罩（医用防护口罩做密合性检查）→戴护目镜或面屏→穿隔离衣（或防护服）→戴手套。只穿基本三件时：扣好实验服→戴护目镜→戴手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先戴手套再穿隔离衣、戴口罩</a:t>
            </a:r>
          </a:p>
          <a:p>
            <a:pPr>
              <a:spcAft>
                <a:spcPts val="1000"/>
              </a:spcAft>
            </a:pPr>
            <a:r>
              <a:rPr sz="1500">
                <a:solidFill>
                  <a:srgbClr val="222B33"/>
                </a:solidFill>
                <a:latin typeface="Microsoft YaHei"/>
              </a:rPr>
              <a:t>▪ 不看流程图，凭记忆随意穿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口罩：压鼻夹，贴紧鼻梁面颊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耳挂挂在耳后，金属鼻夹朝上</a:t>
            </a:r>
          </a:p>
          <a:p>
            <a:pPr>
              <a:spcAft>
                <a:spcPts val="1000"/>
              </a:spcAft>
            </a:pPr>
            <a:r>
              <a:rPr sz="2000">
                <a:solidFill>
                  <a:srgbClr val="222B33"/>
                </a:solidFill>
                <a:latin typeface="Microsoft YaHei"/>
              </a:rPr>
              <a:t>▪ 双手食指按压鼻夹两侧</a:t>
            </a:r>
          </a:p>
          <a:p>
            <a:pPr>
              <a:spcAft>
                <a:spcPts val="1000"/>
              </a:spcAft>
            </a:pPr>
            <a:r>
              <a:rPr sz="2000">
                <a:solidFill>
                  <a:srgbClr val="222B33"/>
                </a:solidFill>
                <a:latin typeface="Microsoft YaHei"/>
              </a:rPr>
              <a:t>▪ 上缘贴紧鼻梁和面颊</a:t>
            </a:r>
          </a:p>
          <a:p>
            <a:pPr>
              <a:spcAft>
                <a:spcPts val="1000"/>
              </a:spcAft>
            </a:pPr>
            <a:r>
              <a:rPr sz="2000">
                <a:solidFill>
                  <a:srgbClr val="222B33"/>
                </a:solidFill>
                <a:latin typeface="Microsoft YaHei"/>
              </a:rPr>
              <a:t>▪ 医用防护口罩每次戴好查密合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戴医用口罩：把耳挂挂在耳后，鼻夹一侧朝上，用双手食指从中间向两侧按压鼻夹，让口罩上缘贴紧鼻梁和面颊，再把口罩下缘拉到下巴下方。不要用单手捏鼻夹，会捏出尖角漏气。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鼻夹不压，鼻梁两侧漏气</a:t>
            </a:r>
          </a:p>
          <a:p>
            <a:pPr>
              <a:spcAft>
                <a:spcPts val="1000"/>
              </a:spcAft>
            </a:pPr>
            <a:r>
              <a:rPr sz="1500">
                <a:solidFill>
                  <a:srgbClr val="222B33"/>
                </a:solidFill>
                <a:latin typeface="Microsoft YaHei"/>
              </a:rPr>
              <a:t>▪ 口罩只遮嘴不遮鼻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面屏：盖住前额、下巴和两侧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拉开弹力头带，套到脑后</a:t>
            </a:r>
          </a:p>
          <a:p>
            <a:pPr>
              <a:spcAft>
                <a:spcPts val="1000"/>
              </a:spcAft>
            </a:pPr>
            <a:r>
              <a:rPr sz="2000">
                <a:solidFill>
                  <a:srgbClr val="222B33"/>
                </a:solidFill>
                <a:latin typeface="Microsoft YaHei"/>
              </a:rPr>
              <a:t>▪ 海绵贴在眉毛上方</a:t>
            </a:r>
          </a:p>
          <a:p>
            <a:pPr>
              <a:spcAft>
                <a:spcPts val="1000"/>
              </a:spcAft>
            </a:pPr>
            <a:r>
              <a:rPr sz="2000">
                <a:solidFill>
                  <a:srgbClr val="222B33"/>
                </a:solidFill>
                <a:latin typeface="Microsoft YaHei"/>
              </a:rPr>
              <a:t>▪ 盖住前额，过下巴，包住两侧</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戴面屏：先拉开弹力头带，套到脑后，海绵衬垫贴在眉毛上方的额头。戴好后面屏要盖住前额、下缘过下巴、两侧包住面颊。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面屏太短，下巴露在外面</a:t>
            </a:r>
          </a:p>
          <a:p>
            <a:pPr>
              <a:spcAft>
                <a:spcPts val="1000"/>
              </a:spcAft>
            </a:pPr>
            <a:r>
              <a:rPr sz="1500">
                <a:solidFill>
                  <a:srgbClr val="222B33"/>
                </a:solidFill>
                <a:latin typeface="Microsoft YaHei"/>
              </a:rPr>
              <a:t>▪ 护目镜压在口罩上缘造成漏气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隔离衣：系活结，遮住日常衣物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颈后、腰后系好带子</a:t>
            </a:r>
          </a:p>
          <a:p>
            <a:pPr>
              <a:spcAft>
                <a:spcPts val="1000"/>
              </a:spcAft>
            </a:pPr>
            <a:r>
              <a:rPr sz="2000">
                <a:solidFill>
                  <a:srgbClr val="222B33"/>
                </a:solidFill>
                <a:latin typeface="Microsoft YaHei"/>
              </a:rPr>
              <a:t>▪ 系活结，别打死结、别勒太紧</a:t>
            </a:r>
          </a:p>
          <a:p>
            <a:pPr>
              <a:spcAft>
                <a:spcPts val="1000"/>
              </a:spcAft>
            </a:pPr>
            <a:r>
              <a:rPr sz="2000">
                <a:solidFill>
                  <a:srgbClr val="222B33"/>
                </a:solidFill>
                <a:latin typeface="Microsoft YaHei"/>
              </a:rPr>
              <a:t>▪ 合身好活动，日常衣物不外露</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穿隔离衣：手臂伸进袖子，把衣服拉到肩上，在颈后系好领口的带子，腰带在背后或侧面系上。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腰带打死结，脱时解不开</a:t>
            </a:r>
          </a:p>
          <a:p>
            <a:pPr>
              <a:spcAft>
                <a:spcPts val="1000"/>
              </a:spcAft>
            </a:pPr>
            <a:r>
              <a:rPr sz="1500">
                <a:solidFill>
                  <a:srgbClr val="222B33"/>
                </a:solidFill>
                <a:latin typeface="Microsoft YaHei"/>
              </a:rPr>
              <a:t>▪ 隔离衣太小，后背敞开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手套套在袖口外，手腕封严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最后戴手套，先把袖口拉到掌心</a:t>
            </a:r>
          </a:p>
          <a:p>
            <a:pPr>
              <a:spcAft>
                <a:spcPts val="1000"/>
              </a:spcAft>
            </a:pPr>
            <a:r>
              <a:rPr sz="2000">
                <a:solidFill>
                  <a:srgbClr val="222B33"/>
                </a:solidFill>
                <a:latin typeface="Microsoft YaHei"/>
              </a:rPr>
              <a:t>▪ 手套套在袖口外面，不是塞进袖子</a:t>
            </a:r>
          </a:p>
          <a:p>
            <a:pPr>
              <a:spcAft>
                <a:spcPts val="1000"/>
              </a:spcAft>
            </a:pPr>
            <a:r>
              <a:rPr sz="2000">
                <a:solidFill>
                  <a:srgbClr val="222B33"/>
                </a:solidFill>
                <a:latin typeface="Microsoft YaHei"/>
              </a:rPr>
              <a:t>▪ 穿连体服的，手腕缝隙按规程封严</a:t>
            </a:r>
          </a:p>
          <a:p>
            <a:pPr>
              <a:spcAft>
                <a:spcPts val="1000"/>
              </a:spcAft>
            </a:pPr>
            <a:r>
              <a:rPr sz="2000">
                <a:solidFill>
                  <a:srgbClr val="222B33"/>
                </a:solidFill>
                <a:latin typeface="Microsoft YaHei"/>
              </a:rPr>
              <a:t>▪ 开工前再查一遍手套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最后戴手套：先把隔离衣袖口拉到掌心，再把手套口拉起，套在袖口外面，而不是塞进袖子里。这样袖子不会滑出来，袖口也不会沾上污染。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手套塞在袖子里，手腕露出</a:t>
            </a:r>
          </a:p>
          <a:p>
            <a:pPr>
              <a:spcAft>
                <a:spcPts val="1000"/>
              </a:spcAft>
            </a:pPr>
            <a:r>
              <a:rPr sz="1500">
                <a:solidFill>
                  <a:srgbClr val="222B33"/>
                </a:solidFill>
                <a:latin typeface="Microsoft YaHei"/>
              </a:rPr>
              <a:t>▪ 戴好手套后不再检查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双层手套：外层脏了换外层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风险较高时戴两层，外层最后戴</a:t>
            </a:r>
          </a:p>
          <a:p>
            <a:pPr>
              <a:spcAft>
                <a:spcPts val="1000"/>
              </a:spcAft>
            </a:pPr>
            <a:r>
              <a:rPr sz="2000">
                <a:solidFill>
                  <a:srgbClr val="222B33"/>
                </a:solidFill>
                <a:latin typeface="Microsoft YaHei"/>
              </a:rPr>
              <a:t>▪ 外层脏了在实验室内只换外层</a:t>
            </a:r>
          </a:p>
          <a:p>
            <a:pPr>
              <a:spcAft>
                <a:spcPts val="1000"/>
              </a:spcAft>
            </a:pPr>
            <a:r>
              <a:rPr sz="2000">
                <a:solidFill>
                  <a:srgbClr val="222B33"/>
                </a:solidFill>
                <a:latin typeface="Microsoft YaHei"/>
              </a:rPr>
              <a:t>▪ 手套破了立即换，手消毒后戴新的</a:t>
            </a:r>
          </a:p>
          <a:p>
            <a:pPr>
              <a:spcAft>
                <a:spcPts val="1000"/>
              </a:spcAft>
            </a:pPr>
            <a:r>
              <a:rPr sz="2000">
                <a:solidFill>
                  <a:srgbClr val="222B33"/>
                </a:solidFill>
                <a:latin typeface="Microsoft YaHei"/>
              </a:rPr>
              <a:t>▪ 手破皮按暴露处理并报告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风险较高时，按规程戴双层手套：内层盖住袖口，最后再戴一层外手套。外层沾上污染，在实验室内（或生物安全柜内）脱掉外层，换上新的，内层一直护着手。戴几层、怎么脱，按本实验室规程执行。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外层污染了不换，继续操作</a:t>
            </a:r>
          </a:p>
          <a:p>
            <a:pPr>
              <a:spcAft>
                <a:spcPts val="1000"/>
              </a:spcAft>
            </a:pPr>
            <a:r>
              <a:rPr sz="1500">
                <a:solidFill>
                  <a:srgbClr val="222B33"/>
                </a:solidFill>
                <a:latin typeface="Microsoft YaHei"/>
              </a:rPr>
              <a:t>▪ 手套破了草草换掉，不检查皮肤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送风头罩：先系腰带、接好线、调头箍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穿戴顺序照规程，电池先挂好</a:t>
            </a:r>
          </a:p>
          <a:p>
            <a:pPr>
              <a:spcAft>
                <a:spcPts val="1000"/>
              </a:spcAft>
            </a:pPr>
            <a:r>
              <a:rPr sz="2000">
                <a:solidFill>
                  <a:srgbClr val="222B33"/>
                </a:solidFill>
                <a:latin typeface="Microsoft YaHei"/>
              </a:rPr>
              <a:t>▪ 第一步先系好腰带，调好松紧</a:t>
            </a:r>
          </a:p>
          <a:p>
            <a:pPr>
              <a:spcAft>
                <a:spcPts val="1000"/>
              </a:spcAft>
            </a:pPr>
            <a:r>
              <a:rPr sz="2000">
                <a:solidFill>
                  <a:srgbClr val="222B33"/>
                </a:solidFill>
                <a:latin typeface="Microsoft YaHei"/>
              </a:rPr>
              <a:t>▪ 穿上防护服就够不着腰带了</a:t>
            </a:r>
          </a:p>
          <a:p>
            <a:pPr>
              <a:spcAft>
                <a:spcPts val="1000"/>
              </a:spcAft>
            </a:pPr>
            <a:r>
              <a:rPr sz="2000">
                <a:solidFill>
                  <a:srgbClr val="222B33"/>
                </a:solidFill>
                <a:latin typeface="Microsoft YaHei"/>
              </a:rPr>
              <a:t>▪ 导线插紧拧牢，头箍调到贴额</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使用动力送风过滤式呼吸器（送风头罩）时，穿戴顺序写在规程里，照规程做。第一步先把装有风机和电池的腰带系好、调好松紧：穿上防护服以后就够不着了。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先穿防护服再找腰带</a:t>
            </a:r>
          </a:p>
          <a:p>
            <a:pPr>
              <a:spcAft>
                <a:spcPts val="1000"/>
              </a:spcAft>
            </a:pPr>
            <a:r>
              <a:rPr sz="1500">
                <a:solidFill>
                  <a:srgbClr val="222B33"/>
                </a:solidFill>
                <a:latin typeface="Microsoft YaHei"/>
              </a:rPr>
              <a:t>▪ 导管没拧紧就戴上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先开机有风再戴，披肩收进防护服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戴之前一定先开机，有风再戴</a:t>
            </a:r>
          </a:p>
          <a:p>
            <a:pPr>
              <a:spcAft>
                <a:spcPts val="1000"/>
              </a:spcAft>
            </a:pPr>
            <a:r>
              <a:rPr sz="2000">
                <a:solidFill>
                  <a:srgbClr val="222B33"/>
                </a:solidFill>
                <a:latin typeface="Microsoft YaHei"/>
              </a:rPr>
              <a:t>▪ 不送风就戴会憋闷，有窒息危险</a:t>
            </a:r>
          </a:p>
          <a:p>
            <a:pPr>
              <a:spcAft>
                <a:spcPts val="1000"/>
              </a:spcAft>
            </a:pPr>
            <a:r>
              <a:rPr sz="2000">
                <a:solidFill>
                  <a:srgbClr val="222B33"/>
                </a:solidFill>
                <a:latin typeface="Microsoft YaHei"/>
              </a:rPr>
              <a:t>▪ 风机转着戴上，披肩拉平不卷边</a:t>
            </a:r>
          </a:p>
          <a:p>
            <a:pPr>
              <a:spcAft>
                <a:spcPts val="1000"/>
              </a:spcAft>
            </a:pPr>
            <a:r>
              <a:rPr sz="2000">
                <a:solidFill>
                  <a:srgbClr val="222B33"/>
                </a:solidFill>
                <a:latin typeface="Microsoft YaHei"/>
              </a:rPr>
              <a:t>▪ 披肩管线收进防护服；指示灯全亮再进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戴头罩之前一定先开机，伸手在头罩里感觉一下，确认有风送进来再戴；不送风就戴上，会憋闷，有窒息危险。顺序不能反。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不开机就戴上头罩</a:t>
            </a:r>
          </a:p>
          <a:p>
            <a:pPr>
              <a:spcAft>
                <a:spcPts val="1000"/>
              </a:spcAft>
            </a:pPr>
            <a:r>
              <a:rPr sz="1500">
                <a:solidFill>
                  <a:srgbClr val="222B33"/>
                </a:solidFill>
                <a:latin typeface="Microsoft YaHei"/>
              </a:rPr>
              <a:t>▪ 披肩卷边或露在防护服外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照镜自查，同伴互查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穿完照镜子：头面、拉链、手腕、脚下</a:t>
            </a:r>
          </a:p>
          <a:p>
            <a:pPr>
              <a:spcAft>
                <a:spcPts val="1000"/>
              </a:spcAft>
            </a:pPr>
            <a:r>
              <a:rPr sz="2000">
                <a:solidFill>
                  <a:srgbClr val="222B33"/>
                </a:solidFill>
                <a:latin typeface="Microsoft YaHei"/>
              </a:rPr>
              <a:t>▪ 镜子看不到背后，请同伴互查</a:t>
            </a:r>
          </a:p>
          <a:p>
            <a:pPr>
              <a:spcAft>
                <a:spcPts val="1000"/>
              </a:spcAft>
            </a:pPr>
            <a:r>
              <a:rPr sz="2000">
                <a:solidFill>
                  <a:srgbClr val="222B33"/>
                </a:solidFill>
                <a:latin typeface="Microsoft YaHei"/>
              </a:rPr>
              <a:t>▪ 先练熟、经考核，再进实验室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穿完对着镜子逐一检查：头罩或帽子、口罩、护目镜或面屏、拉链和系带、手腕处的手套、脚下的鞋套，有没有缺口和卷边。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穿完不检查直接进门</a:t>
            </a:r>
          </a:p>
          <a:p>
            <a:pPr>
              <a:spcAft>
                <a:spcPts val="1000"/>
              </a:spcAft>
            </a:pPr>
            <a:r>
              <a:rPr sz="1500">
                <a:solidFill>
                  <a:srgbClr val="222B33"/>
                </a:solidFill>
                <a:latin typeface="Microsoft YaHei"/>
              </a:rPr>
              <a:t>▪ 只看正面，后背敞开不知道</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脱卸原则：从最脏到最干净，方法写进规程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脱卸从最脏的开始，到最干净的结束</a:t>
            </a:r>
          </a:p>
          <a:p>
            <a:pPr>
              <a:spcAft>
                <a:spcPts val="1000"/>
              </a:spcAft>
            </a:pPr>
            <a:r>
              <a:rPr sz="2000">
                <a:solidFill>
                  <a:srgbClr val="222B33"/>
                </a:solidFill>
                <a:latin typeface="Microsoft YaHei"/>
              </a:rPr>
              <a:t>▪ 常用：手套、手消毒、护目、隔离衣、口罩</a:t>
            </a:r>
          </a:p>
          <a:p>
            <a:pPr>
              <a:spcAft>
                <a:spcPts val="1000"/>
              </a:spcAft>
            </a:pPr>
            <a:r>
              <a:rPr sz="2000">
                <a:solidFill>
                  <a:srgbClr val="222B33"/>
                </a:solidFill>
                <a:latin typeface="Microsoft YaHei"/>
              </a:rPr>
              <a:t>▪ 一件一件脱，脏面朝里，别碰身上</a:t>
            </a:r>
          </a:p>
          <a:p>
            <a:pPr>
              <a:spcAft>
                <a:spcPts val="1000"/>
              </a:spcAft>
            </a:pPr>
            <a:r>
              <a:rPr sz="2000">
                <a:solidFill>
                  <a:srgbClr val="222B33"/>
                </a:solidFill>
                <a:latin typeface="Microsoft YaHei"/>
              </a:rPr>
              <a:t>▪ 脱法选定一种，写进规程统一做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脱卸是最容易自我污染的环节。原则是从最脏的脱到最干净的：手套污染最重先脱，口罩贴着口鼻最后摘。国内常用的顺序是：摘手套→手卫生→摘护目镜或面屏→脱隔离衣（或防护服）→手卫生→摘口罩、帽子→洗手（以本单位 SOP 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先摘口罩再脱手套</a:t>
            </a:r>
          </a:p>
          <a:p>
            <a:pPr>
              <a:spcAft>
                <a:spcPts val="1000"/>
              </a:spcAft>
            </a:pPr>
            <a:r>
              <a:rPr sz="1500">
                <a:solidFill>
                  <a:srgbClr val="222B33"/>
                </a:solidFill>
                <a:latin typeface="Microsoft YaHei"/>
              </a:rPr>
              <a:t>▪ 每个人脱法各不相同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先摘手套：翻着脱，外面不碰皮肤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动作慢而轻，捏住腕部外侧</a:t>
            </a:r>
          </a:p>
          <a:p>
            <a:pPr>
              <a:spcAft>
                <a:spcPts val="1000"/>
              </a:spcAft>
            </a:pPr>
            <a:r>
              <a:rPr sz="2000">
                <a:solidFill>
                  <a:srgbClr val="222B33"/>
                </a:solidFill>
                <a:latin typeface="Microsoft YaHei"/>
              </a:rPr>
              <a:t>▪ 整只拉下翻过来，握在另一手心</a:t>
            </a:r>
          </a:p>
          <a:p>
            <a:pPr>
              <a:spcAft>
                <a:spcPts val="1000"/>
              </a:spcAft>
            </a:pPr>
            <a:r>
              <a:rPr sz="2000">
                <a:solidFill>
                  <a:srgbClr val="222B33"/>
                </a:solidFill>
                <a:latin typeface="Microsoft YaHei"/>
              </a:rPr>
              <a:t>▪ 裸手从内侧伸进，翻下包成一团</a:t>
            </a:r>
          </a:p>
          <a:p>
            <a:pPr>
              <a:spcAft>
                <a:spcPts val="1000"/>
              </a:spcAft>
            </a:pPr>
            <a:r>
              <a:rPr sz="2000">
                <a:solidFill>
                  <a:srgbClr val="222B33"/>
                </a:solidFill>
                <a:latin typeface="Microsoft YaHei"/>
              </a:rPr>
              <a:t>▪ 裸手不碰外面；丢弃，不重复用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摘手套动作要慢、要轻，避免弹起飞溅。步骤：①用一只手的手指捏起另一只手套腕部的外侧，注意脏手套不要碰到袖口；②整只拉下，手套翻成里朝外，握在仍戴着手套的手里；③裸手的手指从剩下那只手套的手腕内侧伸进去，向上、向外翻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捏着指尖把手套拽下来</a:t>
            </a:r>
          </a:p>
          <a:p>
            <a:pPr>
              <a:spcAft>
                <a:spcPts val="1000"/>
              </a:spcAft>
            </a:pPr>
            <a:r>
              <a:rPr sz="1500">
                <a:solidFill>
                  <a:srgbClr val="222B33"/>
                </a:solidFill>
                <a:latin typeface="Microsoft YaHei"/>
              </a:rPr>
              <a:t>▪ 摘下的手套随手放在台面上</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摘手套后先手消毒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摘完手套，先做手卫生</a:t>
            </a:r>
          </a:p>
          <a:p>
            <a:pPr>
              <a:spcAft>
                <a:spcPts val="1000"/>
              </a:spcAft>
            </a:pPr>
            <a:r>
              <a:rPr sz="2000">
                <a:solidFill>
                  <a:srgbClr val="222B33"/>
                </a:solidFill>
                <a:latin typeface="Microsoft YaHei"/>
              </a:rPr>
              <a:t>▪ 按规程手消毒或洗手</a:t>
            </a:r>
          </a:p>
          <a:p>
            <a:pPr>
              <a:spcAft>
                <a:spcPts val="1000"/>
              </a:spcAft>
            </a:pPr>
            <a:r>
              <a:rPr sz="2000">
                <a:solidFill>
                  <a:srgbClr val="222B33"/>
                </a:solidFill>
                <a:latin typeface="Microsoft YaHei"/>
              </a:rPr>
              <a:t>▪ 有的规程换一副干净手套再继续脱</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摘下手套后，手上可能已沾上看不见的污染，要先做手卫生：用速干手消毒剂揉搓双手，或洗手；有的规程要求换戴一副干净手套再继续脱其他防护用品。按本实验室规程执行，再脱下一件。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摘了手套直接用手去摘面屏、口罩</a:t>
            </a:r>
          </a:p>
          <a:p>
            <a:pPr>
              <a:spcAft>
                <a:spcPts val="1000"/>
              </a:spcAft>
            </a:pPr>
            <a:r>
              <a:rPr sz="1500">
                <a:solidFill>
                  <a:srgbClr val="222B33"/>
                </a:solidFill>
                <a:latin typeface="Microsoft YaHei"/>
              </a:rPr>
              <a:t>▪ 手消毒剂只抹一下手心</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摘面屏、护目镜：捏头带和镜腿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头稍前倾，捏耳上方头带轻轻提起</a:t>
            </a:r>
          </a:p>
          <a:p>
            <a:pPr>
              <a:spcAft>
                <a:spcPts val="1000"/>
              </a:spcAft>
            </a:pPr>
            <a:r>
              <a:rPr sz="2000">
                <a:solidFill>
                  <a:srgbClr val="222B33"/>
                </a:solidFill>
                <a:latin typeface="Microsoft YaHei"/>
              </a:rPr>
              <a:t>▪ 别碰前片，一次性的丢进废物袋</a:t>
            </a:r>
          </a:p>
          <a:p>
            <a:pPr>
              <a:spcAft>
                <a:spcPts val="1000"/>
              </a:spcAft>
            </a:pPr>
            <a:r>
              <a:rPr sz="2000">
                <a:solidFill>
                  <a:srgbClr val="222B33"/>
                </a:solidFill>
                <a:latin typeface="Microsoft YaHei"/>
              </a:rPr>
              <a:t>▪ 护目镜捏镜腿摘，放指定处统一消毒</a:t>
            </a:r>
          </a:p>
          <a:p>
            <a:pPr>
              <a:spcAft>
                <a:spcPts val="1000"/>
              </a:spcAft>
            </a:pPr>
            <a:r>
              <a:rPr sz="2000">
                <a:solidFill>
                  <a:srgbClr val="222B33"/>
                </a:solidFill>
                <a:latin typeface="Microsoft YaHei"/>
              </a:rPr>
              <a:t>▪ 清洁护目镜也要戴手套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摘面屏：头稍向前倾，捏住耳朵上方的头带，轻轻提起离开面部；面屏前片可能有污染，不要碰。一次性面屏丢进感染性废物容器。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抓着面屏前片摘下</a:t>
            </a:r>
          </a:p>
          <a:p>
            <a:pPr>
              <a:spcAft>
                <a:spcPts val="1000"/>
              </a:spcAft>
            </a:pPr>
            <a:r>
              <a:rPr sz="1500">
                <a:solidFill>
                  <a:srgbClr val="222B33"/>
                </a:solidFill>
                <a:latin typeface="Microsoft YaHei"/>
              </a:rPr>
              <a:t>▪ 护目镜摘下随手放在桌上</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脱隔离衣、实验服：外面朝里卷起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解腰带，抓两肩往前拉，松开领口</a:t>
            </a:r>
          </a:p>
          <a:p>
            <a:pPr>
              <a:spcAft>
                <a:spcPts val="1000"/>
              </a:spcAft>
            </a:pPr>
            <a:r>
              <a:rPr sz="2000">
                <a:solidFill>
                  <a:srgbClr val="222B33"/>
                </a:solidFill>
                <a:latin typeface="Microsoft YaHei"/>
              </a:rPr>
              <a:t>▪ 离身往前脱，边脱边卷，外面朝里</a:t>
            </a:r>
          </a:p>
          <a:p>
            <a:pPr>
              <a:spcAft>
                <a:spcPts val="1000"/>
              </a:spcAft>
            </a:pPr>
            <a:r>
              <a:rPr sz="2000">
                <a:solidFill>
                  <a:srgbClr val="222B33"/>
                </a:solidFill>
                <a:latin typeface="Microsoft YaHei"/>
              </a:rPr>
              <a:t>▪ 实验服：裸手不碰外面，捏袖口抽臂</a:t>
            </a:r>
          </a:p>
          <a:p>
            <a:pPr>
              <a:spcAft>
                <a:spcPts val="1000"/>
              </a:spcAft>
            </a:pPr>
            <a:r>
              <a:rPr sz="2000">
                <a:solidFill>
                  <a:srgbClr val="222B33"/>
                </a:solidFill>
                <a:latin typeface="Microsoft YaHei"/>
              </a:rPr>
              <a:t>▪ 可再穿的挂好，污染的卷起丢弃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脱隔离衣：解开腰带，抓住两肩向前拉，让颈后的系带松开（或按规程解开）；从肩部往前脱下，远离身体，边脱边卷，让外面翻到里面，卷成一团，脏的外面不碰到裸手和日常衣物，丢进感染性废物容器。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像脱外套一样从头上扯下隔离衣</a:t>
            </a:r>
          </a:p>
          <a:p>
            <a:pPr>
              <a:spcAft>
                <a:spcPts val="1000"/>
              </a:spcAft>
            </a:pPr>
            <a:r>
              <a:rPr sz="1500">
                <a:solidFill>
                  <a:srgbClr val="222B33"/>
                </a:solidFill>
                <a:latin typeface="Microsoft YaHei"/>
              </a:rPr>
              <a:t>▪ 裸手抓实验服前襟脱下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另两种做法：连手套一起脱，或先衣后手套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一种：手套连袖口一起剥下</a:t>
            </a:r>
          </a:p>
          <a:p>
            <a:pPr>
              <a:spcAft>
                <a:spcPts val="1000"/>
              </a:spcAft>
            </a:pPr>
            <a:r>
              <a:rPr sz="2000">
                <a:solidFill>
                  <a:srgbClr val="222B33"/>
                </a:solidFill>
                <a:latin typeface="Microsoft YaHei"/>
              </a:rPr>
              <a:t>▪ 衣带手套里朝外卷成一团丢弃</a:t>
            </a:r>
          </a:p>
          <a:p>
            <a:pPr>
              <a:spcAft>
                <a:spcPts val="1000"/>
              </a:spcAft>
            </a:pPr>
            <a:r>
              <a:rPr sz="2000">
                <a:solidFill>
                  <a:srgbClr val="222B33"/>
                </a:solidFill>
                <a:latin typeface="Microsoft YaHei"/>
              </a:rPr>
              <a:t>▪ 另一种：先脱隔离衣，再摘手套</a:t>
            </a:r>
          </a:p>
          <a:p>
            <a:pPr>
              <a:spcAft>
                <a:spcPts val="1000"/>
              </a:spcAft>
            </a:pPr>
            <a:r>
              <a:rPr sz="2000">
                <a:solidFill>
                  <a:srgbClr val="222B33"/>
                </a:solidFill>
                <a:latin typeface="Microsoft YaHei"/>
              </a:rPr>
              <a:t>▪ 用哪种按评估选定，写进规程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了先摘手套，还有两种规程常用的做法。一种是隔离衣与手套一起脱：抓肩前拉松开领口，往前脱下时手臂往外抽，捏住手套连同袖口一起剥下，手套留在袖子里，双手干净地出来，衣服连手套里朝外卷成一团丢弃，脏面不碰裸手和日常衣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同一实验室几种做法混着用</a:t>
            </a:r>
          </a:p>
          <a:p>
            <a:pPr>
              <a:spcAft>
                <a:spcPts val="1000"/>
              </a:spcAft>
            </a:pPr>
            <a:r>
              <a:rPr sz="1500">
                <a:solidFill>
                  <a:srgbClr val="222B33"/>
                </a:solidFill>
                <a:latin typeface="Microsoft YaHei"/>
              </a:rPr>
              <a:t>▪ 一起脱时手套从袖子里掉出、裸手碰到外面</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摘口罩：只捏耳挂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口罩最后摘，只捏耳挂</a:t>
            </a:r>
          </a:p>
          <a:p>
            <a:pPr>
              <a:spcAft>
                <a:spcPts val="1000"/>
              </a:spcAft>
            </a:pPr>
            <a:r>
              <a:rPr sz="2000">
                <a:solidFill>
                  <a:srgbClr val="222B33"/>
                </a:solidFill>
                <a:latin typeface="Microsoft YaHei"/>
              </a:rPr>
              <a:t>▪ 不碰口罩外面</a:t>
            </a:r>
          </a:p>
          <a:p>
            <a:pPr>
              <a:spcAft>
                <a:spcPts val="1000"/>
              </a:spcAft>
            </a:pPr>
            <a:r>
              <a:rPr sz="2000">
                <a:solidFill>
                  <a:srgbClr val="222B33"/>
                </a:solidFill>
                <a:latin typeface="Microsoft YaHei"/>
              </a:rPr>
              <a:t>▪ 离开面部就丢进感染性废物袋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口罩贴着口鼻，在其他防护用品脱完、手卫生后最后摘：只捏住耳挂（或头带）从耳后取下，不碰口罩外面，离开面部后直接丢进感染性废物容器。医用防护口罩先拉下下方头带，再拉上方头带。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用手抓口罩正面拉下</a:t>
            </a:r>
          </a:p>
          <a:p>
            <a:pPr>
              <a:spcAft>
                <a:spcPts val="1000"/>
              </a:spcAft>
            </a:pPr>
            <a:r>
              <a:rPr sz="1500">
                <a:solidFill>
                  <a:srgbClr val="222B33"/>
                </a:solidFill>
                <a:latin typeface="Microsoft YaHei"/>
              </a:rPr>
              <a:t>▪ 摘下的口罩挂在下巴上或揣进口袋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送风头罩：风机转着摘，摘下再关机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摘头罩时风机别关</a:t>
            </a:r>
          </a:p>
          <a:p>
            <a:pPr>
              <a:spcAft>
                <a:spcPts val="1000"/>
              </a:spcAft>
            </a:pPr>
            <a:r>
              <a:rPr sz="2000">
                <a:solidFill>
                  <a:srgbClr val="222B33"/>
                </a:solidFill>
                <a:latin typeface="Microsoft YaHei"/>
              </a:rPr>
              <a:t>▪ 外面都当污染，手只碰规定位置</a:t>
            </a:r>
          </a:p>
          <a:p>
            <a:pPr>
              <a:spcAft>
                <a:spcPts val="1000"/>
              </a:spcAft>
            </a:pPr>
            <a:r>
              <a:rPr sz="2000">
                <a:solidFill>
                  <a:srgbClr val="222B33"/>
                </a:solidFill>
                <a:latin typeface="Microsoft YaHei"/>
              </a:rPr>
              <a:t>▪ 脸别碰外面，放指定处等去污</a:t>
            </a:r>
          </a:p>
          <a:p>
            <a:pPr>
              <a:spcAft>
                <a:spcPts val="1000"/>
              </a:spcAft>
            </a:pPr>
            <a:r>
              <a:rPr sz="2000">
                <a:solidFill>
                  <a:srgbClr val="222B33"/>
                </a:solidFill>
                <a:latin typeface="Microsoft YaHei"/>
              </a:rPr>
              <a:t>▪ 摘下后再关机、拔电池，然后洗手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摘送风头罩时，风机保持运转，按规程摘下头盔：头罩外面都当作污染，手只碰规定的位置，脸不碰外面。摘下后放到指定位置等待去污，然后再关机、断开电池。摘完马上洗手。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先关风机再摘头罩</a:t>
            </a:r>
          </a:p>
          <a:p>
            <a:pPr>
              <a:spcAft>
                <a:spcPts val="1000"/>
              </a:spcAft>
            </a:pPr>
            <a:r>
              <a:rPr sz="1500">
                <a:solidFill>
                  <a:srgbClr val="222B33"/>
                </a:solidFill>
                <a:latin typeface="Microsoft YaHei"/>
              </a:rPr>
              <a:t>▪ 摘下的头罩随手放在干净区</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最后洗手，再离开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最后用流水和洗手液认真洗手</a:t>
            </a:r>
          </a:p>
          <a:p>
            <a:pPr>
              <a:spcAft>
                <a:spcPts val="1000"/>
              </a:spcAft>
            </a:pPr>
            <a:r>
              <a:rPr sz="2000">
                <a:solidFill>
                  <a:srgbClr val="222B33"/>
                </a:solidFill>
                <a:latin typeface="Microsoft YaHei"/>
              </a:rPr>
              <a:t>▪ 手背、指缝、指尖、指甲下都搓到</a:t>
            </a:r>
          </a:p>
          <a:p>
            <a:pPr>
              <a:spcAft>
                <a:spcPts val="1000"/>
              </a:spcAft>
            </a:pPr>
            <a:r>
              <a:rPr sz="2000">
                <a:solidFill>
                  <a:srgbClr val="222B33"/>
                </a:solidFill>
                <a:latin typeface="Microsoft YaHei"/>
              </a:rPr>
              <a:t>▪ 纸巾擦干，再用纸巾关龙头</a:t>
            </a:r>
          </a:p>
          <a:p>
            <a:pPr>
              <a:spcAft>
                <a:spcPts val="1000"/>
              </a:spcAft>
            </a:pPr>
            <a:r>
              <a:rPr sz="2000">
                <a:solidFill>
                  <a:srgbClr val="222B33"/>
                </a:solidFill>
                <a:latin typeface="Microsoft YaHei"/>
              </a:rPr>
              <a:t>▪ 暂时没水先手消，有条件尽快洗手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全部脱完，最后一步是用流动水和洗手液（肥皂）洗手：手心、手背、指缝、指尖、指甲下、拇指和手腕都要认真揉搓，时间要够（洗手步骤见第 020 课）。用一次性纸巾擦干，再用纸巾关水龙头。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脱完防护直接离开，不洗手</a:t>
            </a:r>
          </a:p>
          <a:p>
            <a:pPr>
              <a:spcAft>
                <a:spcPts val="1000"/>
              </a:spcAft>
            </a:pPr>
            <a:r>
              <a:rPr sz="1500">
                <a:solidFill>
                  <a:srgbClr val="222B33"/>
                </a:solidFill>
                <a:latin typeface="Microsoft YaHei"/>
              </a:rPr>
              <a:t>▪ 只用手消毒剂代替洗手，有水也不洗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下列穿戴顺序中，符合国内常用做法的是：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手套→隔离衣→口罩→护目镜</a:t>
            </a:r>
          </a:p>
          <a:p>
            <a:pPr algn="l"/>
            <a:r>
              <a:rPr sz="1500" b="0">
                <a:solidFill>
                  <a:srgbClr val="222B33"/>
                </a:solidFill>
                <a:latin typeface="Microsoft YaHei"/>
              </a:rPr>
              <a:t>B. 手卫生→帽子→口罩→护目镜/面屏→隔离衣→手套</a:t>
            </a:r>
          </a:p>
          <a:p>
            <a:pPr algn="l"/>
            <a:r>
              <a:rPr sz="1500" b="0">
                <a:solidFill>
                  <a:srgbClr val="222B33"/>
                </a:solidFill>
                <a:latin typeface="Microsoft YaHei"/>
              </a:rPr>
              <a:t>C. 隔离衣→手套→口罩→帽子</a:t>
            </a:r>
          </a:p>
          <a:p>
            <a:pPr algn="l"/>
            <a:r>
              <a:rPr sz="1500" b="0">
                <a:solidFill>
                  <a:srgbClr val="222B33"/>
                </a:solidFill>
                <a:latin typeface="Microsoft YaHei"/>
              </a:rPr>
              <a:t>D. 口罩→手套→隔离衣→护目镜</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判断：脱卸防护装备应从最干净的开始，最后脱手套。</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翻脱法摘手套，正确的是：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捏指尖往下拽</a:t>
            </a:r>
          </a:p>
          <a:p>
            <a:pPr algn="l"/>
            <a:r>
              <a:rPr sz="1500" b="0">
                <a:solidFill>
                  <a:srgbClr val="222B33"/>
                </a:solidFill>
                <a:latin typeface="Microsoft YaHei"/>
              </a:rPr>
              <a:t>B. 捏腕部外侧翻下，握在另一手心，裸手从内侧伸进翻下包成一团</a:t>
            </a:r>
          </a:p>
          <a:p>
            <a:pPr algn="l"/>
            <a:r>
              <a:rPr sz="1500" b="0">
                <a:solidFill>
                  <a:srgbClr val="222B33"/>
                </a:solidFill>
                <a:latin typeface="Microsoft YaHei"/>
              </a:rPr>
              <a:t>C. 用牙咬下</a:t>
            </a:r>
          </a:p>
          <a:p>
            <a:pPr algn="l"/>
            <a:r>
              <a:rPr sz="1500" b="0">
                <a:solidFill>
                  <a:srgbClr val="222B33"/>
                </a:solidFill>
                <a:latin typeface="Microsoft YaHei"/>
              </a:rPr>
              <a:t>D. 两只手套互相搓下</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使用送风头罩时，下列做法正确的是：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先戴头罩再开机</a:t>
            </a:r>
          </a:p>
          <a:p>
            <a:pPr algn="l"/>
            <a:r>
              <a:rPr sz="1500" b="0">
                <a:solidFill>
                  <a:srgbClr val="222B33"/>
                </a:solidFill>
                <a:latin typeface="Microsoft YaHei"/>
              </a:rPr>
              <a:t>B. 先开机确认有风再戴，摘下后再关机</a:t>
            </a:r>
          </a:p>
          <a:p>
            <a:pPr algn="l"/>
            <a:r>
              <a:rPr sz="1500" b="0">
                <a:solidFill>
                  <a:srgbClr val="222B33"/>
                </a:solidFill>
                <a:latin typeface="Microsoft YaHei"/>
              </a:rPr>
              <a:t>C. 先关机再摘头罩</a:t>
            </a:r>
          </a:p>
          <a:p>
            <a:pPr algn="l"/>
            <a:r>
              <a:rPr sz="1500" b="0">
                <a:solidFill>
                  <a:srgbClr val="222B33"/>
                </a:solidFill>
                <a:latin typeface="Microsoft YaHei"/>
              </a:rPr>
              <a:t>D. 指示灯不全亮也可进入</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075 · 防护装备的穿戴与脱卸</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075 防护装备的穿戴与脱卸</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判断：同一实验室可以每个人按自己习惯选择不同的脱卸方法。</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简答：脱卸时怎样防止自我污染？</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穿前准备：摘首饰、物品留门外、束长发</a:t>
            </a:r>
          </a:p>
          <a:p>
            <a:pPr>
              <a:spcAft>
                <a:spcPts val="800"/>
              </a:spcAft>
            </a:pPr>
            <a:r>
              <a:rPr sz="1500">
                <a:solidFill>
                  <a:srgbClr val="FFFFFF"/>
                </a:solidFill>
                <a:latin typeface="Microsoft YaHei"/>
              </a:rPr>
              <a:t>▪ K2  备齐装备，合身无破损</a:t>
            </a:r>
          </a:p>
          <a:p>
            <a:pPr>
              <a:spcAft>
                <a:spcPts val="800"/>
              </a:spcAft>
            </a:pPr>
            <a:r>
              <a:rPr sz="1500">
                <a:solidFill>
                  <a:srgbClr val="FFFFFF"/>
                </a:solidFill>
                <a:latin typeface="Microsoft YaHei"/>
              </a:rPr>
              <a:t>▪ K3  穿脱分区，在缓冲间穿好再进</a:t>
            </a:r>
          </a:p>
          <a:p>
            <a:pPr>
              <a:spcAft>
                <a:spcPts val="800"/>
              </a:spcAft>
            </a:pPr>
            <a:r>
              <a:rPr sz="1500">
                <a:solidFill>
                  <a:srgbClr val="FFFFFF"/>
                </a:solidFill>
                <a:latin typeface="Microsoft YaHei"/>
              </a:rPr>
              <a:t>▪ K4  穿戴顺序：口罩护目在前，手套最后</a:t>
            </a:r>
          </a:p>
          <a:p>
            <a:pPr>
              <a:spcAft>
                <a:spcPts val="800"/>
              </a:spcAft>
            </a:pPr>
            <a:r>
              <a:rPr sz="1500">
                <a:solidFill>
                  <a:srgbClr val="FFFFFF"/>
                </a:solidFill>
                <a:latin typeface="Microsoft YaHei"/>
              </a:rPr>
              <a:t>▪ K5  口罩：压鼻夹，贴紧鼻梁面颊</a:t>
            </a:r>
          </a:p>
          <a:p>
            <a:pPr>
              <a:spcAft>
                <a:spcPts val="800"/>
              </a:spcAft>
            </a:pPr>
            <a:r>
              <a:rPr sz="1500">
                <a:solidFill>
                  <a:srgbClr val="FFFFFF"/>
                </a:solidFill>
                <a:latin typeface="Microsoft YaHei"/>
              </a:rPr>
              <a:t>▪ K6  面屏：盖住前额、下巴和两侧</a:t>
            </a:r>
          </a:p>
          <a:p>
            <a:pPr>
              <a:spcAft>
                <a:spcPts val="800"/>
              </a:spcAft>
            </a:pPr>
            <a:r>
              <a:rPr sz="1500">
                <a:solidFill>
                  <a:srgbClr val="FFFFFF"/>
                </a:solidFill>
                <a:latin typeface="Microsoft YaHei"/>
              </a:rPr>
              <a:t>▪ K7  隔离衣：系活结，遮住日常衣物</a:t>
            </a:r>
          </a:p>
          <a:p>
            <a:pPr>
              <a:spcAft>
                <a:spcPts val="800"/>
              </a:spcAft>
            </a:pPr>
            <a:r>
              <a:rPr sz="1500">
                <a:solidFill>
                  <a:srgbClr val="FFFFFF"/>
                </a:solidFill>
                <a:latin typeface="Microsoft YaHei"/>
              </a:rPr>
              <a:t>▪ K8  手套套在袖口外，手腕封严</a:t>
            </a:r>
          </a:p>
          <a:p>
            <a:pPr>
              <a:spcAft>
                <a:spcPts val="800"/>
              </a:spcAft>
            </a:pPr>
            <a:r>
              <a:rPr sz="1500">
                <a:solidFill>
                  <a:srgbClr val="FFFFFF"/>
                </a:solidFill>
                <a:latin typeface="Microsoft YaHei"/>
              </a:rPr>
              <a:t>▪ K9  双层手套：外层脏了换外层</a:t>
            </a:r>
          </a:p>
          <a:p>
            <a:pPr>
              <a:spcAft>
                <a:spcPts val="800"/>
              </a:spcAft>
            </a:pPr>
            <a:r>
              <a:rPr sz="1500">
                <a:solidFill>
                  <a:srgbClr val="FFFFFF"/>
                </a:solidFill>
                <a:latin typeface="Microsoft YaHei"/>
              </a:rPr>
              <a:t>▪ K10  送风头罩：先系腰带、接好线、调头箍</a:t>
            </a:r>
          </a:p>
          <a:p>
            <a:pPr>
              <a:spcAft>
                <a:spcPts val="800"/>
              </a:spcAft>
            </a:pPr>
            <a:r>
              <a:rPr sz="1500">
                <a:solidFill>
                  <a:srgbClr val="FFFFFF"/>
                </a:solidFill>
                <a:latin typeface="Microsoft YaHei"/>
              </a:rPr>
              <a:t>▪ K11  先开机有风再戴，披肩收进防护服</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K12  照镜自查，同伴互查</a:t>
            </a:r>
          </a:p>
          <a:p>
            <a:pPr>
              <a:spcAft>
                <a:spcPts val="800"/>
              </a:spcAft>
            </a:pPr>
            <a:r>
              <a:rPr sz="1500">
                <a:solidFill>
                  <a:srgbClr val="FFFFFF"/>
                </a:solidFill>
                <a:latin typeface="Microsoft YaHei"/>
              </a:rPr>
              <a:t>▪ K13  脱卸原则：从最脏到最干净，方法写进规程</a:t>
            </a:r>
          </a:p>
          <a:p>
            <a:pPr>
              <a:spcAft>
                <a:spcPts val="800"/>
              </a:spcAft>
            </a:pPr>
            <a:r>
              <a:rPr sz="1500">
                <a:solidFill>
                  <a:srgbClr val="FFFFFF"/>
                </a:solidFill>
                <a:latin typeface="Microsoft YaHei"/>
              </a:rPr>
              <a:t>▪ K14  先摘手套：翻着脱，外面不碰皮肤</a:t>
            </a:r>
          </a:p>
          <a:p>
            <a:pPr>
              <a:spcAft>
                <a:spcPts val="800"/>
              </a:spcAft>
            </a:pPr>
            <a:r>
              <a:rPr sz="1500">
                <a:solidFill>
                  <a:srgbClr val="FFFFFF"/>
                </a:solidFill>
                <a:latin typeface="Microsoft YaHei"/>
              </a:rPr>
              <a:t>▪ K15  摘手套后先手消毒</a:t>
            </a:r>
          </a:p>
          <a:p>
            <a:pPr>
              <a:spcAft>
                <a:spcPts val="800"/>
              </a:spcAft>
            </a:pPr>
            <a:r>
              <a:rPr sz="1500">
                <a:solidFill>
                  <a:srgbClr val="FFFFFF"/>
                </a:solidFill>
                <a:latin typeface="Microsoft YaHei"/>
              </a:rPr>
              <a:t>▪ K16  摘面屏、护目镜：捏头带和镜腿</a:t>
            </a:r>
          </a:p>
          <a:p>
            <a:pPr>
              <a:spcAft>
                <a:spcPts val="800"/>
              </a:spcAft>
            </a:pPr>
            <a:r>
              <a:rPr sz="1500">
                <a:solidFill>
                  <a:srgbClr val="FFFFFF"/>
                </a:solidFill>
                <a:latin typeface="Microsoft YaHei"/>
              </a:rPr>
              <a:t>▪ K17  脱隔离衣、实验服：外面朝里卷起</a:t>
            </a:r>
          </a:p>
          <a:p>
            <a:pPr>
              <a:spcAft>
                <a:spcPts val="800"/>
              </a:spcAft>
            </a:pPr>
            <a:r>
              <a:rPr sz="1500">
                <a:solidFill>
                  <a:srgbClr val="FFFFFF"/>
                </a:solidFill>
                <a:latin typeface="Microsoft YaHei"/>
              </a:rPr>
              <a:t>▪ K18  另两种做法：连手套一起脱，或先衣后手套</a:t>
            </a:r>
          </a:p>
          <a:p>
            <a:pPr>
              <a:spcAft>
                <a:spcPts val="800"/>
              </a:spcAft>
            </a:pPr>
            <a:r>
              <a:rPr sz="1500">
                <a:solidFill>
                  <a:srgbClr val="FFFFFF"/>
                </a:solidFill>
                <a:latin typeface="Microsoft YaHei"/>
              </a:rPr>
              <a:t>▪ K19  摘口罩：只捏耳挂</a:t>
            </a:r>
          </a:p>
          <a:p>
            <a:pPr>
              <a:spcAft>
                <a:spcPts val="800"/>
              </a:spcAft>
            </a:pPr>
            <a:r>
              <a:rPr sz="1500">
                <a:solidFill>
                  <a:srgbClr val="FFFFFF"/>
                </a:solidFill>
                <a:latin typeface="Microsoft YaHei"/>
              </a:rPr>
              <a:t>▪ K20  送风头罩：风机转着摘，摘下再关机</a:t>
            </a:r>
          </a:p>
          <a:p>
            <a:pPr>
              <a:spcAft>
                <a:spcPts val="800"/>
              </a:spcAft>
            </a:pPr>
            <a:r>
              <a:rPr sz="1500">
                <a:solidFill>
                  <a:srgbClr val="FFFFFF"/>
                </a:solidFill>
                <a:latin typeface="Microsoft YaHei"/>
              </a:rPr>
              <a:t>▪ K21  最后洗手，再离开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