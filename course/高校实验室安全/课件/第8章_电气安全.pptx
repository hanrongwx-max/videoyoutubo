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电是实验室最常用的能源，几乎所有仪器都离不开它；但电看不见、摸不着、闻不到，触电和电气事故往往发生在一瞬间，致残致死的不在少数，每年都有人因触电丢了性命。</a:t>
            </a:r>
          </a:p>
          <a:p>
            <a:r>
              <a:t>实验室的电气事故不只伤人，还会引起火灾、烧毁仪器、毁掉长时间的实验；生物安全柜、通风柜等防护设备一旦断电，防护作用也随之失效（停电时的处置见第 156 课）。</a:t>
            </a:r>
          </a:p>
          <a:p>
            <a:r>
              <a:t>本章从“电怎样伤人”讲起，依次讲触电的原因与预防（第 098 课）、接地接零（第 099 课）、漏电与过流保护（第 100 课）、插座线缆、仪器用电、电池、检查、电工作业、静电和电气火灾。懂电、知道危险在哪里，才能防住事故。</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电是一种能量，由电源（电网、电池、电源模块）提供，沿着导线送到用电器（负载，如灯、加热器、电机、仪器）。电源、导线和用电器连成的完整通路叫电路。</a:t>
            </a:r>
          </a:p>
          <a:p>
            <a:r>
              <a:t>电流是电荷的定向移动，在金属导线里就是自由电子的定向移动；电流的大小用安培（A）表示，常用的小单位是毫安（mA）。只有回路闭合，电流才会流动；开关断开、回路断开，电流就停止。</a:t>
            </a:r>
          </a:p>
          <a:p>
            <a:r>
              <a:t>触电的本质就是人体接进了回路：手碰到带电体，脚站在地上或另一只手碰到接地的金属，电流就经过人体流向大地或另一极。所以防触电的思路，就是不让人体成为回路的一段（见第 098 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压（单位伏特，V）是推动电流的“压力”，就像水压推动水流。电压越高，同样条件下流过人体的电流越大，电击和设备损坏的风险越大；知道设备和线路的电压等级，才知道该采取什么防护（高、低压的划分和电工作业要求见第 105 课）。</a:t>
            </a:r>
          </a:p>
          <a:p>
            <a:r>
              <a:t>电阻（单位欧姆，Ω）是材料对电流的阻碍。电阻过大或过小都可能带来危险：插头松动、接线端子没拧紧、触点氧化，接触处电阻变大，电流通过时就会局部发热，甚至引燃周围物品；电阻太小（如短路），电流猛增，导线过热、起火（过流保护见第 100 课）。</a:t>
            </a:r>
          </a:p>
          <a:p>
            <a:r>
              <a:t>功率（单位瓦特，W）表示用电的快慢，由电压和电流决定。功率越大，发热越多；大功率设备要使用匹配的插座和线路，不能接在普通插线板上（见第 101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电阻小、电流容易通过的物质叫导体，大多数金属都是导体；人体和含有杂质的水（自来水、汗水、溶液）也能导电。电阻很高、几乎不让电流通过的物质叫绝缘体，如玻璃、陶瓷、塑料、橡胶、干燥的木头。</a:t>
            </a:r>
          </a:p>
          <a:p>
            <a:r>
              <a:t>电线外皮、插头外壳、仪器机壳都用绝缘材料把电挡在该在的地方。但绝缘不是绝对的：受潮、沾水、积尘、老化、破损、高温都会让绝缘性能下降，干木头受潮后也会导电。</a:t>
            </a:r>
          </a:p>
          <a:p>
            <a:r>
              <a:t>除了绝缘，仪器的金属外壳还要可靠接地（接保护导体），万一内部漏电，电流经保护导体流走并使保护装置动作，这是另一道保护措施，详见第 099 课。</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电有静电和电流两类：静电是积聚在物体表面的电荷，放电时会产生火花（静电的危害与防护见第 106 课）；电流是电荷的持续流动，又分为直流和交流。</a:t>
            </a:r>
          </a:p>
          <a:p>
            <a:r>
              <a:t>直流的大小和方向不随时间变化，电池、蓄电池、实验室的直流稳压电源、电子设备内部多用直流。交流的方向和大小随时间周期性来回变化，便于变压和远距离输送，电网、日常照明、大多数电器和电机用的都是交流。</a:t>
            </a:r>
          </a:p>
          <a:p>
            <a:r>
              <a:t>我国低压配电的市电是单相 220 V、三相 380 V，频率 50 Hz（工频）；国外视频中的电压、频率和插头式样不适用于国内。仪器的额定电压和频率标在铭牌上，使用前要核对。</a:t>
            </a:r>
          </a:p>
          <a:p>
            <a:r>
              <a:t>工频交流电会引起肌肉强直收缩，危险性很大；直流电同样能造成电击和烧伤，大容量电池组、高压直流电源也很危险。电压越高，危险越大。</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用电的危害主要有：电击、电伤、电气火灾、易燃易爆场所的电气爆炸，以及触电引起的间接伤害。其中电击和电伤是电流（或电弧）直接对人体造成的伤害。</a:t>
            </a:r>
          </a:p>
          <a:p>
            <a:r>
              <a:t>电击是电流通过人体内部，作用于神经、肌肉和心脏，引起肌肉痉挛、呼吸停止、心室纤颤甚至死亡，是最危险的触电伤害。电伤是电流的热效应、化学效应和机械效应对人体外部造成的局部伤害，包括电弧烧伤、电流灼伤、电烙印、皮肤金属化、电光性眼炎等（见 K13）。</a:t>
            </a:r>
          </a:p>
          <a:p>
            <a:r>
              <a:t>间接伤害是指人被电一下后受惊、失去平衡，从梯子、高处或设备上摔下，或撞到、被划伤；登高作业附近用电更要防坠落。</a:t>
            </a:r>
          </a:p>
          <a:p>
            <a:r>
              <a:t>电火花、电弧、过热还可能点燃易燃溶剂蒸气、可燃气体和粉尘，引起火灾或爆炸（见第 106、107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身体碰到带电的导体（裸露导线、损坏的插头、漏电的外壳），而身体另一部分又与大地或另一极相连，电流就会进入并通过人体，人成了电路的一部分，这就是电击。</a:t>
            </a:r>
          </a:p>
          <a:p>
            <a:r>
              <a:t>电击的后果轻重差别很大：轻的只是手指发麻、刺痛，重的会肌肉痉挛摆脱不了、呼吸停止、心脏骤停，甚至死亡。</a:t>
            </a:r>
          </a:p>
          <a:p>
            <a:r>
              <a:t>伤人的直接原因是流过身体的电流；电压只是推动电流的“压力”。电流过大还会在体内发热，造成内部组织灼伤。高电压、大电流的电击往往是致命的，但电压不高也不能掉以轻心（见 K9）。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按照 GB/T 13870.1-2022（以现行文本为准），电流对人体的效应主要取决于：通过人体的电流大小、通电持续时间、电流在体内的路径、电流的种类（交流、直流）和频率。电流越大、时间越长，伤害越重。</a:t>
            </a:r>
          </a:p>
          <a:p>
            <a:r>
              <a:t>流过人体的电流取决于接触电压和人体阻抗：电压越高、人体电阻越小（皮肤潮湿、出汗、破损、接触面大），电流就越大（见 K12）。</a:t>
            </a:r>
          </a:p>
          <a:p>
            <a:r>
              <a:t>人的身体状况也有影响：疲劳、醉酒、有心脏疾病的人，触电后果更严重。这些因素会叠加：湿手、长时间接触、电流经过心脏，是最危险的组合。</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实验室插座上的 220 V 市电，人们天天接触，最容易放松警惕，但它完全可以致命；很多触电死亡事故就发生在普通低压线路上。</a:t>
            </a:r>
          </a:p>
          <a:p>
            <a:r>
              <a:t>使人致命的电流其实很小（毫安级），而仪器内部的电源、电容和高压部件能提供远大于此的电流。激光器、电泳仪、高压电源、X 射线设备等内部有高压，断电后电容还可能储存电荷，绝不能伸手进打开的机箱（仪器用电见第 102 课）。</a:t>
            </a:r>
          </a:p>
          <a:p>
            <a:r>
              <a:t>特低电压（ELV）能降低电击风险，但它的限值与环境有关，潮湿、导电良好或狭窄场所的要求更严，具体限值按 GB/T 3805-2008（以现行文本为准）和本校规定；“安全电压”也不是在任何条件下都绝对安全。</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电流在体内走的路径决定了它会伤到哪些器官。电流经过心脏最危险，容易引起心室纤颤和心脏骤停。</a:t>
            </a:r>
          </a:p>
          <a:p>
            <a:r>
              <a:t>手到手的路径正好横穿胸口；手到脚（尤其左手到脚）、头到脚的路径也经过心脏，都很危险。脚到脚等不经过心脏的路径相对轻一些，但同样会造成烧伤、肌肉损伤和摔倒，任何触电都不能心存侥幸。</a:t>
            </a:r>
          </a:p>
          <a:p>
            <a:r>
              <a:t>日常操作中要避免让双手同时接触可能带电的物体和接地的金属：不要一手扶着金属架、水管或另一台仪器的外壳，一手去摸电器或插头。</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GB/T 13870.1-2022（以现行文本为准）按电流大小和通电时间描述了电流效应：电流很小时人只有感觉（感知）；稍大时肌肉不由自主地强烈收缩，手握住带电体后松不开，自己无法摆脱电源（摆脱不了），通电时间随之延长；电流更大或时间更长时，可能引起呼吸困难、心室纤颤，心脏不能有效泵血，造成心脏骤停。各阈值与电流种类、路径、通电时间有关，具体数值以现行国家标准为准，不要用国外资料中的数字作为“安全界限”。</a:t>
            </a:r>
          </a:p>
          <a:p>
            <a:r>
              <a:t>心脏骤停后几分钟内就可能死亡。现场要先使触电者脱离电源（方法见第 098 课），立即拨打 120，按需进行心肺复苏，并尽快使用自动体外除颤器（AED），能大大提高生存机会（心肺复苏与 AED 见第 159 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体对电流也有阻碍作用（人体阻抗），其中皮肤，特别是干燥的角质层，是主要的阻碍。人体电阻不是一个固定的数：它随接触电压、皮肤潮湿程度、出汗、皮肤破损、接触面积和接触压力、电流路径而变化，个体差异也很大（GB/T 13870.1-2022，以现行文本为准）。</a:t>
            </a:r>
          </a:p>
          <a:p>
            <a:r>
              <a:t>皮肤干燥时电阻较高；一旦沾水、出汗或有伤口，电阻会大幅下降。人碰到带电导线时，电流经人体流入大地，电阻越小，流过人体的电流越大。所以千万不要湿手、赤脚或站在湿地上接触电器。</a:t>
            </a:r>
          </a:p>
          <a:p>
            <a:r>
              <a:t>安全培训或考试中常见的“人体电阻约多少欧”只是特定条件下的估算，不要拿它去计算“多少伏才安全”。防触电靠的是断电、绝缘、接地和漏电保护，而不是靠人体电阻。</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电流跨过空气间隙放电就形成电弧。带电插拔大电流插头、带电拆接导线、短路、开关和接触器触点分断时，都会产生电弧。</a:t>
            </a:r>
          </a:p>
          <a:p>
            <a:r>
              <a:t>电弧温度极高，会造成严重的皮肤灼伤，引燃衣物；强烈的弧光（含紫外线）会灼伤眼睛，引起电光性眼炎；熔化的金属会飞溅，造成烫伤和皮肤金属化；电弧还会产生冲击，把人击倒。</a:t>
            </a:r>
          </a:p>
          <a:p>
            <a:r>
              <a:t>因此，任何接线、拆线、更换元件都必须先断电，并确认无电，由持有特种作业操作证的电工按规程操作（停电、验电和挂牌上锁见第 105 课）；学生不得自行打开配电箱、拆接线路。</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电流在体内的路径和伤害程度很难预料，同样的接触，有时只是一麻，有时就会致命。所以最好的办法是在动手之前就把危险消除，而不是寄希望于“运气好”。</a:t>
            </a:r>
          </a:p>
          <a:p>
            <a:r>
              <a:t>防触电的基本措施是：断开电源、保持绝缘完好、设备外壳可靠接地、安装漏电保护（见第 098–100 课）。是否有电要由电工用合格的验电工具确认，绝不能用手指、手背去“试一下”有没有电。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触电后即使当时觉得没事，电流也可能造成体内组织损伤或心律异常，有的症状会延迟出现。触电者应停止工作，及时到医院检查，说明触电经过。</a:t>
            </a:r>
          </a:p>
          <a:p>
            <a:r>
              <a:t>同时报告实验室负责人（必要时报学院和学校实验室管理部门），停用出问题的设备或插座，挂上停用标识，由电工查明原因、修复后再使用（报告程序见第 157 课，未遂事件报告见第 161 课）。</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答案：D。解析：低电压不等于低危险，日常 220 V 市电同样能致命。</a:t>
            </a:r>
          </a:p>
          <a:p>
            <a:r>
              <a:t>第 2 题 答案：B。解析：人体电阻随潮湿、出汗、破皮、接触面积和电压变化，不是固定值，防触电要靠断电、绝缘、接地和漏电保护。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答案：B。解析：手到手的路径横穿胸口，经过心脏，最容易引起心室纤颤。</a:t>
            </a:r>
          </a:p>
          <a:p>
            <a:r>
              <a:t>第 4 题 答案：D。解析：电弧会造成灼伤、电光性眼炎和金属飞溅烫伤，接线必须断电并由持证电工进行。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答案：B。解析：内部损伤和心律异常可能迟发，应就医检查，并报告实验室负责人，停用出问题的设备，查明原因。</a:t>
            </a:r>
          </a:p>
          <a:p>
            <a:r>
              <a:t>第 6 题 答案：电流稍大时肌肉不由自主强烈收缩，手握住带电体无法自行摆脱，通电时间延长，电流可能引起心室纤颤和心脏骤停。解析：旁人不能用手直接去拉，应先断电或用绝缘物使其脱离电源（见第 098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实验室离不开电，但不守用电规则，就会发生触电、烧伤、电气火灾，甚至死亡事故。用电安全就是安全地使用电气设备和线路，防触电、防火灾；最先要记住的一句话是：水和电不碰面（见 K6）。</a:t>
            </a:r>
          </a:p>
          <a:p>
            <a:r>
              <a:t>用电出事会同时伤到三样：人员、仪器设备和科研工作。电气危害听起来可怕，但只要知道原因、守住规则，绝大多数都可以预防。以下用电规则每个人都要知道：电工照着做，学生要懂、要配合。</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触电按接触方式可分为两类。直接接触触电：人体碰到正常工作时就带电的导体，如裸露的导线、接线端子、破损插头里的金属片。间接接触触电：设备内部绝缘损坏，使本来不带电的金属外壳、支架带上电，人去碰外壳时触电。</a:t>
            </a:r>
          </a:p>
          <a:p>
            <a:r>
              <a:t>间接接触最隐蔽：外表看起来好好的仪器，摸上去却会电人。设备外壳可靠接地（接保护导体）并配合漏电保护，可以在漏电时迅速切断电源（见第 099、100 课）；外壳没有接地或接地线断开，漏电就“等着”人去碰。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电流经过人体的方式，触电又常分为：单相触电——人站在地上（或接触接地的金属），身体碰到一根相线（火线），电流经人体流入大地，这是实验室最常见的触电方式；两相触电——人体同时碰到两根相线，承受线电压（我国低压系统为 380 V），更加危险。</a:t>
            </a:r>
          </a:p>
          <a:p>
            <a:r>
              <a:t>跨步电压触电：电线断落地面或接地故障时，电流从落地点向四周大地扩散，地面上离落地点越近电位越高，人两脚之间存在电位差（跨步电压），电流从一只脚流到另一只脚，可能使人抽筋倒地，进而导致更严重的触电。看到电线断落地面，不要走近，设立警戒、远离并报告学校电力管理部门或保卫处，由电工处置；如已在附近感到发麻，应双脚并拢或单脚跳着离开（以本校规定和电力安全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电气事故大多源于两类原因（事故致因见第 011 课）：不安全状态，如电线破损、带电体裸露、绝缘不良、过载、缺少维护、设备损坏、环境潮湿；不安全行为，如不懂用电知识、不按规定方法使用设备、私自改装和乱修、没有经过培训。</a:t>
            </a:r>
          </a:p>
          <a:p>
            <a:r>
              <a:t>统计上电气事故多数与人为失误有关：不懂、图省事、不按规程。不安全状态和不安全行为叠加时，风险成倍增加，例如在潮湿地面上使用破损的插线板。</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常见的线路隐患包括：私拉乱接电线、用胶布随意接线、布线不规范；接线端子、插头金属片等带电部件裸露在外；电线外皮破损、开裂、老化、发硬，插座外壳裂开。</a:t>
            </a:r>
          </a:p>
          <a:p>
            <a:r>
              <a:t>这些隐患一碰就可能触电，还会引起短路起火。使用前花几秒钟看一眼：电线、插头、插座是否完好，有没有烧焦痕迹和异味；发现问题就停止使用并报修（插座、线缆与临时用电的具体要求见第 101 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设备和工具没有接地（或接地线断开），一旦漏电外壳就会带电（见第 099 课）。一个回路、一个插座接入过多负载，电流超过导线和插座的承载能力，会发热甚至起火（过流保护见第 100 课）。</a:t>
            </a:r>
          </a:p>
          <a:p>
            <a:r>
              <a:t>使用损坏的电动工具、仪器，或用错防护用品和工具（如用普通手套代替绝缘手套、用金属工具碰带电部位），同样会导致触电。电线使用不当也是常见原因：拉着电线拔插头、电线打结、被重物或门压住、被车轮碾压，都会损伤绝缘。</a:t>
            </a:r>
          </a:p>
          <a:p>
            <a:r>
              <a:t>在户外或实验楼周边，靠近架空电线搬运长杆、长梯、金属管材或攀爬，可能碰到或接近带电导线。必须远离架空电线，安全距离按电力安全规程执行（见第 105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水，特别是含有杂质的自来水、溶液和汗水，足以导电（金属导电性更好，但不能因此低估水）。潮湿会让皮肤电阻大幅下降（见第 097 课），让绝缘性能变差，触电、电弧、火灾的风险都会加重。</a:t>
            </a:r>
          </a:p>
          <a:p>
            <a:r>
              <a:t>做到：手湿先擦干，再碰开关、插头和接线柱；站在干燥地面或绝缘垫上操作；地面有水，先断电、再清理，干了再用电；插头和插座远离水槽、水浴，不在潮湿地面上拉线，线路走线槽、桥架从高处通过。</a:t>
            </a:r>
          </a:p>
          <a:p>
            <a:r>
              <a:t>确需在潮湿场所用电，由专业人员按规定选用合适的设备、特低电压和漏电保护（以本校规定为准）。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带电部件必须用防护罩、盖板、遮栏遮挡起来，使人碰不到。接线盒、配电盘在带电状态下始终要盖好盖板，盖板缺失、破损时应立即报修，不得继续使用。</a:t>
            </a:r>
          </a:p>
          <a:p>
            <a:r>
              <a:t>配电箱、电气柜的门要关好，箱前保持通道畅通、不堆放杂物，以便险情发生时能第一时间断电（见 K13）。配电箱内的操作只能由持证电工进行，学生和无关人员不得打开配电箱、触碰里面的部件。</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触电要设几道防线，任何一道都不能省。第一道：绝缘、防护罩和遮栏，使人碰不到带电体（防直接接触）。第二道：设备外壳可靠接地，线路安装漏电保护器（剩余电流动作保护装置），并用熔断器、断路器防止过载和短路（防间接接触和电气火灾，见第 099、100 课）。第三道：遵守规程，保持距离，开工前确认设备已接地、线路有漏电保护且试验正常。</a:t>
            </a:r>
          </a:p>
          <a:p>
            <a:r>
              <a:t>单相用电设备使用带接地极的三极插头，接入有保护接地的三孔插座；不得掰掉接地极，不得用两孔转换插头绕过接地（导体颜色按现行国家标准和本校规定）。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检修电气设备和线路前，必须断开电源，在开关处上锁并挂“禁止合闸，有人工作”等标示牌，防止别人在不知情的情况下误送电；维修后由本人确认、按规定解锁送电。</a:t>
            </a:r>
          </a:p>
          <a:p>
            <a:r>
              <a:t>停电、验电、挂接地线等电工作业只能由持特种作业操作证的电工按规程进行（见第 105 课）；学生发现问题只负责停用和报告，不参与检修。</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碰到仪器机壳手发麻，说明可能漏电：马上断电、拔下插头，挂“停用”标识，报告并报修，不要再用手去摸着试。</a:t>
            </a:r>
          </a:p>
          <a:p>
            <a:r>
              <a:t>开关、插座、插头损坏，没有绝缘的裸线，损坏的电气设备，一律不用；不拖着用，不自己拆开修。报告实验室负责人，由合格的持证电工或设备厂家维修，修好确认后再开工（仪器用电见第 102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在通电的电路实验中调节旋钮、读表时，尽量单手操作，另一只手不扶台架、不碰其他导体；不要两只手同时碰两处导体，读表时身体不要靠在实验台的金属部分上，避免形成经过胸部的电流路径（见第 097 课）。</a:t>
            </a:r>
          </a:p>
          <a:p>
            <a:r>
              <a:t>按实验要求穿戴防护用品，如绝缘鞋、护目镜；电工作业按规定使用绝缘手套、绝缘垫等。低压直流也不能大意：电池两极被金属短接会大电流发热，甚至起火，电池鼓包变形应停用并交老师处理（见第 103 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学校和学院要组织用电安全培训，内容包括防触电、电击、电弧、爆炸和火灾；进入实验室前要完成准入培训（见第 007 课），使用特殊电气设备前还要接受本实验室的专项培训。</a:t>
            </a:r>
          </a:p>
          <a:p>
            <a:r>
              <a:t>培训的目的是：会识别电气危害，还能主动避开；懂危害、会防护、知道出事后怎么应急。电工作业属于特种作业，必须持证上岗。</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先认清本实验室的配电箱、总电源开关和急停按钮的位置，知道它们控制哪些设备；配电箱前不堆杂物，保证险情发生时能第一时间断电。紧急断电是为了救人和防止事故扩大，平时不得随意拉总闸（停电后的处置见第 156 课）。</a:t>
            </a:r>
          </a:p>
          <a:p>
            <a:r>
              <a:t>电气设备起火，同样先切断电源，再用合适的灭火器扑救，不能用水浇带电设备（电气火灾的扑救见第 107 课）。火势控制不住，立即撤离，拨打 119，并报告实验室负责人、学院和保卫处。</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看到有人触电，第一反应往往是伸手去拉，这是最危险的做法：触电者可能还连着带电体，徒手接触会使施救者也触电。</a:t>
            </a:r>
          </a:p>
          <a:p>
            <a:r>
              <a:t>第一件事是立即切断电源：拉下就近的开关、总闸或按下急停按钮；用电器插头在近处时，手握插头本体拔下插头。注意普通开关可能只断开了一根线，有条件时拉总闸更可靠。触电者在高处时，断电前要防止其断电后摔落。</a:t>
            </a:r>
          </a:p>
          <a:p>
            <a:r>
              <a:t>断电后大声呼救，拨打 120，并通知实验室负责人。受过培训的人按规范进行急救（见 K16）。</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开关太远或找不到电源时，可以用干燥的木棍、竹竿、塑料管等绝缘物把电线从触电者身上挑开，或把触电者拨离带电体；也可以戴绝缘手套或用干燥的衣物包住手，拉触电者干燥的衣服（不碰其皮肤）。</a:t>
            </a:r>
          </a:p>
          <a:p>
            <a:r>
              <a:t>施救者要站在干燥的木板、绝缘垫等绝缘物上，尽量单手操作，防止自己成为电流通路。金属棒、潮湿的木棍和毛巾都会导电，绝不能使用。以上方法只适用于低压；高压触电必须由电力部门断电后再施救，旁人不得靠近。</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触电者脱离电源后，立即判断意识和呼吸：没有意识、没有正常呼吸时，受过培训的人立即进行心肺复苏，尽快取来自动体外除颤器（AED）使用，直到急救人员到达（操作见第 159 课）；有烧伤的按烧伤处理（见第 158 课）。</a:t>
            </a:r>
          </a:p>
          <a:p>
            <a:r>
              <a:t>触电后即使看起来没事，心律问题也可能过一阵才出现，必须去医院检查（见第 097 课）。</a:t>
            </a:r>
          </a:p>
          <a:p>
            <a:r>
              <a:t>事后按程序报告实验室负责人、学院和保卫处（见第 157 课），保护现场，停用出问题的设备，配合调查原因、整改（见第 162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答案：B。解析：先断电，绝不徒手拉；断电后呼救并拨打 120。</a:t>
            </a:r>
          </a:p>
          <a:p>
            <a:r>
              <a:t>第 2 题 答案：A。解析：适用于低压触电；金属和潮湿物品不能用；高压触电须由电力部门断电后施救。</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答案：B。解析：本来不带电的外壳因漏电带电，人接触后触电，防护靠外壳接地和漏电保护。</a:t>
            </a:r>
          </a:p>
          <a:p>
            <a:r>
              <a:t>第 4 题 答案：C。解析：机壳发麻说明可能漏电，坏了不用、不自己修。</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答案：B。解析：接地极是防间接接触触电的保护，不能去掉。</a:t>
            </a:r>
          </a:p>
          <a:p>
            <a:r>
              <a:t>第 6 题 答案：立即判断意识和呼吸，拨打 120；无意识、无正常呼吸时由受过培训的人进行心肺复苏并尽快使用 AED；即使看似无事也要送医检查；报告实验室负责人、学院和保卫处，保护现场，停用设备，配合调查。解析：心律异常可能迟发，不能因“醒过来了”就不送医。</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接地，就是用电阻很小的导体，把电气设备的某一部分（如金属外壳）或电力系统的某一点与大地可靠连接。设备一旦漏电，不该有的电就可以经接地导体流入大地，而不是经过人体（见 K4）。</a:t>
            </a:r>
          </a:p>
          <a:p>
            <a:r>
              <a:t>接地是防止间接接触触电的基本保护措施（见第 098 课），同时也保护设备和建筑。有人认为“接地可有可无”，这是错误的：外壳漏电时，正是靠接地把电流导走并使保护装置动作。</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按目的分为两类。保护接地：把电气设备正常不带电的外露金属部分（外壳、框架、支架）与接地装置相连，设备内部绝缘损坏、外壳带电时，故障电流经接地导体流走，降低人体接触时的电压，并使保护开关动作。和实验室使用者关系最近的就是保护接地。</a:t>
            </a:r>
          </a:p>
          <a:p>
            <a:r>
              <a:t>系统接地（工作接地）：把电源（变压器、发电机）的中性点与大地相连，使系统对地电压稳定，发生接地故障时故障电流有安全通路、保护装置可靠动作。</a:t>
            </a:r>
          </a:p>
          <a:p>
            <a:r>
              <a:t>“接地”在不同国家、不同标准中的叫法和分类不尽相同，国外视频中的术语和做法不一定适用。国内实际工作按国家标准、本校电气设计和电工的要求执行。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在我国常见的 TN 系统中，设备金属外壳通过插座的保护导体（PE 线）与电源中性点相连，习惯上叫“保护接零”（与外壳直接接接地极的“保护接地”相对）。外壳一旦漏电，相线经外壳、PE 线形成单相短路，电流很大，使断路器或熔断器迅速切断电源；配合漏电保护器，保护更可靠（见第 100 课）。</a:t>
            </a:r>
          </a:p>
          <a:p>
            <a:r>
              <a:t>中性线（N）是工作回路的一部分，平时有工作电流流过，并不是“没电的线”；保护导体（PE）平时没有电流，只在故障时导走故障电流。两者作用不同，不能混用：不能用 N 线代替 PE 线给外壳接地，不能在插头或插座里把 N 和 PE 短接，PE 线上不能装开关或熔断器，不能断开（导体颜色按现行国家标准和本校规定）。</a:t>
            </a:r>
          </a:p>
          <a:p>
            <a:r>
              <a:t>接线错误（如相线与 N、PE 接反）会使外壳直接带电，非常危险。插座、配电线路的安装和改动只能由持证电工进行（见第 101、105 课）。</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低压配电系统按电源中性点和设备外壳的接地方式，分为 TN、TT、IT 三类（概念了解即可）。TN 系统电源中性点直接接地，设备外壳经保护导体接到中性点：其中 TN-S 系统 N 线和 PE 线全程分开，安全性较好，常用于实验楼等新建建筑；TN-C-S 系统在进入建筑前 N 和 PE 合为一根（PEN 线），进入建筑后在总配电箱处分开，此后不得再合并。</a:t>
            </a:r>
          </a:p>
          <a:p>
            <a:r>
              <a:t>TT 系统电源中性点接地，设备外壳单独接到自己的接地极，接地故障电流较小，往往不足以使断路器动作，必须装设漏电保护器（GB/T 13955-2017，以现行文本为准）。IT 系统电源中性点不接地或经高阻抗接地，用于对供电连续性要求很高的特殊场所。</a:t>
            </a:r>
          </a:p>
          <a:p>
            <a:r>
              <a:t>采用哪种系统由电气设计确定；同一供电系统中，不能一部分设备保护接地、另一部分保护接零地混接，也不能私自改变接地方式。具体要求以现行国家标准和本校电气管理规定为准。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接地的作用可以归纳为五点：一是为漏电流提供一条低电阻的入地通路；二是降低触电风险，保护人身安全（见 K4）；三是建筑物防雷，接闪器接住的雷电流要靠接地装置泄入大地（见 K12）；四是使雷电流、短路故障电流安全泄放，保护系统和设备不被损坏；五是为精密电子仪器提供稳定的参考电位，减少干扰，使设备工作更稳。</a:t>
            </a:r>
          </a:p>
          <a:p>
            <a:r>
              <a:t>接地减少了触电、电气火灾和设备损坏。配电柜外壳带电时，如果接地断了，人一碰就会触电；接地完好，故障电流有路可走，开关跳闸切断电源。</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对比两种情况：设备没有接地，内部绝缘损坏后外壳带电，人一碰外壳，电流就经过人体流入大地，这就是触电。设备可靠接地（接 PE 线），外壳照样漏电，但故障电流主要沿电阻很小的接地线流走，外壳对地电压降低，同时较大的故障电流使断路器、熔断器动作切断电源，人就安全得多。</a:t>
            </a:r>
          </a:p>
          <a:p>
            <a:r>
              <a:t>例如电焊机、加热炉等设备内部绝缘损坏、外壳带电，接地良好时故障电流有安全通路，人碰到机壳的触电风险大大降低。前提是接地完好：接地线断了、松了、接错了，就失去保护。</a:t>
            </a:r>
          </a:p>
          <a:p>
            <a:r>
              <a:t>接地有时不足以快速切断电源（如故障电流不大时），因此还要配合漏电保护器，漏电时立即断电（见第 100 课）。</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带金属外壳的仪器、灯具和电动工具（Ⅰ类设备）都要可靠接地：通过三极插头的接地极接入三孔插座的保护导体，或通过仪器的专用接地端子接到接地系统（GB 4793.1-2007，以现行文本为准）。购买符合国家标准的合格设备。</a:t>
            </a:r>
          </a:p>
          <a:p>
            <a:r>
              <a:t>不能掰掉接地极，不能把三极插头换成两极插头，不能用没有接地的插座或两孔转换插头；插头插不进，就请电工更换合格的三孔插座。仪器专用接地线不得私自拆除，接地线松了、断了，报告老师由电工维修。</a:t>
            </a:r>
          </a:p>
          <a:p>
            <a:r>
              <a:t>需要特别留意接地的设备有：临时配电箱、发电机、电焊机、电动工具，以及实验室的配电箱和金属外壳仪器。</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接地线不能随手夹在水管、暖气管或燃气管上：管道接头可能不导电，接地效果不可靠，还会使管道带电，人接触时触电，甚至引燃燃气。接地要接到专用的接地端子或插座保护导体，由电工施工。</a:t>
            </a:r>
          </a:p>
          <a:p>
            <a:r>
              <a:t>不能为了消除信号干扰而拆掉接地：外壳一旦漏电就没有保护了。干扰问题请老师和工程师用正确方法解决（如改善屏蔽、单点接地，由专业人员确定）。</a:t>
            </a:r>
          </a:p>
          <a:p>
            <a:r>
              <a:t>自己搭建的实验装置，金属框架也可能因导线破损而带电，通电前请电工检查并可靠接地。仪器新装或换了位置，先请电工确认插座接地可靠再插电开机。仪器维修后，接地线要装回并测量导通，清点工具和螺钉，机内不留异物。</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等电位联结是把建筑物或场所内可同时触及的金属部件（设备外壳、金属台架、金属管道、建筑钢筋等）用导线连接在一起并接地，使它们电位基本一致。这样即使发生故障，人同时接触两处金属时，两者之间也没有危险的电压差。</a:t>
            </a:r>
          </a:p>
          <a:p>
            <a:r>
              <a:t>建筑总配电处有总等电位联结，潮湿场所、特殊实验场所还可能设置局部等电位联结（以设计和现行标准为准）。联结线和端子由电工按设计安装，使用者不得拆除、改动；发现联结线断开、松脱及时报告。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装置由接地极（埋入土壤中的导体）和接地线组成。常见的接地极有：管式（把金属管埋入地下）、板式（埋入金属板）、棒式（把导电棒打入土中）；建筑物还常利用基础钢筋作自然接地极。接地极常用镀锌钢等耐腐蚀材料。</a:t>
            </a:r>
          </a:p>
          <a:p>
            <a:r>
              <a:t>选用哪种接地极、用什么材料和规格、接地电阻应达到多少，由设计和专业人员根据土壤条件和用途，按现行国家标准确定；国外视频中的接地坑做法和数值不适用。接地装置的施工和改动由有资质的单位和持证电工进行。</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接地检查一步一步来。外观：接地端子、接地测试点位置清楚，有接地标识，便于检查，有防护；接地检查井盖板完好，不能破损。周边环境：有没有积水、施工开挖或机械损坏。</a:t>
            </a:r>
          </a:p>
          <a:p>
            <a:r>
              <a:t>连接：接头要紧固、不松动，没有严重锈蚀，导线接到正确的端子上。配电箱内保护导体要接到箱体和接地排上；电源端要做好接地；接地线要连续不断，接头拧紧；检查表上注明接地线的规格（安全检查清单见第 104 课）。</a:t>
            </a:r>
          </a:p>
          <a:p>
            <a:r>
              <a:t>实验室人员日常能做的是：看设备接地线、插头接地极是否完好，配电箱和仪器接地标识是否清楚，发现问题报告；打开配电箱、测试和维修由电工进行。</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好不好，光看外观判断不了，要测量接地电阻并查看测试记录。测量由合格的电工使用经过校准的接地电阻测试仪进行，测出的数值记入检查表或台账，并对照现行国家标准和设计要求核对（具体限值以现行标准和设计为准）。理解为什么要接地、怎样降低接地电阻，是电气专业实验的内容，实验在教师指导下按规程进行。</a:t>
            </a:r>
          </a:p>
          <a:p>
            <a:r>
              <a:t>有了漏电保护，插座接地也得靠得住：接地孔“空的”，外壳漏电就没有出路。插座接地由电工定期检测并做好记录；插座松动、发烫、发黑，停用报修（见第 101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检查中发现接头松动、锈蚀、接地线断开、盖板损坏，不能忽视，要记录下来，报告实验室负责人并通知电工整改；修好后再复查确认，整改闭环后才算完成（隐患整改见第 005 课）。</a:t>
            </a:r>
          </a:p>
          <a:p>
            <a:r>
              <a:t>检查人员的本职是检查、核实、报告、跟进，不亲自维修和测试，交给有资质的电工来做。接地检查不光看检查井，还要看连接、设备和记录；用电的小疏忽，可能变成大事故。</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建筑物防雷装置主要由接闪器（避雷针、避雷带、避雷网）、引下线和接地装置组成，按 GB 50057（以现行文本为准）设计安装。雷击时，接闪器接住雷电流，沿引下线泄入大地，保护建筑和人员；电源和信号线路还可能装有电涌保护器，防止雷电波沿线路侵入损坏仪器。</a:t>
            </a:r>
          </a:p>
          <a:p>
            <a:r>
              <a:t>防雷装置要按规定由具备资质的单位定期检测，并留存检测报告（检测周期和要求以《防雷减灾管理办法》等现行规定为准）。日常发现楼顶接闪器损坏、引下线锈断或松脱、断接卡丢失，及时报告学校后勤或设施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雷雨天气，雷电波可能沿电源线、信号线侵入，损坏精密仪器。雷雨来临前，按本实验室规定关闭不必要运行的精密仪器并断电，拔掉暂时不用的插头；冰箱、培养箱、超低温冰箱等不能断电的设备按本实验室规定处理。</a:t>
            </a:r>
          </a:p>
          <a:p>
            <a:r>
              <a:t>雷雨时不要在户外、楼顶进行用电作业或搬运金属长杆，不要靠近防雷引下线、楼顶金属栏杆、金属旗杆；不在室外使用电动工具。雷雨过后发现仪器异常，停用并报告，由专业人员检查。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答案：C。解析：N 平时有工作电流；PE 专连外壳，不得与 N 混用、短接，不得装开关或熔断器。</a:t>
            </a:r>
          </a:p>
          <a:p>
            <a:r>
              <a:t>第 2 题 答案：B。解析：拆接地使外壳漏电时失去保护；水管燃气管不是可靠接地，还会使管道带电。干扰找老师和工程师解决。</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答案：B。解析：前提是接地完好，并配合漏电保护器。</a:t>
            </a:r>
          </a:p>
          <a:p>
            <a:r>
              <a:t>第 4 题 答案：B。解析：A 为 TN-S，C 为 TN-C-S，D 为 IT 系统。</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答案：B。解析：光看外观判断不了，要由合格电工用校准过的仪器测量接地电阻并记录。</a:t>
            </a:r>
          </a:p>
          <a:p>
            <a:r>
              <a:t>第 6 题 答案：雷雨前按规定关闭不必要运行的精密仪器并断电，拔掉不用的插头，不能断电的设备按本实验室规定处理；雷雨时不在户外和楼顶用电作业，不靠近引下线和金属栏杆；雷雨后仪器异常停用并报告。解析：雷电波可沿电源和信号线侵入损坏仪器。</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实验室配电箱和实验台电源面板里，常见三类保护器件：熔断器（俗称保险丝、保险管）、断路器（俗称空气开关）和漏电保护器（剩余电流动作保护器）。它们是第 098 课所说“第二道防线”的核心。</a:t>
            </a:r>
          </a:p>
          <a:p>
            <a:r>
              <a:t>熔断器和断路器防的是电流过大：过载（用电设备太多、功率太大）和短路（相线与零线或地直接相碰），目的是保护线路和设备、防止电气火灾。漏电保护器防的是漏电：电流经人体或设备外壳流入大地，目的是防人身触电和漏电起火。</a:t>
            </a:r>
          </a:p>
          <a:p>
            <a:r>
              <a:t>三者分工不同，不能相互替代。现在也有把过流保护和漏电保护做在一起的“带过电流保护的漏电断路器”，一个器件同时具备两种功能，选用以铭牌和电工确认为准。</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熔断器串联在电路中，内部是一段专门设计的熔体。电流超过规定值一段时间（或发生短路），熔体发热熔断，电路断开，导线来不及过热起火。它是“牺牲自己保护线路”的一次性器件。</a:t>
            </a:r>
          </a:p>
          <a:p>
            <a:r>
              <a:t>熔断器熔断，说明线路有过载或短路。应先断电查明原因（拔掉多余负载、排查故障设备），再由电工换上同规格的熔断器；仪器内部的保险管熔断，应报修，不要反复更换后继续使用，更不能换大号。</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断路器既是开关，可以正常接通和断开电路，又是保护器：线路过载时，它经过一段延时跳闸（过载越严重跳得越快）；发生短路时，电流急剧增大，它几乎瞬间跳闸。与熔断器相比，断路器跳闸后不必更换，排除故障后推上手柄即可复位。</a:t>
            </a:r>
          </a:p>
          <a:p>
            <a:r>
              <a:t>断路器跳闸同样说明线路有问题：先减少负载或拔下故障设备，再复位；复位后又跳，不要反复强合，应报告实验室负责人，由电工检查（见 K14）。</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熔断器和断路器的额定电流要与所保护导线的载流能力和负载相匹配。规格选小了会频繁误动作；选大了更危险——导线已经过热冒烟，保护器件还不动作，等于没装。</a:t>
            </a:r>
          </a:p>
          <a:p>
            <a:r>
              <a:t>用铜丝、铁丝代替保险丝，或把熔断器两端短接，熔点高、截面大的金属丝不会及时熔断，过载、短路时线路就会起火，这是严禁的行为。保护器件的选型、安装和更换，由持证电工按线路设计进行（见第 105 课），学生发现规格不符或被替换，应报告实验室负责人。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国家标准（GB/T 13955-2017，以现行文本为准）称之为剩余电流动作保护装置（剩余电流动作保护器），日常俗称漏电保护器、漏电开关、漏保。“剩余电流”指流出与流回电流的差值，即漏到别处（大地、人体）的那部分电流。</a:t>
            </a:r>
          </a:p>
          <a:p>
            <a:r>
              <a:t>国外资料中常见几个不同的英文名称和缩写（如 RCD、RCCB、ELCB、GFCI 等），有的指新型电流型，有的指已淘汰的电压型，有的是插座式产品，容易混淆。学习和工作中以国内术语为准：现在实际安装使用的，基本都是电流型剩余电流动作保护器（见 K8）。</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流型漏电保护器的核心是一个环形的零序电流互感器，相线和中性线（零线）一起穿过它。正常工作时，从相线流出的电流全部经零线流回，两者大小相等、方向相反，在互感器中相互抵消，合成为零，保护器不动作。</a:t>
            </a:r>
          </a:p>
          <a:p>
            <a:r>
              <a:t>当有人碰到相线、或设备漏电使外壳带电时，有一部分电流经人体或外壳流入大地，不再经零线流回，流出与流回的电流不再相等。互感器检测到这个差值（剩余电流），达到动作值时驱动脱扣线圈，开关跳闸，切断电源。</a:t>
            </a:r>
          </a:p>
          <a:p>
            <a:r>
              <a:t>注意：漏电保护器检测的是“漏到别处去的电流”。电流只在相线和零线之间流动（例如人同时碰到相线和零线），它分辨不出来（见 K9）。</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金属外壳的仪器、工具本来有一条低电阻的接地通路（见第 099 课）。当这条通路断了，或设备内部绝缘损坏使外壳带电，就形成接地故障，电流会另找出路——人一碰外壳，电流经人体流入大地，轻则受伤，重则致命。</a:t>
            </a:r>
          </a:p>
          <a:p>
            <a:r>
              <a:t>漏电保护器是一种动作很快的开关：一旦出现接地故障，在极短时间内就切断电源（用于人身保护的快速型，动作时间按 GB/T 13955 现行文本要求）。前提是安装正确、维护到位：有故障的设备一插上就跳闸，跳得够快，伤害就来不及发生。它也能及早切断长期漏电，防止漏电发热起火。</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早期的漏电保护装置是电压型：它的检测线圈接在设备外壳的接地线上，相线碰壳时接地线上出现电压，推动开关断电。它有明显缺陷：完全依赖良好的接地线，接地线一断就失灵；漏电如果经其他途径（如人体、水管）入地，不经过它的接地线，它也不动作；灵敏度和响应速度也不如电流型。</a:t>
            </a:r>
          </a:p>
          <a:p>
            <a:r>
              <a:t>电流型直接比较流出与流回的电流（见 K6），不依赖自身的接地线，漏电从任何途径入地都能发现，更灵敏可靠，现已基本取代电压型。注意：电流型“动作不靠接地”，不等于设备外壳可以不接地，金属外壳设备仍须可靠接地（见第 099 课）。</a:t>
            </a:r>
          </a:p>
          <a:p>
            <a:r>
              <a:t>在老旧实验楼发现外观陈旧、没有试验按钮或型号不明的保护装置，记录位置并报告实验室负责人，由学校安排持证电工更换合格产品，不要自己动手换。</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漏电保护器只对“漏到大地”的电流有反应。人站在绝缘物上同时碰到相线和零线，或两手各碰一根相线，电流从一根线经人体回到另一根线，流出流回仍然相等，保护器可能不动作。所以检修线路和设备照样要断电、验电（见第 098、105 课），不能指望漏电保护器“兜底”。</a:t>
            </a:r>
          </a:p>
          <a:p>
            <a:r>
              <a:t>只具备漏电保护功能的保护器（不带过流保护）不管过载和短路，线路仍需熔断器或断路器配合（见 K1）。漏电保护器是附加保护，代替不了绝缘、遮护和保护接地：金属外壳设备照样要可靠接地，破损电线照样要停用。</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漏电保护器的灵敏度用“额定剩余动作电流”表示，从高灵敏度到低灵敏度分为好几档，数值越小，越小的漏电就能使它动作。选档位先想清楚保护谁：用于人身触电的附加保护，一般选用额定剩余动作电流不大于 30 mA、动作快速的高灵敏度型，插座回路、用水设备、手持电动工具都靠它；灵敏度低一档的只能提供有限的保护，只在用不了高灵敏度型时由设计确定。具体数值和选用条件以 GB/T 13955 现行文本、线路设计和本校规定为准。</a:t>
            </a:r>
          </a:p>
          <a:p>
            <a:r>
              <a:t>数百毫安的大档位主要用于防止线路长期漏电发热引起电气火灾，它绝不能当作防人身触电的保护。</a:t>
            </a:r>
          </a:p>
          <a:p>
            <a:r>
              <a:t>铭牌上有两个容易看混的参数：额定电流（能长期通过的工作电流，数字大，单位是安）和额定剩余动作电流（多小的漏电就会跳，数字小，单位是毫安）。嫌保护器“太灵敏、老跳”而换成低灵敏度的，是严重违规。</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潮湿的地方最需要漏电保护：实验室水池、水槽、水浴、冷却水循环装置旁边的插座回路必须装有漏电保护器。此外，一般插座回路、手持电动工具和移动式电气设备、用水的电气设备，都应有漏电保护；潮湿、狭窄等特殊场所还要按规定使用特低电压（见第 102 课）。具体配置按 GB/T 13955 现行文本、线路设计和本校规定。</a:t>
            </a:r>
          </a:p>
          <a:p>
            <a:r>
              <a:t>用移动式发电机或临时电源供电，同样要加漏电保护，不能因为“不是市电”就省掉（临时用电见第 101 课）。配电箱内每一路需要保护的回路都必须经过漏电保护器，绕开保护器单独引线、私接插座是不允许的。</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配电箱和实验台电源面板里的漏电保护器外，还有几种形式：插座式——保护器做在墙面插座里，带试验和复位按钮，能保护它后面接的几个插座；移动式——可以随身携带，插在普通插座上或自带电线，给后面的设备加一道保护；插头式——保护器直接做在电源插头上，保护整根电线和所连设备。</a:t>
            </a:r>
          </a:p>
          <a:p>
            <a:r>
              <a:t>移动式和插头式产品通常在供电线断了一根时也会自动断电，使用前同样要按试验按钮确认有效。临时用电、户外用电，应先按本校规定报批，由电工接线，并在用电设备前加移动式漏电保护器；不要把普通插线板直接拉到室外使用（见第 101 课）。</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漏电保护器上有一个试验按钮（常标“T”或“试验”）。按下后保护器应立即跳闸，说明检测和脱扣机构正常；试验后把手柄推回复位，恢复供电。试验前先告知同一回路的人员，关闭正在运行的精密仪器和不能突然断电的设备。</a:t>
            </a:r>
          </a:p>
          <a:p>
            <a:r>
              <a:t>试验周期按 GB/T 13955 现行文本和本校规定执行，常见做法是每月至少试一次，雷雨季节和长期停用后再次使用前也要试。每个保护器应编号，试验结果记入台账，由专人签字（电气安全检查见第 104 课）。</a:t>
            </a:r>
          </a:p>
          <a:p>
            <a:r>
              <a:t>按下试验按钮不跳闸，说明保护器已失灵，应立即停用该回路，挂停用标识，报告实验室负责人并报修，不能“凑合着用”。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漏电保护器跳闸，说明回路中可能真有漏电：设备绝缘损坏、进水受潮、线路破损。正确做法：先拔下最近接上的或可疑的设备，再试着合闸；合上不跳，说明问题在拔下的设备上，该设备停用、挂牌、报修；断路器跳闸也一样，先减少负载、拔下故障设备再复位。</a:t>
            </a:r>
          </a:p>
          <a:p>
            <a:r>
              <a:t>不能反复强合，更不能为了“不跳”而用导线短接保护器、拆掉保护器或换成普通开关——这等于拆掉了救命的装置。老是跳闸、查不清原因，报告实验室负责人，请持证电工检查处理。</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漏电保护器、断路器、插线板等低压电器应选用获得强制性产品认证、带 3C 标志的合格产品（以现行认证目录为准），由学校统一采购；来路不明、没有标志的廉价产品可能根本不动作，不能使用。</a:t>
            </a:r>
          </a:p>
          <a:p>
            <a:r>
              <a:t>保护器件的选型、安装、更换和定期检测，由持证电工按线路设计进行，规格要与线路匹配（见 K4）。配电箱应保持关闭、标明各回路用途，箱前不堆杂物（见第 098 课）；学生和无关人员不得打开配电箱、自行拆装保护器件，发现问题只负责停用和报告。</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答案：C。解析：熔断器和断路器防过载、短路；漏电保护器检测剩余电流，防触电和漏电起火。</a:t>
            </a:r>
          </a:p>
          <a:p>
            <a:r>
              <a:t>第 2 题 答案：B。解析：此时流出与流回电流相等，保护器可能不动作，所以检修仍须断电。</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答案：A。解析：大档位用于防电气火灾，不能当防触电保护；具体以 GB/T 13955 现行文本和本校规定为准。</a:t>
            </a:r>
          </a:p>
          <a:p>
            <a:r>
              <a:t>第 4 题 答案：C。解析：按了不跳说明保护器失灵，不能凑合使用。</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答案：B。解析：铜丝不能及时熔断，过载短路时会引起火灾；应查明原因后由电工换同规格熔断器。</a:t>
            </a:r>
          </a:p>
          <a:p>
            <a:r>
              <a:t>第 6 题 答案：不急于合闸、不反复强合；先拔下刚接上的或可疑设备再试合闸，找出漏电设备后停用、挂牌、报修；查不清原因时报告实验室负责人，由持证电工处理；绝不短接、拆除或更换为普通开关。解析：跳闸说明回路可能存在漏电，是保护器在起作用。</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电流对人体的伤害</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第8章 电气安全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适用对象：进入实验室的全体本科生、研究生和教职工，特别是使用电气仪器、电源、加热设备和自制实验装置的人员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能说出电流、电压、电阻、功率、导体、绝缘体、直流和交流的基本含义，知道我国市电为 220 V/380 V、50 Hz。</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能说出用电的几类危害（电击、电伤、电气火灾和爆炸、间接伤害），区分电击和电伤，知道电弧的危害。</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能判断影响触电严重程度的因素：电流大小、路径（经过心脏最危险）、通电时间、电流种类和频率、人体状况和人体电阻。</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能做到不湿手碰电、不拿身体试电，知道“低电压不等于低危险”，触电后即使没有症状也要就医并报告。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13870.1-2022（以现行文本为准）《电流对人和家畜的效应 第1部分：通用部分》：人体阻抗、交直流电流效应、电流路径与通电时间</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13869-2017（以现行文本为准，GB/T 13869-2026 即将实施）《用电安全导则》</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3805-2008（以现行文本为准）《特低电压（ELV）限值》</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4793.1-2007（以现行文本为准，GB 4793-2024 已发布、即将实施）《测量、控制和实验室用电气设备的安全要求 第1部分：通用要求》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号）：用电安全要求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电工作业人员持特种作业操作证上岗（以现行规定为准）；本校实验室用电安全管理规定</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电能致命：先懂电才能防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电用好是帮手，用不好会要命</a:t>
            </a:r>
          </a:p>
          <a:p>
            <a:pPr>
              <a:spcAft>
                <a:spcPts val="1000"/>
              </a:spcAft>
            </a:pPr>
            <a:r>
              <a:rPr sz="2000">
                <a:solidFill>
                  <a:srgbClr val="222B33"/>
                </a:solidFill>
                <a:latin typeface="Microsoft YaHei"/>
              </a:rPr>
              <a:t>▪ 会触电、会起火，还会毁掉实验</a:t>
            </a:r>
          </a:p>
          <a:p>
            <a:pPr>
              <a:spcAft>
                <a:spcPts val="1000"/>
              </a:spcAft>
            </a:pPr>
            <a:r>
              <a:rPr sz="2000">
                <a:solidFill>
                  <a:srgbClr val="222B33"/>
                </a:solidFill>
                <a:latin typeface="Microsoft YaHei"/>
              </a:rPr>
              <a:t>▪ 断电会让安全柜等防护设备失效</a:t>
            </a:r>
          </a:p>
          <a:p>
            <a:pPr>
              <a:spcAft>
                <a:spcPts val="1000"/>
              </a:spcAft>
            </a:pPr>
            <a:r>
              <a:rPr sz="2000">
                <a:solidFill>
                  <a:srgbClr val="222B33"/>
                </a:solidFill>
                <a:latin typeface="Microsoft YaHei"/>
              </a:rPr>
              <a:t>▪ 先懂电、知道危险，才能防住事故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电是实验室最常用的能源，几乎所有仪器都离不开它；但电看不见、摸不着、闻不到，触电和电气事故往往发生在一瞬间，致残致死的不在少数，每年都有人因触电丢了性命。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觉得用电是日常小事，不需要专门学</a:t>
            </a:r>
          </a:p>
          <a:p>
            <a:pPr>
              <a:spcAft>
                <a:spcPts val="1000"/>
              </a:spcAft>
            </a:pPr>
            <a:r>
              <a:rPr sz="1500">
                <a:solidFill>
                  <a:srgbClr val="222B33"/>
                </a:solidFill>
                <a:latin typeface="Microsoft YaHei"/>
              </a:rPr>
              <a:t>▪ 只想到触电，忘了电气火灾和防护设备失效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电在闭合回路里流动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电源、导线和用电器连成电路</a:t>
            </a:r>
          </a:p>
          <a:p>
            <a:pPr>
              <a:spcAft>
                <a:spcPts val="1000"/>
              </a:spcAft>
            </a:pPr>
            <a:r>
              <a:rPr sz="2000">
                <a:solidFill>
                  <a:srgbClr val="222B33"/>
                </a:solidFill>
                <a:latin typeface="Microsoft YaHei"/>
              </a:rPr>
              <a:t>▪ 电流是电荷的定向移动，单位安培</a:t>
            </a:r>
          </a:p>
          <a:p>
            <a:pPr>
              <a:spcAft>
                <a:spcPts val="1000"/>
              </a:spcAft>
            </a:pPr>
            <a:r>
              <a:rPr sz="2000">
                <a:solidFill>
                  <a:srgbClr val="222B33"/>
                </a:solidFill>
                <a:latin typeface="Microsoft YaHei"/>
              </a:rPr>
              <a:t>▪ 回路闭合才有电流，断开就停</a:t>
            </a:r>
          </a:p>
          <a:p>
            <a:pPr>
              <a:spcAft>
                <a:spcPts val="1000"/>
              </a:spcAft>
            </a:pPr>
            <a:r>
              <a:rPr sz="2000">
                <a:solidFill>
                  <a:srgbClr val="222B33"/>
                </a:solidFill>
                <a:latin typeface="Microsoft YaHei"/>
              </a:rPr>
              <a:t>▪ 人一旦成了回路的一段，就会触电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电是一种能量，由电源（电网、电池、电源模块）提供，沿着导线送到用电器（负载，如灯、加热器、电机、仪器）。电源、导线和用电器连成的完整通路叫电路。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以为只碰一根线、不碰两根线就一定安全（站在地上同样构成回路）</a:t>
            </a:r>
          </a:p>
          <a:p>
            <a:pPr>
              <a:spcAft>
                <a:spcPts val="1000"/>
              </a:spcAft>
            </a:pPr>
            <a:r>
              <a:rPr sz="1500">
                <a:solidFill>
                  <a:srgbClr val="222B33"/>
                </a:solidFill>
                <a:latin typeface="Microsoft YaHei"/>
              </a:rPr>
              <a:t>▪ 以为开关“关了”就一定没电，不确认是否真正断开电源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电压、电流、电阻与功率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电压像水压，推动电流流动</a:t>
            </a:r>
          </a:p>
          <a:p>
            <a:pPr>
              <a:spcAft>
                <a:spcPts val="1000"/>
              </a:spcAft>
            </a:pPr>
            <a:r>
              <a:rPr sz="1700">
                <a:solidFill>
                  <a:srgbClr val="222B33"/>
                </a:solidFill>
                <a:latin typeface="Microsoft YaHei"/>
              </a:rPr>
              <a:t>▪ 电压越高越危险，防护要求越高</a:t>
            </a:r>
          </a:p>
          <a:p>
            <a:pPr>
              <a:spcAft>
                <a:spcPts val="1000"/>
              </a:spcAft>
            </a:pPr>
            <a:r>
              <a:rPr sz="1700">
                <a:solidFill>
                  <a:srgbClr val="222B33"/>
                </a:solidFill>
                <a:latin typeface="Microsoft YaHei"/>
              </a:rPr>
              <a:t>▪ 电阻是对电流的阻碍</a:t>
            </a:r>
          </a:p>
          <a:p>
            <a:pPr>
              <a:spcAft>
                <a:spcPts val="1000"/>
              </a:spcAft>
            </a:pPr>
            <a:r>
              <a:rPr sz="1700">
                <a:solidFill>
                  <a:srgbClr val="222B33"/>
                </a:solidFill>
                <a:latin typeface="Microsoft YaHei"/>
              </a:rPr>
              <a:t>▪ 接触不良处电阻大，会局部发热</a:t>
            </a:r>
          </a:p>
          <a:p>
            <a:pPr>
              <a:spcAft>
                <a:spcPts val="1000"/>
              </a:spcAft>
            </a:pPr>
            <a:r>
              <a:rPr sz="1700">
                <a:solidFill>
                  <a:srgbClr val="222B33"/>
                </a:solidFill>
                <a:latin typeface="Microsoft YaHei"/>
              </a:rPr>
              <a:t>▪ 功率越大，发热越多，风险越高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电压（单位伏特，V）是推动电流的“压力”，就像水压推动水流。电压越高，同样条件下流过人体的电流越大，电击和设备损坏的风险越大；知道设备和线路的电压等级，才知道该采取什么防护（高、低压的划分和电工作业要求见第 105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插头发热、发烫还继续使用</a:t>
            </a:r>
          </a:p>
          <a:p>
            <a:pPr>
              <a:spcAft>
                <a:spcPts val="1000"/>
              </a:spcAft>
            </a:pPr>
            <a:r>
              <a:rPr sz="1500">
                <a:solidFill>
                  <a:srgbClr val="222B33"/>
                </a:solidFill>
                <a:latin typeface="Microsoft YaHei"/>
              </a:rPr>
              <a:t>▪ 把多台大功率设备接在同一个插线板上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导体与绝缘体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金属、人体、水都容易导电</a:t>
            </a:r>
          </a:p>
          <a:p>
            <a:pPr>
              <a:spcAft>
                <a:spcPts val="1000"/>
              </a:spcAft>
            </a:pPr>
            <a:r>
              <a:rPr sz="2000">
                <a:solidFill>
                  <a:srgbClr val="222B33"/>
                </a:solidFill>
                <a:latin typeface="Microsoft YaHei"/>
              </a:rPr>
              <a:t>▪ 玻璃、陶瓷、塑料、干木头是绝缘体</a:t>
            </a:r>
          </a:p>
          <a:p>
            <a:pPr>
              <a:spcAft>
                <a:spcPts val="1000"/>
              </a:spcAft>
            </a:pPr>
            <a:r>
              <a:rPr sz="2000">
                <a:solidFill>
                  <a:srgbClr val="222B33"/>
                </a:solidFill>
                <a:latin typeface="Microsoft YaHei"/>
              </a:rPr>
              <a:t>▪ 绝缘把电挡在该在的地方</a:t>
            </a:r>
          </a:p>
          <a:p>
            <a:pPr>
              <a:spcAft>
                <a:spcPts val="1000"/>
              </a:spcAft>
            </a:pPr>
            <a:r>
              <a:rPr sz="2000">
                <a:solidFill>
                  <a:srgbClr val="222B33"/>
                </a:solidFill>
                <a:latin typeface="Microsoft YaHei"/>
              </a:rPr>
              <a:t>▪ 绝缘受潮、破损就靠不住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电阻小、电流容易通过的物质叫导体，大多数金属都是导体；人体和含有杂质的水（自来水、汗水、溶液）也能导电。电阻很高、几乎不让电流通过的物质叫绝缘体，如玻璃、陶瓷、塑料、橡胶、干燥的木头。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以为隔着一层湿布、湿手套碰电就安全</a:t>
            </a:r>
          </a:p>
          <a:p>
            <a:pPr>
              <a:spcAft>
                <a:spcPts val="1000"/>
              </a:spcAft>
            </a:pPr>
            <a:r>
              <a:rPr sz="1500">
                <a:solidFill>
                  <a:srgbClr val="222B33"/>
                </a:solidFill>
                <a:latin typeface="Microsoft YaHei"/>
              </a:rPr>
              <a:t>▪ 用破皮、开裂的电线继续通电</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直流与交流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电分静电和电流，电流分直流和交流</a:t>
            </a:r>
          </a:p>
          <a:p>
            <a:pPr>
              <a:spcAft>
                <a:spcPts val="1000"/>
              </a:spcAft>
            </a:pPr>
            <a:r>
              <a:rPr sz="1700">
                <a:solidFill>
                  <a:srgbClr val="222B33"/>
                </a:solidFill>
                <a:latin typeface="Microsoft YaHei"/>
              </a:rPr>
              <a:t>▪ 直流方向不变，如电池和直流电源</a:t>
            </a:r>
          </a:p>
          <a:p>
            <a:pPr>
              <a:spcAft>
                <a:spcPts val="1000"/>
              </a:spcAft>
            </a:pPr>
            <a:r>
              <a:rPr sz="1700">
                <a:solidFill>
                  <a:srgbClr val="222B33"/>
                </a:solidFill>
                <a:latin typeface="Microsoft YaHei"/>
              </a:rPr>
              <a:t>▪ 交流方向来回变化，电网送的是交流</a:t>
            </a:r>
          </a:p>
          <a:p>
            <a:pPr>
              <a:spcAft>
                <a:spcPts val="1000"/>
              </a:spcAft>
            </a:pPr>
            <a:r>
              <a:rPr sz="1700">
                <a:solidFill>
                  <a:srgbClr val="222B33"/>
                </a:solidFill>
                <a:latin typeface="Microsoft YaHei"/>
              </a:rPr>
              <a:t>▪ 我国市电 220 V 和 380 V，50 Hz</a:t>
            </a:r>
          </a:p>
          <a:p>
            <a:pPr>
              <a:spcAft>
                <a:spcPts val="1000"/>
              </a:spcAft>
            </a:pPr>
            <a:r>
              <a:rPr sz="1700">
                <a:solidFill>
                  <a:srgbClr val="222B33"/>
                </a:solidFill>
                <a:latin typeface="Microsoft YaHei"/>
              </a:rPr>
              <a:t>▪ 交流直流都能伤人，高压更危险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电有静电和电流两类：静电是积聚在物体表面的电荷，放电时会产生火花（静电的危害与防护见第 106 课）；电流是电荷的持续流动，又分为直流和交流。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以为直流电、电池“没危险”</a:t>
            </a:r>
          </a:p>
          <a:p>
            <a:pPr>
              <a:spcAft>
                <a:spcPts val="1000"/>
              </a:spcAft>
            </a:pPr>
            <a:r>
              <a:rPr sz="1500">
                <a:solidFill>
                  <a:srgbClr val="222B33"/>
                </a:solidFill>
                <a:latin typeface="Microsoft YaHei"/>
              </a:rPr>
              <a:t>▪ 用国外视频里的电压和插头做法套用国内实验室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用电的几类危害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用电危害：电击、电伤、电气火灾和爆炸</a:t>
            </a:r>
          </a:p>
          <a:p>
            <a:pPr>
              <a:spcAft>
                <a:spcPts val="1000"/>
              </a:spcAft>
            </a:pPr>
            <a:r>
              <a:rPr sz="2000">
                <a:solidFill>
                  <a:srgbClr val="222B33"/>
                </a:solidFill>
                <a:latin typeface="Microsoft YaHei"/>
              </a:rPr>
              <a:t>▪ 电击伤在体内，伤神经和心脏</a:t>
            </a:r>
          </a:p>
          <a:p>
            <a:pPr>
              <a:spcAft>
                <a:spcPts val="1000"/>
              </a:spcAft>
            </a:pPr>
            <a:r>
              <a:rPr sz="2000">
                <a:solidFill>
                  <a:srgbClr val="222B33"/>
                </a:solidFill>
                <a:latin typeface="Microsoft YaHei"/>
              </a:rPr>
              <a:t>▪ 电伤伤在体表，如电弧烧伤</a:t>
            </a:r>
          </a:p>
          <a:p>
            <a:pPr>
              <a:spcAft>
                <a:spcPts val="1000"/>
              </a:spcAft>
            </a:pPr>
            <a:r>
              <a:rPr sz="2000">
                <a:solidFill>
                  <a:srgbClr val="222B33"/>
                </a:solidFill>
                <a:latin typeface="Microsoft YaHei"/>
              </a:rPr>
              <a:t>▪ 被电后摔倒坠落，是间接伤害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用电的危害主要有：电击、电伤、电气火灾、易燃易爆场所的电气爆炸，以及触电引起的间接伤害。其中电击和电伤是电流（或电弧）直接对人体造成的伤害。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只把“被电到”当成危害，忽视电气火灾和爆炸</a:t>
            </a:r>
          </a:p>
          <a:p>
            <a:pPr>
              <a:spcAft>
                <a:spcPts val="1000"/>
              </a:spcAft>
            </a:pPr>
            <a:r>
              <a:rPr sz="1500">
                <a:solidFill>
                  <a:srgbClr val="222B33"/>
                </a:solidFill>
                <a:latin typeface="Microsoft YaHei"/>
              </a:rPr>
              <a:t>▪ 在梯子上、高处检查带电设备</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什么是电击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身体碰到带电体，电流就进入人体</a:t>
            </a:r>
          </a:p>
          <a:p>
            <a:pPr>
              <a:spcAft>
                <a:spcPts val="1000"/>
              </a:spcAft>
            </a:pPr>
            <a:r>
              <a:rPr sz="2000">
                <a:solidFill>
                  <a:srgbClr val="222B33"/>
                </a:solidFill>
                <a:latin typeface="Microsoft YaHei"/>
              </a:rPr>
              <a:t>▪ 人成了电路的一部分，就是电击</a:t>
            </a:r>
          </a:p>
          <a:p>
            <a:pPr>
              <a:spcAft>
                <a:spcPts val="1000"/>
              </a:spcAft>
            </a:pPr>
            <a:r>
              <a:rPr sz="2000">
                <a:solidFill>
                  <a:srgbClr val="222B33"/>
                </a:solidFill>
                <a:latin typeface="Microsoft YaHei"/>
              </a:rPr>
              <a:t>▪ 轻的发麻，重的会要命</a:t>
            </a:r>
          </a:p>
          <a:p>
            <a:pPr>
              <a:spcAft>
                <a:spcPts val="1000"/>
              </a:spcAft>
            </a:pPr>
            <a:r>
              <a:rPr sz="2000">
                <a:solidFill>
                  <a:srgbClr val="222B33"/>
                </a:solidFill>
                <a:latin typeface="Microsoft YaHei"/>
              </a:rPr>
              <a:t>▪ 伤人的是流过身体的电流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身体碰到带电的导体（裸露导线、损坏的插头、漏电的外壳），而身体另一部分又与大地或另一极相连，电流就会进入并通过人体，人成了电路的一部分，这就是电击。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被电“麻一下”不当回事</a:t>
            </a:r>
          </a:p>
          <a:p>
            <a:pPr>
              <a:spcAft>
                <a:spcPts val="1000"/>
              </a:spcAft>
            </a:pPr>
            <a:r>
              <a:rPr sz="1500">
                <a:solidFill>
                  <a:srgbClr val="222B33"/>
                </a:solidFill>
                <a:latin typeface="Microsoft YaHei"/>
              </a:rPr>
              <a:t>▪ 以为只有高压电才会电击伤人</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触电轻重看哪些因素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流过人体的电流越大，伤害越重</a:t>
            </a:r>
          </a:p>
          <a:p>
            <a:pPr>
              <a:spcAft>
                <a:spcPts val="1000"/>
              </a:spcAft>
            </a:pPr>
            <a:r>
              <a:rPr sz="1700">
                <a:solidFill>
                  <a:srgbClr val="222B33"/>
                </a:solidFill>
                <a:latin typeface="Microsoft YaHei"/>
              </a:rPr>
              <a:t>▪ 通电时间越长，伤得越重</a:t>
            </a:r>
          </a:p>
          <a:p>
            <a:pPr>
              <a:spcAft>
                <a:spcPts val="1000"/>
              </a:spcAft>
            </a:pPr>
            <a:r>
              <a:rPr sz="1700">
                <a:solidFill>
                  <a:srgbClr val="222B33"/>
                </a:solidFill>
                <a:latin typeface="Microsoft YaHei"/>
              </a:rPr>
              <a:t>▪ 电流路径、种类和频率影响伤害</a:t>
            </a:r>
          </a:p>
          <a:p>
            <a:pPr>
              <a:spcAft>
                <a:spcPts val="1000"/>
              </a:spcAft>
            </a:pPr>
            <a:r>
              <a:rPr sz="1700">
                <a:solidFill>
                  <a:srgbClr val="222B33"/>
                </a:solidFill>
                <a:latin typeface="Microsoft YaHei"/>
              </a:rPr>
              <a:t>▪ 电压越高、人体电阻越小，电流越大</a:t>
            </a:r>
          </a:p>
          <a:p>
            <a:pPr>
              <a:spcAft>
                <a:spcPts val="1000"/>
              </a:spcAft>
            </a:pPr>
            <a:r>
              <a:rPr sz="1700">
                <a:solidFill>
                  <a:srgbClr val="222B33"/>
                </a:solidFill>
                <a:latin typeface="Microsoft YaHei"/>
              </a:rPr>
              <a:t>▪ 皮肤潮湿、身体不好，后果更重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按照 GB/T 13870.1-2022（以现行文本为准），电流对人体的效应主要取决于：通过人体的电流大小、通电持续时间、电流在体内的路径、电流的种类（交流、直流）和频率。电流越大、时间越长，伤害越重。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只看电压高低判断危险，忽略时间、路径和皮肤状况</a:t>
            </a:r>
          </a:p>
          <a:p>
            <a:pPr>
              <a:spcAft>
                <a:spcPts val="1000"/>
              </a:spcAft>
            </a:pPr>
            <a:r>
              <a:rPr sz="1500">
                <a:solidFill>
                  <a:srgbClr val="222B33"/>
                </a:solidFill>
                <a:latin typeface="Microsoft YaHei"/>
              </a:rPr>
              <a:t>▪ 身体不适、疲劳时还去做带电相关的实验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低电压不等于低危险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低电压不等于低危险</a:t>
            </a:r>
          </a:p>
          <a:p>
            <a:pPr>
              <a:spcAft>
                <a:spcPts val="1000"/>
              </a:spcAft>
            </a:pPr>
            <a:r>
              <a:rPr sz="2000">
                <a:solidFill>
                  <a:srgbClr val="222B33"/>
                </a:solidFill>
                <a:latin typeface="Microsoft YaHei"/>
              </a:rPr>
              <a:t>▪ 日常 220 V 市电同样能致命</a:t>
            </a:r>
          </a:p>
          <a:p>
            <a:pPr>
              <a:spcAft>
                <a:spcPts val="1000"/>
              </a:spcAft>
            </a:pPr>
            <a:r>
              <a:rPr sz="2000">
                <a:solidFill>
                  <a:srgbClr val="222B33"/>
                </a:solidFill>
                <a:latin typeface="Microsoft YaHei"/>
              </a:rPr>
              <a:t>▪ 致命电流其实很小，别伸手进仪器</a:t>
            </a:r>
          </a:p>
          <a:p>
            <a:pPr>
              <a:spcAft>
                <a:spcPts val="1000"/>
              </a:spcAft>
            </a:pPr>
            <a:r>
              <a:rPr sz="2000">
                <a:solidFill>
                  <a:srgbClr val="222B33"/>
                </a:solidFill>
                <a:latin typeface="Microsoft YaHei"/>
              </a:rPr>
              <a:t>▪ 特低电压也要按规定使用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实验室插座上的 220 V 市电，人们天天接触，最容易放松警惕，但它完全可以致命；很多触电死亡事故就发生在普通低压线路上。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认为“才 220 伏”不会出大事</a:t>
            </a:r>
          </a:p>
          <a:p>
            <a:pPr>
              <a:spcAft>
                <a:spcPts val="1000"/>
              </a:spcAft>
            </a:pPr>
            <a:r>
              <a:rPr sz="1500">
                <a:solidFill>
                  <a:srgbClr val="222B33"/>
                </a:solidFill>
                <a:latin typeface="Microsoft YaHei"/>
              </a:rPr>
              <a:t>▪ 仪器断电后马上打开机箱触碰内部元件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经过心脏的路径最危险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电流经过心脏，最危险</a:t>
            </a:r>
          </a:p>
          <a:p>
            <a:pPr>
              <a:spcAft>
                <a:spcPts val="1000"/>
              </a:spcAft>
            </a:pPr>
            <a:r>
              <a:rPr sz="2000">
                <a:solidFill>
                  <a:srgbClr val="222B33"/>
                </a:solidFill>
                <a:latin typeface="Microsoft YaHei"/>
              </a:rPr>
              <a:t>▪ 手到手、手到脚、头到脚都经过心脏</a:t>
            </a:r>
          </a:p>
          <a:p>
            <a:pPr>
              <a:spcAft>
                <a:spcPts val="1000"/>
              </a:spcAft>
            </a:pPr>
            <a:r>
              <a:rPr sz="2000">
                <a:solidFill>
                  <a:srgbClr val="222B33"/>
                </a:solidFill>
                <a:latin typeface="Microsoft YaHei"/>
              </a:rPr>
              <a:t>▪ 不经过心脏轻一些，同样会受伤</a:t>
            </a:r>
          </a:p>
          <a:p>
            <a:pPr>
              <a:spcAft>
                <a:spcPts val="1000"/>
              </a:spcAft>
            </a:pPr>
            <a:r>
              <a:rPr sz="2000">
                <a:solidFill>
                  <a:srgbClr val="222B33"/>
                </a:solidFill>
                <a:latin typeface="Microsoft YaHei"/>
              </a:rPr>
              <a:t>▪ 别一手扶金属架、一手摸电器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电流在体内走的路径决定了它会伤到哪些器官。电流经过心脏最危险，容易引起心室纤颤和心脏骤停。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一手扶金属台架，一手插拔仪器插头</a:t>
            </a:r>
          </a:p>
          <a:p>
            <a:pPr>
              <a:spcAft>
                <a:spcPts val="1000"/>
              </a:spcAft>
            </a:pPr>
            <a:r>
              <a:rPr sz="1500">
                <a:solidFill>
                  <a:srgbClr val="222B33"/>
                </a:solidFill>
                <a:latin typeface="Microsoft YaHei"/>
              </a:rPr>
              <a:t>▪ 认为“只是碰到脚”不要紧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电流对肌肉和心脏的作用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电流从小到大：感知、摆脱不了、心室纤颤</a:t>
            </a:r>
          </a:p>
          <a:p>
            <a:pPr>
              <a:spcAft>
                <a:spcPts val="1000"/>
              </a:spcAft>
            </a:pPr>
            <a:r>
              <a:rPr sz="1700">
                <a:solidFill>
                  <a:srgbClr val="222B33"/>
                </a:solidFill>
                <a:latin typeface="Microsoft YaHei"/>
              </a:rPr>
              <a:t>▪ 电流稍大，肌肉抽紧，松不开手</a:t>
            </a:r>
          </a:p>
          <a:p>
            <a:pPr>
              <a:spcAft>
                <a:spcPts val="1000"/>
              </a:spcAft>
            </a:pPr>
            <a:r>
              <a:rPr sz="1700">
                <a:solidFill>
                  <a:srgbClr val="222B33"/>
                </a:solidFill>
                <a:latin typeface="Microsoft YaHei"/>
              </a:rPr>
              <a:t>▪ 再大，心脏乱颤，不再泵血</a:t>
            </a:r>
          </a:p>
          <a:p>
            <a:pPr>
              <a:spcAft>
                <a:spcPts val="1000"/>
              </a:spcAft>
            </a:pPr>
            <a:r>
              <a:rPr sz="1700">
                <a:solidFill>
                  <a:srgbClr val="222B33"/>
                </a:solidFill>
                <a:latin typeface="Microsoft YaHei"/>
              </a:rPr>
              <a:t>▪ 心脏骤停几分钟致命，要尽快除颤</a:t>
            </a:r>
          </a:p>
          <a:p>
            <a:pPr>
              <a:spcAft>
                <a:spcPts val="1000"/>
              </a:spcAft>
            </a:pPr>
            <a:r>
              <a:rPr sz="1700">
                <a:solidFill>
                  <a:srgbClr val="222B33"/>
                </a:solidFill>
                <a:latin typeface="Microsoft YaHei"/>
              </a:rPr>
              <a:t>▪ 具体阈值以现行国家标准为准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GB/T 13870.1-2022（以现行文本为准）按电流大小和通电时间描述了电流效应：电流很小时人只有感觉（感知）；稍大时肌肉不由自主地强烈收缩，手握住带电体后松不开，自己无法摆脱电源（摆脱不了），通电时间随之延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看到有人被电“吸住”就直接用手去拉</a:t>
            </a:r>
          </a:p>
          <a:p>
            <a:pPr>
              <a:spcAft>
                <a:spcPts val="1000"/>
              </a:spcAft>
            </a:pPr>
            <a:r>
              <a:rPr sz="1500">
                <a:solidFill>
                  <a:srgbClr val="222B33"/>
                </a:solidFill>
                <a:latin typeface="Microsoft YaHei"/>
              </a:rPr>
              <a:t>▪ 以为触电者能自己松手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人体电阻不是固定值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人体有电阻，皮肤是外层阻碍</a:t>
            </a:r>
          </a:p>
          <a:p>
            <a:pPr>
              <a:spcAft>
                <a:spcPts val="1000"/>
              </a:spcAft>
            </a:pPr>
            <a:r>
              <a:rPr sz="1700">
                <a:solidFill>
                  <a:srgbClr val="222B33"/>
                </a:solidFill>
                <a:latin typeface="Microsoft YaHei"/>
              </a:rPr>
              <a:t>▪ 皮肤干燥电阻高，一沾水就降低</a:t>
            </a:r>
          </a:p>
          <a:p>
            <a:pPr>
              <a:spcAft>
                <a:spcPts val="1000"/>
              </a:spcAft>
            </a:pPr>
            <a:r>
              <a:rPr sz="1700">
                <a:solidFill>
                  <a:srgbClr val="222B33"/>
                </a:solidFill>
                <a:latin typeface="Microsoft YaHei"/>
              </a:rPr>
              <a:t>▪ 出汗、破皮、接触面大，电阻都会变小</a:t>
            </a:r>
          </a:p>
          <a:p>
            <a:pPr>
              <a:spcAft>
                <a:spcPts val="1000"/>
              </a:spcAft>
            </a:pPr>
            <a:r>
              <a:rPr sz="1700">
                <a:solidFill>
                  <a:srgbClr val="222B33"/>
                </a:solidFill>
                <a:latin typeface="Microsoft YaHei"/>
              </a:rPr>
              <a:t>▪ 电阻越小，流过人体的电流越大</a:t>
            </a:r>
          </a:p>
          <a:p>
            <a:pPr>
              <a:spcAft>
                <a:spcPts val="1000"/>
              </a:spcAft>
            </a:pPr>
            <a:r>
              <a:rPr sz="1700">
                <a:solidFill>
                  <a:srgbClr val="222B33"/>
                </a:solidFill>
                <a:latin typeface="Microsoft YaHei"/>
              </a:rPr>
              <a:t>▪ 不能用一个数去算多少伏才安全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人体对电流也有阻碍作用（人体阻抗），其中皮肤，特别是干燥的角质层，是主要的阻碍。人体电阻不是一个固定的数：它随接触电压、皮肤潮湿程度、出汗、皮肤破损、接触面积和接触压力、电流路径而变化，个体差异也很大（GB/T 13……</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湿手插拔插头、开关仪器</a:t>
            </a:r>
          </a:p>
          <a:p>
            <a:pPr>
              <a:spcAft>
                <a:spcPts val="1000"/>
              </a:spcAft>
            </a:pPr>
            <a:r>
              <a:rPr sz="1500">
                <a:solidFill>
                  <a:srgbClr val="222B33"/>
                </a:solidFill>
                <a:latin typeface="Microsoft YaHei"/>
              </a:rPr>
              <a:t>▪ 用某个“人体电阻值”推算出所谓安全电压后放心触碰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电弧与电伤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带电拆线，触点间会拉出电弧</a:t>
            </a:r>
          </a:p>
          <a:p>
            <a:pPr>
              <a:spcAft>
                <a:spcPts val="1000"/>
              </a:spcAft>
            </a:pPr>
            <a:r>
              <a:rPr sz="2000">
                <a:solidFill>
                  <a:srgbClr val="222B33"/>
                </a:solidFill>
                <a:latin typeface="Microsoft YaHei"/>
              </a:rPr>
              <a:t>▪ 电弧温度极高，造成严重灼伤</a:t>
            </a:r>
          </a:p>
          <a:p>
            <a:pPr>
              <a:spcAft>
                <a:spcPts val="1000"/>
              </a:spcAft>
            </a:pPr>
            <a:r>
              <a:rPr sz="2000">
                <a:solidFill>
                  <a:srgbClr val="222B33"/>
                </a:solidFill>
                <a:latin typeface="Microsoft YaHei"/>
              </a:rPr>
              <a:t>▪ 强光伤眼，熔化的金属会飞溅</a:t>
            </a:r>
          </a:p>
          <a:p>
            <a:pPr>
              <a:spcAft>
                <a:spcPts val="1000"/>
              </a:spcAft>
            </a:pPr>
            <a:r>
              <a:rPr sz="2000">
                <a:solidFill>
                  <a:srgbClr val="222B33"/>
                </a:solidFill>
                <a:latin typeface="Microsoft YaHei"/>
              </a:rPr>
              <a:t>▪ 接线必须断电，由持证电工来做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电流跨过空气间隙放电就形成电弧。带电插拔大电流插头、带电拆接导线、短路、开关和接触器触点分断时，都会产生电弧。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带电拔插大功率设备的插头或拆接导线</a:t>
            </a:r>
          </a:p>
          <a:p>
            <a:pPr>
              <a:spcAft>
                <a:spcPts val="1000"/>
              </a:spcAft>
            </a:pPr>
            <a:r>
              <a:rPr sz="1500">
                <a:solidFill>
                  <a:srgbClr val="222B33"/>
                </a:solidFill>
                <a:latin typeface="Microsoft YaHei"/>
              </a:rPr>
              <a:t>▪ 学生自己打开配电箱或仪器电源部分修理</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预防为先：不拿身体试电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电在体内怎么走、伤多重，难以预料</a:t>
            </a:r>
          </a:p>
          <a:p>
            <a:pPr>
              <a:spcAft>
                <a:spcPts val="1000"/>
              </a:spcAft>
            </a:pPr>
            <a:r>
              <a:rPr sz="2000">
                <a:solidFill>
                  <a:srgbClr val="222B33"/>
                </a:solidFill>
                <a:latin typeface="Microsoft YaHei"/>
              </a:rPr>
              <a:t>▪ 防触电靠断电、绝缘、接地、漏电保护</a:t>
            </a:r>
          </a:p>
          <a:p>
            <a:pPr>
              <a:spcAft>
                <a:spcPts val="1000"/>
              </a:spcAft>
            </a:pPr>
            <a:r>
              <a:rPr sz="2000">
                <a:solidFill>
                  <a:srgbClr val="222B33"/>
                </a:solidFill>
                <a:latin typeface="Microsoft YaHei"/>
              </a:rPr>
              <a:t>▪ 绝不能拿身体去试有没有电</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电流在体内的路径和伤害程度很难预料，同样的接触，有时只是一麻，有时就会致命。所以最好的办法是在动手之前就把危险消除，而不是寄希望于“运气好”。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用手背碰一下导线“试试有没有电”</a:t>
            </a:r>
          </a:p>
          <a:p>
            <a:pPr>
              <a:spcAft>
                <a:spcPts val="1000"/>
              </a:spcAft>
            </a:pPr>
            <a:r>
              <a:rPr sz="1500">
                <a:solidFill>
                  <a:srgbClr val="222B33"/>
                </a:solidFill>
                <a:latin typeface="Microsoft YaHei"/>
              </a:rPr>
              <a:t>▪ 认为以前碰过没事，下次也不会有事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触电后要就医并报告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被电一下觉得没事，也不能大意</a:t>
            </a:r>
          </a:p>
          <a:p>
            <a:pPr>
              <a:spcAft>
                <a:spcPts val="1000"/>
              </a:spcAft>
            </a:pPr>
            <a:r>
              <a:rPr sz="2000">
                <a:solidFill>
                  <a:srgbClr val="222B33"/>
                </a:solidFill>
                <a:latin typeface="Microsoft YaHei"/>
              </a:rPr>
              <a:t>▪ 内部伤和心律异常可能迟发，要就医</a:t>
            </a:r>
          </a:p>
          <a:p>
            <a:pPr>
              <a:spcAft>
                <a:spcPts val="1000"/>
              </a:spcAft>
            </a:pPr>
            <a:r>
              <a:rPr sz="2000">
                <a:solidFill>
                  <a:srgbClr val="222B33"/>
                </a:solidFill>
                <a:latin typeface="Microsoft YaHei"/>
              </a:rPr>
              <a:t>▪ 报告实验室负责人，查明原因再用电</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触电后即使当时觉得没事，电流也可能造成体内组织损伤或心律异常，有的症状会延迟出现。触电者应停止工作，及时到医院检查，说明触电经过。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被电一下后甩甩手继续实验</a:t>
            </a:r>
          </a:p>
          <a:p>
            <a:pPr>
              <a:spcAft>
                <a:spcPts val="1000"/>
              </a:spcAft>
            </a:pPr>
            <a:r>
              <a:rPr sz="1500">
                <a:solidFill>
                  <a:srgbClr val="222B33"/>
                </a:solidFill>
                <a:latin typeface="Microsoft YaHei"/>
              </a:rPr>
              <a:t>▪ 不报告，让下一个人再次触电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影响触电伤害程度的因素中，下列哪一项说法错误？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电流越大、通电时间越长，伤害越重</a:t>
            </a:r>
          </a:p>
          <a:p>
            <a:pPr algn="l"/>
            <a:r>
              <a:rPr sz="1500" b="0">
                <a:solidFill>
                  <a:srgbClr val="222B33"/>
                </a:solidFill>
                <a:latin typeface="Microsoft YaHei"/>
              </a:rPr>
              <a:t>B. 电流经过心脏的路径最危险</a:t>
            </a:r>
          </a:p>
          <a:p>
            <a:pPr algn="l"/>
            <a:r>
              <a:rPr sz="1500" b="0">
                <a:solidFill>
                  <a:srgbClr val="222B33"/>
                </a:solidFill>
                <a:latin typeface="Microsoft YaHei"/>
              </a:rPr>
              <a:t>C. 皮肤潮湿时人体电阻变小，更危险</a:t>
            </a:r>
          </a:p>
          <a:p>
            <a:pPr algn="l"/>
            <a:r>
              <a:rPr sz="1500" b="0">
                <a:solidFill>
                  <a:srgbClr val="222B33"/>
                </a:solidFill>
                <a:latin typeface="Microsoft YaHei"/>
              </a:rPr>
              <a:t>D. 只要电压在 220 V 以下，就不会致命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判断：人体电阻大约是一个固定值，可以据此算出多少伏的电压对人是安全的。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下列哪种触电路径最危险？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一只脚到另一只脚</a:t>
            </a:r>
          </a:p>
          <a:p>
            <a:pPr algn="l"/>
            <a:r>
              <a:rPr sz="1500" b="0">
                <a:solidFill>
                  <a:srgbClr val="222B33"/>
                </a:solidFill>
                <a:latin typeface="Microsoft YaHei"/>
              </a:rPr>
              <a:t>B. 一只手到另一只手</a:t>
            </a:r>
          </a:p>
          <a:p>
            <a:pPr algn="l"/>
            <a:r>
              <a:rPr sz="1500" b="0">
                <a:solidFill>
                  <a:srgbClr val="222B33"/>
                </a:solidFill>
                <a:latin typeface="Microsoft YaHei"/>
              </a:rPr>
              <a:t>C. 同一只手的两个手指</a:t>
            </a:r>
          </a:p>
          <a:p>
            <a:pPr algn="l"/>
            <a:r>
              <a:rPr sz="1500" b="0">
                <a:solidFill>
                  <a:srgbClr val="222B33"/>
                </a:solidFill>
                <a:latin typeface="Microsoft YaHei"/>
              </a:rPr>
              <a:t>D. 鞋底到地面</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带电拆接导线时产生的电弧可能造成的伤害不包括：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皮肤灼伤</a:t>
            </a:r>
          </a:p>
          <a:p>
            <a:pPr algn="l"/>
            <a:r>
              <a:rPr sz="1500" b="0">
                <a:solidFill>
                  <a:srgbClr val="222B33"/>
                </a:solidFill>
                <a:latin typeface="Microsoft YaHei"/>
              </a:rPr>
              <a:t>B. 弧光伤眼</a:t>
            </a:r>
          </a:p>
          <a:p>
            <a:pPr algn="l"/>
            <a:r>
              <a:rPr sz="1500" b="0">
                <a:solidFill>
                  <a:srgbClr val="222B33"/>
                </a:solidFill>
                <a:latin typeface="Microsoft YaHei"/>
              </a:rPr>
              <a:t>C. 熔化金属飞溅</a:t>
            </a:r>
          </a:p>
          <a:p>
            <a:pPr algn="l"/>
            <a:r>
              <a:rPr sz="1500" b="0">
                <a:solidFill>
                  <a:srgbClr val="222B33"/>
                </a:solidFill>
                <a:latin typeface="Microsoft YaHei"/>
              </a:rPr>
              <a:t>D. 降低人体电阻从而保护人体</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判断：被电了一下，只是手发麻，休息一会儿没事就可以继续实验，不必报告。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简答：为什么“触电后松不开手”特别危险？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电能致命：先懂电才能防</a:t>
            </a:r>
          </a:p>
          <a:p>
            <a:pPr>
              <a:spcAft>
                <a:spcPts val="800"/>
              </a:spcAft>
            </a:pPr>
            <a:r>
              <a:rPr sz="1500">
                <a:solidFill>
                  <a:srgbClr val="FFFFFF"/>
                </a:solidFill>
                <a:latin typeface="Microsoft YaHei"/>
              </a:rPr>
              <a:t>▪ K2  电在闭合回路里流动</a:t>
            </a:r>
          </a:p>
          <a:p>
            <a:pPr>
              <a:spcAft>
                <a:spcPts val="800"/>
              </a:spcAft>
            </a:pPr>
            <a:r>
              <a:rPr sz="1500">
                <a:solidFill>
                  <a:srgbClr val="FFFFFF"/>
                </a:solidFill>
                <a:latin typeface="Microsoft YaHei"/>
              </a:rPr>
              <a:t>▪ K3  电压、电流、电阻与功率</a:t>
            </a:r>
          </a:p>
          <a:p>
            <a:pPr>
              <a:spcAft>
                <a:spcPts val="800"/>
              </a:spcAft>
            </a:pPr>
            <a:r>
              <a:rPr sz="1500">
                <a:solidFill>
                  <a:srgbClr val="FFFFFF"/>
                </a:solidFill>
                <a:latin typeface="Microsoft YaHei"/>
              </a:rPr>
              <a:t>▪ K4  导体与绝缘体</a:t>
            </a:r>
          </a:p>
          <a:p>
            <a:pPr>
              <a:spcAft>
                <a:spcPts val="800"/>
              </a:spcAft>
            </a:pPr>
            <a:r>
              <a:rPr sz="1500">
                <a:solidFill>
                  <a:srgbClr val="FFFFFF"/>
                </a:solidFill>
                <a:latin typeface="Microsoft YaHei"/>
              </a:rPr>
              <a:t>▪ K5  直流与交流</a:t>
            </a:r>
          </a:p>
          <a:p>
            <a:pPr>
              <a:spcAft>
                <a:spcPts val="800"/>
              </a:spcAft>
            </a:pPr>
            <a:r>
              <a:rPr sz="1500">
                <a:solidFill>
                  <a:srgbClr val="FFFFFF"/>
                </a:solidFill>
                <a:latin typeface="Microsoft YaHei"/>
              </a:rPr>
              <a:t>▪ K6  用电的几类危害</a:t>
            </a:r>
          </a:p>
          <a:p>
            <a:pPr>
              <a:spcAft>
                <a:spcPts val="800"/>
              </a:spcAft>
            </a:pPr>
            <a:r>
              <a:rPr sz="1500">
                <a:solidFill>
                  <a:srgbClr val="FFFFFF"/>
                </a:solidFill>
                <a:latin typeface="Microsoft YaHei"/>
              </a:rPr>
              <a:t>▪ K7  什么是电击</a:t>
            </a:r>
          </a:p>
          <a:p>
            <a:pPr>
              <a:spcAft>
                <a:spcPts val="800"/>
              </a:spcAft>
            </a:pPr>
            <a:r>
              <a:rPr sz="1500">
                <a:solidFill>
                  <a:srgbClr val="FFFFFF"/>
                </a:solidFill>
                <a:latin typeface="Microsoft YaHei"/>
              </a:rPr>
              <a:t>▪ K8  触电轻重看哪些因素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低电压不等于低危险</a:t>
            </a:r>
          </a:p>
          <a:p>
            <a:pPr>
              <a:spcAft>
                <a:spcPts val="800"/>
              </a:spcAft>
            </a:pPr>
            <a:r>
              <a:rPr sz="1500">
                <a:solidFill>
                  <a:srgbClr val="FFFFFF"/>
                </a:solidFill>
                <a:latin typeface="Microsoft YaHei"/>
              </a:rPr>
              <a:t>▪ K10  经过心脏的路径最危险</a:t>
            </a:r>
          </a:p>
          <a:p>
            <a:pPr>
              <a:spcAft>
                <a:spcPts val="800"/>
              </a:spcAft>
            </a:pPr>
            <a:r>
              <a:rPr sz="1500">
                <a:solidFill>
                  <a:srgbClr val="FFFFFF"/>
                </a:solidFill>
                <a:latin typeface="Microsoft YaHei"/>
              </a:rPr>
              <a:t>▪ K11  电流对肌肉和心脏的作用</a:t>
            </a:r>
          </a:p>
          <a:p>
            <a:pPr>
              <a:spcAft>
                <a:spcPts val="800"/>
              </a:spcAft>
            </a:pPr>
            <a:r>
              <a:rPr sz="1500">
                <a:solidFill>
                  <a:srgbClr val="FFFFFF"/>
                </a:solidFill>
                <a:latin typeface="Microsoft YaHei"/>
              </a:rPr>
              <a:t>▪ K12  人体电阻不是固定值</a:t>
            </a:r>
          </a:p>
          <a:p>
            <a:pPr>
              <a:spcAft>
                <a:spcPts val="800"/>
              </a:spcAft>
            </a:pPr>
            <a:r>
              <a:rPr sz="1500">
                <a:solidFill>
                  <a:srgbClr val="FFFFFF"/>
                </a:solidFill>
                <a:latin typeface="Microsoft YaHei"/>
              </a:rPr>
              <a:t>▪ K13  电弧与电伤</a:t>
            </a:r>
          </a:p>
          <a:p>
            <a:pPr>
              <a:spcAft>
                <a:spcPts val="800"/>
              </a:spcAft>
            </a:pPr>
            <a:r>
              <a:rPr sz="1500">
                <a:solidFill>
                  <a:srgbClr val="FFFFFF"/>
                </a:solidFill>
                <a:latin typeface="Microsoft YaHei"/>
              </a:rPr>
              <a:t>▪ K14  预防为先：不拿身体试电</a:t>
            </a:r>
          </a:p>
          <a:p>
            <a:pPr>
              <a:spcAft>
                <a:spcPts val="800"/>
              </a:spcAft>
            </a:pPr>
            <a:r>
              <a:rPr sz="1500">
                <a:solidFill>
                  <a:srgbClr val="FFFFFF"/>
                </a:solidFill>
                <a:latin typeface="Microsoft YaHei"/>
              </a:rPr>
              <a:t>▪ S1  触电后要就医并报告</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触电的原因与预防</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第8章 电气安全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适用对象：进入实验室的全体本科生、研究生和教职工，特别是使用电气仪器、电源、电动工具和自制实验装置的人员，以及实验室安全员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能说出触电的常见原因：直接接触、间接接触（漏电外壳）、单相/两相/跨步电压触电，以及不安全状态（线路、裸露、绝缘、接地、过载、潮湿）和不安全行为（人为失误）。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能做到日常预防：用前检查、湿手不碰电、带电部件有遮护、配电箱门关好、坏了不用不自修、单手操作、接受培训。</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能判断防触电的几道防线（绝缘遮护、接地和漏电保护、守规程）和检修时断电、上锁挂牌由持证电工进行的要求。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能做到有人触电时先断电（拉闸、拔插头）、断不了电用干燥绝缘物挑开，绝不徒手拉人；脱离电源后呼救 120、心肺复苏和 AED（见第 159 课）、就医并报告。</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13869-2017（以现行文本为准，GB/T 13869-2026 即将实施）《用电安全导则》</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13870.1-2022（以现行文本为准）《电流对人和家畜的效应 第1部分：通用部分》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13955-2017（以现行文本为准）《剩余电流动作保护装置安装和运行》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4793.1-2007（以现行文本为准，GB 4793-2024 已发布、即将实施）《测量、控制和实验室用电气设备的安全要求 第1部分：通用要求》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《中华人民共和国安全生产法》（以现行文本为准）：特种作业人员持证上岗、从业人员安全培训</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号）：用电安全、安全培训与应急处置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电工作业人员持特种作业操作证上岗（以现行规定为准）；本校实验室用电安全管理规定和事故报告程序</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电有用也危险，危害可以预防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电离不开，不守规则就会出事</a:t>
            </a:r>
          </a:p>
          <a:p>
            <a:pPr>
              <a:spcAft>
                <a:spcPts val="1000"/>
              </a:spcAft>
            </a:pPr>
            <a:r>
              <a:rPr sz="2000">
                <a:solidFill>
                  <a:srgbClr val="222B33"/>
                </a:solidFill>
                <a:latin typeface="Microsoft YaHei"/>
              </a:rPr>
              <a:t>▪ 用电安全护人员、护设备、护科研</a:t>
            </a:r>
          </a:p>
          <a:p>
            <a:pPr>
              <a:spcAft>
                <a:spcPts val="1000"/>
              </a:spcAft>
            </a:pPr>
            <a:r>
              <a:rPr sz="2000">
                <a:solidFill>
                  <a:srgbClr val="222B33"/>
                </a:solidFill>
                <a:latin typeface="Microsoft YaHei"/>
              </a:rPr>
              <a:t>▪ 电气危害听着吓人，都能预防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实验室离不开电，但不守用电规则，就会发生触电、烧伤、电气火灾，甚至死亡事故。用电安全就是安全地使用电气设备和线路，防触电、防火灾；最先要记住的一句话是：水和电不碰面（见 K6）。</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认为用电规则是电工的事，与学生无关</a:t>
            </a:r>
          </a:p>
          <a:p>
            <a:pPr>
              <a:spcAft>
                <a:spcPts val="1000"/>
              </a:spcAft>
            </a:pPr>
            <a:r>
              <a:rPr sz="1500">
                <a:solidFill>
                  <a:srgbClr val="222B33"/>
                </a:solidFill>
                <a:latin typeface="Microsoft YaHei"/>
              </a:rPr>
              <a:t>▪ 出过一次小问题没事，就继续侥幸使用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直接接触与间接接触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直接接触：碰到正常工作时带电的部分</a:t>
            </a:r>
          </a:p>
          <a:p>
            <a:pPr>
              <a:spcAft>
                <a:spcPts val="1000"/>
              </a:spcAft>
            </a:pPr>
            <a:r>
              <a:rPr sz="2000">
                <a:solidFill>
                  <a:srgbClr val="222B33"/>
                </a:solidFill>
                <a:latin typeface="Microsoft YaHei"/>
              </a:rPr>
              <a:t>▪ 间接接触：漏电使外壳等本不带电的部分带电</a:t>
            </a:r>
          </a:p>
          <a:p>
            <a:pPr>
              <a:spcAft>
                <a:spcPts val="1000"/>
              </a:spcAft>
            </a:pPr>
            <a:r>
              <a:rPr sz="2000">
                <a:solidFill>
                  <a:srgbClr val="222B33"/>
                </a:solidFill>
                <a:latin typeface="Microsoft YaHei"/>
              </a:rPr>
              <a:t>▪ 外壳没接地，漏电就等着人去碰</a:t>
            </a:r>
          </a:p>
          <a:p>
            <a:pPr>
              <a:spcAft>
                <a:spcPts val="1000"/>
              </a:spcAft>
            </a:pPr>
            <a:r>
              <a:rPr sz="2000">
                <a:solidFill>
                  <a:srgbClr val="222B33"/>
                </a:solidFill>
                <a:latin typeface="Microsoft YaHei"/>
              </a:rPr>
              <a:t>▪ 带电导线、故障设备、裸露部件都会伤人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触电按接触方式可分为两类。直接接触触电：人体碰到正常工作时就带电的导体，如裸露的导线、接线端子、破损插头里的金属片。间接接触触电：设备内部绝缘损坏，使本来不带电的金属外壳、支架带上电，人去碰外壳时触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以为只要不碰电线，摸设备外壳就绝对安全</a:t>
            </a:r>
          </a:p>
          <a:p>
            <a:pPr>
              <a:spcAft>
                <a:spcPts val="1000"/>
              </a:spcAft>
            </a:pPr>
            <a:r>
              <a:rPr sz="1500">
                <a:solidFill>
                  <a:srgbClr val="222B33"/>
                </a:solidFill>
                <a:latin typeface="Microsoft YaHei"/>
              </a:rPr>
              <a:t>▪ 发现外壳“有点麻”仍继续使用</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单相、两相与跨步电压触电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站在地上碰一根相线，是单相触电</a:t>
            </a:r>
          </a:p>
          <a:p>
            <a:pPr>
              <a:spcAft>
                <a:spcPts val="1000"/>
              </a:spcAft>
            </a:pPr>
            <a:r>
              <a:rPr sz="2000">
                <a:solidFill>
                  <a:srgbClr val="222B33"/>
                </a:solidFill>
                <a:latin typeface="Microsoft YaHei"/>
              </a:rPr>
              <a:t>▪ 同时碰两根相线，是两相触电，更危险</a:t>
            </a:r>
          </a:p>
          <a:p>
            <a:pPr>
              <a:spcAft>
                <a:spcPts val="1000"/>
              </a:spcAft>
            </a:pPr>
            <a:r>
              <a:rPr sz="2000">
                <a:solidFill>
                  <a:srgbClr val="222B33"/>
                </a:solidFill>
                <a:latin typeface="Microsoft YaHei"/>
              </a:rPr>
              <a:t>▪ 断线落地有跨步电压，不要走近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按电流经过人体的方式，触电又常分为：单相触电——人站在地上（或接触接地的金属），身体碰到一根相线（火线），电流经人体流入大地，这是实验室最常见的触电方式；两相触电——人体同时碰到两根相线，承受线电压（我国低压系统为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以为站在地上只碰一根线不会触电</a:t>
            </a:r>
          </a:p>
          <a:p>
            <a:pPr>
              <a:spcAft>
                <a:spcPts val="1000"/>
              </a:spcAft>
            </a:pPr>
            <a:r>
              <a:rPr sz="1500">
                <a:solidFill>
                  <a:srgbClr val="222B33"/>
                </a:solidFill>
                <a:latin typeface="Microsoft YaHei"/>
              </a:rPr>
              <a:t>▪ 走近查看或去捡断落在地上的电线</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事故源于不安全状态和行为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事故源于不安全状态和不安全行为</a:t>
            </a:r>
          </a:p>
          <a:p>
            <a:pPr>
              <a:spcAft>
                <a:spcPts val="1000"/>
              </a:spcAft>
            </a:pPr>
            <a:r>
              <a:rPr sz="2000">
                <a:solidFill>
                  <a:srgbClr val="222B33"/>
                </a:solidFill>
                <a:latin typeface="Microsoft YaHei"/>
              </a:rPr>
              <a:t>▪ 破线、裸露、过载、潮湿是不安全状态</a:t>
            </a:r>
          </a:p>
          <a:p>
            <a:pPr>
              <a:spcAft>
                <a:spcPts val="1000"/>
              </a:spcAft>
            </a:pPr>
            <a:r>
              <a:rPr sz="2000">
                <a:solidFill>
                  <a:srgbClr val="222B33"/>
                </a:solidFill>
                <a:latin typeface="Microsoft YaHei"/>
              </a:rPr>
              <a:t>▪ 不懂、不按规程、乱修是人为失误</a:t>
            </a:r>
          </a:p>
          <a:p>
            <a:pPr>
              <a:spcAft>
                <a:spcPts val="1000"/>
              </a:spcAft>
            </a:pPr>
            <a:r>
              <a:rPr sz="2000">
                <a:solidFill>
                  <a:srgbClr val="222B33"/>
                </a:solidFill>
                <a:latin typeface="Microsoft YaHei"/>
              </a:rPr>
              <a:t>▪ 两样叠在一起，风险成倍增加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电气事故大多源于两类原因（事故致因见第 011 课）：不安全状态，如电线破损、带电体裸露、绝缘不良、过载、缺少维护、设备损坏、环境潮湿；不安全行为，如不懂用电知识、不按规定方法使用设备、私自改装和乱修、没有经过培训。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只怪设备不好，不检查自己的操作习惯</a:t>
            </a:r>
          </a:p>
          <a:p>
            <a:pPr>
              <a:spcAft>
                <a:spcPts val="1000"/>
              </a:spcAft>
            </a:pPr>
            <a:r>
              <a:rPr sz="1500">
                <a:solidFill>
                  <a:srgbClr val="222B33"/>
                </a:solidFill>
                <a:latin typeface="Microsoft YaHei"/>
              </a:rPr>
              <a:t>▪ 明知线破了，还“小心点用”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隐患一：线路乱接、裸露与绝缘破损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线路乱拉乱接，是隐患</a:t>
            </a:r>
          </a:p>
          <a:p>
            <a:pPr>
              <a:spcAft>
                <a:spcPts val="1000"/>
              </a:spcAft>
            </a:pPr>
            <a:r>
              <a:rPr sz="2000">
                <a:solidFill>
                  <a:srgbClr val="222B33"/>
                </a:solidFill>
                <a:latin typeface="Microsoft YaHei"/>
              </a:rPr>
              <a:t>▪ 带电部件外露，伸手就会碰到</a:t>
            </a:r>
          </a:p>
          <a:p>
            <a:pPr>
              <a:spcAft>
                <a:spcPts val="1000"/>
              </a:spcAft>
            </a:pPr>
            <a:r>
              <a:rPr sz="2000">
                <a:solidFill>
                  <a:srgbClr val="222B33"/>
                </a:solidFill>
                <a:latin typeface="Microsoft YaHei"/>
              </a:rPr>
              <a:t>▪ 电线外皮破损老化，同样危险</a:t>
            </a:r>
          </a:p>
          <a:p>
            <a:pPr>
              <a:spcAft>
                <a:spcPts val="1000"/>
              </a:spcAft>
            </a:pPr>
            <a:r>
              <a:rPr sz="2000">
                <a:solidFill>
                  <a:srgbClr val="222B33"/>
                </a:solidFill>
                <a:latin typeface="Microsoft YaHei"/>
              </a:rPr>
              <a:t>▪ 用前看一眼，坏了就不用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常见的线路隐患包括：私拉乱接电线、用胶布随意接线、布线不规范；接线端子、插头金属片等带电部件裸露在外；电线外皮破损、开裂、老化、发硬，插座外壳裂开。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用胶布缠一缠破损的电线继续使用</a:t>
            </a:r>
          </a:p>
          <a:p>
            <a:pPr>
              <a:spcAft>
                <a:spcPts val="1000"/>
              </a:spcAft>
            </a:pPr>
            <a:r>
              <a:rPr sz="1500">
                <a:solidFill>
                  <a:srgbClr val="222B33"/>
                </a:solidFill>
                <a:latin typeface="Microsoft YaHei"/>
              </a:rPr>
              <a:t>▪ 自己从插座里拉线接到别处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隐患二：未接地、过载、坏工具与架空线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设备没接地，外壳可能带电</a:t>
            </a:r>
          </a:p>
          <a:p>
            <a:pPr>
              <a:spcAft>
                <a:spcPts val="1000"/>
              </a:spcAft>
            </a:pPr>
            <a:r>
              <a:rPr sz="1700">
                <a:solidFill>
                  <a:srgbClr val="222B33"/>
                </a:solidFill>
                <a:latin typeface="Microsoft YaHei"/>
              </a:rPr>
              <a:t>▪ 一路接太多负载，会过载发热起火</a:t>
            </a:r>
          </a:p>
          <a:p>
            <a:pPr>
              <a:spcAft>
                <a:spcPts val="1000"/>
              </a:spcAft>
            </a:pPr>
            <a:r>
              <a:rPr sz="1700">
                <a:solidFill>
                  <a:srgbClr val="222B33"/>
                </a:solidFill>
                <a:latin typeface="Microsoft YaHei"/>
              </a:rPr>
              <a:t>▪ 坏工具、用错防护用品，也会触电</a:t>
            </a:r>
          </a:p>
          <a:p>
            <a:pPr>
              <a:spcAft>
                <a:spcPts val="1000"/>
              </a:spcAft>
            </a:pPr>
            <a:r>
              <a:rPr sz="1700">
                <a:solidFill>
                  <a:srgbClr val="222B33"/>
                </a:solidFill>
                <a:latin typeface="Microsoft YaHei"/>
              </a:rPr>
              <a:t>▪ 电线不拉扯、不打结、不重压</a:t>
            </a:r>
          </a:p>
          <a:p>
            <a:pPr>
              <a:spcAft>
                <a:spcPts val="1000"/>
              </a:spcAft>
            </a:pPr>
            <a:r>
              <a:rPr sz="1700">
                <a:solidFill>
                  <a:srgbClr val="222B33"/>
                </a:solidFill>
                <a:latin typeface="Microsoft YaHei"/>
              </a:rPr>
              <a:t>▪ 架空电线附近，不举长杆、不架长梯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设备和工具没有接地（或接地线断开），一旦漏电外壳就会带电（见第 099 课）。一个回路、一个插座接入过多负载，电流超过导线和插座的承载能力，会发热甚至起火（过流保护见第 100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拽着电线把插头从插座里拉出来</a:t>
            </a:r>
          </a:p>
          <a:p>
            <a:pPr>
              <a:spcAft>
                <a:spcPts val="1000"/>
              </a:spcAft>
            </a:pPr>
            <a:r>
              <a:rPr sz="1500">
                <a:solidFill>
                  <a:srgbClr val="222B33"/>
                </a:solidFill>
                <a:latin typeface="Microsoft YaHei"/>
              </a:rPr>
              <a:t>▪ 扛着金属梯子从架空线下经过</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潮湿让危害加倍：水和电不碰面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一旦潮湿，所有电气危害都会加重</a:t>
            </a:r>
          </a:p>
          <a:p>
            <a:pPr>
              <a:spcAft>
                <a:spcPts val="1000"/>
              </a:spcAft>
            </a:pPr>
            <a:r>
              <a:rPr sz="2000">
                <a:solidFill>
                  <a:srgbClr val="222B33"/>
                </a:solidFill>
                <a:latin typeface="Microsoft YaHei"/>
              </a:rPr>
              <a:t>▪ 湿手不碰开关、插头和接线柱</a:t>
            </a:r>
          </a:p>
          <a:p>
            <a:pPr>
              <a:spcAft>
                <a:spcPts val="1000"/>
              </a:spcAft>
            </a:pPr>
            <a:r>
              <a:rPr sz="2000">
                <a:solidFill>
                  <a:srgbClr val="222B33"/>
                </a:solidFill>
                <a:latin typeface="Microsoft YaHei"/>
              </a:rPr>
              <a:t>▪ 地上有水，先断电清理再用电</a:t>
            </a:r>
          </a:p>
          <a:p>
            <a:pPr>
              <a:spcAft>
                <a:spcPts val="1000"/>
              </a:spcAft>
            </a:pPr>
            <a:r>
              <a:rPr sz="2000">
                <a:solidFill>
                  <a:srgbClr val="222B33"/>
                </a:solidFill>
                <a:latin typeface="Microsoft YaHei"/>
              </a:rPr>
              <a:t>▪ 插头别沾水，电线别拖过湿地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水，特别是含有杂质的自来水、溶液和汗水，足以导电（金属导电性更好，但不能因此低估水）。潮湿会让皮肤电阻大幅下降（见第 097 课），让绝缘性能变差，触电、电弧、火灾的风险都会加重。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刚洗完手就去拔插头</a:t>
            </a:r>
          </a:p>
          <a:p>
            <a:pPr>
              <a:spcAft>
                <a:spcPts val="1000"/>
              </a:spcAft>
            </a:pPr>
            <a:r>
              <a:rPr sz="1500">
                <a:solidFill>
                  <a:srgbClr val="222B33"/>
                </a:solidFill>
                <a:latin typeface="Microsoft YaHei"/>
              </a:rPr>
              <a:t>▪ 水浴、水槽旁边放插线板</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遮护带电部件，配电箱门关好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带电部件要加防护罩、加遮挡</a:t>
            </a:r>
          </a:p>
          <a:p>
            <a:pPr>
              <a:spcAft>
                <a:spcPts val="1000"/>
              </a:spcAft>
            </a:pPr>
            <a:r>
              <a:rPr sz="2000">
                <a:solidFill>
                  <a:srgbClr val="222B33"/>
                </a:solidFill>
                <a:latin typeface="Microsoft YaHei"/>
              </a:rPr>
              <a:t>▪ 接线盒、配电盘盖板掉了马上报修</a:t>
            </a:r>
          </a:p>
          <a:p>
            <a:pPr>
              <a:spcAft>
                <a:spcPts val="1000"/>
              </a:spcAft>
            </a:pPr>
            <a:r>
              <a:rPr sz="2000">
                <a:solidFill>
                  <a:srgbClr val="222B33"/>
                </a:solidFill>
                <a:latin typeface="Microsoft YaHei"/>
              </a:rPr>
              <a:t>▪ 配电箱门关好，箱前不堆杂物</a:t>
            </a:r>
          </a:p>
          <a:p>
            <a:pPr>
              <a:spcAft>
                <a:spcPts val="1000"/>
              </a:spcAft>
            </a:pPr>
            <a:r>
              <a:rPr sz="2000">
                <a:solidFill>
                  <a:srgbClr val="222B33"/>
                </a:solidFill>
                <a:latin typeface="Microsoft YaHei"/>
              </a:rPr>
              <a:t>▪ 学生不开配电箱，不碰里面部件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带电部件必须用防护罩、盖板、遮栏遮挡起来，使人碰不到。接线盒、配电盘在带电状态下始终要盖好盖板，盖板缺失、破损时应立即报修，不得继续使用。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配电箱前堆放纸箱、气瓶等杂物</a:t>
            </a:r>
          </a:p>
          <a:p>
            <a:pPr>
              <a:spcAft>
                <a:spcPts val="1000"/>
              </a:spcAft>
            </a:pPr>
            <a:r>
              <a:rPr sz="1500">
                <a:solidFill>
                  <a:srgbClr val="222B33"/>
                </a:solidFill>
                <a:latin typeface="Microsoft YaHei"/>
              </a:rPr>
              <a:t>▪ 嫌麻烦把仪器的防护罩拆掉使用</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防触电的几道防线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第一道：绝缘和护罩，人碰不到带电体</a:t>
            </a:r>
          </a:p>
          <a:p>
            <a:pPr>
              <a:spcAft>
                <a:spcPts val="1000"/>
              </a:spcAft>
            </a:pPr>
            <a:r>
              <a:rPr sz="2000">
                <a:solidFill>
                  <a:srgbClr val="222B33"/>
                </a:solidFill>
                <a:latin typeface="Microsoft YaHei"/>
              </a:rPr>
              <a:t>▪ 第二道：保护接地、漏电保护和过流保护</a:t>
            </a:r>
          </a:p>
          <a:p>
            <a:pPr>
              <a:spcAft>
                <a:spcPts val="1000"/>
              </a:spcAft>
            </a:pPr>
            <a:r>
              <a:rPr sz="2000">
                <a:solidFill>
                  <a:srgbClr val="222B33"/>
                </a:solidFill>
                <a:latin typeface="Microsoft YaHei"/>
              </a:rPr>
              <a:t>▪ 第三道：守规程，开工前查接地和漏保</a:t>
            </a:r>
          </a:p>
          <a:p>
            <a:pPr>
              <a:spcAft>
                <a:spcPts val="1000"/>
              </a:spcAft>
            </a:pPr>
            <a:r>
              <a:rPr sz="2000">
                <a:solidFill>
                  <a:srgbClr val="222B33"/>
                </a:solidFill>
                <a:latin typeface="Microsoft YaHei"/>
              </a:rPr>
              <a:t>▪ 三极插头的接地极，不能掰掉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触电要设几道防线，任何一道都不能省。第一道：绝缘、防护罩和遮栏，使人碰不到带电体（防直接接触）。第二道：设备外壳可靠接地，线路安装漏电保护器（剩余电流动作保护装置），并用熔断器、断路器防止过载和短路（防间接接触和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三极插头插不进就把接地极掰掉</a:t>
            </a:r>
          </a:p>
          <a:p>
            <a:pPr>
              <a:spcAft>
                <a:spcPts val="1000"/>
              </a:spcAft>
            </a:pPr>
            <a:r>
              <a:rPr sz="1500">
                <a:solidFill>
                  <a:srgbClr val="222B33"/>
                </a:solidFill>
                <a:latin typeface="Microsoft YaHei"/>
              </a:rPr>
              <a:t>▪ 以为装了漏电保护器就可以带电随便操作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检修先断电，上锁挂牌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检修前断电，上锁挂牌</a:t>
            </a:r>
          </a:p>
          <a:p>
            <a:pPr>
              <a:spcAft>
                <a:spcPts val="1000"/>
              </a:spcAft>
            </a:pPr>
            <a:r>
              <a:rPr sz="2000">
                <a:solidFill>
                  <a:srgbClr val="222B33"/>
                </a:solidFill>
                <a:latin typeface="Microsoft YaHei"/>
              </a:rPr>
              <a:t>▪ 防止有人误送电</a:t>
            </a:r>
          </a:p>
          <a:p>
            <a:pPr>
              <a:spcAft>
                <a:spcPts val="1000"/>
              </a:spcAft>
            </a:pPr>
            <a:r>
              <a:rPr sz="2000">
                <a:solidFill>
                  <a:srgbClr val="222B33"/>
                </a:solidFill>
                <a:latin typeface="Microsoft YaHei"/>
              </a:rPr>
              <a:t>▪ 停电验电由持证电工进行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检修电气设备和线路前，必须断开电源，在开关处上锁并挂“禁止合闸，有人工作”等标示牌，防止别人在不知情的情况下误送电；维修后由本人确认、按规定解锁送电。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只关了仪器开关就开始拆线</a:t>
            </a:r>
          </a:p>
          <a:p>
            <a:pPr>
              <a:spcAft>
                <a:spcPts val="1000"/>
              </a:spcAft>
            </a:pPr>
            <a:r>
              <a:rPr sz="1500">
                <a:solidFill>
                  <a:srgbClr val="222B33"/>
                </a:solidFill>
                <a:latin typeface="Microsoft YaHei"/>
              </a:rPr>
              <a:t>▪ 看到挂牌的开关“好像没人”就合上</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坏了不用，不自己修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机壳发麻可能漏电，立即断电停用</a:t>
            </a:r>
          </a:p>
          <a:p>
            <a:pPr>
              <a:spcAft>
                <a:spcPts val="1000"/>
              </a:spcAft>
            </a:pPr>
            <a:r>
              <a:rPr sz="2000">
                <a:solidFill>
                  <a:srgbClr val="222B33"/>
                </a:solidFill>
                <a:latin typeface="Microsoft YaHei"/>
              </a:rPr>
              <a:t>▪ 坏插座、坏开关、裸线、损坏设备不用</a:t>
            </a:r>
          </a:p>
          <a:p>
            <a:pPr>
              <a:spcAft>
                <a:spcPts val="1000"/>
              </a:spcAft>
            </a:pPr>
            <a:r>
              <a:rPr sz="2000">
                <a:solidFill>
                  <a:srgbClr val="222B33"/>
                </a:solidFill>
                <a:latin typeface="Microsoft YaHei"/>
              </a:rPr>
              <a:t>▪ 报告负责人，交持证电工修理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碰到仪器机壳手发麻，说明可能漏电：马上断电、拔下插头，挂“停用”标识，报告并报修，不要再用手去摸着试。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自己拿螺丝刀打开仪器查找漏电原因</a:t>
            </a:r>
          </a:p>
          <a:p>
            <a:pPr>
              <a:spcAft>
                <a:spcPts val="1000"/>
              </a:spcAft>
            </a:pPr>
            <a:r>
              <a:rPr sz="1500">
                <a:solidFill>
                  <a:srgbClr val="222B33"/>
                </a:solidFill>
                <a:latin typeface="Microsoft YaHei"/>
              </a:rPr>
              <a:t>▪ 坏插座贴张纸条提醒就继续用</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好习惯：单手操作、按要求穿戴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通电后调节、读数，尽量单手操作</a:t>
            </a:r>
          </a:p>
          <a:p>
            <a:pPr>
              <a:spcAft>
                <a:spcPts val="1000"/>
              </a:spcAft>
            </a:pPr>
            <a:r>
              <a:rPr sz="2000">
                <a:solidFill>
                  <a:srgbClr val="222B33"/>
                </a:solidFill>
                <a:latin typeface="Microsoft YaHei"/>
              </a:rPr>
              <a:t>▪ 别两手同时碰两处导体，身体别靠台</a:t>
            </a:r>
          </a:p>
          <a:p>
            <a:pPr>
              <a:spcAft>
                <a:spcPts val="1000"/>
              </a:spcAft>
            </a:pPr>
            <a:r>
              <a:rPr sz="2000">
                <a:solidFill>
                  <a:srgbClr val="222B33"/>
                </a:solidFill>
                <a:latin typeface="Microsoft YaHei"/>
              </a:rPr>
              <a:t>▪ 按要求穿戴防护用品</a:t>
            </a:r>
          </a:p>
          <a:p>
            <a:pPr>
              <a:spcAft>
                <a:spcPts val="1000"/>
              </a:spcAft>
            </a:pPr>
            <a:r>
              <a:rPr sz="2000">
                <a:solidFill>
                  <a:srgbClr val="222B33"/>
                </a:solidFill>
                <a:latin typeface="Microsoft YaHei"/>
              </a:rPr>
              <a:t>▪ 低压电池也别短接，会发热起火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在通电的电路实验中调节旋钮、读表时，尽量单手操作，另一只手不扶台架、不碰其他导体；不要两只手同时碰两处导体，读表时身体不要靠在实验台的金属部分上，避免形成经过胸部的电流路径（见第 097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一手扶着金属台架，一手调节通电电路</a:t>
            </a:r>
          </a:p>
          <a:p>
            <a:pPr>
              <a:spcAft>
                <a:spcPts val="1000"/>
              </a:spcAft>
            </a:pPr>
            <a:r>
              <a:rPr sz="1500">
                <a:solidFill>
                  <a:srgbClr val="222B33"/>
                </a:solidFill>
                <a:latin typeface="Microsoft YaHei"/>
              </a:rPr>
              <a:t>▪ 把电池和钥匙、硬币混放在口袋里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先培训：会识别、会避开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用电知识要经过培训才算会</a:t>
            </a:r>
          </a:p>
          <a:p>
            <a:pPr>
              <a:spcAft>
                <a:spcPts val="1000"/>
              </a:spcAft>
            </a:pPr>
            <a:r>
              <a:rPr sz="2000">
                <a:solidFill>
                  <a:srgbClr val="222B33"/>
                </a:solidFill>
                <a:latin typeface="Microsoft YaHei"/>
              </a:rPr>
              <a:t>▪ 会识别电气危害，还要主动避开</a:t>
            </a:r>
          </a:p>
          <a:p>
            <a:pPr>
              <a:spcAft>
                <a:spcPts val="1000"/>
              </a:spcAft>
            </a:pPr>
            <a:r>
              <a:rPr sz="2000">
                <a:solidFill>
                  <a:srgbClr val="222B33"/>
                </a:solidFill>
                <a:latin typeface="Microsoft YaHei"/>
              </a:rPr>
              <a:t>▪ 懂危害、会防护、知道出事怎么办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学校和学院要组织用电安全培训，内容包括防触电、电击、电弧、爆炸和火灾；进入实验室前要完成准入培训（见第 007 课），使用特殊电气设备前还要接受本实验室的专项培训。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没参加培训就自己搭接通电装置</a:t>
            </a:r>
          </a:p>
          <a:p>
            <a:pPr>
              <a:spcAft>
                <a:spcPts val="1000"/>
              </a:spcAft>
            </a:pPr>
            <a:r>
              <a:rPr sz="1500">
                <a:solidFill>
                  <a:srgbClr val="222B33"/>
                </a:solidFill>
                <a:latin typeface="Microsoft YaHei"/>
              </a:rPr>
              <a:t>▪ 培训只为拿证，做实验时照样凭感觉</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认清总闸和急停，起火也先断电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进实验室先认清总闸和急停按钮</a:t>
            </a:r>
          </a:p>
          <a:p>
            <a:pPr>
              <a:spcAft>
                <a:spcPts val="1000"/>
              </a:spcAft>
            </a:pPr>
            <a:r>
              <a:rPr sz="2000">
                <a:solidFill>
                  <a:srgbClr val="222B33"/>
                </a:solidFill>
                <a:latin typeface="Microsoft YaHei"/>
              </a:rPr>
              <a:t>▪ 出现险情，能第一时间断电</a:t>
            </a:r>
          </a:p>
          <a:p>
            <a:pPr>
              <a:spcAft>
                <a:spcPts val="1000"/>
              </a:spcAft>
            </a:pPr>
            <a:r>
              <a:rPr sz="2000">
                <a:solidFill>
                  <a:srgbClr val="222B33"/>
                </a:solidFill>
                <a:latin typeface="Microsoft YaHei"/>
              </a:rPr>
              <a:t>▪ 电气起火先断电，不能用水浇</a:t>
            </a:r>
          </a:p>
          <a:p>
            <a:pPr>
              <a:spcAft>
                <a:spcPts val="1000"/>
              </a:spcAft>
            </a:pPr>
            <a:r>
              <a:rPr sz="2000">
                <a:solidFill>
                  <a:srgbClr val="222B33"/>
                </a:solidFill>
                <a:latin typeface="Microsoft YaHei"/>
              </a:rPr>
              <a:t>▪ 控制不住就撤离，拨打 119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先认清本实验室的配电箱、总电源开关和急停按钮的位置，知道它们控制哪些设备；配电箱前不堆杂物，保证险情发生时能第一时间断电。紧急断电是为了救人和防止事故扩大，平时不得随意拉总闸（停电后的处置见第 156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出事时才到处找总闸在哪里</a:t>
            </a:r>
          </a:p>
          <a:p>
            <a:pPr>
              <a:spcAft>
                <a:spcPts val="1000"/>
              </a:spcAft>
            </a:pPr>
            <a:r>
              <a:rPr sz="1500">
                <a:solidFill>
                  <a:srgbClr val="222B33"/>
                </a:solidFill>
                <a:latin typeface="Microsoft YaHei"/>
              </a:rPr>
              <a:t>▪ 电器冒烟时直接泼水</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有人触电：先断电，不徒手拉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有人触电，千万别徒手去拉</a:t>
            </a:r>
          </a:p>
          <a:p>
            <a:pPr>
              <a:spcAft>
                <a:spcPts val="1000"/>
              </a:spcAft>
            </a:pPr>
            <a:r>
              <a:rPr sz="2000">
                <a:solidFill>
                  <a:srgbClr val="222B33"/>
                </a:solidFill>
                <a:latin typeface="Microsoft YaHei"/>
              </a:rPr>
              <a:t>▪ 触电者还连着电，一碰你也会触电</a:t>
            </a:r>
          </a:p>
          <a:p>
            <a:pPr>
              <a:spcAft>
                <a:spcPts val="1000"/>
              </a:spcAft>
            </a:pPr>
            <a:r>
              <a:rPr sz="2000">
                <a:solidFill>
                  <a:srgbClr val="222B33"/>
                </a:solidFill>
                <a:latin typeface="Microsoft YaHei"/>
              </a:rPr>
              <a:t>▪ 第一件事：立即拉闸或拔插头断电</a:t>
            </a:r>
          </a:p>
          <a:p>
            <a:pPr>
              <a:spcAft>
                <a:spcPts val="1000"/>
              </a:spcAft>
            </a:pPr>
            <a:r>
              <a:rPr sz="2000">
                <a:solidFill>
                  <a:srgbClr val="222B33"/>
                </a:solidFill>
                <a:latin typeface="Microsoft YaHei"/>
              </a:rPr>
              <a:t>▪ 断电后大声呼救，拨打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看到有人触电，第一反应往往是伸手去拉，这是最危险的做法：触电者可能还连着带电体，徒手接触会使施救者也触电。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伸手去拉触电的人</a:t>
            </a:r>
          </a:p>
          <a:p>
            <a:pPr>
              <a:spcAft>
                <a:spcPts val="1000"/>
              </a:spcAft>
            </a:pPr>
            <a:r>
              <a:rPr sz="1500">
                <a:solidFill>
                  <a:srgbClr val="222B33"/>
                </a:solidFill>
                <a:latin typeface="Microsoft YaHei"/>
              </a:rPr>
              <a:t>▪ 先打电话、等人来，迟迟不断电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断不了电：用干燥绝缘物挑开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一时断不了电，不要慌</a:t>
            </a:r>
          </a:p>
          <a:p>
            <a:pPr>
              <a:spcAft>
                <a:spcPts val="1000"/>
              </a:spcAft>
            </a:pPr>
            <a:r>
              <a:rPr sz="2000">
                <a:solidFill>
                  <a:srgbClr val="222B33"/>
                </a:solidFill>
                <a:latin typeface="Microsoft YaHei"/>
              </a:rPr>
              <a:t>▪ 用干燥木棍、塑料杆挑开电线</a:t>
            </a:r>
          </a:p>
          <a:p>
            <a:pPr>
              <a:spcAft>
                <a:spcPts val="1000"/>
              </a:spcAft>
            </a:pPr>
            <a:r>
              <a:rPr sz="2000">
                <a:solidFill>
                  <a:srgbClr val="222B33"/>
                </a:solidFill>
                <a:latin typeface="Microsoft YaHei"/>
              </a:rPr>
              <a:t>▪ 站在干燥绝缘物上，单手操作</a:t>
            </a:r>
          </a:p>
          <a:p>
            <a:pPr>
              <a:spcAft>
                <a:spcPts val="1000"/>
              </a:spcAft>
            </a:pPr>
            <a:r>
              <a:rPr sz="2000">
                <a:solidFill>
                  <a:srgbClr val="222B33"/>
                </a:solidFill>
                <a:latin typeface="Microsoft YaHei"/>
              </a:rPr>
              <a:t>▪ 金属的、潮湿的东西不能用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开关太远或找不到电源时，可以用干燥的木棍、竹竿、塑料管等绝缘物把电线从触电者身上挑开，或把触电者拨离带电体；也可以戴绝缘手套或用干燥的衣物包住手，拉触电者干燥的衣服（不碰其皮肤）。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用金属杆或湿拖把去挑电线</a:t>
            </a:r>
          </a:p>
          <a:p>
            <a:pPr>
              <a:spcAft>
                <a:spcPts val="1000"/>
              </a:spcAft>
            </a:pPr>
            <a:r>
              <a:rPr sz="1500">
                <a:solidFill>
                  <a:srgbClr val="222B33"/>
                </a:solidFill>
                <a:latin typeface="Microsoft YaHei"/>
              </a:rPr>
              <a:t>▪ 光脚站在湿地上施救</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脱离电源后：急救、就医、报告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脱离电源后，查看意识和呼吸</a:t>
            </a:r>
          </a:p>
          <a:p>
            <a:pPr>
              <a:spcAft>
                <a:spcPts val="1000"/>
              </a:spcAft>
            </a:pPr>
            <a:r>
              <a:rPr sz="2000">
                <a:solidFill>
                  <a:srgbClr val="222B33"/>
                </a:solidFill>
                <a:latin typeface="Microsoft YaHei"/>
              </a:rPr>
              <a:t>▪ 没呼吸心跳，立即心肺复苏、用 AED</a:t>
            </a:r>
          </a:p>
          <a:p>
            <a:pPr>
              <a:spcAft>
                <a:spcPts val="1000"/>
              </a:spcAft>
            </a:pPr>
            <a:r>
              <a:rPr sz="2000">
                <a:solidFill>
                  <a:srgbClr val="222B33"/>
                </a:solidFill>
                <a:latin typeface="Microsoft YaHei"/>
              </a:rPr>
              <a:t>▪ 看着没事，也要去医院检查</a:t>
            </a:r>
          </a:p>
          <a:p>
            <a:pPr>
              <a:spcAft>
                <a:spcPts val="1000"/>
              </a:spcAft>
            </a:pPr>
            <a:r>
              <a:rPr sz="2000">
                <a:solidFill>
                  <a:srgbClr val="222B33"/>
                </a:solidFill>
                <a:latin typeface="Microsoft YaHei"/>
              </a:rPr>
              <a:t>▪ 报告实验室负责人、学院和保卫处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触电者脱离电源后，立即判断意识和呼吸：没有意识、没有正常呼吸时，受过培训的人立即进行心肺复苏，尽快取来自动体外除颤器（AED）使用，直到急救人员到达（操作见第 159 课）；有烧伤的按烧伤处理（见第 158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触电者醒过来说没事，就不送医</a:t>
            </a:r>
          </a:p>
          <a:p>
            <a:pPr>
              <a:spcAft>
                <a:spcPts val="1000"/>
              </a:spcAft>
            </a:pPr>
            <a:r>
              <a:rPr sz="1500">
                <a:solidFill>
                  <a:srgbClr val="222B33"/>
                </a:solidFill>
                <a:latin typeface="Microsoft YaHei"/>
              </a:rPr>
              <a:t>▪ 不报告，私下处理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发现同学手握带电导线无法摆脱，正确的第一步是：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用手把他拉开</a:t>
            </a:r>
          </a:p>
          <a:p>
            <a:pPr algn="l"/>
            <a:r>
              <a:rPr sz="1500" b="0">
                <a:solidFill>
                  <a:srgbClr val="222B33"/>
                </a:solidFill>
                <a:latin typeface="Microsoft YaHei"/>
              </a:rPr>
              <a:t>B. 立即拉闸断电或拔下插头</a:t>
            </a:r>
          </a:p>
          <a:p>
            <a:pPr algn="l"/>
            <a:r>
              <a:rPr sz="1500" b="0">
                <a:solidFill>
                  <a:srgbClr val="222B33"/>
                </a:solidFill>
                <a:latin typeface="Microsoft YaHei"/>
              </a:rPr>
              <a:t>C. 先拨打 120 等待救援</a:t>
            </a:r>
          </a:p>
          <a:p>
            <a:pPr algn="l"/>
            <a:r>
              <a:rPr sz="1500" b="0">
                <a:solidFill>
                  <a:srgbClr val="222B33"/>
                </a:solidFill>
                <a:latin typeface="Microsoft YaHei"/>
              </a:rPr>
              <a:t>D. 用湿毛巾包住手去拉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判断：一时找不到开关时，可以用干燥的木棍把电线从触电者身上挑开，施救者最好站在干燥木板上单手操作。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下列哪种情况属于间接接触触电？</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手碰到裸露的接线端子</a:t>
            </a:r>
          </a:p>
          <a:p>
            <a:pPr algn="l"/>
            <a:r>
              <a:rPr sz="1500" b="0">
                <a:solidFill>
                  <a:srgbClr val="222B33"/>
                </a:solidFill>
                <a:latin typeface="Microsoft YaHei"/>
              </a:rPr>
              <a:t>B. 仪器内部绝缘损坏，人摸到带电的金属外壳</a:t>
            </a:r>
          </a:p>
          <a:p>
            <a:pPr algn="l"/>
            <a:r>
              <a:rPr sz="1500" b="0">
                <a:solidFill>
                  <a:srgbClr val="222B33"/>
                </a:solidFill>
                <a:latin typeface="Microsoft YaHei"/>
              </a:rPr>
              <a:t>C. 两手各碰一根相线</a:t>
            </a:r>
          </a:p>
          <a:p>
            <a:pPr algn="l"/>
            <a:r>
              <a:rPr sz="1500" b="0">
                <a:solidFill>
                  <a:srgbClr val="222B33"/>
                </a:solidFill>
                <a:latin typeface="Microsoft YaHei"/>
              </a:rPr>
              <a:t>D. 带电插拔插头时碰到金属片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碰到仪器机壳手发麻，正确的做法是：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再摸一下确认</a:t>
            </a:r>
          </a:p>
          <a:p>
            <a:pPr algn="l"/>
            <a:r>
              <a:rPr sz="1500" b="0">
                <a:solidFill>
                  <a:srgbClr val="222B33"/>
                </a:solidFill>
                <a:latin typeface="Microsoft YaHei"/>
              </a:rPr>
              <a:t>B. 自己打开机壳检查</a:t>
            </a:r>
          </a:p>
          <a:p>
            <a:pPr algn="l"/>
            <a:r>
              <a:rPr sz="1500" b="0">
                <a:solidFill>
                  <a:srgbClr val="222B33"/>
                </a:solidFill>
                <a:latin typeface="Microsoft YaHei"/>
              </a:rPr>
              <a:t>C. 断电拔插头，挂停用标识，报告负责人由持证电工维修</a:t>
            </a:r>
          </a:p>
          <a:p>
            <a:pPr algn="l"/>
            <a:r>
              <a:rPr sz="1500" b="0">
                <a:solidFill>
                  <a:srgbClr val="222B33"/>
                </a:solidFill>
                <a:latin typeface="Microsoft YaHei"/>
              </a:rPr>
              <a:t>D. 换一个插座继续用</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判断：三极插头插不进两孔插座时，可以把接地极掰掉再用。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简答：触电者脱离电源后，在场人员应做哪些事？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电有用也危险，危害可以预防</a:t>
            </a:r>
          </a:p>
          <a:p>
            <a:pPr>
              <a:spcAft>
                <a:spcPts val="800"/>
              </a:spcAft>
            </a:pPr>
            <a:r>
              <a:rPr sz="1500">
                <a:solidFill>
                  <a:srgbClr val="FFFFFF"/>
                </a:solidFill>
                <a:latin typeface="Microsoft YaHei"/>
              </a:rPr>
              <a:t>▪ K2  直接接触与间接接触</a:t>
            </a:r>
          </a:p>
          <a:p>
            <a:pPr>
              <a:spcAft>
                <a:spcPts val="800"/>
              </a:spcAft>
            </a:pPr>
            <a:r>
              <a:rPr sz="1500">
                <a:solidFill>
                  <a:srgbClr val="FFFFFF"/>
                </a:solidFill>
                <a:latin typeface="Microsoft YaHei"/>
              </a:rPr>
              <a:t>▪ S1  单相、两相与跨步电压触电</a:t>
            </a:r>
          </a:p>
          <a:p>
            <a:pPr>
              <a:spcAft>
                <a:spcPts val="800"/>
              </a:spcAft>
            </a:pPr>
            <a:r>
              <a:rPr sz="1500">
                <a:solidFill>
                  <a:srgbClr val="FFFFFF"/>
                </a:solidFill>
                <a:latin typeface="Microsoft YaHei"/>
              </a:rPr>
              <a:t>▪ K3  事故源于不安全状态和行为</a:t>
            </a:r>
          </a:p>
          <a:p>
            <a:pPr>
              <a:spcAft>
                <a:spcPts val="800"/>
              </a:spcAft>
            </a:pPr>
            <a:r>
              <a:rPr sz="1500">
                <a:solidFill>
                  <a:srgbClr val="FFFFFF"/>
                </a:solidFill>
                <a:latin typeface="Microsoft YaHei"/>
              </a:rPr>
              <a:t>▪ K4  隐患一：线路乱接、裸露与绝缘破损</a:t>
            </a:r>
          </a:p>
          <a:p>
            <a:pPr>
              <a:spcAft>
                <a:spcPts val="800"/>
              </a:spcAft>
            </a:pPr>
            <a:r>
              <a:rPr sz="1500">
                <a:solidFill>
                  <a:srgbClr val="FFFFFF"/>
                </a:solidFill>
                <a:latin typeface="Microsoft YaHei"/>
              </a:rPr>
              <a:t>▪ K5  隐患二：未接地、过载、坏工具与架空线</a:t>
            </a:r>
          </a:p>
          <a:p>
            <a:pPr>
              <a:spcAft>
                <a:spcPts val="800"/>
              </a:spcAft>
            </a:pPr>
            <a:r>
              <a:rPr sz="1500">
                <a:solidFill>
                  <a:srgbClr val="FFFFFF"/>
                </a:solidFill>
                <a:latin typeface="Microsoft YaHei"/>
              </a:rPr>
              <a:t>▪ K6  潮湿让危害加倍：水和电不碰面</a:t>
            </a:r>
          </a:p>
          <a:p>
            <a:pPr>
              <a:spcAft>
                <a:spcPts val="800"/>
              </a:spcAft>
            </a:pPr>
            <a:r>
              <a:rPr sz="1500">
                <a:solidFill>
                  <a:srgbClr val="FFFFFF"/>
                </a:solidFill>
                <a:latin typeface="Microsoft YaHei"/>
              </a:rPr>
              <a:t>▪ K7  遮护带电部件，配电箱门关好</a:t>
            </a:r>
          </a:p>
          <a:p>
            <a:pPr>
              <a:spcAft>
                <a:spcPts val="800"/>
              </a:spcAft>
            </a:pPr>
            <a:r>
              <a:rPr sz="1500">
                <a:solidFill>
                  <a:srgbClr val="FFFFFF"/>
                </a:solidFill>
                <a:latin typeface="Microsoft YaHei"/>
              </a:rPr>
              <a:t>▪ K8  防触电的几道防线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检修先断电，上锁挂牌</a:t>
            </a:r>
          </a:p>
          <a:p>
            <a:pPr>
              <a:spcAft>
                <a:spcPts val="800"/>
              </a:spcAft>
            </a:pPr>
            <a:r>
              <a:rPr sz="1500">
                <a:solidFill>
                  <a:srgbClr val="FFFFFF"/>
                </a:solidFill>
                <a:latin typeface="Microsoft YaHei"/>
              </a:rPr>
              <a:t>▪ K10  坏了不用，不自己修</a:t>
            </a:r>
          </a:p>
          <a:p>
            <a:pPr>
              <a:spcAft>
                <a:spcPts val="800"/>
              </a:spcAft>
            </a:pPr>
            <a:r>
              <a:rPr sz="1500">
                <a:solidFill>
                  <a:srgbClr val="FFFFFF"/>
                </a:solidFill>
                <a:latin typeface="Microsoft YaHei"/>
              </a:rPr>
              <a:t>▪ K11  好习惯：单手操作、按要求穿戴</a:t>
            </a:r>
          </a:p>
          <a:p>
            <a:pPr>
              <a:spcAft>
                <a:spcPts val="800"/>
              </a:spcAft>
            </a:pPr>
            <a:r>
              <a:rPr sz="1500">
                <a:solidFill>
                  <a:srgbClr val="FFFFFF"/>
                </a:solidFill>
                <a:latin typeface="Microsoft YaHei"/>
              </a:rPr>
              <a:t>▪ K12  先培训：会识别、会避开</a:t>
            </a:r>
          </a:p>
          <a:p>
            <a:pPr>
              <a:spcAft>
                <a:spcPts val="800"/>
              </a:spcAft>
            </a:pPr>
            <a:r>
              <a:rPr sz="1500">
                <a:solidFill>
                  <a:srgbClr val="FFFFFF"/>
                </a:solidFill>
                <a:latin typeface="Microsoft YaHei"/>
              </a:rPr>
              <a:t>▪ K13  认清总闸和急停，起火也先断电</a:t>
            </a:r>
          </a:p>
          <a:p>
            <a:pPr>
              <a:spcAft>
                <a:spcPts val="800"/>
              </a:spcAft>
            </a:pPr>
            <a:r>
              <a:rPr sz="1500">
                <a:solidFill>
                  <a:srgbClr val="FFFFFF"/>
                </a:solidFill>
                <a:latin typeface="Microsoft YaHei"/>
              </a:rPr>
              <a:t>▪ K14  有人触电：先断电，不徒手拉</a:t>
            </a:r>
          </a:p>
          <a:p>
            <a:pPr>
              <a:spcAft>
                <a:spcPts val="800"/>
              </a:spcAft>
            </a:pPr>
            <a:r>
              <a:rPr sz="1500">
                <a:solidFill>
                  <a:srgbClr val="FFFFFF"/>
                </a:solidFill>
                <a:latin typeface="Microsoft YaHei"/>
              </a:rPr>
              <a:t>▪ K15  断不了电：用干燥绝缘物挑开</a:t>
            </a:r>
          </a:p>
          <a:p>
            <a:pPr>
              <a:spcAft>
                <a:spcPts val="800"/>
              </a:spcAft>
            </a:pPr>
            <a:r>
              <a:rPr sz="1500">
                <a:solidFill>
                  <a:srgbClr val="FFFFFF"/>
                </a:solidFill>
                <a:latin typeface="Microsoft YaHei"/>
              </a:rPr>
              <a:t>▪ K16  脱离电源后：急救、就医、报告</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接地、接零与防雷</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第8章 电气安全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68 镜）　适用对象：进入实验室的全体本科生、研究生和教职工，实验室负责人、实验室安全员和负责安全检查的人员；接地、防雷装置的施工、测量和维修由持证电工和有资质的检测单位进行</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能说出接地的含义和作用，区分保护接地与系统接地、保护接地与保护接零，知道中性线（N）和保护导体（PE）的区别。</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TN-S、TN-C-S、TT 等低压配电系统接地形式的基本概念，知道接法由设计和电工确定、不能混接。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能做到金属外壳设备使用三极插头和合格的三孔插座，不掰接地极、不拆接地线、不借水管燃气管接地，仪器新装移位先确认接地。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能判断接地和防雷装置检查的要点（外观、环境、连接、接地电阻测试记录、定期检测），知道雷雨天气的用电要求。</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13869-2017（以现行文本为准，GB/T 13869-2026 即将实施）《用电安全导则》</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50054（以现行文本为准）《低压配电设计规范》：系统接地形式、保护接地与等电位联结</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13955-2017（以现行文本为准）《剩余电流动作保护装置安装和运行》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4793.1-2007（以现行文本为准，GB 4793-2024 已发布、即将实施）《测量、控制和实验室用电气设备的安全要求 第1部分：通用要求》：保护接地端子与保护导体</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50057（以现行文本为准）《建筑物防雷设计规范》</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《防雷减灾管理办法》（以现行文本为准）：防雷装置定期检测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号）：用电安全与安全检查</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电工作业人员持特种作业操作证上岗（以现行规定为准）；导体颜色按现行国家标准和本校规定</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接地：把不该有的电引入大地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接地：用电阻很小的导线把导电部分连到大地</a:t>
            </a:r>
          </a:p>
          <a:p>
            <a:pPr>
              <a:spcAft>
                <a:spcPts val="1000"/>
              </a:spcAft>
            </a:pPr>
            <a:r>
              <a:rPr sz="2000">
                <a:solidFill>
                  <a:srgbClr val="222B33"/>
                </a:solidFill>
                <a:latin typeface="Microsoft YaHei"/>
              </a:rPr>
              <a:t>▪ 把不该有的电引进大地</a:t>
            </a:r>
          </a:p>
          <a:p>
            <a:pPr>
              <a:spcAft>
                <a:spcPts val="1000"/>
              </a:spcAft>
            </a:pPr>
            <a:r>
              <a:rPr sz="2000">
                <a:solidFill>
                  <a:srgbClr val="222B33"/>
                </a:solidFill>
                <a:latin typeface="Microsoft YaHei"/>
              </a:rPr>
              <a:t>▪ 接地是防触电的重要保护，不能忽视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接地，就是用电阻很小的导体，把电气设备的某一部分（如金属外壳）或电力系统的某一点与大地可靠连接。设备一旦漏电，不该有的电就可以经接地导体流入大地，而不是经过人体（见 K4）。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认为仪器能正常工作，接地线有没有都无所谓</a:t>
            </a:r>
          </a:p>
          <a:p>
            <a:pPr>
              <a:spcAft>
                <a:spcPts val="1000"/>
              </a:spcAft>
            </a:pPr>
            <a:r>
              <a:rPr sz="1500">
                <a:solidFill>
                  <a:srgbClr val="222B33"/>
                </a:solidFill>
                <a:latin typeface="Microsoft YaHei"/>
              </a:rPr>
              <a:t>▪ 把接地当成电工的事，从不留意自己仪器的接地</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保护接地与系统接地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设备不带电的金属外壳接地，叫保护接地</a:t>
            </a:r>
          </a:p>
          <a:p>
            <a:pPr>
              <a:spcAft>
                <a:spcPts val="1000"/>
              </a:spcAft>
            </a:pPr>
            <a:r>
              <a:rPr sz="2000">
                <a:solidFill>
                  <a:srgbClr val="222B33"/>
                </a:solidFill>
                <a:latin typeface="Microsoft YaHei"/>
              </a:rPr>
              <a:t>▪ 电源系统中性点接地，叫系统接地</a:t>
            </a:r>
          </a:p>
          <a:p>
            <a:pPr>
              <a:spcAft>
                <a:spcPts val="1000"/>
              </a:spcAft>
            </a:pPr>
            <a:r>
              <a:rPr sz="2000">
                <a:solidFill>
                  <a:srgbClr val="222B33"/>
                </a:solidFill>
                <a:latin typeface="Microsoft YaHei"/>
              </a:rPr>
              <a:t>▪ 保护接地防触电，系统接地让系统稳定可靠</a:t>
            </a:r>
          </a:p>
          <a:p>
            <a:pPr>
              <a:spcAft>
                <a:spcPts val="1000"/>
              </a:spcAft>
            </a:pPr>
            <a:r>
              <a:rPr sz="2000">
                <a:solidFill>
                  <a:srgbClr val="222B33"/>
                </a:solidFill>
                <a:latin typeface="Microsoft YaHei"/>
              </a:rPr>
              <a:t>▪ 叫法各国不同，按国家标准和设计执行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接地按目的分为两类。保护接地：把电气设备正常不带电的外露金属部分（外壳、框架、支架）与接地装置相连，设备内部绝缘损坏、外壳带电时，故障电流经接地导体流走，降低人体接触时的电压，并使保护开关动作。和实验室使用者关系最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把国外视频中的接地做法直接搬到国内实验室</a:t>
            </a:r>
          </a:p>
          <a:p>
            <a:pPr>
              <a:spcAft>
                <a:spcPts val="1000"/>
              </a:spcAft>
            </a:pPr>
            <a:r>
              <a:rPr sz="1500">
                <a:solidFill>
                  <a:srgbClr val="222B33"/>
                </a:solidFill>
                <a:latin typeface="Microsoft YaHei"/>
              </a:rPr>
              <a:t>▪ 以为系统接地了，设备外壳就不用再接保护导体</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保护接零：外壳接PE线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插座里有相线 L、中性线 N 和保护导体 PE</a:t>
            </a:r>
          </a:p>
          <a:p>
            <a:pPr>
              <a:spcAft>
                <a:spcPts val="1000"/>
              </a:spcAft>
            </a:pPr>
            <a:r>
              <a:rPr sz="2000">
                <a:solidFill>
                  <a:srgbClr val="222B33"/>
                </a:solidFill>
                <a:latin typeface="Microsoft YaHei"/>
              </a:rPr>
              <a:t>▪ 中性线平时走工作电流，保护导体平时无电流</a:t>
            </a:r>
          </a:p>
          <a:p>
            <a:pPr>
              <a:spcAft>
                <a:spcPts val="1000"/>
              </a:spcAft>
            </a:pPr>
            <a:r>
              <a:rPr sz="2000">
                <a:solidFill>
                  <a:srgbClr val="222B33"/>
                </a:solidFill>
                <a:latin typeface="Microsoft YaHei"/>
              </a:rPr>
              <a:t>▪ 外壳接 PE 线，漏电时保护开关迅速跳闸</a:t>
            </a:r>
          </a:p>
          <a:p>
            <a:pPr>
              <a:spcAft>
                <a:spcPts val="1000"/>
              </a:spcAft>
            </a:pPr>
            <a:r>
              <a:rPr sz="2000">
                <a:solidFill>
                  <a:srgbClr val="222B33"/>
                </a:solidFill>
                <a:latin typeface="Microsoft YaHei"/>
              </a:rPr>
              <a:t>▪ N 和 PE 不能混用、不能接错、不能短接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在我国常见的 TN 系统中，设备金属外壳通过插座的保护导体（PE 线）与电源中性点相连，习惯上叫“保护接零”（与外壳直接接接地极的“保护接地”相对）。外壳一旦漏电，相线经外壳、PE 线形成单相短路，电流很大，使断路器……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认为中性线“零线”没电，可以随便碰</a:t>
            </a:r>
          </a:p>
          <a:p>
            <a:pPr>
              <a:spcAft>
                <a:spcPts val="1000"/>
              </a:spcAft>
            </a:pPr>
            <a:r>
              <a:rPr sz="1500">
                <a:solidFill>
                  <a:srgbClr val="222B33"/>
                </a:solidFill>
                <a:latin typeface="Microsoft YaHei"/>
              </a:rPr>
              <a:t>▪ 自己改接插座，把 N 线和 PE 线接在一起</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低压配电系统的接地形式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TN-S：N 和 PE 全程分开</a:t>
            </a:r>
          </a:p>
          <a:p>
            <a:pPr>
              <a:spcAft>
                <a:spcPts val="1000"/>
              </a:spcAft>
            </a:pPr>
            <a:r>
              <a:rPr sz="2000">
                <a:solidFill>
                  <a:srgbClr val="222B33"/>
                </a:solidFill>
                <a:latin typeface="Microsoft YaHei"/>
              </a:rPr>
              <a:t>▪ TN-C-S：进楼前合一，进楼后分开</a:t>
            </a:r>
          </a:p>
          <a:p>
            <a:pPr>
              <a:spcAft>
                <a:spcPts val="1000"/>
              </a:spcAft>
            </a:pPr>
            <a:r>
              <a:rPr sz="2000">
                <a:solidFill>
                  <a:srgbClr val="222B33"/>
                </a:solidFill>
                <a:latin typeface="Microsoft YaHei"/>
              </a:rPr>
              <a:t>▪ TT：设备外壳单独接地，必须装漏电保护</a:t>
            </a:r>
          </a:p>
          <a:p>
            <a:pPr>
              <a:spcAft>
                <a:spcPts val="1000"/>
              </a:spcAft>
            </a:pPr>
            <a:r>
              <a:rPr sz="2000">
                <a:solidFill>
                  <a:srgbClr val="222B33"/>
                </a:solidFill>
                <a:latin typeface="Microsoft YaHei"/>
              </a:rPr>
              <a:t>▪ 接法由设计和电工确定，同一系统不能混接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低压配电系统按电源中性点和设备外壳的接地方式，分为 TN、TT、IT 三类（概念了解即可）。TN 系统电源中性点直接接地，设备外壳经保护导体接到中性点：其中 TN-S 系统 N 线和 PE 线全程分开，安全性较好，常……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自己给仪器另打接地桩，与原有系统混接</a:t>
            </a:r>
          </a:p>
          <a:p>
            <a:pPr>
              <a:spcAft>
                <a:spcPts val="1000"/>
              </a:spcAft>
            </a:pPr>
            <a:r>
              <a:rPr sz="1500">
                <a:solidFill>
                  <a:srgbClr val="222B33"/>
                </a:solidFill>
                <a:latin typeface="Microsoft YaHei"/>
              </a:rPr>
              <a:t>▪ 在 TN-C-S 系统的分开点之后又把 N 和 PE 并在一起</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接地的五个作用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一是给漏电流另开一条入地的通路</a:t>
            </a:r>
          </a:p>
          <a:p>
            <a:pPr>
              <a:spcAft>
                <a:spcPts val="1000"/>
              </a:spcAft>
            </a:pPr>
            <a:r>
              <a:rPr sz="2000">
                <a:solidFill>
                  <a:srgbClr val="222B33"/>
                </a:solidFill>
                <a:latin typeface="Microsoft YaHei"/>
              </a:rPr>
              <a:t>▪ 二是减少触电，保护人身安全</a:t>
            </a:r>
          </a:p>
          <a:p>
            <a:pPr>
              <a:spcAft>
                <a:spcPts val="1000"/>
              </a:spcAft>
            </a:pPr>
            <a:r>
              <a:rPr sz="2000">
                <a:solidFill>
                  <a:srgbClr val="222B33"/>
                </a:solidFill>
                <a:latin typeface="Microsoft YaHei"/>
              </a:rPr>
              <a:t>▪ 三是建筑防雷，四是泄放雷电和短路电流</a:t>
            </a:r>
          </a:p>
          <a:p>
            <a:pPr>
              <a:spcAft>
                <a:spcPts val="1000"/>
              </a:spcAft>
            </a:pPr>
            <a:r>
              <a:rPr sz="2000">
                <a:solidFill>
                  <a:srgbClr val="222B33"/>
                </a:solidFill>
                <a:latin typeface="Microsoft YaHei"/>
              </a:rPr>
              <a:t>▪ 五是让精密电子设备工作更稳定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接地的作用可以归纳为五点：一是为漏电流提供一条低电阻的入地通路；二是降低触电风险，保护人身安全（见 K4）；三是建筑物防雷，接闪器接住的雷电流要靠接地装置泄入大地（见 K12）；四是使雷电流、短路故障电流安全泄放，保……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只把接地理解为防干扰，为了“信号好”随意改接</a:t>
            </a:r>
          </a:p>
          <a:p>
            <a:pPr>
              <a:spcAft>
                <a:spcPts val="1000"/>
              </a:spcAft>
            </a:pPr>
            <a:r>
              <a:rPr sz="1500">
                <a:solidFill>
                  <a:srgbClr val="222B33"/>
                </a:solidFill>
                <a:latin typeface="Microsoft YaHei"/>
              </a:rPr>
              <a:t>▪ 以为接地只和防雷有关，与日常仪器无关</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有接地和没接地：电流走哪里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没接地：外壳漏电，人一碰电流从人身上走</a:t>
            </a:r>
          </a:p>
          <a:p>
            <a:pPr>
              <a:spcAft>
                <a:spcPts val="1000"/>
              </a:spcAft>
            </a:pPr>
            <a:r>
              <a:rPr sz="2000">
                <a:solidFill>
                  <a:srgbClr val="222B33"/>
                </a:solidFill>
                <a:latin typeface="Microsoft YaHei"/>
              </a:rPr>
              <a:t>▪ 有接地：故障电流沿接地线走，人安全得多</a:t>
            </a:r>
          </a:p>
          <a:p>
            <a:pPr>
              <a:spcAft>
                <a:spcPts val="1000"/>
              </a:spcAft>
            </a:pPr>
            <a:r>
              <a:rPr sz="2000">
                <a:solidFill>
                  <a:srgbClr val="222B33"/>
                </a:solidFill>
                <a:latin typeface="Microsoft YaHei"/>
              </a:rPr>
              <a:t>▪ 大的故障电流还能让保护开关跳闸</a:t>
            </a:r>
          </a:p>
          <a:p>
            <a:pPr>
              <a:spcAft>
                <a:spcPts val="1000"/>
              </a:spcAft>
            </a:pPr>
            <a:r>
              <a:rPr sz="2000">
                <a:solidFill>
                  <a:srgbClr val="222B33"/>
                </a:solidFill>
                <a:latin typeface="Microsoft YaHei"/>
              </a:rPr>
              <a:t>▪ 前提是接地完好，并配合漏电保护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对比两种情况：设备没有接地，内部绝缘损坏后外壳带电，人一碰外壳，电流就经过人体流入大地，这就是触电。设备可靠接地（接 PE 线），外壳照样漏电，但故障电流主要沿电阻很小的接地线流走，外壳对地电压降低，同时较大的故障电……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有了接地就不装漏电保护</a:t>
            </a:r>
          </a:p>
          <a:p>
            <a:pPr>
              <a:spcAft>
                <a:spcPts val="1000"/>
              </a:spcAft>
            </a:pPr>
            <a:r>
              <a:rPr sz="1500">
                <a:solidFill>
                  <a:srgbClr val="222B33"/>
                </a:solidFill>
                <a:latin typeface="Microsoft YaHei"/>
              </a:rPr>
              <a:t>▪ 接地线断了也没人发现，照样使用</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金属外壳设备要接地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金属外壳的仪器、灯具都要可靠接地</a:t>
            </a:r>
          </a:p>
          <a:p>
            <a:pPr>
              <a:spcAft>
                <a:spcPts val="1000"/>
              </a:spcAft>
            </a:pPr>
            <a:r>
              <a:rPr sz="1700">
                <a:solidFill>
                  <a:srgbClr val="222B33"/>
                </a:solidFill>
                <a:latin typeface="Microsoft YaHei"/>
              </a:rPr>
              <a:t>▪ 用三极插头，插合格的三孔插座</a:t>
            </a:r>
          </a:p>
          <a:p>
            <a:pPr>
              <a:spcAft>
                <a:spcPts val="1000"/>
              </a:spcAft>
            </a:pPr>
            <a:r>
              <a:rPr sz="1700">
                <a:solidFill>
                  <a:srgbClr val="222B33"/>
                </a:solidFill>
                <a:latin typeface="Microsoft YaHei"/>
              </a:rPr>
              <a:t>▪ 不掰接地极，不把三孔改成两孔用</a:t>
            </a:r>
          </a:p>
          <a:p>
            <a:pPr>
              <a:spcAft>
                <a:spcPts val="1000"/>
              </a:spcAft>
            </a:pPr>
            <a:r>
              <a:rPr sz="1700">
                <a:solidFill>
                  <a:srgbClr val="222B33"/>
                </a:solidFill>
                <a:latin typeface="Microsoft YaHei"/>
              </a:rPr>
              <a:t>▪ 有专用接地线的仪器，不得私拆</a:t>
            </a:r>
          </a:p>
          <a:p>
            <a:pPr>
              <a:spcAft>
                <a:spcPts val="1000"/>
              </a:spcAft>
            </a:pPr>
            <a:r>
              <a:rPr sz="1700">
                <a:solidFill>
                  <a:srgbClr val="222B33"/>
                </a:solidFill>
                <a:latin typeface="Microsoft YaHei"/>
              </a:rPr>
              <a:t>▪ 临时配电箱、电焊机等更要盯紧接地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带金属外壳的仪器、灯具和电动工具（Ⅰ类设备）都要可靠接地：通过三极插头的接地极接入三孔插座的保护导体，或通过仪器的专用接地端子接到接地系统（GB 4793.1-2007，以现行文本为准）。购买符合国家标准的合格设备。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用两孔转换插头给三极插头的仪器供电</a:t>
            </a:r>
          </a:p>
          <a:p>
            <a:pPr>
              <a:spcAft>
                <a:spcPts val="1000"/>
              </a:spcAft>
            </a:pPr>
            <a:r>
              <a:rPr sz="1500">
                <a:solidFill>
                  <a:srgbClr val="222B33"/>
                </a:solidFill>
                <a:latin typeface="Microsoft YaHei"/>
              </a:rPr>
              <a:t>▪ 搬运仪器时把接地线拆下后忘了装回</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接地不能省、不能凑合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接地不能夹在水管、燃气管上</a:t>
            </a:r>
          </a:p>
          <a:p>
            <a:pPr>
              <a:spcAft>
                <a:spcPts val="1000"/>
              </a:spcAft>
            </a:pPr>
            <a:r>
              <a:rPr sz="1700">
                <a:solidFill>
                  <a:srgbClr val="222B33"/>
                </a:solidFill>
                <a:latin typeface="Microsoft YaHei"/>
              </a:rPr>
              <a:t>▪ 不能为了消除干扰拆掉接地</a:t>
            </a:r>
          </a:p>
          <a:p>
            <a:pPr>
              <a:spcAft>
                <a:spcPts val="1000"/>
              </a:spcAft>
            </a:pPr>
            <a:r>
              <a:rPr sz="1700">
                <a:solidFill>
                  <a:srgbClr val="222B33"/>
                </a:solidFill>
                <a:latin typeface="Microsoft YaHei"/>
              </a:rPr>
              <a:t>▪ 自制装置的金属框架也要接地</a:t>
            </a:r>
          </a:p>
          <a:p>
            <a:pPr>
              <a:spcAft>
                <a:spcPts val="1000"/>
              </a:spcAft>
            </a:pPr>
            <a:r>
              <a:rPr sz="1700">
                <a:solidFill>
                  <a:srgbClr val="222B33"/>
                </a:solidFill>
                <a:latin typeface="Microsoft YaHei"/>
              </a:rPr>
              <a:t>▪ 仪器新装、移位，先确认接地再通电</a:t>
            </a:r>
          </a:p>
          <a:p>
            <a:pPr>
              <a:spcAft>
                <a:spcPts val="1000"/>
              </a:spcAft>
            </a:pPr>
            <a:r>
              <a:rPr sz="1700">
                <a:solidFill>
                  <a:srgbClr val="222B33"/>
                </a:solidFill>
                <a:latin typeface="Microsoft YaHei"/>
              </a:rPr>
              <a:t>▪ 维修后装回接地线，测导通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接地线不能随手夹在水管、暖气管或燃气管上：管道接头可能不导电，接地效果不可靠，还会使管道带电，人接触时触电，甚至引燃燃气。接地要接到专用的接地端子或插座保护导体，由电工施工。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为了“去噪声”把仪器接地线剪断</a:t>
            </a:r>
          </a:p>
          <a:p>
            <a:pPr>
              <a:spcAft>
                <a:spcPts val="1000"/>
              </a:spcAft>
            </a:pPr>
            <a:r>
              <a:rPr sz="1500">
                <a:solidFill>
                  <a:srgbClr val="222B33"/>
                </a:solidFill>
                <a:latin typeface="Microsoft YaHei"/>
              </a:rPr>
              <a:t>▪ 把地线夹在水龙头上</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等电位联结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等电位联结：把金属部件连在一起</a:t>
            </a:r>
          </a:p>
          <a:p>
            <a:pPr>
              <a:spcAft>
                <a:spcPts val="1000"/>
              </a:spcAft>
            </a:pPr>
            <a:r>
              <a:rPr sz="2000">
                <a:solidFill>
                  <a:srgbClr val="222B33"/>
                </a:solidFill>
                <a:latin typeface="Microsoft YaHei"/>
              </a:rPr>
              <a:t>▪ 电位一致，人同时碰两处也没有电压差</a:t>
            </a:r>
          </a:p>
          <a:p>
            <a:pPr>
              <a:spcAft>
                <a:spcPts val="1000"/>
              </a:spcAft>
            </a:pPr>
            <a:r>
              <a:rPr sz="2000">
                <a:solidFill>
                  <a:srgbClr val="222B33"/>
                </a:solidFill>
                <a:latin typeface="Microsoft YaHei"/>
              </a:rPr>
              <a:t>▪ 联结线由电工按设计安装，不得拆除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等电位联结是把建筑物或场所内可同时触及的金属部件（设备外壳、金属台架、金属管道、建筑钢筋等）用导线连接在一起并接地，使它们电位基本一致。这样即使发生故障，人同时接触两处金属时，两者之间也没有危险的电压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装修或移动台架时拆掉联结线不恢复</a:t>
            </a:r>
          </a:p>
          <a:p>
            <a:pPr>
              <a:spcAft>
                <a:spcPts val="1000"/>
              </a:spcAft>
            </a:pPr>
            <a:r>
              <a:rPr sz="1500">
                <a:solidFill>
                  <a:srgbClr val="222B33"/>
                </a:solidFill>
                <a:latin typeface="Microsoft YaHei"/>
              </a:rPr>
              <a:t>▪ 认为联结线“没用”剪掉</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接地装置：接地极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常见接地极有管式、板式、棒式</a:t>
            </a:r>
          </a:p>
          <a:p>
            <a:pPr>
              <a:spcAft>
                <a:spcPts val="1000"/>
              </a:spcAft>
            </a:pPr>
            <a:r>
              <a:rPr sz="2000">
                <a:solidFill>
                  <a:srgbClr val="222B33"/>
                </a:solidFill>
                <a:latin typeface="Microsoft YaHei"/>
              </a:rPr>
              <a:t>▪ 常用镀锌钢等耐腐蚀材料</a:t>
            </a:r>
          </a:p>
          <a:p>
            <a:pPr>
              <a:spcAft>
                <a:spcPts val="1000"/>
              </a:spcAft>
            </a:pPr>
            <a:r>
              <a:rPr sz="2000">
                <a:solidFill>
                  <a:srgbClr val="222B33"/>
                </a:solidFill>
                <a:latin typeface="Microsoft YaHei"/>
              </a:rPr>
              <a:t>▪ 用哪种由专业人员按标准和设计确定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接地装置由接地极（埋入土壤中的导体）和接地线组成。常见的接地极有：管式（把金属管埋入地下）、板式（埋入金属板）、棒式（把导电棒打入土中）；建筑物还常利用基础钢筋作自然接地极。接地极常用镀锌钢等耐腐蚀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自己在楼外打一根钢钎当仪器接地</a:t>
            </a:r>
          </a:p>
          <a:p>
            <a:pPr>
              <a:spcAft>
                <a:spcPts val="1000"/>
              </a:spcAft>
            </a:pPr>
            <a:r>
              <a:rPr sz="1500">
                <a:solidFill>
                  <a:srgbClr val="222B33"/>
                </a:solidFill>
                <a:latin typeface="Microsoft YaHei"/>
              </a:rPr>
              <a:t>▪ 用国外视频里的接地电阻数值作为判断标准</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接地检查：外观、环境与连接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位置清楚、有标识、能接近、有保护</a:t>
            </a:r>
          </a:p>
          <a:p>
            <a:pPr>
              <a:spcAft>
                <a:spcPts val="1000"/>
              </a:spcAft>
            </a:pPr>
            <a:r>
              <a:rPr sz="2000">
                <a:solidFill>
                  <a:srgbClr val="222B33"/>
                </a:solidFill>
                <a:latin typeface="Microsoft YaHei"/>
              </a:rPr>
              <a:t>▪ 检查井盖板完好，周边无积水和开挖</a:t>
            </a:r>
          </a:p>
          <a:p>
            <a:pPr>
              <a:spcAft>
                <a:spcPts val="1000"/>
              </a:spcAft>
            </a:pPr>
            <a:r>
              <a:rPr sz="2000">
                <a:solidFill>
                  <a:srgbClr val="222B33"/>
                </a:solidFill>
                <a:latin typeface="Microsoft YaHei"/>
              </a:rPr>
              <a:t>▪ 连接紧固，没有严重锈蚀，导线接对</a:t>
            </a:r>
          </a:p>
          <a:p>
            <a:pPr>
              <a:spcAft>
                <a:spcPts val="1000"/>
              </a:spcAft>
            </a:pPr>
            <a:r>
              <a:rPr sz="2000">
                <a:solidFill>
                  <a:srgbClr val="222B33"/>
                </a:solidFill>
                <a:latin typeface="Microsoft YaHei"/>
              </a:rPr>
              <a:t>▪ 接地线连续不断，规格写明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接地检查一步一步来。外观：接地端子、接地测试点位置清楚，有接地标识，便于检查，有防护；接地检查井盖板完好，不能破损。周边环境：有没有积水、施工开挖或机械损坏。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只看外观就认定接地合格</a:t>
            </a:r>
          </a:p>
          <a:p>
            <a:pPr>
              <a:spcAft>
                <a:spcPts val="1000"/>
              </a:spcAft>
            </a:pPr>
            <a:r>
              <a:rPr sz="1500">
                <a:solidFill>
                  <a:srgbClr val="222B33"/>
                </a:solidFill>
                <a:latin typeface="Microsoft YaHei"/>
              </a:rPr>
              <a:t>▪ 学生自己打开配电箱检查接地排</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接地电阻的测量与记录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光看外观，判断不了接地好坏</a:t>
            </a:r>
          </a:p>
          <a:p>
            <a:pPr>
              <a:spcAft>
                <a:spcPts val="1000"/>
              </a:spcAft>
            </a:pPr>
            <a:r>
              <a:rPr sz="2000">
                <a:solidFill>
                  <a:srgbClr val="222B33"/>
                </a:solidFill>
                <a:latin typeface="Microsoft YaHei"/>
              </a:rPr>
              <a:t>▪ 由合格电工用校准过的仪器测量</a:t>
            </a:r>
          </a:p>
          <a:p>
            <a:pPr>
              <a:spcAft>
                <a:spcPts val="1000"/>
              </a:spcAft>
            </a:pPr>
            <a:r>
              <a:rPr sz="2000">
                <a:solidFill>
                  <a:srgbClr val="222B33"/>
                </a:solidFill>
                <a:latin typeface="Microsoft YaHei"/>
              </a:rPr>
              <a:t>▪ 结果记入台账，对照标准和设计核对</a:t>
            </a:r>
          </a:p>
          <a:p>
            <a:pPr>
              <a:spcAft>
                <a:spcPts val="1000"/>
              </a:spcAft>
            </a:pPr>
            <a:r>
              <a:rPr sz="2000">
                <a:solidFill>
                  <a:srgbClr val="222B33"/>
                </a:solidFill>
                <a:latin typeface="Microsoft YaHei"/>
              </a:rPr>
              <a:t>▪ 插座接地也要定期检测并记录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接地好不好，光看外观判断不了，要测量接地电阻并查看测试记录。测量由合格的电工使用经过校准的接地电阻测试仪进行，测出的数值记入检查表或台账，并对照现行国家标准和设计要求核对（具体限值以现行标准和设计为准）。理解为什么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接地电阻从来没测过，也没有记录</a:t>
            </a:r>
          </a:p>
          <a:p>
            <a:pPr>
              <a:spcAft>
                <a:spcPts val="1000"/>
              </a:spcAft>
            </a:pPr>
            <a:r>
              <a:rPr sz="1500">
                <a:solidFill>
                  <a:srgbClr val="222B33"/>
                </a:solidFill>
                <a:latin typeface="Microsoft YaHei"/>
              </a:rPr>
              <a:t>▪ 学生自行用万用表在插座里测试</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发现问题：报告、整改、复查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发现松动、锈蚀，记下来，不忽视</a:t>
            </a:r>
          </a:p>
          <a:p>
            <a:pPr>
              <a:spcAft>
                <a:spcPts val="1000"/>
              </a:spcAft>
            </a:pPr>
            <a:r>
              <a:rPr sz="2000">
                <a:solidFill>
                  <a:srgbClr val="222B33"/>
                </a:solidFill>
                <a:latin typeface="Microsoft YaHei"/>
              </a:rPr>
              <a:t>▪ 检查人员不动手修，交电工整改</a:t>
            </a:r>
          </a:p>
          <a:p>
            <a:pPr>
              <a:spcAft>
                <a:spcPts val="1000"/>
              </a:spcAft>
            </a:pPr>
            <a:r>
              <a:rPr sz="2000">
                <a:solidFill>
                  <a:srgbClr val="222B33"/>
                </a:solidFill>
                <a:latin typeface="Microsoft YaHei"/>
              </a:rPr>
              <a:t>▪ 整改后复查确认，形成闭环</a:t>
            </a:r>
          </a:p>
          <a:p>
            <a:pPr>
              <a:spcAft>
                <a:spcPts val="1000"/>
              </a:spcAft>
            </a:pPr>
            <a:r>
              <a:rPr sz="2000">
                <a:solidFill>
                  <a:srgbClr val="222B33"/>
                </a:solidFill>
                <a:latin typeface="Microsoft YaHei"/>
              </a:rPr>
              <a:t>▪ 小疏忽会变成大事故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检查中发现接头松动、锈蚀、接地线断开、盖板损坏，不能忽视，要记录下来，报告实验室负责人并通知电工整改；修好后再复查确认，整改闭环后才算完成（隐患整改见第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发现问题只口头说一句，没有记录和跟进</a:t>
            </a:r>
          </a:p>
          <a:p>
            <a:pPr>
              <a:spcAft>
                <a:spcPts val="1000"/>
              </a:spcAft>
            </a:pPr>
            <a:r>
              <a:rPr sz="1500">
                <a:solidFill>
                  <a:srgbClr val="222B33"/>
                </a:solidFill>
                <a:latin typeface="Microsoft YaHei"/>
              </a:rPr>
              <a:t>▪ 检查人员自己动手拧接地端子</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建筑防雷与定期检测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建筑防雷由接闪器、引下线、接地装置组成</a:t>
            </a:r>
          </a:p>
          <a:p>
            <a:pPr>
              <a:spcAft>
                <a:spcPts val="1000"/>
              </a:spcAft>
            </a:pPr>
            <a:r>
              <a:rPr sz="2000">
                <a:solidFill>
                  <a:srgbClr val="222B33"/>
                </a:solidFill>
                <a:latin typeface="Microsoft YaHei"/>
              </a:rPr>
              <a:t>▪ 雷电流沿引下线泄入大地</a:t>
            </a:r>
          </a:p>
          <a:p>
            <a:pPr>
              <a:spcAft>
                <a:spcPts val="1000"/>
              </a:spcAft>
            </a:pPr>
            <a:r>
              <a:rPr sz="2000">
                <a:solidFill>
                  <a:srgbClr val="222B33"/>
                </a:solidFill>
                <a:latin typeface="Microsoft YaHei"/>
              </a:rPr>
              <a:t>▪ 防雷装置按规定定期检测，留好报告</a:t>
            </a:r>
          </a:p>
          <a:p>
            <a:pPr>
              <a:spcAft>
                <a:spcPts val="1000"/>
              </a:spcAft>
            </a:pPr>
            <a:r>
              <a:rPr sz="2000">
                <a:solidFill>
                  <a:srgbClr val="222B33"/>
                </a:solidFill>
                <a:latin typeface="Microsoft YaHei"/>
              </a:rPr>
              <a:t>▪ 引下线锈断、松脱，及时报告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建筑物防雷装置主要由接闪器（避雷针、避雷带、避雷网）、引下线和接地装置组成，按 GB 50057（以现行文本为准）设计安装。雷击时，接闪器接住雷电流，沿引下线泄入大地，保护建筑和人员；电源和信号线路还可能装有电涌保护……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楼顶加装设备时拆掉或碰断避雷带</a:t>
            </a:r>
          </a:p>
          <a:p>
            <a:pPr>
              <a:spcAft>
                <a:spcPts val="1000"/>
              </a:spcAft>
            </a:pPr>
            <a:r>
              <a:rPr sz="1500">
                <a:solidFill>
                  <a:srgbClr val="222B33"/>
                </a:solidFill>
                <a:latin typeface="Microsoft YaHei"/>
              </a:rPr>
              <a:t>▪ 防雷检测报告过期没人过问</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雷雨天气的用电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雷雨前，按规定关闭精密仪器、断电</a:t>
            </a:r>
          </a:p>
          <a:p>
            <a:pPr>
              <a:spcAft>
                <a:spcPts val="1000"/>
              </a:spcAft>
            </a:pPr>
            <a:r>
              <a:rPr sz="2000">
                <a:solidFill>
                  <a:srgbClr val="222B33"/>
                </a:solidFill>
                <a:latin typeface="Microsoft YaHei"/>
              </a:rPr>
              <a:t>▪ 不用的插头拔下来</a:t>
            </a:r>
          </a:p>
          <a:p>
            <a:pPr>
              <a:spcAft>
                <a:spcPts val="1000"/>
              </a:spcAft>
            </a:pPr>
            <a:r>
              <a:rPr sz="2000">
                <a:solidFill>
                  <a:srgbClr val="222B33"/>
                </a:solidFill>
                <a:latin typeface="Microsoft YaHei"/>
              </a:rPr>
              <a:t>▪ 雷雨时不在户外和楼顶进行用电作业</a:t>
            </a:r>
          </a:p>
          <a:p>
            <a:pPr>
              <a:spcAft>
                <a:spcPts val="1000"/>
              </a:spcAft>
            </a:pPr>
            <a:r>
              <a:rPr sz="2000">
                <a:solidFill>
                  <a:srgbClr val="222B33"/>
                </a:solidFill>
                <a:latin typeface="Microsoft YaHei"/>
              </a:rPr>
              <a:t>▪ 不靠近引下线和楼顶金属栏杆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雷雨天气，雷电波可能沿电源线、信号线侵入，损坏精密仪器。雷雨来临前，按本实验室规定关闭不必要运行的精密仪器并断电，拔掉暂时不用的插头；冰箱、培养箱、超低温冰箱等不能断电的设备按本实验室规定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雷雨中上楼顶检修室外设备</a:t>
            </a:r>
          </a:p>
          <a:p>
            <a:pPr>
              <a:spcAft>
                <a:spcPts val="1000"/>
              </a:spcAft>
            </a:pPr>
            <a:r>
              <a:rPr sz="1500">
                <a:solidFill>
                  <a:srgbClr val="222B33"/>
                </a:solidFill>
                <a:latin typeface="Microsoft YaHei"/>
              </a:rPr>
              <a:t>▪ 雷雨时还在户外拖着电缆作业</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关于中性线（N）和保护导体（PE），下列说法正确的是：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中性线没有电，可以随便碰</a:t>
            </a:r>
          </a:p>
          <a:p>
            <a:pPr algn="l"/>
            <a:r>
              <a:rPr sz="1500" b="0">
                <a:solidFill>
                  <a:srgbClr val="222B33"/>
                </a:solidFill>
                <a:latin typeface="Microsoft YaHei"/>
              </a:rPr>
              <a:t>B. 可以在插头里把 N 和 PE 短接</a:t>
            </a:r>
          </a:p>
          <a:p>
            <a:pPr algn="l"/>
            <a:r>
              <a:rPr sz="1500" b="0">
                <a:solidFill>
                  <a:srgbClr val="222B33"/>
                </a:solidFill>
                <a:latin typeface="Microsoft YaHei"/>
              </a:rPr>
              <a:t>C. PE 平时无电流，只在故障时导走故障电流，不能与 N 混用</a:t>
            </a:r>
          </a:p>
          <a:p>
            <a:pPr algn="l"/>
            <a:r>
              <a:rPr sz="1500" b="0">
                <a:solidFill>
                  <a:srgbClr val="222B33"/>
                </a:solidFill>
                <a:latin typeface="Microsoft YaHei"/>
              </a:rPr>
              <a:t>D. PE 线上应装开关方便检修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判断：仪器信号干扰大，可以拆掉接地线或把地线夹到水管上解决。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金属外壳设备漏电时，可靠接地起什么作用？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让外壳电压升高</a:t>
            </a:r>
          </a:p>
          <a:p>
            <a:pPr algn="l"/>
            <a:r>
              <a:rPr sz="1500" b="0">
                <a:solidFill>
                  <a:srgbClr val="222B33"/>
                </a:solidFill>
                <a:latin typeface="Microsoft YaHei"/>
              </a:rPr>
              <a:t>B. 故障电流沿接地线流走，降低接触电压并使保护开关动作</a:t>
            </a:r>
          </a:p>
          <a:p>
            <a:pPr algn="l"/>
            <a:r>
              <a:rPr sz="1500" b="0">
                <a:solidFill>
                  <a:srgbClr val="222B33"/>
                </a:solidFill>
                <a:latin typeface="Microsoft YaHei"/>
              </a:rPr>
              <a:t>C. 让设备继续工作不受影响</a:t>
            </a:r>
          </a:p>
          <a:p>
            <a:pPr algn="l"/>
            <a:r>
              <a:rPr sz="1500" b="0">
                <a:solidFill>
                  <a:srgbClr val="222B33"/>
                </a:solidFill>
                <a:latin typeface="Microsoft YaHei"/>
              </a:rPr>
              <a:t>D. 没有作用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 TT 系统的说法正确的是：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N 和 PE 全程分开</a:t>
            </a:r>
          </a:p>
          <a:p>
            <a:pPr algn="l"/>
            <a:r>
              <a:rPr sz="1500" b="0">
                <a:solidFill>
                  <a:srgbClr val="222B33"/>
                </a:solidFill>
                <a:latin typeface="Microsoft YaHei"/>
              </a:rPr>
              <a:t>B. 设备外壳单独接地，必须装设漏电保护器</a:t>
            </a:r>
          </a:p>
          <a:p>
            <a:pPr algn="l"/>
            <a:r>
              <a:rPr sz="1500" b="0">
                <a:solidFill>
                  <a:srgbClr val="222B33"/>
                </a:solidFill>
                <a:latin typeface="Microsoft YaHei"/>
              </a:rPr>
              <a:t>C. 进楼前合一、进楼后分开</a:t>
            </a:r>
          </a:p>
          <a:p>
            <a:pPr algn="l"/>
            <a:r>
              <a:rPr sz="1500" b="0">
                <a:solidFill>
                  <a:srgbClr val="222B33"/>
                </a:solidFill>
                <a:latin typeface="Microsoft YaHei"/>
              </a:rPr>
              <a:t>D. 电源中性点不接地</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判断：接地是否良好，只要看接地端子外观没锈就可以确定，不需要测量。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简答：雷雨天气实验室用电应注意什么？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接地：把不该有的电引入大地</a:t>
            </a:r>
          </a:p>
          <a:p>
            <a:pPr>
              <a:spcAft>
                <a:spcPts val="800"/>
              </a:spcAft>
            </a:pPr>
            <a:r>
              <a:rPr sz="1500">
                <a:solidFill>
                  <a:srgbClr val="FFFFFF"/>
                </a:solidFill>
                <a:latin typeface="Microsoft YaHei"/>
              </a:rPr>
              <a:t>▪ K2  保护接地与系统接地</a:t>
            </a:r>
          </a:p>
          <a:p>
            <a:pPr>
              <a:spcAft>
                <a:spcPts val="800"/>
              </a:spcAft>
            </a:pPr>
            <a:r>
              <a:rPr sz="1500">
                <a:solidFill>
                  <a:srgbClr val="FFFFFF"/>
                </a:solidFill>
                <a:latin typeface="Microsoft YaHei"/>
              </a:rPr>
              <a:t>▪ S1  保护接零：外壳接PE线</a:t>
            </a:r>
          </a:p>
          <a:p>
            <a:pPr>
              <a:spcAft>
                <a:spcPts val="800"/>
              </a:spcAft>
            </a:pPr>
            <a:r>
              <a:rPr sz="1500">
                <a:solidFill>
                  <a:srgbClr val="FFFFFF"/>
                </a:solidFill>
                <a:latin typeface="Microsoft YaHei"/>
              </a:rPr>
              <a:t>▪ S2  低压配电系统的接地形式</a:t>
            </a:r>
          </a:p>
          <a:p>
            <a:pPr>
              <a:spcAft>
                <a:spcPts val="800"/>
              </a:spcAft>
            </a:pPr>
            <a:r>
              <a:rPr sz="1500">
                <a:solidFill>
                  <a:srgbClr val="FFFFFF"/>
                </a:solidFill>
                <a:latin typeface="Microsoft YaHei"/>
              </a:rPr>
              <a:t>▪ K3  接地的五个作用</a:t>
            </a:r>
          </a:p>
          <a:p>
            <a:pPr>
              <a:spcAft>
                <a:spcPts val="800"/>
              </a:spcAft>
            </a:pPr>
            <a:r>
              <a:rPr sz="1500">
                <a:solidFill>
                  <a:srgbClr val="FFFFFF"/>
                </a:solidFill>
                <a:latin typeface="Microsoft YaHei"/>
              </a:rPr>
              <a:t>▪ K4  有接地和没接地：电流走哪里</a:t>
            </a:r>
          </a:p>
          <a:p>
            <a:pPr>
              <a:spcAft>
                <a:spcPts val="800"/>
              </a:spcAft>
            </a:pPr>
            <a:r>
              <a:rPr sz="1500">
                <a:solidFill>
                  <a:srgbClr val="FFFFFF"/>
                </a:solidFill>
                <a:latin typeface="Microsoft YaHei"/>
              </a:rPr>
              <a:t>▪ K5  金属外壳设备要接地</a:t>
            </a:r>
          </a:p>
          <a:p>
            <a:pPr>
              <a:spcAft>
                <a:spcPts val="800"/>
              </a:spcAft>
            </a:pPr>
            <a:r>
              <a:rPr sz="1500">
                <a:solidFill>
                  <a:srgbClr val="FFFFFF"/>
                </a:solidFill>
                <a:latin typeface="Microsoft YaHei"/>
              </a:rPr>
              <a:t>▪ K6  接地不能省、不能凑合</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等电位联结</a:t>
            </a:r>
          </a:p>
          <a:p>
            <a:pPr>
              <a:spcAft>
                <a:spcPts val="800"/>
              </a:spcAft>
            </a:pPr>
            <a:r>
              <a:rPr sz="1500">
                <a:solidFill>
                  <a:srgbClr val="FFFFFF"/>
                </a:solidFill>
                <a:latin typeface="Microsoft YaHei"/>
              </a:rPr>
              <a:t>▪ K8  接地装置：接地极</a:t>
            </a:r>
          </a:p>
          <a:p>
            <a:pPr>
              <a:spcAft>
                <a:spcPts val="800"/>
              </a:spcAft>
            </a:pPr>
            <a:r>
              <a:rPr sz="1500">
                <a:solidFill>
                  <a:srgbClr val="FFFFFF"/>
                </a:solidFill>
                <a:latin typeface="Microsoft YaHei"/>
              </a:rPr>
              <a:t>▪ K9  接地检查：外观、环境与连接</a:t>
            </a:r>
          </a:p>
          <a:p>
            <a:pPr>
              <a:spcAft>
                <a:spcPts val="800"/>
              </a:spcAft>
            </a:pPr>
            <a:r>
              <a:rPr sz="1500">
                <a:solidFill>
                  <a:srgbClr val="FFFFFF"/>
                </a:solidFill>
                <a:latin typeface="Microsoft YaHei"/>
              </a:rPr>
              <a:t>▪ K10  接地电阻的测量与记录</a:t>
            </a:r>
          </a:p>
          <a:p>
            <a:pPr>
              <a:spcAft>
                <a:spcPts val="800"/>
              </a:spcAft>
            </a:pPr>
            <a:r>
              <a:rPr sz="1500">
                <a:solidFill>
                  <a:srgbClr val="FFFFFF"/>
                </a:solidFill>
                <a:latin typeface="Microsoft YaHei"/>
              </a:rPr>
              <a:t>▪ K11  发现问题：报告、整改、复查</a:t>
            </a:r>
          </a:p>
          <a:p>
            <a:pPr>
              <a:spcAft>
                <a:spcPts val="800"/>
              </a:spcAft>
            </a:pPr>
            <a:r>
              <a:rPr sz="1500">
                <a:solidFill>
                  <a:srgbClr val="FFFFFF"/>
                </a:solidFill>
                <a:latin typeface="Microsoft YaHei"/>
              </a:rPr>
              <a:t>▪ K12  建筑防雷与定期检测</a:t>
            </a:r>
          </a:p>
          <a:p>
            <a:pPr>
              <a:spcAft>
                <a:spcPts val="800"/>
              </a:spcAft>
            </a:pPr>
            <a:r>
              <a:rPr sz="1500">
                <a:solidFill>
                  <a:srgbClr val="FFFFFF"/>
                </a:solidFill>
                <a:latin typeface="Microsoft YaHei"/>
              </a:rPr>
              <a:t>▪ K13  雷雨天气的用电</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100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漏电保护与过流保护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第8章 电气安全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适用对象：进入实验室的全体本科生、研究生和教职工，特别是使用实验台电源、插座回路、用水设备和手持电动工具的人员，以及实验室安全员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能说出熔断器、断路器和漏电保护器（剩余电流动作保护器）各自防什么：过载、短路、漏电和触电。</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能说出漏电保护器“比较流出与流回电流”的工作原理，以及它不能防两相触电、不管过载短路、代替不了接地和绝缘。</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能判断防人身触电应选用高灵敏度（一般 30 mA）漏电保护器，以及水池、用水设备、插座回路、手持电动工具、临时用电必须有漏电保护。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能做到定期按试验按钮并记录；跳闸先查原因，不强合、不短接、不拆除，不用铜丝代替保险丝，安装更换交持证电工。</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13955-2017（以现行文本为准）《剩余电流动作保护装置安装和运行》</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13869-2017（以现行文本为准，GB/T 13869-2026 即将实施）《用电安全导则》</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4793.1-2007（以现行文本为准，GB 4793-2024 已发布、即将实施）《测量、控制和实验室用电气设备的安全要求 第1部分：通用要求》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《中华人民共和国安全生产法》（以现行文本为准）：特种作业人员持证上岗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号）：实验室用电安全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强制性产品认证（3C）目录内的低压电器须获认证（以现行目录为准）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本校实验室用电安全管理规定（漏电保护器试验周期、台账和报修程序以本校规定为准）</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三种保护器件，各管一摊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线路保护器件：熔断器、断路器、漏电保护器</a:t>
            </a:r>
          </a:p>
          <a:p>
            <a:pPr>
              <a:spcAft>
                <a:spcPts val="1000"/>
              </a:spcAft>
            </a:pPr>
            <a:r>
              <a:rPr sz="2000">
                <a:solidFill>
                  <a:srgbClr val="222B33"/>
                </a:solidFill>
                <a:latin typeface="Microsoft YaHei"/>
              </a:rPr>
              <a:t>▪ 熔断器和断路器管电流过大：过载、短路</a:t>
            </a:r>
          </a:p>
          <a:p>
            <a:pPr>
              <a:spcAft>
                <a:spcPts val="1000"/>
              </a:spcAft>
            </a:pPr>
            <a:r>
              <a:rPr sz="2000">
                <a:solidFill>
                  <a:srgbClr val="222B33"/>
                </a:solidFill>
                <a:latin typeface="Microsoft YaHei"/>
              </a:rPr>
              <a:t>▪ 漏电保护器管漏电和人身触电</a:t>
            </a:r>
          </a:p>
          <a:p>
            <a:pPr>
              <a:spcAft>
                <a:spcPts val="1000"/>
              </a:spcAft>
            </a:pPr>
            <a:r>
              <a:rPr sz="2000">
                <a:solidFill>
                  <a:srgbClr val="222B33"/>
                </a:solidFill>
                <a:latin typeface="Microsoft YaHei"/>
              </a:rPr>
              <a:t>▪ 各管一摊，配合起来线路才安全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实验室配电箱和实验台电源面板里，常见三类保护器件：熔断器（俗称保险丝、保险管）、断路器（俗称空气开关）和漏电保护器（剩余电流动作保护器）。它们是第 098 课所说“第二道防线”的核心。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以为装了空气开关就能防触电</a:t>
            </a:r>
          </a:p>
          <a:p>
            <a:pPr>
              <a:spcAft>
                <a:spcPts val="1000"/>
              </a:spcAft>
            </a:pPr>
            <a:r>
              <a:rPr sz="1500">
                <a:solidFill>
                  <a:srgbClr val="222B33"/>
                </a:solidFill>
                <a:latin typeface="Microsoft YaHei"/>
              </a:rPr>
              <a:t>▪ 以为装了漏电保护器就不怕过载</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熔断器：电流超标就熔断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用电太多、电流超标，导线会发热</a:t>
            </a:r>
          </a:p>
          <a:p>
            <a:pPr>
              <a:spcAft>
                <a:spcPts val="1000"/>
              </a:spcAft>
            </a:pPr>
            <a:r>
              <a:rPr sz="2000">
                <a:solidFill>
                  <a:srgbClr val="222B33"/>
                </a:solidFill>
                <a:latin typeface="Microsoft YaHei"/>
              </a:rPr>
              <a:t>▪ 熔丝先熔断，切断电路、保护线路</a:t>
            </a:r>
          </a:p>
          <a:p>
            <a:pPr>
              <a:spcAft>
                <a:spcPts val="1000"/>
              </a:spcAft>
            </a:pPr>
            <a:r>
              <a:rPr sz="2000">
                <a:solidFill>
                  <a:srgbClr val="222B33"/>
                </a:solidFill>
                <a:latin typeface="Microsoft YaHei"/>
              </a:rPr>
              <a:t>▪ 熔断后先查明原因，再换同规格熔断器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熔断器串联在电路中，内部是一段专门设计的熔体。电流超过规定值一段时间（或发生短路），熔体发热熔断，电路断开，导线来不及过热起火。它是“牺牲自己保护线路”的一次性器件。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保险管一烧就换个更大的</a:t>
            </a:r>
          </a:p>
          <a:p>
            <a:pPr>
              <a:spcAft>
                <a:spcPts val="1000"/>
              </a:spcAft>
            </a:pPr>
            <a:r>
              <a:rPr sz="1500">
                <a:solidFill>
                  <a:srgbClr val="222B33"/>
                </a:solidFill>
                <a:latin typeface="Microsoft YaHei"/>
              </a:rPr>
              <a:t>▪ 不查原因，烧了一个换一个</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断路器：过载短路自动跳闸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断路器是能接通、断开电路的开关装置</a:t>
            </a:r>
          </a:p>
          <a:p>
            <a:pPr>
              <a:spcAft>
                <a:spcPts val="1000"/>
              </a:spcAft>
            </a:pPr>
            <a:r>
              <a:rPr sz="2000">
                <a:solidFill>
                  <a:srgbClr val="222B33"/>
                </a:solidFill>
                <a:latin typeface="Microsoft YaHei"/>
              </a:rPr>
              <a:t>▪ 过载一段时间，它会自动跳闸</a:t>
            </a:r>
          </a:p>
          <a:p>
            <a:pPr>
              <a:spcAft>
                <a:spcPts val="1000"/>
              </a:spcAft>
            </a:pPr>
            <a:r>
              <a:rPr sz="2000">
                <a:solidFill>
                  <a:srgbClr val="222B33"/>
                </a:solidFill>
                <a:latin typeface="Microsoft YaHei"/>
              </a:rPr>
              <a:t>▪ 发生短路，电流猛增，它瞬间跳闸</a:t>
            </a:r>
          </a:p>
          <a:p>
            <a:pPr>
              <a:spcAft>
                <a:spcPts val="1000"/>
              </a:spcAft>
            </a:pPr>
            <a:r>
              <a:rPr sz="2000">
                <a:solidFill>
                  <a:srgbClr val="222B33"/>
                </a:solidFill>
                <a:latin typeface="Microsoft YaHei"/>
              </a:rPr>
              <a:t>▪ 排除故障后可以复位，重复使用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断路器既是开关，可以正常接通和断开电路，又是保护器：线路过载时，它经过一段延时跳闸（过载越严重跳得越快）；发生短路时，电流急剧增大，它几乎瞬间跳闸。与熔断器相比，断路器跳闸后不必更换，排除故障后推上手柄即可复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跳闸后不减负载，直接一推再推</a:t>
            </a:r>
          </a:p>
          <a:p>
            <a:pPr>
              <a:spcAft>
                <a:spcPts val="1000"/>
              </a:spcAft>
            </a:pPr>
            <a:r>
              <a:rPr sz="1500">
                <a:solidFill>
                  <a:srgbClr val="222B33"/>
                </a:solidFill>
                <a:latin typeface="Microsoft YaHei"/>
              </a:rPr>
              <a:t>▪ 用胶带把断路器手柄粘住不让它跳</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规格要匹配，不用铜丝代替保险丝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保护器件规格要和导线、负载匹配</a:t>
            </a:r>
          </a:p>
          <a:p>
            <a:pPr>
              <a:spcAft>
                <a:spcPts val="1000"/>
              </a:spcAft>
            </a:pPr>
            <a:r>
              <a:rPr sz="2000">
                <a:solidFill>
                  <a:srgbClr val="222B33"/>
                </a:solidFill>
                <a:latin typeface="Microsoft YaHei"/>
              </a:rPr>
              <a:t>▪ 规格过大，线烧了它也不跳</a:t>
            </a:r>
          </a:p>
          <a:p>
            <a:pPr>
              <a:spcAft>
                <a:spcPts val="1000"/>
              </a:spcAft>
            </a:pPr>
            <a:r>
              <a:rPr sz="2000">
                <a:solidFill>
                  <a:srgbClr val="222B33"/>
                </a:solidFill>
                <a:latin typeface="Microsoft YaHei"/>
              </a:rPr>
              <a:t>▪ 绝不能用铜丝、铁丝代替保险丝</a:t>
            </a:r>
          </a:p>
          <a:p>
            <a:pPr>
              <a:spcAft>
                <a:spcPts val="1000"/>
              </a:spcAft>
            </a:pPr>
            <a:r>
              <a:rPr sz="2000">
                <a:solidFill>
                  <a:srgbClr val="222B33"/>
                </a:solidFill>
                <a:latin typeface="Microsoft YaHei"/>
              </a:rPr>
              <a:t>▪ 选型和更换由持证电工进行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熔断器和断路器的额定电流要与所保护导线的载流能力和负载相匹配。规格选小了会频繁误动作；选大了更危险——导线已经过热冒烟，保护器件还不动作，等于没装。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嫌跳闸麻烦，换一个大号断路器</a:t>
            </a:r>
          </a:p>
          <a:p>
            <a:pPr>
              <a:spcAft>
                <a:spcPts val="1000"/>
              </a:spcAft>
            </a:pPr>
            <a:r>
              <a:rPr sz="1500">
                <a:solidFill>
                  <a:srgbClr val="222B33"/>
                </a:solidFill>
                <a:latin typeface="Microsoft YaHei"/>
              </a:rPr>
              <a:t>▪ 保险丝烧了找根铜丝缠上</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漏电保护器的名称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国内统称剩余电流动作保护器</a:t>
            </a:r>
          </a:p>
          <a:p>
            <a:pPr>
              <a:spcAft>
                <a:spcPts val="1000"/>
              </a:spcAft>
            </a:pPr>
            <a:r>
              <a:rPr sz="2000">
                <a:solidFill>
                  <a:srgbClr val="222B33"/>
                </a:solidFill>
                <a:latin typeface="Microsoft YaHei"/>
              </a:rPr>
              <a:t>▪ 俗称漏电保护器、漏电开关、漏保</a:t>
            </a:r>
          </a:p>
          <a:p>
            <a:pPr>
              <a:spcAft>
                <a:spcPts val="1000"/>
              </a:spcAft>
            </a:pPr>
            <a:r>
              <a:rPr sz="2000">
                <a:solidFill>
                  <a:srgbClr val="222B33"/>
                </a:solidFill>
                <a:latin typeface="Microsoft YaHei"/>
              </a:rPr>
              <a:t>▪ 名字有好几个，说的是同一类东西</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国家标准（GB/T 13955-2017，以现行文本为准）称之为剩余电流动作保护装置（剩余电流动作保护器），日常俗称漏电保护器、漏电开关、漏保。“剩余电流”指流出与流回电流的差值，即漏到别处（大地、人体）的那部分电流。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把漏电保护器当作普通空气开关</a:t>
            </a:r>
          </a:p>
          <a:p>
            <a:pPr>
              <a:spcAft>
                <a:spcPts val="1000"/>
              </a:spcAft>
            </a:pPr>
            <a:r>
              <a:rPr sz="1500">
                <a:solidFill>
                  <a:srgbClr val="222B33"/>
                </a:solidFill>
                <a:latin typeface="Microsoft YaHei"/>
              </a:rPr>
              <a:t>▪ 被各种外文缩写弄混，以为是不同的保护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原理：流出流回比一比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相线和中性线一起穿过零序电流互感器</a:t>
            </a:r>
          </a:p>
          <a:p>
            <a:pPr>
              <a:spcAft>
                <a:spcPts val="1000"/>
              </a:spcAft>
            </a:pPr>
            <a:r>
              <a:rPr sz="2000">
                <a:solidFill>
                  <a:srgbClr val="222B33"/>
                </a:solidFill>
                <a:latin typeface="Microsoft YaHei"/>
              </a:rPr>
              <a:t>▪ 正常时流出多少就流回多少，差值为零</a:t>
            </a:r>
          </a:p>
          <a:p>
            <a:pPr>
              <a:spcAft>
                <a:spcPts val="1000"/>
              </a:spcAft>
            </a:pPr>
            <a:r>
              <a:rPr sz="2000">
                <a:solidFill>
                  <a:srgbClr val="222B33"/>
                </a:solidFill>
                <a:latin typeface="Microsoft YaHei"/>
              </a:rPr>
              <a:t>▪ 有电流漏到大地，流出流回出现差值</a:t>
            </a:r>
          </a:p>
          <a:p>
            <a:pPr>
              <a:spcAft>
                <a:spcPts val="1000"/>
              </a:spcAft>
            </a:pPr>
            <a:r>
              <a:rPr sz="2000">
                <a:solidFill>
                  <a:srgbClr val="222B33"/>
                </a:solidFill>
                <a:latin typeface="Microsoft YaHei"/>
              </a:rPr>
              <a:t>▪ 测到差值，脱扣器动作，立即跳闸断电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流型漏电保护器的核心是一个环形的零序电流互感器，相线和中性线（零线）一起穿过它。正常工作时，从相线流出的电流全部经零线流回，两者大小相等、方向相反，在互感器中相互抵消，合成为零，保护器不动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以为漏电保护器是靠测电压大小工作的</a:t>
            </a:r>
          </a:p>
          <a:p>
            <a:pPr>
              <a:spcAft>
                <a:spcPts val="1000"/>
              </a:spcAft>
            </a:pPr>
            <a:r>
              <a:rPr sz="1500">
                <a:solidFill>
                  <a:srgbClr val="222B33"/>
                </a:solidFill>
                <a:latin typeface="Microsoft YaHei"/>
              </a:rPr>
              <a:t>▪ 以为它能感知所有触电情况</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漏电改走人体，它抢先断电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外壳接地通路断了，就是接地故障</a:t>
            </a:r>
          </a:p>
          <a:p>
            <a:pPr>
              <a:spcAft>
                <a:spcPts val="1000"/>
              </a:spcAft>
            </a:pPr>
            <a:r>
              <a:rPr sz="2000">
                <a:solidFill>
                  <a:srgbClr val="222B33"/>
                </a:solidFill>
                <a:latin typeface="Microsoft YaHei"/>
              </a:rPr>
              <a:t>▪ 电流另找出路，可能经人体流入大地</a:t>
            </a:r>
          </a:p>
          <a:p>
            <a:pPr>
              <a:spcAft>
                <a:spcPts val="1000"/>
              </a:spcAft>
            </a:pPr>
            <a:r>
              <a:rPr sz="2000">
                <a:solidFill>
                  <a:srgbClr val="222B33"/>
                </a:solidFill>
                <a:latin typeface="Microsoft YaHei"/>
              </a:rPr>
              <a:t>▪ 漏电保护器动作极快，一瞬间就断电</a:t>
            </a:r>
          </a:p>
          <a:p>
            <a:pPr>
              <a:spcAft>
                <a:spcPts val="1000"/>
              </a:spcAft>
            </a:pPr>
            <a:r>
              <a:rPr sz="2000">
                <a:solidFill>
                  <a:srgbClr val="222B33"/>
                </a:solidFill>
                <a:latin typeface="Microsoft YaHei"/>
              </a:rPr>
              <a:t>▪ 坏设备一插上就跳闸，伤害来不及发生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金属外壳的仪器、工具本来有一条低电阻的接地通路（见第 099 课）。当这条通路断了，或设备内部绝缘损坏使外壳带电，就形成接地故障，电流会另找出路——人一碰外壳，电流经人体流入大地，轻则受伤，重则致命。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有了漏电保护器就不检查设备外壳和接地</a:t>
            </a:r>
          </a:p>
          <a:p>
            <a:pPr>
              <a:spcAft>
                <a:spcPts val="1000"/>
              </a:spcAft>
            </a:pPr>
            <a:r>
              <a:rPr sz="1500">
                <a:solidFill>
                  <a:srgbClr val="222B33"/>
                </a:solidFill>
                <a:latin typeface="Microsoft YaHei"/>
              </a:rPr>
              <a:t>▪ 某台设备一插就跳闸，换个插座接着用</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老式电压型已淘汰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老式电压型盯住设备外壳接地线上的电压</a:t>
            </a:r>
          </a:p>
          <a:p>
            <a:pPr>
              <a:spcAft>
                <a:spcPts val="1000"/>
              </a:spcAft>
            </a:pPr>
            <a:r>
              <a:rPr sz="2000">
                <a:solidFill>
                  <a:srgbClr val="222B33"/>
                </a:solidFill>
                <a:latin typeface="Microsoft YaHei"/>
              </a:rPr>
              <a:t>▪ 接地线一坏，或漏电不走它的地线，就不跳</a:t>
            </a:r>
          </a:p>
          <a:p>
            <a:pPr>
              <a:spcAft>
                <a:spcPts val="1000"/>
              </a:spcAft>
            </a:pPr>
            <a:r>
              <a:rPr sz="2000">
                <a:solidFill>
                  <a:srgbClr val="222B33"/>
                </a:solidFill>
                <a:latin typeface="Microsoft YaHei"/>
              </a:rPr>
              <a:t>▪ 电流型不靠接地线，从哪儿漏都能发现</a:t>
            </a:r>
          </a:p>
          <a:p>
            <a:pPr>
              <a:spcAft>
                <a:spcPts val="1000"/>
              </a:spcAft>
            </a:pPr>
            <a:r>
              <a:rPr sz="2000">
                <a:solidFill>
                  <a:srgbClr val="222B33"/>
                </a:solidFill>
                <a:latin typeface="Microsoft YaHei"/>
              </a:rPr>
              <a:t>▪ 见到老旧保护装置，记录并报告更新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早期的漏电保护装置是电压型：它的检测线圈接在设备外壳的接地线上，相线碰壳时接地线上出现电压，推动开关断电。它有明显缺陷：完全依赖良好的接地线，接地线一断就失灵；漏电如果经其他途径（如人体、水管）入地，不经过它的接地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以为有了电流型保护，设备就不用接地</a:t>
            </a:r>
          </a:p>
          <a:p>
            <a:pPr>
              <a:spcAft>
                <a:spcPts val="1000"/>
              </a:spcAft>
            </a:pPr>
            <a:r>
              <a:rPr sz="1500">
                <a:solidFill>
                  <a:srgbClr val="222B33"/>
                </a:solidFill>
                <a:latin typeface="Microsoft YaHei"/>
              </a:rPr>
              <a:t>▪ 自己拆换老旧的保护开关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漏电保护器不是万能的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人同时碰到相线和零线（或两根相线），它可能不跳</a:t>
            </a:r>
          </a:p>
          <a:p>
            <a:pPr>
              <a:spcAft>
                <a:spcPts val="1000"/>
              </a:spcAft>
            </a:pPr>
            <a:r>
              <a:rPr sz="2000">
                <a:solidFill>
                  <a:srgbClr val="222B33"/>
                </a:solidFill>
                <a:latin typeface="Microsoft YaHei"/>
              </a:rPr>
              <a:t>▪ 所以检修仍须断电，不碰带电部位</a:t>
            </a:r>
          </a:p>
          <a:p>
            <a:pPr>
              <a:spcAft>
                <a:spcPts val="1000"/>
              </a:spcAft>
            </a:pPr>
            <a:r>
              <a:rPr sz="2000">
                <a:solidFill>
                  <a:srgbClr val="222B33"/>
                </a:solidFill>
                <a:latin typeface="Microsoft YaHei"/>
              </a:rPr>
              <a:t>▪ 只管漏电的保护器，不管过载和短路</a:t>
            </a:r>
          </a:p>
          <a:p>
            <a:pPr>
              <a:spcAft>
                <a:spcPts val="1000"/>
              </a:spcAft>
            </a:pPr>
            <a:r>
              <a:rPr sz="2000">
                <a:solidFill>
                  <a:srgbClr val="222B33"/>
                </a:solidFill>
                <a:latin typeface="Microsoft YaHei"/>
              </a:rPr>
              <a:t>▪ 它代替不了接地和绝缘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漏电保护器只对“漏到大地”的电流有反应。人站在绝缘物上同时碰到相线和零线，或两手各碰一根相线，电流从一根线经人体回到另一根线，流出流回仍然相等，保护器可能不动作。所以检修线路和设备照样要断电、验电（见第 098、10……</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装了漏电保护器就带电接线</a:t>
            </a:r>
          </a:p>
          <a:p>
            <a:pPr>
              <a:spcAft>
                <a:spcPts val="1000"/>
              </a:spcAft>
            </a:pPr>
            <a:r>
              <a:rPr sz="1500">
                <a:solidFill>
                  <a:srgbClr val="222B33"/>
                </a:solidFill>
                <a:latin typeface="Microsoft YaHei"/>
              </a:rPr>
              <a:t>▪ 以为漏电保护器能防过载起火</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灵敏度分档：防触电选高灵敏度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额定剩余动作电流有好几档，越小越灵敏</a:t>
            </a:r>
          </a:p>
          <a:p>
            <a:pPr>
              <a:spcAft>
                <a:spcPts val="1000"/>
              </a:spcAft>
            </a:pPr>
            <a:r>
              <a:rPr sz="1700">
                <a:solidFill>
                  <a:srgbClr val="222B33"/>
                </a:solidFill>
                <a:latin typeface="Microsoft YaHei"/>
              </a:rPr>
              <a:t>▪ 防人身触电，一般选 30 mA 高灵敏度快速型</a:t>
            </a:r>
          </a:p>
          <a:p>
            <a:pPr>
              <a:spcAft>
                <a:spcPts val="1000"/>
              </a:spcAft>
            </a:pPr>
            <a:r>
              <a:rPr sz="1700">
                <a:solidFill>
                  <a:srgbClr val="222B33"/>
                </a:solidFill>
                <a:latin typeface="Microsoft YaHei"/>
              </a:rPr>
              <a:t>▪ 大档位用于防电气火灾，不能当防触电保护</a:t>
            </a:r>
          </a:p>
          <a:p>
            <a:pPr>
              <a:spcAft>
                <a:spcPts val="1000"/>
              </a:spcAft>
            </a:pPr>
            <a:r>
              <a:rPr sz="1700">
                <a:solidFill>
                  <a:srgbClr val="222B33"/>
                </a:solidFill>
                <a:latin typeface="Microsoft YaHei"/>
              </a:rPr>
              <a:t>▪ 铭牌上分清额定电流和额定剩余动作电流</a:t>
            </a:r>
          </a:p>
          <a:p>
            <a:pPr>
              <a:spcAft>
                <a:spcPts val="1000"/>
              </a:spcAft>
            </a:pPr>
            <a:r>
              <a:rPr sz="1700">
                <a:solidFill>
                  <a:srgbClr val="222B33"/>
                </a:solidFill>
                <a:latin typeface="Microsoft YaHei"/>
              </a:rPr>
              <a:t>▪ 嫌它爱跳就换低灵敏度的，不允许</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漏电保护器的灵敏度用“额定剩余动作电流”表示，从高灵敏度到低灵敏度分为好几档，数值越小，越小的漏电就能使它动作。选档位先想清楚保护谁：用于人身触电的附加保护，一般选用额定剩余动作电流不大于 30 mA、动作快速的高灵……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把额定电流 32 A 看成灵敏度</a:t>
            </a:r>
          </a:p>
          <a:p>
            <a:pPr>
              <a:spcAft>
                <a:spcPts val="1000"/>
              </a:spcAft>
            </a:pPr>
            <a:r>
              <a:rPr sz="1500">
                <a:solidFill>
                  <a:srgbClr val="222B33"/>
                </a:solidFill>
                <a:latin typeface="Microsoft YaHei"/>
              </a:rPr>
              <a:t>▪ 嫌爱跳就让电工换个 100 mA 以上的</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哪些地方必须有漏电保护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水池、水浴等潮湿处的插座，必须有漏保</a:t>
            </a:r>
          </a:p>
          <a:p>
            <a:pPr>
              <a:spcAft>
                <a:spcPts val="1000"/>
              </a:spcAft>
            </a:pPr>
            <a:r>
              <a:rPr sz="2000">
                <a:solidFill>
                  <a:srgbClr val="222B33"/>
                </a:solidFill>
                <a:latin typeface="Microsoft YaHei"/>
              </a:rPr>
              <a:t>▪ 插座回路、手持电动工具、用水设备要有漏保</a:t>
            </a:r>
          </a:p>
          <a:p>
            <a:pPr>
              <a:spcAft>
                <a:spcPts val="1000"/>
              </a:spcAft>
            </a:pPr>
            <a:r>
              <a:rPr sz="2000">
                <a:solidFill>
                  <a:srgbClr val="222B33"/>
                </a:solidFill>
                <a:latin typeface="Microsoft YaHei"/>
              </a:rPr>
              <a:t>▪ 发电机或临时电源供电，同样要有漏保</a:t>
            </a:r>
          </a:p>
          <a:p>
            <a:pPr>
              <a:spcAft>
                <a:spcPts val="1000"/>
              </a:spcAft>
            </a:pPr>
            <a:r>
              <a:rPr sz="2000">
                <a:solidFill>
                  <a:srgbClr val="222B33"/>
                </a:solidFill>
                <a:latin typeface="Microsoft YaHei"/>
              </a:rPr>
              <a:t>▪ 每一路都要经过漏保，不得绕开接线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潮湿的地方最需要漏电保护：实验室水池、水槽、水浴、冷却水循环装置旁边的插座回路必须装有漏电保护器。此外，一般插座回路、手持电动工具和移动式电气设备、用水的电气设备，都应有漏电保护；潮湿、狭窄等特殊场所还要按规定使用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在水池边用没有漏保的插线板</a:t>
            </a:r>
          </a:p>
          <a:p>
            <a:pPr>
              <a:spcAft>
                <a:spcPts val="1000"/>
              </a:spcAft>
            </a:pPr>
            <a:r>
              <a:rPr sz="1500">
                <a:solidFill>
                  <a:srgbClr val="222B33"/>
                </a:solidFill>
                <a:latin typeface="Microsoft YaHei"/>
              </a:rPr>
              <a:t>▪ 从配电箱绕过漏保私自接出一路电</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插座式、移动式和插头式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漏电保护除装在配电箱，还有多种形式</a:t>
            </a:r>
          </a:p>
          <a:p>
            <a:pPr>
              <a:spcAft>
                <a:spcPts val="1000"/>
              </a:spcAft>
            </a:pPr>
            <a:r>
              <a:rPr sz="1700">
                <a:solidFill>
                  <a:srgbClr val="222B33"/>
                </a:solidFill>
                <a:latin typeface="Microsoft YaHei"/>
              </a:rPr>
              <a:t>▪ 插座式：装在插座里，护住后面几个插座</a:t>
            </a:r>
          </a:p>
          <a:p>
            <a:pPr>
              <a:spcAft>
                <a:spcPts val="1000"/>
              </a:spcAft>
            </a:pPr>
            <a:r>
              <a:rPr sz="1700">
                <a:solidFill>
                  <a:srgbClr val="222B33"/>
                </a:solidFill>
                <a:latin typeface="Microsoft YaHei"/>
              </a:rPr>
              <a:t>▪ 移动式、插头式：随设备走，带试验和复位键</a:t>
            </a:r>
          </a:p>
          <a:p>
            <a:pPr>
              <a:spcAft>
                <a:spcPts val="1000"/>
              </a:spcAft>
            </a:pPr>
            <a:r>
              <a:rPr sz="1700">
                <a:solidFill>
                  <a:srgbClr val="222B33"/>
                </a:solidFill>
                <a:latin typeface="Microsoft YaHei"/>
              </a:rPr>
              <a:t>▪ 供电线断了一根，移动式、插头式也会断电</a:t>
            </a:r>
          </a:p>
          <a:p>
            <a:pPr>
              <a:spcAft>
                <a:spcPts val="1000"/>
              </a:spcAft>
            </a:pPr>
            <a:r>
              <a:rPr sz="1700">
                <a:solidFill>
                  <a:srgbClr val="222B33"/>
                </a:solidFill>
                <a:latin typeface="Microsoft YaHei"/>
              </a:rPr>
              <a:t>▪ 临时、户外用电先报批，加移动式漏保</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除配电箱和实验台电源面板里的漏电保护器外，还有几种形式：插座式——保护器做在墙面插座里，带试验和复位按钮，能保护它后面接的几个插座；移动式——可以随身携带，插在普通插座上或自带电线，给后面的设备加一道保护；插头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把普通插线板从窗户拉到室外用</a:t>
            </a:r>
          </a:p>
          <a:p>
            <a:pPr>
              <a:spcAft>
                <a:spcPts val="1000"/>
              </a:spcAft>
            </a:pPr>
            <a:r>
              <a:rPr sz="1500">
                <a:solidFill>
                  <a:srgbClr val="222B33"/>
                </a:solidFill>
                <a:latin typeface="Microsoft YaHei"/>
              </a:rPr>
              <a:t>▪ 移动式漏保从来不按试验键</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定期按试验按钮，做好记录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按下试验按钮能跳闸，说明保护器有效</a:t>
            </a:r>
          </a:p>
          <a:p>
            <a:pPr>
              <a:spcAft>
                <a:spcPts val="1000"/>
              </a:spcAft>
            </a:pPr>
            <a:r>
              <a:rPr sz="2000">
                <a:solidFill>
                  <a:srgbClr val="222B33"/>
                </a:solidFill>
                <a:latin typeface="Microsoft YaHei"/>
              </a:rPr>
              <a:t>▪ 一般每月试一次，以本校规定为准</a:t>
            </a:r>
          </a:p>
          <a:p>
            <a:pPr>
              <a:spcAft>
                <a:spcPts val="1000"/>
              </a:spcAft>
            </a:pPr>
            <a:r>
              <a:rPr sz="2000">
                <a:solidFill>
                  <a:srgbClr val="222B33"/>
                </a:solidFill>
                <a:latin typeface="Microsoft YaHei"/>
              </a:rPr>
              <a:t>▪ 每个保护器编号，结果记台账、签字</a:t>
            </a:r>
          </a:p>
          <a:p>
            <a:pPr>
              <a:spcAft>
                <a:spcPts val="1000"/>
              </a:spcAft>
            </a:pPr>
            <a:r>
              <a:rPr sz="2000">
                <a:solidFill>
                  <a:srgbClr val="222B33"/>
                </a:solidFill>
                <a:latin typeface="Microsoft YaHei"/>
              </a:rPr>
              <a:t>▪ 按了不跳，立即停用并报修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漏电保护器上有一个试验按钮（常标“T”或“试验”）。按下后保护器应立即跳闸，说明检测和脱扣机构正常；试验后把手柄推回复位，恢复供电。试验前先告知同一回路的人员，关闭正在运行的精密仪器和不能突然断电的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装上以后从来没按过试验按钮</a:t>
            </a:r>
          </a:p>
          <a:p>
            <a:pPr>
              <a:spcAft>
                <a:spcPts val="1000"/>
              </a:spcAft>
            </a:pPr>
            <a:r>
              <a:rPr sz="1500">
                <a:solidFill>
                  <a:srgbClr val="222B33"/>
                </a:solidFill>
                <a:latin typeface="Microsoft YaHei"/>
              </a:rPr>
              <a:t>▪ 按了不跳也没在意，继续使用</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跳闸先查原因，不强合不短接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跳闸了别急着合上，更不能反复强合</a:t>
            </a:r>
          </a:p>
          <a:p>
            <a:pPr>
              <a:spcAft>
                <a:spcPts val="1000"/>
              </a:spcAft>
            </a:pPr>
            <a:r>
              <a:rPr sz="2000">
                <a:solidFill>
                  <a:srgbClr val="222B33"/>
                </a:solidFill>
                <a:latin typeface="Microsoft YaHei"/>
              </a:rPr>
              <a:t>▪ 先拔下刚接上的设备，找出漏电的那台</a:t>
            </a:r>
          </a:p>
          <a:p>
            <a:pPr>
              <a:spcAft>
                <a:spcPts val="1000"/>
              </a:spcAft>
            </a:pPr>
            <a:r>
              <a:rPr sz="2000">
                <a:solidFill>
                  <a:srgbClr val="222B33"/>
                </a:solidFill>
                <a:latin typeface="Microsoft YaHei"/>
              </a:rPr>
              <a:t>▪ 不得短接、拆除漏保，或换成普通开关</a:t>
            </a:r>
          </a:p>
          <a:p>
            <a:pPr>
              <a:spcAft>
                <a:spcPts val="1000"/>
              </a:spcAft>
            </a:pPr>
            <a:r>
              <a:rPr sz="2000">
                <a:solidFill>
                  <a:srgbClr val="222B33"/>
                </a:solidFill>
                <a:latin typeface="Microsoft YaHei"/>
              </a:rPr>
              <a:t>▪ 反复跳闸查不清，报告负责人请电工处理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漏电保护器跳闸，说明回路中可能真有漏电：设备绝缘损坏、进水受潮、线路破损。正确做法：先拔下最近接上的或可疑的设备，再试着合闸；合上不跳，说明问题在拔下的设备上，该设备停用、挂牌、报修；断路器跳闸也一样，先减少负载、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跳一次合一次，直到合上为止</a:t>
            </a:r>
          </a:p>
          <a:p>
            <a:pPr>
              <a:spcAft>
                <a:spcPts val="1000"/>
              </a:spcAft>
            </a:pPr>
            <a:r>
              <a:rPr sz="1500">
                <a:solidFill>
                  <a:srgbClr val="222B33"/>
                </a:solidFill>
                <a:latin typeface="Microsoft YaHei"/>
              </a:rPr>
              <a:t>▪ 嫌漏保爱跳，找人把它短接</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合格产品，持证电工安装管理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选用有 3C 标志的合格产品</a:t>
            </a:r>
          </a:p>
          <a:p>
            <a:pPr>
              <a:spcAft>
                <a:spcPts val="1000"/>
              </a:spcAft>
            </a:pPr>
            <a:r>
              <a:rPr sz="2000">
                <a:solidFill>
                  <a:srgbClr val="222B33"/>
                </a:solidFill>
                <a:latin typeface="Microsoft YaHei"/>
              </a:rPr>
              <a:t>▪ 来路不明的便宜货不能用</a:t>
            </a:r>
          </a:p>
          <a:p>
            <a:pPr>
              <a:spcAft>
                <a:spcPts val="1000"/>
              </a:spcAft>
            </a:pPr>
            <a:r>
              <a:rPr sz="2000">
                <a:solidFill>
                  <a:srgbClr val="222B33"/>
                </a:solidFill>
                <a:latin typeface="Microsoft YaHei"/>
              </a:rPr>
              <a:t>▪ 安装更换交给持证电工，规格与线路匹配</a:t>
            </a:r>
          </a:p>
          <a:p>
            <a:pPr>
              <a:spcAft>
                <a:spcPts val="1000"/>
              </a:spcAft>
            </a:pPr>
            <a:r>
              <a:rPr sz="2000">
                <a:solidFill>
                  <a:srgbClr val="222B33"/>
                </a:solidFill>
                <a:latin typeface="Microsoft YaHei"/>
              </a:rPr>
              <a:t>▪ 学生不得自行拆装配电箱和保护器件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漏电保护器、断路器、插线板等低压电器应选用获得强制性产品认证、带 3C 标志的合格产品（以现行认证目录为准），由学校统一采购；来路不明、没有标志的廉价产品可能根本不动作，不能使用。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网上买便宜的漏电开关自己换上</a:t>
            </a:r>
          </a:p>
          <a:p>
            <a:pPr>
              <a:spcAft>
                <a:spcPts val="1000"/>
              </a:spcAft>
            </a:pPr>
            <a:r>
              <a:rPr sz="1500">
                <a:solidFill>
                  <a:srgbClr val="222B33"/>
                </a:solidFill>
                <a:latin typeface="Microsoft YaHei"/>
              </a:rPr>
              <a:t>▪ 学生打开配电箱自行接线</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下列器件中，主要用于防止人身触电的是：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熔断器</a:t>
            </a:r>
          </a:p>
          <a:p>
            <a:pPr algn="l"/>
            <a:r>
              <a:rPr sz="1500" b="0">
                <a:solidFill>
                  <a:srgbClr val="222B33"/>
                </a:solidFill>
                <a:latin typeface="Microsoft YaHei"/>
              </a:rPr>
              <a:t>B. 断路器</a:t>
            </a:r>
          </a:p>
          <a:p>
            <a:pPr algn="l"/>
            <a:r>
              <a:rPr sz="1500" b="0">
                <a:solidFill>
                  <a:srgbClr val="222B33"/>
                </a:solidFill>
                <a:latin typeface="Microsoft YaHei"/>
              </a:rPr>
              <a:t>C. 剩余电流动作保护器（漏电保护器）</a:t>
            </a:r>
          </a:p>
          <a:p>
            <a:pPr algn="l"/>
            <a:r>
              <a:rPr sz="1500" b="0">
                <a:solidFill>
                  <a:srgbClr val="222B33"/>
                </a:solidFill>
                <a:latin typeface="Microsoft YaHei"/>
              </a:rPr>
              <a:t>D. 普通开关</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判断：装了漏电保护器以后，人同时碰到相线和零线也一定会跳闸。</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用于人身触电附加保护的漏电保护器，额定剩余动作电流一般选：</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30 mA 及以下的高灵敏度快速型</a:t>
            </a:r>
          </a:p>
          <a:p>
            <a:pPr algn="l"/>
            <a:r>
              <a:rPr sz="1500" b="0">
                <a:solidFill>
                  <a:srgbClr val="222B33"/>
                </a:solidFill>
                <a:latin typeface="Microsoft YaHei"/>
              </a:rPr>
              <a:t>B. 300 mA</a:t>
            </a:r>
          </a:p>
          <a:p>
            <a:pPr algn="l"/>
            <a:r>
              <a:rPr sz="1500" b="0">
                <a:solidFill>
                  <a:srgbClr val="222B33"/>
                </a:solidFill>
                <a:latin typeface="Microsoft YaHei"/>
              </a:rPr>
              <a:t>C. 与额定电流相同，如 32 A</a:t>
            </a:r>
          </a:p>
          <a:p>
            <a:pPr algn="l"/>
            <a:r>
              <a:rPr sz="1500" b="0">
                <a:solidFill>
                  <a:srgbClr val="222B33"/>
                </a:solidFill>
                <a:latin typeface="Microsoft YaHei"/>
              </a:rPr>
              <a:t>D. 越大越好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按下漏电保护器的试验按钮，保护器没有跳闸，应：</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多按几次直到跳闸</a:t>
            </a:r>
          </a:p>
          <a:p>
            <a:pPr algn="l"/>
            <a:r>
              <a:rPr sz="1500" b="0">
                <a:solidFill>
                  <a:srgbClr val="222B33"/>
                </a:solidFill>
                <a:latin typeface="Microsoft YaHei"/>
              </a:rPr>
              <a:t>B. 继续使用，下个月再试</a:t>
            </a:r>
          </a:p>
          <a:p>
            <a:pPr algn="l"/>
            <a:r>
              <a:rPr sz="1500" b="0">
                <a:solidFill>
                  <a:srgbClr val="222B33"/>
                </a:solidFill>
                <a:latin typeface="Microsoft YaHei"/>
              </a:rPr>
              <a:t>C. 立即停用该回路，挂停用标识，报告并报修</a:t>
            </a:r>
          </a:p>
          <a:p>
            <a:pPr algn="l"/>
            <a:r>
              <a:rPr sz="1500" b="0">
                <a:solidFill>
                  <a:srgbClr val="222B33"/>
                </a:solidFill>
                <a:latin typeface="Microsoft YaHei"/>
              </a:rPr>
              <a:t>D. 用导线把它短接</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判断：熔断器烧断后，可以临时用一段铜丝代替。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简答：实验台漏电保护器跳闸后，正确的处理步骤是什么？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三种保护器件，各管一摊</a:t>
            </a:r>
          </a:p>
          <a:p>
            <a:pPr>
              <a:spcAft>
                <a:spcPts val="800"/>
              </a:spcAft>
            </a:pPr>
            <a:r>
              <a:rPr sz="1500">
                <a:solidFill>
                  <a:srgbClr val="FFFFFF"/>
                </a:solidFill>
                <a:latin typeface="Microsoft YaHei"/>
              </a:rPr>
              <a:t>▪ K2  熔断器：电流超标就熔断</a:t>
            </a:r>
          </a:p>
          <a:p>
            <a:pPr>
              <a:spcAft>
                <a:spcPts val="800"/>
              </a:spcAft>
            </a:pPr>
            <a:r>
              <a:rPr sz="1500">
                <a:solidFill>
                  <a:srgbClr val="FFFFFF"/>
                </a:solidFill>
                <a:latin typeface="Microsoft YaHei"/>
              </a:rPr>
              <a:t>▪ K3  断路器：过载短路自动跳闸</a:t>
            </a:r>
          </a:p>
          <a:p>
            <a:pPr>
              <a:spcAft>
                <a:spcPts val="800"/>
              </a:spcAft>
            </a:pPr>
            <a:r>
              <a:rPr sz="1500">
                <a:solidFill>
                  <a:srgbClr val="FFFFFF"/>
                </a:solidFill>
                <a:latin typeface="Microsoft YaHei"/>
              </a:rPr>
              <a:t>▪ K4  规格要匹配，不用铜丝代替保险丝</a:t>
            </a:r>
          </a:p>
          <a:p>
            <a:pPr>
              <a:spcAft>
                <a:spcPts val="800"/>
              </a:spcAft>
            </a:pPr>
            <a:r>
              <a:rPr sz="1500">
                <a:solidFill>
                  <a:srgbClr val="FFFFFF"/>
                </a:solidFill>
                <a:latin typeface="Microsoft YaHei"/>
              </a:rPr>
              <a:t>▪ K5  漏电保护器的名称</a:t>
            </a:r>
          </a:p>
          <a:p>
            <a:pPr>
              <a:spcAft>
                <a:spcPts val="800"/>
              </a:spcAft>
            </a:pPr>
            <a:r>
              <a:rPr sz="1500">
                <a:solidFill>
                  <a:srgbClr val="FFFFFF"/>
                </a:solidFill>
                <a:latin typeface="Microsoft YaHei"/>
              </a:rPr>
              <a:t>▪ K6  原理：流出流回比一比</a:t>
            </a:r>
          </a:p>
          <a:p>
            <a:pPr>
              <a:spcAft>
                <a:spcPts val="800"/>
              </a:spcAft>
            </a:pPr>
            <a:r>
              <a:rPr sz="1500">
                <a:solidFill>
                  <a:srgbClr val="FFFFFF"/>
                </a:solidFill>
                <a:latin typeface="Microsoft YaHei"/>
              </a:rPr>
              <a:t>▪ K7  漏电改走人体，它抢先断电</a:t>
            </a:r>
          </a:p>
          <a:p>
            <a:pPr>
              <a:spcAft>
                <a:spcPts val="800"/>
              </a:spcAft>
            </a:pPr>
            <a:r>
              <a:rPr sz="1500">
                <a:solidFill>
                  <a:srgbClr val="FFFFFF"/>
                </a:solidFill>
                <a:latin typeface="Microsoft YaHei"/>
              </a:rPr>
              <a:t>▪ K8  老式电压型已淘汰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漏电保护器不是万能的</a:t>
            </a:r>
          </a:p>
          <a:p>
            <a:pPr>
              <a:spcAft>
                <a:spcPts val="800"/>
              </a:spcAft>
            </a:pPr>
            <a:r>
              <a:rPr sz="1500">
                <a:solidFill>
                  <a:srgbClr val="FFFFFF"/>
                </a:solidFill>
                <a:latin typeface="Microsoft YaHei"/>
              </a:rPr>
              <a:t>▪ K10  灵敏度分档：防触电选高灵敏度</a:t>
            </a:r>
          </a:p>
          <a:p>
            <a:pPr>
              <a:spcAft>
                <a:spcPts val="800"/>
              </a:spcAft>
            </a:pPr>
            <a:r>
              <a:rPr sz="1500">
                <a:solidFill>
                  <a:srgbClr val="FFFFFF"/>
                </a:solidFill>
                <a:latin typeface="Microsoft YaHei"/>
              </a:rPr>
              <a:t>▪ K11  哪些地方必须有漏电保护</a:t>
            </a:r>
          </a:p>
          <a:p>
            <a:pPr>
              <a:spcAft>
                <a:spcPts val="800"/>
              </a:spcAft>
            </a:pPr>
            <a:r>
              <a:rPr sz="1500">
                <a:solidFill>
                  <a:srgbClr val="FFFFFF"/>
                </a:solidFill>
                <a:latin typeface="Microsoft YaHei"/>
              </a:rPr>
              <a:t>▪ K12  插座式、移动式和插头式</a:t>
            </a:r>
          </a:p>
          <a:p>
            <a:pPr>
              <a:spcAft>
                <a:spcPts val="800"/>
              </a:spcAft>
            </a:pPr>
            <a:r>
              <a:rPr sz="1500">
                <a:solidFill>
                  <a:srgbClr val="FFFFFF"/>
                </a:solidFill>
                <a:latin typeface="Microsoft YaHei"/>
              </a:rPr>
              <a:t>▪ K13  定期按试验按钮，做好记录</a:t>
            </a:r>
          </a:p>
          <a:p>
            <a:pPr>
              <a:spcAft>
                <a:spcPts val="800"/>
              </a:spcAft>
            </a:pPr>
            <a:r>
              <a:rPr sz="1500">
                <a:solidFill>
                  <a:srgbClr val="FFFFFF"/>
                </a:solidFill>
                <a:latin typeface="Microsoft YaHei"/>
              </a:rPr>
              <a:t>▪ K14  跳闸先查原因，不强合不短接</a:t>
            </a:r>
          </a:p>
          <a:p>
            <a:pPr>
              <a:spcAft>
                <a:spcPts val="800"/>
              </a:spcAft>
            </a:pPr>
            <a:r>
              <a:rPr sz="1500">
                <a:solidFill>
                  <a:srgbClr val="FFFFFF"/>
                </a:solidFill>
                <a:latin typeface="Microsoft YaHei"/>
              </a:rPr>
              <a:t>▪ K15  合格产品，持证电工安装管理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