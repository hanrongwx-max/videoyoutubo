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比较各级生物安全实验室，可以列一张对比表：先看病原风险——一级操作通常不使健康成人致病的微生物，二级操作能致病但一般可防可治的病原，三级对应可经空气传播、后果严重的病原，四级对应危及生命且缺乏有效防治手段的病原（分级见第 059 课）。举例只看类别：一级多为无害的实验室菌株，二级多为常见可治的致病菌；具体某种病原、某项实验活动放在几级，查《人间传染的病原微生物目录》并做风险评估（见第 060 课）。注意国内病原分类第一类最危险，与国际风险组 1–4 方向相反；实验室级别则国内外同向，一级最低、四级最高。</a:t>
            </a:r>
          </a:p>
          <a:p>
            <a:r>
              <a:t>每一级的防护措施分三栏来看：个人防护（穿什么）、安全设备即工程控制（用什么设备）、实验室设施（房子怎么建），再加上操作规范和人员培训。各级要求是一整套：房子够格、操作不到位，或者设备齐全、人员没培训，都不算达到该级别。检查时设施、设备、操作、人员都要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准入随级别逐级收紧：一级实验室，经过基本培训的人员可以进入；二级实验室限制进入，无关人员不得入内；三级实验室受控进入，人员须经专门培训、批准和授权；四级实验室严格控制进入，并有高度的安保措施。</a:t>
            </a:r>
          </a:p>
          <a:p>
            <a:r>
              <a:t>进门前先看门上的标识：生物危害标志、防护级别、涉及的病原或风险、实验室负责人和联系电话，看清要求、穿戴好再进。进入生物安全实验室实行“先培训、后准入”：培训考核合格才能进门操作，使用生物安全柜等设备也要先培训、考核并获得授权；学校、学院、实验室层层负责。进三级实验室须先批准、先培训，未获准入不得进入，也不得单独进入工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随级别逐级加码：一级以实验服为主，需要时戴手套和护目镜；二级在实验服、手套之外，加戴护目镜或面屏等面部防护，必须穿不露脚趾的鞋；三级穿前襟封闭的防护服，戴手套和眼面部防护，并按要求加戴呼吸防护（呼吸防护与适合性检验见第 025 课）；四级在不使用全密闭安全柜时，穿独立供气的正压防护服，手部戴多层手套。</a:t>
            </a:r>
          </a:p>
          <a:p>
            <a:r>
              <a:t>具体穿戴什么、戴什么级别的呼吸防护，由风险评估决定（防护装备的选择见第 074 课，穿脱顺序见第 075 课）。实验室的定向气流、安全柜等工程措施能帮助保护人员，但不是万能的，个人防护照样要穿戴齐全。</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设备（工程控制）随级别加严：一级有洗手设施和基本的消毒用品；二级配备生物安全柜（通常为Ⅱ级），吸液、混匀、振荡、研磨等可能产生气溶胶或溅洒的操作要放进柜里做；三级所有涉及感染性材料的操作都必须在生物安全柜或其他物理防护设备内进行，离心时使用密封的离心杯或转子；四级使用全密闭的Ⅲ级生物安全柜，或在防护服型实验室中穿正压防护服配合Ⅱ级生物安全柜工作，并有独立供气（生物安全柜见第 071、072 课）。</a:t>
            </a:r>
          </a:p>
          <a:p>
            <a:r>
              <a:t>气溶胶控制的要求同样逐级提高：一级一般无专门要求；二级在可能产生气溶胶时必须防护；三级至关重要；四级要求时刻处于全封闭状态。</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设施随级别递进：一级是普通的开放实验室，设洗手池（宜靠近出口）；二级在此基础上，门能自动关闭并有进入控制，设洗手池和洗眼装置，实验室内或所在建筑内有高压蒸汽灭菌器或其他适当的消毒灭菌设备；三级与其他区域隔离，房间保持负压，排风经高效过滤后排出（封闭原理见第 062 课，布局与进出见第 063 课）；四级完全隔离，进风、排风都要经过高效过滤，并有专用的废水处理等系统。</a:t>
            </a:r>
          </a:p>
          <a:p>
            <a:r>
              <a:t>各级设施的具体技术要求，以 GB 19489-2008、GB 50346《生物安全实验室建筑技术规范》和 WS 233（均以现行文本为准）以及本校设施说明为准。学生要做的是认识本实验室的设施、知道它们在哪里，不擅自改动。</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二级实验室常见的布局：入口附近放高压灭菌器，废物就近集中灭菌，废物按类别分桶收集；门上挂生物危害标志，可加装门禁（密码、刷卡等），防止无关人员进入；按需要配备洗眼装置和应急喷淋。生物安全柜（以及化学通风柜）放在远离门口、人员走动少的最里面，空气从门口流入，经过操作者，再进入柜子，把可能的污染拉向柜内、远离人员。柜子的排风按设计连接，不能自行拆改。</a:t>
            </a:r>
          </a:p>
          <a:p>
            <a:r>
              <a:t>二级实验室同样有两道屏障：第一道是生物安全柜和个人防护，保护操作者；第二道是门、洗手池、灭菌设施和规范管理，防止污染扩散到实验室外（两道防护的原理见第 062 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良好微生物操作技术是所有级别实验室安全的基础，设施和设备再好，也替代不了规范的操作。建立实验室，第一步是制定行为规范：由实验室管理层会同使用人员一起，把最基本的操作要求一条条写清楚，形成本实验室的操作规程；生物安全员负责指导大家、理顺工作流程。</a:t>
            </a:r>
          </a:p>
          <a:p>
            <a:r>
              <a:t>良好微生物操作包括无菌操作、灭菌和去污样样到位；消毒要选对消毒剂，并等够规定的作用时间（见第 076 课）。实验室还要有应急预案，覆盖设备破损、人员发病、溢洒和火灾等情形（溢洒与暴露处置见第 078 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级、二级实验室是学生最常进入的生物实验室，日常规范人人要守：穿好实验服，按要求戴手套和护目镜，按无菌技术操作，既防样品污染，也防人员感染。实验室内不吃喝、不存放食物、不化妆，戴手套时不摸脸、手机和门把手。严禁用嘴吸移液管，使用移液器等辅助装置；尽量少用锐器，用过的锐器直接放入锐器盒。</a:t>
            </a:r>
          </a:p>
          <a:p>
            <a:r>
              <a:t>操作时动作轻缓，减少溅洒和气溶胶；实验前后和溅洒后对台面消毒。培养物、废液和污染物品灭菌后按规定处置（见第 077 课），实验菌株不得带出实验室、不得排放到外界环境。实验服不穿出实验室；做完实验先摘手套，再用洗手池按步骤洗手，然后离开。二级实验室还要保持门关闭，可能产生气溶胶的操作在安全柜内进行。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微生物涂片和湿片可能含有活菌，观察时按相应级别穿戴防护；用过的玻片放进消毒缸消毒，或放进锐器盒；显微镜载物台被污染时及时消毒。</a:t>
            </a:r>
          </a:p>
          <a:p>
            <a:r>
              <a:t>从土壤、水等环境中分离出的菌，可能混有致病菌，鉴定前一律按未知菌对待：先做风险评估，再确定防护级别，一般在二级实验室的生物安全柜内操作；分离株标清来源和日期，鉴定结果出来之前不降级（未知样本从严定级见第 060 课）。</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一级的培训都看三件事：学什么重点、谁来学、怎么练。一级的对象是学生、实习人员和初学者，重点是实验室一般安全、基础微生物操作、手卫生和台面消毒；练习穿戴防护用品、处理化学品和生物材料的小量溅洒，以及识别生物危害标志。</a:t>
            </a:r>
          </a:p>
          <a:p>
            <a:r>
              <a:t>二级的对象是检验人员、科研人员和教学实验室人员，做二级课题的学生同样要学；重点是标准操作规程、病原材料的安全操作、预防锐器伤、正确使用生物安全柜，以及发生事件后及时报告；练习血液等样本的暴露防护、安全柜的使用和去污，以及暴露后的应急演练。</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三级的对象是有经验的专业人员，重点是更深入的生物安全原则、可经空气传播病原的封闭控制、呼吸防护（要做适合性检验，见第 025 课）、进出程序和应急程序；练习包括定期复训、熟悉设施布局、呼吸防护装备的使用和维护，以及溢洒和感染事件的模拟演练。学生未经批准，不得进入三级实验室。</a:t>
            </a:r>
          </a:p>
          <a:p>
            <a:r>
              <a:t>四级的对象是专门的病原研究和公共卫生团队，要接受长期的强化训练，重点是正压防护服的使用、全封闭操作程序和严格的去污方案，必要时评估身心状况，坚持两人同行；练习全流程模拟、进出缓冲间和化学淋浴、通讯规程和紧急撤离预案。具体要求以国家规定和所在机构的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实验室人员的必备培训有六类：第一，生物安全操作——规范操作，在防护设施里做实验，学会废物的灭活和处置；第二，生物安保意识——防止未经授权的人员接触病原材料（见第 083 课）；第三，个人防护装备——按风险评估选对防护用品，按顺序穿戴，检查是否完好，脱卸时把外面当污染面，不碰到皮肤（见第 075 课）；第四，应急程序——溢洒怎么处理，什么情况要撤离，被扎伤、溅到后第一时间怎么做（见第 078 课）；第五，设备使用——安全柜怎么开、怎么用、怎么判断是否正常，高压灭菌器怎么装载、怎么防烫伤（见第 123 课）。</a:t>
            </a:r>
          </a:p>
          <a:p>
            <a:r>
              <a:t>第六，事件报告——知道向谁报告：实验室负责人、学院和学校实验室管理部门（需要时保卫处）；事故和暴露发生后立即报告，如实记录，配合后续医学评估和随访。</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每一级的培训都要留下记录，本人签字，考核合格才能准入；还要定期复训，复训周期按本校规定，操作内容、设备或规程变化时及时补训。</a:t>
            </a:r>
          </a:p>
          <a:p>
            <a:r>
              <a:t>二级及以上的培训必须动手实练，光看书、光听课不算学会。三级、四级先由有经验的人员带教跟岗，确认能独立胜任后，才给予完全准入。</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防护装备或安全设备缺失、损坏（如手套破损、护目镜缺少、安全柜报警或气流异常），先停下相关操作，不凑合、不将就；按规定处理已在进行的操作和材料，报告实验室负责人，申领防护用品或报修设备。</a:t>
            </a:r>
          </a:p>
          <a:p>
            <a:r>
              <a:t>维修后经确认恢复正常（需要检测的设备经检测合格），再恢复工作；不得擅自拆修安全柜等设备。</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答案：B。解析：二级在一级基础上加面部防护，必须穿闭趾鞋；具体按风险评估。</a:t>
            </a:r>
          </a:p>
          <a:p>
            <a:r>
              <a:t>第 2 题 答案：A。解析：二级的工程控制要求可能产生气溶胶的操作进生物安全柜。</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答案：C。解析：不饮食、不口吸、不外带实验菌，台面消毒、摘手套洗手后离开。</a:t>
            </a:r>
          </a:p>
          <a:p>
            <a:r>
              <a:t>第 4 题 答案：B。解析：环境分离菌鉴定前按未知菌对待，先评估，一般在二级安全柜内操作，鉴定前不降级。</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答案：C。解析：装备缺了坏了不开工，报告、申领或报修，确认正常再恢复。</a:t>
            </a:r>
          </a:p>
          <a:p>
            <a:r>
              <a:t>第 6 题 答案：生物安全操作、生物安保意识、个人防护装备、应急程序、设备使用、事件报告；立即报告实验室负责人、学院和学校实验室管理部门，如实记录，配合医学评估和随访。解析：培训要记录、签字、考核合格才准入，并定期复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061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各级实验室的防护要求</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第6章 生物安全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7 分钟（卡通视频 84 镜）　适用对象：进入生命科学、医学、农学、环境等涉及生物材料实验室的高校本科生、研究生和教职工（必修）；实验室负责人和生物安全员重点学习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能说出各级生物安全实验室在准入、个人防护、安全设备和设施四方面的递进差异，知道各级要求是一整套、缺一项就不达标。</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能做到一级、二级实验室的日常规范：不饮食、不口吸移液、减少气溶胶、台面消毒、废物灭菌、摘手套洗手后离开；涂片和环境分离菌按要求防护。</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能说出各级人员培训的重点和人人必备的六类培训，知道培训要记录、要动手实练、三四级要带教。</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能判断防护装备缺失或损坏时应停止相关操作、报告负责人、修复确认后再开工。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《中华人民共和国生物安全法》（以现行文本为准）：病原微生物实验室分级管理，从业人员培训</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《病原微生物实验室生物安全管理条例》（以现行文本为准）：实验室按防护水平分为一级至四级；实验室人员须经培训考核合格；高致病性病原微生物实验活动须经批准</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19489-2008（以现行文本为准）《实验室 生物安全通用要求》：各级实验室的设施设备要求、个人防护、人员培训和管理要求</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WS 233（以现行文本为准）《病原微生物实验室生物安全通用准则》：各级病原微生物实验室的设施、设备和操作要求</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《人间传染的病原微生物目录》（国家卫生健康委发布，以现行版本为准）：各病原不同实验活动所需的实验室级别</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号，以现行文本为准）：安全教育培训与准入，实验室安全管理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本校生物安全管理制度：准入培训、复训周期、带教授权和报告程序，以本校规定为准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防护要求是一整套：缺一项就不达标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每一级措施分三栏：穿什么、用什么设备、房子怎么建</a:t>
            </a:r>
          </a:p>
          <a:p>
            <a:pPr>
              <a:spcAft>
                <a:spcPts val="1000"/>
              </a:spcAft>
            </a:pPr>
            <a:r>
              <a:rPr sz="2000">
                <a:solidFill>
                  <a:srgbClr val="222B33"/>
                </a:solidFill>
                <a:latin typeface="Microsoft YaHei"/>
              </a:rPr>
              <a:t>▪ 级别越高，对应的病原风险越大</a:t>
            </a:r>
          </a:p>
          <a:p>
            <a:pPr>
              <a:spcAft>
                <a:spcPts val="1000"/>
              </a:spcAft>
            </a:pPr>
            <a:r>
              <a:rPr sz="2000">
                <a:solidFill>
                  <a:srgbClr val="222B33"/>
                </a:solidFill>
                <a:latin typeface="Microsoft YaHei"/>
              </a:rPr>
              <a:t>▪ 具体病原放几级，查国家目录</a:t>
            </a:r>
          </a:p>
          <a:p>
            <a:pPr>
              <a:spcAft>
                <a:spcPts val="1000"/>
              </a:spcAft>
            </a:pPr>
            <a:r>
              <a:rPr sz="2000">
                <a:solidFill>
                  <a:srgbClr val="222B33"/>
                </a:solidFill>
                <a:latin typeface="Microsoft YaHei"/>
              </a:rPr>
              <a:t>▪ 设施、设备、操作、人员，缺一项不达标</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比较各级生物安全实验室，可以列一张对比表：先看病原风险——一级操作通常不使健康成人致病的微生物，二级操作能致病但一般可防可治的病原，三级对应可经空气传播、后果严重的病原，四级对应危及生命且缺乏有效防治手段的病原（分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买了生物安全柜，就以为实验室达到了二级</a:t>
            </a:r>
          </a:p>
          <a:p>
            <a:pPr>
              <a:spcAft>
                <a:spcPts val="1000"/>
              </a:spcAft>
            </a:pPr>
            <a:r>
              <a:rPr sz="1500">
                <a:solidFill>
                  <a:srgbClr val="222B33"/>
                </a:solidFill>
                <a:latin typeface="Microsoft YaHei"/>
              </a:rPr>
              <a:t>▪ 只看房间级别，不管操作和人员是否到位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谁能进门：准入逐级收紧</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一级：经过培训的人可进</a:t>
            </a:r>
          </a:p>
          <a:p>
            <a:pPr>
              <a:spcAft>
                <a:spcPts val="1000"/>
              </a:spcAft>
            </a:pPr>
            <a:r>
              <a:rPr sz="2000">
                <a:solidFill>
                  <a:srgbClr val="222B33"/>
                </a:solidFill>
                <a:latin typeface="Microsoft YaHei"/>
              </a:rPr>
              <a:t>▪ 二级：限制进入，门上挂标识</a:t>
            </a:r>
          </a:p>
          <a:p>
            <a:pPr>
              <a:spcAft>
                <a:spcPts val="1000"/>
              </a:spcAft>
            </a:pPr>
            <a:r>
              <a:rPr sz="2000">
                <a:solidFill>
                  <a:srgbClr val="222B33"/>
                </a:solidFill>
                <a:latin typeface="Microsoft YaHei"/>
              </a:rPr>
              <a:t>▪ 三级须专门培训和批准，四级严格控制</a:t>
            </a:r>
          </a:p>
          <a:p>
            <a:pPr>
              <a:spcAft>
                <a:spcPts val="1000"/>
              </a:spcAft>
            </a:pPr>
            <a:r>
              <a:rPr sz="2000">
                <a:solidFill>
                  <a:srgbClr val="222B33"/>
                </a:solidFill>
                <a:latin typeface="Microsoft YaHei"/>
              </a:rPr>
              <a:t>▪ 进门先看标识，培训考核合格才能操作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准入随级别逐级收紧：一级实验室，经过基本培训的人员可以进入；二级实验室限制进入，无关人员不得入内；三级实验室受控进入，人员须经专门培训、批准和授权；四级实验室严格控制进入，并有高度的安保措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跟着有门禁卡的同学“蹭”进二级实验室</a:t>
            </a:r>
          </a:p>
          <a:p>
            <a:pPr>
              <a:spcAft>
                <a:spcPts val="1000"/>
              </a:spcAft>
            </a:pPr>
            <a:r>
              <a:rPr sz="1500">
                <a:solidFill>
                  <a:srgbClr val="222B33"/>
                </a:solidFill>
                <a:latin typeface="Microsoft YaHei"/>
              </a:rPr>
              <a:t>▪ 不看门口标识就进门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个人防护逐级加码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一级：实验服为主，需要时戴手套和护目镜</a:t>
            </a:r>
          </a:p>
          <a:p>
            <a:pPr>
              <a:spcAft>
                <a:spcPts val="1000"/>
              </a:spcAft>
            </a:pPr>
            <a:r>
              <a:rPr sz="1700">
                <a:solidFill>
                  <a:srgbClr val="222B33"/>
                </a:solidFill>
                <a:latin typeface="Microsoft YaHei"/>
              </a:rPr>
              <a:t>▪ 二级：加护目镜或面屏，必须穿闭趾鞋</a:t>
            </a:r>
          </a:p>
          <a:p>
            <a:pPr>
              <a:spcAft>
                <a:spcPts val="1000"/>
              </a:spcAft>
            </a:pPr>
            <a:r>
              <a:rPr sz="1700">
                <a:solidFill>
                  <a:srgbClr val="222B33"/>
                </a:solidFill>
                <a:latin typeface="Microsoft YaHei"/>
              </a:rPr>
              <a:t>▪ 三级：前襟封闭的防护服，加呼吸防护</a:t>
            </a:r>
          </a:p>
          <a:p>
            <a:pPr>
              <a:spcAft>
                <a:spcPts val="1000"/>
              </a:spcAft>
            </a:pPr>
            <a:r>
              <a:rPr sz="1700">
                <a:solidFill>
                  <a:srgbClr val="222B33"/>
                </a:solidFill>
                <a:latin typeface="Microsoft YaHei"/>
              </a:rPr>
              <a:t>▪ 四级：正压供气防护服，多层手套</a:t>
            </a:r>
          </a:p>
          <a:p>
            <a:pPr>
              <a:spcAft>
                <a:spcPts val="1000"/>
              </a:spcAft>
            </a:pPr>
            <a:r>
              <a:rPr sz="1700">
                <a:solidFill>
                  <a:srgbClr val="222B33"/>
                </a:solidFill>
                <a:latin typeface="Microsoft YaHei"/>
              </a:rPr>
              <a:t>▪ 具体穿什么由风险评估决定，有气流也要穿</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个人防护随级别逐级加码：一级以实验服为主，需要时戴手套和护目镜；二级在实验服、手套之外，加戴护目镜或面屏等面部防护，必须穿不露脚趾的鞋；三级穿前襟封闭的防护服，戴手套和眼面部防护，并按要求加戴呼吸防护（呼吸防护与适合……</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进二级实验室穿凉鞋、拖鞋</a:t>
            </a:r>
          </a:p>
          <a:p>
            <a:pPr>
              <a:spcAft>
                <a:spcPts val="1000"/>
              </a:spcAft>
            </a:pPr>
            <a:r>
              <a:rPr sz="1500">
                <a:solidFill>
                  <a:srgbClr val="222B33"/>
                </a:solidFill>
                <a:latin typeface="Microsoft YaHei"/>
              </a:rPr>
              <a:t>▪ 认为房间有负压就可以不戴呼吸防护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安全设备与气溶胶控制逐级加严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一级：洗手池和基本消毒用品</a:t>
            </a:r>
          </a:p>
          <a:p>
            <a:pPr>
              <a:spcAft>
                <a:spcPts val="1000"/>
              </a:spcAft>
            </a:pPr>
            <a:r>
              <a:rPr sz="2000">
                <a:solidFill>
                  <a:srgbClr val="222B33"/>
                </a:solidFill>
                <a:latin typeface="Microsoft YaHei"/>
              </a:rPr>
              <a:t>▪ 二级：可能产生气溶胶的操作进生物安全柜</a:t>
            </a:r>
          </a:p>
          <a:p>
            <a:pPr>
              <a:spcAft>
                <a:spcPts val="1000"/>
              </a:spcAft>
            </a:pPr>
            <a:r>
              <a:rPr sz="2000">
                <a:solidFill>
                  <a:srgbClr val="222B33"/>
                </a:solidFill>
                <a:latin typeface="Microsoft YaHei"/>
              </a:rPr>
              <a:t>▪ 三级：必须用安全柜，离心用密封离心杯</a:t>
            </a:r>
          </a:p>
          <a:p>
            <a:pPr>
              <a:spcAft>
                <a:spcPts val="1000"/>
              </a:spcAft>
            </a:pPr>
            <a:r>
              <a:rPr sz="2000">
                <a:solidFill>
                  <a:srgbClr val="222B33"/>
                </a:solidFill>
                <a:latin typeface="Microsoft YaHei"/>
              </a:rPr>
              <a:t>▪ 四级：全密闭安全柜，或正压服配安全柜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安全设备（工程控制）随级别加严：一级有洗手设施和基本的消毒用品；二级配备生物安全柜（通常为Ⅱ级），吸液、混匀、振荡、研磨等可能产生气溶胶或溅洒的操作要放进柜里做；三级所有涉及感染性材料的操作都必须在生物安全柜或其他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在二级实验室开放台面上振荡、研磨感染性材料</a:t>
            </a:r>
          </a:p>
          <a:p>
            <a:pPr>
              <a:spcAft>
                <a:spcPts val="1000"/>
              </a:spcAft>
            </a:pPr>
            <a:r>
              <a:rPr sz="1500">
                <a:solidFill>
                  <a:srgbClr val="222B33"/>
                </a:solidFill>
                <a:latin typeface="Microsoft YaHei"/>
              </a:rPr>
              <a:t>▪ 离心感染性材料不用密封离心杯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实验室设施逐级递进</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一级：普通开放实验室，有洗手池</a:t>
            </a:r>
          </a:p>
          <a:p>
            <a:pPr>
              <a:spcAft>
                <a:spcPts val="1000"/>
              </a:spcAft>
            </a:pPr>
            <a:r>
              <a:rPr sz="2000">
                <a:solidFill>
                  <a:srgbClr val="222B33"/>
                </a:solidFill>
                <a:latin typeface="Microsoft YaHei"/>
              </a:rPr>
              <a:t>▪ 二级：自闭门、洗手池、洗眼装置、灭菌器</a:t>
            </a:r>
          </a:p>
          <a:p>
            <a:pPr>
              <a:spcAft>
                <a:spcPts val="1000"/>
              </a:spcAft>
            </a:pPr>
            <a:r>
              <a:rPr sz="2000">
                <a:solidFill>
                  <a:srgbClr val="222B33"/>
                </a:solidFill>
                <a:latin typeface="Microsoft YaHei"/>
              </a:rPr>
              <a:t>▪ 三级：房间负压，排风经高效过滤</a:t>
            </a:r>
          </a:p>
          <a:p>
            <a:pPr>
              <a:spcAft>
                <a:spcPts val="1000"/>
              </a:spcAft>
            </a:pPr>
            <a:r>
              <a:rPr sz="2000">
                <a:solidFill>
                  <a:srgbClr val="222B33"/>
                </a:solidFill>
                <a:latin typeface="Microsoft YaHei"/>
              </a:rPr>
              <a:t>▪ 四级：完全隔离，进风排风都要过滤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设施随级别递进：一级是普通的开放实验室，设洗手池（宜靠近出口）；二级在此基础上，门能自动关闭并有进入控制，设洗手池和洗眼装置，实验室内或所在建筑内有高压蒸汽灭菌器或其他适当的消毒灭菌设备；三级与其他区域隔离，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不知道本实验室的洗眼装置和灭菌器在哪里</a:t>
            </a:r>
          </a:p>
          <a:p>
            <a:pPr>
              <a:spcAft>
                <a:spcPts val="1000"/>
              </a:spcAft>
            </a:pPr>
            <a:r>
              <a:rPr sz="1500">
                <a:solidFill>
                  <a:srgbClr val="222B33"/>
                </a:solidFill>
                <a:latin typeface="Microsoft YaHei"/>
              </a:rPr>
              <a:t>▪ 用东西顶住二级实验室的自闭门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二级实验室的布局与两道屏障</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入口附近有灭菌器，门上有生物危害标志</a:t>
            </a:r>
          </a:p>
          <a:p>
            <a:pPr>
              <a:spcAft>
                <a:spcPts val="1000"/>
              </a:spcAft>
            </a:pPr>
            <a:r>
              <a:rPr sz="1700">
                <a:solidFill>
                  <a:srgbClr val="222B33"/>
                </a:solidFill>
                <a:latin typeface="Microsoft YaHei"/>
              </a:rPr>
              <a:t>▪ 门可装门禁，防止无关人员进入</a:t>
            </a:r>
          </a:p>
          <a:p>
            <a:pPr>
              <a:spcAft>
                <a:spcPts val="1000"/>
              </a:spcAft>
            </a:pPr>
            <a:r>
              <a:rPr sz="1700">
                <a:solidFill>
                  <a:srgbClr val="222B33"/>
                </a:solidFill>
                <a:latin typeface="Microsoft YaHei"/>
              </a:rPr>
              <a:t>▪ 安全柜放最里面，气流从门口流向柜子</a:t>
            </a:r>
          </a:p>
          <a:p>
            <a:pPr>
              <a:spcAft>
                <a:spcPts val="1000"/>
              </a:spcAft>
            </a:pPr>
            <a:r>
              <a:rPr sz="1700">
                <a:solidFill>
                  <a:srgbClr val="222B33"/>
                </a:solidFill>
                <a:latin typeface="Microsoft YaHei"/>
              </a:rPr>
              <a:t>▪ 柜子按设计接好排风，不能随意改动</a:t>
            </a:r>
          </a:p>
          <a:p>
            <a:pPr>
              <a:spcAft>
                <a:spcPts val="1000"/>
              </a:spcAft>
            </a:pPr>
            <a:r>
              <a:rPr sz="1700">
                <a:solidFill>
                  <a:srgbClr val="222B33"/>
                </a:solidFill>
                <a:latin typeface="Microsoft YaHei"/>
              </a:rPr>
              <a:t>▪ 第一道：柜和防护；第二道：设施和管理</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二级实验室常见的布局：入口附近放高压灭菌器，废物就近集中灭菌，废物按类别分桶收集；门上挂生物危害标志，可加装门禁（密码、刷卡等），防止无关人员进入；按需要配备洗眼装置和应急喷淋。生物安全柜（以及化学通风柜）放在远离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把生物安全柜放在门口或人来人往的通道旁</a:t>
            </a:r>
          </a:p>
          <a:p>
            <a:pPr>
              <a:spcAft>
                <a:spcPts val="1000"/>
              </a:spcAft>
            </a:pPr>
            <a:r>
              <a:rPr sz="1500">
                <a:solidFill>
                  <a:srgbClr val="222B33"/>
                </a:solidFill>
                <a:latin typeface="Microsoft YaHei"/>
              </a:rPr>
              <a:t>▪ 自行改动安全柜的排风连接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良好微生物操作是基本功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良好微生物操作是各级安全的基本功</a:t>
            </a:r>
          </a:p>
          <a:p>
            <a:pPr>
              <a:spcAft>
                <a:spcPts val="1000"/>
              </a:spcAft>
            </a:pPr>
            <a:r>
              <a:rPr sz="1700">
                <a:solidFill>
                  <a:srgbClr val="222B33"/>
                </a:solidFill>
                <a:latin typeface="Microsoft YaHei"/>
              </a:rPr>
              <a:t>▪ 先定行为规范，把基本操作一条条写清</a:t>
            </a:r>
          </a:p>
          <a:p>
            <a:pPr>
              <a:spcAft>
                <a:spcPts val="1000"/>
              </a:spcAft>
            </a:pPr>
            <a:r>
              <a:rPr sz="1700">
                <a:solidFill>
                  <a:srgbClr val="222B33"/>
                </a:solidFill>
                <a:latin typeface="Microsoft YaHei"/>
              </a:rPr>
              <a:t>▪ 无菌操作、灭菌、去污，样样到位</a:t>
            </a:r>
          </a:p>
          <a:p>
            <a:pPr>
              <a:spcAft>
                <a:spcPts val="1000"/>
              </a:spcAft>
            </a:pPr>
            <a:r>
              <a:rPr sz="1700">
                <a:solidFill>
                  <a:srgbClr val="222B33"/>
                </a:solidFill>
                <a:latin typeface="Microsoft YaHei"/>
              </a:rPr>
              <a:t>▪ 消毒剂要用对，作用时间要等够</a:t>
            </a:r>
          </a:p>
          <a:p>
            <a:pPr>
              <a:spcAft>
                <a:spcPts val="1000"/>
              </a:spcAft>
            </a:pPr>
            <a:r>
              <a:rPr sz="1700">
                <a:solidFill>
                  <a:srgbClr val="222B33"/>
                </a:solidFill>
                <a:latin typeface="Microsoft YaHei"/>
              </a:rPr>
              <a:t>▪ 要有应急预案：破损、发病、溢洒、火</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良好微生物操作技术是所有级别实验室安全的基础，设施和设备再好，也替代不了规范的操作。建立实验室，第一步是制定行为规范：由实验室管理层会同使用人员一起，把最基本的操作要求一条条写清楚，形成本实验室的操作规程；生物安全员……</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消毒剂喷上马上擦掉，不等作用时间</a:t>
            </a:r>
          </a:p>
          <a:p>
            <a:pPr>
              <a:spcAft>
                <a:spcPts val="1000"/>
              </a:spcAft>
            </a:pPr>
            <a:r>
              <a:rPr sz="1500">
                <a:solidFill>
                  <a:srgbClr val="222B33"/>
                </a:solidFill>
                <a:latin typeface="Microsoft YaHei"/>
              </a:rPr>
              <a:t>▪ 认为有了安全柜，操作可以随意</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一级、二级实验室的日常规范</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不饮食、不化妆，不用手摸脸和手机</a:t>
            </a:r>
          </a:p>
          <a:p>
            <a:pPr>
              <a:spcAft>
                <a:spcPts val="1000"/>
              </a:spcAft>
            </a:pPr>
            <a:r>
              <a:rPr sz="1700">
                <a:solidFill>
                  <a:srgbClr val="222B33"/>
                </a:solidFill>
                <a:latin typeface="Microsoft YaHei"/>
              </a:rPr>
              <a:t>▪ 严禁口吸移液，用移液器</a:t>
            </a:r>
          </a:p>
          <a:p>
            <a:pPr>
              <a:spcAft>
                <a:spcPts val="1000"/>
              </a:spcAft>
            </a:pPr>
            <a:r>
              <a:rPr sz="1700">
                <a:solidFill>
                  <a:srgbClr val="222B33"/>
                </a:solidFill>
                <a:latin typeface="Microsoft YaHei"/>
              </a:rPr>
              <a:t>▪ 动作轻缓，减少溅洒和气溶胶</a:t>
            </a:r>
          </a:p>
          <a:p>
            <a:pPr>
              <a:spcAft>
                <a:spcPts val="1000"/>
              </a:spcAft>
            </a:pPr>
            <a:r>
              <a:rPr sz="1700">
                <a:solidFill>
                  <a:srgbClr val="222B33"/>
                </a:solidFill>
                <a:latin typeface="Microsoft YaHei"/>
              </a:rPr>
              <a:t>▪ 实验前后台面消毒，废物灭菌，实验菌不外带</a:t>
            </a:r>
          </a:p>
          <a:p>
            <a:pPr>
              <a:spcAft>
                <a:spcPts val="1000"/>
              </a:spcAft>
            </a:pPr>
            <a:r>
              <a:rPr sz="1700">
                <a:solidFill>
                  <a:srgbClr val="222B33"/>
                </a:solidFill>
                <a:latin typeface="Microsoft YaHei"/>
              </a:rPr>
              <a:t>▪ 做完实验摘手套、洗手再离开</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一级、二级实验室是学生最常进入的生物实验室，日常规范人人要守：穿好实验服，按要求戴手套和护目镜，按无菌技术操作，既防样品污染，也防人员感染。实验室内不吃喝、不存放食物、不化妆，戴手套时不摸脸、手机和门把手。严禁用嘴吸……</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戴着手套接电话、开门</a:t>
            </a:r>
          </a:p>
          <a:p>
            <a:pPr>
              <a:spcAft>
                <a:spcPts val="1000"/>
              </a:spcAft>
            </a:pPr>
            <a:r>
              <a:rPr sz="1500">
                <a:solidFill>
                  <a:srgbClr val="222B33"/>
                </a:solidFill>
                <a:latin typeface="Microsoft YaHei"/>
              </a:rPr>
              <a:t>▪ 把实验菌带回宿舍或倒进下水道</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涂片和环境分离菌也要防</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涂片和湿片可能有活菌，按级别防护观察</a:t>
            </a:r>
          </a:p>
          <a:p>
            <a:pPr>
              <a:spcAft>
                <a:spcPts val="1000"/>
              </a:spcAft>
            </a:pPr>
            <a:r>
              <a:rPr sz="1700">
                <a:solidFill>
                  <a:srgbClr val="222B33"/>
                </a:solidFill>
                <a:latin typeface="Microsoft YaHei"/>
              </a:rPr>
              <a:t>▪ 用过的玻片消毒或放进锐器盒</a:t>
            </a:r>
          </a:p>
          <a:p>
            <a:pPr>
              <a:spcAft>
                <a:spcPts val="1000"/>
              </a:spcAft>
            </a:pPr>
            <a:r>
              <a:rPr sz="1700">
                <a:solidFill>
                  <a:srgbClr val="222B33"/>
                </a:solidFill>
                <a:latin typeface="Microsoft YaHei"/>
              </a:rPr>
              <a:t>▪ 土壤、水中分出的菌，鉴定前先当未知菌</a:t>
            </a:r>
          </a:p>
          <a:p>
            <a:pPr>
              <a:spcAft>
                <a:spcPts val="1000"/>
              </a:spcAft>
            </a:pPr>
            <a:r>
              <a:rPr sz="1700">
                <a:solidFill>
                  <a:srgbClr val="222B33"/>
                </a:solidFill>
                <a:latin typeface="Microsoft YaHei"/>
              </a:rPr>
              <a:t>▪ 先评估，一般在二级安全柜里操作</a:t>
            </a:r>
          </a:p>
          <a:p>
            <a:pPr>
              <a:spcAft>
                <a:spcPts val="1000"/>
              </a:spcAft>
            </a:pPr>
            <a:r>
              <a:rPr sz="1700">
                <a:solidFill>
                  <a:srgbClr val="222B33"/>
                </a:solidFill>
                <a:latin typeface="Microsoft YaHei"/>
              </a:rPr>
              <a:t>▪ 分离株标清来源，鉴定前不降级</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微生物涂片和湿片可能含有活菌，观察时按相应级别穿戴防护；用过的玻片放进消毒缸消毒，或放进锐器盒；显微镜载物台被污染时及时消毒。</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认为涂片“已经固定了”，徒手拿取或随手丢弃</a:t>
            </a:r>
          </a:p>
          <a:p>
            <a:pPr>
              <a:spcAft>
                <a:spcPts val="1000"/>
              </a:spcAft>
            </a:pPr>
            <a:r>
              <a:rPr sz="1500">
                <a:solidFill>
                  <a:srgbClr val="222B33"/>
                </a:solidFill>
                <a:latin typeface="Microsoft YaHei"/>
              </a:rPr>
              <a:t>▪ 环境分离菌没鉴定就在开放台面上大量操作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一级、二级的培训：基本功与规程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培训分级：学什么、谁来学、怎么练</a:t>
            </a:r>
          </a:p>
          <a:p>
            <a:pPr>
              <a:spcAft>
                <a:spcPts val="1000"/>
              </a:spcAft>
            </a:pPr>
            <a:r>
              <a:rPr sz="1700">
                <a:solidFill>
                  <a:srgbClr val="222B33"/>
                </a:solidFill>
                <a:latin typeface="Microsoft YaHei"/>
              </a:rPr>
              <a:t>▪ 一级：学生和初学者，学基本功和手卫生</a:t>
            </a:r>
          </a:p>
          <a:p>
            <a:pPr>
              <a:spcAft>
                <a:spcPts val="1000"/>
              </a:spcAft>
            </a:pPr>
            <a:r>
              <a:rPr sz="1700">
                <a:solidFill>
                  <a:srgbClr val="222B33"/>
                </a:solidFill>
                <a:latin typeface="Microsoft YaHei"/>
              </a:rPr>
              <a:t>▪ 一级练穿戴防护、处理溅洒、认生物危害</a:t>
            </a:r>
          </a:p>
          <a:p>
            <a:pPr>
              <a:spcAft>
                <a:spcPts val="1000"/>
              </a:spcAft>
            </a:pPr>
            <a:r>
              <a:rPr sz="1700">
                <a:solidFill>
                  <a:srgbClr val="222B33"/>
                </a:solidFill>
                <a:latin typeface="Microsoft YaHei"/>
              </a:rPr>
              <a:t>▪ 二级：学规程、防锐器伤、用安全柜、报告</a:t>
            </a:r>
          </a:p>
          <a:p>
            <a:pPr>
              <a:spcAft>
                <a:spcPts val="1000"/>
              </a:spcAft>
            </a:pPr>
            <a:r>
              <a:rPr sz="1700">
                <a:solidFill>
                  <a:srgbClr val="222B33"/>
                </a:solidFill>
                <a:latin typeface="Microsoft YaHei"/>
              </a:rPr>
              <a:t>▪ 二级练样本防护、柜子去污、暴露演练</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每一级的培训都看三件事：学什么重点、谁来学、怎么练。一级的对象是学生、实习人员和初学者，重点是实验室一般安全、基础微生物操作、手卫生和台面消毒；练习穿戴防护用品、处理化学品和生物材料的小量溅洒，以及识别生物危害标志。</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认为只有老师和技术员要培训，学生跟着做就行</a:t>
            </a:r>
          </a:p>
          <a:p>
            <a:pPr>
              <a:spcAft>
                <a:spcPts val="1000"/>
              </a:spcAft>
            </a:pPr>
            <a:r>
              <a:rPr sz="1500">
                <a:solidFill>
                  <a:srgbClr val="222B33"/>
                </a:solidFill>
                <a:latin typeface="Microsoft YaHei"/>
              </a:rPr>
              <a:t>▪ 只学一级的内容就进入二级实验室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三级、四级的培训：专人长期强化</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三级：学空气传播防护、进出和应急程序</a:t>
            </a:r>
          </a:p>
          <a:p>
            <a:pPr>
              <a:spcAft>
                <a:spcPts val="1000"/>
              </a:spcAft>
            </a:pPr>
            <a:r>
              <a:rPr sz="1700">
                <a:solidFill>
                  <a:srgbClr val="222B33"/>
                </a:solidFill>
                <a:latin typeface="Microsoft YaHei"/>
              </a:rPr>
              <a:t>▪ 三级做呼吸防护适合性检验，定期复训演练</a:t>
            </a:r>
          </a:p>
          <a:p>
            <a:pPr>
              <a:spcAft>
                <a:spcPts val="1000"/>
              </a:spcAft>
            </a:pPr>
            <a:r>
              <a:rPr sz="1700">
                <a:solidFill>
                  <a:srgbClr val="222B33"/>
                </a:solidFill>
                <a:latin typeface="Microsoft YaHei"/>
              </a:rPr>
              <a:t>▪ 三级为有经验的专业人员，学生未批准不得进</a:t>
            </a:r>
          </a:p>
          <a:p>
            <a:pPr>
              <a:spcAft>
                <a:spcPts val="1000"/>
              </a:spcAft>
            </a:pPr>
            <a:r>
              <a:rPr sz="1700">
                <a:solidFill>
                  <a:srgbClr val="222B33"/>
                </a:solidFill>
                <a:latin typeface="Microsoft YaHei"/>
              </a:rPr>
              <a:t>▪ 四级：专门团队长期强化训练，两人同行</a:t>
            </a:r>
          </a:p>
          <a:p>
            <a:pPr>
              <a:spcAft>
                <a:spcPts val="1000"/>
              </a:spcAft>
            </a:pPr>
            <a:r>
              <a:rPr sz="1700">
                <a:solidFill>
                  <a:srgbClr val="222B33"/>
                </a:solidFill>
                <a:latin typeface="Microsoft YaHei"/>
              </a:rPr>
              <a:t>▪ 四级练全流程：进出、淋浴、通讯、撤离</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三级的对象是有经验的专业人员，重点是更深入的生物安全原则、可经空气传播病原的封闭控制、呼吸防护（要做适合性检验，见第 025 课）、进出程序和应急程序；练习包括定期复训、熟悉设施布局、呼吸防护装备的使用和维护，以及溢……</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认为看过录像就可以进三级实验室</a:t>
            </a:r>
          </a:p>
          <a:p>
            <a:pPr>
              <a:spcAft>
                <a:spcPts val="1000"/>
              </a:spcAft>
            </a:pPr>
            <a:r>
              <a:rPr sz="1500">
                <a:solidFill>
                  <a:srgbClr val="222B33"/>
                </a:solidFill>
                <a:latin typeface="Microsoft YaHei"/>
              </a:rPr>
              <a:t>▪ 认为呼吸防护随便戴上就有效，不做适合性检验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人人必备的六类培训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生物安全操作：规范操作、防护设施、废物灭活</a:t>
            </a:r>
          </a:p>
          <a:p>
            <a:pPr>
              <a:spcAft>
                <a:spcPts val="1000"/>
              </a:spcAft>
            </a:pPr>
            <a:r>
              <a:rPr sz="1700">
                <a:solidFill>
                  <a:srgbClr val="222B33"/>
                </a:solidFill>
                <a:latin typeface="Microsoft YaHei"/>
              </a:rPr>
              <a:t>▪ 生物安保意识：防止无关人员接触材料</a:t>
            </a:r>
          </a:p>
          <a:p>
            <a:pPr>
              <a:spcAft>
                <a:spcPts val="1000"/>
              </a:spcAft>
            </a:pPr>
            <a:r>
              <a:rPr sz="1700">
                <a:solidFill>
                  <a:srgbClr val="222B33"/>
                </a:solidFill>
                <a:latin typeface="Microsoft YaHei"/>
              </a:rPr>
              <a:t>▪ 防护装备：会选、会穿、会脱</a:t>
            </a:r>
          </a:p>
          <a:p>
            <a:pPr>
              <a:spcAft>
                <a:spcPts val="1000"/>
              </a:spcAft>
            </a:pPr>
            <a:r>
              <a:rPr sz="1700">
                <a:solidFill>
                  <a:srgbClr val="222B33"/>
                </a:solidFill>
                <a:latin typeface="Microsoft YaHei"/>
              </a:rPr>
              <a:t>▪ 应急程序与设备使用：溢洒、撤离、安全柜、灭菌器</a:t>
            </a:r>
          </a:p>
          <a:p>
            <a:pPr>
              <a:spcAft>
                <a:spcPts val="1000"/>
              </a:spcAft>
            </a:pPr>
            <a:r>
              <a:rPr sz="1700">
                <a:solidFill>
                  <a:srgbClr val="222B33"/>
                </a:solidFill>
                <a:latin typeface="Microsoft YaHei"/>
              </a:rPr>
              <a:t>▪ 事件报告：立即报负责人、学院、学校</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实验室人员的必备培训有六类：第一，生物安全操作——规范操作，在防护设施里做实验，学会废物的灭活和处置；第二，生物安保意识——防止未经授权的人员接触病原材料（见第 083 课）；第三，个人防护装备——按风险评估选对防护……</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被扎伤后觉得“没事”，不报告</a:t>
            </a:r>
          </a:p>
          <a:p>
            <a:pPr>
              <a:spcAft>
                <a:spcPts val="1000"/>
              </a:spcAft>
            </a:pPr>
            <a:r>
              <a:rPr sz="1500">
                <a:solidFill>
                  <a:srgbClr val="222B33"/>
                </a:solidFill>
                <a:latin typeface="Microsoft YaHei"/>
              </a:rPr>
              <a:t>▪ 只学操作，不学应急和报告</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培训要记录、要动手、要带教</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培训留记录，本人签字，考核合格才准入</a:t>
            </a:r>
          </a:p>
          <a:p>
            <a:pPr>
              <a:spcAft>
                <a:spcPts val="1000"/>
              </a:spcAft>
            </a:pPr>
            <a:r>
              <a:rPr sz="2000">
                <a:solidFill>
                  <a:srgbClr val="222B33"/>
                </a:solidFill>
                <a:latin typeface="Microsoft YaHei"/>
              </a:rPr>
              <a:t>▪ 定期复训，周期按本校规定</a:t>
            </a:r>
          </a:p>
          <a:p>
            <a:pPr>
              <a:spcAft>
                <a:spcPts val="1000"/>
              </a:spcAft>
            </a:pPr>
            <a:r>
              <a:rPr sz="2000">
                <a:solidFill>
                  <a:srgbClr val="222B33"/>
                </a:solidFill>
                <a:latin typeface="Microsoft YaHei"/>
              </a:rPr>
              <a:t>▪ 二级及以上必须动手实练</a:t>
            </a:r>
          </a:p>
          <a:p>
            <a:pPr>
              <a:spcAft>
                <a:spcPts val="1000"/>
              </a:spcAft>
            </a:pPr>
            <a:r>
              <a:rPr sz="2000">
                <a:solidFill>
                  <a:srgbClr val="222B33"/>
                </a:solidFill>
                <a:latin typeface="Microsoft YaHei"/>
              </a:rPr>
              <a:t>▪ 三四级先带教跟岗，能胜任才完全准入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每一级的培训都要留下记录，本人签字，考核合格才能准入；还要定期复训，复训周期按本校规定，操作内容、设备或规程变化时及时补训。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培训签到由别人代签</a:t>
            </a:r>
          </a:p>
          <a:p>
            <a:pPr>
              <a:spcAft>
                <a:spcPts val="1000"/>
              </a:spcAft>
            </a:pPr>
            <a:r>
              <a:rPr sz="1500">
                <a:solidFill>
                  <a:srgbClr val="222B33"/>
                </a:solidFill>
                <a:latin typeface="Microsoft YaHei"/>
              </a:rPr>
              <a:t>▪ 培训过一次就再也不复训</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装备缺了坏了，不开工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装备缺了、坏了，先停下相关操作，不凑合</a:t>
            </a:r>
          </a:p>
          <a:p>
            <a:pPr>
              <a:spcAft>
                <a:spcPts val="1000"/>
              </a:spcAft>
            </a:pPr>
            <a:r>
              <a:rPr sz="2000">
                <a:solidFill>
                  <a:srgbClr val="222B33"/>
                </a:solidFill>
                <a:latin typeface="Microsoft YaHei"/>
              </a:rPr>
              <a:t>▪ 报告负责人，申领或报修</a:t>
            </a:r>
          </a:p>
          <a:p>
            <a:pPr>
              <a:spcAft>
                <a:spcPts val="1000"/>
              </a:spcAft>
            </a:pPr>
            <a:r>
              <a:rPr sz="2000">
                <a:solidFill>
                  <a:srgbClr val="222B33"/>
                </a:solidFill>
                <a:latin typeface="Microsoft YaHei"/>
              </a:rPr>
              <a:t>▪ 确认恢复正常，再开工</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防护装备或安全设备缺失、损坏（如手套破损、护目镜缺少、安全柜报警或气流异常），先停下相关操作，不凑合、不将就；按规定处理已在进行的操作和材料，报告实验室负责人，申领防护用品或报修设备。</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手套破了继续做完再说</a:t>
            </a:r>
          </a:p>
          <a:p>
            <a:pPr>
              <a:spcAft>
                <a:spcPts val="1000"/>
              </a:spcAft>
            </a:pPr>
            <a:r>
              <a:rPr sz="1500">
                <a:solidFill>
                  <a:srgbClr val="222B33"/>
                </a:solidFill>
                <a:latin typeface="Microsoft YaHei"/>
              </a:rPr>
              <a:t>▪ 安全柜报警时关掉报警继续操作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关于二级实验室的个人防护，正确的是：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只穿实验服即可</a:t>
            </a:r>
          </a:p>
          <a:p>
            <a:pPr algn="l"/>
            <a:r>
              <a:rPr sz="1500" b="0">
                <a:solidFill>
                  <a:srgbClr val="222B33"/>
                </a:solidFill>
                <a:latin typeface="Microsoft YaHei"/>
              </a:rPr>
              <a:t>B. 实验服、手套，加护目镜或面屏，必须穿闭趾鞋</a:t>
            </a:r>
          </a:p>
          <a:p>
            <a:pPr algn="l"/>
            <a:r>
              <a:rPr sz="1500" b="0">
                <a:solidFill>
                  <a:srgbClr val="222B33"/>
                </a:solidFill>
                <a:latin typeface="Microsoft YaHei"/>
              </a:rPr>
              <a:t>C. 必须穿正压防护服</a:t>
            </a:r>
          </a:p>
          <a:p>
            <a:pPr algn="l"/>
            <a:r>
              <a:rPr sz="1500" b="0">
                <a:solidFill>
                  <a:srgbClr val="222B33"/>
                </a:solidFill>
                <a:latin typeface="Microsoft YaHei"/>
              </a:rPr>
              <a:t>D. 有安全柜就不用戴手套</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判断：二级实验室里，吸液、混匀等可能产生气溶胶的操作应在生物安全柜内进行。</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下列做法符合一级、二级实验室日常规范的是：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戴手套接电话</a:t>
            </a:r>
          </a:p>
          <a:p>
            <a:pPr algn="l"/>
            <a:r>
              <a:rPr sz="1500" b="0">
                <a:solidFill>
                  <a:srgbClr val="222B33"/>
                </a:solidFill>
                <a:latin typeface="Microsoft YaHei"/>
              </a:rPr>
              <a:t>B. 用嘴吸移液管</a:t>
            </a:r>
          </a:p>
          <a:p>
            <a:pPr algn="l"/>
            <a:r>
              <a:rPr sz="1500" b="0">
                <a:solidFill>
                  <a:srgbClr val="222B33"/>
                </a:solidFill>
                <a:latin typeface="Microsoft YaHei"/>
              </a:rPr>
              <a:t>C. 实验前后台面消毒，做完实验摘手套、洗手再离开</a:t>
            </a:r>
          </a:p>
          <a:p>
            <a:pPr algn="l"/>
            <a:r>
              <a:rPr sz="1500" b="0">
                <a:solidFill>
                  <a:srgbClr val="222B33"/>
                </a:solidFill>
                <a:latin typeface="Microsoft YaHei"/>
              </a:rPr>
              <a:t>D. 把实验菌带回宿舍继续观察</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判断：从土壤中分离出的菌，鉴定前可以按无害菌在开放台面上操作。</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061 · 各级实验室的防护要求</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061 各级实验室的防护要求</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阿杰发现安全柜报警、手套也破了，应该：</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关掉报警继续做</a:t>
            </a:r>
          </a:p>
          <a:p>
            <a:pPr algn="l"/>
            <a:r>
              <a:rPr sz="1500" b="0">
                <a:solidFill>
                  <a:srgbClr val="222B33"/>
                </a:solidFill>
                <a:latin typeface="Microsoft YaHei"/>
              </a:rPr>
              <a:t>B. 先做完再换手套</a:t>
            </a:r>
          </a:p>
          <a:p>
            <a:pPr algn="l"/>
            <a:r>
              <a:rPr sz="1500" b="0">
                <a:solidFill>
                  <a:srgbClr val="222B33"/>
                </a:solidFill>
                <a:latin typeface="Microsoft YaHei"/>
              </a:rPr>
              <a:t>C. 停下相关操作，报告负责人，修复确认后再开工</a:t>
            </a:r>
          </a:p>
          <a:p>
            <a:pPr algn="l"/>
            <a:r>
              <a:rPr sz="1500" b="0">
                <a:solidFill>
                  <a:srgbClr val="222B33"/>
                </a:solidFill>
                <a:latin typeface="Microsoft YaHei"/>
              </a:rPr>
              <a:t>D. 自己拆开安全柜检查</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简答：实验室人员必备的六类培训是什么？发生针刺暴露后向谁报告？</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防护要求是一整套：缺一项就不达标</a:t>
            </a:r>
          </a:p>
          <a:p>
            <a:pPr>
              <a:spcAft>
                <a:spcPts val="800"/>
              </a:spcAft>
            </a:pPr>
            <a:r>
              <a:rPr sz="1500">
                <a:solidFill>
                  <a:srgbClr val="FFFFFF"/>
                </a:solidFill>
                <a:latin typeface="Microsoft YaHei"/>
              </a:rPr>
              <a:t>▪ K2  谁能进门：准入逐级收紧</a:t>
            </a:r>
          </a:p>
          <a:p>
            <a:pPr>
              <a:spcAft>
                <a:spcPts val="800"/>
              </a:spcAft>
            </a:pPr>
            <a:r>
              <a:rPr sz="1500">
                <a:solidFill>
                  <a:srgbClr val="FFFFFF"/>
                </a:solidFill>
                <a:latin typeface="Microsoft YaHei"/>
              </a:rPr>
              <a:t>▪ K3  个人防护逐级加码</a:t>
            </a:r>
          </a:p>
          <a:p>
            <a:pPr>
              <a:spcAft>
                <a:spcPts val="800"/>
              </a:spcAft>
            </a:pPr>
            <a:r>
              <a:rPr sz="1500">
                <a:solidFill>
                  <a:srgbClr val="FFFFFF"/>
                </a:solidFill>
                <a:latin typeface="Microsoft YaHei"/>
              </a:rPr>
              <a:t>▪ K4  安全设备与气溶胶控制逐级加严</a:t>
            </a:r>
          </a:p>
          <a:p>
            <a:pPr>
              <a:spcAft>
                <a:spcPts val="800"/>
              </a:spcAft>
            </a:pPr>
            <a:r>
              <a:rPr sz="1500">
                <a:solidFill>
                  <a:srgbClr val="FFFFFF"/>
                </a:solidFill>
                <a:latin typeface="Microsoft YaHei"/>
              </a:rPr>
              <a:t>▪ K5  实验室设施逐级递进</a:t>
            </a:r>
          </a:p>
          <a:p>
            <a:pPr>
              <a:spcAft>
                <a:spcPts val="800"/>
              </a:spcAft>
            </a:pPr>
            <a:r>
              <a:rPr sz="1500">
                <a:solidFill>
                  <a:srgbClr val="FFFFFF"/>
                </a:solidFill>
                <a:latin typeface="Microsoft YaHei"/>
              </a:rPr>
              <a:t>▪ K6  二级实验室的布局与两道屏障</a:t>
            </a:r>
          </a:p>
          <a:p>
            <a:pPr>
              <a:spcAft>
                <a:spcPts val="800"/>
              </a:spcAft>
            </a:pPr>
            <a:r>
              <a:rPr sz="1500">
                <a:solidFill>
                  <a:srgbClr val="FFFFFF"/>
                </a:solidFill>
                <a:latin typeface="Microsoft YaHei"/>
              </a:rPr>
              <a:t>▪ K7  良好微生物操作是基本功</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K8  一级、二级实验室的日常规范</a:t>
            </a:r>
          </a:p>
          <a:p>
            <a:pPr>
              <a:spcAft>
                <a:spcPts val="800"/>
              </a:spcAft>
            </a:pPr>
            <a:r>
              <a:rPr sz="1500">
                <a:solidFill>
                  <a:srgbClr val="FFFFFF"/>
                </a:solidFill>
                <a:latin typeface="Microsoft YaHei"/>
              </a:rPr>
              <a:t>▪ K9  涂片和环境分离菌也要防</a:t>
            </a:r>
          </a:p>
          <a:p>
            <a:pPr>
              <a:spcAft>
                <a:spcPts val="800"/>
              </a:spcAft>
            </a:pPr>
            <a:r>
              <a:rPr sz="1500">
                <a:solidFill>
                  <a:srgbClr val="FFFFFF"/>
                </a:solidFill>
                <a:latin typeface="Microsoft YaHei"/>
              </a:rPr>
              <a:t>▪ K10  一级、二级的培训：基本功与规程</a:t>
            </a:r>
          </a:p>
          <a:p>
            <a:pPr>
              <a:spcAft>
                <a:spcPts val="800"/>
              </a:spcAft>
            </a:pPr>
            <a:r>
              <a:rPr sz="1500">
                <a:solidFill>
                  <a:srgbClr val="FFFFFF"/>
                </a:solidFill>
                <a:latin typeface="Microsoft YaHei"/>
              </a:rPr>
              <a:t>▪ K11  三级、四级的培训：专人长期强化</a:t>
            </a:r>
          </a:p>
          <a:p>
            <a:pPr>
              <a:spcAft>
                <a:spcPts val="800"/>
              </a:spcAft>
            </a:pPr>
            <a:r>
              <a:rPr sz="1500">
                <a:solidFill>
                  <a:srgbClr val="FFFFFF"/>
                </a:solidFill>
                <a:latin typeface="Microsoft YaHei"/>
              </a:rPr>
              <a:t>▪ K12  人人必备的六类培训</a:t>
            </a:r>
          </a:p>
          <a:p>
            <a:pPr>
              <a:spcAft>
                <a:spcPts val="800"/>
              </a:spcAft>
            </a:pPr>
            <a:r>
              <a:rPr sz="1500">
                <a:solidFill>
                  <a:srgbClr val="FFFFFF"/>
                </a:solidFill>
                <a:latin typeface="Microsoft YaHei"/>
              </a:rPr>
              <a:t>▪ K13  培训要记录、要动手、要带教</a:t>
            </a:r>
          </a:p>
          <a:p>
            <a:pPr>
              <a:spcAft>
                <a:spcPts val="800"/>
              </a:spcAft>
            </a:pPr>
            <a:r>
              <a:rPr sz="1500">
                <a:solidFill>
                  <a:srgbClr val="FFFFFF"/>
                </a:solidFill>
                <a:latin typeface="Microsoft YaHei"/>
              </a:rPr>
              <a:t>▪ K14  装备缺了坏了，不开工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