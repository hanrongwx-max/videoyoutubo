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 射线和放射性被发现后的早年，放射诊断和科研中发生过很多超剂量照射事故，人们由此建立了国际上的辐射防护组织和防护建议，各国据此制定本国标准。我国的基本标准是 GB 18871-2002（以现行文本为准）《电离辐射防护与辐射源安全基本标准》。</a:t>
            </a:r>
          </a:p>
          <a:p>
            <a:r>
              <a:t>辐射防护的目的，针对的正是两类效应（见第 088 课）：防止有阈值的确定性效应发生；把没有阈值的随机性效应的发生概率限制到可以合理达到的尽量低水平。</a:t>
            </a:r>
          </a:p>
          <a:p>
            <a:r>
              <a:t>确定性效应靠把剂量控制在远低于阈值的水平来杜绝；剂量限值主要是为了把随机性效应（“抽奖”）的风险管在可以接受的范围内。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际上新的防护体系按照射发生的情况分为三类：计划照射（按计划引入和使用放射源、射线装置开展工作，事先就能设计防护）；应急照射（事故等意外情况，需要马上采取行动）；现存照射（在决定管控之前就已经存在的照射，如天然本底、建筑物和地下场所中的氡）。</a:t>
            </a:r>
          </a:p>
          <a:p>
            <a:r>
              <a:t>GB 18871-2002（以现行文本为准）用“实践”和“干预”的说法：开展辐射工作属于实践，按三原则和剂量限值管理；应急照射和氡等持续照射属于干预的范围，用干预水平、行动水平等管理。两种说法对应的思路一致：计划内的工作照射用剂量限值管；事故和已有的照射用参考水平或行动水平判断是否需要采取措施（见 K11）。</a:t>
            </a:r>
          </a:p>
          <a:p>
            <a:r>
              <a:t>实验室的日常辐射工作都属于计划照射；放射源丢失、卡源、洒漏等辐射事故的应急处置见第 096 课，地下场所的氡见第 088 课。</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GB 18871-2002（以现行文本为准）规定了辐射防护三原则：</a:t>
            </a:r>
          </a:p>
          <a:p>
            <a:r>
              <a:t>1. 实践的正当性：任何伴有辐射照射的实践，都要利大于弊，带来的利益足以弥补可能造成的危害，才可以开展。</a:t>
            </a:r>
          </a:p>
          <a:p>
            <a:r>
              <a:t>2. 防护与安全的最优化：在考虑经济和社会因素的前提下，使个人剂量的大小、受照人数和受照的可能性都保持在可合理达到的尽量低水平（合理可行尽量低）。</a:t>
            </a:r>
          </a:p>
          <a:p>
            <a:r>
              <a:t>3. 个人剂量限值：个人受到的照射不得超过国家规定的剂量限值。</a:t>
            </a:r>
          </a:p>
          <a:p>
            <a:r>
              <a:t>剂量限值只适用于计划内的工作照射（职业照射和公众照射）。病人接受的诊断和治疗照射属于医疗照射，不用剂量限值来管，而是靠正当性判断和最优化（如诊断参考水平/指导水平）来控制。合理可行尽量低既是原则，也是法规的要求。</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当性要求先问“值不值”。在实验室，设计实验时要先考虑：能否用荧光、化学发光等非放射性方法达到同样的目的？能否用活度更低的源、更短的照射时间？确有必要使用放射性物质或射线装置时，才申请、审批后开展（许可与审批见第 093 课）。</a:t>
            </a:r>
          </a:p>
          <a:p>
            <a:r>
              <a:t>医疗检查同样有剂量，也要有正当理由。个人不要盲目要求多做 X 射线、CT 等检查；医生判断需要时，检查带来的诊断收益远大于风险，不必害怕。</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低于剂量限值，就可以放心了吗？不。最优化原则要求在限值以下继续把剂量降到合理可行尽量低（国际上常称 ALARA）。“合理可行”是指同时考虑经济和社会因素：不是不计代价地追求零剂量，而是在投入和效果之间找到合理的平衡点，能以合理代价降低的剂量就应当降低。</a:t>
            </a:r>
          </a:p>
          <a:p>
            <a:r>
              <a:t>外照射防护的三把钥匙是时间、距离和屏蔽：减少受照时间、增大与源的距离、在人和源之间设置合适的屏蔽（见第 090 课）；内照射还要防止放射性物质进入体内（见第 091 课）。</a:t>
            </a:r>
          </a:p>
          <a:p>
            <a:r>
              <a:t>最优化要落实到人和制度：操作人员懂行、导师和实验室负责人尽责、学校有完善的辐射安全管理制度和培训（见第 093 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剂量限值是在收益和风险之间权衡后定出的。国际组织的建议只是建议，各国据此制定自己的标准；随着研究数据更新，限值曾多次下调。国内以 GB 18871-2002（以现行文本为准）和主管部门的规定为准，国外资料中的数值（包括国外的年限值、孕期限值）不能直接套用。</a:t>
            </a:r>
          </a:p>
          <a:p>
            <a:r>
              <a:t>限值分两类人：职业人员（辐射工作人员）和公众。限值管的是工作带来的额外剂量，不包括天然本底照射，也不包括本人作为病人接受的医疗照射。</a:t>
            </a:r>
          </a:p>
          <a:p>
            <a:r>
              <a:t>除了全身的有效剂量限值，还对眼晶状体、皮肤、手和足（四肢）的当量剂量分别规定了年限值，因为这些部位可能局部受照较多（见 K10）。职业人员的有效剂量限值既有多年平均值，也有任何单年的上限；公众的限值低得多。</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GB 18871-2002（以现行文本为准）规定的职业照射剂量限值：由审管部门决定的连续 5 年的年平均有效剂量不超过 20 mSv，且任何一年的有效剂量不超过 50 mSv；眼晶状体的年当量剂量不超过 150 mSv；四肢（手和足）或皮肤的年当量剂量不超过 500 mSv。</a:t>
            </a:r>
          </a:p>
          <a:p>
            <a:r>
              <a:t>眼晶状体的限值，国际上因研究发现白内障比原先认为的更容易发生，已建议大幅下调。国内以现行国家标准和主管部门的要求为准；无论数值如何，经常近距离操作源或射线装置的人员都要重视眼晶状体防护（见第 088 课）。</a:t>
            </a:r>
          </a:p>
          <a:p>
            <a:r>
              <a:t>天天和放射性物质打交道的人员，全身和手部都要监测，按规定佩戴个人剂量计（必要时加戴指环剂量计），由有资质的机构定期检测（见第 092 课）。</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用放射源、射线装置做实验的研究生和科研人员，属于辐射工作人员（职业人员），要经过培训、懂规则、佩戴个人剂量计；公众不了解辐射工作，也没有监测，所以适用低得多的限值。</a:t>
            </a:r>
          </a:p>
          <a:p>
            <a:r>
              <a:t>GB 18871-2002（以现行文本为准）规定：年龄为 16–18 岁、在学习过程中需要使用放射源的学生（以及接受涉及辐射照射的就业培训的徒工），年有效剂量不超过 6 mSv，眼晶状体年当量剂量不超过 50 mSv，四肢或皮肤年当量剂量不超过 150 mSv。未满 16 岁的人员不得接受职业照射。</a:t>
            </a:r>
          </a:p>
          <a:p>
            <a:r>
              <a:t>公众成员的年有效剂量不超过 1 mSv（特殊情况下，如果连续 5 年的年平均不超过 1 mSv，某一单一年份可提高到 5 mSv）；眼晶状体年当量剂量不超过 15 mSv，皮肤年当量剂量不超过 50 mSv。实验室周围的其他师生、访客都按公众对待，辐射工作场所的设计和管理要保证他们的受照远低于此。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剂量限值不是“安全线”，更不是每年可以用完的额度：它是不可接受与可以容忍之间的界线，接近限值本身就说明防护有问题。一年受多少照射才“安全”？没有绝对安全的剂量（线性无阈假设，见第 088 课），只有不得超过的限值；限值以内，还要尽量再低。</a:t>
            </a:r>
          </a:p>
          <a:p>
            <a:r>
              <a:t>按规程工作的辐射工作人员，实际受照通常远低于限值。例如核医学运动负荷试验室等岗位的人员，即使病人多，受照一般也很低。个人剂量明显升高时，要查找原因（见 K13）。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有效剂量反映全身风险；手持样品、靠近源操作时，手部和皮肤的当量剂量可能比全身高得多。所以全身的数字没超，局部却可能超了，手和皮肤要按四肢或皮肤的限值单独核对（必要时佩戴指环剂量计）。</a:t>
            </a:r>
          </a:p>
          <a:p>
            <a:r>
              <a:t>发现个人剂量超过限值或明显异常，要立即报告导师、学院和学校辐射安全管理部门，查明原因、采取整改措施，按规定处理和记录（报告程序见第 093、096 课）。</a:t>
            </a:r>
          </a:p>
          <a:p>
            <a:r>
              <a:t>用源之前，先弄清是什么核素、发出什么射线、活度多大，才能选对防护方法（射线的性质见第 086 课）。</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剂量限值是计划照射中个人受照的硬上限，针对所有相关实践的总剂量。剂量约束是针对某一个源或某一项工作，在最优化时事先设定的、比限值更低的个人剂量上界，用来保证一个人即使同时从事几项工作，总剂量也不会超过限值。</a:t>
            </a:r>
          </a:p>
          <a:p>
            <a:r>
              <a:t>参考水平用于应急照射和现存照射：剂量或浓度超过它，就要采取行动（如撤离、整改、降氡）；GB 18871-2002（以现行文本为准）中相应的有干预水平、行动水平等规定。三道线的具体数值以现行标准和本校规定为准。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胚胎和胎儿对辐射特别敏感，孕早期尤甚（见第 088 课）。女性辐射工作人员（含学生）知道或怀疑自己怀孕，应尽早告知导师和学院辐射安全管理人员，必要时就医确认；学校对个人信息保密。</a:t>
            </a:r>
          </a:p>
          <a:p>
            <a:r>
              <a:t>按 GB 18871-2002（以现行文本为准），用人单位接到告知后，要评估岗位、改善工作条件，使胚胎和胎儿得到与公众成员相同的防护水平；不得以怀孕为由拒绝女性工作人员继续工作。守住要求，可以按安排继续工作；具体做法以本校规定为准。</a:t>
            </a:r>
          </a:p>
          <a:p>
            <a:r>
              <a:t>如果发现孕期人员所在位置剂量偏高，先把人调离——这一步马上就能做；加固屏蔽需要时间，随后跟上。病人或自己做 X 射线检查前，要先告诉医生是否怀孕或在哺乳期（核医学检查与哺乳有关）。</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每一项辐射工作在开展前都要做照射评估：估算工作人员和周围公众可能受到的剂量，确定防护措施和分区；工作开始后定期复核，结合个人剂量监测和场所监测结果，看防护措施是否到位（风险评估方法见第 014 课）。</a:t>
            </a:r>
          </a:p>
          <a:p>
            <a:r>
              <a:t>剂量的“测”与“算”是防护的另一根支柱：体外照射用个人剂量计测量（见第 092 课）；体内照射靠生物样品、体外测量和器官模型、半衰期来估算（见第 087 课）。限值和最优化划出边界，物理测量和生物学知识共同守护人的安全。</a:t>
            </a:r>
          </a:p>
          <a:p>
            <a:r>
              <a:t>照射偏高时，从三方面整改：改进设备（如加装屏蔽、更换低活度源）、加强防护（工具、距离、个人防护）、调整管理和排班（缩短时间、轮换岗位）。</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GB 18871-2002（以现行文本为准）要求把辐射工作场所分为控制区和监督区。控制区是需要和可能需要专门防护手段或安全措施的区域，用来控制正常工作时的照射、防止污染扩散，并预防或限制潜在照射；控制区边界要有醒目的电离辐射警告标志，出入口实行门禁等进出控制，只允许经培训、授权并按规定佩戴个人剂量计的人员进入。</a:t>
            </a:r>
          </a:p>
          <a:p>
            <a:r>
              <a:t>监督区是未定为控制区、通常不需要专门防护措施，但需要经常对职业照射条件进行监督和评价的区域，边界也要设置标识。控制区不是谁都能进去干活的地方，参观、维修等外来人员要经批准并有人陪同。射线装置的门机联锁、工作状态指示灯和警戒区管理见第 094 课。</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答案：B。解析：时间、距离、屏蔽是外照射防护的三种手段，属于最优化的落实措施。</a:t>
            </a:r>
          </a:p>
          <a:p>
            <a:r>
              <a:t>第 2 题 答案：B。解析：限值是底线，不是额度；最优化要求在限值以下继续合理可行尽量低。</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答案：B。解析：1 mSv/年是公众的限值；150 mSv/年是职业人员眼晶状体的当量剂量限值。</a:t>
            </a:r>
          </a:p>
          <a:p>
            <a:r>
              <a:t>第 4 题 答案：C。解析：告知后单位改善工作条件、调整安排，并为个人信息保密；不得以怀孕为由拒绝其继续工作。</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答案：B。解析：剂量限值不适用于医疗照射，医疗照射靠正当性判断和最优化控制。</a:t>
            </a:r>
          </a:p>
          <a:p>
            <a:r>
              <a:t>第 6 题 答案：控制区需要专门的防护手段或安全措施，严格控制进出，边界设电离辐射警告标志，只允许经培训授权的人员进入；监督区通常不需要专门防护措施，但要经常对职业照射条件进行监测和评价，边界也要设标识。解析：未经培训授权不得进入控制区。</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089</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辐射防护原则与剂量限值</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第7章 辐射安全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61 镜）　适用对象：使用放射性同位素、密封放射源或射线装置的本科生、研究生和教职工（辐射类必修），以及负责辐射工作场所管理的实验室负责人</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能说出辐射防护的目的（防止确定性效应、限制随机性效应）和三原则：实践的正当性、防护与安全的最优化（合理可行尽量低）、个人剂量限值。</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 GB 18871-2002 对职业人员、16–18 岁学生和公众规定的年剂量限值，知道限值管的是本底和医疗之外的剂量、局部受照要单独核对。</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能判断“低于限值”为什么还要尽量降低，能做到怀孕或备孕时及时告知、配合调整工作。</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能区分控制区与监督区，做到未经培训授权不进入控制区。</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《中华人民共和国放射性污染防治法》（以现行文本为准）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《放射性同位素与射线装置安全和防护条例》（以现行文本为准）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18871-2002（以现行文本为准）《电离辐射防护与辐射源安全基本标准》：防护三原则、剂量限值、剂量约束、女性工作人员孕期防护、控制区与监督区</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《放射性同位素与射线装置安全和防护管理办法》（以现行文本为准）：辐射工作场所安全和防护、个人剂量监测</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《放射工作人员职业健康管理办法》（以现行文本为准）</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GBZ 128（以现行文本为准）《职业性外照射个人监测规范》</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本校辐射安全管理规定（以本校规定为准）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防护为了什么：防止确定性，限制随机性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早年超照射事故多，才有了防护规则</a:t>
            </a:r>
          </a:p>
          <a:p>
            <a:pPr>
              <a:spcAft>
                <a:spcPts val="1000"/>
              </a:spcAft>
            </a:pPr>
            <a:r>
              <a:rPr sz="2000">
                <a:solidFill>
                  <a:srgbClr val="222B33"/>
                </a:solidFill>
                <a:latin typeface="Microsoft YaHei"/>
              </a:rPr>
              <a:t>▪ 目的：杜绝确定性效应，限制随机性效应</a:t>
            </a:r>
          </a:p>
          <a:p>
            <a:pPr>
              <a:spcAft>
                <a:spcPts val="1000"/>
              </a:spcAft>
            </a:pPr>
            <a:r>
              <a:rPr sz="2000">
                <a:solidFill>
                  <a:srgbClr val="222B33"/>
                </a:solidFill>
                <a:latin typeface="Microsoft YaHei"/>
              </a:rPr>
              <a:t>▪ 剂量远低于阈值，确定性效应就不会发生</a:t>
            </a:r>
          </a:p>
          <a:p>
            <a:pPr>
              <a:spcAft>
                <a:spcPts val="1000"/>
              </a:spcAft>
            </a:pPr>
            <a:r>
              <a:rPr sz="2000">
                <a:solidFill>
                  <a:srgbClr val="222B33"/>
                </a:solidFill>
                <a:latin typeface="Microsoft YaHei"/>
              </a:rPr>
              <a:t>▪ 剂量限值主要管住随机性风险</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X 射线和放射性被发现后的早年，放射诊断和科研中发生过很多超剂量照射事故，人们由此建立了国际上的辐射防护组织和防护建议，各国据此制定本国标准。我国的基本标准是 GB 18871-2002（以现行文本为准）《电离辐射防……</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以为只要不出现皮肤发红等症状，就说明防护没问题</a:t>
            </a:r>
          </a:p>
          <a:p>
            <a:pPr>
              <a:spcAft>
                <a:spcPts val="1000"/>
              </a:spcAft>
            </a:pPr>
            <a:r>
              <a:rPr sz="1500">
                <a:solidFill>
                  <a:srgbClr val="222B33"/>
                </a:solidFill>
                <a:latin typeface="Microsoft YaHei"/>
              </a:rPr>
              <a:t>▪ 以为剂量限值就是确定性效应的阈值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三种照射情况</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照射情况分三种</a:t>
            </a:r>
          </a:p>
          <a:p>
            <a:pPr>
              <a:spcAft>
                <a:spcPts val="1000"/>
              </a:spcAft>
            </a:pPr>
            <a:r>
              <a:rPr sz="2000">
                <a:solidFill>
                  <a:srgbClr val="222B33"/>
                </a:solidFill>
                <a:latin typeface="Microsoft YaHei"/>
              </a:rPr>
              <a:t>▪ 按计划用源开展工作，是计划照射</a:t>
            </a:r>
          </a:p>
          <a:p>
            <a:pPr>
              <a:spcAft>
                <a:spcPts val="1000"/>
              </a:spcAft>
            </a:pPr>
            <a:r>
              <a:rPr sz="2000">
                <a:solidFill>
                  <a:srgbClr val="222B33"/>
                </a:solidFill>
                <a:latin typeface="Microsoft YaHei"/>
              </a:rPr>
              <a:t>▪ 事故等意外需要马上处置，是应急照射</a:t>
            </a:r>
          </a:p>
          <a:p>
            <a:pPr>
              <a:spcAft>
                <a:spcPts val="1000"/>
              </a:spcAft>
            </a:pPr>
            <a:r>
              <a:rPr sz="2000">
                <a:solidFill>
                  <a:srgbClr val="222B33"/>
                </a:solidFill>
                <a:latin typeface="Microsoft YaHei"/>
              </a:rPr>
              <a:t>▪ 决定管控前已经存在的（如氡），是现存照射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国际上新的防护体系按照射发生的情况分为三类：计划照射（按计划引入和使用放射源、射线装置开展工作，事先就能设计防护）；应急照射（事故等意外情况，需要马上采取行动）；现存照射（在决定管控之前就已经存在的照射，如天然本底、……</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拿公众剂量限值去衡量地下室的氡或事故现场的照射</a:t>
            </a:r>
          </a:p>
          <a:p>
            <a:pPr>
              <a:spcAft>
                <a:spcPts val="1000"/>
              </a:spcAft>
            </a:pPr>
            <a:r>
              <a:rPr sz="1500">
                <a:solidFill>
                  <a:srgbClr val="222B33"/>
                </a:solidFill>
                <a:latin typeface="Microsoft YaHei"/>
              </a:rPr>
              <a:t>▪ 以为事故中的照射也必须控制在日常限值以内才能施救（应急照射按应急预案和参考水平管理）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辐射防护三原则</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辐射防护有三条原则</a:t>
            </a:r>
          </a:p>
          <a:p>
            <a:pPr>
              <a:spcAft>
                <a:spcPts val="1000"/>
              </a:spcAft>
            </a:pPr>
            <a:r>
              <a:rPr sz="2000">
                <a:solidFill>
                  <a:srgbClr val="222B33"/>
                </a:solidFill>
                <a:latin typeface="Microsoft YaHei"/>
              </a:rPr>
              <a:t>▪ 先问值不值，叫实践的正当性</a:t>
            </a:r>
          </a:p>
          <a:p>
            <a:pPr>
              <a:spcAft>
                <a:spcPts val="1000"/>
              </a:spcAft>
            </a:pPr>
            <a:r>
              <a:rPr sz="2000">
                <a:solidFill>
                  <a:srgbClr val="222B33"/>
                </a:solidFill>
                <a:latin typeface="Microsoft YaHei"/>
              </a:rPr>
              <a:t>▪ 能低一点再低一点，叫防护与安全的最优化</a:t>
            </a:r>
          </a:p>
          <a:p>
            <a:pPr>
              <a:spcAft>
                <a:spcPts val="1000"/>
              </a:spcAft>
            </a:pPr>
            <a:r>
              <a:rPr sz="2000">
                <a:solidFill>
                  <a:srgbClr val="222B33"/>
                </a:solidFill>
                <a:latin typeface="Microsoft YaHei"/>
              </a:rPr>
              <a:t>▪ 个人剂量不超过限值；限值不管病人诊疗</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GB 18871-2002（以现行文本为准）规定了辐射防护三原则：</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只记住“剂量限值”一条，忽略正当性和最优化</a:t>
            </a:r>
          </a:p>
          <a:p>
            <a:pPr>
              <a:spcAft>
                <a:spcPts val="1000"/>
              </a:spcAft>
            </a:pPr>
            <a:r>
              <a:rPr sz="1500">
                <a:solidFill>
                  <a:srgbClr val="222B33"/>
                </a:solidFill>
                <a:latin typeface="Microsoft YaHei"/>
              </a:rPr>
              <a:t>▪ 以为病人的检查剂量也要受工作人员限值约束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正当性：利大于弊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能用非放射性方法达到目的，就不用源</a:t>
            </a:r>
          </a:p>
          <a:p>
            <a:pPr>
              <a:spcAft>
                <a:spcPts val="1000"/>
              </a:spcAft>
            </a:pPr>
            <a:r>
              <a:rPr sz="2000">
                <a:solidFill>
                  <a:srgbClr val="222B33"/>
                </a:solidFill>
                <a:latin typeface="Microsoft YaHei"/>
              </a:rPr>
              <a:t>▪ 医疗检查也有剂量，要有正当理由</a:t>
            </a:r>
          </a:p>
          <a:p>
            <a:pPr>
              <a:spcAft>
                <a:spcPts val="1000"/>
              </a:spcAft>
            </a:pPr>
            <a:r>
              <a:rPr sz="2000">
                <a:solidFill>
                  <a:srgbClr val="222B33"/>
                </a:solidFill>
                <a:latin typeface="Microsoft YaHei"/>
              </a:rPr>
              <a:t>▪ 不盲目要求多做检查，需要时听医生的</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正当性要求先问“值不值”。在实验室，设计实验时要先考虑：能否用荧光、化学发光等非放射性方法达到同样的目的？能否用活度更低的源、更短的照射时间？确有必要使用放射性物质或射线装置时，才申请、审批后开展（许可与审批见第 0……</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为了“数据好看”随意加大活度或增加照射次数</a:t>
            </a:r>
          </a:p>
          <a:p>
            <a:pPr>
              <a:spcAft>
                <a:spcPts val="1000"/>
              </a:spcAft>
            </a:pPr>
            <a:r>
              <a:rPr sz="1500">
                <a:solidFill>
                  <a:srgbClr val="222B33"/>
                </a:solidFill>
                <a:latin typeface="Microsoft YaHei"/>
              </a:rPr>
              <a:t>▪ 因为怕辐射，拒绝医生认为必要的检查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最优化：合理可行尽量低</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低于限值，还要合理可行尽量低</a:t>
            </a:r>
          </a:p>
          <a:p>
            <a:pPr>
              <a:spcAft>
                <a:spcPts val="1000"/>
              </a:spcAft>
            </a:pPr>
            <a:r>
              <a:rPr sz="2000">
                <a:solidFill>
                  <a:srgbClr val="222B33"/>
                </a:solidFill>
                <a:latin typeface="Microsoft YaHei"/>
              </a:rPr>
              <a:t>▪ 同时考虑经济和社会因素</a:t>
            </a:r>
          </a:p>
          <a:p>
            <a:pPr>
              <a:spcAft>
                <a:spcPts val="1000"/>
              </a:spcAft>
            </a:pPr>
            <a:r>
              <a:rPr sz="2000">
                <a:solidFill>
                  <a:srgbClr val="222B33"/>
                </a:solidFill>
                <a:latin typeface="Microsoft YaHei"/>
              </a:rPr>
              <a:t>▪ 时间、距离、屏蔽，是三把钥匙</a:t>
            </a:r>
          </a:p>
          <a:p>
            <a:pPr>
              <a:spcAft>
                <a:spcPts val="1000"/>
              </a:spcAft>
            </a:pPr>
            <a:r>
              <a:rPr sz="2000">
                <a:solidFill>
                  <a:srgbClr val="222B33"/>
                </a:solidFill>
                <a:latin typeface="Microsoft YaHei"/>
              </a:rPr>
              <a:t>▪ 靠懂行的人、负责的导师和好制度</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低于剂量限值，就可以放心了吗？不。最优化原则要求在限值以下继续把剂量降到合理可行尽量低（国际上常称 ALARA）。“合理可行”是指同时考虑经济和社会因素：不是不计代价地追求零剂量，而是在投入和效果之间找到合理的平衡点……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“反正没超限值”，就不再改进操作</a:t>
            </a:r>
          </a:p>
          <a:p>
            <a:pPr>
              <a:spcAft>
                <a:spcPts val="1000"/>
              </a:spcAft>
            </a:pPr>
            <a:r>
              <a:rPr sz="1500">
                <a:solidFill>
                  <a:srgbClr val="222B33"/>
                </a:solidFill>
                <a:latin typeface="Microsoft YaHei"/>
              </a:rPr>
              <a:t>▪ 为追求剂量“绝对为零”而投入不合理的代价，却忽视了更容易做到的措施</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剂量限值管谁、管什么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限值是收益和风险的平衡</a:t>
            </a:r>
          </a:p>
          <a:p>
            <a:pPr>
              <a:spcAft>
                <a:spcPts val="1000"/>
              </a:spcAft>
            </a:pPr>
            <a:r>
              <a:rPr sz="1700">
                <a:solidFill>
                  <a:srgbClr val="222B33"/>
                </a:solidFill>
                <a:latin typeface="Microsoft YaHei"/>
              </a:rPr>
              <a:t>▪ 限值分职业人员和公众两类</a:t>
            </a:r>
          </a:p>
          <a:p>
            <a:pPr>
              <a:spcAft>
                <a:spcPts val="1000"/>
              </a:spcAft>
            </a:pPr>
            <a:r>
              <a:rPr sz="1700">
                <a:solidFill>
                  <a:srgbClr val="222B33"/>
                </a:solidFill>
                <a:latin typeface="Microsoft YaHei"/>
              </a:rPr>
              <a:t>▪ 管的是本底和医疗之外的剂量</a:t>
            </a:r>
          </a:p>
          <a:p>
            <a:pPr>
              <a:spcAft>
                <a:spcPts val="1000"/>
              </a:spcAft>
            </a:pPr>
            <a:r>
              <a:rPr sz="1700">
                <a:solidFill>
                  <a:srgbClr val="222B33"/>
                </a:solidFill>
                <a:latin typeface="Microsoft YaHei"/>
              </a:rPr>
              <a:t>▪ 全身、晶状体、皮肤、手足各有上限</a:t>
            </a:r>
          </a:p>
          <a:p>
            <a:pPr>
              <a:spcAft>
                <a:spcPts val="1000"/>
              </a:spcAft>
            </a:pPr>
            <a:r>
              <a:rPr sz="1700">
                <a:solidFill>
                  <a:srgbClr val="222B33"/>
                </a:solidFill>
                <a:latin typeface="Microsoft YaHei"/>
              </a:rPr>
              <a:t>▪ 国外数值不能直接套用，以国标为准</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剂量限值是在收益和风险之间权衡后定出的。国际组织的建议只是建议，各国据此制定自己的标准；随着研究数据更新，限值曾多次下调。国内以 GB 18871-2002（以现行文本为准）和主管部门的规定为准，国外资料中的数值（包……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把本底辐射和体检拍片的剂量也算进职业剂量</a:t>
            </a:r>
          </a:p>
          <a:p>
            <a:pPr>
              <a:spcAft>
                <a:spcPts val="1000"/>
              </a:spcAft>
            </a:pPr>
            <a:r>
              <a:rPr sz="1500">
                <a:solidFill>
                  <a:srgbClr val="222B33"/>
                </a:solidFill>
                <a:latin typeface="Microsoft YaHei"/>
              </a:rPr>
              <a:t>▪ 照搬国外教材或网上的限值数字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职业照射的剂量限值</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有效剂量：连续 5 年平均每年 20 mSv</a:t>
            </a:r>
          </a:p>
          <a:p>
            <a:pPr>
              <a:spcAft>
                <a:spcPts val="1000"/>
              </a:spcAft>
            </a:pPr>
            <a:r>
              <a:rPr sz="1700">
                <a:solidFill>
                  <a:srgbClr val="222B33"/>
                </a:solidFill>
                <a:latin typeface="Microsoft YaHei"/>
              </a:rPr>
              <a:t>▪ 任何一年有效剂量不超过 50 mSv</a:t>
            </a:r>
          </a:p>
          <a:p>
            <a:pPr>
              <a:spcAft>
                <a:spcPts val="1000"/>
              </a:spcAft>
            </a:pPr>
            <a:r>
              <a:rPr sz="1700">
                <a:solidFill>
                  <a:srgbClr val="222B33"/>
                </a:solidFill>
                <a:latin typeface="Microsoft YaHei"/>
              </a:rPr>
              <a:t>▪ 眼晶状体 150 mSv/年，四肢或皮肤 500 mSv/年</a:t>
            </a:r>
          </a:p>
          <a:p>
            <a:pPr>
              <a:spcAft>
                <a:spcPts val="1000"/>
              </a:spcAft>
            </a:pPr>
            <a:r>
              <a:rPr sz="1700">
                <a:solidFill>
                  <a:srgbClr val="222B33"/>
                </a:solidFill>
                <a:latin typeface="Microsoft YaHei"/>
              </a:rPr>
              <a:t>▪ 国际上晶状体限值已下调，要多护眼</a:t>
            </a:r>
          </a:p>
          <a:p>
            <a:pPr>
              <a:spcAft>
                <a:spcPts val="1000"/>
              </a:spcAft>
            </a:pPr>
            <a:r>
              <a:rPr sz="1700">
                <a:solidFill>
                  <a:srgbClr val="222B33"/>
                </a:solidFill>
                <a:latin typeface="Microsoft YaHei"/>
              </a:rPr>
              <a:t>▪ 数值以 GB 18871 现行文本为准</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GB 18871-2002（以现行文本为准）规定的职业照射剂量限值：由审管部门决定的连续 5 年的年平均有效剂量不超过 20 mSv，且任何一年的有效剂量不超过 50 mSv；眼晶状体的年当量剂量不超过 150 mS……</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把“任何一年 50 mSv”理解为每年都可以照到 50 mSv</a:t>
            </a:r>
          </a:p>
          <a:p>
            <a:pPr>
              <a:spcAft>
                <a:spcPts val="1000"/>
              </a:spcAft>
            </a:pPr>
            <a:r>
              <a:rPr sz="1500">
                <a:solidFill>
                  <a:srgbClr val="222B33"/>
                </a:solidFill>
                <a:latin typeface="Microsoft YaHei"/>
              </a:rPr>
              <a:t>▪ 只盯全身剂量，忽视晶状体和手部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学生与公众的剂量限值</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用源做实验的研究生，属于职业人员</a:t>
            </a:r>
          </a:p>
          <a:p>
            <a:pPr>
              <a:spcAft>
                <a:spcPts val="1000"/>
              </a:spcAft>
            </a:pPr>
            <a:r>
              <a:rPr sz="2000">
                <a:solidFill>
                  <a:srgbClr val="222B33"/>
                </a:solidFill>
                <a:latin typeface="Microsoft YaHei"/>
              </a:rPr>
              <a:t>▪ 16–18 岁学生用源：有效剂量 6 mSv/年</a:t>
            </a:r>
          </a:p>
          <a:p>
            <a:pPr>
              <a:spcAft>
                <a:spcPts val="1000"/>
              </a:spcAft>
            </a:pPr>
            <a:r>
              <a:rPr sz="2000">
                <a:solidFill>
                  <a:srgbClr val="222B33"/>
                </a:solidFill>
                <a:latin typeface="Microsoft YaHei"/>
              </a:rPr>
              <a:t>▪ 公众最严：有效剂量 1 mSv/年</a:t>
            </a:r>
          </a:p>
          <a:p>
            <a:pPr>
              <a:spcAft>
                <a:spcPts val="1000"/>
              </a:spcAft>
            </a:pPr>
            <a:r>
              <a:rPr sz="2000">
                <a:solidFill>
                  <a:srgbClr val="222B33"/>
                </a:solidFill>
                <a:latin typeface="Microsoft YaHei"/>
              </a:rPr>
              <a:t>▪ 未满 16 岁，不得接受职业照射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用放射源、射线装置做实验的研究生和科研人员，属于辐射工作人员（职业人员），要经过培训、懂规则、佩戴个人剂量计；公众不了解辐射工作，也没有监测，所以适用低得多的限值。</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以为学生只是“来学习的”，不需要培训和剂量监测</a:t>
            </a:r>
          </a:p>
          <a:p>
            <a:pPr>
              <a:spcAft>
                <a:spcPts val="1000"/>
              </a:spcAft>
            </a:pPr>
            <a:r>
              <a:rPr sz="1500">
                <a:solidFill>
                  <a:srgbClr val="222B33"/>
                </a:solidFill>
                <a:latin typeface="Microsoft YaHei"/>
              </a:rPr>
              <a:t>▪ 让未成年人或无关人员进入辐射工作场所参观、帮忙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限值是底线，不是额度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限值是底线，不是可以用完的额度</a:t>
            </a:r>
          </a:p>
          <a:p>
            <a:pPr>
              <a:spcAft>
                <a:spcPts val="1000"/>
              </a:spcAft>
            </a:pPr>
            <a:r>
              <a:rPr sz="2000">
                <a:solidFill>
                  <a:srgbClr val="222B33"/>
                </a:solidFill>
                <a:latin typeface="Microsoft YaHei"/>
              </a:rPr>
              <a:t>▪ 没有“安全剂量”，只有不得超过的限值</a:t>
            </a:r>
          </a:p>
          <a:p>
            <a:pPr>
              <a:spcAft>
                <a:spcPts val="1000"/>
              </a:spcAft>
            </a:pPr>
            <a:r>
              <a:rPr sz="2000">
                <a:solidFill>
                  <a:srgbClr val="222B33"/>
                </a:solidFill>
                <a:latin typeface="Microsoft YaHei"/>
              </a:rPr>
              <a:t>▪ 实际受照通常远低于限值</a:t>
            </a:r>
          </a:p>
          <a:p>
            <a:pPr>
              <a:spcAft>
                <a:spcPts val="1000"/>
              </a:spcAft>
            </a:pPr>
            <a:r>
              <a:rPr sz="2000">
                <a:solidFill>
                  <a:srgbClr val="222B33"/>
                </a:solidFill>
                <a:latin typeface="Microsoft YaHei"/>
              </a:rPr>
              <a:t>▪ 限值以内，还要尽量再低</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剂量限值不是“安全线”，更不是每年可以用完的额度：它是不可接受与可以容忍之间的界线，接近限值本身就说明防护有问题。一年受多少照射才“安全”？没有绝对安全的剂量（线性无阈假设，见第 088 课），只有不得超过的限值；限……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认为“还没到限值，可以多照一点”</a:t>
            </a:r>
          </a:p>
          <a:p>
            <a:pPr>
              <a:spcAft>
                <a:spcPts val="1000"/>
              </a:spcAft>
            </a:pPr>
            <a:r>
              <a:rPr sz="1500">
                <a:solidFill>
                  <a:srgbClr val="222B33"/>
                </a:solidFill>
                <a:latin typeface="Microsoft YaHei"/>
              </a:rPr>
              <a:t>▪ 把单次超出平时水平的读数当作“没超限就不用管”</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局部受照单独核对，超限要报告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全身没超，局部却可能超了</a:t>
            </a:r>
          </a:p>
          <a:p>
            <a:pPr>
              <a:spcAft>
                <a:spcPts val="1000"/>
              </a:spcAft>
            </a:pPr>
            <a:r>
              <a:rPr sz="2000">
                <a:solidFill>
                  <a:srgbClr val="222B33"/>
                </a:solidFill>
                <a:latin typeface="Microsoft YaHei"/>
              </a:rPr>
              <a:t>▪ 手和皮肤，要单独核对局部限值</a:t>
            </a:r>
          </a:p>
          <a:p>
            <a:pPr>
              <a:spcAft>
                <a:spcPts val="1000"/>
              </a:spcAft>
            </a:pPr>
            <a:r>
              <a:rPr sz="2000">
                <a:solidFill>
                  <a:srgbClr val="222B33"/>
                </a:solidFill>
                <a:latin typeface="Microsoft YaHei"/>
              </a:rPr>
              <a:t>▪ 超了要报告，查明原因</a:t>
            </a:r>
          </a:p>
          <a:p>
            <a:pPr>
              <a:spcAft>
                <a:spcPts val="1000"/>
              </a:spcAft>
            </a:pPr>
            <a:r>
              <a:rPr sz="2000">
                <a:solidFill>
                  <a:srgbClr val="222B33"/>
                </a:solidFill>
                <a:latin typeface="Microsoft YaHei"/>
              </a:rPr>
              <a:t>▪ 用源前，先弄清是什么源和射线</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有效剂量反映全身风险；手持样品、靠近源操作时，手部和皮肤的当量剂量可能比全身高得多。所以全身的数字没超，局部却可能超了，手和皮肤要按四肢或皮肤的限值单独核对（必要时佩戴指环剂量计）。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只看全身剂量计读数，不管手部剂量</a:t>
            </a:r>
          </a:p>
          <a:p>
            <a:pPr>
              <a:spcAft>
                <a:spcPts val="1000"/>
              </a:spcAft>
            </a:pPr>
            <a:r>
              <a:rPr sz="1500">
                <a:solidFill>
                  <a:srgbClr val="222B33"/>
                </a:solidFill>
                <a:latin typeface="Microsoft YaHei"/>
              </a:rPr>
              <a:t>▪ 剂量异常不报告，自己“下次注意”</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剂量约束与参考水平</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防护有三道线：限值、约束、参考水平</a:t>
            </a:r>
          </a:p>
          <a:p>
            <a:pPr>
              <a:spcAft>
                <a:spcPts val="1000"/>
              </a:spcAft>
            </a:pPr>
            <a:r>
              <a:rPr sz="2000">
                <a:solidFill>
                  <a:srgbClr val="222B33"/>
                </a:solidFill>
                <a:latin typeface="Microsoft YaHei"/>
              </a:rPr>
              <a:t>▪ 剂量限值：正常工作的硬上限</a:t>
            </a:r>
          </a:p>
          <a:p>
            <a:pPr>
              <a:spcAft>
                <a:spcPts val="1000"/>
              </a:spcAft>
            </a:pPr>
            <a:r>
              <a:rPr sz="2000">
                <a:solidFill>
                  <a:srgbClr val="222B33"/>
                </a:solidFill>
                <a:latin typeface="Microsoft YaHei"/>
              </a:rPr>
              <a:t>▪ 剂量约束：针对某个源，定得更低</a:t>
            </a:r>
          </a:p>
          <a:p>
            <a:pPr>
              <a:spcAft>
                <a:spcPts val="1000"/>
              </a:spcAft>
            </a:pPr>
            <a:r>
              <a:rPr sz="2000">
                <a:solidFill>
                  <a:srgbClr val="222B33"/>
                </a:solidFill>
                <a:latin typeface="Microsoft YaHei"/>
              </a:rPr>
              <a:t>▪ 参考水平：应急时超过就要行动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剂量限值是计划照射中个人受照的硬上限，针对所有相关实践的总剂量。剂量约束是针对某一个源或某一项工作，在最优化时事先设定的、比限值更低的个人剂量上界，用来保证一个人即使同时从事几项工作，总剂量也不会超过限值。</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把剂量约束当作可以达到的目标值</a:t>
            </a:r>
          </a:p>
          <a:p>
            <a:pPr>
              <a:spcAft>
                <a:spcPts val="1000"/>
              </a:spcAft>
            </a:pPr>
            <a:r>
              <a:rPr sz="1500">
                <a:solidFill>
                  <a:srgbClr val="222B33"/>
                </a:solidFill>
                <a:latin typeface="Microsoft YaHei"/>
              </a:rPr>
              <a:t>▪ 以为应急情况下没有任何剂量控制要求</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怀孕：及时告知，调整工作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胎儿最敏感，孕期防护更严</a:t>
            </a:r>
          </a:p>
          <a:p>
            <a:pPr>
              <a:spcAft>
                <a:spcPts val="1000"/>
              </a:spcAft>
            </a:pPr>
            <a:r>
              <a:rPr sz="1700">
                <a:solidFill>
                  <a:srgbClr val="222B33"/>
                </a:solidFill>
                <a:latin typeface="Microsoft YaHei"/>
              </a:rPr>
              <a:t>▪ 怀孕或备孕，尽早告知导师和学院</a:t>
            </a:r>
          </a:p>
          <a:p>
            <a:pPr>
              <a:spcAft>
                <a:spcPts val="1000"/>
              </a:spcAft>
            </a:pPr>
            <a:r>
              <a:rPr sz="1700">
                <a:solidFill>
                  <a:srgbClr val="222B33"/>
                </a:solidFill>
                <a:latin typeface="Microsoft YaHei"/>
              </a:rPr>
              <a:t>▪ 胚胎要得到和公众相同的防护水平</a:t>
            </a:r>
          </a:p>
          <a:p>
            <a:pPr>
              <a:spcAft>
                <a:spcPts val="1000"/>
              </a:spcAft>
            </a:pPr>
            <a:r>
              <a:rPr sz="1700">
                <a:solidFill>
                  <a:srgbClr val="222B33"/>
                </a:solidFill>
                <a:latin typeface="Microsoft YaHei"/>
              </a:rPr>
              <a:t>▪ 先调岗离开，加固屏蔽随后跟上</a:t>
            </a:r>
          </a:p>
          <a:p>
            <a:pPr>
              <a:spcAft>
                <a:spcPts val="1000"/>
              </a:spcAft>
            </a:pPr>
            <a:r>
              <a:rPr sz="1700">
                <a:solidFill>
                  <a:srgbClr val="222B33"/>
                </a:solidFill>
                <a:latin typeface="Microsoft YaHei"/>
              </a:rPr>
              <a:t>▪ 做 X 射线检查前，先告诉医生</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胚胎和胎儿对辐射特别敏感，孕早期尤甚（见第 088 课）。女性辐射工作人员（含学生）知道或怀疑自己怀孕，应尽早告知导师和学院辐射安全管理人员，必要时就医确认；学校对个人信息保密。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担心影响学业而隐瞒怀孕，继续操作放射源</a:t>
            </a:r>
          </a:p>
          <a:p>
            <a:pPr>
              <a:spcAft>
                <a:spcPts val="1000"/>
              </a:spcAft>
            </a:pPr>
            <a:r>
              <a:rPr sz="1500">
                <a:solidFill>
                  <a:srgbClr val="222B33"/>
                </a:solidFill>
                <a:latin typeface="Microsoft YaHei"/>
              </a:rPr>
              <a:t>▪ 套用国外教材里的孕期剂量数值</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照射评估与偏高整改</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每项辐射工作，开展前先评估</a:t>
            </a:r>
          </a:p>
          <a:p>
            <a:pPr>
              <a:spcAft>
                <a:spcPts val="1000"/>
              </a:spcAft>
            </a:pPr>
            <a:r>
              <a:rPr sz="2000">
                <a:solidFill>
                  <a:srgbClr val="222B33"/>
                </a:solidFill>
                <a:latin typeface="Microsoft YaHei"/>
              </a:rPr>
              <a:t>▪ 之后定期复核，看措施是否到位</a:t>
            </a:r>
          </a:p>
          <a:p>
            <a:pPr>
              <a:spcAft>
                <a:spcPts val="1000"/>
              </a:spcAft>
            </a:pPr>
            <a:r>
              <a:rPr sz="2000">
                <a:solidFill>
                  <a:srgbClr val="222B33"/>
                </a:solidFill>
                <a:latin typeface="Microsoft YaHei"/>
              </a:rPr>
              <a:t>▪ 外照射靠剂量计，内照射靠模型和监测</a:t>
            </a:r>
          </a:p>
          <a:p>
            <a:pPr>
              <a:spcAft>
                <a:spcPts val="1000"/>
              </a:spcAft>
            </a:pPr>
            <a:r>
              <a:rPr sz="2000">
                <a:solidFill>
                  <a:srgbClr val="222B33"/>
                </a:solidFill>
                <a:latin typeface="Microsoft YaHei"/>
              </a:rPr>
              <a:t>▪ 偏高就从设备、防护、管理排班三方面改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每一项辐射工作在开展前都要做照射评估：估算工作人员和周围公众可能受到的剂量，确定防护措施和分区；工作开始后定期复核，结合个人剂量监测和场所监测结果，看防护措施是否到位（风险评估方法见第 014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先开工、后评估</a:t>
            </a:r>
          </a:p>
          <a:p>
            <a:pPr>
              <a:spcAft>
                <a:spcPts val="1000"/>
              </a:spcAft>
            </a:pPr>
            <a:r>
              <a:rPr sz="1500">
                <a:solidFill>
                  <a:srgbClr val="222B33"/>
                </a:solidFill>
                <a:latin typeface="Microsoft YaHei"/>
              </a:rPr>
              <a:t>▪ 剂量偏高只靠“让本人注意点”，不改设备和管理</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控制区与监督区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控制区：要专门防护，严格控制进出</a:t>
            </a:r>
          </a:p>
          <a:p>
            <a:pPr>
              <a:spcAft>
                <a:spcPts val="1000"/>
              </a:spcAft>
            </a:pPr>
            <a:r>
              <a:rPr sz="2000">
                <a:solidFill>
                  <a:srgbClr val="222B33"/>
                </a:solidFill>
                <a:latin typeface="Microsoft YaHei"/>
              </a:rPr>
              <a:t>▪ 外圈是监督区，要定期监测评价</a:t>
            </a:r>
          </a:p>
          <a:p>
            <a:pPr>
              <a:spcAft>
                <a:spcPts val="1000"/>
              </a:spcAft>
            </a:pPr>
            <a:r>
              <a:rPr sz="2000">
                <a:solidFill>
                  <a:srgbClr val="222B33"/>
                </a:solidFill>
                <a:latin typeface="Microsoft YaHei"/>
              </a:rPr>
              <a:t>▪ 分区边界设置醒目的标识</a:t>
            </a:r>
          </a:p>
          <a:p>
            <a:pPr>
              <a:spcAft>
                <a:spcPts val="1000"/>
              </a:spcAft>
            </a:pPr>
            <a:r>
              <a:rPr sz="2000">
                <a:solidFill>
                  <a:srgbClr val="222B33"/>
                </a:solidFill>
                <a:latin typeface="Microsoft YaHei"/>
              </a:rPr>
              <a:t>▪ 未经培训授权，不得进入控制区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GB 18871-2002（以现行文本为准）要求把辐射工作场所分为控制区和监督区。控制区是需要和可能需要专门防护手段或安全措施的区域，用来控制正常工作时的照射、防止污染扩散，并预防或限制潜在照射；控制区边界要有醒目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图方便把控制区门撑开、关掉门禁</a:t>
            </a:r>
          </a:p>
          <a:p>
            <a:pPr>
              <a:spcAft>
                <a:spcPts val="1000"/>
              </a:spcAft>
            </a:pPr>
            <a:r>
              <a:rPr sz="1500">
                <a:solidFill>
                  <a:srgbClr val="222B33"/>
                </a:solidFill>
                <a:latin typeface="Microsoft YaHei"/>
              </a:rPr>
              <a:t>▪ 外来维修人员没有登记、陪同就进入控制区</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辐射防护三原则是：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时间、距离、屏蔽</a:t>
            </a:r>
          </a:p>
          <a:p>
            <a:pPr algn="l"/>
            <a:r>
              <a:rPr sz="1500" b="0">
                <a:solidFill>
                  <a:srgbClr val="222B33"/>
                </a:solidFill>
                <a:latin typeface="Microsoft YaHei"/>
              </a:rPr>
              <a:t>B. 实践的正当性、防护与安全的最优化、个人剂量限值</a:t>
            </a:r>
          </a:p>
          <a:p>
            <a:pPr algn="l"/>
            <a:r>
              <a:rPr sz="1500" b="0">
                <a:solidFill>
                  <a:srgbClr val="222B33"/>
                </a:solidFill>
                <a:latin typeface="Microsoft YaHei"/>
              </a:rPr>
              <a:t>C. 申报、许可、验收</a:t>
            </a:r>
          </a:p>
          <a:p>
            <a:pPr algn="l"/>
            <a:r>
              <a:rPr sz="1500" b="0">
                <a:solidFill>
                  <a:srgbClr val="222B33"/>
                </a:solidFill>
                <a:latin typeface="Microsoft YaHei"/>
              </a:rPr>
              <a:t>D. 监测、记录、报告</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判断：个人年剂量只要低于剂量限值，就不需要再采取措施降低。</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按 GB 18871-2002（以现行文本为准），职业人员的有效剂量限值是：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每年 1 mSv</a:t>
            </a:r>
          </a:p>
          <a:p>
            <a:pPr algn="l"/>
            <a:r>
              <a:rPr sz="1500" b="0">
                <a:solidFill>
                  <a:srgbClr val="222B33"/>
                </a:solidFill>
                <a:latin typeface="Microsoft YaHei"/>
              </a:rPr>
              <a:t>B. 连续 5 年平均每年 20 mSv，且任何一年不超过 50 mSv</a:t>
            </a:r>
          </a:p>
          <a:p>
            <a:pPr algn="l"/>
            <a:r>
              <a:rPr sz="1500" b="0">
                <a:solidFill>
                  <a:srgbClr val="222B33"/>
                </a:solidFill>
                <a:latin typeface="Microsoft YaHei"/>
              </a:rPr>
              <a:t>C. 每年 50 mSv</a:t>
            </a:r>
          </a:p>
          <a:p>
            <a:pPr algn="l"/>
            <a:r>
              <a:rPr sz="1500" b="0">
                <a:solidFill>
                  <a:srgbClr val="222B33"/>
                </a:solidFill>
                <a:latin typeface="Microsoft YaHei"/>
              </a:rPr>
              <a:t>D. 每年 150 mSv</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一名用源做实验的女研究生得知自己怀孕，正确的做法是：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不告诉任何人，继续操作</a:t>
            </a:r>
          </a:p>
          <a:p>
            <a:pPr algn="l"/>
            <a:r>
              <a:rPr sz="1500" b="0">
                <a:solidFill>
                  <a:srgbClr val="222B33"/>
                </a:solidFill>
                <a:latin typeface="Microsoft YaHei"/>
              </a:rPr>
              <a:t>B. 立即退学</a:t>
            </a:r>
          </a:p>
          <a:p>
            <a:pPr algn="l"/>
            <a:r>
              <a:rPr sz="1500" b="0">
                <a:solidFill>
                  <a:srgbClr val="222B33"/>
                </a:solidFill>
                <a:latin typeface="Microsoft YaHei"/>
              </a:rPr>
              <a:t>C. 尽早告知导师和学院，由学校评估、调整工作，使胎儿得到与公众相同的防护水平</a:t>
            </a:r>
          </a:p>
          <a:p>
            <a:pPr algn="l"/>
            <a:r>
              <a:rPr sz="1500" b="0">
                <a:solidFill>
                  <a:srgbClr val="222B33"/>
                </a:solidFill>
                <a:latin typeface="Microsoft YaHei"/>
              </a:rPr>
              <a:t>D. 自行按国外教材的孕期限值控制</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判断：病人接受 X 射线检查的剂量，也要受公众剂量限值约束。</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简答：控制区和监督区有什么区别？</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防护为了什么：防止确定性，限制随机性</a:t>
            </a:r>
          </a:p>
          <a:p>
            <a:pPr>
              <a:spcAft>
                <a:spcPts val="800"/>
              </a:spcAft>
            </a:pPr>
            <a:r>
              <a:rPr sz="1500">
                <a:solidFill>
                  <a:srgbClr val="FFFFFF"/>
                </a:solidFill>
                <a:latin typeface="Microsoft YaHei"/>
              </a:rPr>
              <a:t>▪ K2  三种照射情况</a:t>
            </a:r>
          </a:p>
          <a:p>
            <a:pPr>
              <a:spcAft>
                <a:spcPts val="800"/>
              </a:spcAft>
            </a:pPr>
            <a:r>
              <a:rPr sz="1500">
                <a:solidFill>
                  <a:srgbClr val="FFFFFF"/>
                </a:solidFill>
                <a:latin typeface="Microsoft YaHei"/>
              </a:rPr>
              <a:t>▪ K3  辐射防护三原则</a:t>
            </a:r>
          </a:p>
          <a:p>
            <a:pPr>
              <a:spcAft>
                <a:spcPts val="800"/>
              </a:spcAft>
            </a:pPr>
            <a:r>
              <a:rPr sz="1500">
                <a:solidFill>
                  <a:srgbClr val="FFFFFF"/>
                </a:solidFill>
                <a:latin typeface="Microsoft YaHei"/>
              </a:rPr>
              <a:t>▪ K4  正当性：利大于弊</a:t>
            </a:r>
          </a:p>
          <a:p>
            <a:pPr>
              <a:spcAft>
                <a:spcPts val="800"/>
              </a:spcAft>
            </a:pPr>
            <a:r>
              <a:rPr sz="1500">
                <a:solidFill>
                  <a:srgbClr val="FFFFFF"/>
                </a:solidFill>
                <a:latin typeface="Microsoft YaHei"/>
              </a:rPr>
              <a:t>▪ K5  最优化：合理可行尽量低</a:t>
            </a:r>
          </a:p>
          <a:p>
            <a:pPr>
              <a:spcAft>
                <a:spcPts val="800"/>
              </a:spcAft>
            </a:pPr>
            <a:r>
              <a:rPr sz="1500">
                <a:solidFill>
                  <a:srgbClr val="FFFFFF"/>
                </a:solidFill>
                <a:latin typeface="Microsoft YaHei"/>
              </a:rPr>
              <a:t>▪ K6  剂量限值管谁、管什么</a:t>
            </a:r>
          </a:p>
          <a:p>
            <a:pPr>
              <a:spcAft>
                <a:spcPts val="800"/>
              </a:spcAft>
            </a:pPr>
            <a:r>
              <a:rPr sz="1500">
                <a:solidFill>
                  <a:srgbClr val="FFFFFF"/>
                </a:solidFill>
                <a:latin typeface="Microsoft YaHei"/>
              </a:rPr>
              <a:t>▪ K7  职业照射的剂量限值</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学生与公众的剂量限值</a:t>
            </a:r>
          </a:p>
          <a:p>
            <a:pPr>
              <a:spcAft>
                <a:spcPts val="800"/>
              </a:spcAft>
            </a:pPr>
            <a:r>
              <a:rPr sz="1500">
                <a:solidFill>
                  <a:srgbClr val="FFFFFF"/>
                </a:solidFill>
                <a:latin typeface="Microsoft YaHei"/>
              </a:rPr>
              <a:t>▪ K9  限值是底线，不是额度</a:t>
            </a:r>
          </a:p>
          <a:p>
            <a:pPr>
              <a:spcAft>
                <a:spcPts val="800"/>
              </a:spcAft>
            </a:pPr>
            <a:r>
              <a:rPr sz="1500">
                <a:solidFill>
                  <a:srgbClr val="FFFFFF"/>
                </a:solidFill>
                <a:latin typeface="Microsoft YaHei"/>
              </a:rPr>
              <a:t>▪ K10  局部受照单独核对，超限要报告</a:t>
            </a:r>
          </a:p>
          <a:p>
            <a:pPr>
              <a:spcAft>
                <a:spcPts val="800"/>
              </a:spcAft>
            </a:pPr>
            <a:r>
              <a:rPr sz="1500">
                <a:solidFill>
                  <a:srgbClr val="FFFFFF"/>
                </a:solidFill>
                <a:latin typeface="Microsoft YaHei"/>
              </a:rPr>
              <a:t>▪ K11  剂量约束与参考水平</a:t>
            </a:r>
          </a:p>
          <a:p>
            <a:pPr>
              <a:spcAft>
                <a:spcPts val="800"/>
              </a:spcAft>
            </a:pPr>
            <a:r>
              <a:rPr sz="1500">
                <a:solidFill>
                  <a:srgbClr val="FFFFFF"/>
                </a:solidFill>
                <a:latin typeface="Microsoft YaHei"/>
              </a:rPr>
              <a:t>▪ K12  怀孕：及时告知，调整工作</a:t>
            </a:r>
          </a:p>
          <a:p>
            <a:pPr>
              <a:spcAft>
                <a:spcPts val="800"/>
              </a:spcAft>
            </a:pPr>
            <a:r>
              <a:rPr sz="1500">
                <a:solidFill>
                  <a:srgbClr val="FFFFFF"/>
                </a:solidFill>
                <a:latin typeface="Microsoft YaHei"/>
              </a:rPr>
              <a:t>▪ K13  照射评估与偏高整改</a:t>
            </a:r>
          </a:p>
          <a:p>
            <a:pPr>
              <a:spcAft>
                <a:spcPts val="800"/>
              </a:spcAft>
            </a:pPr>
            <a:r>
              <a:rPr sz="1500">
                <a:solidFill>
                  <a:srgbClr val="FFFFFF"/>
                </a:solidFill>
                <a:latin typeface="Microsoft YaHei"/>
              </a:rPr>
              <a:t>▪ K14  控制区与监督区</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