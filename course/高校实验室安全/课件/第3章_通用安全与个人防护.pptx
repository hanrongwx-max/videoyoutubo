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眼睛是人体最脆弱的器官之一，化学灼伤、异物击伤和强光伤害往往很难完全恢复。而绝大多数眼部伤害，只要戴好合适的眼面防护就能避免，一副护目镜花钱不多，护住的是一双眼睛。</a:t>
            </a:r>
          </a:p>
          <a:p>
            <a:r>
              <a:t>护眼不只为了化学品：钉钉子、剪断焊丝、切割、打磨时，碎片和断头都可能弹飞；压力气体、焊接、危险物质操作也都会伤眼。剪焊丝等操作时戴好护目镜，脸不要凑得太近，剪下的断头放进废料盒。</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常用的眼面防护有三类：安全眼镜（防冲击，四周有遮挡）、护目镜（贴合面部，防液体飞溅、粉尘）、面屏（护住整张脸和颈部，作为附加防护）。要按工作中的具体危害选择合适的一种，或者组合使用（选择原则见第 021 课）。</a:t>
            </a:r>
          </a:p>
          <a:p>
            <a:r>
              <a:t>有强光的场合，要选带遮光镜片的护目镜。专门的光辐射另有专用防护：激光要用对应波长和防护等级的激光防护眼镜（第 114 课），焊接要用焊接面罩（第 128 课），紫外灯等非激光光辐射见第 111 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安全眼镜的镜片防碎，镜框四周有侧护遮挡，主要用来防飞来的碎屑和冲击；有的尺寸偏大，可以罩在近视眼镜外面；嫌闷热的可选带透气结构的款式。</a:t>
            </a:r>
          </a:p>
          <a:p>
            <a:r>
              <a:t>但安全眼镜与面部之间仍有缝隙，挡不住从侧面、上方溅来的液体。安全眼镜和护目镜用途不同，不能互相代替：有化学液体飞溅危险时，要换成贴合面部的防溅护目镜。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a:p>
            <a:r>
              <a:t>倾倒消毒剂、配制酸碱溶液、转移液体、加热回流等可能溅洒的操作，都要戴防溅护目镜。戴上后调好松紧带，让镜框四周与面部贴紧，不留缝隙。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面屏能护住整张脸和颈部，挡住大面积的喷溅；但面屏下方和两侧是敞开的，液体仍可能绕进眼睛，所以面屏不能代替护目镜。需要面屏时，先戴好护目镜，再加面屏。</a:t>
            </a:r>
          </a:p>
          <a:p>
            <a:r>
              <a:t>以下情况要在护目镜外再加面屏：在通风柜里倾倒、转移较多的浓酸浓碱；处理腐蚀性强的物质；可能发生剧烈反应、喷溅或爆裂；可能溅到头、面、颈部的操作；取用液氮等低温液体（第 136 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很多同学以为戴着近视眼镜就够了。其实普通眼镜两侧和上方都是空的，液体一溅就可能从缝里进入眼睛；普通镜片也不防碎，受到冲击碎裂，碎片反而更伤眼。普通眼镜不能代替任何一种眼部防护。</a:t>
            </a:r>
          </a:p>
          <a:p>
            <a:r>
              <a:t>戴近视眼镜的同学，要选能罩在眼镜外面的护目镜或尺寸偏大的安全眼镜（第 021 课），也可以按本校规定配备带矫正度数的防护眼镜。过滤、减压抽滤、加热、重结晶、薄层色谱和柱色谱等常规操作，全程戴好护目镜。</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化学类实验室原则上不戴隐形眼镜。化学品溅入眼睛时，可能被困在隐形镜片和眼球之间，延长接触时间，还会妨碍冲洗；有些蒸气也会被镜片吸附，刺激眼睛。也不要在实验室里摘戴隐形眼镜（第 020 课）。</a:t>
            </a:r>
          </a:p>
          <a:p>
            <a:r>
              <a:t>近视的同学进入化学实验室，改戴框架眼镜，外面罩护目镜。确因医学原因必须佩戴隐形眼镜的，要告知实验室负责人，并按本校规定戴好密合的护目镜。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眼面防护具不能只看样子：外形相似的眼镜，防冲击、防液体、防强光的能力可能完全不同。按 GB 14866-2023（以现行文本为准）《眼面防护具通用技术规范》，合格的眼面防护具在镜框和镜片上有相应的标识，选用前要看清标识和说明书，确认它适用于你要防的危害。</a:t>
            </a:r>
          </a:p>
          <a:p>
            <a:r>
              <a:t>不要使用无标识、来路不明的产品。镜片划花影响视线、镜框开裂、松紧带失去弹性的，及时更换（用前检查见第 021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护目镜推到额头上、挂在脖子上，等于没戴。眼面防护要从进入规定的防护区域开始，到离开为止全程戴在眼睛上（防护区域见第 021 课）。</a:t>
            </a:r>
          </a:p>
          <a:p>
            <a:r>
              <a:t>自己没有操作，也要戴：旁边同学的操作同样可能溅到你。护目镜起雾时，到安全区域摘下处理，或选用防雾产品，不在操作中摘下。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本课程第 15 章各项实验技能课中通用的个人防护要求统一在这里说明：进实验室先穿戴个人防护，实验服扣好、护目镜戴好、按所用试剂选好手套，长发扎起、不穿露趾鞋（第 020 课）。做无菌操作时手套远离酒精灯火焰；色谱、萃取等用到有机溶剂时，手套沾了溶剂及时更换（第 023 课）；不徒手处理样品，手套既保护自己，也防样品被污染。</a:t>
            </a:r>
          </a:p>
          <a:p>
            <a:r>
              <a:t>具体穿戴什么，按实验项目的风险评估确定，不清楚的问导师或学院实验室安全管理员。某项操作特有的防护要点（如滴定装碱、加压柱色谱等），在对应技能课中说明。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戴了防护，也可能有意外。眼睛溅入化学品或异物时，立即到最近的洗眼器，用手撑开眼睑，转动眼球，持续冲洗，冲洗时间按本校应急规定和化学品安全技术说明书执行；不要揉眼，不要自行用其他药物中和。</a:t>
            </a:r>
          </a:p>
          <a:p>
            <a:r>
              <a:t>冲洗后报告实验室负责人，带上化学品信息及时就医，必要时拨打 120（洗眼器的位置和使用见第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答案：C。解析：这是飞溅作业，安全眼镜挡不住液体，面屏不能代替护目镜，要两者一起戴。</a:t>
            </a:r>
          </a:p>
          <a:p>
            <a:r>
              <a:t>第 2 题 答案：B。解析：普通眼镜四周是空的、镜片不防碎，要把罩式护目镜戴在眼镜外面。</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答案：A。解析：化学品可能被困在镜片后，延长接触并妨碍冲洗。</a:t>
            </a:r>
          </a:p>
          <a:p>
            <a:r>
              <a:t>第 4 题 答案：B。解析：安全眼镜防冲击，挡不住侧面和上方溅来的液体。</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答案：C。解析：护目镜要全程戴在眼睛上，旁边有人操作也要戴。</a:t>
            </a:r>
          </a:p>
          <a:p>
            <a:r>
              <a:t>第 6 题 答案：立即到洗眼器，撑开眼睑持续冲洗，不揉眼；然后报告实验室负责人，带上化学品信息就医。解析：详见第 027、160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手是实验中接触化学品、热源、锐器最多的部位，也最容易受伤。皮肤本身是一道屏障，但挡不住腐蚀性物质和能透过皮肤吸收的化学品；手套是在皮肤外面再加的一层防护。</a:t>
            </a:r>
          </a:p>
          <a:p>
            <a:r>
              <a:t>很多样品、中间体的毒性并不清楚，不能因为“看起来无害”就徒手操作。操作化学品时要养成全程戴手套的习惯，而且要戴对类型（K2、K3）。一次性薄手套不影响手指灵活，不要因为嫌麻烦而不戴。</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很多人以为一次性丁腈手套什么都能挡，这是危险的误解。丁腈、乳胶、氯丁橡胶、丁基橡胶等不同材质的手套，耐受的化学品各不相同，没有一种手套能防所有化学品。</a:t>
            </a:r>
          </a:p>
          <a:p>
            <a:r>
              <a:t>乳胶手套能挡住微生物，但对多数有机溶剂和化学品防护有限，部分人还会对乳胶过敏；一次性丁腈手套适合偶然接触、小量溅洒，遇到酮类、氯代溶剂等会很快溶胀、渗透。选手套一定要让材质对上你实际使用的化学品。</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③结合操作方式（偶然接触还是长时间接触）、用量和设备危害，确定手套类型。</a:t>
            </a:r>
          </a:p>
          <a:p>
            <a:r>
              <a:t>使用甲醛、二氯甲烷等化学品时尤其要按说明书选材质。实验课上按任课老师的手套规定执行；科研实验拿不准时，问导师或学院实验室安全管理员，并写进实验项目的风险评估（第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现身体异常——问题出在一开始没有评估、没有选对手套。</a:t>
            </a:r>
          </a:p>
          <a:p>
            <a:r>
              <a:t>因此：手套沾上化学品，马上摘下换新的；手套破损、明显沾污或被汗湿，立即停下操作，按正确方法摘下（K7）、洗手后换新手套再继续；即使没有沾上，长时间操作也要按规程和穿透时间定期更换。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一次性薄手套只适合偶然接触。如果操作需要把手浸入溶剂，普通薄手套几分钟就会被渗透，必须换用按说明书和耐化学性资料选定的专用材质厚手套。</a:t>
            </a:r>
          </a:p>
          <a:p>
            <a:r>
              <a:t>处理强腐蚀品，戴长到手臂的橡胶手套，护住手腕和前臂；处理酸，选耐酸手套。高毒化学品作业通常戴双层手套：外层被污染或破损时，内层还能护住皮肤，此时立即更换外层；长时间操作要按穿透时间及时更换。具体组合由风险评估确定，并符合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手套有不同尺寸和厚度。太松容易滑脱、夹住器皿，太紧容易撕裂、手指发累；按手的大小和操作需要选合手的。</a:t>
            </a:r>
          </a:p>
          <a:p>
            <a:r>
              <a:t>戴手套前先检查：对着光看有没有破口、小孔、变色或变硬；也可以卷起袖口把空气挤到手指部分，看有没有漏气（不要用嘴吹）。有破损的直接换一副。一次性手套用过即弃，不洗了再用；可重复使用的厚手套按说明清洁、晾干、存放，老化开裂的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把第一只包在里面；④整个过程外面不碰皮肤。</a:t>
            </a:r>
          </a:p>
          <a:p>
            <a:r>
              <a:t>摘下的手套按本校规定丢进指定容器：沾染危险化学品的按危险废物收集，生物实验的按感染性废物处理（生物实验手套的穿脱流程见第 6 章）。摘完手套马上认真洗手（第 020 课）；实验服等其他防护用品的脱卸和清洗见第 024 课。平时多练几遍，形成习惯。</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手套上沾的化学品或微生物会到处“搬家”：门把手、电灯开关、电话、计算器、电脑键盘、手机都会被沾上，再传给不戴手套的人。笔、手指一碰嘴，化学品就进了身体——这也是实验室里不能饮食的原因（第 020 课）。</a:t>
            </a:r>
          </a:p>
          <a:p>
            <a:r>
              <a:t>戴着手套不碰门把手、开关和公共物品；记录本、手机、电脑放在清洁区，不放在操作台上。离开称量区、操作区或要写记录时，先摘手套、洗手，再去碰公共物品。需要在操作中开门、接电话的，按本实验室规定（如单手摘手套）处理。</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热，不能代替隔热手套。</a:t>
            </a:r>
          </a:p>
          <a:p>
            <a:r>
              <a:t>取干冰、超低温冰箱里的样品，戴低温防护手套（液氮等低温液体的防护见第 136 课）。处理碎玻璃等锐器、搬运切割后的板材和废金属，戴防割手套；长板两人一起抬，废料分类回收。使用振动工具、搬运重物，也选用对应的专用手套。</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化学品及微生物防护手套应符合 GB 28881-2023（以现行文本为准）《手部防护 化学品及微生物防护手套》等国家标准，包装和产品上有相应标识，选用前看清标识和说明，确认适用于你要防的危害；不使用无标识、来路不明的散装手套。</a:t>
            </a:r>
          </a:p>
          <a:p>
            <a:r>
              <a:t>按《中华人民共和国安全生产法》和《高等学校实验室安全规范》的要求，学校和实验室应按实验危害配备合适的防护手套，实验人员正确佩戴使用；手套用完、型号不全时及时向实验室负责人报告补齐（第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答案：B。解析：没有万能手套，要按说明书和耐化学性资料（穿透时间、降解程度）选材质。</a:t>
            </a:r>
          </a:p>
          <a:p>
            <a:r>
              <a:t>第 2 题 答案：B。解析：丁腈遇酮类、氯代溶剂等会很快失效；化学品会渗透，沾上就要换手套并洗手。</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答案：B。解析：翻着摘，外面不碰皮肤，摘完洗手。</a:t>
            </a:r>
          </a:p>
          <a:p>
            <a:r>
              <a:t>第 4 题 答案：B。解析：手套上的化学品会“搬家”，污染公共物品并传给别人。</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答案：C。解析：一次性化学防护手套不隔热，拿热的东西要戴隔热手套。</a:t>
            </a:r>
          </a:p>
          <a:p>
            <a:r>
              <a:t>第 6 题 答案：立即停下操作，用正确方法摘掉手套，洗手后换新手套再继续；如皮肤沾到化学品，先冲洗并报告。解析：破损、沾污、汗湿都要及时更换。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眼面部防护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适用对象：全体进入高校实验室的本科生、研究生和教职工（必修）；化学、生物、医学、工程实训实验室人员和戴近视眼镜的同学重点学习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能说出安全眼镜、防溅护目镜、面屏的区别和各自适用的场合。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能判断普通近视眼镜、单独使用的面屏都不能代替护目镜，化学实验室原则上不戴隐形眼镜。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能做到选用有合格标识的眼面防护具，正确佩戴、调整贴合，从进门到离开全程戴在眼睛上。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能做到眼睛溅入异物时立即用洗眼器冲洗并报告。</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14866-2023（以现行文本为准）《眼面防护具通用技术规范》：眼面防护具的分类、技术要求和标识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第1部分：总则》：按危害配备眼面部防护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本校实验室安全管理制度和各实验室防护要求（以本校规定为准）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眼睛最怕伤，护眼最划算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眼睛最脆弱，伤了很难恢复</a:t>
            </a:r>
          </a:p>
          <a:p>
            <a:pPr>
              <a:spcAft>
                <a:spcPts val="1000"/>
              </a:spcAft>
            </a:pPr>
            <a:r>
              <a:rPr sz="2000">
                <a:solidFill>
                  <a:srgbClr val="222B33"/>
                </a:solidFill>
                <a:latin typeface="Microsoft YaHei"/>
              </a:rPr>
              <a:t>▪ 多数眼伤，戴好防护就能避免</a:t>
            </a:r>
          </a:p>
          <a:p>
            <a:pPr>
              <a:spcAft>
                <a:spcPts val="1000"/>
              </a:spcAft>
            </a:pPr>
            <a:r>
              <a:rPr sz="2000">
                <a:solidFill>
                  <a:srgbClr val="222B33"/>
                </a:solidFill>
                <a:latin typeface="Microsoft YaHei"/>
              </a:rPr>
              <a:t>▪ 钉钉子、剪焊丝，碎片也会弹飞伤眼</a:t>
            </a:r>
          </a:p>
          <a:p>
            <a:pPr>
              <a:spcAft>
                <a:spcPts val="1000"/>
              </a:spcAft>
            </a:pPr>
            <a:r>
              <a:rPr sz="2000">
                <a:solidFill>
                  <a:srgbClr val="222B33"/>
                </a:solidFill>
                <a:latin typeface="Microsoft YaHei"/>
              </a:rPr>
              <a:t>▪ 压力气体、焊接、化学品操作都要护眼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眼睛是人体最脆弱的器官之一，化学灼伤、异物击伤和强光伤害往往很难完全恢复。而绝大多数眼部伤害，只要戴好合适的眼面防护就能避免，一副护目镜花钱不多，护住的是一双眼睛。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认为只有化学实验才需要护眼</a:t>
            </a:r>
          </a:p>
          <a:p>
            <a:pPr>
              <a:spcAft>
                <a:spcPts val="1000"/>
              </a:spcAft>
            </a:pPr>
            <a:r>
              <a:rPr sz="1500">
                <a:solidFill>
                  <a:srgbClr val="222B33"/>
                </a:solidFill>
                <a:latin typeface="Microsoft YaHei"/>
              </a:rPr>
              <a:t>▪ 修理、组装设备时不戴护目镜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三类眼面防护，按用途选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三类：安全眼镜、护目镜、面屏</a:t>
            </a:r>
          </a:p>
          <a:p>
            <a:pPr>
              <a:spcAft>
                <a:spcPts val="1000"/>
              </a:spcAft>
            </a:pPr>
            <a:r>
              <a:rPr sz="2000">
                <a:solidFill>
                  <a:srgbClr val="222B33"/>
                </a:solidFill>
                <a:latin typeface="Microsoft YaHei"/>
              </a:rPr>
              <a:t>▪ 按危害选一种，或者组合使用</a:t>
            </a:r>
          </a:p>
          <a:p>
            <a:pPr>
              <a:spcAft>
                <a:spcPts val="1000"/>
              </a:spcAft>
            </a:pPr>
            <a:r>
              <a:rPr sz="2000">
                <a:solidFill>
                  <a:srgbClr val="222B33"/>
                </a:solidFill>
                <a:latin typeface="Microsoft YaHei"/>
              </a:rPr>
              <a:t>▪ 有强光，选带遮光的护目镜</a:t>
            </a:r>
          </a:p>
          <a:p>
            <a:pPr>
              <a:spcAft>
                <a:spcPts val="1000"/>
              </a:spcAft>
            </a:pPr>
            <a:r>
              <a:rPr sz="2000">
                <a:solidFill>
                  <a:srgbClr val="222B33"/>
                </a:solidFill>
                <a:latin typeface="Microsoft YaHei"/>
              </a:rPr>
              <a:t>▪ 激光、焊接、紫外另有专用防护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常用的眼面防护有三类：安全眼镜（防冲击，四周有遮挡）、护目镜（贴合面部，防液体飞溅、粉尘）、面屏（护住整张脸和颈部，作为附加防护）。要按工作中的具体危害选择合适的一种，或者组合使用（选择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用普通墨镜代替遮光护目镜</a:t>
            </a:r>
          </a:p>
          <a:p>
            <a:pPr>
              <a:spcAft>
                <a:spcPts val="1000"/>
              </a:spcAft>
            </a:pPr>
            <a:r>
              <a:rPr sz="1500">
                <a:solidFill>
                  <a:srgbClr val="222B33"/>
                </a:solidFill>
                <a:latin typeface="Microsoft YaHei"/>
              </a:rPr>
              <a:t>▪ 做激光实验时随便戴一副护目镜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安全眼镜防冲击，挡不住液体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安全眼镜四周有遮挡，镜片防碎，主要防冲击</a:t>
            </a:r>
          </a:p>
          <a:p>
            <a:pPr>
              <a:spcAft>
                <a:spcPts val="1000"/>
              </a:spcAft>
            </a:pPr>
            <a:r>
              <a:rPr sz="2000">
                <a:solidFill>
                  <a:srgbClr val="222B33"/>
                </a:solidFill>
                <a:latin typeface="Microsoft YaHei"/>
              </a:rPr>
              <a:t>▪ 挡得住碎屑，挡不住侧面和上方溅来的液体</a:t>
            </a:r>
          </a:p>
          <a:p>
            <a:pPr>
              <a:spcAft>
                <a:spcPts val="1000"/>
              </a:spcAft>
            </a:pPr>
            <a:r>
              <a:rPr sz="2000">
                <a:solidFill>
                  <a:srgbClr val="222B33"/>
                </a:solidFill>
                <a:latin typeface="Microsoft YaHei"/>
              </a:rPr>
              <a:t>▪ 安全眼镜和护目镜不能互相代替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安全眼镜的镜片防碎，镜框四周有侧护遮挡，主要用来防飞来的碎屑和冲击；有的尺寸偏大，可以罩在近视眼镜外面；嫌闷热的可选带透气结构的款式。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戴着安全眼镜倾倒腐蚀性液体</a:t>
            </a:r>
          </a:p>
          <a:p>
            <a:pPr>
              <a:spcAft>
                <a:spcPts val="1000"/>
              </a:spcAft>
            </a:pPr>
            <a:r>
              <a:rPr sz="1500">
                <a:solidFill>
                  <a:srgbClr val="222B33"/>
                </a:solidFill>
                <a:latin typeface="Microsoft YaHei"/>
              </a:rPr>
              <a:t>▪ 以为“有镜片挡着”就能防所有危害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有飞溅，戴防溅护目镜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可能有飞溅，就必须戴贴合面部的防溅护目镜</a:t>
            </a:r>
          </a:p>
          <a:p>
            <a:pPr>
              <a:spcAft>
                <a:spcPts val="1000"/>
              </a:spcAft>
            </a:pPr>
            <a:r>
              <a:rPr sz="2000">
                <a:solidFill>
                  <a:srgbClr val="222B33"/>
                </a:solidFill>
                <a:latin typeface="Microsoft YaHei"/>
              </a:rPr>
              <a:t>▪ 多数化学操作选间接通风的护目镜</a:t>
            </a:r>
          </a:p>
          <a:p>
            <a:pPr>
              <a:spcAft>
                <a:spcPts val="1000"/>
              </a:spcAft>
            </a:pPr>
            <a:r>
              <a:rPr sz="2000">
                <a:solidFill>
                  <a:srgbClr val="222B33"/>
                </a:solidFill>
                <a:latin typeface="Microsoft YaHei"/>
              </a:rPr>
              <a:t>▪ 倒消毒剂、配酸碱溶液都要戴</a:t>
            </a:r>
          </a:p>
          <a:p>
            <a:pPr>
              <a:spcAft>
                <a:spcPts val="1000"/>
              </a:spcAft>
            </a:pPr>
            <a:r>
              <a:rPr sz="2000">
                <a:solidFill>
                  <a:srgbClr val="222B33"/>
                </a:solidFill>
                <a:latin typeface="Microsoft YaHei"/>
              </a:rPr>
              <a:t>▪ 调好松紧带，四周贴紧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选了直通孔的护目镜做液体操作</a:t>
            </a:r>
          </a:p>
          <a:p>
            <a:pPr>
              <a:spcAft>
                <a:spcPts val="1000"/>
              </a:spcAft>
            </a:pPr>
            <a:r>
              <a:rPr sz="1500">
                <a:solidFill>
                  <a:srgbClr val="222B33"/>
                </a:solidFill>
                <a:latin typeface="Microsoft YaHei"/>
              </a:rPr>
              <a:t>▪ 松紧带太松，护目镜和脸之间有缝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面屏加在护目镜外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面屏能护住整张脸和颈部</a:t>
            </a:r>
          </a:p>
          <a:p>
            <a:pPr>
              <a:spcAft>
                <a:spcPts val="1000"/>
              </a:spcAft>
            </a:pPr>
            <a:r>
              <a:rPr sz="2000">
                <a:solidFill>
                  <a:srgbClr val="222B33"/>
                </a:solidFill>
                <a:latin typeface="Microsoft YaHei"/>
              </a:rPr>
              <a:t>▪ 面屏不能代替护目镜，要和护目镜一起戴</a:t>
            </a:r>
          </a:p>
          <a:p>
            <a:pPr>
              <a:spcAft>
                <a:spcPts val="1000"/>
              </a:spcAft>
            </a:pPr>
            <a:r>
              <a:rPr sz="2000">
                <a:solidFill>
                  <a:srgbClr val="222B33"/>
                </a:solidFill>
                <a:latin typeface="Microsoft YaHei"/>
              </a:rPr>
              <a:t>▪ 倒较多浓酸、腐蚀性强或可能剧烈反应时加面屏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面屏能护住整张脸和颈部，挡住大面积的喷溅；但面屏下方和两侧是敞开的，液体仍可能绕进眼睛，所以面屏不能代替护目镜。需要面屏时，先戴好护目镜，再加面屏。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只戴面屏，不戴护目镜</a:t>
            </a:r>
          </a:p>
          <a:p>
            <a:pPr>
              <a:spcAft>
                <a:spcPts val="1000"/>
              </a:spcAft>
            </a:pPr>
            <a:r>
              <a:rPr sz="1500">
                <a:solidFill>
                  <a:srgbClr val="222B33"/>
                </a:solidFill>
                <a:latin typeface="Microsoft YaHei"/>
              </a:rPr>
              <a:t>▪ 倾倒大量浓酸时只戴安全眼镜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普通眼镜不能代替护目镜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普通眼镜四周是空的，液体会从缝里进眼</a:t>
            </a:r>
          </a:p>
          <a:p>
            <a:pPr>
              <a:spcAft>
                <a:spcPts val="1000"/>
              </a:spcAft>
            </a:pPr>
            <a:r>
              <a:rPr sz="2000">
                <a:solidFill>
                  <a:srgbClr val="222B33"/>
                </a:solidFill>
                <a:latin typeface="Microsoft YaHei"/>
              </a:rPr>
              <a:t>▪ 普通镜片不防碎，碎了更伤眼</a:t>
            </a:r>
          </a:p>
          <a:p>
            <a:pPr>
              <a:spcAft>
                <a:spcPts val="1000"/>
              </a:spcAft>
            </a:pPr>
            <a:r>
              <a:rPr sz="2000">
                <a:solidFill>
                  <a:srgbClr val="222B33"/>
                </a:solidFill>
                <a:latin typeface="Microsoft YaHei"/>
              </a:rPr>
              <a:t>▪ 近视的同学，把罩式护目镜戴在眼镜外</a:t>
            </a:r>
          </a:p>
          <a:p>
            <a:pPr>
              <a:spcAft>
                <a:spcPts val="1000"/>
              </a:spcAft>
            </a:pPr>
            <a:r>
              <a:rPr sz="2000">
                <a:solidFill>
                  <a:srgbClr val="222B33"/>
                </a:solidFill>
                <a:latin typeface="Microsoft YaHei"/>
              </a:rPr>
              <a:t>▪ 过滤、加热、色谱等操作全程戴护目镜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很多同学以为戴着近视眼镜就够了。其实普通眼镜两侧和上方都是空的，液体一溅就可能从缝里进入眼睛；普通镜片也不防碎，受到冲击碎裂，碎片反而更伤眼。普通眼镜不能代替任何一种眼部防护。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戴着近视眼镜就不戴护目镜</a:t>
            </a:r>
          </a:p>
          <a:p>
            <a:pPr>
              <a:spcAft>
                <a:spcPts val="1000"/>
              </a:spcAft>
            </a:pPr>
            <a:r>
              <a:rPr sz="1500">
                <a:solidFill>
                  <a:srgbClr val="222B33"/>
                </a:solidFill>
                <a:latin typeface="Microsoft YaHei"/>
              </a:rPr>
              <a:t>▪ 护目镜压在眼镜上不合适，就干脆不戴</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化学实验室不戴隐形眼镜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化学类实验室，原则上不戴隐形眼镜</a:t>
            </a:r>
          </a:p>
          <a:p>
            <a:pPr>
              <a:spcAft>
                <a:spcPts val="1000"/>
              </a:spcAft>
            </a:pPr>
            <a:r>
              <a:rPr sz="2000">
                <a:solidFill>
                  <a:srgbClr val="222B33"/>
                </a:solidFill>
                <a:latin typeface="Microsoft YaHei"/>
              </a:rPr>
              <a:t>▪ 溅入眼中的化学品会被困在镜片后，影响冲洗</a:t>
            </a:r>
          </a:p>
          <a:p>
            <a:pPr>
              <a:spcAft>
                <a:spcPts val="1000"/>
              </a:spcAft>
            </a:pPr>
            <a:r>
              <a:rPr sz="2000">
                <a:solidFill>
                  <a:srgbClr val="222B33"/>
                </a:solidFill>
                <a:latin typeface="Microsoft YaHei"/>
              </a:rPr>
              <a:t>▪ 近视就戴框架眼镜，外罩护目镜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化学类实验室原则上不戴隐形眼镜。化学品溅入眼睛时，可能被困在隐形镜片和眼球之间，延长接触时间，还会妨碍冲洗；有些蒸气也会被镜片吸附，刺激眼睛。也不要在实验室里摘戴隐形眼镜（第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戴着隐形眼镜做化学实验</a:t>
            </a:r>
          </a:p>
          <a:p>
            <a:pPr>
              <a:spcAft>
                <a:spcPts val="1000"/>
              </a:spcAft>
            </a:pPr>
            <a:r>
              <a:rPr sz="1500">
                <a:solidFill>
                  <a:srgbClr val="222B33"/>
                </a:solidFill>
                <a:latin typeface="Microsoft YaHei"/>
              </a:rPr>
              <a:t>▪ 眼睛溅入化学品后，先找镜盒摘镜片再冲洗</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看清标识，选合格产品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眼护具不能只看样子</a:t>
            </a:r>
          </a:p>
          <a:p>
            <a:pPr>
              <a:spcAft>
                <a:spcPts val="1000"/>
              </a:spcAft>
            </a:pPr>
            <a:r>
              <a:rPr sz="2000">
                <a:solidFill>
                  <a:srgbClr val="222B33"/>
                </a:solidFill>
                <a:latin typeface="Microsoft YaHei"/>
              </a:rPr>
              <a:t>▪ 看清镜框和镜片上的标识，确认防护类型</a:t>
            </a:r>
          </a:p>
          <a:p>
            <a:pPr>
              <a:spcAft>
                <a:spcPts val="1000"/>
              </a:spcAft>
            </a:pPr>
            <a:r>
              <a:rPr sz="2000">
                <a:solidFill>
                  <a:srgbClr val="222B33"/>
                </a:solidFill>
                <a:latin typeface="Microsoft YaHei"/>
              </a:rPr>
              <a:t>▪ 选符合国家标准、有合格标识的产品</a:t>
            </a:r>
          </a:p>
          <a:p>
            <a:pPr>
              <a:spcAft>
                <a:spcPts val="1000"/>
              </a:spcAft>
            </a:pPr>
            <a:r>
              <a:rPr sz="2000">
                <a:solidFill>
                  <a:srgbClr val="222B33"/>
                </a:solidFill>
                <a:latin typeface="Microsoft YaHei"/>
              </a:rPr>
              <a:t>▪ 镜片划花、开裂，及时更换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眼面防护具不能只看样子：外形相似的眼镜，防冲击、防液体、防强光的能力可能完全不同。按 GB 14866-2023（以现行文本为准）《眼面防护具通用技术规范》，合格的眼面防护具在镜框和镜片上有相应的标识，选用前要看清标……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把装饰用的平光镜当作安全眼镜</a:t>
            </a:r>
          </a:p>
          <a:p>
            <a:pPr>
              <a:spcAft>
                <a:spcPts val="1000"/>
              </a:spcAft>
            </a:pPr>
            <a:r>
              <a:rPr sz="1500">
                <a:solidFill>
                  <a:srgbClr val="222B33"/>
                </a:solidFill>
                <a:latin typeface="Microsoft YaHei"/>
              </a:rPr>
              <a:t>▪ 镜片划花看不清，仍继续使用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戴在眼睛上，全程不摘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护目镜要戴在眼睛上，不是额头上</a:t>
            </a:r>
          </a:p>
          <a:p>
            <a:pPr>
              <a:spcAft>
                <a:spcPts val="1000"/>
              </a:spcAft>
            </a:pPr>
            <a:r>
              <a:rPr sz="2000">
                <a:solidFill>
                  <a:srgbClr val="222B33"/>
                </a:solidFill>
                <a:latin typeface="Microsoft YaHei"/>
              </a:rPr>
              <a:t>▪ 从进入防护区域到离开，全程戴着</a:t>
            </a:r>
          </a:p>
          <a:p>
            <a:pPr>
              <a:spcAft>
                <a:spcPts val="1000"/>
              </a:spcAft>
            </a:pPr>
            <a:r>
              <a:rPr sz="2000">
                <a:solidFill>
                  <a:srgbClr val="222B33"/>
                </a:solidFill>
                <a:latin typeface="Microsoft YaHei"/>
              </a:rPr>
              <a:t>▪ 旁边有人操作，你也要戴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护目镜推到额头上、挂在脖子上，等于没戴。眼面防护要从进入规定的防护区域开始，到离开为止全程戴在眼睛上（防护区域见第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嫌闷热把护目镜推到额头上</a:t>
            </a:r>
          </a:p>
          <a:p>
            <a:pPr>
              <a:spcAft>
                <a:spcPts val="1000"/>
              </a:spcAft>
            </a:pPr>
            <a:r>
              <a:rPr sz="1500">
                <a:solidFill>
                  <a:srgbClr val="222B33"/>
                </a:solidFill>
                <a:latin typeface="Microsoft YaHei"/>
              </a:rPr>
              <a:t>▪ 只在自己动手时戴，看别人做时摘下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各类实验的通用防护提醒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各类实验：实验服、护目镜、手套一样不少</a:t>
            </a:r>
          </a:p>
          <a:p>
            <a:pPr>
              <a:spcAft>
                <a:spcPts val="1000"/>
              </a:spcAft>
            </a:pPr>
            <a:r>
              <a:rPr sz="2000">
                <a:solidFill>
                  <a:srgbClr val="222B33"/>
                </a:solidFill>
                <a:latin typeface="Microsoft YaHei"/>
              </a:rPr>
              <a:t>▪ 手套按评估选，远离火焰，沾了溶剂就换</a:t>
            </a:r>
          </a:p>
          <a:p>
            <a:pPr>
              <a:spcAft>
                <a:spcPts val="1000"/>
              </a:spcAft>
            </a:pPr>
            <a:r>
              <a:rPr sz="2000">
                <a:solidFill>
                  <a:srgbClr val="222B33"/>
                </a:solidFill>
                <a:latin typeface="Microsoft YaHei"/>
              </a:rPr>
              <a:t>▪ 不徒手处理样品，护己也护样品</a:t>
            </a:r>
          </a:p>
          <a:p>
            <a:pPr>
              <a:spcAft>
                <a:spcPts val="1000"/>
              </a:spcAft>
            </a:pPr>
            <a:r>
              <a:rPr sz="2000">
                <a:solidFill>
                  <a:srgbClr val="222B33"/>
                </a:solidFill>
                <a:latin typeface="Microsoft YaHei"/>
              </a:rPr>
              <a:t>▪ 穿戴什么按评估，不清楚问安全管理员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本课程第 15 章各项实验技能课中通用的个人防护要求统一在这里说明：进实验室先穿戴个人防护，实验服扣好、护目镜戴好、按所用试剂选好手套，长发扎起、不穿露趾鞋（第 020 课）。做无菌操作时手套远离酒精灯火焰；色谱、萃……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做“简单”实验时省掉护目镜</a:t>
            </a:r>
          </a:p>
          <a:p>
            <a:pPr>
              <a:spcAft>
                <a:spcPts val="1000"/>
              </a:spcAft>
            </a:pPr>
            <a:r>
              <a:rPr sz="1500">
                <a:solidFill>
                  <a:srgbClr val="222B33"/>
                </a:solidFill>
                <a:latin typeface="Microsoft YaHei"/>
              </a:rPr>
              <a:t>▪ 戴着沾了溶剂的手套继续操作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眼睛进了东西，立即冲洗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眼睛溅入化学品或异物，立即到洗眼器冲洗</a:t>
            </a:r>
          </a:p>
          <a:p>
            <a:pPr>
              <a:spcAft>
                <a:spcPts val="1000"/>
              </a:spcAft>
            </a:pPr>
            <a:r>
              <a:rPr sz="2000">
                <a:solidFill>
                  <a:srgbClr val="222B33"/>
                </a:solidFill>
                <a:latin typeface="Microsoft YaHei"/>
              </a:rPr>
              <a:t>▪ 撑开眼睑持续冲洗，不揉眼</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戴了防护，也可能有意外。眼睛溅入化学品或异物时，立即到最近的洗眼器，用手撑开眼睑，转动眼球，持续冲洗，冲洗时间按本校应急规定和化学品安全技术说明书执行；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先揉眼睛，或只用纸巾擦一擦</a:t>
            </a:r>
          </a:p>
          <a:p>
            <a:pPr>
              <a:spcAft>
                <a:spcPts val="1000"/>
              </a:spcAft>
            </a:pPr>
            <a:r>
              <a:rPr sz="1500">
                <a:solidFill>
                  <a:srgbClr val="222B33"/>
                </a:solidFill>
                <a:latin typeface="Microsoft YaHei"/>
              </a:rPr>
              <a:t>▪ 冲几秒钟就停，不就医也不报告</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在通风柜内倾倒较多浓酸，眼面部防护应选：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普通近视眼镜</a:t>
            </a:r>
          </a:p>
          <a:p>
            <a:pPr algn="l"/>
            <a:r>
              <a:rPr sz="1500" b="0">
                <a:solidFill>
                  <a:srgbClr val="222B33"/>
                </a:solidFill>
                <a:latin typeface="Microsoft YaHei"/>
              </a:rPr>
              <a:t>B. 安全眼镜</a:t>
            </a:r>
          </a:p>
          <a:p>
            <a:pPr algn="l"/>
            <a:r>
              <a:rPr sz="1500" b="0">
                <a:solidFill>
                  <a:srgbClr val="222B33"/>
                </a:solidFill>
                <a:latin typeface="Microsoft YaHei"/>
              </a:rPr>
              <a:t>C. 防溅护目镜加面屏</a:t>
            </a:r>
          </a:p>
          <a:p>
            <a:pPr algn="l"/>
            <a:r>
              <a:rPr sz="1500" b="0">
                <a:solidFill>
                  <a:srgbClr val="222B33"/>
                </a:solidFill>
                <a:latin typeface="Microsoft YaHei"/>
              </a:rPr>
              <a:t>D. 只戴面屏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判断：我戴着近视眼镜，做化学实验可以不戴护目镜。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判断：化学类实验室原则上不戴隐形眼镜。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安全眼镜主要用来防护：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液体飞溅</a:t>
            </a:r>
          </a:p>
          <a:p>
            <a:pPr algn="l"/>
            <a:r>
              <a:rPr sz="1500" b="0">
                <a:solidFill>
                  <a:srgbClr val="222B33"/>
                </a:solidFill>
                <a:latin typeface="Microsoft YaHei"/>
              </a:rPr>
              <a:t>B. 飞来的碎屑和冲击</a:t>
            </a:r>
          </a:p>
          <a:p>
            <a:pPr algn="l"/>
            <a:r>
              <a:rPr sz="1500" b="0">
                <a:solidFill>
                  <a:srgbClr val="222B33"/>
                </a:solidFill>
                <a:latin typeface="Microsoft YaHei"/>
              </a:rPr>
              <a:t>C. 激光</a:t>
            </a:r>
          </a:p>
          <a:p>
            <a:pPr algn="l"/>
            <a:r>
              <a:rPr sz="1500" b="0">
                <a:solidFill>
                  <a:srgbClr val="222B33"/>
                </a:solidFill>
                <a:latin typeface="Microsoft YaHei"/>
              </a:rPr>
              <a:t>D. 有毒气体</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护目镜推到额头上，需要时再拉下来</a:t>
            </a:r>
          </a:p>
          <a:p>
            <a:pPr algn="l"/>
            <a:r>
              <a:rPr sz="1500" b="0">
                <a:solidFill>
                  <a:srgbClr val="222B33"/>
                </a:solidFill>
                <a:latin typeface="Microsoft YaHei"/>
              </a:rPr>
              <a:t>B. 看别人操作时摘下护目镜</a:t>
            </a:r>
          </a:p>
          <a:p>
            <a:pPr algn="l"/>
            <a:r>
              <a:rPr sz="1500" b="0">
                <a:solidFill>
                  <a:srgbClr val="222B33"/>
                </a:solidFill>
                <a:latin typeface="Microsoft YaHei"/>
              </a:rPr>
              <a:t>C. 从进入防护区域到离开全程戴着</a:t>
            </a:r>
          </a:p>
          <a:p>
            <a:pPr algn="l"/>
            <a:r>
              <a:rPr sz="1500" b="0">
                <a:solidFill>
                  <a:srgbClr val="222B33"/>
                </a:solidFill>
                <a:latin typeface="Microsoft YaHei"/>
              </a:rPr>
              <a:t>D. 镜片划花了继续用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简答：眼睛不慎溅入化学品，应该怎么做？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眼睛最怕伤，护眼最划算</a:t>
            </a:r>
          </a:p>
          <a:p>
            <a:pPr>
              <a:spcAft>
                <a:spcPts val="800"/>
              </a:spcAft>
            </a:pPr>
            <a:r>
              <a:rPr sz="1500">
                <a:solidFill>
                  <a:srgbClr val="FFFFFF"/>
                </a:solidFill>
                <a:latin typeface="Microsoft YaHei"/>
              </a:rPr>
              <a:t>▪ K2  三类眼面防护，按用途选</a:t>
            </a:r>
          </a:p>
          <a:p>
            <a:pPr>
              <a:spcAft>
                <a:spcPts val="800"/>
              </a:spcAft>
            </a:pPr>
            <a:r>
              <a:rPr sz="1500">
                <a:solidFill>
                  <a:srgbClr val="FFFFFF"/>
                </a:solidFill>
                <a:latin typeface="Microsoft YaHei"/>
              </a:rPr>
              <a:t>▪ K3  安全眼镜防冲击，挡不住液体</a:t>
            </a:r>
          </a:p>
          <a:p>
            <a:pPr>
              <a:spcAft>
                <a:spcPts val="800"/>
              </a:spcAft>
            </a:pPr>
            <a:r>
              <a:rPr sz="1500">
                <a:solidFill>
                  <a:srgbClr val="FFFFFF"/>
                </a:solidFill>
                <a:latin typeface="Microsoft YaHei"/>
              </a:rPr>
              <a:t>▪ K4  有飞溅，戴防溅护目镜</a:t>
            </a:r>
          </a:p>
          <a:p>
            <a:pPr>
              <a:spcAft>
                <a:spcPts val="800"/>
              </a:spcAft>
            </a:pPr>
            <a:r>
              <a:rPr sz="1500">
                <a:solidFill>
                  <a:srgbClr val="FFFFFF"/>
                </a:solidFill>
                <a:latin typeface="Microsoft YaHei"/>
              </a:rPr>
              <a:t>▪ K5  面屏加在护目镜外</a:t>
            </a:r>
          </a:p>
          <a:p>
            <a:pPr>
              <a:spcAft>
                <a:spcPts val="800"/>
              </a:spcAft>
            </a:pPr>
            <a:r>
              <a:rPr sz="1500">
                <a:solidFill>
                  <a:srgbClr val="FFFFFF"/>
                </a:solidFill>
                <a:latin typeface="Microsoft YaHei"/>
              </a:rPr>
              <a:t>▪ K6  普通眼镜不能代替护目镜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化学实验室不戴隐形眼镜</a:t>
            </a:r>
          </a:p>
          <a:p>
            <a:pPr>
              <a:spcAft>
                <a:spcPts val="800"/>
              </a:spcAft>
            </a:pPr>
            <a:r>
              <a:rPr sz="1500">
                <a:solidFill>
                  <a:srgbClr val="FFFFFF"/>
                </a:solidFill>
                <a:latin typeface="Microsoft YaHei"/>
              </a:rPr>
              <a:t>▪ K8  看清标识，选合格产品</a:t>
            </a:r>
          </a:p>
          <a:p>
            <a:pPr>
              <a:spcAft>
                <a:spcPts val="800"/>
              </a:spcAft>
            </a:pPr>
            <a:r>
              <a:rPr sz="1500">
                <a:solidFill>
                  <a:srgbClr val="FFFFFF"/>
                </a:solidFill>
                <a:latin typeface="Microsoft YaHei"/>
              </a:rPr>
              <a:t>▪ K9  戴在眼睛上，全程不摘</a:t>
            </a:r>
          </a:p>
          <a:p>
            <a:pPr>
              <a:spcAft>
                <a:spcPts val="800"/>
              </a:spcAft>
            </a:pPr>
            <a:r>
              <a:rPr sz="1500">
                <a:solidFill>
                  <a:srgbClr val="FFFFFF"/>
                </a:solidFill>
                <a:latin typeface="Microsoft YaHei"/>
              </a:rPr>
              <a:t>▪ K10  各类实验的通用防护提醒</a:t>
            </a:r>
          </a:p>
          <a:p>
            <a:pPr>
              <a:spcAft>
                <a:spcPts val="800"/>
              </a:spcAft>
            </a:pPr>
            <a:r>
              <a:rPr sz="1500">
                <a:solidFill>
                  <a:srgbClr val="FFFFFF"/>
                </a:solidFill>
                <a:latin typeface="Microsoft YaHei"/>
              </a:rPr>
              <a:t>▪ S1  眼睛进了东西，立即冲洗</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防护手套的选择与使用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适用对象：全体进入高校实验室的本科生、研究生和教职工（必修）；化学、生物、医学、材料和工程实训实验室人员重点学习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能说出没有万能手套，能做到按化学品安全技术说明书和手套耐化学性资料选择手套材质。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能判断化学品会渗透手套，做到戴前检查、沾污或破损立即更换。</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能做到用“翻着摘”的方法摘除手套并洗手，戴着手套不碰公共物品。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能根据高温、低温、锐器等危害选用隔热、低温、防割手套。</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化学品及微生物防护手套》：化学品及微生物防护手套的技术要求和标识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第1部分：总则》：按危害配备手部防护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内容和项目顺序》：说明书中的个体防护信息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本校实验室安全管理制度、危险废物管理规定和各实验室防护要求（以本校规定为准）</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手套是皮肤外的又一层屏障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皮肤是第一道屏障，手套再加一层</a:t>
            </a:r>
          </a:p>
          <a:p>
            <a:pPr>
              <a:spcAft>
                <a:spcPts val="1000"/>
              </a:spcAft>
            </a:pPr>
            <a:r>
              <a:rPr sz="2000">
                <a:solidFill>
                  <a:srgbClr val="222B33"/>
                </a:solidFill>
                <a:latin typeface="Microsoft YaHei"/>
              </a:rPr>
              <a:t>▪ 手最容易受伤：腐蚀、烫、冻、割</a:t>
            </a:r>
          </a:p>
          <a:p>
            <a:pPr>
              <a:spcAft>
                <a:spcPts val="1000"/>
              </a:spcAft>
            </a:pPr>
            <a:r>
              <a:rPr sz="2000">
                <a:solidFill>
                  <a:srgbClr val="222B33"/>
                </a:solidFill>
                <a:latin typeface="Microsoft YaHei"/>
              </a:rPr>
              <a:t>▪ 样品毒性常常说不清，要养成戴手套的习惯</a:t>
            </a:r>
          </a:p>
          <a:p>
            <a:pPr>
              <a:spcAft>
                <a:spcPts val="1000"/>
              </a:spcAft>
            </a:pPr>
            <a:r>
              <a:rPr sz="2000">
                <a:solidFill>
                  <a:srgbClr val="222B33"/>
                </a:solidFill>
                <a:latin typeface="Microsoft YaHei"/>
              </a:rPr>
              <a:t>▪ 操作化学品时，全程戴着合适的手套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手是实验中接触化学品、热源、锐器最多的部位，也最容易受伤。皮肤本身是一道屏障，但挡不住腐蚀性物质和能透过皮肤吸收的化学品；手套是在皮肤外面再加的一层防护。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认为样品量少、看着无害就徒手操作</a:t>
            </a:r>
          </a:p>
          <a:p>
            <a:pPr>
              <a:spcAft>
                <a:spcPts val="1000"/>
              </a:spcAft>
            </a:pPr>
            <a:r>
              <a:rPr sz="1500">
                <a:solidFill>
                  <a:srgbClr val="222B33"/>
                </a:solidFill>
                <a:latin typeface="Microsoft YaHei"/>
              </a:rPr>
              <a:t>▪ 只在“危险操作”时才临时戴手套</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一副丁腈手套不是什么都能挡</a:t>
            </a:r>
          </a:p>
          <a:p>
            <a:pPr>
              <a:spcAft>
                <a:spcPts val="1000"/>
              </a:spcAft>
            </a:pPr>
            <a:r>
              <a:rPr sz="2000">
                <a:solidFill>
                  <a:srgbClr val="222B33"/>
                </a:solidFill>
                <a:latin typeface="Microsoft YaHei"/>
              </a:rPr>
              <a:t>▪ 不同材质的手套，耐受的化学品不同</a:t>
            </a:r>
          </a:p>
          <a:p>
            <a:pPr>
              <a:spcAft>
                <a:spcPts val="1000"/>
              </a:spcAft>
            </a:pPr>
            <a:r>
              <a:rPr sz="2000">
                <a:solidFill>
                  <a:srgbClr val="222B33"/>
                </a:solidFill>
                <a:latin typeface="Microsoft YaHei"/>
              </a:rPr>
              <a:t>▪ 乳胶挡得住微生物，挡不住多数化学品</a:t>
            </a:r>
          </a:p>
          <a:p>
            <a:pPr>
              <a:spcAft>
                <a:spcPts val="1000"/>
              </a:spcAft>
            </a:pPr>
            <a:r>
              <a:rPr sz="2000">
                <a:solidFill>
                  <a:srgbClr val="222B33"/>
                </a:solidFill>
                <a:latin typeface="Microsoft YaHei"/>
              </a:rPr>
              <a:t>▪ 丁腈适合偶然接触，遇酮类、氯代溶剂易失效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很多人以为一次性丁腈手套什么都能挡，这是危险的误解。丁腈、乳胶、氯丁橡胶、丁基橡胶等不同材质的手套，耐受的化学品各不相同，没有一种手套能防所有化学品。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所有实验都只戴一次性丁腈手套</a:t>
            </a:r>
          </a:p>
          <a:p>
            <a:pPr>
              <a:spcAft>
                <a:spcPts val="1000"/>
              </a:spcAft>
            </a:pPr>
            <a:r>
              <a:rPr sz="1500">
                <a:solidFill>
                  <a:srgbClr val="222B33"/>
                </a:solidFill>
                <a:latin typeface="Microsoft YaHei"/>
              </a:rPr>
              <a:t>▪ 用乳胶手套处理有机溶剂</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查说明书和耐化学性资料选手套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先查化学品安全技术说明书的个体防护部分</a:t>
            </a:r>
          </a:p>
          <a:p>
            <a:pPr>
              <a:spcAft>
                <a:spcPts val="1000"/>
              </a:spcAft>
            </a:pPr>
            <a:r>
              <a:rPr sz="2000">
                <a:solidFill>
                  <a:srgbClr val="222B33"/>
                </a:solidFill>
                <a:latin typeface="Microsoft YaHei"/>
              </a:rPr>
              <a:t>▪ 再查手套的耐化学性资料</a:t>
            </a:r>
          </a:p>
          <a:p>
            <a:pPr>
              <a:spcAft>
                <a:spcPts val="1000"/>
              </a:spcAft>
            </a:pPr>
            <a:r>
              <a:rPr sz="2000">
                <a:solidFill>
                  <a:srgbClr val="222B33"/>
                </a:solidFill>
                <a:latin typeface="Microsoft YaHei"/>
              </a:rPr>
              <a:t>▪ 重点看穿透时间和降解程度</a:t>
            </a:r>
          </a:p>
          <a:p>
            <a:pPr>
              <a:spcAft>
                <a:spcPts val="1000"/>
              </a:spcAft>
            </a:pPr>
            <a:r>
              <a:rPr sz="2000">
                <a:solidFill>
                  <a:srgbClr val="222B33"/>
                </a:solidFill>
                <a:latin typeface="Microsoft YaHei"/>
              </a:rPr>
              <a:t>▪ 实验课按老师规定，拿不准就问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只凭手套颜色或“实验室常用”就选</a:t>
            </a:r>
          </a:p>
          <a:p>
            <a:pPr>
              <a:spcAft>
                <a:spcPts val="1000"/>
              </a:spcAft>
            </a:pPr>
            <a:r>
              <a:rPr sz="1500">
                <a:solidFill>
                  <a:srgbClr val="222B33"/>
                </a:solidFill>
                <a:latin typeface="Microsoft YaHei"/>
              </a:rPr>
              <a:t>▪ 不看说明书，柜子里有什么戴什么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化学品会渗透，沾上就换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化学品会随时间慢慢渗过手套</a:t>
            </a:r>
          </a:p>
          <a:p>
            <a:pPr>
              <a:spcAft>
                <a:spcPts val="1000"/>
              </a:spcAft>
            </a:pPr>
            <a:r>
              <a:rPr sz="2000">
                <a:solidFill>
                  <a:srgbClr val="222B33"/>
                </a:solidFill>
                <a:latin typeface="Microsoft YaHei"/>
              </a:rPr>
              <a:t>▪ 有的溶剂很快就能穿透一次性薄手套</a:t>
            </a:r>
          </a:p>
          <a:p>
            <a:pPr>
              <a:spcAft>
                <a:spcPts val="1000"/>
              </a:spcAft>
            </a:pPr>
            <a:r>
              <a:rPr sz="2000">
                <a:solidFill>
                  <a:srgbClr val="222B33"/>
                </a:solidFill>
                <a:latin typeface="Microsoft YaHei"/>
              </a:rPr>
              <a:t>▪ 沾上化学品、破了、湿了，立即更换</a:t>
            </a:r>
          </a:p>
          <a:p>
            <a:pPr>
              <a:spcAft>
                <a:spcPts val="1000"/>
              </a:spcAft>
            </a:pPr>
            <a:r>
              <a:rPr sz="2000">
                <a:solidFill>
                  <a:srgbClr val="222B33"/>
                </a:solidFill>
                <a:latin typeface="Microsoft YaHei"/>
              </a:rPr>
              <a:t>▪ 没沾上也按规程定期更换，换后洗手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手套沾了溶剂，擦一擦继续用</a:t>
            </a:r>
          </a:p>
          <a:p>
            <a:pPr>
              <a:spcAft>
                <a:spcPts val="1000"/>
              </a:spcAft>
            </a:pPr>
            <a:r>
              <a:rPr sz="1500">
                <a:solidFill>
                  <a:srgbClr val="222B33"/>
                </a:solidFill>
                <a:latin typeface="Microsoft YaHei"/>
              </a:rPr>
              <a:t>▪ 一副手套从早戴到晚</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浸泡、强腐蚀、高毒：专用手套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手要浸入溶剂时，换专用材质的厚手套</a:t>
            </a:r>
          </a:p>
          <a:p>
            <a:pPr>
              <a:spcAft>
                <a:spcPts val="1000"/>
              </a:spcAft>
            </a:pPr>
            <a:r>
              <a:rPr sz="2000">
                <a:solidFill>
                  <a:srgbClr val="222B33"/>
                </a:solidFill>
                <a:latin typeface="Microsoft YaHei"/>
              </a:rPr>
              <a:t>▪ 强腐蚀品，戴长到手臂的橡胶手套</a:t>
            </a:r>
          </a:p>
          <a:p>
            <a:pPr>
              <a:spcAft>
                <a:spcPts val="1000"/>
              </a:spcAft>
            </a:pPr>
            <a:r>
              <a:rPr sz="2000">
                <a:solidFill>
                  <a:srgbClr val="222B33"/>
                </a:solidFill>
                <a:latin typeface="Microsoft YaHei"/>
              </a:rPr>
              <a:t>▪ 处理酸，选耐酸手套</a:t>
            </a:r>
          </a:p>
          <a:p>
            <a:pPr>
              <a:spcAft>
                <a:spcPts val="1000"/>
              </a:spcAft>
            </a:pPr>
            <a:r>
              <a:rPr sz="2000">
                <a:solidFill>
                  <a:srgbClr val="222B33"/>
                </a:solidFill>
                <a:latin typeface="Microsoft YaHei"/>
              </a:rPr>
              <a:t>▪ 高毒作业戴双层手套，外层破了内层挡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一次性薄手套只适合偶然接触。如果操作需要把手浸入溶剂，普通薄手套几分钟就会被渗透，必须换用按说明书和耐化学性资料选定的专用材质厚手套。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戴一次性薄手套把手伸进溶剂里</a:t>
            </a:r>
          </a:p>
          <a:p>
            <a:pPr>
              <a:spcAft>
                <a:spcPts val="1000"/>
              </a:spcAft>
            </a:pPr>
            <a:r>
              <a:rPr sz="1500">
                <a:solidFill>
                  <a:srgbClr val="222B33"/>
                </a:solidFill>
                <a:latin typeface="Microsoft YaHei"/>
              </a:rPr>
              <a:t>▪ 双层手套外层破了还继续操作</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大小合适，戴前检查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选合手的尺寸和厚度，太松太紧都不好</a:t>
            </a:r>
          </a:p>
          <a:p>
            <a:pPr>
              <a:spcAft>
                <a:spcPts val="1000"/>
              </a:spcAft>
            </a:pPr>
            <a:r>
              <a:rPr sz="2000">
                <a:solidFill>
                  <a:srgbClr val="222B33"/>
                </a:solidFill>
                <a:latin typeface="Microsoft YaHei"/>
              </a:rPr>
              <a:t>▪ 戴前检查有没有破口、小孔、变色</a:t>
            </a:r>
          </a:p>
          <a:p>
            <a:pPr>
              <a:spcAft>
                <a:spcPts val="1000"/>
              </a:spcAft>
            </a:pPr>
            <a:r>
              <a:rPr sz="2000">
                <a:solidFill>
                  <a:srgbClr val="222B33"/>
                </a:solidFill>
                <a:latin typeface="Microsoft YaHei"/>
              </a:rPr>
              <a:t>▪ 有破损直接换一副</a:t>
            </a:r>
          </a:p>
          <a:p>
            <a:pPr>
              <a:spcAft>
                <a:spcPts val="1000"/>
              </a:spcAft>
            </a:pPr>
            <a:r>
              <a:rPr sz="2000">
                <a:solidFill>
                  <a:srgbClr val="222B33"/>
                </a:solidFill>
                <a:latin typeface="Microsoft YaHei"/>
              </a:rPr>
              <a:t>▪ 一次性手套不重复使用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手套有不同尺寸和厚度。太松容易滑脱、夹住器皿，太紧容易撕裂、手指发累；按手的大小和操作需要选合手的。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不检查就戴，带着小孔操作</a:t>
            </a:r>
          </a:p>
          <a:p>
            <a:pPr>
              <a:spcAft>
                <a:spcPts val="1000"/>
              </a:spcAft>
            </a:pPr>
            <a:r>
              <a:rPr sz="1500">
                <a:solidFill>
                  <a:srgbClr val="222B33"/>
                </a:solidFill>
                <a:latin typeface="Microsoft YaHei"/>
              </a:rPr>
              <a:t>▪ 用嘴往手套里吹气检查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翻着摘手套，摘完洗手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不捏指尖拽，以免污染沾到手上</a:t>
            </a:r>
          </a:p>
          <a:p>
            <a:pPr>
              <a:spcAft>
                <a:spcPts val="1000"/>
              </a:spcAft>
            </a:pPr>
            <a:r>
              <a:rPr sz="2000">
                <a:solidFill>
                  <a:srgbClr val="222B33"/>
                </a:solidFill>
                <a:latin typeface="Microsoft YaHei"/>
              </a:rPr>
              <a:t>▪ 捏住腕部外侧翻着剥下，团在另一只手心</a:t>
            </a:r>
          </a:p>
          <a:p>
            <a:pPr>
              <a:spcAft>
                <a:spcPts val="1000"/>
              </a:spcAft>
            </a:pPr>
            <a:r>
              <a:rPr sz="2000">
                <a:solidFill>
                  <a:srgbClr val="222B33"/>
                </a:solidFill>
                <a:latin typeface="Microsoft YaHei"/>
              </a:rPr>
              <a:t>▪ 裸手伸进内侧，翻转剥下包住第一只</a:t>
            </a:r>
          </a:p>
          <a:p>
            <a:pPr>
              <a:spcAft>
                <a:spcPts val="1000"/>
              </a:spcAft>
            </a:pPr>
            <a:r>
              <a:rPr sz="2000">
                <a:solidFill>
                  <a:srgbClr val="222B33"/>
                </a:solidFill>
                <a:latin typeface="Microsoft YaHei"/>
              </a:rPr>
              <a:t>▪ 丢进指定容器，摘完认真洗手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捏着手指尖把手套拽下来</a:t>
            </a:r>
          </a:p>
          <a:p>
            <a:pPr>
              <a:spcAft>
                <a:spcPts val="1000"/>
              </a:spcAft>
            </a:pPr>
            <a:r>
              <a:rPr sz="1500">
                <a:solidFill>
                  <a:srgbClr val="222B33"/>
                </a:solidFill>
                <a:latin typeface="Microsoft YaHei"/>
              </a:rPr>
              <a:t>▪ 摘了手套不洗手就离开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戴手套不碰门把手、开关、电话、手机</a:t>
            </a:r>
          </a:p>
          <a:p>
            <a:pPr>
              <a:spcAft>
                <a:spcPts val="1000"/>
              </a:spcAft>
            </a:pPr>
            <a:r>
              <a:rPr sz="2000">
                <a:solidFill>
                  <a:srgbClr val="222B33"/>
                </a:solidFill>
                <a:latin typeface="Microsoft YaHei"/>
              </a:rPr>
              <a:t>▪ 手套上的化学品会“搬家”，传给别人</a:t>
            </a:r>
          </a:p>
          <a:p>
            <a:pPr>
              <a:spcAft>
                <a:spcPts val="1000"/>
              </a:spcAft>
            </a:pPr>
            <a:r>
              <a:rPr sz="2000">
                <a:solidFill>
                  <a:srgbClr val="222B33"/>
                </a:solidFill>
                <a:latin typeface="Microsoft YaHei"/>
              </a:rPr>
              <a:t>▪ 笔放进嘴里，化学品就进了身体</a:t>
            </a:r>
          </a:p>
          <a:p>
            <a:pPr>
              <a:spcAft>
                <a:spcPts val="1000"/>
              </a:spcAft>
            </a:pPr>
            <a:r>
              <a:rPr sz="2000">
                <a:solidFill>
                  <a:srgbClr val="222B33"/>
                </a:solidFill>
                <a:latin typeface="Microsoft YaHei"/>
              </a:rPr>
              <a:t>▪ 离开操作区先摘手套洗手，再碰公共物品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手套上沾的化学品或微生物会到处“搬家”：门把手、电灯开关、电话、计算器、电脑键盘、手机都会被沾上，再传给不戴手套的人。笔、手指一碰嘴，化学品就进了身体——这也是实验室里不能饮食的原因（第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戴着手套开门、按电梯、看手机</a:t>
            </a:r>
          </a:p>
          <a:p>
            <a:pPr>
              <a:spcAft>
                <a:spcPts val="1000"/>
              </a:spcAft>
            </a:pPr>
            <a:r>
              <a:rPr sz="1500">
                <a:solidFill>
                  <a:srgbClr val="222B33"/>
                </a:solidFill>
                <a:latin typeface="Microsoft YaHei"/>
              </a:rPr>
              <a:t>▪ 把记录本和手机放在操作台上</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隔热、低温、防割，各用各的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拿热的东西戴隔热手套，实验室常备</a:t>
            </a:r>
          </a:p>
          <a:p>
            <a:pPr>
              <a:spcAft>
                <a:spcPts val="1000"/>
              </a:spcAft>
            </a:pPr>
            <a:r>
              <a:rPr sz="2000">
                <a:solidFill>
                  <a:srgbClr val="222B33"/>
                </a:solidFill>
                <a:latin typeface="Microsoft YaHei"/>
              </a:rPr>
              <a:t>▪ 取干冰、超低温样品戴低温手套</a:t>
            </a:r>
          </a:p>
          <a:p>
            <a:pPr>
              <a:spcAft>
                <a:spcPts val="1000"/>
              </a:spcAft>
            </a:pPr>
            <a:r>
              <a:rPr sz="2000">
                <a:solidFill>
                  <a:srgbClr val="222B33"/>
                </a:solidFill>
                <a:latin typeface="Microsoft YaHei"/>
              </a:rPr>
              <a:t>▪ 处理锐器、搬板材废料戴防割手套</a:t>
            </a:r>
          </a:p>
          <a:p>
            <a:pPr>
              <a:spcAft>
                <a:spcPts val="1000"/>
              </a:spcAft>
            </a:pPr>
            <a:r>
              <a:rPr sz="2000">
                <a:solidFill>
                  <a:srgbClr val="222B33"/>
                </a:solidFill>
                <a:latin typeface="Microsoft YaHei"/>
              </a:rPr>
              <a:t>▪ 振动、搬运等作业，选对应的专用手套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戴一次性丁腈手套去拿热烧杯</a:t>
            </a:r>
          </a:p>
          <a:p>
            <a:pPr>
              <a:spcAft>
                <a:spcPts val="1000"/>
              </a:spcAft>
            </a:pPr>
            <a:r>
              <a:rPr sz="1500">
                <a:solidFill>
                  <a:srgbClr val="222B33"/>
                </a:solidFill>
                <a:latin typeface="Microsoft YaHei"/>
              </a:rPr>
              <a:t>▪ 徒手搬运切割后的金属边角料</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选符合国家标准的合格手套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选符合国家标准、有合格标识的手套</a:t>
            </a:r>
          </a:p>
          <a:p>
            <a:pPr>
              <a:spcAft>
                <a:spcPts val="1000"/>
              </a:spcAft>
            </a:pPr>
            <a:r>
              <a:rPr sz="2000">
                <a:solidFill>
                  <a:srgbClr val="222B33"/>
                </a:solidFill>
                <a:latin typeface="Microsoft YaHei"/>
              </a:rPr>
              <a:t>▪ 看清防护类型，不用来路不明的产品</a:t>
            </a:r>
          </a:p>
          <a:p>
            <a:pPr>
              <a:spcAft>
                <a:spcPts val="1000"/>
              </a:spcAft>
            </a:pPr>
            <a:r>
              <a:rPr sz="2000">
                <a:solidFill>
                  <a:srgbClr val="222B33"/>
                </a:solidFill>
                <a:latin typeface="Microsoft YaHei"/>
              </a:rPr>
              <a:t>▪ 实验室按危害配备，用完及时补齐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化学品及微生物防护手套应符合 GB 28881-2023（以现行文本为准）《手部防护 化学品及微生物防护手套》等国家标准，包装和产品上有相应标识，选用前看清标识和说明，确认适用于你要防的危害；不使用无标识、来路不明的……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用家用清洁手套代替化学防护手套</a:t>
            </a:r>
          </a:p>
          <a:p>
            <a:pPr>
              <a:spcAft>
                <a:spcPts val="1000"/>
              </a:spcAft>
            </a:pPr>
            <a:r>
              <a:rPr sz="1500">
                <a:solidFill>
                  <a:srgbClr val="222B33"/>
                </a:solidFill>
                <a:latin typeface="Microsoft YaHei"/>
              </a:rPr>
              <a:t>▪ 手套用完了就不戴，等别人补</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使用某种有机溶剂前选择手套，首先应该：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选实验室最常用的丁腈手套</a:t>
            </a:r>
          </a:p>
          <a:p>
            <a:pPr algn="l"/>
            <a:r>
              <a:rPr sz="1500" b="0">
                <a:solidFill>
                  <a:srgbClr val="222B33"/>
                </a:solidFill>
                <a:latin typeface="Microsoft YaHei"/>
              </a:rPr>
              <a:t>B. 查该化学品安全技术说明书的个体防护部分和手套耐化学性资料</a:t>
            </a:r>
          </a:p>
          <a:p>
            <a:pPr algn="l"/>
            <a:r>
              <a:rPr sz="1500" b="0">
                <a:solidFill>
                  <a:srgbClr val="222B33"/>
                </a:solidFill>
                <a:latin typeface="Microsoft YaHei"/>
              </a:rPr>
              <a:t>C. 选最厚的手套</a:t>
            </a:r>
          </a:p>
          <a:p>
            <a:pPr algn="l"/>
            <a:r>
              <a:rPr sz="1500" b="0">
                <a:solidFill>
                  <a:srgbClr val="222B33"/>
                </a:solidFill>
                <a:latin typeface="Microsoft YaHei"/>
              </a:rPr>
              <a:t>D. 戴两层乳胶手套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判断：一次性丁腈手套能防所有化学品，沾上溶剂擦干净即可继续使用。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下列摘手套的做法正确的是：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捏住指尖往下拽</a:t>
            </a:r>
          </a:p>
          <a:p>
            <a:pPr algn="l"/>
            <a:r>
              <a:rPr sz="1500" b="0">
                <a:solidFill>
                  <a:srgbClr val="222B33"/>
                </a:solidFill>
                <a:latin typeface="Microsoft YaHei"/>
              </a:rPr>
              <a:t>B. 捏住腕部外侧翻着剥下，裸手从内侧剥下第二只并包住第一只</a:t>
            </a:r>
          </a:p>
          <a:p>
            <a:pPr algn="l"/>
            <a:r>
              <a:rPr sz="1500" b="0">
                <a:solidFill>
                  <a:srgbClr val="222B33"/>
                </a:solidFill>
                <a:latin typeface="Microsoft YaHei"/>
              </a:rPr>
              <a:t>C. 用牙咬住手套拽下</a:t>
            </a:r>
          </a:p>
          <a:p>
            <a:pPr algn="l"/>
            <a:r>
              <a:rPr sz="1500" b="0">
                <a:solidFill>
                  <a:srgbClr val="222B33"/>
                </a:solidFill>
                <a:latin typeface="Microsoft YaHei"/>
              </a:rPr>
              <a:t>D. 摘下后不洗手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判断：戴着做实验的手套去开门、接手机，可以节省时间，没有危害。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从烘箱中取出热的烧杯，应戴：</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一次性丁腈手套</a:t>
            </a:r>
          </a:p>
          <a:p>
            <a:pPr algn="l"/>
            <a:r>
              <a:rPr sz="1500" b="0">
                <a:solidFill>
                  <a:srgbClr val="222B33"/>
                </a:solidFill>
                <a:latin typeface="Microsoft YaHei"/>
              </a:rPr>
              <a:t>B. 乳胶手套</a:t>
            </a:r>
          </a:p>
          <a:p>
            <a:pPr algn="l"/>
            <a:r>
              <a:rPr sz="1500" b="0">
                <a:solidFill>
                  <a:srgbClr val="222B33"/>
                </a:solidFill>
                <a:latin typeface="Microsoft YaHei"/>
              </a:rPr>
              <a:t>C. 隔热手套</a:t>
            </a:r>
          </a:p>
          <a:p>
            <a:pPr algn="l"/>
            <a:r>
              <a:rPr sz="1500" b="0">
                <a:solidFill>
                  <a:srgbClr val="222B33"/>
                </a:solidFill>
                <a:latin typeface="Microsoft YaHei"/>
              </a:rPr>
              <a:t>D. 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简答：工作中发现手套破了，应该怎么做？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手套是皮肤外的又一层屏障</a:t>
            </a:r>
          </a:p>
          <a:p>
            <a:pPr>
              <a:spcAft>
                <a:spcPts val="800"/>
              </a:spcAft>
            </a:pPr>
            <a:r>
              <a:rPr sz="1800">
                <a:solidFill>
                  <a:srgbClr val="FFFFFF"/>
                </a:solidFill>
                <a:latin typeface="Microsoft YaHei"/>
              </a:rPr>
              <a:t>▪ K2  没有万能手套</a:t>
            </a:r>
          </a:p>
          <a:p>
            <a:pPr>
              <a:spcAft>
                <a:spcPts val="800"/>
              </a:spcAft>
            </a:pPr>
            <a:r>
              <a:rPr sz="1800">
                <a:solidFill>
                  <a:srgbClr val="FFFFFF"/>
                </a:solidFill>
                <a:latin typeface="Microsoft YaHei"/>
              </a:rPr>
              <a:t>▪ K3  查说明书和耐化学性资料选手套</a:t>
            </a:r>
          </a:p>
          <a:p>
            <a:pPr>
              <a:spcAft>
                <a:spcPts val="800"/>
              </a:spcAft>
            </a:pPr>
            <a:r>
              <a:rPr sz="1800">
                <a:solidFill>
                  <a:srgbClr val="FFFFFF"/>
                </a:solidFill>
                <a:latin typeface="Microsoft YaHei"/>
              </a:rPr>
              <a:t>▪ K4  化学品会渗透，沾上就换</a:t>
            </a:r>
          </a:p>
          <a:p>
            <a:pPr>
              <a:spcAft>
                <a:spcPts val="800"/>
              </a:spcAft>
            </a:pPr>
            <a:r>
              <a:rPr sz="1800">
                <a:solidFill>
                  <a:srgbClr val="FFFFFF"/>
                </a:solidFill>
                <a:latin typeface="Microsoft YaHei"/>
              </a:rPr>
              <a:t>▪ K5  浸泡、强腐蚀、高毒：专用手套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大小合适，戴前检查</a:t>
            </a:r>
          </a:p>
          <a:p>
            <a:pPr>
              <a:spcAft>
                <a:spcPts val="800"/>
              </a:spcAft>
            </a:pPr>
            <a:r>
              <a:rPr sz="1800">
                <a:solidFill>
                  <a:srgbClr val="FFFFFF"/>
                </a:solidFill>
                <a:latin typeface="Microsoft YaHei"/>
              </a:rPr>
              <a:t>▪ K7  翻着摘手套，摘完洗手</a:t>
            </a:r>
          </a:p>
          <a:p>
            <a:pPr>
              <a:spcAft>
                <a:spcPts val="800"/>
              </a:spcAft>
            </a:pPr>
            <a:r>
              <a:rPr sz="1800">
                <a:solidFill>
                  <a:srgbClr val="FFFFFF"/>
                </a:solidFill>
                <a:latin typeface="Microsoft YaHei"/>
              </a:rPr>
              <a:t>▪ K8  戴着手套不碰公共物品</a:t>
            </a:r>
          </a:p>
          <a:p>
            <a:pPr>
              <a:spcAft>
                <a:spcPts val="800"/>
              </a:spcAft>
            </a:pPr>
            <a:r>
              <a:rPr sz="1800">
                <a:solidFill>
                  <a:srgbClr val="FFFFFF"/>
                </a:solidFill>
                <a:latin typeface="Microsoft YaHei"/>
              </a:rPr>
              <a:t>▪ K9  隔热、低温、防割，各用各的</a:t>
            </a:r>
          </a:p>
          <a:p>
            <a:pPr>
              <a:spcAft>
                <a:spcPts val="800"/>
              </a:spcAft>
            </a:pPr>
            <a:r>
              <a:rPr sz="1800">
                <a:solidFill>
                  <a:srgbClr val="FFFFFF"/>
                </a:solidFill>
                <a:latin typeface="Microsoft YaHei"/>
              </a:rPr>
              <a:t>▪ S1  选符合国家标准的合格手套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