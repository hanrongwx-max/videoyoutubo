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里每天都会接触有毒、腐蚀性、致癌或有感染性的物质。污染往往从很小的地方开始：一滴挂在试管外壁的液体沾到手套上，手套再碰笔、门把手、手机、键盘，污染就传到了摸过的每样东西上。几个下意识的动作，就能把它从实验台带走。</a:t>
            </a:r>
          </a:p>
          <a:p>
            <a:r>
              <a:t>有害物质可以沾上皮肤，也可以随手、食物、水杯进入口中；同样的途径还会把杂质带进样品，造成实验结果出错。不加控制，受伤的可能是自己，也可能是同事和离开实验室后接触到的人。</a:t>
            </a:r>
          </a:p>
          <a:p>
            <a:r>
              <a:t>正因为污染这么容易发生，着装、卫生和行为规范要从细节做起：用什么物质、怎么操作、手碰了什么，都要心中有数。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防止化学品伤害皮肤，最基本的办法是让衣物尽量把皮肤遮住。进入实验室穿长袖、长裤，外面按规定穿实验服并扣好扣子；袜子也要穿上，不露出脚踝。</a:t>
            </a:r>
          </a:p>
          <a:p>
            <a:r>
              <a:t>衣物的材质也有讲究：化纤衣物遇火容易燃烧、熔化并粘在皮肤上，加重烧伤；棉质等天然纤维相对更好。在有明火、易燃溶剂的实验室，里面的衣物更应选棉质（实验服和阻燃服的选择见第 024 课）。背心、吊带、露腰装等露出大片皮肤的衣服，不得进入实验室。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短裤、短裙和凉鞋、拖鞋会让腿和脚直接暴露，一旦有液体洒落或玻璃、重物掉落，首先受伤的就是脚。进入实验室应穿长裤和包住脚面、不露脚趾的鞋，鞋面最好不透水、不是网面，能挡住洒落的化学品和液体。</a:t>
            </a:r>
          </a:p>
          <a:p>
            <a:r>
              <a:t>裤腿要盖在鞋面外，不要塞进鞋里，否则液体顺着裤腿流进鞋内。在工程实训车间、有重物搬运或机械加工的场所，还要按要求穿安全鞋，参观的同学也要先按现场要求穿戴好（安全鞋和足部防护见第 021 课）。具体还需要哪些防护，按实验项目的风险评估确定（第 014–015 课）。</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长头发散着，靠近酒精灯、燃气灯会着火，还会挡住视线、扫翻器皿、垂进烧瓶或培养物中。进实验室前要把长发扎起、盘好，在有转动设备或需要戴帽的场所，把头发收进帽子里。</a:t>
            </a:r>
          </a:p>
          <a:p>
            <a:r>
              <a:t>宽松下垂的衣物同样危险，尤其是大袖口：会扫倒试剂瓶、浸进液体、碰到火焰，还可能被离心机、搅拌器、车床、送丝轮等转动部件卷入。袖口要收紧，围巾、领带、长挂绳、工牌挂绳等下垂物摘掉或收好。</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戒指、手链、手表、悬垂耳环等首饰会钩住器皿和设备，戒指和手链还会戳破手套，缝隙里藏着的化学品和微生物难以清洗干净。进入实验室前应把首饰摘下，放进门外的储物柜。</a:t>
            </a:r>
          </a:p>
          <a:p>
            <a:r>
              <a:t>做电学实验时，金属饰品可能导电造成触电或短路，要摘下金属饰品，并保持双手干燥。需要佩戴密合型口罩或呼吸器时，胡须会破坏面部密合、造成漏气，要提前刮干净（呼吸防护见第 025 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何类型、任何级别的实验室，进门前都要先把自己收拾好：实验服穿好并扣上扣子，长发束起，穿长裤和包脚鞋，首饰摘下，手机等私人物品放好。很多实验室在门口设有穿衣镜或着装提示，进门前对照检查一遍；不符合要求的，不得进入实验室，以本校和本实验室规定为准。</a:t>
            </a:r>
          </a:p>
          <a:p>
            <a:r>
              <a:t>护目镜、手套等防护用品要按实验项目的风险评估和本实验室的要求佩戴，手套要按所用化学品选择、戴前检查有无破损（具体选择见第 021–025 课）。近视的同学戴框架眼镜，并按要求外加护目镜（隐形眼镜问题见第 022 课）。裙子和丝袜不适合实验室：丝袜多为化纤，遇火熔化，也挡不住液体。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背包、外套、水杯等私人物品应留在实验室外的储物柜或清洁区，只带实验需要的东西进去，避免被污染后再带回宿舍和教室。</a:t>
            </a:r>
          </a:p>
          <a:p>
            <a:r>
              <a:t>记录本、电脑、手机、计算器要远离化学品，不放在实验台上；确实需要带进实验区的手机、计算器，可以装进密封袋。在生物安全实验室，私人物品一律留在清洁区，记录使用室内专用的设备和用品，按该实验室的规定执行，因为带进污染区的东西很难再干净地带出来。</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内严禁饮食、吸烟、嚼口香糖和化妆。有毒化学品和微生物可能沾在手上、空气中和台面上，吃东西、喝水、化妆时就会随手进入口中或沾到脸上；水杯和烧杯放在一起，还可能被拿错。吸烟则同时带来火源和入口两种风险。</a:t>
            </a:r>
          </a:p>
          <a:p>
            <a:r>
              <a:t>这些规定适用于各类教学和科研实验室，只做“简单”实验时也不例外。要吃东西、喝水，先摘手套、洗手，离开实验区再吃。</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食物和饮料不得带进实验室，也不得在实验室内存放。实验室的冰箱、冰柜只放实验材料，绝不放个人的饭菜、水果、饮料；个人食品放在实验室外的生活区域。</a:t>
            </a:r>
          </a:p>
          <a:p>
            <a:r>
              <a:t>有些实验要用到食品，如胡萝卜、食用油、糖、牛奶等，这些一旦进入实验室，就是实验材料，要标明“仅供实验”，用完按实验废物处理，不能再吃。反过来，也不能用烧杯、量筒、培养皿等实验器皿盛食物或喝水。</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能直接饮用的水叫饮用水。实验室水龙头的水、纯水和去离子水都不能当饮用水：管路、容器可能被污染，纯水也不保证卫生。要喝水，洗手后到实验区外的饮用水处。</a:t>
            </a:r>
          </a:p>
          <a:p>
            <a:r>
              <a:t>实验室的容器不能用来装饮用水；个人的水杯、饭盒、餐具也不能拿到实验室水槽清洗，水槽里可能残留化学品和微生物。此外，不要把实验记录本带到吃饭的地方，以免本子上的污染沾到食物上（见本课 K14）。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摸脸、揉眼、挠鼻子、托腮、咬笔头这些下意识的小动作，会把手上或手套上的污染直接带到眼、鼻、口的黏膜上。操作中要有意识地管住自己的手，戴着手套更不能摸脸。</a:t>
            </a:r>
          </a:p>
          <a:p>
            <a:r>
              <a:t>脸上痒或需要整理眼镜时，先摘下手套、洗手再处理。不要在实验室里摘戴隐形眼镜，摘戴时手指要直接接触眼睛（隐形眼镜与眼面部防护见第 022 课）。</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手套保护的是操作时的手，摘下前它本身就是被污染的物品。戴着手套去开门、按电梯、敲键盘、接电话、拿手机，就把污染留在了这些物品上，下一个徒手接触的人就会沾上。</a:t>
            </a:r>
          </a:p>
          <a:p>
            <a:r>
              <a:t>需要开门或使用公共物品时，先摘下一只手套，用干净的手操作；或者按实验室规定，由“干净手”的同伴协助。用过的手套不要随手丢进生活垃圾桶，沾染危险化学品的按危险废物处理，沾染生物材料的按感染性废物处理（废物处置见第 053 课等，手套的正确摘除见第 023 课）。</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实验服和手套上可能沾有化学品或微生物。穿着实验服坐在办公桌前、去会议室或食堂，污染就会沾到桌面、门把手、水杯上，扩散到原本干净的区域。实验服、手套等防护用品一律不得穿出实验室或实验区。</a:t>
            </a:r>
          </a:p>
          <a:p>
            <a:r>
              <a:t>离开实验室前，先脱下手套和实验服，放到实验室内指定的柜子或挂钩上，护目镜放回指定位置，再洗手离开。防止污染扩散，保护的不只是自己，还有同学、家人和整个校园社区。</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休息、吃饭、回家时，污染可能跟着人走。台面上要分清污染区和清洁区：用过的器皿、移液器、手套放在污染一侧，干净的器材、记录本放在另一侧，绝不混放。用过的东西，都先当它已被污染。</a:t>
            </a:r>
          </a:p>
          <a:p>
            <a:r>
              <a:t>实验记录本和笔放在干净、不会被溅到的位置，不戴着污染的手套写记录。实验用的本子和笔留在实验室，不带去食堂、宿舍。进入生物安全实验室，按该实验室的规定记录。离开工作区之前，要彻底洗手。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设备用完要按程序当天清洁、去污，不留到“明天再说”。共用的加热板、搅拌器、天平、离心机最容易积残留，你不知道下一个用它的人是谁、要做什么，残留物既可能伤到他，也会混进他的样品，让结果出错。</a:t>
            </a:r>
          </a:p>
          <a:p>
            <a:r>
              <a:t>实验开始前、进行中和结束后，都检查一下台面和设备是否干净。发现前一个人没有清洁，不要直接使用，先清洁或报告实验室负责人。体谅前一个人，照顾下一个人（日常清洁与 5S 见第 028 课）。</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上的化学品和微生物，会被带到门把手、食物和脸上。以下时候必须洗手：摘下手套之后；接触化学品、微生物、动物或样品之后；离开实验室之前；吃饭、喝水、去洗手间之前。戴了手套不等于不用洗手，手套可能有看不见的破口，摘手套时手也可能沾上污染。</a:t>
            </a:r>
          </a:p>
          <a:p>
            <a:r>
              <a:t>操作中手套破了或沾污了，要及时摘下、洗手、换新手套。洗手处要备好洗手液和一次性擦手纸巾。离开实验室的顺序是：先脱防护用品，再洗手，最后进入公共区域。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洗手要用流动的水和洗手液（或肥皂）。步骤是：先用流水打湿双手，取适量洗手液；然后依次揉搓掌心、手背、指缝、指背、拇指、指尖和手腕，每个部位都要搓到，揉搓时间不少于 15 秒（以本校规定为准）；再用流水把泡沫冲干净。</a:t>
            </a:r>
          </a:p>
          <a:p>
            <a:r>
              <a:t>洗完用一次性纸巾擦干，用纸巾垫着关闭水龙头，避免干净的手再碰到被污染的龙头；有感应或脚踏式水龙头的直接使用。生物安全实验室按该实验室的洗手程序执行。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长时间实验需要休息时，先摘下手套、脱下实验服、洗手，再离开实验区。喝水、吃东西、拉伸放松，都在实验区外的休息区进行，不在实验台旁或通风柜前休息（工位与疲劳见第 147 课）。</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皮肤上的伤口会让化学品和病原微生物更容易进入人体。手上有伤口、破皮或皮肤病时，要先用防水敷料包扎好，再戴手套；并告诉实验室负责人或导师，必要时暂时调换不接触危险物质的工作。实验中受伤的处理和报告见第 158 课。</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防止污染扩散，可以记住五件事：一是了解所用物质的危害（安全技术说明书见第 041 课）；二是按要求穿戴防护用品；三是用好通风柜、生物安全柜等工程控制；四是保持台面和设备整洁；五是小心工作，不想当然，不凭“应该没事”省略步骤。本课的着装和卫生要求，就是落实这五件事的日常习惯。</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实验服不用时，挂在实验室内指定的挂钩或柜子里，与日常衣物、背包分开存放。实验服不带回宿舍或家中，也不和日常衣物一起清洗，以免把实验室的化学品和微生物带进生活区。</a:t>
            </a:r>
          </a:p>
          <a:p>
            <a:r>
              <a:t>实验服要定期清洗，具体方式（实验室统一清洗、送专门洗涤或一次性使用）按本校规定执行；被化学品或生物材料明显污染的，要立即脱下，装袋标识后交实验室按规定去污或处置，必要时按危险废物或感染性废物管理（实验服的选择见第 024 课）。</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答案：C。解析：衣物要遮住皮肤、穿包脚鞋、长发束起、实验服扣好；化纤丝袜遇火易熔。</a:t>
            </a:r>
          </a:p>
          <a:p>
            <a:r>
              <a:t>第 2 题 答案：B。解析：实验冰箱只放实验材料，个人食品一律不得放入。</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答案：B。解析：手套可能有看不见的破口，摘手套时手也会沾上污染，摘手套后必须洗手。</a:t>
            </a:r>
          </a:p>
          <a:p>
            <a:r>
              <a:t>第 4 题 答案：C。解析：实验服和手套不出实验室，戴着手套不碰门把手等公共物品。</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答案：B。解析：实验室龙头的水和纯水都不是饮用水，喝水要到实验区外的饮用水处。</a:t>
            </a:r>
          </a:p>
          <a:p>
            <a:r>
              <a:t>第 6 题 答案：指缝、指尖、拇指、手背和手腕容易漏洗；洗完用一次性纸巾擦干，再用纸巾垫着关龙头。解析：避免干净的手再被龙头污染。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个人防护装备不是凭习惯随手拿的，而是按风险评估选出来的（风险评估见第 014–015 课）。做实验前，先查所用化学品的安全技术说明书（SDS），其中“接触控制和个体防护”部分给出了眼、手、呼吸和身体防护的建议（SDS 的读法见第 041 课）；再结合用量、浓度、温度、压力、是否加热或产生气溶胶等实验条件，确定要穿戴什么。</a:t>
            </a:r>
          </a:p>
          <a:p>
            <a:r>
              <a:t>反过来也一样：只有台面上所有化学品都已撤走，例如作为讲台使用时，讲解人才可以不穿实验防护。只要有化学品在，就按风险评估穿戴。</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选防护之前，先做书面的危害评估：这次实验有哪些具体危害（飞溅、烫伤、冻伤、吸入、割伤、砸伤），会伤到身体的哪个部位。危害取决于你要做什么，是可以预见的；能预见，就能提前准备好合适的防护。凭感觉乱配，反而会带来新的危险。</a:t>
            </a:r>
          </a:p>
          <a:p>
            <a:r>
              <a:t>不确定需要哪些防护时，问清导师或实验室负责人，该戴的一样不少。同时想好这种化学品或这项操作出了事怎么应急：洗眼器、喷淋、灭火器和泄漏处理用品在哪里（第 027 课）。</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选错的防护比不戴还危险：例如用挡不住某种溶剂的手套去接触它，溶剂会穿透手套并被闷在皮肤上，人却以为自己受到了保护，反而放松了警惕。防护用品必须和具体的危害对得上，选对材质、类型和防护等级。</a:t>
            </a:r>
          </a:p>
          <a:p>
            <a:r>
              <a:t>把选防护当成打勾走过场——“手套、实验服、护目镜，都有了”——只是一场安全表演，护不住人。每次都要问：这件防护挡得住这次的危害吗？</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不同部位有不同的防护：安全眼镜、护目镜、面屏保护眼面部（第 022 课）；手套保护手（第 023 课）；实验服和防护服保护身体（第 024 课）；口罩和呼吸器保护呼吸（第 025 课）；安全帽和安全鞋保护头部和足部（本课 K13、K14）。</a:t>
            </a:r>
          </a:p>
          <a:p>
            <a:r>
              <a:t>要按危害选具体类型：接触危险物料，选能抵御该物料的手套，材质按化学品的说明来选；取用液氮等低温液体，戴防冻手套和面屏；有有害气体、蒸气时，选合适的呼吸防护；处置危险化学品泄漏等事故，按应急预案穿戴相应的防护服。需要时还要加戴口罩和面屏。特殊操作要换上专门的防护（激光防护眼镜见第 114 课，生物防护装备见第 074 课）。</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一般的化学、生物教学和科研实验，最低配置是三件：实验服（扣好）、安全眼镜或护目镜（全程佩戴）、按试剂选择的手套。这三件是在第 020 课着装要求合格（长裤、包脚鞋、长发束起）的基础上穿戴的，风险更高时再按评估增加。</a:t>
            </a:r>
          </a:p>
          <a:p>
            <a:r>
              <a:t>防护用品既能减少受伤，也能避免人体皮屑、毛发和手上的污染进入样品。每项实验都要自己选对、用对防护，不能看别人怎么穿就怎么穿。</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每个实验室都规定了必须穿戴防护的区域，有的在门口、有的在某台设备旁，用“必须戴护目镜”“必须戴防护手套”等指令标志标明（安全标志见第 026 课）。进入前看清标志，按要求穿戴好，进入区域后一步也不能少。</a:t>
            </a:r>
          </a:p>
          <a:p>
            <a:r>
              <a:t>实验室会为工作配备所需的防护用品，通常集中存放在固定的柜子里。新进入实验室时，要知道防护用品放在哪里、谁负责补充（准入培训见第 007 课）。</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按《中华人民共和国安全生产法》等规定，单位要为人员提供符合国家标准或行业标准的劳动防护用品，并教育、监督正确佩戴；在高校，由学校、学院和实验室按实验风险配齐合格的个人防护用品（配备原则见 GB 39800.1-2020，以现行文本为准）。</a:t>
            </a:r>
          </a:p>
          <a:p>
            <a:r>
              <a:t>个人的责任是正确使用：穿对、戴好、保持完好，坏了或不够了及时报告。在规定需要防护的工作中，佩戴防护用品是硬性要求，不是“想戴才戴”的个人选择。</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舒适性也是安全问题。护具不合身、太闷热，人就会分心、出汗、厌烦，容易出错，甚至偷偷摘下；长时间穿戴还可能过热、脱水。防护用品戴全了还受伤，多半是不合适或没用对。</a:t>
            </a:r>
          </a:p>
          <a:p>
            <a:r>
              <a:t>实验室应备齐不同尺码的手套、实验服等，个人要选对尺码和型号，调好松紧带，舒服才能坚持戴。戴近视眼镜的同学，选能罩在眼镜外面的护目镜（第 022 课）。长时间穿戴不透气的防护服时，要安排轮换和休息。</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防护用品每次穿戴前都要检查：手套有没有破洞、变色、发硬；护目镜和面屏镜片有没有划花、开裂；实验服有没有破损和污染；呼吸器滤盒有没有过期、失效（第 025 课）。有裂纹、磨损的，能修的修好，不能修的报废换新。还要检查大小是否合身、戴得是否服帖。</a:t>
            </a:r>
          </a:p>
          <a:p>
            <a:r>
              <a:t>使用中，一整天都要留意防护用品的状况：手套沾上化学品、破了或可能被污染，马上摘下、洗手、更换。选用合格产品，按说明书和风险评估使用。</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个人防护虽是最后一道防线（第 017 课），也要维护好、穿戴正确，它才是挡在危害前面的一层墙。可重复使用的护目镜、面屏、呼吸器用完要清洁，单独存放在干净、干燥、避光处，能专人专用的专人专用。</a:t>
            </a:r>
          </a:p>
          <a:p>
            <a:r>
              <a:t>穿戴要按顺序，并检查是否完好、到位；脱下时不碰被污染的外表面，脱完洗手（具体穿脱顺序见第 075 课，手套摘除见第 023 课）。每次进实验都要穿戴好。</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防护用品穿戴不对，等于没戴；用品缺了，暴露风险就上升。发现防护用品缺失、尺码不合适或型号不对时，不要凑合，及时报告实验室负责人或安全员，补齐后再做实验。</a:t>
            </a:r>
          </a:p>
          <a:p>
            <a:r>
              <a:t>不戴防护、戴不合适、戴不对，最能看出一个人是否专业。规范穿戴防护，是实验人员专业素养的一部分。</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最常见的防护失效，往往出在“就一分钟”“就看一眼”“马上就好”的时候：取个试剂、看一下反应、帮同学递个东西，护目镜就没戴。事故不会因为操作时间短而不发生，再短的操作，防护也不能省。</a:t>
            </a:r>
          </a:p>
          <a:p>
            <a:r>
              <a:t>防护用得好不好，要在真实操作中看。实验室负责人和安全员通过日常巡查、现场观察，趁早发现偏离，别等出了事才知道（安全检查见第 005 课）。</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头部防护用于防砸、防撞，并防止长发被卷入。在实验楼施工改造、设备吊装、高处有物体可能坠落、工程实训等场所，要按要求戴安全帽；骑电动车、摩托车要戴头盔。安全帽要按 GB 2811-2019（以现行文本为准）选用合格产品，戴正，调好帽衬松紧，系好下颏带，长发收进帽内。</a:t>
            </a:r>
          </a:p>
          <a:p>
            <a:r>
              <a:t>安全帽不能钻孔通风、加装配件或随意改装，钻孔会削弱帽壳强度，受撞击时容易开裂；也不要涂刷油漆、用溶剂擦拭。受过明显冲击、帽壳有裂纹或变形、超过产品说明规定的使用期限的，要报废更换。</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足部防护要按风险选择：有重物搬运和坠落风险的，穿有保护包头的防砸鞋；地面有钉子、碎屑的，选防刺穿鞋；地面湿滑的，选防滑鞋；可能接触化学品的，选耐化学品的鞋或胶靴（胶靴同样要有防砸包头）；焊接、熔融金属作业，穿防砸、防烫的劳保鞋。有防静电要求的场所穿防静电鞋；带电作业按规定穿电绝缘鞋，两者用途不同，不能混用（具体按 GB 21148-2020 等现行标准和本校规定）。</a:t>
            </a:r>
          </a:p>
          <a:p>
            <a:r>
              <a:t>安全鞋能减轻伤害，但不是保险：穿着安全鞋，也要远离悬吊的重物、转动的设备，按规程操作。</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个人防护穿对、戴好，能大大降低伤害的程度，但它只是控制层级的最后一层（第 017 课）。光靠防护还不够，还要有通风柜、洗眼器和紧急喷淋等安全设施（第 027 课），以及消除、替代、工程控制和管理措施。</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除了基本防护，还有一些按需加配的防护用品：倾倒、转移较大量的酸碱等腐蚀性液体时，在实验服外加耐化学品的防化围裙，必要时加袖套；接触高温器物用隔热手套（第 023 课）；噪声较大的场所戴耳塞或耳罩（第 150 课）。</a:t>
            </a:r>
          </a:p>
          <a:p>
            <a:r>
              <a:t>所有防护用品都要选有产品合格证明、标识清楚、符合国家标准的产品，按说明书规定的用途和期限使用，不用“三无”产品。</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个人防护用品要“会用”才有效。进入实验室前的安全培训中，要学会本实验室所用防护用品的选择、穿戴、脱卸、检查、清洁、存放和报废判断；呼吸器等专业防护还要单独培训和适合性检验（第 025 课）。</a:t>
            </a:r>
          </a:p>
          <a:p>
            <a:r>
              <a:t>学校和实验室按 GB 39800.1-2020（以现行文本为准）等要求，组织防护用品使用培训，并按本校规定记录培训、发放和报废情况。</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答案：B。解析：防护按风险评估选，先查 SDS 的个体防护建议，再结合实验条件确定。</a:t>
            </a:r>
          </a:p>
          <a:p>
            <a:r>
              <a:t>第 2 题 答案：B。解析：选错防护比不戴更危险，它让人误以为安全，化学品还可能穿透并闷在皮肤上。</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答案：B。解析：钻孔会削弱帽壳强度，受撞击时容易开裂。</a:t>
            </a:r>
          </a:p>
          <a:p>
            <a:r>
              <a:t>第 4 题 答案：C。解析：缺了用错要及时报告，补齐再做，不凑合。</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答案：C。解析：防静电鞋和绝缘鞋用途不同；胶靴也要防砸；安全鞋不是保险。</a:t>
            </a:r>
          </a:p>
          <a:p>
            <a:r>
              <a:t>第 6 题 答案：事故不因操作时间短而不发生，短时操作恰恰是最常见的防护失效场合。解析：再短的操作，防护也不能省。</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眼睛是人体最脆弱的器官之一，化学灼伤、异物击伤和强光伤害往往很难完全恢复。而绝大多数眼部伤害，只要戴好合适的眼面防护就能避免，一副护目镜花钱不多，护住的是一双眼睛。</a:t>
            </a:r>
          </a:p>
          <a:p>
            <a:r>
              <a:t>护眼不只为了化学品：钉钉子、剪断焊丝、切割、打磨时，碎片和断头都可能弹飞；压力气体、焊接、危险物质操作也都会伤眼。剪焊丝等操作时戴好护目镜，脸不要凑得太近，剪下的断头放进废料盒。</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常用的眼面防护有三类：安全眼镜（防冲击，四周有遮挡）、护目镜（贴合面部，防液体飞溅、粉尘）、面屏（护住整张脸和颈部，作为附加防护）。要按工作中的具体危害选择合适的一种，或者组合使用（选择原则见第 021 课）。</a:t>
            </a:r>
          </a:p>
          <a:p>
            <a:r>
              <a:t>有强光的场合，要选带遮光镜片的护目镜。专门的光辐射另有专用防护：激光要用对应波长和防护等级的激光防护眼镜（第 114 课），焊接要用焊接面罩（第 128 课），紫外灯等非激光光辐射见第 111 课。</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安全眼镜的镜片防碎，镜框四周有侧护遮挡，主要用来防飞来的碎屑和冲击；有的尺寸偏大，可以罩在近视眼镜外面；嫌闷热的可选带透气结构的款式。</a:t>
            </a:r>
          </a:p>
          <a:p>
            <a:r>
              <a:t>但安全眼镜与面部之间仍有缝隙，挡不住从侧面、上方溅来的液体。安全眼镜和护目镜用途不同，不能互相代替：有化学液体飞溅危险时，要换成贴合面部的防溅护目镜。</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是最后一道防线，只要可能有液体飞溅，就必须护好眼睛。多数化学实验应戴间接通风的防溅护目镜：镜框四周贴合面部，通风孔带遮罩，液体进不来；直通孔的护目镜只防冲击，不防液体。具体戴哪一种，按风险评估和本校规定。</a:t>
            </a:r>
          </a:p>
          <a:p>
            <a:r>
              <a:t>倾倒消毒剂、配制酸碱溶液、转移液体、加热回流等可能溅洒的操作，都要戴防溅护目镜。戴上后调好松紧带，让镜框四周与面部贴紧，不留缝隙。</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面屏能护住整张脸和颈部，挡住大面积的喷溅；但面屏下方和两侧是敞开的，液体仍可能绕进眼睛，所以面屏不能代替护目镜。需要面屏时，先戴好护目镜，再加面屏。</a:t>
            </a:r>
          </a:p>
          <a:p>
            <a:r>
              <a:t>以下情况要在护目镜外再加面屏：在通风柜里倾倒、转移较多的浓酸浓碱；处理腐蚀性强的物质；可能发生剧烈反应、喷溅或爆裂；可能溅到头、面、颈部的操作；取用液氮等低温液体（第 136 课）。</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很多同学以为戴着近视眼镜就够了。其实普通眼镜两侧和上方都是空的，液体一溅就可能从缝里进入眼睛；普通镜片也不防碎，受到冲击碎裂，碎片反而更伤眼。普通眼镜不能代替任何一种眼部防护。</a:t>
            </a:r>
          </a:p>
          <a:p>
            <a:r>
              <a:t>戴近视眼镜的同学，要选能罩在眼镜外面的护目镜或尺寸偏大的安全眼镜（第 021 课），也可以按本校规定配备带矫正度数的防护眼镜。过滤、减压抽滤、加热、重结晶、薄层色谱和柱色谱等常规操作，全程戴好护目镜。</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化学类实验室原则上不戴隐形眼镜。化学品溅入眼睛时，可能被困在隐形镜片和眼球之间，延长接触时间，还会妨碍冲洗；有些蒸气也会被镜片吸附，刺激眼睛。也不要在实验室里摘戴隐形眼镜（第 020 课）。</a:t>
            </a:r>
          </a:p>
          <a:p>
            <a:r>
              <a:t>近视的同学进入化学实验室，改戴框架眼镜，外面罩护目镜。确因医学原因必须佩戴隐形眼镜的，要告知实验室负责人，并按本校规定戴好密合的护目镜。</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眼面防护具不能只看样子：外形相似的眼镜，防冲击、防液体、防强光的能力可能完全不同。按 GB 14866-2023（以现行文本为准）《眼面防护具通用技术规范》，合格的眼面防护具在镜框和镜片上有相应的标识，选用前要看清标识和说明书，确认它适用于你要防的危害。</a:t>
            </a:r>
          </a:p>
          <a:p>
            <a:r>
              <a:t>不要使用无标识、来路不明的产品。镜片划花影响视线、镜框开裂、松紧带失去弹性的，及时更换（用前检查见第 021 课）。</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护目镜推到额头上、挂在脖子上，等于没戴。眼面防护要从进入规定的防护区域开始，到离开为止全程戴在眼睛上（防护区域见第 021 课）。</a:t>
            </a:r>
          </a:p>
          <a:p>
            <a:r>
              <a:t>自己没有操作，也要戴：旁边同学的操作同样可能溅到你。护目镜起雾时，到安全区域摘下处理，或选用防雾产品，不在操作中摘下。</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本课程第 15 章各项实验技能课中通用的个人防护要求统一在这里说明：进实验室先穿戴个人防护，实验服扣好、护目镜戴好、按所用试剂选好手套，长发扎起、不穿露趾鞋（第 020 课）。做无菌操作时手套远离酒精灯火焰；色谱、萃取等用到有机溶剂时，手套沾了溶剂及时更换（第 023 课）；不徒手处理样品，手套既保护自己，也防样品被污染。</a:t>
            </a:r>
          </a:p>
          <a:p>
            <a:r>
              <a:t>具体穿戴什么，按实验项目的风险评估确定，不清楚的问导师或学院实验室安全管理员。某项操作特有的防护要点（如滴定装碱、加压柱色谱等），在对应技能课中说明。</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即使戴了防护，也可能有意外。眼睛溅入化学品或异物时，立即到最近的洗眼器，用手撑开眼睑，转动眼球，持续冲洗，冲洗时间按本校应急规定和化学品安全技术说明书执行；不要揉眼，不要自行用其他药物中和。</a:t>
            </a:r>
          </a:p>
          <a:p>
            <a:r>
              <a:t>冲洗后报告实验室负责人，带上化学品信息及时就医，必要时拨打 120（洗眼器的位置和使用见第 027 课，眼部急救见第 160 课）。</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答案：C。解析：这是飞溅作业，安全眼镜挡不住液体，面屏不能代替护目镜，要两者一起戴。</a:t>
            </a:r>
          </a:p>
          <a:p>
            <a:r>
              <a:t>第 2 题 答案：B。解析：普通眼镜四周是空的、镜片不防碎，要把罩式护目镜戴在眼镜外面。</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答案：A。解析：化学品可能被困在镜片后，延长接触并妨碍冲洗。</a:t>
            </a:r>
          </a:p>
          <a:p>
            <a:r>
              <a:t>第 4 题 答案：B。解析：安全眼镜防冲击，挡不住侧面和上方溅来的液体。</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答案：C。解析：护目镜要全程戴在眼睛上，旁边有人操作也要戴。</a:t>
            </a:r>
          </a:p>
          <a:p>
            <a:r>
              <a:t>第 6 题 答案：立即到洗眼器，撑开眼睑持续冲洗，不揉眼；然后报告实验室负责人，带上化学品信息就医。解析：详见第 027、160 课。</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手是实验中接触化学品、热源、锐器最多的部位，也最容易受伤。皮肤本身是一道屏障，但挡不住腐蚀性物质和能透过皮肤吸收的化学品；手套是在皮肤外面再加的一层防护。</a:t>
            </a:r>
          </a:p>
          <a:p>
            <a:r>
              <a:t>很多样品、中间体的毒性并不清楚，不能因为“看起来无害”就徒手操作。操作化学品时要养成全程戴手套的习惯，而且要戴对类型（K2、K3）。一次性薄手套不影响手指灵活，不要因为嫌麻烦而不戴。</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很多人以为一次性丁腈手套什么都能挡，这是危险的误解。丁腈、乳胶、氯丁橡胶、丁基橡胶等不同材质的手套，耐受的化学品各不相同，没有一种手套能防所有化学品。</a:t>
            </a:r>
          </a:p>
          <a:p>
            <a:r>
              <a:t>乳胶手套能挡住微生物，但对多数有机溶剂和化学品防护有限，部分人还会对乳胶过敏；一次性丁腈手套适合偶然接触、小量溅洒，遇到酮类、氯代溶剂等会很快溶胀、渗透。选手套一定要让材质对上你实际使用的化学品。</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选手套的步骤：①查所用化学品的安全技术说明书（SDS）中“接触控制和个体防护”部分，看推荐的手套材质；②查手套生产商提供的耐化学性资料，重点看穿透时间（化学品透过手套需要多长时间）和降解程度（手套是否溶胀、变硬、开裂）；③结合操作方式（偶然接触还是长时间接触）、用量和设备危害，确定手套类型。</a:t>
            </a:r>
          </a:p>
          <a:p>
            <a:r>
              <a:t>使用甲醛、二氯甲烷等化学品时尤其要按说明书选材质。实验课上按任课老师的手套规定执行；科研实验拿不准时，问导师或学院实验室安全管理员，并写进实验项目的风险评估（第 021 课）。</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套挡住化学品只是暂时的，化学品会随时间慢慢渗透；二氯甲烷、乙醚等溶剂能很快透过常见的一次性薄手套。手套里面出汗、外面沾液，也会加快渗透。渗透往往没有感觉：有人长期戴不合适的手套处理新试剂，几周都没察觉，直到体检才发现身体异常——问题出在一开始没有评估、没有选对手套。</a:t>
            </a:r>
          </a:p>
          <a:p>
            <a:r>
              <a:t>因此：手套沾上化学品，马上摘下换新的；手套破损、明显沾污或被汗湿，立即停下操作，按正确方法摘下（K7）、洗手后换新手套再继续；即使没有沾上，长时间操作也要按规程和穿透时间定期更换。</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一次性薄手套只适合偶然接触。如果操作需要把手浸入溶剂，普通薄手套几分钟就会被渗透，必须换用按说明书和耐化学性资料选定的专用材质厚手套。</a:t>
            </a:r>
          </a:p>
          <a:p>
            <a:r>
              <a:t>处理强腐蚀品，戴长到手臂的橡胶手套，护住手腕和前臂；处理酸，选耐酸手套。高毒化学品作业通常戴双层手套：外层被污染或破损时，内层还能护住皮肤，此时立即更换外层；长时间操作要按穿透时间及时更换。具体组合由风险评估确定，并符合本校规定。</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手套有不同尺寸和厚度。太松容易滑脱、夹住器皿，太紧容易撕裂、手指发累；按手的大小和操作需要选合手的。</a:t>
            </a:r>
          </a:p>
          <a:p>
            <a:r>
              <a:t>戴手套前先检查：对着光看有没有破口、小孔、变色或变硬；也可以卷起袖口把空气挤到手指部分，看有没有漏气（不要用嘴吹）。有破损的直接换一副。一次性手套用过即弃，不洗了再用；可重复使用的厚手套按说明清洁、晾干、存放，老化开裂的及时更换。</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套戴对了还要摘对。捏着指尖往下拽，手套外面的污染会瞬间沾到手上。正确步骤：①一只手捏住另一只手套腕部的外侧，边往下剥边翻过来；②把脱下的手套团在仍戴着手套的手心；③裸手的手指从剩下那只手套的袖口内侧伸进去，翻转剥下，把第一只包在里面；④整个过程外面不碰皮肤。</a:t>
            </a:r>
          </a:p>
          <a:p>
            <a:r>
              <a:t>摘下的手套按本校规定丢进指定容器：沾染危险化学品的按危险废物收集，生物实验的按感染性废物处理（生物实验手套的穿脱流程见第 6 章）。摘完手套马上认真洗手（第 020 课）；实验服等其他防护用品的脱卸和清洗见第 024 课。平时多练几遍，形成习惯。</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手套上沾的化学品或微生物会到处“搬家”：门把手、电灯开关、电话、计算器、电脑键盘、手机都会被沾上，再传给不戴手套的人。笔、手指一碰嘴，化学品就进了身体——这也是实验室里不能饮食的原因（第 020 课）。</a:t>
            </a:r>
          </a:p>
          <a:p>
            <a:r>
              <a:t>戴着手套不碰门把手、开关和公共物品；记录本、手机、电脑放在清洁区，不放在操作台上。离开称量区、操作区或要写记录时，先摘手套、洗手，再去碰公共物品。需要在操作中开门、接电话的，按本实验室规定（如单手摘手套）处理。</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了化学品，手还会受到烫、冻、割、振动等伤害，要按危害选专用手套。从烘箱、马弗炉、加热板上拿热的样品和器皿，戴隔热手套，不能徒手碰；隔热手套有点笨重，多练就习惯了，实验室要常备在伸手可及的地方。一次性化学防护手套不隔热，不能代替隔热手套。</a:t>
            </a:r>
          </a:p>
          <a:p>
            <a:r>
              <a:t>取干冰、超低温冰箱里的样品，戴低温防护手套（液氮等低温液体的防护见第 136 课）。处理碎玻璃等锐器、搬运切割后的板材和废金属，戴防割手套；长板两人一起抬，废料分类回收。使用振动工具、搬运重物，也选用对应的专用手套。</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化学品及微生物防护手套应符合 GB 28881-2023（以现行文本为准）《手部防护 化学品及微生物防护手套》等国家标准，包装和产品上有相应标识，选用前看清标识和说明，确认适用于你要防的危害；不使用无标识、来路不明的散装手套。</a:t>
            </a:r>
          </a:p>
          <a:p>
            <a:r>
              <a:t>按《中华人民共和国安全生产法》和《高等学校实验室安全规范》的要求，学校和实验室应按实验危害配备合适的防护手套，实验人员正确佩戴使用；手套用完、型号不全时及时向实验室负责人报告补齐（第 021 课）。</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答案：B。解析：没有万能手套，要按说明书和耐化学性资料（穿透时间、降解程度）选材质。</a:t>
            </a:r>
          </a:p>
          <a:p>
            <a:r>
              <a:t>第 2 题 答案：B。解析：丁腈遇酮类、氯代溶剂等会很快失效；化学品会渗透，沾上就要换手套并洗手。</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答案：B。解析：翻着摘，外面不碰皮肤，摘完洗手。</a:t>
            </a:r>
          </a:p>
          <a:p>
            <a:r>
              <a:t>第 4 题 答案：B。解析：手套上的化学品会“搬家”，污染公共物品并传给别人。</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答案：C。解析：一次性化学防护手套不隔热，拿热的东西要戴隔热手套。</a:t>
            </a:r>
          </a:p>
          <a:p>
            <a:r>
              <a:t>第 6 题 答案：立即停下操作，用正确方法摘掉手套，洗手后换新手套再继续；如皮肤沾到化学品，先冲洗并报告。解析：破损、沾污、汗湿都要及时更换。</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实验服不是“工作制服”，而是个人防护用品：意外溅洒时，液滴、粉末先落在实验服上，而不是直接接触皮肤和自己的衣服，为脱下、冲洗争取时间。</a:t>
            </a:r>
          </a:p>
          <a:p>
            <a:r>
              <a:t>进入实验室开始工作前就要穿好实验服，离开时再脱下（着装要求见第 020 课）。实验服成本不高，却能大大降低化学品沾染和灼伤的风险，不要因为“只做一会儿”“只是看看”而不穿。</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实验服宜选棉质或阻燃材质。涤纶等化纤面料遇火、遇高温会熔化、滴落，粘在皮肤上造成严重烧伤，所以化学实验室不宜穿化纤实验服；实验服里面也尽量穿棉质衣服，不穿化纤毛衣、紧身化纤运动服。</a:t>
            </a:r>
          </a:p>
          <a:p>
            <a:r>
              <a:t>实验服要合身：长度一般过膝，长袖盖住手腕，太大易勾挂，太小遮不住。具体材质和款式按实验风险评估和本校规定选择。</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棉质实验服不会熔化，但一旦着火仍会持续燃烧。阻燃实验服离开火源后能自行熄灭，为脱下、灭火争取时间。使用自燃试剂（如遇空气自燃的金属有机试剂）、大量易燃溶剂、明火或进行高能反应时，必须穿阻燃实验服。曾有研究人员处理自燃试剂时起火，因穿着化纤衣服、没有穿阻燃服而严重烧伤致死，这类工作从此把阻燃服作为必备。</a:t>
            </a:r>
          </a:p>
          <a:p>
            <a:r>
              <a:t>焊接、切割会溅出火花，要穿阻燃或纯棉工作服并扣好领口（焊接防护见第 128 课）。阻燃防护服应符合 GB 8965.1-2020（以现行文本为准）等国家标准；需要阻燃服的工作写进风险评估。衣物着火的处置见第 034 课。</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敞开穿的实验服挡不住正面溅来的液体，等于没穿。穿实验服要把扣子从下到上全部扣好；袖口尽量塞进手套里（或手套口套住袖口），让手腕不外露。</a:t>
            </a:r>
          </a:p>
          <a:p>
            <a:r>
              <a:t>不要把袖子卷起来露出手臂；袖口宽松、下摆飘动容易勾倒烧杯、碰到火焰或卷入设备，要选袖口收紧的款式。</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腐蚀品溅到皮肤上会造成化学灼伤，而实验服面料会被浸透。处理浓酸浓碱、易挥发或活泼的溶液，或者有较大喷溅风险时（如大量转移、稀释），要在实验服外面再加一条耐化学品围裙。</a:t>
            </a:r>
          </a:p>
          <a:p>
            <a:r>
              <a:t>围裙多了一层防护，而且溅上后解开带子就能迅速脱下，减少接触时间。围裙要和合适的手套、护目镜（必要时加面屏）一起使用（第 022、023 课）。围裙材质同样要按化学品安全技术说明书选择。</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实验服之外，有些工作需要专门的防护服：用于阻挡化学品飞溅的防护服要能防水（防液体渗透），才能真正挡住；高温作业、化学品作业、近水作业各有对应的防护服，按风险评估和 GB 39800.1-2020（以现行文本为准）的配备要求选择。在车多、光线暗的道路旁采样或作业，要穿反光衣（野外采样见第 154 课）。</a:t>
            </a:r>
          </a:p>
          <a:p>
            <a:r>
              <a:t>防护服沾污后，立即脱下放到指定地点，不能继续穿；换上干净的再回去工作。生物实验用的防护服和隔离衣见第 6 章（第 074、075 课）。</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实验服上可能沾有化学品和微生物，穿出实验室会把污染带到食堂、宿舍、办公室和会议室。离开实验区时脱下实验服，挂在实验室的专用区域，不和便服混放。</a:t>
            </a:r>
          </a:p>
          <a:p>
            <a:r>
              <a:t>实验服不要带回家或宿舍洗，以免污染家人和洗衣设备。脱下时外面朝里卷起，装进专用袋，按本校规定由单位统一清洗；生物实验室沾了菌液等感染性物质的，先消毒，再统一清洗（按 GB 19489-2008（以现行文本为准）和本校生物安全管理规定）。破损、无法洗净的实验服及时更换。</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量化学品泼到实验服上时，面料会很快被浸透，化学品接触皮肤。要立即脱下被污染的实验服和衣物（不要从头上套脱，避免沾到脸和眼睛），到紧急喷淋下持续冲洗，冲洗时间按本校应急规定和化学品安全技术说明书执行。</a:t>
            </a:r>
          </a:p>
          <a:p>
            <a:r>
              <a:t>冲洗后报告实验室负责人，带上化学品信息及时就医，必要时拨打 120。被污染的衣物装袋，按危险废物或本校规定处理（紧急喷淋的位置和使用见第 027 课，化学灼伤急救见第 160 课）。</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答案：C。解析：普通棉质实验服着火会持续燃烧，化纤会熔化粘在皮肤上，阻燃服离火能自熄。</a:t>
            </a:r>
          </a:p>
          <a:p>
            <a:r>
              <a:t>第 2 题 答案：B。解析：实验服可能沾有化学品和微生物，应由单位统一清洗，不带回家或宿舍。</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答案：C。解析：敞着怀挡不住溅洒，袖子卷起手臂外露，实验服不穿出实验室。</a:t>
            </a:r>
          </a:p>
          <a:p>
            <a:r>
              <a:t>第 4 题 答案：A。解析：耐化学品围裙多一层防护，溅上后能迅速解下。</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答案：A。解析：面料会被浸透，要尽快脱下、冲洗，并报告实验室负责人、及时就医。</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实验室空气中可能混有粉尘、烟尘、有害气体、化学蒸气，以及生物实验中的病原气溶胶。它们经呼吸道进入人体，细小的粉尘能深入肺部，甚至进入血液循环（粉尘与纳米材料见第 151 课）。</a:t>
            </a:r>
          </a:p>
          <a:p>
            <a:r>
              <a:t>当有毒蒸气、粉尘或病原可能飘散到呼吸带空气中，而工程控制不能把浓度降到安全水平时，就需要佩戴呼吸防护用品。是否需要、选哪一种，按风险评估确定，并经过培训，学会选型和佩戴（K6）。</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按控制层级（第 017 课），应先消除、替代，再用通风柜等工程控制，呼吸防护用品是最后一道防线。防有害气体和蒸气首选通风柜（第 051、052 课）：挥发性试剂、产生粉尘的称量和转移，首先放进通风柜或其他局部排风设施中操作。</a:t>
            </a:r>
          </a:p>
          <a:p>
            <a:r>
              <a:t>普通口罩（如普通医用口罩、纱布口罩）挡不住化学蒸气，也不能可靠地挡住细粉尘。能用通风柜解决的，不能用戴口罩代替；只有工程控制不足、应急或特殊作业时，才按评估选用呼吸防护用品。</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吸过滤式呼吸器的滤材分两类：防颗粒物滤材拦截粉尘、烟尘、雾和生物气溶胶（如焊接烟尘要选合格的防颗粒物呼吸器，普通口罩挡不住）；防毒滤毒罐（盒）靠吸附剂去除特定的气体和蒸气，要按气体种类选择对应类型。普通口罩够不够用，要先查清楚危害再决定；粉尘和蒸气同时存在时，选颗粒物和防毒组合滤材。</a:t>
            </a:r>
          </a:p>
          <a:p>
            <a:r>
              <a:t>防颗粒物呼吸器靠紧贴面部形成密封，有的型号不防油性颗粒，有的不耐液体喷溅，工业用防护口罩也不能直接当作医用防护口罩使用。选型时看清产品标识和适用范围，产品应符合 GB 2626-2019、GB 2890-2022（均以现行文本为准）等国家标准，选择方法按 GB 18664-2025（以现行文本为准）。</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呼吸器分两大类：过滤式（把周围空气中的污染物滤掉后再吸入，实验室最常用）和供气式（隔绝式，由独立气源供给清洁空气）。过滤式不能产生氧气，也有过滤容量限制：在缺氧环境、毒物浓度极高或浓度不明时，过滤式不管用，必须使用供气式（缺氧作业按 GB 8958-2006（以现行文本为准），受限空间见第 140 课）。</a:t>
            </a:r>
          </a:p>
          <a:p>
            <a:r>
              <a:t>自给式空气呼吸器由使用者自己背负气瓶，消防和救援人员常用，结构复杂，只用于极端情况，没有经过培训不要佩戴。潜水呼吸器用于水下，与在空气中使用的呼吸器用途不同，不能混用。</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自给式空气呼吸器的气瓶装的是压缩空气（不是纯氧）。用前检查气瓶压力是否充足、报警哨是否正常、面罩和背带是否完好；戴上后检查面罩密合，确认不漏气。</a:t>
            </a:r>
          </a:p>
          <a:p>
            <a:r>
              <a:t>可用时间取决于气瓶容量和耗气速度：干活越累、呼吸越急，耗气越快。使用时要留足撤离余量，余压报警一响立即撤离。只有经过培训、定期演练的人员才能使用，具体检查项目和使用时间按产品说明书和本校规定执行。</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呼吸防护是一套管理体系：风险评估确定是否需要、选什么类型；医学评估确认身体能否承受；适合性检验确认面罩合适（K7）；培训学会选型、佩戴、检查和维护，环环相扣。要不要戴呼吸器，先问实验室负责人；需要时向负责人或老师申请培训，培训合格后才能使用。</a:t>
            </a:r>
          </a:p>
          <a:p>
            <a:r>
              <a:t>戴呼吸器会增加呼吸阻力，比平时累得多；重型面罩负担更大，还可能引起过热。使用前由医生按具体面罩类型评估能不能用（职业健康监护见第 152 课）；使用中控制佩戴时间，轮换休息，身体不适立即到安全区域摘下并报告。具体管理要求按 GB 18664-2025（以现行文本为准）和本校规定。</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个人的脸型不同，同一款面罩不一定适合所有人。紧密型面罩（半面罩、全面罩、防颗粒物口罩）在首次使用前要做适合性检验：例如定性检验时戴上面罩坐在测试头罩下，向里面喷有味道的测试雾，闻不到、尝不到才算合适。上岗前就要测好，之后按规定定期复检。</a:t>
            </a:r>
          </a:p>
          <a:p>
            <a:r>
              <a:t>蓄须、刮胡子习惯改变、明显胖瘦、牙齿或面部手术等面部变化，都会影响密合，必须重新检验后再用。换用不同型号、尺寸的面罩也要重新检验。甲醛等化学品作业需要呼吸器时，同样要先培训、做适合性检验，选对滤盒并按时更换。检验周期和方法按 GB 18664-2025（以现行文本为准）和本校规定。</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适合性检验合格，不等于每次都戴得严。每次戴上紧密型呼吸器或防护口罩，都要做佩戴密合检查：调好头带，用双手手指沿鼻梁按压鼻夹使其贴合；双手捂住口罩（或堵住进气口、呼气阀），用力呼气、吸气，感觉边缘有没有漏气。</a:t>
            </a:r>
          </a:p>
          <a:p>
            <a:r>
              <a:t>如果边缘漏气，就调整鼻夹和头带位置，再检查一次，直到不漏气才进入工作区域。生物实验中接触呼吸道样本需戴医用防护口罩时，同样每次检查密合（穿脱顺序见第 075 课）。</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即使不是工作必需，有的同学也想自己戴个防尘口罩。自愿使用也要纳入管理：先告诉实验室负责人，了解使用须知，确认它不会带来新的危害。</a:t>
            </a:r>
          </a:p>
          <a:p>
            <a:r>
              <a:t>口罩不能妨碍视线和操作（如压住护目镜、起雾），用过的脏口罩不能挂在脖子上或揣进口袋，以免变成污染源；自愿佩戴不能代替通风柜等工程控制和规定的防护。</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动力送风过滤式呼吸器由头盔（内装过滤器）、可更换的披肩头罩、风机、电池和腰带组成。空气从一侧吸入，经过滤器过滤，风机再把清洁空气吹向脸部；头罩内保持正压，气流从下摆不断向外流出，形成气幕，把外面的污染空气挡在外面，能防气溶胶，也能挡飞溅。风机靠电池带动。</a:t>
            </a:r>
          </a:p>
          <a:p>
            <a:r>
              <a:t>宽松型头罩不靠贴紧面部密封，有胡子、戴眼镜的人也能使用；但必须培训合格后才能使用，选用哪种呼吸器由风险评估决定。产品应符合 GB 30864-2014（以现行文本为准）。生物实验中的配套穿脱见第 6 章（第 074、075 课）。</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每次使用前：①电池充满电，牢牢装在腰带上；②检查过滤器型号对不对、有没有过期；③检查连接线、管路和头罩有没有破损；④开机看指示灯是否全亮，测一测送风量够不够。</a:t>
            </a:r>
          </a:p>
          <a:p>
            <a:r>
              <a:t>电池能用多久以说明书为准，实验时间（含退出时间）要算在续航以内，不够就别进入。有一项不合格，就挂停用标识，报修，不得勉强使用。</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每次用完，用推荐的消毒剂按说明擦拭头盔表面去污。擦的时候滤器和风机不能进水，不能浸泡、冲洗，接口盖好，电池单独擦拭。</a:t>
            </a:r>
          </a:p>
          <a:p>
            <a:r>
              <a:t>披肩头罩去污后可按说明书再用，但一旦被溢洒污染就换新的（能否重复使用以现行规定和产品说明书为准），换下的按感染性或危险废物处理。最后把电池充上电，下次拿来就能用，并签好使用记录（日期、使用人、时长、异常情况）。</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使用中如果报警响起或送风变小，先停止操作，盖好样品、容器，然后按程序退出工作区域，到指定区域再摘头罩，不能在污染区直接摘下。退出后报告实验室负责人，设备送检，查明原因前不得再用。</a:t>
            </a:r>
          </a:p>
          <a:p>
            <a:r>
              <a:t>戴上头罩后风声大，说话听不清。进去前和同伴约好手势（如“好”“停”“出去”），也要知道对讲和呼叫装置在哪里。</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滤材有使用寿命：防毒滤毒罐的吸附能力会耗尽，防颗粒物滤材会被堵塞。要按产品说明书、作业条件和本校规定按时更换，并记录更换日期；滤材过期、受潮、破损的不得使用。</a:t>
            </a:r>
          </a:p>
          <a:p>
            <a:r>
              <a:t>使用中闻到异味、尝到味道、感到呼吸阻力明显变大或身体不适，立即离开污染区域，到安全区域更换滤材。可重复使用的面罩用后按说明清洁、消毒、晾干，装入密封袋存放在干净、阴凉、远离化学品的地方；一次性口罩不重复使用。维护要求按 GB 18664-2025（以现行文本为准）。</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答案：B。解析：呼吸防护用品是最后一道防线，普通口罩和防尘口罩挡不住蒸气，首先用通风柜。</a:t>
            </a:r>
          </a:p>
          <a:p>
            <a:r>
              <a:t>第 2 题 答案：B。解析：过滤式不能提供氧气，缺氧或浓度极高时必须使用供气式（隔绝式）呼吸器。</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答案：B。解析：蓄须、胖瘦变化等面部变化会影响密合，必须重新检验。</a:t>
            </a:r>
          </a:p>
          <a:p>
            <a:r>
              <a:t>第 4 题 答案：A。解析：适合性检验合格也不等于每次都戴得严，每次佩戴都要做密合检查。</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答案：C。解析：不能在污染区摘头罩，退出后报告并送检设备。</a:t>
            </a:r>
          </a:p>
          <a:p>
            <a:r>
              <a:t>第 6 题 答案：先问实验室负责人并做风险评估选对类型；接受培训；由医生做医学评估；紧密型面罩做适合性检验；每次佩戴做密合检查；检查滤材型号和有效期。解析：呼吸防护是一套体系，不是发个口罩就完事。</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安全标志是用图形、颜色和形状传达安全信息的标志，它告诉你这里有什么危险、要当心什么、应该怎么做——三者都是它的作用。</a:t>
            </a:r>
          </a:p>
          <a:p>
            <a:r>
              <a:t>安全信息不只是看得见的标志牌、颜色和地面标线，也包括听得见的信号，如火警铃声、报警器声、气体报警声。听到火警铃声，不要犹豫、不要回去拿东西，按疏散路线立即撤离（第 036 课）。</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 GB 2894-2025（以现行文本为准）《安全色和安全标志》，安全标志分为四类：禁止标志（白底、红色圆环加斜杠、黑色图形）、警告标志（黄底、黑色三角形边框、黑色图形）、指令标志（蓝色圆形、白色图形）和提示标志（绿色方形、白色图形）。每个标志都有特定含义，形状和颜色一看就能分清类别。</a:t>
            </a:r>
          </a:p>
          <a:p>
            <a:r>
              <a:t>除了安全标志，气瓶的颜色和字样（第 130 课）、化学品安全标签和象形图（第 039 课）、仪器上的警示标签，也在提示危险。消防安全标志见第 4 章，生物危害、电离辐射、激光等专用标志在各自章节讲解。</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色是传递安全信息含义的颜色，共四种：红色表示禁止、停止，也用于消防设备和设施（如灭火器、消火栓、急停按钮）；黄色表示警告、注意，提醒当心危险；蓝色表示指令，要求必须遵守的规定；绿色表示安全的提示信息，如安全出口、疏散通道、急救点。</a:t>
            </a:r>
          </a:p>
          <a:p>
            <a:r>
              <a:t>记住颜色的含义，看到颜色就能先判断出“不准做”“要当心”“必须做”还是“在这里”。具体使用要求按 GB 2894-2025（以现行文本为准）。</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禁止标志是禁止人们不安全行为的图形标志：白色底、红色圆环和红色斜杠、黑色图形。看到它，就是图形表示的这件事在这里不准做。实验室常见的有禁止烟火、禁止吸烟、禁止饮食、禁止触摸、禁止合闸等。</a:t>
            </a:r>
          </a:p>
          <a:p>
            <a:r>
              <a:t>四类标志一类不能少，禁止标志是最直接的“不能做”。安全标志按国家标准设置，褪色、破损、被遮挡或看不清的，及时报告实验室负责人更换。</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警告标志提醒人们注意周围环境、避免可能发生的危险：黄色底、黑色三角形边框、黑色图形。电气、化学、高温等场所和设备上常见当心触电、当心腐蚀、当心中毒、当心烫伤、当心火灾等警告标志。</a:t>
            </a:r>
          </a:p>
          <a:p>
            <a:r>
              <a:t>看到警告标志，说明附近有危险。先弄清是什么危险，做好相应防护，再按规程靠近；没弄清危险，不要贸然往前走或伸手去碰。</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指令标志是强制人们必须做出某种动作或采用防范措施的图形标志：蓝色圆形、白色图形。实验室门口和设备旁常见的有必须戴防护眼镜、必须戴防护手套、必须穿防护服、必须通风等。</a:t>
            </a:r>
          </a:p>
          <a:p>
            <a:r>
              <a:t>看到指令标志，就要按要求做：例如门口有“必须戴防护眼镜”，进门前就戴好护目镜（第 022 课），不是“建议”。</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提示标志向人们提供某种信息，如标明安全设施或场所的位置：绿色方形、白色图形。常见的有安全出口、疏散方向、紧急集合点、急救点、洗眼台、安全淋浴设施等（洗眼器和喷淋见第 027 课，疏散见第 036 课）。</a:t>
            </a:r>
          </a:p>
          <a:p>
            <a:r>
              <a:t>提示标志只是告诉你“在哪里”，并不表示这里安全：绿色出口标志旁边仍可能有警告标志。要事先熟悉本实验室提示标志指向的位置。</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电箱、配电柜、仪器电源板、高压设备上常贴有“当心触电”警告标志（黄色三角形内一道闪电）。看到它，说明里面接的是市电或高压，没有确认断电，标志附近一律不碰，柜门和设备外壳不随便打开，更不能自行检修（电工作业持证上岗，见第 8 章）。</a:t>
            </a:r>
          </a:p>
          <a:p>
            <a:r>
              <a:t>检修时开关上挂着“禁止合闸”标志牌的，除挂牌人外谁也不能合闸（上锁挂牌见第 144 课）；有接地标志的地方，接地线不能拆。进入实验室先看标志，按标志要求做。</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色常与对比色（黑色、白色）一起使用，组成相间条纹，更加醒目：黄色与黑色相间的条纹表示警告，常用于台阶边缘、低矮横梁、设备突出部位，提醒当心磕碰和绊倒；红色与白色相间的条纹表示禁止，常用于隔离带、禁止通行的区域，不要越过。</a:t>
            </a:r>
          </a:p>
          <a:p>
            <a:r>
              <a:t>具体使用要求按 GB 2894-2025（以现行文本为准）。</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高等学校实验室安全规范》（以现行文本为准）和本校规定，实验室门口应设置安全信息牌，内容一般包括实验室名称、安全风险类别、主要危险源、必须佩戴的防护用品、安全责任人和应急联系电话等。进门前先看清：这里有什么危险、要戴什么防护。</a:t>
            </a:r>
          </a:p>
          <a:p>
            <a:r>
              <a:t>把负责人和应急电话记下来。信息牌也是一种危害告知：出了事，保卫处、消防救援人员在门外一看就知道里面有什么危险、该找谁。信息牌内容变化时（如新增危险源、负责人变更），实验室负责人要及时更新。</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操作规程（SOP，第 019 课）就像飞行员的检查单：一项项对照着做，差错就少。不要光凭记忆，把规程张贴或放置在仪器旁，操作时专心，逐项确认。</a:t>
            </a:r>
          </a:p>
          <a:p>
            <a:r>
              <a:t>实验室的安全手册要按本实验室的实际情况编写，可以参考模板，但不能照搬；可按生物安全、动物、安保、应急响应、设施运行等分册编写，设施运行部分要和工程技术人员一起编写，并按本校规定审核、定期修订。</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答案：B。解析：禁止标志表示这件事不准做。</a:t>
            </a:r>
          </a:p>
          <a:p>
            <a:r>
              <a:t>第 2 题 答案：C。解析：蓝色圆形是指令标志，必须照做。</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答案：B。解析：提示标志只告诉你出口、急救、洗眼器等在哪里，不代表这里没有危险。</a:t>
            </a:r>
          </a:p>
          <a:p>
            <a:r>
              <a:t>第 4 题 答案：B。解析：挂着禁止合闸牌，除挂牌人外谁也不能合闸。</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答案：B。解析：信息牌是危害告知，进门前看清并记下负责人和应急电话。</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020</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着装要求与个人卫生</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第3章 通用安全与个人防护</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84 镜）　适用对象：全体进入高校实验室的本科生、研究生和教职工（必修）；化学、生物、医学、电学和工程实训实验室人员重点学习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能说出进入实验室的基本着装要求：衣物遮住皮肤、长裤和包脚鞋、长发束起、不穿宽松下垂衣物、摘下首饰。</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能说出实验室禁止饮食、吸烟、化妆，食品不进实验室、实验冰箱不放食物、实验室的水不能喝。</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能做到实验服和手套不出实验室、戴手套不碰公共物品、污染物与清洁物分开，防止污染扩散到办公区和生活区。</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能判断什么时候必须洗手，并按正确步骤把手洗干净。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号，以现行文本为准）：实验人员按要求着装和佩戴防护用品，实验室内禁止饮食等与实验无关的活动</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高校实验室安全检查项目表（以现行文本为准）：实验人员着装、实验室内无食品饮料、实验冰箱不存放食品等检查内容</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《中华人民共和国安全生产法》（以现行文本为准）：从业人员应正确佩戴和使用劳动防护用品</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《病原微生物实验室生物安全管理条例》、GB 19489-2008（以现行文本为准）《实验室 生物安全通用要求》：实验室内不饮食、不吸烟、不化妆，防护服不穿出实验室，离开前洗手</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39800.1-2020（以现行文本为准）《个体防护装备配备规范 第1部分：总则》</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《国家危险废物名录》（以现行文本为准）：沾染危险化学品的手套等废弃物按危险废物管理</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本校实验室安全管理制度、实验室准入和着装规定（以本校规定为准）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污染是怎么传开的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一滴挂在试管外的液体，经手套传到各处</a:t>
            </a:r>
          </a:p>
          <a:p>
            <a:pPr>
              <a:spcAft>
                <a:spcPts val="1000"/>
              </a:spcAft>
            </a:pPr>
            <a:r>
              <a:rPr sz="2000">
                <a:solidFill>
                  <a:srgbClr val="222B33"/>
                </a:solidFill>
                <a:latin typeface="Microsoft YaHei"/>
              </a:rPr>
              <a:t>▪ 有害物可经皮肤接触和入口进入人体</a:t>
            </a:r>
          </a:p>
          <a:p>
            <a:pPr>
              <a:spcAft>
                <a:spcPts val="1000"/>
              </a:spcAft>
            </a:pPr>
            <a:r>
              <a:rPr sz="2000">
                <a:solidFill>
                  <a:srgbClr val="222B33"/>
                </a:solidFill>
                <a:latin typeface="Microsoft YaHei"/>
              </a:rPr>
              <a:t>▪ 污染还会混进样品，毁掉实验结果</a:t>
            </a:r>
          </a:p>
          <a:p>
            <a:pPr>
              <a:spcAft>
                <a:spcPts val="1000"/>
              </a:spcAft>
            </a:pPr>
            <a:r>
              <a:rPr sz="2000">
                <a:solidFill>
                  <a:srgbClr val="222B33"/>
                </a:solidFill>
                <a:latin typeface="Microsoft YaHei"/>
              </a:rPr>
              <a:t>▪ 不加控制，伤到的可能是同事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里每天都会接触有毒、腐蚀性、致癌或有感染性的物质。污染往往从很小的地方开始：一滴挂在试管外壁的液体沾到手套上，手套再碰笔、门把手、手机、键盘，污染就传到了摸过的每样东西上。几个下意识的动作，就能把它从实验台带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认为“没看见洒出来”就没有污染</a:t>
            </a:r>
          </a:p>
          <a:p>
            <a:pPr>
              <a:spcAft>
                <a:spcPts val="1000"/>
              </a:spcAft>
            </a:pPr>
            <a:r>
              <a:rPr sz="1500">
                <a:solidFill>
                  <a:srgbClr val="222B33"/>
                </a:solidFill>
                <a:latin typeface="Microsoft YaHei"/>
              </a:rPr>
              <a:t>▪ 只想到保护自己，忽视对同事和样品的影响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衣物尽量遮住皮肤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化学品碰到皮肤就可能造成伤害</a:t>
            </a:r>
          </a:p>
          <a:p>
            <a:pPr>
              <a:spcAft>
                <a:spcPts val="1000"/>
              </a:spcAft>
            </a:pPr>
            <a:r>
              <a:rPr sz="2000">
                <a:solidFill>
                  <a:srgbClr val="222B33"/>
                </a:solidFill>
                <a:latin typeface="Microsoft YaHei"/>
              </a:rPr>
              <a:t>▪ 衣物尽量遮住全身，长袖好于短袖</a:t>
            </a:r>
          </a:p>
          <a:p>
            <a:pPr>
              <a:spcAft>
                <a:spcPts val="1000"/>
              </a:spcAft>
            </a:pPr>
            <a:r>
              <a:rPr sz="2000">
                <a:solidFill>
                  <a:srgbClr val="222B33"/>
                </a:solidFill>
                <a:latin typeface="Microsoft YaHei"/>
              </a:rPr>
              <a:t>▪ 化纤遇火易燃易熔，棉质等天然纤维更好</a:t>
            </a:r>
          </a:p>
          <a:p>
            <a:pPr>
              <a:spcAft>
                <a:spcPts val="1000"/>
              </a:spcAft>
            </a:pPr>
            <a:r>
              <a:rPr sz="2000">
                <a:solidFill>
                  <a:srgbClr val="222B33"/>
                </a:solidFill>
                <a:latin typeface="Microsoft YaHei"/>
              </a:rPr>
              <a:t>▪ 背心、露腰装不能进实验室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防止化学品伤害皮肤，最基本的办法是让衣物尽量把皮肤遮住。进入实验室穿长袖、长裤，外面按规定穿实验服并扣好扣子；袜子也要穿上，不露出脚踝。</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夏天穿短袖短裤进实验室，只在外面套一件实验服</a:t>
            </a:r>
          </a:p>
          <a:p>
            <a:pPr>
              <a:spcAft>
                <a:spcPts val="1000"/>
              </a:spcAft>
            </a:pPr>
            <a:r>
              <a:rPr sz="1500">
                <a:solidFill>
                  <a:srgbClr val="222B33"/>
                </a:solidFill>
                <a:latin typeface="Microsoft YaHei"/>
              </a:rPr>
              <a:t>▪ 里面穿化纤运动服做有明火的实验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长裤和包脚鞋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短裤、短裙、凉鞋、拖鞋都不行</a:t>
            </a:r>
          </a:p>
          <a:p>
            <a:pPr>
              <a:spcAft>
                <a:spcPts val="1000"/>
              </a:spcAft>
            </a:pPr>
            <a:r>
              <a:rPr sz="2000">
                <a:solidFill>
                  <a:srgbClr val="222B33"/>
                </a:solidFill>
                <a:latin typeface="Microsoft YaHei"/>
              </a:rPr>
              <a:t>▪ 穿包住脚面、不露脚趾的鞋，挡住洒落液体</a:t>
            </a:r>
          </a:p>
          <a:p>
            <a:pPr>
              <a:spcAft>
                <a:spcPts val="1000"/>
              </a:spcAft>
            </a:pPr>
            <a:r>
              <a:rPr sz="2000">
                <a:solidFill>
                  <a:srgbClr val="222B33"/>
                </a:solidFill>
                <a:latin typeface="Microsoft YaHei"/>
              </a:rPr>
              <a:t>▪ 裤腿盖住鞋面，不塞进鞋里</a:t>
            </a:r>
          </a:p>
          <a:p>
            <a:pPr>
              <a:spcAft>
                <a:spcPts val="1000"/>
              </a:spcAft>
            </a:pPr>
            <a:r>
              <a:rPr sz="2000">
                <a:solidFill>
                  <a:srgbClr val="222B33"/>
                </a:solidFill>
                <a:latin typeface="Microsoft YaHei"/>
              </a:rPr>
              <a:t>▪ 车间等场所按要求穿安全鞋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短裤、短裙和凉鞋、拖鞋会让腿和脚直接暴露，一旦有液体洒落或玻璃、重物掉落，首先受伤的就是脚。进入实验室应穿长裤和包住脚面、不露脚趾的鞋，鞋面最好不透水、不是网面，能挡住洒落的化学品和液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穿洞洞鞋、网面运动鞋进化学实验室</a:t>
            </a:r>
          </a:p>
          <a:p>
            <a:pPr>
              <a:spcAft>
                <a:spcPts val="1000"/>
              </a:spcAft>
            </a:pPr>
            <a:r>
              <a:rPr sz="1500">
                <a:solidFill>
                  <a:srgbClr val="222B33"/>
                </a:solidFill>
                <a:latin typeface="Microsoft YaHei"/>
              </a:rPr>
              <a:t>▪ 把裤腿塞进鞋里或卷起裤腿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长发束起，衣物不宽松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长头发一定要扎起来，必要时收进帽子</a:t>
            </a:r>
          </a:p>
          <a:p>
            <a:pPr>
              <a:spcAft>
                <a:spcPts val="1000"/>
              </a:spcAft>
            </a:pPr>
            <a:r>
              <a:rPr sz="2000">
                <a:solidFill>
                  <a:srgbClr val="222B33"/>
                </a:solidFill>
                <a:latin typeface="Microsoft YaHei"/>
              </a:rPr>
              <a:t>▪ 散发会着火、挡视线、垂进容器</a:t>
            </a:r>
          </a:p>
          <a:p>
            <a:pPr>
              <a:spcAft>
                <a:spcPts val="1000"/>
              </a:spcAft>
            </a:pPr>
            <a:r>
              <a:rPr sz="2000">
                <a:solidFill>
                  <a:srgbClr val="222B33"/>
                </a:solidFill>
                <a:latin typeface="Microsoft YaHei"/>
              </a:rPr>
              <a:t>▪ 宽袖、围巾、挂绳会卷进转动部件</a:t>
            </a:r>
          </a:p>
          <a:p>
            <a:pPr>
              <a:spcAft>
                <a:spcPts val="1000"/>
              </a:spcAft>
            </a:pPr>
            <a:r>
              <a:rPr sz="2000">
                <a:solidFill>
                  <a:srgbClr val="222B33"/>
                </a:solidFill>
                <a:latin typeface="Microsoft YaHei"/>
              </a:rPr>
              <a:t>▪ 袖口收紧，下垂的东西都摘掉</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长头发散着，靠近酒精灯、燃气灯会着火，还会挡住视线、扫翻器皿、垂进烧瓶或培养物中。进实验室前要把长发扎起、盘好，在有转动设备或需要戴帽的场所，把头发收进帽子里。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头发只拢到耳后，弯腰时又散落下来</a:t>
            </a:r>
          </a:p>
          <a:p>
            <a:pPr>
              <a:spcAft>
                <a:spcPts val="1000"/>
              </a:spcAft>
            </a:pPr>
            <a:r>
              <a:rPr sz="1500">
                <a:solidFill>
                  <a:srgbClr val="222B33"/>
                </a:solidFill>
                <a:latin typeface="Microsoft YaHei"/>
              </a:rPr>
              <a:t>▪ 戴着围巾或长挂绳操作转动设备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摘下首饰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进实验室前，先摘下戒指、手链、手表等首饰</a:t>
            </a:r>
          </a:p>
          <a:p>
            <a:pPr>
              <a:spcAft>
                <a:spcPts val="1000"/>
              </a:spcAft>
            </a:pPr>
            <a:r>
              <a:rPr sz="2000">
                <a:solidFill>
                  <a:srgbClr val="222B33"/>
                </a:solidFill>
                <a:latin typeface="Microsoft YaHei"/>
              </a:rPr>
              <a:t>▪ 戒指会戳破手套，还会藏污</a:t>
            </a:r>
          </a:p>
          <a:p>
            <a:pPr>
              <a:spcAft>
                <a:spcPts val="1000"/>
              </a:spcAft>
            </a:pPr>
            <a:r>
              <a:rPr sz="2000">
                <a:solidFill>
                  <a:srgbClr val="222B33"/>
                </a:solidFill>
                <a:latin typeface="Microsoft YaHei"/>
              </a:rPr>
              <a:t>▪ 电学实验摘下金属饰品，手要擦干</a:t>
            </a:r>
          </a:p>
          <a:p>
            <a:pPr>
              <a:spcAft>
                <a:spcPts val="1000"/>
              </a:spcAft>
            </a:pPr>
            <a:r>
              <a:rPr sz="2000">
                <a:solidFill>
                  <a:srgbClr val="222B33"/>
                </a:solidFill>
                <a:latin typeface="Microsoft YaHei"/>
              </a:rPr>
              <a:t>▪ 戴密合型口罩，胡须要刮干净</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戒指、手链、手表、悬垂耳环等首饰会钩住器皿和设备，戒指和手链还会戳破手套，缝隙里藏着的化学品和微生物难以清洗干净。进入实验室前应把首饰摘下，放进门外的储物柜。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认为戒指很小，戴着手套操作没关系</a:t>
            </a:r>
          </a:p>
          <a:p>
            <a:pPr>
              <a:spcAft>
                <a:spcPts val="1000"/>
              </a:spcAft>
            </a:pPr>
            <a:r>
              <a:rPr sz="1500">
                <a:solidFill>
                  <a:srgbClr val="222B33"/>
                </a:solidFill>
                <a:latin typeface="Microsoft YaHei"/>
              </a:rPr>
              <a:t>▪ 戴着金属手链接线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进门前的着装自查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进门前对照清单查一遍着装</a:t>
            </a:r>
          </a:p>
          <a:p>
            <a:pPr>
              <a:spcAft>
                <a:spcPts val="1000"/>
              </a:spcAft>
            </a:pPr>
            <a:r>
              <a:rPr sz="2000">
                <a:solidFill>
                  <a:srgbClr val="222B33"/>
                </a:solidFill>
                <a:latin typeface="Microsoft YaHei"/>
              </a:rPr>
              <a:t>▪ 实验服扣好，长发束起，长裤包脚鞋，无首饰</a:t>
            </a:r>
          </a:p>
          <a:p>
            <a:pPr>
              <a:spcAft>
                <a:spcPts val="1000"/>
              </a:spcAft>
            </a:pPr>
            <a:r>
              <a:rPr sz="2000">
                <a:solidFill>
                  <a:srgbClr val="222B33"/>
                </a:solidFill>
                <a:latin typeface="Microsoft YaHei"/>
              </a:rPr>
              <a:t>▪ 护目镜、手套等按风险评估和本实验室要求佩戴</a:t>
            </a:r>
          </a:p>
          <a:p>
            <a:pPr>
              <a:spcAft>
                <a:spcPts val="1000"/>
              </a:spcAft>
            </a:pPr>
            <a:r>
              <a:rPr sz="2000">
                <a:solidFill>
                  <a:srgbClr val="222B33"/>
                </a:solidFill>
                <a:latin typeface="Microsoft YaHei"/>
              </a:rPr>
              <a:t>▪ 近视戴框架眼镜；裙子、丝袜不适合实验室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任何类型、任何级别的实验室，进门前都要先把自己收拾好：实验服穿好并扣上扣子，长发束起，穿长裤和包脚鞋，首饰摘下，手机等私人物品放好。很多实验室在门口设有穿衣镜或着装提示，进门前对照检查一遍；不符合要求的，不得进入实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先进实验室，再慢慢扣扣子、扎头发</a:t>
            </a:r>
          </a:p>
          <a:p>
            <a:pPr>
              <a:spcAft>
                <a:spcPts val="1000"/>
              </a:spcAft>
            </a:pPr>
            <a:r>
              <a:rPr sz="1500">
                <a:solidFill>
                  <a:srgbClr val="222B33"/>
                </a:solidFill>
                <a:latin typeface="Microsoft YaHei"/>
              </a:rPr>
              <a:t>▪ 认为“只进去拿个东西”就可以不按要求着装</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私人物品不进实验区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背包、外套等私人物品留在门外储物柜</a:t>
            </a:r>
          </a:p>
          <a:p>
            <a:pPr>
              <a:spcAft>
                <a:spcPts val="1000"/>
              </a:spcAft>
            </a:pPr>
            <a:r>
              <a:rPr sz="2000">
                <a:solidFill>
                  <a:srgbClr val="222B33"/>
                </a:solidFill>
                <a:latin typeface="Microsoft YaHei"/>
              </a:rPr>
              <a:t>▪ 手机、计算器不放在实验台上</a:t>
            </a:r>
          </a:p>
          <a:p>
            <a:pPr>
              <a:spcAft>
                <a:spcPts val="1000"/>
              </a:spcAft>
            </a:pPr>
            <a:r>
              <a:rPr sz="2000">
                <a:solidFill>
                  <a:srgbClr val="222B33"/>
                </a:solidFill>
                <a:latin typeface="Microsoft YaHei"/>
              </a:rPr>
              <a:t>▪ 必须带进去的，可装进密封袋</a:t>
            </a:r>
          </a:p>
          <a:p>
            <a:pPr>
              <a:spcAft>
                <a:spcPts val="1000"/>
              </a:spcAft>
            </a:pPr>
            <a:r>
              <a:rPr sz="2000">
                <a:solidFill>
                  <a:srgbClr val="222B33"/>
                </a:solidFill>
                <a:latin typeface="Microsoft YaHei"/>
              </a:rPr>
              <a:t>▪ 带进污染区的东西，很难干净地带出来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背包、外套、水杯等私人物品应留在实验室外的储物柜或清洁区，只带实验需要的东西进去，避免被污染后再带回宿舍和教室。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把书包放在实验台下或通风柜旁</a:t>
            </a:r>
          </a:p>
          <a:p>
            <a:pPr>
              <a:spcAft>
                <a:spcPts val="1000"/>
              </a:spcAft>
            </a:pPr>
            <a:r>
              <a:rPr sz="1500">
                <a:solidFill>
                  <a:srgbClr val="222B33"/>
                </a:solidFill>
                <a:latin typeface="Microsoft YaHei"/>
              </a:rPr>
              <a:t>▪ 一边操作一边用手机拍照、回消息</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不吃不喝，不吸烟不化妆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实验室里不吃东西、不喝水、不嚼口香糖</a:t>
            </a:r>
          </a:p>
          <a:p>
            <a:pPr>
              <a:spcAft>
                <a:spcPts val="1000"/>
              </a:spcAft>
            </a:pPr>
            <a:r>
              <a:rPr sz="2000">
                <a:solidFill>
                  <a:srgbClr val="222B33"/>
                </a:solidFill>
                <a:latin typeface="Microsoft YaHei"/>
              </a:rPr>
              <a:t>▪ 实验室内严禁吸烟，也不化妆</a:t>
            </a:r>
          </a:p>
          <a:p>
            <a:pPr>
              <a:spcAft>
                <a:spcPts val="1000"/>
              </a:spcAft>
            </a:pPr>
            <a:r>
              <a:rPr sz="2000">
                <a:solidFill>
                  <a:srgbClr val="222B33"/>
                </a:solidFill>
                <a:latin typeface="Microsoft YaHei"/>
              </a:rPr>
              <a:t>▪ 化学品会沾进食物，杯子会拿错</a:t>
            </a:r>
          </a:p>
          <a:p>
            <a:pPr>
              <a:spcAft>
                <a:spcPts val="1000"/>
              </a:spcAft>
            </a:pPr>
            <a:r>
              <a:rPr sz="2000">
                <a:solidFill>
                  <a:srgbClr val="222B33"/>
                </a:solidFill>
                <a:latin typeface="Microsoft YaHei"/>
              </a:rPr>
              <a:t>▪ 一吃一喝，有害物质就可能进嘴</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内严禁饮食、吸烟、嚼口香糖和化妆。有毒化学品和微生物可能沾在手上、空气中和台面上，吃东西、喝水、化妆时就会随手进入口中或沾到脸上；水杯和烧杯放在一起，还可能被拿错。吸烟则同时带来火源和入口两种风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在实验台边喝一口水、吃一块糖</a:t>
            </a:r>
          </a:p>
          <a:p>
            <a:pPr>
              <a:spcAft>
                <a:spcPts val="1000"/>
              </a:spcAft>
            </a:pPr>
            <a:r>
              <a:rPr sz="1500">
                <a:solidFill>
                  <a:srgbClr val="222B33"/>
                </a:solidFill>
                <a:latin typeface="Microsoft YaHei"/>
              </a:rPr>
              <a:t>▪ 在实验室里涂唇膏、护手霜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食品不进实验室，实验冰箱不放食物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食物和饮料不带进实验室</a:t>
            </a:r>
          </a:p>
          <a:p>
            <a:pPr>
              <a:spcAft>
                <a:spcPts val="1000"/>
              </a:spcAft>
            </a:pPr>
            <a:r>
              <a:rPr sz="2000">
                <a:solidFill>
                  <a:srgbClr val="222B33"/>
                </a:solidFill>
                <a:latin typeface="Microsoft YaHei"/>
              </a:rPr>
              <a:t>▪ 实验冰箱只放实验材料，不放饭菜饮料</a:t>
            </a:r>
          </a:p>
          <a:p>
            <a:pPr>
              <a:spcAft>
                <a:spcPts val="1000"/>
              </a:spcAft>
            </a:pPr>
            <a:r>
              <a:rPr sz="2000">
                <a:solidFill>
                  <a:srgbClr val="222B33"/>
                </a:solidFill>
                <a:latin typeface="Microsoft YaHei"/>
              </a:rPr>
              <a:t>▪ 实验用的食品标明“仅供实验”，不能吃</a:t>
            </a:r>
          </a:p>
          <a:p>
            <a:pPr>
              <a:spcAft>
                <a:spcPts val="1000"/>
              </a:spcAft>
            </a:pPr>
            <a:r>
              <a:rPr sz="2000">
                <a:solidFill>
                  <a:srgbClr val="222B33"/>
                </a:solidFill>
                <a:latin typeface="Microsoft YaHei"/>
              </a:rPr>
              <a:t>▪ 不用实验器皿盛食物、喝水</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食物和饮料不得带进实验室，也不得在实验室内存放。实验室的冰箱、冰柜只放实验材料，绝不放个人的饭菜、水果、饮料；个人食品放在实验室外的生活区域。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把午饭临时放进实验冰箱</a:t>
            </a:r>
          </a:p>
          <a:p>
            <a:pPr>
              <a:spcAft>
                <a:spcPts val="1000"/>
              </a:spcAft>
            </a:pPr>
            <a:r>
              <a:rPr sz="1500">
                <a:solidFill>
                  <a:srgbClr val="222B33"/>
                </a:solidFill>
                <a:latin typeface="Microsoft YaHei"/>
              </a:rPr>
              <a:t>▪ 实验剩下的食用材料带回去吃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实验室的水不能喝</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实验室龙头的水和纯水都不是饮用水</a:t>
            </a:r>
          </a:p>
          <a:p>
            <a:pPr>
              <a:spcAft>
                <a:spcPts val="1000"/>
              </a:spcAft>
            </a:pPr>
            <a:r>
              <a:rPr sz="2000">
                <a:solidFill>
                  <a:srgbClr val="222B33"/>
                </a:solidFill>
                <a:latin typeface="Microsoft YaHei"/>
              </a:rPr>
              <a:t>▪ 喝水到实验区外的饮用水处</a:t>
            </a:r>
          </a:p>
          <a:p>
            <a:pPr>
              <a:spcAft>
                <a:spcPts val="1000"/>
              </a:spcAft>
            </a:pPr>
            <a:r>
              <a:rPr sz="2000">
                <a:solidFill>
                  <a:srgbClr val="222B33"/>
                </a:solidFill>
                <a:latin typeface="Microsoft YaHei"/>
              </a:rPr>
              <a:t>▪ 实验容器不能装饮用水</a:t>
            </a:r>
          </a:p>
          <a:p>
            <a:pPr>
              <a:spcAft>
                <a:spcPts val="1000"/>
              </a:spcAft>
            </a:pPr>
            <a:r>
              <a:rPr sz="2000">
                <a:solidFill>
                  <a:srgbClr val="222B33"/>
                </a:solidFill>
                <a:latin typeface="Microsoft YaHei"/>
              </a:rPr>
              <a:t>▪ 不在实验水槽洗杯子和餐具</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能直接饮用的水叫饮用水。实验室水龙头的水、纯水和去离子水都不能当饮用水：管路、容器可能被污染，纯水也不保证卫生。要喝水，洗手后到实验区外的饮用水处。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用实验室的纯水桶接水喝</a:t>
            </a:r>
          </a:p>
          <a:p>
            <a:pPr>
              <a:spcAft>
                <a:spcPts val="1000"/>
              </a:spcAft>
            </a:pPr>
            <a:r>
              <a:rPr sz="1500">
                <a:solidFill>
                  <a:srgbClr val="222B33"/>
                </a:solidFill>
                <a:latin typeface="Microsoft YaHei"/>
              </a:rPr>
              <a:t>▪ 在实验室水槽洗饭盒</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管住摸脸的手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污染会从手跑到眼睛、鼻子和嘴边</a:t>
            </a:r>
          </a:p>
          <a:p>
            <a:pPr>
              <a:spcAft>
                <a:spcPts val="1000"/>
              </a:spcAft>
            </a:pPr>
            <a:r>
              <a:rPr sz="2000">
                <a:solidFill>
                  <a:srgbClr val="222B33"/>
                </a:solidFill>
                <a:latin typeface="Microsoft YaHei"/>
              </a:rPr>
              <a:t>▪ 戴着手套不摸脸、不揉眼、不挠鼻子</a:t>
            </a:r>
          </a:p>
          <a:p>
            <a:pPr>
              <a:spcAft>
                <a:spcPts val="1000"/>
              </a:spcAft>
            </a:pPr>
            <a:r>
              <a:rPr sz="2000">
                <a:solidFill>
                  <a:srgbClr val="222B33"/>
                </a:solidFill>
                <a:latin typeface="Microsoft YaHei"/>
              </a:rPr>
              <a:t>▪ 不在实验室里摘戴隐形眼镜</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摸脸、揉眼、挠鼻子、托腮、咬笔头这些下意识的小动作，会把手上或手套上的污染直接带到眼、鼻、口的黏膜上。操作中要有意识地管住自己的手，戴着手套更不能摸脸。</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戴着手套推眼镜、擦汗</a:t>
            </a:r>
          </a:p>
          <a:p>
            <a:pPr>
              <a:spcAft>
                <a:spcPts val="1000"/>
              </a:spcAft>
            </a:pPr>
            <a:r>
              <a:rPr sz="1500">
                <a:solidFill>
                  <a:srgbClr val="222B33"/>
                </a:solidFill>
                <a:latin typeface="Microsoft YaHei"/>
              </a:rPr>
              <a:t>▪ 在实验室里摘戴隐形眼镜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戴着手套不碰公共物品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戴着手套，不碰门把手、电梯按钮</a:t>
            </a:r>
          </a:p>
          <a:p>
            <a:pPr>
              <a:spcAft>
                <a:spcPts val="1000"/>
              </a:spcAft>
            </a:pPr>
            <a:r>
              <a:rPr sz="2000">
                <a:solidFill>
                  <a:srgbClr val="222B33"/>
                </a:solidFill>
                <a:latin typeface="Microsoft YaHei"/>
              </a:rPr>
              <a:t>▪ 不碰键盘、电话、手机等公共和个人物品</a:t>
            </a:r>
          </a:p>
          <a:p>
            <a:pPr>
              <a:spcAft>
                <a:spcPts val="1000"/>
              </a:spcAft>
            </a:pPr>
            <a:r>
              <a:rPr sz="2000">
                <a:solidFill>
                  <a:srgbClr val="222B33"/>
                </a:solidFill>
                <a:latin typeface="Microsoft YaHei"/>
              </a:rPr>
              <a:t>▪ 你碰过，下一个人就沾上了</a:t>
            </a:r>
          </a:p>
          <a:p>
            <a:pPr>
              <a:spcAft>
                <a:spcPts val="1000"/>
              </a:spcAft>
            </a:pPr>
            <a:r>
              <a:rPr sz="2000">
                <a:solidFill>
                  <a:srgbClr val="222B33"/>
                </a:solidFill>
                <a:latin typeface="Microsoft YaHei"/>
              </a:rPr>
              <a:t>▪ 沾染化学品的手套按危险废物处理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手套保护的是操作时的手，摘下前它本身就是被污染的物品。戴着手套去开门、按电梯、敲键盘、接电话、拿手机，就把污染留在了这些物品上，下一个徒手接触的人就会沾上。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戴着手套去走廊开门、按电梯</a:t>
            </a:r>
          </a:p>
          <a:p>
            <a:pPr>
              <a:spcAft>
                <a:spcPts val="1000"/>
              </a:spcAft>
            </a:pPr>
            <a:r>
              <a:rPr sz="1500">
                <a:solidFill>
                  <a:srgbClr val="222B33"/>
                </a:solidFill>
                <a:latin typeface="Microsoft YaHei"/>
              </a:rPr>
              <a:t>▪ 把用过的手套扔进普通垃圾桶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实验服和手套不出实验室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实验服和手套不穿出实验室</a:t>
            </a:r>
          </a:p>
          <a:p>
            <a:pPr>
              <a:spcAft>
                <a:spcPts val="1000"/>
              </a:spcAft>
            </a:pPr>
            <a:r>
              <a:rPr sz="2000">
                <a:solidFill>
                  <a:srgbClr val="222B33"/>
                </a:solidFill>
                <a:latin typeface="Microsoft YaHei"/>
              </a:rPr>
              <a:t>▪ 不穿进办公室、会议室、食堂和宿舍</a:t>
            </a:r>
          </a:p>
          <a:p>
            <a:pPr>
              <a:spcAft>
                <a:spcPts val="1000"/>
              </a:spcAft>
            </a:pPr>
            <a:r>
              <a:rPr sz="2000">
                <a:solidFill>
                  <a:srgbClr val="222B33"/>
                </a:solidFill>
                <a:latin typeface="Microsoft YaHei"/>
              </a:rPr>
              <a:t>▪ 离开前脱下防护用品，放在指定位置</a:t>
            </a:r>
          </a:p>
          <a:p>
            <a:pPr>
              <a:spcAft>
                <a:spcPts val="1000"/>
              </a:spcAft>
            </a:pPr>
            <a:r>
              <a:rPr sz="2000">
                <a:solidFill>
                  <a:srgbClr val="222B33"/>
                </a:solidFill>
                <a:latin typeface="Microsoft YaHei"/>
              </a:rPr>
              <a:t>▪ 管好自己，也是保护校园和社区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实验服和手套上可能沾有化学品或微生物。穿着实验服坐在办公桌前、去会议室或食堂，污染就会沾到桌面、门把手、水杯上，扩散到原本干净的区域。实验服、手套等防护用品一律不得穿出实验室或实验区。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穿着实验服去办公室、厕所或食堂</a:t>
            </a:r>
          </a:p>
          <a:p>
            <a:pPr>
              <a:spcAft>
                <a:spcPts val="1000"/>
              </a:spcAft>
            </a:pPr>
            <a:r>
              <a:rPr sz="1500">
                <a:solidFill>
                  <a:srgbClr val="222B33"/>
                </a:solidFill>
                <a:latin typeface="Microsoft YaHei"/>
              </a:rPr>
              <a:t>▪ 实验服搭在办公室椅背上</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污染物与清洁物分开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污染的和干净的东西绝不混放</a:t>
            </a:r>
          </a:p>
          <a:p>
            <a:pPr>
              <a:spcAft>
                <a:spcPts val="1000"/>
              </a:spcAft>
            </a:pPr>
            <a:r>
              <a:rPr sz="2000">
                <a:solidFill>
                  <a:srgbClr val="222B33"/>
                </a:solidFill>
                <a:latin typeface="Microsoft YaHei"/>
              </a:rPr>
              <a:t>▪ 记录本放在干净、溅不到的地方</a:t>
            </a:r>
          </a:p>
          <a:p>
            <a:pPr>
              <a:spcAft>
                <a:spcPts val="1000"/>
              </a:spcAft>
            </a:pPr>
            <a:r>
              <a:rPr sz="2000">
                <a:solidFill>
                  <a:srgbClr val="222B33"/>
                </a:solidFill>
                <a:latin typeface="Microsoft YaHei"/>
              </a:rPr>
              <a:t>▪ 别戴着脏手套写记录</a:t>
            </a:r>
          </a:p>
          <a:p>
            <a:pPr>
              <a:spcAft>
                <a:spcPts val="1000"/>
              </a:spcAft>
            </a:pPr>
            <a:r>
              <a:rPr sz="2000">
                <a:solidFill>
                  <a:srgbClr val="222B33"/>
                </a:solidFill>
                <a:latin typeface="Microsoft YaHei"/>
              </a:rPr>
              <a:t>▪ 实验用的本子和笔留在实验室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休息、吃饭、回家时，污染可能跟着人走。台面上要分清污染区和清洁区：用过的器皿、移液器、手套放在污染一侧，干净的器材、记录本放在另一侧，绝不混放。用过的东西，都先当它已被污染。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把记录本放在操作台中央</a:t>
            </a:r>
          </a:p>
          <a:p>
            <a:pPr>
              <a:spcAft>
                <a:spcPts val="1000"/>
              </a:spcAft>
            </a:pPr>
            <a:r>
              <a:rPr sz="1500">
                <a:solidFill>
                  <a:srgbClr val="222B33"/>
                </a:solidFill>
                <a:latin typeface="Microsoft YaHei"/>
              </a:rPr>
              <a:t>▪ 带着实验记录本边吃饭边看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设备用后及时去污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设备用完，当天清洁去污</a:t>
            </a:r>
          </a:p>
          <a:p>
            <a:pPr>
              <a:spcAft>
                <a:spcPts val="1000"/>
              </a:spcAft>
            </a:pPr>
            <a:r>
              <a:rPr sz="2000">
                <a:solidFill>
                  <a:srgbClr val="222B33"/>
                </a:solidFill>
                <a:latin typeface="Microsoft YaHei"/>
              </a:rPr>
              <a:t>▪ 共用设备的残留会混进别人的实验</a:t>
            </a:r>
          </a:p>
          <a:p>
            <a:pPr>
              <a:spcAft>
                <a:spcPts val="1000"/>
              </a:spcAft>
            </a:pPr>
            <a:r>
              <a:rPr sz="2000">
                <a:solidFill>
                  <a:srgbClr val="222B33"/>
                </a:solidFill>
                <a:latin typeface="Microsoft YaHei"/>
              </a:rPr>
              <a:t>▪ 实验前、中、后都检查台面和设备</a:t>
            </a:r>
          </a:p>
          <a:p>
            <a:pPr>
              <a:spcAft>
                <a:spcPts val="1000"/>
              </a:spcAft>
            </a:pPr>
            <a:r>
              <a:rPr sz="2000">
                <a:solidFill>
                  <a:srgbClr val="222B33"/>
                </a:solidFill>
                <a:latin typeface="Microsoft YaHei"/>
              </a:rPr>
              <a:t>▪ 体谅前一个人，照顾下一个人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设备用完要按程序当天清洁、去污，不留到“明天再说”。共用的加热板、搅拌器、天平、离心机最容易积残留，你不知道下一个用它的人是谁、要做什么，残留物既可能伤到他，也会混进他的样品，让结果出错。</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用完共用天平，不清理洒落的试剂</a:t>
            </a:r>
          </a:p>
          <a:p>
            <a:pPr>
              <a:spcAft>
                <a:spcPts val="1000"/>
              </a:spcAft>
            </a:pPr>
            <a:r>
              <a:rPr sz="1500">
                <a:solidFill>
                  <a:srgbClr val="222B33"/>
                </a:solidFill>
                <a:latin typeface="Microsoft YaHei"/>
              </a:rPr>
              <a:t>▪ 发现设备有残留，不清洁就直接用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什么时候要洗手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摘下手套后马上洗手</a:t>
            </a:r>
          </a:p>
          <a:p>
            <a:pPr>
              <a:spcAft>
                <a:spcPts val="1000"/>
              </a:spcAft>
            </a:pPr>
            <a:r>
              <a:rPr sz="2000">
                <a:solidFill>
                  <a:srgbClr val="222B33"/>
                </a:solidFill>
                <a:latin typeface="Microsoft YaHei"/>
              </a:rPr>
              <a:t>▪ 接触化学品、微生物和样品后洗手</a:t>
            </a:r>
          </a:p>
          <a:p>
            <a:pPr>
              <a:spcAft>
                <a:spcPts val="1000"/>
              </a:spcAft>
            </a:pPr>
            <a:r>
              <a:rPr sz="2000">
                <a:solidFill>
                  <a:srgbClr val="222B33"/>
                </a:solidFill>
                <a:latin typeface="Microsoft YaHei"/>
              </a:rPr>
              <a:t>▪ 离开实验室前、吃饭喝水前洗手</a:t>
            </a:r>
          </a:p>
          <a:p>
            <a:pPr>
              <a:spcAft>
                <a:spcPts val="1000"/>
              </a:spcAft>
            </a:pPr>
            <a:r>
              <a:rPr sz="2000">
                <a:solidFill>
                  <a:srgbClr val="222B33"/>
                </a:solidFill>
                <a:latin typeface="Microsoft YaHei"/>
              </a:rPr>
              <a:t>▪ 手套破了或沾污了，及时更换</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手上的化学品和微生物，会被带到门把手、食物和脸上。以下时候必须洗手：摘下手套之后；接触化学品、微生物、动物或样品之后；离开实验室之前；吃饭、喝水、去洗手间之前。戴了手套不等于不用洗手，手套可能有看不见的破口，摘手套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认为戴了手套就不用洗手</a:t>
            </a:r>
          </a:p>
          <a:p>
            <a:pPr>
              <a:spcAft>
                <a:spcPts val="1000"/>
              </a:spcAft>
            </a:pPr>
            <a:r>
              <a:rPr sz="1500">
                <a:solidFill>
                  <a:srgbClr val="222B33"/>
                </a:solidFill>
                <a:latin typeface="Microsoft YaHei"/>
              </a:rPr>
              <a:t>▪ 离开实验室直接去吃饭，不洗手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怎样把手洗干净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流水打湿，取洗手液</a:t>
            </a:r>
          </a:p>
          <a:p>
            <a:pPr>
              <a:spcAft>
                <a:spcPts val="1000"/>
              </a:spcAft>
            </a:pPr>
            <a:r>
              <a:rPr sz="2000">
                <a:solidFill>
                  <a:srgbClr val="222B33"/>
                </a:solidFill>
                <a:latin typeface="Microsoft YaHei"/>
              </a:rPr>
              <a:t>▪ 掌心、手背、指缝、指尖、拇指、手腕都搓到</a:t>
            </a:r>
          </a:p>
          <a:p>
            <a:pPr>
              <a:spcAft>
                <a:spcPts val="1000"/>
              </a:spcAft>
            </a:pPr>
            <a:r>
              <a:rPr sz="2000">
                <a:solidFill>
                  <a:srgbClr val="222B33"/>
                </a:solidFill>
                <a:latin typeface="Microsoft YaHei"/>
              </a:rPr>
              <a:t>▪ 揉搓后用流水冲干净</a:t>
            </a:r>
          </a:p>
          <a:p>
            <a:pPr>
              <a:spcAft>
                <a:spcPts val="1000"/>
              </a:spcAft>
            </a:pPr>
            <a:r>
              <a:rPr sz="2000">
                <a:solidFill>
                  <a:srgbClr val="222B33"/>
                </a:solidFill>
                <a:latin typeface="Microsoft YaHei"/>
              </a:rPr>
              <a:t>▪ 一次性纸巾擦干，用纸巾关水龙头</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洗手要用流动的水和洗手液（或肥皂）。步骤是：先用流水打湿双手，取适量洗手液；然后依次揉搓掌心、手背、指缝、指背、拇指、指尖和手腕，每个部位都要搓到，揉搓时间不少于 15 秒（以本校规定为准）；再用流水把泡沫冲干净。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只冲一下手心，不搓指缝和指尖</a:t>
            </a:r>
          </a:p>
          <a:p>
            <a:pPr>
              <a:spcAft>
                <a:spcPts val="1000"/>
              </a:spcAft>
            </a:pPr>
            <a:r>
              <a:rPr sz="1500">
                <a:solidFill>
                  <a:srgbClr val="222B33"/>
                </a:solidFill>
                <a:latin typeface="Microsoft YaHei"/>
              </a:rPr>
              <a:t>▪ 洗完手又徒手关水龙头</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休息到实验区外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休息时，先脱手套、洗手</a:t>
            </a:r>
          </a:p>
          <a:p>
            <a:pPr>
              <a:spcAft>
                <a:spcPts val="1000"/>
              </a:spcAft>
            </a:pPr>
            <a:r>
              <a:rPr sz="2000">
                <a:solidFill>
                  <a:srgbClr val="222B33"/>
                </a:solidFill>
                <a:latin typeface="Microsoft YaHei"/>
              </a:rPr>
              <a:t>▪ 喝水、吃东西都到实验区外</a:t>
            </a:r>
          </a:p>
          <a:p>
            <a:pPr>
              <a:spcAft>
                <a:spcPts val="1000"/>
              </a:spcAft>
            </a:pPr>
            <a:r>
              <a:rPr sz="2000">
                <a:solidFill>
                  <a:srgbClr val="222B33"/>
                </a:solidFill>
                <a:latin typeface="Microsoft YaHei"/>
              </a:rPr>
              <a:t>▪ 拉伸放松也在休息区做</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长时间实验需要休息时，先摘下手套、脱下实验服、洗手，再离开实验区。喝水、吃东西、拉伸放松，都在实验区外的休息区进行，不在实验台旁或通风柜前休息（工位与疲劳见第 147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戴着手套在实验台边喝水休息</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手上有伤口，先包好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手上有伤口，最容易被感染和受化学品伤害</a:t>
            </a:r>
          </a:p>
          <a:p>
            <a:pPr>
              <a:spcAft>
                <a:spcPts val="1000"/>
              </a:spcAft>
            </a:pPr>
            <a:r>
              <a:rPr sz="2000">
                <a:solidFill>
                  <a:srgbClr val="222B33"/>
                </a:solidFill>
                <a:latin typeface="Microsoft YaHei"/>
              </a:rPr>
              <a:t>▪ 用防水敷料包好，再戴手套</a:t>
            </a:r>
          </a:p>
          <a:p>
            <a:pPr>
              <a:spcAft>
                <a:spcPts val="1000"/>
              </a:spcAft>
            </a:pPr>
            <a:r>
              <a:rPr sz="2000">
                <a:solidFill>
                  <a:srgbClr val="222B33"/>
                </a:solidFill>
                <a:latin typeface="Microsoft YaHei"/>
              </a:rPr>
              <a:t>▪ 告诉实验室负责人，必要时调整工作</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皮肤上的伤口会让化学品和病原微生物更容易进入人体。手上有伤口、破皮或皮肤病时，要先用防水敷料包扎好，再戴手套；并告诉实验室负责人或导师，必要时暂时调换不接触危险物质的工作。实验中受伤的处理和报告见第 158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手上有伤口不包扎，直接戴手套做实验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防污染五要点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了解所用物质的危害</a:t>
            </a:r>
          </a:p>
          <a:p>
            <a:pPr>
              <a:spcAft>
                <a:spcPts val="1000"/>
              </a:spcAft>
            </a:pPr>
            <a:r>
              <a:rPr sz="2000">
                <a:solidFill>
                  <a:srgbClr val="222B33"/>
                </a:solidFill>
                <a:latin typeface="Microsoft YaHei"/>
              </a:rPr>
              <a:t>▪ 穿戴好防护，用好通风柜等工程控制</a:t>
            </a:r>
          </a:p>
          <a:p>
            <a:pPr>
              <a:spcAft>
                <a:spcPts val="1000"/>
              </a:spcAft>
            </a:pPr>
            <a:r>
              <a:rPr sz="2000">
                <a:solidFill>
                  <a:srgbClr val="222B33"/>
                </a:solidFill>
                <a:latin typeface="Microsoft YaHei"/>
              </a:rPr>
              <a:t>▪ 保持整洁，小心工作，不想当然</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防止污染扩散，可以记住五件事：一是了解所用物质的危害（安全技术说明书见第 041 课）；二是按要求穿戴防护用品；三是用好通风柜、生物安全柜等工程控制；四是保持台面和设备整洁；五是小心工作，不想当然，不凭“应该没事”省……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凭经验认为某种物质“没毒”，不做防护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实验服的存放与清洗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实验服挂在实验室内指定位置</a:t>
            </a:r>
          </a:p>
          <a:p>
            <a:pPr>
              <a:spcAft>
                <a:spcPts val="1000"/>
              </a:spcAft>
            </a:pPr>
            <a:r>
              <a:rPr sz="2000">
                <a:solidFill>
                  <a:srgbClr val="222B33"/>
                </a:solidFill>
                <a:latin typeface="Microsoft YaHei"/>
              </a:rPr>
              <a:t>▪ 不和日常衣物混放，不带回宿舍或家里洗</a:t>
            </a:r>
          </a:p>
          <a:p>
            <a:pPr>
              <a:spcAft>
                <a:spcPts val="1000"/>
              </a:spcAft>
            </a:pPr>
            <a:r>
              <a:rPr sz="2000">
                <a:solidFill>
                  <a:srgbClr val="222B33"/>
                </a:solidFill>
                <a:latin typeface="Microsoft YaHei"/>
              </a:rPr>
              <a:t>▪ 被污染的实验服按本校规定统一清洗或处置</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实验服不用时，挂在实验室内指定的挂钩或柜子里，与日常衣物、背包分开存放。实验服不带回宿舍或家中，也不和日常衣物一起清洗，以免把实验室的化学品和微生物带进生活区。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把实验服塞进书包带回宿舍</a:t>
            </a:r>
          </a:p>
          <a:p>
            <a:pPr>
              <a:spcAft>
                <a:spcPts val="1000"/>
              </a:spcAft>
            </a:pPr>
            <a:r>
              <a:rPr sz="1500">
                <a:solidFill>
                  <a:srgbClr val="222B33"/>
                </a:solidFill>
                <a:latin typeface="Microsoft YaHei"/>
              </a:rPr>
              <a:t>▪ 实验服沾了试剂，擦一擦继续穿</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下列哪一种着装适合进入化学实验室？</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短裤、凉鞋，外套实验服</a:t>
            </a:r>
          </a:p>
          <a:p>
            <a:pPr algn="l"/>
            <a:r>
              <a:rPr sz="1500" b="0">
                <a:solidFill>
                  <a:srgbClr val="222B33"/>
                </a:solidFill>
                <a:latin typeface="Microsoft YaHei"/>
              </a:rPr>
              <a:t>B. 长裤、网面运动鞋、披着长发</a:t>
            </a:r>
          </a:p>
          <a:p>
            <a:pPr algn="l"/>
            <a:r>
              <a:rPr sz="1500" b="0">
                <a:solidFill>
                  <a:srgbClr val="222B33"/>
                </a:solidFill>
                <a:latin typeface="Microsoft YaHei"/>
              </a:rPr>
              <a:t>C. 棉质长袖长裤、包脚鞋、长发束起、实验服扣好</a:t>
            </a:r>
          </a:p>
          <a:p>
            <a:pPr algn="l"/>
            <a:r>
              <a:rPr sz="1500" b="0">
                <a:solidFill>
                  <a:srgbClr val="222B33"/>
                </a:solidFill>
                <a:latin typeface="Microsoft YaHei"/>
              </a:rPr>
              <a:t>D. 裙子、丝袜、高跟鞋</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判断：午饭只是临时放一会儿，可以放在实验室冰箱里。</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判断：做完实验时戴着手套，所以摘下手套后就不用洗手了。</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实验中需要出门去取一件东西，正确的做法是：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戴着手套直接开门出去</a:t>
            </a:r>
          </a:p>
          <a:p>
            <a:pPr algn="l"/>
            <a:r>
              <a:rPr sz="1500" b="0">
                <a:solidFill>
                  <a:srgbClr val="222B33"/>
                </a:solidFill>
                <a:latin typeface="Microsoft YaHei"/>
              </a:rPr>
              <a:t>B. 穿着实验服、戴着手套去</a:t>
            </a:r>
          </a:p>
          <a:p>
            <a:pPr algn="l"/>
            <a:r>
              <a:rPr sz="1500" b="0">
                <a:solidFill>
                  <a:srgbClr val="222B33"/>
                </a:solidFill>
                <a:latin typeface="Microsoft YaHei"/>
              </a:rPr>
              <a:t>C. 摘下手套、脱下实验服、洗手后再离开</a:t>
            </a:r>
          </a:p>
          <a:p>
            <a:pPr algn="l"/>
            <a:r>
              <a:rPr sz="1500" b="0">
                <a:solidFill>
                  <a:srgbClr val="222B33"/>
                </a:solidFill>
                <a:latin typeface="Microsoft YaHei"/>
              </a:rPr>
              <a:t>D. 戴两层手套出去</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020 · 着装要求与个人卫生</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020 着装要求与个人卫生</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下列哪一项不属于本课要求？</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进实验室前摘下戒指</a:t>
            </a:r>
          </a:p>
          <a:p>
            <a:pPr algn="l"/>
            <a:r>
              <a:rPr sz="1500" b="0">
                <a:solidFill>
                  <a:srgbClr val="222B33"/>
                </a:solidFill>
                <a:latin typeface="Microsoft YaHei"/>
              </a:rPr>
              <a:t>B. 用实验室纯水桶接水喝</a:t>
            </a:r>
          </a:p>
          <a:p>
            <a:pPr algn="l"/>
            <a:r>
              <a:rPr sz="1500" b="0">
                <a:solidFill>
                  <a:srgbClr val="222B33"/>
                </a:solidFill>
                <a:latin typeface="Microsoft YaHei"/>
              </a:rPr>
              <a:t>C. 不在实验水槽洗饭盒</a:t>
            </a:r>
          </a:p>
          <a:p>
            <a:pPr algn="l"/>
            <a:r>
              <a:rPr sz="1500" b="0">
                <a:solidFill>
                  <a:srgbClr val="222B33"/>
                </a:solidFill>
                <a:latin typeface="Microsoft YaHei"/>
              </a:rPr>
              <a:t>D. 记录本放在干净处</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简答：洗手时哪些部位容易漏洗？洗完后怎样关水龙头？</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污染是怎么传开的</a:t>
            </a:r>
          </a:p>
          <a:p>
            <a:pPr>
              <a:spcAft>
                <a:spcPts val="800"/>
              </a:spcAft>
            </a:pPr>
            <a:r>
              <a:rPr sz="1500">
                <a:solidFill>
                  <a:srgbClr val="FFFFFF"/>
                </a:solidFill>
                <a:latin typeface="Microsoft YaHei"/>
              </a:rPr>
              <a:t>▪ K2  衣物尽量遮住皮肤</a:t>
            </a:r>
          </a:p>
          <a:p>
            <a:pPr>
              <a:spcAft>
                <a:spcPts val="800"/>
              </a:spcAft>
            </a:pPr>
            <a:r>
              <a:rPr sz="1500">
                <a:solidFill>
                  <a:srgbClr val="FFFFFF"/>
                </a:solidFill>
                <a:latin typeface="Microsoft YaHei"/>
              </a:rPr>
              <a:t>▪ K3  长裤和包脚鞋</a:t>
            </a:r>
          </a:p>
          <a:p>
            <a:pPr>
              <a:spcAft>
                <a:spcPts val="800"/>
              </a:spcAft>
            </a:pPr>
            <a:r>
              <a:rPr sz="1500">
                <a:solidFill>
                  <a:srgbClr val="FFFFFF"/>
                </a:solidFill>
                <a:latin typeface="Microsoft YaHei"/>
              </a:rPr>
              <a:t>▪ K4  长发束起，衣物不宽松</a:t>
            </a:r>
          </a:p>
          <a:p>
            <a:pPr>
              <a:spcAft>
                <a:spcPts val="800"/>
              </a:spcAft>
            </a:pPr>
            <a:r>
              <a:rPr sz="1500">
                <a:solidFill>
                  <a:srgbClr val="FFFFFF"/>
                </a:solidFill>
                <a:latin typeface="Microsoft YaHei"/>
              </a:rPr>
              <a:t>▪ K5  摘下首饰</a:t>
            </a:r>
          </a:p>
          <a:p>
            <a:pPr>
              <a:spcAft>
                <a:spcPts val="800"/>
              </a:spcAft>
            </a:pPr>
            <a:r>
              <a:rPr sz="1500">
                <a:solidFill>
                  <a:srgbClr val="FFFFFF"/>
                </a:solidFill>
                <a:latin typeface="Microsoft YaHei"/>
              </a:rPr>
              <a:t>▪ K6  进门前的着装自查</a:t>
            </a:r>
          </a:p>
          <a:p>
            <a:pPr>
              <a:spcAft>
                <a:spcPts val="800"/>
              </a:spcAft>
            </a:pPr>
            <a:r>
              <a:rPr sz="1500">
                <a:solidFill>
                  <a:srgbClr val="FFFFFF"/>
                </a:solidFill>
                <a:latin typeface="Microsoft YaHei"/>
              </a:rPr>
              <a:t>▪ K7  私人物品不进实验区</a:t>
            </a:r>
          </a:p>
          <a:p>
            <a:pPr>
              <a:spcAft>
                <a:spcPts val="800"/>
              </a:spcAft>
            </a:pPr>
            <a:r>
              <a:rPr sz="1500">
                <a:solidFill>
                  <a:srgbClr val="FFFFFF"/>
                </a:solidFill>
                <a:latin typeface="Microsoft YaHei"/>
              </a:rPr>
              <a:t>▪ K8  不吃不喝，不吸烟不化妆</a:t>
            </a:r>
          </a:p>
          <a:p>
            <a:pPr>
              <a:spcAft>
                <a:spcPts val="800"/>
              </a:spcAft>
            </a:pPr>
            <a:r>
              <a:rPr sz="1500">
                <a:solidFill>
                  <a:srgbClr val="FFFFFF"/>
                </a:solidFill>
                <a:latin typeface="Microsoft YaHei"/>
              </a:rPr>
              <a:t>▪ K9  食品不进实验室，实验冰箱不放食物</a:t>
            </a:r>
          </a:p>
          <a:p>
            <a:pPr>
              <a:spcAft>
                <a:spcPts val="800"/>
              </a:spcAft>
            </a:pPr>
            <a:r>
              <a:rPr sz="1500">
                <a:solidFill>
                  <a:srgbClr val="FFFFFF"/>
                </a:solidFill>
                <a:latin typeface="Microsoft YaHei"/>
              </a:rPr>
              <a:t>▪ K10  实验室的水不能喝</a:t>
            </a:r>
          </a:p>
          <a:p>
            <a:pPr>
              <a:spcAft>
                <a:spcPts val="800"/>
              </a:spcAft>
            </a:pPr>
            <a:r>
              <a:rPr sz="1500">
                <a:solidFill>
                  <a:srgbClr val="FFFFFF"/>
                </a:solidFill>
                <a:latin typeface="Microsoft YaHei"/>
              </a:rPr>
              <a:t>▪ K11  管住摸脸的手</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K12  戴着手套不碰公共物品</a:t>
            </a:r>
          </a:p>
          <a:p>
            <a:pPr>
              <a:spcAft>
                <a:spcPts val="800"/>
              </a:spcAft>
            </a:pPr>
            <a:r>
              <a:rPr sz="1500">
                <a:solidFill>
                  <a:srgbClr val="FFFFFF"/>
                </a:solidFill>
                <a:latin typeface="Microsoft YaHei"/>
              </a:rPr>
              <a:t>▪ K13  实验服和手套不出实验室</a:t>
            </a:r>
          </a:p>
          <a:p>
            <a:pPr>
              <a:spcAft>
                <a:spcPts val="800"/>
              </a:spcAft>
            </a:pPr>
            <a:r>
              <a:rPr sz="1500">
                <a:solidFill>
                  <a:srgbClr val="FFFFFF"/>
                </a:solidFill>
                <a:latin typeface="Microsoft YaHei"/>
              </a:rPr>
              <a:t>▪ K14  污染物与清洁物分开</a:t>
            </a:r>
          </a:p>
          <a:p>
            <a:pPr>
              <a:spcAft>
                <a:spcPts val="800"/>
              </a:spcAft>
            </a:pPr>
            <a:r>
              <a:rPr sz="1500">
                <a:solidFill>
                  <a:srgbClr val="FFFFFF"/>
                </a:solidFill>
                <a:latin typeface="Microsoft YaHei"/>
              </a:rPr>
              <a:t>▪ K15  设备用后及时去污</a:t>
            </a:r>
          </a:p>
          <a:p>
            <a:pPr>
              <a:spcAft>
                <a:spcPts val="800"/>
              </a:spcAft>
            </a:pPr>
            <a:r>
              <a:rPr sz="1500">
                <a:solidFill>
                  <a:srgbClr val="FFFFFF"/>
                </a:solidFill>
                <a:latin typeface="Microsoft YaHei"/>
              </a:rPr>
              <a:t>▪ K16  什么时候要洗手</a:t>
            </a:r>
          </a:p>
          <a:p>
            <a:pPr>
              <a:spcAft>
                <a:spcPts val="800"/>
              </a:spcAft>
            </a:pPr>
            <a:r>
              <a:rPr sz="1500">
                <a:solidFill>
                  <a:srgbClr val="FFFFFF"/>
                </a:solidFill>
                <a:latin typeface="Microsoft YaHei"/>
              </a:rPr>
              <a:t>▪ K17  怎样把手洗干净</a:t>
            </a:r>
          </a:p>
          <a:p>
            <a:pPr>
              <a:spcAft>
                <a:spcPts val="800"/>
              </a:spcAft>
            </a:pPr>
            <a:r>
              <a:rPr sz="1500">
                <a:solidFill>
                  <a:srgbClr val="FFFFFF"/>
                </a:solidFill>
                <a:latin typeface="Microsoft YaHei"/>
              </a:rPr>
              <a:t>▪ K18  休息到实验区外</a:t>
            </a:r>
          </a:p>
          <a:p>
            <a:pPr>
              <a:spcAft>
                <a:spcPts val="800"/>
              </a:spcAft>
            </a:pPr>
            <a:r>
              <a:rPr sz="1500">
                <a:solidFill>
                  <a:srgbClr val="FFFFFF"/>
                </a:solidFill>
                <a:latin typeface="Microsoft YaHei"/>
              </a:rPr>
              <a:t>▪ K19  手上有伤口，先包好</a:t>
            </a:r>
          </a:p>
          <a:p>
            <a:pPr>
              <a:spcAft>
                <a:spcPts val="800"/>
              </a:spcAft>
            </a:pPr>
            <a:r>
              <a:rPr sz="1500">
                <a:solidFill>
                  <a:srgbClr val="FFFFFF"/>
                </a:solidFill>
                <a:latin typeface="Microsoft YaHei"/>
              </a:rPr>
              <a:t>▪ K20  防污染五要点</a:t>
            </a:r>
          </a:p>
          <a:p>
            <a:pPr>
              <a:spcAft>
                <a:spcPts val="800"/>
              </a:spcAft>
            </a:pPr>
            <a:r>
              <a:rPr sz="1500">
                <a:solidFill>
                  <a:srgbClr val="FFFFFF"/>
                </a:solidFill>
                <a:latin typeface="Microsoft YaHei"/>
              </a:rPr>
              <a:t>▪ S1  实验服的存放与清洗</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021</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个人防护装备的选择</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第3章 通用安全与个人防护</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5.5 分钟（卡通视频 65 镜）　适用对象：全体进入高校实验室的本科生、研究生和教职工（必修）；实验室负责人、安全员和工程实训、维修施工相关人员重点学习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能说出个人防护装备按风险评估选择的原则，知道先查安全技术说明书、先预判危害和受伤部位。</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能判断选错、不合身、穿戴不对的防护为什么危险，做到用前检查、坏了脏了及时更换、用后维护存放。</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能说出一般实验的基本三件防护，以及安全帽、安全鞋、围裙等防护用品的适用场合和使用禁忌。</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能做到防护用品缺失或不合适时报告实验室负责人、补齐后再做实验。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《中华人民共和国安全生产法》（以现行文本为准）：生产经营单位为从业人员提供符合国家标准或行业标准的劳动防护用品并监督、教育其正确佩戴使用，从业人员应正确佩戴和使用</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《中华人民共和国职业病防治法》（以现行文本为准）：提供符合防治职业病要求的个人防护用品</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号，以现行文本为准）：按实验风险配备个人防护用品，实验人员按要求佩戴</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39800.1-2020（以现行文本为准）《个体防护装备配备规范 第1部分：总则》：按危害辨识和风险评估配备，培训、使用、检查、维护和报废管理</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2811-2019（以现行文本为准）《头部防护 安全帽》</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21148-2020（以现行文本为准）《足部防护 安全鞋》</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日起施行）及《危险化学品安全管理条例》（以现行文本为准）；GB/T 16483-2008（以现行文本为准）《化学品安全技术说明书 内容和项目顺序》</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本校实验室安全管理制度、个人防护用品配备和发放规定（以本校规定为准）</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按风险评估选防护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戴什么防护，由风险评估决定</a:t>
            </a:r>
          </a:p>
          <a:p>
            <a:pPr>
              <a:spcAft>
                <a:spcPts val="1000"/>
              </a:spcAft>
            </a:pPr>
            <a:r>
              <a:rPr sz="2000">
                <a:solidFill>
                  <a:srgbClr val="222B33"/>
                </a:solidFill>
                <a:latin typeface="Microsoft YaHei"/>
              </a:rPr>
              <a:t>▪ 先查安全技术说明书中的防护建议</a:t>
            </a:r>
          </a:p>
          <a:p>
            <a:pPr>
              <a:spcAft>
                <a:spcPts val="1000"/>
              </a:spcAft>
            </a:pPr>
            <a:r>
              <a:rPr sz="2000">
                <a:solidFill>
                  <a:srgbClr val="222B33"/>
                </a:solidFill>
                <a:latin typeface="Microsoft YaHei"/>
              </a:rPr>
              <a:t>▪ 按所用化学品和实验条件选定</a:t>
            </a:r>
          </a:p>
          <a:p>
            <a:pPr>
              <a:spcAft>
                <a:spcPts val="1000"/>
              </a:spcAft>
            </a:pPr>
            <a:r>
              <a:rPr sz="2000">
                <a:solidFill>
                  <a:srgbClr val="222B33"/>
                </a:solidFill>
                <a:latin typeface="Microsoft YaHei"/>
              </a:rPr>
              <a:t>▪ 撤走全部化学品的讲台，才谈得上不穿防护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个人防护装备不是凭习惯随手拿的，而是按风险评估选出来的（风险评估见第 014–015 课）。做实验前，先查所用化学品的安全技术说明书（SDS），其中“接触控制和个体防护”部分给出了眼、手、呼吸和身体防护的建议（SDS……</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不看说明书，所有实验都只戴一副一次性手套</a:t>
            </a:r>
          </a:p>
          <a:p>
            <a:pPr>
              <a:spcAft>
                <a:spcPts val="1000"/>
              </a:spcAft>
            </a:pPr>
            <a:r>
              <a:rPr sz="1500">
                <a:solidFill>
                  <a:srgbClr val="222B33"/>
                </a:solidFill>
                <a:latin typeface="Microsoft YaHei"/>
              </a:rPr>
              <a:t>▪ 认为“只是讲解一下”，在摆满试剂的台前不戴防护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先预判危害，再定防护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先写下来：有哪些危害、会伤到哪个部位</a:t>
            </a:r>
          </a:p>
          <a:p>
            <a:pPr>
              <a:spcAft>
                <a:spcPts val="1000"/>
              </a:spcAft>
            </a:pPr>
            <a:r>
              <a:rPr sz="2000">
                <a:solidFill>
                  <a:srgbClr val="222B33"/>
                </a:solidFill>
                <a:latin typeface="Microsoft YaHei"/>
              </a:rPr>
              <a:t>▪ 危害是可以预见的，能预见就能提前准备</a:t>
            </a:r>
          </a:p>
          <a:p>
            <a:pPr>
              <a:spcAft>
                <a:spcPts val="1000"/>
              </a:spcAft>
            </a:pPr>
            <a:r>
              <a:rPr sz="2000">
                <a:solidFill>
                  <a:srgbClr val="222B33"/>
                </a:solidFill>
                <a:latin typeface="Microsoft YaHei"/>
              </a:rPr>
              <a:t>▪ 不确定所需防护，问清导师</a:t>
            </a:r>
          </a:p>
          <a:p>
            <a:pPr>
              <a:spcAft>
                <a:spcPts val="1000"/>
              </a:spcAft>
            </a:pPr>
            <a:r>
              <a:rPr sz="2000">
                <a:solidFill>
                  <a:srgbClr val="222B33"/>
                </a:solidFill>
                <a:latin typeface="Microsoft YaHei"/>
              </a:rPr>
              <a:t>▪ 同时想好出了事怎么应急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选防护之前，先做书面的危害评估：这次实验有哪些具体危害（飞溅、烫伤、冻伤、吸入、割伤、砸伤），会伤到身体的哪个部位。危害取决于你要做什么，是可以预见的；能预见，就能提前准备好合适的防护。凭感觉乱配，反而会带来新的危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先开始做，遇到问题再去找防护用品</a:t>
            </a:r>
          </a:p>
          <a:p>
            <a:pPr>
              <a:spcAft>
                <a:spcPts val="1000"/>
              </a:spcAft>
            </a:pPr>
            <a:r>
              <a:rPr sz="1500">
                <a:solidFill>
                  <a:srgbClr val="222B33"/>
                </a:solidFill>
                <a:latin typeface="Microsoft YaHei"/>
              </a:rPr>
              <a:t>▪ 只想到防护，没想到出了事怎么处置</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选错防护比不戴更危险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选错防护，比不戴还危险</a:t>
            </a:r>
          </a:p>
          <a:p>
            <a:pPr>
              <a:spcAft>
                <a:spcPts val="1000"/>
              </a:spcAft>
            </a:pPr>
            <a:r>
              <a:rPr sz="2000">
                <a:solidFill>
                  <a:srgbClr val="222B33"/>
                </a:solidFill>
                <a:latin typeface="Microsoft YaHei"/>
              </a:rPr>
              <a:t>▪ 它让人误以为自己很安全</a:t>
            </a:r>
          </a:p>
          <a:p>
            <a:pPr>
              <a:spcAft>
                <a:spcPts val="1000"/>
              </a:spcAft>
            </a:pPr>
            <a:r>
              <a:rPr sz="2000">
                <a:solidFill>
                  <a:srgbClr val="222B33"/>
                </a:solidFill>
                <a:latin typeface="Microsoft YaHei"/>
              </a:rPr>
              <a:t>▪ 防护必须和具体危害对得上</a:t>
            </a:r>
          </a:p>
          <a:p>
            <a:pPr>
              <a:spcAft>
                <a:spcPts val="1000"/>
              </a:spcAft>
            </a:pPr>
            <a:r>
              <a:rPr sz="2000">
                <a:solidFill>
                  <a:srgbClr val="222B33"/>
                </a:solidFill>
                <a:latin typeface="Microsoft YaHei"/>
              </a:rPr>
              <a:t>▪ 防护不是打勾走过场的表演</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选错的防护比不戴还危险：例如用挡不住某种溶剂的手套去接触它，溶剂会穿透手套并被闷在皮肤上，人却以为自己受到了保护，反而放松了警惕。防护用品必须和具体的危害对得上，选对材质、类型和防护等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认为“戴了总比没戴好”，不管型号是否合适</a:t>
            </a:r>
          </a:p>
          <a:p>
            <a:pPr>
              <a:spcAft>
                <a:spcPts val="1000"/>
              </a:spcAft>
            </a:pPr>
            <a:r>
              <a:rPr sz="1500">
                <a:solidFill>
                  <a:srgbClr val="222B33"/>
                </a:solidFill>
                <a:latin typeface="Microsoft YaHei"/>
              </a:rPr>
              <a:t>▪ 填表时一律勾选“已佩戴防护”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按危害和身体部位选</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护目镜面屏护眼面，手套护手</a:t>
            </a:r>
          </a:p>
          <a:p>
            <a:pPr>
              <a:spcAft>
                <a:spcPts val="1000"/>
              </a:spcAft>
            </a:pPr>
            <a:r>
              <a:rPr sz="2000">
                <a:solidFill>
                  <a:srgbClr val="222B33"/>
                </a:solidFill>
                <a:latin typeface="Microsoft YaHei"/>
              </a:rPr>
              <a:t>▪ 口罩和呼吸器护呼吸，实验服防护服护身体</a:t>
            </a:r>
          </a:p>
          <a:p>
            <a:pPr>
              <a:spcAft>
                <a:spcPts val="1000"/>
              </a:spcAft>
            </a:pPr>
            <a:r>
              <a:rPr sz="2000">
                <a:solidFill>
                  <a:srgbClr val="222B33"/>
                </a:solidFill>
                <a:latin typeface="Microsoft YaHei"/>
              </a:rPr>
              <a:t>▪ 取液氮戴防冻手套，手套材质按化学品选</a:t>
            </a:r>
          </a:p>
          <a:p>
            <a:pPr>
              <a:spcAft>
                <a:spcPts val="1000"/>
              </a:spcAft>
            </a:pPr>
            <a:r>
              <a:rPr sz="2000">
                <a:solidFill>
                  <a:srgbClr val="222B33"/>
                </a:solidFill>
                <a:latin typeface="Microsoft YaHei"/>
              </a:rPr>
              <a:t>▪ 特殊工作、应急处置，换上专门的防护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不同部位有不同的防护：安全眼镜、护目镜、面屏保护眼面部（第 022 课）；手套保护手（第 023 课）；实验服和防护服保护身体（第 024 课）；口罩和呼吸器保护呼吸（第 025 课）；安全帽和安全鞋保护头部和足部（……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用一次性薄手套去拿液氮容器</a:t>
            </a:r>
          </a:p>
          <a:p>
            <a:pPr>
              <a:spcAft>
                <a:spcPts val="1000"/>
              </a:spcAft>
            </a:pPr>
            <a:r>
              <a:rPr sz="1500">
                <a:solidFill>
                  <a:srgbClr val="222B33"/>
                </a:solidFill>
                <a:latin typeface="Microsoft YaHei"/>
              </a:rPr>
              <a:t>▪ 只戴护目镜，做喷溅风险大的操作不加面屏</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一般实验的基本三件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一般化学实验：实验服、护目镜、手套</a:t>
            </a:r>
          </a:p>
          <a:p>
            <a:pPr>
              <a:spcAft>
                <a:spcPts val="1000"/>
              </a:spcAft>
            </a:pPr>
            <a:r>
              <a:rPr sz="2000">
                <a:solidFill>
                  <a:srgbClr val="222B33"/>
                </a:solidFill>
                <a:latin typeface="Microsoft YaHei"/>
              </a:rPr>
              <a:t>▪ 三件一样不能少，在着装合格的基础上穿戴</a:t>
            </a:r>
          </a:p>
          <a:p>
            <a:pPr>
              <a:spcAft>
                <a:spcPts val="1000"/>
              </a:spcAft>
            </a:pPr>
            <a:r>
              <a:rPr sz="2000">
                <a:solidFill>
                  <a:srgbClr val="222B33"/>
                </a:solidFill>
                <a:latin typeface="Microsoft YaHei"/>
              </a:rPr>
              <a:t>▪ 防护既保护人，也保护样品不被污染</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一般的化学、生物教学和科研实验，最低配置是三件：实验服（扣好）、安全眼镜或护目镜（全程佩戴）、按试剂选择的手套。这三件是在第 020 课着装要求合格（长裤、包脚鞋、长发束起）的基础上穿戴的，风险更高时再按评估增加。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实验服穿了，护目镜挂在头顶</a:t>
            </a:r>
          </a:p>
          <a:p>
            <a:pPr>
              <a:spcAft>
                <a:spcPts val="1000"/>
              </a:spcAft>
            </a:pPr>
            <a:r>
              <a:rPr sz="1500">
                <a:solidFill>
                  <a:srgbClr val="222B33"/>
                </a:solidFill>
                <a:latin typeface="Microsoft YaHei"/>
              </a:rPr>
              <a:t>▪ 认为“只是配个缓冲液”，三件不全</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防护区域和防护用品存放处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每个实验室都规定了必须防护的区域</a:t>
            </a:r>
          </a:p>
          <a:p>
            <a:pPr>
              <a:spcAft>
                <a:spcPts val="1000"/>
              </a:spcAft>
            </a:pPr>
            <a:r>
              <a:rPr sz="2000">
                <a:solidFill>
                  <a:srgbClr val="222B33"/>
                </a:solidFill>
                <a:latin typeface="Microsoft YaHei"/>
              </a:rPr>
              <a:t>▪ 进门先看标志，按要求穿戴</a:t>
            </a:r>
          </a:p>
          <a:p>
            <a:pPr>
              <a:spcAft>
                <a:spcPts val="1000"/>
              </a:spcAft>
            </a:pPr>
            <a:r>
              <a:rPr sz="2000">
                <a:solidFill>
                  <a:srgbClr val="222B33"/>
                </a:solidFill>
                <a:latin typeface="Microsoft YaHei"/>
              </a:rPr>
              <a:t>▪ 知道防护用品集中存放在哪里</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每个实验室都规定了必须穿戴防护的区域，有的在门口、有的在某台设备旁，用“必须戴护目镜”“必须戴防护手套”等指令标志标明（安全标志见第 026 课）。进入前看清标志，按要求穿戴好，进入区域后一步也不能少。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只看人家穿什么，不看门口的指令标志</a:t>
            </a:r>
          </a:p>
          <a:p>
            <a:pPr>
              <a:spcAft>
                <a:spcPts val="1000"/>
              </a:spcAft>
            </a:pPr>
            <a:r>
              <a:rPr sz="1500">
                <a:solidFill>
                  <a:srgbClr val="222B33"/>
                </a:solidFill>
                <a:latin typeface="Microsoft YaHei"/>
              </a:rPr>
              <a:t>▪ 不知道备用防护用品放在哪里，随手借用别人的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学校配备，个人用好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学校和实验室按规定配齐合格的防护用品</a:t>
            </a:r>
          </a:p>
          <a:p>
            <a:pPr>
              <a:spcAft>
                <a:spcPts val="1000"/>
              </a:spcAft>
            </a:pPr>
            <a:r>
              <a:rPr sz="2000">
                <a:solidFill>
                  <a:srgbClr val="222B33"/>
                </a:solidFill>
                <a:latin typeface="Microsoft YaHei"/>
              </a:rPr>
              <a:t>▪ 穿对、戴好、保持完好，是每个人的责任</a:t>
            </a:r>
          </a:p>
          <a:p>
            <a:pPr>
              <a:spcAft>
                <a:spcPts val="1000"/>
              </a:spcAft>
            </a:pPr>
            <a:r>
              <a:rPr sz="2000">
                <a:solidFill>
                  <a:srgbClr val="222B33"/>
                </a:solidFill>
                <a:latin typeface="Microsoft YaHei"/>
              </a:rPr>
              <a:t>▪ 规定要戴的，是硬要求，不是想戴才戴</a:t>
            </a:r>
          </a:p>
          <a:p>
            <a:pPr>
              <a:spcAft>
                <a:spcPts val="1000"/>
              </a:spcAft>
            </a:pPr>
            <a:r>
              <a:rPr sz="2000">
                <a:solidFill>
                  <a:srgbClr val="222B33"/>
                </a:solidFill>
                <a:latin typeface="Microsoft YaHei"/>
              </a:rPr>
              <a:t>▪ 用品坏了、不够了，及时说</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按《中华人民共和国安全生产法》等规定，单位要为人员提供符合国家标准或行业标准的劳动防护用品，并教育、监督正确佩戴；在高校，由学校、学院和实验室按实验风险配齐合格的个人防护用品（配备原则见 GB 39800.1-202……</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认为防护用品是“建议”，嫌麻烦就不戴</a:t>
            </a:r>
          </a:p>
          <a:p>
            <a:pPr>
              <a:spcAft>
                <a:spcPts val="1000"/>
              </a:spcAft>
            </a:pPr>
            <a:r>
              <a:rPr sz="1500">
                <a:solidFill>
                  <a:srgbClr val="222B33"/>
                </a:solidFill>
                <a:latin typeface="Microsoft YaHei"/>
              </a:rPr>
              <a:t>▪ 防护用品坏了自己凑合用，不报告</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舒适合身才会坚持穿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不合身、太闷热，人就容易出错、偷偷摘下</a:t>
            </a:r>
          </a:p>
          <a:p>
            <a:pPr>
              <a:spcAft>
                <a:spcPts val="1000"/>
              </a:spcAft>
            </a:pPr>
            <a:r>
              <a:rPr sz="2000">
                <a:solidFill>
                  <a:srgbClr val="222B33"/>
                </a:solidFill>
                <a:latin typeface="Microsoft YaHei"/>
              </a:rPr>
              <a:t>▪ 过热、脱水、厌烦都会让人犯错</a:t>
            </a:r>
          </a:p>
          <a:p>
            <a:pPr>
              <a:spcAft>
                <a:spcPts val="1000"/>
              </a:spcAft>
            </a:pPr>
            <a:r>
              <a:rPr sz="2000">
                <a:solidFill>
                  <a:srgbClr val="222B33"/>
                </a:solidFill>
                <a:latin typeface="Microsoft YaHei"/>
              </a:rPr>
              <a:t>▪ 尺码齐全，选对型号，调好松紧</a:t>
            </a:r>
          </a:p>
          <a:p>
            <a:pPr>
              <a:spcAft>
                <a:spcPts val="1000"/>
              </a:spcAft>
            </a:pPr>
            <a:r>
              <a:rPr sz="2000">
                <a:solidFill>
                  <a:srgbClr val="222B33"/>
                </a:solidFill>
                <a:latin typeface="Microsoft YaHei"/>
              </a:rPr>
              <a:t>▪ 戴眼镜的人选能罩住眼镜的护目镜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舒适性也是安全问题。护具不合身、太闷热，人就会分心、出汗、厌烦，容易出错，甚至偷偷摘下；长时间穿戴还可能过热、脱水。防护用品戴全了还受伤，多半是不合适或没用对。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手套太大，捏不住器皿就摘掉</a:t>
            </a:r>
          </a:p>
          <a:p>
            <a:pPr>
              <a:spcAft>
                <a:spcPts val="1000"/>
              </a:spcAft>
            </a:pPr>
            <a:r>
              <a:rPr sz="1500">
                <a:solidFill>
                  <a:srgbClr val="222B33"/>
                </a:solidFill>
                <a:latin typeface="Microsoft YaHei"/>
              </a:rPr>
              <a:t>▪ 护目镜起雾、勒得疼，干脆推到额头上</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用前检查，坏了脏了就换</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每次用前检查有无破损、裂纹、磨损</a:t>
            </a:r>
          </a:p>
          <a:p>
            <a:pPr>
              <a:spcAft>
                <a:spcPts val="1000"/>
              </a:spcAft>
            </a:pPr>
            <a:r>
              <a:rPr sz="2000">
                <a:solidFill>
                  <a:srgbClr val="222B33"/>
                </a:solidFill>
                <a:latin typeface="Microsoft YaHei"/>
              </a:rPr>
              <a:t>▪ 镜片划花、面屏开裂、手套破洞都要换</a:t>
            </a:r>
          </a:p>
          <a:p>
            <a:pPr>
              <a:spcAft>
                <a:spcPts val="1000"/>
              </a:spcAft>
            </a:pPr>
            <a:r>
              <a:rPr sz="2000">
                <a:solidFill>
                  <a:srgbClr val="222B33"/>
                </a:solidFill>
                <a:latin typeface="Microsoft YaHei"/>
              </a:rPr>
              <a:t>▪ 可能被污染，立即更换</a:t>
            </a:r>
          </a:p>
          <a:p>
            <a:pPr>
              <a:spcAft>
                <a:spcPts val="1000"/>
              </a:spcAft>
            </a:pPr>
            <a:r>
              <a:rPr sz="2000">
                <a:solidFill>
                  <a:srgbClr val="222B33"/>
                </a:solidFill>
                <a:latin typeface="Microsoft YaHei"/>
              </a:rPr>
              <a:t>▪ 一整天都留意防护用品的状况</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防护用品每次穿戴前都要检查：手套有没有破洞、变色、发硬；护目镜和面屏镜片有没有划花、开裂；实验服有没有破损和污染；呼吸器滤盒有没有过期、失效（第 025 课）。有裂纹、磨损的，能修的修好，不能修的报废换新。还要检查大……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不检查就戴上，做到一半才发现手套漏了</a:t>
            </a:r>
          </a:p>
          <a:p>
            <a:pPr>
              <a:spcAft>
                <a:spcPts val="1000"/>
              </a:spcAft>
            </a:pPr>
            <a:r>
              <a:rPr sz="1500">
                <a:solidFill>
                  <a:srgbClr val="222B33"/>
                </a:solidFill>
                <a:latin typeface="Microsoft YaHei"/>
              </a:rPr>
              <a:t>▪ 手套沾了试剂，擦一擦继续用</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维护好，穿戴正确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防护是最后一道防线，也要维护好、穿正确</a:t>
            </a:r>
          </a:p>
          <a:p>
            <a:pPr>
              <a:spcAft>
                <a:spcPts val="1000"/>
              </a:spcAft>
            </a:pPr>
            <a:r>
              <a:rPr sz="2000">
                <a:solidFill>
                  <a:srgbClr val="222B33"/>
                </a:solidFill>
                <a:latin typeface="Microsoft YaHei"/>
              </a:rPr>
              <a:t>▪ 用完清洁，单独妥善存放，能专人专用的专用</a:t>
            </a:r>
          </a:p>
          <a:p>
            <a:pPr>
              <a:spcAft>
                <a:spcPts val="1000"/>
              </a:spcAft>
            </a:pPr>
            <a:r>
              <a:rPr sz="2000">
                <a:solidFill>
                  <a:srgbClr val="222B33"/>
                </a:solidFill>
                <a:latin typeface="Microsoft YaHei"/>
              </a:rPr>
              <a:t>▪ 按顺序穿戴，按顺序脱下</a:t>
            </a:r>
          </a:p>
          <a:p>
            <a:pPr>
              <a:spcAft>
                <a:spcPts val="1000"/>
              </a:spcAft>
            </a:pPr>
            <a:r>
              <a:rPr sz="2000">
                <a:solidFill>
                  <a:srgbClr val="222B33"/>
                </a:solidFill>
                <a:latin typeface="Microsoft YaHei"/>
              </a:rPr>
              <a:t>▪ 脱时不碰外表面，脱完洗手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个人防护虽是最后一道防线（第 017 课），也要维护好、穿戴正确，它才是挡在危害前面的一层墙。可重复使用的护目镜、面屏、呼吸器用完要清洁，单独存放在干净、干燥、避光处，能专人专用的专人专用。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护目镜用完随手扔在实验台上</a:t>
            </a:r>
          </a:p>
          <a:p>
            <a:pPr>
              <a:spcAft>
                <a:spcPts val="1000"/>
              </a:spcAft>
            </a:pPr>
            <a:r>
              <a:rPr sz="1500">
                <a:solidFill>
                  <a:srgbClr val="222B33"/>
                </a:solidFill>
                <a:latin typeface="Microsoft YaHei"/>
              </a:rPr>
              <a:t>▪ 脱手套时用手抓外面，再徒手碰脸</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缺了用错，及时报告补齐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穿戴不对，等于没戴</a:t>
            </a:r>
          </a:p>
          <a:p>
            <a:pPr>
              <a:spcAft>
                <a:spcPts val="1000"/>
              </a:spcAft>
            </a:pPr>
            <a:r>
              <a:rPr sz="2000">
                <a:solidFill>
                  <a:srgbClr val="222B33"/>
                </a:solidFill>
                <a:latin typeface="Microsoft YaHei"/>
              </a:rPr>
              <a:t>▪ 用品缺了，暴露风险就上升</a:t>
            </a:r>
          </a:p>
          <a:p>
            <a:pPr>
              <a:spcAft>
                <a:spcPts val="1000"/>
              </a:spcAft>
            </a:pPr>
            <a:r>
              <a:rPr sz="2000">
                <a:solidFill>
                  <a:srgbClr val="222B33"/>
                </a:solidFill>
                <a:latin typeface="Microsoft YaHei"/>
              </a:rPr>
              <a:t>▪ 及时报告实验室负责人，补齐再做</a:t>
            </a:r>
          </a:p>
          <a:p>
            <a:pPr>
              <a:spcAft>
                <a:spcPts val="1000"/>
              </a:spcAft>
            </a:pPr>
            <a:r>
              <a:rPr sz="2000">
                <a:solidFill>
                  <a:srgbClr val="222B33"/>
                </a:solidFill>
                <a:latin typeface="Microsoft YaHei"/>
              </a:rPr>
              <a:t>▪ 不戴、戴不对，最显得不专业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防护用品穿戴不对，等于没戴；用品缺了，暴露风险就上升。发现防护用品缺失、尺码不合适或型号不对时，不要凑合，及时报告实验室负责人或安全员，补齐后再做实验。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合适的手套用完了，换别的型号凑合</a:t>
            </a:r>
          </a:p>
          <a:p>
            <a:pPr>
              <a:spcAft>
                <a:spcPts val="1000"/>
              </a:spcAft>
            </a:pPr>
            <a:r>
              <a:rPr sz="1500">
                <a:solidFill>
                  <a:srgbClr val="222B33"/>
                </a:solidFill>
                <a:latin typeface="Microsoft YaHei"/>
              </a:rPr>
              <a:t>▪ 看到同学防护不到位，不提醒</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“就一分钟”也要戴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“就一分钟”，最容易不戴护目镜</a:t>
            </a:r>
          </a:p>
          <a:p>
            <a:pPr>
              <a:spcAft>
                <a:spcPts val="1000"/>
              </a:spcAft>
            </a:pPr>
            <a:r>
              <a:rPr sz="2000">
                <a:solidFill>
                  <a:srgbClr val="222B33"/>
                </a:solidFill>
                <a:latin typeface="Microsoft YaHei"/>
              </a:rPr>
              <a:t>▪ 再短的操作，防护也不能省</a:t>
            </a:r>
          </a:p>
          <a:p>
            <a:pPr>
              <a:spcAft>
                <a:spcPts val="1000"/>
              </a:spcAft>
            </a:pPr>
            <a:r>
              <a:rPr sz="2000">
                <a:solidFill>
                  <a:srgbClr val="222B33"/>
                </a:solidFill>
                <a:latin typeface="Microsoft YaHei"/>
              </a:rPr>
              <a:t>▪ 在真实操作中观察，趁早发现偏离</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最常见的防护失效，往往出在“就一分钟”“就看一眼”“马上就好”的时候：取个试剂、看一下反应、帮同学递个东西，护目镜就没戴。事故不会因为操作时间短而不发生，再短的操作，防护也不能省。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进实验室“拿个东西”不戴护目镜</a:t>
            </a:r>
          </a:p>
          <a:p>
            <a:pPr>
              <a:spcAft>
                <a:spcPts val="1000"/>
              </a:spcAft>
            </a:pPr>
            <a:r>
              <a:rPr sz="1500">
                <a:solidFill>
                  <a:srgbClr val="222B33"/>
                </a:solidFill>
                <a:latin typeface="Microsoft YaHei"/>
              </a:rPr>
              <a:t>▪ 只在检查时戴，平时不戴</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头部防护：安全帽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有物体坠落、碰头风险时戴安全帽</a:t>
            </a:r>
          </a:p>
          <a:p>
            <a:pPr>
              <a:spcAft>
                <a:spcPts val="1000"/>
              </a:spcAft>
            </a:pPr>
            <a:r>
              <a:rPr sz="2000">
                <a:solidFill>
                  <a:srgbClr val="222B33"/>
                </a:solidFill>
                <a:latin typeface="Microsoft YaHei"/>
              </a:rPr>
              <a:t>▪ 调好帽衬，系好下颏带，长发收进帽内</a:t>
            </a:r>
          </a:p>
          <a:p>
            <a:pPr>
              <a:spcAft>
                <a:spcPts val="1000"/>
              </a:spcAft>
            </a:pPr>
            <a:r>
              <a:rPr sz="2000">
                <a:solidFill>
                  <a:srgbClr val="222B33"/>
                </a:solidFill>
                <a:latin typeface="Microsoft YaHei"/>
              </a:rPr>
              <a:t>▪ 不钻孔、不改装，会削弱强度</a:t>
            </a:r>
          </a:p>
          <a:p>
            <a:pPr>
              <a:spcAft>
                <a:spcPts val="1000"/>
              </a:spcAft>
            </a:pPr>
            <a:r>
              <a:rPr sz="2000">
                <a:solidFill>
                  <a:srgbClr val="222B33"/>
                </a:solidFill>
                <a:latin typeface="Microsoft YaHei"/>
              </a:rPr>
              <a:t>▪ 受过冲击或超过使用期限的要更换</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头部防护用于防砸、防撞，并防止长发被卷入。在实验楼施工改造、设备吊装、高处有物体可能坠落、工程实训等场所，要按要求戴安全帽；骑电动车、摩托车要戴头盔。安全帽要按 GB 2811-2019（以现行文本为准）选用合格产品……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安全帽只顶在头上，不系下颏带</a:t>
            </a:r>
          </a:p>
          <a:p>
            <a:pPr>
              <a:spcAft>
                <a:spcPts val="1000"/>
              </a:spcAft>
            </a:pPr>
            <a:r>
              <a:rPr sz="1500">
                <a:solidFill>
                  <a:srgbClr val="222B33"/>
                </a:solidFill>
                <a:latin typeface="Microsoft YaHei"/>
              </a:rPr>
              <a:t>▪ 为了凉快在帽壳上钻孔</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足部防护：安全鞋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按风险选防砸、防刺穿、防滑、防化学品的鞋</a:t>
            </a:r>
          </a:p>
          <a:p>
            <a:pPr>
              <a:spcAft>
                <a:spcPts val="1000"/>
              </a:spcAft>
            </a:pPr>
            <a:r>
              <a:rPr sz="2000">
                <a:solidFill>
                  <a:srgbClr val="222B33"/>
                </a:solidFill>
                <a:latin typeface="Microsoft YaHei"/>
              </a:rPr>
              <a:t>▪ 防静电鞋和电绝缘鞋用途不同，不能混用</a:t>
            </a:r>
          </a:p>
          <a:p>
            <a:pPr>
              <a:spcAft>
                <a:spcPts val="1000"/>
              </a:spcAft>
            </a:pPr>
            <a:r>
              <a:rPr sz="2000">
                <a:solidFill>
                  <a:srgbClr val="222B33"/>
                </a:solidFill>
                <a:latin typeface="Microsoft YaHei"/>
              </a:rPr>
              <a:t>▪ 穿胶靴也要防砸；焊接、搬运穿防砸防烫鞋</a:t>
            </a:r>
          </a:p>
          <a:p>
            <a:pPr>
              <a:spcAft>
                <a:spcPts val="1000"/>
              </a:spcAft>
            </a:pPr>
            <a:r>
              <a:rPr sz="2000">
                <a:solidFill>
                  <a:srgbClr val="222B33"/>
                </a:solidFill>
                <a:latin typeface="Microsoft YaHei"/>
              </a:rPr>
              <a:t>▪ 穿了安全鞋，也不能代替远离危险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足部防护要按风险选择：有重物搬运和坠落风险的，穿有保护包头的防砸鞋；地面有钉子、碎屑的，选防刺穿鞋；地面湿滑的，选防滑鞋；可能接触化学品的，选耐化学品的鞋或胶靴（胶靴同样要有防砸包头）；焊接、熔融金属作业，穿防砸、防……</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穿普通胶靴搬运重物</a:t>
            </a:r>
          </a:p>
          <a:p>
            <a:pPr>
              <a:spcAft>
                <a:spcPts val="1000"/>
              </a:spcAft>
            </a:pPr>
            <a:r>
              <a:rPr sz="1500">
                <a:solidFill>
                  <a:srgbClr val="222B33"/>
                </a:solidFill>
                <a:latin typeface="Microsoft YaHei"/>
              </a:rPr>
              <a:t>▪ 把防静电鞋当成绝缘鞋使用</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防护重要，但还不够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穿对、戴好，能大大降低伤害</a:t>
            </a:r>
          </a:p>
          <a:p>
            <a:pPr>
              <a:spcAft>
                <a:spcPts val="1000"/>
              </a:spcAft>
            </a:pPr>
            <a:r>
              <a:rPr sz="2000">
                <a:solidFill>
                  <a:srgbClr val="222B33"/>
                </a:solidFill>
                <a:latin typeface="Microsoft YaHei"/>
              </a:rPr>
              <a:t>▪ 光靠防护不够，还要安全设施和控制措施</a:t>
            </a:r>
          </a:p>
          <a:p>
            <a:pPr>
              <a:spcAft>
                <a:spcPts val="1000"/>
              </a:spcAft>
            </a:pPr>
            <a:r>
              <a:rPr sz="2000">
                <a:solidFill>
                  <a:srgbClr val="222B33"/>
                </a:solidFill>
                <a:latin typeface="Microsoft YaHei"/>
              </a:rPr>
              <a:t>▪ 防护是控制层级的最后一层</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个人防护穿对、戴好，能大大降低伤害的程度，但它只是控制层级的最后一层（第 017 课）。光靠防护还不够，还要有通风柜、洗眼器和紧急喷淋等安全设施（第 027 课），以及消除、替代、工程控制和管理措施。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认为防护穿全了，就可以不开通风柜</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围裙、袖套等其他防护用品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大量倾倒腐蚀品等，在实验服外加防化围裙</a:t>
            </a:r>
          </a:p>
          <a:p>
            <a:pPr>
              <a:spcAft>
                <a:spcPts val="1000"/>
              </a:spcAft>
            </a:pPr>
            <a:r>
              <a:rPr sz="2000">
                <a:solidFill>
                  <a:srgbClr val="222B33"/>
                </a:solidFill>
                <a:latin typeface="Microsoft YaHei"/>
              </a:rPr>
              <a:t>▪ 袖套、隔热手套、耳塞等按风险加配</a:t>
            </a:r>
          </a:p>
          <a:p>
            <a:pPr>
              <a:spcAft>
                <a:spcPts val="1000"/>
              </a:spcAft>
            </a:pPr>
            <a:r>
              <a:rPr sz="2000">
                <a:solidFill>
                  <a:srgbClr val="222B33"/>
                </a:solidFill>
                <a:latin typeface="Microsoft YaHei"/>
              </a:rPr>
              <a:t>▪ 选有合格证明、标识清楚的产品</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除了基本防护，还有一些按需加配的防护用品：倾倒、转移较大量的酸碱等腐蚀性液体时，在实验服外加耐化学品的防化围裙，必要时加袖套；接触高温器物用隔热手套（第 023 课）；噪声较大的场所戴耳塞或耳罩（第 150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用普通塑料袋当围裙</a:t>
            </a:r>
          </a:p>
          <a:p>
            <a:pPr>
              <a:spcAft>
                <a:spcPts val="1000"/>
              </a:spcAft>
            </a:pPr>
            <a:r>
              <a:rPr sz="1500">
                <a:solidFill>
                  <a:srgbClr val="222B33"/>
                </a:solidFill>
                <a:latin typeface="Microsoft YaHei"/>
              </a:rPr>
              <a:t>▪ 采购没有标识的低价防护用品</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先培训，会选会用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使用前先接受培训：会选、会穿、会脱</a:t>
            </a:r>
          </a:p>
          <a:p>
            <a:pPr>
              <a:spcAft>
                <a:spcPts val="1000"/>
              </a:spcAft>
            </a:pPr>
            <a:r>
              <a:rPr sz="2000">
                <a:solidFill>
                  <a:srgbClr val="222B33"/>
                </a:solidFill>
                <a:latin typeface="Microsoft YaHei"/>
              </a:rPr>
              <a:t>▪ 还要会检查，知道什么时候报废</a:t>
            </a:r>
          </a:p>
          <a:p>
            <a:pPr>
              <a:spcAft>
                <a:spcPts val="1000"/>
              </a:spcAft>
            </a:pPr>
            <a:r>
              <a:rPr sz="2000">
                <a:solidFill>
                  <a:srgbClr val="222B33"/>
                </a:solidFill>
                <a:latin typeface="Microsoft YaHei"/>
              </a:rPr>
              <a:t>▪ 培训和使用情况按本校规定记录</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个人防护用品要“会用”才有效。进入实验室前的安全培训中，要学会本实验室所用防护用品的选择、穿戴、脱卸、检查、清洁、存放和报废判断；呼吸器等专业防护还要单独培训和适合性检验（第 025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第一次用呼吸器，没人教就自己戴上</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选择个人防护装备的主要依据是：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别人穿什么</a:t>
            </a:r>
          </a:p>
          <a:p>
            <a:pPr algn="l"/>
            <a:r>
              <a:rPr sz="1500" b="0">
                <a:solidFill>
                  <a:srgbClr val="222B33"/>
                </a:solidFill>
                <a:latin typeface="Microsoft YaHei"/>
              </a:rPr>
              <a:t>B. 风险评估和化学品安全技术说明书</a:t>
            </a:r>
          </a:p>
          <a:p>
            <a:pPr algn="l"/>
            <a:r>
              <a:rPr sz="1500" b="0">
                <a:solidFill>
                  <a:srgbClr val="222B33"/>
                </a:solidFill>
                <a:latin typeface="Microsoft YaHei"/>
              </a:rPr>
              <a:t>C. 价格</a:t>
            </a:r>
          </a:p>
          <a:p>
            <a:pPr algn="l"/>
            <a:r>
              <a:rPr sz="1500" b="0">
                <a:solidFill>
                  <a:srgbClr val="222B33"/>
                </a:solidFill>
                <a:latin typeface="Microsoft YaHei"/>
              </a:rPr>
              <a:t>D. 个人喜好</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判断：只要戴了手套，不管什么型号，总比不戴好。</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判断：为了通风凉快，可以在安全帽上钻几个小孔。</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实验室合适尺码的手套用完了，正确的做法是：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换一种型号凑合用</a:t>
            </a:r>
          </a:p>
          <a:p>
            <a:pPr algn="l"/>
            <a:r>
              <a:rPr sz="1500" b="0">
                <a:solidFill>
                  <a:srgbClr val="222B33"/>
                </a:solidFill>
                <a:latin typeface="Microsoft YaHei"/>
              </a:rPr>
              <a:t>B. 不戴手套快点做完</a:t>
            </a:r>
          </a:p>
          <a:p>
            <a:pPr algn="l"/>
            <a:r>
              <a:rPr sz="1500" b="0">
                <a:solidFill>
                  <a:srgbClr val="222B33"/>
                </a:solidFill>
                <a:latin typeface="Microsoft YaHei"/>
              </a:rPr>
              <a:t>C. 报告实验室负责人，补齐后再做</a:t>
            </a:r>
          </a:p>
          <a:p>
            <a:pPr algn="l"/>
            <a:r>
              <a:rPr sz="1500" b="0">
                <a:solidFill>
                  <a:srgbClr val="222B33"/>
                </a:solidFill>
                <a:latin typeface="Microsoft YaHei"/>
              </a:rPr>
              <a:t>D. 借用隔壁实验室的</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下列说法正确的是：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防静电鞋可以当电绝缘鞋用</a:t>
            </a:r>
          </a:p>
          <a:p>
            <a:pPr algn="l"/>
            <a:r>
              <a:rPr sz="1500" b="0">
                <a:solidFill>
                  <a:srgbClr val="222B33"/>
                </a:solidFill>
                <a:latin typeface="Microsoft YaHei"/>
              </a:rPr>
              <a:t>B. 穿胶靴就不需要防砸</a:t>
            </a:r>
          </a:p>
          <a:p>
            <a:pPr algn="l"/>
            <a:r>
              <a:rPr sz="1500" b="0">
                <a:solidFill>
                  <a:srgbClr val="222B33"/>
                </a:solidFill>
                <a:latin typeface="Microsoft YaHei"/>
              </a:rPr>
              <a:t>C. 穿了安全鞋也要远离悬吊重物</a:t>
            </a:r>
          </a:p>
          <a:p>
            <a:pPr algn="l"/>
            <a:r>
              <a:rPr sz="1500" b="0">
                <a:solidFill>
                  <a:srgbClr val="222B33"/>
                </a:solidFill>
                <a:latin typeface="Microsoft YaHei"/>
              </a:rPr>
              <a:t>D. 安全鞋可以代替所有防护</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简答：“就一分钟”的操作为什么也要戴护目镜？</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按风险评估选防护</a:t>
            </a:r>
          </a:p>
          <a:p>
            <a:pPr>
              <a:spcAft>
                <a:spcPts val="800"/>
              </a:spcAft>
            </a:pPr>
            <a:r>
              <a:rPr sz="1500">
                <a:solidFill>
                  <a:srgbClr val="FFFFFF"/>
                </a:solidFill>
                <a:latin typeface="Microsoft YaHei"/>
              </a:rPr>
              <a:t>▪ K2  先预判危害，再定防护</a:t>
            </a:r>
          </a:p>
          <a:p>
            <a:pPr>
              <a:spcAft>
                <a:spcPts val="800"/>
              </a:spcAft>
            </a:pPr>
            <a:r>
              <a:rPr sz="1500">
                <a:solidFill>
                  <a:srgbClr val="FFFFFF"/>
                </a:solidFill>
                <a:latin typeface="Microsoft YaHei"/>
              </a:rPr>
              <a:t>▪ K3  选错防护比不戴更危险</a:t>
            </a:r>
          </a:p>
          <a:p>
            <a:pPr>
              <a:spcAft>
                <a:spcPts val="800"/>
              </a:spcAft>
            </a:pPr>
            <a:r>
              <a:rPr sz="1500">
                <a:solidFill>
                  <a:srgbClr val="FFFFFF"/>
                </a:solidFill>
                <a:latin typeface="Microsoft YaHei"/>
              </a:rPr>
              <a:t>▪ K4  按危害和身体部位选</a:t>
            </a:r>
          </a:p>
          <a:p>
            <a:pPr>
              <a:spcAft>
                <a:spcPts val="800"/>
              </a:spcAft>
            </a:pPr>
            <a:r>
              <a:rPr sz="1500">
                <a:solidFill>
                  <a:srgbClr val="FFFFFF"/>
                </a:solidFill>
                <a:latin typeface="Microsoft YaHei"/>
              </a:rPr>
              <a:t>▪ K5  一般实验的基本三件</a:t>
            </a:r>
          </a:p>
          <a:p>
            <a:pPr>
              <a:spcAft>
                <a:spcPts val="800"/>
              </a:spcAft>
            </a:pPr>
            <a:r>
              <a:rPr sz="1500">
                <a:solidFill>
                  <a:srgbClr val="FFFFFF"/>
                </a:solidFill>
                <a:latin typeface="Microsoft YaHei"/>
              </a:rPr>
              <a:t>▪ K6  防护区域和防护用品存放处</a:t>
            </a:r>
          </a:p>
          <a:p>
            <a:pPr>
              <a:spcAft>
                <a:spcPts val="800"/>
              </a:spcAft>
            </a:pPr>
            <a:r>
              <a:rPr sz="1500">
                <a:solidFill>
                  <a:srgbClr val="FFFFFF"/>
                </a:solidFill>
                <a:latin typeface="Microsoft YaHei"/>
              </a:rPr>
              <a:t>▪ K7  学校配备，个人用好</a:t>
            </a:r>
          </a:p>
          <a:p>
            <a:pPr>
              <a:spcAft>
                <a:spcPts val="800"/>
              </a:spcAft>
            </a:pPr>
            <a:r>
              <a:rPr sz="1500">
                <a:solidFill>
                  <a:srgbClr val="FFFFFF"/>
                </a:solidFill>
                <a:latin typeface="Microsoft YaHei"/>
              </a:rPr>
              <a:t>▪ K8  舒适合身才会坚持穿</a:t>
            </a:r>
          </a:p>
          <a:p>
            <a:pPr>
              <a:spcAft>
                <a:spcPts val="800"/>
              </a:spcAft>
            </a:pPr>
            <a:r>
              <a:rPr sz="1500">
                <a:solidFill>
                  <a:srgbClr val="FFFFFF"/>
                </a:solidFill>
                <a:latin typeface="Microsoft YaHei"/>
              </a:rPr>
              <a:t>▪ K9  用前检查，坏了脏了就换</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K10  维护好，穿戴正确</a:t>
            </a:r>
          </a:p>
          <a:p>
            <a:pPr>
              <a:spcAft>
                <a:spcPts val="800"/>
              </a:spcAft>
            </a:pPr>
            <a:r>
              <a:rPr sz="1500">
                <a:solidFill>
                  <a:srgbClr val="FFFFFF"/>
                </a:solidFill>
                <a:latin typeface="Microsoft YaHei"/>
              </a:rPr>
              <a:t>▪ K11  缺了用错，及时报告补齐</a:t>
            </a:r>
          </a:p>
          <a:p>
            <a:pPr>
              <a:spcAft>
                <a:spcPts val="800"/>
              </a:spcAft>
            </a:pPr>
            <a:r>
              <a:rPr sz="1500">
                <a:solidFill>
                  <a:srgbClr val="FFFFFF"/>
                </a:solidFill>
                <a:latin typeface="Microsoft YaHei"/>
              </a:rPr>
              <a:t>▪ K12  “就一分钟”也要戴</a:t>
            </a:r>
          </a:p>
          <a:p>
            <a:pPr>
              <a:spcAft>
                <a:spcPts val="800"/>
              </a:spcAft>
            </a:pPr>
            <a:r>
              <a:rPr sz="1500">
                <a:solidFill>
                  <a:srgbClr val="FFFFFF"/>
                </a:solidFill>
                <a:latin typeface="Microsoft YaHei"/>
              </a:rPr>
              <a:t>▪ K13  头部防护：安全帽</a:t>
            </a:r>
          </a:p>
          <a:p>
            <a:pPr>
              <a:spcAft>
                <a:spcPts val="800"/>
              </a:spcAft>
            </a:pPr>
            <a:r>
              <a:rPr sz="1500">
                <a:solidFill>
                  <a:srgbClr val="FFFFFF"/>
                </a:solidFill>
                <a:latin typeface="Microsoft YaHei"/>
              </a:rPr>
              <a:t>▪ K14  足部防护：安全鞋</a:t>
            </a:r>
          </a:p>
          <a:p>
            <a:pPr>
              <a:spcAft>
                <a:spcPts val="800"/>
              </a:spcAft>
            </a:pPr>
            <a:r>
              <a:rPr sz="1500">
                <a:solidFill>
                  <a:srgbClr val="FFFFFF"/>
                </a:solidFill>
                <a:latin typeface="Microsoft YaHei"/>
              </a:rPr>
              <a:t>▪ K15  防护重要，但还不够</a:t>
            </a:r>
          </a:p>
          <a:p>
            <a:pPr>
              <a:spcAft>
                <a:spcPts val="800"/>
              </a:spcAft>
            </a:pPr>
            <a:r>
              <a:rPr sz="1500">
                <a:solidFill>
                  <a:srgbClr val="FFFFFF"/>
                </a:solidFill>
                <a:latin typeface="Microsoft YaHei"/>
              </a:rPr>
              <a:t>▪ S1  围裙、袖套等其他防护用品</a:t>
            </a:r>
          </a:p>
          <a:p>
            <a:pPr>
              <a:spcAft>
                <a:spcPts val="800"/>
              </a:spcAft>
            </a:pPr>
            <a:r>
              <a:rPr sz="1500">
                <a:solidFill>
                  <a:srgbClr val="FFFFFF"/>
                </a:solidFill>
                <a:latin typeface="Microsoft YaHei"/>
              </a:rPr>
              <a:t>▪ S2  先培训，会选会用</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022</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眼面部防护</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第3章 通用安全与个人防护</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4 分钟（卡通视频 45 镜）　适用对象：全体进入高校实验室的本科生、研究生和教职工（必修）；化学、生物、医学、工程实训实验室人员和戴近视眼镜的同学重点学习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能说出安全眼镜、防溅护目镜、面屏的区别和各自适用的场合。</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能判断普通近视眼镜、单独使用的面屏都不能代替护目镜，化学实验室原则上不戴隐形眼镜。</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能做到选用有合格标识的眼面防护具，正确佩戴、调整贴合，从进门到离开全程戴在眼睛上。</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能做到眼睛溅入异物时立即用洗眼器冲洗并报告。</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14866-2023（以现行文本为准）《眼面防护具通用技术规范》：眼面防护具的分类、技术要求和标识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39800.1-2020（以现行文本为准）《个体防护装备配备规范 第1部分：总则》：按危害配备眼面部防护</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《中华人民共和国安全生产法》（以现行文本为准）：提供并正确佩戴使用符合国家标准的劳动防护用品</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号，以现行文本为准）：实验人员按实验风险佩戴防护用品</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38144-2025（以现行文本为准）《眼面部防护 应急喷淋和洗眼设备》</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本校实验室安全管理制度和各实验室防护要求（以本校规定为准）</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眼睛最怕伤，护眼最划算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眼睛最脆弱，伤了很难恢复</a:t>
            </a:r>
          </a:p>
          <a:p>
            <a:pPr>
              <a:spcAft>
                <a:spcPts val="1000"/>
              </a:spcAft>
            </a:pPr>
            <a:r>
              <a:rPr sz="2000">
                <a:solidFill>
                  <a:srgbClr val="222B33"/>
                </a:solidFill>
                <a:latin typeface="Microsoft YaHei"/>
              </a:rPr>
              <a:t>▪ 多数眼伤，戴好防护就能避免</a:t>
            </a:r>
          </a:p>
          <a:p>
            <a:pPr>
              <a:spcAft>
                <a:spcPts val="1000"/>
              </a:spcAft>
            </a:pPr>
            <a:r>
              <a:rPr sz="2000">
                <a:solidFill>
                  <a:srgbClr val="222B33"/>
                </a:solidFill>
                <a:latin typeface="Microsoft YaHei"/>
              </a:rPr>
              <a:t>▪ 钉钉子、剪焊丝，碎片也会弹飞伤眼</a:t>
            </a:r>
          </a:p>
          <a:p>
            <a:pPr>
              <a:spcAft>
                <a:spcPts val="1000"/>
              </a:spcAft>
            </a:pPr>
            <a:r>
              <a:rPr sz="2000">
                <a:solidFill>
                  <a:srgbClr val="222B33"/>
                </a:solidFill>
                <a:latin typeface="Microsoft YaHei"/>
              </a:rPr>
              <a:t>▪ 压力气体、焊接、化学品操作都要护眼</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眼睛是人体最脆弱的器官之一，化学灼伤、异物击伤和强光伤害往往很难完全恢复。而绝大多数眼部伤害，只要戴好合适的眼面防护就能避免，一副护目镜花钱不多，护住的是一双眼睛。</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认为只有化学实验才需要护眼</a:t>
            </a:r>
          </a:p>
          <a:p>
            <a:pPr>
              <a:spcAft>
                <a:spcPts val="1000"/>
              </a:spcAft>
            </a:pPr>
            <a:r>
              <a:rPr sz="1500">
                <a:solidFill>
                  <a:srgbClr val="222B33"/>
                </a:solidFill>
                <a:latin typeface="Microsoft YaHei"/>
              </a:rPr>
              <a:t>▪ 修理、组装设备时不戴护目镜</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三类眼面防护，按用途选</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三类：安全眼镜、护目镜、面屏</a:t>
            </a:r>
          </a:p>
          <a:p>
            <a:pPr>
              <a:spcAft>
                <a:spcPts val="1000"/>
              </a:spcAft>
            </a:pPr>
            <a:r>
              <a:rPr sz="2000">
                <a:solidFill>
                  <a:srgbClr val="222B33"/>
                </a:solidFill>
                <a:latin typeface="Microsoft YaHei"/>
              </a:rPr>
              <a:t>▪ 按危害选一种，或者组合使用</a:t>
            </a:r>
          </a:p>
          <a:p>
            <a:pPr>
              <a:spcAft>
                <a:spcPts val="1000"/>
              </a:spcAft>
            </a:pPr>
            <a:r>
              <a:rPr sz="2000">
                <a:solidFill>
                  <a:srgbClr val="222B33"/>
                </a:solidFill>
                <a:latin typeface="Microsoft YaHei"/>
              </a:rPr>
              <a:t>▪ 有强光，选带遮光的护目镜</a:t>
            </a:r>
          </a:p>
          <a:p>
            <a:pPr>
              <a:spcAft>
                <a:spcPts val="1000"/>
              </a:spcAft>
            </a:pPr>
            <a:r>
              <a:rPr sz="2000">
                <a:solidFill>
                  <a:srgbClr val="222B33"/>
                </a:solidFill>
                <a:latin typeface="Microsoft YaHei"/>
              </a:rPr>
              <a:t>▪ 激光、焊接、紫外另有专用防护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常用的眼面防护有三类：安全眼镜（防冲击，四周有遮挡）、护目镜（贴合面部，防液体飞溅、粉尘）、面屏（护住整张脸和颈部，作为附加防护）。要按工作中的具体危害选择合适的一种，或者组合使用（选择原则见第 021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用普通墨镜代替遮光护目镜</a:t>
            </a:r>
          </a:p>
          <a:p>
            <a:pPr>
              <a:spcAft>
                <a:spcPts val="1000"/>
              </a:spcAft>
            </a:pPr>
            <a:r>
              <a:rPr sz="1500">
                <a:solidFill>
                  <a:srgbClr val="222B33"/>
                </a:solidFill>
                <a:latin typeface="Microsoft YaHei"/>
              </a:rPr>
              <a:t>▪ 做激光实验时随便戴一副护目镜</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安全眼镜防冲击，挡不住液体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安全眼镜四周有遮挡，镜片防碎，主要防冲击</a:t>
            </a:r>
          </a:p>
          <a:p>
            <a:pPr>
              <a:spcAft>
                <a:spcPts val="1000"/>
              </a:spcAft>
            </a:pPr>
            <a:r>
              <a:rPr sz="2000">
                <a:solidFill>
                  <a:srgbClr val="222B33"/>
                </a:solidFill>
                <a:latin typeface="Microsoft YaHei"/>
              </a:rPr>
              <a:t>▪ 挡得住碎屑，挡不住侧面和上方溅来的液体</a:t>
            </a:r>
          </a:p>
          <a:p>
            <a:pPr>
              <a:spcAft>
                <a:spcPts val="1000"/>
              </a:spcAft>
            </a:pPr>
            <a:r>
              <a:rPr sz="2000">
                <a:solidFill>
                  <a:srgbClr val="222B33"/>
                </a:solidFill>
                <a:latin typeface="Microsoft YaHei"/>
              </a:rPr>
              <a:t>▪ 安全眼镜和护目镜不能互相代替</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安全眼镜的镜片防碎，镜框四周有侧护遮挡，主要用来防飞来的碎屑和冲击；有的尺寸偏大，可以罩在近视眼镜外面；嫌闷热的可选带透气结构的款式。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戴着安全眼镜倾倒腐蚀性液体</a:t>
            </a:r>
          </a:p>
          <a:p>
            <a:pPr>
              <a:spcAft>
                <a:spcPts val="1000"/>
              </a:spcAft>
            </a:pPr>
            <a:r>
              <a:rPr sz="1500">
                <a:solidFill>
                  <a:srgbClr val="222B33"/>
                </a:solidFill>
                <a:latin typeface="Microsoft YaHei"/>
              </a:rPr>
              <a:t>▪ 以为“有镜片挡着”就能防所有危害</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有飞溅，戴防溅护目镜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可能有飞溅，就必须戴贴合面部的防溅护目镜</a:t>
            </a:r>
          </a:p>
          <a:p>
            <a:pPr>
              <a:spcAft>
                <a:spcPts val="1000"/>
              </a:spcAft>
            </a:pPr>
            <a:r>
              <a:rPr sz="2000">
                <a:solidFill>
                  <a:srgbClr val="222B33"/>
                </a:solidFill>
                <a:latin typeface="Microsoft YaHei"/>
              </a:rPr>
              <a:t>▪ 多数化学操作选间接通风的护目镜</a:t>
            </a:r>
          </a:p>
          <a:p>
            <a:pPr>
              <a:spcAft>
                <a:spcPts val="1000"/>
              </a:spcAft>
            </a:pPr>
            <a:r>
              <a:rPr sz="2000">
                <a:solidFill>
                  <a:srgbClr val="222B33"/>
                </a:solidFill>
                <a:latin typeface="Microsoft YaHei"/>
              </a:rPr>
              <a:t>▪ 倒消毒剂、配酸碱溶液都要戴</a:t>
            </a:r>
          </a:p>
          <a:p>
            <a:pPr>
              <a:spcAft>
                <a:spcPts val="1000"/>
              </a:spcAft>
            </a:pPr>
            <a:r>
              <a:rPr sz="2000">
                <a:solidFill>
                  <a:srgbClr val="222B33"/>
                </a:solidFill>
                <a:latin typeface="Microsoft YaHei"/>
              </a:rPr>
              <a:t>▪ 调好松紧带，四周贴紧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个人防护是最后一道防线，只要可能有液体飞溅，就必须护好眼睛。多数化学实验应戴间接通风的防溅护目镜：镜框四周贴合面部，通风孔带遮罩，液体进不来；直通孔的护目镜只防冲击，不防液体。具体戴哪一种，按风险评估和本校规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选了直通孔的护目镜做液体操作</a:t>
            </a:r>
          </a:p>
          <a:p>
            <a:pPr>
              <a:spcAft>
                <a:spcPts val="1000"/>
              </a:spcAft>
            </a:pPr>
            <a:r>
              <a:rPr sz="1500">
                <a:solidFill>
                  <a:srgbClr val="222B33"/>
                </a:solidFill>
                <a:latin typeface="Microsoft YaHei"/>
              </a:rPr>
              <a:t>▪ 松紧带太松，护目镜和脸之间有缝</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面屏加在护目镜外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面屏能护住整张脸和颈部</a:t>
            </a:r>
          </a:p>
          <a:p>
            <a:pPr>
              <a:spcAft>
                <a:spcPts val="1000"/>
              </a:spcAft>
            </a:pPr>
            <a:r>
              <a:rPr sz="2000">
                <a:solidFill>
                  <a:srgbClr val="222B33"/>
                </a:solidFill>
                <a:latin typeface="Microsoft YaHei"/>
              </a:rPr>
              <a:t>▪ 面屏不能代替护目镜，要和护目镜一起戴</a:t>
            </a:r>
          </a:p>
          <a:p>
            <a:pPr>
              <a:spcAft>
                <a:spcPts val="1000"/>
              </a:spcAft>
            </a:pPr>
            <a:r>
              <a:rPr sz="2000">
                <a:solidFill>
                  <a:srgbClr val="222B33"/>
                </a:solidFill>
                <a:latin typeface="Microsoft YaHei"/>
              </a:rPr>
              <a:t>▪ 倒较多浓酸、腐蚀性强或可能剧烈反应时加面屏</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面屏能护住整张脸和颈部，挡住大面积的喷溅；但面屏下方和两侧是敞开的，液体仍可能绕进眼睛，所以面屏不能代替护目镜。需要面屏时，先戴好护目镜，再加面屏。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只戴面屏，不戴护目镜</a:t>
            </a:r>
          </a:p>
          <a:p>
            <a:pPr>
              <a:spcAft>
                <a:spcPts val="1000"/>
              </a:spcAft>
            </a:pPr>
            <a:r>
              <a:rPr sz="1500">
                <a:solidFill>
                  <a:srgbClr val="222B33"/>
                </a:solidFill>
                <a:latin typeface="Microsoft YaHei"/>
              </a:rPr>
              <a:t>▪ 倾倒大量浓酸时只戴安全眼镜</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普通眼镜不能代替护目镜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普通眼镜四周是空的，液体会从缝里进眼</a:t>
            </a:r>
          </a:p>
          <a:p>
            <a:pPr>
              <a:spcAft>
                <a:spcPts val="1000"/>
              </a:spcAft>
            </a:pPr>
            <a:r>
              <a:rPr sz="2000">
                <a:solidFill>
                  <a:srgbClr val="222B33"/>
                </a:solidFill>
                <a:latin typeface="Microsoft YaHei"/>
              </a:rPr>
              <a:t>▪ 普通镜片不防碎，碎了更伤眼</a:t>
            </a:r>
          </a:p>
          <a:p>
            <a:pPr>
              <a:spcAft>
                <a:spcPts val="1000"/>
              </a:spcAft>
            </a:pPr>
            <a:r>
              <a:rPr sz="2000">
                <a:solidFill>
                  <a:srgbClr val="222B33"/>
                </a:solidFill>
                <a:latin typeface="Microsoft YaHei"/>
              </a:rPr>
              <a:t>▪ 近视的同学，把罩式护目镜戴在眼镜外</a:t>
            </a:r>
          </a:p>
          <a:p>
            <a:pPr>
              <a:spcAft>
                <a:spcPts val="1000"/>
              </a:spcAft>
            </a:pPr>
            <a:r>
              <a:rPr sz="2000">
                <a:solidFill>
                  <a:srgbClr val="222B33"/>
                </a:solidFill>
                <a:latin typeface="Microsoft YaHei"/>
              </a:rPr>
              <a:t>▪ 过滤、加热、色谱等操作全程戴护目镜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很多同学以为戴着近视眼镜就够了。其实普通眼镜两侧和上方都是空的，液体一溅就可能从缝里进入眼睛；普通镜片也不防碎，受到冲击碎裂，碎片反而更伤眼。普通眼镜不能代替任何一种眼部防护。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戴着近视眼镜就不戴护目镜</a:t>
            </a:r>
          </a:p>
          <a:p>
            <a:pPr>
              <a:spcAft>
                <a:spcPts val="1000"/>
              </a:spcAft>
            </a:pPr>
            <a:r>
              <a:rPr sz="1500">
                <a:solidFill>
                  <a:srgbClr val="222B33"/>
                </a:solidFill>
                <a:latin typeface="Microsoft YaHei"/>
              </a:rPr>
              <a:t>▪ 护目镜压在眼镜上不合适，就干脆不戴</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化学实验室不戴隐形眼镜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化学类实验室，原则上不戴隐形眼镜</a:t>
            </a:r>
          </a:p>
          <a:p>
            <a:pPr>
              <a:spcAft>
                <a:spcPts val="1000"/>
              </a:spcAft>
            </a:pPr>
            <a:r>
              <a:rPr sz="2000">
                <a:solidFill>
                  <a:srgbClr val="222B33"/>
                </a:solidFill>
                <a:latin typeface="Microsoft YaHei"/>
              </a:rPr>
              <a:t>▪ 溅入眼中的化学品会被困在镜片后，影响冲洗</a:t>
            </a:r>
          </a:p>
          <a:p>
            <a:pPr>
              <a:spcAft>
                <a:spcPts val="1000"/>
              </a:spcAft>
            </a:pPr>
            <a:r>
              <a:rPr sz="2000">
                <a:solidFill>
                  <a:srgbClr val="222B33"/>
                </a:solidFill>
                <a:latin typeface="Microsoft YaHei"/>
              </a:rPr>
              <a:t>▪ 近视就戴框架眼镜，外罩护目镜</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化学类实验室原则上不戴隐形眼镜。化学品溅入眼睛时，可能被困在隐形镜片和眼球之间，延长接触时间，还会妨碍冲洗；有些蒸气也会被镜片吸附，刺激眼睛。也不要在实验室里摘戴隐形眼镜（第 020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戴着隐形眼镜做化学实验</a:t>
            </a:r>
          </a:p>
          <a:p>
            <a:pPr>
              <a:spcAft>
                <a:spcPts val="1000"/>
              </a:spcAft>
            </a:pPr>
            <a:r>
              <a:rPr sz="1500">
                <a:solidFill>
                  <a:srgbClr val="222B33"/>
                </a:solidFill>
                <a:latin typeface="Microsoft YaHei"/>
              </a:rPr>
              <a:t>▪ 眼睛溅入化学品后，先找镜盒摘镜片再冲洗</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看清标识，选合格产品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眼护具不能只看样子</a:t>
            </a:r>
          </a:p>
          <a:p>
            <a:pPr>
              <a:spcAft>
                <a:spcPts val="1000"/>
              </a:spcAft>
            </a:pPr>
            <a:r>
              <a:rPr sz="2000">
                <a:solidFill>
                  <a:srgbClr val="222B33"/>
                </a:solidFill>
                <a:latin typeface="Microsoft YaHei"/>
              </a:rPr>
              <a:t>▪ 看清镜框和镜片上的标识，确认防护类型</a:t>
            </a:r>
          </a:p>
          <a:p>
            <a:pPr>
              <a:spcAft>
                <a:spcPts val="1000"/>
              </a:spcAft>
            </a:pPr>
            <a:r>
              <a:rPr sz="2000">
                <a:solidFill>
                  <a:srgbClr val="222B33"/>
                </a:solidFill>
                <a:latin typeface="Microsoft YaHei"/>
              </a:rPr>
              <a:t>▪ 选符合国家标准、有合格标识的产品</a:t>
            </a:r>
          </a:p>
          <a:p>
            <a:pPr>
              <a:spcAft>
                <a:spcPts val="1000"/>
              </a:spcAft>
            </a:pPr>
            <a:r>
              <a:rPr sz="2000">
                <a:solidFill>
                  <a:srgbClr val="222B33"/>
                </a:solidFill>
                <a:latin typeface="Microsoft YaHei"/>
              </a:rPr>
              <a:t>▪ 镜片划花、开裂，及时更换</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眼面防护具不能只看样子：外形相似的眼镜，防冲击、防液体、防强光的能力可能完全不同。按 GB 14866-2023（以现行文本为准）《眼面防护具通用技术规范》，合格的眼面防护具在镜框和镜片上有相应的标识，选用前要看清标……</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把装饰用的平光镜当作安全眼镜</a:t>
            </a:r>
          </a:p>
          <a:p>
            <a:pPr>
              <a:spcAft>
                <a:spcPts val="1000"/>
              </a:spcAft>
            </a:pPr>
            <a:r>
              <a:rPr sz="1500">
                <a:solidFill>
                  <a:srgbClr val="222B33"/>
                </a:solidFill>
                <a:latin typeface="Microsoft YaHei"/>
              </a:rPr>
              <a:t>▪ 镜片划花看不清，仍继续使用</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戴在眼睛上，全程不摘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护目镜要戴在眼睛上，不是额头上</a:t>
            </a:r>
          </a:p>
          <a:p>
            <a:pPr>
              <a:spcAft>
                <a:spcPts val="1000"/>
              </a:spcAft>
            </a:pPr>
            <a:r>
              <a:rPr sz="2000">
                <a:solidFill>
                  <a:srgbClr val="222B33"/>
                </a:solidFill>
                <a:latin typeface="Microsoft YaHei"/>
              </a:rPr>
              <a:t>▪ 从进入防护区域到离开，全程戴着</a:t>
            </a:r>
          </a:p>
          <a:p>
            <a:pPr>
              <a:spcAft>
                <a:spcPts val="1000"/>
              </a:spcAft>
            </a:pPr>
            <a:r>
              <a:rPr sz="2000">
                <a:solidFill>
                  <a:srgbClr val="222B33"/>
                </a:solidFill>
                <a:latin typeface="Microsoft YaHei"/>
              </a:rPr>
              <a:t>▪ 旁边有人操作，你也要戴</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护目镜推到额头上、挂在脖子上，等于没戴。眼面防护要从进入规定的防护区域开始，到离开为止全程戴在眼睛上（防护区域见第 021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嫌闷热把护目镜推到额头上</a:t>
            </a:r>
          </a:p>
          <a:p>
            <a:pPr>
              <a:spcAft>
                <a:spcPts val="1000"/>
              </a:spcAft>
            </a:pPr>
            <a:r>
              <a:rPr sz="1500">
                <a:solidFill>
                  <a:srgbClr val="222B33"/>
                </a:solidFill>
                <a:latin typeface="Microsoft YaHei"/>
              </a:rPr>
              <a:t>▪ 只在自己动手时戴，看别人做时摘下</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各类实验的通用防护提醒</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各类实验：实验服、护目镜、手套一样不少</a:t>
            </a:r>
          </a:p>
          <a:p>
            <a:pPr>
              <a:spcAft>
                <a:spcPts val="1000"/>
              </a:spcAft>
            </a:pPr>
            <a:r>
              <a:rPr sz="2000">
                <a:solidFill>
                  <a:srgbClr val="222B33"/>
                </a:solidFill>
                <a:latin typeface="Microsoft YaHei"/>
              </a:rPr>
              <a:t>▪ 手套按评估选，远离火焰，沾了溶剂就换</a:t>
            </a:r>
          </a:p>
          <a:p>
            <a:pPr>
              <a:spcAft>
                <a:spcPts val="1000"/>
              </a:spcAft>
            </a:pPr>
            <a:r>
              <a:rPr sz="2000">
                <a:solidFill>
                  <a:srgbClr val="222B33"/>
                </a:solidFill>
                <a:latin typeface="Microsoft YaHei"/>
              </a:rPr>
              <a:t>▪ 不徒手处理样品，护己也护样品</a:t>
            </a:r>
          </a:p>
          <a:p>
            <a:pPr>
              <a:spcAft>
                <a:spcPts val="1000"/>
              </a:spcAft>
            </a:pPr>
            <a:r>
              <a:rPr sz="2000">
                <a:solidFill>
                  <a:srgbClr val="222B33"/>
                </a:solidFill>
                <a:latin typeface="Microsoft YaHei"/>
              </a:rPr>
              <a:t>▪ 穿戴什么按评估，不清楚问安全管理员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本课程第 15 章各项实验技能课中通用的个人防护要求统一在这里说明：进实验室先穿戴个人防护，实验服扣好、护目镜戴好、按所用试剂选好手套，长发扎起、不穿露趾鞋（第 020 课）。做无菌操作时手套远离酒精灯火焰；色谱、萃……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做“简单”实验时省掉护目镜</a:t>
            </a:r>
          </a:p>
          <a:p>
            <a:pPr>
              <a:spcAft>
                <a:spcPts val="1000"/>
              </a:spcAft>
            </a:pPr>
            <a:r>
              <a:rPr sz="1500">
                <a:solidFill>
                  <a:srgbClr val="222B33"/>
                </a:solidFill>
                <a:latin typeface="Microsoft YaHei"/>
              </a:rPr>
              <a:t>▪ 戴着沾了溶剂的手套继续操作</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眼睛进了东西，立即冲洗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眼睛溅入化学品或异物，立即到洗眼器冲洗</a:t>
            </a:r>
          </a:p>
          <a:p>
            <a:pPr>
              <a:spcAft>
                <a:spcPts val="1000"/>
              </a:spcAft>
            </a:pPr>
            <a:r>
              <a:rPr sz="2000">
                <a:solidFill>
                  <a:srgbClr val="222B33"/>
                </a:solidFill>
                <a:latin typeface="Microsoft YaHei"/>
              </a:rPr>
              <a:t>▪ 撑开眼睑持续冲洗，不揉眼</a:t>
            </a:r>
          </a:p>
          <a:p>
            <a:pPr>
              <a:spcAft>
                <a:spcPts val="1000"/>
              </a:spcAft>
            </a:pPr>
            <a:r>
              <a:rPr sz="2000">
                <a:solidFill>
                  <a:srgbClr val="222B33"/>
                </a:solidFill>
                <a:latin typeface="Microsoft YaHei"/>
              </a:rPr>
              <a:t>▪ 报告实验室负责人，及时就医</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即使戴了防护，也可能有意外。眼睛溅入化学品或异物时，立即到最近的洗眼器，用手撑开眼睑，转动眼球，持续冲洗，冲洗时间按本校应急规定和化学品安全技术说明书执行；不要揉眼，不要自行用其他药物中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先揉眼睛，或只用纸巾擦一擦</a:t>
            </a:r>
          </a:p>
          <a:p>
            <a:pPr>
              <a:spcAft>
                <a:spcPts val="1000"/>
              </a:spcAft>
            </a:pPr>
            <a:r>
              <a:rPr sz="1500">
                <a:solidFill>
                  <a:srgbClr val="222B33"/>
                </a:solidFill>
                <a:latin typeface="Microsoft YaHei"/>
              </a:rPr>
              <a:t>▪ 冲几秒钟就停，不就医也不报告</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在通风柜内倾倒较多浓酸，眼面部防护应选：</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普通近视眼镜</a:t>
            </a:r>
          </a:p>
          <a:p>
            <a:pPr algn="l"/>
            <a:r>
              <a:rPr sz="1500" b="0">
                <a:solidFill>
                  <a:srgbClr val="222B33"/>
                </a:solidFill>
                <a:latin typeface="Microsoft YaHei"/>
              </a:rPr>
              <a:t>B. 安全眼镜</a:t>
            </a:r>
          </a:p>
          <a:p>
            <a:pPr algn="l"/>
            <a:r>
              <a:rPr sz="1500" b="0">
                <a:solidFill>
                  <a:srgbClr val="222B33"/>
                </a:solidFill>
                <a:latin typeface="Microsoft YaHei"/>
              </a:rPr>
              <a:t>C. 防溅护目镜加面屏</a:t>
            </a:r>
          </a:p>
          <a:p>
            <a:pPr algn="l"/>
            <a:r>
              <a:rPr sz="1500" b="0">
                <a:solidFill>
                  <a:srgbClr val="222B33"/>
                </a:solidFill>
                <a:latin typeface="Microsoft YaHei"/>
              </a:rPr>
              <a:t>D. 只戴面屏</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判断：我戴着近视眼镜，做化学实验可以不戴护目镜。</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判断：化学类实验室原则上不戴隐形眼镜。</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安全眼镜主要用来防护：</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液体飞溅</a:t>
            </a:r>
          </a:p>
          <a:p>
            <a:pPr algn="l"/>
            <a:r>
              <a:rPr sz="1500" b="0">
                <a:solidFill>
                  <a:srgbClr val="222B33"/>
                </a:solidFill>
                <a:latin typeface="Microsoft YaHei"/>
              </a:rPr>
              <a:t>B. 飞来的碎屑和冲击</a:t>
            </a:r>
          </a:p>
          <a:p>
            <a:pPr algn="l"/>
            <a:r>
              <a:rPr sz="1500" b="0">
                <a:solidFill>
                  <a:srgbClr val="222B33"/>
                </a:solidFill>
                <a:latin typeface="Microsoft YaHei"/>
              </a:rPr>
              <a:t>C. 激光</a:t>
            </a:r>
          </a:p>
          <a:p>
            <a:pPr algn="l"/>
            <a:r>
              <a:rPr sz="1500" b="0">
                <a:solidFill>
                  <a:srgbClr val="222B33"/>
                </a:solidFill>
                <a:latin typeface="Microsoft YaHei"/>
              </a:rPr>
              <a:t>D. 有毒气体</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022 · 眼面部防护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022 眼面部防护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护目镜推到额头上，需要时再拉下来</a:t>
            </a:r>
          </a:p>
          <a:p>
            <a:pPr algn="l"/>
            <a:r>
              <a:rPr sz="1500" b="0">
                <a:solidFill>
                  <a:srgbClr val="222B33"/>
                </a:solidFill>
                <a:latin typeface="Microsoft YaHei"/>
              </a:rPr>
              <a:t>B. 看别人操作时摘下护目镜</a:t>
            </a:r>
          </a:p>
          <a:p>
            <a:pPr algn="l"/>
            <a:r>
              <a:rPr sz="1500" b="0">
                <a:solidFill>
                  <a:srgbClr val="222B33"/>
                </a:solidFill>
                <a:latin typeface="Microsoft YaHei"/>
              </a:rPr>
              <a:t>C. 从进入防护区域到离开全程戴着</a:t>
            </a:r>
          </a:p>
          <a:p>
            <a:pPr algn="l"/>
            <a:r>
              <a:rPr sz="1500" b="0">
                <a:solidFill>
                  <a:srgbClr val="222B33"/>
                </a:solidFill>
                <a:latin typeface="Microsoft YaHei"/>
              </a:rPr>
              <a:t>D. 镜片划花了继续用</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简答：眼睛不慎溅入化学品，应该怎么做？</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眼睛最怕伤，护眼最划算</a:t>
            </a:r>
          </a:p>
          <a:p>
            <a:pPr>
              <a:spcAft>
                <a:spcPts val="800"/>
              </a:spcAft>
            </a:pPr>
            <a:r>
              <a:rPr sz="1500">
                <a:solidFill>
                  <a:srgbClr val="FFFFFF"/>
                </a:solidFill>
                <a:latin typeface="Microsoft YaHei"/>
              </a:rPr>
              <a:t>▪ K2  三类眼面防护，按用途选</a:t>
            </a:r>
          </a:p>
          <a:p>
            <a:pPr>
              <a:spcAft>
                <a:spcPts val="800"/>
              </a:spcAft>
            </a:pPr>
            <a:r>
              <a:rPr sz="1500">
                <a:solidFill>
                  <a:srgbClr val="FFFFFF"/>
                </a:solidFill>
                <a:latin typeface="Microsoft YaHei"/>
              </a:rPr>
              <a:t>▪ K3  安全眼镜防冲击，挡不住液体</a:t>
            </a:r>
          </a:p>
          <a:p>
            <a:pPr>
              <a:spcAft>
                <a:spcPts val="800"/>
              </a:spcAft>
            </a:pPr>
            <a:r>
              <a:rPr sz="1500">
                <a:solidFill>
                  <a:srgbClr val="FFFFFF"/>
                </a:solidFill>
                <a:latin typeface="Microsoft YaHei"/>
              </a:rPr>
              <a:t>▪ K4  有飞溅，戴防溅护目镜</a:t>
            </a:r>
          </a:p>
          <a:p>
            <a:pPr>
              <a:spcAft>
                <a:spcPts val="800"/>
              </a:spcAft>
            </a:pPr>
            <a:r>
              <a:rPr sz="1500">
                <a:solidFill>
                  <a:srgbClr val="FFFFFF"/>
                </a:solidFill>
                <a:latin typeface="Microsoft YaHei"/>
              </a:rPr>
              <a:t>▪ K5  面屏加在护目镜外</a:t>
            </a:r>
          </a:p>
          <a:p>
            <a:pPr>
              <a:spcAft>
                <a:spcPts val="800"/>
              </a:spcAft>
            </a:pPr>
            <a:r>
              <a:rPr sz="1500">
                <a:solidFill>
                  <a:srgbClr val="FFFFFF"/>
                </a:solidFill>
                <a:latin typeface="Microsoft YaHei"/>
              </a:rPr>
              <a:t>▪ K6  普通眼镜不能代替护目镜</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化学实验室不戴隐形眼镜</a:t>
            </a:r>
          </a:p>
          <a:p>
            <a:pPr>
              <a:spcAft>
                <a:spcPts val="800"/>
              </a:spcAft>
            </a:pPr>
            <a:r>
              <a:rPr sz="1500">
                <a:solidFill>
                  <a:srgbClr val="FFFFFF"/>
                </a:solidFill>
                <a:latin typeface="Microsoft YaHei"/>
              </a:rPr>
              <a:t>▪ K8  看清标识，选合格产品</a:t>
            </a:r>
          </a:p>
          <a:p>
            <a:pPr>
              <a:spcAft>
                <a:spcPts val="800"/>
              </a:spcAft>
            </a:pPr>
            <a:r>
              <a:rPr sz="1500">
                <a:solidFill>
                  <a:srgbClr val="FFFFFF"/>
                </a:solidFill>
                <a:latin typeface="Microsoft YaHei"/>
              </a:rPr>
              <a:t>▪ K9  戴在眼睛上，全程不摘</a:t>
            </a:r>
          </a:p>
          <a:p>
            <a:pPr>
              <a:spcAft>
                <a:spcPts val="800"/>
              </a:spcAft>
            </a:pPr>
            <a:r>
              <a:rPr sz="1500">
                <a:solidFill>
                  <a:srgbClr val="FFFFFF"/>
                </a:solidFill>
                <a:latin typeface="Microsoft YaHei"/>
              </a:rPr>
              <a:t>▪ K10  各类实验的通用防护提醒</a:t>
            </a:r>
          </a:p>
          <a:p>
            <a:pPr>
              <a:spcAft>
                <a:spcPts val="800"/>
              </a:spcAft>
            </a:pPr>
            <a:r>
              <a:rPr sz="1500">
                <a:solidFill>
                  <a:srgbClr val="FFFFFF"/>
                </a:solidFill>
                <a:latin typeface="Microsoft YaHei"/>
              </a:rPr>
              <a:t>▪ S1  眼睛进了东西，立即冲洗</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023</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防护手套的选择与使用</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第3章 通用安全与个人防护</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61 镜）　适用对象：全体进入高校实验室的本科生、研究生和教职工（必修）；化学、生物、医学、材料和工程实训实验室人员重点学习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能说出没有万能手套，能做到按化学品安全技术说明书和手套耐化学性资料选择手套材质。</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能判断化学品会渗透手套，做到戴前检查、沾污或破损立即更换。</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能做到用“翻着摘”的方法摘除手套并洗手，戴着手套不碰公共物品。</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能根据高温、低温、锐器等危害选用隔热、低温、防割手套。</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28881-2023（以现行文本为准）《手部防护 化学品及微生物防护手套》：化学品及微生物防护手套的技术要求和标识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39800.1-2020（以现行文本为准）《个体防护装备配备规范 第1部分：总则》：按危害配备手部防护</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《中华人民共和国安全生产法》（以现行文本为准）：提供并正确佩戴使用符合国家标准的劳动防护用品</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号，以现行文本为准）：实验人员按实验风险佩戴防护用品</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日起施行）及《危险化学品安全管理条例》（以现行文本为准）：化学品安全技术说明书和安全标签</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内容和项目顺序》：说明书中的个体防护信息</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本校实验室安全管理制度、危险废物管理规定和各实验室防护要求（以本校规定为准）</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手套是皮肤外的又一层屏障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皮肤是第一道屏障，手套再加一层</a:t>
            </a:r>
          </a:p>
          <a:p>
            <a:pPr>
              <a:spcAft>
                <a:spcPts val="1000"/>
              </a:spcAft>
            </a:pPr>
            <a:r>
              <a:rPr sz="2000">
                <a:solidFill>
                  <a:srgbClr val="222B33"/>
                </a:solidFill>
                <a:latin typeface="Microsoft YaHei"/>
              </a:rPr>
              <a:t>▪ 手最容易受伤：腐蚀、烫、冻、割</a:t>
            </a:r>
          </a:p>
          <a:p>
            <a:pPr>
              <a:spcAft>
                <a:spcPts val="1000"/>
              </a:spcAft>
            </a:pPr>
            <a:r>
              <a:rPr sz="2000">
                <a:solidFill>
                  <a:srgbClr val="222B33"/>
                </a:solidFill>
                <a:latin typeface="Microsoft YaHei"/>
              </a:rPr>
              <a:t>▪ 样品毒性常常说不清，要养成戴手套的习惯</a:t>
            </a:r>
          </a:p>
          <a:p>
            <a:pPr>
              <a:spcAft>
                <a:spcPts val="1000"/>
              </a:spcAft>
            </a:pPr>
            <a:r>
              <a:rPr sz="2000">
                <a:solidFill>
                  <a:srgbClr val="222B33"/>
                </a:solidFill>
                <a:latin typeface="Microsoft YaHei"/>
              </a:rPr>
              <a:t>▪ 操作化学品时，全程戴着合适的手套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手是实验中接触化学品、热源、锐器最多的部位，也最容易受伤。皮肤本身是一道屏障，但挡不住腐蚀性物质和能透过皮肤吸收的化学品；手套是在皮肤外面再加的一层防护。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认为样品量少、看着无害就徒手操作</a:t>
            </a:r>
          </a:p>
          <a:p>
            <a:pPr>
              <a:spcAft>
                <a:spcPts val="1000"/>
              </a:spcAft>
            </a:pPr>
            <a:r>
              <a:rPr sz="1500">
                <a:solidFill>
                  <a:srgbClr val="222B33"/>
                </a:solidFill>
                <a:latin typeface="Microsoft YaHei"/>
              </a:rPr>
              <a:t>▪ 只在“危险操作”时才临时戴手套</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没有万能手套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一副丁腈手套不是什么都能挡</a:t>
            </a:r>
          </a:p>
          <a:p>
            <a:pPr>
              <a:spcAft>
                <a:spcPts val="1000"/>
              </a:spcAft>
            </a:pPr>
            <a:r>
              <a:rPr sz="2000">
                <a:solidFill>
                  <a:srgbClr val="222B33"/>
                </a:solidFill>
                <a:latin typeface="Microsoft YaHei"/>
              </a:rPr>
              <a:t>▪ 不同材质的手套，耐受的化学品不同</a:t>
            </a:r>
          </a:p>
          <a:p>
            <a:pPr>
              <a:spcAft>
                <a:spcPts val="1000"/>
              </a:spcAft>
            </a:pPr>
            <a:r>
              <a:rPr sz="2000">
                <a:solidFill>
                  <a:srgbClr val="222B33"/>
                </a:solidFill>
                <a:latin typeface="Microsoft YaHei"/>
              </a:rPr>
              <a:t>▪ 乳胶挡得住微生物，挡不住多数化学品</a:t>
            </a:r>
          </a:p>
          <a:p>
            <a:pPr>
              <a:spcAft>
                <a:spcPts val="1000"/>
              </a:spcAft>
            </a:pPr>
            <a:r>
              <a:rPr sz="2000">
                <a:solidFill>
                  <a:srgbClr val="222B33"/>
                </a:solidFill>
                <a:latin typeface="Microsoft YaHei"/>
              </a:rPr>
              <a:t>▪ 丁腈适合偶然接触，遇酮类、氯代溶剂易失效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很多人以为一次性丁腈手套什么都能挡，这是危险的误解。丁腈、乳胶、氯丁橡胶、丁基橡胶等不同材质的手套，耐受的化学品各不相同，没有一种手套能防所有化学品。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所有实验都只戴一次性丁腈手套</a:t>
            </a:r>
          </a:p>
          <a:p>
            <a:pPr>
              <a:spcAft>
                <a:spcPts val="1000"/>
              </a:spcAft>
            </a:pPr>
            <a:r>
              <a:rPr sz="1500">
                <a:solidFill>
                  <a:srgbClr val="222B33"/>
                </a:solidFill>
                <a:latin typeface="Microsoft YaHei"/>
              </a:rPr>
              <a:t>▪ 用乳胶手套处理有机溶剂</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查说明书和耐化学性资料选手套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先查化学品安全技术说明书的个体防护部分</a:t>
            </a:r>
          </a:p>
          <a:p>
            <a:pPr>
              <a:spcAft>
                <a:spcPts val="1000"/>
              </a:spcAft>
            </a:pPr>
            <a:r>
              <a:rPr sz="2000">
                <a:solidFill>
                  <a:srgbClr val="222B33"/>
                </a:solidFill>
                <a:latin typeface="Microsoft YaHei"/>
              </a:rPr>
              <a:t>▪ 再查手套的耐化学性资料</a:t>
            </a:r>
          </a:p>
          <a:p>
            <a:pPr>
              <a:spcAft>
                <a:spcPts val="1000"/>
              </a:spcAft>
            </a:pPr>
            <a:r>
              <a:rPr sz="2000">
                <a:solidFill>
                  <a:srgbClr val="222B33"/>
                </a:solidFill>
                <a:latin typeface="Microsoft YaHei"/>
              </a:rPr>
              <a:t>▪ 重点看穿透时间和降解程度</a:t>
            </a:r>
          </a:p>
          <a:p>
            <a:pPr>
              <a:spcAft>
                <a:spcPts val="1000"/>
              </a:spcAft>
            </a:pPr>
            <a:r>
              <a:rPr sz="2000">
                <a:solidFill>
                  <a:srgbClr val="222B33"/>
                </a:solidFill>
                <a:latin typeface="Microsoft YaHei"/>
              </a:rPr>
              <a:t>▪ 实验课按老师规定，拿不准就问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选手套的步骤：①查所用化学品的安全技术说明书（SDS）中“接触控制和个体防护”部分，看推荐的手套材质；②查手套生产商提供的耐化学性资料，重点看穿透时间（化学品透过手套需要多长时间）和降解程度（手套是否溶胀、变硬、开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只凭手套颜色或“实验室常用”就选</a:t>
            </a:r>
          </a:p>
          <a:p>
            <a:pPr>
              <a:spcAft>
                <a:spcPts val="1000"/>
              </a:spcAft>
            </a:pPr>
            <a:r>
              <a:rPr sz="1500">
                <a:solidFill>
                  <a:srgbClr val="222B33"/>
                </a:solidFill>
                <a:latin typeface="Microsoft YaHei"/>
              </a:rPr>
              <a:t>▪ 不看说明书，柜子里有什么戴什么</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化学品会渗透，沾上就换</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化学品会随时间慢慢渗过手套</a:t>
            </a:r>
          </a:p>
          <a:p>
            <a:pPr>
              <a:spcAft>
                <a:spcPts val="1000"/>
              </a:spcAft>
            </a:pPr>
            <a:r>
              <a:rPr sz="2000">
                <a:solidFill>
                  <a:srgbClr val="222B33"/>
                </a:solidFill>
                <a:latin typeface="Microsoft YaHei"/>
              </a:rPr>
              <a:t>▪ 有的溶剂很快就能穿透一次性薄手套</a:t>
            </a:r>
          </a:p>
          <a:p>
            <a:pPr>
              <a:spcAft>
                <a:spcPts val="1000"/>
              </a:spcAft>
            </a:pPr>
            <a:r>
              <a:rPr sz="2000">
                <a:solidFill>
                  <a:srgbClr val="222B33"/>
                </a:solidFill>
                <a:latin typeface="Microsoft YaHei"/>
              </a:rPr>
              <a:t>▪ 沾上化学品、破了、湿了，立即更换</a:t>
            </a:r>
          </a:p>
          <a:p>
            <a:pPr>
              <a:spcAft>
                <a:spcPts val="1000"/>
              </a:spcAft>
            </a:pPr>
            <a:r>
              <a:rPr sz="2000">
                <a:solidFill>
                  <a:srgbClr val="222B33"/>
                </a:solidFill>
                <a:latin typeface="Microsoft YaHei"/>
              </a:rPr>
              <a:t>▪ 没沾上也按规程定期更换，换后洗手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手套挡住化学品只是暂时的，化学品会随时间慢慢渗透；二氯甲烷、乙醚等溶剂能很快透过常见的一次性薄手套。手套里面出汗、外面沾液，也会加快渗透。渗透往往没有感觉：有人长期戴不合适的手套处理新试剂，几周都没察觉，直到体检才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手套沾了溶剂，擦一擦继续用</a:t>
            </a:r>
          </a:p>
          <a:p>
            <a:pPr>
              <a:spcAft>
                <a:spcPts val="1000"/>
              </a:spcAft>
            </a:pPr>
            <a:r>
              <a:rPr sz="1500">
                <a:solidFill>
                  <a:srgbClr val="222B33"/>
                </a:solidFill>
                <a:latin typeface="Microsoft YaHei"/>
              </a:rPr>
              <a:t>▪ 一副手套从早戴到晚</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浸泡、强腐蚀、高毒：专用手套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手要浸入溶剂时，换专用材质的厚手套</a:t>
            </a:r>
          </a:p>
          <a:p>
            <a:pPr>
              <a:spcAft>
                <a:spcPts val="1000"/>
              </a:spcAft>
            </a:pPr>
            <a:r>
              <a:rPr sz="2000">
                <a:solidFill>
                  <a:srgbClr val="222B33"/>
                </a:solidFill>
                <a:latin typeface="Microsoft YaHei"/>
              </a:rPr>
              <a:t>▪ 强腐蚀品，戴长到手臂的橡胶手套</a:t>
            </a:r>
          </a:p>
          <a:p>
            <a:pPr>
              <a:spcAft>
                <a:spcPts val="1000"/>
              </a:spcAft>
            </a:pPr>
            <a:r>
              <a:rPr sz="2000">
                <a:solidFill>
                  <a:srgbClr val="222B33"/>
                </a:solidFill>
                <a:latin typeface="Microsoft YaHei"/>
              </a:rPr>
              <a:t>▪ 处理酸，选耐酸手套</a:t>
            </a:r>
          </a:p>
          <a:p>
            <a:pPr>
              <a:spcAft>
                <a:spcPts val="1000"/>
              </a:spcAft>
            </a:pPr>
            <a:r>
              <a:rPr sz="2000">
                <a:solidFill>
                  <a:srgbClr val="222B33"/>
                </a:solidFill>
                <a:latin typeface="Microsoft YaHei"/>
              </a:rPr>
              <a:t>▪ 高毒作业戴双层手套，外层破了内层挡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一次性薄手套只适合偶然接触。如果操作需要把手浸入溶剂，普通薄手套几分钟就会被渗透，必须换用按说明书和耐化学性资料选定的专用材质厚手套。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戴一次性薄手套把手伸进溶剂里</a:t>
            </a:r>
          </a:p>
          <a:p>
            <a:pPr>
              <a:spcAft>
                <a:spcPts val="1000"/>
              </a:spcAft>
            </a:pPr>
            <a:r>
              <a:rPr sz="1500">
                <a:solidFill>
                  <a:srgbClr val="222B33"/>
                </a:solidFill>
                <a:latin typeface="Microsoft YaHei"/>
              </a:rPr>
              <a:t>▪ 双层手套外层破了还继续操作</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大小合适，戴前检查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选合手的尺寸和厚度，太松太紧都不好</a:t>
            </a:r>
          </a:p>
          <a:p>
            <a:pPr>
              <a:spcAft>
                <a:spcPts val="1000"/>
              </a:spcAft>
            </a:pPr>
            <a:r>
              <a:rPr sz="2000">
                <a:solidFill>
                  <a:srgbClr val="222B33"/>
                </a:solidFill>
                <a:latin typeface="Microsoft YaHei"/>
              </a:rPr>
              <a:t>▪ 戴前检查有没有破口、小孔、变色</a:t>
            </a:r>
          </a:p>
          <a:p>
            <a:pPr>
              <a:spcAft>
                <a:spcPts val="1000"/>
              </a:spcAft>
            </a:pPr>
            <a:r>
              <a:rPr sz="2000">
                <a:solidFill>
                  <a:srgbClr val="222B33"/>
                </a:solidFill>
                <a:latin typeface="Microsoft YaHei"/>
              </a:rPr>
              <a:t>▪ 有破损直接换一副</a:t>
            </a:r>
          </a:p>
          <a:p>
            <a:pPr>
              <a:spcAft>
                <a:spcPts val="1000"/>
              </a:spcAft>
            </a:pPr>
            <a:r>
              <a:rPr sz="2000">
                <a:solidFill>
                  <a:srgbClr val="222B33"/>
                </a:solidFill>
                <a:latin typeface="Microsoft YaHei"/>
              </a:rPr>
              <a:t>▪ 一次性手套不重复使用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手套有不同尺寸和厚度。太松容易滑脱、夹住器皿，太紧容易撕裂、手指发累；按手的大小和操作需要选合手的。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不检查就戴，带着小孔操作</a:t>
            </a:r>
          </a:p>
          <a:p>
            <a:pPr>
              <a:spcAft>
                <a:spcPts val="1000"/>
              </a:spcAft>
            </a:pPr>
            <a:r>
              <a:rPr sz="1500">
                <a:solidFill>
                  <a:srgbClr val="222B33"/>
                </a:solidFill>
                <a:latin typeface="Microsoft YaHei"/>
              </a:rPr>
              <a:t>▪ 用嘴往手套里吹气检查</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翻着摘手套，摘完洗手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不捏指尖拽，以免污染沾到手上</a:t>
            </a:r>
          </a:p>
          <a:p>
            <a:pPr>
              <a:spcAft>
                <a:spcPts val="1000"/>
              </a:spcAft>
            </a:pPr>
            <a:r>
              <a:rPr sz="2000">
                <a:solidFill>
                  <a:srgbClr val="222B33"/>
                </a:solidFill>
                <a:latin typeface="Microsoft YaHei"/>
              </a:rPr>
              <a:t>▪ 捏住腕部外侧翻着剥下，团在另一只手心</a:t>
            </a:r>
          </a:p>
          <a:p>
            <a:pPr>
              <a:spcAft>
                <a:spcPts val="1000"/>
              </a:spcAft>
            </a:pPr>
            <a:r>
              <a:rPr sz="2000">
                <a:solidFill>
                  <a:srgbClr val="222B33"/>
                </a:solidFill>
                <a:latin typeface="Microsoft YaHei"/>
              </a:rPr>
              <a:t>▪ 裸手伸进内侧，翻转剥下包住第一只</a:t>
            </a:r>
          </a:p>
          <a:p>
            <a:pPr>
              <a:spcAft>
                <a:spcPts val="1000"/>
              </a:spcAft>
            </a:pPr>
            <a:r>
              <a:rPr sz="2000">
                <a:solidFill>
                  <a:srgbClr val="222B33"/>
                </a:solidFill>
                <a:latin typeface="Microsoft YaHei"/>
              </a:rPr>
              <a:t>▪ 丢进指定容器，摘完认真洗手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手套戴对了还要摘对。捏着指尖往下拽，手套外面的污染会瞬间沾到手上。正确步骤：①一只手捏住另一只手套腕部的外侧，边往下剥边翻过来；②把脱下的手套团在仍戴着手套的手心；③裸手的手指从剩下那只手套的袖口内侧伸进去，翻转剥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捏着手指尖把手套拽下来</a:t>
            </a:r>
          </a:p>
          <a:p>
            <a:pPr>
              <a:spcAft>
                <a:spcPts val="1000"/>
              </a:spcAft>
            </a:pPr>
            <a:r>
              <a:rPr sz="1500">
                <a:solidFill>
                  <a:srgbClr val="222B33"/>
                </a:solidFill>
                <a:latin typeface="Microsoft YaHei"/>
              </a:rPr>
              <a:t>▪ 摘了手套不洗手就离开</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戴着手套不碰公共物品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戴手套不碰门把手、开关、电话、手机</a:t>
            </a:r>
          </a:p>
          <a:p>
            <a:pPr>
              <a:spcAft>
                <a:spcPts val="1000"/>
              </a:spcAft>
            </a:pPr>
            <a:r>
              <a:rPr sz="2000">
                <a:solidFill>
                  <a:srgbClr val="222B33"/>
                </a:solidFill>
                <a:latin typeface="Microsoft YaHei"/>
              </a:rPr>
              <a:t>▪ 手套上的化学品会“搬家”，传给别人</a:t>
            </a:r>
          </a:p>
          <a:p>
            <a:pPr>
              <a:spcAft>
                <a:spcPts val="1000"/>
              </a:spcAft>
            </a:pPr>
            <a:r>
              <a:rPr sz="2000">
                <a:solidFill>
                  <a:srgbClr val="222B33"/>
                </a:solidFill>
                <a:latin typeface="Microsoft YaHei"/>
              </a:rPr>
              <a:t>▪ 笔放进嘴里，化学品就进了身体</a:t>
            </a:r>
          </a:p>
          <a:p>
            <a:pPr>
              <a:spcAft>
                <a:spcPts val="1000"/>
              </a:spcAft>
            </a:pPr>
            <a:r>
              <a:rPr sz="2000">
                <a:solidFill>
                  <a:srgbClr val="222B33"/>
                </a:solidFill>
                <a:latin typeface="Microsoft YaHei"/>
              </a:rPr>
              <a:t>▪ 离开操作区先摘手套洗手，再碰公共物品</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手套上沾的化学品或微生物会到处“搬家”：门把手、电灯开关、电话、计算器、电脑键盘、手机都会被沾上，再传给不戴手套的人。笔、手指一碰嘴，化学品就进了身体——这也是实验室里不能饮食的原因（第 020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戴着手套开门、按电梯、看手机</a:t>
            </a:r>
          </a:p>
          <a:p>
            <a:pPr>
              <a:spcAft>
                <a:spcPts val="1000"/>
              </a:spcAft>
            </a:pPr>
            <a:r>
              <a:rPr sz="1500">
                <a:solidFill>
                  <a:srgbClr val="222B33"/>
                </a:solidFill>
                <a:latin typeface="Microsoft YaHei"/>
              </a:rPr>
              <a:t>▪ 把记录本和手机放在操作台上</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隔热、低温、防割，各用各的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拿热的东西戴隔热手套，实验室常备</a:t>
            </a:r>
          </a:p>
          <a:p>
            <a:pPr>
              <a:spcAft>
                <a:spcPts val="1000"/>
              </a:spcAft>
            </a:pPr>
            <a:r>
              <a:rPr sz="2000">
                <a:solidFill>
                  <a:srgbClr val="222B33"/>
                </a:solidFill>
                <a:latin typeface="Microsoft YaHei"/>
              </a:rPr>
              <a:t>▪ 取干冰、超低温样品戴低温手套</a:t>
            </a:r>
          </a:p>
          <a:p>
            <a:pPr>
              <a:spcAft>
                <a:spcPts val="1000"/>
              </a:spcAft>
            </a:pPr>
            <a:r>
              <a:rPr sz="2000">
                <a:solidFill>
                  <a:srgbClr val="222B33"/>
                </a:solidFill>
                <a:latin typeface="Microsoft YaHei"/>
              </a:rPr>
              <a:t>▪ 处理锐器、搬板材废料戴防割手套</a:t>
            </a:r>
          </a:p>
          <a:p>
            <a:pPr>
              <a:spcAft>
                <a:spcPts val="1000"/>
              </a:spcAft>
            </a:pPr>
            <a:r>
              <a:rPr sz="2000">
                <a:solidFill>
                  <a:srgbClr val="222B33"/>
                </a:solidFill>
                <a:latin typeface="Microsoft YaHei"/>
              </a:rPr>
              <a:t>▪ 振动、搬运等作业，选对应的专用手套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除了化学品，手还会受到烫、冻、割、振动等伤害，要按危害选专用手套。从烘箱、马弗炉、加热板上拿热的样品和器皿，戴隔热手套，不能徒手碰；隔热手套有点笨重，多练就习惯了，实验室要常备在伸手可及的地方。一次性化学防护手套不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戴一次性丁腈手套去拿热烧杯</a:t>
            </a:r>
          </a:p>
          <a:p>
            <a:pPr>
              <a:spcAft>
                <a:spcPts val="1000"/>
              </a:spcAft>
            </a:pPr>
            <a:r>
              <a:rPr sz="1500">
                <a:solidFill>
                  <a:srgbClr val="222B33"/>
                </a:solidFill>
                <a:latin typeface="Microsoft YaHei"/>
              </a:rPr>
              <a:t>▪ 徒手搬运切割后的金属边角料</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选符合国家标准的合格手套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选符合国家标准、有合格标识的手套</a:t>
            </a:r>
          </a:p>
          <a:p>
            <a:pPr>
              <a:spcAft>
                <a:spcPts val="1000"/>
              </a:spcAft>
            </a:pPr>
            <a:r>
              <a:rPr sz="2000">
                <a:solidFill>
                  <a:srgbClr val="222B33"/>
                </a:solidFill>
                <a:latin typeface="Microsoft YaHei"/>
              </a:rPr>
              <a:t>▪ 看清防护类型，不用来路不明的产品</a:t>
            </a:r>
          </a:p>
          <a:p>
            <a:pPr>
              <a:spcAft>
                <a:spcPts val="1000"/>
              </a:spcAft>
            </a:pPr>
            <a:r>
              <a:rPr sz="2000">
                <a:solidFill>
                  <a:srgbClr val="222B33"/>
                </a:solidFill>
                <a:latin typeface="Microsoft YaHei"/>
              </a:rPr>
              <a:t>▪ 实验室按危害配备，用完及时补齐</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化学品及微生物防护手套应符合 GB 28881-2023（以现行文本为准）《手部防护 化学品及微生物防护手套》等国家标准，包装和产品上有相应标识，选用前看清标识和说明，确认适用于你要防的危害；不使用无标识、来路不明的……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用家用清洁手套代替化学防护手套</a:t>
            </a:r>
          </a:p>
          <a:p>
            <a:pPr>
              <a:spcAft>
                <a:spcPts val="1000"/>
              </a:spcAft>
            </a:pPr>
            <a:r>
              <a:rPr sz="1500">
                <a:solidFill>
                  <a:srgbClr val="222B33"/>
                </a:solidFill>
                <a:latin typeface="Microsoft YaHei"/>
              </a:rPr>
              <a:t>▪ 手套用完了就不戴，等别人补</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使用某种有机溶剂前选择手套，首先应该：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选实验室最常用的丁腈手套</a:t>
            </a:r>
          </a:p>
          <a:p>
            <a:pPr algn="l"/>
            <a:r>
              <a:rPr sz="1500" b="0">
                <a:solidFill>
                  <a:srgbClr val="222B33"/>
                </a:solidFill>
                <a:latin typeface="Microsoft YaHei"/>
              </a:rPr>
              <a:t>B. 查该化学品安全技术说明书的个体防护部分和手套耐化学性资料</a:t>
            </a:r>
          </a:p>
          <a:p>
            <a:pPr algn="l"/>
            <a:r>
              <a:rPr sz="1500" b="0">
                <a:solidFill>
                  <a:srgbClr val="222B33"/>
                </a:solidFill>
                <a:latin typeface="Microsoft YaHei"/>
              </a:rPr>
              <a:t>C. 选最厚的手套</a:t>
            </a:r>
          </a:p>
          <a:p>
            <a:pPr algn="l"/>
            <a:r>
              <a:rPr sz="1500" b="0">
                <a:solidFill>
                  <a:srgbClr val="222B33"/>
                </a:solidFill>
                <a:latin typeface="Microsoft YaHei"/>
              </a:rPr>
              <a:t>D. 戴两层乳胶手套</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判断：一次性丁腈手套能防所有化学品，沾上溶剂擦干净即可继续使用。</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下列摘手套的做法正确的是：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捏住指尖往下拽</a:t>
            </a:r>
          </a:p>
          <a:p>
            <a:pPr algn="l"/>
            <a:r>
              <a:rPr sz="1500" b="0">
                <a:solidFill>
                  <a:srgbClr val="222B33"/>
                </a:solidFill>
                <a:latin typeface="Microsoft YaHei"/>
              </a:rPr>
              <a:t>B. 捏住腕部外侧翻着剥下，裸手从内侧剥下第二只并包住第一只</a:t>
            </a:r>
          </a:p>
          <a:p>
            <a:pPr algn="l"/>
            <a:r>
              <a:rPr sz="1500" b="0">
                <a:solidFill>
                  <a:srgbClr val="222B33"/>
                </a:solidFill>
                <a:latin typeface="Microsoft YaHei"/>
              </a:rPr>
              <a:t>C. 用牙咬住手套拽下</a:t>
            </a:r>
          </a:p>
          <a:p>
            <a:pPr algn="l"/>
            <a:r>
              <a:rPr sz="1500" b="0">
                <a:solidFill>
                  <a:srgbClr val="222B33"/>
                </a:solidFill>
                <a:latin typeface="Microsoft YaHei"/>
              </a:rPr>
              <a:t>D. 摘下后不洗手</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判断：戴着做实验的手套去开门、接手机，可以节省时间，没有危害。</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023 · 防护手套的选择与使用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023 防护手套的选择与使用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从烘箱中取出热的烧杯，应戴：</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一次性丁腈手套</a:t>
            </a:r>
          </a:p>
          <a:p>
            <a:pPr algn="l"/>
            <a:r>
              <a:rPr sz="1500" b="0">
                <a:solidFill>
                  <a:srgbClr val="222B33"/>
                </a:solidFill>
                <a:latin typeface="Microsoft YaHei"/>
              </a:rPr>
              <a:t>B. 乳胶手套</a:t>
            </a:r>
          </a:p>
          <a:p>
            <a:pPr algn="l"/>
            <a:r>
              <a:rPr sz="1500" b="0">
                <a:solidFill>
                  <a:srgbClr val="222B33"/>
                </a:solidFill>
                <a:latin typeface="Microsoft YaHei"/>
              </a:rPr>
              <a:t>C. 隔热手套</a:t>
            </a:r>
          </a:p>
          <a:p>
            <a:pPr algn="l"/>
            <a:r>
              <a:rPr sz="1500" b="0">
                <a:solidFill>
                  <a:srgbClr val="222B33"/>
                </a:solidFill>
                <a:latin typeface="Microsoft YaHei"/>
              </a:rPr>
              <a:t>D. 不用戴手套</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简答：工作中发现手套破了，应该怎么做？</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K1  手套是皮肤外的又一层屏障</a:t>
            </a:r>
          </a:p>
          <a:p>
            <a:pPr>
              <a:spcAft>
                <a:spcPts val="800"/>
              </a:spcAft>
            </a:pPr>
            <a:r>
              <a:rPr sz="1800">
                <a:solidFill>
                  <a:srgbClr val="FFFFFF"/>
                </a:solidFill>
                <a:latin typeface="Microsoft YaHei"/>
              </a:rPr>
              <a:t>▪ K2  没有万能手套</a:t>
            </a:r>
          </a:p>
          <a:p>
            <a:pPr>
              <a:spcAft>
                <a:spcPts val="800"/>
              </a:spcAft>
            </a:pPr>
            <a:r>
              <a:rPr sz="1800">
                <a:solidFill>
                  <a:srgbClr val="FFFFFF"/>
                </a:solidFill>
                <a:latin typeface="Microsoft YaHei"/>
              </a:rPr>
              <a:t>▪ K3  查说明书和耐化学性资料选手套</a:t>
            </a:r>
          </a:p>
          <a:p>
            <a:pPr>
              <a:spcAft>
                <a:spcPts val="800"/>
              </a:spcAft>
            </a:pPr>
            <a:r>
              <a:rPr sz="1800">
                <a:solidFill>
                  <a:srgbClr val="FFFFFF"/>
                </a:solidFill>
                <a:latin typeface="Microsoft YaHei"/>
              </a:rPr>
              <a:t>▪ K4  化学品会渗透，沾上就换</a:t>
            </a:r>
          </a:p>
          <a:p>
            <a:pPr>
              <a:spcAft>
                <a:spcPts val="800"/>
              </a:spcAft>
            </a:pPr>
            <a:r>
              <a:rPr sz="1800">
                <a:solidFill>
                  <a:srgbClr val="FFFFFF"/>
                </a:solidFill>
                <a:latin typeface="Microsoft YaHei"/>
              </a:rPr>
              <a:t>▪ K5  浸泡、强腐蚀、高毒：专用手套</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K6  大小合适，戴前检查</a:t>
            </a:r>
          </a:p>
          <a:p>
            <a:pPr>
              <a:spcAft>
                <a:spcPts val="800"/>
              </a:spcAft>
            </a:pPr>
            <a:r>
              <a:rPr sz="1800">
                <a:solidFill>
                  <a:srgbClr val="FFFFFF"/>
                </a:solidFill>
                <a:latin typeface="Microsoft YaHei"/>
              </a:rPr>
              <a:t>▪ K7  翻着摘手套，摘完洗手</a:t>
            </a:r>
          </a:p>
          <a:p>
            <a:pPr>
              <a:spcAft>
                <a:spcPts val="800"/>
              </a:spcAft>
            </a:pPr>
            <a:r>
              <a:rPr sz="1800">
                <a:solidFill>
                  <a:srgbClr val="FFFFFF"/>
                </a:solidFill>
                <a:latin typeface="Microsoft YaHei"/>
              </a:rPr>
              <a:t>▪ K8  戴着手套不碰公共物品</a:t>
            </a:r>
          </a:p>
          <a:p>
            <a:pPr>
              <a:spcAft>
                <a:spcPts val="800"/>
              </a:spcAft>
            </a:pPr>
            <a:r>
              <a:rPr sz="1800">
                <a:solidFill>
                  <a:srgbClr val="FFFFFF"/>
                </a:solidFill>
                <a:latin typeface="Microsoft YaHei"/>
              </a:rPr>
              <a:t>▪ K9  隔热、低温、防割，各用各的</a:t>
            </a:r>
          </a:p>
          <a:p>
            <a:pPr>
              <a:spcAft>
                <a:spcPts val="800"/>
              </a:spcAft>
            </a:pPr>
            <a:r>
              <a:rPr sz="1800">
                <a:solidFill>
                  <a:srgbClr val="FFFFFF"/>
                </a:solidFill>
                <a:latin typeface="Microsoft YaHei"/>
              </a:rPr>
              <a:t>▪ S1  选符合国家标准的合格手套</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024</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实验服与防护服</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第3章 通用安全与个人防护</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4 分钟（卡通视频 45 镜）　适用对象：全体进入高校实验室的本科生、研究生和教职工（必修）；化学、材料、生物、工程实训实验室人员重点学习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能说出实验服的防护作用，能做到进实验室就穿、扣好扣子、袖口塞进手套。</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能判断实验服应选棉质或阻燃材质，使用自燃试剂、明火、高能反应或有火花时穿阻燃服。</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能做到有喷溅风险时加穿耐化学品围裙，按危害选用防护服，沾污及时更换。</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能做到实验服不穿出实验室、不带回家洗，大量沾染时立即脱下冲洗并报告。</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39800.1-2020（以现行文本为准）《个体防护装备配备规范 第1部分：总则》：按危害配备躯体防护</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8965.1-2020（以现行文本为准）《防护服装 阻燃服》：阻燃防护服的技术要求</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《中华人民共和国安全生产法》（以现行文本为准）：提供并正确佩戴使用符合国家标准的劳动防护用品</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号，以现行文本为准）：实验人员按实验风险穿戴防护用品</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《病原微生物实验室生物安全管理条例》及 GB 19489-2008（以现行文本为准）《实验室 生物安全通用要求》：生物实验室防护服的管理与消毒</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38144-2025（以现行文本为准）《眼面部防护 应急喷淋和洗眼设备》</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本校实验室安全管理制度和实验服管理、清洗规定（以本校规定为准）</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实验服是防护用品，进门就穿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实验服是个人防护用品，意外溅洒时替你挡一下</a:t>
            </a:r>
          </a:p>
          <a:p>
            <a:pPr>
              <a:spcAft>
                <a:spcPts val="1000"/>
              </a:spcAft>
            </a:pPr>
            <a:r>
              <a:rPr sz="2000">
                <a:solidFill>
                  <a:srgbClr val="222B33"/>
                </a:solidFill>
                <a:latin typeface="Microsoft YaHei"/>
              </a:rPr>
              <a:t>▪ 溅出的液滴，先落在实验服上</a:t>
            </a:r>
          </a:p>
          <a:p>
            <a:pPr>
              <a:spcAft>
                <a:spcPts val="1000"/>
              </a:spcAft>
            </a:pPr>
            <a:r>
              <a:rPr sz="2000">
                <a:solidFill>
                  <a:srgbClr val="222B33"/>
                </a:solidFill>
                <a:latin typeface="Microsoft YaHei"/>
              </a:rPr>
              <a:t>▪ 一进实验室，就穿上实验服</a:t>
            </a:r>
          </a:p>
          <a:p>
            <a:pPr>
              <a:spcAft>
                <a:spcPts val="1000"/>
              </a:spcAft>
            </a:pPr>
            <a:r>
              <a:rPr sz="2000">
                <a:solidFill>
                  <a:srgbClr val="222B33"/>
                </a:solidFill>
                <a:latin typeface="Microsoft YaHei"/>
              </a:rPr>
              <a:t>▪ 花钱不多，却能大大提高安全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实验服不是“工作制服”，而是个人防护用品：意外溅洒时，液滴、粉末先落在实验服上，而不是直接接触皮肤和自己的衣服，为脱下、冲洗争取时间。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只做简单操作就不穿实验服</a:t>
            </a:r>
          </a:p>
          <a:p>
            <a:pPr>
              <a:spcAft>
                <a:spcPts val="1000"/>
              </a:spcAft>
            </a:pPr>
            <a:r>
              <a:rPr sz="1500">
                <a:solidFill>
                  <a:srgbClr val="222B33"/>
                </a:solidFill>
                <a:latin typeface="Microsoft YaHei"/>
              </a:rPr>
              <a:t>▪ 把实验服搭在椅背上，需要时才穿</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实验服选棉质或阻燃材质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实验服选棉质或阻燃材质</a:t>
            </a:r>
          </a:p>
          <a:p>
            <a:pPr>
              <a:spcAft>
                <a:spcPts val="1000"/>
              </a:spcAft>
            </a:pPr>
            <a:r>
              <a:rPr sz="2000">
                <a:solidFill>
                  <a:srgbClr val="222B33"/>
                </a:solidFill>
                <a:latin typeface="Microsoft YaHei"/>
              </a:rPr>
              <a:t>▪ 化纤遇火会熔化，粘在皮肤上</a:t>
            </a:r>
          </a:p>
          <a:p>
            <a:pPr>
              <a:spcAft>
                <a:spcPts val="1000"/>
              </a:spcAft>
            </a:pPr>
            <a:r>
              <a:rPr sz="2000">
                <a:solidFill>
                  <a:srgbClr val="222B33"/>
                </a:solidFill>
                <a:latin typeface="Microsoft YaHei"/>
              </a:rPr>
              <a:t>▪ 实验服里面的衣服也别选化纤</a:t>
            </a:r>
          </a:p>
          <a:p>
            <a:pPr>
              <a:spcAft>
                <a:spcPts val="1000"/>
              </a:spcAft>
            </a:pPr>
            <a:r>
              <a:rPr sz="2000">
                <a:solidFill>
                  <a:srgbClr val="222B33"/>
                </a:solidFill>
                <a:latin typeface="Microsoft YaHei"/>
              </a:rPr>
              <a:t>▪ 长度过膝，长袖盖住手腕</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实验服宜选棉质或阻燃材质。涤纶等化纤面料遇火、遇高温会熔化、滴落，粘在皮肤上造成严重烧伤，所以化学实验室不宜穿化纤实验服；实验服里面也尽量穿棉质衣服，不穿化纤毛衣、紧身化纤运动服。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穿化纤材质的实验服做加热实验</a:t>
            </a:r>
          </a:p>
          <a:p>
            <a:pPr>
              <a:spcAft>
                <a:spcPts val="1000"/>
              </a:spcAft>
            </a:pPr>
            <a:r>
              <a:rPr sz="1500">
                <a:solidFill>
                  <a:srgbClr val="222B33"/>
                </a:solidFill>
                <a:latin typeface="Microsoft YaHei"/>
              </a:rPr>
              <a:t>▪ 实验服太短，遮不住大腿</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明火、自燃试剂和火花：穿阻燃服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普通棉质实验服着火会持续燃烧</a:t>
            </a:r>
          </a:p>
          <a:p>
            <a:pPr>
              <a:spcAft>
                <a:spcPts val="1000"/>
              </a:spcAft>
            </a:pPr>
            <a:r>
              <a:rPr sz="2000">
                <a:solidFill>
                  <a:srgbClr val="222B33"/>
                </a:solidFill>
                <a:latin typeface="Microsoft YaHei"/>
              </a:rPr>
              <a:t>▪ 阻燃服离开火源能自熄</a:t>
            </a:r>
          </a:p>
          <a:p>
            <a:pPr>
              <a:spcAft>
                <a:spcPts val="1000"/>
              </a:spcAft>
            </a:pPr>
            <a:r>
              <a:rPr sz="2000">
                <a:solidFill>
                  <a:srgbClr val="222B33"/>
                </a:solidFill>
                <a:latin typeface="Microsoft YaHei"/>
              </a:rPr>
              <a:t>▪ 用自燃试剂、明火或高能反应，穿阻燃服</a:t>
            </a:r>
          </a:p>
          <a:p>
            <a:pPr>
              <a:spcAft>
                <a:spcPts val="1000"/>
              </a:spcAft>
            </a:pPr>
            <a:r>
              <a:rPr sz="2000">
                <a:solidFill>
                  <a:srgbClr val="222B33"/>
                </a:solidFill>
                <a:latin typeface="Microsoft YaHei"/>
              </a:rPr>
              <a:t>▪ 焊接、切割有火花，穿阻燃工作服并扣好领口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棉质实验服不会熔化，但一旦着火仍会持续燃烧。阻燃实验服离开火源后能自行熄灭，为脱下、灭火争取时间。使用自燃试剂（如遇空气自燃的金属有机试剂）、大量易燃溶剂、明火或进行高能反应时，必须穿阻燃实验服。曾有研究人员处理自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穿普通实验服操作自燃试剂</a:t>
            </a:r>
          </a:p>
          <a:p>
            <a:pPr>
              <a:spcAft>
                <a:spcPts val="1000"/>
              </a:spcAft>
            </a:pPr>
            <a:r>
              <a:rPr sz="1500">
                <a:solidFill>
                  <a:srgbClr val="222B33"/>
                </a:solidFill>
                <a:latin typeface="Microsoft YaHei"/>
              </a:rPr>
              <a:t>▪ 焊接时穿化纤衣服、敞着领口</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扣子扣好，袖口塞进手套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实验服扣子全部扣好，敞着怀等于没穿</a:t>
            </a:r>
          </a:p>
          <a:p>
            <a:pPr>
              <a:spcAft>
                <a:spcPts val="1000"/>
              </a:spcAft>
            </a:pPr>
            <a:r>
              <a:rPr sz="2000">
                <a:solidFill>
                  <a:srgbClr val="222B33"/>
                </a:solidFill>
                <a:latin typeface="Microsoft YaHei"/>
              </a:rPr>
              <a:t>▪ 袖口尽量塞进手套里</a:t>
            </a:r>
          </a:p>
          <a:p>
            <a:pPr>
              <a:spcAft>
                <a:spcPts val="1000"/>
              </a:spcAft>
            </a:pPr>
            <a:r>
              <a:rPr sz="2000">
                <a:solidFill>
                  <a:srgbClr val="222B33"/>
                </a:solidFill>
                <a:latin typeface="Microsoft YaHei"/>
              </a:rPr>
              <a:t>▪ 袖子不卷起，手腕不外露</a:t>
            </a:r>
          </a:p>
          <a:p>
            <a:pPr>
              <a:spcAft>
                <a:spcPts val="1000"/>
              </a:spcAft>
            </a:pPr>
            <a:r>
              <a:rPr sz="2000">
                <a:solidFill>
                  <a:srgbClr val="222B33"/>
                </a:solidFill>
                <a:latin typeface="Microsoft YaHei"/>
              </a:rPr>
              <a:t>▪ 袖口不要松垮，免得勾倒器皿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敞开穿的实验服挡不住正面溅来的液体，等于没穿。穿实验服要把扣子从下到上全部扣好；袖口尽量塞进手套里（或手套口套住袖口），让手腕不外露。</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实验服敞着怀，或只扣一两颗扣子</a:t>
            </a:r>
          </a:p>
          <a:p>
            <a:pPr>
              <a:spcAft>
                <a:spcPts val="1000"/>
              </a:spcAft>
            </a:pPr>
            <a:r>
              <a:rPr sz="1500">
                <a:solidFill>
                  <a:srgbClr val="222B33"/>
                </a:solidFill>
                <a:latin typeface="Microsoft YaHei"/>
              </a:rPr>
              <a:t>▪ 嫌热把袖子卷到手肘</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有喷溅，加穿耐化学品围裙</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腐蚀品溅到皮肤会造成灼伤</a:t>
            </a:r>
          </a:p>
          <a:p>
            <a:pPr>
              <a:spcAft>
                <a:spcPts val="1000"/>
              </a:spcAft>
            </a:pPr>
            <a:r>
              <a:rPr sz="2000">
                <a:solidFill>
                  <a:srgbClr val="222B33"/>
                </a:solidFill>
                <a:latin typeface="Microsoft YaHei"/>
              </a:rPr>
              <a:t>▪ 飞溅风险大时，实验服外加耐化学品围裙</a:t>
            </a:r>
          </a:p>
          <a:p>
            <a:pPr>
              <a:spcAft>
                <a:spcPts val="1000"/>
              </a:spcAft>
            </a:pPr>
            <a:r>
              <a:rPr sz="2000">
                <a:solidFill>
                  <a:srgbClr val="222B33"/>
                </a:solidFill>
                <a:latin typeface="Microsoft YaHei"/>
              </a:rPr>
              <a:t>▪ 浓酸、易挥发或活泼溶液操作要加围裙</a:t>
            </a:r>
          </a:p>
          <a:p>
            <a:pPr>
              <a:spcAft>
                <a:spcPts val="1000"/>
              </a:spcAft>
            </a:pPr>
            <a:r>
              <a:rPr sz="2000">
                <a:solidFill>
                  <a:srgbClr val="222B33"/>
                </a:solidFill>
                <a:latin typeface="Microsoft YaHei"/>
              </a:rPr>
              <a:t>▪ 围裙溅上了，一解就能脱下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腐蚀品溅到皮肤上会造成化学灼伤，而实验服面料会被浸透。处理浓酸浓碱、易挥发或活泼的溶液，或者有较大喷溅风险时（如大量转移、稀释），要在实验服外面再加一条耐化学品围裙。</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大量转移浓酸时只穿普通实验服</a:t>
            </a:r>
          </a:p>
          <a:p>
            <a:pPr>
              <a:spcAft>
                <a:spcPts val="1000"/>
              </a:spcAft>
            </a:pPr>
            <a:r>
              <a:rPr sz="1500">
                <a:solidFill>
                  <a:srgbClr val="222B33"/>
                </a:solidFill>
                <a:latin typeface="Microsoft YaHei"/>
              </a:rPr>
              <a:t>▪ 用普通布围裙代替耐化学品围裙</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防护服按危害选，沾污就换</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挡飞溅的防护服要能防水</a:t>
            </a:r>
          </a:p>
          <a:p>
            <a:pPr>
              <a:spcAft>
                <a:spcPts val="1000"/>
              </a:spcAft>
            </a:pPr>
            <a:r>
              <a:rPr sz="2000">
                <a:solidFill>
                  <a:srgbClr val="222B33"/>
                </a:solidFill>
                <a:latin typeface="Microsoft YaHei"/>
              </a:rPr>
              <a:t>▪ 高温、化学品、近水作业，各有对应防护服</a:t>
            </a:r>
          </a:p>
          <a:p>
            <a:pPr>
              <a:spcAft>
                <a:spcPts val="1000"/>
              </a:spcAft>
            </a:pPr>
            <a:r>
              <a:rPr sz="2000">
                <a:solidFill>
                  <a:srgbClr val="222B33"/>
                </a:solidFill>
                <a:latin typeface="Microsoft YaHei"/>
              </a:rPr>
              <a:t>▪ 道路旁、光线暗处作业，穿反光衣</a:t>
            </a:r>
          </a:p>
          <a:p>
            <a:pPr>
              <a:spcAft>
                <a:spcPts val="1000"/>
              </a:spcAft>
            </a:pPr>
            <a:r>
              <a:rPr sz="2000">
                <a:solidFill>
                  <a:srgbClr val="222B33"/>
                </a:solidFill>
                <a:latin typeface="Microsoft YaHei"/>
              </a:rPr>
              <a:t>▪ 防护服沾污，立即放到指定地点，换干净的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实验服之外，有些工作需要专门的防护服：用于阻挡化学品飞溅的防护服要能防水（防液体渗透），才能真正挡住；高温作业、化学品作业、近水作业各有对应的防护服，按风险评估和 GB 39800.1-2020（以现行文本为准）的配……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用不防水的普通工作服挡化学品飞溅</a:t>
            </a:r>
          </a:p>
          <a:p>
            <a:pPr>
              <a:spcAft>
                <a:spcPts val="1000"/>
              </a:spcAft>
            </a:pPr>
            <a:r>
              <a:rPr sz="1500">
                <a:solidFill>
                  <a:srgbClr val="222B33"/>
                </a:solidFill>
                <a:latin typeface="Microsoft YaHei"/>
              </a:rPr>
              <a:t>▪ 防护服沾污了还继续穿</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实验服不出实验室，不带回家洗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不穿实验服去食堂、宿舍、办公室</a:t>
            </a:r>
          </a:p>
          <a:p>
            <a:pPr>
              <a:spcAft>
                <a:spcPts val="1000"/>
              </a:spcAft>
            </a:pPr>
            <a:r>
              <a:rPr sz="2000">
                <a:solidFill>
                  <a:srgbClr val="222B33"/>
                </a:solidFill>
                <a:latin typeface="Microsoft YaHei"/>
              </a:rPr>
              <a:t>▪ 实验服挂在实验室专区，不和便服混放</a:t>
            </a:r>
          </a:p>
          <a:p>
            <a:pPr>
              <a:spcAft>
                <a:spcPts val="1000"/>
              </a:spcAft>
            </a:pPr>
            <a:r>
              <a:rPr sz="2000">
                <a:solidFill>
                  <a:srgbClr val="222B33"/>
                </a:solidFill>
                <a:latin typeface="Microsoft YaHei"/>
              </a:rPr>
              <a:t>▪ 不带回家、不带回宿舍洗，由单位统一清洗</a:t>
            </a:r>
          </a:p>
          <a:p>
            <a:pPr>
              <a:spcAft>
                <a:spcPts val="1000"/>
              </a:spcAft>
            </a:pPr>
            <a:r>
              <a:rPr sz="2000">
                <a:solidFill>
                  <a:srgbClr val="222B33"/>
                </a:solidFill>
                <a:latin typeface="Microsoft YaHei"/>
              </a:rPr>
              <a:t>▪ 沾了菌液等污染，先消毒再统一清洗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实验服上可能沾有化学品和微生物，穿出实验室会把污染带到食堂、宿舍、办公室和会议室。离开实验区时脱下实验服，挂在实验室的专用区域，不和便服混放。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穿着实验服去食堂吃饭</a:t>
            </a:r>
          </a:p>
          <a:p>
            <a:pPr>
              <a:spcAft>
                <a:spcPts val="1000"/>
              </a:spcAft>
            </a:pPr>
            <a:r>
              <a:rPr sz="1500">
                <a:solidFill>
                  <a:srgbClr val="222B33"/>
                </a:solidFill>
                <a:latin typeface="Microsoft YaHei"/>
              </a:rPr>
              <a:t>▪ 把实验服带回宿舍和便服一起洗</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大量沾染，立即脱下冲洗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大量化学品泼到身上，立即脱下污染衣物</a:t>
            </a:r>
          </a:p>
          <a:p>
            <a:pPr>
              <a:spcAft>
                <a:spcPts val="1000"/>
              </a:spcAft>
            </a:pPr>
            <a:r>
              <a:rPr sz="2000">
                <a:solidFill>
                  <a:srgbClr val="222B33"/>
                </a:solidFill>
                <a:latin typeface="Microsoft YaHei"/>
              </a:rPr>
              <a:t>▪ 到紧急喷淋下持续冲洗</a:t>
            </a:r>
          </a:p>
          <a:p>
            <a:pPr>
              <a:spcAft>
                <a:spcPts val="1000"/>
              </a:spcAft>
            </a:pPr>
            <a:r>
              <a:rPr sz="2000">
                <a:solidFill>
                  <a:srgbClr val="222B33"/>
                </a:solidFill>
                <a:latin typeface="Microsoft YaHei"/>
              </a:rPr>
              <a:t>▪ 报告实验室负责人，及时就医</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大量化学品泼到实验服上时，面料会很快被浸透，化学品接触皮肤。要立即脱下被污染的实验服和衣物（不要从头上套脱，避免沾到脸和眼睛），到紧急喷淋下持续冲洗，冲洗时间按本校应急规定和化学品安全技术说明书执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怕难为情，不脱污染衣物就冲洗</a:t>
            </a:r>
          </a:p>
          <a:p>
            <a:pPr>
              <a:spcAft>
                <a:spcPts val="1000"/>
              </a:spcAft>
            </a:pPr>
            <a:r>
              <a:rPr sz="1500">
                <a:solidFill>
                  <a:srgbClr val="222B33"/>
                </a:solidFill>
                <a:latin typeface="Microsoft YaHei"/>
              </a:rPr>
              <a:t>▪ 擦一擦继续穿着被浸透的实验服</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使用自燃试剂进行实验时，应穿：</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化纤实验服</a:t>
            </a:r>
          </a:p>
          <a:p>
            <a:pPr algn="l"/>
            <a:r>
              <a:rPr sz="1500" b="0">
                <a:solidFill>
                  <a:srgbClr val="222B33"/>
                </a:solidFill>
                <a:latin typeface="Microsoft YaHei"/>
              </a:rPr>
              <a:t>B. 普通棉质实验服</a:t>
            </a:r>
          </a:p>
          <a:p>
            <a:pPr algn="l"/>
            <a:r>
              <a:rPr sz="1500" b="0">
                <a:solidFill>
                  <a:srgbClr val="222B33"/>
                </a:solidFill>
                <a:latin typeface="Microsoft YaHei"/>
              </a:rPr>
              <a:t>C. 阻燃实验服</a:t>
            </a:r>
          </a:p>
          <a:p>
            <a:pPr algn="l"/>
            <a:r>
              <a:rPr sz="1500" b="0">
                <a:solidFill>
                  <a:srgbClr val="222B33"/>
                </a:solidFill>
                <a:latin typeface="Microsoft YaHei"/>
              </a:rPr>
              <a:t>D. 不穿实验服</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判断：实验服可以带回宿舍和便服一起洗，比较方便。</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下列穿实验服的做法正确的是：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敞着怀穿</a:t>
            </a:r>
          </a:p>
          <a:p>
            <a:pPr algn="l"/>
            <a:r>
              <a:rPr sz="1500" b="0">
                <a:solidFill>
                  <a:srgbClr val="222B33"/>
                </a:solidFill>
                <a:latin typeface="Microsoft YaHei"/>
              </a:rPr>
              <a:t>B. 袖子卷到手肘</a:t>
            </a:r>
          </a:p>
          <a:p>
            <a:pPr algn="l"/>
            <a:r>
              <a:rPr sz="1500" b="0">
                <a:solidFill>
                  <a:srgbClr val="222B33"/>
                </a:solidFill>
                <a:latin typeface="Microsoft YaHei"/>
              </a:rPr>
              <a:t>C. 扣子全部扣好，袖口塞进手套</a:t>
            </a:r>
          </a:p>
          <a:p>
            <a:pPr algn="l"/>
            <a:r>
              <a:rPr sz="1500" b="0">
                <a:solidFill>
                  <a:srgbClr val="222B33"/>
                </a:solidFill>
                <a:latin typeface="Microsoft YaHei"/>
              </a:rPr>
              <a:t>D. 穿着去食堂</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处理浓酸且有较大喷溅风险时，除实验服、手套和护目镜外，还应加穿：</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耐化学品围裙</a:t>
            </a:r>
          </a:p>
          <a:p>
            <a:pPr algn="l"/>
            <a:r>
              <a:rPr sz="1500" b="0">
                <a:solidFill>
                  <a:srgbClr val="222B33"/>
                </a:solidFill>
                <a:latin typeface="Microsoft YaHei"/>
              </a:rPr>
              <a:t>B. 反光衣</a:t>
            </a:r>
          </a:p>
          <a:p>
            <a:pPr algn="l"/>
            <a:r>
              <a:rPr sz="1500" b="0">
                <a:solidFill>
                  <a:srgbClr val="222B33"/>
                </a:solidFill>
                <a:latin typeface="Microsoft YaHei"/>
              </a:rPr>
              <a:t>C. 化纤外套</a:t>
            </a:r>
          </a:p>
          <a:p>
            <a:pPr algn="l"/>
            <a:r>
              <a:rPr sz="1500" b="0">
                <a:solidFill>
                  <a:srgbClr val="222B33"/>
                </a:solidFill>
                <a:latin typeface="Microsoft YaHei"/>
              </a:rPr>
              <a:t>D. 棉布围巾</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024 · 实验服与防护服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024 实验服与防护服</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判断：大量化学品泼到实验服上，应立即脱下污染衣物，到紧急喷淋下冲洗并报告。</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K1  实验服是防护用品，进门就穿</a:t>
            </a:r>
          </a:p>
          <a:p>
            <a:pPr>
              <a:spcAft>
                <a:spcPts val="800"/>
              </a:spcAft>
            </a:pPr>
            <a:r>
              <a:rPr sz="1800">
                <a:solidFill>
                  <a:srgbClr val="FFFFFF"/>
                </a:solidFill>
                <a:latin typeface="Microsoft YaHei"/>
              </a:rPr>
              <a:t>▪ K2  实验服选棉质或阻燃材质</a:t>
            </a:r>
          </a:p>
          <a:p>
            <a:pPr>
              <a:spcAft>
                <a:spcPts val="800"/>
              </a:spcAft>
            </a:pPr>
            <a:r>
              <a:rPr sz="1800">
                <a:solidFill>
                  <a:srgbClr val="FFFFFF"/>
                </a:solidFill>
                <a:latin typeface="Microsoft YaHei"/>
              </a:rPr>
              <a:t>▪ K3  明火、自燃试剂和火花：穿阻燃服</a:t>
            </a:r>
          </a:p>
          <a:p>
            <a:pPr>
              <a:spcAft>
                <a:spcPts val="800"/>
              </a:spcAft>
            </a:pPr>
            <a:r>
              <a:rPr sz="1800">
                <a:solidFill>
                  <a:srgbClr val="FFFFFF"/>
                </a:solidFill>
                <a:latin typeface="Microsoft YaHei"/>
              </a:rPr>
              <a:t>▪ K4  扣子扣好，袖口塞进手套</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K5  有喷溅，加穿耐化学品围裙</a:t>
            </a:r>
          </a:p>
          <a:p>
            <a:pPr>
              <a:spcAft>
                <a:spcPts val="800"/>
              </a:spcAft>
            </a:pPr>
            <a:r>
              <a:rPr sz="1800">
                <a:solidFill>
                  <a:srgbClr val="FFFFFF"/>
                </a:solidFill>
                <a:latin typeface="Microsoft YaHei"/>
              </a:rPr>
              <a:t>▪ K6  防护服按危害选，沾污就换</a:t>
            </a:r>
          </a:p>
          <a:p>
            <a:pPr>
              <a:spcAft>
                <a:spcPts val="800"/>
              </a:spcAft>
            </a:pPr>
            <a:r>
              <a:rPr sz="1800">
                <a:solidFill>
                  <a:srgbClr val="FFFFFF"/>
                </a:solidFill>
                <a:latin typeface="Microsoft YaHei"/>
              </a:rPr>
              <a:t>▪ K7  实验服不出实验室，不带回家洗</a:t>
            </a:r>
          </a:p>
          <a:p>
            <a:pPr>
              <a:spcAft>
                <a:spcPts val="800"/>
              </a:spcAft>
            </a:pPr>
            <a:r>
              <a:rPr sz="1800">
                <a:solidFill>
                  <a:srgbClr val="FFFFFF"/>
                </a:solidFill>
                <a:latin typeface="Microsoft YaHei"/>
              </a:rPr>
              <a:t>▪ S1  大量沾染，立即脱下冲洗</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025</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呼吸防护</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第3章 通用安全与个人防护</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5.5 分钟（卡通视频 66 镜）　适用对象：全体进入高校实验室的本科生、研究生和教职工（必修）；需要使用呼吸防护用品的化学、生物、材料、焊接与工程实训人员重点学习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能说出呼吸防护是最后一道防线，有挥发性、粉尘性操作首先用通风柜等工程控制。</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能判断防颗粒物与防毒滤材、过滤式与供气式呼吸器的区别，知道缺氧或高浓度场所过滤式不管用。</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能做到使用前经过培训、医学评估和适合性检验，每次佩戴做密合检查，按时更换滤材。</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能做到动力送风呼吸器的用前检查、用后去污充电登记，送风异常时按程序退出。</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18664-2025（以现行文本为准）《呼吸防护装备的选择、使用和维护》：呼吸防护用品的选择、适合性检验、使用和维护</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2626-2019（以现行文本为准）《呼吸防护 自吸过滤式防颗粒物呼吸器》</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2890-2022（以现行文本为准）《呼吸防护 自吸过滤式防毒面具》</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30864-2014（以现行文本为准）《呼吸防护 动力送风过滤式呼吸器》</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8958-2006（以现行文本为准）《缺氧危险作业安全规程》：缺氧场所的呼吸防护</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《中华人民共和国安全生产法》（以现行文本为准）：提供并正确佩戴使用符合国家标准的劳动防护用品，开展安全培训</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号，以现行文本为准）：实验人员按实验风险佩戴防护用品</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本校实验室安全管理制度、呼吸防护管理规定和职业健康管理规定（以本校规定为准）</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空气被污染，就要护呼吸</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空气中可能有粉尘、有害气体、蒸气和病原</a:t>
            </a:r>
          </a:p>
          <a:p>
            <a:pPr>
              <a:spcAft>
                <a:spcPts val="1000"/>
              </a:spcAft>
            </a:pPr>
            <a:r>
              <a:rPr sz="2000">
                <a:solidFill>
                  <a:srgbClr val="222B33"/>
                </a:solidFill>
                <a:latin typeface="Microsoft YaHei"/>
              </a:rPr>
              <a:t>▪ 细粉尘能深入肺部，进入血液</a:t>
            </a:r>
          </a:p>
          <a:p>
            <a:pPr>
              <a:spcAft>
                <a:spcPts val="1000"/>
              </a:spcAft>
            </a:pPr>
            <a:r>
              <a:rPr sz="2000">
                <a:solidFill>
                  <a:srgbClr val="222B33"/>
                </a:solidFill>
                <a:latin typeface="Microsoft YaHei"/>
              </a:rPr>
              <a:t>▪ 空气被污染时，需要呼吸防护</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实验室空气中可能混有粉尘、烟尘、有害气体、化学蒸气，以及生物实验中的病原气溶胶。它们经呼吸道进入人体，细小的粉尘能深入肺部，甚至进入血液循环（粉尘与纳米材料见第 151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以为看不见、闻不到就没有危害</a:t>
            </a:r>
          </a:p>
          <a:p>
            <a:pPr>
              <a:spcAft>
                <a:spcPts val="1000"/>
              </a:spcAft>
            </a:pPr>
            <a:r>
              <a:rPr sz="1500">
                <a:solidFill>
                  <a:srgbClr val="222B33"/>
                </a:solidFill>
                <a:latin typeface="Microsoft YaHei"/>
              </a:rPr>
              <a:t>▪ 粉尘多的操作不做任何呼吸防护</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先靠通风柜，口罩不能代替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呼吸防护用品是最后一道防线</a:t>
            </a:r>
          </a:p>
          <a:p>
            <a:pPr>
              <a:spcAft>
                <a:spcPts val="1000"/>
              </a:spcAft>
            </a:pPr>
            <a:r>
              <a:rPr sz="2000">
                <a:solidFill>
                  <a:srgbClr val="222B33"/>
                </a:solidFill>
                <a:latin typeface="Microsoft YaHei"/>
              </a:rPr>
              <a:t>▪ 有挥发性试剂，首先放进通风柜里操作</a:t>
            </a:r>
          </a:p>
          <a:p>
            <a:pPr>
              <a:spcAft>
                <a:spcPts val="1000"/>
              </a:spcAft>
            </a:pPr>
            <a:r>
              <a:rPr sz="2000">
                <a:solidFill>
                  <a:srgbClr val="222B33"/>
                </a:solidFill>
                <a:latin typeface="Microsoft YaHei"/>
              </a:rPr>
              <a:t>▪ 普通口罩挡不住化学蒸气</a:t>
            </a:r>
          </a:p>
          <a:p>
            <a:pPr>
              <a:spcAft>
                <a:spcPts val="1000"/>
              </a:spcAft>
            </a:pPr>
            <a:r>
              <a:rPr sz="2000">
                <a:solidFill>
                  <a:srgbClr val="222B33"/>
                </a:solidFill>
                <a:latin typeface="Microsoft YaHei"/>
              </a:rPr>
              <a:t>▪ 能用通风柜的，口罩不能代替通风柜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按控制层级（第 017 课），应先消除、替代，再用通风柜等工程控制，呼吸防护用品是最后一道防线。防有害气体和蒸气首选通风柜（第 051、052 课）：挥发性试剂、产生粉尘的称量和转移，首先放进通风柜或其他局部排风设施……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戴个口罩就在台面上操作挥发性试剂</a:t>
            </a:r>
          </a:p>
          <a:p>
            <a:pPr>
              <a:spcAft>
                <a:spcPts val="1000"/>
              </a:spcAft>
            </a:pPr>
            <a:r>
              <a:rPr sz="1500">
                <a:solidFill>
                  <a:srgbClr val="222B33"/>
                </a:solidFill>
                <a:latin typeface="Microsoft YaHei"/>
              </a:rPr>
              <a:t>▪ 以为戴了口罩就不用开通风柜</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按危害选：防颗粒物还是防毒</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粉尘、烟尘、颗粒，用防颗粒物呼吸器</a:t>
            </a:r>
          </a:p>
          <a:p>
            <a:pPr>
              <a:spcAft>
                <a:spcPts val="1000"/>
              </a:spcAft>
            </a:pPr>
            <a:r>
              <a:rPr sz="2000">
                <a:solidFill>
                  <a:srgbClr val="222B33"/>
                </a:solidFill>
                <a:latin typeface="Microsoft YaHei"/>
              </a:rPr>
              <a:t>▪ 化学蒸气、气体，用对应的防毒滤毒罐</a:t>
            </a:r>
          </a:p>
          <a:p>
            <a:pPr>
              <a:spcAft>
                <a:spcPts val="1000"/>
              </a:spcAft>
            </a:pPr>
            <a:r>
              <a:rPr sz="2000">
                <a:solidFill>
                  <a:srgbClr val="222B33"/>
                </a:solidFill>
                <a:latin typeface="Microsoft YaHei"/>
              </a:rPr>
              <a:t>▪ 防尘口罩挡不住溶剂蒸气</a:t>
            </a:r>
          </a:p>
          <a:p>
            <a:pPr>
              <a:spcAft>
                <a:spcPts val="1000"/>
              </a:spcAft>
            </a:pPr>
            <a:r>
              <a:rPr sz="2000">
                <a:solidFill>
                  <a:srgbClr val="222B33"/>
                </a:solidFill>
                <a:latin typeface="Microsoft YaHei"/>
              </a:rPr>
              <a:t>▪ 看清适用范围：有的不防油性颗粒、不耐液体</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自吸过滤式呼吸器的滤材分两类：防颗粒物滤材拦截粉尘、烟尘、雾和生物气溶胶（如焊接烟尘要选合格的防颗粒物呼吸器，普通口罩挡不住）；防毒滤毒罐（盒）靠吸附剂去除特定的气体和蒸气，要按气体种类选择对应类型。普通口罩够不够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用防尘口罩防有机溶剂蒸气</a:t>
            </a:r>
          </a:p>
          <a:p>
            <a:pPr>
              <a:spcAft>
                <a:spcPts val="1000"/>
              </a:spcAft>
            </a:pPr>
            <a:r>
              <a:rPr sz="1500">
                <a:solidFill>
                  <a:srgbClr val="222B33"/>
                </a:solidFill>
                <a:latin typeface="Microsoft YaHei"/>
              </a:rPr>
              <a:t>▪ 随便拿一个滤毒罐，不看适用气体</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过滤式与供气式：缺氧用供气式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过滤式：把周围空气滤干净再吸</a:t>
            </a:r>
          </a:p>
          <a:p>
            <a:pPr>
              <a:spcAft>
                <a:spcPts val="1000"/>
              </a:spcAft>
            </a:pPr>
            <a:r>
              <a:rPr sz="2000">
                <a:solidFill>
                  <a:srgbClr val="222B33"/>
                </a:solidFill>
                <a:latin typeface="Microsoft YaHei"/>
              </a:rPr>
              <a:t>▪ 供气式：由独立气源送来清洁空气</a:t>
            </a:r>
          </a:p>
          <a:p>
            <a:pPr>
              <a:spcAft>
                <a:spcPts val="1000"/>
              </a:spcAft>
            </a:pPr>
            <a:r>
              <a:rPr sz="2000">
                <a:solidFill>
                  <a:srgbClr val="222B33"/>
                </a:solidFill>
                <a:latin typeface="Microsoft YaHei"/>
              </a:rPr>
              <a:t>▪ 缺氧或浓度极高，过滤式不管用</a:t>
            </a:r>
          </a:p>
          <a:p>
            <a:pPr>
              <a:spcAft>
                <a:spcPts val="1000"/>
              </a:spcAft>
            </a:pPr>
            <a:r>
              <a:rPr sz="2000">
                <a:solidFill>
                  <a:srgbClr val="222B33"/>
                </a:solidFill>
                <a:latin typeface="Microsoft YaHei"/>
              </a:rPr>
              <a:t>▪ 自给式空气呼吸器只用于极端情况，须培训</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呼吸器分两大类：过滤式（把周围空气中的污染物滤掉后再吸入，实验室最常用）和供气式（隔绝式，由独立气源供给清洁空气）。过滤式不能产生氧气，也有过滤容量限制：在缺氧环境、毒物浓度极高或浓度不明时，过滤式不管用，必须使用供……</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进入缺氧场所戴过滤式防毒面具</a:t>
            </a:r>
          </a:p>
          <a:p>
            <a:pPr>
              <a:spcAft>
                <a:spcPts val="1000"/>
              </a:spcAft>
            </a:pPr>
            <a:r>
              <a:rPr sz="1500">
                <a:solidFill>
                  <a:srgbClr val="222B33"/>
                </a:solidFill>
                <a:latin typeface="Microsoft YaHei"/>
              </a:rPr>
              <a:t>▪ 没受过训练就去戴空气呼吸器救人</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空气呼吸器：会用才用，留足余量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用前查气瓶压力、报警哨、面罩和背带</a:t>
            </a:r>
          </a:p>
          <a:p>
            <a:pPr>
              <a:spcAft>
                <a:spcPts val="1000"/>
              </a:spcAft>
            </a:pPr>
            <a:r>
              <a:rPr sz="2000">
                <a:solidFill>
                  <a:srgbClr val="222B33"/>
                </a:solidFill>
                <a:latin typeface="Microsoft YaHei"/>
              </a:rPr>
              <a:t>▪ 戴上后检查面罩密合，不漏气</a:t>
            </a:r>
          </a:p>
          <a:p>
            <a:pPr>
              <a:spcAft>
                <a:spcPts val="1000"/>
              </a:spcAft>
            </a:pPr>
            <a:r>
              <a:rPr sz="2000">
                <a:solidFill>
                  <a:srgbClr val="222B33"/>
                </a:solidFill>
                <a:latin typeface="Microsoft YaHei"/>
              </a:rPr>
              <a:t>▪ 干活越累耗气越快，留足撤离余量</a:t>
            </a:r>
          </a:p>
          <a:p>
            <a:pPr>
              <a:spcAft>
                <a:spcPts val="1000"/>
              </a:spcAft>
            </a:pPr>
            <a:r>
              <a:rPr sz="2000">
                <a:solidFill>
                  <a:srgbClr val="222B33"/>
                </a:solidFill>
                <a:latin typeface="Microsoft YaHei"/>
              </a:rPr>
              <a:t>▪ 报警一响就撤，定期培训演练</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自给式空气呼吸器的气瓶装的是压缩空气（不是纯氧）。用前检查气瓶压力是否充足、报警哨是否正常、面罩和背带是否完好；戴上后检查面罩密合，确认不漏气。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不查气瓶压力就背上进入</a:t>
            </a:r>
          </a:p>
          <a:p>
            <a:pPr>
              <a:spcAft>
                <a:spcPts val="1000"/>
              </a:spcAft>
            </a:pPr>
            <a:r>
              <a:rPr sz="1500">
                <a:solidFill>
                  <a:srgbClr val="222B33"/>
                </a:solidFill>
                <a:latin typeface="Microsoft YaHei"/>
              </a:rPr>
              <a:t>▪ 报警响了还想把活干完</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呼吸防护要成体系，先培训</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呼吸防护不是发个口罩就完事</a:t>
            </a:r>
          </a:p>
          <a:p>
            <a:pPr>
              <a:spcAft>
                <a:spcPts val="1000"/>
              </a:spcAft>
            </a:pPr>
            <a:r>
              <a:rPr sz="2000">
                <a:solidFill>
                  <a:srgbClr val="222B33"/>
                </a:solidFill>
                <a:latin typeface="Microsoft YaHei"/>
              </a:rPr>
              <a:t>▪ 要不要戴，先问实验室负责人</a:t>
            </a:r>
          </a:p>
          <a:p>
            <a:pPr>
              <a:spcAft>
                <a:spcPts val="1000"/>
              </a:spcAft>
            </a:pPr>
            <a:r>
              <a:rPr sz="2000">
                <a:solidFill>
                  <a:srgbClr val="222B33"/>
                </a:solidFill>
                <a:latin typeface="Microsoft YaHei"/>
              </a:rPr>
              <a:t>▪ 使用前先培训，并由医生做医学评估</a:t>
            </a:r>
          </a:p>
          <a:p>
            <a:pPr>
              <a:spcAft>
                <a:spcPts val="1000"/>
              </a:spcAft>
            </a:pPr>
            <a:r>
              <a:rPr sz="2000">
                <a:solidFill>
                  <a:srgbClr val="222B33"/>
                </a:solidFill>
                <a:latin typeface="Microsoft YaHei"/>
              </a:rPr>
              <a:t>▪ 戴着更累，控制佩戴时间，轮换休息</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呼吸防护是一套管理体系：风险评估确定是否需要、选什么类型；医学评估确认身体能否承受；适合性检验确认面罩合适（K7）；培训学会选型、佩戴、检查和维护，环环相扣。要不要戴呼吸器，先问实验室负责人；需要时向负责人或老师申请……</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没有培训，自己找个面罩就戴</a:t>
            </a:r>
          </a:p>
          <a:p>
            <a:pPr>
              <a:spcAft>
                <a:spcPts val="1000"/>
              </a:spcAft>
            </a:pPr>
            <a:r>
              <a:rPr sz="1500">
                <a:solidFill>
                  <a:srgbClr val="222B33"/>
                </a:solidFill>
                <a:latin typeface="Microsoft YaHei"/>
              </a:rPr>
              <a:t>▪ 身体不适仍坚持长时间佩戴</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适合性检验：上岗前测，面部变化重测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紧密型面罩用前要做适合性检验</a:t>
            </a:r>
          </a:p>
          <a:p>
            <a:pPr>
              <a:spcAft>
                <a:spcPts val="1000"/>
              </a:spcAft>
            </a:pPr>
            <a:r>
              <a:rPr sz="2000">
                <a:solidFill>
                  <a:srgbClr val="222B33"/>
                </a:solidFill>
                <a:latin typeface="Microsoft YaHei"/>
              </a:rPr>
              <a:t>▪ 头罩里喷有味雾，闻不到、尝不到才合格</a:t>
            </a:r>
          </a:p>
          <a:p>
            <a:pPr>
              <a:spcAft>
                <a:spcPts val="1000"/>
              </a:spcAft>
            </a:pPr>
            <a:r>
              <a:rPr sz="2000">
                <a:solidFill>
                  <a:srgbClr val="222B33"/>
                </a:solidFill>
                <a:latin typeface="Microsoft YaHei"/>
              </a:rPr>
              <a:t>▪ 首次使用前做，之后定期复检</a:t>
            </a:r>
          </a:p>
          <a:p>
            <a:pPr>
              <a:spcAft>
                <a:spcPts val="1000"/>
              </a:spcAft>
            </a:pPr>
            <a:r>
              <a:rPr sz="2000">
                <a:solidFill>
                  <a:srgbClr val="222B33"/>
                </a:solidFill>
                <a:latin typeface="Microsoft YaHei"/>
              </a:rPr>
              <a:t>▪ 蓄须、胖瘦变化等面部变化，要重新检验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个人的脸型不同，同一款面罩不一定适合所有人。紧密型面罩（半面罩、全面罩、防颗粒物口罩）在首次使用前要做适合性检验：例如定性检验时戴上面罩坐在测试头罩下，向里面喷有味道的测试雾，闻不到、尝不到才算合适。上岗前就要测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借用别人测过的面罩，自己不做检验</a:t>
            </a:r>
          </a:p>
          <a:p>
            <a:pPr>
              <a:spcAft>
                <a:spcPts val="1000"/>
              </a:spcAft>
            </a:pPr>
            <a:r>
              <a:rPr sz="1500">
                <a:solidFill>
                  <a:srgbClr val="222B33"/>
                </a:solidFill>
                <a:latin typeface="Microsoft YaHei"/>
              </a:rPr>
              <a:t>▪ 留了胡子还戴原来的紧密型面罩</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每次佩戴，检查密合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戴不严，等于没戴</a:t>
            </a:r>
          </a:p>
          <a:p>
            <a:pPr>
              <a:spcAft>
                <a:spcPts val="1000"/>
              </a:spcAft>
            </a:pPr>
            <a:r>
              <a:rPr sz="2000">
                <a:solidFill>
                  <a:srgbClr val="222B33"/>
                </a:solidFill>
                <a:latin typeface="Microsoft YaHei"/>
              </a:rPr>
              <a:t>▪ 戴好后按压鼻夹，贴合鼻梁</a:t>
            </a:r>
          </a:p>
          <a:p>
            <a:pPr>
              <a:spcAft>
                <a:spcPts val="1000"/>
              </a:spcAft>
            </a:pPr>
            <a:r>
              <a:rPr sz="2000">
                <a:solidFill>
                  <a:srgbClr val="222B33"/>
                </a:solidFill>
                <a:latin typeface="Microsoft YaHei"/>
              </a:rPr>
              <a:t>▪ 双手捂住，用力呼气吸气，检查漏气</a:t>
            </a:r>
          </a:p>
          <a:p>
            <a:pPr>
              <a:spcAft>
                <a:spcPts val="1000"/>
              </a:spcAft>
            </a:pPr>
            <a:r>
              <a:rPr sz="2000">
                <a:solidFill>
                  <a:srgbClr val="222B33"/>
                </a:solidFill>
                <a:latin typeface="Microsoft YaHei"/>
              </a:rPr>
              <a:t>▪ 边缘漏气就调整，查好了再进入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适合性检验合格，不等于每次都戴得严。每次戴上紧密型呼吸器或防护口罩，都要做佩戴密合检查：调好头带，用双手手指沿鼻梁按压鼻夹使其贴合；双手捂住口罩（或堵住进气口、呼气阀），用力呼气、吸气，感觉边缘有没有漏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戴上就走，不做密合检查</a:t>
            </a:r>
          </a:p>
          <a:p>
            <a:pPr>
              <a:spcAft>
                <a:spcPts val="1000"/>
              </a:spcAft>
            </a:pPr>
            <a:r>
              <a:rPr sz="1500">
                <a:solidFill>
                  <a:srgbClr val="222B33"/>
                </a:solidFill>
                <a:latin typeface="Microsoft YaHei"/>
              </a:rPr>
              <a:t>▪ 鼻夹不按压，鼻梁两侧留缝</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自愿戴口罩，也要管理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自愿使用防尘口罩，也要先讲清使用须知</a:t>
            </a:r>
          </a:p>
          <a:p>
            <a:pPr>
              <a:spcAft>
                <a:spcPts val="1000"/>
              </a:spcAft>
            </a:pPr>
            <a:r>
              <a:rPr sz="2000">
                <a:solidFill>
                  <a:srgbClr val="222B33"/>
                </a:solidFill>
                <a:latin typeface="Microsoft YaHei"/>
              </a:rPr>
              <a:t>▪ 别让口罩妨碍视线和操作</a:t>
            </a:r>
          </a:p>
          <a:p>
            <a:pPr>
              <a:spcAft>
                <a:spcPts val="1000"/>
              </a:spcAft>
            </a:pPr>
            <a:r>
              <a:rPr sz="2000">
                <a:solidFill>
                  <a:srgbClr val="222B33"/>
                </a:solidFill>
                <a:latin typeface="Microsoft YaHei"/>
              </a:rPr>
              <a:t>▪ 别让脏口罩变成污染源</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即使不是工作必需，有的同学也想自己戴个防尘口罩。自愿使用也要纳入管理：先告诉实验室负责人，了解使用须知，确认它不会带来新的危害。</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把用过的口罩挂在下巴或脖子上</a:t>
            </a:r>
          </a:p>
          <a:p>
            <a:pPr>
              <a:spcAft>
                <a:spcPts val="1000"/>
              </a:spcAft>
            </a:pPr>
            <a:r>
              <a:rPr sz="1500">
                <a:solidFill>
                  <a:srgbClr val="222B33"/>
                </a:solidFill>
                <a:latin typeface="Microsoft YaHei"/>
              </a:rPr>
              <a:t>▪ 以为自己戴了口罩就可以不开通风柜</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动力送风呼吸器怎样工作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一整套：头盔、滤器、披肩头罩、电池、腰带</a:t>
            </a:r>
          </a:p>
          <a:p>
            <a:pPr>
              <a:spcAft>
                <a:spcPts val="1000"/>
              </a:spcAft>
            </a:pPr>
            <a:r>
              <a:rPr sz="2000">
                <a:solidFill>
                  <a:srgbClr val="222B33"/>
                </a:solidFill>
                <a:latin typeface="Microsoft YaHei"/>
              </a:rPr>
              <a:t>▪ 侧面进风，过滤后由风机吹向脸部</a:t>
            </a:r>
          </a:p>
          <a:p>
            <a:pPr>
              <a:spcAft>
                <a:spcPts val="1000"/>
              </a:spcAft>
            </a:pPr>
            <a:r>
              <a:rPr sz="2000">
                <a:solidFill>
                  <a:srgbClr val="222B33"/>
                </a:solidFill>
                <a:latin typeface="Microsoft YaHei"/>
              </a:rPr>
              <a:t>▪ 罩内正压，向外的气流挡住污染空气</a:t>
            </a:r>
          </a:p>
          <a:p>
            <a:pPr>
              <a:spcAft>
                <a:spcPts val="1000"/>
              </a:spcAft>
            </a:pPr>
            <a:r>
              <a:rPr sz="2000">
                <a:solidFill>
                  <a:srgbClr val="222B33"/>
                </a:solidFill>
                <a:latin typeface="Microsoft YaHei"/>
              </a:rPr>
              <a:t>▪ 宽松头罩不贴脸，培训合格、按评估选用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动力送风过滤式呼吸器由头盔（内装过滤器）、可更换的披肩头罩、风机、电池和腰带组成。空气从一侧吸入，经过滤器过滤，风机再把清洁空气吹向脸部；头罩内保持正压，气流从下摆不断向外流出，形成气幕，把外面的污染空气挡在外面，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以为送风呼吸器不用培训，戴上就行</a:t>
            </a:r>
          </a:p>
          <a:p>
            <a:pPr>
              <a:spcAft>
                <a:spcPts val="1000"/>
              </a:spcAft>
            </a:pPr>
            <a:r>
              <a:rPr sz="1500">
                <a:solidFill>
                  <a:srgbClr val="222B33"/>
                </a:solidFill>
                <a:latin typeface="Microsoft YaHei"/>
              </a:rPr>
              <a:t>▪ 头罩披肩没有盖好头颈</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送风呼吸器用前检查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实验前电池充满，牢牢挂在腰带上</a:t>
            </a:r>
          </a:p>
          <a:p>
            <a:pPr>
              <a:spcAft>
                <a:spcPts val="1000"/>
              </a:spcAft>
            </a:pPr>
            <a:r>
              <a:rPr sz="2000">
                <a:solidFill>
                  <a:srgbClr val="222B33"/>
                </a:solidFill>
                <a:latin typeface="Microsoft YaHei"/>
              </a:rPr>
              <a:t>▪ 查滤器型号和有效期，查连接管和头罩破损</a:t>
            </a:r>
          </a:p>
          <a:p>
            <a:pPr>
              <a:spcAft>
                <a:spcPts val="1000"/>
              </a:spcAft>
            </a:pPr>
            <a:r>
              <a:rPr sz="2000">
                <a:solidFill>
                  <a:srgbClr val="222B33"/>
                </a:solidFill>
                <a:latin typeface="Microsoft YaHei"/>
              </a:rPr>
              <a:t>▪ 开机看指示灯，测送风量</a:t>
            </a:r>
          </a:p>
          <a:p>
            <a:pPr>
              <a:spcAft>
                <a:spcPts val="1000"/>
              </a:spcAft>
            </a:pPr>
            <a:r>
              <a:rPr sz="2000">
                <a:solidFill>
                  <a:srgbClr val="222B33"/>
                </a:solidFill>
                <a:latin typeface="Microsoft YaHei"/>
              </a:rPr>
              <a:t>▪ 续航不够就别进去，一项不合格就停用报修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每次使用前：①电池充满电，牢牢装在腰带上；②检查过滤器型号对不对、有没有过期；③检查连接线、管路和头罩有没有破损；④开机看指示灯是否全亮，测一测送风量够不够。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电池没充满就进入实验</a:t>
            </a:r>
          </a:p>
          <a:p>
            <a:pPr>
              <a:spcAft>
                <a:spcPts val="1000"/>
              </a:spcAft>
            </a:pPr>
            <a:r>
              <a:rPr sz="1500">
                <a:solidFill>
                  <a:srgbClr val="222B33"/>
                </a:solidFill>
                <a:latin typeface="Microsoft YaHei"/>
              </a:rPr>
              <a:t>▪ 不看滤器型号和有效期</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用后去污、充电、登记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用完给头盔表面去污，用推荐消毒剂擦</a:t>
            </a:r>
          </a:p>
          <a:p>
            <a:pPr>
              <a:spcAft>
                <a:spcPts val="1000"/>
              </a:spcAft>
            </a:pPr>
            <a:r>
              <a:rPr sz="2000">
                <a:solidFill>
                  <a:srgbClr val="222B33"/>
                </a:solidFill>
                <a:latin typeface="Microsoft YaHei"/>
              </a:rPr>
              <a:t>▪ 滤器风机别进水，不泡不冲，接口盖好</a:t>
            </a:r>
          </a:p>
          <a:p>
            <a:pPr>
              <a:spcAft>
                <a:spcPts val="1000"/>
              </a:spcAft>
            </a:pPr>
            <a:r>
              <a:rPr sz="2000">
                <a:solidFill>
                  <a:srgbClr val="222B33"/>
                </a:solidFill>
                <a:latin typeface="Microsoft YaHei"/>
              </a:rPr>
              <a:t>▪ 披肩沾了溢洒就换新的</a:t>
            </a:r>
          </a:p>
          <a:p>
            <a:pPr>
              <a:spcAft>
                <a:spcPts val="1000"/>
              </a:spcAft>
            </a:pPr>
            <a:r>
              <a:rPr sz="2000">
                <a:solidFill>
                  <a:srgbClr val="222B33"/>
                </a:solidFill>
                <a:latin typeface="Microsoft YaHei"/>
              </a:rPr>
              <a:t>▪ 用完马上充电，签好使用记录</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每次用完，用推荐的消毒剂按说明擦拭头盔表面去污。擦的时候滤器和风机不能进水，不能浸泡、冲洗，接口盖好，电池单独擦拭。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把滤器或风机放在水下冲洗</a:t>
            </a:r>
          </a:p>
          <a:p>
            <a:pPr>
              <a:spcAft>
                <a:spcPts val="1000"/>
              </a:spcAft>
            </a:pPr>
            <a:r>
              <a:rPr sz="1500">
                <a:solidFill>
                  <a:srgbClr val="222B33"/>
                </a:solidFill>
                <a:latin typeface="Microsoft YaHei"/>
              </a:rPr>
              <a:t>▪ 用完不充电，下次没电才发现</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送风异常，按程序退出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报警或风变小，先停手，盖好样品</a:t>
            </a:r>
          </a:p>
          <a:p>
            <a:pPr>
              <a:spcAft>
                <a:spcPts val="1000"/>
              </a:spcAft>
            </a:pPr>
            <a:r>
              <a:rPr sz="2000">
                <a:solidFill>
                  <a:srgbClr val="222B33"/>
                </a:solidFill>
                <a:latin typeface="Microsoft YaHei"/>
              </a:rPr>
              <a:t>▪ 别在污染区摘头罩，按程序退出再摘</a:t>
            </a:r>
          </a:p>
          <a:p>
            <a:pPr>
              <a:spcAft>
                <a:spcPts val="1000"/>
              </a:spcAft>
            </a:pPr>
            <a:r>
              <a:rPr sz="2000">
                <a:solidFill>
                  <a:srgbClr val="222B33"/>
                </a:solidFill>
                <a:latin typeface="Microsoft YaHei"/>
              </a:rPr>
              <a:t>▪ 风声大听不清，事先约好手势</a:t>
            </a:r>
          </a:p>
          <a:p>
            <a:pPr>
              <a:spcAft>
                <a:spcPts val="1000"/>
              </a:spcAft>
            </a:pPr>
            <a:r>
              <a:rPr sz="2000">
                <a:solidFill>
                  <a:srgbClr val="222B33"/>
                </a:solidFill>
                <a:latin typeface="Microsoft YaHei"/>
              </a:rPr>
              <a:t>▪ 报告负责人，设备送检</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使用中如果报警响起或送风变小，先停止操作，盖好样品、容器，然后按程序退出工作区域，到指定区域再摘头罩，不能在污染区直接摘下。退出后报告实验室负责人，设备送检，查明原因前不得再用。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送风异常时在工作区里直接摘下头罩</a:t>
            </a:r>
          </a:p>
          <a:p>
            <a:pPr>
              <a:spcAft>
                <a:spcPts val="1000"/>
              </a:spcAft>
            </a:pPr>
            <a:r>
              <a:rPr sz="1500">
                <a:solidFill>
                  <a:srgbClr val="222B33"/>
                </a:solidFill>
                <a:latin typeface="Microsoft YaHei"/>
              </a:rPr>
              <a:t>▪ 没约好手势，出了状况沟通不了</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滤材按时换，面罩清洁存放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滤材按说明书和本校规定按时更换</a:t>
            </a:r>
          </a:p>
          <a:p>
            <a:pPr>
              <a:spcAft>
                <a:spcPts val="1000"/>
              </a:spcAft>
            </a:pPr>
            <a:r>
              <a:rPr sz="2000">
                <a:solidFill>
                  <a:srgbClr val="222B33"/>
                </a:solidFill>
                <a:latin typeface="Microsoft YaHei"/>
              </a:rPr>
              <a:t>▪ 闻到异味、呼吸阻力变大，立即离开更换</a:t>
            </a:r>
          </a:p>
          <a:p>
            <a:pPr>
              <a:spcAft>
                <a:spcPts val="1000"/>
              </a:spcAft>
            </a:pPr>
            <a:r>
              <a:rPr sz="2000">
                <a:solidFill>
                  <a:srgbClr val="222B33"/>
                </a:solidFill>
                <a:latin typeface="Microsoft YaHei"/>
              </a:rPr>
              <a:t>▪ 面罩用后清洁、晾干，密封存放在干净处</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滤材有使用寿命：防毒滤毒罐的吸附能力会耗尽，防颗粒物滤材会被堵塞。要按产品说明书、作业条件和本校规定按时更换，并记录更换日期；滤材过期、受潮、破损的不得使用。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滤毒罐一直用到闻出味道还不换</a:t>
            </a:r>
          </a:p>
          <a:p>
            <a:pPr>
              <a:spcAft>
                <a:spcPts val="1000"/>
              </a:spcAft>
            </a:pPr>
            <a:r>
              <a:rPr sz="1500">
                <a:solidFill>
                  <a:srgbClr val="222B33"/>
                </a:solidFill>
                <a:latin typeface="Microsoft YaHei"/>
              </a:rPr>
              <a:t>▪ 面罩随手扔在实验台上</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在实验中使用挥发性有机溶剂，首先应采取的措施是：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戴普通口罩</a:t>
            </a:r>
          </a:p>
          <a:p>
            <a:pPr algn="l"/>
            <a:r>
              <a:rPr sz="1500" b="0">
                <a:solidFill>
                  <a:srgbClr val="222B33"/>
                </a:solidFill>
                <a:latin typeface="Microsoft YaHei"/>
              </a:rPr>
              <a:t>B. 在通风柜内操作</a:t>
            </a:r>
          </a:p>
          <a:p>
            <a:pPr algn="l"/>
            <a:r>
              <a:rPr sz="1500" b="0">
                <a:solidFill>
                  <a:srgbClr val="222B33"/>
                </a:solidFill>
                <a:latin typeface="Microsoft YaHei"/>
              </a:rPr>
              <a:t>C. 戴防尘口罩</a:t>
            </a:r>
          </a:p>
          <a:p>
            <a:pPr algn="l"/>
            <a:r>
              <a:rPr sz="1500" b="0">
                <a:solidFill>
                  <a:srgbClr val="222B33"/>
                </a:solidFill>
                <a:latin typeface="Microsoft YaHei"/>
              </a:rPr>
              <a:t>D. 打开窗户后在台面操作</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判断：缺氧环境中，只要戴上过滤式防毒面具就可以进入。</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下列哪种情况必须重新做适合性检验：</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换了一件实验服</a:t>
            </a:r>
          </a:p>
          <a:p>
            <a:pPr algn="l"/>
            <a:r>
              <a:rPr sz="1500" b="0">
                <a:solidFill>
                  <a:srgbClr val="222B33"/>
                </a:solidFill>
                <a:latin typeface="Microsoft YaHei"/>
              </a:rPr>
              <a:t>B. 留起了胡子</a:t>
            </a:r>
          </a:p>
          <a:p>
            <a:pPr algn="l"/>
            <a:r>
              <a:rPr sz="1500" b="0">
                <a:solidFill>
                  <a:srgbClr val="222B33"/>
                </a:solidFill>
                <a:latin typeface="Microsoft YaHei"/>
              </a:rPr>
              <a:t>C. 换了一副手套</a:t>
            </a:r>
          </a:p>
          <a:p>
            <a:pPr algn="l"/>
            <a:r>
              <a:rPr sz="1500" b="0">
                <a:solidFill>
                  <a:srgbClr val="222B33"/>
                </a:solidFill>
                <a:latin typeface="Microsoft YaHei"/>
              </a:rPr>
              <a:t>D. 换了实验台</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判断：每次戴上防护口罩后，都要双手捂住用力呼气吸气，检查边缘是否漏气。</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025 · 呼吸防护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025 呼吸防护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使用动力送风呼吸器时报警响起、送风变小，正确做法是：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立即在工作区里摘下头罩</a:t>
            </a:r>
          </a:p>
          <a:p>
            <a:pPr algn="l"/>
            <a:r>
              <a:rPr sz="1500" b="0">
                <a:solidFill>
                  <a:srgbClr val="222B33"/>
                </a:solidFill>
                <a:latin typeface="Microsoft YaHei"/>
              </a:rPr>
              <a:t>B. 继续把实验做完</a:t>
            </a:r>
          </a:p>
          <a:p>
            <a:pPr algn="l"/>
            <a:r>
              <a:rPr sz="1500" b="0">
                <a:solidFill>
                  <a:srgbClr val="222B33"/>
                </a:solidFill>
                <a:latin typeface="Microsoft YaHei"/>
              </a:rPr>
              <a:t>C. 先停手盖好样品，按程序退出到指定区域再摘，报告负责人</a:t>
            </a:r>
          </a:p>
          <a:p>
            <a:pPr algn="l"/>
            <a:r>
              <a:rPr sz="1500" b="0">
                <a:solidFill>
                  <a:srgbClr val="222B33"/>
                </a:solidFill>
                <a:latin typeface="Microsoft YaHei"/>
              </a:rPr>
              <a:t>D. 拍打电池</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简答：使用呼吸防护用品前需要做哪些准备？</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空气被污染，就要护呼吸</a:t>
            </a:r>
          </a:p>
          <a:p>
            <a:pPr>
              <a:spcAft>
                <a:spcPts val="800"/>
              </a:spcAft>
            </a:pPr>
            <a:r>
              <a:rPr sz="1500">
                <a:solidFill>
                  <a:srgbClr val="FFFFFF"/>
                </a:solidFill>
                <a:latin typeface="Microsoft YaHei"/>
              </a:rPr>
              <a:t>▪ K2  先靠通风柜，口罩不能代替</a:t>
            </a:r>
          </a:p>
          <a:p>
            <a:pPr>
              <a:spcAft>
                <a:spcPts val="800"/>
              </a:spcAft>
            </a:pPr>
            <a:r>
              <a:rPr sz="1500">
                <a:solidFill>
                  <a:srgbClr val="FFFFFF"/>
                </a:solidFill>
                <a:latin typeface="Microsoft YaHei"/>
              </a:rPr>
              <a:t>▪ K3  按危害选：防颗粒物还是防毒</a:t>
            </a:r>
          </a:p>
          <a:p>
            <a:pPr>
              <a:spcAft>
                <a:spcPts val="800"/>
              </a:spcAft>
            </a:pPr>
            <a:r>
              <a:rPr sz="1500">
                <a:solidFill>
                  <a:srgbClr val="FFFFFF"/>
                </a:solidFill>
                <a:latin typeface="Microsoft YaHei"/>
              </a:rPr>
              <a:t>▪ K4  过滤式与供气式：缺氧用供气式</a:t>
            </a:r>
          </a:p>
          <a:p>
            <a:pPr>
              <a:spcAft>
                <a:spcPts val="800"/>
              </a:spcAft>
            </a:pPr>
            <a:r>
              <a:rPr sz="1500">
                <a:solidFill>
                  <a:srgbClr val="FFFFFF"/>
                </a:solidFill>
                <a:latin typeface="Microsoft YaHei"/>
              </a:rPr>
              <a:t>▪ K5  空气呼吸器：会用才用，留足余量</a:t>
            </a:r>
          </a:p>
          <a:p>
            <a:pPr>
              <a:spcAft>
                <a:spcPts val="800"/>
              </a:spcAft>
            </a:pPr>
            <a:r>
              <a:rPr sz="1500">
                <a:solidFill>
                  <a:srgbClr val="FFFFFF"/>
                </a:solidFill>
                <a:latin typeface="Microsoft YaHei"/>
              </a:rPr>
              <a:t>▪ K6  呼吸防护要成体系，先培训</a:t>
            </a:r>
          </a:p>
          <a:p>
            <a:pPr>
              <a:spcAft>
                <a:spcPts val="800"/>
              </a:spcAft>
            </a:pPr>
            <a:r>
              <a:rPr sz="1500">
                <a:solidFill>
                  <a:srgbClr val="FFFFFF"/>
                </a:solidFill>
                <a:latin typeface="Microsoft YaHei"/>
              </a:rPr>
              <a:t>▪ K7  适合性检验：上岗前测，面部变化重测</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每次佩戴，检查密合</a:t>
            </a:r>
          </a:p>
          <a:p>
            <a:pPr>
              <a:spcAft>
                <a:spcPts val="800"/>
              </a:spcAft>
            </a:pPr>
            <a:r>
              <a:rPr sz="1500">
                <a:solidFill>
                  <a:srgbClr val="FFFFFF"/>
                </a:solidFill>
                <a:latin typeface="Microsoft YaHei"/>
              </a:rPr>
              <a:t>▪ K9  自愿戴口罩，也要管理</a:t>
            </a:r>
          </a:p>
          <a:p>
            <a:pPr>
              <a:spcAft>
                <a:spcPts val="800"/>
              </a:spcAft>
            </a:pPr>
            <a:r>
              <a:rPr sz="1500">
                <a:solidFill>
                  <a:srgbClr val="FFFFFF"/>
                </a:solidFill>
                <a:latin typeface="Microsoft YaHei"/>
              </a:rPr>
              <a:t>▪ K10  动力送风呼吸器怎样工作</a:t>
            </a:r>
          </a:p>
          <a:p>
            <a:pPr>
              <a:spcAft>
                <a:spcPts val="800"/>
              </a:spcAft>
            </a:pPr>
            <a:r>
              <a:rPr sz="1500">
                <a:solidFill>
                  <a:srgbClr val="FFFFFF"/>
                </a:solidFill>
                <a:latin typeface="Microsoft YaHei"/>
              </a:rPr>
              <a:t>▪ K11  送风呼吸器用前检查</a:t>
            </a:r>
          </a:p>
          <a:p>
            <a:pPr>
              <a:spcAft>
                <a:spcPts val="800"/>
              </a:spcAft>
            </a:pPr>
            <a:r>
              <a:rPr sz="1500">
                <a:solidFill>
                  <a:srgbClr val="FFFFFF"/>
                </a:solidFill>
                <a:latin typeface="Microsoft YaHei"/>
              </a:rPr>
              <a:t>▪ K12  用后去污、充电、登记</a:t>
            </a:r>
          </a:p>
          <a:p>
            <a:pPr>
              <a:spcAft>
                <a:spcPts val="800"/>
              </a:spcAft>
            </a:pPr>
            <a:r>
              <a:rPr sz="1500">
                <a:solidFill>
                  <a:srgbClr val="FFFFFF"/>
                </a:solidFill>
                <a:latin typeface="Microsoft YaHei"/>
              </a:rPr>
              <a:t>▪ K13  送风异常，按程序退出</a:t>
            </a:r>
          </a:p>
          <a:p>
            <a:pPr>
              <a:spcAft>
                <a:spcPts val="800"/>
              </a:spcAft>
            </a:pPr>
            <a:r>
              <a:rPr sz="1500">
                <a:solidFill>
                  <a:srgbClr val="FFFFFF"/>
                </a:solidFill>
                <a:latin typeface="Microsoft YaHei"/>
              </a:rPr>
              <a:t>▪ S1  滤材按时换，面罩清洁存放</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026</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安全标志与安全色</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第3章 通用安全与个人防护</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4 分钟（卡通视频 50 镜）　适用对象：全体进入高校实验室的本科生、研究生和教职工及外来人员（必修）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能说出红、黄、蓝、绿四种安全色和禁止、警告、指令、提示四类安全标志的含义。</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能判断常见实验室标志（禁止烟火、当心触电、必须戴护目镜、洗眼台等）要求自己做什么。</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能做到进入实验室前先看门口安全信息牌，记下危险类别、防护要求、负责人和应急电话。</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能做到按仪器旁张贴的操作规程逐项操作，标志损坏及时报告更换。</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2894-2025（以现行文本为准）《安全色和安全标志》：安全色、对比色和禁止、警告、指令、提示四类安全标志（代替 GB 2894-2008、GB 2893-2008）</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13495.1-2015（以现行文本为准）《消防安全标志 第1部分：标志》：消防安全标志（详见第 4 章）</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《中华人民共和国安全生产法》（以现行文本为准）：在有较大危险因素的场所和设施设备上设置明显的安全警示标志</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号，以现行文本为准）：实验室安全信息牌、安全警示标识和操作规程上墙</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高校实验室安全检查项目表（以现行文本为准）：实验室门口安全信息牌和警示标识的设置要求</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本校实验室安全标识设置规定（以本校规定为准）</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安全信息：看得见，也听得见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安全标志告诉你：危险在哪、当心什么、该怎么做</a:t>
            </a:r>
          </a:p>
          <a:p>
            <a:pPr>
              <a:spcAft>
                <a:spcPts val="1000"/>
              </a:spcAft>
            </a:pPr>
            <a:r>
              <a:rPr sz="2000">
                <a:solidFill>
                  <a:srgbClr val="222B33"/>
                </a:solidFill>
                <a:latin typeface="Microsoft YaHei"/>
              </a:rPr>
              <a:t>▪ 安全信息有看得见的标志和颜色</a:t>
            </a:r>
          </a:p>
          <a:p>
            <a:pPr>
              <a:spcAft>
                <a:spcPts val="1000"/>
              </a:spcAft>
            </a:pPr>
            <a:r>
              <a:rPr sz="2000">
                <a:solidFill>
                  <a:srgbClr val="222B33"/>
                </a:solidFill>
                <a:latin typeface="Microsoft YaHei"/>
              </a:rPr>
              <a:t>▪ 也有听得见的信号，如火警铃声</a:t>
            </a:r>
          </a:p>
          <a:p>
            <a:pPr>
              <a:spcAft>
                <a:spcPts val="1000"/>
              </a:spcAft>
            </a:pPr>
            <a:r>
              <a:rPr sz="2000">
                <a:solidFill>
                  <a:srgbClr val="222B33"/>
                </a:solidFill>
                <a:latin typeface="Microsoft YaHei"/>
              </a:rPr>
              <a:t>▪ 听到火警铃声，立即撤离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安全标志是用图形、颜色和形状传达安全信息的标志，它告诉你这里有什么危险、要当心什么、应该怎么做——三者都是它的作用。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以为标志只是装饰，从不留意</a:t>
            </a:r>
          </a:p>
          <a:p>
            <a:pPr>
              <a:spcAft>
                <a:spcPts val="1000"/>
              </a:spcAft>
            </a:pPr>
            <a:r>
              <a:rPr sz="1500">
                <a:solidFill>
                  <a:srgbClr val="222B33"/>
                </a:solidFill>
                <a:latin typeface="Microsoft YaHei"/>
              </a:rPr>
              <a:t>▪ 听到警铃以为是演习，继续做实验</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安全标志分四类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安全标志分禁止、警告、指令、提示四类</a:t>
            </a:r>
          </a:p>
          <a:p>
            <a:pPr>
              <a:spcAft>
                <a:spcPts val="1000"/>
              </a:spcAft>
            </a:pPr>
            <a:r>
              <a:rPr sz="2000">
                <a:solidFill>
                  <a:srgbClr val="222B33"/>
                </a:solidFill>
                <a:latin typeface="Microsoft YaHei"/>
              </a:rPr>
              <a:t>▪ 每类形状和颜色固定，一看就能分清</a:t>
            </a:r>
          </a:p>
          <a:p>
            <a:pPr>
              <a:spcAft>
                <a:spcPts val="1000"/>
              </a:spcAft>
            </a:pPr>
            <a:r>
              <a:rPr sz="2000">
                <a:solidFill>
                  <a:srgbClr val="222B33"/>
                </a:solidFill>
                <a:latin typeface="Microsoft YaHei"/>
              </a:rPr>
              <a:t>▪ 气瓶颜色、仪器标签，也在提示危险</a:t>
            </a:r>
          </a:p>
          <a:p>
            <a:pPr>
              <a:spcAft>
                <a:spcPts val="1000"/>
              </a:spcAft>
            </a:pPr>
            <a:r>
              <a:rPr sz="2000">
                <a:solidFill>
                  <a:srgbClr val="222B33"/>
                </a:solidFill>
                <a:latin typeface="Microsoft YaHei"/>
              </a:rPr>
              <a:t>▪ 四类标志都要认得，按标志要求做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 GB 2894-2025（以现行文本为准）《安全色和安全标志》，安全标志分为四类：禁止标志（白底、红色圆环加斜杠、黑色图形）、警告标志（黄底、黑色三角形边框、黑色图形）、指令标志（蓝色圆形、白色图形）和提示标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分不清警告和指令标志，以为都是“提醒一下”</a:t>
            </a:r>
          </a:p>
          <a:p>
            <a:pPr>
              <a:spcAft>
                <a:spcPts val="1000"/>
              </a:spcAft>
            </a:pPr>
            <a:r>
              <a:rPr sz="1500">
                <a:solidFill>
                  <a:srgbClr val="222B33"/>
                </a:solidFill>
                <a:latin typeface="Microsoft YaHei"/>
              </a:rPr>
              <a:t>▪ 只看文字，不看图形和颜色</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四种安全色：红黄蓝绿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红色：禁止、停止，也用于消防设备</a:t>
            </a:r>
          </a:p>
          <a:p>
            <a:pPr>
              <a:spcAft>
                <a:spcPts val="1000"/>
              </a:spcAft>
            </a:pPr>
            <a:r>
              <a:rPr sz="2000">
                <a:solidFill>
                  <a:srgbClr val="222B33"/>
                </a:solidFill>
                <a:latin typeface="Microsoft YaHei"/>
              </a:rPr>
              <a:t>▪ 黄色：警告，当心有危险</a:t>
            </a:r>
          </a:p>
          <a:p>
            <a:pPr>
              <a:spcAft>
                <a:spcPts val="1000"/>
              </a:spcAft>
            </a:pPr>
            <a:r>
              <a:rPr sz="2000">
                <a:solidFill>
                  <a:srgbClr val="222B33"/>
                </a:solidFill>
                <a:latin typeface="Microsoft YaHei"/>
              </a:rPr>
              <a:t>▪ 蓝色：指令，必须遵守</a:t>
            </a:r>
          </a:p>
          <a:p>
            <a:pPr>
              <a:spcAft>
                <a:spcPts val="1000"/>
              </a:spcAft>
            </a:pPr>
            <a:r>
              <a:rPr sz="2000">
                <a:solidFill>
                  <a:srgbClr val="222B33"/>
                </a:solidFill>
                <a:latin typeface="Microsoft YaHei"/>
              </a:rPr>
              <a:t>▪ 绿色：安全，提示出口、通道和急救</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色是传递安全信息含义的颜色，共四种：红色表示禁止、停止，也用于消防设备和设施（如灭火器、消火栓、急停按钮）；黄色表示警告、注意，提醒当心危险；蓝色表示指令，要求必须遵守的规定；绿色表示安全的提示信息，如安全出口、……</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以为红色标志都是“危险警告”</a:t>
            </a:r>
          </a:p>
          <a:p>
            <a:pPr>
              <a:spcAft>
                <a:spcPts val="1000"/>
              </a:spcAft>
            </a:pPr>
            <a:r>
              <a:rPr sz="1500">
                <a:solidFill>
                  <a:srgbClr val="222B33"/>
                </a:solidFill>
                <a:latin typeface="Microsoft YaHei"/>
              </a:rPr>
              <a:t>▪ 以为绿色区域完全没有危险</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禁止标志：红圈斜杠，不准做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白底、红色圆环加斜杠、黑色图形</a:t>
            </a:r>
          </a:p>
          <a:p>
            <a:pPr>
              <a:spcAft>
                <a:spcPts val="1000"/>
              </a:spcAft>
            </a:pPr>
            <a:r>
              <a:rPr sz="2000">
                <a:solidFill>
                  <a:srgbClr val="222B33"/>
                </a:solidFill>
                <a:latin typeface="Microsoft YaHei"/>
              </a:rPr>
              <a:t>▪ 意思是：这件事不准做</a:t>
            </a:r>
          </a:p>
          <a:p>
            <a:pPr>
              <a:spcAft>
                <a:spcPts val="1000"/>
              </a:spcAft>
            </a:pPr>
            <a:r>
              <a:rPr sz="2000">
                <a:solidFill>
                  <a:srgbClr val="222B33"/>
                </a:solidFill>
                <a:latin typeface="Microsoft YaHei"/>
              </a:rPr>
              <a:t>▪ 实验室常见：禁止烟火、禁止饮食</a:t>
            </a:r>
          </a:p>
          <a:p>
            <a:pPr>
              <a:spcAft>
                <a:spcPts val="1000"/>
              </a:spcAft>
            </a:pPr>
            <a:r>
              <a:rPr sz="2000">
                <a:solidFill>
                  <a:srgbClr val="222B33"/>
                </a:solidFill>
                <a:latin typeface="Microsoft YaHei"/>
              </a:rPr>
              <a:t>▪ 标志坏了、看不清，及时报告更换</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禁止标志是禁止人们不安全行为的图形标志：白色底、红色圆环和红色斜杠、黑色图形。看到它，就是图形表示的这件事在这里不准做。实验室常见的有禁止烟火、禁止吸烟、禁止饮食、禁止触摸、禁止合闸等。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在“禁止饮食”标志下喝水</a:t>
            </a:r>
          </a:p>
          <a:p>
            <a:pPr>
              <a:spcAft>
                <a:spcPts val="1000"/>
              </a:spcAft>
            </a:pPr>
            <a:r>
              <a:rPr sz="1500">
                <a:solidFill>
                  <a:srgbClr val="222B33"/>
                </a:solidFill>
                <a:latin typeface="Microsoft YaHei"/>
              </a:rPr>
              <a:t>▪ 标志被柜子挡住也不报告</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警告标志：黄色三角，当心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黄底、黑色三角形边框、黑色图形</a:t>
            </a:r>
          </a:p>
          <a:p>
            <a:pPr>
              <a:spcAft>
                <a:spcPts val="1000"/>
              </a:spcAft>
            </a:pPr>
            <a:r>
              <a:rPr sz="2000">
                <a:solidFill>
                  <a:srgbClr val="222B33"/>
                </a:solidFill>
                <a:latin typeface="Microsoft YaHei"/>
              </a:rPr>
              <a:t>▪ 意思是：附近有危险，要当心</a:t>
            </a:r>
          </a:p>
          <a:p>
            <a:pPr>
              <a:spcAft>
                <a:spcPts val="1000"/>
              </a:spcAft>
            </a:pPr>
            <a:r>
              <a:rPr sz="2000">
                <a:solidFill>
                  <a:srgbClr val="222B33"/>
                </a:solidFill>
                <a:latin typeface="Microsoft YaHei"/>
              </a:rPr>
              <a:t>▪ 常见：当心腐蚀、当心中毒、当心烫伤、当心触电</a:t>
            </a:r>
          </a:p>
          <a:p>
            <a:pPr>
              <a:spcAft>
                <a:spcPts val="1000"/>
              </a:spcAft>
            </a:pPr>
            <a:r>
              <a:rPr sz="2000">
                <a:solidFill>
                  <a:srgbClr val="222B33"/>
                </a:solidFill>
                <a:latin typeface="Microsoft YaHei"/>
              </a:rPr>
              <a:t>▪ 没弄清危险，不要贸然往前走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警告标志提醒人们注意周围环境、避免可能发生的危险：黄色底、黑色三角形边框、黑色图形。电气、化学、高温等场所和设备上常见当心触电、当心腐蚀、当心中毒、当心烫伤、当心火灾等警告标志。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看到警告标志仍然直接伸手触摸设备</a:t>
            </a:r>
          </a:p>
          <a:p>
            <a:pPr>
              <a:spcAft>
                <a:spcPts val="1000"/>
              </a:spcAft>
            </a:pPr>
            <a:r>
              <a:rPr sz="1500">
                <a:solidFill>
                  <a:srgbClr val="222B33"/>
                </a:solidFill>
                <a:latin typeface="Microsoft YaHei"/>
              </a:rPr>
              <a:t>▪ 不了解危险就跟着别人进去</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指令标志：蓝色圆形，必须做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蓝色圆形、白色图形</a:t>
            </a:r>
          </a:p>
          <a:p>
            <a:pPr>
              <a:spcAft>
                <a:spcPts val="1000"/>
              </a:spcAft>
            </a:pPr>
            <a:r>
              <a:rPr sz="2000">
                <a:solidFill>
                  <a:srgbClr val="222B33"/>
                </a:solidFill>
                <a:latin typeface="Microsoft YaHei"/>
              </a:rPr>
              <a:t>▪ 意思是：这里必须这样做</a:t>
            </a:r>
          </a:p>
          <a:p>
            <a:pPr>
              <a:spcAft>
                <a:spcPts val="1000"/>
              </a:spcAft>
            </a:pPr>
            <a:r>
              <a:rPr sz="2000">
                <a:solidFill>
                  <a:srgbClr val="222B33"/>
                </a:solidFill>
                <a:latin typeface="Microsoft YaHei"/>
              </a:rPr>
              <a:t>▪ 常见：必须戴护目镜、必须戴手套、必须通风</a:t>
            </a:r>
          </a:p>
          <a:p>
            <a:pPr>
              <a:spcAft>
                <a:spcPts val="1000"/>
              </a:spcAft>
            </a:pPr>
            <a:r>
              <a:rPr sz="2000">
                <a:solidFill>
                  <a:srgbClr val="222B33"/>
                </a:solidFill>
                <a:latin typeface="Microsoft YaHei"/>
              </a:rPr>
              <a:t>▪ 看到就照做，戴好相应防护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指令标志是强制人们必须做出某种动作或采用防范措施的图形标志：蓝色圆形、白色图形。实验室门口和设备旁常见的有必须戴防护眼镜、必须戴防护手套、必须穿防护服、必须通风等。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把指令标志当成建议，觉得“可戴可不戴”</a:t>
            </a:r>
          </a:p>
          <a:p>
            <a:pPr>
              <a:spcAft>
                <a:spcPts val="1000"/>
              </a:spcAft>
            </a:pPr>
            <a:r>
              <a:rPr sz="1500">
                <a:solidFill>
                  <a:srgbClr val="222B33"/>
                </a:solidFill>
                <a:latin typeface="Microsoft YaHei"/>
              </a:rPr>
              <a:t>▪ 进门后才想起找护目镜</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提示标志：绿色方形，在哪里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绿色方形、白色图形</a:t>
            </a:r>
          </a:p>
          <a:p>
            <a:pPr>
              <a:spcAft>
                <a:spcPts val="1000"/>
              </a:spcAft>
            </a:pPr>
            <a:r>
              <a:rPr sz="2000">
                <a:solidFill>
                  <a:srgbClr val="222B33"/>
                </a:solidFill>
                <a:latin typeface="Microsoft YaHei"/>
              </a:rPr>
              <a:t>▪ 告诉你安全出口、集合点、急救点在哪</a:t>
            </a:r>
          </a:p>
          <a:p>
            <a:pPr>
              <a:spcAft>
                <a:spcPts val="1000"/>
              </a:spcAft>
            </a:pPr>
            <a:r>
              <a:rPr sz="2000">
                <a:solidFill>
                  <a:srgbClr val="222B33"/>
                </a:solidFill>
                <a:latin typeface="Microsoft YaHei"/>
              </a:rPr>
              <a:t>▪ 洗眼器、紧急喷淋的位置也用提示标志</a:t>
            </a:r>
          </a:p>
          <a:p>
            <a:pPr>
              <a:spcAft>
                <a:spcPts val="1000"/>
              </a:spcAft>
            </a:pPr>
            <a:r>
              <a:rPr sz="2000">
                <a:solidFill>
                  <a:srgbClr val="222B33"/>
                </a:solidFill>
                <a:latin typeface="Microsoft YaHei"/>
              </a:rPr>
              <a:t>▪ 看到绿色，不代表这里没有危险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提示标志向人们提供某种信息，如标明安全设施或场所的位置：绿色方形、白色图形。常见的有安全出口、疏散方向、紧急集合点、急救点、洗眼台、安全淋浴设施等（洗眼器和喷淋见第 027 课，疏散见第 036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看到绿色标志就以为这里安全</a:t>
            </a:r>
          </a:p>
          <a:p>
            <a:pPr>
              <a:spcAft>
                <a:spcPts val="1000"/>
              </a:spcAft>
            </a:pPr>
            <a:r>
              <a:rPr sz="1500">
                <a:solidFill>
                  <a:srgbClr val="222B33"/>
                </a:solidFill>
                <a:latin typeface="Microsoft YaHei"/>
              </a:rPr>
              <a:t>▪ 不知道离自己最近的洗眼器在哪</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用电安全标志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黄色三角加闪电：当心触电</a:t>
            </a:r>
          </a:p>
          <a:p>
            <a:pPr>
              <a:spcAft>
                <a:spcPts val="1000"/>
              </a:spcAft>
            </a:pPr>
            <a:r>
              <a:rPr sz="2000">
                <a:solidFill>
                  <a:srgbClr val="222B33"/>
                </a:solidFill>
                <a:latin typeface="Microsoft YaHei"/>
              </a:rPr>
              <a:t>▪ 有这个标志的柜门和设备，不随便打开</a:t>
            </a:r>
          </a:p>
          <a:p>
            <a:pPr>
              <a:spcAft>
                <a:spcPts val="1000"/>
              </a:spcAft>
            </a:pPr>
            <a:r>
              <a:rPr sz="2000">
                <a:solidFill>
                  <a:srgbClr val="222B33"/>
                </a:solidFill>
                <a:latin typeface="Microsoft YaHei"/>
              </a:rPr>
              <a:t>▪ 挂着禁止合闸牌，谁也不能合闸</a:t>
            </a:r>
          </a:p>
          <a:p>
            <a:pPr>
              <a:spcAft>
                <a:spcPts val="1000"/>
              </a:spcAft>
            </a:pPr>
            <a:r>
              <a:rPr sz="2000">
                <a:solidFill>
                  <a:srgbClr val="222B33"/>
                </a:solidFill>
                <a:latin typeface="Microsoft YaHei"/>
              </a:rPr>
              <a:t>▪ 接地标志处，接地线不能拆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配电箱、配电柜、仪器电源板、高压设备上常贴有“当心触电”警告标志（黄色三角形内一道闪电）。看到它，说明里面接的是市电或高压，没有确认断电，标志附近一律不碰，柜门和设备外壳不随便打开，更不能自行检修（电工作业持证上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打开贴有当心触电标志的柜门找东西</a:t>
            </a:r>
          </a:p>
          <a:p>
            <a:pPr>
              <a:spcAft>
                <a:spcPts val="1000"/>
              </a:spcAft>
            </a:pPr>
            <a:r>
              <a:rPr sz="1500">
                <a:solidFill>
                  <a:srgbClr val="222B33"/>
                </a:solidFill>
                <a:latin typeface="Microsoft YaHei"/>
              </a:rPr>
              <a:t>▪ 看到禁止合闸牌，以为是忘了摘</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条纹也是安全语言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黄黑相间条纹：当心磕碰、绊倒</a:t>
            </a:r>
          </a:p>
          <a:p>
            <a:pPr>
              <a:spcAft>
                <a:spcPts val="1000"/>
              </a:spcAft>
            </a:pPr>
            <a:r>
              <a:rPr sz="2000">
                <a:solidFill>
                  <a:srgbClr val="222B33"/>
                </a:solidFill>
                <a:latin typeface="Microsoft YaHei"/>
              </a:rPr>
              <a:t>▪ 红白相间条纹：禁止通行，不要越过</a:t>
            </a:r>
          </a:p>
          <a:p>
            <a:pPr>
              <a:spcAft>
                <a:spcPts val="1000"/>
              </a:spcAft>
            </a:pPr>
            <a:r>
              <a:rPr sz="2000">
                <a:solidFill>
                  <a:srgbClr val="222B33"/>
                </a:solidFill>
                <a:latin typeface="Microsoft YaHei"/>
              </a:rPr>
              <a:t>▪ 对比色让安全色更醒目</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安全色常与对比色（黑色、白色）一起使用，组成相间条纹，更加醒目：黄色与黑色相间的条纹表示警告，常用于台阶边缘、低矮横梁、设备突出部位，提醒当心磕碰和绊倒；红色与白色相间的条纹表示禁止，常用于隔离带、禁止通行的区域，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跨过红白隔离带抄近路</a:t>
            </a:r>
          </a:p>
          <a:p>
            <a:pPr>
              <a:spcAft>
                <a:spcPts val="1000"/>
              </a:spcAft>
            </a:pPr>
            <a:r>
              <a:rPr sz="1500">
                <a:solidFill>
                  <a:srgbClr val="222B33"/>
                </a:solidFill>
                <a:latin typeface="Microsoft YaHei"/>
              </a:rPr>
              <a:t>▪ 不留意地面黄黑条纹被绊倒</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进门先看安全信息牌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进实验室前，先看门口安全信息牌</a:t>
            </a:r>
          </a:p>
          <a:p>
            <a:pPr>
              <a:spcAft>
                <a:spcPts val="1000"/>
              </a:spcAft>
            </a:pPr>
            <a:r>
              <a:rPr sz="2000">
                <a:solidFill>
                  <a:srgbClr val="222B33"/>
                </a:solidFill>
                <a:latin typeface="Microsoft YaHei"/>
              </a:rPr>
              <a:t>▪ 信息牌写着危险类别、防护要求、负责人和应急电话</a:t>
            </a:r>
          </a:p>
          <a:p>
            <a:pPr>
              <a:spcAft>
                <a:spcPts val="1000"/>
              </a:spcAft>
            </a:pPr>
            <a:r>
              <a:rPr sz="2000">
                <a:solidFill>
                  <a:srgbClr val="222B33"/>
                </a:solidFill>
                <a:latin typeface="Microsoft YaHei"/>
              </a:rPr>
              <a:t>▪ 把负责人和应急电话记下来</a:t>
            </a:r>
          </a:p>
          <a:p>
            <a:pPr>
              <a:spcAft>
                <a:spcPts val="1000"/>
              </a:spcAft>
            </a:pPr>
            <a:r>
              <a:rPr sz="2000">
                <a:solidFill>
                  <a:srgbClr val="222B33"/>
                </a:solidFill>
                <a:latin typeface="Microsoft YaHei"/>
              </a:rPr>
              <a:t>▪ 信息牌也是危害告知，出事时外人知道找谁</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高等学校实验室安全规范》（以现行文本为准）和本校规定，实验室门口应设置安全信息牌，内容一般包括实验室名称、安全风险类别、主要危险源、必须佩戴的防护用品、安全责任人和应急联系电话等。进门前先看清：这里有什么危险、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从不看门口信息牌就进门</a:t>
            </a:r>
          </a:p>
          <a:p>
            <a:pPr>
              <a:spcAft>
                <a:spcPts val="1000"/>
              </a:spcAft>
            </a:pPr>
            <a:r>
              <a:rPr sz="1500">
                <a:solidFill>
                  <a:srgbClr val="222B33"/>
                </a:solidFill>
                <a:latin typeface="Microsoft YaHei"/>
              </a:rPr>
              <a:t>▪ 信息牌上的负责人已调走却没更新</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规程放在仪器旁，照单操作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操作规程放在仪器旁，随时对照</a:t>
            </a:r>
          </a:p>
          <a:p>
            <a:pPr>
              <a:spcAft>
                <a:spcPts val="1000"/>
              </a:spcAft>
            </a:pPr>
            <a:r>
              <a:rPr sz="2000">
                <a:solidFill>
                  <a:srgbClr val="222B33"/>
                </a:solidFill>
                <a:latin typeface="Microsoft YaHei"/>
              </a:rPr>
              <a:t>▪ 像飞行员检查单，一项项照做，差错就少</a:t>
            </a:r>
          </a:p>
          <a:p>
            <a:pPr>
              <a:spcAft>
                <a:spcPts val="1000"/>
              </a:spcAft>
            </a:pPr>
            <a:r>
              <a:rPr sz="2000">
                <a:solidFill>
                  <a:srgbClr val="222B33"/>
                </a:solidFill>
                <a:latin typeface="Microsoft YaHei"/>
              </a:rPr>
              <a:t>▪ 不光靠记忆，专心操作</a:t>
            </a:r>
          </a:p>
          <a:p>
            <a:pPr>
              <a:spcAft>
                <a:spcPts val="1000"/>
              </a:spcAft>
            </a:pPr>
            <a:r>
              <a:rPr sz="2000">
                <a:solidFill>
                  <a:srgbClr val="222B33"/>
                </a:solidFill>
                <a:latin typeface="Microsoft YaHei"/>
              </a:rPr>
              <a:t>▪ 安全手册按本实验室编写，不照搬模板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操作规程（SOP，第 019 课）就像飞行员的检查单：一项项对照着做，差错就少。不要光凭记忆，把规程张贴或放置在仪器旁，操作时专心，逐项确认。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凭记忆操作，跳过规程中的步骤</a:t>
            </a:r>
          </a:p>
          <a:p>
            <a:pPr>
              <a:spcAft>
                <a:spcPts val="1000"/>
              </a:spcAft>
            </a:pPr>
            <a:r>
              <a:rPr sz="1500">
                <a:solidFill>
                  <a:srgbClr val="222B33"/>
                </a:solidFill>
                <a:latin typeface="Microsoft YaHei"/>
              </a:rPr>
              <a:t>▪ 直接套用别校的安全手册</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白底、红色圆环加斜杠、黑色图形的标志属于：</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警告标志</a:t>
            </a:r>
          </a:p>
          <a:p>
            <a:pPr algn="l"/>
            <a:r>
              <a:rPr sz="1500" b="0">
                <a:solidFill>
                  <a:srgbClr val="222B33"/>
                </a:solidFill>
                <a:latin typeface="Microsoft YaHei"/>
              </a:rPr>
              <a:t>B. 禁止标志</a:t>
            </a:r>
          </a:p>
          <a:p>
            <a:pPr algn="l"/>
            <a:r>
              <a:rPr sz="1500" b="0">
                <a:solidFill>
                  <a:srgbClr val="222B33"/>
                </a:solidFill>
                <a:latin typeface="Microsoft YaHei"/>
              </a:rPr>
              <a:t>C. 指令标志</a:t>
            </a:r>
          </a:p>
          <a:p>
            <a:pPr algn="l"/>
            <a:r>
              <a:rPr sz="1500" b="0">
                <a:solidFill>
                  <a:srgbClr val="222B33"/>
                </a:solidFill>
                <a:latin typeface="Microsoft YaHei"/>
              </a:rPr>
              <a:t>D. 提示标志</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实验室门口有蓝色圆形“必须戴防护眼镜”标志，表示：</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建议戴护目镜</a:t>
            </a:r>
          </a:p>
          <a:p>
            <a:pPr algn="l"/>
            <a:r>
              <a:rPr sz="1500" b="0">
                <a:solidFill>
                  <a:srgbClr val="222B33"/>
                </a:solidFill>
                <a:latin typeface="Microsoft YaHei"/>
              </a:rPr>
              <a:t>B. 当心眼睛受伤</a:t>
            </a:r>
          </a:p>
          <a:p>
            <a:pPr algn="l"/>
            <a:r>
              <a:rPr sz="1500" b="0">
                <a:solidFill>
                  <a:srgbClr val="222B33"/>
                </a:solidFill>
                <a:latin typeface="Microsoft YaHei"/>
              </a:rPr>
              <a:t>C. 必须戴护目镜才能进入</a:t>
            </a:r>
          </a:p>
          <a:p>
            <a:pPr algn="l"/>
            <a:r>
              <a:rPr sz="1500" b="0">
                <a:solidFill>
                  <a:srgbClr val="222B33"/>
                </a:solidFill>
                <a:latin typeface="Microsoft YaHei"/>
              </a:rPr>
              <a:t>D. 这里有洗眼器</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判断：绿色提示标志所在的地方一定没有危险。</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判断：开关上挂着“禁止合闸”标志牌，只要确认没人在检修就可以合闸。</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026 · 安全标志与安全色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026 安全标志与安全色</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进入一间新的实验室前，应首先：</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直接进门找导师</a:t>
            </a:r>
          </a:p>
          <a:p>
            <a:pPr algn="l"/>
            <a:r>
              <a:rPr sz="1500" b="0">
                <a:solidFill>
                  <a:srgbClr val="222B33"/>
                </a:solidFill>
                <a:latin typeface="Microsoft YaHei"/>
              </a:rPr>
              <a:t>B. 查看门口安全信息牌，了解危险类别、防护要求、负责人和应急电话</a:t>
            </a:r>
          </a:p>
          <a:p>
            <a:pPr algn="l"/>
            <a:r>
              <a:rPr sz="1500" b="0">
                <a:solidFill>
                  <a:srgbClr val="222B33"/>
                </a:solidFill>
                <a:latin typeface="Microsoft YaHei"/>
              </a:rPr>
              <a:t>C. 先打开仪器预热</a:t>
            </a:r>
          </a:p>
          <a:p>
            <a:pPr algn="l"/>
            <a:r>
              <a:rPr sz="1500" b="0">
                <a:solidFill>
                  <a:srgbClr val="222B33"/>
                </a:solidFill>
                <a:latin typeface="Microsoft YaHei"/>
              </a:rPr>
              <a:t>D. 看看有没有空位</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安全信息：看得见，也听得见</a:t>
            </a:r>
          </a:p>
          <a:p>
            <a:pPr>
              <a:spcAft>
                <a:spcPts val="800"/>
              </a:spcAft>
            </a:pPr>
            <a:r>
              <a:rPr sz="1500">
                <a:solidFill>
                  <a:srgbClr val="FFFFFF"/>
                </a:solidFill>
                <a:latin typeface="Microsoft YaHei"/>
              </a:rPr>
              <a:t>▪ K2  安全标志分四类</a:t>
            </a:r>
          </a:p>
          <a:p>
            <a:pPr>
              <a:spcAft>
                <a:spcPts val="800"/>
              </a:spcAft>
            </a:pPr>
            <a:r>
              <a:rPr sz="1500">
                <a:solidFill>
                  <a:srgbClr val="FFFFFF"/>
                </a:solidFill>
                <a:latin typeface="Microsoft YaHei"/>
              </a:rPr>
              <a:t>▪ K3  四种安全色：红黄蓝绿</a:t>
            </a:r>
          </a:p>
          <a:p>
            <a:pPr>
              <a:spcAft>
                <a:spcPts val="800"/>
              </a:spcAft>
            </a:pPr>
            <a:r>
              <a:rPr sz="1500">
                <a:solidFill>
                  <a:srgbClr val="FFFFFF"/>
                </a:solidFill>
                <a:latin typeface="Microsoft YaHei"/>
              </a:rPr>
              <a:t>▪ K4  禁止标志：红圈斜杠，不准做</a:t>
            </a:r>
          </a:p>
          <a:p>
            <a:pPr>
              <a:spcAft>
                <a:spcPts val="800"/>
              </a:spcAft>
            </a:pPr>
            <a:r>
              <a:rPr sz="1500">
                <a:solidFill>
                  <a:srgbClr val="FFFFFF"/>
                </a:solidFill>
                <a:latin typeface="Microsoft YaHei"/>
              </a:rPr>
              <a:t>▪ K5  警告标志：黄色三角，当心</a:t>
            </a:r>
          </a:p>
          <a:p>
            <a:pPr>
              <a:spcAft>
                <a:spcPts val="800"/>
              </a:spcAft>
            </a:pPr>
            <a:r>
              <a:rPr sz="1500">
                <a:solidFill>
                  <a:srgbClr val="FFFFFF"/>
                </a:solidFill>
                <a:latin typeface="Microsoft YaHei"/>
              </a:rPr>
              <a:t>▪ K6  指令标志：蓝色圆形，必须做</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提示标志：绿色方形，在哪里</a:t>
            </a:r>
          </a:p>
          <a:p>
            <a:pPr>
              <a:spcAft>
                <a:spcPts val="800"/>
              </a:spcAft>
            </a:pPr>
            <a:r>
              <a:rPr sz="1500">
                <a:solidFill>
                  <a:srgbClr val="FFFFFF"/>
                </a:solidFill>
                <a:latin typeface="Microsoft YaHei"/>
              </a:rPr>
              <a:t>▪ K8  用电安全标志</a:t>
            </a:r>
          </a:p>
          <a:p>
            <a:pPr>
              <a:spcAft>
                <a:spcPts val="800"/>
              </a:spcAft>
            </a:pPr>
            <a:r>
              <a:rPr sz="1500">
                <a:solidFill>
                  <a:srgbClr val="FFFFFF"/>
                </a:solidFill>
                <a:latin typeface="Microsoft YaHei"/>
              </a:rPr>
              <a:t>▪ K9  条纹也是安全语言</a:t>
            </a:r>
          </a:p>
          <a:p>
            <a:pPr>
              <a:spcAft>
                <a:spcPts val="800"/>
              </a:spcAft>
            </a:pPr>
            <a:r>
              <a:rPr sz="1500">
                <a:solidFill>
                  <a:srgbClr val="FFFFFF"/>
                </a:solidFill>
                <a:latin typeface="Microsoft YaHei"/>
              </a:rPr>
              <a:t>▪ K10  进门先看安全信息牌</a:t>
            </a:r>
          </a:p>
          <a:p>
            <a:pPr>
              <a:spcAft>
                <a:spcPts val="800"/>
              </a:spcAft>
            </a:pPr>
            <a:r>
              <a:rPr sz="1500">
                <a:solidFill>
                  <a:srgbClr val="FFFFFF"/>
                </a:solidFill>
                <a:latin typeface="Microsoft YaHei"/>
              </a:rPr>
              <a:t>▪ K11  规程放在仪器旁，照单操作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