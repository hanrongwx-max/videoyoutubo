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每天都会接触有毒、腐蚀性、致癌或有感染性的物质。污染往往从很小的地方开始：一滴挂在试管外壁的液体沾到手套上，手套再碰笔、门把手、手机、键盘，污染就传到了摸过的每样东西上。几个下意识的动作，就能把它从实验台带走。</a:t>
            </a:r>
          </a:p>
          <a:p>
            <a:r>
              <a:t>有害物质可以沾上皮肤，也可以随手、食物、水杯进入口中；同样的途径还会把杂质带进样品，造成实验结果出错。不加控制，受伤的可能是自己，也可能是同事和离开实验室后接触到的人。</a:t>
            </a:r>
          </a:p>
          <a:p>
            <a:r>
              <a:t>正因为污染这么容易发生，着装、卫生和行为规范要从细节做起：用什么物质、怎么操作、手碰了什么，都要心中有数。</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防止化学品伤害皮肤，最基本的办法是让衣物尽量把皮肤遮住。进入实验室穿长袖、长裤，外面按规定穿实验服并扣好扣子；袜子也要穿上，不露出脚踝。</a:t>
            </a:r>
          </a:p>
          <a:p>
            <a:r>
              <a:t>衣物的材质也有讲究：化纤衣物遇火容易燃烧、熔化并粘在皮肤上，加重烧伤；棉质等天然纤维相对更好。在有明火、易燃溶剂的实验室，里面的衣物更应选棉质（实验服和阻燃服的选择见第 024 课）。背心、吊带、露腰装等露出大片皮肤的衣服，不得进入实验室。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短裤、短裙和凉鞋、拖鞋会让腿和脚直接暴露，一旦有液体洒落或玻璃、重物掉落，首先受伤的就是脚。进入实验室应穿长裤和包住脚面、不露脚趾的鞋，鞋面最好不透水、不是网面，能挡住洒落的化学品和液体。</a:t>
            </a:r>
          </a:p>
          <a:p>
            <a:r>
              <a:t>裤腿要盖在鞋面外，不要塞进鞋里，否则液体顺着裤腿流进鞋内。在工程实训车间、有重物搬运或机械加工的场所，还要按要求穿安全鞋，参观的同学也要先按现场要求穿戴好（安全鞋和足部防护见第 021 课）。具体还需要哪些防护，按实验项目的风险评估确定（第 014–015 课）。</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长头发散着，靠近酒精灯、燃气灯会着火，还会挡住视线、扫翻器皿、垂进烧瓶或培养物中。进实验室前要把长发扎起、盘好，在有转动设备或需要戴帽的场所，把头发收进帽子里。</a:t>
            </a:r>
          </a:p>
          <a:p>
            <a:r>
              <a:t>宽松下垂的衣物同样危险，尤其是大袖口：会扫倒试剂瓶、浸进液体、碰到火焰，还可能被离心机、搅拌器、车床、送丝轮等转动部件卷入。袖口要收紧，围巾、领带、长挂绳、工牌挂绳等下垂物摘掉或收好。</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戒指、手链、手表、悬垂耳环等首饰会钩住器皿和设备，戒指和手链还会戳破手套，缝隙里藏着的化学品和微生物难以清洗干净。进入实验室前应把首饰摘下，放进门外的储物柜。</a:t>
            </a:r>
          </a:p>
          <a:p>
            <a:r>
              <a:t>做电学实验时，金属饰品可能导电造成触电或短路，要摘下金属饰品，并保持双手干燥。需要佩戴密合型口罩或呼吸器时，胡须会破坏面部密合、造成漏气，要提前刮干净（呼吸防护见第 025 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任何类型、任何级别的实验室，进门前都要先把自己收拾好：实验服穿好并扣上扣子，长发束起，穿长裤和包脚鞋，首饰摘下，手机等私人物品放好。很多实验室在门口设有穿衣镜或着装提示，进门前对照检查一遍；不符合要求的，不得进入实验室，以本校和本实验室规定为准。</a:t>
            </a:r>
          </a:p>
          <a:p>
            <a:r>
              <a:t>护目镜、手套等防护用品要按实验项目的风险评估和本实验室的要求佩戴，手套要按所用化学品选择、戴前检查有无破损（具体选择见第 021–025 课）。近视的同学戴框架眼镜，并按要求外加护目镜（隐形眼镜问题见第 022 课）。裙子和丝袜不适合实验室：丝袜多为化纤，遇火熔化，也挡不住液体。</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背包、外套、水杯等私人物品应留在实验室外的储物柜或清洁区，只带实验需要的东西进去，避免被污染后再带回宿舍和教室。</a:t>
            </a:r>
          </a:p>
          <a:p>
            <a:r>
              <a:t>记录本、电脑、手机、计算器要远离化学品，不放在实验台上；确实需要带进实验区的手机、计算器，可以装进密封袋。在生物安全实验室，私人物品一律留在清洁区，记录使用室内专用的设备和用品，按该实验室的规定执行，因为带进污染区的东西很难再干净地带出来。</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内严禁饮食、吸烟、嚼口香糖和化妆。有毒化学品和微生物可能沾在手上、空气中和台面上，吃东西、喝水、化妆时就会随手进入口中或沾到脸上；水杯和烧杯放在一起，还可能被拿错。吸烟则同时带来火源和入口两种风险。</a:t>
            </a:r>
          </a:p>
          <a:p>
            <a:r>
              <a:t>这些规定适用于各类教学和科研实验室，只做“简单”实验时也不例外。要吃东西、喝水，先摘手套、洗手，离开实验区再吃。</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食物和饮料不得带进实验室，也不得在实验室内存放。实验室的冰箱、冰柜只放实验材料，绝不放个人的饭菜、水果、饮料；个人食品放在实验室外的生活区域。</a:t>
            </a:r>
          </a:p>
          <a:p>
            <a:r>
              <a:t>有些实验要用到食品，如胡萝卜、食用油、糖、牛奶等，这些一旦进入实验室，就是实验材料，要标明“仅供实验”，用完按实验废物处理，不能再吃。反过来，也不能用烧杯、量筒、培养皿等实验器皿盛食物或喝水。</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能直接饮用的水叫饮用水。实验室水龙头的水、纯水和去离子水都不能当饮用水：管路、容器可能被污染，纯水也不保证卫生。要喝水，洗手后到实验区外的饮用水处。</a:t>
            </a:r>
          </a:p>
          <a:p>
            <a:r>
              <a:t>实验室的容器不能用来装饮用水；个人的水杯、饭盒、餐具也不能拿到实验室水槽清洗，水槽里可能残留化学品和微生物。此外，不要把实验记录本带到吃饭的地方，以免本子上的污染沾到食物上（见本课 K14）。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摸脸、揉眼、挠鼻子、托腮、咬笔头这些下意识的小动作，会把手上或手套上的污染直接带到眼、鼻、口的黏膜上。操作中要有意识地管住自己的手，戴着手套更不能摸脸。</a:t>
            </a:r>
          </a:p>
          <a:p>
            <a:r>
              <a:t>脸上痒或需要整理眼镜时，先摘下手套、洗手再处理。不要在实验室里摘戴隐形眼镜，摘戴时手指要直接接触眼睛（隐形眼镜与眼面部防护见第 022 课）。</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手套保护的是操作时的手，摘下前它本身就是被污染的物品。戴着手套去开门、按电梯、敲键盘、接电话、拿手机，就把污染留在了这些物品上，下一个徒手接触的人就会沾上。</a:t>
            </a:r>
          </a:p>
          <a:p>
            <a:r>
              <a:t>需要开门或使用公共物品时，先摘下一只手套，用干净的手操作；或者按实验室规定，由“干净手”的同伴协助。用过的手套不要随手丢进生活垃圾桶，沾染危险化学品的按危险废物处理，沾染生物材料的按感染性废物处理（废物处置见第 053 课等，手套的正确摘除见第 023 课）。</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实验服和手套上可能沾有化学品或微生物。穿着实验服坐在办公桌前、去会议室或食堂，污染就会沾到桌面、门把手、水杯上，扩散到原本干净的区域。实验服、手套等防护用品一律不得穿出实验室或实验区。</a:t>
            </a:r>
          </a:p>
          <a:p>
            <a:r>
              <a:t>离开实验室前，先脱下手套和实验服，放到实验室内指定的柜子或挂钩上，护目镜放回指定位置，再洗手离开。防止污染扩散，保护的不只是自己，还有同学、家人和整个校园社区。</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休息、吃饭、回家时，污染可能跟着人走。台面上要分清污染区和清洁区：用过的器皿、移液器、手套放在污染一侧，干净的器材、记录本放在另一侧，绝不混放。用过的东西，都先当它已被污染。</a:t>
            </a:r>
          </a:p>
          <a:p>
            <a:r>
              <a:t>实验记录本和笔放在干净、不会被溅到的位置，不戴着污染的手套写记录。实验用的本子和笔留在实验室，不带去食堂、宿舍。进入生物安全实验室，按该实验室的规定记录。离开工作区之前，要彻底洗手。</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设备用完要按程序当天清洁、去污，不留到“明天再说”。共用的加热板、搅拌器、天平、离心机最容易积残留，你不知道下一个用它的人是谁、要做什么，残留物既可能伤到他，也会混进他的样品，让结果出错。</a:t>
            </a:r>
          </a:p>
          <a:p>
            <a:r>
              <a:t>实验开始前、进行中和结束后，都检查一下台面和设备是否干净。发现前一个人没有清洁，不要直接使用，先清洁或报告实验室负责人。体谅前一个人，照顾下一个人（日常清洁与 5S 见第 028 课）。</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手上的化学品和微生物，会被带到门把手、食物和脸上。以下时候必须洗手：摘下手套之后；接触化学品、微生物、动物或样品之后；离开实验室之前；吃饭、喝水、去洗手间之前。戴了手套不等于不用洗手，手套可能有看不见的破口，摘手套时手也可能沾上污染。</a:t>
            </a:r>
          </a:p>
          <a:p>
            <a:r>
              <a:t>操作中手套破了或沾污了，要及时摘下、洗手、换新手套。洗手处要备好洗手液和一次性擦手纸巾。离开实验室的顺序是：先脱防护用品，再洗手，最后进入公共区域。</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洗手要用流动的水和洗手液（或肥皂）。步骤是：先用流水打湿双手，取适量洗手液；然后依次揉搓掌心、手背、指缝、指背、拇指、指尖和手腕，每个部位都要搓到，揉搓时间不少于 15 秒（以本校规定为准）；再用流水把泡沫冲干净。</a:t>
            </a:r>
          </a:p>
          <a:p>
            <a:r>
              <a:t>洗完用一次性纸巾擦干，用纸巾垫着关闭水龙头，避免干净的手再碰到被污染的龙头；有感应或脚踏式水龙头的直接使用。生物安全实验室按该实验室的洗手程序执行。</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长时间实验需要休息时，先摘下手套、脱下实验服、洗手，再离开实验区。喝水、吃东西、拉伸放松，都在实验区外的休息区进行，不在实验台旁或通风柜前休息（工位与疲劳见第 147 课）。</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皮肤上的伤口会让化学品和病原微生物更容易进入人体。手上有伤口、破皮或皮肤病时，要先用防水敷料包扎好，再戴手套；并告诉实验室负责人或导师，必要时暂时调换不接触危险物质的工作。实验中受伤的处理和报告见第 158 课。</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防止污染扩散，可以记住五件事：一是了解所用物质的危害（安全技术说明书见第 041 课）；二是按要求穿戴防护用品；三是用好通风柜、生物安全柜等工程控制；四是保持台面和设备整洁；五是小心工作，不想当然，不凭“应该没事”省略步骤。本课的着装和卫生要求，就是落实这五件事的日常习惯。</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实验服不用时，挂在实验室内指定的挂钩或柜子里，与日常衣物、背包分开存放。实验服不带回宿舍或家中，也不和日常衣物一起清洗，以免把实验室的化学品和微生物带进生活区。</a:t>
            </a:r>
          </a:p>
          <a:p>
            <a:r>
              <a:t>实验服要定期清洗，具体方式（实验室统一清洗、送专门洗涤或一次性使用）按本校规定执行；被化学品或生物材料明显污染的，要立即脱下，装袋标识后交实验室按规定去污或处置，必要时按危险废物或感染性废物管理（实验服的选择见第 024 课）。</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答案：C。解析：衣物要遮住皮肤、穿包脚鞋、长发束起、实验服扣好；化纤丝袜遇火易熔。</a:t>
            </a:r>
          </a:p>
          <a:p>
            <a:r>
              <a:t>第 2 题 答案：B。解析：实验冰箱只放实验材料，个人食品一律不得放入。</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答案：B。解析：手套可能有看不见的破口，摘手套时手也会沾上污染，摘手套后必须洗手。</a:t>
            </a:r>
          </a:p>
          <a:p>
            <a:r>
              <a:t>第 4 题 答案：C。解析：实验服和手套不出实验室，戴着手套不碰门把手等公共物品。</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答案：B。解析：实验室龙头的水和纯水都不是饮用水，喝水要到实验区外的饮用水处。</a:t>
            </a:r>
          </a:p>
          <a:p>
            <a:r>
              <a:t>第 6 题 答案：指缝、指尖、拇指、手背和手腕容易漏洗；洗完用一次性纸巾擦干，再用纸巾垫着关龙头。解析：避免干净的手再被龙头污染。</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个人防护装备不是凭习惯随手拿的，而是按风险评估选出来的（风险评估见第 014–015 课）。做实验前，先查所用化学品的安全技术说明书（SDS），其中“接触控制和个体防护”部分给出了眼、手、呼吸和身体防护的建议（SDS 的读法见第 041 课）；再结合用量、浓度、温度、压力、是否加热或产生气溶胶等实验条件，确定要穿戴什么。</a:t>
            </a:r>
          </a:p>
          <a:p>
            <a:r>
              <a:t>反过来也一样：只有台面上所有化学品都已撤走，例如作为讲台使用时，讲解人才可以不穿实验防护。只要有化学品在，就按风险评估穿戴。</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选防护之前，先做书面的危害评估：这次实验有哪些具体危害（飞溅、烫伤、冻伤、吸入、割伤、砸伤），会伤到身体的哪个部位。危害取决于你要做什么，是可以预见的；能预见，就能提前准备好合适的防护。凭感觉乱配，反而会带来新的危险。</a:t>
            </a:r>
          </a:p>
          <a:p>
            <a:r>
              <a:t>不确定需要哪些防护时，问清导师或实验室负责人，该戴的一样不少。同时想好这种化学品或这项操作出了事怎么应急：洗眼器、喷淋、灭火器和泄漏处理用品在哪里（第 027 课）。</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选错的防护比不戴还危险：例如用挡不住某种溶剂的手套去接触它，溶剂会穿透手套并被闷在皮肤上，人却以为自己受到了保护，反而放松了警惕。防护用品必须和具体的危害对得上，选对材质、类型和防护等级。</a:t>
            </a:r>
          </a:p>
          <a:p>
            <a:r>
              <a:t>把选防护当成打勾走过场——“手套、实验服、护目镜，都有了”——只是一场安全表演，护不住人。每次都要问：这件防护挡得住这次的危害吗？</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不同部位有不同的防护：安全眼镜、护目镜、面屏保护眼面部（第 022 课）；手套保护手（第 023 课）；实验服和防护服保护身体（第 024 课）；口罩和呼吸器保护呼吸（第 025 课）；安全帽和安全鞋保护头部和足部（本课 K13、K14）。</a:t>
            </a:r>
          </a:p>
          <a:p>
            <a:r>
              <a:t>要按危害选具体类型：接触危险物料，选能抵御该物料的手套，材质按化学品的说明来选；取用液氮等低温液体，戴防冻手套和面屏；有有害气体、蒸气时，选合适的呼吸防护；处置危险化学品泄漏等事故，按应急预案穿戴相应的防护服。需要时还要加戴口罩和面屏。特殊操作要换上专门的防护（激光防护眼镜见第 114 课，生物防护装备见第 074 课）。</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一般的化学、生物教学和科研实验，最低配置是三件：实验服（扣好）、安全眼镜或护目镜（全程佩戴）、按试剂选择的手套。这三件是在第 020 课着装要求合格（长裤、包脚鞋、长发束起）的基础上穿戴的，风险更高时再按评估增加。</a:t>
            </a:r>
          </a:p>
          <a:p>
            <a:r>
              <a:t>防护用品既能减少受伤，也能避免人体皮屑、毛发和手上的污染进入样品。每项实验都要自己选对、用对防护，不能看别人怎么穿就怎么穿。</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每个实验室都规定了必须穿戴防护的区域，有的在门口、有的在某台设备旁，用“必须戴护目镜”“必须戴防护手套”等指令标志标明（安全标志见第 026 课）。进入前看清标志，按要求穿戴好，进入区域后一步也不能少。</a:t>
            </a:r>
          </a:p>
          <a:p>
            <a:r>
              <a:t>实验室会为工作配备所需的防护用品，通常集中存放在固定的柜子里。新进入实验室时，要知道防护用品放在哪里、谁负责补充（准入培训见第 007 课）。</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按《中华人民共和国安全生产法》等规定，单位要为人员提供符合国家标准或行业标准的劳动防护用品，并教育、监督正确佩戴；在高校，由学校、学院和实验室按实验风险配齐合格的个人防护用品（配备原则见 GB 39800.1-2020，以现行文本为准）。</a:t>
            </a:r>
          </a:p>
          <a:p>
            <a:r>
              <a:t>个人的责任是正确使用：穿对、戴好、保持完好，坏了或不够了及时报告。在规定需要防护的工作中，佩戴防护用品是硬性要求，不是“想戴才戴”的个人选择。</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舒适性也是安全问题。护具不合身、太闷热，人就会分心、出汗、厌烦，容易出错，甚至偷偷摘下；长时间穿戴还可能过热、脱水。防护用品戴全了还受伤，多半是不合适或没用对。</a:t>
            </a:r>
          </a:p>
          <a:p>
            <a:r>
              <a:t>实验室应备齐不同尺码的手套、实验服等，个人要选对尺码和型号，调好松紧带，舒服才能坚持戴。戴近视眼镜的同学，选能罩在眼镜外面的护目镜（第 022 课）。长时间穿戴不透气的防护服时，要安排轮换和休息。</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防护用品每次穿戴前都要检查：手套有没有破洞、变色、发硬；护目镜和面屏镜片有没有划花、开裂；实验服有没有破损和污染；呼吸器滤盒有没有过期、失效（第 025 课）。有裂纹、磨损的，能修的修好，不能修的报废换新。还要检查大小是否合身、戴得是否服帖。</a:t>
            </a:r>
          </a:p>
          <a:p>
            <a:r>
              <a:t>使用中，一整天都要留意防护用品的状况：手套沾上化学品、破了或可能被污染，马上摘下、洗手、更换。选用合格产品，按说明书和风险评估使用。</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个人防护虽是最后一道防线（第 017 课），也要维护好、穿戴正确，它才是挡在危害前面的一层墙。可重复使用的护目镜、面屏、呼吸器用完要清洁，单独存放在干净、干燥、避光处，能专人专用的专人专用。</a:t>
            </a:r>
          </a:p>
          <a:p>
            <a:r>
              <a:t>穿戴要按顺序，并检查是否完好、到位；脱下时不碰被污染的外表面，脱完洗手（具体穿脱顺序见第 075 课，手套摘除见第 023 课）。每次进实验都要穿戴好。</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防护用品穿戴不对，等于没戴；用品缺了，暴露风险就上升。发现防护用品缺失、尺码不合适或型号不对时，不要凑合，及时报告实验室负责人或安全员，补齐后再做实验。</a:t>
            </a:r>
          </a:p>
          <a:p>
            <a:r>
              <a:t>不戴防护、戴不合适、戴不对，最能看出一个人是否专业。规范穿戴防护，是实验人员专业素养的一部分。</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最常见的防护失效，往往出在“就一分钟”“就看一眼”“马上就好”的时候：取个试剂、看一下反应、帮同学递个东西，护目镜就没戴。事故不会因为操作时间短而不发生，再短的操作，防护也不能省。</a:t>
            </a:r>
          </a:p>
          <a:p>
            <a:r>
              <a:t>防护用得好不好，要在真实操作中看。实验室负责人和安全员通过日常巡查、现场观察，趁早发现偏离，别等出了事才知道（安全检查见第 005 课）。</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头部防护用于防砸、防撞，并防止长发被卷入。在实验楼施工改造、设备吊装、高处有物体可能坠落、工程实训等场所，要按要求戴安全帽；骑电动车、摩托车要戴头盔。安全帽要按 GB 2811-2019（以现行文本为准）选用合格产品，戴正，调好帽衬松紧，系好下颏带，长发收进帽内。</a:t>
            </a:r>
          </a:p>
          <a:p>
            <a:r>
              <a:t>安全帽不能钻孔通风、加装配件或随意改装，钻孔会削弱帽壳强度，受撞击时容易开裂；也不要涂刷油漆、用溶剂擦拭。受过明显冲击、帽壳有裂纹或变形、超过产品说明规定的使用期限的，要报废更换。</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足部防护要按风险选择：有重物搬运和坠落风险的，穿有保护包头的防砸鞋；地面有钉子、碎屑的，选防刺穿鞋；地面湿滑的，选防滑鞋；可能接触化学品的，选耐化学品的鞋或胶靴（胶靴同样要有防砸包头）；焊接、熔融金属作业，穿防砸、防烫的劳保鞋。有防静电要求的场所穿防静电鞋；带电作业按规定穿电绝缘鞋，两者用途不同，不能混用（具体按 GB 21148-2020 等现行标准和本校规定）。</a:t>
            </a:r>
          </a:p>
          <a:p>
            <a:r>
              <a:t>安全鞋能减轻伤害，但不是保险：穿着安全鞋，也要远离悬吊的重物、转动的设备，按规程操作。</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个人防护穿对、戴好，能大大降低伤害的程度，但它只是控制层级的最后一层（第 017 课）。光靠防护还不够，还要有通风柜、洗眼器和紧急喷淋等安全设施（第 027 课），以及消除、替代、工程控制和管理措施。</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除了基本防护，还有一些按需加配的防护用品：倾倒、转移较大量的酸碱等腐蚀性液体时，在实验服外加耐化学品的防化围裙，必要时加袖套；接触高温器物用隔热手套（第 023 课）；噪声较大的场所戴耳塞或耳罩（第 150 课）。</a:t>
            </a:r>
          </a:p>
          <a:p>
            <a:r>
              <a:t>所有防护用品都要选有产品合格证明、标识清楚、符合国家标准的产品，按说明书规定的用途和期限使用，不用“三无”产品。</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个人防护用品要“会用”才有效。进入实验室前的安全培训中，要学会本实验室所用防护用品的选择、穿戴、脱卸、检查、清洁、存放和报废判断；呼吸器等专业防护还要单独培训和适合性检验（第 025 课）。</a:t>
            </a:r>
          </a:p>
          <a:p>
            <a:r>
              <a:t>学校和实验室按 GB 39800.1-2020（以现行文本为准）等要求，组织防护用品使用培训，并按本校规定记录培训、发放和报废情况。</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答案：B。解析：防护按风险评估选，先查 SDS 的个体防护建议，再结合实验条件确定。</a:t>
            </a:r>
          </a:p>
          <a:p>
            <a:r>
              <a:t>第 2 题 答案：B。解析：选错防护比不戴更危险，它让人误以为安全，化学品还可能穿透并闷在皮肤上。</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答案：B。解析：钻孔会削弱帽壳强度，受撞击时容易开裂。</a:t>
            </a:r>
          </a:p>
          <a:p>
            <a:r>
              <a:t>第 4 题 答案：C。解析：缺了用错要及时报告，补齐再做，不凑合。</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答案：C。解析：防静电鞋和绝缘鞋用途不同；胶靴也要防砸；安全鞋不是保险。</a:t>
            </a:r>
          </a:p>
          <a:p>
            <a:r>
              <a:t>第 6 题 答案：事故不因操作时间短而不发生，短时操作恰恰是最常见的防护失效场合。解析：再短的操作，防护也不能省。</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眼睛是人体最脆弱的器官之一，化学灼伤、异物击伤和强光伤害往往很难完全恢复。而绝大多数眼部伤害，只要戴好合适的眼面防护就能避免，一副护目镜花钱不多，护住的是一双眼睛。</a:t>
            </a:r>
          </a:p>
          <a:p>
            <a:r>
              <a:t>护眼不只为了化学品：钉钉子、剪断焊丝、切割、打磨时，碎片和断头都可能弹飞；压力气体、焊接、危险物质操作也都会伤眼。剪焊丝等操作时戴好护目镜，脸不要凑得太近，剪下的断头放进废料盒。</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常用的眼面防护有三类：安全眼镜（防冲击，四周有遮挡）、护目镜（贴合面部，防液体飞溅、粉尘）、面屏（护住整张脸和颈部，作为附加防护）。要按工作中的具体危害选择合适的一种，或者组合使用（选择原则见第 021 课）。</a:t>
            </a:r>
          </a:p>
          <a:p>
            <a:r>
              <a:t>有强光的场合，要选带遮光镜片的护目镜。专门的光辐射另有专用防护：激光要用对应波长和防护等级的激光防护眼镜（第 114 课），焊接要用焊接面罩（第 128 课），紫外灯等非激光光辐射见第 111 课。</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安全眼镜的镜片防碎，镜框四周有侧护遮挡，主要用来防飞来的碎屑和冲击；有的尺寸偏大，可以罩在近视眼镜外面；嫌闷热的可选带透气结构的款式。</a:t>
            </a:r>
          </a:p>
          <a:p>
            <a:r>
              <a:t>但安全眼镜与面部之间仍有缝隙，挡不住从侧面、上方溅来的液体。安全眼镜和护目镜用途不同，不能互相代替：有化学液体飞溅危险时，要换成贴合面部的防溅护目镜。</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是最后一道防线，只要可能有液体飞溅，就必须护好眼睛。多数化学实验应戴间接通风的防溅护目镜：镜框四周贴合面部，通风孔带遮罩，液体进不来；直通孔的护目镜只防冲击，不防液体。具体戴哪一种，按风险评估和本校规定。</a:t>
            </a:r>
          </a:p>
          <a:p>
            <a:r>
              <a:t>倾倒消毒剂、配制酸碱溶液、转移液体、加热回流等可能溅洒的操作，都要戴防溅护目镜。戴上后调好松紧带，让镜框四周与面部贴紧，不留缝隙。</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面屏能护住整张脸和颈部，挡住大面积的喷溅；但面屏下方和两侧是敞开的，液体仍可能绕进眼睛，所以面屏不能代替护目镜。需要面屏时，先戴好护目镜，再加面屏。</a:t>
            </a:r>
          </a:p>
          <a:p>
            <a:r>
              <a:t>以下情况要在护目镜外再加面屏：在通风柜里倾倒、转移较多的浓酸浓碱；处理腐蚀性强的物质；可能发生剧烈反应、喷溅或爆裂；可能溅到头、面、颈部的操作；取用液氮等低温液体（第 136 课）。</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很多同学以为戴着近视眼镜就够了。其实普通眼镜两侧和上方都是空的，液体一溅就可能从缝里进入眼睛；普通镜片也不防碎，受到冲击碎裂，碎片反而更伤眼。普通眼镜不能代替任何一种眼部防护。</a:t>
            </a:r>
          </a:p>
          <a:p>
            <a:r>
              <a:t>戴近视眼镜的同学，要选能罩在眼镜外面的护目镜或尺寸偏大的安全眼镜（第 021 课），也可以按本校规定配备带矫正度数的防护眼镜。过滤、减压抽滤、加热、重结晶、薄层色谱和柱色谱等常规操作，全程戴好护目镜。</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化学类实验室原则上不戴隐形眼镜。化学品溅入眼睛时，可能被困在隐形镜片和眼球之间，延长接触时间，还会妨碍冲洗；有些蒸气也会被镜片吸附，刺激眼睛。也不要在实验室里摘戴隐形眼镜（第 020 课）。</a:t>
            </a:r>
          </a:p>
          <a:p>
            <a:r>
              <a:t>近视的同学进入化学实验室，改戴框架眼镜，外面罩护目镜。确因医学原因必须佩戴隐形眼镜的，要告知实验室负责人，并按本校规定戴好密合的护目镜。</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眼面防护具不能只看样子：外形相似的眼镜，防冲击、防液体、防强光的能力可能完全不同。按 GB 14866-2023（以现行文本为准）《眼面防护具通用技术规范》，合格的眼面防护具在镜框和镜片上有相应的标识，选用前要看清标识和说明书，确认它适用于你要防的危害。</a:t>
            </a:r>
          </a:p>
          <a:p>
            <a:r>
              <a:t>不要使用无标识、来路不明的产品。镜片划花影响视线、镜框开裂、松紧带失去弹性的，及时更换（用前检查见第 021 课）。</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护目镜推到额头上、挂在脖子上，等于没戴。眼面防护要从进入规定的防护区域开始，到离开为止全程戴在眼睛上（防护区域见第 021 课）。</a:t>
            </a:r>
          </a:p>
          <a:p>
            <a:r>
              <a:t>自己没有操作，也要戴：旁边同学的操作同样可能溅到你。护目镜起雾时，到安全区域摘下处理，或选用防雾产品，不在操作中摘下。</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本课程第 15 章各项实验技能课中通用的个人防护要求统一在这里说明：进实验室先穿戴个人防护，实验服扣好、护目镜戴好、按所用试剂选好手套，长发扎起、不穿露趾鞋（第 020 课）。做无菌操作时手套远离酒精灯火焰；色谱、萃取等用到有机溶剂时，手套沾了溶剂及时更换（第 023 课）；不徒手处理样品，手套既保护自己，也防样品被污染。</a:t>
            </a:r>
          </a:p>
          <a:p>
            <a:r>
              <a:t>具体穿戴什么，按实验项目的风险评估确定，不清楚的问导师或学院实验室安全管理员。某项操作特有的防护要点（如滴定装碱、加压柱色谱等），在对应技能课中说明。</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即使戴了防护，也可能有意外。眼睛溅入化学品或异物时，立即到最近的洗眼器，用手撑开眼睑，转动眼球，持续冲洗，冲洗时间按本校应急规定和化学品安全技术说明书执行；不要揉眼，不要自行用其他药物中和。</a:t>
            </a:r>
          </a:p>
          <a:p>
            <a:r>
              <a:t>冲洗后报告实验室负责人，带上化学品信息及时就医，必要时拨打 120（洗眼器的位置和使用见第 027 课，眼部急救见第 160 课）。</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答案：C。解析：这是飞溅作业，安全眼镜挡不住液体，面屏不能代替护目镜，要两者一起戴。</a:t>
            </a:r>
          </a:p>
          <a:p>
            <a:r>
              <a:t>第 2 题 答案：B。解析：普通眼镜四周是空的、镜片不防碎，要把罩式护目镜戴在眼镜外面。</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答案：A。解析：化学品可能被困在镜片后，延长接触并妨碍冲洗。</a:t>
            </a:r>
          </a:p>
          <a:p>
            <a:r>
              <a:t>第 4 题 答案：B。解析：安全眼镜防冲击，挡不住侧面和上方溅来的液体。</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答案：C。解析：护目镜要全程戴在眼睛上，旁边有人操作也要戴。</a:t>
            </a:r>
          </a:p>
          <a:p>
            <a:r>
              <a:t>第 6 题 答案：立即到洗眼器，撑开眼睑持续冲洗，不揉眼；然后报告实验室负责人，带上化学品信息就医。解析：详见第 027、160 课。</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020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着装要求与个人卫生</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第3章 通用安全与个人防护</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84 镜）　适用对象：全体进入高校实验室的本科生、研究生和教职工（必修）；化学、生物、医学、电学和工程实训实验室人员重点学习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能说出进入实验室的基本着装要求：衣物遮住皮肤、长裤和包脚鞋、长发束起、不穿宽松下垂衣物、摘下首饰。</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能说出实验室禁止饮食、吸烟、化妆，食品不进实验室、实验冰箱不放食物、实验室的水不能喝。</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能做到实验服和手套不出实验室、戴手套不碰公共物品、污染物与清洁物分开，防止污染扩散到办公区和生活区。</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能判断什么时候必须洗手，并按正确步骤把手洗干净。</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号，以现行文本为准）：实验人员按要求着装和佩戴防护用品，实验室内禁止饮食等与实验无关的活动</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高校实验室安全检查项目表（以现行文本为准）：实验人员着装、实验室内无食品饮料、实验冰箱不存放食品等检查内容</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《中华人民共和国安全生产法》（以现行文本为准）：从业人员应正确佩戴和使用劳动防护用品</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《病原微生物实验室生物安全管理条例》、GB 19489-2008（以现行文本为准）《实验室 生物安全通用要求》：实验室内不饮食、不吸烟、不化妆，防护服不穿出实验室，离开前洗手</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39800.1-2020（以现行文本为准）《个体防护装备配备规范 第1部分：总则》</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《国家危险废物名录》（以现行文本为准）：沾染危险化学品的手套等废弃物按危险废物管理</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本校实验室安全管理制度、实验室准入和着装规定（以本校规定为准）</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污染是怎么传开的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一滴挂在试管外的液体，经手套传到各处</a:t>
            </a:r>
          </a:p>
          <a:p>
            <a:pPr>
              <a:spcAft>
                <a:spcPts val="1000"/>
              </a:spcAft>
            </a:pPr>
            <a:r>
              <a:rPr sz="2000">
                <a:solidFill>
                  <a:srgbClr val="222B33"/>
                </a:solidFill>
                <a:latin typeface="Microsoft YaHei"/>
              </a:rPr>
              <a:t>▪ 有害物可经皮肤接触和入口进入人体</a:t>
            </a:r>
          </a:p>
          <a:p>
            <a:pPr>
              <a:spcAft>
                <a:spcPts val="1000"/>
              </a:spcAft>
            </a:pPr>
            <a:r>
              <a:rPr sz="2000">
                <a:solidFill>
                  <a:srgbClr val="222B33"/>
                </a:solidFill>
                <a:latin typeface="Microsoft YaHei"/>
              </a:rPr>
              <a:t>▪ 污染还会混进样品，毁掉实验结果</a:t>
            </a:r>
          </a:p>
          <a:p>
            <a:pPr>
              <a:spcAft>
                <a:spcPts val="1000"/>
              </a:spcAft>
            </a:pPr>
            <a:r>
              <a:rPr sz="2000">
                <a:solidFill>
                  <a:srgbClr val="222B33"/>
                </a:solidFill>
                <a:latin typeface="Microsoft YaHei"/>
              </a:rPr>
              <a:t>▪ 不加控制，伤到的可能是同事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里每天都会接触有毒、腐蚀性、致癌或有感染性的物质。污染往往从很小的地方开始：一滴挂在试管外壁的液体沾到手套上，手套再碰笔、门把手、手机、键盘，污染就传到了摸过的每样东西上。几个下意识的动作，就能把它从实验台带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认为“没看见洒出来”就没有污染</a:t>
            </a:r>
          </a:p>
          <a:p>
            <a:pPr>
              <a:spcAft>
                <a:spcPts val="1000"/>
              </a:spcAft>
            </a:pPr>
            <a:r>
              <a:rPr sz="1500">
                <a:solidFill>
                  <a:srgbClr val="222B33"/>
                </a:solidFill>
                <a:latin typeface="Microsoft YaHei"/>
              </a:rPr>
              <a:t>▪ 只想到保护自己，忽视对同事和样品的影响</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衣物尽量遮住皮肤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化学品碰到皮肤就可能造成伤害</a:t>
            </a:r>
          </a:p>
          <a:p>
            <a:pPr>
              <a:spcAft>
                <a:spcPts val="1000"/>
              </a:spcAft>
            </a:pPr>
            <a:r>
              <a:rPr sz="2000">
                <a:solidFill>
                  <a:srgbClr val="222B33"/>
                </a:solidFill>
                <a:latin typeface="Microsoft YaHei"/>
              </a:rPr>
              <a:t>▪ 衣物尽量遮住全身，长袖好于短袖</a:t>
            </a:r>
          </a:p>
          <a:p>
            <a:pPr>
              <a:spcAft>
                <a:spcPts val="1000"/>
              </a:spcAft>
            </a:pPr>
            <a:r>
              <a:rPr sz="2000">
                <a:solidFill>
                  <a:srgbClr val="222B33"/>
                </a:solidFill>
                <a:latin typeface="Microsoft YaHei"/>
              </a:rPr>
              <a:t>▪ 化纤遇火易燃易熔，棉质等天然纤维更好</a:t>
            </a:r>
          </a:p>
          <a:p>
            <a:pPr>
              <a:spcAft>
                <a:spcPts val="1000"/>
              </a:spcAft>
            </a:pPr>
            <a:r>
              <a:rPr sz="2000">
                <a:solidFill>
                  <a:srgbClr val="222B33"/>
                </a:solidFill>
                <a:latin typeface="Microsoft YaHei"/>
              </a:rPr>
              <a:t>▪ 背心、露腰装不能进实验室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防止化学品伤害皮肤，最基本的办法是让衣物尽量把皮肤遮住。进入实验室穿长袖、长裤，外面按规定穿实验服并扣好扣子；袜子也要穿上，不露出脚踝。</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夏天穿短袖短裤进实验室，只在外面套一件实验服</a:t>
            </a:r>
          </a:p>
          <a:p>
            <a:pPr>
              <a:spcAft>
                <a:spcPts val="1000"/>
              </a:spcAft>
            </a:pPr>
            <a:r>
              <a:rPr sz="1500">
                <a:solidFill>
                  <a:srgbClr val="222B33"/>
                </a:solidFill>
                <a:latin typeface="Microsoft YaHei"/>
              </a:rPr>
              <a:t>▪ 里面穿化纤运动服做有明火的实验</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长裤和包脚鞋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短裤、短裙、凉鞋、拖鞋都不行</a:t>
            </a:r>
          </a:p>
          <a:p>
            <a:pPr>
              <a:spcAft>
                <a:spcPts val="1000"/>
              </a:spcAft>
            </a:pPr>
            <a:r>
              <a:rPr sz="2000">
                <a:solidFill>
                  <a:srgbClr val="222B33"/>
                </a:solidFill>
                <a:latin typeface="Microsoft YaHei"/>
              </a:rPr>
              <a:t>▪ 穿包住脚面、不露脚趾的鞋，挡住洒落液体</a:t>
            </a:r>
          </a:p>
          <a:p>
            <a:pPr>
              <a:spcAft>
                <a:spcPts val="1000"/>
              </a:spcAft>
            </a:pPr>
            <a:r>
              <a:rPr sz="2000">
                <a:solidFill>
                  <a:srgbClr val="222B33"/>
                </a:solidFill>
                <a:latin typeface="Microsoft YaHei"/>
              </a:rPr>
              <a:t>▪ 裤腿盖住鞋面，不塞进鞋里</a:t>
            </a:r>
          </a:p>
          <a:p>
            <a:pPr>
              <a:spcAft>
                <a:spcPts val="1000"/>
              </a:spcAft>
            </a:pPr>
            <a:r>
              <a:rPr sz="2000">
                <a:solidFill>
                  <a:srgbClr val="222B33"/>
                </a:solidFill>
                <a:latin typeface="Microsoft YaHei"/>
              </a:rPr>
              <a:t>▪ 车间等场所按要求穿安全鞋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短裤、短裙和凉鞋、拖鞋会让腿和脚直接暴露，一旦有液体洒落或玻璃、重物掉落，首先受伤的就是脚。进入实验室应穿长裤和包住脚面、不露脚趾的鞋，鞋面最好不透水、不是网面，能挡住洒落的化学品和液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穿洞洞鞋、网面运动鞋进化学实验室</a:t>
            </a:r>
          </a:p>
          <a:p>
            <a:pPr>
              <a:spcAft>
                <a:spcPts val="1000"/>
              </a:spcAft>
            </a:pPr>
            <a:r>
              <a:rPr sz="1500">
                <a:solidFill>
                  <a:srgbClr val="222B33"/>
                </a:solidFill>
                <a:latin typeface="Microsoft YaHei"/>
              </a:rPr>
              <a:t>▪ 把裤腿塞进鞋里或卷起裤腿</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长发束起，衣物不宽松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长头发一定要扎起来，必要时收进帽子</a:t>
            </a:r>
          </a:p>
          <a:p>
            <a:pPr>
              <a:spcAft>
                <a:spcPts val="1000"/>
              </a:spcAft>
            </a:pPr>
            <a:r>
              <a:rPr sz="2000">
                <a:solidFill>
                  <a:srgbClr val="222B33"/>
                </a:solidFill>
                <a:latin typeface="Microsoft YaHei"/>
              </a:rPr>
              <a:t>▪ 散发会着火、挡视线、垂进容器</a:t>
            </a:r>
          </a:p>
          <a:p>
            <a:pPr>
              <a:spcAft>
                <a:spcPts val="1000"/>
              </a:spcAft>
            </a:pPr>
            <a:r>
              <a:rPr sz="2000">
                <a:solidFill>
                  <a:srgbClr val="222B33"/>
                </a:solidFill>
                <a:latin typeface="Microsoft YaHei"/>
              </a:rPr>
              <a:t>▪ 宽袖、围巾、挂绳会卷进转动部件</a:t>
            </a:r>
          </a:p>
          <a:p>
            <a:pPr>
              <a:spcAft>
                <a:spcPts val="1000"/>
              </a:spcAft>
            </a:pPr>
            <a:r>
              <a:rPr sz="2000">
                <a:solidFill>
                  <a:srgbClr val="222B33"/>
                </a:solidFill>
                <a:latin typeface="Microsoft YaHei"/>
              </a:rPr>
              <a:t>▪ 袖口收紧，下垂的东西都摘掉</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长头发散着，靠近酒精灯、燃气灯会着火，还会挡住视线、扫翻器皿、垂进烧瓶或培养物中。进实验室前要把长发扎起、盘好，在有转动设备或需要戴帽的场所，把头发收进帽子里。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头发只拢到耳后，弯腰时又散落下来</a:t>
            </a:r>
          </a:p>
          <a:p>
            <a:pPr>
              <a:spcAft>
                <a:spcPts val="1000"/>
              </a:spcAft>
            </a:pPr>
            <a:r>
              <a:rPr sz="1500">
                <a:solidFill>
                  <a:srgbClr val="222B33"/>
                </a:solidFill>
                <a:latin typeface="Microsoft YaHei"/>
              </a:rPr>
              <a:t>▪ 戴着围巾或长挂绳操作转动设备</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摘下首饰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进实验室前，先摘下戒指、手链、手表等首饰</a:t>
            </a:r>
          </a:p>
          <a:p>
            <a:pPr>
              <a:spcAft>
                <a:spcPts val="1000"/>
              </a:spcAft>
            </a:pPr>
            <a:r>
              <a:rPr sz="2000">
                <a:solidFill>
                  <a:srgbClr val="222B33"/>
                </a:solidFill>
                <a:latin typeface="Microsoft YaHei"/>
              </a:rPr>
              <a:t>▪ 戒指会戳破手套，还会藏污</a:t>
            </a:r>
          </a:p>
          <a:p>
            <a:pPr>
              <a:spcAft>
                <a:spcPts val="1000"/>
              </a:spcAft>
            </a:pPr>
            <a:r>
              <a:rPr sz="2000">
                <a:solidFill>
                  <a:srgbClr val="222B33"/>
                </a:solidFill>
                <a:latin typeface="Microsoft YaHei"/>
              </a:rPr>
              <a:t>▪ 电学实验摘下金属饰品，手要擦干</a:t>
            </a:r>
          </a:p>
          <a:p>
            <a:pPr>
              <a:spcAft>
                <a:spcPts val="1000"/>
              </a:spcAft>
            </a:pPr>
            <a:r>
              <a:rPr sz="2000">
                <a:solidFill>
                  <a:srgbClr val="222B33"/>
                </a:solidFill>
                <a:latin typeface="Microsoft YaHei"/>
              </a:rPr>
              <a:t>▪ 戴密合型口罩，胡须要刮干净</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戒指、手链、手表、悬垂耳环等首饰会钩住器皿和设备，戒指和手链还会戳破手套，缝隙里藏着的化学品和微生物难以清洗干净。进入实验室前应把首饰摘下，放进门外的储物柜。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认为戒指很小，戴着手套操作没关系</a:t>
            </a:r>
          </a:p>
          <a:p>
            <a:pPr>
              <a:spcAft>
                <a:spcPts val="1000"/>
              </a:spcAft>
            </a:pPr>
            <a:r>
              <a:rPr sz="1500">
                <a:solidFill>
                  <a:srgbClr val="222B33"/>
                </a:solidFill>
                <a:latin typeface="Microsoft YaHei"/>
              </a:rPr>
              <a:t>▪ 戴着金属手链接线</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进门前的着装自查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进门前对照清单查一遍着装</a:t>
            </a:r>
          </a:p>
          <a:p>
            <a:pPr>
              <a:spcAft>
                <a:spcPts val="1000"/>
              </a:spcAft>
            </a:pPr>
            <a:r>
              <a:rPr sz="2000">
                <a:solidFill>
                  <a:srgbClr val="222B33"/>
                </a:solidFill>
                <a:latin typeface="Microsoft YaHei"/>
              </a:rPr>
              <a:t>▪ 实验服扣好，长发束起，长裤包脚鞋，无首饰</a:t>
            </a:r>
          </a:p>
          <a:p>
            <a:pPr>
              <a:spcAft>
                <a:spcPts val="1000"/>
              </a:spcAft>
            </a:pPr>
            <a:r>
              <a:rPr sz="2000">
                <a:solidFill>
                  <a:srgbClr val="222B33"/>
                </a:solidFill>
                <a:latin typeface="Microsoft YaHei"/>
              </a:rPr>
              <a:t>▪ 护目镜、手套等按风险评估和本实验室要求佩戴</a:t>
            </a:r>
          </a:p>
          <a:p>
            <a:pPr>
              <a:spcAft>
                <a:spcPts val="1000"/>
              </a:spcAft>
            </a:pPr>
            <a:r>
              <a:rPr sz="2000">
                <a:solidFill>
                  <a:srgbClr val="222B33"/>
                </a:solidFill>
                <a:latin typeface="Microsoft YaHei"/>
              </a:rPr>
              <a:t>▪ 近视戴框架眼镜；裙子、丝袜不适合实验室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任何类型、任何级别的实验室，进门前都要先把自己收拾好：实验服穿好并扣上扣子，长发束起，穿长裤和包脚鞋，首饰摘下，手机等私人物品放好。很多实验室在门口设有穿衣镜或着装提示，进门前对照检查一遍；不符合要求的，不得进入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先进实验室，再慢慢扣扣子、扎头发</a:t>
            </a:r>
          </a:p>
          <a:p>
            <a:pPr>
              <a:spcAft>
                <a:spcPts val="1000"/>
              </a:spcAft>
            </a:pPr>
            <a:r>
              <a:rPr sz="1500">
                <a:solidFill>
                  <a:srgbClr val="222B33"/>
                </a:solidFill>
                <a:latin typeface="Microsoft YaHei"/>
              </a:rPr>
              <a:t>▪ 认为“只进去拿个东西”就可以不按要求着装</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私人物品不进实验区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背包、外套等私人物品留在门外储物柜</a:t>
            </a:r>
          </a:p>
          <a:p>
            <a:pPr>
              <a:spcAft>
                <a:spcPts val="1000"/>
              </a:spcAft>
            </a:pPr>
            <a:r>
              <a:rPr sz="2000">
                <a:solidFill>
                  <a:srgbClr val="222B33"/>
                </a:solidFill>
                <a:latin typeface="Microsoft YaHei"/>
              </a:rPr>
              <a:t>▪ 手机、计算器不放在实验台上</a:t>
            </a:r>
          </a:p>
          <a:p>
            <a:pPr>
              <a:spcAft>
                <a:spcPts val="1000"/>
              </a:spcAft>
            </a:pPr>
            <a:r>
              <a:rPr sz="2000">
                <a:solidFill>
                  <a:srgbClr val="222B33"/>
                </a:solidFill>
                <a:latin typeface="Microsoft YaHei"/>
              </a:rPr>
              <a:t>▪ 必须带进去的，可装进密封袋</a:t>
            </a:r>
          </a:p>
          <a:p>
            <a:pPr>
              <a:spcAft>
                <a:spcPts val="1000"/>
              </a:spcAft>
            </a:pPr>
            <a:r>
              <a:rPr sz="2000">
                <a:solidFill>
                  <a:srgbClr val="222B33"/>
                </a:solidFill>
                <a:latin typeface="Microsoft YaHei"/>
              </a:rPr>
              <a:t>▪ 带进污染区的东西，很难干净地带出来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背包、外套、水杯等私人物品应留在实验室外的储物柜或清洁区，只带实验需要的东西进去，避免被污染后再带回宿舍和教室。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把书包放在实验台下或通风柜旁</a:t>
            </a:r>
          </a:p>
          <a:p>
            <a:pPr>
              <a:spcAft>
                <a:spcPts val="1000"/>
              </a:spcAft>
            </a:pPr>
            <a:r>
              <a:rPr sz="1500">
                <a:solidFill>
                  <a:srgbClr val="222B33"/>
                </a:solidFill>
                <a:latin typeface="Microsoft YaHei"/>
              </a:rPr>
              <a:t>▪ 一边操作一边用手机拍照、回消息</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不吃不喝，不吸烟不化妆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实验室里不吃东西、不喝水、不嚼口香糖</a:t>
            </a:r>
          </a:p>
          <a:p>
            <a:pPr>
              <a:spcAft>
                <a:spcPts val="1000"/>
              </a:spcAft>
            </a:pPr>
            <a:r>
              <a:rPr sz="2000">
                <a:solidFill>
                  <a:srgbClr val="222B33"/>
                </a:solidFill>
                <a:latin typeface="Microsoft YaHei"/>
              </a:rPr>
              <a:t>▪ 实验室内严禁吸烟，也不化妆</a:t>
            </a:r>
          </a:p>
          <a:p>
            <a:pPr>
              <a:spcAft>
                <a:spcPts val="1000"/>
              </a:spcAft>
            </a:pPr>
            <a:r>
              <a:rPr sz="2000">
                <a:solidFill>
                  <a:srgbClr val="222B33"/>
                </a:solidFill>
                <a:latin typeface="Microsoft YaHei"/>
              </a:rPr>
              <a:t>▪ 化学品会沾进食物，杯子会拿错</a:t>
            </a:r>
          </a:p>
          <a:p>
            <a:pPr>
              <a:spcAft>
                <a:spcPts val="1000"/>
              </a:spcAft>
            </a:pPr>
            <a:r>
              <a:rPr sz="2000">
                <a:solidFill>
                  <a:srgbClr val="222B33"/>
                </a:solidFill>
                <a:latin typeface="Microsoft YaHei"/>
              </a:rPr>
              <a:t>▪ 一吃一喝，有害物质就可能进嘴</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内严禁饮食、吸烟、嚼口香糖和化妆。有毒化学品和微生物可能沾在手上、空气中和台面上，吃东西、喝水、化妆时就会随手进入口中或沾到脸上；水杯和烧杯放在一起，还可能被拿错。吸烟则同时带来火源和入口两种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在实验台边喝一口水、吃一块糖</a:t>
            </a:r>
          </a:p>
          <a:p>
            <a:pPr>
              <a:spcAft>
                <a:spcPts val="1000"/>
              </a:spcAft>
            </a:pPr>
            <a:r>
              <a:rPr sz="1500">
                <a:solidFill>
                  <a:srgbClr val="222B33"/>
                </a:solidFill>
                <a:latin typeface="Microsoft YaHei"/>
              </a:rPr>
              <a:t>▪ 在实验室里涂唇膏、护手霜</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食品不进实验室，实验冰箱不放食物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食物和饮料不带进实验室</a:t>
            </a:r>
          </a:p>
          <a:p>
            <a:pPr>
              <a:spcAft>
                <a:spcPts val="1000"/>
              </a:spcAft>
            </a:pPr>
            <a:r>
              <a:rPr sz="2000">
                <a:solidFill>
                  <a:srgbClr val="222B33"/>
                </a:solidFill>
                <a:latin typeface="Microsoft YaHei"/>
              </a:rPr>
              <a:t>▪ 实验冰箱只放实验材料，不放饭菜饮料</a:t>
            </a:r>
          </a:p>
          <a:p>
            <a:pPr>
              <a:spcAft>
                <a:spcPts val="1000"/>
              </a:spcAft>
            </a:pPr>
            <a:r>
              <a:rPr sz="2000">
                <a:solidFill>
                  <a:srgbClr val="222B33"/>
                </a:solidFill>
                <a:latin typeface="Microsoft YaHei"/>
              </a:rPr>
              <a:t>▪ 实验用的食品标明“仅供实验”，不能吃</a:t>
            </a:r>
          </a:p>
          <a:p>
            <a:pPr>
              <a:spcAft>
                <a:spcPts val="1000"/>
              </a:spcAft>
            </a:pPr>
            <a:r>
              <a:rPr sz="2000">
                <a:solidFill>
                  <a:srgbClr val="222B33"/>
                </a:solidFill>
                <a:latin typeface="Microsoft YaHei"/>
              </a:rPr>
              <a:t>▪ 不用实验器皿盛食物、喝水</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食物和饮料不得带进实验室，也不得在实验室内存放。实验室的冰箱、冰柜只放实验材料，绝不放个人的饭菜、水果、饮料；个人食品放在实验室外的生活区域。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把午饭临时放进实验冰箱</a:t>
            </a:r>
          </a:p>
          <a:p>
            <a:pPr>
              <a:spcAft>
                <a:spcPts val="1000"/>
              </a:spcAft>
            </a:pPr>
            <a:r>
              <a:rPr sz="1500">
                <a:solidFill>
                  <a:srgbClr val="222B33"/>
                </a:solidFill>
                <a:latin typeface="Microsoft YaHei"/>
              </a:rPr>
              <a:t>▪ 实验剩下的食用材料带回去吃</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实验室的水不能喝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实验室龙头的水和纯水都不是饮用水</a:t>
            </a:r>
          </a:p>
          <a:p>
            <a:pPr>
              <a:spcAft>
                <a:spcPts val="1000"/>
              </a:spcAft>
            </a:pPr>
            <a:r>
              <a:rPr sz="2000">
                <a:solidFill>
                  <a:srgbClr val="222B33"/>
                </a:solidFill>
                <a:latin typeface="Microsoft YaHei"/>
              </a:rPr>
              <a:t>▪ 喝水到实验区外的饮用水处</a:t>
            </a:r>
          </a:p>
          <a:p>
            <a:pPr>
              <a:spcAft>
                <a:spcPts val="1000"/>
              </a:spcAft>
            </a:pPr>
            <a:r>
              <a:rPr sz="2000">
                <a:solidFill>
                  <a:srgbClr val="222B33"/>
                </a:solidFill>
                <a:latin typeface="Microsoft YaHei"/>
              </a:rPr>
              <a:t>▪ 实验容器不能装饮用水</a:t>
            </a:r>
          </a:p>
          <a:p>
            <a:pPr>
              <a:spcAft>
                <a:spcPts val="1000"/>
              </a:spcAft>
            </a:pPr>
            <a:r>
              <a:rPr sz="2000">
                <a:solidFill>
                  <a:srgbClr val="222B33"/>
                </a:solidFill>
                <a:latin typeface="Microsoft YaHei"/>
              </a:rPr>
              <a:t>▪ 不在实验水槽洗杯子和餐具</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能直接饮用的水叫饮用水。实验室水龙头的水、纯水和去离子水都不能当饮用水：管路、容器可能被污染，纯水也不保证卫生。要喝水，洗手后到实验区外的饮用水处。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用实验室的纯水桶接水喝</a:t>
            </a:r>
          </a:p>
          <a:p>
            <a:pPr>
              <a:spcAft>
                <a:spcPts val="1000"/>
              </a:spcAft>
            </a:pPr>
            <a:r>
              <a:rPr sz="1500">
                <a:solidFill>
                  <a:srgbClr val="222B33"/>
                </a:solidFill>
                <a:latin typeface="Microsoft YaHei"/>
              </a:rPr>
              <a:t>▪ 在实验室水槽洗饭盒</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管住摸脸的手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污染会从手跑到眼睛、鼻子和嘴边</a:t>
            </a:r>
          </a:p>
          <a:p>
            <a:pPr>
              <a:spcAft>
                <a:spcPts val="1000"/>
              </a:spcAft>
            </a:pPr>
            <a:r>
              <a:rPr sz="2000">
                <a:solidFill>
                  <a:srgbClr val="222B33"/>
                </a:solidFill>
                <a:latin typeface="Microsoft YaHei"/>
              </a:rPr>
              <a:t>▪ 戴着手套不摸脸、不揉眼、不挠鼻子</a:t>
            </a:r>
          </a:p>
          <a:p>
            <a:pPr>
              <a:spcAft>
                <a:spcPts val="1000"/>
              </a:spcAft>
            </a:pPr>
            <a:r>
              <a:rPr sz="2000">
                <a:solidFill>
                  <a:srgbClr val="222B33"/>
                </a:solidFill>
                <a:latin typeface="Microsoft YaHei"/>
              </a:rPr>
              <a:t>▪ 不在实验室里摘戴隐形眼镜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摸脸、揉眼、挠鼻子、托腮、咬笔头这些下意识的小动作，会把手上或手套上的污染直接带到眼、鼻、口的黏膜上。操作中要有意识地管住自己的手，戴着手套更不能摸脸。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戴着手套推眼镜、擦汗</a:t>
            </a:r>
          </a:p>
          <a:p>
            <a:pPr>
              <a:spcAft>
                <a:spcPts val="1000"/>
              </a:spcAft>
            </a:pPr>
            <a:r>
              <a:rPr sz="1500">
                <a:solidFill>
                  <a:srgbClr val="222B33"/>
                </a:solidFill>
                <a:latin typeface="Microsoft YaHei"/>
              </a:rPr>
              <a:t>▪ 在实验室里摘戴隐形眼镜</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戴着手套不碰公共物品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戴着手套，不碰门把手、电梯按钮</a:t>
            </a:r>
          </a:p>
          <a:p>
            <a:pPr>
              <a:spcAft>
                <a:spcPts val="1000"/>
              </a:spcAft>
            </a:pPr>
            <a:r>
              <a:rPr sz="2000">
                <a:solidFill>
                  <a:srgbClr val="222B33"/>
                </a:solidFill>
                <a:latin typeface="Microsoft YaHei"/>
              </a:rPr>
              <a:t>▪ 不碰键盘、电话、手机等公共和个人物品</a:t>
            </a:r>
          </a:p>
          <a:p>
            <a:pPr>
              <a:spcAft>
                <a:spcPts val="1000"/>
              </a:spcAft>
            </a:pPr>
            <a:r>
              <a:rPr sz="2000">
                <a:solidFill>
                  <a:srgbClr val="222B33"/>
                </a:solidFill>
                <a:latin typeface="Microsoft YaHei"/>
              </a:rPr>
              <a:t>▪ 你碰过，下一个人就沾上了</a:t>
            </a:r>
          </a:p>
          <a:p>
            <a:pPr>
              <a:spcAft>
                <a:spcPts val="1000"/>
              </a:spcAft>
            </a:pPr>
            <a:r>
              <a:rPr sz="2000">
                <a:solidFill>
                  <a:srgbClr val="222B33"/>
                </a:solidFill>
                <a:latin typeface="Microsoft YaHei"/>
              </a:rPr>
              <a:t>▪ 沾染化学品的手套按危险废物处理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手套保护的是操作时的手，摘下前它本身就是被污染的物品。戴着手套去开门、按电梯、敲键盘、接电话、拿手机，就把污染留在了这些物品上，下一个徒手接触的人就会沾上。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戴着手套去走廊开门、按电梯</a:t>
            </a:r>
          </a:p>
          <a:p>
            <a:pPr>
              <a:spcAft>
                <a:spcPts val="1000"/>
              </a:spcAft>
            </a:pPr>
            <a:r>
              <a:rPr sz="1500">
                <a:solidFill>
                  <a:srgbClr val="222B33"/>
                </a:solidFill>
                <a:latin typeface="Microsoft YaHei"/>
              </a:rPr>
              <a:t>▪ 把用过的手套扔进普通垃圾桶</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实验服和手套不出实验室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实验服和手套不穿出实验室</a:t>
            </a:r>
          </a:p>
          <a:p>
            <a:pPr>
              <a:spcAft>
                <a:spcPts val="1000"/>
              </a:spcAft>
            </a:pPr>
            <a:r>
              <a:rPr sz="2000">
                <a:solidFill>
                  <a:srgbClr val="222B33"/>
                </a:solidFill>
                <a:latin typeface="Microsoft YaHei"/>
              </a:rPr>
              <a:t>▪ 不穿进办公室、会议室、食堂和宿舍</a:t>
            </a:r>
          </a:p>
          <a:p>
            <a:pPr>
              <a:spcAft>
                <a:spcPts val="1000"/>
              </a:spcAft>
            </a:pPr>
            <a:r>
              <a:rPr sz="2000">
                <a:solidFill>
                  <a:srgbClr val="222B33"/>
                </a:solidFill>
                <a:latin typeface="Microsoft YaHei"/>
              </a:rPr>
              <a:t>▪ 离开前脱下防护用品，放在指定位置</a:t>
            </a:r>
          </a:p>
          <a:p>
            <a:pPr>
              <a:spcAft>
                <a:spcPts val="1000"/>
              </a:spcAft>
            </a:pPr>
            <a:r>
              <a:rPr sz="2000">
                <a:solidFill>
                  <a:srgbClr val="222B33"/>
                </a:solidFill>
                <a:latin typeface="Microsoft YaHei"/>
              </a:rPr>
              <a:t>▪ 管好自己，也是保护校园和社区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实验服和手套上可能沾有化学品或微生物。穿着实验服坐在办公桌前、去会议室或食堂，污染就会沾到桌面、门把手、水杯上，扩散到原本干净的区域。实验服、手套等防护用品一律不得穿出实验室或实验区。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穿着实验服去办公室、厕所或食堂</a:t>
            </a:r>
          </a:p>
          <a:p>
            <a:pPr>
              <a:spcAft>
                <a:spcPts val="1000"/>
              </a:spcAft>
            </a:pPr>
            <a:r>
              <a:rPr sz="1500">
                <a:solidFill>
                  <a:srgbClr val="222B33"/>
                </a:solidFill>
                <a:latin typeface="Microsoft YaHei"/>
              </a:rPr>
              <a:t>▪ 实验服搭在办公室椅背上</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污染物与清洁物分开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污染的和干净的东西绝不混放</a:t>
            </a:r>
          </a:p>
          <a:p>
            <a:pPr>
              <a:spcAft>
                <a:spcPts val="1000"/>
              </a:spcAft>
            </a:pPr>
            <a:r>
              <a:rPr sz="2000">
                <a:solidFill>
                  <a:srgbClr val="222B33"/>
                </a:solidFill>
                <a:latin typeface="Microsoft YaHei"/>
              </a:rPr>
              <a:t>▪ 记录本放在干净、溅不到的地方</a:t>
            </a:r>
          </a:p>
          <a:p>
            <a:pPr>
              <a:spcAft>
                <a:spcPts val="1000"/>
              </a:spcAft>
            </a:pPr>
            <a:r>
              <a:rPr sz="2000">
                <a:solidFill>
                  <a:srgbClr val="222B33"/>
                </a:solidFill>
                <a:latin typeface="Microsoft YaHei"/>
              </a:rPr>
              <a:t>▪ 别戴着脏手套写记录</a:t>
            </a:r>
          </a:p>
          <a:p>
            <a:pPr>
              <a:spcAft>
                <a:spcPts val="1000"/>
              </a:spcAft>
            </a:pPr>
            <a:r>
              <a:rPr sz="2000">
                <a:solidFill>
                  <a:srgbClr val="222B33"/>
                </a:solidFill>
                <a:latin typeface="Microsoft YaHei"/>
              </a:rPr>
              <a:t>▪ 实验用的本子和笔留在实验室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休息、吃饭、回家时，污染可能跟着人走。台面上要分清污染区和清洁区：用过的器皿、移液器、手套放在污染一侧，干净的器材、记录本放在另一侧，绝不混放。用过的东西，都先当它已被污染。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把记录本放在操作台中央</a:t>
            </a:r>
          </a:p>
          <a:p>
            <a:pPr>
              <a:spcAft>
                <a:spcPts val="1000"/>
              </a:spcAft>
            </a:pPr>
            <a:r>
              <a:rPr sz="1500">
                <a:solidFill>
                  <a:srgbClr val="222B33"/>
                </a:solidFill>
                <a:latin typeface="Microsoft YaHei"/>
              </a:rPr>
              <a:t>▪ 带着实验记录本边吃饭边看</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设备用后及时去污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设备用完，当天清洁去污</a:t>
            </a:r>
          </a:p>
          <a:p>
            <a:pPr>
              <a:spcAft>
                <a:spcPts val="1000"/>
              </a:spcAft>
            </a:pPr>
            <a:r>
              <a:rPr sz="2000">
                <a:solidFill>
                  <a:srgbClr val="222B33"/>
                </a:solidFill>
                <a:latin typeface="Microsoft YaHei"/>
              </a:rPr>
              <a:t>▪ 共用设备的残留会混进别人的实验</a:t>
            </a:r>
          </a:p>
          <a:p>
            <a:pPr>
              <a:spcAft>
                <a:spcPts val="1000"/>
              </a:spcAft>
            </a:pPr>
            <a:r>
              <a:rPr sz="2000">
                <a:solidFill>
                  <a:srgbClr val="222B33"/>
                </a:solidFill>
                <a:latin typeface="Microsoft YaHei"/>
              </a:rPr>
              <a:t>▪ 实验前、中、后都检查台面和设备</a:t>
            </a:r>
          </a:p>
          <a:p>
            <a:pPr>
              <a:spcAft>
                <a:spcPts val="1000"/>
              </a:spcAft>
            </a:pPr>
            <a:r>
              <a:rPr sz="2000">
                <a:solidFill>
                  <a:srgbClr val="222B33"/>
                </a:solidFill>
                <a:latin typeface="Microsoft YaHei"/>
              </a:rPr>
              <a:t>▪ 体谅前一个人，照顾下一个人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设备用完要按程序当天清洁、去污，不留到“明天再说”。共用的加热板、搅拌器、天平、离心机最容易积残留，你不知道下一个用它的人是谁、要做什么，残留物既可能伤到他，也会混进他的样品，让结果出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用完共用天平，不清理洒落的试剂</a:t>
            </a:r>
          </a:p>
          <a:p>
            <a:pPr>
              <a:spcAft>
                <a:spcPts val="1000"/>
              </a:spcAft>
            </a:pPr>
            <a:r>
              <a:rPr sz="1500">
                <a:solidFill>
                  <a:srgbClr val="222B33"/>
                </a:solidFill>
                <a:latin typeface="Microsoft YaHei"/>
              </a:rPr>
              <a:t>▪ 发现设备有残留，不清洁就直接用</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什么时候要洗手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摘下手套后马上洗手</a:t>
            </a:r>
          </a:p>
          <a:p>
            <a:pPr>
              <a:spcAft>
                <a:spcPts val="1000"/>
              </a:spcAft>
            </a:pPr>
            <a:r>
              <a:rPr sz="2000">
                <a:solidFill>
                  <a:srgbClr val="222B33"/>
                </a:solidFill>
                <a:latin typeface="Microsoft YaHei"/>
              </a:rPr>
              <a:t>▪ 接触化学品、微生物和样品后洗手</a:t>
            </a:r>
          </a:p>
          <a:p>
            <a:pPr>
              <a:spcAft>
                <a:spcPts val="1000"/>
              </a:spcAft>
            </a:pPr>
            <a:r>
              <a:rPr sz="2000">
                <a:solidFill>
                  <a:srgbClr val="222B33"/>
                </a:solidFill>
                <a:latin typeface="Microsoft YaHei"/>
              </a:rPr>
              <a:t>▪ 离开实验室前、吃饭喝水前洗手</a:t>
            </a:r>
          </a:p>
          <a:p>
            <a:pPr>
              <a:spcAft>
                <a:spcPts val="1000"/>
              </a:spcAft>
            </a:pPr>
            <a:r>
              <a:rPr sz="2000">
                <a:solidFill>
                  <a:srgbClr val="222B33"/>
                </a:solidFill>
                <a:latin typeface="Microsoft YaHei"/>
              </a:rPr>
              <a:t>▪ 手套破了或沾污了，及时更换</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手上的化学品和微生物，会被带到门把手、食物和脸上。以下时候必须洗手：摘下手套之后；接触化学品、微生物、动物或样品之后；离开实验室之前；吃饭、喝水、去洗手间之前。戴了手套不等于不用洗手，手套可能有看不见的破口，摘手套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认为戴了手套就不用洗手</a:t>
            </a:r>
          </a:p>
          <a:p>
            <a:pPr>
              <a:spcAft>
                <a:spcPts val="1000"/>
              </a:spcAft>
            </a:pPr>
            <a:r>
              <a:rPr sz="1500">
                <a:solidFill>
                  <a:srgbClr val="222B33"/>
                </a:solidFill>
                <a:latin typeface="Microsoft YaHei"/>
              </a:rPr>
              <a:t>▪ 离开实验室直接去吃饭，不洗手</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怎样把手洗干净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流水打湿，取洗手液</a:t>
            </a:r>
          </a:p>
          <a:p>
            <a:pPr>
              <a:spcAft>
                <a:spcPts val="1000"/>
              </a:spcAft>
            </a:pPr>
            <a:r>
              <a:rPr sz="2000">
                <a:solidFill>
                  <a:srgbClr val="222B33"/>
                </a:solidFill>
                <a:latin typeface="Microsoft YaHei"/>
              </a:rPr>
              <a:t>▪ 掌心、手背、指缝、指尖、拇指、手腕都搓到</a:t>
            </a:r>
          </a:p>
          <a:p>
            <a:pPr>
              <a:spcAft>
                <a:spcPts val="1000"/>
              </a:spcAft>
            </a:pPr>
            <a:r>
              <a:rPr sz="2000">
                <a:solidFill>
                  <a:srgbClr val="222B33"/>
                </a:solidFill>
                <a:latin typeface="Microsoft YaHei"/>
              </a:rPr>
              <a:t>▪ 揉搓后用流水冲干净</a:t>
            </a:r>
          </a:p>
          <a:p>
            <a:pPr>
              <a:spcAft>
                <a:spcPts val="1000"/>
              </a:spcAft>
            </a:pPr>
            <a:r>
              <a:rPr sz="2000">
                <a:solidFill>
                  <a:srgbClr val="222B33"/>
                </a:solidFill>
                <a:latin typeface="Microsoft YaHei"/>
              </a:rPr>
              <a:t>▪ 一次性纸巾擦干，用纸巾关水龙头</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洗手要用流动的水和洗手液（或肥皂）。步骤是：先用流水打湿双手，取适量洗手液；然后依次揉搓掌心、手背、指缝、指背、拇指、指尖和手腕，每个部位都要搓到，揉搓时间不少于 15 秒（以本校规定为准）；再用流水把泡沫冲干净。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只冲一下手心，不搓指缝和指尖</a:t>
            </a:r>
          </a:p>
          <a:p>
            <a:pPr>
              <a:spcAft>
                <a:spcPts val="1000"/>
              </a:spcAft>
            </a:pPr>
            <a:r>
              <a:rPr sz="1500">
                <a:solidFill>
                  <a:srgbClr val="222B33"/>
                </a:solidFill>
                <a:latin typeface="Microsoft YaHei"/>
              </a:rPr>
              <a:t>▪ 洗完手又徒手关水龙头</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休息到实验区外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休息时，先脱手套、洗手</a:t>
            </a:r>
          </a:p>
          <a:p>
            <a:pPr>
              <a:spcAft>
                <a:spcPts val="1000"/>
              </a:spcAft>
            </a:pPr>
            <a:r>
              <a:rPr sz="2000">
                <a:solidFill>
                  <a:srgbClr val="222B33"/>
                </a:solidFill>
                <a:latin typeface="Microsoft YaHei"/>
              </a:rPr>
              <a:t>▪ 喝水、吃东西都到实验区外</a:t>
            </a:r>
          </a:p>
          <a:p>
            <a:pPr>
              <a:spcAft>
                <a:spcPts val="1000"/>
              </a:spcAft>
            </a:pPr>
            <a:r>
              <a:rPr sz="2000">
                <a:solidFill>
                  <a:srgbClr val="222B33"/>
                </a:solidFill>
                <a:latin typeface="Microsoft YaHei"/>
              </a:rPr>
              <a:t>▪ 拉伸放松也在休息区做</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长时间实验需要休息时，先摘下手套、脱下实验服、洗手，再离开实验区。喝水、吃东西、拉伸放松，都在实验区外的休息区进行，不在实验台旁或通风柜前休息（工位与疲劳见第 147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戴着手套在实验台边喝水休息</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手上有伤口，先包好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手上有伤口，最容易被感染和受化学品伤害</a:t>
            </a:r>
          </a:p>
          <a:p>
            <a:pPr>
              <a:spcAft>
                <a:spcPts val="1000"/>
              </a:spcAft>
            </a:pPr>
            <a:r>
              <a:rPr sz="2000">
                <a:solidFill>
                  <a:srgbClr val="222B33"/>
                </a:solidFill>
                <a:latin typeface="Microsoft YaHei"/>
              </a:rPr>
              <a:t>▪ 用防水敷料包好，再戴手套</a:t>
            </a:r>
          </a:p>
          <a:p>
            <a:pPr>
              <a:spcAft>
                <a:spcPts val="1000"/>
              </a:spcAft>
            </a:pPr>
            <a:r>
              <a:rPr sz="2000">
                <a:solidFill>
                  <a:srgbClr val="222B33"/>
                </a:solidFill>
                <a:latin typeface="Microsoft YaHei"/>
              </a:rPr>
              <a:t>▪ 告诉实验室负责人，必要时调整工作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皮肤上的伤口会让化学品和病原微生物更容易进入人体。手上有伤口、破皮或皮肤病时，要先用防水敷料包扎好，再戴手套；并告诉实验室负责人或导师，必要时暂时调换不接触危险物质的工作。实验中受伤的处理和报告见第 158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手上有伤口不包扎，直接戴手套做实验</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防污染五要点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了解所用物质的危害</a:t>
            </a:r>
          </a:p>
          <a:p>
            <a:pPr>
              <a:spcAft>
                <a:spcPts val="1000"/>
              </a:spcAft>
            </a:pPr>
            <a:r>
              <a:rPr sz="2000">
                <a:solidFill>
                  <a:srgbClr val="222B33"/>
                </a:solidFill>
                <a:latin typeface="Microsoft YaHei"/>
              </a:rPr>
              <a:t>▪ 穿戴好防护，用好通风柜等工程控制</a:t>
            </a:r>
          </a:p>
          <a:p>
            <a:pPr>
              <a:spcAft>
                <a:spcPts val="1000"/>
              </a:spcAft>
            </a:pPr>
            <a:r>
              <a:rPr sz="2000">
                <a:solidFill>
                  <a:srgbClr val="222B33"/>
                </a:solidFill>
                <a:latin typeface="Microsoft YaHei"/>
              </a:rPr>
              <a:t>▪ 保持整洁，小心工作，不想当然</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防止污染扩散，可以记住五件事：一是了解所用物质的危害（安全技术说明书见第 041 课）；二是按要求穿戴防护用品；三是用好通风柜、生物安全柜等工程控制；四是保持台面和设备整洁；五是小心工作，不想当然，不凭“应该没事”省……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凭经验认为某种物质“没毒”，不做防护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实验服的存放与清洗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实验服挂在实验室内指定位置</a:t>
            </a:r>
          </a:p>
          <a:p>
            <a:pPr>
              <a:spcAft>
                <a:spcPts val="1000"/>
              </a:spcAft>
            </a:pPr>
            <a:r>
              <a:rPr sz="2000">
                <a:solidFill>
                  <a:srgbClr val="222B33"/>
                </a:solidFill>
                <a:latin typeface="Microsoft YaHei"/>
              </a:rPr>
              <a:t>▪ 不和日常衣物混放，不带回宿舍或家里洗</a:t>
            </a:r>
          </a:p>
          <a:p>
            <a:pPr>
              <a:spcAft>
                <a:spcPts val="1000"/>
              </a:spcAft>
            </a:pPr>
            <a:r>
              <a:rPr sz="2000">
                <a:solidFill>
                  <a:srgbClr val="222B33"/>
                </a:solidFill>
                <a:latin typeface="Microsoft YaHei"/>
              </a:rPr>
              <a:t>▪ 被污染的实验服按本校规定统一清洗或处置</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实验服不用时，挂在实验室内指定的挂钩或柜子里，与日常衣物、背包分开存放。实验服不带回宿舍或家中，也不和日常衣物一起清洗，以免把实验室的化学品和微生物带进生活区。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把实验服塞进书包带回宿舍</a:t>
            </a:r>
          </a:p>
          <a:p>
            <a:pPr>
              <a:spcAft>
                <a:spcPts val="1000"/>
              </a:spcAft>
            </a:pPr>
            <a:r>
              <a:rPr sz="1500">
                <a:solidFill>
                  <a:srgbClr val="222B33"/>
                </a:solidFill>
                <a:latin typeface="Microsoft YaHei"/>
              </a:rPr>
              <a:t>▪ 实验服沾了试剂，擦一擦继续穿</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下列哪一种着装适合进入化学实验室？</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短裤、凉鞋，外套实验服</a:t>
            </a:r>
          </a:p>
          <a:p>
            <a:pPr algn="l"/>
            <a:r>
              <a:rPr sz="1500" b="0">
                <a:solidFill>
                  <a:srgbClr val="222B33"/>
                </a:solidFill>
                <a:latin typeface="Microsoft YaHei"/>
              </a:rPr>
              <a:t>B. 长裤、网面运动鞋、披着长发</a:t>
            </a:r>
          </a:p>
          <a:p>
            <a:pPr algn="l"/>
            <a:r>
              <a:rPr sz="1500" b="0">
                <a:solidFill>
                  <a:srgbClr val="222B33"/>
                </a:solidFill>
                <a:latin typeface="Microsoft YaHei"/>
              </a:rPr>
              <a:t>C. 棉质长袖长裤、包脚鞋、长发束起、实验服扣好</a:t>
            </a:r>
          </a:p>
          <a:p>
            <a:pPr algn="l"/>
            <a:r>
              <a:rPr sz="1500" b="0">
                <a:solidFill>
                  <a:srgbClr val="222B33"/>
                </a:solidFill>
                <a:latin typeface="Microsoft YaHei"/>
              </a:rPr>
              <a:t>D. 裙子、丝袜、高跟鞋</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判断：午饭只是临时放一会儿，可以放在实验室冰箱里。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判断：做完实验时戴着手套，所以摘下手套后就不用洗手了。</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实验中需要出门去取一件东西，正确的做法是：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戴着手套直接开门出去</a:t>
            </a:r>
          </a:p>
          <a:p>
            <a:pPr algn="l"/>
            <a:r>
              <a:rPr sz="1500" b="0">
                <a:solidFill>
                  <a:srgbClr val="222B33"/>
                </a:solidFill>
                <a:latin typeface="Microsoft YaHei"/>
              </a:rPr>
              <a:t>B. 穿着实验服、戴着手套去</a:t>
            </a:r>
          </a:p>
          <a:p>
            <a:pPr algn="l"/>
            <a:r>
              <a:rPr sz="1500" b="0">
                <a:solidFill>
                  <a:srgbClr val="222B33"/>
                </a:solidFill>
                <a:latin typeface="Microsoft YaHei"/>
              </a:rPr>
              <a:t>C. 摘下手套、脱下实验服、洗手后再离开</a:t>
            </a:r>
          </a:p>
          <a:p>
            <a:pPr algn="l"/>
            <a:r>
              <a:rPr sz="1500" b="0">
                <a:solidFill>
                  <a:srgbClr val="222B33"/>
                </a:solidFill>
                <a:latin typeface="Microsoft YaHei"/>
              </a:rPr>
              <a:t>D. 戴两层手套出去</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下列哪一项不属于本课要求？</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进实验室前摘下戒指</a:t>
            </a:r>
          </a:p>
          <a:p>
            <a:pPr algn="l"/>
            <a:r>
              <a:rPr sz="1500" b="0">
                <a:solidFill>
                  <a:srgbClr val="222B33"/>
                </a:solidFill>
                <a:latin typeface="Microsoft YaHei"/>
              </a:rPr>
              <a:t>B. 用实验室纯水桶接水喝</a:t>
            </a:r>
          </a:p>
          <a:p>
            <a:pPr algn="l"/>
            <a:r>
              <a:rPr sz="1500" b="0">
                <a:solidFill>
                  <a:srgbClr val="222B33"/>
                </a:solidFill>
                <a:latin typeface="Microsoft YaHei"/>
              </a:rPr>
              <a:t>C. 不在实验水槽洗饭盒</a:t>
            </a:r>
          </a:p>
          <a:p>
            <a:pPr algn="l"/>
            <a:r>
              <a:rPr sz="1500" b="0">
                <a:solidFill>
                  <a:srgbClr val="222B33"/>
                </a:solidFill>
                <a:latin typeface="Microsoft YaHei"/>
              </a:rPr>
              <a:t>D. 记录本放在干净处</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简答：洗手时哪些部位容易漏洗？洗完后怎样关水龙头？</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污染是怎么传开的</a:t>
            </a:r>
          </a:p>
          <a:p>
            <a:pPr>
              <a:spcAft>
                <a:spcPts val="800"/>
              </a:spcAft>
            </a:pPr>
            <a:r>
              <a:rPr sz="1500">
                <a:solidFill>
                  <a:srgbClr val="FFFFFF"/>
                </a:solidFill>
                <a:latin typeface="Microsoft YaHei"/>
              </a:rPr>
              <a:t>▪ K2  衣物尽量遮住皮肤</a:t>
            </a:r>
          </a:p>
          <a:p>
            <a:pPr>
              <a:spcAft>
                <a:spcPts val="800"/>
              </a:spcAft>
            </a:pPr>
            <a:r>
              <a:rPr sz="1500">
                <a:solidFill>
                  <a:srgbClr val="FFFFFF"/>
                </a:solidFill>
                <a:latin typeface="Microsoft YaHei"/>
              </a:rPr>
              <a:t>▪ K3  长裤和包脚鞋</a:t>
            </a:r>
          </a:p>
          <a:p>
            <a:pPr>
              <a:spcAft>
                <a:spcPts val="800"/>
              </a:spcAft>
            </a:pPr>
            <a:r>
              <a:rPr sz="1500">
                <a:solidFill>
                  <a:srgbClr val="FFFFFF"/>
                </a:solidFill>
                <a:latin typeface="Microsoft YaHei"/>
              </a:rPr>
              <a:t>▪ K4  长发束起，衣物不宽松</a:t>
            </a:r>
          </a:p>
          <a:p>
            <a:pPr>
              <a:spcAft>
                <a:spcPts val="800"/>
              </a:spcAft>
            </a:pPr>
            <a:r>
              <a:rPr sz="1500">
                <a:solidFill>
                  <a:srgbClr val="FFFFFF"/>
                </a:solidFill>
                <a:latin typeface="Microsoft YaHei"/>
              </a:rPr>
              <a:t>▪ K5  摘下首饰</a:t>
            </a:r>
          </a:p>
          <a:p>
            <a:pPr>
              <a:spcAft>
                <a:spcPts val="800"/>
              </a:spcAft>
            </a:pPr>
            <a:r>
              <a:rPr sz="1500">
                <a:solidFill>
                  <a:srgbClr val="FFFFFF"/>
                </a:solidFill>
                <a:latin typeface="Microsoft YaHei"/>
              </a:rPr>
              <a:t>▪ K6  进门前的着装自查</a:t>
            </a:r>
          </a:p>
          <a:p>
            <a:pPr>
              <a:spcAft>
                <a:spcPts val="800"/>
              </a:spcAft>
            </a:pPr>
            <a:r>
              <a:rPr sz="1500">
                <a:solidFill>
                  <a:srgbClr val="FFFFFF"/>
                </a:solidFill>
                <a:latin typeface="Microsoft YaHei"/>
              </a:rPr>
              <a:t>▪ K7  私人物品不进实验区</a:t>
            </a:r>
          </a:p>
          <a:p>
            <a:pPr>
              <a:spcAft>
                <a:spcPts val="800"/>
              </a:spcAft>
            </a:pPr>
            <a:r>
              <a:rPr sz="1500">
                <a:solidFill>
                  <a:srgbClr val="FFFFFF"/>
                </a:solidFill>
                <a:latin typeface="Microsoft YaHei"/>
              </a:rPr>
              <a:t>▪ K8  不吃不喝，不吸烟不化妆</a:t>
            </a:r>
          </a:p>
          <a:p>
            <a:pPr>
              <a:spcAft>
                <a:spcPts val="800"/>
              </a:spcAft>
            </a:pPr>
            <a:r>
              <a:rPr sz="1500">
                <a:solidFill>
                  <a:srgbClr val="FFFFFF"/>
                </a:solidFill>
                <a:latin typeface="Microsoft YaHei"/>
              </a:rPr>
              <a:t>▪ K9  食品不进实验室，实验冰箱不放食物</a:t>
            </a:r>
          </a:p>
          <a:p>
            <a:pPr>
              <a:spcAft>
                <a:spcPts val="800"/>
              </a:spcAft>
            </a:pPr>
            <a:r>
              <a:rPr sz="1500">
                <a:solidFill>
                  <a:srgbClr val="FFFFFF"/>
                </a:solidFill>
                <a:latin typeface="Microsoft YaHei"/>
              </a:rPr>
              <a:t>▪ K10  实验室的水不能喝</a:t>
            </a:r>
          </a:p>
          <a:p>
            <a:pPr>
              <a:spcAft>
                <a:spcPts val="800"/>
              </a:spcAft>
            </a:pPr>
            <a:r>
              <a:rPr sz="1500">
                <a:solidFill>
                  <a:srgbClr val="FFFFFF"/>
                </a:solidFill>
                <a:latin typeface="Microsoft YaHei"/>
              </a:rPr>
              <a:t>▪ K11  管住摸脸的手</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K12  戴着手套不碰公共物品</a:t>
            </a:r>
          </a:p>
          <a:p>
            <a:pPr>
              <a:spcAft>
                <a:spcPts val="800"/>
              </a:spcAft>
            </a:pPr>
            <a:r>
              <a:rPr sz="1500">
                <a:solidFill>
                  <a:srgbClr val="FFFFFF"/>
                </a:solidFill>
                <a:latin typeface="Microsoft YaHei"/>
              </a:rPr>
              <a:t>▪ K13  实验服和手套不出实验室</a:t>
            </a:r>
          </a:p>
          <a:p>
            <a:pPr>
              <a:spcAft>
                <a:spcPts val="800"/>
              </a:spcAft>
            </a:pPr>
            <a:r>
              <a:rPr sz="1500">
                <a:solidFill>
                  <a:srgbClr val="FFFFFF"/>
                </a:solidFill>
                <a:latin typeface="Microsoft YaHei"/>
              </a:rPr>
              <a:t>▪ K14  污染物与清洁物分开</a:t>
            </a:r>
          </a:p>
          <a:p>
            <a:pPr>
              <a:spcAft>
                <a:spcPts val="800"/>
              </a:spcAft>
            </a:pPr>
            <a:r>
              <a:rPr sz="1500">
                <a:solidFill>
                  <a:srgbClr val="FFFFFF"/>
                </a:solidFill>
                <a:latin typeface="Microsoft YaHei"/>
              </a:rPr>
              <a:t>▪ K15  设备用后及时去污</a:t>
            </a:r>
          </a:p>
          <a:p>
            <a:pPr>
              <a:spcAft>
                <a:spcPts val="800"/>
              </a:spcAft>
            </a:pPr>
            <a:r>
              <a:rPr sz="1500">
                <a:solidFill>
                  <a:srgbClr val="FFFFFF"/>
                </a:solidFill>
                <a:latin typeface="Microsoft YaHei"/>
              </a:rPr>
              <a:t>▪ K16  什么时候要洗手</a:t>
            </a:r>
          </a:p>
          <a:p>
            <a:pPr>
              <a:spcAft>
                <a:spcPts val="800"/>
              </a:spcAft>
            </a:pPr>
            <a:r>
              <a:rPr sz="1500">
                <a:solidFill>
                  <a:srgbClr val="FFFFFF"/>
                </a:solidFill>
                <a:latin typeface="Microsoft YaHei"/>
              </a:rPr>
              <a:t>▪ K17  怎样把手洗干净</a:t>
            </a:r>
          </a:p>
          <a:p>
            <a:pPr>
              <a:spcAft>
                <a:spcPts val="800"/>
              </a:spcAft>
            </a:pPr>
            <a:r>
              <a:rPr sz="1500">
                <a:solidFill>
                  <a:srgbClr val="FFFFFF"/>
                </a:solidFill>
                <a:latin typeface="Microsoft YaHei"/>
              </a:rPr>
              <a:t>▪ K18  休息到实验区外</a:t>
            </a:r>
          </a:p>
          <a:p>
            <a:pPr>
              <a:spcAft>
                <a:spcPts val="800"/>
              </a:spcAft>
            </a:pPr>
            <a:r>
              <a:rPr sz="1500">
                <a:solidFill>
                  <a:srgbClr val="FFFFFF"/>
                </a:solidFill>
                <a:latin typeface="Microsoft YaHei"/>
              </a:rPr>
              <a:t>▪ K19  手上有伤口，先包好</a:t>
            </a:r>
          </a:p>
          <a:p>
            <a:pPr>
              <a:spcAft>
                <a:spcPts val="800"/>
              </a:spcAft>
            </a:pPr>
            <a:r>
              <a:rPr sz="1500">
                <a:solidFill>
                  <a:srgbClr val="FFFFFF"/>
                </a:solidFill>
                <a:latin typeface="Microsoft YaHei"/>
              </a:rPr>
              <a:t>▪ K20  防污染五要点</a:t>
            </a:r>
          </a:p>
          <a:p>
            <a:pPr>
              <a:spcAft>
                <a:spcPts val="800"/>
              </a:spcAft>
            </a:pPr>
            <a:r>
              <a:rPr sz="1500">
                <a:solidFill>
                  <a:srgbClr val="FFFFFF"/>
                </a:solidFill>
                <a:latin typeface="Microsoft YaHei"/>
              </a:rPr>
              <a:t>▪ S1  实验服的存放与清洗</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021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个人防护装备的选择</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第3章 通用安全与个人防护</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5.5 分钟（卡通视频 65 镜）　适用对象：全体进入高校实验室的本科生、研究生和教职工（必修）；实验室负责人、安全员和工程实训、维修施工相关人员重点学习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能说出个人防护装备按风险评估选择的原则，知道先查安全技术说明书、先预判危害和受伤部位。</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能判断选错、不合身、穿戴不对的防护为什么危险，做到用前检查、坏了脏了及时更换、用后维护存放。</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能说出一般实验的基本三件防护，以及安全帽、安全鞋、围裙等防护用品的适用场合和使用禁忌。</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能做到防护用品缺失或不合适时报告实验室负责人、补齐后再做实验。</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《中华人民共和国安全生产法》（以现行文本为准）：生产经营单位为从业人员提供符合国家标准或行业标准的劳动防护用品并监督、教育其正确佩戴使用，从业人员应正确佩戴和使用</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《中华人民共和国职业病防治法》（以现行文本为准）：提供符合防治职业病要求的个人防护用品</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号，以现行文本为准）：按实验风险配备个人防护用品，实验人员按要求佩戴</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39800.1-2020（以现行文本为准）《个体防护装备配备规范 第1部分：总则》：按危害辨识和风险评估配备，培训、使用、检查、维护和报废管理</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2811-2019（以现行文本为准）《头部防护 安全帽》</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21148-2020（以现行文本为准）《足部防护 安全鞋》</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日起施行）及《危险化学品安全管理条例》（以现行文本为准）；GB/T 16483-2008（以现行文本为准）《化学品安全技术说明书 内容和项目顺序》</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本校实验室安全管理制度、个人防护用品配备和发放规定（以本校规定为准）</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按风险评估选防护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戴什么防护，由风险评估决定</a:t>
            </a:r>
          </a:p>
          <a:p>
            <a:pPr>
              <a:spcAft>
                <a:spcPts val="1000"/>
              </a:spcAft>
            </a:pPr>
            <a:r>
              <a:rPr sz="2000">
                <a:solidFill>
                  <a:srgbClr val="222B33"/>
                </a:solidFill>
                <a:latin typeface="Microsoft YaHei"/>
              </a:rPr>
              <a:t>▪ 先查安全技术说明书中的防护建议</a:t>
            </a:r>
          </a:p>
          <a:p>
            <a:pPr>
              <a:spcAft>
                <a:spcPts val="1000"/>
              </a:spcAft>
            </a:pPr>
            <a:r>
              <a:rPr sz="2000">
                <a:solidFill>
                  <a:srgbClr val="222B33"/>
                </a:solidFill>
                <a:latin typeface="Microsoft YaHei"/>
              </a:rPr>
              <a:t>▪ 按所用化学品和实验条件选定</a:t>
            </a:r>
          </a:p>
          <a:p>
            <a:pPr>
              <a:spcAft>
                <a:spcPts val="1000"/>
              </a:spcAft>
            </a:pPr>
            <a:r>
              <a:rPr sz="2000">
                <a:solidFill>
                  <a:srgbClr val="222B33"/>
                </a:solidFill>
                <a:latin typeface="Microsoft YaHei"/>
              </a:rPr>
              <a:t>▪ 撤走全部化学品的讲台，才谈得上不穿防护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个人防护装备不是凭习惯随手拿的，而是按风险评估选出来的（风险评估见第 014–015 课）。做实验前，先查所用化学品的安全技术说明书（SDS），其中“接触控制和个体防护”部分给出了眼、手、呼吸和身体防护的建议（SDS……</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不看说明书，所有实验都只戴一副一次性手套</a:t>
            </a:r>
          </a:p>
          <a:p>
            <a:pPr>
              <a:spcAft>
                <a:spcPts val="1000"/>
              </a:spcAft>
            </a:pPr>
            <a:r>
              <a:rPr sz="1500">
                <a:solidFill>
                  <a:srgbClr val="222B33"/>
                </a:solidFill>
                <a:latin typeface="Microsoft YaHei"/>
              </a:rPr>
              <a:t>▪ 认为“只是讲解一下”，在摆满试剂的台前不戴防护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先预判危害，再定防护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先写下来：有哪些危害、会伤到哪个部位</a:t>
            </a:r>
          </a:p>
          <a:p>
            <a:pPr>
              <a:spcAft>
                <a:spcPts val="1000"/>
              </a:spcAft>
            </a:pPr>
            <a:r>
              <a:rPr sz="2000">
                <a:solidFill>
                  <a:srgbClr val="222B33"/>
                </a:solidFill>
                <a:latin typeface="Microsoft YaHei"/>
              </a:rPr>
              <a:t>▪ 危害是可以预见的，能预见就能提前准备</a:t>
            </a:r>
          </a:p>
          <a:p>
            <a:pPr>
              <a:spcAft>
                <a:spcPts val="1000"/>
              </a:spcAft>
            </a:pPr>
            <a:r>
              <a:rPr sz="2000">
                <a:solidFill>
                  <a:srgbClr val="222B33"/>
                </a:solidFill>
                <a:latin typeface="Microsoft YaHei"/>
              </a:rPr>
              <a:t>▪ 不确定所需防护，问清导师</a:t>
            </a:r>
          </a:p>
          <a:p>
            <a:pPr>
              <a:spcAft>
                <a:spcPts val="1000"/>
              </a:spcAft>
            </a:pPr>
            <a:r>
              <a:rPr sz="2000">
                <a:solidFill>
                  <a:srgbClr val="222B33"/>
                </a:solidFill>
                <a:latin typeface="Microsoft YaHei"/>
              </a:rPr>
              <a:t>▪ 同时想好出了事怎么应急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选防护之前，先做书面的危害评估：这次实验有哪些具体危害（飞溅、烫伤、冻伤、吸入、割伤、砸伤），会伤到身体的哪个部位。危害取决于你要做什么，是可以预见的；能预见，就能提前准备好合适的防护。凭感觉乱配，反而会带来新的危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先开始做，遇到问题再去找防护用品</a:t>
            </a:r>
          </a:p>
          <a:p>
            <a:pPr>
              <a:spcAft>
                <a:spcPts val="1000"/>
              </a:spcAft>
            </a:pPr>
            <a:r>
              <a:rPr sz="1500">
                <a:solidFill>
                  <a:srgbClr val="222B33"/>
                </a:solidFill>
                <a:latin typeface="Microsoft YaHei"/>
              </a:rPr>
              <a:t>▪ 只想到防护，没想到出了事怎么处置</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选错防护比不戴更危险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选错防护，比不戴还危险</a:t>
            </a:r>
          </a:p>
          <a:p>
            <a:pPr>
              <a:spcAft>
                <a:spcPts val="1000"/>
              </a:spcAft>
            </a:pPr>
            <a:r>
              <a:rPr sz="2000">
                <a:solidFill>
                  <a:srgbClr val="222B33"/>
                </a:solidFill>
                <a:latin typeface="Microsoft YaHei"/>
              </a:rPr>
              <a:t>▪ 它让人误以为自己很安全</a:t>
            </a:r>
          </a:p>
          <a:p>
            <a:pPr>
              <a:spcAft>
                <a:spcPts val="1000"/>
              </a:spcAft>
            </a:pPr>
            <a:r>
              <a:rPr sz="2000">
                <a:solidFill>
                  <a:srgbClr val="222B33"/>
                </a:solidFill>
                <a:latin typeface="Microsoft YaHei"/>
              </a:rPr>
              <a:t>▪ 防护必须和具体危害对得上</a:t>
            </a:r>
          </a:p>
          <a:p>
            <a:pPr>
              <a:spcAft>
                <a:spcPts val="1000"/>
              </a:spcAft>
            </a:pPr>
            <a:r>
              <a:rPr sz="2000">
                <a:solidFill>
                  <a:srgbClr val="222B33"/>
                </a:solidFill>
                <a:latin typeface="Microsoft YaHei"/>
              </a:rPr>
              <a:t>▪ 防护不是打勾走过场的表演</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选错的防护比不戴还危险：例如用挡不住某种溶剂的手套去接触它，溶剂会穿透手套并被闷在皮肤上，人却以为自己受到了保护，反而放松了警惕。防护用品必须和具体的危害对得上，选对材质、类型和防护等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认为“戴了总比没戴好”，不管型号是否合适</a:t>
            </a:r>
          </a:p>
          <a:p>
            <a:pPr>
              <a:spcAft>
                <a:spcPts val="1000"/>
              </a:spcAft>
            </a:pPr>
            <a:r>
              <a:rPr sz="1500">
                <a:solidFill>
                  <a:srgbClr val="222B33"/>
                </a:solidFill>
                <a:latin typeface="Microsoft YaHei"/>
              </a:rPr>
              <a:t>▪ 填表时一律勾选“已佩戴防护”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按危害和身体部位选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护目镜面屏护眼面，手套护手</a:t>
            </a:r>
          </a:p>
          <a:p>
            <a:pPr>
              <a:spcAft>
                <a:spcPts val="1000"/>
              </a:spcAft>
            </a:pPr>
            <a:r>
              <a:rPr sz="2000">
                <a:solidFill>
                  <a:srgbClr val="222B33"/>
                </a:solidFill>
                <a:latin typeface="Microsoft YaHei"/>
              </a:rPr>
              <a:t>▪ 口罩和呼吸器护呼吸，实验服防护服护身体</a:t>
            </a:r>
          </a:p>
          <a:p>
            <a:pPr>
              <a:spcAft>
                <a:spcPts val="1000"/>
              </a:spcAft>
            </a:pPr>
            <a:r>
              <a:rPr sz="2000">
                <a:solidFill>
                  <a:srgbClr val="222B33"/>
                </a:solidFill>
                <a:latin typeface="Microsoft YaHei"/>
              </a:rPr>
              <a:t>▪ 取液氮戴防冻手套，手套材质按化学品选</a:t>
            </a:r>
          </a:p>
          <a:p>
            <a:pPr>
              <a:spcAft>
                <a:spcPts val="1000"/>
              </a:spcAft>
            </a:pPr>
            <a:r>
              <a:rPr sz="2000">
                <a:solidFill>
                  <a:srgbClr val="222B33"/>
                </a:solidFill>
                <a:latin typeface="Microsoft YaHei"/>
              </a:rPr>
              <a:t>▪ 特殊工作、应急处置，换上专门的防护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不同部位有不同的防护：安全眼镜、护目镜、面屏保护眼面部（第 022 课）；手套保护手（第 023 课）；实验服和防护服保护身体（第 024 课）；口罩和呼吸器保护呼吸（第 025 课）；安全帽和安全鞋保护头部和足部（……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用一次性薄手套去拿液氮容器</a:t>
            </a:r>
          </a:p>
          <a:p>
            <a:pPr>
              <a:spcAft>
                <a:spcPts val="1000"/>
              </a:spcAft>
            </a:pPr>
            <a:r>
              <a:rPr sz="1500">
                <a:solidFill>
                  <a:srgbClr val="222B33"/>
                </a:solidFill>
                <a:latin typeface="Microsoft YaHei"/>
              </a:rPr>
              <a:t>▪ 只戴护目镜，做喷溅风险大的操作不加面屏</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一般实验的基本三件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一般化学实验：实验服、护目镜、手套</a:t>
            </a:r>
          </a:p>
          <a:p>
            <a:pPr>
              <a:spcAft>
                <a:spcPts val="1000"/>
              </a:spcAft>
            </a:pPr>
            <a:r>
              <a:rPr sz="2000">
                <a:solidFill>
                  <a:srgbClr val="222B33"/>
                </a:solidFill>
                <a:latin typeface="Microsoft YaHei"/>
              </a:rPr>
              <a:t>▪ 三件一样不能少，在着装合格的基础上穿戴</a:t>
            </a:r>
          </a:p>
          <a:p>
            <a:pPr>
              <a:spcAft>
                <a:spcPts val="1000"/>
              </a:spcAft>
            </a:pPr>
            <a:r>
              <a:rPr sz="2000">
                <a:solidFill>
                  <a:srgbClr val="222B33"/>
                </a:solidFill>
                <a:latin typeface="Microsoft YaHei"/>
              </a:rPr>
              <a:t>▪ 防护既保护人，也保护样品不被污染</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一般的化学、生物教学和科研实验，最低配置是三件：实验服（扣好）、安全眼镜或护目镜（全程佩戴）、按试剂选择的手套。这三件是在第 020 课着装要求合格（长裤、包脚鞋、长发束起）的基础上穿戴的，风险更高时再按评估增加。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实验服穿了，护目镜挂在头顶</a:t>
            </a:r>
          </a:p>
          <a:p>
            <a:pPr>
              <a:spcAft>
                <a:spcPts val="1000"/>
              </a:spcAft>
            </a:pPr>
            <a:r>
              <a:rPr sz="1500">
                <a:solidFill>
                  <a:srgbClr val="222B33"/>
                </a:solidFill>
                <a:latin typeface="Microsoft YaHei"/>
              </a:rPr>
              <a:t>▪ 认为“只是配个缓冲液”，三件不全</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防护区域和防护用品存放处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每个实验室都规定了必须防护的区域</a:t>
            </a:r>
          </a:p>
          <a:p>
            <a:pPr>
              <a:spcAft>
                <a:spcPts val="1000"/>
              </a:spcAft>
            </a:pPr>
            <a:r>
              <a:rPr sz="2000">
                <a:solidFill>
                  <a:srgbClr val="222B33"/>
                </a:solidFill>
                <a:latin typeface="Microsoft YaHei"/>
              </a:rPr>
              <a:t>▪ 进门先看标志，按要求穿戴</a:t>
            </a:r>
          </a:p>
          <a:p>
            <a:pPr>
              <a:spcAft>
                <a:spcPts val="1000"/>
              </a:spcAft>
            </a:pPr>
            <a:r>
              <a:rPr sz="2000">
                <a:solidFill>
                  <a:srgbClr val="222B33"/>
                </a:solidFill>
                <a:latin typeface="Microsoft YaHei"/>
              </a:rPr>
              <a:t>▪ 知道防护用品集中存放在哪里</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每个实验室都规定了必须穿戴防护的区域，有的在门口、有的在某台设备旁，用“必须戴护目镜”“必须戴防护手套”等指令标志标明（安全标志见第 026 课）。进入前看清标志，按要求穿戴好，进入区域后一步也不能少。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只看人家穿什么，不看门口的指令标志</a:t>
            </a:r>
          </a:p>
          <a:p>
            <a:pPr>
              <a:spcAft>
                <a:spcPts val="1000"/>
              </a:spcAft>
            </a:pPr>
            <a:r>
              <a:rPr sz="1500">
                <a:solidFill>
                  <a:srgbClr val="222B33"/>
                </a:solidFill>
                <a:latin typeface="Microsoft YaHei"/>
              </a:rPr>
              <a:t>▪ 不知道备用防护用品放在哪里，随手借用别人的</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学校配备，个人用好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学校和实验室按规定配齐合格的防护用品</a:t>
            </a:r>
          </a:p>
          <a:p>
            <a:pPr>
              <a:spcAft>
                <a:spcPts val="1000"/>
              </a:spcAft>
            </a:pPr>
            <a:r>
              <a:rPr sz="2000">
                <a:solidFill>
                  <a:srgbClr val="222B33"/>
                </a:solidFill>
                <a:latin typeface="Microsoft YaHei"/>
              </a:rPr>
              <a:t>▪ 穿对、戴好、保持完好，是每个人的责任</a:t>
            </a:r>
          </a:p>
          <a:p>
            <a:pPr>
              <a:spcAft>
                <a:spcPts val="1000"/>
              </a:spcAft>
            </a:pPr>
            <a:r>
              <a:rPr sz="2000">
                <a:solidFill>
                  <a:srgbClr val="222B33"/>
                </a:solidFill>
                <a:latin typeface="Microsoft YaHei"/>
              </a:rPr>
              <a:t>▪ 规定要戴的，是硬要求，不是想戴才戴</a:t>
            </a:r>
          </a:p>
          <a:p>
            <a:pPr>
              <a:spcAft>
                <a:spcPts val="1000"/>
              </a:spcAft>
            </a:pPr>
            <a:r>
              <a:rPr sz="2000">
                <a:solidFill>
                  <a:srgbClr val="222B33"/>
                </a:solidFill>
                <a:latin typeface="Microsoft YaHei"/>
              </a:rPr>
              <a:t>▪ 用品坏了、不够了，及时说</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按《中华人民共和国安全生产法》等规定，单位要为人员提供符合国家标准或行业标准的劳动防护用品，并教育、监督正确佩戴；在高校，由学校、学院和实验室按实验风险配齐合格的个人防护用品（配备原则见 GB 39800.1-202……</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认为防护用品是“建议”，嫌麻烦就不戴</a:t>
            </a:r>
          </a:p>
          <a:p>
            <a:pPr>
              <a:spcAft>
                <a:spcPts val="1000"/>
              </a:spcAft>
            </a:pPr>
            <a:r>
              <a:rPr sz="1500">
                <a:solidFill>
                  <a:srgbClr val="222B33"/>
                </a:solidFill>
                <a:latin typeface="Microsoft YaHei"/>
              </a:rPr>
              <a:t>▪ 防护用品坏了自己凑合用，不报告</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舒适合身才会坚持穿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不合身、太闷热，人就容易出错、偷偷摘下</a:t>
            </a:r>
          </a:p>
          <a:p>
            <a:pPr>
              <a:spcAft>
                <a:spcPts val="1000"/>
              </a:spcAft>
            </a:pPr>
            <a:r>
              <a:rPr sz="2000">
                <a:solidFill>
                  <a:srgbClr val="222B33"/>
                </a:solidFill>
                <a:latin typeface="Microsoft YaHei"/>
              </a:rPr>
              <a:t>▪ 过热、脱水、厌烦都会让人犯错</a:t>
            </a:r>
          </a:p>
          <a:p>
            <a:pPr>
              <a:spcAft>
                <a:spcPts val="1000"/>
              </a:spcAft>
            </a:pPr>
            <a:r>
              <a:rPr sz="2000">
                <a:solidFill>
                  <a:srgbClr val="222B33"/>
                </a:solidFill>
                <a:latin typeface="Microsoft YaHei"/>
              </a:rPr>
              <a:t>▪ 尺码齐全，选对型号，调好松紧</a:t>
            </a:r>
          </a:p>
          <a:p>
            <a:pPr>
              <a:spcAft>
                <a:spcPts val="1000"/>
              </a:spcAft>
            </a:pPr>
            <a:r>
              <a:rPr sz="2000">
                <a:solidFill>
                  <a:srgbClr val="222B33"/>
                </a:solidFill>
                <a:latin typeface="Microsoft YaHei"/>
              </a:rPr>
              <a:t>▪ 戴眼镜的人选能罩住眼镜的护目镜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舒适性也是安全问题。护具不合身、太闷热，人就会分心、出汗、厌烦，容易出错，甚至偷偷摘下；长时间穿戴还可能过热、脱水。防护用品戴全了还受伤，多半是不合适或没用对。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手套太大，捏不住器皿就摘掉</a:t>
            </a:r>
          </a:p>
          <a:p>
            <a:pPr>
              <a:spcAft>
                <a:spcPts val="1000"/>
              </a:spcAft>
            </a:pPr>
            <a:r>
              <a:rPr sz="1500">
                <a:solidFill>
                  <a:srgbClr val="222B33"/>
                </a:solidFill>
                <a:latin typeface="Microsoft YaHei"/>
              </a:rPr>
              <a:t>▪ 护目镜起雾、勒得疼，干脆推到额头上</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用前检查，坏了脏了就换</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每次用前检查有无破损、裂纹、磨损</a:t>
            </a:r>
          </a:p>
          <a:p>
            <a:pPr>
              <a:spcAft>
                <a:spcPts val="1000"/>
              </a:spcAft>
            </a:pPr>
            <a:r>
              <a:rPr sz="2000">
                <a:solidFill>
                  <a:srgbClr val="222B33"/>
                </a:solidFill>
                <a:latin typeface="Microsoft YaHei"/>
              </a:rPr>
              <a:t>▪ 镜片划花、面屏开裂、手套破洞都要换</a:t>
            </a:r>
          </a:p>
          <a:p>
            <a:pPr>
              <a:spcAft>
                <a:spcPts val="1000"/>
              </a:spcAft>
            </a:pPr>
            <a:r>
              <a:rPr sz="2000">
                <a:solidFill>
                  <a:srgbClr val="222B33"/>
                </a:solidFill>
                <a:latin typeface="Microsoft YaHei"/>
              </a:rPr>
              <a:t>▪ 可能被污染，立即更换</a:t>
            </a:r>
          </a:p>
          <a:p>
            <a:pPr>
              <a:spcAft>
                <a:spcPts val="1000"/>
              </a:spcAft>
            </a:pPr>
            <a:r>
              <a:rPr sz="2000">
                <a:solidFill>
                  <a:srgbClr val="222B33"/>
                </a:solidFill>
                <a:latin typeface="Microsoft YaHei"/>
              </a:rPr>
              <a:t>▪ 一整天都留意防护用品的状况</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防护用品每次穿戴前都要检查：手套有没有破洞、变色、发硬；护目镜和面屏镜片有没有划花、开裂；实验服有没有破损和污染；呼吸器滤盒有没有过期、失效（第 025 课）。有裂纹、磨损的，能修的修好，不能修的报废换新。还要检查大……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不检查就戴上，做到一半才发现手套漏了</a:t>
            </a:r>
          </a:p>
          <a:p>
            <a:pPr>
              <a:spcAft>
                <a:spcPts val="1000"/>
              </a:spcAft>
            </a:pPr>
            <a:r>
              <a:rPr sz="1500">
                <a:solidFill>
                  <a:srgbClr val="222B33"/>
                </a:solidFill>
                <a:latin typeface="Microsoft YaHei"/>
              </a:rPr>
              <a:t>▪ 手套沾了试剂，擦一擦继续用</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维护好，穿戴正确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防护是最后一道防线，也要维护好、穿正确</a:t>
            </a:r>
          </a:p>
          <a:p>
            <a:pPr>
              <a:spcAft>
                <a:spcPts val="1000"/>
              </a:spcAft>
            </a:pPr>
            <a:r>
              <a:rPr sz="2000">
                <a:solidFill>
                  <a:srgbClr val="222B33"/>
                </a:solidFill>
                <a:latin typeface="Microsoft YaHei"/>
              </a:rPr>
              <a:t>▪ 用完清洁，单独妥善存放，能专人专用的专用</a:t>
            </a:r>
          </a:p>
          <a:p>
            <a:pPr>
              <a:spcAft>
                <a:spcPts val="1000"/>
              </a:spcAft>
            </a:pPr>
            <a:r>
              <a:rPr sz="2000">
                <a:solidFill>
                  <a:srgbClr val="222B33"/>
                </a:solidFill>
                <a:latin typeface="Microsoft YaHei"/>
              </a:rPr>
              <a:t>▪ 按顺序穿戴，按顺序脱下</a:t>
            </a:r>
          </a:p>
          <a:p>
            <a:pPr>
              <a:spcAft>
                <a:spcPts val="1000"/>
              </a:spcAft>
            </a:pPr>
            <a:r>
              <a:rPr sz="2000">
                <a:solidFill>
                  <a:srgbClr val="222B33"/>
                </a:solidFill>
                <a:latin typeface="Microsoft YaHei"/>
              </a:rPr>
              <a:t>▪ 脱时不碰外表面，脱完洗手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个人防护虽是最后一道防线（第 017 课），也要维护好、穿戴正确，它才是挡在危害前面的一层墙。可重复使用的护目镜、面屏、呼吸器用完要清洁，单独存放在干净、干燥、避光处，能专人专用的专人专用。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护目镜用完随手扔在实验台上</a:t>
            </a:r>
          </a:p>
          <a:p>
            <a:pPr>
              <a:spcAft>
                <a:spcPts val="1000"/>
              </a:spcAft>
            </a:pPr>
            <a:r>
              <a:rPr sz="1500">
                <a:solidFill>
                  <a:srgbClr val="222B33"/>
                </a:solidFill>
                <a:latin typeface="Microsoft YaHei"/>
              </a:rPr>
              <a:t>▪ 脱手套时用手抓外面，再徒手碰脸</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缺了用错，及时报告补齐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穿戴不对，等于没戴</a:t>
            </a:r>
          </a:p>
          <a:p>
            <a:pPr>
              <a:spcAft>
                <a:spcPts val="1000"/>
              </a:spcAft>
            </a:pPr>
            <a:r>
              <a:rPr sz="2000">
                <a:solidFill>
                  <a:srgbClr val="222B33"/>
                </a:solidFill>
                <a:latin typeface="Microsoft YaHei"/>
              </a:rPr>
              <a:t>▪ 用品缺了，暴露风险就上升</a:t>
            </a:r>
          </a:p>
          <a:p>
            <a:pPr>
              <a:spcAft>
                <a:spcPts val="1000"/>
              </a:spcAft>
            </a:pPr>
            <a:r>
              <a:rPr sz="2000">
                <a:solidFill>
                  <a:srgbClr val="222B33"/>
                </a:solidFill>
                <a:latin typeface="Microsoft YaHei"/>
              </a:rPr>
              <a:t>▪ 及时报告实验室负责人，补齐再做</a:t>
            </a:r>
          </a:p>
          <a:p>
            <a:pPr>
              <a:spcAft>
                <a:spcPts val="1000"/>
              </a:spcAft>
            </a:pPr>
            <a:r>
              <a:rPr sz="2000">
                <a:solidFill>
                  <a:srgbClr val="222B33"/>
                </a:solidFill>
                <a:latin typeface="Microsoft YaHei"/>
              </a:rPr>
              <a:t>▪ 不戴、戴不对，最显得不专业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防护用品穿戴不对，等于没戴；用品缺了，暴露风险就上升。发现防护用品缺失、尺码不合适或型号不对时，不要凑合，及时报告实验室负责人或安全员，补齐后再做实验。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合适的手套用完了，换别的型号凑合</a:t>
            </a:r>
          </a:p>
          <a:p>
            <a:pPr>
              <a:spcAft>
                <a:spcPts val="1000"/>
              </a:spcAft>
            </a:pPr>
            <a:r>
              <a:rPr sz="1500">
                <a:solidFill>
                  <a:srgbClr val="222B33"/>
                </a:solidFill>
                <a:latin typeface="Microsoft YaHei"/>
              </a:rPr>
              <a:t>▪ 看到同学防护不到位，不提醒</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“就一分钟”也要戴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“就一分钟”，最容易不戴护目镜</a:t>
            </a:r>
          </a:p>
          <a:p>
            <a:pPr>
              <a:spcAft>
                <a:spcPts val="1000"/>
              </a:spcAft>
            </a:pPr>
            <a:r>
              <a:rPr sz="2000">
                <a:solidFill>
                  <a:srgbClr val="222B33"/>
                </a:solidFill>
                <a:latin typeface="Microsoft YaHei"/>
              </a:rPr>
              <a:t>▪ 再短的操作，防护也不能省</a:t>
            </a:r>
          </a:p>
          <a:p>
            <a:pPr>
              <a:spcAft>
                <a:spcPts val="1000"/>
              </a:spcAft>
            </a:pPr>
            <a:r>
              <a:rPr sz="2000">
                <a:solidFill>
                  <a:srgbClr val="222B33"/>
                </a:solidFill>
                <a:latin typeface="Microsoft YaHei"/>
              </a:rPr>
              <a:t>▪ 在真实操作中观察，趁早发现偏离</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最常见的防护失效，往往出在“就一分钟”“就看一眼”“马上就好”的时候：取个试剂、看一下反应、帮同学递个东西，护目镜就没戴。事故不会因为操作时间短而不发生，再短的操作，防护也不能省。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进实验室“拿个东西”不戴护目镜</a:t>
            </a:r>
          </a:p>
          <a:p>
            <a:pPr>
              <a:spcAft>
                <a:spcPts val="1000"/>
              </a:spcAft>
            </a:pPr>
            <a:r>
              <a:rPr sz="1500">
                <a:solidFill>
                  <a:srgbClr val="222B33"/>
                </a:solidFill>
                <a:latin typeface="Microsoft YaHei"/>
              </a:rPr>
              <a:t>▪ 只在检查时戴，平时不戴</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头部防护：安全帽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有物体坠落、碰头风险时戴安全帽</a:t>
            </a:r>
          </a:p>
          <a:p>
            <a:pPr>
              <a:spcAft>
                <a:spcPts val="1000"/>
              </a:spcAft>
            </a:pPr>
            <a:r>
              <a:rPr sz="2000">
                <a:solidFill>
                  <a:srgbClr val="222B33"/>
                </a:solidFill>
                <a:latin typeface="Microsoft YaHei"/>
              </a:rPr>
              <a:t>▪ 调好帽衬，系好下颏带，长发收进帽内</a:t>
            </a:r>
          </a:p>
          <a:p>
            <a:pPr>
              <a:spcAft>
                <a:spcPts val="1000"/>
              </a:spcAft>
            </a:pPr>
            <a:r>
              <a:rPr sz="2000">
                <a:solidFill>
                  <a:srgbClr val="222B33"/>
                </a:solidFill>
                <a:latin typeface="Microsoft YaHei"/>
              </a:rPr>
              <a:t>▪ 不钻孔、不改装，会削弱强度</a:t>
            </a:r>
          </a:p>
          <a:p>
            <a:pPr>
              <a:spcAft>
                <a:spcPts val="1000"/>
              </a:spcAft>
            </a:pPr>
            <a:r>
              <a:rPr sz="2000">
                <a:solidFill>
                  <a:srgbClr val="222B33"/>
                </a:solidFill>
                <a:latin typeface="Microsoft YaHei"/>
              </a:rPr>
              <a:t>▪ 受过冲击或超过使用期限的要更换</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头部防护用于防砸、防撞，并防止长发被卷入。在实验楼施工改造、设备吊装、高处有物体可能坠落、工程实训等场所，要按要求戴安全帽；骑电动车、摩托车要戴头盔。安全帽要按 GB 2811-2019（以现行文本为准）选用合格产品……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安全帽只顶在头上，不系下颏带</a:t>
            </a:r>
          </a:p>
          <a:p>
            <a:pPr>
              <a:spcAft>
                <a:spcPts val="1000"/>
              </a:spcAft>
            </a:pPr>
            <a:r>
              <a:rPr sz="1500">
                <a:solidFill>
                  <a:srgbClr val="222B33"/>
                </a:solidFill>
                <a:latin typeface="Microsoft YaHei"/>
              </a:rPr>
              <a:t>▪ 为了凉快在帽壳上钻孔</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足部防护：安全鞋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按风险选防砸、防刺穿、防滑、防化学品的鞋</a:t>
            </a:r>
          </a:p>
          <a:p>
            <a:pPr>
              <a:spcAft>
                <a:spcPts val="1000"/>
              </a:spcAft>
            </a:pPr>
            <a:r>
              <a:rPr sz="2000">
                <a:solidFill>
                  <a:srgbClr val="222B33"/>
                </a:solidFill>
                <a:latin typeface="Microsoft YaHei"/>
              </a:rPr>
              <a:t>▪ 防静电鞋和电绝缘鞋用途不同，不能混用</a:t>
            </a:r>
          </a:p>
          <a:p>
            <a:pPr>
              <a:spcAft>
                <a:spcPts val="1000"/>
              </a:spcAft>
            </a:pPr>
            <a:r>
              <a:rPr sz="2000">
                <a:solidFill>
                  <a:srgbClr val="222B33"/>
                </a:solidFill>
                <a:latin typeface="Microsoft YaHei"/>
              </a:rPr>
              <a:t>▪ 穿胶靴也要防砸；焊接、搬运穿防砸防烫鞋</a:t>
            </a:r>
          </a:p>
          <a:p>
            <a:pPr>
              <a:spcAft>
                <a:spcPts val="1000"/>
              </a:spcAft>
            </a:pPr>
            <a:r>
              <a:rPr sz="2000">
                <a:solidFill>
                  <a:srgbClr val="222B33"/>
                </a:solidFill>
                <a:latin typeface="Microsoft YaHei"/>
              </a:rPr>
              <a:t>▪ 穿了安全鞋，也不能代替远离危险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足部防护要按风险选择：有重物搬运和坠落风险的，穿有保护包头的防砸鞋；地面有钉子、碎屑的，选防刺穿鞋；地面湿滑的，选防滑鞋；可能接触化学品的，选耐化学品的鞋或胶靴（胶靴同样要有防砸包头）；焊接、熔融金属作业，穿防砸、防……</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穿普通胶靴搬运重物</a:t>
            </a:r>
          </a:p>
          <a:p>
            <a:pPr>
              <a:spcAft>
                <a:spcPts val="1000"/>
              </a:spcAft>
            </a:pPr>
            <a:r>
              <a:rPr sz="1500">
                <a:solidFill>
                  <a:srgbClr val="222B33"/>
                </a:solidFill>
                <a:latin typeface="Microsoft YaHei"/>
              </a:rPr>
              <a:t>▪ 把防静电鞋当成绝缘鞋使用</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防护重要，但还不够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穿对、戴好，能大大降低伤害</a:t>
            </a:r>
          </a:p>
          <a:p>
            <a:pPr>
              <a:spcAft>
                <a:spcPts val="1000"/>
              </a:spcAft>
            </a:pPr>
            <a:r>
              <a:rPr sz="2000">
                <a:solidFill>
                  <a:srgbClr val="222B33"/>
                </a:solidFill>
                <a:latin typeface="Microsoft YaHei"/>
              </a:rPr>
              <a:t>▪ 光靠防护不够，还要安全设施和控制措施</a:t>
            </a:r>
          </a:p>
          <a:p>
            <a:pPr>
              <a:spcAft>
                <a:spcPts val="1000"/>
              </a:spcAft>
            </a:pPr>
            <a:r>
              <a:rPr sz="2000">
                <a:solidFill>
                  <a:srgbClr val="222B33"/>
                </a:solidFill>
                <a:latin typeface="Microsoft YaHei"/>
              </a:rPr>
              <a:t>▪ 防护是控制层级的最后一层</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个人防护穿对、戴好，能大大降低伤害的程度，但它只是控制层级的最后一层（第 017 课）。光靠防护还不够，还要有通风柜、洗眼器和紧急喷淋等安全设施（第 027 课），以及消除、替代、工程控制和管理措施。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认为防护穿全了，就可以不开通风柜</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围裙、袖套等其他防护用品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大量倾倒腐蚀品等，在实验服外加防化围裙</a:t>
            </a:r>
          </a:p>
          <a:p>
            <a:pPr>
              <a:spcAft>
                <a:spcPts val="1000"/>
              </a:spcAft>
            </a:pPr>
            <a:r>
              <a:rPr sz="2000">
                <a:solidFill>
                  <a:srgbClr val="222B33"/>
                </a:solidFill>
                <a:latin typeface="Microsoft YaHei"/>
              </a:rPr>
              <a:t>▪ 袖套、隔热手套、耳塞等按风险加配</a:t>
            </a:r>
          </a:p>
          <a:p>
            <a:pPr>
              <a:spcAft>
                <a:spcPts val="1000"/>
              </a:spcAft>
            </a:pPr>
            <a:r>
              <a:rPr sz="2000">
                <a:solidFill>
                  <a:srgbClr val="222B33"/>
                </a:solidFill>
                <a:latin typeface="Microsoft YaHei"/>
              </a:rPr>
              <a:t>▪ 选有合格证明、标识清楚的产品</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除了基本防护，还有一些按需加配的防护用品：倾倒、转移较大量的酸碱等腐蚀性液体时，在实验服外加耐化学品的防化围裙，必要时加袖套；接触高温器物用隔热手套（第 023 课）；噪声较大的场所戴耳塞或耳罩（第 150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用普通塑料袋当围裙</a:t>
            </a:r>
          </a:p>
          <a:p>
            <a:pPr>
              <a:spcAft>
                <a:spcPts val="1000"/>
              </a:spcAft>
            </a:pPr>
            <a:r>
              <a:rPr sz="1500">
                <a:solidFill>
                  <a:srgbClr val="222B33"/>
                </a:solidFill>
                <a:latin typeface="Microsoft YaHei"/>
              </a:rPr>
              <a:t>▪ 采购没有标识的低价防护用品</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先培训，会选会用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使用前先接受培训：会选、会穿、会脱</a:t>
            </a:r>
          </a:p>
          <a:p>
            <a:pPr>
              <a:spcAft>
                <a:spcPts val="1000"/>
              </a:spcAft>
            </a:pPr>
            <a:r>
              <a:rPr sz="2000">
                <a:solidFill>
                  <a:srgbClr val="222B33"/>
                </a:solidFill>
                <a:latin typeface="Microsoft YaHei"/>
              </a:rPr>
              <a:t>▪ 还要会检查，知道什么时候报废</a:t>
            </a:r>
          </a:p>
          <a:p>
            <a:pPr>
              <a:spcAft>
                <a:spcPts val="1000"/>
              </a:spcAft>
            </a:pPr>
            <a:r>
              <a:rPr sz="2000">
                <a:solidFill>
                  <a:srgbClr val="222B33"/>
                </a:solidFill>
                <a:latin typeface="Microsoft YaHei"/>
              </a:rPr>
              <a:t>▪ 培训和使用情况按本校规定记录</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个人防护用品要“会用”才有效。进入实验室前的安全培训中，要学会本实验室所用防护用品的选择、穿戴、脱卸、检查、清洁、存放和报废判断；呼吸器等专业防护还要单独培训和适合性检验（第 025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第一次用呼吸器，没人教就自己戴上</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选择个人防护装备的主要依据是：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别人穿什么</a:t>
            </a:r>
          </a:p>
          <a:p>
            <a:pPr algn="l"/>
            <a:r>
              <a:rPr sz="1500" b="0">
                <a:solidFill>
                  <a:srgbClr val="222B33"/>
                </a:solidFill>
                <a:latin typeface="Microsoft YaHei"/>
              </a:rPr>
              <a:t>B. 风险评估和化学品安全技术说明书</a:t>
            </a:r>
          </a:p>
          <a:p>
            <a:pPr algn="l"/>
            <a:r>
              <a:rPr sz="1500" b="0">
                <a:solidFill>
                  <a:srgbClr val="222B33"/>
                </a:solidFill>
                <a:latin typeface="Microsoft YaHei"/>
              </a:rPr>
              <a:t>C. 价格</a:t>
            </a:r>
          </a:p>
          <a:p>
            <a:pPr algn="l"/>
            <a:r>
              <a:rPr sz="1500" b="0">
                <a:solidFill>
                  <a:srgbClr val="222B33"/>
                </a:solidFill>
                <a:latin typeface="Microsoft YaHei"/>
              </a:rPr>
              <a:t>D. 个人喜好</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判断：只要戴了手套，不管什么型号，总比不戴好。</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判断：为了通风凉快，可以在安全帽上钻几个小孔。</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实验室合适尺码的手套用完了，正确的做法是：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换一种型号凑合用</a:t>
            </a:r>
          </a:p>
          <a:p>
            <a:pPr algn="l"/>
            <a:r>
              <a:rPr sz="1500" b="0">
                <a:solidFill>
                  <a:srgbClr val="222B33"/>
                </a:solidFill>
                <a:latin typeface="Microsoft YaHei"/>
              </a:rPr>
              <a:t>B. 不戴手套快点做完</a:t>
            </a:r>
          </a:p>
          <a:p>
            <a:pPr algn="l"/>
            <a:r>
              <a:rPr sz="1500" b="0">
                <a:solidFill>
                  <a:srgbClr val="222B33"/>
                </a:solidFill>
                <a:latin typeface="Microsoft YaHei"/>
              </a:rPr>
              <a:t>C. 报告实验室负责人，补齐后再做</a:t>
            </a:r>
          </a:p>
          <a:p>
            <a:pPr algn="l"/>
            <a:r>
              <a:rPr sz="1500" b="0">
                <a:solidFill>
                  <a:srgbClr val="222B33"/>
                </a:solidFill>
                <a:latin typeface="Microsoft YaHei"/>
              </a:rPr>
              <a:t>D. 借用隔壁实验室的</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防静电鞋可以当电绝缘鞋用</a:t>
            </a:r>
          </a:p>
          <a:p>
            <a:pPr algn="l"/>
            <a:r>
              <a:rPr sz="1500" b="0">
                <a:solidFill>
                  <a:srgbClr val="222B33"/>
                </a:solidFill>
                <a:latin typeface="Microsoft YaHei"/>
              </a:rPr>
              <a:t>B. 穿胶靴就不需要防砸</a:t>
            </a:r>
          </a:p>
          <a:p>
            <a:pPr algn="l"/>
            <a:r>
              <a:rPr sz="1500" b="0">
                <a:solidFill>
                  <a:srgbClr val="222B33"/>
                </a:solidFill>
                <a:latin typeface="Microsoft YaHei"/>
              </a:rPr>
              <a:t>C. 穿了安全鞋也要远离悬吊重物</a:t>
            </a:r>
          </a:p>
          <a:p>
            <a:pPr algn="l"/>
            <a:r>
              <a:rPr sz="1500" b="0">
                <a:solidFill>
                  <a:srgbClr val="222B33"/>
                </a:solidFill>
                <a:latin typeface="Microsoft YaHei"/>
              </a:rPr>
              <a:t>D. 安全鞋可以代替所有防护</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简答：“就一分钟”的操作为什么也要戴护目镜？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按风险评估选防护</a:t>
            </a:r>
          </a:p>
          <a:p>
            <a:pPr>
              <a:spcAft>
                <a:spcPts val="800"/>
              </a:spcAft>
            </a:pPr>
            <a:r>
              <a:rPr sz="1500">
                <a:solidFill>
                  <a:srgbClr val="FFFFFF"/>
                </a:solidFill>
                <a:latin typeface="Microsoft YaHei"/>
              </a:rPr>
              <a:t>▪ K2  先预判危害，再定防护</a:t>
            </a:r>
          </a:p>
          <a:p>
            <a:pPr>
              <a:spcAft>
                <a:spcPts val="800"/>
              </a:spcAft>
            </a:pPr>
            <a:r>
              <a:rPr sz="1500">
                <a:solidFill>
                  <a:srgbClr val="FFFFFF"/>
                </a:solidFill>
                <a:latin typeface="Microsoft YaHei"/>
              </a:rPr>
              <a:t>▪ K3  选错防护比不戴更危险</a:t>
            </a:r>
          </a:p>
          <a:p>
            <a:pPr>
              <a:spcAft>
                <a:spcPts val="800"/>
              </a:spcAft>
            </a:pPr>
            <a:r>
              <a:rPr sz="1500">
                <a:solidFill>
                  <a:srgbClr val="FFFFFF"/>
                </a:solidFill>
                <a:latin typeface="Microsoft YaHei"/>
              </a:rPr>
              <a:t>▪ K4  按危害和身体部位选</a:t>
            </a:r>
          </a:p>
          <a:p>
            <a:pPr>
              <a:spcAft>
                <a:spcPts val="800"/>
              </a:spcAft>
            </a:pPr>
            <a:r>
              <a:rPr sz="1500">
                <a:solidFill>
                  <a:srgbClr val="FFFFFF"/>
                </a:solidFill>
                <a:latin typeface="Microsoft YaHei"/>
              </a:rPr>
              <a:t>▪ K5  一般实验的基本三件</a:t>
            </a:r>
          </a:p>
          <a:p>
            <a:pPr>
              <a:spcAft>
                <a:spcPts val="800"/>
              </a:spcAft>
            </a:pPr>
            <a:r>
              <a:rPr sz="1500">
                <a:solidFill>
                  <a:srgbClr val="FFFFFF"/>
                </a:solidFill>
                <a:latin typeface="Microsoft YaHei"/>
              </a:rPr>
              <a:t>▪ K6  防护区域和防护用品存放处</a:t>
            </a:r>
          </a:p>
          <a:p>
            <a:pPr>
              <a:spcAft>
                <a:spcPts val="800"/>
              </a:spcAft>
            </a:pPr>
            <a:r>
              <a:rPr sz="1500">
                <a:solidFill>
                  <a:srgbClr val="FFFFFF"/>
                </a:solidFill>
                <a:latin typeface="Microsoft YaHei"/>
              </a:rPr>
              <a:t>▪ K7  学校配备，个人用好</a:t>
            </a:r>
          </a:p>
          <a:p>
            <a:pPr>
              <a:spcAft>
                <a:spcPts val="800"/>
              </a:spcAft>
            </a:pPr>
            <a:r>
              <a:rPr sz="1500">
                <a:solidFill>
                  <a:srgbClr val="FFFFFF"/>
                </a:solidFill>
                <a:latin typeface="Microsoft YaHei"/>
              </a:rPr>
              <a:t>▪ K8  舒适合身才会坚持穿</a:t>
            </a:r>
          </a:p>
          <a:p>
            <a:pPr>
              <a:spcAft>
                <a:spcPts val="800"/>
              </a:spcAft>
            </a:pPr>
            <a:r>
              <a:rPr sz="1500">
                <a:solidFill>
                  <a:srgbClr val="FFFFFF"/>
                </a:solidFill>
                <a:latin typeface="Microsoft YaHei"/>
              </a:rPr>
              <a:t>▪ K9  用前检查，坏了脏了就换</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维护好，穿戴正确</a:t>
            </a:r>
          </a:p>
          <a:p>
            <a:pPr>
              <a:spcAft>
                <a:spcPts val="800"/>
              </a:spcAft>
            </a:pPr>
            <a:r>
              <a:rPr sz="1500">
                <a:solidFill>
                  <a:srgbClr val="FFFFFF"/>
                </a:solidFill>
                <a:latin typeface="Microsoft YaHei"/>
              </a:rPr>
              <a:t>▪ K11  缺了用错，及时报告补齐</a:t>
            </a:r>
          </a:p>
          <a:p>
            <a:pPr>
              <a:spcAft>
                <a:spcPts val="800"/>
              </a:spcAft>
            </a:pPr>
            <a:r>
              <a:rPr sz="1500">
                <a:solidFill>
                  <a:srgbClr val="FFFFFF"/>
                </a:solidFill>
                <a:latin typeface="Microsoft YaHei"/>
              </a:rPr>
              <a:t>▪ K12  “就一分钟”也要戴</a:t>
            </a:r>
          </a:p>
          <a:p>
            <a:pPr>
              <a:spcAft>
                <a:spcPts val="800"/>
              </a:spcAft>
            </a:pPr>
            <a:r>
              <a:rPr sz="1500">
                <a:solidFill>
                  <a:srgbClr val="FFFFFF"/>
                </a:solidFill>
                <a:latin typeface="Microsoft YaHei"/>
              </a:rPr>
              <a:t>▪ K13  头部防护：安全帽</a:t>
            </a:r>
          </a:p>
          <a:p>
            <a:pPr>
              <a:spcAft>
                <a:spcPts val="800"/>
              </a:spcAft>
            </a:pPr>
            <a:r>
              <a:rPr sz="1500">
                <a:solidFill>
                  <a:srgbClr val="FFFFFF"/>
                </a:solidFill>
                <a:latin typeface="Microsoft YaHei"/>
              </a:rPr>
              <a:t>▪ K14  足部防护：安全鞋</a:t>
            </a:r>
          </a:p>
          <a:p>
            <a:pPr>
              <a:spcAft>
                <a:spcPts val="800"/>
              </a:spcAft>
            </a:pPr>
            <a:r>
              <a:rPr sz="1500">
                <a:solidFill>
                  <a:srgbClr val="FFFFFF"/>
                </a:solidFill>
                <a:latin typeface="Microsoft YaHei"/>
              </a:rPr>
              <a:t>▪ K15  防护重要，但还不够</a:t>
            </a:r>
          </a:p>
          <a:p>
            <a:pPr>
              <a:spcAft>
                <a:spcPts val="800"/>
              </a:spcAft>
            </a:pPr>
            <a:r>
              <a:rPr sz="1500">
                <a:solidFill>
                  <a:srgbClr val="FFFFFF"/>
                </a:solidFill>
                <a:latin typeface="Microsoft YaHei"/>
              </a:rPr>
              <a:t>▪ S1  围裙、袖套等其他防护用品</a:t>
            </a:r>
          </a:p>
          <a:p>
            <a:pPr>
              <a:spcAft>
                <a:spcPts val="800"/>
              </a:spcAft>
            </a:pPr>
            <a:r>
              <a:rPr sz="1500">
                <a:solidFill>
                  <a:srgbClr val="FFFFFF"/>
                </a:solidFill>
                <a:latin typeface="Microsoft YaHei"/>
              </a:rPr>
              <a:t>▪ S2  先培训，会选会用</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022</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眼面部防护</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第3章 通用安全与个人防护</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4 分钟（卡通视频 45 镜）　适用对象：全体进入高校实验室的本科生、研究生和教职工（必修）；化学、生物、医学、工程实训实验室人员和戴近视眼镜的同学重点学习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能说出安全眼镜、防溅护目镜、面屏的区别和各自适用的场合。</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能判断普通近视眼镜、单独使用的面屏都不能代替护目镜，化学实验室原则上不戴隐形眼镜。</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能做到选用有合格标识的眼面防护具，正确佩戴、调整贴合，从进门到离开全程戴在眼睛上。</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能做到眼睛溅入异物时立即用洗眼器冲洗并报告。</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14866-2023（以现行文本为准）《眼面防护具通用技术规范》：眼面防护具的分类、技术要求和标识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39800.1-2020（以现行文本为准）《个体防护装备配备规范 第1部分：总则》：按危害配备眼面部防护</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《中华人民共和国安全生产法》（以现行文本为准）：提供并正确佩戴使用符合国家标准的劳动防护用品</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号，以现行文本为准）：实验人员按实验风险佩戴防护用品</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38144-2025（以现行文本为准）《眼面部防护 应急喷淋和洗眼设备》</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本校实验室安全管理制度和各实验室防护要求（以本校规定为准）</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眼睛最怕伤，护眼最划算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眼睛最脆弱，伤了很难恢复</a:t>
            </a:r>
          </a:p>
          <a:p>
            <a:pPr>
              <a:spcAft>
                <a:spcPts val="1000"/>
              </a:spcAft>
            </a:pPr>
            <a:r>
              <a:rPr sz="2000">
                <a:solidFill>
                  <a:srgbClr val="222B33"/>
                </a:solidFill>
                <a:latin typeface="Microsoft YaHei"/>
              </a:rPr>
              <a:t>▪ 多数眼伤，戴好防护就能避免</a:t>
            </a:r>
          </a:p>
          <a:p>
            <a:pPr>
              <a:spcAft>
                <a:spcPts val="1000"/>
              </a:spcAft>
            </a:pPr>
            <a:r>
              <a:rPr sz="2000">
                <a:solidFill>
                  <a:srgbClr val="222B33"/>
                </a:solidFill>
                <a:latin typeface="Microsoft YaHei"/>
              </a:rPr>
              <a:t>▪ 钉钉子、剪焊丝，碎片也会弹飞伤眼</a:t>
            </a:r>
          </a:p>
          <a:p>
            <a:pPr>
              <a:spcAft>
                <a:spcPts val="1000"/>
              </a:spcAft>
            </a:pPr>
            <a:r>
              <a:rPr sz="2000">
                <a:solidFill>
                  <a:srgbClr val="222B33"/>
                </a:solidFill>
                <a:latin typeface="Microsoft YaHei"/>
              </a:rPr>
              <a:t>▪ 压力气体、焊接、化学品操作都要护眼</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眼睛是人体最脆弱的器官之一，化学灼伤、异物击伤和强光伤害往往很难完全恢复。而绝大多数眼部伤害，只要戴好合适的眼面防护就能避免，一副护目镜花钱不多，护住的是一双眼睛。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认为只有化学实验才需要护眼</a:t>
            </a:r>
          </a:p>
          <a:p>
            <a:pPr>
              <a:spcAft>
                <a:spcPts val="1000"/>
              </a:spcAft>
            </a:pPr>
            <a:r>
              <a:rPr sz="1500">
                <a:solidFill>
                  <a:srgbClr val="222B33"/>
                </a:solidFill>
                <a:latin typeface="Microsoft YaHei"/>
              </a:rPr>
              <a:t>▪ 修理、组装设备时不戴护目镜</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三类眼面防护，按用途选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三类：安全眼镜、护目镜、面屏</a:t>
            </a:r>
          </a:p>
          <a:p>
            <a:pPr>
              <a:spcAft>
                <a:spcPts val="1000"/>
              </a:spcAft>
            </a:pPr>
            <a:r>
              <a:rPr sz="2000">
                <a:solidFill>
                  <a:srgbClr val="222B33"/>
                </a:solidFill>
                <a:latin typeface="Microsoft YaHei"/>
              </a:rPr>
              <a:t>▪ 按危害选一种，或者组合使用</a:t>
            </a:r>
          </a:p>
          <a:p>
            <a:pPr>
              <a:spcAft>
                <a:spcPts val="1000"/>
              </a:spcAft>
            </a:pPr>
            <a:r>
              <a:rPr sz="2000">
                <a:solidFill>
                  <a:srgbClr val="222B33"/>
                </a:solidFill>
                <a:latin typeface="Microsoft YaHei"/>
              </a:rPr>
              <a:t>▪ 有强光，选带遮光的护目镜</a:t>
            </a:r>
          </a:p>
          <a:p>
            <a:pPr>
              <a:spcAft>
                <a:spcPts val="1000"/>
              </a:spcAft>
            </a:pPr>
            <a:r>
              <a:rPr sz="2000">
                <a:solidFill>
                  <a:srgbClr val="222B33"/>
                </a:solidFill>
                <a:latin typeface="Microsoft YaHei"/>
              </a:rPr>
              <a:t>▪ 激光、焊接、紫外另有专用防护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常用的眼面防护有三类：安全眼镜（防冲击，四周有遮挡）、护目镜（贴合面部，防液体飞溅、粉尘）、面屏（护住整张脸和颈部，作为附加防护）。要按工作中的具体危害选择合适的一种，或者组合使用（选择原则见第 021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用普通墨镜代替遮光护目镜</a:t>
            </a:r>
          </a:p>
          <a:p>
            <a:pPr>
              <a:spcAft>
                <a:spcPts val="1000"/>
              </a:spcAft>
            </a:pPr>
            <a:r>
              <a:rPr sz="1500">
                <a:solidFill>
                  <a:srgbClr val="222B33"/>
                </a:solidFill>
                <a:latin typeface="Microsoft YaHei"/>
              </a:rPr>
              <a:t>▪ 做激光实验时随便戴一副护目镜</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安全眼镜防冲击，挡不住液体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安全眼镜四周有遮挡，镜片防碎，主要防冲击</a:t>
            </a:r>
          </a:p>
          <a:p>
            <a:pPr>
              <a:spcAft>
                <a:spcPts val="1000"/>
              </a:spcAft>
            </a:pPr>
            <a:r>
              <a:rPr sz="2000">
                <a:solidFill>
                  <a:srgbClr val="222B33"/>
                </a:solidFill>
                <a:latin typeface="Microsoft YaHei"/>
              </a:rPr>
              <a:t>▪ 挡得住碎屑，挡不住侧面和上方溅来的液体</a:t>
            </a:r>
          </a:p>
          <a:p>
            <a:pPr>
              <a:spcAft>
                <a:spcPts val="1000"/>
              </a:spcAft>
            </a:pPr>
            <a:r>
              <a:rPr sz="2000">
                <a:solidFill>
                  <a:srgbClr val="222B33"/>
                </a:solidFill>
                <a:latin typeface="Microsoft YaHei"/>
              </a:rPr>
              <a:t>▪ 安全眼镜和护目镜不能互相代替</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安全眼镜的镜片防碎，镜框四周有侧护遮挡，主要用来防飞来的碎屑和冲击；有的尺寸偏大，可以罩在近视眼镜外面；嫌闷热的可选带透气结构的款式。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戴着安全眼镜倾倒腐蚀性液体</a:t>
            </a:r>
          </a:p>
          <a:p>
            <a:pPr>
              <a:spcAft>
                <a:spcPts val="1000"/>
              </a:spcAft>
            </a:pPr>
            <a:r>
              <a:rPr sz="1500">
                <a:solidFill>
                  <a:srgbClr val="222B33"/>
                </a:solidFill>
                <a:latin typeface="Microsoft YaHei"/>
              </a:rPr>
              <a:t>▪ 以为“有镜片挡着”就能防所有危害</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有飞溅，戴防溅护目镜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可能有飞溅，就必须戴贴合面部的防溅护目镜</a:t>
            </a:r>
          </a:p>
          <a:p>
            <a:pPr>
              <a:spcAft>
                <a:spcPts val="1000"/>
              </a:spcAft>
            </a:pPr>
            <a:r>
              <a:rPr sz="2000">
                <a:solidFill>
                  <a:srgbClr val="222B33"/>
                </a:solidFill>
                <a:latin typeface="Microsoft YaHei"/>
              </a:rPr>
              <a:t>▪ 多数化学操作选间接通风的护目镜</a:t>
            </a:r>
          </a:p>
          <a:p>
            <a:pPr>
              <a:spcAft>
                <a:spcPts val="1000"/>
              </a:spcAft>
            </a:pPr>
            <a:r>
              <a:rPr sz="2000">
                <a:solidFill>
                  <a:srgbClr val="222B33"/>
                </a:solidFill>
                <a:latin typeface="Microsoft YaHei"/>
              </a:rPr>
              <a:t>▪ 倒消毒剂、配酸碱溶液都要戴</a:t>
            </a:r>
          </a:p>
          <a:p>
            <a:pPr>
              <a:spcAft>
                <a:spcPts val="1000"/>
              </a:spcAft>
            </a:pPr>
            <a:r>
              <a:rPr sz="2000">
                <a:solidFill>
                  <a:srgbClr val="222B33"/>
                </a:solidFill>
                <a:latin typeface="Microsoft YaHei"/>
              </a:rPr>
              <a:t>▪ 调好松紧带，四周贴紧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个人防护是最后一道防线，只要可能有液体飞溅，就必须护好眼睛。多数化学实验应戴间接通风的防溅护目镜：镜框四周贴合面部，通风孔带遮罩，液体进不来；直通孔的护目镜只防冲击，不防液体。具体戴哪一种，按风险评估和本校规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选了直通孔的护目镜做液体操作</a:t>
            </a:r>
          </a:p>
          <a:p>
            <a:pPr>
              <a:spcAft>
                <a:spcPts val="1000"/>
              </a:spcAft>
            </a:pPr>
            <a:r>
              <a:rPr sz="1500">
                <a:solidFill>
                  <a:srgbClr val="222B33"/>
                </a:solidFill>
                <a:latin typeface="Microsoft YaHei"/>
              </a:rPr>
              <a:t>▪ 松紧带太松，护目镜和脸之间有缝</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面屏加在护目镜外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面屏能护住整张脸和颈部</a:t>
            </a:r>
          </a:p>
          <a:p>
            <a:pPr>
              <a:spcAft>
                <a:spcPts val="1000"/>
              </a:spcAft>
            </a:pPr>
            <a:r>
              <a:rPr sz="2000">
                <a:solidFill>
                  <a:srgbClr val="222B33"/>
                </a:solidFill>
                <a:latin typeface="Microsoft YaHei"/>
              </a:rPr>
              <a:t>▪ 面屏不能代替护目镜，要和护目镜一起戴</a:t>
            </a:r>
          </a:p>
          <a:p>
            <a:pPr>
              <a:spcAft>
                <a:spcPts val="1000"/>
              </a:spcAft>
            </a:pPr>
            <a:r>
              <a:rPr sz="2000">
                <a:solidFill>
                  <a:srgbClr val="222B33"/>
                </a:solidFill>
                <a:latin typeface="Microsoft YaHei"/>
              </a:rPr>
              <a:t>▪ 倒较多浓酸、腐蚀性强或可能剧烈反应时加面屏</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面屏能护住整张脸和颈部，挡住大面积的喷溅；但面屏下方和两侧是敞开的，液体仍可能绕进眼睛，所以面屏不能代替护目镜。需要面屏时，先戴好护目镜，再加面屏。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只戴面屏，不戴护目镜</a:t>
            </a:r>
          </a:p>
          <a:p>
            <a:pPr>
              <a:spcAft>
                <a:spcPts val="1000"/>
              </a:spcAft>
            </a:pPr>
            <a:r>
              <a:rPr sz="1500">
                <a:solidFill>
                  <a:srgbClr val="222B33"/>
                </a:solidFill>
                <a:latin typeface="Microsoft YaHei"/>
              </a:rPr>
              <a:t>▪ 倾倒大量浓酸时只戴安全眼镜</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普通眼镜不能代替护目镜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普通眼镜四周是空的，液体会从缝里进眼</a:t>
            </a:r>
          </a:p>
          <a:p>
            <a:pPr>
              <a:spcAft>
                <a:spcPts val="1000"/>
              </a:spcAft>
            </a:pPr>
            <a:r>
              <a:rPr sz="2000">
                <a:solidFill>
                  <a:srgbClr val="222B33"/>
                </a:solidFill>
                <a:latin typeface="Microsoft YaHei"/>
              </a:rPr>
              <a:t>▪ 普通镜片不防碎，碎了更伤眼</a:t>
            </a:r>
          </a:p>
          <a:p>
            <a:pPr>
              <a:spcAft>
                <a:spcPts val="1000"/>
              </a:spcAft>
            </a:pPr>
            <a:r>
              <a:rPr sz="2000">
                <a:solidFill>
                  <a:srgbClr val="222B33"/>
                </a:solidFill>
                <a:latin typeface="Microsoft YaHei"/>
              </a:rPr>
              <a:t>▪ 近视的同学，把罩式护目镜戴在眼镜外</a:t>
            </a:r>
          </a:p>
          <a:p>
            <a:pPr>
              <a:spcAft>
                <a:spcPts val="1000"/>
              </a:spcAft>
            </a:pPr>
            <a:r>
              <a:rPr sz="2000">
                <a:solidFill>
                  <a:srgbClr val="222B33"/>
                </a:solidFill>
                <a:latin typeface="Microsoft YaHei"/>
              </a:rPr>
              <a:t>▪ 过滤、加热、色谱等操作全程戴护目镜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很多同学以为戴着近视眼镜就够了。其实普通眼镜两侧和上方都是空的，液体一溅就可能从缝里进入眼睛；普通镜片也不防碎，受到冲击碎裂，碎片反而更伤眼。普通眼镜不能代替任何一种眼部防护。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戴着近视眼镜就不戴护目镜</a:t>
            </a:r>
          </a:p>
          <a:p>
            <a:pPr>
              <a:spcAft>
                <a:spcPts val="1000"/>
              </a:spcAft>
            </a:pPr>
            <a:r>
              <a:rPr sz="1500">
                <a:solidFill>
                  <a:srgbClr val="222B33"/>
                </a:solidFill>
                <a:latin typeface="Microsoft YaHei"/>
              </a:rPr>
              <a:t>▪ 护目镜压在眼镜上不合适，就干脆不戴</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化学实验室不戴隐形眼镜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化学类实验室，原则上不戴隐形眼镜</a:t>
            </a:r>
          </a:p>
          <a:p>
            <a:pPr>
              <a:spcAft>
                <a:spcPts val="1000"/>
              </a:spcAft>
            </a:pPr>
            <a:r>
              <a:rPr sz="2000">
                <a:solidFill>
                  <a:srgbClr val="222B33"/>
                </a:solidFill>
                <a:latin typeface="Microsoft YaHei"/>
              </a:rPr>
              <a:t>▪ 溅入眼中的化学品会被困在镜片后，影响冲洗</a:t>
            </a:r>
          </a:p>
          <a:p>
            <a:pPr>
              <a:spcAft>
                <a:spcPts val="1000"/>
              </a:spcAft>
            </a:pPr>
            <a:r>
              <a:rPr sz="2000">
                <a:solidFill>
                  <a:srgbClr val="222B33"/>
                </a:solidFill>
                <a:latin typeface="Microsoft YaHei"/>
              </a:rPr>
              <a:t>▪ 近视就戴框架眼镜，外罩护目镜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化学类实验室原则上不戴隐形眼镜。化学品溅入眼睛时，可能被困在隐形镜片和眼球之间，延长接触时间，还会妨碍冲洗；有些蒸气也会被镜片吸附，刺激眼睛。也不要在实验室里摘戴隐形眼镜（第 020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戴着隐形眼镜做化学实验</a:t>
            </a:r>
          </a:p>
          <a:p>
            <a:pPr>
              <a:spcAft>
                <a:spcPts val="1000"/>
              </a:spcAft>
            </a:pPr>
            <a:r>
              <a:rPr sz="1500">
                <a:solidFill>
                  <a:srgbClr val="222B33"/>
                </a:solidFill>
                <a:latin typeface="Microsoft YaHei"/>
              </a:rPr>
              <a:t>▪ 眼睛溅入化学品后，先找镜盒摘镜片再冲洗</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看清标识，选合格产品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眼护具不能只看样子</a:t>
            </a:r>
          </a:p>
          <a:p>
            <a:pPr>
              <a:spcAft>
                <a:spcPts val="1000"/>
              </a:spcAft>
            </a:pPr>
            <a:r>
              <a:rPr sz="2000">
                <a:solidFill>
                  <a:srgbClr val="222B33"/>
                </a:solidFill>
                <a:latin typeface="Microsoft YaHei"/>
              </a:rPr>
              <a:t>▪ 看清镜框和镜片上的标识，确认防护类型</a:t>
            </a:r>
          </a:p>
          <a:p>
            <a:pPr>
              <a:spcAft>
                <a:spcPts val="1000"/>
              </a:spcAft>
            </a:pPr>
            <a:r>
              <a:rPr sz="2000">
                <a:solidFill>
                  <a:srgbClr val="222B33"/>
                </a:solidFill>
                <a:latin typeface="Microsoft YaHei"/>
              </a:rPr>
              <a:t>▪ 选符合国家标准、有合格标识的产品</a:t>
            </a:r>
          </a:p>
          <a:p>
            <a:pPr>
              <a:spcAft>
                <a:spcPts val="1000"/>
              </a:spcAft>
            </a:pPr>
            <a:r>
              <a:rPr sz="2000">
                <a:solidFill>
                  <a:srgbClr val="222B33"/>
                </a:solidFill>
                <a:latin typeface="Microsoft YaHei"/>
              </a:rPr>
              <a:t>▪ 镜片划花、开裂，及时更换</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眼面防护具不能只看样子：外形相似的眼镜，防冲击、防液体、防强光的能力可能完全不同。按 GB 14866-2023（以现行文本为准）《眼面防护具通用技术规范》，合格的眼面防护具在镜框和镜片上有相应的标识，选用前要看清标……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把装饰用的平光镜当作安全眼镜</a:t>
            </a:r>
          </a:p>
          <a:p>
            <a:pPr>
              <a:spcAft>
                <a:spcPts val="1000"/>
              </a:spcAft>
            </a:pPr>
            <a:r>
              <a:rPr sz="1500">
                <a:solidFill>
                  <a:srgbClr val="222B33"/>
                </a:solidFill>
                <a:latin typeface="Microsoft YaHei"/>
              </a:rPr>
              <a:t>▪ 镜片划花看不清，仍继续使用</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戴在眼睛上，全程不摘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护目镜要戴在眼睛上，不是额头上</a:t>
            </a:r>
          </a:p>
          <a:p>
            <a:pPr>
              <a:spcAft>
                <a:spcPts val="1000"/>
              </a:spcAft>
            </a:pPr>
            <a:r>
              <a:rPr sz="2000">
                <a:solidFill>
                  <a:srgbClr val="222B33"/>
                </a:solidFill>
                <a:latin typeface="Microsoft YaHei"/>
              </a:rPr>
              <a:t>▪ 从进入防护区域到离开，全程戴着</a:t>
            </a:r>
          </a:p>
          <a:p>
            <a:pPr>
              <a:spcAft>
                <a:spcPts val="1000"/>
              </a:spcAft>
            </a:pPr>
            <a:r>
              <a:rPr sz="2000">
                <a:solidFill>
                  <a:srgbClr val="222B33"/>
                </a:solidFill>
                <a:latin typeface="Microsoft YaHei"/>
              </a:rPr>
              <a:t>▪ 旁边有人操作，你也要戴</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护目镜推到额头上、挂在脖子上，等于没戴。眼面防护要从进入规定的防护区域开始，到离开为止全程戴在眼睛上（防护区域见第 021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嫌闷热把护目镜推到额头上</a:t>
            </a:r>
          </a:p>
          <a:p>
            <a:pPr>
              <a:spcAft>
                <a:spcPts val="1000"/>
              </a:spcAft>
            </a:pPr>
            <a:r>
              <a:rPr sz="1500">
                <a:solidFill>
                  <a:srgbClr val="222B33"/>
                </a:solidFill>
                <a:latin typeface="Microsoft YaHei"/>
              </a:rPr>
              <a:t>▪ 只在自己动手时戴，看别人做时摘下</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各类实验的通用防护提醒</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各类实验：实验服、护目镜、手套一样不少</a:t>
            </a:r>
          </a:p>
          <a:p>
            <a:pPr>
              <a:spcAft>
                <a:spcPts val="1000"/>
              </a:spcAft>
            </a:pPr>
            <a:r>
              <a:rPr sz="2000">
                <a:solidFill>
                  <a:srgbClr val="222B33"/>
                </a:solidFill>
                <a:latin typeface="Microsoft YaHei"/>
              </a:rPr>
              <a:t>▪ 手套按评估选，远离火焰，沾了溶剂就换</a:t>
            </a:r>
          </a:p>
          <a:p>
            <a:pPr>
              <a:spcAft>
                <a:spcPts val="1000"/>
              </a:spcAft>
            </a:pPr>
            <a:r>
              <a:rPr sz="2000">
                <a:solidFill>
                  <a:srgbClr val="222B33"/>
                </a:solidFill>
                <a:latin typeface="Microsoft YaHei"/>
              </a:rPr>
              <a:t>▪ 不徒手处理样品，护己也护样品</a:t>
            </a:r>
          </a:p>
          <a:p>
            <a:pPr>
              <a:spcAft>
                <a:spcPts val="1000"/>
              </a:spcAft>
            </a:pPr>
            <a:r>
              <a:rPr sz="2000">
                <a:solidFill>
                  <a:srgbClr val="222B33"/>
                </a:solidFill>
                <a:latin typeface="Microsoft YaHei"/>
              </a:rPr>
              <a:t>▪ 穿戴什么按评估，不清楚问安全管理员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本课程第 15 章各项实验技能课中通用的个人防护要求统一在这里说明：进实验室先穿戴个人防护，实验服扣好、护目镜戴好、按所用试剂选好手套，长发扎起、不穿露趾鞋（第 020 课）。做无菌操作时手套远离酒精灯火焰；色谱、萃……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做“简单”实验时省掉护目镜</a:t>
            </a:r>
          </a:p>
          <a:p>
            <a:pPr>
              <a:spcAft>
                <a:spcPts val="1000"/>
              </a:spcAft>
            </a:pPr>
            <a:r>
              <a:rPr sz="1500">
                <a:solidFill>
                  <a:srgbClr val="222B33"/>
                </a:solidFill>
                <a:latin typeface="Microsoft YaHei"/>
              </a:rPr>
              <a:t>▪ 戴着沾了溶剂的手套继续操作</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眼睛进了东西，立即冲洗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眼睛溅入化学品或异物，立即到洗眼器冲洗</a:t>
            </a:r>
          </a:p>
          <a:p>
            <a:pPr>
              <a:spcAft>
                <a:spcPts val="1000"/>
              </a:spcAft>
            </a:pPr>
            <a:r>
              <a:rPr sz="2000">
                <a:solidFill>
                  <a:srgbClr val="222B33"/>
                </a:solidFill>
                <a:latin typeface="Microsoft YaHei"/>
              </a:rPr>
              <a:t>▪ 撑开眼睑持续冲洗，不揉眼</a:t>
            </a:r>
          </a:p>
          <a:p>
            <a:pPr>
              <a:spcAft>
                <a:spcPts val="1000"/>
              </a:spcAft>
            </a:pPr>
            <a:r>
              <a:rPr sz="2000">
                <a:solidFill>
                  <a:srgbClr val="222B33"/>
                </a:solidFill>
                <a:latin typeface="Microsoft YaHei"/>
              </a:rPr>
              <a:t>▪ 报告实验室负责人，及时就医</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即使戴了防护，也可能有意外。眼睛溅入化学品或异物时，立即到最近的洗眼器，用手撑开眼睑，转动眼球，持续冲洗，冲洗时间按本校应急规定和化学品安全技术说明书执行；不要揉眼，不要自行用其他药物中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先揉眼睛，或只用纸巾擦一擦</a:t>
            </a:r>
          </a:p>
          <a:p>
            <a:pPr>
              <a:spcAft>
                <a:spcPts val="1000"/>
              </a:spcAft>
            </a:pPr>
            <a:r>
              <a:rPr sz="1500">
                <a:solidFill>
                  <a:srgbClr val="222B33"/>
                </a:solidFill>
                <a:latin typeface="Microsoft YaHei"/>
              </a:rPr>
              <a:t>▪ 冲几秒钟就停，不就医也不报告</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在通风柜内倾倒较多浓酸，眼面部防护应选：</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普通近视眼镜</a:t>
            </a:r>
          </a:p>
          <a:p>
            <a:pPr algn="l"/>
            <a:r>
              <a:rPr sz="1500" b="0">
                <a:solidFill>
                  <a:srgbClr val="222B33"/>
                </a:solidFill>
                <a:latin typeface="Microsoft YaHei"/>
              </a:rPr>
              <a:t>B. 安全眼镜</a:t>
            </a:r>
          </a:p>
          <a:p>
            <a:pPr algn="l"/>
            <a:r>
              <a:rPr sz="1500" b="0">
                <a:solidFill>
                  <a:srgbClr val="222B33"/>
                </a:solidFill>
                <a:latin typeface="Microsoft YaHei"/>
              </a:rPr>
              <a:t>C. 防溅护目镜加面屏</a:t>
            </a:r>
          </a:p>
          <a:p>
            <a:pPr algn="l"/>
            <a:r>
              <a:rPr sz="1500" b="0">
                <a:solidFill>
                  <a:srgbClr val="222B33"/>
                </a:solidFill>
                <a:latin typeface="Microsoft YaHei"/>
              </a:rPr>
              <a:t>D. 只戴面屏</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判断：我戴着近视眼镜，做化学实验可以不戴护目镜。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判断：化学类实验室原则上不戴隐形眼镜。</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安全眼镜主要用来防护：</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液体飞溅</a:t>
            </a:r>
          </a:p>
          <a:p>
            <a:pPr algn="l"/>
            <a:r>
              <a:rPr sz="1500" b="0">
                <a:solidFill>
                  <a:srgbClr val="222B33"/>
                </a:solidFill>
                <a:latin typeface="Microsoft YaHei"/>
              </a:rPr>
              <a:t>B. 飞来的碎屑和冲击</a:t>
            </a:r>
          </a:p>
          <a:p>
            <a:pPr algn="l"/>
            <a:r>
              <a:rPr sz="1500" b="0">
                <a:solidFill>
                  <a:srgbClr val="222B33"/>
                </a:solidFill>
                <a:latin typeface="Microsoft YaHei"/>
              </a:rPr>
              <a:t>C. 激光</a:t>
            </a:r>
          </a:p>
          <a:p>
            <a:pPr algn="l"/>
            <a:r>
              <a:rPr sz="1500" b="0">
                <a:solidFill>
                  <a:srgbClr val="222B33"/>
                </a:solidFill>
                <a:latin typeface="Microsoft YaHei"/>
              </a:rPr>
              <a:t>D. 有毒气体</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护目镜推到额头上，需要时再拉下来</a:t>
            </a:r>
          </a:p>
          <a:p>
            <a:pPr algn="l"/>
            <a:r>
              <a:rPr sz="1500" b="0">
                <a:solidFill>
                  <a:srgbClr val="222B33"/>
                </a:solidFill>
                <a:latin typeface="Microsoft YaHei"/>
              </a:rPr>
              <a:t>B. 看别人操作时摘下护目镜</a:t>
            </a:r>
          </a:p>
          <a:p>
            <a:pPr algn="l"/>
            <a:r>
              <a:rPr sz="1500" b="0">
                <a:solidFill>
                  <a:srgbClr val="222B33"/>
                </a:solidFill>
                <a:latin typeface="Microsoft YaHei"/>
              </a:rPr>
              <a:t>C. 从进入防护区域到离开全程戴着</a:t>
            </a:r>
          </a:p>
          <a:p>
            <a:pPr algn="l"/>
            <a:r>
              <a:rPr sz="1500" b="0">
                <a:solidFill>
                  <a:srgbClr val="222B33"/>
                </a:solidFill>
                <a:latin typeface="Microsoft YaHei"/>
              </a:rPr>
              <a:t>D. 镜片划花了继续用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简答：眼睛不慎溅入化学品，应该怎么做？</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眼睛最怕伤，护眼最划算</a:t>
            </a:r>
          </a:p>
          <a:p>
            <a:pPr>
              <a:spcAft>
                <a:spcPts val="800"/>
              </a:spcAft>
            </a:pPr>
            <a:r>
              <a:rPr sz="1500">
                <a:solidFill>
                  <a:srgbClr val="FFFFFF"/>
                </a:solidFill>
                <a:latin typeface="Microsoft YaHei"/>
              </a:rPr>
              <a:t>▪ K2  三类眼面防护，按用途选</a:t>
            </a:r>
          </a:p>
          <a:p>
            <a:pPr>
              <a:spcAft>
                <a:spcPts val="800"/>
              </a:spcAft>
            </a:pPr>
            <a:r>
              <a:rPr sz="1500">
                <a:solidFill>
                  <a:srgbClr val="FFFFFF"/>
                </a:solidFill>
                <a:latin typeface="Microsoft YaHei"/>
              </a:rPr>
              <a:t>▪ K3  安全眼镜防冲击，挡不住液体</a:t>
            </a:r>
          </a:p>
          <a:p>
            <a:pPr>
              <a:spcAft>
                <a:spcPts val="800"/>
              </a:spcAft>
            </a:pPr>
            <a:r>
              <a:rPr sz="1500">
                <a:solidFill>
                  <a:srgbClr val="FFFFFF"/>
                </a:solidFill>
                <a:latin typeface="Microsoft YaHei"/>
              </a:rPr>
              <a:t>▪ K4  有飞溅，戴防溅护目镜</a:t>
            </a:r>
          </a:p>
          <a:p>
            <a:pPr>
              <a:spcAft>
                <a:spcPts val="800"/>
              </a:spcAft>
            </a:pPr>
            <a:r>
              <a:rPr sz="1500">
                <a:solidFill>
                  <a:srgbClr val="FFFFFF"/>
                </a:solidFill>
                <a:latin typeface="Microsoft YaHei"/>
              </a:rPr>
              <a:t>▪ K5  面屏加在护目镜外</a:t>
            </a:r>
          </a:p>
          <a:p>
            <a:pPr>
              <a:spcAft>
                <a:spcPts val="800"/>
              </a:spcAft>
            </a:pPr>
            <a:r>
              <a:rPr sz="1500">
                <a:solidFill>
                  <a:srgbClr val="FFFFFF"/>
                </a:solidFill>
                <a:latin typeface="Microsoft YaHei"/>
              </a:rPr>
              <a:t>▪ K6  普通眼镜不能代替护目镜</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化学实验室不戴隐形眼镜</a:t>
            </a:r>
          </a:p>
          <a:p>
            <a:pPr>
              <a:spcAft>
                <a:spcPts val="800"/>
              </a:spcAft>
            </a:pPr>
            <a:r>
              <a:rPr sz="1500">
                <a:solidFill>
                  <a:srgbClr val="FFFFFF"/>
                </a:solidFill>
                <a:latin typeface="Microsoft YaHei"/>
              </a:rPr>
              <a:t>▪ K8  看清标识，选合格产品</a:t>
            </a:r>
          </a:p>
          <a:p>
            <a:pPr>
              <a:spcAft>
                <a:spcPts val="800"/>
              </a:spcAft>
            </a:pPr>
            <a:r>
              <a:rPr sz="1500">
                <a:solidFill>
                  <a:srgbClr val="FFFFFF"/>
                </a:solidFill>
                <a:latin typeface="Microsoft YaHei"/>
              </a:rPr>
              <a:t>▪ K9  戴在眼睛上，全程不摘</a:t>
            </a:r>
          </a:p>
          <a:p>
            <a:pPr>
              <a:spcAft>
                <a:spcPts val="800"/>
              </a:spcAft>
            </a:pPr>
            <a:r>
              <a:rPr sz="1500">
                <a:solidFill>
                  <a:srgbClr val="FFFFFF"/>
                </a:solidFill>
                <a:latin typeface="Microsoft YaHei"/>
              </a:rPr>
              <a:t>▪ K10  各类实验的通用防护提醒</a:t>
            </a:r>
          </a:p>
          <a:p>
            <a:pPr>
              <a:spcAft>
                <a:spcPts val="800"/>
              </a:spcAft>
            </a:pPr>
            <a:r>
              <a:rPr sz="1500">
                <a:solidFill>
                  <a:srgbClr val="FFFFFF"/>
                </a:solidFill>
                <a:latin typeface="Microsoft YaHei"/>
              </a:rPr>
              <a:t>▪ S1  眼睛进了东西，立即冲洗</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《高校实验室安全》学习课件</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