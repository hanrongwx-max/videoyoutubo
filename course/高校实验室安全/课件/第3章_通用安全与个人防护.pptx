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实验服不是“工作制服”，而是个人防护用品：意外溅洒时，液滴、粉末先落在实验服上，而不是直接接触皮肤和自己的衣服，为脱下、冲洗争取时间。</a:t>
            </a:r>
          </a:p>
          <a:p>
            <a:r>
              <a:t>进入实验室开始工作前就要穿好实验服，离开时再脱下（着装要求见第 020 课）。实验服成本不高，却能大大降低化学品沾染和灼伤的风险，不要因为“只做一会儿”“只是看看”而不穿。</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实验服宜选棉质或阻燃材质。涤纶等化纤面料遇火、遇高温会熔化、滴落，粘在皮肤上造成严重烧伤，所以化学实验室不宜穿化纤实验服；实验服里面也尽量穿棉质衣服，不穿化纤毛衣、紧身化纤运动服。</a:t>
            </a:r>
          </a:p>
          <a:p>
            <a:r>
              <a:t>实验服要合身：长度一般过膝，长袖盖住手腕，太大易勾挂，太小遮不住。具体材质和款式按实验风险评估和本校规定选择。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试剂时起火，因穿着化纤衣服、没有穿阻燃服而严重烧伤致死，这类工作从此把阻燃服作为必备。</a:t>
            </a:r>
          </a:p>
          <a:p>
            <a:r>
              <a:t>焊接、切割会溅出火花，要穿阻燃或纯棉工作服并扣好领口（焊接防护见第 128 课）。阻燃防护服应符合 GB 8965.1-2020（以现行文本为准）等国家标准；需要阻燃服的工作写进风险评估。衣物着火的处置见第 034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敞开穿的实验服挡不住正面溅来的液体，等于没穿。穿实验服要把扣子从下到上全部扣好；袖口尽量塞进手套里（或手套口套住袖口），让手腕不外露。</a:t>
            </a:r>
          </a:p>
          <a:p>
            <a:r>
              <a:t>不要把袖子卷起来露出手臂；袖口宽松、下摆飘动容易勾倒烧杯、碰到火焰或卷入设备，要选袖口收紧的款式。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腐蚀品溅到皮肤上会造成化学灼伤，而实验服面料会被浸透。处理浓酸浓碱、易挥发或活泼的溶液，或者有较大喷溅风险时（如大量转移、稀释），要在实验服外面再加一条耐化学品围裙。</a:t>
            </a:r>
          </a:p>
          <a:p>
            <a:r>
              <a:t>围裙多了一层防护，而且溅上后解开带子就能迅速脱下，减少接触时间。围裙要和合适的手套、护目镜（必要时加面屏）一起使用（第 022、023 课）。围裙材质同样要按化学品安全技术说明书选择。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实验服之外，有些工作需要专门的防护服：用于阻挡化学品飞溅的防护服要能防水（防液体渗透），才能真正挡住；高温作业、化学品作业、近水作业各有对应的防护服，按风险评估和 GB 39800.1-2020（以现行文本为准）的配备要求选择。在车多、光线暗的道路旁采样或作业，要穿反光衣（野外采样见第 154 课）。</a:t>
            </a:r>
          </a:p>
          <a:p>
            <a:r>
              <a:t>防护服沾污后，立即脱下放到指定地点，不能继续穿；换上干净的再回去工作。生物实验用的防护服和隔离衣见第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实验服上可能沾有化学品和微生物，穿出实验室会把污染带到食堂、宿舍、办公室和会议室。离开实验区时脱下实验服，挂在实验室的专用区域，不和便服混放。</a:t>
            </a:r>
          </a:p>
          <a:p>
            <a:r>
              <a:t>实验服不要带回家或宿舍洗，以免污染家人和洗衣设备。脱下时外面朝里卷起，装进专用袋，按本校规定由单位统一清洗；生物实验室沾了菌液等感染性物质的，先消毒，再统一清洗（按 GB 19489-2008（以现行文本为准）和本校生物安全管理规定）。破损、无法洗净的实验服及时更换。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a:p>
            <a:r>
              <a:t>冲洗后报告实验室负责人，带上化学品信息及时就医，必要时拨打 120。被污染的衣物装袋，按危险废物或本校规定处理（紧急喷淋的位置和使用见第 027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答案：C。解析：普通棉质实验服着火会持续燃烧，化纤会熔化粘在皮肤上，阻燃服离火能自熄。</a:t>
            </a:r>
          </a:p>
          <a:p>
            <a:r>
              <a:t>第 2 题 答案：B。解析：实验服可能沾有化学品和微生物，应由单位统一清洗，不带回家或宿舍。</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答案：C。解析：敞着怀挡不住溅洒，袖子卷起手臂外露，实验服不穿出实验室。</a:t>
            </a:r>
          </a:p>
          <a:p>
            <a:r>
              <a:t>第 4 题 答案：A。解析：耐化学品围裙多一层防护，溅上后能迅速解下。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答案：A。解析：面料会被浸透，要尽快脱下、冲洗，并报告实验室负责人、及时就医。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实验室空气中可能混有粉尘、烟尘、有害气体、化学蒸气，以及生物实验中的病原气溶胶。它们经呼吸道进入人体，细小的粉尘能深入肺部，甚至进入血液循环（粉尘与纳米材料见第 151 课）。</a:t>
            </a:r>
          </a:p>
          <a:p>
            <a:r>
              <a:t>当有毒蒸气、粉尘或病原可能飘散到呼吸带空气中，而工程控制不能把浓度降到安全水平时，就需要佩戴呼吸防护用品。是否需要、选哪一种，按风险评估确定，并经过培训，学会选型和佩戴（K6）。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按控制层级（第 017 课），应先消除、替代，再用通风柜等工程控制，呼吸防护用品是最后一道防线。防有害气体和蒸气首选通风柜（第 051、052 课）：挥发性试剂、产生粉尘的称量和转移，首先放进通风柜或其他局部排风设施中操作。</a:t>
            </a:r>
          </a:p>
          <a:p>
            <a:r>
              <a:t>普通口罩（如普通医用口罩、纱布口罩）挡不住化学蒸气，也不能可靠地挡住细粉尘。能用通风柜解决的，不能用戴口罩代替；只有工程控制不足、应急或特殊作业时，才按评估选用呼吸防护用品。</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要先查清楚危害再决定；粉尘和蒸气同时存在时，选颗粒物和防毒组合滤材。</a:t>
            </a:r>
          </a:p>
          <a:p>
            <a:r>
              <a:t>防颗粒物呼吸器靠紧贴面部形成密封，有的型号不防油性颗粒，有的不耐液体喷溅，工业用防护口罩也不能直接当作医用防护口罩使用。选型时看清产品标识和适用范围，产品应符合 GB 2626-2019、GB 2890-2022（均以现行文本为准）等国家标准，选择方法按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气式（缺氧作业按 GB 8958-2006（以现行文本为准），受限空间见第 140 课）。</a:t>
            </a:r>
          </a:p>
          <a:p>
            <a:r>
              <a:t>自给式空气呼吸器由使用者自己背负气瓶，消防和救援人员常用，结构复杂，只用于极端情况，没有经过培训不要佩戴。潜水呼吸器用于水下，与在空气中使用的呼吸器用途不同，不能混用。</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自给式空气呼吸器的气瓶装的是压缩空气（不是纯氧）。用前检查气瓶压力是否充足、报警哨是否正常、面罩和背带是否完好；戴上后检查面罩密合，确认不漏气。</a:t>
            </a:r>
          </a:p>
          <a:p>
            <a:r>
              <a:t>可用时间取决于气瓶容量和耗气速度：干活越累、呼吸越急，耗气越快。使用时要留足撤离余量，余压报警一响立即撤离。只有经过培训、定期演练的人员才能使用，具体检查项目和使用时间按产品说明书和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培训，培训合格后才能使用。</a:t>
            </a:r>
          </a:p>
          <a:p>
            <a:r>
              <a:t>戴呼吸器会增加呼吸阻力，比平时累得多；重型面罩负担更大，还可能引起过热。使用前由医生按具体面罩类型评估能不能用（职业健康监护见第 152 课）；使用中控制佩戴时间，轮换休息，身体不适立即到安全区域摘下并报告。具体管理要求按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之后按规定定期复检。</a:t>
            </a:r>
          </a:p>
          <a:p>
            <a:r>
              <a:t>蓄须、刮胡子习惯改变、明显胖瘦、牙齿或面部手术等面部变化，都会影响密合，必须重新检验后再用。换用不同型号、尺寸的面罩也要重新检验。甲醛等化学品作业需要呼吸器时，同样要先培训、做适合性检验，选对滤盒并按时更换。检验周期和方法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a:p>
            <a:r>
              <a:t>如果边缘漏气，就调整鼻夹和头带位置，再检查一次，直到不漏气才进入工作区域。生物实验中接触呼吸道样本需戴医用防护口罩时，同样每次检查密合（穿脱顺序见第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即使不是工作必需，有的同学也想自己戴个防尘口罩。自愿使用也要纳入管理：先告诉实验室负责人，了解使用须知，确认它不会带来新的危害。</a:t>
            </a:r>
          </a:p>
          <a:p>
            <a:r>
              <a:t>口罩不能妨碍视线和操作（如压住护目镜、起雾），用过的脏口罩不能挂在脖子上或揣进口袋，以免变成污染源；自愿佩戴不能代替通风柜等工程控制和规定的防护。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防气溶胶，也能挡飞溅。风机靠电池带动。</a:t>
            </a:r>
          </a:p>
          <a:p>
            <a:r>
              <a:t>宽松型头罩不靠贴紧面部密封，有胡子、戴眼镜的人也能使用；但必须培训合格后才能使用，选用哪种呼吸器由风险评估决定。产品应符合 GB 30864-2014（以现行文本为准）。生物实验中的配套穿脱见第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每次使用前：①电池充满电，牢牢装在腰带上；②检查过滤器型号对不对、有没有过期；③检查连接线、管路和头罩有没有破损；④开机看指示灯是否全亮，测一测送风量够不够。</a:t>
            </a:r>
          </a:p>
          <a:p>
            <a:r>
              <a:t>电池能用多久以说明书为准，实验时间（含退出时间）要算在续航以内，不够就别进入。有一项不合格，就挂停用标识，报修，不得勉强使用。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每次用完，用推荐的消毒剂按说明擦拭头盔表面去污。擦的时候滤器和风机不能进水，不能浸泡、冲洗，接口盖好，电池单独擦拭。</a:t>
            </a:r>
          </a:p>
          <a:p>
            <a:r>
              <a:t>披肩头罩去污后可按说明书再用，但一旦被溢洒污染就换新的（能否重复使用以现行规定和产品说明书为准），换下的按感染性或危险废物处理。最后把电池充上电，下次拿来就能用，并签好使用记录（日期、使用人、时长、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使用中如果报警响起或送风变小，先停止操作，盖好样品、容器，然后按程序退出工作区域，到指定区域再摘头罩，不能在污染区直接摘下。退出后报告实验室负责人，设备送检，查明原因前不得再用。</a:t>
            </a:r>
          </a:p>
          <a:p>
            <a:r>
              <a:t>戴上头罩后风声大，说话听不清。进去前和同伴约好手势（如“好”“停”“出去”），也要知道对讲和呼叫装置在哪里。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滤材有使用寿命：防毒滤毒罐的吸附能力会耗尽，防颗粒物滤材会被堵塞。要按产品说明书、作业条件和本校规定按时更换，并记录更换日期；滤材过期、受潮、破损的不得使用。</a:t>
            </a:r>
          </a:p>
          <a:p>
            <a:r>
              <a:t>使用中闻到异味、尝到味道、感到呼吸阻力明显变大或身体不适，立即离开污染区域，到安全区域更换滤材。可重复使用的面罩用后按说明清洁、消毒、晾干，装入密封袋存放在干净、阴凉、远离化学品的地方；一次性口罩不重复使用。维护要求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答案：B。解析：呼吸防护用品是最后一道防线，普通口罩和防尘口罩挡不住蒸气，首先用通风柜。</a:t>
            </a:r>
          </a:p>
          <a:p>
            <a:r>
              <a:t>第 2 题 答案：B。解析：过滤式不能提供氧气，缺氧或浓度极高时必须使用供气式（隔绝式）呼吸器。</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答案：B。解析：蓄须、胖瘦变化等面部变化会影响密合，必须重新检验。</a:t>
            </a:r>
          </a:p>
          <a:p>
            <a:r>
              <a:t>第 4 题 答案：A。解析：适合性检验合格也不等于每次都戴得严，每次佩戴都要做密合检查。</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答案：C。解析：不能在污染区摘头罩，退出后报告并送检设备。</a:t>
            </a:r>
          </a:p>
          <a:p>
            <a:r>
              <a:t>第 6 题 答案：先问实验室负责人并做风险评估选对类型；接受培训；由医生做医学评估；紧密型面罩做适合性检验；每次佩戴做密合检查；检查滤材型号和有效期。解析：呼吸防护是一套体系，不是发个口罩就完事。</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安全标志是用图形、颜色和形状传达安全信息的标志，它告诉你这里有什么危险、要当心什么、应该怎么做——三者都是它的作用。</a:t>
            </a:r>
          </a:p>
          <a:p>
            <a:r>
              <a:t>安全信息不只是看得见的标志牌、颜色和地面标线，也包括听得见的信号，如火警铃声、报警器声、气体报警声。听到火警铃声，不要犹豫、不要回去拿东西，按疏散路线立即撤离（第 036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2894-2025（以现行文本为准）《安全色和安全标志》，安全标志分为四类：禁止标志（白底、红色圆环加斜杠、黑色图形）、警告标志（黄底、黑色三角形边框、黑色图形）、指令标志（蓝色圆形、白色图形）和提示标志（绿色方形、白色图形）。每个标志都有特定含义，形状和颜色一看就能分清类别。</a:t>
            </a:r>
          </a:p>
          <a:p>
            <a:r>
              <a:t>除了安全标志，气瓶的颜色和字样（第 130 课）、化学品安全标签和象形图（第 039 课）、仪器上的警示标签，也在提示危险。消防安全标志见第 4 章，生物危害、电离辐射、激光等专用标志在各自章节讲解。</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疏散通道、急救点。</a:t>
            </a:r>
          </a:p>
          <a:p>
            <a:r>
              <a:t>记住颜色的含义，看到颜色就能先判断出“不准做”“要当心”“必须做”还是“在这里”。具体使用要求按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禁止标志是禁止人们不安全行为的图形标志：白色底、红色圆环和红色斜杠、黑色图形。看到它，就是图形表示的这件事在这里不准做。实验室常见的有禁止烟火、禁止吸烟、禁止饮食、禁止触摸、禁止合闸等。</a:t>
            </a:r>
          </a:p>
          <a:p>
            <a:r>
              <a:t>四类标志一类不能少，禁止标志是最直接的“不能做”。安全标志按国家标准设置，褪色、破损、被遮挡或看不清的，及时报告实验室负责人更换。</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警告标志提醒人们注意周围环境、避免可能发生的危险：黄色底、黑色三角形边框、黑色图形。电气、化学、高温等场所和设备上常见当心触电、当心腐蚀、当心中毒、当心烫伤、当心火灾等警告标志。</a:t>
            </a:r>
          </a:p>
          <a:p>
            <a:r>
              <a:t>看到警告标志，说明附近有危险。先弄清是什么危险，做好相应防护，再按规程靠近；没弄清危险，不要贸然往前走或伸手去碰。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指令标志是强制人们必须做出某种动作或采用防范措施的图形标志：蓝色圆形、白色图形。实验室门口和设备旁常见的有必须戴防护眼镜、必须戴防护手套、必须穿防护服、必须通风等。</a:t>
            </a:r>
          </a:p>
          <a:p>
            <a:r>
              <a:t>看到指令标志，就要按要求做：例如门口有“必须戴防护眼镜”，进门前就戴好护目镜（第 022 课），不是“建议”。</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提示标志向人们提供某种信息，如标明安全设施或场所的位置：绿色方形、白色图形。常见的有安全出口、疏散方向、紧急集合点、急救点、洗眼台、安全淋浴设施等（洗眼器和喷淋见第 027 课，疏散见第 036 课）。</a:t>
            </a:r>
          </a:p>
          <a:p>
            <a:r>
              <a:t>提示标志只是告诉你“在哪里”，并不表示这里安全：绿色出口标志旁边仍可能有警告标志。要事先熟悉本实验室提示标志指向的位置。</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见第 8 章）。</a:t>
            </a:r>
          </a:p>
          <a:p>
            <a:r>
              <a:t>检修时开关上挂着“禁止合闸”标志牌的，除挂牌人外谁也不能合闸（上锁挂牌见第 144 课）；有接地标志的地方，接地线不能拆。进入实验室先看标志，按标志要求做。</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要越过。</a:t>
            </a:r>
          </a:p>
          <a:p>
            <a:r>
              <a:t>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戴什么防护。</a:t>
            </a:r>
          </a:p>
          <a:p>
            <a:r>
              <a:t>把负责人和应急电话记下来。信息牌也是一种危害告知：出了事，保卫处、消防救援人员在门外一看就知道里面有什么危险、该找谁。信息牌内容变化时（如新增危险源、负责人变更），实验室负责人要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操作规程（SOP，第 019 课）就像飞行员的检查单：一项项对照着做，差错就少。不要光凭记忆，把规程张贴或放置在仪器旁，操作时专心，逐项确认。</a:t>
            </a:r>
          </a:p>
          <a:p>
            <a:r>
              <a:t>实验室的安全手册要按本实验室的实际情况编写，可以参考模板，但不能照搬；可按生物安全、动物、安保、应急响应、设施运行等分册编写，设施运行部分要和工程技术人员一起编写，并按本校规定审核、定期修订。</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答案：B。解析：禁止标志表示这件事不准做。</a:t>
            </a:r>
          </a:p>
          <a:p>
            <a:r>
              <a:t>第 2 题 答案：C。解析：蓝色圆形是指令标志，必须照做。</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答案：B。解析：提示标志只告诉你出口、急救、洗眼器等在哪里，不代表这里没有危险。</a:t>
            </a:r>
          </a:p>
          <a:p>
            <a:r>
              <a:t>第 4 题 答案：B。解析：挂着禁止合闸牌，除挂牌人外谁也不能合闸。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答案：B。解析：信息牌是危害告知，进门前看清并记下负责人和应急电话。</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我们穿戴防护、谨慎选用器材，但意外仍可能发生。化学品溅到眼睛或身上时，最关键的是尽快用大量清水冲洗：冲得越早，化学品接触时间越短，伤害越轻。</a:t>
            </a:r>
          </a:p>
          <a:p>
            <a:r>
              <a:t>洗眼器、紧急喷淋和通风柜一样，是实验室的基本安全设施。要记牢四件事：知道最近的设施在哪；通往设施的通道畅通；会正确冲洗；冲洗后报告并及时就医。用好它们，能保住一双眼睛。</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别见第 026 课）。</a:t>
            </a:r>
          </a:p>
          <a:p>
            <a:r>
              <a:t>可以画一张本实验室的安全地图，标出安全设施、危险源和防护用品存放处，并说清每样设施怎么用。最近的洗眼器和喷淋要熟悉到闭着眼也能摸过去——眼睛受伤时往往看不见。入室培训和考核会把这些内容串起来；实验室要配齐应急设施，由学校定期检查。</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056、078 课）。</a:t>
            </a:r>
          </a:p>
          <a:p>
            <a:r>
              <a:t>应急箱、灭火器、洗眼器都要随手可取：锁在柜子里、埋在杂物下，等于没有。放在固定、醒目的位置，定期检查，用过及时补齐，过期物品及时更换。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使用腐蚀性、刺激性等危险物质的场所，要就近配置洗眼器和紧急喷淋，标志醒目、位置就近、通道上没有障碍，受伤人员能在很短时间内到达；高校实验室安全检查都会查这两样设备。</a:t>
            </a:r>
          </a:p>
          <a:p>
            <a:r>
              <a:t>合格的设备一个动作就能开启，松手后继续出水，再操作一次才关闭，让伤者腾出双手。紧急喷淋水量大，能一下把人浇透；洗眼器水流柔和，不伤眼睛；两者都要能持续供水足够长的时间。设备的性能、安装和水质要求按 GB 38144-2025（以现行文本为准）和本校规定。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洗眼器、紧急喷淋、灭火器前面不准堆放物品，通往它们的通道要畅通，设备和物资不能堆在路上；喷淋下方也要保持空旷，便于站人冲洗。洗眼器上不放烧杯等器皿，防尘盖保持完好，伸手就能用。</a:t>
            </a:r>
          </a:p>
          <a:p>
            <a:r>
              <a:t>不能为了腾地方随意挪走或遮挡安全设施。发现通道被堵、设施被遮挡，马上清理，并报告实验室负责人。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a:p>
            <a:r>
              <a:t>持续冲洗足够长的时间，冲洗时间按本校应急规定和化学品安全技术说明书执行，不能冲几秒就停。冲洗后报告实验室负责人，带上化学品信息及时就医，必要时拨打 120（眼部急救见第 160 课）。一开始选对护目镜（第 022 课），就能避免这份痛苦。</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化学品大面积泼到身上，或者衣服着了火，要大声呼救，立刻冲到最近的紧急喷淋下，拉下拉杆，站在水下冲洗。喷淋一拉就是大量的水，一下把人浇透，心里要有准备，不要因为水大而躲开。</a:t>
            </a:r>
          </a:p>
          <a:p>
            <a:r>
              <a:t>边冲洗边脱去被污染的衣物、鞋袜和首饰（不要从头上套脱），同伴可帮忙遮挡、准备干净衣物。小面积沾染可以先在水槽冲洗，水槽冲不干净就用紧急喷淋。冲洗后报告实验室负责人，及时就医（衣物着火的处置见第 034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有的便携式洗眼器水量有限，只能先冲一下，随后要到固定式洗眼器继续冲足时间。手持软管喷头大多要一直按住，伤者腾不出双手撑开眼睑，不能代替洗眼器。</a:t>
            </a:r>
          </a:p>
          <a:p>
            <a:r>
              <a:t>小洗眼瓶只在别无他法时临时使用，用完立刻去有流动清水的地方继续冲洗。实验室应以符合 GB 38144-2025（以现行文本为准）的固定式洗眼器为主。</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冲淋后的废水可能含有化学品，不能随便处理：喷淋下没有围堰的，用吸附条围住废水，防止污染四处扩散；受污染的废水按危险废物收集处置（第 054 课），涉及放射性物质的按辐射安全的专门规定处置（第 7 章）。</a:t>
            </a:r>
          </a:p>
          <a:p>
            <a:r>
              <a:t>要弄清喷淋区地漏通向哪里，如果直通下水道，要报告学校实验室管理部门。地漏和水槽的存水弯里要一直保持有水，否则下水道气体会冒进房间，这些气体可能易燃，也可能有毒；长期不用的地漏定期加水。</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水管里的水停留久了会变脏、滋生微生物，积存沉积物。洗眼器和喷淋要按规定定期放水测试（很多学校要求每周一次，频次按 GB 38144-2025（以现行文本为准）和本校规定），冲掉存水和沉积物，同时检查：开启后是否及时出水、水流是否柔和稳定、水质是否清澈，设备是否完好。</a:t>
            </a:r>
          </a:p>
          <a:p>
            <a:r>
              <a:t>每次检查后在挂在设备上的检查卡（牌）上写明日期并签名，记录存档；出水异常、损坏的，挂牌提醒停用，及时报修。其他应急设施也要定期点检：灭火器看压力表、查有效期，急救箱和应急箱查物品是否齐全有效，通道是否畅通。高校实验室安全检查都会查这些记录。</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有的喷淋洗眼柜嵌在墙里，柜门上挂着检查卡；柜子下方只有排水口、没有水盆，放水前要先准备引流装置：引流软管、柔性接头、标明“洗眼器冲洗专用”的水桶，以及一把一字螺丝刀和一叠纸巾。</a:t>
            </a:r>
          </a:p>
          <a:p>
            <a:r>
              <a:t>步骤：①把柔性接头套在排水口上，用螺丝刀拧紧卡箍防止漏水，软管另一头接进水桶；②水桶放平放稳，纸巾放在手边，按本单位方法启动放水，水经排水口和软管流进水桶；③关水后等几分钟，让水完全排净，没排完就拆会洒一地；④拆接头时用纸巾接住滴水，洒出的水马上擦干，防止滑倒；⑤把水桶提到水槽边倒掉，收好装置，在检查卡上登记。</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用在演练中学会（第 033 课）。</a:t>
            </a:r>
          </a:p>
          <a:p>
            <a:r>
              <a:t>按学校和学院安排参加应急演练（第 155 课），人人都练过一遍，才算会用，真遇事才不慌。</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答案：B。解析：要撑开眼睑让水冲进眼睛，持续冲足时间，冲完报告并就医。</a:t>
            </a:r>
          </a:p>
          <a:p>
            <a:r>
              <a:t>第 2 题 答案：B。解析：设施前、通道和喷淋下方都要保持畅通，紧急时没有时间搬东西。</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答案：B。解析：污染衣物会持续接触皮肤，要边冲边脱。</a:t>
            </a:r>
          </a:p>
          <a:p>
            <a:r>
              <a:t>第 4 题 答案：B。解析：洗眼瓶、便携洗眼器水量有限，只能临时冲洗，用完要到固定式洗眼器继续冲。</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答案：B。解析：存水停久了会变脏，放水同时检查设备是否随时可用，并登记检查卡。</a:t>
            </a:r>
          </a:p>
          <a:p>
            <a:r>
              <a:t>第 6 题 答案：找到洗眼器、紧急喷淋、急救箱、灭火器材、应急箱、紧急断电按钮、报警按钮和应急电话的位置，走一遍疏散路线和安全出口，确认通道畅通，并请老师或安全员带着演练怎么用。解析：最近的洗眼器和喷淋要熟悉到闭着眼也能找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实验服与防护服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适用对象：全体进入高校实验室的本科生、研究生和教职工（必修）；化学、材料、生物、工程实训实验室人员重点学习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能说出实验服的防护作用，能做到进实验室就穿、扣好扣子、袖口塞进手套。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能判断实验服应选棉质或阻燃材质，使用自燃试剂、明火、高能反应或有火花时穿阻燃服。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能做到有喷溅风险时加穿耐化学品围裙，按危害选用防护服，沾污及时更换。</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能做到实验服不穿出实验室、不带回家洗，大量沾染时立即脱下冲洗并报告。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第1部分：总则》：按危害配备躯体防护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8965.1-2020（以现行文本为准）《防护服装 阻燃服》：阻燃防护服的技术要求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号，以现行文本为准）：实验人员按实验风险穿戴防护用品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《病原微生物实验室生物安全管理条例》及 GB 19489-2008（以现行文本为准）《实验室 生物安全通用要求》：生物实验室防护服的管理与消毒</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本校实验室安全管理制度和实验服管理、清洗规定（以本校规定为准）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实验服是防护用品，进门就穿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实验服是个人防护用品，意外溅洒时替你挡一下</a:t>
            </a:r>
          </a:p>
          <a:p>
            <a:pPr>
              <a:spcAft>
                <a:spcPts val="1000"/>
              </a:spcAft>
            </a:pPr>
            <a:r>
              <a:rPr sz="2000">
                <a:solidFill>
                  <a:srgbClr val="222B33"/>
                </a:solidFill>
                <a:latin typeface="Microsoft YaHei"/>
              </a:rPr>
              <a:t>▪ 溅出的液滴，先落在实验服上</a:t>
            </a:r>
          </a:p>
          <a:p>
            <a:pPr>
              <a:spcAft>
                <a:spcPts val="1000"/>
              </a:spcAft>
            </a:pPr>
            <a:r>
              <a:rPr sz="2000">
                <a:solidFill>
                  <a:srgbClr val="222B33"/>
                </a:solidFill>
                <a:latin typeface="Microsoft YaHei"/>
              </a:rPr>
              <a:t>▪ 一进实验室，就穿上实验服</a:t>
            </a:r>
          </a:p>
          <a:p>
            <a:pPr>
              <a:spcAft>
                <a:spcPts val="1000"/>
              </a:spcAft>
            </a:pPr>
            <a:r>
              <a:rPr sz="2000">
                <a:solidFill>
                  <a:srgbClr val="222B33"/>
                </a:solidFill>
                <a:latin typeface="Microsoft YaHei"/>
              </a:rPr>
              <a:t>▪ 花钱不多，却能大大提高安全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实验服不是“工作制服”，而是个人防护用品：意外溅洒时，液滴、粉末先落在实验服上，而不是直接接触皮肤和自己的衣服，为脱下、冲洗争取时间。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只做简单操作就不穿实验服</a:t>
            </a:r>
          </a:p>
          <a:p>
            <a:pPr>
              <a:spcAft>
                <a:spcPts val="1000"/>
              </a:spcAft>
            </a:pPr>
            <a:r>
              <a:rPr sz="1500">
                <a:solidFill>
                  <a:srgbClr val="222B33"/>
                </a:solidFill>
                <a:latin typeface="Microsoft YaHei"/>
              </a:rPr>
              <a:t>▪ 把实验服搭在椅背上，需要时才穿</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实验服选棉质或阻燃材质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实验服选棉质或阻燃材质</a:t>
            </a:r>
          </a:p>
          <a:p>
            <a:pPr>
              <a:spcAft>
                <a:spcPts val="1000"/>
              </a:spcAft>
            </a:pPr>
            <a:r>
              <a:rPr sz="2000">
                <a:solidFill>
                  <a:srgbClr val="222B33"/>
                </a:solidFill>
                <a:latin typeface="Microsoft YaHei"/>
              </a:rPr>
              <a:t>▪ 化纤遇火会熔化，粘在皮肤上</a:t>
            </a:r>
          </a:p>
          <a:p>
            <a:pPr>
              <a:spcAft>
                <a:spcPts val="1000"/>
              </a:spcAft>
            </a:pPr>
            <a:r>
              <a:rPr sz="2000">
                <a:solidFill>
                  <a:srgbClr val="222B33"/>
                </a:solidFill>
                <a:latin typeface="Microsoft YaHei"/>
              </a:rPr>
              <a:t>▪ 实验服里面的衣服也别选化纤</a:t>
            </a:r>
          </a:p>
          <a:p>
            <a:pPr>
              <a:spcAft>
                <a:spcPts val="1000"/>
              </a:spcAft>
            </a:pPr>
            <a:r>
              <a:rPr sz="2000">
                <a:solidFill>
                  <a:srgbClr val="222B33"/>
                </a:solidFill>
                <a:latin typeface="Microsoft YaHei"/>
              </a:rPr>
              <a:t>▪ 长度过膝，长袖盖住手腕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实验服宜选棉质或阻燃材质。涤纶等化纤面料遇火、遇高温会熔化、滴落，粘在皮肤上造成严重烧伤，所以化学实验室不宜穿化纤实验服；实验服里面也尽量穿棉质衣服，不穿化纤毛衣、紧身化纤运动服。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穿化纤材质的实验服做加热实验</a:t>
            </a:r>
          </a:p>
          <a:p>
            <a:pPr>
              <a:spcAft>
                <a:spcPts val="1000"/>
              </a:spcAft>
            </a:pPr>
            <a:r>
              <a:rPr sz="1500">
                <a:solidFill>
                  <a:srgbClr val="222B33"/>
                </a:solidFill>
                <a:latin typeface="Microsoft YaHei"/>
              </a:rPr>
              <a:t>▪ 实验服太短，遮不住大腿</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明火、自燃试剂和火花：穿阻燃服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普通棉质实验服着火会持续燃烧</a:t>
            </a:r>
          </a:p>
          <a:p>
            <a:pPr>
              <a:spcAft>
                <a:spcPts val="1000"/>
              </a:spcAft>
            </a:pPr>
            <a:r>
              <a:rPr sz="2000">
                <a:solidFill>
                  <a:srgbClr val="222B33"/>
                </a:solidFill>
                <a:latin typeface="Microsoft YaHei"/>
              </a:rPr>
              <a:t>▪ 阻燃服离开火源能自熄</a:t>
            </a:r>
          </a:p>
          <a:p>
            <a:pPr>
              <a:spcAft>
                <a:spcPts val="1000"/>
              </a:spcAft>
            </a:pPr>
            <a:r>
              <a:rPr sz="2000">
                <a:solidFill>
                  <a:srgbClr val="222B33"/>
                </a:solidFill>
                <a:latin typeface="Microsoft YaHei"/>
              </a:rPr>
              <a:t>▪ 用自燃试剂、明火或高能反应，穿阻燃服</a:t>
            </a:r>
          </a:p>
          <a:p>
            <a:pPr>
              <a:spcAft>
                <a:spcPts val="1000"/>
              </a:spcAft>
            </a:pPr>
            <a:r>
              <a:rPr sz="2000">
                <a:solidFill>
                  <a:srgbClr val="222B33"/>
                </a:solidFill>
                <a:latin typeface="Microsoft YaHei"/>
              </a:rPr>
              <a:t>▪ 焊接、切割有火花，穿阻燃工作服并扣好领口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穿普通实验服操作自燃试剂</a:t>
            </a:r>
          </a:p>
          <a:p>
            <a:pPr>
              <a:spcAft>
                <a:spcPts val="1000"/>
              </a:spcAft>
            </a:pPr>
            <a:r>
              <a:rPr sz="1500">
                <a:solidFill>
                  <a:srgbClr val="222B33"/>
                </a:solidFill>
                <a:latin typeface="Microsoft YaHei"/>
              </a:rPr>
              <a:t>▪ 焊接时穿化纤衣服、敞着领口</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扣子扣好，袖口塞进手套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实验服扣子全部扣好，敞着怀等于没穿</a:t>
            </a:r>
          </a:p>
          <a:p>
            <a:pPr>
              <a:spcAft>
                <a:spcPts val="1000"/>
              </a:spcAft>
            </a:pPr>
            <a:r>
              <a:rPr sz="2000">
                <a:solidFill>
                  <a:srgbClr val="222B33"/>
                </a:solidFill>
                <a:latin typeface="Microsoft YaHei"/>
              </a:rPr>
              <a:t>▪ 袖口尽量塞进手套里</a:t>
            </a:r>
          </a:p>
          <a:p>
            <a:pPr>
              <a:spcAft>
                <a:spcPts val="1000"/>
              </a:spcAft>
            </a:pPr>
            <a:r>
              <a:rPr sz="2000">
                <a:solidFill>
                  <a:srgbClr val="222B33"/>
                </a:solidFill>
                <a:latin typeface="Microsoft YaHei"/>
              </a:rPr>
              <a:t>▪ 袖子不卷起，手腕不外露</a:t>
            </a:r>
          </a:p>
          <a:p>
            <a:pPr>
              <a:spcAft>
                <a:spcPts val="1000"/>
              </a:spcAft>
            </a:pPr>
            <a:r>
              <a:rPr sz="2000">
                <a:solidFill>
                  <a:srgbClr val="222B33"/>
                </a:solidFill>
                <a:latin typeface="Microsoft YaHei"/>
              </a:rPr>
              <a:t>▪ 袖口不要松垮，免得勾倒器皿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敞开穿的实验服挡不住正面溅来的液体，等于没穿。穿实验服要把扣子从下到上全部扣好；袖口尽量塞进手套里（或手套口套住袖口），让手腕不外露。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实验服敞着怀，或只扣一两颗扣子</a:t>
            </a:r>
          </a:p>
          <a:p>
            <a:pPr>
              <a:spcAft>
                <a:spcPts val="1000"/>
              </a:spcAft>
            </a:pPr>
            <a:r>
              <a:rPr sz="1500">
                <a:solidFill>
                  <a:srgbClr val="222B33"/>
                </a:solidFill>
                <a:latin typeface="Microsoft YaHei"/>
              </a:rPr>
              <a:t>▪ 嫌热把袖子卷到手肘</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有喷溅，加穿耐化学品围裙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腐蚀品溅到皮肤会造成灼伤</a:t>
            </a:r>
          </a:p>
          <a:p>
            <a:pPr>
              <a:spcAft>
                <a:spcPts val="1000"/>
              </a:spcAft>
            </a:pPr>
            <a:r>
              <a:rPr sz="2000">
                <a:solidFill>
                  <a:srgbClr val="222B33"/>
                </a:solidFill>
                <a:latin typeface="Microsoft YaHei"/>
              </a:rPr>
              <a:t>▪ 飞溅风险大时，实验服外加耐化学品围裙</a:t>
            </a:r>
          </a:p>
          <a:p>
            <a:pPr>
              <a:spcAft>
                <a:spcPts val="1000"/>
              </a:spcAft>
            </a:pPr>
            <a:r>
              <a:rPr sz="2000">
                <a:solidFill>
                  <a:srgbClr val="222B33"/>
                </a:solidFill>
                <a:latin typeface="Microsoft YaHei"/>
              </a:rPr>
              <a:t>▪ 浓酸、易挥发或活泼溶液操作要加围裙</a:t>
            </a:r>
          </a:p>
          <a:p>
            <a:pPr>
              <a:spcAft>
                <a:spcPts val="1000"/>
              </a:spcAft>
            </a:pPr>
            <a:r>
              <a:rPr sz="2000">
                <a:solidFill>
                  <a:srgbClr val="222B33"/>
                </a:solidFill>
                <a:latin typeface="Microsoft YaHei"/>
              </a:rPr>
              <a:t>▪ 围裙溅上了，一解就能脱下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腐蚀品溅到皮肤上会造成化学灼伤，而实验服面料会被浸透。处理浓酸浓碱、易挥发或活泼的溶液，或者有较大喷溅风险时（如大量转移、稀释），要在实验服外面再加一条耐化学品围裙。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大量转移浓酸时只穿普通实验服</a:t>
            </a:r>
          </a:p>
          <a:p>
            <a:pPr>
              <a:spcAft>
                <a:spcPts val="1000"/>
              </a:spcAft>
            </a:pPr>
            <a:r>
              <a:rPr sz="1500">
                <a:solidFill>
                  <a:srgbClr val="222B33"/>
                </a:solidFill>
                <a:latin typeface="Microsoft YaHei"/>
              </a:rPr>
              <a:t>▪ 用普通布围裙代替耐化学品围裙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防护服按危害选，沾污就换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挡飞溅的防护服要能防水</a:t>
            </a:r>
          </a:p>
          <a:p>
            <a:pPr>
              <a:spcAft>
                <a:spcPts val="1000"/>
              </a:spcAft>
            </a:pPr>
            <a:r>
              <a:rPr sz="2000">
                <a:solidFill>
                  <a:srgbClr val="222B33"/>
                </a:solidFill>
                <a:latin typeface="Microsoft YaHei"/>
              </a:rPr>
              <a:t>▪ 高温、化学品、近水作业，各有对应防护服</a:t>
            </a:r>
          </a:p>
          <a:p>
            <a:pPr>
              <a:spcAft>
                <a:spcPts val="1000"/>
              </a:spcAft>
            </a:pPr>
            <a:r>
              <a:rPr sz="2000">
                <a:solidFill>
                  <a:srgbClr val="222B33"/>
                </a:solidFill>
                <a:latin typeface="Microsoft YaHei"/>
              </a:rPr>
              <a:t>▪ 道路旁、光线暗处作业，穿反光衣</a:t>
            </a:r>
          </a:p>
          <a:p>
            <a:pPr>
              <a:spcAft>
                <a:spcPts val="1000"/>
              </a:spcAft>
            </a:pPr>
            <a:r>
              <a:rPr sz="2000">
                <a:solidFill>
                  <a:srgbClr val="222B33"/>
                </a:solidFill>
                <a:latin typeface="Microsoft YaHei"/>
              </a:rPr>
              <a:t>▪ 防护服沾污，立即放到指定地点，换干净的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实验服之外，有些工作需要专门的防护服：用于阻挡化学品飞溅的防护服要能防水（防液体渗透），才能真正挡住；高温作业、化学品作业、近水作业各有对应的防护服，按风险评估和 GB 39800.1-2020（以现行文本为准）的配……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用不防水的普通工作服挡化学品飞溅</a:t>
            </a:r>
          </a:p>
          <a:p>
            <a:pPr>
              <a:spcAft>
                <a:spcPts val="1000"/>
              </a:spcAft>
            </a:pPr>
            <a:r>
              <a:rPr sz="1500">
                <a:solidFill>
                  <a:srgbClr val="222B33"/>
                </a:solidFill>
                <a:latin typeface="Microsoft YaHei"/>
              </a:rPr>
              <a:t>▪ 防护服沾污了还继续穿</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实验服不出实验室，不带回家洗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不穿实验服去食堂、宿舍、办公室</a:t>
            </a:r>
          </a:p>
          <a:p>
            <a:pPr>
              <a:spcAft>
                <a:spcPts val="1000"/>
              </a:spcAft>
            </a:pPr>
            <a:r>
              <a:rPr sz="2000">
                <a:solidFill>
                  <a:srgbClr val="222B33"/>
                </a:solidFill>
                <a:latin typeface="Microsoft YaHei"/>
              </a:rPr>
              <a:t>▪ 实验服挂在实验室专区，不和便服混放</a:t>
            </a:r>
          </a:p>
          <a:p>
            <a:pPr>
              <a:spcAft>
                <a:spcPts val="1000"/>
              </a:spcAft>
            </a:pPr>
            <a:r>
              <a:rPr sz="2000">
                <a:solidFill>
                  <a:srgbClr val="222B33"/>
                </a:solidFill>
                <a:latin typeface="Microsoft YaHei"/>
              </a:rPr>
              <a:t>▪ 不带回家、不带回宿舍洗，由单位统一清洗</a:t>
            </a:r>
          </a:p>
          <a:p>
            <a:pPr>
              <a:spcAft>
                <a:spcPts val="1000"/>
              </a:spcAft>
            </a:pPr>
            <a:r>
              <a:rPr sz="2000">
                <a:solidFill>
                  <a:srgbClr val="222B33"/>
                </a:solidFill>
                <a:latin typeface="Microsoft YaHei"/>
              </a:rPr>
              <a:t>▪ 沾了菌液等污染，先消毒再统一清洗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实验服上可能沾有化学品和微生物，穿出实验室会把污染带到食堂、宿舍、办公室和会议室。离开实验区时脱下实验服，挂在实验室的专用区域，不和便服混放。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穿着实验服去食堂吃饭</a:t>
            </a:r>
          </a:p>
          <a:p>
            <a:pPr>
              <a:spcAft>
                <a:spcPts val="1000"/>
              </a:spcAft>
            </a:pPr>
            <a:r>
              <a:rPr sz="1500">
                <a:solidFill>
                  <a:srgbClr val="222B33"/>
                </a:solidFill>
                <a:latin typeface="Microsoft YaHei"/>
              </a:rPr>
              <a:t>▪ 把实验服带回宿舍和便服一起洗</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大量沾染，立即脱下冲洗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大量化学品泼到身上，立即脱下污染衣物</a:t>
            </a:r>
          </a:p>
          <a:p>
            <a:pPr>
              <a:spcAft>
                <a:spcPts val="1000"/>
              </a:spcAft>
            </a:pPr>
            <a:r>
              <a:rPr sz="2000">
                <a:solidFill>
                  <a:srgbClr val="222B33"/>
                </a:solidFill>
                <a:latin typeface="Microsoft YaHei"/>
              </a:rPr>
              <a:t>▪ 到紧急喷淋下持续冲洗</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怕难为情，不脱污染衣物就冲洗</a:t>
            </a:r>
          </a:p>
          <a:p>
            <a:pPr>
              <a:spcAft>
                <a:spcPts val="1000"/>
              </a:spcAft>
            </a:pPr>
            <a:r>
              <a:rPr sz="1500">
                <a:solidFill>
                  <a:srgbClr val="222B33"/>
                </a:solidFill>
                <a:latin typeface="Microsoft YaHei"/>
              </a:rPr>
              <a:t>▪ 擦一擦继续穿着被浸透的实验服</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使用自燃试剂进行实验时，应穿：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化纤实验服</a:t>
            </a:r>
          </a:p>
          <a:p>
            <a:pPr algn="l"/>
            <a:r>
              <a:rPr sz="1500" b="0">
                <a:solidFill>
                  <a:srgbClr val="222B33"/>
                </a:solidFill>
                <a:latin typeface="Microsoft YaHei"/>
              </a:rPr>
              <a:t>B. 普通棉质实验服</a:t>
            </a:r>
          </a:p>
          <a:p>
            <a:pPr algn="l"/>
            <a:r>
              <a:rPr sz="1500" b="0">
                <a:solidFill>
                  <a:srgbClr val="222B33"/>
                </a:solidFill>
                <a:latin typeface="Microsoft YaHei"/>
              </a:rPr>
              <a:t>C. 阻燃实验服</a:t>
            </a:r>
          </a:p>
          <a:p>
            <a:pPr algn="l"/>
            <a:r>
              <a:rPr sz="1500" b="0">
                <a:solidFill>
                  <a:srgbClr val="222B33"/>
                </a:solidFill>
                <a:latin typeface="Microsoft YaHei"/>
              </a:rPr>
              <a:t>D. 不穿实验服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判断：实验服可以带回宿舍和便服一起洗，比较方便。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下列穿实验服的做法正确的是：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敞着怀穿</a:t>
            </a:r>
          </a:p>
          <a:p>
            <a:pPr algn="l"/>
            <a:r>
              <a:rPr sz="1500" b="0">
                <a:solidFill>
                  <a:srgbClr val="222B33"/>
                </a:solidFill>
                <a:latin typeface="Microsoft YaHei"/>
              </a:rPr>
              <a:t>B. 袖子卷到手肘</a:t>
            </a:r>
          </a:p>
          <a:p>
            <a:pPr algn="l"/>
            <a:r>
              <a:rPr sz="1500" b="0">
                <a:solidFill>
                  <a:srgbClr val="222B33"/>
                </a:solidFill>
                <a:latin typeface="Microsoft YaHei"/>
              </a:rPr>
              <a:t>C. 扣子全部扣好，袖口塞进手套</a:t>
            </a:r>
          </a:p>
          <a:p>
            <a:pPr algn="l"/>
            <a:r>
              <a:rPr sz="1500" b="0">
                <a:solidFill>
                  <a:srgbClr val="222B33"/>
                </a:solidFill>
                <a:latin typeface="Microsoft YaHei"/>
              </a:rPr>
              <a:t>D. 穿着去食堂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处理浓酸且有较大喷溅风险时，除实验服、手套和护目镜外，还应加穿：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耐化学品围裙</a:t>
            </a:r>
          </a:p>
          <a:p>
            <a:pPr algn="l"/>
            <a:r>
              <a:rPr sz="1500" b="0">
                <a:solidFill>
                  <a:srgbClr val="222B33"/>
                </a:solidFill>
                <a:latin typeface="Microsoft YaHei"/>
              </a:rPr>
              <a:t>B. 反光衣</a:t>
            </a:r>
          </a:p>
          <a:p>
            <a:pPr algn="l"/>
            <a:r>
              <a:rPr sz="1500" b="0">
                <a:solidFill>
                  <a:srgbClr val="222B33"/>
                </a:solidFill>
                <a:latin typeface="Microsoft YaHei"/>
              </a:rPr>
              <a:t>C. 化纤外套</a:t>
            </a:r>
          </a:p>
          <a:p>
            <a:pPr algn="l"/>
            <a:r>
              <a:rPr sz="1500" b="0">
                <a:solidFill>
                  <a:srgbClr val="222B33"/>
                </a:solidFill>
                <a:latin typeface="Microsoft YaHei"/>
              </a:rPr>
              <a:t>D. 棉布围巾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判断：大量化学品泼到实验服上，应立即脱下污染衣物，到紧急喷淋下冲洗并报告。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实验服是防护用品，进门就穿</a:t>
            </a:r>
          </a:p>
          <a:p>
            <a:pPr>
              <a:spcAft>
                <a:spcPts val="800"/>
              </a:spcAft>
            </a:pPr>
            <a:r>
              <a:rPr sz="1800">
                <a:solidFill>
                  <a:srgbClr val="FFFFFF"/>
                </a:solidFill>
                <a:latin typeface="Microsoft YaHei"/>
              </a:rPr>
              <a:t>▪ K2  实验服选棉质或阻燃材质</a:t>
            </a:r>
          </a:p>
          <a:p>
            <a:pPr>
              <a:spcAft>
                <a:spcPts val="800"/>
              </a:spcAft>
            </a:pPr>
            <a:r>
              <a:rPr sz="1800">
                <a:solidFill>
                  <a:srgbClr val="FFFFFF"/>
                </a:solidFill>
                <a:latin typeface="Microsoft YaHei"/>
              </a:rPr>
              <a:t>▪ K3  明火、自燃试剂和火花：穿阻燃服</a:t>
            </a:r>
          </a:p>
          <a:p>
            <a:pPr>
              <a:spcAft>
                <a:spcPts val="800"/>
              </a:spcAft>
            </a:pPr>
            <a:r>
              <a:rPr sz="1800">
                <a:solidFill>
                  <a:srgbClr val="FFFFFF"/>
                </a:solidFill>
                <a:latin typeface="Microsoft YaHei"/>
              </a:rPr>
              <a:t>▪ K4  扣子扣好，袖口塞进手套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有喷溅，加穿耐化学品围裙</a:t>
            </a:r>
          </a:p>
          <a:p>
            <a:pPr>
              <a:spcAft>
                <a:spcPts val="800"/>
              </a:spcAft>
            </a:pPr>
            <a:r>
              <a:rPr sz="1800">
                <a:solidFill>
                  <a:srgbClr val="FFFFFF"/>
                </a:solidFill>
                <a:latin typeface="Microsoft YaHei"/>
              </a:rPr>
              <a:t>▪ K6  防护服按危害选，沾污就换</a:t>
            </a:r>
          </a:p>
          <a:p>
            <a:pPr>
              <a:spcAft>
                <a:spcPts val="800"/>
              </a:spcAft>
            </a:pPr>
            <a:r>
              <a:rPr sz="1800">
                <a:solidFill>
                  <a:srgbClr val="FFFFFF"/>
                </a:solidFill>
                <a:latin typeface="Microsoft YaHei"/>
              </a:rPr>
              <a:t>▪ K7  实验服不出实验室，不带回家洗</a:t>
            </a:r>
          </a:p>
          <a:p>
            <a:pPr>
              <a:spcAft>
                <a:spcPts val="800"/>
              </a:spcAft>
            </a:pPr>
            <a:r>
              <a:rPr sz="1800">
                <a:solidFill>
                  <a:srgbClr val="FFFFFF"/>
                </a:solidFill>
                <a:latin typeface="Microsoft YaHei"/>
              </a:rPr>
              <a:t>▪ S1  大量沾染，立即脱下冲洗</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呼吸防护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66 镜）　适用对象：全体进入高校实验室的本科生、研究生和教职工（必修）；需要使用呼吸防护用品的化学、生物、材料、焊接与工程实训人员重点学习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能说出呼吸防护是最后一道防线，有挥发性、粉尘性操作首先用通风柜等工程控制。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能判断防颗粒物与防毒滤材、过滤式与供气式呼吸器的区别，知道缺氧或高浓度场所过滤式不管用。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能做到使用前经过培训、医学评估和适合性检验，每次佩戴做密合检查，按时更换滤材。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能做到动力送风呼吸器的用前检查、用后去污充电登记，送风异常时按程序退出。</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18664-2025（以现行文本为准）《呼吸防护装备的选择、使用和维护》：呼吸防护用品的选择、适合性检验、使用和维护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2626-2019（以现行文本为准）《呼吸防护 自吸过滤式防颗粒物呼吸器》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2890-2022（以现行文本为准）《呼吸防护 自吸过滤式防毒面具》</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8958-2006（以现行文本为准）《缺氧危险作业安全规程》：缺氧场所的呼吸防护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《中华人民共和国安全生产法》（以现行文本为准）：提供并正确佩戴使用符合国家标准的劳动防护用品，开展安全培训</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本校实验室安全管理制度、呼吸防护管理规定和职业健康管理规定（以本校规定为准）</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空气被污染，就要护呼吸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空气中可能有粉尘、有害气体、蒸气和病原</a:t>
            </a:r>
          </a:p>
          <a:p>
            <a:pPr>
              <a:spcAft>
                <a:spcPts val="1000"/>
              </a:spcAft>
            </a:pPr>
            <a:r>
              <a:rPr sz="2000">
                <a:solidFill>
                  <a:srgbClr val="222B33"/>
                </a:solidFill>
                <a:latin typeface="Microsoft YaHei"/>
              </a:rPr>
              <a:t>▪ 细粉尘能深入肺部，进入血液</a:t>
            </a:r>
          </a:p>
          <a:p>
            <a:pPr>
              <a:spcAft>
                <a:spcPts val="1000"/>
              </a:spcAft>
            </a:pPr>
            <a:r>
              <a:rPr sz="2000">
                <a:solidFill>
                  <a:srgbClr val="222B33"/>
                </a:solidFill>
                <a:latin typeface="Microsoft YaHei"/>
              </a:rPr>
              <a:t>▪ 空气被污染时，需要呼吸防护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实验室空气中可能混有粉尘、烟尘、有害气体、化学蒸气，以及生物实验中的病原气溶胶。它们经呼吸道进入人体，细小的粉尘能深入肺部，甚至进入血液循环（粉尘与纳米材料见第 151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以为看不见、闻不到就没有危害</a:t>
            </a:r>
          </a:p>
          <a:p>
            <a:pPr>
              <a:spcAft>
                <a:spcPts val="1000"/>
              </a:spcAft>
            </a:pPr>
            <a:r>
              <a:rPr sz="1500">
                <a:solidFill>
                  <a:srgbClr val="222B33"/>
                </a:solidFill>
                <a:latin typeface="Microsoft YaHei"/>
              </a:rPr>
              <a:t>▪ 粉尘多的操作不做任何呼吸防护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先靠通风柜，口罩不能代替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呼吸防护用品是最后一道防线</a:t>
            </a:r>
          </a:p>
          <a:p>
            <a:pPr>
              <a:spcAft>
                <a:spcPts val="1000"/>
              </a:spcAft>
            </a:pPr>
            <a:r>
              <a:rPr sz="2000">
                <a:solidFill>
                  <a:srgbClr val="222B33"/>
                </a:solidFill>
                <a:latin typeface="Microsoft YaHei"/>
              </a:rPr>
              <a:t>▪ 有挥发性试剂，首先放进通风柜里操作</a:t>
            </a:r>
          </a:p>
          <a:p>
            <a:pPr>
              <a:spcAft>
                <a:spcPts val="1000"/>
              </a:spcAft>
            </a:pPr>
            <a:r>
              <a:rPr sz="2000">
                <a:solidFill>
                  <a:srgbClr val="222B33"/>
                </a:solidFill>
                <a:latin typeface="Microsoft YaHei"/>
              </a:rPr>
              <a:t>▪ 普通口罩挡不住化学蒸气</a:t>
            </a:r>
          </a:p>
          <a:p>
            <a:pPr>
              <a:spcAft>
                <a:spcPts val="1000"/>
              </a:spcAft>
            </a:pPr>
            <a:r>
              <a:rPr sz="2000">
                <a:solidFill>
                  <a:srgbClr val="222B33"/>
                </a:solidFill>
                <a:latin typeface="Microsoft YaHei"/>
              </a:rPr>
              <a:t>▪ 能用通风柜的，口罩不能代替通风柜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按控制层级（第 017 课），应先消除、替代，再用通风柜等工程控制，呼吸防护用品是最后一道防线。防有害气体和蒸气首选通风柜（第 051、052 课）：挥发性试剂、产生粉尘的称量和转移，首先放进通风柜或其他局部排风设施……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戴个口罩就在台面上操作挥发性试剂</a:t>
            </a:r>
          </a:p>
          <a:p>
            <a:pPr>
              <a:spcAft>
                <a:spcPts val="1000"/>
              </a:spcAft>
            </a:pPr>
            <a:r>
              <a:rPr sz="1500">
                <a:solidFill>
                  <a:srgbClr val="222B33"/>
                </a:solidFill>
                <a:latin typeface="Microsoft YaHei"/>
              </a:rPr>
              <a:t>▪ 以为戴了口罩就不用开通风柜</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按危害选：防颗粒物还是防毒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粉尘、烟尘、颗粒，用防颗粒物呼吸器</a:t>
            </a:r>
          </a:p>
          <a:p>
            <a:pPr>
              <a:spcAft>
                <a:spcPts val="1000"/>
              </a:spcAft>
            </a:pPr>
            <a:r>
              <a:rPr sz="2000">
                <a:solidFill>
                  <a:srgbClr val="222B33"/>
                </a:solidFill>
                <a:latin typeface="Microsoft YaHei"/>
              </a:rPr>
              <a:t>▪ 化学蒸气、气体，用对应的防毒滤毒罐</a:t>
            </a:r>
          </a:p>
          <a:p>
            <a:pPr>
              <a:spcAft>
                <a:spcPts val="1000"/>
              </a:spcAft>
            </a:pPr>
            <a:r>
              <a:rPr sz="2000">
                <a:solidFill>
                  <a:srgbClr val="222B33"/>
                </a:solidFill>
                <a:latin typeface="Microsoft YaHei"/>
              </a:rPr>
              <a:t>▪ 防尘口罩挡不住溶剂蒸气</a:t>
            </a:r>
          </a:p>
          <a:p>
            <a:pPr>
              <a:spcAft>
                <a:spcPts val="1000"/>
              </a:spcAft>
            </a:pPr>
            <a:r>
              <a:rPr sz="2000">
                <a:solidFill>
                  <a:srgbClr val="222B33"/>
                </a:solidFill>
                <a:latin typeface="Microsoft YaHei"/>
              </a:rPr>
              <a:t>▪ 看清适用范围：有的不防油性颗粒、不耐液体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用防尘口罩防有机溶剂蒸气</a:t>
            </a:r>
          </a:p>
          <a:p>
            <a:pPr>
              <a:spcAft>
                <a:spcPts val="1000"/>
              </a:spcAft>
            </a:pPr>
            <a:r>
              <a:rPr sz="1500">
                <a:solidFill>
                  <a:srgbClr val="222B33"/>
                </a:solidFill>
                <a:latin typeface="Microsoft YaHei"/>
              </a:rPr>
              <a:t>▪ 随便拿一个滤毒罐，不看适用气体</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过滤式与供气式：缺氧用供气式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过滤式：把周围空气滤干净再吸</a:t>
            </a:r>
          </a:p>
          <a:p>
            <a:pPr>
              <a:spcAft>
                <a:spcPts val="1000"/>
              </a:spcAft>
            </a:pPr>
            <a:r>
              <a:rPr sz="2000">
                <a:solidFill>
                  <a:srgbClr val="222B33"/>
                </a:solidFill>
                <a:latin typeface="Microsoft YaHei"/>
              </a:rPr>
              <a:t>▪ 供气式：由独立气源送来清洁空气</a:t>
            </a:r>
          </a:p>
          <a:p>
            <a:pPr>
              <a:spcAft>
                <a:spcPts val="1000"/>
              </a:spcAft>
            </a:pPr>
            <a:r>
              <a:rPr sz="2000">
                <a:solidFill>
                  <a:srgbClr val="222B33"/>
                </a:solidFill>
                <a:latin typeface="Microsoft YaHei"/>
              </a:rPr>
              <a:t>▪ 缺氧或浓度极高，过滤式不管用</a:t>
            </a:r>
          </a:p>
          <a:p>
            <a:pPr>
              <a:spcAft>
                <a:spcPts val="1000"/>
              </a:spcAft>
            </a:pPr>
            <a:r>
              <a:rPr sz="2000">
                <a:solidFill>
                  <a:srgbClr val="222B33"/>
                </a:solidFill>
                <a:latin typeface="Microsoft YaHei"/>
              </a:rPr>
              <a:t>▪ 自给式空气呼吸器只用于极端情况，须培训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进入缺氧场所戴过滤式防毒面具</a:t>
            </a:r>
          </a:p>
          <a:p>
            <a:pPr>
              <a:spcAft>
                <a:spcPts val="1000"/>
              </a:spcAft>
            </a:pPr>
            <a:r>
              <a:rPr sz="1500">
                <a:solidFill>
                  <a:srgbClr val="222B33"/>
                </a:solidFill>
                <a:latin typeface="Microsoft YaHei"/>
              </a:rPr>
              <a:t>▪ 没受过训练就去戴空气呼吸器救人</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空气呼吸器：会用才用，留足余量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用前查气瓶压力、报警哨、面罩和背带</a:t>
            </a:r>
          </a:p>
          <a:p>
            <a:pPr>
              <a:spcAft>
                <a:spcPts val="1000"/>
              </a:spcAft>
            </a:pPr>
            <a:r>
              <a:rPr sz="2000">
                <a:solidFill>
                  <a:srgbClr val="222B33"/>
                </a:solidFill>
                <a:latin typeface="Microsoft YaHei"/>
              </a:rPr>
              <a:t>▪ 戴上后检查面罩密合，不漏气</a:t>
            </a:r>
          </a:p>
          <a:p>
            <a:pPr>
              <a:spcAft>
                <a:spcPts val="1000"/>
              </a:spcAft>
            </a:pPr>
            <a:r>
              <a:rPr sz="2000">
                <a:solidFill>
                  <a:srgbClr val="222B33"/>
                </a:solidFill>
                <a:latin typeface="Microsoft YaHei"/>
              </a:rPr>
              <a:t>▪ 干活越累耗气越快，留足撤离余量</a:t>
            </a:r>
          </a:p>
          <a:p>
            <a:pPr>
              <a:spcAft>
                <a:spcPts val="1000"/>
              </a:spcAft>
            </a:pPr>
            <a:r>
              <a:rPr sz="2000">
                <a:solidFill>
                  <a:srgbClr val="222B33"/>
                </a:solidFill>
                <a:latin typeface="Microsoft YaHei"/>
              </a:rPr>
              <a:t>▪ 报警一响就撤，定期培训演练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自给式空气呼吸器的气瓶装的是压缩空气（不是纯氧）。用前检查气瓶压力是否充足、报警哨是否正常、面罩和背带是否完好；戴上后检查面罩密合，确认不漏气。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不查气瓶压力就背上进入</a:t>
            </a:r>
          </a:p>
          <a:p>
            <a:pPr>
              <a:spcAft>
                <a:spcPts val="1000"/>
              </a:spcAft>
            </a:pPr>
            <a:r>
              <a:rPr sz="1500">
                <a:solidFill>
                  <a:srgbClr val="222B33"/>
                </a:solidFill>
                <a:latin typeface="Microsoft YaHei"/>
              </a:rPr>
              <a:t>▪ 报警响了还想把活干完</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呼吸防护要成体系，先培训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呼吸防护不是发个口罩就完事</a:t>
            </a:r>
          </a:p>
          <a:p>
            <a:pPr>
              <a:spcAft>
                <a:spcPts val="1000"/>
              </a:spcAft>
            </a:pPr>
            <a:r>
              <a:rPr sz="2000">
                <a:solidFill>
                  <a:srgbClr val="222B33"/>
                </a:solidFill>
                <a:latin typeface="Microsoft YaHei"/>
              </a:rPr>
              <a:t>▪ 要不要戴，先问实验室负责人</a:t>
            </a:r>
          </a:p>
          <a:p>
            <a:pPr>
              <a:spcAft>
                <a:spcPts val="1000"/>
              </a:spcAft>
            </a:pPr>
            <a:r>
              <a:rPr sz="2000">
                <a:solidFill>
                  <a:srgbClr val="222B33"/>
                </a:solidFill>
                <a:latin typeface="Microsoft YaHei"/>
              </a:rPr>
              <a:t>▪ 使用前先培训，并由医生做医学评估</a:t>
            </a:r>
          </a:p>
          <a:p>
            <a:pPr>
              <a:spcAft>
                <a:spcPts val="1000"/>
              </a:spcAft>
            </a:pPr>
            <a:r>
              <a:rPr sz="2000">
                <a:solidFill>
                  <a:srgbClr val="222B33"/>
                </a:solidFill>
                <a:latin typeface="Microsoft YaHei"/>
              </a:rPr>
              <a:t>▪ 戴着更累，控制佩戴时间，轮换休息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没有培训，自己找个面罩就戴</a:t>
            </a:r>
          </a:p>
          <a:p>
            <a:pPr>
              <a:spcAft>
                <a:spcPts val="1000"/>
              </a:spcAft>
            </a:pPr>
            <a:r>
              <a:rPr sz="1500">
                <a:solidFill>
                  <a:srgbClr val="222B33"/>
                </a:solidFill>
                <a:latin typeface="Microsoft YaHei"/>
              </a:rPr>
              <a:t>▪ 身体不适仍坚持长时间佩戴</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适合性检验：上岗前测，面部变化重测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紧密型面罩用前要做适合性检验</a:t>
            </a:r>
          </a:p>
          <a:p>
            <a:pPr>
              <a:spcAft>
                <a:spcPts val="1000"/>
              </a:spcAft>
            </a:pPr>
            <a:r>
              <a:rPr sz="2000">
                <a:solidFill>
                  <a:srgbClr val="222B33"/>
                </a:solidFill>
                <a:latin typeface="Microsoft YaHei"/>
              </a:rPr>
              <a:t>▪ 头罩里喷有味雾，闻不到、尝不到才合格</a:t>
            </a:r>
          </a:p>
          <a:p>
            <a:pPr>
              <a:spcAft>
                <a:spcPts val="1000"/>
              </a:spcAft>
            </a:pPr>
            <a:r>
              <a:rPr sz="2000">
                <a:solidFill>
                  <a:srgbClr val="222B33"/>
                </a:solidFill>
                <a:latin typeface="Microsoft YaHei"/>
              </a:rPr>
              <a:t>▪ 首次使用前做，之后定期复检</a:t>
            </a:r>
          </a:p>
          <a:p>
            <a:pPr>
              <a:spcAft>
                <a:spcPts val="1000"/>
              </a:spcAft>
            </a:pPr>
            <a:r>
              <a:rPr sz="2000">
                <a:solidFill>
                  <a:srgbClr val="222B33"/>
                </a:solidFill>
                <a:latin typeface="Microsoft YaHei"/>
              </a:rPr>
              <a:t>▪ 蓄须、胖瘦变化等面部变化，要重新检验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借用别人测过的面罩，自己不做检验</a:t>
            </a:r>
          </a:p>
          <a:p>
            <a:pPr>
              <a:spcAft>
                <a:spcPts val="1000"/>
              </a:spcAft>
            </a:pPr>
            <a:r>
              <a:rPr sz="1500">
                <a:solidFill>
                  <a:srgbClr val="222B33"/>
                </a:solidFill>
                <a:latin typeface="Microsoft YaHei"/>
              </a:rPr>
              <a:t>▪ 留了胡子还戴原来的紧密型面罩</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每次佩戴，检查密合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戴不严，等于没戴</a:t>
            </a:r>
          </a:p>
          <a:p>
            <a:pPr>
              <a:spcAft>
                <a:spcPts val="1000"/>
              </a:spcAft>
            </a:pPr>
            <a:r>
              <a:rPr sz="2000">
                <a:solidFill>
                  <a:srgbClr val="222B33"/>
                </a:solidFill>
                <a:latin typeface="Microsoft YaHei"/>
              </a:rPr>
              <a:t>▪ 戴好后按压鼻夹，贴合鼻梁</a:t>
            </a:r>
          </a:p>
          <a:p>
            <a:pPr>
              <a:spcAft>
                <a:spcPts val="1000"/>
              </a:spcAft>
            </a:pPr>
            <a:r>
              <a:rPr sz="2000">
                <a:solidFill>
                  <a:srgbClr val="222B33"/>
                </a:solidFill>
                <a:latin typeface="Microsoft YaHei"/>
              </a:rPr>
              <a:t>▪ 双手捂住，用力呼气吸气，检查漏气</a:t>
            </a:r>
          </a:p>
          <a:p>
            <a:pPr>
              <a:spcAft>
                <a:spcPts val="1000"/>
              </a:spcAft>
            </a:pPr>
            <a:r>
              <a:rPr sz="2000">
                <a:solidFill>
                  <a:srgbClr val="222B33"/>
                </a:solidFill>
                <a:latin typeface="Microsoft YaHei"/>
              </a:rPr>
              <a:t>▪ 边缘漏气就调整，查好了再进入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戴上就走，不做密合检查</a:t>
            </a:r>
          </a:p>
          <a:p>
            <a:pPr>
              <a:spcAft>
                <a:spcPts val="1000"/>
              </a:spcAft>
            </a:pPr>
            <a:r>
              <a:rPr sz="1500">
                <a:solidFill>
                  <a:srgbClr val="222B33"/>
                </a:solidFill>
                <a:latin typeface="Microsoft YaHei"/>
              </a:rPr>
              <a:t>▪ 鼻夹不按压，鼻梁两侧留缝</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自愿戴口罩，也要管理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自愿使用防尘口罩，也要先讲清使用须知</a:t>
            </a:r>
          </a:p>
          <a:p>
            <a:pPr>
              <a:spcAft>
                <a:spcPts val="1000"/>
              </a:spcAft>
            </a:pPr>
            <a:r>
              <a:rPr sz="2000">
                <a:solidFill>
                  <a:srgbClr val="222B33"/>
                </a:solidFill>
                <a:latin typeface="Microsoft YaHei"/>
              </a:rPr>
              <a:t>▪ 别让口罩妨碍视线和操作</a:t>
            </a:r>
          </a:p>
          <a:p>
            <a:pPr>
              <a:spcAft>
                <a:spcPts val="1000"/>
              </a:spcAft>
            </a:pPr>
            <a:r>
              <a:rPr sz="2000">
                <a:solidFill>
                  <a:srgbClr val="222B33"/>
                </a:solidFill>
                <a:latin typeface="Microsoft YaHei"/>
              </a:rPr>
              <a:t>▪ 别让脏口罩变成污染源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即使不是工作必需，有的同学也想自己戴个防尘口罩。自愿使用也要纳入管理：先告诉实验室负责人，了解使用须知，确认它不会带来新的危害。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把用过的口罩挂在下巴或脖子上</a:t>
            </a:r>
          </a:p>
          <a:p>
            <a:pPr>
              <a:spcAft>
                <a:spcPts val="1000"/>
              </a:spcAft>
            </a:pPr>
            <a:r>
              <a:rPr sz="1500">
                <a:solidFill>
                  <a:srgbClr val="222B33"/>
                </a:solidFill>
                <a:latin typeface="Microsoft YaHei"/>
              </a:rPr>
              <a:t>▪ 以为自己戴了口罩就可以不开通风柜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动力送风呼吸器怎样工作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一整套：头盔、滤器、披肩头罩、电池、腰带</a:t>
            </a:r>
          </a:p>
          <a:p>
            <a:pPr>
              <a:spcAft>
                <a:spcPts val="1000"/>
              </a:spcAft>
            </a:pPr>
            <a:r>
              <a:rPr sz="2000">
                <a:solidFill>
                  <a:srgbClr val="222B33"/>
                </a:solidFill>
                <a:latin typeface="Microsoft YaHei"/>
              </a:rPr>
              <a:t>▪ 侧面进风，过滤后由风机吹向脸部</a:t>
            </a:r>
          </a:p>
          <a:p>
            <a:pPr>
              <a:spcAft>
                <a:spcPts val="1000"/>
              </a:spcAft>
            </a:pPr>
            <a:r>
              <a:rPr sz="2000">
                <a:solidFill>
                  <a:srgbClr val="222B33"/>
                </a:solidFill>
                <a:latin typeface="Microsoft YaHei"/>
              </a:rPr>
              <a:t>▪ 罩内正压，向外的气流挡住污染空气</a:t>
            </a:r>
          </a:p>
          <a:p>
            <a:pPr>
              <a:spcAft>
                <a:spcPts val="1000"/>
              </a:spcAft>
            </a:pPr>
            <a:r>
              <a:rPr sz="2000">
                <a:solidFill>
                  <a:srgbClr val="222B33"/>
                </a:solidFill>
                <a:latin typeface="Microsoft YaHei"/>
              </a:rPr>
              <a:t>▪ 宽松头罩不贴脸，培训合格、按评估选用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以为送风呼吸器不用培训，戴上就行</a:t>
            </a:r>
          </a:p>
          <a:p>
            <a:pPr>
              <a:spcAft>
                <a:spcPts val="1000"/>
              </a:spcAft>
            </a:pPr>
            <a:r>
              <a:rPr sz="1500">
                <a:solidFill>
                  <a:srgbClr val="222B33"/>
                </a:solidFill>
                <a:latin typeface="Microsoft YaHei"/>
              </a:rPr>
              <a:t>▪ 头罩披肩没有盖好头颈</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送风呼吸器用前检查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实验前电池充满，牢牢挂在腰带上</a:t>
            </a:r>
          </a:p>
          <a:p>
            <a:pPr>
              <a:spcAft>
                <a:spcPts val="1000"/>
              </a:spcAft>
            </a:pPr>
            <a:r>
              <a:rPr sz="2000">
                <a:solidFill>
                  <a:srgbClr val="222B33"/>
                </a:solidFill>
                <a:latin typeface="Microsoft YaHei"/>
              </a:rPr>
              <a:t>▪ 查滤器型号和有效期，查连接管和头罩破损</a:t>
            </a:r>
          </a:p>
          <a:p>
            <a:pPr>
              <a:spcAft>
                <a:spcPts val="1000"/>
              </a:spcAft>
            </a:pPr>
            <a:r>
              <a:rPr sz="2000">
                <a:solidFill>
                  <a:srgbClr val="222B33"/>
                </a:solidFill>
                <a:latin typeface="Microsoft YaHei"/>
              </a:rPr>
              <a:t>▪ 开机看指示灯，测送风量</a:t>
            </a:r>
          </a:p>
          <a:p>
            <a:pPr>
              <a:spcAft>
                <a:spcPts val="1000"/>
              </a:spcAft>
            </a:pPr>
            <a:r>
              <a:rPr sz="2000">
                <a:solidFill>
                  <a:srgbClr val="222B33"/>
                </a:solidFill>
                <a:latin typeface="Microsoft YaHei"/>
              </a:rPr>
              <a:t>▪ 续航不够就别进去，一项不合格就停用报修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每次使用前：①电池充满电，牢牢装在腰带上；②检查过滤器型号对不对、有没有过期；③检查连接线、管路和头罩有没有破损；④开机看指示灯是否全亮，测一测送风量够不够。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电池没充满就进入实验</a:t>
            </a:r>
          </a:p>
          <a:p>
            <a:pPr>
              <a:spcAft>
                <a:spcPts val="1000"/>
              </a:spcAft>
            </a:pPr>
            <a:r>
              <a:rPr sz="1500">
                <a:solidFill>
                  <a:srgbClr val="222B33"/>
                </a:solidFill>
                <a:latin typeface="Microsoft YaHei"/>
              </a:rPr>
              <a:t>▪ 不看滤器型号和有效期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用后去污、充电、登记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用完给头盔表面去污，用推荐消毒剂擦</a:t>
            </a:r>
          </a:p>
          <a:p>
            <a:pPr>
              <a:spcAft>
                <a:spcPts val="1000"/>
              </a:spcAft>
            </a:pPr>
            <a:r>
              <a:rPr sz="2000">
                <a:solidFill>
                  <a:srgbClr val="222B33"/>
                </a:solidFill>
                <a:latin typeface="Microsoft YaHei"/>
              </a:rPr>
              <a:t>▪ 滤器风机别进水，不泡不冲，接口盖好</a:t>
            </a:r>
          </a:p>
          <a:p>
            <a:pPr>
              <a:spcAft>
                <a:spcPts val="1000"/>
              </a:spcAft>
            </a:pPr>
            <a:r>
              <a:rPr sz="2000">
                <a:solidFill>
                  <a:srgbClr val="222B33"/>
                </a:solidFill>
                <a:latin typeface="Microsoft YaHei"/>
              </a:rPr>
              <a:t>▪ 披肩沾了溢洒就换新的</a:t>
            </a:r>
          </a:p>
          <a:p>
            <a:pPr>
              <a:spcAft>
                <a:spcPts val="1000"/>
              </a:spcAft>
            </a:pPr>
            <a:r>
              <a:rPr sz="2000">
                <a:solidFill>
                  <a:srgbClr val="222B33"/>
                </a:solidFill>
                <a:latin typeface="Microsoft YaHei"/>
              </a:rPr>
              <a:t>▪ 用完马上充电，签好使用记录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每次用完，用推荐的消毒剂按说明擦拭头盔表面去污。擦的时候滤器和风机不能进水，不能浸泡、冲洗，接口盖好，电池单独擦拭。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把滤器或风机放在水下冲洗</a:t>
            </a:r>
          </a:p>
          <a:p>
            <a:pPr>
              <a:spcAft>
                <a:spcPts val="1000"/>
              </a:spcAft>
            </a:pPr>
            <a:r>
              <a:rPr sz="1500">
                <a:solidFill>
                  <a:srgbClr val="222B33"/>
                </a:solidFill>
                <a:latin typeface="Microsoft YaHei"/>
              </a:rPr>
              <a:t>▪ 用完不充电，下次没电才发现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送风异常，按程序退出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报警或风变小，先停手，盖好样品</a:t>
            </a:r>
          </a:p>
          <a:p>
            <a:pPr>
              <a:spcAft>
                <a:spcPts val="1000"/>
              </a:spcAft>
            </a:pPr>
            <a:r>
              <a:rPr sz="2000">
                <a:solidFill>
                  <a:srgbClr val="222B33"/>
                </a:solidFill>
                <a:latin typeface="Microsoft YaHei"/>
              </a:rPr>
              <a:t>▪ 别在污染区摘头罩，按程序退出再摘</a:t>
            </a:r>
          </a:p>
          <a:p>
            <a:pPr>
              <a:spcAft>
                <a:spcPts val="1000"/>
              </a:spcAft>
            </a:pPr>
            <a:r>
              <a:rPr sz="2000">
                <a:solidFill>
                  <a:srgbClr val="222B33"/>
                </a:solidFill>
                <a:latin typeface="Microsoft YaHei"/>
              </a:rPr>
              <a:t>▪ 风声大听不清，事先约好手势</a:t>
            </a:r>
          </a:p>
          <a:p>
            <a:pPr>
              <a:spcAft>
                <a:spcPts val="1000"/>
              </a:spcAft>
            </a:pPr>
            <a:r>
              <a:rPr sz="2000">
                <a:solidFill>
                  <a:srgbClr val="222B33"/>
                </a:solidFill>
                <a:latin typeface="Microsoft YaHei"/>
              </a:rPr>
              <a:t>▪ 报告负责人，设备送检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使用中如果报警响起或送风变小，先停止操作，盖好样品、容器，然后按程序退出工作区域，到指定区域再摘头罩，不能在污染区直接摘下。退出后报告实验室负责人，设备送检，查明原因前不得再用。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送风异常时在工作区里直接摘下头罩</a:t>
            </a:r>
          </a:p>
          <a:p>
            <a:pPr>
              <a:spcAft>
                <a:spcPts val="1000"/>
              </a:spcAft>
            </a:pPr>
            <a:r>
              <a:rPr sz="1500">
                <a:solidFill>
                  <a:srgbClr val="222B33"/>
                </a:solidFill>
                <a:latin typeface="Microsoft YaHei"/>
              </a:rPr>
              <a:t>▪ 没约好手势，出了状况沟通不了</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滤材按时换，面罩清洁存放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滤材按说明书和本校规定按时更换</a:t>
            </a:r>
          </a:p>
          <a:p>
            <a:pPr>
              <a:spcAft>
                <a:spcPts val="1000"/>
              </a:spcAft>
            </a:pPr>
            <a:r>
              <a:rPr sz="2000">
                <a:solidFill>
                  <a:srgbClr val="222B33"/>
                </a:solidFill>
                <a:latin typeface="Microsoft YaHei"/>
              </a:rPr>
              <a:t>▪ 闻到异味、呼吸阻力变大，立即离开更换</a:t>
            </a:r>
          </a:p>
          <a:p>
            <a:pPr>
              <a:spcAft>
                <a:spcPts val="1000"/>
              </a:spcAft>
            </a:pPr>
            <a:r>
              <a:rPr sz="2000">
                <a:solidFill>
                  <a:srgbClr val="222B33"/>
                </a:solidFill>
                <a:latin typeface="Microsoft YaHei"/>
              </a:rPr>
              <a:t>▪ 面罩用后清洁、晾干，密封存放在干净处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滤材有使用寿命：防毒滤毒罐的吸附能力会耗尽，防颗粒物滤材会被堵塞。要按产品说明书、作业条件和本校规定按时更换，并记录更换日期；滤材过期、受潮、破损的不得使用。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滤毒罐一直用到闻出味道还不换</a:t>
            </a:r>
          </a:p>
          <a:p>
            <a:pPr>
              <a:spcAft>
                <a:spcPts val="1000"/>
              </a:spcAft>
            </a:pPr>
            <a:r>
              <a:rPr sz="1500">
                <a:solidFill>
                  <a:srgbClr val="222B33"/>
                </a:solidFill>
                <a:latin typeface="Microsoft YaHei"/>
              </a:rPr>
              <a:t>▪ 面罩随手扔在实验台上</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在实验中使用挥发性有机溶剂，首先应采取的措施是：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戴普通口罩</a:t>
            </a:r>
          </a:p>
          <a:p>
            <a:pPr algn="l"/>
            <a:r>
              <a:rPr sz="1500" b="0">
                <a:solidFill>
                  <a:srgbClr val="222B33"/>
                </a:solidFill>
                <a:latin typeface="Microsoft YaHei"/>
              </a:rPr>
              <a:t>B. 在通风柜内操作</a:t>
            </a:r>
          </a:p>
          <a:p>
            <a:pPr algn="l"/>
            <a:r>
              <a:rPr sz="1500" b="0">
                <a:solidFill>
                  <a:srgbClr val="222B33"/>
                </a:solidFill>
                <a:latin typeface="Microsoft YaHei"/>
              </a:rPr>
              <a:t>C. 戴防尘口罩</a:t>
            </a:r>
          </a:p>
          <a:p>
            <a:pPr algn="l"/>
            <a:r>
              <a:rPr sz="1500" b="0">
                <a:solidFill>
                  <a:srgbClr val="222B33"/>
                </a:solidFill>
                <a:latin typeface="Microsoft YaHei"/>
              </a:rPr>
              <a:t>D. 打开窗户后在台面操作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判断：缺氧环境中，只要戴上过滤式防毒面具就可以进入。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下列哪种情况必须重新做适合性检验：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换了一件实验服</a:t>
            </a:r>
          </a:p>
          <a:p>
            <a:pPr algn="l"/>
            <a:r>
              <a:rPr sz="1500" b="0">
                <a:solidFill>
                  <a:srgbClr val="222B33"/>
                </a:solidFill>
                <a:latin typeface="Microsoft YaHei"/>
              </a:rPr>
              <a:t>B. 留起了胡子</a:t>
            </a:r>
          </a:p>
          <a:p>
            <a:pPr algn="l"/>
            <a:r>
              <a:rPr sz="1500" b="0">
                <a:solidFill>
                  <a:srgbClr val="222B33"/>
                </a:solidFill>
                <a:latin typeface="Microsoft YaHei"/>
              </a:rPr>
              <a:t>C. 换了一副手套</a:t>
            </a:r>
          </a:p>
          <a:p>
            <a:pPr algn="l"/>
            <a:r>
              <a:rPr sz="1500" b="0">
                <a:solidFill>
                  <a:srgbClr val="222B33"/>
                </a:solidFill>
                <a:latin typeface="Microsoft YaHei"/>
              </a:rPr>
              <a:t>D. 换了实验台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判断：每次戴上防护口罩后，都要双手捂住用力呼气吸气，检查边缘是否漏气。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使用动力送风呼吸器时报警响起、送风变小，正确做法是：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立即在工作区里摘下头罩</a:t>
            </a:r>
          </a:p>
          <a:p>
            <a:pPr algn="l"/>
            <a:r>
              <a:rPr sz="1500" b="0">
                <a:solidFill>
                  <a:srgbClr val="222B33"/>
                </a:solidFill>
                <a:latin typeface="Microsoft YaHei"/>
              </a:rPr>
              <a:t>B. 继续把实验做完</a:t>
            </a:r>
          </a:p>
          <a:p>
            <a:pPr algn="l"/>
            <a:r>
              <a:rPr sz="1500" b="0">
                <a:solidFill>
                  <a:srgbClr val="222B33"/>
                </a:solidFill>
                <a:latin typeface="Microsoft YaHei"/>
              </a:rPr>
              <a:t>C. 先停手盖好样品，按程序退出到指定区域再摘，报告负责人</a:t>
            </a:r>
          </a:p>
          <a:p>
            <a:pPr algn="l"/>
            <a:r>
              <a:rPr sz="1500" b="0">
                <a:solidFill>
                  <a:srgbClr val="222B33"/>
                </a:solidFill>
                <a:latin typeface="Microsoft YaHei"/>
              </a:rPr>
              <a:t>D. 拍打电池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简答：使用呼吸防护用品前需要做哪些准备？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空气被污染，就要护呼吸</a:t>
            </a:r>
          </a:p>
          <a:p>
            <a:pPr>
              <a:spcAft>
                <a:spcPts val="800"/>
              </a:spcAft>
            </a:pPr>
            <a:r>
              <a:rPr sz="1500">
                <a:solidFill>
                  <a:srgbClr val="FFFFFF"/>
                </a:solidFill>
                <a:latin typeface="Microsoft YaHei"/>
              </a:rPr>
              <a:t>▪ K2  先靠通风柜，口罩不能代替</a:t>
            </a:r>
          </a:p>
          <a:p>
            <a:pPr>
              <a:spcAft>
                <a:spcPts val="800"/>
              </a:spcAft>
            </a:pPr>
            <a:r>
              <a:rPr sz="1500">
                <a:solidFill>
                  <a:srgbClr val="FFFFFF"/>
                </a:solidFill>
                <a:latin typeface="Microsoft YaHei"/>
              </a:rPr>
              <a:t>▪ K3  按危害选：防颗粒物还是防毒</a:t>
            </a:r>
          </a:p>
          <a:p>
            <a:pPr>
              <a:spcAft>
                <a:spcPts val="800"/>
              </a:spcAft>
            </a:pPr>
            <a:r>
              <a:rPr sz="1500">
                <a:solidFill>
                  <a:srgbClr val="FFFFFF"/>
                </a:solidFill>
                <a:latin typeface="Microsoft YaHei"/>
              </a:rPr>
              <a:t>▪ K4  过滤式与供气式：缺氧用供气式</a:t>
            </a:r>
          </a:p>
          <a:p>
            <a:pPr>
              <a:spcAft>
                <a:spcPts val="800"/>
              </a:spcAft>
            </a:pPr>
            <a:r>
              <a:rPr sz="1500">
                <a:solidFill>
                  <a:srgbClr val="FFFFFF"/>
                </a:solidFill>
                <a:latin typeface="Microsoft YaHei"/>
              </a:rPr>
              <a:t>▪ K5  空气呼吸器：会用才用，留足余量</a:t>
            </a:r>
          </a:p>
          <a:p>
            <a:pPr>
              <a:spcAft>
                <a:spcPts val="800"/>
              </a:spcAft>
            </a:pPr>
            <a:r>
              <a:rPr sz="1500">
                <a:solidFill>
                  <a:srgbClr val="FFFFFF"/>
                </a:solidFill>
                <a:latin typeface="Microsoft YaHei"/>
              </a:rPr>
              <a:t>▪ K6  呼吸防护要成体系，先培训</a:t>
            </a:r>
          </a:p>
          <a:p>
            <a:pPr>
              <a:spcAft>
                <a:spcPts val="800"/>
              </a:spcAft>
            </a:pPr>
            <a:r>
              <a:rPr sz="1500">
                <a:solidFill>
                  <a:srgbClr val="FFFFFF"/>
                </a:solidFill>
                <a:latin typeface="Microsoft YaHei"/>
              </a:rPr>
              <a:t>▪ K7  适合性检验：上岗前测，面部变化重测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每次佩戴，检查密合</a:t>
            </a:r>
          </a:p>
          <a:p>
            <a:pPr>
              <a:spcAft>
                <a:spcPts val="800"/>
              </a:spcAft>
            </a:pPr>
            <a:r>
              <a:rPr sz="1500">
                <a:solidFill>
                  <a:srgbClr val="FFFFFF"/>
                </a:solidFill>
                <a:latin typeface="Microsoft YaHei"/>
              </a:rPr>
              <a:t>▪ K9  自愿戴口罩，也要管理</a:t>
            </a:r>
          </a:p>
          <a:p>
            <a:pPr>
              <a:spcAft>
                <a:spcPts val="800"/>
              </a:spcAft>
            </a:pPr>
            <a:r>
              <a:rPr sz="1500">
                <a:solidFill>
                  <a:srgbClr val="FFFFFF"/>
                </a:solidFill>
                <a:latin typeface="Microsoft YaHei"/>
              </a:rPr>
              <a:t>▪ K10  动力送风呼吸器怎样工作</a:t>
            </a:r>
          </a:p>
          <a:p>
            <a:pPr>
              <a:spcAft>
                <a:spcPts val="800"/>
              </a:spcAft>
            </a:pPr>
            <a:r>
              <a:rPr sz="1500">
                <a:solidFill>
                  <a:srgbClr val="FFFFFF"/>
                </a:solidFill>
                <a:latin typeface="Microsoft YaHei"/>
              </a:rPr>
              <a:t>▪ K11  送风呼吸器用前检查</a:t>
            </a:r>
          </a:p>
          <a:p>
            <a:pPr>
              <a:spcAft>
                <a:spcPts val="800"/>
              </a:spcAft>
            </a:pPr>
            <a:r>
              <a:rPr sz="1500">
                <a:solidFill>
                  <a:srgbClr val="FFFFFF"/>
                </a:solidFill>
                <a:latin typeface="Microsoft YaHei"/>
              </a:rPr>
              <a:t>▪ K12  用后去污、充电、登记</a:t>
            </a:r>
          </a:p>
          <a:p>
            <a:pPr>
              <a:spcAft>
                <a:spcPts val="800"/>
              </a:spcAft>
            </a:pPr>
            <a:r>
              <a:rPr sz="1500">
                <a:solidFill>
                  <a:srgbClr val="FFFFFF"/>
                </a:solidFill>
                <a:latin typeface="Microsoft YaHei"/>
              </a:rPr>
              <a:t>▪ K13  送风异常，按程序退出</a:t>
            </a:r>
          </a:p>
          <a:p>
            <a:pPr>
              <a:spcAft>
                <a:spcPts val="800"/>
              </a:spcAft>
            </a:pPr>
            <a:r>
              <a:rPr sz="1500">
                <a:solidFill>
                  <a:srgbClr val="FFFFFF"/>
                </a:solidFill>
                <a:latin typeface="Microsoft YaHei"/>
              </a:rPr>
              <a:t>▪ S1  滤材按时换，面罩清洁存放</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安全标志与安全色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50 镜）　适用对象：全体进入高校实验室的本科生、研究生和教职工及外来人员（必修）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能说出红、黄、蓝、绿四种安全色和禁止、警告、指令、提示四类安全标志的含义。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能判断常见实验室标志（禁止烟火、当心触电、必须戴护目镜、洗眼台等）要求自己做什么。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能做到进入实验室前先看门口安全信息牌，记下危险类别、防护要求、负责人和应急电话。</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能做到按仪器旁张贴的操作规程逐项操作，标志损坏及时报告更换。</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2894-2025（以现行文本为准）《安全色和安全标志》：安全色、对比色和禁止、警告、指令、提示四类安全标志（代替 GB 2894-2008、GB 2893-2008）</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13495.1-2015（以现行文本为准）《消防安全标志 第1部分：标志》：消防安全标志（详见第 4 章）</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《中华人民共和国安全生产法》（以现行文本为准）：在有较大危险因素的场所和设施设备上设置明显的安全警示标志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号，以现行文本为准）：实验室安全信息牌、安全警示标识和操作规程上墙</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高校实验室安全检查项目表（以现行文本为准）：实验室门口安全信息牌和警示标识的设置要求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本校实验室安全标识设置规定（以本校规定为准）</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安全信息：看得见，也听得见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安全标志告诉你：危险在哪、当心什么、该怎么做</a:t>
            </a:r>
          </a:p>
          <a:p>
            <a:pPr>
              <a:spcAft>
                <a:spcPts val="1000"/>
              </a:spcAft>
            </a:pPr>
            <a:r>
              <a:rPr sz="2000">
                <a:solidFill>
                  <a:srgbClr val="222B33"/>
                </a:solidFill>
                <a:latin typeface="Microsoft YaHei"/>
              </a:rPr>
              <a:t>▪ 安全信息有看得见的标志和颜色</a:t>
            </a:r>
          </a:p>
          <a:p>
            <a:pPr>
              <a:spcAft>
                <a:spcPts val="1000"/>
              </a:spcAft>
            </a:pPr>
            <a:r>
              <a:rPr sz="2000">
                <a:solidFill>
                  <a:srgbClr val="222B33"/>
                </a:solidFill>
                <a:latin typeface="Microsoft YaHei"/>
              </a:rPr>
              <a:t>▪ 也有听得见的信号，如火警铃声</a:t>
            </a:r>
          </a:p>
          <a:p>
            <a:pPr>
              <a:spcAft>
                <a:spcPts val="1000"/>
              </a:spcAft>
            </a:pPr>
            <a:r>
              <a:rPr sz="2000">
                <a:solidFill>
                  <a:srgbClr val="222B33"/>
                </a:solidFill>
                <a:latin typeface="Microsoft YaHei"/>
              </a:rPr>
              <a:t>▪ 听到火警铃声，立即撤离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安全标志是用图形、颜色和形状传达安全信息的标志，它告诉你这里有什么危险、要当心什么、应该怎么做——三者都是它的作用。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以为标志只是装饰，从不留意</a:t>
            </a:r>
          </a:p>
          <a:p>
            <a:pPr>
              <a:spcAft>
                <a:spcPts val="1000"/>
              </a:spcAft>
            </a:pPr>
            <a:r>
              <a:rPr sz="1500">
                <a:solidFill>
                  <a:srgbClr val="222B33"/>
                </a:solidFill>
                <a:latin typeface="Microsoft YaHei"/>
              </a:rPr>
              <a:t>▪ 听到警铃以为是演习，继续做实验</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安全标志分四类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安全标志分禁止、警告、指令、提示四类</a:t>
            </a:r>
          </a:p>
          <a:p>
            <a:pPr>
              <a:spcAft>
                <a:spcPts val="1000"/>
              </a:spcAft>
            </a:pPr>
            <a:r>
              <a:rPr sz="2000">
                <a:solidFill>
                  <a:srgbClr val="222B33"/>
                </a:solidFill>
                <a:latin typeface="Microsoft YaHei"/>
              </a:rPr>
              <a:t>▪ 每类形状和颜色固定，一看就能分清</a:t>
            </a:r>
          </a:p>
          <a:p>
            <a:pPr>
              <a:spcAft>
                <a:spcPts val="1000"/>
              </a:spcAft>
            </a:pPr>
            <a:r>
              <a:rPr sz="2000">
                <a:solidFill>
                  <a:srgbClr val="222B33"/>
                </a:solidFill>
                <a:latin typeface="Microsoft YaHei"/>
              </a:rPr>
              <a:t>▪ 气瓶颜色、仪器标签，也在提示危险</a:t>
            </a:r>
          </a:p>
          <a:p>
            <a:pPr>
              <a:spcAft>
                <a:spcPts val="1000"/>
              </a:spcAft>
            </a:pPr>
            <a:r>
              <a:rPr sz="2000">
                <a:solidFill>
                  <a:srgbClr val="222B33"/>
                </a:solidFill>
                <a:latin typeface="Microsoft YaHei"/>
              </a:rPr>
              <a:t>▪ 四类标志都要认得，按标志要求做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2894-2025（以现行文本为准）《安全色和安全标志》，安全标志分为四类：禁止标志（白底、红色圆环加斜杠、黑色图形）、警告标志（黄底、黑色三角形边框、黑色图形）、指令标志（蓝色圆形、白色图形）和提示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分不清警告和指令标志，以为都是“提醒一下”</a:t>
            </a:r>
          </a:p>
          <a:p>
            <a:pPr>
              <a:spcAft>
                <a:spcPts val="1000"/>
              </a:spcAft>
            </a:pPr>
            <a:r>
              <a:rPr sz="1500">
                <a:solidFill>
                  <a:srgbClr val="222B33"/>
                </a:solidFill>
                <a:latin typeface="Microsoft YaHei"/>
              </a:rPr>
              <a:t>▪ 只看文字，不看图形和颜色</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四种安全色：红黄蓝绿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红色：禁止、停止，也用于消防设备</a:t>
            </a:r>
          </a:p>
          <a:p>
            <a:pPr>
              <a:spcAft>
                <a:spcPts val="1000"/>
              </a:spcAft>
            </a:pPr>
            <a:r>
              <a:rPr sz="2000">
                <a:solidFill>
                  <a:srgbClr val="222B33"/>
                </a:solidFill>
                <a:latin typeface="Microsoft YaHei"/>
              </a:rPr>
              <a:t>▪ 黄色：警告，当心有危险</a:t>
            </a:r>
          </a:p>
          <a:p>
            <a:pPr>
              <a:spcAft>
                <a:spcPts val="1000"/>
              </a:spcAft>
            </a:pPr>
            <a:r>
              <a:rPr sz="2000">
                <a:solidFill>
                  <a:srgbClr val="222B33"/>
                </a:solidFill>
                <a:latin typeface="Microsoft YaHei"/>
              </a:rPr>
              <a:t>▪ 蓝色：指令，必须遵守</a:t>
            </a:r>
          </a:p>
          <a:p>
            <a:pPr>
              <a:spcAft>
                <a:spcPts val="1000"/>
              </a:spcAft>
            </a:pPr>
            <a:r>
              <a:rPr sz="2000">
                <a:solidFill>
                  <a:srgbClr val="222B33"/>
                </a:solidFill>
                <a:latin typeface="Microsoft YaHei"/>
              </a:rPr>
              <a:t>▪ 绿色：安全，提示出口、通道和急救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以为红色标志都是“危险警告”</a:t>
            </a:r>
          </a:p>
          <a:p>
            <a:pPr>
              <a:spcAft>
                <a:spcPts val="1000"/>
              </a:spcAft>
            </a:pPr>
            <a:r>
              <a:rPr sz="1500">
                <a:solidFill>
                  <a:srgbClr val="222B33"/>
                </a:solidFill>
                <a:latin typeface="Microsoft YaHei"/>
              </a:rPr>
              <a:t>▪ 以为绿色区域完全没有危险</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禁止标志：红圈斜杠，不准做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白底、红色圆环加斜杠、黑色图形</a:t>
            </a:r>
          </a:p>
          <a:p>
            <a:pPr>
              <a:spcAft>
                <a:spcPts val="1000"/>
              </a:spcAft>
            </a:pPr>
            <a:r>
              <a:rPr sz="2000">
                <a:solidFill>
                  <a:srgbClr val="222B33"/>
                </a:solidFill>
                <a:latin typeface="Microsoft YaHei"/>
              </a:rPr>
              <a:t>▪ 意思是：这件事不准做</a:t>
            </a:r>
          </a:p>
          <a:p>
            <a:pPr>
              <a:spcAft>
                <a:spcPts val="1000"/>
              </a:spcAft>
            </a:pPr>
            <a:r>
              <a:rPr sz="2000">
                <a:solidFill>
                  <a:srgbClr val="222B33"/>
                </a:solidFill>
                <a:latin typeface="Microsoft YaHei"/>
              </a:rPr>
              <a:t>▪ 实验室常见：禁止烟火、禁止饮食</a:t>
            </a:r>
          </a:p>
          <a:p>
            <a:pPr>
              <a:spcAft>
                <a:spcPts val="1000"/>
              </a:spcAft>
            </a:pPr>
            <a:r>
              <a:rPr sz="2000">
                <a:solidFill>
                  <a:srgbClr val="222B33"/>
                </a:solidFill>
                <a:latin typeface="Microsoft YaHei"/>
              </a:rPr>
              <a:t>▪ 标志坏了、看不清，及时报告更换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禁止标志是禁止人们不安全行为的图形标志：白色底、红色圆环和红色斜杠、黑色图形。看到它，就是图形表示的这件事在这里不准做。实验室常见的有禁止烟火、禁止吸烟、禁止饮食、禁止触摸、禁止合闸等。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在“禁止饮食”标志下喝水</a:t>
            </a:r>
          </a:p>
          <a:p>
            <a:pPr>
              <a:spcAft>
                <a:spcPts val="1000"/>
              </a:spcAft>
            </a:pPr>
            <a:r>
              <a:rPr sz="1500">
                <a:solidFill>
                  <a:srgbClr val="222B33"/>
                </a:solidFill>
                <a:latin typeface="Microsoft YaHei"/>
              </a:rPr>
              <a:t>▪ 标志被柜子挡住也不报告</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警告标志：黄色三角，当心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黄底、黑色三角形边框、黑色图形</a:t>
            </a:r>
          </a:p>
          <a:p>
            <a:pPr>
              <a:spcAft>
                <a:spcPts val="1000"/>
              </a:spcAft>
            </a:pPr>
            <a:r>
              <a:rPr sz="2000">
                <a:solidFill>
                  <a:srgbClr val="222B33"/>
                </a:solidFill>
                <a:latin typeface="Microsoft YaHei"/>
              </a:rPr>
              <a:t>▪ 意思是：附近有危险，要当心</a:t>
            </a:r>
          </a:p>
          <a:p>
            <a:pPr>
              <a:spcAft>
                <a:spcPts val="1000"/>
              </a:spcAft>
            </a:pPr>
            <a:r>
              <a:rPr sz="2000">
                <a:solidFill>
                  <a:srgbClr val="222B33"/>
                </a:solidFill>
                <a:latin typeface="Microsoft YaHei"/>
              </a:rPr>
              <a:t>▪ 常见：当心腐蚀、当心中毒、当心烫伤、当心触电</a:t>
            </a:r>
          </a:p>
          <a:p>
            <a:pPr>
              <a:spcAft>
                <a:spcPts val="1000"/>
              </a:spcAft>
            </a:pPr>
            <a:r>
              <a:rPr sz="2000">
                <a:solidFill>
                  <a:srgbClr val="222B33"/>
                </a:solidFill>
                <a:latin typeface="Microsoft YaHei"/>
              </a:rPr>
              <a:t>▪ 没弄清危险，不要贸然往前走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警告标志提醒人们注意周围环境、避免可能发生的危险：黄色底、黑色三角形边框、黑色图形。电气、化学、高温等场所和设备上常见当心触电、当心腐蚀、当心中毒、当心烫伤、当心火灾等警告标志。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看到警告标志仍然直接伸手触摸设备</a:t>
            </a:r>
          </a:p>
          <a:p>
            <a:pPr>
              <a:spcAft>
                <a:spcPts val="1000"/>
              </a:spcAft>
            </a:pPr>
            <a:r>
              <a:rPr sz="1500">
                <a:solidFill>
                  <a:srgbClr val="222B33"/>
                </a:solidFill>
                <a:latin typeface="Microsoft YaHei"/>
              </a:rPr>
              <a:t>▪ 不了解危险就跟着别人进去</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指令标志：蓝色圆形，必须做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蓝色圆形、白色图形</a:t>
            </a:r>
          </a:p>
          <a:p>
            <a:pPr>
              <a:spcAft>
                <a:spcPts val="1000"/>
              </a:spcAft>
            </a:pPr>
            <a:r>
              <a:rPr sz="2000">
                <a:solidFill>
                  <a:srgbClr val="222B33"/>
                </a:solidFill>
                <a:latin typeface="Microsoft YaHei"/>
              </a:rPr>
              <a:t>▪ 意思是：这里必须这样做</a:t>
            </a:r>
          </a:p>
          <a:p>
            <a:pPr>
              <a:spcAft>
                <a:spcPts val="1000"/>
              </a:spcAft>
            </a:pPr>
            <a:r>
              <a:rPr sz="2000">
                <a:solidFill>
                  <a:srgbClr val="222B33"/>
                </a:solidFill>
                <a:latin typeface="Microsoft YaHei"/>
              </a:rPr>
              <a:t>▪ 常见：必须戴护目镜、必须戴手套、必须通风</a:t>
            </a:r>
          </a:p>
          <a:p>
            <a:pPr>
              <a:spcAft>
                <a:spcPts val="1000"/>
              </a:spcAft>
            </a:pPr>
            <a:r>
              <a:rPr sz="2000">
                <a:solidFill>
                  <a:srgbClr val="222B33"/>
                </a:solidFill>
                <a:latin typeface="Microsoft YaHei"/>
              </a:rPr>
              <a:t>▪ 看到就照做，戴好相应防护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指令标志是强制人们必须做出某种动作或采用防范措施的图形标志：蓝色圆形、白色图形。实验室门口和设备旁常见的有必须戴防护眼镜、必须戴防护手套、必须穿防护服、必须通风等。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把指令标志当成建议，觉得“可戴可不戴”</a:t>
            </a:r>
          </a:p>
          <a:p>
            <a:pPr>
              <a:spcAft>
                <a:spcPts val="1000"/>
              </a:spcAft>
            </a:pPr>
            <a:r>
              <a:rPr sz="1500">
                <a:solidFill>
                  <a:srgbClr val="222B33"/>
                </a:solidFill>
                <a:latin typeface="Microsoft YaHei"/>
              </a:rPr>
              <a:t>▪ 进门后才想起找护目镜</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提示标志：绿色方形，在哪里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绿色方形、白色图形</a:t>
            </a:r>
          </a:p>
          <a:p>
            <a:pPr>
              <a:spcAft>
                <a:spcPts val="1000"/>
              </a:spcAft>
            </a:pPr>
            <a:r>
              <a:rPr sz="2000">
                <a:solidFill>
                  <a:srgbClr val="222B33"/>
                </a:solidFill>
                <a:latin typeface="Microsoft YaHei"/>
              </a:rPr>
              <a:t>▪ 告诉你安全出口、集合点、急救点在哪</a:t>
            </a:r>
          </a:p>
          <a:p>
            <a:pPr>
              <a:spcAft>
                <a:spcPts val="1000"/>
              </a:spcAft>
            </a:pPr>
            <a:r>
              <a:rPr sz="2000">
                <a:solidFill>
                  <a:srgbClr val="222B33"/>
                </a:solidFill>
                <a:latin typeface="Microsoft YaHei"/>
              </a:rPr>
              <a:t>▪ 洗眼器、紧急喷淋的位置也用提示标志</a:t>
            </a:r>
          </a:p>
          <a:p>
            <a:pPr>
              <a:spcAft>
                <a:spcPts val="1000"/>
              </a:spcAft>
            </a:pPr>
            <a:r>
              <a:rPr sz="2000">
                <a:solidFill>
                  <a:srgbClr val="222B33"/>
                </a:solidFill>
                <a:latin typeface="Microsoft YaHei"/>
              </a:rPr>
              <a:t>▪ 看到绿色，不代表这里没有危险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提示标志向人们提供某种信息，如标明安全设施或场所的位置：绿色方形、白色图形。常见的有安全出口、疏散方向、紧急集合点、急救点、洗眼台、安全淋浴设施等（洗眼器和喷淋见第 027 课，疏散见第 036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看到绿色标志就以为这里安全</a:t>
            </a:r>
          </a:p>
          <a:p>
            <a:pPr>
              <a:spcAft>
                <a:spcPts val="1000"/>
              </a:spcAft>
            </a:pPr>
            <a:r>
              <a:rPr sz="1500">
                <a:solidFill>
                  <a:srgbClr val="222B33"/>
                </a:solidFill>
                <a:latin typeface="Microsoft YaHei"/>
              </a:rPr>
              <a:t>▪ 不知道离自己最近的洗眼器在哪</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用电安全标志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黄色三角加闪电：当心触电</a:t>
            </a:r>
          </a:p>
          <a:p>
            <a:pPr>
              <a:spcAft>
                <a:spcPts val="1000"/>
              </a:spcAft>
            </a:pPr>
            <a:r>
              <a:rPr sz="2000">
                <a:solidFill>
                  <a:srgbClr val="222B33"/>
                </a:solidFill>
                <a:latin typeface="Microsoft YaHei"/>
              </a:rPr>
              <a:t>▪ 有这个标志的柜门和设备，不随便打开</a:t>
            </a:r>
          </a:p>
          <a:p>
            <a:pPr>
              <a:spcAft>
                <a:spcPts val="1000"/>
              </a:spcAft>
            </a:pPr>
            <a:r>
              <a:rPr sz="2000">
                <a:solidFill>
                  <a:srgbClr val="222B33"/>
                </a:solidFill>
                <a:latin typeface="Microsoft YaHei"/>
              </a:rPr>
              <a:t>▪ 挂着禁止合闸牌，谁也不能合闸</a:t>
            </a:r>
          </a:p>
          <a:p>
            <a:pPr>
              <a:spcAft>
                <a:spcPts val="1000"/>
              </a:spcAft>
            </a:pPr>
            <a:r>
              <a:rPr sz="2000">
                <a:solidFill>
                  <a:srgbClr val="222B33"/>
                </a:solidFill>
                <a:latin typeface="Microsoft YaHei"/>
              </a:rPr>
              <a:t>▪ 接地标志处，接地线不能拆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打开贴有当心触电标志的柜门找东西</a:t>
            </a:r>
          </a:p>
          <a:p>
            <a:pPr>
              <a:spcAft>
                <a:spcPts val="1000"/>
              </a:spcAft>
            </a:pPr>
            <a:r>
              <a:rPr sz="1500">
                <a:solidFill>
                  <a:srgbClr val="222B33"/>
                </a:solidFill>
                <a:latin typeface="Microsoft YaHei"/>
              </a:rPr>
              <a:t>▪ 看到禁止合闸牌，以为是忘了摘</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条纹也是安全语言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黄黑相间条纹：当心磕碰、绊倒</a:t>
            </a:r>
          </a:p>
          <a:p>
            <a:pPr>
              <a:spcAft>
                <a:spcPts val="1000"/>
              </a:spcAft>
            </a:pPr>
            <a:r>
              <a:rPr sz="2000">
                <a:solidFill>
                  <a:srgbClr val="222B33"/>
                </a:solidFill>
                <a:latin typeface="Microsoft YaHei"/>
              </a:rPr>
              <a:t>▪ 红白相间条纹：禁止通行，不要越过</a:t>
            </a:r>
          </a:p>
          <a:p>
            <a:pPr>
              <a:spcAft>
                <a:spcPts val="1000"/>
              </a:spcAft>
            </a:pPr>
            <a:r>
              <a:rPr sz="2000">
                <a:solidFill>
                  <a:srgbClr val="222B33"/>
                </a:solidFill>
                <a:latin typeface="Microsoft YaHei"/>
              </a:rPr>
              <a:t>▪ 对比色让安全色更醒目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跨过红白隔离带抄近路</a:t>
            </a:r>
          </a:p>
          <a:p>
            <a:pPr>
              <a:spcAft>
                <a:spcPts val="1000"/>
              </a:spcAft>
            </a:pPr>
            <a:r>
              <a:rPr sz="1500">
                <a:solidFill>
                  <a:srgbClr val="222B33"/>
                </a:solidFill>
                <a:latin typeface="Microsoft YaHei"/>
              </a:rPr>
              <a:t>▪ 不留意地面黄黑条纹被绊倒</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进门先看安全信息牌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进实验室前，先看门口安全信息牌</a:t>
            </a:r>
          </a:p>
          <a:p>
            <a:pPr>
              <a:spcAft>
                <a:spcPts val="1000"/>
              </a:spcAft>
            </a:pPr>
            <a:r>
              <a:rPr sz="2000">
                <a:solidFill>
                  <a:srgbClr val="222B33"/>
                </a:solidFill>
                <a:latin typeface="Microsoft YaHei"/>
              </a:rPr>
              <a:t>▪ 信息牌写着危险类别、防护要求、负责人和应急电话</a:t>
            </a:r>
          </a:p>
          <a:p>
            <a:pPr>
              <a:spcAft>
                <a:spcPts val="1000"/>
              </a:spcAft>
            </a:pPr>
            <a:r>
              <a:rPr sz="2000">
                <a:solidFill>
                  <a:srgbClr val="222B33"/>
                </a:solidFill>
                <a:latin typeface="Microsoft YaHei"/>
              </a:rPr>
              <a:t>▪ 把负责人和应急电话记下来</a:t>
            </a:r>
          </a:p>
          <a:p>
            <a:pPr>
              <a:spcAft>
                <a:spcPts val="1000"/>
              </a:spcAft>
            </a:pPr>
            <a:r>
              <a:rPr sz="2000">
                <a:solidFill>
                  <a:srgbClr val="222B33"/>
                </a:solidFill>
                <a:latin typeface="Microsoft YaHei"/>
              </a:rPr>
              <a:t>▪ 信息牌也是危害告知，出事时外人知道找谁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从不看门口信息牌就进门</a:t>
            </a:r>
          </a:p>
          <a:p>
            <a:pPr>
              <a:spcAft>
                <a:spcPts val="1000"/>
              </a:spcAft>
            </a:pPr>
            <a:r>
              <a:rPr sz="1500">
                <a:solidFill>
                  <a:srgbClr val="222B33"/>
                </a:solidFill>
                <a:latin typeface="Microsoft YaHei"/>
              </a:rPr>
              <a:t>▪ 信息牌上的负责人已调走却没更新</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规程放在仪器旁，照单操作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操作规程放在仪器旁，随时对照</a:t>
            </a:r>
          </a:p>
          <a:p>
            <a:pPr>
              <a:spcAft>
                <a:spcPts val="1000"/>
              </a:spcAft>
            </a:pPr>
            <a:r>
              <a:rPr sz="2000">
                <a:solidFill>
                  <a:srgbClr val="222B33"/>
                </a:solidFill>
                <a:latin typeface="Microsoft YaHei"/>
              </a:rPr>
              <a:t>▪ 像飞行员检查单，一项项照做，差错就少</a:t>
            </a:r>
          </a:p>
          <a:p>
            <a:pPr>
              <a:spcAft>
                <a:spcPts val="1000"/>
              </a:spcAft>
            </a:pPr>
            <a:r>
              <a:rPr sz="2000">
                <a:solidFill>
                  <a:srgbClr val="222B33"/>
                </a:solidFill>
                <a:latin typeface="Microsoft YaHei"/>
              </a:rPr>
              <a:t>▪ 不光靠记忆，专心操作</a:t>
            </a:r>
          </a:p>
          <a:p>
            <a:pPr>
              <a:spcAft>
                <a:spcPts val="1000"/>
              </a:spcAft>
            </a:pPr>
            <a:r>
              <a:rPr sz="2000">
                <a:solidFill>
                  <a:srgbClr val="222B33"/>
                </a:solidFill>
                <a:latin typeface="Microsoft YaHei"/>
              </a:rPr>
              <a:t>▪ 安全手册按本实验室编写，不照搬模板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操作规程（SOP，第 019 课）就像飞行员的检查单：一项项对照着做，差错就少。不要光凭记忆，把规程张贴或放置在仪器旁，操作时专心，逐项确认。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凭记忆操作，跳过规程中的步骤</a:t>
            </a:r>
          </a:p>
          <a:p>
            <a:pPr>
              <a:spcAft>
                <a:spcPts val="1000"/>
              </a:spcAft>
            </a:pPr>
            <a:r>
              <a:rPr sz="1500">
                <a:solidFill>
                  <a:srgbClr val="222B33"/>
                </a:solidFill>
                <a:latin typeface="Microsoft YaHei"/>
              </a:rPr>
              <a:t>▪ 直接套用别校的安全手册</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白底、红色圆环加斜杠、黑色图形的标志属于：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警告标志</a:t>
            </a:r>
          </a:p>
          <a:p>
            <a:pPr algn="l"/>
            <a:r>
              <a:rPr sz="1500" b="0">
                <a:solidFill>
                  <a:srgbClr val="222B33"/>
                </a:solidFill>
                <a:latin typeface="Microsoft YaHei"/>
              </a:rPr>
              <a:t>B. 禁止标志</a:t>
            </a:r>
          </a:p>
          <a:p>
            <a:pPr algn="l"/>
            <a:r>
              <a:rPr sz="1500" b="0">
                <a:solidFill>
                  <a:srgbClr val="222B33"/>
                </a:solidFill>
                <a:latin typeface="Microsoft YaHei"/>
              </a:rPr>
              <a:t>C. 指令标志</a:t>
            </a:r>
          </a:p>
          <a:p>
            <a:pPr algn="l"/>
            <a:r>
              <a:rPr sz="1500" b="0">
                <a:solidFill>
                  <a:srgbClr val="222B33"/>
                </a:solidFill>
                <a:latin typeface="Microsoft YaHei"/>
              </a:rPr>
              <a:t>D. 提示标志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实验室门口有蓝色圆形“必须戴防护眼镜”标志，表示：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建议戴护目镜</a:t>
            </a:r>
          </a:p>
          <a:p>
            <a:pPr algn="l"/>
            <a:r>
              <a:rPr sz="1500" b="0">
                <a:solidFill>
                  <a:srgbClr val="222B33"/>
                </a:solidFill>
                <a:latin typeface="Microsoft YaHei"/>
              </a:rPr>
              <a:t>B. 当心眼睛受伤</a:t>
            </a:r>
          </a:p>
          <a:p>
            <a:pPr algn="l"/>
            <a:r>
              <a:rPr sz="1500" b="0">
                <a:solidFill>
                  <a:srgbClr val="222B33"/>
                </a:solidFill>
                <a:latin typeface="Microsoft YaHei"/>
              </a:rPr>
              <a:t>C. 必须戴护目镜才能进入</a:t>
            </a:r>
          </a:p>
          <a:p>
            <a:pPr algn="l"/>
            <a:r>
              <a:rPr sz="1500" b="0">
                <a:solidFill>
                  <a:srgbClr val="222B33"/>
                </a:solidFill>
                <a:latin typeface="Microsoft YaHei"/>
              </a:rPr>
              <a:t>D. 这里有洗眼器</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判断：绿色提示标志所在的地方一定没有危险。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判断：开关上挂着“禁止合闸”标志牌，只要确认没人在检修就可以合闸。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进入一间新的实验室前，应首先：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直接进门找导师</a:t>
            </a:r>
          </a:p>
          <a:p>
            <a:pPr algn="l"/>
            <a:r>
              <a:rPr sz="1500" b="0">
                <a:solidFill>
                  <a:srgbClr val="222B33"/>
                </a:solidFill>
                <a:latin typeface="Microsoft YaHei"/>
              </a:rPr>
              <a:t>B. 查看门口安全信息牌，了解危险类别、防护要求、负责人和应急电话</a:t>
            </a:r>
          </a:p>
          <a:p>
            <a:pPr algn="l"/>
            <a:r>
              <a:rPr sz="1500" b="0">
                <a:solidFill>
                  <a:srgbClr val="222B33"/>
                </a:solidFill>
                <a:latin typeface="Microsoft YaHei"/>
              </a:rPr>
              <a:t>C. 先打开仪器预热</a:t>
            </a:r>
          </a:p>
          <a:p>
            <a:pPr algn="l"/>
            <a:r>
              <a:rPr sz="1500" b="0">
                <a:solidFill>
                  <a:srgbClr val="222B33"/>
                </a:solidFill>
                <a:latin typeface="Microsoft YaHei"/>
              </a:rPr>
              <a:t>D. 看看有没有空位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安全信息：看得见，也听得见</a:t>
            </a:r>
          </a:p>
          <a:p>
            <a:pPr>
              <a:spcAft>
                <a:spcPts val="800"/>
              </a:spcAft>
            </a:pPr>
            <a:r>
              <a:rPr sz="1500">
                <a:solidFill>
                  <a:srgbClr val="FFFFFF"/>
                </a:solidFill>
                <a:latin typeface="Microsoft YaHei"/>
              </a:rPr>
              <a:t>▪ K2  安全标志分四类</a:t>
            </a:r>
          </a:p>
          <a:p>
            <a:pPr>
              <a:spcAft>
                <a:spcPts val="800"/>
              </a:spcAft>
            </a:pPr>
            <a:r>
              <a:rPr sz="1500">
                <a:solidFill>
                  <a:srgbClr val="FFFFFF"/>
                </a:solidFill>
                <a:latin typeface="Microsoft YaHei"/>
              </a:rPr>
              <a:t>▪ K3  四种安全色：红黄蓝绿</a:t>
            </a:r>
          </a:p>
          <a:p>
            <a:pPr>
              <a:spcAft>
                <a:spcPts val="800"/>
              </a:spcAft>
            </a:pPr>
            <a:r>
              <a:rPr sz="1500">
                <a:solidFill>
                  <a:srgbClr val="FFFFFF"/>
                </a:solidFill>
                <a:latin typeface="Microsoft YaHei"/>
              </a:rPr>
              <a:t>▪ K4  禁止标志：红圈斜杠，不准做</a:t>
            </a:r>
          </a:p>
          <a:p>
            <a:pPr>
              <a:spcAft>
                <a:spcPts val="800"/>
              </a:spcAft>
            </a:pPr>
            <a:r>
              <a:rPr sz="1500">
                <a:solidFill>
                  <a:srgbClr val="FFFFFF"/>
                </a:solidFill>
                <a:latin typeface="Microsoft YaHei"/>
              </a:rPr>
              <a:t>▪ K5  警告标志：黄色三角，当心</a:t>
            </a:r>
          </a:p>
          <a:p>
            <a:pPr>
              <a:spcAft>
                <a:spcPts val="800"/>
              </a:spcAft>
            </a:pPr>
            <a:r>
              <a:rPr sz="1500">
                <a:solidFill>
                  <a:srgbClr val="FFFFFF"/>
                </a:solidFill>
                <a:latin typeface="Microsoft YaHei"/>
              </a:rPr>
              <a:t>▪ K6  指令标志：蓝色圆形，必须做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提示标志：绿色方形，在哪里</a:t>
            </a:r>
          </a:p>
          <a:p>
            <a:pPr>
              <a:spcAft>
                <a:spcPts val="800"/>
              </a:spcAft>
            </a:pPr>
            <a:r>
              <a:rPr sz="1500">
                <a:solidFill>
                  <a:srgbClr val="FFFFFF"/>
                </a:solidFill>
                <a:latin typeface="Microsoft YaHei"/>
              </a:rPr>
              <a:t>▪ K8  用电安全标志</a:t>
            </a:r>
          </a:p>
          <a:p>
            <a:pPr>
              <a:spcAft>
                <a:spcPts val="800"/>
              </a:spcAft>
            </a:pPr>
            <a:r>
              <a:rPr sz="1500">
                <a:solidFill>
                  <a:srgbClr val="FFFFFF"/>
                </a:solidFill>
                <a:latin typeface="Microsoft YaHei"/>
              </a:rPr>
              <a:t>▪ K9  条纹也是安全语言</a:t>
            </a:r>
          </a:p>
          <a:p>
            <a:pPr>
              <a:spcAft>
                <a:spcPts val="800"/>
              </a:spcAft>
            </a:pPr>
            <a:r>
              <a:rPr sz="1500">
                <a:solidFill>
                  <a:srgbClr val="FFFFFF"/>
                </a:solidFill>
                <a:latin typeface="Microsoft YaHei"/>
              </a:rPr>
              <a:t>▪ K10  进门先看安全信息牌</a:t>
            </a:r>
          </a:p>
          <a:p>
            <a:pPr>
              <a:spcAft>
                <a:spcPts val="800"/>
              </a:spcAft>
            </a:pPr>
            <a:r>
              <a:rPr sz="1500">
                <a:solidFill>
                  <a:srgbClr val="FFFFFF"/>
                </a:solidFill>
                <a:latin typeface="Microsoft YaHei"/>
              </a:rPr>
              <a:t>▪ K11  规程放在仪器旁，照单操作</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安全设施与洗眼喷淋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适用对象：全体进入高校实验室的本科生、研究生和教职工（必修）；实验室安全员、负责设施点检的人员重点学习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能说出本实验室洗眼器、紧急喷淋、急救箱、灭火器材、应急箱、紧急断电和安全出口的位置，做到设施前和通道畅通。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能做到眼睛溅入化学品时正确使用洗眼器，身上大面积沾染或衣服着火时正确使用紧急喷淋。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能判断便携式洗眼器、手持软管和洗眼瓶只能作临时冲洗，冲淋废水要按规定收集处置。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能做到按规定定期放水检查洗眼器和喷淋并登记，参加应急演练。</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应急喷淋和洗眼设备》：应急喷淋和洗眼设备的技术要求、安装和使用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《中华人民共和国安全生产法》（以现行文本为准）：安全设备的经常性维护、保养和定期检测，应急救援器材的配备</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号，以现行文本为准）：实验室安全设施配备、检查和应急演练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高校实验室安全检查项目表（以现行文本为准）：洗眼器、喷淋、灭火器材、急救箱等的配置和点检记录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《国家危险废物名录》（以现行文本为准）：受污染冲洗废水的收集处置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本校实验室应急预案、安全设施点检和废物管理规定（以本校规定为准）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安全设施能救命，快冲是关键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防护再周全，意外也可能发生</a:t>
            </a:r>
          </a:p>
          <a:p>
            <a:pPr>
              <a:spcAft>
                <a:spcPts val="1000"/>
              </a:spcAft>
            </a:pPr>
            <a:r>
              <a:rPr sz="2000">
                <a:solidFill>
                  <a:srgbClr val="222B33"/>
                </a:solidFill>
                <a:latin typeface="Microsoft YaHei"/>
              </a:rPr>
              <a:t>▪ 万一出事，安全设施能救命</a:t>
            </a:r>
          </a:p>
          <a:p>
            <a:pPr>
              <a:spcAft>
                <a:spcPts val="1000"/>
              </a:spcAft>
            </a:pPr>
            <a:r>
              <a:rPr sz="2000">
                <a:solidFill>
                  <a:srgbClr val="222B33"/>
                </a:solidFill>
                <a:latin typeface="Microsoft YaHei"/>
              </a:rPr>
              <a:t>▪ 越快冲洗，伤害越轻</a:t>
            </a:r>
          </a:p>
          <a:p>
            <a:pPr>
              <a:spcAft>
                <a:spcPts val="1000"/>
              </a:spcAft>
            </a:pPr>
            <a:r>
              <a:rPr sz="2000">
                <a:solidFill>
                  <a:srgbClr val="222B33"/>
                </a:solidFill>
                <a:latin typeface="Microsoft YaHei"/>
              </a:rPr>
              <a:t>▪ 记牢四件事：知道位置、通道畅通、会冲洗、及时就医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我们穿戴防护、谨慎选用器材，但意外仍可能发生。化学品溅到眼睛或身上时，最关键的是尽快用大量清水冲洗：冲得越早，化学品接触时间越短，伤害越轻。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以为戴了防护就不用了解应急设施</a:t>
            </a:r>
          </a:p>
          <a:p>
            <a:pPr>
              <a:spcAft>
                <a:spcPts val="1000"/>
              </a:spcAft>
            </a:pPr>
            <a:r>
              <a:rPr sz="1500">
                <a:solidFill>
                  <a:srgbClr val="222B33"/>
                </a:solidFill>
                <a:latin typeface="Microsoft YaHei"/>
              </a:rPr>
              <a:t>▪ 出事后先找人商量，耽误冲洗</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进门先认清安全设施在哪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进新实验室，第一天就找到每件安全设施</a:t>
            </a:r>
          </a:p>
          <a:p>
            <a:pPr>
              <a:spcAft>
                <a:spcPts val="1000"/>
              </a:spcAft>
            </a:pPr>
            <a:r>
              <a:rPr sz="2000">
                <a:solidFill>
                  <a:srgbClr val="222B33"/>
                </a:solidFill>
                <a:latin typeface="Microsoft YaHei"/>
              </a:rPr>
              <a:t>▪ 洗眼器、喷淋、急救箱、灭火器材、应急箱</a:t>
            </a:r>
          </a:p>
          <a:p>
            <a:pPr>
              <a:spcAft>
                <a:spcPts val="1000"/>
              </a:spcAft>
            </a:pPr>
            <a:r>
              <a:rPr sz="2000">
                <a:solidFill>
                  <a:srgbClr val="222B33"/>
                </a:solidFill>
                <a:latin typeface="Microsoft YaHei"/>
              </a:rPr>
              <a:t>▪ 紧急断电按钮、总电源、报警按钮、应急电话</a:t>
            </a:r>
          </a:p>
          <a:p>
            <a:pPr>
              <a:spcAft>
                <a:spcPts val="1000"/>
              </a:spcAft>
            </a:pPr>
            <a:r>
              <a:rPr sz="2000">
                <a:solidFill>
                  <a:srgbClr val="222B33"/>
                </a:solidFill>
                <a:latin typeface="Microsoft YaHei"/>
              </a:rPr>
              <a:t>▪ 安全出口和疏散路线走一遍，闭着眼也能找到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做了几个月实验，还说不出洗眼器在哪</a:t>
            </a:r>
          </a:p>
          <a:p>
            <a:pPr>
              <a:spcAft>
                <a:spcPts val="1000"/>
              </a:spcAft>
            </a:pPr>
            <a:r>
              <a:rPr sz="1500">
                <a:solidFill>
                  <a:srgbClr val="222B33"/>
                </a:solidFill>
                <a:latin typeface="Microsoft YaHei"/>
              </a:rPr>
              <a:t>▪ 只记住本房间设施，不知道楼层安全出口</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应急箱按本室配，伸手可及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应急箱（溢洒包）按本实验室危害配置</a:t>
            </a:r>
          </a:p>
          <a:p>
            <a:pPr>
              <a:spcAft>
                <a:spcPts val="1000"/>
              </a:spcAft>
            </a:pPr>
            <a:r>
              <a:rPr sz="2000">
                <a:solidFill>
                  <a:srgbClr val="222B33"/>
                </a:solidFill>
                <a:latin typeface="Microsoft YaHei"/>
              </a:rPr>
              <a:t>▪ 手套和防护要对得上本室化学品</a:t>
            </a:r>
          </a:p>
          <a:p>
            <a:pPr>
              <a:spcAft>
                <a:spcPts val="1000"/>
              </a:spcAft>
            </a:pPr>
            <a:r>
              <a:rPr sz="2000">
                <a:solidFill>
                  <a:srgbClr val="222B33"/>
                </a:solidFill>
                <a:latin typeface="Microsoft YaHei"/>
              </a:rPr>
              <a:t>▪ 有生物材料，加配消毒剂和锐器工具</a:t>
            </a:r>
          </a:p>
          <a:p>
            <a:pPr>
              <a:spcAft>
                <a:spcPts val="1000"/>
              </a:spcAft>
            </a:pPr>
            <a:r>
              <a:rPr sz="2000">
                <a:solidFill>
                  <a:srgbClr val="222B33"/>
                </a:solidFill>
                <a:latin typeface="Microsoft YaHei"/>
              </a:rPr>
              <a:t>▪ 放在伸手可及处，不锁、不埋，定期检查补齐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应急箱里的手套挡不住本室使用的溶剂</a:t>
            </a:r>
          </a:p>
          <a:p>
            <a:pPr>
              <a:spcAft>
                <a:spcPts val="1000"/>
              </a:spcAft>
            </a:pPr>
            <a:r>
              <a:rPr sz="1500">
                <a:solidFill>
                  <a:srgbClr val="222B33"/>
                </a:solidFill>
                <a:latin typeface="Microsoft YaHei"/>
              </a:rPr>
              <a:t>▪ 应急箱被锁进柜子，钥匙找不到</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洗眼器和喷淋：就近配置，一开就出水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有危险物质的地方，就近配置洗眼器和喷淋</a:t>
            </a:r>
          </a:p>
          <a:p>
            <a:pPr>
              <a:spcAft>
                <a:spcPts val="1000"/>
              </a:spcAft>
            </a:pPr>
            <a:r>
              <a:rPr sz="2000">
                <a:solidFill>
                  <a:srgbClr val="222B33"/>
                </a:solidFill>
                <a:latin typeface="Microsoft YaHei"/>
              </a:rPr>
              <a:t>▪ 一个动作就出水，松手也不停，再操作才关</a:t>
            </a:r>
          </a:p>
          <a:p>
            <a:pPr>
              <a:spcAft>
                <a:spcPts val="1000"/>
              </a:spcAft>
            </a:pPr>
            <a:r>
              <a:rPr sz="2000">
                <a:solidFill>
                  <a:srgbClr val="222B33"/>
                </a:solidFill>
                <a:latin typeface="Microsoft YaHei"/>
              </a:rPr>
              <a:t>▪ 喷淋水量大，一下把人浇透；洗眼器水流柔和</a:t>
            </a:r>
          </a:p>
          <a:p>
            <a:pPr>
              <a:spcAft>
                <a:spcPts val="1000"/>
              </a:spcAft>
            </a:pPr>
            <a:r>
              <a:rPr sz="2000">
                <a:solidFill>
                  <a:srgbClr val="222B33"/>
                </a:solidFill>
                <a:latin typeface="Microsoft YaHei"/>
              </a:rPr>
              <a:t>▪ 都能持续供水，标志醒目，随时可达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使用腐蚀性、刺激性等危险物质的场所，要就近配置洗眼器和紧急喷淋，标志醒目、位置就近、通道上没有障碍，受伤人员能在很短时间内到达；高校实验室安全检查都会查这两样设备。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洗眼器装在离操作台很远的走廊尽头</a:t>
            </a:r>
          </a:p>
          <a:p>
            <a:pPr>
              <a:spcAft>
                <a:spcPts val="1000"/>
              </a:spcAft>
            </a:pPr>
            <a:r>
              <a:rPr sz="1500">
                <a:solidFill>
                  <a:srgbClr val="222B33"/>
                </a:solidFill>
                <a:latin typeface="Microsoft YaHei"/>
              </a:rPr>
              <a:t>▪ 以为普通水龙头就能代替洗眼器</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设施前和通道保持畅通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去洗眼器和喷淋的路，不能堵</a:t>
            </a:r>
          </a:p>
          <a:p>
            <a:pPr>
              <a:spcAft>
                <a:spcPts val="1000"/>
              </a:spcAft>
            </a:pPr>
            <a:r>
              <a:rPr sz="2000">
                <a:solidFill>
                  <a:srgbClr val="222B33"/>
                </a:solidFill>
                <a:latin typeface="Microsoft YaHei"/>
              </a:rPr>
              <a:t>▪ 设施前和喷淋下方不堆放任何东西</a:t>
            </a:r>
          </a:p>
          <a:p>
            <a:pPr>
              <a:spcAft>
                <a:spcPts val="1000"/>
              </a:spcAft>
            </a:pPr>
            <a:r>
              <a:rPr sz="2000">
                <a:solidFill>
                  <a:srgbClr val="222B33"/>
                </a:solidFill>
                <a:latin typeface="Microsoft YaHei"/>
              </a:rPr>
              <a:t>▪ 洗眼器盆里不放器皿，伸手就能用</a:t>
            </a:r>
          </a:p>
          <a:p>
            <a:pPr>
              <a:spcAft>
                <a:spcPts val="1000"/>
              </a:spcAft>
            </a:pPr>
            <a:r>
              <a:rPr sz="2000">
                <a:solidFill>
                  <a:srgbClr val="222B33"/>
                </a:solidFill>
                <a:latin typeface="Microsoft YaHei"/>
              </a:rPr>
              <a:t>▪ 不随意挪走设施，发现堵塞马上清理并报告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洗眼器、紧急喷淋、灭火器前面不准堆放物品，通往它们的通道要畅通，设备和物资不能堆在路上；喷淋下方也要保持空旷，便于站人冲洗。洗眼器上不放烧杯等器皿，防尘盖保持完好，伸手就能用。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把纸箱、推车堆在喷淋下面</a:t>
            </a:r>
          </a:p>
          <a:p>
            <a:pPr>
              <a:spcAft>
                <a:spcPts val="1000"/>
              </a:spcAft>
            </a:pPr>
            <a:r>
              <a:rPr sz="1500">
                <a:solidFill>
                  <a:srgbClr val="222B33"/>
                </a:solidFill>
                <a:latin typeface="Microsoft YaHei"/>
              </a:rPr>
              <a:t>▪ 在洗眼器盆里晾烧杯</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眼睛溅入：撑开眼睑，用洗眼器冲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化学品进了眼睛，立即到最近的洗眼器</a:t>
            </a:r>
          </a:p>
          <a:p>
            <a:pPr>
              <a:spcAft>
                <a:spcPts val="1000"/>
              </a:spcAft>
            </a:pPr>
            <a:r>
              <a:rPr sz="2000">
                <a:solidFill>
                  <a:srgbClr val="222B33"/>
                </a:solidFill>
                <a:latin typeface="Microsoft YaHei"/>
              </a:rPr>
              <a:t>▪ 推开阀板，俯身对准水流</a:t>
            </a:r>
          </a:p>
          <a:p>
            <a:pPr>
              <a:spcAft>
                <a:spcPts val="1000"/>
              </a:spcAft>
            </a:pPr>
            <a:r>
              <a:rPr sz="2000">
                <a:solidFill>
                  <a:srgbClr val="222B33"/>
                </a:solidFill>
                <a:latin typeface="Microsoft YaHei"/>
              </a:rPr>
              <a:t>▪ 用手指撑开眼睑，转动眼球，持续冲洗</a:t>
            </a:r>
          </a:p>
          <a:p>
            <a:pPr>
              <a:spcAft>
                <a:spcPts val="1000"/>
              </a:spcAft>
            </a:pPr>
            <a:r>
              <a:rPr sz="2000">
                <a:solidFill>
                  <a:srgbClr val="222B33"/>
                </a:solidFill>
                <a:latin typeface="Microsoft YaHei"/>
              </a:rPr>
              <a:t>▪ 摘掉隐形眼镜，不揉眼；冲完报告、就医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闭着眼冲水，水根本没冲进眼睛</a:t>
            </a:r>
          </a:p>
          <a:p>
            <a:pPr>
              <a:spcAft>
                <a:spcPts val="1000"/>
              </a:spcAft>
            </a:pPr>
            <a:r>
              <a:rPr sz="1500">
                <a:solidFill>
                  <a:srgbClr val="222B33"/>
                </a:solidFill>
                <a:latin typeface="Microsoft YaHei"/>
              </a:rPr>
              <a:t>▪ 冲了几秒觉得不疼就停下</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身上沾染：拉下喷淋，边冲边脱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化学品泼到身上或衣服着火，大声呼救</a:t>
            </a:r>
          </a:p>
          <a:p>
            <a:pPr>
              <a:spcAft>
                <a:spcPts val="1000"/>
              </a:spcAft>
            </a:pPr>
            <a:r>
              <a:rPr sz="2000">
                <a:solidFill>
                  <a:srgbClr val="222B33"/>
                </a:solidFill>
                <a:latin typeface="Microsoft YaHei"/>
              </a:rPr>
              <a:t>▪ 立刻冲到最近的喷淋下，拉下拉杆站在水下</a:t>
            </a:r>
          </a:p>
          <a:p>
            <a:pPr>
              <a:spcAft>
                <a:spcPts val="1000"/>
              </a:spcAft>
            </a:pPr>
            <a:r>
              <a:rPr sz="2000">
                <a:solidFill>
                  <a:srgbClr val="222B33"/>
                </a:solidFill>
                <a:latin typeface="Microsoft YaHei"/>
              </a:rPr>
              <a:t>▪ 水量很大，边冲洗边脱去污染衣物</a:t>
            </a:r>
          </a:p>
          <a:p>
            <a:pPr>
              <a:spcAft>
                <a:spcPts val="1000"/>
              </a:spcAft>
            </a:pPr>
            <a:r>
              <a:rPr sz="2000">
                <a:solidFill>
                  <a:srgbClr val="222B33"/>
                </a:solidFill>
                <a:latin typeface="Microsoft YaHei"/>
              </a:rPr>
              <a:t>▪ 小面积可用水槽冲，冲不掉就用喷淋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化学品大面积泼到身上，或者衣服着了火，要大声呼救，立刻冲到最近的紧急喷淋下，拉下拉杆，站在水下冲洗。喷淋一拉就是大量的水，一下把人浇透，心里要有准备，不要因为水大而躲开。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a:t>
            </a:r>
          </a:p>
          <a:p>
            <a:pPr>
              <a:spcAft>
                <a:spcPts val="1000"/>
              </a:spcAft>
            </a:pPr>
            <a:r>
              <a:rPr sz="1500">
                <a:solidFill>
                  <a:srgbClr val="222B33"/>
                </a:solidFill>
                <a:latin typeface="Microsoft YaHei"/>
              </a:rPr>
              <a:t>▪ 嫌水量大，冲一下就离开</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便携洗眼器、洗眼瓶只能临时用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便携式洗眼器水量可能不够，只作初步冲洗</a:t>
            </a:r>
          </a:p>
          <a:p>
            <a:pPr>
              <a:spcAft>
                <a:spcPts val="1000"/>
              </a:spcAft>
            </a:pPr>
            <a:r>
              <a:rPr sz="2000">
                <a:solidFill>
                  <a:srgbClr val="222B33"/>
                </a:solidFill>
                <a:latin typeface="Microsoft YaHei"/>
              </a:rPr>
              <a:t>▪ 要一直按住的手持软管，不能当洗眼器</a:t>
            </a:r>
          </a:p>
          <a:p>
            <a:pPr>
              <a:spcAft>
                <a:spcPts val="1000"/>
              </a:spcAft>
            </a:pPr>
            <a:r>
              <a:rPr sz="2000">
                <a:solidFill>
                  <a:srgbClr val="222B33"/>
                </a:solidFill>
                <a:latin typeface="Microsoft YaHei"/>
              </a:rPr>
              <a:t>▪ 洗眼瓶别无他法时才用，用完马上接着冲</a:t>
            </a:r>
          </a:p>
          <a:p>
            <a:pPr>
              <a:spcAft>
                <a:spcPts val="1000"/>
              </a:spcAft>
            </a:pPr>
            <a:r>
              <a:rPr sz="2000">
                <a:solidFill>
                  <a:srgbClr val="222B33"/>
                </a:solidFill>
                <a:latin typeface="Microsoft YaHei"/>
              </a:rPr>
              <a:t>▪ 主力是固定式洗眼器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有的便携式洗眼器水量有限，只能先冲一下，随后要到固定式洗眼器继续冲足时间。手持软管喷头大多要一直按住，伤者腾不出双手撑开眼睑，不能代替洗眼器。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用洗眼瓶冲一下就算处理完了</a:t>
            </a:r>
          </a:p>
          <a:p>
            <a:pPr>
              <a:spcAft>
                <a:spcPts val="1000"/>
              </a:spcAft>
            </a:pPr>
            <a:r>
              <a:rPr sz="1500">
                <a:solidFill>
                  <a:srgbClr val="222B33"/>
                </a:solidFill>
                <a:latin typeface="Microsoft YaHei"/>
              </a:rPr>
              <a:t>▪ 把水槽边的软管喷头当作洗眼器</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冲淋废水和地漏要管好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喷淋下没有围堰，用吸附条围住废水</a:t>
            </a:r>
          </a:p>
          <a:p>
            <a:pPr>
              <a:spcAft>
                <a:spcPts val="1000"/>
              </a:spcAft>
            </a:pPr>
            <a:r>
              <a:rPr sz="2000">
                <a:solidFill>
                  <a:srgbClr val="222B33"/>
                </a:solidFill>
                <a:latin typeface="Microsoft YaHei"/>
              </a:rPr>
              <a:t>▪ 受污染的冲淋废水按危险废物收集处置</a:t>
            </a:r>
          </a:p>
          <a:p>
            <a:pPr>
              <a:spcAft>
                <a:spcPts val="1000"/>
              </a:spcAft>
            </a:pPr>
            <a:r>
              <a:rPr sz="2000">
                <a:solidFill>
                  <a:srgbClr val="222B33"/>
                </a:solidFill>
                <a:latin typeface="Microsoft YaHei"/>
              </a:rPr>
              <a:t>▪ 涉及放射性物质，按专门规定处置</a:t>
            </a:r>
          </a:p>
          <a:p>
            <a:pPr>
              <a:spcAft>
                <a:spcPts val="1000"/>
              </a:spcAft>
            </a:pPr>
            <a:r>
              <a:rPr sz="2000">
                <a:solidFill>
                  <a:srgbClr val="222B33"/>
                </a:solidFill>
                <a:latin typeface="Microsoft YaHei"/>
              </a:rPr>
              <a:t>▪ 弄清地漏通向哪里，存水弯保持有水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冲淋后的废水可能含有化学品，不能随便处理：喷淋下没有围堰的，用吸附条围住废水，防止污染四处扩散；受污染的废水按危险废物收集处置（第 054 课），涉及放射性物质的按辐射安全的专门规定处置（第 7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把含化学品的冲淋废水直接扫进地漏</a:t>
            </a:r>
          </a:p>
          <a:p>
            <a:pPr>
              <a:spcAft>
                <a:spcPts val="1000"/>
              </a:spcAft>
            </a:pPr>
            <a:r>
              <a:rPr sz="1500">
                <a:solidFill>
                  <a:srgbClr val="222B33"/>
                </a:solidFill>
                <a:latin typeface="Microsoft YaHei"/>
              </a:rPr>
              <a:t>▪ 地漏干了，房间里有异味也不处理</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定期放水检查，登记挂牌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水管里的水停久了会变脏，要定期放水</a:t>
            </a:r>
          </a:p>
          <a:p>
            <a:pPr>
              <a:spcAft>
                <a:spcPts val="1000"/>
              </a:spcAft>
            </a:pPr>
            <a:r>
              <a:rPr sz="2000">
                <a:solidFill>
                  <a:srgbClr val="222B33"/>
                </a:solidFill>
                <a:latin typeface="Microsoft YaHei"/>
              </a:rPr>
              <a:t>▪ 看出水是否及时、水流柔和、水质清澈</a:t>
            </a:r>
          </a:p>
          <a:p>
            <a:pPr>
              <a:spcAft>
                <a:spcPts val="1000"/>
              </a:spcAft>
            </a:pPr>
            <a:r>
              <a:rPr sz="2000">
                <a:solidFill>
                  <a:srgbClr val="222B33"/>
                </a:solidFill>
                <a:latin typeface="Microsoft YaHei"/>
              </a:rPr>
              <a:t>▪ 检查卡上写日期、签名，记录存档</a:t>
            </a:r>
          </a:p>
          <a:p>
            <a:pPr>
              <a:spcAft>
                <a:spcPts val="1000"/>
              </a:spcAft>
            </a:pPr>
            <a:r>
              <a:rPr sz="2000">
                <a:solidFill>
                  <a:srgbClr val="222B33"/>
                </a:solidFill>
                <a:latin typeface="Microsoft YaHei"/>
              </a:rPr>
              <a:t>▪ 出水异常挂牌提醒、及时报修；灭火器看压力和有效期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水管里的水停留久了会变脏、滋生微生物，积存沉积物。洗眼器和喷淋要按规定定期放水测试（很多学校要求每周一次，频次按 GB 38144-2025（以现行文本为准）和本校规定），冲掉存水和沉积物，同时检查：开启后是否及时出……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洗眼器几个月没放水，一开出黄水</a:t>
            </a:r>
          </a:p>
          <a:p>
            <a:pPr>
              <a:spcAft>
                <a:spcPts val="1000"/>
              </a:spcAft>
            </a:pPr>
            <a:r>
              <a:rPr sz="1500">
                <a:solidFill>
                  <a:srgbClr val="222B33"/>
                </a:solidFill>
                <a:latin typeface="Microsoft YaHei"/>
              </a:rPr>
              <a:t>▪ 检查卡上只签名不写日期，或代签</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嵌墙式洗眼柜怎样放水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嵌墙式洗眼柜下面只有排水口，先备引流装置</a:t>
            </a:r>
          </a:p>
          <a:p>
            <a:pPr>
              <a:spcAft>
                <a:spcPts val="1000"/>
              </a:spcAft>
            </a:pPr>
            <a:r>
              <a:rPr sz="2000">
                <a:solidFill>
                  <a:srgbClr val="222B33"/>
                </a:solidFill>
                <a:latin typeface="Microsoft YaHei"/>
              </a:rPr>
              <a:t>▪ 备好软管、接头、专用水桶、螺丝刀和纸巾</a:t>
            </a:r>
          </a:p>
          <a:p>
            <a:pPr>
              <a:spcAft>
                <a:spcPts val="1000"/>
              </a:spcAft>
            </a:pPr>
            <a:r>
              <a:rPr sz="2000">
                <a:solidFill>
                  <a:srgbClr val="222B33"/>
                </a:solidFill>
                <a:latin typeface="Microsoft YaHei"/>
              </a:rPr>
              <a:t>▪ 接头套上排水口拧紧，水桶放稳再放水</a:t>
            </a:r>
          </a:p>
          <a:p>
            <a:pPr>
              <a:spcAft>
                <a:spcPts val="1000"/>
              </a:spcAft>
            </a:pPr>
            <a:r>
              <a:rPr sz="2000">
                <a:solidFill>
                  <a:srgbClr val="222B33"/>
                </a:solidFill>
                <a:latin typeface="Microsoft YaHei"/>
              </a:rPr>
              <a:t>▪ 关水后等水排净再拆，擦干地面，水倒进水槽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有的喷淋洗眼柜嵌在墙里，柜门上挂着检查卡；柜子下方只有排水口、没有水盆，放水前要先准备引流装置：引流软管、柔性接头、标明“洗眼器冲洗专用”的水桶，以及一把一字螺丝刀和一叠纸巾。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不接引流装置直接放水，水漫一地</a:t>
            </a:r>
          </a:p>
          <a:p>
            <a:pPr>
              <a:spcAft>
                <a:spcPts val="1000"/>
              </a:spcAft>
            </a:pPr>
            <a:r>
              <a:rPr sz="1500">
                <a:solidFill>
                  <a:srgbClr val="222B33"/>
                </a:solidFill>
                <a:latin typeface="Microsoft YaHei"/>
              </a:rPr>
              <a:t>▪ 水没排净就拆接头</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跟老师演练，亲手试过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请老师或安全员带你演练应急设施</a:t>
            </a:r>
          </a:p>
          <a:p>
            <a:pPr>
              <a:spcAft>
                <a:spcPts val="1000"/>
              </a:spcAft>
            </a:pPr>
            <a:r>
              <a:rPr sz="2000">
                <a:solidFill>
                  <a:srgbClr val="222B33"/>
                </a:solidFill>
                <a:latin typeface="Microsoft YaHei"/>
              </a:rPr>
              <a:t>▪ 洗眼器、喷淋亲手试过，才知道真用时的样子</a:t>
            </a:r>
          </a:p>
          <a:p>
            <a:pPr>
              <a:spcAft>
                <a:spcPts val="1000"/>
              </a:spcAft>
            </a:pPr>
            <a:r>
              <a:rPr sz="2000">
                <a:solidFill>
                  <a:srgbClr val="222B33"/>
                </a:solidFill>
                <a:latin typeface="Microsoft YaHei"/>
              </a:rPr>
              <a:t>▪ 灭火毯一拉就出，灭火器在演练中学会</a:t>
            </a:r>
          </a:p>
          <a:p>
            <a:pPr>
              <a:spcAft>
                <a:spcPts val="1000"/>
              </a:spcAft>
            </a:pPr>
            <a:r>
              <a:rPr sz="2000">
                <a:solidFill>
                  <a:srgbClr val="222B33"/>
                </a:solidFill>
                <a:latin typeface="Microsoft YaHei"/>
              </a:rPr>
              <a:t>▪ 按学校安排参加演练，人人练过才不慌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只看过视频，从没亲手开过洗眼器</a:t>
            </a:r>
          </a:p>
          <a:p>
            <a:pPr>
              <a:spcAft>
                <a:spcPts val="1000"/>
              </a:spcAft>
            </a:pPr>
            <a:r>
              <a:rPr sz="1500">
                <a:solidFill>
                  <a:srgbClr val="222B33"/>
                </a:solidFill>
                <a:latin typeface="Microsoft YaHei"/>
              </a:rPr>
              <a:t>▪ 认为演练是走过场，找借口不参加</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化学品溅入眼睛，正确的做法是：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用纸巾擦干后继续实验</a:t>
            </a:r>
          </a:p>
          <a:p>
            <a:pPr algn="l"/>
            <a:r>
              <a:rPr sz="1500" b="0">
                <a:solidFill>
                  <a:srgbClr val="222B33"/>
                </a:solidFill>
                <a:latin typeface="Microsoft YaHei"/>
              </a:rPr>
              <a:t>B. 立即到洗眼器，用手指撑开眼睑、转动眼球持续冲洗，然后报告、就医</a:t>
            </a:r>
          </a:p>
          <a:p>
            <a:pPr algn="l"/>
            <a:r>
              <a:rPr sz="1500" b="0">
                <a:solidFill>
                  <a:srgbClr val="222B33"/>
                </a:solidFill>
                <a:latin typeface="Microsoft YaHei"/>
              </a:rPr>
              <a:t>C. 闭着眼对着水龙头冲几秒</a:t>
            </a:r>
          </a:p>
          <a:p>
            <a:pPr algn="l"/>
            <a:r>
              <a:rPr sz="1500" b="0">
                <a:solidFill>
                  <a:srgbClr val="222B33"/>
                </a:solidFill>
                <a:latin typeface="Microsoft YaHei"/>
              </a:rPr>
              <a:t>D. 先用中和剂滴眼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判断：紧急喷淋下方可以暂时放置纸箱，用时再搬开。</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大量化学品泼到身上，在紧急喷淋下冲洗时还应：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穿着衣服冲，以免难为情</a:t>
            </a:r>
          </a:p>
          <a:p>
            <a:pPr algn="l"/>
            <a:r>
              <a:rPr sz="1500" b="0">
                <a:solidFill>
                  <a:srgbClr val="222B33"/>
                </a:solidFill>
                <a:latin typeface="Microsoft YaHei"/>
              </a:rPr>
              <a:t>B. 边冲洗边脱去污染衣物</a:t>
            </a:r>
          </a:p>
          <a:p>
            <a:pPr algn="l"/>
            <a:r>
              <a:rPr sz="1500" b="0">
                <a:solidFill>
                  <a:srgbClr val="222B33"/>
                </a:solidFill>
                <a:latin typeface="Microsoft YaHei"/>
              </a:rPr>
              <a:t>C. 冲一下就离开</a:t>
            </a:r>
          </a:p>
          <a:p>
            <a:pPr algn="l"/>
            <a:r>
              <a:rPr sz="1500" b="0">
                <a:solidFill>
                  <a:srgbClr val="222B33"/>
                </a:solidFill>
                <a:latin typeface="Microsoft YaHei"/>
              </a:rPr>
              <a:t>D. 用毛巾擦干后再冲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判断：洗眼瓶可以完全代替固定式洗眼器。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定期给洗眼器放水的主要目的是：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节约用水</a:t>
            </a:r>
          </a:p>
          <a:p>
            <a:pPr algn="l"/>
            <a:r>
              <a:rPr sz="1500" b="0">
                <a:solidFill>
                  <a:srgbClr val="222B33"/>
                </a:solidFill>
                <a:latin typeface="Microsoft YaHei"/>
              </a:rPr>
              <a:t>B. 冲掉管道存水和沉积物，并检查出水是否及时、柔和、清澈</a:t>
            </a:r>
          </a:p>
          <a:p>
            <a:pPr algn="l"/>
            <a:r>
              <a:rPr sz="1500" b="0">
                <a:solidFill>
                  <a:srgbClr val="222B33"/>
                </a:solidFill>
                <a:latin typeface="Microsoft YaHei"/>
              </a:rPr>
              <a:t>C. 清洗水槽</a:t>
            </a:r>
          </a:p>
          <a:p>
            <a:pPr algn="l"/>
            <a:r>
              <a:rPr sz="1500" b="0">
                <a:solidFill>
                  <a:srgbClr val="222B33"/>
                </a:solidFill>
                <a:latin typeface="Microsoft YaHei"/>
              </a:rPr>
              <a:t>D. 测试水压表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简答：进入一间新实验室的第一天，关于安全设施应做哪些事？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安全设施能救命，快冲是关键</a:t>
            </a:r>
          </a:p>
          <a:p>
            <a:pPr>
              <a:spcAft>
                <a:spcPts val="800"/>
              </a:spcAft>
            </a:pPr>
            <a:r>
              <a:rPr sz="1500">
                <a:solidFill>
                  <a:srgbClr val="FFFFFF"/>
                </a:solidFill>
                <a:latin typeface="Microsoft YaHei"/>
              </a:rPr>
              <a:t>▪ K2  进门先认清安全设施在哪</a:t>
            </a:r>
          </a:p>
          <a:p>
            <a:pPr>
              <a:spcAft>
                <a:spcPts val="800"/>
              </a:spcAft>
            </a:pPr>
            <a:r>
              <a:rPr sz="1500">
                <a:solidFill>
                  <a:srgbClr val="FFFFFF"/>
                </a:solidFill>
                <a:latin typeface="Microsoft YaHei"/>
              </a:rPr>
              <a:t>▪ K3  应急箱按本室配，伸手可及</a:t>
            </a:r>
          </a:p>
          <a:p>
            <a:pPr>
              <a:spcAft>
                <a:spcPts val="800"/>
              </a:spcAft>
            </a:pPr>
            <a:r>
              <a:rPr sz="1500">
                <a:solidFill>
                  <a:srgbClr val="FFFFFF"/>
                </a:solidFill>
                <a:latin typeface="Microsoft YaHei"/>
              </a:rPr>
              <a:t>▪ K4  洗眼器和喷淋：就近配置，一开就出水</a:t>
            </a:r>
          </a:p>
          <a:p>
            <a:pPr>
              <a:spcAft>
                <a:spcPts val="800"/>
              </a:spcAft>
            </a:pPr>
            <a:r>
              <a:rPr sz="1500">
                <a:solidFill>
                  <a:srgbClr val="FFFFFF"/>
                </a:solidFill>
                <a:latin typeface="Microsoft YaHei"/>
              </a:rPr>
              <a:t>▪ K5  设施前和通道保持畅通</a:t>
            </a:r>
          </a:p>
          <a:p>
            <a:pPr>
              <a:spcAft>
                <a:spcPts val="800"/>
              </a:spcAft>
            </a:pPr>
            <a:r>
              <a:rPr sz="1500">
                <a:solidFill>
                  <a:srgbClr val="FFFFFF"/>
                </a:solidFill>
                <a:latin typeface="Microsoft YaHei"/>
              </a:rPr>
              <a:t>▪ K6  眼睛溅入：撑开眼睑，用洗眼器冲</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身上沾染：拉下喷淋，边冲边脱</a:t>
            </a:r>
          </a:p>
          <a:p>
            <a:pPr>
              <a:spcAft>
                <a:spcPts val="800"/>
              </a:spcAft>
            </a:pPr>
            <a:r>
              <a:rPr sz="1500">
                <a:solidFill>
                  <a:srgbClr val="FFFFFF"/>
                </a:solidFill>
                <a:latin typeface="Microsoft YaHei"/>
              </a:rPr>
              <a:t>▪ K8  便携洗眼器、洗眼瓶只能临时用</a:t>
            </a:r>
          </a:p>
          <a:p>
            <a:pPr>
              <a:spcAft>
                <a:spcPts val="800"/>
              </a:spcAft>
            </a:pPr>
            <a:r>
              <a:rPr sz="1500">
                <a:solidFill>
                  <a:srgbClr val="FFFFFF"/>
                </a:solidFill>
                <a:latin typeface="Microsoft YaHei"/>
              </a:rPr>
              <a:t>▪ K9  冲淋废水和地漏要管好</a:t>
            </a:r>
          </a:p>
          <a:p>
            <a:pPr>
              <a:spcAft>
                <a:spcPts val="800"/>
              </a:spcAft>
            </a:pPr>
            <a:r>
              <a:rPr sz="1500">
                <a:solidFill>
                  <a:srgbClr val="FFFFFF"/>
                </a:solidFill>
                <a:latin typeface="Microsoft YaHei"/>
              </a:rPr>
              <a:t>▪ K10  定期放水检查，登记挂牌</a:t>
            </a:r>
          </a:p>
          <a:p>
            <a:pPr>
              <a:spcAft>
                <a:spcPts val="800"/>
              </a:spcAft>
            </a:pPr>
            <a:r>
              <a:rPr sz="1500">
                <a:solidFill>
                  <a:srgbClr val="FFFFFF"/>
                </a:solidFill>
                <a:latin typeface="Microsoft YaHei"/>
              </a:rPr>
              <a:t>▪ K11  嵌墙式洗眼柜怎样放水</a:t>
            </a:r>
          </a:p>
          <a:p>
            <a:pPr>
              <a:spcAft>
                <a:spcPts val="800"/>
              </a:spcAft>
            </a:pPr>
            <a:r>
              <a:rPr sz="1500">
                <a:solidFill>
                  <a:srgbClr val="FFFFFF"/>
                </a:solidFill>
                <a:latin typeface="Microsoft YaHei"/>
              </a:rPr>
              <a:t>▪ K12  跟老师演练，亲手试过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