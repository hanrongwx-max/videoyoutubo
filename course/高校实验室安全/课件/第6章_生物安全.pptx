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穿戴防护装备前先做准备：摘下戒指、手链、手表等首饰，它们会戳破手套、藏污纳垢，也让手套戴不服帖。手机、外套、包和笔等个人物品放在实验室外的储物柜里，不带进实验区（着装和个人物品要求见第 020 课）。</a:t>
            </a:r>
          </a:p>
          <a:p>
            <a:r>
              <a:t>有长发的，把头发束起、盘好，必要时戴帽子，防止头发垂落沾污或碰到面部。</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按风险评估备齐本次要用的装备（选择见第 074 课）。常规操作的基本装备是紧袖口的实验服、手套和带侧护的护目镜；有飞沫、飞溅风险时，换穿隔离衣，加戴口罩和面屏。隔离衣应前襟完整、后开、袖口收紧（针织或松紧袖口）。</a:t>
            </a:r>
          </a:p>
          <a:p>
            <a:r>
              <a:t>实验服、隔离衣和手套要尺码合身，方便活动。穿前逐件检查有无撕裂、破洞、缺扣、系带松脱，有缺陷的换新的，不凑合。</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穿戴区和脱卸区要分开设置，避免脱下的污染防护用品碰到干净的衣物和装备。有缓冲间的实验室，防护装备备齐在缓冲间，进去前在这里穿，出来在这里脱。</a:t>
            </a:r>
          </a:p>
          <a:p>
            <a:r>
              <a:t>进入较高风险区域前，在缓冲间按评估要求穿戴好（如送风式呼吸器），用前检查，确认无误再进入实验区。高级别防护装备须经培训考核后才能使用。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顺序贴在穿戴区墙上，照着做。国内常用的顺序是：手卫生→戴帽子→戴口罩（医用防护口罩做密合性检查）→戴护目镜或面屏→穿隔离衣（或防护服）→戴手套。只穿基本三件时：扣好实验服→戴护目镜→戴手套。</a:t>
            </a:r>
          </a:p>
          <a:p>
            <a:r>
              <a:t>各单位、各类实验室的具体顺序可能略有不同（例如有的规程先穿隔离衣再戴面屏），以本单位标准操作规程为准；共同的原则是手套最后戴、盖住袖口。</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戴医用口罩：把耳挂挂在耳后，鼻夹一侧朝上，用双手食指从中间向两侧按压鼻夹，让口罩上缘贴紧鼻梁和面颊，再把口罩下缘拉到下巴下方。不要用单手捏鼻夹，会捏出尖角漏气。</a:t>
            </a:r>
          </a:p>
          <a:p>
            <a:r>
              <a:t>医用防护口罩每次戴好后做密合性检查（双手捂住口罩快速呼气、吸气，感觉边缘是否漏气），漏气就调整鼻夹和头带；适合性检验见第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戴面屏：先拉开弹力头带，套到脑后，海绵衬垫贴在眉毛上方的额头。戴好后面屏要盖住前额、下缘过下巴、两侧包住面颊。</a:t>
            </a:r>
          </a:p>
          <a:p>
            <a:r>
              <a:t>戴护目镜时，调整头带让镜框贴合眼周，不压迫口罩上缘；戴眼镜的选能罩在眼镜外的护目镜（眼面防护见第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穿隔离衣：手臂伸进袖子，把衣服拉到肩上，在颈后系好领口的带子，腰带在背后或侧面系上。</a:t>
            </a:r>
          </a:p>
          <a:p>
            <a:r>
              <a:t>带子要系牢，但打活结、不要勒得太紧，脱的时候才好解开或扯断。隔离衣要合身、方便活动，前后都要遮住日常衣物，不让里面的衣服露在外面。</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最后戴手套：先把隔离衣袖口拉到掌心，再把手套口拉起，套在袖口外面，而不是塞进袖子里。这样袖子不会滑出来，袖口也不会沾上污染。</a:t>
            </a:r>
          </a:p>
          <a:p>
            <a:r>
              <a:t>穿一次性连体防护服时，先戴内层手套盖住袖口，手腕处是最容易出现缺口的地方，按规程把缝隙封严；处理体液等液体样本时，连体服能在洒出时护住全身。开工前再检查一遍手套，确认没有破口。</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风险较高时，按规程戴双层手套：内层盖住袖口，最后再戴一层外手套。外层沾上污染，在实验室内（或生物安全柜内）脱掉外层，换上新的，内层一直护着手。戴几层、怎么脱，按本实验室规程执行。</a:t>
            </a:r>
          </a:p>
          <a:p>
            <a:r>
              <a:t>手套沾上样本或破损，立即在柜内脱下丢进废物容器，手部消毒后换上新手套。如果手部皮肤也破了，按暴露处置并报告（见第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使用动力送风过滤式呼吸器（送风头罩）时，穿戴顺序写在规程里，照规程做。第一步先把装有风机和电池的腰带系好、调好松紧：穿上防护服以后就够不着了。</a:t>
            </a:r>
          </a:p>
          <a:p>
            <a:r>
              <a:t>把送风导管接好、插紧、拧牢；调好头盔（头罩）里的头箍，让它稳稳贴住额头。送风呼吸器的用前检查和故障时的退出程序见第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戴头罩之前一定先开机，伸手在头罩里感觉一下，确认有风送进来再戴；不送风就戴上，会憋闷，有窒息危险。顺序不能反。</a:t>
            </a:r>
          </a:p>
          <a:p>
            <a:r>
              <a:t>按规程先穿好连体防护服，风机转着把头罩从头顶套下，戴正，把披肩拉平、盖住肩膀，对镜看披肩有没有卷边。头罩的披肩塞进防护服，导管收在里面不外露，再拉好拉链、系紧颈部。</a:t>
            </a:r>
          </a:p>
          <a:p>
            <a:r>
              <a:t>进门前看风机的指示灯：全亮说明供电和送风正常；指示灯不全亮就不要进入。</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穿完对着镜子逐一检查：头罩或帽子、口罩、护目镜或面屏、拉链和系带、手腕处的手套、脚下的鞋套，有没有缺口和卷边。</a:t>
            </a:r>
          </a:p>
          <a:p>
            <a:r>
              <a:t>镜子看不到背后，请同伴帮忙看后背、颈部和手腕，互相检查后再进门。穿脱流程要反复演练，脱卸区贴好流程图；练熟并经考核合格后，才能独立进入实验室。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a:p>
            <a:r>
              <a:t>防护用品不能穿出实验室，要在脱卸区按规定顺序一件一件脱，脏的一面朝里，不碰到身体和日常衣物；一次性的丢进感染性废物容器，可重复使用的按规程处理。</a:t>
            </a:r>
          </a:p>
          <a:p>
            <a:r>
              <a:t>脱卸的方法和顺序不止一种（见 K18）。实验室要按风险评估先选定一种，写进本实验室的操作规程，大家统一照做，不要临场乱换。</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把两只包成一团（通用要求见第 023 课）。</a:t>
            </a:r>
          </a:p>
          <a:p>
            <a:r>
              <a:t>整个过程中干净的手不碰手套外面。脱下的手套丢进感染性废物容器，一次性手套绝不重复使用。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摘下手套后，手上可能已沾上看不见的污染，要先做手卫生：用速干手消毒剂揉搓双手，或洗手；有的规程要求换戴一副干净手套再继续脱其他防护用品。按本实验室规程执行，再脱下一件。</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摘面屏：头稍向前倾，捏住耳朵上方的头带，轻轻提起离开面部；面屏前片可能有污染，不要碰。一次性面屏丢进感染性废物容器。</a:t>
            </a:r>
          </a:p>
          <a:p>
            <a:r>
              <a:t>摘护目镜：捏住太阳穴处的镜腿取下，镜腿沾污的可能小，不碰镜片；放到指定位置，按规程统一清洁消毒。清洁消毒护目镜时也要戴手套，用规定的消毒剂，作用时间要够（以本单位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脱隔离衣：解开腰带，抓住两肩向前拉，让颈后的系带松开（或按规程解开）；从肩部往前脱下，远离身体，边脱边卷，让外面翻到里面，卷成一团，脏的外面不碰到裸手和日常衣物，丢进感染性废物容器。</a:t>
            </a:r>
          </a:p>
          <a:p>
            <a:r>
              <a:t>脱实验服：实验服外面可能有污染，裸手不碰；袖口一直被手套盖着，是干净的。解开扣子，捏住一只袖口的内侧把手臂抽出来，另一只同样抽出。可以再穿的实验服挂到指定位置；有明显污染或需要丢弃的，里面朝向自己向外折，里朝外卷成一团，丢进感染性废物容器（实验服的清洗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a:p>
            <a:r>
              <a:t>另一种是先脱隔离衣、后摘手套：脱到袖子时，把袖子从手套下面拉出来，手套先留在手上，隔离衣卷团丢弃后，再用翻脱法摘手套。</a:t>
            </a:r>
          </a:p>
          <a:p>
            <a:r>
              <a:t>无论哪一种，脱完都要手卫生，具体用哪种由风险评估确定并写进本实验室规程（见 K13）。</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口罩贴着口鼻，在其他防护用品脱完、手卫生后最后摘：只捏住耳挂（或头带）从耳后取下，不碰口罩外面，离开面部后直接丢进感染性废物容器。医用防护口罩先拉下下方头带，再拉上方头带。</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摘送风头罩时，风机保持运转，按规程摘下头盔：头罩外面都当作污染，手只碰规定的位置，脸不碰外面。摘下后放到指定位置等待去污，然后再关机、断开电池。摘完马上洗手。</a:t>
            </a:r>
          </a:p>
          <a:p>
            <a:r>
              <a:t>先关风机再摘，头罩内失去正压，外面的污染容易进到面部。</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全部脱完，最后一步是用流动水和洗手液（肥皂）洗手：手心、手背、指缝、指尖、指甲下、拇指和手腕都要认真揉搓，时间要够（洗手步骤见第 020 课）。用一次性纸巾擦干，再用纸巾关水龙头。</a:t>
            </a:r>
          </a:p>
          <a:p>
            <a:r>
              <a:t>摘手套后、接触污染后、离开实验室前都必须洗手。暂时没有洗手条件时，先用速干手消毒剂，有条件后尽快洗手。洗完手再离开实验室。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答案：B。解析：手套最后戴并盖住袖口；具体顺序以本单位 SOP 为准。</a:t>
            </a:r>
          </a:p>
          <a:p>
            <a:r>
              <a:t>第 2 题 答案：B。解析：脱卸从最脏的（手套）开始，口罩最后摘，每脱下高污染物品后做手卫生。</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答案：B。解析：干净的手始终不碰手套外面。</a:t>
            </a:r>
          </a:p>
          <a:p>
            <a:r>
              <a:t>第 4 题 答案：B。解析：不送风戴头罩有窒息危险；摘时风机运转，保持正压防止污染进入面部。</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答案：B。解析：脱法按风险评估选定一种，写进规程，统一照做。</a:t>
            </a:r>
          </a:p>
          <a:p>
            <a:r>
              <a:t>第 6 题 答案：在脱卸区进行；从最脏到最干净；手套用翻脱法，裸手不碰外面；摘手套后手卫生；面屏捏头带、口罩捏耳挂；隔离衣外面朝里卷起；最后洗手。解析：脏面朝里、不碰身体和日常衣物。</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消毒或灭菌来实现。</a:t>
            </a:r>
          </a:p>
          <a:p>
            <a:r>
              <a:t>三者方法不同、效果不同：实验台面、仪器外壳一般消毒即可；培养基、无菌操作用的器材、要重复使用的污染器皿和感染性废物则要灭菌。器皿用完先彻底清洗（污物会挡住消毒剂和蒸汽），再消毒，需要时再灭菌。</a:t>
            </a:r>
          </a:p>
          <a:p>
            <a:r>
              <a:t>消过毒的东西不等于无菌，不能当无菌器材使用。用哪种方法，由风险评估和本实验室规程确定；生物安全员和实验室负责人要掌握哪种方法管用、怎么用对。</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杀灭微生物的方法主要有三类：热（湿热即高压蒸汽灭菌、干热、焚烧）、化学品（各类消毒剂、灭菌剂和熏蒸、气体灭菌）、辐射（紫外线照射；工业上的电离辐射灭菌）。此外还有过滤等去除微生物的物理方法。</a:t>
            </a:r>
          </a:p>
          <a:p>
            <a:r>
              <a:t>选择时看对象和目的：耐热耐湿的玻璃器皿、培养基、废物首选高压蒸汽灭菌；台面、仪器外壳等不能加热的表面用化学消毒剂擦拭；紫外线只能辅助消毒照得到的表面；整个房间或生物安全柜整体去污用熏蒸。具体方法按风险评估和本实验室规程确定。</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课）。</a:t>
            </a:r>
          </a:p>
          <a:p>
            <a:r>
              <a:t>化学灭菌剂、消毒废液和辐射管理不好，还会伤害环境：不能把化学灭菌剂、高浓度消毒废液随意倒入下水道，按本校化学废物要求处置（见第 053、054 课）。</a:t>
            </a:r>
          </a:p>
          <a:p>
            <a:r>
              <a:t>所以消毒灭菌必须有严格的标准操作规程。规程有两个目的：保护操作的人，也保证灭菌效果。没有经过培训、没学过规程的人不得操作灭菌和熏蒸设备。</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不同微生物对消毒剂的抵抗力相差很大：一般细菌、有包膜病毒较容易杀灭，分枝杆菌、无包膜病毒更难，细菌芽孢最难。常用的乙醇（常用 75% 左右）作用快，但对芽孢无效；含氯消毒剂作用谱广，但有腐蚀性和刺激性。选哪种，看要对付的是什么生物因子，按风险评估和规程确定。</a:t>
            </a:r>
          </a:p>
          <a:p>
            <a:r>
              <a:t>血液、培养物等有机物会降低消毒剂效果：大量污物先用吸水材料清除，再消毒。含氯消毒剂会腐蚀不锈钢等金属表面，作用时间到后用清水擦去残留。</a:t>
            </a:r>
          </a:p>
          <a:p>
            <a:r>
              <a:t>想换一种（比如更便宜的）消毒剂时，先确认它对本实验室的生物因子有效，经负责人同意，并在规程中写明消毒剂种类、浓度和作用时间（以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消毒剂需要与微生物接触足够的时间才能起作用。喷一下马上擦干，接触时间不够，等于没消毒。</a:t>
            </a:r>
          </a:p>
          <a:p>
            <a:r>
              <a:t>正确做法：用浸湿消毒剂的纸巾擦拭或适量喷洒，让表面在整个作用时间内保持湿润，必要时补加；时间到后再擦去残留。消毒剂的浓度和作用时间以本单位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生物材料一旦洒漏，台面、设备和材料都会被污染，既威胁人员，也破坏实验的无菌条件。</a:t>
            </a:r>
          </a:p>
          <a:p>
            <a:r>
              <a:t>台面要在开工前、收工后各消毒一次；用过的移液器、离心机外壳、旋涡振荡器等仪器设备也要用浸湿消毒剂的纸巾擦拭（不要直接对仪器喷洒，以免液体进入电器部件）。生物安全柜内的清洁见第 073 课。</a:t>
            </a:r>
          </a:p>
          <a:p>
            <a:r>
              <a:t>发生洒溢立即按溢洒程序处理（见第 078 课）。用过的吸头、手套、纸巾等收进专用的生物危害废物袋或容器，按感染性废物处置（见第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消毒剂浓缩液多有腐蚀性或刺激性。配制和擦拭时戴好手套和护目镜，在通风良好处按说明量取、稀释，必要时穿防护围裙。</a:t>
            </a:r>
          </a:p>
          <a:p>
            <a:r>
              <a:t>配好的消毒液装在合适的容器里，贴上标签，写明名称、浓度和配制日期（及配制人）。很多稀释液（如含氯消毒剂稀释液）会逐渐失效，按产品说明和规程现配现用或按期更换，过期的不得使用；没有标签、来历不明的液体不要用。</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消毒剂不能随手混在一起：含氯消毒剂与酸性物品混合会放出氯气，与含氨清洁剂混合也会产生有害气体。能不能混用、能不能先后使用，查产品说明书或安全技术说明书，拿不准就问老师。</a:t>
            </a:r>
          </a:p>
          <a:p>
            <a:r>
              <a:t>乙醇和含醇消毒剂易燃：远离酒精灯、电热设备和火花，不在明火旁大量喷洒，用后盖紧（化学品防火见第 046 课）。消毒剂也是化学品，按化学品要求储存、标识和处置。</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紫外线只能杀灭直接照射到的表面和空气中的微生物，穿透力很弱：物品背后的阴影、角落、灰尘和污物下面都照不到。因此紫外消毒只能作为辅助手段，不能代替消毒剂擦拭和灭菌。</a:t>
            </a:r>
          </a:p>
          <a:p>
            <a:r>
              <a:t>紫外灯管会随使用时间老化、强度下降，表面积灰也会降低效果，要定期清洁、检测强度并按规定更换。</a:t>
            </a:r>
          </a:p>
          <a:p>
            <a:r>
              <a:t>紫外线伤眼伤皮肤：开灯时人要离开，不能直视；生物安全柜、核酸提取仪等仪器内的紫外灯亮着时不要打开柜门、仓门查看（人身防护见第 111 课）。开不开紫外灯、开多久，按本实验室规程执行。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高压蒸汽灭菌是实验室最常用、最可靠的灭菌方法：在密闭容器中加压，使饱和蒸汽温度升高；高温蒸汽接触物品并在表面冷凝放热，使微生物的蛋白质变性而死亡。</a:t>
            </a:r>
          </a:p>
          <a:p>
            <a:r>
              <a:t>灭菌效果取决于蒸汽能否接触到每一处：灭菌器里的冷空气要排净，否则物品中心会留下“冷点”；装载要松散、留有间隙，瓶盖拧松，废物袋口不要扎死，液体不要装得太满。装得太满太乱、设备有故障（如排气不畅、密封不严），灭菌都不会彻底。</a:t>
            </a:r>
          </a:p>
          <a:p>
            <a:r>
              <a:t>温度、时间等参数以设备操作规程和验证结果为准，不同负载可能不同。高压灭菌器是压力容器，开门、装取等操作安全见第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放在负载最难灭透的位置，灭菌后培养，看芽孢是否被杀灭，按规程定期进行。</a:t>
            </a:r>
          </a:p>
          <a:p>
            <a:r>
              <a:t>新安装、维修后、更换装载方式或负载类型时，都要验证灭菌效果。监测不合格时，停用设备并报告负责人，本批物品按未灭菌对待、重新灭菌，查明原因修复后再用。监测和验证结果记录在案，按规定保存。</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需要对整间实验室、生物安全柜整体去污时（如更换过滤器、设备维修搬迁、实验室停用或发生严重污染后），采用熏蒸消毒。熏蒸用的药剂对人同样有毒有害。</a:t>
            </a:r>
          </a:p>
          <a:p>
            <a:r>
              <a:t>熏蒸由经过培训的专人按规程操作：事先清场、封闭房间或设备，门口挂警示牌，防止人员误入；完成后充分通风，经检测合格后才能进入。</a:t>
            </a:r>
          </a:p>
          <a:p>
            <a:r>
              <a:t>不耐热的器材有时用气体灭菌（如环氧乙烷），这类气体有毒、易燃。在专用设备和区域内由专人操作，未到时间不得提前开门，灭菌后按规程通风散气后才能使用。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答案：B。解析：消毒只把微生物减少到安全水平；灭菌是全部杀灭，包括芽孢。</a:t>
            </a:r>
          </a:p>
          <a:p>
            <a:r>
              <a:t>第 2 题 答案：B。解析：要让表面保持湿润，等够规程和产品说明规定的作用时间。</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答案：C。解析：含氯消毒剂与酸性物品混合会放出有害气体。</a:t>
            </a:r>
          </a:p>
          <a:p>
            <a:r>
              <a:t>第 4 题 答案：B。解析：紫外只对照到的表面有效，阴影和污物下照不到，只能辅助，不能代替擦拭。</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答案：B。解析：化学指示物只说明经过灭菌过程；灭菌效果靠物理、化学、生物监测和定期验证。</a:t>
            </a:r>
          </a:p>
          <a:p>
            <a:r>
              <a:t>第 6 题 答案：由培训过的专人按规程操作；事先清场、封闭，门口挂警示牌防止误入；结束后充分通风，检测合格后才能进入。解析：熏蒸药剂对人同样有毒有害。</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感染性废物的处理不是实验做完才考虑的事。开展生物因子实验之前，就要想好会产生哪些废物、用什么容器装、怎样灭活、送到哪里。</a:t>
            </a:r>
          </a:p>
          <a:p>
            <a:r>
              <a:t>实验室要有完整的生物废物管理方案，写进标准操作规程：分类收集、包装、暂存、转运、处置每个环节由谁做、怎么做、怎么记录，并对灭菌等处理效果进行验证（见第 076 课）。每个实验室按自己的生物因子和实验活动制定规程，新进人员按规程培训后才能操作。</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按本校规定专门收集处置（见第 084 课）。检测临床样本产生的废物一律按感染性废物对待。</a:t>
            </a:r>
          </a:p>
          <a:p>
            <a:r>
              <a:t>装袋之前先分类：感染性废物放进有生物危害标志的专用容器；锐器进锐器盒（见 K3）；化学废液、含油废物按化学废物分类收集（见第 053、054 课），不混进生物废物袋。既有感染性又含挥发性、腐蚀性化学品的废物不能直接高压灭菌，按规程专门处理。</a:t>
            </a:r>
          </a:p>
          <a:p>
            <a:r>
              <a:t>废物分类以本校规定和本实验室规程为准，墙上贴好分类指引；拿不准的，问实验室负责人或老师，不要凭感觉丢。</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面上。</a:t>
            </a:r>
          </a:p>
          <a:p>
            <a:r>
              <a:t>用过的针头不用手回套针帽，不掰弯、不折断、不用手拆针头，连同注射器整体投入锐器盒。锐器盒装到约四分之三或盒上的警戒线就封盒（锁死后不能再打开），不要硬往里塞或用手压。封好的锐器盒按感染性废物灭菌、处置。非感染性锐器和碎玻璃见第 029 课。</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内袋。</a:t>
            </a:r>
          </a:p>
          <a:p>
            <a:r>
              <a:t>封口时：按本实验室规程向内袋加少量消毒剂，收拢内袋口拧紧，用扎带或胶带扎牢；再把外袋同样拧紧扎好，两道扎口两道保险。扎好后把袋子提出，袋子外面和空桶外壁都用消毒剂擦拭，擦拭用的纸巾也按感染性废物处理。在生物安全柜内装袋的详细手法见第 073 课。</a:t>
            </a:r>
          </a:p>
          <a:p>
            <a:r>
              <a:t>袋子不要装太满，留出扎口的位置，一般不超过四分之三；千万不要用手往下压，会扎破手套，还会把气溶胶挤出来。快满了就扎口，换上新袋。</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a:p>
            <a:r>
              <a:t>从环境中分离的菌株、实验用的菌株都不能随意排放到外环境。需要在野外使用微生物（如环境修复试验）的，必须事先进行风险评估并经单位和有关部门批准。发生溢洒时先覆盖消毒，按程序清理，并报告实验室负责人（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环境中。</a:t>
            </a:r>
          </a:p>
          <a:p>
            <a:r>
              <a:t>培养瓶长了霉、长了杂菌，不要打开闻、打开看，以免孢子和气溶胶扩散；整瓶不开盖放进灭菌袋高压灭菌后再处置。</a:t>
            </a:r>
          </a:p>
          <a:p>
            <a:r>
              <a:t>培养物、菌种不能私自带出实验室，也不能私自送人或交换（菌毒种运输见第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基因工程菌常带有抗生素抗性基因等外源基因，一旦外泄可能在环境中扩散。含工程菌的培养物、废液和耗材收进专用容器，先灭活（如高压灭菌），再按规定分类处置。</a:t>
            </a:r>
          </a:p>
          <a:p>
            <a:r>
              <a:t>转基因植物材料、组培苗和转基因废弃物不能随手扔，也不得私自带出实验室或温室；先灭活，再按规定处置。田间或温室试验结束后，还要清除自生苗，防止残留（转基因生物安全见第 081、082 课）。</a:t>
            </a:r>
          </a:p>
          <a:p>
            <a:r>
              <a:t>保存的菌株、转基因材料要登记清楚；废弃物的灭活和处置也要登记，按本校规定执行。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国内高校实验室的感染性废物，一般要先在实验室内（或本单位指定地点）高压蒸汽灭菌，灭菌合格后再离开实验室，交学校统一处置。</a:t>
            </a:r>
          </a:p>
          <a:p>
            <a:r>
              <a:t>灭菌按本实验室生物安全手册和灭菌器规程进行，由经过培训的人员操作（灭菌原理和验证见第 076 课，灭菌器操作安全见第 123 课）。用化学指示物（指示胶带、指示条）确认每一锅经过了灭菌，并结合温度、时间记录和定期的生物指示物验证判断效果。</a:t>
            </a:r>
          </a:p>
          <a:p>
            <a:r>
              <a:t>每锅灭菌都要登记：日期、废物来源、操作人、指示物结果。灭菌不合格的废物重新灭菌，不往外送。原片“灭菌后焚烧”的做法在国内由有资质的集中处置单位完成，实验室不得自行焚烧（见 K10）。</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灭菌后的感染性废物按本校规定装进医疗废物专用包装袋或容器（有警示标识），锐器盒单独装。包装外贴好标签，写明产生的实验室、日期、废物类别等。</a:t>
            </a:r>
          </a:p>
          <a:p>
            <a:r>
              <a:t>废物出实验室后不能随手堆在走廊、楼道或垃圾间，要放到本单位设置的暂存点或密闭转运箱中。暂存点有警示标识、防渗漏、防鼠防蚊蝇、上锁专人管理。按规定时限及时清运，不长时间存放（具体时限以现行规定和本校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感染性废物（医疗废物）属于国家危险废物名录管理的危险废物，由学校统一交给有资质的医疗废物集中处置单位，用高温焚烧等方式无害化处置。</a:t>
            </a:r>
          </a:p>
          <a:p>
            <a:r>
              <a:t>交接时双方核对种类、数量（重量），填写交接登记和危险废物转移联单；联单和登记资料按规定期限存档，保证每一袋废物去向可查。</a:t>
            </a:r>
          </a:p>
          <a:p>
            <a:r>
              <a:t>严禁把感染性废物混入生活垃圾，严禁交给没有资质的单位或个人（如收废品人员），实验室不得自行焚烧或填埋。</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答案：C。解析：感染性锐器进防刺穿的锐器盒，不装进塑料袋。</a:t>
            </a:r>
          </a:p>
          <a:p>
            <a:r>
              <a:t>第 2 题 答案：B。解析：平板里仍是活菌，先高压灭菌，再按感染性废物交学校统一处置。</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答案：B。解析：留出扎口位置，不得用手压，以免扎破手套、挤出气溶胶。</a:t>
            </a:r>
          </a:p>
          <a:p>
            <a:r>
              <a:t>第 4 题 答案：B。解析：液体培养物收进带盖容器，按规程消毒或灭菌后再按规定处置。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答案：D。解析：医疗废物按危险废物管理，交有资质单位集中处置，联单存档。</a:t>
            </a:r>
          </a:p>
          <a:p>
            <a:r>
              <a:t>第 6 题 答案：不要打开闻或查看，整瓶不开盖放进高压灭菌袋，灭菌后按感染性废物处置。解析：开盖会使孢子和气溶胶扩散。</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病原微生物和生物毒素的溢洒、暴露事件发展很快，一旦发生，没有时间犹豫：越早控制，扩散和感染的风险越小。</a:t>
            </a:r>
          </a:p>
          <a:p>
            <a:r>
              <a:t>处置的总顺序是：立即停下手头工作，先控制（不让污染扩散），再消毒清理，全程按本实验室的应急处置规程进行，最后报告和记录。</a:t>
            </a:r>
          </a:p>
          <a:p>
            <a:r>
              <a:t>从控制到处置，每一步都有明确规定，不是“可做可不做”的建议。按规范处置，保护的是自己、同组的人和实验室外的人。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每个生物实验室都要事先制定溢洒和暴露处置规程，写明不同情况（柜内、台面、柜外、离心机、转运途中、人员暴露）怎么处理、找谁报告；规程中的一般程序按本室的病原、操作和设施调整。</a:t>
            </a:r>
          </a:p>
          <a:p>
            <a:r>
              <a:t>溢洒处理包放在实验室内就近、显眼的位置，一般包括：吸水纸或吸水垫、指定消毒剂、镊子或夹子、小铲或刮板、锐器盒、生物危害废物袋、手套、护目镜或面屏、隔离衣、口罩、警示牌等，定期检查补充，消毒剂在有效期内。</a:t>
            </a:r>
          </a:p>
          <a:p>
            <a:r>
              <a:t>所有人员都要事先学会并演练（可用清水演练）。动手处置前先检查自己的防护是否到位，按风险评估加戴一层手套或增加面部、呼吸防护。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发生溢洒，第一步是控制：大声提醒周围的人，在溢洒区域设置警示带或警示牌，贴上生物危害标志，无关人员离开，防止有人踩踏或接触后把污染带走。</a:t>
            </a:r>
          </a:p>
          <a:p>
            <a:r>
              <a:t>处置的目标很简单：把污染关在原地，不让它扩散到更大的范围和更多的人。</a:t>
            </a:r>
          </a:p>
          <a:p>
            <a:r>
              <a:t>平时就要减少溢洒带来的气溶胶风险：吹打、振荡、研磨、超声、开盖等易产生气溶胶的操作放在生物安全柜里做（见第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在生物安全柜内发生溢洒，不要慌：风机继续运行，柜子的气流仍在保护操作者；双手不要猛地抽出柜外，以免把气溶胶带出来。</a:t>
            </a:r>
          </a:p>
          <a:p>
            <a:r>
              <a:t>柜内溢洒要马上处理，不能放着等实验做完再说，处理方法按 K5、K6 的“盖、倒、等、清”。液体流进前格栅或台面下的集液槽时，也要按规程倒入消毒剂作用后清理。</a:t>
            </a:r>
          </a:p>
          <a:p>
            <a:r>
              <a:t>洒得多、流进集液槽难以处理，或自己拿不准的，请实验室负责人和学院、学校安全管理人员协助。处理完报告负责人，登记经过。柜内废物袋破损渗漏的处理见第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台面或柜内的小量溢洒，第一步用吸水纸、纸巾或吸水垫覆盖溢洒物，先把液体吸住，不让它流开，也减少飞溅。</a:t>
            </a:r>
          </a:p>
          <a:p>
            <a:r>
              <a:t>然后用规程指定的液体消毒剂，从溢洒区的外缘开始，绕圈往中间浇，浸湿覆盖物。由外向内，污染才不会被冲到更大的范围；反过来从中间往外浇，会把污染推开。</a:t>
            </a:r>
          </a:p>
          <a:p>
            <a:r>
              <a:t>处置中如果皮肤沾到，立即用流动水冲洗，并报告负责人（见 K13）。小量溢洒可以记住四个字：盖（覆盖）、倒（倒消毒剂）、等（作用足够时间）、清（清理并按感染性废物处置）。</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消毒剂作用后，尽量把溢洒物擦干净，纸巾丢进生物危害废物袋。</a:t>
            </a:r>
          </a:p>
          <a:p>
            <a:r>
              <a:t>再换上新的纸巾，覆盖原溢洒区并再浇一遍消毒剂，这一次让湿纸巾留在原处，等足作用时间。作用时间取决于病原种类、污染量、有机物多少和消毒剂种类等因素，以本实验室规程和产品说明为准（见第 076 课）。</a:t>
            </a:r>
          </a:p>
          <a:p>
            <a:r>
              <a:t>时间到后，再把纸巾丢进废物袋，废物按感染性废物处置（见第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溢洒物里有碎玻璃、碎管时，不要用手去捡，戴着手套也不行；用镊子、夹子或小铲把碎片夹进锐器盒。</a:t>
            </a:r>
          </a:p>
          <a:p>
            <a:r>
              <a:t>含氯消毒剂会腐蚀不锈钢台面和柜体：用了它，作用后再用清水（或按规程用乙醇）擦一遍。溢洒时被溅到的物品、仪器外表面，也要用浸湿消毒剂的纸巾擦拭，保持湿润等足时间，再继续实验。</a:t>
            </a:r>
          </a:p>
          <a:p>
            <a:r>
              <a:t>清理不能偷工减料：选对消毒剂，把病原彻底消灭；污染的器材、工具送去高压灭菌，灭菌到位。</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培养物等感染性材料洒在生物安全柜外，或瓶子摔碎，可能产生气溶胶。这时不要急着擦：提醒旁人，所有人立即撤出房间，关好门，门口挂上警示牌，防止有人进入。</a:t>
            </a:r>
          </a:p>
          <a:p>
            <a:r>
              <a:t>身上被溅到的，先脱去污染的外层防护、冲洗暴露部位，再报告。立即报告实验室负责人，按应急预案处置。</a:t>
            </a:r>
          </a:p>
          <a:p>
            <a:r>
              <a:t>等待规程规定的时间，让气溶胶沉降（实验室有负压通风的，同时让通风系统换气）。之后由经过培训的人员穿好防护（按风险评估增加呼吸防护），进入后按“盖、倒、等、清”处置，必要时请学校安全管理部门协助。</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在走廊、电梯等转运路上，废物袋或样品盒掉落、渗漏时，先让周围的人绕开，看住现场，不要用手去捡。</a:t>
            </a:r>
          </a:p>
          <a:p>
            <a:r>
              <a:t>马上报告实验室负责人，请人取来溢洒处理包。穿好防护后，用吸水材料覆盖，倒消毒剂作用后清理，按规程处置；破损的包装在外面再套袋。楼内转运要用密闭、防漏的转运箱，减少此类事件（见第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感染性样品时，如果怀疑或发现离心管破裂（听到破裂声、运行异常），停机后不要马上打开离心机盖；关闭的盖子能把气溶胶关在里面。挂上警示牌，静置规程规定的时间让气溶胶沉降，并立即报告实验室负责人。</a:t>
            </a:r>
          </a:p>
          <a:p>
            <a:r>
              <a:t>使用密封转子或密封吊篮离心的，穿戴好防护后，把密封转子或吊篮整体拿进生物安全柜内再打开。没有密封装置的，按本实验室规程由专人处置。</a:t>
            </a:r>
          </a:p>
          <a:p>
            <a:r>
              <a:t>用与转子、吊篮材质相容的消毒剂浸泡消毒（不相容会腐蚀转子），碎片用镊子夹进锐器盒，污染物按感染性废物处置，离心机腔体也要去污。离心机的安全使用见第 121 课。</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工作中隔离衣被大片溅湿、口罩被打湿、手套破损，都属于防护失效。先停下，把锐器安全放好，盖好样品容器，再到脱卸区按顺序脱下污染的防护用品（见第 075 课），换上新的。</a:t>
            </a:r>
          </a:p>
          <a:p>
            <a:r>
              <a:t>手套破了，脱下后仔细检查皮肤有没有伤口或沾染，洗手后换上新手套。一旦发现皮肤破损或沾染，按暴露处置（K12、K13）。事后报告实验室负责人。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操作针头、玻片、刀片时一滑，就可能被扎伤或割伤；沾过血液、临床样本或培养物的锐器造成的伤口，就有感染风险。立即处理是最关键的一步。</a:t>
            </a:r>
          </a:p>
          <a:p>
            <a:r>
              <a:t>现场急救：立即停下，把锐器安全放进锐器盒；从近心端向伤口方向轻轻挤出少量血液，不要用力挤压伤口局部，更不能用嘴吸；用肥皂和流动水彻底冲洗；冲洗后用急救箱中的皮肤消毒剂（如碘伏或 75% 乙醇）消毒，包扎伤口（急救见第 158 课）。</a:t>
            </a:r>
          </a:p>
          <a:p>
            <a:r>
              <a:t>处理后马上报告负责人，确认样本来源和可能的病原，尽快就医评估（K14、K15）。被实验动物使用过的针头扎伤，风险更特殊，不能拖延。预防在先：用过的针头不回套，直接投入锐器盒（见第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完整皮肤沾到样品或培养物，立即脱去污染的衣物或手套，用肥皂和流动水冲洗。</a:t>
            </a:r>
          </a:p>
          <a:p>
            <a:r>
              <a:t>溅进眼睛，马上到洗眼器（或用生理盐水）冲洗：撑开眼睑，转动眼球，反复冲洗，冲洗时间按规程，不要揉眼（洗眼器见第 027 课，眼部急救见第 160 课）。口腔、鼻腔黏膜溅到，用清水或生理盐水反复冲洗，不要吞咽。</a:t>
            </a:r>
          </a:p>
          <a:p>
            <a:r>
              <a:t>冲洗后立即报告实验室负责人，按要求就医评估；情况紧急拨打 120。</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发生针刺、溢洒、暴露，先立即进行现场处置，处置后马上报告：实验室负责人（导师）→ 学院 → 学校实验室安全管理部门、保卫处和校医院，按本校应急预案和报告程序执行（报告程序见第 157 课）。</a:t>
            </a:r>
          </a:p>
          <a:p>
            <a:r>
              <a:t>溢洒和暴露都要报告，量小、没有受伤的也要报，未遂事件同样报告（见第 161 课）。如实说明时间、地点、样本、经过和已采取的处置，不隐瞒、不拖延，不要怕批评而自己扛着。</a:t>
            </a:r>
          </a:p>
          <a:p>
            <a:r>
              <a:t>伤情严重或情况紧急，立即拨打 120 急救电话。</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暴露后尽快到学校指定的医疗机构就医，向医生说清样本来源、可能的病原、暴露方式和已做的处置。是否需要进一步检查或预防性处理，由医生评估决定，遵医嘱执行，不要自己判断“没事”而拖延。</a:t>
            </a:r>
          </a:p>
          <a:p>
            <a:r>
              <a:t>暴露要登记在案：时间、地点、样本和病原、经过、防护情况、现场处置、报告和就医情况，由实验室和学校按规定存档。按医嘱定期随访复查，进行医学观察，不能一扎了之。</a:t>
            </a:r>
          </a:p>
          <a:p>
            <a:r>
              <a:t>事后全组复盘，查找原因，改进操作方法、器材（如改用安全型锐器）和规程（事故调查见第 162 课）。</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答案：B。解析：盖、倒、等、清；由外向内防止污染扩大。</a:t>
            </a:r>
          </a:p>
          <a:p>
            <a:r>
              <a:t>第 2 题 答案：B。解析：风机继续运行，气流仍在保护操作者；手不要猛地抽出柜外。</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答案：B。解析：柜外溢洒可能有气溶胶，先撤离、封闭、报告，再处置。</a:t>
            </a:r>
          </a:p>
          <a:p>
            <a:r>
              <a:t>第 4 题 答案：B。解析：关闭的盖子能把气溶胶关住；密封吊篮在柜内打开。</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答案：A。解析：不用力挤压伤口、不用嘴吸；报告、就医评估、登记随访。</a:t>
            </a:r>
          </a:p>
          <a:p>
            <a:r>
              <a:t>第 6 题 答案：先现场处置，然后逐级报告实验室负责人、学院和学校实验室安全管理部门（保卫处、校医院按本校程序），紧急时拨打 120；尽快就医评估，遵医嘱处理，登记暴露经过并按医嘱随访，全组复盘改进。解析：如实报告不隐瞒，是否需要预防性处理由医生决定。</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临床样本是从病人身上采集、送到实验室检测或研究的材料，在医院检验科、病理科和疾病检测实验室每天都要处理；高校的医学、公共卫生和生命科学实验室在合作研究中也会接收医院送来的样本。</a:t>
            </a:r>
          </a:p>
          <a:p>
            <a:r>
              <a:t>常见的临床样本有：血液、血清和血浆，鼻咽拭子、口咽拭子，尿液、粪便、痰液等体液和排泄物，以及活检组织。拭子一般泡在保存液里送来，其他样本也装在相应的保存介质或容器中。</a:t>
            </a:r>
          </a:p>
          <a:p>
            <a:r>
              <a:t>本课按样本流转的顺序讲：样本进门（接收、核对、登记、保密）→ 开管和分流（培养或核酸检测）→ 检测（核酸提取、定量检测、分区）→ 出结果（阳性报告）→ 剩余样本保存或销毁。样本怎么包装运输见第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实验室收到的生物材料大体有两类。一类是研究人员送来的纯培养物：是哪种病原、哪个株、做过什么改造，都有记录，可以对照目录和资料做风险评估（见第 067、068 课）。</a:t>
            </a:r>
          </a:p>
          <a:p>
            <a:r>
              <a:t>另一类是病人样本：形式五花八门，一管样本里可能有好几种病原，可能有送检目的之外的病原，到底有什么、浓度多高，事先往往不知道。</a:t>
            </a:r>
          </a:p>
          <a:p>
            <a:r>
              <a:t>所以，评估病人样本的风险不能只看申请单上写的检测项目，要考虑“可能有什么”。</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微生物目录》（以现行版本为准）和风险评估，确定实验活动的防护级别（见第 060 课）。</a:t>
            </a:r>
          </a:p>
          <a:p>
            <a:r>
              <a:t>注意编号方向：国内病原微生物分类第一类危害最大、第四类最低；国际风险组 1 组最低、4 组最高，两者方向相反（见第 058 课）。</a:t>
            </a:r>
          </a:p>
          <a:p>
            <a:r>
              <a:t>接收和处理前先看采样单（申请单），了解病人的病史和现在的情况，有提示高风险病原的，提前报告负责人。也要记住：有的人带有病原却没有症状，看起来“正常”的样本同样不能掉以轻心。</a:t>
            </a:r>
          </a:p>
          <a:p>
            <a:r>
              <a:t>已知样本、未知样本都按这个思路管理。你做好防护、守住规程，保护的是自己，也是同组的人和实验室外的人。</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污水、污泥、医院污水以及其他可能受人畜排泄物污染的环境样本，可能含有多种病原菌和病毒，同样按有感染性的样本对待，不能当成“普通水样”。</a:t>
            </a:r>
          </a:p>
          <a:p>
            <a:r>
              <a:t>采样和操作时戴手套，必要时戴护目镜；样本瓶拧紧密封，装入防漏的二级容器转运，防漏防洒。不在开放台面上直接倾倒、混合污水样本，易产生飞溅和气溶胶的操作放到生物安全柜内。</a:t>
            </a:r>
          </a:p>
          <a:p>
            <a:r>
              <a:t>环境样本的操作级别经风险评估确定，一般在二级生物安全实验室进行；操作完摘下手套按感染性废物处置，认真洗手。外出采样的安全见第 154 课。</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有些样本泡在化学保存液或固定液里（例如组织固定液、含裂解或灭活成分的保存液），这时样本既有生物风险，也有化学风险（刺激、腐蚀、毒性等）。</a:t>
            </a:r>
          </a:p>
          <a:p>
            <a:r>
              <a:t>操作前查阅保存液随附的化学品安全技术说明书，了解危害和防护要求，选择合适的手套和防护；含挥发性有害成分的，在合适的通风条件下操作。</a:t>
            </a:r>
          </a:p>
          <a:p>
            <a:r>
              <a:t>保存液里的样本是否已经灭活，要以验证过的说明为准，不能想当然认为“泡过了就安全”；废液按化学和感染性废物的要求分别处置（见第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样本箱送到后，拆包前先穿戴好实验服或隔离衣、手套和护目镜，在指定的接收台面上操作，铺好吸水垫，备好消毒剂、生物危害废物袋和溢洒处理包。</a:t>
            </a:r>
          </a:p>
          <a:p>
            <a:r>
              <a:t>开箱前先看外包装有没有渗漏、破损、潮湿或污染。发现渗漏不要硬拆，用防漏袋封好，放在指定位置，报告实验室负责人，按溢洒处置规程处理（见第 078 课），并通知送样方。</a:t>
            </a:r>
          </a:p>
          <a:p>
            <a:r>
              <a:t>外包装完好的，先用规程指定的消毒剂擦拭外表面，等够规程要求的作用时间再打开；用哪种消毒剂、作用多久，按本单位规程和产品说明（见第 076 课），不凭感觉。内层的密封袋和样本容器，拿到生物安全柜里再打开。</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a:p>
            <a:r>
              <a:t>不合格样本包括：没有标签或标签不清、样本与申请单不相符、容器破损或渗漏、样本量或保存条件明显不符合要求等。不合格样本拒收，或单独隔离存放，登记原因，联系送检方确认处理方式。</a:t>
            </a:r>
          </a:p>
          <a:p>
            <a:r>
              <a:t>不要自己猜测“大概是哪一管”就继续检测：标识错误既可能让结果张冠李戴，也可能让高风险样本按低风险处理。</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病人的健康信息属于敏感个人信息，受《中华人民共和国个人信息保护法》保护。样本登记后，用实验室编号代替病人姓名，样本管和工作记录上只写编号。</a:t>
            </a:r>
          </a:p>
          <a:p>
            <a:r>
              <a:t>编号与病人身份的对照表由专人保管：纸质记录锁在柜里，电子数据存放在有访问控制的安全服务器上，不存在个人电脑、手机或公共网盘里。检测结果和病人信息不外传，不拍摄样本管、申请单和屏幕。</a:t>
            </a:r>
          </a:p>
          <a:p>
            <a:r>
              <a:t>样本需要留存时，在库存系统中登记位置（见 K19）。临床样本用于科学研究，须按规定通过伦理审查、取得知情同意，涉及人类遗传资源的按《中华人民共和国人类遗传资源管理条例》（以现行文本为准）办理（见第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打开临床样本管必须在生物安全柜内进行，穿好实验服或隔离衣、手套等防护，照操作规程一步步做（生物安全柜的使用见第 072 课）。不能在开放的台面上开管。</a:t>
            </a:r>
          </a:p>
          <a:p>
            <a:r>
              <a:t>开盖前先让样本管在架子上静置一会儿，让管盖内侧和管壁上的液体回落。开盖时用沾了消毒液的纸巾或纱布包住管盖，慢慢拧开，不猛拔、不甩管；管盖内侧朝下放在吸水垫上或拿在手中，避免污染。</a:t>
            </a:r>
          </a:p>
          <a:p>
            <a:r>
              <a:t>甩管、猛拔管盖、在管口快速吹打，都会把样本溅出或形成气溶胶。操作完把管盖拧紧，外壁消毒。</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临床样本的检测主要有四类：一是分离培养，把样本中的病原分离出来；二是血清学检测，看抗原抗体反应；三是核酸检测，提取核酸后扩增检测；四是显微镜检查。不同检测的风险不同，培养风险最高（见 K11）。</a:t>
            </a:r>
          </a:p>
          <a:p>
            <a:r>
              <a:t>血清学检测常要离心分离血清。离心感染性样本用带密封盖的离心杯或密封转子，停稳后静置一段时间，再把离心杯拿到生物安全柜内打开（离心机见第 121 课，离心管破裂处置见第 078 课）。</a:t>
            </a:r>
          </a:p>
          <a:p>
            <a:r>
              <a:t>各项检测在哪一级实验室做，按《人间传染的病原微生物目录》（以现行版本为准）和风险评估确定，一般在二级或三级生物安全实验室；涉及高致病性病原微生物的，必须在相应级别的实验室内并经批准。学生未经培训、授权，不得参与这类工作。</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本进了实验室，大体分两条路：一条是要分离培养病原的，一条是直接做核酸等检测的。两条路的风险不同，国内病原目录也对“病原培养”和“未经培养的感染材料操作”“灭活材料操作”分别规定了所需的实验室级别。</a:t>
            </a:r>
          </a:p>
          <a:p>
            <a:r>
              <a:t>要培养的样本，病原会在培养中大量增加，浓度远高于原始样本，必须按活培养物评估，采取最严格的防护。培养出的纯培养物，按其病原的危害程度重新评估：有的会形成芽孢、耐受消毒，有的可经气溶胶传播，控制措施（实验室级别、消毒方法、个人防护）要选得恰当。</a:t>
            </a:r>
          </a:p>
          <a:p>
            <a:r>
              <a:t>怀疑含有高致病性病原微生物的样本，不得擅自培养：立即停止相关操作，报告实验室负责人，按国家规定和本校程序处理，须在相应级别的实验室并经批准才能开展。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核酸检测的样本，开管后先灭活，让病原失去感染力，再往下做提取。怎么灭活（加热、化学裂解等），按该病原的操作规程和试剂说明书进行；原片中的具体条件是当时的做法，以现行规定和试剂说明书为准。</a:t>
            </a:r>
          </a:p>
          <a:p>
            <a:r>
              <a:t>灭活方法既要可靠地灭活病原，又要保住要检测的核酸等成分。灭活方法须经过验证、确认有效；灭活后的样本贴上明显的“已灭活”标识，容器外壁消毒，确认后才能移出生物安全柜。没有确认灭活的，不能拿出柜外。</a:t>
            </a:r>
          </a:p>
          <a:p>
            <a:r>
              <a:t>具体怎么做，取决于处理的是什么生物因子。把每一步写进本实验室的样本处理方案（标准操作规程），连同每个操作步骤本身的风险（开管、加样、加热、离心）一起评估。</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提取病毒核酸已是常规工作，但同样必须遵守生物安全规程，在相应级别的实验室进行。灭活后的核酸提取也在生物安全柜内操作，开管、加样产生的气溶胶留在柜内。</a:t>
            </a:r>
          </a:p>
          <a:p>
            <a:r>
              <a:t>手工提取步骤中常有离心，会产生气溶胶；离心要用密封离心杯，停稳静置后在柜内打开。使用自动化核酸提取仪，能减少手工开盖、离心等步骤，降低气溶胶风险（见 K14、K15）。</a:t>
            </a:r>
          </a:p>
          <a:p>
            <a:r>
              <a:t>提取出的纯核酸本身风险很小，但提取前的样本和过程中的废液、耗材仍按感染性材料处理。很多病毒的遗传物质是 RNA，要用 RNA 提取试剂盒；RNA 很不稳定，放久了会降解，样本到了最好尽快处理，提取完马上放到冰上或按要求冻存。</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卡盒式自动核酸提取仪使用预先封装好试剂的卡盒（样本板），裂解、磁珠捕获、洗涤和洗脱全过程都在机器内完成，减少手工操作和气溶胶。不同仪器的卡盒规格（每排孔数、排数、一次可放几块）不同，以说明书为准。</a:t>
            </a:r>
          </a:p>
          <a:p>
            <a:r>
              <a:t>主要部件：卡盒上有样本孔、预封装的试剂孔和最后一排收集提取物的孔；配套的磁力板可把磁珠吸到孔底，便于吸出上清；打开前门可看到上方的一排磁棒和下方的加热块；配套耗材还有专用条（磁棒套）和校准板。开机后一般有“提取”和“消毒”（如紫外照射）等功能。</a:t>
            </a:r>
          </a:p>
          <a:p>
            <a:r>
              <a:t>校准由厂方或经培训的专业人员进行，学生不要自行拆装、校准。教学演示可以在实验室外用空耗材进行，真正处理样本时，必须在相应级别的实验室内、经培训授权后操作。</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操作顺序：先把专用条装进各自的卡槽，每一条都锁紧；在生物安全柜内把样本加入样本孔，试剂孔预先用膜封好（运输时不洒），用时再撕膜；加好样后，把整块样本板平稳推进仪器。</a:t>
            </a:r>
          </a:p>
          <a:p>
            <a:r>
              <a:t>在屏幕上先点“提取”，再选程序，看到选中标记（如绿色对勾）才算选上；然后选择与样本类型对应的试剂盒程序。程序或试剂盒选错，提取就白做了。装了几块卡盒，就打开几块加热块，未用的保持关闭（界面上一般显示为灰色）。</a:t>
            </a:r>
          </a:p>
          <a:p>
            <a:r>
              <a:t>仪器上贴有警示标签：启动前再确认卡盒、专用条放平、放到位，放歪会撞坏磁棒、洒出样本。确认后点“开始”，仪器自动完成裂解、磁珠捕获和洗脱，一批十几分钟到数十分钟（以程序为准）。运行中不要打开前门；完成后在柜内取出提取物，用过的卡盒按感染性废物处置，按说明书对仪器进行消毒。</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提取好的核酸上荧光定量 PCR 仪检测，判断样本里有没有目标病原。仪器会给出扩增曲线，告诉我们目标是否存在。</a:t>
            </a:r>
          </a:p>
          <a:p>
            <a:r>
              <a:t>RNA 病毒的检测先用逆转录酶把 RNA 转成 cDNA，再一边扩增一边读取荧光信号。检测试剂盒的引物和探针专门对准病原的几段关键基因，多个靶标同时检测可提高可靠性；不同基因在样本中的拷贝数可能不同，判读结果时要按试剂盒说明书的判定规则综合考虑。</a:t>
            </a:r>
          </a:p>
          <a:p>
            <a:r>
              <a:t>整个流程可以概括为三步：灭活 → 提取核酸 → 逆转录加定量 PCR。加样、封板在相应分区内完成，扩增后的反应管不要随意打开，防止扩增产物污染（见 K17）。</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配备生物安全柜。</a:t>
            </a:r>
          </a:p>
          <a:p>
            <a:r>
              <a:t>人员和物品按“试剂准备 → 样本制备 → 扩增 → 分析”的方向单向流动，不走回头路；各区的工作服、移液器、耗材和记录用品专区专用，不混用、不带出。</a:t>
            </a:r>
          </a:p>
          <a:p>
            <a:r>
              <a:t>分区和单向流动的目的有两个：防止扩增产物和样本交叉污染造成假阳性，也防止感染性样本的污染扩散到其他区域，保护人员。</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控制机构报告的，按规定执行（以现行规定为准）。</a:t>
            </a:r>
          </a:p>
          <a:p>
            <a:r>
              <a:t>阳性样本单独、加锁保存，按要求移交指定机构或按规定销毁，交接有记录。用完的样本和耗材按感染性废物处置（见第 077 课）。</a:t>
            </a:r>
          </a:p>
          <a:p>
            <a:r>
              <a:t>阳性结果和病人信息只按规定渠道报告，不私下传播、不发到社交网络。原片中的报告要求是当时的做法，以现行规定为准。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有的样本做完检测还要留着以后再分析。留存的样本按要求的条件（温度、容器、标识）存放在指定的冰箱或冻存设备中，设备上锁，专人管理。</a:t>
            </a:r>
          </a:p>
          <a:p>
            <a:r>
              <a:t>建立样本库存：每一管的编号、位置、数量、存入和取用记录都清楚，任何一管都能追溯到来源和去向；定期盘点，账物相符。</a:t>
            </a:r>
          </a:p>
          <a:p>
            <a:r>
              <a:t>不再保留的样本按规定销毁：按感染性废物先灭菌再处置（见第 077 课），不能随手扔进普通垃圾桶或倒入下水道。销毁要登记数量、方式、时间和经手人。毕业或离组时，个人保管的样本要清点交接（见第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答案：B。解析：病人样本可能含多种病原，且有无症状携带，一律按有传染性对待。</a:t>
            </a:r>
          </a:p>
          <a:p>
            <a:r>
              <a:t>第 2 题 答案：B。解析：漏了别硬拆，用防漏袋封好，报告负责人，按溢洒规程处理并通知送样方。</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答案：B。解析：不合格样本拒收或隔离并登记，不能自己猜着做。</a:t>
            </a:r>
          </a:p>
          <a:p>
            <a:r>
              <a:t>第 4 题 答案：B。解析：柜内开管、先灭活、确认后出柜；核酸检测分区单向流动。</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答案：B。解析：疑似高致病样本不得擅自培养，立即报告，须在相应级别实验室并经批准才能开展。</a:t>
            </a:r>
          </a:p>
          <a:p>
            <a:r>
              <a:t>第 6 题 答案：病人健康信息属敏感个人信息，用编号代替姓名，对照表锁好专人保管，电子数据放安全服务器，不外传不拍照；要留存的样本按条件存放、设备上锁、建立库存可追溯，不留的按感染性废物灭菌处置，数量和去向登记，账物相符。解析：保护患者隐私，样本全程可追溯。</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防护装备的穿戴与脱卸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适用对象：进入生物安全实验室、临床检验或病原微生物实验区的高校本科生、研究生和教职工（必修，须经穿脱演练考核）；实验室负责人和生物安全员重点学习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能做到穿前准备（摘首饰、个人物品留门外、束长发、检查装备），在穿戴区按顺序穿戴：手卫生→帽子→口罩→护目镜/面屏→隔离衣→手套（以本单位 SOP 为准）。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能做到手套盖住袖口、口罩压紧鼻夹、面屏遮全脸、隔离衣系活结，按需戴双层手套，穿完对镜自查、同伴互查。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能做到在脱卸区从最脏到最干净脱卸：先摘手套（翻脱法）→手卫生→摘面屏/护目镜→脱隔离衣（外面朝里卷）→摘口罩→洗手，全程不自我污染。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能说出送风头罩“先开机有风再戴、摘下后再关机”的要求，以及脱卸方法须统一写进本实验室规程。</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《病原微生物实验室生物安全管理条例》（以现行文本为准）：实验人员按标准操作规程使用个人防护用品并接受培训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生物安全通用要求》：个体防护装备的穿戴和脱卸程序、防护区出入要求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233（以现行文本为准）《病原微生物实验室生物安全通用准则》：个人防护和实验室操作规范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311-2023（以现行文本为准）《医院隔离技术标准》：防护用品穿脱顺序和方法（临床实验室参照）</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313-2019（以现行文本为准）《医务人员手卫生规范》：洗手与卫生手消毒的时机和方法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19082-2023、GB 19083-2023（以现行文本为准）：医用一次性防护服、医用防护口罩技术要求</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本校生物安全实验室管理规定和本实验室个人防护装备穿脱标准操作规程（以本校规定为准）</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穿前准备：摘首饰、物品留门外、束长发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首饰、手表先摘下</a:t>
            </a:r>
          </a:p>
          <a:p>
            <a:pPr>
              <a:spcAft>
                <a:spcPts val="1000"/>
              </a:spcAft>
            </a:pPr>
            <a:r>
              <a:rPr sz="2000">
                <a:solidFill>
                  <a:srgbClr val="222B33"/>
                </a:solidFill>
                <a:latin typeface="Microsoft YaHei"/>
              </a:rPr>
              <a:t>▪ 手机、外套、包、笔留在实验室外</a:t>
            </a:r>
          </a:p>
          <a:p>
            <a:pPr>
              <a:spcAft>
                <a:spcPts val="1000"/>
              </a:spcAft>
            </a:pPr>
            <a:r>
              <a:rPr sz="2000">
                <a:solidFill>
                  <a:srgbClr val="222B33"/>
                </a:solidFill>
                <a:latin typeface="Microsoft YaHei"/>
              </a:rPr>
              <a:t>▪ 长发束起来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穿戴防护装备前先做准备：摘下戒指、手链、手表等首饰，它们会戳破手套、藏污纳垢，也让手套戴不服帖。手机、外套、包和笔等个人物品放在实验室外的储物柜里，不带进实验区（着装和个人物品要求见第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戴着戒指、手表戴手套</a:t>
            </a:r>
          </a:p>
          <a:p>
            <a:pPr>
              <a:spcAft>
                <a:spcPts val="1000"/>
              </a:spcAft>
            </a:pPr>
            <a:r>
              <a:rPr sz="1500">
                <a:solidFill>
                  <a:srgbClr val="222B33"/>
                </a:solidFill>
                <a:latin typeface="Microsoft YaHei"/>
              </a:rPr>
              <a:t>▪ 把手机揣在隔离衣里带进实验区</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备齐装备，合身无破损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常规操作：实验服、护目镜、手套</a:t>
            </a:r>
          </a:p>
          <a:p>
            <a:pPr>
              <a:spcAft>
                <a:spcPts val="1000"/>
              </a:spcAft>
            </a:pPr>
            <a:r>
              <a:rPr sz="2000">
                <a:solidFill>
                  <a:srgbClr val="222B33"/>
                </a:solidFill>
                <a:latin typeface="Microsoft YaHei"/>
              </a:rPr>
              <a:t>▪ 有飞溅风险：加隔离衣、口罩、面屏</a:t>
            </a:r>
          </a:p>
          <a:p>
            <a:pPr>
              <a:spcAft>
                <a:spcPts val="1000"/>
              </a:spcAft>
            </a:pPr>
            <a:r>
              <a:rPr sz="2000">
                <a:solidFill>
                  <a:srgbClr val="222B33"/>
                </a:solidFill>
                <a:latin typeface="Microsoft YaHei"/>
              </a:rPr>
              <a:t>▪ 隔离衣前襟完整、后开、袖口收紧</a:t>
            </a:r>
          </a:p>
          <a:p>
            <a:pPr>
              <a:spcAft>
                <a:spcPts val="1000"/>
              </a:spcAft>
            </a:pPr>
            <a:r>
              <a:rPr sz="2000">
                <a:solidFill>
                  <a:srgbClr val="222B33"/>
                </a:solidFill>
                <a:latin typeface="Microsoft YaHei"/>
              </a:rPr>
              <a:t>▪ 穿前查破洞、撕裂、系带，坏了就换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按风险评估备齐本次要用的装备（选择见第 074 课）。常规操作的基本装备是紧袖口的实验服、手套和带侧护的护目镜；有飞沫、飞溅风险时，换穿隔离衣，加戴口罩和面屏。隔离衣应前襟完整、后开、袖口收紧（针织或松紧袖口）。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不检查就穿，进去后才发现破洞</a:t>
            </a:r>
          </a:p>
          <a:p>
            <a:pPr>
              <a:spcAft>
                <a:spcPts val="1000"/>
              </a:spcAft>
            </a:pPr>
            <a:r>
              <a:rPr sz="1500">
                <a:solidFill>
                  <a:srgbClr val="222B33"/>
                </a:solidFill>
                <a:latin typeface="Microsoft YaHei"/>
              </a:rPr>
              <a:t>▪ 尺码不合适也凑合着穿</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穿脱分区，在缓冲间穿好再进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穿戴区和脱卸区分开</a:t>
            </a:r>
          </a:p>
          <a:p>
            <a:pPr>
              <a:spcAft>
                <a:spcPts val="1000"/>
              </a:spcAft>
            </a:pPr>
            <a:r>
              <a:rPr sz="2000">
                <a:solidFill>
                  <a:srgbClr val="222B33"/>
                </a:solidFill>
                <a:latin typeface="Microsoft YaHei"/>
              </a:rPr>
              <a:t>▪ 免得脏防护用品沾到干净物品</a:t>
            </a:r>
          </a:p>
          <a:p>
            <a:pPr>
              <a:spcAft>
                <a:spcPts val="1000"/>
              </a:spcAft>
            </a:pPr>
            <a:r>
              <a:rPr sz="2000">
                <a:solidFill>
                  <a:srgbClr val="222B33"/>
                </a:solidFill>
                <a:latin typeface="Microsoft YaHei"/>
              </a:rPr>
              <a:t>▪ 在缓冲间穿好，确认无误再进门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穿戴区和脱卸区要分开设置，避免脱下的污染防护用品碰到干净的衣物和装备。有缓冲间的实验室，防护装备备齐在缓冲间，进去前在这里穿，出来在这里脱。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在走廊里穿脱防护用品</a:t>
            </a:r>
          </a:p>
          <a:p>
            <a:pPr>
              <a:spcAft>
                <a:spcPts val="1000"/>
              </a:spcAft>
            </a:pPr>
            <a:r>
              <a:rPr sz="1500">
                <a:solidFill>
                  <a:srgbClr val="222B33"/>
                </a:solidFill>
                <a:latin typeface="Microsoft YaHei"/>
              </a:rPr>
              <a:t>▪ 脱下的隔离衣扔在干净衣物旁</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穿戴顺序：口罩护目在前，手套最后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穿前先做手卫生</a:t>
            </a:r>
          </a:p>
          <a:p>
            <a:pPr>
              <a:spcAft>
                <a:spcPts val="1000"/>
              </a:spcAft>
            </a:pPr>
            <a:r>
              <a:rPr sz="2000">
                <a:solidFill>
                  <a:srgbClr val="222B33"/>
                </a:solidFill>
                <a:latin typeface="Microsoft YaHei"/>
              </a:rPr>
              <a:t>▪ 常用：帽子、口罩、护目镜、隔离衣、手套</a:t>
            </a:r>
          </a:p>
          <a:p>
            <a:pPr>
              <a:spcAft>
                <a:spcPts val="1000"/>
              </a:spcAft>
            </a:pPr>
            <a:r>
              <a:rPr sz="2000">
                <a:solidFill>
                  <a:srgbClr val="222B33"/>
                </a:solidFill>
                <a:latin typeface="Microsoft YaHei"/>
              </a:rPr>
              <a:t>▪ 基本三件：实验服、护目镜、手套</a:t>
            </a:r>
          </a:p>
          <a:p>
            <a:pPr>
              <a:spcAft>
                <a:spcPts val="1000"/>
              </a:spcAft>
            </a:pPr>
            <a:r>
              <a:rPr sz="2000">
                <a:solidFill>
                  <a:srgbClr val="222B33"/>
                </a:solidFill>
                <a:latin typeface="Microsoft YaHei"/>
              </a:rPr>
              <a:t>▪ 手套最后戴，以本单位规程为准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穿戴顺序贴在穿戴区墙上，照着做。国内常用的顺序是：手卫生→戴帽子→戴口罩（医用防护口罩做密合性检查）→戴护目镜或面屏→穿隔离衣（或防护服）→戴手套。只穿基本三件时：扣好实验服→戴护目镜→戴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先戴手套再穿隔离衣、戴口罩</a:t>
            </a:r>
          </a:p>
          <a:p>
            <a:pPr>
              <a:spcAft>
                <a:spcPts val="1000"/>
              </a:spcAft>
            </a:pPr>
            <a:r>
              <a:rPr sz="1500">
                <a:solidFill>
                  <a:srgbClr val="222B33"/>
                </a:solidFill>
                <a:latin typeface="Microsoft YaHei"/>
              </a:rPr>
              <a:t>▪ 不看流程图，凭记忆随意穿</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口罩：压鼻夹，贴紧鼻梁面颊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耳挂挂在耳后，金属鼻夹朝上</a:t>
            </a:r>
          </a:p>
          <a:p>
            <a:pPr>
              <a:spcAft>
                <a:spcPts val="1000"/>
              </a:spcAft>
            </a:pPr>
            <a:r>
              <a:rPr sz="2000">
                <a:solidFill>
                  <a:srgbClr val="222B33"/>
                </a:solidFill>
                <a:latin typeface="Microsoft YaHei"/>
              </a:rPr>
              <a:t>▪ 双手食指按压鼻夹两侧</a:t>
            </a:r>
          </a:p>
          <a:p>
            <a:pPr>
              <a:spcAft>
                <a:spcPts val="1000"/>
              </a:spcAft>
            </a:pPr>
            <a:r>
              <a:rPr sz="2000">
                <a:solidFill>
                  <a:srgbClr val="222B33"/>
                </a:solidFill>
                <a:latin typeface="Microsoft YaHei"/>
              </a:rPr>
              <a:t>▪ 上缘贴紧鼻梁和面颊</a:t>
            </a:r>
          </a:p>
          <a:p>
            <a:pPr>
              <a:spcAft>
                <a:spcPts val="1000"/>
              </a:spcAft>
            </a:pPr>
            <a:r>
              <a:rPr sz="2000">
                <a:solidFill>
                  <a:srgbClr val="222B33"/>
                </a:solidFill>
                <a:latin typeface="Microsoft YaHei"/>
              </a:rPr>
              <a:t>▪ 医用防护口罩每次戴好查密合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戴医用口罩：把耳挂挂在耳后，鼻夹一侧朝上，用双手食指从中间向两侧按压鼻夹，让口罩上缘贴紧鼻梁和面颊，再把口罩下缘拉到下巴下方。不要用单手捏鼻夹，会捏出尖角漏气。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鼻夹不压，鼻梁两侧漏气</a:t>
            </a:r>
          </a:p>
          <a:p>
            <a:pPr>
              <a:spcAft>
                <a:spcPts val="1000"/>
              </a:spcAft>
            </a:pPr>
            <a:r>
              <a:rPr sz="1500">
                <a:solidFill>
                  <a:srgbClr val="222B33"/>
                </a:solidFill>
                <a:latin typeface="Microsoft YaHei"/>
              </a:rPr>
              <a:t>▪ 口罩只遮嘴不遮鼻</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面屏：盖住前额、下巴和两侧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拉开弹力头带，套到脑后</a:t>
            </a:r>
          </a:p>
          <a:p>
            <a:pPr>
              <a:spcAft>
                <a:spcPts val="1000"/>
              </a:spcAft>
            </a:pPr>
            <a:r>
              <a:rPr sz="2000">
                <a:solidFill>
                  <a:srgbClr val="222B33"/>
                </a:solidFill>
                <a:latin typeface="Microsoft YaHei"/>
              </a:rPr>
              <a:t>▪ 海绵贴在眉毛上方</a:t>
            </a:r>
          </a:p>
          <a:p>
            <a:pPr>
              <a:spcAft>
                <a:spcPts val="1000"/>
              </a:spcAft>
            </a:pPr>
            <a:r>
              <a:rPr sz="2000">
                <a:solidFill>
                  <a:srgbClr val="222B33"/>
                </a:solidFill>
                <a:latin typeface="Microsoft YaHei"/>
              </a:rPr>
              <a:t>▪ 盖住前额，过下巴，包住两侧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戴面屏：先拉开弹力头带，套到脑后，海绵衬垫贴在眉毛上方的额头。戴好后面屏要盖住前额、下缘过下巴、两侧包住面颊。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面屏太短，下巴露在外面</a:t>
            </a:r>
          </a:p>
          <a:p>
            <a:pPr>
              <a:spcAft>
                <a:spcPts val="1000"/>
              </a:spcAft>
            </a:pPr>
            <a:r>
              <a:rPr sz="1500">
                <a:solidFill>
                  <a:srgbClr val="222B33"/>
                </a:solidFill>
                <a:latin typeface="Microsoft YaHei"/>
              </a:rPr>
              <a:t>▪ 护目镜压在口罩上缘造成漏气</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隔离衣：系活结，遮住日常衣物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颈后、腰后系好带子</a:t>
            </a:r>
          </a:p>
          <a:p>
            <a:pPr>
              <a:spcAft>
                <a:spcPts val="1000"/>
              </a:spcAft>
            </a:pPr>
            <a:r>
              <a:rPr sz="2000">
                <a:solidFill>
                  <a:srgbClr val="222B33"/>
                </a:solidFill>
                <a:latin typeface="Microsoft YaHei"/>
              </a:rPr>
              <a:t>▪ 系活结，别打死结、别勒太紧</a:t>
            </a:r>
          </a:p>
          <a:p>
            <a:pPr>
              <a:spcAft>
                <a:spcPts val="1000"/>
              </a:spcAft>
            </a:pPr>
            <a:r>
              <a:rPr sz="2000">
                <a:solidFill>
                  <a:srgbClr val="222B33"/>
                </a:solidFill>
                <a:latin typeface="Microsoft YaHei"/>
              </a:rPr>
              <a:t>▪ 合身好活动，日常衣物不外露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穿隔离衣：手臂伸进袖子，把衣服拉到肩上，在颈后系好领口的带子，腰带在背后或侧面系上。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腰带打死结，脱时解不开</a:t>
            </a:r>
          </a:p>
          <a:p>
            <a:pPr>
              <a:spcAft>
                <a:spcPts val="1000"/>
              </a:spcAft>
            </a:pPr>
            <a:r>
              <a:rPr sz="1500">
                <a:solidFill>
                  <a:srgbClr val="222B33"/>
                </a:solidFill>
                <a:latin typeface="Microsoft YaHei"/>
              </a:rPr>
              <a:t>▪ 隔离衣太小，后背敞开</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手套套在袖口外，手腕封严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最后戴手套，先把袖口拉到掌心</a:t>
            </a:r>
          </a:p>
          <a:p>
            <a:pPr>
              <a:spcAft>
                <a:spcPts val="1000"/>
              </a:spcAft>
            </a:pPr>
            <a:r>
              <a:rPr sz="2000">
                <a:solidFill>
                  <a:srgbClr val="222B33"/>
                </a:solidFill>
                <a:latin typeface="Microsoft YaHei"/>
              </a:rPr>
              <a:t>▪ 手套套在袖口外面，不是塞进袖子</a:t>
            </a:r>
          </a:p>
          <a:p>
            <a:pPr>
              <a:spcAft>
                <a:spcPts val="1000"/>
              </a:spcAft>
            </a:pPr>
            <a:r>
              <a:rPr sz="2000">
                <a:solidFill>
                  <a:srgbClr val="222B33"/>
                </a:solidFill>
                <a:latin typeface="Microsoft YaHei"/>
              </a:rPr>
              <a:t>▪ 穿连体服的，手腕缝隙按规程封严</a:t>
            </a:r>
          </a:p>
          <a:p>
            <a:pPr>
              <a:spcAft>
                <a:spcPts val="1000"/>
              </a:spcAft>
            </a:pPr>
            <a:r>
              <a:rPr sz="2000">
                <a:solidFill>
                  <a:srgbClr val="222B33"/>
                </a:solidFill>
                <a:latin typeface="Microsoft YaHei"/>
              </a:rPr>
              <a:t>▪ 开工前再查一遍手套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最后戴手套：先把隔离衣袖口拉到掌心，再把手套口拉起，套在袖口外面，而不是塞进袖子里。这样袖子不会滑出来，袖口也不会沾上污染。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手套塞在袖子里，手腕露出</a:t>
            </a:r>
          </a:p>
          <a:p>
            <a:pPr>
              <a:spcAft>
                <a:spcPts val="1000"/>
              </a:spcAft>
            </a:pPr>
            <a:r>
              <a:rPr sz="1500">
                <a:solidFill>
                  <a:srgbClr val="222B33"/>
                </a:solidFill>
                <a:latin typeface="Microsoft YaHei"/>
              </a:rPr>
              <a:t>▪ 戴好手套后不再检查</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双层手套：外层脏了换外层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风险较高时戴两层，外层最后戴</a:t>
            </a:r>
          </a:p>
          <a:p>
            <a:pPr>
              <a:spcAft>
                <a:spcPts val="1000"/>
              </a:spcAft>
            </a:pPr>
            <a:r>
              <a:rPr sz="2000">
                <a:solidFill>
                  <a:srgbClr val="222B33"/>
                </a:solidFill>
                <a:latin typeface="Microsoft YaHei"/>
              </a:rPr>
              <a:t>▪ 外层脏了在实验室内只换外层</a:t>
            </a:r>
          </a:p>
          <a:p>
            <a:pPr>
              <a:spcAft>
                <a:spcPts val="1000"/>
              </a:spcAft>
            </a:pPr>
            <a:r>
              <a:rPr sz="2000">
                <a:solidFill>
                  <a:srgbClr val="222B33"/>
                </a:solidFill>
                <a:latin typeface="Microsoft YaHei"/>
              </a:rPr>
              <a:t>▪ 手套破了立即换，手消毒后戴新的</a:t>
            </a:r>
          </a:p>
          <a:p>
            <a:pPr>
              <a:spcAft>
                <a:spcPts val="1000"/>
              </a:spcAft>
            </a:pPr>
            <a:r>
              <a:rPr sz="2000">
                <a:solidFill>
                  <a:srgbClr val="222B33"/>
                </a:solidFill>
                <a:latin typeface="Microsoft YaHei"/>
              </a:rPr>
              <a:t>▪ 手破皮按暴露处理并报告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风险较高时，按规程戴双层手套：内层盖住袖口，最后再戴一层外手套。外层沾上污染，在实验室内（或生物安全柜内）脱掉外层，换上新的，内层一直护着手。戴几层、怎么脱，按本实验室规程执行。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外层污染了不换，继续操作</a:t>
            </a:r>
          </a:p>
          <a:p>
            <a:pPr>
              <a:spcAft>
                <a:spcPts val="1000"/>
              </a:spcAft>
            </a:pPr>
            <a:r>
              <a:rPr sz="1500">
                <a:solidFill>
                  <a:srgbClr val="222B33"/>
                </a:solidFill>
                <a:latin typeface="Microsoft YaHei"/>
              </a:rPr>
              <a:t>▪ 手套破了草草换掉，不检查皮肤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送风头罩：先系腰带、接好线、调头箍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穿戴顺序照规程，电池先挂好</a:t>
            </a:r>
          </a:p>
          <a:p>
            <a:pPr>
              <a:spcAft>
                <a:spcPts val="1000"/>
              </a:spcAft>
            </a:pPr>
            <a:r>
              <a:rPr sz="2000">
                <a:solidFill>
                  <a:srgbClr val="222B33"/>
                </a:solidFill>
                <a:latin typeface="Microsoft YaHei"/>
              </a:rPr>
              <a:t>▪ 第一步先系好腰带，调好松紧</a:t>
            </a:r>
          </a:p>
          <a:p>
            <a:pPr>
              <a:spcAft>
                <a:spcPts val="1000"/>
              </a:spcAft>
            </a:pPr>
            <a:r>
              <a:rPr sz="2000">
                <a:solidFill>
                  <a:srgbClr val="222B33"/>
                </a:solidFill>
                <a:latin typeface="Microsoft YaHei"/>
              </a:rPr>
              <a:t>▪ 穿上防护服就够不着腰带了</a:t>
            </a:r>
          </a:p>
          <a:p>
            <a:pPr>
              <a:spcAft>
                <a:spcPts val="1000"/>
              </a:spcAft>
            </a:pPr>
            <a:r>
              <a:rPr sz="2000">
                <a:solidFill>
                  <a:srgbClr val="222B33"/>
                </a:solidFill>
                <a:latin typeface="Microsoft YaHei"/>
              </a:rPr>
              <a:t>▪ 导线插紧拧牢，头箍调到贴额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使用动力送风过滤式呼吸器（送风头罩）时，穿戴顺序写在规程里，照规程做。第一步先把装有风机和电池的腰带系好、调好松紧：穿上防护服以后就够不着了。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先穿防护服再找腰带</a:t>
            </a:r>
          </a:p>
          <a:p>
            <a:pPr>
              <a:spcAft>
                <a:spcPts val="1000"/>
              </a:spcAft>
            </a:pPr>
            <a:r>
              <a:rPr sz="1500">
                <a:solidFill>
                  <a:srgbClr val="222B33"/>
                </a:solidFill>
                <a:latin typeface="Microsoft YaHei"/>
              </a:rPr>
              <a:t>▪ 导管没拧紧就戴上</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先开机有风再戴，披肩收进防护服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戴之前一定先开机，有风再戴</a:t>
            </a:r>
          </a:p>
          <a:p>
            <a:pPr>
              <a:spcAft>
                <a:spcPts val="1000"/>
              </a:spcAft>
            </a:pPr>
            <a:r>
              <a:rPr sz="2000">
                <a:solidFill>
                  <a:srgbClr val="222B33"/>
                </a:solidFill>
                <a:latin typeface="Microsoft YaHei"/>
              </a:rPr>
              <a:t>▪ 不送风就戴会憋闷，有窒息危险</a:t>
            </a:r>
          </a:p>
          <a:p>
            <a:pPr>
              <a:spcAft>
                <a:spcPts val="1000"/>
              </a:spcAft>
            </a:pPr>
            <a:r>
              <a:rPr sz="2000">
                <a:solidFill>
                  <a:srgbClr val="222B33"/>
                </a:solidFill>
                <a:latin typeface="Microsoft YaHei"/>
              </a:rPr>
              <a:t>▪ 风机转着戴上，披肩拉平不卷边</a:t>
            </a:r>
          </a:p>
          <a:p>
            <a:pPr>
              <a:spcAft>
                <a:spcPts val="1000"/>
              </a:spcAft>
            </a:pPr>
            <a:r>
              <a:rPr sz="2000">
                <a:solidFill>
                  <a:srgbClr val="222B33"/>
                </a:solidFill>
                <a:latin typeface="Microsoft YaHei"/>
              </a:rPr>
              <a:t>▪ 披肩管线收进防护服；指示灯全亮再进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戴头罩之前一定先开机，伸手在头罩里感觉一下，确认有风送进来再戴；不送风就戴上，会憋闷，有窒息危险。顺序不能反。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不开机就戴上头罩</a:t>
            </a:r>
          </a:p>
          <a:p>
            <a:pPr>
              <a:spcAft>
                <a:spcPts val="1000"/>
              </a:spcAft>
            </a:pPr>
            <a:r>
              <a:rPr sz="1500">
                <a:solidFill>
                  <a:srgbClr val="222B33"/>
                </a:solidFill>
                <a:latin typeface="Microsoft YaHei"/>
              </a:rPr>
              <a:t>▪ 披肩卷边或露在防护服外</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照镜自查，同伴互查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穿完照镜子：头面、拉链、手腕、脚下</a:t>
            </a:r>
          </a:p>
          <a:p>
            <a:pPr>
              <a:spcAft>
                <a:spcPts val="1000"/>
              </a:spcAft>
            </a:pPr>
            <a:r>
              <a:rPr sz="2000">
                <a:solidFill>
                  <a:srgbClr val="222B33"/>
                </a:solidFill>
                <a:latin typeface="Microsoft YaHei"/>
              </a:rPr>
              <a:t>▪ 镜子看不到背后，请同伴互查</a:t>
            </a:r>
          </a:p>
          <a:p>
            <a:pPr>
              <a:spcAft>
                <a:spcPts val="1000"/>
              </a:spcAft>
            </a:pPr>
            <a:r>
              <a:rPr sz="2000">
                <a:solidFill>
                  <a:srgbClr val="222B33"/>
                </a:solidFill>
                <a:latin typeface="Microsoft YaHei"/>
              </a:rPr>
              <a:t>▪ 先练熟、经考核，再进实验室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穿完对着镜子逐一检查：头罩或帽子、口罩、护目镜或面屏、拉链和系带、手腕处的手套、脚下的鞋套，有没有缺口和卷边。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穿完不检查直接进门</a:t>
            </a:r>
          </a:p>
          <a:p>
            <a:pPr>
              <a:spcAft>
                <a:spcPts val="1000"/>
              </a:spcAft>
            </a:pPr>
            <a:r>
              <a:rPr sz="1500">
                <a:solidFill>
                  <a:srgbClr val="222B33"/>
                </a:solidFill>
                <a:latin typeface="Microsoft YaHei"/>
              </a:rPr>
              <a:t>▪ 只看正面，后背敞开不知道</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脱卸原则：从最脏到最干净，方法写进规程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脱卸从最脏的开始，到最干净的结束</a:t>
            </a:r>
          </a:p>
          <a:p>
            <a:pPr>
              <a:spcAft>
                <a:spcPts val="1000"/>
              </a:spcAft>
            </a:pPr>
            <a:r>
              <a:rPr sz="2000">
                <a:solidFill>
                  <a:srgbClr val="222B33"/>
                </a:solidFill>
                <a:latin typeface="Microsoft YaHei"/>
              </a:rPr>
              <a:t>▪ 常用：手套、手消毒、护目、隔离衣、口罩</a:t>
            </a:r>
          </a:p>
          <a:p>
            <a:pPr>
              <a:spcAft>
                <a:spcPts val="1000"/>
              </a:spcAft>
            </a:pPr>
            <a:r>
              <a:rPr sz="2000">
                <a:solidFill>
                  <a:srgbClr val="222B33"/>
                </a:solidFill>
                <a:latin typeface="Microsoft YaHei"/>
              </a:rPr>
              <a:t>▪ 一件一件脱，脏面朝里，别碰身上</a:t>
            </a:r>
          </a:p>
          <a:p>
            <a:pPr>
              <a:spcAft>
                <a:spcPts val="1000"/>
              </a:spcAft>
            </a:pPr>
            <a:r>
              <a:rPr sz="2000">
                <a:solidFill>
                  <a:srgbClr val="222B33"/>
                </a:solidFill>
                <a:latin typeface="Microsoft YaHei"/>
              </a:rPr>
              <a:t>▪ 脱法选定一种，写进规程统一做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先摘口罩再脱手套</a:t>
            </a:r>
          </a:p>
          <a:p>
            <a:pPr>
              <a:spcAft>
                <a:spcPts val="1000"/>
              </a:spcAft>
            </a:pPr>
            <a:r>
              <a:rPr sz="1500">
                <a:solidFill>
                  <a:srgbClr val="222B33"/>
                </a:solidFill>
                <a:latin typeface="Microsoft YaHei"/>
              </a:rPr>
              <a:t>▪ 每个人脱法各不相同</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先摘手套：翻着脱，外面不碰皮肤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动作慢而轻，捏住腕部外侧</a:t>
            </a:r>
          </a:p>
          <a:p>
            <a:pPr>
              <a:spcAft>
                <a:spcPts val="1000"/>
              </a:spcAft>
            </a:pPr>
            <a:r>
              <a:rPr sz="2000">
                <a:solidFill>
                  <a:srgbClr val="222B33"/>
                </a:solidFill>
                <a:latin typeface="Microsoft YaHei"/>
              </a:rPr>
              <a:t>▪ 整只拉下翻过来，握在另一手心</a:t>
            </a:r>
          </a:p>
          <a:p>
            <a:pPr>
              <a:spcAft>
                <a:spcPts val="1000"/>
              </a:spcAft>
            </a:pPr>
            <a:r>
              <a:rPr sz="2000">
                <a:solidFill>
                  <a:srgbClr val="222B33"/>
                </a:solidFill>
                <a:latin typeface="Microsoft YaHei"/>
              </a:rPr>
              <a:t>▪ 裸手从内侧伸进，翻下包成一团</a:t>
            </a:r>
          </a:p>
          <a:p>
            <a:pPr>
              <a:spcAft>
                <a:spcPts val="1000"/>
              </a:spcAft>
            </a:pPr>
            <a:r>
              <a:rPr sz="2000">
                <a:solidFill>
                  <a:srgbClr val="222B33"/>
                </a:solidFill>
                <a:latin typeface="Microsoft YaHei"/>
              </a:rPr>
              <a:t>▪ 裸手不碰外面；丢弃，不重复用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捏着指尖把手套拽下来</a:t>
            </a:r>
          </a:p>
          <a:p>
            <a:pPr>
              <a:spcAft>
                <a:spcPts val="1000"/>
              </a:spcAft>
            </a:pPr>
            <a:r>
              <a:rPr sz="1500">
                <a:solidFill>
                  <a:srgbClr val="222B33"/>
                </a:solidFill>
                <a:latin typeface="Microsoft YaHei"/>
              </a:rPr>
              <a:t>▪ 摘下的手套随手放在台面上</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摘手套后先手消毒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摘完手套，先做手卫生</a:t>
            </a:r>
          </a:p>
          <a:p>
            <a:pPr>
              <a:spcAft>
                <a:spcPts val="1000"/>
              </a:spcAft>
            </a:pPr>
            <a:r>
              <a:rPr sz="2000">
                <a:solidFill>
                  <a:srgbClr val="222B33"/>
                </a:solidFill>
                <a:latin typeface="Microsoft YaHei"/>
              </a:rPr>
              <a:t>▪ 按规程手消毒或洗手</a:t>
            </a:r>
          </a:p>
          <a:p>
            <a:pPr>
              <a:spcAft>
                <a:spcPts val="1000"/>
              </a:spcAft>
            </a:pPr>
            <a:r>
              <a:rPr sz="2000">
                <a:solidFill>
                  <a:srgbClr val="222B33"/>
                </a:solidFill>
                <a:latin typeface="Microsoft YaHei"/>
              </a:rPr>
              <a:t>▪ 有的规程换一副干净手套再继续脱</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摘下手套后，手上可能已沾上看不见的污染，要先做手卫生：用速干手消毒剂揉搓双手，或洗手；有的规程要求换戴一副干净手套再继续脱其他防护用品。按本实验室规程执行，再脱下一件。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摘了手套直接用手去摘面屏、口罩</a:t>
            </a:r>
          </a:p>
          <a:p>
            <a:pPr>
              <a:spcAft>
                <a:spcPts val="1000"/>
              </a:spcAft>
            </a:pPr>
            <a:r>
              <a:rPr sz="1500">
                <a:solidFill>
                  <a:srgbClr val="222B33"/>
                </a:solidFill>
                <a:latin typeface="Microsoft YaHei"/>
              </a:rPr>
              <a:t>▪ 手消毒剂只抹一下手心</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摘面屏、护目镜：捏头带和镜腿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头稍前倾，捏耳上方头带轻轻提起</a:t>
            </a:r>
          </a:p>
          <a:p>
            <a:pPr>
              <a:spcAft>
                <a:spcPts val="1000"/>
              </a:spcAft>
            </a:pPr>
            <a:r>
              <a:rPr sz="2000">
                <a:solidFill>
                  <a:srgbClr val="222B33"/>
                </a:solidFill>
                <a:latin typeface="Microsoft YaHei"/>
              </a:rPr>
              <a:t>▪ 别碰前片，一次性的丢进废物袋</a:t>
            </a:r>
          </a:p>
          <a:p>
            <a:pPr>
              <a:spcAft>
                <a:spcPts val="1000"/>
              </a:spcAft>
            </a:pPr>
            <a:r>
              <a:rPr sz="2000">
                <a:solidFill>
                  <a:srgbClr val="222B33"/>
                </a:solidFill>
                <a:latin typeface="Microsoft YaHei"/>
              </a:rPr>
              <a:t>▪ 护目镜捏镜腿摘，放指定处统一消毒</a:t>
            </a:r>
          </a:p>
          <a:p>
            <a:pPr>
              <a:spcAft>
                <a:spcPts val="1000"/>
              </a:spcAft>
            </a:pPr>
            <a:r>
              <a:rPr sz="2000">
                <a:solidFill>
                  <a:srgbClr val="222B33"/>
                </a:solidFill>
                <a:latin typeface="Microsoft YaHei"/>
              </a:rPr>
              <a:t>▪ 清洁护目镜也要戴手套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摘面屏：头稍向前倾，捏住耳朵上方的头带，轻轻提起离开面部；面屏前片可能有污染，不要碰。一次性面屏丢进感染性废物容器。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抓着面屏前片摘下</a:t>
            </a:r>
          </a:p>
          <a:p>
            <a:pPr>
              <a:spcAft>
                <a:spcPts val="1000"/>
              </a:spcAft>
            </a:pPr>
            <a:r>
              <a:rPr sz="1500">
                <a:solidFill>
                  <a:srgbClr val="222B33"/>
                </a:solidFill>
                <a:latin typeface="Microsoft YaHei"/>
              </a:rPr>
              <a:t>▪ 护目镜摘下随手放在桌上</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脱隔离衣、实验服：外面朝里卷起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解腰带，抓两肩往前拉，松开领口</a:t>
            </a:r>
          </a:p>
          <a:p>
            <a:pPr>
              <a:spcAft>
                <a:spcPts val="1000"/>
              </a:spcAft>
            </a:pPr>
            <a:r>
              <a:rPr sz="2000">
                <a:solidFill>
                  <a:srgbClr val="222B33"/>
                </a:solidFill>
                <a:latin typeface="Microsoft YaHei"/>
              </a:rPr>
              <a:t>▪ 离身往前脱，边脱边卷，外面朝里</a:t>
            </a:r>
          </a:p>
          <a:p>
            <a:pPr>
              <a:spcAft>
                <a:spcPts val="1000"/>
              </a:spcAft>
            </a:pPr>
            <a:r>
              <a:rPr sz="2000">
                <a:solidFill>
                  <a:srgbClr val="222B33"/>
                </a:solidFill>
                <a:latin typeface="Microsoft YaHei"/>
              </a:rPr>
              <a:t>▪ 实验服：裸手不碰外面，捏袖口抽臂</a:t>
            </a:r>
          </a:p>
          <a:p>
            <a:pPr>
              <a:spcAft>
                <a:spcPts val="1000"/>
              </a:spcAft>
            </a:pPr>
            <a:r>
              <a:rPr sz="2000">
                <a:solidFill>
                  <a:srgbClr val="222B33"/>
                </a:solidFill>
                <a:latin typeface="Microsoft YaHei"/>
              </a:rPr>
              <a:t>▪ 可再穿的挂好，污染的卷起丢弃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脱隔离衣：解开腰带，抓住两肩向前拉，让颈后的系带松开（或按规程解开）；从肩部往前脱下，远离身体，边脱边卷，让外面翻到里面，卷成一团，脏的外面不碰到裸手和日常衣物，丢进感染性废物容器。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像脱外套一样从头上扯下隔离衣</a:t>
            </a:r>
          </a:p>
          <a:p>
            <a:pPr>
              <a:spcAft>
                <a:spcPts val="1000"/>
              </a:spcAft>
            </a:pPr>
            <a:r>
              <a:rPr sz="1500">
                <a:solidFill>
                  <a:srgbClr val="222B33"/>
                </a:solidFill>
                <a:latin typeface="Microsoft YaHei"/>
              </a:rPr>
              <a:t>▪ 裸手抓实验服前襟脱下</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另两种做法：连手套一起脱，或先衣后手套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一种：手套连袖口一起剥下</a:t>
            </a:r>
          </a:p>
          <a:p>
            <a:pPr>
              <a:spcAft>
                <a:spcPts val="1000"/>
              </a:spcAft>
            </a:pPr>
            <a:r>
              <a:rPr sz="2000">
                <a:solidFill>
                  <a:srgbClr val="222B33"/>
                </a:solidFill>
                <a:latin typeface="Microsoft YaHei"/>
              </a:rPr>
              <a:t>▪ 衣带手套里朝外卷成一团丢弃</a:t>
            </a:r>
          </a:p>
          <a:p>
            <a:pPr>
              <a:spcAft>
                <a:spcPts val="1000"/>
              </a:spcAft>
            </a:pPr>
            <a:r>
              <a:rPr sz="2000">
                <a:solidFill>
                  <a:srgbClr val="222B33"/>
                </a:solidFill>
                <a:latin typeface="Microsoft YaHei"/>
              </a:rPr>
              <a:t>▪ 另一种：先脱隔离衣，再摘手套</a:t>
            </a:r>
          </a:p>
          <a:p>
            <a:pPr>
              <a:spcAft>
                <a:spcPts val="1000"/>
              </a:spcAft>
            </a:pPr>
            <a:r>
              <a:rPr sz="2000">
                <a:solidFill>
                  <a:srgbClr val="222B33"/>
                </a:solidFill>
                <a:latin typeface="Microsoft YaHei"/>
              </a:rPr>
              <a:t>▪ 用哪种按评估选定，写进规程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同一实验室几种做法混着用</a:t>
            </a:r>
          </a:p>
          <a:p>
            <a:pPr>
              <a:spcAft>
                <a:spcPts val="1000"/>
              </a:spcAft>
            </a:pPr>
            <a:r>
              <a:rPr sz="1500">
                <a:solidFill>
                  <a:srgbClr val="222B33"/>
                </a:solidFill>
                <a:latin typeface="Microsoft YaHei"/>
              </a:rPr>
              <a:t>▪ 一起脱时手套从袖子里掉出、裸手碰到外面</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摘口罩：只捏耳挂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口罩最后摘，只捏耳挂</a:t>
            </a:r>
          </a:p>
          <a:p>
            <a:pPr>
              <a:spcAft>
                <a:spcPts val="1000"/>
              </a:spcAft>
            </a:pPr>
            <a:r>
              <a:rPr sz="2000">
                <a:solidFill>
                  <a:srgbClr val="222B33"/>
                </a:solidFill>
                <a:latin typeface="Microsoft YaHei"/>
              </a:rPr>
              <a:t>▪ 不碰口罩外面</a:t>
            </a:r>
          </a:p>
          <a:p>
            <a:pPr>
              <a:spcAft>
                <a:spcPts val="1000"/>
              </a:spcAft>
            </a:pPr>
            <a:r>
              <a:rPr sz="2000">
                <a:solidFill>
                  <a:srgbClr val="222B33"/>
                </a:solidFill>
                <a:latin typeface="Microsoft YaHei"/>
              </a:rPr>
              <a:t>▪ 离开面部就丢进感染性废物袋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口罩贴着口鼻，在其他防护用品脱完、手卫生后最后摘：只捏住耳挂（或头带）从耳后取下，不碰口罩外面，离开面部后直接丢进感染性废物容器。医用防护口罩先拉下下方头带，再拉上方头带。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用手抓口罩正面拉下</a:t>
            </a:r>
          </a:p>
          <a:p>
            <a:pPr>
              <a:spcAft>
                <a:spcPts val="1000"/>
              </a:spcAft>
            </a:pPr>
            <a:r>
              <a:rPr sz="1500">
                <a:solidFill>
                  <a:srgbClr val="222B33"/>
                </a:solidFill>
                <a:latin typeface="Microsoft YaHei"/>
              </a:rPr>
              <a:t>▪ 摘下的口罩挂在下巴上或揣进口袋</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送风头罩：风机转着摘，摘下再关机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摘头罩时风机别关</a:t>
            </a:r>
          </a:p>
          <a:p>
            <a:pPr>
              <a:spcAft>
                <a:spcPts val="1000"/>
              </a:spcAft>
            </a:pPr>
            <a:r>
              <a:rPr sz="2000">
                <a:solidFill>
                  <a:srgbClr val="222B33"/>
                </a:solidFill>
                <a:latin typeface="Microsoft YaHei"/>
              </a:rPr>
              <a:t>▪ 外面都当污染，手只碰规定位置</a:t>
            </a:r>
          </a:p>
          <a:p>
            <a:pPr>
              <a:spcAft>
                <a:spcPts val="1000"/>
              </a:spcAft>
            </a:pPr>
            <a:r>
              <a:rPr sz="2000">
                <a:solidFill>
                  <a:srgbClr val="222B33"/>
                </a:solidFill>
                <a:latin typeface="Microsoft YaHei"/>
              </a:rPr>
              <a:t>▪ 脸别碰外面，放指定处等去污</a:t>
            </a:r>
          </a:p>
          <a:p>
            <a:pPr>
              <a:spcAft>
                <a:spcPts val="1000"/>
              </a:spcAft>
            </a:pPr>
            <a:r>
              <a:rPr sz="2000">
                <a:solidFill>
                  <a:srgbClr val="222B33"/>
                </a:solidFill>
                <a:latin typeface="Microsoft YaHei"/>
              </a:rPr>
              <a:t>▪ 摘下后再关机、拔电池，然后洗手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摘送风头罩时，风机保持运转，按规程摘下头盔：头罩外面都当作污染，手只碰规定的位置，脸不碰外面。摘下后放到指定位置等待去污，然后再关机、断开电池。摘完马上洗手。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先关风机再摘头罩</a:t>
            </a:r>
          </a:p>
          <a:p>
            <a:pPr>
              <a:spcAft>
                <a:spcPts val="1000"/>
              </a:spcAft>
            </a:pPr>
            <a:r>
              <a:rPr sz="1500">
                <a:solidFill>
                  <a:srgbClr val="222B33"/>
                </a:solidFill>
                <a:latin typeface="Microsoft YaHei"/>
              </a:rPr>
              <a:t>▪ 摘下的头罩随手放在干净区</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最后洗手，再离开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最后用流水和洗手液认真洗手</a:t>
            </a:r>
          </a:p>
          <a:p>
            <a:pPr>
              <a:spcAft>
                <a:spcPts val="1000"/>
              </a:spcAft>
            </a:pPr>
            <a:r>
              <a:rPr sz="2000">
                <a:solidFill>
                  <a:srgbClr val="222B33"/>
                </a:solidFill>
                <a:latin typeface="Microsoft YaHei"/>
              </a:rPr>
              <a:t>▪ 手背、指缝、指尖、指甲下都搓到</a:t>
            </a:r>
          </a:p>
          <a:p>
            <a:pPr>
              <a:spcAft>
                <a:spcPts val="1000"/>
              </a:spcAft>
            </a:pPr>
            <a:r>
              <a:rPr sz="2000">
                <a:solidFill>
                  <a:srgbClr val="222B33"/>
                </a:solidFill>
                <a:latin typeface="Microsoft YaHei"/>
              </a:rPr>
              <a:t>▪ 纸巾擦干，再用纸巾关龙头</a:t>
            </a:r>
          </a:p>
          <a:p>
            <a:pPr>
              <a:spcAft>
                <a:spcPts val="1000"/>
              </a:spcAft>
            </a:pPr>
            <a:r>
              <a:rPr sz="2000">
                <a:solidFill>
                  <a:srgbClr val="222B33"/>
                </a:solidFill>
                <a:latin typeface="Microsoft YaHei"/>
              </a:rPr>
              <a:t>▪ 暂时没水先手消，有条件尽快洗手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全部脱完，最后一步是用流动水和洗手液（肥皂）洗手：手心、手背、指缝、指尖、指甲下、拇指和手腕都要认真揉搓，时间要够（洗手步骤见第 020 课）。用一次性纸巾擦干，再用纸巾关水龙头。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脱完防护直接离开，不洗手</a:t>
            </a:r>
          </a:p>
          <a:p>
            <a:pPr>
              <a:spcAft>
                <a:spcPts val="1000"/>
              </a:spcAft>
            </a:pPr>
            <a:r>
              <a:rPr sz="1500">
                <a:solidFill>
                  <a:srgbClr val="222B33"/>
                </a:solidFill>
                <a:latin typeface="Microsoft YaHei"/>
              </a:rPr>
              <a:t>▪ 只用手消毒剂代替洗手，有水也不洗</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下列穿戴顺序中，符合国内常用做法的是：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手套→隔离衣→口罩→护目镜</a:t>
            </a:r>
          </a:p>
          <a:p>
            <a:pPr algn="l"/>
            <a:r>
              <a:rPr sz="1500" b="0">
                <a:solidFill>
                  <a:srgbClr val="222B33"/>
                </a:solidFill>
                <a:latin typeface="Microsoft YaHei"/>
              </a:rPr>
              <a:t>B. 手卫生→帽子→口罩→护目镜/面屏→隔离衣→手套</a:t>
            </a:r>
          </a:p>
          <a:p>
            <a:pPr algn="l"/>
            <a:r>
              <a:rPr sz="1500" b="0">
                <a:solidFill>
                  <a:srgbClr val="222B33"/>
                </a:solidFill>
                <a:latin typeface="Microsoft YaHei"/>
              </a:rPr>
              <a:t>C. 隔离衣→手套→口罩→帽子</a:t>
            </a:r>
          </a:p>
          <a:p>
            <a:pPr algn="l"/>
            <a:r>
              <a:rPr sz="1500" b="0">
                <a:solidFill>
                  <a:srgbClr val="222B33"/>
                </a:solidFill>
                <a:latin typeface="Microsoft YaHei"/>
              </a:rPr>
              <a:t>D. 口罩→手套→隔离衣→护目镜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判断：脱卸防护装备应从最干净的开始，最后脱手套。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翻脱法摘手套，正确的是：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捏指尖往下拽</a:t>
            </a:r>
          </a:p>
          <a:p>
            <a:pPr algn="l"/>
            <a:r>
              <a:rPr sz="1500" b="0">
                <a:solidFill>
                  <a:srgbClr val="222B33"/>
                </a:solidFill>
                <a:latin typeface="Microsoft YaHei"/>
              </a:rPr>
              <a:t>B. 捏腕部外侧翻下，握在另一手心，裸手从内侧伸进翻下包成一团</a:t>
            </a:r>
          </a:p>
          <a:p>
            <a:pPr algn="l"/>
            <a:r>
              <a:rPr sz="1500" b="0">
                <a:solidFill>
                  <a:srgbClr val="222B33"/>
                </a:solidFill>
                <a:latin typeface="Microsoft YaHei"/>
              </a:rPr>
              <a:t>C. 用牙咬下</a:t>
            </a:r>
          </a:p>
          <a:p>
            <a:pPr algn="l"/>
            <a:r>
              <a:rPr sz="1500" b="0">
                <a:solidFill>
                  <a:srgbClr val="222B33"/>
                </a:solidFill>
                <a:latin typeface="Microsoft YaHei"/>
              </a:rPr>
              <a:t>D. 两只手套互相搓下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使用送风头罩时，下列做法正确的是：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先戴头罩再开机</a:t>
            </a:r>
          </a:p>
          <a:p>
            <a:pPr algn="l"/>
            <a:r>
              <a:rPr sz="1500" b="0">
                <a:solidFill>
                  <a:srgbClr val="222B33"/>
                </a:solidFill>
                <a:latin typeface="Microsoft YaHei"/>
              </a:rPr>
              <a:t>B. 先开机确认有风再戴，摘下后再关机</a:t>
            </a:r>
          </a:p>
          <a:p>
            <a:pPr algn="l"/>
            <a:r>
              <a:rPr sz="1500" b="0">
                <a:solidFill>
                  <a:srgbClr val="222B33"/>
                </a:solidFill>
                <a:latin typeface="Microsoft YaHei"/>
              </a:rPr>
              <a:t>C. 先关机再摘头罩</a:t>
            </a:r>
          </a:p>
          <a:p>
            <a:pPr algn="l"/>
            <a:r>
              <a:rPr sz="1500" b="0">
                <a:solidFill>
                  <a:srgbClr val="222B33"/>
                </a:solidFill>
                <a:latin typeface="Microsoft YaHei"/>
              </a:rPr>
              <a:t>D. 指示灯不全亮也可进入</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判断：同一实验室可以每个人按自己习惯选择不同的脱卸方法。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简答：脱卸时怎样防止自我污染？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穿前准备：摘首饰、物品留门外、束长发</a:t>
            </a:r>
          </a:p>
          <a:p>
            <a:pPr>
              <a:spcAft>
                <a:spcPts val="800"/>
              </a:spcAft>
            </a:pPr>
            <a:r>
              <a:rPr sz="1500">
                <a:solidFill>
                  <a:srgbClr val="FFFFFF"/>
                </a:solidFill>
                <a:latin typeface="Microsoft YaHei"/>
              </a:rPr>
              <a:t>▪ K2  备齐装备，合身无破损</a:t>
            </a:r>
          </a:p>
          <a:p>
            <a:pPr>
              <a:spcAft>
                <a:spcPts val="800"/>
              </a:spcAft>
            </a:pPr>
            <a:r>
              <a:rPr sz="1500">
                <a:solidFill>
                  <a:srgbClr val="FFFFFF"/>
                </a:solidFill>
                <a:latin typeface="Microsoft YaHei"/>
              </a:rPr>
              <a:t>▪ K3  穿脱分区，在缓冲间穿好再进</a:t>
            </a:r>
          </a:p>
          <a:p>
            <a:pPr>
              <a:spcAft>
                <a:spcPts val="800"/>
              </a:spcAft>
            </a:pPr>
            <a:r>
              <a:rPr sz="1500">
                <a:solidFill>
                  <a:srgbClr val="FFFFFF"/>
                </a:solidFill>
                <a:latin typeface="Microsoft YaHei"/>
              </a:rPr>
              <a:t>▪ K4  穿戴顺序：口罩护目在前，手套最后</a:t>
            </a:r>
          </a:p>
          <a:p>
            <a:pPr>
              <a:spcAft>
                <a:spcPts val="800"/>
              </a:spcAft>
            </a:pPr>
            <a:r>
              <a:rPr sz="1500">
                <a:solidFill>
                  <a:srgbClr val="FFFFFF"/>
                </a:solidFill>
                <a:latin typeface="Microsoft YaHei"/>
              </a:rPr>
              <a:t>▪ K5  口罩：压鼻夹，贴紧鼻梁面颊</a:t>
            </a:r>
          </a:p>
          <a:p>
            <a:pPr>
              <a:spcAft>
                <a:spcPts val="800"/>
              </a:spcAft>
            </a:pPr>
            <a:r>
              <a:rPr sz="1500">
                <a:solidFill>
                  <a:srgbClr val="FFFFFF"/>
                </a:solidFill>
                <a:latin typeface="Microsoft YaHei"/>
              </a:rPr>
              <a:t>▪ K6  面屏：盖住前额、下巴和两侧</a:t>
            </a:r>
          </a:p>
          <a:p>
            <a:pPr>
              <a:spcAft>
                <a:spcPts val="800"/>
              </a:spcAft>
            </a:pPr>
            <a:r>
              <a:rPr sz="1500">
                <a:solidFill>
                  <a:srgbClr val="FFFFFF"/>
                </a:solidFill>
                <a:latin typeface="Microsoft YaHei"/>
              </a:rPr>
              <a:t>▪ K7  隔离衣：系活结，遮住日常衣物</a:t>
            </a:r>
          </a:p>
          <a:p>
            <a:pPr>
              <a:spcAft>
                <a:spcPts val="800"/>
              </a:spcAft>
            </a:pPr>
            <a:r>
              <a:rPr sz="1500">
                <a:solidFill>
                  <a:srgbClr val="FFFFFF"/>
                </a:solidFill>
                <a:latin typeface="Microsoft YaHei"/>
              </a:rPr>
              <a:t>▪ K8  手套套在袖口外，手腕封严</a:t>
            </a:r>
          </a:p>
          <a:p>
            <a:pPr>
              <a:spcAft>
                <a:spcPts val="800"/>
              </a:spcAft>
            </a:pPr>
            <a:r>
              <a:rPr sz="1500">
                <a:solidFill>
                  <a:srgbClr val="FFFFFF"/>
                </a:solidFill>
                <a:latin typeface="Microsoft YaHei"/>
              </a:rPr>
              <a:t>▪ K9  双层手套：外层脏了换外层</a:t>
            </a:r>
          </a:p>
          <a:p>
            <a:pPr>
              <a:spcAft>
                <a:spcPts val="800"/>
              </a:spcAft>
            </a:pPr>
            <a:r>
              <a:rPr sz="1500">
                <a:solidFill>
                  <a:srgbClr val="FFFFFF"/>
                </a:solidFill>
                <a:latin typeface="Microsoft YaHei"/>
              </a:rPr>
              <a:t>▪ K10  送风头罩：先系腰带、接好线、调头箍</a:t>
            </a:r>
          </a:p>
          <a:p>
            <a:pPr>
              <a:spcAft>
                <a:spcPts val="800"/>
              </a:spcAft>
            </a:pPr>
            <a:r>
              <a:rPr sz="1500">
                <a:solidFill>
                  <a:srgbClr val="FFFFFF"/>
                </a:solidFill>
                <a:latin typeface="Microsoft YaHei"/>
              </a:rPr>
              <a:t>▪ K11  先开机有风再戴，披肩收进防护服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照镜自查，同伴互查</a:t>
            </a:r>
          </a:p>
          <a:p>
            <a:pPr>
              <a:spcAft>
                <a:spcPts val="800"/>
              </a:spcAft>
            </a:pPr>
            <a:r>
              <a:rPr sz="1500">
                <a:solidFill>
                  <a:srgbClr val="FFFFFF"/>
                </a:solidFill>
                <a:latin typeface="Microsoft YaHei"/>
              </a:rPr>
              <a:t>▪ K13  脱卸原则：从最脏到最干净，方法写进规程</a:t>
            </a:r>
          </a:p>
          <a:p>
            <a:pPr>
              <a:spcAft>
                <a:spcPts val="800"/>
              </a:spcAft>
            </a:pPr>
            <a:r>
              <a:rPr sz="1500">
                <a:solidFill>
                  <a:srgbClr val="FFFFFF"/>
                </a:solidFill>
                <a:latin typeface="Microsoft YaHei"/>
              </a:rPr>
              <a:t>▪ K14  先摘手套：翻着脱，外面不碰皮肤</a:t>
            </a:r>
          </a:p>
          <a:p>
            <a:pPr>
              <a:spcAft>
                <a:spcPts val="800"/>
              </a:spcAft>
            </a:pPr>
            <a:r>
              <a:rPr sz="1500">
                <a:solidFill>
                  <a:srgbClr val="FFFFFF"/>
                </a:solidFill>
                <a:latin typeface="Microsoft YaHei"/>
              </a:rPr>
              <a:t>▪ K15  摘手套后先手消毒</a:t>
            </a:r>
          </a:p>
          <a:p>
            <a:pPr>
              <a:spcAft>
                <a:spcPts val="800"/>
              </a:spcAft>
            </a:pPr>
            <a:r>
              <a:rPr sz="1500">
                <a:solidFill>
                  <a:srgbClr val="FFFFFF"/>
                </a:solidFill>
                <a:latin typeface="Microsoft YaHei"/>
              </a:rPr>
              <a:t>▪ K16  摘面屏、护目镜：捏头带和镜腿</a:t>
            </a:r>
          </a:p>
          <a:p>
            <a:pPr>
              <a:spcAft>
                <a:spcPts val="800"/>
              </a:spcAft>
            </a:pPr>
            <a:r>
              <a:rPr sz="1500">
                <a:solidFill>
                  <a:srgbClr val="FFFFFF"/>
                </a:solidFill>
                <a:latin typeface="Microsoft YaHei"/>
              </a:rPr>
              <a:t>▪ K17  脱隔离衣、实验服：外面朝里卷起</a:t>
            </a:r>
          </a:p>
          <a:p>
            <a:pPr>
              <a:spcAft>
                <a:spcPts val="800"/>
              </a:spcAft>
            </a:pPr>
            <a:r>
              <a:rPr sz="1500">
                <a:solidFill>
                  <a:srgbClr val="FFFFFF"/>
                </a:solidFill>
                <a:latin typeface="Microsoft YaHei"/>
              </a:rPr>
              <a:t>▪ K18  另两种做法：连手套一起脱，或先衣后手套</a:t>
            </a:r>
          </a:p>
          <a:p>
            <a:pPr>
              <a:spcAft>
                <a:spcPts val="800"/>
              </a:spcAft>
            </a:pPr>
            <a:r>
              <a:rPr sz="1500">
                <a:solidFill>
                  <a:srgbClr val="FFFFFF"/>
                </a:solidFill>
                <a:latin typeface="Microsoft YaHei"/>
              </a:rPr>
              <a:t>▪ K19  摘口罩：只捏耳挂</a:t>
            </a:r>
          </a:p>
          <a:p>
            <a:pPr>
              <a:spcAft>
                <a:spcPts val="800"/>
              </a:spcAft>
            </a:pPr>
            <a:r>
              <a:rPr sz="1500">
                <a:solidFill>
                  <a:srgbClr val="FFFFFF"/>
                </a:solidFill>
                <a:latin typeface="Microsoft YaHei"/>
              </a:rPr>
              <a:t>▪ K20  送风头罩：风机转着摘，摘下再关机</a:t>
            </a:r>
          </a:p>
          <a:p>
            <a:pPr>
              <a:spcAft>
                <a:spcPts val="800"/>
              </a:spcAft>
            </a:pPr>
            <a:r>
              <a:rPr sz="1500">
                <a:solidFill>
                  <a:srgbClr val="FFFFFF"/>
                </a:solidFill>
                <a:latin typeface="Microsoft YaHei"/>
              </a:rPr>
              <a:t>▪ K21  最后洗手，再离开</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消毒与灭菌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适用对象：从事微生物、细胞、分子生物学、医学、农学、环境等生物实验的高校本科生、研究生和教职工（必修）；负责消毒灭菌设备和熏蒸工作的实验室人员重点学习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能说出消毒、去污与灭菌的区别，并按用途选择热、化学、辐射等方法，不拿消毒当灭菌。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能做到选对消毒剂、保持表面湿润等够作用时间，开工前、收工后和洒溢后及时消毒台面和设备。</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能做到安全配制和保存消毒液（防护、标签日期、按期更换、不乱混、乙醇远离火源），并判断紫外消毒的局限。</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能说出湿热灭菌的原理、装载要求和监测验证方法，以及熏蒸和气体灭菌的安全要求。</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《中华人民共和国生物安全法》：从事病原微生物实验活动应遵守实验室技术规范和操作规程，防止病原微生物扩散</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《病原微生物实验室生物安全管理条例》（以现行文本为准）：实验室应制定并执行消毒、灭菌等标准操作规程，实验废物按规定处置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生物安全通用要求》：消毒灭菌方法的选择与确认、设备去污染、灭菌效果监测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233（以现行文本为准）《病原微生物实验室生物安全通用准则》：实验室消毒与灭菌、压力蒸汽灭菌效果监测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《消毒管理办法》（以现行文本为准）：消毒产品使用说明与消毒效果要求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号，以现行文本为准）：生物实验室消毒灭菌、仪器设备使用和化学品管理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本校生物安全管理规定和本实验室消毒灭菌、高压灭菌器、熏蒸标准操作规程（以本校规定为准）</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消毒、去污、灭菌不是一回事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消毒：把微生物减少到安全水平</a:t>
            </a:r>
          </a:p>
          <a:p>
            <a:pPr>
              <a:spcAft>
                <a:spcPts val="1000"/>
              </a:spcAft>
            </a:pPr>
            <a:r>
              <a:rPr sz="1700">
                <a:solidFill>
                  <a:srgbClr val="222B33"/>
                </a:solidFill>
                <a:latin typeface="Microsoft YaHei"/>
              </a:rPr>
              <a:t>▪ 灭菌：全部杀灭，包括芽孢</a:t>
            </a:r>
          </a:p>
          <a:p>
            <a:pPr>
              <a:spcAft>
                <a:spcPts val="1000"/>
              </a:spcAft>
            </a:pPr>
            <a:r>
              <a:rPr sz="1700">
                <a:solidFill>
                  <a:srgbClr val="222B33"/>
                </a:solidFill>
                <a:latin typeface="Microsoft YaHei"/>
              </a:rPr>
              <a:t>▪ 去污：让物品能安全拿取或处置</a:t>
            </a:r>
          </a:p>
          <a:p>
            <a:pPr>
              <a:spcAft>
                <a:spcPts val="1000"/>
              </a:spcAft>
            </a:pPr>
            <a:r>
              <a:rPr sz="1700">
                <a:solidFill>
                  <a:srgbClr val="222B33"/>
                </a:solidFill>
                <a:latin typeface="Microsoft YaHei"/>
              </a:rPr>
              <a:t>▪ 器皿先洗净，再消毒，需要时灭菌</a:t>
            </a:r>
          </a:p>
          <a:p>
            <a:pPr>
              <a:spcAft>
                <a:spcPts val="1000"/>
              </a:spcAft>
            </a:pPr>
            <a:r>
              <a:rPr sz="1700">
                <a:solidFill>
                  <a:srgbClr val="222B33"/>
                </a:solidFill>
                <a:latin typeface="Microsoft YaHei"/>
              </a:rPr>
              <a:t>▪ 按用途选方法，别拿消毒当灭菌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是用物理或化学方法把物体表面或环境中的微生物减少到不再引起感染的水平，不要求全部杀灭；灭菌是杀灭全部微生物，包括抵抗力最强的细菌芽孢；去污（去污染）是让被污染的物品、表面能够安全地拿取、使用或处置，可以通过清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把消毒过的器皿当无菌器材使用</a:t>
            </a:r>
          </a:p>
          <a:p>
            <a:pPr>
              <a:spcAft>
                <a:spcPts val="1000"/>
              </a:spcAft>
            </a:pPr>
            <a:r>
              <a:rPr sz="1500">
                <a:solidFill>
                  <a:srgbClr val="222B33"/>
                </a:solidFill>
                <a:latin typeface="Microsoft YaHei"/>
              </a:rPr>
              <a:t>▪ 器皿不清洗就直接消毒或灭菌</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杀灭微生物的方法：热、化学、辐射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热、化学品、辐射都能杀灭微生物</a:t>
            </a:r>
          </a:p>
          <a:p>
            <a:pPr>
              <a:spcAft>
                <a:spcPts val="1000"/>
              </a:spcAft>
            </a:pPr>
            <a:r>
              <a:rPr sz="2000">
                <a:solidFill>
                  <a:srgbClr val="222B33"/>
                </a:solidFill>
                <a:latin typeface="Microsoft YaHei"/>
              </a:rPr>
              <a:t>▪ 耐热物品首选湿热（高压蒸汽）灭菌</a:t>
            </a:r>
          </a:p>
          <a:p>
            <a:pPr>
              <a:spcAft>
                <a:spcPts val="1000"/>
              </a:spcAft>
            </a:pPr>
            <a:r>
              <a:rPr sz="2000">
                <a:solidFill>
                  <a:srgbClr val="222B33"/>
                </a:solidFill>
                <a:latin typeface="Microsoft YaHei"/>
              </a:rPr>
              <a:t>▪ 台面设备用化学消毒剂擦拭</a:t>
            </a:r>
          </a:p>
          <a:p>
            <a:pPr>
              <a:spcAft>
                <a:spcPts val="1000"/>
              </a:spcAft>
            </a:pPr>
            <a:r>
              <a:rPr sz="2000">
                <a:solidFill>
                  <a:srgbClr val="222B33"/>
                </a:solidFill>
                <a:latin typeface="Microsoft YaHei"/>
              </a:rPr>
              <a:t>▪ 紫外照表面，房间整体用熏蒸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杀灭微生物的方法主要有三类：热（湿热即高压蒸汽灭菌、干热、焚烧）、化学品（各类消毒剂、灭菌剂和熏蒸、气体灭菌）、辐射（紫外线照射；工业上的电离辐射灭菌）。此外还有过滤等去除微生物的物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不分对象，一种方法用到底</a:t>
            </a:r>
          </a:p>
          <a:p>
            <a:pPr>
              <a:spcAft>
                <a:spcPts val="1000"/>
              </a:spcAft>
            </a:pPr>
            <a:r>
              <a:rPr sz="1500">
                <a:solidFill>
                  <a:srgbClr val="222B33"/>
                </a:solidFill>
                <a:latin typeface="Microsoft YaHei"/>
              </a:rPr>
              <a:t>▪ 用紫外照射代替对器材的灭菌</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灭菌手段本身有危害，必须照规程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能杀菌的东西同样能伤人</a:t>
            </a:r>
          </a:p>
          <a:p>
            <a:pPr>
              <a:spcAft>
                <a:spcPts val="1000"/>
              </a:spcAft>
            </a:pPr>
            <a:r>
              <a:rPr sz="1700">
                <a:solidFill>
                  <a:srgbClr val="222B33"/>
                </a:solidFill>
                <a:latin typeface="Microsoft YaHei"/>
              </a:rPr>
              <a:t>▪ 高温烫伤、药剂中毒、紫外伤眼</a:t>
            </a:r>
          </a:p>
          <a:p>
            <a:pPr>
              <a:spcAft>
                <a:spcPts val="1000"/>
              </a:spcAft>
            </a:pPr>
            <a:r>
              <a:rPr sz="1700">
                <a:solidFill>
                  <a:srgbClr val="222B33"/>
                </a:solidFill>
                <a:latin typeface="Microsoft YaHei"/>
              </a:rPr>
              <a:t>▪ 用错管错还会污染环境</a:t>
            </a:r>
          </a:p>
          <a:p>
            <a:pPr>
              <a:spcAft>
                <a:spcPts val="1000"/>
              </a:spcAft>
            </a:pPr>
            <a:r>
              <a:rPr sz="1700">
                <a:solidFill>
                  <a:srgbClr val="222B33"/>
                </a:solidFill>
                <a:latin typeface="Microsoft YaHei"/>
              </a:rPr>
              <a:t>▪ 规程两个目的：护人也保效果</a:t>
            </a:r>
          </a:p>
          <a:p>
            <a:pPr>
              <a:spcAft>
                <a:spcPts val="1000"/>
              </a:spcAft>
            </a:pPr>
            <a:r>
              <a:rPr sz="1700">
                <a:solidFill>
                  <a:srgbClr val="222B33"/>
                </a:solidFill>
                <a:latin typeface="Microsoft YaHei"/>
              </a:rPr>
              <a:t>▪ 没学过规程，不上手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消毒灭菌用的高温高压蒸汽、化学消毒剂和熏蒸剂、紫外线，本身就是危害：会造成烫伤、化学灼伤和中毒、眼和皮肤的紫外损伤，高压设备使用不当还可能发生事故（高压灭菌器的操作安全见第 123 课，紫外灯的人身防护见第 111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觉得消毒剂“只是清洁用品”，不防护</a:t>
            </a:r>
          </a:p>
          <a:p>
            <a:pPr>
              <a:spcAft>
                <a:spcPts val="1000"/>
              </a:spcAft>
            </a:pPr>
            <a:r>
              <a:rPr sz="1500">
                <a:solidFill>
                  <a:srgbClr val="222B33"/>
                </a:solidFill>
                <a:latin typeface="Microsoft YaHei"/>
              </a:rPr>
              <a:t>▪ 没经培训就操作高压灭菌器</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消毒剂要对得上微生物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微生物不同，抵抗力差得远</a:t>
            </a:r>
          </a:p>
          <a:p>
            <a:pPr>
              <a:spcAft>
                <a:spcPts val="1000"/>
              </a:spcAft>
            </a:pPr>
            <a:r>
              <a:rPr sz="1700">
                <a:solidFill>
                  <a:srgbClr val="222B33"/>
                </a:solidFill>
                <a:latin typeface="Microsoft YaHei"/>
              </a:rPr>
              <a:t>▪ 乙醇对芽孢无效</a:t>
            </a:r>
          </a:p>
          <a:p>
            <a:pPr>
              <a:spcAft>
                <a:spcPts val="1000"/>
              </a:spcAft>
            </a:pPr>
            <a:r>
              <a:rPr sz="1700">
                <a:solidFill>
                  <a:srgbClr val="222B33"/>
                </a:solidFill>
                <a:latin typeface="Microsoft YaHei"/>
              </a:rPr>
              <a:t>▪ 有机物降低效果，先清掉污物</a:t>
            </a:r>
          </a:p>
          <a:p>
            <a:pPr>
              <a:spcAft>
                <a:spcPts val="1000"/>
              </a:spcAft>
            </a:pPr>
            <a:r>
              <a:rPr sz="1700">
                <a:solidFill>
                  <a:srgbClr val="222B33"/>
                </a:solidFill>
                <a:latin typeface="Microsoft YaHei"/>
              </a:rPr>
              <a:t>▪ 含氯的腐蚀金属，作用后清水擦净</a:t>
            </a:r>
          </a:p>
          <a:p>
            <a:pPr>
              <a:spcAft>
                <a:spcPts val="1000"/>
              </a:spcAft>
            </a:pPr>
            <a:r>
              <a:rPr sz="1700">
                <a:solidFill>
                  <a:srgbClr val="222B33"/>
                </a:solidFill>
                <a:latin typeface="Microsoft YaHei"/>
              </a:rPr>
              <a:t>▪ 换消毒剂先确认有效，写进规程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不同微生物对消毒剂的抵抗力相差很大：一般细菌、有包膜病毒较容易杀灭，分枝杆菌、无包膜病毒更难，细菌芽孢最难。常用的乙醇（常用 75% 左右）作用快，但对芽孢无效；含氯消毒剂作用谱广，但有腐蚀性和刺激性。选哪种，看要对……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用乙醇对付可能有芽孢的污染</a:t>
            </a:r>
          </a:p>
          <a:p>
            <a:pPr>
              <a:spcAft>
                <a:spcPts val="1000"/>
              </a:spcAft>
            </a:pPr>
            <a:r>
              <a:rPr sz="1500">
                <a:solidFill>
                  <a:srgbClr val="222B33"/>
                </a:solidFill>
                <a:latin typeface="Microsoft YaHei"/>
              </a:rPr>
              <a:t>▪ 不查有效性就换便宜的消毒剂</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保持湿润，等够作用时间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喷一下就擦，等于没消毒</a:t>
            </a:r>
          </a:p>
          <a:p>
            <a:pPr>
              <a:spcAft>
                <a:spcPts val="1000"/>
              </a:spcAft>
            </a:pPr>
            <a:r>
              <a:rPr sz="2000">
                <a:solidFill>
                  <a:srgbClr val="222B33"/>
                </a:solidFill>
                <a:latin typeface="Microsoft YaHei"/>
              </a:rPr>
              <a:t>▪ 表面保持湿润，等够作用时间</a:t>
            </a:r>
          </a:p>
          <a:p>
            <a:pPr>
              <a:spcAft>
                <a:spcPts val="1000"/>
              </a:spcAft>
            </a:pPr>
            <a:r>
              <a:rPr sz="2000">
                <a:solidFill>
                  <a:srgbClr val="222B33"/>
                </a:solidFill>
                <a:latin typeface="Microsoft YaHei"/>
              </a:rPr>
              <a:t>▪ 时间到再擦去残留</a:t>
            </a:r>
          </a:p>
          <a:p>
            <a:pPr>
              <a:spcAft>
                <a:spcPts val="1000"/>
              </a:spcAft>
            </a:pPr>
            <a:r>
              <a:rPr sz="2000">
                <a:solidFill>
                  <a:srgbClr val="222B33"/>
                </a:solidFill>
                <a:latin typeface="Microsoft YaHei"/>
              </a:rPr>
              <a:t>▪ 浓度和时间以规程和说明为准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消毒剂需要与微生物接触足够的时间才能起作用。喷一下马上擦干，接触时间不够，等于没消毒。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喷完立即擦干</a:t>
            </a:r>
          </a:p>
          <a:p>
            <a:pPr>
              <a:spcAft>
                <a:spcPts val="1000"/>
              </a:spcAft>
            </a:pPr>
            <a:r>
              <a:rPr sz="1500">
                <a:solidFill>
                  <a:srgbClr val="222B33"/>
                </a:solidFill>
                <a:latin typeface="Microsoft YaHei"/>
              </a:rPr>
              <a:t>▪ 凭感觉稀释，不看说明</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台面设备：开工前、收工后、洒了马上消毒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一洒一漏，台面和材料就被污染</a:t>
            </a:r>
          </a:p>
          <a:p>
            <a:pPr>
              <a:spcAft>
                <a:spcPts val="1000"/>
              </a:spcAft>
            </a:pPr>
            <a:r>
              <a:rPr sz="1700">
                <a:solidFill>
                  <a:srgbClr val="222B33"/>
                </a:solidFill>
                <a:latin typeface="Microsoft YaHei"/>
              </a:rPr>
              <a:t>▪ 开工前、收工后，台面都要消毒</a:t>
            </a:r>
          </a:p>
          <a:p>
            <a:pPr>
              <a:spcAft>
                <a:spcPts val="1000"/>
              </a:spcAft>
            </a:pPr>
            <a:r>
              <a:rPr sz="1700">
                <a:solidFill>
                  <a:srgbClr val="222B33"/>
                </a:solidFill>
                <a:latin typeface="Microsoft YaHei"/>
              </a:rPr>
              <a:t>▪ 用过的仪器设备也要擦</a:t>
            </a:r>
          </a:p>
          <a:p>
            <a:pPr>
              <a:spcAft>
                <a:spcPts val="1000"/>
              </a:spcAft>
            </a:pPr>
            <a:r>
              <a:rPr sz="1700">
                <a:solidFill>
                  <a:srgbClr val="222B33"/>
                </a:solidFill>
                <a:latin typeface="Microsoft YaHei"/>
              </a:rPr>
              <a:t>▪ 洒了按规程马上处理</a:t>
            </a:r>
          </a:p>
          <a:p>
            <a:pPr>
              <a:spcAft>
                <a:spcPts val="1000"/>
              </a:spcAft>
            </a:pPr>
            <a:r>
              <a:rPr sz="1700">
                <a:solidFill>
                  <a:srgbClr val="222B33"/>
                </a:solidFill>
                <a:latin typeface="Microsoft YaHei"/>
              </a:rPr>
              <a:t>▪ 用过的东西收进专用袋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生物材料一旦洒漏，台面、设备和材料都会被污染，既威胁人员，也破坏实验的无菌条件。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只在收工时擦一次台面</a:t>
            </a:r>
          </a:p>
          <a:p>
            <a:pPr>
              <a:spcAft>
                <a:spcPts val="1000"/>
              </a:spcAft>
            </a:pPr>
            <a:r>
              <a:rPr sz="1500">
                <a:solidFill>
                  <a:srgbClr val="222B33"/>
                </a:solidFill>
                <a:latin typeface="Microsoft YaHei"/>
              </a:rPr>
              <a:t>▪ 用过的东西随手丢在台面上</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配制消毒液：防护、标签、按期更换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配消毒液，戴好手套和护目镜</a:t>
            </a:r>
          </a:p>
          <a:p>
            <a:pPr>
              <a:spcAft>
                <a:spcPts val="1000"/>
              </a:spcAft>
            </a:pPr>
            <a:r>
              <a:rPr sz="2000">
                <a:solidFill>
                  <a:srgbClr val="222B33"/>
                </a:solidFill>
                <a:latin typeface="Microsoft YaHei"/>
              </a:rPr>
              <a:t>▪ 贴标签，写名称和配制日期</a:t>
            </a:r>
          </a:p>
          <a:p>
            <a:pPr>
              <a:spcAft>
                <a:spcPts val="1000"/>
              </a:spcAft>
            </a:pPr>
            <a:r>
              <a:rPr sz="2000">
                <a:solidFill>
                  <a:srgbClr val="222B33"/>
                </a:solidFill>
                <a:latin typeface="Microsoft YaHei"/>
              </a:rPr>
              <a:t>▪ 过了有效期就换新的</a:t>
            </a:r>
          </a:p>
          <a:p>
            <a:pPr>
              <a:spcAft>
                <a:spcPts val="1000"/>
              </a:spcAft>
            </a:pPr>
            <a:r>
              <a:rPr sz="2000">
                <a:solidFill>
                  <a:srgbClr val="222B33"/>
                </a:solidFill>
                <a:latin typeface="Microsoft YaHei"/>
              </a:rPr>
              <a:t>▪ 需要现配的就现配现用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消毒剂浓缩液多有腐蚀性或刺激性。配制和擦拭时戴好手套和护目镜，在通风良好处按说明量取、稀释，必要时穿防护围裙。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配制时不戴护目镜</a:t>
            </a:r>
          </a:p>
          <a:p>
            <a:pPr>
              <a:spcAft>
                <a:spcPts val="1000"/>
              </a:spcAft>
            </a:pPr>
            <a:r>
              <a:rPr sz="1500">
                <a:solidFill>
                  <a:srgbClr val="222B33"/>
                </a:solidFill>
                <a:latin typeface="Microsoft YaHei"/>
              </a:rPr>
              <a:t>▪ 稀释液没有标签和日期</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消毒剂不乱混，乙醇远离火源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含氯的不和酸性、含氨清洁剂混</a:t>
            </a:r>
          </a:p>
          <a:p>
            <a:pPr>
              <a:spcAft>
                <a:spcPts val="1000"/>
              </a:spcAft>
            </a:pPr>
            <a:r>
              <a:rPr sz="2000">
                <a:solidFill>
                  <a:srgbClr val="222B33"/>
                </a:solidFill>
                <a:latin typeface="Microsoft YaHei"/>
              </a:rPr>
              <a:t>▪ 能不能混，查说明书、问老师</a:t>
            </a:r>
          </a:p>
          <a:p>
            <a:pPr>
              <a:spcAft>
                <a:spcPts val="1000"/>
              </a:spcAft>
            </a:pPr>
            <a:r>
              <a:rPr sz="2000">
                <a:solidFill>
                  <a:srgbClr val="222B33"/>
                </a:solidFill>
                <a:latin typeface="Microsoft YaHei"/>
              </a:rPr>
              <a:t>▪ 乙醇易燃，远离明火、热源和火花</a:t>
            </a:r>
          </a:p>
          <a:p>
            <a:pPr>
              <a:spcAft>
                <a:spcPts val="1000"/>
              </a:spcAft>
            </a:pPr>
            <a:r>
              <a:rPr sz="2000">
                <a:solidFill>
                  <a:srgbClr val="222B33"/>
                </a:solidFill>
                <a:latin typeface="Microsoft YaHei"/>
              </a:rPr>
              <a:t>▪ 消毒剂也是化学品，按化学品管理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消毒剂不能随手混在一起：含氯消毒剂与酸性物品混合会放出氯气，与含氨清洁剂混合也会产生有害气体。能不能混用、能不能先后使用，查产品说明书或安全技术说明书，拿不准就问老师。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把含氯消毒剂和酸性清洁剂混在一起</a:t>
            </a:r>
          </a:p>
          <a:p>
            <a:pPr>
              <a:spcAft>
                <a:spcPts val="1000"/>
              </a:spcAft>
            </a:pPr>
            <a:r>
              <a:rPr sz="1500">
                <a:solidFill>
                  <a:srgbClr val="222B33"/>
                </a:solidFill>
                <a:latin typeface="Microsoft YaHei"/>
              </a:rPr>
              <a:t>▪ 在酒精灯旁大量喷洒乙醇</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紫外消毒只是辅助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只对直接照到的表面有效</a:t>
            </a:r>
          </a:p>
          <a:p>
            <a:pPr>
              <a:spcAft>
                <a:spcPts val="1000"/>
              </a:spcAft>
            </a:pPr>
            <a:r>
              <a:rPr sz="1700">
                <a:solidFill>
                  <a:srgbClr val="222B33"/>
                </a:solidFill>
                <a:latin typeface="Microsoft YaHei"/>
              </a:rPr>
              <a:t>▪ 阴影、角落、灰尘下面管不着</a:t>
            </a:r>
          </a:p>
          <a:p>
            <a:pPr>
              <a:spcAft>
                <a:spcPts val="1000"/>
              </a:spcAft>
            </a:pPr>
            <a:r>
              <a:rPr sz="1700">
                <a:solidFill>
                  <a:srgbClr val="222B33"/>
                </a:solidFill>
                <a:latin typeface="Microsoft YaHei"/>
              </a:rPr>
              <a:t>▪ 不能代替消毒剂擦拭</a:t>
            </a:r>
          </a:p>
          <a:p>
            <a:pPr>
              <a:spcAft>
                <a:spcPts val="1000"/>
              </a:spcAft>
            </a:pPr>
            <a:r>
              <a:rPr sz="1700">
                <a:solidFill>
                  <a:srgbClr val="222B33"/>
                </a:solidFill>
                <a:latin typeface="Microsoft YaHei"/>
              </a:rPr>
              <a:t>▪ 灯管老化，要定期检测更换</a:t>
            </a:r>
          </a:p>
          <a:p>
            <a:pPr>
              <a:spcAft>
                <a:spcPts val="1000"/>
              </a:spcAft>
            </a:pPr>
            <a:r>
              <a:rPr sz="1700">
                <a:solidFill>
                  <a:srgbClr val="222B33"/>
                </a:solidFill>
                <a:latin typeface="Microsoft YaHei"/>
              </a:rPr>
              <a:t>▪ 开灯时人离开；开多久按规程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紫外线只能杀灭直接照射到的表面和空气中的微生物，穿透力很弱：物品背后的阴影、角落、灰尘和污物下面都照不到。因此紫外消毒只能作为辅助手段，不能代替消毒剂擦拭和灭菌。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用紫外照射代替擦拭消毒</a:t>
            </a:r>
          </a:p>
          <a:p>
            <a:pPr>
              <a:spcAft>
                <a:spcPts val="1000"/>
              </a:spcAft>
            </a:pPr>
            <a:r>
              <a:rPr sz="1500">
                <a:solidFill>
                  <a:srgbClr val="222B33"/>
                </a:solidFill>
                <a:latin typeface="Microsoft YaHei"/>
              </a:rPr>
              <a:t>▪ 紫外灯亮着时开门查看</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湿热灭菌：靠饱和蒸汽穿透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高压蒸汽灭菌最常用也最可靠</a:t>
            </a:r>
          </a:p>
          <a:p>
            <a:pPr>
              <a:spcAft>
                <a:spcPts val="1000"/>
              </a:spcAft>
            </a:pPr>
            <a:r>
              <a:rPr sz="1700">
                <a:solidFill>
                  <a:srgbClr val="222B33"/>
                </a:solidFill>
                <a:latin typeface="Microsoft YaHei"/>
              </a:rPr>
              <a:t>▪ 加压让蒸汽温度升高</a:t>
            </a:r>
          </a:p>
          <a:p>
            <a:pPr>
              <a:spcAft>
                <a:spcPts val="1000"/>
              </a:spcAft>
            </a:pPr>
            <a:r>
              <a:rPr sz="1700">
                <a:solidFill>
                  <a:srgbClr val="222B33"/>
                </a:solidFill>
                <a:latin typeface="Microsoft YaHei"/>
              </a:rPr>
              <a:t>▪ 蒸汽要钻进物品中心才灭得透</a:t>
            </a:r>
          </a:p>
          <a:p>
            <a:pPr>
              <a:spcAft>
                <a:spcPts val="1000"/>
              </a:spcAft>
            </a:pPr>
            <a:r>
              <a:rPr sz="1700">
                <a:solidFill>
                  <a:srgbClr val="222B33"/>
                </a:solidFill>
                <a:latin typeface="Microsoft YaHei"/>
              </a:rPr>
              <a:t>▪ 装载松散，瓶盖拧松，袋口不扎死</a:t>
            </a:r>
          </a:p>
          <a:p>
            <a:pPr>
              <a:spcAft>
                <a:spcPts val="1000"/>
              </a:spcAft>
            </a:pPr>
            <a:r>
              <a:rPr sz="1700">
                <a:solidFill>
                  <a:srgbClr val="222B33"/>
                </a:solidFill>
                <a:latin typeface="Microsoft YaHei"/>
              </a:rPr>
              <a:t>▪ 参数按设备规程和验证结果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高压蒸汽灭菌是实验室最常用、最可靠的灭菌方法：在密闭容器中加压，使饱和蒸汽温度升高；高温蒸汽接触物品并在表面冷凝放热，使微生物的蛋白质变性而死亡。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灭菌筐塞满、袋口扎死</a:t>
            </a:r>
          </a:p>
          <a:p>
            <a:pPr>
              <a:spcAft>
                <a:spcPts val="1000"/>
              </a:spcAft>
            </a:pPr>
            <a:r>
              <a:rPr sz="1500">
                <a:solidFill>
                  <a:srgbClr val="222B33"/>
                </a:solidFill>
                <a:latin typeface="Microsoft YaHei"/>
              </a:rPr>
              <a:t>▪ 自行改参数、缩短时间</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灭菌效果要监测和验证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每锅看温度、压力、时间记录</a:t>
            </a:r>
          </a:p>
          <a:p>
            <a:pPr>
              <a:spcAft>
                <a:spcPts val="1000"/>
              </a:spcAft>
            </a:pPr>
            <a:r>
              <a:rPr sz="1700">
                <a:solidFill>
                  <a:srgbClr val="222B33"/>
                </a:solidFill>
                <a:latin typeface="Microsoft YaHei"/>
              </a:rPr>
              <a:t>▪ 指示胶带变色只说明经过灭菌</a:t>
            </a:r>
          </a:p>
          <a:p>
            <a:pPr>
              <a:spcAft>
                <a:spcPts val="1000"/>
              </a:spcAft>
            </a:pPr>
            <a:r>
              <a:rPr sz="1700">
                <a:solidFill>
                  <a:srgbClr val="222B33"/>
                </a:solidFill>
                <a:latin typeface="Microsoft YaHei"/>
              </a:rPr>
              <a:t>▪ 生物指示物定期验证能否杀灭</a:t>
            </a:r>
          </a:p>
          <a:p>
            <a:pPr>
              <a:spcAft>
                <a:spcPts val="1000"/>
              </a:spcAft>
            </a:pPr>
            <a:r>
              <a:rPr sz="1700">
                <a:solidFill>
                  <a:srgbClr val="222B33"/>
                </a:solidFill>
                <a:latin typeface="Microsoft YaHei"/>
              </a:rPr>
              <a:t>▪ 新装、维修后、换装法都要验证</a:t>
            </a:r>
          </a:p>
          <a:p>
            <a:pPr>
              <a:spcAft>
                <a:spcPts val="1000"/>
              </a:spcAft>
            </a:pPr>
            <a:r>
              <a:rPr sz="1700">
                <a:solidFill>
                  <a:srgbClr val="222B33"/>
                </a:solidFill>
                <a:latin typeface="Microsoft YaHei"/>
              </a:rPr>
              <a:t>▪ 不合格停用报告，记录存档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是否成功，要靠监测和验证，而不是“看着差不多”。常用三类监测：物理监测，每一锅记录温度、压力和时间；化学指示物，如包外的指示胶带和包内指示卡，变色只说明经过了灭菌过程，不等于中心已经灭透；生物指示物，内含耐热芽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指示胶带变色就认为灭透了</a:t>
            </a:r>
          </a:p>
          <a:p>
            <a:pPr>
              <a:spcAft>
                <a:spcPts val="1000"/>
              </a:spcAft>
            </a:pPr>
            <a:r>
              <a:rPr sz="1500">
                <a:solidFill>
                  <a:srgbClr val="222B33"/>
                </a:solidFill>
                <a:latin typeface="Microsoft YaHei"/>
              </a:rPr>
              <a:t>▪ 监测不合格仍继续使用</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熏蒸与气体灭菌：专人操作，通风合格再进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整间实验室或柜子去污用熏蒸</a:t>
            </a:r>
          </a:p>
          <a:p>
            <a:pPr>
              <a:spcAft>
                <a:spcPts val="1000"/>
              </a:spcAft>
            </a:pPr>
            <a:r>
              <a:rPr sz="1700">
                <a:solidFill>
                  <a:srgbClr val="222B33"/>
                </a:solidFill>
                <a:latin typeface="Microsoft YaHei"/>
              </a:rPr>
              <a:t>▪ 熏蒸药剂对人也有害</a:t>
            </a:r>
          </a:p>
          <a:p>
            <a:pPr>
              <a:spcAft>
                <a:spcPts val="1000"/>
              </a:spcAft>
            </a:pPr>
            <a:r>
              <a:rPr sz="1700">
                <a:solidFill>
                  <a:srgbClr val="222B33"/>
                </a:solidFill>
                <a:latin typeface="Microsoft YaHei"/>
              </a:rPr>
              <a:t>▪ 专人操作，先清场，门口挂牌</a:t>
            </a:r>
          </a:p>
          <a:p>
            <a:pPr>
              <a:spcAft>
                <a:spcPts val="1000"/>
              </a:spcAft>
            </a:pPr>
            <a:r>
              <a:rPr sz="1700">
                <a:solidFill>
                  <a:srgbClr val="222B33"/>
                </a:solidFill>
                <a:latin typeface="Microsoft YaHei"/>
              </a:rPr>
              <a:t>▪ 通风、检测合格后才能进去</a:t>
            </a:r>
          </a:p>
          <a:p>
            <a:pPr>
              <a:spcAft>
                <a:spcPts val="1000"/>
              </a:spcAft>
            </a:pPr>
            <a:r>
              <a:rPr sz="1700">
                <a:solidFill>
                  <a:srgbClr val="222B33"/>
                </a:solidFill>
                <a:latin typeface="Microsoft YaHei"/>
              </a:rPr>
              <a:t>▪ 气体灭菌有毒易燃，不提前开门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需要对整间实验室、生物安全柜整体去污时（如更换过滤器、设备维修搬迁、实验室停用或发生严重污染后），采用熏蒸消毒。熏蒸用的药剂对人同样有毒有害。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熏蒸期间无人看管、不挂牌</a:t>
            </a:r>
          </a:p>
          <a:p>
            <a:pPr>
              <a:spcAft>
                <a:spcPts val="1000"/>
              </a:spcAft>
            </a:pPr>
            <a:r>
              <a:rPr sz="1500">
                <a:solidFill>
                  <a:srgbClr val="222B33"/>
                </a:solidFill>
                <a:latin typeface="Microsoft YaHei"/>
              </a:rPr>
              <a:t>▪ 熏蒸后不检测就进入</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关于消毒和灭菌，下列说法正确的是：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消毒过的器皿就是无菌的</a:t>
            </a:r>
          </a:p>
          <a:p>
            <a:pPr algn="l"/>
            <a:r>
              <a:rPr sz="1500" b="0">
                <a:solidFill>
                  <a:srgbClr val="222B33"/>
                </a:solidFill>
                <a:latin typeface="Microsoft YaHei"/>
              </a:rPr>
              <a:t>B. 灭菌能杀灭包括芽孢在内的全部微生物</a:t>
            </a:r>
          </a:p>
          <a:p>
            <a:pPr algn="l"/>
            <a:r>
              <a:rPr sz="1500" b="0">
                <a:solidFill>
                  <a:srgbClr val="222B33"/>
                </a:solidFill>
                <a:latin typeface="Microsoft YaHei"/>
              </a:rPr>
              <a:t>C. 消毒和灭菌是同一个意思</a:t>
            </a:r>
          </a:p>
          <a:p>
            <a:pPr algn="l"/>
            <a:r>
              <a:rPr sz="1500" b="0">
                <a:solidFill>
                  <a:srgbClr val="222B33"/>
                </a:solidFill>
                <a:latin typeface="Microsoft YaHei"/>
              </a:rPr>
              <a:t>D. 紫外照射可以代替灭菌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判断：台面喷上消毒剂后立即擦干，就完成了消毒。</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配制消毒液时戴手套和护目镜</a:t>
            </a:r>
          </a:p>
          <a:p>
            <a:pPr algn="l"/>
            <a:r>
              <a:rPr sz="1500" b="0">
                <a:solidFill>
                  <a:srgbClr val="222B33"/>
                </a:solidFill>
                <a:latin typeface="Microsoft YaHei"/>
              </a:rPr>
              <a:t>B. 稀释液贴标签写配制日期</a:t>
            </a:r>
          </a:p>
          <a:p>
            <a:pPr algn="l"/>
            <a:r>
              <a:rPr sz="1500" b="0">
                <a:solidFill>
                  <a:srgbClr val="222B33"/>
                </a:solidFill>
                <a:latin typeface="Microsoft YaHei"/>
              </a:rPr>
              <a:t>C. 把含氯消毒剂和酸性清洁剂混合增强效果</a:t>
            </a:r>
          </a:p>
          <a:p>
            <a:pPr algn="l"/>
            <a:r>
              <a:rPr sz="1500" b="0">
                <a:solidFill>
                  <a:srgbClr val="222B33"/>
                </a:solidFill>
                <a:latin typeface="Microsoft YaHei"/>
              </a:rPr>
              <a:t>D. 乙醇远离酒精灯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判断：开着紫外灯照射 30 分钟后，生物安全柜就不必再用消毒剂擦拭。</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076 · 消毒与灭菌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076 消毒与灭菌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高压蒸汽灭菌后包外指示胶带变色了，说明：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物品已经彻底灭菌</a:t>
            </a:r>
          </a:p>
          <a:p>
            <a:pPr algn="l"/>
            <a:r>
              <a:rPr sz="1500" b="0">
                <a:solidFill>
                  <a:srgbClr val="222B33"/>
                </a:solidFill>
                <a:latin typeface="Microsoft YaHei"/>
              </a:rPr>
              <a:t>B. 物品经过了灭菌过程，是否灭透还要靠物理监测和生物指示物验证</a:t>
            </a:r>
          </a:p>
          <a:p>
            <a:pPr algn="l"/>
            <a:r>
              <a:rPr sz="1500" b="0">
                <a:solidFill>
                  <a:srgbClr val="222B33"/>
                </a:solidFill>
                <a:latin typeface="Microsoft YaHei"/>
              </a:rPr>
              <a:t>C. 设备不需要再验证</a:t>
            </a:r>
          </a:p>
          <a:p>
            <a:pPr algn="l"/>
            <a:r>
              <a:rPr sz="1500" b="0">
                <a:solidFill>
                  <a:srgbClr val="222B33"/>
                </a:solidFill>
                <a:latin typeface="Microsoft YaHei"/>
              </a:rPr>
              <a:t>D. 可以缩短下次灭菌时间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简答：实验室熏蒸消毒时要做到哪些安全要求？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消毒、去污、灭菌不是一回事</a:t>
            </a:r>
          </a:p>
          <a:p>
            <a:pPr>
              <a:spcAft>
                <a:spcPts val="800"/>
              </a:spcAft>
            </a:pPr>
            <a:r>
              <a:rPr sz="1500">
                <a:solidFill>
                  <a:srgbClr val="FFFFFF"/>
                </a:solidFill>
                <a:latin typeface="Microsoft YaHei"/>
              </a:rPr>
              <a:t>▪ K2  杀灭微生物的方法：热、化学、辐射</a:t>
            </a:r>
          </a:p>
          <a:p>
            <a:pPr>
              <a:spcAft>
                <a:spcPts val="800"/>
              </a:spcAft>
            </a:pPr>
            <a:r>
              <a:rPr sz="1500">
                <a:solidFill>
                  <a:srgbClr val="FFFFFF"/>
                </a:solidFill>
                <a:latin typeface="Microsoft YaHei"/>
              </a:rPr>
              <a:t>▪ K3  灭菌手段本身有危害，必须照规程</a:t>
            </a:r>
          </a:p>
          <a:p>
            <a:pPr>
              <a:spcAft>
                <a:spcPts val="800"/>
              </a:spcAft>
            </a:pPr>
            <a:r>
              <a:rPr sz="1500">
                <a:solidFill>
                  <a:srgbClr val="FFFFFF"/>
                </a:solidFill>
                <a:latin typeface="Microsoft YaHei"/>
              </a:rPr>
              <a:t>▪ K4  消毒剂要对得上微生物</a:t>
            </a:r>
          </a:p>
          <a:p>
            <a:pPr>
              <a:spcAft>
                <a:spcPts val="800"/>
              </a:spcAft>
            </a:pPr>
            <a:r>
              <a:rPr sz="1500">
                <a:solidFill>
                  <a:srgbClr val="FFFFFF"/>
                </a:solidFill>
                <a:latin typeface="Microsoft YaHei"/>
              </a:rPr>
              <a:t>▪ K5  保持湿润，等够作用时间</a:t>
            </a:r>
          </a:p>
          <a:p>
            <a:pPr>
              <a:spcAft>
                <a:spcPts val="800"/>
              </a:spcAft>
            </a:pPr>
            <a:r>
              <a:rPr sz="1500">
                <a:solidFill>
                  <a:srgbClr val="FFFFFF"/>
                </a:solidFill>
                <a:latin typeface="Microsoft YaHei"/>
              </a:rPr>
              <a:t>▪ K6  台面设备：开工前、收工后、洒了马上消毒</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配制消毒液：防护、标签、按期更换</a:t>
            </a:r>
          </a:p>
          <a:p>
            <a:pPr>
              <a:spcAft>
                <a:spcPts val="800"/>
              </a:spcAft>
            </a:pPr>
            <a:r>
              <a:rPr sz="1500">
                <a:solidFill>
                  <a:srgbClr val="FFFFFF"/>
                </a:solidFill>
                <a:latin typeface="Microsoft YaHei"/>
              </a:rPr>
              <a:t>▪ K8  消毒剂不乱混，乙醇远离火源</a:t>
            </a:r>
          </a:p>
          <a:p>
            <a:pPr>
              <a:spcAft>
                <a:spcPts val="800"/>
              </a:spcAft>
            </a:pPr>
            <a:r>
              <a:rPr sz="1500">
                <a:solidFill>
                  <a:srgbClr val="FFFFFF"/>
                </a:solidFill>
                <a:latin typeface="Microsoft YaHei"/>
              </a:rPr>
              <a:t>▪ K9  紫外消毒只是辅助</a:t>
            </a:r>
          </a:p>
          <a:p>
            <a:pPr>
              <a:spcAft>
                <a:spcPts val="800"/>
              </a:spcAft>
            </a:pPr>
            <a:r>
              <a:rPr sz="1500">
                <a:solidFill>
                  <a:srgbClr val="FFFFFF"/>
                </a:solidFill>
                <a:latin typeface="Microsoft YaHei"/>
              </a:rPr>
              <a:t>▪ K10  湿热灭菌：靠饱和蒸汽穿透</a:t>
            </a:r>
          </a:p>
          <a:p>
            <a:pPr>
              <a:spcAft>
                <a:spcPts val="800"/>
              </a:spcAft>
            </a:pPr>
            <a:r>
              <a:rPr sz="1500">
                <a:solidFill>
                  <a:srgbClr val="FFFFFF"/>
                </a:solidFill>
                <a:latin typeface="Microsoft YaHei"/>
              </a:rPr>
              <a:t>▪ K11  灭菌效果要监测和验证</a:t>
            </a:r>
          </a:p>
          <a:p>
            <a:pPr>
              <a:spcAft>
                <a:spcPts val="800"/>
              </a:spcAft>
            </a:pPr>
            <a:r>
              <a:rPr sz="1500">
                <a:solidFill>
                  <a:srgbClr val="FFFFFF"/>
                </a:solidFill>
                <a:latin typeface="Microsoft YaHei"/>
              </a:rPr>
              <a:t>▪ K12  熏蒸与气体灭菌：专人操作，通风合格再进</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感染性废物处置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适用对象：从事微生物、细胞、分子生物学、医学、农学、环境等生物实验的高校本科生、研究生和教职工（必修）；实验室负责人和废物管理人员重点学习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能说出哪些属于感染性废物，做到与化学废物、锐器分类收集，实验前定好废物管理方案。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能做到锐器进锐器盒、不回套针帽，感染性废物用专用袋双层包装、不超过四分之三封口、不用手压。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能判断液体废物、培养物、工程菌与转基因材料的正确处理：不倒下水道、不开盖查看污染瓶、先灭活、不私自带出。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能说出出实验室前灭菌确认登记、专用包装标签暂存、交有资质单位并留存转移联单的要求。</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《中华人民共和国生物安全法》：病原微生物实验室应防止病原微生物扩散，实验废物按规定处置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《中华人民共和国固体废物污染环境防治法》：医疗废物按国家危险废物名录管理，集中处置</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《医疗废物管理条例》（以现行文本为准）：医疗废物分类收集、专用包装和警示标识、暂时贮存、交接登记、交有资质单位集中处置，禁止混入生活垃圾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《医疗卫生机构医疗废物管理办法》（以现行文本为准）：分类收集、包装容器、暂存设施、交接与登记要求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《国家危险废物名录》（以现行文本为准）：医疗废物列入危险废物管理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《病原微生物实验室生物安全管理条例》（以现行文本为准）：实验室产生的废水、废气和危险废物按规定处置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233（以现行文本为准）《病原微生物实验室生物安全通用准则》：废物处置程序、包装与去污染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本校实验室废物管理规定和本实验室感染性废物处置标准操作规程（以本校规定为准）</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先定废物管理方案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做实验前先想好废物怎么处理</a:t>
            </a:r>
          </a:p>
          <a:p>
            <a:pPr>
              <a:spcAft>
                <a:spcPts val="1000"/>
              </a:spcAft>
            </a:pPr>
            <a:r>
              <a:rPr sz="2000">
                <a:solidFill>
                  <a:srgbClr val="222B33"/>
                </a:solidFill>
                <a:latin typeface="Microsoft YaHei"/>
              </a:rPr>
              <a:t>▪ 分类、暂存、转运、处置环环写清</a:t>
            </a:r>
          </a:p>
          <a:p>
            <a:pPr>
              <a:spcAft>
                <a:spcPts val="1000"/>
              </a:spcAft>
            </a:pPr>
            <a:r>
              <a:rPr sz="2000">
                <a:solidFill>
                  <a:srgbClr val="222B33"/>
                </a:solidFill>
                <a:latin typeface="Microsoft YaHei"/>
              </a:rPr>
              <a:t>▪ 处理效果要验证</a:t>
            </a:r>
          </a:p>
          <a:p>
            <a:pPr>
              <a:spcAft>
                <a:spcPts val="1000"/>
              </a:spcAft>
            </a:pPr>
            <a:r>
              <a:rPr sz="2000">
                <a:solidFill>
                  <a:srgbClr val="222B33"/>
                </a:solidFill>
                <a:latin typeface="Microsoft YaHei"/>
              </a:rPr>
              <a:t>▪ 每个实验室有自己的处置规程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感染性废物的处理不是实验做完才考虑的事。开展生物因子实验之前，就要想好会产生哪些废物、用什么容器装、怎样灭活、送到哪里。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实验做完才找废物袋和去向</a:t>
            </a:r>
          </a:p>
          <a:p>
            <a:pPr>
              <a:spcAft>
                <a:spcPts val="1000"/>
              </a:spcAft>
            </a:pPr>
            <a:r>
              <a:rPr sz="1500">
                <a:solidFill>
                  <a:srgbClr val="222B33"/>
                </a:solidFill>
                <a:latin typeface="Microsoft YaHei"/>
              </a:rPr>
              <a:t>▪ 照搬别的实验室规程，不结合本室情况</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先分类：感染性废物单独收集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培养物、菌种、血液和接触过的耗材都算</a:t>
            </a:r>
          </a:p>
          <a:p>
            <a:pPr>
              <a:spcAft>
                <a:spcPts val="1000"/>
              </a:spcAft>
            </a:pPr>
            <a:r>
              <a:rPr sz="1700">
                <a:solidFill>
                  <a:srgbClr val="222B33"/>
                </a:solidFill>
                <a:latin typeface="Microsoft YaHei"/>
              </a:rPr>
              <a:t>▪ 检测产生的废物一律按感染性对待</a:t>
            </a:r>
          </a:p>
          <a:p>
            <a:pPr>
              <a:spcAft>
                <a:spcPts val="1000"/>
              </a:spcAft>
            </a:pPr>
            <a:r>
              <a:rPr sz="1700">
                <a:solidFill>
                  <a:srgbClr val="222B33"/>
                </a:solidFill>
                <a:latin typeface="Microsoft YaHei"/>
              </a:rPr>
              <a:t>▪ 感染性、化学、锐器分开收集</a:t>
            </a:r>
          </a:p>
          <a:p>
            <a:pPr>
              <a:spcAft>
                <a:spcPts val="1000"/>
              </a:spcAft>
            </a:pPr>
            <a:r>
              <a:rPr sz="1700">
                <a:solidFill>
                  <a:srgbClr val="222B33"/>
                </a:solidFill>
                <a:latin typeface="Microsoft YaHei"/>
              </a:rPr>
              <a:t>▪ 化学废液别混进生物废物袋</a:t>
            </a:r>
          </a:p>
          <a:p>
            <a:pPr>
              <a:spcAft>
                <a:spcPts val="1000"/>
              </a:spcAft>
            </a:pPr>
            <a:r>
              <a:rPr sz="1700">
                <a:solidFill>
                  <a:srgbClr val="222B33"/>
                </a:solidFill>
                <a:latin typeface="Microsoft YaHei"/>
              </a:rPr>
              <a:t>▪ 拿不准看指引、问老师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是含有或可能含有病原微生物、有引发感染风险的废物，包括：培养物和菌（毒）种、血液及血液制品、临床和环境样本、接触过它们的吸头、平板、手套、纸巾、细胞培养耗材，检测仪器用过的卡盒和试剂条等。实验动物尸体和组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把感染性废物当普通垃圾扔</a:t>
            </a:r>
          </a:p>
          <a:p>
            <a:pPr>
              <a:spcAft>
                <a:spcPts val="1000"/>
              </a:spcAft>
            </a:pPr>
            <a:r>
              <a:rPr sz="1500">
                <a:solidFill>
                  <a:srgbClr val="222B33"/>
                </a:solidFill>
                <a:latin typeface="Microsoft YaHei"/>
              </a:rPr>
              <a:t>▪ 把化学废液倒进生物废物袋一起灭菌</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锐器进锐器盒，不回套针帽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针头、刀片、碎玻璃不进袋，进锐器盒</a:t>
            </a:r>
          </a:p>
          <a:p>
            <a:pPr>
              <a:spcAft>
                <a:spcPts val="1000"/>
              </a:spcAft>
            </a:pPr>
            <a:r>
              <a:rPr sz="1700">
                <a:solidFill>
                  <a:srgbClr val="222B33"/>
                </a:solidFill>
                <a:latin typeface="Microsoft YaHei"/>
              </a:rPr>
              <a:t>▪ 别随手放在敞口盘子里</a:t>
            </a:r>
          </a:p>
          <a:p>
            <a:pPr>
              <a:spcAft>
                <a:spcPts val="1000"/>
              </a:spcAft>
            </a:pPr>
            <a:r>
              <a:rPr sz="1700">
                <a:solidFill>
                  <a:srgbClr val="222B33"/>
                </a:solidFill>
                <a:latin typeface="Microsoft YaHei"/>
              </a:rPr>
              <a:t>▪ 用过的针不回套、不掰弯、不拆针头</a:t>
            </a:r>
          </a:p>
          <a:p>
            <a:pPr>
              <a:spcAft>
                <a:spcPts val="1000"/>
              </a:spcAft>
            </a:pPr>
            <a:r>
              <a:rPr sz="1700">
                <a:solidFill>
                  <a:srgbClr val="222B33"/>
                </a:solidFill>
                <a:latin typeface="Microsoft YaHei"/>
              </a:rPr>
              <a:t>▪ 装到四分之三或警戒线就封盒</a:t>
            </a:r>
          </a:p>
          <a:p>
            <a:pPr>
              <a:spcAft>
                <a:spcPts val="1000"/>
              </a:spcAft>
            </a:pPr>
            <a:r>
              <a:rPr sz="1700">
                <a:solidFill>
                  <a:srgbClr val="222B33"/>
                </a:solidFill>
                <a:latin typeface="Microsoft YaHei"/>
              </a:rPr>
              <a:t>▪ 硬往里塞最容易扎伤手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染过生物材料的针头、刀片、玻片、碎玻璃等是感染性锐器，扎破皮肤就可能直接造成感染。它们不能装进塑料袋，要放进防刺穿、防渗漏、有生物危害标志的专用锐器盒；锐器盒放在操作位置旁边，用完立即投入，不能随手放在敞口盘子或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用双手回套针帽</a:t>
            </a:r>
          </a:p>
          <a:p>
            <a:pPr>
              <a:spcAft>
                <a:spcPts val="1000"/>
              </a:spcAft>
            </a:pPr>
            <a:r>
              <a:rPr sz="1500">
                <a:solidFill>
                  <a:srgbClr val="222B33"/>
                </a:solidFill>
                <a:latin typeface="Microsoft YaHei"/>
              </a:rPr>
              <a:t>▪ 锐器盒装满冒尖还往里塞</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专用袋双层包装，别装满别手压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用专用袋和带盖容器装</a:t>
            </a:r>
          </a:p>
          <a:p>
            <a:pPr>
              <a:spcAft>
                <a:spcPts val="1000"/>
              </a:spcAft>
            </a:pPr>
            <a:r>
              <a:rPr sz="1700">
                <a:solidFill>
                  <a:srgbClr val="222B33"/>
                </a:solidFill>
                <a:latin typeface="Microsoft YaHei"/>
              </a:rPr>
              <a:t>▪ 双层装袋：内袋破了外袋兜着</a:t>
            </a:r>
          </a:p>
          <a:p>
            <a:pPr>
              <a:spcAft>
                <a:spcPts val="1000"/>
              </a:spcAft>
            </a:pPr>
            <a:r>
              <a:rPr sz="1700">
                <a:solidFill>
                  <a:srgbClr val="222B33"/>
                </a:solidFill>
                <a:latin typeface="Microsoft YaHei"/>
              </a:rPr>
              <a:t>▪ 内袋加消毒剂扎紧，外袋再扎</a:t>
            </a:r>
          </a:p>
          <a:p>
            <a:pPr>
              <a:spcAft>
                <a:spcPts val="1000"/>
              </a:spcAft>
            </a:pPr>
            <a:r>
              <a:rPr sz="1700">
                <a:solidFill>
                  <a:srgbClr val="222B33"/>
                </a:solidFill>
                <a:latin typeface="Microsoft YaHei"/>
              </a:rPr>
              <a:t>▪ 袋子和桶的外面也要消毒</a:t>
            </a:r>
          </a:p>
          <a:p>
            <a:pPr>
              <a:spcAft>
                <a:spcPts val="1000"/>
              </a:spcAft>
            </a:pPr>
            <a:r>
              <a:rPr sz="1700">
                <a:solidFill>
                  <a:srgbClr val="222B33"/>
                </a:solidFill>
                <a:latin typeface="Microsoft YaHei"/>
              </a:rPr>
              <a:t>▪ 别装太满，千万别用手往下压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用耐高压灭菌、印有生物危害标志的专用袋，套在带盖、可脚踏开启的容器里。双层装袋是常用的做法：内袋万一被戳破，还有外袋兜着。废物容器在使用前就套好两层袋（在生物安全柜内使用的，进柜前套好），实验中废物直接放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只用一层普通垃圾袋</a:t>
            </a:r>
          </a:p>
          <a:p>
            <a:pPr>
              <a:spcAft>
                <a:spcPts val="1000"/>
              </a:spcAft>
            </a:pPr>
            <a:r>
              <a:rPr sz="1500">
                <a:solidFill>
                  <a:srgbClr val="222B33"/>
                </a:solidFill>
                <a:latin typeface="Microsoft YaHei"/>
              </a:rPr>
              <a:t>▪ 用手把袋里的废物往下压实</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液体废物不进下水道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液体培养物不能直接倒下水道</a:t>
            </a:r>
          </a:p>
          <a:p>
            <a:pPr>
              <a:spcAft>
                <a:spcPts val="1000"/>
              </a:spcAft>
            </a:pPr>
            <a:r>
              <a:rPr sz="1700">
                <a:solidFill>
                  <a:srgbClr val="222B33"/>
                </a:solidFill>
                <a:latin typeface="Microsoft YaHei"/>
              </a:rPr>
              <a:t>▪ 收进带盖容器，放进托盘防打翻</a:t>
            </a:r>
          </a:p>
          <a:p>
            <a:pPr>
              <a:spcAft>
                <a:spcPts val="1000"/>
              </a:spcAft>
            </a:pPr>
            <a:r>
              <a:rPr sz="1700">
                <a:solidFill>
                  <a:srgbClr val="222B33"/>
                </a:solidFill>
                <a:latin typeface="Microsoft YaHei"/>
              </a:rPr>
              <a:t>▪ 按规程消毒或灭菌后再处置</a:t>
            </a:r>
          </a:p>
          <a:p>
            <a:pPr>
              <a:spcAft>
                <a:spcPts val="1000"/>
              </a:spcAft>
            </a:pPr>
            <a:r>
              <a:rPr sz="1700">
                <a:solidFill>
                  <a:srgbClr val="222B33"/>
                </a:solidFill>
                <a:latin typeface="Microsoft YaHei"/>
              </a:rPr>
              <a:t>▪ 实验菌株不往外环境排放</a:t>
            </a:r>
          </a:p>
          <a:p>
            <a:pPr>
              <a:spcAft>
                <a:spcPts val="1000"/>
              </a:spcAft>
            </a:pPr>
            <a:r>
              <a:rPr sz="1700">
                <a:solidFill>
                  <a:srgbClr val="222B33"/>
                </a:solidFill>
                <a:latin typeface="Microsoft YaHei"/>
              </a:rPr>
              <a:t>▪ 野外用菌须经评估和批准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液体培养物、废培养液、含活菌的菌液不能直接倒进水槽和下水道。收集在带盖、不易破碎的容器里，容器放进托盘，防止打翻；按规程用消毒剂处理或高压灭菌后，再按本校规定处置。消毒后的液体如含化学品，按化学废液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把菌液直接倒进水槽冲掉</a:t>
            </a:r>
          </a:p>
          <a:p>
            <a:pPr>
              <a:spcAft>
                <a:spcPts val="1000"/>
              </a:spcAft>
            </a:pPr>
            <a:r>
              <a:rPr sz="1500">
                <a:solidFill>
                  <a:srgbClr val="222B33"/>
                </a:solidFill>
                <a:latin typeface="Microsoft YaHei"/>
              </a:rPr>
              <a:t>▪ 废液瓶敞口放在台面边上</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培养物先灭活，污染瓶不开盖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计完数的平板里还是活菌</a:t>
            </a:r>
          </a:p>
          <a:p>
            <a:pPr>
              <a:spcAft>
                <a:spcPts val="1000"/>
              </a:spcAft>
            </a:pPr>
            <a:r>
              <a:rPr sz="1700">
                <a:solidFill>
                  <a:srgbClr val="222B33"/>
                </a:solidFill>
                <a:latin typeface="Microsoft YaHei"/>
              </a:rPr>
              <a:t>▪ 平板、吸头、接种环先装袋灭菌</a:t>
            </a:r>
          </a:p>
          <a:p>
            <a:pPr>
              <a:spcAft>
                <a:spcPts val="1000"/>
              </a:spcAft>
            </a:pPr>
            <a:r>
              <a:rPr sz="1700">
                <a:solidFill>
                  <a:srgbClr val="222B33"/>
                </a:solidFill>
                <a:latin typeface="Microsoft YaHei"/>
              </a:rPr>
              <a:t>▪ 长霉的培养瓶别打开闻、打开看</a:t>
            </a:r>
          </a:p>
          <a:p>
            <a:pPr>
              <a:spcAft>
                <a:spcPts val="1000"/>
              </a:spcAft>
            </a:pPr>
            <a:r>
              <a:rPr sz="1700">
                <a:solidFill>
                  <a:srgbClr val="222B33"/>
                </a:solidFill>
                <a:latin typeface="Microsoft YaHei"/>
              </a:rPr>
              <a:t>▪ 整瓶不开盖直接灭菌</a:t>
            </a:r>
          </a:p>
          <a:p>
            <a:pPr>
              <a:spcAft>
                <a:spcPts val="1000"/>
              </a:spcAft>
            </a:pPr>
            <a:r>
              <a:rPr sz="1700">
                <a:solidFill>
                  <a:srgbClr val="222B33"/>
                </a:solidFill>
                <a:latin typeface="Microsoft YaHei"/>
              </a:rPr>
              <a:t>▪ 培养物不能私自带出实验室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用过的平板、试管、吸头、接种环等，即使实验已经结束、计数已经完成，里面仍然是大量活菌，必须先放进高压灭菌袋，灭菌杀灭全部活菌后，再按感染性废物交学校统一处置，不能直接扔垃圾桶，也不能倒下水道。病原和实验菌株不能外泄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计完数的平板直接扔进垃圾桶</a:t>
            </a:r>
          </a:p>
          <a:p>
            <a:pPr>
              <a:spcAft>
                <a:spcPts val="1000"/>
              </a:spcAft>
            </a:pPr>
            <a:r>
              <a:rPr sz="1500">
                <a:solidFill>
                  <a:srgbClr val="222B33"/>
                </a:solidFill>
                <a:latin typeface="Microsoft YaHei"/>
              </a:rPr>
              <a:t>▪ 打开污染的培养瓶闻气味</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工程菌与转基因材料：灭活、登记、不带出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工程菌带抗性基因，不能外泄</a:t>
            </a:r>
          </a:p>
          <a:p>
            <a:pPr>
              <a:spcAft>
                <a:spcPts val="1000"/>
              </a:spcAft>
            </a:pPr>
            <a:r>
              <a:rPr sz="1700">
                <a:solidFill>
                  <a:srgbClr val="222B33"/>
                </a:solidFill>
                <a:latin typeface="Microsoft YaHei"/>
              </a:rPr>
              <a:t>▪ 培养物和耗材先灭活再处置</a:t>
            </a:r>
          </a:p>
          <a:p>
            <a:pPr>
              <a:spcAft>
                <a:spcPts val="1000"/>
              </a:spcAft>
            </a:pPr>
            <a:r>
              <a:rPr sz="1700">
                <a:solidFill>
                  <a:srgbClr val="222B33"/>
                </a:solidFill>
                <a:latin typeface="Microsoft YaHei"/>
              </a:rPr>
              <a:t>▪ 组培苗和转基因材料不得私自带走</a:t>
            </a:r>
          </a:p>
          <a:p>
            <a:pPr>
              <a:spcAft>
                <a:spcPts val="1000"/>
              </a:spcAft>
            </a:pPr>
            <a:r>
              <a:rPr sz="1700">
                <a:solidFill>
                  <a:srgbClr val="222B33"/>
                </a:solidFill>
                <a:latin typeface="Microsoft YaHei"/>
              </a:rPr>
              <a:t>▪ 试验结束清掉自生苗</a:t>
            </a:r>
          </a:p>
          <a:p>
            <a:pPr>
              <a:spcAft>
                <a:spcPts val="1000"/>
              </a:spcAft>
            </a:pPr>
            <a:r>
              <a:rPr sz="1700">
                <a:solidFill>
                  <a:srgbClr val="222B33"/>
                </a:solidFill>
                <a:latin typeface="Microsoft YaHei"/>
              </a:rPr>
              <a:t>▪ 菌株和处理都要登记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基因工程菌常带有抗生素抗性基因等外源基因，一旦外泄可能在环境中扩散。含工程菌的培养物、废液和耗材收进专用容器，先灭活（如高压灭菌），再按规定分类处置。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工程菌菌液直接倒进下水道</a:t>
            </a:r>
          </a:p>
          <a:p>
            <a:pPr>
              <a:spcAft>
                <a:spcPts val="1000"/>
              </a:spcAft>
            </a:pPr>
            <a:r>
              <a:rPr sz="1500">
                <a:solidFill>
                  <a:srgbClr val="222B33"/>
                </a:solidFill>
                <a:latin typeface="Microsoft YaHei"/>
              </a:rPr>
              <a:t>▪ 把转基因苗带回宿舍养</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出实验室前先灭菌，确认并登记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感染性废物出实验室前先灭菌</a:t>
            </a:r>
          </a:p>
          <a:p>
            <a:pPr>
              <a:spcAft>
                <a:spcPts val="1000"/>
              </a:spcAft>
            </a:pPr>
            <a:r>
              <a:rPr sz="2000">
                <a:solidFill>
                  <a:srgbClr val="222B33"/>
                </a:solidFill>
                <a:latin typeface="Microsoft YaHei"/>
              </a:rPr>
              <a:t>▪ 按本室手册，由培训过的人操作</a:t>
            </a:r>
          </a:p>
          <a:p>
            <a:pPr>
              <a:spcAft>
                <a:spcPts val="1000"/>
              </a:spcAft>
            </a:pPr>
            <a:r>
              <a:rPr sz="2000">
                <a:solidFill>
                  <a:srgbClr val="222B33"/>
                </a:solidFill>
                <a:latin typeface="Microsoft YaHei"/>
              </a:rPr>
              <a:t>▪ 用指示物确认灭菌到位</a:t>
            </a:r>
          </a:p>
          <a:p>
            <a:pPr>
              <a:spcAft>
                <a:spcPts val="1000"/>
              </a:spcAft>
            </a:pPr>
            <a:r>
              <a:rPr sz="2000">
                <a:solidFill>
                  <a:srgbClr val="222B33"/>
                </a:solidFill>
                <a:latin typeface="Microsoft YaHei"/>
              </a:rPr>
              <a:t>▪ 每锅登记，合格了再往外送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国内高校实验室的感染性废物，一般要先在实验室内（或本单位指定地点）高压蒸汽灭菌，灭菌合格后再离开实验室，交学校统一处置。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没有灭菌就把感染性废物送出实验室</a:t>
            </a:r>
          </a:p>
          <a:p>
            <a:pPr>
              <a:spcAft>
                <a:spcPts val="1000"/>
              </a:spcAft>
            </a:pPr>
            <a:r>
              <a:rPr sz="1500">
                <a:solidFill>
                  <a:srgbClr val="222B33"/>
                </a:solidFill>
                <a:latin typeface="Microsoft YaHei"/>
              </a:rPr>
              <a:t>▪ 灭菌不登记，结果无据可查</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专用包装、标签、暂存，及时清运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灭菌后装进医疗废物专用包装</a:t>
            </a:r>
          </a:p>
          <a:p>
            <a:pPr>
              <a:spcAft>
                <a:spcPts val="1000"/>
              </a:spcAft>
            </a:pPr>
            <a:r>
              <a:rPr sz="1700">
                <a:solidFill>
                  <a:srgbClr val="222B33"/>
                </a:solidFill>
                <a:latin typeface="Microsoft YaHei"/>
              </a:rPr>
              <a:t>▪ 贴标签：哪个实验室、什么时间</a:t>
            </a:r>
          </a:p>
          <a:p>
            <a:pPr>
              <a:spcAft>
                <a:spcPts val="1000"/>
              </a:spcAft>
            </a:pPr>
            <a:r>
              <a:rPr sz="1700">
                <a:solidFill>
                  <a:srgbClr val="222B33"/>
                </a:solidFill>
                <a:latin typeface="Microsoft YaHei"/>
              </a:rPr>
              <a:t>▪ 不能随手堆在走廊、楼道</a:t>
            </a:r>
          </a:p>
          <a:p>
            <a:pPr>
              <a:spcAft>
                <a:spcPts val="1000"/>
              </a:spcAft>
            </a:pPr>
            <a:r>
              <a:rPr sz="1700">
                <a:solidFill>
                  <a:srgbClr val="222B33"/>
                </a:solidFill>
                <a:latin typeface="Microsoft YaHei"/>
              </a:rPr>
              <a:t>▪ 放进专门的暂存点或转运箱</a:t>
            </a:r>
          </a:p>
          <a:p>
            <a:pPr>
              <a:spcAft>
                <a:spcPts val="1000"/>
              </a:spcAft>
            </a:pPr>
            <a:r>
              <a:rPr sz="1700">
                <a:solidFill>
                  <a:srgbClr val="222B33"/>
                </a:solidFill>
                <a:latin typeface="Microsoft YaHei"/>
              </a:rPr>
              <a:t>▪ 按时清运，不长时间存放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灭菌后的感染性废物按本校规定装进医疗废物专用包装袋或容器（有警示标识），锐器盒单独装。包装外贴好标签，写明产生的实验室、日期、废物类别等。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废物袋没标签，来源不明</a:t>
            </a:r>
          </a:p>
          <a:p>
            <a:pPr>
              <a:spcAft>
                <a:spcPts val="1000"/>
              </a:spcAft>
            </a:pPr>
            <a:r>
              <a:rPr sz="1500">
                <a:solidFill>
                  <a:srgbClr val="222B33"/>
                </a:solidFill>
                <a:latin typeface="Microsoft YaHei"/>
              </a:rPr>
              <a:t>▪ 废物袋长期堆在楼道</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交有资质单位，联单存档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交有资质的单位统一处置</a:t>
            </a:r>
          </a:p>
          <a:p>
            <a:pPr>
              <a:spcAft>
                <a:spcPts val="1000"/>
              </a:spcAft>
            </a:pPr>
            <a:r>
              <a:rPr sz="1700">
                <a:solidFill>
                  <a:srgbClr val="222B33"/>
                </a:solidFill>
                <a:latin typeface="Microsoft YaHei"/>
              </a:rPr>
              <a:t>▪ 交接时填好登记和转移联单</a:t>
            </a:r>
          </a:p>
          <a:p>
            <a:pPr>
              <a:spcAft>
                <a:spcPts val="1000"/>
              </a:spcAft>
            </a:pPr>
            <a:r>
              <a:rPr sz="1700">
                <a:solidFill>
                  <a:srgbClr val="222B33"/>
                </a:solidFill>
                <a:latin typeface="Microsoft YaHei"/>
              </a:rPr>
              <a:t>▪ 联单存档，去向可查</a:t>
            </a:r>
          </a:p>
          <a:p>
            <a:pPr>
              <a:spcAft>
                <a:spcPts val="1000"/>
              </a:spcAft>
            </a:pPr>
            <a:r>
              <a:rPr sz="1700">
                <a:solidFill>
                  <a:srgbClr val="222B33"/>
                </a:solidFill>
                <a:latin typeface="Microsoft YaHei"/>
              </a:rPr>
              <a:t>▪ 不混生活垃圾，不交无资质的人</a:t>
            </a:r>
          </a:p>
          <a:p>
            <a:pPr>
              <a:spcAft>
                <a:spcPts val="1000"/>
              </a:spcAft>
            </a:pPr>
            <a:r>
              <a:rPr sz="1700">
                <a:solidFill>
                  <a:srgbClr val="222B33"/>
                </a:solidFill>
                <a:latin typeface="Microsoft YaHei"/>
              </a:rPr>
              <a:t>▪ 实验室不能自己焚烧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感染性废物（医疗废物）属于国家危险废物名录管理的危险废物，由学校统一交给有资质的医疗废物集中处置单位，用高温焚烧等方式无害化处置。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灭菌后就当生活垃圾扔了</a:t>
            </a:r>
          </a:p>
          <a:p>
            <a:pPr>
              <a:spcAft>
                <a:spcPts val="1000"/>
              </a:spcAft>
            </a:pPr>
            <a:r>
              <a:rPr sz="1500">
                <a:solidFill>
                  <a:srgbClr val="222B33"/>
                </a:solidFill>
                <a:latin typeface="Microsoft YaHei"/>
              </a:rPr>
              <a:t>▪ 把废物交给收废品的人</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下列废物中，应该放进锐器盒的是：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用过的手套</a:t>
            </a:r>
          </a:p>
          <a:p>
            <a:pPr algn="l"/>
            <a:r>
              <a:rPr sz="1500" b="0">
                <a:solidFill>
                  <a:srgbClr val="222B33"/>
                </a:solidFill>
                <a:latin typeface="Microsoft YaHei"/>
              </a:rPr>
              <a:t>B. 用过的平板</a:t>
            </a:r>
          </a:p>
          <a:p>
            <a:pPr algn="l"/>
            <a:r>
              <a:rPr sz="1500" b="0">
                <a:solidFill>
                  <a:srgbClr val="222B33"/>
                </a:solidFill>
                <a:latin typeface="Microsoft YaHei"/>
              </a:rPr>
              <a:t>C. 沾染菌液的针头和碎玻片</a:t>
            </a:r>
          </a:p>
          <a:p>
            <a:pPr algn="l"/>
            <a:r>
              <a:rPr sz="1500" b="0">
                <a:solidFill>
                  <a:srgbClr val="222B33"/>
                </a:solidFill>
                <a:latin typeface="Microsoft YaHei"/>
              </a:rPr>
              <a:t>D. 擦台面的纸巾</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判断：计完数的平板实验已经结束，可以直接丢进普通垃圾桶。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感染性废物袋快装满时，正确的做法是：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用手压实再多装一些</a:t>
            </a:r>
          </a:p>
          <a:p>
            <a:pPr algn="l"/>
            <a:r>
              <a:rPr sz="1500" b="0">
                <a:solidFill>
                  <a:srgbClr val="222B33"/>
                </a:solidFill>
                <a:latin typeface="Microsoft YaHei"/>
              </a:rPr>
              <a:t>B. 不超过四分之三就扎口，换新袋</a:t>
            </a:r>
          </a:p>
          <a:p>
            <a:pPr algn="l"/>
            <a:r>
              <a:rPr sz="1500" b="0">
                <a:solidFill>
                  <a:srgbClr val="222B33"/>
                </a:solidFill>
                <a:latin typeface="Microsoft YaHei"/>
              </a:rPr>
              <a:t>C. 装满冒尖再扎</a:t>
            </a:r>
          </a:p>
          <a:p>
            <a:pPr algn="l"/>
            <a:r>
              <a:rPr sz="1500" b="0">
                <a:solidFill>
                  <a:srgbClr val="222B33"/>
                </a:solidFill>
                <a:latin typeface="Microsoft YaHei"/>
              </a:rPr>
              <a:t>D. 把袋口敞着等清运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判断：液体菌液加大量自来水稀释后，可以倒进下水道。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077 · 感染性废物处置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077 感染性废物处置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灭菌后的感染性废物最终应该：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混进生活垃圾</a:t>
            </a:r>
          </a:p>
          <a:p>
            <a:pPr algn="l"/>
            <a:r>
              <a:rPr sz="1500" b="0">
                <a:solidFill>
                  <a:srgbClr val="222B33"/>
                </a:solidFill>
                <a:latin typeface="Microsoft YaHei"/>
              </a:rPr>
              <a:t>B. 交给收废品的人</a:t>
            </a:r>
          </a:p>
          <a:p>
            <a:pPr algn="l"/>
            <a:r>
              <a:rPr sz="1500" b="0">
                <a:solidFill>
                  <a:srgbClr val="222B33"/>
                </a:solidFill>
                <a:latin typeface="Microsoft YaHei"/>
              </a:rPr>
              <a:t>C. 在实验室里自己焚烧</a:t>
            </a:r>
          </a:p>
          <a:p>
            <a:pPr algn="l"/>
            <a:r>
              <a:rPr sz="1500" b="0">
                <a:solidFill>
                  <a:srgbClr val="222B33"/>
                </a:solidFill>
                <a:latin typeface="Microsoft YaHei"/>
              </a:rPr>
              <a:t>D. 装进专用包装贴标签，暂存后交有资质单位处置并填写转移联单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简答：培养瓶长了霉，应该怎样处理？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先定废物管理方案</a:t>
            </a:r>
          </a:p>
          <a:p>
            <a:pPr>
              <a:spcAft>
                <a:spcPts val="800"/>
              </a:spcAft>
            </a:pPr>
            <a:r>
              <a:rPr sz="1800">
                <a:solidFill>
                  <a:srgbClr val="FFFFFF"/>
                </a:solidFill>
                <a:latin typeface="Microsoft YaHei"/>
              </a:rPr>
              <a:t>▪ K2  先分类：感染性废物单独收集</a:t>
            </a:r>
          </a:p>
          <a:p>
            <a:pPr>
              <a:spcAft>
                <a:spcPts val="800"/>
              </a:spcAft>
            </a:pPr>
            <a:r>
              <a:rPr sz="1800">
                <a:solidFill>
                  <a:srgbClr val="FFFFFF"/>
                </a:solidFill>
                <a:latin typeface="Microsoft YaHei"/>
              </a:rPr>
              <a:t>▪ K3  锐器进锐器盒，不回套针帽</a:t>
            </a:r>
          </a:p>
          <a:p>
            <a:pPr>
              <a:spcAft>
                <a:spcPts val="800"/>
              </a:spcAft>
            </a:pPr>
            <a:r>
              <a:rPr sz="1800">
                <a:solidFill>
                  <a:srgbClr val="FFFFFF"/>
                </a:solidFill>
                <a:latin typeface="Microsoft YaHei"/>
              </a:rPr>
              <a:t>▪ K4  专用袋双层包装，别装满别手压</a:t>
            </a:r>
          </a:p>
          <a:p>
            <a:pPr>
              <a:spcAft>
                <a:spcPts val="800"/>
              </a:spcAft>
            </a:pPr>
            <a:r>
              <a:rPr sz="1800">
                <a:solidFill>
                  <a:srgbClr val="FFFFFF"/>
                </a:solidFill>
                <a:latin typeface="Microsoft YaHei"/>
              </a:rPr>
              <a:t>▪ K5  液体废物不进下水道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培养物先灭活，污染瓶不开盖</a:t>
            </a:r>
          </a:p>
          <a:p>
            <a:pPr>
              <a:spcAft>
                <a:spcPts val="800"/>
              </a:spcAft>
            </a:pPr>
            <a:r>
              <a:rPr sz="1800">
                <a:solidFill>
                  <a:srgbClr val="FFFFFF"/>
                </a:solidFill>
                <a:latin typeface="Microsoft YaHei"/>
              </a:rPr>
              <a:t>▪ K7  工程菌与转基因材料：灭活、登记、不带出</a:t>
            </a:r>
          </a:p>
          <a:p>
            <a:pPr>
              <a:spcAft>
                <a:spcPts val="800"/>
              </a:spcAft>
            </a:pPr>
            <a:r>
              <a:rPr sz="1800">
                <a:solidFill>
                  <a:srgbClr val="FFFFFF"/>
                </a:solidFill>
                <a:latin typeface="Microsoft YaHei"/>
              </a:rPr>
              <a:t>▪ K8  出实验室前先灭菌，确认并登记</a:t>
            </a:r>
          </a:p>
          <a:p>
            <a:pPr>
              <a:spcAft>
                <a:spcPts val="800"/>
              </a:spcAft>
            </a:pPr>
            <a:r>
              <a:rPr sz="1800">
                <a:solidFill>
                  <a:srgbClr val="FFFFFF"/>
                </a:solidFill>
                <a:latin typeface="Microsoft YaHei"/>
              </a:rPr>
              <a:t>▪ K9  专用包装、标签、暂存，及时清运</a:t>
            </a:r>
          </a:p>
          <a:p>
            <a:pPr>
              <a:spcAft>
                <a:spcPts val="800"/>
              </a:spcAft>
            </a:pPr>
            <a:r>
              <a:rPr sz="1800">
                <a:solidFill>
                  <a:srgbClr val="FFFFFF"/>
                </a:solidFill>
                <a:latin typeface="Microsoft YaHei"/>
              </a:rPr>
              <a:t>▪ K10  交有资质单位，联单存档</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生物溢洒与暴露处置</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85 镜）　适用对象：从事微生物、细胞、分子生物学、医学、农学、环境等生物实验和临床样本检测的高校本科生、研究生和教职工（必修）；实验室负责人和安全员重点学习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能说出生物溢洒处置的原则（先控制、不扩散、按规程）和溢洒处理包的配置，事先学会、演练过。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能做到柜内和台面小量溢洒按“盖、倒、等、清”处置：吸水材料覆盖、消毒剂由外向内、二次留置、碎片用夹子、物品器材去污。</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能判断柜外溢洒、转运洒漏和离心管破裂时先撤离或先封闭、等气溶胶沉降、报告后由专人处置。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能做到针刺伤、皮肤和眼睛沾染后立即冲洗等现场急救，逐级报告，就医评估，登记并随访。</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《中华人民共和国生物安全法》：病原微生物实验室应制定应急预案，发生意外事故及时处置、报告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《病原微生物实验室生物安全管理条例》（以现行文本为准）：实验室制定实验室感染应急处置预案；发生暴露或感染时立即采取控制措施、报告，并对有关人员进行医学观察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生物安全通用要求》：溢洒处理程序、应急预案和演练、事故报告、暴露人员医学评估与监测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233（以现行文本为准）《病原微生物实验室生物安全通用准则》：意外事故处置、消毒和报告</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号，以现行文本为准）：应急预案、应急物资配备与事故报告</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本校实验室安全事故应急预案和本实验室生物溢洒、暴露处置标准操作规程（以本校规定为准）</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出了事马上行动，规定必须照做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生物事件升级很快，不能犹豫</a:t>
            </a:r>
          </a:p>
          <a:p>
            <a:pPr>
              <a:spcAft>
                <a:spcPts val="1000"/>
              </a:spcAft>
            </a:pPr>
            <a:r>
              <a:rPr sz="2000">
                <a:solidFill>
                  <a:srgbClr val="222B33"/>
                </a:solidFill>
                <a:latin typeface="Microsoft YaHei"/>
              </a:rPr>
              <a:t>▪ 停下、控制、消毒，按规程处理</a:t>
            </a:r>
          </a:p>
          <a:p>
            <a:pPr>
              <a:spcAft>
                <a:spcPts val="1000"/>
              </a:spcAft>
            </a:pPr>
            <a:r>
              <a:rPr sz="2000">
                <a:solidFill>
                  <a:srgbClr val="222B33"/>
                </a:solidFill>
                <a:latin typeface="Microsoft YaHei"/>
              </a:rPr>
              <a:t>▪ 处置规定不是建议，必须照做</a:t>
            </a:r>
          </a:p>
          <a:p>
            <a:pPr>
              <a:spcAft>
                <a:spcPts val="1000"/>
              </a:spcAft>
            </a:pPr>
            <a:r>
              <a:rPr sz="2000">
                <a:solidFill>
                  <a:srgbClr val="222B33"/>
                </a:solidFill>
                <a:latin typeface="Microsoft YaHei"/>
              </a:rPr>
              <a:t>▪ 按规范来，才能保护每一个人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病原微生物和生物毒素的溢洒、暴露事件发展很快，一旦发生，没有时间犹豫：越早控制，扩散和感染的风险越小。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慌乱中凭本能乱擦乱跑</a:t>
            </a:r>
          </a:p>
          <a:p>
            <a:pPr>
              <a:spcAft>
                <a:spcPts val="1000"/>
              </a:spcAft>
            </a:pPr>
            <a:r>
              <a:rPr sz="1500">
                <a:solidFill>
                  <a:srgbClr val="222B33"/>
                </a:solidFill>
                <a:latin typeface="Microsoft YaHei"/>
              </a:rPr>
              <a:t>▪ 觉得“洒一点没事”，不按规程处理</a:t>
            </a:r>
          </a:p>
        </p:txBody>
      </p:sp>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事先定好规程，备好溢洒处理包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溢洒怎么处理，事先写进规程</a:t>
            </a:r>
          </a:p>
          <a:p>
            <a:pPr>
              <a:spcAft>
                <a:spcPts val="1000"/>
              </a:spcAft>
            </a:pPr>
            <a:r>
              <a:rPr sz="2000">
                <a:solidFill>
                  <a:srgbClr val="222B33"/>
                </a:solidFill>
                <a:latin typeface="Microsoft YaHei"/>
              </a:rPr>
              <a:t>▪ 溢洒处理包就近备好，人人知道在哪</a:t>
            </a:r>
          </a:p>
          <a:p>
            <a:pPr>
              <a:spcAft>
                <a:spcPts val="1000"/>
              </a:spcAft>
            </a:pPr>
            <a:r>
              <a:rPr sz="2000">
                <a:solidFill>
                  <a:srgbClr val="222B33"/>
                </a:solidFill>
                <a:latin typeface="Microsoft YaHei"/>
              </a:rPr>
              <a:t>▪ 人人提前学会、演练过</a:t>
            </a:r>
          </a:p>
          <a:p>
            <a:pPr>
              <a:spcAft>
                <a:spcPts val="1000"/>
              </a:spcAft>
            </a:pPr>
            <a:r>
              <a:rPr sz="2000">
                <a:solidFill>
                  <a:srgbClr val="222B33"/>
                </a:solidFill>
                <a:latin typeface="Microsoft YaHei"/>
              </a:rPr>
              <a:t>▪ 动手前先查防护，需要时加戴手套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每个生物实验室都要事先制定溢洒和暴露处置规程，写明不同情况（柜内、台面、柜外、离心机、转运途中、人员暴露）怎么处理、找谁报告；规程中的一般程序按本室的病原、操作和设施调整。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出了事才找消毒剂和吸水纸</a:t>
            </a:r>
          </a:p>
          <a:p>
            <a:pPr>
              <a:spcAft>
                <a:spcPts val="1000"/>
              </a:spcAft>
            </a:pPr>
            <a:r>
              <a:rPr sz="1500">
                <a:solidFill>
                  <a:srgbClr val="222B33"/>
                </a:solidFill>
                <a:latin typeface="Microsoft YaHei"/>
              </a:rPr>
              <a:t>▪ 防护不到位就上手清理</a:t>
            </a:r>
          </a:p>
        </p:txBody>
      </p:sp>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第一步控制：警示清场，不让扩散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第一步是控制：拉警示，贴标志</a:t>
            </a:r>
          </a:p>
          <a:p>
            <a:pPr>
              <a:spcAft>
                <a:spcPts val="1000"/>
              </a:spcAft>
            </a:pPr>
            <a:r>
              <a:rPr sz="2000">
                <a:solidFill>
                  <a:srgbClr val="222B33"/>
                </a:solidFill>
                <a:latin typeface="Microsoft YaHei"/>
              </a:rPr>
              <a:t>▪ 提醒周围的人，无关人员先离开</a:t>
            </a:r>
          </a:p>
          <a:p>
            <a:pPr>
              <a:spcAft>
                <a:spcPts val="1000"/>
              </a:spcAft>
            </a:pPr>
            <a:r>
              <a:rPr sz="2000">
                <a:solidFill>
                  <a:srgbClr val="222B33"/>
                </a:solidFill>
                <a:latin typeface="Microsoft YaHei"/>
              </a:rPr>
              <a:t>▪ 目标：关住它，不让它扩散</a:t>
            </a:r>
          </a:p>
          <a:p>
            <a:pPr>
              <a:spcAft>
                <a:spcPts val="1000"/>
              </a:spcAft>
            </a:pPr>
            <a:r>
              <a:rPr sz="2000">
                <a:solidFill>
                  <a:srgbClr val="222B33"/>
                </a:solidFill>
                <a:latin typeface="Microsoft YaHei"/>
              </a:rPr>
              <a:t>▪ 平时易产生气溶胶的操作放柜里做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发生溢洒，第一步是控制：大声提醒周围的人，在溢洒区域设置警示带或警示牌，贴上生物危害标志，无关人员离开，防止有人踩踏或接触后把污染带走。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不提醒旁人，自己闷头处理</a:t>
            </a:r>
          </a:p>
          <a:p>
            <a:pPr>
              <a:spcAft>
                <a:spcPts val="1000"/>
              </a:spcAft>
            </a:pPr>
            <a:r>
              <a:rPr sz="1500">
                <a:solidFill>
                  <a:srgbClr val="222B33"/>
                </a:solidFill>
                <a:latin typeface="Microsoft YaHei"/>
              </a:rPr>
              <a:t>▪ 让别人从溢洒区域走过</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柜内溢洒：风机不关，及时清理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柜里洒了别慌，风机继续开着</a:t>
            </a:r>
          </a:p>
          <a:p>
            <a:pPr>
              <a:spcAft>
                <a:spcPts val="1000"/>
              </a:spcAft>
            </a:pPr>
            <a:r>
              <a:rPr sz="1700">
                <a:solidFill>
                  <a:srgbClr val="222B33"/>
                </a:solidFill>
                <a:latin typeface="Microsoft YaHei"/>
              </a:rPr>
              <a:t>▪ 别急着把手抽出来</a:t>
            </a:r>
          </a:p>
          <a:p>
            <a:pPr>
              <a:spcAft>
                <a:spcPts val="1000"/>
              </a:spcAft>
            </a:pPr>
            <a:r>
              <a:rPr sz="1700">
                <a:solidFill>
                  <a:srgbClr val="222B33"/>
                </a:solidFill>
                <a:latin typeface="Microsoft YaHei"/>
              </a:rPr>
              <a:t>▪ 马上清理去污，不能等以后</a:t>
            </a:r>
          </a:p>
          <a:p>
            <a:pPr>
              <a:spcAft>
                <a:spcPts val="1000"/>
              </a:spcAft>
            </a:pPr>
            <a:r>
              <a:rPr sz="1700">
                <a:solidFill>
                  <a:srgbClr val="222B33"/>
                </a:solidFill>
                <a:latin typeface="Microsoft YaHei"/>
              </a:rPr>
              <a:t>▪ 流进格栅下面的也要清理</a:t>
            </a:r>
          </a:p>
          <a:p>
            <a:pPr>
              <a:spcAft>
                <a:spcPts val="1000"/>
              </a:spcAft>
            </a:pPr>
            <a:r>
              <a:rPr sz="1700">
                <a:solidFill>
                  <a:srgbClr val="222B33"/>
                </a:solidFill>
                <a:latin typeface="Microsoft YaHei"/>
              </a:rPr>
              <a:t>▪ 量大处理不了请人协助，事后报告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在生物安全柜内发生溢洒，不要慌：风机继续运行，柜子的气流仍在保护操作者；双手不要猛地抽出柜外，以免把气溶胶带出来。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一洒就关风机</a:t>
            </a:r>
          </a:p>
          <a:p>
            <a:pPr>
              <a:spcAft>
                <a:spcPts val="1000"/>
              </a:spcAft>
            </a:pPr>
            <a:r>
              <a:rPr sz="1500">
                <a:solidFill>
                  <a:srgbClr val="222B33"/>
                </a:solidFill>
                <a:latin typeface="Microsoft YaHei"/>
              </a:rPr>
              <a:t>▪ 只擦台面，不管格栅和集液槽</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盖住，消毒剂由外向内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先用吸水纸盖住，把液体吸住</a:t>
            </a:r>
          </a:p>
          <a:p>
            <a:pPr>
              <a:spcAft>
                <a:spcPts val="1000"/>
              </a:spcAft>
            </a:pPr>
            <a:r>
              <a:rPr sz="1700">
                <a:solidFill>
                  <a:srgbClr val="222B33"/>
                </a:solidFill>
                <a:latin typeface="Microsoft YaHei"/>
              </a:rPr>
              <a:t>▪ 用指定消毒剂，从外缘往中间浇</a:t>
            </a:r>
          </a:p>
          <a:p>
            <a:pPr>
              <a:spcAft>
                <a:spcPts val="1000"/>
              </a:spcAft>
            </a:pPr>
            <a:r>
              <a:rPr sz="1700">
                <a:solidFill>
                  <a:srgbClr val="222B33"/>
                </a:solidFill>
                <a:latin typeface="Microsoft YaHei"/>
              </a:rPr>
              <a:t>▪ 由外向内，污染才不会扩大</a:t>
            </a:r>
          </a:p>
          <a:p>
            <a:pPr>
              <a:spcAft>
                <a:spcPts val="1000"/>
              </a:spcAft>
            </a:pPr>
            <a:r>
              <a:rPr sz="1700">
                <a:solidFill>
                  <a:srgbClr val="222B33"/>
                </a:solidFill>
                <a:latin typeface="Microsoft YaHei"/>
              </a:rPr>
              <a:t>▪ 沾到皮肤，立即冲洗并报告</a:t>
            </a:r>
          </a:p>
          <a:p>
            <a:pPr>
              <a:spcAft>
                <a:spcPts val="1000"/>
              </a:spcAft>
            </a:pPr>
            <a:r>
              <a:rPr sz="1700">
                <a:solidFill>
                  <a:srgbClr val="222B33"/>
                </a:solidFill>
                <a:latin typeface="Microsoft YaHei"/>
              </a:rPr>
              <a:t>▪ 记住：盖、倒、等、清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台面或柜内的小量溢洒，第一步用吸水纸、纸巾或吸水垫覆盖溢洒物，先把液体吸住，不让它流开，也减少飞溅。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直接用纸巾来回抹</a:t>
            </a:r>
          </a:p>
          <a:p>
            <a:pPr>
              <a:spcAft>
                <a:spcPts val="1000"/>
              </a:spcAft>
            </a:pPr>
            <a:r>
              <a:rPr sz="1500">
                <a:solidFill>
                  <a:srgbClr val="222B33"/>
                </a:solidFill>
                <a:latin typeface="Microsoft YaHei"/>
              </a:rPr>
              <a:t>▪ 对着溢洒中心猛倒消毒剂</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擦掉，再浇一遍留置，时间到再丢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尽量擦干净，纸巾丢进废物袋</a:t>
            </a:r>
          </a:p>
          <a:p>
            <a:pPr>
              <a:spcAft>
                <a:spcPts val="1000"/>
              </a:spcAft>
            </a:pPr>
            <a:r>
              <a:rPr sz="2000">
                <a:solidFill>
                  <a:srgbClr val="222B33"/>
                </a:solidFill>
                <a:latin typeface="Microsoft YaHei"/>
              </a:rPr>
              <a:t>▪ 换新纸巾再浇一遍，留在原处</a:t>
            </a:r>
          </a:p>
          <a:p>
            <a:pPr>
              <a:spcAft>
                <a:spcPts val="1000"/>
              </a:spcAft>
            </a:pPr>
            <a:r>
              <a:rPr sz="2000">
                <a:solidFill>
                  <a:srgbClr val="222B33"/>
                </a:solidFill>
                <a:latin typeface="Microsoft YaHei"/>
              </a:rPr>
              <a:t>▪ 等多久，以本实验室规程为准</a:t>
            </a:r>
          </a:p>
          <a:p>
            <a:pPr>
              <a:spcAft>
                <a:spcPts val="1000"/>
              </a:spcAft>
            </a:pPr>
            <a:r>
              <a:rPr sz="2000">
                <a:solidFill>
                  <a:srgbClr val="222B33"/>
                </a:solidFill>
                <a:latin typeface="Microsoft YaHei"/>
              </a:rPr>
              <a:t>▪ 时间到了，再丢进废物袋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消毒剂作用后，尽量把溢洒物擦干净，纸巾丢进生物危害废物袋。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浇完消毒剂立刻擦掉</a:t>
            </a:r>
          </a:p>
          <a:p>
            <a:pPr>
              <a:spcAft>
                <a:spcPts val="1000"/>
              </a:spcAft>
            </a:pPr>
            <a:r>
              <a:rPr sz="1500">
                <a:solidFill>
                  <a:srgbClr val="222B33"/>
                </a:solidFill>
                <a:latin typeface="Microsoft YaHei"/>
              </a:rPr>
              <a:t>▪ 用过的纸巾丢进普通垃圾桶</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碎片用夹子，物品器材都去污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碎玻璃碎管用镊子夹进锐器盒</a:t>
            </a:r>
          </a:p>
          <a:p>
            <a:pPr>
              <a:spcAft>
                <a:spcPts val="1000"/>
              </a:spcAft>
            </a:pPr>
            <a:r>
              <a:rPr sz="1700">
                <a:solidFill>
                  <a:srgbClr val="222B33"/>
                </a:solidFill>
                <a:latin typeface="Microsoft YaHei"/>
              </a:rPr>
              <a:t>▪ 千万别用手去捡</a:t>
            </a:r>
          </a:p>
          <a:p>
            <a:pPr>
              <a:spcAft>
                <a:spcPts val="1000"/>
              </a:spcAft>
            </a:pPr>
            <a:r>
              <a:rPr sz="1700">
                <a:solidFill>
                  <a:srgbClr val="222B33"/>
                </a:solidFill>
                <a:latin typeface="Microsoft YaHei"/>
              </a:rPr>
              <a:t>▪ 用了含氯消毒剂，再用清水擦一遍</a:t>
            </a:r>
          </a:p>
          <a:p>
            <a:pPr>
              <a:spcAft>
                <a:spcPts val="1000"/>
              </a:spcAft>
            </a:pPr>
            <a:r>
              <a:rPr sz="1700">
                <a:solidFill>
                  <a:srgbClr val="222B33"/>
                </a:solidFill>
                <a:latin typeface="Microsoft YaHei"/>
              </a:rPr>
              <a:t>▪ 溅到的物品也要擦，等够时间再用</a:t>
            </a:r>
          </a:p>
          <a:p>
            <a:pPr>
              <a:spcAft>
                <a:spcPts val="1000"/>
              </a:spcAft>
            </a:pPr>
            <a:r>
              <a:rPr sz="1700">
                <a:solidFill>
                  <a:srgbClr val="222B33"/>
                </a:solidFill>
                <a:latin typeface="Microsoft YaHei"/>
              </a:rPr>
              <a:t>▪ 污染器材送去高压灭菌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溢洒物里有碎玻璃、碎管时，不要用手去捡，戴着手套也不行；用镊子、夹子或小铲把碎片夹进锐器盒。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戴手套直接捡碎玻璃</a:t>
            </a:r>
          </a:p>
          <a:p>
            <a:pPr>
              <a:spcAft>
                <a:spcPts val="1000"/>
              </a:spcAft>
            </a:pPr>
            <a:r>
              <a:rPr sz="1500">
                <a:solidFill>
                  <a:srgbClr val="222B33"/>
                </a:solidFill>
                <a:latin typeface="Microsoft YaHei"/>
              </a:rPr>
              <a:t>▪ 只清理台面，不管被溅到的物品</a:t>
            </a:r>
          </a:p>
        </p:txBody>
      </p:sp>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柜外溢洒：先撤离，关门等沉降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柜外洒了摔碎了，可能有气溶胶</a:t>
            </a:r>
          </a:p>
          <a:p>
            <a:pPr>
              <a:spcAft>
                <a:spcPts val="1000"/>
              </a:spcAft>
            </a:pPr>
            <a:r>
              <a:rPr sz="1700">
                <a:solidFill>
                  <a:srgbClr val="222B33"/>
                </a:solidFill>
                <a:latin typeface="Microsoft YaHei"/>
              </a:rPr>
              <a:t>▪ 别急着擦，提醒旁人，撤出房间</a:t>
            </a:r>
          </a:p>
          <a:p>
            <a:pPr>
              <a:spcAft>
                <a:spcPts val="1000"/>
              </a:spcAft>
            </a:pPr>
            <a:r>
              <a:rPr sz="1700">
                <a:solidFill>
                  <a:srgbClr val="222B33"/>
                </a:solidFill>
                <a:latin typeface="Microsoft YaHei"/>
              </a:rPr>
              <a:t>▪ 关好门，挂警示；身上溅到先冲洗</a:t>
            </a:r>
          </a:p>
          <a:p>
            <a:pPr>
              <a:spcAft>
                <a:spcPts val="1000"/>
              </a:spcAft>
            </a:pPr>
            <a:r>
              <a:rPr sz="1700">
                <a:solidFill>
                  <a:srgbClr val="222B33"/>
                </a:solidFill>
                <a:latin typeface="Microsoft YaHei"/>
              </a:rPr>
              <a:t>▪ 立即报告，等气溶胶沉降</a:t>
            </a:r>
          </a:p>
          <a:p>
            <a:pPr>
              <a:spcAft>
                <a:spcPts val="1000"/>
              </a:spcAft>
            </a:pPr>
            <a:r>
              <a:rPr sz="1700">
                <a:solidFill>
                  <a:srgbClr val="222B33"/>
                </a:solidFill>
                <a:latin typeface="Microsoft YaHei"/>
              </a:rPr>
              <a:t>▪ 穿好防护，由专人覆盖消毒清理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培养物等感染性材料洒在生物安全柜外，或瓶子摔碎，可能产生气溶胶。这时不要急着擦：提醒旁人，所有人立即撤出房间，关好门，门口挂上警示牌，防止有人进入。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柜外打碎了马上蹲下去擦</a:t>
            </a:r>
          </a:p>
          <a:p>
            <a:pPr>
              <a:spcAft>
                <a:spcPts val="1000"/>
              </a:spcAft>
            </a:pPr>
            <a:r>
              <a:rPr sz="1500">
                <a:solidFill>
                  <a:srgbClr val="222B33"/>
                </a:solidFill>
                <a:latin typeface="Microsoft YaHei"/>
              </a:rPr>
              <a:t>▪ 撤离时不关门、不挂警示</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转运途中洒漏：先围住，再报告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转运路上袋子掉了漏了</a:t>
            </a:r>
          </a:p>
          <a:p>
            <a:pPr>
              <a:spcAft>
                <a:spcPts val="1000"/>
              </a:spcAft>
            </a:pPr>
            <a:r>
              <a:rPr sz="2000">
                <a:solidFill>
                  <a:srgbClr val="222B33"/>
                </a:solidFill>
                <a:latin typeface="Microsoft YaHei"/>
              </a:rPr>
              <a:t>▪ 先让旁人绕开，别用手去捡</a:t>
            </a:r>
          </a:p>
          <a:p>
            <a:pPr>
              <a:spcAft>
                <a:spcPts val="1000"/>
              </a:spcAft>
            </a:pPr>
            <a:r>
              <a:rPr sz="2000">
                <a:solidFill>
                  <a:srgbClr val="222B33"/>
                </a:solidFill>
                <a:latin typeface="Microsoft YaHei"/>
              </a:rPr>
              <a:t>▪ 马上报告，取来溢洒处理包</a:t>
            </a:r>
          </a:p>
          <a:p>
            <a:pPr>
              <a:spcAft>
                <a:spcPts val="1000"/>
              </a:spcAft>
            </a:pPr>
            <a:r>
              <a:rPr sz="2000">
                <a:solidFill>
                  <a:srgbClr val="222B33"/>
                </a:solidFill>
                <a:latin typeface="Microsoft YaHei"/>
              </a:rPr>
              <a:t>▪ 穿好防护，覆盖消毒，按规程处理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在走廊、电梯等转运路上，废物袋或样品盒掉落、渗漏时，先让周围的人绕开，看住现场，不要用手去捡。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徒手把漏液的袋子捡起来</a:t>
            </a:r>
          </a:p>
          <a:p>
            <a:pPr>
              <a:spcAft>
                <a:spcPts val="1000"/>
              </a:spcAft>
            </a:pPr>
            <a:r>
              <a:rPr sz="1500">
                <a:solidFill>
                  <a:srgbClr val="222B33"/>
                </a:solidFill>
                <a:latin typeface="Microsoft YaHei"/>
              </a:rPr>
              <a:t>▪ 留下渗漏的地面不管就走</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离心管破裂：不开盖，柜内开吊篮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离心感染性样品，怀疑管子破了</a:t>
            </a:r>
          </a:p>
          <a:p>
            <a:pPr>
              <a:spcAft>
                <a:spcPts val="1000"/>
              </a:spcAft>
            </a:pPr>
            <a:r>
              <a:rPr sz="1700">
                <a:solidFill>
                  <a:srgbClr val="222B33"/>
                </a:solidFill>
                <a:latin typeface="Microsoft YaHei"/>
              </a:rPr>
              <a:t>▪ 别急着开盖，先让气溶胶沉降</a:t>
            </a:r>
          </a:p>
          <a:p>
            <a:pPr>
              <a:spcAft>
                <a:spcPts val="1000"/>
              </a:spcAft>
            </a:pPr>
            <a:r>
              <a:rPr sz="1700">
                <a:solidFill>
                  <a:srgbClr val="222B33"/>
                </a:solidFill>
                <a:latin typeface="Microsoft YaHei"/>
              </a:rPr>
              <a:t>▪ 挂上警示，静置，报告负责人</a:t>
            </a:r>
          </a:p>
          <a:p>
            <a:pPr>
              <a:spcAft>
                <a:spcPts val="1000"/>
              </a:spcAft>
            </a:pPr>
            <a:r>
              <a:rPr sz="1700">
                <a:solidFill>
                  <a:srgbClr val="222B33"/>
                </a:solidFill>
                <a:latin typeface="Microsoft YaHei"/>
              </a:rPr>
              <a:t>▪ 穿好防护，密封吊篮拿进柜里开</a:t>
            </a:r>
          </a:p>
          <a:p>
            <a:pPr>
              <a:spcAft>
                <a:spcPts val="1000"/>
              </a:spcAft>
            </a:pPr>
            <a:r>
              <a:rPr sz="1700">
                <a:solidFill>
                  <a:srgbClr val="222B33"/>
                </a:solidFill>
                <a:latin typeface="Microsoft YaHei"/>
              </a:rPr>
              <a:t>▪ 消毒剂要和转子材质相容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离心感染性样品时，如果怀疑或发现离心管破裂（听到破裂声、运行异常），停机后不要马上打开离心机盖；关闭的盖子能把气溶胶关在里面。挂上警示牌，静置规程规定的时间让气溶胶沉降，并立即报告实验室负责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离心机一停就打开盖子查看</a:t>
            </a:r>
          </a:p>
          <a:p>
            <a:pPr>
              <a:spcAft>
                <a:spcPts val="1000"/>
              </a:spcAft>
            </a:pPr>
            <a:r>
              <a:rPr sz="1500">
                <a:solidFill>
                  <a:srgbClr val="222B33"/>
                </a:solidFill>
                <a:latin typeface="Microsoft YaHei"/>
              </a:rPr>
              <a:t>▪ 用会腐蚀转子的消毒剂随意浸泡</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防护失效：停下、更换、查皮肤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隔离衣大片溅湿，先停下盖好样品</a:t>
            </a:r>
          </a:p>
          <a:p>
            <a:pPr>
              <a:spcAft>
                <a:spcPts val="1000"/>
              </a:spcAft>
            </a:pPr>
            <a:r>
              <a:rPr sz="2000">
                <a:solidFill>
                  <a:srgbClr val="222B33"/>
                </a:solidFill>
                <a:latin typeface="Microsoft YaHei"/>
              </a:rPr>
              <a:t>▪ 到脱卸区按顺序脱下，换新的</a:t>
            </a:r>
          </a:p>
          <a:p>
            <a:pPr>
              <a:spcAft>
                <a:spcPts val="1000"/>
              </a:spcAft>
            </a:pPr>
            <a:r>
              <a:rPr sz="2000">
                <a:solidFill>
                  <a:srgbClr val="222B33"/>
                </a:solidFill>
                <a:latin typeface="Microsoft YaHei"/>
              </a:rPr>
              <a:t>▪ 手套破了，脱下来仔细查皮肤</a:t>
            </a:r>
          </a:p>
          <a:p>
            <a:pPr>
              <a:spcAft>
                <a:spcPts val="1000"/>
              </a:spcAft>
            </a:pPr>
            <a:r>
              <a:rPr sz="2000">
                <a:solidFill>
                  <a:srgbClr val="222B33"/>
                </a:solidFill>
                <a:latin typeface="Microsoft YaHei"/>
              </a:rPr>
              <a:t>▪ 洗手换手套；有破皮按暴露处置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工作中隔离衣被大片溅湿、口罩被打湿、手套破损，都属于防护失效。先停下，把锐器安全放好，盖好样品容器，再到脱卸区按顺序脱下污染的防护用品（见第 075 课），换上新的。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手套破了继续操作</a:t>
            </a:r>
          </a:p>
          <a:p>
            <a:pPr>
              <a:spcAft>
                <a:spcPts val="1000"/>
              </a:spcAft>
            </a:pPr>
            <a:r>
              <a:rPr sz="1500">
                <a:solidFill>
                  <a:srgbClr val="222B33"/>
                </a:solidFill>
                <a:latin typeface="Microsoft YaHei"/>
              </a:rPr>
              <a:t>▪ 换手套时不检查皮肤</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针刺伤：轻挤、冲洗、消毒、包扎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沾过血样的针扎到，就有感染风险</a:t>
            </a:r>
          </a:p>
          <a:p>
            <a:pPr>
              <a:spcAft>
                <a:spcPts val="1000"/>
              </a:spcAft>
            </a:pPr>
            <a:r>
              <a:rPr sz="1700">
                <a:solidFill>
                  <a:srgbClr val="222B33"/>
                </a:solidFill>
                <a:latin typeface="Microsoft YaHei"/>
              </a:rPr>
              <a:t>▪ 立即处理，是最关键的一步</a:t>
            </a:r>
          </a:p>
          <a:p>
            <a:pPr>
              <a:spcAft>
                <a:spcPts val="1000"/>
              </a:spcAft>
            </a:pPr>
            <a:r>
              <a:rPr sz="1700">
                <a:solidFill>
                  <a:srgbClr val="222B33"/>
                </a:solidFill>
                <a:latin typeface="Microsoft YaHei"/>
              </a:rPr>
              <a:t>▪ 从近心端向伤口方向轻挤，不用嘴吸</a:t>
            </a:r>
          </a:p>
          <a:p>
            <a:pPr>
              <a:spcAft>
                <a:spcPts val="1000"/>
              </a:spcAft>
            </a:pPr>
            <a:r>
              <a:rPr sz="1700">
                <a:solidFill>
                  <a:srgbClr val="222B33"/>
                </a:solidFill>
                <a:latin typeface="Microsoft YaHei"/>
              </a:rPr>
              <a:t>▪ 肥皂加流动水彻底冲洗</a:t>
            </a:r>
          </a:p>
          <a:p>
            <a:pPr>
              <a:spcAft>
                <a:spcPts val="1000"/>
              </a:spcAft>
            </a:pPr>
            <a:r>
              <a:rPr sz="1700">
                <a:solidFill>
                  <a:srgbClr val="222B33"/>
                </a:solidFill>
                <a:latin typeface="Microsoft YaHei"/>
              </a:rPr>
              <a:t>▪ 冲洗后消毒、包扎，马上报告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操作针头、玻片、刀片时一滑，就可能被扎伤或割伤；沾过血液、临床样本或培养物的锐器造成的伤口，就有感染风险。立即处理是最关键的一步。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被扎后用嘴吸伤口</a:t>
            </a:r>
          </a:p>
          <a:p>
            <a:pPr>
              <a:spcAft>
                <a:spcPts val="1000"/>
              </a:spcAft>
            </a:pPr>
            <a:r>
              <a:rPr sz="1500">
                <a:solidFill>
                  <a:srgbClr val="222B33"/>
                </a:solidFill>
                <a:latin typeface="Microsoft YaHei"/>
              </a:rPr>
              <a:t>▪ 觉得只是小伤，不冲洗不报告</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皮肤和眼睛沾染：马上冲洗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皮肤沾到样品，立即流水冲洗</a:t>
            </a:r>
          </a:p>
          <a:p>
            <a:pPr>
              <a:spcAft>
                <a:spcPts val="1000"/>
              </a:spcAft>
            </a:pPr>
            <a:r>
              <a:rPr sz="2000">
                <a:solidFill>
                  <a:srgbClr val="222B33"/>
                </a:solidFill>
                <a:latin typeface="Microsoft YaHei"/>
              </a:rPr>
              <a:t>▪ 溅进眼睛，马上到洗眼器反复冲洗</a:t>
            </a:r>
          </a:p>
          <a:p>
            <a:pPr>
              <a:spcAft>
                <a:spcPts val="1000"/>
              </a:spcAft>
            </a:pPr>
            <a:r>
              <a:rPr sz="2000">
                <a:solidFill>
                  <a:srgbClr val="222B33"/>
                </a:solidFill>
                <a:latin typeface="Microsoft YaHei"/>
              </a:rPr>
              <a:t>▪ 口鼻溅到，也用清水反复冲洗</a:t>
            </a:r>
          </a:p>
          <a:p>
            <a:pPr>
              <a:spcAft>
                <a:spcPts val="1000"/>
              </a:spcAft>
            </a:pPr>
            <a:r>
              <a:rPr sz="2000">
                <a:solidFill>
                  <a:srgbClr val="222B33"/>
                </a:solidFill>
                <a:latin typeface="Microsoft YaHei"/>
              </a:rPr>
              <a:t>▪ 冲洗后报告，紧急拨打120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完整皮肤沾到样品或培养物，立即脱去污染的衣物或手套，用肥皂和流动水冲洗。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溅进眼睛后用手揉</a:t>
            </a:r>
          </a:p>
          <a:p>
            <a:pPr>
              <a:spcAft>
                <a:spcPts val="1000"/>
              </a:spcAft>
            </a:pPr>
            <a:r>
              <a:rPr sz="1500">
                <a:solidFill>
                  <a:srgbClr val="222B33"/>
                </a:solidFill>
                <a:latin typeface="Microsoft YaHei"/>
              </a:rPr>
              <a:t>▪ 冲洗几秒就停</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立即逐级报告，不隐瞒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先立即处置，再马上报告</a:t>
            </a:r>
          </a:p>
          <a:p>
            <a:pPr>
              <a:spcAft>
                <a:spcPts val="1000"/>
              </a:spcAft>
            </a:pPr>
            <a:r>
              <a:rPr sz="1700">
                <a:solidFill>
                  <a:srgbClr val="222B33"/>
                </a:solidFill>
                <a:latin typeface="Microsoft YaHei"/>
              </a:rPr>
              <a:t>▪ 逐级报告负责人、学院和学校部门</a:t>
            </a:r>
          </a:p>
          <a:p>
            <a:pPr>
              <a:spcAft>
                <a:spcPts val="1000"/>
              </a:spcAft>
            </a:pPr>
            <a:r>
              <a:rPr sz="1700">
                <a:solidFill>
                  <a:srgbClr val="222B33"/>
                </a:solidFill>
                <a:latin typeface="Microsoft YaHei"/>
              </a:rPr>
              <a:t>▪ 溢洒、暴露都要报，小事也报</a:t>
            </a:r>
          </a:p>
          <a:p>
            <a:pPr>
              <a:spcAft>
                <a:spcPts val="1000"/>
              </a:spcAft>
            </a:pPr>
            <a:r>
              <a:rPr sz="1700">
                <a:solidFill>
                  <a:srgbClr val="222B33"/>
                </a:solidFill>
                <a:latin typeface="Microsoft YaHei"/>
              </a:rPr>
              <a:t>▪ 如实报告，别隐瞒，别自己扛</a:t>
            </a:r>
          </a:p>
          <a:p>
            <a:pPr>
              <a:spcAft>
                <a:spcPts val="1000"/>
              </a:spcAft>
            </a:pPr>
            <a:r>
              <a:rPr sz="1700">
                <a:solidFill>
                  <a:srgbClr val="222B33"/>
                </a:solidFill>
                <a:latin typeface="Microsoft YaHei"/>
              </a:rPr>
              <a:t>▪ 伤情严重，立即拨打120</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发生针刺、溢洒、暴露，先立即进行现场处置，处置后马上报告：实验室负责人（导师）→ 学院 → 学校实验室安全管理部门、保卫处和校医院，按本校应急预案和报告程序执行（报告程序见第 157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怕挨批评，暴露后不报告</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就医评估，登记随访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尽快就医，说清样本来源</a:t>
            </a:r>
          </a:p>
          <a:p>
            <a:pPr>
              <a:spcAft>
                <a:spcPts val="1000"/>
              </a:spcAft>
            </a:pPr>
            <a:r>
              <a:rPr sz="1700">
                <a:solidFill>
                  <a:srgbClr val="222B33"/>
                </a:solidFill>
                <a:latin typeface="Microsoft YaHei"/>
              </a:rPr>
              <a:t>▪ 需不需要进一步处理，听医生的</a:t>
            </a:r>
          </a:p>
          <a:p>
            <a:pPr>
              <a:spcAft>
                <a:spcPts val="1000"/>
              </a:spcAft>
            </a:pPr>
            <a:r>
              <a:rPr sz="1700">
                <a:solidFill>
                  <a:srgbClr val="222B33"/>
                </a:solidFill>
                <a:latin typeface="Microsoft YaHei"/>
              </a:rPr>
              <a:t>▪ 登记时间、样本、经过和处置</a:t>
            </a:r>
          </a:p>
          <a:p>
            <a:pPr>
              <a:spcAft>
                <a:spcPts val="1000"/>
              </a:spcAft>
            </a:pPr>
            <a:r>
              <a:rPr sz="1700">
                <a:solidFill>
                  <a:srgbClr val="222B33"/>
                </a:solidFill>
                <a:latin typeface="Microsoft YaHei"/>
              </a:rPr>
              <a:t>▪ 按医嘱随访复查，不能一扎了之</a:t>
            </a:r>
          </a:p>
          <a:p>
            <a:pPr>
              <a:spcAft>
                <a:spcPts val="1000"/>
              </a:spcAft>
            </a:pPr>
            <a:r>
              <a:rPr sz="1700">
                <a:solidFill>
                  <a:srgbClr val="222B33"/>
                </a:solidFill>
                <a:latin typeface="Microsoft YaHei"/>
              </a:rPr>
              <a:t>▪ 全组复盘，改进操作和器材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暴露后尽快到学校指定的医疗机构就医，向医生说清样本来源、可能的病原、暴露方式和已做的处置。是否需要进一步检查或预防性处理，由医生评估决定，遵医嘱执行，不要自己判断“没事”而拖延。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自认为没事，不去就医</a:t>
            </a:r>
          </a:p>
          <a:p>
            <a:pPr>
              <a:spcAft>
                <a:spcPts val="1000"/>
              </a:spcAft>
            </a:pPr>
            <a:r>
              <a:rPr sz="1500">
                <a:solidFill>
                  <a:srgbClr val="222B33"/>
                </a:solidFill>
                <a:latin typeface="Microsoft YaHei"/>
              </a:rPr>
              <a:t>▪ 就医一次就不再随访</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台面小量菌液溢洒，下列处置顺序正确的是：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直接用纸巾来回擦</a:t>
            </a:r>
          </a:p>
          <a:p>
            <a:pPr algn="l"/>
            <a:r>
              <a:rPr sz="1500" b="0">
                <a:solidFill>
                  <a:srgbClr val="222B33"/>
                </a:solidFill>
                <a:latin typeface="Microsoft YaHei"/>
              </a:rPr>
              <a:t>B. 吸水纸覆盖，消毒剂由外向内浇，作用足够时间后清理，按感染性废物处置</a:t>
            </a:r>
          </a:p>
          <a:p>
            <a:pPr algn="l"/>
            <a:r>
              <a:rPr sz="1500" b="0">
                <a:solidFill>
                  <a:srgbClr val="222B33"/>
                </a:solidFill>
                <a:latin typeface="Microsoft YaHei"/>
              </a:rPr>
              <a:t>C. 从中间往外倒消毒剂</a:t>
            </a:r>
          </a:p>
          <a:p>
            <a:pPr algn="l"/>
            <a:r>
              <a:rPr sz="1500" b="0">
                <a:solidFill>
                  <a:srgbClr val="222B33"/>
                </a:solidFill>
                <a:latin typeface="Microsoft YaHei"/>
              </a:rPr>
              <a:t>D. 用水冲进下水道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判断：生物安全柜内发生溢洒，应立即关闭风机再处理。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培养瓶在生物安全柜外摔碎，正确的第一反应是：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马上蹲下用手捡碎片</a:t>
            </a:r>
          </a:p>
          <a:p>
            <a:pPr algn="l"/>
            <a:r>
              <a:rPr sz="1500" b="0">
                <a:solidFill>
                  <a:srgbClr val="222B33"/>
                </a:solidFill>
                <a:latin typeface="Microsoft YaHei"/>
              </a:rPr>
              <a:t>B. 提醒旁人撤出房间，关门挂警示，报告负责人，等气溶胶沉降后由专人穿好防护处理</a:t>
            </a:r>
          </a:p>
          <a:p>
            <a:pPr algn="l"/>
            <a:r>
              <a:rPr sz="1500" b="0">
                <a:solidFill>
                  <a:srgbClr val="222B33"/>
                </a:solidFill>
                <a:latin typeface="Microsoft YaHei"/>
              </a:rPr>
              <a:t>C. 开窗通风后继续实验</a:t>
            </a:r>
          </a:p>
          <a:p>
            <a:pPr algn="l"/>
            <a:r>
              <a:rPr sz="1500" b="0">
                <a:solidFill>
                  <a:srgbClr val="222B33"/>
                </a:solidFill>
                <a:latin typeface="Microsoft YaHei"/>
              </a:rPr>
              <a:t>D. 用拖把拖干净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怀疑离心感染性样品时离心管破裂，应该：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停机后立即开盖查看</a:t>
            </a:r>
          </a:p>
          <a:p>
            <a:pPr algn="l"/>
            <a:r>
              <a:rPr sz="1500" b="0">
                <a:solidFill>
                  <a:srgbClr val="222B33"/>
                </a:solidFill>
                <a:latin typeface="Microsoft YaHei"/>
              </a:rPr>
              <a:t>B. 不开盖，挂警示静置让气溶胶沉降，报告后穿好防护，把密封吊篮拿进生物安全柜内打开</a:t>
            </a:r>
          </a:p>
          <a:p>
            <a:pPr algn="l"/>
            <a:r>
              <a:rPr sz="1500" b="0">
                <a:solidFill>
                  <a:srgbClr val="222B33"/>
                </a:solidFill>
                <a:latin typeface="Microsoft YaHei"/>
              </a:rPr>
              <a:t>C. 继续离心</a:t>
            </a:r>
          </a:p>
          <a:p>
            <a:pPr algn="l"/>
            <a:r>
              <a:rPr sz="1500" b="0">
                <a:solidFill>
                  <a:srgbClr val="222B33"/>
                </a:solidFill>
                <a:latin typeface="Microsoft YaHei"/>
              </a:rPr>
              <a:t>D. 用手取出碎管</a:t>
            </a:r>
          </a:p>
        </p:txBody>
      </p:sp>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078 · 生物溢洒与暴露处置</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078 生物溢洒与暴露处置</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判断：被沾过血样的针头扎伤后，应从近心端向伤口方向轻轻挤出血液，用肥皂和流动水冲洗，消毒包扎后立即报告并就医。</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简答：发生生物暴露后，应向谁报告？报告后还要做什么？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出了事马上行动，规定必须照做</a:t>
            </a:r>
          </a:p>
          <a:p>
            <a:pPr>
              <a:spcAft>
                <a:spcPts val="800"/>
              </a:spcAft>
            </a:pPr>
            <a:r>
              <a:rPr sz="1500">
                <a:solidFill>
                  <a:srgbClr val="FFFFFF"/>
                </a:solidFill>
                <a:latin typeface="Microsoft YaHei"/>
              </a:rPr>
              <a:t>▪ K2  事先定好规程，备好溢洒处理包</a:t>
            </a:r>
          </a:p>
          <a:p>
            <a:pPr>
              <a:spcAft>
                <a:spcPts val="800"/>
              </a:spcAft>
            </a:pPr>
            <a:r>
              <a:rPr sz="1500">
                <a:solidFill>
                  <a:srgbClr val="FFFFFF"/>
                </a:solidFill>
                <a:latin typeface="Microsoft YaHei"/>
              </a:rPr>
              <a:t>▪ K3  第一步控制：警示清场，不让扩散</a:t>
            </a:r>
          </a:p>
          <a:p>
            <a:pPr>
              <a:spcAft>
                <a:spcPts val="800"/>
              </a:spcAft>
            </a:pPr>
            <a:r>
              <a:rPr sz="1500">
                <a:solidFill>
                  <a:srgbClr val="FFFFFF"/>
                </a:solidFill>
                <a:latin typeface="Microsoft YaHei"/>
              </a:rPr>
              <a:t>▪ K4  柜内溢洒：风机不关，及时清理</a:t>
            </a:r>
          </a:p>
          <a:p>
            <a:pPr>
              <a:spcAft>
                <a:spcPts val="800"/>
              </a:spcAft>
            </a:pPr>
            <a:r>
              <a:rPr sz="1500">
                <a:solidFill>
                  <a:srgbClr val="FFFFFF"/>
                </a:solidFill>
                <a:latin typeface="Microsoft YaHei"/>
              </a:rPr>
              <a:t>▪ K5  盖住，消毒剂由外向内</a:t>
            </a:r>
          </a:p>
          <a:p>
            <a:pPr>
              <a:spcAft>
                <a:spcPts val="800"/>
              </a:spcAft>
            </a:pPr>
            <a:r>
              <a:rPr sz="1500">
                <a:solidFill>
                  <a:srgbClr val="FFFFFF"/>
                </a:solidFill>
                <a:latin typeface="Microsoft YaHei"/>
              </a:rPr>
              <a:t>▪ K6  擦掉，再浇一遍留置，时间到再丢</a:t>
            </a:r>
          </a:p>
          <a:p>
            <a:pPr>
              <a:spcAft>
                <a:spcPts val="800"/>
              </a:spcAft>
            </a:pPr>
            <a:r>
              <a:rPr sz="1500">
                <a:solidFill>
                  <a:srgbClr val="FFFFFF"/>
                </a:solidFill>
                <a:latin typeface="Microsoft YaHei"/>
              </a:rPr>
              <a:t>▪ K7  碎片用夹子，物品器材都去污</a:t>
            </a:r>
          </a:p>
          <a:p>
            <a:pPr>
              <a:spcAft>
                <a:spcPts val="800"/>
              </a:spcAft>
            </a:pPr>
            <a:r>
              <a:rPr sz="1500">
                <a:solidFill>
                  <a:srgbClr val="FFFFFF"/>
                </a:solidFill>
                <a:latin typeface="Microsoft YaHei"/>
              </a:rPr>
              <a:t>▪ K8  柜外溢洒：先撤离，关门等沉降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转运途中洒漏：先围住，再报告</a:t>
            </a:r>
          </a:p>
          <a:p>
            <a:pPr>
              <a:spcAft>
                <a:spcPts val="800"/>
              </a:spcAft>
            </a:pPr>
            <a:r>
              <a:rPr sz="1500">
                <a:solidFill>
                  <a:srgbClr val="FFFFFF"/>
                </a:solidFill>
                <a:latin typeface="Microsoft YaHei"/>
              </a:rPr>
              <a:t>▪ K10  离心管破裂：不开盖，柜内开吊篮</a:t>
            </a:r>
          </a:p>
          <a:p>
            <a:pPr>
              <a:spcAft>
                <a:spcPts val="800"/>
              </a:spcAft>
            </a:pPr>
            <a:r>
              <a:rPr sz="1500">
                <a:solidFill>
                  <a:srgbClr val="FFFFFF"/>
                </a:solidFill>
                <a:latin typeface="Microsoft YaHei"/>
              </a:rPr>
              <a:t>▪ K11  防护失效：停下、更换、查皮肤</a:t>
            </a:r>
          </a:p>
          <a:p>
            <a:pPr>
              <a:spcAft>
                <a:spcPts val="800"/>
              </a:spcAft>
            </a:pPr>
            <a:r>
              <a:rPr sz="1500">
                <a:solidFill>
                  <a:srgbClr val="FFFFFF"/>
                </a:solidFill>
                <a:latin typeface="Microsoft YaHei"/>
              </a:rPr>
              <a:t>▪ K12  针刺伤：轻挤、冲洗、消毒、包扎</a:t>
            </a:r>
          </a:p>
          <a:p>
            <a:pPr>
              <a:spcAft>
                <a:spcPts val="800"/>
              </a:spcAft>
            </a:pPr>
            <a:r>
              <a:rPr sz="1500">
                <a:solidFill>
                  <a:srgbClr val="FFFFFF"/>
                </a:solidFill>
                <a:latin typeface="Microsoft YaHei"/>
              </a:rPr>
              <a:t>▪ K13  皮肤和眼睛沾染：马上冲洗</a:t>
            </a:r>
          </a:p>
          <a:p>
            <a:pPr>
              <a:spcAft>
                <a:spcPts val="800"/>
              </a:spcAft>
            </a:pPr>
            <a:r>
              <a:rPr sz="1500">
                <a:solidFill>
                  <a:srgbClr val="FFFFFF"/>
                </a:solidFill>
                <a:latin typeface="Microsoft YaHei"/>
              </a:rPr>
              <a:t>▪ K14  立即逐级报告，不隐瞒</a:t>
            </a:r>
          </a:p>
          <a:p>
            <a:pPr>
              <a:spcAft>
                <a:spcPts val="800"/>
              </a:spcAft>
            </a:pPr>
            <a:r>
              <a:rPr sz="1500">
                <a:solidFill>
                  <a:srgbClr val="FFFFFF"/>
                </a:solidFill>
                <a:latin typeface="Microsoft YaHei"/>
              </a:rPr>
              <a:t>▪ K15  就医评估，登记随访</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临床与环境样本的接收和处理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接触临床样本（血液、血清、拭子、体液、组织等）和污水等环境样本的医学、生命科学、公共卫生、环境工程等专业本科生、研究生和教职工（必修）；样本接收人员、实验室负责人和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能说出临床样本和环境样本的特点：成分复杂、病原说不准，一律按有传染性对待，再查目录、做风险评估定级别。</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能做到样本接收的规范步骤：先穿防护、查渗漏、外包装消毒，逐管核对登记，不合格样本拒收，编号代替姓名并保护患者信息。</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能做到在生物安全柜内静置、垫纸、慢拧开管；能判断“要培养的”和“做核酸的”两条路的不同防护，疑似高致病样本不擅自培养。</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能说出核酸检测的灭活—提取—定量流程、自动提取仪的安全操作、实验室分区单向流动，以及阳性结果报告和剩余样本存毁登记的要求。</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《中华人民共和国生物安全法》：病原微生物实验室生物安全管理、样本的管理与报告义务</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《病原微生物实验室生物安全管理条例》（以现行文本为准）：样本的采集、保存、登记和销毁，高致病性病原微生物实验活动须在相应级别实验室并经批准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《人间传染的病原微生物目录》（国家卫生健康委发布，以现行版本为准）：病原分类及培养、未经培养的感染材料、灭活材料等不同实验活动所需的实验室级别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生物安全通用要求》：样本接收、标识、运送、储存、销毁与记录</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233（以现行文本为准）《病原微生物实验室生物安全通用准则》：样本操作、生物安全柜使用、消毒与废物处置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《中华人民共和国个人信息保护法》、《中华人民共和国人类遗传资源管理条例》（以现行文本为准）：患者健康信息属敏感个人信息；样本用于研究须依法合规</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《医疗机构临床基因扩增检验实验室管理办法》（以现行文本为准）：核酸扩增检验实验室分区与单向流动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《中华人民共和国传染病防治法》（以现行文本为准）及本校实验室安全管理规定：阳性结果和疑似传染病的报告程序</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临床样本：来源多，种类多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临床样本来自医院的病人</a:t>
            </a:r>
          </a:p>
          <a:p>
            <a:pPr>
              <a:spcAft>
                <a:spcPts val="1000"/>
              </a:spcAft>
            </a:pPr>
            <a:r>
              <a:rPr sz="2000">
                <a:solidFill>
                  <a:srgbClr val="222B33"/>
                </a:solidFill>
                <a:latin typeface="Microsoft YaHei"/>
              </a:rPr>
              <a:t>▪ 血液、血清、拭子、尿液、粪便、组织等</a:t>
            </a:r>
          </a:p>
          <a:p>
            <a:pPr>
              <a:spcAft>
                <a:spcPts val="1000"/>
              </a:spcAft>
            </a:pPr>
            <a:r>
              <a:rPr sz="2000">
                <a:solidFill>
                  <a:srgbClr val="222B33"/>
                </a:solidFill>
                <a:latin typeface="Microsoft YaHei"/>
              </a:rPr>
              <a:t>▪ 送来时一般泡在保存液或保存介质里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临床样本是从病人身上采集、送到实验室检测或研究的材料，在医院检验科、病理科和疾病检测实验室每天都要处理；高校的医学、公共卫生和生命科学实验室在合作研究中也会接收医院送来的样本。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以为只有“病原菌株”才危险，忽视普通临床样本</a:t>
            </a:r>
          </a:p>
          <a:p>
            <a:pPr>
              <a:spcAft>
                <a:spcPts val="1000"/>
              </a:spcAft>
            </a:pPr>
            <a:r>
              <a:rPr sz="1500">
                <a:solidFill>
                  <a:srgbClr val="222B33"/>
                </a:solidFill>
                <a:latin typeface="Microsoft YaHei"/>
              </a:rPr>
              <a:t>▪ 不清楚样本泡的是什么保存液就直接操作</a:t>
            </a:r>
          </a:p>
        </p:txBody>
      </p:sp>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培养物底细清楚，病人样本说不准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研究人员送来的纯培养物底细清楚</a:t>
            </a:r>
          </a:p>
          <a:p>
            <a:pPr>
              <a:spcAft>
                <a:spcPts val="1000"/>
              </a:spcAft>
            </a:pPr>
            <a:r>
              <a:rPr sz="2000">
                <a:solidFill>
                  <a:srgbClr val="222B33"/>
                </a:solidFill>
                <a:latin typeface="Microsoft YaHei"/>
              </a:rPr>
              <a:t>▪ 是什么、改过什么都清楚，风险好评估</a:t>
            </a:r>
          </a:p>
          <a:p>
            <a:pPr>
              <a:spcAft>
                <a:spcPts val="1000"/>
              </a:spcAft>
            </a:pPr>
            <a:r>
              <a:rPr sz="2000">
                <a:solidFill>
                  <a:srgbClr val="222B33"/>
                </a:solidFill>
                <a:latin typeface="Microsoft YaHei"/>
              </a:rPr>
              <a:t>▪ 病人样本可能不止一种病原，事先说不准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实验室收到的生物材料大体有两类。一类是研究人员送来的纯培养物：是哪种病原、哪个株、做过什么改造，都有记录，可以对照目录和资料做风险评估（见第 067、068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只按申请单上的检测项目估计风险</a:t>
            </a:r>
          </a:p>
          <a:p>
            <a:pPr>
              <a:spcAft>
                <a:spcPts val="1000"/>
              </a:spcAft>
            </a:pPr>
            <a:r>
              <a:rPr sz="1500">
                <a:solidFill>
                  <a:srgbClr val="222B33"/>
                </a:solidFill>
                <a:latin typeface="Microsoft YaHei"/>
              </a:rPr>
              <a:t>▪ 把病人样本当成“只含目标病原”的样品</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一律按有传染性对待，再评估定级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每一管临床样本都按有传染性对待</a:t>
            </a:r>
          </a:p>
          <a:p>
            <a:pPr>
              <a:spcAft>
                <a:spcPts val="1000"/>
              </a:spcAft>
            </a:pPr>
            <a:r>
              <a:rPr sz="1700">
                <a:solidFill>
                  <a:srgbClr val="222B33"/>
                </a:solidFill>
                <a:latin typeface="Microsoft YaHei"/>
              </a:rPr>
              <a:t>▪ 再查病原目录、做风险评估，定实验室级别</a:t>
            </a:r>
          </a:p>
          <a:p>
            <a:pPr>
              <a:spcAft>
                <a:spcPts val="1000"/>
              </a:spcAft>
            </a:pPr>
            <a:r>
              <a:rPr sz="1700">
                <a:solidFill>
                  <a:srgbClr val="222B33"/>
                </a:solidFill>
                <a:latin typeface="Microsoft YaHei"/>
              </a:rPr>
              <a:t>▪ 国内第一类最危险，别和国际编号弄反</a:t>
            </a:r>
          </a:p>
          <a:p>
            <a:pPr>
              <a:spcAft>
                <a:spcPts val="1000"/>
              </a:spcAft>
            </a:pPr>
            <a:r>
              <a:rPr sz="1700">
                <a:solidFill>
                  <a:srgbClr val="222B33"/>
                </a:solidFill>
                <a:latin typeface="Microsoft YaHei"/>
              </a:rPr>
              <a:t>▪ 看采样单；没症状也可能带菌，别大意</a:t>
            </a:r>
          </a:p>
          <a:p>
            <a:pPr>
              <a:spcAft>
                <a:spcPts val="1000"/>
              </a:spcAft>
            </a:pPr>
            <a:r>
              <a:rPr sz="1700">
                <a:solidFill>
                  <a:srgbClr val="222B33"/>
                </a:solidFill>
                <a:latin typeface="Microsoft YaHei"/>
              </a:rPr>
              <a:t>▪ 血样防溅防扎；已知未知一样管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因为说不准，临床样本一律先按有传染性对待：戴手套等个人防护，在生物安全柜内开管，防溅、防扎，血样尤其如此。这是普遍防护的思路。原片“按最高可能风险对待”的说法，在国内要落实为：先按有传染性对待，再依据《人间传染的病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样本“看着正常”“申请单写的是普通项目”就放松防护</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污水等环境样本也按感染性对待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污水尤其医院污水可能含病原</a:t>
            </a:r>
          </a:p>
          <a:p>
            <a:pPr>
              <a:spcAft>
                <a:spcPts val="1000"/>
              </a:spcAft>
            </a:pPr>
            <a:r>
              <a:rPr sz="2000">
                <a:solidFill>
                  <a:srgbClr val="222B33"/>
                </a:solidFill>
                <a:latin typeface="Microsoft YaHei"/>
              </a:rPr>
              <a:t>▪ 戴手套取样，瓶盖拧紧，做完洗手</a:t>
            </a:r>
          </a:p>
          <a:p>
            <a:pPr>
              <a:spcAft>
                <a:spcPts val="1000"/>
              </a:spcAft>
            </a:pPr>
            <a:r>
              <a:rPr sz="2000">
                <a:solidFill>
                  <a:srgbClr val="222B33"/>
                </a:solidFill>
                <a:latin typeface="Microsoft YaHei"/>
              </a:rPr>
              <a:t>▪ 不在开放台面上直接倾倒</a:t>
            </a:r>
          </a:p>
          <a:p>
            <a:pPr>
              <a:spcAft>
                <a:spcPts val="1000"/>
              </a:spcAft>
            </a:pPr>
            <a:r>
              <a:rPr sz="2000">
                <a:solidFill>
                  <a:srgbClr val="222B33"/>
                </a:solidFill>
                <a:latin typeface="Microsoft YaHei"/>
              </a:rPr>
              <a:t>▪ 评估后一般在二级实验室操作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污水、污泥、医院污水以及其他可能受人畜排泄物污染的环境样本，可能含有多种病原菌和病毒，同样按有感染性的样本对待，不能当成“普通水样”。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把污水样本当普通水样在开放台面上倒来倒去</a:t>
            </a:r>
          </a:p>
          <a:p>
            <a:pPr>
              <a:spcAft>
                <a:spcPts val="1000"/>
              </a:spcAft>
            </a:pPr>
            <a:r>
              <a:rPr sz="1500">
                <a:solidFill>
                  <a:srgbClr val="222B33"/>
                </a:solidFill>
                <a:latin typeface="Microsoft YaHei"/>
              </a:rPr>
              <a:t>▪ 采样后不洗手就吃东西</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保存液：生物、化学两头防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有的样本泡在化学保存液里</a:t>
            </a:r>
          </a:p>
          <a:p>
            <a:pPr>
              <a:spcAft>
                <a:spcPts val="1000"/>
              </a:spcAft>
            </a:pPr>
            <a:r>
              <a:rPr sz="2000">
                <a:solidFill>
                  <a:srgbClr val="222B33"/>
                </a:solidFill>
                <a:latin typeface="Microsoft YaHei"/>
              </a:rPr>
              <a:t>▪ 查随附的化学品安全技术说明书</a:t>
            </a:r>
          </a:p>
          <a:p>
            <a:pPr>
              <a:spcAft>
                <a:spcPts val="1000"/>
              </a:spcAft>
            </a:pPr>
            <a:r>
              <a:rPr sz="2000">
                <a:solidFill>
                  <a:srgbClr val="222B33"/>
                </a:solidFill>
                <a:latin typeface="Microsoft YaHei"/>
              </a:rPr>
              <a:t>▪ 生物风险、化学风险两头都防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有些样本泡在化学保存液或固定液里（例如组织固定液、含裂解或灭活成分的保存液），这时样本既有生物风险，也有化学风险（刺激、腐蚀、毒性等）。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只防生物风险，忽视保存液的化学危害</a:t>
            </a:r>
          </a:p>
          <a:p>
            <a:pPr>
              <a:spcAft>
                <a:spcPts val="1000"/>
              </a:spcAft>
            </a:pPr>
            <a:r>
              <a:rPr sz="1500">
                <a:solidFill>
                  <a:srgbClr val="222B33"/>
                </a:solidFill>
                <a:latin typeface="Microsoft YaHei"/>
              </a:rPr>
              <a:t>▪ 认为泡在保存液里的样本一定已经没有传染性</a:t>
            </a:r>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拆包：先防护，查渗漏，外包装消毒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拆包前先穿戴好防护，不光着手拆箱</a:t>
            </a:r>
          </a:p>
          <a:p>
            <a:pPr>
              <a:spcAft>
                <a:spcPts val="1000"/>
              </a:spcAft>
            </a:pPr>
            <a:r>
              <a:rPr sz="1700">
                <a:solidFill>
                  <a:srgbClr val="222B33"/>
                </a:solidFill>
                <a:latin typeface="Microsoft YaHei"/>
              </a:rPr>
              <a:t>▪ 在指定台面拆，备好吸水垫和消毒剂</a:t>
            </a:r>
          </a:p>
          <a:p>
            <a:pPr>
              <a:spcAft>
                <a:spcPts val="1000"/>
              </a:spcAft>
            </a:pPr>
            <a:r>
              <a:rPr sz="1700">
                <a:solidFill>
                  <a:srgbClr val="222B33"/>
                </a:solidFill>
                <a:latin typeface="Microsoft YaHei"/>
              </a:rPr>
              <a:t>▪ 开箱前查渗漏破损；漏了别硬拆，封好报告</a:t>
            </a:r>
          </a:p>
          <a:p>
            <a:pPr>
              <a:spcAft>
                <a:spcPts val="1000"/>
              </a:spcAft>
            </a:pPr>
            <a:r>
              <a:rPr sz="1700">
                <a:solidFill>
                  <a:srgbClr val="222B33"/>
                </a:solidFill>
                <a:latin typeface="Microsoft YaHei"/>
              </a:rPr>
              <a:t>▪ 外包装先消毒，等够作用时间再开</a:t>
            </a:r>
          </a:p>
          <a:p>
            <a:pPr>
              <a:spcAft>
                <a:spcPts val="1000"/>
              </a:spcAft>
            </a:pPr>
            <a:r>
              <a:rPr sz="1700">
                <a:solidFill>
                  <a:srgbClr val="222B33"/>
                </a:solidFill>
                <a:latin typeface="Microsoft YaHei"/>
              </a:rPr>
              <a:t>▪ 内层袋拿到生物安全柜里再开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样本箱送到后，拆包前先穿戴好实验服或隔离衣、手套和护目镜，在指定的接收台面上操作，铺好吸水垫，备好消毒剂、生物危害废物袋和溢洒处理包。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光着手在普通办公桌上拆样本箱</a:t>
            </a:r>
          </a:p>
          <a:p>
            <a:pPr>
              <a:spcAft>
                <a:spcPts val="1000"/>
              </a:spcAft>
            </a:pPr>
            <a:r>
              <a:rPr sz="1500">
                <a:solidFill>
                  <a:srgbClr val="222B33"/>
                </a:solidFill>
                <a:latin typeface="Microsoft YaHei"/>
              </a:rPr>
              <a:t>▪ 发现箱子湿了还继续拆开查看</a:t>
            </a:r>
          </a:p>
        </p:txBody>
      </p:sp>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核对登记，不合格样本拒收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逐管核对样本、申请单和送样清单</a:t>
            </a:r>
          </a:p>
          <a:p>
            <a:pPr>
              <a:spcAft>
                <a:spcPts val="1000"/>
              </a:spcAft>
            </a:pPr>
            <a:r>
              <a:rPr sz="2000">
                <a:solidFill>
                  <a:srgbClr val="222B33"/>
                </a:solidFill>
                <a:latin typeface="Microsoft YaHei"/>
              </a:rPr>
              <a:t>▪ 样本一到就登记，电脑纸本各一份</a:t>
            </a:r>
          </a:p>
          <a:p>
            <a:pPr>
              <a:spcAft>
                <a:spcPts val="1000"/>
              </a:spcAft>
            </a:pPr>
            <a:r>
              <a:rPr sz="2000">
                <a:solidFill>
                  <a:srgbClr val="222B33"/>
                </a:solidFill>
                <a:latin typeface="Microsoft YaHei"/>
              </a:rPr>
              <a:t>▪ 没标签、对不上、破损的拒收或隔离</a:t>
            </a:r>
          </a:p>
          <a:p>
            <a:pPr>
              <a:spcAft>
                <a:spcPts val="1000"/>
              </a:spcAft>
            </a:pPr>
            <a:r>
              <a:rPr sz="2000">
                <a:solidFill>
                  <a:srgbClr val="222B33"/>
                </a:solidFill>
                <a:latin typeface="Microsoft YaHei"/>
              </a:rPr>
              <a:t>▪ 单独隔离、登记，联系送检方，别自己猜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样本到达后第一步是编目登记：与送样单位一起核对送样清单，逐管核对样本标识与申请单（编号、样本类型、数量、采集时间、检测项目），确认无误后登记。登记可采用电子系统和纸质记录双份保存，记录接收时间、接收人、样本状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先做检测，事后再补登记</a:t>
            </a:r>
          </a:p>
          <a:p>
            <a:pPr>
              <a:spcAft>
                <a:spcPts val="1000"/>
              </a:spcAft>
            </a:pPr>
            <a:r>
              <a:rPr sz="1500">
                <a:solidFill>
                  <a:srgbClr val="222B33"/>
                </a:solidFill>
                <a:latin typeface="Microsoft YaHei"/>
              </a:rPr>
              <a:t>▪ 标签模糊时凭印象补写编号</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编号代替姓名，信息保密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每份样本编号，代替病人姓名</a:t>
            </a:r>
          </a:p>
          <a:p>
            <a:pPr>
              <a:spcAft>
                <a:spcPts val="1000"/>
              </a:spcAft>
            </a:pPr>
            <a:r>
              <a:rPr sz="1700">
                <a:solidFill>
                  <a:srgbClr val="222B33"/>
                </a:solidFill>
                <a:latin typeface="Microsoft YaHei"/>
              </a:rPr>
              <a:t>▪ 编号对照表锁好，专人保管</a:t>
            </a:r>
          </a:p>
          <a:p>
            <a:pPr>
              <a:spcAft>
                <a:spcPts val="1000"/>
              </a:spcAft>
            </a:pPr>
            <a:r>
              <a:rPr sz="1700">
                <a:solidFill>
                  <a:srgbClr val="222B33"/>
                </a:solidFill>
                <a:latin typeface="Microsoft YaHei"/>
              </a:rPr>
              <a:t>▪ 电子数据放在安全的服务器上</a:t>
            </a:r>
          </a:p>
          <a:p>
            <a:pPr>
              <a:spcAft>
                <a:spcPts val="1000"/>
              </a:spcAft>
            </a:pPr>
            <a:r>
              <a:rPr sz="1700">
                <a:solidFill>
                  <a:srgbClr val="222B33"/>
                </a:solidFill>
                <a:latin typeface="Microsoft YaHei"/>
              </a:rPr>
              <a:t>▪ 病人信息不外传，不拍照</a:t>
            </a:r>
          </a:p>
          <a:p>
            <a:pPr>
              <a:spcAft>
                <a:spcPts val="1000"/>
              </a:spcAft>
            </a:pPr>
            <a:r>
              <a:rPr sz="1700">
                <a:solidFill>
                  <a:srgbClr val="222B33"/>
                </a:solidFill>
                <a:latin typeface="Microsoft YaHei"/>
              </a:rPr>
              <a:t>▪ 用于研究，按规定办好审查手续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病人的健康信息属于敏感个人信息，受《中华人民共和国个人信息保护法》保护。样本登记后，用实验室编号代替病人姓名，样本管和工作记录上只写编号。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在样本管上直接写病人姓名</a:t>
            </a:r>
          </a:p>
          <a:p>
            <a:pPr>
              <a:spcAft>
                <a:spcPts val="1000"/>
              </a:spcAft>
            </a:pPr>
            <a:r>
              <a:rPr sz="1500">
                <a:solidFill>
                  <a:srgbClr val="222B33"/>
                </a:solidFill>
                <a:latin typeface="Microsoft YaHei"/>
              </a:rPr>
              <a:t>▪ 把带病人信息的申请单拍照发到群里</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柜内开管：静置、垫纸、慢拧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病人样本不在开放台面上开管</a:t>
            </a:r>
          </a:p>
          <a:p>
            <a:pPr>
              <a:spcAft>
                <a:spcPts val="1000"/>
              </a:spcAft>
            </a:pPr>
            <a:r>
              <a:rPr sz="1700">
                <a:solidFill>
                  <a:srgbClr val="222B33"/>
                </a:solidFill>
                <a:latin typeface="Microsoft YaHei"/>
              </a:rPr>
              <a:t>▪ 一律在生物安全柜里开，穿好防护</a:t>
            </a:r>
          </a:p>
          <a:p>
            <a:pPr>
              <a:spcAft>
                <a:spcPts val="1000"/>
              </a:spcAft>
            </a:pPr>
            <a:r>
              <a:rPr sz="1700">
                <a:solidFill>
                  <a:srgbClr val="222B33"/>
                </a:solidFill>
                <a:latin typeface="Microsoft YaHei"/>
              </a:rPr>
              <a:t>▪ 开盖前先静置一会儿</a:t>
            </a:r>
          </a:p>
          <a:p>
            <a:pPr>
              <a:spcAft>
                <a:spcPts val="1000"/>
              </a:spcAft>
            </a:pPr>
            <a:r>
              <a:rPr sz="1700">
                <a:solidFill>
                  <a:srgbClr val="222B33"/>
                </a:solidFill>
                <a:latin typeface="Microsoft YaHei"/>
              </a:rPr>
              <a:t>▪ 消毒液纸巾包住管盖，慢慢拧开</a:t>
            </a:r>
          </a:p>
          <a:p>
            <a:pPr>
              <a:spcAft>
                <a:spcPts val="1000"/>
              </a:spcAft>
            </a:pPr>
            <a:r>
              <a:rPr sz="1700">
                <a:solidFill>
                  <a:srgbClr val="222B33"/>
                </a:solidFill>
                <a:latin typeface="Microsoft YaHei"/>
              </a:rPr>
              <a:t>▪ 甩管、硬拔都会溅出气溶胶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打开临床样本管必须在生物安全柜内进行，穿好实验服或隔离衣、手套等防护，照操作规程一步步做（生物安全柜的使用见第 072 课）。不能在开放的台面上开管。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为了省事在台面上拔开管盖</a:t>
            </a:r>
          </a:p>
          <a:p>
            <a:pPr>
              <a:spcAft>
                <a:spcPts val="1000"/>
              </a:spcAft>
            </a:pPr>
            <a:r>
              <a:rPr sz="1500">
                <a:solidFill>
                  <a:srgbClr val="222B33"/>
                </a:solidFill>
                <a:latin typeface="Microsoft YaHei"/>
              </a:rPr>
              <a:t>▪ 管盖粘紧时用力猛拔</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四类检测，各按风险定场所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主要四类：分离培养、血清学、核酸检测、显微镜检</a:t>
            </a:r>
          </a:p>
          <a:p>
            <a:pPr>
              <a:spcAft>
                <a:spcPts val="1000"/>
              </a:spcAft>
            </a:pPr>
            <a:r>
              <a:rPr sz="2000">
                <a:solidFill>
                  <a:srgbClr val="222B33"/>
                </a:solidFill>
                <a:latin typeface="Microsoft YaHei"/>
              </a:rPr>
              <a:t>▪ 离心用密封杯，停稳静置到柜里开</a:t>
            </a:r>
          </a:p>
          <a:p>
            <a:pPr>
              <a:spcAft>
                <a:spcPts val="1000"/>
              </a:spcAft>
            </a:pPr>
            <a:r>
              <a:rPr sz="2000">
                <a:solidFill>
                  <a:srgbClr val="222B33"/>
                </a:solidFill>
                <a:latin typeface="Microsoft YaHei"/>
              </a:rPr>
              <a:t>▪ 按目录在相应级别实验室做</a:t>
            </a:r>
          </a:p>
          <a:p>
            <a:pPr>
              <a:spcAft>
                <a:spcPts val="1000"/>
              </a:spcAft>
            </a:pPr>
            <a:r>
              <a:rPr sz="2000">
                <a:solidFill>
                  <a:srgbClr val="222B33"/>
                </a:solidFill>
                <a:latin typeface="Microsoft YaHei"/>
              </a:rPr>
              <a:t>▪ 高风险的须经批准，学生不能碰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临床样本的检测主要有四类：一是分离培养，把样本中的病原分离出来；二是血清学检测，看抗原抗体反应；三是核酸检测，提取核酸后扩增检测；四是显微镜检查。不同检测的风险不同，培养风险最高（见 K11）。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离心感染性样本用不带盖的离心管</a:t>
            </a:r>
          </a:p>
          <a:p>
            <a:pPr>
              <a:spcAft>
                <a:spcPts val="1000"/>
              </a:spcAft>
            </a:pPr>
            <a:r>
              <a:rPr sz="1500">
                <a:solidFill>
                  <a:srgbClr val="222B33"/>
                </a:solidFill>
                <a:latin typeface="Microsoft YaHei"/>
              </a:rPr>
              <a:t>▪ 离心停止后马上在台面上打开</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要培养的：最严防护，疑似高致病不擅自做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样本进实验室分两条路：培养或做核酸</a:t>
            </a:r>
          </a:p>
          <a:p>
            <a:pPr>
              <a:spcAft>
                <a:spcPts val="1000"/>
              </a:spcAft>
            </a:pPr>
            <a:r>
              <a:rPr sz="1700">
                <a:solidFill>
                  <a:srgbClr val="222B33"/>
                </a:solidFill>
                <a:latin typeface="Microsoft YaHei"/>
              </a:rPr>
              <a:t>▪ 要培养的，病原会越养越多</a:t>
            </a:r>
          </a:p>
          <a:p>
            <a:pPr>
              <a:spcAft>
                <a:spcPts val="1000"/>
              </a:spcAft>
            </a:pPr>
            <a:r>
              <a:rPr sz="1700">
                <a:solidFill>
                  <a:srgbClr val="222B33"/>
                </a:solidFill>
                <a:latin typeface="Microsoft YaHei"/>
              </a:rPr>
              <a:t>▪ 按活培养物评估，防护做到最严</a:t>
            </a:r>
          </a:p>
          <a:p>
            <a:pPr>
              <a:spcAft>
                <a:spcPts val="1000"/>
              </a:spcAft>
            </a:pPr>
            <a:r>
              <a:rPr sz="1700">
                <a:solidFill>
                  <a:srgbClr val="222B33"/>
                </a:solidFill>
                <a:latin typeface="Microsoft YaHei"/>
              </a:rPr>
              <a:t>▪ 芽孢、经空气传播的，措施要选对</a:t>
            </a:r>
          </a:p>
          <a:p>
            <a:pPr>
              <a:spcAft>
                <a:spcPts val="1000"/>
              </a:spcAft>
            </a:pPr>
            <a:r>
              <a:rPr sz="1700">
                <a:solidFill>
                  <a:srgbClr val="222B33"/>
                </a:solidFill>
                <a:latin typeface="Microsoft YaHei"/>
              </a:rPr>
              <a:t>▪ 疑似高致病的不擅自培养，立即报告</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样本进了实验室，大体分两条路：一条是要分离培养病原的，一条是直接做核酸等检测的。两条路的风险不同，国内病原目录也对“病原培养”和“未经培养的感染材料操作”“灭活材料操作”分别规定了所需的实验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把培养物当成和原始样本一样的风险</a:t>
            </a:r>
          </a:p>
          <a:p>
            <a:pPr>
              <a:spcAft>
                <a:spcPts val="1000"/>
              </a:spcAft>
            </a:pPr>
            <a:r>
              <a:rPr sz="1500">
                <a:solidFill>
                  <a:srgbClr val="222B33"/>
                </a:solidFill>
                <a:latin typeface="Microsoft YaHei"/>
              </a:rPr>
              <a:t>▪ 发现可疑结果后自行扩大培养“确认一下”</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做核酸的：先灭活，确认后出柜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做核酸检测的，先灭活</a:t>
            </a:r>
          </a:p>
          <a:p>
            <a:pPr>
              <a:spcAft>
                <a:spcPts val="1000"/>
              </a:spcAft>
            </a:pPr>
            <a:r>
              <a:rPr sz="1700">
                <a:solidFill>
                  <a:srgbClr val="222B33"/>
                </a:solidFill>
                <a:latin typeface="Microsoft YaHei"/>
              </a:rPr>
              <a:t>▪ 怎么灭活，按规程和试剂说明书</a:t>
            </a:r>
          </a:p>
          <a:p>
            <a:pPr>
              <a:spcAft>
                <a:spcPts val="1000"/>
              </a:spcAft>
            </a:pPr>
            <a:r>
              <a:rPr sz="1700">
                <a:solidFill>
                  <a:srgbClr val="222B33"/>
                </a:solidFill>
                <a:latin typeface="Microsoft YaHei"/>
              </a:rPr>
              <a:t>▪ 既要灭活，又要保住检测成分</a:t>
            </a:r>
          </a:p>
          <a:p>
            <a:pPr>
              <a:spcAft>
                <a:spcPts val="1000"/>
              </a:spcAft>
            </a:pPr>
            <a:r>
              <a:rPr sz="1700">
                <a:solidFill>
                  <a:srgbClr val="222B33"/>
                </a:solidFill>
                <a:latin typeface="Microsoft YaHei"/>
              </a:rPr>
              <a:t>▪ 灭活方法要验证；贴标识、外壁消毒后出柜</a:t>
            </a:r>
          </a:p>
          <a:p>
            <a:pPr>
              <a:spcAft>
                <a:spcPts val="1000"/>
              </a:spcAft>
            </a:pPr>
            <a:r>
              <a:rPr sz="1700">
                <a:solidFill>
                  <a:srgbClr val="222B33"/>
                </a:solidFill>
                <a:latin typeface="Microsoft YaHei"/>
              </a:rPr>
              <a:t>▪ 每一步写进方案，步骤风险也评估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做核酸检测的样本，开管后先灭活，让病原失去感染力，再往下做提取。怎么灭活（加热、化学裂解等），按该病原的操作规程和试剂说明书进行；原片中的具体条件是当时的做法，以现行规定和试剂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灭活没完成就把样本拿出生物安全柜</a:t>
            </a:r>
          </a:p>
          <a:p>
            <a:pPr>
              <a:spcAft>
                <a:spcPts val="1000"/>
              </a:spcAft>
            </a:pPr>
            <a:r>
              <a:rPr sz="1500">
                <a:solidFill>
                  <a:srgbClr val="222B33"/>
                </a:solidFill>
                <a:latin typeface="Microsoft YaHei"/>
              </a:rPr>
              <a:t>▪ 照搬网上或旧文献的灭活条件，不做验证</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核酸提取在柜内，防离心气溶胶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灭活后提取核酸，也在柜里做</a:t>
            </a:r>
          </a:p>
          <a:p>
            <a:pPr>
              <a:spcAft>
                <a:spcPts val="1000"/>
              </a:spcAft>
            </a:pPr>
            <a:r>
              <a:rPr sz="1700">
                <a:solidFill>
                  <a:srgbClr val="222B33"/>
                </a:solidFill>
                <a:latin typeface="Microsoft YaHei"/>
              </a:rPr>
              <a:t>▪ 提取要离心，会产生气溶胶</a:t>
            </a:r>
          </a:p>
          <a:p>
            <a:pPr>
              <a:spcAft>
                <a:spcPts val="1000"/>
              </a:spcAft>
            </a:pPr>
            <a:r>
              <a:rPr sz="1700">
                <a:solidFill>
                  <a:srgbClr val="222B33"/>
                </a:solidFill>
                <a:latin typeface="Microsoft YaHei"/>
              </a:rPr>
              <a:t>▪ 用自动化提取仪能减少气溶胶</a:t>
            </a:r>
          </a:p>
          <a:p>
            <a:pPr>
              <a:spcAft>
                <a:spcPts val="1000"/>
              </a:spcAft>
            </a:pPr>
            <a:r>
              <a:rPr sz="1700">
                <a:solidFill>
                  <a:srgbClr val="222B33"/>
                </a:solidFill>
                <a:latin typeface="Microsoft YaHei"/>
              </a:rPr>
              <a:t>▪ 提出的核酸本身风险很小</a:t>
            </a:r>
          </a:p>
          <a:p>
            <a:pPr>
              <a:spcAft>
                <a:spcPts val="1000"/>
              </a:spcAft>
            </a:pPr>
            <a:r>
              <a:rPr sz="1700">
                <a:solidFill>
                  <a:srgbClr val="222B33"/>
                </a:solidFill>
                <a:latin typeface="Microsoft YaHei"/>
              </a:rPr>
              <a:t>▪ RNA 不稳定：尽快处理，提完上冰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提取病毒核酸已是常规工作，但同样必须遵守生物安全规程，在相应级别的实验室进行。灭活后的核酸提取也在生物安全柜内操作，开管、加样产生的气溶胶留在柜内。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认为“已经加了裂解液”就可以在柜外随便操作</a:t>
            </a:r>
          </a:p>
          <a:p>
            <a:pPr>
              <a:spcAft>
                <a:spcPts val="1000"/>
              </a:spcAft>
            </a:pPr>
            <a:r>
              <a:rPr sz="1500">
                <a:solidFill>
                  <a:srgbClr val="222B33"/>
                </a:solidFill>
                <a:latin typeface="Microsoft YaHei"/>
              </a:rPr>
              <a:t>▪ 离心后在柜外直接打开离心管</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卡盒式自动提取：认识仪器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卡盒式提取仪全程在机器里完成</a:t>
            </a:r>
          </a:p>
          <a:p>
            <a:pPr>
              <a:spcAft>
                <a:spcPts val="1000"/>
              </a:spcAft>
            </a:pPr>
            <a:r>
              <a:rPr sz="1700">
                <a:solidFill>
                  <a:srgbClr val="222B33"/>
                </a:solidFill>
                <a:latin typeface="Microsoft YaHei"/>
              </a:rPr>
              <a:t>▪ 卡盒有样本孔、试剂孔和收集孔</a:t>
            </a:r>
          </a:p>
          <a:p>
            <a:pPr>
              <a:spcAft>
                <a:spcPts val="1000"/>
              </a:spcAft>
            </a:pPr>
            <a:r>
              <a:rPr sz="1700">
                <a:solidFill>
                  <a:srgbClr val="222B33"/>
                </a:solidFill>
                <a:latin typeface="Microsoft YaHei"/>
              </a:rPr>
              <a:t>▪ 磁力板把磁珠吸到底；内有磁棒和加热块</a:t>
            </a:r>
          </a:p>
          <a:p>
            <a:pPr>
              <a:spcAft>
                <a:spcPts val="1000"/>
              </a:spcAft>
            </a:pPr>
            <a:r>
              <a:rPr sz="1700">
                <a:solidFill>
                  <a:srgbClr val="222B33"/>
                </a:solidFill>
                <a:latin typeface="Microsoft YaHei"/>
              </a:rPr>
              <a:t>▪ 校准交给专业人员，别自己动</a:t>
            </a:r>
          </a:p>
          <a:p>
            <a:pPr>
              <a:spcAft>
                <a:spcPts val="1000"/>
              </a:spcAft>
            </a:pPr>
            <a:r>
              <a:rPr sz="1700">
                <a:solidFill>
                  <a:srgbClr val="222B33"/>
                </a:solidFill>
                <a:latin typeface="Microsoft YaHei"/>
              </a:rPr>
              <a:t>▪ 学会步骤，到相应实验室实际操作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卡盒式自动核酸提取仪使用预先封装好试剂的卡盒（样本板），裂解、磁珠捕获、洗涤和洗脱全过程都在机器内完成，减少手工操作和气溶胶。不同仪器的卡盒规格（每排孔数、排数、一次可放几块）不同，以说明书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自行打开仪器内部或调整校准</a:t>
            </a:r>
          </a:p>
          <a:p>
            <a:pPr>
              <a:spcAft>
                <a:spcPts val="1000"/>
              </a:spcAft>
            </a:pPr>
            <a:r>
              <a:rPr sz="1500">
                <a:solidFill>
                  <a:srgbClr val="222B33"/>
                </a:solidFill>
                <a:latin typeface="Microsoft YaHei"/>
              </a:rPr>
              <a:t>▪ 在普通办公室里用仪器处理真实样本</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装板、选程序，确认到位再启动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专用条装进卡槽，每条都锁紧</a:t>
            </a:r>
          </a:p>
          <a:p>
            <a:pPr>
              <a:spcAft>
                <a:spcPts val="1000"/>
              </a:spcAft>
            </a:pPr>
            <a:r>
              <a:rPr sz="1700">
                <a:solidFill>
                  <a:srgbClr val="222B33"/>
                </a:solidFill>
                <a:latin typeface="Microsoft YaHei"/>
              </a:rPr>
              <a:t>▪ 在柜里加样，试剂孔用时再撕膜</a:t>
            </a:r>
          </a:p>
          <a:p>
            <a:pPr>
              <a:spcAft>
                <a:spcPts val="1000"/>
              </a:spcAft>
            </a:pPr>
            <a:r>
              <a:rPr sz="1700">
                <a:solidFill>
                  <a:srgbClr val="222B33"/>
                </a:solidFill>
                <a:latin typeface="Microsoft YaHei"/>
              </a:rPr>
              <a:t>▪ 选提取、选程序见对勾，再选对应试剂盒</a:t>
            </a:r>
          </a:p>
          <a:p>
            <a:pPr>
              <a:spcAft>
                <a:spcPts val="1000"/>
              </a:spcAft>
            </a:pPr>
            <a:r>
              <a:rPr sz="1700">
                <a:solidFill>
                  <a:srgbClr val="222B33"/>
                </a:solidFill>
                <a:latin typeface="Microsoft YaHei"/>
              </a:rPr>
              <a:t>▪ 装几块卡盒就开几块加热块</a:t>
            </a:r>
          </a:p>
          <a:p>
            <a:pPr>
              <a:spcAft>
                <a:spcPts val="1000"/>
              </a:spcAft>
            </a:pPr>
            <a:r>
              <a:rPr sz="1700">
                <a:solidFill>
                  <a:srgbClr val="222B33"/>
                </a:solidFill>
                <a:latin typeface="Microsoft YaHei"/>
              </a:rPr>
              <a:t>▪ 启动前确认放平到位，放歪会洒样</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操作顺序：先把专用条装进各自的卡槽，每一条都锁紧；在生物安全柜内把样本加入样本孔，试剂孔预先用膜封好（运输时不洒），用时再撕膜；加好样后，把整块样本板平稳推进仪器。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专用条没锁紧、卡盒没放平就启动</a:t>
            </a:r>
          </a:p>
          <a:p>
            <a:pPr>
              <a:spcAft>
                <a:spcPts val="1000"/>
              </a:spcAft>
            </a:pPr>
            <a:r>
              <a:rPr sz="1500">
                <a:solidFill>
                  <a:srgbClr val="222B33"/>
                </a:solidFill>
                <a:latin typeface="Microsoft YaHei"/>
              </a:rPr>
              <a:t>▪ 运行中途打开前门查看</a:t>
            </a:r>
          </a:p>
        </p:txBody>
      </p:sp>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荧光定量检测与判读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提取物最后上荧光定量仪检测</a:t>
            </a:r>
          </a:p>
          <a:p>
            <a:pPr>
              <a:spcAft>
                <a:spcPts val="1000"/>
              </a:spcAft>
            </a:pPr>
            <a:r>
              <a:rPr sz="2000">
                <a:solidFill>
                  <a:srgbClr val="222B33"/>
                </a:solidFill>
                <a:latin typeface="Microsoft YaHei"/>
              </a:rPr>
              <a:t>▪ RNA 先逆转录，再边扩增边读荧光</a:t>
            </a:r>
          </a:p>
          <a:p>
            <a:pPr>
              <a:spcAft>
                <a:spcPts val="1000"/>
              </a:spcAft>
            </a:pPr>
            <a:r>
              <a:rPr sz="2000">
                <a:solidFill>
                  <a:srgbClr val="222B33"/>
                </a:solidFill>
                <a:latin typeface="Microsoft YaHei"/>
              </a:rPr>
              <a:t>▪ 引物对准几段关键基因</a:t>
            </a:r>
          </a:p>
          <a:p>
            <a:pPr>
              <a:spcAft>
                <a:spcPts val="1000"/>
              </a:spcAft>
            </a:pPr>
            <a:r>
              <a:rPr sz="2000">
                <a:solidFill>
                  <a:srgbClr val="222B33"/>
                </a:solidFill>
                <a:latin typeface="Microsoft YaHei"/>
              </a:rPr>
              <a:t>▪ 各基因拷贝数不同，判读要考虑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提取好的核酸上荧光定量 PCR 仪检测，判断样本里有没有目标病原。仪器会给出扩增曲线，告诉我们目标是否存在。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只看一个靶标的曲线就下结论</a:t>
            </a:r>
          </a:p>
          <a:p>
            <a:pPr>
              <a:spcAft>
                <a:spcPts val="1000"/>
              </a:spcAft>
            </a:pPr>
            <a:r>
              <a:rPr sz="1500">
                <a:solidFill>
                  <a:srgbClr val="222B33"/>
                </a:solidFill>
                <a:latin typeface="Microsoft YaHei"/>
              </a:rPr>
              <a:t>▪ 扩增结束后在实验室里随意开盖</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核酸检测分区，单向流动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核酸检测实验室分成几个区</a:t>
            </a:r>
          </a:p>
          <a:p>
            <a:pPr>
              <a:spcAft>
                <a:spcPts val="1000"/>
              </a:spcAft>
            </a:pPr>
            <a:r>
              <a:rPr sz="2000">
                <a:solidFill>
                  <a:srgbClr val="222B33"/>
                </a:solidFill>
                <a:latin typeface="Microsoft YaHei"/>
              </a:rPr>
              <a:t>▪ 人和物品单向走，不走回头路</a:t>
            </a:r>
          </a:p>
          <a:p>
            <a:pPr>
              <a:spcAft>
                <a:spcPts val="1000"/>
              </a:spcAft>
            </a:pPr>
            <a:r>
              <a:rPr sz="2000">
                <a:solidFill>
                  <a:srgbClr val="222B33"/>
                </a:solidFill>
                <a:latin typeface="Microsoft YaHei"/>
              </a:rPr>
              <a:t>▪ 各区工作服和用品不混用</a:t>
            </a:r>
          </a:p>
          <a:p>
            <a:pPr>
              <a:spcAft>
                <a:spcPts val="1000"/>
              </a:spcAft>
            </a:pPr>
            <a:r>
              <a:rPr sz="2000">
                <a:solidFill>
                  <a:srgbClr val="222B33"/>
                </a:solidFill>
                <a:latin typeface="Microsoft YaHei"/>
              </a:rPr>
              <a:t>▪ 既防污染结果，也保护人员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展核酸扩增检测的实验室，按《医疗机构临床基因扩增检验实验室管理办法》（以现行文本为准）等要求分区，一般包括试剂准备区、样本制备区、扩增区和扩增产物分析区（具体分区以本实验室设计和规定为准），样本制备区按生物安全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从扩增区出来又回到样本制备区</a:t>
            </a:r>
          </a:p>
          <a:p>
            <a:pPr>
              <a:spcAft>
                <a:spcPts val="1000"/>
              </a:spcAft>
            </a:pPr>
            <a:r>
              <a:rPr sz="1500">
                <a:solidFill>
                  <a:srgbClr val="222B33"/>
                </a:solidFill>
                <a:latin typeface="Microsoft YaHei"/>
              </a:rPr>
              <a:t>▪ 穿着一个区的工作服到另一个区</a:t>
            </a:r>
          </a:p>
        </p:txBody>
      </p:sp>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阳性结果及时报告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出现阳性结果，按规定及时报告</a:t>
            </a:r>
          </a:p>
          <a:p>
            <a:pPr>
              <a:spcAft>
                <a:spcPts val="1000"/>
              </a:spcAft>
            </a:pPr>
            <a:r>
              <a:rPr sz="2000">
                <a:solidFill>
                  <a:srgbClr val="222B33"/>
                </a:solidFill>
                <a:latin typeface="Microsoft YaHei"/>
              </a:rPr>
              <a:t>▪ 按国家规定和本校程序逐级上报</a:t>
            </a:r>
          </a:p>
          <a:p>
            <a:pPr>
              <a:spcAft>
                <a:spcPts val="1000"/>
              </a:spcAft>
            </a:pPr>
            <a:r>
              <a:rPr sz="2000">
                <a:solidFill>
                  <a:srgbClr val="222B33"/>
                </a:solidFill>
                <a:latin typeface="Microsoft YaHei"/>
              </a:rPr>
              <a:t>▪ 阳性样本单独保存，按要求移交</a:t>
            </a:r>
          </a:p>
          <a:p>
            <a:pPr>
              <a:spcAft>
                <a:spcPts val="1000"/>
              </a:spcAft>
            </a:pPr>
            <a:r>
              <a:rPr sz="2000">
                <a:solidFill>
                  <a:srgbClr val="222B33"/>
                </a:solidFill>
                <a:latin typeface="Microsoft YaHei"/>
              </a:rPr>
              <a:t>▪ 结果不私下外传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检测中出现阳性结果，特别是涉及法定传染病或高致病性病原微生物的，要按《中华人民共和国传染病防治法》等国家规定和本校程序及时报告：先报告实验室负责人，由负责人按程序报学院和学校主管部门，需要向卫生健康主管部门或疾病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发现阳性后只在组里说一声，不按程序报告</a:t>
            </a:r>
          </a:p>
          <a:p>
            <a:pPr>
              <a:spcAft>
                <a:spcPts val="1000"/>
              </a:spcAft>
            </a:pPr>
            <a:r>
              <a:rPr sz="1500">
                <a:solidFill>
                  <a:srgbClr val="222B33"/>
                </a:solidFill>
                <a:latin typeface="Microsoft YaHei"/>
              </a:rPr>
              <a:t>▪ 把阳性样本和其他样本混放</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剩余样本：存要上锁，毁要登记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要留存的样本按条件存放，冰箱上锁</a:t>
            </a:r>
          </a:p>
          <a:p>
            <a:pPr>
              <a:spcAft>
                <a:spcPts val="1000"/>
              </a:spcAft>
            </a:pPr>
            <a:r>
              <a:rPr sz="2000">
                <a:solidFill>
                  <a:srgbClr val="222B33"/>
                </a:solidFill>
                <a:latin typeface="Microsoft YaHei"/>
              </a:rPr>
              <a:t>▪ 库存清楚，每一管都能追溯</a:t>
            </a:r>
          </a:p>
          <a:p>
            <a:pPr>
              <a:spcAft>
                <a:spcPts val="1000"/>
              </a:spcAft>
            </a:pPr>
            <a:r>
              <a:rPr sz="2000">
                <a:solidFill>
                  <a:srgbClr val="222B33"/>
                </a:solidFill>
                <a:latin typeface="Microsoft YaHei"/>
              </a:rPr>
              <a:t>▪ 不留的按感染性废物处置，不进普通垃圾</a:t>
            </a:r>
          </a:p>
          <a:p>
            <a:pPr>
              <a:spcAft>
                <a:spcPts val="1000"/>
              </a:spcAft>
            </a:pPr>
            <a:r>
              <a:rPr sz="2000">
                <a:solidFill>
                  <a:srgbClr val="222B33"/>
                </a:solidFill>
                <a:latin typeface="Microsoft YaHei"/>
              </a:rPr>
              <a:t>▪ 数量、去向都登记，账物相符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有的样本做完检测还要留着以后再分析。留存的样本按要求的条件（温度、容器、标识）存放在指定的冰箱或冻存设备中，设备上锁，专人管理。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样本放在不上锁的公共冰箱里，没人知道是谁的</a:t>
            </a:r>
          </a:p>
          <a:p>
            <a:pPr>
              <a:spcAft>
                <a:spcPts val="1000"/>
              </a:spcAft>
            </a:pPr>
            <a:r>
              <a:rPr sz="1500">
                <a:solidFill>
                  <a:srgbClr val="222B33"/>
                </a:solidFill>
                <a:latin typeface="Microsoft YaHei"/>
              </a:rPr>
              <a:t>▪ 用完的样本管直接丢进普通垃圾桶</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关于临床样本，下列说法正确的是：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申请单写的是普通检测项目，可以按无传染性处理</a:t>
            </a:r>
          </a:p>
          <a:p>
            <a:pPr algn="l"/>
            <a:r>
              <a:rPr sz="1500" b="0">
                <a:solidFill>
                  <a:srgbClr val="222B33"/>
                </a:solidFill>
                <a:latin typeface="Microsoft YaHei"/>
              </a:rPr>
              <a:t>B. 一律先按有传染性对待，再查病原目录、做风险评估确定防护级别</a:t>
            </a:r>
          </a:p>
          <a:p>
            <a:pPr algn="l"/>
            <a:r>
              <a:rPr sz="1500" b="0">
                <a:solidFill>
                  <a:srgbClr val="222B33"/>
                </a:solidFill>
                <a:latin typeface="Microsoft YaHei"/>
              </a:rPr>
              <a:t>C. 看起来正常的样本一般不含病原</a:t>
            </a:r>
          </a:p>
          <a:p>
            <a:pPr algn="l"/>
            <a:r>
              <a:rPr sz="1500" b="0">
                <a:solidFill>
                  <a:srgbClr val="222B33"/>
                </a:solidFill>
                <a:latin typeface="Microsoft YaHei"/>
              </a:rPr>
              <a:t>D. 泡在保存液里的样本一定已经灭活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判断：样本箱送到后发现外包装潮湿渗漏，应立即打开查看是哪一管漏了。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接收样本时发现一管没有标签，正确的做法是：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按顺序推断编号补写</a:t>
            </a:r>
          </a:p>
          <a:p>
            <a:pPr algn="l"/>
            <a:r>
              <a:rPr sz="1500" b="0">
                <a:solidFill>
                  <a:srgbClr val="222B33"/>
                </a:solidFill>
                <a:latin typeface="Microsoft YaHei"/>
              </a:rPr>
              <a:t>B. 拒收或单独隔离，登记原因，联系送检方</a:t>
            </a:r>
          </a:p>
          <a:p>
            <a:pPr algn="l"/>
            <a:r>
              <a:rPr sz="1500" b="0">
                <a:solidFill>
                  <a:srgbClr val="222B33"/>
                </a:solidFill>
                <a:latin typeface="Microsoft YaHei"/>
              </a:rPr>
              <a:t>C. 先检测再说</a:t>
            </a:r>
          </a:p>
          <a:p>
            <a:pPr algn="l"/>
            <a:r>
              <a:rPr sz="1500" b="0">
                <a:solidFill>
                  <a:srgbClr val="222B33"/>
                </a:solidFill>
                <a:latin typeface="Microsoft YaHei"/>
              </a:rPr>
              <a:t>D. 直接丢弃，不登记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做核酸检测的临床样本，下列流程正确的是：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台面上开管，加热后提取</a:t>
            </a:r>
          </a:p>
          <a:p>
            <a:pPr algn="l"/>
            <a:r>
              <a:rPr sz="1500" b="0">
                <a:solidFill>
                  <a:srgbClr val="222B33"/>
                </a:solidFill>
                <a:latin typeface="Microsoft YaHei"/>
              </a:rPr>
              <a:t>B. 生物安全柜内静置、垫纸慢拧开管，按验证过的方法灭活，贴标识、外壁消毒后出柜，再提取和定量检测</a:t>
            </a:r>
          </a:p>
          <a:p>
            <a:pPr algn="l"/>
            <a:r>
              <a:rPr sz="1500" b="0">
                <a:solidFill>
                  <a:srgbClr val="222B33"/>
                </a:solidFill>
                <a:latin typeface="Microsoft YaHei"/>
              </a:rPr>
              <a:t>C. 先培养扩增病原再提取</a:t>
            </a:r>
          </a:p>
          <a:p>
            <a:pPr algn="l"/>
            <a:r>
              <a:rPr sz="1500" b="0">
                <a:solidFill>
                  <a:srgbClr val="222B33"/>
                </a:solidFill>
                <a:latin typeface="Microsoft YaHei"/>
              </a:rPr>
              <a:t>D. 开管后直接拿到扩增区操作</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079 · 临床与环境样本的接收和处理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079 临床与环境样本的接收和处理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判断：检测中怀疑样本含高致病性病原微生物，可以先自行扩大培养确认后再报告。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简答：为什么样本要用编号代替病人姓名？剩余样本怎样管理？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临床样本：来源多，种类多</a:t>
            </a:r>
          </a:p>
          <a:p>
            <a:pPr>
              <a:spcAft>
                <a:spcPts val="800"/>
              </a:spcAft>
            </a:pPr>
            <a:r>
              <a:rPr sz="1500">
                <a:solidFill>
                  <a:srgbClr val="FFFFFF"/>
                </a:solidFill>
                <a:latin typeface="Microsoft YaHei"/>
              </a:rPr>
              <a:t>▪ K2  培养物底细清楚，病人样本说不准</a:t>
            </a:r>
          </a:p>
          <a:p>
            <a:pPr>
              <a:spcAft>
                <a:spcPts val="800"/>
              </a:spcAft>
            </a:pPr>
            <a:r>
              <a:rPr sz="1500">
                <a:solidFill>
                  <a:srgbClr val="FFFFFF"/>
                </a:solidFill>
                <a:latin typeface="Microsoft YaHei"/>
              </a:rPr>
              <a:t>▪ K3  一律按有传染性对待，再评估定级</a:t>
            </a:r>
          </a:p>
          <a:p>
            <a:pPr>
              <a:spcAft>
                <a:spcPts val="800"/>
              </a:spcAft>
            </a:pPr>
            <a:r>
              <a:rPr sz="1500">
                <a:solidFill>
                  <a:srgbClr val="FFFFFF"/>
                </a:solidFill>
                <a:latin typeface="Microsoft YaHei"/>
              </a:rPr>
              <a:t>▪ K4  污水等环境样本也按感染性对待</a:t>
            </a:r>
          </a:p>
          <a:p>
            <a:pPr>
              <a:spcAft>
                <a:spcPts val="800"/>
              </a:spcAft>
            </a:pPr>
            <a:r>
              <a:rPr sz="1500">
                <a:solidFill>
                  <a:srgbClr val="FFFFFF"/>
                </a:solidFill>
                <a:latin typeface="Microsoft YaHei"/>
              </a:rPr>
              <a:t>▪ K5  保存液：生物、化学两头防</a:t>
            </a:r>
          </a:p>
          <a:p>
            <a:pPr>
              <a:spcAft>
                <a:spcPts val="800"/>
              </a:spcAft>
            </a:pPr>
            <a:r>
              <a:rPr sz="1500">
                <a:solidFill>
                  <a:srgbClr val="FFFFFF"/>
                </a:solidFill>
                <a:latin typeface="Microsoft YaHei"/>
              </a:rPr>
              <a:t>▪ K6  拆包：先防护，查渗漏，外包装消毒</a:t>
            </a:r>
          </a:p>
          <a:p>
            <a:pPr>
              <a:spcAft>
                <a:spcPts val="800"/>
              </a:spcAft>
            </a:pPr>
            <a:r>
              <a:rPr sz="1500">
                <a:solidFill>
                  <a:srgbClr val="FFFFFF"/>
                </a:solidFill>
                <a:latin typeface="Microsoft YaHei"/>
              </a:rPr>
              <a:t>▪ K7  核对登记，不合格样本拒收</a:t>
            </a:r>
          </a:p>
          <a:p>
            <a:pPr>
              <a:spcAft>
                <a:spcPts val="800"/>
              </a:spcAft>
            </a:pPr>
            <a:r>
              <a:rPr sz="1500">
                <a:solidFill>
                  <a:srgbClr val="FFFFFF"/>
                </a:solidFill>
                <a:latin typeface="Microsoft YaHei"/>
              </a:rPr>
              <a:t>▪ K8  编号代替姓名，信息保密</a:t>
            </a:r>
          </a:p>
          <a:p>
            <a:pPr>
              <a:spcAft>
                <a:spcPts val="800"/>
              </a:spcAft>
            </a:pPr>
            <a:r>
              <a:rPr sz="1500">
                <a:solidFill>
                  <a:srgbClr val="FFFFFF"/>
                </a:solidFill>
                <a:latin typeface="Microsoft YaHei"/>
              </a:rPr>
              <a:t>▪ K9  柜内开管：静置、垫纸、慢拧</a:t>
            </a:r>
          </a:p>
          <a:p>
            <a:pPr>
              <a:spcAft>
                <a:spcPts val="800"/>
              </a:spcAft>
            </a:pPr>
            <a:r>
              <a:rPr sz="1500">
                <a:solidFill>
                  <a:srgbClr val="FFFFFF"/>
                </a:solidFill>
                <a:latin typeface="Microsoft YaHei"/>
              </a:rPr>
              <a:t>▪ K10  四类检测，各按风险定场所</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要培养的：最严防护，疑似高致病不擅自做</a:t>
            </a:r>
          </a:p>
          <a:p>
            <a:pPr>
              <a:spcAft>
                <a:spcPts val="800"/>
              </a:spcAft>
            </a:pPr>
            <a:r>
              <a:rPr sz="1500">
                <a:solidFill>
                  <a:srgbClr val="FFFFFF"/>
                </a:solidFill>
                <a:latin typeface="Microsoft YaHei"/>
              </a:rPr>
              <a:t>▪ K12  做核酸的：先灭活，确认后出柜</a:t>
            </a:r>
          </a:p>
          <a:p>
            <a:pPr>
              <a:spcAft>
                <a:spcPts val="800"/>
              </a:spcAft>
            </a:pPr>
            <a:r>
              <a:rPr sz="1500">
                <a:solidFill>
                  <a:srgbClr val="FFFFFF"/>
                </a:solidFill>
                <a:latin typeface="Microsoft YaHei"/>
              </a:rPr>
              <a:t>▪ K13  核酸提取在柜内，防离心气溶胶</a:t>
            </a:r>
          </a:p>
          <a:p>
            <a:pPr>
              <a:spcAft>
                <a:spcPts val="800"/>
              </a:spcAft>
            </a:pPr>
            <a:r>
              <a:rPr sz="1500">
                <a:solidFill>
                  <a:srgbClr val="FFFFFF"/>
                </a:solidFill>
                <a:latin typeface="Microsoft YaHei"/>
              </a:rPr>
              <a:t>▪ K14  卡盒式自动提取：认识仪器</a:t>
            </a:r>
          </a:p>
          <a:p>
            <a:pPr>
              <a:spcAft>
                <a:spcPts val="800"/>
              </a:spcAft>
            </a:pPr>
            <a:r>
              <a:rPr sz="1500">
                <a:solidFill>
                  <a:srgbClr val="FFFFFF"/>
                </a:solidFill>
                <a:latin typeface="Microsoft YaHei"/>
              </a:rPr>
              <a:t>▪ K15  装板、选程序，确认到位再启动</a:t>
            </a:r>
          </a:p>
          <a:p>
            <a:pPr>
              <a:spcAft>
                <a:spcPts val="800"/>
              </a:spcAft>
            </a:pPr>
            <a:r>
              <a:rPr sz="1500">
                <a:solidFill>
                  <a:srgbClr val="FFFFFF"/>
                </a:solidFill>
                <a:latin typeface="Microsoft YaHei"/>
              </a:rPr>
              <a:t>▪ K16  荧光定量检测与判读</a:t>
            </a:r>
          </a:p>
          <a:p>
            <a:pPr>
              <a:spcAft>
                <a:spcPts val="800"/>
              </a:spcAft>
            </a:pPr>
            <a:r>
              <a:rPr sz="1500">
                <a:solidFill>
                  <a:srgbClr val="FFFFFF"/>
                </a:solidFill>
                <a:latin typeface="Microsoft YaHei"/>
              </a:rPr>
              <a:t>▪ K17  核酸检测分区，单向流动</a:t>
            </a:r>
          </a:p>
          <a:p>
            <a:pPr>
              <a:spcAft>
                <a:spcPts val="800"/>
              </a:spcAft>
            </a:pPr>
            <a:r>
              <a:rPr sz="1500">
                <a:solidFill>
                  <a:srgbClr val="FFFFFF"/>
                </a:solidFill>
                <a:latin typeface="Microsoft YaHei"/>
              </a:rPr>
              <a:t>▪ K18  阳性结果及时报告</a:t>
            </a:r>
          </a:p>
          <a:p>
            <a:pPr>
              <a:spcAft>
                <a:spcPts val="800"/>
              </a:spcAft>
            </a:pPr>
            <a:r>
              <a:rPr sz="1500">
                <a:solidFill>
                  <a:srgbClr val="FFFFFF"/>
                </a:solidFill>
                <a:latin typeface="Microsoft YaHei"/>
              </a:rPr>
              <a:t>▪ K19  剩余样本：存要上锁，毁要登记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