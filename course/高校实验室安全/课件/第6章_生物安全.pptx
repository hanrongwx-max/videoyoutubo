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生命科学实验离不开细胞、微生物和各种生物样本。与其他实验室相比，生物实验室除了化学品、仪器设备、用电等常见危险，还多了一类生物危害：细菌、病毒等病原体肉眼看不见，却可能让健康人感染生病。</a:t>
            </a:r>
          </a:p>
          <a:p>
            <a:r>
              <a:t>风险往往就在手边：血液等样本可能带有病原；针头、刀片等锐器可能刺伤皮肤；移液、混匀、离心等操作可能产生肉眼看不见的气溶胶。微生物实验室的危害来自三方面——活的微生物、消毒剂和化学试剂、各种仪器设备，所以各方面的安全措施都不能少。</a:t>
            </a:r>
          </a:p>
          <a:p>
            <a:r>
              <a:t>实验室门口的生物危害标志就是提醒：门后有生物危害，进门要遵守本实验室的规定。学习本章时做好笔记，没弄懂的地方回头再看，或请教老师。</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因子与化学品不同：它能在人群中传播。一旦从实验室失控逸出，受害的可能不只是操作者本人，还可能引起疾病流行，威胁整个社会的公共卫生。随着新发传染病不断出现，生物因子对公众健康的威胁也在增加。</a:t>
            </a:r>
          </a:p>
          <a:p>
            <a:r>
              <a:t>学习生物安全常会遇到几个词：指示病例（一起疫情中最先被发现、引起关注的病例）；医院内感染（在医疗机构内获得的感染）；经皮肤刺伤（经锐器刺破皮肤造成的暴露）；流行病学（研究疾病在人群中分布和传播规律的学科）。</a:t>
            </a:r>
          </a:p>
          <a:p>
            <a:r>
              <a:t>研发诊断方法、疫苗和治疗药物，都离不开对病原的研究；只有先把风险管好，研究才能持续开展。生物安全不是某一家实验室的事，而是每个国家、每个单位、每个实验室共同的责任。</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生物安全，讲的是怎样安全地操作有感染性的微生物和其他有危害的生物材料，并把它们控制、封闭（也称“防护”或“封闭”）在规定的范围内。所谓防护，就是给生物因子划定边界，让它留在设备和设施里，不逸出伤人。</a:t>
            </a:r>
          </a:p>
          <a:p>
            <a:r>
              <a:t>GB 19489-2008 对实验室生物安全的表述是：实验室的生物安全条件和状态不低于容许水平，可避免实验室人员、来访人员、社区及环境受到不可接受的损害，符合相关法规、标准等对实验室生物安全责任的要求（以现行文本为准）。《中华人民共和国生物安全法》则把生物安全放在国家安全的高度，病原微生物实验室生物安全是其中的重要内容。</a:t>
            </a:r>
          </a:p>
          <a:p>
            <a:r>
              <a:t>实验室安全包括很多方面，而在微生物实验室，最核心的就是生物安全：既护住自己，也不让微生物跑出去。</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生物安全依靠规范的做法、程序和设备，保护三方面：一是实验室工作人员；二是实验室和周边环境；三是社区公众。</a:t>
            </a:r>
          </a:p>
          <a:p>
            <a:r>
              <a:t>具体目标有两个：一是防止实验室获得性感染，即工作人员在实验中被感染；二是防止病原意外释放，即感染性材料因泄漏、设施故障或带出实验室而扩散到外界。防意外暴露、防病原外泄，挡住的是感染因子、毒素等各种生物危害。</a:t>
            </a:r>
          </a:p>
          <a:p>
            <a:r>
              <a:t>保护自己，保护实验室，也就保护了身边的每个人。</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三个词常放在一起，含义不同：生物危害，是指可能对人、动物、植物或环境造成伤害的生物因子或材料；生物安全（实验室生物安全），重点防的是无意中的暴露和释放，比如操作失误、设施故障、防护失效，虽然不是故意的，也会危害人员和公众；生物安保，重点防的是生物材料被丢失、被盗、被滥用或被故意释放。</a:t>
            </a:r>
          </a:p>
          <a:p>
            <a:r>
              <a:t>三者互相咬合：认清危害是前提，生物安全措施防止意外，生物安保措施防止人为故意。实验室既要做好生物安全，也要管好菌（毒）种和样本的保管、登记和交接。生物安保的具体要求见第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生物安全工作有两大原则：一是风险评估，二是防护。</a:t>
            </a:r>
          </a:p>
          <a:p>
            <a:r>
              <a:t>风险评估在前：开展实验前，弄清要操作的病原或材料有什么危害、怎么操作、谁来操作、在哪里操作，判断风险有多大。防护在后：按评估结果，选择相应级别的实验室、安全设备、个人防护装备和操作规程。没有评估，防护就可能不足或过度。生物风险评估的具体步骤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不是一样东西，而是一整套：规范的操作方法和程序（如规程、培训、良好的微生物操作习惯）；专门的安全设备（如生物安全柜、密封离心杯、个人防护装备）；专门设计的实验室设施（如分区、门禁、通风、洗手和消毒灭菌设施）。</a:t>
            </a:r>
          </a:p>
          <a:p>
            <a:r>
              <a:t>三要素要配套使用，合起来才是一套防护体系，缺一环就可能出事。例如有生物安全柜但不按规程操作，或操作规范但实验室级别不够，防护都有漏洞。</a:t>
            </a:r>
          </a:p>
          <a:p>
            <a:r>
              <a:t>防护的目的是减少暴露：人不暴露，环境也不暴露。能消除危害的先消除（如不必要的操作不做），不能消除的尽量减少（如用安全设备、做好个人防护）。生物安全柜的原理和使用见第 071、072 课。</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5P 是评估生物风险时常用的五个要素：</a:t>
            </a:r>
          </a:p>
          <a:p>
            <a:r>
              <a:t>1. 病原：先弄清操作的是什么，查《人间传染的病原微生物目录》确定危害程度和所需防护水平。注意：我国把病原微生物按危害程度分为四类，第一类危害最大、第四类最小；国际上通行的“风险组”则是 1 组最低、4 组最高，两者顺序相反，不能混用（详见第 058 课）。</a:t>
            </a:r>
          </a:p>
          <a:p>
            <a:r>
              <a:t>2. 人员：谁来做，能力和健康状况是否合适；先培训、考核合格，才能上岗。</a:t>
            </a:r>
          </a:p>
          <a:p>
            <a:r>
              <a:t>3. 场所：实验室的防护级别要与病原危害和实验活动相匹配（实验室分级见第 059 课）。</a:t>
            </a:r>
          </a:p>
          <a:p>
            <a:r>
              <a:t>4. 个人防护：按评估结果选择防护装备（见第 074 课）。</a:t>
            </a:r>
          </a:p>
          <a:p>
            <a:r>
              <a:t>5. 规程：操作步骤写清楚，照着做。</a:t>
            </a:r>
          </a:p>
          <a:p>
            <a:r>
              <a:t>五个 P 相互影响，要一起看，才能定准风险，再决定采取哪些控制措施；哪个 P 薄弱就先补哪个，短板补上，风险才真正降下来。在此之上还有安全文化：人人尽责，安全才稳。如何确定具体实验的防护等级见第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开展生物实验，首先要遵守国家法规。我国生物安全的主要依据包括：</a:t>
            </a:r>
          </a:p>
          <a:p>
            <a:r>
              <a:t>- 《中华人民共和国生物安全法》：生物安全领域的基础性法律，对病原微生物实验室生物安全管理、法律责任等作出规定。</a:t>
            </a:r>
          </a:p>
          <a:p>
            <a:r>
              <a:t>- 《病原微生物实验室生物安全管理条例》：把病原微生物按危害程度分为四类，把实验室按生物安全防护水平分为一级至四级，规定各级实验室可以从事的实验活动、备案和审批要求。</a:t>
            </a:r>
          </a:p>
          <a:p>
            <a:r>
              <a:t>- GB 19489-2008《实验室 生物安全通用要求》（国家标准）和 WS 233《病原微生物实验室生物安全通用准则》（行业标准）：规定风险评估、设施设备、管理体系等技术和管理要求（均以现行文本为准）。</a:t>
            </a:r>
          </a:p>
          <a:p>
            <a:r>
              <a:t>- 《人间传染的病原微生物目录》（以现行版本为准）：查病原的危害程度分类和各类实验活动所需的防护水平。</a:t>
            </a:r>
          </a:p>
          <a:p>
            <a:r>
              <a:t>- 本校生物安全管理制度。</a:t>
            </a:r>
          </a:p>
          <a:p>
            <a:r>
              <a:t>实验人员的职业安全同样有法可依：单位要为实验人员提供防护装备、培训和健康监护。开展生物实验前先做风险评估，在相应防护级别的实验室里进行。法规体系的总体框架见第 002 课。</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国际上有通行的实验室生物安全手册，从生物安全的一般原则讲起，涵盖风险评估、防护、设备、培训等内容，是学习和参照的好起点。</a:t>
            </a:r>
          </a:p>
          <a:p>
            <a:r>
              <a:t>但任何国际手册都只能在本国法律框架内使用：国家和地方法规优先，国际手册作为补充和背景；其中引用的国外法规、数值和做法不能直接照搬。在我国，一切做法以国内法律法规、国家标准、行业标准和本校规定为准。</a:t>
            </a:r>
          </a:p>
          <a:p>
            <a:r>
              <a:t>落脚点是本土化：每个实验室都要依据国家标准和本单位制度，编写适合本实验室的安全手册和操作规程，并让每个人知晓。</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合规，就是遵守法律、法规、标准和规则。遵守国家和地方的法律法规、标准，是外部合规；遵守本单位的方针、制度和规程，是内部合规。</a:t>
            </a:r>
          </a:p>
          <a:p>
            <a:r>
              <a:t>实验室要把适用的要求找全：国家法律法规、国家标准和行业标准、地方规定、学校和学院的制度，逐项对照、逐项落实，一项不落。可以问问自己：我们遵从哪些法律、指南、伦理要求、规范和标准？翻一翻本实验室的制度和记录，就知道合规做到了哪一步。</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病原微生物实验室生物安全管理条例》等规定（以现行文本为准）：新建、改建、扩建一级、二级生物安全实验室，按规定向主管部门备案；三级、四级实验室须通过国家认可，开展高致病性病原微生物相关实验活动还须经批准。具体程序以现行规定和本校规定为准。</a:t>
            </a:r>
          </a:p>
          <a:p>
            <a:r>
              <a:t>学生不得擅自开展高致病性病原微生物或未经评估审批的实验活动，不得在防护级别不够的实验室里做高级别的实验（越级操作），不得私自带出、转移、赠送菌（毒）种和样本。</a:t>
            </a:r>
          </a:p>
          <a:p>
            <a:r>
              <a:t>违反生物安全法律法规，要承担相应的法律责任。守规矩，既是保护自己，也是保护大家。</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生物安全的知识和法规在不断更新，要持续学习新知识、新规定，按要求参加复训。</a:t>
            </a:r>
          </a:p>
          <a:p>
            <a:r>
              <a:t>工作中对异常保持警觉：设备报警、气流异常、样本容器破损、身体不适等，都要立即停止操作，报告实验室负责人，按本校规定处理。</a:t>
            </a:r>
          </a:p>
          <a:p>
            <a:r>
              <a:t>把风险挡在实验室里、防患于未然，靠的是每个人。生物安全的组织和责任见第 070 课，安全文化见第 010 课。</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答案：B。解析：我国按危害程度把病原微生物分为四类，第一类危害最大、第四类最小；国际风险组 1 组最低、4 组最高，顺序相反。</a:t>
            </a:r>
          </a:p>
          <a:p>
            <a:r>
              <a:t>第 2 题 答案：B。解析：生物安全保护人员、环境和公众，目标是防止实验室获得性感染和防止病原意外释放。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答案：C。解析：生物安全重点防无意的暴露和释放，生物安保重点防丢失、被盗、被滥用和故意释放，二者相辅相成。</a:t>
            </a:r>
          </a:p>
          <a:p>
            <a:r>
              <a:t>第 4 题 答案：D。解析：5P 指病原、人员、场所、个人防护、规程，五个要素一起看才能定准风险。</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答案：B。解析：国际手册只作参考，必须在国内法律框架内使用，以国内法规、国家标准、行业标准和本校规定为准。</a:t>
            </a:r>
          </a:p>
          <a:p>
            <a:r>
              <a:t>第 6 题 答案：属于越级操作和私带样本，违反生物安全法规和本校规定，要承担法律责任；应先做风险评估，在相应防护级别的实验室开展并按规定审批，样本不得带出实验室。解析：守规矩既保护自己，也保护公众。</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生物因子是指可能对人体健康造成危害的微生物和其他生物材料，包括细菌、病毒、真菌及其他微生物，寄生虫，朊病毒这样的致病蛋白颗粒，以及它们产生的毒素等。</a:t>
            </a:r>
          </a:p>
          <a:p>
            <a:r>
              <a:t>关键在于它们会损害人的健康：轻则引起过敏，重则引起疾病甚至死亡。凡能对人造成危害的生物因子，都要纳入管理，做风险评估、按规定防护。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不同生物因子的特点不同，决定了防护的重点：</a:t>
            </a:r>
          </a:p>
          <a:p>
            <a:r>
              <a:t>- 细菌：不少来自土壤和水。有的能形成芽孢，对干燥、高温、消毒剂耐受力很强，在环境中能长期存活，操作时要特别注意防气溶胶，灭菌要彻底。支原体是一类没有细胞壁的细菌，作用于细胞壁的抗生素对它无效，常侵犯呼吸道。</a:t>
            </a:r>
          </a:p>
          <a:p>
            <a:r>
              <a:t>- 病毒：只能在活细胞内复制。有的能引起出血热等严重甚至致命的疾病，很多还没有特效药。</a:t>
            </a:r>
          </a:p>
          <a:p>
            <a:r>
              <a:t>- 真菌：酵母类中有带荚膜的致病种类，对免疫力低下的人尤其危险；霉菌等丝状真菌靠孢子随空气扩散，有的来自鸟粪和土壤，有的能产生毒素。免疫力低下时，常见的真菌也可能致病。</a:t>
            </a:r>
          </a:p>
          <a:p>
            <a:r>
              <a:t>这些特点在风险评估和选择消毒灭菌方法时都要考虑（评估要素见第 068 课，消毒灭菌见第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除细菌、病毒、真菌外，还有几类特殊的生物因子：</a:t>
            </a:r>
          </a:p>
          <a:p>
            <a:r>
              <a:t>- 朊病毒：一类具有感染性的蛋白颗粒，比较少见，可引起人和动物的慢性神经退行性疾病，对常规消毒灭菌方法抵抗力强，处理要求特殊，按本校规定和专门规程执行。</a:t>
            </a:r>
          </a:p>
          <a:p>
            <a:r>
              <a:t>- 感染性核酸：有些病毒的核酸本身就有感染性，操作核酸同样不能大意。</a:t>
            </a:r>
          </a:p>
          <a:p>
            <a:r>
              <a:t>- 寄生虫和媒介：血液寄生虫、作为中间宿主的螺，以及能传播疾病的蜱、蚤等节肢动物，都要纳入管理（实验动物与媒介生物见第 084 课）。</a:t>
            </a:r>
          </a:p>
          <a:p>
            <a:r>
              <a:t>- 生物毒素：不是活体，不会繁殖，但毒性可以很强，同样要按危险材料管理（见第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按风险高低分组，主要看两方面：一是对个体的风险——引起的疾病有多严重，有没有有效的治疗和预防手段；二是对群体（社区）的风险——会不会在人与人、动物与人之间传播，传开后对公众、家畜和环境的影响有多大。</a:t>
            </a:r>
          </a:p>
          <a:p>
            <a:r>
              <a:t>国际上通行的风险组和我国的危害程度分类，都是从这两方面判断的，但编号方向相反（见 K7）。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国际上通行把生物因子分为四个风险组，数字越大风险越高：1 组最低、4 组最高（注意：与我国病原分类的编号方向相反，见 K7）。</a:t>
            </a:r>
          </a:p>
          <a:p>
            <a:r>
              <a:t>- 第 1 组：个体风险低、群体风险低。一般不会让健康成人或动物生病，例如常用的大肠杆菌实验室菌株、用于发酵的微生物。风险低，也要按规范操作。</a:t>
            </a:r>
          </a:p>
          <a:p>
            <a:r>
              <a:t>- 第 2 组：个体风险中等、群体风险低。能让人或动物生病，但对实验人员、社区、家畜和环境危害不大；实验室暴露也可能引起严重感染，但有有效的治疗和预防手段，感染扩散的风险有限。</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第 3 组：个体风险高、群体风险低（或低到中等）。通常引起人或动物的严重疾病，甚至可能致死，但一般不会在人与人之间传开，而且一般有有效的治疗和预防手段。</a:t>
            </a:r>
          </a:p>
          <a:p>
            <a:r>
              <a:t>- 第 4 组：个体风险和群体风险都高。可引起人或动物的严重乃至致命的疾病，容易直接或间接在人与人、动物与人之间传播，通常没有有效的治疗和预防手段，只能在最高防护级别的设施里操作。</a:t>
            </a:r>
          </a:p>
          <a:p>
            <a:r>
              <a:t>学生实验不涉及这些高风险病原；相关实验活动在国内属于高致病性病原微生物管理范围（见 K9）。</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按《病原微生物实验室生物安全管理条例》（以现行文本为准），我国根据传染性、感染后对个体或群体的危害程度，把病原微生物分为四类：</a:t>
            </a:r>
          </a:p>
          <a:p>
            <a:r>
              <a:t>- 第一类：能够引起人类或者动物非常严重疾病的微生物，以及我国尚未发现或者已经宣布消灭的微生物；</a:t>
            </a:r>
          </a:p>
          <a:p>
            <a:r>
              <a:t>- 第二类：能够引起人类或者动物严重疾病，比较容易直接或者间接在人与人、动物与人、动物与动物间传播的微生物；</a:t>
            </a:r>
          </a:p>
          <a:p>
            <a:r>
              <a:t>- 第三类：能够引起人类或者动物疾病，但一般情况下对人、动物或者环境不构成严重危害，传播风险有限，实验室感染后很少引起严重疾病，并且具备有效治疗和预防措施的微生物；</a:t>
            </a:r>
          </a:p>
          <a:p>
            <a:r>
              <a:t>- 第四类：在通常情况下不会引起人类或者动物疾病的微生物。</a:t>
            </a:r>
          </a:p>
          <a:p>
            <a:r>
              <a:t>一定要记住：国内数字越小越危险，国际数字越大越危险。国际第 4 组大致对应国内第一类、国际第 1 组大致对应国内第四类，但这只是大致对应，不能机械换算；某种病原属于第几类，以国内目录为准（见 K10）。填表、写报告和标签时，注明用的是哪一套编号，不要混写。</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与病原分类不同，生物安全实验室的防护级别国内外方向一致：一级（BSL-1）最低，四级（BSL-4）最高（分级见第 059 课）。</a:t>
            </a:r>
          </a:p>
          <a:p>
            <a:r>
              <a:t>所以不能把病原的“第几类”和实验室的“第几级”简单对号入座：国内第一类病原危害最大，需要的是高级别实验室，绝不是一级实验室。具体某项实验在哪一级实验室做，先查目录中该实验活动所需的级别，再结合风险评估确定（定级步骤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类、第二类病原微生物统称为高致病性病原微生物。按《病原微生物实验室生物安全管理条例》（以现行文本为准），从事高致病性病原微生物相关实验活动，须在相应防护级别的实验室进行，并按规定报经批准。</a:t>
            </a:r>
          </a:p>
          <a:p>
            <a:r>
              <a:t>学生不得擅自开展涉及高致病性病原微生物的实验，也不得接触、索要、私自保存这类菌（毒）种和样本。任何涉及病原微生物的实验，都要先经导师和单位按本校规定审查。</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某种病原属于第几类、做什么实验需要几级实验室，以国家卫生健康委发布的《人间传染的病原微生物目录》（以现行版本为准）为准。目录按病毒、细菌类、真菌、朊病毒等列出各病原的危害程度分类，并分别写明不同实验活动（如培养、动物感染实验、未经培养的感染材料操作、灭活材料和无感染性材料操作）所需的实验室防护级别，以及运输包装要求。</a:t>
            </a:r>
          </a:p>
          <a:p>
            <a:r>
              <a:t>同一病原，实验活动不同，所需级别也可能不同。国外资料和网上名单的归类可能与国内不一样，只能作参考；目录会修订，查分类和防护要求时要用现行最新版本，不要使用网上流传的旧表格。</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录没有列出的微生物（包括新分离的、来源不明的）不能自行认定为低风险。应先由项目负责人组织风险评估，提出建议的防护级别和措施，报单位生物安全委员会审查确定；批准后，按确定的级别和防护开展实验，并按国家有关规定办理（以现行规定和本校规定为准）。未知病原和来源不明的样本从严对待，定级步骤见第 060 课，生物安全委员会见第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动物病原微生物在国内另有《动物病原微生物分类名录》（以现行版本为准）。实验涉及动物或人兽共患病原时，人间传染的病原目录和动物病原名录都要查清楚。</a:t>
            </a:r>
          </a:p>
          <a:p>
            <a:r>
              <a:t>农业转基因生物另有安全等级体系，按《农业转基因生物安全管理条例》等规定（以现行文本为准）分为Ⅰ至Ⅳ级，Ⅰ级最低、Ⅳ级最高，方向又与病原分类不同（见第 081 课）。填写申请表、评估表时写清楚用的是哪一套分级，不要混用。</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风险分组是一般性的判断。同一种病原在不同地区风险可能不同，评估和确定措施时还要考虑地区因素：</a:t>
            </a:r>
          </a:p>
          <a:p>
            <a:r>
              <a:t>1. 致病性，包括本地出现的变异株；</a:t>
            </a:r>
          </a:p>
          <a:p>
            <a:r>
              <a:t>2. 传播方式和宿主范围，以及本地人群的免疫水平、人口密度和流动性、有没有适宜的传播媒介、气候等环境条件；</a:t>
            </a:r>
          </a:p>
          <a:p>
            <a:r>
              <a:t>3. 本地能否获得有效的预防措施；</a:t>
            </a:r>
          </a:p>
          <a:p>
            <a:r>
              <a:t>4. 本地能否获得有效的治疗。</a:t>
            </a:r>
          </a:p>
          <a:p>
            <a:r>
              <a:t>四个因素都考虑到，评估才完整。在国内，病原类别以目录为准，地区因素用于具体实验的风险评估（评估要素见第 068 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化学品有安全技术说明书，病原也有类似的资料单（病原安全数据表），一种病原一份，列出它的特性、传播途径、危害、消毒灭活方法、防护和处置要求等，是做风险评估的常用参考工具。</a:t>
            </a:r>
          </a:p>
          <a:p>
            <a:r>
              <a:t>常用的病原资料单多为国外公开发布的在线资料，内容不断更新，可以参考；但其中的风险组编号和防护建议不能替代国内目录和规定，国内类别以《人间传染的病原微生物目录》为准。</a:t>
            </a:r>
          </a:p>
          <a:p>
            <a:r>
              <a:t>资料单有手机版，查阅方便；但不要把手机带进高等级实验室——手机可能被污染，成为传播感染的媒介。进入实验室的个人物品按本实验室规定管理。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常见的病原资料单分为九个部分：</a:t>
            </a:r>
          </a:p>
          <a:p>
            <a:r>
              <a:t>1. 感染因子：名称、类型、分类和特性。</a:t>
            </a:r>
          </a:p>
          <a:p>
            <a:r>
              <a:t>2. 危害识别：致病性、传播性、宿主范围、感染剂量（往往难以确定）、潜伏期。</a:t>
            </a:r>
          </a:p>
          <a:p>
            <a:r>
              <a:t>3. 传播：传播途径，有没有储存宿主和媒介，是否人兽共患。</a:t>
            </a:r>
          </a:p>
          <a:p>
            <a:r>
              <a:t>4. 稳定性与存活：是否耐药，对哪些消毒剂敏感（消毒剂要选对，并保证足够的接触时间），能否用高温灭活，离开宿主能存活多久。</a:t>
            </a:r>
          </a:p>
          <a:p>
            <a:r>
              <a:t>5. 急救与医疗：医学监测、急救，有没有疫苗和预防用药；属于法定报告传染病的要按规定上报。</a:t>
            </a:r>
          </a:p>
          <a:p>
            <a:r>
              <a:t>6. 实验室危害：已报告的实验室感染、可能带有病原的标本来源、特殊危害；患者样本中还可能含有其他病原。</a:t>
            </a:r>
          </a:p>
          <a:p>
            <a:r>
              <a:t>7. 暴露控制与个人防护：风险越高，所需实验室级别和个人防护越高（国内级别以目录和评估为准）。</a:t>
            </a:r>
          </a:p>
          <a:p>
            <a:r>
              <a:t>8. 处置与储存：溢洒清理规程、销毁处置要求，储存要登记、上锁。</a:t>
            </a:r>
          </a:p>
          <a:p>
            <a:r>
              <a:t>9. 法规与其他信息：相关法规、更新日期、编写者、参考文献。资料单是受控文档，可以按病原名称查到。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答案：B。解析：我国病原微生物分四类，第一类危害最大、第四类最小，与国际风险组（1 组最低、4 组最高）方向相反。</a:t>
            </a:r>
          </a:p>
          <a:p>
            <a:r>
              <a:t>第 2 题 答案：B。解析：实验室级别国内外同向，四级最高；第一类病原危害最大，需要高级别实验室，并须经批准。</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答案：B。解析：其相关实验活动须在相应级别实验室进行并经批准，学生不得擅自开展。</a:t>
            </a:r>
          </a:p>
          <a:p>
            <a:r>
              <a:t>第 4 题 答案：C。解析：国外资料只作参考，以国内现行目录为准，并结合具体实验活动的风险评估。</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答案：B。解析：目录未列的微生物先做风险评估，报单位生物安全委员会确定级别和防护，批准后再开展。</a:t>
            </a:r>
          </a:p>
          <a:p>
            <a:r>
              <a:t>第 6 题 答案：要考虑地区因素：致病性（含本地变异株），传播方式、宿主范围、本地人群免疫、人口密度和流动性、媒介和气候，本地能否获得有效的预防和治疗。解析：四个因素都考虑到，评估才完整。</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生物安全防护级别（生物安全水平，BSL）是一整套标准化的防护措施，包括安全规程和做法、安全设备和实验室设施，用来控制操作微生物带来的风险，保护操作人员、公众和环境。</a:t>
            </a:r>
          </a:p>
          <a:p>
            <a:r>
              <a:t>我国把生物安全实验室按防护水平分为一级、二级、三级、四级（BSL-1～BSL-4），从一级到四级逐级加严：等级越高，对应的生物因子风险越高，防护措施也越严。设计实验室、编写实验室安全手册，都按级别来确定要求。</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实验在哪一级实验室做，取决于所操作生物因子的危害和具体实验活动（如何为具体实验定级见第 060 课）。每一级对三方面都有要求：什么样的房间和设施；用什么安全设备；按什么程序操作。</a:t>
            </a:r>
          </a:p>
          <a:p>
            <a:r>
              <a:t>级别越高，设施要求越多：三级、四级实验室要与其他区域独立隔离，房间能密封，可以进行气体熏蒸消毒，并有定向气流、负压和排风高效过滤等工程措施（封闭原理见第 062 课）。各级具体的操作要求见第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实验室防护级别与病原分类是两套不同的编号：实验室级别国内外一致，一级最低、四级最高，动物生物安全实验室（ABSL）也一样；而病原微生物分类，国内第一类危害最大、第四类最小，国际风险组则是 1 组最低、4 组最高，方向相反（见第 058 课）。</a:t>
            </a:r>
          </a:p>
          <a:p>
            <a:r>
              <a:t>记口诀：病原分类反着走，实验室级别顺着走。国内第一类、第二类（高致病性）病原，需要的是高级别实验室。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级生物安全实验室（BSL-1）风险最低，操作的是已知通常不会使健康成人致病的微生物，例如无害的实验室菌株、做面包的酵母、土壤和水中的常见非致病菌。许多基础教学实验、微生物学入门课就在这一级开展。</a:t>
            </a:r>
          </a:p>
          <a:p>
            <a:r>
              <a:t>一级实验室通常是开放台面，一般不需要专门的封闭设施；但仍要遵守基本操作规范，穿实验服、戴手套，做好洗手和台面消毒，限制无关人员进入。一级实验室大致对应国际第 1 组，具体以国内目录和风险评估为准。</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生物安全实验室（BSL-2）操作的是有中度风险的微生物：能让人生病，引起轻到中度疾病，但一般不严重，或者有有效的治疗和预防手段，例如一些常见的致病细菌、病毒和寄生虫；具体某种病原、某项实验需要几级，查《人间传染的病原微生物目录》。二级实验室多用于临床检验、高校科研和医院实验室。</a:t>
            </a:r>
          </a:p>
          <a:p>
            <a:r>
              <a:t>与一级相比，二级要受控进入：门能自动关闭，门口挂生物危害标志和防护级别、负责人等信息，有合适的通风，配备洗手池和高压灭菌器等设施；可能产生气溶胶的操作要在生物安全柜内进行。人员要先经过培训，会操作、会处置感染性材料；按风险评估，必要时加戴面屏和呼吸防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生物安全实验室（BSL-3）也称防护实验室，用于特殊诊断和较高危害病原的研究，对应可经空气吸入传播、能引起严重甚至致命疾病的病原。多设在高级临床实验室、公共卫生实验室和科研机构；涉及高致病性病原微生物的实验活动须在相应级别实验室并经批准。</a:t>
            </a:r>
          </a:p>
          <a:p>
            <a:r>
              <a:t>三级实验室与其他区域隔离，有门禁和缓冲间；房间保持负压，形成由清洁区向污染区的定向气流，排风经高效过滤后排出；房间可密封，能做气体熏蒸消毒；所有感染性材料操作都在生物安全柜内进行。人员须经严格培训，严格按程序操作和去污，按要求穿全身防护、戴呼吸防护。三级实验室须通过国家认可。布局与进出见第 063 课。</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四级生物安全实验室（BSL-4）是最高等级的防护，对应能危及生命、可经气溶胶传播、通常缺乏有效预防和治疗手段的高危病原；已宣布消灭的病原只在极少数指定机构保存。</a:t>
            </a:r>
          </a:p>
          <a:p>
            <a:r>
              <a:t>四级实验室有两种基本形式：人员穿独立供气的正压防护服工作（即使防护服破损，空气也是向外吹），或者在三级生物安全柜（全封闭手套箱式）内操作。进出要经过多道去污缓冲区，出口设化学淋浴和人员淋浴，物品经双扉高压灭菌器传出，有专用的通风和废水处理系统。进入受到严格控制，所有工作都在有经验人员的监督下进行。</a:t>
            </a:r>
          </a:p>
          <a:p>
            <a:r>
              <a:t>四级实验室造价和运行费用都非常高，维护和监管要求极严，只在国家批准的少数设施中建设；大多数从业人员工作在二级、三级实验室，高校学生平时接触的是一级、二级。</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用动物做感染性实验，按动物生物安全实验室分级，即 ABSL-1～ABSL-4，同样一级最低、四级最高（GB 19489-2008，以现行文本为准）。动物实验除了防操作中的暴露，还要防动物咬伤、抓伤，防动物排出的分泌物、排泄物和垫料中的病原，以及动物逃逸（见第 084 课）。</a:t>
            </a:r>
          </a:p>
          <a:p>
            <a:r>
              <a:t>植物病原和转基因植物的研究设施（如封闭温室）另有专门要求（见第 082 课）。国际资料中有在级别后加“加号”的“加强型”说法，表示在本级基础上借用了更高一级的部分设计或措施；国内以现行标准和主管部门要求为准。</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实验室分级的标准不是一个机构说了算。在国内，是法律、法规、标准一层层落实：最上层是《中华人民共和国生物安全法》，下面是《病原微生物实验室生物安全管理条例》；技术要求写在国家标准 GB 19489-2008《实验室 生物安全通用要求》和行业标准 WS 233《病原微生物实验室生物安全通用准则》中（均以现行文本为准），包括防护设施、个人防护、实验室设计以及每一级的具体要求；具体病原的哪类实验放在几级做，查《人间传染的病原微生物目录》。</a:t>
            </a:r>
          </a:p>
          <a:p>
            <a:r>
              <a:t>标准和目录会随着新的认识不断修订。查规定时先确认是不是现行有效版本，旧版本不要再照用；学校发布更新通知，要及时学习。</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国际上也有国际组织制定实验室生物安全手册，以及针对高风险病原的专项指南，尤其帮助公共卫生体系还在建设中的国家，在全球疫情应对中发挥作用。</a:t>
            </a:r>
          </a:p>
          <a:p>
            <a:r>
              <a:t>这些手册和指南在我国只作参考和背景资料。实验室分级、设施要求、审批程序，一律以国内法律法规、国家标准、行业标准和本校规定为准。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用一张图记住谁管什么：</a:t>
            </a:r>
          </a:p>
          <a:p>
            <a:r>
              <a:t>- 国际组织：提供手册和指南，作为国际参考；</a:t>
            </a:r>
          </a:p>
          <a:p>
            <a:r>
              <a:t>- 国家：法律、行政法规确定管理框架，国家标准和行业标准规定技术要求；</a:t>
            </a:r>
          </a:p>
          <a:p>
            <a:r>
              <a:t>- 主管部门和认可机构：卫生健康、农业农村等主管部门负责实验室备案和实验活动审批，三级、四级实验室须通过国家认可（具体分工以现行规定为准）；</a:t>
            </a:r>
          </a:p>
          <a:p>
            <a:r>
              <a:t>- 单位：学校生物安全委员会和实验室管理部门负责本地的审查、监督和执行，实验室负责人负责本实验室的日常管理（见第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高校学生的教学和多数科研实验在一级、二级实验室开展。进入三级、四级实验室工作，须经单位专门批准，接受专门培训并考核合格，获得授权；学生不得自行进入或开展相关实验。</a:t>
            </a:r>
          </a:p>
          <a:p>
            <a:r>
              <a:t>任何涉及病原微生物的实验，都要按国家目录和风险评估确定实验室级别，经批准后在相应级别的实验室里做；进入实验室前先通过准入培训，做好个人防护。拿不准实验该在几级做，先问导师和实验室负责人，不擅自开展。</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答案：B。解析：实验室级别国内外同向，四级最高；病原分类国内第一类最危险，方向相反。</a:t>
            </a:r>
          </a:p>
          <a:p>
            <a:r>
              <a:t>第 2 题 答案：A。解析：二级实验室受控进入、门自动关闭、挂标识，可能产生气溶胶的操作进安全柜。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答案：C。解析：三级实验室用于可经吸入致严重疾病的病原，须通过国家认可。</a:t>
            </a:r>
          </a:p>
          <a:p>
            <a:r>
              <a:t>第 4 题 答案：A。解析：以法律、条例为框架，技术要求见 GB 19489-2008 和 WS 233（以现行文本为准），国际手册只作参考。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答案：先查现行目录、做风险评估，并请教导师和实验室负责人，按确定的级别和批准开展；拿不准时不擅自做。解析：学生实验多在一级、二级，三四级须专门批准、培训和授权。</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为一种新微生物或一项新实验确定防护等级，不是在表格里查一下就行，而是一套结构化的风险评估：评估病原本身、实验操作、对人员的风险和对环境的影响，使实验室的防护水平与病原和具体操作相匹配。</a:t>
            </a:r>
          </a:p>
          <a:p>
            <a:r>
              <a:t>注意两套编号：国内病原分类第一类危害最大、第四类最小，国际风险组 1 组最低、4 组最高，方向相反；实验室防护级别则国内外同向，四级最高（见第 058、059 课）。第一类、第二类属于高致病性病原微生物，相关实验须在相应级别实验室并经批准。</a:t>
            </a:r>
          </a:p>
          <a:p>
            <a:r>
              <a:t>先查国家目录、做风险评估、确定级别，再按级别配备设施、设备和个人防护。通用的风险评估步骤和风险矩阵见第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认清要操作的到底是什么：属于什么种、什么株，有没有已知的变异，是否经过基因改造。然后与《人间传染的病原微生物目录》（以现行版本为准）和已有分类资料对照，确定它在国内的危害程度类别。具体分类以国内目录为准，国外资料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第二步评估致病性：它会不会让人或动物生病？如果会，病情有多严重？多少量就可能造成感染（感染剂量）？致病性越强、感染剂量越低，需要的防护级别往往越高。病原层面更详细的评估要素见第 068 课。</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第三步看传播途径：能不能随空气被吸入？会不会经皮肤黏膜接触、经口食入，或经针头等锐器刺伤进入人体？</a:t>
            </a:r>
          </a:p>
          <a:p>
            <a:r>
              <a:t>能经空气（气溶胶）传播、引起严重疾病的病原，通常需要更高级别的实验室（如三级）。具体某种病原、某项实验需要几级，查目录并结合评估确定，不凭印象。</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第四步看防治手段：有没有有效的治疗药物和疫苗？万一发生暴露，能不能及时进行急救、预防性用药和医学观察？</a:t>
            </a:r>
          </a:p>
          <a:p>
            <a:r>
              <a:t>没有有效治疗和预防手段的病原，一旦感染后果最严重，防护级别也要相应提高。暴露后的处置见第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第五步看实验活动本身：会不会产生气溶胶（如离心、匀浆、超声、剧烈混匀），会不会用到锐器？是不是高浓度、大体积操作？涉不涉及动物感染实验？涉不涉及重组 DNA 或基因改造？</a:t>
            </a:r>
          </a:p>
          <a:p>
            <a:r>
              <a:t>同一种病原，实验活动不同，所需级别也不同：例如对未经培养的样本做检测，与大量培养活的病原，风险和要求差别很大；目录对不同实验活动分别规定了所需的实验室级别（以现行版本为准）。培养活病毒等高风险活动须经批准，学生不得擅自开展。</a:t>
            </a:r>
          </a:p>
          <a:p>
            <a:r>
              <a:t>涉及基因改造（如使用病毒载体）的实验，可能需要提高防护级别，并须先经单位生物安全委员会审批（见第 081 课）；涉及可能被滥用的两用研究，还要经过相应的伦理和安全审查（见第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第六步看本实验室的条件：实验室的防护级别和设施设备够不够？人员是否受过相应培训、考核合格？个人防护装备是否齐全？应急处置条件是否具备？防护条件必须与风险等级相匹配。</a:t>
            </a:r>
          </a:p>
          <a:p>
            <a:r>
              <a:t>条件不够，就不要硬上。涉及第一类、第二类等高致病性病原微生物的，必须在具备条件的实验室并经批准才能开展；不具备条件的，按规定移交有资质的机构处理，或者按规定销毁（以现行规定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第七步，查规范、问专家：对照国内法律法规、GB 19489、WS 233 和《人间传染的病原微生物目录》（均以现行文本或版本为准），国外手册只作参考；再向实验室负责人、生物安全员和单位生物安全委员会咨询。</a:t>
            </a:r>
          </a:p>
          <a:p>
            <a:r>
              <a:t>防护级别不是研究者自己说了算：由项目负责人组织评估、提出拟定级别，经生物安全员或单位生物安全委员会评定、审批后确定；高致病性病原微生物的实验活动还须依法审批。学生不得自行定级，不得擅自开展。生物安全委员会的职责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各步骤的评估结果综合起来，最终级别取最高的那个风险因素：哪怕只有一项风险高，也要按高的来。</a:t>
            </a:r>
          </a:p>
          <a:p>
            <a:r>
              <a:t>举个例子：某菌株本身属于低风险，按本体可在一级实验室操作；但经过基因改造后要重新评估改造带来的变化，实验中又有产生气溶胶的操作，综合各项取最高，给出拟定级别。拟定的级别仍要报单位生物安全委员会审批，批准后才能开展。</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国际资料常说“风险组不等于实验室级别”，要结合管理控制措施逐案评估。例如有人问：国际风险组 3 的病原一定要进三级实验室吗？逐案评估的思路是对的，但在国内必须按规定来：先查《人间传染的病原微生物目录》，目录对不同实验活动所需的实验室级别有明确规定。</a:t>
            </a:r>
          </a:p>
          <a:p>
            <a:r>
              <a:t>在国内不能随意降级操作。想在比目录规定低一级的实验室里做，研究者不能自己决定，必须有充分的风险评估，经单位生物安全委员会审核；涉及高致病性病原微生物的，还须依法审批（以现行规定为准）。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病原还没有确认时信息不全，评估要从严，宁可防护高一档，并报单位生物安全委员会审核。</a:t>
            </a:r>
          </a:p>
          <a:p>
            <a:r>
              <a:t>细胞系、临床样本、来源不明的样本，在目录里不一定查得到，同样要做风险评估，确定在几级实验室操作；拿不准的交单位生物安全委员会把关。</a:t>
            </a:r>
          </a:p>
          <a:p>
            <a:r>
              <a:t>噬菌体实验离不开宿主菌，用于杀灭致病菌的噬菌体，宿主往往就是致病菌，防护级别要按宿主菌和样品来评估，致病宿主菌在生物安全柜内规范操作。污泥、污水常被用作接种物，里面什么菌都可能有，包括致病菌；富集培养会把杂菌一起放大，评估后一般在二级实验室操作。</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定级评估不是口头说说，要形成书面的风险评估报告，经审核批准后留档，做到可追溯（GB 19489-2008，以现行文本为准）。</a:t>
            </a:r>
          </a:p>
          <a:p>
            <a:r>
              <a:t>实验内容、病原、规模、方法、人员或设施条件发生变化时，要重新做风险评估。采取控制措施后残余风险仍然偏高的，要上报单位生物安全委员会，由委员会决定是否开展，不擅自开工。风险评估的记录与复查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答案：B。解析：定级是一套结构化风险评估，级别由生物安全委员会评定审批。</a:t>
            </a:r>
          </a:p>
          <a:p>
            <a:r>
              <a:t>第 2 题 答案：B。解析：改造后要重新评估，结合操作中的气溶胶等风险，综合取最高，并报委员会审批。</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答案：B。解析：在国内不得随意降级操作。</a:t>
            </a:r>
          </a:p>
          <a:p>
            <a:r>
              <a:t>第 4 题 答案：B。解析：同样要做风险评估确定级别，信息不全时从严，拿不准交生物安全委员会把关。</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答案：不硬上；涉及高致病性病原的须在具备条件的实验室并经批准开展，否则按规定移交有资质的机构处理；报告实验室负责人。解析：防护条件必须与风险等级匹配。</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比较各级生物安全实验室，可以列一张对比表：先看病原风险——一级操作通常不使健康成人致病的微生物，二级操作能致病但一般可防可治的病原，三级对应可经空气传播、后果严重的病原，四级对应危及生命且缺乏有效防治手段的病原（分级见第 059 课）。举例只看类别：一级多为无害的实验室菌株，二级多为常见可治的致病菌；具体某种病原、某项实验活动放在几级，查《人间传染的病原微生物目录》并做风险评估（见第 060 课）。注意国内病原分类第一类最危险，与国际风险组 1–4 方向相反；实验室级别则国内外同向，一级最低、四级最高。</a:t>
            </a:r>
          </a:p>
          <a:p>
            <a:r>
              <a:t>每一级的防护措施分三栏来看：个人防护（穿什么）、安全设备即工程控制（用什么设备）、实验室设施（房子怎么建），再加上操作规范和人员培训。各级要求是一整套：房子够格、操作不到位，或者设备齐全、人员没培训，都不算达到该级别。检查时设施、设备、操作、人员都要查。</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准入随级别逐级收紧：一级实验室，经过基本培训的人员可以进入；二级实验室限制进入，无关人员不得入内；三级实验室受控进入，人员须经专门培训、批准和授权；四级实验室严格控制进入，并有高度的安保措施。</a:t>
            </a:r>
          </a:p>
          <a:p>
            <a:r>
              <a:t>进门前先看门上的标识：生物危害标志、防护级别、涉及的病原或风险、实验室负责人和联系电话，看清要求、穿戴好再进。进入生物安全实验室实行“先培训、后准入”：培训考核合格才能进门操作，使用生物安全柜等设备也要先培训、考核并获得授权；学校、学院、实验室层层负责。进三级实验室须先批准、先培训，未获准入不得进入，也不得单独进入工作。</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随级别逐级加码：一级以实验服为主，需要时戴手套和护目镜；二级在实验服、手套之外，加戴护目镜或面屏等面部防护，必须穿不露脚趾的鞋；三级穿前襟封闭的防护服，戴手套和眼面部防护，并按要求加戴呼吸防护（呼吸防护与适合性检验见第 025 课）；四级在不使用全密闭安全柜时，穿独立供气的正压防护服，手部戴多层手套。</a:t>
            </a:r>
          </a:p>
          <a:p>
            <a:r>
              <a:t>具体穿戴什么、戴什么级别的呼吸防护，由风险评估决定（防护装备的选择见第 074 课，穿脱顺序见第 075 课）。实验室的定向气流、安全柜等工程措施能帮助保护人员，但不是万能的，个人防护照样要穿戴齐全。</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设备（工程控制）随级别加严：一级有洗手设施和基本的消毒用品；二级配备生物安全柜（通常为Ⅱ级），吸液、混匀、振荡、研磨等可能产生气溶胶或溅洒的操作要放进柜里做；三级所有涉及感染性材料的操作都必须在生物安全柜或其他物理防护设备内进行，离心时使用密封的离心杯或转子；四级使用全密闭的Ⅲ级生物安全柜，或在防护服型实验室中穿正压防护服配合Ⅱ级生物安全柜工作，并有独立供气（生物安全柜见第 071、072 课）。</a:t>
            </a:r>
          </a:p>
          <a:p>
            <a:r>
              <a:t>气溶胶控制的要求同样逐级提高：一级一般无专门要求；二级在可能产生气溶胶时必须防护；三级至关重要；四级要求时刻处于全封闭状态。</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设施随级别递进：一级是普通的开放实验室，设洗手池（宜靠近出口）；二级在此基础上，门能自动关闭并有进入控制，设洗手池和洗眼装置，实验室内或所在建筑内有高压蒸汽灭菌器或其他适当的消毒灭菌设备；三级与其他区域隔离，房间保持负压，排风经高效过滤后排出（封闭原理见第 062 课，布局与进出见第 063 课）；四级完全隔离，进风、排风都要经过高效过滤，并有专用的废水处理等系统。</a:t>
            </a:r>
          </a:p>
          <a:p>
            <a:r>
              <a:t>各级设施的具体技术要求，以 GB 19489-2008、GB 50346《生物安全实验室建筑技术规范》和 WS 233（均以现行文本为准）以及本校设施说明为准。学生要做的是认识本实验室的设施、知道它们在哪里，不擅自改动。</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实验室常见的布局：入口附近放高压灭菌器，废物就近集中灭菌，废物按类别分桶收集；门上挂生物危害标志，可加装门禁（密码、刷卡等），防止无关人员进入；按需要配备洗眼装置和应急喷淋。生物安全柜（以及化学通风柜）放在远离门口、人员走动少的最里面，空气从门口流入，经过操作者，再进入柜子，把可能的污染拉向柜内、远离人员。柜子的排风按设计连接，不能自行拆改。</a:t>
            </a:r>
          </a:p>
          <a:p>
            <a:r>
              <a:t>二级实验室同样有两道屏障：第一道是生物安全柜和个人防护，保护操作者；第二道是门、洗手池、灭菌设施和规范管理，防止污染扩散到实验室外（两道防护的原理见第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良好微生物操作技术是所有级别实验室安全的基础，设施和设备再好，也替代不了规范的操作。建立实验室，第一步是制定行为规范：由实验室管理层会同使用人员一起，把最基本的操作要求一条条写清楚，形成本实验室的操作规程；生物安全员负责指导大家、理顺工作流程。</a:t>
            </a:r>
          </a:p>
          <a:p>
            <a:r>
              <a:t>良好微生物操作包括无菌操作、灭菌和去污样样到位；消毒要选对消毒剂，并等够规定的作用时间（见第 076 课）。实验室还要有应急预案，覆盖设备破损、人员发病、溢洒和火灾等情形（溢洒与暴露处置见第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级、二级实验室是学生最常进入的生物实验室，日常规范人人要守：穿好实验服，按要求戴手套和护目镜，按无菌技术操作，既防样品污染，也防人员感染。实验室内不吃喝、不存放食物、不化妆，戴手套时不摸脸、手机和门把手。严禁用嘴吸移液管，使用移液器等辅助装置；尽量少用锐器，用过的锐器直接放入锐器盒。</a:t>
            </a:r>
          </a:p>
          <a:p>
            <a:r>
              <a:t>操作时动作轻缓，减少溅洒和气溶胶；实验前后和溅洒后对台面消毒。培养物、废液和污染物品灭菌后按规定处置（见第 077 课），实验菌株不得带出实验室、不得排放到外界环境。实验服不穿出实验室；做完实验先摘手套，再用洗手池按步骤洗手，然后离开。二级实验室还要保持门关闭，可能产生气溶胶的操作在安全柜内进行。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微生物涂片和湿片可能含有活菌，观察时按相应级别穿戴防护；用过的玻片放进消毒缸消毒，或放进锐器盒；显微镜载物台被污染时及时消毒。</a:t>
            </a:r>
          </a:p>
          <a:p>
            <a:r>
              <a:t>从土壤、水等环境中分离出的菌，可能混有致病菌，鉴定前一律按未知菌对待：先做风险评估，再确定防护级别，一般在二级实验室的生物安全柜内操作；分离株标清来源和日期，鉴定结果出来之前不降级（未知样本从严定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级的培训都看三件事：学什么重点、谁来学、怎么练。一级的对象是学生、实习人员和初学者，重点是实验室一般安全、基础微生物操作、手卫生和台面消毒；练习穿戴防护用品、处理化学品和生物材料的小量溅洒，以及识别生物危害标志。</a:t>
            </a:r>
          </a:p>
          <a:p>
            <a:r>
              <a:t>二级的对象是检验人员、科研人员和教学实验室人员，做二级课题的学生同样要学；重点是标准操作规程、病原材料的安全操作、预防锐器伤、正确使用生物安全柜，以及发生事件后及时报告；练习血液等样本的暴露防护、安全柜的使用和去污，以及暴露后的应急演练。</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三级的对象是有经验的专业人员，重点是更深入的生物安全原则、可经空气传播病原的封闭控制、呼吸防护（要做适合性检验，见第 025 课）、进出程序和应急程序；练习包括定期复训、熟悉设施布局、呼吸防护装备的使用和维护，以及溢洒和感染事件的模拟演练。学生未经批准，不得进入三级实验室。</a:t>
            </a:r>
          </a:p>
          <a:p>
            <a:r>
              <a:t>四级的对象是专门的病原研究和公共卫生团队，要接受长期的强化训练，重点是正压防护服的使用、全封闭操作程序和严格的去污方案，必要时评估身心状况，坚持两人同行；练习全流程模拟、进出缓冲间和化学淋浴、通讯规程和紧急撤离预案。具体要求以国家规定和所在机构的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实验室人员的必备培训有六类：第一，生物安全操作——规范操作，在防护设施里做实验，学会废物的灭活和处置；第二，生物安保意识——防止未经授权的人员接触病原材料（见第 083 课）；第三，个人防护装备——按风险评估选对防护用品，按顺序穿戴，检查是否完好，脱卸时把外面当污染面，不碰到皮肤（见第 075 课）；第四，应急程序——溢洒怎么处理，什么情况要撤离，被扎伤、溅到后第一时间怎么做（见第 078 课）；第五，设备使用——安全柜怎么开、怎么用、怎么判断是否正常，高压灭菌器怎么装载、怎么防烫伤（见第 123 课）。</a:t>
            </a:r>
          </a:p>
          <a:p>
            <a:r>
              <a:t>第六，事件报告——知道向谁报告：实验室负责人、学院和学校实验室管理部门（需要时保卫处）；事故和暴露发生后立即报告，如实记录，配合后续医学评估和随访。</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每一级的培训都要留下记录，本人签字，考核合格才能准入；还要定期复训，复训周期按本校规定，操作内容、设备或规程变化时及时补训。</a:t>
            </a:r>
          </a:p>
          <a:p>
            <a:r>
              <a:t>二级及以上的培训必须动手实练，光看书、光听课不算学会。三级、四级先由有经验的人员带教跟岗，确认能独立胜任后，才给予完全准入。</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防护装备或安全设备缺失、损坏（如手套破损、护目镜缺少、安全柜报警或气流异常），先停下相关操作，不凑合、不将就；按规定处理已在进行的操作和材料，报告实验室负责人，申领防护用品或报修设备。</a:t>
            </a:r>
          </a:p>
          <a:p>
            <a:r>
              <a:t>维修后经确认恢复正常（需要检测的设备经检测合格），再恢复工作；不得擅自拆修安全柜等设备。</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答案：B。解析：二级在一级基础上加面部防护，必须穿闭趾鞋；具体按风险评估。</a:t>
            </a:r>
          </a:p>
          <a:p>
            <a:r>
              <a:t>第 2 题 答案：A。解析：二级的工程控制要求可能产生气溶胶的操作进生物安全柜。</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答案：C。解析：不饮食、不口吸、不外带实验菌，台面消毒、摘手套洗手后离开。</a:t>
            </a:r>
          </a:p>
          <a:p>
            <a:r>
              <a:t>第 4 题 答案：B。解析：环境分离菌鉴定前按未知菌对待，先评估，一般在二级安全柜内操作，鉴定前不降级。</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答案：C。解析：装备缺了坏了不开工，报告、申领或报修，确认正常再恢复。</a:t>
            </a:r>
          </a:p>
          <a:p>
            <a:r>
              <a:t>第 6 题 答案：生物安全操作、生物安保意识、个人防护装备、应急程序、设备使用、事件报告；立即报告实验室负责人、学院和学校实验室管理部门，如实记录，配合医学评估和随访。解析：培训要记录、签字、考核合格才准入，并定期复训。</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封闭（防护）是生物安全的核心思路：把病原微生物关在受控的空间里，用设备、设施和管理等各种控制措施，挡住它外泄。病原一旦外泄，既会伤到实验室人员，也会危害公众和环境。</a:t>
            </a:r>
          </a:p>
          <a:p>
            <a:r>
              <a:t>高级别生物安全实验室本身就是一个防护区，研究人员在受控的环境里工作；进入须经批准和专门培训，学生未经批准不能进入（各级准入要求见第 061 课）。合格的防护设施是重要保障，但再好的设施也要靠人按规程使用。</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分两道。一级防护（一级屏障）的作用是护住做实验的人，把操作者与病原隔开。它由安全设备和个人防护装备组成：生物安全柜、密封离心杯等安全设备，以及实验服、手套、口罩或呼吸器、护目镜等个人防护装备，再加上规范操作和穿脱防护的规程等管理措施。</a:t>
            </a:r>
          </a:p>
          <a:p>
            <a:r>
              <a:t>生物安全柜是一级防护的主力（见第 071 课）。研究植物病原时也一样：如果植物携带对人有害的病原，就要用口罩、手套等防护把人隔开。</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防护（二级屏障）的作用是护住实验室外面的环境和公众，防止病原从实验室扩散出去。它主要靠实验室设施的工程控制：墙体、门、通风系统、高效过滤器和物理屏障，以及废水去污系统；同时也靠进出程序、去污、定期维护、物品运输和废物处置等规程。</a:t>
            </a:r>
          </a:p>
          <a:p>
            <a:r>
              <a:t>植物研究设施同样有二级封闭：靠温室等设施结构，挡住花粉和植物病原外逃（见第 082 课）。工程控制依赖设施，建设和维护的成本都较高，因此更要正确使用、按期维护。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记住一句话：一级防护保护人，二级防护保护环境；简单说，“柜护人，房护环境”。两道屏障要同时做到、一起使用，缺了任何一道，风险都会漏出去。</a:t>
            </a:r>
          </a:p>
          <a:p>
            <a:r>
              <a:t>课堂上可以做一个分组练习：准备便利贴和两个盒子，一组写“护人”的措施（实验服、手套、口罩、眼罩、送风呼吸器、生物安全柜、穿脱规程），一组写“护环境”的措施（高效过滤、废水去污、通风、定期维护、运输和废物处置规程），分别贴进两个盒子；最后把两层拼在一起，就是一间生物安全实验室的雏形。</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实验室靠定向气流把病原关在封闭空间里，这是封闭最基本的思路。通过送风和排风的设计，让空气始终从清洁区流向污染区（实验区），再经高效过滤后排出；这样，室内可能产生的气溶胶就不会跑到走廊和外面。普通房间常常是开门时空气往外流，封闭实验室正好相反，空气往里流。</a:t>
            </a:r>
          </a:p>
          <a:p>
            <a:r>
              <a:t>定向气流是生物安全实验室常见的工程控制措施，高级别实验室要求更严（具体以 GB 19489-2008、GB 50346 和本校设施说明为准）。进门前看一眼门口的压差显示和气流飘带：飘带应朝实验室里飘；读数不对、飘带外飘或有报警，先不要进去。</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气流的方向还要考虑人的位置：风从病原吹向人是不允许的；正确的是风从人身后来，经过操作的病原材料，从另一头经过滤排出。地面发生溅洒时，从清洁的一侧（上风侧）处理，不要踩进溅洒区（溢洒处置见第 078 课）。</a:t>
            </a:r>
          </a:p>
          <a:p>
            <a:r>
              <a:t>不要在排风口前堆放物品，也不要在生物安全柜前面的格栅上压放本子、物品或手臂；遮挡后气流就会紊乱，屏障随之失效（安全柜使用见第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实验室里的气压比外面低，叫负压；负压保证空气只往里流，含病原的气溶胶跑不出去。从入口一路往里，各房间的压力一级比一级低（负压一级比一级大），形成压力梯度，病原被限制在最里面；涉及病原的操作都在最里面的负压间里进行。门口的压力显示面板正常时一般亮绿灯。</a:t>
            </a:r>
          </a:p>
          <a:p>
            <a:r>
              <a:t>各级、各房间的压差和换气要求由 GB 19489-2008、GB 50346（均以现行文本为准）规定，具体数值以本校设施说明为准；使用者不需要也不应自行调节，只要会看、会判断是否正常。布局与进出见第 063 课。</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部环境和防护区之间的一小段空间叫气锁（缓冲间）：一侧通向外部，一侧就是防护区。气锁靠压力差把两边的空气隔开：有的设施把缓冲间的压力设在两侧之间，让空气逐级向内流；有的把气锁设计成高于两侧的正压，两边的空气都进不来。可以把它比作商场门口的风幕，一道“气墙”把病原挡在里面——这只是比喻，真正靠的是压力差（本设施的压力设计以本校设施说明为准）。</a:t>
            </a:r>
          </a:p>
          <a:p>
            <a:r>
              <a:t>实验室的门也是二级防护的一部分：进出随手关门，不能用东西撑开；有缓冲间的，两道门不同时打开，有互锁指示灯的，灯没变绿就等一等，不强行开门。</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移液、离心、混匀等操作都会产生气溶胶。个人防护装备能护住人，但室内的气溶胶需要靠持续换气来稀释和带走，就像漂洗衣服一样，一遍遍把污染带走。</a:t>
            </a:r>
          </a:p>
          <a:p>
            <a:r>
              <a:t>在高级别封闭实验室，空气经过滤后送入，流过操作区，带走可能的污染，再经高效过滤排出去，这样实验室外的社区就是安全的。换气次数等参数以现行标准和本校设施说明为准。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实验室要排出去的空气，必须先经过高效空气过滤器（HEPA）。过滤器里是层层纤维，颗粒和病原被纤维截住；更小的颗粒做无规则运动，也会撞上纤维被抓住，只有干净的空气才能出去。很多设施把房间气流引向天花板或高处的过滤排风口，过滤后排出，这种靠设施的措施就是工程控制。高效过滤器有严格的效率标准，以现行国家标准为准。</a:t>
            </a:r>
          </a:p>
          <a:p>
            <a:r>
              <a:t>过滤器靠密封装置安装，不能漏风；用久了滤材会老化，要按期检测和更换。更换由经过培训的专业人员完成，采用袋进袋出等方式，旧过滤器先去污再废弃，不能重复使用。学生不得自行拆卸或更换过滤器（设施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每一道防护屏障都有局限，不能全靠它。高效过滤器效率很高，但不是百分之百，安装或老化可能造成泄漏，所以要定期检测；更重要的是从源头少产生气溶胶——安全柜在前面拦截，房间气流作为兜底。</a:t>
            </a:r>
          </a:p>
          <a:p>
            <a:r>
              <a:t>无论措施有多少，总有剩余风险，所以还要靠规范操作、培训和应急准备。回顾本课：实验室设施、定向气流和负压、生物安全柜（定期检测、放对位置、按规程使用）、高压灭菌器（按规定管理）等措施要一起用，缺一不可。</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正常情况下，气流应该流进实验室。如果一开门，门口的飘带却朝走廊外面飘，说明空气正从实验室往外流，定向气流这道屏障失效了。这时不能“先进去干活再说”。</a:t>
            </a:r>
          </a:p>
          <a:p>
            <a:r>
              <a:t>正确做法：不进入，不开展任何实验，关好门；在门口挂牌，提醒其他人也不要进入。如果已经在里面，就停止操作，把材料收好封好，撤出并关门。</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发现气流异常后，马上报告实验室负责人，并通知设施人员检查通风系统；报告时说清发现的时间、现象（飘带方向、压差读数或报警）和位置。按本校规定，必要时报告学院和学校实验室管理部门。</a:t>
            </a:r>
          </a:p>
          <a:p>
            <a:r>
              <a:t>设施人员修好后，先验证气流已恢复向内、压差正常；经实验室负责人确认后，才能恢复实验。以后每次进门，都先看一眼飘带和压差显示。</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正在做实验时，如果通风系统报警、压差异常或停电，先停下操作，把容器盖好、样本封好，安全柜内的材料按规定收好；然后按程序脱卸个人防护装备，撤出实验室，关好门。</a:t>
            </a:r>
          </a:p>
          <a:p>
            <a:r>
              <a:t>撤出后马上按应急预案报告实验室负责人，等设施恢复并确认正常后再进入。高级别实验室的应急处置按本单位应急预案执行。</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答案：B。解析：一级护人，二级护环境，两道一起用。</a:t>
            </a:r>
          </a:p>
          <a:p>
            <a:r>
              <a:t>第 2 题 答案：A。解析：负压与压力梯度让空气只往里流，具体数值以标准和本校说明为准。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答案：C。解析：门也是屏障，进出随手关，缓冲间两道门不同时开。</a:t>
            </a:r>
          </a:p>
          <a:p>
            <a:r>
              <a:t>第 4 题 答案：B。解析：高效过滤不是百分百，要定期检测、按期由专人更换；总有剩余风险。</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答案：B。解析：飘带外飘说明定向气流失效。</a:t>
            </a:r>
          </a:p>
          <a:p>
            <a:r>
              <a:t>第 6 题 答案：先停手，盖好容器、封好样本；按程序脱防护，撤出实验室并关门；按预案报告负责人，设施恢复并确认正常后再进入。解析：不在失效的屏障下继续操作。</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三级生物安全实验室（BSL-3）用来关住病原，开展较高风险病原的诊断和实验。要注意两套编号的方向：病原分类国际风险组 4 组最高，国内第一类最危险，方向相反（见第 058 课）；实验室级别则国内外同向，一级最低、四级最高。</a:t>
            </a:r>
          </a:p>
          <a:p>
            <a:r>
              <a:t>所有涉及病原的诊断和实验工作，只在最里面的核心工作间进行，病原被关在各自的工作区里。三级实验室须通过国家认可，涉及高致病性病原微生物的实验活动还须经批准。高校学生平时在一级、二级实验室工作，进入三级实验室须经专门培训和授权（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三级实验室的平面按功能分区：外面是辅助工作区，放控制室、清洁更衣、办公等功能；里面是防护区，包括缓冲间和核心工作间（具体分区以 GB 19489-2008、GB 50346 和本设施设计为准）。平面图上常用颜色区分清洁区和污染区，两者的交界处设更衣、淋浴和灭菌设施。</a:t>
            </a:r>
          </a:p>
          <a:p>
            <a:r>
              <a:t>分区的原则是清洁和污染分开：人员行走和气流方向都从清洁区到污染区，不逆行、不交叉（封闭原理见第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防护区门口张贴生物危害警告标志和“非授权人员禁止入内”等禁止标志（安全标志式样按 GB 2894-2025，以现行文本为准），并设信息牌，写明防护级别、负责人和联系电话等。没有授权，任何人都不能进入。</a:t>
            </a:r>
          </a:p>
          <a:p>
            <a:r>
              <a:t>组织学生了解三级实验室时，只在外区或通过图示、视频学习，不进入防护区；看到禁入标识，就停下脚步。</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进入负压实验室前，第一件事是看门口的压差显示面板和报警灯：显示正常（如绿灯）才可以按程序进入；读数异常或报警亮起（如红灯），不要进去，马上报告实验室负责人和设施人员。</a:t>
            </a:r>
          </a:p>
          <a:p>
            <a:r>
              <a:t>各房间压差的正常范围由现行标准和本设施的设计决定，以本校设施说明为准；使用者只需会看、会判断，不得自行调节（气流异常的处置见第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门禁更严格：授权人员刷卡（或指纹等）进入第一区，一人一卡，不尾随他人进入，也不把卡借给别人。进门先过前室（缓冲间），它像一个气闸，门关好、压力平衡后再打开里面的门。前室用压力把里外空气隔开：有的设施前室为正压，把外面的空气挡在外面、把病原留在里面；有的按压力梯度设计，具体以本设施说明为准。</a:t>
            </a:r>
          </a:p>
          <a:p>
            <a:r>
              <a:t>第一区里常有一间间样本处理间；再往里是负压区，设第二道门禁；经过清洁更衣室等房间，每过一道门，压力再降一级，空气始终往里流。</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人员进出是单向的：一条路进，另一条路出。进入时，私人物品留在外侧储物柜，在清洁更衣室换上实验室专用服装，经过负压的气锁（缓冲间），再进入防护实验室；里面是限制区，外人不得进入。</a:t>
            </a:r>
          </a:p>
          <a:p>
            <a:r>
              <a:t>离开时，在指定位置按程序脱卸个人防护装备（见第 075 课），按规定淋浴，再换回自己的衣服。洗手用感应龙头，能不碰的表面就不碰。进出按规定登记；路线不能抄近道，也不能反着走，洁到污、不走回头路。</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人流和物流分开：人员按规定路线进出；物品走专门的通道。小件样本通过传递窗递进递出，传递窗两扇门不同时打开，用后按规定消毒。与二级实验室不同，三级实验室的高压灭菌器设在实验室内，常为穿墙的双扉灭菌器：在防护区一侧装入，在外侧取出。</a:t>
            </a:r>
          </a:p>
          <a:p>
            <a:r>
              <a:t>离开实验室的物品和废物，先封好包装、经灭菌（或其他有效消毒），再按规定交有资质的单位处置（见第 077 课）。生物安全柜按设计接好排风，排气全部经过高效过滤。</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防护区旁设控制室，风机、通风和空调等系统在这里集中控制，设施人员监控运行状态，异常时及时处置。</a:t>
            </a:r>
          </a:p>
          <a:p>
            <a:r>
              <a:t>监控画面和门禁记录让谁进谁出都有记录，门禁、监控和安保共同把关（生物安保见第 083 课）。发现可疑人员或有人尾随，立即报告保卫处和实验室负责人；实验室的布局、门禁和安保信息属于敏感信息，不拍照、不外传。</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三级实验室的设施要素放在一起看：相对外界维持负压，气流定向流动，空气只进不出，排风经高效过滤后排到室外；进出经过前室（气闸），有两道自闭门；设免手动操作的洗手池，旁边有洗眼器；配生物安全柜等防护设备，操作都在其中进行；灭菌器设在实验室内（这也对通风空调提出了新的要求）。</a:t>
            </a:r>
          </a:p>
          <a:p>
            <a:r>
              <a:t>运行中如果压力突然下降、报警，就意味着封闭可能被破坏，要立即停止工作，按应急预案处置和报告（见第 062 课）。各项技术要求以 GB 19489-2008、GB 50346 和 WS 233（均以现行文本为准）为准；设施的设计和运行见第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四级生物安全实验室（BSL-4）是独立的建筑或建筑内完全隔离的区域，人员经气锁进入，离开时要经过去污淋浴（如化学淋浴和人员淋浴）；进风和排风都经过高效过滤；并配有应急电源和通讯系统。</a:t>
            </a:r>
          </a:p>
          <a:p>
            <a:r>
              <a:t>四级实验室造价和运行要求极高，只在国家批准的少数设施中建设（分级见第 059 课），高校学生一般不会接触。</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答案：B。解析：病原分类反着走，实验室级别顺着走。</a:t>
            </a:r>
          </a:p>
          <a:p>
            <a:r>
              <a:t>第 2 题 答案：B。解析：读数异常或报警就别进，马上报告负责人和设施人员。</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答案：B。解析：单向进出，不走回头路，不抄近道。</a:t>
            </a:r>
          </a:p>
          <a:p>
            <a:r>
              <a:t>第 4 题 答案：D。解析：物品经传递窗或穿墙灭菌器，灭菌后才出来。</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答案：B。解析：一人一卡，不尾随、不借卡；发现尾随报告保卫处。</a:t>
            </a:r>
          </a:p>
          <a:p>
            <a:r>
              <a:t>第 6 题 答案：实验室的布局、门禁和安保信息属于敏感信息，外传可能被利用、危害实验室安保；有疑问向实验室负责人或保卫处咨询。解析：门禁、监控和安保一起把关。</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生物安全靠的不只是生物安全柜和个人防护装备。实验室房子怎么设计、配置什么设备，本身就是一道防护，属于控制层级中的工程控制（控制层级见第 017 课）：它不依赖每个人每次都做对，而是从源头把风险挡住。</a:t>
            </a:r>
          </a:p>
          <a:p>
            <a:r>
              <a:t>设施设计得周全，使用起来才既安全又好用；设计考虑不周，后面的操作和管理就要付出更多代价去弥补。所以，即使是学生和普通使用者，也应了解设施各部分的作用，正确使用、不随意改动。</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座防护设施（以较高等级实验室为例）的基本组成：门口有生物危害标志；房间可以密封，便于熏蒸消毒；气流定向流入，经高效过滤后排出，整座设施相对外界保持负压；人员经气锁（缓冲间）进入、经淋浴离开；室内有生物安全柜和高压灭菌器；楼下有污水处理系统。不同级别的实验室配置不同，具体以 GB 19489-2008、GB 50346 和本校设施说明为准（各级要求见第 061 课，三级布局与进出见第 063 课）。</a:t>
            </a:r>
          </a:p>
          <a:p>
            <a:r>
              <a:t>工程设计通常包括八个部分：设施（建筑）设计、气流、过滤、暖通空调、污水处理、给排水、智能控制和安防。这类设施的楼体通常至少分三层：上层是设备层，负责空气处理；中层是实验室和办公；底层收集并处理全部废水。</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设施上方的一层叫设备层（机械层），全楼的供暖、通风和空调都从这里统一控制：空气处理机组、风机、过滤器和电气控制柜都装在这里；一排排控制柜管着电机和压缩机，由电脑统一指挥；压缩机让供给实验室的水和压缩空气保持压力稳定。</a:t>
            </a:r>
          </a:p>
          <a:p>
            <a:r>
              <a:t>把机械放在实验室上方，实验室里就不放机械设备，便于密封和清洁消毒。设备层的层高要够人进去检修，灯具和过滤器都从上面更换，不必在实验室房间里开口。</a:t>
            </a:r>
          </a:p>
          <a:p>
            <a:r>
              <a:t>设备层有转动设备、高压电和高处作业等危险，不是参观区：未经允许不得进入，进入须有人陪同；维修前先停机断电、上锁挂牌（见第 144 课）。</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气处理机组里装有高效过滤器，进楼的空气都先过这一道；过滤段设有检修门，定期检查、维护，到期更换过滤模块。高等级实验室进来的空气要过滤，出去的空气也要过滤，两头把关；送风过滤保护人员和实验，排风过滤保护环境。</a:t>
            </a:r>
          </a:p>
          <a:p>
            <a:r>
              <a:t>每个房间连接各自独立的高效过滤器，一间出问题不连累其他房间；风阀一开一合调节风量，把各房间的气流配平，维持定向气流（原理见第 062 课）。排风过滤单元先把颗粒物滤干净，再由屋顶的高空排放风机高速射向高空，远离进风口和人群，充分扩散。注意：除去病原靠的是过滤，排高只是加一道保险。</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防护设施的加热、制冷、湿度、通风等由电子系统集中控制和监测，哪台设备在运转、是否正常，在控制区一看就知道；监控、气流、门锁等也在控制区集中管理。</a:t>
            </a:r>
          </a:p>
          <a:p>
            <a:r>
              <a:t>压差显示和报警是监测的关键（会看压差面板见第 063 课）。系统设计成防护一旦失效就报警，并按设计联锁停机或转入安全状态，此时按应急预案撤离和报告（见第 062 课）。控制系统的参数由设施管理人员按规程设定，使用者不得自行更改。</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防护设施出去的一切都要去污，连水槽流下的废水也不例外。较高等级设施的淋浴、洗手、灭菌器排水先进暂存罐，再进消毒罐（消毒方法和接触时间按规程确定），中和后才排放；全程监测，留好记录。污水不能直接接入市政管网，要另设管道或专门处理后再排放，排放应符合国家和地方要求。</a:t>
            </a:r>
          </a:p>
          <a:p>
            <a:r>
              <a:t>封闭设施出来的固体废物要先去污灭菌，再按《医疗废物管理条例》和本校规定交有资质的单位处置（见第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建封闭设施投入很大，决定建实验室、动笔设计之前，先要算清楚账。钱分两块：建设费和运行费。运行费（能耗、过滤器更换、检测、维修、人员）每年都有，会摊到每一次实验里。</a:t>
            </a:r>
          </a:p>
          <a:p>
            <a:r>
              <a:t>设计时就要把维护费用算进去；建得起却养不起，过滤器不能按期更换、设备不能按期检测，安全就会打折扣。设计要统筹考虑的事项包括选址、结构、控制与监测、废物与污水、安保，以及建设成本和运行成本。</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高等级实验室选址有讲究：避开地震、洪水等自然灾害多发地，避开人口稠密区；水电供应要有保障；发生事故时应急处置队伍能及时赶到；周边社会环境稳定安全。具体选址要求以 GB 19489-2008、GB 50346 等现行标准为准。</a:t>
            </a:r>
          </a:p>
          <a:p>
            <a:r>
              <a:t>植物封闭设施不要紧挨农田，以免万一泄漏扩散到作物，造成生态危害和法律纠纷（植物生物安全见第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就像住宅把卫生间集中在一处，管道省，漏了也不会到处蔓延；防护实验室相邻集中布置，通风和管道系统才经济、好管理。</a:t>
            </a:r>
          </a:p>
          <a:p>
            <a:r>
              <a:t>标准布局的原则：区域按从清洁到污染分级，人和物按规定路线走，不交叉、不走回头路（见第 063 课）。功能上分出暂存区（材料先送进暂存区，再按程序转入）、培养基制备区、遗传操作区（放转化设备，转化后的材料再送进封闭区培养）和控制区。以植物设施为例，进入的培养基、土壤要先蒸汽灭菌，去掉其中带的病原。</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设施的出入口是有两道门的缓冲间：先关外门，再开内门，两道门不同时开；开内门时空气往里流，不往外跑（缓冲间压力设计以本设施说明为准，见第 062 课）。</a:t>
            </a:r>
          </a:p>
          <a:p>
            <a:r>
              <a:t>高压灭菌器嵌在墙里，两边各有一扇门（双扉灭菌器），一侧在防护区内装料，另一侧在清洁区取出。进来的东西要干净，出去的更要去污：以植物封闭设施为例，植株、土壤、种子、工作服全部灭菌后才能出去。项目结束时，未经批准放行的材料按规程灭菌销毁。灭菌器的使用和验证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负压设施要让空气稳定地往里流，墙体、观察窗玻璃和密封都要足够结实；风机出故障时负压可能过大，结构不够会撑破玻璃，所以设计时要有相应的保护和联锁。</a:t>
            </a:r>
          </a:p>
          <a:p>
            <a:r>
              <a:t>房间表面材料要耐受消毒剂和熏蒸、耐湿耐腐蚀、易清洁；熏蒸期间按规程清场，检测合格后再进入。植物设施还要考虑采光：阳光进来热量也进来，制冷更贵，炎热地区宜用封闭生长室加人工光，凉爽地区用温室更合适（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生物安保要在设计时就考虑进去，事后补救既贵又难。门禁、监控等物理安保措施管住人员进出，防止病原材料被盗、被私自扩繁或带出；实验数据和资料也要加密、分级管理。</a:t>
            </a:r>
          </a:p>
          <a:p>
            <a:r>
              <a:t>安保措施的具体配置属于敏感信息，不对外公开、不拍照传播；使用者遵守门禁规定，不借卡、不尾随、不带无关人员进入（生物安保见第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建设一般分四步。第一步，需求和预算：按实际需要确定规模，预算有限不要贪大，并考虑每年的维护费。第二步，初步设计：对照建筑规范、消防疏散和生物安全标准（GB 19489-2008、GB 50346 等）逐项查合规。第三步，施工：设施是定制的，施工中加一根梁、隔一个间，气流就会改变，任何改动都要马上告诉设计工程师，重新评估。第四步，验收认可：建成后经检测验收合格，按规定通过认可或备案后才能开展实验。</a:t>
            </a:r>
          </a:p>
          <a:p>
            <a:r>
              <a:t>按《病原微生物实验室生物安全管理条例》，新建、改建、扩建三级、四级实验室应当依法审批，建成后通过实验室国家认可，并经主管部门批准方可从事高致病性病原微生物相关实验活动；一级、二级实验室向设区的市级主管部门备案（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设施设计要多方合作：工程师懂结构，研究者懂生物，管理者居中协调，让设施既满足工程要求又满足实验需要，并符合生物安全法规和标准。</a:t>
            </a:r>
          </a:p>
          <a:p>
            <a:r>
              <a:t>管生物安全的人也要懂一点设施设计，才能和工程师说到一块：生物安全员（生物安全管理人员）要看得懂设施图纸，懂通风空调和基本布局，从建造、验收、维护到停用，每一步都有安全问题。单位新建高等级实验室或动物设施时，生物安全员代表单位向设计方、施工方提问，并回应主管部门的要求。实验室的使用者（负责人、教师和研究生）也要在需求、设计审查和验收等关键阶段参与（生物安全组织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措施装好了还要常维护。生物安全柜、高压灭菌器要按期检测、校准，排风过滤器、压差和定向气流要定期检测验证；维护和检测都要留记录，坏了及时修。使用前看一眼设备上的检测标识是否在有效期内；过期未检或检测不合格的设备挂牌停用（安全柜检测见第 073 课，灭菌器验证见第 076 课）。</a:t>
            </a:r>
          </a:p>
          <a:p>
            <a:r>
              <a:t>排风过滤器上截留着病原，更换前要先原位消毒，由经过培训的专业人员按程序更换，袋进袋出、装袋带出处置；新过滤器装好后检漏合格才能再用。学生不要自己打开过滤箱。</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实验室的认可和备案都不是一劳永逸的：认可有有效期，到期要复评，有效期内还要接受监督评审和主管部门的监督检查（具体周期以现行规定为准）。</a:t>
            </a:r>
          </a:p>
          <a:p>
            <a:r>
              <a:t>设施改造、主要设备更换、实验活动或病原变化等情况发生时，要重新评估、审批，改后重新检测验收或重新评审，并按规定变更备案。</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实验室停用、设备搬走或维修之前，先由实验室按规程彻底去污（消毒灭菌），清点并妥善处置剩余的生物材料。</a:t>
            </a:r>
          </a:p>
          <a:p>
            <a:r>
              <a:t>去污完成后经实验室负责人或指定人员验收合格、签字，才能把设备搬走、交给维修人员、改作他用或报废；房间停用也要经去污验收后才能交出或改造。</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答案：B。解析：设备层集中放机械，未经允许不进入，维修先停机断电、上锁挂牌。</a:t>
            </a:r>
          </a:p>
          <a:p>
            <a:r>
              <a:t>第 2 题 答案：B。解析：除去病原靠高效过滤，高空排放只是加一道保险。</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答案：B。解析：从设施出去的一切都要先去污，连水槽废水也不例外。</a:t>
            </a:r>
          </a:p>
          <a:p>
            <a:r>
              <a:t>第 4 题 答案：C。解析：建成后验收认可才能开展实验，认可有期限，设施变化要重新评审。</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答案：B。解析：过期未检或检测不合格的设备应挂牌停用，检测合格后再用。</a:t>
            </a:r>
          </a:p>
          <a:p>
            <a:r>
              <a:t>第 6 题 答案：先按规程彻底去污，处置剩余生物材料；经负责人或指定人员验收合格签字后，才能搬走、维修、改用或报废。解析：防止设备和房间带着病原交给不知情的人。</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生物安全的概念与法规</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适用对象：进入生命科学、医学、农学、环境等涉及生物材料实验室的高校本科生、研究生和教职工（必修，进入生物实验室前完成）；实验室负责人和生物安全员重点学习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能说出生物安全的含义（安全操作、封闭控制）和目的（保护人员、环境和公众，防实验室获得性感染和病原意外释放），能区分生物危害、生物安全与生物安保。</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能说出生物安全的两大原则（风险评估与防护）、防护三要素（操作、设备、设施）和 5P 评估要素，知道国内病原分类与国际风险组顺序相反。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能说出我国生物安全的主要法规和标准（生物安全法、病原微生物实验室生物安全管理条例、GB 19489、WS 233、《人间传染的病原微生物目录》），知道国际手册只作参考。</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能判断哪些做法违规（越级操作、私带样本、未经审批开展高致病性病原实验活动），知道违规要承担法律责任。</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《中华人民共和国生物安全法》（2021 年 4 月 15 日起施行，以现行文本为准）：生物安全领域的基础性法律，规定病原微生物实验室生物安全管理、法律责任</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《病原微生物实验室生物安全管理条例》（国务院令第 424 号公布，以现行文本为准）：病原微生物按危害程度分四类，实验室按防护水平分四级；一级、二级实验室备案，三级、四级实验室国家认可，高致病性病原微生物实验活动须经批准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生物安全通用要求》：风险评估、实验室设施设备、管理体系与安全手册</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233（以现行文本为准）《病原微生物实验室生物安全通用准则》：病原微生物实验室生物安全的通用技术和管理要求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《人间传染的病原微生物目录》（国家卫生健康委发布，以现行版本为准）：病原微生物危害程度分类和实验活动所需防护水平的依据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号，以现行文本为准）及高校实验室安全检查项目表：生物安全实验室的备案、准入、培训和管理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本校生物安全管理制度：生物安全委员会审查、准入培训、实验活动审批，以本校规定为准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生物实验室多了看不见的生物危害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生物实验要和细胞、微生物打交道</a:t>
            </a:r>
          </a:p>
          <a:p>
            <a:pPr>
              <a:spcAft>
                <a:spcPts val="1000"/>
              </a:spcAft>
            </a:pPr>
            <a:r>
              <a:rPr sz="2000">
                <a:solidFill>
                  <a:srgbClr val="222B33"/>
                </a:solidFill>
                <a:latin typeface="Microsoft YaHei"/>
              </a:rPr>
              <a:t>▪ 病原体肉眼看不见，却能让健康人生病</a:t>
            </a:r>
          </a:p>
          <a:p>
            <a:pPr>
              <a:spcAft>
                <a:spcPts val="1000"/>
              </a:spcAft>
            </a:pPr>
            <a:r>
              <a:rPr sz="2000">
                <a:solidFill>
                  <a:srgbClr val="222B33"/>
                </a:solidFill>
                <a:latin typeface="Microsoft YaHei"/>
              </a:rPr>
              <a:t>▪ 样本、锐器、移液产生的气溶胶，风险就在手边</a:t>
            </a:r>
          </a:p>
          <a:p>
            <a:pPr>
              <a:spcAft>
                <a:spcPts val="1000"/>
              </a:spcAft>
            </a:pPr>
            <a:r>
              <a:rPr sz="2000">
                <a:solidFill>
                  <a:srgbClr val="222B33"/>
                </a:solidFill>
                <a:latin typeface="Microsoft YaHei"/>
              </a:rPr>
              <a:t>▪ 还有化学品和设备危害，措施一样不能少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生命科学实验离不开细胞、微生物和各种生物样本。与其他实验室相比，生物实验室除了化学品、仪器设备、用电等常见危险，还多了一类生物危害：细菌、病毒等病原体肉眼看不见，却可能让健康人感染生病。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认为“看不见就没危险”，随意对待样本和培养物</a:t>
            </a:r>
          </a:p>
          <a:p>
            <a:pPr>
              <a:spcAft>
                <a:spcPts val="1000"/>
              </a:spcAft>
            </a:pPr>
            <a:r>
              <a:rPr sz="1500">
                <a:solidFill>
                  <a:srgbClr val="222B33"/>
                </a:solidFill>
                <a:latin typeface="Microsoft YaHei"/>
              </a:rPr>
              <a:t>▪ 只注意生物危害，忽视同一实验室里的化学品和设备危险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生物因子失控，会威胁公共卫生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生物因子一旦失控，会威胁公众健康</a:t>
            </a:r>
          </a:p>
          <a:p>
            <a:pPr>
              <a:spcAft>
                <a:spcPts val="1000"/>
              </a:spcAft>
            </a:pPr>
            <a:r>
              <a:rPr sz="2000">
                <a:solidFill>
                  <a:srgbClr val="222B33"/>
                </a:solidFill>
                <a:latin typeface="Microsoft YaHei"/>
              </a:rPr>
              <a:t>▪ 一旦传开，可能引起流行</a:t>
            </a:r>
          </a:p>
          <a:p>
            <a:pPr>
              <a:spcAft>
                <a:spcPts val="1000"/>
              </a:spcAft>
            </a:pPr>
            <a:r>
              <a:rPr sz="2000">
                <a:solidFill>
                  <a:srgbClr val="222B33"/>
                </a:solidFill>
                <a:latin typeface="Microsoft YaHei"/>
              </a:rPr>
              <a:t>▪ 认识指示病例、医院内感染、经皮刺伤、流行病学</a:t>
            </a:r>
          </a:p>
          <a:p>
            <a:pPr>
              <a:spcAft>
                <a:spcPts val="1000"/>
              </a:spcAft>
            </a:pPr>
            <a:r>
              <a:rPr sz="2000">
                <a:solidFill>
                  <a:srgbClr val="222B33"/>
                </a:solidFill>
                <a:latin typeface="Microsoft YaHei"/>
              </a:rPr>
              <a:t>▪ 管好风险，研究才能走得远；这是共同的责任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因子与化学品不同：它能在人群中传播。一旦从实验室失控逸出，受害的可能不只是操作者本人，还可能引起疾病流行，威胁整个社会的公共卫生。随着新发传染病不断出现，生物因子对公众健康的威胁也在增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认为实验室感染只影响自己一个人</a:t>
            </a:r>
          </a:p>
          <a:p>
            <a:pPr>
              <a:spcAft>
                <a:spcPts val="1000"/>
              </a:spcAft>
            </a:pPr>
            <a:r>
              <a:rPr sz="1500">
                <a:solidFill>
                  <a:srgbClr val="222B33"/>
                </a:solidFill>
                <a:latin typeface="Microsoft YaHei"/>
              </a:rPr>
              <a:t>▪ 认为生物安全只是生物安全员的事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什么是生物安全：安全操作、封闭控制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生物安全就是安全地操作感染性材料</a:t>
            </a:r>
          </a:p>
          <a:p>
            <a:pPr>
              <a:spcAft>
                <a:spcPts val="1000"/>
              </a:spcAft>
            </a:pPr>
            <a:r>
              <a:rPr sz="2000">
                <a:solidFill>
                  <a:srgbClr val="222B33"/>
                </a:solidFill>
                <a:latin typeface="Microsoft YaHei"/>
              </a:rPr>
              <a:t>▪ 并把它们牢牢控制、封闭在里面</a:t>
            </a:r>
          </a:p>
          <a:p>
            <a:pPr>
              <a:spcAft>
                <a:spcPts val="1000"/>
              </a:spcAft>
            </a:pPr>
            <a:r>
              <a:rPr sz="2000">
                <a:solidFill>
                  <a:srgbClr val="222B33"/>
                </a:solidFill>
                <a:latin typeface="Microsoft YaHei"/>
              </a:rPr>
              <a:t>▪ 给生物因子划好边界，不让它逸出</a:t>
            </a:r>
          </a:p>
          <a:p>
            <a:pPr>
              <a:spcAft>
                <a:spcPts val="1000"/>
              </a:spcAft>
            </a:pPr>
            <a:r>
              <a:rPr sz="2000">
                <a:solidFill>
                  <a:srgbClr val="222B33"/>
                </a:solidFill>
                <a:latin typeface="Microsoft YaHei"/>
              </a:rPr>
              <a:t>▪ 微生物实验室最核心的就是生物安全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生物安全，讲的是怎样安全地操作有感染性的微生物和其他有危害的生物材料，并把它们控制、封闭（也称“防护”或“封闭”）在规定的范围内。所谓防护，就是给生物因子划定边界，让它留在设备和设施里，不逸出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把生物安全理解成“戴好手套就行”</a:t>
            </a:r>
          </a:p>
          <a:p>
            <a:pPr>
              <a:spcAft>
                <a:spcPts val="1000"/>
              </a:spcAft>
            </a:pPr>
            <a:r>
              <a:rPr sz="1500">
                <a:solidFill>
                  <a:srgbClr val="222B33"/>
                </a:solidFill>
                <a:latin typeface="Microsoft YaHei"/>
              </a:rPr>
              <a:t>▪ 只想着保护实验样品，不考虑把病原封闭在实验室内</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目的：护人员、护环境、护公众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首先保护做实验的人</a:t>
            </a:r>
          </a:p>
          <a:p>
            <a:pPr>
              <a:spcAft>
                <a:spcPts val="1000"/>
              </a:spcAft>
            </a:pPr>
            <a:r>
              <a:rPr sz="2000">
                <a:solidFill>
                  <a:srgbClr val="222B33"/>
                </a:solidFill>
                <a:latin typeface="Microsoft YaHei"/>
              </a:rPr>
              <a:t>▪ 也保护实验室环境和周边社区公众</a:t>
            </a:r>
          </a:p>
          <a:p>
            <a:pPr>
              <a:spcAft>
                <a:spcPts val="1000"/>
              </a:spcAft>
            </a:pPr>
            <a:r>
              <a:rPr sz="2000">
                <a:solidFill>
                  <a:srgbClr val="222B33"/>
                </a:solidFill>
                <a:latin typeface="Microsoft YaHei"/>
              </a:rPr>
              <a:t>▪ 目标一：防止实验室获得性感染</a:t>
            </a:r>
          </a:p>
          <a:p>
            <a:pPr>
              <a:spcAft>
                <a:spcPts val="1000"/>
              </a:spcAft>
            </a:pPr>
            <a:r>
              <a:rPr sz="2000">
                <a:solidFill>
                  <a:srgbClr val="222B33"/>
                </a:solidFill>
                <a:latin typeface="Microsoft YaHei"/>
              </a:rPr>
              <a:t>▪ 目标二：防止病原意外释放到外界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生物安全依靠规范的做法、程序和设备，保护三方面：一是实验室工作人员；二是实验室和周边环境；三是社区公众。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只关心自己不被感染，把污染的物品、衣物带出实验室</a:t>
            </a:r>
          </a:p>
          <a:p>
            <a:pPr>
              <a:spcAft>
                <a:spcPts val="1000"/>
              </a:spcAft>
            </a:pPr>
            <a:r>
              <a:rPr sz="1500">
                <a:solidFill>
                  <a:srgbClr val="222B33"/>
                </a:solidFill>
                <a:latin typeface="Microsoft YaHei"/>
              </a:rPr>
              <a:t>▪ 认为病原“漏一点”不要紧</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生物危害、生物安全与生物安保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生物危害：可能伤人的生物因子</a:t>
            </a:r>
          </a:p>
          <a:p>
            <a:pPr>
              <a:spcAft>
                <a:spcPts val="1000"/>
              </a:spcAft>
            </a:pPr>
            <a:r>
              <a:rPr sz="2000">
                <a:solidFill>
                  <a:srgbClr val="222B33"/>
                </a:solidFill>
                <a:latin typeface="Microsoft YaHei"/>
              </a:rPr>
              <a:t>▪ 生物安全：防无意的暴露和释放</a:t>
            </a:r>
          </a:p>
          <a:p>
            <a:pPr>
              <a:spcAft>
                <a:spcPts val="1000"/>
              </a:spcAft>
            </a:pPr>
            <a:r>
              <a:rPr sz="2000">
                <a:solidFill>
                  <a:srgbClr val="222B33"/>
                </a:solidFill>
                <a:latin typeface="Microsoft YaHei"/>
              </a:rPr>
              <a:t>▪ 生物安保：防丢失、被盗、被滥用</a:t>
            </a:r>
          </a:p>
          <a:p>
            <a:pPr>
              <a:spcAft>
                <a:spcPts val="1000"/>
              </a:spcAft>
            </a:pPr>
            <a:r>
              <a:rPr sz="2000">
                <a:solidFill>
                  <a:srgbClr val="222B33"/>
                </a:solidFill>
                <a:latin typeface="Microsoft YaHei"/>
              </a:rPr>
              <a:t>▪ 三者互相咬合，一个也不能少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这三个词常放在一起，含义不同：生物危害，是指可能对人、动物、植物或环境造成伤害的生物因子或材料；生物安全（实验室生物安全），重点防的是无意中的暴露和释放，比如操作失误、设施故障、防护失效，虽然不是故意的，也会危害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认为生物安全只管操作，样本丢了与己无关</a:t>
            </a:r>
          </a:p>
          <a:p>
            <a:pPr>
              <a:spcAft>
                <a:spcPts val="1000"/>
              </a:spcAft>
            </a:pPr>
            <a:r>
              <a:rPr sz="1500">
                <a:solidFill>
                  <a:srgbClr val="222B33"/>
                </a:solidFill>
                <a:latin typeface="Microsoft YaHei"/>
              </a:rPr>
              <a:t>▪ 把菌（毒）种和样本随意放在不上锁、无登记的地方</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两大原则：风险评估与防护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生物安全有两大原则：风险评估和防护</a:t>
            </a:r>
          </a:p>
          <a:p>
            <a:pPr>
              <a:spcAft>
                <a:spcPts val="1000"/>
              </a:spcAft>
            </a:pPr>
            <a:r>
              <a:rPr sz="2000">
                <a:solidFill>
                  <a:srgbClr val="222B33"/>
                </a:solidFill>
                <a:latin typeface="Microsoft YaHei"/>
              </a:rPr>
              <a:t>▪ 先评估风险有多大</a:t>
            </a:r>
          </a:p>
          <a:p>
            <a:pPr>
              <a:spcAft>
                <a:spcPts val="1000"/>
              </a:spcAft>
            </a:pPr>
            <a:r>
              <a:rPr sz="2000">
                <a:solidFill>
                  <a:srgbClr val="222B33"/>
                </a:solidFill>
                <a:latin typeface="Microsoft YaHei"/>
              </a:rPr>
              <a:t>▪ 再按评估结果配上相应的防护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生物安全工作有两大原则：一是风险评估，二是防护。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不做评估，凭经验决定在哪里做、怎么防护</a:t>
            </a:r>
          </a:p>
          <a:p>
            <a:pPr>
              <a:spcAft>
                <a:spcPts val="1000"/>
              </a:spcAft>
            </a:pPr>
            <a:r>
              <a:rPr sz="1500">
                <a:solidFill>
                  <a:srgbClr val="222B33"/>
                </a:solidFill>
                <a:latin typeface="Microsoft YaHei"/>
              </a:rPr>
              <a:t>▪ 认为防护越多越好，不看评估结果</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防护三要素：操作、设备、设施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防护靠规范操作、安全设备和专门设施</a:t>
            </a:r>
          </a:p>
          <a:p>
            <a:pPr>
              <a:spcAft>
                <a:spcPts val="1000"/>
              </a:spcAft>
            </a:pPr>
            <a:r>
              <a:rPr sz="2000">
                <a:solidFill>
                  <a:srgbClr val="222B33"/>
                </a:solidFill>
                <a:latin typeface="Microsoft YaHei"/>
              </a:rPr>
              <a:t>▪ 生物安全柜就是常用的安全设备</a:t>
            </a:r>
          </a:p>
          <a:p>
            <a:pPr>
              <a:spcAft>
                <a:spcPts val="1000"/>
              </a:spcAft>
            </a:pPr>
            <a:r>
              <a:rPr sz="2000">
                <a:solidFill>
                  <a:srgbClr val="222B33"/>
                </a:solidFill>
                <a:latin typeface="Microsoft YaHei"/>
              </a:rPr>
              <a:t>▪ 三者配套，少一样防护就有漏洞</a:t>
            </a:r>
          </a:p>
          <a:p>
            <a:pPr>
              <a:spcAft>
                <a:spcPts val="1000"/>
              </a:spcAft>
            </a:pPr>
            <a:r>
              <a:rPr sz="2000">
                <a:solidFill>
                  <a:srgbClr val="222B33"/>
                </a:solidFill>
                <a:latin typeface="Microsoft YaHei"/>
              </a:rPr>
              <a:t>▪ 目的是减少暴露，能消除就消除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不是一样东西，而是一整套：规范的操作方法和程序（如规程、培训、良好的微生物操作习惯）；专门的安全设备（如生物安全柜、密封离心杯、个人防护装备）；专门设计的实验室设施（如分区、门禁、通风、洗手和消毒灭菌设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有了生物安全柜就忽视操作规程</a:t>
            </a:r>
          </a:p>
          <a:p>
            <a:pPr>
              <a:spcAft>
                <a:spcPts val="1000"/>
              </a:spcAft>
            </a:pPr>
            <a:r>
              <a:rPr sz="1500">
                <a:solidFill>
                  <a:srgbClr val="222B33"/>
                </a:solidFill>
                <a:latin typeface="Microsoft YaHei"/>
              </a:rPr>
              <a:t>▪ 认为个人防护装备可以代替合格的实验室设施</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5P：评估风险的五个要素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5P：病原、人员、场所、防护、规程</a:t>
            </a:r>
          </a:p>
          <a:p>
            <a:pPr>
              <a:spcAft>
                <a:spcPts val="1000"/>
              </a:spcAft>
            </a:pPr>
            <a:r>
              <a:rPr sz="1700">
                <a:solidFill>
                  <a:srgbClr val="222B33"/>
                </a:solidFill>
                <a:latin typeface="Microsoft YaHei"/>
              </a:rPr>
              <a:t>▪ 国内第一类最危险，与国际风险组顺序相反</a:t>
            </a:r>
          </a:p>
          <a:p>
            <a:pPr>
              <a:spcAft>
                <a:spcPts val="1000"/>
              </a:spcAft>
            </a:pPr>
            <a:r>
              <a:rPr sz="1700">
                <a:solidFill>
                  <a:srgbClr val="222B33"/>
                </a:solidFill>
                <a:latin typeface="Microsoft YaHei"/>
              </a:rPr>
              <a:t>▪ 人员培训合格、身体适合；场所级别配得上危害</a:t>
            </a:r>
          </a:p>
          <a:p>
            <a:pPr>
              <a:spcAft>
                <a:spcPts val="1000"/>
              </a:spcAft>
            </a:pPr>
            <a:r>
              <a:rPr sz="1700">
                <a:solidFill>
                  <a:srgbClr val="222B33"/>
                </a:solidFill>
                <a:latin typeface="Microsoft YaHei"/>
              </a:rPr>
              <a:t>▪ 五个 P 一起看，哪个薄弱先补哪个</a:t>
            </a:r>
          </a:p>
          <a:p>
            <a:pPr>
              <a:spcAft>
                <a:spcPts val="1000"/>
              </a:spcAft>
            </a:pPr>
            <a:r>
              <a:rPr sz="1700">
                <a:solidFill>
                  <a:srgbClr val="222B33"/>
                </a:solidFill>
                <a:latin typeface="Microsoft YaHei"/>
              </a:rPr>
              <a:t>▪ 再加安全文化：人人尽责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5P 是评估生物风险时常用的五个要素：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把国际风险组的“4 组”当成国内的“第四类”，弄反危害高低</a:t>
            </a:r>
          </a:p>
          <a:p>
            <a:pPr>
              <a:spcAft>
                <a:spcPts val="1000"/>
              </a:spcAft>
            </a:pPr>
            <a:r>
              <a:rPr sz="1500">
                <a:solidFill>
                  <a:srgbClr val="222B33"/>
                </a:solidFill>
                <a:latin typeface="Microsoft YaHei"/>
              </a:rPr>
              <a:t>▪ 只看病原危害，不看人员能力和实验操作</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国内生物安全法规与标准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生物安全法是生物安全领域的基本法律</a:t>
            </a:r>
          </a:p>
          <a:p>
            <a:pPr>
              <a:spcAft>
                <a:spcPts val="1000"/>
              </a:spcAft>
            </a:pPr>
            <a:r>
              <a:rPr sz="1700">
                <a:solidFill>
                  <a:srgbClr val="222B33"/>
                </a:solidFill>
                <a:latin typeface="Microsoft YaHei"/>
              </a:rPr>
              <a:t>▪ 条例规定病原分四类、实验室分四级</a:t>
            </a:r>
          </a:p>
          <a:p>
            <a:pPr>
              <a:spcAft>
                <a:spcPts val="1000"/>
              </a:spcAft>
            </a:pPr>
            <a:r>
              <a:rPr sz="1700">
                <a:solidFill>
                  <a:srgbClr val="222B33"/>
                </a:solidFill>
                <a:latin typeface="Microsoft YaHei"/>
              </a:rPr>
              <a:t>▪ 技术要求看 GB 19489 和 WS 233</a:t>
            </a:r>
          </a:p>
          <a:p>
            <a:pPr>
              <a:spcAft>
                <a:spcPts val="1000"/>
              </a:spcAft>
            </a:pPr>
            <a:r>
              <a:rPr sz="1700">
                <a:solidFill>
                  <a:srgbClr val="222B33"/>
                </a:solidFill>
                <a:latin typeface="Microsoft YaHei"/>
              </a:rPr>
              <a:t>▪ 病原分类查《人间传染的病原微生物目录》</a:t>
            </a:r>
          </a:p>
          <a:p>
            <a:pPr>
              <a:spcAft>
                <a:spcPts val="1000"/>
              </a:spcAft>
            </a:pPr>
            <a:r>
              <a:rPr sz="1700">
                <a:solidFill>
                  <a:srgbClr val="222B33"/>
                </a:solidFill>
                <a:latin typeface="Microsoft YaHei"/>
              </a:rPr>
              <a:t>▪ 单位要提供防护、培训和健康监护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开展生物实验，首先要遵守国家法规。我国生物安全的主要依据包括：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只看国外课程或教材，不了解国内法规和本校规定</a:t>
            </a:r>
          </a:p>
          <a:p>
            <a:pPr>
              <a:spcAft>
                <a:spcPts val="1000"/>
              </a:spcAft>
            </a:pPr>
            <a:r>
              <a:rPr sz="1500">
                <a:solidFill>
                  <a:srgbClr val="222B33"/>
                </a:solidFill>
                <a:latin typeface="Microsoft YaHei"/>
              </a:rPr>
              <a:t>▪ 引用法规不核对现行文本</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国际手册只作参考，以国内法规为准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国际上的生物安全手册是很好的参照起点</a:t>
            </a:r>
          </a:p>
          <a:p>
            <a:pPr>
              <a:spcAft>
                <a:spcPts val="1000"/>
              </a:spcAft>
            </a:pPr>
            <a:r>
              <a:rPr sz="2000">
                <a:solidFill>
                  <a:srgbClr val="222B33"/>
                </a:solidFill>
                <a:latin typeface="Microsoft YaHei"/>
              </a:rPr>
              <a:t>▪ 它从生物安全的一般原则讲起</a:t>
            </a:r>
          </a:p>
          <a:p>
            <a:pPr>
              <a:spcAft>
                <a:spcPts val="1000"/>
              </a:spcAft>
            </a:pPr>
            <a:r>
              <a:rPr sz="2000">
                <a:solidFill>
                  <a:srgbClr val="222B33"/>
                </a:solidFill>
                <a:latin typeface="Microsoft YaHei"/>
              </a:rPr>
              <a:t>▪ 必须在国内法律框架内使用，国内法规优先</a:t>
            </a:r>
          </a:p>
          <a:p>
            <a:pPr>
              <a:spcAft>
                <a:spcPts val="1000"/>
              </a:spcAft>
            </a:pPr>
            <a:r>
              <a:rPr sz="2000">
                <a:solidFill>
                  <a:srgbClr val="222B33"/>
                </a:solidFill>
                <a:latin typeface="Microsoft YaHei"/>
              </a:rPr>
              <a:t>▪ 各实验室要编写本实验室的安全手册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国际上有通行的实验室生物安全手册，从生物安全的一般原则讲起，涵盖风险评估、防护、设备、培训等内容，是学习和参照的好起点。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照搬国外手册中的数值和做法</a:t>
            </a:r>
          </a:p>
          <a:p>
            <a:pPr>
              <a:spcAft>
                <a:spcPts val="1000"/>
              </a:spcAft>
            </a:pPr>
            <a:r>
              <a:rPr sz="1500">
                <a:solidFill>
                  <a:srgbClr val="222B33"/>
                </a:solidFill>
                <a:latin typeface="Microsoft YaHei"/>
              </a:rPr>
              <a:t>▪ 实验室没有自己的安全手册，或手册放着没人看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合规：外部合规与内部合规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守国家法规标准，是外部合规</a:t>
            </a:r>
          </a:p>
          <a:p>
            <a:pPr>
              <a:spcAft>
                <a:spcPts val="1000"/>
              </a:spcAft>
            </a:pPr>
            <a:r>
              <a:rPr sz="2000">
                <a:solidFill>
                  <a:srgbClr val="222B33"/>
                </a:solidFill>
                <a:latin typeface="Microsoft YaHei"/>
              </a:rPr>
              <a:t>▪ 守单位方针和制度，是内部合规</a:t>
            </a:r>
          </a:p>
          <a:p>
            <a:pPr>
              <a:spcAft>
                <a:spcPts val="1000"/>
              </a:spcAft>
            </a:pPr>
            <a:r>
              <a:rPr sz="2000">
                <a:solidFill>
                  <a:srgbClr val="222B33"/>
                </a:solidFill>
                <a:latin typeface="Microsoft YaHei"/>
              </a:rPr>
              <a:t>▪ 国家、地方、学校的要求，逐项找全</a:t>
            </a:r>
          </a:p>
          <a:p>
            <a:pPr>
              <a:spcAft>
                <a:spcPts val="1000"/>
              </a:spcAft>
            </a:pPr>
            <a:r>
              <a:rPr sz="2000">
                <a:solidFill>
                  <a:srgbClr val="222B33"/>
                </a:solidFill>
                <a:latin typeface="Microsoft YaHei"/>
              </a:rPr>
              <a:t>▪ 对照制度，看看合规做到哪一步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合规，就是遵守法律、法规、标准和规则。遵守国家和地方的法律法规、标准，是外部合规；遵守本单位的方针、制度和规程，是内部合规。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只知道国家法规，不知道本校、本实验室的规定</a:t>
            </a:r>
          </a:p>
          <a:p>
            <a:pPr>
              <a:spcAft>
                <a:spcPts val="1000"/>
              </a:spcAft>
            </a:pPr>
            <a:r>
              <a:rPr sz="1500">
                <a:solidFill>
                  <a:srgbClr val="222B33"/>
                </a:solidFill>
                <a:latin typeface="Microsoft YaHei"/>
              </a:rPr>
              <a:t>▪ 制度写在纸上，没有逐项落实</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依法备案审批，违规要担责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一级、二级实验室按规定备案</a:t>
            </a:r>
          </a:p>
          <a:p>
            <a:pPr>
              <a:spcAft>
                <a:spcPts val="1000"/>
              </a:spcAft>
            </a:pPr>
            <a:r>
              <a:rPr sz="2000">
                <a:solidFill>
                  <a:srgbClr val="222B33"/>
                </a:solidFill>
                <a:latin typeface="Microsoft YaHei"/>
              </a:rPr>
              <a:t>▪ 三级、四级实验室须经国家认可</a:t>
            </a:r>
          </a:p>
          <a:p>
            <a:pPr>
              <a:spcAft>
                <a:spcPts val="1000"/>
              </a:spcAft>
            </a:pPr>
            <a:r>
              <a:rPr sz="2000">
                <a:solidFill>
                  <a:srgbClr val="222B33"/>
                </a:solidFill>
                <a:latin typeface="Microsoft YaHei"/>
              </a:rPr>
              <a:t>▪ 高致病性病原的实验活动，先审批再做</a:t>
            </a:r>
          </a:p>
          <a:p>
            <a:pPr>
              <a:spcAft>
                <a:spcPts val="1000"/>
              </a:spcAft>
            </a:pPr>
            <a:r>
              <a:rPr sz="2000">
                <a:solidFill>
                  <a:srgbClr val="222B33"/>
                </a:solidFill>
                <a:latin typeface="Microsoft YaHei"/>
              </a:rPr>
              <a:t>▪ 越级操作、私带样本都是违规，要担法律责任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病原微生物实验室生物安全管理条例》等规定（以现行文本为准）：新建、改建、扩建一级、二级生物安全实验室，按规定向主管部门备案；三级、四级实验室须通过国家认可，开展高致病性病原微生物相关实验活动还须经批准。具体程序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认为“只做一次、量很小”就可以在普通实验室里做</a:t>
            </a:r>
          </a:p>
          <a:p>
            <a:pPr>
              <a:spcAft>
                <a:spcPts val="1000"/>
              </a:spcAft>
            </a:pPr>
            <a:r>
              <a:rPr sz="1500">
                <a:solidFill>
                  <a:srgbClr val="222B33"/>
                </a:solidFill>
                <a:latin typeface="Microsoft YaHei"/>
              </a:rPr>
              <a:t>▪ 把样本带回宿舍或私自送给其他单位</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持续学习、保持警觉、防患未然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持续学习新知识、新规定</a:t>
            </a:r>
          </a:p>
          <a:p>
            <a:pPr>
              <a:spcAft>
                <a:spcPts val="1000"/>
              </a:spcAft>
            </a:pPr>
            <a:r>
              <a:rPr sz="2000">
                <a:solidFill>
                  <a:srgbClr val="222B33"/>
                </a:solidFill>
                <a:latin typeface="Microsoft YaHei"/>
              </a:rPr>
              <a:t>▪ 对异常保持警觉，及时报告</a:t>
            </a:r>
          </a:p>
          <a:p>
            <a:pPr>
              <a:spcAft>
                <a:spcPts val="1000"/>
              </a:spcAft>
            </a:pPr>
            <a:r>
              <a:rPr sz="2000">
                <a:solidFill>
                  <a:srgbClr val="222B33"/>
                </a:solidFill>
                <a:latin typeface="Microsoft YaHei"/>
              </a:rPr>
              <a:t>▪ 防患于未然，人人做到生物安全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生物安全的知识和法规在不断更新，要持续学习新知识、新规定，按要求参加复训。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培训一次就不再更新知识</a:t>
            </a:r>
          </a:p>
          <a:p>
            <a:pPr>
              <a:spcAft>
                <a:spcPts val="1000"/>
              </a:spcAft>
            </a:pPr>
            <a:r>
              <a:rPr sz="1500">
                <a:solidFill>
                  <a:srgbClr val="222B33"/>
                </a:solidFill>
                <a:latin typeface="Microsoft YaHei"/>
              </a:rPr>
              <a:t>▪ 发现异常怕麻烦不报告</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下列关于我国病原微生物分类的说法，正确的是：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第四类危害最大</a:t>
            </a:r>
          </a:p>
          <a:p>
            <a:pPr algn="l"/>
            <a:r>
              <a:rPr sz="1500" b="0">
                <a:solidFill>
                  <a:srgbClr val="222B33"/>
                </a:solidFill>
                <a:latin typeface="Microsoft YaHei"/>
              </a:rPr>
              <a:t>B. 第一类危害最大，与国际风险组的顺序相反</a:t>
            </a:r>
          </a:p>
          <a:p>
            <a:pPr algn="l"/>
            <a:r>
              <a:rPr sz="1500" b="0">
                <a:solidFill>
                  <a:srgbClr val="222B33"/>
                </a:solidFill>
                <a:latin typeface="Microsoft YaHei"/>
              </a:rPr>
              <a:t>C. 与国际风险组顺序相同</a:t>
            </a:r>
          </a:p>
          <a:p>
            <a:pPr algn="l"/>
            <a:r>
              <a:rPr sz="1500" b="0">
                <a:solidFill>
                  <a:srgbClr val="222B33"/>
                </a:solidFill>
                <a:latin typeface="Microsoft YaHei"/>
              </a:rPr>
              <a:t>D. 只有三类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判断：生物安全的目的只是保护做实验的人不被感染。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防止菌（毒）种和样本被丢失、被盗、被滥用，主要属于：</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生物危害</a:t>
            </a:r>
          </a:p>
          <a:p>
            <a:pPr algn="l"/>
            <a:r>
              <a:rPr sz="1500" b="0">
                <a:solidFill>
                  <a:srgbClr val="222B33"/>
                </a:solidFill>
                <a:latin typeface="Microsoft YaHei"/>
              </a:rPr>
              <a:t>B. 生物安全</a:t>
            </a:r>
          </a:p>
          <a:p>
            <a:pPr algn="l"/>
            <a:r>
              <a:rPr sz="1500" b="0">
                <a:solidFill>
                  <a:srgbClr val="222B33"/>
                </a:solidFill>
                <a:latin typeface="Microsoft YaHei"/>
              </a:rPr>
              <a:t>C. 生物安保</a:t>
            </a:r>
          </a:p>
          <a:p>
            <a:pPr algn="l"/>
            <a:r>
              <a:rPr sz="1500" b="0">
                <a:solidFill>
                  <a:srgbClr val="222B33"/>
                </a:solidFill>
                <a:latin typeface="Microsoft YaHei"/>
              </a:rPr>
              <a:t>D. 化学安全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5P 评估要素不包括：</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病原</a:t>
            </a:r>
          </a:p>
          <a:p>
            <a:pPr algn="l"/>
            <a:r>
              <a:rPr sz="1500" b="0">
                <a:solidFill>
                  <a:srgbClr val="222B33"/>
                </a:solidFill>
                <a:latin typeface="Microsoft YaHei"/>
              </a:rPr>
              <a:t>B. 人员</a:t>
            </a:r>
          </a:p>
          <a:p>
            <a:pPr algn="l"/>
            <a:r>
              <a:rPr sz="1500" b="0">
                <a:solidFill>
                  <a:srgbClr val="222B33"/>
                </a:solidFill>
                <a:latin typeface="Microsoft YaHei"/>
              </a:rPr>
              <a:t>C. 场所</a:t>
            </a:r>
          </a:p>
          <a:p>
            <a:pPr algn="l"/>
            <a:r>
              <a:rPr sz="1500" b="0">
                <a:solidFill>
                  <a:srgbClr val="222B33"/>
                </a:solidFill>
                <a:latin typeface="Microsoft YaHei"/>
              </a:rPr>
              <a:t>D. 价格</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判断：国际实验室生物安全手册内容全面，可以直接替代我国的法规和标准。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简答：同学想在普通教学实验室里“只做一次”需要更高防护级别的实验，还打算把样本带回宿舍，这些做法有什么问题？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生物实验室多了看不见的生物危害</a:t>
            </a:r>
          </a:p>
          <a:p>
            <a:pPr>
              <a:spcAft>
                <a:spcPts val="800"/>
              </a:spcAft>
            </a:pPr>
            <a:r>
              <a:rPr sz="1500">
                <a:solidFill>
                  <a:srgbClr val="FFFFFF"/>
                </a:solidFill>
                <a:latin typeface="Microsoft YaHei"/>
              </a:rPr>
              <a:t>▪ K2  生物因子失控，会威胁公共卫生</a:t>
            </a:r>
          </a:p>
          <a:p>
            <a:pPr>
              <a:spcAft>
                <a:spcPts val="800"/>
              </a:spcAft>
            </a:pPr>
            <a:r>
              <a:rPr sz="1500">
                <a:solidFill>
                  <a:srgbClr val="FFFFFF"/>
                </a:solidFill>
                <a:latin typeface="Microsoft YaHei"/>
              </a:rPr>
              <a:t>▪ K3  什么是生物安全：安全操作、封闭控制</a:t>
            </a:r>
          </a:p>
          <a:p>
            <a:pPr>
              <a:spcAft>
                <a:spcPts val="800"/>
              </a:spcAft>
            </a:pPr>
            <a:r>
              <a:rPr sz="1500">
                <a:solidFill>
                  <a:srgbClr val="FFFFFF"/>
                </a:solidFill>
                <a:latin typeface="Microsoft YaHei"/>
              </a:rPr>
              <a:t>▪ K4  目的：护人员、护环境、护公众</a:t>
            </a:r>
          </a:p>
          <a:p>
            <a:pPr>
              <a:spcAft>
                <a:spcPts val="800"/>
              </a:spcAft>
            </a:pPr>
            <a:r>
              <a:rPr sz="1500">
                <a:solidFill>
                  <a:srgbClr val="FFFFFF"/>
                </a:solidFill>
                <a:latin typeface="Microsoft YaHei"/>
              </a:rPr>
              <a:t>▪ K5  生物危害、生物安全与生物安保</a:t>
            </a:r>
          </a:p>
          <a:p>
            <a:pPr>
              <a:spcAft>
                <a:spcPts val="800"/>
              </a:spcAft>
            </a:pPr>
            <a:r>
              <a:rPr sz="1500">
                <a:solidFill>
                  <a:srgbClr val="FFFFFF"/>
                </a:solidFill>
                <a:latin typeface="Microsoft YaHei"/>
              </a:rPr>
              <a:t>▪ K6  两大原则：风险评估与防护</a:t>
            </a:r>
          </a:p>
          <a:p>
            <a:pPr>
              <a:spcAft>
                <a:spcPts val="800"/>
              </a:spcAft>
            </a:pPr>
            <a:r>
              <a:rPr sz="1500">
                <a:solidFill>
                  <a:srgbClr val="FFFFFF"/>
                </a:solidFill>
                <a:latin typeface="Microsoft YaHei"/>
              </a:rPr>
              <a:t>▪ K7  防护三要素：操作、设备、设施</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5P：评估风险的五个要素</a:t>
            </a:r>
          </a:p>
          <a:p>
            <a:pPr>
              <a:spcAft>
                <a:spcPts val="800"/>
              </a:spcAft>
            </a:pPr>
            <a:r>
              <a:rPr sz="1500">
                <a:solidFill>
                  <a:srgbClr val="FFFFFF"/>
                </a:solidFill>
                <a:latin typeface="Microsoft YaHei"/>
              </a:rPr>
              <a:t>▪ K9  国内生物安全法规与标准</a:t>
            </a:r>
          </a:p>
          <a:p>
            <a:pPr>
              <a:spcAft>
                <a:spcPts val="800"/>
              </a:spcAft>
            </a:pPr>
            <a:r>
              <a:rPr sz="1500">
                <a:solidFill>
                  <a:srgbClr val="FFFFFF"/>
                </a:solidFill>
                <a:latin typeface="Microsoft YaHei"/>
              </a:rPr>
              <a:t>▪ K10  国际手册只作参考，以国内法规为准</a:t>
            </a:r>
          </a:p>
          <a:p>
            <a:pPr>
              <a:spcAft>
                <a:spcPts val="800"/>
              </a:spcAft>
            </a:pPr>
            <a:r>
              <a:rPr sz="1500">
                <a:solidFill>
                  <a:srgbClr val="FFFFFF"/>
                </a:solidFill>
                <a:latin typeface="Microsoft YaHei"/>
              </a:rPr>
              <a:t>▪ K11  合规：外部合规与内部合规</a:t>
            </a:r>
          </a:p>
          <a:p>
            <a:pPr>
              <a:spcAft>
                <a:spcPts val="800"/>
              </a:spcAft>
            </a:pPr>
            <a:r>
              <a:rPr sz="1500">
                <a:solidFill>
                  <a:srgbClr val="FFFFFF"/>
                </a:solidFill>
                <a:latin typeface="Microsoft YaHei"/>
              </a:rPr>
              <a:t>▪ K12  依法备案审批，违规要担责</a:t>
            </a:r>
          </a:p>
          <a:p>
            <a:pPr>
              <a:spcAft>
                <a:spcPts val="800"/>
              </a:spcAft>
            </a:pPr>
            <a:r>
              <a:rPr sz="1500">
                <a:solidFill>
                  <a:srgbClr val="FFFFFF"/>
                </a:solidFill>
                <a:latin typeface="Microsoft YaHei"/>
              </a:rPr>
              <a:t>▪ K13  持续学习、保持警觉、防患未然</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病原微生物分类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能说出生物因子的主要种类（细菌、病毒、真菌、寄生虫、朊病毒、毒素、感染性核酸等）及其安全上的特点。</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能说出国内病原微生物四类的含义：第一类危害最大、第四类最小，与国际风险组（1 组最低、4 组最高）顺序相反；能判断“第一类病原不在一级实验室”。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能做到以现行《人间传染的病原微生物目录》为准查分类和所需实验室级别；目录查不到的先评估、报生物安全委员会确定；知道第一、二类实验活动须经批准。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能说出评估时要考虑的地区因素，会把病原资料单作为参考工具使用。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《中华人民共和国生物安全法》（以现行文本为准）：病原微生物实验室实行分类管理和分级管理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《病原微生物实验室生物安全管理条例》（以现行文本为准）：病原微生物按危害程度分为四类，第一类、第二类统称高致病性病原微生物；高致病性病原微生物实验活动须在相应级别实验室并经批准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《人间传染的病原微生物目录》（国家卫生健康委发布，以现行版本为准）：各病原的危害程度分类、不同实验活动所需的实验室级别</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《动物病原微生物分类名录》（以现行版本为准）：动物病原微生物的分类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生物安全通用要求》、WS 233（以现行文本为准）《病原微生物实验室生物安全通用准则》：风险评估和实验室分级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《农业转基因生物安全管理条例》（以现行文本为准）：农业转基因生物安全等级另成体系</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本校生物安全管理制度：目录未列的微生物由生物安全委员会评估确定，以本校规定为准</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什么是生物因子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细菌、病毒、真菌等微生物都可能是生物因子</a:t>
            </a:r>
          </a:p>
          <a:p>
            <a:pPr>
              <a:spcAft>
                <a:spcPts val="1000"/>
              </a:spcAft>
            </a:pPr>
            <a:r>
              <a:rPr sz="2000">
                <a:solidFill>
                  <a:srgbClr val="222B33"/>
                </a:solidFill>
                <a:latin typeface="Microsoft YaHei"/>
              </a:rPr>
              <a:t>▪ 还有朊病毒这样的致病颗粒和生物毒素</a:t>
            </a:r>
          </a:p>
          <a:p>
            <a:pPr>
              <a:spcAft>
                <a:spcPts val="1000"/>
              </a:spcAft>
            </a:pPr>
            <a:r>
              <a:rPr sz="2000">
                <a:solidFill>
                  <a:srgbClr val="222B33"/>
                </a:solidFill>
                <a:latin typeface="Microsoft YaHei"/>
              </a:rPr>
              <a:t>▪ 轻则过敏，重则患病甚至死亡</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生物因子是指可能对人体健康造成危害的微生物和其他生物材料，包括细菌、病毒、真菌及其他微生物，寄生虫，朊病毒这样的致病蛋白颗粒，以及它们产生的毒素等。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认为只有“病毒、细菌”才算生物危害，忽视真菌孢子、毒素和过敏原</a:t>
            </a:r>
          </a:p>
          <a:p>
            <a:pPr>
              <a:spcAft>
                <a:spcPts val="1000"/>
              </a:spcAft>
            </a:pPr>
            <a:r>
              <a:rPr sz="1500">
                <a:solidFill>
                  <a:srgbClr val="222B33"/>
                </a:solidFill>
                <a:latin typeface="Microsoft YaHei"/>
              </a:rPr>
              <a:t>▪ 认为非活体的毒素、核酸不需要防护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细菌、病毒、真菌各有特点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细菌：不少来自土壤和水，有的形成芽孢，耐受力强</a:t>
            </a:r>
          </a:p>
          <a:p>
            <a:pPr>
              <a:spcAft>
                <a:spcPts val="1000"/>
              </a:spcAft>
            </a:pPr>
            <a:r>
              <a:rPr sz="1700">
                <a:solidFill>
                  <a:srgbClr val="222B33"/>
                </a:solidFill>
                <a:latin typeface="Microsoft YaHei"/>
              </a:rPr>
              <a:t>▪ 支原体没有细胞壁，部分抗生素对它无效</a:t>
            </a:r>
          </a:p>
          <a:p>
            <a:pPr>
              <a:spcAft>
                <a:spcPts val="1000"/>
              </a:spcAft>
            </a:pPr>
            <a:r>
              <a:rPr sz="1700">
                <a:solidFill>
                  <a:srgbClr val="222B33"/>
                </a:solidFill>
                <a:latin typeface="Microsoft YaHei"/>
              </a:rPr>
              <a:t>▪ 病毒：有的可能致命，很多没有特效药</a:t>
            </a:r>
          </a:p>
          <a:p>
            <a:pPr>
              <a:spcAft>
                <a:spcPts val="1000"/>
              </a:spcAft>
            </a:pPr>
            <a:r>
              <a:rPr sz="1700">
                <a:solidFill>
                  <a:srgbClr val="222B33"/>
                </a:solidFill>
                <a:latin typeface="Microsoft YaHei"/>
              </a:rPr>
              <a:t>▪ 真菌孢子随空气扩散，有的产毒素</a:t>
            </a:r>
          </a:p>
          <a:p>
            <a:pPr>
              <a:spcAft>
                <a:spcPts val="1000"/>
              </a:spcAft>
            </a:pPr>
            <a:r>
              <a:rPr sz="1700">
                <a:solidFill>
                  <a:srgbClr val="222B33"/>
                </a:solidFill>
                <a:latin typeface="Microsoft YaHei"/>
              </a:rPr>
              <a:t>▪ 免疫力低时，常见真菌也可能致病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不同生物因子的特点不同，决定了防护的重点：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认为普通消毒对所有细菌都同样有效，忽视芽孢的耐受性</a:t>
            </a:r>
          </a:p>
          <a:p>
            <a:pPr>
              <a:spcAft>
                <a:spcPts val="1000"/>
              </a:spcAft>
            </a:pPr>
            <a:r>
              <a:rPr sz="1500">
                <a:solidFill>
                  <a:srgbClr val="222B33"/>
                </a:solidFill>
                <a:latin typeface="Microsoft YaHei"/>
              </a:rPr>
              <a:t>▪ 认为真菌“只是发霉”，不防孢子扩散</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朊病毒、感染性核酸、寄生虫与毒素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朊病毒少见，引起人和动物慢性神经退行性病</a:t>
            </a:r>
          </a:p>
          <a:p>
            <a:pPr>
              <a:spcAft>
                <a:spcPts val="1000"/>
              </a:spcAft>
            </a:pPr>
            <a:r>
              <a:rPr sz="2000">
                <a:solidFill>
                  <a:srgbClr val="222B33"/>
                </a:solidFill>
                <a:latin typeface="Microsoft YaHei"/>
              </a:rPr>
              <a:t>▪ 有些病毒的核酸本身就有感染性</a:t>
            </a:r>
          </a:p>
          <a:p>
            <a:pPr>
              <a:spcAft>
                <a:spcPts val="1000"/>
              </a:spcAft>
            </a:pPr>
            <a:r>
              <a:rPr sz="2000">
                <a:solidFill>
                  <a:srgbClr val="222B33"/>
                </a:solidFill>
                <a:latin typeface="Microsoft YaHei"/>
              </a:rPr>
              <a:t>▪ 寄生虫、螺、蜱和蚤等也能带病</a:t>
            </a:r>
          </a:p>
          <a:p>
            <a:pPr>
              <a:spcAft>
                <a:spcPts val="1000"/>
              </a:spcAft>
            </a:pPr>
            <a:r>
              <a:rPr sz="2000">
                <a:solidFill>
                  <a:srgbClr val="222B33"/>
                </a:solidFill>
                <a:latin typeface="Microsoft YaHei"/>
              </a:rPr>
              <a:t>▪ 毒素不是活体，同样有害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除细菌、病毒、真菌外，还有几类特殊的生物因子：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用普通消毒方法处理可能含朊病毒的材料</a:t>
            </a:r>
          </a:p>
          <a:p>
            <a:pPr>
              <a:spcAft>
                <a:spcPts val="1000"/>
              </a:spcAft>
            </a:pPr>
            <a:r>
              <a:rPr sz="1500">
                <a:solidFill>
                  <a:srgbClr val="222B33"/>
                </a:solidFill>
                <a:latin typeface="Microsoft YaHei"/>
              </a:rPr>
              <a:t>▪ 认为提取出的核酸都没有感染性</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分组看两头：个体风险与群体风险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风险分组看两头：个体风险和群体风险</a:t>
            </a:r>
          </a:p>
          <a:p>
            <a:pPr>
              <a:spcAft>
                <a:spcPts val="1000"/>
              </a:spcAft>
            </a:pPr>
            <a:r>
              <a:rPr sz="2000">
                <a:solidFill>
                  <a:srgbClr val="222B33"/>
                </a:solidFill>
                <a:latin typeface="Microsoft YaHei"/>
              </a:rPr>
              <a:t>▪ 个体：病有多重，有没有有效的防治手段</a:t>
            </a:r>
          </a:p>
          <a:p>
            <a:pPr>
              <a:spcAft>
                <a:spcPts val="1000"/>
              </a:spcAft>
            </a:pPr>
            <a:r>
              <a:rPr sz="2000">
                <a:solidFill>
                  <a:srgbClr val="222B33"/>
                </a:solidFill>
                <a:latin typeface="Microsoft YaHei"/>
              </a:rPr>
              <a:t>▪ 群体：会不会在人群、动物和环境中传开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病原按风险高低分组，主要看两方面：一是对个体的风险——引起的疾病有多严重，有没有有效的治疗和预防手段；二是对群体（社区）的风险——会不会在人与人、动物与人之间传播，传开后对公众、家畜和环境的影响有多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只看病情轻重，不看传播性</a:t>
            </a:r>
          </a:p>
          <a:p>
            <a:pPr>
              <a:spcAft>
                <a:spcPts val="1000"/>
              </a:spcAft>
            </a:pPr>
            <a:r>
              <a:rPr sz="1500">
                <a:solidFill>
                  <a:srgbClr val="222B33"/>
                </a:solidFill>
                <a:latin typeface="Microsoft YaHei"/>
              </a:rPr>
              <a:t>▪ 只看传播性，不看有没有防治手段</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国际风险组第1、2组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国际风险组：1 组最低，4 组最高</a:t>
            </a:r>
          </a:p>
          <a:p>
            <a:pPr>
              <a:spcAft>
                <a:spcPts val="1000"/>
              </a:spcAft>
            </a:pPr>
            <a:r>
              <a:rPr sz="2000">
                <a:solidFill>
                  <a:srgbClr val="222B33"/>
                </a:solidFill>
                <a:latin typeface="Microsoft YaHei"/>
              </a:rPr>
              <a:t>▪ 第 1 组：个体、群体风险都低，一般不致病</a:t>
            </a:r>
          </a:p>
          <a:p>
            <a:pPr>
              <a:spcAft>
                <a:spcPts val="1000"/>
              </a:spcAft>
            </a:pPr>
            <a:r>
              <a:rPr sz="2000">
                <a:solidFill>
                  <a:srgbClr val="222B33"/>
                </a:solidFill>
                <a:latin typeface="Microsoft YaHei"/>
              </a:rPr>
              <a:t>▪ 风险最低，也要规范操作</a:t>
            </a:r>
          </a:p>
          <a:p>
            <a:pPr>
              <a:spcAft>
                <a:spcPts val="1000"/>
              </a:spcAft>
            </a:pPr>
            <a:r>
              <a:rPr sz="2000">
                <a:solidFill>
                  <a:srgbClr val="222B33"/>
                </a:solidFill>
                <a:latin typeface="Microsoft YaHei"/>
              </a:rPr>
              <a:t>▪ 第 2 组：能致病但危害有限，可防可治，扩散风险低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国际上通行把生物因子分为四个风险组，数字越大风险越高：1 组最低、4 组最高（注意：与我国病原分类的编号方向相反，见 K7）。</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 1 组微生物可以随意操作，不戴手套、不洗手</a:t>
            </a:r>
          </a:p>
          <a:p>
            <a:pPr>
              <a:spcAft>
                <a:spcPts val="1000"/>
              </a:spcAft>
            </a:pPr>
            <a:r>
              <a:rPr sz="1500">
                <a:solidFill>
                  <a:srgbClr val="222B33"/>
                </a:solidFill>
                <a:latin typeface="Microsoft YaHei"/>
              </a:rPr>
              <a:t>▪ 把国际的“第 1 组”当成国内的“第一类”</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国际风险组第3、4组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3 组：常致重病，一般不人传人</a:t>
            </a:r>
          </a:p>
          <a:p>
            <a:pPr>
              <a:spcAft>
                <a:spcPts val="1000"/>
              </a:spcAft>
            </a:pPr>
            <a:r>
              <a:rPr sz="2000">
                <a:solidFill>
                  <a:srgbClr val="222B33"/>
                </a:solidFill>
                <a:latin typeface="Microsoft YaHei"/>
              </a:rPr>
              <a:t>▪ 第 3 组一般有有效的治疗和预防手段</a:t>
            </a:r>
          </a:p>
          <a:p>
            <a:pPr>
              <a:spcAft>
                <a:spcPts val="1000"/>
              </a:spcAft>
            </a:pPr>
            <a:r>
              <a:rPr sz="2000">
                <a:solidFill>
                  <a:srgbClr val="222B33"/>
                </a:solidFill>
                <a:latin typeface="Microsoft YaHei"/>
              </a:rPr>
              <a:t>▪ 第 4 组：病重、易传播，个体群体风险都高</a:t>
            </a:r>
          </a:p>
          <a:p>
            <a:pPr>
              <a:spcAft>
                <a:spcPts val="1000"/>
              </a:spcAft>
            </a:pPr>
            <a:r>
              <a:rPr sz="2000">
                <a:solidFill>
                  <a:srgbClr val="222B33"/>
                </a:solidFill>
                <a:latin typeface="Microsoft YaHei"/>
              </a:rPr>
              <a:t>▪ 第 4 组往往缺药缺苗，只在最高级别设施操作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 第 3 组：个体风险高、群体风险低（或低到中等）。通常引起人或动物的严重疾病，甚至可能致死，但一般不会在人与人之间传开，而且一般有有效的治疗和预防手段。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看到“第 4 组”以为是国内的“第四类”，误以为风险最低</a:t>
            </a:r>
          </a:p>
          <a:p>
            <a:pPr>
              <a:spcAft>
                <a:spcPts val="1000"/>
              </a:spcAft>
            </a:pPr>
            <a:r>
              <a:rPr sz="1500">
                <a:solidFill>
                  <a:srgbClr val="222B33"/>
                </a:solidFill>
                <a:latin typeface="Microsoft YaHei"/>
              </a:rPr>
              <a:t>▪ 认为有疫苗就可以降低实验室级别</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国内分四类：第一类最危险，与国际相反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国内按危害程度把病原微生物分为四类</a:t>
            </a:r>
          </a:p>
          <a:p>
            <a:pPr>
              <a:spcAft>
                <a:spcPts val="1000"/>
              </a:spcAft>
            </a:pPr>
            <a:r>
              <a:rPr sz="2000">
                <a:solidFill>
                  <a:srgbClr val="222B33"/>
                </a:solidFill>
                <a:latin typeface="Microsoft YaHei"/>
              </a:rPr>
              <a:t>▪ 第一类危害最大，第四类最小</a:t>
            </a:r>
          </a:p>
          <a:p>
            <a:pPr>
              <a:spcAft>
                <a:spcPts val="1000"/>
              </a:spcAft>
            </a:pPr>
            <a:r>
              <a:rPr sz="2000">
                <a:solidFill>
                  <a:srgbClr val="222B33"/>
                </a:solidFill>
                <a:latin typeface="Microsoft YaHei"/>
              </a:rPr>
              <a:t>▪ 编号方向与国际风险组正好相反</a:t>
            </a:r>
          </a:p>
          <a:p>
            <a:pPr>
              <a:spcAft>
                <a:spcPts val="1000"/>
              </a:spcAft>
            </a:pPr>
            <a:r>
              <a:rPr sz="2000">
                <a:solidFill>
                  <a:srgbClr val="222B33"/>
                </a:solidFill>
                <a:latin typeface="Microsoft YaHei"/>
              </a:rPr>
              <a:t>▪ 大致对应但不能自己换算，写资料注明编号体系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按《病原微生物实验室生物安全管理条例》（以现行文本为准），我国根据传染性、感染后对个体或群体的危害程度，把病原微生物分为四类：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把国际“4 组”和国内“第四类”混为一谈，弄反危害高低</a:t>
            </a:r>
          </a:p>
          <a:p>
            <a:pPr>
              <a:spcAft>
                <a:spcPts val="1000"/>
              </a:spcAft>
            </a:pPr>
            <a:r>
              <a:rPr sz="1500">
                <a:solidFill>
                  <a:srgbClr val="222B33"/>
                </a:solidFill>
                <a:latin typeface="Microsoft YaHei"/>
              </a:rPr>
              <a:t>▪ 按国外名单自己换算国内类别</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实验室级别国内外同向，别对号入座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实验室防护级别国内外同向，四级最高</a:t>
            </a:r>
          </a:p>
          <a:p>
            <a:pPr>
              <a:spcAft>
                <a:spcPts val="1000"/>
              </a:spcAft>
            </a:pPr>
            <a:r>
              <a:rPr sz="2000">
                <a:solidFill>
                  <a:srgbClr val="222B33"/>
                </a:solidFill>
                <a:latin typeface="Microsoft YaHei"/>
              </a:rPr>
              <a:t>▪ 第一类病原绝不在一级实验室操作</a:t>
            </a:r>
          </a:p>
          <a:p>
            <a:pPr>
              <a:spcAft>
                <a:spcPts val="1000"/>
              </a:spcAft>
            </a:pPr>
            <a:r>
              <a:rPr sz="2000">
                <a:solidFill>
                  <a:srgbClr val="222B33"/>
                </a:solidFill>
                <a:latin typeface="Microsoft YaHei"/>
              </a:rPr>
              <a:t>▪ 做哪一级，查目录再评估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与病原分类不同，生物安全实验室的防护级别国内外方向一致：一级（BSL-1）最低，四级（BSL-4）最高（分级见第 059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认为“第一类病原就在一级实验室做”</a:t>
            </a:r>
          </a:p>
          <a:p>
            <a:pPr>
              <a:spcAft>
                <a:spcPts val="1000"/>
              </a:spcAft>
            </a:pPr>
            <a:r>
              <a:rPr sz="1500">
                <a:solidFill>
                  <a:srgbClr val="222B33"/>
                </a:solidFill>
                <a:latin typeface="Microsoft YaHei"/>
              </a:rPr>
              <a:t>▪ 只看病原类别，不看具体实验活动</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第一、二类是高致病性，须经批准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第一类、第二类统称高致病性病原微生物</a:t>
            </a:r>
          </a:p>
          <a:p>
            <a:pPr>
              <a:spcAft>
                <a:spcPts val="1000"/>
              </a:spcAft>
            </a:pPr>
            <a:r>
              <a:rPr sz="2000">
                <a:solidFill>
                  <a:srgbClr val="222B33"/>
                </a:solidFill>
                <a:latin typeface="Microsoft YaHei"/>
              </a:rPr>
              <a:t>▪ 相关实验须在相应级别实验室并经批准</a:t>
            </a:r>
          </a:p>
          <a:p>
            <a:pPr>
              <a:spcAft>
                <a:spcPts val="1000"/>
              </a:spcAft>
            </a:pPr>
            <a:r>
              <a:rPr sz="2000">
                <a:solidFill>
                  <a:srgbClr val="222B33"/>
                </a:solidFill>
                <a:latin typeface="Microsoft YaHei"/>
              </a:rPr>
              <a:t>▪ 学生不得擅自开展这类实验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一类、第二类病原微生物统称为高致病性病原微生物。按《病原微生物实验室生物安全管理条例》（以现行文本为准），从事高致病性病原微生物相关实验活动，须在相应防护级别的实验室进行，并按规定报经批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以为“只做检测、不做培养”就不需要审批</a:t>
            </a:r>
          </a:p>
          <a:p>
            <a:pPr>
              <a:spcAft>
                <a:spcPts val="1000"/>
              </a:spcAft>
            </a:pPr>
            <a:r>
              <a:rPr sz="1500">
                <a:solidFill>
                  <a:srgbClr val="222B33"/>
                </a:solidFill>
                <a:latin typeface="Microsoft YaHei"/>
              </a:rPr>
              <a:t>▪ 私下从别的实验室要来菌（毒）种</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查《人间传染的病原微生物目录》，用现行版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查分类以国内目录为准，国外资料只作参考</a:t>
            </a:r>
          </a:p>
          <a:p>
            <a:pPr>
              <a:spcAft>
                <a:spcPts val="1000"/>
              </a:spcAft>
            </a:pPr>
            <a:r>
              <a:rPr sz="2000">
                <a:solidFill>
                  <a:srgbClr val="222B33"/>
                </a:solidFill>
                <a:latin typeface="Microsoft YaHei"/>
              </a:rPr>
              <a:t>▪ 目录写明类别和不同实验活动所需实验室级别</a:t>
            </a:r>
          </a:p>
          <a:p>
            <a:pPr>
              <a:spcAft>
                <a:spcPts val="1000"/>
              </a:spcAft>
            </a:pPr>
            <a:r>
              <a:rPr sz="2000">
                <a:solidFill>
                  <a:srgbClr val="222B33"/>
                </a:solidFill>
                <a:latin typeface="Microsoft YaHei"/>
              </a:rPr>
              <a:t>▪ 同一病原，不同实验活动要求不同</a:t>
            </a:r>
          </a:p>
          <a:p>
            <a:pPr>
              <a:spcAft>
                <a:spcPts val="1000"/>
              </a:spcAft>
            </a:pPr>
            <a:r>
              <a:rPr sz="2000">
                <a:solidFill>
                  <a:srgbClr val="222B33"/>
                </a:solidFill>
                <a:latin typeface="Microsoft YaHei"/>
              </a:rPr>
              <a:t>▪ 目录会修订，用现行最新版，别用网上旧表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某种病原属于第几类、做什么实验需要几级实验室，以国家卫生健康委发布的《人间传染的病原微生物目录》（以现行版本为准）为准。目录按病毒、细菌类、真菌、朊病毒等列出各病原的危害程度分类，并分别写明不同实验活动（如培养、动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用国外名单或旧版表格确定国内类别</a:t>
            </a:r>
          </a:p>
          <a:p>
            <a:pPr>
              <a:spcAft>
                <a:spcPts val="1000"/>
              </a:spcAft>
            </a:pPr>
            <a:r>
              <a:rPr sz="1500">
                <a:solidFill>
                  <a:srgbClr val="222B33"/>
                </a:solidFill>
                <a:latin typeface="Microsoft YaHei"/>
              </a:rPr>
              <a:t>▪ 只看病原类别，不看具体实验活动对应的级别</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目录里查不到：评估后报委员会定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目录里查不到，先做风险评估</a:t>
            </a:r>
          </a:p>
          <a:p>
            <a:pPr>
              <a:spcAft>
                <a:spcPts val="1000"/>
              </a:spcAft>
            </a:pPr>
            <a:r>
              <a:rPr sz="2000">
                <a:solidFill>
                  <a:srgbClr val="222B33"/>
                </a:solidFill>
                <a:latin typeface="Microsoft YaHei"/>
              </a:rPr>
              <a:t>▪ 报单位生物安全委员会确定级别和防护</a:t>
            </a:r>
          </a:p>
          <a:p>
            <a:pPr>
              <a:spcAft>
                <a:spcPts val="1000"/>
              </a:spcAft>
            </a:pPr>
            <a:r>
              <a:rPr sz="2000">
                <a:solidFill>
                  <a:srgbClr val="222B33"/>
                </a:solidFill>
                <a:latin typeface="Microsoft YaHei"/>
              </a:rPr>
              <a:t>▪ 批准后，按确定的级别和防护开展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目录没有列出的微生物（包括新分离的、来源不明的）不能自行认定为低风险。应先由项目负责人组织风险评估，提出建议的防护级别和措施，报单位生物安全委员会审查确定；批准后，按确定的级别和防护开展实验，并按国家有关规定办理（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目录里没有，就当作不需要防护</a:t>
            </a:r>
          </a:p>
          <a:p>
            <a:pPr>
              <a:spcAft>
                <a:spcPts val="1000"/>
              </a:spcAft>
            </a:pPr>
            <a:r>
              <a:rPr sz="1500">
                <a:solidFill>
                  <a:srgbClr val="222B33"/>
                </a:solidFill>
                <a:latin typeface="Microsoft YaHei"/>
              </a:rPr>
              <a:t>▪ 自己评估完就开始做，不报委员会</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动物病原和转基因生物另有分级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动物病原另有分类名录</a:t>
            </a:r>
          </a:p>
          <a:p>
            <a:pPr>
              <a:spcAft>
                <a:spcPts val="1000"/>
              </a:spcAft>
            </a:pPr>
            <a:r>
              <a:rPr sz="2000">
                <a:solidFill>
                  <a:srgbClr val="222B33"/>
                </a:solidFill>
                <a:latin typeface="Microsoft YaHei"/>
              </a:rPr>
              <a:t>▪ 涉及动物，人间和动物两个名录都要查</a:t>
            </a:r>
          </a:p>
          <a:p>
            <a:pPr>
              <a:spcAft>
                <a:spcPts val="1000"/>
              </a:spcAft>
            </a:pPr>
            <a:r>
              <a:rPr sz="2000">
                <a:solidFill>
                  <a:srgbClr val="222B33"/>
                </a:solidFill>
                <a:latin typeface="Microsoft YaHei"/>
              </a:rPr>
              <a:t>▪ 农业转基因生物另有安全等级，Ⅰ级最低、Ⅳ级最高</a:t>
            </a:r>
          </a:p>
          <a:p>
            <a:pPr>
              <a:spcAft>
                <a:spcPts val="1000"/>
              </a:spcAft>
            </a:pPr>
            <a:r>
              <a:rPr sz="2000">
                <a:solidFill>
                  <a:srgbClr val="222B33"/>
                </a:solidFill>
                <a:latin typeface="Microsoft YaHei"/>
              </a:rPr>
              <a:t>▪ 填表写清用的是哪套分级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动物病原微生物在国内另有《动物病原微生物分类名录》（以现行版本为准）。实验涉及动物或人兽共患病原时，人间传染的病原目录和动物病原名录都要查清楚。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涉及动物时只查人间传染的病原目录</a:t>
            </a:r>
          </a:p>
          <a:p>
            <a:pPr>
              <a:spcAft>
                <a:spcPts val="1000"/>
              </a:spcAft>
            </a:pPr>
            <a:r>
              <a:rPr sz="1500">
                <a:solidFill>
                  <a:srgbClr val="222B33"/>
                </a:solidFill>
                <a:latin typeface="Microsoft YaHei"/>
              </a:rPr>
              <a:t>▪ 把转基因安全等级和病原分类混写</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评估还要看地区因素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同一种病原，在不同地区风险不同</a:t>
            </a:r>
          </a:p>
          <a:p>
            <a:pPr>
              <a:spcAft>
                <a:spcPts val="1000"/>
              </a:spcAft>
            </a:pPr>
            <a:r>
              <a:rPr sz="2000">
                <a:solidFill>
                  <a:srgbClr val="222B33"/>
                </a:solidFill>
                <a:latin typeface="Microsoft YaHei"/>
              </a:rPr>
              <a:t>▪ 一看致病性，包括本地出现的变异株</a:t>
            </a:r>
          </a:p>
          <a:p>
            <a:pPr>
              <a:spcAft>
                <a:spcPts val="1000"/>
              </a:spcAft>
            </a:pPr>
            <a:r>
              <a:rPr sz="2000">
                <a:solidFill>
                  <a:srgbClr val="222B33"/>
                </a:solidFill>
                <a:latin typeface="Microsoft YaHei"/>
              </a:rPr>
              <a:t>▪ 二看传播方式、宿主、媒介、人口和气候</a:t>
            </a:r>
          </a:p>
          <a:p>
            <a:pPr>
              <a:spcAft>
                <a:spcPts val="1000"/>
              </a:spcAft>
            </a:pPr>
            <a:r>
              <a:rPr sz="2000">
                <a:solidFill>
                  <a:srgbClr val="222B33"/>
                </a:solidFill>
                <a:latin typeface="Microsoft YaHei"/>
              </a:rPr>
              <a:t>▪ 三看预防、四看治疗，本地能否获得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风险分组是一般性的判断。同一种病原在不同地区风险可能不同，评估和确定措施时还要考虑地区因素：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照搬其他地区的评估结论</a:t>
            </a:r>
          </a:p>
          <a:p>
            <a:pPr>
              <a:spcAft>
                <a:spcPts val="1000"/>
              </a:spcAft>
            </a:pPr>
            <a:r>
              <a:rPr sz="1500">
                <a:solidFill>
                  <a:srgbClr val="222B33"/>
                </a:solidFill>
                <a:latin typeface="Microsoft YaHei"/>
              </a:rPr>
              <a:t>▪ 忽视本地有没有传播媒介和防治条件</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病原资料单：病原的“说明书”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病原也有资料单，就像化学品安全技术说明书</a:t>
            </a:r>
          </a:p>
          <a:p>
            <a:pPr>
              <a:spcAft>
                <a:spcPts val="1000"/>
              </a:spcAft>
            </a:pPr>
            <a:r>
              <a:rPr sz="2000">
                <a:solidFill>
                  <a:srgbClr val="222B33"/>
                </a:solidFill>
                <a:latin typeface="Microsoft YaHei"/>
              </a:rPr>
              <a:t>▪ 网上公开、不断更新，国外资料只作参考</a:t>
            </a:r>
          </a:p>
          <a:p>
            <a:pPr>
              <a:spcAft>
                <a:spcPts val="1000"/>
              </a:spcAft>
            </a:pPr>
            <a:r>
              <a:rPr sz="2000">
                <a:solidFill>
                  <a:srgbClr val="222B33"/>
                </a:solidFill>
                <a:latin typeface="Microsoft YaHei"/>
              </a:rPr>
              <a:t>▪ 可查风险组、传播途径、处置等信息</a:t>
            </a:r>
          </a:p>
          <a:p>
            <a:pPr>
              <a:spcAft>
                <a:spcPts val="1000"/>
              </a:spcAft>
            </a:pPr>
            <a:r>
              <a:rPr sz="2000">
                <a:solidFill>
                  <a:srgbClr val="222B33"/>
                </a:solidFill>
                <a:latin typeface="Microsoft YaHei"/>
              </a:rPr>
              <a:t>▪ 有手机版，但手机不要带进高等级实验室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化学品有安全技术说明书，病原也有类似的资料单（病原安全数据表），一种病原一份，列出它的特性、传播途径、危害、消毒灭活方法、防护和处置要求等，是做风险评估的常用参考工具。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直接按国外资料单的风险组确定国内实验室级别</a:t>
            </a:r>
          </a:p>
          <a:p>
            <a:pPr>
              <a:spcAft>
                <a:spcPts val="1000"/>
              </a:spcAft>
            </a:pPr>
            <a:r>
              <a:rPr sz="1500">
                <a:solidFill>
                  <a:srgbClr val="222B33"/>
                </a:solidFill>
                <a:latin typeface="Microsoft YaHei"/>
              </a:rPr>
              <a:t>▪ 把手机带进高等级实验室查资料</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资料单的九个部分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一是谁：名称分类；二有多凶：致病性、剂量、潜伏期</a:t>
            </a:r>
          </a:p>
          <a:p>
            <a:pPr>
              <a:spcAft>
                <a:spcPts val="1000"/>
              </a:spcAft>
            </a:pPr>
            <a:r>
              <a:rPr sz="1700">
                <a:solidFill>
                  <a:srgbClr val="222B33"/>
                </a:solidFill>
                <a:latin typeface="Microsoft YaHei"/>
              </a:rPr>
              <a:t>▪ 三怎么传：宿主、媒介、人兽共患</a:t>
            </a:r>
          </a:p>
          <a:p>
            <a:pPr>
              <a:spcAft>
                <a:spcPts val="1000"/>
              </a:spcAft>
            </a:pPr>
            <a:r>
              <a:rPr sz="1700">
                <a:solidFill>
                  <a:srgbClr val="222B33"/>
                </a:solidFill>
                <a:latin typeface="Microsoft YaHei"/>
              </a:rPr>
              <a:t>▪ 四能否杀灭：耐药性、消毒剂敏感性、接触时间</a:t>
            </a:r>
          </a:p>
          <a:p>
            <a:pPr>
              <a:spcAft>
                <a:spcPts val="1000"/>
              </a:spcAft>
            </a:pPr>
            <a:r>
              <a:rPr sz="1700">
                <a:solidFill>
                  <a:srgbClr val="222B33"/>
                </a:solidFill>
                <a:latin typeface="Microsoft YaHei"/>
              </a:rPr>
              <a:t>▪ 五急救医疗：疫苗、用药，法定传染病要上报</a:t>
            </a:r>
          </a:p>
          <a:p>
            <a:pPr>
              <a:spcAft>
                <a:spcPts val="1000"/>
              </a:spcAft>
            </a:pPr>
            <a:r>
              <a:rPr sz="1700">
                <a:solidFill>
                  <a:srgbClr val="222B33"/>
                </a:solidFill>
                <a:latin typeface="Microsoft YaHei"/>
              </a:rPr>
              <a:t>▪ 六至九：实验室危害、防护、处置储存、法规信息</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常见的病原资料单分为九个部分：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只看风险组编号，不看消毒灭活和应急处置部分</a:t>
            </a:r>
          </a:p>
          <a:p>
            <a:pPr>
              <a:spcAft>
                <a:spcPts val="1000"/>
              </a:spcAft>
            </a:pPr>
            <a:r>
              <a:rPr sz="1500">
                <a:solidFill>
                  <a:srgbClr val="222B33"/>
                </a:solidFill>
                <a:latin typeface="Microsoft YaHei"/>
              </a:rPr>
              <a:t>▪ 消毒时不等够接触时间</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关于我国病原微生物分类，正确的是：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第四类危害最大</a:t>
            </a:r>
          </a:p>
          <a:p>
            <a:pPr algn="l"/>
            <a:r>
              <a:rPr sz="1500" b="0">
                <a:solidFill>
                  <a:srgbClr val="222B33"/>
                </a:solidFill>
                <a:latin typeface="Microsoft YaHei"/>
              </a:rPr>
              <a:t>B. 第一类危害最大，第四类通常不致病</a:t>
            </a:r>
          </a:p>
          <a:p>
            <a:pPr algn="l"/>
            <a:r>
              <a:rPr sz="1500" b="0">
                <a:solidFill>
                  <a:srgbClr val="222B33"/>
                </a:solidFill>
                <a:latin typeface="Microsoft YaHei"/>
              </a:rPr>
              <a:t>C. 与国际风险组编号方向相同</a:t>
            </a:r>
          </a:p>
          <a:p>
            <a:pPr algn="l"/>
            <a:r>
              <a:rPr sz="1500" b="0">
                <a:solidFill>
                  <a:srgbClr val="222B33"/>
                </a:solidFill>
                <a:latin typeface="Microsoft YaHei"/>
              </a:rPr>
              <a:t>D. 只分三类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判断：国内第一类病原微生物可以在一级生物安全实验室操作。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第一类、第二类病原微生物统称为：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条件致病菌</a:t>
            </a:r>
          </a:p>
          <a:p>
            <a:pPr algn="l"/>
            <a:r>
              <a:rPr sz="1500" b="0">
                <a:solidFill>
                  <a:srgbClr val="222B33"/>
                </a:solidFill>
                <a:latin typeface="Microsoft YaHei"/>
              </a:rPr>
              <a:t>B. 高致病性病原微生物</a:t>
            </a:r>
          </a:p>
          <a:p>
            <a:pPr algn="l"/>
            <a:r>
              <a:rPr sz="1500" b="0">
                <a:solidFill>
                  <a:srgbClr val="222B33"/>
                </a:solidFill>
                <a:latin typeface="Microsoft YaHei"/>
              </a:rPr>
              <a:t>C. 低风险微生物</a:t>
            </a:r>
          </a:p>
          <a:p>
            <a:pPr algn="l"/>
            <a:r>
              <a:rPr sz="1500" b="0">
                <a:solidFill>
                  <a:srgbClr val="222B33"/>
                </a:solidFill>
                <a:latin typeface="Microsoft YaHei"/>
              </a:rPr>
              <a:t>D. 环境微生物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要确定某种病原的国内类别和所需实验室级别，应当以什么为准：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国外病原资料单</a:t>
            </a:r>
          </a:p>
          <a:p>
            <a:pPr algn="l"/>
            <a:r>
              <a:rPr sz="1500" b="0">
                <a:solidFill>
                  <a:srgbClr val="222B33"/>
                </a:solidFill>
                <a:latin typeface="Microsoft YaHei"/>
              </a:rPr>
              <a:t>B. 网上流传的表格</a:t>
            </a:r>
          </a:p>
          <a:p>
            <a:pPr algn="l"/>
            <a:r>
              <a:rPr sz="1500" b="0">
                <a:solidFill>
                  <a:srgbClr val="222B33"/>
                </a:solidFill>
                <a:latin typeface="Microsoft YaHei"/>
              </a:rPr>
              <a:t>C. 现行版《人间传染的病原微生物目录》和风险评估</a:t>
            </a:r>
          </a:p>
          <a:p>
            <a:pPr algn="l"/>
            <a:r>
              <a:rPr sz="1500" b="0">
                <a:solidFill>
                  <a:srgbClr val="222B33"/>
                </a:solidFill>
                <a:latin typeface="Microsoft YaHei"/>
              </a:rPr>
              <a:t>D. 同学的经验</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判断：目录里查不到的微生物，说明它危害很低，可以直接在普通实验室操作。</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简答：同一种病原，为什么在不同地区评估结果可能不同？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什么是生物因子</a:t>
            </a:r>
          </a:p>
          <a:p>
            <a:pPr>
              <a:spcAft>
                <a:spcPts val="800"/>
              </a:spcAft>
            </a:pPr>
            <a:r>
              <a:rPr sz="1500">
                <a:solidFill>
                  <a:srgbClr val="FFFFFF"/>
                </a:solidFill>
                <a:latin typeface="Microsoft YaHei"/>
              </a:rPr>
              <a:t>▪ K2  细菌、病毒、真菌各有特点</a:t>
            </a:r>
          </a:p>
          <a:p>
            <a:pPr>
              <a:spcAft>
                <a:spcPts val="800"/>
              </a:spcAft>
            </a:pPr>
            <a:r>
              <a:rPr sz="1500">
                <a:solidFill>
                  <a:srgbClr val="FFFFFF"/>
                </a:solidFill>
                <a:latin typeface="Microsoft YaHei"/>
              </a:rPr>
              <a:t>▪ K3  朊病毒、感染性核酸、寄生虫与毒素</a:t>
            </a:r>
          </a:p>
          <a:p>
            <a:pPr>
              <a:spcAft>
                <a:spcPts val="800"/>
              </a:spcAft>
            </a:pPr>
            <a:r>
              <a:rPr sz="1500">
                <a:solidFill>
                  <a:srgbClr val="FFFFFF"/>
                </a:solidFill>
                <a:latin typeface="Microsoft YaHei"/>
              </a:rPr>
              <a:t>▪ K4  分组看两头：个体风险与群体风险</a:t>
            </a:r>
          </a:p>
          <a:p>
            <a:pPr>
              <a:spcAft>
                <a:spcPts val="800"/>
              </a:spcAft>
            </a:pPr>
            <a:r>
              <a:rPr sz="1500">
                <a:solidFill>
                  <a:srgbClr val="FFFFFF"/>
                </a:solidFill>
                <a:latin typeface="Microsoft YaHei"/>
              </a:rPr>
              <a:t>▪ K5  国际风险组第1、2组</a:t>
            </a:r>
          </a:p>
          <a:p>
            <a:pPr>
              <a:spcAft>
                <a:spcPts val="800"/>
              </a:spcAft>
            </a:pPr>
            <a:r>
              <a:rPr sz="1500">
                <a:solidFill>
                  <a:srgbClr val="FFFFFF"/>
                </a:solidFill>
                <a:latin typeface="Microsoft YaHei"/>
              </a:rPr>
              <a:t>▪ K6  国际风险组第3、4组</a:t>
            </a:r>
          </a:p>
          <a:p>
            <a:pPr>
              <a:spcAft>
                <a:spcPts val="800"/>
              </a:spcAft>
            </a:pPr>
            <a:r>
              <a:rPr sz="1500">
                <a:solidFill>
                  <a:srgbClr val="FFFFFF"/>
                </a:solidFill>
                <a:latin typeface="Microsoft YaHei"/>
              </a:rPr>
              <a:t>▪ K7  国内分四类：第一类最危险，与国际相反</a:t>
            </a:r>
          </a:p>
          <a:p>
            <a:pPr>
              <a:spcAft>
                <a:spcPts val="800"/>
              </a:spcAft>
            </a:pPr>
            <a:r>
              <a:rPr sz="1500">
                <a:solidFill>
                  <a:srgbClr val="FFFFFF"/>
                </a:solidFill>
                <a:latin typeface="Microsoft YaHei"/>
              </a:rPr>
              <a:t>▪ K8  实验室级别国内外同向，别对号入座</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第一、二类是高致病性，须经批准</a:t>
            </a:r>
          </a:p>
          <a:p>
            <a:pPr>
              <a:spcAft>
                <a:spcPts val="800"/>
              </a:spcAft>
            </a:pPr>
            <a:r>
              <a:rPr sz="1500">
                <a:solidFill>
                  <a:srgbClr val="FFFFFF"/>
                </a:solidFill>
                <a:latin typeface="Microsoft YaHei"/>
              </a:rPr>
              <a:t>▪ K10  查《人间传染的病原微生物目录》，用现行版</a:t>
            </a:r>
          </a:p>
          <a:p>
            <a:pPr>
              <a:spcAft>
                <a:spcPts val="800"/>
              </a:spcAft>
            </a:pPr>
            <a:r>
              <a:rPr sz="1500">
                <a:solidFill>
                  <a:srgbClr val="FFFFFF"/>
                </a:solidFill>
                <a:latin typeface="Microsoft YaHei"/>
              </a:rPr>
              <a:t>▪ K11  目录里查不到：评估后报委员会定</a:t>
            </a:r>
          </a:p>
          <a:p>
            <a:pPr>
              <a:spcAft>
                <a:spcPts val="800"/>
              </a:spcAft>
            </a:pPr>
            <a:r>
              <a:rPr sz="1500">
                <a:solidFill>
                  <a:srgbClr val="FFFFFF"/>
                </a:solidFill>
                <a:latin typeface="Microsoft YaHei"/>
              </a:rPr>
              <a:t>▪ K12  动物病原和转基因生物另有分级</a:t>
            </a:r>
          </a:p>
          <a:p>
            <a:pPr>
              <a:spcAft>
                <a:spcPts val="800"/>
              </a:spcAft>
            </a:pPr>
            <a:r>
              <a:rPr sz="1500">
                <a:solidFill>
                  <a:srgbClr val="FFFFFF"/>
                </a:solidFill>
                <a:latin typeface="Microsoft YaHei"/>
              </a:rPr>
              <a:t>▪ K13  评估还要看地区因素</a:t>
            </a:r>
          </a:p>
          <a:p>
            <a:pPr>
              <a:spcAft>
                <a:spcPts val="800"/>
              </a:spcAft>
            </a:pPr>
            <a:r>
              <a:rPr sz="1500">
                <a:solidFill>
                  <a:srgbClr val="FFFFFF"/>
                </a:solidFill>
                <a:latin typeface="Microsoft YaHei"/>
              </a:rPr>
              <a:t>▪ K14  病原资料单：病原的“说明书”</a:t>
            </a:r>
          </a:p>
          <a:p>
            <a:pPr>
              <a:spcAft>
                <a:spcPts val="800"/>
              </a:spcAft>
            </a:pPr>
            <a:r>
              <a:rPr sz="1500">
                <a:solidFill>
                  <a:srgbClr val="FFFFFF"/>
                </a:solidFill>
                <a:latin typeface="Microsoft YaHei"/>
              </a:rPr>
              <a:t>▪ K15  资料单的九个部分</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生物安全实验室分级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能说出生物安全实验室按防护水平分为一级至四级（BSL-1～BSL-4），一级最低、四级最高，与国内病原分类的编号方向相反。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能说出各级实验室适用的病原类别、典型用途，以及在设施、设备和程序上的递进（开放台面—受控进入与安全柜—负压与缓冲间—正压防护服）。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能说出动物实验室（ABSL）的分级，知道国内标准和规定由谁制定、谁负责备案认可审批，国际手册只作参考。</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能判断学生实验的级别边界：多在一级、二级实验室；三级、四级须专门批准、培训和授权；拿不准先问负责人。</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《中华人民共和国生物安全法》（以现行文本为准）：病原微生物实验室分级管理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《病原微生物实验室生物安全管理条例》（以现行文本为准）：实验室按生物安全防护水平分为一级至四级；一级、二级实验室备案，三级、四级实验室须通过国家认可，高致病性病原微生物实验活动须经批准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生物安全通用要求》：各级生物安全实验室（含动物生物安全实验室 ABSL-1～ABSL-4）的设施设备和管理要求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233（以现行文本为准）《病原微生物实验室生物安全通用准则》：各级病原微生物实验室的设施、设备和操作要求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《人间传染的病原微生物目录》（国家卫生健康委发布，以现行版本为准）：各病原不同实验活动所需的实验室级别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号，以现行文本为准）：实验室准入、分级分类管理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本校生物安全管理制度：实验室级别标识、准入和授权，以本校规定为准</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防护级别：一套标准化措施，四级逐级加严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防护级别是一套标准化的防护措施</a:t>
            </a:r>
          </a:p>
          <a:p>
            <a:pPr>
              <a:spcAft>
                <a:spcPts val="1000"/>
              </a:spcAft>
            </a:pPr>
            <a:r>
              <a:rPr sz="2000">
                <a:solidFill>
                  <a:srgbClr val="222B33"/>
                </a:solidFill>
                <a:latin typeface="Microsoft YaHei"/>
              </a:rPr>
              <a:t>▪ 从一级到四级，一共四个等级</a:t>
            </a:r>
          </a:p>
          <a:p>
            <a:pPr>
              <a:spcAft>
                <a:spcPts val="1000"/>
              </a:spcAft>
            </a:pPr>
            <a:r>
              <a:rPr sz="2000">
                <a:solidFill>
                  <a:srgbClr val="222B33"/>
                </a:solidFill>
                <a:latin typeface="Microsoft YaHei"/>
              </a:rPr>
              <a:t>▪ 等级越高，对应风险越高，措施越严</a:t>
            </a:r>
          </a:p>
          <a:p>
            <a:pPr>
              <a:spcAft>
                <a:spcPts val="1000"/>
              </a:spcAft>
            </a:pPr>
            <a:r>
              <a:rPr sz="2000">
                <a:solidFill>
                  <a:srgbClr val="222B33"/>
                </a:solidFill>
                <a:latin typeface="Microsoft YaHei"/>
              </a:rPr>
              <a:t>▪ 目的是保护人员、公众和环境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生物安全防护级别（生物安全水平，BSL）是一整套标准化的防护措施，包括安全规程和做法、安全设备和实验室设施，用来控制操作微生物带来的风险，保护操作人员、公众和环境。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认为各级实验室只是“房间大小不同”</a:t>
            </a:r>
          </a:p>
          <a:p>
            <a:pPr>
              <a:spcAft>
                <a:spcPts val="1000"/>
              </a:spcAft>
            </a:pPr>
            <a:r>
              <a:rPr sz="1500">
                <a:solidFill>
                  <a:srgbClr val="222B33"/>
                </a:solidFill>
                <a:latin typeface="Microsoft YaHei"/>
              </a:rPr>
              <a:t>▪ 把病原分类的“第一类”和实验室的“一级”混为一谈</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按危害定级，每级都有设施、设备、程序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定哪一级，看所操作生物因子的危害和实验活动</a:t>
            </a:r>
          </a:p>
          <a:p>
            <a:pPr>
              <a:spcAft>
                <a:spcPts val="1000"/>
              </a:spcAft>
            </a:pPr>
            <a:r>
              <a:rPr sz="2000">
                <a:solidFill>
                  <a:srgbClr val="222B33"/>
                </a:solidFill>
                <a:latin typeface="Microsoft YaHei"/>
              </a:rPr>
              <a:t>▪ 每一级都有设施、设备、程序三方面要求</a:t>
            </a:r>
          </a:p>
          <a:p>
            <a:pPr>
              <a:spcAft>
                <a:spcPts val="1000"/>
              </a:spcAft>
            </a:pPr>
            <a:r>
              <a:rPr sz="2000">
                <a:solidFill>
                  <a:srgbClr val="222B33"/>
                </a:solidFill>
                <a:latin typeface="Microsoft YaHei"/>
              </a:rPr>
              <a:t>▪ 级别越高，设施要求越多，三四级要独立隔离</a:t>
            </a:r>
          </a:p>
          <a:p>
            <a:pPr>
              <a:spcAft>
                <a:spcPts val="1000"/>
              </a:spcAft>
            </a:pPr>
            <a:r>
              <a:rPr sz="2000">
                <a:solidFill>
                  <a:srgbClr val="222B33"/>
                </a:solidFill>
                <a:latin typeface="Microsoft YaHei"/>
              </a:rPr>
              <a:t>▪ 设计实验室、写安全手册，都按级别来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实验在哪一级实验室做，取决于所操作生物因子的危害和具体实验活动（如何为具体实验定级见第 060 课）。每一级对三方面都有要求：什么样的房间和设施；用什么安全设备；按什么程序操作。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只买了生物安全柜，就以为实验室“升了级”</a:t>
            </a:r>
          </a:p>
          <a:p>
            <a:pPr>
              <a:spcAft>
                <a:spcPts val="1000"/>
              </a:spcAft>
            </a:pPr>
            <a:r>
              <a:rPr sz="1500">
                <a:solidFill>
                  <a:srgbClr val="222B33"/>
                </a:solidFill>
                <a:latin typeface="Microsoft YaHei"/>
              </a:rPr>
              <a:t>▪ 不看实验活动，只看病原名称定级</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实验室级别国内外同向，病原分类反向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实验室防护级别国内外同向：一级最低，四级最高</a:t>
            </a:r>
          </a:p>
          <a:p>
            <a:pPr>
              <a:spcAft>
                <a:spcPts val="1000"/>
              </a:spcAft>
            </a:pPr>
            <a:r>
              <a:rPr sz="2000">
                <a:solidFill>
                  <a:srgbClr val="222B33"/>
                </a:solidFill>
                <a:latin typeface="Microsoft YaHei"/>
              </a:rPr>
              <a:t>▪ 动物实验室也是同样的排法</a:t>
            </a:r>
          </a:p>
          <a:p>
            <a:pPr>
              <a:spcAft>
                <a:spcPts val="1000"/>
              </a:spcAft>
            </a:pPr>
            <a:r>
              <a:rPr sz="2000">
                <a:solidFill>
                  <a:srgbClr val="222B33"/>
                </a:solidFill>
                <a:latin typeface="Microsoft YaHei"/>
              </a:rPr>
              <a:t>▪ 病原分类国内第一类最危险，与国际风险组相反</a:t>
            </a:r>
          </a:p>
          <a:p>
            <a:pPr>
              <a:spcAft>
                <a:spcPts val="1000"/>
              </a:spcAft>
            </a:pPr>
            <a:r>
              <a:rPr sz="2000">
                <a:solidFill>
                  <a:srgbClr val="222B33"/>
                </a:solidFill>
                <a:latin typeface="Microsoft YaHei"/>
              </a:rPr>
              <a:t>▪ 口诀：病原分类反着走，实验室级别顺着走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实验室防护级别与病原分类是两套不同的编号：实验室级别国内外一致，一级最低、四级最高，动物生物安全实验室（ABSL）也一样；而病原微生物分类，国内第一类危害最大、第四类最小，国际风险组则是 1 组最低、4 组最高，方向……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认为第一类病原在一级实验室做</a:t>
            </a:r>
          </a:p>
          <a:p>
            <a:pPr>
              <a:spcAft>
                <a:spcPts val="1000"/>
              </a:spcAft>
            </a:pPr>
            <a:r>
              <a:rPr sz="1500">
                <a:solidFill>
                  <a:srgbClr val="222B33"/>
                </a:solidFill>
                <a:latin typeface="Microsoft YaHei"/>
              </a:rPr>
              <a:t>▪ 把国际风险组的数字直接当作实验室级别</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一级：不致病的微生物，基本防护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操作已知对健康成人不致病的微生物</a:t>
            </a:r>
          </a:p>
          <a:p>
            <a:pPr>
              <a:spcAft>
                <a:spcPts val="1000"/>
              </a:spcAft>
            </a:pPr>
            <a:r>
              <a:rPr sz="2000">
                <a:solidFill>
                  <a:srgbClr val="222B33"/>
                </a:solidFill>
                <a:latin typeface="Microsoft YaHei"/>
              </a:rPr>
              <a:t>▪ 如无害的实验室菌株、面包酵母、常见环境菌</a:t>
            </a:r>
          </a:p>
          <a:p>
            <a:pPr>
              <a:spcAft>
                <a:spcPts val="1000"/>
              </a:spcAft>
            </a:pPr>
            <a:r>
              <a:rPr sz="2000">
                <a:solidFill>
                  <a:srgbClr val="222B33"/>
                </a:solidFill>
                <a:latin typeface="Microsoft YaHei"/>
              </a:rPr>
              <a:t>▪ 多用于基础教学和入门实验</a:t>
            </a:r>
          </a:p>
          <a:p>
            <a:pPr>
              <a:spcAft>
                <a:spcPts val="1000"/>
              </a:spcAft>
            </a:pPr>
            <a:r>
              <a:rPr sz="2000">
                <a:solidFill>
                  <a:srgbClr val="222B33"/>
                </a:solidFill>
                <a:latin typeface="Microsoft YaHei"/>
              </a:rPr>
              <a:t>▪ 开放台面，守基本规范，穿实验服戴手套，限制进入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级生物安全实验室（BSL-1）风险最低，操作的是已知通常不会使健康成人致病的微生物，例如无害的实验室菌株、做面包的酵母、土壤和水中的常见非致病菌。许多基础教学实验、微生物学入门课就在这一级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认为一级实验室“没有风险”，在里面饮食、不洗手</a:t>
            </a:r>
          </a:p>
          <a:p>
            <a:pPr>
              <a:spcAft>
                <a:spcPts val="1000"/>
              </a:spcAft>
            </a:pPr>
            <a:r>
              <a:rPr sz="1500">
                <a:solidFill>
                  <a:srgbClr val="222B33"/>
                </a:solidFill>
                <a:latin typeface="Microsoft YaHei"/>
              </a:rPr>
              <a:t>▪ 在一级实验室操作未经评估的不明样本</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二级：中度风险，受控进入、安全柜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操作能致病、但一般不严重或可治的微生物</a:t>
            </a:r>
          </a:p>
          <a:p>
            <a:pPr>
              <a:spcAft>
                <a:spcPts val="1000"/>
              </a:spcAft>
            </a:pPr>
            <a:r>
              <a:rPr sz="2000">
                <a:solidFill>
                  <a:srgbClr val="222B33"/>
                </a:solidFill>
                <a:latin typeface="Microsoft YaHei"/>
              </a:rPr>
              <a:t>▪ 多用于临床检验、高校科研和医院实验室</a:t>
            </a:r>
          </a:p>
          <a:p>
            <a:pPr>
              <a:spcAft>
                <a:spcPts val="1000"/>
              </a:spcAft>
            </a:pPr>
            <a:r>
              <a:rPr sz="2000">
                <a:solidFill>
                  <a:srgbClr val="222B33"/>
                </a:solidFill>
                <a:latin typeface="Microsoft YaHei"/>
              </a:rPr>
              <a:t>▪ 受控进入，门能自动关闭，挂好生物危害标识</a:t>
            </a:r>
          </a:p>
          <a:p>
            <a:pPr>
              <a:spcAft>
                <a:spcPts val="1000"/>
              </a:spcAft>
            </a:pPr>
            <a:r>
              <a:rPr sz="2000">
                <a:solidFill>
                  <a:srgbClr val="222B33"/>
                </a:solidFill>
                <a:latin typeface="Microsoft YaHei"/>
              </a:rPr>
              <a:t>▪ 可能产生气溶胶的操作进生物安全柜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二级生物安全实验室（BSL-2）操作的是有中度风险的微生物：能让人生病，引起轻到中度疾病，但一般不严重，或者有有效的治疗和预防手段，例如一些常见的致病细菌、病毒和寄生虫；具体某种病原、某项实验需要几级，查《人间传染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二级实验室的门用东西顶住常开</a:t>
            </a:r>
          </a:p>
          <a:p>
            <a:pPr>
              <a:spcAft>
                <a:spcPts val="1000"/>
              </a:spcAft>
            </a:pPr>
            <a:r>
              <a:rPr sz="1500">
                <a:solidFill>
                  <a:srgbClr val="222B33"/>
                </a:solidFill>
                <a:latin typeface="Microsoft YaHei"/>
              </a:rPr>
              <a:t>▪ 可能产生气溶胶的操作在开放台面上做</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三级：经吸入致重病，负压与严格程序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对应可经吸入传播、致严重甚至致命疾病的病原</a:t>
            </a:r>
          </a:p>
          <a:p>
            <a:pPr>
              <a:spcAft>
                <a:spcPts val="1000"/>
              </a:spcAft>
            </a:pPr>
            <a:r>
              <a:rPr sz="2000">
                <a:solidFill>
                  <a:srgbClr val="222B33"/>
                </a:solidFill>
                <a:latin typeface="Microsoft YaHei"/>
              </a:rPr>
              <a:t>▪ 独立区域、门禁，进出经缓冲间</a:t>
            </a:r>
          </a:p>
          <a:p>
            <a:pPr>
              <a:spcAft>
                <a:spcPts val="1000"/>
              </a:spcAft>
            </a:pPr>
            <a:r>
              <a:rPr sz="2000">
                <a:solidFill>
                  <a:srgbClr val="222B33"/>
                </a:solidFill>
                <a:latin typeface="Microsoft YaHei"/>
              </a:rPr>
              <a:t>▪ 房间负压，空气只往里走，排风高效过滤</a:t>
            </a:r>
          </a:p>
          <a:p>
            <a:pPr>
              <a:spcAft>
                <a:spcPts val="1000"/>
              </a:spcAft>
            </a:pPr>
            <a:r>
              <a:rPr sz="2000">
                <a:solidFill>
                  <a:srgbClr val="222B33"/>
                </a:solidFill>
                <a:latin typeface="Microsoft YaHei"/>
              </a:rPr>
              <a:t>▪ 操作都在安全柜内，严格培训、严格程序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三级生物安全实验室（BSL-3）也称防护实验室，用于特殊诊断和较高危害病原的研究，对应可经空气吸入传播、能引起严重甚至致命疾病的病原。多设在高级临床实验室、公共卫生实验室和科研机构；涉及高致病性病原微生物的实验活动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认为学生经过一般培训就能进三级实验室</a:t>
            </a:r>
          </a:p>
          <a:p>
            <a:pPr>
              <a:spcAft>
                <a:spcPts val="1000"/>
              </a:spcAft>
            </a:pPr>
            <a:r>
              <a:rPr sz="1500">
                <a:solidFill>
                  <a:srgbClr val="222B33"/>
                </a:solidFill>
                <a:latin typeface="Microsoft YaHei"/>
              </a:rPr>
              <a:t>▪ 忽视压差、气流异常的提示</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四级：最高防护，全国少数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对应危及生命、易传播、缺乏有效防治的病原</a:t>
            </a:r>
          </a:p>
          <a:p>
            <a:pPr>
              <a:spcAft>
                <a:spcPts val="1000"/>
              </a:spcAft>
            </a:pPr>
            <a:r>
              <a:rPr sz="2000">
                <a:solidFill>
                  <a:srgbClr val="222B33"/>
                </a:solidFill>
                <a:latin typeface="Microsoft YaHei"/>
              </a:rPr>
              <a:t>▪ 穿独立供气的正压防护服，破了也往外吹</a:t>
            </a:r>
          </a:p>
          <a:p>
            <a:pPr>
              <a:spcAft>
                <a:spcPts val="1000"/>
              </a:spcAft>
            </a:pPr>
            <a:r>
              <a:rPr sz="2000">
                <a:solidFill>
                  <a:srgbClr val="222B33"/>
                </a:solidFill>
                <a:latin typeface="Microsoft YaHei"/>
              </a:rPr>
              <a:t>▪ 多道去污缓冲区、出口淋浴、双扉灭菌器</a:t>
            </a:r>
          </a:p>
          <a:p>
            <a:pPr>
              <a:spcAft>
                <a:spcPts val="1000"/>
              </a:spcAft>
            </a:pPr>
            <a:r>
              <a:rPr sz="2000">
                <a:solidFill>
                  <a:srgbClr val="222B33"/>
                </a:solidFill>
                <a:latin typeface="Microsoft YaHei"/>
              </a:rPr>
              <a:t>▪ 严格准入，专人监督；造价运行昂贵，数量极少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四级生物安全实验室（BSL-4）是最高等级的防护，对应能危及生命、可经气溶胶传播、通常缺乏有效预防和治疗手段的高危病原；已宣布消灭的病原只在极少数指定机构保存。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认为穿上正压防护服就可以放松操作规范</a:t>
            </a:r>
          </a:p>
          <a:p>
            <a:pPr>
              <a:spcAft>
                <a:spcPts val="1000"/>
              </a:spcAft>
            </a:pPr>
            <a:r>
              <a:rPr sz="1500">
                <a:solidFill>
                  <a:srgbClr val="222B33"/>
                </a:solidFill>
                <a:latin typeface="Microsoft YaHei"/>
              </a:rPr>
              <a:t>▪ 把四级实验室当作参观场所</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动物ABSL、植物设施与“加强型”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动物实验另有动物生物安全一到四级（ABSL）</a:t>
            </a:r>
          </a:p>
          <a:p>
            <a:pPr>
              <a:spcAft>
                <a:spcPts val="1000"/>
              </a:spcAft>
            </a:pPr>
            <a:r>
              <a:rPr sz="2000">
                <a:solidFill>
                  <a:srgbClr val="222B33"/>
                </a:solidFill>
                <a:latin typeface="Microsoft YaHei"/>
              </a:rPr>
              <a:t>▪ 要防咬伤抓伤，也防动物排出的病原</a:t>
            </a:r>
          </a:p>
          <a:p>
            <a:pPr>
              <a:spcAft>
                <a:spcPts val="1000"/>
              </a:spcAft>
            </a:pPr>
            <a:r>
              <a:rPr sz="2000">
                <a:solidFill>
                  <a:srgbClr val="222B33"/>
                </a:solidFill>
                <a:latin typeface="Microsoft YaHei"/>
              </a:rPr>
              <a:t>▪ 植物和转基因植物设施另有要求</a:t>
            </a:r>
          </a:p>
          <a:p>
            <a:pPr>
              <a:spcAft>
                <a:spcPts val="1000"/>
              </a:spcAft>
            </a:pPr>
            <a:r>
              <a:rPr sz="2000">
                <a:solidFill>
                  <a:srgbClr val="222B33"/>
                </a:solidFill>
                <a:latin typeface="Microsoft YaHei"/>
              </a:rPr>
              <a:t>▪ “加强型”指借用了更高一级的部分设计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用动物做感染性实验，按动物生物安全实验室分级，即 ABSL-1～ABSL-4，同样一级最低、四级最高（GB 19489-2008，以现行文本为准）。动物实验除了防操作中的暴露，还要防动物咬伤、抓伤，防动物排出的分泌物……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认为动物实验只要按普通实验室的级别做</a:t>
            </a:r>
          </a:p>
          <a:p>
            <a:pPr>
              <a:spcAft>
                <a:spcPts val="1000"/>
              </a:spcAft>
            </a:pPr>
            <a:r>
              <a:rPr sz="1500">
                <a:solidFill>
                  <a:srgbClr val="222B33"/>
                </a:solidFill>
                <a:latin typeface="Microsoft YaHei"/>
              </a:rPr>
              <a:t>▪ 动物垫料、排泄物按普通垃圾处理</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谁定标准：国内法律、法规、标准层层落实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最上层是生物安全法，下面是管理条例</a:t>
            </a:r>
          </a:p>
          <a:p>
            <a:pPr>
              <a:spcAft>
                <a:spcPts val="1000"/>
              </a:spcAft>
            </a:pPr>
            <a:r>
              <a:rPr sz="2000">
                <a:solidFill>
                  <a:srgbClr val="222B33"/>
                </a:solidFill>
                <a:latin typeface="Microsoft YaHei"/>
              </a:rPr>
              <a:t>▪ 技术要求写在 GB 19489 和 WS 233 中</a:t>
            </a:r>
          </a:p>
          <a:p>
            <a:pPr>
              <a:spcAft>
                <a:spcPts val="1000"/>
              </a:spcAft>
            </a:pPr>
            <a:r>
              <a:rPr sz="2000">
                <a:solidFill>
                  <a:srgbClr val="222B33"/>
                </a:solidFill>
                <a:latin typeface="Microsoft YaHei"/>
              </a:rPr>
              <a:t>▪ 病原放几级做，查国家目录</a:t>
            </a:r>
          </a:p>
          <a:p>
            <a:pPr>
              <a:spcAft>
                <a:spcPts val="1000"/>
              </a:spcAft>
            </a:pPr>
            <a:r>
              <a:rPr sz="2000">
                <a:solidFill>
                  <a:srgbClr val="222B33"/>
                </a:solidFill>
                <a:latin typeface="Microsoft YaHei"/>
              </a:rPr>
              <a:t>▪ 标准会修订，认准现行有效版本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实验室分级的标准不是一个机构说了算。在国内，是法律、法规、标准一层层落实：最上层是《中华人民共和国生物安全法》，下面是《病原微生物实验室生物安全管理条例》；技术要求写在国家标准 GB 19489-2008《实验室 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引用已作废的旧版标准</a:t>
            </a:r>
          </a:p>
          <a:p>
            <a:pPr>
              <a:spcAft>
                <a:spcPts val="1000"/>
              </a:spcAft>
            </a:pPr>
            <a:r>
              <a:rPr sz="1500">
                <a:solidFill>
                  <a:srgbClr val="222B33"/>
                </a:solidFill>
                <a:latin typeface="Microsoft YaHei"/>
              </a:rPr>
              <a:t>▪ 只记得国外的分级说法，不知道国内标准</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国际手册和指南只作参考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国际组织发布实验室生物安全手册和专项指南</a:t>
            </a:r>
          </a:p>
          <a:p>
            <a:pPr>
              <a:spcAft>
                <a:spcPts val="1000"/>
              </a:spcAft>
            </a:pPr>
            <a:r>
              <a:rPr sz="2000">
                <a:solidFill>
                  <a:srgbClr val="222B33"/>
                </a:solidFill>
                <a:latin typeface="Microsoft YaHei"/>
              </a:rPr>
              <a:t>▪ 多用于全球疫情应对和各国能力建设</a:t>
            </a:r>
          </a:p>
          <a:p>
            <a:pPr>
              <a:spcAft>
                <a:spcPts val="1000"/>
              </a:spcAft>
            </a:pPr>
            <a:r>
              <a:rPr sz="2000">
                <a:solidFill>
                  <a:srgbClr val="222B33"/>
                </a:solidFill>
                <a:latin typeface="Microsoft YaHei"/>
              </a:rPr>
              <a:t>▪ 在我国只作参考，以国内规定为准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国际上也有国际组织制定实验室生物安全手册，以及针对高风险病原的专项指南，尤其帮助公共卫生体系还在建设中的国家，在全球疫情应对中发挥作用。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按国际手册自行决定实验室级别</a:t>
            </a:r>
          </a:p>
          <a:p>
            <a:pPr>
              <a:spcAft>
                <a:spcPts val="1000"/>
              </a:spcAft>
            </a:pPr>
            <a:r>
              <a:rPr sz="1500">
                <a:solidFill>
                  <a:srgbClr val="222B33"/>
                </a:solidFill>
                <a:latin typeface="Microsoft YaHei"/>
              </a:rPr>
              <a:t>▪ 认为国际指南比国内标准“更权威”</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一张图看清谁管什么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国际组织：提供国际参考</a:t>
            </a:r>
          </a:p>
          <a:p>
            <a:pPr>
              <a:spcAft>
                <a:spcPts val="1000"/>
              </a:spcAft>
            </a:pPr>
            <a:r>
              <a:rPr sz="2000">
                <a:solidFill>
                  <a:srgbClr val="222B33"/>
                </a:solidFill>
                <a:latin typeface="Microsoft YaHei"/>
              </a:rPr>
              <a:t>▪ 国家：法律法规定框架，标准定技术要求</a:t>
            </a:r>
          </a:p>
          <a:p>
            <a:pPr>
              <a:spcAft>
                <a:spcPts val="1000"/>
              </a:spcAft>
            </a:pPr>
            <a:r>
              <a:rPr sz="2000">
                <a:solidFill>
                  <a:srgbClr val="222B33"/>
                </a:solidFill>
                <a:latin typeface="Microsoft YaHei"/>
              </a:rPr>
              <a:t>▪ 主管部门和认可机构：备案、认可和审批</a:t>
            </a:r>
          </a:p>
          <a:p>
            <a:pPr>
              <a:spcAft>
                <a:spcPts val="1000"/>
              </a:spcAft>
            </a:pPr>
            <a:r>
              <a:rPr sz="2000">
                <a:solidFill>
                  <a:srgbClr val="222B33"/>
                </a:solidFill>
                <a:latin typeface="Microsoft YaHei"/>
              </a:rPr>
              <a:t>▪ 单位生物安全委员会：本地监督和执行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用一张图记住谁管什么：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以为实验室建好就能直接用，不需要备案或认可</a:t>
            </a:r>
          </a:p>
          <a:p>
            <a:pPr>
              <a:spcAft>
                <a:spcPts val="1000"/>
              </a:spcAft>
            </a:pPr>
            <a:r>
              <a:rPr sz="1500">
                <a:solidFill>
                  <a:srgbClr val="222B33"/>
                </a:solidFill>
                <a:latin typeface="Microsoft YaHei"/>
              </a:rPr>
              <a:t>▪ 以为生物安全只是国家部门的事，学校不用管</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学生实验的级别边界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学生实验多在一级、二级实验室</a:t>
            </a:r>
          </a:p>
          <a:p>
            <a:pPr>
              <a:spcAft>
                <a:spcPts val="1000"/>
              </a:spcAft>
            </a:pPr>
            <a:r>
              <a:rPr sz="2000">
                <a:solidFill>
                  <a:srgbClr val="222B33"/>
                </a:solidFill>
                <a:latin typeface="Microsoft YaHei"/>
              </a:rPr>
              <a:t>▪ 三级、四级须专门批准、培训和授权</a:t>
            </a:r>
          </a:p>
          <a:p>
            <a:pPr>
              <a:spcAft>
                <a:spcPts val="1000"/>
              </a:spcAft>
            </a:pPr>
            <a:r>
              <a:rPr sz="2000">
                <a:solidFill>
                  <a:srgbClr val="222B33"/>
                </a:solidFill>
                <a:latin typeface="Microsoft YaHei"/>
              </a:rPr>
              <a:t>▪ 实验须在相应级别实验室，经评估和批准</a:t>
            </a:r>
          </a:p>
          <a:p>
            <a:pPr>
              <a:spcAft>
                <a:spcPts val="1000"/>
              </a:spcAft>
            </a:pPr>
            <a:r>
              <a:rPr sz="2000">
                <a:solidFill>
                  <a:srgbClr val="222B33"/>
                </a:solidFill>
                <a:latin typeface="Microsoft YaHei"/>
              </a:rPr>
              <a:t>▪ 拿不准级别，先问负责人，不擅自做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高校学生的教学和多数科研实验在一级、二级实验室开展。进入三级、四级实验室工作，须经单位专门批准，接受专门培训并考核合格，获得授权；学生不得自行进入或开展相关实验。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为了“方便”在级别不够的实验室做实验</a:t>
            </a:r>
          </a:p>
          <a:p>
            <a:pPr>
              <a:spcAft>
                <a:spcPts val="1000"/>
              </a:spcAft>
            </a:pPr>
            <a:r>
              <a:rPr sz="1500">
                <a:solidFill>
                  <a:srgbClr val="222B33"/>
                </a:solidFill>
                <a:latin typeface="Microsoft YaHei"/>
              </a:rPr>
              <a:t>▪ 未经准入培训就进入二级实验室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关于生物安全实验室防护级别，正确的是：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一级最高</a:t>
            </a:r>
          </a:p>
          <a:p>
            <a:pPr algn="l"/>
            <a:r>
              <a:rPr sz="1500" b="0">
                <a:solidFill>
                  <a:srgbClr val="222B33"/>
                </a:solidFill>
                <a:latin typeface="Microsoft YaHei"/>
              </a:rPr>
              <a:t>B. 一级最低、四级最高，国内外同向</a:t>
            </a:r>
          </a:p>
          <a:p>
            <a:pPr algn="l"/>
            <a:r>
              <a:rPr sz="1500" b="0">
                <a:solidFill>
                  <a:srgbClr val="222B33"/>
                </a:solidFill>
                <a:latin typeface="Microsoft YaHei"/>
              </a:rPr>
              <a:t>C. 与病原分类编号方向相同，第一类病原在一级实验室做</a:t>
            </a:r>
          </a:p>
          <a:p>
            <a:pPr algn="l"/>
            <a:r>
              <a:rPr sz="1500" b="0">
                <a:solidFill>
                  <a:srgbClr val="222B33"/>
                </a:solidFill>
                <a:latin typeface="Microsoft YaHei"/>
              </a:rPr>
              <a:t>D. 国内只有三级</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判断：二级实验室里，可能产生气溶胶的操作应在生物安全柜内进行。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房间保持负压、进出经缓冲间、排风经高效过滤、所有操作在安全柜内，这是哪一级实验室的特点：</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a:t>
            </a:r>
          </a:p>
          <a:p>
            <a:pPr algn="l"/>
            <a:r>
              <a:rPr sz="1500" b="0">
                <a:solidFill>
                  <a:srgbClr val="222B33"/>
                </a:solidFill>
                <a:latin typeface="Microsoft YaHei"/>
              </a:rPr>
              <a:t>B. 二级</a:t>
            </a:r>
          </a:p>
          <a:p>
            <a:pPr algn="l"/>
            <a:r>
              <a:rPr sz="1500" b="0">
                <a:solidFill>
                  <a:srgbClr val="222B33"/>
                </a:solidFill>
                <a:latin typeface="Microsoft YaHei"/>
              </a:rPr>
              <a:t>C. 三级</a:t>
            </a:r>
          </a:p>
          <a:p>
            <a:pPr algn="l"/>
            <a:r>
              <a:rPr sz="1500" b="0">
                <a:solidFill>
                  <a:srgbClr val="222B33"/>
                </a:solidFill>
                <a:latin typeface="Microsoft YaHei"/>
              </a:rPr>
              <a:t>D. 只是普通化学实验室</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我国生物安全实验室的技术要求主要写在：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19489 和 WS 233</a:t>
            </a:r>
          </a:p>
          <a:p>
            <a:pPr algn="l"/>
            <a:r>
              <a:rPr sz="1500" b="0">
                <a:solidFill>
                  <a:srgbClr val="222B33"/>
                </a:solidFill>
                <a:latin typeface="Microsoft YaHei"/>
              </a:rPr>
              <a:t>B. 国际组织的手册</a:t>
            </a:r>
          </a:p>
          <a:p>
            <a:pPr algn="l"/>
            <a:r>
              <a:rPr sz="1500" b="0">
                <a:solidFill>
                  <a:srgbClr val="222B33"/>
                </a:solidFill>
                <a:latin typeface="Microsoft YaHei"/>
              </a:rPr>
              <a:t>C. 化学品安全技术说明书</a:t>
            </a:r>
          </a:p>
          <a:p>
            <a:pPr algn="l"/>
            <a:r>
              <a:rPr sz="1500" b="0">
                <a:solidFill>
                  <a:srgbClr val="222B33"/>
                </a:solidFill>
                <a:latin typeface="Microsoft YaHei"/>
              </a:rPr>
              <a:t>D. 网上的经验帖</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简答：阿杰不确定自己的实验该在几级实验室做，应该怎么办？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防护级别：一套标准化措施，四级逐级加严</a:t>
            </a:r>
          </a:p>
          <a:p>
            <a:pPr>
              <a:spcAft>
                <a:spcPts val="800"/>
              </a:spcAft>
            </a:pPr>
            <a:r>
              <a:rPr sz="1500">
                <a:solidFill>
                  <a:srgbClr val="FFFFFF"/>
                </a:solidFill>
                <a:latin typeface="Microsoft YaHei"/>
              </a:rPr>
              <a:t>▪ K2  按危害定级，每级都有设施、设备、程序</a:t>
            </a:r>
          </a:p>
          <a:p>
            <a:pPr>
              <a:spcAft>
                <a:spcPts val="800"/>
              </a:spcAft>
            </a:pPr>
            <a:r>
              <a:rPr sz="1500">
                <a:solidFill>
                  <a:srgbClr val="FFFFFF"/>
                </a:solidFill>
                <a:latin typeface="Microsoft YaHei"/>
              </a:rPr>
              <a:t>▪ K3  实验室级别国内外同向，病原分类反向</a:t>
            </a:r>
          </a:p>
          <a:p>
            <a:pPr>
              <a:spcAft>
                <a:spcPts val="800"/>
              </a:spcAft>
            </a:pPr>
            <a:r>
              <a:rPr sz="1500">
                <a:solidFill>
                  <a:srgbClr val="FFFFFF"/>
                </a:solidFill>
                <a:latin typeface="Microsoft YaHei"/>
              </a:rPr>
              <a:t>▪ K4  一级：不致病的微生物，基本防护</a:t>
            </a:r>
          </a:p>
          <a:p>
            <a:pPr>
              <a:spcAft>
                <a:spcPts val="800"/>
              </a:spcAft>
            </a:pPr>
            <a:r>
              <a:rPr sz="1500">
                <a:solidFill>
                  <a:srgbClr val="FFFFFF"/>
                </a:solidFill>
                <a:latin typeface="Microsoft YaHei"/>
              </a:rPr>
              <a:t>▪ K5  二级：中度风险，受控进入、安全柜</a:t>
            </a:r>
          </a:p>
          <a:p>
            <a:pPr>
              <a:spcAft>
                <a:spcPts val="800"/>
              </a:spcAft>
            </a:pPr>
            <a:r>
              <a:rPr sz="1500">
                <a:solidFill>
                  <a:srgbClr val="FFFFFF"/>
                </a:solidFill>
                <a:latin typeface="Microsoft YaHei"/>
              </a:rPr>
              <a:t>▪ K6  三级：经吸入致重病，负压与严格程序</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四级：最高防护，全国少数</a:t>
            </a:r>
          </a:p>
          <a:p>
            <a:pPr>
              <a:spcAft>
                <a:spcPts val="800"/>
              </a:spcAft>
            </a:pPr>
            <a:r>
              <a:rPr sz="1500">
                <a:solidFill>
                  <a:srgbClr val="FFFFFF"/>
                </a:solidFill>
                <a:latin typeface="Microsoft YaHei"/>
              </a:rPr>
              <a:t>▪ K8  动物ABSL、植物设施与“加强型”</a:t>
            </a:r>
          </a:p>
          <a:p>
            <a:pPr>
              <a:spcAft>
                <a:spcPts val="800"/>
              </a:spcAft>
            </a:pPr>
            <a:r>
              <a:rPr sz="1500">
                <a:solidFill>
                  <a:srgbClr val="FFFFFF"/>
                </a:solidFill>
                <a:latin typeface="Microsoft YaHei"/>
              </a:rPr>
              <a:t>▪ K9  谁定标准：国内法律、法规、标准层层落实</a:t>
            </a:r>
          </a:p>
          <a:p>
            <a:pPr>
              <a:spcAft>
                <a:spcPts val="800"/>
              </a:spcAft>
            </a:pPr>
            <a:r>
              <a:rPr sz="1500">
                <a:solidFill>
                  <a:srgbClr val="FFFFFF"/>
                </a:solidFill>
                <a:latin typeface="Microsoft YaHei"/>
              </a:rPr>
              <a:t>▪ K10  国际手册和指南只作参考</a:t>
            </a:r>
          </a:p>
          <a:p>
            <a:pPr>
              <a:spcAft>
                <a:spcPts val="800"/>
              </a:spcAft>
            </a:pPr>
            <a:r>
              <a:rPr sz="1500">
                <a:solidFill>
                  <a:srgbClr val="FFFFFF"/>
                </a:solidFill>
                <a:latin typeface="Microsoft YaHei"/>
              </a:rPr>
              <a:t>▪ K11  一张图看清谁管什么</a:t>
            </a:r>
          </a:p>
          <a:p>
            <a:pPr>
              <a:spcAft>
                <a:spcPts val="800"/>
              </a:spcAft>
            </a:pPr>
            <a:r>
              <a:rPr sz="1500">
                <a:solidFill>
                  <a:srgbClr val="FFFFFF"/>
                </a:solidFill>
                <a:latin typeface="Microsoft YaHei"/>
              </a:rPr>
              <a:t>▪ K12  学生实验的级别边界</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如何确定实验活动的防护等级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59 镜）　适用对象：开展或计划开展涉及微生物、细胞、临床和环境样本实验的高校研究生、本科生和教职工；项目负责人、实验室负责人和生物安全员重点学习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能说出为新微生物或新实验确定防护等级的七个步骤：认清病原、致病性、传播途径、有无药和疫苗、实验操作、设施与人员能力、查规范问委员会。</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能做到“取最高的风险因素”定级，知道风险组不直接等于实验室级别，不得随意降级，降级须评估并经批准。</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能判断未知病原、来源不明样本、细胞系、临床和环境样本、噬菌体实验都要评估定级，信息不全时从严。</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能说出定级由生物安全委员会评定审批、学生不得自行定级，评估要成文、情况变化要重新评估，条件不够依法移交。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《中华人民共和国生物安全法》（以现行文本为准）：病原微生物实验室分类管理、分级管理，实验活动须在相应级别实验室开展</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《病原微生物实验室生物安全管理条例》（以现行文本为准）：高致病性病原微生物实验活动须在相应级别实验室并经批准；不具备条件的单位不得从事相关活动</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生物安全通用要求》：风险评估及风险控制，评估报告成文，情况变化时重新评估</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233（以现行文本为准）《病原微生物实验室生物安全通用准则》：根据病原危害和实验活动确定防护水平</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《人间传染的病原微生物目录》（国家卫生健康委发布，以现行版本为准）：不同实验活动所需的实验室防护级别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本校生物安全管理制度：生物安全委员会审查、实验活动审批，以本校规定为准</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定级是一套结构化风险评估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定级不是查一下就行，是一套结构化风险评估</a:t>
            </a:r>
          </a:p>
          <a:p>
            <a:pPr>
              <a:spcAft>
                <a:spcPts val="1000"/>
              </a:spcAft>
            </a:pPr>
            <a:r>
              <a:rPr sz="2000">
                <a:solidFill>
                  <a:srgbClr val="222B33"/>
                </a:solidFill>
                <a:latin typeface="Microsoft YaHei"/>
              </a:rPr>
              <a:t>▪ 评估四件事：病原、实验操作、对人和对环境的风险</a:t>
            </a:r>
          </a:p>
          <a:p>
            <a:pPr>
              <a:spcAft>
                <a:spcPts val="1000"/>
              </a:spcAft>
            </a:pPr>
            <a:r>
              <a:rPr sz="2000">
                <a:solidFill>
                  <a:srgbClr val="222B33"/>
                </a:solidFill>
                <a:latin typeface="Microsoft YaHei"/>
              </a:rPr>
              <a:t>▪ 防护水平要匹配病原和具体操作</a:t>
            </a:r>
          </a:p>
          <a:p>
            <a:pPr>
              <a:spcAft>
                <a:spcPts val="1000"/>
              </a:spcAft>
            </a:pPr>
            <a:r>
              <a:rPr sz="2000">
                <a:solidFill>
                  <a:srgbClr val="222B33"/>
                </a:solidFill>
                <a:latin typeface="Microsoft YaHei"/>
              </a:rPr>
              <a:t>▪ 先查目录、做评估、定级别，再配装备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为一种新微生物或一项新实验确定防护等级，不是在表格里查一下就行，而是一套结构化的风险评估：评估病原本身、实验操作、对人员的风险和对环境的影响，使实验室的防护水平与病原和具体操作相匹配。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只凭病原名称“印象”定级，不做评估</a:t>
            </a:r>
          </a:p>
          <a:p>
            <a:pPr>
              <a:spcAft>
                <a:spcPts val="1000"/>
              </a:spcAft>
            </a:pPr>
            <a:r>
              <a:rPr sz="1500">
                <a:solidFill>
                  <a:srgbClr val="222B33"/>
                </a:solidFill>
                <a:latin typeface="Microsoft YaHei"/>
              </a:rPr>
              <a:t>▪ 先买好装备再考虑级别</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第一步：认清它是什么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先认清是什么种、什么株</a:t>
            </a:r>
          </a:p>
          <a:p>
            <a:pPr>
              <a:spcAft>
                <a:spcPts val="1000"/>
              </a:spcAft>
            </a:pPr>
            <a:r>
              <a:rPr sz="2000">
                <a:solidFill>
                  <a:srgbClr val="222B33"/>
                </a:solidFill>
                <a:latin typeface="Microsoft YaHei"/>
              </a:rPr>
              <a:t>▪ 有没有已知变异，有没有经过基因改造</a:t>
            </a:r>
          </a:p>
          <a:p>
            <a:pPr>
              <a:spcAft>
                <a:spcPts val="1000"/>
              </a:spcAft>
            </a:pPr>
            <a:r>
              <a:rPr sz="2000">
                <a:solidFill>
                  <a:srgbClr val="222B33"/>
                </a:solidFill>
                <a:latin typeface="Microsoft YaHei"/>
              </a:rPr>
              <a:t>▪ 再和国内目录、已有分类对照</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一步是认清要操作的到底是什么：属于什么种、什么株，有没有已知的变异，是否经过基因改造。然后与《人间传染的病原微生物目录》（以现行版本为准）和已有分类资料对照，确定它在国内的危害程度类别。具体分类以国内目录为准，国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只知道“属”，不确认具体的种和株</a:t>
            </a:r>
          </a:p>
          <a:p>
            <a:pPr>
              <a:spcAft>
                <a:spcPts val="1000"/>
              </a:spcAft>
            </a:pPr>
            <a:r>
              <a:rPr sz="1500">
                <a:solidFill>
                  <a:srgbClr val="222B33"/>
                </a:solidFill>
                <a:latin typeface="Microsoft YaHei"/>
              </a:rPr>
              <a:t>▪ 忽视菌株经过改造这一信息</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第二步：会不会致病、有多重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会不会让人或动物生病</a:t>
            </a:r>
          </a:p>
          <a:p>
            <a:pPr>
              <a:spcAft>
                <a:spcPts val="1000"/>
              </a:spcAft>
            </a:pPr>
            <a:r>
              <a:rPr sz="2000">
                <a:solidFill>
                  <a:srgbClr val="222B33"/>
                </a:solidFill>
                <a:latin typeface="Microsoft YaHei"/>
              </a:rPr>
              <a:t>▪ 病有多重，多少量就能造成感染</a:t>
            </a:r>
          </a:p>
          <a:p>
            <a:pPr>
              <a:spcAft>
                <a:spcPts val="1000"/>
              </a:spcAft>
            </a:pPr>
            <a:r>
              <a:rPr sz="2000">
                <a:solidFill>
                  <a:srgbClr val="222B33"/>
                </a:solidFill>
                <a:latin typeface="Microsoft YaHei"/>
              </a:rPr>
              <a:t>▪ 致病性越强，需要的防护级别往往越高</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第二步评估致病性：它会不会让人或动物生病？如果会，病情有多严重？多少量就可能造成感染（感染剂量）？致病性越强、感染剂量越低，需要的防护级别往往越高。病原层面更详细的评估要素见第 068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认为“只让动物生病”就不需要防护</a:t>
            </a:r>
          </a:p>
          <a:p>
            <a:pPr>
              <a:spcAft>
                <a:spcPts val="1000"/>
              </a:spcAft>
            </a:pPr>
            <a:r>
              <a:rPr sz="1500">
                <a:solidFill>
                  <a:srgbClr val="222B33"/>
                </a:solidFill>
                <a:latin typeface="Microsoft YaHei"/>
              </a:rPr>
              <a:t>▪ 忽视低剂量即可感染的情况</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第三步：怎么传播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它怎么从一处传到另一处</a:t>
            </a:r>
          </a:p>
          <a:p>
            <a:pPr>
              <a:spcAft>
                <a:spcPts val="1000"/>
              </a:spcAft>
            </a:pPr>
            <a:r>
              <a:rPr sz="2000">
                <a:solidFill>
                  <a:srgbClr val="222B33"/>
                </a:solidFill>
                <a:latin typeface="Microsoft YaHei"/>
              </a:rPr>
              <a:t>▪ 经吸入、接触、食入还是锐器进入人体</a:t>
            </a:r>
          </a:p>
          <a:p>
            <a:pPr>
              <a:spcAft>
                <a:spcPts val="1000"/>
              </a:spcAft>
            </a:pPr>
            <a:r>
              <a:rPr sz="2000">
                <a:solidFill>
                  <a:srgbClr val="222B33"/>
                </a:solidFill>
                <a:latin typeface="Microsoft YaHei"/>
              </a:rPr>
              <a:t>▪ 能经空气传播的，级别往往更高</a:t>
            </a:r>
          </a:p>
          <a:p>
            <a:pPr>
              <a:spcAft>
                <a:spcPts val="1000"/>
              </a:spcAft>
            </a:pPr>
            <a:r>
              <a:rPr sz="2000">
                <a:solidFill>
                  <a:srgbClr val="222B33"/>
                </a:solidFill>
                <a:latin typeface="Microsoft YaHei"/>
              </a:rPr>
              <a:t>▪ 具体几级查目录，不靠印象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第三步看传播途径：能不能随空气被吸入？会不会经皮肤黏膜接触、经口食入，或经针头等锐器刺伤进入人体？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只考虑接触传播，忽视气溶胶吸入</a:t>
            </a:r>
          </a:p>
          <a:p>
            <a:pPr>
              <a:spcAft>
                <a:spcPts val="1000"/>
              </a:spcAft>
            </a:pPr>
            <a:r>
              <a:rPr sz="1500">
                <a:solidFill>
                  <a:srgbClr val="222B33"/>
                </a:solidFill>
                <a:latin typeface="Microsoft YaHei"/>
              </a:rPr>
              <a:t>▪ 凭记忆判断级别，不查现行目录</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第四步：有没有药和疫苗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有没有有效的治疗药物和疫苗</a:t>
            </a:r>
          </a:p>
          <a:p>
            <a:pPr>
              <a:spcAft>
                <a:spcPts val="1000"/>
              </a:spcAft>
            </a:pPr>
            <a:r>
              <a:rPr sz="2000">
                <a:solidFill>
                  <a:srgbClr val="222B33"/>
                </a:solidFill>
                <a:latin typeface="Microsoft YaHei"/>
              </a:rPr>
              <a:t>▪ 万一暴露，能不能及时处置</a:t>
            </a:r>
          </a:p>
          <a:p>
            <a:pPr>
              <a:spcAft>
                <a:spcPts val="1000"/>
              </a:spcAft>
            </a:pPr>
            <a:r>
              <a:rPr sz="2000">
                <a:solidFill>
                  <a:srgbClr val="222B33"/>
                </a:solidFill>
                <a:latin typeface="Microsoft YaHei"/>
              </a:rPr>
              <a:t>▪ 没有有效治疗手段的，级别相应往上提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第四步看防治手段：有没有有效的治疗药物和疫苗？万一发生暴露，能不能及时进行急救、预防性用药和医学观察？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认为有疫苗就可以降低防护要求</a:t>
            </a:r>
          </a:p>
          <a:p>
            <a:pPr>
              <a:spcAft>
                <a:spcPts val="1000"/>
              </a:spcAft>
            </a:pPr>
            <a:r>
              <a:rPr sz="1500">
                <a:solidFill>
                  <a:srgbClr val="222B33"/>
                </a:solidFill>
                <a:latin typeface="Microsoft YaHei"/>
              </a:rPr>
              <a:t>▪ 开展实验前不了解暴露后的处置途径</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第五步：实验怎么做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会不会产生气溶胶、用到锐器</a:t>
            </a:r>
          </a:p>
          <a:p>
            <a:pPr>
              <a:spcAft>
                <a:spcPts val="1000"/>
              </a:spcAft>
            </a:pPr>
            <a:r>
              <a:rPr sz="2000">
                <a:solidFill>
                  <a:srgbClr val="222B33"/>
                </a:solidFill>
                <a:latin typeface="Microsoft YaHei"/>
              </a:rPr>
              <a:t>▪ 是不是高浓度、大体积，涉不涉及动物、重组</a:t>
            </a:r>
          </a:p>
          <a:p>
            <a:pPr>
              <a:spcAft>
                <a:spcPts val="1000"/>
              </a:spcAft>
            </a:pPr>
            <a:r>
              <a:rPr sz="2000">
                <a:solidFill>
                  <a:srgbClr val="222B33"/>
                </a:solidFill>
                <a:latin typeface="Microsoft YaHei"/>
              </a:rPr>
              <a:t>▪ 同一种菌，培养和检测要求不同</a:t>
            </a:r>
          </a:p>
          <a:p>
            <a:pPr>
              <a:spcAft>
                <a:spcPts val="1000"/>
              </a:spcAft>
            </a:pPr>
            <a:r>
              <a:rPr sz="2000">
                <a:solidFill>
                  <a:srgbClr val="222B33"/>
                </a:solidFill>
                <a:latin typeface="Microsoft YaHei"/>
              </a:rPr>
              <a:t>▪ 培养活病毒风险高；涉及基因改造可能升级，先审批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第五步看实验活动本身：会不会产生气溶胶（如离心、匀浆、超声、剧烈混匀），会不会用到锐器？是不是高浓度、大体积操作？涉不涉及动物感染实验？涉不涉及重组 DNA 或基因改造？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认为“检测时能做，培养也就能做”</a:t>
            </a:r>
          </a:p>
          <a:p>
            <a:pPr>
              <a:spcAft>
                <a:spcPts val="1000"/>
              </a:spcAft>
            </a:pPr>
            <a:r>
              <a:rPr sz="1500">
                <a:solidFill>
                  <a:srgbClr val="222B33"/>
                </a:solidFill>
                <a:latin typeface="Microsoft YaHei"/>
              </a:rPr>
              <a:t>▪ 未经审批就开展涉及基因改造的实验</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第六步：设施和人员跟得上吗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本实验室条件够不够，防护要与风险匹配</a:t>
            </a:r>
          </a:p>
          <a:p>
            <a:pPr>
              <a:spcAft>
                <a:spcPts val="1000"/>
              </a:spcAft>
            </a:pPr>
            <a:r>
              <a:rPr sz="2000">
                <a:solidFill>
                  <a:srgbClr val="222B33"/>
                </a:solidFill>
                <a:latin typeface="Microsoft YaHei"/>
              </a:rPr>
              <a:t>▪ 人员受过培训吗，防护装备备齐了吗</a:t>
            </a:r>
          </a:p>
          <a:p>
            <a:pPr>
              <a:spcAft>
                <a:spcPts val="1000"/>
              </a:spcAft>
            </a:pPr>
            <a:r>
              <a:rPr sz="2000">
                <a:solidFill>
                  <a:srgbClr val="222B33"/>
                </a:solidFill>
                <a:latin typeface="Microsoft YaHei"/>
              </a:rPr>
              <a:t>▪ 条件不够，就别硬上</a:t>
            </a:r>
          </a:p>
          <a:p>
            <a:pPr>
              <a:spcAft>
                <a:spcPts val="1000"/>
              </a:spcAft>
            </a:pPr>
            <a:r>
              <a:rPr sz="2000">
                <a:solidFill>
                  <a:srgbClr val="222B33"/>
                </a:solidFill>
                <a:latin typeface="Microsoft YaHei"/>
              </a:rPr>
              <a:t>▪ 依法移交有资质的机构处理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第六步看本实验室的条件：实验室的防护级别和设施设备够不够？人员是否受过相应培训、考核合格？个人防护装备是否齐全？应急处置条件是否具备？防护条件必须与风险等级相匹配。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明知条件不够，抱侥幸心理先做</a:t>
            </a:r>
          </a:p>
          <a:p>
            <a:pPr>
              <a:spcAft>
                <a:spcPts val="1000"/>
              </a:spcAft>
            </a:pPr>
            <a:r>
              <a:rPr sz="1500">
                <a:solidFill>
                  <a:srgbClr val="222B33"/>
                </a:solidFill>
                <a:latin typeface="Microsoft YaHei"/>
              </a:rPr>
              <a:t>▪ 把样本私自转给其他单位“帮忙做”</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第七步：查规范、问委员会，级别不自定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查国内法规、标准和目录，国外手册只作参考</a:t>
            </a:r>
          </a:p>
          <a:p>
            <a:pPr>
              <a:spcAft>
                <a:spcPts val="1000"/>
              </a:spcAft>
            </a:pPr>
            <a:r>
              <a:rPr sz="2000">
                <a:solidFill>
                  <a:srgbClr val="222B33"/>
                </a:solidFill>
                <a:latin typeface="Microsoft YaHei"/>
              </a:rPr>
              <a:t>▪ 咨询实验室负责人和生物安全委员会</a:t>
            </a:r>
          </a:p>
          <a:p>
            <a:pPr>
              <a:spcAft>
                <a:spcPts val="1000"/>
              </a:spcAft>
            </a:pPr>
            <a:r>
              <a:rPr sz="2000">
                <a:solidFill>
                  <a:srgbClr val="222B33"/>
                </a:solidFill>
                <a:latin typeface="Microsoft YaHei"/>
              </a:rPr>
              <a:t>▪ 级别由生物安全员或委员会评定审批</a:t>
            </a:r>
          </a:p>
          <a:p>
            <a:pPr>
              <a:spcAft>
                <a:spcPts val="1000"/>
              </a:spcAft>
            </a:pPr>
            <a:r>
              <a:rPr sz="2000">
                <a:solidFill>
                  <a:srgbClr val="222B33"/>
                </a:solidFill>
                <a:latin typeface="Microsoft YaHei"/>
              </a:rPr>
              <a:t>▪ 学生不得自行定级、擅自开展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第七步，查规范、问专家：对照国内法律法规、GB 19489、WS 233 和《人间传染的病原微生物目录》（均以现行文本或版本为准），国外手册只作参考；再向实验室负责人、生物安全员和单位生物安全委员会咨询。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自己在申请表上填个级别就开工</a:t>
            </a:r>
          </a:p>
          <a:p>
            <a:pPr>
              <a:spcAft>
                <a:spcPts val="1000"/>
              </a:spcAft>
            </a:pPr>
            <a:r>
              <a:rPr sz="1500">
                <a:solidFill>
                  <a:srgbClr val="222B33"/>
                </a:solidFill>
                <a:latin typeface="Microsoft YaHei"/>
              </a:rPr>
              <a:t>▪ 只问师兄师姐，不经委员会审查</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取最高的那个风险因素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最终级别取最高的那个风险因素</a:t>
            </a:r>
          </a:p>
          <a:p>
            <a:pPr>
              <a:spcAft>
                <a:spcPts val="1000"/>
              </a:spcAft>
            </a:pPr>
            <a:r>
              <a:rPr sz="2000">
                <a:solidFill>
                  <a:srgbClr val="222B33"/>
                </a:solidFill>
                <a:latin typeface="Microsoft YaHei"/>
              </a:rPr>
              <a:t>▪ 哪怕只有一项高，也按高的来</a:t>
            </a:r>
          </a:p>
          <a:p>
            <a:pPr>
              <a:spcAft>
                <a:spcPts val="1000"/>
              </a:spcAft>
            </a:pPr>
            <a:r>
              <a:rPr sz="2000">
                <a:solidFill>
                  <a:srgbClr val="222B33"/>
                </a:solidFill>
                <a:latin typeface="Microsoft YaHei"/>
              </a:rPr>
              <a:t>▪ 例子：本体风险低，改造后、有气溶胶要重新看</a:t>
            </a:r>
          </a:p>
          <a:p>
            <a:pPr>
              <a:spcAft>
                <a:spcPts val="1000"/>
              </a:spcAft>
            </a:pPr>
            <a:r>
              <a:rPr sz="2000">
                <a:solidFill>
                  <a:srgbClr val="222B33"/>
                </a:solidFill>
                <a:latin typeface="Microsoft YaHei"/>
              </a:rPr>
              <a:t>▪ 拟定级别仍要报委员会审批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各步骤的评估结果综合起来，最终级别取最高的那个风险因素：哪怕只有一项风险高，也要按高的来。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把各项风险“平均”一下定级</a:t>
            </a:r>
          </a:p>
          <a:p>
            <a:pPr>
              <a:spcAft>
                <a:spcPts val="1000"/>
              </a:spcAft>
            </a:pPr>
            <a:r>
              <a:rPr sz="1500">
                <a:solidFill>
                  <a:srgbClr val="222B33"/>
                </a:solidFill>
                <a:latin typeface="Microsoft YaHei"/>
              </a:rPr>
              <a:t>▪ 只按菌株本体定级，不考虑改造和操作</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风险组不等于实验室级别，不得随意降级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风险组不直接等于实验室级别</a:t>
            </a:r>
          </a:p>
          <a:p>
            <a:pPr>
              <a:spcAft>
                <a:spcPts val="1000"/>
              </a:spcAft>
            </a:pPr>
            <a:r>
              <a:rPr sz="2000">
                <a:solidFill>
                  <a:srgbClr val="222B33"/>
                </a:solidFill>
                <a:latin typeface="Microsoft YaHei"/>
              </a:rPr>
              <a:t>▪ 逐案评估，但要按目录规定来</a:t>
            </a:r>
          </a:p>
          <a:p>
            <a:pPr>
              <a:spcAft>
                <a:spcPts val="1000"/>
              </a:spcAft>
            </a:pPr>
            <a:r>
              <a:rPr sz="2000">
                <a:solidFill>
                  <a:srgbClr val="222B33"/>
                </a:solidFill>
                <a:latin typeface="Microsoft YaHei"/>
              </a:rPr>
              <a:t>▪ 想在低一级实验室做，不能自己定</a:t>
            </a:r>
          </a:p>
          <a:p>
            <a:pPr>
              <a:spcAft>
                <a:spcPts val="1000"/>
              </a:spcAft>
            </a:pPr>
            <a:r>
              <a:rPr sz="2000">
                <a:solidFill>
                  <a:srgbClr val="222B33"/>
                </a:solidFill>
                <a:latin typeface="Microsoft YaHei"/>
              </a:rPr>
              <a:t>▪ 降级须评估、委员会审核，高致病性依法审批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国际资料常说“风险组不等于实验室级别”，要结合管理控制措施逐案评估。例如有人问：国际风险组 3 的病原一定要进三级实验室吗？逐案评估的思路是对的，但在国内必须按规定来：先查《人间传染的病原微生物目录》，目录对不同实验……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以“逐案评估”为由自行降级</a:t>
            </a:r>
          </a:p>
          <a:p>
            <a:pPr>
              <a:spcAft>
                <a:spcPts val="1000"/>
              </a:spcAft>
            </a:pPr>
            <a:r>
              <a:rPr sz="1500">
                <a:solidFill>
                  <a:srgbClr val="222B33"/>
                </a:solidFill>
                <a:latin typeface="Microsoft YaHei"/>
              </a:rPr>
              <a:t>▪ 把国际风险组数字直接当成实验室级别</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未知病原、细胞系和环境样本从严定级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病原没确认，信息不全，评估从严，宁可高一档</a:t>
            </a:r>
          </a:p>
          <a:p>
            <a:pPr>
              <a:spcAft>
                <a:spcPts val="1000"/>
              </a:spcAft>
            </a:pPr>
            <a:r>
              <a:rPr sz="2000">
                <a:solidFill>
                  <a:srgbClr val="222B33"/>
                </a:solidFill>
                <a:latin typeface="Microsoft YaHei"/>
              </a:rPr>
              <a:t>▪ 细胞系、临床样本、来源不明样本也要定级</a:t>
            </a:r>
          </a:p>
          <a:p>
            <a:pPr>
              <a:spcAft>
                <a:spcPts val="1000"/>
              </a:spcAft>
            </a:pPr>
            <a:r>
              <a:rPr sz="2000">
                <a:solidFill>
                  <a:srgbClr val="222B33"/>
                </a:solidFill>
                <a:latin typeface="Microsoft YaHei"/>
              </a:rPr>
              <a:t>▪ 噬菌体实验按宿主菌和样品定级</a:t>
            </a:r>
          </a:p>
          <a:p>
            <a:pPr>
              <a:spcAft>
                <a:spcPts val="1000"/>
              </a:spcAft>
            </a:pPr>
            <a:r>
              <a:rPr sz="2000">
                <a:solidFill>
                  <a:srgbClr val="222B33"/>
                </a:solidFill>
                <a:latin typeface="Microsoft YaHei"/>
              </a:rPr>
              <a:t>▪ 污泥污水富集会放大杂菌，评估后一般二级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病原还没有确认时信息不全，评估要从严，宁可防护高一档，并报单位生物安全委员会审核。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认为“只是细胞”或“只是环境样本”就不用评估</a:t>
            </a:r>
          </a:p>
          <a:p>
            <a:pPr>
              <a:spcAft>
                <a:spcPts val="1000"/>
              </a:spcAft>
            </a:pPr>
            <a:r>
              <a:rPr sz="1500">
                <a:solidFill>
                  <a:srgbClr val="222B33"/>
                </a:solidFill>
                <a:latin typeface="Microsoft YaHei"/>
              </a:rPr>
              <a:t>▪ 在开放台面上对污水样本做富集培养</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评估成文，情况一变重新评估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评估要形成文件，经审核、留档可追溯</a:t>
            </a:r>
          </a:p>
          <a:p>
            <a:pPr>
              <a:spcAft>
                <a:spcPts val="1000"/>
              </a:spcAft>
            </a:pPr>
            <a:r>
              <a:rPr sz="2000">
                <a:solidFill>
                  <a:srgbClr val="222B33"/>
                </a:solidFill>
                <a:latin typeface="Microsoft YaHei"/>
              </a:rPr>
              <a:t>▪ 实验内容或条件一变，就重新评估</a:t>
            </a:r>
          </a:p>
          <a:p>
            <a:pPr>
              <a:spcAft>
                <a:spcPts val="1000"/>
              </a:spcAft>
            </a:pPr>
            <a:r>
              <a:rPr sz="2000">
                <a:solidFill>
                  <a:srgbClr val="222B33"/>
                </a:solidFill>
                <a:latin typeface="Microsoft YaHei"/>
              </a:rPr>
              <a:t>▪ 采取措施后残余风险仍偏高，报委员会</a:t>
            </a:r>
          </a:p>
          <a:p>
            <a:pPr>
              <a:spcAft>
                <a:spcPts val="1000"/>
              </a:spcAft>
            </a:pPr>
            <a:r>
              <a:rPr sz="2000">
                <a:solidFill>
                  <a:srgbClr val="222B33"/>
                </a:solidFill>
                <a:latin typeface="Microsoft YaHei"/>
              </a:rPr>
              <a:t>▪ 未批准前不擅自开工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定级评估不是口头说说，要形成书面的风险评估报告，经审核批准后留档，做到可追溯（GB 19489-2008，以现行文本为准）。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评估只在脑子里，不写成文件</a:t>
            </a:r>
          </a:p>
          <a:p>
            <a:pPr>
              <a:spcAft>
                <a:spcPts val="1000"/>
              </a:spcAft>
            </a:pPr>
            <a:r>
              <a:rPr sz="1500">
                <a:solidFill>
                  <a:srgbClr val="222B33"/>
                </a:solidFill>
                <a:latin typeface="Microsoft YaHei"/>
              </a:rPr>
              <a:t>▪ 换了新方法、扩大了规模，还沿用旧评估</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为一项新实验确定防护等级，正确的做法是：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按病原名称凭印象定级</a:t>
            </a:r>
          </a:p>
          <a:p>
            <a:pPr algn="l"/>
            <a:r>
              <a:rPr sz="1500" b="0">
                <a:solidFill>
                  <a:srgbClr val="222B33"/>
                </a:solidFill>
                <a:latin typeface="Microsoft YaHei"/>
              </a:rPr>
              <a:t>B. 查国内目录，按病原、传播、防治、操作、设施人员逐步评估，取最高风险因素，报委员会审批</a:t>
            </a:r>
          </a:p>
          <a:p>
            <a:pPr algn="l"/>
            <a:r>
              <a:rPr sz="1500" b="0">
                <a:solidFill>
                  <a:srgbClr val="222B33"/>
                </a:solidFill>
                <a:latin typeface="Microsoft YaHei"/>
              </a:rPr>
              <a:t>C. 按国外手册自行确定</a:t>
            </a:r>
          </a:p>
          <a:p>
            <a:pPr algn="l"/>
            <a:r>
              <a:rPr sz="1500" b="0">
                <a:solidFill>
                  <a:srgbClr val="222B33"/>
                </a:solidFill>
                <a:latin typeface="Microsoft YaHei"/>
              </a:rPr>
              <a:t>D. 先做起来，有问题再说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判断：某菌株本身风险低，经过基因改造后可以直接沿用原来的级别。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想在比目录规定低一级的实验室开展实验，应当：</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研究者自己决定</a:t>
            </a:r>
          </a:p>
          <a:p>
            <a:pPr algn="l"/>
            <a:r>
              <a:rPr sz="1500" b="0">
                <a:solidFill>
                  <a:srgbClr val="222B33"/>
                </a:solidFill>
                <a:latin typeface="Microsoft YaHei"/>
              </a:rPr>
              <a:t>B. 不能随意降级，须有充分风险评估并经委员会审核，高致病性还须依法审批</a:t>
            </a:r>
          </a:p>
          <a:p>
            <a:pPr algn="l"/>
            <a:r>
              <a:rPr sz="1500" b="0">
                <a:solidFill>
                  <a:srgbClr val="222B33"/>
                </a:solidFill>
                <a:latin typeface="Microsoft YaHei"/>
              </a:rPr>
              <a:t>C. 只要戴好口罩就行</a:t>
            </a:r>
          </a:p>
          <a:p>
            <a:pPr algn="l"/>
            <a:r>
              <a:rPr sz="1500" b="0">
                <a:solidFill>
                  <a:srgbClr val="222B33"/>
                </a:solidFill>
                <a:latin typeface="Microsoft YaHei"/>
              </a:rPr>
              <a:t>D. 晚上没人时再做</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判断：细胞系和来源不明的样本在目录里查不到，所以不需要定级。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简答：本实验室的条件达不到某项实验所需的防护级别，应该怎么办？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定级是一套结构化风险评估</a:t>
            </a:r>
          </a:p>
          <a:p>
            <a:pPr>
              <a:spcAft>
                <a:spcPts val="800"/>
              </a:spcAft>
            </a:pPr>
            <a:r>
              <a:rPr sz="1500">
                <a:solidFill>
                  <a:srgbClr val="FFFFFF"/>
                </a:solidFill>
                <a:latin typeface="Microsoft YaHei"/>
              </a:rPr>
              <a:t>▪ K2  第一步：认清它是什么</a:t>
            </a:r>
          </a:p>
          <a:p>
            <a:pPr>
              <a:spcAft>
                <a:spcPts val="800"/>
              </a:spcAft>
            </a:pPr>
            <a:r>
              <a:rPr sz="1500">
                <a:solidFill>
                  <a:srgbClr val="FFFFFF"/>
                </a:solidFill>
                <a:latin typeface="Microsoft YaHei"/>
              </a:rPr>
              <a:t>▪ K3  第二步：会不会致病、有多重</a:t>
            </a:r>
          </a:p>
          <a:p>
            <a:pPr>
              <a:spcAft>
                <a:spcPts val="800"/>
              </a:spcAft>
            </a:pPr>
            <a:r>
              <a:rPr sz="1500">
                <a:solidFill>
                  <a:srgbClr val="FFFFFF"/>
                </a:solidFill>
                <a:latin typeface="Microsoft YaHei"/>
              </a:rPr>
              <a:t>▪ K4  第三步：怎么传播</a:t>
            </a:r>
          </a:p>
          <a:p>
            <a:pPr>
              <a:spcAft>
                <a:spcPts val="800"/>
              </a:spcAft>
            </a:pPr>
            <a:r>
              <a:rPr sz="1500">
                <a:solidFill>
                  <a:srgbClr val="FFFFFF"/>
                </a:solidFill>
                <a:latin typeface="Microsoft YaHei"/>
              </a:rPr>
              <a:t>▪ K5  第四步：有没有药和疫苗</a:t>
            </a:r>
          </a:p>
          <a:p>
            <a:pPr>
              <a:spcAft>
                <a:spcPts val="800"/>
              </a:spcAft>
            </a:pPr>
            <a:r>
              <a:rPr sz="1500">
                <a:solidFill>
                  <a:srgbClr val="FFFFFF"/>
                </a:solidFill>
                <a:latin typeface="Microsoft YaHei"/>
              </a:rPr>
              <a:t>▪ K6  第五步：实验怎么做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第六步：设施和人员跟得上吗</a:t>
            </a:r>
          </a:p>
          <a:p>
            <a:pPr>
              <a:spcAft>
                <a:spcPts val="800"/>
              </a:spcAft>
            </a:pPr>
            <a:r>
              <a:rPr sz="1500">
                <a:solidFill>
                  <a:srgbClr val="FFFFFF"/>
                </a:solidFill>
                <a:latin typeface="Microsoft YaHei"/>
              </a:rPr>
              <a:t>▪ K8  第七步：查规范、问委员会，级别不自定</a:t>
            </a:r>
          </a:p>
          <a:p>
            <a:pPr>
              <a:spcAft>
                <a:spcPts val="800"/>
              </a:spcAft>
            </a:pPr>
            <a:r>
              <a:rPr sz="1500">
                <a:solidFill>
                  <a:srgbClr val="FFFFFF"/>
                </a:solidFill>
                <a:latin typeface="Microsoft YaHei"/>
              </a:rPr>
              <a:t>▪ K9  取最高的那个风险因素</a:t>
            </a:r>
          </a:p>
          <a:p>
            <a:pPr>
              <a:spcAft>
                <a:spcPts val="800"/>
              </a:spcAft>
            </a:pPr>
            <a:r>
              <a:rPr sz="1500">
                <a:solidFill>
                  <a:srgbClr val="FFFFFF"/>
                </a:solidFill>
                <a:latin typeface="Microsoft YaHei"/>
              </a:rPr>
              <a:t>▪ K10  风险组不等于实验室级别，不得随意降级</a:t>
            </a:r>
          </a:p>
          <a:p>
            <a:pPr>
              <a:spcAft>
                <a:spcPts val="800"/>
              </a:spcAft>
            </a:pPr>
            <a:r>
              <a:rPr sz="1500">
                <a:solidFill>
                  <a:srgbClr val="FFFFFF"/>
                </a:solidFill>
                <a:latin typeface="Microsoft YaHei"/>
              </a:rPr>
              <a:t>▪ K11  未知病原、细胞系和环境样本从严定级</a:t>
            </a:r>
          </a:p>
          <a:p>
            <a:pPr>
              <a:spcAft>
                <a:spcPts val="800"/>
              </a:spcAft>
            </a:pPr>
            <a:r>
              <a:rPr sz="1500">
                <a:solidFill>
                  <a:srgbClr val="FFFFFF"/>
                </a:solidFill>
                <a:latin typeface="Microsoft YaHei"/>
              </a:rPr>
              <a:t>▪ K12  评估成文，情况一变重新评估</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各级实验室的防护要求</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能说出各级生物安全实验室在准入、个人防护、安全设备和设施四方面的递进差异，知道各级要求是一整套、缺一项就不达标。</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能做到一级、二级实验室的日常规范：不饮食、不口吸移液、减少气溶胶、台面消毒、废物灭菌、摘手套洗手后离开；涂片和环境分离菌按要求防护。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能说出各级人员培训的重点和人人必备的六类培训，知道培训要记录、要动手实练、三四级要带教。</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能判断防护装备缺失或损坏时应停止相关操作、报告负责人、修复确认后再开工。</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《中华人民共和国生物安全法》（以现行文本为准）：病原微生物实验室分级管理，从业人员培训</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《病原微生物实验室生物安全管理条例》（以现行文本为准）：实验室按防护水平分为一级至四级；实验室人员须经培训考核合格；高致病性病原微生物实验活动须经批准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生物安全通用要求》：各级实验室的设施设备要求、个人防护、人员培训和管理要求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233（以现行文本为准）《病原微生物实验室生物安全通用准则》：各级病原微生物实验室的设施、设备和操作要求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《人间传染的病原微生物目录》（国家卫生健康委发布，以现行版本为准）：各病原不同实验活动所需的实验室级别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号，以现行文本为准）：安全教育培训与准入，实验室安全管理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本校生物安全管理制度：准入培训、复训周期、带教授权和报告程序，以本校规定为准</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防护要求是一整套：缺一项就不达标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每一级措施分三栏：穿什么、用什么设备、房子怎么建</a:t>
            </a:r>
          </a:p>
          <a:p>
            <a:pPr>
              <a:spcAft>
                <a:spcPts val="1000"/>
              </a:spcAft>
            </a:pPr>
            <a:r>
              <a:rPr sz="2000">
                <a:solidFill>
                  <a:srgbClr val="222B33"/>
                </a:solidFill>
                <a:latin typeface="Microsoft YaHei"/>
              </a:rPr>
              <a:t>▪ 级别越高，对应的病原风险越大</a:t>
            </a:r>
          </a:p>
          <a:p>
            <a:pPr>
              <a:spcAft>
                <a:spcPts val="1000"/>
              </a:spcAft>
            </a:pPr>
            <a:r>
              <a:rPr sz="2000">
                <a:solidFill>
                  <a:srgbClr val="222B33"/>
                </a:solidFill>
                <a:latin typeface="Microsoft YaHei"/>
              </a:rPr>
              <a:t>▪ 具体病原放几级，查国家目录</a:t>
            </a:r>
          </a:p>
          <a:p>
            <a:pPr>
              <a:spcAft>
                <a:spcPts val="1000"/>
              </a:spcAft>
            </a:pPr>
            <a:r>
              <a:rPr sz="2000">
                <a:solidFill>
                  <a:srgbClr val="222B33"/>
                </a:solidFill>
                <a:latin typeface="Microsoft YaHei"/>
              </a:rPr>
              <a:t>▪ 设施、设备、操作、人员，缺一项不达标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比较各级生物安全实验室，可以列一张对比表：先看病原风险——一级操作通常不使健康成人致病的微生物，二级操作能致病但一般可防可治的病原，三级对应可经空气传播、后果严重的病原，四级对应危及生命且缺乏有效防治手段的病原（分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买了生物安全柜，就以为实验室达到了二级</a:t>
            </a:r>
          </a:p>
          <a:p>
            <a:pPr>
              <a:spcAft>
                <a:spcPts val="1000"/>
              </a:spcAft>
            </a:pPr>
            <a:r>
              <a:rPr sz="1500">
                <a:solidFill>
                  <a:srgbClr val="222B33"/>
                </a:solidFill>
                <a:latin typeface="Microsoft YaHei"/>
              </a:rPr>
              <a:t>▪ 只看房间级别，不管操作和人员是否到位</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谁能进门：准入逐级收紧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一级：经过培训的人可进</a:t>
            </a:r>
          </a:p>
          <a:p>
            <a:pPr>
              <a:spcAft>
                <a:spcPts val="1000"/>
              </a:spcAft>
            </a:pPr>
            <a:r>
              <a:rPr sz="2000">
                <a:solidFill>
                  <a:srgbClr val="222B33"/>
                </a:solidFill>
                <a:latin typeface="Microsoft YaHei"/>
              </a:rPr>
              <a:t>▪ 二级：限制进入，门上挂标识</a:t>
            </a:r>
          </a:p>
          <a:p>
            <a:pPr>
              <a:spcAft>
                <a:spcPts val="1000"/>
              </a:spcAft>
            </a:pPr>
            <a:r>
              <a:rPr sz="2000">
                <a:solidFill>
                  <a:srgbClr val="222B33"/>
                </a:solidFill>
                <a:latin typeface="Microsoft YaHei"/>
              </a:rPr>
              <a:t>▪ 三级须专门培训和批准，四级严格控制</a:t>
            </a:r>
          </a:p>
          <a:p>
            <a:pPr>
              <a:spcAft>
                <a:spcPts val="1000"/>
              </a:spcAft>
            </a:pPr>
            <a:r>
              <a:rPr sz="2000">
                <a:solidFill>
                  <a:srgbClr val="222B33"/>
                </a:solidFill>
                <a:latin typeface="Microsoft YaHei"/>
              </a:rPr>
              <a:t>▪ 进门先看标识，培训考核合格才能操作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准入随级别逐级收紧：一级实验室，经过基本培训的人员可以进入；二级实验室限制进入，无关人员不得入内；三级实验室受控进入，人员须经专门培训、批准和授权；四级实验室严格控制进入，并有高度的安保措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跟着有门禁卡的同学“蹭”进二级实验室</a:t>
            </a:r>
          </a:p>
          <a:p>
            <a:pPr>
              <a:spcAft>
                <a:spcPts val="1000"/>
              </a:spcAft>
            </a:pPr>
            <a:r>
              <a:rPr sz="1500">
                <a:solidFill>
                  <a:srgbClr val="222B33"/>
                </a:solidFill>
                <a:latin typeface="Microsoft YaHei"/>
              </a:rPr>
              <a:t>▪ 不看门口标识就进门</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个人防护逐级加码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一级：实验服为主，需要时戴手套和护目镜</a:t>
            </a:r>
          </a:p>
          <a:p>
            <a:pPr>
              <a:spcAft>
                <a:spcPts val="1000"/>
              </a:spcAft>
            </a:pPr>
            <a:r>
              <a:rPr sz="1700">
                <a:solidFill>
                  <a:srgbClr val="222B33"/>
                </a:solidFill>
                <a:latin typeface="Microsoft YaHei"/>
              </a:rPr>
              <a:t>▪ 二级：加护目镜或面屏，必须穿闭趾鞋</a:t>
            </a:r>
          </a:p>
          <a:p>
            <a:pPr>
              <a:spcAft>
                <a:spcPts val="1000"/>
              </a:spcAft>
            </a:pPr>
            <a:r>
              <a:rPr sz="1700">
                <a:solidFill>
                  <a:srgbClr val="222B33"/>
                </a:solidFill>
                <a:latin typeface="Microsoft YaHei"/>
              </a:rPr>
              <a:t>▪ 三级：前襟封闭的防护服，加呼吸防护</a:t>
            </a:r>
          </a:p>
          <a:p>
            <a:pPr>
              <a:spcAft>
                <a:spcPts val="1000"/>
              </a:spcAft>
            </a:pPr>
            <a:r>
              <a:rPr sz="1700">
                <a:solidFill>
                  <a:srgbClr val="222B33"/>
                </a:solidFill>
                <a:latin typeface="Microsoft YaHei"/>
              </a:rPr>
              <a:t>▪ 四级：正压供气防护服，多层手套</a:t>
            </a:r>
          </a:p>
          <a:p>
            <a:pPr>
              <a:spcAft>
                <a:spcPts val="1000"/>
              </a:spcAft>
            </a:pPr>
            <a:r>
              <a:rPr sz="1700">
                <a:solidFill>
                  <a:srgbClr val="222B33"/>
                </a:solidFill>
                <a:latin typeface="Microsoft YaHei"/>
              </a:rPr>
              <a:t>▪ 具体穿什么由风险评估决定，有气流也要穿</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个人防护随级别逐级加码：一级以实验服为主，需要时戴手套和护目镜；二级在实验服、手套之外，加戴护目镜或面屏等面部防护，必须穿不露脚趾的鞋；三级穿前襟封闭的防护服，戴手套和眼面部防护，并按要求加戴呼吸防护（呼吸防护与适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进二级实验室穿凉鞋、拖鞋</a:t>
            </a:r>
          </a:p>
          <a:p>
            <a:pPr>
              <a:spcAft>
                <a:spcPts val="1000"/>
              </a:spcAft>
            </a:pPr>
            <a:r>
              <a:rPr sz="1500">
                <a:solidFill>
                  <a:srgbClr val="222B33"/>
                </a:solidFill>
                <a:latin typeface="Microsoft YaHei"/>
              </a:rPr>
              <a:t>▪ 认为房间有负压就可以不戴呼吸防护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安全设备与气溶胶控制逐级加严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一级：洗手池和基本消毒用品</a:t>
            </a:r>
          </a:p>
          <a:p>
            <a:pPr>
              <a:spcAft>
                <a:spcPts val="1000"/>
              </a:spcAft>
            </a:pPr>
            <a:r>
              <a:rPr sz="2000">
                <a:solidFill>
                  <a:srgbClr val="222B33"/>
                </a:solidFill>
                <a:latin typeface="Microsoft YaHei"/>
              </a:rPr>
              <a:t>▪ 二级：可能产生气溶胶的操作进生物安全柜</a:t>
            </a:r>
          </a:p>
          <a:p>
            <a:pPr>
              <a:spcAft>
                <a:spcPts val="1000"/>
              </a:spcAft>
            </a:pPr>
            <a:r>
              <a:rPr sz="2000">
                <a:solidFill>
                  <a:srgbClr val="222B33"/>
                </a:solidFill>
                <a:latin typeface="Microsoft YaHei"/>
              </a:rPr>
              <a:t>▪ 三级：必须用安全柜，离心用密封离心杯</a:t>
            </a:r>
          </a:p>
          <a:p>
            <a:pPr>
              <a:spcAft>
                <a:spcPts val="1000"/>
              </a:spcAft>
            </a:pPr>
            <a:r>
              <a:rPr sz="2000">
                <a:solidFill>
                  <a:srgbClr val="222B33"/>
                </a:solidFill>
                <a:latin typeface="Microsoft YaHei"/>
              </a:rPr>
              <a:t>▪ 四级：全密闭安全柜，或正压服配安全柜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设备（工程控制）随级别加严：一级有洗手设施和基本的消毒用品；二级配备生物安全柜（通常为Ⅱ级），吸液、混匀、振荡、研磨等可能产生气溶胶或溅洒的操作要放进柜里做；三级所有涉及感染性材料的操作都必须在生物安全柜或其他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在二级实验室开放台面上振荡、研磨感染性材料</a:t>
            </a:r>
          </a:p>
          <a:p>
            <a:pPr>
              <a:spcAft>
                <a:spcPts val="1000"/>
              </a:spcAft>
            </a:pPr>
            <a:r>
              <a:rPr sz="1500">
                <a:solidFill>
                  <a:srgbClr val="222B33"/>
                </a:solidFill>
                <a:latin typeface="Microsoft YaHei"/>
              </a:rPr>
              <a:t>▪ 离心感染性材料不用密封离心杯</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实验室设施逐级递进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一级：普通开放实验室，有洗手池</a:t>
            </a:r>
          </a:p>
          <a:p>
            <a:pPr>
              <a:spcAft>
                <a:spcPts val="1000"/>
              </a:spcAft>
            </a:pPr>
            <a:r>
              <a:rPr sz="2000">
                <a:solidFill>
                  <a:srgbClr val="222B33"/>
                </a:solidFill>
                <a:latin typeface="Microsoft YaHei"/>
              </a:rPr>
              <a:t>▪ 二级：自闭门、洗手池、洗眼装置、灭菌器</a:t>
            </a:r>
          </a:p>
          <a:p>
            <a:pPr>
              <a:spcAft>
                <a:spcPts val="1000"/>
              </a:spcAft>
            </a:pPr>
            <a:r>
              <a:rPr sz="2000">
                <a:solidFill>
                  <a:srgbClr val="222B33"/>
                </a:solidFill>
                <a:latin typeface="Microsoft YaHei"/>
              </a:rPr>
              <a:t>▪ 三级：房间负压，排风经高效过滤</a:t>
            </a:r>
          </a:p>
          <a:p>
            <a:pPr>
              <a:spcAft>
                <a:spcPts val="1000"/>
              </a:spcAft>
            </a:pPr>
            <a:r>
              <a:rPr sz="2000">
                <a:solidFill>
                  <a:srgbClr val="222B33"/>
                </a:solidFill>
                <a:latin typeface="Microsoft YaHei"/>
              </a:rPr>
              <a:t>▪ 四级：完全隔离，进风排风都要过滤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设施随级别递进：一级是普通的开放实验室，设洗手池（宜靠近出口）；二级在此基础上，门能自动关闭并有进入控制，设洗手池和洗眼装置，实验室内或所在建筑内有高压蒸汽灭菌器或其他适当的消毒灭菌设备；三级与其他区域隔离，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不知道本实验室的洗眼装置和灭菌器在哪里</a:t>
            </a:r>
          </a:p>
          <a:p>
            <a:pPr>
              <a:spcAft>
                <a:spcPts val="1000"/>
              </a:spcAft>
            </a:pPr>
            <a:r>
              <a:rPr sz="1500">
                <a:solidFill>
                  <a:srgbClr val="222B33"/>
                </a:solidFill>
                <a:latin typeface="Microsoft YaHei"/>
              </a:rPr>
              <a:t>▪ 用东西顶住二级实验室的自闭门</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二级实验室的布局与两道屏障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入口附近有灭菌器，门上有生物危害标志</a:t>
            </a:r>
          </a:p>
          <a:p>
            <a:pPr>
              <a:spcAft>
                <a:spcPts val="1000"/>
              </a:spcAft>
            </a:pPr>
            <a:r>
              <a:rPr sz="1700">
                <a:solidFill>
                  <a:srgbClr val="222B33"/>
                </a:solidFill>
                <a:latin typeface="Microsoft YaHei"/>
              </a:rPr>
              <a:t>▪ 门可装门禁，防止无关人员进入</a:t>
            </a:r>
          </a:p>
          <a:p>
            <a:pPr>
              <a:spcAft>
                <a:spcPts val="1000"/>
              </a:spcAft>
            </a:pPr>
            <a:r>
              <a:rPr sz="1700">
                <a:solidFill>
                  <a:srgbClr val="222B33"/>
                </a:solidFill>
                <a:latin typeface="Microsoft YaHei"/>
              </a:rPr>
              <a:t>▪ 安全柜放最里面，气流从门口流向柜子</a:t>
            </a:r>
          </a:p>
          <a:p>
            <a:pPr>
              <a:spcAft>
                <a:spcPts val="1000"/>
              </a:spcAft>
            </a:pPr>
            <a:r>
              <a:rPr sz="1700">
                <a:solidFill>
                  <a:srgbClr val="222B33"/>
                </a:solidFill>
                <a:latin typeface="Microsoft YaHei"/>
              </a:rPr>
              <a:t>▪ 柜子按设计接好排风，不能随意改动</a:t>
            </a:r>
          </a:p>
          <a:p>
            <a:pPr>
              <a:spcAft>
                <a:spcPts val="1000"/>
              </a:spcAft>
            </a:pPr>
            <a:r>
              <a:rPr sz="1700">
                <a:solidFill>
                  <a:srgbClr val="222B33"/>
                </a:solidFill>
                <a:latin typeface="Microsoft YaHei"/>
              </a:rPr>
              <a:t>▪ 第一道：柜和防护；第二道：设施和管理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二级实验室常见的布局：入口附近放高压灭菌器，废物就近集中灭菌，废物按类别分桶收集；门上挂生物危害标志，可加装门禁（密码、刷卡等），防止无关人员进入；按需要配备洗眼装置和应急喷淋。生物安全柜（以及化学通风柜）放在远离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把生物安全柜放在门口或人来人往的通道旁</a:t>
            </a:r>
          </a:p>
          <a:p>
            <a:pPr>
              <a:spcAft>
                <a:spcPts val="1000"/>
              </a:spcAft>
            </a:pPr>
            <a:r>
              <a:rPr sz="1500">
                <a:solidFill>
                  <a:srgbClr val="222B33"/>
                </a:solidFill>
                <a:latin typeface="Microsoft YaHei"/>
              </a:rPr>
              <a:t>▪ 自行改动安全柜的排风连接</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良好微生物操作是基本功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良好微生物操作是各级安全的基本功</a:t>
            </a:r>
          </a:p>
          <a:p>
            <a:pPr>
              <a:spcAft>
                <a:spcPts val="1000"/>
              </a:spcAft>
            </a:pPr>
            <a:r>
              <a:rPr sz="1700">
                <a:solidFill>
                  <a:srgbClr val="222B33"/>
                </a:solidFill>
                <a:latin typeface="Microsoft YaHei"/>
              </a:rPr>
              <a:t>▪ 先定行为规范，把基本操作一条条写清</a:t>
            </a:r>
          </a:p>
          <a:p>
            <a:pPr>
              <a:spcAft>
                <a:spcPts val="1000"/>
              </a:spcAft>
            </a:pPr>
            <a:r>
              <a:rPr sz="1700">
                <a:solidFill>
                  <a:srgbClr val="222B33"/>
                </a:solidFill>
                <a:latin typeface="Microsoft YaHei"/>
              </a:rPr>
              <a:t>▪ 无菌操作、灭菌、去污，样样到位</a:t>
            </a:r>
          </a:p>
          <a:p>
            <a:pPr>
              <a:spcAft>
                <a:spcPts val="1000"/>
              </a:spcAft>
            </a:pPr>
            <a:r>
              <a:rPr sz="1700">
                <a:solidFill>
                  <a:srgbClr val="222B33"/>
                </a:solidFill>
                <a:latin typeface="Microsoft YaHei"/>
              </a:rPr>
              <a:t>▪ 消毒剂要用对，作用时间要等够</a:t>
            </a:r>
          </a:p>
          <a:p>
            <a:pPr>
              <a:spcAft>
                <a:spcPts val="1000"/>
              </a:spcAft>
            </a:pPr>
            <a:r>
              <a:rPr sz="1700">
                <a:solidFill>
                  <a:srgbClr val="222B33"/>
                </a:solidFill>
                <a:latin typeface="Microsoft YaHei"/>
              </a:rPr>
              <a:t>▪ 要有应急预案：破损、发病、溢洒、火</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良好微生物操作技术是所有级别实验室安全的基础，设施和设备再好，也替代不了规范的操作。建立实验室，第一步是制定行为规范：由实验室管理层会同使用人员一起，把最基本的操作要求一条条写清楚，形成本实验室的操作规程；生物安全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消毒剂喷上马上擦掉，不等作用时间</a:t>
            </a:r>
          </a:p>
          <a:p>
            <a:pPr>
              <a:spcAft>
                <a:spcPts val="1000"/>
              </a:spcAft>
            </a:pPr>
            <a:r>
              <a:rPr sz="1500">
                <a:solidFill>
                  <a:srgbClr val="222B33"/>
                </a:solidFill>
                <a:latin typeface="Microsoft YaHei"/>
              </a:rPr>
              <a:t>▪ 认为有了安全柜，操作可以随意</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一级、二级实验室的日常规范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不饮食、不化妆，不用手摸脸和手机</a:t>
            </a:r>
          </a:p>
          <a:p>
            <a:pPr>
              <a:spcAft>
                <a:spcPts val="1000"/>
              </a:spcAft>
            </a:pPr>
            <a:r>
              <a:rPr sz="1700">
                <a:solidFill>
                  <a:srgbClr val="222B33"/>
                </a:solidFill>
                <a:latin typeface="Microsoft YaHei"/>
              </a:rPr>
              <a:t>▪ 严禁口吸移液，用移液器</a:t>
            </a:r>
          </a:p>
          <a:p>
            <a:pPr>
              <a:spcAft>
                <a:spcPts val="1000"/>
              </a:spcAft>
            </a:pPr>
            <a:r>
              <a:rPr sz="1700">
                <a:solidFill>
                  <a:srgbClr val="222B33"/>
                </a:solidFill>
                <a:latin typeface="Microsoft YaHei"/>
              </a:rPr>
              <a:t>▪ 动作轻缓，减少溅洒和气溶胶</a:t>
            </a:r>
          </a:p>
          <a:p>
            <a:pPr>
              <a:spcAft>
                <a:spcPts val="1000"/>
              </a:spcAft>
            </a:pPr>
            <a:r>
              <a:rPr sz="1700">
                <a:solidFill>
                  <a:srgbClr val="222B33"/>
                </a:solidFill>
                <a:latin typeface="Microsoft YaHei"/>
              </a:rPr>
              <a:t>▪ 实验前后台面消毒，废物灭菌，实验菌不外带</a:t>
            </a:r>
          </a:p>
          <a:p>
            <a:pPr>
              <a:spcAft>
                <a:spcPts val="1000"/>
              </a:spcAft>
            </a:pPr>
            <a:r>
              <a:rPr sz="1700">
                <a:solidFill>
                  <a:srgbClr val="222B33"/>
                </a:solidFill>
                <a:latin typeface="Microsoft YaHei"/>
              </a:rPr>
              <a:t>▪ 做完实验摘手套、洗手再离开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级、二级实验室是学生最常进入的生物实验室，日常规范人人要守：穿好实验服，按要求戴手套和护目镜，按无菌技术操作，既防样品污染，也防人员感染。实验室内不吃喝、不存放食物、不化妆，戴手套时不摸脸、手机和门把手。严禁用嘴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戴着手套接电话、开门</a:t>
            </a:r>
          </a:p>
          <a:p>
            <a:pPr>
              <a:spcAft>
                <a:spcPts val="1000"/>
              </a:spcAft>
            </a:pPr>
            <a:r>
              <a:rPr sz="1500">
                <a:solidFill>
                  <a:srgbClr val="222B33"/>
                </a:solidFill>
                <a:latin typeface="Microsoft YaHei"/>
              </a:rPr>
              <a:t>▪ 把实验菌带回宿舍或倒进下水道</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涂片和环境分离菌也要防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涂片和湿片可能有活菌，按级别防护观察</a:t>
            </a:r>
          </a:p>
          <a:p>
            <a:pPr>
              <a:spcAft>
                <a:spcPts val="1000"/>
              </a:spcAft>
            </a:pPr>
            <a:r>
              <a:rPr sz="1700">
                <a:solidFill>
                  <a:srgbClr val="222B33"/>
                </a:solidFill>
                <a:latin typeface="Microsoft YaHei"/>
              </a:rPr>
              <a:t>▪ 用过的玻片消毒或放进锐器盒</a:t>
            </a:r>
          </a:p>
          <a:p>
            <a:pPr>
              <a:spcAft>
                <a:spcPts val="1000"/>
              </a:spcAft>
            </a:pPr>
            <a:r>
              <a:rPr sz="1700">
                <a:solidFill>
                  <a:srgbClr val="222B33"/>
                </a:solidFill>
                <a:latin typeface="Microsoft YaHei"/>
              </a:rPr>
              <a:t>▪ 土壤、水中分出的菌，鉴定前先当未知菌</a:t>
            </a:r>
          </a:p>
          <a:p>
            <a:pPr>
              <a:spcAft>
                <a:spcPts val="1000"/>
              </a:spcAft>
            </a:pPr>
            <a:r>
              <a:rPr sz="1700">
                <a:solidFill>
                  <a:srgbClr val="222B33"/>
                </a:solidFill>
                <a:latin typeface="Microsoft YaHei"/>
              </a:rPr>
              <a:t>▪ 先评估，一般在二级安全柜里操作</a:t>
            </a:r>
          </a:p>
          <a:p>
            <a:pPr>
              <a:spcAft>
                <a:spcPts val="1000"/>
              </a:spcAft>
            </a:pPr>
            <a:r>
              <a:rPr sz="1700">
                <a:solidFill>
                  <a:srgbClr val="222B33"/>
                </a:solidFill>
                <a:latin typeface="Microsoft YaHei"/>
              </a:rPr>
              <a:t>▪ 分离株标清来源，鉴定前不降级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微生物涂片和湿片可能含有活菌，观察时按相应级别穿戴防护；用过的玻片放进消毒缸消毒，或放进锐器盒；显微镜载物台被污染时及时消毒。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认为涂片“已经固定了”，徒手拿取或随手丢弃</a:t>
            </a:r>
          </a:p>
          <a:p>
            <a:pPr>
              <a:spcAft>
                <a:spcPts val="1000"/>
              </a:spcAft>
            </a:pPr>
            <a:r>
              <a:rPr sz="1500">
                <a:solidFill>
                  <a:srgbClr val="222B33"/>
                </a:solidFill>
                <a:latin typeface="Microsoft YaHei"/>
              </a:rPr>
              <a:t>▪ 环境分离菌没鉴定就在开放台面上大量操作</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一级、二级的培训：基本功与规程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培训分级：学什么、谁来学、怎么练</a:t>
            </a:r>
          </a:p>
          <a:p>
            <a:pPr>
              <a:spcAft>
                <a:spcPts val="1000"/>
              </a:spcAft>
            </a:pPr>
            <a:r>
              <a:rPr sz="1700">
                <a:solidFill>
                  <a:srgbClr val="222B33"/>
                </a:solidFill>
                <a:latin typeface="Microsoft YaHei"/>
              </a:rPr>
              <a:t>▪ 一级：学生和初学者，学基本功和手卫生</a:t>
            </a:r>
          </a:p>
          <a:p>
            <a:pPr>
              <a:spcAft>
                <a:spcPts val="1000"/>
              </a:spcAft>
            </a:pPr>
            <a:r>
              <a:rPr sz="1700">
                <a:solidFill>
                  <a:srgbClr val="222B33"/>
                </a:solidFill>
                <a:latin typeface="Microsoft YaHei"/>
              </a:rPr>
              <a:t>▪ 一级练穿戴防护、处理溅洒、认生物危害</a:t>
            </a:r>
          </a:p>
          <a:p>
            <a:pPr>
              <a:spcAft>
                <a:spcPts val="1000"/>
              </a:spcAft>
            </a:pPr>
            <a:r>
              <a:rPr sz="1700">
                <a:solidFill>
                  <a:srgbClr val="222B33"/>
                </a:solidFill>
                <a:latin typeface="Microsoft YaHei"/>
              </a:rPr>
              <a:t>▪ 二级：学规程、防锐器伤、用安全柜、报告</a:t>
            </a:r>
          </a:p>
          <a:p>
            <a:pPr>
              <a:spcAft>
                <a:spcPts val="1000"/>
              </a:spcAft>
            </a:pPr>
            <a:r>
              <a:rPr sz="1700">
                <a:solidFill>
                  <a:srgbClr val="222B33"/>
                </a:solidFill>
                <a:latin typeface="Microsoft YaHei"/>
              </a:rPr>
              <a:t>▪ 二级练样本防护、柜子去污、暴露演练</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每一级的培训都看三件事：学什么重点、谁来学、怎么练。一级的对象是学生、实习人员和初学者，重点是实验室一般安全、基础微生物操作、手卫生和台面消毒；练习穿戴防护用品、处理化学品和生物材料的小量溅洒，以及识别生物危害标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认为只有老师和技术员要培训，学生跟着做就行</a:t>
            </a:r>
          </a:p>
          <a:p>
            <a:pPr>
              <a:spcAft>
                <a:spcPts val="1000"/>
              </a:spcAft>
            </a:pPr>
            <a:r>
              <a:rPr sz="1500">
                <a:solidFill>
                  <a:srgbClr val="222B33"/>
                </a:solidFill>
                <a:latin typeface="Microsoft YaHei"/>
              </a:rPr>
              <a:t>▪ 只学一级的内容就进入二级实验室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三级、四级的培训：专人长期强化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三级：学空气传播防护、进出和应急程序</a:t>
            </a:r>
          </a:p>
          <a:p>
            <a:pPr>
              <a:spcAft>
                <a:spcPts val="1000"/>
              </a:spcAft>
            </a:pPr>
            <a:r>
              <a:rPr sz="1700">
                <a:solidFill>
                  <a:srgbClr val="222B33"/>
                </a:solidFill>
                <a:latin typeface="Microsoft YaHei"/>
              </a:rPr>
              <a:t>▪ 三级做呼吸防护适合性检验，定期复训演练</a:t>
            </a:r>
          </a:p>
          <a:p>
            <a:pPr>
              <a:spcAft>
                <a:spcPts val="1000"/>
              </a:spcAft>
            </a:pPr>
            <a:r>
              <a:rPr sz="1700">
                <a:solidFill>
                  <a:srgbClr val="222B33"/>
                </a:solidFill>
                <a:latin typeface="Microsoft YaHei"/>
              </a:rPr>
              <a:t>▪ 三级为有经验的专业人员，学生未批准不得进</a:t>
            </a:r>
          </a:p>
          <a:p>
            <a:pPr>
              <a:spcAft>
                <a:spcPts val="1000"/>
              </a:spcAft>
            </a:pPr>
            <a:r>
              <a:rPr sz="1700">
                <a:solidFill>
                  <a:srgbClr val="222B33"/>
                </a:solidFill>
                <a:latin typeface="Microsoft YaHei"/>
              </a:rPr>
              <a:t>▪ 四级：专门团队长期强化训练，两人同行</a:t>
            </a:r>
          </a:p>
          <a:p>
            <a:pPr>
              <a:spcAft>
                <a:spcPts val="1000"/>
              </a:spcAft>
            </a:pPr>
            <a:r>
              <a:rPr sz="1700">
                <a:solidFill>
                  <a:srgbClr val="222B33"/>
                </a:solidFill>
                <a:latin typeface="Microsoft YaHei"/>
              </a:rPr>
              <a:t>▪ 四级练全流程：进出、淋浴、通讯、撤离</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三级的对象是有经验的专业人员，重点是更深入的生物安全原则、可经空气传播病原的封闭控制、呼吸防护（要做适合性检验，见第 025 课）、进出程序和应急程序；练习包括定期复训、熟悉设施布局、呼吸防护装备的使用和维护，以及溢……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认为看过录像就可以进三级实验室</a:t>
            </a:r>
          </a:p>
          <a:p>
            <a:pPr>
              <a:spcAft>
                <a:spcPts val="1000"/>
              </a:spcAft>
            </a:pPr>
            <a:r>
              <a:rPr sz="1500">
                <a:solidFill>
                  <a:srgbClr val="222B33"/>
                </a:solidFill>
                <a:latin typeface="Microsoft YaHei"/>
              </a:rPr>
              <a:t>▪ 认为呼吸防护随便戴上就有效，不做适合性检验</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人人必备的六类培训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生物安全操作：规范操作、防护设施、废物灭活</a:t>
            </a:r>
          </a:p>
          <a:p>
            <a:pPr>
              <a:spcAft>
                <a:spcPts val="1000"/>
              </a:spcAft>
            </a:pPr>
            <a:r>
              <a:rPr sz="1700">
                <a:solidFill>
                  <a:srgbClr val="222B33"/>
                </a:solidFill>
                <a:latin typeface="Microsoft YaHei"/>
              </a:rPr>
              <a:t>▪ 生物安保意识：防止无关人员接触材料</a:t>
            </a:r>
          </a:p>
          <a:p>
            <a:pPr>
              <a:spcAft>
                <a:spcPts val="1000"/>
              </a:spcAft>
            </a:pPr>
            <a:r>
              <a:rPr sz="1700">
                <a:solidFill>
                  <a:srgbClr val="222B33"/>
                </a:solidFill>
                <a:latin typeface="Microsoft YaHei"/>
              </a:rPr>
              <a:t>▪ 防护装备：会选、会穿、会脱</a:t>
            </a:r>
          </a:p>
          <a:p>
            <a:pPr>
              <a:spcAft>
                <a:spcPts val="1000"/>
              </a:spcAft>
            </a:pPr>
            <a:r>
              <a:rPr sz="1700">
                <a:solidFill>
                  <a:srgbClr val="222B33"/>
                </a:solidFill>
                <a:latin typeface="Microsoft YaHei"/>
              </a:rPr>
              <a:t>▪ 应急程序与设备使用：溢洒、撤离、安全柜、灭菌器</a:t>
            </a:r>
          </a:p>
          <a:p>
            <a:pPr>
              <a:spcAft>
                <a:spcPts val="1000"/>
              </a:spcAft>
            </a:pPr>
            <a:r>
              <a:rPr sz="1700">
                <a:solidFill>
                  <a:srgbClr val="222B33"/>
                </a:solidFill>
                <a:latin typeface="Microsoft YaHei"/>
              </a:rPr>
              <a:t>▪ 事件报告：立即报负责人、学院、学校</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实验室人员的必备培训有六类：第一，生物安全操作——规范操作，在防护设施里做实验，学会废物的灭活和处置；第二，生物安保意识——防止未经授权的人员接触病原材料（见第 083 课）；第三，个人防护装备——按风险评估选对防护……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被扎伤后觉得“没事”，不报告</a:t>
            </a:r>
          </a:p>
          <a:p>
            <a:pPr>
              <a:spcAft>
                <a:spcPts val="1000"/>
              </a:spcAft>
            </a:pPr>
            <a:r>
              <a:rPr sz="1500">
                <a:solidFill>
                  <a:srgbClr val="222B33"/>
                </a:solidFill>
                <a:latin typeface="Microsoft YaHei"/>
              </a:rPr>
              <a:t>▪ 只学操作，不学应急和报告</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培训要记录、要动手、要带教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培训留记录，本人签字，考核合格才准入</a:t>
            </a:r>
          </a:p>
          <a:p>
            <a:pPr>
              <a:spcAft>
                <a:spcPts val="1000"/>
              </a:spcAft>
            </a:pPr>
            <a:r>
              <a:rPr sz="2000">
                <a:solidFill>
                  <a:srgbClr val="222B33"/>
                </a:solidFill>
                <a:latin typeface="Microsoft YaHei"/>
              </a:rPr>
              <a:t>▪ 定期复训，周期按本校规定</a:t>
            </a:r>
          </a:p>
          <a:p>
            <a:pPr>
              <a:spcAft>
                <a:spcPts val="1000"/>
              </a:spcAft>
            </a:pPr>
            <a:r>
              <a:rPr sz="2000">
                <a:solidFill>
                  <a:srgbClr val="222B33"/>
                </a:solidFill>
                <a:latin typeface="Microsoft YaHei"/>
              </a:rPr>
              <a:t>▪ 二级及以上必须动手实练</a:t>
            </a:r>
          </a:p>
          <a:p>
            <a:pPr>
              <a:spcAft>
                <a:spcPts val="1000"/>
              </a:spcAft>
            </a:pPr>
            <a:r>
              <a:rPr sz="2000">
                <a:solidFill>
                  <a:srgbClr val="222B33"/>
                </a:solidFill>
                <a:latin typeface="Microsoft YaHei"/>
              </a:rPr>
              <a:t>▪ 三四级先带教跟岗，能胜任才完全准入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每一级的培训都要留下记录，本人签字，考核合格才能准入；还要定期复训，复训周期按本校规定，操作内容、设备或规程变化时及时补训。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培训签到由别人代签</a:t>
            </a:r>
          </a:p>
          <a:p>
            <a:pPr>
              <a:spcAft>
                <a:spcPts val="1000"/>
              </a:spcAft>
            </a:pPr>
            <a:r>
              <a:rPr sz="1500">
                <a:solidFill>
                  <a:srgbClr val="222B33"/>
                </a:solidFill>
                <a:latin typeface="Microsoft YaHei"/>
              </a:rPr>
              <a:t>▪ 培训过一次就再也不复训</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装备缺了坏了，不开工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装备缺了、坏了，先停下相关操作，不凑合</a:t>
            </a:r>
          </a:p>
          <a:p>
            <a:pPr>
              <a:spcAft>
                <a:spcPts val="1000"/>
              </a:spcAft>
            </a:pPr>
            <a:r>
              <a:rPr sz="2000">
                <a:solidFill>
                  <a:srgbClr val="222B33"/>
                </a:solidFill>
                <a:latin typeface="Microsoft YaHei"/>
              </a:rPr>
              <a:t>▪ 报告负责人，申领或报修</a:t>
            </a:r>
          </a:p>
          <a:p>
            <a:pPr>
              <a:spcAft>
                <a:spcPts val="1000"/>
              </a:spcAft>
            </a:pPr>
            <a:r>
              <a:rPr sz="2000">
                <a:solidFill>
                  <a:srgbClr val="222B33"/>
                </a:solidFill>
                <a:latin typeface="Microsoft YaHei"/>
              </a:rPr>
              <a:t>▪ 确认恢复正常，再开工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防护装备或安全设备缺失、损坏（如手套破损、护目镜缺少、安全柜报警或气流异常），先停下相关操作，不凑合、不将就；按规定处理已在进行的操作和材料，报告实验室负责人，申领防护用品或报修设备。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手套破了继续做完再说</a:t>
            </a:r>
          </a:p>
          <a:p>
            <a:pPr>
              <a:spcAft>
                <a:spcPts val="1000"/>
              </a:spcAft>
            </a:pPr>
            <a:r>
              <a:rPr sz="1500">
                <a:solidFill>
                  <a:srgbClr val="222B33"/>
                </a:solidFill>
                <a:latin typeface="Microsoft YaHei"/>
              </a:rPr>
              <a:t>▪ 安全柜报警时关掉报警继续操作</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关于二级实验室的个人防护，正确的是：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只穿实验服即可</a:t>
            </a:r>
          </a:p>
          <a:p>
            <a:pPr algn="l"/>
            <a:r>
              <a:rPr sz="1500" b="0">
                <a:solidFill>
                  <a:srgbClr val="222B33"/>
                </a:solidFill>
                <a:latin typeface="Microsoft YaHei"/>
              </a:rPr>
              <a:t>B. 实验服、手套，加护目镜或面屏，必须穿闭趾鞋</a:t>
            </a:r>
          </a:p>
          <a:p>
            <a:pPr algn="l"/>
            <a:r>
              <a:rPr sz="1500" b="0">
                <a:solidFill>
                  <a:srgbClr val="222B33"/>
                </a:solidFill>
                <a:latin typeface="Microsoft YaHei"/>
              </a:rPr>
              <a:t>C. 必须穿正压防护服</a:t>
            </a:r>
          </a:p>
          <a:p>
            <a:pPr algn="l"/>
            <a:r>
              <a:rPr sz="1500" b="0">
                <a:solidFill>
                  <a:srgbClr val="222B33"/>
                </a:solidFill>
                <a:latin typeface="Microsoft YaHei"/>
              </a:rPr>
              <a:t>D. 有安全柜就不用戴手套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判断：二级实验室里，吸液、混匀等可能产生气溶胶的操作应在生物安全柜内进行。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下列做法符合一级、二级实验室日常规范的是：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戴手套接电话</a:t>
            </a:r>
          </a:p>
          <a:p>
            <a:pPr algn="l"/>
            <a:r>
              <a:rPr sz="1500" b="0">
                <a:solidFill>
                  <a:srgbClr val="222B33"/>
                </a:solidFill>
                <a:latin typeface="Microsoft YaHei"/>
              </a:rPr>
              <a:t>B. 用嘴吸移液管</a:t>
            </a:r>
          </a:p>
          <a:p>
            <a:pPr algn="l"/>
            <a:r>
              <a:rPr sz="1500" b="0">
                <a:solidFill>
                  <a:srgbClr val="222B33"/>
                </a:solidFill>
                <a:latin typeface="Microsoft YaHei"/>
              </a:rPr>
              <a:t>C. 实验前后台面消毒，做完实验摘手套、洗手再离开</a:t>
            </a:r>
          </a:p>
          <a:p>
            <a:pPr algn="l"/>
            <a:r>
              <a:rPr sz="1500" b="0">
                <a:solidFill>
                  <a:srgbClr val="222B33"/>
                </a:solidFill>
                <a:latin typeface="Microsoft YaHei"/>
              </a:rPr>
              <a:t>D. 把实验菌带回宿舍继续观察</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判断：从土壤中分离出的菌，鉴定前可以按无害菌在开放台面上操作。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阿杰发现安全柜报警、手套也破了，应该：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关掉报警继续做</a:t>
            </a:r>
          </a:p>
          <a:p>
            <a:pPr algn="l"/>
            <a:r>
              <a:rPr sz="1500" b="0">
                <a:solidFill>
                  <a:srgbClr val="222B33"/>
                </a:solidFill>
                <a:latin typeface="Microsoft YaHei"/>
              </a:rPr>
              <a:t>B. 先做完再换手套</a:t>
            </a:r>
          </a:p>
          <a:p>
            <a:pPr algn="l"/>
            <a:r>
              <a:rPr sz="1500" b="0">
                <a:solidFill>
                  <a:srgbClr val="222B33"/>
                </a:solidFill>
                <a:latin typeface="Microsoft YaHei"/>
              </a:rPr>
              <a:t>C. 停下相关操作，报告负责人，修复确认后再开工</a:t>
            </a:r>
          </a:p>
          <a:p>
            <a:pPr algn="l"/>
            <a:r>
              <a:rPr sz="1500" b="0">
                <a:solidFill>
                  <a:srgbClr val="222B33"/>
                </a:solidFill>
                <a:latin typeface="Microsoft YaHei"/>
              </a:rPr>
              <a:t>D. 自己拆开安全柜检查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简答：实验室人员必备的六类培训是什么？发生针刺暴露后向谁报告？</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防护要求是一整套：缺一项就不达标</a:t>
            </a:r>
          </a:p>
          <a:p>
            <a:pPr>
              <a:spcAft>
                <a:spcPts val="800"/>
              </a:spcAft>
            </a:pPr>
            <a:r>
              <a:rPr sz="1500">
                <a:solidFill>
                  <a:srgbClr val="FFFFFF"/>
                </a:solidFill>
                <a:latin typeface="Microsoft YaHei"/>
              </a:rPr>
              <a:t>▪ K2  谁能进门：准入逐级收紧</a:t>
            </a:r>
          </a:p>
          <a:p>
            <a:pPr>
              <a:spcAft>
                <a:spcPts val="800"/>
              </a:spcAft>
            </a:pPr>
            <a:r>
              <a:rPr sz="1500">
                <a:solidFill>
                  <a:srgbClr val="FFFFFF"/>
                </a:solidFill>
                <a:latin typeface="Microsoft YaHei"/>
              </a:rPr>
              <a:t>▪ K3  个人防护逐级加码</a:t>
            </a:r>
          </a:p>
          <a:p>
            <a:pPr>
              <a:spcAft>
                <a:spcPts val="800"/>
              </a:spcAft>
            </a:pPr>
            <a:r>
              <a:rPr sz="1500">
                <a:solidFill>
                  <a:srgbClr val="FFFFFF"/>
                </a:solidFill>
                <a:latin typeface="Microsoft YaHei"/>
              </a:rPr>
              <a:t>▪ K4  安全设备与气溶胶控制逐级加严</a:t>
            </a:r>
          </a:p>
          <a:p>
            <a:pPr>
              <a:spcAft>
                <a:spcPts val="800"/>
              </a:spcAft>
            </a:pPr>
            <a:r>
              <a:rPr sz="1500">
                <a:solidFill>
                  <a:srgbClr val="FFFFFF"/>
                </a:solidFill>
                <a:latin typeface="Microsoft YaHei"/>
              </a:rPr>
              <a:t>▪ K5  实验室设施逐级递进</a:t>
            </a:r>
          </a:p>
          <a:p>
            <a:pPr>
              <a:spcAft>
                <a:spcPts val="800"/>
              </a:spcAft>
            </a:pPr>
            <a:r>
              <a:rPr sz="1500">
                <a:solidFill>
                  <a:srgbClr val="FFFFFF"/>
                </a:solidFill>
                <a:latin typeface="Microsoft YaHei"/>
              </a:rPr>
              <a:t>▪ K6  二级实验室的布局与两道屏障</a:t>
            </a:r>
          </a:p>
          <a:p>
            <a:pPr>
              <a:spcAft>
                <a:spcPts val="800"/>
              </a:spcAft>
            </a:pPr>
            <a:r>
              <a:rPr sz="1500">
                <a:solidFill>
                  <a:srgbClr val="FFFFFF"/>
                </a:solidFill>
                <a:latin typeface="Microsoft YaHei"/>
              </a:rPr>
              <a:t>▪ K7  良好微生物操作是基本功</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一级、二级实验室的日常规范</a:t>
            </a:r>
          </a:p>
          <a:p>
            <a:pPr>
              <a:spcAft>
                <a:spcPts val="800"/>
              </a:spcAft>
            </a:pPr>
            <a:r>
              <a:rPr sz="1500">
                <a:solidFill>
                  <a:srgbClr val="FFFFFF"/>
                </a:solidFill>
                <a:latin typeface="Microsoft YaHei"/>
              </a:rPr>
              <a:t>▪ K9  涂片和环境分离菌也要防</a:t>
            </a:r>
          </a:p>
          <a:p>
            <a:pPr>
              <a:spcAft>
                <a:spcPts val="800"/>
              </a:spcAft>
            </a:pPr>
            <a:r>
              <a:rPr sz="1500">
                <a:solidFill>
                  <a:srgbClr val="FFFFFF"/>
                </a:solidFill>
                <a:latin typeface="Microsoft YaHei"/>
              </a:rPr>
              <a:t>▪ K10  一级、二级的培训：基本功与规程</a:t>
            </a:r>
          </a:p>
          <a:p>
            <a:pPr>
              <a:spcAft>
                <a:spcPts val="800"/>
              </a:spcAft>
            </a:pPr>
            <a:r>
              <a:rPr sz="1500">
                <a:solidFill>
                  <a:srgbClr val="FFFFFF"/>
                </a:solidFill>
                <a:latin typeface="Microsoft YaHei"/>
              </a:rPr>
              <a:t>▪ K11  三级、四级的培训：专人长期强化</a:t>
            </a:r>
          </a:p>
          <a:p>
            <a:pPr>
              <a:spcAft>
                <a:spcPts val="800"/>
              </a:spcAft>
            </a:pPr>
            <a:r>
              <a:rPr sz="1500">
                <a:solidFill>
                  <a:srgbClr val="FFFFFF"/>
                </a:solidFill>
                <a:latin typeface="Microsoft YaHei"/>
              </a:rPr>
              <a:t>▪ K12  人人必备的六类培训</a:t>
            </a:r>
          </a:p>
          <a:p>
            <a:pPr>
              <a:spcAft>
                <a:spcPts val="800"/>
              </a:spcAft>
            </a:pPr>
            <a:r>
              <a:rPr sz="1500">
                <a:solidFill>
                  <a:srgbClr val="FFFFFF"/>
                </a:solidFill>
                <a:latin typeface="Microsoft YaHei"/>
              </a:rPr>
              <a:t>▪ K13  培训要记录、要动手、要带教</a:t>
            </a:r>
          </a:p>
          <a:p>
            <a:pPr>
              <a:spcAft>
                <a:spcPts val="800"/>
              </a:spcAft>
            </a:pPr>
            <a:r>
              <a:rPr sz="1500">
                <a:solidFill>
                  <a:srgbClr val="FFFFFF"/>
                </a:solidFill>
                <a:latin typeface="Microsoft YaHei"/>
              </a:rPr>
              <a:t>▪ K14  装备缺了坏了，不开工</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生物封闭原理：屏障与定向气流</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78 镜）　适用对象：进入生命科学、医学、农学、环境等涉及生物材料实验室的高校本科生、研究生和教职工（必修）；实验室负责人、生物安全员和设施管理人员重点学习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能说出一级防护（安全设备与个人防护，保护人员）和二级防护（设施与规程，保护环境）的含义和组成，知道两道屏障要一起用。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能说出定向气流、负压与压力梯度、气锁（缓冲间）、持续换气和高效过滤的作用，以及屏障的局限和剩余风险。</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能做到进门前看压差表和飘带，进出随手关门、缓冲间两道门不同时开，不遮挡排风口和柜前格栅。</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能判断气流方向异常（飘带外飘、压差报警、停电）时的处置：停止工作、关门挂牌、报告负责人和设施人员、修复验证后再恢复。</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《中华人民共和国生物安全法》（以现行文本为准）：病原微生物实验室应当符合生物安全国家标准和要求</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《病原微生物实验室生物安全管理条例》（以现行文本为准）：实验室设施设备符合国家标准，三级、四级实验室须通过国家认可</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生物安全通用要求》：一级屏障与二级屏障、定向气流和压力梯度、缓冲间、排风高效过滤及其检测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50346（以现行文本为准）《生物安全实验室建筑技术规范》：生物安全实验室的建筑、通风空调和过滤等工程技术要求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233（以现行文本为准）《病原微生物实验室生物安全通用准则》：各级病原微生物实验室的设施和设备要求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号，以现行文本为准）：设施设备运行和隐患报告</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本校设施说明与应急预案：压差、气流方向和报警的具体要求以本校设施说明为准</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什么是封闭：把病原关在受控空间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封闭：把病原关在受控空间，挡住外泄</a:t>
            </a:r>
          </a:p>
          <a:p>
            <a:pPr>
              <a:spcAft>
                <a:spcPts val="1000"/>
              </a:spcAft>
            </a:pPr>
            <a:r>
              <a:rPr sz="1700">
                <a:solidFill>
                  <a:srgbClr val="222B33"/>
                </a:solidFill>
                <a:latin typeface="Microsoft YaHei"/>
              </a:rPr>
              <a:t>▪ 一旦外泄，伤到人员，也伤到公众</a:t>
            </a:r>
          </a:p>
          <a:p>
            <a:pPr>
              <a:spcAft>
                <a:spcPts val="1000"/>
              </a:spcAft>
            </a:pPr>
            <a:r>
              <a:rPr sz="1700">
                <a:solidFill>
                  <a:srgbClr val="222B33"/>
                </a:solidFill>
                <a:latin typeface="Microsoft YaHei"/>
              </a:rPr>
              <a:t>▪ 高级别实验室本身就是一个防护区</a:t>
            </a:r>
          </a:p>
          <a:p>
            <a:pPr>
              <a:spcAft>
                <a:spcPts val="1000"/>
              </a:spcAft>
            </a:pPr>
            <a:r>
              <a:rPr sz="1700">
                <a:solidFill>
                  <a:srgbClr val="222B33"/>
                </a:solidFill>
                <a:latin typeface="Microsoft YaHei"/>
              </a:rPr>
              <a:t>▪ 未经批准和培训，学生不能进</a:t>
            </a:r>
          </a:p>
          <a:p>
            <a:pPr>
              <a:spcAft>
                <a:spcPts val="1000"/>
              </a:spcAft>
            </a:pPr>
            <a:r>
              <a:rPr sz="1700">
                <a:solidFill>
                  <a:srgbClr val="222B33"/>
                </a:solidFill>
                <a:latin typeface="Microsoft YaHei"/>
              </a:rPr>
              <a:t>▪ 设施再好，也要人按规程用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封闭（防护）是生物安全的核心思路：把病原微生物关在受控的空间里，用设备、设施和管理等各种控制措施，挡住它外泄。病原一旦外泄，既会伤到实验室人员，也会危害公众和环境。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认为实验室“有负压”就万无一失，操作可以随意</a:t>
            </a:r>
          </a:p>
          <a:p>
            <a:pPr>
              <a:spcAft>
                <a:spcPts val="1000"/>
              </a:spcAft>
            </a:pPr>
            <a:r>
              <a:rPr sz="1500">
                <a:solidFill>
                  <a:srgbClr val="222B33"/>
                </a:solidFill>
                <a:latin typeface="Microsoft YaHei"/>
              </a:rPr>
              <a:t>▪ 未经批准跟随他人进入防护区</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一级防护：护住做实验的人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一级防护（一级屏障）保护操作人员</a:t>
            </a:r>
          </a:p>
          <a:p>
            <a:pPr>
              <a:spcAft>
                <a:spcPts val="1000"/>
              </a:spcAft>
            </a:pPr>
            <a:r>
              <a:rPr sz="2000">
                <a:solidFill>
                  <a:srgbClr val="222B33"/>
                </a:solidFill>
                <a:latin typeface="Microsoft YaHei"/>
              </a:rPr>
              <a:t>▪ 靠安全柜和个人防护装备</a:t>
            </a:r>
          </a:p>
          <a:p>
            <a:pPr>
              <a:spcAft>
                <a:spcPts val="1000"/>
              </a:spcAft>
            </a:pPr>
            <a:r>
              <a:rPr sz="2000">
                <a:solidFill>
                  <a:srgbClr val="222B33"/>
                </a:solidFill>
                <a:latin typeface="Microsoft YaHei"/>
              </a:rPr>
              <a:t>▪ 也靠规范操作和穿脱防护的规程</a:t>
            </a:r>
          </a:p>
          <a:p>
            <a:pPr>
              <a:spcAft>
                <a:spcPts val="1000"/>
              </a:spcAft>
            </a:pPr>
            <a:r>
              <a:rPr sz="2000">
                <a:solidFill>
                  <a:srgbClr val="222B33"/>
                </a:solidFill>
                <a:latin typeface="Microsoft YaHei"/>
              </a:rPr>
              <a:t>▪ 生物安全柜是一级防护的主力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分两道。一级防护（一级屏障）的作用是护住做实验的人，把操作者与病原隔开。它由安全设备和个人防护装备组成：生物安全柜、密封离心杯等安全设备，以及实验服、手套、口罩或呼吸器、护目镜等个人防护装备，再加上规范操作和穿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认为一级防护只是“穿防护服”，忽视安全柜和操作规程</a:t>
            </a:r>
          </a:p>
          <a:p>
            <a:pPr>
              <a:spcAft>
                <a:spcPts val="1000"/>
              </a:spcAft>
            </a:pPr>
            <a:r>
              <a:rPr sz="1500">
                <a:solidFill>
                  <a:srgbClr val="222B33"/>
                </a:solidFill>
                <a:latin typeface="Microsoft YaHei"/>
              </a:rPr>
              <a:t>▪ 在安全柜外开放操作可能产生气溶胶的材料</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二级防护：护住外面的环境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二级防护（二级屏障）保护外面的环境</a:t>
            </a:r>
          </a:p>
          <a:p>
            <a:pPr>
              <a:spcAft>
                <a:spcPts val="1000"/>
              </a:spcAft>
            </a:pPr>
            <a:r>
              <a:rPr sz="1700">
                <a:solidFill>
                  <a:srgbClr val="222B33"/>
                </a:solidFill>
                <a:latin typeface="Microsoft YaHei"/>
              </a:rPr>
              <a:t>▪ 靠工程控制：墙、门、通风、过滤</a:t>
            </a:r>
          </a:p>
          <a:p>
            <a:pPr>
              <a:spcAft>
                <a:spcPts val="1000"/>
              </a:spcAft>
            </a:pPr>
            <a:r>
              <a:rPr sz="1700">
                <a:solidFill>
                  <a:srgbClr val="222B33"/>
                </a:solidFill>
                <a:latin typeface="Microsoft YaHei"/>
              </a:rPr>
              <a:t>▪ 也靠废水去污、维护、运输和废物规程</a:t>
            </a:r>
          </a:p>
          <a:p>
            <a:pPr>
              <a:spcAft>
                <a:spcPts val="1000"/>
              </a:spcAft>
            </a:pPr>
            <a:r>
              <a:rPr sz="1700">
                <a:solidFill>
                  <a:srgbClr val="222B33"/>
                </a:solidFill>
                <a:latin typeface="Microsoft YaHei"/>
              </a:rPr>
              <a:t>▪ 植物设施靠结构挡住花粉和病原</a:t>
            </a:r>
          </a:p>
          <a:p>
            <a:pPr>
              <a:spcAft>
                <a:spcPts val="1000"/>
              </a:spcAft>
            </a:pPr>
            <a:r>
              <a:rPr sz="1700">
                <a:solidFill>
                  <a:srgbClr val="222B33"/>
                </a:solidFill>
                <a:latin typeface="Microsoft YaHei"/>
              </a:rPr>
              <a:t>▪ 工程控制建设维护成本较高</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二级防护（二级屏障）的作用是护住实验室外面的环境和公众，防止病原从实验室扩散出去。它主要靠实验室设施的工程控制：墙体、门、通风系统、高效过滤器和物理屏障，以及废水去污系统；同时也靠进出程序、去污、定期维护、物品运输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认为二级防护只是设施部门的事，与使用者无关</a:t>
            </a:r>
          </a:p>
          <a:p>
            <a:pPr>
              <a:spcAft>
                <a:spcPts val="1000"/>
              </a:spcAft>
            </a:pPr>
            <a:r>
              <a:rPr sz="1500">
                <a:solidFill>
                  <a:srgbClr val="222B33"/>
                </a:solidFill>
                <a:latin typeface="Microsoft YaHei"/>
              </a:rPr>
              <a:t>▪ 自行改动通风、排水等设施</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两道屏障一起守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一级护人，二级护环境</a:t>
            </a:r>
          </a:p>
          <a:p>
            <a:pPr>
              <a:spcAft>
                <a:spcPts val="1000"/>
              </a:spcAft>
            </a:pPr>
            <a:r>
              <a:rPr sz="2000">
                <a:solidFill>
                  <a:srgbClr val="222B33"/>
                </a:solidFill>
                <a:latin typeface="Microsoft YaHei"/>
              </a:rPr>
              <a:t>▪ 练习：护人的、护环境的分两盒</a:t>
            </a:r>
          </a:p>
          <a:p>
            <a:pPr>
              <a:spcAft>
                <a:spcPts val="1000"/>
              </a:spcAft>
            </a:pPr>
            <a:r>
              <a:rPr sz="2000">
                <a:solidFill>
                  <a:srgbClr val="222B33"/>
                </a:solidFill>
                <a:latin typeface="Microsoft YaHei"/>
              </a:rPr>
              <a:t>▪ 两层拼起来，就是一间生物安全实验室</a:t>
            </a:r>
          </a:p>
          <a:p>
            <a:pPr>
              <a:spcAft>
                <a:spcPts val="1000"/>
              </a:spcAft>
            </a:pPr>
            <a:r>
              <a:rPr sz="2000">
                <a:solidFill>
                  <a:srgbClr val="222B33"/>
                </a:solidFill>
                <a:latin typeface="Microsoft YaHei"/>
              </a:rPr>
              <a:t>▪ 两道一起用，缺一道风险就漏出去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记住一句话：一级防护保护人，二级防护保护环境；简单说，“柜护人，房护环境”。两道屏障要同时做到、一起使用，缺了任何一道，风险都会漏出去。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只重视个人防护，忽视关门、废物和废水处理</a:t>
            </a:r>
          </a:p>
          <a:p>
            <a:pPr>
              <a:spcAft>
                <a:spcPts val="1000"/>
              </a:spcAft>
            </a:pPr>
            <a:r>
              <a:rPr sz="1500">
                <a:solidFill>
                  <a:srgbClr val="222B33"/>
                </a:solidFill>
                <a:latin typeface="Microsoft YaHei"/>
              </a:rPr>
              <a:t>▪ 认为设施好就可以不穿戴个人防护</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定向气流：从清洁区流向污染区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封闭的核心是定向气流</a:t>
            </a:r>
          </a:p>
          <a:p>
            <a:pPr>
              <a:spcAft>
                <a:spcPts val="1000"/>
              </a:spcAft>
            </a:pPr>
            <a:r>
              <a:rPr sz="1700">
                <a:solidFill>
                  <a:srgbClr val="222B33"/>
                </a:solidFill>
                <a:latin typeface="Microsoft YaHei"/>
              </a:rPr>
              <a:t>▪ 空气从清洁区流向污染区，只进不出</a:t>
            </a:r>
          </a:p>
          <a:p>
            <a:pPr>
              <a:spcAft>
                <a:spcPts val="1000"/>
              </a:spcAft>
            </a:pPr>
            <a:r>
              <a:rPr sz="1700">
                <a:solidFill>
                  <a:srgbClr val="222B33"/>
                </a:solidFill>
                <a:latin typeface="Microsoft YaHei"/>
              </a:rPr>
              <a:t>▪ 普通房间开门往外，封闭实验室往里</a:t>
            </a:r>
          </a:p>
          <a:p>
            <a:pPr>
              <a:spcAft>
                <a:spcPts val="1000"/>
              </a:spcAft>
            </a:pPr>
            <a:r>
              <a:rPr sz="1700">
                <a:solidFill>
                  <a:srgbClr val="222B33"/>
                </a:solidFill>
                <a:latin typeface="Microsoft YaHei"/>
              </a:rPr>
              <a:t>▪ 定向气流让室内气溶胶跑不出来</a:t>
            </a:r>
          </a:p>
          <a:p>
            <a:pPr>
              <a:spcAft>
                <a:spcPts val="1000"/>
              </a:spcAft>
            </a:pPr>
            <a:r>
              <a:rPr sz="1700">
                <a:solidFill>
                  <a:srgbClr val="222B33"/>
                </a:solidFill>
                <a:latin typeface="Microsoft YaHei"/>
              </a:rPr>
              <a:t>▪ 进门前先看压差表和飘带</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实验室靠定向气流把病原关在封闭空间里，这是封闭最基本的思路。通过送风和排风的设计，让空气始终从清洁区流向污染区（实验区），再经高效过滤后排出；这样，室内可能产生的气溶胶就不会跑到走廊和外面。普通房间常常是开门时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进门从不看压差表和飘带</a:t>
            </a:r>
          </a:p>
          <a:p>
            <a:pPr>
              <a:spcAft>
                <a:spcPts val="1000"/>
              </a:spcAft>
            </a:pPr>
            <a:r>
              <a:rPr sz="1500">
                <a:solidFill>
                  <a:srgbClr val="222B33"/>
                </a:solidFill>
                <a:latin typeface="Microsoft YaHei"/>
              </a:rPr>
              <a:t>▪ 看到飘带外飘仍然进门</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风不能从病原吹向人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风从病原吹向人，不行</a:t>
            </a:r>
          </a:p>
          <a:p>
            <a:pPr>
              <a:spcAft>
                <a:spcPts val="1000"/>
              </a:spcAft>
            </a:pPr>
            <a:r>
              <a:rPr sz="2000">
                <a:solidFill>
                  <a:srgbClr val="222B33"/>
                </a:solidFill>
                <a:latin typeface="Microsoft YaHei"/>
              </a:rPr>
              <a:t>▪ 风从人身后来，经过病原再过滤排出</a:t>
            </a:r>
          </a:p>
          <a:p>
            <a:pPr>
              <a:spcAft>
                <a:spcPts val="1000"/>
              </a:spcAft>
            </a:pPr>
            <a:r>
              <a:rPr sz="2000">
                <a:solidFill>
                  <a:srgbClr val="222B33"/>
                </a:solidFill>
                <a:latin typeface="Microsoft YaHei"/>
              </a:rPr>
              <a:t>▪ 地上洒了，从清洁一侧处理，不踩进去</a:t>
            </a:r>
          </a:p>
          <a:p>
            <a:pPr>
              <a:spcAft>
                <a:spcPts val="1000"/>
              </a:spcAft>
            </a:pPr>
            <a:r>
              <a:rPr sz="2000">
                <a:solidFill>
                  <a:srgbClr val="222B33"/>
                </a:solidFill>
                <a:latin typeface="Microsoft YaHei"/>
              </a:rPr>
              <a:t>▪ 排风口和柜前格栅，别堆东西遮挡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气流的方向还要考虑人的位置：风从病原吹向人是不允许的；正确的是风从人身后来，经过操作的病原材料，从另一头经过滤排出。地面发生溅洒时，从清洁的一侧（上风侧）处理，不要踩进溅洒区（溢洒处置见第 078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在排风口前堆放纸箱</a:t>
            </a:r>
          </a:p>
          <a:p>
            <a:pPr>
              <a:spcAft>
                <a:spcPts val="1000"/>
              </a:spcAft>
            </a:pPr>
            <a:r>
              <a:rPr sz="1500">
                <a:solidFill>
                  <a:srgbClr val="222B33"/>
                </a:solidFill>
                <a:latin typeface="Microsoft YaHei"/>
              </a:rPr>
              <a:t>▪ 把记录本压在安全柜前格栅上</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负压与压力梯度：越往里压力越低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封闭实验室气压比外面低，叫负压</a:t>
            </a:r>
          </a:p>
          <a:p>
            <a:pPr>
              <a:spcAft>
                <a:spcPts val="1000"/>
              </a:spcAft>
            </a:pPr>
            <a:r>
              <a:rPr sz="1700">
                <a:solidFill>
                  <a:srgbClr val="222B33"/>
                </a:solidFill>
                <a:latin typeface="Microsoft YaHei"/>
              </a:rPr>
              <a:t>▪ 负压让含病原的气溶胶跑不出去</a:t>
            </a:r>
          </a:p>
          <a:p>
            <a:pPr>
              <a:spcAft>
                <a:spcPts val="1000"/>
              </a:spcAft>
            </a:pPr>
            <a:r>
              <a:rPr sz="1700">
                <a:solidFill>
                  <a:srgbClr val="222B33"/>
                </a:solidFill>
                <a:latin typeface="Microsoft YaHei"/>
              </a:rPr>
              <a:t>▪ 从入口往里，压力一级比一级低</a:t>
            </a:r>
          </a:p>
          <a:p>
            <a:pPr>
              <a:spcAft>
                <a:spcPts val="1000"/>
              </a:spcAft>
            </a:pPr>
            <a:r>
              <a:rPr sz="1700">
                <a:solidFill>
                  <a:srgbClr val="222B33"/>
                </a:solidFill>
                <a:latin typeface="Microsoft YaHei"/>
              </a:rPr>
              <a:t>▪ 涉病原的操作都在负压间里做</a:t>
            </a:r>
          </a:p>
          <a:p>
            <a:pPr>
              <a:spcAft>
                <a:spcPts val="1000"/>
              </a:spcAft>
            </a:pPr>
            <a:r>
              <a:rPr sz="1700">
                <a:solidFill>
                  <a:srgbClr val="222B33"/>
                </a:solidFill>
                <a:latin typeface="Microsoft YaHei"/>
              </a:rPr>
              <a:t>▪ 具体数值以标准和本校说明为准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实验室里的气压比外面低，叫负压；负压保证空气只往里流，含病原的气溶胶跑不出去。从入口一路往里，各房间的压力一级比一级低（负压一级比一级大），形成压力梯度，病原被限制在最里面；涉及病原的操作都在最里面的负压间里进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把“越往里负压越大”理解成“越往里气压越高”</a:t>
            </a:r>
          </a:p>
          <a:p>
            <a:pPr>
              <a:spcAft>
                <a:spcPts val="1000"/>
              </a:spcAft>
            </a:pPr>
            <a:r>
              <a:rPr sz="1500">
                <a:solidFill>
                  <a:srgbClr val="222B33"/>
                </a:solidFill>
                <a:latin typeface="Microsoft YaHei"/>
              </a:rPr>
              <a:t>▪ 自行调节房间的压差或风量</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气锁与缓冲间：两道门不同时开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外界和防护区之间的一小段叫气锁或缓冲间</a:t>
            </a:r>
          </a:p>
          <a:p>
            <a:pPr>
              <a:spcAft>
                <a:spcPts val="1000"/>
              </a:spcAft>
            </a:pPr>
            <a:r>
              <a:rPr sz="1700">
                <a:solidFill>
                  <a:srgbClr val="222B33"/>
                </a:solidFill>
                <a:latin typeface="Microsoft YaHei"/>
              </a:rPr>
              <a:t>▪ 靠压力差把两边的空气隔开</a:t>
            </a:r>
          </a:p>
          <a:p>
            <a:pPr>
              <a:spcAft>
                <a:spcPts val="1000"/>
              </a:spcAft>
            </a:pPr>
            <a:r>
              <a:rPr sz="1700">
                <a:solidFill>
                  <a:srgbClr val="222B33"/>
                </a:solidFill>
                <a:latin typeface="Microsoft YaHei"/>
              </a:rPr>
              <a:t>▪ 像风幕的比喻，真正靠的是压力差</a:t>
            </a:r>
          </a:p>
          <a:p>
            <a:pPr>
              <a:spcAft>
                <a:spcPts val="1000"/>
              </a:spcAft>
            </a:pPr>
            <a:r>
              <a:rPr sz="1700">
                <a:solidFill>
                  <a:srgbClr val="222B33"/>
                </a:solidFill>
                <a:latin typeface="Microsoft YaHei"/>
              </a:rPr>
              <a:t>▪ 两道门不同时开，进出随手关</a:t>
            </a:r>
          </a:p>
          <a:p>
            <a:pPr>
              <a:spcAft>
                <a:spcPts val="1000"/>
              </a:spcAft>
            </a:pPr>
            <a:r>
              <a:rPr sz="1700">
                <a:solidFill>
                  <a:srgbClr val="222B33"/>
                </a:solidFill>
                <a:latin typeface="Microsoft YaHei"/>
              </a:rPr>
              <a:t>▪ 指示灯没变绿就等一等，门不能撑开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外部环境和防护区之间的一小段空间叫气锁（缓冲间）：一侧通向外部，一侧就是防护区。气锁靠压力差把两边的空气隔开：有的设施把缓冲间的压力设在两侧之间，让空气逐级向内流；有的把气锁设计成高于两侧的正压，两边的空气都进不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缓冲间两道门同时打开</a:t>
            </a:r>
          </a:p>
          <a:p>
            <a:pPr>
              <a:spcAft>
                <a:spcPts val="1000"/>
              </a:spcAft>
            </a:pPr>
            <a:r>
              <a:rPr sz="1500">
                <a:solidFill>
                  <a:srgbClr val="222B33"/>
                </a:solidFill>
                <a:latin typeface="Microsoft YaHei"/>
              </a:rPr>
              <a:t>▪ 门互锁未解除时强行拉门</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持续换气，把气溶胶带走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移液、离心等操作都会产生气溶胶</a:t>
            </a:r>
          </a:p>
          <a:p>
            <a:pPr>
              <a:spcAft>
                <a:spcPts val="1000"/>
              </a:spcAft>
            </a:pPr>
            <a:r>
              <a:rPr sz="2000">
                <a:solidFill>
                  <a:srgbClr val="222B33"/>
                </a:solidFill>
                <a:latin typeface="Microsoft YaHei"/>
              </a:rPr>
              <a:t>▪ 持续换气像漂洗衣服，把气溶胶带走</a:t>
            </a:r>
          </a:p>
          <a:p>
            <a:pPr>
              <a:spcAft>
                <a:spcPts val="1000"/>
              </a:spcAft>
            </a:pPr>
            <a:r>
              <a:rPr sz="2000">
                <a:solidFill>
                  <a:srgbClr val="222B33"/>
                </a:solidFill>
                <a:latin typeface="Microsoft YaHei"/>
              </a:rPr>
              <a:t>▪ 进风过滤进来，带走污染再过滤排出</a:t>
            </a:r>
          </a:p>
          <a:p>
            <a:pPr>
              <a:spcAft>
                <a:spcPts val="1000"/>
              </a:spcAft>
            </a:pPr>
            <a:r>
              <a:rPr sz="2000">
                <a:solidFill>
                  <a:srgbClr val="222B33"/>
                </a:solidFill>
                <a:latin typeface="Microsoft YaHei"/>
              </a:rPr>
              <a:t>▪ 这样外面的社区就安全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移液、离心、混匀等操作都会产生气溶胶。个人防护装备能护住人，但室内的气溶胶需要靠持续换气来稀释和带走，就像漂洗衣服一样，一遍遍把污染带走。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认为有换气就可以在开放台面产生大量气溶胶</a:t>
            </a:r>
          </a:p>
          <a:p>
            <a:pPr>
              <a:spcAft>
                <a:spcPts val="1000"/>
              </a:spcAft>
            </a:pPr>
            <a:r>
              <a:rPr sz="1500">
                <a:solidFill>
                  <a:srgbClr val="222B33"/>
                </a:solidFill>
                <a:latin typeface="Microsoft YaHei"/>
              </a:rPr>
              <a:t>▪ 为了“安静”“保暖”私自关闭或调小通风</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高效过滤：截住病原再排出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排出去的空气必须先过高效过滤器</a:t>
            </a:r>
          </a:p>
          <a:p>
            <a:pPr>
              <a:spcAft>
                <a:spcPts val="1000"/>
              </a:spcAft>
            </a:pPr>
            <a:r>
              <a:rPr sz="1700">
                <a:solidFill>
                  <a:srgbClr val="222B33"/>
                </a:solidFill>
                <a:latin typeface="Microsoft YaHei"/>
              </a:rPr>
              <a:t>▪ 层层纤维截住颗粒和病原，小颗粒也能抓住</a:t>
            </a:r>
          </a:p>
          <a:p>
            <a:pPr>
              <a:spcAft>
                <a:spcPts val="1000"/>
              </a:spcAft>
            </a:pPr>
            <a:r>
              <a:rPr sz="1700">
                <a:solidFill>
                  <a:srgbClr val="222B33"/>
                </a:solidFill>
                <a:latin typeface="Microsoft YaHei"/>
              </a:rPr>
              <a:t>▪ 气流导向顶部过滤口排出，属于工程控制</a:t>
            </a:r>
          </a:p>
          <a:p>
            <a:pPr>
              <a:spcAft>
                <a:spcPts val="1000"/>
              </a:spcAft>
            </a:pPr>
            <a:r>
              <a:rPr sz="1700">
                <a:solidFill>
                  <a:srgbClr val="222B33"/>
                </a:solidFill>
                <a:latin typeface="Microsoft YaHei"/>
              </a:rPr>
              <a:t>▪ 过滤器靠密封装好，不能漏风</a:t>
            </a:r>
          </a:p>
          <a:p>
            <a:pPr>
              <a:spcAft>
                <a:spcPts val="1000"/>
              </a:spcAft>
            </a:pPr>
            <a:r>
              <a:rPr sz="1700">
                <a:solidFill>
                  <a:srgbClr val="222B33"/>
                </a:solidFill>
                <a:latin typeface="Microsoft YaHei"/>
              </a:rPr>
              <a:t>▪ 专人袋进袋出更换，去污废弃，按期检测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实验室要排出去的空气，必须先经过高效空气过滤器（HEPA）。过滤器里是层层纤维，颗粒和病原被纤维截住；更小的颗粒做无规则运动，也会撞上纤维被抓住，只有干净的空气才能出去。很多设施把房间气流引向天花板或高处的过滤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认为过滤器“装上就永远有效”</a:t>
            </a:r>
          </a:p>
          <a:p>
            <a:pPr>
              <a:spcAft>
                <a:spcPts val="1000"/>
              </a:spcAft>
            </a:pPr>
            <a:r>
              <a:rPr sz="1500">
                <a:solidFill>
                  <a:srgbClr val="222B33"/>
                </a:solidFill>
                <a:latin typeface="Microsoft YaHei"/>
              </a:rPr>
              <a:t>▪ 非专业人员自行拆卸过滤器</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屏障有局限，总有剩余风险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高效过滤很高效，但不是百分百</a:t>
            </a:r>
          </a:p>
          <a:p>
            <a:pPr>
              <a:spcAft>
                <a:spcPts val="1000"/>
              </a:spcAft>
            </a:pPr>
            <a:r>
              <a:rPr sz="1700">
                <a:solidFill>
                  <a:srgbClr val="222B33"/>
                </a:solidFill>
                <a:latin typeface="Microsoft YaHei"/>
              </a:rPr>
              <a:t>▪ 要定期检测，确认没有泄漏</a:t>
            </a:r>
          </a:p>
          <a:p>
            <a:pPr>
              <a:spcAft>
                <a:spcPts val="1000"/>
              </a:spcAft>
            </a:pPr>
            <a:r>
              <a:rPr sz="1700">
                <a:solidFill>
                  <a:srgbClr val="222B33"/>
                </a:solidFill>
                <a:latin typeface="Microsoft YaHei"/>
              </a:rPr>
              <a:t>▪ 源头少产气溶胶，安全柜在前，房间兜底</a:t>
            </a:r>
          </a:p>
          <a:p>
            <a:pPr>
              <a:spcAft>
                <a:spcPts val="1000"/>
              </a:spcAft>
            </a:pPr>
            <a:r>
              <a:rPr sz="1700">
                <a:solidFill>
                  <a:srgbClr val="222B33"/>
                </a:solidFill>
                <a:latin typeface="Microsoft YaHei"/>
              </a:rPr>
              <a:t>▪ 屏障再多，也总有剩余风险</a:t>
            </a:r>
          </a:p>
          <a:p>
            <a:pPr>
              <a:spcAft>
                <a:spcPts val="1000"/>
              </a:spcAft>
            </a:pPr>
            <a:r>
              <a:rPr sz="1700">
                <a:solidFill>
                  <a:srgbClr val="222B33"/>
                </a:solidFill>
                <a:latin typeface="Microsoft YaHei"/>
              </a:rPr>
              <a:t>▪ 设施、气流、柜子、灭菌器要一起用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每一道防护屏障都有局限，不能全靠它。高效过滤器效率很高，但不是百分之百，安装或老化可能造成泄漏，所以要定期检测；更重要的是从源头少产生气溶胶——安全柜在前面拦截，房间气流作为兜底。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认为有高效过滤就可以随意产生气溶胶</a:t>
            </a:r>
          </a:p>
          <a:p>
            <a:pPr>
              <a:spcAft>
                <a:spcPts val="1000"/>
              </a:spcAft>
            </a:pPr>
            <a:r>
              <a:rPr sz="1500">
                <a:solidFill>
                  <a:srgbClr val="222B33"/>
                </a:solidFill>
                <a:latin typeface="Microsoft YaHei"/>
              </a:rPr>
              <a:t>▪ 认为措施足够多就“零风险”</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飘带外飘：不进入，关门挂牌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飘带外飘：空气正往外流，屏障失效</a:t>
            </a:r>
          </a:p>
          <a:p>
            <a:pPr>
              <a:spcAft>
                <a:spcPts val="1000"/>
              </a:spcAft>
            </a:pPr>
            <a:r>
              <a:rPr sz="2000">
                <a:solidFill>
                  <a:srgbClr val="222B33"/>
                </a:solidFill>
                <a:latin typeface="Microsoft YaHei"/>
              </a:rPr>
              <a:t>▪ 不进入，不开展任何实验，关好门</a:t>
            </a:r>
          </a:p>
          <a:p>
            <a:pPr>
              <a:spcAft>
                <a:spcPts val="1000"/>
              </a:spcAft>
            </a:pPr>
            <a:r>
              <a:rPr sz="2000">
                <a:solidFill>
                  <a:srgbClr val="222B33"/>
                </a:solidFill>
                <a:latin typeface="Microsoft YaHei"/>
              </a:rPr>
              <a:t>▪ 门口挂牌，提醒别人也别进</a:t>
            </a:r>
          </a:p>
          <a:p>
            <a:pPr>
              <a:spcAft>
                <a:spcPts val="1000"/>
              </a:spcAft>
            </a:pPr>
            <a:r>
              <a:rPr sz="2000">
                <a:solidFill>
                  <a:srgbClr val="222B33"/>
                </a:solidFill>
                <a:latin typeface="Microsoft YaHei"/>
              </a:rPr>
              <a:t>▪ 已在里面，收好材料，撤出关门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正常情况下，气流应该流进实验室。如果一开门，门口的飘带却朝走廊外面飘，说明空气正从实验室往外流，定向气流这道屏障失效了。这时不能“先进去干活再说”。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看到飘带外飘，觉得“一会儿就好”，照常进门</a:t>
            </a:r>
          </a:p>
          <a:p>
            <a:pPr>
              <a:spcAft>
                <a:spcPts val="1000"/>
              </a:spcAft>
            </a:pPr>
            <a:r>
              <a:rPr sz="1500">
                <a:solidFill>
                  <a:srgbClr val="222B33"/>
                </a:solidFill>
                <a:latin typeface="Microsoft YaHei"/>
              </a:rPr>
              <a:t>▪ 发现异常不挂牌，其他人不知情进入</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报告，修好验证再恢复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马上报告实验室负责人，通知设施人员</a:t>
            </a:r>
          </a:p>
          <a:p>
            <a:pPr>
              <a:spcAft>
                <a:spcPts val="1000"/>
              </a:spcAft>
            </a:pPr>
            <a:r>
              <a:rPr sz="2000">
                <a:solidFill>
                  <a:srgbClr val="222B33"/>
                </a:solidFill>
                <a:latin typeface="Microsoft YaHei"/>
              </a:rPr>
              <a:t>▪ 说清发现的时间、现象和位置</a:t>
            </a:r>
          </a:p>
          <a:p>
            <a:pPr>
              <a:spcAft>
                <a:spcPts val="1000"/>
              </a:spcAft>
            </a:pPr>
            <a:r>
              <a:rPr sz="2000">
                <a:solidFill>
                  <a:srgbClr val="222B33"/>
                </a:solidFill>
                <a:latin typeface="Microsoft YaHei"/>
              </a:rPr>
              <a:t>▪ 修好后先确认气流恢复向内</a:t>
            </a:r>
          </a:p>
          <a:p>
            <a:pPr>
              <a:spcAft>
                <a:spcPts val="1000"/>
              </a:spcAft>
            </a:pPr>
            <a:r>
              <a:rPr sz="2000">
                <a:solidFill>
                  <a:srgbClr val="222B33"/>
                </a:solidFill>
                <a:latin typeface="Microsoft YaHei"/>
              </a:rPr>
              <a:t>▪ 负责人确认后才恢复实验；以后进门先看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发现气流异常后，马上报告实验室负责人，并通知设施人员检查通风系统；报告时说清发现的时间、现象（飘带方向、压差读数或报警）和位置。按本校规定，必要时报告学院和学校实验室管理部门。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自己“拍一拍”通风设备觉得好了就开始实验</a:t>
            </a:r>
          </a:p>
          <a:p>
            <a:pPr>
              <a:spcAft>
                <a:spcPts val="1000"/>
              </a:spcAft>
            </a:pPr>
            <a:r>
              <a:rPr sz="1500">
                <a:solidFill>
                  <a:srgbClr val="222B33"/>
                </a:solidFill>
                <a:latin typeface="Microsoft YaHei"/>
              </a:rPr>
              <a:t>▪ 只告诉同学，不报告负责人</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工作中通风报警或停电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做实验时报警或停电，先停手</a:t>
            </a:r>
          </a:p>
          <a:p>
            <a:pPr>
              <a:spcAft>
                <a:spcPts val="1000"/>
              </a:spcAft>
            </a:pPr>
            <a:r>
              <a:rPr sz="2000">
                <a:solidFill>
                  <a:srgbClr val="222B33"/>
                </a:solidFill>
                <a:latin typeface="Microsoft YaHei"/>
              </a:rPr>
              <a:t>▪ 把容器盖好封好</a:t>
            </a:r>
          </a:p>
          <a:p>
            <a:pPr>
              <a:spcAft>
                <a:spcPts val="1000"/>
              </a:spcAft>
            </a:pPr>
            <a:r>
              <a:rPr sz="2000">
                <a:solidFill>
                  <a:srgbClr val="222B33"/>
                </a:solidFill>
                <a:latin typeface="Microsoft YaHei"/>
              </a:rPr>
              <a:t>▪ 按程序脱防护，撤出实验室</a:t>
            </a:r>
          </a:p>
          <a:p>
            <a:pPr>
              <a:spcAft>
                <a:spcPts val="1000"/>
              </a:spcAft>
            </a:pPr>
            <a:r>
              <a:rPr sz="2000">
                <a:solidFill>
                  <a:srgbClr val="222B33"/>
                </a:solidFill>
                <a:latin typeface="Microsoft YaHei"/>
              </a:rPr>
              <a:t>▪ 按预案报告负责人，恢复后再进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正在做实验时，如果通风系统报警、压差异常或停电，先停下操作，把容器盖好、样本封好，安全柜内的材料按规定收好；然后按程序脱卸个人防护装备，撤出实验室，关好门。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停电时继续在安全柜内操作</a:t>
            </a:r>
          </a:p>
          <a:p>
            <a:pPr>
              <a:spcAft>
                <a:spcPts val="1000"/>
              </a:spcAft>
            </a:pPr>
            <a:r>
              <a:rPr sz="1500">
                <a:solidFill>
                  <a:srgbClr val="222B33"/>
                </a:solidFill>
                <a:latin typeface="Microsoft YaHei"/>
              </a:rPr>
              <a:t>▪ 慌忙撤出，不脱防护直接离开</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关于一级防护和二级防护，正确的是：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一级防护保护环境，二级防护保护人</a:t>
            </a:r>
          </a:p>
          <a:p>
            <a:pPr algn="l"/>
            <a:r>
              <a:rPr sz="1500" b="0">
                <a:solidFill>
                  <a:srgbClr val="222B33"/>
                </a:solidFill>
                <a:latin typeface="Microsoft YaHei"/>
              </a:rPr>
              <a:t>B. 一级防护靠安全柜和个人防护保护人，二级防护靠设施和规程保护环境</a:t>
            </a:r>
          </a:p>
          <a:p>
            <a:pPr algn="l"/>
            <a:r>
              <a:rPr sz="1500" b="0">
                <a:solidFill>
                  <a:srgbClr val="222B33"/>
                </a:solidFill>
                <a:latin typeface="Microsoft YaHei"/>
              </a:rPr>
              <a:t>C. 有了二级防护就不需要一级防护</a:t>
            </a:r>
          </a:p>
          <a:p>
            <a:pPr algn="l"/>
            <a:r>
              <a:rPr sz="1500" b="0">
                <a:solidFill>
                  <a:srgbClr val="222B33"/>
                </a:solidFill>
                <a:latin typeface="Microsoft YaHei"/>
              </a:rPr>
              <a:t>D. 两者只在四级实验室才有</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判断：封闭实验室的定向气流应从清洁区流向污染区，越往里压力越低。</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有缓冲间的实验室，正确的做法是：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两道门同时打开方便搬东西</a:t>
            </a:r>
          </a:p>
          <a:p>
            <a:pPr algn="l"/>
            <a:r>
              <a:rPr sz="1500" b="0">
                <a:solidFill>
                  <a:srgbClr val="222B33"/>
                </a:solidFill>
                <a:latin typeface="Microsoft YaHei"/>
              </a:rPr>
              <a:t>B. 用箱子把门撑开</a:t>
            </a:r>
          </a:p>
          <a:p>
            <a:pPr algn="l"/>
            <a:r>
              <a:rPr sz="1500" b="0">
                <a:solidFill>
                  <a:srgbClr val="222B33"/>
                </a:solidFill>
                <a:latin typeface="Microsoft YaHei"/>
              </a:rPr>
              <a:t>C. 两道门不同时开，指示灯没变绿就等一等</a:t>
            </a:r>
          </a:p>
          <a:p>
            <a:pPr algn="l"/>
            <a:r>
              <a:rPr sz="1500" b="0">
                <a:solidFill>
                  <a:srgbClr val="222B33"/>
                </a:solidFill>
                <a:latin typeface="Microsoft YaHei"/>
              </a:rPr>
              <a:t>D. 互锁没解除就用力拉门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判断：高效过滤器能截住全部病原，装上后不需要检测和更换。</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清晨开门，阿杰发现门口飘带朝走廊外飘，应该：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先进去干活</a:t>
            </a:r>
          </a:p>
          <a:p>
            <a:pPr algn="l"/>
            <a:r>
              <a:rPr sz="1500" b="0">
                <a:solidFill>
                  <a:srgbClr val="222B33"/>
                </a:solidFill>
                <a:latin typeface="Microsoft YaHei"/>
              </a:rPr>
              <a:t>B. 不进入、关门挂牌，报告负责人和设施人员，修好验证后再恢复</a:t>
            </a:r>
          </a:p>
          <a:p>
            <a:pPr algn="l"/>
            <a:r>
              <a:rPr sz="1500" b="0">
                <a:solidFill>
                  <a:srgbClr val="222B33"/>
                </a:solidFill>
                <a:latin typeface="Microsoft YaHei"/>
              </a:rPr>
              <a:t>C. 开窗通风</a:t>
            </a:r>
          </a:p>
          <a:p>
            <a:pPr algn="l"/>
            <a:r>
              <a:rPr sz="1500" b="0">
                <a:solidFill>
                  <a:srgbClr val="222B33"/>
                </a:solidFill>
                <a:latin typeface="Microsoft YaHei"/>
              </a:rPr>
              <a:t>D. 自己调大排风</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简答：做实验时通风系统报警或停电，应该怎么做？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什么是封闭：把病原关在受控空间</a:t>
            </a:r>
          </a:p>
          <a:p>
            <a:pPr>
              <a:spcAft>
                <a:spcPts val="800"/>
              </a:spcAft>
            </a:pPr>
            <a:r>
              <a:rPr sz="1500">
                <a:solidFill>
                  <a:srgbClr val="FFFFFF"/>
                </a:solidFill>
                <a:latin typeface="Microsoft YaHei"/>
              </a:rPr>
              <a:t>▪ K2  一级防护：护住做实验的人</a:t>
            </a:r>
          </a:p>
          <a:p>
            <a:pPr>
              <a:spcAft>
                <a:spcPts val="800"/>
              </a:spcAft>
            </a:pPr>
            <a:r>
              <a:rPr sz="1500">
                <a:solidFill>
                  <a:srgbClr val="FFFFFF"/>
                </a:solidFill>
                <a:latin typeface="Microsoft YaHei"/>
              </a:rPr>
              <a:t>▪ K3  二级防护：护住外面的环境</a:t>
            </a:r>
          </a:p>
          <a:p>
            <a:pPr>
              <a:spcAft>
                <a:spcPts val="800"/>
              </a:spcAft>
            </a:pPr>
            <a:r>
              <a:rPr sz="1500">
                <a:solidFill>
                  <a:srgbClr val="FFFFFF"/>
                </a:solidFill>
                <a:latin typeface="Microsoft YaHei"/>
              </a:rPr>
              <a:t>▪ K4  两道屏障一起守</a:t>
            </a:r>
          </a:p>
          <a:p>
            <a:pPr>
              <a:spcAft>
                <a:spcPts val="800"/>
              </a:spcAft>
            </a:pPr>
            <a:r>
              <a:rPr sz="1500">
                <a:solidFill>
                  <a:srgbClr val="FFFFFF"/>
                </a:solidFill>
                <a:latin typeface="Microsoft YaHei"/>
              </a:rPr>
              <a:t>▪ K5  定向气流：从清洁区流向污染区</a:t>
            </a:r>
          </a:p>
          <a:p>
            <a:pPr>
              <a:spcAft>
                <a:spcPts val="800"/>
              </a:spcAft>
            </a:pPr>
            <a:r>
              <a:rPr sz="1500">
                <a:solidFill>
                  <a:srgbClr val="FFFFFF"/>
                </a:solidFill>
                <a:latin typeface="Microsoft YaHei"/>
              </a:rPr>
              <a:t>▪ K6  风不能从病原吹向人</a:t>
            </a:r>
          </a:p>
          <a:p>
            <a:pPr>
              <a:spcAft>
                <a:spcPts val="800"/>
              </a:spcAft>
            </a:pPr>
            <a:r>
              <a:rPr sz="1500">
                <a:solidFill>
                  <a:srgbClr val="FFFFFF"/>
                </a:solidFill>
                <a:latin typeface="Microsoft YaHei"/>
              </a:rPr>
              <a:t>▪ K7  负压与压力梯度：越往里压力越低</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气锁与缓冲间：两道门不同时开</a:t>
            </a:r>
          </a:p>
          <a:p>
            <a:pPr>
              <a:spcAft>
                <a:spcPts val="800"/>
              </a:spcAft>
            </a:pPr>
            <a:r>
              <a:rPr sz="1500">
                <a:solidFill>
                  <a:srgbClr val="FFFFFF"/>
                </a:solidFill>
                <a:latin typeface="Microsoft YaHei"/>
              </a:rPr>
              <a:t>▪ K9  持续换气，把气溶胶带走</a:t>
            </a:r>
          </a:p>
          <a:p>
            <a:pPr>
              <a:spcAft>
                <a:spcPts val="800"/>
              </a:spcAft>
            </a:pPr>
            <a:r>
              <a:rPr sz="1500">
                <a:solidFill>
                  <a:srgbClr val="FFFFFF"/>
                </a:solidFill>
                <a:latin typeface="Microsoft YaHei"/>
              </a:rPr>
              <a:t>▪ K10  高效过滤：截住病原再排出</a:t>
            </a:r>
          </a:p>
          <a:p>
            <a:pPr>
              <a:spcAft>
                <a:spcPts val="800"/>
              </a:spcAft>
            </a:pPr>
            <a:r>
              <a:rPr sz="1500">
                <a:solidFill>
                  <a:srgbClr val="FFFFFF"/>
                </a:solidFill>
                <a:latin typeface="Microsoft YaHei"/>
              </a:rPr>
              <a:t>▪ K11  屏障有局限，总有剩余风险</a:t>
            </a:r>
          </a:p>
          <a:p>
            <a:pPr>
              <a:spcAft>
                <a:spcPts val="800"/>
              </a:spcAft>
            </a:pPr>
            <a:r>
              <a:rPr sz="1500">
                <a:solidFill>
                  <a:srgbClr val="FFFFFF"/>
                </a:solidFill>
                <a:latin typeface="Microsoft YaHei"/>
              </a:rPr>
              <a:t>▪ K12  飘带外飘：不进入，关门挂牌</a:t>
            </a:r>
          </a:p>
          <a:p>
            <a:pPr>
              <a:spcAft>
                <a:spcPts val="800"/>
              </a:spcAft>
            </a:pPr>
            <a:r>
              <a:rPr sz="1500">
                <a:solidFill>
                  <a:srgbClr val="FFFFFF"/>
                </a:solidFill>
                <a:latin typeface="Microsoft YaHei"/>
              </a:rPr>
              <a:t>▪ K13  报告，修好验证再恢复</a:t>
            </a:r>
          </a:p>
          <a:p>
            <a:pPr>
              <a:spcAft>
                <a:spcPts val="800"/>
              </a:spcAft>
            </a:pPr>
            <a:r>
              <a:rPr sz="1500">
                <a:solidFill>
                  <a:srgbClr val="FFFFFF"/>
                </a:solidFill>
                <a:latin typeface="Microsoft YaHei"/>
              </a:rPr>
              <a:t>▪ K14  工作中通风报警或停电</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三级生物安全实验室的布局与进出</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适用对象：进入生命科学、医学、农学、环境等涉及生物材料实验室的高校本科生、研究生和教职工（必修）；拟进入三级实验室工作的人员、实验室负责人和生物安全员重点学习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能说出三级生物安全实验室的用途和功能分区（辅助工作区与防护区、清洁区与污染区），知道国内病原分类与国际风险组方向相反、实验室级别国内外同向。</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能做到进门前看懂门口标识和压差面板，异常不进、及时报告；一人一卡、不尾随，非授权不进入。</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能说出单向进出路线（更衣—气锁—实验室；脱防护—淋浴—换回便服）和人流物流分开（传递窗、穿墙灭菌器）的规矩。</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能说出三级、四级设施的主要要素，以及监控、门禁和安保的作用，布局和门禁信息不外传。</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《中华人民共和国生物安全法》（以现行文本为准）：高等级病原微生物实验室的设立、安全保卫和管理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《病原微生物实验室生物安全管理条例》（以现行文本为准）：三级、四级实验室须通过国家认可，高致病性病原微生物实验活动须经批准，实验室安保要求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生物安全通用要求》：三级、四级实验室的平面布局（辅助工作区、防护区）、缓冲间、压力梯度、人员和物品进出、标识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50346（以现行文本为准）《生物安全实验室建筑技术规范》：生物安全实验室的平面布局、围护结构、通风空调和配套设施</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233（以现行文本为准）《病原微生物实验室生物安全通用准则》：病原微生物实验室的设施和进出要求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2894-2025（以现行文本为准）《安全色和安全标志》：禁止标志和警告标志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本校三级实验室管理制度与设施说明：准入授权、进出程序、压差范围和应急预案，以本校规定为准</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三级实验室做什么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三级实验室用来关住高风险病原</a:t>
            </a:r>
          </a:p>
          <a:p>
            <a:pPr>
              <a:spcAft>
                <a:spcPts val="1000"/>
              </a:spcAft>
            </a:pPr>
            <a:r>
              <a:rPr sz="1700">
                <a:solidFill>
                  <a:srgbClr val="222B33"/>
                </a:solidFill>
                <a:latin typeface="Microsoft YaHei"/>
              </a:rPr>
              <a:t>▪ 国际风险组4组最高，国内第一类最高</a:t>
            </a:r>
          </a:p>
          <a:p>
            <a:pPr>
              <a:spcAft>
                <a:spcPts val="1000"/>
              </a:spcAft>
            </a:pPr>
            <a:r>
              <a:rPr sz="1700">
                <a:solidFill>
                  <a:srgbClr val="222B33"/>
                </a:solidFill>
                <a:latin typeface="Microsoft YaHei"/>
              </a:rPr>
              <a:t>▪ 实验室级别国内外同向，四级最高</a:t>
            </a:r>
          </a:p>
          <a:p>
            <a:pPr>
              <a:spcAft>
                <a:spcPts val="1000"/>
              </a:spcAft>
            </a:pPr>
            <a:r>
              <a:rPr sz="1700">
                <a:solidFill>
                  <a:srgbClr val="222B33"/>
                </a:solidFill>
                <a:latin typeface="Microsoft YaHei"/>
              </a:rPr>
              <a:t>▪ 涉病原工作只在最里间，各自关住</a:t>
            </a:r>
          </a:p>
          <a:p>
            <a:pPr>
              <a:spcAft>
                <a:spcPts val="1000"/>
              </a:spcAft>
            </a:pPr>
            <a:r>
              <a:rPr sz="1700">
                <a:solidFill>
                  <a:srgbClr val="222B33"/>
                </a:solidFill>
                <a:latin typeface="Microsoft YaHei"/>
              </a:rPr>
              <a:t>▪ 须国家认可，学生须专门授权才可进入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三级生物安全实验室（BSL-3）用来关住病原，开展较高风险病原的诊断和实验。要注意两套编号的方向：病原分类国际风险组 4 组最高，国内第一类最危险，方向相反（见第 058 课）；实验室级别则国内外同向，一级最低、四级……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认为“三级”对应国内“第三类”病原</a:t>
            </a:r>
          </a:p>
          <a:p>
            <a:pPr>
              <a:spcAft>
                <a:spcPts val="1000"/>
              </a:spcAft>
            </a:pPr>
            <a:r>
              <a:rPr sz="1500">
                <a:solidFill>
                  <a:srgbClr val="222B33"/>
                </a:solidFill>
                <a:latin typeface="Microsoft YaHei"/>
              </a:rPr>
              <a:t>▪ 认为参观者可以随意进入三级实验室</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功能分区：清洁区与污染区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平面上清洁区和污染区分开</a:t>
            </a:r>
          </a:p>
          <a:p>
            <a:pPr>
              <a:spcAft>
                <a:spcPts val="1000"/>
              </a:spcAft>
            </a:pPr>
            <a:r>
              <a:rPr sz="1700">
                <a:solidFill>
                  <a:srgbClr val="222B33"/>
                </a:solidFill>
                <a:latin typeface="Microsoft YaHei"/>
              </a:rPr>
              <a:t>▪ 交界处是更衣、淋浴和灭菌设施</a:t>
            </a:r>
          </a:p>
          <a:p>
            <a:pPr>
              <a:spcAft>
                <a:spcPts val="1000"/>
              </a:spcAft>
            </a:pPr>
            <a:r>
              <a:rPr sz="1700">
                <a:solidFill>
                  <a:srgbClr val="222B33"/>
                </a:solidFill>
                <a:latin typeface="Microsoft YaHei"/>
              </a:rPr>
              <a:t>▪ 外面是辅助工作区，里面是防护区</a:t>
            </a:r>
          </a:p>
          <a:p>
            <a:pPr>
              <a:spcAft>
                <a:spcPts val="1000"/>
              </a:spcAft>
            </a:pPr>
            <a:r>
              <a:rPr sz="1700">
                <a:solidFill>
                  <a:srgbClr val="222B33"/>
                </a:solidFill>
                <a:latin typeface="Microsoft YaHei"/>
              </a:rPr>
              <a:t>▪ 防护区包括缓冲间和核心工作间</a:t>
            </a:r>
          </a:p>
          <a:p>
            <a:pPr>
              <a:spcAft>
                <a:spcPts val="1000"/>
              </a:spcAft>
            </a:pPr>
            <a:r>
              <a:rPr sz="1700">
                <a:solidFill>
                  <a:srgbClr val="222B33"/>
                </a:solidFill>
                <a:latin typeface="Microsoft YaHei"/>
              </a:rPr>
              <a:t>▪ 人和气流都从洁到污，不逆行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三级实验室的平面按功能分区：外面是辅助工作区，放控制室、清洁更衣、办公等功能；里面是防护区，包括缓冲间和核心工作间（具体分区以 GB 19489-2008、GB 50346 和本设施设计为准）。平面图上常用颜色区分清……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把污染区的物品拿到清洁区放置</a:t>
            </a:r>
          </a:p>
          <a:p>
            <a:pPr>
              <a:spcAft>
                <a:spcPts val="1000"/>
              </a:spcAft>
            </a:pPr>
            <a:r>
              <a:rPr sz="1500">
                <a:solidFill>
                  <a:srgbClr val="222B33"/>
                </a:solidFill>
                <a:latin typeface="Microsoft YaHei"/>
              </a:rPr>
              <a:t>▪ 在清洁区和污染区之间来回走</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门口标识：非授权禁入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门口有生物危害警告和禁止擅入标识</a:t>
            </a:r>
          </a:p>
          <a:p>
            <a:pPr>
              <a:spcAft>
                <a:spcPts val="1000"/>
              </a:spcAft>
            </a:pPr>
            <a:r>
              <a:rPr sz="2000">
                <a:solidFill>
                  <a:srgbClr val="222B33"/>
                </a:solidFill>
                <a:latin typeface="Microsoft YaHei"/>
              </a:rPr>
              <a:t>▪ 没有授权，谁都不能进</a:t>
            </a:r>
          </a:p>
          <a:p>
            <a:pPr>
              <a:spcAft>
                <a:spcPts val="1000"/>
              </a:spcAft>
            </a:pPr>
            <a:r>
              <a:rPr sz="2000">
                <a:solidFill>
                  <a:srgbClr val="222B33"/>
                </a:solidFill>
                <a:latin typeface="Microsoft YaHei"/>
              </a:rPr>
              <a:t>▪ 信息牌写明级别、负责人和联系电话</a:t>
            </a:r>
          </a:p>
          <a:p>
            <a:pPr>
              <a:spcAft>
                <a:spcPts val="1000"/>
              </a:spcAft>
            </a:pPr>
            <a:r>
              <a:rPr sz="2000">
                <a:solidFill>
                  <a:srgbClr val="222B33"/>
                </a:solidFill>
                <a:latin typeface="Microsoft YaHei"/>
              </a:rPr>
              <a:t>▪ 参观只在外区，不进防护区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防护区门口张贴生物危害警告标志和“非授权人员禁止入内”等禁止标志（安全标志式样按 GB 2894-2025，以现行文本为准），并设信息牌，写明防护级别、负责人和联系电话等。没有授权，任何人都不能进入。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看到门开着就进去“看一眼”</a:t>
            </a:r>
          </a:p>
          <a:p>
            <a:pPr>
              <a:spcAft>
                <a:spcPts val="1000"/>
              </a:spcAft>
            </a:pPr>
            <a:r>
              <a:rPr sz="1500">
                <a:solidFill>
                  <a:srgbClr val="222B33"/>
                </a:solidFill>
                <a:latin typeface="Microsoft YaHei"/>
              </a:rPr>
              <a:t>▪ 把禁入标识当作提示，不当作禁令</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进门先看压差面板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进门第一件事，看压力面板</a:t>
            </a:r>
          </a:p>
          <a:p>
            <a:pPr>
              <a:spcAft>
                <a:spcPts val="1000"/>
              </a:spcAft>
            </a:pPr>
            <a:r>
              <a:rPr sz="2000">
                <a:solidFill>
                  <a:srgbClr val="222B33"/>
                </a:solidFill>
                <a:latin typeface="Microsoft YaHei"/>
              </a:rPr>
              <a:t>▪ 绿灯正常，红灯报警就别进</a:t>
            </a:r>
          </a:p>
          <a:p>
            <a:pPr>
              <a:spcAft>
                <a:spcPts val="1000"/>
              </a:spcAft>
            </a:pPr>
            <a:r>
              <a:rPr sz="2000">
                <a:solidFill>
                  <a:srgbClr val="222B33"/>
                </a:solidFill>
                <a:latin typeface="Microsoft YaHei"/>
              </a:rPr>
              <a:t>▪ 读数异常，马上报告负责人和设施人员</a:t>
            </a:r>
          </a:p>
          <a:p>
            <a:pPr>
              <a:spcAft>
                <a:spcPts val="1000"/>
              </a:spcAft>
            </a:pPr>
            <a:r>
              <a:rPr sz="2000">
                <a:solidFill>
                  <a:srgbClr val="222B33"/>
                </a:solidFill>
                <a:latin typeface="Microsoft YaHei"/>
              </a:rPr>
              <a:t>▪ 正常范围以本校设施说明为准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进入负压实验室前，第一件事是看门口的压差显示面板和报警灯：显示正常（如绿灯）才可以按程序进入；读数异常或报警亮起（如红灯），不要进去，马上报告实验室负责人和设施人员。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报警灯亮着仍然进门</a:t>
            </a:r>
          </a:p>
          <a:p>
            <a:pPr>
              <a:spcAft>
                <a:spcPts val="1000"/>
              </a:spcAft>
            </a:pPr>
            <a:r>
              <a:rPr sz="1500">
                <a:solidFill>
                  <a:srgbClr val="222B33"/>
                </a:solidFill>
                <a:latin typeface="Microsoft YaHei"/>
              </a:rPr>
              <a:t>▪ 自己调节压差或关闭报警</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门禁与前室：一道门一道关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授权人员刷卡进门，一人一卡，不尾随</a:t>
            </a:r>
          </a:p>
          <a:p>
            <a:pPr>
              <a:spcAft>
                <a:spcPts val="1000"/>
              </a:spcAft>
            </a:pPr>
            <a:r>
              <a:rPr sz="1700">
                <a:solidFill>
                  <a:srgbClr val="222B33"/>
                </a:solidFill>
                <a:latin typeface="Microsoft YaHei"/>
              </a:rPr>
              <a:t>▪ 先过前室，像气闸，压力平衡了再进</a:t>
            </a:r>
          </a:p>
          <a:p>
            <a:pPr>
              <a:spcAft>
                <a:spcPts val="1000"/>
              </a:spcAft>
            </a:pPr>
            <a:r>
              <a:rPr sz="1700">
                <a:solidFill>
                  <a:srgbClr val="222B33"/>
                </a:solidFill>
                <a:latin typeface="Microsoft YaHei"/>
              </a:rPr>
              <a:t>▪ 前室压力把里外空气隔开，设计以本设施为准</a:t>
            </a:r>
          </a:p>
          <a:p>
            <a:pPr>
              <a:spcAft>
                <a:spcPts val="1000"/>
              </a:spcAft>
            </a:pPr>
            <a:r>
              <a:rPr sz="1700">
                <a:solidFill>
                  <a:srgbClr val="222B33"/>
                </a:solidFill>
                <a:latin typeface="Microsoft YaHei"/>
              </a:rPr>
              <a:t>▪ 再往里是负压区，还有第二道门禁</a:t>
            </a:r>
          </a:p>
          <a:p>
            <a:pPr>
              <a:spcAft>
                <a:spcPts val="1000"/>
              </a:spcAft>
            </a:pPr>
            <a:r>
              <a:rPr sz="1700">
                <a:solidFill>
                  <a:srgbClr val="222B33"/>
                </a:solidFill>
                <a:latin typeface="Microsoft YaHei"/>
              </a:rPr>
              <a:t>▪ 每过一道门，压力再降一级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门禁更严格：授权人员刷卡（或指纹等）进入第一区，一人一卡，不尾随他人进入，也不把卡借给别人。进门先过前室（缓冲间），它像一个气闸，门关好、压力平衡后再打开里面的门。前室用压力把里外空气隔开：有的设施前室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跟在别人身后“蹭门禁”进入</a:t>
            </a:r>
          </a:p>
          <a:p>
            <a:pPr>
              <a:spcAft>
                <a:spcPts val="1000"/>
              </a:spcAft>
            </a:pPr>
            <a:r>
              <a:rPr sz="1500">
                <a:solidFill>
                  <a:srgbClr val="222B33"/>
                </a:solidFill>
                <a:latin typeface="Microsoft YaHei"/>
              </a:rPr>
              <a:t>▪ 前室两道门同时打开</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单向进出：更衣淋浴不走回头路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一条路进，另一条路出</a:t>
            </a:r>
          </a:p>
          <a:p>
            <a:pPr>
              <a:spcAft>
                <a:spcPts val="1000"/>
              </a:spcAft>
            </a:pPr>
            <a:r>
              <a:rPr sz="1700">
                <a:solidFill>
                  <a:srgbClr val="222B33"/>
                </a:solidFill>
                <a:latin typeface="Microsoft YaHei"/>
              </a:rPr>
              <a:t>▪ 进：先更衣换装，过气锁再进实验室</a:t>
            </a:r>
          </a:p>
          <a:p>
            <a:pPr>
              <a:spcAft>
                <a:spcPts val="1000"/>
              </a:spcAft>
            </a:pPr>
            <a:r>
              <a:rPr sz="1700">
                <a:solidFill>
                  <a:srgbClr val="222B33"/>
                </a:solidFill>
                <a:latin typeface="Microsoft YaHei"/>
              </a:rPr>
              <a:t>▪ 出：在指定位置按程序脱防护，淋浴后换便服</a:t>
            </a:r>
          </a:p>
          <a:p>
            <a:pPr>
              <a:spcAft>
                <a:spcPts val="1000"/>
              </a:spcAft>
            </a:pPr>
            <a:r>
              <a:rPr sz="1700">
                <a:solidFill>
                  <a:srgbClr val="222B33"/>
                </a:solidFill>
                <a:latin typeface="Microsoft YaHei"/>
              </a:rPr>
              <a:t>▪ 私人物品留在外面，进出按规定登记</a:t>
            </a:r>
          </a:p>
          <a:p>
            <a:pPr>
              <a:spcAft>
                <a:spcPts val="1000"/>
              </a:spcAft>
            </a:pPr>
            <a:r>
              <a:rPr sz="1700">
                <a:solidFill>
                  <a:srgbClr val="222B33"/>
                </a:solidFill>
                <a:latin typeface="Microsoft YaHei"/>
              </a:rPr>
              <a:t>▪ 感应龙头少碰表面；不抄近道，不反着走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人员进出是单向的：一条路进，另一条路出。进入时，私人物品留在外侧储物柜，在清洁更衣室换上实验室专用服装，经过负压的气锁（缓冲间），再进入防护实验室；里面是限制区，外人不得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穿着防护服原路返回清洁区</a:t>
            </a:r>
          </a:p>
          <a:p>
            <a:pPr>
              <a:spcAft>
                <a:spcPts val="1000"/>
              </a:spcAft>
            </a:pPr>
            <a:r>
              <a:rPr sz="1500">
                <a:solidFill>
                  <a:srgbClr val="222B33"/>
                </a:solidFill>
                <a:latin typeface="Microsoft YaHei"/>
              </a:rPr>
              <a:t>▪ 把手机、钥匙等私人物品带进防护区</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人流物流分开：传递窗与灭菌器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人走人道，物走物道</a:t>
            </a:r>
          </a:p>
          <a:p>
            <a:pPr>
              <a:spcAft>
                <a:spcPts val="1000"/>
              </a:spcAft>
            </a:pPr>
            <a:r>
              <a:rPr sz="1700">
                <a:solidFill>
                  <a:srgbClr val="222B33"/>
                </a:solidFill>
                <a:latin typeface="Microsoft YaHei"/>
              </a:rPr>
              <a:t>▪ 小件样本走传递窗，两门不同时开，用后消毒</a:t>
            </a:r>
          </a:p>
          <a:p>
            <a:pPr>
              <a:spcAft>
                <a:spcPts val="1000"/>
              </a:spcAft>
            </a:pPr>
            <a:r>
              <a:rPr sz="1700">
                <a:solidFill>
                  <a:srgbClr val="222B33"/>
                </a:solidFill>
                <a:latin typeface="Microsoft YaHei"/>
              </a:rPr>
              <a:t>▪ 灭菌器在实验室内，常为穿墙双门</a:t>
            </a:r>
          </a:p>
          <a:p>
            <a:pPr>
              <a:spcAft>
                <a:spcPts val="1000"/>
              </a:spcAft>
            </a:pPr>
            <a:r>
              <a:rPr sz="1700">
                <a:solidFill>
                  <a:srgbClr val="222B33"/>
                </a:solidFill>
                <a:latin typeface="Microsoft YaHei"/>
              </a:rPr>
              <a:t>▪ 出来的物品先灭菌，再按规定处置</a:t>
            </a:r>
          </a:p>
          <a:p>
            <a:pPr>
              <a:spcAft>
                <a:spcPts val="1000"/>
              </a:spcAft>
            </a:pPr>
            <a:r>
              <a:rPr sz="1700">
                <a:solidFill>
                  <a:srgbClr val="222B33"/>
                </a:solidFill>
                <a:latin typeface="Microsoft YaHei"/>
              </a:rPr>
              <a:t>▪ 安全柜接好排风，排气全部过滤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人流和物流分开：人员按规定路线进出；物品走专门的通道。小件样本通过传递窗递进递出，传递窗两扇门不同时打开，用后按规定消毒。与二级实验室不同，三级实验室的高压灭菌器设在实验室内，常为穿墙的双扉灭菌器：在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把未灭菌的物品直接从人员通道带出</a:t>
            </a:r>
          </a:p>
          <a:p>
            <a:pPr>
              <a:spcAft>
                <a:spcPts val="1000"/>
              </a:spcAft>
            </a:pPr>
            <a:r>
              <a:rPr sz="1500">
                <a:solidFill>
                  <a:srgbClr val="222B33"/>
                </a:solidFill>
                <a:latin typeface="Microsoft YaHei"/>
              </a:rPr>
              <a:t>▪ 传递窗两侧门同时打开</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控制室、监控与安保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防护区旁有控制室，管风机和空调</a:t>
            </a:r>
          </a:p>
          <a:p>
            <a:pPr>
              <a:spcAft>
                <a:spcPts val="1000"/>
              </a:spcAft>
            </a:pPr>
            <a:r>
              <a:rPr sz="1700">
                <a:solidFill>
                  <a:srgbClr val="222B33"/>
                </a:solidFill>
                <a:latin typeface="Microsoft YaHei"/>
              </a:rPr>
              <a:t>▪ 设施人员监控运行状态</a:t>
            </a:r>
          </a:p>
          <a:p>
            <a:pPr>
              <a:spcAft>
                <a:spcPts val="1000"/>
              </a:spcAft>
            </a:pPr>
            <a:r>
              <a:rPr sz="1700">
                <a:solidFill>
                  <a:srgbClr val="222B33"/>
                </a:solidFill>
                <a:latin typeface="Microsoft YaHei"/>
              </a:rPr>
              <a:t>▪ 监控画面和门禁记录，谁进谁出都有记录</a:t>
            </a:r>
          </a:p>
          <a:p>
            <a:pPr>
              <a:spcAft>
                <a:spcPts val="1000"/>
              </a:spcAft>
            </a:pPr>
            <a:r>
              <a:rPr sz="1700">
                <a:solidFill>
                  <a:srgbClr val="222B33"/>
                </a:solidFill>
                <a:latin typeface="Microsoft YaHei"/>
              </a:rPr>
              <a:t>▪ 发现可疑人员，立即报告保卫处</a:t>
            </a:r>
          </a:p>
          <a:p>
            <a:pPr>
              <a:spcAft>
                <a:spcPts val="1000"/>
              </a:spcAft>
            </a:pPr>
            <a:r>
              <a:rPr sz="1700">
                <a:solidFill>
                  <a:srgbClr val="222B33"/>
                </a:solidFill>
                <a:latin typeface="Microsoft YaHei"/>
              </a:rPr>
              <a:t>▪ 布局和门禁信息不拍照、不外传</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防护区旁设控制室，风机、通风和空调等系统在这里集中控制，设施人员监控运行状态，异常时及时处置。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在三级实验室外拍照发到网上</a:t>
            </a:r>
          </a:p>
          <a:p>
            <a:pPr>
              <a:spcAft>
                <a:spcPts val="1000"/>
              </a:spcAft>
            </a:pPr>
            <a:r>
              <a:rPr sz="1500">
                <a:solidFill>
                  <a:srgbClr val="222B33"/>
                </a:solidFill>
                <a:latin typeface="Microsoft YaHei"/>
              </a:rPr>
              <a:t>▪ 发现陌生人尾随却不报告</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三级设施要素一览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负压定向气流，排风经高效过滤</a:t>
            </a:r>
          </a:p>
          <a:p>
            <a:pPr>
              <a:spcAft>
                <a:spcPts val="1000"/>
              </a:spcAft>
            </a:pPr>
            <a:r>
              <a:rPr sz="2000">
                <a:solidFill>
                  <a:srgbClr val="222B33"/>
                </a:solidFill>
                <a:latin typeface="Microsoft YaHei"/>
              </a:rPr>
              <a:t>▪ 两道自闭门，免手动洗手池，旁有洗眼器</a:t>
            </a:r>
          </a:p>
          <a:p>
            <a:pPr>
              <a:spcAft>
                <a:spcPts val="1000"/>
              </a:spcAft>
            </a:pPr>
            <a:r>
              <a:rPr sz="2000">
                <a:solidFill>
                  <a:srgbClr val="222B33"/>
                </a:solidFill>
                <a:latin typeface="Microsoft YaHei"/>
              </a:rPr>
              <a:t>▪ 安全柜等防护设备，灭菌器在室内</a:t>
            </a:r>
          </a:p>
          <a:p>
            <a:pPr>
              <a:spcAft>
                <a:spcPts val="1000"/>
              </a:spcAft>
            </a:pPr>
            <a:r>
              <a:rPr sz="2000">
                <a:solidFill>
                  <a:srgbClr val="222B33"/>
                </a:solidFill>
                <a:latin typeface="Microsoft YaHei"/>
              </a:rPr>
              <a:t>▪ 压力一掉就是封闭破坏，立即启动应急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三级实验室的设施要素放在一起看：相对外界维持负压，气流定向流动，空气只进不出，排风经高效过滤后排到室外；进出经过前室（气闸），有两道自闭门；设免手动操作的洗手池，旁边有洗眼器；配生物安全柜等防护设备，操作都在其中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认为三级实验室只是“加了门禁的二级实验室”</a:t>
            </a:r>
          </a:p>
          <a:p>
            <a:pPr>
              <a:spcAft>
                <a:spcPts val="1000"/>
              </a:spcAft>
            </a:pPr>
            <a:r>
              <a:rPr sz="1500">
                <a:solidFill>
                  <a:srgbClr val="222B33"/>
                </a:solidFill>
                <a:latin typeface="Microsoft YaHei"/>
              </a:rPr>
              <a:t>▪ 压力报警时继续工作</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四级设施：独立隔离、层层去污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独立建筑或隔离区</a:t>
            </a:r>
          </a:p>
          <a:p>
            <a:pPr>
              <a:spcAft>
                <a:spcPts val="1000"/>
              </a:spcAft>
            </a:pPr>
            <a:r>
              <a:rPr sz="2000">
                <a:solidFill>
                  <a:srgbClr val="222B33"/>
                </a:solidFill>
                <a:latin typeface="Microsoft YaHei"/>
              </a:rPr>
              <a:t>▪ 气锁进入，出来去污淋浴</a:t>
            </a:r>
          </a:p>
          <a:p>
            <a:pPr>
              <a:spcAft>
                <a:spcPts val="1000"/>
              </a:spcAft>
            </a:pPr>
            <a:r>
              <a:rPr sz="2000">
                <a:solidFill>
                  <a:srgbClr val="222B33"/>
                </a:solidFill>
                <a:latin typeface="Microsoft YaHei"/>
              </a:rPr>
              <a:t>▪ 进风排风都经高效过滤</a:t>
            </a:r>
          </a:p>
          <a:p>
            <a:pPr>
              <a:spcAft>
                <a:spcPts val="1000"/>
              </a:spcAft>
            </a:pPr>
            <a:r>
              <a:rPr sz="2000">
                <a:solidFill>
                  <a:srgbClr val="222B33"/>
                </a:solidFill>
                <a:latin typeface="Microsoft YaHei"/>
              </a:rPr>
              <a:t>▪ 有应急电源和通讯系统，全国只有少数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四级生物安全实验室（BSL-4）是独立的建筑或建筑内完全隔离的区域，人员经气锁进入，离开时要经过去污淋浴（如化学淋浴和人员淋浴）；进风和排风都经过高效过滤；并配有应急电源和通讯系统。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把四级实验室当作参观场所</a:t>
            </a:r>
          </a:p>
          <a:p>
            <a:pPr>
              <a:spcAft>
                <a:spcPts val="1000"/>
              </a:spcAft>
            </a:pPr>
            <a:r>
              <a:rPr sz="1500">
                <a:solidFill>
                  <a:srgbClr val="222B33"/>
                </a:solidFill>
                <a:latin typeface="Microsoft YaHei"/>
              </a:rPr>
              <a:t>▪ 认为四级与三级的区别只是防护服不同</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关于编号方向，正确的是：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三级实验室对应国内第三类病原</a:t>
            </a:r>
          </a:p>
          <a:p>
            <a:pPr algn="l"/>
            <a:r>
              <a:rPr sz="1500" b="0">
                <a:solidFill>
                  <a:srgbClr val="222B33"/>
                </a:solidFill>
                <a:latin typeface="Microsoft YaHei"/>
              </a:rPr>
              <a:t>B. 国内病原分类第一类最危险，与国际风险组方向相反；实验室级别国内外同向，四级最高</a:t>
            </a:r>
          </a:p>
          <a:p>
            <a:pPr algn="l"/>
            <a:r>
              <a:rPr sz="1500" b="0">
                <a:solidFill>
                  <a:srgbClr val="222B33"/>
                </a:solidFill>
                <a:latin typeface="Microsoft YaHei"/>
              </a:rPr>
              <a:t>C. 国内实验室级别一级最高</a:t>
            </a:r>
          </a:p>
          <a:p>
            <a:pPr algn="l"/>
            <a:r>
              <a:rPr sz="1500" b="0">
                <a:solidFill>
                  <a:srgbClr val="222B33"/>
                </a:solidFill>
                <a:latin typeface="Microsoft YaHei"/>
              </a:rPr>
              <a:t>D. 两套编号完全相同</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判断：进入三级实验室前，压差面板报警亮红灯，可以先进去再报告。</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三级实验室人员离开时的正确顺序是：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原路返回，到办公室再脱防护</a:t>
            </a:r>
          </a:p>
          <a:p>
            <a:pPr algn="l"/>
            <a:r>
              <a:rPr sz="1500" b="0">
                <a:solidFill>
                  <a:srgbClr val="222B33"/>
                </a:solidFill>
                <a:latin typeface="Microsoft YaHei"/>
              </a:rPr>
              <a:t>B. 在指定位置按程序脱防护，按规定淋浴，再换回自己的衣服</a:t>
            </a:r>
          </a:p>
          <a:p>
            <a:pPr algn="l"/>
            <a:r>
              <a:rPr sz="1500" b="0">
                <a:solidFill>
                  <a:srgbClr val="222B33"/>
                </a:solidFill>
                <a:latin typeface="Microsoft YaHei"/>
              </a:rPr>
              <a:t>C. 先换便服再脱防护</a:t>
            </a:r>
          </a:p>
          <a:p>
            <a:pPr algn="l"/>
            <a:r>
              <a:rPr sz="1500" b="0">
                <a:solidFill>
                  <a:srgbClr val="222B33"/>
                </a:solidFill>
                <a:latin typeface="Microsoft YaHei"/>
              </a:rPr>
              <a:t>D. 抄近道从物品通道出去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关于人流物流，错误的是：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人走人道，物走物道</a:t>
            </a:r>
          </a:p>
          <a:p>
            <a:pPr algn="l"/>
            <a:r>
              <a:rPr sz="1500" b="0">
                <a:solidFill>
                  <a:srgbClr val="222B33"/>
                </a:solidFill>
                <a:latin typeface="Microsoft YaHei"/>
              </a:rPr>
              <a:t>B. 小件样本走传递窗，两门不同时开</a:t>
            </a:r>
          </a:p>
          <a:p>
            <a:pPr algn="l"/>
            <a:r>
              <a:rPr sz="1500" b="0">
                <a:solidFill>
                  <a:srgbClr val="222B33"/>
                </a:solidFill>
                <a:latin typeface="Microsoft YaHei"/>
              </a:rPr>
              <a:t>C. 出来的物品先灭菌再处置</a:t>
            </a:r>
          </a:p>
          <a:p>
            <a:pPr algn="l"/>
            <a:r>
              <a:rPr sz="1500" b="0">
                <a:solidFill>
                  <a:srgbClr val="222B33"/>
                </a:solidFill>
                <a:latin typeface="Microsoft YaHei"/>
              </a:rPr>
              <a:t>D. 物品可以随人从人员通道直接带出</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判断：跟在有门禁卡的人身后进入三级实验室，也算有授权。</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简答：在三级实验室外区学习时，为什么不能拍照外传？</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三级实验室做什么</a:t>
            </a:r>
          </a:p>
          <a:p>
            <a:pPr>
              <a:spcAft>
                <a:spcPts val="800"/>
              </a:spcAft>
            </a:pPr>
            <a:r>
              <a:rPr sz="1800">
                <a:solidFill>
                  <a:srgbClr val="FFFFFF"/>
                </a:solidFill>
                <a:latin typeface="Microsoft YaHei"/>
              </a:rPr>
              <a:t>▪ K2  功能分区：清洁区与污染区</a:t>
            </a:r>
          </a:p>
          <a:p>
            <a:pPr>
              <a:spcAft>
                <a:spcPts val="800"/>
              </a:spcAft>
            </a:pPr>
            <a:r>
              <a:rPr sz="1800">
                <a:solidFill>
                  <a:srgbClr val="FFFFFF"/>
                </a:solidFill>
                <a:latin typeface="Microsoft YaHei"/>
              </a:rPr>
              <a:t>▪ K3  门口标识：非授权禁入</a:t>
            </a:r>
          </a:p>
          <a:p>
            <a:pPr>
              <a:spcAft>
                <a:spcPts val="800"/>
              </a:spcAft>
            </a:pPr>
            <a:r>
              <a:rPr sz="1800">
                <a:solidFill>
                  <a:srgbClr val="FFFFFF"/>
                </a:solidFill>
                <a:latin typeface="Microsoft YaHei"/>
              </a:rPr>
              <a:t>▪ K4  进门先看压差面板</a:t>
            </a:r>
          </a:p>
          <a:p>
            <a:pPr>
              <a:spcAft>
                <a:spcPts val="800"/>
              </a:spcAft>
            </a:pPr>
            <a:r>
              <a:rPr sz="1800">
                <a:solidFill>
                  <a:srgbClr val="FFFFFF"/>
                </a:solidFill>
                <a:latin typeface="Microsoft YaHei"/>
              </a:rPr>
              <a:t>▪ K5  门禁与前室：一道门一道关</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单向进出：更衣淋浴不走回头路</a:t>
            </a:r>
          </a:p>
          <a:p>
            <a:pPr>
              <a:spcAft>
                <a:spcPts val="800"/>
              </a:spcAft>
            </a:pPr>
            <a:r>
              <a:rPr sz="1800">
                <a:solidFill>
                  <a:srgbClr val="FFFFFF"/>
                </a:solidFill>
                <a:latin typeface="Microsoft YaHei"/>
              </a:rPr>
              <a:t>▪ K7  人流物流分开：传递窗与灭菌器</a:t>
            </a:r>
          </a:p>
          <a:p>
            <a:pPr>
              <a:spcAft>
                <a:spcPts val="800"/>
              </a:spcAft>
            </a:pPr>
            <a:r>
              <a:rPr sz="1800">
                <a:solidFill>
                  <a:srgbClr val="FFFFFF"/>
                </a:solidFill>
                <a:latin typeface="Microsoft YaHei"/>
              </a:rPr>
              <a:t>▪ K8  控制室、监控与安保</a:t>
            </a:r>
          </a:p>
          <a:p>
            <a:pPr>
              <a:spcAft>
                <a:spcPts val="800"/>
              </a:spcAft>
            </a:pPr>
            <a:r>
              <a:rPr sz="1800">
                <a:solidFill>
                  <a:srgbClr val="FFFFFF"/>
                </a:solidFill>
                <a:latin typeface="Microsoft YaHei"/>
              </a:rPr>
              <a:t>▪ K9  三级设施要素一览</a:t>
            </a:r>
          </a:p>
          <a:p>
            <a:pPr>
              <a:spcAft>
                <a:spcPts val="800"/>
              </a:spcAft>
            </a:pPr>
            <a:r>
              <a:rPr sz="1800">
                <a:solidFill>
                  <a:srgbClr val="FFFFFF"/>
                </a:solidFill>
                <a:latin typeface="Microsoft YaHei"/>
              </a:rPr>
              <a:t>▪ K10  四级设施：独立隔离、层层去污</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生物安全设施的设计、建造与运行</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6.75 分钟（卡通视频 81 镜）　适用对象：进入生命科学、医学、农学、环境等涉及生物材料实验室的高校本科生、研究生和教职工（必修）；实验室负责人、生物安全员、设施管理人员和参与实验室新建改造的人员重点学习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能说出防护设施的组成（设备层、进排风过滤与高空排放、控制与监测、污水与废物处理、出入口缓冲间和穿墙灭菌器、物理安保），知道设施本身就是工程控制。</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能说出设施设计的主要原则：先算建设费和运行费、选址避开风险并保障支援、相邻集中和分区分流的布局、结构材料经得住负压和消毒。</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能说出建设流程（需求预算—初步设计—施工—验收认可），以及一级、二级实验室备案，三级、四级实验室审批并通过国家认可的要求。</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能做到不进入设备层、不碰过滤箱，用前查看安全柜和灭菌器的检测标识；能判断设施改造、条件变化、停用搬迁时须重新评审或先去污验收。</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《中华人民共和国生物安全法》（以现行文本为准）：病原微生物实验室应当符合生物安全国家标准和要求，设立单位负责实验室的生物安全管理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新建、改建、扩建三级、四级实验室依法审批，建成后通过实验室国家认可并经主管部门批准方可从事相应活动；一级、二级实验室向设区的市级主管部门备案</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生物安全通用要求》：实验室设施和设备要求、废物和污水去污、设施设备的维护和检测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50346（以现行文本为准）《生物安全实验室建筑技术规范》：生物安全实验室的选址、平面布局、建筑结构、通风空调、给排水和电气控制等工程技术要求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233（以现行文本为准）《病原微生物实验室生物安全通用准则》：各级病原微生物实验室的设施、设备和管理要求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《医疗废物管理条例》（以现行文本为准）：感染性废物的收集、处理和交接</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号，以现行文本为准）：实验室建设与改造的安全论证、设施设备运行维护和检测</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本校实验室建设管理规定与设施说明：压差、风量、过滤效率、污水消毒等具体参数以现行标准和本校设施说明为准</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设施本身就是防护：工程控制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生物安全不只靠安全柜和防护服</a:t>
            </a:r>
          </a:p>
          <a:p>
            <a:pPr>
              <a:spcAft>
                <a:spcPts val="1000"/>
              </a:spcAft>
            </a:pPr>
            <a:r>
              <a:rPr sz="2000">
                <a:solidFill>
                  <a:srgbClr val="222B33"/>
                </a:solidFill>
                <a:latin typeface="Microsoft YaHei"/>
              </a:rPr>
              <a:t>▪ 房子怎么设计、配什么设备，都是工程控制</a:t>
            </a:r>
          </a:p>
          <a:p>
            <a:pPr>
              <a:spcAft>
                <a:spcPts val="1000"/>
              </a:spcAft>
            </a:pPr>
            <a:r>
              <a:rPr sz="2000">
                <a:solidFill>
                  <a:srgbClr val="222B33"/>
                </a:solidFill>
                <a:latin typeface="Microsoft YaHei"/>
              </a:rPr>
              <a:t>▪ 工程控制从源头挡住风险</a:t>
            </a:r>
          </a:p>
          <a:p>
            <a:pPr>
              <a:spcAft>
                <a:spcPts val="1000"/>
              </a:spcAft>
            </a:pPr>
            <a:r>
              <a:rPr sz="2000">
                <a:solidFill>
                  <a:srgbClr val="222B33"/>
                </a:solidFill>
                <a:latin typeface="Microsoft YaHei"/>
              </a:rPr>
              <a:t>▪ 设计想周全，设施才安全好用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生物安全靠的不只是生物安全柜和个人防护装备。实验室房子怎么设计、配置什么设备，本身就是一道防护，属于控制层级中的工程控制（控制层级见第 017 课）：它不依赖每个人每次都做对，而是从源头把风险挡住。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认为设施是工程师的事，与做实验的人无关</a:t>
            </a:r>
          </a:p>
          <a:p>
            <a:pPr>
              <a:spcAft>
                <a:spcPts val="1000"/>
              </a:spcAft>
            </a:pPr>
            <a:r>
              <a:rPr sz="1500">
                <a:solidFill>
                  <a:srgbClr val="222B33"/>
                </a:solidFill>
                <a:latin typeface="Microsoft YaHei"/>
              </a:rPr>
              <a:t>▪ 设施有缺陷时靠“自己小心点”凑合使用</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一座防护设施由什么组成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门口标志，房间可密封，气流向内、过滤排出</a:t>
            </a:r>
          </a:p>
          <a:p>
            <a:pPr>
              <a:spcAft>
                <a:spcPts val="1000"/>
              </a:spcAft>
            </a:pPr>
            <a:r>
              <a:rPr sz="1700">
                <a:solidFill>
                  <a:srgbClr val="222B33"/>
                </a:solidFill>
                <a:latin typeface="Microsoft YaHei"/>
              </a:rPr>
              <a:t>▪ 整座设施相对外界负压</a:t>
            </a:r>
          </a:p>
          <a:p>
            <a:pPr>
              <a:spcAft>
                <a:spcPts val="1000"/>
              </a:spcAft>
            </a:pPr>
            <a:r>
              <a:rPr sz="1700">
                <a:solidFill>
                  <a:srgbClr val="222B33"/>
                </a:solidFill>
                <a:latin typeface="Microsoft YaHei"/>
              </a:rPr>
              <a:t>▪ 气锁进入、淋浴出，内有安全柜和灭菌器</a:t>
            </a:r>
          </a:p>
          <a:p>
            <a:pPr>
              <a:spcAft>
                <a:spcPts val="1000"/>
              </a:spcAft>
            </a:pPr>
            <a:r>
              <a:rPr sz="1700">
                <a:solidFill>
                  <a:srgbClr val="222B33"/>
                </a:solidFill>
                <a:latin typeface="Microsoft YaHei"/>
              </a:rPr>
              <a:t>▪ 工程设计含气流、过滤、空调、污水、控制、安保等</a:t>
            </a:r>
          </a:p>
          <a:p>
            <a:pPr>
              <a:spcAft>
                <a:spcPts val="1000"/>
              </a:spcAft>
            </a:pPr>
            <a:r>
              <a:rPr sz="1700">
                <a:solidFill>
                  <a:srgbClr val="222B33"/>
                </a:solidFill>
                <a:latin typeface="Microsoft YaHei"/>
              </a:rPr>
              <a:t>▪ 一栋楼常分三层：上管空气，中做实验，下管废水</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座防护设施（以较高等级实验室为例）的基本组成：门口有生物危害标志；房间可以密封，便于熏蒸消毒；气流定向流入，经高效过滤后排出，整座设施相对外界保持负压；人员经气锁（缓冲间）进入、经淋浴离开；室内有生物安全柜和高压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以为防护设施只是“装了安全柜的普通房间”</a:t>
            </a:r>
          </a:p>
          <a:p>
            <a:pPr>
              <a:spcAft>
                <a:spcPts val="1000"/>
              </a:spcAft>
            </a:pPr>
            <a:r>
              <a:rPr sz="1500">
                <a:solidFill>
                  <a:srgbClr val="222B33"/>
                </a:solidFill>
                <a:latin typeface="Microsoft YaHei"/>
              </a:rPr>
              <a:t>▪ 只关注实验层，忽视设备层和污水系统也是防护的一部分</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设备层：机器在上，实验室里不放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设备层统一控制全楼通风空调</a:t>
            </a:r>
          </a:p>
          <a:p>
            <a:pPr>
              <a:spcAft>
                <a:spcPts val="1000"/>
              </a:spcAft>
            </a:pPr>
            <a:r>
              <a:rPr sz="1700">
                <a:solidFill>
                  <a:srgbClr val="222B33"/>
                </a:solidFill>
                <a:latin typeface="Microsoft YaHei"/>
              </a:rPr>
              <a:t>▪ 风机、过滤器、电控柜放在实验室上方</a:t>
            </a:r>
          </a:p>
          <a:p>
            <a:pPr>
              <a:spcAft>
                <a:spcPts val="1000"/>
              </a:spcAft>
            </a:pPr>
            <a:r>
              <a:rPr sz="1700">
                <a:solidFill>
                  <a:srgbClr val="222B33"/>
                </a:solidFill>
                <a:latin typeface="Microsoft YaHei"/>
              </a:rPr>
              <a:t>▪ 实验室里不放机械，便于密封和清洁</a:t>
            </a:r>
          </a:p>
          <a:p>
            <a:pPr>
              <a:spcAft>
                <a:spcPts val="1000"/>
              </a:spcAft>
            </a:pPr>
            <a:r>
              <a:rPr sz="1700">
                <a:solidFill>
                  <a:srgbClr val="222B33"/>
                </a:solidFill>
                <a:latin typeface="Microsoft YaHei"/>
              </a:rPr>
              <a:t>▪ 层高够检修，灯和过滤器从上面换</a:t>
            </a:r>
          </a:p>
          <a:p>
            <a:pPr>
              <a:spcAft>
                <a:spcPts val="1000"/>
              </a:spcAft>
            </a:pPr>
            <a:r>
              <a:rPr sz="1700">
                <a:solidFill>
                  <a:srgbClr val="222B33"/>
                </a:solidFill>
                <a:latin typeface="Microsoft YaHei"/>
              </a:rPr>
              <a:t>▪ 设备层不是参观区，未经允许不进入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设施上方的一层叫设备层（机械层），全楼的供暖、通风和空调都从这里统一控制：空气处理机组、风机、过滤器和电气控制柜都装在这里；一排排控制柜管着电机和压缩机，由电脑统一指挥；压缩机让供给实验室的水和压缩空气保持压力稳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好奇进入设备层参观、触碰设备</a:t>
            </a:r>
          </a:p>
          <a:p>
            <a:pPr>
              <a:spcAft>
                <a:spcPts val="1000"/>
              </a:spcAft>
            </a:pPr>
            <a:r>
              <a:rPr sz="1500">
                <a:solidFill>
                  <a:srgbClr val="222B33"/>
                </a:solidFill>
                <a:latin typeface="Microsoft YaHei"/>
              </a:rPr>
              <a:t>▪ 设备维修不停机、不上锁挂牌</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进排风都过滤，排风高空排放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进楼的空气先过高效过滤器</a:t>
            </a:r>
          </a:p>
          <a:p>
            <a:pPr>
              <a:spcAft>
                <a:spcPts val="1000"/>
              </a:spcAft>
            </a:pPr>
            <a:r>
              <a:rPr sz="1700">
                <a:solidFill>
                  <a:srgbClr val="222B33"/>
                </a:solidFill>
                <a:latin typeface="Microsoft YaHei"/>
              </a:rPr>
              <a:t>▪ 高等级实验室排风也要过滤，两头把关</a:t>
            </a:r>
          </a:p>
          <a:p>
            <a:pPr>
              <a:spcAft>
                <a:spcPts val="1000"/>
              </a:spcAft>
            </a:pPr>
            <a:r>
              <a:rPr sz="1700">
                <a:solidFill>
                  <a:srgbClr val="222B33"/>
                </a:solidFill>
                <a:latin typeface="Microsoft YaHei"/>
              </a:rPr>
              <a:t>▪ 每个房间各有过滤器，风阀把气流配平</a:t>
            </a:r>
          </a:p>
          <a:p>
            <a:pPr>
              <a:spcAft>
                <a:spcPts val="1000"/>
              </a:spcAft>
            </a:pPr>
            <a:r>
              <a:rPr sz="1700">
                <a:solidFill>
                  <a:srgbClr val="222B33"/>
                </a:solidFill>
                <a:latin typeface="Microsoft YaHei"/>
              </a:rPr>
              <a:t>▪ 屋顶风机把排风送向高空扩散</a:t>
            </a:r>
          </a:p>
          <a:p>
            <a:pPr>
              <a:spcAft>
                <a:spcPts val="1000"/>
              </a:spcAft>
            </a:pPr>
            <a:r>
              <a:rPr sz="1700">
                <a:solidFill>
                  <a:srgbClr val="222B33"/>
                </a:solidFill>
                <a:latin typeface="Microsoft YaHei"/>
              </a:rPr>
              <a:t>▪ 除病原靠过滤，高空排放只是加保险</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空气处理机组里装有高效过滤器，进楼的空气都先过这一道；过滤段设有检修门，定期检查、维护，到期更换过滤模块。高等级实验室进来的空气要过滤，出去的空气也要过滤，两头把关；送风过滤保护人员和实验，排风过滤保护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认为排风“排得高就安全”，可以不过滤</a:t>
            </a:r>
          </a:p>
          <a:p>
            <a:pPr>
              <a:spcAft>
                <a:spcPts val="1000"/>
              </a:spcAft>
            </a:pPr>
            <a:r>
              <a:rPr sz="1500">
                <a:solidFill>
                  <a:srgbClr val="222B33"/>
                </a:solidFill>
                <a:latin typeface="Microsoft YaHei"/>
              </a:rPr>
              <a:t>▪ 使用者自行调节风阀或风量</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控制与监测集中管理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全楼设备由电脑集中控制和监测</a:t>
            </a:r>
          </a:p>
          <a:p>
            <a:pPr>
              <a:spcAft>
                <a:spcPts val="1000"/>
              </a:spcAft>
            </a:pPr>
            <a:r>
              <a:rPr sz="2000">
                <a:solidFill>
                  <a:srgbClr val="222B33"/>
                </a:solidFill>
                <a:latin typeface="Microsoft YaHei"/>
              </a:rPr>
              <a:t>▪ 温湿度、气流、门锁在控制区一处管理</a:t>
            </a:r>
          </a:p>
          <a:p>
            <a:pPr>
              <a:spcAft>
                <a:spcPts val="1000"/>
              </a:spcAft>
            </a:pPr>
            <a:r>
              <a:rPr sz="2000">
                <a:solidFill>
                  <a:srgbClr val="222B33"/>
                </a:solidFill>
                <a:latin typeface="Microsoft YaHei"/>
              </a:rPr>
              <a:t>▪ 压差表是监测的关键</a:t>
            </a:r>
          </a:p>
          <a:p>
            <a:pPr>
              <a:spcAft>
                <a:spcPts val="1000"/>
              </a:spcAft>
            </a:pPr>
            <a:r>
              <a:rPr sz="2000">
                <a:solidFill>
                  <a:srgbClr val="222B33"/>
                </a:solidFill>
                <a:latin typeface="Microsoft YaHei"/>
              </a:rPr>
              <a:t>▪ 防护失效时报警，系统按设计停机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防护设施的加热、制冷、湿度、通风等由电子系统集中控制和监测，哪台设备在运转、是否正常，在控制区一看就知道；监控、气流、门锁等也在控制区集中管理。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报警时关掉报警器继续实验</a:t>
            </a:r>
          </a:p>
          <a:p>
            <a:pPr>
              <a:spcAft>
                <a:spcPts val="1000"/>
              </a:spcAft>
            </a:pPr>
            <a:r>
              <a:rPr sz="1500">
                <a:solidFill>
                  <a:srgbClr val="222B33"/>
                </a:solidFill>
                <a:latin typeface="Microsoft YaHei"/>
              </a:rPr>
              <a:t>▪ 使用者私自修改控制系统设定</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污水与废物：出去之前先去污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从设施出去的一切都要先去污</a:t>
            </a:r>
          </a:p>
          <a:p>
            <a:pPr>
              <a:spcAft>
                <a:spcPts val="1000"/>
              </a:spcAft>
            </a:pPr>
            <a:r>
              <a:rPr sz="1700">
                <a:solidFill>
                  <a:srgbClr val="222B33"/>
                </a:solidFill>
                <a:latin typeface="Microsoft YaHei"/>
              </a:rPr>
              <a:t>▪ 淋浴、洗手、灭菌器废水先进暂存罐</a:t>
            </a:r>
          </a:p>
          <a:p>
            <a:pPr>
              <a:spcAft>
                <a:spcPts val="1000"/>
              </a:spcAft>
            </a:pPr>
            <a:r>
              <a:rPr sz="1700">
                <a:solidFill>
                  <a:srgbClr val="222B33"/>
                </a:solidFill>
                <a:latin typeface="Microsoft YaHei"/>
              </a:rPr>
              <a:t>▪ 再消毒、中和，全程监测，合格才排</a:t>
            </a:r>
          </a:p>
          <a:p>
            <a:pPr>
              <a:spcAft>
                <a:spcPts val="1000"/>
              </a:spcAft>
            </a:pPr>
            <a:r>
              <a:rPr sz="1700">
                <a:solidFill>
                  <a:srgbClr val="222B33"/>
                </a:solidFill>
                <a:latin typeface="Microsoft YaHei"/>
              </a:rPr>
              <a:t>▪ 污水不能直接进市政管网</a:t>
            </a:r>
          </a:p>
          <a:p>
            <a:pPr>
              <a:spcAft>
                <a:spcPts val="1000"/>
              </a:spcAft>
            </a:pPr>
            <a:r>
              <a:rPr sz="1700">
                <a:solidFill>
                  <a:srgbClr val="222B33"/>
                </a:solidFill>
                <a:latin typeface="Microsoft YaHei"/>
              </a:rPr>
              <a:t>▪ 固体废物先灭菌，再按规定处置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防护设施出去的一切都要去污，连水槽流下的废水也不例外。较高等级设施的淋浴、洗手、灭菌器排水先进暂存罐，再进消毒罐（消毒方法和接触时间按规程确定），中和后才排放；全程监测，留好记录。污水不能直接接入市政管网，要另设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把含病原的废液直接倒入水槽</a:t>
            </a:r>
          </a:p>
          <a:p>
            <a:pPr>
              <a:spcAft>
                <a:spcPts val="1000"/>
              </a:spcAft>
            </a:pPr>
            <a:r>
              <a:rPr sz="1500">
                <a:solidFill>
                  <a:srgbClr val="222B33"/>
                </a:solidFill>
                <a:latin typeface="Microsoft YaHei"/>
              </a:rPr>
              <a:t>▪ 未经灭菌的废物混入生活垃圾</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先算账：建得起，也要养得起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动笔设计之前，先把钱算清楚</a:t>
            </a:r>
          </a:p>
          <a:p>
            <a:pPr>
              <a:spcAft>
                <a:spcPts val="1000"/>
              </a:spcAft>
            </a:pPr>
            <a:r>
              <a:rPr sz="1700">
                <a:solidFill>
                  <a:srgbClr val="222B33"/>
                </a:solidFill>
                <a:latin typeface="Microsoft YaHei"/>
              </a:rPr>
              <a:t>▪ 钱分两块：建设费和运行费</a:t>
            </a:r>
          </a:p>
          <a:p>
            <a:pPr>
              <a:spcAft>
                <a:spcPts val="1000"/>
              </a:spcAft>
            </a:pPr>
            <a:r>
              <a:rPr sz="1700">
                <a:solidFill>
                  <a:srgbClr val="222B33"/>
                </a:solidFill>
                <a:latin typeface="Microsoft YaHei"/>
              </a:rPr>
              <a:t>▪ 运行费会摊到每一次实验里</a:t>
            </a:r>
          </a:p>
          <a:p>
            <a:pPr>
              <a:spcAft>
                <a:spcPts val="1000"/>
              </a:spcAft>
            </a:pPr>
            <a:r>
              <a:rPr sz="1700">
                <a:solidFill>
                  <a:srgbClr val="222B33"/>
                </a:solidFill>
                <a:latin typeface="Microsoft YaHei"/>
              </a:rPr>
              <a:t>▪ 建得起养不起，安全就打折扣</a:t>
            </a:r>
          </a:p>
          <a:p>
            <a:pPr>
              <a:spcAft>
                <a:spcPts val="1000"/>
              </a:spcAft>
            </a:pPr>
            <a:r>
              <a:rPr sz="1700">
                <a:solidFill>
                  <a:srgbClr val="222B33"/>
                </a:solidFill>
                <a:latin typeface="Microsoft YaHei"/>
              </a:rPr>
              <a:t>▪ 成本是设计要考虑的事项之一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建封闭设施投入很大，决定建实验室、动笔设计之前，先要算清楚账。钱分两块：建设费和运行费。运行费（能耗、过滤器更换、检测、维修、人员）每年都有，会摊到每一次实验里。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只争取建设经费，不落实运行维护经费</a:t>
            </a:r>
          </a:p>
          <a:p>
            <a:pPr>
              <a:spcAft>
                <a:spcPts val="1000"/>
              </a:spcAft>
            </a:pPr>
            <a:r>
              <a:rPr sz="1500">
                <a:solidFill>
                  <a:srgbClr val="222B33"/>
                </a:solidFill>
                <a:latin typeface="Microsoft YaHei"/>
              </a:rPr>
              <a:t>▪ 为省钱推迟过滤器更换和设备检测</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选址：避开风险，保障支援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避开自然灾害多发地和人口稠密区</a:t>
            </a:r>
          </a:p>
          <a:p>
            <a:pPr>
              <a:spcAft>
                <a:spcPts val="1000"/>
              </a:spcAft>
            </a:pPr>
            <a:r>
              <a:rPr sz="1700">
                <a:solidFill>
                  <a:srgbClr val="222B33"/>
                </a:solidFill>
                <a:latin typeface="Microsoft YaHei"/>
              </a:rPr>
              <a:t>▪ 水电供应要有保障</a:t>
            </a:r>
          </a:p>
          <a:p>
            <a:pPr>
              <a:spcAft>
                <a:spcPts val="1000"/>
              </a:spcAft>
            </a:pPr>
            <a:r>
              <a:rPr sz="1700">
                <a:solidFill>
                  <a:srgbClr val="222B33"/>
                </a:solidFill>
                <a:latin typeface="Microsoft YaHei"/>
              </a:rPr>
              <a:t>▪ 应急队伍能及时赶到</a:t>
            </a:r>
          </a:p>
          <a:p>
            <a:pPr>
              <a:spcAft>
                <a:spcPts val="1000"/>
              </a:spcAft>
            </a:pPr>
            <a:r>
              <a:rPr sz="1700">
                <a:solidFill>
                  <a:srgbClr val="222B33"/>
                </a:solidFill>
                <a:latin typeface="Microsoft YaHei"/>
              </a:rPr>
              <a:t>▪ 周边环境稳定安全</a:t>
            </a:r>
          </a:p>
          <a:p>
            <a:pPr>
              <a:spcAft>
                <a:spcPts val="1000"/>
              </a:spcAft>
            </a:pPr>
            <a:r>
              <a:rPr sz="1700">
                <a:solidFill>
                  <a:srgbClr val="222B33"/>
                </a:solidFill>
                <a:latin typeface="Microsoft YaHei"/>
              </a:rPr>
              <a:t>▪ 植物封闭设施不紧挨农田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高等级实验室选址有讲究：避开地震、洪水等自然灾害多发地，避开人口稠密区；水电供应要有保障；发生事故时应急处置队伍能及时赶到；周边社会环境稳定安全。具体选址要求以 GB 19489-2008、GB 50346 等现行标……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为了方便把高等级实验室设在人员密集的教学楼中</a:t>
            </a:r>
          </a:p>
          <a:p>
            <a:pPr>
              <a:spcAft>
                <a:spcPts val="1000"/>
              </a:spcAft>
            </a:pPr>
            <a:r>
              <a:rPr sz="1500">
                <a:solidFill>
                  <a:srgbClr val="222B33"/>
                </a:solidFill>
                <a:latin typeface="Microsoft YaHei"/>
              </a:rPr>
              <a:t>▪ 忽视停水停电和应急支援条件</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布局：相邻集中，分区分流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防护实验室相邻集中，管道省、漏了不蔓延</a:t>
            </a:r>
          </a:p>
          <a:p>
            <a:pPr>
              <a:spcAft>
                <a:spcPts val="1000"/>
              </a:spcAft>
            </a:pPr>
            <a:r>
              <a:rPr sz="1700">
                <a:solidFill>
                  <a:srgbClr val="222B33"/>
                </a:solidFill>
                <a:latin typeface="Microsoft YaHei"/>
              </a:rPr>
              <a:t>▪ 相邻布置，通风系统才经济</a:t>
            </a:r>
          </a:p>
          <a:p>
            <a:pPr>
              <a:spcAft>
                <a:spcPts val="1000"/>
              </a:spcAft>
            </a:pPr>
            <a:r>
              <a:rPr sz="1700">
                <a:solidFill>
                  <a:srgbClr val="222B33"/>
                </a:solidFill>
                <a:latin typeface="Microsoft YaHei"/>
              </a:rPr>
              <a:t>▪ 区域按清洁到污染分级，人物按路线走</a:t>
            </a:r>
          </a:p>
          <a:p>
            <a:pPr>
              <a:spcAft>
                <a:spcPts val="1000"/>
              </a:spcAft>
            </a:pPr>
            <a:r>
              <a:rPr sz="1700">
                <a:solidFill>
                  <a:srgbClr val="222B33"/>
                </a:solidFill>
                <a:latin typeface="Microsoft YaHei"/>
              </a:rPr>
              <a:t>▪ 暂存、培养基制备、遗传操作各有分区</a:t>
            </a:r>
          </a:p>
          <a:p>
            <a:pPr>
              <a:spcAft>
                <a:spcPts val="1000"/>
              </a:spcAft>
            </a:pPr>
            <a:r>
              <a:rPr sz="1700">
                <a:solidFill>
                  <a:srgbClr val="222B33"/>
                </a:solidFill>
                <a:latin typeface="Microsoft YaHei"/>
              </a:rPr>
              <a:t>▪ 进设施的土壤和培养基先蒸汽灭菌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就像住宅把卫生间集中在一处，管道省，漏了也不会到处蔓延；防护实验室相邻集中布置，通风和管道系统才经济、好管理。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人流和物流共用一条路线、来回穿行</a:t>
            </a:r>
          </a:p>
          <a:p>
            <a:pPr>
              <a:spcAft>
                <a:spcPts val="1000"/>
              </a:spcAft>
            </a:pPr>
            <a:r>
              <a:rPr sz="1500">
                <a:solidFill>
                  <a:srgbClr val="222B33"/>
                </a:solidFill>
                <a:latin typeface="Microsoft YaHei"/>
              </a:rPr>
              <a:t>▪ 未经处理的土壤、培养基直接带入设施</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出入口缓冲间与穿墙灭菌器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出入口是缓冲间，两道门不同时开</a:t>
            </a:r>
          </a:p>
          <a:p>
            <a:pPr>
              <a:spcAft>
                <a:spcPts val="1000"/>
              </a:spcAft>
            </a:pPr>
            <a:r>
              <a:rPr sz="1700">
                <a:solidFill>
                  <a:srgbClr val="222B33"/>
                </a:solidFill>
                <a:latin typeface="Microsoft YaHei"/>
              </a:rPr>
              <a:t>▪ 先关外门再开内门，空气往里流</a:t>
            </a:r>
          </a:p>
          <a:p>
            <a:pPr>
              <a:spcAft>
                <a:spcPts val="1000"/>
              </a:spcAft>
            </a:pPr>
            <a:r>
              <a:rPr sz="1700">
                <a:solidFill>
                  <a:srgbClr val="222B33"/>
                </a:solidFill>
                <a:latin typeface="Microsoft YaHei"/>
              </a:rPr>
              <a:t>▪ 灭菌器嵌在墙里，两边开门</a:t>
            </a:r>
          </a:p>
          <a:p>
            <a:pPr>
              <a:spcAft>
                <a:spcPts val="1000"/>
              </a:spcAft>
            </a:pPr>
            <a:r>
              <a:rPr sz="1700">
                <a:solidFill>
                  <a:srgbClr val="222B33"/>
                </a:solidFill>
                <a:latin typeface="Microsoft YaHei"/>
              </a:rPr>
              <a:t>▪ 出去的材料、衣物都灭菌后才出去</a:t>
            </a:r>
          </a:p>
          <a:p>
            <a:pPr>
              <a:spcAft>
                <a:spcPts val="1000"/>
              </a:spcAft>
            </a:pPr>
            <a:r>
              <a:rPr sz="1700">
                <a:solidFill>
                  <a:srgbClr val="222B33"/>
                </a:solidFill>
                <a:latin typeface="Microsoft YaHei"/>
              </a:rPr>
              <a:t>▪ 未批准放行的材料，按规程销毁</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设施的出入口是有两道门的缓冲间：先关外门，再开内门，两道门不同时开；开内门时空气往里流，不往外跑（缓冲间压力设计以本设施说明为准，见第 062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缓冲间两道门同时打开搬运物品</a:t>
            </a:r>
          </a:p>
          <a:p>
            <a:pPr>
              <a:spcAft>
                <a:spcPts val="1000"/>
              </a:spcAft>
            </a:pPr>
            <a:r>
              <a:rPr sz="1500">
                <a:solidFill>
                  <a:srgbClr val="222B33"/>
                </a:solidFill>
                <a:latin typeface="Microsoft YaHei"/>
              </a:rPr>
              <a:t>▪ 未经灭菌把材料或工作服从防护区带出</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结构和材料要经得住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负压设施的墙、玻璃、密封要结实</a:t>
            </a:r>
          </a:p>
          <a:p>
            <a:pPr>
              <a:spcAft>
                <a:spcPts val="1000"/>
              </a:spcAft>
            </a:pPr>
            <a:r>
              <a:rPr sz="2000">
                <a:solidFill>
                  <a:srgbClr val="222B33"/>
                </a:solidFill>
                <a:latin typeface="Microsoft YaHei"/>
              </a:rPr>
              <a:t>▪ 风机故障、负压过大可能撑破玻璃</a:t>
            </a:r>
          </a:p>
          <a:p>
            <a:pPr>
              <a:spcAft>
                <a:spcPts val="1000"/>
              </a:spcAft>
            </a:pPr>
            <a:r>
              <a:rPr sz="2000">
                <a:solidFill>
                  <a:srgbClr val="222B33"/>
                </a:solidFill>
                <a:latin typeface="Microsoft YaHei"/>
              </a:rPr>
              <a:t>▪ 要熏蒸消毒，材料须耐湿耐腐蚀、易清洁</a:t>
            </a:r>
          </a:p>
          <a:p>
            <a:pPr>
              <a:spcAft>
                <a:spcPts val="1000"/>
              </a:spcAft>
            </a:pPr>
            <a:r>
              <a:rPr sz="2000">
                <a:solidFill>
                  <a:srgbClr val="222B33"/>
                </a:solidFill>
                <a:latin typeface="Microsoft YaHei"/>
              </a:rPr>
              <a:t>▪ 植物设施的采光要看当地气候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负压设施要让空气稳定地往里流，墙体、观察窗玻璃和密封都要足够结实；风机出故障时负压可能过大，结构不够会撑破玻璃，所以设计时要有相应的保护和联锁。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在负压实验室墙面随意打孔、钉挂物品</a:t>
            </a:r>
          </a:p>
          <a:p>
            <a:pPr>
              <a:spcAft>
                <a:spcPts val="1000"/>
              </a:spcAft>
            </a:pPr>
            <a:r>
              <a:rPr sz="1500">
                <a:solidFill>
                  <a:srgbClr val="222B33"/>
                </a:solidFill>
                <a:latin typeface="Microsoft YaHei"/>
              </a:rPr>
              <a:t>▪ 熏蒸消毒后未经确认就进入房间</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设计时就考虑物理安保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安保要在设计时就考虑进去</a:t>
            </a:r>
          </a:p>
          <a:p>
            <a:pPr>
              <a:spcAft>
                <a:spcPts val="1000"/>
              </a:spcAft>
            </a:pPr>
            <a:r>
              <a:rPr sz="2000">
                <a:solidFill>
                  <a:srgbClr val="222B33"/>
                </a:solidFill>
                <a:latin typeface="Microsoft YaHei"/>
              </a:rPr>
              <a:t>▪ 门禁和监控管住人员进出</a:t>
            </a:r>
          </a:p>
          <a:p>
            <a:pPr>
              <a:spcAft>
                <a:spcPts val="1000"/>
              </a:spcAft>
            </a:pPr>
            <a:r>
              <a:rPr sz="2000">
                <a:solidFill>
                  <a:srgbClr val="222B33"/>
                </a:solidFill>
                <a:latin typeface="Microsoft YaHei"/>
              </a:rPr>
              <a:t>▪ 防止材料被盗、被私自扩繁</a:t>
            </a:r>
          </a:p>
          <a:p>
            <a:pPr>
              <a:spcAft>
                <a:spcPts val="1000"/>
              </a:spcAft>
            </a:pPr>
            <a:r>
              <a:rPr sz="2000">
                <a:solidFill>
                  <a:srgbClr val="222B33"/>
                </a:solidFill>
                <a:latin typeface="Microsoft YaHei"/>
              </a:rPr>
              <a:t>▪ 数据和资料也要加密管好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生物安保要在设计时就考虑进去，事后补救既贵又难。门禁、监控等物理安保措施管住人员进出，防止病原材料被盗、被私自扩繁或带出；实验数据和资料也要加密、分级管理。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把门禁卡借给他人或让他人尾随进入</a:t>
            </a:r>
          </a:p>
          <a:p>
            <a:pPr>
              <a:spcAft>
                <a:spcPts val="1000"/>
              </a:spcAft>
            </a:pPr>
            <a:r>
              <a:rPr sz="1500">
                <a:solidFill>
                  <a:srgbClr val="222B33"/>
                </a:solidFill>
                <a:latin typeface="Microsoft YaHei"/>
              </a:rPr>
              <a:t>▪ 在网上发布实验室布局和安保设施照片</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需求、设计、施工、认可四步走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第一步：定需求和预算，量力而行</a:t>
            </a:r>
          </a:p>
          <a:p>
            <a:pPr>
              <a:spcAft>
                <a:spcPts val="1000"/>
              </a:spcAft>
            </a:pPr>
            <a:r>
              <a:rPr sz="1700">
                <a:solidFill>
                  <a:srgbClr val="222B33"/>
                </a:solidFill>
                <a:latin typeface="Microsoft YaHei"/>
              </a:rPr>
              <a:t>▪ 第二步：初步设计，对照建筑消防等标准查合规</a:t>
            </a:r>
          </a:p>
          <a:p>
            <a:pPr>
              <a:spcAft>
                <a:spcPts val="1000"/>
              </a:spcAft>
            </a:pPr>
            <a:r>
              <a:rPr sz="1700">
                <a:solidFill>
                  <a:srgbClr val="222B33"/>
                </a:solidFill>
                <a:latin typeface="Microsoft YaHei"/>
              </a:rPr>
              <a:t>▪ 第三步：施工中改动要马上告诉工程师</a:t>
            </a:r>
          </a:p>
          <a:p>
            <a:pPr>
              <a:spcAft>
                <a:spcPts val="1000"/>
              </a:spcAft>
            </a:pPr>
            <a:r>
              <a:rPr sz="1700">
                <a:solidFill>
                  <a:srgbClr val="222B33"/>
                </a:solidFill>
                <a:latin typeface="Microsoft YaHei"/>
              </a:rPr>
              <a:t>▪ 第四步：验收认可，没通过不能开展实验</a:t>
            </a:r>
          </a:p>
          <a:p>
            <a:pPr>
              <a:spcAft>
                <a:spcPts val="1000"/>
              </a:spcAft>
            </a:pPr>
            <a:r>
              <a:rPr sz="1700">
                <a:solidFill>
                  <a:srgbClr val="222B33"/>
                </a:solidFill>
                <a:latin typeface="Microsoft YaHei"/>
              </a:rPr>
              <a:t>▪ 一二级备案，三四级审批并通过国家认可</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建设一般分四步。第一步，需求和预算：按实际需要确定规模，预算有限不要贪大，并考虑每年的维护费。第二步，初步设计：对照建筑规范、消防疏散和生物安全标准（GB 19489-2008、GB 50346 等）逐项查合规。第三……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施工中随意增加隔墙或改变管线而不告知设计方</a:t>
            </a:r>
          </a:p>
          <a:p>
            <a:pPr>
              <a:spcAft>
                <a:spcPts val="1000"/>
              </a:spcAft>
            </a:pPr>
            <a:r>
              <a:rPr sz="1500">
                <a:solidFill>
                  <a:srgbClr val="222B33"/>
                </a:solidFill>
                <a:latin typeface="Microsoft YaHei"/>
              </a:rPr>
              <a:t>▪ 实验室刚装修完就开始做病原实验</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使用者和生物安全员参与建设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工程师懂结构，研究者懂生物，管理者协调</a:t>
            </a:r>
          </a:p>
          <a:p>
            <a:pPr>
              <a:spcAft>
                <a:spcPts val="1000"/>
              </a:spcAft>
            </a:pPr>
            <a:r>
              <a:rPr sz="1700">
                <a:solidFill>
                  <a:srgbClr val="222B33"/>
                </a:solidFill>
                <a:latin typeface="Microsoft YaHei"/>
              </a:rPr>
              <a:t>▪ 生物安全员要看懂图纸、懂通风空调</a:t>
            </a:r>
          </a:p>
          <a:p>
            <a:pPr>
              <a:spcAft>
                <a:spcPts val="1000"/>
              </a:spcAft>
            </a:pPr>
            <a:r>
              <a:rPr sz="1700">
                <a:solidFill>
                  <a:srgbClr val="222B33"/>
                </a:solidFill>
                <a:latin typeface="Microsoft YaHei"/>
              </a:rPr>
              <a:t>▪ 从建造、验收、维护到停用都参与</a:t>
            </a:r>
          </a:p>
          <a:p>
            <a:pPr>
              <a:spcAft>
                <a:spcPts val="1000"/>
              </a:spcAft>
            </a:pPr>
            <a:r>
              <a:rPr sz="1700">
                <a:solidFill>
                  <a:srgbClr val="222B33"/>
                </a:solidFill>
                <a:latin typeface="Microsoft YaHei"/>
              </a:rPr>
              <a:t>▪ 代表单位与设计方、主管部门沟通</a:t>
            </a:r>
          </a:p>
          <a:p>
            <a:pPr>
              <a:spcAft>
                <a:spcPts val="1000"/>
              </a:spcAft>
            </a:pPr>
            <a:r>
              <a:rPr sz="1700">
                <a:solidFill>
                  <a:srgbClr val="222B33"/>
                </a:solidFill>
                <a:latin typeface="Microsoft YaHei"/>
              </a:rPr>
              <a:t>▪ 使用者在关键阶段参与</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设施设计要多方合作：工程师懂结构，研究者懂生物，管理者居中协调，让设施既满足工程要求又满足实验需要，并符合生物安全法规和标准。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设计全部交给施工方，使用者和安全员到验收时才看</a:t>
            </a:r>
          </a:p>
          <a:p>
            <a:pPr>
              <a:spcAft>
                <a:spcPts val="1000"/>
              </a:spcAft>
            </a:pPr>
            <a:r>
              <a:rPr sz="1500">
                <a:solidFill>
                  <a:srgbClr val="222B33"/>
                </a:solidFill>
                <a:latin typeface="Microsoft YaHei"/>
              </a:rPr>
              <a:t>▪ 生物安全员只管制度，不了解设施</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运行维护：过滤器和关键设备定期检测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安全柜、灭菌器、过滤器、负压要定期检测</a:t>
            </a:r>
          </a:p>
          <a:p>
            <a:pPr>
              <a:spcAft>
                <a:spcPts val="1000"/>
              </a:spcAft>
            </a:pPr>
            <a:r>
              <a:rPr sz="1700">
                <a:solidFill>
                  <a:srgbClr val="222B33"/>
                </a:solidFill>
                <a:latin typeface="Microsoft YaHei"/>
              </a:rPr>
              <a:t>▪ 用前看一眼检测标识是否在有效期内</a:t>
            </a:r>
          </a:p>
          <a:p>
            <a:pPr>
              <a:spcAft>
                <a:spcPts val="1000"/>
              </a:spcAft>
            </a:pPr>
            <a:r>
              <a:rPr sz="1700">
                <a:solidFill>
                  <a:srgbClr val="222B33"/>
                </a:solidFill>
                <a:latin typeface="Microsoft YaHei"/>
              </a:rPr>
              <a:t>▪ 过期未检或检测不合格，停用</a:t>
            </a:r>
          </a:p>
          <a:p>
            <a:pPr>
              <a:spcAft>
                <a:spcPts val="1000"/>
              </a:spcAft>
            </a:pPr>
            <a:r>
              <a:rPr sz="1700">
                <a:solidFill>
                  <a:srgbClr val="222B33"/>
                </a:solidFill>
                <a:latin typeface="Microsoft YaHei"/>
              </a:rPr>
              <a:t>▪ 换过滤器先原位消毒，专人装袋更换</a:t>
            </a:r>
          </a:p>
          <a:p>
            <a:pPr>
              <a:spcAft>
                <a:spcPts val="1000"/>
              </a:spcAft>
            </a:pPr>
            <a:r>
              <a:rPr sz="1700">
                <a:solidFill>
                  <a:srgbClr val="222B33"/>
                </a:solidFill>
                <a:latin typeface="Microsoft YaHei"/>
              </a:rPr>
              <a:t>▪ 装好检漏合格才能用，学生不碰过滤箱</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控制措施装好了还要常维护。生物安全柜、高压灭菌器要按期检测、校准，排风过滤器、压差和定向气流要定期检测验证；维护和检测都要留记录，坏了及时修。使用前看一眼设备上的检测标识是否在有效期内；过期未检或检测不合格的设备挂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使用检测过期的生物安全柜</a:t>
            </a:r>
          </a:p>
          <a:p>
            <a:pPr>
              <a:spcAft>
                <a:spcPts val="1000"/>
              </a:spcAft>
            </a:pPr>
            <a:r>
              <a:rPr sz="1500">
                <a:solidFill>
                  <a:srgbClr val="222B33"/>
                </a:solidFill>
                <a:latin typeface="Microsoft YaHei"/>
              </a:rPr>
              <a:t>▪ 非专业人员自行打开过滤箱或更换过滤器</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认可有期限，变化要重新评审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认可和备案不是一劳永逸</a:t>
            </a:r>
          </a:p>
          <a:p>
            <a:pPr>
              <a:spcAft>
                <a:spcPts val="1000"/>
              </a:spcAft>
            </a:pPr>
            <a:r>
              <a:rPr sz="2000">
                <a:solidFill>
                  <a:srgbClr val="222B33"/>
                </a:solidFill>
                <a:latin typeface="Microsoft YaHei"/>
              </a:rPr>
              <a:t>▪ 要接受定期复评和监督检查</a:t>
            </a:r>
          </a:p>
          <a:p>
            <a:pPr>
              <a:spcAft>
                <a:spcPts val="1000"/>
              </a:spcAft>
            </a:pPr>
            <a:r>
              <a:rPr sz="2000">
                <a:solidFill>
                  <a:srgbClr val="222B33"/>
                </a:solidFill>
                <a:latin typeface="Microsoft YaHei"/>
              </a:rPr>
              <a:t>▪ 设施改动、条件变化，要重新评审</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实验室的认可和备案都不是一劳永逸的：认可有有效期，到期要复评，有效期内还要接受监督评审和主管部门的监督检查（具体周期以现行规定为准）。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认为一次通过认可就可以长期不管</a:t>
            </a:r>
          </a:p>
          <a:p>
            <a:pPr>
              <a:spcAft>
                <a:spcPts val="1000"/>
              </a:spcAft>
            </a:pPr>
            <a:r>
              <a:rPr sz="1500">
                <a:solidFill>
                  <a:srgbClr val="222B33"/>
                </a:solidFill>
                <a:latin typeface="Microsoft YaHei"/>
              </a:rPr>
              <a:t>▪ 改造房间或更换关键设备后不重新检测和评审</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停用搬迁：先去污，再验收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实验室停用、设备搬迁前先彻底去污</a:t>
            </a:r>
          </a:p>
          <a:p>
            <a:pPr>
              <a:spcAft>
                <a:spcPts val="1000"/>
              </a:spcAft>
            </a:pPr>
            <a:r>
              <a:rPr sz="2000">
                <a:solidFill>
                  <a:srgbClr val="222B33"/>
                </a:solidFill>
                <a:latin typeface="Microsoft YaHei"/>
              </a:rPr>
              <a:t>▪ 去污后验收合格并签字</a:t>
            </a:r>
          </a:p>
          <a:p>
            <a:pPr>
              <a:spcAft>
                <a:spcPts val="1000"/>
              </a:spcAft>
            </a:pPr>
            <a:r>
              <a:rPr sz="2000">
                <a:solidFill>
                  <a:srgbClr val="222B33"/>
                </a:solidFill>
                <a:latin typeface="Microsoft YaHei"/>
              </a:rPr>
              <a:t>▪ 合格后才能搬走、改用或报废</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实验室停用、设备搬走或维修之前，先由实验室按规程彻底去污（消毒灭菌），清点并妥善处置剩余的生物材料。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未经去污直接把生物安全柜交给维修或搬家公司</a:t>
            </a:r>
          </a:p>
          <a:p>
            <a:pPr>
              <a:spcAft>
                <a:spcPts val="1000"/>
              </a:spcAft>
            </a:pPr>
            <a:r>
              <a:rPr sz="1500">
                <a:solidFill>
                  <a:srgbClr val="222B33"/>
                </a:solidFill>
                <a:latin typeface="Microsoft YaHei"/>
              </a:rPr>
              <a:t>▪ 实验室停用后遗留菌种、样本无人处置</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关于防护设施的设备层，正确的是：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设备层是参观区，可以随意进入</a:t>
            </a:r>
          </a:p>
          <a:p>
            <a:pPr algn="l"/>
            <a:r>
              <a:rPr sz="1500" b="0">
                <a:solidFill>
                  <a:srgbClr val="222B33"/>
                </a:solidFill>
                <a:latin typeface="Microsoft YaHei"/>
              </a:rPr>
              <a:t>B. 风机、过滤器和电控柜放在实验室上方，实验室里不放机械，便于密封清洁</a:t>
            </a:r>
          </a:p>
          <a:p>
            <a:pPr algn="l"/>
            <a:r>
              <a:rPr sz="1500" b="0">
                <a:solidFill>
                  <a:srgbClr val="222B33"/>
                </a:solidFill>
                <a:latin typeface="Microsoft YaHei"/>
              </a:rPr>
              <a:t>C. 过滤器应从实验室房间里拆换</a:t>
            </a:r>
          </a:p>
          <a:p>
            <a:pPr algn="l"/>
            <a:r>
              <a:rPr sz="1500" b="0">
                <a:solidFill>
                  <a:srgbClr val="222B33"/>
                </a:solidFill>
                <a:latin typeface="Microsoft YaHei"/>
              </a:rPr>
              <a:t>D. 维修设备层设备不需要断电</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判断：防护设施的排风只要由屋顶风机排到高空，就可以不经过滤。</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防护设施的废水处理，正确的是：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直接排入市政管网</a:t>
            </a:r>
          </a:p>
          <a:p>
            <a:pPr algn="l"/>
            <a:r>
              <a:rPr sz="1500" b="0">
                <a:solidFill>
                  <a:srgbClr val="222B33"/>
                </a:solidFill>
                <a:latin typeface="Microsoft YaHei"/>
              </a:rPr>
              <a:t>B. 先进暂存罐，再消毒、中和，监测合格后排放</a:t>
            </a:r>
          </a:p>
          <a:p>
            <a:pPr algn="l"/>
            <a:r>
              <a:rPr sz="1500" b="0">
                <a:solidFill>
                  <a:srgbClr val="222B33"/>
                </a:solidFill>
                <a:latin typeface="Microsoft YaHei"/>
              </a:rPr>
              <a:t>C. 只处理灭菌器的废水</a:t>
            </a:r>
          </a:p>
          <a:p>
            <a:pPr algn="l"/>
            <a:r>
              <a:rPr sz="1500" b="0">
                <a:solidFill>
                  <a:srgbClr val="222B33"/>
                </a:solidFill>
                <a:latin typeface="Microsoft YaHei"/>
              </a:rPr>
              <a:t>D. 洗手水不需要处理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关于实验室建设与认可，正确的是：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施工中加隔墙不必告诉工程师</a:t>
            </a:r>
          </a:p>
          <a:p>
            <a:pPr algn="l"/>
            <a:r>
              <a:rPr sz="1500" b="0">
                <a:solidFill>
                  <a:srgbClr val="222B33"/>
                </a:solidFill>
                <a:latin typeface="Microsoft YaHei"/>
              </a:rPr>
              <a:t>B. 实验室装修完就可以开始做病原实验</a:t>
            </a:r>
          </a:p>
          <a:p>
            <a:pPr algn="l"/>
            <a:r>
              <a:rPr sz="1500" b="0">
                <a:solidFill>
                  <a:srgbClr val="222B33"/>
                </a:solidFill>
                <a:latin typeface="Microsoft YaHei"/>
              </a:rPr>
              <a:t>C. 三级、四级实验室须依法审批并通过国家认可，一级、二级实验室须备案</a:t>
            </a:r>
          </a:p>
          <a:p>
            <a:pPr algn="l"/>
            <a:r>
              <a:rPr sz="1500" b="0">
                <a:solidFill>
                  <a:srgbClr val="222B33"/>
                </a:solidFill>
                <a:latin typeface="Microsoft YaHei"/>
              </a:rPr>
              <a:t>D. 认可一次长期有效</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判断：生物安全柜检测标识已过期，但看起来运转正常，可以继续使用。</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简答：实验室停用、生物安全柜要搬迁时应怎么做？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设施本身就是防护：工程控制</a:t>
            </a:r>
          </a:p>
          <a:p>
            <a:pPr>
              <a:spcAft>
                <a:spcPts val="800"/>
              </a:spcAft>
            </a:pPr>
            <a:r>
              <a:rPr sz="1500">
                <a:solidFill>
                  <a:srgbClr val="FFFFFF"/>
                </a:solidFill>
                <a:latin typeface="Microsoft YaHei"/>
              </a:rPr>
              <a:t>▪ K2  一座防护设施由什么组成</a:t>
            </a:r>
          </a:p>
          <a:p>
            <a:pPr>
              <a:spcAft>
                <a:spcPts val="800"/>
              </a:spcAft>
            </a:pPr>
            <a:r>
              <a:rPr sz="1500">
                <a:solidFill>
                  <a:srgbClr val="FFFFFF"/>
                </a:solidFill>
                <a:latin typeface="Microsoft YaHei"/>
              </a:rPr>
              <a:t>▪ K3  设备层：机器在上，实验室里不放</a:t>
            </a:r>
          </a:p>
          <a:p>
            <a:pPr>
              <a:spcAft>
                <a:spcPts val="800"/>
              </a:spcAft>
            </a:pPr>
            <a:r>
              <a:rPr sz="1500">
                <a:solidFill>
                  <a:srgbClr val="FFFFFF"/>
                </a:solidFill>
                <a:latin typeface="Microsoft YaHei"/>
              </a:rPr>
              <a:t>▪ K4  进排风都过滤，排风高空排放</a:t>
            </a:r>
          </a:p>
          <a:p>
            <a:pPr>
              <a:spcAft>
                <a:spcPts val="800"/>
              </a:spcAft>
            </a:pPr>
            <a:r>
              <a:rPr sz="1500">
                <a:solidFill>
                  <a:srgbClr val="FFFFFF"/>
                </a:solidFill>
                <a:latin typeface="Microsoft YaHei"/>
              </a:rPr>
              <a:t>▪ K5  控制与监测集中管理</a:t>
            </a:r>
          </a:p>
          <a:p>
            <a:pPr>
              <a:spcAft>
                <a:spcPts val="800"/>
              </a:spcAft>
            </a:pPr>
            <a:r>
              <a:rPr sz="1500">
                <a:solidFill>
                  <a:srgbClr val="FFFFFF"/>
                </a:solidFill>
                <a:latin typeface="Microsoft YaHei"/>
              </a:rPr>
              <a:t>▪ K6  污水与废物：出去之前先去污</a:t>
            </a:r>
          </a:p>
          <a:p>
            <a:pPr>
              <a:spcAft>
                <a:spcPts val="800"/>
              </a:spcAft>
            </a:pPr>
            <a:r>
              <a:rPr sz="1500">
                <a:solidFill>
                  <a:srgbClr val="FFFFFF"/>
                </a:solidFill>
                <a:latin typeface="Microsoft YaHei"/>
              </a:rPr>
              <a:t>▪ K7  先算账：建得起，也要养得起</a:t>
            </a:r>
          </a:p>
          <a:p>
            <a:pPr>
              <a:spcAft>
                <a:spcPts val="800"/>
              </a:spcAft>
            </a:pPr>
            <a:r>
              <a:rPr sz="1500">
                <a:solidFill>
                  <a:srgbClr val="FFFFFF"/>
                </a:solidFill>
                <a:latin typeface="Microsoft YaHei"/>
              </a:rPr>
              <a:t>▪ K8  选址：避开风险，保障支援</a:t>
            </a:r>
          </a:p>
          <a:p>
            <a:pPr>
              <a:spcAft>
                <a:spcPts val="800"/>
              </a:spcAft>
            </a:pPr>
            <a:r>
              <a:rPr sz="1500">
                <a:solidFill>
                  <a:srgbClr val="FFFFFF"/>
                </a:solidFill>
                <a:latin typeface="Microsoft YaHei"/>
              </a:rPr>
              <a:t>▪ K9  布局：相邻集中，分区分流</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出入口缓冲间与穿墙灭菌器</a:t>
            </a:r>
          </a:p>
          <a:p>
            <a:pPr>
              <a:spcAft>
                <a:spcPts val="800"/>
              </a:spcAft>
            </a:pPr>
            <a:r>
              <a:rPr sz="1500">
                <a:solidFill>
                  <a:srgbClr val="FFFFFF"/>
                </a:solidFill>
                <a:latin typeface="Microsoft YaHei"/>
              </a:rPr>
              <a:t>▪ K11  结构和材料要经得住</a:t>
            </a:r>
          </a:p>
          <a:p>
            <a:pPr>
              <a:spcAft>
                <a:spcPts val="800"/>
              </a:spcAft>
            </a:pPr>
            <a:r>
              <a:rPr sz="1500">
                <a:solidFill>
                  <a:srgbClr val="FFFFFF"/>
                </a:solidFill>
                <a:latin typeface="Microsoft YaHei"/>
              </a:rPr>
              <a:t>▪ K12  设计时就考虑物理安保</a:t>
            </a:r>
          </a:p>
          <a:p>
            <a:pPr>
              <a:spcAft>
                <a:spcPts val="800"/>
              </a:spcAft>
            </a:pPr>
            <a:r>
              <a:rPr sz="1500">
                <a:solidFill>
                  <a:srgbClr val="FFFFFF"/>
                </a:solidFill>
                <a:latin typeface="Microsoft YaHei"/>
              </a:rPr>
              <a:t>▪ K13  需求、设计、施工、认可四步走</a:t>
            </a:r>
          </a:p>
          <a:p>
            <a:pPr>
              <a:spcAft>
                <a:spcPts val="800"/>
              </a:spcAft>
            </a:pPr>
            <a:r>
              <a:rPr sz="1500">
                <a:solidFill>
                  <a:srgbClr val="FFFFFF"/>
                </a:solidFill>
                <a:latin typeface="Microsoft YaHei"/>
              </a:rPr>
              <a:t>▪ K14  使用者和生物安全员参与建设</a:t>
            </a:r>
          </a:p>
          <a:p>
            <a:pPr>
              <a:spcAft>
                <a:spcPts val="800"/>
              </a:spcAft>
            </a:pPr>
            <a:r>
              <a:rPr sz="1500">
                <a:solidFill>
                  <a:srgbClr val="FFFFFF"/>
                </a:solidFill>
                <a:latin typeface="Microsoft YaHei"/>
              </a:rPr>
              <a:t>▪ K15  运行维护：过滤器和关键设备定期检测</a:t>
            </a:r>
          </a:p>
          <a:p>
            <a:pPr>
              <a:spcAft>
                <a:spcPts val="800"/>
              </a:spcAft>
            </a:pPr>
            <a:r>
              <a:rPr sz="1500">
                <a:solidFill>
                  <a:srgbClr val="FFFFFF"/>
                </a:solidFill>
                <a:latin typeface="Microsoft YaHei"/>
              </a:rPr>
              <a:t>▪ K16  认可有期限，变化要重新评审</a:t>
            </a:r>
          </a:p>
          <a:p>
            <a:pPr>
              <a:spcAft>
                <a:spcPts val="800"/>
              </a:spcAft>
            </a:pPr>
            <a:r>
              <a:rPr sz="1500">
                <a:solidFill>
                  <a:srgbClr val="FFFFFF"/>
                </a:solidFill>
                <a:latin typeface="Microsoft YaHei"/>
              </a:rPr>
              <a:t>▪ K17  停用搬迁：先去污，再验收</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