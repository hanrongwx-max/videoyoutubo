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这里出发（风险评估的通用方法见第 014 课）。</a:t>
            </a:r>
          </a:p>
          <a:p>
            <a:r>
              <a:t>使用菌种、样本之前，先弄清它从哪里来、是什么、对人有没有危害；来历不明的环境菌不随意使用，来源不清的临床样本风险要往高处估。按评估结果，在规定级别的实验室、用规定的方法操作（防护等级的确定见第 060 课）。</a:t>
            </a:r>
          </a:p>
          <a:p>
            <a:r>
              <a:t>评估之后要实施控制（工程控制加个人防护等），再检查控制效果，发现问题就回到评估，循环改进（管理体系见第 065 课）。</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危害是任何可能造成伤害的东西，生物因子（病原微生物、毒素、感染性样本等）就是潜在的危害。风险则是这种伤害真正发生的可能性及其后果；伤害源是生物因子的，就叫生物风险。</a:t>
            </a:r>
          </a:p>
          <a:p>
            <a:r>
              <a:t>危害本身是“物”，人动手去操作它，危害才变成风险。操作、运输、被盗、容器或封闭屏障破损，都是危害变成风险的途径。所以评估时既要看“这东西有多危险”，也要看“我要拿它做什么”。</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风险是可能性和后果（严重程度）的组合。可能性指防护失效、发生暴露的几率有多大；后果指一旦发生，对人员、公众和环境造成的伤害有多大。两者结合起来，才能看出风险的高低。</a:t>
            </a:r>
          </a:p>
          <a:p>
            <a:r>
              <a:t>举例：样本转运不规范（容器不密封、没有二级包装），发生泄漏的可能性就大，后果是转运人员和沿途的人可能被感染。包装运输的要求见第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就放松防护。</a:t>
            </a:r>
          </a:p>
          <a:p>
            <a:r>
              <a:t>致病的病原关在实验室的封闭条件下，风险很低；一旦因为意外泄漏或被人故意带出、滥用，后果就很严重。因此既要防意外（生物安全），也要防滥用（生物安保，见第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把风险说清楚，可能性和后果都要分级。可能性回答“发生的概率有多大”，可从“很少”到“经常”分级；后果回答“万一发生会怎样”，可从“轻微”（无伤害或轻微不适）到“严重”（严重疾病、扩散到社区或环境）分级。</a:t>
            </a:r>
          </a:p>
          <a:p>
            <a:r>
              <a:t>常见的做法是两边各分三到五级。分几级、每一级怎么判定，以本校风险评估程序为准；同一实验室内应统一标准，评估人员对照同一张表打分，结果才可比。</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把可能性和后果的分级交叉成一张表，就是风险矩阵：可能性低、后果轻的落在绿格，风险最低；可能性大、后果重的落在红格，风险最高；中间是黄格。</a:t>
            </a:r>
          </a:p>
          <a:p>
            <a:r>
              <a:t>把实验中的每个风险点（每个操作步骤）都放进矩阵，哪里风险高一目了然，红格优先处理。风险矩阵的通用用法见第 014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生物材料，风险随操作而变。样本密封冻存在罐里，风险较低；拿出来开盖处理、提取核酸，风险升高；培养活的病原（数量和浓度增加），风险最高。流程一步步往后走，风险一级级升高，一旦释放，后果也越大。</a:t>
            </a:r>
          </a:p>
          <a:p>
            <a:r>
              <a:t>所以评估不能只做一次笼统的结论，提取、扩增、检测、培养等步骤越多，越要逐步评估（逐步打分的方法见第 068 课）。储存也有风险：容器要密封、标签要标清、冷冻柜要上锁，库存要有记录。</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评估有固定的步骤：危害识别、风险分析、风险评价、风险控制、记录、复查。也有资料把它概括为五步（识别、评估、控制、看残余风险、再决策），内容是一致的：先认清危害，再估计风险大小，加控制后看残余风险能否接受，然后决定做不做。</a:t>
            </a:r>
          </a:p>
          <a:p>
            <a:r>
              <a:t>最后一步是复查，走完一遍还要回头再看。评估的结果用于确定防护等级（见第 060 课）和控制措施（见第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第一步是危害识别：先弄清用的是什么生物因子，查《人间传染的病原微生物目录》（以现行版本为准），认出它属于哪一类，再查病原资料拿到依据（要素清单见第 068 课）。注意两套编号：国内病原分类第一类危害最大、第四类最小，国际风险组 1 组最低、4 组最高，方向相反（见第 058 课）。</a:t>
            </a:r>
          </a:p>
          <a:p>
            <a:r>
              <a:t>再列出要做哪些实验活动，用量多少、浓度多高写清楚。看会不会溅、会不会扎，会不会产生气溶胶（离心、振荡、匀浆、超声、吹打等），这是重点。评估要把病原、操作、人员和设施四个方面都看到。</a:t>
            </a:r>
          </a:p>
          <a:p>
            <a:r>
              <a:t>风险评估别只盯着微生物：消毒剂、固定液有化学危害，锐器、高温、紫外灯也会伤人，要一起识别。</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a:p>
            <a:r>
              <a:t>资料不足、来历不清的样本（如未经检测的临床样本、环境样本），风险往高处估。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第三步是风险评价：根据分析结果和风险矩阵，给出总体风险等级——低、中还是高。等级决定要采取多强的控制措施和在哪一级实验室开展。</a:t>
            </a:r>
          </a:p>
          <a:p>
            <a:r>
              <a:t>评价时还要对照现有的控制措施：现有设施、设备、规程和防护够不够把风险控制住。够，就可以接受；不够，就要再加控制。</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第四步是风险控制：按控制层级（见第 017 课）选择措施，用什么设备、穿什么防护、怎么操作。工程控制（合适级别的实验室、生物安全柜、密封离心转子）、个人防护和标准操作规程要一起上。例如离心可能产生气溶胶的样本时，使用密封转子，离心后在生物安全柜内开盖。</a:t>
            </a:r>
          </a:p>
          <a:p>
            <a:r>
              <a:t>生物安全员可以用问卷逐项评估，按控制层级挑合适的措施，把结论和建议讲给实验室负责人和课题组。具体的控制与管理措施见第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采取控制措施后剩下的风险叫残余风险：风险能降下来，但清不了零。把要做的操作一项项列出来，每项单独评估，再合起来看总风险。</a:t>
            </a:r>
          </a:p>
          <a:p>
            <a:r>
              <a:t>残余风险能接受，经实验室负责人批准后才开展，并且要让团队都知道、都认可“我们带着这些风险工作”；不能接受，就再加措施、改方法，或者不做。残余风险较高或拿不准的，报生物安全委员会审议。各实验室情况不同，要按实际评估，不照搬别人的结论。</a:t>
            </a:r>
          </a:p>
          <a:p>
            <a:r>
              <a:t>学生拿不准时，先问导师，不擅自开展。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第五步是记录：把评估的过程、依据、结论和控制措施写成风险评估报告，按本校程序经审核批准后存档备查，新来的人也能查到和学习。书面记录的通用写法见第 015 课。</a:t>
            </a:r>
          </a:p>
          <a:p>
            <a:r>
              <a:t>写下来只是一半，更重要的是把报告里的措施真正落实到每一次操作中。</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第六步是复查：即使没有变化，也要按本校规定定期复查评估报告。遇到以下情况要及时重新评估并更新：更换病原或材料、改变实验方法或流程、人员变化、设施设备变化，以及发生事件或事故之后。</a:t>
            </a:r>
          </a:p>
          <a:p>
            <a:r>
              <a:t>新开展的实验活动，其防护级别要按本校程序报生物安全委员会审批，不自行决定（见第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答案：B。解析：危害是物，风险看可能性和后果，与怎么操作、运输、储存有关。</a:t>
            </a:r>
          </a:p>
          <a:p>
            <a:r>
              <a:t>第 2 题 答案：B。解析：规范操作降的是可能性，后果不一定变轻，防护不能放松。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答案：B。解析：先认清危害，再分析和评价风险，然后控制、记录，最后定期复查。</a:t>
            </a:r>
          </a:p>
          <a:p>
            <a:r>
              <a:t>第 4 题 答案：D。解析：换病原、换方法、换人换设施、出了事件都要重新评估；没有变化也要定期复查。</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答案：B。解析：残余风险能降不能清零；可接受并经负责人批准才开展，不可接受就加措施或不做。</a:t>
            </a:r>
          </a:p>
          <a:p>
            <a:r>
              <a:t>第 6 题 答案：国内第一类危害最大、第四类最小；国际风险组 1 组最低、4 组最高，方向相反。解析：查目录时不能把两套编号弄混。</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验都要专门评估，不能借用别的实验室的评估报告。</a:t>
            </a:r>
          </a:p>
          <a:p>
            <a:r>
              <a:t>在评估、减缓、绩效的 AMP 循环里（见第 065 课），评估是第一步，首先要做的是找出危害。评估的步骤和风险矩阵见第 067 课，本课讲评估时要逐项考虑的要素。</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风险评估要以已知的病原信息为依据；不知道是什么，风险就看不清。病原还没有确认时，评估要从严，按较高的防护要求操作，并报单位生物安全委员会审核（定级见第 060 课）。</a:t>
            </a:r>
          </a:p>
          <a:p>
            <a:r>
              <a:t>有几类样本要特别从严对待：经过改造的核酸或生物材料、临床（医院）样本、土壤等环境样本、野生动物来源的样本；即使样本来自看起来健康的人或动物，也可能携带病原。这些样本在没有充分信息之前，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风险评估像一座冰山：水面上看得见的风险，能评估、能控制；水面下看不见的风险，同样可能出事，比如一个没人知道的过敏、一种新方法里没有先例的问题。没有先例时，常规的问题清单也可能问不到。</a:t>
            </a:r>
          </a:p>
          <a:p>
            <a:r>
              <a:t>所以评估要尽量全面：查资料、问有经验的人、让动手的人参与，对看不见的风险也尽力预判，并在复查时补充（复查见第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看一串判据，可整理成一张清单，分四块：病原本身（分类、致病性、感染剂量、途径、存活、宿主、防治、是否改造）；实验活动（工艺、用量和浓度、步骤多少、参与人数）；人员（培训、健康和免疫状态）；设施与管理（设备、防护、预案、废物、安保）。</a:t>
            </a:r>
          </a:p>
          <a:p>
            <a:r>
              <a:t>各单位可以参照国家标准、行业标准和本校程序，把清单编成本实验室的评估工具（问卷或表格），照着逐项问一遍，评估就成形了。</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病原层面的第一问是：它属于哪一类？查《人间传染的病原微生物目录》（以现行版本为准），目录还规定了不同实验活动所需的实验室防护级别。</a:t>
            </a:r>
          </a:p>
          <a:p>
            <a:r>
              <a:t>注意两套编号：国内病原微生物分为四类，第一类危害最大、第四类最小；国际风险组 1 组最低、4 组最高，方向相反（见第 058 课）。阅读国外资料时不能把编号直接套用。分类只是起点，还要继续问后面的各项要素。</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一看致病性：暴露后会不会致病，致病性有多强。二看感染剂量：多少量才会引起感染（具体数值查权威资料，不同病原差别很大）；感染剂量越低，越要格外小心。三看暴露后果：引起的疾病有多严重。</a:t>
            </a:r>
          </a:p>
          <a:p>
            <a:r>
              <a:t>培养体积在满足实验需要的前提下尽量小，万一溢洒，量少也更容易控制。</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要查清病原从哪里进入人体：吸入气溶胶、皮肤黏膜接触、锐器刺伤，还是误食入口；会不会形成气溶胶经空气传播。还要看传播方式中有没有媒介（如蜱、蚊等）或动物宿主参与，以及会不会人传人。</a:t>
            </a:r>
          </a:p>
          <a:p>
            <a:r>
              <a:t>途径决定控制重点：能经空气传播的，要特别控制产生气溶胶的操作；经血液传播的，要特别防锐器伤。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宿主范围：有的病原能在人、多种动物甚至环境中生存，宿主和来源很多样，有的从环境中吸入就能感染；制定管理方案时要把这些都算上。</a:t>
            </a:r>
          </a:p>
          <a:p>
            <a:r>
              <a:t>环境存活：病原在台面、器材和空气中能存活多久，决定了污染范围和消毒要求（消毒见第 076 课）。本地流行情况：病原在本地流行还是外来，本地人可能已有一定免疫力，外来病原则可能没有。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要问有没有有效的疫苗预防、有没有药物治疗，本地医疗机构能不能及时提供。没有有效的预防和治疗手段，暴露的后果就更严重，风险等级随之升高。</a:t>
            </a:r>
          </a:p>
          <a:p>
            <a:r>
              <a:t>评估要有依据：先查文献、病原资料和已有研究，了解这个病原在实验室里的已知风险和以往的感染事件。</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要问这个生物材料有没有做过基因改造。改造可能改变它的特性，带来新的风险，必须重新评估，并按规定报单位生物安全委员会审查；不能直接沿用未改造亲本的结论。</a:t>
            </a:r>
          </a:p>
          <a:p>
            <a:r>
              <a:t>经改造的植物还要问：有没有毒性，能否随花粉传播、传多远，人员有没有培训，是否在封闭条件下操作。转基因生物的风险评估见第 081 课，植物封闭温室见第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个病原，操作不同风险不同。评估先问：你拿它做什么？冻存保存风险最低，开展检测风险升高，大量培养风险最高；只提取核酸风险较低，种植改造植物并收集花粉风险较高。培养使病原数量增加，一旦溢洒后果更重。</a:t>
            </a:r>
          </a:p>
          <a:p>
            <a:r>
              <a:t>浓度越高、体积越大，风险也跟着上升。处理高风险样品或操作时，防护措施要相应升级（防护等级见第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把整个操作拆成一个个小步骤，每一步问：会不会产生气溶胶（离心、振荡、匀浆、超声、剧烈吹打等）？有没有锐器、溅洒和手接触？把这些风险点标出来。</a:t>
            </a:r>
          </a:p>
          <a:p>
            <a:r>
              <a:t>每一步操作本身的风险都要评估，并写进样本处理方案，对应具体的控制措施，例如移液时沿管壁缓慢放液、在生物安全柜内操作、使用密封离心转子（生物安全柜使用见第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评估也要看操作的人：免疫状态、健康状况、过敏史、是否怀孕等。免疫低下的人风险更高，需要额外的防护，或者调整工作安排。</a:t>
            </a:r>
          </a:p>
          <a:p>
            <a:r>
              <a:t>本人应主动向实验室负责人说明过敏、免疫低下等情况，负责人据此调整安排，并对个人健康信息保密（健康告知见第 152 课，医学监护与免疫接种见第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可以把病原要素变成一份问卷，用“是”或“否”逐条回答：是病原吗？暴露后会致病吗？经吸入传播吗？经接触传播吗？在环境中稳定吗？经过改造吗？好治吗？</a:t>
            </a:r>
          </a:p>
          <a:p>
            <a:r>
              <a:t>答“是”（或“不好治”）的地方，就是风险点，要对应到具体的控制措施。问卷的条目可按本校评估程序增减。</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再看现有控制够不够，问设施与管理：人员培训够不够？有没有应急预案？关键设备（生物安全柜、高压灭菌器等）齐不齐、合格不合格？个人防护够不够？废物怎么处置？安保措施和专门的操作规程有没有？</a:t>
            </a:r>
          </a:p>
          <a:p>
            <a:r>
              <a:t>这些要和实验室负责人一起确认。换了病原，规程要重写，人员要重新培训。</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评估要同时看两类风险：生物安全风险——操作人员和周边社区会不会暴露；生物安保风险——样本会不会丢失、被盗或被滥用（生物安保见第 083 课）。两类风险都要放进同一张评估表里打分。</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a:p>
            <a:r>
              <a:t>已掌握的信息（途径、是否人传人、要做的操作）就是评估的依据；未确证的部分按从严原则处理。</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构化评估就是把一个流程拆成单个操作，一步一步评估。本案例拆成八步：接收与初始存放、样本编目、分离血清、免疫检测、检测后样本处置、去污、记录保存、意外暴露的应急处置。后四步常被忽略，也不能漏。</a:t>
            </a:r>
          </a:p>
          <a:p>
            <a:r>
              <a:t>更大范围的流程还包括运输、接收、储存、处理、处置和数据传输，每一步都要评一次。例如接收时先在安全柜内检查样本管的密封和标签（样本接收见第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每一步都用风险矩阵（可能性配后果，见第 067 课）打分，例如“接收和存放时意外暴露”可能性低、后果低；颜色分低、中、高、很高，一看就懂。各步汇总成累计矩阵或总表，全程风险一行看清，并找出风险最高的步骤。</a:t>
            </a:r>
          </a:p>
          <a:p>
            <a:r>
              <a:t>总表还能看出风险的变化：例如样本灭活后，被盗滥用的风险就降低了。打分要有依据：做熟了也不能随手把可能性打低，要参考实验记录、事件和险兆报告，不凭感觉。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评估结束时有一个决策点：在现有控制下，残余风险是否可接受？不够低的，进入下一步风险减缓，对每一项风险点对应具体措施（见第 069 课）。</a:t>
            </a:r>
          </a:p>
          <a:p>
            <a:r>
              <a:t>评估结果要写成文件，按本校程序经生物安全委员会审核，再对应到一条条具体措施并落实。评清楚、控到位，再决定是否开展。</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答案：B。解析：两套编号方向相反；分类只是评估的起点。</a:t>
            </a:r>
          </a:p>
          <a:p>
            <a:r>
              <a:t>第 2 题 答案：B。解析：冻存最低、检测升高、大量培养最高，浓度和量越大风险越高。</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答案：D。解析：病原层面看分类、致病性与感染剂量、途径与媒介、宿主、存活、本地流行、防治和改造。</a:t>
            </a:r>
          </a:p>
          <a:p>
            <a:r>
              <a:t>第 4 题 答案：B。解析：应主动说明，负责人据此调整安排并为个人保密。</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答案：B。解析：每一步都要评，后几步也不能漏，汇成总表看全程风险。</a:t>
            </a:r>
          </a:p>
          <a:p>
            <a:r>
              <a:t>第 6 题 答案：病原未确认的样本、经过改造的材料、临床样本、土壤等环境样本、野生动物来源的样本（包括看似健康来源的）。解析：信息不足时风险往高处估，报生物安全委员会审核。</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风险评估（见第 067、068 课）只是在提问：有什么风险、有多大，本身不会让风险变小；风险减缓才是真正把风险降下来。流程是：识别危害、评估风险，然后进入减缓，控制措施在这一步登场。</a:t>
            </a:r>
          </a:p>
          <a:p>
            <a:r>
              <a:t>控制就是落实管理决策的行动：评估报告里定下的每一条措施，都要落实到设施、规程、培训和防护上，而且几类措施要一起用、互相补位。</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控制层级的通用讲法见第 017 课。</a:t>
            </a:r>
          </a:p>
          <a:p>
            <a:r>
              <a:t>打个比方：汽车的安全带和刹车是工程控制，驾照和交通规则是管理控制。能从源头消除或替代的风险，不要只靠口罩手套来挡。加完控制后，再看残余风险，决定做还是不做（见第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消除是最有效的控制：风险太大，或者没有合适的设施（如没有生物安全柜、没有定向气流）、人员没有培训、人手不足，这个实验就不做，或者转到具备条件的单位开展。</a:t>
            </a:r>
          </a:p>
          <a:p>
            <a:r>
              <a:t>但消除也不是一刀切：全部停掉会阻碍科研进步，要在评估的基础上给研究留出空间，通过其他控制把风险降到可接受，再谨慎开展。</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替代就是换成风险更低的方案：例如改用减毒、弱化的株，在实验室里更好管理；样本在送来之前先按规定灭活，风险就大大降低；能用塑料器材就不用玻璃，能不用锐器就不用锐器。</a:t>
            </a:r>
          </a:p>
          <a:p>
            <a:r>
              <a:t>替代方案本身也要经过评估再换，确认新方案确实风险更低、又能满足实验需要（灭活要经过验证）。</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工程控制是用专门设计的设施设备把病原关住，给人创造安全的工作环境：例如在生物安全柜内操作并接好排风，加上高效过滤和污水处理；实验室保持负压，空气从外往里流，就形成了封闭。</a:t>
            </a:r>
          </a:p>
          <a:p>
            <a:r>
              <a:t>封闭原理、设施布局和运行维护分别见第 062、063、064 课，生物安全柜见第 071–073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a:p>
            <a:r>
              <a:t>不会正确穿脱，反而可能污染自己，所以每件防护都配有使用规程。防护装备的选用见第 074 课，穿戴与脱卸见第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a:p>
            <a:r>
              <a:t>有了好设施，操作也不能随便：工程控制不能代替规范操作，设施加规范，才真正安全。</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在第 068 课把流程拆成单步、逐步打分之后，对每一步依次问五个控制问题：能不能不做（消除）？能不能换个办法（替代）？能不能加设备（工程控制）？要不要专门的规程（管理控制）？要什么防护（个人防护）？</a:t>
            </a:r>
          </a:p>
          <a:p>
            <a:r>
              <a:t>把每一步选定的措施汇总成一张措施表，例如“接收与存放”主要靠规程和个人防护，再据此落实和检查（绩效评估见第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管理控制是生物风险管理的基石，要在设计建设设施之前，就以安全手册和管理制度的形式定下来。它包括书面的政策、规则、工作安排、培训和记录，一切都要白纸黑字，检查时要看记录。</a:t>
            </a:r>
          </a:p>
          <a:p>
            <a:r>
              <a:t>管理控制种类很多：管理计划、生物安全委员会（以及实验动物、伦理等委员会）、人员与培训、手册、标识、库存、体检、检查审核和文件记录，也包括准入、个人防护和操作规范的要求，以及对工作人员心理和压力的关注。目标是减少接触的时间、次数和严重程度，把风险降下来。</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a:p>
            <a:r>
              <a:t>内部制度由学校、学院和实验室按需要制定，但必须放在法律框架里面，不能与法规冲突。单位要找出所有相关要求并逐条落实，不能说“我不知道有这个规定”；拿不准的，请懂法规的人把关。管理制度要有领导支持，每个人都要对自己的事负责，制度变成做法，做法留下记录。</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标准操作规程的通用原则是“写你所做，做你所写”：规程写的就是实际做的，实际做的就要和规程一致，记录也要与之相符。操作时严格按规程，一步都不能省；规程本身也要测试，确认管用。</a:t>
            </a:r>
          </a:p>
          <a:p>
            <a:r>
              <a:t>规程里要写清应急步骤：溢洒、针刺、暴露怎么处置，先处置，再逐级上报（处置见第 078 课）。记录可以是电子或纸质的：电子记录要备份、要保密，纸质记录要归档存放，记录要有人核实确认。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核对表和操作规程配套使用：边做边勾，保持情景意识，知道自己做到了哪一步。人累了容易出错，长流程要安排轮班或休息。</a:t>
            </a:r>
          </a:p>
          <a:p>
            <a:r>
              <a:t>核对表可以自查，也可以同伴互查；填好的核对表按规定存档（电子、纸质均可），检查和审核时要查。</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人员上岗前要看学历、培训经历、实际操作能力和相关经验，由单位考核合格后准入（准入与培训制度见第 007 课，以本校规定为准）。按能力分工；换任务、遇到新情况、来了新设备、出了新规定，都要培训。培训要在本实验室、结合实际进行，在别处合格，换地方还要重新学。定期在工作台旁考核，不合格就再培训；培训要留记录，能力要能证明。</a:t>
            </a:r>
          </a:p>
          <a:p>
            <a:r>
              <a:t>风险评估做完，要讲给每个一起工作的人，看懂后签字确认，评估更新后再告诉大家。使用者还要签承诺：自己遵守规程，也提醒别人遵守；事故和未遂事件都要报告；出现相关症状或新的健康问题也要报告。</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a:p>
            <a:r>
              <a:t>标识按国家标准和本校规定的式样设置，信息变化时及时更新。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管理从一本清单开始：有哪些菌种、毒种、样本、质粒、转基因材料和实验动物，做哪些实验，都登记清楚，变了就更新。台账写明存放位置、安保要求、领用和去向，来龙去脉随时查得到。</a:t>
            </a:r>
          </a:p>
          <a:p>
            <a:r>
              <a:t>菌毒种和样本要专柜保存、专人保管，贴好标签，领用、归还、销毁都要登记。不得私自带出实验室，不得私自转送他人；不把来历不明的菌株带进实验室。用过的菌液和平板先灭活再处理，不能直接倒进水槽（感染性废物见第 077 课）。</a:t>
            </a:r>
          </a:p>
          <a:p>
            <a:r>
              <a:t>发现菌毒种或样本丢失、被盗，立即报告实验室负责人和保卫处，并按规定逐级上报，不得隐瞒（生物安保见第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a:p>
            <a:r>
              <a:t>工作前、中、后都要关注健康，按规定定期体检和健康监测。发生暴露后，由单位负责安排医学评估、预防性处置和救治。职业健康监护的一般要求见第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有的病原有疫苗可用。风险评估认为需要接种的，按要求在上岗前完成接种，并记入健康档案（具体接种项目以评估和本校规定为准）。</a:t>
            </a:r>
          </a:p>
          <a:p>
            <a:r>
              <a:t>疫苗不是万能的：保护作用因人而异，也不覆盖其他危害，打了疫苗，个人防护和规范操作一样也不能少。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健康监测也落到每个人身上。做完实验后出现发热等身体不适，要及时就医，并主动告诉医生自己在什么实验室工作、接触过哪类微生物，便于医生及早判断。</a:t>
            </a:r>
          </a:p>
          <a:p>
            <a:r>
              <a:t>同时报告导师和实验室负责人，便于及早查明原因、采取措施，保护其他人员。</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a:p>
            <a:r>
              <a:t>疑似实验室感染要立即按规定报告并处置（以现行规定和本校规定为准），对相关人员进行医学观察和随访。生物安全员要和学校医务、职业健康部门合作，做好预防和健康监测。</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生物毒素是生物来源的有毒物质，可能少量就造成严重伤害，属于需要特别管理的材料。要专人专柜（加锁）保管，领用要登记、双人复核，定期清点数量，账物相符。</a:t>
            </a:r>
          </a:p>
          <a:p>
            <a:r>
              <a:t>用完按规定方法灭活，再作为废物处置。属于国家管制范围的，按相应规定管理和审批（以现行规定和本校规定为准）；发现丢失、被盗立即报告。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答案：B。解析：从上往下选，越往上越有效，个人防护是最后一道防线。</a:t>
            </a:r>
          </a:p>
          <a:p>
            <a:r>
              <a:t>第 2 题 答案：B。解析：各类控制要并用，工程控制代替不了规范操作。</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答案：B。解析：清单台账，去向可查；不私自带出、不转送；用过的先灭活。</a:t>
            </a:r>
          </a:p>
          <a:p>
            <a:r>
              <a:t>第 4 题 答案：B。解析：打了疫苗，防护和规范操作也不能少。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答案：B。解析：说明接触史便于及早判断，报告负责人便于查明原因、保护他人。</a:t>
            </a:r>
          </a:p>
          <a:p>
            <a:r>
              <a:t>第 6 题 答案：专人专柜（加锁）保管，领用登记、双人复核，定期清点账物相符，用完按规定灭活再作废物处置，丢失被盗立即报告。解析：属于国家管制范围的按相应规定管理。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一个生物安全实验室能否安全运行，首先看组织：谁决策、谁把关、谁执行。高校实行学校—学院—实验室三级管理（通用讲法见第 004 课），实验室负责人是本实验室生物安全的第一责任人。</a:t>
            </a:r>
          </a:p>
          <a:p>
            <a:r>
              <a:t>生物安全的组织结构可以分三层：上层是学校和学院领导，负责决策和资源保障；中层是生物安全委员会和生物安全员，负责审查和把关；下层是技术人员、研究人员和辅助人员，按规程执行。周边还有设施工程（电、通风、空调）、保卫（门禁和数据安全）、职业健康（体检和医学监护）、实验动物管理以及外部专家顾问。</a:t>
            </a:r>
          </a:p>
          <a:p>
            <a:r>
              <a:t>体系里最关键的是人。每一层的人员都要经过培训，而且培训不是一次性的，要随着任务、设备和规定的变化持续进行（见第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落实。</a:t>
            </a:r>
          </a:p>
          <a:p>
            <a:r>
              <a:t>委员会的核心工作是审查：涉及病原微生物、转基因等的研究，新课题开题或方法有重大改变时，先做风险评估（见第 067、068 课），再提交委员会审查；风险评估结论和应采用的防护级别由委员会把关。</a:t>
            </a:r>
          </a:p>
          <a:p>
            <a:r>
              <a:t>国内对实验室和实验活动有法定程序：一级、二级生物安全实验室按规定向主管部门备案；三级、四级实验室须通过国家认可，从事高致病性病原微生物实验活动须经批准（具体程序以现行法规为准）。学生不能自己决定开展新实验，更不能自己给病原或实验活动"定级"。</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设施经理（设施工程师）负责生物安全实验室的"硬件"：供电、通风和定向气流、空调、给排水、高压灭菌器等设施设备的运行和日常维护，设备出故障时组织抢修。他应当是合格的工程技术人员。</a:t>
            </a:r>
          </a:p>
          <a:p>
            <a:r>
              <a:t>设施经理进入实验室维修时同样面临生物风险，所以除了懂工程，还必须懂生物安全规程：维修前与实验室负责人沟通、按要求消毒和穿戴防护、做好记录（设施的设计与运行见第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生物安全员（有的单位称生物安全负责人、安全监督员）是生物安全体系中"人"的关键一环：读懂单位的生物安全政策，并把它落实到每一间实验室。他应受过专门培训，懂生物学、懂法规、也懂操作。</a:t>
            </a:r>
          </a:p>
          <a:p>
            <a:r>
              <a:t>安全员的主要工作是三步循环：评估风险、落实控制措施、检查控制成效。在实验室现场，安全员有权监督日常运行；发现防护被破坏或违规操作，有权当场指出并制止。按 GB 19489-2008（以现行文本为准）的要求，单位应指定安全负责人，并赋予其监督实验室活动、制止不安全行为的职责和权力。</a:t>
            </a:r>
          </a:p>
          <a:p>
            <a:r>
              <a:t>各单位对这一岗位的叫法可能不同，但职责是相近的。</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a:p>
            <a:r>
              <a:t>单位要通过书面文件明确安全员的职责和权力，并在组织上给予支持，否则"有责无权"，监督就会落空。</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项目负责人（课题负责人、导师）最了解自己的实验：用什么病原或材料、做哪些操作、风险在哪里。因此，具体的防护措施由项目负责人在风险评估基础上提出，经委员会审查后落实。</a:t>
            </a:r>
          </a:p>
          <a:p>
            <a:r>
              <a:t>项目负责人带领团队对实验本身负责：组织风险评估、编写操作规程、保证组内人员培训合格和健康监护到位、监督规程执行，出现事故及时报告。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合起来看：生物安全委员会统管全局，设施经理保证设施设备正常运转，生物安全员负责评估、控制和检查，项目负责人对实验本身负责。</a:t>
            </a:r>
          </a:p>
          <a:p>
            <a:r>
              <a:t>各方像一组咬合的齿轮，任何一方缺位，整个体系都会停转。例如设施停电检修，要提前通知项目负责人暂停实验；安全员发现问题，要同时告知项目负责人和设施经理。</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过审批的，不能开工。</a:t>
            </a:r>
          </a:p>
          <a:p>
            <a:r>
              <a:t>要特别注意：我国《病原微生物实验室生物安全管理条例》把病原微生物分为四类，第一类危害最大、第四类最低，与国际上按"风险组"从低到高编号的方向正好相反，不能弄反（见第 058 课）。</a:t>
            </a:r>
          </a:p>
          <a:p>
            <a:r>
              <a:t>安全员也要懂基因工程和生物技术：基因改造可能改变病原的致病性、宿主范围等特性，这类研究必须先评估、经审查批准（见第 081 课）。此外，实验室里除了生物风险，还有化学品、锐器、用电等风险，也要一并评估。</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生物安全不只保护实验人员，还要保护实验室外的公众和环境。人兽共患病原、转基因动植物和微生物、实验动物和媒介昆虫一旦逃逸到外界，可能造成传播或生态影响，安全员要督促落实防逃逸措施（见第 082、084 课）。</a:t>
            </a:r>
          </a:p>
          <a:p>
            <a:r>
              <a:t>遇到自己不熟悉的领域或拿不准的问题，要及时请教专家或上报委员会，不能凭感觉决定。</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071–073 课）。</a:t>
            </a:r>
          </a:p>
          <a:p>
            <a:r>
              <a:t>安全员自己会正确使用设备，才能培训和指导别人使用。</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有人觉得安全是负担：花钱、费时间、影响进度。这时硬压规定没有用。推动改变要分三步：先让领导和大家明白为什么要管（提高意识），再在全单位充分沟通，最后通过培训和制度真正落实。</a:t>
            </a:r>
          </a:p>
          <a:p>
            <a:r>
              <a:t>合规就是遵从规则、标准和法律，但"法律逼我才遵守"是不够的。只有明白了道理，知道这是在保护自己和他人，才会主动去做。</a:t>
            </a:r>
          </a:p>
          <a:p>
            <a:r>
              <a:t>安全员沟通时要讲清楚、说得服人，对领导、同事和外单位都一样；要对事不对人、不带偏见，体察不同背景的人对风险的不同看法。</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新上任的安全员可以从四方面入手：政策、法律、社会责任和人。先推动把生物安全写进单位的发展目标和政策；政策必须在国家法律法规的范围之内；生物安全也是单位对社会应负的责任。</a:t>
            </a:r>
          </a:p>
          <a:p>
            <a:r>
              <a:t>最关键的是找到各层级愿意带头推动安全的人，支持他们，让他们影响身边的人。安全计划由制度、设施、培训、健康监护、应急等许多部分组成，安全员要让这些部分和人环环相扣、一起运转。</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实验动物、植物（封闭温室）、昆虫和媒介生物、临床检验等特殊领域风险更高，各有专门的法规和标准，安全员需要的本领也更多（见第 079、082、084 课）。</a:t>
            </a:r>
          </a:p>
          <a:p>
            <a:r>
              <a:t>安全员的能力是一点点积累起来的。法规、标准和技术都在更新，安全员要持续学习、参加培训，把自己当成一份需要常更新的"活文件"。</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可以先做个小练习：写下你认为安全员应该做什么，学完后再对照补充。</a:t>
            </a:r>
          </a:p>
          <a:p>
            <a:r>
              <a:t>安全员能否发挥作用，取决于六点：领导支持（第一条）、懂生物学、懂法规、懂工程控制和个人防护用品、会培训、能推动改变。政策要靠沟通和培训才能真正落地。</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每个实验室都要有书面的生物安全政策，写明单位对生物安全和生物安保的承诺，由管理层批准发布。</a:t>
            </a:r>
          </a:p>
          <a:p>
            <a:r>
              <a:t>政策不能空喊口号，要具体、可衡量、做得到、有时限，例如"每年组织一次全员培训和考核""安全柜每年检测一次"。安全员和各岗位的职责也要写成文字，纳入生物安全手册。</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政策之下是生物安全手册（以及程序文件、操作规程等管理体系文件）。手册必须依据国家和地方的法律法规、国家标准编写，国际指南可以参考，但以国内规定为准。</a:t>
            </a:r>
          </a:p>
          <a:p>
            <a:r>
              <a:t>手册只写本实验室的内容：布局、人员职责、准入、操作规程、消毒和废物处理、应急处置等，要具体、可操作，不能照抄别人的。</a:t>
            </a:r>
          </a:p>
          <a:p>
            <a:r>
              <a:t>建实验室时，先确定谁负责、配备多少人员、是否需要设施经理；就像买车要配说明书，实验室楼建好时，生物安全手册和管理制度也要同时建好，不能"先用起来再说"。</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作为学生，首先要认清本实验室的负责人、导师和生物安全员，看懂门口安全信息牌上的联系方式。</a:t>
            </a:r>
          </a:p>
          <a:p>
            <a:r>
              <a:t>新课题、新方法先交导师，经风险评估和单位审查批准后才能开展；接受安全员的监督检查，被指出问题立即改正。发生溢洒、暴露、丢失等事件时，先按应急程序处置，同时报告实验室负责人，再逐级报学院和保卫处（实验室管理部门），需要急救时拨打 120（见第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答案：B。解析：按《病原微生物实验室生物安全管理条例》和高校三级管理要求，实验室负责人是第一责任人。</a:t>
            </a:r>
          </a:p>
          <a:p>
            <a:r>
              <a:t>第 2 题 答案：B。解析：新课题、改方法要先评估，再经单位生物安全委员会审查；学生不能自己定级。</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答案：B。解析：安全员负责评估、控制、检查，有权监督和制止不安全行为。</a:t>
            </a:r>
          </a:p>
          <a:p>
            <a:r>
              <a:t>第 4 题 答案：B。解析：国内第一类危害最大、第四类最低，与国际风险组编号方向相反。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答案：C。解析：手册依国内法规，具体可用，与设施同建。</a:t>
            </a:r>
          </a:p>
          <a:p>
            <a:r>
              <a:t>第 6 题 答案：委员会制定政策、审查项目和防护级别；设施经理管设施运行、维护和抢修；安全员管风险评估、控制落实和现场监督检查；项目负责人对实验本身负责、制定具体防护措施并管好团队。解析：各方协同一致，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生物安全柜是生物实验室最关键的工程控制设备：用设备把危险隔开，挡住移液、混匀、开盖、接种等操作时产生的感染性气溶胶和飞溅。</a:t>
            </a:r>
          </a:p>
          <a:p>
            <a:r>
              <a:t>常用的生物安全柜同时保护三方面：保护操作人员不吸入、不接触病原；保护实验室环境不被污染；保护样品不被外界微生物污染。</a:t>
            </a:r>
          </a:p>
          <a:p>
            <a:r>
              <a:t>处理有生物危害的材料，如病原微生物培养物、临床标本（血液、体液等）、感染性样品，以及可能产生有毒或感染性颗粒的操作，都应在生物安全柜内进行。生物安全柜广泛用于医学研究、临床诊断和生物技术领域。认识柜子的主要部件：前窗（可升降的玻璃视窗）、前格栅、工作台面、后格栅和显示控制面板。</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隔开，保护操作者。</a:t>
            </a:r>
          </a:p>
          <a:p>
            <a:r>
              <a:t>柜顶的高效过滤器把空气滤干净，从上往下吹过工作区（下降气流），保护样品；气流落到台面后大致一半流向前格栅、一半流向后格栅。排出柜外的空气也要先经过高效过滤器，这一点与化学通风柜不同。</a:t>
            </a:r>
          </a:p>
          <a:p>
            <a:r>
              <a:t>归纳起来，生物安全柜靠三样东西防护：定向气流、高效过滤和围护结构。具体风速、风量以产品说明书和检测报告为准，本课不给数值。</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a:p>
            <a:r>
              <a:t>但高效过滤器只截颗粒，挡不住化学气体和蒸气。实验中既有感染性颗粒又有挥发性有害化学品时，要先问清实验室负责人该用哪种柜子（见 K9）。</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a:p>
            <a:r>
              <a:t>选柜时要按国内的病原分类和《人间传染的病原微生物目录》判断：我国病原微生物第一类危害最大、第四类最低，与国际"风险组"编号方向相反，不能弄反（见第 058 课）。高致病性病原的实验活动，必须在相应级别的实验室内、经批准后进行（见第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Ⅰ级生物安全柜前面敞开，室内空气从前窗被吸入柜内，流过工作区后经高效过滤器排出。向里吸的气流保护操作者，排风过滤保护环境。</a:t>
            </a:r>
          </a:p>
          <a:p>
            <a:r>
              <a:t>由于进入柜内的是未经过滤的室内空气，直接流过样品，所以Ⅰ级柜不保护样品，样品可能被污染。它一般用于低到中度风险、对样品无菌要求不高的工作。能否用于少量挥发性化学品或放射性物质，要看排风方式并经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Ⅱ级生物安全柜是高校实验室最常用的柜型，人、环境、样品三方面都能保护：前窗吸入气流护人，柜顶过滤后的洁净下降气流护样品，排风经高效过滤护环境，柜内保持洁净。</a:t>
            </a:r>
          </a:p>
          <a:p>
            <a:r>
              <a:t>Ⅱ级柜内部空气一部分经过滤后循环，一部分经过滤后排出。按气流怎么走、排风排到哪里，Ⅱ级柜又分为不同类型：有的把过滤后的排风送回室内，有的通过管道全部排到室外。涉及少量挥发性有毒化学品时，只能在经评估、外排到室外的类型中进行（以产品说明和本校规定为准）。</a:t>
            </a:r>
          </a:p>
          <a:p>
            <a:r>
              <a:t>Ⅱ级柜适用于中到较高风险的工作，具体能做哪些病原的哪些实验，查《人间传染的病原微生物目录》并按风险评估确定。生物安全柜安装后、移位后和定期都要由有资质的机构检测，合格标签在有效期内才能使用（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Ⅲ级生物安全柜是防护水平最高的一种，对人、环境和样品的防护都最高。它是全密闭、气密的箱体，柜内与外界完全隔离，进风和排风都经高效过滤。</a:t>
            </a:r>
          </a:p>
          <a:p>
            <a:r>
              <a:t>操作时，人的手伸进与柜体密封连接的手套里操作；物品经传递窗（或配套的灭菌装置）进出，两道门不能同时打开。柜内的材料和废物都要封装并经消毒灭菌处理后才能拿出来。Ⅲ级柜用于最危险的病原，通常安装在高等级生物安全实验室中。</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a:p>
            <a:r>
              <a:t>采用哪种方式由设施工程人员根据柜型和产品要求确定并调试，使用者不得自行改动排风管、风阀或集气罩（设施见第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a:p>
            <a:r>
              <a:t>原则是：化学品操作进通风柜，生物样品操作进生物安全柜。生物安全柜防感染性气溶胶，不一定防化学品；要在安全柜内用挥发性化学品，先问清柜型是否允许、用量多少，经评估同意后才能用。</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化学通风柜保护操作者不吸入有害的蒸气、气体和粉尘：它从实验室吸入空气，经管道直接排到室外，有害物质不会在室内积聚。</a:t>
            </a:r>
          </a:p>
          <a:p>
            <a:r>
              <a:t>通风柜常用于化学反应、蒸发溶剂以及其他使用有害化学品的操作。它不提供洁净气流，不保护样品，一般排风也不经高效过滤，不能用于感染性材料（通风柜原理和使用见第 051、052 课）。</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工作台（洁净工作台、层流台）的作用是营造洁净环境：风机把室内空气推过高效过滤器，灰尘和微生物被拦下，干净的空气以平行、单向、稳定的层流吹过工作区，把污染物吹离样品，降低空气中的颗粒和微生物。</a:t>
            </a:r>
          </a:p>
          <a:p>
            <a:r>
              <a:t>超净台适合无菌操作，如配制培养基、处理无菌器材、植物组织培养、无致病性材料的细胞培养准备；在制药、电子等行业也常用。</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超净台（尤其是水平层流型）的洁净风从里向外吹，直接吹向操作者；即使是垂直层流型，也没有吸入气流和排风过滤来保护人。所以它只保护样品，不保护人。</a:t>
            </a:r>
          </a:p>
          <a:p>
            <a:r>
              <a:t>病原微生物和感染性、可能有生物危害的材料，绝不能在超净台内操作，只能进生物安全柜。挥发性溶剂、有毒粉末也不能在超净台使用，风会把蒸气和粉末直接吹到操作者脸上。用什么设备，按风险评估和本校规定确定。</a:t>
            </a:r>
          </a:p>
          <a:p>
            <a:r>
              <a:t>无论超净台还是生物安全柜，使用前都要开机预运行一段时间、确认气流正常，前后格栅不要遮挡（详见第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超净台和生物安全柜都提供受控的环境，都用高效过滤器，但目的不同：超净台重在洁净，不管围护；生物安全柜重在把危险围住，同时兼顾洁净。</a:t>
            </a:r>
          </a:p>
          <a:p>
            <a:r>
              <a:t>气流方向不同：超净台的风平行吹过工作区、吹向外面；安全柜在前窗把风往里吸，护住操作者。围护结构也不同：超净台没有专门的围护，安全柜有前窗、侧壁屏障和过滤排风。因此，超净台用于制药、电子、无菌培养等洁净操作，安全柜用于感染性实验。</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三种柜子都有玻璃窗、都有风，常被搞混，用三句话记住：化学通风柜护人，防有害化学品；超净工作台护样品，不护人；生物安全柜人、样品、环境都护（Ⅰ级柜除外，不护样品）。</a:t>
            </a:r>
          </a:p>
          <a:p>
            <a:r>
              <a:t>选用时先看操作对象：有害化学品用通风柜；无致病性的无菌操作可用超净台；病原微生物和感染性材料用生物安全柜，柜型按风险评估确定。拿不准时先问实验室负责人。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答案：B。解析：超净台的洁净风吹向操作者，只护样品不护人。</a:t>
            </a:r>
          </a:p>
          <a:p>
            <a:r>
              <a:t>第 2 题 答案：B。解析：高效过滤器只截颗粒，挡不住气体和蒸气；常见柜型还有部分空气回到室内。</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答案：B。解析：Ⅰ级柜吸入未过滤的室内空气流过样品，所以不护样品。</a:t>
            </a:r>
          </a:p>
          <a:p>
            <a:r>
              <a:t>第 4 题 答案：C。解析：病原和感染性材料只能在生物安全柜内操作，柜型按风险评估确定。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答案：B。解析：两道门不同时开，柜内材料和废物封装处理后才能出柜。</a:t>
            </a:r>
          </a:p>
          <a:p>
            <a:r>
              <a:t>第 6 题 答案：通风柜护人，防有害化学品；超净台护样品，不护人；生物安全柜人、样品、环境都护。解析：选用时按操作对象和风险评估确定。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生物安全柜再好，也要照规程用：柜子是工程控制，操作规程是管理控制，两者配合安全才完整，不能想怎么用就怎么用。</a:t>
            </a:r>
          </a:p>
          <a:p>
            <a:r>
              <a:t>不同厂家、不同柜型的用法不完全一样，实验室要结合自己的柜子和实验编写标准操作规程，对照国家标准和本校要求审核，试用验证可行后再正式开工。</a:t>
            </a:r>
          </a:p>
          <a:p>
            <a:r>
              <a:t>用好安全柜要管住几件事：检测认证、安装位置、物品摆放、按规程使用、清洁消毒、定期维护，紧急维修也要有规程（检测和清洁见第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a:p>
            <a:r>
              <a:t>安装时应把柜子放在远离门口的房间里端，避开门口、送风口和人员走动的通道。位置由设施和设备管理人员确定，使用者不要擅自挪动；柜子移位后必须重新检测（见第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在生物安全柜里操作前，先安排一段不会被打断的时间，避免中途频繁离开。</a:t>
            </a:r>
          </a:p>
          <a:p>
            <a:r>
              <a:t>把要用的物品一次备齐，放在柜旁的推车或台面上，伸手可取。再备好一瓶装在洗瓶里的消毒剂，按规定标明名称和配制日期；用什么消毒剂、怎么配，拿不准就问老师（消毒剂见第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开柜第一步：确认紫外灯已经关闭。紫外线伤眼睛和皮肤，紫外灯开着时人不能靠近操作；紫外灯只是辅助消毒手段，不能代替擦拭消毒（见第 076 课）。</a:t>
            </a:r>
          </a:p>
          <a:p>
            <a:r>
              <a:t>看铭牌认清柜型：是几级、什么类型、排风是否接了管道，柜型不清楚就问负责人，别凭感觉。再看检测合格标签是否在有效期内；生物安全柜新安装、移位后和定期都要由有资质的机构检测，过期不得使用。</a:t>
            </a:r>
          </a:p>
          <a:p>
            <a:r>
              <a:t>如果是手套箱式的密闭柜，手套是薄弱环节，用前检查手套有无破口、老化，有问题就停用、报告，按程序更换。</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打开照明灯和风机，确认前窗报警开关处于打开状态。把前窗拉到柜上标明的工作高度（以柜上标记和说明书为准），拉得太高报警就会响。</a:t>
            </a:r>
          </a:p>
          <a:p>
            <a:r>
              <a:t>低头看看台面下的排液阀，确认关闭（一般手柄与阀体垂直为关闭，以本柜说明为准）。</a:t>
            </a:r>
          </a:p>
          <a:p>
            <a:r>
              <a:t>开机后先让风机空转一段时间（按本柜规程），吹净柜内颗粒、建立稳定气流；确认气流正常、没有报警后再开始操作。一旦报警，停止操作，报告老师。</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前窗高度是安全使用的关键之一。正确的工作高度写在说明书里，柜上也要标明；检测认证就是在这个高度下进行的，偏离了这个高度，检测结论就不再适用。</a:t>
            </a:r>
          </a:p>
          <a:p>
            <a:r>
              <a:t>前窗太低，开口处的风速太急，柜内会产生湍流，样品容易被污染；前窗太高，会触发报警，吸入气流不足，柜内空气可能漏到操作者一侧，室内空气也会钻进柜里污染样品。</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人和设备管理部门。</a:t>
            </a:r>
          </a:p>
          <a:p>
            <a:r>
              <a:t>使用前还要确认空气是往柜里吸的：在前窗开口处放一条薄纸条，纸条向柜内飘，说明气流正常；也可以用发烟器观察。最后用核查表逐项打勾，一项不落。</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空转够时间后，把消毒用品放进柜内。消毒剂要用规程指定、对所操作病原确实有效的种类，按规定浓度和作用时间使用（见第 076 课）。</a:t>
            </a:r>
          </a:p>
          <a:p>
            <a:r>
              <a:t>用充分浸湿消毒剂的纸巾擦拭：先擦两侧壁，再擦后壁和前窗玻璃内侧，最后擦台面；让消毒剂停留足够时间，用过的纸巾丢进感染性废物袋。不要在柜内喷消毒剂，雾滴会被吸进格栅和过滤器，腐蚀柜体、损坏过滤器。</a:t>
            </a:r>
          </a:p>
          <a:p>
            <a:r>
              <a:t>无论如何，头都不要伸进柜内；够不着后壁就用伸缩拖把，一次性拖布用完丢进废物袋。用的是含氯（漂白类）消毒剂时，再用清水或乙醇擦一遍去掉残留，残留会腐蚀出小坑、藏住微生物。消毒做完，摘掉手套换新手套。</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柜子去污、准备、检查都做完，才可以开始操作。</a:t>
            </a:r>
          </a:p>
          <a:p>
            <a:r>
              <a:t>个人防护用品要与所做的工作相匹配，穿戴什么按风险评估确定（见第 074、075 课）。</a:t>
            </a:r>
          </a:p>
          <a:p>
            <a:r>
              <a:t>有的实验室要求在台面铺一层吸水垫，防止台面污染、方便清理，铺不铺按风险评估和规程定；但垫子绝不能盖住前格栅和后格栅。</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物品放进柜子前，外表面先用消毒剂擦一遍，一件一件擦、一件一件放，少把外面的污染带进柜里。</a:t>
            </a:r>
          </a:p>
          <a:p>
            <a:r>
              <a:t>开工时一次放齐要用的东西，减少中途伸手进出的次数。废物袋（或废物容器）、锐器盒、纸巾也要在开工前放进去；废物容器按柜子大小选，大号灭菌盘只适合宽大的柜子，小柜子用小号容器或袋架。</a:t>
            </a:r>
          </a:p>
          <a:p>
            <a:r>
              <a:t>柜子不是储物柜：东西太多会挡住气流通道，只放这次要用的，用完拿走。</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柜内物品按由洁到污的原则摆放：清洁物品（如吸头、无菌试剂）放一侧，中间是操作区，废物袋和锐器盒放另一侧，物品和操作都从洁往污单向推进。</a:t>
            </a:r>
          </a:p>
          <a:p>
            <a:r>
              <a:t>惯用右手的一般从左到右：移液器、吸头、样品、操作区、废物容器依次排开；惯用左手的可以左右对调。摆得顺，做起来才顺，手不必来回交叉，带污染的物品不会从清洁物品上方经过。</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前格栅和后格栅是柜内气流的进出口，与下降气流一起形成保护气幕。压住格栅，气流就会乱窜，防护失效。</a:t>
            </a:r>
          </a:p>
          <a:p>
            <a:r>
              <a:t>前格栅上不能放纸巾、管子、记录本，手臂也不要压在上面；物品尽量往柜内放，但不要贴住、挡住后格栅。柜内只放必需品，留出气流通道。</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在生物安全柜里要坐着操作，一个柜子一次只一人操作；确需两人同时操作，要用足够宽的柜子并做书面风险评估。</a:t>
            </a:r>
          </a:p>
          <a:p>
            <a:r>
              <a:t>坐下前先调好座椅高度：脸在前窗开口上方、在玻璃后面，腋窝大致与前窗下沿齐平，手臂伸进柜内时肘部约成直角。有的柜子可以把前臂搁在前部，老式柜子可加装专用扶手（加装后要带着扶手重新检测合格）；脚够不着地就用脚踏。</a:t>
            </a:r>
          </a:p>
          <a:p>
            <a:r>
              <a:t>坐得正、动作稳，才能减少疲劳和劳损；做久了，告一段落再休息。</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柜内有一股从上往下的洁净下降气流，被它罩住的区域才受保护。操作要在这块区域里进行，一般在台面中后部，离前格栅留出一段距离。</a:t>
            </a:r>
          </a:p>
          <a:p>
            <a:r>
              <a:t>贴着前窗口操作，处在吸入气流和室内空气交界处，既不能保证样品洁净，气溶胶也更容易逸出。</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即使前窗高度正确，前窗处的气幕也很脆弱：开口处的风速比人慢慢走路还慢，一个小动作就能把它打破。</a:t>
            </a:r>
          </a:p>
          <a:p>
            <a:r>
              <a:t>手臂猛地抽出，或斜着扫过开口，会把柜内空气带出来，直接飘进操作者的呼吸区。所以要尽量少进出，进出时手臂与前窗垂直、慢慢直进直出。有的规程要求出柜前先脱手套，回柜前换新手套，按本实验室规程执行。</a:t>
            </a:r>
          </a:p>
          <a:p>
            <a:r>
              <a:t>柜前有人快步走过也会扯乱气幕。有人在柜内操作时，旁人不要靠近、不要从其背后穿行，也不要随意开关附近的门。</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常规操作都会产生看不见的气溶胶：移液、吹打、振荡混匀、离心后开盖、打开培养容器等。处理感染性材料时，这些操作都要放进生物安全柜，柜内气流把飞沫挡在里面；在开放台面上图省事，飞沫会飘满房间。</a:t>
            </a:r>
          </a:p>
          <a:p>
            <a:r>
              <a:t>真菌长大后会放出大量孢子，可能污染其他培养物，有人吸入还会过敏。培养皿要封好口再培养，需要开盖就在生物安全柜里开；不要凑近闻培养物，从环境中分离的菌先按未知菌对待。</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柜内操作要一气呵成：取移液器、装上吸头、调好体积，从样品管中吸取，轻轻加到对应的管或孔里，用完的吸头直接丢进柜内废物容器。动作顺，飞溅和失误就少。</a:t>
            </a:r>
          </a:p>
          <a:p>
            <a:r>
              <a:t>减少气溶胶的操作习惯：生物样品使用带滤芯的吸头；放液时贴壁、平稳，不用力吹打、不起泡；混匀、离心后静置片刻再开盖。</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生物安全柜内不能使用酒精灯等明火。火焰产生的热气流往上冲，会冲破保护气幕、打乱下降气流；还可能引起火灾、烤坏柜顶的高效过滤器。柜内常用乙醇擦拭台面，喷过乙醇的台面遇火更容易起火。</a:t>
            </a:r>
          </a:p>
          <a:p>
            <a:r>
              <a:t>需要无菌时改用一次性接种环（用完直接丢入废物容器），或使用电热接种环灭菌器，放在柜内靠后的位置。乙醇用完盖好瓶盖，远离热源。</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离心机不要放进柜内运行，它的电机散热风扇会搅乱柜内气流。离心放在柜外，按规程使用密封离心管和密封转子（或安全杯），在柜内装卸（离心机安全见第 121 课）。</a:t>
            </a:r>
          </a:p>
          <a:p>
            <a:r>
              <a:t>其他仪器放进柜内也会影响气流：占据空间、挡住格栅，散热风扇吹乱气流。大型仪器进柜前要先做风险评估，必要时由专业人员测定气流。柜内的小仪器能不放就不放，要放的靠后靠边，不占操作区；电线不能横压格栅、垂出前窗，插座和电线有破损先报修再用。</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在柜内用真空管路吸弃液体时，要保护好真空系统：管路上装在线高效过滤器，并配废液收集瓶（瓶内按规程加消毒剂），防止感染性液体和气溶胶进入真空系统。不用的真空管口要盖上。</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操作中途需要离开时，先盖好所有容器、把物品放稳，双手慢慢撤出，按规程脱手套；风机不要关，挂牌提示别人勿动。</a:t>
            </a:r>
          </a:p>
          <a:p>
            <a:r>
              <a:t>出现报警、风机停转或突然停电时，立即停止操作，把样品容器盖好，慢慢抽出双手，关好前窗，挂牌停用，别人也不要再用。报告实验室负责人，请专业人员检修，检修合格后才能恢复使用；如有溢洒或暴露，按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答案：C。解析：先关紫外灯、看检测标签，开风机、前窗到位、空转，确认无报警、气流向内再开工。</a:t>
            </a:r>
          </a:p>
          <a:p>
            <a:r>
              <a:t>第 2 题 答案：B。解析：前窗太高吸入气流不足，会报警，柜内空气可能外逸、样品也会被污染。</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答案：C。解析：前后格栅是气流进出口，不能被任何物品遮挡。</a:t>
            </a:r>
          </a:p>
          <a:p>
            <a:r>
              <a:t>第 4 题 答案：B。解析：明火会打乱气流、烤坏过滤器、引燃乙醇；改用一次性接种环或电热灭菌器。</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答案：B。解析：报警说明气流可能失效，须停用并请专业人员检修。</a:t>
            </a:r>
          </a:p>
          <a:p>
            <a:r>
              <a:t>第 6 题 答案：安装位置靠近门口或送风口、前窗高度不对、物品堆放挡住格栅、手臂快速进出、旁人走动、柜内明火、离心机和大型仪器的风扇。解析：气幕很脆弱，要从位置、摆放、动作和仪器几方面控制。</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在生物安全柜里做完实验并不等于结束：柜里的物品要去污，柜子本身也要去污，收尾和开工一样要照规程来。</a:t>
            </a:r>
          </a:p>
          <a:p>
            <a:r>
              <a:t>整个清理过程中风机必须一直开着：气流还在，柜子的防护才在；先关风机再收拾，柜内的气溶胶就会飘到操作者身边。</a:t>
            </a:r>
          </a:p>
          <a:p>
            <a:r>
              <a:t>使用前的消毒、物品摆放、溢洒处置、废物处理、用后去污，每一步都要写进本实验室的生物安全柜标准操作规程，并配有日常维护计划和溢洒应急程序（溢洒见第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收尾第一步：把所有样品管、培养皿、试剂瓶等容器盖好、拧紧。</a:t>
            </a:r>
          </a:p>
          <a:p>
            <a:r>
              <a:t>然后用开工前擦柜子的同一种指定消毒剂，对柜内物品逐件去污。用浸湿消毒剂的纸巾擦拭为主，不在柜内大面积喷雾；从污染最轻的物品开始，最后处理污染最重的，避免把污染越擦越多。</a:t>
            </a:r>
          </a:p>
          <a:p>
            <a:r>
              <a:t>消毒剂要让物品表面保持湿润，达到规定的作用时间才有效（浓度和作用时间以本单位 SOP 和产品说明为准，见第 076 课）。时间到后擦去残留液体；要留在柜里的东西放到清洁的一侧。</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样品要拿出生物安全柜时，容器外表面必须先去污；也可以把样品放进带盖、外表面已去污的二级容器（如密封盒）里再拿出，转运途中万一破损，液体也不会漏出来（样品转运见第 080 课）。</a:t>
            </a:r>
          </a:p>
          <a:p>
            <a:r>
              <a:t>其余要拿出柜外的物品，去污后移到柜旁的推车上，不在柜内堆放。</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用过的吸水垫，抓住外侧的角向内折叠，把污染的一面包在里面，再丢进柜内的废物袋，避免抖动扬起污染。</a:t>
            </a:r>
          </a:p>
          <a:p>
            <a:r>
              <a:t>柜内清空后，内表面也要去污，方法与开工前相同（见第 072 课）：用浸湿消毒剂的纸巾依次擦两侧壁、后壁、前窗玻璃内侧，最后擦台面，不漏死角，前窗内侧最容易被忘记。不要在柜内喷雾，雾滴会被吸进格栅和过滤器。用含氯消毒剂的，作用后再用清水擦去残留。</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废物处理从开工前就开始了：柜内废物桶（或废物容器）先套好两层耐高压的生物危害废物袋，消毒剂放在手边。柜内产生的废物都放进这只套袋容器里，先消毒再按规定带出处置。</a:t>
            </a:r>
          </a:p>
          <a:p>
            <a:r>
              <a:t>在柜内，用过的移液吸头能戳破袋子，也按锐器对待，放进专用容器；针头等锐器放锐器盒。</a:t>
            </a:r>
          </a:p>
          <a:p>
            <a:r>
              <a:t>按风险评估和规程，可在废物容器里预先加入一部分消毒液，让废物一进去就接触消毒剂。用哪种消毒剂按规程定；乙醇易挥发、易燃，不宜单独用作浸泡液（消毒剂选用见第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柜内废物袋（桶）不要装满，装到约四分之三时就要封口（本单位规定更严的从其规定），留出扎口的余量，也避免锐器顶破袋子。</a:t>
            </a:r>
          </a:p>
          <a:p>
            <a:r>
              <a:t>装得太满时不要用手往下压，以免锐器刺伤、袋子破裂。封口后盖紧容器，外表面消毒，再送到指定地点按规程灭菌处置。</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柜内的感染性废物要在柜里装袋、封口后再拿出来：柜内有气流保护，封口时扬起的污染不会外跑。</a:t>
            </a:r>
          </a:p>
          <a:p>
            <a:r>
              <a:t>用两层袋装：一层被吸头等戳破，还有另一层兜着。动手收口前，先用指定消毒剂擦一擦手套和废物容器外面；再用洗瓶往内袋里加少量消毒剂，让废物表面先接触消毒剂（不在柜内大面积喷雾）。</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封内袋：把内袋口轻轻收拢、提起，拧成一股；不要挤压袋子，也不要把袋里的空气挤出来，否则会把气溶胶带出。用扎带扎住，再缠一道胶带。</a:t>
            </a:r>
          </a:p>
          <a:p>
            <a:r>
              <a:t>扎好后在扎口处再擦一遍消毒剂，手碰过的地方最容易沾上污染。</a:t>
            </a:r>
          </a:p>
          <a:p>
            <a:r>
              <a:t>封外袋：把外袋从桶沿翻起来，把内袋整个包在里面，同样拧紧，用扎带和胶带扎好第二道口。整理多余的袋口，轻轻拉一拉确认扎牢。</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装袋时发现袋子破了或渗漏，先停下来，不要把它拿出柜外。在柜内外面再套一只新袋，扎紧。</a:t>
            </a:r>
          </a:p>
          <a:p>
            <a:r>
              <a:t>漏出的液体用纸巾覆盖，再加消毒剂作用规定时间后清理，纸巾作为感染性废物处理；手套沾上污染马上更换。处理完报告实验室负责人并记录；漏到柜外或量大的，按溢洒应急程序处置（见第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把扎好的双层废物袋从桶里提出来；袋子应耐高压灭菌，印有生物危害标志。袋子外表面、用过的废物盘和空桶外壁都擦上消毒剂，等够作用时间再擦干净。</a:t>
            </a:r>
          </a:p>
          <a:p>
            <a:r>
              <a:t>用过的纸巾丢掉，摘掉外层手套（戴双层手套的在柜内脱外层），换上干净手套，再把袋子拿出柜外。脏手套拎着没消毒的袋子出柜，会把污染带出来。</a:t>
            </a:r>
          </a:p>
          <a:p>
            <a:r>
              <a:t>只用了废物袋的，把它放进柜外的废物盘（周转箱）；袋和盘都在柜内用了的，就一起拿出来，按规程移走。</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课，灭菌器操作见第 123 课）。</a:t>
            </a:r>
          </a:p>
          <a:p>
            <a:r>
              <a:t>国内高校实验室的感染性废物，一般先在实验室内灭菌，再作为医疗废物（或按本校规定）分类包装、登记，交有资质的单位集中处置，不得混入生活垃圾（见第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清理完毕，柜里只留必需的东西，不要马上关机：让风机再运行一段时间（按本柜规程），把柜内空气换净。然后关照明、关风机，最后把前窗关好。</a:t>
            </a:r>
          </a:p>
          <a:p>
            <a:r>
              <a:t>有的实验室生物安全柜风机长期运行，那就只关照明，前窗保持在工作位置，按本单位规程执行。</a:t>
            </a:r>
          </a:p>
          <a:p>
            <a:r>
              <a:t>紫外灯只能作辅助消毒，不能代替擦拭；开紫外灯时人要离开，前窗关闭（见第 076、111 课）。有使用登记的，记得登记签字，写清使用时间和异常情况。</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每台生物安全柜都要按国家标准和本校规定定期检测认证，由有资质的机构进行；新安装的、搬动过的柜子也要先检测合格、贴好标签再用。检测合格标签过期的柜子先停用，报告设备管理人员安排检测。</a:t>
            </a:r>
          </a:p>
          <a:p>
            <a:r>
              <a:t>每个实验室都要定好清洁维护计划：日常清洁和保养有规程可依，由使用者按规程做；维修和更换高效过滤器涉及污染部件，必须由专业人员按规程先去污再操作，使用者不得自行拆卸。拿不准的，问实验室负责人、学院和学校实验室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答案：B。解析：清理全过程风机不关，先盖好容器，由轻到重擦拭，保持湿润够作用时间。</a:t>
            </a:r>
          </a:p>
          <a:p>
            <a:r>
              <a:t>第 2 题 答案：B。解析：装到约四分之三就封口，不得用手压，以免锐器刺伤、袋子破裂。</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答案：B。解析：挤压袋子会把气溶胶带出；封口在柜内完成，内外两道口都要扎牢。</a:t>
            </a:r>
          </a:p>
          <a:p>
            <a:r>
              <a:t>第 4 题 答案：B。解析：破袋不出柜，柜内加套处置；漏到柜外按溢洒程序处理。</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答案：B。解析：新装、移位后和定期都要由有资质的机构检测合格，过期停用。</a:t>
            </a:r>
          </a:p>
          <a:p>
            <a:r>
              <a:t>第 6 题 答案：双层扎紧后提出，袋子外表、废物盘和空桶外壁消毒并等够作用时间，脱掉外层手套、换干净手套，再放进柜外废物盘移走送灭菌。解析：防止把柜内污染带到柜外。</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生物风险评估的步骤与风险矩阵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能说出危害与风险的区别，知道风险由可能性和后果共同决定，并能用风险矩阵判断风险等级。</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能说出生物风险评估的六步（危害识别、风险分析、风险评价、风险控制、记录、复查），以及风险随操作步骤而变化。</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能判断残余风险是否可接受、何时必须重新评估，知道评估报告要成文、审核、存档。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能做到动手前参与本实验室的风险评估，拿不准时先问导师，不擅自开展。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《中华人民共和国生物安全法》（以现行文本为准）：病原微生物实验室的设立单位负责实验室生物安全管理，从事实验活动应当遵守有关规定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《病原微生物实验室生物安全管理条例》（以现行文本为准）：实验室负责人为第一责任人；实验活动须在相应级别实验室开展，高致病性病原微生物实验活动须经批准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生物安全通用要求》：风险评估及风险控制，评估报告成文并经审核，情况变化时重新评估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233（以现行文本为准）《病原微生物实验室生物安全通用准则》：根据病原危害和实验活动进行风险评估、确定防护水平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号，以现行文本为准）：实验室安全风险评估、危险性实验项目审批</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风险评估：生物安全的地基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风险评估是生物安全的地基</a:t>
            </a:r>
          </a:p>
          <a:p>
            <a:pPr>
              <a:spcAft>
                <a:spcPts val="1000"/>
              </a:spcAft>
            </a:pPr>
            <a:r>
              <a:rPr sz="1700">
                <a:solidFill>
                  <a:srgbClr val="222B33"/>
                </a:solidFill>
                <a:latin typeface="Microsoft YaHei"/>
              </a:rPr>
              <a:t>▪ 看可能性、后果，也看哪些地方拿不准</a:t>
            </a:r>
          </a:p>
          <a:p>
            <a:pPr>
              <a:spcAft>
                <a:spcPts val="1000"/>
              </a:spcAft>
            </a:pPr>
            <a:r>
              <a:rPr sz="1700">
                <a:solidFill>
                  <a:srgbClr val="222B33"/>
                </a:solidFill>
                <a:latin typeface="Microsoft YaHei"/>
              </a:rPr>
              <a:t>▪ 先评估再动手，顺序不能反</a:t>
            </a:r>
          </a:p>
          <a:p>
            <a:pPr>
              <a:spcAft>
                <a:spcPts val="1000"/>
              </a:spcAft>
            </a:pPr>
            <a:r>
              <a:rPr sz="1700">
                <a:solidFill>
                  <a:srgbClr val="222B33"/>
                </a:solidFill>
                <a:latin typeface="Microsoft YaHei"/>
              </a:rPr>
              <a:t>▪ 用菌先问来源，来历不明不乱用</a:t>
            </a:r>
          </a:p>
          <a:p>
            <a:pPr>
              <a:spcAft>
                <a:spcPts val="1000"/>
              </a:spcAft>
            </a:pPr>
            <a:r>
              <a:rPr sz="1700">
                <a:solidFill>
                  <a:srgbClr val="222B33"/>
                </a:solidFill>
                <a:latin typeface="Microsoft YaHei"/>
              </a:rPr>
              <a:t>▪ 评估、控制、看效果，不断改进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先动手做实验，出了问题再补评估</a:t>
            </a:r>
          </a:p>
          <a:p>
            <a:pPr>
              <a:spcAft>
                <a:spcPts val="1000"/>
              </a:spcAft>
            </a:pPr>
            <a:r>
              <a:rPr sz="1500">
                <a:solidFill>
                  <a:srgbClr val="222B33"/>
                </a:solidFill>
                <a:latin typeface="Microsoft YaHei"/>
              </a:rPr>
              <a:t>▪ 使用来历不明的菌种或样本，不问来源</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危害是物，风险来自操作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危害：任何可能造成伤害的东西</a:t>
            </a:r>
          </a:p>
          <a:p>
            <a:pPr>
              <a:spcAft>
                <a:spcPts val="1000"/>
              </a:spcAft>
            </a:pPr>
            <a:r>
              <a:rPr sz="2000">
                <a:solidFill>
                  <a:srgbClr val="222B33"/>
                </a:solidFill>
                <a:latin typeface="Microsoft YaHei"/>
              </a:rPr>
              <a:t>▪ 伤害源是生物因子，就是生物风险</a:t>
            </a:r>
          </a:p>
          <a:p>
            <a:pPr>
              <a:spcAft>
                <a:spcPts val="1000"/>
              </a:spcAft>
            </a:pPr>
            <a:r>
              <a:rPr sz="2000">
                <a:solidFill>
                  <a:srgbClr val="222B33"/>
                </a:solidFill>
                <a:latin typeface="Microsoft YaHei"/>
              </a:rPr>
              <a:t>▪ 动手操作，危害才变成风险</a:t>
            </a:r>
          </a:p>
          <a:p>
            <a:pPr>
              <a:spcAft>
                <a:spcPts val="1000"/>
              </a:spcAft>
            </a:pPr>
            <a:r>
              <a:rPr sz="2000">
                <a:solidFill>
                  <a:srgbClr val="222B33"/>
                </a:solidFill>
                <a:latin typeface="Microsoft YaHei"/>
              </a:rPr>
              <a:t>▪ 操作、运输、被盗、封闭破损都带来风险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危害是任何可能造成伤害的东西，生物因子（病原微生物、毒素、感染性样本等）就是潜在的危害。风险则是这种伤害真正发生的可能性及其后果；伤害源是生物因子的，就叫生物风险。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把危害和风险混为一谈，只看病原不看操作</a:t>
            </a:r>
          </a:p>
          <a:p>
            <a:pPr>
              <a:spcAft>
                <a:spcPts val="1000"/>
              </a:spcAft>
            </a:pPr>
            <a:r>
              <a:rPr sz="1500">
                <a:solidFill>
                  <a:srgbClr val="222B33"/>
                </a:solidFill>
                <a:latin typeface="Microsoft YaHei"/>
              </a:rPr>
              <a:t>▪ 只考虑实验操作，忽略运输、储存和被盗丢失</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风险看可能性和后果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风险由可能性和后果共同决定</a:t>
            </a:r>
          </a:p>
          <a:p>
            <a:pPr>
              <a:spcAft>
                <a:spcPts val="1000"/>
              </a:spcAft>
            </a:pPr>
            <a:r>
              <a:rPr sz="2000">
                <a:solidFill>
                  <a:srgbClr val="222B33"/>
                </a:solidFill>
                <a:latin typeface="Microsoft YaHei"/>
              </a:rPr>
              <a:t>▪ 可能性：出事的几率有多大</a:t>
            </a:r>
          </a:p>
          <a:p>
            <a:pPr>
              <a:spcAft>
                <a:spcPts val="1000"/>
              </a:spcAft>
            </a:pPr>
            <a:r>
              <a:rPr sz="2000">
                <a:solidFill>
                  <a:srgbClr val="222B33"/>
                </a:solidFill>
                <a:latin typeface="Microsoft YaHei"/>
              </a:rPr>
              <a:t>▪ 后果：对人和环境的伤害有多大</a:t>
            </a:r>
          </a:p>
          <a:p>
            <a:pPr>
              <a:spcAft>
                <a:spcPts val="1000"/>
              </a:spcAft>
            </a:pPr>
            <a:r>
              <a:rPr sz="2000">
                <a:solidFill>
                  <a:srgbClr val="222B33"/>
                </a:solidFill>
                <a:latin typeface="Microsoft YaHei"/>
              </a:rPr>
              <a:t>▪ 例：转运不规范，泄漏可能大，人会被感染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风险是可能性和后果（严重程度）的组合。可能性指防护失效、发生暴露的几率有多大；后果指一旦发生，对人员、公众和环境造成的伤害有多大。两者结合起来，才能看出风险的高低。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只看后果，认为“病原不太危险就不用管”</a:t>
            </a:r>
          </a:p>
          <a:p>
            <a:pPr>
              <a:spcAft>
                <a:spcPts val="1000"/>
              </a:spcAft>
            </a:pPr>
            <a:r>
              <a:rPr sz="1500">
                <a:solidFill>
                  <a:srgbClr val="222B33"/>
                </a:solidFill>
                <a:latin typeface="Microsoft YaHei"/>
              </a:rPr>
              <a:t>▪ 只看可能性，认为“从没出过事”就是低风险</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守规矩降的是可能性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守规则能降低出事的可能性</a:t>
            </a:r>
          </a:p>
          <a:p>
            <a:pPr>
              <a:spcAft>
                <a:spcPts val="1000"/>
              </a:spcAft>
            </a:pPr>
            <a:r>
              <a:rPr sz="2000">
                <a:solidFill>
                  <a:srgbClr val="222B33"/>
                </a:solidFill>
                <a:latin typeface="Microsoft YaHei"/>
              </a:rPr>
              <a:t>▪ 万一发生，后果不一定变轻</a:t>
            </a:r>
          </a:p>
          <a:p>
            <a:pPr>
              <a:spcAft>
                <a:spcPts val="1000"/>
              </a:spcAft>
            </a:pPr>
            <a:r>
              <a:rPr sz="2000">
                <a:solidFill>
                  <a:srgbClr val="222B33"/>
                </a:solidFill>
                <a:latin typeface="Microsoft YaHei"/>
              </a:rPr>
              <a:t>▪ 病原关在实验室里，风险很低</a:t>
            </a:r>
          </a:p>
          <a:p>
            <a:pPr>
              <a:spcAft>
                <a:spcPts val="1000"/>
              </a:spcAft>
            </a:pPr>
            <a:r>
              <a:rPr sz="2000">
                <a:solidFill>
                  <a:srgbClr val="222B33"/>
                </a:solidFill>
                <a:latin typeface="Microsoft YaHei"/>
              </a:rPr>
              <a:t>▪ 意外泄漏或被滥用，后果就很高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认为自己操作熟练，就可以降低防护要求</a:t>
            </a:r>
          </a:p>
          <a:p>
            <a:pPr>
              <a:spcAft>
                <a:spcPts val="1000"/>
              </a:spcAft>
            </a:pPr>
            <a:r>
              <a:rPr sz="1500">
                <a:solidFill>
                  <a:srgbClr val="222B33"/>
                </a:solidFill>
                <a:latin typeface="Microsoft YaHei"/>
              </a:rPr>
              <a:t>▪ 只防意外，不防样本丢失、被盗和滥用</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可能性与后果分级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可能性问：发生的概率有多大</a:t>
            </a:r>
          </a:p>
          <a:p>
            <a:pPr>
              <a:spcAft>
                <a:spcPts val="1000"/>
              </a:spcAft>
            </a:pPr>
            <a:r>
              <a:rPr sz="2000">
                <a:solidFill>
                  <a:srgbClr val="222B33"/>
                </a:solidFill>
                <a:latin typeface="Microsoft YaHei"/>
              </a:rPr>
              <a:t>▪ 后果问：万一发生，会有多严重</a:t>
            </a:r>
          </a:p>
          <a:p>
            <a:pPr>
              <a:spcAft>
                <a:spcPts val="1000"/>
              </a:spcAft>
            </a:pPr>
            <a:r>
              <a:rPr sz="2000">
                <a:solidFill>
                  <a:srgbClr val="222B33"/>
                </a:solidFill>
                <a:latin typeface="Microsoft YaHei"/>
              </a:rPr>
              <a:t>▪ 两边常分三到五级</a:t>
            </a:r>
          </a:p>
          <a:p>
            <a:pPr>
              <a:spcAft>
                <a:spcPts val="1000"/>
              </a:spcAft>
            </a:pPr>
            <a:r>
              <a:rPr sz="2000">
                <a:solidFill>
                  <a:srgbClr val="222B33"/>
                </a:solidFill>
                <a:latin typeface="Microsoft YaHei"/>
              </a:rPr>
              <a:t>▪ 分几级、怎么判，按本校评估程序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了把风险说清楚，可能性和后果都要分级。可能性回答“发生的概率有多大”，可从“很少”到“经常”分级；后果回答“万一发生会怎样”，可从“轻微”（无伤害或轻微不适）到“严重”（严重疾病、扩散到社区或环境）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每个人凭感觉打分，没有统一的分级标准</a:t>
            </a:r>
          </a:p>
          <a:p>
            <a:pPr>
              <a:spcAft>
                <a:spcPts val="1000"/>
              </a:spcAft>
            </a:pPr>
            <a:r>
              <a:rPr sz="1500">
                <a:solidFill>
                  <a:srgbClr val="222B33"/>
                </a:solidFill>
                <a:latin typeface="Microsoft YaHei"/>
              </a:rPr>
              <a:t>▪ 只写“风险较低”，说不出依据</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可能性和后果交叉，就是风险矩阵</a:t>
            </a:r>
          </a:p>
          <a:p>
            <a:pPr>
              <a:spcAft>
                <a:spcPts val="1000"/>
              </a:spcAft>
            </a:pPr>
            <a:r>
              <a:rPr sz="2000">
                <a:solidFill>
                  <a:srgbClr val="222B33"/>
                </a:solidFill>
                <a:latin typeface="Microsoft YaHei"/>
              </a:rPr>
              <a:t>▪ 都低最安全，都高最危险</a:t>
            </a:r>
          </a:p>
          <a:p>
            <a:pPr>
              <a:spcAft>
                <a:spcPts val="1000"/>
              </a:spcAft>
            </a:pPr>
            <a:r>
              <a:rPr sz="2000">
                <a:solidFill>
                  <a:srgbClr val="222B33"/>
                </a:solidFill>
                <a:latin typeface="Microsoft YaHei"/>
              </a:rPr>
              <a:t>▪ 每个风险点放进矩阵，一目了然</a:t>
            </a:r>
          </a:p>
          <a:p>
            <a:pPr>
              <a:spcAft>
                <a:spcPts val="1000"/>
              </a:spcAft>
            </a:pPr>
            <a:r>
              <a:rPr sz="2000">
                <a:solidFill>
                  <a:srgbClr val="222B33"/>
                </a:solidFill>
                <a:latin typeface="Microsoft YaHei"/>
              </a:rPr>
              <a:t>▪ 红格风险优先处理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把可能性和后果的分级交叉成一张表，就是风险矩阵：可能性低、后果轻的落在绿格，风险最低；可能性大、后果重的落在红格，风险最高；中间是黄格。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只给整个实验打一个总分，不逐个风险点分析</a:t>
            </a:r>
          </a:p>
          <a:p>
            <a:pPr>
              <a:spcAft>
                <a:spcPts val="1000"/>
              </a:spcAft>
            </a:pPr>
            <a:r>
              <a:rPr sz="1500">
                <a:solidFill>
                  <a:srgbClr val="222B33"/>
                </a:solidFill>
                <a:latin typeface="Microsoft YaHei"/>
              </a:rPr>
              <a:t>▪ 评出红格仍照常开展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风险随操作而变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样本密封冻存，风险较低</a:t>
            </a:r>
          </a:p>
          <a:p>
            <a:pPr>
              <a:spcAft>
                <a:spcPts val="1000"/>
              </a:spcAft>
            </a:pPr>
            <a:r>
              <a:rPr sz="2000">
                <a:solidFill>
                  <a:srgbClr val="222B33"/>
                </a:solidFill>
                <a:latin typeface="Microsoft YaHei"/>
              </a:rPr>
              <a:t>▪ 拿出开盖提取，风险升高</a:t>
            </a:r>
          </a:p>
          <a:p>
            <a:pPr>
              <a:spcAft>
                <a:spcPts val="1000"/>
              </a:spcAft>
            </a:pPr>
            <a:r>
              <a:rPr sz="2000">
                <a:solidFill>
                  <a:srgbClr val="222B33"/>
                </a:solidFill>
                <a:latin typeface="Microsoft YaHei"/>
              </a:rPr>
              <a:t>▪ 培养活的病原，风险最高</a:t>
            </a:r>
          </a:p>
          <a:p>
            <a:pPr>
              <a:spcAft>
                <a:spcPts val="1000"/>
              </a:spcAft>
            </a:pPr>
            <a:r>
              <a:rPr sz="2000">
                <a:solidFill>
                  <a:srgbClr val="222B33"/>
                </a:solidFill>
                <a:latin typeface="Microsoft YaHei"/>
              </a:rPr>
              <a:t>▪ 储存也有风险：密封、标清、上锁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生物材料，风险随操作而变。样本密封冻存在罐里，风险较低；拿出来开盖处理、提取核酸，风险升高；培养活的病原（数量和浓度增加），风险最高。流程一步步往后走，风险一级级升高，一旦释放，后果也越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用冻存样本的风险等级去做培养实验</a:t>
            </a:r>
          </a:p>
          <a:p>
            <a:pPr>
              <a:spcAft>
                <a:spcPts val="1000"/>
              </a:spcAft>
            </a:pPr>
            <a:r>
              <a:rPr sz="1500">
                <a:solidFill>
                  <a:srgbClr val="222B33"/>
                </a:solidFill>
                <a:latin typeface="Microsoft YaHei"/>
              </a:rPr>
              <a:t>▪ 储存的样本不标识、不上锁</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评估六步，按顺序走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六步：识别、分析、评价、控制、记录、复查</a:t>
            </a:r>
          </a:p>
          <a:p>
            <a:pPr>
              <a:spcAft>
                <a:spcPts val="1000"/>
              </a:spcAft>
            </a:pPr>
            <a:r>
              <a:rPr sz="2000">
                <a:solidFill>
                  <a:srgbClr val="222B33"/>
                </a:solidFill>
                <a:latin typeface="Microsoft YaHei"/>
              </a:rPr>
              <a:t>▪ 按顺序走，不跳步</a:t>
            </a:r>
          </a:p>
          <a:p>
            <a:pPr>
              <a:spcAft>
                <a:spcPts val="1000"/>
              </a:spcAft>
            </a:pPr>
            <a:r>
              <a:rPr sz="2000">
                <a:solidFill>
                  <a:srgbClr val="222B33"/>
                </a:solidFill>
                <a:latin typeface="Microsoft YaHei"/>
              </a:rPr>
              <a:t>▪ 走完一遍，还要回头再看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风险评估有固定的步骤：危害识别、风险分析、风险评价、风险控制、记录、复查。也有资料把它概括为五步（识别、评估、控制、看残余风险、再决策），内容是一致的：先认清危害，再估计风险大小，加控制后看残余风险能否接受，然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跳过分析和评价，直接照搬防护措施</a:t>
            </a:r>
          </a:p>
          <a:p>
            <a:pPr>
              <a:spcAft>
                <a:spcPts val="1000"/>
              </a:spcAft>
            </a:pPr>
            <a:r>
              <a:rPr sz="1500">
                <a:solidFill>
                  <a:srgbClr val="222B33"/>
                </a:solidFill>
                <a:latin typeface="Microsoft YaHei"/>
              </a:rPr>
              <a:t>▪ 评估完一次就再不回头看</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第一步：危害识别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弄清用什么生物因子，查国内目录</a:t>
            </a:r>
          </a:p>
          <a:p>
            <a:pPr>
              <a:spcAft>
                <a:spcPts val="1000"/>
              </a:spcAft>
            </a:pPr>
            <a:r>
              <a:rPr sz="1700">
                <a:solidFill>
                  <a:srgbClr val="222B33"/>
                </a:solidFill>
                <a:latin typeface="Microsoft YaHei"/>
              </a:rPr>
              <a:t>▪ 国内第一类最危险，与国际风险组相反</a:t>
            </a:r>
          </a:p>
          <a:p>
            <a:pPr>
              <a:spcAft>
                <a:spcPts val="1000"/>
              </a:spcAft>
            </a:pPr>
            <a:r>
              <a:rPr sz="1700">
                <a:solidFill>
                  <a:srgbClr val="222B33"/>
                </a:solidFill>
                <a:latin typeface="Microsoft YaHei"/>
              </a:rPr>
              <a:t>▪ 列出操作，写清用量和浓度</a:t>
            </a:r>
          </a:p>
          <a:p>
            <a:pPr>
              <a:spcAft>
                <a:spcPts val="1000"/>
              </a:spcAft>
            </a:pPr>
            <a:r>
              <a:rPr sz="1700">
                <a:solidFill>
                  <a:srgbClr val="222B33"/>
                </a:solidFill>
                <a:latin typeface="Microsoft YaHei"/>
              </a:rPr>
              <a:t>▪ 气溶胶、溅洒、锐器要重点看</a:t>
            </a:r>
          </a:p>
          <a:p>
            <a:pPr>
              <a:spcAft>
                <a:spcPts val="1000"/>
              </a:spcAft>
            </a:pPr>
            <a:r>
              <a:rPr sz="1700">
                <a:solidFill>
                  <a:srgbClr val="222B33"/>
                </a:solidFill>
                <a:latin typeface="Microsoft YaHei"/>
              </a:rPr>
              <a:t>▪ 化学和物理危害一起找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第一步是危害识别：先弄清用的是什么生物因子，查《人间传染的病原微生物目录》（以现行版本为准），认出它属于哪一类，再查病原资料拿到依据（要素清单见第 068 课）。注意两套编号：国内病原分类第一类危害最大、第四类最小，……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把国际风险组的编号当成国内分类，弄反危险程度</a:t>
            </a:r>
          </a:p>
          <a:p>
            <a:pPr>
              <a:spcAft>
                <a:spcPts val="1000"/>
              </a:spcAft>
            </a:pPr>
            <a:r>
              <a:rPr sz="1500">
                <a:solidFill>
                  <a:srgbClr val="222B33"/>
                </a:solidFill>
                <a:latin typeface="Microsoft YaHei"/>
              </a:rPr>
              <a:t>▪ 只看病原，不看产生气溶胶的操作和化学、物理危害</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估计暴露的可能性和后果</a:t>
            </a:r>
          </a:p>
          <a:p>
            <a:pPr>
              <a:spcAft>
                <a:spcPts val="1000"/>
              </a:spcAft>
            </a:pPr>
            <a:r>
              <a:rPr sz="2000">
                <a:solidFill>
                  <a:srgbClr val="222B33"/>
                </a:solidFill>
                <a:latin typeface="Microsoft YaHei"/>
              </a:rPr>
              <a:t>▪ 想清楚谁可能受害</a:t>
            </a:r>
          </a:p>
          <a:p>
            <a:pPr>
              <a:spcAft>
                <a:spcPts val="1000"/>
              </a:spcAft>
            </a:pPr>
            <a:r>
              <a:rPr sz="2000">
                <a:solidFill>
                  <a:srgbClr val="222B33"/>
                </a:solidFill>
                <a:latin typeface="Microsoft YaHei"/>
              </a:rPr>
              <a:t>▪ 途径：吸入、溅入、刺伤、食入</a:t>
            </a:r>
          </a:p>
          <a:p>
            <a:pPr>
              <a:spcAft>
                <a:spcPts val="1000"/>
              </a:spcAft>
            </a:pPr>
            <a:r>
              <a:rPr sz="2000">
                <a:solidFill>
                  <a:srgbClr val="222B33"/>
                </a:solidFill>
                <a:latin typeface="Microsoft YaHei"/>
              </a:rPr>
              <a:t>▪ 来历不清的样本，风险往高处估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只考虑操作者本人，忽略同事和保洁清运人员</a:t>
            </a:r>
          </a:p>
          <a:p>
            <a:pPr>
              <a:spcAft>
                <a:spcPts val="1000"/>
              </a:spcAft>
            </a:pPr>
            <a:r>
              <a:rPr sz="1500">
                <a:solidFill>
                  <a:srgbClr val="222B33"/>
                </a:solidFill>
                <a:latin typeface="Microsoft YaHei"/>
              </a:rPr>
              <a:t>▪ 资料不清时按最低风险估计</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第三步：风险评价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定出总体风险等级：低、中、高</a:t>
            </a:r>
          </a:p>
          <a:p>
            <a:pPr>
              <a:spcAft>
                <a:spcPts val="1000"/>
              </a:spcAft>
            </a:pPr>
            <a:r>
              <a:rPr sz="2000">
                <a:solidFill>
                  <a:srgbClr val="222B33"/>
                </a:solidFill>
                <a:latin typeface="Microsoft YaHei"/>
              </a:rPr>
              <a:t>▪ 等级决定要多强的措施</a:t>
            </a:r>
          </a:p>
          <a:p>
            <a:pPr>
              <a:spcAft>
                <a:spcPts val="1000"/>
              </a:spcAft>
            </a:pPr>
            <a:r>
              <a:rPr sz="2000">
                <a:solidFill>
                  <a:srgbClr val="222B33"/>
                </a:solidFill>
                <a:latin typeface="Microsoft YaHei"/>
              </a:rPr>
              <a:t>▪ 看现有控制够不够</a:t>
            </a:r>
          </a:p>
          <a:p>
            <a:pPr>
              <a:spcAft>
                <a:spcPts val="1000"/>
              </a:spcAft>
            </a:pPr>
            <a:r>
              <a:rPr sz="2000">
                <a:solidFill>
                  <a:srgbClr val="222B33"/>
                </a:solidFill>
                <a:latin typeface="Microsoft YaHei"/>
              </a:rPr>
              <a:t>▪ 够就可接受，不够就再加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第三步是风险评价：根据分析结果和风险矩阵，给出总体风险等级——低、中还是高。等级决定要采取多强的控制措施和在哪一级实验室开展。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只给出等级，不对照现有控制是否足够</a:t>
            </a:r>
          </a:p>
          <a:p>
            <a:pPr>
              <a:spcAft>
                <a:spcPts val="1000"/>
              </a:spcAft>
            </a:pPr>
            <a:r>
              <a:rPr sz="1500">
                <a:solidFill>
                  <a:srgbClr val="222B33"/>
                </a:solidFill>
                <a:latin typeface="Microsoft YaHei"/>
              </a:rPr>
              <a:t>▪ 风险等级高，却沿用低等级的做法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第四步：风险控制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按控制层级选择措施</a:t>
            </a:r>
          </a:p>
          <a:p>
            <a:pPr>
              <a:spcAft>
                <a:spcPts val="1000"/>
              </a:spcAft>
            </a:pPr>
            <a:r>
              <a:rPr sz="2000">
                <a:solidFill>
                  <a:srgbClr val="222B33"/>
                </a:solidFill>
                <a:latin typeface="Microsoft YaHei"/>
              </a:rPr>
              <a:t>▪ 工程控制、个人防护、标准规程一起上</a:t>
            </a:r>
          </a:p>
          <a:p>
            <a:pPr>
              <a:spcAft>
                <a:spcPts val="1000"/>
              </a:spcAft>
            </a:pPr>
            <a:r>
              <a:rPr sz="2000">
                <a:solidFill>
                  <a:srgbClr val="222B33"/>
                </a:solidFill>
                <a:latin typeface="Microsoft YaHei"/>
              </a:rPr>
              <a:t>▪ 例：用密封转子，在安全柜里开盖</a:t>
            </a:r>
          </a:p>
          <a:p>
            <a:pPr>
              <a:spcAft>
                <a:spcPts val="1000"/>
              </a:spcAft>
            </a:pPr>
            <a:r>
              <a:rPr sz="2000">
                <a:solidFill>
                  <a:srgbClr val="222B33"/>
                </a:solidFill>
                <a:latin typeface="Microsoft YaHei"/>
              </a:rPr>
              <a:t>▪ 结论和建议交负责人和课题组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第四步是风险控制：按控制层级（见第 017 课）选择措施，用什么设备、穿什么防护、怎么操作。工程控制（合适级别的实验室、生物安全柜、密封离心转子）、个人防护和标准操作规程要一起上。例如离心可能产生气溶胶的样本时，使用……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只靠个人防护，不用工程控制</a:t>
            </a:r>
          </a:p>
          <a:p>
            <a:pPr>
              <a:spcAft>
                <a:spcPts val="1000"/>
              </a:spcAft>
            </a:pPr>
            <a:r>
              <a:rPr sz="1500">
                <a:solidFill>
                  <a:srgbClr val="222B33"/>
                </a:solidFill>
                <a:latin typeface="Microsoft YaHei"/>
              </a:rPr>
              <a:t>▪ 离心后在台面上直接开盖</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残余风险：能接受才开展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控制加完，总还剩残余风险</a:t>
            </a:r>
          </a:p>
          <a:p>
            <a:pPr>
              <a:spcAft>
                <a:spcPts val="1000"/>
              </a:spcAft>
            </a:pPr>
            <a:r>
              <a:rPr sz="1700">
                <a:solidFill>
                  <a:srgbClr val="222B33"/>
                </a:solidFill>
                <a:latin typeface="Microsoft YaHei"/>
              </a:rPr>
              <a:t>▪ 逐项评估，再合起来看总风险</a:t>
            </a:r>
          </a:p>
          <a:p>
            <a:pPr>
              <a:spcAft>
                <a:spcPts val="1000"/>
              </a:spcAft>
            </a:pPr>
            <a:r>
              <a:rPr sz="1700">
                <a:solidFill>
                  <a:srgbClr val="222B33"/>
                </a:solidFill>
                <a:latin typeface="Microsoft YaHei"/>
              </a:rPr>
              <a:t>▪ 可接受，负责人批准后才开展</a:t>
            </a:r>
          </a:p>
          <a:p>
            <a:pPr>
              <a:spcAft>
                <a:spcPts val="1000"/>
              </a:spcAft>
            </a:pPr>
            <a:r>
              <a:rPr sz="1700">
                <a:solidFill>
                  <a:srgbClr val="222B33"/>
                </a:solidFill>
                <a:latin typeface="Microsoft YaHei"/>
              </a:rPr>
              <a:t>▪ 不可接受，加措施或者不做</a:t>
            </a:r>
          </a:p>
          <a:p>
            <a:pPr>
              <a:spcAft>
                <a:spcPts val="1000"/>
              </a:spcAft>
            </a:pPr>
            <a:r>
              <a:rPr sz="1700">
                <a:solidFill>
                  <a:srgbClr val="222B33"/>
                </a:solidFill>
                <a:latin typeface="Microsoft YaHei"/>
              </a:rPr>
              <a:t>▪ 风险太高报生物安全委员会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采取控制措施后剩下的风险叫残余风险：风险能降下来，但清不了零。把要做的操作一项项列出来，每项单独评估，再合起来看总风险。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认为加了措施就“零风险”</a:t>
            </a:r>
          </a:p>
          <a:p>
            <a:pPr>
              <a:spcAft>
                <a:spcPts val="1000"/>
              </a:spcAft>
            </a:pPr>
            <a:r>
              <a:rPr sz="1500">
                <a:solidFill>
                  <a:srgbClr val="222B33"/>
                </a:solidFill>
                <a:latin typeface="Microsoft YaHei"/>
              </a:rPr>
              <a:t>▪ 残余风险不可接受，仍抱侥幸心理开展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第五步：记录成文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把评估过程和控制措施写下来</a:t>
            </a:r>
          </a:p>
          <a:p>
            <a:pPr>
              <a:spcAft>
                <a:spcPts val="1000"/>
              </a:spcAft>
            </a:pPr>
            <a:r>
              <a:rPr sz="2000">
                <a:solidFill>
                  <a:srgbClr val="222B33"/>
                </a:solidFill>
                <a:latin typeface="Microsoft YaHei"/>
              </a:rPr>
              <a:t>▪ 审核签字后存档备查</a:t>
            </a:r>
          </a:p>
          <a:p>
            <a:pPr>
              <a:spcAft>
                <a:spcPts val="1000"/>
              </a:spcAft>
            </a:pPr>
            <a:r>
              <a:rPr sz="2000">
                <a:solidFill>
                  <a:srgbClr val="222B33"/>
                </a:solidFill>
                <a:latin typeface="Microsoft YaHei"/>
              </a:rPr>
              <a:t>▪ 新来的人也能查到</a:t>
            </a:r>
          </a:p>
          <a:p>
            <a:pPr>
              <a:spcAft>
                <a:spcPts val="1000"/>
              </a:spcAft>
            </a:pPr>
            <a:r>
              <a:rPr sz="2000">
                <a:solidFill>
                  <a:srgbClr val="222B33"/>
                </a:solidFill>
                <a:latin typeface="Microsoft YaHei"/>
              </a:rPr>
              <a:t>▪ 写下来，更要每次做到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第五步是记录：把评估的过程、依据、结论和控制措施写成风险评估报告，按本校程序经审核批准后存档备查，新来的人也能查到和学习。书面记录的通用写法见第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评估只在脑子里，没有书面报告</a:t>
            </a:r>
          </a:p>
          <a:p>
            <a:pPr>
              <a:spcAft>
                <a:spcPts val="1000"/>
              </a:spcAft>
            </a:pPr>
            <a:r>
              <a:rPr sz="1500">
                <a:solidFill>
                  <a:srgbClr val="222B33"/>
                </a:solidFill>
                <a:latin typeface="Microsoft YaHei"/>
              </a:rPr>
              <a:t>▪ 报告写好就锁进柜子，操作时不照做</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第六步：复查与重新评估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没有变化，也要定期复查</a:t>
            </a:r>
          </a:p>
          <a:p>
            <a:pPr>
              <a:spcAft>
                <a:spcPts val="1000"/>
              </a:spcAft>
            </a:pPr>
            <a:r>
              <a:rPr sz="2000">
                <a:solidFill>
                  <a:srgbClr val="222B33"/>
                </a:solidFill>
                <a:latin typeface="Microsoft YaHei"/>
              </a:rPr>
              <a:t>▪ 换病原、换方法、换人、换设施要重评</a:t>
            </a:r>
          </a:p>
          <a:p>
            <a:pPr>
              <a:spcAft>
                <a:spcPts val="1000"/>
              </a:spcAft>
            </a:pPr>
            <a:r>
              <a:rPr sz="2000">
                <a:solidFill>
                  <a:srgbClr val="222B33"/>
                </a:solidFill>
                <a:latin typeface="Microsoft YaHei"/>
              </a:rPr>
              <a:t>▪ 出了事件，也要重新评估</a:t>
            </a:r>
          </a:p>
          <a:p>
            <a:pPr>
              <a:spcAft>
                <a:spcPts val="1000"/>
              </a:spcAft>
            </a:pPr>
            <a:r>
              <a:rPr sz="2000">
                <a:solidFill>
                  <a:srgbClr val="222B33"/>
                </a:solidFill>
                <a:latin typeface="Microsoft YaHei"/>
              </a:rPr>
              <a:t>▪ 新实验的防护级别报委员会审批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第六步是复查：即使没有变化，也要按本校规定定期复查评估报告。遇到以下情况要及时重新评估并更新：更换病原或材料、改变实验方法或流程、人员变化、设施设备变化，以及发生事件或事故之后。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换了方法或病原，仍沿用旧的评估报告</a:t>
            </a:r>
          </a:p>
          <a:p>
            <a:pPr>
              <a:spcAft>
                <a:spcPts val="1000"/>
              </a:spcAft>
            </a:pPr>
            <a:r>
              <a:rPr sz="1500">
                <a:solidFill>
                  <a:srgbClr val="222B33"/>
                </a:solidFill>
                <a:latin typeface="Microsoft YaHei"/>
              </a:rPr>
              <a:t>▪ 发生事件后只处理现场，不重新评估</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让动手的人参与评估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评估不是一个人填表</a:t>
            </a:r>
          </a:p>
          <a:p>
            <a:pPr>
              <a:spcAft>
                <a:spcPts val="1000"/>
              </a:spcAft>
            </a:pPr>
            <a:r>
              <a:rPr sz="2000">
                <a:solidFill>
                  <a:srgbClr val="222B33"/>
                </a:solidFill>
                <a:latin typeface="Microsoft YaHei"/>
              </a:rPr>
              <a:t>▪ 动手的人最清楚哪里容易出错</a:t>
            </a:r>
          </a:p>
          <a:p>
            <a:pPr>
              <a:spcAft>
                <a:spcPts val="1000"/>
              </a:spcAft>
            </a:pPr>
            <a:r>
              <a:rPr sz="2000">
                <a:solidFill>
                  <a:srgbClr val="222B33"/>
                </a:solidFill>
                <a:latin typeface="Microsoft YaHei"/>
              </a:rPr>
              <a:t>▪ 负责人组织，操作者参与，人人知晓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由负责人一人填写，操作者只签字</a:t>
            </a:r>
          </a:p>
          <a:p>
            <a:pPr>
              <a:spcAft>
                <a:spcPts val="1000"/>
              </a:spcAft>
            </a:pPr>
            <a:r>
              <a:rPr sz="1500">
                <a:solidFill>
                  <a:srgbClr val="222B33"/>
                </a:solidFill>
                <a:latin typeface="Microsoft YaHei"/>
              </a:rPr>
              <a:t>▪ 新成员加入后不学习本实验室的评估报告</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关于危害与风险，正确的是：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危害和风险是一回事</a:t>
            </a:r>
          </a:p>
          <a:p>
            <a:pPr algn="l"/>
            <a:r>
              <a:rPr sz="1500" b="0">
                <a:solidFill>
                  <a:srgbClr val="222B33"/>
                </a:solidFill>
                <a:latin typeface="Microsoft YaHei"/>
              </a:rPr>
              <a:t>B. 生物因子本身是危害，动手操作它才带来风险</a:t>
            </a:r>
          </a:p>
          <a:p>
            <a:pPr algn="l"/>
            <a:r>
              <a:rPr sz="1500" b="0">
                <a:solidFill>
                  <a:srgbClr val="222B33"/>
                </a:solidFill>
                <a:latin typeface="Microsoft YaHei"/>
              </a:rPr>
              <a:t>C. 只要病原危险，风险就一定高</a:t>
            </a:r>
          </a:p>
          <a:p>
            <a:pPr algn="l"/>
            <a:r>
              <a:rPr sz="1500" b="0">
                <a:solidFill>
                  <a:srgbClr val="222B33"/>
                </a:solidFill>
                <a:latin typeface="Microsoft YaHei"/>
              </a:rPr>
              <a:t>D. 储存的样本没有风险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判断：守规则操作能降低出事的可能性，所以万一发生暴露，后果也会变轻。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生物风险评估六步的正确顺序是：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控制、识别、记录、评价、分析、复查</a:t>
            </a:r>
          </a:p>
          <a:p>
            <a:pPr algn="l"/>
            <a:r>
              <a:rPr sz="1500" b="0">
                <a:solidFill>
                  <a:srgbClr val="222B33"/>
                </a:solidFill>
                <a:latin typeface="Microsoft YaHei"/>
              </a:rPr>
              <a:t>B. 识别、分析、评价、控制、记录、复查</a:t>
            </a:r>
          </a:p>
          <a:p>
            <a:pPr algn="l"/>
            <a:r>
              <a:rPr sz="1500" b="0">
                <a:solidFill>
                  <a:srgbClr val="222B33"/>
                </a:solidFill>
                <a:latin typeface="Microsoft YaHei"/>
              </a:rPr>
              <a:t>C. 记录、识别、控制、复查、分析、评价</a:t>
            </a:r>
          </a:p>
          <a:p>
            <a:pPr algn="l"/>
            <a:r>
              <a:rPr sz="1500" b="0">
                <a:solidFill>
                  <a:srgbClr val="222B33"/>
                </a:solidFill>
                <a:latin typeface="Microsoft YaHei"/>
              </a:rPr>
              <a:t>D. 评价、控制、识别、分析、记录、复查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下列哪种情况不需要立即重新评估？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更换病原</a:t>
            </a:r>
          </a:p>
          <a:p>
            <a:pPr algn="l"/>
            <a:r>
              <a:rPr sz="1500" b="0">
                <a:solidFill>
                  <a:srgbClr val="222B33"/>
                </a:solidFill>
                <a:latin typeface="Microsoft YaHei"/>
              </a:rPr>
              <a:t>B. 改变实验方法</a:t>
            </a:r>
          </a:p>
          <a:p>
            <a:pPr algn="l"/>
            <a:r>
              <a:rPr sz="1500" b="0">
                <a:solidFill>
                  <a:srgbClr val="222B33"/>
                </a:solidFill>
                <a:latin typeface="Microsoft YaHei"/>
              </a:rPr>
              <a:t>C. 发生暴露事件</a:t>
            </a:r>
          </a:p>
          <a:p>
            <a:pPr algn="l"/>
            <a:r>
              <a:rPr sz="1500" b="0">
                <a:solidFill>
                  <a:srgbClr val="222B33"/>
                </a:solidFill>
                <a:latin typeface="Microsoft YaHei"/>
              </a:rPr>
              <a:t>D. 同一人用同一方法重复做同一实验，且在复查周期内</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判断：控制措施加完后，残余风险能降为零，就可以开展实验。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简答：国内病原微生物分类与国际风险组在编号上有什么不同？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风险评估：生物安全的地基</a:t>
            </a:r>
          </a:p>
          <a:p>
            <a:pPr>
              <a:spcAft>
                <a:spcPts val="800"/>
              </a:spcAft>
            </a:pPr>
            <a:r>
              <a:rPr sz="1500">
                <a:solidFill>
                  <a:srgbClr val="FFFFFF"/>
                </a:solidFill>
                <a:latin typeface="Microsoft YaHei"/>
              </a:rPr>
              <a:t>▪ K2  危害是物，风险来自操作</a:t>
            </a:r>
          </a:p>
          <a:p>
            <a:pPr>
              <a:spcAft>
                <a:spcPts val="800"/>
              </a:spcAft>
            </a:pPr>
            <a:r>
              <a:rPr sz="1500">
                <a:solidFill>
                  <a:srgbClr val="FFFFFF"/>
                </a:solidFill>
                <a:latin typeface="Microsoft YaHei"/>
              </a:rPr>
              <a:t>▪ K3  风险看可能性和后果</a:t>
            </a:r>
          </a:p>
          <a:p>
            <a:pPr>
              <a:spcAft>
                <a:spcPts val="800"/>
              </a:spcAft>
            </a:pPr>
            <a:r>
              <a:rPr sz="1500">
                <a:solidFill>
                  <a:srgbClr val="FFFFFF"/>
                </a:solidFill>
                <a:latin typeface="Microsoft YaHei"/>
              </a:rPr>
              <a:t>▪ K4  守规矩降的是可能性</a:t>
            </a:r>
          </a:p>
          <a:p>
            <a:pPr>
              <a:spcAft>
                <a:spcPts val="800"/>
              </a:spcAft>
            </a:pPr>
            <a:r>
              <a:rPr sz="1500">
                <a:solidFill>
                  <a:srgbClr val="FFFFFF"/>
                </a:solidFill>
                <a:latin typeface="Microsoft YaHei"/>
              </a:rPr>
              <a:t>▪ K5  可能性与后果分级</a:t>
            </a:r>
          </a:p>
          <a:p>
            <a:pPr>
              <a:spcAft>
                <a:spcPts val="800"/>
              </a:spcAft>
            </a:pPr>
            <a:r>
              <a:rPr sz="1500">
                <a:solidFill>
                  <a:srgbClr val="FFFFFF"/>
                </a:solidFill>
                <a:latin typeface="Microsoft YaHei"/>
              </a:rPr>
              <a:t>▪ K6  风险矩阵</a:t>
            </a:r>
          </a:p>
          <a:p>
            <a:pPr>
              <a:spcAft>
                <a:spcPts val="800"/>
              </a:spcAft>
            </a:pPr>
            <a:r>
              <a:rPr sz="1500">
                <a:solidFill>
                  <a:srgbClr val="FFFFFF"/>
                </a:solidFill>
                <a:latin typeface="Microsoft YaHei"/>
              </a:rPr>
              <a:t>▪ K7  风险随操作而变</a:t>
            </a:r>
          </a:p>
          <a:p>
            <a:pPr>
              <a:spcAft>
                <a:spcPts val="800"/>
              </a:spcAft>
            </a:pPr>
            <a:r>
              <a:rPr sz="1500">
                <a:solidFill>
                  <a:srgbClr val="FFFFFF"/>
                </a:solidFill>
                <a:latin typeface="Microsoft YaHei"/>
              </a:rPr>
              <a:t>▪ K8  评估六步，按顺序走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第一步：危害识别</a:t>
            </a:r>
          </a:p>
          <a:p>
            <a:pPr>
              <a:spcAft>
                <a:spcPts val="800"/>
              </a:spcAft>
            </a:pPr>
            <a:r>
              <a:rPr sz="1500">
                <a:solidFill>
                  <a:srgbClr val="FFFFFF"/>
                </a:solidFill>
                <a:latin typeface="Microsoft YaHei"/>
              </a:rPr>
              <a:t>▪ K10  第二步：风险分析</a:t>
            </a:r>
          </a:p>
          <a:p>
            <a:pPr>
              <a:spcAft>
                <a:spcPts val="800"/>
              </a:spcAft>
            </a:pPr>
            <a:r>
              <a:rPr sz="1500">
                <a:solidFill>
                  <a:srgbClr val="FFFFFF"/>
                </a:solidFill>
                <a:latin typeface="Microsoft YaHei"/>
              </a:rPr>
              <a:t>▪ K11  第三步：风险评价</a:t>
            </a:r>
          </a:p>
          <a:p>
            <a:pPr>
              <a:spcAft>
                <a:spcPts val="800"/>
              </a:spcAft>
            </a:pPr>
            <a:r>
              <a:rPr sz="1500">
                <a:solidFill>
                  <a:srgbClr val="FFFFFF"/>
                </a:solidFill>
                <a:latin typeface="Microsoft YaHei"/>
              </a:rPr>
              <a:t>▪ K12  第四步：风险控制</a:t>
            </a:r>
          </a:p>
          <a:p>
            <a:pPr>
              <a:spcAft>
                <a:spcPts val="800"/>
              </a:spcAft>
            </a:pPr>
            <a:r>
              <a:rPr sz="1500">
                <a:solidFill>
                  <a:srgbClr val="FFFFFF"/>
                </a:solidFill>
                <a:latin typeface="Microsoft YaHei"/>
              </a:rPr>
              <a:t>▪ K13  残余风险：能接受才开展</a:t>
            </a:r>
          </a:p>
          <a:p>
            <a:pPr>
              <a:spcAft>
                <a:spcPts val="800"/>
              </a:spcAft>
            </a:pPr>
            <a:r>
              <a:rPr sz="1500">
                <a:solidFill>
                  <a:srgbClr val="FFFFFF"/>
                </a:solidFill>
                <a:latin typeface="Microsoft YaHei"/>
              </a:rPr>
              <a:t>▪ K14  第五步：记录成文</a:t>
            </a:r>
          </a:p>
          <a:p>
            <a:pPr>
              <a:spcAft>
                <a:spcPts val="800"/>
              </a:spcAft>
            </a:pPr>
            <a:r>
              <a:rPr sz="1500">
                <a:solidFill>
                  <a:srgbClr val="FFFFFF"/>
                </a:solidFill>
                <a:latin typeface="Microsoft YaHei"/>
              </a:rPr>
              <a:t>▪ K15  第六步：复查与重新评估</a:t>
            </a:r>
          </a:p>
          <a:p>
            <a:pPr>
              <a:spcAft>
                <a:spcPts val="800"/>
              </a:spcAft>
            </a:pPr>
            <a:r>
              <a:rPr sz="1500">
                <a:solidFill>
                  <a:srgbClr val="FFFFFF"/>
                </a:solidFill>
                <a:latin typeface="Microsoft YaHei"/>
              </a:rPr>
              <a:t>▪ K16  让动手的人参与评估</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病原与实验活动的评估要素</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95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能说出病原层面的评估要素（分类、致病性与感染剂量、感染途径与媒介、宿主范围、环境存活、本地流行、有无预防治疗、是否经过改造），知道国内病原分类与国际风险组方向相反。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能说出实验活动层面（用途、浓度与培养量、易暴露操作）和人员层面（免疫状态、健康与过敏）的评估要素，以及设施与管理问卷要问什么。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能做到把一个实验流程拆成单步，逐步用风险矩阵打分并汇总，评估结果成文审核后再进入减缓。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能判断未知病原、临床和环境样本等应从严评估，一个病原、一项实验要有专门的评估。</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《病原微生物实验室生物安全管理条例》（以现行文本为准）：病原微生物分类管理；实验活动须在相应级别实验室开展，高致病性病原微生物实验活动须经批准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生物安全通用要求》：风险评估应考虑的要素（生物因子特性、实验活动、人员、设施设备、管理等），评估报告成文并经审核</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233（以现行文本为准）《病原微生物实验室生物安全通用准则》：根据病原危害程度和实验活动进行风险评估</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《中华人民共和国生物安全法》《农业转基因生物安全管理条例》（以现行文本为准）：经改造的生物须评估并按规定审批（详见第 081 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一个病原、一项实验，一份评估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评估是摸清这一个病原的风险</a:t>
            </a:r>
          </a:p>
          <a:p>
            <a:pPr>
              <a:spcAft>
                <a:spcPts val="1000"/>
              </a:spcAft>
            </a:pPr>
            <a:r>
              <a:rPr sz="2000">
                <a:solidFill>
                  <a:srgbClr val="222B33"/>
                </a:solidFill>
                <a:latin typeface="Microsoft YaHei"/>
              </a:rPr>
              <a:t>▪ 一个病原一份评估，不能套用</a:t>
            </a:r>
          </a:p>
          <a:p>
            <a:pPr>
              <a:spcAft>
                <a:spcPts val="1000"/>
              </a:spcAft>
            </a:pPr>
            <a:r>
              <a:rPr sz="2000">
                <a:solidFill>
                  <a:srgbClr val="222B33"/>
                </a:solidFill>
                <a:latin typeface="Microsoft YaHei"/>
              </a:rPr>
              <a:t>▪ 没有通用清单，每个实验专门评估</a:t>
            </a:r>
          </a:p>
          <a:p>
            <a:pPr>
              <a:spcAft>
                <a:spcPts val="1000"/>
              </a:spcAft>
            </a:pPr>
            <a:r>
              <a:rPr sz="2000">
                <a:solidFill>
                  <a:srgbClr val="222B33"/>
                </a:solidFill>
                <a:latin typeface="Microsoft YaHei"/>
              </a:rPr>
              <a:t>▪ 评估是 AMP 第一步，先找危害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借用隔壁实验室或网上的评估报告</a:t>
            </a:r>
          </a:p>
          <a:p>
            <a:pPr>
              <a:spcAft>
                <a:spcPts val="1000"/>
              </a:spcAft>
            </a:pPr>
            <a:r>
              <a:rPr sz="1500">
                <a:solidFill>
                  <a:srgbClr val="222B33"/>
                </a:solidFill>
                <a:latin typeface="Microsoft YaHei"/>
              </a:rPr>
              <a:t>▪ 同一病原换了实验方法，仍用原来的评估</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未知病原和特殊样本从严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病原没弄清，风险看不清，评估从严</a:t>
            </a:r>
          </a:p>
          <a:p>
            <a:pPr>
              <a:spcAft>
                <a:spcPts val="1000"/>
              </a:spcAft>
            </a:pPr>
            <a:r>
              <a:rPr sz="2000">
                <a:solidFill>
                  <a:srgbClr val="222B33"/>
                </a:solidFill>
                <a:latin typeface="Microsoft YaHei"/>
              </a:rPr>
              <a:t>▪ 临床、土壤、野生动物、改造来源的样本要从严</a:t>
            </a:r>
          </a:p>
          <a:p>
            <a:pPr>
              <a:spcAft>
                <a:spcPts val="1000"/>
              </a:spcAft>
            </a:pPr>
            <a:r>
              <a:rPr sz="2000">
                <a:solidFill>
                  <a:srgbClr val="222B33"/>
                </a:solidFill>
                <a:latin typeface="Microsoft YaHei"/>
              </a:rPr>
              <a:t>▪ 看着健康的来源，也可能带病原</a:t>
            </a:r>
          </a:p>
          <a:p>
            <a:pPr>
              <a:spcAft>
                <a:spcPts val="1000"/>
              </a:spcAft>
            </a:pPr>
            <a:r>
              <a:rPr sz="2000">
                <a:solidFill>
                  <a:srgbClr val="222B33"/>
                </a:solidFill>
                <a:latin typeface="Microsoft YaHei"/>
              </a:rPr>
              <a:t>▪ 往高处估，报委员会审核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风险评估要以已知的病原信息为依据；不知道是什么，风险就看不清。病原还没有确认时，评估要从严，按较高的防护要求操作，并报单位生物安全委员会审核（定级见第 060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认为“看起来健康的动物样本没有风险”</a:t>
            </a:r>
          </a:p>
          <a:p>
            <a:pPr>
              <a:spcAft>
                <a:spcPts val="1000"/>
              </a:spcAft>
            </a:pPr>
            <a:r>
              <a:rPr sz="1500">
                <a:solidFill>
                  <a:srgbClr val="222B33"/>
                </a:solidFill>
                <a:latin typeface="Microsoft YaHei"/>
              </a:rPr>
              <a:t>▪ 病原未确认就按最低级别处理</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冰山：看不见的风险也要想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风险像冰山，大半在水面下</a:t>
            </a:r>
          </a:p>
          <a:p>
            <a:pPr>
              <a:spcAft>
                <a:spcPts val="1000"/>
              </a:spcAft>
            </a:pPr>
            <a:r>
              <a:rPr sz="2000">
                <a:solidFill>
                  <a:srgbClr val="222B33"/>
                </a:solidFill>
                <a:latin typeface="Microsoft YaHei"/>
              </a:rPr>
              <a:t>▪ 看得见的，能评估、能控制</a:t>
            </a:r>
          </a:p>
          <a:p>
            <a:pPr>
              <a:spcAft>
                <a:spcPts val="1000"/>
              </a:spcAft>
            </a:pPr>
            <a:r>
              <a:rPr sz="2000">
                <a:solidFill>
                  <a:srgbClr val="222B33"/>
                </a:solidFill>
                <a:latin typeface="Microsoft YaHei"/>
              </a:rPr>
              <a:t>▪ 看不见的，如没人知道的过敏，也要预判</a:t>
            </a:r>
          </a:p>
          <a:p>
            <a:pPr>
              <a:spcAft>
                <a:spcPts val="1000"/>
              </a:spcAft>
            </a:pPr>
            <a:r>
              <a:rPr sz="2000">
                <a:solidFill>
                  <a:srgbClr val="222B33"/>
                </a:solidFill>
                <a:latin typeface="Microsoft YaHei"/>
              </a:rPr>
              <a:t>▪ 评估要全面，看得见看不见都想到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风险评估像一座冰山：水面上看得见的风险，能评估、能控制；水面下看不见的风险，同样可能出事，比如一个没人知道的过敏、一种新方法里没有先例的问题。没有先例时，常规的问题清单也可能问不到。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清单上的项目都打了勾，就认为没有风险了</a:t>
            </a:r>
          </a:p>
          <a:p>
            <a:pPr>
              <a:spcAft>
                <a:spcPts val="1000"/>
              </a:spcAft>
            </a:pPr>
            <a:r>
              <a:rPr sz="1500">
                <a:solidFill>
                  <a:srgbClr val="222B33"/>
                </a:solidFill>
                <a:latin typeface="Microsoft YaHei"/>
              </a:rPr>
              <a:t>▪ 对没有先例的新方法不做额外考虑</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评估清单：病原、活动、人员、设施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评估清单分四块：病原、活动、人员、设施</a:t>
            </a:r>
          </a:p>
          <a:p>
            <a:pPr>
              <a:spcAft>
                <a:spcPts val="1000"/>
              </a:spcAft>
            </a:pPr>
            <a:r>
              <a:rPr sz="2000">
                <a:solidFill>
                  <a:srgbClr val="222B33"/>
                </a:solidFill>
                <a:latin typeface="Microsoft YaHei"/>
              </a:rPr>
              <a:t>▪ 病原：分类、途径、剂量、能不能治</a:t>
            </a:r>
          </a:p>
          <a:p>
            <a:pPr>
              <a:spcAft>
                <a:spcPts val="1000"/>
              </a:spcAft>
            </a:pPr>
            <a:r>
              <a:rPr sz="2000">
                <a:solidFill>
                  <a:srgbClr val="222B33"/>
                </a:solidFill>
                <a:latin typeface="Microsoft YaHei"/>
              </a:rPr>
              <a:t>▪ 活动：做什么、用量、几步、几人</a:t>
            </a:r>
          </a:p>
          <a:p>
            <a:pPr>
              <a:spcAft>
                <a:spcPts val="1000"/>
              </a:spcAft>
            </a:pPr>
            <a:r>
              <a:rPr sz="2000">
                <a:solidFill>
                  <a:srgbClr val="222B33"/>
                </a:solidFill>
                <a:latin typeface="Microsoft YaHei"/>
              </a:rPr>
              <a:t>▪ 照着准则，编成本组的评估工具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要看一串判据，可整理成一张清单，分四块：病原本身（分类、致病性、感染剂量、途径、存活、宿主、防治、是否改造）；实验活动（工艺、用量和浓度、步骤多少、参与人数）；人员（培训、健康和免疫状态）；设施与管理（设备、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只看病原一块，不看活动、人员和设施</a:t>
            </a:r>
          </a:p>
          <a:p>
            <a:pPr>
              <a:spcAft>
                <a:spcPts val="1000"/>
              </a:spcAft>
            </a:pPr>
            <a:r>
              <a:rPr sz="1500">
                <a:solidFill>
                  <a:srgbClr val="222B33"/>
                </a:solidFill>
                <a:latin typeface="Microsoft YaHei"/>
              </a:rPr>
              <a:t>▪ 清单项目写了，却不逐项回答</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病原：先查分类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第一问：它属于哪一类</a:t>
            </a:r>
          </a:p>
          <a:p>
            <a:pPr>
              <a:spcAft>
                <a:spcPts val="1000"/>
              </a:spcAft>
            </a:pPr>
            <a:r>
              <a:rPr sz="2000">
                <a:solidFill>
                  <a:srgbClr val="222B33"/>
                </a:solidFill>
                <a:latin typeface="Microsoft YaHei"/>
              </a:rPr>
              <a:t>▪ 查《人间传染的病原微生物目录》</a:t>
            </a:r>
          </a:p>
          <a:p>
            <a:pPr>
              <a:spcAft>
                <a:spcPts val="1000"/>
              </a:spcAft>
            </a:pPr>
            <a:r>
              <a:rPr sz="2000">
                <a:solidFill>
                  <a:srgbClr val="222B33"/>
                </a:solidFill>
                <a:latin typeface="Microsoft YaHei"/>
              </a:rPr>
              <a:t>▪ 国内第一类最危险，与国际风险组相反</a:t>
            </a:r>
          </a:p>
          <a:p>
            <a:pPr>
              <a:spcAft>
                <a:spcPts val="1000"/>
              </a:spcAft>
            </a:pPr>
            <a:r>
              <a:rPr sz="2000">
                <a:solidFill>
                  <a:srgbClr val="222B33"/>
                </a:solidFill>
                <a:latin typeface="Microsoft YaHei"/>
              </a:rPr>
              <a:t>▪ 分类只是起点，还要往下问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病原层面的第一问是：它属于哪一类？查《人间传染的病原微生物目录》（以现行版本为准），目录还规定了不同实验活动所需的实验室防护级别。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只查了分类，不再看操作和人员</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病原：致病性、感染剂量与后果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会不会致病，致病性有多强</a:t>
            </a:r>
          </a:p>
          <a:p>
            <a:pPr>
              <a:spcAft>
                <a:spcPts val="1000"/>
              </a:spcAft>
            </a:pPr>
            <a:r>
              <a:rPr sz="2000">
                <a:solidFill>
                  <a:srgbClr val="222B33"/>
                </a:solidFill>
                <a:latin typeface="Microsoft YaHei"/>
              </a:rPr>
              <a:t>▪ 感染剂量：多少量才会致病</a:t>
            </a:r>
          </a:p>
          <a:p>
            <a:pPr>
              <a:spcAft>
                <a:spcPts val="1000"/>
              </a:spcAft>
            </a:pPr>
            <a:r>
              <a:rPr sz="2000">
                <a:solidFill>
                  <a:srgbClr val="222B33"/>
                </a:solidFill>
                <a:latin typeface="Microsoft YaHei"/>
              </a:rPr>
              <a:t>▪ 很少的量就能致病，要格外小心</a:t>
            </a:r>
          </a:p>
          <a:p>
            <a:pPr>
              <a:spcAft>
                <a:spcPts val="1000"/>
              </a:spcAft>
            </a:pPr>
            <a:r>
              <a:rPr sz="2000">
                <a:solidFill>
                  <a:srgbClr val="222B33"/>
                </a:solidFill>
                <a:latin typeface="Microsoft YaHei"/>
              </a:rPr>
              <a:t>▪ 暴露后果有多重；培养体积尽量小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一看致病性：暴露后会不会致病，致病性有多强。二看感染剂量：多少量才会引起感染（具体数值查权威资料，不同病原差别很大）；感染剂量越低，越要格外小心。三看暴露后果：引起的疾病有多严重。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只看是否致病，不看感染剂量和后果严重程度</a:t>
            </a:r>
          </a:p>
          <a:p>
            <a:pPr>
              <a:spcAft>
                <a:spcPts val="1000"/>
              </a:spcAft>
            </a:pPr>
            <a:r>
              <a:rPr sz="1500">
                <a:solidFill>
                  <a:srgbClr val="222B33"/>
                </a:solidFill>
                <a:latin typeface="Microsoft YaHei"/>
              </a:rPr>
              <a:t>▪ 培养量远超实验需要</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病原：感染途径与媒介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从哪里进入人体：吸入、接触、刺伤、食入</a:t>
            </a:r>
          </a:p>
          <a:p>
            <a:pPr>
              <a:spcAft>
                <a:spcPts val="1000"/>
              </a:spcAft>
            </a:pPr>
            <a:r>
              <a:rPr sz="2000">
                <a:solidFill>
                  <a:srgbClr val="222B33"/>
                </a:solidFill>
                <a:latin typeface="Microsoft YaHei"/>
              </a:rPr>
              <a:t>▪ 会不会形成气溶胶，经空气传</a:t>
            </a:r>
          </a:p>
          <a:p>
            <a:pPr>
              <a:spcAft>
                <a:spcPts val="1000"/>
              </a:spcAft>
            </a:pPr>
            <a:r>
              <a:rPr sz="2000">
                <a:solidFill>
                  <a:srgbClr val="222B33"/>
                </a:solidFill>
                <a:latin typeface="Microsoft YaHei"/>
              </a:rPr>
              <a:t>▪ 有没有媒介或宿主帮它传</a:t>
            </a:r>
          </a:p>
          <a:p>
            <a:pPr>
              <a:spcAft>
                <a:spcPts val="1000"/>
              </a:spcAft>
            </a:pPr>
            <a:r>
              <a:rPr sz="2000">
                <a:solidFill>
                  <a:srgbClr val="222B33"/>
                </a:solidFill>
                <a:latin typeface="Microsoft YaHei"/>
              </a:rPr>
              <a:t>▪ 会不会人传人，也要查清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要查清病原从哪里进入人体：吸入气溶胶、皮肤黏膜接触、锐器刺伤，还是误食入口；会不会形成气溶胶经空气传播。还要看传播方式中有没有媒介（如蜱、蚊等）或动物宿主参与，以及会不会人传人。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只考虑自然感染途径，忽略实验室中的气溶胶和刺伤</a:t>
            </a:r>
          </a:p>
          <a:p>
            <a:pPr>
              <a:spcAft>
                <a:spcPts val="1000"/>
              </a:spcAft>
            </a:pPr>
            <a:r>
              <a:rPr sz="1500">
                <a:solidFill>
                  <a:srgbClr val="222B33"/>
                </a:solidFill>
                <a:latin typeface="Microsoft YaHei"/>
              </a:rPr>
              <a:t>▪ 不了解病原有无媒介和宿主</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病原：宿主范围、环境存活、本地流行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有的病原能在多种宿主里生存</a:t>
            </a:r>
          </a:p>
          <a:p>
            <a:pPr>
              <a:spcAft>
                <a:spcPts val="1000"/>
              </a:spcAft>
            </a:pPr>
            <a:r>
              <a:rPr sz="2000">
                <a:solidFill>
                  <a:srgbClr val="222B33"/>
                </a:solidFill>
                <a:latin typeface="Microsoft YaHei"/>
              </a:rPr>
              <a:t>▪ 有的从环境吸入就能感染</a:t>
            </a:r>
          </a:p>
          <a:p>
            <a:pPr>
              <a:spcAft>
                <a:spcPts val="1000"/>
              </a:spcAft>
            </a:pPr>
            <a:r>
              <a:rPr sz="2000">
                <a:solidFill>
                  <a:srgbClr val="222B33"/>
                </a:solidFill>
                <a:latin typeface="Microsoft YaHei"/>
              </a:rPr>
              <a:t>▪ 在环境里能活多久</a:t>
            </a:r>
          </a:p>
          <a:p>
            <a:pPr>
              <a:spcAft>
                <a:spcPts val="1000"/>
              </a:spcAft>
            </a:pPr>
            <a:r>
              <a:rPr sz="2000">
                <a:solidFill>
                  <a:srgbClr val="222B33"/>
                </a:solidFill>
                <a:latin typeface="Microsoft YaHei"/>
              </a:rPr>
              <a:t>▪ 本地流行还是外来，免疫背景不同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宿主范围：有的病原能在人、多种动物甚至环境中生存，宿主和来源很多样，有的从环境中吸入就能感染；制定管理方案时要把这些都算上。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只考虑人是宿主，忽略实验动物和环境</a:t>
            </a:r>
          </a:p>
          <a:p>
            <a:pPr>
              <a:spcAft>
                <a:spcPts val="1000"/>
              </a:spcAft>
            </a:pPr>
            <a:r>
              <a:rPr sz="1500">
                <a:solidFill>
                  <a:srgbClr val="222B33"/>
                </a:solidFill>
                <a:latin typeface="Microsoft YaHei"/>
              </a:rPr>
              <a:t>▪ 不考虑病原在环境中的存活时间</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病原：有无预防治疗和已有研究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有没有疫苗预防，有没有药物治疗</a:t>
            </a:r>
          </a:p>
          <a:p>
            <a:pPr>
              <a:spcAft>
                <a:spcPts val="1000"/>
              </a:spcAft>
            </a:pPr>
            <a:r>
              <a:rPr sz="2000">
                <a:solidFill>
                  <a:srgbClr val="222B33"/>
                </a:solidFill>
                <a:latin typeface="Microsoft YaHei"/>
              </a:rPr>
              <a:t>▪ 本地能不能及时预防和治疗</a:t>
            </a:r>
          </a:p>
          <a:p>
            <a:pPr>
              <a:spcAft>
                <a:spcPts val="1000"/>
              </a:spcAft>
            </a:pPr>
            <a:r>
              <a:rPr sz="2000">
                <a:solidFill>
                  <a:srgbClr val="222B33"/>
                </a:solidFill>
                <a:latin typeface="Microsoft YaHei"/>
              </a:rPr>
              <a:t>▪ 先查文献和已有研究，拿到依据</a:t>
            </a:r>
          </a:p>
          <a:p>
            <a:pPr>
              <a:spcAft>
                <a:spcPts val="1000"/>
              </a:spcAft>
            </a:pPr>
            <a:r>
              <a:rPr sz="2000">
                <a:solidFill>
                  <a:srgbClr val="222B33"/>
                </a:solidFill>
                <a:latin typeface="Microsoft YaHei"/>
              </a:rPr>
              <a:t>▪ 无药可防可治，风险更高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要问有没有有效的疫苗预防、有没有药物治疗，本地医疗机构能不能及时提供。没有有效的预防和治疗手段，暴露的后果就更严重，风险等级随之升高。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凭印象判断“有药可治”，不查资料</a:t>
            </a:r>
          </a:p>
          <a:p>
            <a:pPr>
              <a:spcAft>
                <a:spcPts val="1000"/>
              </a:spcAft>
            </a:pPr>
            <a:r>
              <a:rPr sz="1500">
                <a:solidFill>
                  <a:srgbClr val="222B33"/>
                </a:solidFill>
                <a:latin typeface="Microsoft YaHei"/>
              </a:rPr>
              <a:t>▪ 不了解本地医疗机构能否处置</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病原：是否经过改造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是否做过基因改造，一定要问</a:t>
            </a:r>
          </a:p>
          <a:p>
            <a:pPr>
              <a:spcAft>
                <a:spcPts val="1000"/>
              </a:spcAft>
            </a:pPr>
            <a:r>
              <a:rPr sz="2000">
                <a:solidFill>
                  <a:srgbClr val="222B33"/>
                </a:solidFill>
                <a:latin typeface="Microsoft YaHei"/>
              </a:rPr>
              <a:t>▪ 改造会带来新风险，要重新评估</a:t>
            </a:r>
          </a:p>
          <a:p>
            <a:pPr>
              <a:spcAft>
                <a:spcPts val="1000"/>
              </a:spcAft>
            </a:pPr>
            <a:r>
              <a:rPr sz="2000">
                <a:solidFill>
                  <a:srgbClr val="222B33"/>
                </a:solidFill>
                <a:latin typeface="Microsoft YaHei"/>
              </a:rPr>
              <a:t>▪ 植物还要问：会不会随花粉传出去</a:t>
            </a:r>
          </a:p>
          <a:p>
            <a:pPr>
              <a:spcAft>
                <a:spcPts val="1000"/>
              </a:spcAft>
            </a:pPr>
            <a:r>
              <a:rPr sz="2000">
                <a:solidFill>
                  <a:srgbClr val="222B33"/>
                </a:solidFill>
                <a:latin typeface="Microsoft YaHei"/>
              </a:rPr>
              <a:t>▪ 改造生物的评估见第 081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要问这个生物材料有没有做过基因改造。改造可能改变它的特性，带来新的风险，必须重新评估，并按规定报单位生物安全委员会审查；不能直接沿用未改造亲本的结论。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认为“改造后的菌株和原来一样”</a:t>
            </a:r>
          </a:p>
          <a:p>
            <a:pPr>
              <a:spcAft>
                <a:spcPts val="1000"/>
              </a:spcAft>
            </a:pPr>
            <a:r>
              <a:rPr sz="1500">
                <a:solidFill>
                  <a:srgbClr val="222B33"/>
                </a:solidFill>
                <a:latin typeface="Microsoft YaHei"/>
              </a:rPr>
              <a:t>▪ 改造实验不报委员会审查</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活动：拿它做什么，量有多大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活动第一问：你拿它做什么</a:t>
            </a:r>
          </a:p>
          <a:p>
            <a:pPr>
              <a:spcAft>
                <a:spcPts val="1000"/>
              </a:spcAft>
            </a:pPr>
            <a:r>
              <a:rPr sz="2000">
                <a:solidFill>
                  <a:srgbClr val="222B33"/>
                </a:solidFill>
                <a:latin typeface="Microsoft YaHei"/>
              </a:rPr>
              <a:t>▪ 冻存最低，检测升高，大量培养最高</a:t>
            </a:r>
          </a:p>
          <a:p>
            <a:pPr>
              <a:spcAft>
                <a:spcPts val="1000"/>
              </a:spcAft>
            </a:pPr>
            <a:r>
              <a:rPr sz="2000">
                <a:solidFill>
                  <a:srgbClr val="222B33"/>
                </a:solidFill>
                <a:latin typeface="Microsoft YaHei"/>
              </a:rPr>
              <a:t>▪ 浓度高、量大，风险也跟着涨</a:t>
            </a:r>
          </a:p>
          <a:p>
            <a:pPr>
              <a:spcAft>
                <a:spcPts val="1000"/>
              </a:spcAft>
            </a:pPr>
            <a:r>
              <a:rPr sz="2000">
                <a:solidFill>
                  <a:srgbClr val="222B33"/>
                </a:solidFill>
                <a:latin typeface="Microsoft YaHei"/>
              </a:rPr>
              <a:t>▪ 风险高的操作，防护相应升级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个病原，操作不同风险不同。评估先问：你拿它做什么？冻存保存风险最低，开展检测风险升高，大量培养风险最高；只提取核酸风险较低，种植改造植物并收集花粉风险较高。培养使病原数量增加，一旦溢洒后果更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按冻存样本的风险去做大量培养</a:t>
            </a:r>
          </a:p>
          <a:p>
            <a:pPr>
              <a:spcAft>
                <a:spcPts val="1000"/>
              </a:spcAft>
            </a:pPr>
            <a:r>
              <a:rPr sz="1500">
                <a:solidFill>
                  <a:srgbClr val="222B33"/>
                </a:solidFill>
                <a:latin typeface="Microsoft YaHei"/>
              </a:rPr>
              <a:t>▪ 随意扩大培养量和浓度</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活动：哪些操作容易暴露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标出易产生气溶胶的操作</a:t>
            </a:r>
          </a:p>
          <a:p>
            <a:pPr>
              <a:spcAft>
                <a:spcPts val="1000"/>
              </a:spcAft>
            </a:pPr>
            <a:r>
              <a:rPr sz="2000">
                <a:solidFill>
                  <a:srgbClr val="222B33"/>
                </a:solidFill>
                <a:latin typeface="Microsoft YaHei"/>
              </a:rPr>
              <a:t>▪ 有没有锐器、溅洒和手接触</a:t>
            </a:r>
          </a:p>
          <a:p>
            <a:pPr>
              <a:spcAft>
                <a:spcPts val="1000"/>
              </a:spcAft>
            </a:pPr>
            <a:r>
              <a:rPr sz="2000">
                <a:solidFill>
                  <a:srgbClr val="222B33"/>
                </a:solidFill>
                <a:latin typeface="Microsoft YaHei"/>
              </a:rPr>
              <a:t>▪ 把操作拆成小步，标出风险点</a:t>
            </a:r>
          </a:p>
          <a:p>
            <a:pPr>
              <a:spcAft>
                <a:spcPts val="1000"/>
              </a:spcAft>
            </a:pPr>
            <a:r>
              <a:rPr sz="2000">
                <a:solidFill>
                  <a:srgbClr val="222B33"/>
                </a:solidFill>
                <a:latin typeface="Microsoft YaHei"/>
              </a:rPr>
              <a:t>▪ 每步的风险，写进样本处理方案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把整个操作拆成一个个小步骤，每一步问：会不会产生气溶胶（离心、振荡、匀浆、超声、剧烈吹打等）？有没有锐器、溅洒和手接触？把这些风险点标出来。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只评估病原，不评估具体操作</a:t>
            </a:r>
          </a:p>
          <a:p>
            <a:pPr>
              <a:spcAft>
                <a:spcPts val="1000"/>
              </a:spcAft>
            </a:pPr>
            <a:r>
              <a:rPr sz="1500">
                <a:solidFill>
                  <a:srgbClr val="222B33"/>
                </a:solidFill>
                <a:latin typeface="Microsoft YaHei"/>
              </a:rPr>
              <a:t>▪ 忽略振荡、吹打等不起眼的气溶胶来源</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人员：免疫状态、健康与过敏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评估别只看病原，也要看人</a:t>
            </a:r>
          </a:p>
          <a:p>
            <a:pPr>
              <a:spcAft>
                <a:spcPts val="1000"/>
              </a:spcAft>
            </a:pPr>
            <a:r>
              <a:rPr sz="2000">
                <a:solidFill>
                  <a:srgbClr val="222B33"/>
                </a:solidFill>
                <a:latin typeface="Microsoft YaHei"/>
              </a:rPr>
              <a:t>▪ 免疫低下的人，要加额外防护</a:t>
            </a:r>
          </a:p>
          <a:p>
            <a:pPr>
              <a:spcAft>
                <a:spcPts val="1000"/>
              </a:spcAft>
            </a:pPr>
            <a:r>
              <a:rPr sz="2000">
                <a:solidFill>
                  <a:srgbClr val="222B33"/>
                </a:solidFill>
                <a:latin typeface="Microsoft YaHei"/>
              </a:rPr>
              <a:t>▪ 过敏、免疫低下要主动说明</a:t>
            </a:r>
          </a:p>
          <a:p>
            <a:pPr>
              <a:spcAft>
                <a:spcPts val="1000"/>
              </a:spcAft>
            </a:pPr>
            <a:r>
              <a:rPr sz="2000">
                <a:solidFill>
                  <a:srgbClr val="222B33"/>
                </a:solidFill>
                <a:latin typeface="Microsoft YaHei"/>
              </a:rPr>
              <a:t>▪ 负责人调整安排，并为个人保密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评估也要看操作的人：免疫状态、健康状况、过敏史、是否怀孕等。免疫低下的人风险更高，需要额外的防护，或者调整工作安排。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隐瞒自己的过敏或免疫低下情况</a:t>
            </a:r>
          </a:p>
          <a:p>
            <a:pPr>
              <a:spcAft>
                <a:spcPts val="1000"/>
              </a:spcAft>
            </a:pPr>
            <a:r>
              <a:rPr sz="1500">
                <a:solidFill>
                  <a:srgbClr val="222B33"/>
                </a:solidFill>
                <a:latin typeface="Microsoft YaHei"/>
              </a:rPr>
              <a:t>▪ 负责人公开传播成员的健康信息</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病原问卷：是或否，逐条答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把要素变成问卷，是或否逐条答</a:t>
            </a:r>
          </a:p>
          <a:p>
            <a:pPr>
              <a:spcAft>
                <a:spcPts val="1000"/>
              </a:spcAft>
            </a:pPr>
            <a:r>
              <a:rPr sz="2000">
                <a:solidFill>
                  <a:srgbClr val="222B33"/>
                </a:solidFill>
                <a:latin typeface="Microsoft YaHei"/>
              </a:rPr>
              <a:t>▪ 会致病吗？经吸入吗？经接触吗？</a:t>
            </a:r>
          </a:p>
          <a:p>
            <a:pPr>
              <a:spcAft>
                <a:spcPts val="1000"/>
              </a:spcAft>
            </a:pPr>
            <a:r>
              <a:rPr sz="2000">
                <a:solidFill>
                  <a:srgbClr val="222B33"/>
                </a:solidFill>
                <a:latin typeface="Microsoft YaHei"/>
              </a:rPr>
              <a:t>▪ 环境稳定吗？改造过吗？好治吗？</a:t>
            </a:r>
          </a:p>
          <a:p>
            <a:pPr>
              <a:spcAft>
                <a:spcPts val="1000"/>
              </a:spcAft>
            </a:pPr>
            <a:r>
              <a:rPr sz="2000">
                <a:solidFill>
                  <a:srgbClr val="222B33"/>
                </a:solidFill>
                <a:latin typeface="Microsoft YaHei"/>
              </a:rPr>
              <a:t>▪ 答“是”的地方，就是控制重点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可以把病原要素变成一份问卷，用“是”或“否”逐条回答：是病原吗？暴露后会致病吗？经吸入传播吗？经接触传播吗？在环境中稳定吗？经过改造吗？好治吗？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问卷只打勾不思考，拿不准也随便填“否”</a:t>
            </a:r>
          </a:p>
          <a:p>
            <a:pPr>
              <a:spcAft>
                <a:spcPts val="1000"/>
              </a:spcAft>
            </a:pPr>
            <a:r>
              <a:rPr sz="1500">
                <a:solidFill>
                  <a:srgbClr val="222B33"/>
                </a:solidFill>
                <a:latin typeface="Microsoft YaHei"/>
              </a:rPr>
              <a:t>▪ 答出风险点却没有对应的控制措施</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设施与管理问卷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培训够吗？有应急预案吗？</a:t>
            </a:r>
          </a:p>
          <a:p>
            <a:pPr>
              <a:spcAft>
                <a:spcPts val="1000"/>
              </a:spcAft>
            </a:pPr>
            <a:r>
              <a:rPr sz="2000">
                <a:solidFill>
                  <a:srgbClr val="222B33"/>
                </a:solidFill>
                <a:latin typeface="Microsoft YaHei"/>
              </a:rPr>
              <a:t>▪ 关键设备齐吗？防护够吗？</a:t>
            </a:r>
          </a:p>
          <a:p>
            <a:pPr>
              <a:spcAft>
                <a:spcPts val="1000"/>
              </a:spcAft>
            </a:pPr>
            <a:r>
              <a:rPr sz="2000">
                <a:solidFill>
                  <a:srgbClr val="222B33"/>
                </a:solidFill>
                <a:latin typeface="Microsoft YaHei"/>
              </a:rPr>
              <a:t>▪ 废物怎么处置？安保和规程呢？</a:t>
            </a:r>
          </a:p>
          <a:p>
            <a:pPr>
              <a:spcAft>
                <a:spcPts val="1000"/>
              </a:spcAft>
            </a:pPr>
            <a:r>
              <a:rPr sz="2000">
                <a:solidFill>
                  <a:srgbClr val="222B33"/>
                </a:solidFill>
                <a:latin typeface="Microsoft YaHei"/>
              </a:rPr>
              <a:t>▪ 和负责人一起确认；换病原要重写规程、重新培训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再看现有控制够不够，问设施与管理：人员培训够不够？有没有应急预案？关键设备（生物安全柜、高压灭菌器等）齐不齐、合格不合格？个人防护够不够？废物怎么处置？安保措施和专门的操作规程有没有？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设备过期未检测仍认为“控制够了”</a:t>
            </a:r>
          </a:p>
          <a:p>
            <a:pPr>
              <a:spcAft>
                <a:spcPts val="1000"/>
              </a:spcAft>
            </a:pPr>
            <a:r>
              <a:rPr sz="1500">
                <a:solidFill>
                  <a:srgbClr val="222B33"/>
                </a:solidFill>
                <a:latin typeface="Microsoft YaHei"/>
              </a:rPr>
              <a:t>▪ 换了病原仍用旧规程</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安全和安保两类风险都要评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要评两类：生物安全和生物安保</a:t>
            </a:r>
          </a:p>
          <a:p>
            <a:pPr>
              <a:spcAft>
                <a:spcPts val="1000"/>
              </a:spcAft>
            </a:pPr>
            <a:r>
              <a:rPr sz="2000">
                <a:solidFill>
                  <a:srgbClr val="222B33"/>
                </a:solidFill>
                <a:latin typeface="Microsoft YaHei"/>
              </a:rPr>
              <a:t>▪ 安全：人员和社区会不会暴露</a:t>
            </a:r>
          </a:p>
          <a:p>
            <a:pPr>
              <a:spcAft>
                <a:spcPts val="1000"/>
              </a:spcAft>
            </a:pPr>
            <a:r>
              <a:rPr sz="2000">
                <a:solidFill>
                  <a:srgbClr val="222B33"/>
                </a:solidFill>
                <a:latin typeface="Microsoft YaHei"/>
              </a:rPr>
              <a:t>▪ 安保：样本会不会丢失、被盗</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评估要同时看两类风险：生物安全风险——操作人员和周边社区会不会暴露；生物安保风险——样本会不会丢失、被盗或被滥用（生物安保见第 083 课）。两类风险都要放进同一张评估表里打分。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只评感染风险，不评样本丢失、被盗</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案例：一批疑似感染的血样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一批疑似感染的患者血样</a:t>
            </a:r>
          </a:p>
          <a:p>
            <a:pPr>
              <a:spcAft>
                <a:spcPts val="1000"/>
              </a:spcAft>
            </a:pPr>
            <a:r>
              <a:rPr sz="2000">
                <a:solidFill>
                  <a:srgbClr val="222B33"/>
                </a:solidFill>
                <a:latin typeface="Microsoft YaHei"/>
              </a:rPr>
              <a:t>▪ 镜检没查到，抗体查到了，未确证</a:t>
            </a:r>
          </a:p>
          <a:p>
            <a:pPr>
              <a:spcAft>
                <a:spcPts val="1000"/>
              </a:spcAft>
            </a:pPr>
            <a:r>
              <a:rPr sz="2000">
                <a:solidFill>
                  <a:srgbClr val="222B33"/>
                </a:solidFill>
                <a:latin typeface="Microsoft YaHei"/>
              </a:rPr>
              <a:t>▪ 已知靠蜱叮咬传，未见人传人</a:t>
            </a:r>
          </a:p>
          <a:p>
            <a:pPr>
              <a:spcAft>
                <a:spcPts val="1000"/>
              </a:spcAft>
            </a:pPr>
            <a:r>
              <a:rPr sz="2000">
                <a:solidFill>
                  <a:srgbClr val="222B33"/>
                </a:solidFill>
                <a:latin typeface="Microsoft YaHei"/>
              </a:rPr>
              <a:t>▪ 要做的是分离血清，做免疫检测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因为“镜检没查到”就按无感染性样本处理</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把流程拆成单步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结构化评估：把流程拆成单步</a:t>
            </a:r>
          </a:p>
          <a:p>
            <a:pPr>
              <a:spcAft>
                <a:spcPts val="1000"/>
              </a:spcAft>
            </a:pPr>
            <a:r>
              <a:rPr sz="2000">
                <a:solidFill>
                  <a:srgbClr val="222B33"/>
                </a:solidFill>
                <a:latin typeface="Microsoft YaHei"/>
              </a:rPr>
              <a:t>▪ 接收存放、编目、分离血清、检测</a:t>
            </a:r>
          </a:p>
          <a:p>
            <a:pPr>
              <a:spcAft>
                <a:spcPts val="1000"/>
              </a:spcAft>
            </a:pPr>
            <a:r>
              <a:rPr sz="2000">
                <a:solidFill>
                  <a:srgbClr val="222B33"/>
                </a:solidFill>
                <a:latin typeface="Microsoft YaHei"/>
              </a:rPr>
              <a:t>▪ 处置、去污、记录、应急，也不能漏</a:t>
            </a:r>
          </a:p>
          <a:p>
            <a:pPr>
              <a:spcAft>
                <a:spcPts val="1000"/>
              </a:spcAft>
            </a:pPr>
            <a:r>
              <a:rPr sz="2000">
                <a:solidFill>
                  <a:srgbClr val="222B33"/>
                </a:solidFill>
                <a:latin typeface="Microsoft YaHei"/>
              </a:rPr>
              <a:t>▪ 每一步插旗，逐一评估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结构化评估就是把一个流程拆成单个操作，一步一步评估。本案例拆成八步：接收与初始存放、样本编目、分离血清、免疫检测、检测后样本处置、去污、记录保存、意外暴露的应急处置。后四步常被忽略，也不能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只评估“检测”这一步，漏掉接收、处置和去污</a:t>
            </a:r>
          </a:p>
          <a:p>
            <a:pPr>
              <a:spcAft>
                <a:spcPts val="1000"/>
              </a:spcAft>
            </a:pPr>
            <a:r>
              <a:rPr sz="1500">
                <a:solidFill>
                  <a:srgbClr val="222B33"/>
                </a:solidFill>
                <a:latin typeface="Microsoft YaHei"/>
              </a:rPr>
              <a:t>▪ 不把应急处置列入评估</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逐步打分，汇成总表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每一步用风险矩阵打分</a:t>
            </a:r>
          </a:p>
          <a:p>
            <a:pPr>
              <a:spcAft>
                <a:spcPts val="1000"/>
              </a:spcAft>
            </a:pPr>
            <a:r>
              <a:rPr sz="2000">
                <a:solidFill>
                  <a:srgbClr val="222B33"/>
                </a:solidFill>
                <a:latin typeface="Microsoft YaHei"/>
              </a:rPr>
              <a:t>▪ 颜色分低、中、高、很高</a:t>
            </a:r>
          </a:p>
          <a:p>
            <a:pPr>
              <a:spcAft>
                <a:spcPts val="1000"/>
              </a:spcAft>
            </a:pPr>
            <a:r>
              <a:rPr sz="2000">
                <a:solidFill>
                  <a:srgbClr val="222B33"/>
                </a:solidFill>
                <a:latin typeface="Microsoft YaHei"/>
              </a:rPr>
              <a:t>▪ 汇成累计矩阵，全程风险一行看清</a:t>
            </a:r>
          </a:p>
          <a:p>
            <a:pPr>
              <a:spcAft>
                <a:spcPts val="1000"/>
              </a:spcAft>
            </a:pPr>
            <a:r>
              <a:rPr sz="2000">
                <a:solidFill>
                  <a:srgbClr val="222B33"/>
                </a:solidFill>
                <a:latin typeface="Microsoft YaHei"/>
              </a:rPr>
              <a:t>▪ 做熟了也别把可能性打低，看记录和险兆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每一步都用风险矩阵（可能性配后果，见第 067 课）打分，例如“接收和存放时意外暴露”可能性低、后果低；颜色分低、中、高、很高，一看就懂。各步汇总成累计矩阵或总表，全程风险一行看清，并找出风险最高的步骤。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凭感觉打分，没有依据</a:t>
            </a:r>
          </a:p>
          <a:p>
            <a:pPr>
              <a:spcAft>
                <a:spcPts val="1000"/>
              </a:spcAft>
            </a:pPr>
            <a:r>
              <a:rPr sz="1500">
                <a:solidFill>
                  <a:srgbClr val="222B33"/>
                </a:solidFill>
                <a:latin typeface="Microsoft YaHei"/>
              </a:rPr>
              <a:t>▪ 只看单步，不汇总全程风险</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决策点：评完再减缓，成文审核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决策点：残余风险够不够低</a:t>
            </a:r>
          </a:p>
          <a:p>
            <a:pPr>
              <a:spcAft>
                <a:spcPts val="1000"/>
              </a:spcAft>
            </a:pPr>
            <a:r>
              <a:rPr sz="2000">
                <a:solidFill>
                  <a:srgbClr val="222B33"/>
                </a:solidFill>
                <a:latin typeface="Microsoft YaHei"/>
              </a:rPr>
              <a:t>▪ 评完，再进入减缓</a:t>
            </a:r>
          </a:p>
          <a:p>
            <a:pPr>
              <a:spcAft>
                <a:spcPts val="1000"/>
              </a:spcAft>
            </a:pPr>
            <a:r>
              <a:rPr sz="2000">
                <a:solidFill>
                  <a:srgbClr val="222B33"/>
                </a:solidFill>
                <a:latin typeface="Microsoft YaHei"/>
              </a:rPr>
              <a:t>▪ 评估写成文件，经委员会审核</a:t>
            </a:r>
          </a:p>
          <a:p>
            <a:pPr>
              <a:spcAft>
                <a:spcPts val="1000"/>
              </a:spcAft>
            </a:pPr>
            <a:r>
              <a:rPr sz="2000">
                <a:solidFill>
                  <a:srgbClr val="222B33"/>
                </a:solidFill>
                <a:latin typeface="Microsoft YaHei"/>
              </a:rPr>
              <a:t>▪ 评清楚、控到位，再做决定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评估结束时有一个决策点：在现有控制下，残余风险是否可接受？不够低的，进入下一步风险减缓，对每一项风险点对应具体措施（见第 069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评估完不做决策，直接开始实验</a:t>
            </a:r>
          </a:p>
          <a:p>
            <a:pPr>
              <a:spcAft>
                <a:spcPts val="1000"/>
              </a:spcAft>
            </a:pPr>
            <a:r>
              <a:rPr sz="1500">
                <a:solidFill>
                  <a:srgbClr val="222B33"/>
                </a:solidFill>
                <a:latin typeface="Microsoft YaHei"/>
              </a:rPr>
              <a:t>▪ 评估报告不经审核</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关于病原分类，正确的是：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国内第一类病原危害最小</a:t>
            </a:r>
          </a:p>
          <a:p>
            <a:pPr algn="l"/>
            <a:r>
              <a:rPr sz="1500" b="0">
                <a:solidFill>
                  <a:srgbClr val="222B33"/>
                </a:solidFill>
                <a:latin typeface="Microsoft YaHei"/>
              </a:rPr>
              <a:t>B. 国内第一类危害最大，与国际风险组 1 组最低方向相反</a:t>
            </a:r>
          </a:p>
          <a:p>
            <a:pPr algn="l"/>
            <a:r>
              <a:rPr sz="1500" b="0">
                <a:solidFill>
                  <a:srgbClr val="222B33"/>
                </a:solidFill>
                <a:latin typeface="Microsoft YaHei"/>
              </a:rPr>
              <a:t>C. 国内分类与国际风险组编号完全一致</a:t>
            </a:r>
          </a:p>
          <a:p>
            <a:pPr algn="l"/>
            <a:r>
              <a:rPr sz="1500" b="0">
                <a:solidFill>
                  <a:srgbClr val="222B33"/>
                </a:solidFill>
                <a:latin typeface="Microsoft YaHei"/>
              </a:rPr>
              <a:t>D. 分类查到后就不用再评估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判断：同一种病原，只做核酸提取和做大量培养，风险是一样的。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下列哪项不属于病原层面的评估要素？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感染途径</a:t>
            </a:r>
          </a:p>
          <a:p>
            <a:pPr algn="l"/>
            <a:r>
              <a:rPr sz="1500" b="0">
                <a:solidFill>
                  <a:srgbClr val="222B33"/>
                </a:solidFill>
                <a:latin typeface="Microsoft YaHei"/>
              </a:rPr>
              <a:t>B. 有无预防和治疗手段</a:t>
            </a:r>
          </a:p>
          <a:p>
            <a:pPr algn="l"/>
            <a:r>
              <a:rPr sz="1500" b="0">
                <a:solidFill>
                  <a:srgbClr val="222B33"/>
                </a:solidFill>
                <a:latin typeface="Microsoft YaHei"/>
              </a:rPr>
              <a:t>C. 是否经过改造</a:t>
            </a:r>
          </a:p>
          <a:p>
            <a:pPr algn="l"/>
            <a:r>
              <a:rPr sz="1500" b="0">
                <a:solidFill>
                  <a:srgbClr val="222B33"/>
                </a:solidFill>
                <a:latin typeface="Microsoft YaHei"/>
              </a:rPr>
              <a:t>D. 实验室的装修颜色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判断：自己有过敏或免疫低下情况，属于个人隐私，不必告诉实验室负责人。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对一批疑似感染的血样做结构化评估，正确的做法是：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只评估检测这一步</a:t>
            </a:r>
          </a:p>
          <a:p>
            <a:pPr algn="l"/>
            <a:r>
              <a:rPr sz="1500" b="0">
                <a:solidFill>
                  <a:srgbClr val="222B33"/>
                </a:solidFill>
                <a:latin typeface="Microsoft YaHei"/>
              </a:rPr>
              <a:t>B. 把流程拆成接收存放、编目、分离、检测、处置、去污、记录、应急等单步，逐步打分再汇总</a:t>
            </a:r>
          </a:p>
          <a:p>
            <a:pPr algn="l"/>
            <a:r>
              <a:rPr sz="1500" b="0">
                <a:solidFill>
                  <a:srgbClr val="222B33"/>
                </a:solidFill>
                <a:latin typeface="Microsoft YaHei"/>
              </a:rPr>
              <a:t>C. 镜检没查到就按无感染性处理</a:t>
            </a:r>
          </a:p>
          <a:p>
            <a:pPr algn="l"/>
            <a:r>
              <a:rPr sz="1500" b="0">
                <a:solidFill>
                  <a:srgbClr val="222B33"/>
                </a:solidFill>
                <a:latin typeface="Microsoft YaHei"/>
              </a:rPr>
              <a:t>D. 借用别的实验室的评估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简答：哪些样本要从严评估？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一个病原、一项实验，一份评估</a:t>
            </a:r>
          </a:p>
          <a:p>
            <a:pPr>
              <a:spcAft>
                <a:spcPts val="800"/>
              </a:spcAft>
            </a:pPr>
            <a:r>
              <a:rPr sz="1500">
                <a:solidFill>
                  <a:srgbClr val="FFFFFF"/>
                </a:solidFill>
                <a:latin typeface="Microsoft YaHei"/>
              </a:rPr>
              <a:t>▪ K2  未知病原和特殊样本从严</a:t>
            </a:r>
          </a:p>
          <a:p>
            <a:pPr>
              <a:spcAft>
                <a:spcPts val="800"/>
              </a:spcAft>
            </a:pPr>
            <a:r>
              <a:rPr sz="1500">
                <a:solidFill>
                  <a:srgbClr val="FFFFFF"/>
                </a:solidFill>
                <a:latin typeface="Microsoft YaHei"/>
              </a:rPr>
              <a:t>▪ K3  冰山：看不见的风险也要想</a:t>
            </a:r>
          </a:p>
          <a:p>
            <a:pPr>
              <a:spcAft>
                <a:spcPts val="800"/>
              </a:spcAft>
            </a:pPr>
            <a:r>
              <a:rPr sz="1500">
                <a:solidFill>
                  <a:srgbClr val="FFFFFF"/>
                </a:solidFill>
                <a:latin typeface="Microsoft YaHei"/>
              </a:rPr>
              <a:t>▪ K4  评估清单：病原、活动、人员、设施</a:t>
            </a:r>
          </a:p>
          <a:p>
            <a:pPr>
              <a:spcAft>
                <a:spcPts val="800"/>
              </a:spcAft>
            </a:pPr>
            <a:r>
              <a:rPr sz="1500">
                <a:solidFill>
                  <a:srgbClr val="FFFFFF"/>
                </a:solidFill>
                <a:latin typeface="Microsoft YaHei"/>
              </a:rPr>
              <a:t>▪ K5  病原：先查分类</a:t>
            </a:r>
          </a:p>
          <a:p>
            <a:pPr>
              <a:spcAft>
                <a:spcPts val="800"/>
              </a:spcAft>
            </a:pPr>
            <a:r>
              <a:rPr sz="1500">
                <a:solidFill>
                  <a:srgbClr val="FFFFFF"/>
                </a:solidFill>
                <a:latin typeface="Microsoft YaHei"/>
              </a:rPr>
              <a:t>▪ K6  病原：致病性、感染剂量与后果</a:t>
            </a:r>
          </a:p>
          <a:p>
            <a:pPr>
              <a:spcAft>
                <a:spcPts val="800"/>
              </a:spcAft>
            </a:pPr>
            <a:r>
              <a:rPr sz="1500">
                <a:solidFill>
                  <a:srgbClr val="FFFFFF"/>
                </a:solidFill>
                <a:latin typeface="Microsoft YaHei"/>
              </a:rPr>
              <a:t>▪ K7  病原：感染途径与媒介</a:t>
            </a:r>
          </a:p>
          <a:p>
            <a:pPr>
              <a:spcAft>
                <a:spcPts val="800"/>
              </a:spcAft>
            </a:pPr>
            <a:r>
              <a:rPr sz="1500">
                <a:solidFill>
                  <a:srgbClr val="FFFFFF"/>
                </a:solidFill>
                <a:latin typeface="Microsoft YaHei"/>
              </a:rPr>
              <a:t>▪ K8  病原：宿主范围、环境存活、本地流行</a:t>
            </a:r>
          </a:p>
          <a:p>
            <a:pPr>
              <a:spcAft>
                <a:spcPts val="800"/>
              </a:spcAft>
            </a:pPr>
            <a:r>
              <a:rPr sz="1500">
                <a:solidFill>
                  <a:srgbClr val="FFFFFF"/>
                </a:solidFill>
                <a:latin typeface="Microsoft YaHei"/>
              </a:rPr>
              <a:t>▪ K9  病原：有无预防治疗和已有研究</a:t>
            </a:r>
          </a:p>
          <a:p>
            <a:pPr>
              <a:spcAft>
                <a:spcPts val="800"/>
              </a:spcAft>
            </a:pPr>
            <a:r>
              <a:rPr sz="1500">
                <a:solidFill>
                  <a:srgbClr val="FFFFFF"/>
                </a:solidFill>
                <a:latin typeface="Microsoft YaHei"/>
              </a:rPr>
              <a:t>▪ K10  病原：是否经过改造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活动：拿它做什么，量有多大</a:t>
            </a:r>
          </a:p>
          <a:p>
            <a:pPr>
              <a:spcAft>
                <a:spcPts val="800"/>
              </a:spcAft>
            </a:pPr>
            <a:r>
              <a:rPr sz="1500">
                <a:solidFill>
                  <a:srgbClr val="FFFFFF"/>
                </a:solidFill>
                <a:latin typeface="Microsoft YaHei"/>
              </a:rPr>
              <a:t>▪ K12  活动：哪些操作容易暴露</a:t>
            </a:r>
          </a:p>
          <a:p>
            <a:pPr>
              <a:spcAft>
                <a:spcPts val="800"/>
              </a:spcAft>
            </a:pPr>
            <a:r>
              <a:rPr sz="1500">
                <a:solidFill>
                  <a:srgbClr val="FFFFFF"/>
                </a:solidFill>
                <a:latin typeface="Microsoft YaHei"/>
              </a:rPr>
              <a:t>▪ K13  人员：免疫状态、健康与过敏</a:t>
            </a:r>
          </a:p>
          <a:p>
            <a:pPr>
              <a:spcAft>
                <a:spcPts val="800"/>
              </a:spcAft>
            </a:pPr>
            <a:r>
              <a:rPr sz="1500">
                <a:solidFill>
                  <a:srgbClr val="FFFFFF"/>
                </a:solidFill>
                <a:latin typeface="Microsoft YaHei"/>
              </a:rPr>
              <a:t>▪ K14  病原问卷：是或否，逐条答</a:t>
            </a:r>
          </a:p>
          <a:p>
            <a:pPr>
              <a:spcAft>
                <a:spcPts val="800"/>
              </a:spcAft>
            </a:pPr>
            <a:r>
              <a:rPr sz="1500">
                <a:solidFill>
                  <a:srgbClr val="FFFFFF"/>
                </a:solidFill>
                <a:latin typeface="Microsoft YaHei"/>
              </a:rPr>
              <a:t>▪ K15  设施与管理问卷</a:t>
            </a:r>
          </a:p>
          <a:p>
            <a:pPr>
              <a:spcAft>
                <a:spcPts val="800"/>
              </a:spcAft>
            </a:pPr>
            <a:r>
              <a:rPr sz="1500">
                <a:solidFill>
                  <a:srgbClr val="FFFFFF"/>
                </a:solidFill>
                <a:latin typeface="Microsoft YaHei"/>
              </a:rPr>
              <a:t>▪ K16  安全和安保两类风险都要评</a:t>
            </a:r>
          </a:p>
          <a:p>
            <a:pPr>
              <a:spcAft>
                <a:spcPts val="800"/>
              </a:spcAft>
            </a:pPr>
            <a:r>
              <a:rPr sz="1500">
                <a:solidFill>
                  <a:srgbClr val="FFFFFF"/>
                </a:solidFill>
                <a:latin typeface="Microsoft YaHei"/>
              </a:rPr>
              <a:t>▪ K17  案例：一批疑似感染的血样</a:t>
            </a:r>
          </a:p>
          <a:p>
            <a:pPr>
              <a:spcAft>
                <a:spcPts val="800"/>
              </a:spcAft>
            </a:pPr>
            <a:r>
              <a:rPr sz="1500">
                <a:solidFill>
                  <a:srgbClr val="FFFFFF"/>
                </a:solidFill>
                <a:latin typeface="Microsoft YaHei"/>
              </a:rPr>
              <a:t>▪ K18  把流程拆成单步</a:t>
            </a:r>
          </a:p>
          <a:p>
            <a:pPr>
              <a:spcAft>
                <a:spcPts val="800"/>
              </a:spcAft>
            </a:pPr>
            <a:r>
              <a:rPr sz="1500">
                <a:solidFill>
                  <a:srgbClr val="FFFFFF"/>
                </a:solidFill>
                <a:latin typeface="Microsoft YaHei"/>
              </a:rPr>
              <a:t>▪ K19  逐步打分，汇成总表</a:t>
            </a:r>
          </a:p>
          <a:p>
            <a:pPr>
              <a:spcAft>
                <a:spcPts val="800"/>
              </a:spcAft>
            </a:pPr>
            <a:r>
              <a:rPr sz="1500">
                <a:solidFill>
                  <a:srgbClr val="FFFFFF"/>
                </a:solidFill>
                <a:latin typeface="Microsoft YaHei"/>
              </a:rPr>
              <a:t>▪ K20  决策点：评完再减缓，成文审核</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生物风险控制与管理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适用对象：进入生命科学、医学、农学、环境等涉及生物材料实验室的高校本科生、研究生和教职工（必修）；实验室负责人、生物安全员和菌毒种、样本保管人员重点学习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能说出生物风险减缓的五类控制（消除、替代、工程控制、管理控制、个人防护）及其层级，知道各类控制要并用、个人防护是最后一道防线。</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能说出管理控制的主要内容：依法依规的制度、操作规程与记录、核对表、准入培训与考核、标识、菌毒种和样本的清单台账。</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能做到按要求参加上岗体检和健康监护、按评估接种疫苗，身体不适就医时主动说明接触史并报告负责人。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能判断菌毒种、样本或生物毒素丢失被盗、疑似实验室感染时应立即报告，知道生物毒素专人专柜、双人复核、用后灭活。</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《中华人民共和国生物安全法》（以现行文本为准）：病原微生物实验室应当采取措施，加强对实验动物、菌毒种和样本的管理，防止被盗、被抢、丢失和泄漏</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《病原微生物实验室生物安全管理条例》（以现行文本为准）：实验室人员培训考核、健康监测、实验档案、菌毒种和样本的保管；实验室感染和菌毒种丢失按规定报告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生物安全通用要求》：风险控制、管理体系、人员与健康监护、标准操作程序、材料管理、标识、记录</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233（以现行文本为准）《病原微生物实验室生物安全通用准则》：实验室生物安全管理要求和人员管理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《中华人民共和国生物安全法》《农业转基因生物安全管理条例》（以现行文本为准）：转基因材料的登记、审查与管理（详见第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号，以现行文本为准）：实验室安全准入、培训考核、安全信息牌和危险物品台账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本校实验室生物安全管理办法、菌毒种和样本管理规定、健康监护和免疫接种规定（以本校规定为准）</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评估是提问，减缓才降险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评估只是提问，减缓才真正降险</a:t>
            </a:r>
          </a:p>
          <a:p>
            <a:pPr>
              <a:spcAft>
                <a:spcPts val="1000"/>
              </a:spcAft>
            </a:pPr>
            <a:r>
              <a:rPr sz="2000">
                <a:solidFill>
                  <a:srgbClr val="222B33"/>
                </a:solidFill>
                <a:latin typeface="Microsoft YaHei"/>
              </a:rPr>
              <a:t>▪ 识别危害、评估之后，控制登场</a:t>
            </a:r>
          </a:p>
          <a:p>
            <a:pPr>
              <a:spcAft>
                <a:spcPts val="1000"/>
              </a:spcAft>
            </a:pPr>
            <a:r>
              <a:rPr sz="2000">
                <a:solidFill>
                  <a:srgbClr val="222B33"/>
                </a:solidFill>
                <a:latin typeface="Microsoft YaHei"/>
              </a:rPr>
              <a:t>▪ 控制是落实管理决策的行动</a:t>
            </a:r>
          </a:p>
          <a:p>
            <a:pPr>
              <a:spcAft>
                <a:spcPts val="1000"/>
              </a:spcAft>
            </a:pPr>
            <a:r>
              <a:rPr sz="2000">
                <a:solidFill>
                  <a:srgbClr val="222B33"/>
                </a:solidFill>
                <a:latin typeface="Microsoft YaHei"/>
              </a:rPr>
              <a:t>▪ 几类措施一起用，互相补位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风险评估（见第 067、068 课）只是在提问：有什么风险、有多大，本身不会让风险变小；风险减缓才是真正把风险降下来。流程是：识别危害、评估风险，然后进入减缓，控制措施在这一步登场。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评估报告通过了，就认为风险已经解决</a:t>
            </a:r>
          </a:p>
          <a:p>
            <a:pPr>
              <a:spcAft>
                <a:spcPts val="1000"/>
              </a:spcAft>
            </a:pPr>
            <a:r>
              <a:rPr sz="1500">
                <a:solidFill>
                  <a:srgbClr val="222B33"/>
                </a:solidFill>
                <a:latin typeface="Microsoft YaHei"/>
              </a:rPr>
              <a:t>▪ 措施写在报告里，实际不落实</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五类控制，按层级从上往下选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五类：消除、替代、工程、管理、个人防护</a:t>
            </a:r>
          </a:p>
          <a:p>
            <a:pPr>
              <a:spcAft>
                <a:spcPts val="1000"/>
              </a:spcAft>
            </a:pPr>
            <a:r>
              <a:rPr sz="2000">
                <a:solidFill>
                  <a:srgbClr val="222B33"/>
                </a:solidFill>
                <a:latin typeface="Microsoft YaHei"/>
              </a:rPr>
              <a:t>▪ 从上往下选，越往上越有效</a:t>
            </a:r>
          </a:p>
          <a:p>
            <a:pPr>
              <a:spcAft>
                <a:spcPts val="1000"/>
              </a:spcAft>
            </a:pPr>
            <a:r>
              <a:rPr sz="2000">
                <a:solidFill>
                  <a:srgbClr val="222B33"/>
                </a:solidFill>
                <a:latin typeface="Microsoft YaHei"/>
              </a:rPr>
              <a:t>▪ 安全带刹车像工程，驾照交规像管理</a:t>
            </a:r>
          </a:p>
          <a:p>
            <a:pPr>
              <a:spcAft>
                <a:spcPts val="1000"/>
              </a:spcAft>
            </a:pPr>
            <a:r>
              <a:rPr sz="2000">
                <a:solidFill>
                  <a:srgbClr val="222B33"/>
                </a:solidFill>
                <a:latin typeface="Microsoft YaHei"/>
              </a:rPr>
              <a:t>▪ 能从源头消除的，别只靠口罩手套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一上来只想着加防护用品</a:t>
            </a:r>
          </a:p>
          <a:p>
            <a:pPr>
              <a:spcAft>
                <a:spcPts val="1000"/>
              </a:spcAft>
            </a:pPr>
            <a:r>
              <a:rPr sz="1500">
                <a:solidFill>
                  <a:srgbClr val="222B33"/>
                </a:solidFill>
                <a:latin typeface="Microsoft YaHei"/>
              </a:rPr>
              <a:t>▪ 认为层级是菜单，挑最省事的一项就行</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消除：风险太大就不做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风险太大，这个实验就不做</a:t>
            </a:r>
          </a:p>
          <a:p>
            <a:pPr>
              <a:spcAft>
                <a:spcPts val="1000"/>
              </a:spcAft>
            </a:pPr>
            <a:r>
              <a:rPr sz="2000">
                <a:solidFill>
                  <a:srgbClr val="222B33"/>
                </a:solidFill>
                <a:latin typeface="Microsoft YaHei"/>
              </a:rPr>
              <a:t>▪ 没设施、没培训、没人手，就别做</a:t>
            </a:r>
          </a:p>
          <a:p>
            <a:pPr>
              <a:spcAft>
                <a:spcPts val="1000"/>
              </a:spcAft>
            </a:pPr>
            <a:r>
              <a:rPr sz="2000">
                <a:solidFill>
                  <a:srgbClr val="222B33"/>
                </a:solidFill>
                <a:latin typeface="Microsoft YaHei"/>
              </a:rPr>
              <a:t>▪ 也不一刀切，要给研究留空间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消除是最有效的控制：风险太大，或者没有合适的设施（如没有生物安全柜、没有定向气流）、人员没有培训、人手不足，这个实验就不做，或者转到具备条件的单位开展。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不具备条件也硬上</a:t>
            </a:r>
          </a:p>
          <a:p>
            <a:pPr>
              <a:spcAft>
                <a:spcPts val="1000"/>
              </a:spcAft>
            </a:pPr>
            <a:r>
              <a:rPr sz="1500">
                <a:solidFill>
                  <a:srgbClr val="222B33"/>
                </a:solidFill>
                <a:latin typeface="Microsoft YaHei"/>
              </a:rPr>
              <a:t>▪ 一听有风险就一律禁止，不做评估</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替代：换成风险更低的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换成减毒、弱化的株</a:t>
            </a:r>
          </a:p>
          <a:p>
            <a:pPr>
              <a:spcAft>
                <a:spcPts val="1000"/>
              </a:spcAft>
            </a:pPr>
            <a:r>
              <a:rPr sz="2000">
                <a:solidFill>
                  <a:srgbClr val="222B33"/>
                </a:solidFill>
                <a:latin typeface="Microsoft YaHei"/>
              </a:rPr>
              <a:t>▪ 样本先灭活再送来，风险就低了</a:t>
            </a:r>
          </a:p>
          <a:p>
            <a:pPr>
              <a:spcAft>
                <a:spcPts val="1000"/>
              </a:spcAft>
            </a:pPr>
            <a:r>
              <a:rPr sz="2000">
                <a:solidFill>
                  <a:srgbClr val="222B33"/>
                </a:solidFill>
                <a:latin typeface="Microsoft YaHei"/>
              </a:rPr>
              <a:t>▪ 能用塑料就不用玻璃，少用锐器</a:t>
            </a:r>
          </a:p>
          <a:p>
            <a:pPr>
              <a:spcAft>
                <a:spcPts val="1000"/>
              </a:spcAft>
            </a:pPr>
            <a:r>
              <a:rPr sz="2000">
                <a:solidFill>
                  <a:srgbClr val="222B33"/>
                </a:solidFill>
                <a:latin typeface="Microsoft YaHei"/>
              </a:rPr>
              <a:t>▪ 替代方案也要评估后再换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替代就是换成风险更低的方案：例如改用减毒、弱化的株，在实验室里更好管理；样本在送来之前先按规定灭活，风险就大大降低；能用塑料器材就不用玻璃，能不用锐器就不用锐器。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想当然地认为“灭活了就绝对安全”，不核实灭活效果</a:t>
            </a:r>
          </a:p>
          <a:p>
            <a:pPr>
              <a:spcAft>
                <a:spcPts val="1000"/>
              </a:spcAft>
            </a:pPr>
            <a:r>
              <a:rPr sz="1500">
                <a:solidFill>
                  <a:srgbClr val="222B33"/>
                </a:solidFill>
                <a:latin typeface="Microsoft YaHei"/>
              </a:rPr>
              <a:t>▪ 不评估就随意更换材料或方法</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工程控制：把病原关住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设施设备把病原关住，给人安全环境</a:t>
            </a:r>
          </a:p>
          <a:p>
            <a:pPr>
              <a:spcAft>
                <a:spcPts val="1000"/>
              </a:spcAft>
            </a:pPr>
            <a:r>
              <a:rPr sz="2000">
                <a:solidFill>
                  <a:srgbClr val="222B33"/>
                </a:solidFill>
                <a:latin typeface="Microsoft YaHei"/>
              </a:rPr>
              <a:t>▪ 生物安全柜、高效过滤、定向气流</a:t>
            </a:r>
          </a:p>
          <a:p>
            <a:pPr>
              <a:spcAft>
                <a:spcPts val="1000"/>
              </a:spcAft>
            </a:pPr>
            <a:r>
              <a:rPr sz="2000">
                <a:solidFill>
                  <a:srgbClr val="222B33"/>
                </a:solidFill>
                <a:latin typeface="Microsoft YaHei"/>
              </a:rPr>
              <a:t>▪ 设施细节见第 062–064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工程控制是用专门设计的设施设备把病原关住，给人创造安全的工作环境：例如在生物安全柜内操作并接好排风，加上高效过滤和污水处理；实验室保持负压，空气从外往里流，就形成了封闭。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有了安全柜就不注意操作规范</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个人防护是最后一道防线</a:t>
            </a:r>
          </a:p>
          <a:p>
            <a:pPr>
              <a:spcAft>
                <a:spcPts val="1000"/>
              </a:spcAft>
            </a:pPr>
            <a:r>
              <a:rPr sz="2000">
                <a:solidFill>
                  <a:srgbClr val="222B33"/>
                </a:solidFill>
                <a:latin typeface="Microsoft YaHei"/>
              </a:rPr>
              <a:t>▪ 按感染途径和评估，选对防护</a:t>
            </a:r>
          </a:p>
          <a:p>
            <a:pPr>
              <a:spcAft>
                <a:spcPts val="1000"/>
              </a:spcAft>
            </a:pPr>
            <a:r>
              <a:rPr sz="2000">
                <a:solidFill>
                  <a:srgbClr val="222B33"/>
                </a:solidFill>
                <a:latin typeface="Microsoft YaHei"/>
              </a:rPr>
              <a:t>▪ 接触动物要戴防咬手套</a:t>
            </a:r>
          </a:p>
          <a:p>
            <a:pPr>
              <a:spcAft>
                <a:spcPts val="1000"/>
              </a:spcAft>
            </a:pPr>
            <a:r>
              <a:rPr sz="2000">
                <a:solidFill>
                  <a:srgbClr val="222B33"/>
                </a:solidFill>
                <a:latin typeface="Microsoft YaHei"/>
              </a:rPr>
              <a:t>▪ 不会正确穿脱反而更危险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认为防护穿得越多越安全，忽视工程和管理控制</a:t>
            </a:r>
          </a:p>
          <a:p>
            <a:pPr>
              <a:spcAft>
                <a:spcPts val="1000"/>
              </a:spcAft>
            </a:pPr>
            <a:r>
              <a:rPr sz="1500">
                <a:solidFill>
                  <a:srgbClr val="222B33"/>
                </a:solidFill>
                <a:latin typeface="Microsoft YaHei"/>
              </a:rPr>
              <a:t>▪ 脱防护时顺序错误，污染皮肤和衣物</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控制要并用，互相补位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五类控制一起用，缺一块就有漏洞</a:t>
            </a:r>
          </a:p>
          <a:p>
            <a:pPr>
              <a:spcAft>
                <a:spcPts val="1000"/>
              </a:spcAft>
            </a:pPr>
            <a:r>
              <a:rPr sz="2000">
                <a:solidFill>
                  <a:srgbClr val="222B33"/>
                </a:solidFill>
                <a:latin typeface="Microsoft YaHei"/>
              </a:rPr>
              <a:t>▪ 有了安全柜，也得照规程做</a:t>
            </a:r>
          </a:p>
          <a:p>
            <a:pPr>
              <a:spcAft>
                <a:spcPts val="1000"/>
              </a:spcAft>
            </a:pPr>
            <a:r>
              <a:rPr sz="2000">
                <a:solidFill>
                  <a:srgbClr val="222B33"/>
                </a:solidFill>
                <a:latin typeface="Microsoft YaHei"/>
              </a:rPr>
              <a:t>▪ 进出、穿脱防护都要有规程</a:t>
            </a:r>
          </a:p>
          <a:p>
            <a:pPr>
              <a:spcAft>
                <a:spcPts val="1000"/>
              </a:spcAft>
            </a:pPr>
            <a:r>
              <a:rPr sz="2000">
                <a:solidFill>
                  <a:srgbClr val="222B33"/>
                </a:solidFill>
                <a:latin typeface="Microsoft YaHei"/>
              </a:rPr>
              <a:t>▪ 工程控制代替不了规范操作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新实验室设施先进，就放松操作要求</a:t>
            </a:r>
          </a:p>
          <a:p>
            <a:pPr>
              <a:spcAft>
                <a:spcPts val="1000"/>
              </a:spcAft>
            </a:pPr>
            <a:r>
              <a:rPr sz="1500">
                <a:solidFill>
                  <a:srgbClr val="222B33"/>
                </a:solidFill>
                <a:latin typeface="Microsoft YaHei"/>
              </a:rPr>
              <a:t>▪ 只买设备，不写规程、不培训</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每步问五个问题，汇成措施表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流程每一步问五个问题</a:t>
            </a:r>
          </a:p>
          <a:p>
            <a:pPr>
              <a:spcAft>
                <a:spcPts val="1000"/>
              </a:spcAft>
            </a:pPr>
            <a:r>
              <a:rPr sz="2000">
                <a:solidFill>
                  <a:srgbClr val="222B33"/>
                </a:solidFill>
                <a:latin typeface="Microsoft YaHei"/>
              </a:rPr>
              <a:t>▪ 能不做？能换？加设备？写规程？穿什么？</a:t>
            </a:r>
          </a:p>
          <a:p>
            <a:pPr>
              <a:spcAft>
                <a:spcPts val="1000"/>
              </a:spcAft>
            </a:pPr>
            <a:r>
              <a:rPr sz="2000">
                <a:solidFill>
                  <a:srgbClr val="222B33"/>
                </a:solidFill>
                <a:latin typeface="Microsoft YaHei"/>
              </a:rPr>
              <a:t>▪ 每步的措施汇成一张表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在第 068 课把流程拆成单步、逐步打分之后，对每一步依次问五个控制问题：能不能不做（消除）？能不能换个办法（替代）？能不能加设备（工程控制）？要不要专门的规程（管理控制）？要什么防护（个人防护）？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只给整个实验列一条笼统的措施</a:t>
            </a:r>
          </a:p>
          <a:p>
            <a:pPr>
              <a:spcAft>
                <a:spcPts val="1000"/>
              </a:spcAft>
            </a:pPr>
            <a:r>
              <a:rPr sz="1500">
                <a:solidFill>
                  <a:srgbClr val="222B33"/>
                </a:solidFill>
                <a:latin typeface="Microsoft YaHei"/>
              </a:rPr>
              <a:t>▪ 措施表做好后不检查执行情况</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管理控制：白纸黑字，先于设施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管理控制是基石，建楼前就要定下</a:t>
            </a:r>
          </a:p>
          <a:p>
            <a:pPr>
              <a:spcAft>
                <a:spcPts val="1000"/>
              </a:spcAft>
            </a:pPr>
            <a:r>
              <a:rPr sz="2000">
                <a:solidFill>
                  <a:srgbClr val="222B33"/>
                </a:solidFill>
                <a:latin typeface="Microsoft YaHei"/>
              </a:rPr>
              <a:t>▪ 政策、规则、安排、培训、记录都要写下</a:t>
            </a:r>
          </a:p>
          <a:p>
            <a:pPr>
              <a:spcAft>
                <a:spcPts val="1000"/>
              </a:spcAft>
            </a:pPr>
            <a:r>
              <a:rPr sz="2000">
                <a:solidFill>
                  <a:srgbClr val="222B33"/>
                </a:solidFill>
                <a:latin typeface="Microsoft YaHei"/>
              </a:rPr>
              <a:t>▪ 包括委员会、手册、库存、体检、审核</a:t>
            </a:r>
          </a:p>
          <a:p>
            <a:pPr>
              <a:spcAft>
                <a:spcPts val="1000"/>
              </a:spcAft>
            </a:pPr>
            <a:r>
              <a:rPr sz="2000">
                <a:solidFill>
                  <a:srgbClr val="222B33"/>
                </a:solidFill>
                <a:latin typeface="Microsoft YaHei"/>
              </a:rPr>
              <a:t>▪ 目标：少接触、少暴露；也关注心理压力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管理控制是生物风险管理的基石，要在设计建设设施之前，就以安全手册和管理制度的形式定下来。它包括书面的政策、规则、工作安排、培训和记录，一切都要白纸黑字，检查时要看记录。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先建好实验室，再临时补制度</a:t>
            </a:r>
          </a:p>
          <a:p>
            <a:pPr>
              <a:spcAft>
                <a:spcPts val="1000"/>
              </a:spcAft>
            </a:pPr>
            <a:r>
              <a:rPr sz="1500">
                <a:solidFill>
                  <a:srgbClr val="222B33"/>
                </a:solidFill>
                <a:latin typeface="Microsoft YaHei"/>
              </a:rPr>
              <a:t>▪ 制度只口头传达，没有书面文件和记录</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依法依规：外部要求与内部制度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订制度前，先把国内法规查清楚</a:t>
            </a:r>
          </a:p>
          <a:p>
            <a:pPr>
              <a:spcAft>
                <a:spcPts val="1000"/>
              </a:spcAft>
            </a:pPr>
            <a:r>
              <a:rPr sz="2000">
                <a:solidFill>
                  <a:srgbClr val="222B33"/>
                </a:solidFill>
                <a:latin typeface="Microsoft YaHei"/>
              </a:rPr>
              <a:t>▪ 内部制度必须放在法律框架里</a:t>
            </a:r>
          </a:p>
          <a:p>
            <a:pPr>
              <a:spcAft>
                <a:spcPts val="1000"/>
              </a:spcAft>
            </a:pPr>
            <a:r>
              <a:rPr sz="2000">
                <a:solidFill>
                  <a:srgbClr val="222B33"/>
                </a:solidFill>
                <a:latin typeface="Microsoft YaHei"/>
              </a:rPr>
              <a:t>▪ 不能说不知道，拿不准请人把关</a:t>
            </a:r>
          </a:p>
          <a:p>
            <a:pPr>
              <a:spcAft>
                <a:spcPts val="1000"/>
              </a:spcAft>
            </a:pPr>
            <a:r>
              <a:rPr sz="2000">
                <a:solidFill>
                  <a:srgbClr val="222B33"/>
                </a:solidFill>
                <a:latin typeface="Microsoft YaHei"/>
              </a:rPr>
              <a:t>▪ 领导支持，人人对自己的事负责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照搬国外手册的规定，不查国内法规</a:t>
            </a:r>
          </a:p>
          <a:p>
            <a:pPr>
              <a:spcAft>
                <a:spcPts val="1000"/>
              </a:spcAft>
            </a:pPr>
            <a:r>
              <a:rPr sz="1500">
                <a:solidFill>
                  <a:srgbClr val="222B33"/>
                </a:solidFill>
                <a:latin typeface="Microsoft YaHei"/>
              </a:rPr>
              <a:t>▪ 实验室自定的规定与学校制度、国家法规冲突</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操作规程：写你所做，做你所写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写你所做，做你所写，规程和记录一致</a:t>
            </a:r>
          </a:p>
          <a:p>
            <a:pPr>
              <a:spcAft>
                <a:spcPts val="1000"/>
              </a:spcAft>
            </a:pPr>
            <a:r>
              <a:rPr sz="2000">
                <a:solidFill>
                  <a:srgbClr val="222B33"/>
                </a:solidFill>
                <a:latin typeface="Microsoft YaHei"/>
              </a:rPr>
              <a:t>▪ 照规程一步不省，规程本身也要验证</a:t>
            </a:r>
          </a:p>
          <a:p>
            <a:pPr>
              <a:spcAft>
                <a:spcPts val="1000"/>
              </a:spcAft>
            </a:pPr>
            <a:r>
              <a:rPr sz="2000">
                <a:solidFill>
                  <a:srgbClr val="222B33"/>
                </a:solidFill>
                <a:latin typeface="Microsoft YaHei"/>
              </a:rPr>
              <a:t>▪ 规程写清应急：先处置，再逐级上报</a:t>
            </a:r>
          </a:p>
          <a:p>
            <a:pPr>
              <a:spcAft>
                <a:spcPts val="1000"/>
              </a:spcAft>
            </a:pPr>
            <a:r>
              <a:rPr sz="2000">
                <a:solidFill>
                  <a:srgbClr val="222B33"/>
                </a:solidFill>
                <a:latin typeface="Microsoft YaHei"/>
              </a:rPr>
              <a:t>▪ 电子记录要备份，纸质记录要归档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标准操作规程的通用原则是“写你所做，做你所写”：规程写的就是实际做的，实际做的就要和规程一致，记录也要与之相符。操作时严格按规程，一步都不能省；规程本身也要测试，确认管用。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规程写一套，实际做一套</a:t>
            </a:r>
          </a:p>
          <a:p>
            <a:pPr>
              <a:spcAft>
                <a:spcPts val="1000"/>
              </a:spcAft>
            </a:pPr>
            <a:r>
              <a:rPr sz="1500">
                <a:solidFill>
                  <a:srgbClr val="222B33"/>
                </a:solidFill>
                <a:latin typeface="Microsoft YaHei"/>
              </a:rPr>
              <a:t>▪ 规程里没有应急步骤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核对表与情景意识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核对表和规程配套，边做边勾</a:t>
            </a:r>
          </a:p>
          <a:p>
            <a:pPr>
              <a:spcAft>
                <a:spcPts val="1000"/>
              </a:spcAft>
            </a:pPr>
            <a:r>
              <a:rPr sz="2000">
                <a:solidFill>
                  <a:srgbClr val="222B33"/>
                </a:solidFill>
                <a:latin typeface="Microsoft YaHei"/>
              </a:rPr>
              <a:t>▪ 累了容易出错，长流程要轮班</a:t>
            </a:r>
          </a:p>
          <a:p>
            <a:pPr>
              <a:spcAft>
                <a:spcPts val="1000"/>
              </a:spcAft>
            </a:pPr>
            <a:r>
              <a:rPr sz="2000">
                <a:solidFill>
                  <a:srgbClr val="222B33"/>
                </a:solidFill>
                <a:latin typeface="Microsoft YaHei"/>
              </a:rPr>
              <a:t>▪ 可以自查，也可以同伴互查</a:t>
            </a:r>
          </a:p>
          <a:p>
            <a:pPr>
              <a:spcAft>
                <a:spcPts val="1000"/>
              </a:spcAft>
            </a:pPr>
            <a:r>
              <a:rPr sz="2000">
                <a:solidFill>
                  <a:srgbClr val="222B33"/>
                </a:solidFill>
                <a:latin typeface="Microsoft YaHei"/>
              </a:rPr>
              <a:t>▪ 核对表存档，检查审核要看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核对表和操作规程配套使用：边做边勾，保持情景意识，知道自己做到了哪一步。人累了容易出错，长流程要安排轮班或休息。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做完再凭记忆一次性补勾</a:t>
            </a:r>
          </a:p>
          <a:p>
            <a:pPr>
              <a:spcAft>
                <a:spcPts val="1000"/>
              </a:spcAft>
            </a:pPr>
            <a:r>
              <a:rPr sz="1500">
                <a:solidFill>
                  <a:srgbClr val="222B33"/>
                </a:solidFill>
                <a:latin typeface="Microsoft YaHei"/>
              </a:rPr>
              <a:t>▪ 连续长时间操作不休息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准入、培训考核与承诺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上岗前看培训和实际操作能力</a:t>
            </a:r>
          </a:p>
          <a:p>
            <a:pPr>
              <a:spcAft>
                <a:spcPts val="1000"/>
              </a:spcAft>
            </a:pPr>
            <a:r>
              <a:rPr sz="2000">
                <a:solidFill>
                  <a:srgbClr val="222B33"/>
                </a:solidFill>
                <a:latin typeface="Microsoft YaHei"/>
              </a:rPr>
              <a:t>▪ 在本实验室考核，换地方要重新学</a:t>
            </a:r>
          </a:p>
          <a:p>
            <a:pPr>
              <a:spcAft>
                <a:spcPts val="1000"/>
              </a:spcAft>
            </a:pPr>
            <a:r>
              <a:rPr sz="2000">
                <a:solidFill>
                  <a:srgbClr val="222B33"/>
                </a:solidFill>
                <a:latin typeface="Microsoft YaHei"/>
              </a:rPr>
              <a:t>▪ 换任务、新设备、新规定，都要培训</a:t>
            </a:r>
          </a:p>
          <a:p>
            <a:pPr>
              <a:spcAft>
                <a:spcPts val="1000"/>
              </a:spcAft>
            </a:pPr>
            <a:r>
              <a:rPr sz="2000">
                <a:solidFill>
                  <a:srgbClr val="222B33"/>
                </a:solidFill>
                <a:latin typeface="Microsoft YaHei"/>
              </a:rPr>
              <a:t>▪ 评估结果人人知晓；签承诺，报告事故和险情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人员上岗前要看学历、培训经历、实际操作能力和相关经验，由单位考核合格后准入（准入与培训制度见第 007 课，以本校规定为准）。按能力分工；换任务、遇到新情况、来了新设备、出了新规定，都要培训。培训要在本实验室、结合实……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认为在别的实验室培训过，就可以直接上手</a:t>
            </a:r>
          </a:p>
          <a:p>
            <a:pPr>
              <a:spcAft>
                <a:spcPts val="1000"/>
              </a:spcAft>
            </a:pPr>
            <a:r>
              <a:rPr sz="1500">
                <a:solidFill>
                  <a:srgbClr val="222B33"/>
                </a:solidFill>
                <a:latin typeface="Microsoft YaHei"/>
              </a:rPr>
              <a:t>▪ 发生未遂事件觉得“没出事”，不报告</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标识写清危害和联系人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标识写清有什么危害</a:t>
            </a:r>
          </a:p>
          <a:p>
            <a:pPr>
              <a:spcAft>
                <a:spcPts val="1000"/>
              </a:spcAft>
            </a:pPr>
            <a:r>
              <a:rPr sz="2000">
                <a:solidFill>
                  <a:srgbClr val="222B33"/>
                </a:solidFill>
                <a:latin typeface="Microsoft YaHei"/>
              </a:rPr>
              <a:t>▪ 写明负责人和应急联系电话</a:t>
            </a:r>
          </a:p>
          <a:p>
            <a:pPr>
              <a:spcAft>
                <a:spcPts val="1000"/>
              </a:spcAft>
            </a:pPr>
            <a:r>
              <a:rPr sz="2000">
                <a:solidFill>
                  <a:srgbClr val="222B33"/>
                </a:solidFill>
                <a:latin typeface="Microsoft YaHei"/>
              </a:rPr>
              <a:t>▪ 有进入条件的要标明</a:t>
            </a:r>
          </a:p>
          <a:p>
            <a:pPr>
              <a:spcAft>
                <a:spcPts val="1000"/>
              </a:spcAft>
            </a:pPr>
            <a:r>
              <a:rPr sz="2000">
                <a:solidFill>
                  <a:srgbClr val="222B33"/>
                </a:solidFill>
                <a:latin typeface="Microsoft YaHei"/>
              </a:rPr>
              <a:t>▪ 感染风险高的人，不进相应区域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信息牌上的负责人和电话多年不更新</a:t>
            </a:r>
          </a:p>
          <a:p>
            <a:pPr>
              <a:spcAft>
                <a:spcPts val="1000"/>
              </a:spcAft>
            </a:pPr>
            <a:r>
              <a:rPr sz="1500">
                <a:solidFill>
                  <a:srgbClr val="222B33"/>
                </a:solidFill>
                <a:latin typeface="Microsoft YaHei"/>
              </a:rPr>
              <a:t>▪ 未满足进入条件也进入实验区</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菌毒种和样本：清单台账，去向可查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管理从一本清单开始，变了就更新</a:t>
            </a:r>
          </a:p>
          <a:p>
            <a:pPr>
              <a:spcAft>
                <a:spcPts val="1000"/>
              </a:spcAft>
            </a:pPr>
            <a:r>
              <a:rPr sz="2000">
                <a:solidFill>
                  <a:srgbClr val="222B33"/>
                </a:solidFill>
                <a:latin typeface="Microsoft YaHei"/>
              </a:rPr>
              <a:t>▪ 专柜保存、专人负责，领用归还销毁都登记</a:t>
            </a:r>
          </a:p>
          <a:p>
            <a:pPr>
              <a:spcAft>
                <a:spcPts val="1000"/>
              </a:spcAft>
            </a:pPr>
            <a:r>
              <a:rPr sz="2000">
                <a:solidFill>
                  <a:srgbClr val="222B33"/>
                </a:solidFill>
                <a:latin typeface="Microsoft YaHei"/>
              </a:rPr>
              <a:t>▪ 不私自带出，不转送他人</a:t>
            </a:r>
          </a:p>
          <a:p>
            <a:pPr>
              <a:spcAft>
                <a:spcPts val="1000"/>
              </a:spcAft>
            </a:pPr>
            <a:r>
              <a:rPr sz="2000">
                <a:solidFill>
                  <a:srgbClr val="222B33"/>
                </a:solidFill>
                <a:latin typeface="Microsoft YaHei"/>
              </a:rPr>
              <a:t>▪ 用过的菌液先灭活；丢失被盗立即报告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管理从一本清单开始：有哪些菌种、毒种、样本、质粒、转基因材料和实验动物，做哪些实验，都登记清楚，变了就更新。台账写明存放位置、安保要求、领用和去向，来龙去脉随时查得到。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毕业时把菌种私自带走或送给别人</a:t>
            </a:r>
          </a:p>
          <a:p>
            <a:pPr>
              <a:spcAft>
                <a:spcPts val="1000"/>
              </a:spcAft>
            </a:pPr>
            <a:r>
              <a:rPr sz="1500">
                <a:solidFill>
                  <a:srgbClr val="222B33"/>
                </a:solidFill>
                <a:latin typeface="Microsoft YaHei"/>
              </a:rPr>
              <a:t>▪ 发现少了样本，自己找不到就不了了之</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医学监护：体检、健康档案、本底血清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上岗前体检，健康史和过敏要记录</a:t>
            </a:r>
          </a:p>
          <a:p>
            <a:pPr>
              <a:spcAft>
                <a:spcPts val="1000"/>
              </a:spcAft>
            </a:pPr>
            <a:r>
              <a:rPr sz="2000">
                <a:solidFill>
                  <a:srgbClr val="222B33"/>
                </a:solidFill>
                <a:latin typeface="Microsoft YaHei"/>
              </a:rPr>
              <a:t>▪ 必要时留本底血清，出事时好对照</a:t>
            </a:r>
          </a:p>
          <a:p>
            <a:pPr>
              <a:spcAft>
                <a:spcPts val="1000"/>
              </a:spcAft>
            </a:pPr>
            <a:r>
              <a:rPr sz="2000">
                <a:solidFill>
                  <a:srgbClr val="222B33"/>
                </a:solidFill>
                <a:latin typeface="Microsoft YaHei"/>
              </a:rPr>
              <a:t>▪ 工作前、中、后都要关注健康</a:t>
            </a:r>
          </a:p>
          <a:p>
            <a:pPr>
              <a:spcAft>
                <a:spcPts val="1000"/>
              </a:spcAft>
            </a:pPr>
            <a:r>
              <a:rPr sz="2000">
                <a:solidFill>
                  <a:srgbClr val="222B33"/>
                </a:solidFill>
                <a:latin typeface="Microsoft YaHei"/>
              </a:rPr>
              <a:t>▪ 暴露后的救治由单位负责安排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认为体检是形式，随便应付</a:t>
            </a:r>
          </a:p>
          <a:p>
            <a:pPr>
              <a:spcAft>
                <a:spcPts val="1000"/>
              </a:spcAft>
            </a:pPr>
            <a:r>
              <a:rPr sz="1500">
                <a:solidFill>
                  <a:srgbClr val="222B33"/>
                </a:solidFill>
                <a:latin typeface="Microsoft YaHei"/>
              </a:rPr>
              <a:t>▪ 发生暴露后自己处理，不报告不就医</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按评估接种疫苗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有疫苗可用的，按评估要求接种</a:t>
            </a:r>
          </a:p>
          <a:p>
            <a:pPr>
              <a:spcAft>
                <a:spcPts val="1000"/>
              </a:spcAft>
            </a:pPr>
            <a:r>
              <a:rPr sz="2000">
                <a:solidFill>
                  <a:srgbClr val="222B33"/>
                </a:solidFill>
                <a:latin typeface="Microsoft YaHei"/>
              </a:rPr>
              <a:t>▪ 需要的，上岗前完成接种</a:t>
            </a:r>
          </a:p>
          <a:p>
            <a:pPr>
              <a:spcAft>
                <a:spcPts val="1000"/>
              </a:spcAft>
            </a:pPr>
            <a:r>
              <a:rPr sz="2000">
                <a:solidFill>
                  <a:srgbClr val="222B33"/>
                </a:solidFill>
                <a:latin typeface="Microsoft YaHei"/>
              </a:rPr>
              <a:t>▪ 打了疫苗，防护也不能少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有的病原有疫苗可用。风险评估认为需要接种的，按要求在上岗前完成接种，并记入健康档案（具体接种项目以评估和本校规定为准）。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打了疫苗就不戴手套、不进安全柜操作</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生病就医，说明接触史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实验后身体不适，及时就医</a:t>
            </a:r>
          </a:p>
          <a:p>
            <a:pPr>
              <a:spcAft>
                <a:spcPts val="1000"/>
              </a:spcAft>
            </a:pPr>
            <a:r>
              <a:rPr sz="2000">
                <a:solidFill>
                  <a:srgbClr val="222B33"/>
                </a:solidFill>
                <a:latin typeface="Microsoft YaHei"/>
              </a:rPr>
              <a:t>▪ 告诉医生在什么实验室、接触过什么</a:t>
            </a:r>
          </a:p>
          <a:p>
            <a:pPr>
              <a:spcAft>
                <a:spcPts val="1000"/>
              </a:spcAft>
            </a:pPr>
            <a:r>
              <a:rPr sz="2000">
                <a:solidFill>
                  <a:srgbClr val="222B33"/>
                </a:solidFill>
                <a:latin typeface="Microsoft YaHei"/>
              </a:rPr>
              <a:t>▪ 同时报告导师和实验室负责人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健康监测也落到每个人身上。做完实验后出现发热等身体不适，要及时就医，并主动告诉医生自己在什么实验室工作、接触过哪类微生物，便于医生及早判断。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身体不适时隐瞒实验室工作经历</a:t>
            </a:r>
          </a:p>
          <a:p>
            <a:pPr>
              <a:spcAft>
                <a:spcPts val="1000"/>
              </a:spcAft>
            </a:pPr>
            <a:r>
              <a:rPr sz="1500">
                <a:solidFill>
                  <a:srgbClr val="222B33"/>
                </a:solidFill>
                <a:latin typeface="Microsoft YaHei"/>
              </a:rPr>
              <a:t>▪ 生病只请假，不报告导师和负责人</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疑似实验室感染：调查与报告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组里几个人生病，要调查原因</a:t>
            </a:r>
          </a:p>
          <a:p>
            <a:pPr>
              <a:spcAft>
                <a:spcPts val="1000"/>
              </a:spcAft>
            </a:pPr>
            <a:r>
              <a:rPr sz="2000">
                <a:solidFill>
                  <a:srgbClr val="222B33"/>
                </a:solidFill>
                <a:latin typeface="Microsoft YaHei"/>
              </a:rPr>
              <a:t>▪ 查健康记录，也查工作记录</a:t>
            </a:r>
          </a:p>
          <a:p>
            <a:pPr>
              <a:spcAft>
                <a:spcPts val="1000"/>
              </a:spcAft>
            </a:pPr>
            <a:r>
              <a:rPr sz="2000">
                <a:solidFill>
                  <a:srgbClr val="222B33"/>
                </a:solidFill>
                <a:latin typeface="Microsoft YaHei"/>
              </a:rPr>
              <a:t>▪ 判断是实验室感染还是外面感染</a:t>
            </a:r>
          </a:p>
          <a:p>
            <a:pPr>
              <a:spcAft>
                <a:spcPts val="1000"/>
              </a:spcAft>
            </a:pPr>
            <a:r>
              <a:rPr sz="2000">
                <a:solidFill>
                  <a:srgbClr val="222B33"/>
                </a:solidFill>
                <a:latin typeface="Microsoft YaHei"/>
              </a:rPr>
              <a:t>▪ 与医务部门合作，按规定报告随访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几人相继生病仍当作普通感冒，不调查不报告</a:t>
            </a:r>
          </a:p>
          <a:p>
            <a:pPr>
              <a:spcAft>
                <a:spcPts val="1000"/>
              </a:spcAft>
            </a:pPr>
            <a:r>
              <a:rPr sz="1500">
                <a:solidFill>
                  <a:srgbClr val="222B33"/>
                </a:solidFill>
                <a:latin typeface="Microsoft YaHei"/>
              </a:rPr>
              <a:t>▪ 只查病人，不查工作记录和操作环节</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生物毒素：专人专柜，用后灭活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生物来源的毒素，专人专柜保管</a:t>
            </a:r>
          </a:p>
          <a:p>
            <a:pPr>
              <a:spcAft>
                <a:spcPts val="1000"/>
              </a:spcAft>
            </a:pPr>
            <a:r>
              <a:rPr sz="2000">
                <a:solidFill>
                  <a:srgbClr val="222B33"/>
                </a:solidFill>
                <a:latin typeface="Microsoft YaHei"/>
              </a:rPr>
              <a:t>▪ 领用登记，双人复核</a:t>
            </a:r>
          </a:p>
          <a:p>
            <a:pPr>
              <a:spcAft>
                <a:spcPts val="1000"/>
              </a:spcAft>
            </a:pPr>
            <a:r>
              <a:rPr sz="2000">
                <a:solidFill>
                  <a:srgbClr val="222B33"/>
                </a:solidFill>
                <a:latin typeface="Microsoft YaHei"/>
              </a:rPr>
              <a:t>▪ 定期清点，数量要对得上</a:t>
            </a:r>
          </a:p>
          <a:p>
            <a:pPr>
              <a:spcAft>
                <a:spcPts val="1000"/>
              </a:spcAft>
            </a:pPr>
            <a:r>
              <a:rPr sz="2000">
                <a:solidFill>
                  <a:srgbClr val="222B33"/>
                </a:solidFill>
                <a:latin typeface="Microsoft YaHei"/>
              </a:rPr>
              <a:t>▪ 用完按规定灭活，再作废物处置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生物毒素是生物来源的有毒物质，可能少量就造成严重伤害，属于需要特别管理的材料。要专人专柜（加锁）保管，领用要登记、双人复核，定期清点数量，账物相符。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毒素和普通试剂混放，无人专管</a:t>
            </a:r>
          </a:p>
          <a:p>
            <a:pPr>
              <a:spcAft>
                <a:spcPts val="1000"/>
              </a:spcAft>
            </a:pPr>
            <a:r>
              <a:rPr sz="1500">
                <a:solidFill>
                  <a:srgbClr val="222B33"/>
                </a:solidFill>
                <a:latin typeface="Microsoft YaHei"/>
              </a:rPr>
              <a:t>▪ 用剩的毒素不灭活直接丢弃</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生物风险控制的五类措施，按层级从上到下是：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个人防护、管理、工程、替代、消除</a:t>
            </a:r>
          </a:p>
          <a:p>
            <a:pPr algn="l"/>
            <a:r>
              <a:rPr sz="1500" b="0">
                <a:solidFill>
                  <a:srgbClr val="222B33"/>
                </a:solidFill>
                <a:latin typeface="Microsoft YaHei"/>
              </a:rPr>
              <a:t>B. 消除、替代、工程控制、管理控制、个人防护</a:t>
            </a:r>
          </a:p>
          <a:p>
            <a:pPr algn="l"/>
            <a:r>
              <a:rPr sz="1500" b="0">
                <a:solidFill>
                  <a:srgbClr val="222B33"/>
                </a:solidFill>
                <a:latin typeface="Microsoft YaHei"/>
              </a:rPr>
              <a:t>C. 工程、消除、防护、替代、管理</a:t>
            </a:r>
          </a:p>
          <a:p>
            <a:pPr algn="l"/>
            <a:r>
              <a:rPr sz="1500" b="0">
                <a:solidFill>
                  <a:srgbClr val="222B33"/>
                </a:solidFill>
                <a:latin typeface="Microsoft YaHei"/>
              </a:rPr>
              <a:t>D. 只要个人防护即可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判断：实验室有了先进的生物安全柜，操作就可以不必严格按规程。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下列关于菌毒种和样本管理的做法，正确的是：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毕业时带走自己分离的菌种</a:t>
            </a:r>
          </a:p>
          <a:p>
            <a:pPr algn="l"/>
            <a:r>
              <a:rPr sz="1500" b="0">
                <a:solidFill>
                  <a:srgbClr val="222B33"/>
                </a:solidFill>
                <a:latin typeface="Microsoft YaHei"/>
              </a:rPr>
              <a:t>B. 专柜保存、专人负责，领用归还销毁都登记，丢失立即报告负责人和保卫处</a:t>
            </a:r>
          </a:p>
          <a:p>
            <a:pPr algn="l"/>
            <a:r>
              <a:rPr sz="1500" b="0">
                <a:solidFill>
                  <a:srgbClr val="222B33"/>
                </a:solidFill>
                <a:latin typeface="Microsoft YaHei"/>
              </a:rPr>
              <a:t>C. 用过的菌液直接倒进水槽</a:t>
            </a:r>
          </a:p>
          <a:p>
            <a:pPr algn="l"/>
            <a:r>
              <a:rPr sz="1500" b="0">
                <a:solidFill>
                  <a:srgbClr val="222B33"/>
                </a:solidFill>
                <a:latin typeface="Microsoft YaHei"/>
              </a:rPr>
              <a:t>D. 把菌种转送给外校同学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判断：已经接种了相应疫苗，就可以不戴手套、不在安全柜内操作。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做完实验后发热去医院，应该：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只说感冒了</a:t>
            </a:r>
          </a:p>
          <a:p>
            <a:pPr algn="l"/>
            <a:r>
              <a:rPr sz="1500" b="0">
                <a:solidFill>
                  <a:srgbClr val="222B33"/>
                </a:solidFill>
                <a:latin typeface="Microsoft YaHei"/>
              </a:rPr>
              <a:t>B. 告诉医生自己在什么实验室、接触过哪类微生物，并报告导师和实验室负责人</a:t>
            </a:r>
          </a:p>
          <a:p>
            <a:pPr algn="l"/>
            <a:r>
              <a:rPr sz="1500" b="0">
                <a:solidFill>
                  <a:srgbClr val="222B33"/>
                </a:solidFill>
                <a:latin typeface="Microsoft YaHei"/>
              </a:rPr>
              <a:t>C. 自己吃药不报告</a:t>
            </a:r>
          </a:p>
          <a:p>
            <a:pPr algn="l"/>
            <a:r>
              <a:rPr sz="1500" b="0">
                <a:solidFill>
                  <a:srgbClr val="222B33"/>
                </a:solidFill>
                <a:latin typeface="Microsoft YaHei"/>
              </a:rPr>
              <a:t>D. 等好了再说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简答：生物毒素应如何管理？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评估是提问，减缓才降险</a:t>
            </a:r>
          </a:p>
          <a:p>
            <a:pPr>
              <a:spcAft>
                <a:spcPts val="800"/>
              </a:spcAft>
            </a:pPr>
            <a:r>
              <a:rPr sz="1500">
                <a:solidFill>
                  <a:srgbClr val="FFFFFF"/>
                </a:solidFill>
                <a:latin typeface="Microsoft YaHei"/>
              </a:rPr>
              <a:t>▪ K2  五类控制，按层级从上往下选</a:t>
            </a:r>
          </a:p>
          <a:p>
            <a:pPr>
              <a:spcAft>
                <a:spcPts val="800"/>
              </a:spcAft>
            </a:pPr>
            <a:r>
              <a:rPr sz="1500">
                <a:solidFill>
                  <a:srgbClr val="FFFFFF"/>
                </a:solidFill>
                <a:latin typeface="Microsoft YaHei"/>
              </a:rPr>
              <a:t>▪ K3  消除：风险太大就不做</a:t>
            </a:r>
          </a:p>
          <a:p>
            <a:pPr>
              <a:spcAft>
                <a:spcPts val="800"/>
              </a:spcAft>
            </a:pPr>
            <a:r>
              <a:rPr sz="1500">
                <a:solidFill>
                  <a:srgbClr val="FFFFFF"/>
                </a:solidFill>
                <a:latin typeface="Microsoft YaHei"/>
              </a:rPr>
              <a:t>▪ K4  替代：换成风险更低的</a:t>
            </a:r>
          </a:p>
          <a:p>
            <a:pPr>
              <a:spcAft>
                <a:spcPts val="800"/>
              </a:spcAft>
            </a:pPr>
            <a:r>
              <a:rPr sz="1500">
                <a:solidFill>
                  <a:srgbClr val="FFFFFF"/>
                </a:solidFill>
                <a:latin typeface="Microsoft YaHei"/>
              </a:rPr>
              <a:t>▪ K5  工程控制：把病原关住</a:t>
            </a:r>
          </a:p>
          <a:p>
            <a:pPr>
              <a:spcAft>
                <a:spcPts val="800"/>
              </a:spcAft>
            </a:pPr>
            <a:r>
              <a:rPr sz="1500">
                <a:solidFill>
                  <a:srgbClr val="FFFFFF"/>
                </a:solidFill>
                <a:latin typeface="Microsoft YaHei"/>
              </a:rPr>
              <a:t>▪ K6  个人防护：最后一道防线</a:t>
            </a:r>
          </a:p>
          <a:p>
            <a:pPr>
              <a:spcAft>
                <a:spcPts val="800"/>
              </a:spcAft>
            </a:pPr>
            <a:r>
              <a:rPr sz="1500">
                <a:solidFill>
                  <a:srgbClr val="FFFFFF"/>
                </a:solidFill>
                <a:latin typeface="Microsoft YaHei"/>
              </a:rPr>
              <a:t>▪ K7  控制要并用，互相补位</a:t>
            </a:r>
          </a:p>
          <a:p>
            <a:pPr>
              <a:spcAft>
                <a:spcPts val="800"/>
              </a:spcAft>
            </a:pPr>
            <a:r>
              <a:rPr sz="1500">
                <a:solidFill>
                  <a:srgbClr val="FFFFFF"/>
                </a:solidFill>
                <a:latin typeface="Microsoft YaHei"/>
              </a:rPr>
              <a:t>▪ K8  每步问五个问题，汇成措施表</a:t>
            </a:r>
          </a:p>
          <a:p>
            <a:pPr>
              <a:spcAft>
                <a:spcPts val="800"/>
              </a:spcAft>
            </a:pPr>
            <a:r>
              <a:rPr sz="1500">
                <a:solidFill>
                  <a:srgbClr val="FFFFFF"/>
                </a:solidFill>
                <a:latin typeface="Microsoft YaHei"/>
              </a:rPr>
              <a:t>▪ K9  管理控制：白纸黑字，先于设施</a:t>
            </a:r>
          </a:p>
          <a:p>
            <a:pPr>
              <a:spcAft>
                <a:spcPts val="800"/>
              </a:spcAft>
            </a:pPr>
            <a:r>
              <a:rPr sz="1500">
                <a:solidFill>
                  <a:srgbClr val="FFFFFF"/>
                </a:solidFill>
                <a:latin typeface="Microsoft YaHei"/>
              </a:rPr>
              <a:t>▪ K10  依法依规：外部要求与内部制度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操作规程：写你所做，做你所写</a:t>
            </a:r>
          </a:p>
          <a:p>
            <a:pPr>
              <a:spcAft>
                <a:spcPts val="800"/>
              </a:spcAft>
            </a:pPr>
            <a:r>
              <a:rPr sz="1500">
                <a:solidFill>
                  <a:srgbClr val="FFFFFF"/>
                </a:solidFill>
                <a:latin typeface="Microsoft YaHei"/>
              </a:rPr>
              <a:t>▪ K12  核对表与情景意识</a:t>
            </a:r>
          </a:p>
          <a:p>
            <a:pPr>
              <a:spcAft>
                <a:spcPts val="800"/>
              </a:spcAft>
            </a:pPr>
            <a:r>
              <a:rPr sz="1500">
                <a:solidFill>
                  <a:srgbClr val="FFFFFF"/>
                </a:solidFill>
                <a:latin typeface="Microsoft YaHei"/>
              </a:rPr>
              <a:t>▪ K13  准入、培训考核与承诺</a:t>
            </a:r>
          </a:p>
          <a:p>
            <a:pPr>
              <a:spcAft>
                <a:spcPts val="800"/>
              </a:spcAft>
            </a:pPr>
            <a:r>
              <a:rPr sz="1500">
                <a:solidFill>
                  <a:srgbClr val="FFFFFF"/>
                </a:solidFill>
                <a:latin typeface="Microsoft YaHei"/>
              </a:rPr>
              <a:t>▪ K14  标识写清危害和联系人</a:t>
            </a:r>
          </a:p>
          <a:p>
            <a:pPr>
              <a:spcAft>
                <a:spcPts val="800"/>
              </a:spcAft>
            </a:pPr>
            <a:r>
              <a:rPr sz="1500">
                <a:solidFill>
                  <a:srgbClr val="FFFFFF"/>
                </a:solidFill>
                <a:latin typeface="Microsoft YaHei"/>
              </a:rPr>
              <a:t>▪ K15  菌毒种和样本：清单台账，去向可查</a:t>
            </a:r>
          </a:p>
          <a:p>
            <a:pPr>
              <a:spcAft>
                <a:spcPts val="800"/>
              </a:spcAft>
            </a:pPr>
            <a:r>
              <a:rPr sz="1500">
                <a:solidFill>
                  <a:srgbClr val="FFFFFF"/>
                </a:solidFill>
                <a:latin typeface="Microsoft YaHei"/>
              </a:rPr>
              <a:t>▪ K16  医学监护：体检、健康档案、本底血清</a:t>
            </a:r>
          </a:p>
          <a:p>
            <a:pPr>
              <a:spcAft>
                <a:spcPts val="800"/>
              </a:spcAft>
            </a:pPr>
            <a:r>
              <a:rPr sz="1500">
                <a:solidFill>
                  <a:srgbClr val="FFFFFF"/>
                </a:solidFill>
                <a:latin typeface="Microsoft YaHei"/>
              </a:rPr>
              <a:t>▪ K17  按评估接种疫苗</a:t>
            </a:r>
          </a:p>
          <a:p>
            <a:pPr>
              <a:spcAft>
                <a:spcPts val="800"/>
              </a:spcAft>
            </a:pPr>
            <a:r>
              <a:rPr sz="1500">
                <a:solidFill>
                  <a:srgbClr val="FFFFFF"/>
                </a:solidFill>
                <a:latin typeface="Microsoft YaHei"/>
              </a:rPr>
              <a:t>▪ K18  生病就医，说明接触史</a:t>
            </a:r>
          </a:p>
          <a:p>
            <a:pPr>
              <a:spcAft>
                <a:spcPts val="800"/>
              </a:spcAft>
            </a:pPr>
            <a:r>
              <a:rPr sz="1500">
                <a:solidFill>
                  <a:srgbClr val="FFFFFF"/>
                </a:solidFill>
                <a:latin typeface="Microsoft YaHei"/>
              </a:rPr>
              <a:t>▪ K19  疑似实验室感染：调查与报告</a:t>
            </a:r>
          </a:p>
          <a:p>
            <a:pPr>
              <a:spcAft>
                <a:spcPts val="800"/>
              </a:spcAft>
            </a:pPr>
            <a:r>
              <a:rPr sz="1500">
                <a:solidFill>
                  <a:srgbClr val="FFFFFF"/>
                </a:solidFill>
                <a:latin typeface="Microsoft YaHei"/>
              </a:rPr>
              <a:t>▪ K20  生物毒素：专人专柜，用后灭活</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生物安全组织与负责人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83 镜）　适用对象：进入生命科学、医学、农学、环境等涉及生物材料实验室的高校本科生、研究生和教职工（必修）；实验室负责人、项目负责人、生物安全员和设施管理人员重点学习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能说出高校生物安全的组织架构：三级管理、单位生物安全委员会、实验室负责人（第一责任人）、生物安全员、设施经理和项目负责人。</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能说出生物安全委员会、生物安全员、设施经理、项目负责人各自的职责与权限，知道安全员有权制止违规、必要时叫停。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能说出书面生物安全政策和生物安全手册的要求：政策具体可落实，手册依国内法规编写、只写本实验室、与设施同步建立。</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能做到新实验先经评估和审批再开展，服从安全员监督，出事按“实验室负责人→学院→保卫处/实验室管理部门”逐级报告。</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《中华人民共和国生物安全法》（以现行文本为准）：病原微生物实验室设立单位负责实验室生物安全管理，制定并落实管理制度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实验室日常活动的管理，实验室负责人为实验室生物安全的第一责任人；一级、二级实验室备案，三级、四级实验室认可，高致病性病原微生物实验活动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生物安全通用要求》：管理责任、生物安全委员会、安全负责人（有权制止不安全行为）、管理体系文件（政策、手册、程序文件）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233（以现行文本为准）《病原微生物实验室生物安全通用准则》：实验室生物安全管理组织和人员职责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《中华人民共和国生物安全法》《农业转基因生物安全管理条例》（以现行文本为准）：转基因研究的评估与审查（详见第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号，以现行文本为准）：学校—学院—实验室三级管理，实验室负责人第一责任，安全信息牌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本校实验室生物安全委员会章程、实验室生物安全管理办法和生物安全手册（以本校规定为准）</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三级管理：生物安全靠组织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学校、学院、实验室三级管理</a:t>
            </a:r>
          </a:p>
          <a:p>
            <a:pPr>
              <a:spcAft>
                <a:spcPts val="1000"/>
              </a:spcAft>
            </a:pPr>
            <a:r>
              <a:rPr sz="1700">
                <a:solidFill>
                  <a:srgbClr val="222B33"/>
                </a:solidFill>
                <a:latin typeface="Microsoft YaHei"/>
              </a:rPr>
              <a:t>▪ 实验室负责人是第一责任人</a:t>
            </a:r>
          </a:p>
          <a:p>
            <a:pPr>
              <a:spcAft>
                <a:spcPts val="1000"/>
              </a:spcAft>
            </a:pPr>
            <a:r>
              <a:rPr sz="1700">
                <a:solidFill>
                  <a:srgbClr val="222B33"/>
                </a:solidFill>
                <a:latin typeface="Microsoft YaHei"/>
              </a:rPr>
              <a:t>▪ 上层决策，中间把关，下层执行</a:t>
            </a:r>
          </a:p>
          <a:p>
            <a:pPr>
              <a:spcAft>
                <a:spcPts val="1000"/>
              </a:spcAft>
            </a:pPr>
            <a:r>
              <a:rPr sz="1700">
                <a:solidFill>
                  <a:srgbClr val="222B33"/>
                </a:solidFill>
                <a:latin typeface="Microsoft YaHei"/>
              </a:rPr>
              <a:t>▪ 工程、保卫、健康、动物管理都参与</a:t>
            </a:r>
          </a:p>
          <a:p>
            <a:pPr>
              <a:spcAft>
                <a:spcPts val="1000"/>
              </a:spcAft>
            </a:pPr>
            <a:r>
              <a:rPr sz="1700">
                <a:solidFill>
                  <a:srgbClr val="222B33"/>
                </a:solidFill>
                <a:latin typeface="Microsoft YaHei"/>
              </a:rPr>
              <a:t>▪ 体系里最关键的是人，培训要持续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一个生物安全实验室能否安全运行，首先看组织：谁决策、谁把关、谁执行。高校实行学校—学院—实验室三级管理（通用讲法见第 004 课），实验室负责人是本实验室生物安全的第一责任人。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认为生物安全只是安全员一个人的事</a:t>
            </a:r>
          </a:p>
          <a:p>
            <a:pPr>
              <a:spcAft>
                <a:spcPts val="1000"/>
              </a:spcAft>
            </a:pPr>
            <a:r>
              <a:rPr sz="1500">
                <a:solidFill>
                  <a:srgbClr val="222B33"/>
                </a:solidFill>
                <a:latin typeface="Microsoft YaHei"/>
              </a:rPr>
              <a:t>▪ 培训考过一次就一劳永逸</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生物安全委员会：定政策、审项目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单位设生物安全委员会，成员有管理和专家</a:t>
            </a:r>
          </a:p>
          <a:p>
            <a:pPr>
              <a:spcAft>
                <a:spcPts val="1000"/>
              </a:spcAft>
            </a:pPr>
            <a:r>
              <a:rPr sz="1700">
                <a:solidFill>
                  <a:srgbClr val="222B33"/>
                </a:solidFill>
                <a:latin typeface="Microsoft YaHei"/>
              </a:rPr>
              <a:t>▪ 制定实验室生物安全政策</a:t>
            </a:r>
          </a:p>
          <a:p>
            <a:pPr>
              <a:spcAft>
                <a:spcPts val="1000"/>
              </a:spcAft>
            </a:pPr>
            <a:r>
              <a:rPr sz="1700">
                <a:solidFill>
                  <a:srgbClr val="222B33"/>
                </a:solidFill>
                <a:latin typeface="Microsoft YaHei"/>
              </a:rPr>
              <a:t>▪ 新课题、改方法，先评估再审查</a:t>
            </a:r>
          </a:p>
          <a:p>
            <a:pPr>
              <a:spcAft>
                <a:spcPts val="1000"/>
              </a:spcAft>
            </a:pPr>
            <a:r>
              <a:rPr sz="1700">
                <a:solidFill>
                  <a:srgbClr val="222B33"/>
                </a:solidFill>
                <a:latin typeface="Microsoft YaHei"/>
              </a:rPr>
              <a:t>▪ 一二级备案，三四级认可，高致病须批准</a:t>
            </a:r>
          </a:p>
          <a:p>
            <a:pPr>
              <a:spcAft>
                <a:spcPts val="1000"/>
              </a:spcAft>
            </a:pPr>
            <a:r>
              <a:rPr sz="1700">
                <a:solidFill>
                  <a:srgbClr val="222B33"/>
                </a:solidFill>
                <a:latin typeface="Microsoft YaHei"/>
              </a:rPr>
              <a:t>▪ 学生不得自己做主，更不能自己定级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方案改了一步，觉得不必再报</a:t>
            </a:r>
          </a:p>
          <a:p>
            <a:pPr>
              <a:spcAft>
                <a:spcPts val="1000"/>
              </a:spcAft>
            </a:pPr>
            <a:r>
              <a:rPr sz="1500">
                <a:solidFill>
                  <a:srgbClr val="222B33"/>
                </a:solidFill>
                <a:latin typeface="Microsoft YaHei"/>
              </a:rPr>
              <a:t>▪ 学生自行判断"风险不大"就开工</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设施经理：管设施运行与抢修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设施经理应是合格的工程师</a:t>
            </a:r>
          </a:p>
          <a:p>
            <a:pPr>
              <a:spcAft>
                <a:spcPts val="1000"/>
              </a:spcAft>
            </a:pPr>
            <a:r>
              <a:rPr sz="2000">
                <a:solidFill>
                  <a:srgbClr val="222B33"/>
                </a:solidFill>
                <a:latin typeface="Microsoft YaHei"/>
              </a:rPr>
              <a:t>▪ 管电、风、空调运行和日常维护</a:t>
            </a:r>
          </a:p>
          <a:p>
            <a:pPr>
              <a:spcAft>
                <a:spcPts val="1000"/>
              </a:spcAft>
            </a:pPr>
            <a:r>
              <a:rPr sz="2000">
                <a:solidFill>
                  <a:srgbClr val="222B33"/>
                </a:solidFill>
                <a:latin typeface="Microsoft YaHei"/>
              </a:rPr>
              <a:t>▪ 设备出故障，由他组织抢修</a:t>
            </a:r>
          </a:p>
          <a:p>
            <a:pPr>
              <a:spcAft>
                <a:spcPts val="1000"/>
              </a:spcAft>
            </a:pPr>
            <a:r>
              <a:rPr sz="2000">
                <a:solidFill>
                  <a:srgbClr val="222B33"/>
                </a:solidFill>
                <a:latin typeface="Microsoft YaHei"/>
              </a:rPr>
              <a:t>▪ 工程出身，也要懂生物安全规程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设施经理（设施工程师）负责生物安全实验室的"硬件"：供电、通风和定向气流、空调、给排水、高压灭菌器等设施设备的运行和日常维护，设备出故障时组织抢修。他应当是合格的工程技术人员。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维修人员不经消毒和防护直接进入防护区</a:t>
            </a:r>
          </a:p>
          <a:p>
            <a:pPr>
              <a:spcAft>
                <a:spcPts val="1000"/>
              </a:spcAft>
            </a:pPr>
            <a:r>
              <a:rPr sz="1500">
                <a:solidFill>
                  <a:srgbClr val="222B33"/>
                </a:solidFill>
                <a:latin typeface="Microsoft YaHei"/>
              </a:rPr>
              <a:t>▪ 设施故障自行处理，不通知设施管理人员</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生物安全员：评估、控制、监督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把单位政策落到每间实验室</a:t>
            </a:r>
          </a:p>
          <a:p>
            <a:pPr>
              <a:spcAft>
                <a:spcPts val="1000"/>
              </a:spcAft>
            </a:pPr>
            <a:r>
              <a:rPr sz="1700">
                <a:solidFill>
                  <a:srgbClr val="222B33"/>
                </a:solidFill>
                <a:latin typeface="Microsoft YaHei"/>
              </a:rPr>
              <a:t>▪ 评估风险，落实控制，检查成效</a:t>
            </a:r>
          </a:p>
          <a:p>
            <a:pPr>
              <a:spcAft>
                <a:spcPts val="1000"/>
              </a:spcAft>
            </a:pPr>
            <a:r>
              <a:rPr sz="1700">
                <a:solidFill>
                  <a:srgbClr val="222B33"/>
                </a:solidFill>
                <a:latin typeface="Microsoft YaHei"/>
              </a:rPr>
              <a:t>▪ 在现场有权监督日常运行</a:t>
            </a:r>
          </a:p>
          <a:p>
            <a:pPr>
              <a:spcAft>
                <a:spcPts val="1000"/>
              </a:spcAft>
            </a:pPr>
            <a:r>
              <a:rPr sz="1700">
                <a:solidFill>
                  <a:srgbClr val="222B33"/>
                </a:solidFill>
                <a:latin typeface="Microsoft YaHei"/>
              </a:rPr>
              <a:t>▪ 发现违规或防护破坏，有权制止</a:t>
            </a:r>
          </a:p>
          <a:p>
            <a:pPr>
              <a:spcAft>
                <a:spcPts val="1000"/>
              </a:spcAft>
            </a:pPr>
            <a:r>
              <a:rPr sz="1700">
                <a:solidFill>
                  <a:srgbClr val="222B33"/>
                </a:solidFill>
                <a:latin typeface="Microsoft YaHei"/>
              </a:rPr>
              <a:t>▪ 叫法可能不同，职责相同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生物安全员（有的单位称生物安全负责人、安全监督员）是生物安全体系中"人"的关键一环：读懂单位的生物安全政策，并把它落实到每一间实验室。他应受过专门培训，懂生物学、懂法规、也懂操作。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把安全员当成"挑刺的"，敷衍应付检查</a:t>
            </a:r>
          </a:p>
          <a:p>
            <a:pPr>
              <a:spcAft>
                <a:spcPts val="1000"/>
              </a:spcAft>
            </a:pPr>
            <a:r>
              <a:rPr sz="1500">
                <a:solidFill>
                  <a:srgbClr val="222B33"/>
                </a:solidFill>
                <a:latin typeface="Microsoft YaHei"/>
              </a:rPr>
              <a:t>▪ 安全员只管纸面材料，不到现场</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责任三层含义：有事管、可问责、能拍板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第一层：分内的事必须去管</a:t>
            </a:r>
          </a:p>
          <a:p>
            <a:pPr>
              <a:spcAft>
                <a:spcPts val="1000"/>
              </a:spcAft>
            </a:pPr>
            <a:r>
              <a:rPr sz="2000">
                <a:solidFill>
                  <a:srgbClr val="222B33"/>
                </a:solidFill>
                <a:latin typeface="Microsoft YaHei"/>
              </a:rPr>
              <a:t>▪ 第二层：能问责，做了什么靠记录说话</a:t>
            </a:r>
          </a:p>
          <a:p>
            <a:pPr>
              <a:spcAft>
                <a:spcPts val="1000"/>
              </a:spcAft>
            </a:pPr>
            <a:r>
              <a:rPr sz="2000">
                <a:solidFill>
                  <a:srgbClr val="222B33"/>
                </a:solidFill>
                <a:latin typeface="Microsoft YaHei"/>
              </a:rPr>
              <a:t>▪ 第三层：有授权，必要时独立叫停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只有职责、没有授权，发现问题叫不停</a:t>
            </a:r>
          </a:p>
          <a:p>
            <a:pPr>
              <a:spcAft>
                <a:spcPts val="1000"/>
              </a:spcAft>
            </a:pPr>
            <a:r>
              <a:rPr sz="1500">
                <a:solidFill>
                  <a:srgbClr val="222B33"/>
                </a:solidFill>
                <a:latin typeface="Microsoft YaHei"/>
              </a:rPr>
              <a:t>▪ 工作不留记录，出了事说不清</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项目负责人：对自己的实验负责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项目负责人对实验本身负责</a:t>
            </a:r>
          </a:p>
          <a:p>
            <a:pPr>
              <a:spcAft>
                <a:spcPts val="1000"/>
              </a:spcAft>
            </a:pPr>
            <a:r>
              <a:rPr sz="2000">
                <a:solidFill>
                  <a:srgbClr val="222B33"/>
                </a:solidFill>
                <a:latin typeface="Microsoft YaHei"/>
              </a:rPr>
              <a:t>▪ 具体病原怎么防，由他定措施</a:t>
            </a:r>
          </a:p>
          <a:p>
            <a:pPr>
              <a:spcAft>
                <a:spcPts val="1000"/>
              </a:spcAft>
            </a:pPr>
            <a:r>
              <a:rPr sz="2000">
                <a:solidFill>
                  <a:srgbClr val="222B33"/>
                </a:solidFill>
                <a:latin typeface="Microsoft YaHei"/>
              </a:rPr>
              <a:t>▪ 带好团队，培训到位，监督落实</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项目负责人（课题负责人、导师）最了解自己的实验：用什么病原或材料、做哪些操作、风险在哪里。因此，具体的防护措施由项目负责人在风险评估基础上提出，经委员会审查后落实。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导师只管科研进度，把安全全推给安全员</a:t>
            </a:r>
          </a:p>
          <a:p>
            <a:pPr>
              <a:spcAft>
                <a:spcPts val="1000"/>
              </a:spcAft>
            </a:pPr>
            <a:r>
              <a:rPr sz="1500">
                <a:solidFill>
                  <a:srgbClr val="222B33"/>
                </a:solidFill>
                <a:latin typeface="Microsoft YaHei"/>
              </a:rPr>
              <a:t>▪ 学生没培训就让上手做病原实验</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各管一摊，协同一致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委员会统全局，设施经理管设施</a:t>
            </a:r>
          </a:p>
          <a:p>
            <a:pPr>
              <a:spcAft>
                <a:spcPts val="1000"/>
              </a:spcAft>
            </a:pPr>
            <a:r>
              <a:rPr sz="2000">
                <a:solidFill>
                  <a:srgbClr val="222B33"/>
                </a:solidFill>
                <a:latin typeface="Microsoft YaHei"/>
              </a:rPr>
              <a:t>▪ 安全员管评估检查，负责人管实验</a:t>
            </a:r>
          </a:p>
          <a:p>
            <a:pPr>
              <a:spcAft>
                <a:spcPts val="1000"/>
              </a:spcAft>
            </a:pPr>
            <a:r>
              <a:rPr sz="2000">
                <a:solidFill>
                  <a:srgbClr val="222B33"/>
                </a:solidFill>
                <a:latin typeface="Microsoft YaHei"/>
              </a:rPr>
              <a:t>▪ 各方互相配合，步调一致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合起来看：生物安全委员会统管全局，设施经理保证设施设备正常运转，生物安全员负责评估、控制和检查，项目负责人对实验本身负责。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各方互不通气，设施检修时实验照常进行</a:t>
            </a:r>
          </a:p>
          <a:p>
            <a:pPr>
              <a:spcAft>
                <a:spcPts val="1000"/>
              </a:spcAft>
            </a:pPr>
            <a:r>
              <a:rPr sz="1500">
                <a:solidFill>
                  <a:srgbClr val="222B33"/>
                </a:solidFill>
                <a:latin typeface="Microsoft YaHei"/>
              </a:rPr>
              <a:t>▪ 出了问题互相推诿</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安全员要懂生物，会评估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懂微生物学、细胞生物学和生物技术</a:t>
            </a:r>
          </a:p>
          <a:p>
            <a:pPr>
              <a:spcAft>
                <a:spcPts val="1000"/>
              </a:spcAft>
            </a:pPr>
            <a:r>
              <a:rPr sz="1700">
                <a:solidFill>
                  <a:srgbClr val="222B33"/>
                </a:solidFill>
                <a:latin typeface="Microsoft YaHei"/>
              </a:rPr>
              <a:t>▪ 先问：什么病原、第几类、几级实验室</a:t>
            </a:r>
          </a:p>
          <a:p>
            <a:pPr>
              <a:spcAft>
                <a:spcPts val="1000"/>
              </a:spcAft>
            </a:pPr>
            <a:r>
              <a:rPr sz="1700">
                <a:solidFill>
                  <a:srgbClr val="222B33"/>
                </a:solidFill>
                <a:latin typeface="Microsoft YaHei"/>
              </a:rPr>
              <a:t>▪ 条件不够、没有审批，不能开工</a:t>
            </a:r>
          </a:p>
          <a:p>
            <a:pPr>
              <a:spcAft>
                <a:spcPts val="1000"/>
              </a:spcAft>
            </a:pPr>
            <a:r>
              <a:rPr sz="1700">
                <a:solidFill>
                  <a:srgbClr val="222B33"/>
                </a:solidFill>
                <a:latin typeface="Microsoft YaHei"/>
              </a:rPr>
              <a:t>▪ 国内第一类最危险，与国际分组相反</a:t>
            </a:r>
          </a:p>
          <a:p>
            <a:pPr>
              <a:spcAft>
                <a:spcPts val="1000"/>
              </a:spcAft>
            </a:pPr>
            <a:r>
              <a:rPr sz="1700">
                <a:solidFill>
                  <a:srgbClr val="222B33"/>
                </a:solidFill>
                <a:latin typeface="Microsoft YaHei"/>
              </a:rPr>
              <a:t>▪ 生物之外，还有化学、锐器、用电</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只看生物风险，忽视化学、锐器和用电</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保护环境，防止逃逸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安全员也要保护环境</a:t>
            </a:r>
          </a:p>
          <a:p>
            <a:pPr>
              <a:spcAft>
                <a:spcPts val="1000"/>
              </a:spcAft>
            </a:pPr>
            <a:r>
              <a:rPr sz="2000">
                <a:solidFill>
                  <a:srgbClr val="222B33"/>
                </a:solidFill>
                <a:latin typeface="Microsoft YaHei"/>
              </a:rPr>
              <a:t>▪ 人兽共患病原、转基因生物防逃逸</a:t>
            </a:r>
          </a:p>
          <a:p>
            <a:pPr>
              <a:spcAft>
                <a:spcPts val="1000"/>
              </a:spcAft>
            </a:pPr>
            <a:r>
              <a:rPr sz="2000">
                <a:solidFill>
                  <a:srgbClr val="222B33"/>
                </a:solidFill>
                <a:latin typeface="Microsoft YaHei"/>
              </a:rPr>
              <a:t>▪ 拿不准的，及时请专家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生物安全不只保护实验人员，还要保护实验室外的公众和环境。人兽共患病原、转基因动植物和微生物、实验动物和媒介昆虫一旦逃逸到外界，可能造成传播或生态影响，安全员要督促落实防逃逸措施（见第 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认为生物安全只关乎实验室内部人员</a:t>
            </a:r>
          </a:p>
          <a:p>
            <a:pPr>
              <a:spcAft>
                <a:spcPts val="1000"/>
              </a:spcAft>
            </a:pPr>
            <a:r>
              <a:rPr sz="1500">
                <a:solidFill>
                  <a:srgbClr val="222B33"/>
                </a:solidFill>
                <a:latin typeface="Microsoft YaHei"/>
              </a:rPr>
              <a:t>▪ 拿不准时自作主张</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懂设备，能教人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设备从选型、安装到检测维修都把关</a:t>
            </a:r>
          </a:p>
          <a:p>
            <a:pPr>
              <a:spcAft>
                <a:spcPts val="1000"/>
              </a:spcAft>
            </a:pPr>
            <a:r>
              <a:rPr sz="2000">
                <a:solidFill>
                  <a:srgbClr val="222B33"/>
                </a:solidFill>
                <a:latin typeface="Microsoft YaHei"/>
              </a:rPr>
              <a:t>▪ 新安全柜检测合格才能使用</a:t>
            </a:r>
          </a:p>
          <a:p>
            <a:pPr>
              <a:spcAft>
                <a:spcPts val="1000"/>
              </a:spcAft>
            </a:pPr>
            <a:r>
              <a:rPr sz="2000">
                <a:solidFill>
                  <a:srgbClr val="222B33"/>
                </a:solidFill>
                <a:latin typeface="Microsoft YaHei"/>
              </a:rPr>
              <a:t>▪ 自己会用，才能教别人用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新设备装好不经检测就投入使用</a:t>
            </a:r>
          </a:p>
          <a:p>
            <a:pPr>
              <a:spcAft>
                <a:spcPts val="1000"/>
              </a:spcAft>
            </a:pPr>
            <a:r>
              <a:rPr sz="1500">
                <a:solidFill>
                  <a:srgbClr val="222B33"/>
                </a:solidFill>
                <a:latin typeface="Microsoft YaHei"/>
              </a:rPr>
              <a:t>▪ 安全员自己不会用设备，培训只念说明书</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沟通说服，推动变革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有人嫌安全花钱费时，当成负担</a:t>
            </a:r>
          </a:p>
          <a:p>
            <a:pPr>
              <a:spcAft>
                <a:spcPts val="1000"/>
              </a:spcAft>
            </a:pPr>
            <a:r>
              <a:rPr sz="2000">
                <a:solidFill>
                  <a:srgbClr val="222B33"/>
                </a:solidFill>
                <a:latin typeface="Microsoft YaHei"/>
              </a:rPr>
              <a:t>▪ 硬压规定没用：先明白，再沟通，后落实</a:t>
            </a:r>
          </a:p>
          <a:p>
            <a:pPr>
              <a:spcAft>
                <a:spcPts val="1000"/>
              </a:spcAft>
            </a:pPr>
            <a:r>
              <a:rPr sz="2000">
                <a:solidFill>
                  <a:srgbClr val="222B33"/>
                </a:solidFill>
                <a:latin typeface="Microsoft YaHei"/>
              </a:rPr>
              <a:t>▪ 知道为什么，才会主动遵守</a:t>
            </a:r>
          </a:p>
          <a:p>
            <a:pPr>
              <a:spcAft>
                <a:spcPts val="1000"/>
              </a:spcAft>
            </a:pPr>
            <a:r>
              <a:rPr sz="2000">
                <a:solidFill>
                  <a:srgbClr val="222B33"/>
                </a:solidFill>
                <a:latin typeface="Microsoft YaHei"/>
              </a:rPr>
              <a:t>▪ 对事不对人，讲清楚，也体谅人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有人觉得安全是负担：花钱、费时间、影响进度。这时硬压规定没有用。推动改变要分三步：先让领导和大家明白为什么要管（提高意识），再在全单位充分沟通，最后通过培训和制度真正落实。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只靠罚款和通报推动安全</a:t>
            </a:r>
          </a:p>
          <a:p>
            <a:pPr>
              <a:spcAft>
                <a:spcPts val="1000"/>
              </a:spcAft>
            </a:pPr>
            <a:r>
              <a:rPr sz="1500">
                <a:solidFill>
                  <a:srgbClr val="222B33"/>
                </a:solidFill>
                <a:latin typeface="Microsoft YaHei"/>
              </a:rPr>
              <a:t>▪ 把检查当成对人不对事</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新任安全员从哪下手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先把安全写进单位目标和政策</a:t>
            </a:r>
          </a:p>
          <a:p>
            <a:pPr>
              <a:spcAft>
                <a:spcPts val="1000"/>
              </a:spcAft>
            </a:pPr>
            <a:r>
              <a:rPr sz="2000">
                <a:solidFill>
                  <a:srgbClr val="222B33"/>
                </a:solidFill>
                <a:latin typeface="Microsoft YaHei"/>
              </a:rPr>
              <a:t>▪ 政策在法律范围内，也是社会责任</a:t>
            </a:r>
          </a:p>
          <a:p>
            <a:pPr>
              <a:spcAft>
                <a:spcPts val="1000"/>
              </a:spcAft>
            </a:pPr>
            <a:r>
              <a:rPr sz="2000">
                <a:solidFill>
                  <a:srgbClr val="222B33"/>
                </a:solidFill>
                <a:latin typeface="Microsoft YaHei"/>
              </a:rPr>
              <a:t>▪ 找到各层愿意带头的人，支持他们</a:t>
            </a:r>
          </a:p>
          <a:p>
            <a:pPr>
              <a:spcAft>
                <a:spcPts val="1000"/>
              </a:spcAft>
            </a:pPr>
            <a:r>
              <a:rPr sz="2000">
                <a:solidFill>
                  <a:srgbClr val="222B33"/>
                </a:solidFill>
                <a:latin typeface="Microsoft YaHei"/>
              </a:rPr>
              <a:t>▪ 让安全计划各部分一起运转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新上任的安全员可以从四方面入手：政策、法律、社会责任和人。先推动把生物安全写进单位的发展目标和政策；政策必须在国家法律法规的范围之内；生物安全也是单位对社会应负的责任。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只写制度，不找人推动</a:t>
            </a:r>
          </a:p>
          <a:p>
            <a:pPr>
              <a:spcAft>
                <a:spcPts val="1000"/>
              </a:spcAft>
            </a:pPr>
            <a:r>
              <a:rPr sz="1500">
                <a:solidFill>
                  <a:srgbClr val="222B33"/>
                </a:solidFill>
                <a:latin typeface="Microsoft YaHei"/>
              </a:rPr>
              <a:t>▪ 各项措施各自为政，互不衔接</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持续学习，特殊领域多补课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动物、植物、昆虫、临床检验要求更高</a:t>
            </a:r>
          </a:p>
          <a:p>
            <a:pPr>
              <a:spcAft>
                <a:spcPts val="1000"/>
              </a:spcAft>
            </a:pPr>
            <a:r>
              <a:rPr sz="2000">
                <a:solidFill>
                  <a:srgbClr val="222B33"/>
                </a:solidFill>
                <a:latin typeface="Microsoft YaHei"/>
              </a:rPr>
              <a:t>▪ 各领域有专门规定，要不断补课</a:t>
            </a:r>
          </a:p>
          <a:p>
            <a:pPr>
              <a:spcAft>
                <a:spcPts val="1000"/>
              </a:spcAft>
            </a:pPr>
            <a:r>
              <a:rPr sz="2000">
                <a:solidFill>
                  <a:srgbClr val="222B33"/>
                </a:solidFill>
                <a:latin typeface="Microsoft YaHei"/>
              </a:rPr>
              <a:t>▪ 本事一点点积累，知识更新要跟上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实验动物、植物（封闭温室）、昆虫和媒介生物、临床检验等特殊领域风险更高，各有专门的法规和标准，安全员需要的本领也更多（见第 079、082、084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用普通实验室的经验管理动物实验室</a:t>
            </a:r>
          </a:p>
          <a:p>
            <a:pPr>
              <a:spcAft>
                <a:spcPts val="1000"/>
              </a:spcAft>
            </a:pPr>
            <a:r>
              <a:rPr sz="1500">
                <a:solidFill>
                  <a:srgbClr val="222B33"/>
                </a:solidFill>
                <a:latin typeface="Microsoft YaHei"/>
              </a:rPr>
              <a:t>▪ 上岗后不再学习新法规新标准</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安全员靠什么发挥作用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先写下心中安全员的职责，再对照</a:t>
            </a:r>
          </a:p>
          <a:p>
            <a:pPr>
              <a:spcAft>
                <a:spcPts val="1000"/>
              </a:spcAft>
            </a:pPr>
            <a:r>
              <a:rPr sz="2000">
                <a:solidFill>
                  <a:srgbClr val="222B33"/>
                </a:solidFill>
                <a:latin typeface="Microsoft YaHei"/>
              </a:rPr>
              <a:t>▪ 领导支持是第一条</a:t>
            </a:r>
          </a:p>
          <a:p>
            <a:pPr>
              <a:spcAft>
                <a:spcPts val="1000"/>
              </a:spcAft>
            </a:pPr>
            <a:r>
              <a:rPr sz="2000">
                <a:solidFill>
                  <a:srgbClr val="222B33"/>
                </a:solidFill>
                <a:latin typeface="Microsoft YaHei"/>
              </a:rPr>
              <a:t>▪ 懂生物、懂法规、懂工程和防护</a:t>
            </a:r>
          </a:p>
          <a:p>
            <a:pPr>
              <a:spcAft>
                <a:spcPts val="1000"/>
              </a:spcAft>
            </a:pPr>
            <a:r>
              <a:rPr sz="2000">
                <a:solidFill>
                  <a:srgbClr val="222B33"/>
                </a:solidFill>
                <a:latin typeface="Microsoft YaHei"/>
              </a:rPr>
              <a:t>▪ 会培训，肯推动改变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可以先做个小练习：写下你认为安全员应该做什么，学完后再对照补充。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单位只设岗位不给支持</a:t>
            </a:r>
          </a:p>
          <a:p>
            <a:pPr>
              <a:spcAft>
                <a:spcPts val="1000"/>
              </a:spcAft>
            </a:pPr>
            <a:r>
              <a:rPr sz="1500">
                <a:solidFill>
                  <a:srgbClr val="222B33"/>
                </a:solidFill>
                <a:latin typeface="Microsoft YaHei"/>
              </a:rPr>
              <a:t>▪ 安全员只懂法规，不懂实验和设备</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书面生物安全政策：具体可落实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每个实验室都要有书面生物安全政策</a:t>
            </a:r>
          </a:p>
          <a:p>
            <a:pPr>
              <a:spcAft>
                <a:spcPts val="1000"/>
              </a:spcAft>
            </a:pPr>
            <a:r>
              <a:rPr sz="2000">
                <a:solidFill>
                  <a:srgbClr val="222B33"/>
                </a:solidFill>
                <a:latin typeface="Microsoft YaHei"/>
              </a:rPr>
              <a:t>▪ 写明对生物安全和安保的承诺</a:t>
            </a:r>
          </a:p>
          <a:p>
            <a:pPr>
              <a:spcAft>
                <a:spcPts val="1000"/>
              </a:spcAft>
            </a:pPr>
            <a:r>
              <a:rPr sz="2000">
                <a:solidFill>
                  <a:srgbClr val="222B33"/>
                </a:solidFill>
                <a:latin typeface="Microsoft YaHei"/>
              </a:rPr>
              <a:t>▪ 具体、可衡量、做得到、有时限</a:t>
            </a:r>
          </a:p>
          <a:p>
            <a:pPr>
              <a:spcAft>
                <a:spcPts val="1000"/>
              </a:spcAft>
            </a:pPr>
            <a:r>
              <a:rPr sz="2000">
                <a:solidFill>
                  <a:srgbClr val="222B33"/>
                </a:solidFill>
                <a:latin typeface="Microsoft YaHei"/>
              </a:rPr>
              <a:t>▪ 各岗位职责写进安全手册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每个实验室都要有书面的生物安全政策，写明单位对生物安全和生物安保的承诺，由管理层批准发布。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政策只有"安全第一"之类口号</a:t>
            </a:r>
          </a:p>
          <a:p>
            <a:pPr>
              <a:spcAft>
                <a:spcPts val="1000"/>
              </a:spcAft>
            </a:pPr>
            <a:r>
              <a:rPr sz="1500">
                <a:solidFill>
                  <a:srgbClr val="222B33"/>
                </a:solidFill>
                <a:latin typeface="Microsoft YaHei"/>
              </a:rPr>
              <a:t>▪ 职责口头约定，没有书面文件</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生物安全手册：依法编写，与设施同建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政策之下是生物安全手册</a:t>
            </a:r>
          </a:p>
          <a:p>
            <a:pPr>
              <a:spcAft>
                <a:spcPts val="1000"/>
              </a:spcAft>
            </a:pPr>
            <a:r>
              <a:rPr sz="2000">
                <a:solidFill>
                  <a:srgbClr val="222B33"/>
                </a:solidFill>
                <a:latin typeface="Microsoft YaHei"/>
              </a:rPr>
              <a:t>▪ 依国内法规编写，国际指南只作参考</a:t>
            </a:r>
          </a:p>
          <a:p>
            <a:pPr>
              <a:spcAft>
                <a:spcPts val="1000"/>
              </a:spcAft>
            </a:pPr>
            <a:r>
              <a:rPr sz="2000">
                <a:solidFill>
                  <a:srgbClr val="222B33"/>
                </a:solidFill>
                <a:latin typeface="Microsoft YaHei"/>
              </a:rPr>
              <a:t>▪ 只写本实验室，具体可用</a:t>
            </a:r>
          </a:p>
          <a:p>
            <a:pPr>
              <a:spcAft>
                <a:spcPts val="1000"/>
              </a:spcAft>
            </a:pPr>
            <a:r>
              <a:rPr sz="2000">
                <a:solidFill>
                  <a:srgbClr val="222B33"/>
                </a:solidFill>
                <a:latin typeface="Microsoft YaHei"/>
              </a:rPr>
              <a:t>▪ 先定谁负责、配几人，与设施同步建好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政策之下是生物安全手册（以及程序文件、操作规程等管理体系文件）。手册必须依据国家和地方的法律法规、国家标准编写，国际指南可以参考，但以国内规定为准。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照搬外单位或国外的手册</a:t>
            </a:r>
          </a:p>
          <a:p>
            <a:pPr>
              <a:spcAft>
                <a:spcPts val="1000"/>
              </a:spcAft>
            </a:pPr>
            <a:r>
              <a:rPr sz="1500">
                <a:solidFill>
                  <a:srgbClr val="222B33"/>
                </a:solidFill>
                <a:latin typeface="Microsoft YaHei"/>
              </a:rPr>
              <a:t>▪ 实验室投入使用了，手册还没写</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学生要做的：认人、服从、报告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认清负责人和安全员，记牢联系方式</a:t>
            </a:r>
          </a:p>
          <a:p>
            <a:pPr>
              <a:spcAft>
                <a:spcPts val="1000"/>
              </a:spcAft>
            </a:pPr>
            <a:r>
              <a:rPr sz="2000">
                <a:solidFill>
                  <a:srgbClr val="222B33"/>
                </a:solidFill>
                <a:latin typeface="Microsoft YaHei"/>
              </a:rPr>
              <a:t>▪ 新实验先交导师，评估审批后再做</a:t>
            </a:r>
          </a:p>
          <a:p>
            <a:pPr>
              <a:spcAft>
                <a:spcPts val="1000"/>
              </a:spcAft>
            </a:pPr>
            <a:r>
              <a:rPr sz="2000">
                <a:solidFill>
                  <a:srgbClr val="222B33"/>
                </a:solidFill>
                <a:latin typeface="Microsoft YaHei"/>
              </a:rPr>
              <a:t>▪ 服从安全员监督，指出就改</a:t>
            </a:r>
          </a:p>
          <a:p>
            <a:pPr>
              <a:spcAft>
                <a:spcPts val="1000"/>
              </a:spcAft>
            </a:pPr>
            <a:r>
              <a:rPr sz="2000">
                <a:solidFill>
                  <a:srgbClr val="222B33"/>
                </a:solidFill>
                <a:latin typeface="Microsoft YaHei"/>
              </a:rPr>
              <a:t>▪ 出事报负责人、学院和保卫处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作为学生，首先要认清本实验室的负责人、导师和生物安全员，看懂门口安全信息牌上的联系方式。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不知道安全员是谁，出事不知找谁</a:t>
            </a:r>
          </a:p>
          <a:p>
            <a:pPr>
              <a:spcAft>
                <a:spcPts val="1000"/>
              </a:spcAft>
            </a:pPr>
            <a:r>
              <a:rPr sz="1500">
                <a:solidFill>
                  <a:srgbClr val="222B33"/>
                </a:solidFill>
                <a:latin typeface="Microsoft YaHei"/>
              </a:rPr>
              <a:t>▪ 怕挨批评，隐瞒小事故</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实验室生物安全的第一责任人是：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学生本人</a:t>
            </a:r>
          </a:p>
          <a:p>
            <a:pPr algn="l"/>
            <a:r>
              <a:rPr sz="1500" b="0">
                <a:solidFill>
                  <a:srgbClr val="222B33"/>
                </a:solidFill>
                <a:latin typeface="Microsoft YaHei"/>
              </a:rPr>
              <a:t>B. 实验室负责人</a:t>
            </a:r>
          </a:p>
          <a:p>
            <a:pPr algn="l"/>
            <a:r>
              <a:rPr sz="1500" b="0">
                <a:solidFill>
                  <a:srgbClr val="222B33"/>
                </a:solidFill>
                <a:latin typeface="Microsoft YaHei"/>
              </a:rPr>
              <a:t>C. 保卫处</a:t>
            </a:r>
          </a:p>
          <a:p>
            <a:pPr algn="l"/>
            <a:r>
              <a:rPr sz="1500" b="0">
                <a:solidFill>
                  <a:srgbClr val="222B33"/>
                </a:solidFill>
                <a:latin typeface="Microsoft YaHei"/>
              </a:rPr>
              <a:t>D. 设备供应商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判断：研究生觉得新实验风险不大，可以自己定级后直接开工。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下列关于生物安全员的说法，正确的是：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只负责整理材料</a:t>
            </a:r>
          </a:p>
          <a:p>
            <a:pPr algn="l"/>
            <a:r>
              <a:rPr sz="1500" b="0">
                <a:solidFill>
                  <a:srgbClr val="222B33"/>
                </a:solidFill>
                <a:latin typeface="Microsoft YaHei"/>
              </a:rPr>
              <a:t>B. 发现违规或防护破坏有权制止，必要时叫停实验</a:t>
            </a:r>
          </a:p>
          <a:p>
            <a:pPr algn="l"/>
            <a:r>
              <a:rPr sz="1500" b="0">
                <a:solidFill>
                  <a:srgbClr val="222B33"/>
                </a:solidFill>
                <a:latin typeface="Microsoft YaHei"/>
              </a:rPr>
              <a:t>C. 只能提建议，不能干预</a:t>
            </a:r>
          </a:p>
          <a:p>
            <a:pPr algn="l"/>
            <a:r>
              <a:rPr sz="1500" b="0">
                <a:solidFill>
                  <a:srgbClr val="222B33"/>
                </a:solidFill>
                <a:latin typeface="Microsoft YaHei"/>
              </a:rPr>
              <a:t>D. 只管设施维修</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判断：我国病原微生物分类中，第四类危害最大。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下列关于生物安全手册的做法，正确的是：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直接翻译国外手册</a:t>
            </a:r>
          </a:p>
          <a:p>
            <a:pPr algn="l"/>
            <a:r>
              <a:rPr sz="1500" b="0">
                <a:solidFill>
                  <a:srgbClr val="222B33"/>
                </a:solidFill>
                <a:latin typeface="Microsoft YaHei"/>
              </a:rPr>
              <a:t>B. 实验室先用起来，手册以后再补</a:t>
            </a:r>
          </a:p>
          <a:p>
            <a:pPr algn="l"/>
            <a:r>
              <a:rPr sz="1500" b="0">
                <a:solidFill>
                  <a:srgbClr val="222B33"/>
                </a:solidFill>
                <a:latin typeface="Microsoft YaHei"/>
              </a:rPr>
              <a:t>C. 依国内法规编写，只写本实验室的具体做法，与设施同步建成</a:t>
            </a:r>
          </a:p>
          <a:p>
            <a:pPr algn="l"/>
            <a:r>
              <a:rPr sz="1500" b="0">
                <a:solidFill>
                  <a:srgbClr val="222B33"/>
                </a:solidFill>
                <a:latin typeface="Microsoft YaHei"/>
              </a:rPr>
              <a:t>D. 只写"安全第一"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简答：生物安全委员会、设施经理、生物安全员、项目负责人各管什么？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三级管理：生物安全靠组织</a:t>
            </a:r>
          </a:p>
          <a:p>
            <a:pPr>
              <a:spcAft>
                <a:spcPts val="800"/>
              </a:spcAft>
            </a:pPr>
            <a:r>
              <a:rPr sz="1500">
                <a:solidFill>
                  <a:srgbClr val="FFFFFF"/>
                </a:solidFill>
                <a:latin typeface="Microsoft YaHei"/>
              </a:rPr>
              <a:t>▪ K2  生物安全委员会：定政策、审项目</a:t>
            </a:r>
          </a:p>
          <a:p>
            <a:pPr>
              <a:spcAft>
                <a:spcPts val="800"/>
              </a:spcAft>
            </a:pPr>
            <a:r>
              <a:rPr sz="1500">
                <a:solidFill>
                  <a:srgbClr val="FFFFFF"/>
                </a:solidFill>
                <a:latin typeface="Microsoft YaHei"/>
              </a:rPr>
              <a:t>▪ K3  设施经理：管设施运行与抢修</a:t>
            </a:r>
          </a:p>
          <a:p>
            <a:pPr>
              <a:spcAft>
                <a:spcPts val="800"/>
              </a:spcAft>
            </a:pPr>
            <a:r>
              <a:rPr sz="1500">
                <a:solidFill>
                  <a:srgbClr val="FFFFFF"/>
                </a:solidFill>
                <a:latin typeface="Microsoft YaHei"/>
              </a:rPr>
              <a:t>▪ K4  生物安全员：评估、控制、监督</a:t>
            </a:r>
          </a:p>
          <a:p>
            <a:pPr>
              <a:spcAft>
                <a:spcPts val="800"/>
              </a:spcAft>
            </a:pPr>
            <a:r>
              <a:rPr sz="1500">
                <a:solidFill>
                  <a:srgbClr val="FFFFFF"/>
                </a:solidFill>
                <a:latin typeface="Microsoft YaHei"/>
              </a:rPr>
              <a:t>▪ K5  责任三层含义：有事管、可问责、能拍板</a:t>
            </a:r>
          </a:p>
          <a:p>
            <a:pPr>
              <a:spcAft>
                <a:spcPts val="800"/>
              </a:spcAft>
            </a:pPr>
            <a:r>
              <a:rPr sz="1500">
                <a:solidFill>
                  <a:srgbClr val="FFFFFF"/>
                </a:solidFill>
                <a:latin typeface="Microsoft YaHei"/>
              </a:rPr>
              <a:t>▪ K6  项目负责人：对自己的实验负责</a:t>
            </a:r>
          </a:p>
          <a:p>
            <a:pPr>
              <a:spcAft>
                <a:spcPts val="800"/>
              </a:spcAft>
            </a:pPr>
            <a:r>
              <a:rPr sz="1500">
                <a:solidFill>
                  <a:srgbClr val="FFFFFF"/>
                </a:solidFill>
                <a:latin typeface="Microsoft YaHei"/>
              </a:rPr>
              <a:t>▪ K7  各管一摊，协同一致</a:t>
            </a:r>
          </a:p>
          <a:p>
            <a:pPr>
              <a:spcAft>
                <a:spcPts val="800"/>
              </a:spcAft>
            </a:pPr>
            <a:r>
              <a:rPr sz="1500">
                <a:solidFill>
                  <a:srgbClr val="FFFFFF"/>
                </a:solidFill>
                <a:latin typeface="Microsoft YaHei"/>
              </a:rPr>
              <a:t>▪ K8  安全员要懂生物，会评估</a:t>
            </a:r>
          </a:p>
          <a:p>
            <a:pPr>
              <a:spcAft>
                <a:spcPts val="800"/>
              </a:spcAft>
            </a:pPr>
            <a:r>
              <a:rPr sz="1500">
                <a:solidFill>
                  <a:srgbClr val="FFFFFF"/>
                </a:solidFill>
                <a:latin typeface="Microsoft YaHei"/>
              </a:rPr>
              <a:t>▪ K9  保护环境，防止逃逸</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懂设备，能教人</a:t>
            </a:r>
          </a:p>
          <a:p>
            <a:pPr>
              <a:spcAft>
                <a:spcPts val="800"/>
              </a:spcAft>
            </a:pPr>
            <a:r>
              <a:rPr sz="1500">
                <a:solidFill>
                  <a:srgbClr val="FFFFFF"/>
                </a:solidFill>
                <a:latin typeface="Microsoft YaHei"/>
              </a:rPr>
              <a:t>▪ K11  沟通说服，推动变革</a:t>
            </a:r>
          </a:p>
          <a:p>
            <a:pPr>
              <a:spcAft>
                <a:spcPts val="800"/>
              </a:spcAft>
            </a:pPr>
            <a:r>
              <a:rPr sz="1500">
                <a:solidFill>
                  <a:srgbClr val="FFFFFF"/>
                </a:solidFill>
                <a:latin typeface="Microsoft YaHei"/>
              </a:rPr>
              <a:t>▪ K12  新任安全员从哪下手</a:t>
            </a:r>
          </a:p>
          <a:p>
            <a:pPr>
              <a:spcAft>
                <a:spcPts val="800"/>
              </a:spcAft>
            </a:pPr>
            <a:r>
              <a:rPr sz="1500">
                <a:solidFill>
                  <a:srgbClr val="FFFFFF"/>
                </a:solidFill>
                <a:latin typeface="Microsoft YaHei"/>
              </a:rPr>
              <a:t>▪ K13  持续学习，特殊领域多补课</a:t>
            </a:r>
          </a:p>
          <a:p>
            <a:pPr>
              <a:spcAft>
                <a:spcPts val="800"/>
              </a:spcAft>
            </a:pPr>
            <a:r>
              <a:rPr sz="1500">
                <a:solidFill>
                  <a:srgbClr val="FFFFFF"/>
                </a:solidFill>
                <a:latin typeface="Microsoft YaHei"/>
              </a:rPr>
              <a:t>▪ K14  安全员靠什么发挥作用</a:t>
            </a:r>
          </a:p>
          <a:p>
            <a:pPr>
              <a:spcAft>
                <a:spcPts val="800"/>
              </a:spcAft>
            </a:pPr>
            <a:r>
              <a:rPr sz="1500">
                <a:solidFill>
                  <a:srgbClr val="FFFFFF"/>
                </a:solidFill>
                <a:latin typeface="Microsoft YaHei"/>
              </a:rPr>
              <a:t>▪ K15  书面生物安全政策：具体可落实</a:t>
            </a:r>
          </a:p>
          <a:p>
            <a:pPr>
              <a:spcAft>
                <a:spcPts val="800"/>
              </a:spcAft>
            </a:pPr>
            <a:r>
              <a:rPr sz="1500">
                <a:solidFill>
                  <a:srgbClr val="FFFFFF"/>
                </a:solidFill>
                <a:latin typeface="Microsoft YaHei"/>
              </a:rPr>
              <a:t>▪ K16  生物安全手册：依法编写，与设施同建</a:t>
            </a:r>
          </a:p>
          <a:p>
            <a:pPr>
              <a:spcAft>
                <a:spcPts val="800"/>
              </a:spcAft>
            </a:pPr>
            <a:r>
              <a:rPr sz="1500">
                <a:solidFill>
                  <a:srgbClr val="FFFFFF"/>
                </a:solidFill>
                <a:latin typeface="Microsoft YaHei"/>
              </a:rPr>
              <a:t>▪ S1  学生要做的：认人、服从、报告</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生物安全柜与超净工作台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适用对象：使用生物安全柜、超净工作台的生命科学、医学、农学、环境等专业高校本科生、研究生和教职工（必修，上机操作前完成）；实验室负责人和设备管理人员重点学习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能说出生物安全柜靠定向气流、高效过滤器和围护结构保护人、环境和样品，知道高效过滤器只截颗粒、不挡气体。</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能说出Ⅰ、Ⅱ、Ⅲ级生物安全柜的结构特点和保护对象，知道选哪种柜由风险评估决定。</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能判断超净工作台只护样品不护人，病原和感染性材料、挥发性有毒物质不得在超净台内操作。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能区分生物安全柜、超净工作台、化学通风柜三者的用途并正确选用，知道生物安全柜不能当化学通风柜用。</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《病原微生物实验室生物安全管理条例》（以现行文本为准）：病原微生物实验活动应在相应级别的实验室进行，实验室应配备与级别相适应的防护设备</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生物安全通用要求》：可能产生气溶胶的操作在生物安全柜内进行，安全柜的选型、安装、检测和维护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233（以现行文本为准）《病原微生物实验室生物安全通用准则》：各级实验室对生物安全柜的配备要求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生物安全柜》等生物安全柜现行国家/行业标准：结构、气流、过滤和检测要求（具体数值以现行文本、产品说明和检测报告为准）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 2023 年版，以现行文本为准）：病原的危害程度分类和实验活动所需的防护级别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号，以现行文本为准）：安全设施设备的配备、使用和定期检测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本校生物安全柜和超净工作台使用管理规定（以本校规定为准）</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生物安全柜：护人、护环境、护样品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生物安全柜是关键的工程控制</a:t>
            </a:r>
          </a:p>
          <a:p>
            <a:pPr>
              <a:spcAft>
                <a:spcPts val="1000"/>
              </a:spcAft>
            </a:pPr>
            <a:r>
              <a:rPr sz="2000">
                <a:solidFill>
                  <a:srgbClr val="222B33"/>
                </a:solidFill>
                <a:latin typeface="Microsoft YaHei"/>
              </a:rPr>
              <a:t>▪ 挡住操作产生的气溶胶和飞溅</a:t>
            </a:r>
          </a:p>
          <a:p>
            <a:pPr>
              <a:spcAft>
                <a:spcPts val="1000"/>
              </a:spcAft>
            </a:pPr>
            <a:r>
              <a:rPr sz="2000">
                <a:solidFill>
                  <a:srgbClr val="222B33"/>
                </a:solidFill>
                <a:latin typeface="Microsoft YaHei"/>
              </a:rPr>
              <a:t>▪ 保护操作者、环境，也保护样品</a:t>
            </a:r>
          </a:p>
          <a:p>
            <a:pPr>
              <a:spcAft>
                <a:spcPts val="1000"/>
              </a:spcAft>
            </a:pPr>
            <a:r>
              <a:rPr sz="2000">
                <a:solidFill>
                  <a:srgbClr val="222B33"/>
                </a:solidFill>
                <a:latin typeface="Microsoft YaHei"/>
              </a:rPr>
              <a:t>▪ 感染性材料、临床标本在柜内操作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生物安全柜是生物实验室最关键的工程控制设备：用设备把危险隔开，挡住移液、混匀、开盖、接种等操作时产生的感染性气溶胶和飞溅。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在开放台面上打开临床标本或培养物</a:t>
            </a:r>
          </a:p>
          <a:p>
            <a:pPr>
              <a:spcAft>
                <a:spcPts val="1000"/>
              </a:spcAft>
            </a:pPr>
            <a:r>
              <a:rPr sz="1500">
                <a:solidFill>
                  <a:srgbClr val="222B33"/>
                </a:solidFill>
                <a:latin typeface="Microsoft YaHei"/>
              </a:rPr>
              <a:t>▪ 不认识前格栅，把物品压在上面</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气流原理：前窗吸入、下降气流、过滤排出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室内空气从前窗吸入，钻进前格栅</a:t>
            </a:r>
          </a:p>
          <a:p>
            <a:pPr>
              <a:spcAft>
                <a:spcPts val="1000"/>
              </a:spcAft>
            </a:pPr>
            <a:r>
              <a:rPr sz="2000">
                <a:solidFill>
                  <a:srgbClr val="222B33"/>
                </a:solidFill>
                <a:latin typeface="Microsoft YaHei"/>
              </a:rPr>
              <a:t>▪ 吸入气流形成气幕，隔开柜内外</a:t>
            </a:r>
          </a:p>
          <a:p>
            <a:pPr>
              <a:spcAft>
                <a:spcPts val="1000"/>
              </a:spcAft>
            </a:pPr>
            <a:r>
              <a:rPr sz="2000">
                <a:solidFill>
                  <a:srgbClr val="222B33"/>
                </a:solidFill>
                <a:latin typeface="Microsoft YaHei"/>
              </a:rPr>
              <a:t>▪ 柜顶过滤后的洁净风从上往下吹</a:t>
            </a:r>
          </a:p>
          <a:p>
            <a:pPr>
              <a:spcAft>
                <a:spcPts val="1000"/>
              </a:spcAft>
            </a:pPr>
            <a:r>
              <a:rPr sz="2000">
                <a:solidFill>
                  <a:srgbClr val="222B33"/>
                </a:solidFill>
                <a:latin typeface="Microsoft YaHei"/>
              </a:rPr>
              <a:t>▪ 排出的空气也先经高效过滤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以为柜子开着风机就一定安全，不看气流是否正常</a:t>
            </a:r>
          </a:p>
          <a:p>
            <a:pPr>
              <a:spcAft>
                <a:spcPts val="1000"/>
              </a:spcAft>
            </a:pPr>
            <a:r>
              <a:rPr sz="1500">
                <a:solidFill>
                  <a:srgbClr val="222B33"/>
                </a:solidFill>
                <a:latin typeface="Microsoft YaHei"/>
              </a:rPr>
              <a:t>▪ 以为安全柜排风不过滤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高效过滤器：截颗粒，不挡气体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高效过滤器能截住极细颗粒和微生物</a:t>
            </a:r>
          </a:p>
          <a:p>
            <a:pPr>
              <a:spcAft>
                <a:spcPts val="1000"/>
              </a:spcAft>
            </a:pPr>
            <a:r>
              <a:rPr sz="2000">
                <a:solidFill>
                  <a:srgbClr val="222B33"/>
                </a:solidFill>
                <a:latin typeface="Microsoft YaHei"/>
              </a:rPr>
              <a:t>▪ 多层纤维加慢速，更小的也被拦住</a:t>
            </a:r>
          </a:p>
          <a:p>
            <a:pPr>
              <a:spcAft>
                <a:spcPts val="1000"/>
              </a:spcAft>
            </a:pPr>
            <a:r>
              <a:rPr sz="2000">
                <a:solidFill>
                  <a:srgbClr val="222B33"/>
                </a:solidFill>
                <a:latin typeface="Microsoft YaHei"/>
              </a:rPr>
              <a:t>▪ 挡不住有害气体和蒸气</a:t>
            </a:r>
          </a:p>
          <a:p>
            <a:pPr>
              <a:spcAft>
                <a:spcPts val="1000"/>
              </a:spcAft>
            </a:pPr>
            <a:r>
              <a:rPr sz="2000">
                <a:solidFill>
                  <a:srgbClr val="222B33"/>
                </a:solidFill>
                <a:latin typeface="Microsoft YaHei"/>
              </a:rPr>
              <a:t>▪ 颗粒气体都有，先问清用哪种柜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以为高效过滤器能吸附有毒气体</a:t>
            </a:r>
          </a:p>
          <a:p>
            <a:pPr>
              <a:spcAft>
                <a:spcPts val="1000"/>
              </a:spcAft>
            </a:pPr>
            <a:r>
              <a:rPr sz="1500">
                <a:solidFill>
                  <a:srgbClr val="222B33"/>
                </a:solidFill>
                <a:latin typeface="Microsoft YaHei"/>
              </a:rPr>
              <a:t>▪ 自行拆卸或碰撞过滤器</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分三级，按风险评估选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按防护水平分Ⅰ、Ⅱ、Ⅲ级</a:t>
            </a:r>
          </a:p>
          <a:p>
            <a:pPr>
              <a:spcAft>
                <a:spcPts val="1000"/>
              </a:spcAft>
            </a:pPr>
            <a:r>
              <a:rPr sz="2000">
                <a:solidFill>
                  <a:srgbClr val="222B33"/>
                </a:solidFill>
                <a:latin typeface="Microsoft YaHei"/>
              </a:rPr>
              <a:t>▪ 风险越高，柜子越密闭</a:t>
            </a:r>
          </a:p>
          <a:p>
            <a:pPr>
              <a:spcAft>
                <a:spcPts val="1000"/>
              </a:spcAft>
            </a:pPr>
            <a:r>
              <a:rPr sz="2000">
                <a:solidFill>
                  <a:srgbClr val="222B33"/>
                </a:solidFill>
                <a:latin typeface="Microsoft YaHei"/>
              </a:rPr>
              <a:t>▪ 用哪种柜由风险评估定，拿不准先问</a:t>
            </a:r>
          </a:p>
          <a:p>
            <a:pPr>
              <a:spcAft>
                <a:spcPts val="1000"/>
              </a:spcAft>
            </a:pPr>
            <a:r>
              <a:rPr sz="2000">
                <a:solidFill>
                  <a:srgbClr val="222B33"/>
                </a:solidFill>
                <a:latin typeface="Microsoft YaHei"/>
              </a:rPr>
              <a:t>▪ 国内病原第一类最危险，别和国际弄反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有柜子就用，不看柜型是否匹配</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Ⅰ级柜：护人和环境，不护样品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前面敞开，室内空气向里吸</a:t>
            </a:r>
          </a:p>
          <a:p>
            <a:pPr>
              <a:spcAft>
                <a:spcPts val="1000"/>
              </a:spcAft>
            </a:pPr>
            <a:r>
              <a:rPr sz="2000">
                <a:solidFill>
                  <a:srgbClr val="222B33"/>
                </a:solidFill>
                <a:latin typeface="Microsoft YaHei"/>
              </a:rPr>
              <a:t>▪ 经过高效过滤后再排出</a:t>
            </a:r>
          </a:p>
          <a:p>
            <a:pPr>
              <a:spcAft>
                <a:spcPts val="1000"/>
              </a:spcAft>
            </a:pPr>
            <a:r>
              <a:rPr sz="2000">
                <a:solidFill>
                  <a:srgbClr val="222B33"/>
                </a:solidFill>
                <a:latin typeface="Microsoft YaHei"/>
              </a:rPr>
              <a:t>▪ 护人、护环境，不护样品</a:t>
            </a:r>
          </a:p>
          <a:p>
            <a:pPr>
              <a:spcAft>
                <a:spcPts val="1000"/>
              </a:spcAft>
            </a:pPr>
            <a:r>
              <a:rPr sz="2000">
                <a:solidFill>
                  <a:srgbClr val="222B33"/>
                </a:solidFill>
                <a:latin typeface="Microsoft YaHei"/>
              </a:rPr>
              <a:t>▪ 一般用于低到中度风险的工作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Ⅰ级生物安全柜前面敞开，室内空气从前窗被吸入柜内，流过工作区后经高效过滤器排出。向里吸的气流保护操作者，排风过滤保护环境。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在Ⅰ级柜里做要求无菌的细胞培养</a:t>
            </a:r>
          </a:p>
          <a:p>
            <a:pPr>
              <a:spcAft>
                <a:spcPts val="1000"/>
              </a:spcAft>
            </a:pPr>
            <a:r>
              <a:rPr sz="1500">
                <a:solidFill>
                  <a:srgbClr val="222B33"/>
                </a:solidFill>
                <a:latin typeface="Microsoft YaHei"/>
              </a:rPr>
              <a:t>▪ 以为所有生物安全柜都护样品</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Ⅱ级柜：最常用，分不同类型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最常用，人、环境、样品都护</a:t>
            </a:r>
          </a:p>
          <a:p>
            <a:pPr>
              <a:spcAft>
                <a:spcPts val="1000"/>
              </a:spcAft>
            </a:pPr>
            <a:r>
              <a:rPr sz="2000">
                <a:solidFill>
                  <a:srgbClr val="222B33"/>
                </a:solidFill>
                <a:latin typeface="Microsoft YaHei"/>
              </a:rPr>
              <a:t>▪ 部分空气循环，部分过滤排出</a:t>
            </a:r>
          </a:p>
          <a:p>
            <a:pPr>
              <a:spcAft>
                <a:spcPts val="1000"/>
              </a:spcAft>
            </a:pPr>
            <a:r>
              <a:rPr sz="2000">
                <a:solidFill>
                  <a:srgbClr val="222B33"/>
                </a:solidFill>
                <a:latin typeface="Microsoft YaHei"/>
              </a:rPr>
              <a:t>▪ 按气流和排风去向分不同类型</a:t>
            </a:r>
          </a:p>
          <a:p>
            <a:pPr>
              <a:spcAft>
                <a:spcPts val="1000"/>
              </a:spcAft>
            </a:pPr>
            <a:r>
              <a:rPr sz="2000">
                <a:solidFill>
                  <a:srgbClr val="222B33"/>
                </a:solidFill>
                <a:latin typeface="Microsoft YaHei"/>
              </a:rPr>
              <a:t>▪ 检测合格、标签有效才能使用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Ⅱ级生物安全柜是高校实验室最常用的柜型，人、环境、样品三方面都能保护：前窗吸入气流护人，柜顶过滤后的洁净下降气流护样品，排风经高效过滤护环境，柜内保持洁净。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不管是哪种类型，都在柜里用挥发性溶剂</a:t>
            </a:r>
          </a:p>
          <a:p>
            <a:pPr>
              <a:spcAft>
                <a:spcPts val="1000"/>
              </a:spcAft>
            </a:pPr>
            <a:r>
              <a:rPr sz="1500">
                <a:solidFill>
                  <a:srgbClr val="222B33"/>
                </a:solidFill>
                <a:latin typeface="Microsoft YaHei"/>
              </a:rPr>
              <a:t>▪ 检测过期的柜子继续使用</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Ⅲ级柜：完全密闭，手套操作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防护最高，柜内与外界完全隔离</a:t>
            </a:r>
          </a:p>
          <a:p>
            <a:pPr>
              <a:spcAft>
                <a:spcPts val="1000"/>
              </a:spcAft>
            </a:pPr>
            <a:r>
              <a:rPr sz="2000">
                <a:solidFill>
                  <a:srgbClr val="222B33"/>
                </a:solidFill>
                <a:latin typeface="Microsoft YaHei"/>
              </a:rPr>
              <a:t>▪ 手伸进固定手套口操作</a:t>
            </a:r>
          </a:p>
          <a:p>
            <a:pPr>
              <a:spcAft>
                <a:spcPts val="1000"/>
              </a:spcAft>
            </a:pPr>
            <a:r>
              <a:rPr sz="2000">
                <a:solidFill>
                  <a:srgbClr val="222B33"/>
                </a:solidFill>
                <a:latin typeface="Microsoft YaHei"/>
              </a:rPr>
              <a:t>▪ 物品走传递窗，两道门不同时开</a:t>
            </a:r>
          </a:p>
          <a:p>
            <a:pPr>
              <a:spcAft>
                <a:spcPts val="1000"/>
              </a:spcAft>
            </a:pPr>
            <a:r>
              <a:rPr sz="2000">
                <a:solidFill>
                  <a:srgbClr val="222B33"/>
                </a:solidFill>
                <a:latin typeface="Microsoft YaHei"/>
              </a:rPr>
              <a:t>▪ 材料和废物封装处理后才能出柜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Ⅲ级生物安全柜是防护水平最高的一种，对人、环境和样品的防护都最高。它是全密闭、气密的箱体，柜内与外界完全隔离，进风和排风都经高效过滤。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传递窗两道门同时打开</a:t>
            </a:r>
          </a:p>
          <a:p>
            <a:pPr>
              <a:spcAft>
                <a:spcPts val="1000"/>
              </a:spcAft>
            </a:pPr>
            <a:r>
              <a:rPr sz="1500">
                <a:solidFill>
                  <a:srgbClr val="222B33"/>
                </a:solidFill>
                <a:latin typeface="Microsoft YaHei"/>
              </a:rPr>
              <a:t>▪ 未经处理就把柜内物品取出</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排风连接由工程人员按柜型定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有的排风管直接接入大楼风管</a:t>
            </a:r>
          </a:p>
          <a:p>
            <a:pPr>
              <a:spcAft>
                <a:spcPts val="1000"/>
              </a:spcAft>
            </a:pPr>
            <a:r>
              <a:rPr sz="2000">
                <a:solidFill>
                  <a:srgbClr val="222B33"/>
                </a:solidFill>
                <a:latin typeface="Microsoft YaHei"/>
              </a:rPr>
              <a:t>▪ 有的上方罩集气罩，便于风量平衡</a:t>
            </a:r>
          </a:p>
          <a:p>
            <a:pPr>
              <a:spcAft>
                <a:spcPts val="1000"/>
              </a:spcAft>
            </a:pPr>
            <a:r>
              <a:rPr sz="2000">
                <a:solidFill>
                  <a:srgbClr val="222B33"/>
                </a:solidFill>
                <a:latin typeface="Microsoft YaHei"/>
              </a:rPr>
              <a:t>▪ 怎么连接由工程人员按柜型定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自行拆改排风管或集气罩</a:t>
            </a:r>
          </a:p>
          <a:p>
            <a:pPr>
              <a:spcAft>
                <a:spcPts val="1000"/>
              </a:spcAft>
            </a:pPr>
            <a:r>
              <a:rPr sz="1500">
                <a:solidFill>
                  <a:srgbClr val="222B33"/>
                </a:solidFill>
                <a:latin typeface="Microsoft YaHei"/>
              </a:rPr>
              <a:t>▪ 大楼排风停运时继续使用外排型柜</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生物安全柜不是化学通风柜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两种柜长得像，用途不同</a:t>
            </a:r>
          </a:p>
          <a:p>
            <a:pPr>
              <a:spcAft>
                <a:spcPts val="1000"/>
              </a:spcAft>
            </a:pPr>
            <a:r>
              <a:rPr sz="2000">
                <a:solidFill>
                  <a:srgbClr val="222B33"/>
                </a:solidFill>
                <a:latin typeface="Microsoft YaHei"/>
              </a:rPr>
              <a:t>▪ 常见柜型有部分空气回到室内</a:t>
            </a:r>
          </a:p>
          <a:p>
            <a:pPr>
              <a:spcAft>
                <a:spcPts val="1000"/>
              </a:spcAft>
            </a:pPr>
            <a:r>
              <a:rPr sz="2000">
                <a:solidFill>
                  <a:srgbClr val="222B33"/>
                </a:solidFill>
                <a:latin typeface="Microsoft YaHei"/>
              </a:rPr>
              <a:t>▪ 滤网挡不住有毒蒸气</a:t>
            </a:r>
          </a:p>
          <a:p>
            <a:pPr>
              <a:spcAft>
                <a:spcPts val="1000"/>
              </a:spcAft>
            </a:pPr>
            <a:r>
              <a:rPr sz="2000">
                <a:solidFill>
                  <a:srgbClr val="222B33"/>
                </a:solidFill>
                <a:latin typeface="Microsoft YaHei"/>
              </a:rPr>
              <a:t>▪ 化学品进通风柜，生物样品进安全柜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把生物安全柜当通风柜做有机溶剂实验</a:t>
            </a:r>
          </a:p>
          <a:p>
            <a:pPr>
              <a:spcAft>
                <a:spcPts val="1000"/>
              </a:spcAft>
            </a:pPr>
            <a:r>
              <a:rPr sz="1500">
                <a:solidFill>
                  <a:srgbClr val="222B33"/>
                </a:solidFill>
                <a:latin typeface="Microsoft YaHei"/>
              </a:rPr>
              <a:t>▪ 在通风柜里开盖处理感染性样品</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化学通风柜：护人，排到室外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保护人不吸入有害蒸气、气体和粉尘</a:t>
            </a:r>
          </a:p>
          <a:p>
            <a:pPr>
              <a:spcAft>
                <a:spcPts val="1000"/>
              </a:spcAft>
            </a:pPr>
            <a:r>
              <a:rPr sz="2000">
                <a:solidFill>
                  <a:srgbClr val="222B33"/>
                </a:solidFill>
                <a:latin typeface="Microsoft YaHei"/>
              </a:rPr>
              <a:t>▪ 吸入室内空气，经管道排到室外</a:t>
            </a:r>
          </a:p>
          <a:p>
            <a:pPr>
              <a:spcAft>
                <a:spcPts val="1000"/>
              </a:spcAft>
            </a:pPr>
            <a:r>
              <a:rPr sz="2000">
                <a:solidFill>
                  <a:srgbClr val="222B33"/>
                </a:solidFill>
                <a:latin typeface="Microsoft YaHei"/>
              </a:rPr>
              <a:t>▪ 用于化学反应、蒸发溶剂等</a:t>
            </a:r>
          </a:p>
          <a:p>
            <a:pPr>
              <a:spcAft>
                <a:spcPts val="1000"/>
              </a:spcAft>
            </a:pPr>
            <a:r>
              <a:rPr sz="2000">
                <a:solidFill>
                  <a:srgbClr val="222B33"/>
                </a:solidFill>
                <a:latin typeface="Microsoft YaHei"/>
              </a:rPr>
              <a:t>▪ 不护样品，也不过滤病原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化学通风柜保护操作者不吸入有害的蒸气、气体和粉尘：它从实验室吸入空气，经管道直接排到室外，有害物质不会在室内积聚。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把通风柜当成可以做病原实验的地方</a:t>
            </a:r>
          </a:p>
          <a:p>
            <a:pPr>
              <a:spcAft>
                <a:spcPts val="1000"/>
              </a:spcAft>
            </a:pPr>
            <a:r>
              <a:rPr sz="1500">
                <a:solidFill>
                  <a:srgbClr val="222B33"/>
                </a:solidFill>
                <a:latin typeface="Microsoft YaHei"/>
              </a:rPr>
              <a:t>▪ 以为通风柜能保持样品无菌</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超净工作台：单向气流，护样品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给怕污染的材料一个洁净空间</a:t>
            </a:r>
          </a:p>
          <a:p>
            <a:pPr>
              <a:spcAft>
                <a:spcPts val="1000"/>
              </a:spcAft>
            </a:pPr>
            <a:r>
              <a:rPr sz="2000">
                <a:solidFill>
                  <a:srgbClr val="222B33"/>
                </a:solidFill>
                <a:latin typeface="Microsoft YaHei"/>
              </a:rPr>
              <a:t>▪ 风机把空气推过高效过滤器</a:t>
            </a:r>
          </a:p>
          <a:p>
            <a:pPr>
              <a:spcAft>
                <a:spcPts val="1000"/>
              </a:spcAft>
            </a:pPr>
            <a:r>
              <a:rPr sz="2000">
                <a:solidFill>
                  <a:srgbClr val="222B33"/>
                </a:solidFill>
                <a:latin typeface="Microsoft YaHei"/>
              </a:rPr>
              <a:t>▪ 气流平行单向，几乎没有乱流</a:t>
            </a:r>
          </a:p>
          <a:p>
            <a:pPr>
              <a:spcAft>
                <a:spcPts val="1000"/>
              </a:spcAft>
            </a:pPr>
            <a:r>
              <a:rPr sz="2000">
                <a:solidFill>
                  <a:srgbClr val="222B33"/>
                </a:solidFill>
                <a:latin typeface="Microsoft YaHei"/>
              </a:rPr>
              <a:t>▪ 洁净风把污染物吹离样品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工作台（洁净工作台、层流台）的作用是营造洁净环境：风机把室内空气推过高效过滤器，灰尘和微生物被拦下，干净的空气以平行、单向、稳定的层流吹过工作区，把污染物吹离样品，降低空气中的颗粒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以为超净台是"小号生物安全柜"</a:t>
            </a:r>
          </a:p>
          <a:p>
            <a:pPr>
              <a:spcAft>
                <a:spcPts val="1000"/>
              </a:spcAft>
            </a:pPr>
            <a:r>
              <a:rPr sz="1500">
                <a:solidFill>
                  <a:srgbClr val="222B33"/>
                </a:solidFill>
                <a:latin typeface="Microsoft YaHei"/>
              </a:rPr>
              <a:t>▪ 超净台不开机预运行就开始无菌操作</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超净台不护人：禁病原、禁有毒挥发物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超净台的风是吹向人的</a:t>
            </a:r>
          </a:p>
          <a:p>
            <a:pPr>
              <a:spcAft>
                <a:spcPts val="1000"/>
              </a:spcAft>
            </a:pPr>
            <a:r>
              <a:rPr sz="2000">
                <a:solidFill>
                  <a:srgbClr val="222B33"/>
                </a:solidFill>
                <a:latin typeface="Microsoft YaHei"/>
              </a:rPr>
              <a:t>▪ 只护样品，不护人</a:t>
            </a:r>
          </a:p>
          <a:p>
            <a:pPr>
              <a:spcAft>
                <a:spcPts val="1000"/>
              </a:spcAft>
            </a:pPr>
            <a:r>
              <a:rPr sz="2000">
                <a:solidFill>
                  <a:srgbClr val="222B33"/>
                </a:solidFill>
                <a:latin typeface="Microsoft YaHei"/>
              </a:rPr>
              <a:t>▪ 病原和感染性材料不得进超净台</a:t>
            </a:r>
          </a:p>
          <a:p>
            <a:pPr>
              <a:spcAft>
                <a:spcPts val="1000"/>
              </a:spcAft>
            </a:pPr>
            <a:r>
              <a:rPr sz="2000">
                <a:solidFill>
                  <a:srgbClr val="222B33"/>
                </a:solidFill>
                <a:latin typeface="Microsoft YaHei"/>
              </a:rPr>
              <a:t>▪ 挥发性和有毒物也不得在超净台操作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超净台（尤其是水平层流型）的洁净风从里向外吹，直接吹向操作者；即使是垂直层流型，也没有吸入气流和排风过滤来保护人。所以它只保护样品，不保护人。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在超净台里接种、涂布细菌</a:t>
            </a:r>
          </a:p>
          <a:p>
            <a:pPr>
              <a:spcAft>
                <a:spcPts val="1000"/>
              </a:spcAft>
            </a:pPr>
            <a:r>
              <a:rPr sz="1500">
                <a:solidFill>
                  <a:srgbClr val="222B33"/>
                </a:solidFill>
                <a:latin typeface="Microsoft YaHei"/>
              </a:rPr>
              <a:t>▪ 在超净台里称量有毒粉末或用有机溶剂</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洁净还是围护：两者的根本区别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超净台重洁净，安全柜重围护</a:t>
            </a:r>
          </a:p>
          <a:p>
            <a:pPr>
              <a:spcAft>
                <a:spcPts val="1000"/>
              </a:spcAft>
            </a:pPr>
            <a:r>
              <a:rPr sz="2000">
                <a:solidFill>
                  <a:srgbClr val="222B33"/>
                </a:solidFill>
                <a:latin typeface="Microsoft YaHei"/>
              </a:rPr>
              <a:t>▪ 超净台风往外吹，安全柜风往里吸</a:t>
            </a:r>
          </a:p>
          <a:p>
            <a:pPr>
              <a:spcAft>
                <a:spcPts val="1000"/>
              </a:spcAft>
            </a:pPr>
            <a:r>
              <a:rPr sz="2000">
                <a:solidFill>
                  <a:srgbClr val="222B33"/>
                </a:solidFill>
                <a:latin typeface="Microsoft YaHei"/>
              </a:rPr>
              <a:t>▪ 安全柜有前窗、屏障和过滤排风</a:t>
            </a:r>
          </a:p>
          <a:p>
            <a:pPr>
              <a:spcAft>
                <a:spcPts val="1000"/>
              </a:spcAft>
            </a:pPr>
            <a:r>
              <a:rPr sz="2000">
                <a:solidFill>
                  <a:srgbClr val="222B33"/>
                </a:solidFill>
                <a:latin typeface="Microsoft YaHei"/>
              </a:rPr>
              <a:t>▪ 超净台用于洁净操作，安全柜管感染性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超净台和生物安全柜都提供受控的环境，都用高效过滤器，但目的不同：超净台重在洁净，不管围护；生物安全柜重在把危险围住，同时兼顾洁净。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看都有玻璃窗和风，就认为可以互换</a:t>
            </a:r>
          </a:p>
          <a:p>
            <a:pPr>
              <a:spcAft>
                <a:spcPts val="1000"/>
              </a:spcAft>
            </a:pPr>
            <a:r>
              <a:rPr sz="1500">
                <a:solidFill>
                  <a:srgbClr val="222B33"/>
                </a:solidFill>
                <a:latin typeface="Microsoft YaHei"/>
              </a:rPr>
              <a:t>▪ 以为有高效过滤器就能防病原外泄</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三句话记区别，按评估选用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三种柜子长得像，保护对象不同</a:t>
            </a:r>
          </a:p>
          <a:p>
            <a:pPr>
              <a:spcAft>
                <a:spcPts val="1000"/>
              </a:spcAft>
            </a:pPr>
            <a:r>
              <a:rPr sz="2000">
                <a:solidFill>
                  <a:srgbClr val="222B33"/>
                </a:solidFill>
                <a:latin typeface="Microsoft YaHei"/>
              </a:rPr>
              <a:t>▪ 通风柜：护人，防有害化学品</a:t>
            </a:r>
          </a:p>
          <a:p>
            <a:pPr>
              <a:spcAft>
                <a:spcPts val="1000"/>
              </a:spcAft>
            </a:pPr>
            <a:r>
              <a:rPr sz="2000">
                <a:solidFill>
                  <a:srgbClr val="222B33"/>
                </a:solidFill>
                <a:latin typeface="Microsoft YaHei"/>
              </a:rPr>
              <a:t>▪ 超净台：护样品，不护人</a:t>
            </a:r>
          </a:p>
          <a:p>
            <a:pPr>
              <a:spcAft>
                <a:spcPts val="1000"/>
              </a:spcAft>
            </a:pPr>
            <a:r>
              <a:rPr sz="2000">
                <a:solidFill>
                  <a:srgbClr val="222B33"/>
                </a:solidFill>
                <a:latin typeface="Microsoft YaHei"/>
              </a:rPr>
              <a:t>▪ 生物安全柜：人、样品、环境都护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三种柜子都有玻璃窗、都有风，常被搞混，用三句话记住：化学通风柜护人，防有害化学品；超净工作台护样品，不护人；生物安全柜人、样品、环境都护（Ⅰ级柜除外，不护样品）。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凭位置方便随便选一台柜子</a:t>
            </a:r>
          </a:p>
          <a:p>
            <a:pPr>
              <a:spcAft>
                <a:spcPts val="1000"/>
              </a:spcAft>
            </a:pPr>
            <a:r>
              <a:rPr sz="1500">
                <a:solidFill>
                  <a:srgbClr val="222B33"/>
                </a:solidFill>
                <a:latin typeface="Microsoft YaHei"/>
              </a:rPr>
              <a:t>▪ 病原实验去超净台"图干净"</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下列哪种设备只保护样品、不保护操作者？</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Ⅱ级生物安全柜</a:t>
            </a:r>
          </a:p>
          <a:p>
            <a:pPr algn="l"/>
            <a:r>
              <a:rPr sz="1500" b="0">
                <a:solidFill>
                  <a:srgbClr val="222B33"/>
                </a:solidFill>
                <a:latin typeface="Microsoft YaHei"/>
              </a:rPr>
              <a:t>B. 超净工作台</a:t>
            </a:r>
          </a:p>
          <a:p>
            <a:pPr algn="l"/>
            <a:r>
              <a:rPr sz="1500" b="0">
                <a:solidFill>
                  <a:srgbClr val="222B33"/>
                </a:solidFill>
                <a:latin typeface="Microsoft YaHei"/>
              </a:rPr>
              <a:t>C. Ⅲ级生物安全柜</a:t>
            </a:r>
          </a:p>
          <a:p>
            <a:pPr algn="l"/>
            <a:r>
              <a:rPr sz="1500" b="0">
                <a:solidFill>
                  <a:srgbClr val="222B33"/>
                </a:solidFill>
                <a:latin typeface="Microsoft YaHei"/>
              </a:rPr>
              <a:t>D. 化学通风柜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判断：高效过滤器能截住有毒化学蒸气，所以生物安全柜可以当通风柜用。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关于Ⅰ级生物安全柜，正确的是：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人、环境、样品都护</a:t>
            </a:r>
          </a:p>
          <a:p>
            <a:pPr algn="l"/>
            <a:r>
              <a:rPr sz="1500" b="0">
                <a:solidFill>
                  <a:srgbClr val="222B33"/>
                </a:solidFill>
                <a:latin typeface="Microsoft YaHei"/>
              </a:rPr>
              <a:t>B. 护人和环境，不护样品</a:t>
            </a:r>
          </a:p>
          <a:p>
            <a:pPr algn="l"/>
            <a:r>
              <a:rPr sz="1500" b="0">
                <a:solidFill>
                  <a:srgbClr val="222B33"/>
                </a:solidFill>
                <a:latin typeface="Microsoft YaHei"/>
              </a:rPr>
              <a:t>C. 完全密闭，手套操作</a:t>
            </a:r>
          </a:p>
          <a:p>
            <a:pPr algn="l"/>
            <a:r>
              <a:rPr sz="1500" b="0">
                <a:solidFill>
                  <a:srgbClr val="222B33"/>
                </a:solidFill>
                <a:latin typeface="Microsoft YaHei"/>
              </a:rPr>
              <a:t>D. 只护样品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阿杰要涂布细菌平板，应在哪里操作？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超净工作台</a:t>
            </a:r>
          </a:p>
          <a:p>
            <a:pPr algn="l"/>
            <a:r>
              <a:rPr sz="1500" b="0">
                <a:solidFill>
                  <a:srgbClr val="222B33"/>
                </a:solidFill>
                <a:latin typeface="Microsoft YaHei"/>
              </a:rPr>
              <a:t>B. 开放台面</a:t>
            </a:r>
          </a:p>
          <a:p>
            <a:pPr algn="l"/>
            <a:r>
              <a:rPr sz="1500" b="0">
                <a:solidFill>
                  <a:srgbClr val="222B33"/>
                </a:solidFill>
                <a:latin typeface="Microsoft YaHei"/>
              </a:rPr>
              <a:t>C. 生物安全柜</a:t>
            </a:r>
          </a:p>
          <a:p>
            <a:pPr algn="l"/>
            <a:r>
              <a:rPr sz="1500" b="0">
                <a:solidFill>
                  <a:srgbClr val="222B33"/>
                </a:solidFill>
                <a:latin typeface="Microsoft YaHei"/>
              </a:rPr>
              <a:t>D. 化学通风柜</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判断：Ⅲ级生物安全柜的传递窗两道门可以同时打开，以提高效率。</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简答：用三句话说出化学通风柜、超净工作台、生物安全柜的区别。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生物安全柜：护人、护环境、护样品</a:t>
            </a:r>
          </a:p>
          <a:p>
            <a:pPr>
              <a:spcAft>
                <a:spcPts val="800"/>
              </a:spcAft>
            </a:pPr>
            <a:r>
              <a:rPr sz="1500">
                <a:solidFill>
                  <a:srgbClr val="FFFFFF"/>
                </a:solidFill>
                <a:latin typeface="Microsoft YaHei"/>
              </a:rPr>
              <a:t>▪ K2  气流原理：前窗吸入、下降气流、过滤排出</a:t>
            </a:r>
          </a:p>
          <a:p>
            <a:pPr>
              <a:spcAft>
                <a:spcPts val="800"/>
              </a:spcAft>
            </a:pPr>
            <a:r>
              <a:rPr sz="1500">
                <a:solidFill>
                  <a:srgbClr val="FFFFFF"/>
                </a:solidFill>
                <a:latin typeface="Microsoft YaHei"/>
              </a:rPr>
              <a:t>▪ K3  高效过滤器：截颗粒，不挡气体</a:t>
            </a:r>
          </a:p>
          <a:p>
            <a:pPr>
              <a:spcAft>
                <a:spcPts val="800"/>
              </a:spcAft>
            </a:pPr>
            <a:r>
              <a:rPr sz="1500">
                <a:solidFill>
                  <a:srgbClr val="FFFFFF"/>
                </a:solidFill>
                <a:latin typeface="Microsoft YaHei"/>
              </a:rPr>
              <a:t>▪ K4  分三级，按风险评估选</a:t>
            </a:r>
          </a:p>
          <a:p>
            <a:pPr>
              <a:spcAft>
                <a:spcPts val="800"/>
              </a:spcAft>
            </a:pPr>
            <a:r>
              <a:rPr sz="1500">
                <a:solidFill>
                  <a:srgbClr val="FFFFFF"/>
                </a:solidFill>
                <a:latin typeface="Microsoft YaHei"/>
              </a:rPr>
              <a:t>▪ K5  Ⅰ级柜：护人和环境，不护样品</a:t>
            </a:r>
          </a:p>
          <a:p>
            <a:pPr>
              <a:spcAft>
                <a:spcPts val="800"/>
              </a:spcAft>
            </a:pPr>
            <a:r>
              <a:rPr sz="1500">
                <a:solidFill>
                  <a:srgbClr val="FFFFFF"/>
                </a:solidFill>
                <a:latin typeface="Microsoft YaHei"/>
              </a:rPr>
              <a:t>▪ K6  Ⅱ级柜：最常用，分不同类型</a:t>
            </a:r>
          </a:p>
          <a:p>
            <a:pPr>
              <a:spcAft>
                <a:spcPts val="800"/>
              </a:spcAft>
            </a:pPr>
            <a:r>
              <a:rPr sz="1500">
                <a:solidFill>
                  <a:srgbClr val="FFFFFF"/>
                </a:solidFill>
                <a:latin typeface="Microsoft YaHei"/>
              </a:rPr>
              <a:t>▪ K7  Ⅲ级柜：完全密闭，手套操作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排风连接由工程人员按柜型定</a:t>
            </a:r>
          </a:p>
          <a:p>
            <a:pPr>
              <a:spcAft>
                <a:spcPts val="800"/>
              </a:spcAft>
            </a:pPr>
            <a:r>
              <a:rPr sz="1500">
                <a:solidFill>
                  <a:srgbClr val="FFFFFF"/>
                </a:solidFill>
                <a:latin typeface="Microsoft YaHei"/>
              </a:rPr>
              <a:t>▪ K9  生物安全柜不是化学通风柜</a:t>
            </a:r>
          </a:p>
          <a:p>
            <a:pPr>
              <a:spcAft>
                <a:spcPts val="800"/>
              </a:spcAft>
            </a:pPr>
            <a:r>
              <a:rPr sz="1500">
                <a:solidFill>
                  <a:srgbClr val="FFFFFF"/>
                </a:solidFill>
                <a:latin typeface="Microsoft YaHei"/>
              </a:rPr>
              <a:t>▪ K10  化学通风柜：护人，排到室外</a:t>
            </a:r>
          </a:p>
          <a:p>
            <a:pPr>
              <a:spcAft>
                <a:spcPts val="800"/>
              </a:spcAft>
            </a:pPr>
            <a:r>
              <a:rPr sz="1500">
                <a:solidFill>
                  <a:srgbClr val="FFFFFF"/>
                </a:solidFill>
                <a:latin typeface="Microsoft YaHei"/>
              </a:rPr>
              <a:t>▪ K11  超净工作台：单向气流，护样品</a:t>
            </a:r>
          </a:p>
          <a:p>
            <a:pPr>
              <a:spcAft>
                <a:spcPts val="800"/>
              </a:spcAft>
            </a:pPr>
            <a:r>
              <a:rPr sz="1500">
                <a:solidFill>
                  <a:srgbClr val="FFFFFF"/>
                </a:solidFill>
                <a:latin typeface="Microsoft YaHei"/>
              </a:rPr>
              <a:t>▪ K12  超净台不护人：禁病原、禁有毒挥发物</a:t>
            </a:r>
          </a:p>
          <a:p>
            <a:pPr>
              <a:spcAft>
                <a:spcPts val="800"/>
              </a:spcAft>
            </a:pPr>
            <a:r>
              <a:rPr sz="1500">
                <a:solidFill>
                  <a:srgbClr val="FFFFFF"/>
                </a:solidFill>
                <a:latin typeface="Microsoft YaHei"/>
              </a:rPr>
              <a:t>▪ K13  洁净还是围护：两者的根本区别</a:t>
            </a:r>
          </a:p>
          <a:p>
            <a:pPr>
              <a:spcAft>
                <a:spcPts val="800"/>
              </a:spcAft>
            </a:pPr>
            <a:r>
              <a:rPr sz="1500">
                <a:solidFill>
                  <a:srgbClr val="FFFFFF"/>
                </a:solidFill>
                <a:latin typeface="Microsoft YaHei"/>
              </a:rPr>
              <a:t>▪ K14  三句话记区别，按评估选用</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生物安全柜的准备与使用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适用对象：使用生物安全柜的生命科学、医学、农学、环境等专业高校本科生、研究生和教职工（必修，上机操作前完成并经现场考核）；实验室负责人和设备管理人员重点学习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能做到使用前的检查与准备：关紫外灯、认柜型、看检测标签，开风机、前窗拉到标线、关排液阀、空转，读压差、确认气流向内，擦拭消毒。</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能做到柜内物品擦净后一次放齐、由洁到污摆放、前后格栅畅通，按正确坐姿在下降气流区内操作，手臂慢进慢出。</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能说出影响气流的因素：安装位置、前窗高度、物品堆放、手臂动作、人员走动、明火、离心机和大型仪器。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能判断柜内禁用明火、离心机和大仪器进柜前须评估，报警或气流异常时立即停止、盖好容器、挂牌停用并报告。</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《病原微生物实验室生物安全管理条例》（以现行文本为准）：实验室应制定并执行标准操作规程，实验人员按规程操作</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生物安全通用要求》：可能产生气溶胶的操作在生物安全柜内进行；设备的安装位置、使用、检测、维护和标准操作程序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233（以现行文本为准）《病原微生物实验室生物安全通用准则》：生物安全柜的使用和实验室操作规范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生物安全柜》等生物安全柜现行国家/行业标准：前窗工作高度、气流和报警要求（数值以现行文本、产品说明和检测报告为准）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号，以现行文本为准）：仪器设备操作规程、上机培训和使用记录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本校生物安全柜使用管理规定和本实验室生物安全柜标准操作规程（以本校规定为准）</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好设备也要照规程用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设备是工程控制，规程是管理控制</a:t>
            </a:r>
          </a:p>
          <a:p>
            <a:pPr>
              <a:spcAft>
                <a:spcPts val="1000"/>
              </a:spcAft>
            </a:pPr>
            <a:r>
              <a:rPr sz="2000">
                <a:solidFill>
                  <a:srgbClr val="222B33"/>
                </a:solidFill>
                <a:latin typeface="Microsoft YaHei"/>
              </a:rPr>
              <a:t>▪ 不同柜子用法不同，按本柜编规程</a:t>
            </a:r>
          </a:p>
          <a:p>
            <a:pPr>
              <a:spcAft>
                <a:spcPts val="1000"/>
              </a:spcAft>
            </a:pPr>
            <a:r>
              <a:rPr sz="2000">
                <a:solidFill>
                  <a:srgbClr val="222B33"/>
                </a:solidFill>
                <a:latin typeface="Microsoft YaHei"/>
              </a:rPr>
              <a:t>▪ 规程验证可行、审核后再开工</a:t>
            </a:r>
          </a:p>
          <a:p>
            <a:pPr>
              <a:spcAft>
                <a:spcPts val="1000"/>
              </a:spcAft>
            </a:pPr>
            <a:r>
              <a:rPr sz="2000">
                <a:solidFill>
                  <a:srgbClr val="222B33"/>
                </a:solidFill>
                <a:latin typeface="Microsoft YaHei"/>
              </a:rPr>
              <a:t>▪ 检测、位置、摆放、消毒、维护都要管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生物安全柜再好，也要照规程用：柜子是工程控制，操作规程是管理控制，两者配合安全才完整，不能想怎么用就怎么用。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照搬别的型号的说明，不看本柜规程</a:t>
            </a:r>
          </a:p>
          <a:p>
            <a:pPr>
              <a:spcAft>
                <a:spcPts val="1000"/>
              </a:spcAft>
            </a:pPr>
            <a:r>
              <a:rPr sz="1500">
                <a:solidFill>
                  <a:srgbClr val="222B33"/>
                </a:solidFill>
                <a:latin typeface="Microsoft YaHei"/>
              </a:rPr>
              <a:t>▪ 没有规程，凭经验操作</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安装位置：避开门口和送风口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气流一乱，人会暴露，样品会污染</a:t>
            </a:r>
          </a:p>
          <a:p>
            <a:pPr>
              <a:spcAft>
                <a:spcPts val="1000"/>
              </a:spcAft>
            </a:pPr>
            <a:r>
              <a:rPr sz="2000">
                <a:solidFill>
                  <a:srgbClr val="222B33"/>
                </a:solidFill>
                <a:latin typeface="Microsoft YaHei"/>
              </a:rPr>
              <a:t>▪ 离门太近，一开门气就被抽出</a:t>
            </a:r>
          </a:p>
          <a:p>
            <a:pPr>
              <a:spcAft>
                <a:spcPts val="1000"/>
              </a:spcAft>
            </a:pPr>
            <a:r>
              <a:rPr sz="2000">
                <a:solidFill>
                  <a:srgbClr val="222B33"/>
                </a:solidFill>
                <a:latin typeface="Microsoft YaHei"/>
              </a:rPr>
              <a:t>▪ 避开空调送风口，别挤在一起</a:t>
            </a:r>
          </a:p>
          <a:p>
            <a:pPr>
              <a:spcAft>
                <a:spcPts val="1000"/>
              </a:spcAft>
            </a:pPr>
            <a:r>
              <a:rPr sz="2000">
                <a:solidFill>
                  <a:srgbClr val="222B33"/>
                </a:solidFill>
                <a:latin typeface="Microsoft YaHei"/>
              </a:rPr>
              <a:t>▪ 放在房间里端，远离走动气流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为了方便把柜子挪到门边</a:t>
            </a:r>
          </a:p>
          <a:p>
            <a:pPr>
              <a:spcAft>
                <a:spcPts val="1000"/>
              </a:spcAft>
            </a:pPr>
            <a:r>
              <a:rPr sz="1500">
                <a:solidFill>
                  <a:srgbClr val="222B33"/>
                </a:solidFill>
                <a:latin typeface="Microsoft YaHei"/>
              </a:rPr>
              <a:t>▪ 操作时开着正对柜子的空调或电扇</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留足时间，备齐物品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留出一段不被打断的时间</a:t>
            </a:r>
          </a:p>
          <a:p>
            <a:pPr>
              <a:spcAft>
                <a:spcPts val="1000"/>
              </a:spcAft>
            </a:pPr>
            <a:r>
              <a:rPr sz="2000">
                <a:solidFill>
                  <a:srgbClr val="222B33"/>
                </a:solidFill>
                <a:latin typeface="Microsoft YaHei"/>
              </a:rPr>
              <a:t>▪ 物品一次备齐，放在柜旁推车上</a:t>
            </a:r>
          </a:p>
          <a:p>
            <a:pPr>
              <a:spcAft>
                <a:spcPts val="1000"/>
              </a:spcAft>
            </a:pPr>
            <a:r>
              <a:rPr sz="2000">
                <a:solidFill>
                  <a:srgbClr val="222B33"/>
                </a:solidFill>
                <a:latin typeface="Microsoft YaHei"/>
              </a:rPr>
              <a:t>▪ 消毒剂装瓶，标明名称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在生物安全柜里操作前，先安排一段不会被打断的时间，避免中途频繁离开。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做到一半发现缺东西，频繁进出</a:t>
            </a:r>
          </a:p>
          <a:p>
            <a:pPr>
              <a:spcAft>
                <a:spcPts val="1000"/>
              </a:spcAft>
            </a:pPr>
            <a:r>
              <a:rPr sz="1500">
                <a:solidFill>
                  <a:srgbClr val="222B33"/>
                </a:solidFill>
                <a:latin typeface="Microsoft YaHei"/>
              </a:rPr>
              <a:t>▪ 消毒剂瓶子不贴标签</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开机前：关紫外灯、认柜型、看检测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先确认紫外灯已关，开着不能靠近</a:t>
            </a:r>
          </a:p>
          <a:p>
            <a:pPr>
              <a:spcAft>
                <a:spcPts val="1000"/>
              </a:spcAft>
            </a:pPr>
            <a:r>
              <a:rPr sz="2000">
                <a:solidFill>
                  <a:srgbClr val="222B33"/>
                </a:solidFill>
                <a:latin typeface="Microsoft YaHei"/>
              </a:rPr>
              <a:t>▪ 看铭牌认柜型，不清楚就问负责人</a:t>
            </a:r>
          </a:p>
          <a:p>
            <a:pPr>
              <a:spcAft>
                <a:spcPts val="1000"/>
              </a:spcAft>
            </a:pPr>
            <a:r>
              <a:rPr sz="2000">
                <a:solidFill>
                  <a:srgbClr val="222B33"/>
                </a:solidFill>
                <a:latin typeface="Microsoft YaHei"/>
              </a:rPr>
              <a:t>▪ 检测标签在有效期内才能用</a:t>
            </a:r>
          </a:p>
          <a:p>
            <a:pPr>
              <a:spcAft>
                <a:spcPts val="1000"/>
              </a:spcAft>
            </a:pPr>
            <a:r>
              <a:rPr sz="2000">
                <a:solidFill>
                  <a:srgbClr val="222B33"/>
                </a:solidFill>
                <a:latin typeface="Microsoft YaHei"/>
              </a:rPr>
              <a:t>▪ 手套式柜先查手套有无破损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开柜第一步：确认紫外灯已经关闭。紫外线伤眼睛和皮肤，紫外灯开着时人不能靠近操作；紫外灯只是辅助消毒手段，不能代替擦拭消毒（见第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紫外灯开着就开始操作</a:t>
            </a:r>
          </a:p>
          <a:p>
            <a:pPr>
              <a:spcAft>
                <a:spcPts val="1000"/>
              </a:spcAft>
            </a:pPr>
            <a:r>
              <a:rPr sz="1500">
                <a:solidFill>
                  <a:srgbClr val="222B33"/>
                </a:solidFill>
                <a:latin typeface="Microsoft YaHei"/>
              </a:rPr>
              <a:t>▪ 不看检测标签，过期照用</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开风机、前窗到位、空转几分钟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打开照明和风机，报警开关要开</a:t>
            </a:r>
          </a:p>
          <a:p>
            <a:pPr>
              <a:spcAft>
                <a:spcPts val="1000"/>
              </a:spcAft>
            </a:pPr>
            <a:r>
              <a:rPr sz="2000">
                <a:solidFill>
                  <a:srgbClr val="222B33"/>
                </a:solidFill>
                <a:latin typeface="Microsoft YaHei"/>
              </a:rPr>
              <a:t>▪ 前窗拉到柜上标明的高度</a:t>
            </a:r>
          </a:p>
          <a:p>
            <a:pPr>
              <a:spcAft>
                <a:spcPts val="1000"/>
              </a:spcAft>
            </a:pPr>
            <a:r>
              <a:rPr sz="2000">
                <a:solidFill>
                  <a:srgbClr val="222B33"/>
                </a:solidFill>
                <a:latin typeface="Microsoft YaHei"/>
              </a:rPr>
              <a:t>▪ 排液阀要关好</a:t>
            </a:r>
          </a:p>
          <a:p>
            <a:pPr>
              <a:spcAft>
                <a:spcPts val="1000"/>
              </a:spcAft>
            </a:pPr>
            <a:r>
              <a:rPr sz="2000">
                <a:solidFill>
                  <a:srgbClr val="222B33"/>
                </a:solidFill>
                <a:latin typeface="Microsoft YaHei"/>
              </a:rPr>
              <a:t>▪ 开机先空转几分钟，无报警再用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打开照明灯和风机，确认前窗报警开关处于打开状态。把前窗拉到柜上标明的工作高度（以柜上标记和说明书为准），拉得太高报警就会响。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关闭报警开关嫌吵</a:t>
            </a:r>
          </a:p>
          <a:p>
            <a:pPr>
              <a:spcAft>
                <a:spcPts val="1000"/>
              </a:spcAft>
            </a:pPr>
            <a:r>
              <a:rPr sz="1500">
                <a:solidFill>
                  <a:srgbClr val="222B33"/>
                </a:solidFill>
                <a:latin typeface="Microsoft YaHei"/>
              </a:rPr>
              <a:t>▪ 刚开风机就开始操作</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前窗高度：太低起湍流，太高会外逸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前窗高度是关键，按柜上标记</a:t>
            </a:r>
          </a:p>
          <a:p>
            <a:pPr>
              <a:spcAft>
                <a:spcPts val="1000"/>
              </a:spcAft>
            </a:pPr>
            <a:r>
              <a:rPr sz="2000">
                <a:solidFill>
                  <a:srgbClr val="222B33"/>
                </a:solidFill>
                <a:latin typeface="Microsoft YaHei"/>
              </a:rPr>
              <a:t>▪ 检测就是按这个高度做的</a:t>
            </a:r>
          </a:p>
          <a:p>
            <a:pPr>
              <a:spcAft>
                <a:spcPts val="1000"/>
              </a:spcAft>
            </a:pPr>
            <a:r>
              <a:rPr sz="2000">
                <a:solidFill>
                  <a:srgbClr val="222B33"/>
                </a:solidFill>
                <a:latin typeface="Microsoft YaHei"/>
              </a:rPr>
              <a:t>▪ 太低：开口风太急，起湍流</a:t>
            </a:r>
          </a:p>
          <a:p>
            <a:pPr>
              <a:spcAft>
                <a:spcPts val="1000"/>
              </a:spcAft>
            </a:pPr>
            <a:r>
              <a:rPr sz="2000">
                <a:solidFill>
                  <a:srgbClr val="222B33"/>
                </a:solidFill>
                <a:latin typeface="Microsoft YaHei"/>
              </a:rPr>
              <a:t>▪ 太高：报警，柜内空气外逸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前窗高度是安全使用的关键之一。正确的工作高度写在说明书里，柜上也要标明；检测认证就是在这个高度下进行的，偏离了这个高度，检测结论就不再适用。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为了看得清、操作方便把前窗抬高</a:t>
            </a:r>
          </a:p>
          <a:p>
            <a:pPr>
              <a:spcAft>
                <a:spcPts val="1000"/>
              </a:spcAft>
            </a:pPr>
            <a:r>
              <a:rPr sz="1500">
                <a:solidFill>
                  <a:srgbClr val="222B33"/>
                </a:solidFill>
                <a:latin typeface="Microsoft YaHei"/>
              </a:rPr>
              <a:t>▪ 报警响了继续操作</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读压差、看气流往里吸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有压差表的，读数记下与上次比</a:t>
            </a:r>
          </a:p>
          <a:p>
            <a:pPr>
              <a:spcAft>
                <a:spcPts val="1000"/>
              </a:spcAft>
            </a:pPr>
            <a:r>
              <a:rPr sz="2000">
                <a:solidFill>
                  <a:srgbClr val="222B33"/>
                </a:solidFill>
                <a:latin typeface="Microsoft YaHei"/>
              </a:rPr>
              <a:t>▪ 慢慢变是积尘，突变要警惕</a:t>
            </a:r>
          </a:p>
          <a:p>
            <a:pPr>
              <a:spcAft>
                <a:spcPts val="1000"/>
              </a:spcAft>
            </a:pPr>
            <a:r>
              <a:rPr sz="2000">
                <a:solidFill>
                  <a:srgbClr val="222B33"/>
                </a:solidFill>
                <a:latin typeface="Microsoft YaHei"/>
              </a:rPr>
              <a:t>▪ 读数为零，立即停用并报告</a:t>
            </a:r>
          </a:p>
          <a:p>
            <a:pPr>
              <a:spcAft>
                <a:spcPts val="1000"/>
              </a:spcAft>
            </a:pPr>
            <a:r>
              <a:rPr sz="2000">
                <a:solidFill>
                  <a:srgbClr val="222B33"/>
                </a:solidFill>
                <a:latin typeface="Microsoft YaHei"/>
              </a:rPr>
              <a:t>▪ 纸条往里飘，说明气流向内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只开机不看读数，不做记录</a:t>
            </a:r>
          </a:p>
          <a:p>
            <a:pPr>
              <a:spcAft>
                <a:spcPts val="1000"/>
              </a:spcAft>
            </a:pPr>
            <a:r>
              <a:rPr sz="1500">
                <a:solidFill>
                  <a:srgbClr val="222B33"/>
                </a:solidFill>
                <a:latin typeface="Microsoft YaHei"/>
              </a:rPr>
              <a:t>▪ 压差异常仍然使用</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用前擦拭消毒：湿巾擦，不喷雾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用规程指定、对病原有效的消毒剂</a:t>
            </a:r>
          </a:p>
          <a:p>
            <a:pPr>
              <a:spcAft>
                <a:spcPts val="1000"/>
              </a:spcAft>
            </a:pPr>
            <a:r>
              <a:rPr sz="2000">
                <a:solidFill>
                  <a:srgbClr val="222B33"/>
                </a:solidFill>
                <a:latin typeface="Microsoft YaHei"/>
              </a:rPr>
              <a:t>▪ 侧壁、后壁、前窗内侧，最后台面</a:t>
            </a:r>
          </a:p>
          <a:p>
            <a:pPr>
              <a:spcAft>
                <a:spcPts val="1000"/>
              </a:spcAft>
            </a:pPr>
            <a:r>
              <a:rPr sz="2000">
                <a:solidFill>
                  <a:srgbClr val="222B33"/>
                </a:solidFill>
                <a:latin typeface="Microsoft YaHei"/>
              </a:rPr>
              <a:t>▪ 不在柜内喷雾，作用时间要够</a:t>
            </a:r>
          </a:p>
          <a:p>
            <a:pPr>
              <a:spcAft>
                <a:spcPts val="1000"/>
              </a:spcAft>
            </a:pPr>
            <a:r>
              <a:rPr sz="2000">
                <a:solidFill>
                  <a:srgbClr val="222B33"/>
                </a:solidFill>
                <a:latin typeface="Microsoft YaHei"/>
              </a:rPr>
              <a:t>▪ 头不伸进柜，含氯的要擦去残留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空转够时间后，把消毒用品放进柜内。消毒剂要用规程指定、对所操作病原确实有效的种类，按规定浓度和作用时间使用（见第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对着柜内大面积喷洒消毒剂</a:t>
            </a:r>
          </a:p>
          <a:p>
            <a:pPr>
              <a:spcAft>
                <a:spcPts val="1000"/>
              </a:spcAft>
            </a:pPr>
            <a:r>
              <a:rPr sz="1500">
                <a:solidFill>
                  <a:srgbClr val="222B33"/>
                </a:solidFill>
                <a:latin typeface="Microsoft YaHei"/>
              </a:rPr>
              <a:t>▪ 探头进柜擦后壁</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穿戴防护，按规程铺吸水垫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去污、准备、检查做完再开工</a:t>
            </a:r>
          </a:p>
          <a:p>
            <a:pPr>
              <a:spcAft>
                <a:spcPts val="1000"/>
              </a:spcAft>
            </a:pPr>
            <a:r>
              <a:rPr sz="2000">
                <a:solidFill>
                  <a:srgbClr val="222B33"/>
                </a:solidFill>
                <a:latin typeface="Microsoft YaHei"/>
              </a:rPr>
              <a:t>▪ 防护用品按风险评估，与工作匹配</a:t>
            </a:r>
          </a:p>
          <a:p>
            <a:pPr>
              <a:spcAft>
                <a:spcPts val="1000"/>
              </a:spcAft>
            </a:pPr>
            <a:r>
              <a:rPr sz="2000">
                <a:solidFill>
                  <a:srgbClr val="222B33"/>
                </a:solidFill>
                <a:latin typeface="Microsoft YaHei"/>
              </a:rPr>
              <a:t>▪ 吸水垫按规程铺，绝不盖住格栅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柜子去污、准备、检查都做完，才可以开始操作。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吸水垫铺满整个台面压住格栅</a:t>
            </a:r>
          </a:p>
          <a:p>
            <a:pPr>
              <a:spcAft>
                <a:spcPts val="1000"/>
              </a:spcAft>
            </a:pPr>
            <a:r>
              <a:rPr sz="1500">
                <a:solidFill>
                  <a:srgbClr val="222B33"/>
                </a:solidFill>
                <a:latin typeface="Microsoft YaHei"/>
              </a:rPr>
              <a:t>▪ 防护用品不按评估要求穿戴</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物品擦净后一次放齐，只放必需品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物品外表面先擦，一件擦一件放</a:t>
            </a:r>
          </a:p>
          <a:p>
            <a:pPr>
              <a:spcAft>
                <a:spcPts val="1000"/>
              </a:spcAft>
            </a:pPr>
            <a:r>
              <a:rPr sz="2000">
                <a:solidFill>
                  <a:srgbClr val="222B33"/>
                </a:solidFill>
                <a:latin typeface="Microsoft YaHei"/>
              </a:rPr>
              <a:t>▪ 一次放齐，减少中途进出</a:t>
            </a:r>
          </a:p>
          <a:p>
            <a:pPr>
              <a:spcAft>
                <a:spcPts val="1000"/>
              </a:spcAft>
            </a:pPr>
            <a:r>
              <a:rPr sz="2000">
                <a:solidFill>
                  <a:srgbClr val="222B33"/>
                </a:solidFill>
                <a:latin typeface="Microsoft YaHei"/>
              </a:rPr>
              <a:t>▪ 废物袋、锐器盒按柜选大小，先放好</a:t>
            </a:r>
          </a:p>
          <a:p>
            <a:pPr>
              <a:spcAft>
                <a:spcPts val="1000"/>
              </a:spcAft>
            </a:pPr>
            <a:r>
              <a:rPr sz="2000">
                <a:solidFill>
                  <a:srgbClr val="222B33"/>
                </a:solidFill>
                <a:latin typeface="Microsoft YaHei"/>
              </a:rPr>
              <a:t>▪ 柜子不是储物柜，只放这次要用的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物品放进柜子前，外表面先用消毒剂擦一遍，一件一件擦、一件一件放，少把外面的污染带进柜里。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长期在柜内存放试剂和耗材</a:t>
            </a:r>
          </a:p>
          <a:p>
            <a:pPr>
              <a:spcAft>
                <a:spcPts val="1000"/>
              </a:spcAft>
            </a:pPr>
            <a:r>
              <a:rPr sz="1500">
                <a:solidFill>
                  <a:srgbClr val="222B33"/>
                </a:solidFill>
                <a:latin typeface="Microsoft YaHei"/>
              </a:rPr>
              <a:t>▪ 开工后才想起放锐器盒</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由洁到污摆放，顺着惯用手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清洁区、操作区、污染区依次排开</a:t>
            </a:r>
          </a:p>
          <a:p>
            <a:pPr>
              <a:spcAft>
                <a:spcPts val="1000"/>
              </a:spcAft>
            </a:pPr>
            <a:r>
              <a:rPr sz="2000">
                <a:solidFill>
                  <a:srgbClr val="222B33"/>
                </a:solidFill>
                <a:latin typeface="Microsoft YaHei"/>
              </a:rPr>
              <a:t>▪ 物品从洁往污单向走</a:t>
            </a:r>
          </a:p>
          <a:p>
            <a:pPr>
              <a:spcAft>
                <a:spcPts val="1000"/>
              </a:spcAft>
            </a:pPr>
            <a:r>
              <a:rPr sz="2000">
                <a:solidFill>
                  <a:srgbClr val="222B33"/>
                </a:solidFill>
                <a:latin typeface="Microsoft YaHei"/>
              </a:rPr>
              <a:t>▪ 惯用左手的，左右对调</a:t>
            </a:r>
          </a:p>
          <a:p>
            <a:pPr>
              <a:spcAft>
                <a:spcPts val="1000"/>
              </a:spcAft>
            </a:pPr>
            <a:r>
              <a:rPr sz="2000">
                <a:solidFill>
                  <a:srgbClr val="222B33"/>
                </a:solidFill>
                <a:latin typeface="Microsoft YaHei"/>
              </a:rPr>
              <a:t>▪ 手不来回交叉，污染就少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柜内物品按由洁到污的原则摆放：清洁物品（如吸头、无菌试剂）放一侧，中间是操作区，废物袋和锐器盒放另一侧，物品和操作都从洁往污单向推进。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废物袋放在清洁物品旁边</a:t>
            </a:r>
          </a:p>
          <a:p>
            <a:pPr>
              <a:spcAft>
                <a:spcPts val="1000"/>
              </a:spcAft>
            </a:pPr>
            <a:r>
              <a:rPr sz="1500">
                <a:solidFill>
                  <a:srgbClr val="222B33"/>
                </a:solidFill>
                <a:latin typeface="Microsoft YaHei"/>
              </a:rPr>
              <a:t>▪ 拿着用过的吸头从样品上方跨过</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前后格栅保持畅通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前后格栅是气流的进出口</a:t>
            </a:r>
          </a:p>
          <a:p>
            <a:pPr>
              <a:spcAft>
                <a:spcPts val="1000"/>
              </a:spcAft>
            </a:pPr>
            <a:r>
              <a:rPr sz="2000">
                <a:solidFill>
                  <a:srgbClr val="222B33"/>
                </a:solidFill>
                <a:latin typeface="Microsoft YaHei"/>
              </a:rPr>
              <a:t>▪ 纸巾、管子、记录本别压格栅</a:t>
            </a:r>
          </a:p>
          <a:p>
            <a:pPr>
              <a:spcAft>
                <a:spcPts val="1000"/>
              </a:spcAft>
            </a:pPr>
            <a:r>
              <a:rPr sz="2000">
                <a:solidFill>
                  <a:srgbClr val="222B33"/>
                </a:solidFill>
                <a:latin typeface="Microsoft YaHei"/>
              </a:rPr>
              <a:t>▪ 物品往里放，别贴住后格栅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前格栅和后格栅是柜内气流的进出口，与下降气流一起形成保护气幕。压住格栅，气流就会乱窜，防护失效。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把记录本放在前格栅上</a:t>
            </a:r>
          </a:p>
          <a:p>
            <a:pPr>
              <a:spcAft>
                <a:spcPts val="1000"/>
              </a:spcAft>
            </a:pPr>
            <a:r>
              <a:rPr sz="1500">
                <a:solidFill>
                  <a:srgbClr val="222B33"/>
                </a:solidFill>
                <a:latin typeface="Microsoft YaHei"/>
              </a:rPr>
              <a:t>▪ 物品紧贴后壁堵住后格栅</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坐姿：调椅子、肘直角，一次一人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坐着操作，一个柜子一次一人</a:t>
            </a:r>
          </a:p>
          <a:p>
            <a:pPr>
              <a:spcAft>
                <a:spcPts val="1000"/>
              </a:spcAft>
            </a:pPr>
            <a:r>
              <a:rPr sz="2000">
                <a:solidFill>
                  <a:srgbClr val="222B33"/>
                </a:solidFill>
                <a:latin typeface="Microsoft YaHei"/>
              </a:rPr>
              <a:t>▪ 脸在玻璃后，腋窝与前窗下沿齐平</a:t>
            </a:r>
          </a:p>
          <a:p>
            <a:pPr>
              <a:spcAft>
                <a:spcPts val="1000"/>
              </a:spcAft>
            </a:pPr>
            <a:r>
              <a:rPr sz="2000">
                <a:solidFill>
                  <a:srgbClr val="222B33"/>
                </a:solidFill>
                <a:latin typeface="Microsoft YaHei"/>
              </a:rPr>
              <a:t>▪ 肘部约成直角，用扶手和脚踏</a:t>
            </a:r>
          </a:p>
          <a:p>
            <a:pPr>
              <a:spcAft>
                <a:spcPts val="1000"/>
              </a:spcAft>
            </a:pPr>
            <a:r>
              <a:rPr sz="2000">
                <a:solidFill>
                  <a:srgbClr val="222B33"/>
                </a:solidFill>
                <a:latin typeface="Microsoft YaHei"/>
              </a:rPr>
              <a:t>▪ 确需两人，用宽柜并书面评估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在生物安全柜里要坐着操作，一个柜子一次只一人操作；确需两人同时操作，要用足够宽的柜子并做书面风险评估。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站着弯腰、探头操作</a:t>
            </a:r>
          </a:p>
          <a:p>
            <a:pPr>
              <a:spcAft>
                <a:spcPts val="1000"/>
              </a:spcAft>
            </a:pPr>
            <a:r>
              <a:rPr sz="1500">
                <a:solidFill>
                  <a:srgbClr val="222B33"/>
                </a:solidFill>
                <a:latin typeface="Microsoft YaHei"/>
              </a:rPr>
              <a:t>▪ 两人挤在一个窄柜前同时操作</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在下降气流区里操作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下降气流罩着的地方才受保护</a:t>
            </a:r>
          </a:p>
          <a:p>
            <a:pPr>
              <a:spcAft>
                <a:spcPts val="1000"/>
              </a:spcAft>
            </a:pPr>
            <a:r>
              <a:rPr sz="2000">
                <a:solidFill>
                  <a:srgbClr val="222B33"/>
                </a:solidFill>
                <a:latin typeface="Microsoft YaHei"/>
              </a:rPr>
              <a:t>▪ 在柜内中后部操作</a:t>
            </a:r>
          </a:p>
          <a:p>
            <a:pPr>
              <a:spcAft>
                <a:spcPts val="1000"/>
              </a:spcAft>
            </a:pPr>
            <a:r>
              <a:rPr sz="2000">
                <a:solidFill>
                  <a:srgbClr val="222B33"/>
                </a:solidFill>
                <a:latin typeface="Microsoft YaHei"/>
              </a:rPr>
              <a:t>▪ 别贴着前窗口干活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柜内有一股从上往下的洁净下降气流，被它罩住的区域才受保护。操作要在这块区域里进行，一般在台面中后部，离前格栅留出一段距离。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在前格栅上方操作</a:t>
            </a:r>
          </a:p>
          <a:p>
            <a:pPr>
              <a:spcAft>
                <a:spcPts val="1000"/>
              </a:spcAft>
            </a:pPr>
            <a:r>
              <a:rPr sz="1500">
                <a:solidFill>
                  <a:srgbClr val="222B33"/>
                </a:solidFill>
                <a:latin typeface="Microsoft YaHei"/>
              </a:rPr>
              <a:t>▪ 把样品放在前窗口附近方便拿取</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气幕很脆弱：手臂慢进慢出，旁人别靠近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气幕很薄，一个小动作就能打破</a:t>
            </a:r>
          </a:p>
          <a:p>
            <a:pPr>
              <a:spcAft>
                <a:spcPts val="1000"/>
              </a:spcAft>
            </a:pPr>
            <a:r>
              <a:rPr sz="2000">
                <a:solidFill>
                  <a:srgbClr val="222B33"/>
                </a:solidFill>
                <a:latin typeface="Microsoft YaHei"/>
              </a:rPr>
              <a:t>▪ 手臂猛抽会把柜内空气带出</a:t>
            </a:r>
          </a:p>
          <a:p>
            <a:pPr>
              <a:spcAft>
                <a:spcPts val="1000"/>
              </a:spcAft>
            </a:pPr>
            <a:r>
              <a:rPr sz="2000">
                <a:solidFill>
                  <a:srgbClr val="222B33"/>
                </a:solidFill>
                <a:latin typeface="Microsoft YaHei"/>
              </a:rPr>
              <a:t>▪ 少进出，手臂慢慢直进直出</a:t>
            </a:r>
          </a:p>
          <a:p>
            <a:pPr>
              <a:spcAft>
                <a:spcPts val="1000"/>
              </a:spcAft>
            </a:pPr>
            <a:r>
              <a:rPr sz="2000">
                <a:solidFill>
                  <a:srgbClr val="222B33"/>
                </a:solidFill>
                <a:latin typeface="Microsoft YaHei"/>
              </a:rPr>
              <a:t>▪ 有人操作时，旁人别靠近、别穿行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即使前窗高度正确，前窗处的气幕也很脆弱：开口处的风速比人慢慢走路还慢，一个小动作就能把它打破。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手臂快速进出取东西</a:t>
            </a:r>
          </a:p>
          <a:p>
            <a:pPr>
              <a:spcAft>
                <a:spcPts val="1000"/>
              </a:spcAft>
            </a:pPr>
            <a:r>
              <a:rPr sz="1500">
                <a:solidFill>
                  <a:srgbClr val="222B33"/>
                </a:solidFill>
                <a:latin typeface="Microsoft YaHei"/>
              </a:rPr>
              <a:t>▪ 在别人操作时从背后快步走过</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产生气溶胶的操作都进柜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移液、振荡、离心、开盖都产生气溶胶</a:t>
            </a:r>
          </a:p>
          <a:p>
            <a:pPr>
              <a:spcAft>
                <a:spcPts val="1000"/>
              </a:spcAft>
            </a:pPr>
            <a:r>
              <a:rPr sz="2000">
                <a:solidFill>
                  <a:srgbClr val="222B33"/>
                </a:solidFill>
                <a:latin typeface="Microsoft YaHei"/>
              </a:rPr>
              <a:t>▪ 感染性材料的这些操作在柜里做</a:t>
            </a:r>
          </a:p>
          <a:p>
            <a:pPr>
              <a:spcAft>
                <a:spcPts val="1000"/>
              </a:spcAft>
            </a:pPr>
            <a:r>
              <a:rPr sz="2000">
                <a:solidFill>
                  <a:srgbClr val="222B33"/>
                </a:solidFill>
                <a:latin typeface="Microsoft YaHei"/>
              </a:rPr>
              <a:t>▪ 霉菌孢子会飘：封口培养，柜内开盖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常规操作都会产生看不见的气溶胶：移液、吹打、振荡混匀、离心后开盖、打开培养容器等。处理感染性材料时，这些操作都要放进生物安全柜，柜内气流把飞沫挡在里面；在开放台面上图省事，飞沫会飘满房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在开放台面上打开培养物</a:t>
            </a:r>
          </a:p>
          <a:p>
            <a:pPr>
              <a:spcAft>
                <a:spcPts val="1000"/>
              </a:spcAft>
            </a:pPr>
            <a:r>
              <a:rPr sz="1500">
                <a:solidFill>
                  <a:srgbClr val="222B33"/>
                </a:solidFill>
                <a:latin typeface="Microsoft YaHei"/>
              </a:rPr>
              <a:t>▪ 凑近闻平板气味判断菌种</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操作一气呵成，轻柔防气溶胶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操作一气呵成，飞溅和失误就少</a:t>
            </a:r>
          </a:p>
          <a:p>
            <a:pPr>
              <a:spcAft>
                <a:spcPts val="1000"/>
              </a:spcAft>
            </a:pPr>
            <a:r>
              <a:rPr sz="2000">
                <a:solidFill>
                  <a:srgbClr val="222B33"/>
                </a:solidFill>
                <a:latin typeface="Microsoft YaHei"/>
              </a:rPr>
              <a:t>▪ 用带滤芯吸头，贴壁慢放，不吹打</a:t>
            </a:r>
          </a:p>
          <a:p>
            <a:pPr>
              <a:spcAft>
                <a:spcPts val="1000"/>
              </a:spcAft>
            </a:pPr>
            <a:r>
              <a:rPr sz="2000">
                <a:solidFill>
                  <a:srgbClr val="222B33"/>
                </a:solidFill>
                <a:latin typeface="Microsoft YaHei"/>
              </a:rPr>
              <a:t>▪ 混匀、离心后静置片刻再开盖</a:t>
            </a:r>
          </a:p>
          <a:p>
            <a:pPr>
              <a:spcAft>
                <a:spcPts val="1000"/>
              </a:spcAft>
            </a:pPr>
            <a:r>
              <a:rPr sz="2000">
                <a:solidFill>
                  <a:srgbClr val="222B33"/>
                </a:solidFill>
                <a:latin typeface="Microsoft YaHei"/>
              </a:rPr>
              <a:t>▪ 用过的吸头直接丢进柜内废物容器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柜内操作要一气呵成：取移液器、装上吸头、调好体积，从样品管中吸取，轻轻加到对应的管或孔里，用完的吸头直接丢进柜内废物容器。动作顺，飞溅和失误就少。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用力吹打产生大量气泡</a:t>
            </a:r>
          </a:p>
          <a:p>
            <a:pPr>
              <a:spcAft>
                <a:spcPts val="1000"/>
              </a:spcAft>
            </a:pPr>
            <a:r>
              <a:rPr sz="1500">
                <a:solidFill>
                  <a:srgbClr val="222B33"/>
                </a:solidFill>
                <a:latin typeface="Microsoft YaHei"/>
              </a:rPr>
              <a:t>▪ 用过的吸头拿出柜外再丢</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柜内不用明火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柜里不点酒精灯，不用任何明火</a:t>
            </a:r>
          </a:p>
          <a:p>
            <a:pPr>
              <a:spcAft>
                <a:spcPts val="1000"/>
              </a:spcAft>
            </a:pPr>
            <a:r>
              <a:rPr sz="2000">
                <a:solidFill>
                  <a:srgbClr val="222B33"/>
                </a:solidFill>
                <a:latin typeface="Microsoft YaHei"/>
              </a:rPr>
              <a:t>▪ 热气打乱气流，还会烤坏过滤器</a:t>
            </a:r>
          </a:p>
          <a:p>
            <a:pPr>
              <a:spcAft>
                <a:spcPts val="1000"/>
              </a:spcAft>
            </a:pPr>
            <a:r>
              <a:rPr sz="2000">
                <a:solidFill>
                  <a:srgbClr val="222B33"/>
                </a:solidFill>
                <a:latin typeface="Microsoft YaHei"/>
              </a:rPr>
              <a:t>▪ 台面喷过乙醇，遇火更易起火</a:t>
            </a:r>
          </a:p>
          <a:p>
            <a:pPr>
              <a:spcAft>
                <a:spcPts val="1000"/>
              </a:spcAft>
            </a:pPr>
            <a:r>
              <a:rPr sz="2000">
                <a:solidFill>
                  <a:srgbClr val="222B33"/>
                </a:solidFill>
                <a:latin typeface="Microsoft YaHei"/>
              </a:rPr>
              <a:t>▪ 改用一次性接种环或电热灭菌器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生物安全柜内不能使用酒精灯等明火。火焰产生的热气流往上冲，会冲破保护气幕、打乱下降气流；还可能引起火灾、烤坏柜顶的高效过滤器。柜内常用乙醇擦拭台面，喷过乙醇的台面遇火更容易起火。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习惯性在柜内点酒精灯灼烧接种环</a:t>
            </a:r>
          </a:p>
          <a:p>
            <a:pPr>
              <a:spcAft>
                <a:spcPts val="1000"/>
              </a:spcAft>
            </a:pPr>
            <a:r>
              <a:rPr sz="1500">
                <a:solidFill>
                  <a:srgbClr val="222B33"/>
                </a:solidFill>
                <a:latin typeface="Microsoft YaHei"/>
              </a:rPr>
              <a:t>▪ 乙醇瓶敞口放在柜内</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离心机和大仪器进柜前先评估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离心机别进柜，风扇会搅乱气流</a:t>
            </a:r>
          </a:p>
          <a:p>
            <a:pPr>
              <a:spcAft>
                <a:spcPts val="1000"/>
              </a:spcAft>
            </a:pPr>
            <a:r>
              <a:rPr sz="2000">
                <a:solidFill>
                  <a:srgbClr val="222B33"/>
                </a:solidFill>
                <a:latin typeface="Microsoft YaHei"/>
              </a:rPr>
              <a:t>▪ 离心在柜外，按规程密封进行</a:t>
            </a:r>
          </a:p>
          <a:p>
            <a:pPr>
              <a:spcAft>
                <a:spcPts val="1000"/>
              </a:spcAft>
            </a:pPr>
            <a:r>
              <a:rPr sz="2000">
                <a:solidFill>
                  <a:srgbClr val="222B33"/>
                </a:solidFill>
                <a:latin typeface="Microsoft YaHei"/>
              </a:rPr>
              <a:t>▪ 大仪器进柜先评估，必要时测气流</a:t>
            </a:r>
          </a:p>
          <a:p>
            <a:pPr>
              <a:spcAft>
                <a:spcPts val="1000"/>
              </a:spcAft>
            </a:pPr>
            <a:r>
              <a:rPr sz="2000">
                <a:solidFill>
                  <a:srgbClr val="222B33"/>
                </a:solidFill>
                <a:latin typeface="Microsoft YaHei"/>
              </a:rPr>
              <a:t>▪ 靠后靠边放，电线不压格栅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离心机不要放进柜内运行，它的电机散热风扇会搅乱柜内气流。离心放在柜外，按规程使用密封离心管和密封转子（或安全杯），在柜内装卸（离心机安全见第 121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把小型离心机放进柜内运行</a:t>
            </a:r>
          </a:p>
          <a:p>
            <a:pPr>
              <a:spcAft>
                <a:spcPts val="1000"/>
              </a:spcAft>
            </a:pPr>
            <a:r>
              <a:rPr sz="1500">
                <a:solidFill>
                  <a:srgbClr val="222B33"/>
                </a:solidFill>
                <a:latin typeface="Microsoft YaHei"/>
              </a:rPr>
              <a:t>▪ 电线压在前格栅上</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真空吸液管路要保护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真空吸液管路要装高效过滤器</a:t>
            </a:r>
          </a:p>
          <a:p>
            <a:pPr>
              <a:spcAft>
                <a:spcPts val="1000"/>
              </a:spcAft>
            </a:pPr>
            <a:r>
              <a:rPr sz="2000">
                <a:solidFill>
                  <a:srgbClr val="222B33"/>
                </a:solidFill>
                <a:latin typeface="Microsoft YaHei"/>
              </a:rPr>
              <a:t>▪ 配收集瓶，防止液体倒吸</a:t>
            </a:r>
          </a:p>
          <a:p>
            <a:pPr>
              <a:spcAft>
                <a:spcPts val="1000"/>
              </a:spcAft>
            </a:pPr>
            <a:r>
              <a:rPr sz="2000">
                <a:solidFill>
                  <a:srgbClr val="222B33"/>
                </a:solidFill>
                <a:latin typeface="Microsoft YaHei"/>
              </a:rPr>
              <a:t>▪ 不用的管口要盖上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在柜内用真空管路吸弃液体时，要保护好真空系统：管路上装在线高效过滤器，并配废液收集瓶（瓶内按规程加消毒剂），防止感染性液体和气溶胶进入真空系统。不用的真空管口要盖上。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真空管路不装过滤器</a:t>
            </a:r>
          </a:p>
          <a:p>
            <a:pPr>
              <a:spcAft>
                <a:spcPts val="1000"/>
              </a:spcAft>
            </a:pPr>
            <a:r>
              <a:rPr sz="1500">
                <a:solidFill>
                  <a:srgbClr val="222B33"/>
                </a:solidFill>
                <a:latin typeface="Microsoft YaHei"/>
              </a:rPr>
              <a:t>▪ 收集瓶装满了还继续吸</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中途离开和报警时怎么办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中途离开：盖好容器，风机别关，挂牌</a:t>
            </a:r>
          </a:p>
          <a:p>
            <a:pPr>
              <a:spcAft>
                <a:spcPts val="1000"/>
              </a:spcAft>
            </a:pPr>
            <a:r>
              <a:rPr sz="2000">
                <a:solidFill>
                  <a:srgbClr val="222B33"/>
                </a:solidFill>
                <a:latin typeface="Microsoft YaHei"/>
              </a:rPr>
              <a:t>▪ 报警、停转、停电，立即停下</a:t>
            </a:r>
          </a:p>
          <a:p>
            <a:pPr>
              <a:spcAft>
                <a:spcPts val="1000"/>
              </a:spcAft>
            </a:pPr>
            <a:r>
              <a:rPr sz="2000">
                <a:solidFill>
                  <a:srgbClr val="222B33"/>
                </a:solidFill>
                <a:latin typeface="Microsoft YaHei"/>
              </a:rPr>
              <a:t>▪ 盖好容器，慢抽手，关前窗，挂牌停用</a:t>
            </a:r>
          </a:p>
          <a:p>
            <a:pPr>
              <a:spcAft>
                <a:spcPts val="1000"/>
              </a:spcAft>
            </a:pPr>
            <a:r>
              <a:rPr sz="2000">
                <a:solidFill>
                  <a:srgbClr val="222B33"/>
                </a:solidFill>
                <a:latin typeface="Microsoft YaHei"/>
              </a:rPr>
              <a:t>▪ 报告负责人，请专业人员检修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操作中途需要离开时，先盖好所有容器、把物品放稳，双手慢慢撤出，按规程脱手套；风机不要关，挂牌提示别人勿动。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报警时继续把实验做完</a:t>
            </a:r>
          </a:p>
          <a:p>
            <a:pPr>
              <a:spcAft>
                <a:spcPts val="1000"/>
              </a:spcAft>
            </a:pPr>
            <a:r>
              <a:rPr sz="1500">
                <a:solidFill>
                  <a:srgbClr val="222B33"/>
                </a:solidFill>
                <a:latin typeface="Microsoft YaHei"/>
              </a:rPr>
              <a:t>▪ 中途离开关掉风机，容器敞口</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生物安全柜开机后，下列做法正确的是：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紫外灯开着时直接开始操作</a:t>
            </a:r>
          </a:p>
          <a:p>
            <a:pPr algn="l"/>
            <a:r>
              <a:rPr sz="1500" b="0">
                <a:solidFill>
                  <a:srgbClr val="222B33"/>
                </a:solidFill>
                <a:latin typeface="Microsoft YaHei"/>
              </a:rPr>
              <a:t>B. 关闭报警开关以免吵闹</a:t>
            </a:r>
          </a:p>
          <a:p>
            <a:pPr algn="l"/>
            <a:r>
              <a:rPr sz="1500" b="0">
                <a:solidFill>
                  <a:srgbClr val="222B33"/>
                </a:solidFill>
                <a:latin typeface="Microsoft YaHei"/>
              </a:rPr>
              <a:t>C. 前窗拉到柜上标明的高度，空转一段时间、确认气流正常后再操作</a:t>
            </a:r>
          </a:p>
          <a:p>
            <a:pPr algn="l"/>
            <a:r>
              <a:rPr sz="1500" b="0">
                <a:solidFill>
                  <a:srgbClr val="222B33"/>
                </a:solidFill>
                <a:latin typeface="Microsoft YaHei"/>
              </a:rPr>
              <a:t>D. 刚开风机就放样品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判断：为了看得更清楚，可以把前窗抬得比标线高一些。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下列关于柜内物品摆放的说法，错误的是：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物品擦拭后一次放齐</a:t>
            </a:r>
          </a:p>
          <a:p>
            <a:pPr algn="l"/>
            <a:r>
              <a:rPr sz="1500" b="0">
                <a:solidFill>
                  <a:srgbClr val="222B33"/>
                </a:solidFill>
                <a:latin typeface="Microsoft YaHei"/>
              </a:rPr>
              <a:t>B. 由洁到污单向摆放</a:t>
            </a:r>
          </a:p>
          <a:p>
            <a:pPr algn="l"/>
            <a:r>
              <a:rPr sz="1500" b="0">
                <a:solidFill>
                  <a:srgbClr val="222B33"/>
                </a:solidFill>
                <a:latin typeface="Microsoft YaHei"/>
              </a:rPr>
              <a:t>C. 记录本放在前格栅上方便看</a:t>
            </a:r>
          </a:p>
          <a:p>
            <a:pPr algn="l"/>
            <a:r>
              <a:rPr sz="1500" b="0">
                <a:solidFill>
                  <a:srgbClr val="222B33"/>
                </a:solidFill>
                <a:latin typeface="Microsoft YaHei"/>
              </a:rPr>
              <a:t>D. 物品往里放但不挡后格栅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判断：在生物安全柜内可以点酒精灯灼烧接种环。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操作中生物安全柜突然报警，应该：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抓紧把实验做完</a:t>
            </a:r>
          </a:p>
          <a:p>
            <a:pPr algn="l"/>
            <a:r>
              <a:rPr sz="1500" b="0">
                <a:solidFill>
                  <a:srgbClr val="222B33"/>
                </a:solidFill>
                <a:latin typeface="Microsoft YaHei"/>
              </a:rPr>
              <a:t>B. 立即停止，盖好容器，慢慢抽手，关前窗，挂牌停用并报告负责人</a:t>
            </a:r>
          </a:p>
          <a:p>
            <a:pPr algn="l"/>
            <a:r>
              <a:rPr sz="1500" b="0">
                <a:solidFill>
                  <a:srgbClr val="222B33"/>
                </a:solidFill>
                <a:latin typeface="Microsoft YaHei"/>
              </a:rPr>
              <a:t>C. 关掉报警继续用</a:t>
            </a:r>
          </a:p>
          <a:p>
            <a:pPr algn="l"/>
            <a:r>
              <a:rPr sz="1500" b="0">
                <a:solidFill>
                  <a:srgbClr val="222B33"/>
                </a:solidFill>
                <a:latin typeface="Microsoft YaHei"/>
              </a:rPr>
              <a:t>D. 打开前窗通风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简答：哪些因素会打乱生物安全柜的气流？</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好设备也要照规程用</a:t>
            </a:r>
          </a:p>
          <a:p>
            <a:pPr>
              <a:spcAft>
                <a:spcPts val="800"/>
              </a:spcAft>
            </a:pPr>
            <a:r>
              <a:rPr sz="1500">
                <a:solidFill>
                  <a:srgbClr val="FFFFFF"/>
                </a:solidFill>
                <a:latin typeface="Microsoft YaHei"/>
              </a:rPr>
              <a:t>▪ K2  安装位置：避开门口和送风口</a:t>
            </a:r>
          </a:p>
          <a:p>
            <a:pPr>
              <a:spcAft>
                <a:spcPts val="800"/>
              </a:spcAft>
            </a:pPr>
            <a:r>
              <a:rPr sz="1500">
                <a:solidFill>
                  <a:srgbClr val="FFFFFF"/>
                </a:solidFill>
                <a:latin typeface="Microsoft YaHei"/>
              </a:rPr>
              <a:t>▪ K3  留足时间，备齐物品</a:t>
            </a:r>
          </a:p>
          <a:p>
            <a:pPr>
              <a:spcAft>
                <a:spcPts val="800"/>
              </a:spcAft>
            </a:pPr>
            <a:r>
              <a:rPr sz="1500">
                <a:solidFill>
                  <a:srgbClr val="FFFFFF"/>
                </a:solidFill>
                <a:latin typeface="Microsoft YaHei"/>
              </a:rPr>
              <a:t>▪ K4  开机前：关紫外灯、认柜型、看检测</a:t>
            </a:r>
          </a:p>
          <a:p>
            <a:pPr>
              <a:spcAft>
                <a:spcPts val="800"/>
              </a:spcAft>
            </a:pPr>
            <a:r>
              <a:rPr sz="1500">
                <a:solidFill>
                  <a:srgbClr val="FFFFFF"/>
                </a:solidFill>
                <a:latin typeface="Microsoft YaHei"/>
              </a:rPr>
              <a:t>▪ K5  开风机、前窗到位、空转几分钟</a:t>
            </a:r>
          </a:p>
          <a:p>
            <a:pPr>
              <a:spcAft>
                <a:spcPts val="800"/>
              </a:spcAft>
            </a:pPr>
            <a:r>
              <a:rPr sz="1500">
                <a:solidFill>
                  <a:srgbClr val="FFFFFF"/>
                </a:solidFill>
                <a:latin typeface="Microsoft YaHei"/>
              </a:rPr>
              <a:t>▪ K6  前窗高度：太低起湍流，太高会外逸</a:t>
            </a:r>
          </a:p>
          <a:p>
            <a:pPr>
              <a:spcAft>
                <a:spcPts val="800"/>
              </a:spcAft>
            </a:pPr>
            <a:r>
              <a:rPr sz="1500">
                <a:solidFill>
                  <a:srgbClr val="FFFFFF"/>
                </a:solidFill>
                <a:latin typeface="Microsoft YaHei"/>
              </a:rPr>
              <a:t>▪ K7  读压差、看气流往里吸</a:t>
            </a:r>
          </a:p>
          <a:p>
            <a:pPr>
              <a:spcAft>
                <a:spcPts val="800"/>
              </a:spcAft>
            </a:pPr>
            <a:r>
              <a:rPr sz="1500">
                <a:solidFill>
                  <a:srgbClr val="FFFFFF"/>
                </a:solidFill>
                <a:latin typeface="Microsoft YaHei"/>
              </a:rPr>
              <a:t>▪ K8  用前擦拭消毒：湿巾擦，不喷雾</a:t>
            </a:r>
          </a:p>
          <a:p>
            <a:pPr>
              <a:spcAft>
                <a:spcPts val="800"/>
              </a:spcAft>
            </a:pPr>
            <a:r>
              <a:rPr sz="1500">
                <a:solidFill>
                  <a:srgbClr val="FFFFFF"/>
                </a:solidFill>
                <a:latin typeface="Microsoft YaHei"/>
              </a:rPr>
              <a:t>▪ K9  穿戴防护，按规程铺吸水垫</a:t>
            </a:r>
          </a:p>
          <a:p>
            <a:pPr>
              <a:spcAft>
                <a:spcPts val="800"/>
              </a:spcAft>
            </a:pPr>
            <a:r>
              <a:rPr sz="1500">
                <a:solidFill>
                  <a:srgbClr val="FFFFFF"/>
                </a:solidFill>
                <a:latin typeface="Microsoft YaHei"/>
              </a:rPr>
              <a:t>▪ K10  物品擦净后一次放齐，只放必需品</a:t>
            </a:r>
          </a:p>
          <a:p>
            <a:pPr>
              <a:spcAft>
                <a:spcPts val="800"/>
              </a:spcAft>
            </a:pPr>
            <a:r>
              <a:rPr sz="1500">
                <a:solidFill>
                  <a:srgbClr val="FFFFFF"/>
                </a:solidFill>
                <a:latin typeface="Microsoft YaHei"/>
              </a:rPr>
              <a:t>▪ K11  由洁到污摆放，顺着惯用手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前后格栅保持畅通</a:t>
            </a:r>
          </a:p>
          <a:p>
            <a:pPr>
              <a:spcAft>
                <a:spcPts val="800"/>
              </a:spcAft>
            </a:pPr>
            <a:r>
              <a:rPr sz="1500">
                <a:solidFill>
                  <a:srgbClr val="FFFFFF"/>
                </a:solidFill>
                <a:latin typeface="Microsoft YaHei"/>
              </a:rPr>
              <a:t>▪ K13  坐姿：调椅子、肘直角，一次一人</a:t>
            </a:r>
          </a:p>
          <a:p>
            <a:pPr>
              <a:spcAft>
                <a:spcPts val="800"/>
              </a:spcAft>
            </a:pPr>
            <a:r>
              <a:rPr sz="1500">
                <a:solidFill>
                  <a:srgbClr val="FFFFFF"/>
                </a:solidFill>
                <a:latin typeface="Microsoft YaHei"/>
              </a:rPr>
              <a:t>▪ K14  在下降气流区里操作</a:t>
            </a:r>
          </a:p>
          <a:p>
            <a:pPr>
              <a:spcAft>
                <a:spcPts val="800"/>
              </a:spcAft>
            </a:pPr>
            <a:r>
              <a:rPr sz="1500">
                <a:solidFill>
                  <a:srgbClr val="FFFFFF"/>
                </a:solidFill>
                <a:latin typeface="Microsoft YaHei"/>
              </a:rPr>
              <a:t>▪ K15  气幕很脆弱：手臂慢进慢出，旁人别靠近</a:t>
            </a:r>
          </a:p>
          <a:p>
            <a:pPr>
              <a:spcAft>
                <a:spcPts val="800"/>
              </a:spcAft>
            </a:pPr>
            <a:r>
              <a:rPr sz="1500">
                <a:solidFill>
                  <a:srgbClr val="FFFFFF"/>
                </a:solidFill>
                <a:latin typeface="Microsoft YaHei"/>
              </a:rPr>
              <a:t>▪ K16  产生气溶胶的操作都进柜</a:t>
            </a:r>
          </a:p>
          <a:p>
            <a:pPr>
              <a:spcAft>
                <a:spcPts val="800"/>
              </a:spcAft>
            </a:pPr>
            <a:r>
              <a:rPr sz="1500">
                <a:solidFill>
                  <a:srgbClr val="FFFFFF"/>
                </a:solidFill>
                <a:latin typeface="Microsoft YaHei"/>
              </a:rPr>
              <a:t>▪ K17  操作一气呵成，轻柔防气溶胶</a:t>
            </a:r>
          </a:p>
          <a:p>
            <a:pPr>
              <a:spcAft>
                <a:spcPts val="800"/>
              </a:spcAft>
            </a:pPr>
            <a:r>
              <a:rPr sz="1500">
                <a:solidFill>
                  <a:srgbClr val="FFFFFF"/>
                </a:solidFill>
                <a:latin typeface="Microsoft YaHei"/>
              </a:rPr>
              <a:t>▪ K18  柜内不用明火</a:t>
            </a:r>
          </a:p>
          <a:p>
            <a:pPr>
              <a:spcAft>
                <a:spcPts val="800"/>
              </a:spcAft>
            </a:pPr>
            <a:r>
              <a:rPr sz="1500">
                <a:solidFill>
                  <a:srgbClr val="FFFFFF"/>
                </a:solidFill>
                <a:latin typeface="Microsoft YaHei"/>
              </a:rPr>
              <a:t>▪ K19  离心机和大仪器进柜前先评估</a:t>
            </a:r>
          </a:p>
          <a:p>
            <a:pPr>
              <a:spcAft>
                <a:spcPts val="800"/>
              </a:spcAft>
            </a:pPr>
            <a:r>
              <a:rPr sz="1500">
                <a:solidFill>
                  <a:srgbClr val="FFFFFF"/>
                </a:solidFill>
                <a:latin typeface="Microsoft YaHei"/>
              </a:rPr>
              <a:t>▪ K20  真空吸液管路要保护</a:t>
            </a:r>
          </a:p>
          <a:p>
            <a:pPr>
              <a:spcAft>
                <a:spcPts val="800"/>
              </a:spcAft>
            </a:pPr>
            <a:r>
              <a:rPr sz="1500">
                <a:solidFill>
                  <a:srgbClr val="FFFFFF"/>
                </a:solidFill>
                <a:latin typeface="Microsoft YaHei"/>
              </a:rPr>
              <a:t>▪ K21  中途离开和报警时怎么办</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生物安全柜的清洁与废物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适用对象：使用生物安全柜的生命科学、医学、农学、环境等专业高校本科生、研究生和教职工（必修，与第 072 课一起在上机操作前完成）；实验室负责人和设备管理人员重点学习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能做到工作结束后风机不关、盖好容器、物品由轻到重擦拭消毒，样品外表去污或装二级容器出柜，吸水垫向内折叠丢弃，柜内表面再擦一遍。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能做到柜内废物双层装袋：不超过四分之三封口、内袋拧紧扎牢补消毒、外袋包住再扎，外表消毒、换手套后移出柜外送灭菌。</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能判断袋子破损渗漏时在柜内加套处置、不拿出柜外，并报告记录。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能说出收尾关机顺序、使用登记，以及生物安全柜新装、移位后和定期检测认证、过期停用的要求。</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《病原微生物实验室生物安全管理条例》（以现行文本为准）：实验室制定并执行标准操作规程，实验活动产生的废物按规定处置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生物安全通用要求》：设备去污染、废物处置程序，生物安全柜的检测与维护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233（以现行文本为准）《病原微生物实验室生物安全通用准则》：生物安全柜使用、实验室消毒和废物处置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生物安全柜》等生物安全柜现行国家/行业标准：安装、移位后和定期的现场检测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《医疗废物管理条例》（以现行文本为准）：感染性废物分类收集、包装、交接登记，由有资质单位集中处置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号，以现行文本为准）：仪器设备使用记录、维护保养和实验废物管理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本校生物安全柜使用管理规定和本实验室生物安全柜、废物处置标准操作规程（以本校规定为准）</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收尾也要照规程：风机一直开着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工作结束，物品和柜子都要去污</a:t>
            </a:r>
          </a:p>
          <a:p>
            <a:pPr>
              <a:spcAft>
                <a:spcPts val="1000"/>
              </a:spcAft>
            </a:pPr>
            <a:r>
              <a:rPr sz="2000">
                <a:solidFill>
                  <a:srgbClr val="222B33"/>
                </a:solidFill>
                <a:latin typeface="Microsoft YaHei"/>
              </a:rPr>
              <a:t>▪ 清理全过程风机一直开着</a:t>
            </a:r>
          </a:p>
          <a:p>
            <a:pPr>
              <a:spcAft>
                <a:spcPts val="1000"/>
              </a:spcAft>
            </a:pPr>
            <a:r>
              <a:rPr sz="2000">
                <a:solidFill>
                  <a:srgbClr val="222B33"/>
                </a:solidFill>
                <a:latin typeface="Microsoft YaHei"/>
              </a:rPr>
              <a:t>▪ 气流在，防护才在，别急着关</a:t>
            </a:r>
          </a:p>
          <a:p>
            <a:pPr>
              <a:spcAft>
                <a:spcPts val="1000"/>
              </a:spcAft>
            </a:pPr>
            <a:r>
              <a:rPr sz="2000">
                <a:solidFill>
                  <a:srgbClr val="222B33"/>
                </a:solidFill>
                <a:latin typeface="Microsoft YaHei"/>
              </a:rPr>
              <a:t>▪ 废物、去污、溢洒都写进规程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在生物安全柜里做完实验并不等于结束：柜里的物品要去污，柜子本身也要去污，收尾和开工一样要照规程来。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做完实验先关风机再收拾</a:t>
            </a:r>
          </a:p>
          <a:p>
            <a:pPr>
              <a:spcAft>
                <a:spcPts val="1000"/>
              </a:spcAft>
            </a:pPr>
            <a:r>
              <a:rPr sz="1500">
                <a:solidFill>
                  <a:srgbClr val="222B33"/>
                </a:solidFill>
                <a:latin typeface="Microsoft YaHei"/>
              </a:rPr>
              <a:t>▪ 收尾凭习惯，没有规程</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盖好容器，物品由轻到重消毒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第一步：所有容器都盖好</a:t>
            </a:r>
          </a:p>
          <a:p>
            <a:pPr>
              <a:spcAft>
                <a:spcPts val="1000"/>
              </a:spcAft>
            </a:pPr>
            <a:r>
              <a:rPr sz="2000">
                <a:solidFill>
                  <a:srgbClr val="222B33"/>
                </a:solidFill>
                <a:latin typeface="Microsoft YaHei"/>
              </a:rPr>
              <a:t>▪ 用开工时同一种指定消毒剂</a:t>
            </a:r>
          </a:p>
          <a:p>
            <a:pPr>
              <a:spcAft>
                <a:spcPts val="1000"/>
              </a:spcAft>
            </a:pPr>
            <a:r>
              <a:rPr sz="2000">
                <a:solidFill>
                  <a:srgbClr val="222B33"/>
                </a:solidFill>
                <a:latin typeface="Microsoft YaHei"/>
              </a:rPr>
              <a:t>▪ 从污染最轻的物品擦起，由轻到重</a:t>
            </a:r>
          </a:p>
          <a:p>
            <a:pPr>
              <a:spcAft>
                <a:spcPts val="1000"/>
              </a:spcAft>
            </a:pPr>
            <a:r>
              <a:rPr sz="2000">
                <a:solidFill>
                  <a:srgbClr val="222B33"/>
                </a:solidFill>
                <a:latin typeface="Microsoft YaHei"/>
              </a:rPr>
              <a:t>▪ 保持湿润够时间，再擦干放清洁侧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收尾第一步：把所有样品管、培养皿、试剂瓶等容器盖好、拧紧。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容器没盖好就开始擦拭</a:t>
            </a:r>
          </a:p>
          <a:p>
            <a:pPr>
              <a:spcAft>
                <a:spcPts val="1000"/>
              </a:spcAft>
            </a:pPr>
            <a:r>
              <a:rPr sz="1500">
                <a:solidFill>
                  <a:srgbClr val="222B33"/>
                </a:solidFill>
                <a:latin typeface="Microsoft YaHei"/>
              </a:rPr>
              <a:t>▪ 擦一下马上擦干，作用时间不够</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样品出柜：外表去污或装二级容器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样品出柜前外表面要去污</a:t>
            </a:r>
          </a:p>
          <a:p>
            <a:pPr>
              <a:spcAft>
                <a:spcPts val="1000"/>
              </a:spcAft>
            </a:pPr>
            <a:r>
              <a:rPr sz="2000">
                <a:solidFill>
                  <a:srgbClr val="222B33"/>
                </a:solidFill>
                <a:latin typeface="Microsoft YaHei"/>
              </a:rPr>
              <a:t>▪ 或装进外表去污过的二级容器</a:t>
            </a:r>
          </a:p>
          <a:p>
            <a:pPr>
              <a:spcAft>
                <a:spcPts val="1000"/>
              </a:spcAft>
            </a:pPr>
            <a:r>
              <a:rPr sz="2000">
                <a:solidFill>
                  <a:srgbClr val="222B33"/>
                </a:solidFill>
                <a:latin typeface="Microsoft YaHei"/>
              </a:rPr>
              <a:t>▪ 其余要拿出的东西移到推车上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样品要拿出生物安全柜时，容器外表面必须先去污；也可以把样品放进带盖、外表面已去污的二级容器（如密封盒）里再拿出，转运途中万一破损，液体也不会漏出来（样品转运见第 080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样品管外表不擦直接拿出柜外</a:t>
            </a:r>
          </a:p>
          <a:p>
            <a:pPr>
              <a:spcAft>
                <a:spcPts val="1000"/>
              </a:spcAft>
            </a:pPr>
            <a:r>
              <a:rPr sz="1500">
                <a:solidFill>
                  <a:srgbClr val="222B33"/>
                </a:solidFill>
                <a:latin typeface="Microsoft YaHei"/>
              </a:rPr>
              <a:t>▪ 用敞口的盒子转运样品</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吸水垫向内折，柜内表面再擦一遍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吸水垫抓外角向内折，脏面朝里</a:t>
            </a:r>
          </a:p>
          <a:p>
            <a:pPr>
              <a:spcAft>
                <a:spcPts val="1000"/>
              </a:spcAft>
            </a:pPr>
            <a:r>
              <a:rPr sz="2000">
                <a:solidFill>
                  <a:srgbClr val="222B33"/>
                </a:solidFill>
                <a:latin typeface="Microsoft YaHei"/>
              </a:rPr>
              <a:t>▪ 折好丢进柜内废物袋</a:t>
            </a:r>
          </a:p>
          <a:p>
            <a:pPr>
              <a:spcAft>
                <a:spcPts val="1000"/>
              </a:spcAft>
            </a:pPr>
            <a:r>
              <a:rPr sz="2000">
                <a:solidFill>
                  <a:srgbClr val="222B33"/>
                </a:solidFill>
                <a:latin typeface="Microsoft YaHei"/>
              </a:rPr>
              <a:t>▪ 清空后侧壁、后壁、前窗内侧都擦</a:t>
            </a:r>
          </a:p>
          <a:p>
            <a:pPr>
              <a:spcAft>
                <a:spcPts val="1000"/>
              </a:spcAft>
            </a:pPr>
            <a:r>
              <a:rPr sz="2000">
                <a:solidFill>
                  <a:srgbClr val="222B33"/>
                </a:solidFill>
                <a:latin typeface="Microsoft YaHei"/>
              </a:rPr>
              <a:t>▪ 用湿巾擦，不在柜内喷雾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用过的吸水垫，抓住外侧的角向内折叠，把污染的一面包在里面，再丢进柜内的废物袋，避免抖动扬起污染。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把吸水垫抖开或团成一团塞进袋</a:t>
            </a:r>
          </a:p>
          <a:p>
            <a:pPr>
              <a:spcAft>
                <a:spcPts val="1000"/>
              </a:spcAft>
            </a:pPr>
            <a:r>
              <a:rPr sz="1500">
                <a:solidFill>
                  <a:srgbClr val="222B33"/>
                </a:solidFill>
                <a:latin typeface="Microsoft YaHei"/>
              </a:rPr>
              <a:t>▪ 只擦台面，不擦侧壁和前窗内侧</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柜内废物容器：开工前备好，吸头当锐器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收尾从开工就开始：桶套两层袋</a:t>
            </a:r>
          </a:p>
          <a:p>
            <a:pPr>
              <a:spcAft>
                <a:spcPts val="1000"/>
              </a:spcAft>
            </a:pPr>
            <a:r>
              <a:rPr sz="2000">
                <a:solidFill>
                  <a:srgbClr val="222B33"/>
                </a:solidFill>
                <a:latin typeface="Microsoft YaHei"/>
              </a:rPr>
              <a:t>▪ 用过的吸头也按锐器对待</a:t>
            </a:r>
          </a:p>
          <a:p>
            <a:pPr>
              <a:spcAft>
                <a:spcPts val="1000"/>
              </a:spcAft>
            </a:pPr>
            <a:r>
              <a:rPr sz="2000">
                <a:solidFill>
                  <a:srgbClr val="222B33"/>
                </a:solidFill>
                <a:latin typeface="Microsoft YaHei"/>
              </a:rPr>
              <a:t>▪ 按规程容器里可先加消毒液</a:t>
            </a:r>
          </a:p>
          <a:p>
            <a:pPr>
              <a:spcAft>
                <a:spcPts val="1000"/>
              </a:spcAft>
            </a:pPr>
            <a:r>
              <a:rPr sz="2000">
                <a:solidFill>
                  <a:srgbClr val="222B33"/>
                </a:solidFill>
                <a:latin typeface="Microsoft YaHei"/>
              </a:rPr>
              <a:t>▪ 乙醇易挥发易燃，不宜当浸泡液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废物处理从开工前就开始了：柜内废物桶（或废物容器）先套好两层耐高压的生物危害废物袋，消毒剂放在手边。柜内产生的废物都放进这只套袋容器里，先消毒再按规定带出处置。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开工后才找废物袋</a:t>
            </a:r>
          </a:p>
          <a:p>
            <a:pPr>
              <a:spcAft>
                <a:spcPts val="1000"/>
              </a:spcAft>
            </a:pPr>
            <a:r>
              <a:rPr sz="1500">
                <a:solidFill>
                  <a:srgbClr val="222B33"/>
                </a:solidFill>
                <a:latin typeface="Microsoft YaHei"/>
              </a:rPr>
              <a:t>▪ 用过的吸头随手放在台面上</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不超过四分之三就封口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废物装到四分之三前就封口</a:t>
            </a:r>
          </a:p>
          <a:p>
            <a:pPr>
              <a:spcAft>
                <a:spcPts val="1000"/>
              </a:spcAft>
            </a:pPr>
            <a:r>
              <a:rPr sz="2000">
                <a:solidFill>
                  <a:srgbClr val="222B33"/>
                </a:solidFill>
                <a:latin typeface="Microsoft YaHei"/>
              </a:rPr>
              <a:t>▪ 别装满，更别用手往下压</a:t>
            </a:r>
          </a:p>
          <a:p>
            <a:pPr>
              <a:spcAft>
                <a:spcPts val="1000"/>
              </a:spcAft>
            </a:pPr>
            <a:r>
              <a:rPr sz="2000">
                <a:solidFill>
                  <a:srgbClr val="222B33"/>
                </a:solidFill>
                <a:latin typeface="Microsoft YaHei"/>
              </a:rPr>
              <a:t>▪ 封口后盖紧，外表消毒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柜内废物袋（桶）不要装满，装到约四分之三时就要封口（本单位规定更严的从其规定），留出扎口的余量，也避免锐器顶破袋子。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装满冒尖才封口</a:t>
            </a:r>
          </a:p>
          <a:p>
            <a:pPr>
              <a:spcAft>
                <a:spcPts val="1000"/>
              </a:spcAft>
            </a:pPr>
            <a:r>
              <a:rPr sz="1500">
                <a:solidFill>
                  <a:srgbClr val="222B33"/>
                </a:solidFill>
                <a:latin typeface="Microsoft YaHei"/>
              </a:rPr>
              <a:t>▪ 用手压实废物</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废物在柜内装双层袋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废物在柜里装好袋再拿出来</a:t>
            </a:r>
          </a:p>
          <a:p>
            <a:pPr>
              <a:spcAft>
                <a:spcPts val="1000"/>
              </a:spcAft>
            </a:pPr>
            <a:r>
              <a:rPr sz="2000">
                <a:solidFill>
                  <a:srgbClr val="222B33"/>
                </a:solidFill>
                <a:latin typeface="Microsoft YaHei"/>
              </a:rPr>
              <a:t>▪ 两层袋，一层破了还有一层兜着</a:t>
            </a:r>
          </a:p>
          <a:p>
            <a:pPr>
              <a:spcAft>
                <a:spcPts val="1000"/>
              </a:spcAft>
            </a:pPr>
            <a:r>
              <a:rPr sz="2000">
                <a:solidFill>
                  <a:srgbClr val="222B33"/>
                </a:solidFill>
                <a:latin typeface="Microsoft YaHei"/>
              </a:rPr>
              <a:t>▪ 收口前先消毒手套和容器外面</a:t>
            </a:r>
          </a:p>
          <a:p>
            <a:pPr>
              <a:spcAft>
                <a:spcPts val="1000"/>
              </a:spcAft>
            </a:pPr>
            <a:r>
              <a:rPr sz="2000">
                <a:solidFill>
                  <a:srgbClr val="222B33"/>
                </a:solidFill>
                <a:latin typeface="Microsoft YaHei"/>
              </a:rPr>
              <a:t>▪ 收口前往内袋加少量消毒剂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柜内的感染性废物要在柜里装袋、封口后再拿出来：柜内有气流保护，封口时扬起的污染不会外跑。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把敞口废物袋拿出柜外再扎</a:t>
            </a:r>
          </a:p>
          <a:p>
            <a:pPr>
              <a:spcAft>
                <a:spcPts val="1000"/>
              </a:spcAft>
            </a:pPr>
            <a:r>
              <a:rPr sz="1500">
                <a:solidFill>
                  <a:srgbClr val="222B33"/>
                </a:solidFill>
                <a:latin typeface="Microsoft YaHei"/>
              </a:rPr>
              <a:t>▪ 只用一层袋</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内袋扎紧补消毒，外袋包住再扎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内袋口轻轻收拢拧成一股</a:t>
            </a:r>
          </a:p>
          <a:p>
            <a:pPr>
              <a:spcAft>
                <a:spcPts val="1000"/>
              </a:spcAft>
            </a:pPr>
            <a:r>
              <a:rPr sz="2000">
                <a:solidFill>
                  <a:srgbClr val="222B33"/>
                </a:solidFill>
                <a:latin typeface="Microsoft YaHei"/>
              </a:rPr>
              <a:t>▪ 别挤袋子，空气会带出气溶胶</a:t>
            </a:r>
          </a:p>
          <a:p>
            <a:pPr>
              <a:spcAft>
                <a:spcPts val="1000"/>
              </a:spcAft>
            </a:pPr>
            <a:r>
              <a:rPr sz="2000">
                <a:solidFill>
                  <a:srgbClr val="222B33"/>
                </a:solidFill>
                <a:latin typeface="Microsoft YaHei"/>
              </a:rPr>
              <a:t>▪ 扎带扎住再缠胶带，扎口补消毒</a:t>
            </a:r>
          </a:p>
          <a:p>
            <a:pPr>
              <a:spcAft>
                <a:spcPts val="1000"/>
              </a:spcAft>
            </a:pPr>
            <a:r>
              <a:rPr sz="2000">
                <a:solidFill>
                  <a:srgbClr val="222B33"/>
                </a:solidFill>
                <a:latin typeface="Microsoft YaHei"/>
              </a:rPr>
              <a:t>▪ 翻起外袋包住内袋，同样扎紧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封内袋：把内袋口轻轻收拢、提起，拧成一股；不要挤压袋子，也不要把袋里的空气挤出来，否则会把气溶胶带出。用扎带扎住，再缠一道胶带。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用力挤压袋子排气</a:t>
            </a:r>
          </a:p>
          <a:p>
            <a:pPr>
              <a:spcAft>
                <a:spcPts val="1000"/>
              </a:spcAft>
            </a:pPr>
            <a:r>
              <a:rPr sz="1500">
                <a:solidFill>
                  <a:srgbClr val="222B33"/>
                </a:solidFill>
                <a:latin typeface="Microsoft YaHei"/>
              </a:rPr>
              <a:t>▪ 只扎内袋，外袋敞着</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袋子破了：柜内加套，不拿出去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袋子破了渗漏，先停下</a:t>
            </a:r>
          </a:p>
          <a:p>
            <a:pPr>
              <a:spcAft>
                <a:spcPts val="1000"/>
              </a:spcAft>
            </a:pPr>
            <a:r>
              <a:rPr sz="2000">
                <a:solidFill>
                  <a:srgbClr val="222B33"/>
                </a:solidFill>
                <a:latin typeface="Microsoft YaHei"/>
              </a:rPr>
              <a:t>▪ 别拿出柜外，在柜内再套一只新袋</a:t>
            </a:r>
          </a:p>
          <a:p>
            <a:pPr>
              <a:spcAft>
                <a:spcPts val="1000"/>
              </a:spcAft>
            </a:pPr>
            <a:r>
              <a:rPr sz="2000">
                <a:solidFill>
                  <a:srgbClr val="222B33"/>
                </a:solidFill>
                <a:latin typeface="Microsoft YaHei"/>
              </a:rPr>
              <a:t>▪ 漏液盖纸巾加消毒剂，手套脏了就换</a:t>
            </a:r>
          </a:p>
          <a:p>
            <a:pPr>
              <a:spcAft>
                <a:spcPts val="1000"/>
              </a:spcAft>
            </a:pPr>
            <a:r>
              <a:rPr sz="2000">
                <a:solidFill>
                  <a:srgbClr val="222B33"/>
                </a:solidFill>
                <a:latin typeface="Microsoft YaHei"/>
              </a:rPr>
              <a:t>▪ 处理完报告负责人并记录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装袋时发现袋子破了或渗漏，先停下来，不要把它拿出柜外。在柜内外面再套一只新袋，扎紧。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拎着破袋往柜外跑</a:t>
            </a:r>
          </a:p>
          <a:p>
            <a:pPr>
              <a:spcAft>
                <a:spcPts val="1000"/>
              </a:spcAft>
            </a:pPr>
            <a:r>
              <a:rPr sz="1500">
                <a:solidFill>
                  <a:srgbClr val="222B33"/>
                </a:solidFill>
                <a:latin typeface="Microsoft YaHei"/>
              </a:rPr>
              <a:t>▪ 处理完不报告、不记录</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外表消毒、换手套，再移出柜外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双层袋提出，用耐高压的专用袋</a:t>
            </a:r>
          </a:p>
          <a:p>
            <a:pPr>
              <a:spcAft>
                <a:spcPts val="1000"/>
              </a:spcAft>
            </a:pPr>
            <a:r>
              <a:rPr sz="2000">
                <a:solidFill>
                  <a:srgbClr val="222B33"/>
                </a:solidFill>
                <a:latin typeface="Microsoft YaHei"/>
              </a:rPr>
              <a:t>▪ 袋子外面、空桶外壁都消毒</a:t>
            </a:r>
          </a:p>
          <a:p>
            <a:pPr>
              <a:spcAft>
                <a:spcPts val="1000"/>
              </a:spcAft>
            </a:pPr>
            <a:r>
              <a:rPr sz="2000">
                <a:solidFill>
                  <a:srgbClr val="222B33"/>
                </a:solidFill>
                <a:latin typeface="Microsoft YaHei"/>
              </a:rPr>
              <a:t>▪ 柜内脱外层手套，换干净手套</a:t>
            </a:r>
          </a:p>
          <a:p>
            <a:pPr>
              <a:spcAft>
                <a:spcPts val="1000"/>
              </a:spcAft>
            </a:pPr>
            <a:r>
              <a:rPr sz="2000">
                <a:solidFill>
                  <a:srgbClr val="222B33"/>
                </a:solidFill>
                <a:latin typeface="Microsoft YaHei"/>
              </a:rPr>
              <a:t>▪ 放进柜外废物盘，一起移走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把扎好的双层废物袋从桶里提出来；袋子应耐高压灭菌，印有生物危害标志。袋子外表面、用过的废物盘和空桶外壁都擦上消毒剂，等够作用时间再擦干净。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不消毒袋子外表就拿出柜外</a:t>
            </a:r>
          </a:p>
          <a:p>
            <a:pPr>
              <a:spcAft>
                <a:spcPts val="1000"/>
              </a:spcAft>
            </a:pPr>
            <a:r>
              <a:rPr sz="1500">
                <a:solidFill>
                  <a:srgbClr val="222B33"/>
                </a:solidFill>
                <a:latin typeface="Microsoft YaHei"/>
              </a:rPr>
              <a:t>▪ 戴着脏手套拎袋出柜</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送去灭菌：袋口按灭菌规程处理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柜内废物按规程送去灭菌</a:t>
            </a:r>
          </a:p>
          <a:p>
            <a:pPr>
              <a:spcAft>
                <a:spcPts val="1000"/>
              </a:spcAft>
            </a:pPr>
            <a:r>
              <a:rPr sz="2000">
                <a:solidFill>
                  <a:srgbClr val="222B33"/>
                </a:solidFill>
                <a:latin typeface="Microsoft YaHei"/>
              </a:rPr>
              <a:t>▪ 扎得太死，蒸汽进不去可能灭不透</a:t>
            </a:r>
          </a:p>
          <a:p>
            <a:pPr>
              <a:spcAft>
                <a:spcPts val="1000"/>
              </a:spcAft>
            </a:pPr>
            <a:r>
              <a:rPr sz="2000">
                <a:solidFill>
                  <a:srgbClr val="222B33"/>
                </a:solidFill>
                <a:latin typeface="Microsoft YaHei"/>
              </a:rPr>
              <a:t>▪ 加不加水、怎么松口按灭菌规程</a:t>
            </a:r>
          </a:p>
          <a:p>
            <a:pPr>
              <a:spcAft>
                <a:spcPts val="1000"/>
              </a:spcAft>
            </a:pPr>
            <a:r>
              <a:rPr sz="2000">
                <a:solidFill>
                  <a:srgbClr val="222B33"/>
                </a:solidFill>
                <a:latin typeface="Microsoft YaHei"/>
              </a:rPr>
              <a:t>▪ 灭菌后按医疗废物交接处置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扎死的袋子直接灭菌，不按规程处理</a:t>
            </a:r>
          </a:p>
          <a:p>
            <a:pPr>
              <a:spcAft>
                <a:spcPts val="1000"/>
              </a:spcAft>
            </a:pPr>
            <a:r>
              <a:rPr sz="1500">
                <a:solidFill>
                  <a:srgbClr val="222B33"/>
                </a:solidFill>
                <a:latin typeface="Microsoft YaHei"/>
              </a:rPr>
              <a:t>▪ 灭菌后当生活垃圾丢弃</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风机再运行，关灯关窗，签登记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清理完风机再运行一会儿换净空气</a:t>
            </a:r>
          </a:p>
          <a:p>
            <a:pPr>
              <a:spcAft>
                <a:spcPts val="1000"/>
              </a:spcAft>
            </a:pPr>
            <a:r>
              <a:rPr sz="2000">
                <a:solidFill>
                  <a:srgbClr val="222B33"/>
                </a:solidFill>
                <a:latin typeface="Microsoft YaHei"/>
              </a:rPr>
              <a:t>▪ 然后关灯、关风机，最后关前窗</a:t>
            </a:r>
          </a:p>
          <a:p>
            <a:pPr>
              <a:spcAft>
                <a:spcPts val="1000"/>
              </a:spcAft>
            </a:pPr>
            <a:r>
              <a:rPr sz="2000">
                <a:solidFill>
                  <a:srgbClr val="222B33"/>
                </a:solidFill>
                <a:latin typeface="Microsoft YaHei"/>
              </a:rPr>
              <a:t>▪ 风机常开的只关灯，前窗不关</a:t>
            </a:r>
          </a:p>
          <a:p>
            <a:pPr>
              <a:spcAft>
                <a:spcPts val="1000"/>
              </a:spcAft>
            </a:pPr>
            <a:r>
              <a:rPr sz="2000">
                <a:solidFill>
                  <a:srgbClr val="222B33"/>
                </a:solidFill>
                <a:latin typeface="Microsoft YaHei"/>
              </a:rPr>
              <a:t>▪ 紫外灯只作辅助；有登记的要签字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清理完毕，柜里只留必需的东西，不要马上关机：让风机再运行一段时间（按本柜规程），把柜内空气换净。然后关照明、关风机，最后把前窗关好。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擦完立即关风机</a:t>
            </a:r>
          </a:p>
          <a:p>
            <a:pPr>
              <a:spcAft>
                <a:spcPts val="1000"/>
              </a:spcAft>
            </a:pPr>
            <a:r>
              <a:rPr sz="1500">
                <a:solidFill>
                  <a:srgbClr val="222B33"/>
                </a:solidFill>
                <a:latin typeface="Microsoft YaHei"/>
              </a:rPr>
              <a:t>▪ 用紫外灯照射代替擦拭消毒</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定期检测认证，维护职责分明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每台柜子都要定期检测认证</a:t>
            </a:r>
          </a:p>
          <a:p>
            <a:pPr>
              <a:spcAft>
                <a:spcPts val="1000"/>
              </a:spcAft>
            </a:pPr>
            <a:r>
              <a:rPr sz="2000">
                <a:solidFill>
                  <a:srgbClr val="222B33"/>
                </a:solidFill>
                <a:latin typeface="Microsoft YaHei"/>
              </a:rPr>
              <a:t>▪ 新装、搬动后和到期都要检测</a:t>
            </a:r>
          </a:p>
          <a:p>
            <a:pPr>
              <a:spcAft>
                <a:spcPts val="1000"/>
              </a:spcAft>
            </a:pPr>
            <a:r>
              <a:rPr sz="2000">
                <a:solidFill>
                  <a:srgbClr val="222B33"/>
                </a:solidFill>
                <a:latin typeface="Microsoft YaHei"/>
              </a:rPr>
              <a:t>▪ 检测过期的柜子停用</a:t>
            </a:r>
          </a:p>
          <a:p>
            <a:pPr>
              <a:spcAft>
                <a:spcPts val="1000"/>
              </a:spcAft>
            </a:pPr>
            <a:r>
              <a:rPr sz="2000">
                <a:solidFill>
                  <a:srgbClr val="222B33"/>
                </a:solidFill>
                <a:latin typeface="Microsoft YaHei"/>
              </a:rPr>
              <a:t>▪ 维修、换过滤器找专业人员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每台生物安全柜都要按国家标准和本校规定定期检测认证，由有资质的机构进行；新安装的、搬动过的柜子也要先检测合格、贴好标签再用。检测合格标签过期的柜子先停用，报告设备管理人员安排检测。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柜子搬动后不检测直接使用</a:t>
            </a:r>
          </a:p>
          <a:p>
            <a:pPr>
              <a:spcAft>
                <a:spcPts val="1000"/>
              </a:spcAft>
            </a:pPr>
            <a:r>
              <a:rPr sz="1500">
                <a:solidFill>
                  <a:srgbClr val="222B33"/>
                </a:solidFill>
                <a:latin typeface="Microsoft YaHei"/>
              </a:rPr>
              <a:t>▪ 自行拆开柜体更换过滤器</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生物安全柜内工作结束后，下列做法正确的是：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先关风机再收拾</a:t>
            </a:r>
          </a:p>
          <a:p>
            <a:pPr algn="l"/>
            <a:r>
              <a:rPr sz="1500" b="0">
                <a:solidFill>
                  <a:srgbClr val="222B33"/>
                </a:solidFill>
                <a:latin typeface="Microsoft YaHei"/>
              </a:rPr>
              <a:t>B. 风机开着，盖好容器，从污染最轻的物品开始擦拭消毒</a:t>
            </a:r>
          </a:p>
          <a:p>
            <a:pPr algn="l"/>
            <a:r>
              <a:rPr sz="1500" b="0">
                <a:solidFill>
                  <a:srgbClr val="222B33"/>
                </a:solidFill>
                <a:latin typeface="Microsoft YaHei"/>
              </a:rPr>
              <a:t>C. 对着柜内大面积喷雾</a:t>
            </a:r>
          </a:p>
          <a:p>
            <a:pPr algn="l"/>
            <a:r>
              <a:rPr sz="1500" b="0">
                <a:solidFill>
                  <a:srgbClr val="222B33"/>
                </a:solidFill>
                <a:latin typeface="Microsoft YaHei"/>
              </a:rPr>
              <a:t>D. 用紫外灯照射代替擦拭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判断：柜内废物袋装满后用手压实，可以多装一些再封口。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双层装袋时封内袋的正确做法是：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用力挤出袋内空气再扎紧</a:t>
            </a:r>
          </a:p>
          <a:p>
            <a:pPr algn="l"/>
            <a:r>
              <a:rPr sz="1500" b="0">
                <a:solidFill>
                  <a:srgbClr val="222B33"/>
                </a:solidFill>
                <a:latin typeface="Microsoft YaHei"/>
              </a:rPr>
              <a:t>B. 袋口轻轻收拢拧成一股，扎带扎住再缠胶带，扎口补消毒</a:t>
            </a:r>
          </a:p>
          <a:p>
            <a:pPr algn="l"/>
            <a:r>
              <a:rPr sz="1500" b="0">
                <a:solidFill>
                  <a:srgbClr val="222B33"/>
                </a:solidFill>
                <a:latin typeface="Microsoft YaHei"/>
              </a:rPr>
              <a:t>C. 把敞口袋拿出柜外再扎</a:t>
            </a:r>
          </a:p>
          <a:p>
            <a:pPr algn="l"/>
            <a:r>
              <a:rPr sz="1500" b="0">
                <a:solidFill>
                  <a:srgbClr val="222B33"/>
                </a:solidFill>
                <a:latin typeface="Microsoft YaHei"/>
              </a:rPr>
              <a:t>D. 只扎外袋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装袋时发现废物袋破损渗漏，应该：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赶紧拿出柜外</a:t>
            </a:r>
          </a:p>
          <a:p>
            <a:pPr algn="l"/>
            <a:r>
              <a:rPr sz="1500" b="0">
                <a:solidFill>
                  <a:srgbClr val="222B33"/>
                </a:solidFill>
                <a:latin typeface="Microsoft YaHei"/>
              </a:rPr>
              <a:t>B. 停下，在柜内外面再套一只新袋扎紧，漏液盖纸巾加消毒剂，换手套，报告并记录</a:t>
            </a:r>
          </a:p>
          <a:p>
            <a:pPr algn="l"/>
            <a:r>
              <a:rPr sz="1500" b="0">
                <a:solidFill>
                  <a:srgbClr val="222B33"/>
                </a:solidFill>
                <a:latin typeface="Microsoft YaHei"/>
              </a:rPr>
              <a:t>C. 继续装完再说</a:t>
            </a:r>
          </a:p>
          <a:p>
            <a:pPr algn="l"/>
            <a:r>
              <a:rPr sz="1500" b="0">
                <a:solidFill>
                  <a:srgbClr val="222B33"/>
                </a:solidFill>
                <a:latin typeface="Microsoft YaHei"/>
              </a:rPr>
              <a:t>D. 用胶带随便粘一下</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判断：生物安全柜搬动位置后，只要能开机就可以继续使用。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简答：柜内废物袋移出柜外前要做哪些事？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收尾也要照规程：风机一直开着</a:t>
            </a:r>
          </a:p>
          <a:p>
            <a:pPr>
              <a:spcAft>
                <a:spcPts val="800"/>
              </a:spcAft>
            </a:pPr>
            <a:r>
              <a:rPr sz="1500">
                <a:solidFill>
                  <a:srgbClr val="FFFFFF"/>
                </a:solidFill>
                <a:latin typeface="Microsoft YaHei"/>
              </a:rPr>
              <a:t>▪ K2  盖好容器，物品由轻到重消毒</a:t>
            </a:r>
          </a:p>
          <a:p>
            <a:pPr>
              <a:spcAft>
                <a:spcPts val="800"/>
              </a:spcAft>
            </a:pPr>
            <a:r>
              <a:rPr sz="1500">
                <a:solidFill>
                  <a:srgbClr val="FFFFFF"/>
                </a:solidFill>
                <a:latin typeface="Microsoft YaHei"/>
              </a:rPr>
              <a:t>▪ K3  样品出柜：外表去污或装二级容器</a:t>
            </a:r>
          </a:p>
          <a:p>
            <a:pPr>
              <a:spcAft>
                <a:spcPts val="800"/>
              </a:spcAft>
            </a:pPr>
            <a:r>
              <a:rPr sz="1500">
                <a:solidFill>
                  <a:srgbClr val="FFFFFF"/>
                </a:solidFill>
                <a:latin typeface="Microsoft YaHei"/>
              </a:rPr>
              <a:t>▪ K4  吸水垫向内折，柜内表面再擦一遍</a:t>
            </a:r>
          </a:p>
          <a:p>
            <a:pPr>
              <a:spcAft>
                <a:spcPts val="800"/>
              </a:spcAft>
            </a:pPr>
            <a:r>
              <a:rPr sz="1500">
                <a:solidFill>
                  <a:srgbClr val="FFFFFF"/>
                </a:solidFill>
                <a:latin typeface="Microsoft YaHei"/>
              </a:rPr>
              <a:t>▪ K5  柜内废物容器：开工前备好，吸头当锐器</a:t>
            </a:r>
          </a:p>
          <a:p>
            <a:pPr>
              <a:spcAft>
                <a:spcPts val="800"/>
              </a:spcAft>
            </a:pPr>
            <a:r>
              <a:rPr sz="1500">
                <a:solidFill>
                  <a:srgbClr val="FFFFFF"/>
                </a:solidFill>
                <a:latin typeface="Microsoft YaHei"/>
              </a:rPr>
              <a:t>▪ K6  不超过四分之三就封口</a:t>
            </a:r>
          </a:p>
          <a:p>
            <a:pPr>
              <a:spcAft>
                <a:spcPts val="800"/>
              </a:spcAft>
            </a:pPr>
            <a:r>
              <a:rPr sz="1500">
                <a:solidFill>
                  <a:srgbClr val="FFFFFF"/>
                </a:solidFill>
                <a:latin typeface="Microsoft YaHei"/>
              </a:rPr>
              <a:t>▪ K7  废物在柜内装双层袋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内袋扎紧补消毒，外袋包住再扎</a:t>
            </a:r>
          </a:p>
          <a:p>
            <a:pPr>
              <a:spcAft>
                <a:spcPts val="800"/>
              </a:spcAft>
            </a:pPr>
            <a:r>
              <a:rPr sz="1500">
                <a:solidFill>
                  <a:srgbClr val="FFFFFF"/>
                </a:solidFill>
                <a:latin typeface="Microsoft YaHei"/>
              </a:rPr>
              <a:t>▪ K9  袋子破了：柜内加套，不拿出去</a:t>
            </a:r>
          </a:p>
          <a:p>
            <a:pPr>
              <a:spcAft>
                <a:spcPts val="800"/>
              </a:spcAft>
            </a:pPr>
            <a:r>
              <a:rPr sz="1500">
                <a:solidFill>
                  <a:srgbClr val="FFFFFF"/>
                </a:solidFill>
                <a:latin typeface="Microsoft YaHei"/>
              </a:rPr>
              <a:t>▪ K10  外表消毒、换手套，再移出柜外</a:t>
            </a:r>
          </a:p>
          <a:p>
            <a:pPr>
              <a:spcAft>
                <a:spcPts val="800"/>
              </a:spcAft>
            </a:pPr>
            <a:r>
              <a:rPr sz="1500">
                <a:solidFill>
                  <a:srgbClr val="FFFFFF"/>
                </a:solidFill>
                <a:latin typeface="Microsoft YaHei"/>
              </a:rPr>
              <a:t>▪ K11  送去灭菌：袋口按灭菌规程处理</a:t>
            </a:r>
          </a:p>
          <a:p>
            <a:pPr>
              <a:spcAft>
                <a:spcPts val="800"/>
              </a:spcAft>
            </a:pPr>
            <a:r>
              <a:rPr sz="1500">
                <a:solidFill>
                  <a:srgbClr val="FFFFFF"/>
                </a:solidFill>
                <a:latin typeface="Microsoft YaHei"/>
              </a:rPr>
              <a:t>▪ K12  风机再运行，关灯关窗，签登记</a:t>
            </a:r>
          </a:p>
          <a:p>
            <a:pPr>
              <a:spcAft>
                <a:spcPts val="800"/>
              </a:spcAft>
            </a:pPr>
            <a:r>
              <a:rPr sz="1500">
                <a:solidFill>
                  <a:srgbClr val="FFFFFF"/>
                </a:solidFill>
                <a:latin typeface="Microsoft YaHei"/>
              </a:rPr>
              <a:t>▪ K13  定期检测认证，维护职责分明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