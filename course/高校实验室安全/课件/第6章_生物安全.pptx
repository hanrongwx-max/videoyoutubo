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绩效评估，就是记录、测量和评价我们做过的事，目的是把生物风险降下来。它看的是整个体系：不只看病原，还要看人、物和设施。绩效测量不是另外一摊事，而是管理体系的一部分：规程写的和实际做的，都要量。</a:t>
            </a:r>
          </a:p>
          <a:p>
            <a:r>
              <a:t>做法是回头查记录：有没有发生防护失效，有没有事故、事件和未遂事件，日常检查发现了什么；出了事故或险情，就修订规程。绩效评估能看出体系哪里达标、哪里没有，没达标就要问为什么；认证认可时审核员要看这些记录；它还能预防事故、减少损失和开支。</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打个比方：计划十五分钟跑完一公里，实际跑了二十分钟。天气、体能、装备，逐一找出拖后腿的因素。计划和实际之间的差距，就是绩效要看的东西。</a:t>
            </a:r>
          </a:p>
          <a:p>
            <a:r>
              <a:t>实验室可以年初定目标（如事件、事故、溢洒的情况），年底做对比表：事件超了，可能是规程有漏洞，就修订规程、加强培训；目标是零溢洒，实际发生了一次，也要改。每一起事件和事故都要调查。绩效是每个人努力的总和，实际常常达不到计划，而且会变化，要持续用力。</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控制措施加上了，就一定有效吗？要靠绩效来验证：减缓之后再做一次风险评估，确认风险真的降下来了，这一步才算数。剩下的风险能不能接受，要再判断。</a:t>
            </a:r>
          </a:p>
          <a:p>
            <a:r>
              <a:t>风险管理是一个圆圈：收集信息、评价风险、制定策略、落实控制措施、复查，然后再转一圈。绩效评估是 AMP 循环的第三步（见第 065 课），可以用一张表来做：推荐了什么措施？真落实了吗？没有，为什么？有没有记录？再审核、修改措施。整改之后还要看效果；绩效数据也是说服领导投入资源的依据。</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单位的安全方针（政策）表明决心和方向，不讲具体做法，要再分解成职责、目标和步骤，落成具体目标后，再按标准检查有没有做到。</a:t>
            </a:r>
          </a:p>
          <a:p>
            <a:r>
              <a:t>目标是看得见、量得出的结果，比如“实验结束，人员零感染”。具体目标是限时完成的步骤，最典型的就是标准操作规程。目标要符合五个要求：具体、可测量、能实现、合理、有时限；不要定做不到的目标，审核时会被指出来。</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指标要用数字说话，能回答“多少次、多少量”。要定期使用，一直用同一把尺子，才能看出偏离，在出事之前报警。</a:t>
            </a:r>
          </a:p>
          <a:p>
            <a:r>
              <a:t>常用的生物安全绩效指标：事件报告（发生多少、什么原因），险兆（未遂）事件（差一点出事的也算），培训（该学的人是否都学完），演练有没有做（记录就是证据），防护用品配备，检查的频次和范围，做法是否符合现行标准规范。挑指标时，要量什么就选什么，不图省事；尽量能量化，并覆盖实验室、学院、学校各个层级。</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分两类。先行指标衡量过程、文化、行为和屏障（如培训完成、检查执行、规范操作的比例、设备检测按期完成），事先定好，为安全工作指方向。滞后指标衡量事件、事故、险兆和整改情况，都是事后才看得到的。</a:t>
            </a:r>
          </a:p>
          <a:p>
            <a:r>
              <a:t>只在出事后才分析就太晚了。要多观察日常行为，提前发现苗头，多听同行的经验和教训，把先行指标和滞后指标结合起来看。</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好指标由相关人员一起商量出来，具有相关、客观、及时、成本合理的特点，能指导整改，带来改进机会。</a:t>
            </a:r>
          </a:p>
          <a:p>
            <a:r>
              <a:t>指标要审慎使用：度量标准由生物安全委员会等事先定好，数据要呈现得让人看得懂。评价体系本身也要定期检查：指标还相关吗？要不要换新的？照搬别处的指标未必合用。不能为了“指标好看”而少报、瞒报事件。</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测量是改进的第一步：量出来才看得懂，看得懂才控制得住，才谈得上改进；测量要用合适的工具。一个流程可以分成输入、步骤、输出，比如检测样本，每一步都记下来。</a:t>
            </a:r>
          </a:p>
          <a:p>
            <a:r>
              <a:t>设计评估前先把问题想清楚，问四个问题：步骤做得到吗？步骤对不对？结果达标吗？量的东西对吗？方法上可以发问卷，也可以到现场跟看。生物安全绩效的常用来源：一看事件和事故报告，找规律；二看人员健康监测（如按规定留存本底血清，见第 069 课）；三是现场观察，审核操作。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专心做完。</a:t>
            </a:r>
          </a:p>
          <a:p>
            <a:r>
              <a:t>使用监控收集数据，要事先告知相关人员；录像只用于安全管理，不外传，按规定保管，保护个人信息。</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某检测实验室的目标是降低人员感染风险，采取的措施包括上岗前体检、防护规程和项目结束后的复查。结果五名人员中有一人检测阳性——计划和实际出现了差距。</a:t>
            </a:r>
          </a:p>
          <a:p>
            <a:r>
              <a:t>这时要问：规程合适吗？是规程本身有缺陷，还是执行出了问题？哪里出了漏洞？要做事故分析，查根本原因，采取纠正措施，并按规定报告和对相关人员进行医学评估（事故调查见第 162 课，暴露处置见第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审核和评价就是“复查”这一步，看写的和做的是否一致、措施是否落实、是否达到预期目标。内部审核由本单位按计划组织，对照规程逐项检查；审核员要到实验台旁观察，看哪一步繁琐、哪一步有风险。GB 19489-2008 要求实验室按计划开展内部审核（以现行文本为准）。</a:t>
            </a:r>
          </a:p>
          <a:p>
            <a:r>
              <a:t>学院、学校也会按三级管理定期组织安全检查（见第 005 课）。查到什么，如实记下来；既要找出缺陷和不符合项，也要找改进点，再提出改进办法，发现问题回头改。</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审核看规程有没有照做，检查看设施是否按设计运行，检测看设备参数是否合格。内部审核之外，外部审核更客观。</a:t>
            </a:r>
          </a:p>
          <a:p>
            <a:r>
              <a:t>主管部门依法对实验室进行监督检查，实验室负责人陪同、如实提供资料、配合检查；新建设施要经主管部门检查验收。三级、四级实验室还要通过实验室国家认可，并接受复评和监督评审（见第 064 课）。认可和检查时，审核员会查阅各项记录。</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管理评审由单位或实验室管理层按计划定期进行（例如每年，具体以现行标准和本校规定为准），评审体系是否合适、充分、有效，并寻找下一步改进的机会。</a:t>
            </a:r>
          </a:p>
          <a:p>
            <a:r>
              <a:t>评审要看的材料包括：内部审核和外部检查结果、规程执行情况、风险评估进展、纠正和预防措施、上次评审的跟进、改进建议，以及事故和事件调查。评审后，该改的制度、程序和目标就改。每一步都有记录，评审才有依据。</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发现问题就要采取纠正措施：明确谁来改、怎么改、什么时候改完；改完拍照留证，再复查，问题关闭才算整改到位。持续改进就是把检查和事件的教训写进规程，一圈一圈越做越好（隐患整改见第 005 课）。</a:t>
            </a:r>
          </a:p>
          <a:p>
            <a:r>
              <a:t>外有法规，内有制度；有记录，才能持续改进。最好有专人管理文件和记录。人员、培训、规程、标识、台账等，个人也可以记一本安全笔记，但笔记代替不了正式规程。</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审核和检查看的恰恰是平时。被检查时，照平常一样规范操作，不需要“表演”，也不能临时改变做法。</a:t>
            </a:r>
          </a:p>
          <a:p>
            <a:r>
              <a:t>如果一紧张出错（如手滑、轻微溢洒），先停下，不要硬撑着继续；如实向检查人员和负责人说明，按规程处理（溢洒处置见第 078 课）。检查发现的问题是改进的机会，不是“丢面子”。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答案：B。解析：找出差距和拖后腿的原因，再改进。</a:t>
            </a:r>
          </a:p>
          <a:p>
            <a:r>
              <a:t>第 2 题 答案：C。解析：先行指标看过程、文化、行为和屏障，事先指方向；事件、事故、险兆、整改属于滞后指标。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答案：B。解析：减缓之后要再评估，确认风险真的降下来了。</a:t>
            </a:r>
          </a:p>
          <a:p>
            <a:r>
              <a:t>第 4 题 答案：B。解析：内审对照规程到现场查，外部检查负责人陪同配合，问题如实记录并整改。</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答案：A。解析：被检查时照常规范，出错先停，别硬撑，不掩饰。</a:t>
            </a:r>
          </a:p>
          <a:p>
            <a:r>
              <a:t>第 6 题 答案：明确谁来改、怎么改、何时改完；改完留证据（如照片、记录），经复查确认有效后关闭，并把教训写进规程。解析：整改要闭环。</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这里出发（风险评估的通用方法见第 014 课）。</a:t>
            </a:r>
          </a:p>
          <a:p>
            <a:r>
              <a:t>使用菌种、样本之前，先弄清它从哪里来、是什么、对人有没有危害；来历不明的环境菌不随意使用，来源不清的临床样本风险要往高处估。按评估结果，在规定级别的实验室、用规定的方法操作（防护等级的确定见第 060 课）。</a:t>
            </a:r>
          </a:p>
          <a:p>
            <a:r>
              <a:t>评估之后要实施控制（工程控制加个人防护等），再检查控制效果，发现问题就回到评估，循环改进（管理体系见第 065 课）。</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危害是任何可能造成伤害的东西，生物因子（病原微生物、毒素、感染性样本等）就是潜在的危害。风险则是这种伤害真正发生的可能性及其后果；伤害源是生物因子的，就叫生物风险。</a:t>
            </a:r>
          </a:p>
          <a:p>
            <a:r>
              <a:t>危害本身是“物”，人动手去操作它，危害才变成风险。操作、运输、被盗、容器或封闭屏障破损，都是危害变成风险的途径。所以评估时既要看“这东西有多危险”，也要看“我要拿它做什么”。</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风险是可能性和后果（严重程度）的组合。可能性指防护失效、发生暴露的几率有多大；后果指一旦发生，对人员、公众和环境造成的伤害有多大。两者结合起来，才能看出风险的高低。</a:t>
            </a:r>
          </a:p>
          <a:p>
            <a:r>
              <a:t>举例：样本转运不规范（容器不密封、没有二级包装），发生泄漏的可能性就大，后果是转运人员和沿途的人可能被感染。包装运输的要求见第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就放松防护。</a:t>
            </a:r>
          </a:p>
          <a:p>
            <a:r>
              <a:t>致病的病原关在实验室的封闭条件下，风险很低；一旦因为意外泄漏或被人故意带出、滥用，后果就很严重。因此既要防意外（生物安全），也要防滥用（生物安保，见第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把风险说清楚，可能性和后果都要分级。可能性回答“发生的概率有多大”，可从“很少”到“经常”分级；后果回答“万一发生会怎样”，可从“轻微”（无伤害或轻微不适）到“严重”（严重疾病、扩散到社区或环境）分级。</a:t>
            </a:r>
          </a:p>
          <a:p>
            <a:r>
              <a:t>常见的做法是两边各分三到五级。分几级、每一级怎么判定，以本校风险评估程序为准；同一实验室内应统一标准，评估人员对照同一张表打分，结果才可比。</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把可能性和后果的分级交叉成一张表，就是风险矩阵：可能性低、后果轻的落在绿格，风险最低；可能性大、后果重的落在红格，风险最高；中间是黄格。</a:t>
            </a:r>
          </a:p>
          <a:p>
            <a:r>
              <a:t>把实验中的每个风险点（每个操作步骤）都放进矩阵，哪里风险高一目了然，红格优先处理。风险矩阵的通用用法见第 014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生物材料，风险随操作而变。样本密封冻存在罐里，风险较低；拿出来开盖处理、提取核酸，风险升高；培养活的病原（数量和浓度增加），风险最高。流程一步步往后走，风险一级级升高，一旦释放，后果也越大。</a:t>
            </a:r>
          </a:p>
          <a:p>
            <a:r>
              <a:t>所以评估不能只做一次笼统的结论，提取、扩增、检测、培养等步骤越多，越要逐步评估（逐步打分的方法见第 068 课）。储存也有风险：容器要密封、标签要标清、冷冻柜要上锁，库存要有记录。</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评估有固定的步骤：危害识别、风险分析、风险评价、风险控制、记录、复查。也有资料把它概括为五步（识别、评估、控制、看残余风险、再决策），内容是一致的：先认清危害，再估计风险大小，加控制后看残余风险能否接受，然后决定做不做。</a:t>
            </a:r>
          </a:p>
          <a:p>
            <a:r>
              <a:t>最后一步是复查，走完一遍还要回头再看。评估的结果用于确定防护等级（见第 060 课）和控制措施（见第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第一步是危害识别：先弄清用的是什么生物因子，查《人间传染的病原微生物目录》（以现行版本为准），认出它属于哪一类，再查病原资料拿到依据（要素清单见第 068 课）。注意两套编号：国内病原分类第一类危害最大、第四类最小，国际风险组 1 组最低、4 组最高，方向相反（见第 058 课）。</a:t>
            </a:r>
          </a:p>
          <a:p>
            <a:r>
              <a:t>再列出要做哪些实验活动，用量多少、浓度多高写清楚。看会不会溅、会不会扎，会不会产生气溶胶（离心、振荡、匀浆、超声、吹打等），这是重点。评估要把病原、操作、人员和设施四个方面都看到。</a:t>
            </a:r>
          </a:p>
          <a:p>
            <a:r>
              <a:t>风险评估别只盯着微生物：消毒剂、固定液有化学危害，锐器、高温、紫外灯也会伤人，要一起识别。</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a:p>
            <a:r>
              <a:t>资料不足、来历不清的样本（如未经检测的临床样本、环境样本），风险往高处估。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第三步是风险评价：根据分析结果和风险矩阵，给出总体风险等级——低、中还是高。等级决定要采取多强的控制措施和在哪一级实验室开展。</a:t>
            </a:r>
          </a:p>
          <a:p>
            <a:r>
              <a:t>评价时还要对照现有的控制措施：现有设施、设备、规程和防护够不够把风险控制住。够，就可以接受；不够，就要再加控制。</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第四步是风险控制：按控制层级（见第 017 课）选择措施，用什么设备、穿什么防护、怎么操作。工程控制（合适级别的实验室、生物安全柜、密封离心转子）、个人防护和标准操作规程要一起上。例如离心可能产生气溶胶的样本时，使用密封转子，离心后在生物安全柜内开盖。</a:t>
            </a:r>
          </a:p>
          <a:p>
            <a:r>
              <a:t>生物安全员可以用问卷逐项评估，按控制层级挑合适的措施，把结论和建议讲给实验室负责人和课题组。具体的控制与管理措施见第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采取控制措施后剩下的风险叫残余风险：风险能降下来，但清不了零。把要做的操作一项项列出来，每项单独评估，再合起来看总风险。</a:t>
            </a:r>
          </a:p>
          <a:p>
            <a:r>
              <a:t>残余风险能接受，经实验室负责人批准后才开展，并且要让团队都知道、都认可“我们带着这些风险工作”；不能接受，就再加措施、改方法，或者不做。残余风险较高或拿不准的，报生物安全委员会审议。各实验室情况不同，要按实际评估，不照搬别人的结论。</a:t>
            </a:r>
          </a:p>
          <a:p>
            <a:r>
              <a:t>学生拿不准时，先问导师，不擅自开展。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第五步是记录：把评估的过程、依据、结论和控制措施写成风险评估报告，按本校程序经审核批准后存档备查，新来的人也能查到和学习。书面记录的通用写法见第 015 课。</a:t>
            </a:r>
          </a:p>
          <a:p>
            <a:r>
              <a:t>写下来只是一半，更重要的是把报告里的措施真正落实到每一次操作中。</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第六步是复查：即使没有变化，也要按本校规定定期复查评估报告。遇到以下情况要及时重新评估并更新：更换病原或材料、改变实验方法或流程、人员变化、设施设备变化，以及发生事件或事故之后。</a:t>
            </a:r>
          </a:p>
          <a:p>
            <a:r>
              <a:t>新开展的实验活动，其防护级别要按本校程序报生物安全委员会审批，不自行决定（见第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答案：B。解析：危害是物，风险看可能性和后果，与怎么操作、运输、储存有关。</a:t>
            </a:r>
          </a:p>
          <a:p>
            <a:r>
              <a:t>第 2 题 答案：B。解析：规范操作降的是可能性，后果不一定变轻，防护不能放松。</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答案：B。解析：先认清危害，再分析和评价风险，然后控制、记录，最后定期复查。</a:t>
            </a:r>
          </a:p>
          <a:p>
            <a:r>
              <a:t>第 4 题 答案：D。解析：换病原、换方法、换人换设施、出了事件都要重新评估；没有变化也要定期复查。</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答案：B。解析：残余风险能降不能清零；可接受并经负责人批准才开展，不可接受就加措施或不做。</a:t>
            </a:r>
          </a:p>
          <a:p>
            <a:r>
              <a:t>第 6 题 答案：国内第一类危害最大、第四类最小；国际风险组 1 组最低、4 组最高，方向相反。解析：查目录时不能把两套编号弄混。</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验都要专门评估，不能借用别的实验室的评估报告。</a:t>
            </a:r>
          </a:p>
          <a:p>
            <a:r>
              <a:t>在评估、减缓、绩效的 AMP 循环里（见第 065 课），评估是第一步，首先要做的是找出危害。评估的步骤和风险矩阵见第 067 课，本课讲评估时要逐项考虑的要素。</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风险评估要以已知的病原信息为依据；不知道是什么，风险就看不清。病原还没有确认时，评估要从严，按较高的防护要求操作，并报单位生物安全委员会审核（定级见第 060 课）。</a:t>
            </a:r>
          </a:p>
          <a:p>
            <a:r>
              <a:t>有几类样本要特别从严对待：经过改造的核酸或生物材料、临床（医院）样本、土壤等环境样本、野生动物来源的样本；即使样本来自看起来健康的人或动物，也可能携带病原。这些样本在没有充分信息之前，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风险评估像一座冰山：水面上看得见的风险，能评估、能控制；水面下看不见的风险，同样可能出事，比如一个没人知道的过敏、一种新方法里没有先例的问题。没有先例时，常规的问题清单也可能问不到。</a:t>
            </a:r>
          </a:p>
          <a:p>
            <a:r>
              <a:t>所以评估要尽量全面：查资料、问有经验的人、让动手的人参与，对看不见的风险也尽力预判，并在复查时补充（复查见第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看一串判据，可整理成一张清单，分四块：病原本身（分类、致病性、感染剂量、途径、存活、宿主、防治、是否改造）；实验活动（工艺、用量和浓度、步骤多少、参与人数）；人员（培训、健康和免疫状态）；设施与管理（设备、防护、预案、废物、安保）。</a:t>
            </a:r>
          </a:p>
          <a:p>
            <a:r>
              <a:t>各单位可以参照国家标准、行业标准和本校程序，把清单编成本实验室的评估工具（问卷或表格），照着逐项问一遍，评估就成形了。</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病原层面的第一问是：它属于哪一类？查《人间传染的病原微生物目录》（以现行版本为准），目录还规定了不同实验活动所需的实验室防护级别。</a:t>
            </a:r>
          </a:p>
          <a:p>
            <a:r>
              <a:t>注意两套编号：国内病原微生物分为四类，第一类危害最大、第四类最小；国际风险组 1 组最低、4 组最高，方向相反（见第 058 课）。阅读国外资料时不能把编号直接套用。分类只是起点，还要继续问后面的各项要素。</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一看致病性：暴露后会不会致病，致病性有多强。二看感染剂量：多少量才会引起感染（具体数值查权威资料，不同病原差别很大）；感染剂量越低，越要格外小心。三看暴露后果：引起的疾病有多严重。</a:t>
            </a:r>
          </a:p>
          <a:p>
            <a:r>
              <a:t>培养体积在满足实验需要的前提下尽量小，万一溢洒，量少也更容易控制。</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要查清病原从哪里进入人体：吸入气溶胶、皮肤黏膜接触、锐器刺伤，还是误食入口；会不会形成气溶胶经空气传播。还要看传播方式中有没有媒介（如蜱、蚊等）或动物宿主参与，以及会不会人传人。</a:t>
            </a:r>
          </a:p>
          <a:p>
            <a:r>
              <a:t>途径决定控制重点：能经空气传播的，要特别控制产生气溶胶的操作；经血液传播的，要特别防锐器伤。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宿主范围：有的病原能在人、多种动物甚至环境中生存，宿主和来源很多样，有的从环境中吸入就能感染；制定管理方案时要把这些都算上。</a:t>
            </a:r>
          </a:p>
          <a:p>
            <a:r>
              <a:t>环境存活：病原在台面、器材和空气中能存活多久，决定了污染范围和消毒要求（消毒见第 076 课）。本地流行情况：病原在本地流行还是外来，本地人可能已有一定免疫力，外来病原则可能没有。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要问有没有有效的疫苗预防、有没有药物治疗，本地医疗机构能不能及时提供。没有有效的预防和治疗手段，暴露的后果就更严重，风险等级随之升高。</a:t>
            </a:r>
          </a:p>
          <a:p>
            <a:r>
              <a:t>评估要有依据：先查文献、病原资料和已有研究，了解这个病原在实验室里的已知风险和以往的感染事件。</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要问这个生物材料有没有做过基因改造。改造可能改变它的特性，带来新的风险，必须重新评估，并按规定报单位生物安全委员会审查；不能直接沿用未改造亲本的结论。</a:t>
            </a:r>
          </a:p>
          <a:p>
            <a:r>
              <a:t>经改造的植物还要问：有没有毒性，能否随花粉传播、传多远，人员有没有培训，是否在封闭条件下操作。转基因生物的风险评估见第 081 课，植物封闭温室见第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个病原，操作不同风险不同。评估先问：你拿它做什么？冻存保存风险最低，开展检测风险升高，大量培养风险最高；只提取核酸风险较低，种植改造植物并收集花粉风险较高。培养使病原数量增加，一旦溢洒后果更重。</a:t>
            </a:r>
          </a:p>
          <a:p>
            <a:r>
              <a:t>浓度越高、体积越大，风险也跟着上升。处理高风险样品或操作时，防护措施要相应升级（防护等级见第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把整个操作拆成一个个小步骤，每一步问：会不会产生气溶胶（离心、振荡、匀浆、超声、剧烈吹打等）？有没有锐器、溅洒和手接触？把这些风险点标出来。</a:t>
            </a:r>
          </a:p>
          <a:p>
            <a:r>
              <a:t>每一步操作本身的风险都要评估，并写进样本处理方案，对应具体的控制措施，例如移液时沿管壁缓慢放液、在生物安全柜内操作、使用密封离心转子（生物安全柜使用见第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评估也要看操作的人：免疫状态、健康状况、过敏史、是否怀孕等。免疫低下的人风险更高，需要额外的防护，或者调整工作安排。</a:t>
            </a:r>
          </a:p>
          <a:p>
            <a:r>
              <a:t>本人应主动向实验室负责人说明过敏、免疫低下等情况，负责人据此调整安排，并对个人健康信息保密（健康告知见第 152 课，医学监护与免疫接种见第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可以把病原要素变成一份问卷，用“是”或“否”逐条回答：是病原吗？暴露后会致病吗？经吸入传播吗？经接触传播吗？在环境中稳定吗？经过改造吗？好治吗？</a:t>
            </a:r>
          </a:p>
          <a:p>
            <a:r>
              <a:t>答“是”（或“不好治”）的地方，就是风险点，要对应到具体的控制措施。问卷的条目可按本校评估程序增减。</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再看现有控制够不够，问设施与管理：人员培训够不够？有没有应急预案？关键设备（生物安全柜、高压灭菌器等）齐不齐、合格不合格？个人防护够不够？废物怎么处置？安保措施和专门的操作规程有没有？</a:t>
            </a:r>
          </a:p>
          <a:p>
            <a:r>
              <a:t>这些要和实验室负责人一起确认。换了病原，规程要重写，人员要重新培训。</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评估要同时看两类风险：生物安全风险——操作人员和周边社区会不会暴露；生物安保风险——样本会不会丢失、被盗或被滥用（生物安保见第 083 课）。两类风险都要放进同一张评估表里打分。</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a:p>
            <a:r>
              <a:t>已掌握的信息（途径、是否人传人、要做的操作）就是评估的依据；未确证的部分按从严原则处理。</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构化评估就是把一个流程拆成单个操作，一步一步评估。本案例拆成八步：接收与初始存放、样本编目、分离血清、免疫检测、检测后样本处置、去污、记录保存、意外暴露的应急处置。后四步常被忽略，也不能漏。</a:t>
            </a:r>
          </a:p>
          <a:p>
            <a:r>
              <a:t>更大范围的流程还包括运输、接收、储存、处理、处置和数据传输，每一步都要评一次。例如接收时先在安全柜内检查样本管的密封和标签（样本接收见第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每一步都用风险矩阵（可能性配后果，见第 067 课）打分，例如“接收和存放时意外暴露”可能性低、后果低；颜色分低、中、高、很高，一看就懂。各步汇总成累计矩阵或总表，全程风险一行看清，并找出风险最高的步骤。</a:t>
            </a:r>
          </a:p>
          <a:p>
            <a:r>
              <a:t>总表还能看出风险的变化：例如样本灭活后，被盗滥用的风险就降低了。打分要有依据：做熟了也不能随手把可能性打低，要参考实验记录、事件和险兆报告，不凭感觉。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评估结束时有一个决策点：在现有控制下，残余风险是否可接受？不够低的，进入下一步风险减缓，对每一项风险点对应具体措施（见第 069 课）。</a:t>
            </a:r>
          </a:p>
          <a:p>
            <a:r>
              <a:t>评估结果要写成文件，按本校程序经生物安全委员会审核，再对应到一条条具体措施并落实。评清楚、控到位，再决定是否开展。</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答案：B。解析：两套编号方向相反；分类只是评估的起点。</a:t>
            </a:r>
          </a:p>
          <a:p>
            <a:r>
              <a:t>第 2 题 答案：B。解析：冻存最低、检测升高、大量培养最高，浓度和量越大风险越高。</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答案：D。解析：病原层面看分类、致病性与感染剂量、途径与媒介、宿主、存活、本地流行、防治和改造。</a:t>
            </a:r>
          </a:p>
          <a:p>
            <a:r>
              <a:t>第 4 题 答案：B。解析：应主动说明，负责人据此调整安排并为个人保密。</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答案：B。解析：每一步都要评，后几步也不能漏，汇成总表看全程风险。</a:t>
            </a:r>
          </a:p>
          <a:p>
            <a:r>
              <a:t>第 6 题 答案：病原未确认的样本、经过改造的材料、临床样本、土壤等环境样本、野生动物来源的样本（包括看似健康来源的）。解析：信息不足时风险往高处估，报生物安全委员会审核。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生物安全绩效评估与审核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适用对象：进入生命科学、医学、农学、环境等涉及生物材料实验室的高校本科生、研究生和教职工（必修）；实验室负责人、生物安全员和参与内部审核、安全检查的人员重点学习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能说出绩效评估的含义（记录、测量、评价；计划与实际之差）和它在“评估—减缓—绩效”循环中的作用。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能说出从方针到目标、再到指标的关系，区分先行指标和滞后指标，说出好指标的特征和数据收集分析的注意事项。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能说出内部审核、外部审核与监督检查、管理评审各看什么，以及纠正措施“谁改、怎么改、何时改完、复查关闭”的闭环。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能做到被检查时照常规范操作，出错先停下、如实说明、按规程处理。</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《中华人民共和国生物安全法》（以现行文本为准）：主管部门对病原微生物实验室生物安全实施监督检查，设立单位负责日常管理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《病原微生物实验室生物安全管理条例》（以现行文本为准）：主管部门依法监督检查；三级、四级实验室须通过国家认可；实验室建立档案和事故报告制度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生物安全通用要求》：安全计划与目标、记录控制、内部审核、管理评审、不符合项的识别和控制、纠正措施和持续改进</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233（以现行文本为准）《病原微生物实验室生物安全通用准则》：实验室生物安全管理和监督检查要求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要求及使用指南》：绩效监视、测量、分析和评价，内部审核、管理评审与持续改进，可作参照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号，以现行文本为准）：学校、学院、实验室分级开展安全检查，隐患整改闭环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本校实验室安全检查与隐患整改办法、个人信息保护相关规定（以本校规定为准）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什么是绩效评估：记录、测量、评价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记录、测量、评价我们做过的事</a:t>
            </a:r>
          </a:p>
          <a:p>
            <a:pPr>
              <a:spcAft>
                <a:spcPts val="1000"/>
              </a:spcAft>
            </a:pPr>
            <a:r>
              <a:rPr sz="1700">
                <a:solidFill>
                  <a:srgbClr val="222B33"/>
                </a:solidFill>
                <a:latin typeface="Microsoft YaHei"/>
              </a:rPr>
              <a:t>▪ 目的：把生物风险降下来</a:t>
            </a:r>
          </a:p>
          <a:p>
            <a:pPr>
              <a:spcAft>
                <a:spcPts val="1000"/>
              </a:spcAft>
            </a:pPr>
            <a:r>
              <a:rPr sz="1700">
                <a:solidFill>
                  <a:srgbClr val="222B33"/>
                </a:solidFill>
                <a:latin typeface="Microsoft YaHei"/>
              </a:rPr>
              <a:t>▪ 不只看病原，人、物、设施都要看</a:t>
            </a:r>
          </a:p>
          <a:p>
            <a:pPr>
              <a:spcAft>
                <a:spcPts val="1000"/>
              </a:spcAft>
            </a:pPr>
            <a:r>
              <a:rPr sz="1700">
                <a:solidFill>
                  <a:srgbClr val="222B33"/>
                </a:solidFill>
                <a:latin typeface="Microsoft YaHei"/>
              </a:rPr>
              <a:t>▪ 回头查记录：事故、未遂事件、日常检查都算</a:t>
            </a:r>
          </a:p>
          <a:p>
            <a:pPr>
              <a:spcAft>
                <a:spcPts val="1000"/>
              </a:spcAft>
            </a:pPr>
            <a:r>
              <a:rPr sz="1700">
                <a:solidFill>
                  <a:srgbClr val="222B33"/>
                </a:solidFill>
                <a:latin typeface="Microsoft YaHei"/>
              </a:rPr>
              <a:t>▪ 看哪里达标、哪里没达标，问为什么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绩效评估，就是记录、测量和评价我们做过的事，目的是把生物风险降下来。它看的是整个体系：不只看病原，还要看人、物和设施。绩效测量不是另外一摊事，而是管理体系的一部分：规程写的和实际做的，都要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只统计事故，不统计未遂事件和日常检查发现的问题</a:t>
            </a:r>
          </a:p>
          <a:p>
            <a:pPr>
              <a:spcAft>
                <a:spcPts val="1000"/>
              </a:spcAft>
            </a:pPr>
            <a:r>
              <a:rPr sz="1500">
                <a:solidFill>
                  <a:srgbClr val="222B33"/>
                </a:solidFill>
                <a:latin typeface="Microsoft YaHei"/>
              </a:rPr>
              <a:t>▪ 认为绩效评估是管理部门的事，与实验人员无关</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绩效：计划与实际之差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计划和实际的差距，就是绩效</a:t>
            </a:r>
          </a:p>
          <a:p>
            <a:pPr>
              <a:spcAft>
                <a:spcPts val="1000"/>
              </a:spcAft>
            </a:pPr>
            <a:r>
              <a:rPr sz="1700">
                <a:solidFill>
                  <a:srgbClr val="222B33"/>
                </a:solidFill>
                <a:latin typeface="Microsoft YaHei"/>
              </a:rPr>
              <a:t>▪ 找出拖后腿的原因</a:t>
            </a:r>
          </a:p>
          <a:p>
            <a:pPr>
              <a:spcAft>
                <a:spcPts val="1000"/>
              </a:spcAft>
            </a:pPr>
            <a:r>
              <a:rPr sz="1700">
                <a:solidFill>
                  <a:srgbClr val="222B33"/>
                </a:solidFill>
                <a:latin typeface="Microsoft YaHei"/>
              </a:rPr>
              <a:t>▪ 年初定目标，年底对比差在哪</a:t>
            </a:r>
          </a:p>
          <a:p>
            <a:pPr>
              <a:spcAft>
                <a:spcPts val="1000"/>
              </a:spcAft>
            </a:pPr>
            <a:r>
              <a:rPr sz="1700">
                <a:solidFill>
                  <a:srgbClr val="222B33"/>
                </a:solidFill>
                <a:latin typeface="Microsoft YaHei"/>
              </a:rPr>
              <a:t>▪ 差了就改规程、加培训，每起事件都调查</a:t>
            </a:r>
          </a:p>
          <a:p>
            <a:pPr>
              <a:spcAft>
                <a:spcPts val="1000"/>
              </a:spcAft>
            </a:pPr>
            <a:r>
              <a:rPr sz="1700">
                <a:solidFill>
                  <a:srgbClr val="222B33"/>
                </a:solidFill>
                <a:latin typeface="Microsoft YaHei"/>
              </a:rPr>
              <a:t>▪ 绩效是大家共同努力的结果，要一直用力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打个比方：计划十五分钟跑完一公里，实际跑了二十分钟。天气、体能、装备，逐一找出拖后腿的因素。计划和实际之间的差距，就是绩效要看的东西。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目标没达到就修改目标“凑数”</a:t>
            </a:r>
          </a:p>
          <a:p>
            <a:pPr>
              <a:spcAft>
                <a:spcPts val="1000"/>
              </a:spcAft>
            </a:pPr>
            <a:r>
              <a:rPr sz="1500">
                <a:solidFill>
                  <a:srgbClr val="222B33"/>
                </a:solidFill>
                <a:latin typeface="Microsoft YaHei"/>
              </a:rPr>
              <a:t>▪ 只看结果数字，不分析差距的原因</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减缓之后再评估，一圈圈循环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控制加了，不一定有效</a:t>
            </a:r>
          </a:p>
          <a:p>
            <a:pPr>
              <a:spcAft>
                <a:spcPts val="1000"/>
              </a:spcAft>
            </a:pPr>
            <a:r>
              <a:rPr sz="1700">
                <a:solidFill>
                  <a:srgbClr val="222B33"/>
                </a:solidFill>
                <a:latin typeface="Microsoft YaHei"/>
              </a:rPr>
              <a:t>▪ 减缓之后再评估，确认风险真的降了</a:t>
            </a:r>
          </a:p>
          <a:p>
            <a:pPr>
              <a:spcAft>
                <a:spcPts val="1000"/>
              </a:spcAft>
            </a:pPr>
            <a:r>
              <a:rPr sz="1700">
                <a:solidFill>
                  <a:srgbClr val="222B33"/>
                </a:solidFill>
                <a:latin typeface="Microsoft YaHei"/>
              </a:rPr>
              <a:t>▪ 收集信息、评价、定策略、落实、复查成一圈</a:t>
            </a:r>
          </a:p>
          <a:p>
            <a:pPr>
              <a:spcAft>
                <a:spcPts val="1000"/>
              </a:spcAft>
            </a:pPr>
            <a:r>
              <a:rPr sz="1700">
                <a:solidFill>
                  <a:srgbClr val="222B33"/>
                </a:solidFill>
                <a:latin typeface="Microsoft YaHei"/>
              </a:rPr>
              <a:t>▪ 查推荐的措施落实了吗，没有为什么，有记录吗</a:t>
            </a:r>
          </a:p>
          <a:p>
            <a:pPr>
              <a:spcAft>
                <a:spcPts val="1000"/>
              </a:spcAft>
            </a:pPr>
            <a:r>
              <a:rPr sz="1700">
                <a:solidFill>
                  <a:srgbClr val="222B33"/>
                </a:solidFill>
                <a:latin typeface="Microsoft YaHei"/>
              </a:rPr>
              <a:t>▪ 数据也是说服领导投入的依据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控制措施加上了，就一定有效吗？要靠绩效来验证：减缓之后再做一次风险评估，确认风险真的降下来了，这一步才算数。剩下的风险能不能接受，要再判断。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措施一上就认为风险已经解决</a:t>
            </a:r>
          </a:p>
          <a:p>
            <a:pPr>
              <a:spcAft>
                <a:spcPts val="1000"/>
              </a:spcAft>
            </a:pPr>
            <a:r>
              <a:rPr sz="1500">
                <a:solidFill>
                  <a:srgbClr val="222B33"/>
                </a:solidFill>
                <a:latin typeface="Microsoft YaHei"/>
              </a:rPr>
              <a:t>▪ 复查只问“做了吗”，不看“管用吗”</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从方针到目标：看得见、量得出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方针表明决心和方向，不讲具体做法</a:t>
            </a:r>
          </a:p>
          <a:p>
            <a:pPr>
              <a:spcAft>
                <a:spcPts val="1000"/>
              </a:spcAft>
            </a:pPr>
            <a:r>
              <a:rPr sz="1700">
                <a:solidFill>
                  <a:srgbClr val="222B33"/>
                </a:solidFill>
                <a:latin typeface="Microsoft YaHei"/>
              </a:rPr>
              <a:t>▪ 方针分解成职责、目标和步骤</a:t>
            </a:r>
          </a:p>
          <a:p>
            <a:pPr>
              <a:spcAft>
                <a:spcPts val="1000"/>
              </a:spcAft>
            </a:pPr>
            <a:r>
              <a:rPr sz="1700">
                <a:solidFill>
                  <a:srgbClr val="222B33"/>
                </a:solidFill>
                <a:latin typeface="Microsoft YaHei"/>
              </a:rPr>
              <a:t>▪ 目标是看得见、量得出的结果</a:t>
            </a:r>
          </a:p>
          <a:p>
            <a:pPr>
              <a:spcAft>
                <a:spcPts val="1000"/>
              </a:spcAft>
            </a:pPr>
            <a:r>
              <a:rPr sz="1700">
                <a:solidFill>
                  <a:srgbClr val="222B33"/>
                </a:solidFill>
                <a:latin typeface="Microsoft YaHei"/>
              </a:rPr>
              <a:t>▪ 具体目标是限时步骤，如操作规程</a:t>
            </a:r>
          </a:p>
          <a:p>
            <a:pPr>
              <a:spcAft>
                <a:spcPts val="1000"/>
              </a:spcAft>
            </a:pPr>
            <a:r>
              <a:rPr sz="1700">
                <a:solidFill>
                  <a:srgbClr val="222B33"/>
                </a:solidFill>
                <a:latin typeface="Microsoft YaHei"/>
              </a:rPr>
              <a:t>▪ 具体、可测、可实现、合理、有时限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单位的安全方针（政策）表明决心和方向，不讲具体做法，要再分解成职责、目标和步骤，落成具体目标后，再按标准检查有没有做到。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目标写成“加强安全意识”等无法测量的口号</a:t>
            </a:r>
          </a:p>
          <a:p>
            <a:pPr>
              <a:spcAft>
                <a:spcPts val="1000"/>
              </a:spcAft>
            </a:pPr>
            <a:r>
              <a:rPr sz="1500">
                <a:solidFill>
                  <a:srgbClr val="222B33"/>
                </a:solidFill>
                <a:latin typeface="Microsoft YaHei"/>
              </a:rPr>
              <a:t>▪ 定了做不到的目标，只能靠“做账”达标</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指标：用数字说话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指标要能回答多少次、多少量</a:t>
            </a:r>
          </a:p>
          <a:p>
            <a:pPr>
              <a:spcAft>
                <a:spcPts val="1000"/>
              </a:spcAft>
            </a:pPr>
            <a:r>
              <a:rPr sz="1700">
                <a:solidFill>
                  <a:srgbClr val="222B33"/>
                </a:solidFill>
                <a:latin typeface="Microsoft YaHei"/>
              </a:rPr>
              <a:t>▪ 定期用同一把尺子，偏离就提前报警</a:t>
            </a:r>
          </a:p>
          <a:p>
            <a:pPr>
              <a:spcAft>
                <a:spcPts val="1000"/>
              </a:spcAft>
            </a:pPr>
            <a:r>
              <a:rPr sz="1700">
                <a:solidFill>
                  <a:srgbClr val="222B33"/>
                </a:solidFill>
                <a:latin typeface="Microsoft YaHei"/>
              </a:rPr>
              <a:t>▪ 看事件、险兆和培训完成情况</a:t>
            </a:r>
          </a:p>
          <a:p>
            <a:pPr>
              <a:spcAft>
                <a:spcPts val="1000"/>
              </a:spcAft>
            </a:pPr>
            <a:r>
              <a:rPr sz="1700">
                <a:solidFill>
                  <a:srgbClr val="222B33"/>
                </a:solidFill>
                <a:latin typeface="Microsoft YaHei"/>
              </a:rPr>
              <a:t>▪ 演练、防护用品、检查的频次和范围都可量</a:t>
            </a:r>
          </a:p>
          <a:p>
            <a:pPr>
              <a:spcAft>
                <a:spcPts val="1000"/>
              </a:spcAft>
            </a:pPr>
            <a:r>
              <a:rPr sz="1700">
                <a:solidFill>
                  <a:srgbClr val="222B33"/>
                </a:solidFill>
                <a:latin typeface="Microsoft YaHei"/>
              </a:rPr>
              <a:t>▪ 要量什么就选什么，覆盖各层级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指标要用数字说话，能回答“多少次、多少量”。要定期使用，一直用同一把尺子，才能看出偏离，在出事之前报警。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只选容易统计的指标，不选真正反映风险的指标</a:t>
            </a:r>
          </a:p>
          <a:p>
            <a:pPr>
              <a:spcAft>
                <a:spcPts val="1000"/>
              </a:spcAft>
            </a:pPr>
            <a:r>
              <a:rPr sz="1500">
                <a:solidFill>
                  <a:srgbClr val="222B33"/>
                </a:solidFill>
                <a:latin typeface="Microsoft YaHei"/>
              </a:rPr>
              <a:t>▪ 指标口径经常变，前后数据无法比较</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先行指标与滞后指标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指标分先行指标和滞后指标</a:t>
            </a:r>
          </a:p>
          <a:p>
            <a:pPr>
              <a:spcAft>
                <a:spcPts val="1000"/>
              </a:spcAft>
            </a:pPr>
            <a:r>
              <a:rPr sz="1700">
                <a:solidFill>
                  <a:srgbClr val="222B33"/>
                </a:solidFill>
                <a:latin typeface="Microsoft YaHei"/>
              </a:rPr>
              <a:t>▪ 先行指标：过程、文化、行为、屏障</a:t>
            </a:r>
          </a:p>
          <a:p>
            <a:pPr>
              <a:spcAft>
                <a:spcPts val="1000"/>
              </a:spcAft>
            </a:pPr>
            <a:r>
              <a:rPr sz="1700">
                <a:solidFill>
                  <a:srgbClr val="222B33"/>
                </a:solidFill>
                <a:latin typeface="Microsoft YaHei"/>
              </a:rPr>
              <a:t>▪ 滞后指标：事件、事故、险兆、整改</a:t>
            </a:r>
          </a:p>
          <a:p>
            <a:pPr>
              <a:spcAft>
                <a:spcPts val="1000"/>
              </a:spcAft>
            </a:pPr>
            <a:r>
              <a:rPr sz="1700">
                <a:solidFill>
                  <a:srgbClr val="222B33"/>
                </a:solidFill>
                <a:latin typeface="Microsoft YaHei"/>
              </a:rPr>
              <a:t>▪ 只做事后分析太晚，多看日常行为</a:t>
            </a:r>
          </a:p>
          <a:p>
            <a:pPr>
              <a:spcAft>
                <a:spcPts val="1000"/>
              </a:spcAft>
            </a:pPr>
            <a:r>
              <a:rPr sz="1700">
                <a:solidFill>
                  <a:srgbClr val="222B33"/>
                </a:solidFill>
                <a:latin typeface="Microsoft YaHei"/>
              </a:rPr>
              <a:t>▪ 多听同行的经验和教训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分两类。先行指标衡量过程、文化、行为和屏障（如培训完成、检查执行、规范操作的比例、设备检测按期完成），事先定好，为安全工作指方向。滞后指标衡量事件、事故、险兆和整改情况，都是事后才看得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只看“零事故”，忽视先行指标</a:t>
            </a:r>
          </a:p>
          <a:p>
            <a:pPr>
              <a:spcAft>
                <a:spcPts val="1000"/>
              </a:spcAft>
            </a:pPr>
            <a:r>
              <a:rPr sz="1500">
                <a:solidFill>
                  <a:srgbClr val="222B33"/>
                </a:solidFill>
                <a:latin typeface="Microsoft YaHei"/>
              </a:rPr>
              <a:t>▪ 把没有事故报告当成没有风险</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好指标的特征，审慎使用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好指标由大家一起商量出来</a:t>
            </a:r>
          </a:p>
          <a:p>
            <a:pPr>
              <a:spcAft>
                <a:spcPts val="1000"/>
              </a:spcAft>
            </a:pPr>
            <a:r>
              <a:rPr sz="1700">
                <a:solidFill>
                  <a:srgbClr val="222B33"/>
                </a:solidFill>
                <a:latin typeface="Microsoft YaHei"/>
              </a:rPr>
              <a:t>▪ 相关、客观、及时，成本合理</a:t>
            </a:r>
          </a:p>
          <a:p>
            <a:pPr>
              <a:spcAft>
                <a:spcPts val="1000"/>
              </a:spcAft>
            </a:pPr>
            <a:r>
              <a:rPr sz="1700">
                <a:solidFill>
                  <a:srgbClr val="222B33"/>
                </a:solidFill>
                <a:latin typeface="Microsoft YaHei"/>
              </a:rPr>
              <a:t>▪ 能指导整改，带来改进机会</a:t>
            </a:r>
          </a:p>
          <a:p>
            <a:pPr>
              <a:spcAft>
                <a:spcPts val="1000"/>
              </a:spcAft>
            </a:pPr>
            <a:r>
              <a:rPr sz="1700">
                <a:solidFill>
                  <a:srgbClr val="222B33"/>
                </a:solidFill>
                <a:latin typeface="Microsoft YaHei"/>
              </a:rPr>
              <a:t>▪ 委员会事先定标准，数据要让人看懂</a:t>
            </a:r>
          </a:p>
          <a:p>
            <a:pPr>
              <a:spcAft>
                <a:spcPts val="1000"/>
              </a:spcAft>
            </a:pPr>
            <a:r>
              <a:rPr sz="1700">
                <a:solidFill>
                  <a:srgbClr val="222B33"/>
                </a:solidFill>
                <a:latin typeface="Microsoft YaHei"/>
              </a:rPr>
              <a:t>▪ 定期检查指标，照搬别处未必合用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好指标由相关人员一起商量出来，具有相关、客观、及时、成本合理的特点，能指导整改，带来改进机会。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把事件数量作为考核扣分项，导致瞒报</a:t>
            </a:r>
          </a:p>
          <a:p>
            <a:pPr>
              <a:spcAft>
                <a:spcPts val="1000"/>
              </a:spcAft>
            </a:pPr>
            <a:r>
              <a:rPr sz="1500">
                <a:solidFill>
                  <a:srgbClr val="222B33"/>
                </a:solidFill>
                <a:latin typeface="Microsoft YaHei"/>
              </a:rPr>
              <a:t>▪ 照搬其他单位的指标，不结合本实验室实际</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先想清楚，再测量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量出来才看得懂，才控制得住、谈得上改进</a:t>
            </a:r>
          </a:p>
          <a:p>
            <a:pPr>
              <a:spcAft>
                <a:spcPts val="1000"/>
              </a:spcAft>
            </a:pPr>
            <a:r>
              <a:rPr sz="1700">
                <a:solidFill>
                  <a:srgbClr val="222B33"/>
                </a:solidFill>
                <a:latin typeface="Microsoft YaHei"/>
              </a:rPr>
              <a:t>▪ 流程分输入、步骤、输出，每步记下来</a:t>
            </a:r>
          </a:p>
          <a:p>
            <a:pPr>
              <a:spcAft>
                <a:spcPts val="1000"/>
              </a:spcAft>
            </a:pPr>
            <a:r>
              <a:rPr sz="1700">
                <a:solidFill>
                  <a:srgbClr val="222B33"/>
                </a:solidFill>
                <a:latin typeface="Microsoft YaHei"/>
              </a:rPr>
              <a:t>▪ 评估前先问四个问题</a:t>
            </a:r>
          </a:p>
          <a:p>
            <a:pPr>
              <a:spcAft>
                <a:spcPts val="1000"/>
              </a:spcAft>
            </a:pPr>
            <a:r>
              <a:rPr sz="1700">
                <a:solidFill>
                  <a:srgbClr val="222B33"/>
                </a:solidFill>
                <a:latin typeface="Microsoft YaHei"/>
              </a:rPr>
              <a:t>▪ 可以发问卷，也可以现场跟看</a:t>
            </a:r>
          </a:p>
          <a:p>
            <a:pPr>
              <a:spcAft>
                <a:spcPts val="1000"/>
              </a:spcAft>
            </a:pPr>
            <a:r>
              <a:rPr sz="1700">
                <a:solidFill>
                  <a:srgbClr val="222B33"/>
                </a:solidFill>
                <a:latin typeface="Microsoft YaHei"/>
              </a:rPr>
              <a:t>▪ 看事件规律、健康监测和现场操作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测量是改进的第一步：量出来才看得懂，看得懂才控制得住，才谈得上改进；测量要用合适的工具。一个流程可以分成输入、步骤、输出，比如检测样本，每一步都记下来。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没想清楚要回答什么问题就开始收集数据</a:t>
            </a:r>
          </a:p>
          <a:p>
            <a:pPr>
              <a:spcAft>
                <a:spcPts val="1000"/>
              </a:spcAft>
            </a:pPr>
            <a:r>
              <a:rPr sz="1500">
                <a:solidFill>
                  <a:srgbClr val="222B33"/>
                </a:solidFill>
                <a:latin typeface="Microsoft YaHei"/>
              </a:rPr>
              <a:t>▪ 只看报表，不到现场看操作</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收集和分析数据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确定要什么数据，收集，再分析</a:t>
            </a:r>
          </a:p>
          <a:p>
            <a:pPr>
              <a:spcAft>
                <a:spcPts val="1000"/>
              </a:spcAft>
            </a:pPr>
            <a:r>
              <a:rPr sz="1700">
                <a:solidFill>
                  <a:srgbClr val="222B33"/>
                </a:solidFill>
                <a:latin typeface="Microsoft YaHei"/>
              </a:rPr>
              <a:t>▪ 定好时间段、方法和成本，尽量不打扰工作</a:t>
            </a:r>
          </a:p>
          <a:p>
            <a:pPr>
              <a:spcAft>
                <a:spcPts val="1000"/>
              </a:spcAft>
            </a:pPr>
            <a:r>
              <a:rPr sz="1700">
                <a:solidFill>
                  <a:srgbClr val="222B33"/>
                </a:solidFill>
                <a:latin typeface="Microsoft YaHei"/>
              </a:rPr>
              <a:t>▪ 盯得太紧，人一紧张反而出错</a:t>
            </a:r>
          </a:p>
          <a:p>
            <a:pPr>
              <a:spcAft>
                <a:spcPts val="1000"/>
              </a:spcAft>
            </a:pPr>
            <a:r>
              <a:rPr sz="1700">
                <a:solidFill>
                  <a:srgbClr val="222B33"/>
                </a:solidFill>
                <a:latin typeface="Microsoft YaHei"/>
              </a:rPr>
              <a:t>▪ 分析要指定专人，给定期限</a:t>
            </a:r>
          </a:p>
          <a:p>
            <a:pPr>
              <a:spcAft>
                <a:spcPts val="1000"/>
              </a:spcAft>
            </a:pPr>
            <a:r>
              <a:rPr sz="1700">
                <a:solidFill>
                  <a:srgbClr val="222B33"/>
                </a:solidFill>
                <a:latin typeface="Microsoft YaHei"/>
              </a:rPr>
              <a:t>▪ 装监控要事先告知，录像只用于安全管理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数据收上来没人分析，堆在柜子里</a:t>
            </a:r>
          </a:p>
          <a:p>
            <a:pPr>
              <a:spcAft>
                <a:spcPts val="1000"/>
              </a:spcAft>
            </a:pPr>
            <a:r>
              <a:rPr sz="1500">
                <a:solidFill>
                  <a:srgbClr val="222B33"/>
                </a:solidFill>
                <a:latin typeface="Microsoft YaHei"/>
              </a:rPr>
              <a:t>▪ 私自传播监控录像或截图</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案例：一次感染引出的绩效分析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目标：降低检测人员的感染风险</a:t>
            </a:r>
          </a:p>
          <a:p>
            <a:pPr>
              <a:spcAft>
                <a:spcPts val="1000"/>
              </a:spcAft>
            </a:pPr>
            <a:r>
              <a:rPr sz="2000">
                <a:solidFill>
                  <a:srgbClr val="222B33"/>
                </a:solidFill>
                <a:latin typeface="Microsoft YaHei"/>
              </a:rPr>
              <a:t>▪ 措施：上岗前体检、防护规程、结束后复查</a:t>
            </a:r>
          </a:p>
          <a:p>
            <a:pPr>
              <a:spcAft>
                <a:spcPts val="1000"/>
              </a:spcAft>
            </a:pPr>
            <a:r>
              <a:rPr sz="2000">
                <a:solidFill>
                  <a:srgbClr val="222B33"/>
                </a:solidFill>
                <a:latin typeface="Microsoft YaHei"/>
              </a:rPr>
              <a:t>▪ 结果：五人中有一人检测阳性</a:t>
            </a:r>
          </a:p>
          <a:p>
            <a:pPr>
              <a:spcAft>
                <a:spcPts val="1000"/>
              </a:spcAft>
            </a:pPr>
            <a:r>
              <a:rPr sz="2000">
                <a:solidFill>
                  <a:srgbClr val="222B33"/>
                </a:solidFill>
                <a:latin typeface="Microsoft YaHei"/>
              </a:rPr>
              <a:t>▪ 问规程合适吗、哪里有漏洞，做事故分析并纠正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某检测实验室的目标是降低人员感染风险，采取的措施包括上岗前体检、防护规程和项目结束后的复查。结果五名人员中有一人检测阳性——计划和实际出现了差距。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发现人员感染后只做个人治疗，不分析规程和管理原因</a:t>
            </a:r>
          </a:p>
          <a:p>
            <a:pPr>
              <a:spcAft>
                <a:spcPts val="1000"/>
              </a:spcAft>
            </a:pPr>
            <a:r>
              <a:rPr sz="1500">
                <a:solidFill>
                  <a:srgbClr val="222B33"/>
                </a:solidFill>
                <a:latin typeface="Microsoft YaHei"/>
              </a:rPr>
              <a:t>▪ 担心影响评价而不报告</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内部审核：对照规程逐项查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审核看写的和做的是否一致</a:t>
            </a:r>
          </a:p>
          <a:p>
            <a:pPr>
              <a:spcAft>
                <a:spcPts val="1000"/>
              </a:spcAft>
            </a:pPr>
            <a:r>
              <a:rPr sz="1700">
                <a:solidFill>
                  <a:srgbClr val="222B33"/>
                </a:solidFill>
                <a:latin typeface="Microsoft YaHei"/>
              </a:rPr>
              <a:t>▪ 本单位组织，对照规程逐项查</a:t>
            </a:r>
          </a:p>
          <a:p>
            <a:pPr>
              <a:spcAft>
                <a:spcPts val="1000"/>
              </a:spcAft>
            </a:pPr>
            <a:r>
              <a:rPr sz="1700">
                <a:solidFill>
                  <a:srgbClr val="222B33"/>
                </a:solidFill>
                <a:latin typeface="Microsoft YaHei"/>
              </a:rPr>
              <a:t>▪ 到实验台旁看哪步繁琐、哪步有险</a:t>
            </a:r>
          </a:p>
          <a:p>
            <a:pPr>
              <a:spcAft>
                <a:spcPts val="1000"/>
              </a:spcAft>
            </a:pPr>
            <a:r>
              <a:rPr sz="1700">
                <a:solidFill>
                  <a:srgbClr val="222B33"/>
                </a:solidFill>
                <a:latin typeface="Microsoft YaHei"/>
              </a:rPr>
              <a:t>▪ 学院、学校也会定期组织检查</a:t>
            </a:r>
          </a:p>
          <a:p>
            <a:pPr>
              <a:spcAft>
                <a:spcPts val="1000"/>
              </a:spcAft>
            </a:pPr>
            <a:r>
              <a:rPr sz="1700">
                <a:solidFill>
                  <a:srgbClr val="222B33"/>
                </a:solidFill>
                <a:latin typeface="Microsoft YaHei"/>
              </a:rPr>
              <a:t>▪ 如实记录，找出不符合项和改进点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审核和评价就是“复查”这一步，看写的和做的是否一致、措施是否落实、是否达到预期目标。内部审核由本单位按计划组织，对照规程逐项检查；审核员要到实验台旁观察，看哪一步繁琐、哪一步有风险。GB 19489-2008 要求实……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审核只看文件，不到现场看操作</a:t>
            </a:r>
          </a:p>
          <a:p>
            <a:pPr>
              <a:spcAft>
                <a:spcPts val="1000"/>
              </a:spcAft>
            </a:pPr>
            <a:r>
              <a:rPr sz="1500">
                <a:solidFill>
                  <a:srgbClr val="222B33"/>
                </a:solidFill>
                <a:latin typeface="Microsoft YaHei"/>
              </a:rPr>
              <a:t>▪ 检查发现的问题不写进记录，私下了结</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外部审核与监督检查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审核看规程，检查看设施，检测看设备</a:t>
            </a:r>
          </a:p>
          <a:p>
            <a:pPr>
              <a:spcAft>
                <a:spcPts val="1000"/>
              </a:spcAft>
            </a:pPr>
            <a:r>
              <a:rPr sz="2000">
                <a:solidFill>
                  <a:srgbClr val="222B33"/>
                </a:solidFill>
                <a:latin typeface="Microsoft YaHei"/>
              </a:rPr>
              <a:t>▪ 外部审核比内部审核更客观</a:t>
            </a:r>
          </a:p>
          <a:p>
            <a:pPr>
              <a:spcAft>
                <a:spcPts val="1000"/>
              </a:spcAft>
            </a:pPr>
            <a:r>
              <a:rPr sz="2000">
                <a:solidFill>
                  <a:srgbClr val="222B33"/>
                </a:solidFill>
                <a:latin typeface="Microsoft YaHei"/>
              </a:rPr>
              <a:t>▪ 主管部门依法监督检查，负责人陪同配合</a:t>
            </a:r>
          </a:p>
          <a:p>
            <a:pPr>
              <a:spcAft>
                <a:spcPts val="1000"/>
              </a:spcAft>
            </a:pPr>
            <a:r>
              <a:rPr sz="2000">
                <a:solidFill>
                  <a:srgbClr val="222B33"/>
                </a:solidFill>
                <a:latin typeface="Microsoft YaHei"/>
              </a:rPr>
              <a:t>▪ 高级别实验室还要通过国家认可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审核看规程有没有照做，检查看设施是否按设计运行，检测看设备参数是否合格。内部审核之外，外部审核更客观。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检查前临时补记录、补签字</a:t>
            </a:r>
          </a:p>
          <a:p>
            <a:pPr>
              <a:spcAft>
                <a:spcPts val="1000"/>
              </a:spcAft>
            </a:pPr>
            <a:r>
              <a:rPr sz="1500">
                <a:solidFill>
                  <a:srgbClr val="222B33"/>
                </a:solidFill>
                <a:latin typeface="Microsoft YaHei"/>
              </a:rPr>
              <a:t>▪ 对检查人员隐瞒问题或拒绝提供资料</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管理评审：体系合适、充分、有效吗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负责人按计划定期评审体系</a:t>
            </a:r>
          </a:p>
          <a:p>
            <a:pPr>
              <a:spcAft>
                <a:spcPts val="1000"/>
              </a:spcAft>
            </a:pPr>
            <a:r>
              <a:rPr sz="1700">
                <a:solidFill>
                  <a:srgbClr val="222B33"/>
                </a:solidFill>
                <a:latin typeface="Microsoft YaHei"/>
              </a:rPr>
              <a:t>▪ 看体系是否合适、充分、有效</a:t>
            </a:r>
          </a:p>
          <a:p>
            <a:pPr>
              <a:spcAft>
                <a:spcPts val="1000"/>
              </a:spcAft>
            </a:pPr>
            <a:r>
              <a:rPr sz="1700">
                <a:solidFill>
                  <a:srgbClr val="222B33"/>
                </a:solidFill>
                <a:latin typeface="Microsoft YaHei"/>
              </a:rPr>
              <a:t>▪ 输入：审核结果、纠正措施、事件调查、上次跟进</a:t>
            </a:r>
          </a:p>
          <a:p>
            <a:pPr>
              <a:spcAft>
                <a:spcPts val="1000"/>
              </a:spcAft>
            </a:pPr>
            <a:r>
              <a:rPr sz="1700">
                <a:solidFill>
                  <a:srgbClr val="222B33"/>
                </a:solidFill>
                <a:latin typeface="Microsoft YaHei"/>
              </a:rPr>
              <a:t>▪ 该改的制度、程序和目标就改</a:t>
            </a:r>
          </a:p>
          <a:p>
            <a:pPr>
              <a:spcAft>
                <a:spcPts val="1000"/>
              </a:spcAft>
            </a:pPr>
            <a:r>
              <a:rPr sz="1700">
                <a:solidFill>
                  <a:srgbClr val="222B33"/>
                </a:solidFill>
                <a:latin typeface="Microsoft YaHei"/>
              </a:rPr>
              <a:t>▪ 每一步有记录，评审才有依据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管理评审由单位或实验室管理层按计划定期进行（例如每年，具体以现行标准和本校规定为准），评审体系是否合适、充分、有效，并寻找下一步改进的机会。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管理评审只开会不形成决定和记录</a:t>
            </a:r>
          </a:p>
          <a:p>
            <a:pPr>
              <a:spcAft>
                <a:spcPts val="1000"/>
              </a:spcAft>
            </a:pPr>
            <a:r>
              <a:rPr sz="1500">
                <a:solidFill>
                  <a:srgbClr val="222B33"/>
                </a:solidFill>
                <a:latin typeface="Microsoft YaHei"/>
              </a:rPr>
              <a:t>▪ 上次评审的决定没有跟进落实</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纠正措施与持续改进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纠正措施：谁来改、怎么改、何时改完</a:t>
            </a:r>
          </a:p>
          <a:p>
            <a:pPr>
              <a:spcAft>
                <a:spcPts val="1000"/>
              </a:spcAft>
            </a:pPr>
            <a:r>
              <a:rPr sz="1700">
                <a:solidFill>
                  <a:srgbClr val="222B33"/>
                </a:solidFill>
                <a:latin typeface="Microsoft YaHei"/>
              </a:rPr>
              <a:t>▪ 改完拍照留证，复查后关闭</a:t>
            </a:r>
          </a:p>
          <a:p>
            <a:pPr>
              <a:spcAft>
                <a:spcPts val="1000"/>
              </a:spcAft>
            </a:pPr>
            <a:r>
              <a:rPr sz="1700">
                <a:solidFill>
                  <a:srgbClr val="222B33"/>
                </a:solidFill>
                <a:latin typeface="Microsoft YaHei"/>
              </a:rPr>
              <a:t>▪ 把检查和事件的教训写进规程</a:t>
            </a:r>
          </a:p>
          <a:p>
            <a:pPr>
              <a:spcAft>
                <a:spcPts val="1000"/>
              </a:spcAft>
            </a:pPr>
            <a:r>
              <a:rPr sz="1700">
                <a:solidFill>
                  <a:srgbClr val="222B33"/>
                </a:solidFill>
                <a:latin typeface="Microsoft YaHei"/>
              </a:rPr>
              <a:t>▪ 有记录才能持续改进，专人管文件</a:t>
            </a:r>
          </a:p>
          <a:p>
            <a:pPr>
              <a:spcAft>
                <a:spcPts val="1000"/>
              </a:spcAft>
            </a:pPr>
            <a:r>
              <a:rPr sz="1700">
                <a:solidFill>
                  <a:srgbClr val="222B33"/>
                </a:solidFill>
                <a:latin typeface="Microsoft YaHei"/>
              </a:rPr>
              <a:t>▪ 个人安全笔记代替不了正式规程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发现问题就要采取纠正措施：明确谁来改、怎么改、什么时候改完；改完拍照留证，再复查，问题关闭才算整改到位。持续改进就是把检查和事件的教训写进规程，一圈一圈越做越好（隐患整改见第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整改只改表面，不查原因，问题反复出现</a:t>
            </a:r>
          </a:p>
          <a:p>
            <a:pPr>
              <a:spcAft>
                <a:spcPts val="1000"/>
              </a:spcAft>
            </a:pPr>
            <a:r>
              <a:rPr sz="1500">
                <a:solidFill>
                  <a:srgbClr val="222B33"/>
                </a:solidFill>
                <a:latin typeface="Microsoft YaHei"/>
              </a:rPr>
              <a:t>▪ 整改完不复查，问题长期“未关闭”</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被检查时：照常规范，出错先停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被检查时照平常一样规范做</a:t>
            </a:r>
          </a:p>
          <a:p>
            <a:pPr>
              <a:spcAft>
                <a:spcPts val="1000"/>
              </a:spcAft>
            </a:pPr>
            <a:r>
              <a:rPr sz="2000">
                <a:solidFill>
                  <a:srgbClr val="222B33"/>
                </a:solidFill>
                <a:latin typeface="Microsoft YaHei"/>
              </a:rPr>
              <a:t>▪ 一紧张出错，先停下，别硬撑</a:t>
            </a:r>
          </a:p>
          <a:p>
            <a:pPr>
              <a:spcAft>
                <a:spcPts val="1000"/>
              </a:spcAft>
            </a:pPr>
            <a:r>
              <a:rPr sz="2000">
                <a:solidFill>
                  <a:srgbClr val="222B33"/>
                </a:solidFill>
                <a:latin typeface="Microsoft YaHei"/>
              </a:rPr>
              <a:t>▪ 如实说明，按规程处理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审核和检查看的恰恰是平时。被检查时，照平常一样规范操作，不需要“表演”，也不能临时改变做法。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平时随意，检查当天临时“突击规范”</a:t>
            </a:r>
          </a:p>
          <a:p>
            <a:pPr>
              <a:spcAft>
                <a:spcPts val="1000"/>
              </a:spcAft>
            </a:pPr>
            <a:r>
              <a:rPr sz="1500">
                <a:solidFill>
                  <a:srgbClr val="222B33"/>
                </a:solidFill>
                <a:latin typeface="Microsoft YaHei"/>
              </a:rPr>
              <a:t>▪ 出错后掩饰或硬撑着继续操作</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绩效评估中“绩效”最贴切的含义是：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发表论文的数量</a:t>
            </a:r>
          </a:p>
          <a:p>
            <a:pPr algn="l"/>
            <a:r>
              <a:rPr sz="1500" b="0">
                <a:solidFill>
                  <a:srgbClr val="222B33"/>
                </a:solidFill>
                <a:latin typeface="Microsoft YaHei"/>
              </a:rPr>
              <a:t>B. 计划与实际之间的差距</a:t>
            </a:r>
          </a:p>
          <a:p>
            <a:pPr algn="l"/>
            <a:r>
              <a:rPr sz="1500" b="0">
                <a:solidFill>
                  <a:srgbClr val="222B33"/>
                </a:solidFill>
                <a:latin typeface="Microsoft YaHei"/>
              </a:rPr>
              <a:t>C. 检查当天的表现</a:t>
            </a:r>
          </a:p>
          <a:p>
            <a:pPr algn="l"/>
            <a:r>
              <a:rPr sz="1500" b="0">
                <a:solidFill>
                  <a:srgbClr val="222B33"/>
                </a:solidFill>
                <a:latin typeface="Microsoft YaHei"/>
              </a:rPr>
              <a:t>D. 实验经费的多少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下列属于先行指标的是：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发生溢洒的次数</a:t>
            </a:r>
          </a:p>
          <a:p>
            <a:pPr algn="l"/>
            <a:r>
              <a:rPr sz="1500" b="0">
                <a:solidFill>
                  <a:srgbClr val="222B33"/>
                </a:solidFill>
                <a:latin typeface="Microsoft YaHei"/>
              </a:rPr>
              <a:t>B. 事故的次数</a:t>
            </a:r>
          </a:p>
          <a:p>
            <a:pPr algn="l"/>
            <a:r>
              <a:rPr sz="1500" b="0">
                <a:solidFill>
                  <a:srgbClr val="222B33"/>
                </a:solidFill>
                <a:latin typeface="Microsoft YaHei"/>
              </a:rPr>
              <a:t>C. 培训按期完成和规范操作的情况</a:t>
            </a:r>
          </a:p>
          <a:p>
            <a:pPr algn="l"/>
            <a:r>
              <a:rPr sz="1500" b="0">
                <a:solidFill>
                  <a:srgbClr val="222B33"/>
                </a:solidFill>
                <a:latin typeface="Microsoft YaHei"/>
              </a:rPr>
              <a:t>D. 整改关闭的数量</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判断：只要加了控制措施，就不需要再评估风险。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关于审核和评审，正确的是：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内部审核只看文件</a:t>
            </a:r>
          </a:p>
          <a:p>
            <a:pPr algn="l"/>
            <a:r>
              <a:rPr sz="1500" b="0">
                <a:solidFill>
                  <a:srgbClr val="222B33"/>
                </a:solidFill>
                <a:latin typeface="Microsoft YaHei"/>
              </a:rPr>
              <a:t>B. 管理评审看体系是否合适、充分、有效，并修订制度和目标</a:t>
            </a:r>
          </a:p>
          <a:p>
            <a:pPr algn="l"/>
            <a:r>
              <a:rPr sz="1500" b="0">
                <a:solidFill>
                  <a:srgbClr val="222B33"/>
                </a:solidFill>
                <a:latin typeface="Microsoft YaHei"/>
              </a:rPr>
              <a:t>C. 外部检查时负责人可以不在场</a:t>
            </a:r>
          </a:p>
          <a:p>
            <a:pPr algn="l"/>
            <a:r>
              <a:rPr sz="1500" b="0">
                <a:solidFill>
                  <a:srgbClr val="222B33"/>
                </a:solidFill>
                <a:latin typeface="Microsoft YaHei"/>
              </a:rPr>
              <a:t>D. 审核发现的问题私下了结即可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判断：审核那天阿杰一紧张手滑，应先停下，如实说明并按规程处理。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简答：一项纠正措施怎样才算整改到位？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什么是绩效评估：记录、测量、评价</a:t>
            </a:r>
          </a:p>
          <a:p>
            <a:pPr>
              <a:spcAft>
                <a:spcPts val="800"/>
              </a:spcAft>
            </a:pPr>
            <a:r>
              <a:rPr sz="1500">
                <a:solidFill>
                  <a:srgbClr val="FFFFFF"/>
                </a:solidFill>
                <a:latin typeface="Microsoft YaHei"/>
              </a:rPr>
              <a:t>▪ K2  绩效：计划与实际之差</a:t>
            </a:r>
          </a:p>
          <a:p>
            <a:pPr>
              <a:spcAft>
                <a:spcPts val="800"/>
              </a:spcAft>
            </a:pPr>
            <a:r>
              <a:rPr sz="1500">
                <a:solidFill>
                  <a:srgbClr val="FFFFFF"/>
                </a:solidFill>
                <a:latin typeface="Microsoft YaHei"/>
              </a:rPr>
              <a:t>▪ K3  减缓之后再评估，一圈圈循环</a:t>
            </a:r>
          </a:p>
          <a:p>
            <a:pPr>
              <a:spcAft>
                <a:spcPts val="800"/>
              </a:spcAft>
            </a:pPr>
            <a:r>
              <a:rPr sz="1500">
                <a:solidFill>
                  <a:srgbClr val="FFFFFF"/>
                </a:solidFill>
                <a:latin typeface="Microsoft YaHei"/>
              </a:rPr>
              <a:t>▪ K4  从方针到目标：看得见、量得出</a:t>
            </a:r>
          </a:p>
          <a:p>
            <a:pPr>
              <a:spcAft>
                <a:spcPts val="800"/>
              </a:spcAft>
            </a:pPr>
            <a:r>
              <a:rPr sz="1500">
                <a:solidFill>
                  <a:srgbClr val="FFFFFF"/>
                </a:solidFill>
                <a:latin typeface="Microsoft YaHei"/>
              </a:rPr>
              <a:t>▪ K5  指标：用数字说话</a:t>
            </a:r>
          </a:p>
          <a:p>
            <a:pPr>
              <a:spcAft>
                <a:spcPts val="800"/>
              </a:spcAft>
            </a:pPr>
            <a:r>
              <a:rPr sz="1500">
                <a:solidFill>
                  <a:srgbClr val="FFFFFF"/>
                </a:solidFill>
                <a:latin typeface="Microsoft YaHei"/>
              </a:rPr>
              <a:t>▪ K6  先行指标与滞后指标</a:t>
            </a:r>
          </a:p>
          <a:p>
            <a:pPr>
              <a:spcAft>
                <a:spcPts val="800"/>
              </a:spcAft>
            </a:pPr>
            <a:r>
              <a:rPr sz="1500">
                <a:solidFill>
                  <a:srgbClr val="FFFFFF"/>
                </a:solidFill>
                <a:latin typeface="Microsoft YaHei"/>
              </a:rPr>
              <a:t>▪ K7  好指标的特征，审慎使用</a:t>
            </a:r>
          </a:p>
          <a:p>
            <a:pPr>
              <a:spcAft>
                <a:spcPts val="800"/>
              </a:spcAft>
            </a:pPr>
            <a:r>
              <a:rPr sz="1500">
                <a:solidFill>
                  <a:srgbClr val="FFFFFF"/>
                </a:solidFill>
                <a:latin typeface="Microsoft YaHei"/>
              </a:rPr>
              <a:t>▪ K8  先想清楚，再测量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收集和分析数据</a:t>
            </a:r>
          </a:p>
          <a:p>
            <a:pPr>
              <a:spcAft>
                <a:spcPts val="800"/>
              </a:spcAft>
            </a:pPr>
            <a:r>
              <a:rPr sz="1500">
                <a:solidFill>
                  <a:srgbClr val="FFFFFF"/>
                </a:solidFill>
                <a:latin typeface="Microsoft YaHei"/>
              </a:rPr>
              <a:t>▪ K10  案例：一次感染引出的绩效分析</a:t>
            </a:r>
          </a:p>
          <a:p>
            <a:pPr>
              <a:spcAft>
                <a:spcPts val="800"/>
              </a:spcAft>
            </a:pPr>
            <a:r>
              <a:rPr sz="1500">
                <a:solidFill>
                  <a:srgbClr val="FFFFFF"/>
                </a:solidFill>
                <a:latin typeface="Microsoft YaHei"/>
              </a:rPr>
              <a:t>▪ K11  内部审核：对照规程逐项查</a:t>
            </a:r>
          </a:p>
          <a:p>
            <a:pPr>
              <a:spcAft>
                <a:spcPts val="800"/>
              </a:spcAft>
            </a:pPr>
            <a:r>
              <a:rPr sz="1500">
                <a:solidFill>
                  <a:srgbClr val="FFFFFF"/>
                </a:solidFill>
                <a:latin typeface="Microsoft YaHei"/>
              </a:rPr>
              <a:t>▪ K12  外部审核与监督检查</a:t>
            </a:r>
          </a:p>
          <a:p>
            <a:pPr>
              <a:spcAft>
                <a:spcPts val="800"/>
              </a:spcAft>
            </a:pPr>
            <a:r>
              <a:rPr sz="1500">
                <a:solidFill>
                  <a:srgbClr val="FFFFFF"/>
                </a:solidFill>
                <a:latin typeface="Microsoft YaHei"/>
              </a:rPr>
              <a:t>▪ K13  管理评审：体系合适、充分、有效吗</a:t>
            </a:r>
          </a:p>
          <a:p>
            <a:pPr>
              <a:spcAft>
                <a:spcPts val="800"/>
              </a:spcAft>
            </a:pPr>
            <a:r>
              <a:rPr sz="1500">
                <a:solidFill>
                  <a:srgbClr val="FFFFFF"/>
                </a:solidFill>
                <a:latin typeface="Microsoft YaHei"/>
              </a:rPr>
              <a:t>▪ K14  纠正措施与持续改进</a:t>
            </a:r>
          </a:p>
          <a:p>
            <a:pPr>
              <a:spcAft>
                <a:spcPts val="800"/>
              </a:spcAft>
            </a:pPr>
            <a:r>
              <a:rPr sz="1500">
                <a:solidFill>
                  <a:srgbClr val="FFFFFF"/>
                </a:solidFill>
                <a:latin typeface="Microsoft YaHei"/>
              </a:rPr>
              <a:t>▪ K15  被检查时：照常规范，出错先停</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生物风险评估的步骤与风险矩阵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能说出危害与风险的区别，知道风险由可能性和后果共同决定，并能用风险矩阵判断风险等级。</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能说出生物风险评估的六步（危害识别、风险分析、风险评价、风险控制、记录、复查），以及风险随操作步骤而变化。</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能判断残余风险是否可接受、何时必须重新评估，知道评估报告要成文、审核、存档。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能做到动手前参与本实验室的风险评估，拿不准时先问导师，不擅自开展。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《中华人民共和国生物安全法》（以现行文本为准）：病原微生物实验室的设立单位负责实验室生物安全管理，从事实验活动应当遵守有关规定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《病原微生物实验室生物安全管理条例》（以现行文本为准）：实验室负责人为第一责任人；实验活动须在相应级别实验室开展，高致病性病原微生物实验活动须经批准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生物安全通用要求》：风险评估及风险控制，评估报告成文并经审核，情况变化时重新评估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233（以现行文本为准）《病原微生物实验室生物安全通用准则》：根据病原危害和实验活动进行风险评估、确定防护水平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号，以现行文本为准）：实验室安全风险评估、危险性实验项目审批</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风险评估：生物安全的地基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风险评估是生物安全的地基</a:t>
            </a:r>
          </a:p>
          <a:p>
            <a:pPr>
              <a:spcAft>
                <a:spcPts val="1000"/>
              </a:spcAft>
            </a:pPr>
            <a:r>
              <a:rPr sz="1700">
                <a:solidFill>
                  <a:srgbClr val="222B33"/>
                </a:solidFill>
                <a:latin typeface="Microsoft YaHei"/>
              </a:rPr>
              <a:t>▪ 看可能性、后果，也看哪些地方拿不准</a:t>
            </a:r>
          </a:p>
          <a:p>
            <a:pPr>
              <a:spcAft>
                <a:spcPts val="1000"/>
              </a:spcAft>
            </a:pPr>
            <a:r>
              <a:rPr sz="1700">
                <a:solidFill>
                  <a:srgbClr val="222B33"/>
                </a:solidFill>
                <a:latin typeface="Microsoft YaHei"/>
              </a:rPr>
              <a:t>▪ 先评估再动手，顺序不能反</a:t>
            </a:r>
          </a:p>
          <a:p>
            <a:pPr>
              <a:spcAft>
                <a:spcPts val="1000"/>
              </a:spcAft>
            </a:pPr>
            <a:r>
              <a:rPr sz="1700">
                <a:solidFill>
                  <a:srgbClr val="222B33"/>
                </a:solidFill>
                <a:latin typeface="Microsoft YaHei"/>
              </a:rPr>
              <a:t>▪ 用菌先问来源，来历不明不乱用</a:t>
            </a:r>
          </a:p>
          <a:p>
            <a:pPr>
              <a:spcAft>
                <a:spcPts val="1000"/>
              </a:spcAft>
            </a:pPr>
            <a:r>
              <a:rPr sz="1700">
                <a:solidFill>
                  <a:srgbClr val="222B33"/>
                </a:solidFill>
                <a:latin typeface="Microsoft YaHei"/>
              </a:rPr>
              <a:t>▪ 评估、控制、看效果，不断改进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先动手做实验，出了问题再补评估</a:t>
            </a:r>
          </a:p>
          <a:p>
            <a:pPr>
              <a:spcAft>
                <a:spcPts val="1000"/>
              </a:spcAft>
            </a:pPr>
            <a:r>
              <a:rPr sz="1500">
                <a:solidFill>
                  <a:srgbClr val="222B33"/>
                </a:solidFill>
                <a:latin typeface="Microsoft YaHei"/>
              </a:rPr>
              <a:t>▪ 使用来历不明的菌种或样本，不问来源</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危害是物，风险来自操作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危害：任何可能造成伤害的东西</a:t>
            </a:r>
          </a:p>
          <a:p>
            <a:pPr>
              <a:spcAft>
                <a:spcPts val="1000"/>
              </a:spcAft>
            </a:pPr>
            <a:r>
              <a:rPr sz="2000">
                <a:solidFill>
                  <a:srgbClr val="222B33"/>
                </a:solidFill>
                <a:latin typeface="Microsoft YaHei"/>
              </a:rPr>
              <a:t>▪ 伤害源是生物因子，就是生物风险</a:t>
            </a:r>
          </a:p>
          <a:p>
            <a:pPr>
              <a:spcAft>
                <a:spcPts val="1000"/>
              </a:spcAft>
            </a:pPr>
            <a:r>
              <a:rPr sz="2000">
                <a:solidFill>
                  <a:srgbClr val="222B33"/>
                </a:solidFill>
                <a:latin typeface="Microsoft YaHei"/>
              </a:rPr>
              <a:t>▪ 动手操作，危害才变成风险</a:t>
            </a:r>
          </a:p>
          <a:p>
            <a:pPr>
              <a:spcAft>
                <a:spcPts val="1000"/>
              </a:spcAft>
            </a:pPr>
            <a:r>
              <a:rPr sz="2000">
                <a:solidFill>
                  <a:srgbClr val="222B33"/>
                </a:solidFill>
                <a:latin typeface="Microsoft YaHei"/>
              </a:rPr>
              <a:t>▪ 操作、运输、被盗、封闭破损都带来风险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危害是任何可能造成伤害的东西，生物因子（病原微生物、毒素、感染性样本等）就是潜在的危害。风险则是这种伤害真正发生的可能性及其后果；伤害源是生物因子的，就叫生物风险。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把危害和风险混为一谈，只看病原不看操作</a:t>
            </a:r>
          </a:p>
          <a:p>
            <a:pPr>
              <a:spcAft>
                <a:spcPts val="1000"/>
              </a:spcAft>
            </a:pPr>
            <a:r>
              <a:rPr sz="1500">
                <a:solidFill>
                  <a:srgbClr val="222B33"/>
                </a:solidFill>
                <a:latin typeface="Microsoft YaHei"/>
              </a:rPr>
              <a:t>▪ 只考虑实验操作，忽略运输、储存和被盗丢失</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风险看可能性和后果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风险由可能性和后果共同决定</a:t>
            </a:r>
          </a:p>
          <a:p>
            <a:pPr>
              <a:spcAft>
                <a:spcPts val="1000"/>
              </a:spcAft>
            </a:pPr>
            <a:r>
              <a:rPr sz="2000">
                <a:solidFill>
                  <a:srgbClr val="222B33"/>
                </a:solidFill>
                <a:latin typeface="Microsoft YaHei"/>
              </a:rPr>
              <a:t>▪ 可能性：出事的几率有多大</a:t>
            </a:r>
          </a:p>
          <a:p>
            <a:pPr>
              <a:spcAft>
                <a:spcPts val="1000"/>
              </a:spcAft>
            </a:pPr>
            <a:r>
              <a:rPr sz="2000">
                <a:solidFill>
                  <a:srgbClr val="222B33"/>
                </a:solidFill>
                <a:latin typeface="Microsoft YaHei"/>
              </a:rPr>
              <a:t>▪ 后果：对人和环境的伤害有多大</a:t>
            </a:r>
          </a:p>
          <a:p>
            <a:pPr>
              <a:spcAft>
                <a:spcPts val="1000"/>
              </a:spcAft>
            </a:pPr>
            <a:r>
              <a:rPr sz="2000">
                <a:solidFill>
                  <a:srgbClr val="222B33"/>
                </a:solidFill>
                <a:latin typeface="Microsoft YaHei"/>
              </a:rPr>
              <a:t>▪ 例：转运不规范，泄漏可能大，人会被感染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风险是可能性和后果（严重程度）的组合。可能性指防护失效、发生暴露的几率有多大；后果指一旦发生，对人员、公众和环境造成的伤害有多大。两者结合起来，才能看出风险的高低。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只看后果，认为“病原不太危险就不用管”</a:t>
            </a:r>
          </a:p>
          <a:p>
            <a:pPr>
              <a:spcAft>
                <a:spcPts val="1000"/>
              </a:spcAft>
            </a:pPr>
            <a:r>
              <a:rPr sz="1500">
                <a:solidFill>
                  <a:srgbClr val="222B33"/>
                </a:solidFill>
                <a:latin typeface="Microsoft YaHei"/>
              </a:rPr>
              <a:t>▪ 只看可能性，认为“从没出过事”就是低风险</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守规矩降的是可能性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守规则能降低出事的可能性</a:t>
            </a:r>
          </a:p>
          <a:p>
            <a:pPr>
              <a:spcAft>
                <a:spcPts val="1000"/>
              </a:spcAft>
            </a:pPr>
            <a:r>
              <a:rPr sz="2000">
                <a:solidFill>
                  <a:srgbClr val="222B33"/>
                </a:solidFill>
                <a:latin typeface="Microsoft YaHei"/>
              </a:rPr>
              <a:t>▪ 万一发生，后果不一定变轻</a:t>
            </a:r>
          </a:p>
          <a:p>
            <a:pPr>
              <a:spcAft>
                <a:spcPts val="1000"/>
              </a:spcAft>
            </a:pPr>
            <a:r>
              <a:rPr sz="2000">
                <a:solidFill>
                  <a:srgbClr val="222B33"/>
                </a:solidFill>
                <a:latin typeface="Microsoft YaHei"/>
              </a:rPr>
              <a:t>▪ 病原关在实验室里，风险很低</a:t>
            </a:r>
          </a:p>
          <a:p>
            <a:pPr>
              <a:spcAft>
                <a:spcPts val="1000"/>
              </a:spcAft>
            </a:pPr>
            <a:r>
              <a:rPr sz="2000">
                <a:solidFill>
                  <a:srgbClr val="222B33"/>
                </a:solidFill>
                <a:latin typeface="Microsoft YaHei"/>
              </a:rPr>
              <a:t>▪ 意外泄漏或被滥用，后果就很高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认为自己操作熟练，就可以降低防护要求</a:t>
            </a:r>
          </a:p>
          <a:p>
            <a:pPr>
              <a:spcAft>
                <a:spcPts val="1000"/>
              </a:spcAft>
            </a:pPr>
            <a:r>
              <a:rPr sz="1500">
                <a:solidFill>
                  <a:srgbClr val="222B33"/>
                </a:solidFill>
                <a:latin typeface="Microsoft YaHei"/>
              </a:rPr>
              <a:t>▪ 只防意外，不防样本丢失、被盗和滥用</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可能性与后果分级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可能性问：发生的概率有多大</a:t>
            </a:r>
          </a:p>
          <a:p>
            <a:pPr>
              <a:spcAft>
                <a:spcPts val="1000"/>
              </a:spcAft>
            </a:pPr>
            <a:r>
              <a:rPr sz="2000">
                <a:solidFill>
                  <a:srgbClr val="222B33"/>
                </a:solidFill>
                <a:latin typeface="Microsoft YaHei"/>
              </a:rPr>
              <a:t>▪ 后果问：万一发生，会有多严重</a:t>
            </a:r>
          </a:p>
          <a:p>
            <a:pPr>
              <a:spcAft>
                <a:spcPts val="1000"/>
              </a:spcAft>
            </a:pPr>
            <a:r>
              <a:rPr sz="2000">
                <a:solidFill>
                  <a:srgbClr val="222B33"/>
                </a:solidFill>
                <a:latin typeface="Microsoft YaHei"/>
              </a:rPr>
              <a:t>▪ 两边常分三到五级</a:t>
            </a:r>
          </a:p>
          <a:p>
            <a:pPr>
              <a:spcAft>
                <a:spcPts val="1000"/>
              </a:spcAft>
            </a:pPr>
            <a:r>
              <a:rPr sz="2000">
                <a:solidFill>
                  <a:srgbClr val="222B33"/>
                </a:solidFill>
                <a:latin typeface="Microsoft YaHei"/>
              </a:rPr>
              <a:t>▪ 分几级、怎么判，按本校评估程序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了把风险说清楚，可能性和后果都要分级。可能性回答“发生的概率有多大”，可从“很少”到“经常”分级；后果回答“万一发生会怎样”，可从“轻微”（无伤害或轻微不适）到“严重”（严重疾病、扩散到社区或环境）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每个人凭感觉打分，没有统一的分级标准</a:t>
            </a:r>
          </a:p>
          <a:p>
            <a:pPr>
              <a:spcAft>
                <a:spcPts val="1000"/>
              </a:spcAft>
            </a:pPr>
            <a:r>
              <a:rPr sz="1500">
                <a:solidFill>
                  <a:srgbClr val="222B33"/>
                </a:solidFill>
                <a:latin typeface="Microsoft YaHei"/>
              </a:rPr>
              <a:t>▪ 只写“风险较低”，说不出依据</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可能性和后果交叉，就是风险矩阵</a:t>
            </a:r>
          </a:p>
          <a:p>
            <a:pPr>
              <a:spcAft>
                <a:spcPts val="1000"/>
              </a:spcAft>
            </a:pPr>
            <a:r>
              <a:rPr sz="2000">
                <a:solidFill>
                  <a:srgbClr val="222B33"/>
                </a:solidFill>
                <a:latin typeface="Microsoft YaHei"/>
              </a:rPr>
              <a:t>▪ 都低最安全，都高最危险</a:t>
            </a:r>
          </a:p>
          <a:p>
            <a:pPr>
              <a:spcAft>
                <a:spcPts val="1000"/>
              </a:spcAft>
            </a:pPr>
            <a:r>
              <a:rPr sz="2000">
                <a:solidFill>
                  <a:srgbClr val="222B33"/>
                </a:solidFill>
                <a:latin typeface="Microsoft YaHei"/>
              </a:rPr>
              <a:t>▪ 每个风险点放进矩阵，一目了然</a:t>
            </a:r>
          </a:p>
          <a:p>
            <a:pPr>
              <a:spcAft>
                <a:spcPts val="1000"/>
              </a:spcAft>
            </a:pPr>
            <a:r>
              <a:rPr sz="2000">
                <a:solidFill>
                  <a:srgbClr val="222B33"/>
                </a:solidFill>
                <a:latin typeface="Microsoft YaHei"/>
              </a:rPr>
              <a:t>▪ 红格风险优先处理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把可能性和后果的分级交叉成一张表，就是风险矩阵：可能性低、后果轻的落在绿格，风险最低；可能性大、后果重的落在红格，风险最高；中间是黄格。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只给整个实验打一个总分，不逐个风险点分析</a:t>
            </a:r>
          </a:p>
          <a:p>
            <a:pPr>
              <a:spcAft>
                <a:spcPts val="1000"/>
              </a:spcAft>
            </a:pPr>
            <a:r>
              <a:rPr sz="1500">
                <a:solidFill>
                  <a:srgbClr val="222B33"/>
                </a:solidFill>
                <a:latin typeface="Microsoft YaHei"/>
              </a:rPr>
              <a:t>▪ 评出红格仍照常开展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风险随操作而变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样本密封冻存，风险较低</a:t>
            </a:r>
          </a:p>
          <a:p>
            <a:pPr>
              <a:spcAft>
                <a:spcPts val="1000"/>
              </a:spcAft>
            </a:pPr>
            <a:r>
              <a:rPr sz="2000">
                <a:solidFill>
                  <a:srgbClr val="222B33"/>
                </a:solidFill>
                <a:latin typeface="Microsoft YaHei"/>
              </a:rPr>
              <a:t>▪ 拿出开盖提取，风险升高</a:t>
            </a:r>
          </a:p>
          <a:p>
            <a:pPr>
              <a:spcAft>
                <a:spcPts val="1000"/>
              </a:spcAft>
            </a:pPr>
            <a:r>
              <a:rPr sz="2000">
                <a:solidFill>
                  <a:srgbClr val="222B33"/>
                </a:solidFill>
                <a:latin typeface="Microsoft YaHei"/>
              </a:rPr>
              <a:t>▪ 培养活的病原，风险最高</a:t>
            </a:r>
          </a:p>
          <a:p>
            <a:pPr>
              <a:spcAft>
                <a:spcPts val="1000"/>
              </a:spcAft>
            </a:pPr>
            <a:r>
              <a:rPr sz="2000">
                <a:solidFill>
                  <a:srgbClr val="222B33"/>
                </a:solidFill>
                <a:latin typeface="Microsoft YaHei"/>
              </a:rPr>
              <a:t>▪ 储存也有风险：密封、标清、上锁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生物材料，风险随操作而变。样本密封冻存在罐里，风险较低；拿出来开盖处理、提取核酸，风险升高；培养活的病原（数量和浓度增加），风险最高。流程一步步往后走，风险一级级升高，一旦释放，后果也越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用冻存样本的风险等级去做培养实验</a:t>
            </a:r>
          </a:p>
          <a:p>
            <a:pPr>
              <a:spcAft>
                <a:spcPts val="1000"/>
              </a:spcAft>
            </a:pPr>
            <a:r>
              <a:rPr sz="1500">
                <a:solidFill>
                  <a:srgbClr val="222B33"/>
                </a:solidFill>
                <a:latin typeface="Microsoft YaHei"/>
              </a:rPr>
              <a:t>▪ 储存的样本不标识、不上锁</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评估六步，按顺序走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六步：识别、分析、评价、控制、记录、复查</a:t>
            </a:r>
          </a:p>
          <a:p>
            <a:pPr>
              <a:spcAft>
                <a:spcPts val="1000"/>
              </a:spcAft>
            </a:pPr>
            <a:r>
              <a:rPr sz="2000">
                <a:solidFill>
                  <a:srgbClr val="222B33"/>
                </a:solidFill>
                <a:latin typeface="Microsoft YaHei"/>
              </a:rPr>
              <a:t>▪ 按顺序走，不跳步</a:t>
            </a:r>
          </a:p>
          <a:p>
            <a:pPr>
              <a:spcAft>
                <a:spcPts val="1000"/>
              </a:spcAft>
            </a:pPr>
            <a:r>
              <a:rPr sz="2000">
                <a:solidFill>
                  <a:srgbClr val="222B33"/>
                </a:solidFill>
                <a:latin typeface="Microsoft YaHei"/>
              </a:rPr>
              <a:t>▪ 走完一遍，还要回头再看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风险评估有固定的步骤：危害识别、风险分析、风险评价、风险控制、记录、复查。也有资料把它概括为五步（识别、评估、控制、看残余风险、再决策），内容是一致的：先认清危害，再估计风险大小，加控制后看残余风险能否接受，然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跳过分析和评价，直接照搬防护措施</a:t>
            </a:r>
          </a:p>
          <a:p>
            <a:pPr>
              <a:spcAft>
                <a:spcPts val="1000"/>
              </a:spcAft>
            </a:pPr>
            <a:r>
              <a:rPr sz="1500">
                <a:solidFill>
                  <a:srgbClr val="222B33"/>
                </a:solidFill>
                <a:latin typeface="Microsoft YaHei"/>
              </a:rPr>
              <a:t>▪ 评估完一次就再不回头看</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第一步：危害识别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弄清用什么生物因子，查国内目录</a:t>
            </a:r>
          </a:p>
          <a:p>
            <a:pPr>
              <a:spcAft>
                <a:spcPts val="1000"/>
              </a:spcAft>
            </a:pPr>
            <a:r>
              <a:rPr sz="1700">
                <a:solidFill>
                  <a:srgbClr val="222B33"/>
                </a:solidFill>
                <a:latin typeface="Microsoft YaHei"/>
              </a:rPr>
              <a:t>▪ 国内第一类最危险，与国际风险组相反</a:t>
            </a:r>
          </a:p>
          <a:p>
            <a:pPr>
              <a:spcAft>
                <a:spcPts val="1000"/>
              </a:spcAft>
            </a:pPr>
            <a:r>
              <a:rPr sz="1700">
                <a:solidFill>
                  <a:srgbClr val="222B33"/>
                </a:solidFill>
                <a:latin typeface="Microsoft YaHei"/>
              </a:rPr>
              <a:t>▪ 列出操作，写清用量和浓度</a:t>
            </a:r>
          </a:p>
          <a:p>
            <a:pPr>
              <a:spcAft>
                <a:spcPts val="1000"/>
              </a:spcAft>
            </a:pPr>
            <a:r>
              <a:rPr sz="1700">
                <a:solidFill>
                  <a:srgbClr val="222B33"/>
                </a:solidFill>
                <a:latin typeface="Microsoft YaHei"/>
              </a:rPr>
              <a:t>▪ 气溶胶、溅洒、锐器要重点看</a:t>
            </a:r>
          </a:p>
          <a:p>
            <a:pPr>
              <a:spcAft>
                <a:spcPts val="1000"/>
              </a:spcAft>
            </a:pPr>
            <a:r>
              <a:rPr sz="1700">
                <a:solidFill>
                  <a:srgbClr val="222B33"/>
                </a:solidFill>
                <a:latin typeface="Microsoft YaHei"/>
              </a:rPr>
              <a:t>▪ 化学和物理危害一起找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第一步是危害识别：先弄清用的是什么生物因子，查《人间传染的病原微生物目录》（以现行版本为准），认出它属于哪一类，再查病原资料拿到依据（要素清单见第 068 课）。注意两套编号：国内病原分类第一类危害最大、第四类最小，……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把国际风险组的编号当成国内分类，弄反危险程度</a:t>
            </a:r>
          </a:p>
          <a:p>
            <a:pPr>
              <a:spcAft>
                <a:spcPts val="1000"/>
              </a:spcAft>
            </a:pPr>
            <a:r>
              <a:rPr sz="1500">
                <a:solidFill>
                  <a:srgbClr val="222B33"/>
                </a:solidFill>
                <a:latin typeface="Microsoft YaHei"/>
              </a:rPr>
              <a:t>▪ 只看病原，不看产生气溶胶的操作和化学、物理危害</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估计暴露的可能性和后果</a:t>
            </a:r>
          </a:p>
          <a:p>
            <a:pPr>
              <a:spcAft>
                <a:spcPts val="1000"/>
              </a:spcAft>
            </a:pPr>
            <a:r>
              <a:rPr sz="2000">
                <a:solidFill>
                  <a:srgbClr val="222B33"/>
                </a:solidFill>
                <a:latin typeface="Microsoft YaHei"/>
              </a:rPr>
              <a:t>▪ 想清楚谁可能受害</a:t>
            </a:r>
          </a:p>
          <a:p>
            <a:pPr>
              <a:spcAft>
                <a:spcPts val="1000"/>
              </a:spcAft>
            </a:pPr>
            <a:r>
              <a:rPr sz="2000">
                <a:solidFill>
                  <a:srgbClr val="222B33"/>
                </a:solidFill>
                <a:latin typeface="Microsoft YaHei"/>
              </a:rPr>
              <a:t>▪ 途径：吸入、溅入、刺伤、食入</a:t>
            </a:r>
          </a:p>
          <a:p>
            <a:pPr>
              <a:spcAft>
                <a:spcPts val="1000"/>
              </a:spcAft>
            </a:pPr>
            <a:r>
              <a:rPr sz="2000">
                <a:solidFill>
                  <a:srgbClr val="222B33"/>
                </a:solidFill>
                <a:latin typeface="Microsoft YaHei"/>
              </a:rPr>
              <a:t>▪ 来历不清的样本，风险往高处估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只考虑操作者本人，忽略同事和保洁清运人员</a:t>
            </a:r>
          </a:p>
          <a:p>
            <a:pPr>
              <a:spcAft>
                <a:spcPts val="1000"/>
              </a:spcAft>
            </a:pPr>
            <a:r>
              <a:rPr sz="1500">
                <a:solidFill>
                  <a:srgbClr val="222B33"/>
                </a:solidFill>
                <a:latin typeface="Microsoft YaHei"/>
              </a:rPr>
              <a:t>▪ 资料不清时按最低风险估计</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第三步：风险评价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定出总体风险等级：低、中、高</a:t>
            </a:r>
          </a:p>
          <a:p>
            <a:pPr>
              <a:spcAft>
                <a:spcPts val="1000"/>
              </a:spcAft>
            </a:pPr>
            <a:r>
              <a:rPr sz="2000">
                <a:solidFill>
                  <a:srgbClr val="222B33"/>
                </a:solidFill>
                <a:latin typeface="Microsoft YaHei"/>
              </a:rPr>
              <a:t>▪ 等级决定要多强的措施</a:t>
            </a:r>
          </a:p>
          <a:p>
            <a:pPr>
              <a:spcAft>
                <a:spcPts val="1000"/>
              </a:spcAft>
            </a:pPr>
            <a:r>
              <a:rPr sz="2000">
                <a:solidFill>
                  <a:srgbClr val="222B33"/>
                </a:solidFill>
                <a:latin typeface="Microsoft YaHei"/>
              </a:rPr>
              <a:t>▪ 看现有控制够不够</a:t>
            </a:r>
          </a:p>
          <a:p>
            <a:pPr>
              <a:spcAft>
                <a:spcPts val="1000"/>
              </a:spcAft>
            </a:pPr>
            <a:r>
              <a:rPr sz="2000">
                <a:solidFill>
                  <a:srgbClr val="222B33"/>
                </a:solidFill>
                <a:latin typeface="Microsoft YaHei"/>
              </a:rPr>
              <a:t>▪ 够就可接受，不够就再加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第三步是风险评价：根据分析结果和风险矩阵，给出总体风险等级——低、中还是高。等级决定要采取多强的控制措施和在哪一级实验室开展。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只给出等级，不对照现有控制是否足够</a:t>
            </a:r>
          </a:p>
          <a:p>
            <a:pPr>
              <a:spcAft>
                <a:spcPts val="1000"/>
              </a:spcAft>
            </a:pPr>
            <a:r>
              <a:rPr sz="1500">
                <a:solidFill>
                  <a:srgbClr val="222B33"/>
                </a:solidFill>
                <a:latin typeface="Microsoft YaHei"/>
              </a:rPr>
              <a:t>▪ 风险等级高，却沿用低等级的做法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第四步：风险控制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按控制层级选择措施</a:t>
            </a:r>
          </a:p>
          <a:p>
            <a:pPr>
              <a:spcAft>
                <a:spcPts val="1000"/>
              </a:spcAft>
            </a:pPr>
            <a:r>
              <a:rPr sz="2000">
                <a:solidFill>
                  <a:srgbClr val="222B33"/>
                </a:solidFill>
                <a:latin typeface="Microsoft YaHei"/>
              </a:rPr>
              <a:t>▪ 工程控制、个人防护、标准规程一起上</a:t>
            </a:r>
          </a:p>
          <a:p>
            <a:pPr>
              <a:spcAft>
                <a:spcPts val="1000"/>
              </a:spcAft>
            </a:pPr>
            <a:r>
              <a:rPr sz="2000">
                <a:solidFill>
                  <a:srgbClr val="222B33"/>
                </a:solidFill>
                <a:latin typeface="Microsoft YaHei"/>
              </a:rPr>
              <a:t>▪ 例：用密封转子，在安全柜里开盖</a:t>
            </a:r>
          </a:p>
          <a:p>
            <a:pPr>
              <a:spcAft>
                <a:spcPts val="1000"/>
              </a:spcAft>
            </a:pPr>
            <a:r>
              <a:rPr sz="2000">
                <a:solidFill>
                  <a:srgbClr val="222B33"/>
                </a:solidFill>
                <a:latin typeface="Microsoft YaHei"/>
              </a:rPr>
              <a:t>▪ 结论和建议交负责人和课题组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第四步是风险控制：按控制层级（见第 017 课）选择措施，用什么设备、穿什么防护、怎么操作。工程控制（合适级别的实验室、生物安全柜、密封离心转子）、个人防护和标准操作规程要一起上。例如离心可能产生气溶胶的样本时，使用……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只靠个人防护，不用工程控制</a:t>
            </a:r>
          </a:p>
          <a:p>
            <a:pPr>
              <a:spcAft>
                <a:spcPts val="1000"/>
              </a:spcAft>
            </a:pPr>
            <a:r>
              <a:rPr sz="1500">
                <a:solidFill>
                  <a:srgbClr val="222B33"/>
                </a:solidFill>
                <a:latin typeface="Microsoft YaHei"/>
              </a:rPr>
              <a:t>▪ 离心后在台面上直接开盖</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残余风险：能接受才开展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控制加完，总还剩残余风险</a:t>
            </a:r>
          </a:p>
          <a:p>
            <a:pPr>
              <a:spcAft>
                <a:spcPts val="1000"/>
              </a:spcAft>
            </a:pPr>
            <a:r>
              <a:rPr sz="1700">
                <a:solidFill>
                  <a:srgbClr val="222B33"/>
                </a:solidFill>
                <a:latin typeface="Microsoft YaHei"/>
              </a:rPr>
              <a:t>▪ 逐项评估，再合起来看总风险</a:t>
            </a:r>
          </a:p>
          <a:p>
            <a:pPr>
              <a:spcAft>
                <a:spcPts val="1000"/>
              </a:spcAft>
            </a:pPr>
            <a:r>
              <a:rPr sz="1700">
                <a:solidFill>
                  <a:srgbClr val="222B33"/>
                </a:solidFill>
                <a:latin typeface="Microsoft YaHei"/>
              </a:rPr>
              <a:t>▪ 可接受，负责人批准后才开展</a:t>
            </a:r>
          </a:p>
          <a:p>
            <a:pPr>
              <a:spcAft>
                <a:spcPts val="1000"/>
              </a:spcAft>
            </a:pPr>
            <a:r>
              <a:rPr sz="1700">
                <a:solidFill>
                  <a:srgbClr val="222B33"/>
                </a:solidFill>
                <a:latin typeface="Microsoft YaHei"/>
              </a:rPr>
              <a:t>▪ 不可接受，加措施或者不做</a:t>
            </a:r>
          </a:p>
          <a:p>
            <a:pPr>
              <a:spcAft>
                <a:spcPts val="1000"/>
              </a:spcAft>
            </a:pPr>
            <a:r>
              <a:rPr sz="1700">
                <a:solidFill>
                  <a:srgbClr val="222B33"/>
                </a:solidFill>
                <a:latin typeface="Microsoft YaHei"/>
              </a:rPr>
              <a:t>▪ 风险太高报生物安全委员会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采取控制措施后剩下的风险叫残余风险：风险能降下来，但清不了零。把要做的操作一项项列出来，每项单独评估，再合起来看总风险。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认为加了措施就“零风险”</a:t>
            </a:r>
          </a:p>
          <a:p>
            <a:pPr>
              <a:spcAft>
                <a:spcPts val="1000"/>
              </a:spcAft>
            </a:pPr>
            <a:r>
              <a:rPr sz="1500">
                <a:solidFill>
                  <a:srgbClr val="222B33"/>
                </a:solidFill>
                <a:latin typeface="Microsoft YaHei"/>
              </a:rPr>
              <a:t>▪ 残余风险不可接受，仍抱侥幸心理开展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第五步：记录成文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把评估过程和控制措施写下来</a:t>
            </a:r>
          </a:p>
          <a:p>
            <a:pPr>
              <a:spcAft>
                <a:spcPts val="1000"/>
              </a:spcAft>
            </a:pPr>
            <a:r>
              <a:rPr sz="2000">
                <a:solidFill>
                  <a:srgbClr val="222B33"/>
                </a:solidFill>
                <a:latin typeface="Microsoft YaHei"/>
              </a:rPr>
              <a:t>▪ 审核签字后存档备查</a:t>
            </a:r>
          </a:p>
          <a:p>
            <a:pPr>
              <a:spcAft>
                <a:spcPts val="1000"/>
              </a:spcAft>
            </a:pPr>
            <a:r>
              <a:rPr sz="2000">
                <a:solidFill>
                  <a:srgbClr val="222B33"/>
                </a:solidFill>
                <a:latin typeface="Microsoft YaHei"/>
              </a:rPr>
              <a:t>▪ 新来的人也能查到</a:t>
            </a:r>
          </a:p>
          <a:p>
            <a:pPr>
              <a:spcAft>
                <a:spcPts val="1000"/>
              </a:spcAft>
            </a:pPr>
            <a:r>
              <a:rPr sz="2000">
                <a:solidFill>
                  <a:srgbClr val="222B33"/>
                </a:solidFill>
                <a:latin typeface="Microsoft YaHei"/>
              </a:rPr>
              <a:t>▪ 写下来，更要每次做到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第五步是记录：把评估的过程、依据、结论和控制措施写成风险评估报告，按本校程序经审核批准后存档备查，新来的人也能查到和学习。书面记录的通用写法见第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评估只在脑子里，没有书面报告</a:t>
            </a:r>
          </a:p>
          <a:p>
            <a:pPr>
              <a:spcAft>
                <a:spcPts val="1000"/>
              </a:spcAft>
            </a:pPr>
            <a:r>
              <a:rPr sz="1500">
                <a:solidFill>
                  <a:srgbClr val="222B33"/>
                </a:solidFill>
                <a:latin typeface="Microsoft YaHei"/>
              </a:rPr>
              <a:t>▪ 报告写好就锁进柜子，操作时不照做</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第六步：复查与重新评估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没有变化，也要定期复查</a:t>
            </a:r>
          </a:p>
          <a:p>
            <a:pPr>
              <a:spcAft>
                <a:spcPts val="1000"/>
              </a:spcAft>
            </a:pPr>
            <a:r>
              <a:rPr sz="2000">
                <a:solidFill>
                  <a:srgbClr val="222B33"/>
                </a:solidFill>
                <a:latin typeface="Microsoft YaHei"/>
              </a:rPr>
              <a:t>▪ 换病原、换方法、换人、换设施要重评</a:t>
            </a:r>
          </a:p>
          <a:p>
            <a:pPr>
              <a:spcAft>
                <a:spcPts val="1000"/>
              </a:spcAft>
            </a:pPr>
            <a:r>
              <a:rPr sz="2000">
                <a:solidFill>
                  <a:srgbClr val="222B33"/>
                </a:solidFill>
                <a:latin typeface="Microsoft YaHei"/>
              </a:rPr>
              <a:t>▪ 出了事件，也要重新评估</a:t>
            </a:r>
          </a:p>
          <a:p>
            <a:pPr>
              <a:spcAft>
                <a:spcPts val="1000"/>
              </a:spcAft>
            </a:pPr>
            <a:r>
              <a:rPr sz="2000">
                <a:solidFill>
                  <a:srgbClr val="222B33"/>
                </a:solidFill>
                <a:latin typeface="Microsoft YaHei"/>
              </a:rPr>
              <a:t>▪ 新实验的防护级别报委员会审批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第六步是复查：即使没有变化，也要按本校规定定期复查评估报告。遇到以下情况要及时重新评估并更新：更换病原或材料、改变实验方法或流程、人员变化、设施设备变化，以及发生事件或事故之后。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换了方法或病原，仍沿用旧的评估报告</a:t>
            </a:r>
          </a:p>
          <a:p>
            <a:pPr>
              <a:spcAft>
                <a:spcPts val="1000"/>
              </a:spcAft>
            </a:pPr>
            <a:r>
              <a:rPr sz="1500">
                <a:solidFill>
                  <a:srgbClr val="222B33"/>
                </a:solidFill>
                <a:latin typeface="Microsoft YaHei"/>
              </a:rPr>
              <a:t>▪ 发生事件后只处理现场，不重新评估</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让动手的人参与评估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评估不是一个人填表</a:t>
            </a:r>
          </a:p>
          <a:p>
            <a:pPr>
              <a:spcAft>
                <a:spcPts val="1000"/>
              </a:spcAft>
            </a:pPr>
            <a:r>
              <a:rPr sz="2000">
                <a:solidFill>
                  <a:srgbClr val="222B33"/>
                </a:solidFill>
                <a:latin typeface="Microsoft YaHei"/>
              </a:rPr>
              <a:t>▪ 动手的人最清楚哪里容易出错</a:t>
            </a:r>
          </a:p>
          <a:p>
            <a:pPr>
              <a:spcAft>
                <a:spcPts val="1000"/>
              </a:spcAft>
            </a:pPr>
            <a:r>
              <a:rPr sz="2000">
                <a:solidFill>
                  <a:srgbClr val="222B33"/>
                </a:solidFill>
                <a:latin typeface="Microsoft YaHei"/>
              </a:rPr>
              <a:t>▪ 负责人组织，操作者参与，人人知晓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由负责人一人填写，操作者只签字</a:t>
            </a:r>
          </a:p>
          <a:p>
            <a:pPr>
              <a:spcAft>
                <a:spcPts val="1000"/>
              </a:spcAft>
            </a:pPr>
            <a:r>
              <a:rPr sz="1500">
                <a:solidFill>
                  <a:srgbClr val="222B33"/>
                </a:solidFill>
                <a:latin typeface="Microsoft YaHei"/>
              </a:rPr>
              <a:t>▪ 新成员加入后不学习本实验室的评估报告</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关于危害与风险，正确的是：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危害和风险是一回事</a:t>
            </a:r>
          </a:p>
          <a:p>
            <a:pPr algn="l"/>
            <a:r>
              <a:rPr sz="1500" b="0">
                <a:solidFill>
                  <a:srgbClr val="222B33"/>
                </a:solidFill>
                <a:latin typeface="Microsoft YaHei"/>
              </a:rPr>
              <a:t>B. 生物因子本身是危害，动手操作它才带来风险</a:t>
            </a:r>
          </a:p>
          <a:p>
            <a:pPr algn="l"/>
            <a:r>
              <a:rPr sz="1500" b="0">
                <a:solidFill>
                  <a:srgbClr val="222B33"/>
                </a:solidFill>
                <a:latin typeface="Microsoft YaHei"/>
              </a:rPr>
              <a:t>C. 只要病原危险，风险就一定高</a:t>
            </a:r>
          </a:p>
          <a:p>
            <a:pPr algn="l"/>
            <a:r>
              <a:rPr sz="1500" b="0">
                <a:solidFill>
                  <a:srgbClr val="222B33"/>
                </a:solidFill>
                <a:latin typeface="Microsoft YaHei"/>
              </a:rPr>
              <a:t>D. 储存的样本没有风险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判断：守规则操作能降低出事的可能性，所以万一发生暴露，后果也会变轻。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生物风险评估六步的正确顺序是：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控制、识别、记录、评价、分析、复查</a:t>
            </a:r>
          </a:p>
          <a:p>
            <a:pPr algn="l"/>
            <a:r>
              <a:rPr sz="1500" b="0">
                <a:solidFill>
                  <a:srgbClr val="222B33"/>
                </a:solidFill>
                <a:latin typeface="Microsoft YaHei"/>
              </a:rPr>
              <a:t>B. 识别、分析、评价、控制、记录、复查</a:t>
            </a:r>
          </a:p>
          <a:p>
            <a:pPr algn="l"/>
            <a:r>
              <a:rPr sz="1500" b="0">
                <a:solidFill>
                  <a:srgbClr val="222B33"/>
                </a:solidFill>
                <a:latin typeface="Microsoft YaHei"/>
              </a:rPr>
              <a:t>C. 记录、识别、控制、复查、分析、评价</a:t>
            </a:r>
          </a:p>
          <a:p>
            <a:pPr algn="l"/>
            <a:r>
              <a:rPr sz="1500" b="0">
                <a:solidFill>
                  <a:srgbClr val="222B33"/>
                </a:solidFill>
                <a:latin typeface="Microsoft YaHei"/>
              </a:rPr>
              <a:t>D. 评价、控制、识别、分析、记录、复查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下列哪种情况不需要立即重新评估？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更换病原</a:t>
            </a:r>
          </a:p>
          <a:p>
            <a:pPr algn="l"/>
            <a:r>
              <a:rPr sz="1500" b="0">
                <a:solidFill>
                  <a:srgbClr val="222B33"/>
                </a:solidFill>
                <a:latin typeface="Microsoft YaHei"/>
              </a:rPr>
              <a:t>B. 改变实验方法</a:t>
            </a:r>
          </a:p>
          <a:p>
            <a:pPr algn="l"/>
            <a:r>
              <a:rPr sz="1500" b="0">
                <a:solidFill>
                  <a:srgbClr val="222B33"/>
                </a:solidFill>
                <a:latin typeface="Microsoft YaHei"/>
              </a:rPr>
              <a:t>C. 发生暴露事件</a:t>
            </a:r>
          </a:p>
          <a:p>
            <a:pPr algn="l"/>
            <a:r>
              <a:rPr sz="1500" b="0">
                <a:solidFill>
                  <a:srgbClr val="222B33"/>
                </a:solidFill>
                <a:latin typeface="Microsoft YaHei"/>
              </a:rPr>
              <a:t>D. 同一人用同一方法重复做同一实验，且在复查周期内</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判断：控制措施加完后，残余风险能降为零，就可以开展实验。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简答：国内病原微生物分类与国际风险组在编号上有什么不同？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风险评估：生物安全的地基</a:t>
            </a:r>
          </a:p>
          <a:p>
            <a:pPr>
              <a:spcAft>
                <a:spcPts val="800"/>
              </a:spcAft>
            </a:pPr>
            <a:r>
              <a:rPr sz="1500">
                <a:solidFill>
                  <a:srgbClr val="FFFFFF"/>
                </a:solidFill>
                <a:latin typeface="Microsoft YaHei"/>
              </a:rPr>
              <a:t>▪ K2  危害是物，风险来自操作</a:t>
            </a:r>
          </a:p>
          <a:p>
            <a:pPr>
              <a:spcAft>
                <a:spcPts val="800"/>
              </a:spcAft>
            </a:pPr>
            <a:r>
              <a:rPr sz="1500">
                <a:solidFill>
                  <a:srgbClr val="FFFFFF"/>
                </a:solidFill>
                <a:latin typeface="Microsoft YaHei"/>
              </a:rPr>
              <a:t>▪ K3  风险看可能性和后果</a:t>
            </a:r>
          </a:p>
          <a:p>
            <a:pPr>
              <a:spcAft>
                <a:spcPts val="800"/>
              </a:spcAft>
            </a:pPr>
            <a:r>
              <a:rPr sz="1500">
                <a:solidFill>
                  <a:srgbClr val="FFFFFF"/>
                </a:solidFill>
                <a:latin typeface="Microsoft YaHei"/>
              </a:rPr>
              <a:t>▪ K4  守规矩降的是可能性</a:t>
            </a:r>
          </a:p>
          <a:p>
            <a:pPr>
              <a:spcAft>
                <a:spcPts val="800"/>
              </a:spcAft>
            </a:pPr>
            <a:r>
              <a:rPr sz="1500">
                <a:solidFill>
                  <a:srgbClr val="FFFFFF"/>
                </a:solidFill>
                <a:latin typeface="Microsoft YaHei"/>
              </a:rPr>
              <a:t>▪ K5  可能性与后果分级</a:t>
            </a:r>
          </a:p>
          <a:p>
            <a:pPr>
              <a:spcAft>
                <a:spcPts val="800"/>
              </a:spcAft>
            </a:pPr>
            <a:r>
              <a:rPr sz="1500">
                <a:solidFill>
                  <a:srgbClr val="FFFFFF"/>
                </a:solidFill>
                <a:latin typeface="Microsoft YaHei"/>
              </a:rPr>
              <a:t>▪ K6  风险矩阵</a:t>
            </a:r>
          </a:p>
          <a:p>
            <a:pPr>
              <a:spcAft>
                <a:spcPts val="800"/>
              </a:spcAft>
            </a:pPr>
            <a:r>
              <a:rPr sz="1500">
                <a:solidFill>
                  <a:srgbClr val="FFFFFF"/>
                </a:solidFill>
                <a:latin typeface="Microsoft YaHei"/>
              </a:rPr>
              <a:t>▪ K7  风险随操作而变</a:t>
            </a:r>
          </a:p>
          <a:p>
            <a:pPr>
              <a:spcAft>
                <a:spcPts val="800"/>
              </a:spcAft>
            </a:pPr>
            <a:r>
              <a:rPr sz="1500">
                <a:solidFill>
                  <a:srgbClr val="FFFFFF"/>
                </a:solidFill>
                <a:latin typeface="Microsoft YaHei"/>
              </a:rPr>
              <a:t>▪ K8  评估六步，按顺序走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第一步：危害识别</a:t>
            </a:r>
          </a:p>
          <a:p>
            <a:pPr>
              <a:spcAft>
                <a:spcPts val="800"/>
              </a:spcAft>
            </a:pPr>
            <a:r>
              <a:rPr sz="1500">
                <a:solidFill>
                  <a:srgbClr val="FFFFFF"/>
                </a:solidFill>
                <a:latin typeface="Microsoft YaHei"/>
              </a:rPr>
              <a:t>▪ K10  第二步：风险分析</a:t>
            </a:r>
          </a:p>
          <a:p>
            <a:pPr>
              <a:spcAft>
                <a:spcPts val="800"/>
              </a:spcAft>
            </a:pPr>
            <a:r>
              <a:rPr sz="1500">
                <a:solidFill>
                  <a:srgbClr val="FFFFFF"/>
                </a:solidFill>
                <a:latin typeface="Microsoft YaHei"/>
              </a:rPr>
              <a:t>▪ K11  第三步：风险评价</a:t>
            </a:r>
          </a:p>
          <a:p>
            <a:pPr>
              <a:spcAft>
                <a:spcPts val="800"/>
              </a:spcAft>
            </a:pPr>
            <a:r>
              <a:rPr sz="1500">
                <a:solidFill>
                  <a:srgbClr val="FFFFFF"/>
                </a:solidFill>
                <a:latin typeface="Microsoft YaHei"/>
              </a:rPr>
              <a:t>▪ K12  第四步：风险控制</a:t>
            </a:r>
          </a:p>
          <a:p>
            <a:pPr>
              <a:spcAft>
                <a:spcPts val="800"/>
              </a:spcAft>
            </a:pPr>
            <a:r>
              <a:rPr sz="1500">
                <a:solidFill>
                  <a:srgbClr val="FFFFFF"/>
                </a:solidFill>
                <a:latin typeface="Microsoft YaHei"/>
              </a:rPr>
              <a:t>▪ K13  残余风险：能接受才开展</a:t>
            </a:r>
          </a:p>
          <a:p>
            <a:pPr>
              <a:spcAft>
                <a:spcPts val="800"/>
              </a:spcAft>
            </a:pPr>
            <a:r>
              <a:rPr sz="1500">
                <a:solidFill>
                  <a:srgbClr val="FFFFFF"/>
                </a:solidFill>
                <a:latin typeface="Microsoft YaHei"/>
              </a:rPr>
              <a:t>▪ K14  第五步：记录成文</a:t>
            </a:r>
          </a:p>
          <a:p>
            <a:pPr>
              <a:spcAft>
                <a:spcPts val="800"/>
              </a:spcAft>
            </a:pPr>
            <a:r>
              <a:rPr sz="1500">
                <a:solidFill>
                  <a:srgbClr val="FFFFFF"/>
                </a:solidFill>
                <a:latin typeface="Microsoft YaHei"/>
              </a:rPr>
              <a:t>▪ K15  第六步：复查与重新评估</a:t>
            </a:r>
          </a:p>
          <a:p>
            <a:pPr>
              <a:spcAft>
                <a:spcPts val="800"/>
              </a:spcAft>
            </a:pPr>
            <a:r>
              <a:rPr sz="1500">
                <a:solidFill>
                  <a:srgbClr val="FFFFFF"/>
                </a:solidFill>
                <a:latin typeface="Microsoft YaHei"/>
              </a:rPr>
              <a:t>▪ K16  让动手的人参与评估</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病原与实验活动的评估要素</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95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能说出病原层面的评估要素（分类、致病性与感染剂量、感染途径与媒介、宿主范围、环境存活、本地流行、有无预防治疗、是否经过改造），知道国内病原分类与国际风险组方向相反。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能说出实验活动层面（用途、浓度与培养量、易暴露操作）和人员层面（免疫状态、健康与过敏）的评估要素，以及设施与管理问卷要问什么。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能做到把一个实验流程拆成单步，逐步用风险矩阵打分并汇总，评估结果成文审核后再进入减缓。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能判断未知病原、临床和环境样本等应从严评估，一个病原、一项实验要有专门的评估。</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《病原微生物实验室生物安全管理条例》（以现行文本为准）：病原微生物分类管理；实验活动须在相应级别实验室开展，高致病性病原微生物实验活动须经批准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生物安全通用要求》：风险评估应考虑的要素（生物因子特性、实验活动、人员、设施设备、管理等），评估报告成文并经审核</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233（以现行文本为准）《病原微生物实验室生物安全通用准则》：根据病原危害程度和实验活动进行风险评估</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《中华人民共和国生物安全法》《农业转基因生物安全管理条例》（以现行文本为准）：经改造的生物须评估并按规定审批（详见第 081 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一个病原、一项实验，一份评估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评估是摸清这一个病原的风险</a:t>
            </a:r>
          </a:p>
          <a:p>
            <a:pPr>
              <a:spcAft>
                <a:spcPts val="1000"/>
              </a:spcAft>
            </a:pPr>
            <a:r>
              <a:rPr sz="2000">
                <a:solidFill>
                  <a:srgbClr val="222B33"/>
                </a:solidFill>
                <a:latin typeface="Microsoft YaHei"/>
              </a:rPr>
              <a:t>▪ 一个病原一份评估，不能套用</a:t>
            </a:r>
          </a:p>
          <a:p>
            <a:pPr>
              <a:spcAft>
                <a:spcPts val="1000"/>
              </a:spcAft>
            </a:pPr>
            <a:r>
              <a:rPr sz="2000">
                <a:solidFill>
                  <a:srgbClr val="222B33"/>
                </a:solidFill>
                <a:latin typeface="Microsoft YaHei"/>
              </a:rPr>
              <a:t>▪ 没有通用清单，每个实验专门评估</a:t>
            </a:r>
          </a:p>
          <a:p>
            <a:pPr>
              <a:spcAft>
                <a:spcPts val="1000"/>
              </a:spcAft>
            </a:pPr>
            <a:r>
              <a:rPr sz="2000">
                <a:solidFill>
                  <a:srgbClr val="222B33"/>
                </a:solidFill>
                <a:latin typeface="Microsoft YaHei"/>
              </a:rPr>
              <a:t>▪ 评估是 AMP 第一步，先找危害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借用隔壁实验室或网上的评估报告</a:t>
            </a:r>
          </a:p>
          <a:p>
            <a:pPr>
              <a:spcAft>
                <a:spcPts val="1000"/>
              </a:spcAft>
            </a:pPr>
            <a:r>
              <a:rPr sz="1500">
                <a:solidFill>
                  <a:srgbClr val="222B33"/>
                </a:solidFill>
                <a:latin typeface="Microsoft YaHei"/>
              </a:rPr>
              <a:t>▪ 同一病原换了实验方法，仍用原来的评估</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未知病原和特殊样本从严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病原没弄清，风险看不清，评估从严</a:t>
            </a:r>
          </a:p>
          <a:p>
            <a:pPr>
              <a:spcAft>
                <a:spcPts val="1000"/>
              </a:spcAft>
            </a:pPr>
            <a:r>
              <a:rPr sz="2000">
                <a:solidFill>
                  <a:srgbClr val="222B33"/>
                </a:solidFill>
                <a:latin typeface="Microsoft YaHei"/>
              </a:rPr>
              <a:t>▪ 临床、土壤、野生动物、改造来源的样本要从严</a:t>
            </a:r>
          </a:p>
          <a:p>
            <a:pPr>
              <a:spcAft>
                <a:spcPts val="1000"/>
              </a:spcAft>
            </a:pPr>
            <a:r>
              <a:rPr sz="2000">
                <a:solidFill>
                  <a:srgbClr val="222B33"/>
                </a:solidFill>
                <a:latin typeface="Microsoft YaHei"/>
              </a:rPr>
              <a:t>▪ 看着健康的来源，也可能带病原</a:t>
            </a:r>
          </a:p>
          <a:p>
            <a:pPr>
              <a:spcAft>
                <a:spcPts val="1000"/>
              </a:spcAft>
            </a:pPr>
            <a:r>
              <a:rPr sz="2000">
                <a:solidFill>
                  <a:srgbClr val="222B33"/>
                </a:solidFill>
                <a:latin typeface="Microsoft YaHei"/>
              </a:rPr>
              <a:t>▪ 往高处估，报委员会审核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风险评估要以已知的病原信息为依据；不知道是什么，风险就看不清。病原还没有确认时，评估要从严，按较高的防护要求操作，并报单位生物安全委员会审核（定级见第 060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认为“看起来健康的动物样本没有风险”</a:t>
            </a:r>
          </a:p>
          <a:p>
            <a:pPr>
              <a:spcAft>
                <a:spcPts val="1000"/>
              </a:spcAft>
            </a:pPr>
            <a:r>
              <a:rPr sz="1500">
                <a:solidFill>
                  <a:srgbClr val="222B33"/>
                </a:solidFill>
                <a:latin typeface="Microsoft YaHei"/>
              </a:rPr>
              <a:t>▪ 病原未确认就按最低级别处理</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冰山：看不见的风险也要想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风险像冰山，大半在水面下</a:t>
            </a:r>
          </a:p>
          <a:p>
            <a:pPr>
              <a:spcAft>
                <a:spcPts val="1000"/>
              </a:spcAft>
            </a:pPr>
            <a:r>
              <a:rPr sz="2000">
                <a:solidFill>
                  <a:srgbClr val="222B33"/>
                </a:solidFill>
                <a:latin typeface="Microsoft YaHei"/>
              </a:rPr>
              <a:t>▪ 看得见的，能评估、能控制</a:t>
            </a:r>
          </a:p>
          <a:p>
            <a:pPr>
              <a:spcAft>
                <a:spcPts val="1000"/>
              </a:spcAft>
            </a:pPr>
            <a:r>
              <a:rPr sz="2000">
                <a:solidFill>
                  <a:srgbClr val="222B33"/>
                </a:solidFill>
                <a:latin typeface="Microsoft YaHei"/>
              </a:rPr>
              <a:t>▪ 看不见的，如没人知道的过敏，也要预判</a:t>
            </a:r>
          </a:p>
          <a:p>
            <a:pPr>
              <a:spcAft>
                <a:spcPts val="1000"/>
              </a:spcAft>
            </a:pPr>
            <a:r>
              <a:rPr sz="2000">
                <a:solidFill>
                  <a:srgbClr val="222B33"/>
                </a:solidFill>
                <a:latin typeface="Microsoft YaHei"/>
              </a:rPr>
              <a:t>▪ 评估要全面，看得见看不见都想到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风险评估像一座冰山：水面上看得见的风险，能评估、能控制；水面下看不见的风险，同样可能出事，比如一个没人知道的过敏、一种新方法里没有先例的问题。没有先例时，常规的问题清单也可能问不到。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清单上的项目都打了勾，就认为没有风险了</a:t>
            </a:r>
          </a:p>
          <a:p>
            <a:pPr>
              <a:spcAft>
                <a:spcPts val="1000"/>
              </a:spcAft>
            </a:pPr>
            <a:r>
              <a:rPr sz="1500">
                <a:solidFill>
                  <a:srgbClr val="222B33"/>
                </a:solidFill>
                <a:latin typeface="Microsoft YaHei"/>
              </a:rPr>
              <a:t>▪ 对没有先例的新方法不做额外考虑</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评估清单：病原、活动、人员、设施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评估清单分四块：病原、活动、人员、设施</a:t>
            </a:r>
          </a:p>
          <a:p>
            <a:pPr>
              <a:spcAft>
                <a:spcPts val="1000"/>
              </a:spcAft>
            </a:pPr>
            <a:r>
              <a:rPr sz="2000">
                <a:solidFill>
                  <a:srgbClr val="222B33"/>
                </a:solidFill>
                <a:latin typeface="Microsoft YaHei"/>
              </a:rPr>
              <a:t>▪ 病原：分类、途径、剂量、能不能治</a:t>
            </a:r>
          </a:p>
          <a:p>
            <a:pPr>
              <a:spcAft>
                <a:spcPts val="1000"/>
              </a:spcAft>
            </a:pPr>
            <a:r>
              <a:rPr sz="2000">
                <a:solidFill>
                  <a:srgbClr val="222B33"/>
                </a:solidFill>
                <a:latin typeface="Microsoft YaHei"/>
              </a:rPr>
              <a:t>▪ 活动：做什么、用量、几步、几人</a:t>
            </a:r>
          </a:p>
          <a:p>
            <a:pPr>
              <a:spcAft>
                <a:spcPts val="1000"/>
              </a:spcAft>
            </a:pPr>
            <a:r>
              <a:rPr sz="2000">
                <a:solidFill>
                  <a:srgbClr val="222B33"/>
                </a:solidFill>
                <a:latin typeface="Microsoft YaHei"/>
              </a:rPr>
              <a:t>▪ 照着准则，编成本组的评估工具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要看一串判据，可整理成一张清单，分四块：病原本身（分类、致病性、感染剂量、途径、存活、宿主、防治、是否改造）；实验活动（工艺、用量和浓度、步骤多少、参与人数）；人员（培训、健康和免疫状态）；设施与管理（设备、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只看病原一块，不看活动、人员和设施</a:t>
            </a:r>
          </a:p>
          <a:p>
            <a:pPr>
              <a:spcAft>
                <a:spcPts val="1000"/>
              </a:spcAft>
            </a:pPr>
            <a:r>
              <a:rPr sz="1500">
                <a:solidFill>
                  <a:srgbClr val="222B33"/>
                </a:solidFill>
                <a:latin typeface="Microsoft YaHei"/>
              </a:rPr>
              <a:t>▪ 清单项目写了，却不逐项回答</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病原：先查分类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第一问：它属于哪一类</a:t>
            </a:r>
          </a:p>
          <a:p>
            <a:pPr>
              <a:spcAft>
                <a:spcPts val="1000"/>
              </a:spcAft>
            </a:pPr>
            <a:r>
              <a:rPr sz="2000">
                <a:solidFill>
                  <a:srgbClr val="222B33"/>
                </a:solidFill>
                <a:latin typeface="Microsoft YaHei"/>
              </a:rPr>
              <a:t>▪ 查《人间传染的病原微生物目录》</a:t>
            </a:r>
          </a:p>
          <a:p>
            <a:pPr>
              <a:spcAft>
                <a:spcPts val="1000"/>
              </a:spcAft>
            </a:pPr>
            <a:r>
              <a:rPr sz="2000">
                <a:solidFill>
                  <a:srgbClr val="222B33"/>
                </a:solidFill>
                <a:latin typeface="Microsoft YaHei"/>
              </a:rPr>
              <a:t>▪ 国内第一类最危险，与国际风险组相反</a:t>
            </a:r>
          </a:p>
          <a:p>
            <a:pPr>
              <a:spcAft>
                <a:spcPts val="1000"/>
              </a:spcAft>
            </a:pPr>
            <a:r>
              <a:rPr sz="2000">
                <a:solidFill>
                  <a:srgbClr val="222B33"/>
                </a:solidFill>
                <a:latin typeface="Microsoft YaHei"/>
              </a:rPr>
              <a:t>▪ 分类只是起点，还要往下问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病原层面的第一问是：它属于哪一类？查《人间传染的病原微生物目录》（以现行版本为准），目录还规定了不同实验活动所需的实验室防护级别。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只查了分类，不再看操作和人员</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病原：致病性、感染剂量与后果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会不会致病，致病性有多强</a:t>
            </a:r>
          </a:p>
          <a:p>
            <a:pPr>
              <a:spcAft>
                <a:spcPts val="1000"/>
              </a:spcAft>
            </a:pPr>
            <a:r>
              <a:rPr sz="2000">
                <a:solidFill>
                  <a:srgbClr val="222B33"/>
                </a:solidFill>
                <a:latin typeface="Microsoft YaHei"/>
              </a:rPr>
              <a:t>▪ 感染剂量：多少量才会致病</a:t>
            </a:r>
          </a:p>
          <a:p>
            <a:pPr>
              <a:spcAft>
                <a:spcPts val="1000"/>
              </a:spcAft>
            </a:pPr>
            <a:r>
              <a:rPr sz="2000">
                <a:solidFill>
                  <a:srgbClr val="222B33"/>
                </a:solidFill>
                <a:latin typeface="Microsoft YaHei"/>
              </a:rPr>
              <a:t>▪ 很少的量就能致病，要格外小心</a:t>
            </a:r>
          </a:p>
          <a:p>
            <a:pPr>
              <a:spcAft>
                <a:spcPts val="1000"/>
              </a:spcAft>
            </a:pPr>
            <a:r>
              <a:rPr sz="2000">
                <a:solidFill>
                  <a:srgbClr val="222B33"/>
                </a:solidFill>
                <a:latin typeface="Microsoft YaHei"/>
              </a:rPr>
              <a:t>▪ 暴露后果有多重；培养体积尽量小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一看致病性：暴露后会不会致病，致病性有多强。二看感染剂量：多少量才会引起感染（具体数值查权威资料，不同病原差别很大）；感染剂量越低，越要格外小心。三看暴露后果：引起的疾病有多严重。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只看是否致病，不看感染剂量和后果严重程度</a:t>
            </a:r>
          </a:p>
          <a:p>
            <a:pPr>
              <a:spcAft>
                <a:spcPts val="1000"/>
              </a:spcAft>
            </a:pPr>
            <a:r>
              <a:rPr sz="1500">
                <a:solidFill>
                  <a:srgbClr val="222B33"/>
                </a:solidFill>
                <a:latin typeface="Microsoft YaHei"/>
              </a:rPr>
              <a:t>▪ 培养量远超实验需要</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病原：感染途径与媒介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从哪里进入人体：吸入、接触、刺伤、食入</a:t>
            </a:r>
          </a:p>
          <a:p>
            <a:pPr>
              <a:spcAft>
                <a:spcPts val="1000"/>
              </a:spcAft>
            </a:pPr>
            <a:r>
              <a:rPr sz="2000">
                <a:solidFill>
                  <a:srgbClr val="222B33"/>
                </a:solidFill>
                <a:latin typeface="Microsoft YaHei"/>
              </a:rPr>
              <a:t>▪ 会不会形成气溶胶，经空气传</a:t>
            </a:r>
          </a:p>
          <a:p>
            <a:pPr>
              <a:spcAft>
                <a:spcPts val="1000"/>
              </a:spcAft>
            </a:pPr>
            <a:r>
              <a:rPr sz="2000">
                <a:solidFill>
                  <a:srgbClr val="222B33"/>
                </a:solidFill>
                <a:latin typeface="Microsoft YaHei"/>
              </a:rPr>
              <a:t>▪ 有没有媒介或宿主帮它传</a:t>
            </a:r>
          </a:p>
          <a:p>
            <a:pPr>
              <a:spcAft>
                <a:spcPts val="1000"/>
              </a:spcAft>
            </a:pPr>
            <a:r>
              <a:rPr sz="2000">
                <a:solidFill>
                  <a:srgbClr val="222B33"/>
                </a:solidFill>
                <a:latin typeface="Microsoft YaHei"/>
              </a:rPr>
              <a:t>▪ 会不会人传人，也要查清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要查清病原从哪里进入人体：吸入气溶胶、皮肤黏膜接触、锐器刺伤，还是误食入口；会不会形成气溶胶经空气传播。还要看传播方式中有没有媒介（如蜱、蚊等）或动物宿主参与，以及会不会人传人。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只考虑自然感染途径，忽略实验室中的气溶胶和刺伤</a:t>
            </a:r>
          </a:p>
          <a:p>
            <a:pPr>
              <a:spcAft>
                <a:spcPts val="1000"/>
              </a:spcAft>
            </a:pPr>
            <a:r>
              <a:rPr sz="1500">
                <a:solidFill>
                  <a:srgbClr val="222B33"/>
                </a:solidFill>
                <a:latin typeface="Microsoft YaHei"/>
              </a:rPr>
              <a:t>▪ 不了解病原有无媒介和宿主</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病原：宿主范围、环境存活、本地流行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有的病原能在多种宿主里生存</a:t>
            </a:r>
          </a:p>
          <a:p>
            <a:pPr>
              <a:spcAft>
                <a:spcPts val="1000"/>
              </a:spcAft>
            </a:pPr>
            <a:r>
              <a:rPr sz="2000">
                <a:solidFill>
                  <a:srgbClr val="222B33"/>
                </a:solidFill>
                <a:latin typeface="Microsoft YaHei"/>
              </a:rPr>
              <a:t>▪ 有的从环境吸入就能感染</a:t>
            </a:r>
          </a:p>
          <a:p>
            <a:pPr>
              <a:spcAft>
                <a:spcPts val="1000"/>
              </a:spcAft>
            </a:pPr>
            <a:r>
              <a:rPr sz="2000">
                <a:solidFill>
                  <a:srgbClr val="222B33"/>
                </a:solidFill>
                <a:latin typeface="Microsoft YaHei"/>
              </a:rPr>
              <a:t>▪ 在环境里能活多久</a:t>
            </a:r>
          </a:p>
          <a:p>
            <a:pPr>
              <a:spcAft>
                <a:spcPts val="1000"/>
              </a:spcAft>
            </a:pPr>
            <a:r>
              <a:rPr sz="2000">
                <a:solidFill>
                  <a:srgbClr val="222B33"/>
                </a:solidFill>
                <a:latin typeface="Microsoft YaHei"/>
              </a:rPr>
              <a:t>▪ 本地流行还是外来，免疫背景不同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宿主范围：有的病原能在人、多种动物甚至环境中生存，宿主和来源很多样，有的从环境中吸入就能感染；制定管理方案时要把这些都算上。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只考虑人是宿主，忽略实验动物和环境</a:t>
            </a:r>
          </a:p>
          <a:p>
            <a:pPr>
              <a:spcAft>
                <a:spcPts val="1000"/>
              </a:spcAft>
            </a:pPr>
            <a:r>
              <a:rPr sz="1500">
                <a:solidFill>
                  <a:srgbClr val="222B33"/>
                </a:solidFill>
                <a:latin typeface="Microsoft YaHei"/>
              </a:rPr>
              <a:t>▪ 不考虑病原在环境中的存活时间</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病原：有无预防治疗和已有研究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有没有疫苗预防，有没有药物治疗</a:t>
            </a:r>
          </a:p>
          <a:p>
            <a:pPr>
              <a:spcAft>
                <a:spcPts val="1000"/>
              </a:spcAft>
            </a:pPr>
            <a:r>
              <a:rPr sz="2000">
                <a:solidFill>
                  <a:srgbClr val="222B33"/>
                </a:solidFill>
                <a:latin typeface="Microsoft YaHei"/>
              </a:rPr>
              <a:t>▪ 本地能不能及时预防和治疗</a:t>
            </a:r>
          </a:p>
          <a:p>
            <a:pPr>
              <a:spcAft>
                <a:spcPts val="1000"/>
              </a:spcAft>
            </a:pPr>
            <a:r>
              <a:rPr sz="2000">
                <a:solidFill>
                  <a:srgbClr val="222B33"/>
                </a:solidFill>
                <a:latin typeface="Microsoft YaHei"/>
              </a:rPr>
              <a:t>▪ 先查文献和已有研究，拿到依据</a:t>
            </a:r>
          </a:p>
          <a:p>
            <a:pPr>
              <a:spcAft>
                <a:spcPts val="1000"/>
              </a:spcAft>
            </a:pPr>
            <a:r>
              <a:rPr sz="2000">
                <a:solidFill>
                  <a:srgbClr val="222B33"/>
                </a:solidFill>
                <a:latin typeface="Microsoft YaHei"/>
              </a:rPr>
              <a:t>▪ 无药可防可治，风险更高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要问有没有有效的疫苗预防、有没有药物治疗，本地医疗机构能不能及时提供。没有有效的预防和治疗手段，暴露的后果就更严重，风险等级随之升高。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凭印象判断“有药可治”，不查资料</a:t>
            </a:r>
          </a:p>
          <a:p>
            <a:pPr>
              <a:spcAft>
                <a:spcPts val="1000"/>
              </a:spcAft>
            </a:pPr>
            <a:r>
              <a:rPr sz="1500">
                <a:solidFill>
                  <a:srgbClr val="222B33"/>
                </a:solidFill>
                <a:latin typeface="Microsoft YaHei"/>
              </a:rPr>
              <a:t>▪ 不了解本地医疗机构能否处置</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病原：是否经过改造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是否做过基因改造，一定要问</a:t>
            </a:r>
          </a:p>
          <a:p>
            <a:pPr>
              <a:spcAft>
                <a:spcPts val="1000"/>
              </a:spcAft>
            </a:pPr>
            <a:r>
              <a:rPr sz="2000">
                <a:solidFill>
                  <a:srgbClr val="222B33"/>
                </a:solidFill>
                <a:latin typeface="Microsoft YaHei"/>
              </a:rPr>
              <a:t>▪ 改造会带来新风险，要重新评估</a:t>
            </a:r>
          </a:p>
          <a:p>
            <a:pPr>
              <a:spcAft>
                <a:spcPts val="1000"/>
              </a:spcAft>
            </a:pPr>
            <a:r>
              <a:rPr sz="2000">
                <a:solidFill>
                  <a:srgbClr val="222B33"/>
                </a:solidFill>
                <a:latin typeface="Microsoft YaHei"/>
              </a:rPr>
              <a:t>▪ 植物还要问：会不会随花粉传出去</a:t>
            </a:r>
          </a:p>
          <a:p>
            <a:pPr>
              <a:spcAft>
                <a:spcPts val="1000"/>
              </a:spcAft>
            </a:pPr>
            <a:r>
              <a:rPr sz="2000">
                <a:solidFill>
                  <a:srgbClr val="222B33"/>
                </a:solidFill>
                <a:latin typeface="Microsoft YaHei"/>
              </a:rPr>
              <a:t>▪ 改造生物的评估见第 081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要问这个生物材料有没有做过基因改造。改造可能改变它的特性，带来新的风险，必须重新评估，并按规定报单位生物安全委员会审查；不能直接沿用未改造亲本的结论。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认为“改造后的菌株和原来一样”</a:t>
            </a:r>
          </a:p>
          <a:p>
            <a:pPr>
              <a:spcAft>
                <a:spcPts val="1000"/>
              </a:spcAft>
            </a:pPr>
            <a:r>
              <a:rPr sz="1500">
                <a:solidFill>
                  <a:srgbClr val="222B33"/>
                </a:solidFill>
                <a:latin typeface="Microsoft YaHei"/>
              </a:rPr>
              <a:t>▪ 改造实验不报委员会审查</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活动：拿它做什么，量有多大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活动第一问：你拿它做什么</a:t>
            </a:r>
          </a:p>
          <a:p>
            <a:pPr>
              <a:spcAft>
                <a:spcPts val="1000"/>
              </a:spcAft>
            </a:pPr>
            <a:r>
              <a:rPr sz="2000">
                <a:solidFill>
                  <a:srgbClr val="222B33"/>
                </a:solidFill>
                <a:latin typeface="Microsoft YaHei"/>
              </a:rPr>
              <a:t>▪ 冻存最低，检测升高，大量培养最高</a:t>
            </a:r>
          </a:p>
          <a:p>
            <a:pPr>
              <a:spcAft>
                <a:spcPts val="1000"/>
              </a:spcAft>
            </a:pPr>
            <a:r>
              <a:rPr sz="2000">
                <a:solidFill>
                  <a:srgbClr val="222B33"/>
                </a:solidFill>
                <a:latin typeface="Microsoft YaHei"/>
              </a:rPr>
              <a:t>▪ 浓度高、量大，风险也跟着涨</a:t>
            </a:r>
          </a:p>
          <a:p>
            <a:pPr>
              <a:spcAft>
                <a:spcPts val="1000"/>
              </a:spcAft>
            </a:pPr>
            <a:r>
              <a:rPr sz="2000">
                <a:solidFill>
                  <a:srgbClr val="222B33"/>
                </a:solidFill>
                <a:latin typeface="Microsoft YaHei"/>
              </a:rPr>
              <a:t>▪ 风险高的操作，防护相应升级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个病原，操作不同风险不同。评估先问：你拿它做什么？冻存保存风险最低，开展检测风险升高，大量培养风险最高；只提取核酸风险较低，种植改造植物并收集花粉风险较高。培养使病原数量增加，一旦溢洒后果更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按冻存样本的风险去做大量培养</a:t>
            </a:r>
          </a:p>
          <a:p>
            <a:pPr>
              <a:spcAft>
                <a:spcPts val="1000"/>
              </a:spcAft>
            </a:pPr>
            <a:r>
              <a:rPr sz="1500">
                <a:solidFill>
                  <a:srgbClr val="222B33"/>
                </a:solidFill>
                <a:latin typeface="Microsoft YaHei"/>
              </a:rPr>
              <a:t>▪ 随意扩大培养量和浓度</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活动：哪些操作容易暴露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标出易产生气溶胶的操作</a:t>
            </a:r>
          </a:p>
          <a:p>
            <a:pPr>
              <a:spcAft>
                <a:spcPts val="1000"/>
              </a:spcAft>
            </a:pPr>
            <a:r>
              <a:rPr sz="2000">
                <a:solidFill>
                  <a:srgbClr val="222B33"/>
                </a:solidFill>
                <a:latin typeface="Microsoft YaHei"/>
              </a:rPr>
              <a:t>▪ 有没有锐器、溅洒和手接触</a:t>
            </a:r>
          </a:p>
          <a:p>
            <a:pPr>
              <a:spcAft>
                <a:spcPts val="1000"/>
              </a:spcAft>
            </a:pPr>
            <a:r>
              <a:rPr sz="2000">
                <a:solidFill>
                  <a:srgbClr val="222B33"/>
                </a:solidFill>
                <a:latin typeface="Microsoft YaHei"/>
              </a:rPr>
              <a:t>▪ 把操作拆成小步，标出风险点</a:t>
            </a:r>
          </a:p>
          <a:p>
            <a:pPr>
              <a:spcAft>
                <a:spcPts val="1000"/>
              </a:spcAft>
            </a:pPr>
            <a:r>
              <a:rPr sz="2000">
                <a:solidFill>
                  <a:srgbClr val="222B33"/>
                </a:solidFill>
                <a:latin typeface="Microsoft YaHei"/>
              </a:rPr>
              <a:t>▪ 每步的风险，写进样本处理方案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把整个操作拆成一个个小步骤，每一步问：会不会产生气溶胶（离心、振荡、匀浆、超声、剧烈吹打等）？有没有锐器、溅洒和手接触？把这些风险点标出来。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只评估病原，不评估具体操作</a:t>
            </a:r>
          </a:p>
          <a:p>
            <a:pPr>
              <a:spcAft>
                <a:spcPts val="1000"/>
              </a:spcAft>
            </a:pPr>
            <a:r>
              <a:rPr sz="1500">
                <a:solidFill>
                  <a:srgbClr val="222B33"/>
                </a:solidFill>
                <a:latin typeface="Microsoft YaHei"/>
              </a:rPr>
              <a:t>▪ 忽略振荡、吹打等不起眼的气溶胶来源</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人员：免疫状态、健康与过敏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评估别只看病原，也要看人</a:t>
            </a:r>
          </a:p>
          <a:p>
            <a:pPr>
              <a:spcAft>
                <a:spcPts val="1000"/>
              </a:spcAft>
            </a:pPr>
            <a:r>
              <a:rPr sz="2000">
                <a:solidFill>
                  <a:srgbClr val="222B33"/>
                </a:solidFill>
                <a:latin typeface="Microsoft YaHei"/>
              </a:rPr>
              <a:t>▪ 免疫低下的人，要加额外防护</a:t>
            </a:r>
          </a:p>
          <a:p>
            <a:pPr>
              <a:spcAft>
                <a:spcPts val="1000"/>
              </a:spcAft>
            </a:pPr>
            <a:r>
              <a:rPr sz="2000">
                <a:solidFill>
                  <a:srgbClr val="222B33"/>
                </a:solidFill>
                <a:latin typeface="Microsoft YaHei"/>
              </a:rPr>
              <a:t>▪ 过敏、免疫低下要主动说明</a:t>
            </a:r>
          </a:p>
          <a:p>
            <a:pPr>
              <a:spcAft>
                <a:spcPts val="1000"/>
              </a:spcAft>
            </a:pPr>
            <a:r>
              <a:rPr sz="2000">
                <a:solidFill>
                  <a:srgbClr val="222B33"/>
                </a:solidFill>
                <a:latin typeface="Microsoft YaHei"/>
              </a:rPr>
              <a:t>▪ 负责人调整安排，并为个人保密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评估也要看操作的人：免疫状态、健康状况、过敏史、是否怀孕等。免疫低下的人风险更高，需要额外的防护，或者调整工作安排。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隐瞒自己的过敏或免疫低下情况</a:t>
            </a:r>
          </a:p>
          <a:p>
            <a:pPr>
              <a:spcAft>
                <a:spcPts val="1000"/>
              </a:spcAft>
            </a:pPr>
            <a:r>
              <a:rPr sz="1500">
                <a:solidFill>
                  <a:srgbClr val="222B33"/>
                </a:solidFill>
                <a:latin typeface="Microsoft YaHei"/>
              </a:rPr>
              <a:t>▪ 负责人公开传播成员的健康信息</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病原问卷：是或否，逐条答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把要素变成问卷，是或否逐条答</a:t>
            </a:r>
          </a:p>
          <a:p>
            <a:pPr>
              <a:spcAft>
                <a:spcPts val="1000"/>
              </a:spcAft>
            </a:pPr>
            <a:r>
              <a:rPr sz="2000">
                <a:solidFill>
                  <a:srgbClr val="222B33"/>
                </a:solidFill>
                <a:latin typeface="Microsoft YaHei"/>
              </a:rPr>
              <a:t>▪ 会致病吗？经吸入吗？经接触吗？</a:t>
            </a:r>
          </a:p>
          <a:p>
            <a:pPr>
              <a:spcAft>
                <a:spcPts val="1000"/>
              </a:spcAft>
            </a:pPr>
            <a:r>
              <a:rPr sz="2000">
                <a:solidFill>
                  <a:srgbClr val="222B33"/>
                </a:solidFill>
                <a:latin typeface="Microsoft YaHei"/>
              </a:rPr>
              <a:t>▪ 环境稳定吗？改造过吗？好治吗？</a:t>
            </a:r>
          </a:p>
          <a:p>
            <a:pPr>
              <a:spcAft>
                <a:spcPts val="1000"/>
              </a:spcAft>
            </a:pPr>
            <a:r>
              <a:rPr sz="2000">
                <a:solidFill>
                  <a:srgbClr val="222B33"/>
                </a:solidFill>
                <a:latin typeface="Microsoft YaHei"/>
              </a:rPr>
              <a:t>▪ 答“是”的地方，就是控制重点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可以把病原要素变成一份问卷，用“是”或“否”逐条回答：是病原吗？暴露后会致病吗？经吸入传播吗？经接触传播吗？在环境中稳定吗？经过改造吗？好治吗？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问卷只打勾不思考，拿不准也随便填“否”</a:t>
            </a:r>
          </a:p>
          <a:p>
            <a:pPr>
              <a:spcAft>
                <a:spcPts val="1000"/>
              </a:spcAft>
            </a:pPr>
            <a:r>
              <a:rPr sz="1500">
                <a:solidFill>
                  <a:srgbClr val="222B33"/>
                </a:solidFill>
                <a:latin typeface="Microsoft YaHei"/>
              </a:rPr>
              <a:t>▪ 答出风险点却没有对应的控制措施</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设施与管理问卷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培训够吗？有应急预案吗？</a:t>
            </a:r>
          </a:p>
          <a:p>
            <a:pPr>
              <a:spcAft>
                <a:spcPts val="1000"/>
              </a:spcAft>
            </a:pPr>
            <a:r>
              <a:rPr sz="2000">
                <a:solidFill>
                  <a:srgbClr val="222B33"/>
                </a:solidFill>
                <a:latin typeface="Microsoft YaHei"/>
              </a:rPr>
              <a:t>▪ 关键设备齐吗？防护够吗？</a:t>
            </a:r>
          </a:p>
          <a:p>
            <a:pPr>
              <a:spcAft>
                <a:spcPts val="1000"/>
              </a:spcAft>
            </a:pPr>
            <a:r>
              <a:rPr sz="2000">
                <a:solidFill>
                  <a:srgbClr val="222B33"/>
                </a:solidFill>
                <a:latin typeface="Microsoft YaHei"/>
              </a:rPr>
              <a:t>▪ 废物怎么处置？安保和规程呢？</a:t>
            </a:r>
          </a:p>
          <a:p>
            <a:pPr>
              <a:spcAft>
                <a:spcPts val="1000"/>
              </a:spcAft>
            </a:pPr>
            <a:r>
              <a:rPr sz="2000">
                <a:solidFill>
                  <a:srgbClr val="222B33"/>
                </a:solidFill>
                <a:latin typeface="Microsoft YaHei"/>
              </a:rPr>
              <a:t>▪ 和负责人一起确认；换病原要重写规程、重新培训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再看现有控制够不够，问设施与管理：人员培训够不够？有没有应急预案？关键设备（生物安全柜、高压灭菌器等）齐不齐、合格不合格？个人防护够不够？废物怎么处置？安保措施和专门的操作规程有没有？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设备过期未检测仍认为“控制够了”</a:t>
            </a:r>
          </a:p>
          <a:p>
            <a:pPr>
              <a:spcAft>
                <a:spcPts val="1000"/>
              </a:spcAft>
            </a:pPr>
            <a:r>
              <a:rPr sz="1500">
                <a:solidFill>
                  <a:srgbClr val="222B33"/>
                </a:solidFill>
                <a:latin typeface="Microsoft YaHei"/>
              </a:rPr>
              <a:t>▪ 换了病原仍用旧规程</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安全和安保两类风险都要评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要评两类：生物安全和生物安保</a:t>
            </a:r>
          </a:p>
          <a:p>
            <a:pPr>
              <a:spcAft>
                <a:spcPts val="1000"/>
              </a:spcAft>
            </a:pPr>
            <a:r>
              <a:rPr sz="2000">
                <a:solidFill>
                  <a:srgbClr val="222B33"/>
                </a:solidFill>
                <a:latin typeface="Microsoft YaHei"/>
              </a:rPr>
              <a:t>▪ 安全：人员和社区会不会暴露</a:t>
            </a:r>
          </a:p>
          <a:p>
            <a:pPr>
              <a:spcAft>
                <a:spcPts val="1000"/>
              </a:spcAft>
            </a:pPr>
            <a:r>
              <a:rPr sz="2000">
                <a:solidFill>
                  <a:srgbClr val="222B33"/>
                </a:solidFill>
                <a:latin typeface="Microsoft YaHei"/>
              </a:rPr>
              <a:t>▪ 安保：样本会不会丢失、被盗</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评估要同时看两类风险：生物安全风险——操作人员和周边社区会不会暴露；生物安保风险——样本会不会丢失、被盗或被滥用（生物安保见第 083 课）。两类风险都要放进同一张评估表里打分。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只评感染风险，不评样本丢失、被盗</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案例：一批疑似感染的血样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一批疑似感染的患者血样</a:t>
            </a:r>
          </a:p>
          <a:p>
            <a:pPr>
              <a:spcAft>
                <a:spcPts val="1000"/>
              </a:spcAft>
            </a:pPr>
            <a:r>
              <a:rPr sz="2000">
                <a:solidFill>
                  <a:srgbClr val="222B33"/>
                </a:solidFill>
                <a:latin typeface="Microsoft YaHei"/>
              </a:rPr>
              <a:t>▪ 镜检没查到，抗体查到了，未确证</a:t>
            </a:r>
          </a:p>
          <a:p>
            <a:pPr>
              <a:spcAft>
                <a:spcPts val="1000"/>
              </a:spcAft>
            </a:pPr>
            <a:r>
              <a:rPr sz="2000">
                <a:solidFill>
                  <a:srgbClr val="222B33"/>
                </a:solidFill>
                <a:latin typeface="Microsoft YaHei"/>
              </a:rPr>
              <a:t>▪ 已知靠蜱叮咬传，未见人传人</a:t>
            </a:r>
          </a:p>
          <a:p>
            <a:pPr>
              <a:spcAft>
                <a:spcPts val="1000"/>
              </a:spcAft>
            </a:pPr>
            <a:r>
              <a:rPr sz="2000">
                <a:solidFill>
                  <a:srgbClr val="222B33"/>
                </a:solidFill>
                <a:latin typeface="Microsoft YaHei"/>
              </a:rPr>
              <a:t>▪ 要做的是分离血清，做免疫检测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因为“镜检没查到”就按无感染性样本处理</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把流程拆成单步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结构化评估：把流程拆成单步</a:t>
            </a:r>
          </a:p>
          <a:p>
            <a:pPr>
              <a:spcAft>
                <a:spcPts val="1000"/>
              </a:spcAft>
            </a:pPr>
            <a:r>
              <a:rPr sz="2000">
                <a:solidFill>
                  <a:srgbClr val="222B33"/>
                </a:solidFill>
                <a:latin typeface="Microsoft YaHei"/>
              </a:rPr>
              <a:t>▪ 接收存放、编目、分离血清、检测</a:t>
            </a:r>
          </a:p>
          <a:p>
            <a:pPr>
              <a:spcAft>
                <a:spcPts val="1000"/>
              </a:spcAft>
            </a:pPr>
            <a:r>
              <a:rPr sz="2000">
                <a:solidFill>
                  <a:srgbClr val="222B33"/>
                </a:solidFill>
                <a:latin typeface="Microsoft YaHei"/>
              </a:rPr>
              <a:t>▪ 处置、去污、记录、应急，也不能漏</a:t>
            </a:r>
          </a:p>
          <a:p>
            <a:pPr>
              <a:spcAft>
                <a:spcPts val="1000"/>
              </a:spcAft>
            </a:pPr>
            <a:r>
              <a:rPr sz="2000">
                <a:solidFill>
                  <a:srgbClr val="222B33"/>
                </a:solidFill>
                <a:latin typeface="Microsoft YaHei"/>
              </a:rPr>
              <a:t>▪ 每一步插旗，逐一评估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结构化评估就是把一个流程拆成单个操作，一步一步评估。本案例拆成八步：接收与初始存放、样本编目、分离血清、免疫检测、检测后样本处置、去污、记录保存、意外暴露的应急处置。后四步常被忽略，也不能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只评估“检测”这一步，漏掉接收、处置和去污</a:t>
            </a:r>
          </a:p>
          <a:p>
            <a:pPr>
              <a:spcAft>
                <a:spcPts val="1000"/>
              </a:spcAft>
            </a:pPr>
            <a:r>
              <a:rPr sz="1500">
                <a:solidFill>
                  <a:srgbClr val="222B33"/>
                </a:solidFill>
                <a:latin typeface="Microsoft YaHei"/>
              </a:rPr>
              <a:t>▪ 不把应急处置列入评估</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逐步打分，汇成总表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每一步用风险矩阵打分</a:t>
            </a:r>
          </a:p>
          <a:p>
            <a:pPr>
              <a:spcAft>
                <a:spcPts val="1000"/>
              </a:spcAft>
            </a:pPr>
            <a:r>
              <a:rPr sz="2000">
                <a:solidFill>
                  <a:srgbClr val="222B33"/>
                </a:solidFill>
                <a:latin typeface="Microsoft YaHei"/>
              </a:rPr>
              <a:t>▪ 颜色分低、中、高、很高</a:t>
            </a:r>
          </a:p>
          <a:p>
            <a:pPr>
              <a:spcAft>
                <a:spcPts val="1000"/>
              </a:spcAft>
            </a:pPr>
            <a:r>
              <a:rPr sz="2000">
                <a:solidFill>
                  <a:srgbClr val="222B33"/>
                </a:solidFill>
                <a:latin typeface="Microsoft YaHei"/>
              </a:rPr>
              <a:t>▪ 汇成累计矩阵，全程风险一行看清</a:t>
            </a:r>
          </a:p>
          <a:p>
            <a:pPr>
              <a:spcAft>
                <a:spcPts val="1000"/>
              </a:spcAft>
            </a:pPr>
            <a:r>
              <a:rPr sz="2000">
                <a:solidFill>
                  <a:srgbClr val="222B33"/>
                </a:solidFill>
                <a:latin typeface="Microsoft YaHei"/>
              </a:rPr>
              <a:t>▪ 做熟了也别把可能性打低，看记录和险兆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每一步都用风险矩阵（可能性配后果，见第 067 课）打分，例如“接收和存放时意外暴露”可能性低、后果低；颜色分低、中、高、很高，一看就懂。各步汇总成累计矩阵或总表，全程风险一行看清，并找出风险最高的步骤。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凭感觉打分，没有依据</a:t>
            </a:r>
          </a:p>
          <a:p>
            <a:pPr>
              <a:spcAft>
                <a:spcPts val="1000"/>
              </a:spcAft>
            </a:pPr>
            <a:r>
              <a:rPr sz="1500">
                <a:solidFill>
                  <a:srgbClr val="222B33"/>
                </a:solidFill>
                <a:latin typeface="Microsoft YaHei"/>
              </a:rPr>
              <a:t>▪ 只看单步，不汇总全程风险</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决策点：评完再减缓，成文审核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决策点：残余风险够不够低</a:t>
            </a:r>
          </a:p>
          <a:p>
            <a:pPr>
              <a:spcAft>
                <a:spcPts val="1000"/>
              </a:spcAft>
            </a:pPr>
            <a:r>
              <a:rPr sz="2000">
                <a:solidFill>
                  <a:srgbClr val="222B33"/>
                </a:solidFill>
                <a:latin typeface="Microsoft YaHei"/>
              </a:rPr>
              <a:t>▪ 评完，再进入减缓</a:t>
            </a:r>
          </a:p>
          <a:p>
            <a:pPr>
              <a:spcAft>
                <a:spcPts val="1000"/>
              </a:spcAft>
            </a:pPr>
            <a:r>
              <a:rPr sz="2000">
                <a:solidFill>
                  <a:srgbClr val="222B33"/>
                </a:solidFill>
                <a:latin typeface="Microsoft YaHei"/>
              </a:rPr>
              <a:t>▪ 评估写成文件，经委员会审核</a:t>
            </a:r>
          </a:p>
          <a:p>
            <a:pPr>
              <a:spcAft>
                <a:spcPts val="1000"/>
              </a:spcAft>
            </a:pPr>
            <a:r>
              <a:rPr sz="2000">
                <a:solidFill>
                  <a:srgbClr val="222B33"/>
                </a:solidFill>
                <a:latin typeface="Microsoft YaHei"/>
              </a:rPr>
              <a:t>▪ 评清楚、控到位，再做决定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评估结束时有一个决策点：在现有控制下，残余风险是否可接受？不够低的，进入下一步风险减缓，对每一项风险点对应具体措施（见第 069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评估完不做决策，直接开始实验</a:t>
            </a:r>
          </a:p>
          <a:p>
            <a:pPr>
              <a:spcAft>
                <a:spcPts val="1000"/>
              </a:spcAft>
            </a:pPr>
            <a:r>
              <a:rPr sz="1500">
                <a:solidFill>
                  <a:srgbClr val="222B33"/>
                </a:solidFill>
                <a:latin typeface="Microsoft YaHei"/>
              </a:rPr>
              <a:t>▪ 评估报告不经审核</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关于病原分类，正确的是：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国内第一类病原危害最小</a:t>
            </a:r>
          </a:p>
          <a:p>
            <a:pPr algn="l"/>
            <a:r>
              <a:rPr sz="1500" b="0">
                <a:solidFill>
                  <a:srgbClr val="222B33"/>
                </a:solidFill>
                <a:latin typeface="Microsoft YaHei"/>
              </a:rPr>
              <a:t>B. 国内第一类危害最大，与国际风险组 1 组最低方向相反</a:t>
            </a:r>
          </a:p>
          <a:p>
            <a:pPr algn="l"/>
            <a:r>
              <a:rPr sz="1500" b="0">
                <a:solidFill>
                  <a:srgbClr val="222B33"/>
                </a:solidFill>
                <a:latin typeface="Microsoft YaHei"/>
              </a:rPr>
              <a:t>C. 国内分类与国际风险组编号完全一致</a:t>
            </a:r>
          </a:p>
          <a:p>
            <a:pPr algn="l"/>
            <a:r>
              <a:rPr sz="1500" b="0">
                <a:solidFill>
                  <a:srgbClr val="222B33"/>
                </a:solidFill>
                <a:latin typeface="Microsoft YaHei"/>
              </a:rPr>
              <a:t>D. 分类查到后就不用再评估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判断：同一种病原，只做核酸提取和做大量培养，风险是一样的。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下列哪项不属于病原层面的评估要素？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感染途径</a:t>
            </a:r>
          </a:p>
          <a:p>
            <a:pPr algn="l"/>
            <a:r>
              <a:rPr sz="1500" b="0">
                <a:solidFill>
                  <a:srgbClr val="222B33"/>
                </a:solidFill>
                <a:latin typeface="Microsoft YaHei"/>
              </a:rPr>
              <a:t>B. 有无预防和治疗手段</a:t>
            </a:r>
          </a:p>
          <a:p>
            <a:pPr algn="l"/>
            <a:r>
              <a:rPr sz="1500" b="0">
                <a:solidFill>
                  <a:srgbClr val="222B33"/>
                </a:solidFill>
                <a:latin typeface="Microsoft YaHei"/>
              </a:rPr>
              <a:t>C. 是否经过改造</a:t>
            </a:r>
          </a:p>
          <a:p>
            <a:pPr algn="l"/>
            <a:r>
              <a:rPr sz="1500" b="0">
                <a:solidFill>
                  <a:srgbClr val="222B33"/>
                </a:solidFill>
                <a:latin typeface="Microsoft YaHei"/>
              </a:rPr>
              <a:t>D. 实验室的装修颜色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判断：自己有过敏或免疫低下情况，属于个人隐私，不必告诉实验室负责人。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对一批疑似感染的血样做结构化评估，正确的做法是：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只评估检测这一步</a:t>
            </a:r>
          </a:p>
          <a:p>
            <a:pPr algn="l"/>
            <a:r>
              <a:rPr sz="1500" b="0">
                <a:solidFill>
                  <a:srgbClr val="222B33"/>
                </a:solidFill>
                <a:latin typeface="Microsoft YaHei"/>
              </a:rPr>
              <a:t>B. 把流程拆成接收存放、编目、分离、检测、处置、去污、记录、应急等单步，逐步打分再汇总</a:t>
            </a:r>
          </a:p>
          <a:p>
            <a:pPr algn="l"/>
            <a:r>
              <a:rPr sz="1500" b="0">
                <a:solidFill>
                  <a:srgbClr val="222B33"/>
                </a:solidFill>
                <a:latin typeface="Microsoft YaHei"/>
              </a:rPr>
              <a:t>C. 镜检没查到就按无感染性处理</a:t>
            </a:r>
          </a:p>
          <a:p>
            <a:pPr algn="l"/>
            <a:r>
              <a:rPr sz="1500" b="0">
                <a:solidFill>
                  <a:srgbClr val="222B33"/>
                </a:solidFill>
                <a:latin typeface="Microsoft YaHei"/>
              </a:rPr>
              <a:t>D. 借用别的实验室的评估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简答：哪些样本要从严评估？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一个病原、一项实验，一份评估</a:t>
            </a:r>
          </a:p>
          <a:p>
            <a:pPr>
              <a:spcAft>
                <a:spcPts val="800"/>
              </a:spcAft>
            </a:pPr>
            <a:r>
              <a:rPr sz="1500">
                <a:solidFill>
                  <a:srgbClr val="FFFFFF"/>
                </a:solidFill>
                <a:latin typeface="Microsoft YaHei"/>
              </a:rPr>
              <a:t>▪ K2  未知病原和特殊样本从严</a:t>
            </a:r>
          </a:p>
          <a:p>
            <a:pPr>
              <a:spcAft>
                <a:spcPts val="800"/>
              </a:spcAft>
            </a:pPr>
            <a:r>
              <a:rPr sz="1500">
                <a:solidFill>
                  <a:srgbClr val="FFFFFF"/>
                </a:solidFill>
                <a:latin typeface="Microsoft YaHei"/>
              </a:rPr>
              <a:t>▪ K3  冰山：看不见的风险也要想</a:t>
            </a:r>
          </a:p>
          <a:p>
            <a:pPr>
              <a:spcAft>
                <a:spcPts val="800"/>
              </a:spcAft>
            </a:pPr>
            <a:r>
              <a:rPr sz="1500">
                <a:solidFill>
                  <a:srgbClr val="FFFFFF"/>
                </a:solidFill>
                <a:latin typeface="Microsoft YaHei"/>
              </a:rPr>
              <a:t>▪ K4  评估清单：病原、活动、人员、设施</a:t>
            </a:r>
          </a:p>
          <a:p>
            <a:pPr>
              <a:spcAft>
                <a:spcPts val="800"/>
              </a:spcAft>
            </a:pPr>
            <a:r>
              <a:rPr sz="1500">
                <a:solidFill>
                  <a:srgbClr val="FFFFFF"/>
                </a:solidFill>
                <a:latin typeface="Microsoft YaHei"/>
              </a:rPr>
              <a:t>▪ K5  病原：先查分类</a:t>
            </a:r>
          </a:p>
          <a:p>
            <a:pPr>
              <a:spcAft>
                <a:spcPts val="800"/>
              </a:spcAft>
            </a:pPr>
            <a:r>
              <a:rPr sz="1500">
                <a:solidFill>
                  <a:srgbClr val="FFFFFF"/>
                </a:solidFill>
                <a:latin typeface="Microsoft YaHei"/>
              </a:rPr>
              <a:t>▪ K6  病原：致病性、感染剂量与后果</a:t>
            </a:r>
          </a:p>
          <a:p>
            <a:pPr>
              <a:spcAft>
                <a:spcPts val="800"/>
              </a:spcAft>
            </a:pPr>
            <a:r>
              <a:rPr sz="1500">
                <a:solidFill>
                  <a:srgbClr val="FFFFFF"/>
                </a:solidFill>
                <a:latin typeface="Microsoft YaHei"/>
              </a:rPr>
              <a:t>▪ K7  病原：感染途径与媒介</a:t>
            </a:r>
          </a:p>
          <a:p>
            <a:pPr>
              <a:spcAft>
                <a:spcPts val="800"/>
              </a:spcAft>
            </a:pPr>
            <a:r>
              <a:rPr sz="1500">
                <a:solidFill>
                  <a:srgbClr val="FFFFFF"/>
                </a:solidFill>
                <a:latin typeface="Microsoft YaHei"/>
              </a:rPr>
              <a:t>▪ K8  病原：宿主范围、环境存活、本地流行</a:t>
            </a:r>
          </a:p>
          <a:p>
            <a:pPr>
              <a:spcAft>
                <a:spcPts val="800"/>
              </a:spcAft>
            </a:pPr>
            <a:r>
              <a:rPr sz="1500">
                <a:solidFill>
                  <a:srgbClr val="FFFFFF"/>
                </a:solidFill>
                <a:latin typeface="Microsoft YaHei"/>
              </a:rPr>
              <a:t>▪ K9  病原：有无预防治疗和已有研究</a:t>
            </a:r>
          </a:p>
          <a:p>
            <a:pPr>
              <a:spcAft>
                <a:spcPts val="800"/>
              </a:spcAft>
            </a:pPr>
            <a:r>
              <a:rPr sz="1500">
                <a:solidFill>
                  <a:srgbClr val="FFFFFF"/>
                </a:solidFill>
                <a:latin typeface="Microsoft YaHei"/>
              </a:rPr>
              <a:t>▪ K10  病原：是否经过改造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活动：拿它做什么，量有多大</a:t>
            </a:r>
          </a:p>
          <a:p>
            <a:pPr>
              <a:spcAft>
                <a:spcPts val="800"/>
              </a:spcAft>
            </a:pPr>
            <a:r>
              <a:rPr sz="1500">
                <a:solidFill>
                  <a:srgbClr val="FFFFFF"/>
                </a:solidFill>
                <a:latin typeface="Microsoft YaHei"/>
              </a:rPr>
              <a:t>▪ K12  活动：哪些操作容易暴露</a:t>
            </a:r>
          </a:p>
          <a:p>
            <a:pPr>
              <a:spcAft>
                <a:spcPts val="800"/>
              </a:spcAft>
            </a:pPr>
            <a:r>
              <a:rPr sz="1500">
                <a:solidFill>
                  <a:srgbClr val="FFFFFF"/>
                </a:solidFill>
                <a:latin typeface="Microsoft YaHei"/>
              </a:rPr>
              <a:t>▪ K13  人员：免疫状态、健康与过敏</a:t>
            </a:r>
          </a:p>
          <a:p>
            <a:pPr>
              <a:spcAft>
                <a:spcPts val="800"/>
              </a:spcAft>
            </a:pPr>
            <a:r>
              <a:rPr sz="1500">
                <a:solidFill>
                  <a:srgbClr val="FFFFFF"/>
                </a:solidFill>
                <a:latin typeface="Microsoft YaHei"/>
              </a:rPr>
              <a:t>▪ K14  病原问卷：是或否，逐条答</a:t>
            </a:r>
          </a:p>
          <a:p>
            <a:pPr>
              <a:spcAft>
                <a:spcPts val="800"/>
              </a:spcAft>
            </a:pPr>
            <a:r>
              <a:rPr sz="1500">
                <a:solidFill>
                  <a:srgbClr val="FFFFFF"/>
                </a:solidFill>
                <a:latin typeface="Microsoft YaHei"/>
              </a:rPr>
              <a:t>▪ K15  设施与管理问卷</a:t>
            </a:r>
          </a:p>
          <a:p>
            <a:pPr>
              <a:spcAft>
                <a:spcPts val="800"/>
              </a:spcAft>
            </a:pPr>
            <a:r>
              <a:rPr sz="1500">
                <a:solidFill>
                  <a:srgbClr val="FFFFFF"/>
                </a:solidFill>
                <a:latin typeface="Microsoft YaHei"/>
              </a:rPr>
              <a:t>▪ K16  安全和安保两类风险都要评</a:t>
            </a:r>
          </a:p>
          <a:p>
            <a:pPr>
              <a:spcAft>
                <a:spcPts val="800"/>
              </a:spcAft>
            </a:pPr>
            <a:r>
              <a:rPr sz="1500">
                <a:solidFill>
                  <a:srgbClr val="FFFFFF"/>
                </a:solidFill>
                <a:latin typeface="Microsoft YaHei"/>
              </a:rPr>
              <a:t>▪ K17  案例：一批疑似感染的血样</a:t>
            </a:r>
          </a:p>
          <a:p>
            <a:pPr>
              <a:spcAft>
                <a:spcPts val="800"/>
              </a:spcAft>
            </a:pPr>
            <a:r>
              <a:rPr sz="1500">
                <a:solidFill>
                  <a:srgbClr val="FFFFFF"/>
                </a:solidFill>
                <a:latin typeface="Microsoft YaHei"/>
              </a:rPr>
              <a:t>▪ K18  把流程拆成单步</a:t>
            </a:r>
          </a:p>
          <a:p>
            <a:pPr>
              <a:spcAft>
                <a:spcPts val="800"/>
              </a:spcAft>
            </a:pPr>
            <a:r>
              <a:rPr sz="1500">
                <a:solidFill>
                  <a:srgbClr val="FFFFFF"/>
                </a:solidFill>
                <a:latin typeface="Microsoft YaHei"/>
              </a:rPr>
              <a:t>▪ K19  逐步打分，汇成总表</a:t>
            </a:r>
          </a:p>
          <a:p>
            <a:pPr>
              <a:spcAft>
                <a:spcPts val="800"/>
              </a:spcAft>
            </a:pPr>
            <a:r>
              <a:rPr sz="1500">
                <a:solidFill>
                  <a:srgbClr val="FFFFFF"/>
                </a:solidFill>
                <a:latin typeface="Microsoft YaHei"/>
              </a:rPr>
              <a:t>▪ K20  决策点：评完再减缓，成文审核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