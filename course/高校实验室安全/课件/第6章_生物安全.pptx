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38.xml" ContentType="application/vnd.openxmlformats-officedocument.presentationml.notesSlide+xml"/>
  <Override PartName="/ppt/notesSlides/notesSlide239.xml" ContentType="application/vnd.openxmlformats-officedocument.presentationml.notesSlide+xml"/>
  <Override PartName="/ppt/notesSlides/notesSlide24.xml" ContentType="application/vnd.openxmlformats-officedocument.presentationml.notesSlide+xml"/>
  <Override PartName="/ppt/notesSlides/notesSlide240.xml" ContentType="application/vnd.openxmlformats-officedocument.presentationml.notesSlide+xml"/>
  <Override PartName="/ppt/notesSlides/notesSlide241.xml" ContentType="application/vnd.openxmlformats-officedocument.presentationml.notesSlide+xml"/>
  <Override PartName="/ppt/notesSlides/notesSlide242.xml" ContentType="application/vnd.openxmlformats-officedocument.presentationml.notesSlide+xml"/>
  <Override PartName="/ppt/notesSlides/notesSlide243.xml" ContentType="application/vnd.openxmlformats-officedocument.presentationml.notesSlide+xml"/>
  <Override PartName="/ppt/notesSlides/notesSlide244.xml" ContentType="application/vnd.openxmlformats-officedocument.presentationml.notesSlide+xml"/>
  <Override PartName="/ppt/notesSlides/notesSlide245.xml" ContentType="application/vnd.openxmlformats-officedocument.presentationml.notesSlide+xml"/>
  <Override PartName="/ppt/notesSlides/notesSlide246.xml" ContentType="application/vnd.openxmlformats-officedocument.presentationml.notesSlide+xml"/>
  <Override PartName="/ppt/notesSlides/notesSlide247.xml" ContentType="application/vnd.openxmlformats-officedocument.presentationml.notesSlide+xml"/>
  <Override PartName="/ppt/notesSlides/notesSlide248.xml" ContentType="application/vnd.openxmlformats-officedocument.presentationml.notesSlide+xml"/>
  <Override PartName="/ppt/notesSlides/notesSlide249.xml" ContentType="application/vnd.openxmlformats-officedocument.presentationml.notesSlide+xml"/>
  <Override PartName="/ppt/notesSlides/notesSlide25.xml" ContentType="application/vnd.openxmlformats-officedocument.presentationml.notesSlide+xml"/>
  <Override PartName="/ppt/notesSlides/notesSlide250.xml" ContentType="application/vnd.openxmlformats-officedocument.presentationml.notesSlide+xml"/>
  <Override PartName="/ppt/notesSlides/notesSlide251.xml" ContentType="application/vnd.openxmlformats-officedocument.presentationml.notesSlide+xml"/>
  <Override PartName="/ppt/notesSlides/notesSlide252.xml" ContentType="application/vnd.openxmlformats-officedocument.presentationml.notesSlide+xml"/>
  <Override PartName="/ppt/notesSlides/notesSlide253.xml" ContentType="application/vnd.openxmlformats-officedocument.presentationml.notesSlide+xml"/>
  <Override PartName="/ppt/notesSlides/notesSlide254.xml" ContentType="application/vnd.openxmlformats-officedocument.presentationml.notesSlide+xml"/>
  <Override PartName="/ppt/notesSlides/notesSlide255.xml" ContentType="application/vnd.openxmlformats-officedocument.presentationml.notesSlide+xml"/>
  <Override PartName="/ppt/notesSlides/notesSlide256.xml" ContentType="application/vnd.openxmlformats-officedocument.presentationml.notesSlide+xml"/>
  <Override PartName="/ppt/notesSlides/notesSlide257.xml" ContentType="application/vnd.openxmlformats-officedocument.presentationml.notesSlide+xml"/>
  <Override PartName="/ppt/notesSlides/notesSlide258.xml" ContentType="application/vnd.openxmlformats-officedocument.presentationml.notesSlide+xml"/>
  <Override PartName="/ppt/notesSlides/notesSlide259.xml" ContentType="application/vnd.openxmlformats-officedocument.presentationml.notesSlide+xml"/>
  <Override PartName="/ppt/notesSlides/notesSlide26.xml" ContentType="application/vnd.openxmlformats-officedocument.presentationml.notesSlide+xml"/>
  <Override PartName="/ppt/notesSlides/notesSlide260.xml" ContentType="application/vnd.openxmlformats-officedocument.presentationml.notesSlide+xml"/>
  <Override PartName="/ppt/notesSlides/notesSlide261.xml" ContentType="application/vnd.openxmlformats-officedocument.presentationml.notesSlide+xml"/>
  <Override PartName="/ppt/notesSlides/notesSlide262.xml" ContentType="application/vnd.openxmlformats-officedocument.presentationml.notesSlide+xml"/>
  <Override PartName="/ppt/notesSlides/notesSlide263.xml" ContentType="application/vnd.openxmlformats-officedocument.presentationml.notesSlide+xml"/>
  <Override PartName="/ppt/notesSlides/notesSlide264.xml" ContentType="application/vnd.openxmlformats-officedocument.presentationml.notesSlide+xml"/>
  <Override PartName="/ppt/notesSlides/notesSlide265.xml" ContentType="application/vnd.openxmlformats-officedocument.presentationml.notesSlide+xml"/>
  <Override PartName="/ppt/notesSlides/notesSlide266.xml" ContentType="application/vnd.openxmlformats-officedocument.presentationml.notesSlide+xml"/>
  <Override PartName="/ppt/notesSlides/notesSlide267.xml" ContentType="application/vnd.openxmlformats-officedocument.presentationml.notesSlide+xml"/>
  <Override PartName="/ppt/notesSlides/notesSlide268.xml" ContentType="application/vnd.openxmlformats-officedocument.presentationml.notesSlide+xml"/>
  <Override PartName="/ppt/notesSlides/notesSlide269.xml" ContentType="application/vnd.openxmlformats-officedocument.presentationml.notesSlide+xml"/>
  <Override PartName="/ppt/notesSlides/notesSlide27.xml" ContentType="application/vnd.openxmlformats-officedocument.presentationml.notesSlide+xml"/>
  <Override PartName="/ppt/notesSlides/notesSlide270.xml" ContentType="application/vnd.openxmlformats-officedocument.presentationml.notesSlide+xml"/>
  <Override PartName="/ppt/notesSlides/notesSlide271.xml" ContentType="application/vnd.openxmlformats-officedocument.presentationml.notesSlide+xml"/>
  <Override PartName="/ppt/notesSlides/notesSlide272.xml" ContentType="application/vnd.openxmlformats-officedocument.presentationml.notesSlide+xml"/>
  <Override PartName="/ppt/notesSlides/notesSlide273.xml" ContentType="application/vnd.openxmlformats-officedocument.presentationml.notesSlide+xml"/>
  <Override PartName="/ppt/notesSlides/notesSlide274.xml" ContentType="application/vnd.openxmlformats-officedocument.presentationml.notesSlide+xml"/>
  <Override PartName="/ppt/notesSlides/notesSlide275.xml" ContentType="application/vnd.openxmlformats-officedocument.presentationml.notesSlide+xml"/>
  <Override PartName="/ppt/notesSlides/notesSlide276.xml" ContentType="application/vnd.openxmlformats-officedocument.presentationml.notesSlide+xml"/>
  <Override PartName="/ppt/notesSlides/notesSlide277.xml" ContentType="application/vnd.openxmlformats-officedocument.presentationml.notesSlide+xml"/>
  <Override PartName="/ppt/notesSlides/notesSlide278.xml" ContentType="application/vnd.openxmlformats-officedocument.presentationml.notesSlide+xml"/>
  <Override PartName="/ppt/notesSlides/notesSlide279.xml" ContentType="application/vnd.openxmlformats-officedocument.presentationml.notesSlide+xml"/>
  <Override PartName="/ppt/notesSlides/notesSlide28.xml" ContentType="application/vnd.openxmlformats-officedocument.presentationml.notesSlide+xml"/>
  <Override PartName="/ppt/notesSlides/notesSlide280.xml" ContentType="application/vnd.openxmlformats-officedocument.presentationml.notesSlide+xml"/>
  <Override PartName="/ppt/notesSlides/notesSlide281.xml" ContentType="application/vnd.openxmlformats-officedocument.presentationml.notesSlide+xml"/>
  <Override PartName="/ppt/notesSlides/notesSlide282.xml" ContentType="application/vnd.openxmlformats-officedocument.presentationml.notesSlide+xml"/>
  <Override PartName="/ppt/notesSlides/notesSlide283.xml" ContentType="application/vnd.openxmlformats-officedocument.presentationml.notesSlide+xml"/>
  <Override PartName="/ppt/notesSlides/notesSlide284.xml" ContentType="application/vnd.openxmlformats-officedocument.presentationml.notesSlide+xml"/>
  <Override PartName="/ppt/notesSlides/notesSlide285.xml" ContentType="application/vnd.openxmlformats-officedocument.presentationml.notesSlide+xml"/>
  <Override PartName="/ppt/notesSlides/notesSlide286.xml" ContentType="application/vnd.openxmlformats-officedocument.presentationml.notesSlide+xml"/>
  <Override PartName="/ppt/notesSlides/notesSlide287.xml" ContentType="application/vnd.openxmlformats-officedocument.presentationml.notesSlide+xml"/>
  <Override PartName="/ppt/notesSlides/notesSlide288.xml" ContentType="application/vnd.openxmlformats-officedocument.presentationml.notesSlide+xml"/>
  <Override PartName="/ppt/notesSlides/notesSlide289.xml" ContentType="application/vnd.openxmlformats-officedocument.presentationml.notesSlide+xml"/>
  <Override PartName="/ppt/notesSlides/notesSlide29.xml" ContentType="application/vnd.openxmlformats-officedocument.presentationml.notesSlide+xml"/>
  <Override PartName="/ppt/notesSlides/notesSlide290.xml" ContentType="application/vnd.openxmlformats-officedocument.presentationml.notesSlide+xml"/>
  <Override PartName="/ppt/notesSlides/notesSlide291.xml" ContentType="application/vnd.openxmlformats-officedocument.presentationml.notesSlide+xml"/>
  <Override PartName="/ppt/notesSlides/notesSlide292.xml" ContentType="application/vnd.openxmlformats-officedocument.presentationml.notesSlide+xml"/>
  <Override PartName="/ppt/notesSlides/notesSlide293.xml" ContentType="application/vnd.openxmlformats-officedocument.presentationml.notesSlide+xml"/>
  <Override PartName="/ppt/notesSlides/notesSlide294.xml" ContentType="application/vnd.openxmlformats-officedocument.presentationml.notesSlide+xml"/>
  <Override PartName="/ppt/notesSlides/notesSlide295.xml" ContentType="application/vnd.openxmlformats-officedocument.presentationml.notesSlide+xml"/>
  <Override PartName="/ppt/notesSlides/notesSlide296.xml" ContentType="application/vnd.openxmlformats-officedocument.presentationml.notesSlide+xml"/>
  <Override PartName="/ppt/notesSlides/notesSlide297.xml" ContentType="application/vnd.openxmlformats-officedocument.presentationml.notesSlide+xml"/>
  <Override PartName="/ppt/notesSlides/notesSlide298.xml" ContentType="application/vnd.openxmlformats-officedocument.presentationml.notesSlide+xml"/>
  <Override PartName="/ppt/notesSlides/notesSlide29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00.xml" ContentType="application/vnd.openxmlformats-officedocument.presentationml.notesSlide+xml"/>
  <Override PartName="/ppt/notesSlides/notesSlide301.xml" ContentType="application/vnd.openxmlformats-officedocument.presentationml.notesSlide+xml"/>
  <Override PartName="/ppt/notesSlides/notesSlide302.xml" ContentType="application/vnd.openxmlformats-officedocument.presentationml.notesSlide+xml"/>
  <Override PartName="/ppt/notesSlides/notesSlide303.xml" ContentType="application/vnd.openxmlformats-officedocument.presentationml.notesSlide+xml"/>
  <Override PartName="/ppt/notesSlides/notesSlide304.xml" ContentType="application/vnd.openxmlformats-officedocument.presentationml.notesSlide+xml"/>
  <Override PartName="/ppt/notesSlides/notesSlide305.xml" ContentType="application/vnd.openxmlformats-officedocument.presentationml.notesSlide+xml"/>
  <Override PartName="/ppt/notesSlides/notesSlide306.xml" ContentType="application/vnd.openxmlformats-officedocument.presentationml.notesSlide+xml"/>
  <Override PartName="/ppt/notesSlides/notesSlide307.xml" ContentType="application/vnd.openxmlformats-officedocument.presentationml.notesSlide+xml"/>
  <Override PartName="/ppt/notesSlides/notesSlide308.xml" ContentType="application/vnd.openxmlformats-officedocument.presentationml.notesSlide+xml"/>
  <Override PartName="/ppt/notesSlides/notesSlide309.xml" ContentType="application/vnd.openxmlformats-officedocument.presentationml.notesSlide+xml"/>
  <Override PartName="/ppt/notesSlides/notesSlide31.xml" ContentType="application/vnd.openxmlformats-officedocument.presentationml.notesSlide+xml"/>
  <Override PartName="/ppt/notesSlides/notesSlide310.xml" ContentType="application/vnd.openxmlformats-officedocument.presentationml.notesSlide+xml"/>
  <Override PartName="/ppt/notesSlides/notesSlide311.xml" ContentType="application/vnd.openxmlformats-officedocument.presentationml.notesSlide+xml"/>
  <Override PartName="/ppt/notesSlides/notesSlide312.xml" ContentType="application/vnd.openxmlformats-officedocument.presentationml.notesSlide+xml"/>
  <Override PartName="/ppt/notesSlides/notesSlide313.xml" ContentType="application/vnd.openxmlformats-officedocument.presentationml.notesSlide+xml"/>
  <Override PartName="/ppt/notesSlides/notesSlide314.xml" ContentType="application/vnd.openxmlformats-officedocument.presentationml.notesSlide+xml"/>
  <Override PartName="/ppt/notesSlides/notesSlide315.xml" ContentType="application/vnd.openxmlformats-officedocument.presentationml.notesSlide+xml"/>
  <Override PartName="/ppt/notesSlides/notesSlide316.xml" ContentType="application/vnd.openxmlformats-officedocument.presentationml.notesSlide+xml"/>
  <Override PartName="/ppt/notesSlides/notesSlide317.xml" ContentType="application/vnd.openxmlformats-officedocument.presentationml.notesSlide+xml"/>
  <Override PartName="/ppt/notesSlides/notesSlide318.xml" ContentType="application/vnd.openxmlformats-officedocument.presentationml.notesSlide+xml"/>
  <Override PartName="/ppt/notesSlides/notesSlide319.xml" ContentType="application/vnd.openxmlformats-officedocument.presentationml.notesSlide+xml"/>
  <Override PartName="/ppt/notesSlides/notesSlide32.xml" ContentType="application/vnd.openxmlformats-officedocument.presentationml.notesSlide+xml"/>
  <Override PartName="/ppt/notesSlides/notesSlide320.xml" ContentType="application/vnd.openxmlformats-officedocument.presentationml.notesSlide+xml"/>
  <Override PartName="/ppt/notesSlides/notesSlide321.xml" ContentType="application/vnd.openxmlformats-officedocument.presentationml.notesSlide+xml"/>
  <Override PartName="/ppt/notesSlides/notesSlide322.xml" ContentType="application/vnd.openxmlformats-officedocument.presentationml.notesSlide+xml"/>
  <Override PartName="/ppt/notesSlides/notesSlide323.xml" ContentType="application/vnd.openxmlformats-officedocument.presentationml.notesSlide+xml"/>
  <Override PartName="/ppt/notesSlides/notesSlide324.xml" ContentType="application/vnd.openxmlformats-officedocument.presentationml.notesSlide+xml"/>
  <Override PartName="/ppt/notesSlides/notesSlide325.xml" ContentType="application/vnd.openxmlformats-officedocument.presentationml.notesSlide+xml"/>
  <Override PartName="/ppt/notesSlides/notesSlide326.xml" ContentType="application/vnd.openxmlformats-officedocument.presentationml.notesSlide+xml"/>
  <Override PartName="/ppt/notesSlides/notesSlide327.xml" ContentType="application/vnd.openxmlformats-officedocument.presentationml.notesSlide+xml"/>
  <Override PartName="/ppt/notesSlides/notesSlide328.xml" ContentType="application/vnd.openxmlformats-officedocument.presentationml.notesSlide+xml"/>
  <Override PartName="/ppt/notesSlides/notesSlide329.xml" ContentType="application/vnd.openxmlformats-officedocument.presentationml.notesSlide+xml"/>
  <Override PartName="/ppt/notesSlides/notesSlide33.xml" ContentType="application/vnd.openxmlformats-officedocument.presentationml.notesSlide+xml"/>
  <Override PartName="/ppt/notesSlides/notesSlide330.xml" ContentType="application/vnd.openxmlformats-officedocument.presentationml.notesSlide+xml"/>
  <Override PartName="/ppt/notesSlides/notesSlide331.xml" ContentType="application/vnd.openxmlformats-officedocument.presentationml.notesSlide+xml"/>
  <Override PartName="/ppt/notesSlides/notesSlide332.xml" ContentType="application/vnd.openxmlformats-officedocument.presentationml.notesSlide+xml"/>
  <Override PartName="/ppt/notesSlides/notesSlide333.xml" ContentType="application/vnd.openxmlformats-officedocument.presentationml.notesSlide+xml"/>
  <Override PartName="/ppt/notesSlides/notesSlide334.xml" ContentType="application/vnd.openxmlformats-officedocument.presentationml.notesSlide+xml"/>
  <Override PartName="/ppt/notesSlides/notesSlide335.xml" ContentType="application/vnd.openxmlformats-officedocument.presentationml.notesSlide+xml"/>
  <Override PartName="/ppt/notesSlides/notesSlide336.xml" ContentType="application/vnd.openxmlformats-officedocument.presentationml.notesSlide+xml"/>
  <Override PartName="/ppt/notesSlides/notesSlide337.xml" ContentType="application/vnd.openxmlformats-officedocument.presentationml.notesSlide+xml"/>
  <Override PartName="/ppt/notesSlides/notesSlide338.xml" ContentType="application/vnd.openxmlformats-officedocument.presentationml.notesSlide+xml"/>
  <Override PartName="/ppt/notesSlides/notesSlide339.xml" ContentType="application/vnd.openxmlformats-officedocument.presentationml.notesSlide+xml"/>
  <Override PartName="/ppt/notesSlides/notesSlide34.xml" ContentType="application/vnd.openxmlformats-officedocument.presentationml.notesSlide+xml"/>
  <Override PartName="/ppt/notesSlides/notesSlide340.xml" ContentType="application/vnd.openxmlformats-officedocument.presentationml.notesSlide+xml"/>
  <Override PartName="/ppt/notesSlides/notesSlide341.xml" ContentType="application/vnd.openxmlformats-officedocument.presentationml.notesSlide+xml"/>
  <Override PartName="/ppt/notesSlides/notesSlide342.xml" ContentType="application/vnd.openxmlformats-officedocument.presentationml.notesSlide+xml"/>
  <Override PartName="/ppt/notesSlides/notesSlide343.xml" ContentType="application/vnd.openxmlformats-officedocument.presentationml.notesSlide+xml"/>
  <Override PartName="/ppt/notesSlides/notesSlide344.xml" ContentType="application/vnd.openxmlformats-officedocument.presentationml.notesSlide+xml"/>
  <Override PartName="/ppt/notesSlides/notesSlide345.xml" ContentType="application/vnd.openxmlformats-officedocument.presentationml.notesSlide+xml"/>
  <Override PartName="/ppt/notesSlides/notesSlide346.xml" ContentType="application/vnd.openxmlformats-officedocument.presentationml.notesSlide+xml"/>
  <Override PartName="/ppt/notesSlides/notesSlide347.xml" ContentType="application/vnd.openxmlformats-officedocument.presentationml.notesSlide+xml"/>
  <Override PartName="/ppt/notesSlides/notesSlide348.xml" ContentType="application/vnd.openxmlformats-officedocument.presentationml.notesSlide+xml"/>
  <Override PartName="/ppt/notesSlides/notesSlide349.xml" ContentType="application/vnd.openxmlformats-officedocument.presentationml.notesSlide+xml"/>
  <Override PartName="/ppt/notesSlides/notesSlide35.xml" ContentType="application/vnd.openxmlformats-officedocument.presentationml.notesSlide+xml"/>
  <Override PartName="/ppt/notesSlides/notesSlide350.xml" ContentType="application/vnd.openxmlformats-officedocument.presentationml.notesSlide+xml"/>
  <Override PartName="/ppt/notesSlides/notesSlide351.xml" ContentType="application/vnd.openxmlformats-officedocument.presentationml.notesSlide+xml"/>
  <Override PartName="/ppt/notesSlides/notesSlide352.xml" ContentType="application/vnd.openxmlformats-officedocument.presentationml.notesSlide+xml"/>
  <Override PartName="/ppt/notesSlides/notesSlide353.xml" ContentType="application/vnd.openxmlformats-officedocument.presentationml.notesSlide+xml"/>
  <Override PartName="/ppt/notesSlides/notesSlide354.xml" ContentType="application/vnd.openxmlformats-officedocument.presentationml.notesSlide+xml"/>
  <Override PartName="/ppt/notesSlides/notesSlide355.xml" ContentType="application/vnd.openxmlformats-officedocument.presentationml.notesSlide+xml"/>
  <Override PartName="/ppt/notesSlides/notesSlide356.xml" ContentType="application/vnd.openxmlformats-officedocument.presentationml.notesSlide+xml"/>
  <Override PartName="/ppt/notesSlides/notesSlide357.xml" ContentType="application/vnd.openxmlformats-officedocument.presentationml.notesSlide+xml"/>
  <Override PartName="/ppt/notesSlides/notesSlide358.xml" ContentType="application/vnd.openxmlformats-officedocument.presentationml.notesSlide+xml"/>
  <Override PartName="/ppt/notesSlides/notesSlide359.xml" ContentType="application/vnd.openxmlformats-officedocument.presentationml.notesSlide+xml"/>
  <Override PartName="/ppt/notesSlides/notesSlide36.xml" ContentType="application/vnd.openxmlformats-officedocument.presentationml.notesSlide+xml"/>
  <Override PartName="/ppt/notesSlides/notesSlide360.xml" ContentType="application/vnd.openxmlformats-officedocument.presentationml.notesSlide+xml"/>
  <Override PartName="/ppt/notesSlides/notesSlide361.xml" ContentType="application/vnd.openxmlformats-officedocument.presentationml.notesSlide+xml"/>
  <Override PartName="/ppt/notesSlides/notesSlide362.xml" ContentType="application/vnd.openxmlformats-officedocument.presentationml.notesSlide+xml"/>
  <Override PartName="/ppt/notesSlides/notesSlide363.xml" ContentType="application/vnd.openxmlformats-officedocument.presentationml.notesSlide+xml"/>
  <Override PartName="/ppt/notesSlides/notesSlide364.xml" ContentType="application/vnd.openxmlformats-officedocument.presentationml.notesSlide+xml"/>
  <Override PartName="/ppt/notesSlides/notesSlide365.xml" ContentType="application/vnd.openxmlformats-officedocument.presentationml.notesSlide+xml"/>
  <Override PartName="/ppt/notesSlides/notesSlide366.xml" ContentType="application/vnd.openxmlformats-officedocument.presentationml.notesSlide+xml"/>
  <Override PartName="/ppt/notesSlides/notesSlide367.xml" ContentType="application/vnd.openxmlformats-officedocument.presentationml.notesSlide+xml"/>
  <Override PartName="/ppt/notesSlides/notesSlide368.xml" ContentType="application/vnd.openxmlformats-officedocument.presentationml.notesSlide+xml"/>
  <Override PartName="/ppt/notesSlides/notesSlide369.xml" ContentType="application/vnd.openxmlformats-officedocument.presentationml.notesSlide+xml"/>
  <Override PartName="/ppt/notesSlides/notesSlide37.xml" ContentType="application/vnd.openxmlformats-officedocument.presentationml.notesSlide+xml"/>
  <Override PartName="/ppt/notesSlides/notesSlide370.xml" ContentType="application/vnd.openxmlformats-officedocument.presentationml.notesSlide+xml"/>
  <Override PartName="/ppt/notesSlides/notesSlide371.xml" ContentType="application/vnd.openxmlformats-officedocument.presentationml.notesSlide+xml"/>
  <Override PartName="/ppt/notesSlides/notesSlide372.xml" ContentType="application/vnd.openxmlformats-officedocument.presentationml.notesSlide+xml"/>
  <Override PartName="/ppt/notesSlides/notesSlide373.xml" ContentType="application/vnd.openxmlformats-officedocument.presentationml.notesSlide+xml"/>
  <Override PartName="/ppt/notesSlides/notesSlide374.xml" ContentType="application/vnd.openxmlformats-officedocument.presentationml.notesSlide+xml"/>
  <Override PartName="/ppt/notesSlides/notesSlide375.xml" ContentType="application/vnd.openxmlformats-officedocument.presentationml.notesSlide+xml"/>
  <Override PartName="/ppt/notesSlides/notesSlide376.xml" ContentType="application/vnd.openxmlformats-officedocument.presentationml.notesSlide+xml"/>
  <Override PartName="/ppt/notesSlides/notesSlide377.xml" ContentType="application/vnd.openxmlformats-officedocument.presentationml.notesSlide+xml"/>
  <Override PartName="/ppt/notesSlides/notesSlide378.xml" ContentType="application/vnd.openxmlformats-officedocument.presentationml.notesSlide+xml"/>
  <Override PartName="/ppt/notesSlides/notesSlide379.xml" ContentType="application/vnd.openxmlformats-officedocument.presentationml.notesSlide+xml"/>
  <Override PartName="/ppt/notesSlides/notesSlide38.xml" ContentType="application/vnd.openxmlformats-officedocument.presentationml.notesSlide+xml"/>
  <Override PartName="/ppt/notesSlides/notesSlide380.xml" ContentType="application/vnd.openxmlformats-officedocument.presentationml.notesSlide+xml"/>
  <Override PartName="/ppt/notesSlides/notesSlide381.xml" ContentType="application/vnd.openxmlformats-officedocument.presentationml.notesSlide+xml"/>
  <Override PartName="/ppt/notesSlides/notesSlide382.xml" ContentType="application/vnd.openxmlformats-officedocument.presentationml.notesSlide+xml"/>
  <Override PartName="/ppt/notesSlides/notesSlide383.xml" ContentType="application/vnd.openxmlformats-officedocument.presentationml.notesSlide+xml"/>
  <Override PartName="/ppt/notesSlides/notesSlide384.xml" ContentType="application/vnd.openxmlformats-officedocument.presentationml.notesSlide+xml"/>
  <Override PartName="/ppt/notesSlides/notesSlide385.xml" ContentType="application/vnd.openxmlformats-officedocument.presentationml.notesSlide+xml"/>
  <Override PartName="/ppt/notesSlides/notesSlide386.xml" ContentType="application/vnd.openxmlformats-officedocument.presentationml.notesSlide+xml"/>
  <Override PartName="/ppt/notesSlides/notesSlide387.xml" ContentType="application/vnd.openxmlformats-officedocument.presentationml.notesSlide+xml"/>
  <Override PartName="/ppt/notesSlides/notesSlide388.xml" ContentType="application/vnd.openxmlformats-officedocument.presentationml.notesSlide+xml"/>
  <Override PartName="/ppt/notesSlides/notesSlide389.xml" ContentType="application/vnd.openxmlformats-officedocument.presentationml.notesSlide+xml"/>
  <Override PartName="/ppt/notesSlides/notesSlide39.xml" ContentType="application/vnd.openxmlformats-officedocument.presentationml.notesSlide+xml"/>
  <Override PartName="/ppt/notesSlides/notesSlide390.xml" ContentType="application/vnd.openxmlformats-officedocument.presentationml.notesSlide+xml"/>
  <Override PartName="/ppt/notesSlides/notesSlide391.xml" ContentType="application/vnd.openxmlformats-officedocument.presentationml.notesSlide+xml"/>
  <Override PartName="/ppt/notesSlides/notesSlide392.xml" ContentType="application/vnd.openxmlformats-officedocument.presentationml.notesSlide+xml"/>
  <Override PartName="/ppt/notesSlides/notesSlide393.xml" ContentType="application/vnd.openxmlformats-officedocument.presentationml.notesSlide+xml"/>
  <Override PartName="/ppt/notesSlides/notesSlide394.xml" ContentType="application/vnd.openxmlformats-officedocument.presentationml.notesSlide+xml"/>
  <Override PartName="/ppt/notesSlides/notesSlide395.xml" ContentType="application/vnd.openxmlformats-officedocument.presentationml.notesSlide+xml"/>
  <Override PartName="/ppt/notesSlides/notesSlide396.xml" ContentType="application/vnd.openxmlformats-officedocument.presentationml.notesSlide+xml"/>
  <Override PartName="/ppt/notesSlides/notesSlide397.xml" ContentType="application/vnd.openxmlformats-officedocument.presentationml.notesSlide+xml"/>
  <Override PartName="/ppt/notesSlides/notesSlide398.xml" ContentType="application/vnd.openxmlformats-officedocument.presentationml.notesSlide+xml"/>
  <Override PartName="/ppt/notesSlides/notesSlide39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00.xml" ContentType="application/vnd.openxmlformats-officedocument.presentationml.notesSlide+xml"/>
  <Override PartName="/ppt/notesSlides/notesSlide401.xml" ContentType="application/vnd.openxmlformats-officedocument.presentationml.notesSlide+xml"/>
  <Override PartName="/ppt/notesSlides/notesSlide402.xml" ContentType="application/vnd.openxmlformats-officedocument.presentationml.notesSlide+xml"/>
  <Override PartName="/ppt/notesSlides/notesSlide403.xml" ContentType="application/vnd.openxmlformats-officedocument.presentationml.notesSlide+xml"/>
  <Override PartName="/ppt/notesSlides/notesSlide404.xml" ContentType="application/vnd.openxmlformats-officedocument.presentationml.notesSlide+xml"/>
  <Override PartName="/ppt/notesSlides/notesSlide405.xml" ContentType="application/vnd.openxmlformats-officedocument.presentationml.notesSlide+xml"/>
  <Override PartName="/ppt/notesSlides/notesSlide406.xml" ContentType="application/vnd.openxmlformats-officedocument.presentationml.notesSlide+xml"/>
  <Override PartName="/ppt/notesSlides/notesSlide407.xml" ContentType="application/vnd.openxmlformats-officedocument.presentationml.notesSlide+xml"/>
  <Override PartName="/ppt/notesSlides/notesSlide408.xml" ContentType="application/vnd.openxmlformats-officedocument.presentationml.notesSlide+xml"/>
  <Override PartName="/ppt/notesSlides/notesSlide409.xml" ContentType="application/vnd.openxmlformats-officedocument.presentationml.notesSlide+xml"/>
  <Override PartName="/ppt/notesSlides/notesSlide41.xml" ContentType="application/vnd.openxmlformats-officedocument.presentationml.notesSlide+xml"/>
  <Override PartName="/ppt/notesSlides/notesSlide410.xml" ContentType="application/vnd.openxmlformats-officedocument.presentationml.notesSlide+xml"/>
  <Override PartName="/ppt/notesSlides/notesSlide411.xml" ContentType="application/vnd.openxmlformats-officedocument.presentationml.notesSlide+xml"/>
  <Override PartName="/ppt/notesSlides/notesSlide412.xml" ContentType="application/vnd.openxmlformats-officedocument.presentationml.notesSlide+xml"/>
  <Override PartName="/ppt/notesSlides/notesSlide413.xml" ContentType="application/vnd.openxmlformats-officedocument.presentationml.notesSlide+xml"/>
  <Override PartName="/ppt/notesSlides/notesSlide414.xml" ContentType="application/vnd.openxmlformats-officedocument.presentationml.notesSlide+xml"/>
  <Override PartName="/ppt/notesSlides/notesSlide415.xml" ContentType="application/vnd.openxmlformats-officedocument.presentationml.notesSlide+xml"/>
  <Override PartName="/ppt/notesSlides/notesSlide416.xml" ContentType="application/vnd.openxmlformats-officedocument.presentationml.notesSlide+xml"/>
  <Override PartName="/ppt/notesSlides/notesSlide417.xml" ContentType="application/vnd.openxmlformats-officedocument.presentationml.notesSlide+xml"/>
  <Override PartName="/ppt/notesSlides/notesSlide418.xml" ContentType="application/vnd.openxmlformats-officedocument.presentationml.notesSlide+xml"/>
  <Override PartName="/ppt/notesSlides/notesSlide419.xml" ContentType="application/vnd.openxmlformats-officedocument.presentationml.notesSlide+xml"/>
  <Override PartName="/ppt/notesSlides/notesSlide42.xml" ContentType="application/vnd.openxmlformats-officedocument.presentationml.notesSlide+xml"/>
  <Override PartName="/ppt/notesSlides/notesSlide420.xml" ContentType="application/vnd.openxmlformats-officedocument.presentationml.notesSlide+xml"/>
  <Override PartName="/ppt/notesSlides/notesSlide421.xml" ContentType="application/vnd.openxmlformats-officedocument.presentationml.notesSlide+xml"/>
  <Override PartName="/ppt/notesSlides/notesSlide422.xml" ContentType="application/vnd.openxmlformats-officedocument.presentationml.notesSlide+xml"/>
  <Override PartName="/ppt/notesSlides/notesSlide423.xml" ContentType="application/vnd.openxmlformats-officedocument.presentationml.notesSlide+xml"/>
  <Override PartName="/ppt/notesSlides/notesSlide424.xml" ContentType="application/vnd.openxmlformats-officedocument.presentationml.notesSlide+xml"/>
  <Override PartName="/ppt/notesSlides/notesSlide425.xml" ContentType="application/vnd.openxmlformats-officedocument.presentationml.notesSlide+xml"/>
  <Override PartName="/ppt/notesSlides/notesSlide426.xml" ContentType="application/vnd.openxmlformats-officedocument.presentationml.notesSlide+xml"/>
  <Override PartName="/ppt/notesSlides/notesSlide427.xml" ContentType="application/vnd.openxmlformats-officedocument.presentationml.notesSlide+xml"/>
  <Override PartName="/ppt/notesSlides/notesSlide428.xml" ContentType="application/vnd.openxmlformats-officedocument.presentationml.notesSlide+xml"/>
  <Override PartName="/ppt/notesSlides/notesSlide429.xml" ContentType="application/vnd.openxmlformats-officedocument.presentationml.notesSlide+xml"/>
  <Override PartName="/ppt/notesSlides/notesSlide43.xml" ContentType="application/vnd.openxmlformats-officedocument.presentationml.notesSlide+xml"/>
  <Override PartName="/ppt/notesSlides/notesSlide430.xml" ContentType="application/vnd.openxmlformats-officedocument.presentationml.notesSlide+xml"/>
  <Override PartName="/ppt/notesSlides/notesSlide431.xml" ContentType="application/vnd.openxmlformats-officedocument.presentationml.notesSlide+xml"/>
  <Override PartName="/ppt/notesSlides/notesSlide432.xml" ContentType="application/vnd.openxmlformats-officedocument.presentationml.notesSlide+xml"/>
  <Override PartName="/ppt/notesSlides/notesSlide433.xml" ContentType="application/vnd.openxmlformats-officedocument.presentationml.notesSlide+xml"/>
  <Override PartName="/ppt/notesSlides/notesSlide434.xml" ContentType="application/vnd.openxmlformats-officedocument.presentationml.notesSlide+xml"/>
  <Override PartName="/ppt/notesSlides/notesSlide435.xml" ContentType="application/vnd.openxmlformats-officedocument.presentationml.notesSlide+xml"/>
  <Override PartName="/ppt/notesSlides/notesSlide436.xml" ContentType="application/vnd.openxmlformats-officedocument.presentationml.notesSlide+xml"/>
  <Override PartName="/ppt/notesSlides/notesSlide437.xml" ContentType="application/vnd.openxmlformats-officedocument.presentationml.notesSlide+xml"/>
  <Override PartName="/ppt/notesSlides/notesSlide438.xml" ContentType="application/vnd.openxmlformats-officedocument.presentationml.notesSlide+xml"/>
  <Override PartName="/ppt/notesSlides/notesSlide439.xml" ContentType="application/vnd.openxmlformats-officedocument.presentationml.notesSlide+xml"/>
  <Override PartName="/ppt/notesSlides/notesSlide44.xml" ContentType="application/vnd.openxmlformats-officedocument.presentationml.notesSlide+xml"/>
  <Override PartName="/ppt/notesSlides/notesSlide440.xml" ContentType="application/vnd.openxmlformats-officedocument.presentationml.notesSlide+xml"/>
  <Override PartName="/ppt/notesSlides/notesSlide441.xml" ContentType="application/vnd.openxmlformats-officedocument.presentationml.notesSlide+xml"/>
  <Override PartName="/ppt/notesSlides/notesSlide442.xml" ContentType="application/vnd.openxmlformats-officedocument.presentationml.notesSlide+xml"/>
  <Override PartName="/ppt/notesSlides/notesSlide443.xml" ContentType="application/vnd.openxmlformats-officedocument.presentationml.notesSlide+xml"/>
  <Override PartName="/ppt/notesSlides/notesSlide444.xml" ContentType="application/vnd.openxmlformats-officedocument.presentationml.notesSlide+xml"/>
  <Override PartName="/ppt/notesSlides/notesSlide445.xml" ContentType="application/vnd.openxmlformats-officedocument.presentationml.notesSlide+xml"/>
  <Override PartName="/ppt/notesSlides/notesSlide446.xml" ContentType="application/vnd.openxmlformats-officedocument.presentationml.notesSlide+xml"/>
  <Override PartName="/ppt/notesSlides/notesSlide447.xml" ContentType="application/vnd.openxmlformats-officedocument.presentationml.notesSlide+xml"/>
  <Override PartName="/ppt/notesSlides/notesSlide448.xml" ContentType="application/vnd.openxmlformats-officedocument.presentationml.notesSlide+xml"/>
  <Override PartName="/ppt/notesSlides/notesSlide449.xml" ContentType="application/vnd.openxmlformats-officedocument.presentationml.notesSlide+xml"/>
  <Override PartName="/ppt/notesSlides/notesSlide45.xml" ContentType="application/vnd.openxmlformats-officedocument.presentationml.notesSlide+xml"/>
  <Override PartName="/ppt/notesSlides/notesSlide450.xml" ContentType="application/vnd.openxmlformats-officedocument.presentationml.notesSlide+xml"/>
  <Override PartName="/ppt/notesSlides/notesSlide451.xml" ContentType="application/vnd.openxmlformats-officedocument.presentationml.notesSlide+xml"/>
  <Override PartName="/ppt/notesSlides/notesSlide452.xml" ContentType="application/vnd.openxmlformats-officedocument.presentationml.notesSlide+xml"/>
  <Override PartName="/ppt/notesSlides/notesSlide453.xml" ContentType="application/vnd.openxmlformats-officedocument.presentationml.notesSlide+xml"/>
  <Override PartName="/ppt/notesSlides/notesSlide454.xml" ContentType="application/vnd.openxmlformats-officedocument.presentationml.notesSlide+xml"/>
  <Override PartName="/ppt/notesSlides/notesSlide455.xml" ContentType="application/vnd.openxmlformats-officedocument.presentationml.notesSlide+xml"/>
  <Override PartName="/ppt/notesSlides/notesSlide456.xml" ContentType="application/vnd.openxmlformats-officedocument.presentationml.notesSlide+xml"/>
  <Override PartName="/ppt/notesSlides/notesSlide457.xml" ContentType="application/vnd.openxmlformats-officedocument.presentationml.notesSlide+xml"/>
  <Override PartName="/ppt/notesSlides/notesSlide458.xml" ContentType="application/vnd.openxmlformats-officedocument.presentationml.notesSlide+xml"/>
  <Override PartName="/ppt/notesSlides/notesSlide459.xml" ContentType="application/vnd.openxmlformats-officedocument.presentationml.notesSlide+xml"/>
  <Override PartName="/ppt/notesSlides/notesSlide46.xml" ContentType="application/vnd.openxmlformats-officedocument.presentationml.notesSlide+xml"/>
  <Override PartName="/ppt/notesSlides/notesSlide460.xml" ContentType="application/vnd.openxmlformats-officedocument.presentationml.notesSlide+xml"/>
  <Override PartName="/ppt/notesSlides/notesSlide461.xml" ContentType="application/vnd.openxmlformats-officedocument.presentationml.notesSlide+xml"/>
  <Override PartName="/ppt/notesSlides/notesSlide462.xml" ContentType="application/vnd.openxmlformats-officedocument.presentationml.notesSlide+xml"/>
  <Override PartName="/ppt/notesSlides/notesSlide463.xml" ContentType="application/vnd.openxmlformats-officedocument.presentationml.notesSlide+xml"/>
  <Override PartName="/ppt/notesSlides/notesSlide464.xml" ContentType="application/vnd.openxmlformats-officedocument.presentationml.notesSlide+xml"/>
  <Override PartName="/ppt/notesSlides/notesSlide465.xml" ContentType="application/vnd.openxmlformats-officedocument.presentationml.notesSlide+xml"/>
  <Override PartName="/ppt/notesSlides/notesSlide466.xml" ContentType="application/vnd.openxmlformats-officedocument.presentationml.notesSlide+xml"/>
  <Override PartName="/ppt/notesSlides/notesSlide467.xml" ContentType="application/vnd.openxmlformats-officedocument.presentationml.notesSlide+xml"/>
  <Override PartName="/ppt/notesSlides/notesSlide468.xml" ContentType="application/vnd.openxmlformats-officedocument.presentationml.notesSlide+xml"/>
  <Override PartName="/ppt/notesSlides/notesSlide469.xml" ContentType="application/vnd.openxmlformats-officedocument.presentationml.notesSlide+xml"/>
  <Override PartName="/ppt/notesSlides/notesSlide47.xml" ContentType="application/vnd.openxmlformats-officedocument.presentationml.notesSlide+xml"/>
  <Override PartName="/ppt/notesSlides/notesSlide470.xml" ContentType="application/vnd.openxmlformats-officedocument.presentationml.notesSlide+xml"/>
  <Override PartName="/ppt/notesSlides/notesSlide471.xml" ContentType="application/vnd.openxmlformats-officedocument.presentationml.notesSlide+xml"/>
  <Override PartName="/ppt/notesSlides/notesSlide472.xml" ContentType="application/vnd.openxmlformats-officedocument.presentationml.notesSlide+xml"/>
  <Override PartName="/ppt/notesSlides/notesSlide473.xml" ContentType="application/vnd.openxmlformats-officedocument.presentationml.notesSlide+xml"/>
  <Override PartName="/ppt/notesSlides/notesSlide474.xml" ContentType="application/vnd.openxmlformats-officedocument.presentationml.notesSlide+xml"/>
  <Override PartName="/ppt/notesSlides/notesSlide475.xml" ContentType="application/vnd.openxmlformats-officedocument.presentationml.notesSlide+xml"/>
  <Override PartName="/ppt/notesSlides/notesSlide476.xml" ContentType="application/vnd.openxmlformats-officedocument.presentationml.notesSlide+xml"/>
  <Override PartName="/ppt/notesSlides/notesSlide477.xml" ContentType="application/vnd.openxmlformats-officedocument.presentationml.notesSlide+xml"/>
  <Override PartName="/ppt/notesSlides/notesSlide478.xml" ContentType="application/vnd.openxmlformats-officedocument.presentationml.notesSlide+xml"/>
  <Override PartName="/ppt/notesSlides/notesSlide479.xml" ContentType="application/vnd.openxmlformats-officedocument.presentationml.notesSlide+xml"/>
  <Override PartName="/ppt/notesSlides/notesSlide48.xml" ContentType="application/vnd.openxmlformats-officedocument.presentationml.notesSlide+xml"/>
  <Override PartName="/ppt/notesSlides/notesSlide480.xml" ContentType="application/vnd.openxmlformats-officedocument.presentationml.notesSlide+xml"/>
  <Override PartName="/ppt/notesSlides/notesSlide481.xml" ContentType="application/vnd.openxmlformats-officedocument.presentationml.notesSlide+xml"/>
  <Override PartName="/ppt/notesSlides/notesSlide482.xml" ContentType="application/vnd.openxmlformats-officedocument.presentationml.notesSlide+xml"/>
  <Override PartName="/ppt/notesSlides/notesSlide483.xml" ContentType="application/vnd.openxmlformats-officedocument.presentationml.notesSlide+xml"/>
  <Override PartName="/ppt/notesSlides/notesSlide484.xml" ContentType="application/vnd.openxmlformats-officedocument.presentationml.notesSlide+xml"/>
  <Override PartName="/ppt/notesSlides/notesSlide485.xml" ContentType="application/vnd.openxmlformats-officedocument.presentationml.notesSlide+xml"/>
  <Override PartName="/ppt/notesSlides/notesSlide486.xml" ContentType="application/vnd.openxmlformats-officedocument.presentationml.notesSlide+xml"/>
  <Override PartName="/ppt/notesSlides/notesSlide487.xml" ContentType="application/vnd.openxmlformats-officedocument.presentationml.notesSlide+xml"/>
  <Override PartName="/ppt/notesSlides/notesSlide488.xml" ContentType="application/vnd.openxmlformats-officedocument.presentationml.notesSlide+xml"/>
  <Override PartName="/ppt/notesSlides/notesSlide489.xml" ContentType="application/vnd.openxmlformats-officedocument.presentationml.notesSlide+xml"/>
  <Override PartName="/ppt/notesSlides/notesSlide49.xml" ContentType="application/vnd.openxmlformats-officedocument.presentationml.notesSlide+xml"/>
  <Override PartName="/ppt/notesSlides/notesSlide490.xml" ContentType="application/vnd.openxmlformats-officedocument.presentationml.notesSlide+xml"/>
  <Override PartName="/ppt/notesSlides/notesSlide491.xml" ContentType="application/vnd.openxmlformats-officedocument.presentationml.notesSlide+xml"/>
  <Override PartName="/ppt/notesSlides/notesSlide492.xml" ContentType="application/vnd.openxmlformats-officedocument.presentationml.notesSlide+xml"/>
  <Override PartName="/ppt/notesSlides/notesSlide493.xml" ContentType="application/vnd.openxmlformats-officedocument.presentationml.notesSlide+xml"/>
  <Override PartName="/ppt/notesSlides/notesSlide494.xml" ContentType="application/vnd.openxmlformats-officedocument.presentationml.notesSlide+xml"/>
  <Override PartName="/ppt/notesSlides/notesSlide495.xml" ContentType="application/vnd.openxmlformats-officedocument.presentationml.notesSlide+xml"/>
  <Override PartName="/ppt/notesSlides/notesSlide496.xml" ContentType="application/vnd.openxmlformats-officedocument.presentationml.notesSlide+xml"/>
  <Override PartName="/ppt/notesSlides/notesSlide497.xml" ContentType="application/vnd.openxmlformats-officedocument.presentationml.notesSlide+xml"/>
  <Override PartName="/ppt/notesSlides/notesSlide498.xml" ContentType="application/vnd.openxmlformats-officedocument.presentationml.notesSlide+xml"/>
  <Override PartName="/ppt/notesSlides/notesSlide49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00.xml" ContentType="application/vnd.openxmlformats-officedocument.presentationml.notesSlide+xml"/>
  <Override PartName="/ppt/notesSlides/notesSlide501.xml" ContentType="application/vnd.openxmlformats-officedocument.presentationml.notesSlide+xml"/>
  <Override PartName="/ppt/notesSlides/notesSlide502.xml" ContentType="application/vnd.openxmlformats-officedocument.presentationml.notesSlide+xml"/>
  <Override PartName="/ppt/notesSlides/notesSlide503.xml" ContentType="application/vnd.openxmlformats-officedocument.presentationml.notesSlide+xml"/>
  <Override PartName="/ppt/notesSlides/notesSlide504.xml" ContentType="application/vnd.openxmlformats-officedocument.presentationml.notesSlide+xml"/>
  <Override PartName="/ppt/notesSlides/notesSlide505.xml" ContentType="application/vnd.openxmlformats-officedocument.presentationml.notesSlide+xml"/>
  <Override PartName="/ppt/notesSlides/notesSlide506.xml" ContentType="application/vnd.openxmlformats-officedocument.presentationml.notesSlide+xml"/>
  <Override PartName="/ppt/notesSlides/notesSlide507.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s/slide312.xml" ContentType="application/vnd.openxmlformats-officedocument.presentationml.slide+xml"/>
  <Override PartName="/ppt/slides/slide313.xml" ContentType="application/vnd.openxmlformats-officedocument.presentationml.slide+xml"/>
  <Override PartName="/ppt/slides/slide314.xml" ContentType="application/vnd.openxmlformats-officedocument.presentationml.slide+xml"/>
  <Override PartName="/ppt/slides/slide315.xml" ContentType="application/vnd.openxmlformats-officedocument.presentationml.slide+xml"/>
  <Override PartName="/ppt/slides/slide316.xml" ContentType="application/vnd.openxmlformats-officedocument.presentationml.slide+xml"/>
  <Override PartName="/ppt/slides/slide317.xml" ContentType="application/vnd.openxmlformats-officedocument.presentationml.slide+xml"/>
  <Override PartName="/ppt/slides/slide318.xml" ContentType="application/vnd.openxmlformats-officedocument.presentationml.slide+xml"/>
  <Override PartName="/ppt/slides/slide319.xml" ContentType="application/vnd.openxmlformats-officedocument.presentationml.slide+xml"/>
  <Override PartName="/ppt/slides/slide32.xml" ContentType="application/vnd.openxmlformats-officedocument.presentationml.slide+xml"/>
  <Override PartName="/ppt/slides/slide320.xml" ContentType="application/vnd.openxmlformats-officedocument.presentationml.slide+xml"/>
  <Override PartName="/ppt/slides/slide321.xml" ContentType="application/vnd.openxmlformats-officedocument.presentationml.slide+xml"/>
  <Override PartName="/ppt/slides/slide322.xml" ContentType="application/vnd.openxmlformats-officedocument.presentationml.slide+xml"/>
  <Override PartName="/ppt/slides/slide323.xml" ContentType="application/vnd.openxmlformats-officedocument.presentationml.slide+xml"/>
  <Override PartName="/ppt/slides/slide324.xml" ContentType="application/vnd.openxmlformats-officedocument.presentationml.slide+xml"/>
  <Override PartName="/ppt/slides/slide325.xml" ContentType="application/vnd.openxmlformats-officedocument.presentationml.slide+xml"/>
  <Override PartName="/ppt/slides/slide326.xml" ContentType="application/vnd.openxmlformats-officedocument.presentationml.slide+xml"/>
  <Override PartName="/ppt/slides/slide327.xml" ContentType="application/vnd.openxmlformats-officedocument.presentationml.slide+xml"/>
  <Override PartName="/ppt/slides/slide328.xml" ContentType="application/vnd.openxmlformats-officedocument.presentationml.slide+xml"/>
  <Override PartName="/ppt/slides/slide329.xml" ContentType="application/vnd.openxmlformats-officedocument.presentationml.slide+xml"/>
  <Override PartName="/ppt/slides/slide33.xml" ContentType="application/vnd.openxmlformats-officedocument.presentationml.slide+xml"/>
  <Override PartName="/ppt/slides/slide330.xml" ContentType="application/vnd.openxmlformats-officedocument.presentationml.slide+xml"/>
  <Override PartName="/ppt/slides/slide331.xml" ContentType="application/vnd.openxmlformats-officedocument.presentationml.slide+xml"/>
  <Override PartName="/ppt/slides/slide332.xml" ContentType="application/vnd.openxmlformats-officedocument.presentationml.slide+xml"/>
  <Override PartName="/ppt/slides/slide333.xml" ContentType="application/vnd.openxmlformats-officedocument.presentationml.slide+xml"/>
  <Override PartName="/ppt/slides/slide334.xml" ContentType="application/vnd.openxmlformats-officedocument.presentationml.slide+xml"/>
  <Override PartName="/ppt/slides/slide335.xml" ContentType="application/vnd.openxmlformats-officedocument.presentationml.slide+xml"/>
  <Override PartName="/ppt/slides/slide336.xml" ContentType="application/vnd.openxmlformats-officedocument.presentationml.slide+xml"/>
  <Override PartName="/ppt/slides/slide337.xml" ContentType="application/vnd.openxmlformats-officedocument.presentationml.slide+xml"/>
  <Override PartName="/ppt/slides/slide338.xml" ContentType="application/vnd.openxmlformats-officedocument.presentationml.slide+xml"/>
  <Override PartName="/ppt/slides/slide339.xml" ContentType="application/vnd.openxmlformats-officedocument.presentationml.slide+xml"/>
  <Override PartName="/ppt/slides/slide34.xml" ContentType="application/vnd.openxmlformats-officedocument.presentationml.slide+xml"/>
  <Override PartName="/ppt/slides/slide340.xml" ContentType="application/vnd.openxmlformats-officedocument.presentationml.slide+xml"/>
  <Override PartName="/ppt/slides/slide341.xml" ContentType="application/vnd.openxmlformats-officedocument.presentationml.slide+xml"/>
  <Override PartName="/ppt/slides/slide342.xml" ContentType="application/vnd.openxmlformats-officedocument.presentationml.slide+xml"/>
  <Override PartName="/ppt/slides/slide343.xml" ContentType="application/vnd.openxmlformats-officedocument.presentationml.slide+xml"/>
  <Override PartName="/ppt/slides/slide344.xml" ContentType="application/vnd.openxmlformats-officedocument.presentationml.slide+xml"/>
  <Override PartName="/ppt/slides/slide345.xml" ContentType="application/vnd.openxmlformats-officedocument.presentationml.slide+xml"/>
  <Override PartName="/ppt/slides/slide346.xml" ContentType="application/vnd.openxmlformats-officedocument.presentationml.slide+xml"/>
  <Override PartName="/ppt/slides/slide347.xml" ContentType="application/vnd.openxmlformats-officedocument.presentationml.slide+xml"/>
  <Override PartName="/ppt/slides/slide348.xml" ContentType="application/vnd.openxmlformats-officedocument.presentationml.slide+xml"/>
  <Override PartName="/ppt/slides/slide349.xml" ContentType="application/vnd.openxmlformats-officedocument.presentationml.slide+xml"/>
  <Override PartName="/ppt/slides/slide35.xml" ContentType="application/vnd.openxmlformats-officedocument.presentationml.slide+xml"/>
  <Override PartName="/ppt/slides/slide350.xml" ContentType="application/vnd.openxmlformats-officedocument.presentationml.slide+xml"/>
  <Override PartName="/ppt/slides/slide351.xml" ContentType="application/vnd.openxmlformats-officedocument.presentationml.slide+xml"/>
  <Override PartName="/ppt/slides/slide352.xml" ContentType="application/vnd.openxmlformats-officedocument.presentationml.slide+xml"/>
  <Override PartName="/ppt/slides/slide353.xml" ContentType="application/vnd.openxmlformats-officedocument.presentationml.slide+xml"/>
  <Override PartName="/ppt/slides/slide354.xml" ContentType="application/vnd.openxmlformats-officedocument.presentationml.slide+xml"/>
  <Override PartName="/ppt/slides/slide355.xml" ContentType="application/vnd.openxmlformats-officedocument.presentationml.slide+xml"/>
  <Override PartName="/ppt/slides/slide356.xml" ContentType="application/vnd.openxmlformats-officedocument.presentationml.slide+xml"/>
  <Override PartName="/ppt/slides/slide357.xml" ContentType="application/vnd.openxmlformats-officedocument.presentationml.slide+xml"/>
  <Override PartName="/ppt/slides/slide358.xml" ContentType="application/vnd.openxmlformats-officedocument.presentationml.slide+xml"/>
  <Override PartName="/ppt/slides/slide359.xml" ContentType="application/vnd.openxmlformats-officedocument.presentationml.slide+xml"/>
  <Override PartName="/ppt/slides/slide36.xml" ContentType="application/vnd.openxmlformats-officedocument.presentationml.slide+xml"/>
  <Override PartName="/ppt/slides/slide360.xml" ContentType="application/vnd.openxmlformats-officedocument.presentationml.slide+xml"/>
  <Override PartName="/ppt/slides/slide361.xml" ContentType="application/vnd.openxmlformats-officedocument.presentationml.slide+xml"/>
  <Override PartName="/ppt/slides/slide362.xml" ContentType="application/vnd.openxmlformats-officedocument.presentationml.slide+xml"/>
  <Override PartName="/ppt/slides/slide363.xml" ContentType="application/vnd.openxmlformats-officedocument.presentationml.slide+xml"/>
  <Override PartName="/ppt/slides/slide364.xml" ContentType="application/vnd.openxmlformats-officedocument.presentationml.slide+xml"/>
  <Override PartName="/ppt/slides/slide365.xml" ContentType="application/vnd.openxmlformats-officedocument.presentationml.slide+xml"/>
  <Override PartName="/ppt/slides/slide366.xml" ContentType="application/vnd.openxmlformats-officedocument.presentationml.slide+xml"/>
  <Override PartName="/ppt/slides/slide367.xml" ContentType="application/vnd.openxmlformats-officedocument.presentationml.slide+xml"/>
  <Override PartName="/ppt/slides/slide368.xml" ContentType="application/vnd.openxmlformats-officedocument.presentationml.slide+xml"/>
  <Override PartName="/ppt/slides/slide369.xml" ContentType="application/vnd.openxmlformats-officedocument.presentationml.slide+xml"/>
  <Override PartName="/ppt/slides/slide37.xml" ContentType="application/vnd.openxmlformats-officedocument.presentationml.slide+xml"/>
  <Override PartName="/ppt/slides/slide370.xml" ContentType="application/vnd.openxmlformats-officedocument.presentationml.slide+xml"/>
  <Override PartName="/ppt/slides/slide371.xml" ContentType="application/vnd.openxmlformats-officedocument.presentationml.slide+xml"/>
  <Override PartName="/ppt/slides/slide372.xml" ContentType="application/vnd.openxmlformats-officedocument.presentationml.slide+xml"/>
  <Override PartName="/ppt/slides/slide373.xml" ContentType="application/vnd.openxmlformats-officedocument.presentationml.slide+xml"/>
  <Override PartName="/ppt/slides/slide374.xml" ContentType="application/vnd.openxmlformats-officedocument.presentationml.slide+xml"/>
  <Override PartName="/ppt/slides/slide375.xml" ContentType="application/vnd.openxmlformats-officedocument.presentationml.slide+xml"/>
  <Override PartName="/ppt/slides/slide376.xml" ContentType="application/vnd.openxmlformats-officedocument.presentationml.slide+xml"/>
  <Override PartName="/ppt/slides/slide377.xml" ContentType="application/vnd.openxmlformats-officedocument.presentationml.slide+xml"/>
  <Override PartName="/ppt/slides/slide378.xml" ContentType="application/vnd.openxmlformats-officedocument.presentationml.slide+xml"/>
  <Override PartName="/ppt/slides/slide379.xml" ContentType="application/vnd.openxmlformats-officedocument.presentationml.slide+xml"/>
  <Override PartName="/ppt/slides/slide38.xml" ContentType="application/vnd.openxmlformats-officedocument.presentationml.slide+xml"/>
  <Override PartName="/ppt/slides/slide380.xml" ContentType="application/vnd.openxmlformats-officedocument.presentationml.slide+xml"/>
  <Override PartName="/ppt/slides/slide381.xml" ContentType="application/vnd.openxmlformats-officedocument.presentationml.slide+xml"/>
  <Override PartName="/ppt/slides/slide382.xml" ContentType="application/vnd.openxmlformats-officedocument.presentationml.slide+xml"/>
  <Override PartName="/ppt/slides/slide383.xml" ContentType="application/vnd.openxmlformats-officedocument.presentationml.slide+xml"/>
  <Override PartName="/ppt/slides/slide384.xml" ContentType="application/vnd.openxmlformats-officedocument.presentationml.slide+xml"/>
  <Override PartName="/ppt/slides/slide385.xml" ContentType="application/vnd.openxmlformats-officedocument.presentationml.slide+xml"/>
  <Override PartName="/ppt/slides/slide386.xml" ContentType="application/vnd.openxmlformats-officedocument.presentationml.slide+xml"/>
  <Override PartName="/ppt/slides/slide387.xml" ContentType="application/vnd.openxmlformats-officedocument.presentationml.slide+xml"/>
  <Override PartName="/ppt/slides/slide388.xml" ContentType="application/vnd.openxmlformats-officedocument.presentationml.slide+xml"/>
  <Override PartName="/ppt/slides/slide389.xml" ContentType="application/vnd.openxmlformats-officedocument.presentationml.slide+xml"/>
  <Override PartName="/ppt/slides/slide39.xml" ContentType="application/vnd.openxmlformats-officedocument.presentationml.slide+xml"/>
  <Override PartName="/ppt/slides/slide390.xml" ContentType="application/vnd.openxmlformats-officedocument.presentationml.slide+xml"/>
  <Override PartName="/ppt/slides/slide391.xml" ContentType="application/vnd.openxmlformats-officedocument.presentationml.slide+xml"/>
  <Override PartName="/ppt/slides/slide392.xml" ContentType="application/vnd.openxmlformats-officedocument.presentationml.slide+xml"/>
  <Override PartName="/ppt/slides/slide393.xml" ContentType="application/vnd.openxmlformats-officedocument.presentationml.slide+xml"/>
  <Override PartName="/ppt/slides/slide394.xml" ContentType="application/vnd.openxmlformats-officedocument.presentationml.slide+xml"/>
  <Override PartName="/ppt/slides/slide395.xml" ContentType="application/vnd.openxmlformats-officedocument.presentationml.slide+xml"/>
  <Override PartName="/ppt/slides/slide396.xml" ContentType="application/vnd.openxmlformats-officedocument.presentationml.slide+xml"/>
  <Override PartName="/ppt/slides/slide397.xml" ContentType="application/vnd.openxmlformats-officedocument.presentationml.slide+xml"/>
  <Override PartName="/ppt/slides/slide398.xml" ContentType="application/vnd.openxmlformats-officedocument.presentationml.slide+xml"/>
  <Override PartName="/ppt/slides/slide39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00.xml" ContentType="application/vnd.openxmlformats-officedocument.presentationml.slide+xml"/>
  <Override PartName="/ppt/slides/slide401.xml" ContentType="application/vnd.openxmlformats-officedocument.presentationml.slide+xml"/>
  <Override PartName="/ppt/slides/slide402.xml" ContentType="application/vnd.openxmlformats-officedocument.presentationml.slide+xml"/>
  <Override PartName="/ppt/slides/slide403.xml" ContentType="application/vnd.openxmlformats-officedocument.presentationml.slide+xml"/>
  <Override PartName="/ppt/slides/slide404.xml" ContentType="application/vnd.openxmlformats-officedocument.presentationml.slide+xml"/>
  <Override PartName="/ppt/slides/slide405.xml" ContentType="application/vnd.openxmlformats-officedocument.presentationml.slide+xml"/>
  <Override PartName="/ppt/slides/slide406.xml" ContentType="application/vnd.openxmlformats-officedocument.presentationml.slide+xml"/>
  <Override PartName="/ppt/slides/slide407.xml" ContentType="application/vnd.openxmlformats-officedocument.presentationml.slide+xml"/>
  <Override PartName="/ppt/slides/slide408.xml" ContentType="application/vnd.openxmlformats-officedocument.presentationml.slide+xml"/>
  <Override PartName="/ppt/slides/slide409.xml" ContentType="application/vnd.openxmlformats-officedocument.presentationml.slide+xml"/>
  <Override PartName="/ppt/slides/slide41.xml" ContentType="application/vnd.openxmlformats-officedocument.presentationml.slide+xml"/>
  <Override PartName="/ppt/slides/slide410.xml" ContentType="application/vnd.openxmlformats-officedocument.presentationml.slide+xml"/>
  <Override PartName="/ppt/slides/slide411.xml" ContentType="application/vnd.openxmlformats-officedocument.presentationml.slide+xml"/>
  <Override PartName="/ppt/slides/slide412.xml" ContentType="application/vnd.openxmlformats-officedocument.presentationml.slide+xml"/>
  <Override PartName="/ppt/slides/slide413.xml" ContentType="application/vnd.openxmlformats-officedocument.presentationml.slide+xml"/>
  <Override PartName="/ppt/slides/slide414.xml" ContentType="application/vnd.openxmlformats-officedocument.presentationml.slide+xml"/>
  <Override PartName="/ppt/slides/slide415.xml" ContentType="application/vnd.openxmlformats-officedocument.presentationml.slide+xml"/>
  <Override PartName="/ppt/slides/slide416.xml" ContentType="application/vnd.openxmlformats-officedocument.presentationml.slide+xml"/>
  <Override PartName="/ppt/slides/slide417.xml" ContentType="application/vnd.openxmlformats-officedocument.presentationml.slide+xml"/>
  <Override PartName="/ppt/slides/slide418.xml" ContentType="application/vnd.openxmlformats-officedocument.presentationml.slide+xml"/>
  <Override PartName="/ppt/slides/slide419.xml" ContentType="application/vnd.openxmlformats-officedocument.presentationml.slide+xml"/>
  <Override PartName="/ppt/slides/slide42.xml" ContentType="application/vnd.openxmlformats-officedocument.presentationml.slide+xml"/>
  <Override PartName="/ppt/slides/slide420.xml" ContentType="application/vnd.openxmlformats-officedocument.presentationml.slide+xml"/>
  <Override PartName="/ppt/slides/slide421.xml" ContentType="application/vnd.openxmlformats-officedocument.presentationml.slide+xml"/>
  <Override PartName="/ppt/slides/slide422.xml" ContentType="application/vnd.openxmlformats-officedocument.presentationml.slide+xml"/>
  <Override PartName="/ppt/slides/slide423.xml" ContentType="application/vnd.openxmlformats-officedocument.presentationml.slide+xml"/>
  <Override PartName="/ppt/slides/slide424.xml" ContentType="application/vnd.openxmlformats-officedocument.presentationml.slide+xml"/>
  <Override PartName="/ppt/slides/slide425.xml" ContentType="application/vnd.openxmlformats-officedocument.presentationml.slide+xml"/>
  <Override PartName="/ppt/slides/slide426.xml" ContentType="application/vnd.openxmlformats-officedocument.presentationml.slide+xml"/>
  <Override PartName="/ppt/slides/slide427.xml" ContentType="application/vnd.openxmlformats-officedocument.presentationml.slide+xml"/>
  <Override PartName="/ppt/slides/slide428.xml" ContentType="application/vnd.openxmlformats-officedocument.presentationml.slide+xml"/>
  <Override PartName="/ppt/slides/slide429.xml" ContentType="application/vnd.openxmlformats-officedocument.presentationml.slide+xml"/>
  <Override PartName="/ppt/slides/slide43.xml" ContentType="application/vnd.openxmlformats-officedocument.presentationml.slide+xml"/>
  <Override PartName="/ppt/slides/slide430.xml" ContentType="application/vnd.openxmlformats-officedocument.presentationml.slide+xml"/>
  <Override PartName="/ppt/slides/slide431.xml" ContentType="application/vnd.openxmlformats-officedocument.presentationml.slide+xml"/>
  <Override PartName="/ppt/slides/slide432.xml" ContentType="application/vnd.openxmlformats-officedocument.presentationml.slide+xml"/>
  <Override PartName="/ppt/slides/slide433.xml" ContentType="application/vnd.openxmlformats-officedocument.presentationml.slide+xml"/>
  <Override PartName="/ppt/slides/slide434.xml" ContentType="application/vnd.openxmlformats-officedocument.presentationml.slide+xml"/>
  <Override PartName="/ppt/slides/slide435.xml" ContentType="application/vnd.openxmlformats-officedocument.presentationml.slide+xml"/>
  <Override PartName="/ppt/slides/slide436.xml" ContentType="application/vnd.openxmlformats-officedocument.presentationml.slide+xml"/>
  <Override PartName="/ppt/slides/slide437.xml" ContentType="application/vnd.openxmlformats-officedocument.presentationml.slide+xml"/>
  <Override PartName="/ppt/slides/slide438.xml" ContentType="application/vnd.openxmlformats-officedocument.presentationml.slide+xml"/>
  <Override PartName="/ppt/slides/slide439.xml" ContentType="application/vnd.openxmlformats-officedocument.presentationml.slide+xml"/>
  <Override PartName="/ppt/slides/slide44.xml" ContentType="application/vnd.openxmlformats-officedocument.presentationml.slide+xml"/>
  <Override PartName="/ppt/slides/slide440.xml" ContentType="application/vnd.openxmlformats-officedocument.presentationml.slide+xml"/>
  <Override PartName="/ppt/slides/slide441.xml" ContentType="application/vnd.openxmlformats-officedocument.presentationml.slide+xml"/>
  <Override PartName="/ppt/slides/slide442.xml" ContentType="application/vnd.openxmlformats-officedocument.presentationml.slide+xml"/>
  <Override PartName="/ppt/slides/slide443.xml" ContentType="application/vnd.openxmlformats-officedocument.presentationml.slide+xml"/>
  <Override PartName="/ppt/slides/slide444.xml" ContentType="application/vnd.openxmlformats-officedocument.presentationml.slide+xml"/>
  <Override PartName="/ppt/slides/slide445.xml" ContentType="application/vnd.openxmlformats-officedocument.presentationml.slide+xml"/>
  <Override PartName="/ppt/slides/slide446.xml" ContentType="application/vnd.openxmlformats-officedocument.presentationml.slide+xml"/>
  <Override PartName="/ppt/slides/slide447.xml" ContentType="application/vnd.openxmlformats-officedocument.presentationml.slide+xml"/>
  <Override PartName="/ppt/slides/slide448.xml" ContentType="application/vnd.openxmlformats-officedocument.presentationml.slide+xml"/>
  <Override PartName="/ppt/slides/slide449.xml" ContentType="application/vnd.openxmlformats-officedocument.presentationml.slide+xml"/>
  <Override PartName="/ppt/slides/slide45.xml" ContentType="application/vnd.openxmlformats-officedocument.presentationml.slide+xml"/>
  <Override PartName="/ppt/slides/slide450.xml" ContentType="application/vnd.openxmlformats-officedocument.presentationml.slide+xml"/>
  <Override PartName="/ppt/slides/slide451.xml" ContentType="application/vnd.openxmlformats-officedocument.presentationml.slide+xml"/>
  <Override PartName="/ppt/slides/slide452.xml" ContentType="application/vnd.openxmlformats-officedocument.presentationml.slide+xml"/>
  <Override PartName="/ppt/slides/slide453.xml" ContentType="application/vnd.openxmlformats-officedocument.presentationml.slide+xml"/>
  <Override PartName="/ppt/slides/slide454.xml" ContentType="application/vnd.openxmlformats-officedocument.presentationml.slide+xml"/>
  <Override PartName="/ppt/slides/slide455.xml" ContentType="application/vnd.openxmlformats-officedocument.presentationml.slide+xml"/>
  <Override PartName="/ppt/slides/slide456.xml" ContentType="application/vnd.openxmlformats-officedocument.presentationml.slide+xml"/>
  <Override PartName="/ppt/slides/slide457.xml" ContentType="application/vnd.openxmlformats-officedocument.presentationml.slide+xml"/>
  <Override PartName="/ppt/slides/slide458.xml" ContentType="application/vnd.openxmlformats-officedocument.presentationml.slide+xml"/>
  <Override PartName="/ppt/slides/slide459.xml" ContentType="application/vnd.openxmlformats-officedocument.presentationml.slide+xml"/>
  <Override PartName="/ppt/slides/slide46.xml" ContentType="application/vnd.openxmlformats-officedocument.presentationml.slide+xml"/>
  <Override PartName="/ppt/slides/slide460.xml" ContentType="application/vnd.openxmlformats-officedocument.presentationml.slide+xml"/>
  <Override PartName="/ppt/slides/slide461.xml" ContentType="application/vnd.openxmlformats-officedocument.presentationml.slide+xml"/>
  <Override PartName="/ppt/slides/slide462.xml" ContentType="application/vnd.openxmlformats-officedocument.presentationml.slide+xml"/>
  <Override PartName="/ppt/slides/slide463.xml" ContentType="application/vnd.openxmlformats-officedocument.presentationml.slide+xml"/>
  <Override PartName="/ppt/slides/slide464.xml" ContentType="application/vnd.openxmlformats-officedocument.presentationml.slide+xml"/>
  <Override PartName="/ppt/slides/slide465.xml" ContentType="application/vnd.openxmlformats-officedocument.presentationml.slide+xml"/>
  <Override PartName="/ppt/slides/slide466.xml" ContentType="application/vnd.openxmlformats-officedocument.presentationml.slide+xml"/>
  <Override PartName="/ppt/slides/slide467.xml" ContentType="application/vnd.openxmlformats-officedocument.presentationml.slide+xml"/>
  <Override PartName="/ppt/slides/slide468.xml" ContentType="application/vnd.openxmlformats-officedocument.presentationml.slide+xml"/>
  <Override PartName="/ppt/slides/slide469.xml" ContentType="application/vnd.openxmlformats-officedocument.presentationml.slide+xml"/>
  <Override PartName="/ppt/slides/slide47.xml" ContentType="application/vnd.openxmlformats-officedocument.presentationml.slide+xml"/>
  <Override PartName="/ppt/slides/slide470.xml" ContentType="application/vnd.openxmlformats-officedocument.presentationml.slide+xml"/>
  <Override PartName="/ppt/slides/slide471.xml" ContentType="application/vnd.openxmlformats-officedocument.presentationml.slide+xml"/>
  <Override PartName="/ppt/slides/slide472.xml" ContentType="application/vnd.openxmlformats-officedocument.presentationml.slide+xml"/>
  <Override PartName="/ppt/slides/slide473.xml" ContentType="application/vnd.openxmlformats-officedocument.presentationml.slide+xml"/>
  <Override PartName="/ppt/slides/slide474.xml" ContentType="application/vnd.openxmlformats-officedocument.presentationml.slide+xml"/>
  <Override PartName="/ppt/slides/slide475.xml" ContentType="application/vnd.openxmlformats-officedocument.presentationml.slide+xml"/>
  <Override PartName="/ppt/slides/slide476.xml" ContentType="application/vnd.openxmlformats-officedocument.presentationml.slide+xml"/>
  <Override PartName="/ppt/slides/slide477.xml" ContentType="application/vnd.openxmlformats-officedocument.presentationml.slide+xml"/>
  <Override PartName="/ppt/slides/slide478.xml" ContentType="application/vnd.openxmlformats-officedocument.presentationml.slide+xml"/>
  <Override PartName="/ppt/slides/slide479.xml" ContentType="application/vnd.openxmlformats-officedocument.presentationml.slide+xml"/>
  <Override PartName="/ppt/slides/slide48.xml" ContentType="application/vnd.openxmlformats-officedocument.presentationml.slide+xml"/>
  <Override PartName="/ppt/slides/slide480.xml" ContentType="application/vnd.openxmlformats-officedocument.presentationml.slide+xml"/>
  <Override PartName="/ppt/slides/slide481.xml" ContentType="application/vnd.openxmlformats-officedocument.presentationml.slide+xml"/>
  <Override PartName="/ppt/slides/slide482.xml" ContentType="application/vnd.openxmlformats-officedocument.presentationml.slide+xml"/>
  <Override PartName="/ppt/slides/slide483.xml" ContentType="application/vnd.openxmlformats-officedocument.presentationml.slide+xml"/>
  <Override PartName="/ppt/slides/slide484.xml" ContentType="application/vnd.openxmlformats-officedocument.presentationml.slide+xml"/>
  <Override PartName="/ppt/slides/slide485.xml" ContentType="application/vnd.openxmlformats-officedocument.presentationml.slide+xml"/>
  <Override PartName="/ppt/slides/slide486.xml" ContentType="application/vnd.openxmlformats-officedocument.presentationml.slide+xml"/>
  <Override PartName="/ppt/slides/slide487.xml" ContentType="application/vnd.openxmlformats-officedocument.presentationml.slide+xml"/>
  <Override PartName="/ppt/slides/slide488.xml" ContentType="application/vnd.openxmlformats-officedocument.presentationml.slide+xml"/>
  <Override PartName="/ppt/slides/slide489.xml" ContentType="application/vnd.openxmlformats-officedocument.presentationml.slide+xml"/>
  <Override PartName="/ppt/slides/slide49.xml" ContentType="application/vnd.openxmlformats-officedocument.presentationml.slide+xml"/>
  <Override PartName="/ppt/slides/slide490.xml" ContentType="application/vnd.openxmlformats-officedocument.presentationml.slide+xml"/>
  <Override PartName="/ppt/slides/slide491.xml" ContentType="application/vnd.openxmlformats-officedocument.presentationml.slide+xml"/>
  <Override PartName="/ppt/slides/slide492.xml" ContentType="application/vnd.openxmlformats-officedocument.presentationml.slide+xml"/>
  <Override PartName="/ppt/slides/slide493.xml" ContentType="application/vnd.openxmlformats-officedocument.presentationml.slide+xml"/>
  <Override PartName="/ppt/slides/slide494.xml" ContentType="application/vnd.openxmlformats-officedocument.presentationml.slide+xml"/>
  <Override PartName="/ppt/slides/slide495.xml" ContentType="application/vnd.openxmlformats-officedocument.presentationml.slide+xml"/>
  <Override PartName="/ppt/slides/slide496.xml" ContentType="application/vnd.openxmlformats-officedocument.presentationml.slide+xml"/>
  <Override PartName="/ppt/slides/slide497.xml" ContentType="application/vnd.openxmlformats-officedocument.presentationml.slide+xml"/>
  <Override PartName="/ppt/slides/slide498.xml" ContentType="application/vnd.openxmlformats-officedocument.presentationml.slide+xml"/>
  <Override PartName="/ppt/slides/slide49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00.xml" ContentType="application/vnd.openxmlformats-officedocument.presentationml.slide+xml"/>
  <Override PartName="/ppt/slides/slide501.xml" ContentType="application/vnd.openxmlformats-officedocument.presentationml.slide+xml"/>
  <Override PartName="/ppt/slides/slide502.xml" ContentType="application/vnd.openxmlformats-officedocument.presentationml.slide+xml"/>
  <Override PartName="/ppt/slides/slide503.xml" ContentType="application/vnd.openxmlformats-officedocument.presentationml.slide+xml"/>
  <Override PartName="/ppt/slides/slide504.xml" ContentType="application/vnd.openxmlformats-officedocument.presentationml.slide+xml"/>
  <Override PartName="/ppt/slides/slide505.xml" ContentType="application/vnd.openxmlformats-officedocument.presentationml.slide+xml"/>
  <Override PartName="/ppt/slides/slide506.xml" ContentType="application/vnd.openxmlformats-officedocument.presentationml.slide+xml"/>
  <Override PartName="/ppt/slides/slide507.xml" ContentType="application/vnd.openxmlformats-officedocument.presentationml.slide+xml"/>
  <Override PartName="/ppt/slides/slide508.xml" ContentType="application/vnd.openxmlformats-officedocument.presentationml.slide+xml"/>
  <Override PartName="/ppt/slides/slide509.xml" ContentType="application/vnd.openxmlformats-officedocument.presentationml.slide+xml"/>
  <Override PartName="/ppt/slides/slide51.xml" ContentType="application/vnd.openxmlformats-officedocument.presentationml.slide+xml"/>
  <Override PartName="/ppt/slides/slide510.xml" ContentType="application/vnd.openxmlformats-officedocument.presentationml.slide+xml"/>
  <Override PartName="/ppt/slides/slide511.xml" ContentType="application/vnd.openxmlformats-officedocument.presentationml.slide+xml"/>
  <Override PartName="/ppt/slides/slide512.xml" ContentType="application/vnd.openxmlformats-officedocument.presentationml.slide+xml"/>
  <Override PartName="/ppt/slides/slide513.xml" ContentType="application/vnd.openxmlformats-officedocument.presentationml.slide+xml"/>
  <Override PartName="/ppt/slides/slide514.xml" ContentType="application/vnd.openxmlformats-officedocument.presentationml.slide+xml"/>
  <Override PartName="/ppt/slides/slide515.xml" ContentType="application/vnd.openxmlformats-officedocument.presentationml.slide+xml"/>
  <Override PartName="/ppt/slides/slide516.xml" ContentType="application/vnd.openxmlformats-officedocument.presentationml.slide+xml"/>
  <Override PartName="/ppt/slides/slide517.xml" ContentType="application/vnd.openxmlformats-officedocument.presentationml.slide+xml"/>
  <Override PartName="/ppt/slides/slide518.xml" ContentType="application/vnd.openxmlformats-officedocument.presentationml.slide+xml"/>
  <Override PartName="/ppt/slides/slide519.xml" ContentType="application/vnd.openxmlformats-officedocument.presentationml.slide+xml"/>
  <Override PartName="/ppt/slides/slide52.xml" ContentType="application/vnd.openxmlformats-officedocument.presentationml.slide+xml"/>
  <Override PartName="/ppt/slides/slide520.xml" ContentType="application/vnd.openxmlformats-officedocument.presentationml.slide+xml"/>
  <Override PartName="/ppt/slides/slide521.xml" ContentType="application/vnd.openxmlformats-officedocument.presentationml.slide+xml"/>
  <Override PartName="/ppt/slides/slide522.xml" ContentType="application/vnd.openxmlformats-officedocument.presentationml.slide+xml"/>
  <Override PartName="/ppt/slides/slide523.xml" ContentType="application/vnd.openxmlformats-officedocument.presentationml.slide+xml"/>
  <Override PartName="/ppt/slides/slide524.xml" ContentType="application/vnd.openxmlformats-officedocument.presentationml.slide+xml"/>
  <Override PartName="/ppt/slides/slide525.xml" ContentType="application/vnd.openxmlformats-officedocument.presentationml.slide+xml"/>
  <Override PartName="/ppt/slides/slide526.xml" ContentType="application/vnd.openxmlformats-officedocument.presentationml.slide+xml"/>
  <Override PartName="/ppt/slides/slide527.xml" ContentType="application/vnd.openxmlformats-officedocument.presentationml.slide+xml"/>
  <Override PartName="/ppt/slides/slide528.xml" ContentType="application/vnd.openxmlformats-officedocument.presentationml.slide+xml"/>
  <Override PartName="/ppt/slides/slide529.xml" ContentType="application/vnd.openxmlformats-officedocument.presentationml.slide+xml"/>
  <Override PartName="/ppt/slides/slide53.xml" ContentType="application/vnd.openxmlformats-officedocument.presentationml.slide+xml"/>
  <Override PartName="/ppt/slides/slide530.xml" ContentType="application/vnd.openxmlformats-officedocument.presentationml.slide+xml"/>
  <Override PartName="/ppt/slides/slide531.xml" ContentType="application/vnd.openxmlformats-officedocument.presentationml.slide+xml"/>
  <Override PartName="/ppt/slides/slide532.xml" ContentType="application/vnd.openxmlformats-officedocument.presentationml.slide+xml"/>
  <Override PartName="/ppt/slides/slide533.xml" ContentType="application/vnd.openxmlformats-officedocument.presentationml.slide+xml"/>
  <Override PartName="/ppt/slides/slide534.xml" ContentType="application/vnd.openxmlformats-officedocument.presentationml.slide+xml"/>
  <Override PartName="/ppt/slides/slide535.xml" ContentType="application/vnd.openxmlformats-officedocument.presentationml.slide+xml"/>
  <Override PartName="/ppt/slides/slide536.xml" ContentType="application/vnd.openxmlformats-officedocument.presentationml.slide+xml"/>
  <Override PartName="/ppt/slides/slide537.xml" ContentType="application/vnd.openxmlformats-officedocument.presentationml.slide+xml"/>
  <Override PartName="/ppt/slides/slide538.xml" ContentType="application/vnd.openxmlformats-officedocument.presentationml.slide+xml"/>
  <Override PartName="/ppt/slides/slide539.xml" ContentType="application/vnd.openxmlformats-officedocument.presentationml.slide+xml"/>
  <Override PartName="/ppt/slides/slide54.xml" ContentType="application/vnd.openxmlformats-officedocument.presentationml.slide+xml"/>
  <Override PartName="/ppt/slides/slide540.xml" ContentType="application/vnd.openxmlformats-officedocument.presentationml.slide+xml"/>
  <Override PartName="/ppt/slides/slide541.xml" ContentType="application/vnd.openxmlformats-officedocument.presentationml.slide+xml"/>
  <Override PartName="/ppt/slides/slide542.xml" ContentType="application/vnd.openxmlformats-officedocument.presentationml.slide+xml"/>
  <Override PartName="/ppt/slides/slide543.xml" ContentType="application/vnd.openxmlformats-officedocument.presentationml.slide+xml"/>
  <Override PartName="/ppt/slides/slide544.xml" ContentType="application/vnd.openxmlformats-officedocument.presentationml.slide+xml"/>
  <Override PartName="/ppt/slides/slide545.xml" ContentType="application/vnd.openxmlformats-officedocument.presentationml.slide+xml"/>
  <Override PartName="/ppt/slides/slide546.xml" ContentType="application/vnd.openxmlformats-officedocument.presentationml.slide+xml"/>
  <Override PartName="/ppt/slides/slide547.xml" ContentType="application/vnd.openxmlformats-officedocument.presentationml.slide+xml"/>
  <Override PartName="/ppt/slides/slide548.xml" ContentType="application/vnd.openxmlformats-officedocument.presentationml.slide+xml"/>
  <Override PartName="/ppt/slides/slide549.xml" ContentType="application/vnd.openxmlformats-officedocument.presentationml.slide+xml"/>
  <Override PartName="/ppt/slides/slide55.xml" ContentType="application/vnd.openxmlformats-officedocument.presentationml.slide+xml"/>
  <Override PartName="/ppt/slides/slide550.xml" ContentType="application/vnd.openxmlformats-officedocument.presentationml.slide+xml"/>
  <Override PartName="/ppt/slides/slide551.xml" ContentType="application/vnd.openxmlformats-officedocument.presentationml.slide+xml"/>
  <Override PartName="/ppt/slides/slide552.xml" ContentType="application/vnd.openxmlformats-officedocument.presentationml.slide+xml"/>
  <Override PartName="/ppt/slides/slide553.xml" ContentType="application/vnd.openxmlformats-officedocument.presentationml.slide+xml"/>
  <Override PartName="/ppt/slides/slide554.xml" ContentType="application/vnd.openxmlformats-officedocument.presentationml.slide+xml"/>
  <Override PartName="/ppt/slides/slide555.xml" ContentType="application/vnd.openxmlformats-officedocument.presentationml.slide+xml"/>
  <Override PartName="/ppt/slides/slide556.xml" ContentType="application/vnd.openxmlformats-officedocument.presentationml.slide+xml"/>
  <Override PartName="/ppt/slides/slide557.xml" ContentType="application/vnd.openxmlformats-officedocument.presentationml.slide+xml"/>
  <Override PartName="/ppt/slides/slide558.xml" ContentType="application/vnd.openxmlformats-officedocument.presentationml.slide+xml"/>
  <Override PartName="/ppt/slides/slide559.xml" ContentType="application/vnd.openxmlformats-officedocument.presentationml.slide+xml"/>
  <Override PartName="/ppt/slides/slide56.xml" ContentType="application/vnd.openxmlformats-officedocument.presentationml.slide+xml"/>
  <Override PartName="/ppt/slides/slide560.xml" ContentType="application/vnd.openxmlformats-officedocument.presentationml.slide+xml"/>
  <Override PartName="/ppt/slides/slide561.xml" ContentType="application/vnd.openxmlformats-officedocument.presentationml.slide+xml"/>
  <Override PartName="/ppt/slides/slide562.xml" ContentType="application/vnd.openxmlformats-officedocument.presentationml.slide+xml"/>
  <Override PartName="/ppt/slides/slide563.xml" ContentType="application/vnd.openxmlformats-officedocument.presentationml.slide+xml"/>
  <Override PartName="/ppt/slides/slide564.xml" ContentType="application/vnd.openxmlformats-officedocument.presentationml.slide+xml"/>
  <Override PartName="/ppt/slides/slide565.xml" ContentType="application/vnd.openxmlformats-officedocument.presentationml.slide+xml"/>
  <Override PartName="/ppt/slides/slide566.xml" ContentType="application/vnd.openxmlformats-officedocument.presentationml.slide+xml"/>
  <Override PartName="/ppt/slides/slide567.xml" ContentType="application/vnd.openxmlformats-officedocument.presentationml.slide+xml"/>
  <Override PartName="/ppt/slides/slide568.xml" ContentType="application/vnd.openxmlformats-officedocument.presentationml.slide+xml"/>
  <Override PartName="/ppt/slides/slide569.xml" ContentType="application/vnd.openxmlformats-officedocument.presentationml.slide+xml"/>
  <Override PartName="/ppt/slides/slide57.xml" ContentType="application/vnd.openxmlformats-officedocument.presentationml.slide+xml"/>
  <Override PartName="/ppt/slides/slide570.xml" ContentType="application/vnd.openxmlformats-officedocument.presentationml.slide+xml"/>
  <Override PartName="/ppt/slides/slide571.xml" ContentType="application/vnd.openxmlformats-officedocument.presentationml.slide+xml"/>
  <Override PartName="/ppt/slides/slide572.xml" ContentType="application/vnd.openxmlformats-officedocument.presentationml.slide+xml"/>
  <Override PartName="/ppt/slides/slide573.xml" ContentType="application/vnd.openxmlformats-officedocument.presentationml.slide+xml"/>
  <Override PartName="/ppt/slides/slide574.xml" ContentType="application/vnd.openxmlformats-officedocument.presentationml.slide+xml"/>
  <Override PartName="/ppt/slides/slide575.xml" ContentType="application/vnd.openxmlformats-officedocument.presentationml.slide+xml"/>
  <Override PartName="/ppt/slides/slide576.xml" ContentType="application/vnd.openxmlformats-officedocument.presentationml.slide+xml"/>
  <Override PartName="/ppt/slides/slide577.xml" ContentType="application/vnd.openxmlformats-officedocument.presentationml.slide+xml"/>
  <Override PartName="/ppt/slides/slide578.xml" ContentType="application/vnd.openxmlformats-officedocument.presentationml.slide+xml"/>
  <Override PartName="/ppt/slides/slide579.xml" ContentType="application/vnd.openxmlformats-officedocument.presentationml.slide+xml"/>
  <Override PartName="/ppt/slides/slide58.xml" ContentType="application/vnd.openxmlformats-officedocument.presentationml.slide+xml"/>
  <Override PartName="/ppt/slides/slide580.xml" ContentType="application/vnd.openxmlformats-officedocument.presentationml.slide+xml"/>
  <Override PartName="/ppt/slides/slide581.xml" ContentType="application/vnd.openxmlformats-officedocument.presentationml.slide+xml"/>
  <Override PartName="/ppt/slides/slide582.xml" ContentType="application/vnd.openxmlformats-officedocument.presentationml.slide+xml"/>
  <Override PartName="/ppt/slides/slide583.xml" ContentType="application/vnd.openxmlformats-officedocument.presentationml.slide+xml"/>
  <Override PartName="/ppt/slides/slide584.xml" ContentType="application/vnd.openxmlformats-officedocument.presentationml.slide+xml"/>
  <Override PartName="/ppt/slides/slide585.xml" ContentType="application/vnd.openxmlformats-officedocument.presentationml.slide+xml"/>
  <Override PartName="/ppt/slides/slide586.xml" ContentType="application/vnd.openxmlformats-officedocument.presentationml.slide+xml"/>
  <Override PartName="/ppt/slides/slide587.xml" ContentType="application/vnd.openxmlformats-officedocument.presentationml.slide+xml"/>
  <Override PartName="/ppt/slides/slide588.xml" ContentType="application/vnd.openxmlformats-officedocument.presentationml.slide+xml"/>
  <Override PartName="/ppt/slides/slide589.xml" ContentType="application/vnd.openxmlformats-officedocument.presentationml.slide+xml"/>
  <Override PartName="/ppt/slides/slide59.xml" ContentType="application/vnd.openxmlformats-officedocument.presentationml.slide+xml"/>
  <Override PartName="/ppt/slides/slide590.xml" ContentType="application/vnd.openxmlformats-officedocument.presentationml.slide+xml"/>
  <Override PartName="/ppt/slides/slide591.xml" ContentType="application/vnd.openxmlformats-officedocument.presentationml.slide+xml"/>
  <Override PartName="/ppt/slides/slide592.xml" ContentType="application/vnd.openxmlformats-officedocument.presentationml.slide+xml"/>
  <Override PartName="/ppt/slides/slide593.xml" ContentType="application/vnd.openxmlformats-officedocument.presentationml.slide+xml"/>
  <Override PartName="/ppt/slides/slide594.xml" ContentType="application/vnd.openxmlformats-officedocument.presentationml.slide+xml"/>
  <Override PartName="/ppt/slides/slide595.xml" ContentType="application/vnd.openxmlformats-officedocument.presentationml.slide+xml"/>
  <Override PartName="/ppt/slides/slide596.xml" ContentType="application/vnd.openxmlformats-officedocument.presentationml.slide+xml"/>
  <Override PartName="/ppt/slides/slide597.xml" ContentType="application/vnd.openxmlformats-officedocument.presentationml.slide+xml"/>
  <Override PartName="/ppt/slides/slide598.xml" ContentType="application/vnd.openxmlformats-officedocument.presentationml.slide+xml"/>
  <Override PartName="/ppt/slides/slide59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00.xml" ContentType="application/vnd.openxmlformats-officedocument.presentationml.slide+xml"/>
  <Override PartName="/ppt/slides/slide601.xml" ContentType="application/vnd.openxmlformats-officedocument.presentationml.slide+xml"/>
  <Override PartName="/ppt/slides/slide602.xml" ContentType="application/vnd.openxmlformats-officedocument.presentationml.slide+xml"/>
  <Override PartName="/ppt/slides/slide603.xml" ContentType="application/vnd.openxmlformats-officedocument.presentationml.slide+xml"/>
  <Override PartName="/ppt/slides/slide604.xml" ContentType="application/vnd.openxmlformats-officedocument.presentationml.slide+xml"/>
  <Override PartName="/ppt/slides/slide605.xml" ContentType="application/vnd.openxmlformats-officedocument.presentationml.slide+xml"/>
  <Override PartName="/ppt/slides/slide606.xml" ContentType="application/vnd.openxmlformats-officedocument.presentationml.slide+xml"/>
  <Override PartName="/ppt/slides/slide607.xml" ContentType="application/vnd.openxmlformats-officedocument.presentationml.slide+xml"/>
  <Override PartName="/ppt/slides/slide608.xml" ContentType="application/vnd.openxmlformats-officedocument.presentationml.slide+xml"/>
  <Override PartName="/ppt/slides/slide609.xml" ContentType="application/vnd.openxmlformats-officedocument.presentationml.slide+xml"/>
  <Override PartName="/ppt/slides/slide61.xml" ContentType="application/vnd.openxmlformats-officedocument.presentationml.slide+xml"/>
  <Override PartName="/ppt/slides/slide610.xml" ContentType="application/vnd.openxmlformats-officedocument.presentationml.slide+xml"/>
  <Override PartName="/ppt/slides/slide611.xml" ContentType="application/vnd.openxmlformats-officedocument.presentationml.slide+xml"/>
  <Override PartName="/ppt/slides/slide612.xml" ContentType="application/vnd.openxmlformats-officedocument.presentationml.slide+xml"/>
  <Override PartName="/ppt/slides/slide613.xml" ContentType="application/vnd.openxmlformats-officedocument.presentationml.slide+xml"/>
  <Override PartName="/ppt/slides/slide614.xml" ContentType="application/vnd.openxmlformats-officedocument.presentationml.slide+xml"/>
  <Override PartName="/ppt/slides/slide615.xml" ContentType="application/vnd.openxmlformats-officedocument.presentationml.slide+xml"/>
  <Override PartName="/ppt/slides/slide616.xml" ContentType="application/vnd.openxmlformats-officedocument.presentationml.slide+xml"/>
  <Override PartName="/ppt/slides/slide617.xml" ContentType="application/vnd.openxmlformats-officedocument.presentationml.slide+xml"/>
  <Override PartName="/ppt/slides/slide618.xml" ContentType="application/vnd.openxmlformats-officedocument.presentationml.slide+xml"/>
  <Override PartName="/ppt/slides/slide619.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 id="394" r:id="rId146"/>
    <p:sldId id="395" r:id="rId147"/>
    <p:sldId id="396" r:id="rId148"/>
    <p:sldId id="397" r:id="rId149"/>
    <p:sldId id="398" r:id="rId150"/>
    <p:sldId id="399" r:id="rId151"/>
    <p:sldId id="400" r:id="rId152"/>
    <p:sldId id="401" r:id="rId153"/>
    <p:sldId id="402" r:id="rId154"/>
    <p:sldId id="403" r:id="rId155"/>
    <p:sldId id="404" r:id="rId156"/>
    <p:sldId id="405" r:id="rId157"/>
    <p:sldId id="406" r:id="rId158"/>
    <p:sldId id="407" r:id="rId159"/>
    <p:sldId id="408" r:id="rId160"/>
    <p:sldId id="409" r:id="rId161"/>
    <p:sldId id="410" r:id="rId162"/>
    <p:sldId id="411" r:id="rId163"/>
    <p:sldId id="412" r:id="rId164"/>
    <p:sldId id="413" r:id="rId165"/>
    <p:sldId id="414" r:id="rId166"/>
    <p:sldId id="415" r:id="rId167"/>
    <p:sldId id="416" r:id="rId168"/>
    <p:sldId id="417" r:id="rId169"/>
    <p:sldId id="418" r:id="rId170"/>
    <p:sldId id="419" r:id="rId171"/>
    <p:sldId id="420" r:id="rId172"/>
    <p:sldId id="421" r:id="rId173"/>
    <p:sldId id="422" r:id="rId174"/>
    <p:sldId id="423" r:id="rId175"/>
    <p:sldId id="424" r:id="rId176"/>
    <p:sldId id="425" r:id="rId177"/>
    <p:sldId id="426" r:id="rId178"/>
    <p:sldId id="427" r:id="rId179"/>
    <p:sldId id="428" r:id="rId180"/>
    <p:sldId id="429" r:id="rId181"/>
    <p:sldId id="430" r:id="rId182"/>
    <p:sldId id="431" r:id="rId183"/>
    <p:sldId id="432" r:id="rId184"/>
    <p:sldId id="433" r:id="rId185"/>
    <p:sldId id="434" r:id="rId186"/>
    <p:sldId id="435" r:id="rId187"/>
    <p:sldId id="436" r:id="rId188"/>
    <p:sldId id="437" r:id="rId189"/>
    <p:sldId id="438" r:id="rId190"/>
    <p:sldId id="439" r:id="rId191"/>
    <p:sldId id="440" r:id="rId192"/>
    <p:sldId id="441" r:id="rId193"/>
    <p:sldId id="442" r:id="rId194"/>
    <p:sldId id="443" r:id="rId195"/>
    <p:sldId id="444" r:id="rId196"/>
    <p:sldId id="445" r:id="rId197"/>
    <p:sldId id="446" r:id="rId198"/>
    <p:sldId id="447" r:id="rId199"/>
    <p:sldId id="448" r:id="rId200"/>
    <p:sldId id="449" r:id="rId201"/>
    <p:sldId id="450" r:id="rId202"/>
    <p:sldId id="451" r:id="rId203"/>
    <p:sldId id="452" r:id="rId204"/>
    <p:sldId id="453" r:id="rId205"/>
    <p:sldId id="454" r:id="rId206"/>
    <p:sldId id="455" r:id="rId207"/>
    <p:sldId id="456" r:id="rId208"/>
    <p:sldId id="457" r:id="rId209"/>
    <p:sldId id="458" r:id="rId210"/>
    <p:sldId id="459" r:id="rId211"/>
    <p:sldId id="460" r:id="rId212"/>
    <p:sldId id="461" r:id="rId213"/>
    <p:sldId id="462" r:id="rId214"/>
    <p:sldId id="463" r:id="rId215"/>
    <p:sldId id="464" r:id="rId216"/>
    <p:sldId id="465" r:id="rId217"/>
    <p:sldId id="466" r:id="rId218"/>
    <p:sldId id="467" r:id="rId219"/>
    <p:sldId id="468" r:id="rId220"/>
    <p:sldId id="469" r:id="rId221"/>
    <p:sldId id="470" r:id="rId222"/>
    <p:sldId id="471" r:id="rId223"/>
    <p:sldId id="472" r:id="rId224"/>
    <p:sldId id="473" r:id="rId225"/>
    <p:sldId id="474" r:id="rId226"/>
    <p:sldId id="475" r:id="rId227"/>
    <p:sldId id="476" r:id="rId228"/>
    <p:sldId id="477" r:id="rId229"/>
    <p:sldId id="478" r:id="rId230"/>
    <p:sldId id="479" r:id="rId231"/>
    <p:sldId id="480" r:id="rId232"/>
    <p:sldId id="481" r:id="rId233"/>
    <p:sldId id="482" r:id="rId234"/>
    <p:sldId id="483" r:id="rId235"/>
    <p:sldId id="484" r:id="rId236"/>
    <p:sldId id="485" r:id="rId237"/>
    <p:sldId id="486" r:id="rId238"/>
    <p:sldId id="487" r:id="rId239"/>
    <p:sldId id="488" r:id="rId240"/>
    <p:sldId id="489" r:id="rId241"/>
    <p:sldId id="490" r:id="rId242"/>
    <p:sldId id="491" r:id="rId243"/>
    <p:sldId id="492" r:id="rId244"/>
    <p:sldId id="493" r:id="rId245"/>
    <p:sldId id="494" r:id="rId246"/>
    <p:sldId id="495" r:id="rId247"/>
    <p:sldId id="496" r:id="rId248"/>
    <p:sldId id="497" r:id="rId249"/>
    <p:sldId id="498" r:id="rId250"/>
    <p:sldId id="499" r:id="rId251"/>
    <p:sldId id="500" r:id="rId252"/>
    <p:sldId id="501" r:id="rId253"/>
    <p:sldId id="502" r:id="rId254"/>
    <p:sldId id="503" r:id="rId255"/>
    <p:sldId id="504" r:id="rId256"/>
    <p:sldId id="505" r:id="rId257"/>
    <p:sldId id="506" r:id="rId258"/>
    <p:sldId id="507" r:id="rId259"/>
    <p:sldId id="508" r:id="rId260"/>
    <p:sldId id="509" r:id="rId261"/>
    <p:sldId id="510" r:id="rId262"/>
    <p:sldId id="511" r:id="rId263"/>
    <p:sldId id="512" r:id="rId264"/>
    <p:sldId id="513" r:id="rId265"/>
    <p:sldId id="514" r:id="rId266"/>
    <p:sldId id="515" r:id="rId267"/>
    <p:sldId id="516" r:id="rId268"/>
    <p:sldId id="517" r:id="rId269"/>
    <p:sldId id="518" r:id="rId270"/>
    <p:sldId id="519" r:id="rId271"/>
    <p:sldId id="520" r:id="rId272"/>
    <p:sldId id="521" r:id="rId273"/>
    <p:sldId id="522" r:id="rId274"/>
    <p:sldId id="523" r:id="rId275"/>
    <p:sldId id="524" r:id="rId276"/>
    <p:sldId id="525" r:id="rId277"/>
    <p:sldId id="526" r:id="rId278"/>
    <p:sldId id="527" r:id="rId279"/>
    <p:sldId id="528" r:id="rId280"/>
    <p:sldId id="529" r:id="rId281"/>
    <p:sldId id="530" r:id="rId282"/>
    <p:sldId id="531" r:id="rId283"/>
    <p:sldId id="532" r:id="rId284"/>
    <p:sldId id="533" r:id="rId285"/>
    <p:sldId id="534" r:id="rId286"/>
    <p:sldId id="535" r:id="rId287"/>
    <p:sldId id="536" r:id="rId288"/>
    <p:sldId id="537" r:id="rId289"/>
    <p:sldId id="538" r:id="rId290"/>
    <p:sldId id="539" r:id="rId291"/>
    <p:sldId id="540" r:id="rId292"/>
    <p:sldId id="541" r:id="rId293"/>
    <p:sldId id="542" r:id="rId294"/>
    <p:sldId id="543" r:id="rId295"/>
    <p:sldId id="544" r:id="rId296"/>
    <p:sldId id="545" r:id="rId297"/>
    <p:sldId id="546" r:id="rId298"/>
    <p:sldId id="547" r:id="rId299"/>
    <p:sldId id="548" r:id="rId300"/>
    <p:sldId id="549" r:id="rId301"/>
    <p:sldId id="550" r:id="rId302"/>
    <p:sldId id="551" r:id="rId303"/>
    <p:sldId id="552" r:id="rId304"/>
    <p:sldId id="553" r:id="rId305"/>
    <p:sldId id="554" r:id="rId306"/>
    <p:sldId id="555" r:id="rId307"/>
    <p:sldId id="556" r:id="rId308"/>
    <p:sldId id="557" r:id="rId309"/>
    <p:sldId id="558" r:id="rId310"/>
    <p:sldId id="559" r:id="rId311"/>
    <p:sldId id="560" r:id="rId312"/>
    <p:sldId id="561" r:id="rId313"/>
    <p:sldId id="562" r:id="rId314"/>
    <p:sldId id="563" r:id="rId315"/>
    <p:sldId id="564" r:id="rId316"/>
    <p:sldId id="565" r:id="rId317"/>
    <p:sldId id="566" r:id="rId318"/>
    <p:sldId id="567" r:id="rId319"/>
    <p:sldId id="568" r:id="rId320"/>
    <p:sldId id="569" r:id="rId321"/>
    <p:sldId id="570" r:id="rId322"/>
    <p:sldId id="571" r:id="rId323"/>
    <p:sldId id="572" r:id="rId324"/>
    <p:sldId id="573" r:id="rId325"/>
    <p:sldId id="574" r:id="rId326"/>
    <p:sldId id="575" r:id="rId327"/>
    <p:sldId id="576" r:id="rId328"/>
    <p:sldId id="577" r:id="rId329"/>
    <p:sldId id="578" r:id="rId330"/>
    <p:sldId id="579" r:id="rId331"/>
    <p:sldId id="580" r:id="rId332"/>
    <p:sldId id="581" r:id="rId333"/>
    <p:sldId id="582" r:id="rId334"/>
    <p:sldId id="583" r:id="rId335"/>
    <p:sldId id="584" r:id="rId336"/>
    <p:sldId id="585" r:id="rId337"/>
    <p:sldId id="586" r:id="rId338"/>
    <p:sldId id="587" r:id="rId339"/>
    <p:sldId id="588" r:id="rId340"/>
    <p:sldId id="589" r:id="rId341"/>
    <p:sldId id="590" r:id="rId342"/>
    <p:sldId id="591" r:id="rId343"/>
    <p:sldId id="592" r:id="rId344"/>
    <p:sldId id="593" r:id="rId345"/>
    <p:sldId id="594" r:id="rId346"/>
    <p:sldId id="595" r:id="rId347"/>
    <p:sldId id="596" r:id="rId348"/>
    <p:sldId id="597" r:id="rId349"/>
    <p:sldId id="598" r:id="rId350"/>
    <p:sldId id="599" r:id="rId351"/>
    <p:sldId id="600" r:id="rId352"/>
    <p:sldId id="601" r:id="rId353"/>
    <p:sldId id="602" r:id="rId354"/>
    <p:sldId id="603" r:id="rId355"/>
    <p:sldId id="604" r:id="rId356"/>
    <p:sldId id="605" r:id="rId357"/>
    <p:sldId id="606" r:id="rId358"/>
    <p:sldId id="607" r:id="rId359"/>
    <p:sldId id="608" r:id="rId360"/>
    <p:sldId id="609" r:id="rId361"/>
    <p:sldId id="610" r:id="rId362"/>
    <p:sldId id="611" r:id="rId363"/>
    <p:sldId id="612" r:id="rId364"/>
    <p:sldId id="613" r:id="rId365"/>
    <p:sldId id="614" r:id="rId366"/>
    <p:sldId id="615" r:id="rId367"/>
    <p:sldId id="616" r:id="rId368"/>
    <p:sldId id="617" r:id="rId369"/>
    <p:sldId id="618" r:id="rId370"/>
    <p:sldId id="619" r:id="rId371"/>
    <p:sldId id="620" r:id="rId372"/>
    <p:sldId id="621" r:id="rId373"/>
    <p:sldId id="622" r:id="rId374"/>
    <p:sldId id="623" r:id="rId375"/>
    <p:sldId id="624" r:id="rId376"/>
    <p:sldId id="625" r:id="rId377"/>
    <p:sldId id="626" r:id="rId378"/>
    <p:sldId id="627" r:id="rId379"/>
    <p:sldId id="628" r:id="rId380"/>
    <p:sldId id="629" r:id="rId381"/>
    <p:sldId id="630" r:id="rId382"/>
    <p:sldId id="631" r:id="rId383"/>
    <p:sldId id="632" r:id="rId384"/>
    <p:sldId id="633" r:id="rId385"/>
    <p:sldId id="634" r:id="rId386"/>
    <p:sldId id="635" r:id="rId387"/>
    <p:sldId id="636" r:id="rId388"/>
    <p:sldId id="637" r:id="rId389"/>
    <p:sldId id="638" r:id="rId390"/>
    <p:sldId id="639" r:id="rId391"/>
    <p:sldId id="640" r:id="rId392"/>
    <p:sldId id="641" r:id="rId393"/>
    <p:sldId id="642" r:id="rId394"/>
    <p:sldId id="643" r:id="rId395"/>
    <p:sldId id="644" r:id="rId396"/>
    <p:sldId id="645" r:id="rId397"/>
    <p:sldId id="646" r:id="rId398"/>
    <p:sldId id="647" r:id="rId399"/>
    <p:sldId id="648" r:id="rId400"/>
    <p:sldId id="649" r:id="rId401"/>
    <p:sldId id="650" r:id="rId402"/>
    <p:sldId id="651" r:id="rId403"/>
    <p:sldId id="652" r:id="rId404"/>
    <p:sldId id="653" r:id="rId405"/>
    <p:sldId id="654" r:id="rId406"/>
    <p:sldId id="655" r:id="rId407"/>
    <p:sldId id="656" r:id="rId408"/>
    <p:sldId id="657" r:id="rId409"/>
    <p:sldId id="658" r:id="rId410"/>
    <p:sldId id="659" r:id="rId411"/>
    <p:sldId id="660" r:id="rId412"/>
    <p:sldId id="661" r:id="rId413"/>
    <p:sldId id="662" r:id="rId414"/>
    <p:sldId id="663" r:id="rId415"/>
    <p:sldId id="664" r:id="rId416"/>
    <p:sldId id="665" r:id="rId417"/>
    <p:sldId id="666" r:id="rId418"/>
    <p:sldId id="667" r:id="rId419"/>
    <p:sldId id="668" r:id="rId420"/>
    <p:sldId id="669" r:id="rId421"/>
    <p:sldId id="670" r:id="rId422"/>
    <p:sldId id="671" r:id="rId423"/>
    <p:sldId id="672" r:id="rId424"/>
    <p:sldId id="673" r:id="rId425"/>
    <p:sldId id="674" r:id="rId426"/>
    <p:sldId id="675" r:id="rId427"/>
    <p:sldId id="676" r:id="rId428"/>
    <p:sldId id="677" r:id="rId429"/>
    <p:sldId id="678" r:id="rId430"/>
    <p:sldId id="679" r:id="rId431"/>
    <p:sldId id="680" r:id="rId432"/>
    <p:sldId id="681" r:id="rId433"/>
    <p:sldId id="682" r:id="rId434"/>
    <p:sldId id="683" r:id="rId435"/>
    <p:sldId id="684" r:id="rId436"/>
    <p:sldId id="685" r:id="rId437"/>
    <p:sldId id="686" r:id="rId438"/>
    <p:sldId id="687" r:id="rId439"/>
    <p:sldId id="688" r:id="rId440"/>
    <p:sldId id="689" r:id="rId441"/>
    <p:sldId id="690" r:id="rId442"/>
    <p:sldId id="691" r:id="rId443"/>
    <p:sldId id="692" r:id="rId444"/>
    <p:sldId id="693" r:id="rId445"/>
    <p:sldId id="694" r:id="rId446"/>
    <p:sldId id="695" r:id="rId447"/>
    <p:sldId id="696" r:id="rId448"/>
    <p:sldId id="697" r:id="rId449"/>
    <p:sldId id="698" r:id="rId450"/>
    <p:sldId id="699" r:id="rId451"/>
    <p:sldId id="700" r:id="rId452"/>
    <p:sldId id="701" r:id="rId453"/>
    <p:sldId id="702" r:id="rId454"/>
    <p:sldId id="703" r:id="rId455"/>
    <p:sldId id="704" r:id="rId456"/>
    <p:sldId id="705" r:id="rId457"/>
    <p:sldId id="706" r:id="rId458"/>
    <p:sldId id="707" r:id="rId459"/>
    <p:sldId id="708" r:id="rId460"/>
    <p:sldId id="709" r:id="rId461"/>
    <p:sldId id="710" r:id="rId462"/>
    <p:sldId id="711" r:id="rId463"/>
    <p:sldId id="712" r:id="rId464"/>
    <p:sldId id="713" r:id="rId465"/>
    <p:sldId id="714" r:id="rId466"/>
    <p:sldId id="715" r:id="rId467"/>
    <p:sldId id="716" r:id="rId468"/>
    <p:sldId id="717" r:id="rId469"/>
    <p:sldId id="718" r:id="rId470"/>
    <p:sldId id="719" r:id="rId471"/>
    <p:sldId id="720" r:id="rId472"/>
    <p:sldId id="721" r:id="rId473"/>
    <p:sldId id="722" r:id="rId474"/>
    <p:sldId id="723" r:id="rId475"/>
    <p:sldId id="724" r:id="rId476"/>
    <p:sldId id="725" r:id="rId477"/>
    <p:sldId id="726" r:id="rId478"/>
    <p:sldId id="727" r:id="rId479"/>
    <p:sldId id="728" r:id="rId480"/>
    <p:sldId id="729" r:id="rId481"/>
    <p:sldId id="730" r:id="rId482"/>
    <p:sldId id="731" r:id="rId483"/>
    <p:sldId id="732" r:id="rId484"/>
    <p:sldId id="733" r:id="rId485"/>
    <p:sldId id="734" r:id="rId486"/>
    <p:sldId id="735" r:id="rId487"/>
    <p:sldId id="736" r:id="rId488"/>
    <p:sldId id="737" r:id="rId489"/>
    <p:sldId id="738" r:id="rId490"/>
    <p:sldId id="739" r:id="rId491"/>
    <p:sldId id="740" r:id="rId492"/>
    <p:sldId id="741" r:id="rId493"/>
    <p:sldId id="742" r:id="rId494"/>
    <p:sldId id="743" r:id="rId495"/>
    <p:sldId id="744" r:id="rId496"/>
    <p:sldId id="745" r:id="rId497"/>
    <p:sldId id="746" r:id="rId498"/>
    <p:sldId id="747" r:id="rId499"/>
    <p:sldId id="748" r:id="rId500"/>
    <p:sldId id="749" r:id="rId501"/>
    <p:sldId id="750" r:id="rId502"/>
    <p:sldId id="751" r:id="rId503"/>
    <p:sldId id="752" r:id="rId504"/>
    <p:sldId id="753" r:id="rId505"/>
    <p:sldId id="754" r:id="rId506"/>
    <p:sldId id="755" r:id="rId507"/>
    <p:sldId id="756" r:id="rId508"/>
    <p:sldId id="757" r:id="rId509"/>
    <p:sldId id="758" r:id="rId510"/>
    <p:sldId id="759" r:id="rId511"/>
    <p:sldId id="760" r:id="rId512"/>
    <p:sldId id="761" r:id="rId513"/>
    <p:sldId id="762" r:id="rId514"/>
    <p:sldId id="763" r:id="rId515"/>
    <p:sldId id="764" r:id="rId516"/>
    <p:sldId id="765" r:id="rId517"/>
    <p:sldId id="766" r:id="rId518"/>
    <p:sldId id="767" r:id="rId519"/>
    <p:sldId id="768" r:id="rId520"/>
    <p:sldId id="769" r:id="rId521"/>
    <p:sldId id="770" r:id="rId522"/>
    <p:sldId id="771" r:id="rId523"/>
    <p:sldId id="772" r:id="rId524"/>
    <p:sldId id="773" r:id="rId525"/>
    <p:sldId id="774" r:id="rId526"/>
    <p:sldId id="775" r:id="rId527"/>
    <p:sldId id="776" r:id="rId528"/>
    <p:sldId id="777" r:id="rId529"/>
    <p:sldId id="778" r:id="rId530"/>
    <p:sldId id="779" r:id="rId531"/>
    <p:sldId id="780" r:id="rId532"/>
    <p:sldId id="781" r:id="rId533"/>
    <p:sldId id="782" r:id="rId534"/>
    <p:sldId id="783" r:id="rId535"/>
    <p:sldId id="784" r:id="rId536"/>
    <p:sldId id="785" r:id="rId537"/>
    <p:sldId id="786" r:id="rId538"/>
    <p:sldId id="787" r:id="rId539"/>
    <p:sldId id="788" r:id="rId540"/>
    <p:sldId id="789" r:id="rId541"/>
    <p:sldId id="790" r:id="rId542"/>
    <p:sldId id="791" r:id="rId543"/>
    <p:sldId id="792" r:id="rId544"/>
    <p:sldId id="793" r:id="rId545"/>
    <p:sldId id="794" r:id="rId546"/>
    <p:sldId id="795" r:id="rId547"/>
    <p:sldId id="796" r:id="rId548"/>
    <p:sldId id="797" r:id="rId549"/>
    <p:sldId id="798" r:id="rId550"/>
    <p:sldId id="799" r:id="rId551"/>
    <p:sldId id="800" r:id="rId552"/>
    <p:sldId id="801" r:id="rId553"/>
    <p:sldId id="802" r:id="rId554"/>
    <p:sldId id="803" r:id="rId555"/>
    <p:sldId id="804" r:id="rId556"/>
    <p:sldId id="805" r:id="rId557"/>
    <p:sldId id="806" r:id="rId558"/>
    <p:sldId id="807" r:id="rId559"/>
    <p:sldId id="808" r:id="rId560"/>
    <p:sldId id="809" r:id="rId561"/>
    <p:sldId id="810" r:id="rId562"/>
    <p:sldId id="811" r:id="rId563"/>
    <p:sldId id="812" r:id="rId564"/>
    <p:sldId id="813" r:id="rId565"/>
    <p:sldId id="814" r:id="rId566"/>
    <p:sldId id="815" r:id="rId567"/>
    <p:sldId id="816" r:id="rId568"/>
    <p:sldId id="817" r:id="rId569"/>
    <p:sldId id="818" r:id="rId570"/>
    <p:sldId id="819" r:id="rId571"/>
    <p:sldId id="820" r:id="rId572"/>
    <p:sldId id="821" r:id="rId573"/>
    <p:sldId id="822" r:id="rId574"/>
    <p:sldId id="823" r:id="rId575"/>
    <p:sldId id="824" r:id="rId576"/>
    <p:sldId id="825" r:id="rId577"/>
    <p:sldId id="826" r:id="rId578"/>
    <p:sldId id="827" r:id="rId579"/>
    <p:sldId id="828" r:id="rId580"/>
    <p:sldId id="829" r:id="rId581"/>
    <p:sldId id="830" r:id="rId582"/>
    <p:sldId id="831" r:id="rId583"/>
    <p:sldId id="832" r:id="rId584"/>
    <p:sldId id="833" r:id="rId585"/>
    <p:sldId id="834" r:id="rId586"/>
    <p:sldId id="835" r:id="rId587"/>
    <p:sldId id="836" r:id="rId588"/>
    <p:sldId id="837" r:id="rId589"/>
    <p:sldId id="838" r:id="rId590"/>
    <p:sldId id="839" r:id="rId591"/>
    <p:sldId id="840" r:id="rId592"/>
    <p:sldId id="841" r:id="rId593"/>
    <p:sldId id="842" r:id="rId594"/>
    <p:sldId id="843" r:id="rId595"/>
    <p:sldId id="844" r:id="rId596"/>
    <p:sldId id="845" r:id="rId597"/>
    <p:sldId id="846" r:id="rId598"/>
    <p:sldId id="847" r:id="rId599"/>
    <p:sldId id="848" r:id="rId600"/>
    <p:sldId id="849" r:id="rId601"/>
    <p:sldId id="850" r:id="rId602"/>
    <p:sldId id="851" r:id="rId603"/>
    <p:sldId id="852" r:id="rId604"/>
    <p:sldId id="853" r:id="rId605"/>
    <p:sldId id="854" r:id="rId606"/>
    <p:sldId id="855" r:id="rId607"/>
    <p:sldId id="856" r:id="rId608"/>
    <p:sldId id="857" r:id="rId609"/>
    <p:sldId id="858" r:id="rId610"/>
    <p:sldId id="859" r:id="rId611"/>
    <p:sldId id="860" r:id="rId612"/>
    <p:sldId id="861" r:id="rId613"/>
    <p:sldId id="862" r:id="rId614"/>
    <p:sldId id="863" r:id="rId615"/>
    <p:sldId id="864" r:id="rId616"/>
    <p:sldId id="865" r:id="rId617"/>
    <p:sldId id="866" r:id="rId618"/>
    <p:sldId id="867" r:id="rId619"/>
    <p:sldId id="868" r:id="rId620"/>
    <p:sldId id="869" r:id="rId621"/>
    <p:sldId id="870" r:id="rId622"/>
    <p:sldId id="871" r:id="rId623"/>
    <p:sldId id="872" r:id="rId624"/>
    <p:sldId id="873" r:id="rId625"/>
    <p:sldId id="874" r:id="rId6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 Id="rId147" Type="http://schemas.openxmlformats.org/officeDocument/2006/relationships/slide" Target="slides/slide140.xml"/><Relationship Id="rId148" Type="http://schemas.openxmlformats.org/officeDocument/2006/relationships/slide" Target="slides/slide141.xml"/><Relationship Id="rId149" Type="http://schemas.openxmlformats.org/officeDocument/2006/relationships/slide" Target="slides/slide142.xml"/><Relationship Id="rId150" Type="http://schemas.openxmlformats.org/officeDocument/2006/relationships/slide" Target="slides/slide143.xml"/><Relationship Id="rId151" Type="http://schemas.openxmlformats.org/officeDocument/2006/relationships/slide" Target="slides/slide144.xml"/><Relationship Id="rId152" Type="http://schemas.openxmlformats.org/officeDocument/2006/relationships/slide" Target="slides/slide145.xml"/><Relationship Id="rId153" Type="http://schemas.openxmlformats.org/officeDocument/2006/relationships/slide" Target="slides/slide146.xml"/><Relationship Id="rId154" Type="http://schemas.openxmlformats.org/officeDocument/2006/relationships/slide" Target="slides/slide147.xml"/><Relationship Id="rId155" Type="http://schemas.openxmlformats.org/officeDocument/2006/relationships/slide" Target="slides/slide148.xml"/><Relationship Id="rId156" Type="http://schemas.openxmlformats.org/officeDocument/2006/relationships/slide" Target="slides/slide149.xml"/><Relationship Id="rId157" Type="http://schemas.openxmlformats.org/officeDocument/2006/relationships/slide" Target="slides/slide150.xml"/><Relationship Id="rId158" Type="http://schemas.openxmlformats.org/officeDocument/2006/relationships/slide" Target="slides/slide151.xml"/><Relationship Id="rId159" Type="http://schemas.openxmlformats.org/officeDocument/2006/relationships/slide" Target="slides/slide152.xml"/><Relationship Id="rId160" Type="http://schemas.openxmlformats.org/officeDocument/2006/relationships/slide" Target="slides/slide153.xml"/><Relationship Id="rId161" Type="http://schemas.openxmlformats.org/officeDocument/2006/relationships/slide" Target="slides/slide154.xml"/><Relationship Id="rId162" Type="http://schemas.openxmlformats.org/officeDocument/2006/relationships/slide" Target="slides/slide155.xml"/><Relationship Id="rId163" Type="http://schemas.openxmlformats.org/officeDocument/2006/relationships/slide" Target="slides/slide156.xml"/><Relationship Id="rId164" Type="http://schemas.openxmlformats.org/officeDocument/2006/relationships/slide" Target="slides/slide157.xml"/><Relationship Id="rId165" Type="http://schemas.openxmlformats.org/officeDocument/2006/relationships/slide" Target="slides/slide158.xml"/><Relationship Id="rId166" Type="http://schemas.openxmlformats.org/officeDocument/2006/relationships/slide" Target="slides/slide159.xml"/><Relationship Id="rId167" Type="http://schemas.openxmlformats.org/officeDocument/2006/relationships/slide" Target="slides/slide160.xml"/><Relationship Id="rId168" Type="http://schemas.openxmlformats.org/officeDocument/2006/relationships/slide" Target="slides/slide161.xml"/><Relationship Id="rId169" Type="http://schemas.openxmlformats.org/officeDocument/2006/relationships/slide" Target="slides/slide162.xml"/><Relationship Id="rId170" Type="http://schemas.openxmlformats.org/officeDocument/2006/relationships/slide" Target="slides/slide163.xml"/><Relationship Id="rId171" Type="http://schemas.openxmlformats.org/officeDocument/2006/relationships/slide" Target="slides/slide164.xml"/><Relationship Id="rId172" Type="http://schemas.openxmlformats.org/officeDocument/2006/relationships/slide" Target="slides/slide165.xml"/><Relationship Id="rId173" Type="http://schemas.openxmlformats.org/officeDocument/2006/relationships/slide" Target="slides/slide166.xml"/><Relationship Id="rId174" Type="http://schemas.openxmlformats.org/officeDocument/2006/relationships/slide" Target="slides/slide167.xml"/><Relationship Id="rId175" Type="http://schemas.openxmlformats.org/officeDocument/2006/relationships/slide" Target="slides/slide168.xml"/><Relationship Id="rId176" Type="http://schemas.openxmlformats.org/officeDocument/2006/relationships/slide" Target="slides/slide169.xml"/><Relationship Id="rId177" Type="http://schemas.openxmlformats.org/officeDocument/2006/relationships/slide" Target="slides/slide170.xml"/><Relationship Id="rId178" Type="http://schemas.openxmlformats.org/officeDocument/2006/relationships/slide" Target="slides/slide171.xml"/><Relationship Id="rId179" Type="http://schemas.openxmlformats.org/officeDocument/2006/relationships/slide" Target="slides/slide172.xml"/><Relationship Id="rId180" Type="http://schemas.openxmlformats.org/officeDocument/2006/relationships/slide" Target="slides/slide173.xml"/><Relationship Id="rId181" Type="http://schemas.openxmlformats.org/officeDocument/2006/relationships/slide" Target="slides/slide174.xml"/><Relationship Id="rId182" Type="http://schemas.openxmlformats.org/officeDocument/2006/relationships/slide" Target="slides/slide175.xml"/><Relationship Id="rId183" Type="http://schemas.openxmlformats.org/officeDocument/2006/relationships/slide" Target="slides/slide176.xml"/><Relationship Id="rId184" Type="http://schemas.openxmlformats.org/officeDocument/2006/relationships/slide" Target="slides/slide177.xml"/><Relationship Id="rId185" Type="http://schemas.openxmlformats.org/officeDocument/2006/relationships/slide" Target="slides/slide178.xml"/><Relationship Id="rId186" Type="http://schemas.openxmlformats.org/officeDocument/2006/relationships/slide" Target="slides/slide179.xml"/><Relationship Id="rId187" Type="http://schemas.openxmlformats.org/officeDocument/2006/relationships/slide" Target="slides/slide180.xml"/><Relationship Id="rId188" Type="http://schemas.openxmlformats.org/officeDocument/2006/relationships/slide" Target="slides/slide181.xml"/><Relationship Id="rId189" Type="http://schemas.openxmlformats.org/officeDocument/2006/relationships/slide" Target="slides/slide182.xml"/><Relationship Id="rId190" Type="http://schemas.openxmlformats.org/officeDocument/2006/relationships/slide" Target="slides/slide183.xml"/><Relationship Id="rId191" Type="http://schemas.openxmlformats.org/officeDocument/2006/relationships/slide" Target="slides/slide184.xml"/><Relationship Id="rId192" Type="http://schemas.openxmlformats.org/officeDocument/2006/relationships/slide" Target="slides/slide185.xml"/><Relationship Id="rId193" Type="http://schemas.openxmlformats.org/officeDocument/2006/relationships/slide" Target="slides/slide186.xml"/><Relationship Id="rId194" Type="http://schemas.openxmlformats.org/officeDocument/2006/relationships/slide" Target="slides/slide187.xml"/><Relationship Id="rId195" Type="http://schemas.openxmlformats.org/officeDocument/2006/relationships/slide" Target="slides/slide188.xml"/><Relationship Id="rId196" Type="http://schemas.openxmlformats.org/officeDocument/2006/relationships/slide" Target="slides/slide189.xml"/><Relationship Id="rId197" Type="http://schemas.openxmlformats.org/officeDocument/2006/relationships/slide" Target="slides/slide190.xml"/><Relationship Id="rId198" Type="http://schemas.openxmlformats.org/officeDocument/2006/relationships/slide" Target="slides/slide191.xml"/><Relationship Id="rId199" Type="http://schemas.openxmlformats.org/officeDocument/2006/relationships/slide" Target="slides/slide192.xml"/><Relationship Id="rId200" Type="http://schemas.openxmlformats.org/officeDocument/2006/relationships/slide" Target="slides/slide193.xml"/><Relationship Id="rId201" Type="http://schemas.openxmlformats.org/officeDocument/2006/relationships/slide" Target="slides/slide194.xml"/><Relationship Id="rId202" Type="http://schemas.openxmlformats.org/officeDocument/2006/relationships/slide" Target="slides/slide195.xml"/><Relationship Id="rId203" Type="http://schemas.openxmlformats.org/officeDocument/2006/relationships/slide" Target="slides/slide196.xml"/><Relationship Id="rId204" Type="http://schemas.openxmlformats.org/officeDocument/2006/relationships/slide" Target="slides/slide197.xml"/><Relationship Id="rId205" Type="http://schemas.openxmlformats.org/officeDocument/2006/relationships/slide" Target="slides/slide198.xml"/><Relationship Id="rId206" Type="http://schemas.openxmlformats.org/officeDocument/2006/relationships/slide" Target="slides/slide199.xml"/><Relationship Id="rId207" Type="http://schemas.openxmlformats.org/officeDocument/2006/relationships/slide" Target="slides/slide200.xml"/><Relationship Id="rId208" Type="http://schemas.openxmlformats.org/officeDocument/2006/relationships/slide" Target="slides/slide201.xml"/><Relationship Id="rId209" Type="http://schemas.openxmlformats.org/officeDocument/2006/relationships/slide" Target="slides/slide202.xml"/><Relationship Id="rId210" Type="http://schemas.openxmlformats.org/officeDocument/2006/relationships/slide" Target="slides/slide203.xml"/><Relationship Id="rId211" Type="http://schemas.openxmlformats.org/officeDocument/2006/relationships/slide" Target="slides/slide204.xml"/><Relationship Id="rId212" Type="http://schemas.openxmlformats.org/officeDocument/2006/relationships/slide" Target="slides/slide205.xml"/><Relationship Id="rId213" Type="http://schemas.openxmlformats.org/officeDocument/2006/relationships/slide" Target="slides/slide206.xml"/><Relationship Id="rId214" Type="http://schemas.openxmlformats.org/officeDocument/2006/relationships/slide" Target="slides/slide207.xml"/><Relationship Id="rId215" Type="http://schemas.openxmlformats.org/officeDocument/2006/relationships/slide" Target="slides/slide208.xml"/><Relationship Id="rId216" Type="http://schemas.openxmlformats.org/officeDocument/2006/relationships/slide" Target="slides/slide209.xml"/><Relationship Id="rId217" Type="http://schemas.openxmlformats.org/officeDocument/2006/relationships/slide" Target="slides/slide210.xml"/><Relationship Id="rId218" Type="http://schemas.openxmlformats.org/officeDocument/2006/relationships/slide" Target="slides/slide211.xml"/><Relationship Id="rId219" Type="http://schemas.openxmlformats.org/officeDocument/2006/relationships/slide" Target="slides/slide212.xml"/><Relationship Id="rId220" Type="http://schemas.openxmlformats.org/officeDocument/2006/relationships/slide" Target="slides/slide213.xml"/><Relationship Id="rId221" Type="http://schemas.openxmlformats.org/officeDocument/2006/relationships/slide" Target="slides/slide214.xml"/><Relationship Id="rId222" Type="http://schemas.openxmlformats.org/officeDocument/2006/relationships/slide" Target="slides/slide215.xml"/><Relationship Id="rId223" Type="http://schemas.openxmlformats.org/officeDocument/2006/relationships/slide" Target="slides/slide216.xml"/><Relationship Id="rId224" Type="http://schemas.openxmlformats.org/officeDocument/2006/relationships/slide" Target="slides/slide217.xml"/><Relationship Id="rId225" Type="http://schemas.openxmlformats.org/officeDocument/2006/relationships/slide" Target="slides/slide218.xml"/><Relationship Id="rId226" Type="http://schemas.openxmlformats.org/officeDocument/2006/relationships/slide" Target="slides/slide219.xml"/><Relationship Id="rId227" Type="http://schemas.openxmlformats.org/officeDocument/2006/relationships/slide" Target="slides/slide220.xml"/><Relationship Id="rId228" Type="http://schemas.openxmlformats.org/officeDocument/2006/relationships/slide" Target="slides/slide221.xml"/><Relationship Id="rId229" Type="http://schemas.openxmlformats.org/officeDocument/2006/relationships/slide" Target="slides/slide222.xml"/><Relationship Id="rId230" Type="http://schemas.openxmlformats.org/officeDocument/2006/relationships/slide" Target="slides/slide223.xml"/><Relationship Id="rId231" Type="http://schemas.openxmlformats.org/officeDocument/2006/relationships/slide" Target="slides/slide224.xml"/><Relationship Id="rId232" Type="http://schemas.openxmlformats.org/officeDocument/2006/relationships/slide" Target="slides/slide225.xml"/><Relationship Id="rId233" Type="http://schemas.openxmlformats.org/officeDocument/2006/relationships/slide" Target="slides/slide226.xml"/><Relationship Id="rId234" Type="http://schemas.openxmlformats.org/officeDocument/2006/relationships/slide" Target="slides/slide227.xml"/><Relationship Id="rId235" Type="http://schemas.openxmlformats.org/officeDocument/2006/relationships/slide" Target="slides/slide228.xml"/><Relationship Id="rId236" Type="http://schemas.openxmlformats.org/officeDocument/2006/relationships/slide" Target="slides/slide229.xml"/><Relationship Id="rId237" Type="http://schemas.openxmlformats.org/officeDocument/2006/relationships/slide" Target="slides/slide230.xml"/><Relationship Id="rId238" Type="http://schemas.openxmlformats.org/officeDocument/2006/relationships/slide" Target="slides/slide231.xml"/><Relationship Id="rId239" Type="http://schemas.openxmlformats.org/officeDocument/2006/relationships/slide" Target="slides/slide232.xml"/><Relationship Id="rId240" Type="http://schemas.openxmlformats.org/officeDocument/2006/relationships/slide" Target="slides/slide233.xml"/><Relationship Id="rId241" Type="http://schemas.openxmlformats.org/officeDocument/2006/relationships/slide" Target="slides/slide234.xml"/><Relationship Id="rId242" Type="http://schemas.openxmlformats.org/officeDocument/2006/relationships/slide" Target="slides/slide235.xml"/><Relationship Id="rId243" Type="http://schemas.openxmlformats.org/officeDocument/2006/relationships/slide" Target="slides/slide236.xml"/><Relationship Id="rId244" Type="http://schemas.openxmlformats.org/officeDocument/2006/relationships/slide" Target="slides/slide237.xml"/><Relationship Id="rId245" Type="http://schemas.openxmlformats.org/officeDocument/2006/relationships/slide" Target="slides/slide238.xml"/><Relationship Id="rId246" Type="http://schemas.openxmlformats.org/officeDocument/2006/relationships/slide" Target="slides/slide239.xml"/><Relationship Id="rId247" Type="http://schemas.openxmlformats.org/officeDocument/2006/relationships/slide" Target="slides/slide240.xml"/><Relationship Id="rId248" Type="http://schemas.openxmlformats.org/officeDocument/2006/relationships/slide" Target="slides/slide241.xml"/><Relationship Id="rId249" Type="http://schemas.openxmlformats.org/officeDocument/2006/relationships/slide" Target="slides/slide242.xml"/><Relationship Id="rId250" Type="http://schemas.openxmlformats.org/officeDocument/2006/relationships/slide" Target="slides/slide243.xml"/><Relationship Id="rId251" Type="http://schemas.openxmlformats.org/officeDocument/2006/relationships/slide" Target="slides/slide244.xml"/><Relationship Id="rId252" Type="http://schemas.openxmlformats.org/officeDocument/2006/relationships/slide" Target="slides/slide245.xml"/><Relationship Id="rId253" Type="http://schemas.openxmlformats.org/officeDocument/2006/relationships/slide" Target="slides/slide246.xml"/><Relationship Id="rId254" Type="http://schemas.openxmlformats.org/officeDocument/2006/relationships/slide" Target="slides/slide247.xml"/><Relationship Id="rId255" Type="http://schemas.openxmlformats.org/officeDocument/2006/relationships/slide" Target="slides/slide248.xml"/><Relationship Id="rId256" Type="http://schemas.openxmlformats.org/officeDocument/2006/relationships/slide" Target="slides/slide249.xml"/><Relationship Id="rId257" Type="http://schemas.openxmlformats.org/officeDocument/2006/relationships/slide" Target="slides/slide250.xml"/><Relationship Id="rId258" Type="http://schemas.openxmlformats.org/officeDocument/2006/relationships/slide" Target="slides/slide251.xml"/><Relationship Id="rId259" Type="http://schemas.openxmlformats.org/officeDocument/2006/relationships/slide" Target="slides/slide252.xml"/><Relationship Id="rId260" Type="http://schemas.openxmlformats.org/officeDocument/2006/relationships/slide" Target="slides/slide253.xml"/><Relationship Id="rId261" Type="http://schemas.openxmlformats.org/officeDocument/2006/relationships/slide" Target="slides/slide254.xml"/><Relationship Id="rId262" Type="http://schemas.openxmlformats.org/officeDocument/2006/relationships/slide" Target="slides/slide255.xml"/><Relationship Id="rId263" Type="http://schemas.openxmlformats.org/officeDocument/2006/relationships/slide" Target="slides/slide256.xml"/><Relationship Id="rId264" Type="http://schemas.openxmlformats.org/officeDocument/2006/relationships/slide" Target="slides/slide257.xml"/><Relationship Id="rId265" Type="http://schemas.openxmlformats.org/officeDocument/2006/relationships/slide" Target="slides/slide258.xml"/><Relationship Id="rId266" Type="http://schemas.openxmlformats.org/officeDocument/2006/relationships/slide" Target="slides/slide259.xml"/><Relationship Id="rId267" Type="http://schemas.openxmlformats.org/officeDocument/2006/relationships/slide" Target="slides/slide260.xml"/><Relationship Id="rId268" Type="http://schemas.openxmlformats.org/officeDocument/2006/relationships/slide" Target="slides/slide261.xml"/><Relationship Id="rId269" Type="http://schemas.openxmlformats.org/officeDocument/2006/relationships/slide" Target="slides/slide262.xml"/><Relationship Id="rId270" Type="http://schemas.openxmlformats.org/officeDocument/2006/relationships/slide" Target="slides/slide263.xml"/><Relationship Id="rId271" Type="http://schemas.openxmlformats.org/officeDocument/2006/relationships/slide" Target="slides/slide264.xml"/><Relationship Id="rId272" Type="http://schemas.openxmlformats.org/officeDocument/2006/relationships/slide" Target="slides/slide265.xml"/><Relationship Id="rId273" Type="http://schemas.openxmlformats.org/officeDocument/2006/relationships/slide" Target="slides/slide266.xml"/><Relationship Id="rId274" Type="http://schemas.openxmlformats.org/officeDocument/2006/relationships/slide" Target="slides/slide267.xml"/><Relationship Id="rId275" Type="http://schemas.openxmlformats.org/officeDocument/2006/relationships/slide" Target="slides/slide268.xml"/><Relationship Id="rId276" Type="http://schemas.openxmlformats.org/officeDocument/2006/relationships/slide" Target="slides/slide269.xml"/><Relationship Id="rId277" Type="http://schemas.openxmlformats.org/officeDocument/2006/relationships/slide" Target="slides/slide270.xml"/><Relationship Id="rId278" Type="http://schemas.openxmlformats.org/officeDocument/2006/relationships/slide" Target="slides/slide271.xml"/><Relationship Id="rId279" Type="http://schemas.openxmlformats.org/officeDocument/2006/relationships/slide" Target="slides/slide272.xml"/><Relationship Id="rId280" Type="http://schemas.openxmlformats.org/officeDocument/2006/relationships/slide" Target="slides/slide273.xml"/><Relationship Id="rId281" Type="http://schemas.openxmlformats.org/officeDocument/2006/relationships/slide" Target="slides/slide274.xml"/><Relationship Id="rId282" Type="http://schemas.openxmlformats.org/officeDocument/2006/relationships/slide" Target="slides/slide275.xml"/><Relationship Id="rId283" Type="http://schemas.openxmlformats.org/officeDocument/2006/relationships/slide" Target="slides/slide276.xml"/><Relationship Id="rId284" Type="http://schemas.openxmlformats.org/officeDocument/2006/relationships/slide" Target="slides/slide277.xml"/><Relationship Id="rId285" Type="http://schemas.openxmlformats.org/officeDocument/2006/relationships/slide" Target="slides/slide278.xml"/><Relationship Id="rId286" Type="http://schemas.openxmlformats.org/officeDocument/2006/relationships/slide" Target="slides/slide279.xml"/><Relationship Id="rId287" Type="http://schemas.openxmlformats.org/officeDocument/2006/relationships/slide" Target="slides/slide280.xml"/><Relationship Id="rId288" Type="http://schemas.openxmlformats.org/officeDocument/2006/relationships/slide" Target="slides/slide281.xml"/><Relationship Id="rId289" Type="http://schemas.openxmlformats.org/officeDocument/2006/relationships/slide" Target="slides/slide282.xml"/><Relationship Id="rId290" Type="http://schemas.openxmlformats.org/officeDocument/2006/relationships/slide" Target="slides/slide283.xml"/><Relationship Id="rId291" Type="http://schemas.openxmlformats.org/officeDocument/2006/relationships/slide" Target="slides/slide284.xml"/><Relationship Id="rId292" Type="http://schemas.openxmlformats.org/officeDocument/2006/relationships/slide" Target="slides/slide285.xml"/><Relationship Id="rId293" Type="http://schemas.openxmlformats.org/officeDocument/2006/relationships/slide" Target="slides/slide286.xml"/><Relationship Id="rId294" Type="http://schemas.openxmlformats.org/officeDocument/2006/relationships/slide" Target="slides/slide287.xml"/><Relationship Id="rId295" Type="http://schemas.openxmlformats.org/officeDocument/2006/relationships/slide" Target="slides/slide288.xml"/><Relationship Id="rId296" Type="http://schemas.openxmlformats.org/officeDocument/2006/relationships/slide" Target="slides/slide289.xml"/><Relationship Id="rId297" Type="http://schemas.openxmlformats.org/officeDocument/2006/relationships/slide" Target="slides/slide290.xml"/><Relationship Id="rId298" Type="http://schemas.openxmlformats.org/officeDocument/2006/relationships/slide" Target="slides/slide291.xml"/><Relationship Id="rId299" Type="http://schemas.openxmlformats.org/officeDocument/2006/relationships/slide" Target="slides/slide292.xml"/><Relationship Id="rId300" Type="http://schemas.openxmlformats.org/officeDocument/2006/relationships/slide" Target="slides/slide293.xml"/><Relationship Id="rId301" Type="http://schemas.openxmlformats.org/officeDocument/2006/relationships/slide" Target="slides/slide294.xml"/><Relationship Id="rId302" Type="http://schemas.openxmlformats.org/officeDocument/2006/relationships/slide" Target="slides/slide295.xml"/><Relationship Id="rId303" Type="http://schemas.openxmlformats.org/officeDocument/2006/relationships/slide" Target="slides/slide296.xml"/><Relationship Id="rId304" Type="http://schemas.openxmlformats.org/officeDocument/2006/relationships/slide" Target="slides/slide297.xml"/><Relationship Id="rId305" Type="http://schemas.openxmlformats.org/officeDocument/2006/relationships/slide" Target="slides/slide298.xml"/><Relationship Id="rId306" Type="http://schemas.openxmlformats.org/officeDocument/2006/relationships/slide" Target="slides/slide299.xml"/><Relationship Id="rId307" Type="http://schemas.openxmlformats.org/officeDocument/2006/relationships/slide" Target="slides/slide300.xml"/><Relationship Id="rId308" Type="http://schemas.openxmlformats.org/officeDocument/2006/relationships/slide" Target="slides/slide301.xml"/><Relationship Id="rId309" Type="http://schemas.openxmlformats.org/officeDocument/2006/relationships/slide" Target="slides/slide302.xml"/><Relationship Id="rId310" Type="http://schemas.openxmlformats.org/officeDocument/2006/relationships/slide" Target="slides/slide303.xml"/><Relationship Id="rId311" Type="http://schemas.openxmlformats.org/officeDocument/2006/relationships/slide" Target="slides/slide304.xml"/><Relationship Id="rId312" Type="http://schemas.openxmlformats.org/officeDocument/2006/relationships/slide" Target="slides/slide305.xml"/><Relationship Id="rId313" Type="http://schemas.openxmlformats.org/officeDocument/2006/relationships/slide" Target="slides/slide306.xml"/><Relationship Id="rId314" Type="http://schemas.openxmlformats.org/officeDocument/2006/relationships/slide" Target="slides/slide307.xml"/><Relationship Id="rId315" Type="http://schemas.openxmlformats.org/officeDocument/2006/relationships/slide" Target="slides/slide308.xml"/><Relationship Id="rId316" Type="http://schemas.openxmlformats.org/officeDocument/2006/relationships/slide" Target="slides/slide309.xml"/><Relationship Id="rId317" Type="http://schemas.openxmlformats.org/officeDocument/2006/relationships/slide" Target="slides/slide310.xml"/><Relationship Id="rId318" Type="http://schemas.openxmlformats.org/officeDocument/2006/relationships/slide" Target="slides/slide311.xml"/><Relationship Id="rId319" Type="http://schemas.openxmlformats.org/officeDocument/2006/relationships/slide" Target="slides/slide312.xml"/><Relationship Id="rId320" Type="http://schemas.openxmlformats.org/officeDocument/2006/relationships/slide" Target="slides/slide313.xml"/><Relationship Id="rId321" Type="http://schemas.openxmlformats.org/officeDocument/2006/relationships/slide" Target="slides/slide314.xml"/><Relationship Id="rId322" Type="http://schemas.openxmlformats.org/officeDocument/2006/relationships/slide" Target="slides/slide315.xml"/><Relationship Id="rId323" Type="http://schemas.openxmlformats.org/officeDocument/2006/relationships/slide" Target="slides/slide316.xml"/><Relationship Id="rId324" Type="http://schemas.openxmlformats.org/officeDocument/2006/relationships/slide" Target="slides/slide317.xml"/><Relationship Id="rId325" Type="http://schemas.openxmlformats.org/officeDocument/2006/relationships/slide" Target="slides/slide318.xml"/><Relationship Id="rId326" Type="http://schemas.openxmlformats.org/officeDocument/2006/relationships/slide" Target="slides/slide319.xml"/><Relationship Id="rId327" Type="http://schemas.openxmlformats.org/officeDocument/2006/relationships/slide" Target="slides/slide320.xml"/><Relationship Id="rId328" Type="http://schemas.openxmlformats.org/officeDocument/2006/relationships/slide" Target="slides/slide321.xml"/><Relationship Id="rId329" Type="http://schemas.openxmlformats.org/officeDocument/2006/relationships/slide" Target="slides/slide322.xml"/><Relationship Id="rId330" Type="http://schemas.openxmlformats.org/officeDocument/2006/relationships/slide" Target="slides/slide323.xml"/><Relationship Id="rId331" Type="http://schemas.openxmlformats.org/officeDocument/2006/relationships/slide" Target="slides/slide324.xml"/><Relationship Id="rId332" Type="http://schemas.openxmlformats.org/officeDocument/2006/relationships/slide" Target="slides/slide325.xml"/><Relationship Id="rId333" Type="http://schemas.openxmlformats.org/officeDocument/2006/relationships/slide" Target="slides/slide326.xml"/><Relationship Id="rId334" Type="http://schemas.openxmlformats.org/officeDocument/2006/relationships/slide" Target="slides/slide327.xml"/><Relationship Id="rId335" Type="http://schemas.openxmlformats.org/officeDocument/2006/relationships/slide" Target="slides/slide328.xml"/><Relationship Id="rId336" Type="http://schemas.openxmlformats.org/officeDocument/2006/relationships/slide" Target="slides/slide329.xml"/><Relationship Id="rId337" Type="http://schemas.openxmlformats.org/officeDocument/2006/relationships/slide" Target="slides/slide330.xml"/><Relationship Id="rId338" Type="http://schemas.openxmlformats.org/officeDocument/2006/relationships/slide" Target="slides/slide331.xml"/><Relationship Id="rId339" Type="http://schemas.openxmlformats.org/officeDocument/2006/relationships/slide" Target="slides/slide332.xml"/><Relationship Id="rId340" Type="http://schemas.openxmlformats.org/officeDocument/2006/relationships/slide" Target="slides/slide333.xml"/><Relationship Id="rId341" Type="http://schemas.openxmlformats.org/officeDocument/2006/relationships/slide" Target="slides/slide334.xml"/><Relationship Id="rId342" Type="http://schemas.openxmlformats.org/officeDocument/2006/relationships/slide" Target="slides/slide335.xml"/><Relationship Id="rId343" Type="http://schemas.openxmlformats.org/officeDocument/2006/relationships/slide" Target="slides/slide336.xml"/><Relationship Id="rId344" Type="http://schemas.openxmlformats.org/officeDocument/2006/relationships/slide" Target="slides/slide337.xml"/><Relationship Id="rId345" Type="http://schemas.openxmlformats.org/officeDocument/2006/relationships/slide" Target="slides/slide338.xml"/><Relationship Id="rId346" Type="http://schemas.openxmlformats.org/officeDocument/2006/relationships/slide" Target="slides/slide339.xml"/><Relationship Id="rId347" Type="http://schemas.openxmlformats.org/officeDocument/2006/relationships/slide" Target="slides/slide340.xml"/><Relationship Id="rId348" Type="http://schemas.openxmlformats.org/officeDocument/2006/relationships/slide" Target="slides/slide341.xml"/><Relationship Id="rId349" Type="http://schemas.openxmlformats.org/officeDocument/2006/relationships/slide" Target="slides/slide342.xml"/><Relationship Id="rId350" Type="http://schemas.openxmlformats.org/officeDocument/2006/relationships/slide" Target="slides/slide343.xml"/><Relationship Id="rId351" Type="http://schemas.openxmlformats.org/officeDocument/2006/relationships/slide" Target="slides/slide344.xml"/><Relationship Id="rId352" Type="http://schemas.openxmlformats.org/officeDocument/2006/relationships/slide" Target="slides/slide345.xml"/><Relationship Id="rId353" Type="http://schemas.openxmlformats.org/officeDocument/2006/relationships/slide" Target="slides/slide346.xml"/><Relationship Id="rId354" Type="http://schemas.openxmlformats.org/officeDocument/2006/relationships/slide" Target="slides/slide347.xml"/><Relationship Id="rId355" Type="http://schemas.openxmlformats.org/officeDocument/2006/relationships/slide" Target="slides/slide348.xml"/><Relationship Id="rId356" Type="http://schemas.openxmlformats.org/officeDocument/2006/relationships/slide" Target="slides/slide349.xml"/><Relationship Id="rId357" Type="http://schemas.openxmlformats.org/officeDocument/2006/relationships/slide" Target="slides/slide350.xml"/><Relationship Id="rId358" Type="http://schemas.openxmlformats.org/officeDocument/2006/relationships/slide" Target="slides/slide351.xml"/><Relationship Id="rId359" Type="http://schemas.openxmlformats.org/officeDocument/2006/relationships/slide" Target="slides/slide352.xml"/><Relationship Id="rId360" Type="http://schemas.openxmlformats.org/officeDocument/2006/relationships/slide" Target="slides/slide353.xml"/><Relationship Id="rId361" Type="http://schemas.openxmlformats.org/officeDocument/2006/relationships/slide" Target="slides/slide354.xml"/><Relationship Id="rId362" Type="http://schemas.openxmlformats.org/officeDocument/2006/relationships/slide" Target="slides/slide355.xml"/><Relationship Id="rId363" Type="http://schemas.openxmlformats.org/officeDocument/2006/relationships/slide" Target="slides/slide356.xml"/><Relationship Id="rId364" Type="http://schemas.openxmlformats.org/officeDocument/2006/relationships/slide" Target="slides/slide357.xml"/><Relationship Id="rId365" Type="http://schemas.openxmlformats.org/officeDocument/2006/relationships/slide" Target="slides/slide358.xml"/><Relationship Id="rId366" Type="http://schemas.openxmlformats.org/officeDocument/2006/relationships/slide" Target="slides/slide359.xml"/><Relationship Id="rId367" Type="http://schemas.openxmlformats.org/officeDocument/2006/relationships/slide" Target="slides/slide360.xml"/><Relationship Id="rId368" Type="http://schemas.openxmlformats.org/officeDocument/2006/relationships/slide" Target="slides/slide361.xml"/><Relationship Id="rId369" Type="http://schemas.openxmlformats.org/officeDocument/2006/relationships/slide" Target="slides/slide362.xml"/><Relationship Id="rId370" Type="http://schemas.openxmlformats.org/officeDocument/2006/relationships/slide" Target="slides/slide363.xml"/><Relationship Id="rId371" Type="http://schemas.openxmlformats.org/officeDocument/2006/relationships/slide" Target="slides/slide364.xml"/><Relationship Id="rId372" Type="http://schemas.openxmlformats.org/officeDocument/2006/relationships/slide" Target="slides/slide365.xml"/><Relationship Id="rId373" Type="http://schemas.openxmlformats.org/officeDocument/2006/relationships/slide" Target="slides/slide366.xml"/><Relationship Id="rId374" Type="http://schemas.openxmlformats.org/officeDocument/2006/relationships/slide" Target="slides/slide367.xml"/><Relationship Id="rId375" Type="http://schemas.openxmlformats.org/officeDocument/2006/relationships/slide" Target="slides/slide368.xml"/><Relationship Id="rId376" Type="http://schemas.openxmlformats.org/officeDocument/2006/relationships/slide" Target="slides/slide369.xml"/><Relationship Id="rId377" Type="http://schemas.openxmlformats.org/officeDocument/2006/relationships/slide" Target="slides/slide370.xml"/><Relationship Id="rId378" Type="http://schemas.openxmlformats.org/officeDocument/2006/relationships/slide" Target="slides/slide371.xml"/><Relationship Id="rId379" Type="http://schemas.openxmlformats.org/officeDocument/2006/relationships/slide" Target="slides/slide372.xml"/><Relationship Id="rId380" Type="http://schemas.openxmlformats.org/officeDocument/2006/relationships/slide" Target="slides/slide373.xml"/><Relationship Id="rId381" Type="http://schemas.openxmlformats.org/officeDocument/2006/relationships/slide" Target="slides/slide374.xml"/><Relationship Id="rId382" Type="http://schemas.openxmlformats.org/officeDocument/2006/relationships/slide" Target="slides/slide375.xml"/><Relationship Id="rId383" Type="http://schemas.openxmlformats.org/officeDocument/2006/relationships/slide" Target="slides/slide376.xml"/><Relationship Id="rId384" Type="http://schemas.openxmlformats.org/officeDocument/2006/relationships/slide" Target="slides/slide377.xml"/><Relationship Id="rId385" Type="http://schemas.openxmlformats.org/officeDocument/2006/relationships/slide" Target="slides/slide378.xml"/><Relationship Id="rId386" Type="http://schemas.openxmlformats.org/officeDocument/2006/relationships/slide" Target="slides/slide379.xml"/><Relationship Id="rId387" Type="http://schemas.openxmlformats.org/officeDocument/2006/relationships/slide" Target="slides/slide380.xml"/><Relationship Id="rId388" Type="http://schemas.openxmlformats.org/officeDocument/2006/relationships/slide" Target="slides/slide381.xml"/><Relationship Id="rId389" Type="http://schemas.openxmlformats.org/officeDocument/2006/relationships/slide" Target="slides/slide382.xml"/><Relationship Id="rId390" Type="http://schemas.openxmlformats.org/officeDocument/2006/relationships/slide" Target="slides/slide383.xml"/><Relationship Id="rId391" Type="http://schemas.openxmlformats.org/officeDocument/2006/relationships/slide" Target="slides/slide384.xml"/><Relationship Id="rId392" Type="http://schemas.openxmlformats.org/officeDocument/2006/relationships/slide" Target="slides/slide385.xml"/><Relationship Id="rId393" Type="http://schemas.openxmlformats.org/officeDocument/2006/relationships/slide" Target="slides/slide386.xml"/><Relationship Id="rId394" Type="http://schemas.openxmlformats.org/officeDocument/2006/relationships/slide" Target="slides/slide387.xml"/><Relationship Id="rId395" Type="http://schemas.openxmlformats.org/officeDocument/2006/relationships/slide" Target="slides/slide388.xml"/><Relationship Id="rId396" Type="http://schemas.openxmlformats.org/officeDocument/2006/relationships/slide" Target="slides/slide389.xml"/><Relationship Id="rId397" Type="http://schemas.openxmlformats.org/officeDocument/2006/relationships/slide" Target="slides/slide390.xml"/><Relationship Id="rId398" Type="http://schemas.openxmlformats.org/officeDocument/2006/relationships/slide" Target="slides/slide391.xml"/><Relationship Id="rId399" Type="http://schemas.openxmlformats.org/officeDocument/2006/relationships/slide" Target="slides/slide392.xml"/><Relationship Id="rId400" Type="http://schemas.openxmlformats.org/officeDocument/2006/relationships/slide" Target="slides/slide393.xml"/><Relationship Id="rId401" Type="http://schemas.openxmlformats.org/officeDocument/2006/relationships/slide" Target="slides/slide394.xml"/><Relationship Id="rId402" Type="http://schemas.openxmlformats.org/officeDocument/2006/relationships/slide" Target="slides/slide395.xml"/><Relationship Id="rId403" Type="http://schemas.openxmlformats.org/officeDocument/2006/relationships/slide" Target="slides/slide396.xml"/><Relationship Id="rId404" Type="http://schemas.openxmlformats.org/officeDocument/2006/relationships/slide" Target="slides/slide397.xml"/><Relationship Id="rId405" Type="http://schemas.openxmlformats.org/officeDocument/2006/relationships/slide" Target="slides/slide398.xml"/><Relationship Id="rId406" Type="http://schemas.openxmlformats.org/officeDocument/2006/relationships/slide" Target="slides/slide399.xml"/><Relationship Id="rId407" Type="http://schemas.openxmlformats.org/officeDocument/2006/relationships/slide" Target="slides/slide400.xml"/><Relationship Id="rId408" Type="http://schemas.openxmlformats.org/officeDocument/2006/relationships/slide" Target="slides/slide401.xml"/><Relationship Id="rId409" Type="http://schemas.openxmlformats.org/officeDocument/2006/relationships/slide" Target="slides/slide402.xml"/><Relationship Id="rId410" Type="http://schemas.openxmlformats.org/officeDocument/2006/relationships/slide" Target="slides/slide403.xml"/><Relationship Id="rId411" Type="http://schemas.openxmlformats.org/officeDocument/2006/relationships/slide" Target="slides/slide404.xml"/><Relationship Id="rId412" Type="http://schemas.openxmlformats.org/officeDocument/2006/relationships/slide" Target="slides/slide405.xml"/><Relationship Id="rId413" Type="http://schemas.openxmlformats.org/officeDocument/2006/relationships/slide" Target="slides/slide406.xml"/><Relationship Id="rId414" Type="http://schemas.openxmlformats.org/officeDocument/2006/relationships/slide" Target="slides/slide407.xml"/><Relationship Id="rId415" Type="http://schemas.openxmlformats.org/officeDocument/2006/relationships/slide" Target="slides/slide408.xml"/><Relationship Id="rId416" Type="http://schemas.openxmlformats.org/officeDocument/2006/relationships/slide" Target="slides/slide409.xml"/><Relationship Id="rId417" Type="http://schemas.openxmlformats.org/officeDocument/2006/relationships/slide" Target="slides/slide410.xml"/><Relationship Id="rId418" Type="http://schemas.openxmlformats.org/officeDocument/2006/relationships/slide" Target="slides/slide411.xml"/><Relationship Id="rId419" Type="http://schemas.openxmlformats.org/officeDocument/2006/relationships/slide" Target="slides/slide412.xml"/><Relationship Id="rId420" Type="http://schemas.openxmlformats.org/officeDocument/2006/relationships/slide" Target="slides/slide413.xml"/><Relationship Id="rId421" Type="http://schemas.openxmlformats.org/officeDocument/2006/relationships/slide" Target="slides/slide414.xml"/><Relationship Id="rId422" Type="http://schemas.openxmlformats.org/officeDocument/2006/relationships/slide" Target="slides/slide415.xml"/><Relationship Id="rId423" Type="http://schemas.openxmlformats.org/officeDocument/2006/relationships/slide" Target="slides/slide416.xml"/><Relationship Id="rId424" Type="http://schemas.openxmlformats.org/officeDocument/2006/relationships/slide" Target="slides/slide417.xml"/><Relationship Id="rId425" Type="http://schemas.openxmlformats.org/officeDocument/2006/relationships/slide" Target="slides/slide418.xml"/><Relationship Id="rId426" Type="http://schemas.openxmlformats.org/officeDocument/2006/relationships/slide" Target="slides/slide419.xml"/><Relationship Id="rId427" Type="http://schemas.openxmlformats.org/officeDocument/2006/relationships/slide" Target="slides/slide420.xml"/><Relationship Id="rId428" Type="http://schemas.openxmlformats.org/officeDocument/2006/relationships/slide" Target="slides/slide421.xml"/><Relationship Id="rId429" Type="http://schemas.openxmlformats.org/officeDocument/2006/relationships/slide" Target="slides/slide422.xml"/><Relationship Id="rId430" Type="http://schemas.openxmlformats.org/officeDocument/2006/relationships/slide" Target="slides/slide423.xml"/><Relationship Id="rId431" Type="http://schemas.openxmlformats.org/officeDocument/2006/relationships/slide" Target="slides/slide424.xml"/><Relationship Id="rId432" Type="http://schemas.openxmlformats.org/officeDocument/2006/relationships/slide" Target="slides/slide425.xml"/><Relationship Id="rId433" Type="http://schemas.openxmlformats.org/officeDocument/2006/relationships/slide" Target="slides/slide426.xml"/><Relationship Id="rId434" Type="http://schemas.openxmlformats.org/officeDocument/2006/relationships/slide" Target="slides/slide427.xml"/><Relationship Id="rId435" Type="http://schemas.openxmlformats.org/officeDocument/2006/relationships/slide" Target="slides/slide428.xml"/><Relationship Id="rId436" Type="http://schemas.openxmlformats.org/officeDocument/2006/relationships/slide" Target="slides/slide429.xml"/><Relationship Id="rId437" Type="http://schemas.openxmlformats.org/officeDocument/2006/relationships/slide" Target="slides/slide430.xml"/><Relationship Id="rId438" Type="http://schemas.openxmlformats.org/officeDocument/2006/relationships/slide" Target="slides/slide431.xml"/><Relationship Id="rId439" Type="http://schemas.openxmlformats.org/officeDocument/2006/relationships/slide" Target="slides/slide432.xml"/><Relationship Id="rId440" Type="http://schemas.openxmlformats.org/officeDocument/2006/relationships/slide" Target="slides/slide433.xml"/><Relationship Id="rId441" Type="http://schemas.openxmlformats.org/officeDocument/2006/relationships/slide" Target="slides/slide434.xml"/><Relationship Id="rId442" Type="http://schemas.openxmlformats.org/officeDocument/2006/relationships/slide" Target="slides/slide435.xml"/><Relationship Id="rId443" Type="http://schemas.openxmlformats.org/officeDocument/2006/relationships/slide" Target="slides/slide436.xml"/><Relationship Id="rId444" Type="http://schemas.openxmlformats.org/officeDocument/2006/relationships/slide" Target="slides/slide437.xml"/><Relationship Id="rId445" Type="http://schemas.openxmlformats.org/officeDocument/2006/relationships/slide" Target="slides/slide438.xml"/><Relationship Id="rId446" Type="http://schemas.openxmlformats.org/officeDocument/2006/relationships/slide" Target="slides/slide439.xml"/><Relationship Id="rId447" Type="http://schemas.openxmlformats.org/officeDocument/2006/relationships/slide" Target="slides/slide440.xml"/><Relationship Id="rId448" Type="http://schemas.openxmlformats.org/officeDocument/2006/relationships/slide" Target="slides/slide441.xml"/><Relationship Id="rId449" Type="http://schemas.openxmlformats.org/officeDocument/2006/relationships/slide" Target="slides/slide442.xml"/><Relationship Id="rId450" Type="http://schemas.openxmlformats.org/officeDocument/2006/relationships/slide" Target="slides/slide443.xml"/><Relationship Id="rId451" Type="http://schemas.openxmlformats.org/officeDocument/2006/relationships/slide" Target="slides/slide444.xml"/><Relationship Id="rId452" Type="http://schemas.openxmlformats.org/officeDocument/2006/relationships/slide" Target="slides/slide445.xml"/><Relationship Id="rId453" Type="http://schemas.openxmlformats.org/officeDocument/2006/relationships/slide" Target="slides/slide446.xml"/><Relationship Id="rId454" Type="http://schemas.openxmlformats.org/officeDocument/2006/relationships/slide" Target="slides/slide447.xml"/><Relationship Id="rId455" Type="http://schemas.openxmlformats.org/officeDocument/2006/relationships/slide" Target="slides/slide448.xml"/><Relationship Id="rId456" Type="http://schemas.openxmlformats.org/officeDocument/2006/relationships/slide" Target="slides/slide449.xml"/><Relationship Id="rId457" Type="http://schemas.openxmlformats.org/officeDocument/2006/relationships/slide" Target="slides/slide450.xml"/><Relationship Id="rId458" Type="http://schemas.openxmlformats.org/officeDocument/2006/relationships/slide" Target="slides/slide451.xml"/><Relationship Id="rId459" Type="http://schemas.openxmlformats.org/officeDocument/2006/relationships/slide" Target="slides/slide452.xml"/><Relationship Id="rId460" Type="http://schemas.openxmlformats.org/officeDocument/2006/relationships/slide" Target="slides/slide453.xml"/><Relationship Id="rId461" Type="http://schemas.openxmlformats.org/officeDocument/2006/relationships/slide" Target="slides/slide454.xml"/><Relationship Id="rId462" Type="http://schemas.openxmlformats.org/officeDocument/2006/relationships/slide" Target="slides/slide455.xml"/><Relationship Id="rId463" Type="http://schemas.openxmlformats.org/officeDocument/2006/relationships/slide" Target="slides/slide456.xml"/><Relationship Id="rId464" Type="http://schemas.openxmlformats.org/officeDocument/2006/relationships/slide" Target="slides/slide457.xml"/><Relationship Id="rId465" Type="http://schemas.openxmlformats.org/officeDocument/2006/relationships/slide" Target="slides/slide458.xml"/><Relationship Id="rId466" Type="http://schemas.openxmlformats.org/officeDocument/2006/relationships/slide" Target="slides/slide459.xml"/><Relationship Id="rId467" Type="http://schemas.openxmlformats.org/officeDocument/2006/relationships/slide" Target="slides/slide460.xml"/><Relationship Id="rId468" Type="http://schemas.openxmlformats.org/officeDocument/2006/relationships/slide" Target="slides/slide461.xml"/><Relationship Id="rId469" Type="http://schemas.openxmlformats.org/officeDocument/2006/relationships/slide" Target="slides/slide462.xml"/><Relationship Id="rId470" Type="http://schemas.openxmlformats.org/officeDocument/2006/relationships/slide" Target="slides/slide463.xml"/><Relationship Id="rId471" Type="http://schemas.openxmlformats.org/officeDocument/2006/relationships/slide" Target="slides/slide464.xml"/><Relationship Id="rId472" Type="http://schemas.openxmlformats.org/officeDocument/2006/relationships/slide" Target="slides/slide465.xml"/><Relationship Id="rId473" Type="http://schemas.openxmlformats.org/officeDocument/2006/relationships/slide" Target="slides/slide466.xml"/><Relationship Id="rId474" Type="http://schemas.openxmlformats.org/officeDocument/2006/relationships/slide" Target="slides/slide467.xml"/><Relationship Id="rId475" Type="http://schemas.openxmlformats.org/officeDocument/2006/relationships/slide" Target="slides/slide468.xml"/><Relationship Id="rId476" Type="http://schemas.openxmlformats.org/officeDocument/2006/relationships/slide" Target="slides/slide469.xml"/><Relationship Id="rId477" Type="http://schemas.openxmlformats.org/officeDocument/2006/relationships/slide" Target="slides/slide470.xml"/><Relationship Id="rId478" Type="http://schemas.openxmlformats.org/officeDocument/2006/relationships/slide" Target="slides/slide471.xml"/><Relationship Id="rId479" Type="http://schemas.openxmlformats.org/officeDocument/2006/relationships/slide" Target="slides/slide472.xml"/><Relationship Id="rId480" Type="http://schemas.openxmlformats.org/officeDocument/2006/relationships/slide" Target="slides/slide473.xml"/><Relationship Id="rId481" Type="http://schemas.openxmlformats.org/officeDocument/2006/relationships/slide" Target="slides/slide474.xml"/><Relationship Id="rId482" Type="http://schemas.openxmlformats.org/officeDocument/2006/relationships/slide" Target="slides/slide475.xml"/><Relationship Id="rId483" Type="http://schemas.openxmlformats.org/officeDocument/2006/relationships/slide" Target="slides/slide476.xml"/><Relationship Id="rId484" Type="http://schemas.openxmlformats.org/officeDocument/2006/relationships/slide" Target="slides/slide477.xml"/><Relationship Id="rId485" Type="http://schemas.openxmlformats.org/officeDocument/2006/relationships/slide" Target="slides/slide478.xml"/><Relationship Id="rId486" Type="http://schemas.openxmlformats.org/officeDocument/2006/relationships/slide" Target="slides/slide479.xml"/><Relationship Id="rId487" Type="http://schemas.openxmlformats.org/officeDocument/2006/relationships/slide" Target="slides/slide480.xml"/><Relationship Id="rId488" Type="http://schemas.openxmlformats.org/officeDocument/2006/relationships/slide" Target="slides/slide481.xml"/><Relationship Id="rId489" Type="http://schemas.openxmlformats.org/officeDocument/2006/relationships/slide" Target="slides/slide482.xml"/><Relationship Id="rId490" Type="http://schemas.openxmlformats.org/officeDocument/2006/relationships/slide" Target="slides/slide483.xml"/><Relationship Id="rId491" Type="http://schemas.openxmlformats.org/officeDocument/2006/relationships/slide" Target="slides/slide484.xml"/><Relationship Id="rId492" Type="http://schemas.openxmlformats.org/officeDocument/2006/relationships/slide" Target="slides/slide485.xml"/><Relationship Id="rId493" Type="http://schemas.openxmlformats.org/officeDocument/2006/relationships/slide" Target="slides/slide486.xml"/><Relationship Id="rId494" Type="http://schemas.openxmlformats.org/officeDocument/2006/relationships/slide" Target="slides/slide487.xml"/><Relationship Id="rId495" Type="http://schemas.openxmlformats.org/officeDocument/2006/relationships/slide" Target="slides/slide488.xml"/><Relationship Id="rId496" Type="http://schemas.openxmlformats.org/officeDocument/2006/relationships/slide" Target="slides/slide489.xml"/><Relationship Id="rId497" Type="http://schemas.openxmlformats.org/officeDocument/2006/relationships/slide" Target="slides/slide490.xml"/><Relationship Id="rId498" Type="http://schemas.openxmlformats.org/officeDocument/2006/relationships/slide" Target="slides/slide491.xml"/><Relationship Id="rId499" Type="http://schemas.openxmlformats.org/officeDocument/2006/relationships/slide" Target="slides/slide492.xml"/><Relationship Id="rId500" Type="http://schemas.openxmlformats.org/officeDocument/2006/relationships/slide" Target="slides/slide493.xml"/><Relationship Id="rId501" Type="http://schemas.openxmlformats.org/officeDocument/2006/relationships/slide" Target="slides/slide494.xml"/><Relationship Id="rId502" Type="http://schemas.openxmlformats.org/officeDocument/2006/relationships/slide" Target="slides/slide495.xml"/><Relationship Id="rId503" Type="http://schemas.openxmlformats.org/officeDocument/2006/relationships/slide" Target="slides/slide496.xml"/><Relationship Id="rId504" Type="http://schemas.openxmlformats.org/officeDocument/2006/relationships/slide" Target="slides/slide497.xml"/><Relationship Id="rId505" Type="http://schemas.openxmlformats.org/officeDocument/2006/relationships/slide" Target="slides/slide498.xml"/><Relationship Id="rId506" Type="http://schemas.openxmlformats.org/officeDocument/2006/relationships/slide" Target="slides/slide499.xml"/><Relationship Id="rId507" Type="http://schemas.openxmlformats.org/officeDocument/2006/relationships/slide" Target="slides/slide500.xml"/><Relationship Id="rId508" Type="http://schemas.openxmlformats.org/officeDocument/2006/relationships/slide" Target="slides/slide501.xml"/><Relationship Id="rId509" Type="http://schemas.openxmlformats.org/officeDocument/2006/relationships/slide" Target="slides/slide502.xml"/><Relationship Id="rId510" Type="http://schemas.openxmlformats.org/officeDocument/2006/relationships/slide" Target="slides/slide503.xml"/><Relationship Id="rId511" Type="http://schemas.openxmlformats.org/officeDocument/2006/relationships/slide" Target="slides/slide504.xml"/><Relationship Id="rId512" Type="http://schemas.openxmlformats.org/officeDocument/2006/relationships/slide" Target="slides/slide505.xml"/><Relationship Id="rId513" Type="http://schemas.openxmlformats.org/officeDocument/2006/relationships/slide" Target="slides/slide506.xml"/><Relationship Id="rId514" Type="http://schemas.openxmlformats.org/officeDocument/2006/relationships/slide" Target="slides/slide507.xml"/><Relationship Id="rId515" Type="http://schemas.openxmlformats.org/officeDocument/2006/relationships/slide" Target="slides/slide508.xml"/><Relationship Id="rId516" Type="http://schemas.openxmlformats.org/officeDocument/2006/relationships/slide" Target="slides/slide509.xml"/><Relationship Id="rId517" Type="http://schemas.openxmlformats.org/officeDocument/2006/relationships/slide" Target="slides/slide510.xml"/><Relationship Id="rId518" Type="http://schemas.openxmlformats.org/officeDocument/2006/relationships/slide" Target="slides/slide511.xml"/><Relationship Id="rId519" Type="http://schemas.openxmlformats.org/officeDocument/2006/relationships/slide" Target="slides/slide512.xml"/><Relationship Id="rId520" Type="http://schemas.openxmlformats.org/officeDocument/2006/relationships/slide" Target="slides/slide513.xml"/><Relationship Id="rId521" Type="http://schemas.openxmlformats.org/officeDocument/2006/relationships/slide" Target="slides/slide514.xml"/><Relationship Id="rId522" Type="http://schemas.openxmlformats.org/officeDocument/2006/relationships/slide" Target="slides/slide515.xml"/><Relationship Id="rId523" Type="http://schemas.openxmlformats.org/officeDocument/2006/relationships/slide" Target="slides/slide516.xml"/><Relationship Id="rId524" Type="http://schemas.openxmlformats.org/officeDocument/2006/relationships/slide" Target="slides/slide517.xml"/><Relationship Id="rId525" Type="http://schemas.openxmlformats.org/officeDocument/2006/relationships/slide" Target="slides/slide518.xml"/><Relationship Id="rId526" Type="http://schemas.openxmlformats.org/officeDocument/2006/relationships/slide" Target="slides/slide519.xml"/><Relationship Id="rId527" Type="http://schemas.openxmlformats.org/officeDocument/2006/relationships/slide" Target="slides/slide520.xml"/><Relationship Id="rId528" Type="http://schemas.openxmlformats.org/officeDocument/2006/relationships/slide" Target="slides/slide521.xml"/><Relationship Id="rId529" Type="http://schemas.openxmlformats.org/officeDocument/2006/relationships/slide" Target="slides/slide522.xml"/><Relationship Id="rId530" Type="http://schemas.openxmlformats.org/officeDocument/2006/relationships/slide" Target="slides/slide523.xml"/><Relationship Id="rId531" Type="http://schemas.openxmlformats.org/officeDocument/2006/relationships/slide" Target="slides/slide524.xml"/><Relationship Id="rId532" Type="http://schemas.openxmlformats.org/officeDocument/2006/relationships/slide" Target="slides/slide525.xml"/><Relationship Id="rId533" Type="http://schemas.openxmlformats.org/officeDocument/2006/relationships/slide" Target="slides/slide526.xml"/><Relationship Id="rId534" Type="http://schemas.openxmlformats.org/officeDocument/2006/relationships/slide" Target="slides/slide527.xml"/><Relationship Id="rId535" Type="http://schemas.openxmlformats.org/officeDocument/2006/relationships/slide" Target="slides/slide528.xml"/><Relationship Id="rId536" Type="http://schemas.openxmlformats.org/officeDocument/2006/relationships/slide" Target="slides/slide529.xml"/><Relationship Id="rId537" Type="http://schemas.openxmlformats.org/officeDocument/2006/relationships/slide" Target="slides/slide530.xml"/><Relationship Id="rId538" Type="http://schemas.openxmlformats.org/officeDocument/2006/relationships/slide" Target="slides/slide531.xml"/><Relationship Id="rId539" Type="http://schemas.openxmlformats.org/officeDocument/2006/relationships/slide" Target="slides/slide532.xml"/><Relationship Id="rId540" Type="http://schemas.openxmlformats.org/officeDocument/2006/relationships/slide" Target="slides/slide533.xml"/><Relationship Id="rId541" Type="http://schemas.openxmlformats.org/officeDocument/2006/relationships/slide" Target="slides/slide534.xml"/><Relationship Id="rId542" Type="http://schemas.openxmlformats.org/officeDocument/2006/relationships/slide" Target="slides/slide535.xml"/><Relationship Id="rId543" Type="http://schemas.openxmlformats.org/officeDocument/2006/relationships/slide" Target="slides/slide536.xml"/><Relationship Id="rId544" Type="http://schemas.openxmlformats.org/officeDocument/2006/relationships/slide" Target="slides/slide537.xml"/><Relationship Id="rId545" Type="http://schemas.openxmlformats.org/officeDocument/2006/relationships/slide" Target="slides/slide538.xml"/><Relationship Id="rId546" Type="http://schemas.openxmlformats.org/officeDocument/2006/relationships/slide" Target="slides/slide539.xml"/><Relationship Id="rId547" Type="http://schemas.openxmlformats.org/officeDocument/2006/relationships/slide" Target="slides/slide540.xml"/><Relationship Id="rId548" Type="http://schemas.openxmlformats.org/officeDocument/2006/relationships/slide" Target="slides/slide541.xml"/><Relationship Id="rId549" Type="http://schemas.openxmlformats.org/officeDocument/2006/relationships/slide" Target="slides/slide542.xml"/><Relationship Id="rId550" Type="http://schemas.openxmlformats.org/officeDocument/2006/relationships/slide" Target="slides/slide543.xml"/><Relationship Id="rId551" Type="http://schemas.openxmlformats.org/officeDocument/2006/relationships/slide" Target="slides/slide544.xml"/><Relationship Id="rId552" Type="http://schemas.openxmlformats.org/officeDocument/2006/relationships/slide" Target="slides/slide545.xml"/><Relationship Id="rId553" Type="http://schemas.openxmlformats.org/officeDocument/2006/relationships/slide" Target="slides/slide546.xml"/><Relationship Id="rId554" Type="http://schemas.openxmlformats.org/officeDocument/2006/relationships/slide" Target="slides/slide547.xml"/><Relationship Id="rId555" Type="http://schemas.openxmlformats.org/officeDocument/2006/relationships/slide" Target="slides/slide548.xml"/><Relationship Id="rId556" Type="http://schemas.openxmlformats.org/officeDocument/2006/relationships/slide" Target="slides/slide549.xml"/><Relationship Id="rId557" Type="http://schemas.openxmlformats.org/officeDocument/2006/relationships/slide" Target="slides/slide550.xml"/><Relationship Id="rId558" Type="http://schemas.openxmlformats.org/officeDocument/2006/relationships/slide" Target="slides/slide551.xml"/><Relationship Id="rId559" Type="http://schemas.openxmlformats.org/officeDocument/2006/relationships/slide" Target="slides/slide552.xml"/><Relationship Id="rId560" Type="http://schemas.openxmlformats.org/officeDocument/2006/relationships/slide" Target="slides/slide553.xml"/><Relationship Id="rId561" Type="http://schemas.openxmlformats.org/officeDocument/2006/relationships/slide" Target="slides/slide554.xml"/><Relationship Id="rId562" Type="http://schemas.openxmlformats.org/officeDocument/2006/relationships/slide" Target="slides/slide555.xml"/><Relationship Id="rId563" Type="http://schemas.openxmlformats.org/officeDocument/2006/relationships/slide" Target="slides/slide556.xml"/><Relationship Id="rId564" Type="http://schemas.openxmlformats.org/officeDocument/2006/relationships/slide" Target="slides/slide557.xml"/><Relationship Id="rId565" Type="http://schemas.openxmlformats.org/officeDocument/2006/relationships/slide" Target="slides/slide558.xml"/><Relationship Id="rId566" Type="http://schemas.openxmlformats.org/officeDocument/2006/relationships/slide" Target="slides/slide559.xml"/><Relationship Id="rId567" Type="http://schemas.openxmlformats.org/officeDocument/2006/relationships/slide" Target="slides/slide560.xml"/><Relationship Id="rId568" Type="http://schemas.openxmlformats.org/officeDocument/2006/relationships/slide" Target="slides/slide561.xml"/><Relationship Id="rId569" Type="http://schemas.openxmlformats.org/officeDocument/2006/relationships/slide" Target="slides/slide562.xml"/><Relationship Id="rId570" Type="http://schemas.openxmlformats.org/officeDocument/2006/relationships/slide" Target="slides/slide563.xml"/><Relationship Id="rId571" Type="http://schemas.openxmlformats.org/officeDocument/2006/relationships/slide" Target="slides/slide564.xml"/><Relationship Id="rId572" Type="http://schemas.openxmlformats.org/officeDocument/2006/relationships/slide" Target="slides/slide565.xml"/><Relationship Id="rId573" Type="http://schemas.openxmlformats.org/officeDocument/2006/relationships/slide" Target="slides/slide566.xml"/><Relationship Id="rId574" Type="http://schemas.openxmlformats.org/officeDocument/2006/relationships/slide" Target="slides/slide567.xml"/><Relationship Id="rId575" Type="http://schemas.openxmlformats.org/officeDocument/2006/relationships/slide" Target="slides/slide568.xml"/><Relationship Id="rId576" Type="http://schemas.openxmlformats.org/officeDocument/2006/relationships/slide" Target="slides/slide569.xml"/><Relationship Id="rId577" Type="http://schemas.openxmlformats.org/officeDocument/2006/relationships/slide" Target="slides/slide570.xml"/><Relationship Id="rId578" Type="http://schemas.openxmlformats.org/officeDocument/2006/relationships/slide" Target="slides/slide571.xml"/><Relationship Id="rId579" Type="http://schemas.openxmlformats.org/officeDocument/2006/relationships/slide" Target="slides/slide572.xml"/><Relationship Id="rId580" Type="http://schemas.openxmlformats.org/officeDocument/2006/relationships/slide" Target="slides/slide573.xml"/><Relationship Id="rId581" Type="http://schemas.openxmlformats.org/officeDocument/2006/relationships/slide" Target="slides/slide574.xml"/><Relationship Id="rId582" Type="http://schemas.openxmlformats.org/officeDocument/2006/relationships/slide" Target="slides/slide575.xml"/><Relationship Id="rId583" Type="http://schemas.openxmlformats.org/officeDocument/2006/relationships/slide" Target="slides/slide576.xml"/><Relationship Id="rId584" Type="http://schemas.openxmlformats.org/officeDocument/2006/relationships/slide" Target="slides/slide577.xml"/><Relationship Id="rId585" Type="http://schemas.openxmlformats.org/officeDocument/2006/relationships/slide" Target="slides/slide578.xml"/><Relationship Id="rId586" Type="http://schemas.openxmlformats.org/officeDocument/2006/relationships/slide" Target="slides/slide579.xml"/><Relationship Id="rId587" Type="http://schemas.openxmlformats.org/officeDocument/2006/relationships/slide" Target="slides/slide580.xml"/><Relationship Id="rId588" Type="http://schemas.openxmlformats.org/officeDocument/2006/relationships/slide" Target="slides/slide581.xml"/><Relationship Id="rId589" Type="http://schemas.openxmlformats.org/officeDocument/2006/relationships/slide" Target="slides/slide582.xml"/><Relationship Id="rId590" Type="http://schemas.openxmlformats.org/officeDocument/2006/relationships/slide" Target="slides/slide583.xml"/><Relationship Id="rId591" Type="http://schemas.openxmlformats.org/officeDocument/2006/relationships/slide" Target="slides/slide584.xml"/><Relationship Id="rId592" Type="http://schemas.openxmlformats.org/officeDocument/2006/relationships/slide" Target="slides/slide585.xml"/><Relationship Id="rId593" Type="http://schemas.openxmlformats.org/officeDocument/2006/relationships/slide" Target="slides/slide586.xml"/><Relationship Id="rId594" Type="http://schemas.openxmlformats.org/officeDocument/2006/relationships/slide" Target="slides/slide587.xml"/><Relationship Id="rId595" Type="http://schemas.openxmlformats.org/officeDocument/2006/relationships/slide" Target="slides/slide588.xml"/><Relationship Id="rId596" Type="http://schemas.openxmlformats.org/officeDocument/2006/relationships/slide" Target="slides/slide589.xml"/><Relationship Id="rId597" Type="http://schemas.openxmlformats.org/officeDocument/2006/relationships/slide" Target="slides/slide590.xml"/><Relationship Id="rId598" Type="http://schemas.openxmlformats.org/officeDocument/2006/relationships/slide" Target="slides/slide591.xml"/><Relationship Id="rId599" Type="http://schemas.openxmlformats.org/officeDocument/2006/relationships/slide" Target="slides/slide592.xml"/><Relationship Id="rId600" Type="http://schemas.openxmlformats.org/officeDocument/2006/relationships/slide" Target="slides/slide593.xml"/><Relationship Id="rId601" Type="http://schemas.openxmlformats.org/officeDocument/2006/relationships/slide" Target="slides/slide594.xml"/><Relationship Id="rId602" Type="http://schemas.openxmlformats.org/officeDocument/2006/relationships/slide" Target="slides/slide595.xml"/><Relationship Id="rId603" Type="http://schemas.openxmlformats.org/officeDocument/2006/relationships/slide" Target="slides/slide596.xml"/><Relationship Id="rId604" Type="http://schemas.openxmlformats.org/officeDocument/2006/relationships/slide" Target="slides/slide597.xml"/><Relationship Id="rId605" Type="http://schemas.openxmlformats.org/officeDocument/2006/relationships/slide" Target="slides/slide598.xml"/><Relationship Id="rId606" Type="http://schemas.openxmlformats.org/officeDocument/2006/relationships/slide" Target="slides/slide599.xml"/><Relationship Id="rId607" Type="http://schemas.openxmlformats.org/officeDocument/2006/relationships/slide" Target="slides/slide600.xml"/><Relationship Id="rId608" Type="http://schemas.openxmlformats.org/officeDocument/2006/relationships/slide" Target="slides/slide601.xml"/><Relationship Id="rId609" Type="http://schemas.openxmlformats.org/officeDocument/2006/relationships/slide" Target="slides/slide602.xml"/><Relationship Id="rId610" Type="http://schemas.openxmlformats.org/officeDocument/2006/relationships/slide" Target="slides/slide603.xml"/><Relationship Id="rId611" Type="http://schemas.openxmlformats.org/officeDocument/2006/relationships/slide" Target="slides/slide604.xml"/><Relationship Id="rId612" Type="http://schemas.openxmlformats.org/officeDocument/2006/relationships/slide" Target="slides/slide605.xml"/><Relationship Id="rId613" Type="http://schemas.openxmlformats.org/officeDocument/2006/relationships/slide" Target="slides/slide606.xml"/><Relationship Id="rId614" Type="http://schemas.openxmlformats.org/officeDocument/2006/relationships/slide" Target="slides/slide607.xml"/><Relationship Id="rId615" Type="http://schemas.openxmlformats.org/officeDocument/2006/relationships/slide" Target="slides/slide608.xml"/><Relationship Id="rId616" Type="http://schemas.openxmlformats.org/officeDocument/2006/relationships/slide" Target="slides/slide609.xml"/><Relationship Id="rId617" Type="http://schemas.openxmlformats.org/officeDocument/2006/relationships/slide" Target="slides/slide610.xml"/><Relationship Id="rId618" Type="http://schemas.openxmlformats.org/officeDocument/2006/relationships/slide" Target="slides/slide611.xml"/><Relationship Id="rId619" Type="http://schemas.openxmlformats.org/officeDocument/2006/relationships/slide" Target="slides/slide612.xml"/><Relationship Id="rId620" Type="http://schemas.openxmlformats.org/officeDocument/2006/relationships/slide" Target="slides/slide613.xml"/><Relationship Id="rId621" Type="http://schemas.openxmlformats.org/officeDocument/2006/relationships/slide" Target="slides/slide614.xml"/><Relationship Id="rId622" Type="http://schemas.openxmlformats.org/officeDocument/2006/relationships/slide" Target="slides/slide615.xml"/><Relationship Id="rId623" Type="http://schemas.openxmlformats.org/officeDocument/2006/relationships/slide" Target="slides/slide616.xml"/><Relationship Id="rId624" Type="http://schemas.openxmlformats.org/officeDocument/2006/relationships/slide" Target="slides/slide617.xml"/><Relationship Id="rId625" Type="http://schemas.openxmlformats.org/officeDocument/2006/relationships/slide" Target="slides/slide618.xml"/><Relationship Id="rId626" Type="http://schemas.openxmlformats.org/officeDocument/2006/relationships/slide" Target="slides/slide6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4.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5.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6.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7.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8.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9.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0.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1.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2.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7.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8.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9.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0.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1.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2.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3.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4.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5.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6.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7.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8.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9.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0.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1.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2.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3.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4.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5.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0.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1.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2.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3.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4.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5.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6.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7.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8.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9.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0.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1.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2.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3.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4.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5.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6.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7.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8.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9.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0.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1.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2.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7.xml"/></Relationships>
</file>

<file path=ppt/notesSlides/_rels/notesSlide2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8.xml"/></Relationships>
</file>

<file path=ppt/notesSlides/_rels/notesSlide2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9.xml"/></Relationships>
</file>

<file path=ppt/notesSlides/_rels/notesSlide2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0.xml"/></Relationships>
</file>

<file path=ppt/notesSlides/_rels/notesSlide2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1.xml"/></Relationships>
</file>

<file path=ppt/notesSlides/_rels/notesSlide2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2.xml"/></Relationships>
</file>

<file path=ppt/notesSlides/_rels/notesSlide2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3.xml"/></Relationships>
</file>

<file path=ppt/notesSlides/_rels/notesSlide2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4.xml"/></Relationships>
</file>

<file path=ppt/notesSlides/_rels/notesSlide2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5.xml"/></Relationships>
</file>

<file path=ppt/notesSlides/_rels/notesSlide2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6.xml"/></Relationships>
</file>

<file path=ppt/notesSlides/_rels/notesSlide2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7.xml"/></Relationships>
</file>

<file path=ppt/notesSlides/_rels/notesSlide2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8.xml"/></Relationships>
</file>

<file path=ppt/notesSlides/_rels/notesSlide2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9.xml"/></Relationships>
</file>

<file path=ppt/notesSlides/_rels/notesSlide2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0.xml"/></Relationships>
</file>

<file path=ppt/notesSlides/_rels/notesSlide2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1.xml"/></Relationships>
</file>

<file path=ppt/notesSlides/_rels/notesSlide2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2.xml"/></Relationships>
</file>

<file path=ppt/notesSlides/_rels/notesSlide2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3.xml"/></Relationships>
</file>

<file path=ppt/notesSlides/_rels/notesSlide2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4.xml"/></Relationships>
</file>

<file path=ppt/notesSlides/_rels/notesSlide2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5.xml"/></Relationships>
</file>

<file path=ppt/notesSlides/_rels/notesSlide2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6.xml"/></Relationships>
</file>

<file path=ppt/notesSlides/_rels/notesSlide2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7.xml"/></Relationships>
</file>

<file path=ppt/notesSlides/_rels/notesSlide2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8.xml"/></Relationships>
</file>

<file path=ppt/notesSlides/_rels/notesSlide2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9.xml"/></Relationships>
</file>

<file path=ppt/notesSlides/_rels/notesSlide2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4.xml"/></Relationships>
</file>

<file path=ppt/notesSlides/_rels/notesSlide2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5.xml"/></Relationships>
</file>

<file path=ppt/notesSlides/_rels/notesSlide2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6.xml"/></Relationships>
</file>

<file path=ppt/notesSlides/_rels/notesSlide2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7.xml"/></Relationships>
</file>

<file path=ppt/notesSlides/_rels/notesSlide2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8.xml"/></Relationships>
</file>

<file path=ppt/notesSlides/_rels/notesSlide2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9.xml"/></Relationships>
</file>

<file path=ppt/notesSlides/_rels/notesSlide2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0.xml"/></Relationships>
</file>

<file path=ppt/notesSlides/_rels/notesSlide2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1.xml"/></Relationships>
</file>

<file path=ppt/notesSlides/_rels/notesSlide2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2.xml"/></Relationships>
</file>

<file path=ppt/notesSlides/_rels/notesSlide2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3.xml"/></Relationships>
</file>

<file path=ppt/notesSlides/_rels/notesSlide2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4.xml"/></Relationships>
</file>

<file path=ppt/notesSlides/_rels/notesSlide2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5.xml"/></Relationships>
</file>

<file path=ppt/notesSlides/_rels/notesSlide2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6.xml"/></Relationships>
</file>

<file path=ppt/notesSlides/_rels/notesSlide2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7.xml"/></Relationships>
</file>

<file path=ppt/notesSlides/_rels/notesSlide2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8.xml"/></Relationships>
</file>

<file path=ppt/notesSlides/_rels/notesSlide2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9.xml"/></Relationships>
</file>

<file path=ppt/notesSlides/_rels/notesSlide2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0.xml"/></Relationships>
</file>

<file path=ppt/notesSlides/_rels/notesSlide2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1.xml"/></Relationships>
</file>

<file path=ppt/notesSlides/_rels/notesSlide2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2.xml"/></Relationships>
</file>

<file path=ppt/notesSlides/_rels/notesSlide2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3.xml"/></Relationships>
</file>

<file path=ppt/notesSlides/_rels/notesSlide2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8.xml"/></Relationships>
</file>

<file path=ppt/notesSlides/_rels/notesSlide2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9.xml"/></Relationships>
</file>

<file path=ppt/notesSlides/_rels/notesSlide2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0.xml"/></Relationships>
</file>

<file path=ppt/notesSlides/_rels/notesSlide2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1.xml"/></Relationships>
</file>

<file path=ppt/notesSlides/_rels/notesSlide2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2.xml"/></Relationships>
</file>

<file path=ppt/notesSlides/_rels/notesSlide2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3.xml"/></Relationships>
</file>

<file path=ppt/notesSlides/_rels/notesSlide2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4.xml"/></Relationships>
</file>

<file path=ppt/notesSlides/_rels/notesSlide2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5.xml"/></Relationships>
</file>

<file path=ppt/notesSlides/_rels/notesSlide2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6.xml"/></Relationships>
</file>

<file path=ppt/notesSlides/_rels/notesSlide2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7.xml"/></Relationships>
</file>

<file path=ppt/notesSlides/_rels/notesSlide2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8.xml"/></Relationships>
</file>

<file path=ppt/notesSlides/_rels/notesSlide2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9.xml"/></Relationships>
</file>

<file path=ppt/notesSlides/_rels/notesSlide2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0.xml"/></Relationships>
</file>

<file path=ppt/notesSlides/_rels/notesSlide2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1.xml"/></Relationships>
</file>

<file path=ppt/notesSlides/_rels/notesSlide2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2.xml"/></Relationships>
</file>

<file path=ppt/notesSlides/_rels/notesSlide2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3.xml"/></Relationships>
</file>

<file path=ppt/notesSlides/_rels/notesSlide2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4.xml"/></Relationships>
</file>

<file path=ppt/notesSlides/_rels/notesSlide2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9.xml"/></Relationships>
</file>

<file path=ppt/notesSlides/_rels/notesSlide2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0.xml"/></Relationships>
</file>

<file path=ppt/notesSlides/_rels/notesSlide2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1.xml"/></Relationships>
</file>

<file path=ppt/notesSlides/_rels/notesSlide2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2.xml"/></Relationships>
</file>

<file path=ppt/notesSlides/_rels/notesSlide2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3.xml"/></Relationships>
</file>

<file path=ppt/notesSlides/_rels/notesSlide2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4.xml"/></Relationships>
</file>

<file path=ppt/notesSlides/_rels/notesSlide2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5.xml"/></Relationships>
</file>

<file path=ppt/notesSlides/_rels/notesSlide2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6.xml"/></Relationships>
</file>

<file path=ppt/notesSlides/_rels/notesSlide2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7.xml"/></Relationships>
</file>

<file path=ppt/notesSlides/_rels/notesSlide2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8.xml"/></Relationships>
</file>

<file path=ppt/notesSlides/_rels/notesSlide2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9.xml"/></Relationships>
</file>

<file path=ppt/notesSlides/_rels/notesSlide2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0.xml"/></Relationships>
</file>

<file path=ppt/notesSlides/_rels/notesSlide2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1.xml"/></Relationships>
</file>

<file path=ppt/notesSlides/_rels/notesSlide2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2.xml"/></Relationships>
</file>

<file path=ppt/notesSlides/_rels/notesSlide2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3.xml"/></Relationships>
</file>

<file path=ppt/notesSlides/_rels/notesSlide2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4.xml"/></Relationships>
</file>

<file path=ppt/notesSlides/_rels/notesSlide2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5.xml"/></Relationships>
</file>

<file path=ppt/notesSlides/_rels/notesSlide2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6.xml"/></Relationships>
</file>

<file path=ppt/notesSlides/_rels/notesSlide2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7.xml"/></Relationships>
</file>

<file path=ppt/notesSlides/_rels/notesSlide2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8.xml"/></Relationships>
</file>

<file path=ppt/notesSlides/_rels/notesSlide2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9.xml"/></Relationships>
</file>

<file path=ppt/notesSlides/_rels/notesSlide2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0.xml"/></Relationships>
</file>

<file path=ppt/notesSlides/_rels/notesSlide2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1.xml"/></Relationships>
</file>

<file path=ppt/notesSlides/_rels/notesSlide2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2.xml"/></Relationships>
</file>

<file path=ppt/notesSlides/_rels/notesSlide3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7.xml"/></Relationships>
</file>

<file path=ppt/notesSlides/_rels/notesSlide3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8.xml"/></Relationships>
</file>

<file path=ppt/notesSlides/_rels/notesSlide3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9.xml"/></Relationships>
</file>

<file path=ppt/notesSlides/_rels/notesSlide3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0.xml"/></Relationships>
</file>

<file path=ppt/notesSlides/_rels/notesSlide3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1.xml"/></Relationships>
</file>

<file path=ppt/notesSlides/_rels/notesSlide3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2.xml"/></Relationships>
</file>

<file path=ppt/notesSlides/_rels/notesSlide3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3.xml"/></Relationships>
</file>

<file path=ppt/notesSlides/_rels/notesSlide3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4.xml"/></Relationships>
</file>

<file path=ppt/notesSlides/_rels/notesSlide3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5.xml"/></Relationships>
</file>

<file path=ppt/notesSlides/_rels/notesSlide3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6.xml"/></Relationships>
</file>

<file path=ppt/notesSlides/_rels/notesSlide3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7.xml"/></Relationships>
</file>

<file path=ppt/notesSlides/_rels/notesSlide3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8.xml"/></Relationships>
</file>

<file path=ppt/notesSlides/_rels/notesSlide3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9.xml"/></Relationships>
</file>

<file path=ppt/notesSlides/_rels/notesSlide3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0.xml"/></Relationships>
</file>

<file path=ppt/notesSlides/_rels/notesSlide3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1.xml"/></Relationships>
</file>

<file path=ppt/notesSlides/_rels/notesSlide3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2.xml"/></Relationships>
</file>

<file path=ppt/notesSlides/_rels/notesSlide3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7.xml"/></Relationships>
</file>

<file path=ppt/notesSlides/_rels/notesSlide3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8.xml"/></Relationships>
</file>

<file path=ppt/notesSlides/_rels/notesSlide3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9.xml"/></Relationships>
</file>

<file path=ppt/notesSlides/_rels/notesSlide3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0.xml"/></Relationships>
</file>

<file path=ppt/notesSlides/_rels/notesSlide3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1.xml"/></Relationships>
</file>

<file path=ppt/notesSlides/_rels/notesSlide3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2.xml"/></Relationships>
</file>

<file path=ppt/notesSlides/_rels/notesSlide3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3.xml"/></Relationships>
</file>

<file path=ppt/notesSlides/_rels/notesSlide3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4.xml"/></Relationships>
</file>

<file path=ppt/notesSlides/_rels/notesSlide3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5.xml"/></Relationships>
</file>

<file path=ppt/notesSlides/_rels/notesSlide3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6.xml"/></Relationships>
</file>

<file path=ppt/notesSlides/_rels/notesSlide3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7.xml"/></Relationships>
</file>

<file path=ppt/notesSlides/_rels/notesSlide3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8.xml"/></Relationships>
</file>

<file path=ppt/notesSlides/_rels/notesSlide3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9.xml"/></Relationships>
</file>

<file path=ppt/notesSlides/_rels/notesSlide3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0.xml"/></Relationships>
</file>

<file path=ppt/notesSlides/_rels/notesSlide3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1.xml"/></Relationships>
</file>

<file path=ppt/notesSlides/_rels/notesSlide3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2.xml"/></Relationships>
</file>

<file path=ppt/notesSlides/_rels/notesSlide3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7.xml"/></Relationships>
</file>

<file path=ppt/notesSlides/_rels/notesSlide3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8.xml"/></Relationships>
</file>

<file path=ppt/notesSlides/_rels/notesSlide3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9.xml"/></Relationships>
</file>

<file path=ppt/notesSlides/_rels/notesSlide3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0.xml"/></Relationships>
</file>

<file path=ppt/notesSlides/_rels/notesSlide3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1.xml"/></Relationships>
</file>

<file path=ppt/notesSlides/_rels/notesSlide3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2.xml"/></Relationships>
</file>

<file path=ppt/notesSlides/_rels/notesSlide3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3.xml"/></Relationships>
</file>

<file path=ppt/notesSlides/_rels/notesSlide3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4.xml"/></Relationships>
</file>

<file path=ppt/notesSlides/_rels/notesSlide3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5.xml"/></Relationships>
</file>

<file path=ppt/notesSlides/_rels/notesSlide3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6.xml"/></Relationships>
</file>

<file path=ppt/notesSlides/_rels/notesSlide3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7.xml"/></Relationships>
</file>

<file path=ppt/notesSlides/_rels/notesSlide3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8.xml"/></Relationships>
</file>

<file path=ppt/notesSlides/_rels/notesSlide3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9.xml"/></Relationships>
</file>

<file path=ppt/notesSlides/_rels/notesSlide3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0.xml"/></Relationships>
</file>

<file path=ppt/notesSlides/_rels/notesSlide3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1.xml"/></Relationships>
</file>

<file path=ppt/notesSlides/_rels/notesSlide3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2.xml"/></Relationships>
</file>

<file path=ppt/notesSlides/_rels/notesSlide3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3.xml"/></Relationships>
</file>

<file path=ppt/notesSlides/_rels/notesSlide3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4.xml"/></Relationships>
</file>

<file path=ppt/notesSlides/_rels/notesSlide3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5.xml"/></Relationships>
</file>

<file path=ppt/notesSlides/_rels/notesSlide3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6.xml"/></Relationships>
</file>

<file path=ppt/notesSlides/_rels/notesSlide3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7.xml"/></Relationships>
</file>

<file path=ppt/notesSlides/_rels/notesSlide3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8.xml"/></Relationships>
</file>

<file path=ppt/notesSlides/_rels/notesSlide3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9.xml"/></Relationships>
</file>

<file path=ppt/notesSlides/_rels/notesSlide3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0.xml"/></Relationships>
</file>

<file path=ppt/notesSlides/_rels/notesSlide3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5.xml"/></Relationships>
</file>

<file path=ppt/notesSlides/_rels/notesSlide3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6.xml"/></Relationships>
</file>

<file path=ppt/notesSlides/_rels/notesSlide3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7.xml"/></Relationships>
</file>

<file path=ppt/notesSlides/_rels/notesSlide3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8.xml"/></Relationships>
</file>

<file path=ppt/notesSlides/_rels/notesSlide3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9.xml"/></Relationships>
</file>

<file path=ppt/notesSlides/_rels/notesSlide3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0.xml"/></Relationships>
</file>

<file path=ppt/notesSlides/_rels/notesSlide3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1.xml"/></Relationships>
</file>

<file path=ppt/notesSlides/_rels/notesSlide3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2.xml"/></Relationships>
</file>

<file path=ppt/notesSlides/_rels/notesSlide3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3.xml"/></Relationships>
</file>

<file path=ppt/notesSlides/_rels/notesSlide3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4.xml"/></Relationships>
</file>

<file path=ppt/notesSlides/_rels/notesSlide3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5.xml"/></Relationships>
</file>

<file path=ppt/notesSlides/_rels/notesSlide3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6.xml"/></Relationships>
</file>

<file path=ppt/notesSlides/_rels/notesSlide3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7.xml"/></Relationships>
</file>

<file path=ppt/notesSlides/_rels/notesSlide3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8.xml"/></Relationships>
</file>

<file path=ppt/notesSlides/_rels/notesSlide3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9.xml"/></Relationships>
</file>

<file path=ppt/notesSlides/_rels/notesSlide3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4.xml"/></Relationships>
</file>

<file path=ppt/notesSlides/_rels/notesSlide3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5.xml"/></Relationships>
</file>

<file path=ppt/notesSlides/_rels/notesSlide3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6.xml"/></Relationships>
</file>

<file path=ppt/notesSlides/_rels/notesSlide3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7.xml"/></Relationships>
</file>

<file path=ppt/notesSlides/_rels/notesSlide3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8.xml"/></Relationships>
</file>

<file path=ppt/notesSlides/_rels/notesSlide3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9.xml"/></Relationships>
</file>

<file path=ppt/notesSlides/_rels/notesSlide3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0.xml"/></Relationships>
</file>

<file path=ppt/notesSlides/_rels/notesSlide3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1.xml"/></Relationships>
</file>

<file path=ppt/notesSlides/_rels/notesSlide3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2.xml"/></Relationships>
</file>

<file path=ppt/notesSlides/_rels/notesSlide3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3.xml"/></Relationships>
</file>

<file path=ppt/notesSlides/_rels/notesSlide3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4.xml"/></Relationships>
</file>

<file path=ppt/notesSlides/_rels/notesSlide3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5.xml"/></Relationships>
</file>

<file path=ppt/notesSlides/_rels/notesSlide3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6.xml"/></Relationships>
</file>

<file path=ppt/notesSlides/_rels/notesSlide3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1.xml"/></Relationships>
</file>

<file path=ppt/notesSlides/_rels/notesSlide3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2.xml"/></Relationships>
</file>

<file path=ppt/notesSlides/_rels/notesSlide3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3.xml"/></Relationships>
</file>

<file path=ppt/notesSlides/_rels/notesSlide3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4.xml"/></Relationships>
</file>

<file path=ppt/notesSlides/_rels/notesSlide3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5.xml"/></Relationships>
</file>

<file path=ppt/notesSlides/_rels/notesSlide3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6.xml"/></Relationships>
</file>

<file path=ppt/notesSlides/_rels/notesSlide3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7.xml"/></Relationships>
</file>

<file path=ppt/notesSlides/_rels/notesSlide3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8.xml"/></Relationships>
</file>

<file path=ppt/notesSlides/_rels/notesSlide3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9.xml"/></Relationships>
</file>

<file path=ppt/notesSlides/_rels/notesSlide3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0.xml"/></Relationships>
</file>

<file path=ppt/notesSlides/_rels/notesSlide3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1.xml"/></Relationships>
</file>

<file path=ppt/notesSlides/_rels/notesSlide3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2.xml"/></Relationships>
</file>

<file path=ppt/notesSlides/_rels/notesSlide3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3.xml"/></Relationships>
</file>

<file path=ppt/notesSlides/_rels/notesSlide3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4.xml"/></Relationships>
</file>

<file path=ppt/notesSlides/_rels/notesSlide3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5.xml"/></Relationships>
</file>

<file path=ppt/notesSlides/_rels/notesSlide3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6.xml"/></Relationships>
</file>

<file path=ppt/notesSlides/_rels/notesSlide4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7.xml"/></Relationships>
</file>

<file path=ppt/notesSlides/_rels/notesSlide4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8.xml"/></Relationships>
</file>

<file path=ppt/notesSlides/_rels/notesSlide4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3.xml"/></Relationships>
</file>

<file path=ppt/notesSlides/_rels/notesSlide4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4.xml"/></Relationships>
</file>

<file path=ppt/notesSlides/_rels/notesSlide4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5.xml"/></Relationships>
</file>

<file path=ppt/notesSlides/_rels/notesSlide4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6.xml"/></Relationships>
</file>

<file path=ppt/notesSlides/_rels/notesSlide4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7.xml"/></Relationships>
</file>

<file path=ppt/notesSlides/_rels/notesSlide4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8.xml"/></Relationships>
</file>

<file path=ppt/notesSlides/_rels/notesSlide4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9.xml"/></Relationships>
</file>

<file path=ppt/notesSlides/_rels/notesSlide4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0.xml"/></Relationships>
</file>

<file path=ppt/notesSlides/_rels/notesSlide4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1.xml"/></Relationships>
</file>

<file path=ppt/notesSlides/_rels/notesSlide4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2.xml"/></Relationships>
</file>

<file path=ppt/notesSlides/_rels/notesSlide4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3.xml"/></Relationships>
</file>

<file path=ppt/notesSlides/_rels/notesSlide4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4.xml"/></Relationships>
</file>

<file path=ppt/notesSlides/_rels/notesSlide4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5.xml"/></Relationships>
</file>

<file path=ppt/notesSlides/_rels/notesSlide4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6.xml"/></Relationships>
</file>

<file path=ppt/notesSlides/_rels/notesSlide4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7.xml"/></Relationships>
</file>

<file path=ppt/notesSlides/_rels/notesSlide4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8.xml"/></Relationships>
</file>

<file path=ppt/notesSlides/_rels/notesSlide4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9.xml"/></Relationships>
</file>

<file path=ppt/notesSlides/_rels/notesSlide4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0.xml"/></Relationships>
</file>

<file path=ppt/notesSlides/_rels/notesSlide4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1.xml"/></Relationships>
</file>

<file path=ppt/notesSlides/_rels/notesSlide4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2.xml"/></Relationships>
</file>

<file path=ppt/notesSlides/_rels/notesSlide4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3.xml"/></Relationships>
</file>

<file path=ppt/notesSlides/_rels/notesSlide4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4.xml"/></Relationships>
</file>

<file path=ppt/notesSlides/_rels/notesSlide4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9.xml"/></Relationships>
</file>

<file path=ppt/notesSlides/_rels/notesSlide4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0.xml"/></Relationships>
</file>

<file path=ppt/notesSlides/_rels/notesSlide4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1.xml"/></Relationships>
</file>

<file path=ppt/notesSlides/_rels/notesSlide4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2.xml"/></Relationships>
</file>

<file path=ppt/notesSlides/_rels/notesSlide4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3.xml"/></Relationships>
</file>

<file path=ppt/notesSlides/_rels/notesSlide4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4.xml"/></Relationships>
</file>

<file path=ppt/notesSlides/_rels/notesSlide4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5.xml"/></Relationships>
</file>

<file path=ppt/notesSlides/_rels/notesSlide4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6.xml"/></Relationships>
</file>

<file path=ppt/notesSlides/_rels/notesSlide4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7.xml"/></Relationships>
</file>

<file path=ppt/notesSlides/_rels/notesSlide4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8.xml"/></Relationships>
</file>

<file path=ppt/notesSlides/_rels/notesSlide4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9.xml"/></Relationships>
</file>

<file path=ppt/notesSlides/_rels/notesSlide4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0.xml"/></Relationships>
</file>

<file path=ppt/notesSlides/_rels/notesSlide4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1.xml"/></Relationships>
</file>

<file path=ppt/notesSlides/_rels/notesSlide4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2.xml"/></Relationships>
</file>

<file path=ppt/notesSlides/_rels/notesSlide4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7.xml"/></Relationships>
</file>

<file path=ppt/notesSlides/_rels/notesSlide4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8.xml"/></Relationships>
</file>

<file path=ppt/notesSlides/_rels/notesSlide4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9.xml"/></Relationships>
</file>

<file path=ppt/notesSlides/_rels/notesSlide4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0.xml"/></Relationships>
</file>

<file path=ppt/notesSlides/_rels/notesSlide4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1.xml"/></Relationships>
</file>

<file path=ppt/notesSlides/_rels/notesSlide4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2.xml"/></Relationships>
</file>

<file path=ppt/notesSlides/_rels/notesSlide4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3.xml"/></Relationships>
</file>

<file path=ppt/notesSlides/_rels/notesSlide4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4.xml"/></Relationships>
</file>

<file path=ppt/notesSlides/_rels/notesSlide4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5.xml"/></Relationships>
</file>

<file path=ppt/notesSlides/_rels/notesSlide4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6.xml"/></Relationships>
</file>

<file path=ppt/notesSlides/_rels/notesSlide4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7.xml"/></Relationships>
</file>

<file path=ppt/notesSlides/_rels/notesSlide4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8.xml"/></Relationships>
</file>

<file path=ppt/notesSlides/_rels/notesSlide4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9.xml"/></Relationships>
</file>

<file path=ppt/notesSlides/_rels/notesSlide4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0.xml"/></Relationships>
</file>

<file path=ppt/notesSlides/_rels/notesSlide4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1.xml"/></Relationships>
</file>

<file path=ppt/notesSlides/_rels/notesSlide4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2.xml"/></Relationships>
</file>

<file path=ppt/notesSlides/_rels/notesSlide4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7.xml"/></Relationships>
</file>

<file path=ppt/notesSlides/_rels/notesSlide4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8.xml"/></Relationships>
</file>

<file path=ppt/notesSlides/_rels/notesSlide4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9.xml"/></Relationships>
</file>

<file path=ppt/notesSlides/_rels/notesSlide4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0.xml"/></Relationships>
</file>

<file path=ppt/notesSlides/_rels/notesSlide4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1.xml"/></Relationships>
</file>

<file path=ppt/notesSlides/_rels/notesSlide4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2.xml"/></Relationships>
</file>

<file path=ppt/notesSlides/_rels/notesSlide4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3.xml"/></Relationships>
</file>

<file path=ppt/notesSlides/_rels/notesSlide4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4.xml"/></Relationships>
</file>

<file path=ppt/notesSlides/_rels/notesSlide4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5.xml"/></Relationships>
</file>

<file path=ppt/notesSlides/_rels/notesSlide4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6.xml"/></Relationships>
</file>

<file path=ppt/notesSlides/_rels/notesSlide4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7.xml"/></Relationships>
</file>

<file path=ppt/notesSlides/_rels/notesSlide4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8.xml"/></Relationships>
</file>

<file path=ppt/notesSlides/_rels/notesSlide4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9.xml"/></Relationships>
</file>

<file path=ppt/notesSlides/_rels/notesSlide4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0.xml"/></Relationships>
</file>

<file path=ppt/notesSlides/_rels/notesSlide4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1.xml"/></Relationships>
</file>

<file path=ppt/notesSlides/_rels/notesSlide4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2.xml"/></Relationships>
</file>

<file path=ppt/notesSlides/_rels/notesSlide4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7.xml"/></Relationships>
</file>

<file path=ppt/notesSlides/_rels/notesSlide4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8.xml"/></Relationships>
</file>

<file path=ppt/notesSlides/_rels/notesSlide4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9.xml"/></Relationships>
</file>

<file path=ppt/notesSlides/_rels/notesSlide4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0.xml"/></Relationships>
</file>

<file path=ppt/notesSlides/_rels/notesSlide4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1.xml"/></Relationships>
</file>

<file path=ppt/notesSlides/_rels/notesSlide4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2.xml"/></Relationships>
</file>

<file path=ppt/notesSlides/_rels/notesSlide4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3.xml"/></Relationships>
</file>

<file path=ppt/notesSlides/_rels/notesSlide4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4.xml"/></Relationships>
</file>

<file path=ppt/notesSlides/_rels/notesSlide4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5.xml"/></Relationships>
</file>

<file path=ppt/notesSlides/_rels/notesSlide4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6.xml"/></Relationships>
</file>

<file path=ppt/notesSlides/_rels/notesSlide4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7.xml"/></Relationships>
</file>

<file path=ppt/notesSlides/_rels/notesSlide4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8.xml"/></Relationships>
</file>

<file path=ppt/notesSlides/_rels/notesSlide4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9.xml"/></Relationships>
</file>

<file path=ppt/notesSlides/_rels/notesSlide4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0.xml"/></Relationships>
</file>

<file path=ppt/notesSlides/_rels/notesSlide4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1.xml"/></Relationships>
</file>

<file path=ppt/notesSlides/_rels/notesSlide4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2.xml"/></Relationships>
</file>

<file path=ppt/notesSlides/_rels/notesSlide4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3.xml"/></Relationships>
</file>

<file path=ppt/notesSlides/_rels/notesSlide4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4.xml"/></Relationships>
</file>

<file path=ppt/notesSlides/_rels/notesSlide4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5.xml"/></Relationships>
</file>

<file path=ppt/notesSlides/_rels/notesSlide4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6.xml"/></Relationships>
</file>

<file path=ppt/notesSlides/_rels/notesSlide4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1.xml"/></Relationships>
</file>

<file path=ppt/notesSlides/_rels/notesSlide4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2.xml"/></Relationships>
</file>

<file path=ppt/notesSlides/_rels/notesSlide4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3.xml"/></Relationships>
</file>

<file path=ppt/notesSlides/_rels/notesSlide4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4.xml"/></Relationships>
</file>

<file path=ppt/notesSlides/_rels/notesSlide4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5.xml"/></Relationships>
</file>

<file path=ppt/notesSlides/_rels/notesSlide4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6.xml"/></Relationships>
</file>

<file path=ppt/notesSlides/_rels/notesSlide4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7.xml"/></Relationships>
</file>

<file path=ppt/notesSlides/_rels/notesSlide4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8.xml"/></Relationships>
</file>

<file path=ppt/notesSlides/_rels/notesSlide4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9.xml"/></Relationships>
</file>

<file path=ppt/notesSlides/_rels/notesSlide4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0.xml"/></Relationships>
</file>

<file path=ppt/notesSlides/_rels/notesSlide5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1.xml"/></Relationships>
</file>

<file path=ppt/notesSlides/_rels/notesSlide5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2.xml"/></Relationships>
</file>

<file path=ppt/notesSlides/_rels/notesSlide5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3.xml"/></Relationships>
</file>

<file path=ppt/notesSlides/_rels/notesSlide5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4.xml"/></Relationships>
</file>

<file path=ppt/notesSlides/_rels/notesSlide5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5.xml"/></Relationships>
</file>

<file path=ppt/notesSlides/_rels/notesSlide5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6.xml"/></Relationships>
</file>

<file path=ppt/notesSlides/_rels/notesSlide5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7.xml"/></Relationships>
</file>

<file path=ppt/notesSlides/_rels/notesSlide5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生命科学实验离不开细胞、微生物和各种生物样本。与其他实验室相比，生物实验室除了化学品、仪器设备、用电等常见危险，还多了一类生物危害：细菌、病毒等病原体肉眼看不见，却可能让健康人感染生病。</a:t>
            </a:r>
          </a:p>
          <a:p>
            <a:r>
              <a:t>风险往往就在手边：血液等样本可能带有病原；针头、刀片等锐器可能刺伤皮肤；移液、混匀、离心等操作可能产生肉眼看不见的气溶胶。微生物实验室的危害来自三方面——活的微生物、消毒剂和化学试剂、各种仪器设备，所以各方面的安全措施都不能少。</a:t>
            </a:r>
          </a:p>
          <a:p>
            <a:r>
              <a:t>实验室门口的生物危害标志就是提醒：门后有生物危害，进门要遵守本实验室的规定。学习本章时做好笔记，没弄懂的地方回头再看，或请教老师。</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因子与化学品不同：它能在人群中传播。一旦从实验室失控逸出，受害的可能不只是操作者本人，还可能引起疾病流行，威胁整个社会的公共卫生。随着新发传染病不断出现，生物因子对公众健康的威胁也在增加。</a:t>
            </a:r>
          </a:p>
          <a:p>
            <a:r>
              <a:t>学习生物安全常会遇到几个词：指示病例（一起疫情中最先被发现、引起关注的病例）；医院内感染（在医疗机构内获得的感染）；经皮肤刺伤（经锐器刺破皮肤造成的暴露）；流行病学（研究疾病在人群中分布和传播规律的学科）。</a:t>
            </a:r>
          </a:p>
          <a:p>
            <a:r>
              <a:t>研发诊断方法、疫苗和治疗药物，都离不开对病原的研究；只有先把风险管好，研究才能持续开展。生物安全不是某一家实验室的事，而是每个国家、每个单位、每个实验室共同的责任。</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生物安全，讲的是怎样安全地操作有感染性的微生物和其他有危害的生物材料，并把它们控制、封闭（也称“防护”或“封闭”）在规定的范围内。所谓防护，就是给生物因子划定边界，让它留在设备和设施里，不逸出伤人。</a:t>
            </a:r>
          </a:p>
          <a:p>
            <a:r>
              <a:t>GB 19489-2008 对实验室生物安全的表述是：实验室的生物安全条件和状态不低于容许水平，可避免实验室人员、来访人员、社区及环境受到不可接受的损害，符合相关法规、标准等对实验室生物安全责任的要求（以现行文本为准）。《中华人民共和国生物安全法》则把生物安全放在国家安全的高度，病原微生物实验室生物安全是其中的重要内容。</a:t>
            </a:r>
          </a:p>
          <a:p>
            <a:r>
              <a:t>实验室安全包括很多方面，而在微生物实验室，最核心的就是生物安全：既护住自己，也不让微生物跑出去。</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生物安全依靠规范的做法、程序和设备，保护三方面：一是实验室工作人员；二是实验室和周边环境；三是社区公众。</a:t>
            </a:r>
          </a:p>
          <a:p>
            <a:r>
              <a:t>具体目标有两个：一是防止实验室获得性感染，即工作人员在实验中被感染；二是防止病原意外释放，即感染性材料因泄漏、设施故障或带出实验室而扩散到外界。防意外暴露、防病原外泄，挡住的是感染因子、毒素等各种生物危害。</a:t>
            </a:r>
          </a:p>
          <a:p>
            <a:r>
              <a:t>保护自己，保护实验室，也就保护了身边的每个人。</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这三个词常放在一起，含义不同：生物危害，是指可能对人、动物、植物或环境造成伤害的生物因子或材料；生物安全（实验室生物安全），重点防的是无意中的暴露和释放，比如操作失误、设施故障、防护失效，虽然不是故意的，也会危害人员和公众；生物安保，重点防的是生物材料被丢失、被盗、被滥用或被故意释放。</a:t>
            </a:r>
          </a:p>
          <a:p>
            <a:r>
              <a:t>三者互相咬合：认清危害是前提，生物安全措施防止意外，生物安保措施防止人为故意。实验室既要做好生物安全，也要管好菌（毒）种和样本的保管、登记和交接。生物安保的具体要求见第 083 课。</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生物安全工作有两大原则：一是风险评估，二是防护。</a:t>
            </a:r>
          </a:p>
          <a:p>
            <a:r>
              <a:t>风险评估在前：开展实验前，弄清要操作的病原或材料有什么危害、怎么操作、谁来操作、在哪里操作，判断风险有多大。防护在后：按评估结果，选择相应级别的实验室、安全设备、个人防护装备和操作规程。没有评估，防护就可能不足或过度。生物风险评估的具体步骤见第 067 课。</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护不是一样东西，而是一整套：规范的操作方法和程序（如规程、培训、良好的微生物操作习惯）；专门的安全设备（如生物安全柜、密封离心杯、个人防护装备）；专门设计的实验室设施（如分区、门禁、通风、洗手和消毒灭菌设施）。</a:t>
            </a:r>
          </a:p>
          <a:p>
            <a:r>
              <a:t>三要素要配套使用，合起来才是一套防护体系，缺一环就可能出事。例如有生物安全柜但不按规程操作，或操作规范但实验室级别不够，防护都有漏洞。</a:t>
            </a:r>
          </a:p>
          <a:p>
            <a:r>
              <a:t>防护的目的是减少暴露：人不暴露，环境也不暴露。能消除危害的先消除（如不必要的操作不做），不能消除的尽量减少（如用安全设备、做好个人防护）。生物安全柜的原理和使用见第 071、072 课。</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5P 是评估生物风险时常用的五个要素：</a:t>
            </a:r>
          </a:p>
          <a:p>
            <a:r>
              <a:t>1. 病原：先弄清操作的是什么，查《人间传染的病原微生物目录》确定危害程度和所需防护水平。注意：我国把病原微生物按危害程度分为四类，第一类危害最大、第四类最小；国际上通行的“风险组”则是 1 组最低、4 组最高，两者顺序相反，不能混用（详见第 058 课）。</a:t>
            </a:r>
          </a:p>
          <a:p>
            <a:r>
              <a:t>2. 人员：谁来做，能力和健康状况是否合适；先培训、考核合格，才能上岗。</a:t>
            </a:r>
          </a:p>
          <a:p>
            <a:r>
              <a:t>3. 场所：实验室的防护级别要与病原危害和实验活动相匹配（实验室分级见第 059 课）。</a:t>
            </a:r>
          </a:p>
          <a:p>
            <a:r>
              <a:t>4. 个人防护：按评估结果选择防护装备（见第 074 课）。</a:t>
            </a:r>
          </a:p>
          <a:p>
            <a:r>
              <a:t>5. 规程：操作步骤写清楚，照着做。</a:t>
            </a:r>
          </a:p>
          <a:p>
            <a:r>
              <a:t>五个 P 相互影响，要一起看，才能定准风险，再决定采取哪些控制措施；哪个 P 薄弱就先补哪个，短板补上，风险才真正降下来。在此之上还有安全文化：人人尽责，安全才稳。如何确定具体实验的防护等级见第 060 课。</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开展生物实验，首先要遵守国家法规。我国生物安全的主要依据包括：</a:t>
            </a:r>
          </a:p>
          <a:p>
            <a:r>
              <a:t>- 《中华人民共和国生物安全法》：生物安全领域的基础性法律，对病原微生物实验室生物安全管理、法律责任等作出规定。</a:t>
            </a:r>
          </a:p>
          <a:p>
            <a:r>
              <a:t>- 《病原微生物实验室生物安全管理条例》：把病原微生物按危害程度分为四类，把实验室按生物安全防护水平分为一级至四级，规定各级实验室可以从事的实验活动、备案和审批要求。</a:t>
            </a:r>
          </a:p>
          <a:p>
            <a:r>
              <a:t>- GB 19489-2008《实验室 生物安全通用要求》（国家标准）和 WS 233《病原微生物实验室生物安全通用准则》（行业标准）：规定风险评估、设施设备、管理体系等技术和管理要求（均以现行文本为准）。</a:t>
            </a:r>
          </a:p>
          <a:p>
            <a:r>
              <a:t>- 《人间传染的病原微生物目录》（以现行版本为准）：查病原的危害程度分类和各类实验活动所需的防护水平。</a:t>
            </a:r>
          </a:p>
          <a:p>
            <a:r>
              <a:t>- 本校生物安全管理制度。</a:t>
            </a:r>
          </a:p>
          <a:p>
            <a:r>
              <a:t>实验人员的职业安全同样有法可依：单位要为实验人员提供防护装备、培训和健康监护。开展生物实验前先做风险评估，在相应防护级别的实验室里进行。法规体系的总体框架见第 002 课。</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国际上有通行的实验室生物安全手册，从生物安全的一般原则讲起，涵盖风险评估、防护、设备、培训等内容，是学习和参照的好起点。</a:t>
            </a:r>
          </a:p>
          <a:p>
            <a:r>
              <a:t>但任何国际手册都只能在本国法律框架内使用：国家和地方法规优先，国际手册作为补充和背景；其中引用的国外法规、数值和做法不能直接照搬。在我国，一切做法以国内法律法规、国家标准、行业标准和本校规定为准。</a:t>
            </a:r>
          </a:p>
          <a:p>
            <a:r>
              <a:t>落脚点是本土化：每个实验室都要依据国家标准和本单位制度，编写适合本实验室的安全手册和操作规程，并让每个人知晓。</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合规，就是遵守法律、法规、标准和规则。遵守国家和地方的法律法规、标准，是外部合规；遵守本单位的方针、制度和规程，是内部合规。</a:t>
            </a:r>
          </a:p>
          <a:p>
            <a:r>
              <a:t>实验室要把适用的要求找全：国家法律法规、国家标准和行业标准、地方规定、学校和学院的制度，逐项对照、逐项落实，一项不落。可以问问自己：我们遵从哪些法律、指南、伦理要求、规范和标准？翻一翻本实验室的制度和记录，就知道合规做到了哪一步。</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按《病原微生物实验室生物安全管理条例》等规定（以现行文本为准）：新建、改建、扩建一级、二级生物安全实验室，按规定向主管部门备案；三级、四级实验室须通过国家认可，开展高致病性病原微生物相关实验活动还须经批准。具体程序以现行规定和本校规定为准。</a:t>
            </a:r>
          </a:p>
          <a:p>
            <a:r>
              <a:t>学生不得擅自开展高致病性病原微生物或未经评估审批的实验活动，不得在防护级别不够的实验室里做高级别的实验（越级操作），不得私自带出、转移、赠送菌（毒）种和样本。</a:t>
            </a:r>
          </a:p>
          <a:p>
            <a:r>
              <a:t>违反生物安全法律法规，要承担相应的法律责任。守规矩，既是保护自己，也是保护大家。</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生物安全的知识和法规在不断更新，要持续学习新知识、新规定，按要求参加复训。</a:t>
            </a:r>
          </a:p>
          <a:p>
            <a:r>
              <a:t>工作中对异常保持警觉：设备报警、气流异常、样本容器破损、身体不适等，都要立即停止操作，报告实验室负责人，按本校规定处理。</a:t>
            </a:r>
          </a:p>
          <a:p>
            <a:r>
              <a:t>把风险挡在实验室里、防患于未然，靠的是每个人。生物安全的组织和责任见第 070 课，安全文化见第 010 课。</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答案：B。解析：我国按危害程度把病原微生物分为四类，第一类危害最大、第四类最小；国际风险组 1 组最低、4 组最高，顺序相反。</a:t>
            </a:r>
          </a:p>
          <a:p>
            <a:r>
              <a:t>第 2 题 答案：B。解析：生物安全保护人员、环境和公众，目标是防止实验室获得性感染和防止病原意外释放。</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答案：C。解析：生物安全重点防无意的暴露和释放，生物安保重点防丢失、被盗、被滥用和故意释放，二者相辅相成。</a:t>
            </a:r>
          </a:p>
          <a:p>
            <a:r>
              <a:t>第 4 题 答案：D。解析：5P 指病原、人员、场所、个人防护、规程，五个要素一起看才能定准风险。</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答案：B。解析：国际手册只作参考，必须在国内法律框架内使用，以国内法规、国家标准、行业标准和本校规定为准。</a:t>
            </a:r>
          </a:p>
          <a:p>
            <a:r>
              <a:t>第 6 题 答案：属于越级操作和私带样本，违反生物安全法规和本校规定，要承担法律责任；应先做风险评估，在相应防护级别的实验室开展并按规定审批，样本不得带出实验室。解析：守规矩既保护自己，也保护公众。</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生物因子是指可能对人体健康造成危害的微生物和其他生物材料，包括细菌、病毒、真菌及其他微生物，寄生虫，朊病毒这样的致病蛋白颗粒，以及它们产生的毒素等。</a:t>
            </a:r>
          </a:p>
          <a:p>
            <a:r>
              <a:t>关键在于它们会损害人的健康：轻则引起过敏，重则引起疾病甚至死亡。凡能对人造成危害的生物因子，都要纳入管理，做风险评估、按规定防护。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不同生物因子的特点不同，决定了防护的重点：</a:t>
            </a:r>
          </a:p>
          <a:p>
            <a:r>
              <a:t>- 细菌：不少来自土壤和水。有的能形成芽孢，对干燥、高温、消毒剂耐受力很强，在环境中能长期存活，操作时要特别注意防气溶胶，灭菌要彻底。支原体是一类没有细胞壁的细菌，作用于细胞壁的抗生素对它无效，常侵犯呼吸道。</a:t>
            </a:r>
          </a:p>
          <a:p>
            <a:r>
              <a:t>- 病毒：只能在活细胞内复制。有的能引起出血热等严重甚至致命的疾病，很多还没有特效药。</a:t>
            </a:r>
          </a:p>
          <a:p>
            <a:r>
              <a:t>- 真菌：酵母类中有带荚膜的致病种类，对免疫力低下的人尤其危险；霉菌等丝状真菌靠孢子随空气扩散，有的来自鸟粪和土壤，有的能产生毒素。免疫力低下时，常见的真菌也可能致病。</a:t>
            </a:r>
          </a:p>
          <a:p>
            <a:r>
              <a:t>这些特点在风险评估和选择消毒灭菌方法时都要考虑（评估要素见第 068 课，消毒灭菌见第 076 课）。</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除细菌、病毒、真菌外，还有几类特殊的生物因子：</a:t>
            </a:r>
          </a:p>
          <a:p>
            <a:r>
              <a:t>- 朊病毒：一类具有感染性的蛋白颗粒，比较少见，可引起人和动物的慢性神经退行性疾病，对常规消毒灭菌方法抵抗力强，处理要求特殊，按本校规定和专门规程执行。</a:t>
            </a:r>
          </a:p>
          <a:p>
            <a:r>
              <a:t>- 感染性核酸：有些病毒的核酸本身就有感染性，操作核酸同样不能大意。</a:t>
            </a:r>
          </a:p>
          <a:p>
            <a:r>
              <a:t>- 寄生虫和媒介：血液寄生虫、作为中间宿主的螺，以及能传播疾病的蜱、蚤等节肢动物，都要纳入管理（实验动物与媒介生物见第 084 课）。</a:t>
            </a:r>
          </a:p>
          <a:p>
            <a:r>
              <a:t>- 生物毒素：不是活体，不会繁殖，但毒性可以很强，同样要按危险材料管理（见第 069 课）。</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病原按风险高低分组，主要看两方面：一是对个体的风险——引起的疾病有多严重，有没有有效的治疗和预防手段；二是对群体（社区）的风险——会不会在人与人、动物与人之间传播，传开后对公众、家畜和环境的影响有多大。</a:t>
            </a:r>
          </a:p>
          <a:p>
            <a:r>
              <a:t>国际上通行的风险组和我国的危害程度分类，都是从这两方面判断的，但编号方向相反（见 K7）。</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国际上通行把生物因子分为四个风险组，数字越大风险越高：1 组最低、4 组最高（注意：与我国病原分类的编号方向相反，见 K7）。</a:t>
            </a:r>
          </a:p>
          <a:p>
            <a:r>
              <a:t>- 第 1 组：个体风险低、群体风险低。一般不会让健康成人或动物生病，例如常用的大肠杆菌实验室菌株、用于发酵的微生物。风险低，也要按规范操作。</a:t>
            </a:r>
          </a:p>
          <a:p>
            <a:r>
              <a:t>- 第 2 组：个体风险中等、群体风险低。能让人或动物生病，但对实验人员、社区、家畜和环境危害不大；实验室暴露也可能引起严重感染，但有有效的治疗和预防手段，感染扩散的风险有限。</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第 3 组：个体风险高、群体风险低（或低到中等）。通常引起人或动物的严重疾病，甚至可能致死，但一般不会在人与人之间传开，而且一般有有效的治疗和预防手段。</a:t>
            </a:r>
          </a:p>
          <a:p>
            <a:r>
              <a:t>- 第 4 组：个体风险和群体风险都高。可引起人或动物的严重乃至致命的疾病，容易直接或间接在人与人、动物与人之间传播，通常没有有效的治疗和预防手段，只能在最高防护级别的设施里操作。</a:t>
            </a:r>
          </a:p>
          <a:p>
            <a:r>
              <a:t>学生实验不涉及这些高风险病原；相关实验活动在国内属于高致病性病原微生物管理范围（见 K9）。</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按《病原微生物实验室生物安全管理条例》（以现行文本为准），我国根据传染性、感染后对个体或群体的危害程度，把病原微生物分为四类：</a:t>
            </a:r>
          </a:p>
          <a:p>
            <a:r>
              <a:t>- 第一类：能够引起人类或者动物非常严重疾病的微生物，以及我国尚未发现或者已经宣布消灭的微生物；</a:t>
            </a:r>
          </a:p>
          <a:p>
            <a:r>
              <a:t>- 第二类：能够引起人类或者动物严重疾病，比较容易直接或者间接在人与人、动物与人、动物与动物间传播的微生物；</a:t>
            </a:r>
          </a:p>
          <a:p>
            <a:r>
              <a:t>- 第三类：能够引起人类或者动物疾病，但一般情况下对人、动物或者环境不构成严重危害，传播风险有限，实验室感染后很少引起严重疾病，并且具备有效治疗和预防措施的微生物；</a:t>
            </a:r>
          </a:p>
          <a:p>
            <a:r>
              <a:t>- 第四类：在通常情况下不会引起人类或者动物疾病的微生物。</a:t>
            </a:r>
          </a:p>
          <a:p>
            <a:r>
              <a:t>一定要记住：国内数字越小越危险，国际数字越大越危险。国际第 4 组大致对应国内第一类、国际第 1 组大致对应国内第四类，但这只是大致对应，不能机械换算；某种病原属于第几类，以国内目录为准（见 K10）。填表、写报告和标签时，注明用的是哪一套编号，不要混写。</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与病原分类不同，生物安全实验室的防护级别国内外方向一致：一级（BSL-1）最低，四级（BSL-4）最高（分级见第 059 课）。</a:t>
            </a:r>
          </a:p>
          <a:p>
            <a:r>
              <a:t>所以不能把病原的“第几类”和实验室的“第几级”简单对号入座：国内第一类病原危害最大，需要的是高级别实验室，绝不是一级实验室。具体某项实验在哪一级实验室做，先查目录中该实验活动所需的级别，再结合风险评估确定（定级步骤见第 060 课）。</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一类、第二类病原微生物统称为高致病性病原微生物。按《病原微生物实验室生物安全管理条例》（以现行文本为准），从事高致病性病原微生物相关实验活动，须在相应防护级别的实验室进行，并按规定报经批准。</a:t>
            </a:r>
          </a:p>
          <a:p>
            <a:r>
              <a:t>学生不得擅自开展涉及高致病性病原微生物的实验，也不得接触、索要、私自保存这类菌（毒）种和样本。任何涉及病原微生物的实验，都要先经导师和单位按本校规定审查。</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某种病原属于第几类、做什么实验需要几级实验室，以国家卫生健康委发布的《人间传染的病原微生物目录》（以现行版本为准）为准。目录按病毒、细菌类、真菌、朊病毒等列出各病原的危害程度分类，并分别写明不同实验活动（如培养、动物感染实验、未经培养的感染材料操作、灭活材料和无感染性材料操作）所需的实验室防护级别，以及运输包装要求。</a:t>
            </a:r>
          </a:p>
          <a:p>
            <a:r>
              <a:t>同一病原，实验活动不同，所需级别也可能不同。国外资料和网上名单的归类可能与国内不一样，只能作参考；目录会修订，查分类和防护要求时要用现行最新版本，不要使用网上流传的旧表格。</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录没有列出的微生物（包括新分离的、来源不明的）不能自行认定为低风险。应先由项目负责人组织风险评估，提出建议的防护级别和措施，报单位生物安全委员会审查确定；批准后，按确定的级别和防护开展实验，并按国家有关规定办理（以现行规定和本校规定为准）。未知病原和来源不明的样本从严对待，定级步骤见第 060 课，生物安全委员会见第 070 课。</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动物病原微生物在国内另有《动物病原微生物分类名录》（以现行版本为准）。实验涉及动物或人兽共患病原时，人间传染的病原目录和动物病原名录都要查清楚。</a:t>
            </a:r>
          </a:p>
          <a:p>
            <a:r>
              <a:t>农业转基因生物另有安全等级体系，按《农业转基因生物安全管理条例》等规定（以现行文本为准）分为Ⅰ至Ⅳ级，Ⅰ级最低、Ⅳ级最高，方向又与病原分类不同（见第 081 课）。填写申请表、评估表时写清楚用的是哪一套分级，不要混用。</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风险分组是一般性的判断。同一种病原在不同地区风险可能不同，评估和确定措施时还要考虑地区因素：</a:t>
            </a:r>
          </a:p>
          <a:p>
            <a:r>
              <a:t>1. 致病性，包括本地出现的变异株；</a:t>
            </a:r>
          </a:p>
          <a:p>
            <a:r>
              <a:t>2. 传播方式和宿主范围，以及本地人群的免疫水平、人口密度和流动性、有没有适宜的传播媒介、气候等环境条件；</a:t>
            </a:r>
          </a:p>
          <a:p>
            <a:r>
              <a:t>3. 本地能否获得有效的预防措施；</a:t>
            </a:r>
          </a:p>
          <a:p>
            <a:r>
              <a:t>4. 本地能否获得有效的治疗。</a:t>
            </a:r>
          </a:p>
          <a:p>
            <a:r>
              <a:t>四个因素都考虑到，评估才完整。在国内，病原类别以目录为准，地区因素用于具体实验的风险评估（评估要素见第 068 课）。</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化学品有安全技术说明书，病原也有类似的资料单（病原安全数据表），一种病原一份，列出它的特性、传播途径、危害、消毒灭活方法、防护和处置要求等，是做风险评估的常用参考工具。</a:t>
            </a:r>
          </a:p>
          <a:p>
            <a:r>
              <a:t>常用的病原资料单多为国外公开发布的在线资料，内容不断更新，可以参考；但其中的风险组编号和防护建议不能替代国内目录和规定，国内类别以《人间传染的病原微生物目录》为准。</a:t>
            </a:r>
          </a:p>
          <a:p>
            <a:r>
              <a:t>资料单有手机版，查阅方便；但不要把手机带进高等级实验室——手机可能被污染，成为传播感染的媒介。进入实验室的个人物品按本实验室规定管理。</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常见的病原资料单分为九个部分：</a:t>
            </a:r>
          </a:p>
          <a:p>
            <a:r>
              <a:t>1. 感染因子：名称、类型、分类和特性。</a:t>
            </a:r>
          </a:p>
          <a:p>
            <a:r>
              <a:t>2. 危害识别：致病性、传播性、宿主范围、感染剂量（往往难以确定）、潜伏期。</a:t>
            </a:r>
          </a:p>
          <a:p>
            <a:r>
              <a:t>3. 传播：传播途径，有没有储存宿主和媒介，是否人兽共患。</a:t>
            </a:r>
          </a:p>
          <a:p>
            <a:r>
              <a:t>4. 稳定性与存活：是否耐药，对哪些消毒剂敏感（消毒剂要选对，并保证足够的接触时间），能否用高温灭活，离开宿主能存活多久。</a:t>
            </a:r>
          </a:p>
          <a:p>
            <a:r>
              <a:t>5. 急救与医疗：医学监测、急救，有没有疫苗和预防用药；属于法定报告传染病的要按规定上报。</a:t>
            </a:r>
          </a:p>
          <a:p>
            <a:r>
              <a:t>6. 实验室危害：已报告的实验室感染、可能带有病原的标本来源、特殊危害；患者样本中还可能含有其他病原。</a:t>
            </a:r>
          </a:p>
          <a:p>
            <a:r>
              <a:t>7. 暴露控制与个人防护：风险越高，所需实验室级别和个人防护越高（国内级别以目录和评估为准）。</a:t>
            </a:r>
          </a:p>
          <a:p>
            <a:r>
              <a:t>8. 处置与储存：溢洒清理规程、销毁处置要求，储存要登记、上锁。</a:t>
            </a:r>
          </a:p>
          <a:p>
            <a:r>
              <a:t>9. 法规与其他信息：相关法规、更新日期、编写者、参考文献。资料单是受控文档，可以按病原名称查到。</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答案：B。解析：我国病原微生物分四类，第一类危害最大、第四类最小，与国际风险组（1 组最低、4 组最高）方向相反。</a:t>
            </a:r>
          </a:p>
          <a:p>
            <a:r>
              <a:t>第 2 题 答案：B。解析：实验室级别国内外同向，四级最高；第一类病原危害最大，需要高级别实验室，并须经批准。</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答案：B。解析：其相关实验活动须在相应级别实验室进行并经批准，学生不得擅自开展。</a:t>
            </a:r>
          </a:p>
          <a:p>
            <a:r>
              <a:t>第 4 题 答案：C。解析：国外资料只作参考，以国内现行目录为准，并结合具体实验活动的风险评估。</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答案：B。解析：目录未列的微生物先做风险评估，报单位生物安全委员会确定级别和防护，批准后再开展。</a:t>
            </a:r>
          </a:p>
          <a:p>
            <a:r>
              <a:t>第 6 题 答案：要考虑地区因素：致病性（含本地变异株），传播方式、宿主范围、本地人群免疫、人口密度和流动性、媒介和气候，本地能否获得有效的预防和治疗。解析：四个因素都考虑到，评估才完整。</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生物安全防护级别（生物安全水平，BSL）是一整套标准化的防护措施，包括安全规程和做法、安全设备和实验室设施，用来控制操作微生物带来的风险，保护操作人员、公众和环境。</a:t>
            </a:r>
          </a:p>
          <a:p>
            <a:r>
              <a:t>我国把生物安全实验室按防护水平分为一级、二级、三级、四级（BSL-1～BSL-4），从一级到四级逐级加严：等级越高，对应的生物因子风险越高，防护措施也越严。设计实验室、编写实验室安全手册，都按级别来确定要求。</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实验在哪一级实验室做，取决于所操作生物因子的危害和具体实验活动（如何为具体实验定级见第 060 课）。每一级对三方面都有要求：什么样的房间和设施；用什么安全设备；按什么程序操作。</a:t>
            </a:r>
          </a:p>
          <a:p>
            <a:r>
              <a:t>级别越高，设施要求越多：三级、四级实验室要与其他区域独立隔离，房间能密封，可以进行气体熏蒸消毒，并有定向气流、负压和排风高效过滤等工程措施（封闭原理见第 062 课）。各级具体的操作要求见第 061 课。</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实验室防护级别与病原分类是两套不同的编号：实验室级别国内外一致，一级最低、四级最高，动物生物安全实验室（ABSL）也一样；而病原微生物分类，国内第一类危害最大、第四类最小，国际风险组则是 1 组最低、4 组最高，方向相反（见第 058 课）。</a:t>
            </a:r>
          </a:p>
          <a:p>
            <a:r>
              <a:t>记口诀：病原分类反着走，实验室级别顺着走。国内第一类、第二类（高致病性）病原，需要的是高级别实验室。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一级生物安全实验室（BSL-1）风险最低，操作的是已知通常不会使健康成人致病的微生物，例如无害的实验室菌株、做面包的酵母、土壤和水中的常见非致病菌。许多基础教学实验、微生物学入门课就在这一级开展。</a:t>
            </a:r>
          </a:p>
          <a:p>
            <a:r>
              <a:t>一级实验室通常是开放台面，一般不需要专门的封闭设施；但仍要遵守基本操作规范，穿实验服、戴手套，做好洗手和台面消毒，限制无关人员进入。一级实验室大致对应国际第 1 组，具体以国内目录和风险评估为准。</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二级生物安全实验室（BSL-2）操作的是有中度风险的微生物：能让人生病，引起轻到中度疾病，但一般不严重，或者有有效的治疗和预防手段，例如一些常见的致病细菌、病毒和寄生虫；具体某种病原、某项实验需要几级，查《人间传染的病原微生物目录》。二级实验室多用于临床检验、高校科研和医院实验室。</a:t>
            </a:r>
          </a:p>
          <a:p>
            <a:r>
              <a:t>与一级相比，二级要受控进入：门能自动关闭，门口挂生物危害标志和防护级别、负责人等信息，有合适的通风，配备洗手池和高压灭菌器等设施；可能产生气溶胶的操作要在生物安全柜内进行。人员要先经过培训，会操作、会处置感染性材料；按风险评估，必要时加戴面屏和呼吸防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三级生物安全实验室（BSL-3）也称防护实验室，用于特殊诊断和较高危害病原的研究，对应可经空气吸入传播、能引起严重甚至致命疾病的病原。多设在高级临床实验室、公共卫生实验室和科研机构；涉及高致病性病原微生物的实验活动须在相应级别实验室并经批准。</a:t>
            </a:r>
          </a:p>
          <a:p>
            <a:r>
              <a:t>三级实验室与其他区域隔离，有门禁和缓冲间；房间保持负压，形成由清洁区向污染区的定向气流，排风经高效过滤后排出；房间可密封，能做气体熏蒸消毒；所有感染性材料操作都在生物安全柜内进行。人员须经严格培训，严格按程序操作和去污，按要求穿全身防护、戴呼吸防护。三级实验室须通过国家认可。布局与进出见第 063 课。</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四级生物安全实验室（BSL-4）是最高等级的防护，对应能危及生命、可经气溶胶传播、通常缺乏有效预防和治疗手段的高危病原；已宣布消灭的病原只在极少数指定机构保存。</a:t>
            </a:r>
          </a:p>
          <a:p>
            <a:r>
              <a:t>四级实验室有两种基本形式：人员穿独立供气的正压防护服工作（即使防护服破损，空气也是向外吹），或者在三级生物安全柜（全封闭手套箱式）内操作。进出要经过多道去污缓冲区，出口设化学淋浴和人员淋浴，物品经双扉高压灭菌器传出，有专用的通风和废水处理系统。进入受到严格控制，所有工作都在有经验人员的监督下进行。</a:t>
            </a:r>
          </a:p>
          <a:p>
            <a:r>
              <a:t>四级实验室造价和运行费用都非常高，维护和监管要求极严，只在国家批准的少数设施中建设；大多数从业人员工作在二级、三级实验室，高校学生平时接触的是一级、二级。</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用动物做感染性实验，按动物生物安全实验室分级，即 ABSL-1～ABSL-4，同样一级最低、四级最高（GB 19489-2008，以现行文本为准）。动物实验除了防操作中的暴露，还要防动物咬伤、抓伤，防动物排出的分泌物、排泄物和垫料中的病原，以及动物逃逸（见第 084 课）。</a:t>
            </a:r>
          </a:p>
          <a:p>
            <a:r>
              <a:t>植物病原和转基因植物的研究设施（如封闭温室）另有专门要求（见第 082 课）。国际资料中有在级别后加“加号”的“加强型”说法，表示在本级基础上借用了更高一级的部分设计或措施；国内以现行标准和主管部门要求为准。</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实验室分级的标准不是一个机构说了算。在国内，是法律、法规、标准一层层落实：最上层是《中华人民共和国生物安全法》，下面是《病原微生物实验室生物安全管理条例》；技术要求写在国家标准 GB 19489-2008《实验室 生物安全通用要求》和行业标准 WS 233《病原微生物实验室生物安全通用准则》中（均以现行文本为准），包括防护设施、个人防护、实验室设计以及每一级的具体要求；具体病原的哪类实验放在几级做，查《人间传染的病原微生物目录》。</a:t>
            </a:r>
          </a:p>
          <a:p>
            <a:r>
              <a:t>标准和目录会随着新的认识不断修订。查规定时先确认是不是现行有效版本，旧版本不要再照用；学校发布更新通知，要及时学习。</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国际上也有国际组织制定实验室生物安全手册，以及针对高风险病原的专项指南，尤其帮助公共卫生体系还在建设中的国家，在全球疫情应对中发挥作用。</a:t>
            </a:r>
          </a:p>
          <a:p>
            <a:r>
              <a:t>这些手册和指南在我国只作参考和背景资料。实验室分级、设施要求、审批程序，一律以国内法律法规、国家标准、行业标准和本校规定为准。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用一张图记住谁管什么：</a:t>
            </a:r>
          </a:p>
          <a:p>
            <a:r>
              <a:t>- 国际组织：提供手册和指南，作为国际参考；</a:t>
            </a:r>
          </a:p>
          <a:p>
            <a:r>
              <a:t>- 国家：法律、行政法规确定管理框架，国家标准和行业标准规定技术要求；</a:t>
            </a:r>
          </a:p>
          <a:p>
            <a:r>
              <a:t>- 主管部门和认可机构：卫生健康、农业农村等主管部门负责实验室备案和实验活动审批，三级、四级实验室须通过国家认可（具体分工以现行规定为准）；</a:t>
            </a:r>
          </a:p>
          <a:p>
            <a:r>
              <a:t>- 单位：学校生物安全委员会和实验室管理部门负责本地的审查、监督和执行，实验室负责人负责本实验室的日常管理（见第 070 课）。</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高校学生的教学和多数科研实验在一级、二级实验室开展。进入三级、四级实验室工作，须经单位专门批准，接受专门培训并考核合格，获得授权；学生不得自行进入或开展相关实验。</a:t>
            </a:r>
          </a:p>
          <a:p>
            <a:r>
              <a:t>任何涉及病原微生物的实验，都要按国家目录和风险评估确定实验室级别，经批准后在相应级别的实验室里做；进入实验室前先通过准入培训，做好个人防护。拿不准实验该在几级做，先问导师和实验室负责人，不擅自开展。</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答案：B。解析：实验室级别国内外同向，四级最高；病原分类国内第一类最危险，方向相反。</a:t>
            </a:r>
          </a:p>
          <a:p>
            <a:r>
              <a:t>第 2 题 答案：A。解析：二级实验室受控进入、门自动关闭、挂标识，可能产生气溶胶的操作进安全柜。</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答案：C。解析：三级实验室用于可经吸入致严重疾病的病原，须通过国家认可。</a:t>
            </a:r>
          </a:p>
          <a:p>
            <a:r>
              <a:t>第 4 题 答案：A。解析：以法律、条例为框架，技术要求见 GB 19489-2008 和 WS 233（以现行文本为准），国际手册只作参考。</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答案：先查现行目录、做风险评估，并请教导师和实验室负责人，按确定的级别和批准开展；拿不准时不擅自做。解析：学生实验多在一级、二级，三四级须专门批准、培训和授权。</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为一种新微生物或一项新实验确定防护等级，不是在表格里查一下就行，而是一套结构化的风险评估：评估病原本身、实验操作、对人员的风险和对环境的影响，使实验室的防护水平与病原和具体操作相匹配。</a:t>
            </a:r>
          </a:p>
          <a:p>
            <a:r>
              <a:t>注意两套编号：国内病原分类第一类危害最大、第四类最小，国际风险组 1 组最低、4 组最高，方向相反；实验室防护级别则国内外同向，四级最高（见第 058、059 课）。第一类、第二类属于高致病性病原微生物，相关实验须在相应级别实验室并经批准。</a:t>
            </a:r>
          </a:p>
          <a:p>
            <a:r>
              <a:t>先查国家目录、做风险评估、确定级别，再按级别配备设施、设备和个人防护。通用的风险评估步骤和风险矩阵见第 067 课。</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一步是认清要操作的到底是什么：属于什么种、什么株，有没有已知的变异，是否经过基因改造。然后与《人间传染的病原微生物目录》（以现行版本为准）和已有分类资料对照，确定它在国内的危害程度类别。具体分类以国内目录为准，国外资料只作参考。</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第二步评估致病性：它会不会让人或动物生病？如果会，病情有多严重？多少量就可能造成感染（感染剂量）？致病性越强、感染剂量越低，需要的防护级别往往越高。病原层面更详细的评估要素见第 068 课。</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第三步看传播途径：能不能随空气被吸入？会不会经皮肤黏膜接触、经口食入，或经针头等锐器刺伤进入人体？</a:t>
            </a:r>
          </a:p>
          <a:p>
            <a:r>
              <a:t>能经空气（气溶胶）传播、引起严重疾病的病原，通常需要更高级别的实验室（如三级）。具体某种病原、某项实验需要几级，查目录并结合评估确定，不凭印象。</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第四步看防治手段：有没有有效的治疗药物和疫苗？万一发生暴露，能不能及时进行急救、预防性用药和医学观察？</a:t>
            </a:r>
          </a:p>
          <a:p>
            <a:r>
              <a:t>没有有效治疗和预防手段的病原，一旦感染后果最严重，防护级别也要相应提高。暴露后的处置见第 078 课。</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第五步看实验活动本身：会不会产生气溶胶（如离心、匀浆、超声、剧烈混匀），会不会用到锐器？是不是高浓度、大体积操作？涉不涉及动物感染实验？涉不涉及重组 DNA 或基因改造？</a:t>
            </a:r>
          </a:p>
          <a:p>
            <a:r>
              <a:t>同一种病原，实验活动不同，所需级别也不同：例如对未经培养的样本做检测，与大量培养活的病原，风险和要求差别很大；目录对不同实验活动分别规定了所需的实验室级别（以现行版本为准）。培养活病毒等高风险活动须经批准，学生不得擅自开展。</a:t>
            </a:r>
          </a:p>
          <a:p>
            <a:r>
              <a:t>涉及基因改造（如使用病毒载体）的实验，可能需要提高防护级别，并须先经单位生物安全委员会审批（见第 081 课）；涉及可能被滥用的两用研究，还要经过相应的伦理和安全审查（见第 083 课）。</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第六步看本实验室的条件：实验室的防护级别和设施设备够不够？人员是否受过相应培训、考核合格？个人防护装备是否齐全？应急处置条件是否具备？防护条件必须与风险等级相匹配。</a:t>
            </a:r>
          </a:p>
          <a:p>
            <a:r>
              <a:t>条件不够，就不要硬上。涉及第一类、第二类等高致病性病原微生物的，必须在具备条件的实验室并经批准才能开展；不具备条件的，按规定移交有资质的机构处理，或者按规定销毁（以现行规定和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第七步，查规范、问专家：对照国内法律法规、GB 19489、WS 233 和《人间传染的病原微生物目录》（均以现行文本或版本为准），国外手册只作参考；再向实验室负责人、生物安全员和单位生物安全委员会咨询。</a:t>
            </a:r>
          </a:p>
          <a:p>
            <a:r>
              <a:t>防护级别不是研究者自己说了算：由项目负责人组织评估、提出拟定级别，经生物安全员或单位生物安全委员会评定、审批后确定；高致病性病原微生物的实验活动还须依法审批。学生不得自行定级，不得擅自开展。生物安全委员会的职责见第 070 课。</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各步骤的评估结果综合起来，最终级别取最高的那个风险因素：哪怕只有一项风险高，也要按高的来。</a:t>
            </a:r>
          </a:p>
          <a:p>
            <a:r>
              <a:t>举个例子：某菌株本身属于低风险，按本体可在一级实验室操作；但经过基因改造后要重新评估改造带来的变化，实验中又有产生气溶胶的操作，综合各项取最高，给出拟定级别。拟定的级别仍要报单位生物安全委员会审批，批准后才能开展。</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国际资料常说“风险组不等于实验室级别”，要结合管理控制措施逐案评估。例如有人问：国际风险组 3 的病原一定要进三级实验室吗？逐案评估的思路是对的，但在国内必须按规定来：先查《人间传染的病原微生物目录》，目录对不同实验活动所需的实验室级别有明确规定。</a:t>
            </a:r>
          </a:p>
          <a:p>
            <a:r>
              <a:t>在国内不能随意降级操作。想在比目录规定低一级的实验室里做，研究者不能自己决定，必须有充分的风险评估，经单位生物安全委员会审核；涉及高致病性病原微生物的，还须依法审批（以现行规定为准）。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病原还没有确认时信息不全，评估要从严，宁可防护高一档，并报单位生物安全委员会审核。</a:t>
            </a:r>
          </a:p>
          <a:p>
            <a:r>
              <a:t>细胞系、临床样本、来源不明的样本，在目录里不一定查得到，同样要做风险评估，确定在几级实验室操作；拿不准的交单位生物安全委员会把关。</a:t>
            </a:r>
          </a:p>
          <a:p>
            <a:r>
              <a:t>噬菌体实验离不开宿主菌，用于杀灭致病菌的噬菌体，宿主往往就是致病菌，防护级别要按宿主菌和样品来评估，致病宿主菌在生物安全柜内规范操作。污泥、污水常被用作接种物，里面什么菌都可能有，包括致病菌；富集培养会把杂菌一起放大，评估后一般在二级实验室操作。</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定级评估不是口头说说，要形成书面的风险评估报告，经审核批准后留档，做到可追溯（GB 19489-2008，以现行文本为准）。</a:t>
            </a:r>
          </a:p>
          <a:p>
            <a:r>
              <a:t>实验内容、病原、规模、方法、人员或设施条件发生变化时，要重新做风险评估。采取控制措施后残余风险仍然偏高的，要上报单位生物安全委员会，由委员会决定是否开展，不擅自开工。风险评估的记录与复查见第 067 课。</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答案：B。解析：定级是一套结构化风险评估，级别由生物安全委员会评定审批。</a:t>
            </a:r>
          </a:p>
          <a:p>
            <a:r>
              <a:t>第 2 题 答案：B。解析：改造后要重新评估，结合操作中的气溶胶等风险，综合取最高，并报委员会审批。</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答案：B。解析：在国内不得随意降级操作。</a:t>
            </a:r>
          </a:p>
          <a:p>
            <a:r>
              <a:t>第 4 题 答案：B。解析：同样要做风险评估确定级别，信息不全时从严，拿不准交生物安全委员会把关。</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答案：不硬上；涉及高致病性病原的须在具备条件的实验室并经批准开展，否则按规定移交有资质的机构处理；报告实验室负责人。解析：防护条件必须与风险等级匹配。</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比较各级生物安全实验室，可以列一张对比表：先看病原风险——一级操作通常不使健康成人致病的微生物，二级操作能致病但一般可防可治的病原，三级对应可经空气传播、后果严重的病原，四级对应危及生命且缺乏有效防治手段的病原（分级见第 059 课）。举例只看类别：一级多为无害的实验室菌株，二级多为常见可治的致病菌；具体某种病原、某项实验活动放在几级，查《人间传染的病原微生物目录》并做风险评估（见第 060 课）。注意国内病原分类第一类最危险，与国际风险组 1–4 方向相反；实验室级别则国内外同向，一级最低、四级最高。</a:t>
            </a:r>
          </a:p>
          <a:p>
            <a:r>
              <a:t>每一级的防护措施分三栏来看：个人防护（穿什么）、安全设备即工程控制（用什么设备）、实验室设施（房子怎么建），再加上操作规范和人员培训。各级要求是一整套：房子够格、操作不到位，或者设备齐全、人员没培训，都不算达到该级别。检查时设施、设备、操作、人员都要查。</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准入随级别逐级收紧：一级实验室，经过基本培训的人员可以进入；二级实验室限制进入，无关人员不得入内；三级实验室受控进入，人员须经专门培训、批准和授权；四级实验室严格控制进入，并有高度的安保措施。</a:t>
            </a:r>
          </a:p>
          <a:p>
            <a:r>
              <a:t>进门前先看门上的标识：生物危害标志、防护级别、涉及的病原或风险、实验室负责人和联系电话，看清要求、穿戴好再进。进入生物安全实验室实行“先培训、后准入”：培训考核合格才能进门操作，使用生物安全柜等设备也要先培训、考核并获得授权；学校、学院、实验室层层负责。进三级实验室须先批准、先培训，未获准入不得进入，也不得单独进入工作。</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个人防护随级别逐级加码：一级以实验服为主，需要时戴手套和护目镜；二级在实验服、手套之外，加戴护目镜或面屏等面部防护，必须穿不露脚趾的鞋；三级穿前襟封闭的防护服，戴手套和眼面部防护，并按要求加戴呼吸防护（呼吸防护与适合性检验见第 025 课）；四级在不使用全密闭安全柜时，穿独立供气的正压防护服，手部戴多层手套。</a:t>
            </a:r>
          </a:p>
          <a:p>
            <a:r>
              <a:t>具体穿戴什么、戴什么级别的呼吸防护，由风险评估决定（防护装备的选择见第 074 课，穿脱顺序见第 075 课）。实验室的定向气流、安全柜等工程措施能帮助保护人员，但不是万能的，个人防护照样要穿戴齐全。</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设备（工程控制）随级别加严：一级有洗手设施和基本的消毒用品；二级配备生物安全柜（通常为Ⅱ级），吸液、混匀、振荡、研磨等可能产生气溶胶或溅洒的操作要放进柜里做；三级所有涉及感染性材料的操作都必须在生物安全柜或其他物理防护设备内进行，离心时使用密封的离心杯或转子；四级使用全密闭的Ⅲ级生物安全柜，或在防护服型实验室中穿正压防护服配合Ⅱ级生物安全柜工作，并有独立供气（生物安全柜见第 071、072 课）。</a:t>
            </a:r>
          </a:p>
          <a:p>
            <a:r>
              <a:t>气溶胶控制的要求同样逐级提高：一级一般无专门要求；二级在可能产生气溶胶时必须防护；三级至关重要；四级要求时刻处于全封闭状态。</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设施随级别递进：一级是普通的开放实验室，设洗手池（宜靠近出口）；二级在此基础上，门能自动关闭并有进入控制，设洗手池和洗眼装置，实验室内或所在建筑内有高压蒸汽灭菌器或其他适当的消毒灭菌设备；三级与其他区域隔离，房间保持负压，排风经高效过滤后排出（封闭原理见第 062 课，布局与进出见第 063 课）；四级完全隔离，进风、排风都要经过高效过滤，并有专用的废水处理等系统。</a:t>
            </a:r>
          </a:p>
          <a:p>
            <a:r>
              <a:t>各级设施的具体技术要求，以 GB 19489-2008、GB 50346《生物安全实验室建筑技术规范》和 WS 233（均以现行文本为准）以及本校设施说明为准。学生要做的是认识本实验室的设施、知道它们在哪里，不擅自改动。</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二级实验室常见的布局：入口附近放高压灭菌器，废物就近集中灭菌，废物按类别分桶收集；门上挂生物危害标志，可加装门禁（密码、刷卡等），防止无关人员进入；按需要配备洗眼装置和应急喷淋。生物安全柜（以及化学通风柜）放在远离门口、人员走动少的最里面，空气从门口流入，经过操作者，再进入柜子，把可能的污染拉向柜内、远离人员。柜子的排风按设计连接，不能自行拆改。</a:t>
            </a:r>
          </a:p>
          <a:p>
            <a:r>
              <a:t>二级实验室同样有两道屏障：第一道是生物安全柜和个人防护，保护操作者；第二道是门、洗手池、灭菌设施和规范管理，防止污染扩散到实验室外（两道防护的原理见第 062 课）。</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良好微生物操作技术是所有级别实验室安全的基础，设施和设备再好，也替代不了规范的操作。建立实验室，第一步是制定行为规范：由实验室管理层会同使用人员一起，把最基本的操作要求一条条写清楚，形成本实验室的操作规程；生物安全员负责指导大家、理顺工作流程。</a:t>
            </a:r>
          </a:p>
          <a:p>
            <a:r>
              <a:t>良好微生物操作包括无菌操作、灭菌和去污样样到位；消毒要选对消毒剂，并等够规定的作用时间（见第 076 课）。实验室还要有应急预案，覆盖设备破损、人员发病、溢洒和火灾等情形（溢洒与暴露处置见第 078 课）。</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一级、二级实验室是学生最常进入的生物实验室，日常规范人人要守：穿好实验服，按要求戴手套和护目镜，按无菌技术操作，既防样品污染，也防人员感染。实验室内不吃喝、不存放食物、不化妆，戴手套时不摸脸、手机和门把手。严禁用嘴吸移液管，使用移液器等辅助装置；尽量少用锐器，用过的锐器直接放入锐器盒。</a:t>
            </a:r>
          </a:p>
          <a:p>
            <a:r>
              <a:t>操作时动作轻缓，减少溅洒和气溶胶；实验前后和溅洒后对台面消毒。培养物、废液和污染物品灭菌后按规定处置（见第 077 课），实验菌株不得带出实验室、不得排放到外界环境。实验服不穿出实验室；做完实验先摘手套，再用洗手池按步骤洗手，然后离开。二级实验室还要保持门关闭，可能产生气溶胶的操作在安全柜内进行。</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微生物涂片和湿片可能含有活菌，观察时按相应级别穿戴防护；用过的玻片放进消毒缸消毒，或放进锐器盒；显微镜载物台被污染时及时消毒。</a:t>
            </a:r>
          </a:p>
          <a:p>
            <a:r>
              <a:t>从土壤、水等环境中分离出的菌，可能混有致病菌，鉴定前一律按未知菌对待：先做风险评估，再确定防护级别，一般在二级实验室的生物安全柜内操作；分离株标清来源和日期，鉴定结果出来之前不降级（未知样本从严定级见第 060 课）。</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每一级的培训都看三件事：学什么重点、谁来学、怎么练。一级的对象是学生、实习人员和初学者，重点是实验室一般安全、基础微生物操作、手卫生和台面消毒；练习穿戴防护用品、处理化学品和生物材料的小量溅洒，以及识别生物危害标志。</a:t>
            </a:r>
          </a:p>
          <a:p>
            <a:r>
              <a:t>二级的对象是检验人员、科研人员和教学实验室人员，做二级课题的学生同样要学；重点是标准操作规程、病原材料的安全操作、预防锐器伤、正确使用生物安全柜，以及发生事件后及时报告；练习血液等样本的暴露防护、安全柜的使用和去污，以及暴露后的应急演练。</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三级的对象是有经验的专业人员，重点是更深入的生物安全原则、可经空气传播病原的封闭控制、呼吸防护（要做适合性检验，见第 025 课）、进出程序和应急程序；练习包括定期复训、熟悉设施布局、呼吸防护装备的使用和维护，以及溢洒和感染事件的模拟演练。学生未经批准，不得进入三级实验室。</a:t>
            </a:r>
          </a:p>
          <a:p>
            <a:r>
              <a:t>四级的对象是专门的病原研究和公共卫生团队，要接受长期的强化训练，重点是正压防护服的使用、全封闭操作程序和严格的去污方案，必要时评估身心状况，坚持两人同行；练习全流程模拟、进出缓冲间和化学淋浴、通讯规程和紧急撤离预案。具体要求以国家规定和所在机构的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实验室人员的必备培训有六类：第一，生物安全操作——规范操作，在防护设施里做实验，学会废物的灭活和处置；第二，生物安保意识——防止未经授权的人员接触病原材料（见第 083 课）；第三，个人防护装备——按风险评估选对防护用品，按顺序穿戴，检查是否完好，脱卸时把外面当污染面，不碰到皮肤（见第 075 课）；第四，应急程序——溢洒怎么处理，什么情况要撤离，被扎伤、溅到后第一时间怎么做（见第 078 课）；第五，设备使用——安全柜怎么开、怎么用、怎么判断是否正常，高压灭菌器怎么装载、怎么防烫伤（见第 123 课）。</a:t>
            </a:r>
          </a:p>
          <a:p>
            <a:r>
              <a:t>第六，事件报告——知道向谁报告：实验室负责人、学院和学校实验室管理部门（需要时保卫处）；事故和暴露发生后立即报告，如实记录，配合后续医学评估和随访。</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每一级的培训都要留下记录，本人签字，考核合格才能准入；还要定期复训，复训周期按本校规定，操作内容、设备或规程变化时及时补训。</a:t>
            </a:r>
          </a:p>
          <a:p>
            <a:r>
              <a:t>二级及以上的培训必须动手实练，光看书、光听课不算学会。三级、四级先由有经验的人员带教跟岗，确认能独立胜任后，才给予完全准入。</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防护装备或安全设备缺失、损坏（如手套破损、护目镜缺少、安全柜报警或气流异常），先停下相关操作，不凑合、不将就；按规定处理已在进行的操作和材料，报告实验室负责人，申领防护用品或报修设备。</a:t>
            </a:r>
          </a:p>
          <a:p>
            <a:r>
              <a:t>维修后经确认恢复正常（需要检测的设备经检测合格），再恢复工作；不得擅自拆修安全柜等设备。</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答案：B。解析：二级在一级基础上加面部防护，必须穿闭趾鞋；具体按风险评估。</a:t>
            </a:r>
          </a:p>
          <a:p>
            <a:r>
              <a:t>第 2 题 答案：A。解析：二级的工程控制要求可能产生气溶胶的操作进生物安全柜。</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答案：C。解析：不饮食、不口吸、不外带实验菌，台面消毒、摘手套洗手后离开。</a:t>
            </a:r>
          </a:p>
          <a:p>
            <a:r>
              <a:t>第 4 题 答案：B。解析：环境分离菌鉴定前按未知菌对待，先评估，一般在二级安全柜内操作，鉴定前不降级。</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答案：C。解析：装备缺了坏了不开工，报告、申领或报修，确认正常再恢复。</a:t>
            </a:r>
          </a:p>
          <a:p>
            <a:r>
              <a:t>第 6 题 答案：生物安全操作、生物安保意识、个人防护装备、应急程序、设备使用、事件报告；立即报告实验室负责人、学院和学校实验室管理部门，如实记录，配合医学评估和随访。解析：培训要记录、签字、考核合格才准入，并定期复训。</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封闭（防护）是生物安全的核心思路：把病原微生物关在受控的空间里，用设备、设施和管理等各种控制措施，挡住它外泄。病原一旦外泄，既会伤到实验室人员，也会危害公众和环境。</a:t>
            </a:r>
          </a:p>
          <a:p>
            <a:r>
              <a:t>高级别生物安全实验室本身就是一个防护区，研究人员在受控的环境里工作；进入须经批准和专门培训，学生未经批准不能进入（各级准入要求见第 061 课）。合格的防护设施是重要保障，但再好的设施也要靠人按规程使用。</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护分两道。一级防护（一级屏障）的作用是护住做实验的人，把操作者与病原隔开。它由安全设备和个人防护装备组成：生物安全柜、密封离心杯等安全设备，以及实验服、手套、口罩或呼吸器、护目镜等个人防护装备，再加上规范操作和穿脱防护的规程等管理措施。</a:t>
            </a:r>
          </a:p>
          <a:p>
            <a:r>
              <a:t>生物安全柜是一级防护的主力（见第 071 课）。研究植物病原时也一样：如果植物携带对人有害的病原，就要用口罩、手套等防护把人隔开。</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二级防护（二级屏障）的作用是护住实验室外面的环境和公众，防止病原从实验室扩散出去。它主要靠实验室设施的工程控制：墙体、门、通风系统、高效过滤器和物理屏障，以及废水去污系统；同时也靠进出程序、去污、定期维护、物品运输和废物处置等规程。</a:t>
            </a:r>
          </a:p>
          <a:p>
            <a:r>
              <a:t>植物研究设施同样有二级封闭：靠温室等设施结构，挡住花粉和植物病原外逃（见第 082 课）。工程控制依赖设施，建设和维护的成本都较高，因此更要正确使用、按期维护。</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记住一句话：一级防护保护人，二级防护保护环境；简单说，“柜护人，房护环境”。两道屏障要同时做到、一起使用，缺了任何一道，风险都会漏出去。</a:t>
            </a:r>
          </a:p>
          <a:p>
            <a:r>
              <a:t>课堂上可以做一个分组练习：准备便利贴和两个盒子，一组写“护人”的措施（实验服、手套、口罩、眼罩、送风呼吸器、生物安全柜、穿脱规程），一组写“护环境”的措施（高效过滤、废水去污、通风、定期维护、运输和废物处置规程），分别贴进两个盒子；最后把两层拼在一起，就是一间生物安全实验室的雏形。</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护实验室靠定向气流把病原关在封闭空间里，这是封闭最基本的思路。通过送风和排风的设计，让空气始终从清洁区流向污染区（实验区），再经高效过滤后排出；这样，室内可能产生的气溶胶就不会跑到走廊和外面。普通房间常常是开门时空气往外流，封闭实验室正好相反，空气往里流。</a:t>
            </a:r>
          </a:p>
          <a:p>
            <a:r>
              <a:t>定向气流是生物安全实验室常见的工程控制措施，高级别实验室要求更严（具体以 GB 19489-2008、GB 50346 和本校设施说明为准）。进门前看一眼门口的压差显示和气流飘带：飘带应朝实验室里飘；读数不对、飘带外飘或有报警，先不要进去。</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气流的方向还要考虑人的位置：风从病原吹向人是不允许的；正确的是风从人身后来，经过操作的病原材料，从另一头经过滤排出。地面发生溅洒时，从清洁的一侧（上风侧）处理，不要踩进溅洒区（溢洒处置见第 078 课）。</a:t>
            </a:r>
          </a:p>
          <a:p>
            <a:r>
              <a:t>不要在排风口前堆放物品，也不要在生物安全柜前面的格栅上压放本子、物品或手臂；遮挡后气流就会紊乱，屏障随之失效（安全柜使用见第 072 课）。</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封闭实验室里的气压比外面低，叫负压；负压保证空气只往里流，含病原的气溶胶跑不出去。从入口一路往里，各房间的压力一级比一级低（负压一级比一级大），形成压力梯度，病原被限制在最里面；涉及病原的操作都在最里面的负压间里进行。门口的压力显示面板正常时一般亮绿灯。</a:t>
            </a:r>
          </a:p>
          <a:p>
            <a:r>
              <a:t>各级、各房间的压差和换气要求由 GB 19489-2008、GB 50346（均以现行文本为准）规定，具体数值以本校设施说明为准；使用者不需要也不应自行调节，只要会看、会判断是否正常。布局与进出见第 063 课。</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外部环境和防护区之间的一小段空间叫气锁（缓冲间）：一侧通向外部，一侧就是防护区。气锁靠压力差把两边的空气隔开：有的设施把缓冲间的压力设在两侧之间，让空气逐级向内流；有的把气锁设计成高于两侧的正压，两边的空气都进不来。可以把它比作商场门口的风幕，一道“气墙”把病原挡在里面——这只是比喻，真正靠的是压力差（本设施的压力设计以本校设施说明为准）。</a:t>
            </a:r>
          </a:p>
          <a:p>
            <a:r>
              <a:t>实验室的门也是二级防护的一部分：进出随手关门，不能用东西撑开；有缓冲间的，两道门不同时打开，有互锁指示灯的，灯没变绿就等一等，不强行开门。</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移液、离心、混匀等操作都会产生气溶胶。个人防护装备能护住人，但室内的气溶胶需要靠持续换气来稀释和带走，就像漂洗衣服一样，一遍遍把污染带走。</a:t>
            </a:r>
          </a:p>
          <a:p>
            <a:r>
              <a:t>在高级别封闭实验室，空气经过滤后送入，流过操作区，带走可能的污染，再经高效过滤排出去，这样实验室外的社区就是安全的。换气次数等参数以现行标准和本校设施说明为准。</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封闭实验室要排出去的空气，必须先经过高效空气过滤器（HEPA）。过滤器里是层层纤维，颗粒和病原被纤维截住；更小的颗粒做无规则运动，也会撞上纤维被抓住，只有干净的空气才能出去。很多设施把房间气流引向天花板或高处的过滤排风口，过滤后排出，这种靠设施的措施就是工程控制。高效过滤器有严格的效率标准，以现行国家标准为准。</a:t>
            </a:r>
          </a:p>
          <a:p>
            <a:r>
              <a:t>过滤器靠密封装置安装，不能漏风；用久了滤材会老化，要按期检测和更换。更换由经过培训的专业人员完成，采用袋进袋出等方式，旧过滤器先去污再废弃，不能重复使用。学生不得自行拆卸或更换过滤器（设施运行见第 064 课）。</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每一道防护屏障都有局限，不能全靠它。高效过滤器效率很高，但不是百分之百，安装或老化可能造成泄漏，所以要定期检测；更重要的是从源头少产生气溶胶——安全柜在前面拦截，房间气流作为兜底。</a:t>
            </a:r>
          </a:p>
          <a:p>
            <a:r>
              <a:t>无论措施有多少，总有剩余风险，所以还要靠规范操作、培训和应急准备。回顾本课：实验室设施、定向气流和负压、生物安全柜（定期检测、放对位置、按规程使用）、高压灭菌器（按规定管理）等措施要一起用，缺一不可。</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正常情况下，气流应该流进实验室。如果一开门，门口的飘带却朝走廊外面飘，说明空气正从实验室往外流，定向气流这道屏障失效了。这时不能“先进去干活再说”。</a:t>
            </a:r>
          </a:p>
          <a:p>
            <a:r>
              <a:t>正确做法：不进入，不开展任何实验，关好门；在门口挂牌，提醒其他人也不要进入。如果已经在里面，就停止操作，把材料收好封好，撤出并关门。</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发现气流异常后，马上报告实验室负责人，并通知设施人员检查通风系统；报告时说清发现的时间、现象（飘带方向、压差读数或报警）和位置。按本校规定，必要时报告学院和学校实验室管理部门。</a:t>
            </a:r>
          </a:p>
          <a:p>
            <a:r>
              <a:t>设施人员修好后，先验证气流已恢复向内、压差正常；经实验室负责人确认后，才能恢复实验。以后每次进门，都先看一眼飘带和压差显示。</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正在做实验时，如果通风系统报警、压差异常或停电，先停下操作，把容器盖好、样本封好，安全柜内的材料按规定收好；然后按程序脱卸个人防护装备，撤出实验室，关好门。</a:t>
            </a:r>
          </a:p>
          <a:p>
            <a:r>
              <a:t>撤出后马上按应急预案报告实验室负责人，等设施恢复并确认正常后再进入。高级别实验室的应急处置按本单位应急预案执行。</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答案：B。解析：一级护人，二级护环境，两道一起用。</a:t>
            </a:r>
          </a:p>
          <a:p>
            <a:r>
              <a:t>第 2 题 答案：A。解析：负压与压力梯度让空气只往里流，具体数值以标准和本校说明为准。</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答案：C。解析：门也是屏障，进出随手关，缓冲间两道门不同时开。</a:t>
            </a:r>
          </a:p>
          <a:p>
            <a:r>
              <a:t>第 4 题 答案：B。解析：高效过滤不是百分百，要定期检测、按期由专人更换；总有剩余风险。</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答案：B。解析：飘带外飘说明定向气流失效。</a:t>
            </a:r>
          </a:p>
          <a:p>
            <a:r>
              <a:t>第 6 题 答案：先停手，盖好容器、封好样本；按程序脱防护，撤出实验室并关门；按预案报告负责人，设施恢复并确认正常后再进入。解析：不在失效的屏障下继续操作。</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三级生物安全实验室（BSL-3）用来关住病原，开展较高风险病原的诊断和实验。要注意两套编号的方向：病原分类国际风险组 4 组最高，国内第一类最危险，方向相反（见第 058 课）；实验室级别则国内外同向，一级最低、四级最高。</a:t>
            </a:r>
          </a:p>
          <a:p>
            <a:r>
              <a:t>所有涉及病原的诊断和实验工作，只在最里面的核心工作间进行，病原被关在各自的工作区里。三级实验室须通过国家认可，涉及高致病性病原微生物的实验活动还须经批准。高校学生平时在一级、二级实验室工作，进入三级实验室须经专门培训和授权（见第 061 课）。</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三级实验室的平面按功能分区：外面是辅助工作区，放控制室、清洁更衣、办公等功能；里面是防护区，包括缓冲间和核心工作间（具体分区以 GB 19489-2008、GB 50346 和本设施设计为准）。平面图上常用颜色区分清洁区和污染区，两者的交界处设更衣、淋浴和灭菌设施。</a:t>
            </a:r>
          </a:p>
          <a:p>
            <a:r>
              <a:t>分区的原则是清洁和污染分开：人员行走和气流方向都从清洁区到污染区，不逆行、不交叉（封闭原理见第 062 课）。</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防护区门口张贴生物危害警告标志和“非授权人员禁止入内”等禁止标志（安全标志式样按 GB 2894-2025，以现行文本为准），并设信息牌，写明防护级别、负责人和联系电话等。没有授权，任何人都不能进入。</a:t>
            </a:r>
          </a:p>
          <a:p>
            <a:r>
              <a:t>组织学生了解三级实验室时，只在外区或通过图示、视频学习，不进入防护区；看到禁入标识，就停下脚步。</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进入负压实验室前，第一件事是看门口的压差显示面板和报警灯：显示正常（如绿灯）才可以按程序进入；读数异常或报警亮起（如红灯），不要进去，马上报告实验室负责人和设施人员。</a:t>
            </a:r>
          </a:p>
          <a:p>
            <a:r>
              <a:t>各房间压差的正常范围由现行标准和本设施的设计决定，以本校设施说明为准；使用者只需会看、会判断，不得自行调节（气流异常的处置见第 062 课）。</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三级实验室的门禁更严格：授权人员刷卡（或指纹等）进入第一区，一人一卡，不尾随他人进入，也不把卡借给别人。进门先过前室（缓冲间），它像一个气闸，门关好、压力平衡后再打开里面的门。前室用压力把里外空气隔开：有的设施前室为正压，把外面的空气挡在外面、把病原留在里面；有的按压力梯度设计，具体以本设施说明为准。</a:t>
            </a:r>
          </a:p>
          <a:p>
            <a:r>
              <a:t>第一区里常有一间间样本处理间；再往里是负压区，设第二道门禁；经过清洁更衣室等房间，每过一道门，压力再降一级，空气始终往里流。</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三级实验室的人员进出是单向的：一条路进，另一条路出。进入时，私人物品留在外侧储物柜，在清洁更衣室换上实验室专用服装，经过负压的气锁（缓冲间），再进入防护实验室；里面是限制区，外人不得进入。</a:t>
            </a:r>
          </a:p>
          <a:p>
            <a:r>
              <a:t>离开时，在指定位置按程序脱卸个人防护装备（见第 075 课），按规定淋浴，再换回自己的衣服。洗手用感应龙头，能不碰的表面就不碰。进出按规定登记；路线不能抄近道，也不能反着走，洁到污、不走回头路。</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三级实验室的人流和物流分开：人员按规定路线进出；物品走专门的通道。小件样本通过传递窗递进递出，传递窗两扇门不同时打开，用后按规定消毒。与二级实验室不同，三级实验室的高压灭菌器设在实验室内，常为穿墙的双扉灭菌器：在防护区一侧装入，在外侧取出。</a:t>
            </a:r>
          </a:p>
          <a:p>
            <a:r>
              <a:t>离开实验室的物品和废物，先封好包装、经灭菌（或其他有效消毒），再按规定交有资质的单位处置（见第 077 课）。生物安全柜按设计接好排风，排气全部经过高效过滤。</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防护区旁设控制室，风机、通风和空调等系统在这里集中控制，设施人员监控运行状态，异常时及时处置。</a:t>
            </a:r>
          </a:p>
          <a:p>
            <a:r>
              <a:t>监控画面和门禁记录让谁进谁出都有记录，门禁、监控和安保共同把关（生物安保见第 083 课）。发现可疑人员或有人尾随，立即报告保卫处和实验室负责人；实验室的布局、门禁和安保信息属于敏感信息，不拍照、不外传。</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把三级实验室的设施要素放在一起看：相对外界维持负压，气流定向流动，空气只进不出，排风经高效过滤后排到室外；进出经过前室（气闸），有两道自闭门；设免手动操作的洗手池，旁边有洗眼器；配生物安全柜等防护设备，操作都在其中进行；灭菌器设在实验室内（这也对通风空调提出了新的要求）。</a:t>
            </a:r>
          </a:p>
          <a:p>
            <a:r>
              <a:t>运行中如果压力突然下降、报警，就意味着封闭可能被破坏，要立即停止工作，按应急预案处置和报告（见第 062 课）。各项技术要求以 GB 19489-2008、GB 50346 和 WS 233（均以现行文本为准）为准；设施的设计和运行见第 064 课。</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四级生物安全实验室（BSL-4）是独立的建筑或建筑内完全隔离的区域，人员经气锁进入，离开时要经过去污淋浴（如化学淋浴和人员淋浴）；进风和排风都经过高效过滤；并配有应急电源和通讯系统。</a:t>
            </a:r>
          </a:p>
          <a:p>
            <a:r>
              <a:t>四级实验室造价和运行要求极高，只在国家批准的少数设施中建设（分级见第 059 课），高校学生一般不会接触。</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答案：B。解析：病原分类反着走，实验室级别顺着走。</a:t>
            </a:r>
          </a:p>
          <a:p>
            <a:r>
              <a:t>第 2 题 答案：B。解析：读数异常或报警就别进，马上报告负责人和设施人员。</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答案：B。解析：单向进出，不走回头路，不抄近道。</a:t>
            </a:r>
          </a:p>
          <a:p>
            <a:r>
              <a:t>第 4 题 答案：D。解析：物品经传递窗或穿墙灭菌器，灭菌后才出来。</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答案：B。解析：一人一卡，不尾随、不借卡；发现尾随报告保卫处。</a:t>
            </a:r>
          </a:p>
          <a:p>
            <a:r>
              <a:t>第 6 题 答案：实验室的布局、门禁和安保信息属于敏感信息，外传可能被利用、危害实验室安保；有疑问向实验室负责人或保卫处咨询。解析：门禁、监控和安保一起把关。</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生物安全靠的不只是生物安全柜和个人防护装备。实验室房子怎么设计、配置什么设备，本身就是一道防护，属于控制层级中的工程控制（控制层级见第 017 课）：它不依赖每个人每次都做对，而是从源头把风险挡住。</a:t>
            </a:r>
          </a:p>
          <a:p>
            <a:r>
              <a:t>设施设计得周全，使用起来才既安全又好用；设计考虑不周，后面的操作和管理就要付出更多代价去弥补。所以，即使是学生和普通使用者，也应了解设施各部分的作用，正确使用、不随意改动。</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一座防护设施（以较高等级实验室为例）的基本组成：门口有生物危害标志；房间可以密封，便于熏蒸消毒；气流定向流入，经高效过滤后排出，整座设施相对外界保持负压；人员经气锁（缓冲间）进入、经淋浴离开；室内有生物安全柜和高压灭菌器；楼下有污水处理系统。不同级别的实验室配置不同，具体以 GB 19489-2008、GB 50346 和本校设施说明为准（各级要求见第 061 课，三级布局与进出见第 063 课）。</a:t>
            </a:r>
          </a:p>
          <a:p>
            <a:r>
              <a:t>工程设计通常包括八个部分：设施（建筑）设计、气流、过滤、暖通空调、污水处理、给排水、智能控制和安防。这类设施的楼体通常至少分三层：上层是设备层，负责空气处理；中层是实验室和办公；底层收集并处理全部废水。</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护设施上方的一层叫设备层（机械层），全楼的供暖、通风和空调都从这里统一控制：空气处理机组、风机、过滤器和电气控制柜都装在这里；一排排控制柜管着电机和压缩机，由电脑统一指挥；压缩机让供给实验室的水和压缩空气保持压力稳定。</a:t>
            </a:r>
          </a:p>
          <a:p>
            <a:r>
              <a:t>把机械放在实验室上方，实验室里就不放机械设备，便于密封和清洁消毒。设备层的层高要够人进去检修，灯具和过滤器都从上面更换，不必在实验室房间里开口。</a:t>
            </a:r>
          </a:p>
          <a:p>
            <a:r>
              <a:t>设备层有转动设备、高压电和高处作业等危险，不是参观区：未经允许不得进入，进入须有人陪同；维修前先停机断电、上锁挂牌（见第 144 课）。</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空气处理机组里装有高效过滤器，进楼的空气都先过这一道；过滤段设有检修门，定期检查、维护，到期更换过滤模块。高等级实验室进来的空气要过滤，出去的空气也要过滤，两头把关；送风过滤保护人员和实验，排风过滤保护环境。</a:t>
            </a:r>
          </a:p>
          <a:p>
            <a:r>
              <a:t>每个房间连接各自独立的高效过滤器，一间出问题不连累其他房间；风阀一开一合调节风量，把各房间的气流配平，维持定向气流（原理见第 062 课）。排风过滤单元先把颗粒物滤干净，再由屋顶的高空排放风机高速射向高空，远离进风口和人群，充分扩散。注意：除去病原靠的是过滤，排高只是加一道保险。</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防护设施的加热、制冷、湿度、通风等由电子系统集中控制和监测，哪台设备在运转、是否正常，在控制区一看就知道；监控、气流、门锁等也在控制区集中管理。</a:t>
            </a:r>
          </a:p>
          <a:p>
            <a:r>
              <a:t>压差显示和报警是监测的关键（会看压差面板见第 063 课）。系统设计成防护一旦失效就报警，并按设计联锁停机或转入安全状态，此时按应急预案撤离和报告（见第 062 课）。控制系统的参数由设施管理人员按规程设定，使用者不得自行更改。</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从防护设施出去的一切都要去污，连水槽流下的废水也不例外。较高等级设施的淋浴、洗手、灭菌器排水先进暂存罐，再进消毒罐（消毒方法和接触时间按规程确定），中和后才排放；全程监测，留好记录。污水不能直接接入市政管网，要另设管道或专门处理后再排放，排放应符合国家和地方要求。</a:t>
            </a:r>
          </a:p>
          <a:p>
            <a:r>
              <a:t>封闭设施出来的固体废物要先去污灭菌，再按《医疗废物管理条例》和本校规定交有资质的单位处置（见第 077 课）。</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建封闭设施投入很大，决定建实验室、动笔设计之前，先要算清楚账。钱分两块：建设费和运行费。运行费（能耗、过滤器更换、检测、维修、人员）每年都有，会摊到每一次实验里。</a:t>
            </a:r>
          </a:p>
          <a:p>
            <a:r>
              <a:t>设计时就要把维护费用算进去；建得起却养不起，过滤器不能按期更换、设备不能按期检测，安全就会打折扣。设计要统筹考虑的事项包括选址、结构、控制与监测、废物与污水、安保，以及建设成本和运行成本。</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高等级实验室选址有讲究：避开地震、洪水等自然灾害多发地，避开人口稠密区；水电供应要有保障；发生事故时应急处置队伍能及时赶到；周边社会环境稳定安全。具体选址要求以 GB 19489-2008、GB 50346 等现行标准为准。</a:t>
            </a:r>
          </a:p>
          <a:p>
            <a:r>
              <a:t>植物封闭设施不要紧挨农田，以免万一泄漏扩散到作物，造成生态危害和法律纠纷（植物生物安全见第 082 课）。</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就像住宅把卫生间集中在一处，管道省，漏了也不会到处蔓延；防护实验室相邻集中布置，通风和管道系统才经济、好管理。</a:t>
            </a:r>
          </a:p>
          <a:p>
            <a:r>
              <a:t>标准布局的原则：区域按从清洁到污染分级，人和物按规定路线走，不交叉、不走回头路（见第 063 课）。功能上分出暂存区（材料先送进暂存区，再按程序转入）、培养基制备区、遗传操作区（放转化设备，转化后的材料再送进封闭区培养）和控制区。以植物设施为例，进入的培养基、土壤要先蒸汽灭菌，去掉其中带的病原。</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设施的出入口是有两道门的缓冲间：先关外门，再开内门，两道门不同时开；开内门时空气往里流，不往外跑（缓冲间压力设计以本设施说明为准，见第 062 课）。</a:t>
            </a:r>
          </a:p>
          <a:p>
            <a:r>
              <a:t>高压灭菌器嵌在墙里，两边各有一扇门（双扉灭菌器），一侧在防护区内装料，另一侧在清洁区取出。进来的东西要干净，出去的更要去污：以植物封闭设施为例，植株、土壤、种子、工作服全部灭菌后才能出去。项目结束时，未经批准放行的材料按规程灭菌销毁。灭菌器的使用和验证见第 076 课。</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负压设施要让空气稳定地往里流，墙体、观察窗玻璃和密封都要足够结实；风机出故障时负压可能过大，结构不够会撑破玻璃，所以设计时要有相应的保护和联锁。</a:t>
            </a:r>
          </a:p>
          <a:p>
            <a:r>
              <a:t>房间表面材料要耐受消毒剂和熏蒸、耐湿耐腐蚀、易清洁；熏蒸期间按规程清场，检测合格后再进入。植物设施还要考虑采光：阳光进来热量也进来，制冷更贵，炎热地区宜用封闭生长室加人工光，凉爽地区用温室更合适（见第 082 课）。</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生物安保要在设计时就考虑进去，事后补救既贵又难。门禁、监控等物理安保措施管住人员进出，防止病原材料被盗、被私自扩繁或带出；实验数据和资料也要加密、分级管理。</a:t>
            </a:r>
          </a:p>
          <a:p>
            <a:r>
              <a:t>安保措施的具体配置属于敏感信息，不对外公开、不拍照传播；使用者遵守门禁规定，不借卡、不尾随、不带无关人员进入（生物安保见第 083 课）。</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建设一般分四步。第一步，需求和预算：按实际需要确定规模，预算有限不要贪大，并考虑每年的维护费。第二步，初步设计：对照建筑规范、消防疏散和生物安全标准（GB 19489-2008、GB 50346 等）逐项查合规。第三步，施工：设施是定制的，施工中加一根梁、隔一个间，气流就会改变，任何改动都要马上告诉设计工程师，重新评估。第四步，验收认可：建成后经检测验收合格，按规定通过认可或备案后才能开展实验。</a:t>
            </a:r>
          </a:p>
          <a:p>
            <a:r>
              <a:t>按《病原微生物实验室生物安全管理条例》，新建、改建、扩建三级、四级实验室应当依法审批，建成后通过实验室国家认可，并经主管部门批准方可从事高致病性病原微生物相关实验活动；一级、二级实验室向设区的市级主管部门备案（以现行文本为准）。</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设施设计要多方合作：工程师懂结构，研究者懂生物，管理者居中协调，让设施既满足工程要求又满足实验需要，并符合生物安全法规和标准。</a:t>
            </a:r>
          </a:p>
          <a:p>
            <a:r>
              <a:t>管生物安全的人也要懂一点设施设计，才能和工程师说到一块：生物安全员（生物安全管理人员）要看得懂设施图纸，懂通风空调和基本布局，从建造、验收、维护到停用，每一步都有安全问题。单位新建高等级实验室或动物设施时，生物安全员代表单位向设计方、施工方提问，并回应主管部门的要求。实验室的使用者（负责人、教师和研究生）也要在需求、设计审查和验收等关键阶段参与（生物安全组织见第 070 课）。</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控制措施装好了还要常维护。生物安全柜、高压灭菌器要按期检测、校准，排风过滤器、压差和定向气流要定期检测验证；维护和检测都要留记录，坏了及时修。使用前看一眼设备上的检测标识是否在有效期内；过期未检或检测不合格的设备挂牌停用（安全柜检测见第 073 课，灭菌器验证见第 076 课）。</a:t>
            </a:r>
          </a:p>
          <a:p>
            <a:r>
              <a:t>排风过滤器上截留着病原，更换前要先原位消毒，由经过培训的专业人员按程序更换，袋进袋出、装袋带出处置；新过滤器装好后检漏合格才能再用。学生不要自己打开过滤箱。</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实验室的认可和备案都不是一劳永逸的：认可有有效期，到期要复评，有效期内还要接受监督评审和主管部门的监督检查（具体周期以现行规定为准）。</a:t>
            </a:r>
          </a:p>
          <a:p>
            <a:r>
              <a:t>设施改造、主要设备更换、实验活动或病原变化等情况发生时，要重新评估、审批，改后重新检测验收或重新评审，并按规定变更备案。</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实验室停用、设备搬走或维修之前，先由实验室按规程彻底去污（消毒灭菌），清点并妥善处置剩余的生物材料。</a:t>
            </a:r>
          </a:p>
          <a:p>
            <a:r>
              <a:t>去污完成后经实验室负责人或指定人员验收合格、签字，才能把设备搬走、交给维修人员、改作他用或报废；房间停用也要经去污验收后才能交出或改造。</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答案：B。解析：设备层集中放机械，未经允许不进入，维修先停机断电、上锁挂牌。</a:t>
            </a:r>
          </a:p>
          <a:p>
            <a:r>
              <a:t>第 2 题 答案：B。解析：除去病原靠高效过滤，高空排放只是加一道保险。</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答案：B。解析：从设施出去的一切都要先去污，连水槽废水也不例外。</a:t>
            </a:r>
          </a:p>
          <a:p>
            <a:r>
              <a:t>第 4 题 答案：C。解析：建成后验收认可才能开展实验，认可有期限，设施变化要重新评审。</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答案：B。解析：过期未检或检测不合格的设备应挂牌停用，检测合格后再用。</a:t>
            </a:r>
          </a:p>
          <a:p>
            <a:r>
              <a:t>第 6 题 答案：先按规程彻底去污，处置剩余生物材料；经负责人或指定人员验收合格签字后，才能搬走、维修、改用或报废。解析：防止设备和房间带着病原交给不知情的人。</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风险管理就是把实验室的生物风险管住，这是实验室每个人的事。它是一套系统方法，把两件事合在一起：生物安全，防的是人员意外接触和病原意外泄漏；生物安保，防的是生物材料丢失、被盗和被故意滥用（生物安保见第 083 课）。伦理意识和领导力也是这套方法的组成部分。</a:t>
            </a:r>
          </a:p>
          <a:p>
            <a:r>
              <a:t>它管的是生物材料的处理、储存和处置，从拿到手到最后销毁，每一环都要管；重点是病原微生物、生物毒素和转基因生物。国家层面的生物安全领域很广，包括重大传染病防控、遗传资源保护、外来物种入侵防范等，本课聚焦其中的实验室生物安全（概念与法规见第 057 课）。</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为什么要建立生物风险管理？首先是防止实验室获得性感染：在实验室工作，不应把病带回家。其次是保护公众和环境，无论意外还是蓄意，都不让有害生物因子外泄；它也关系到国家生物安全。</a:t>
            </a:r>
          </a:p>
          <a:p>
            <a:r>
              <a:t>第三是依法依规。国际上有生物安全手册和管理标准可作参考，在国内首先要遵守《中华人民共和国生物安全法》《病原微生物实验室生物安全管理条例》和国家标准、行业标准，以及学校的规定。</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在我国，病原微生物实验室的生物安全管理由实验室设立单位负责，实验室负责人是第一责任人（以现行法规为准）。高校按学校—学院—实验室三级管理落实责任：学校制定制度、设立生物安全委员会，学院监督检查，实验室负责人组织本实验室的风险评估、规程、培训和日常管理（组织与负责人见第 070 课）。</a:t>
            </a:r>
          </a:p>
          <a:p>
            <a:r>
              <a:t>生物安全委员会负责审议实验室的风险评估、重要实验活动和规程等事项。实验室按 GB 19489-2008 等标准建立生物安全管理体系：有管理手册、程序文件、操作规程和记录，有年度安全计划，并通过内部审核和管理评审持续运行（审核见第 066 课）。本课讲的 AMP 模型是国际通行的生物风险管理方法，在这一国内框架下使用。</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AMP 模型是国际通行的管理生物风险的基本方法，由三步组成：评估（Assessment）、减缓（Mitigation）、绩效（Performance）。评估回答“有什么风险、有多大”；减缓回答“怎样把风险降下来”；绩效回答“怎么确认风险真的降下来了”。也可以概括成：找出风险、评估大小、降低风险、持续盯住。</a:t>
            </a:r>
          </a:p>
          <a:p>
            <a:r>
              <a:t>这三步是生物风险管理的基础，做完一圈再来一圈，不断改进。学习本章，就是要学会三件事：会做风险评估，找出这个病原、这项操作的具体风险；会用各类控制措施把风险降下来；会评价这些措施是不是真的管用。</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第一步是风险评估：找出实验里有哪些有害生物因子，这东西有多危险，我要做什么操作，估计出事的可能性和后果有多大，从而判断风险高低。</a:t>
            </a:r>
          </a:p>
          <a:p>
            <a:r>
              <a:t>风险评估由实验室负责人组织，生物安全管理人员审核，必要时提交生物安全委员会审议；做实验的人也要参与评估，并了解评估结论。评估是其他所有工作的出发点，具体步骤和方法见第 067、068 课。</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第二步是风险减缓：按控制层级（消除、替代、工程控制、管理控制、个人防护，见第 017 课）采取措施，把风险降到可接受的程度。设施设备、标准操作规程和个人防护用品要一起上，不能只靠一种。生物安全措施防止人员意外暴露，生物安保措施防止样本丢失、被盗。</a:t>
            </a:r>
          </a:p>
          <a:p>
            <a:r>
              <a:t>加完控制措施后要再评估残余风险：仍不可接受，就再加控制，或者不开展该实验。风险看可能性也看后果；风险越高，投入的资金和人力也要越足。具体控制措施见第 069 课。</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三步是绩效评估：看控制措施选得对不对、有没有执行、管不管用，设备和防护有没有正常工作。方法包括定期检查，看措施是否真的落实；审核记录，看体系是否按规定运行；组织应急演练，看大家会不会处置。</a:t>
            </a:r>
          </a:p>
          <a:p>
            <a:r>
              <a:t>发现问题就采取纠正措施，并回到第一步重新评估、改进。绩效评估与审核的具体做法见第 066 课。</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管理实验室靠一个循环：计划、执行、检查、改进（PDCA），周而复始。用到生物风险上，就是 AMP 三步：策划从风险评估开始（识别危害、评估风险、确定怎样管住风险），对应“计划”；减缓对应“执行”；绩效对应“检查”和“改进”。也有人把它概括为意识、行动、反省，缺一不可。</a:t>
            </a:r>
          </a:p>
          <a:p>
            <a:r>
              <a:t>PDCA 的核心是“写下怎么做，就照写的做”，再检查做得怎么样。生物安全员观察大家实际怎么做，找出问题的根本原因，改进规程，再回到评估。检查发现的问题变成下一轮的计划，每转一圈，安全水平就提高一点。</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里的事是一环扣一环的：一环出错，整条链都受影响。管理体系就是把这些相互关联的过程一起管，还要不断改进。可以把一项检测工作的流程一步步画出来：收样、检测、记录、结果安全上传；每一步都会产生废物，要按规程去污、合规处置。</a:t>
            </a:r>
          </a:p>
          <a:p>
            <a:r>
              <a:t>完善的体系由几个部分撑起来（风险评估、风险减缓、绩效监测、培训与能力、事件报告、持续改进），像几根柱子撑房子，缺一根就不稳。管生物安全的人，除了懂微生物和管理，还要懂一点气流方向、通风空调、给排水等设施知识（见第 064 课），这些本事要在工作中慢慢积累。</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体系有五个要素。第一，定义：定目标、划过程，这个实验室做什么，范围到哪。建实验室之前先问几个问题：做哪些实验？要什么仪器和规程？工作怎么安排、谁做什么？牵涉运输、灭活、废物哪些环节？怎样更安全、更高效？有哪些限制？第二，结构：谁负责什么，每个人按哪份规程做。</a:t>
            </a:r>
          </a:p>
          <a:p>
            <a:r>
              <a:t>第三，理解：各环节相互依存，人也有极限，疲劳最容易出事，工作分配要均衡，培训要到位。第四，改进：盯住事故和事件，找到缺口、修订规程（见 K13）。第五，认清约束：没有完美的体系，经费不够、缺少合格的人等限制要事先认清，量力而行。即使还没在生物实验室工作，也可以设想一个实验室，练习写方针、写计划，再想怎么落实、怎么检查改进。</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体系一切从一份生物安全方针开始。方针写明单位的承诺：把安全放进主业，遵守国家法律法规和标准，持续改进。</a:t>
            </a:r>
          </a:p>
          <a:p>
            <a:r>
              <a:t>体系能否成功，地基是领导承诺：单位和实验室负责人认领方针，给足人员、经费和设施等资源，把安全放在优先位置，而不是只挂在墙上。</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方针要讲给每一个人听，包括保洁、清运、维修等进入实验室的人员；生物安全和生物安保一起管，最终变成每个人的习惯（安全文化见第 010 课）。</a:t>
            </a:r>
          </a:p>
          <a:p>
            <a:r>
              <a:t>体系能不能落地，要看安全文化：负责人带头遵守，规矩才立得住；每个人都可以提出问题和建议，发现隐患敢说、愿意报告。</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计划落地要做五件事：搭建组织架构，分配职责，任命合格的人员，抓好培训，把方针和做法讲到位。</a:t>
            </a:r>
          </a:p>
          <a:p>
            <a:r>
              <a:t>日常运行要管好八个方面：运行控制，电气、化学等一般安全，库存台账，工作计划，操作规范，废物管理，人员管理，设施的保养和维修。通用模板只是起点，要结合本单位、本实验室的实际，制定具体的生物风险管理程序。</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运行中出了事故或事件（包括未遂事件），说明规程有漏洞，要趁小补上。出了问题要查到根本原因，采取纠正措施，同时寻找改进的机会（事故调查与根本原因分析见第 162 课）。</a:t>
            </a:r>
          </a:p>
          <a:p>
            <a:r>
              <a:t>定期回顾，把程序和制度改得更好；新版本发布后，旧版本要收回，防止误用。持续改进要做到：人人有主人翁意识，定期评估，规程有效，预防在先，持续培训，定改进目标，表扬做得好的人。</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的生物风险管理计划（安全计划）是把体系落到本实验室的成文安排，可以按九块内容组织：范围与目标、角色与职责、风险评估程序、标准操作规程、培训与能力、事件响应与报告、维护与检查、文件与记录、评审与审核。GB 19489-2008 对实验室年度安全计划也有要求（以现行文本为准）。</a:t>
            </a:r>
          </a:p>
          <a:p>
            <a:r>
              <a:t>写计划前先摸清家底：菌（毒）种和样本、化学品、锐器、设备都列成清单，清单随时更新，计划才对得上。第一块写范围：管哪些房间，用哪些微生物，做哪些实验；再写目标：要达到怎样的安全状态。目标和指标要具体、能检查，写成文件，事后能追溯。</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第二块是角色与职责：实验室负责人是第一责任人；实验室安全员负责日常检查和提醒；每个实验人员按规程做好自己的工作；学校管理部门和设施保障部门的职责也要写明。</a:t>
            </a:r>
          </a:p>
          <a:p>
            <a:r>
              <a:t>计划写好后交学院审核，学校存档，与三级管理衔接；组内人人学习，知道自己的职责（组织与职责见第 070 课）。</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第三块是风险评估程序：先识别危害，再判断风险高低；写清谁来评估、用什么方法、结果谁审核；定期评估，人员、病原、操作或设施有变化时重新评估（见第 067 课）。</a:t>
            </a:r>
          </a:p>
          <a:p>
            <a:r>
              <a:t>第四块是标准操作规程：关键操作和关键设备各有一份规程，按规程一步一步做，不凭记忆（规程编写见第 019 课）。</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第五块是培训与能力：培训内容包括安全操作、应急程序，也包括科研伦理和生物安保意识。培训后要考核，确认真的会做才算有能力；用能力表记录谁会做什么、谁被授权做什么，一目了然。</a:t>
            </a:r>
          </a:p>
          <a:p>
            <a:r>
              <a:t>培训不是一次了事，要持续学习、定期复训，能力才跟得上。流程中的每一步都有专人负责：处理样本的学样本处理规程，管废物的学废物规程（准入培训见第 007 课）。</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第六块是事件响应与报告：不管是意外事故还是安保事件，都要有渠道及时发现、报告和处理。发生溢洒、暴露，先按应急预案处置（见第 078 课），再按实验室负责人、学院、学校主管部门逐级报告，不隐瞒、不拖延；应急联系电话写进计划，贴在实验室显眼处。</a:t>
            </a:r>
          </a:p>
          <a:p>
            <a:r>
              <a:t>第七块是维护与检查计划：哪台设备、多久检查一次，写成日程；检定合格贴标签，过期停用（见第 064 课）。</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第八块是文件与记录：文件要有版本号，旧版及时收回。每项生物安全工作都要有记录，包括培训、检查、事件、库存和规程执行；记录要及时、真实、受控、可追溯，问题才查得出来。</a:t>
            </a:r>
          </a:p>
          <a:p>
            <a:r>
              <a:t>第九块是评审与审核：定期看计划落实得怎么样，发现问题就改，计划随之更新（内部审核和管理评审见第 066 课）。</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体系的各部分都要写成文件，一般分四层：管理手册规定方针、目标、组织和职责；程序文件规定各项管理活动怎么运转；标准操作规程（作业指导书）教你每项操作具体怎么做；记录证明确实做到了。GB 19489-2008 对管理体系文件和记录也有相应要求（以现行文本为准）。</a:t>
            </a:r>
          </a:p>
          <a:p>
            <a:r>
              <a:t>文件齐全、层次清楚、相互一致，日常照着做，检查时才拿得出来。</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答案：B。解析：评估问有什么风险，减缓问怎样降下来，绩效问怎么确认真的降下来了。</a:t>
            </a:r>
          </a:p>
          <a:p>
            <a:r>
              <a:t>第 2 题 答案：B。解析：生物风险管理包括生物安全和生物安保两部分，实验室要管好材料的全过程。</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答案：B。解析：每转一圈，管理就提高一点。</a:t>
            </a:r>
          </a:p>
          <a:p>
            <a:r>
              <a:t>第 4 题 答案：B。解析：手册定方针职责，程序管运转，规程教操作，记录证明做到。</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答案：B。解析：计划经学院审核、学校存档，组内人人学习，知道自己的职责。</a:t>
            </a:r>
          </a:p>
          <a:p>
            <a:r>
              <a:t>第 6 题 答案：范围与目标（含危险源清单）、角色与职责、风险评估程序、标准操作规程、培训与能力、事件响应与报告、维护与检查、文件与记录、评审与审核。解析：九块内容对应体系的各个要素。</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风险绩效评估，就是记录、测量和评价我们做过的事，目的是把生物风险降下来。它看的是整个体系：不只看病原，还要看人、物和设施。绩效测量不是另外一摊事，而是管理体系的一部分：规程写的和实际做的，都要量。</a:t>
            </a:r>
          </a:p>
          <a:p>
            <a:r>
              <a:t>做法是回头查记录：有没有发生防护失效，有没有事故、事件和未遂事件，日常检查发现了什么；出了事故或险情，就修订规程。绩效评估能看出体系哪里达标、哪里没有，没达标就要问为什么；认证认可时审核员要看这些记录；它还能预防事故、减少损失和开支。</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打个比方：计划十五分钟跑完一公里，实际跑了二十分钟。天气、体能、装备，逐一找出拖后腿的因素。计划和实际之间的差距，就是绩效要看的东西。</a:t>
            </a:r>
          </a:p>
          <a:p>
            <a:r>
              <a:t>实验室可以年初定目标（如事件、事故、溢洒的情况），年底做对比表：事件超了，可能是规程有漏洞，就修订规程、加强培训；目标是零溢洒，实际发生了一次，也要改。每一起事件和事故都要调查。绩效是每个人努力的总和，实际常常达不到计划，而且会变化，要持续用力。</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控制措施加上了，就一定有效吗？要靠绩效来验证：减缓之后再做一次风险评估，确认风险真的降下来了，这一步才算数。剩下的风险能不能接受，要再判断。</a:t>
            </a:r>
          </a:p>
          <a:p>
            <a:r>
              <a:t>风险管理是一个圆圈：收集信息、评价风险、制定策略、落实控制措施、复查，然后再转一圈。绩效评估是 AMP 循环的第三步（见第 065 课），可以用一张表来做：推荐了什么措施？真落实了吗？没有，为什么？有没有记录？再审核、修改措施。整改之后还要看效果；绩效数据也是说服领导投入资源的依据。</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单位的安全方针（政策）表明决心和方向，不讲具体做法，要再分解成职责、目标和步骤，落成具体目标后，再按标准检查有没有做到。</a:t>
            </a:r>
          </a:p>
          <a:p>
            <a:r>
              <a:t>目标是看得见、量得出的结果，比如“实验结束，人员零感染”。具体目标是限时完成的步骤，最典型的就是标准操作规程。目标要符合五个要求：具体、可测量、能实现、合理、有时限；不要定做不到的目标，审核时会被指出来。</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指标要用数字说话，能回答“多少次、多少量”。要定期使用，一直用同一把尺子，才能看出偏离，在出事之前报警。</a:t>
            </a:r>
          </a:p>
          <a:p>
            <a:r>
              <a:t>常用的生物安全绩效指标：事件报告（发生多少、什么原因），险兆（未遂）事件（差一点出事的也算），培训（该学的人是否都学完），演练有没有做（记录就是证据），防护用品配备，检查的频次和范围，做法是否符合现行标准规范。挑指标时，要量什么就选什么，不图省事；尽量能量化，并覆盖实验室、学院、学校各个层级。</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指标分两类。先行指标衡量过程、文化、行为和屏障（如培训完成、检查执行、规范操作的比例、设备检测按期完成），事先定好，为安全工作指方向。滞后指标衡量事件、事故、险兆和整改情况，都是事后才看得到的。</a:t>
            </a:r>
          </a:p>
          <a:p>
            <a:r>
              <a:t>只在出事后才分析就太晚了。要多观察日常行为，提前发现苗头，多听同行的经验和教训，把先行指标和滞后指标结合起来看。</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好指标由相关人员一起商量出来，具有相关、客观、及时、成本合理的特点，能指导整改，带来改进机会。</a:t>
            </a:r>
          </a:p>
          <a:p>
            <a:r>
              <a:t>指标要审慎使用：度量标准由生物安全委员会等事先定好，数据要呈现得让人看得懂。评价体系本身也要定期检查：指标还相关吗？要不要换新的？照搬别处的指标未必合用。不能为了“指标好看”而少报、瞒报事件。</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测量是改进的第一步：量出来才看得懂，看得懂才控制得住，才谈得上改进；测量要用合适的工具。一个流程可以分成输入、步骤、输出，比如检测样本，每一步都记下来。</a:t>
            </a:r>
          </a:p>
          <a:p>
            <a:r>
              <a:t>设计评估前先把问题想清楚，问四个问题：步骤做得到吗？步骤对不对？结果达标吗？量的东西对吗？方法上可以发问卷，也可以到现场跟看。生物安全绩效的常用来源：一看事件和事故报告，找规律；二看人员健康监测（如按规定留存本底血清，见第 069 课）；三是现场观察，审核操作。</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先确定要什么数据，再收集、分析，看体系是否合适、有效，哪里能改进；也可以借助监控和智能分析。收集前定好时间段、方法和成本；收集时尽量不打扰正常工作，盯得太紧，人一紧张反而出错。分析要花时间和资源，应指定专人、给定期限，专心做完。</a:t>
            </a:r>
          </a:p>
          <a:p>
            <a:r>
              <a:t>使用监控收集数据，要事先告知相关人员；录像只用于安全管理，不外传，按规定保管，保护个人信息。</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某检测实验室的目标是降低人员感染风险，采取的措施包括上岗前体检、防护规程和项目结束后的复查。结果五名人员中有一人检测阳性——计划和实际出现了差距。</a:t>
            </a:r>
          </a:p>
          <a:p>
            <a:r>
              <a:t>这时要问：规程合适吗？是规程本身有缺陷，还是执行出了问题？哪里出了漏洞？要做事故分析，查根本原因，采取纠正措施，并按规定报告和对相关人员进行医学评估（事故调查见第 162 课，暴露处置见第 078 课）。</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审核和评价就是“复查”这一步，看写的和做的是否一致、措施是否落实、是否达到预期目标。内部审核由本单位按计划组织，对照规程逐项检查；审核员要到实验台旁观察，看哪一步繁琐、哪一步有风险。GB 19489-2008 要求实验室按计划开展内部审核（以现行文本为准）。</a:t>
            </a:r>
          </a:p>
          <a:p>
            <a:r>
              <a:t>学院、学校也会按三级管理定期组织安全检查（见第 005 课）。查到什么，如实记下来；既要找出缺陷和不符合项，也要找改进点，再提出改进办法，发现问题回头改。</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审核看规程有没有照做，检查看设施是否按设计运行，检测看设备参数是否合格。内部审核之外，外部审核更客观。</a:t>
            </a:r>
          </a:p>
          <a:p>
            <a:r>
              <a:t>主管部门依法对实验室进行监督检查，实验室负责人陪同、如实提供资料、配合检查；新建设施要经主管部门检查验收。三级、四级实验室还要通过实验室国家认可，并接受复评和监督评审（见第 064 课）。认可和检查时，审核员会查阅各项记录。</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管理评审由单位或实验室管理层按计划定期进行（例如每年，具体以现行标准和本校规定为准），评审体系是否合适、充分、有效，并寻找下一步改进的机会。</a:t>
            </a:r>
          </a:p>
          <a:p>
            <a:r>
              <a:t>评审要看的材料包括：内部审核和外部检查结果、规程执行情况、风险评估进展、纠正和预防措施、上次评审的跟进、改进建议，以及事故和事件调查。评审后，该改的制度、程序和目标就改。每一步都有记录，评审才有依据。</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发现问题就要采取纠正措施：明确谁来改、怎么改、什么时候改完；改完拍照留证，再复查，问题关闭才算整改到位。持续改进就是把检查和事件的教训写进规程，一圈一圈越做越好（隐患整改见第 005 课）。</a:t>
            </a:r>
          </a:p>
          <a:p>
            <a:r>
              <a:t>外有法规，内有制度；有记录，才能持续改进。最好有专人管理文件和记录。人员、培训、规程、标识、台账等，个人也可以记一本安全笔记，但笔记代替不了正式规程。</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审核和检查看的恰恰是平时。被检查时，照平常一样规范操作，不需要“表演”，也不能临时改变做法。</a:t>
            </a:r>
          </a:p>
          <a:p>
            <a:r>
              <a:t>如果一紧张出错（如手滑、轻微溢洒），先停下，不要硬撑着继续；如实向检查人员和负责人说明，按规程处理（溢洒处置见第 078 课）。检查发现的问题是改进的机会，不是“丢面子”。</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答案：B。解析：找出差距和拖后腿的原因，再改进。</a:t>
            </a:r>
          </a:p>
          <a:p>
            <a:r>
              <a:t>第 2 题 答案：C。解析：先行指标看过程、文化、行为和屏障，事先指方向；事件、事故、险兆、整改属于滞后指标。</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答案：B。解析：减缓之后要再评估，确认风险真的降下来了。</a:t>
            </a:r>
          </a:p>
          <a:p>
            <a:r>
              <a:t>第 4 题 答案：B。解析：内审对照规程到现场查，外部检查负责人陪同配合，问题如实记录并整改。</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答案：A。解析：被检查时照常规范，出错先停，别硬撑，不掩饰。</a:t>
            </a:r>
          </a:p>
          <a:p>
            <a:r>
              <a:t>第 6 题 答案：明确谁来改、怎么改、何时改完；改完留证据（如照片、记录），经复查确认有效后关闭，并把教训写进规程。解析：整改要闭环。</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风险评估是一个评价的过程：看出事的可能性有多大、后果有多严重，同时把拿不准的地方（资料不足、新方法、新样本）写清楚。实验的风险有高有低，只有先评估，才知道要采取多强的措施，所以说风险评估是生物安全的地基，其他工作都从这里出发（风险评估的通用方法见第 014 课）。</a:t>
            </a:r>
          </a:p>
          <a:p>
            <a:r>
              <a:t>使用菌种、样本之前，先弄清它从哪里来、是什么、对人有没有危害；来历不明的环境菌不随意使用，来源不清的临床样本风险要往高处估。按评估结果，在规定级别的实验室、用规定的方法操作（防护等级的确定见第 060 课）。</a:t>
            </a:r>
          </a:p>
          <a:p>
            <a:r>
              <a:t>评估之后要实施控制（工程控制加个人防护等），再检查控制效果，发现问题就回到评估，循环改进（管理体系见第 065 课）。</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危害是任何可能造成伤害的东西，生物因子（病原微生物、毒素、感染性样本等）就是潜在的危害。风险则是这种伤害真正发生的可能性及其后果；伤害源是生物因子的，就叫生物风险。</a:t>
            </a:r>
          </a:p>
          <a:p>
            <a:r>
              <a:t>危害本身是“物”，人动手去操作它，危害才变成风险。操作、运输、被盗、容器或封闭屏障破损，都是危害变成风险的途径。所以评估时既要看“这东西有多危险”，也要看“我要拿它做什么”。</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风险是可能性和后果（严重程度）的组合。可能性指防护失效、发生暴露的几率有多大；后果指一旦发生，对人员、公众和环境造成的伤害有多大。两者结合起来，才能看出风险的高低。</a:t>
            </a:r>
          </a:p>
          <a:p>
            <a:r>
              <a:t>举例：样本转运不规范（容器不密封、没有二级包装），发生泄漏的可能性就大，后果是转运人员和沿途的人可能被感染。包装运输的要求见第 080 课。</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可能性会随做法而变，后果却不一定。就像开车：无证乱开，出事的概率很高；守规则开车，概率低，但万一撞上，造成的伤害还是一样重。实验室里也是这样：规范操作降的是可能性，病原本身造成的后果并没有变轻，所以不能因为“我很小心”就放松防护。</a:t>
            </a:r>
          </a:p>
          <a:p>
            <a:r>
              <a:t>致病的病原关在实验室的封闭条件下，风险很低；一旦因为意外泄漏或被人故意带出、滥用，后果就很严重。因此既要防意外（生物安全），也要防滥用（生物安保，见第 083 课）。</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为了把风险说清楚，可能性和后果都要分级。可能性回答“发生的概率有多大”，可从“很少”到“经常”分级；后果回答“万一发生会怎样”，可从“轻微”（无伤害或轻微不适）到“严重”（严重疾病、扩散到社区或环境）分级。</a:t>
            </a:r>
          </a:p>
          <a:p>
            <a:r>
              <a:t>常见的做法是两边各分三到五级。分几级、每一级怎么判定，以本校风险评估程序为准；同一实验室内应统一标准，评估人员对照同一张表打分，结果才可比。</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把可能性和后果的分级交叉成一张表，就是风险矩阵：可能性低、后果轻的落在绿格，风险最低；可能性大、后果重的落在红格，风险最高；中间是黄格。</a:t>
            </a:r>
          </a:p>
          <a:p>
            <a:r>
              <a:t>把实验中的每个风险点（每个操作步骤）都放进矩阵，哪里风险高一目了然，红格优先处理。风险矩阵的通用用法见第 014 课。</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同一种生物材料，风险随操作而变。样本密封冻存在罐里，风险较低；拿出来开盖处理、提取核酸，风险升高；培养活的病原（数量和浓度增加），风险最高。流程一步步往后走，风险一级级升高，一旦释放，后果也越大。</a:t>
            </a:r>
          </a:p>
          <a:p>
            <a:r>
              <a:t>所以评估不能只做一次笼统的结论，提取、扩增、检测、培养等步骤越多，越要逐步评估（逐步打分的方法见第 068 课）。储存也有风险：容器要密封、标签要标清、冷冻柜要上锁，库存要有记录。</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风险评估有固定的步骤：危害识别、风险分析、风险评价、风险控制、记录、复查。也有资料把它概括为五步（识别、评估、控制、看残余风险、再决策），内容是一致的：先认清危害，再估计风险大小，加控制后看残余风险能否接受，然后决定做不做。</a:t>
            </a:r>
          </a:p>
          <a:p>
            <a:r>
              <a:t>最后一步是复查，走完一遍还要回头再看。评估的结果用于确定防护等级（见第 060 课）和控制措施（见第 069 课）。</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第一步是危害识别：先弄清用的是什么生物因子，查《人间传染的病原微生物目录》（以现行版本为准），认出它属于哪一类，再查病原资料拿到依据（要素清单见第 068 课）。注意两套编号：国内病原分类第一类危害最大、第四类最小，国际风险组 1 组最低、4 组最高，方向相反（见第 058 课）。</a:t>
            </a:r>
          </a:p>
          <a:p>
            <a:r>
              <a:t>再列出要做哪些实验活动，用量多少、浓度多高写清楚。看会不会溅、会不会扎，会不会产生气溶胶（离心、振荡、匀浆、超声、吹打等），这是重点。评估要把病原、操作、人员和设施四个方面都看到。</a:t>
            </a:r>
          </a:p>
          <a:p>
            <a:r>
              <a:t>风险评估别只盯着微生物：消毒剂、固定液有化学危害，锐器、高温、紫外灯也会伤人，要一起识别。</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二步是风险分析：估计发生暴露的可能性有多大，一旦暴露后果有多严重。先想清楚谁可能受害——操作者本人、同室的同事、保洁和清运人员，甚至公众；再想清楚怎么受害——吸入气溶胶、溅到眼睛或黏膜、被锐器刺伤，还是误食入口。</a:t>
            </a:r>
          </a:p>
          <a:p>
            <a:r>
              <a:t>资料不足、来历不清的样本（如未经检测的临床样本、环境样本），风险往高处估。</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第三步是风险评价：根据分析结果和风险矩阵，给出总体风险等级——低、中还是高。等级决定要采取多强的控制措施和在哪一级实验室开展。</a:t>
            </a:r>
          </a:p>
          <a:p>
            <a:r>
              <a:t>评价时还要对照现有的控制措施：现有设施、设备、规程和防护够不够把风险控制住。够，就可以接受；不够，就要再加控制。</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第四步是风险控制：按控制层级（见第 017 课）选择措施，用什么设备、穿什么防护、怎么操作。工程控制（合适级别的实验室、生物安全柜、密封离心转子）、个人防护和标准操作规程要一起上。例如离心可能产生气溶胶的样本时，使用密封转子，离心后在生物安全柜内开盖。</a:t>
            </a:r>
          </a:p>
          <a:p>
            <a:r>
              <a:t>生物安全员可以用问卷逐项评估，按控制层级挑合适的措施，把结论和建议讲给实验室负责人和课题组。具体的控制与管理措施见第 069 课。</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采取控制措施后剩下的风险叫残余风险：风险能降下来，但清不了零。把要做的操作一项项列出来，每项单独评估，再合起来看总风险。</a:t>
            </a:r>
          </a:p>
          <a:p>
            <a:r>
              <a:t>残余风险能接受，经实验室负责人批准后才开展，并且要让团队都知道、都认可“我们带着这些风险工作”；不能接受，就再加措施、改方法，或者不做。残余风险较高或拿不准的，报生物安全委员会审议。各实验室情况不同，要按实际评估，不照搬别人的结论。</a:t>
            </a:r>
          </a:p>
          <a:p>
            <a:r>
              <a:t>学生拿不准时，先问导师，不擅自开展。</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第五步是记录：把评估的过程、依据、结论和控制措施写成风险评估报告，按本校程序经审核批准后存档备查，新来的人也能查到和学习。书面记录的通用写法见第 015 课。</a:t>
            </a:r>
          </a:p>
          <a:p>
            <a:r>
              <a:t>写下来只是一半，更重要的是把报告里的措施真正落实到每一次操作中。</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第六步是复查：即使没有变化，也要按本校规定定期复查评估报告。遇到以下情况要及时重新评估并更新：更换病原或材料、改变实验方法或流程、人员变化、设施设备变化，以及发生事件或事故之后。</a:t>
            </a:r>
          </a:p>
          <a:p>
            <a:r>
              <a:t>新开展的实验活动，其防护级别要按本校程序报生物安全委员会审批，不自行决定（见第 060 课）。</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风险评估不是一个人填表、别人签字。真正动手做实验的人，最清楚哪一步容易出错、哪里手不顺。因此评估由实验室负责人组织，操作者参与，生物安全管理人员审核，评估结论要让每个相关人员知晓（团队参与见第 015 课）。</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答案：B。解析：危害是物，风险看可能性和后果，与怎么操作、运输、储存有关。</a:t>
            </a:r>
          </a:p>
          <a:p>
            <a:r>
              <a:t>第 2 题 答案：B。解析：规范操作降的是可能性，后果不一定变轻，防护不能放松。</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答案：B。解析：先认清危害，再分析和评价风险，然后控制、记录，最后定期复查。</a:t>
            </a:r>
          </a:p>
          <a:p>
            <a:r>
              <a:t>第 4 题 答案：D。解析：换病原、换方法、换人换设施、出了事件都要重新评估；没有变化也要定期复查。</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答案：B。解析：残余风险能降不能清零；可接受并经负责人批准才开展，不可接受就加措施或不做。</a:t>
            </a:r>
          </a:p>
          <a:p>
            <a:r>
              <a:t>第 6 题 答案：国内第一类危害最大、第四类最小；国际风险组 1 组最低、4 组最高，方向相反。解析：查目录时不能把两套编号弄混。</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风险评估针对的是一个具体的、已知的病原和一项具体的实验活动：摸清这一株病原、这一种做法会带来什么风险。同一个病原，做核酸提取和做大量培养风险不同；不同病原更不能互相套用。所以没有一张“通用清单”能代替具体评估，每个实验都要专门评估，不能借用别的实验室的评估报告。</a:t>
            </a:r>
          </a:p>
          <a:p>
            <a:r>
              <a:t>在评估、减缓、绩效的 AMP 循环里（见第 065 课），评估是第一步，首先要做的是找出危害。评估的步骤和风险矩阵见第 067 课，本课讲评估时要逐项考虑的要素。</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风险评估要以已知的病原信息为依据；不知道是什么，风险就看不清。病原还没有确认时，评估要从严，按较高的防护要求操作，并报单位生物安全委员会审核（定级见第 060 课）。</a:t>
            </a:r>
          </a:p>
          <a:p>
            <a:r>
              <a:t>有几类样本要特别从严对待：经过改造的核酸或生物材料、临床（医院）样本、土壤等环境样本、野生动物来源的样本；即使样本来自看起来健康的人或动物，也可能携带病原。这些样本在没有充分信息之前，风险往高处估。</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风险评估像一座冰山：水面上看得见的风险，能评估、能控制；水面下看不见的风险，同样可能出事，比如一个没人知道的过敏、一种新方法里没有先例的问题。没有先例时，常规的问题清单也可能问不到。</a:t>
            </a:r>
          </a:p>
          <a:p>
            <a:r>
              <a:t>所以评估要尽量全面：查资料、问有经验的人、让动手的人参与，对看不见的风险也尽力预判，并在复查时补充（复查见第 067 课）。</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评估要看一串判据，可整理成一张清单，分四块：病原本身（分类、致病性、感染剂量、途径、存活、宿主、防治、是否改造）；实验活动（工艺、用量和浓度、步骤多少、参与人数）；人员（培训、健康和免疫状态）；设施与管理（设备、防护、预案、废物、安保）。</a:t>
            </a:r>
          </a:p>
          <a:p>
            <a:r>
              <a:t>各单位可以参照国家标准、行业标准和本校程序，把清单编成本实验室的评估工具（问卷或表格），照着逐项问一遍，评估就成形了。</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病原层面的第一问是：它属于哪一类？查《人间传染的病原微生物目录》（以现行版本为准），目录还规定了不同实验活动所需的实验室防护级别。</a:t>
            </a:r>
          </a:p>
          <a:p>
            <a:r>
              <a:t>注意两套编号：国内病原微生物分为四类，第一类危害最大、第四类最小；国际风险组 1 组最低、4 组最高，方向相反（见第 058 课）。阅读国外资料时不能把编号直接套用。分类只是起点，还要继续问后面的各项要素。</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一看致病性：暴露后会不会致病，致病性有多强。二看感染剂量：多少量才会引起感染（具体数值查权威资料，不同病原差别很大）；感染剂量越低，越要格外小心。三看暴露后果：引起的疾病有多严重。</a:t>
            </a:r>
          </a:p>
          <a:p>
            <a:r>
              <a:t>培养体积在满足实验需要的前提下尽量小，万一溢洒，量少也更容易控制。</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要查清病原从哪里进入人体：吸入气溶胶、皮肤黏膜接触、锐器刺伤，还是误食入口；会不会形成气溶胶经空气传播。还要看传播方式中有没有媒介（如蜱、蚊等）或动物宿主参与，以及会不会人传人。</a:t>
            </a:r>
          </a:p>
          <a:p>
            <a:r>
              <a:t>途径决定控制重点：能经空气传播的，要特别控制产生气溶胶的操作；经血液传播的，要特别防锐器伤。</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宿主范围：有的病原能在人、多种动物甚至环境中生存，宿主和来源很多样，有的从环境中吸入就能感染；制定管理方案时要把这些都算上。</a:t>
            </a:r>
          </a:p>
          <a:p>
            <a:r>
              <a:t>环境存活：病原在台面、器材和空气中能存活多久，决定了污染范围和消毒要求（消毒见第 076 课）。本地流行情况：病原在本地流行还是外来，本地人可能已有一定免疫力，外来病原则可能没有。</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要问有没有有效的疫苗预防、有没有药物治疗，本地医疗机构能不能及时提供。没有有效的预防和治疗手段，暴露的后果就更严重，风险等级随之升高。</a:t>
            </a:r>
          </a:p>
          <a:p>
            <a:r>
              <a:t>评估要有依据：先查文献、病原资料和已有研究，了解这个病原在实验室里的已知风险和以往的感染事件。</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要问这个生物材料有没有做过基因改造。改造可能改变它的特性，带来新的风险，必须重新评估，并按规定报单位生物安全委员会审查；不能直接沿用未改造亲本的结论。</a:t>
            </a:r>
          </a:p>
          <a:p>
            <a:r>
              <a:t>经改造的植物还要问：有没有毒性，能否随花粉传播、传多远，人员有没有培训，是否在封闭条件下操作。转基因生物的风险评估见第 081 课，植物封闭温室见第 082 课。</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同一个病原，操作不同风险不同。评估先问：你拿它做什么？冻存保存风险最低，开展检测风险升高，大量培养风险最高；只提取核酸风险较低，种植改造植物并收集花粉风险较高。培养使病原数量增加，一旦溢洒后果更重。</a:t>
            </a:r>
          </a:p>
          <a:p>
            <a:r>
              <a:t>浓度越高、体积越大，风险也跟着上升。处理高风险样品或操作时，防护措施要相应升级（防护等级见第 060 课）。</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把整个操作拆成一个个小步骤，每一步问：会不会产生气溶胶（离心、振荡、匀浆、超声、剧烈吹打等）？有没有锐器、溅洒和手接触？把这些风险点标出来。</a:t>
            </a:r>
          </a:p>
          <a:p>
            <a:r>
              <a:t>每一步操作本身的风险都要评估，并写进样本处理方案，对应具体的控制措施，例如移液时沿管壁缓慢放液、在生物安全柜内操作、使用密封离心转子（生物安全柜使用见第 072 课）。</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评估也要看操作的人：免疫状态、健康状况、过敏史、是否怀孕等。免疫低下的人风险更高，需要额外的防护，或者调整工作安排。</a:t>
            </a:r>
          </a:p>
          <a:p>
            <a:r>
              <a:t>本人应主动向实验室负责人说明过敏、免疫低下等情况，负责人据此调整安排，并对个人健康信息保密（健康告知见第 152 课，医学监护与免疫接种见第 069 课）。</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可以把病原要素变成一份问卷，用“是”或“否”逐条回答：是病原吗？暴露后会致病吗？经吸入传播吗？经接触传播吗？在环境中稳定吗？经过改造吗？好治吗？</a:t>
            </a:r>
          </a:p>
          <a:p>
            <a:r>
              <a:t>答“是”（或“不好治”）的地方，就是风险点，要对应到具体的控制措施。问卷的条目可按本校评估程序增减。</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再看现有控制够不够，问设施与管理：人员培训够不够？有没有应急预案？关键设备（生物安全柜、高压灭菌器等）齐不齐、合格不合格？个人防护够不够？废物怎么处置？安保措施和专门的操作规程有没有？</a:t>
            </a:r>
          </a:p>
          <a:p>
            <a:r>
              <a:t>这些要和实验室负责人一起确认。换了病原，规程要重写，人员要重新培训。</a:t>
            </a:r>
          </a:p>
        </p:txBody>
      </p:sp>
      <p:sp>
        <p:nvSpPr>
          <p:cNvPr id="4" name="Slide Number Placeholder 3"/>
          <p:cNvSpPr>
            <a:spLocks noGrp="1"/>
          </p:cNvSpPr>
          <p:nvPr>
            <p:ph type="sldNum" idx="5" sz="quarter"/>
          </p:nvPr>
        </p:nvSpPr>
        <p:spPr/>
      </p:sp>
    </p:spTree>
  </p:cSld>
  <p:clrMapOvr>
    <a:masterClrMapping/>
  </p:clrMapOvr>
</p:notes>
</file>

<file path=ppt/notesSlides/notesSlide2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评估要同时看两类风险：生物安全风险——操作人员和周边社区会不会暴露；生物安保风险——样本会不会丢失、被盗或被滥用（生物安保见第 083 课）。两类风险都要放进同一张评估表里打分。</a:t>
            </a:r>
          </a:p>
        </p:txBody>
      </p:sp>
      <p:sp>
        <p:nvSpPr>
          <p:cNvPr id="4" name="Slide Number Placeholder 3"/>
          <p:cNvSpPr>
            <a:spLocks noGrp="1"/>
          </p:cNvSpPr>
          <p:nvPr>
            <p:ph type="sldNum" idx="5" sz="quarter"/>
          </p:nvPr>
        </p:nvSpPr>
        <p:spPr/>
      </p:sp>
    </p:spTree>
  </p:cSld>
  <p:clrMapOvr>
    <a:masterClrMapping/>
  </p:clrMapOvr>
</p:notes>
</file>

<file path=ppt/notesSlides/notesSlide2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以一个结构化案例说明逐步评估的方法：某研究项目收到一批患者血样，怀疑感染某种经蜱叮咬传播的病原，但未确证——镜检没查到病原，抗体检测阳性；该病原已知靠蜱叮咬传播，未见人传人报道。实验室要做的是分离血清，再做免疫检测。</a:t>
            </a:r>
          </a:p>
          <a:p>
            <a:r>
              <a:t>已掌握的信息（途径、是否人传人、要做的操作）就是评估的依据；未确证的部分按从严原则处理。</a:t>
            </a:r>
          </a:p>
        </p:txBody>
      </p:sp>
      <p:sp>
        <p:nvSpPr>
          <p:cNvPr id="4" name="Slide Number Placeholder 3"/>
          <p:cNvSpPr>
            <a:spLocks noGrp="1"/>
          </p:cNvSpPr>
          <p:nvPr>
            <p:ph type="sldNum" idx="5" sz="quarter"/>
          </p:nvPr>
        </p:nvSpPr>
        <p:spPr/>
      </p:sp>
    </p:spTree>
  </p:cSld>
  <p:clrMapOvr>
    <a:masterClrMapping/>
  </p:clrMapOvr>
</p:notes>
</file>

<file path=ppt/notesSlides/notesSlide2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结构化评估就是把一个流程拆成单个操作，一步一步评估。本案例拆成八步：接收与初始存放、样本编目、分离血清、免疫检测、检测后样本处置、去污、记录保存、意外暴露的应急处置。后四步常被忽略，也不能漏。</a:t>
            </a:r>
          </a:p>
          <a:p>
            <a:r>
              <a:t>更大范围的流程还包括运输、接收、储存、处理、处置和数据传输，每一步都要评一次。例如接收时先在安全柜内检查样本管的密封和标签（样本接收见第 079 课）。</a:t>
            </a:r>
          </a:p>
        </p:txBody>
      </p:sp>
      <p:sp>
        <p:nvSpPr>
          <p:cNvPr id="4" name="Slide Number Placeholder 3"/>
          <p:cNvSpPr>
            <a:spLocks noGrp="1"/>
          </p:cNvSpPr>
          <p:nvPr>
            <p:ph type="sldNum" idx="5" sz="quarter"/>
          </p:nvPr>
        </p:nvSpPr>
        <p:spPr/>
      </p:sp>
    </p:spTree>
  </p:cSld>
  <p:clrMapOvr>
    <a:masterClrMapping/>
  </p:clrMapOvr>
</p:notes>
</file>

<file path=ppt/notesSlides/notesSlide2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每一步都用风险矩阵（可能性配后果，见第 067 课）打分，例如“接收和存放时意外暴露”可能性低、后果低；颜色分低、中、高、很高，一看就懂。各步汇总成累计矩阵或总表，全程风险一行看清，并找出风险最高的步骤。</a:t>
            </a:r>
          </a:p>
          <a:p>
            <a:r>
              <a:t>总表还能看出风险的变化：例如样本灭活后，被盗滥用的风险就降低了。打分要有依据：做熟了也不能随手把可能性打低，要参考实验记录、事件和险兆报告，不凭感觉。</a:t>
            </a:r>
          </a:p>
        </p:txBody>
      </p:sp>
      <p:sp>
        <p:nvSpPr>
          <p:cNvPr id="4" name="Slide Number Placeholder 3"/>
          <p:cNvSpPr>
            <a:spLocks noGrp="1"/>
          </p:cNvSpPr>
          <p:nvPr>
            <p:ph type="sldNum" idx="5" sz="quarter"/>
          </p:nvPr>
        </p:nvSpPr>
        <p:spPr/>
      </p:sp>
    </p:spTree>
  </p:cSld>
  <p:clrMapOvr>
    <a:masterClrMapping/>
  </p:clrMapOvr>
</p:notes>
</file>

<file path=ppt/notesSlides/notesSlide2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评估结束时有一个决策点：在现有控制下，残余风险是否可接受？不够低的，进入下一步风险减缓，对每一项风险点对应具体措施（见第 069 课）。</a:t>
            </a:r>
          </a:p>
          <a:p>
            <a:r>
              <a:t>评估结果要写成文件，按本校程序经生物安全委员会审核，再对应到一条条具体措施并落实。评清楚、控到位，再决定是否开展。</a:t>
            </a:r>
          </a:p>
        </p:txBody>
      </p:sp>
      <p:sp>
        <p:nvSpPr>
          <p:cNvPr id="4" name="Slide Number Placeholder 3"/>
          <p:cNvSpPr>
            <a:spLocks noGrp="1"/>
          </p:cNvSpPr>
          <p:nvPr>
            <p:ph type="sldNum" idx="5" sz="quarter"/>
          </p:nvPr>
        </p:nvSpPr>
        <p:spPr/>
      </p:sp>
    </p:spTree>
  </p:cSld>
  <p:clrMapOvr>
    <a:masterClrMapping/>
  </p:clrMapOvr>
</p:notes>
</file>

<file path=ppt/notesSlides/notesSlide2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答案：B。解析：两套编号方向相反；分类只是评估的起点。</a:t>
            </a:r>
          </a:p>
          <a:p>
            <a:r>
              <a:t>第 2 题 答案：B。解析：冻存最低、检测升高、大量培养最高，浓度和量越大风险越高。</a:t>
            </a:r>
          </a:p>
        </p:txBody>
      </p:sp>
      <p:sp>
        <p:nvSpPr>
          <p:cNvPr id="4" name="Slide Number Placeholder 3"/>
          <p:cNvSpPr>
            <a:spLocks noGrp="1"/>
          </p:cNvSpPr>
          <p:nvPr>
            <p:ph type="sldNum" idx="5" sz="quarter"/>
          </p:nvPr>
        </p:nvSpPr>
        <p:spPr/>
      </p:sp>
    </p:spTree>
  </p:cSld>
  <p:clrMapOvr>
    <a:masterClrMapping/>
  </p:clrMapOvr>
</p:notes>
</file>

<file path=ppt/notesSlides/notesSlide2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答案：D。解析：病原层面看分类、致病性与感染剂量、途径与媒介、宿主、存活、本地流行、防治和改造。</a:t>
            </a:r>
          </a:p>
          <a:p>
            <a:r>
              <a:t>第 4 题 答案：B。解析：应主动说明，负责人据此调整安排并为个人保密。</a:t>
            </a:r>
          </a:p>
        </p:txBody>
      </p:sp>
      <p:sp>
        <p:nvSpPr>
          <p:cNvPr id="4" name="Slide Number Placeholder 3"/>
          <p:cNvSpPr>
            <a:spLocks noGrp="1"/>
          </p:cNvSpPr>
          <p:nvPr>
            <p:ph type="sldNum" idx="5" sz="quarter"/>
          </p:nvPr>
        </p:nvSpPr>
        <p:spPr/>
      </p:sp>
    </p:spTree>
  </p:cSld>
  <p:clrMapOvr>
    <a:masterClrMapping/>
  </p:clrMapOvr>
</p:notes>
</file>

<file path=ppt/notesSlides/notesSlide2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答案：B。解析：每一步都要评，后几步也不能漏，汇成总表看全程风险。</a:t>
            </a:r>
          </a:p>
          <a:p>
            <a:r>
              <a:t>第 6 题 答案：病原未确认的样本、经过改造的材料、临床样本、土壤等环境样本、野生动物来源的样本（包括看似健康来源的）。解析：信息不足时风险往高处估，报生物安全委员会审核。</a:t>
            </a:r>
          </a:p>
        </p:txBody>
      </p:sp>
      <p:sp>
        <p:nvSpPr>
          <p:cNvPr id="4" name="Slide Number Placeholder 3"/>
          <p:cNvSpPr>
            <a:spLocks noGrp="1"/>
          </p:cNvSpPr>
          <p:nvPr>
            <p:ph type="sldNum" idx="5" sz="quarter"/>
          </p:nvPr>
        </p:nvSpPr>
        <p:spPr/>
      </p:sp>
    </p:spTree>
  </p:cSld>
  <p:clrMapOvr>
    <a:masterClrMapping/>
  </p:clrMapOvr>
</p:notes>
</file>

<file path=ppt/notesSlides/notesSlide2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风险评估（见第 067、068 课）只是在提问：有什么风险、有多大，本身不会让风险变小；风险减缓才是真正把风险降下来。流程是：识别危害、评估风险，然后进入减缓，控制措施在这一步登场。</a:t>
            </a:r>
          </a:p>
          <a:p>
            <a:r>
              <a:t>控制就是落实管理决策的行动：评估报告里定下的每一条措施，都要落实到设施、规程、培训和防护上，而且几类措施要一起用、互相补位。</a:t>
            </a:r>
          </a:p>
        </p:txBody>
      </p:sp>
      <p:sp>
        <p:nvSpPr>
          <p:cNvPr id="4" name="Slide Number Placeholder 3"/>
          <p:cNvSpPr>
            <a:spLocks noGrp="1"/>
          </p:cNvSpPr>
          <p:nvPr>
            <p:ph type="sldNum" idx="5" sz="quarter"/>
          </p:nvPr>
        </p:nvSpPr>
        <p:spPr/>
      </p:sp>
    </p:spTree>
  </p:cSld>
  <p:clrMapOvr>
    <a:masterClrMapping/>
  </p:clrMapOvr>
</p:notes>
</file>

<file path=ppt/notesSlides/notesSlide2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风险的控制措施分五类，可以用一只手的五根手指来记：消除、替代、工程控制、管理控制、个人防护。它们排成一个层级（倒金字塔），选措施时从上往下：先想能不能不做、能不能换，再上设施设备和规程，个人防护垫底，不能单靠它。控制层级的通用讲法见第 017 课。</a:t>
            </a:r>
          </a:p>
          <a:p>
            <a:r>
              <a:t>打个比方：汽车的安全带和刹车是工程控制，驾照和交通规则是管理控制。能从源头消除或替代的风险，不要只靠口罩手套来挡。加完控制后，再看残余风险，决定做还是不做（见第 067 课）。</a:t>
            </a:r>
          </a:p>
        </p:txBody>
      </p:sp>
      <p:sp>
        <p:nvSpPr>
          <p:cNvPr id="4" name="Slide Number Placeholder 3"/>
          <p:cNvSpPr>
            <a:spLocks noGrp="1"/>
          </p:cNvSpPr>
          <p:nvPr>
            <p:ph type="sldNum" idx="5" sz="quarter"/>
          </p:nvPr>
        </p:nvSpPr>
        <p:spPr/>
      </p:sp>
    </p:spTree>
  </p:cSld>
  <p:clrMapOvr>
    <a:masterClrMapping/>
  </p:clrMapOvr>
</p:notes>
</file>

<file path=ppt/notesSlides/notesSlide2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消除是最有效的控制：风险太大，或者没有合适的设施（如没有生物安全柜、没有定向气流）、人员没有培训、人手不足，这个实验就不做，或者转到具备条件的单位开展。</a:t>
            </a:r>
          </a:p>
          <a:p>
            <a:r>
              <a:t>但消除也不是一刀切：全部停掉会阻碍科研进步，要在评估的基础上给研究留出空间，通过其他控制把风险降到可接受，再谨慎开展。</a:t>
            </a:r>
          </a:p>
        </p:txBody>
      </p:sp>
      <p:sp>
        <p:nvSpPr>
          <p:cNvPr id="4" name="Slide Number Placeholder 3"/>
          <p:cNvSpPr>
            <a:spLocks noGrp="1"/>
          </p:cNvSpPr>
          <p:nvPr>
            <p:ph type="sldNum" idx="5" sz="quarter"/>
          </p:nvPr>
        </p:nvSpPr>
        <p:spPr/>
      </p:sp>
    </p:spTree>
  </p:cSld>
  <p:clrMapOvr>
    <a:masterClrMapping/>
  </p:clrMapOvr>
</p:notes>
</file>

<file path=ppt/notesSlides/notesSlide2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替代就是换成风险更低的方案：例如改用减毒、弱化的株，在实验室里更好管理；样本在送来之前先按规定灭活，风险就大大降低；能用塑料器材就不用玻璃，能不用锐器就不用锐器。</a:t>
            </a:r>
          </a:p>
          <a:p>
            <a:r>
              <a:t>替代方案本身也要经过评估再换，确认新方案确实风险更低、又能满足实验需要（灭活要经过验证）。</a:t>
            </a:r>
          </a:p>
        </p:txBody>
      </p:sp>
      <p:sp>
        <p:nvSpPr>
          <p:cNvPr id="4" name="Slide Number Placeholder 3"/>
          <p:cNvSpPr>
            <a:spLocks noGrp="1"/>
          </p:cNvSpPr>
          <p:nvPr>
            <p:ph type="sldNum" idx="5" sz="quarter"/>
          </p:nvPr>
        </p:nvSpPr>
        <p:spPr/>
      </p:sp>
    </p:spTree>
  </p:cSld>
  <p:clrMapOvr>
    <a:masterClrMapping/>
  </p:clrMapOvr>
</p:notes>
</file>

<file path=ppt/notesSlides/notesSlide2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工程控制是用专门设计的设施设备把病原关住，给人创造安全的工作环境：例如在生物安全柜内操作并接好排风，加上高效过滤和污水处理；实验室保持负压，空气从外往里流，就形成了封闭。</a:t>
            </a:r>
          </a:p>
          <a:p>
            <a:r>
              <a:t>封闭原理、设施布局和运行维护分别见第 062、063、064 课，生物安全柜见第 071–073 课。</a:t>
            </a:r>
          </a:p>
        </p:txBody>
      </p:sp>
      <p:sp>
        <p:nvSpPr>
          <p:cNvPr id="4" name="Slide Number Placeholder 3"/>
          <p:cNvSpPr>
            <a:spLocks noGrp="1"/>
          </p:cNvSpPr>
          <p:nvPr>
            <p:ph type="sldNum" idx="5" sz="quarter"/>
          </p:nvPr>
        </p:nvSpPr>
        <p:spPr/>
      </p:sp>
    </p:spTree>
  </p:cSld>
  <p:clrMapOvr>
    <a:masterClrMapping/>
  </p:clrMapOvr>
</p:notes>
</file>

<file path=ppt/notesSlides/notesSlide2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个人防护是最后一道防线：其他措施失灵时靠它挡住，所以不能只靠防护用品。防护服挡住皮肤接触；可经空气传播的，按评估选用防护口罩或动力送风呼吸器；可经眼睛感染的，要戴护目镜；接触实验动物，要戴防咬手套。</a:t>
            </a:r>
          </a:p>
          <a:p>
            <a:r>
              <a:t>不会正确穿脱，反而可能污染自己，所以每件防护都配有使用规程。防护装备的选用见第 074 课，穿戴与脱卸见第 075 课。</a:t>
            </a:r>
          </a:p>
        </p:txBody>
      </p:sp>
      <p:sp>
        <p:nvSpPr>
          <p:cNvPr id="4" name="Slide Number Placeholder 3"/>
          <p:cNvSpPr>
            <a:spLocks noGrp="1"/>
          </p:cNvSpPr>
          <p:nvPr>
            <p:ph type="sldNum" idx="5" sz="quarter"/>
          </p:nvPr>
        </p:nvSpPr>
        <p:spPr/>
      </p:sp>
    </p:spTree>
  </p:cSld>
  <p:clrMapOvr>
    <a:masterClrMapping/>
  </p:clrMapOvr>
</p:notes>
</file>

<file path=ppt/notesSlides/notesSlide2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五类控制不是单用，而是同时用、互相补位，缺一块就有漏洞。实验室和生物安全柜是工程控制，但进出实验室、使用安全柜都要靠规程来管；防护用品是个人防护，但穿脱要按规程，规程又属于管理控制。这些都写进实验室生物安全手册。</a:t>
            </a:r>
          </a:p>
          <a:p>
            <a:r>
              <a:t>有了好设施，操作也不能随便：工程控制不能代替规范操作，设施加规范，才真正安全。</a:t>
            </a:r>
          </a:p>
        </p:txBody>
      </p:sp>
      <p:sp>
        <p:nvSpPr>
          <p:cNvPr id="4" name="Slide Number Placeholder 3"/>
          <p:cNvSpPr>
            <a:spLocks noGrp="1"/>
          </p:cNvSpPr>
          <p:nvPr>
            <p:ph type="sldNum" idx="5" sz="quarter"/>
          </p:nvPr>
        </p:nvSpPr>
        <p:spPr/>
      </p:sp>
    </p:spTree>
  </p:cSld>
  <p:clrMapOvr>
    <a:masterClrMapping/>
  </p:clrMapOvr>
</p:notes>
</file>

<file path=ppt/notesSlides/notesSlide2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在第 068 课把流程拆成单步、逐步打分之后，对每一步依次问五个控制问题：能不能不做（消除）？能不能换个办法（替代）？能不能加设备（工程控制）？要不要专门的规程（管理控制）？要什么防护（个人防护）？</a:t>
            </a:r>
          </a:p>
          <a:p>
            <a:r>
              <a:t>把每一步选定的措施汇总成一张措施表，例如“接收与存放”主要靠规程和个人防护，再据此落实和检查（绩效评估见第 066 课）。</a:t>
            </a:r>
          </a:p>
        </p:txBody>
      </p:sp>
      <p:sp>
        <p:nvSpPr>
          <p:cNvPr id="4" name="Slide Number Placeholder 3"/>
          <p:cNvSpPr>
            <a:spLocks noGrp="1"/>
          </p:cNvSpPr>
          <p:nvPr>
            <p:ph type="sldNum" idx="5" sz="quarter"/>
          </p:nvPr>
        </p:nvSpPr>
        <p:spPr/>
      </p:sp>
    </p:spTree>
  </p:cSld>
  <p:clrMapOvr>
    <a:masterClrMapping/>
  </p:clrMapOvr>
</p:notes>
</file>

<file path=ppt/notesSlides/notesSlide2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管理控制是生物风险管理的基石，要在设计建设设施之前，就以安全手册和管理制度的形式定下来。它包括书面的政策、规则、工作安排、培训和记录，一切都要白纸黑字，检查时要看记录。</a:t>
            </a:r>
          </a:p>
          <a:p>
            <a:r>
              <a:t>管理控制种类很多：管理计划、生物安全委员会（以及实验动物、伦理等委员会）、人员与培训、手册、标识、库存、体检、检查审核和文件记录，也包括准入、个人防护和操作规范的要求，以及对工作人员心理和压力的关注。目标是减少接触的时间、次数和严重程度，把风险降下来。</a:t>
            </a:r>
          </a:p>
        </p:txBody>
      </p:sp>
      <p:sp>
        <p:nvSpPr>
          <p:cNvPr id="4" name="Slide Number Placeholder 3"/>
          <p:cNvSpPr>
            <a:spLocks noGrp="1"/>
          </p:cNvSpPr>
          <p:nvPr>
            <p:ph type="sldNum" idx="5" sz="quarter"/>
          </p:nvPr>
        </p:nvSpPr>
        <p:spPr/>
      </p:sp>
    </p:spTree>
  </p:cSld>
  <p:clrMapOvr>
    <a:masterClrMapping/>
  </p:clrMapOvr>
</p:notes>
</file>

<file path=ppt/notesSlides/notesSlide2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外部要求来自单位以外：国家法律法规、国家标准和行业标准，以及地方规定（例如排水、废物处置的地方要求）；国际指南只作参考。订制度前要把国内法规查清楚，职业健康、转基因生物安全等方面尤其要注意（转基因见第 081 课）。</a:t>
            </a:r>
          </a:p>
          <a:p>
            <a:r>
              <a:t>内部制度由学校、学院和实验室按需要制定，但必须放在法律框架里面，不能与法规冲突。单位要找出所有相关要求并逐条落实，不能说“我不知道有这个规定”；拿不准的，请懂法规的人把关。管理制度要有领导支持，每个人都要对自己的事负责，制度变成做法，做法留下记录。</a:t>
            </a:r>
          </a:p>
        </p:txBody>
      </p:sp>
      <p:sp>
        <p:nvSpPr>
          <p:cNvPr id="4" name="Slide Number Placeholder 3"/>
          <p:cNvSpPr>
            <a:spLocks noGrp="1"/>
          </p:cNvSpPr>
          <p:nvPr>
            <p:ph type="sldNum" idx="5" sz="quarter"/>
          </p:nvPr>
        </p:nvSpPr>
        <p:spPr/>
      </p:sp>
    </p:spTree>
  </p:cSld>
  <p:clrMapOvr>
    <a:masterClrMapping/>
  </p:clrMapOvr>
</p:notes>
</file>

<file path=ppt/notesSlides/notesSlide2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标准操作规程的通用原则是“写你所做，做你所写”：规程写的就是实际做的，实际做的就要和规程一致，记录也要与之相符。操作时严格按规程，一步都不能省；规程本身也要测试，确认管用。</a:t>
            </a:r>
          </a:p>
          <a:p>
            <a:r>
              <a:t>规程里要写清应急步骤：溢洒、针刺、暴露怎么处置，先处置，再逐级上报（处置见第 078 课）。记录可以是电子或纸质的：电子记录要备份、要保密，纸质记录要归档存放，记录要有人核实确认。</a:t>
            </a:r>
          </a:p>
        </p:txBody>
      </p:sp>
      <p:sp>
        <p:nvSpPr>
          <p:cNvPr id="4" name="Slide Number Placeholder 3"/>
          <p:cNvSpPr>
            <a:spLocks noGrp="1"/>
          </p:cNvSpPr>
          <p:nvPr>
            <p:ph type="sldNum" idx="5" sz="quarter"/>
          </p:nvPr>
        </p:nvSpPr>
        <p:spPr/>
      </p:sp>
    </p:spTree>
  </p:cSld>
  <p:clrMapOvr>
    <a:masterClrMapping/>
  </p:clrMapOvr>
</p:notes>
</file>

<file path=ppt/notesSlides/notesSlide2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核对表和操作规程配套使用：边做边勾，保持情景意识，知道自己做到了哪一步。人累了容易出错，长流程要安排轮班或休息。</a:t>
            </a:r>
          </a:p>
          <a:p>
            <a:r>
              <a:t>核对表可以自查，也可以同伴互查；填好的核对表按规定存档（电子、纸质均可），检查和审核时要查。</a:t>
            </a:r>
          </a:p>
        </p:txBody>
      </p:sp>
      <p:sp>
        <p:nvSpPr>
          <p:cNvPr id="4" name="Slide Number Placeholder 3"/>
          <p:cNvSpPr>
            <a:spLocks noGrp="1"/>
          </p:cNvSpPr>
          <p:nvPr>
            <p:ph type="sldNum" idx="5" sz="quarter"/>
          </p:nvPr>
        </p:nvSpPr>
        <p:spPr/>
      </p:sp>
    </p:spTree>
  </p:cSld>
  <p:clrMapOvr>
    <a:masterClrMapping/>
  </p:clrMapOvr>
</p:notes>
</file>

<file path=ppt/notesSlides/notesSlide2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人员上岗前要看学历、培训经历、实际操作能力和相关经验，由单位考核合格后准入（准入与培训制度见第 007 课，以本校规定为准）。按能力分工；换任务、遇到新情况、来了新设备、出了新规定，都要培训。培训要在本实验室、结合实际进行，在别处合格，换地方还要重新学。定期在工作台旁考核，不合格就再培训；培训要留记录，能力要能证明。</a:t>
            </a:r>
          </a:p>
          <a:p>
            <a:r>
              <a:t>风险评估做完，要讲给每个一起工作的人，看懂后签字确认，评估更新后再告诉大家。使用者还要签承诺：自己遵守规程，也提醒别人遵守；事故和未遂事件都要报告；出现相关症状或新的健康问题也要报告。</a:t>
            </a:r>
          </a:p>
        </p:txBody>
      </p:sp>
      <p:sp>
        <p:nvSpPr>
          <p:cNvPr id="4" name="Slide Number Placeholder 3"/>
          <p:cNvSpPr>
            <a:spLocks noGrp="1"/>
          </p:cNvSpPr>
          <p:nvPr>
            <p:ph type="sldNum" idx="5" sz="quarter"/>
          </p:nvPr>
        </p:nvSpPr>
        <p:spPr/>
      </p:sp>
    </p:spTree>
  </p:cSld>
  <p:clrMapOvr>
    <a:masterClrMapping/>
  </p:clrMapOvr>
</p:notes>
</file>

<file path=ppt/notesSlides/notesSlide2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门口的生物危害标志和安全信息牌要说清：有什么生物危害、防护级别、实验室负责人和应急联系电话。需要接种疫苗或佩戴呼吸防护才能进入的，要标明进入条件；免疫低下等感染风险高的人员，不进入相应区域。</a:t>
            </a:r>
          </a:p>
          <a:p>
            <a:r>
              <a:t>标识按国家标准和本校规定的式样设置，信息变化时及时更新。</a:t>
            </a:r>
          </a:p>
        </p:txBody>
      </p:sp>
      <p:sp>
        <p:nvSpPr>
          <p:cNvPr id="4" name="Slide Number Placeholder 3"/>
          <p:cNvSpPr>
            <a:spLocks noGrp="1"/>
          </p:cNvSpPr>
          <p:nvPr>
            <p:ph type="sldNum" idx="5" sz="quarter"/>
          </p:nvPr>
        </p:nvSpPr>
        <p:spPr/>
      </p:sp>
    </p:spTree>
  </p:cSld>
  <p:clrMapOvr>
    <a:masterClrMapping/>
  </p:clrMapOvr>
</p:notes>
</file>

<file path=ppt/notesSlides/notesSlide2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管理从一本清单开始：有哪些菌种、毒种、样本、质粒、转基因材料和实验动物，做哪些实验，都登记清楚，变了就更新。台账写明存放位置、安保要求、领用和去向，来龙去脉随时查得到。</a:t>
            </a:r>
          </a:p>
          <a:p>
            <a:r>
              <a:t>菌毒种和样本要专柜保存、专人保管，贴好标签，领用、归还、销毁都要登记。不得私自带出实验室，不得私自转送他人；不把来历不明的菌株带进实验室。用过的菌液和平板先灭活再处理，不能直接倒进水槽（感染性废物见第 077 课）。</a:t>
            </a:r>
          </a:p>
          <a:p>
            <a:r>
              <a:t>发现菌毒种或样本丢失、被盗，立即报告实验室负责人和保卫处，并按规定逐级上报，不得隐瞒（生物安保见第 083 课）。</a:t>
            </a:r>
          </a:p>
        </p:txBody>
      </p:sp>
      <p:sp>
        <p:nvSpPr>
          <p:cNvPr id="4" name="Slide Number Placeholder 3"/>
          <p:cNvSpPr>
            <a:spLocks noGrp="1"/>
          </p:cNvSpPr>
          <p:nvPr>
            <p:ph type="sldNum" idx="5" sz="quarter"/>
          </p:nvPr>
        </p:nvSpPr>
        <p:spPr/>
      </p:sp>
    </p:spTree>
  </p:cSld>
  <p:clrMapOvr>
    <a:masterClrMapping/>
  </p:clrMapOvr>
</p:notes>
</file>

<file path=ppt/notesSlides/notesSlide2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处理病原微生物或临床样本前，按规定做上岗体检，健康史（如过敏）要记录；按风险评估和规定，必要时留存本底血清，以后需要时可比对，判断有没有在实验室里发生暴露。接触高致病性病原微生物的人员，按规定进行审查（以现行规定为准）。</a:t>
            </a:r>
          </a:p>
          <a:p>
            <a:r>
              <a:t>工作前、中、后都要关注健康，按规定定期体检和健康监测。发生暴露后，由单位负责安排医学评估、预防性处置和救治。职业健康监护的一般要求见第 152 课。</a:t>
            </a:r>
          </a:p>
        </p:txBody>
      </p:sp>
      <p:sp>
        <p:nvSpPr>
          <p:cNvPr id="4" name="Slide Number Placeholder 3"/>
          <p:cNvSpPr>
            <a:spLocks noGrp="1"/>
          </p:cNvSpPr>
          <p:nvPr>
            <p:ph type="sldNum" idx="5" sz="quarter"/>
          </p:nvPr>
        </p:nvSpPr>
        <p:spPr/>
      </p:sp>
    </p:spTree>
  </p:cSld>
  <p:clrMapOvr>
    <a:masterClrMapping/>
  </p:clrMapOvr>
</p:notes>
</file>

<file path=ppt/notesSlides/notesSlide2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有的病原有疫苗可用。风险评估认为需要接种的，按要求在上岗前完成接种，并记入健康档案（具体接种项目以评估和本校规定为准）。</a:t>
            </a:r>
          </a:p>
          <a:p>
            <a:r>
              <a:t>疫苗不是万能的：保护作用因人而异，也不覆盖其他危害，打了疫苗，个人防护和规范操作一样也不能少。</a:t>
            </a:r>
          </a:p>
        </p:txBody>
      </p:sp>
      <p:sp>
        <p:nvSpPr>
          <p:cNvPr id="4" name="Slide Number Placeholder 3"/>
          <p:cNvSpPr>
            <a:spLocks noGrp="1"/>
          </p:cNvSpPr>
          <p:nvPr>
            <p:ph type="sldNum" idx="5" sz="quarter"/>
          </p:nvPr>
        </p:nvSpPr>
        <p:spPr/>
      </p:sp>
    </p:spTree>
  </p:cSld>
  <p:clrMapOvr>
    <a:masterClrMapping/>
  </p:clrMapOvr>
</p:notes>
</file>

<file path=ppt/notesSlides/notesSlide2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健康监测也落到每个人身上。做完实验后出现发热等身体不适，要及时就医，并主动告诉医生自己在什么实验室工作、接触过哪类微生物，便于医生及早判断。</a:t>
            </a:r>
          </a:p>
          <a:p>
            <a:r>
              <a:t>同时报告导师和实验室负责人，便于及早查明原因、采取措施，保护其他人员。</a:t>
            </a:r>
          </a:p>
        </p:txBody>
      </p:sp>
      <p:sp>
        <p:nvSpPr>
          <p:cNvPr id="4" name="Slide Number Placeholder 3"/>
          <p:cNvSpPr>
            <a:spLocks noGrp="1"/>
          </p:cNvSpPr>
          <p:nvPr>
            <p:ph type="sldNum" idx="5" sz="quarter"/>
          </p:nvPr>
        </p:nvSpPr>
        <p:spPr/>
      </p:sp>
    </p:spTree>
  </p:cSld>
  <p:clrMapOvr>
    <a:masterClrMapping/>
  </p:clrMapOvr>
</p:notes>
</file>

<file path=ppt/notesSlides/notesSlide2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一个课题组里有好几人生病，而他们用过同一种生物因子，且这种因子外部环境中也存在：是在实验室里感染的，还是之前或在外面感染的？生物安全员要会调查，查健康记录（体检、本底血清），也查工作记录（谁在什么时间做了什么操作）。</a:t>
            </a:r>
          </a:p>
          <a:p>
            <a:r>
              <a:t>疑似实验室感染要立即按规定报告并处置（以现行规定和本校规定为准），对相关人员进行医学观察和随访。生物安全员要和学校医务、职业健康部门合作，做好预防和健康监测。</a:t>
            </a:r>
          </a:p>
        </p:txBody>
      </p:sp>
      <p:sp>
        <p:nvSpPr>
          <p:cNvPr id="4" name="Slide Number Placeholder 3"/>
          <p:cNvSpPr>
            <a:spLocks noGrp="1"/>
          </p:cNvSpPr>
          <p:nvPr>
            <p:ph type="sldNum" idx="5" sz="quarter"/>
          </p:nvPr>
        </p:nvSpPr>
        <p:spPr/>
      </p:sp>
    </p:spTree>
  </p:cSld>
  <p:clrMapOvr>
    <a:masterClrMapping/>
  </p:clrMapOvr>
</p:notes>
</file>

<file path=ppt/notesSlides/notesSlide2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生物毒素是生物来源的有毒物质，可能少量就造成严重伤害，属于需要特别管理的材料。要专人专柜（加锁）保管，领用要登记、双人复核，定期清点数量，账物相符。</a:t>
            </a:r>
          </a:p>
          <a:p>
            <a:r>
              <a:t>用完按规定方法灭活，再作为废物处置。属于国家管制范围的，按相应规定管理和审批（以现行规定和本校规定为准）；发现丢失、被盗立即报告。</a:t>
            </a:r>
          </a:p>
        </p:txBody>
      </p:sp>
      <p:sp>
        <p:nvSpPr>
          <p:cNvPr id="4" name="Slide Number Placeholder 3"/>
          <p:cNvSpPr>
            <a:spLocks noGrp="1"/>
          </p:cNvSpPr>
          <p:nvPr>
            <p:ph type="sldNum" idx="5" sz="quarter"/>
          </p:nvPr>
        </p:nvSpPr>
        <p:spPr/>
      </p:sp>
    </p:spTree>
  </p:cSld>
  <p:clrMapOvr>
    <a:masterClrMapping/>
  </p:clrMapOvr>
</p:notes>
</file>

<file path=ppt/notesSlides/notesSlide2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答案：B。解析：从上往下选，越往上越有效，个人防护是最后一道防线。</a:t>
            </a:r>
          </a:p>
          <a:p>
            <a:r>
              <a:t>第 2 题 答案：B。解析：各类控制要并用，工程控制代替不了规范操作。</a:t>
            </a:r>
          </a:p>
        </p:txBody>
      </p:sp>
      <p:sp>
        <p:nvSpPr>
          <p:cNvPr id="4" name="Slide Number Placeholder 3"/>
          <p:cNvSpPr>
            <a:spLocks noGrp="1"/>
          </p:cNvSpPr>
          <p:nvPr>
            <p:ph type="sldNum" idx="5" sz="quarter"/>
          </p:nvPr>
        </p:nvSpPr>
        <p:spPr/>
      </p:sp>
    </p:spTree>
  </p:cSld>
  <p:clrMapOvr>
    <a:masterClrMapping/>
  </p:clrMapOvr>
</p:notes>
</file>

<file path=ppt/notesSlides/notesSlide2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答案：B。解析：清单台账，去向可查；不私自带出、不转送；用过的先灭活。</a:t>
            </a:r>
          </a:p>
          <a:p>
            <a:r>
              <a:t>第 4 题 答案：B。解析：打了疫苗，防护和规范操作也不能少。</a:t>
            </a:r>
          </a:p>
        </p:txBody>
      </p:sp>
      <p:sp>
        <p:nvSpPr>
          <p:cNvPr id="4" name="Slide Number Placeholder 3"/>
          <p:cNvSpPr>
            <a:spLocks noGrp="1"/>
          </p:cNvSpPr>
          <p:nvPr>
            <p:ph type="sldNum" idx="5" sz="quarter"/>
          </p:nvPr>
        </p:nvSpPr>
        <p:spPr/>
      </p:sp>
    </p:spTree>
  </p:cSld>
  <p:clrMapOvr>
    <a:masterClrMapping/>
  </p:clrMapOvr>
</p:notes>
</file>

<file path=ppt/notesSlides/notesSlide2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答案：B。解析：说明接触史便于及早判断，报告负责人便于查明原因、保护他人。</a:t>
            </a:r>
          </a:p>
          <a:p>
            <a:r>
              <a:t>第 6 题 答案：专人专柜（加锁）保管，领用登记、双人复核，定期清点账物相符，用完按规定灭活再作废物处置，丢失被盗立即报告。解析：属于国家管制范围的按相应规定管理。</a:t>
            </a:r>
          </a:p>
        </p:txBody>
      </p:sp>
      <p:sp>
        <p:nvSpPr>
          <p:cNvPr id="4" name="Slide Number Placeholder 3"/>
          <p:cNvSpPr>
            <a:spLocks noGrp="1"/>
          </p:cNvSpPr>
          <p:nvPr>
            <p:ph type="sldNum" idx="5" sz="quarter"/>
          </p:nvPr>
        </p:nvSpPr>
        <p:spPr/>
      </p:sp>
    </p:spTree>
  </p:cSld>
  <p:clrMapOvr>
    <a:masterClrMapping/>
  </p:clrMapOvr>
</p:notes>
</file>

<file path=ppt/notesSlides/notesSlide2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一个生物安全实验室能否安全运行，首先看组织：谁决策、谁把关、谁执行。高校实行学校—学院—实验室三级管理（通用讲法见第 004 课），实验室负责人是本实验室生物安全的第一责任人。</a:t>
            </a:r>
          </a:p>
          <a:p>
            <a:r>
              <a:t>生物安全的组织结构可以分三层：上层是学校和学院领导，负责决策和资源保障；中层是生物安全委员会和生物安全员，负责审查和把关；下层是技术人员、研究人员和辅助人员，按规程执行。周边还有设施工程（电、通风、空调）、保卫（门禁和数据安全）、职业健康（体检和医学监护）、实验动物管理以及外部专家顾问。</a:t>
            </a:r>
          </a:p>
          <a:p>
            <a:r>
              <a:t>体系里最关键的是人。每一层的人员都要经过培训，而且培训不是一次性的，要随着任务、设备和规定的变化持续进行（见第 069 课）。</a:t>
            </a:r>
          </a:p>
        </p:txBody>
      </p:sp>
      <p:sp>
        <p:nvSpPr>
          <p:cNvPr id="4" name="Slide Number Placeholder 3"/>
          <p:cNvSpPr>
            <a:spLocks noGrp="1"/>
          </p:cNvSpPr>
          <p:nvPr>
            <p:ph type="sldNum" idx="5" sz="quarter"/>
          </p:nvPr>
        </p:nvSpPr>
        <p:spPr/>
      </p:sp>
    </p:spTree>
  </p:cSld>
  <p:clrMapOvr>
    <a:masterClrMapping/>
  </p:clrMapOvr>
</p:notes>
</file>

<file path=ppt/notesSlides/notesSlide2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高校、科研院所和医院一般都设有单位生物安全委员会，成员包括管理人员和生物安全、微生物、医学、工程等方面的技术专家。委员会位于组织的顶端，制定本单位、本实验室的生物安全政策，并通过设施经理、生物安全员和相关职能部门监督落实。</a:t>
            </a:r>
          </a:p>
          <a:p>
            <a:r>
              <a:t>委员会的核心工作是审查：涉及病原微生物、转基因等的研究，新课题开题或方法有重大改变时，先做风险评估（见第 067、068 课），再提交委员会审查；风险评估结论和应采用的防护级别由委员会把关。</a:t>
            </a:r>
          </a:p>
          <a:p>
            <a:r>
              <a:t>国内对实验室和实验活动有法定程序：一级、二级生物安全实验室按规定向主管部门备案；三级、四级实验室须通过国家认可，从事高致病性病原微生物实验活动须经批准（具体程序以现行法规为准）。学生不能自己决定开展新实验，更不能自己给病原或实验活动"定级"。</a:t>
            </a:r>
          </a:p>
        </p:txBody>
      </p:sp>
      <p:sp>
        <p:nvSpPr>
          <p:cNvPr id="4" name="Slide Number Placeholder 3"/>
          <p:cNvSpPr>
            <a:spLocks noGrp="1"/>
          </p:cNvSpPr>
          <p:nvPr>
            <p:ph type="sldNum" idx="5" sz="quarter"/>
          </p:nvPr>
        </p:nvSpPr>
        <p:spPr/>
      </p:sp>
    </p:spTree>
  </p:cSld>
  <p:clrMapOvr>
    <a:masterClrMapping/>
  </p:clrMapOvr>
</p:notes>
</file>

<file path=ppt/notesSlides/notesSlide2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设施经理（设施工程师）负责生物安全实验室的"硬件"：供电、通风和定向气流、空调、给排水、高压灭菌器等设施设备的运行和日常维护，设备出故障时组织抢修。他应当是合格的工程技术人员。</a:t>
            </a:r>
          </a:p>
          <a:p>
            <a:r>
              <a:t>设施经理进入实验室维修时同样面临生物风险，所以除了懂工程，还必须懂生物安全规程：维修前与实验室负责人沟通、按要求消毒和穿戴防护、做好记录（设施的设计与运行见第 064 课）。</a:t>
            </a:r>
          </a:p>
        </p:txBody>
      </p:sp>
      <p:sp>
        <p:nvSpPr>
          <p:cNvPr id="4" name="Slide Number Placeholder 3"/>
          <p:cNvSpPr>
            <a:spLocks noGrp="1"/>
          </p:cNvSpPr>
          <p:nvPr>
            <p:ph type="sldNum" idx="5" sz="quarter"/>
          </p:nvPr>
        </p:nvSpPr>
        <p:spPr/>
      </p:sp>
    </p:spTree>
  </p:cSld>
  <p:clrMapOvr>
    <a:masterClrMapping/>
  </p:clrMapOvr>
</p:notes>
</file>

<file path=ppt/notesSlides/notesSlide2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生物安全员（有的单位称生物安全负责人、安全监督员）是生物安全体系中"人"的关键一环：读懂单位的生物安全政策，并把它落实到每一间实验室。他应受过专门培训，懂生物学、懂法规、也懂操作。</a:t>
            </a:r>
          </a:p>
          <a:p>
            <a:r>
              <a:t>安全员的主要工作是三步循环：评估风险、落实控制措施、检查控制成效。在实验室现场，安全员有权监督日常运行；发现防护被破坏或违规操作，有权当场指出并制止。按 GB 19489-2008（以现行文本为准）的要求，单位应指定安全负责人，并赋予其监督实验室活动、制止不安全行为的职责和权力。</a:t>
            </a:r>
          </a:p>
          <a:p>
            <a:r>
              <a:t>各单位对这一岗位的叫法可能不同，但职责是相近的。</a:t>
            </a:r>
          </a:p>
        </p:txBody>
      </p:sp>
      <p:sp>
        <p:nvSpPr>
          <p:cNvPr id="4" name="Slide Number Placeholder 3"/>
          <p:cNvSpPr>
            <a:spLocks noGrp="1"/>
          </p:cNvSpPr>
          <p:nvPr>
            <p:ph type="sldNum" idx="5" sz="quarter"/>
          </p:nvPr>
        </p:nvSpPr>
        <p:spPr/>
      </p:sp>
    </p:spTree>
  </p:cSld>
  <p:clrMapOvr>
    <a:masterClrMapping/>
  </p:clrMapOvr>
</p:notes>
</file>

<file path=ppt/notesSlides/notesSlide2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负责"有三层含义：一是职责，分内的事必须去管，不能推；二是问责，做了什么、怎么做的，要负得起责，而这要靠完整的记录来证明；三是授权，安全员要有独立决定的权力，发现严重风险时能够叫停实验，而不必等待层层批准。</a:t>
            </a:r>
          </a:p>
          <a:p>
            <a:r>
              <a:t>单位要通过书面文件明确安全员的职责和权力，并在组织上给予支持，否则"有责无权"，监督就会落空。</a:t>
            </a:r>
          </a:p>
        </p:txBody>
      </p:sp>
      <p:sp>
        <p:nvSpPr>
          <p:cNvPr id="4" name="Slide Number Placeholder 3"/>
          <p:cNvSpPr>
            <a:spLocks noGrp="1"/>
          </p:cNvSpPr>
          <p:nvPr>
            <p:ph type="sldNum" idx="5" sz="quarter"/>
          </p:nvPr>
        </p:nvSpPr>
        <p:spPr/>
      </p:sp>
    </p:spTree>
  </p:cSld>
  <p:clrMapOvr>
    <a:masterClrMapping/>
  </p:clrMapOvr>
</p:notes>
</file>

<file path=ppt/notesSlides/notesSlide2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项目负责人（课题负责人、导师）最了解自己的实验：用什么病原或材料、做哪些操作、风险在哪里。因此，具体的防护措施由项目负责人在风险评估基础上提出，经委员会审查后落实。</a:t>
            </a:r>
          </a:p>
          <a:p>
            <a:r>
              <a:t>项目负责人带领团队对实验本身负责：组织风险评估、编写操作规程、保证组内人员培训合格和健康监护到位、监督规程执行，出现事故及时报告。</a:t>
            </a:r>
          </a:p>
        </p:txBody>
      </p:sp>
      <p:sp>
        <p:nvSpPr>
          <p:cNvPr id="4" name="Slide Number Placeholder 3"/>
          <p:cNvSpPr>
            <a:spLocks noGrp="1"/>
          </p:cNvSpPr>
          <p:nvPr>
            <p:ph type="sldNum" idx="5" sz="quarter"/>
          </p:nvPr>
        </p:nvSpPr>
        <p:spPr/>
      </p:sp>
    </p:spTree>
  </p:cSld>
  <p:clrMapOvr>
    <a:masterClrMapping/>
  </p:clrMapOvr>
</p:notes>
</file>

<file path=ppt/notesSlides/notesSlide2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合起来看：生物安全委员会统管全局，设施经理保证设施设备正常运转，生物安全员负责评估、控制和检查，项目负责人对实验本身负责。</a:t>
            </a:r>
          </a:p>
          <a:p>
            <a:r>
              <a:t>各方像一组咬合的齿轮，任何一方缺位，整个体系都会停转。例如设施停电检修，要提前通知项目负责人暂停实验；安全员发现问题，要同时告知项目负责人和设施经理。</a:t>
            </a:r>
          </a:p>
        </p:txBody>
      </p:sp>
      <p:sp>
        <p:nvSpPr>
          <p:cNvPr id="4" name="Slide Number Placeholder 3"/>
          <p:cNvSpPr>
            <a:spLocks noGrp="1"/>
          </p:cNvSpPr>
          <p:nvPr>
            <p:ph type="sldNum" idx="5" sz="quarter"/>
          </p:nvPr>
        </p:nvSpPr>
        <p:spPr/>
      </p:sp>
    </p:spTree>
  </p:cSld>
  <p:clrMapOvr>
    <a:masterClrMapping/>
  </p:clrMapOvr>
</p:notes>
</file>

<file path=ppt/notesSlides/notesSlide2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员首先要懂微生物学和细胞生物学。例如有老师想在普通教学实验室培养某种病原，安全员要先问：是什么病原？在国内分类中属于第几类？需要几级生物安全实验室？然后组织风险评估、确定控制措施、检查效果。实验室条件不够、没有经过审批的，不能开工。</a:t>
            </a:r>
          </a:p>
          <a:p>
            <a:r>
              <a:t>要特别注意：我国《病原微生物实验室生物安全管理条例》把病原微生物分为四类，第一类危害最大、第四类最低，与国际上按"风险组"从低到高编号的方向正好相反，不能弄反（见第 058 课）。</a:t>
            </a:r>
          </a:p>
          <a:p>
            <a:r>
              <a:t>安全员也要懂基因工程和生物技术：基因改造可能改变病原的致病性、宿主范围等特性，这类研究必须先评估、经审查批准（见第 081 课）。此外，实验室里除了生物风险，还有化学品、锐器、用电等风险，也要一并评估。</a:t>
            </a:r>
          </a:p>
        </p:txBody>
      </p:sp>
      <p:sp>
        <p:nvSpPr>
          <p:cNvPr id="4" name="Slide Number Placeholder 3"/>
          <p:cNvSpPr>
            <a:spLocks noGrp="1"/>
          </p:cNvSpPr>
          <p:nvPr>
            <p:ph type="sldNum" idx="5" sz="quarter"/>
          </p:nvPr>
        </p:nvSpPr>
        <p:spPr/>
      </p:sp>
    </p:spTree>
  </p:cSld>
  <p:clrMapOvr>
    <a:masterClrMapping/>
  </p:clrMapOvr>
</p:notes>
</file>

<file path=ppt/notesSlides/notesSlide2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生物安全不只保护实验人员，还要保护实验室外的公众和环境。人兽共患病原、转基因动植物和微生物、实验动物和媒介昆虫一旦逃逸到外界，可能造成传播或生态影响，安全员要督促落实防逃逸措施（见第 082、084 课）。</a:t>
            </a:r>
          </a:p>
          <a:p>
            <a:r>
              <a:t>遇到自己不熟悉的领域或拿不准的问题，要及时请教专家或上报委员会，不能凭感觉决定。</a:t>
            </a:r>
          </a:p>
        </p:txBody>
      </p:sp>
      <p:sp>
        <p:nvSpPr>
          <p:cNvPr id="4" name="Slide Number Placeholder 3"/>
          <p:cNvSpPr>
            <a:spLocks noGrp="1"/>
          </p:cNvSpPr>
          <p:nvPr>
            <p:ph type="sldNum" idx="5" sz="quarter"/>
          </p:nvPr>
        </p:nvSpPr>
        <p:spPr/>
      </p:sp>
    </p:spTree>
  </p:cSld>
  <p:clrMapOvr>
    <a:masterClrMapping/>
  </p:clrMapOvr>
</p:notes>
</file>

<file path=ppt/notesSlides/notesSlide2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员要懂实验室的关键设备。以生物安全柜为例：选型要符合实验活动的防护需要，安装位置要避开门口和人员走动的气流干扰，安装后、移位后和定期都要由有资质的机构检测合格才能使用，出现故障要及时维修（生物安全柜见第 071–073 课）。</a:t>
            </a:r>
          </a:p>
          <a:p>
            <a:r>
              <a:t>安全员自己会正确使用设备，才能培训和指导别人使用。</a:t>
            </a:r>
          </a:p>
        </p:txBody>
      </p:sp>
      <p:sp>
        <p:nvSpPr>
          <p:cNvPr id="4" name="Slide Number Placeholder 3"/>
          <p:cNvSpPr>
            <a:spLocks noGrp="1"/>
          </p:cNvSpPr>
          <p:nvPr>
            <p:ph type="sldNum" idx="5" sz="quarter"/>
          </p:nvPr>
        </p:nvSpPr>
        <p:spPr/>
      </p:sp>
    </p:spTree>
  </p:cSld>
  <p:clrMapOvr>
    <a:masterClrMapping/>
  </p:clrMapOvr>
</p:notes>
</file>

<file path=ppt/notesSlides/notesSlide2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有人觉得安全是负担：花钱、费时间、影响进度。这时硬压规定没有用。推动改变要分三步：先让领导和大家明白为什么要管（提高意识），再在全单位充分沟通，最后通过培训和制度真正落实。</a:t>
            </a:r>
          </a:p>
          <a:p>
            <a:r>
              <a:t>合规就是遵从规则、标准和法律，但"法律逼我才遵守"是不够的。只有明白了道理，知道这是在保护自己和他人，才会主动去做。</a:t>
            </a:r>
          </a:p>
          <a:p>
            <a:r>
              <a:t>安全员沟通时要讲清楚、说得服人，对领导、同事和外单位都一样；要对事不对人、不带偏见，体察不同背景的人对风险的不同看法。</a:t>
            </a:r>
          </a:p>
        </p:txBody>
      </p:sp>
      <p:sp>
        <p:nvSpPr>
          <p:cNvPr id="4" name="Slide Number Placeholder 3"/>
          <p:cNvSpPr>
            <a:spLocks noGrp="1"/>
          </p:cNvSpPr>
          <p:nvPr>
            <p:ph type="sldNum" idx="5" sz="quarter"/>
          </p:nvPr>
        </p:nvSpPr>
        <p:spPr/>
      </p:sp>
    </p:spTree>
  </p:cSld>
  <p:clrMapOvr>
    <a:masterClrMapping/>
  </p:clrMapOvr>
</p:notes>
</file>

<file path=ppt/notesSlides/notesSlide2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新上任的安全员可以从四方面入手：政策、法律、社会责任和人。先推动把生物安全写进单位的发展目标和政策；政策必须在国家法律法规的范围之内；生物安全也是单位对社会应负的责任。</a:t>
            </a:r>
          </a:p>
          <a:p>
            <a:r>
              <a:t>最关键的是找到各层级愿意带头推动安全的人，支持他们，让他们影响身边的人。安全计划由制度、设施、培训、健康监护、应急等许多部分组成，安全员要让这些部分和人环环相扣、一起运转。</a:t>
            </a:r>
          </a:p>
        </p:txBody>
      </p:sp>
      <p:sp>
        <p:nvSpPr>
          <p:cNvPr id="4" name="Slide Number Placeholder 3"/>
          <p:cNvSpPr>
            <a:spLocks noGrp="1"/>
          </p:cNvSpPr>
          <p:nvPr>
            <p:ph type="sldNum" idx="5" sz="quarter"/>
          </p:nvPr>
        </p:nvSpPr>
        <p:spPr/>
      </p:sp>
    </p:spTree>
  </p:cSld>
  <p:clrMapOvr>
    <a:masterClrMapping/>
  </p:clrMapOvr>
</p:notes>
</file>

<file path=ppt/notesSlides/notesSlide2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实验动物、植物（封闭温室）、昆虫和媒介生物、临床检验等特殊领域风险更高，各有专门的法规和标准，安全员需要的本领也更多（见第 079、082、084 课）。</a:t>
            </a:r>
          </a:p>
          <a:p>
            <a:r>
              <a:t>安全员的能力是一点点积累起来的。法规、标准和技术都在更新，安全员要持续学习、参加培训，把自己当成一份需要常更新的"活文件"。</a:t>
            </a:r>
          </a:p>
        </p:txBody>
      </p:sp>
      <p:sp>
        <p:nvSpPr>
          <p:cNvPr id="4" name="Slide Number Placeholder 3"/>
          <p:cNvSpPr>
            <a:spLocks noGrp="1"/>
          </p:cNvSpPr>
          <p:nvPr>
            <p:ph type="sldNum" idx="5" sz="quarter"/>
          </p:nvPr>
        </p:nvSpPr>
        <p:spPr/>
      </p:sp>
    </p:spTree>
  </p:cSld>
  <p:clrMapOvr>
    <a:masterClrMapping/>
  </p:clrMapOvr>
</p:notes>
</file>

<file path=ppt/notesSlides/notesSlide2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可以先做个小练习：写下你认为安全员应该做什么，学完后再对照补充。</a:t>
            </a:r>
          </a:p>
          <a:p>
            <a:r>
              <a:t>安全员能否发挥作用，取决于六点：领导支持（第一条）、懂生物学、懂法规、懂工程控制和个人防护用品、会培训、能推动改变。政策要靠沟通和培训才能真正落地。</a:t>
            </a:r>
          </a:p>
        </p:txBody>
      </p:sp>
      <p:sp>
        <p:nvSpPr>
          <p:cNvPr id="4" name="Slide Number Placeholder 3"/>
          <p:cNvSpPr>
            <a:spLocks noGrp="1"/>
          </p:cNvSpPr>
          <p:nvPr>
            <p:ph type="sldNum" idx="5" sz="quarter"/>
          </p:nvPr>
        </p:nvSpPr>
        <p:spPr/>
      </p:sp>
    </p:spTree>
  </p:cSld>
  <p:clrMapOvr>
    <a:masterClrMapping/>
  </p:clrMapOvr>
</p:notes>
</file>

<file path=ppt/notesSlides/notesSlide2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每个实验室都要有书面的生物安全政策，写明单位对生物安全和生物安保的承诺，由管理层批准发布。</a:t>
            </a:r>
          </a:p>
          <a:p>
            <a:r>
              <a:t>政策不能空喊口号，要具体、可衡量、做得到、有时限，例如"每年组织一次全员培训和考核""安全柜每年检测一次"。安全员和各岗位的职责也要写成文字，纳入生物安全手册。</a:t>
            </a:r>
          </a:p>
        </p:txBody>
      </p:sp>
      <p:sp>
        <p:nvSpPr>
          <p:cNvPr id="4" name="Slide Number Placeholder 3"/>
          <p:cNvSpPr>
            <a:spLocks noGrp="1"/>
          </p:cNvSpPr>
          <p:nvPr>
            <p:ph type="sldNum" idx="5" sz="quarter"/>
          </p:nvPr>
        </p:nvSpPr>
        <p:spPr/>
      </p:sp>
    </p:spTree>
  </p:cSld>
  <p:clrMapOvr>
    <a:masterClrMapping/>
  </p:clrMapOvr>
</p:notes>
</file>

<file path=ppt/notesSlides/notesSlide2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政策之下是生物安全手册（以及程序文件、操作规程等管理体系文件）。手册必须依据国家和地方的法律法规、国家标准编写，国际指南可以参考，但以国内规定为准。</a:t>
            </a:r>
          </a:p>
          <a:p>
            <a:r>
              <a:t>手册只写本实验室的内容：布局、人员职责、准入、操作规程、消毒和废物处理、应急处置等，要具体、可操作，不能照抄别人的。</a:t>
            </a:r>
          </a:p>
          <a:p>
            <a:r>
              <a:t>建实验室时，先确定谁负责、配备多少人员、是否需要设施经理；就像买车要配说明书，实验室楼建好时，生物安全手册和管理制度也要同时建好，不能"先用起来再说"。</a:t>
            </a:r>
          </a:p>
        </p:txBody>
      </p:sp>
      <p:sp>
        <p:nvSpPr>
          <p:cNvPr id="4" name="Slide Number Placeholder 3"/>
          <p:cNvSpPr>
            <a:spLocks noGrp="1"/>
          </p:cNvSpPr>
          <p:nvPr>
            <p:ph type="sldNum" idx="5" sz="quarter"/>
          </p:nvPr>
        </p:nvSpPr>
        <p:spPr/>
      </p:sp>
    </p:spTree>
  </p:cSld>
  <p:clrMapOvr>
    <a:masterClrMapping/>
  </p:clrMapOvr>
</p:notes>
</file>

<file path=ppt/notesSlides/notesSlide2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作为学生，首先要认清本实验室的负责人、导师和生物安全员，看懂门口安全信息牌上的联系方式。</a:t>
            </a:r>
          </a:p>
          <a:p>
            <a:r>
              <a:t>新课题、新方法先交导师，经风险评估和单位审查批准后才能开展；接受安全员的监督检查，被指出问题立即改正。发生溢洒、暴露、丢失等事件时，先按应急程序处置，同时报告实验室负责人，再逐级报学院和保卫处（实验室管理部门），需要急救时拨打 120（见第 078 课）。</a:t>
            </a:r>
          </a:p>
        </p:txBody>
      </p:sp>
      <p:sp>
        <p:nvSpPr>
          <p:cNvPr id="4" name="Slide Number Placeholder 3"/>
          <p:cNvSpPr>
            <a:spLocks noGrp="1"/>
          </p:cNvSpPr>
          <p:nvPr>
            <p:ph type="sldNum" idx="5" sz="quarter"/>
          </p:nvPr>
        </p:nvSpPr>
        <p:spPr/>
      </p:sp>
    </p:spTree>
  </p:cSld>
  <p:clrMapOvr>
    <a:masterClrMapping/>
  </p:clrMapOvr>
</p:notes>
</file>

<file path=ppt/notesSlides/notesSlide2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答案：B。解析：按《病原微生物实验室生物安全管理条例》和高校三级管理要求，实验室负责人是第一责任人。</a:t>
            </a:r>
          </a:p>
          <a:p>
            <a:r>
              <a:t>第 2 题 答案：B。解析：新课题、改方法要先评估，再经单位生物安全委员会审查；学生不能自己定级。</a:t>
            </a:r>
          </a:p>
        </p:txBody>
      </p:sp>
      <p:sp>
        <p:nvSpPr>
          <p:cNvPr id="4" name="Slide Number Placeholder 3"/>
          <p:cNvSpPr>
            <a:spLocks noGrp="1"/>
          </p:cNvSpPr>
          <p:nvPr>
            <p:ph type="sldNum" idx="5" sz="quarter"/>
          </p:nvPr>
        </p:nvSpPr>
        <p:spPr/>
      </p:sp>
    </p:spTree>
  </p:cSld>
  <p:clrMapOvr>
    <a:masterClrMapping/>
  </p:clrMapOvr>
</p:notes>
</file>

<file path=ppt/notesSlides/notesSlide2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答案：B。解析：安全员负责评估、控制、检查，有权监督和制止不安全行为。</a:t>
            </a:r>
          </a:p>
          <a:p>
            <a:r>
              <a:t>第 4 题 答案：B。解析：国内第一类危害最大、第四类最低，与国际风险组编号方向相反。</a:t>
            </a:r>
          </a:p>
        </p:txBody>
      </p:sp>
      <p:sp>
        <p:nvSpPr>
          <p:cNvPr id="4" name="Slide Number Placeholder 3"/>
          <p:cNvSpPr>
            <a:spLocks noGrp="1"/>
          </p:cNvSpPr>
          <p:nvPr>
            <p:ph type="sldNum" idx="5" sz="quarter"/>
          </p:nvPr>
        </p:nvSpPr>
        <p:spPr/>
      </p:sp>
    </p:spTree>
  </p:cSld>
  <p:clrMapOvr>
    <a:masterClrMapping/>
  </p:clrMapOvr>
</p:notes>
</file>

<file path=ppt/notesSlides/notesSlide2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答案：C。解析：手册依国内法规，具体可用，与设施同建。</a:t>
            </a:r>
          </a:p>
          <a:p>
            <a:r>
              <a:t>第 6 题 答案：委员会制定政策、审查项目和防护级别；设施经理管设施运行、维护和抢修；安全员管风险评估、控制落实和现场监督检查；项目负责人对实验本身负责、制定具体防护措施并管好团队。解析：各方协同一致，缺一不可。</a:t>
            </a:r>
          </a:p>
        </p:txBody>
      </p:sp>
      <p:sp>
        <p:nvSpPr>
          <p:cNvPr id="4" name="Slide Number Placeholder 3"/>
          <p:cNvSpPr>
            <a:spLocks noGrp="1"/>
          </p:cNvSpPr>
          <p:nvPr>
            <p:ph type="sldNum" idx="5" sz="quarter"/>
          </p:nvPr>
        </p:nvSpPr>
        <p:spPr/>
      </p:sp>
    </p:spTree>
  </p:cSld>
  <p:clrMapOvr>
    <a:masterClrMapping/>
  </p:clrMapOvr>
</p:notes>
</file>

<file path=ppt/notesSlides/notesSlide2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生物安全柜是生物实验室最关键的工程控制设备：用设备把危险隔开，挡住移液、混匀、开盖、接种等操作时产生的感染性气溶胶和飞溅。</a:t>
            </a:r>
          </a:p>
          <a:p>
            <a:r>
              <a:t>常用的生物安全柜同时保护三方面：保护操作人员不吸入、不接触病原；保护实验室环境不被污染；保护样品不被外界微生物污染。</a:t>
            </a:r>
          </a:p>
          <a:p>
            <a:r>
              <a:t>处理有生物危害的材料，如病原微生物培养物、临床标本（血液、体液等）、感染性样品，以及可能产生有毒或感染性颗粒的操作，都应在生物安全柜内进行。生物安全柜广泛用于医学研究、临床诊断和生物技术领域。认识柜子的主要部件：前窗（可升降的玻璃视窗）、前格栅、工作台面、后格栅和显示控制面板。</a:t>
            </a:r>
          </a:p>
        </p:txBody>
      </p:sp>
      <p:sp>
        <p:nvSpPr>
          <p:cNvPr id="4" name="Slide Number Placeholder 3"/>
          <p:cNvSpPr>
            <a:spLocks noGrp="1"/>
          </p:cNvSpPr>
          <p:nvPr>
            <p:ph type="sldNum" idx="5" sz="quarter"/>
          </p:nvPr>
        </p:nvSpPr>
        <p:spPr/>
      </p:sp>
    </p:spTree>
  </p:cSld>
  <p:clrMapOvr>
    <a:masterClrMapping/>
  </p:clrMapOvr>
</p:notes>
</file>

<file path=ppt/notesSlides/notesSlide2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气流看不见，用发烟器放出的白烟就能看出方向：烟往哪走，空气就往哪走。以常用的Ⅱ级柜为例，正常工作时室内空气从前窗开口被吸进去，再向下钻进前格栅；前窗开口处的吸入气流与下降气流一起形成一道"气幕"，把柜内空气和室内空气隔开，保护操作者。</a:t>
            </a:r>
          </a:p>
          <a:p>
            <a:r>
              <a:t>柜顶的高效过滤器把空气滤干净，从上往下吹过工作区（下降气流），保护样品；气流落到台面后大致一半流向前格栅、一半流向后格栅。排出柜外的空气也要先经过高效过滤器，这一点与化学通风柜不同。</a:t>
            </a:r>
          </a:p>
          <a:p>
            <a:r>
              <a:t>归纳起来，生物安全柜靠三样东西防护：定向气流、高效过滤和围护结构。具体风速、风量以产品说明书和检测报告为准，本课不给数值。</a:t>
            </a:r>
          </a:p>
        </p:txBody>
      </p:sp>
      <p:sp>
        <p:nvSpPr>
          <p:cNvPr id="4" name="Slide Number Placeholder 3"/>
          <p:cNvSpPr>
            <a:spLocks noGrp="1"/>
          </p:cNvSpPr>
          <p:nvPr>
            <p:ph type="sldNum" idx="5" sz="quarter"/>
          </p:nvPr>
        </p:nvSpPr>
        <p:spPr/>
      </p:sp>
    </p:spTree>
  </p:cSld>
  <p:clrMapOvr>
    <a:masterClrMapping/>
  </p:clrMapOvr>
</p:notes>
</file>

<file path=ppt/notesSlides/notesSlide2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高效空气过滤器由多层交错的细纤维组成，气流通过时速度放慢，细小的颗粒、微生物和气溶胶被纤维拦截，过滤效率很高（具体效率以现行标准和产品说明为准）。生物安全柜的进风、下降气流和排风都靠它净化，它还要把病原拦在柜内。</a:t>
            </a:r>
          </a:p>
          <a:p>
            <a:r>
              <a:t>但高效过滤器只截颗粒，挡不住化学气体和蒸气。实验中既有感染性颗粒又有挥发性有害化学品时，要先问清实验室负责人该用哪种柜子（见 K9）。</a:t>
            </a:r>
          </a:p>
        </p:txBody>
      </p:sp>
      <p:sp>
        <p:nvSpPr>
          <p:cNvPr id="4" name="Slide Number Placeholder 3"/>
          <p:cNvSpPr>
            <a:spLocks noGrp="1"/>
          </p:cNvSpPr>
          <p:nvPr>
            <p:ph type="sldNum" idx="5" sz="quarter"/>
          </p:nvPr>
        </p:nvSpPr>
        <p:spPr/>
      </p:sp>
    </p:spTree>
  </p:cSld>
  <p:clrMapOvr>
    <a:masterClrMapping/>
  </p:clrMapOvr>
</p:notes>
</file>

<file path=ppt/notesSlides/notesSlide2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柜按提供的防护水平分为Ⅰ级、Ⅱ级、Ⅲ级，风险越高，柜子的密闭程度越高；常用的Ⅱ级柜按排风方式又分不同类型。不同柜型能保护的对象各不相同，用哪种柜由风险评估结合实验活动来定，拿不准时先问老师，不能自己决定。</a:t>
            </a:r>
          </a:p>
          <a:p>
            <a:r>
              <a:t>选柜时要按国内的病原分类和《人间传染的病原微生物目录》判断：我国病原微生物第一类危害最大、第四类最低，与国际"风险组"编号方向相反，不能弄反（见第 058 课）。高致病性病原的实验活动，必须在相应级别的实验室内、经批准后进行（见第 060 课）。</a:t>
            </a:r>
          </a:p>
        </p:txBody>
      </p:sp>
      <p:sp>
        <p:nvSpPr>
          <p:cNvPr id="4" name="Slide Number Placeholder 3"/>
          <p:cNvSpPr>
            <a:spLocks noGrp="1"/>
          </p:cNvSpPr>
          <p:nvPr>
            <p:ph type="sldNum" idx="5" sz="quarter"/>
          </p:nvPr>
        </p:nvSpPr>
        <p:spPr/>
      </p:sp>
    </p:spTree>
  </p:cSld>
  <p:clrMapOvr>
    <a:masterClrMapping/>
  </p:clrMapOvr>
</p:notes>
</file>

<file path=ppt/notesSlides/notesSlide2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Ⅰ级生物安全柜前面敞开，室内空气从前窗被吸入柜内，流过工作区后经高效过滤器排出。向里吸的气流保护操作者，排风过滤保护环境。</a:t>
            </a:r>
          </a:p>
          <a:p>
            <a:r>
              <a:t>由于进入柜内的是未经过滤的室内空气，直接流过样品，所以Ⅰ级柜不保护样品，样品可能被污染。它一般用于低到中度风险、对样品无菌要求不高的工作。能否用于少量挥发性化学品或放射性物质，要看排风方式并经评估确定。</a:t>
            </a:r>
          </a:p>
        </p:txBody>
      </p:sp>
      <p:sp>
        <p:nvSpPr>
          <p:cNvPr id="4" name="Slide Number Placeholder 3"/>
          <p:cNvSpPr>
            <a:spLocks noGrp="1"/>
          </p:cNvSpPr>
          <p:nvPr>
            <p:ph type="sldNum" idx="5" sz="quarter"/>
          </p:nvPr>
        </p:nvSpPr>
        <p:spPr/>
      </p:sp>
    </p:spTree>
  </p:cSld>
  <p:clrMapOvr>
    <a:masterClrMapping/>
  </p:clrMapOvr>
</p:notes>
</file>

<file path=ppt/notesSlides/notesSlide2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Ⅱ级生物安全柜是高校实验室最常用的柜型，人、环境、样品三方面都能保护：前窗吸入气流护人，柜顶过滤后的洁净下降气流护样品，排风经高效过滤护环境，柜内保持洁净。</a:t>
            </a:r>
          </a:p>
          <a:p>
            <a:r>
              <a:t>Ⅱ级柜内部空气一部分经过滤后循环，一部分经过滤后排出。按气流怎么走、排风排到哪里，Ⅱ级柜又分为不同类型：有的把过滤后的排风送回室内，有的通过管道全部排到室外。涉及少量挥发性有毒化学品时，只能在经评估、外排到室外的类型中进行（以产品说明和本校规定为准）。</a:t>
            </a:r>
          </a:p>
          <a:p>
            <a:r>
              <a:t>Ⅱ级柜适用于中到较高风险的工作，具体能做哪些病原的哪些实验，查《人间传染的病原微生物目录》并按风险评估确定。生物安全柜安装后、移位后和定期都要由有资质的机构检测，合格标签在有效期内才能使用（检测见第 073 课）。</a:t>
            </a:r>
          </a:p>
        </p:txBody>
      </p:sp>
      <p:sp>
        <p:nvSpPr>
          <p:cNvPr id="4" name="Slide Number Placeholder 3"/>
          <p:cNvSpPr>
            <a:spLocks noGrp="1"/>
          </p:cNvSpPr>
          <p:nvPr>
            <p:ph type="sldNum" idx="5" sz="quarter"/>
          </p:nvPr>
        </p:nvSpPr>
        <p:spPr/>
      </p:sp>
    </p:spTree>
  </p:cSld>
  <p:clrMapOvr>
    <a:masterClrMapping/>
  </p:clrMapOvr>
</p:notes>
</file>

<file path=ppt/notesSlides/notesSlide2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Ⅲ级生物安全柜是防护水平最高的一种，对人、环境和样品的防护都最高。它是全密闭、气密的箱体，柜内与外界完全隔离，进风和排风都经高效过滤。</a:t>
            </a:r>
          </a:p>
          <a:p>
            <a:r>
              <a:t>操作时，人的手伸进与柜体密封连接的手套里操作；物品经传递窗（或配套的灭菌装置）进出，两道门不能同时打开。柜内的材料和废物都要封装并经消毒灭菌处理后才能拿出来。Ⅲ级柜用于最危险的病原，通常安装在高等级生物安全实验室中。</a:t>
            </a:r>
          </a:p>
        </p:txBody>
      </p:sp>
      <p:sp>
        <p:nvSpPr>
          <p:cNvPr id="4" name="Slide Number Placeholder 3"/>
          <p:cNvSpPr>
            <a:spLocks noGrp="1"/>
          </p:cNvSpPr>
          <p:nvPr>
            <p:ph type="sldNum" idx="5" sz="quarter"/>
          </p:nvPr>
        </p:nvSpPr>
        <p:spPr/>
      </p:sp>
    </p:spTree>
  </p:cSld>
  <p:clrMapOvr>
    <a:masterClrMapping/>
  </p:clrMapOvr>
</p:notes>
</file>

<file path=ppt/notesSlides/notesSlide2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需要外排的生物安全柜，柜内空气过滤后通过管道排出。连接方式有两种：一种是排风管直接硬连接到大楼排风系统；另一种是在柜子排风口上方罩一个集气罩（留有缝隙），便于风量平衡。风阀可随风速自动调节，有的还设备用连接。</a:t>
            </a:r>
          </a:p>
          <a:p>
            <a:r>
              <a:t>采用哪种方式由设施工程人员根据柜型和产品要求确定并调试，使用者不得自行改动排风管、风阀或集气罩（设施见第 064 课）。</a:t>
            </a:r>
          </a:p>
        </p:txBody>
      </p:sp>
      <p:sp>
        <p:nvSpPr>
          <p:cNvPr id="4" name="Slide Number Placeholder 3"/>
          <p:cNvSpPr>
            <a:spLocks noGrp="1"/>
          </p:cNvSpPr>
          <p:nvPr>
            <p:ph type="sldNum" idx="5" sz="quarter"/>
          </p:nvPr>
        </p:nvSpPr>
        <p:spPr/>
      </p:sp>
    </p:spTree>
  </p:cSld>
  <p:clrMapOvr>
    <a:masterClrMapping/>
  </p:clrMapOvr>
</p:notes>
</file>

<file path=ppt/notesSlides/notesSlide2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柜和化学通风柜长得很像，但用途不同，不能混用。常见的Ⅱ级柜有部分空气经过滤后循环或回到室内，而高效过滤器挡不住化学蒸气，在柜内使用挥发性有毒化学品，蒸气会在柜内积聚或被吹回室内，还可能有燃爆风险。</a:t>
            </a:r>
          </a:p>
          <a:p>
            <a:r>
              <a:t>原则是：化学品操作进通风柜，生物样品操作进生物安全柜。生物安全柜防感染性气溶胶，不一定防化学品；要在安全柜内用挥发性化学品，先问清柜型是否允许、用量多少，经评估同意后才能用。</a:t>
            </a:r>
          </a:p>
        </p:txBody>
      </p:sp>
      <p:sp>
        <p:nvSpPr>
          <p:cNvPr id="4" name="Slide Number Placeholder 3"/>
          <p:cNvSpPr>
            <a:spLocks noGrp="1"/>
          </p:cNvSpPr>
          <p:nvPr>
            <p:ph type="sldNum" idx="5" sz="quarter"/>
          </p:nvPr>
        </p:nvSpPr>
        <p:spPr/>
      </p:sp>
    </p:spTree>
  </p:cSld>
  <p:clrMapOvr>
    <a:masterClrMapping/>
  </p:clrMapOvr>
</p:notes>
</file>

<file path=ppt/notesSlides/notesSlide2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化学通风柜保护操作者不吸入有害的蒸气、气体和粉尘：它从实验室吸入空气，经管道直接排到室外，有害物质不会在室内积聚。</a:t>
            </a:r>
          </a:p>
          <a:p>
            <a:r>
              <a:t>通风柜常用于化学反应、蒸发溶剂以及其他使用有害化学品的操作。它不提供洁净气流，不保护样品，一般排风也不经高效过滤，不能用于感染性材料（通风柜原理和使用见第 051、052 课）。</a:t>
            </a:r>
          </a:p>
        </p:txBody>
      </p:sp>
      <p:sp>
        <p:nvSpPr>
          <p:cNvPr id="4" name="Slide Number Placeholder 3"/>
          <p:cNvSpPr>
            <a:spLocks noGrp="1"/>
          </p:cNvSpPr>
          <p:nvPr>
            <p:ph type="sldNum" idx="5" sz="quarter"/>
          </p:nvPr>
        </p:nvSpPr>
        <p:spPr/>
      </p:sp>
    </p:spTree>
  </p:cSld>
  <p:clrMapOvr>
    <a:masterClrMapping/>
  </p:clrMapOvr>
</p:notes>
</file>

<file path=ppt/notesSlides/notesSlide2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超净工作台（洁净工作台、层流台）的作用是营造洁净环境：风机把室内空气推过高效过滤器，灰尘和微生物被拦下，干净的空气以平行、单向、稳定的层流吹过工作区，把污染物吹离样品，降低空气中的颗粒和微生物。</a:t>
            </a:r>
          </a:p>
          <a:p>
            <a:r>
              <a:t>超净台适合无菌操作，如配制培养基、处理无菌器材、植物组织培养、无致病性材料的细胞培养准备；在制药、电子等行业也常用。</a:t>
            </a:r>
          </a:p>
        </p:txBody>
      </p:sp>
      <p:sp>
        <p:nvSpPr>
          <p:cNvPr id="4" name="Slide Number Placeholder 3"/>
          <p:cNvSpPr>
            <a:spLocks noGrp="1"/>
          </p:cNvSpPr>
          <p:nvPr>
            <p:ph type="sldNum" idx="5" sz="quarter"/>
          </p:nvPr>
        </p:nvSpPr>
        <p:spPr/>
      </p:sp>
    </p:spTree>
  </p:cSld>
  <p:clrMapOvr>
    <a:masterClrMapping/>
  </p:clrMapOvr>
</p:notes>
</file>

<file path=ppt/notesSlides/notesSlide2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超净台（尤其是水平层流型）的洁净风从里向外吹，直接吹向操作者；即使是垂直层流型，也没有吸入气流和排风过滤来保护人。所以它只保护样品，不保护人。</a:t>
            </a:r>
          </a:p>
          <a:p>
            <a:r>
              <a:t>病原微生物和感染性、可能有生物危害的材料，绝不能在超净台内操作，只能进生物安全柜。挥发性溶剂、有毒粉末也不能在超净台使用，风会把蒸气和粉末直接吹到操作者脸上。用什么设备，按风险评估和本校规定确定。</a:t>
            </a:r>
          </a:p>
          <a:p>
            <a:r>
              <a:t>无论超净台还是生物安全柜，使用前都要开机预运行一段时间、确认气流正常，前后格栅不要遮挡（详见第 072 课）。</a:t>
            </a:r>
          </a:p>
        </p:txBody>
      </p:sp>
      <p:sp>
        <p:nvSpPr>
          <p:cNvPr id="4" name="Slide Number Placeholder 3"/>
          <p:cNvSpPr>
            <a:spLocks noGrp="1"/>
          </p:cNvSpPr>
          <p:nvPr>
            <p:ph type="sldNum" idx="5" sz="quarter"/>
          </p:nvPr>
        </p:nvSpPr>
        <p:spPr/>
      </p:sp>
    </p:spTree>
  </p:cSld>
  <p:clrMapOvr>
    <a:masterClrMapping/>
  </p:clrMapOvr>
</p:notes>
</file>

<file path=ppt/notesSlides/notesSlide2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超净台和生物安全柜都提供受控的环境，都用高效过滤器，但目的不同：超净台重在洁净，不管围护；生物安全柜重在把危险围住，同时兼顾洁净。</a:t>
            </a:r>
          </a:p>
          <a:p>
            <a:r>
              <a:t>气流方向不同：超净台的风平行吹过工作区、吹向外面；安全柜在前窗把风往里吸，护住操作者。围护结构也不同：超净台没有专门的围护，安全柜有前窗、侧壁屏障和过滤排风。因此，超净台用于制药、电子、无菌培养等洁净操作，安全柜用于感染性实验。</a:t>
            </a:r>
          </a:p>
        </p:txBody>
      </p:sp>
      <p:sp>
        <p:nvSpPr>
          <p:cNvPr id="4" name="Slide Number Placeholder 3"/>
          <p:cNvSpPr>
            <a:spLocks noGrp="1"/>
          </p:cNvSpPr>
          <p:nvPr>
            <p:ph type="sldNum" idx="5" sz="quarter"/>
          </p:nvPr>
        </p:nvSpPr>
        <p:spPr/>
      </p:sp>
    </p:spTree>
  </p:cSld>
  <p:clrMapOvr>
    <a:masterClrMapping/>
  </p:clrMapOvr>
</p:notes>
</file>

<file path=ppt/notesSlides/notesSlide2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三种柜子都有玻璃窗、都有风，常被搞混，用三句话记住：化学通风柜护人，防有害化学品；超净工作台护样品，不护人；生物安全柜人、样品、环境都护（Ⅰ级柜除外，不护样品）。</a:t>
            </a:r>
          </a:p>
          <a:p>
            <a:r>
              <a:t>选用时先看操作对象：有害化学品用通风柜；无致病性的无菌操作可用超净台；病原微生物和感染性材料用生物安全柜，柜型按风险评估确定。拿不准时先问实验室负责人。</a:t>
            </a:r>
          </a:p>
        </p:txBody>
      </p:sp>
      <p:sp>
        <p:nvSpPr>
          <p:cNvPr id="4" name="Slide Number Placeholder 3"/>
          <p:cNvSpPr>
            <a:spLocks noGrp="1"/>
          </p:cNvSpPr>
          <p:nvPr>
            <p:ph type="sldNum" idx="5" sz="quarter"/>
          </p:nvPr>
        </p:nvSpPr>
        <p:spPr/>
      </p:sp>
    </p:spTree>
  </p:cSld>
  <p:clrMapOvr>
    <a:masterClrMapping/>
  </p:clrMapOvr>
</p:notes>
</file>

<file path=ppt/notesSlides/notesSlide2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答案：B。解析：超净台的洁净风吹向操作者，只护样品不护人。</a:t>
            </a:r>
          </a:p>
          <a:p>
            <a:r>
              <a:t>第 2 题 答案：B。解析：高效过滤器只截颗粒，挡不住气体和蒸气；常见柜型还有部分空气回到室内。</a:t>
            </a:r>
          </a:p>
        </p:txBody>
      </p:sp>
      <p:sp>
        <p:nvSpPr>
          <p:cNvPr id="4" name="Slide Number Placeholder 3"/>
          <p:cNvSpPr>
            <a:spLocks noGrp="1"/>
          </p:cNvSpPr>
          <p:nvPr>
            <p:ph type="sldNum" idx="5" sz="quarter"/>
          </p:nvPr>
        </p:nvSpPr>
        <p:spPr/>
      </p:sp>
    </p:spTree>
  </p:cSld>
  <p:clrMapOvr>
    <a:masterClrMapping/>
  </p:clrMapOvr>
</p:notes>
</file>

<file path=ppt/notesSlides/notesSlide2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答案：B。解析：Ⅰ级柜吸入未过滤的室内空气流过样品，所以不护样品。</a:t>
            </a:r>
          </a:p>
          <a:p>
            <a:r>
              <a:t>第 4 题 答案：C。解析：病原和感染性材料只能在生物安全柜内操作，柜型按风险评估确定。</a:t>
            </a:r>
          </a:p>
        </p:txBody>
      </p:sp>
      <p:sp>
        <p:nvSpPr>
          <p:cNvPr id="4" name="Slide Number Placeholder 3"/>
          <p:cNvSpPr>
            <a:spLocks noGrp="1"/>
          </p:cNvSpPr>
          <p:nvPr>
            <p:ph type="sldNum" idx="5" sz="quarter"/>
          </p:nvPr>
        </p:nvSpPr>
        <p:spPr/>
      </p:sp>
    </p:spTree>
  </p:cSld>
  <p:clrMapOvr>
    <a:masterClrMapping/>
  </p:clrMapOvr>
</p:notes>
</file>

<file path=ppt/notesSlides/notesSlide2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答案：B。解析：两道门不同时开，柜内材料和废物封装处理后才能出柜。</a:t>
            </a:r>
          </a:p>
          <a:p>
            <a:r>
              <a:t>第 6 题 答案：通风柜护人，防有害化学品；超净台护样品，不护人；生物安全柜人、样品、环境都护。解析：选用时按操作对象和风险评估确定。</a:t>
            </a:r>
          </a:p>
        </p:txBody>
      </p:sp>
      <p:sp>
        <p:nvSpPr>
          <p:cNvPr id="4" name="Slide Number Placeholder 3"/>
          <p:cNvSpPr>
            <a:spLocks noGrp="1"/>
          </p:cNvSpPr>
          <p:nvPr>
            <p:ph type="sldNum" idx="5" sz="quarter"/>
          </p:nvPr>
        </p:nvSpPr>
        <p:spPr/>
      </p:sp>
    </p:spTree>
  </p:cSld>
  <p:clrMapOvr>
    <a:masterClrMapping/>
  </p:clrMapOvr>
</p:notes>
</file>

<file path=ppt/notesSlides/notesSlide2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生物安全柜再好，也要照规程用：柜子是工程控制，操作规程是管理控制，两者配合安全才完整，不能想怎么用就怎么用。</a:t>
            </a:r>
          </a:p>
          <a:p>
            <a:r>
              <a:t>不同厂家、不同柜型的用法不完全一样，实验室要结合自己的柜子和实验编写标准操作规程，对照国家标准和本校要求审核，试用验证可行后再正式开工。</a:t>
            </a:r>
          </a:p>
          <a:p>
            <a:r>
              <a:t>用好安全柜要管住几件事：检测认证、安装位置、物品摆放、按规程使用、清洁消毒、定期维护，紧急维修也要有规程（检测和清洁见第 073 课）。</a:t>
            </a:r>
          </a:p>
        </p:txBody>
      </p:sp>
      <p:sp>
        <p:nvSpPr>
          <p:cNvPr id="4" name="Slide Number Placeholder 3"/>
          <p:cNvSpPr>
            <a:spLocks noGrp="1"/>
          </p:cNvSpPr>
          <p:nvPr>
            <p:ph type="sldNum" idx="5" sz="quarter"/>
          </p:nvPr>
        </p:nvSpPr>
        <p:spPr/>
      </p:sp>
    </p:spTree>
  </p:cSld>
  <p:clrMapOvr>
    <a:masterClrMapping/>
  </p:clrMapOvr>
</p:notes>
</file>

<file path=ppt/notesSlides/notesSlide2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柜的气流很容易被打乱，一乱，操作者可能暴露，样品可能被污染。柜子摆放的位置是首要因素：离门太近，一开门柜内空气就会被抽出来；正对空调送风口，会吹乱前窗的气幕；几台柜子挤在一起或正对着放，也会互相干扰。</a:t>
            </a:r>
          </a:p>
          <a:p>
            <a:r>
              <a:t>安装时应把柜子放在远离门口的房间里端，避开门口、送风口和人员走动的通道。位置由设施和设备管理人员确定，使用者不要擅自挪动；柜子移位后必须重新检测（见第 073 课）。</a:t>
            </a:r>
          </a:p>
        </p:txBody>
      </p:sp>
      <p:sp>
        <p:nvSpPr>
          <p:cNvPr id="4" name="Slide Number Placeholder 3"/>
          <p:cNvSpPr>
            <a:spLocks noGrp="1"/>
          </p:cNvSpPr>
          <p:nvPr>
            <p:ph type="sldNum" idx="5" sz="quarter"/>
          </p:nvPr>
        </p:nvSpPr>
        <p:spPr/>
      </p:sp>
    </p:spTree>
  </p:cSld>
  <p:clrMapOvr>
    <a:masterClrMapping/>
  </p:clrMapOvr>
</p:notes>
</file>

<file path=ppt/notesSlides/notesSlide2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在生物安全柜里操作前，先安排一段不会被打断的时间，避免中途频繁离开。</a:t>
            </a:r>
          </a:p>
          <a:p>
            <a:r>
              <a:t>把要用的物品一次备齐，放在柜旁的推车或台面上，伸手可取。再备好一瓶装在洗瓶里的消毒剂，按规定标明名称和配制日期；用什么消毒剂、怎么配，拿不准就问老师（消毒剂见第 076 课）。</a:t>
            </a:r>
          </a:p>
        </p:txBody>
      </p:sp>
      <p:sp>
        <p:nvSpPr>
          <p:cNvPr id="4" name="Slide Number Placeholder 3"/>
          <p:cNvSpPr>
            <a:spLocks noGrp="1"/>
          </p:cNvSpPr>
          <p:nvPr>
            <p:ph type="sldNum" idx="5" sz="quarter"/>
          </p:nvPr>
        </p:nvSpPr>
        <p:spPr/>
      </p:sp>
    </p:spTree>
  </p:cSld>
  <p:clrMapOvr>
    <a:masterClrMapping/>
  </p:clrMapOvr>
</p:notes>
</file>

<file path=ppt/notesSlides/notesSlide2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开柜第一步：确认紫外灯已经关闭。紫外线伤眼睛和皮肤，紫外灯开着时人不能靠近操作；紫外灯只是辅助消毒手段，不能代替擦拭消毒（见第 076 课）。</a:t>
            </a:r>
          </a:p>
          <a:p>
            <a:r>
              <a:t>看铭牌认清柜型：是几级、什么类型、排风是否接了管道，柜型不清楚就问负责人，别凭感觉。再看检测合格标签是否在有效期内；生物安全柜新安装、移位后和定期都要由有资质的机构检测，过期不得使用。</a:t>
            </a:r>
          </a:p>
          <a:p>
            <a:r>
              <a:t>如果是手套箱式的密闭柜，手套是薄弱环节，用前检查手套有无破口、老化，有问题就停用、报告，按程序更换。</a:t>
            </a:r>
          </a:p>
        </p:txBody>
      </p:sp>
      <p:sp>
        <p:nvSpPr>
          <p:cNvPr id="4" name="Slide Number Placeholder 3"/>
          <p:cNvSpPr>
            <a:spLocks noGrp="1"/>
          </p:cNvSpPr>
          <p:nvPr>
            <p:ph type="sldNum" idx="5" sz="quarter"/>
          </p:nvPr>
        </p:nvSpPr>
        <p:spPr/>
      </p:sp>
    </p:spTree>
  </p:cSld>
  <p:clrMapOvr>
    <a:masterClrMapping/>
  </p:clrMapOvr>
</p:notes>
</file>

<file path=ppt/notesSlides/notesSlide2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打开照明灯和风机，确认前窗报警开关处于打开状态。把前窗拉到柜上标明的工作高度（以柜上标记和说明书为准），拉得太高报警就会响。</a:t>
            </a:r>
          </a:p>
          <a:p>
            <a:r>
              <a:t>低头看看台面下的排液阀，确认关闭（一般手柄与阀体垂直为关闭，以本柜说明为准）。</a:t>
            </a:r>
          </a:p>
          <a:p>
            <a:r>
              <a:t>开机后先让风机空转一段时间（按本柜规程），吹净柜内颗粒、建立稳定气流；确认气流正常、没有报警后再开始操作。一旦报警，停止操作，报告老师。</a:t>
            </a:r>
          </a:p>
        </p:txBody>
      </p:sp>
      <p:sp>
        <p:nvSpPr>
          <p:cNvPr id="4" name="Slide Number Placeholder 3"/>
          <p:cNvSpPr>
            <a:spLocks noGrp="1"/>
          </p:cNvSpPr>
          <p:nvPr>
            <p:ph type="sldNum" idx="5" sz="quarter"/>
          </p:nvPr>
        </p:nvSpPr>
        <p:spPr/>
      </p:sp>
    </p:spTree>
  </p:cSld>
  <p:clrMapOvr>
    <a:masterClrMapping/>
  </p:clrMapOvr>
</p:notes>
</file>

<file path=ppt/notesSlides/notesSlide2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前窗高度是安全使用的关键之一。正确的工作高度写在说明书里，柜上也要标明；检测认证就是在这个高度下进行的，偏离了这个高度，检测结论就不再适用。</a:t>
            </a:r>
          </a:p>
          <a:p>
            <a:r>
              <a:t>前窗太低，开口处的风速太急，柜内会产生湍流，样品容易被污染；前窗太高，会触发报警，吸入气流不足，柜内空气可能漏到操作者一侧，室内空气也会钻进柜里污染样品。</a:t>
            </a:r>
          </a:p>
        </p:txBody>
      </p:sp>
      <p:sp>
        <p:nvSpPr>
          <p:cNvPr id="4" name="Slide Number Placeholder 3"/>
          <p:cNvSpPr>
            <a:spLocks noGrp="1"/>
          </p:cNvSpPr>
          <p:nvPr>
            <p:ph type="sldNum" idx="5" sz="quarter"/>
          </p:nvPr>
        </p:nvSpPr>
        <p:spPr/>
      </p:sp>
    </p:spTree>
  </p:cSld>
  <p:clrMapOvr>
    <a:masterClrMapping/>
  </p:clrMapOvr>
</p:notes>
</file>

<file path=ppt/notesSlides/notesSlide2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柜上有压差表或气流显示的，开机后要读数并记录在贴在柜上的记录表里，和前一天比一比：读数慢慢变化，通常是过滤器逐渐积尘；突然变化要警惕，可能是过滤系统堵塞或破损。最要紧的一条：读数为零就不能用，立即停用，报告实验室负责人和设备管理部门。</a:t>
            </a:r>
          </a:p>
          <a:p>
            <a:r>
              <a:t>使用前还要确认空气是往柜里吸的：在前窗开口处放一条薄纸条，纸条向柜内飘，说明气流正常；也可以用发烟器观察。最后用核查表逐项打勾，一项不落。</a:t>
            </a:r>
          </a:p>
        </p:txBody>
      </p:sp>
      <p:sp>
        <p:nvSpPr>
          <p:cNvPr id="4" name="Slide Number Placeholder 3"/>
          <p:cNvSpPr>
            <a:spLocks noGrp="1"/>
          </p:cNvSpPr>
          <p:nvPr>
            <p:ph type="sldNum" idx="5" sz="quarter"/>
          </p:nvPr>
        </p:nvSpPr>
        <p:spPr/>
      </p:sp>
    </p:spTree>
  </p:cSld>
  <p:clrMapOvr>
    <a:masterClrMapping/>
  </p:clrMapOvr>
</p:notes>
</file>

<file path=ppt/notesSlides/notesSlide2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空转够时间后，把消毒用品放进柜内。消毒剂要用规程指定、对所操作病原确实有效的种类，按规定浓度和作用时间使用（见第 076 课）。</a:t>
            </a:r>
          </a:p>
          <a:p>
            <a:r>
              <a:t>用充分浸湿消毒剂的纸巾擦拭：先擦两侧壁，再擦后壁和前窗玻璃内侧，最后擦台面；让消毒剂停留足够时间，用过的纸巾丢进感染性废物袋。不要在柜内喷消毒剂，雾滴会被吸进格栅和过滤器，腐蚀柜体、损坏过滤器。</a:t>
            </a:r>
          </a:p>
          <a:p>
            <a:r>
              <a:t>无论如何，头都不要伸进柜内；够不着后壁就用伸缩拖把，一次性拖布用完丢进废物袋。用的是含氯（漂白类）消毒剂时，再用清水或乙醇擦一遍去掉残留，残留会腐蚀出小坑、藏住微生物。消毒做完，摘掉手套换新手套。</a:t>
            </a:r>
          </a:p>
        </p:txBody>
      </p:sp>
      <p:sp>
        <p:nvSpPr>
          <p:cNvPr id="4" name="Slide Number Placeholder 3"/>
          <p:cNvSpPr>
            <a:spLocks noGrp="1"/>
          </p:cNvSpPr>
          <p:nvPr>
            <p:ph type="sldNum" idx="5" sz="quarter"/>
          </p:nvPr>
        </p:nvSpPr>
        <p:spPr/>
      </p:sp>
    </p:spTree>
  </p:cSld>
  <p:clrMapOvr>
    <a:masterClrMapping/>
  </p:clrMapOvr>
</p:notes>
</file>

<file path=ppt/notesSlides/notesSlide2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柜子去污、准备、检查都做完，才可以开始操作。</a:t>
            </a:r>
          </a:p>
          <a:p>
            <a:r>
              <a:t>个人防护用品要与所做的工作相匹配，穿戴什么按风险评估确定（见第 074、075 课）。</a:t>
            </a:r>
          </a:p>
          <a:p>
            <a:r>
              <a:t>有的实验室要求在台面铺一层吸水垫，防止台面污染、方便清理，铺不铺按风险评估和规程定；但垫子绝不能盖住前格栅和后格栅。</a:t>
            </a:r>
          </a:p>
        </p:txBody>
      </p:sp>
      <p:sp>
        <p:nvSpPr>
          <p:cNvPr id="4" name="Slide Number Placeholder 3"/>
          <p:cNvSpPr>
            <a:spLocks noGrp="1"/>
          </p:cNvSpPr>
          <p:nvPr>
            <p:ph type="sldNum" idx="5" sz="quarter"/>
          </p:nvPr>
        </p:nvSpPr>
        <p:spPr/>
      </p:sp>
    </p:spTree>
  </p:cSld>
  <p:clrMapOvr>
    <a:masterClrMapping/>
  </p:clrMapOvr>
</p:notes>
</file>

<file path=ppt/notesSlides/notesSlide2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物品放进柜子前，外表面先用消毒剂擦一遍，一件一件擦、一件一件放，少把外面的污染带进柜里。</a:t>
            </a:r>
          </a:p>
          <a:p>
            <a:r>
              <a:t>开工时一次放齐要用的东西，减少中途伸手进出的次数。废物袋（或废物容器）、锐器盒、纸巾也要在开工前放进去；废物容器按柜子大小选，大号灭菌盘只适合宽大的柜子，小柜子用小号容器或袋架。</a:t>
            </a:r>
          </a:p>
          <a:p>
            <a:r>
              <a:t>柜子不是储物柜：东西太多会挡住气流通道，只放这次要用的，用完拿走。</a:t>
            </a:r>
          </a:p>
        </p:txBody>
      </p:sp>
      <p:sp>
        <p:nvSpPr>
          <p:cNvPr id="4" name="Slide Number Placeholder 3"/>
          <p:cNvSpPr>
            <a:spLocks noGrp="1"/>
          </p:cNvSpPr>
          <p:nvPr>
            <p:ph type="sldNum" idx="5" sz="quarter"/>
          </p:nvPr>
        </p:nvSpPr>
        <p:spPr/>
      </p:sp>
    </p:spTree>
  </p:cSld>
  <p:clrMapOvr>
    <a:masterClrMapping/>
  </p:clrMapOvr>
</p:notes>
</file>

<file path=ppt/notesSlides/notesSlide2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柜内物品按由洁到污的原则摆放：清洁物品（如吸头、无菌试剂）放一侧，中间是操作区，废物袋和锐器盒放另一侧，物品和操作都从洁往污单向推进。</a:t>
            </a:r>
          </a:p>
          <a:p>
            <a:r>
              <a:t>惯用右手的一般从左到右：移液器、吸头、样品、操作区、废物容器依次排开；惯用左手的可以左右对调。摆得顺，做起来才顺，手不必来回交叉，带污染的物品不会从清洁物品上方经过。</a:t>
            </a:r>
          </a:p>
        </p:txBody>
      </p:sp>
      <p:sp>
        <p:nvSpPr>
          <p:cNvPr id="4" name="Slide Number Placeholder 3"/>
          <p:cNvSpPr>
            <a:spLocks noGrp="1"/>
          </p:cNvSpPr>
          <p:nvPr>
            <p:ph type="sldNum" idx="5" sz="quarter"/>
          </p:nvPr>
        </p:nvSpPr>
        <p:spPr/>
      </p:sp>
    </p:spTree>
  </p:cSld>
  <p:clrMapOvr>
    <a:masterClrMapping/>
  </p:clrMapOvr>
</p:notes>
</file>

<file path=ppt/notesSlides/notesSlide2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前格栅和后格栅是柜内气流的进出口，与下降气流一起形成保护气幕。压住格栅，气流就会乱窜，防护失效。</a:t>
            </a:r>
          </a:p>
          <a:p>
            <a:r>
              <a:t>前格栅上不能放纸巾、管子、记录本，手臂也不要压在上面；物品尽量往柜内放，但不要贴住、挡住后格栅。柜内只放必需品，留出气流通道。</a:t>
            </a:r>
          </a:p>
        </p:txBody>
      </p:sp>
      <p:sp>
        <p:nvSpPr>
          <p:cNvPr id="4" name="Slide Number Placeholder 3"/>
          <p:cNvSpPr>
            <a:spLocks noGrp="1"/>
          </p:cNvSpPr>
          <p:nvPr>
            <p:ph type="sldNum" idx="5" sz="quarter"/>
          </p:nvPr>
        </p:nvSpPr>
        <p:spPr/>
      </p:sp>
    </p:spTree>
  </p:cSld>
  <p:clrMapOvr>
    <a:masterClrMapping/>
  </p:clrMapOvr>
</p:notes>
</file>

<file path=ppt/notesSlides/notesSlide2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在生物安全柜里要坐着操作，一个柜子一次只一人操作；确需两人同时操作，要用足够宽的柜子并做书面风险评估。</a:t>
            </a:r>
          </a:p>
          <a:p>
            <a:r>
              <a:t>坐下前先调好座椅高度：脸在前窗开口上方、在玻璃后面，腋窝大致与前窗下沿齐平，手臂伸进柜内时肘部约成直角。有的柜子可以把前臂搁在前部，老式柜子可加装专用扶手（加装后要带着扶手重新检测合格）；脚够不着地就用脚踏。</a:t>
            </a:r>
          </a:p>
          <a:p>
            <a:r>
              <a:t>坐得正、动作稳，才能减少疲劳和劳损；做久了，告一段落再休息。</a:t>
            </a:r>
          </a:p>
        </p:txBody>
      </p:sp>
      <p:sp>
        <p:nvSpPr>
          <p:cNvPr id="4" name="Slide Number Placeholder 3"/>
          <p:cNvSpPr>
            <a:spLocks noGrp="1"/>
          </p:cNvSpPr>
          <p:nvPr>
            <p:ph type="sldNum" idx="5" sz="quarter"/>
          </p:nvPr>
        </p:nvSpPr>
        <p:spPr/>
      </p:sp>
    </p:spTree>
  </p:cSld>
  <p:clrMapOvr>
    <a:masterClrMapping/>
  </p:clrMapOvr>
</p:notes>
</file>

<file path=ppt/notesSlides/notesSlide2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柜内有一股从上往下的洁净下降气流，被它罩住的区域才受保护。操作要在这块区域里进行，一般在台面中后部，离前格栅留出一段距离。</a:t>
            </a:r>
          </a:p>
          <a:p>
            <a:r>
              <a:t>贴着前窗口操作，处在吸入气流和室内空气交界处，既不能保证样品洁净，气溶胶也更容易逸出。</a:t>
            </a:r>
          </a:p>
        </p:txBody>
      </p:sp>
      <p:sp>
        <p:nvSpPr>
          <p:cNvPr id="4" name="Slide Number Placeholder 3"/>
          <p:cNvSpPr>
            <a:spLocks noGrp="1"/>
          </p:cNvSpPr>
          <p:nvPr>
            <p:ph type="sldNum" idx="5" sz="quarter"/>
          </p:nvPr>
        </p:nvSpPr>
        <p:spPr/>
      </p:sp>
    </p:spTree>
  </p:cSld>
  <p:clrMapOvr>
    <a:masterClrMapping/>
  </p:clrMapOvr>
</p:notes>
</file>

<file path=ppt/notesSlides/notesSlide2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即使前窗高度正确，前窗处的气幕也很脆弱：开口处的风速比人慢慢走路还慢，一个小动作就能把它打破。</a:t>
            </a:r>
          </a:p>
          <a:p>
            <a:r>
              <a:t>手臂猛地抽出，或斜着扫过开口，会把柜内空气带出来，直接飘进操作者的呼吸区。所以要尽量少进出，进出时手臂与前窗垂直、慢慢直进直出。有的规程要求出柜前先脱手套，回柜前换新手套，按本实验室规程执行。</a:t>
            </a:r>
          </a:p>
          <a:p>
            <a:r>
              <a:t>柜前有人快步走过也会扯乱气幕。有人在柜内操作时，旁人不要靠近、不要从其背后穿行，也不要随意开关附近的门。</a:t>
            </a:r>
          </a:p>
        </p:txBody>
      </p:sp>
      <p:sp>
        <p:nvSpPr>
          <p:cNvPr id="4" name="Slide Number Placeholder 3"/>
          <p:cNvSpPr>
            <a:spLocks noGrp="1"/>
          </p:cNvSpPr>
          <p:nvPr>
            <p:ph type="sldNum" idx="5" sz="quarter"/>
          </p:nvPr>
        </p:nvSpPr>
        <p:spPr/>
      </p:sp>
    </p:spTree>
  </p:cSld>
  <p:clrMapOvr>
    <a:masterClrMapping/>
  </p:clrMapOvr>
</p:notes>
</file>

<file path=ppt/notesSlides/notesSlide2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很多常规操作都会产生看不见的气溶胶：移液、吹打、振荡混匀、离心后开盖、打开培养容器等。处理感染性材料时，这些操作都要放进生物安全柜，柜内气流把飞沫挡在里面；在开放台面上图省事，飞沫会飘满房间。</a:t>
            </a:r>
          </a:p>
          <a:p>
            <a:r>
              <a:t>真菌长大后会放出大量孢子，可能污染其他培养物，有人吸入还会过敏。培养皿要封好口再培养，需要开盖就在生物安全柜里开；不要凑近闻培养物，从环境中分离的菌先按未知菌对待。</a:t>
            </a:r>
          </a:p>
        </p:txBody>
      </p:sp>
      <p:sp>
        <p:nvSpPr>
          <p:cNvPr id="4" name="Slide Number Placeholder 3"/>
          <p:cNvSpPr>
            <a:spLocks noGrp="1"/>
          </p:cNvSpPr>
          <p:nvPr>
            <p:ph type="sldNum" idx="5" sz="quarter"/>
          </p:nvPr>
        </p:nvSpPr>
        <p:spPr/>
      </p:sp>
    </p:spTree>
  </p:cSld>
  <p:clrMapOvr>
    <a:masterClrMapping/>
  </p:clrMapOvr>
</p:notes>
</file>

<file path=ppt/notesSlides/notesSlide2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柜内操作要一气呵成：取移液器、装上吸头、调好体积，从样品管中吸取，轻轻加到对应的管或孔里，用完的吸头直接丢进柜内废物容器。动作顺，飞溅和失误就少。</a:t>
            </a:r>
          </a:p>
          <a:p>
            <a:r>
              <a:t>减少气溶胶的操作习惯：生物样品使用带滤芯的吸头；放液时贴壁、平稳，不用力吹打、不起泡；混匀、离心后静置片刻再开盖。</a:t>
            </a:r>
          </a:p>
        </p:txBody>
      </p:sp>
      <p:sp>
        <p:nvSpPr>
          <p:cNvPr id="4" name="Slide Number Placeholder 3"/>
          <p:cNvSpPr>
            <a:spLocks noGrp="1"/>
          </p:cNvSpPr>
          <p:nvPr>
            <p:ph type="sldNum" idx="5" sz="quarter"/>
          </p:nvPr>
        </p:nvSpPr>
        <p:spPr/>
      </p:sp>
    </p:spTree>
  </p:cSld>
  <p:clrMapOvr>
    <a:masterClrMapping/>
  </p:clrMapOvr>
</p:notes>
</file>

<file path=ppt/notesSlides/notesSlide2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生物安全柜内不能使用酒精灯等明火。火焰产生的热气流往上冲，会冲破保护气幕、打乱下降气流；还可能引起火灾、烤坏柜顶的高效过滤器。柜内常用乙醇擦拭台面，喷过乙醇的台面遇火更容易起火。</a:t>
            </a:r>
          </a:p>
          <a:p>
            <a:r>
              <a:t>需要无菌时改用一次性接种环（用完直接丢入废物容器），或使用电热接种环灭菌器，放在柜内靠后的位置。乙醇用完盖好瓶盖，远离热源。</a:t>
            </a:r>
          </a:p>
        </p:txBody>
      </p:sp>
      <p:sp>
        <p:nvSpPr>
          <p:cNvPr id="4" name="Slide Number Placeholder 3"/>
          <p:cNvSpPr>
            <a:spLocks noGrp="1"/>
          </p:cNvSpPr>
          <p:nvPr>
            <p:ph type="sldNum" idx="5" sz="quarter"/>
          </p:nvPr>
        </p:nvSpPr>
        <p:spPr/>
      </p:sp>
    </p:spTree>
  </p:cSld>
  <p:clrMapOvr>
    <a:masterClrMapping/>
  </p:clrMapOvr>
</p:notes>
</file>

<file path=ppt/notesSlides/notesSlide2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离心机不要放进柜内运行，它的电机散热风扇会搅乱柜内气流。离心放在柜外，按规程使用密封离心管和密封转子（或安全杯），在柜内装卸（离心机安全见第 121 课）。</a:t>
            </a:r>
          </a:p>
          <a:p>
            <a:r>
              <a:t>其他仪器放进柜内也会影响气流：占据空间、挡住格栅，散热风扇吹乱气流。大型仪器进柜前要先做风险评估，必要时由专业人员测定气流。柜内的小仪器能不放就不放，要放的靠后靠边，不占操作区；电线不能横压格栅、垂出前窗，插座和电线有破损先报修再用。</a:t>
            </a:r>
          </a:p>
        </p:txBody>
      </p:sp>
      <p:sp>
        <p:nvSpPr>
          <p:cNvPr id="4" name="Slide Number Placeholder 3"/>
          <p:cNvSpPr>
            <a:spLocks noGrp="1"/>
          </p:cNvSpPr>
          <p:nvPr>
            <p:ph type="sldNum" idx="5" sz="quarter"/>
          </p:nvPr>
        </p:nvSpPr>
        <p:spPr/>
      </p:sp>
    </p:spTree>
  </p:cSld>
  <p:clrMapOvr>
    <a:masterClrMapping/>
  </p:clrMapOvr>
</p:notes>
</file>

<file path=ppt/notesSlides/notesSlide2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在柜内用真空管路吸弃液体时，要保护好真空系统：管路上装在线高效过滤器，并配废液收集瓶（瓶内按规程加消毒剂），防止感染性液体和气溶胶进入真空系统。不用的真空管口要盖上。</a:t>
            </a:r>
          </a:p>
        </p:txBody>
      </p:sp>
      <p:sp>
        <p:nvSpPr>
          <p:cNvPr id="4" name="Slide Number Placeholder 3"/>
          <p:cNvSpPr>
            <a:spLocks noGrp="1"/>
          </p:cNvSpPr>
          <p:nvPr>
            <p:ph type="sldNum" idx="5" sz="quarter"/>
          </p:nvPr>
        </p:nvSpPr>
        <p:spPr/>
      </p:sp>
    </p:spTree>
  </p:cSld>
  <p:clrMapOvr>
    <a:masterClrMapping/>
  </p:clrMapOvr>
</p:notes>
</file>

<file path=ppt/notesSlides/notesSlide2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操作中途需要离开时，先盖好所有容器、把物品放稳，双手慢慢撤出，按规程脱手套；风机不要关，挂牌提示别人勿动。</a:t>
            </a:r>
          </a:p>
          <a:p>
            <a:r>
              <a:t>出现报警、风机停转或突然停电时，立即停止操作，把样品容器盖好，慢慢抽出双手，关好前窗，挂牌停用，别人也不要再用。报告实验室负责人，请专业人员检修，检修合格后才能恢复使用；如有溢洒或暴露，按应急程序处置（见第 078 课）。</a:t>
            </a:r>
          </a:p>
        </p:txBody>
      </p:sp>
      <p:sp>
        <p:nvSpPr>
          <p:cNvPr id="4" name="Slide Number Placeholder 3"/>
          <p:cNvSpPr>
            <a:spLocks noGrp="1"/>
          </p:cNvSpPr>
          <p:nvPr>
            <p:ph type="sldNum" idx="5" sz="quarter"/>
          </p:nvPr>
        </p:nvSpPr>
        <p:spPr/>
      </p:sp>
    </p:spTree>
  </p:cSld>
  <p:clrMapOvr>
    <a:masterClrMapping/>
  </p:clrMapOvr>
</p:notes>
</file>

<file path=ppt/notesSlides/notesSlide2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答案：C。解析：先关紫外灯、看检测标签，开风机、前窗到位、空转，确认无报警、气流向内再开工。</a:t>
            </a:r>
          </a:p>
          <a:p>
            <a:r>
              <a:t>第 2 题 答案：B。解析：前窗太高吸入气流不足，会报警，柜内空气可能外逸、样品也会被污染。</a:t>
            </a:r>
          </a:p>
        </p:txBody>
      </p:sp>
      <p:sp>
        <p:nvSpPr>
          <p:cNvPr id="4" name="Slide Number Placeholder 3"/>
          <p:cNvSpPr>
            <a:spLocks noGrp="1"/>
          </p:cNvSpPr>
          <p:nvPr>
            <p:ph type="sldNum" idx="5" sz="quarter"/>
          </p:nvPr>
        </p:nvSpPr>
        <p:spPr/>
      </p:sp>
    </p:spTree>
  </p:cSld>
  <p:clrMapOvr>
    <a:masterClrMapping/>
  </p:clrMapOvr>
</p:notes>
</file>

<file path=ppt/notesSlides/notesSlide2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答案：C。解析：前后格栅是气流进出口，不能被任何物品遮挡。</a:t>
            </a:r>
          </a:p>
          <a:p>
            <a:r>
              <a:t>第 4 题 答案：B。解析：明火会打乱气流、烤坏过滤器、引燃乙醇；改用一次性接种环或电热灭菌器。</a:t>
            </a:r>
          </a:p>
        </p:txBody>
      </p:sp>
      <p:sp>
        <p:nvSpPr>
          <p:cNvPr id="4" name="Slide Number Placeholder 3"/>
          <p:cNvSpPr>
            <a:spLocks noGrp="1"/>
          </p:cNvSpPr>
          <p:nvPr>
            <p:ph type="sldNum" idx="5" sz="quarter"/>
          </p:nvPr>
        </p:nvSpPr>
        <p:spPr/>
      </p:sp>
    </p:spTree>
  </p:cSld>
  <p:clrMapOvr>
    <a:masterClrMapping/>
  </p:clrMapOvr>
</p:notes>
</file>

<file path=ppt/notesSlides/notesSlide2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答案：B。解析：报警说明气流可能失效，须停用并请专业人员检修。</a:t>
            </a:r>
          </a:p>
          <a:p>
            <a:r>
              <a:t>第 6 题 答案：安装位置靠近门口或送风口、前窗高度不对、物品堆放挡住格栅、手臂快速进出、旁人走动、柜内明火、离心机和大型仪器的风扇。解析：气幕很脆弱，要从位置、摆放、动作和仪器几方面控制。</a:t>
            </a:r>
          </a:p>
        </p:txBody>
      </p:sp>
      <p:sp>
        <p:nvSpPr>
          <p:cNvPr id="4" name="Slide Number Placeholder 3"/>
          <p:cNvSpPr>
            <a:spLocks noGrp="1"/>
          </p:cNvSpPr>
          <p:nvPr>
            <p:ph type="sldNum" idx="5" sz="quarter"/>
          </p:nvPr>
        </p:nvSpPr>
        <p:spPr/>
      </p:sp>
    </p:spTree>
  </p:cSld>
  <p:clrMapOvr>
    <a:masterClrMapping/>
  </p:clrMapOvr>
</p:notes>
</file>

<file path=ppt/notesSlides/notesSlide3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在生物安全柜里做完实验并不等于结束：柜里的物品要去污，柜子本身也要去污，收尾和开工一样要照规程来。</a:t>
            </a:r>
          </a:p>
          <a:p>
            <a:r>
              <a:t>整个清理过程中风机必须一直开着：气流还在，柜子的防护才在；先关风机再收拾，柜内的气溶胶就会飘到操作者身边。</a:t>
            </a:r>
          </a:p>
          <a:p>
            <a:r>
              <a:t>使用前的消毒、物品摆放、溢洒处置、废物处理、用后去污，每一步都要写进本实验室的生物安全柜标准操作规程，并配有日常维护计划和溢洒应急程序（溢洒见第 078 课）。</a:t>
            </a:r>
          </a:p>
        </p:txBody>
      </p:sp>
      <p:sp>
        <p:nvSpPr>
          <p:cNvPr id="4" name="Slide Number Placeholder 3"/>
          <p:cNvSpPr>
            <a:spLocks noGrp="1"/>
          </p:cNvSpPr>
          <p:nvPr>
            <p:ph type="sldNum" idx="5" sz="quarter"/>
          </p:nvPr>
        </p:nvSpPr>
        <p:spPr/>
      </p:sp>
    </p:spTree>
  </p:cSld>
  <p:clrMapOvr>
    <a:masterClrMapping/>
  </p:clrMapOvr>
</p:notes>
</file>

<file path=ppt/notesSlides/notesSlide3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收尾第一步：把所有样品管、培养皿、试剂瓶等容器盖好、拧紧。</a:t>
            </a:r>
          </a:p>
          <a:p>
            <a:r>
              <a:t>然后用开工前擦柜子的同一种指定消毒剂，对柜内物品逐件去污。用浸湿消毒剂的纸巾擦拭为主，不在柜内大面积喷雾；从污染最轻的物品开始，最后处理污染最重的，避免把污染越擦越多。</a:t>
            </a:r>
          </a:p>
          <a:p>
            <a:r>
              <a:t>消毒剂要让物品表面保持湿润，达到规定的作用时间才有效（浓度和作用时间以本单位 SOP 和产品说明为准，见第 076 课）。时间到后擦去残留液体；要留在柜里的东西放到清洁的一侧。</a:t>
            </a:r>
          </a:p>
        </p:txBody>
      </p:sp>
      <p:sp>
        <p:nvSpPr>
          <p:cNvPr id="4" name="Slide Number Placeholder 3"/>
          <p:cNvSpPr>
            <a:spLocks noGrp="1"/>
          </p:cNvSpPr>
          <p:nvPr>
            <p:ph type="sldNum" idx="5" sz="quarter"/>
          </p:nvPr>
        </p:nvSpPr>
        <p:spPr/>
      </p:sp>
    </p:spTree>
  </p:cSld>
  <p:clrMapOvr>
    <a:masterClrMapping/>
  </p:clrMapOvr>
</p:notes>
</file>

<file path=ppt/notesSlides/notesSlide3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样品要拿出生物安全柜时，容器外表面必须先去污；也可以把样品放进带盖、外表面已去污的二级容器（如密封盒）里再拿出，转运途中万一破损，液体也不会漏出来（样品转运见第 080 课）。</a:t>
            </a:r>
          </a:p>
          <a:p>
            <a:r>
              <a:t>其余要拿出柜外的物品，去污后移到柜旁的推车上，不在柜内堆放。</a:t>
            </a:r>
          </a:p>
        </p:txBody>
      </p:sp>
      <p:sp>
        <p:nvSpPr>
          <p:cNvPr id="4" name="Slide Number Placeholder 3"/>
          <p:cNvSpPr>
            <a:spLocks noGrp="1"/>
          </p:cNvSpPr>
          <p:nvPr>
            <p:ph type="sldNum" idx="5" sz="quarter"/>
          </p:nvPr>
        </p:nvSpPr>
        <p:spPr/>
      </p:sp>
    </p:spTree>
  </p:cSld>
  <p:clrMapOvr>
    <a:masterClrMapping/>
  </p:clrMapOvr>
</p:notes>
</file>

<file path=ppt/notesSlides/notesSlide3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用过的吸水垫，抓住外侧的角向内折叠，把污染的一面包在里面，再丢进柜内的废物袋，避免抖动扬起污染。</a:t>
            </a:r>
          </a:p>
          <a:p>
            <a:r>
              <a:t>柜内清空后，内表面也要去污，方法与开工前相同（见第 072 课）：用浸湿消毒剂的纸巾依次擦两侧壁、后壁、前窗玻璃内侧，最后擦台面，不漏死角，前窗内侧最容易被忘记。不要在柜内喷雾，雾滴会被吸进格栅和过滤器。用含氯消毒剂的，作用后再用清水擦去残留。</a:t>
            </a:r>
          </a:p>
        </p:txBody>
      </p:sp>
      <p:sp>
        <p:nvSpPr>
          <p:cNvPr id="4" name="Slide Number Placeholder 3"/>
          <p:cNvSpPr>
            <a:spLocks noGrp="1"/>
          </p:cNvSpPr>
          <p:nvPr>
            <p:ph type="sldNum" idx="5" sz="quarter"/>
          </p:nvPr>
        </p:nvSpPr>
        <p:spPr/>
      </p:sp>
    </p:spTree>
  </p:cSld>
  <p:clrMapOvr>
    <a:masterClrMapping/>
  </p:clrMapOvr>
</p:notes>
</file>

<file path=ppt/notesSlides/notesSlide3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废物处理从开工前就开始了：柜内废物桶（或废物容器）先套好两层耐高压的生物危害废物袋，消毒剂放在手边。柜内产生的废物都放进这只套袋容器里，先消毒再按规定带出处置。</a:t>
            </a:r>
          </a:p>
          <a:p>
            <a:r>
              <a:t>在柜内，用过的移液吸头能戳破袋子，也按锐器对待，放进专用容器；针头等锐器放锐器盒。</a:t>
            </a:r>
          </a:p>
          <a:p>
            <a:r>
              <a:t>按风险评估和规程，可在废物容器里预先加入一部分消毒液，让废物一进去就接触消毒剂。用哪种消毒剂按规程定；乙醇易挥发、易燃，不宜单独用作浸泡液（消毒剂选用见第 076 课）。</a:t>
            </a:r>
          </a:p>
        </p:txBody>
      </p:sp>
      <p:sp>
        <p:nvSpPr>
          <p:cNvPr id="4" name="Slide Number Placeholder 3"/>
          <p:cNvSpPr>
            <a:spLocks noGrp="1"/>
          </p:cNvSpPr>
          <p:nvPr>
            <p:ph type="sldNum" idx="5" sz="quarter"/>
          </p:nvPr>
        </p:nvSpPr>
        <p:spPr/>
      </p:sp>
    </p:spTree>
  </p:cSld>
  <p:clrMapOvr>
    <a:masterClrMapping/>
  </p:clrMapOvr>
</p:notes>
</file>

<file path=ppt/notesSlides/notesSlide3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柜内废物袋（桶）不要装满，装到约四分之三时就要封口（本单位规定更严的从其规定），留出扎口的余量，也避免锐器顶破袋子。</a:t>
            </a:r>
          </a:p>
          <a:p>
            <a:r>
              <a:t>装得太满时不要用手往下压，以免锐器刺伤、袋子破裂。封口后盖紧容器，外表面消毒，再送到指定地点按规程灭菌处置。</a:t>
            </a:r>
          </a:p>
        </p:txBody>
      </p:sp>
      <p:sp>
        <p:nvSpPr>
          <p:cNvPr id="4" name="Slide Number Placeholder 3"/>
          <p:cNvSpPr>
            <a:spLocks noGrp="1"/>
          </p:cNvSpPr>
          <p:nvPr>
            <p:ph type="sldNum" idx="5" sz="quarter"/>
          </p:nvPr>
        </p:nvSpPr>
        <p:spPr/>
      </p:sp>
    </p:spTree>
  </p:cSld>
  <p:clrMapOvr>
    <a:masterClrMapping/>
  </p:clrMapOvr>
</p:notes>
</file>

<file path=ppt/notesSlides/notesSlide3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柜内的感染性废物要在柜里装袋、封口后再拿出来：柜内有气流保护，封口时扬起的污染不会外跑。</a:t>
            </a:r>
          </a:p>
          <a:p>
            <a:r>
              <a:t>用两层袋装：一层被吸头等戳破，还有另一层兜着。动手收口前，先用指定消毒剂擦一擦手套和废物容器外面；再用洗瓶往内袋里加少量消毒剂，让废物表面先接触消毒剂（不在柜内大面积喷雾）。</a:t>
            </a:r>
          </a:p>
        </p:txBody>
      </p:sp>
      <p:sp>
        <p:nvSpPr>
          <p:cNvPr id="4" name="Slide Number Placeholder 3"/>
          <p:cNvSpPr>
            <a:spLocks noGrp="1"/>
          </p:cNvSpPr>
          <p:nvPr>
            <p:ph type="sldNum" idx="5" sz="quarter"/>
          </p:nvPr>
        </p:nvSpPr>
        <p:spPr/>
      </p:sp>
    </p:spTree>
  </p:cSld>
  <p:clrMapOvr>
    <a:masterClrMapping/>
  </p:clrMapOvr>
</p:notes>
</file>

<file path=ppt/notesSlides/notesSlide3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封内袋：把内袋口轻轻收拢、提起，拧成一股；不要挤压袋子，也不要把袋里的空气挤出来，否则会把气溶胶带出。用扎带扎住，再缠一道胶带。</a:t>
            </a:r>
          </a:p>
          <a:p>
            <a:r>
              <a:t>扎好后在扎口处再擦一遍消毒剂，手碰过的地方最容易沾上污染。</a:t>
            </a:r>
          </a:p>
          <a:p>
            <a:r>
              <a:t>封外袋：把外袋从桶沿翻起来，把内袋整个包在里面，同样拧紧，用扎带和胶带扎好第二道口。整理多余的袋口，轻轻拉一拉确认扎牢。</a:t>
            </a:r>
          </a:p>
        </p:txBody>
      </p:sp>
      <p:sp>
        <p:nvSpPr>
          <p:cNvPr id="4" name="Slide Number Placeholder 3"/>
          <p:cNvSpPr>
            <a:spLocks noGrp="1"/>
          </p:cNvSpPr>
          <p:nvPr>
            <p:ph type="sldNum" idx="5" sz="quarter"/>
          </p:nvPr>
        </p:nvSpPr>
        <p:spPr/>
      </p:sp>
    </p:spTree>
  </p:cSld>
  <p:clrMapOvr>
    <a:masterClrMapping/>
  </p:clrMapOvr>
</p:notes>
</file>

<file path=ppt/notesSlides/notesSlide3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装袋时发现袋子破了或渗漏，先停下来，不要把它拿出柜外。在柜内外面再套一只新袋，扎紧。</a:t>
            </a:r>
          </a:p>
          <a:p>
            <a:r>
              <a:t>漏出的液体用纸巾覆盖，再加消毒剂作用规定时间后清理，纸巾作为感染性废物处理；手套沾上污染马上更换。处理完报告实验室负责人并记录；漏到柜外或量大的，按溢洒应急程序处置（见第 078 课）。</a:t>
            </a:r>
          </a:p>
        </p:txBody>
      </p:sp>
      <p:sp>
        <p:nvSpPr>
          <p:cNvPr id="4" name="Slide Number Placeholder 3"/>
          <p:cNvSpPr>
            <a:spLocks noGrp="1"/>
          </p:cNvSpPr>
          <p:nvPr>
            <p:ph type="sldNum" idx="5" sz="quarter"/>
          </p:nvPr>
        </p:nvSpPr>
        <p:spPr/>
      </p:sp>
    </p:spTree>
  </p:cSld>
  <p:clrMapOvr>
    <a:masterClrMapping/>
  </p:clrMapOvr>
</p:notes>
</file>

<file path=ppt/notesSlides/notesSlide3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把扎好的双层废物袋从桶里提出来；袋子应耐高压灭菌，印有生物危害标志。袋子外表面、用过的废物盘和空桶外壁都擦上消毒剂，等够作用时间再擦干净。</a:t>
            </a:r>
          </a:p>
          <a:p>
            <a:r>
              <a:t>用过的纸巾丢掉，摘掉外层手套（戴双层手套的在柜内脱外层），换上干净手套，再把袋子拿出柜外。脏手套拎着没消毒的袋子出柜，会把污染带出来。</a:t>
            </a:r>
          </a:p>
          <a:p>
            <a:r>
              <a:t>只用了废物袋的，把它放进柜外的废物盘（周转箱）；袋和盘都在柜内用了的，就一起拿出来，按规程移走。</a:t>
            </a:r>
          </a:p>
        </p:txBody>
      </p:sp>
      <p:sp>
        <p:nvSpPr>
          <p:cNvPr id="4" name="Slide Number Placeholder 3"/>
          <p:cNvSpPr>
            <a:spLocks noGrp="1"/>
          </p:cNvSpPr>
          <p:nvPr>
            <p:ph type="sldNum" idx="5" sz="quarter"/>
          </p:nvPr>
        </p:nvSpPr>
        <p:spPr/>
      </p:sp>
    </p:spTree>
  </p:cSld>
  <p:clrMapOvr>
    <a:masterClrMapping/>
  </p:clrMapOvr>
</p:notes>
</file>

<file path=ppt/notesSlides/notesSlide3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移出的废物袋按规程送到指定地点进行高压蒸汽灭菌。高压灭菌靠蒸汽穿透，袋口扎得太死，蒸汽进不去，袋子中心可能灭不透；因此是否向袋内加适量水、进灭菌器前袋口怎样放松，都按本单位灭菌规程执行（灭菌原理和验证见第 076 课，灭菌器操作见第 123 课）。</a:t>
            </a:r>
          </a:p>
          <a:p>
            <a:r>
              <a:t>国内高校实验室的感染性废物，一般先在实验室内灭菌，再作为医疗废物（或按本校规定）分类包装、登记，交有资质的单位集中处置，不得混入生活垃圾（见第 077 课）。</a:t>
            </a:r>
          </a:p>
        </p:txBody>
      </p:sp>
      <p:sp>
        <p:nvSpPr>
          <p:cNvPr id="4" name="Slide Number Placeholder 3"/>
          <p:cNvSpPr>
            <a:spLocks noGrp="1"/>
          </p:cNvSpPr>
          <p:nvPr>
            <p:ph type="sldNum" idx="5" sz="quarter"/>
          </p:nvPr>
        </p:nvSpPr>
        <p:spPr/>
      </p:sp>
    </p:spTree>
  </p:cSld>
  <p:clrMapOvr>
    <a:masterClrMapping/>
  </p:clrMapOvr>
</p:notes>
</file>

<file path=ppt/notesSlides/notesSlide3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清理完毕，柜里只留必需的东西，不要马上关机：让风机再运行一段时间（按本柜规程），把柜内空气换净。然后关照明、关风机，最后把前窗关好。</a:t>
            </a:r>
          </a:p>
          <a:p>
            <a:r>
              <a:t>有的实验室生物安全柜风机长期运行，那就只关照明，前窗保持在工作位置，按本单位规程执行。</a:t>
            </a:r>
          </a:p>
          <a:p>
            <a:r>
              <a:t>紫外灯只能作辅助消毒，不能代替擦拭；开紫外灯时人要离开，前窗关闭（见第 076、111 课）。有使用登记的，记得登记签字，写清使用时间和异常情况。</a:t>
            </a:r>
          </a:p>
        </p:txBody>
      </p:sp>
      <p:sp>
        <p:nvSpPr>
          <p:cNvPr id="4" name="Slide Number Placeholder 3"/>
          <p:cNvSpPr>
            <a:spLocks noGrp="1"/>
          </p:cNvSpPr>
          <p:nvPr>
            <p:ph type="sldNum" idx="5" sz="quarter"/>
          </p:nvPr>
        </p:nvSpPr>
        <p:spPr/>
      </p:sp>
    </p:spTree>
  </p:cSld>
  <p:clrMapOvr>
    <a:masterClrMapping/>
  </p:clrMapOvr>
</p:notes>
</file>

<file path=ppt/notesSlides/notesSlide3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每台生物安全柜都要按国家标准和本校规定定期检测认证，由有资质的机构进行；新安装的、搬动过的柜子也要先检测合格、贴好标签再用。检测合格标签过期的柜子先停用，报告设备管理人员安排检测。</a:t>
            </a:r>
          </a:p>
          <a:p>
            <a:r>
              <a:t>每个实验室都要定好清洁维护计划：日常清洁和保养有规程可依，由使用者按规程做；维修和更换高效过滤器涉及污染部件，必须由专业人员按规程先去污再操作，使用者不得自行拆卸。拿不准的，问实验室负责人、学院和学校实验室安全管理部门。</a:t>
            </a:r>
          </a:p>
        </p:txBody>
      </p:sp>
      <p:sp>
        <p:nvSpPr>
          <p:cNvPr id="4" name="Slide Number Placeholder 3"/>
          <p:cNvSpPr>
            <a:spLocks noGrp="1"/>
          </p:cNvSpPr>
          <p:nvPr>
            <p:ph type="sldNum" idx="5" sz="quarter"/>
          </p:nvPr>
        </p:nvSpPr>
        <p:spPr/>
      </p:sp>
    </p:spTree>
  </p:cSld>
  <p:clrMapOvr>
    <a:masterClrMapping/>
  </p:clrMapOvr>
</p:notes>
</file>

<file path=ppt/notesSlides/notesSlide3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答案：B。解析：清理全过程风机不关，先盖好容器，由轻到重擦拭，保持湿润够作用时间。</a:t>
            </a:r>
          </a:p>
          <a:p>
            <a:r>
              <a:t>第 2 题 答案：B。解析：装到约四分之三就封口，不得用手压，以免锐器刺伤、袋子破裂。</a:t>
            </a:r>
          </a:p>
        </p:txBody>
      </p:sp>
      <p:sp>
        <p:nvSpPr>
          <p:cNvPr id="4" name="Slide Number Placeholder 3"/>
          <p:cNvSpPr>
            <a:spLocks noGrp="1"/>
          </p:cNvSpPr>
          <p:nvPr>
            <p:ph type="sldNum" idx="5" sz="quarter"/>
          </p:nvPr>
        </p:nvSpPr>
        <p:spPr/>
      </p:sp>
    </p:spTree>
  </p:cSld>
  <p:clrMapOvr>
    <a:masterClrMapping/>
  </p:clrMapOvr>
</p:notes>
</file>

<file path=ppt/notesSlides/notesSlide3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答案：B。解析：挤压袋子会把气溶胶带出；封口在柜内完成，内外两道口都要扎牢。</a:t>
            </a:r>
          </a:p>
          <a:p>
            <a:r>
              <a:t>第 4 题 答案：B。解析：破袋不出柜，柜内加套处置；漏到柜外按溢洒程序处理。</a:t>
            </a:r>
          </a:p>
        </p:txBody>
      </p:sp>
      <p:sp>
        <p:nvSpPr>
          <p:cNvPr id="4" name="Slide Number Placeholder 3"/>
          <p:cNvSpPr>
            <a:spLocks noGrp="1"/>
          </p:cNvSpPr>
          <p:nvPr>
            <p:ph type="sldNum" idx="5" sz="quarter"/>
          </p:nvPr>
        </p:nvSpPr>
        <p:spPr/>
      </p:sp>
    </p:spTree>
  </p:cSld>
  <p:clrMapOvr>
    <a:masterClrMapping/>
  </p:clrMapOvr>
</p:notes>
</file>

<file path=ppt/notesSlides/notesSlide3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答案：B。解析：新装、移位后和定期都要由有资质的机构检测合格，过期停用。</a:t>
            </a:r>
          </a:p>
          <a:p>
            <a:r>
              <a:t>第 6 题 答案：双层扎紧后提出，袋子外表、废物盘和空桶外壁消毒并等够作用时间，脱掉外层手套、换干净手套，再放进柜外废物盘移走送灭菌。解析：防止把柜内污染带到柜外。</a:t>
            </a:r>
          </a:p>
        </p:txBody>
      </p:sp>
      <p:sp>
        <p:nvSpPr>
          <p:cNvPr id="4" name="Slide Number Placeholder 3"/>
          <p:cNvSpPr>
            <a:spLocks noGrp="1"/>
          </p:cNvSpPr>
          <p:nvPr>
            <p:ph type="sldNum" idx="5" sz="quarter"/>
          </p:nvPr>
        </p:nvSpPr>
        <p:spPr/>
      </p:sp>
    </p:spTree>
  </p:cSld>
  <p:clrMapOvr>
    <a:masterClrMapping/>
  </p:clrMapOvr>
</p:notes>
</file>

<file path=ppt/notesSlides/notesSlide3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控制生物风险，先靠实验室设施和生物安全柜等工程控制，再靠操作规程等管理措施，个人防护装备是贴在身上的最后一道防线（通用防护原则见第 021 课）。</a:t>
            </a:r>
          </a:p>
          <a:p>
            <a:r>
              <a:t>有了生物安全柜，手套、实验服（隔离衣）、口罩等该戴的照样要戴：设备挡住大部分气溶胶，防护用品防的是万一。最后一道防线一旦用错、戴歪，风险就直接到人身上，所以要用得对，才能真正起作用。</a:t>
            </a:r>
          </a:p>
        </p:txBody>
      </p:sp>
      <p:sp>
        <p:nvSpPr>
          <p:cNvPr id="4" name="Slide Number Placeholder 3"/>
          <p:cNvSpPr>
            <a:spLocks noGrp="1"/>
          </p:cNvSpPr>
          <p:nvPr>
            <p:ph type="sldNum" idx="5" sz="quarter"/>
          </p:nvPr>
        </p:nvSpPr>
        <p:spPr/>
      </p:sp>
    </p:spTree>
  </p:cSld>
  <p:clrMapOvr>
    <a:masterClrMapping/>
  </p:clrMapOvr>
</p:notes>
</file>

<file path=ppt/notesSlides/notesSlide3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防护穿戴什么、穿到什么程度，不凭感觉，要依据病原的分类、实验室的防护级别和具体活动的风险评估来确定（生物风险评估见第 067 课），评估结果写进本实验室的标准操作规程，人人照做。</a:t>
            </a:r>
          </a:p>
          <a:p>
            <a:r>
              <a:t>防护不是越多越好：穿得过多会闷热、动作笨拙、穿脱时更容易自我污染；也不能嫌麻烦自作主张减掉。普通的微生物操作，多数是实验服（隔离衣）、手套和护目镜。</a:t>
            </a:r>
          </a:p>
          <a:p>
            <a:r>
              <a:t>新冠疫情期间形成的防护配置是当时的做法，现在要以国家现行规定、本单位风险评估结果和产品说明为准。引进新的防护用品前要试用，提前想到可能的问题，用起来有问题及时反馈、解决。</a:t>
            </a:r>
          </a:p>
        </p:txBody>
      </p:sp>
      <p:sp>
        <p:nvSpPr>
          <p:cNvPr id="4" name="Slide Number Placeholder 3"/>
          <p:cNvSpPr>
            <a:spLocks noGrp="1"/>
          </p:cNvSpPr>
          <p:nvPr>
            <p:ph type="sldNum" idx="5" sz="quarter"/>
          </p:nvPr>
        </p:nvSpPr>
        <p:spPr/>
      </p:sp>
    </p:spTree>
  </p:cSld>
  <p:clrMapOvr>
    <a:masterClrMapping/>
  </p:clrMapOvr>
</p:notes>
</file>

<file path=ppt/notesSlides/notesSlide3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选防护先看三件事。一看病原：危害越高，防护越强。国内把病原微生物分为四类，第一类危害最高、第四类最低，与国际“风险组”的编号方向相反，不要混淆（见第 058 课）。来源不明或新出现的病原，先按较高级别从严防护，最终由风险评估确定；参考表只是起点。</a:t>
            </a:r>
          </a:p>
          <a:p>
            <a:r>
              <a:t>二看侵入途径：经呼吸道（气溶胶）、眼和黏膜、皮肤破损、针刺等，从哪里进就挡住哪里，多种途径就多重防护。</a:t>
            </a:r>
          </a:p>
          <a:p>
            <a:r>
              <a:t>三看具体操作：同一种样本，接收、登记时一般穿戴基本防护；开盖、核酸提取、离心、振荡等可能产生气溶胶的操作，要在生物安全柜内进行并加强防护。</a:t>
            </a:r>
          </a:p>
        </p:txBody>
      </p:sp>
      <p:sp>
        <p:nvSpPr>
          <p:cNvPr id="4" name="Slide Number Placeholder 3"/>
          <p:cNvSpPr>
            <a:spLocks noGrp="1"/>
          </p:cNvSpPr>
          <p:nvPr>
            <p:ph type="sldNum" idx="5" sz="quarter"/>
          </p:nvPr>
        </p:nvSpPr>
        <p:spPr/>
      </p:sp>
    </p:spTree>
  </p:cSld>
  <p:clrMapOvr>
    <a:masterClrMapping/>
  </p:clrMapOvr>
</p:notes>
</file>

<file path=ppt/notesSlides/notesSlide3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生物实验室的个人防护装备从头到脚一套：头套（帽子）、护目镜或面屏、贴合良好的口罩、实验服或隔离衣、一次性手套、鞋套或不露脚趾的鞋（着装要求见第 020 课）。按用途可归为五大类：呼吸防护（口罩）、手部防护、躯体防护（防护服）、眼面防护和特殊防护。</a:t>
            </a:r>
          </a:p>
          <a:p>
            <a:r>
              <a:t>呼吸道、眼睛、皮肤、手和脚，哪里露着皮肤，哪里就是防护缺口。手套要盖住实验服袖口，手腕不能露出一截。</a:t>
            </a:r>
          </a:p>
          <a:p>
            <a:r>
              <a:t>穿便服、只戴一副手套就上机操作是不行的：实验服、护目镜、手套一样不少，按规程穿戴齐全再开始。用过的一次性防护用品放进感染性废物袋。</a:t>
            </a:r>
          </a:p>
        </p:txBody>
      </p:sp>
      <p:sp>
        <p:nvSpPr>
          <p:cNvPr id="4" name="Slide Number Placeholder 3"/>
          <p:cNvSpPr>
            <a:spLocks noGrp="1"/>
          </p:cNvSpPr>
          <p:nvPr>
            <p:ph type="sldNum" idx="5" sz="quarter"/>
          </p:nvPr>
        </p:nvSpPr>
        <p:spPr/>
      </p:sp>
    </p:spTree>
  </p:cSld>
  <p:clrMapOvr>
    <a:masterClrMapping/>
  </p:clrMapOvr>
</p:notes>
</file>

<file path=ppt/notesSlides/notesSlide3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手套有多种材质，没有万能手套（详见第 023 课）：乳胶手套挡不住很多有机溶剂，腈手套耐溶剂性更好，但也有局限，同时接触化学品时要按化学品选材。防微生物的手套应符合 GB 28881-2023（以现行文本为准）等国家标准。</a:t>
            </a:r>
          </a:p>
          <a:p>
            <a:r>
              <a:t>处理感染性生物材料时，按风险评估可以戴两层手套：外层被污染，里层还能护着；外层污染或破损就及时更换外层，摘外层时不碰到里层外的皮肤。</a:t>
            </a:r>
          </a:p>
          <a:p>
            <a:r>
              <a:t>抓取、保定实验动物时，在内层手套外戴加厚的防咬、防抓手套（实验动物见第 084 课）。</a:t>
            </a:r>
          </a:p>
        </p:txBody>
      </p:sp>
      <p:sp>
        <p:nvSpPr>
          <p:cNvPr id="4" name="Slide Number Placeholder 3"/>
          <p:cNvSpPr>
            <a:spLocks noGrp="1"/>
          </p:cNvSpPr>
          <p:nvPr>
            <p:ph type="sldNum" idx="5" sz="quarter"/>
          </p:nvPr>
        </p:nvSpPr>
        <p:spPr/>
      </p:sp>
    </p:spTree>
  </p:cSld>
  <p:clrMapOvr>
    <a:masterClrMapping/>
  </p:clrMapOvr>
</p:notes>
</file>

<file path=ppt/notesSlides/notesSlide3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隔离衣、防护服在实验室和现场采样时都可以穿，能挡住小的飞溅，但挡不住大量溢洒：被大量液体浸湿后要立即更换，必要时按暴露处置（见第 078 课）。</a:t>
            </a:r>
          </a:p>
          <a:p>
            <a:r>
              <a:t>需要医用一次性防护服时，选符合 GB 19082-2023（以现行文本为准）的合格产品；一次性防护服用过不再穿，成本也不低，要按评估合理使用（实验服与防护服的通用要求见第 024 课）。</a:t>
            </a:r>
          </a:p>
          <a:p>
            <a:r>
              <a:t>防护服、隔离衣只在实验区内穿，不穿出实验室，不穿进办公室、食堂等公共区域。</a:t>
            </a:r>
          </a:p>
        </p:txBody>
      </p:sp>
      <p:sp>
        <p:nvSpPr>
          <p:cNvPr id="4" name="Slide Number Placeholder 3"/>
          <p:cNvSpPr>
            <a:spLocks noGrp="1"/>
          </p:cNvSpPr>
          <p:nvPr>
            <p:ph type="sldNum" idx="5" sz="quarter"/>
          </p:nvPr>
        </p:nvSpPr>
        <p:spPr/>
      </p:sp>
    </p:spTree>
  </p:cSld>
  <p:clrMapOvr>
    <a:masterClrMapping/>
  </p:clrMapOvr>
</p:notes>
</file>

<file path=ppt/notesSlides/notesSlide3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有的病原可经气溶胶吸入感染，要靠口罩把住呼吸道。医用外科口罩主要阻挡飞沫和液体飞溅；医用防护口罩（符合 GB 19083-2023，以现行文本为准）能过滤颗粒物和气溶胶，贴合面部。外形相似的口罩用途可能不同，有的能防液体喷溅，有的不能，用前看清标准、类别和说明。</a:t>
            </a:r>
          </a:p>
          <a:p>
            <a:r>
              <a:t>用医用口罩还是医用防护口罩，由本实验室的风险评估确定。医用防护口罩选好型号后要做适合性检验，每次佩戴做密合性检查（呼吸器类型和适合性检验见第 025 课）。</a:t>
            </a:r>
          </a:p>
          <a:p>
            <a:r>
              <a:t>口罩消毒会损坏过滤材料和贴合性能，一次性口罩不要消毒后重复使用。</a:t>
            </a:r>
          </a:p>
        </p:txBody>
      </p:sp>
      <p:sp>
        <p:nvSpPr>
          <p:cNvPr id="4" name="Slide Number Placeholder 3"/>
          <p:cNvSpPr>
            <a:spLocks noGrp="1"/>
          </p:cNvSpPr>
          <p:nvPr>
            <p:ph type="sldNum" idx="5" sz="quarter"/>
          </p:nvPr>
        </p:nvSpPr>
        <p:spPr/>
      </p:sp>
    </p:spTree>
  </p:cSld>
  <p:clrMapOvr>
    <a:masterClrMapping/>
  </p:clrMapOvr>
</p:notes>
</file>

<file path=ppt/notesSlides/notesSlide3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护目镜和面屏保护眼睛和面部黏膜，挡住小的飞溅；护目镜贴合眼周，面屏挡住整个面部前方（眼面防护见第 022 课，产品符合 GB 14866-2023，以现行文本为准）。</a:t>
            </a:r>
          </a:p>
          <a:p>
            <a:r>
              <a:t>面屏、护目镜、口罩各管一处，不能互相代替：面屏下方和两侧是开放的，不防吸入，有气溶胶风险时必须同时戴合适的口罩。</a:t>
            </a:r>
          </a:p>
          <a:p>
            <a:r>
              <a:t>可重复使用的护目镜和面屏，用后按规程清洁消毒、晾干后再用。</a:t>
            </a:r>
          </a:p>
        </p:txBody>
      </p:sp>
      <p:sp>
        <p:nvSpPr>
          <p:cNvPr id="4" name="Slide Number Placeholder 3"/>
          <p:cNvSpPr>
            <a:spLocks noGrp="1"/>
          </p:cNvSpPr>
          <p:nvPr>
            <p:ph type="sldNum" idx="5" sz="quarter"/>
          </p:nvPr>
        </p:nvSpPr>
        <p:spPr/>
      </p:sp>
    </p:spTree>
  </p:cSld>
  <p:clrMapOvr>
    <a:masterClrMapping/>
  </p:clrMapOvr>
</p:notes>
</file>

<file path=ppt/notesSlides/notesSlide3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动力送风过滤式呼吸器（送风头罩，符合 GB 30864-2014，以现行文本为准）只保护呼吸道和头面部，防护服、手套等一样不能少，穿什么按风险评估和规程定（送风呼吸器的使用见第 025 课）。</a:t>
            </a:r>
          </a:p>
          <a:p>
            <a:r>
              <a:t>最高防护级别的实验室，人员穿着正压防护服：服内持续送入洁净空气，保持正压，万一出现破口，空气也是往外流，外界污染进不来。这类装备昂贵、操作复杂，只有经专门培训考核、获得授权的人员才能使用（各级实验室要求见第 061 课）。</a:t>
            </a:r>
          </a:p>
        </p:txBody>
      </p:sp>
      <p:sp>
        <p:nvSpPr>
          <p:cNvPr id="4" name="Slide Number Placeholder 3"/>
          <p:cNvSpPr>
            <a:spLocks noGrp="1"/>
          </p:cNvSpPr>
          <p:nvPr>
            <p:ph type="sldNum" idx="5" sz="quarter"/>
          </p:nvPr>
        </p:nvSpPr>
        <p:spPr/>
      </p:sp>
    </p:spTree>
  </p:cSld>
  <p:clrMapOvr>
    <a:masterClrMapping/>
  </p:clrMapOvr>
</p:notes>
</file>

<file path=ppt/notesSlides/notesSlide3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临床检验和传染病诊断实验室处理样本时，常见的防护组合大致分两档：常规样本检验，一般穿实验服或隔离衣、戴手套，有飞溅风险时戴护目镜或面屏、医用口罩；处理可疑呼吸道传染病等高风险样本，在生物安全柜内操作，戴医用防护口罩、护目镜或面屏，穿隔离衣或医用防护服，戴双层手套，必要时加鞋套、帽子。</a:t>
            </a:r>
          </a:p>
          <a:p>
            <a:r>
              <a:t>这只是一般做法，具体组合以国家卫生健康部门的现行规定、本实验室的风险评估和标准操作规程为准（临床样本见第 079 课）。</a:t>
            </a:r>
          </a:p>
        </p:txBody>
      </p:sp>
      <p:sp>
        <p:nvSpPr>
          <p:cNvPr id="4" name="Slide Number Placeholder 3"/>
          <p:cNvSpPr>
            <a:spLocks noGrp="1"/>
          </p:cNvSpPr>
          <p:nvPr>
            <p:ph type="sldNum" idx="5" sz="quarter"/>
          </p:nvPr>
        </p:nvSpPr>
        <p:spPr/>
      </p:sp>
    </p:spTree>
  </p:cSld>
  <p:clrMapOvr>
    <a:masterClrMapping/>
  </p:clrMapOvr>
</p:notes>
</file>

<file path=ppt/notesSlides/notesSlide3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防护用品要选合格产品：口罩、防护服、手套、护目镜各有国家标准，采购时看清执行标准、类别和有效期，由单位统一采购、登记入库。</a:t>
            </a:r>
          </a:p>
          <a:p>
            <a:r>
              <a:t>按人员配齐，各种尺码都要有，太大太小都会留缺口、影响操作。戴之前检查有无破损、老化，手套可轻轻困住空气或对光查看有无小孔，有问题马上换。</a:t>
            </a:r>
          </a:p>
          <a:p>
            <a:r>
              <a:t>防护用品有有效期，过期的不用；库存快用完了及时补充，别凑合。</a:t>
            </a:r>
          </a:p>
        </p:txBody>
      </p:sp>
      <p:sp>
        <p:nvSpPr>
          <p:cNvPr id="4" name="Slide Number Placeholder 3"/>
          <p:cNvSpPr>
            <a:spLocks noGrp="1"/>
          </p:cNvSpPr>
          <p:nvPr>
            <p:ph type="sldNum" idx="5" sz="quarter"/>
          </p:nvPr>
        </p:nvSpPr>
        <p:spPr/>
      </p:sp>
    </p:spTree>
  </p:cSld>
  <p:clrMapOvr>
    <a:masterClrMapping/>
  </p:clrMapOvr>
</p:notes>
</file>

<file path=ppt/notesSlides/notesSlide3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一次性防护服、手套、口罩用过就丢，不能挂起来下次再穿。用后按感染性废物放进生物危害废物袋，按规程灭菌后处置（见第 077 课）。</a:t>
            </a:r>
          </a:p>
          <a:p>
            <a:r>
              <a:t>使用中发现防护服、手套破损，要按规程处理并记录上报，必要时按暴露处置；破损记录在内部审核和检查时一并核查，用来改进防护用品选择和操作。</a:t>
            </a:r>
          </a:p>
        </p:txBody>
      </p:sp>
      <p:sp>
        <p:nvSpPr>
          <p:cNvPr id="4" name="Slide Number Placeholder 3"/>
          <p:cNvSpPr>
            <a:spLocks noGrp="1"/>
          </p:cNvSpPr>
          <p:nvPr>
            <p:ph type="sldNum" idx="5" sz="quarter"/>
          </p:nvPr>
        </p:nvSpPr>
        <p:spPr/>
      </p:sp>
    </p:spTree>
  </p:cSld>
  <p:clrMapOvr>
    <a:masterClrMapping/>
  </p:clrMapOvr>
</p:notes>
</file>

<file path=ppt/notesSlides/notesSlide3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个人防护离不开管理：先充分评估风险，再选择防护用品，然后对人员进行培训，穿戴和脱卸都按规程一步步来，考核合格后才能独立操作（穿脱顺序见第 075 课）。</a:t>
            </a:r>
          </a:p>
          <a:p>
            <a:r>
              <a:t>穿防护前先把长发束好，摘掉首饰；防护用品合格、不过期；防护服不穿出实验室。选防护记住三看：看病原、看途径、看操作。</a:t>
            </a:r>
          </a:p>
        </p:txBody>
      </p:sp>
      <p:sp>
        <p:nvSpPr>
          <p:cNvPr id="4" name="Slide Number Placeholder 3"/>
          <p:cNvSpPr>
            <a:spLocks noGrp="1"/>
          </p:cNvSpPr>
          <p:nvPr>
            <p:ph type="sldNum" idx="5" sz="quarter"/>
          </p:nvPr>
        </p:nvSpPr>
        <p:spPr/>
      </p:sp>
    </p:spTree>
  </p:cSld>
  <p:clrMapOvr>
    <a:masterClrMapping/>
  </p:clrMapOvr>
</p:notes>
</file>

<file path=ppt/notesSlides/notesSlide3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答案：B。解析：防护按风险评估确定并写进规程，不多不少。</a:t>
            </a:r>
          </a:p>
          <a:p>
            <a:r>
              <a:t>第 2 题 答案：B。解析：国内第一类危害最高、第四类最低，与国际风险组编号方向相反。</a:t>
            </a:r>
          </a:p>
        </p:txBody>
      </p:sp>
      <p:sp>
        <p:nvSpPr>
          <p:cNvPr id="4" name="Slide Number Placeholder 3"/>
          <p:cNvSpPr>
            <a:spLocks noGrp="1"/>
          </p:cNvSpPr>
          <p:nvPr>
            <p:ph type="sldNum" idx="5" sz="quarter"/>
          </p:nvPr>
        </p:nvSpPr>
        <p:spPr/>
      </p:sp>
    </p:spTree>
  </p:cSld>
  <p:clrMapOvr>
    <a:masterClrMapping/>
  </p:clrMapOvr>
</p:notes>
</file>

<file path=ppt/notesSlides/notesSlide3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答案：C。解析：面屏、护目镜、口罩各管一处；医用防护口罩防气溶胶，一次性口罩不重复使用。</a:t>
            </a:r>
          </a:p>
          <a:p>
            <a:r>
              <a:t>第 4 题 答案：A。解析：双层手套外脏内护，外层污染或破损及时更换。</a:t>
            </a:r>
          </a:p>
        </p:txBody>
      </p:sp>
      <p:sp>
        <p:nvSpPr>
          <p:cNvPr id="4" name="Slide Number Placeholder 3"/>
          <p:cNvSpPr>
            <a:spLocks noGrp="1"/>
          </p:cNvSpPr>
          <p:nvPr>
            <p:ph type="sldNum" idx="5" sz="quarter"/>
          </p:nvPr>
        </p:nvSpPr>
        <p:spPr/>
      </p:sp>
    </p:spTree>
  </p:cSld>
  <p:clrMapOvr>
    <a:masterClrMapping/>
  </p:clrMapOvr>
</p:notes>
</file>

<file path=ppt/notesSlides/notesSlide3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答案：B。解析：防护服、隔离衣不出实验室。</a:t>
            </a:r>
          </a:p>
          <a:p>
            <a:r>
              <a:t>第 6 题 答案：需要。送风头罩只保护呼吸道和头面部，身体和手仍需防护服和手套。解析：从头到脚不留缺口，具体按风险评估和规程配齐。</a:t>
            </a:r>
          </a:p>
        </p:txBody>
      </p:sp>
      <p:sp>
        <p:nvSpPr>
          <p:cNvPr id="4" name="Slide Number Placeholder 3"/>
          <p:cNvSpPr>
            <a:spLocks noGrp="1"/>
          </p:cNvSpPr>
          <p:nvPr>
            <p:ph type="sldNum" idx="5" sz="quarter"/>
          </p:nvPr>
        </p:nvSpPr>
        <p:spPr/>
      </p:sp>
    </p:spTree>
  </p:cSld>
  <p:clrMapOvr>
    <a:masterClrMapping/>
  </p:clrMapOvr>
</p:notes>
</file>

<file path=ppt/notesSlides/notesSlide3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穿戴防护装备前先做准备：摘下戒指、手链、手表等首饰，它们会戳破手套、藏污纳垢，也让手套戴不服帖。手机、外套、包和笔等个人物品放在实验室外的储物柜里，不带进实验区（着装和个人物品要求见第 020 课）。</a:t>
            </a:r>
          </a:p>
          <a:p>
            <a:r>
              <a:t>有长发的，把头发束起、盘好，必要时戴帽子，防止头发垂落沾污或碰到面部。</a:t>
            </a:r>
          </a:p>
        </p:txBody>
      </p:sp>
      <p:sp>
        <p:nvSpPr>
          <p:cNvPr id="4" name="Slide Number Placeholder 3"/>
          <p:cNvSpPr>
            <a:spLocks noGrp="1"/>
          </p:cNvSpPr>
          <p:nvPr>
            <p:ph type="sldNum" idx="5" sz="quarter"/>
          </p:nvPr>
        </p:nvSpPr>
        <p:spPr/>
      </p:sp>
    </p:spTree>
  </p:cSld>
  <p:clrMapOvr>
    <a:masterClrMapping/>
  </p:clrMapOvr>
</p:notes>
</file>

<file path=ppt/notesSlides/notesSlide3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按风险评估备齐本次要用的装备（选择见第 074 课）。常规操作的基本装备是紧袖口的实验服、手套和带侧护的护目镜；有飞沫、飞溅风险时，换穿隔离衣，加戴口罩和面屏。隔离衣应前襟完整、后开、袖口收紧（针织或松紧袖口）。</a:t>
            </a:r>
          </a:p>
          <a:p>
            <a:r>
              <a:t>实验服、隔离衣和手套要尺码合身，方便活动。穿前逐件检查有无撕裂、破洞、缺扣、系带松脱，有缺陷的换新的，不凑合。</a:t>
            </a:r>
          </a:p>
        </p:txBody>
      </p:sp>
      <p:sp>
        <p:nvSpPr>
          <p:cNvPr id="4" name="Slide Number Placeholder 3"/>
          <p:cNvSpPr>
            <a:spLocks noGrp="1"/>
          </p:cNvSpPr>
          <p:nvPr>
            <p:ph type="sldNum" idx="5" sz="quarter"/>
          </p:nvPr>
        </p:nvSpPr>
        <p:spPr/>
      </p:sp>
    </p:spTree>
  </p:cSld>
  <p:clrMapOvr>
    <a:masterClrMapping/>
  </p:clrMapOvr>
</p:notes>
</file>

<file path=ppt/notesSlides/notesSlide3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穿戴区和脱卸区要分开设置，避免脱下的污染防护用品碰到干净的衣物和装备。有缓冲间的实验室，防护装备备齐在缓冲间，进去前在这里穿，出来在这里脱。</a:t>
            </a:r>
          </a:p>
          <a:p>
            <a:r>
              <a:t>进入较高风险区域前，在缓冲间按评估要求穿戴好（如送风式呼吸器），用前检查，确认无误再进入实验区。高级别防护装备须经培训考核后才能使用。</a:t>
            </a:r>
          </a:p>
        </p:txBody>
      </p:sp>
      <p:sp>
        <p:nvSpPr>
          <p:cNvPr id="4" name="Slide Number Placeholder 3"/>
          <p:cNvSpPr>
            <a:spLocks noGrp="1"/>
          </p:cNvSpPr>
          <p:nvPr>
            <p:ph type="sldNum" idx="5" sz="quarter"/>
          </p:nvPr>
        </p:nvSpPr>
        <p:spPr/>
      </p:sp>
    </p:spTree>
  </p:cSld>
  <p:clrMapOvr>
    <a:masterClrMapping/>
  </p:clrMapOvr>
</p:notes>
</file>

<file path=ppt/notesSlides/notesSlide3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穿戴顺序贴在穿戴区墙上，照着做。国内常用的顺序是：手卫生→戴帽子→戴口罩（医用防护口罩做密合性检查）→戴护目镜或面屏→穿隔离衣（或防护服）→戴手套。只穿基本三件时：扣好实验服→戴护目镜→戴手套。</a:t>
            </a:r>
          </a:p>
          <a:p>
            <a:r>
              <a:t>各单位、各类实验室的具体顺序可能略有不同（例如有的规程先穿隔离衣再戴面屏），以本单位标准操作规程为准；共同的原则是手套最后戴、盖住袖口。</a:t>
            </a:r>
          </a:p>
        </p:txBody>
      </p:sp>
      <p:sp>
        <p:nvSpPr>
          <p:cNvPr id="4" name="Slide Number Placeholder 3"/>
          <p:cNvSpPr>
            <a:spLocks noGrp="1"/>
          </p:cNvSpPr>
          <p:nvPr>
            <p:ph type="sldNum" idx="5" sz="quarter"/>
          </p:nvPr>
        </p:nvSpPr>
        <p:spPr/>
      </p:sp>
    </p:spTree>
  </p:cSld>
  <p:clrMapOvr>
    <a:masterClrMapping/>
  </p:clrMapOvr>
</p:notes>
</file>

<file path=ppt/notesSlides/notesSlide3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戴医用口罩：把耳挂挂在耳后，鼻夹一侧朝上，用双手食指从中间向两侧按压鼻夹，让口罩上缘贴紧鼻梁和面颊，再把口罩下缘拉到下巴下方。不要用单手捏鼻夹，会捏出尖角漏气。</a:t>
            </a:r>
          </a:p>
          <a:p>
            <a:r>
              <a:t>医用防护口罩每次戴好后做密合性检查（双手捂住口罩快速呼气、吸气，感觉边缘是否漏气），漏气就调整鼻夹和头带；适合性检验见第 025 课。</a:t>
            </a:r>
          </a:p>
        </p:txBody>
      </p:sp>
      <p:sp>
        <p:nvSpPr>
          <p:cNvPr id="4" name="Slide Number Placeholder 3"/>
          <p:cNvSpPr>
            <a:spLocks noGrp="1"/>
          </p:cNvSpPr>
          <p:nvPr>
            <p:ph type="sldNum" idx="5" sz="quarter"/>
          </p:nvPr>
        </p:nvSpPr>
        <p:spPr/>
      </p:sp>
    </p:spTree>
  </p:cSld>
  <p:clrMapOvr>
    <a:masterClrMapping/>
  </p:clrMapOvr>
</p:notes>
</file>

<file path=ppt/notesSlides/notesSlide3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戴面屏：先拉开弹力头带，套到脑后，海绵衬垫贴在眉毛上方的额头。戴好后面屏要盖住前额、下缘过下巴、两侧包住面颊。</a:t>
            </a:r>
          </a:p>
          <a:p>
            <a:r>
              <a:t>戴护目镜时，调整头带让镜框贴合眼周，不压迫口罩上缘；戴眼镜的选能罩在眼镜外的护目镜（眼面防护见第 022 课）。</a:t>
            </a:r>
          </a:p>
        </p:txBody>
      </p:sp>
      <p:sp>
        <p:nvSpPr>
          <p:cNvPr id="4" name="Slide Number Placeholder 3"/>
          <p:cNvSpPr>
            <a:spLocks noGrp="1"/>
          </p:cNvSpPr>
          <p:nvPr>
            <p:ph type="sldNum" idx="5" sz="quarter"/>
          </p:nvPr>
        </p:nvSpPr>
        <p:spPr/>
      </p:sp>
    </p:spTree>
  </p:cSld>
  <p:clrMapOvr>
    <a:masterClrMapping/>
  </p:clrMapOvr>
</p:notes>
</file>

<file path=ppt/notesSlides/notesSlide3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穿隔离衣：手臂伸进袖子，把衣服拉到肩上，在颈后系好领口的带子，腰带在背后或侧面系上。</a:t>
            </a:r>
          </a:p>
          <a:p>
            <a:r>
              <a:t>带子要系牢，但打活结、不要勒得太紧，脱的时候才好解开或扯断。隔离衣要合身、方便活动，前后都要遮住日常衣物，不让里面的衣服露在外面。</a:t>
            </a:r>
          </a:p>
        </p:txBody>
      </p:sp>
      <p:sp>
        <p:nvSpPr>
          <p:cNvPr id="4" name="Slide Number Placeholder 3"/>
          <p:cNvSpPr>
            <a:spLocks noGrp="1"/>
          </p:cNvSpPr>
          <p:nvPr>
            <p:ph type="sldNum" idx="5" sz="quarter"/>
          </p:nvPr>
        </p:nvSpPr>
        <p:spPr/>
      </p:sp>
    </p:spTree>
  </p:cSld>
  <p:clrMapOvr>
    <a:masterClrMapping/>
  </p:clrMapOvr>
</p:notes>
</file>

<file path=ppt/notesSlides/notesSlide3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最后戴手套：先把隔离衣袖口拉到掌心，再把手套口拉起，套在袖口外面，而不是塞进袖子里。这样袖子不会滑出来，袖口也不会沾上污染。</a:t>
            </a:r>
          </a:p>
          <a:p>
            <a:r>
              <a:t>穿一次性连体防护服时，先戴内层手套盖住袖口，手腕处是最容易出现缺口的地方，按规程把缝隙封严；处理体液等液体样本时，连体服能在洒出时护住全身。开工前再检查一遍手套，确认没有破口。</a:t>
            </a:r>
          </a:p>
        </p:txBody>
      </p:sp>
      <p:sp>
        <p:nvSpPr>
          <p:cNvPr id="4" name="Slide Number Placeholder 3"/>
          <p:cNvSpPr>
            <a:spLocks noGrp="1"/>
          </p:cNvSpPr>
          <p:nvPr>
            <p:ph type="sldNum" idx="5" sz="quarter"/>
          </p:nvPr>
        </p:nvSpPr>
        <p:spPr/>
      </p:sp>
    </p:spTree>
  </p:cSld>
  <p:clrMapOvr>
    <a:masterClrMapping/>
  </p:clrMapOvr>
</p:notes>
</file>

<file path=ppt/notesSlides/notesSlide3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风险较高时，按规程戴双层手套：内层盖住袖口，最后再戴一层外手套。外层沾上污染，在实验室内（或生物安全柜内）脱掉外层，换上新的，内层一直护着手。戴几层、怎么脱，按本实验室规程执行。</a:t>
            </a:r>
          </a:p>
          <a:p>
            <a:r>
              <a:t>手套沾上样本或破损，立即在柜内脱下丢进废物容器，手部消毒后换上新手套。如果手部皮肤也破了，按暴露处置并报告（见第 078 课）。</a:t>
            </a:r>
          </a:p>
        </p:txBody>
      </p:sp>
      <p:sp>
        <p:nvSpPr>
          <p:cNvPr id="4" name="Slide Number Placeholder 3"/>
          <p:cNvSpPr>
            <a:spLocks noGrp="1"/>
          </p:cNvSpPr>
          <p:nvPr>
            <p:ph type="sldNum" idx="5" sz="quarter"/>
          </p:nvPr>
        </p:nvSpPr>
        <p:spPr/>
      </p:sp>
    </p:spTree>
  </p:cSld>
  <p:clrMapOvr>
    <a:masterClrMapping/>
  </p:clrMapOvr>
</p:notes>
</file>

<file path=ppt/notesSlides/notesSlide3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使用动力送风过滤式呼吸器（送风头罩）时，穿戴顺序写在规程里，照规程做。第一步先把装有风机和电池的腰带系好、调好松紧：穿上防护服以后就够不着了。</a:t>
            </a:r>
          </a:p>
          <a:p>
            <a:r>
              <a:t>把送风导管接好、插紧、拧牢；调好头盔（头罩）里的头箍，让它稳稳贴住额头。送风呼吸器的用前检查和故障时的退出程序见第 025 课。</a:t>
            </a:r>
          </a:p>
        </p:txBody>
      </p:sp>
      <p:sp>
        <p:nvSpPr>
          <p:cNvPr id="4" name="Slide Number Placeholder 3"/>
          <p:cNvSpPr>
            <a:spLocks noGrp="1"/>
          </p:cNvSpPr>
          <p:nvPr>
            <p:ph type="sldNum" idx="5" sz="quarter"/>
          </p:nvPr>
        </p:nvSpPr>
        <p:spPr/>
      </p:sp>
    </p:spTree>
  </p:cSld>
  <p:clrMapOvr>
    <a:masterClrMapping/>
  </p:clrMapOvr>
</p:notes>
</file>

<file path=ppt/notesSlides/notesSlide3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戴头罩之前一定先开机，伸手在头罩里感觉一下，确认有风送进来再戴；不送风就戴上，会憋闷，有窒息危险。顺序不能反。</a:t>
            </a:r>
          </a:p>
          <a:p>
            <a:r>
              <a:t>按规程先穿好连体防护服，风机转着把头罩从头顶套下，戴正，把披肩拉平、盖住肩膀，对镜看披肩有没有卷边。头罩的披肩塞进防护服，导管收在里面不外露，再拉好拉链、系紧颈部。</a:t>
            </a:r>
          </a:p>
          <a:p>
            <a:r>
              <a:t>进门前看风机的指示灯：全亮说明供电和送风正常；指示灯不全亮就不要进入。</a:t>
            </a:r>
          </a:p>
        </p:txBody>
      </p:sp>
      <p:sp>
        <p:nvSpPr>
          <p:cNvPr id="4" name="Slide Number Placeholder 3"/>
          <p:cNvSpPr>
            <a:spLocks noGrp="1"/>
          </p:cNvSpPr>
          <p:nvPr>
            <p:ph type="sldNum" idx="5" sz="quarter"/>
          </p:nvPr>
        </p:nvSpPr>
        <p:spPr/>
      </p:sp>
    </p:spTree>
  </p:cSld>
  <p:clrMapOvr>
    <a:masterClrMapping/>
  </p:clrMapOvr>
</p:notes>
</file>

<file path=ppt/notesSlides/notesSlide3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穿完对着镜子逐一检查：头罩或帽子、口罩、护目镜或面屏、拉链和系带、手腕处的手套、脚下的鞋套，有没有缺口和卷边。</a:t>
            </a:r>
          </a:p>
          <a:p>
            <a:r>
              <a:t>镜子看不到背后，请同伴帮忙看后背、颈部和手腕，互相检查后再进门。穿脱流程要反复演练，脱卸区贴好流程图；练熟并经考核合格后，才能独立进入实验室。</a:t>
            </a:r>
          </a:p>
        </p:txBody>
      </p:sp>
      <p:sp>
        <p:nvSpPr>
          <p:cNvPr id="4" name="Slide Number Placeholder 3"/>
          <p:cNvSpPr>
            <a:spLocks noGrp="1"/>
          </p:cNvSpPr>
          <p:nvPr>
            <p:ph type="sldNum" idx="5" sz="quarter"/>
          </p:nvPr>
        </p:nvSpPr>
        <p:spPr/>
      </p:sp>
    </p:spTree>
  </p:cSld>
  <p:clrMapOvr>
    <a:masterClrMapping/>
  </p:clrMapOvr>
</p:notes>
</file>

<file path=ppt/notesSlides/notesSlide3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脱卸是最容易自我污染的环节。原则是从最脏的脱到最干净的：手套污染最重先脱，口罩贴着口鼻最后摘。国内常用的顺序是：摘手套→手卫生→摘护目镜或面屏→脱隔离衣（或防护服）→手卫生→摘口罩、帽子→洗手（以本单位 SOP 为准）。</a:t>
            </a:r>
          </a:p>
          <a:p>
            <a:r>
              <a:t>防护用品不能穿出实验室，要在脱卸区按规定顺序一件一件脱，脏的一面朝里，不碰到身体和日常衣物；一次性的丢进感染性废物容器，可重复使用的按规程处理。</a:t>
            </a:r>
          </a:p>
          <a:p>
            <a:r>
              <a:t>脱卸的方法和顺序不止一种（见 K18）。实验室要按风险评估先选定一种，写进本实验室的操作规程，大家统一照做，不要临场乱换。</a:t>
            </a:r>
          </a:p>
        </p:txBody>
      </p:sp>
      <p:sp>
        <p:nvSpPr>
          <p:cNvPr id="4" name="Slide Number Placeholder 3"/>
          <p:cNvSpPr>
            <a:spLocks noGrp="1"/>
          </p:cNvSpPr>
          <p:nvPr>
            <p:ph type="sldNum" idx="5" sz="quarter"/>
          </p:nvPr>
        </p:nvSpPr>
        <p:spPr/>
      </p:sp>
    </p:spTree>
  </p:cSld>
  <p:clrMapOvr>
    <a:masterClrMapping/>
  </p:clrMapOvr>
</p:notes>
</file>

<file path=ppt/notesSlides/notesSlide3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摘手套动作要慢、要轻，避免弹起飞溅。步骤：①用一只手的手指捏起另一只手套腕部的外侧，注意脏手套不要碰到袖口；②整只拉下，手套翻成里朝外，握在仍戴着手套的手里；③裸手的手指从剩下那只手套的手腕内侧伸进去，向上、向外翻下，把两只包成一团（通用要求见第 023 课）。</a:t>
            </a:r>
          </a:p>
          <a:p>
            <a:r>
              <a:t>整个过程中干净的手不碰手套外面。脱下的手套丢进感染性废物容器，一次性手套绝不重复使用。</a:t>
            </a:r>
          </a:p>
        </p:txBody>
      </p:sp>
      <p:sp>
        <p:nvSpPr>
          <p:cNvPr id="4" name="Slide Number Placeholder 3"/>
          <p:cNvSpPr>
            <a:spLocks noGrp="1"/>
          </p:cNvSpPr>
          <p:nvPr>
            <p:ph type="sldNum" idx="5" sz="quarter"/>
          </p:nvPr>
        </p:nvSpPr>
        <p:spPr/>
      </p:sp>
    </p:spTree>
  </p:cSld>
  <p:clrMapOvr>
    <a:masterClrMapping/>
  </p:clrMapOvr>
</p:notes>
</file>

<file path=ppt/notesSlides/notesSlide3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摘下手套后，手上可能已沾上看不见的污染，要先做手卫生：用速干手消毒剂揉搓双手，或洗手；有的规程要求换戴一副干净手套再继续脱其他防护用品。按本实验室规程执行，再脱下一件。</a:t>
            </a:r>
          </a:p>
        </p:txBody>
      </p:sp>
      <p:sp>
        <p:nvSpPr>
          <p:cNvPr id="4" name="Slide Number Placeholder 3"/>
          <p:cNvSpPr>
            <a:spLocks noGrp="1"/>
          </p:cNvSpPr>
          <p:nvPr>
            <p:ph type="sldNum" idx="5" sz="quarter"/>
          </p:nvPr>
        </p:nvSpPr>
        <p:spPr/>
      </p:sp>
    </p:spTree>
  </p:cSld>
  <p:clrMapOvr>
    <a:masterClrMapping/>
  </p:clrMapOvr>
</p:notes>
</file>

<file path=ppt/notesSlides/notesSlide3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摘面屏：头稍向前倾，捏住耳朵上方的头带，轻轻提起离开面部；面屏前片可能有污染，不要碰。一次性面屏丢进感染性废物容器。</a:t>
            </a:r>
          </a:p>
          <a:p>
            <a:r>
              <a:t>摘护目镜：捏住太阳穴处的镜腿取下，镜腿沾污的可能小，不碰镜片；放到指定位置，按规程统一清洁消毒。清洁消毒护目镜时也要戴手套，用规定的消毒剂，作用时间要够（以本单位 SOP 和产品说明为准）。</a:t>
            </a:r>
          </a:p>
        </p:txBody>
      </p:sp>
      <p:sp>
        <p:nvSpPr>
          <p:cNvPr id="4" name="Slide Number Placeholder 3"/>
          <p:cNvSpPr>
            <a:spLocks noGrp="1"/>
          </p:cNvSpPr>
          <p:nvPr>
            <p:ph type="sldNum" idx="5" sz="quarter"/>
          </p:nvPr>
        </p:nvSpPr>
        <p:spPr/>
      </p:sp>
    </p:spTree>
  </p:cSld>
  <p:clrMapOvr>
    <a:masterClrMapping/>
  </p:clrMapOvr>
</p:notes>
</file>

<file path=ppt/notesSlides/notesSlide3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脱隔离衣：解开腰带，抓住两肩向前拉，让颈后的系带松开（或按规程解开）；从肩部往前脱下，远离身体，边脱边卷，让外面翻到里面，卷成一团，脏的外面不碰到裸手和日常衣物，丢进感染性废物容器。</a:t>
            </a:r>
          </a:p>
          <a:p>
            <a:r>
              <a:t>脱实验服：实验服外面可能有污染，裸手不碰；袖口一直被手套盖着，是干净的。解开扣子，捏住一只袖口的内侧把手臂抽出来，另一只同样抽出。可以再穿的实验服挂到指定位置；有明显污染或需要丢弃的，里面朝向自己向外折，里朝外卷成一团，丢进感染性废物容器（实验服的清洗见第 024 课）。</a:t>
            </a:r>
          </a:p>
        </p:txBody>
      </p:sp>
      <p:sp>
        <p:nvSpPr>
          <p:cNvPr id="4" name="Slide Number Placeholder 3"/>
          <p:cNvSpPr>
            <a:spLocks noGrp="1"/>
          </p:cNvSpPr>
          <p:nvPr>
            <p:ph type="sldNum" idx="5" sz="quarter"/>
          </p:nvPr>
        </p:nvSpPr>
        <p:spPr/>
      </p:sp>
    </p:spTree>
  </p:cSld>
  <p:clrMapOvr>
    <a:masterClrMapping/>
  </p:clrMapOvr>
</p:notes>
</file>

<file path=ppt/notesSlides/notesSlide3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除了先摘手套，还有两种规程常用的做法。一种是隔离衣与手套一起脱：抓肩前拉松开领口，往前脱下时手臂往外抽，捏住手套连同袖口一起剥下，手套留在袖子里，双手干净地出来，衣服连手套里朝外卷成一团丢弃，脏面不碰裸手和日常衣物。</a:t>
            </a:r>
          </a:p>
          <a:p>
            <a:r>
              <a:t>另一种是先脱隔离衣、后摘手套：脱到袖子时，把袖子从手套下面拉出来，手套先留在手上，隔离衣卷团丢弃后，再用翻脱法摘手套。</a:t>
            </a:r>
          </a:p>
          <a:p>
            <a:r>
              <a:t>无论哪一种，脱完都要手卫生，具体用哪种由风险评估确定并写进本实验室规程（见 K13）。</a:t>
            </a:r>
          </a:p>
        </p:txBody>
      </p:sp>
      <p:sp>
        <p:nvSpPr>
          <p:cNvPr id="4" name="Slide Number Placeholder 3"/>
          <p:cNvSpPr>
            <a:spLocks noGrp="1"/>
          </p:cNvSpPr>
          <p:nvPr>
            <p:ph type="sldNum" idx="5" sz="quarter"/>
          </p:nvPr>
        </p:nvSpPr>
        <p:spPr/>
      </p:sp>
    </p:spTree>
  </p:cSld>
  <p:clrMapOvr>
    <a:masterClrMapping/>
  </p:clrMapOvr>
</p:notes>
</file>

<file path=ppt/notesSlides/notesSlide3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口罩贴着口鼻，在其他防护用品脱完、手卫生后最后摘：只捏住耳挂（或头带）从耳后取下，不碰口罩外面，离开面部后直接丢进感染性废物容器。医用防护口罩先拉下下方头带，再拉上方头带。</a:t>
            </a:r>
          </a:p>
        </p:txBody>
      </p:sp>
      <p:sp>
        <p:nvSpPr>
          <p:cNvPr id="4" name="Slide Number Placeholder 3"/>
          <p:cNvSpPr>
            <a:spLocks noGrp="1"/>
          </p:cNvSpPr>
          <p:nvPr>
            <p:ph type="sldNum" idx="5" sz="quarter"/>
          </p:nvPr>
        </p:nvSpPr>
        <p:spPr/>
      </p:sp>
    </p:spTree>
  </p:cSld>
  <p:clrMapOvr>
    <a:masterClrMapping/>
  </p:clrMapOvr>
</p:notes>
</file>

<file path=ppt/notesSlides/notesSlide3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摘送风头罩时，风机保持运转，按规程摘下头盔：头罩外面都当作污染，手只碰规定的位置，脸不碰外面。摘下后放到指定位置等待去污，然后再关机、断开电池。摘完马上洗手。</a:t>
            </a:r>
          </a:p>
          <a:p>
            <a:r>
              <a:t>先关风机再摘，头罩内失去正压，外面的污染容易进到面部。</a:t>
            </a:r>
          </a:p>
        </p:txBody>
      </p:sp>
      <p:sp>
        <p:nvSpPr>
          <p:cNvPr id="4" name="Slide Number Placeholder 3"/>
          <p:cNvSpPr>
            <a:spLocks noGrp="1"/>
          </p:cNvSpPr>
          <p:nvPr>
            <p:ph type="sldNum" idx="5" sz="quarter"/>
          </p:nvPr>
        </p:nvSpPr>
        <p:spPr/>
      </p:sp>
    </p:spTree>
  </p:cSld>
  <p:clrMapOvr>
    <a:masterClrMapping/>
  </p:clrMapOvr>
</p:notes>
</file>

<file path=ppt/notesSlides/notesSlide3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全部脱完，最后一步是用流动水和洗手液（肥皂）洗手：手心、手背、指缝、指尖、指甲下、拇指和手腕都要认真揉搓，时间要够（洗手步骤见第 020 课）。用一次性纸巾擦干，再用纸巾关水龙头。</a:t>
            </a:r>
          </a:p>
          <a:p>
            <a:r>
              <a:t>摘手套后、接触污染后、离开实验室前都必须洗手。暂时没有洗手条件时，先用速干手消毒剂，有条件后尽快洗手。洗完手再离开实验室。</a:t>
            </a:r>
          </a:p>
        </p:txBody>
      </p:sp>
      <p:sp>
        <p:nvSpPr>
          <p:cNvPr id="4" name="Slide Number Placeholder 3"/>
          <p:cNvSpPr>
            <a:spLocks noGrp="1"/>
          </p:cNvSpPr>
          <p:nvPr>
            <p:ph type="sldNum" idx="5" sz="quarter"/>
          </p:nvPr>
        </p:nvSpPr>
        <p:spPr/>
      </p:sp>
    </p:spTree>
  </p:cSld>
  <p:clrMapOvr>
    <a:masterClrMapping/>
  </p:clrMapOvr>
</p:notes>
</file>

<file path=ppt/notesSlides/notesSlide3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答案：B。解析：手套最后戴并盖住袖口；具体顺序以本单位 SOP 为准。</a:t>
            </a:r>
          </a:p>
          <a:p>
            <a:r>
              <a:t>第 2 题 答案：B。解析：脱卸从最脏的（手套）开始，口罩最后摘，每脱下高污染物品后做手卫生。</a:t>
            </a:r>
          </a:p>
        </p:txBody>
      </p:sp>
      <p:sp>
        <p:nvSpPr>
          <p:cNvPr id="4" name="Slide Number Placeholder 3"/>
          <p:cNvSpPr>
            <a:spLocks noGrp="1"/>
          </p:cNvSpPr>
          <p:nvPr>
            <p:ph type="sldNum" idx="5" sz="quarter"/>
          </p:nvPr>
        </p:nvSpPr>
        <p:spPr/>
      </p:sp>
    </p:spTree>
  </p:cSld>
  <p:clrMapOvr>
    <a:masterClrMapping/>
  </p:clrMapOvr>
</p:notes>
</file>

<file path=ppt/notesSlides/notesSlide3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答案：B。解析：干净的手始终不碰手套外面。</a:t>
            </a:r>
          </a:p>
          <a:p>
            <a:r>
              <a:t>第 4 题 答案：B。解析：不送风戴头罩有窒息危险；摘时风机运转，保持正压防止污染进入面部。</a:t>
            </a:r>
          </a:p>
        </p:txBody>
      </p:sp>
      <p:sp>
        <p:nvSpPr>
          <p:cNvPr id="4" name="Slide Number Placeholder 3"/>
          <p:cNvSpPr>
            <a:spLocks noGrp="1"/>
          </p:cNvSpPr>
          <p:nvPr>
            <p:ph type="sldNum" idx="5" sz="quarter"/>
          </p:nvPr>
        </p:nvSpPr>
        <p:spPr/>
      </p:sp>
    </p:spTree>
  </p:cSld>
  <p:clrMapOvr>
    <a:masterClrMapping/>
  </p:clrMapOvr>
</p:notes>
</file>

<file path=ppt/notesSlides/notesSlide3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答案：B。解析：脱法按风险评估选定一种，写进规程，统一照做。</a:t>
            </a:r>
          </a:p>
          <a:p>
            <a:r>
              <a:t>第 6 题 答案：在脱卸区进行；从最脏到最干净；手套用翻脱法，裸手不碰外面；摘手套后手卫生；面屏捏头带、口罩捏耳挂；隔离衣外面朝里卷起；最后洗手。解析：脏面朝里、不碰身体和日常衣物。</a:t>
            </a:r>
          </a:p>
        </p:txBody>
      </p:sp>
      <p:sp>
        <p:nvSpPr>
          <p:cNvPr id="4" name="Slide Number Placeholder 3"/>
          <p:cNvSpPr>
            <a:spLocks noGrp="1"/>
          </p:cNvSpPr>
          <p:nvPr>
            <p:ph type="sldNum" idx="5" sz="quarter"/>
          </p:nvPr>
        </p:nvSpPr>
        <p:spPr/>
      </p:sp>
    </p:spTree>
  </p:cSld>
  <p:clrMapOvr>
    <a:masterClrMapping/>
  </p:clrMapOvr>
</p:notes>
</file>

<file path=ppt/notesSlides/notesSlide3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消毒是用物理或化学方法把物体表面或环境中的微生物减少到不再引起感染的水平，不要求全部杀灭；灭菌是杀灭全部微生物，包括抵抗力最强的细菌芽孢；去污（去污染）是让被污染的物品、表面能够安全地拿取、使用或处置，可以通过清洁、消毒或灭菌来实现。</a:t>
            </a:r>
          </a:p>
          <a:p>
            <a:r>
              <a:t>三者方法不同、效果不同：实验台面、仪器外壳一般消毒即可；培养基、无菌操作用的器材、要重复使用的污染器皿和感染性废物则要灭菌。器皿用完先彻底清洗（污物会挡住消毒剂和蒸汽），再消毒，需要时再灭菌。</a:t>
            </a:r>
          </a:p>
          <a:p>
            <a:r>
              <a:t>消过毒的东西不等于无菌，不能当无菌器材使用。用哪种方法，由风险评估和本实验室规程确定；生物安全员和实验室负责人要掌握哪种方法管用、怎么用对。</a:t>
            </a:r>
          </a:p>
        </p:txBody>
      </p:sp>
      <p:sp>
        <p:nvSpPr>
          <p:cNvPr id="4" name="Slide Number Placeholder 3"/>
          <p:cNvSpPr>
            <a:spLocks noGrp="1"/>
          </p:cNvSpPr>
          <p:nvPr>
            <p:ph type="sldNum" idx="5" sz="quarter"/>
          </p:nvPr>
        </p:nvSpPr>
        <p:spPr/>
      </p:sp>
    </p:spTree>
  </p:cSld>
  <p:clrMapOvr>
    <a:masterClrMapping/>
  </p:clrMapOvr>
</p:notes>
</file>

<file path=ppt/notesSlides/notesSlide3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杀灭微生物的方法主要有三类：热（湿热即高压蒸汽灭菌、干热、焚烧）、化学品（各类消毒剂、灭菌剂和熏蒸、气体灭菌）、辐射（紫外线照射；工业上的电离辐射灭菌）。此外还有过滤等去除微生物的物理方法。</a:t>
            </a:r>
          </a:p>
          <a:p>
            <a:r>
              <a:t>选择时看对象和目的：耐热耐湿的玻璃器皿、培养基、废物首选高压蒸汽灭菌；台面、仪器外壳等不能加热的表面用化学消毒剂擦拭；紫外线只能辅助消毒照得到的表面；整个房间或生物安全柜整体去污用熏蒸。具体方法按风险评估和本实验室规程确定。</a:t>
            </a:r>
          </a:p>
        </p:txBody>
      </p:sp>
      <p:sp>
        <p:nvSpPr>
          <p:cNvPr id="4" name="Slide Number Placeholder 3"/>
          <p:cNvSpPr>
            <a:spLocks noGrp="1"/>
          </p:cNvSpPr>
          <p:nvPr>
            <p:ph type="sldNum" idx="5" sz="quarter"/>
          </p:nvPr>
        </p:nvSpPr>
        <p:spPr/>
      </p:sp>
    </p:spTree>
  </p:cSld>
  <p:clrMapOvr>
    <a:masterClrMapping/>
  </p:clrMapOvr>
</p:notes>
</file>

<file path=ppt/notesSlides/notesSlide3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消毒灭菌用的高温高压蒸汽、化学消毒剂和熏蒸剂、紫外线，本身就是危害：会造成烫伤、化学灼伤和中毒、眼和皮肤的紫外损伤，高压设备使用不当还可能发生事故（高压灭菌器的操作安全见第 123 课，紫外灯的人身防护见第 111 课）。</a:t>
            </a:r>
          </a:p>
          <a:p>
            <a:r>
              <a:t>化学灭菌剂、消毒废液和辐射管理不好，还会伤害环境：不能把化学灭菌剂、高浓度消毒废液随意倒入下水道，按本校化学废物要求处置（见第 053、054 课）。</a:t>
            </a:r>
          </a:p>
          <a:p>
            <a:r>
              <a:t>所以消毒灭菌必须有严格的标准操作规程。规程有两个目的：保护操作的人，也保证灭菌效果。没有经过培训、没学过规程的人不得操作灭菌和熏蒸设备。</a:t>
            </a:r>
          </a:p>
        </p:txBody>
      </p:sp>
      <p:sp>
        <p:nvSpPr>
          <p:cNvPr id="4" name="Slide Number Placeholder 3"/>
          <p:cNvSpPr>
            <a:spLocks noGrp="1"/>
          </p:cNvSpPr>
          <p:nvPr>
            <p:ph type="sldNum" idx="5" sz="quarter"/>
          </p:nvPr>
        </p:nvSpPr>
        <p:spPr/>
      </p:sp>
    </p:spTree>
  </p:cSld>
  <p:clrMapOvr>
    <a:masterClrMapping/>
  </p:clrMapOvr>
</p:notes>
</file>

<file path=ppt/notesSlides/notesSlide3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不同微生物对消毒剂的抵抗力相差很大：一般细菌、有包膜病毒较容易杀灭，分枝杆菌、无包膜病毒更难，细菌芽孢最难。常用的乙醇（常用 75% 左右）作用快，但对芽孢无效；含氯消毒剂作用谱广，但有腐蚀性和刺激性。选哪种，看要对付的是什么生物因子，按风险评估和规程确定。</a:t>
            </a:r>
          </a:p>
          <a:p>
            <a:r>
              <a:t>血液、培养物等有机物会降低消毒剂效果：大量污物先用吸水材料清除，再消毒。含氯消毒剂会腐蚀不锈钢等金属表面，作用时间到后用清水擦去残留。</a:t>
            </a:r>
          </a:p>
          <a:p>
            <a:r>
              <a:t>想换一种（比如更便宜的）消毒剂时，先确认它对本实验室的生物因子有效，经负责人同意，并在规程中写明消毒剂种类、浓度和作用时间（以 SOP 和产品说明为准）。</a:t>
            </a:r>
          </a:p>
        </p:txBody>
      </p:sp>
      <p:sp>
        <p:nvSpPr>
          <p:cNvPr id="4" name="Slide Number Placeholder 3"/>
          <p:cNvSpPr>
            <a:spLocks noGrp="1"/>
          </p:cNvSpPr>
          <p:nvPr>
            <p:ph type="sldNum" idx="5" sz="quarter"/>
          </p:nvPr>
        </p:nvSpPr>
        <p:spPr/>
      </p:sp>
    </p:spTree>
  </p:cSld>
  <p:clrMapOvr>
    <a:masterClrMapping/>
  </p:clrMapOvr>
</p:notes>
</file>

<file path=ppt/notesSlides/notesSlide3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消毒剂需要与微生物接触足够的时间才能起作用。喷一下马上擦干，接触时间不够，等于没消毒。</a:t>
            </a:r>
          </a:p>
          <a:p>
            <a:r>
              <a:t>正确做法：用浸湿消毒剂的纸巾擦拭或适量喷洒，让表面在整个作用时间内保持湿润，必要时补加；时间到后再擦去残留。消毒剂的浓度和作用时间以本单位 SOP 和产品说明为准。</a:t>
            </a:r>
          </a:p>
        </p:txBody>
      </p:sp>
      <p:sp>
        <p:nvSpPr>
          <p:cNvPr id="4" name="Slide Number Placeholder 3"/>
          <p:cNvSpPr>
            <a:spLocks noGrp="1"/>
          </p:cNvSpPr>
          <p:nvPr>
            <p:ph type="sldNum" idx="5" sz="quarter"/>
          </p:nvPr>
        </p:nvSpPr>
        <p:spPr/>
      </p:sp>
    </p:spTree>
  </p:cSld>
  <p:clrMapOvr>
    <a:masterClrMapping/>
  </p:clrMapOvr>
</p:notes>
</file>

<file path=ppt/notesSlides/notesSlide3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生物材料一旦洒漏，台面、设备和材料都会被污染，既威胁人员，也破坏实验的无菌条件。</a:t>
            </a:r>
          </a:p>
          <a:p>
            <a:r>
              <a:t>台面要在开工前、收工后各消毒一次；用过的移液器、离心机外壳、旋涡振荡器等仪器设备也要用浸湿消毒剂的纸巾擦拭（不要直接对仪器喷洒，以免液体进入电器部件）。生物安全柜内的清洁见第 073 课。</a:t>
            </a:r>
          </a:p>
          <a:p>
            <a:r>
              <a:t>发生洒溢立即按溢洒程序处理（见第 078 课）。用过的吸头、手套、纸巾等收进专用的生物危害废物袋或容器，按感染性废物处置（见第 077 课）。</a:t>
            </a:r>
          </a:p>
        </p:txBody>
      </p:sp>
      <p:sp>
        <p:nvSpPr>
          <p:cNvPr id="4" name="Slide Number Placeholder 3"/>
          <p:cNvSpPr>
            <a:spLocks noGrp="1"/>
          </p:cNvSpPr>
          <p:nvPr>
            <p:ph type="sldNum" idx="5" sz="quarter"/>
          </p:nvPr>
        </p:nvSpPr>
        <p:spPr/>
      </p:sp>
    </p:spTree>
  </p:cSld>
  <p:clrMapOvr>
    <a:masterClrMapping/>
  </p:clrMapOvr>
</p:notes>
</file>

<file path=ppt/notesSlides/notesSlide3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消毒剂浓缩液多有腐蚀性或刺激性。配制和擦拭时戴好手套和护目镜，在通风良好处按说明量取、稀释，必要时穿防护围裙。</a:t>
            </a:r>
          </a:p>
          <a:p>
            <a:r>
              <a:t>配好的消毒液装在合适的容器里，贴上标签，写明名称、浓度和配制日期（及配制人）。很多稀释液（如含氯消毒剂稀释液）会逐渐失效，按产品说明和规程现配现用或按期更换，过期的不得使用；没有标签、来历不明的液体不要用。</a:t>
            </a:r>
          </a:p>
        </p:txBody>
      </p:sp>
      <p:sp>
        <p:nvSpPr>
          <p:cNvPr id="4" name="Slide Number Placeholder 3"/>
          <p:cNvSpPr>
            <a:spLocks noGrp="1"/>
          </p:cNvSpPr>
          <p:nvPr>
            <p:ph type="sldNum" idx="5" sz="quarter"/>
          </p:nvPr>
        </p:nvSpPr>
        <p:spPr/>
      </p:sp>
    </p:spTree>
  </p:cSld>
  <p:clrMapOvr>
    <a:masterClrMapping/>
  </p:clrMapOvr>
</p:notes>
</file>

<file path=ppt/notesSlides/notesSlide3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消毒剂不能随手混在一起：含氯消毒剂与酸性物品混合会放出氯气，与含氨清洁剂混合也会产生有害气体。能不能混用、能不能先后使用，查产品说明书或安全技术说明书，拿不准就问老师。</a:t>
            </a:r>
          </a:p>
          <a:p>
            <a:r>
              <a:t>乙醇和含醇消毒剂易燃：远离酒精灯、电热设备和火花，不在明火旁大量喷洒，用后盖紧（化学品防火见第 046 课）。消毒剂也是化学品，按化学品要求储存、标识和处置。</a:t>
            </a:r>
          </a:p>
        </p:txBody>
      </p:sp>
      <p:sp>
        <p:nvSpPr>
          <p:cNvPr id="4" name="Slide Number Placeholder 3"/>
          <p:cNvSpPr>
            <a:spLocks noGrp="1"/>
          </p:cNvSpPr>
          <p:nvPr>
            <p:ph type="sldNum" idx="5" sz="quarter"/>
          </p:nvPr>
        </p:nvSpPr>
        <p:spPr/>
      </p:sp>
    </p:spTree>
  </p:cSld>
  <p:clrMapOvr>
    <a:masterClrMapping/>
  </p:clrMapOvr>
</p:notes>
</file>

<file path=ppt/notesSlides/notesSlide3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紫外线只能杀灭直接照射到的表面和空气中的微生物，穿透力很弱：物品背后的阴影、角落、灰尘和污物下面都照不到。因此紫外消毒只能作为辅助手段，不能代替消毒剂擦拭和灭菌。</a:t>
            </a:r>
          </a:p>
          <a:p>
            <a:r>
              <a:t>紫外灯管会随使用时间老化、强度下降，表面积灰也会降低效果，要定期清洁、检测强度并按规定更换。</a:t>
            </a:r>
          </a:p>
          <a:p>
            <a:r>
              <a:t>紫外线伤眼伤皮肤：开灯时人要离开，不能直视；生物安全柜、核酸提取仪等仪器内的紫外灯亮着时不要打开柜门、仓门查看（人身防护见第 111 课）。开不开紫外灯、开多久，按本实验室规程执行。</a:t>
            </a:r>
          </a:p>
        </p:txBody>
      </p:sp>
      <p:sp>
        <p:nvSpPr>
          <p:cNvPr id="4" name="Slide Number Placeholder 3"/>
          <p:cNvSpPr>
            <a:spLocks noGrp="1"/>
          </p:cNvSpPr>
          <p:nvPr>
            <p:ph type="sldNum" idx="5" sz="quarter"/>
          </p:nvPr>
        </p:nvSpPr>
        <p:spPr/>
      </p:sp>
    </p:spTree>
  </p:cSld>
  <p:clrMapOvr>
    <a:masterClrMapping/>
  </p:clrMapOvr>
</p:notes>
</file>

<file path=ppt/notesSlides/notesSlide3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高压蒸汽灭菌是实验室最常用、最可靠的灭菌方法：在密闭容器中加压，使饱和蒸汽温度升高；高温蒸汽接触物品并在表面冷凝放热，使微生物的蛋白质变性而死亡。</a:t>
            </a:r>
          </a:p>
          <a:p>
            <a:r>
              <a:t>灭菌效果取决于蒸汽能否接触到每一处：灭菌器里的冷空气要排净，否则物品中心会留下“冷点”；装载要松散、留有间隙，瓶盖拧松，废物袋口不要扎死，液体不要装得太满。装得太满太乱、设备有故障（如排气不畅、密封不严），灭菌都不会彻底。</a:t>
            </a:r>
          </a:p>
          <a:p>
            <a:r>
              <a:t>温度、时间等参数以设备操作规程和验证结果为准，不同负载可能不同。高压灭菌器是压力容器，开门、装取等操作安全见第 123 课。</a:t>
            </a:r>
          </a:p>
        </p:txBody>
      </p:sp>
      <p:sp>
        <p:nvSpPr>
          <p:cNvPr id="4" name="Slide Number Placeholder 3"/>
          <p:cNvSpPr>
            <a:spLocks noGrp="1"/>
          </p:cNvSpPr>
          <p:nvPr>
            <p:ph type="sldNum" idx="5" sz="quarter"/>
          </p:nvPr>
        </p:nvSpPr>
        <p:spPr/>
      </p:sp>
    </p:spTree>
  </p:cSld>
  <p:clrMapOvr>
    <a:masterClrMapping/>
  </p:clrMapOvr>
</p:notes>
</file>

<file path=ppt/notesSlides/notesSlide3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灭菌是否成功，要靠监测和验证，而不是“看着差不多”。常用三类监测：物理监测，每一锅记录温度、压力和时间；化学指示物，如包外的指示胶带和包内指示卡，变色只说明经过了灭菌过程，不等于中心已经灭透；生物指示物，内含耐热芽孢，放在负载最难灭透的位置，灭菌后培养，看芽孢是否被杀灭，按规程定期进行。</a:t>
            </a:r>
          </a:p>
          <a:p>
            <a:r>
              <a:t>新安装、维修后、更换装载方式或负载类型时，都要验证灭菌效果。监测不合格时，停用设备并报告负责人，本批物品按未灭菌对待、重新灭菌，查明原因修复后再用。监测和验证结果记录在案，按规定保存。</a:t>
            </a:r>
          </a:p>
        </p:txBody>
      </p:sp>
      <p:sp>
        <p:nvSpPr>
          <p:cNvPr id="4" name="Slide Number Placeholder 3"/>
          <p:cNvSpPr>
            <a:spLocks noGrp="1"/>
          </p:cNvSpPr>
          <p:nvPr>
            <p:ph type="sldNum" idx="5" sz="quarter"/>
          </p:nvPr>
        </p:nvSpPr>
        <p:spPr/>
      </p:sp>
    </p:spTree>
  </p:cSld>
  <p:clrMapOvr>
    <a:masterClrMapping/>
  </p:clrMapOvr>
</p:notes>
</file>

<file path=ppt/notesSlides/notesSlide3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需要对整间实验室、生物安全柜整体去污时（如更换过滤器、设备维修搬迁、实验室停用或发生严重污染后），采用熏蒸消毒。熏蒸用的药剂对人同样有毒有害。</a:t>
            </a:r>
          </a:p>
          <a:p>
            <a:r>
              <a:t>熏蒸由经过培训的专人按规程操作：事先清场、封闭房间或设备，门口挂警示牌，防止人员误入；完成后充分通风，经检测合格后才能进入。</a:t>
            </a:r>
          </a:p>
          <a:p>
            <a:r>
              <a:t>不耐热的器材有时用气体灭菌（如环氧乙烷），这类气体有毒、易燃。在专用设备和区域内由专人操作，未到时间不得提前开门，灭菌后按规程通风散气后才能使用。</a:t>
            </a:r>
          </a:p>
        </p:txBody>
      </p:sp>
      <p:sp>
        <p:nvSpPr>
          <p:cNvPr id="4" name="Slide Number Placeholder 3"/>
          <p:cNvSpPr>
            <a:spLocks noGrp="1"/>
          </p:cNvSpPr>
          <p:nvPr>
            <p:ph type="sldNum" idx="5" sz="quarter"/>
          </p:nvPr>
        </p:nvSpPr>
        <p:spPr/>
      </p:sp>
    </p:spTree>
  </p:cSld>
  <p:clrMapOvr>
    <a:masterClrMapping/>
  </p:clrMapOvr>
</p:notes>
</file>

<file path=ppt/notesSlides/notesSlide3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答案：B。解析：消毒只把微生物减少到安全水平；灭菌是全部杀灭，包括芽孢。</a:t>
            </a:r>
          </a:p>
          <a:p>
            <a:r>
              <a:t>第 2 题 答案：B。解析：要让表面保持湿润，等够规程和产品说明规定的作用时间。</a:t>
            </a:r>
          </a:p>
        </p:txBody>
      </p:sp>
      <p:sp>
        <p:nvSpPr>
          <p:cNvPr id="4" name="Slide Number Placeholder 3"/>
          <p:cNvSpPr>
            <a:spLocks noGrp="1"/>
          </p:cNvSpPr>
          <p:nvPr>
            <p:ph type="sldNum" idx="5" sz="quarter"/>
          </p:nvPr>
        </p:nvSpPr>
        <p:spPr/>
      </p:sp>
    </p:spTree>
  </p:cSld>
  <p:clrMapOvr>
    <a:masterClrMapping/>
  </p:clrMapOvr>
</p:notes>
</file>

<file path=ppt/notesSlides/notesSlide3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答案：C。解析：含氯消毒剂与酸性物品混合会放出有害气体。</a:t>
            </a:r>
          </a:p>
          <a:p>
            <a:r>
              <a:t>第 4 题 答案：B。解析：紫外只对照到的表面有效，阴影和污物下照不到，只能辅助，不能代替擦拭。</a:t>
            </a:r>
          </a:p>
        </p:txBody>
      </p:sp>
      <p:sp>
        <p:nvSpPr>
          <p:cNvPr id="4" name="Slide Number Placeholder 3"/>
          <p:cNvSpPr>
            <a:spLocks noGrp="1"/>
          </p:cNvSpPr>
          <p:nvPr>
            <p:ph type="sldNum" idx="5" sz="quarter"/>
          </p:nvPr>
        </p:nvSpPr>
        <p:spPr/>
      </p:sp>
    </p:spTree>
  </p:cSld>
  <p:clrMapOvr>
    <a:masterClrMapping/>
  </p:clrMapOvr>
</p:notes>
</file>

<file path=ppt/notesSlides/notesSlide3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答案：B。解析：化学指示物只说明经过灭菌过程；灭菌效果靠物理、化学、生物监测和定期验证。</a:t>
            </a:r>
          </a:p>
          <a:p>
            <a:r>
              <a:t>第 6 题 答案：由培训过的专人按规程操作；事先清场、封闭，门口挂警示牌防止误入；结束后充分通风，检测合格后才能进入。解析：熏蒸药剂对人同样有毒有害。</a:t>
            </a:r>
          </a:p>
        </p:txBody>
      </p:sp>
      <p:sp>
        <p:nvSpPr>
          <p:cNvPr id="4" name="Slide Number Placeholder 3"/>
          <p:cNvSpPr>
            <a:spLocks noGrp="1"/>
          </p:cNvSpPr>
          <p:nvPr>
            <p:ph type="sldNum" idx="5" sz="quarter"/>
          </p:nvPr>
        </p:nvSpPr>
        <p:spPr/>
      </p:sp>
    </p:spTree>
  </p:cSld>
  <p:clrMapOvr>
    <a:masterClrMapping/>
  </p:clrMapOvr>
</p:notes>
</file>

<file path=ppt/notesSlides/notesSlide3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感染性废物的处理不是实验做完才考虑的事。开展生物因子实验之前，就要想好会产生哪些废物、用什么容器装、怎样灭活、送到哪里。</a:t>
            </a:r>
          </a:p>
          <a:p>
            <a:r>
              <a:t>实验室要有完整的生物废物管理方案，写进标准操作规程：分类收集、包装、暂存、转运、处置每个环节由谁做、怎么做、怎么记录，并对灭菌等处理效果进行验证（见第 076 课）。每个实验室按自己的生物因子和实验活动制定规程，新进人员按规程培训后才能操作。</a:t>
            </a:r>
          </a:p>
        </p:txBody>
      </p:sp>
      <p:sp>
        <p:nvSpPr>
          <p:cNvPr id="4" name="Slide Number Placeholder 3"/>
          <p:cNvSpPr>
            <a:spLocks noGrp="1"/>
          </p:cNvSpPr>
          <p:nvPr>
            <p:ph type="sldNum" idx="5" sz="quarter"/>
          </p:nvPr>
        </p:nvSpPr>
        <p:spPr/>
      </p:sp>
    </p:spTree>
  </p:cSld>
  <p:clrMapOvr>
    <a:masterClrMapping/>
  </p:clrMapOvr>
</p:notes>
</file>

<file path=ppt/notesSlides/notesSlide3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感染性废物是含有或可能含有病原微生物、有引发感染风险的废物，包括：培养物和菌（毒）种、血液及血液制品、临床和环境样本、接触过它们的吸头、平板、手套、纸巾、细胞培养耗材，检测仪器用过的卡盒和试剂条等。实验动物尸体和组织按本校规定专门收集处置（见第 084 课）。检测临床样本产生的废物一律按感染性废物对待。</a:t>
            </a:r>
          </a:p>
          <a:p>
            <a:r>
              <a:t>装袋之前先分类：感染性废物放进有生物危害标志的专用容器；锐器进锐器盒（见 K3）；化学废液、含油废物按化学废物分类收集（见第 053、054 课），不混进生物废物袋。既有感染性又含挥发性、腐蚀性化学品的废物不能直接高压灭菌，按规程专门处理。</a:t>
            </a:r>
          </a:p>
          <a:p>
            <a:r>
              <a:t>废物分类以本校规定和本实验室规程为准，墙上贴好分类指引；拿不准的，问实验室负责人或老师，不要凭感觉丢。</a:t>
            </a:r>
          </a:p>
        </p:txBody>
      </p:sp>
      <p:sp>
        <p:nvSpPr>
          <p:cNvPr id="4" name="Slide Number Placeholder 3"/>
          <p:cNvSpPr>
            <a:spLocks noGrp="1"/>
          </p:cNvSpPr>
          <p:nvPr>
            <p:ph type="sldNum" idx="5" sz="quarter"/>
          </p:nvPr>
        </p:nvSpPr>
        <p:spPr/>
      </p:sp>
    </p:spTree>
  </p:cSld>
  <p:clrMapOvr>
    <a:masterClrMapping/>
  </p:clrMapOvr>
</p:notes>
</file>

<file path=ppt/notesSlides/notesSlide3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沾染过生物材料的针头、刀片、玻片、碎玻璃等是感染性锐器，扎破皮肤就可能直接造成感染。它们不能装进塑料袋，要放进防刺穿、防渗漏、有生物危害标志的专用锐器盒；锐器盒放在操作位置旁边，用完立即投入，不能随手放在敞口盘子或台面上。</a:t>
            </a:r>
          </a:p>
          <a:p>
            <a:r>
              <a:t>用过的针头不用手回套针帽，不掰弯、不折断、不用手拆针头，连同注射器整体投入锐器盒。锐器盒装到约四分之三或盒上的警戒线就封盒（锁死后不能再打开），不要硬往里塞或用手压。封好的锐器盒按感染性废物灭菌、处置。非感染性锐器和碎玻璃见第 029 课。</a:t>
            </a:r>
          </a:p>
        </p:txBody>
      </p:sp>
      <p:sp>
        <p:nvSpPr>
          <p:cNvPr id="4" name="Slide Number Placeholder 3"/>
          <p:cNvSpPr>
            <a:spLocks noGrp="1"/>
          </p:cNvSpPr>
          <p:nvPr>
            <p:ph type="sldNum" idx="5" sz="quarter"/>
          </p:nvPr>
        </p:nvSpPr>
        <p:spPr/>
      </p:sp>
    </p:spTree>
  </p:cSld>
  <p:clrMapOvr>
    <a:masterClrMapping/>
  </p:clrMapOvr>
</p:notes>
</file>

<file path=ppt/notesSlides/notesSlide3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感染性废物用耐高压灭菌、印有生物危害标志的专用袋，套在带盖、可脚踏开启的容器里。双层装袋是常用的做法：内袋万一被戳破，还有外袋兜着。废物容器在使用前就套好两层袋（在生物安全柜内使用的，进柜前套好），实验中废物直接放进内袋。</a:t>
            </a:r>
          </a:p>
          <a:p>
            <a:r>
              <a:t>封口时：按本实验室规程向内袋加少量消毒剂，收拢内袋口拧紧，用扎带或胶带扎牢；再把外袋同样拧紧扎好，两道扎口两道保险。扎好后把袋子提出，袋子外面和空桶外壁都用消毒剂擦拭，擦拭用的纸巾也按感染性废物处理。在生物安全柜内装袋的详细手法见第 073 课。</a:t>
            </a:r>
          </a:p>
          <a:p>
            <a:r>
              <a:t>袋子不要装太满，留出扎口的位置，一般不超过四分之三；千万不要用手往下压，会扎破手套，还会把气溶胶挤出来。快满了就扎口，换上新袋。</a:t>
            </a:r>
          </a:p>
        </p:txBody>
      </p:sp>
      <p:sp>
        <p:nvSpPr>
          <p:cNvPr id="4" name="Slide Number Placeholder 3"/>
          <p:cNvSpPr>
            <a:spLocks noGrp="1"/>
          </p:cNvSpPr>
          <p:nvPr>
            <p:ph type="sldNum" idx="5" sz="quarter"/>
          </p:nvPr>
        </p:nvSpPr>
        <p:spPr/>
      </p:sp>
    </p:spTree>
  </p:cSld>
  <p:clrMapOvr>
    <a:masterClrMapping/>
  </p:clrMapOvr>
</p:notes>
</file>

<file path=ppt/notesSlides/notesSlide3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液体培养物、废培养液、含活菌的菌液不能直接倒进水槽和下水道。收集在带盖、不易破碎的容器里，容器放进托盘，防止打翻；按规程用消毒剂处理或高压灭菌后，再按本校规定处置。消毒后的液体如含化学品，按化学废液处理。</a:t>
            </a:r>
          </a:p>
          <a:p>
            <a:r>
              <a:t>从环境中分离的菌株、实验用的菌株都不能随意排放到外环境。需要在野外使用微生物（如环境修复试验）的，必须事先进行风险评估并经单位和有关部门批准。发生溢洒时先覆盖消毒，按程序清理，并报告实验室负责人（见第 078 课）。</a:t>
            </a:r>
          </a:p>
        </p:txBody>
      </p:sp>
      <p:sp>
        <p:nvSpPr>
          <p:cNvPr id="4" name="Slide Number Placeholder 3"/>
          <p:cNvSpPr>
            <a:spLocks noGrp="1"/>
          </p:cNvSpPr>
          <p:nvPr>
            <p:ph type="sldNum" idx="5" sz="quarter"/>
          </p:nvPr>
        </p:nvSpPr>
        <p:spPr/>
      </p:sp>
    </p:spTree>
  </p:cSld>
  <p:clrMapOvr>
    <a:masterClrMapping/>
  </p:clrMapOvr>
</p:notes>
</file>

<file path=ppt/notesSlides/notesSlide3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用过的平板、试管、吸头、接种环等，即使实验已经结束、计数已经完成，里面仍然是大量活菌，必须先放进高压灭菌袋，灭菌杀灭全部活菌后，再按感染性废物交学校统一处置，不能直接扔垃圾桶，也不能倒下水道。病原和实验菌株不能外泄到环境中。</a:t>
            </a:r>
          </a:p>
          <a:p>
            <a:r>
              <a:t>培养瓶长了霉、长了杂菌，不要打开闻、打开看，以免孢子和气溶胶扩散；整瓶不开盖放进灭菌袋高压灭菌后再处置。</a:t>
            </a:r>
          </a:p>
          <a:p>
            <a:r>
              <a:t>培养物、菌种不能私自带出实验室，也不能私自送人或交换（菌毒种运输见第 080 课）。</a:t>
            </a:r>
          </a:p>
        </p:txBody>
      </p:sp>
      <p:sp>
        <p:nvSpPr>
          <p:cNvPr id="4" name="Slide Number Placeholder 3"/>
          <p:cNvSpPr>
            <a:spLocks noGrp="1"/>
          </p:cNvSpPr>
          <p:nvPr>
            <p:ph type="sldNum" idx="5" sz="quarter"/>
          </p:nvPr>
        </p:nvSpPr>
        <p:spPr/>
      </p:sp>
    </p:spTree>
  </p:cSld>
  <p:clrMapOvr>
    <a:masterClrMapping/>
  </p:clrMapOvr>
</p:notes>
</file>

<file path=ppt/notesSlides/notesSlide3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基因工程菌常带有抗生素抗性基因等外源基因，一旦外泄可能在环境中扩散。含工程菌的培养物、废液和耗材收进专用容器，先灭活（如高压灭菌），再按规定分类处置。</a:t>
            </a:r>
          </a:p>
          <a:p>
            <a:r>
              <a:t>转基因植物材料、组培苗和转基因废弃物不能随手扔，也不得私自带出实验室或温室；先灭活，再按规定处置。田间或温室试验结束后，还要清除自生苗，防止残留（转基因生物安全见第 081、082 课）。</a:t>
            </a:r>
          </a:p>
          <a:p>
            <a:r>
              <a:t>保存的菌株、转基因材料要登记清楚；废弃物的灭活和处置也要登记，按本校规定执行。</a:t>
            </a:r>
          </a:p>
        </p:txBody>
      </p:sp>
      <p:sp>
        <p:nvSpPr>
          <p:cNvPr id="4" name="Slide Number Placeholder 3"/>
          <p:cNvSpPr>
            <a:spLocks noGrp="1"/>
          </p:cNvSpPr>
          <p:nvPr>
            <p:ph type="sldNum" idx="5" sz="quarter"/>
          </p:nvPr>
        </p:nvSpPr>
        <p:spPr/>
      </p:sp>
    </p:spTree>
  </p:cSld>
  <p:clrMapOvr>
    <a:masterClrMapping/>
  </p:clrMapOvr>
</p:notes>
</file>

<file path=ppt/notesSlides/notesSlide3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国内高校实验室的感染性废物，一般要先在实验室内（或本单位指定地点）高压蒸汽灭菌，灭菌合格后再离开实验室，交学校统一处置。</a:t>
            </a:r>
          </a:p>
          <a:p>
            <a:r>
              <a:t>灭菌按本实验室生物安全手册和灭菌器规程进行，由经过培训的人员操作（灭菌原理和验证见第 076 课，灭菌器操作安全见第 123 课）。用化学指示物（指示胶带、指示条）确认每一锅经过了灭菌，并结合温度、时间记录和定期的生物指示物验证判断效果。</a:t>
            </a:r>
          </a:p>
          <a:p>
            <a:r>
              <a:t>每锅灭菌都要登记：日期、废物来源、操作人、指示物结果。灭菌不合格的废物重新灭菌，不往外送。原片“灭菌后焚烧”的做法在国内由有资质的集中处置单位完成，实验室不得自行焚烧（见 K10）。</a:t>
            </a:r>
          </a:p>
        </p:txBody>
      </p:sp>
      <p:sp>
        <p:nvSpPr>
          <p:cNvPr id="4" name="Slide Number Placeholder 3"/>
          <p:cNvSpPr>
            <a:spLocks noGrp="1"/>
          </p:cNvSpPr>
          <p:nvPr>
            <p:ph type="sldNum" idx="5" sz="quarter"/>
          </p:nvPr>
        </p:nvSpPr>
        <p:spPr/>
      </p:sp>
    </p:spTree>
  </p:cSld>
  <p:clrMapOvr>
    <a:masterClrMapping/>
  </p:clrMapOvr>
</p:notes>
</file>

<file path=ppt/notesSlides/notesSlide3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灭菌后的感染性废物按本校规定装进医疗废物专用包装袋或容器（有警示标识），锐器盒单独装。包装外贴好标签，写明产生的实验室、日期、废物类别等。</a:t>
            </a:r>
          </a:p>
          <a:p>
            <a:r>
              <a:t>废物出实验室后不能随手堆在走廊、楼道或垃圾间，要放到本单位设置的暂存点或密闭转运箱中。暂存点有警示标识、防渗漏、防鼠防蚊蝇、上锁专人管理。按规定时限及时清运，不长时间存放（具体时限以现行规定和本校要求为准）。</a:t>
            </a:r>
          </a:p>
        </p:txBody>
      </p:sp>
      <p:sp>
        <p:nvSpPr>
          <p:cNvPr id="4" name="Slide Number Placeholder 3"/>
          <p:cNvSpPr>
            <a:spLocks noGrp="1"/>
          </p:cNvSpPr>
          <p:nvPr>
            <p:ph type="sldNum" idx="5" sz="quarter"/>
          </p:nvPr>
        </p:nvSpPr>
        <p:spPr/>
      </p:sp>
    </p:spTree>
  </p:cSld>
  <p:clrMapOvr>
    <a:masterClrMapping/>
  </p:clrMapOvr>
</p:notes>
</file>

<file path=ppt/notesSlides/notesSlide3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感染性废物（医疗废物）属于国家危险废物名录管理的危险废物，由学校统一交给有资质的医疗废物集中处置单位，用高温焚烧等方式无害化处置。</a:t>
            </a:r>
          </a:p>
          <a:p>
            <a:r>
              <a:t>交接时双方核对种类、数量（重量），填写交接登记和危险废物转移联单；联单和登记资料按规定期限存档，保证每一袋废物去向可查。</a:t>
            </a:r>
          </a:p>
          <a:p>
            <a:r>
              <a:t>严禁把感染性废物混入生活垃圾，严禁交给没有资质的单位或个人（如收废品人员），实验室不得自行焚烧或填埋。</a:t>
            </a:r>
          </a:p>
        </p:txBody>
      </p:sp>
      <p:sp>
        <p:nvSpPr>
          <p:cNvPr id="4" name="Slide Number Placeholder 3"/>
          <p:cNvSpPr>
            <a:spLocks noGrp="1"/>
          </p:cNvSpPr>
          <p:nvPr>
            <p:ph type="sldNum" idx="5" sz="quarter"/>
          </p:nvPr>
        </p:nvSpPr>
        <p:spPr/>
      </p:sp>
    </p:spTree>
  </p:cSld>
  <p:clrMapOvr>
    <a:masterClrMapping/>
  </p:clrMapOvr>
</p:notes>
</file>

<file path=ppt/notesSlides/notesSlide3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答案：C。解析：感染性锐器进防刺穿的锐器盒，不装进塑料袋。</a:t>
            </a:r>
          </a:p>
          <a:p>
            <a:r>
              <a:t>第 2 题 答案：B。解析：平板里仍是活菌，先高压灭菌，再按感染性废物交学校统一处置。</a:t>
            </a:r>
          </a:p>
        </p:txBody>
      </p:sp>
      <p:sp>
        <p:nvSpPr>
          <p:cNvPr id="4" name="Slide Number Placeholder 3"/>
          <p:cNvSpPr>
            <a:spLocks noGrp="1"/>
          </p:cNvSpPr>
          <p:nvPr>
            <p:ph type="sldNum" idx="5" sz="quarter"/>
          </p:nvPr>
        </p:nvSpPr>
        <p:spPr/>
      </p:sp>
    </p:spTree>
  </p:cSld>
  <p:clrMapOvr>
    <a:masterClrMapping/>
  </p:clrMapOvr>
</p:notes>
</file>

<file path=ppt/notesSlides/notesSlide3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答案：B。解析：留出扎口位置，不得用手压，以免扎破手套、挤出气溶胶。</a:t>
            </a:r>
          </a:p>
          <a:p>
            <a:r>
              <a:t>第 4 题 答案：B。解析：液体培养物收进带盖容器，按规程消毒或灭菌后再按规定处置。</a:t>
            </a:r>
          </a:p>
        </p:txBody>
      </p:sp>
      <p:sp>
        <p:nvSpPr>
          <p:cNvPr id="4" name="Slide Number Placeholder 3"/>
          <p:cNvSpPr>
            <a:spLocks noGrp="1"/>
          </p:cNvSpPr>
          <p:nvPr>
            <p:ph type="sldNum" idx="5" sz="quarter"/>
          </p:nvPr>
        </p:nvSpPr>
        <p:spPr/>
      </p:sp>
    </p:spTree>
  </p:cSld>
  <p:clrMapOvr>
    <a:masterClrMapping/>
  </p:clrMapOvr>
</p:notes>
</file>

<file path=ppt/notesSlides/notesSlide3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答案：D。解析：医疗废物按危险废物管理，交有资质单位集中处置，联单存档。</a:t>
            </a:r>
          </a:p>
          <a:p>
            <a:r>
              <a:t>第 6 题 答案：不要打开闻或查看，整瓶不开盖放进高压灭菌袋，灭菌后按感染性废物处置。解析：开盖会使孢子和气溶胶扩散。</a:t>
            </a:r>
          </a:p>
        </p:txBody>
      </p:sp>
      <p:sp>
        <p:nvSpPr>
          <p:cNvPr id="4" name="Slide Number Placeholder 3"/>
          <p:cNvSpPr>
            <a:spLocks noGrp="1"/>
          </p:cNvSpPr>
          <p:nvPr>
            <p:ph type="sldNum" idx="5" sz="quarter"/>
          </p:nvPr>
        </p:nvSpPr>
        <p:spPr/>
      </p:sp>
    </p:spTree>
  </p:cSld>
  <p:clrMapOvr>
    <a:masterClrMapping/>
  </p:clrMapOvr>
</p:notes>
</file>

<file path=ppt/notesSlides/notesSlide3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病原微生物和生物毒素的溢洒、暴露事件发展很快，一旦发生，没有时间犹豫：越早控制，扩散和感染的风险越小。</a:t>
            </a:r>
          </a:p>
          <a:p>
            <a:r>
              <a:t>处置的总顺序是：立即停下手头工作，先控制（不让污染扩散），再消毒清理，全程按本实验室的应急处置规程进行，最后报告和记录。</a:t>
            </a:r>
          </a:p>
          <a:p>
            <a:r>
              <a:t>从控制到处置，每一步都有明确规定，不是“可做可不做”的建议。按规范处置，保护的是自己、同组的人和实验室外的人。</a:t>
            </a:r>
          </a:p>
        </p:txBody>
      </p:sp>
      <p:sp>
        <p:nvSpPr>
          <p:cNvPr id="4" name="Slide Number Placeholder 3"/>
          <p:cNvSpPr>
            <a:spLocks noGrp="1"/>
          </p:cNvSpPr>
          <p:nvPr>
            <p:ph type="sldNum" idx="5" sz="quarter"/>
          </p:nvPr>
        </p:nvSpPr>
        <p:spPr/>
      </p:sp>
    </p:spTree>
  </p:cSld>
  <p:clrMapOvr>
    <a:masterClrMapping/>
  </p:clrMapOvr>
</p:notes>
</file>

<file path=ppt/notesSlides/notesSlide3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每个生物实验室都要事先制定溢洒和暴露处置规程，写明不同情况（柜内、台面、柜外、离心机、转运途中、人员暴露）怎么处理、找谁报告；规程中的一般程序按本室的病原、操作和设施调整。</a:t>
            </a:r>
          </a:p>
          <a:p>
            <a:r>
              <a:t>溢洒处理包放在实验室内就近、显眼的位置，一般包括：吸水纸或吸水垫、指定消毒剂、镊子或夹子、小铲或刮板、锐器盒、生物危害废物袋、手套、护目镜或面屏、隔离衣、口罩、警示牌等，定期检查补充，消毒剂在有效期内。</a:t>
            </a:r>
          </a:p>
          <a:p>
            <a:r>
              <a:t>所有人员都要事先学会并演练（可用清水演练）。动手处置前先检查自己的防护是否到位，按风险评估加戴一层手套或增加面部、呼吸防护。</a:t>
            </a:r>
          </a:p>
        </p:txBody>
      </p:sp>
      <p:sp>
        <p:nvSpPr>
          <p:cNvPr id="4" name="Slide Number Placeholder 3"/>
          <p:cNvSpPr>
            <a:spLocks noGrp="1"/>
          </p:cNvSpPr>
          <p:nvPr>
            <p:ph type="sldNum" idx="5" sz="quarter"/>
          </p:nvPr>
        </p:nvSpPr>
        <p:spPr/>
      </p:sp>
    </p:spTree>
  </p:cSld>
  <p:clrMapOvr>
    <a:masterClrMapping/>
  </p:clrMapOvr>
</p:notes>
</file>

<file path=ppt/notesSlides/notesSlide3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发生溢洒，第一步是控制：大声提醒周围的人，在溢洒区域设置警示带或警示牌，贴上生物危害标志，无关人员离开，防止有人踩踏或接触后把污染带走。</a:t>
            </a:r>
          </a:p>
          <a:p>
            <a:r>
              <a:t>处置的目标很简单：把污染关在原地，不让它扩散到更大的范围和更多的人。</a:t>
            </a:r>
          </a:p>
          <a:p>
            <a:r>
              <a:t>平时就要减少溢洒带来的气溶胶风险：吹打、振荡、研磨、超声、开盖等易产生气溶胶的操作放在生物安全柜里做（见第 072 课）。</a:t>
            </a:r>
          </a:p>
        </p:txBody>
      </p:sp>
      <p:sp>
        <p:nvSpPr>
          <p:cNvPr id="4" name="Slide Number Placeholder 3"/>
          <p:cNvSpPr>
            <a:spLocks noGrp="1"/>
          </p:cNvSpPr>
          <p:nvPr>
            <p:ph type="sldNum" idx="5" sz="quarter"/>
          </p:nvPr>
        </p:nvSpPr>
        <p:spPr/>
      </p:sp>
    </p:spTree>
  </p:cSld>
  <p:clrMapOvr>
    <a:masterClrMapping/>
  </p:clrMapOvr>
</p:notes>
</file>

<file path=ppt/notesSlides/notesSlide3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在生物安全柜内发生溢洒，不要慌：风机继续运行，柜子的气流仍在保护操作者；双手不要猛地抽出柜外，以免把气溶胶带出来。</a:t>
            </a:r>
          </a:p>
          <a:p>
            <a:r>
              <a:t>柜内溢洒要马上处理，不能放着等实验做完再说，处理方法按 K5、K6 的“盖、倒、等、清”。液体流进前格栅或台面下的集液槽时，也要按规程倒入消毒剂作用后清理。</a:t>
            </a:r>
          </a:p>
          <a:p>
            <a:r>
              <a:t>洒得多、流进集液槽难以处理，或自己拿不准的，请实验室负责人和学院、学校安全管理人员协助。处理完报告负责人，登记经过。柜内废物袋破损渗漏的处理见第 073 课。</a:t>
            </a:r>
          </a:p>
        </p:txBody>
      </p:sp>
      <p:sp>
        <p:nvSpPr>
          <p:cNvPr id="4" name="Slide Number Placeholder 3"/>
          <p:cNvSpPr>
            <a:spLocks noGrp="1"/>
          </p:cNvSpPr>
          <p:nvPr>
            <p:ph type="sldNum" idx="5" sz="quarter"/>
          </p:nvPr>
        </p:nvSpPr>
        <p:spPr/>
      </p:sp>
    </p:spTree>
  </p:cSld>
  <p:clrMapOvr>
    <a:masterClrMapping/>
  </p:clrMapOvr>
</p:notes>
</file>

<file path=ppt/notesSlides/notesSlide3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台面或柜内的小量溢洒，第一步用吸水纸、纸巾或吸水垫覆盖溢洒物，先把液体吸住，不让它流开，也减少飞溅。</a:t>
            </a:r>
          </a:p>
          <a:p>
            <a:r>
              <a:t>然后用规程指定的液体消毒剂，从溢洒区的外缘开始，绕圈往中间浇，浸湿覆盖物。由外向内，污染才不会被冲到更大的范围；反过来从中间往外浇，会把污染推开。</a:t>
            </a:r>
          </a:p>
          <a:p>
            <a:r>
              <a:t>处置中如果皮肤沾到，立即用流动水冲洗，并报告负责人（见 K13）。小量溢洒可以记住四个字：盖（覆盖）、倒（倒消毒剂）、等（作用足够时间）、清（清理并按感染性废物处置）。</a:t>
            </a:r>
          </a:p>
        </p:txBody>
      </p:sp>
      <p:sp>
        <p:nvSpPr>
          <p:cNvPr id="4" name="Slide Number Placeholder 3"/>
          <p:cNvSpPr>
            <a:spLocks noGrp="1"/>
          </p:cNvSpPr>
          <p:nvPr>
            <p:ph type="sldNum" idx="5" sz="quarter"/>
          </p:nvPr>
        </p:nvSpPr>
        <p:spPr/>
      </p:sp>
    </p:spTree>
  </p:cSld>
  <p:clrMapOvr>
    <a:masterClrMapping/>
  </p:clrMapOvr>
</p:notes>
</file>

<file path=ppt/notesSlides/notesSlide3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消毒剂作用后，尽量把溢洒物擦干净，纸巾丢进生物危害废物袋。</a:t>
            </a:r>
          </a:p>
          <a:p>
            <a:r>
              <a:t>再换上新的纸巾，覆盖原溢洒区并再浇一遍消毒剂，这一次让湿纸巾留在原处，等足作用时间。作用时间取决于病原种类、污染量、有机物多少和消毒剂种类等因素，以本实验室规程和产品说明为准（见第 076 课）。</a:t>
            </a:r>
          </a:p>
          <a:p>
            <a:r>
              <a:t>时间到后，再把纸巾丢进废物袋，废物按感染性废物处置（见第 077 课）。</a:t>
            </a:r>
          </a:p>
        </p:txBody>
      </p:sp>
      <p:sp>
        <p:nvSpPr>
          <p:cNvPr id="4" name="Slide Number Placeholder 3"/>
          <p:cNvSpPr>
            <a:spLocks noGrp="1"/>
          </p:cNvSpPr>
          <p:nvPr>
            <p:ph type="sldNum" idx="5" sz="quarter"/>
          </p:nvPr>
        </p:nvSpPr>
        <p:spPr/>
      </p:sp>
    </p:spTree>
  </p:cSld>
  <p:clrMapOvr>
    <a:masterClrMapping/>
  </p:clrMapOvr>
</p:notes>
</file>

<file path=ppt/notesSlides/notesSlide3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溢洒物里有碎玻璃、碎管时，不要用手去捡，戴着手套也不行；用镊子、夹子或小铲把碎片夹进锐器盒。</a:t>
            </a:r>
          </a:p>
          <a:p>
            <a:r>
              <a:t>含氯消毒剂会腐蚀不锈钢台面和柜体：用了它，作用后再用清水（或按规程用乙醇）擦一遍。溢洒时被溅到的物品、仪器外表面，也要用浸湿消毒剂的纸巾擦拭，保持湿润等足时间，再继续实验。</a:t>
            </a:r>
          </a:p>
          <a:p>
            <a:r>
              <a:t>清理不能偷工减料：选对消毒剂，把病原彻底消灭；污染的器材、工具送去高压灭菌，灭菌到位。</a:t>
            </a:r>
          </a:p>
        </p:txBody>
      </p:sp>
      <p:sp>
        <p:nvSpPr>
          <p:cNvPr id="4" name="Slide Number Placeholder 3"/>
          <p:cNvSpPr>
            <a:spLocks noGrp="1"/>
          </p:cNvSpPr>
          <p:nvPr>
            <p:ph type="sldNum" idx="5" sz="quarter"/>
          </p:nvPr>
        </p:nvSpPr>
        <p:spPr/>
      </p:sp>
    </p:spTree>
  </p:cSld>
  <p:clrMapOvr>
    <a:masterClrMapping/>
  </p:clrMapOvr>
</p:notes>
</file>

<file path=ppt/notesSlides/notesSlide3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培养物等感染性材料洒在生物安全柜外，或瓶子摔碎，可能产生气溶胶。这时不要急着擦：提醒旁人，所有人立即撤出房间，关好门，门口挂上警示牌，防止有人进入。</a:t>
            </a:r>
          </a:p>
          <a:p>
            <a:r>
              <a:t>身上被溅到的，先脱去污染的外层防护、冲洗暴露部位，再报告。立即报告实验室负责人，按应急预案处置。</a:t>
            </a:r>
          </a:p>
          <a:p>
            <a:r>
              <a:t>等待规程规定的时间，让气溶胶沉降（实验室有负压通风的，同时让通风系统换气）。之后由经过培训的人员穿好防护（按风险评估增加呼吸防护），进入后按“盖、倒、等、清”处置，必要时请学校安全管理部门协助。</a:t>
            </a:r>
          </a:p>
        </p:txBody>
      </p:sp>
      <p:sp>
        <p:nvSpPr>
          <p:cNvPr id="4" name="Slide Number Placeholder 3"/>
          <p:cNvSpPr>
            <a:spLocks noGrp="1"/>
          </p:cNvSpPr>
          <p:nvPr>
            <p:ph type="sldNum" idx="5" sz="quarter"/>
          </p:nvPr>
        </p:nvSpPr>
        <p:spPr/>
      </p:sp>
    </p:spTree>
  </p:cSld>
  <p:clrMapOvr>
    <a:masterClrMapping/>
  </p:clrMapOvr>
</p:notes>
</file>

<file path=ppt/notesSlides/notesSlide3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在走廊、电梯等转运路上，废物袋或样品盒掉落、渗漏时，先让周围的人绕开，看住现场，不要用手去捡。</a:t>
            </a:r>
          </a:p>
          <a:p>
            <a:r>
              <a:t>马上报告实验室负责人，请人取来溢洒处理包。穿好防护后，用吸水材料覆盖，倒消毒剂作用后清理，按规程处置；破损的包装在外面再套袋。楼内转运要用密闭、防漏的转运箱，减少此类事件（见第 080 课）。</a:t>
            </a:r>
          </a:p>
        </p:txBody>
      </p:sp>
      <p:sp>
        <p:nvSpPr>
          <p:cNvPr id="4" name="Slide Number Placeholder 3"/>
          <p:cNvSpPr>
            <a:spLocks noGrp="1"/>
          </p:cNvSpPr>
          <p:nvPr>
            <p:ph type="sldNum" idx="5" sz="quarter"/>
          </p:nvPr>
        </p:nvSpPr>
        <p:spPr/>
      </p:sp>
    </p:spTree>
  </p:cSld>
  <p:clrMapOvr>
    <a:masterClrMapping/>
  </p:clrMapOvr>
</p:notes>
</file>

<file path=ppt/notesSlides/notesSlide3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离心感染性样品时，如果怀疑或发现离心管破裂（听到破裂声、运行异常），停机后不要马上打开离心机盖；关闭的盖子能把气溶胶关在里面。挂上警示牌，静置规程规定的时间让气溶胶沉降，并立即报告实验室负责人。</a:t>
            </a:r>
          </a:p>
          <a:p>
            <a:r>
              <a:t>使用密封转子或密封吊篮离心的，穿戴好防护后，把密封转子或吊篮整体拿进生物安全柜内再打开。没有密封装置的，按本实验室规程由专人处置。</a:t>
            </a:r>
          </a:p>
          <a:p>
            <a:r>
              <a:t>用与转子、吊篮材质相容的消毒剂浸泡消毒（不相容会腐蚀转子），碎片用镊子夹进锐器盒，污染物按感染性废物处置，离心机腔体也要去污。离心机的安全使用见第 121 课。</a:t>
            </a:r>
          </a:p>
        </p:txBody>
      </p:sp>
      <p:sp>
        <p:nvSpPr>
          <p:cNvPr id="4" name="Slide Number Placeholder 3"/>
          <p:cNvSpPr>
            <a:spLocks noGrp="1"/>
          </p:cNvSpPr>
          <p:nvPr>
            <p:ph type="sldNum" idx="5" sz="quarter"/>
          </p:nvPr>
        </p:nvSpPr>
        <p:spPr/>
      </p:sp>
    </p:spTree>
  </p:cSld>
  <p:clrMapOvr>
    <a:masterClrMapping/>
  </p:clrMapOvr>
</p:notes>
</file>

<file path=ppt/notesSlides/notesSlide3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工作中隔离衣被大片溅湿、口罩被打湿、手套破损，都属于防护失效。先停下，把锐器安全放好，盖好样品容器，再到脱卸区按顺序脱下污染的防护用品（见第 075 课），换上新的。</a:t>
            </a:r>
          </a:p>
          <a:p>
            <a:r>
              <a:t>手套破了，脱下后仔细检查皮肤有没有伤口或沾染，洗手后换上新手套。一旦发现皮肤破损或沾染，按暴露处置（K12、K13）。事后报告实验室负责人。</a:t>
            </a:r>
          </a:p>
        </p:txBody>
      </p:sp>
      <p:sp>
        <p:nvSpPr>
          <p:cNvPr id="4" name="Slide Number Placeholder 3"/>
          <p:cNvSpPr>
            <a:spLocks noGrp="1"/>
          </p:cNvSpPr>
          <p:nvPr>
            <p:ph type="sldNum" idx="5" sz="quarter"/>
          </p:nvPr>
        </p:nvSpPr>
        <p:spPr/>
      </p:sp>
    </p:spTree>
  </p:cSld>
  <p:clrMapOvr>
    <a:masterClrMapping/>
  </p:clrMapOvr>
</p:notes>
</file>

<file path=ppt/notesSlides/notesSlide3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操作针头、玻片、刀片时一滑，就可能被扎伤或割伤；沾过血液、临床样本或培养物的锐器造成的伤口，就有感染风险。立即处理是最关键的一步。</a:t>
            </a:r>
          </a:p>
          <a:p>
            <a:r>
              <a:t>现场急救：立即停下，把锐器安全放进锐器盒；从近心端向伤口方向轻轻挤出少量血液，不要用力挤压伤口局部，更不能用嘴吸；用肥皂和流动水彻底冲洗；冲洗后用急救箱中的皮肤消毒剂（如碘伏或 75% 乙醇）消毒，包扎伤口（急救见第 158 课）。</a:t>
            </a:r>
          </a:p>
          <a:p>
            <a:r>
              <a:t>处理后马上报告负责人，确认样本来源和可能的病原，尽快就医评估（K14、K15）。被实验动物使用过的针头扎伤，风险更特殊，不能拖延。预防在先：用过的针头不回套，直接投入锐器盒（见第 077 课）。</a:t>
            </a:r>
          </a:p>
        </p:txBody>
      </p:sp>
      <p:sp>
        <p:nvSpPr>
          <p:cNvPr id="4" name="Slide Number Placeholder 3"/>
          <p:cNvSpPr>
            <a:spLocks noGrp="1"/>
          </p:cNvSpPr>
          <p:nvPr>
            <p:ph type="sldNum" idx="5" sz="quarter"/>
          </p:nvPr>
        </p:nvSpPr>
        <p:spPr/>
      </p:sp>
    </p:spTree>
  </p:cSld>
  <p:clrMapOvr>
    <a:masterClrMapping/>
  </p:clrMapOvr>
</p:notes>
</file>

<file path=ppt/notesSlides/notesSlide3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完整皮肤沾到样品或培养物，立即脱去污染的衣物或手套，用肥皂和流动水冲洗。</a:t>
            </a:r>
          </a:p>
          <a:p>
            <a:r>
              <a:t>溅进眼睛，马上到洗眼器（或用生理盐水）冲洗：撑开眼睑，转动眼球，反复冲洗，冲洗时间按规程，不要揉眼（洗眼器见第 027 课，眼部急救见第 160 课）。口腔、鼻腔黏膜溅到，用清水或生理盐水反复冲洗，不要吞咽。</a:t>
            </a:r>
          </a:p>
          <a:p>
            <a:r>
              <a:t>冲洗后立即报告实验室负责人，按要求就医评估；情况紧急拨打 120。</a:t>
            </a:r>
          </a:p>
        </p:txBody>
      </p:sp>
      <p:sp>
        <p:nvSpPr>
          <p:cNvPr id="4" name="Slide Number Placeholder 3"/>
          <p:cNvSpPr>
            <a:spLocks noGrp="1"/>
          </p:cNvSpPr>
          <p:nvPr>
            <p:ph type="sldNum" idx="5" sz="quarter"/>
          </p:nvPr>
        </p:nvSpPr>
        <p:spPr/>
      </p:sp>
    </p:spTree>
  </p:cSld>
  <p:clrMapOvr>
    <a:masterClrMapping/>
  </p:clrMapOvr>
</p:notes>
</file>

<file path=ppt/notesSlides/notesSlide3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发生针刺、溢洒、暴露，先立即进行现场处置，处置后马上报告：实验室负责人（导师）→ 学院 → 学校实验室安全管理部门、保卫处和校医院，按本校应急预案和报告程序执行（报告程序见第 157 课）。</a:t>
            </a:r>
          </a:p>
          <a:p>
            <a:r>
              <a:t>溢洒和暴露都要报告，量小、没有受伤的也要报，未遂事件同样报告（见第 161 课）。如实说明时间、地点、样本、经过和已采取的处置，不隐瞒、不拖延，不要怕批评而自己扛着。</a:t>
            </a:r>
          </a:p>
          <a:p>
            <a:r>
              <a:t>伤情严重或情况紧急，立即拨打 120 急救电话。</a:t>
            </a:r>
          </a:p>
        </p:txBody>
      </p:sp>
      <p:sp>
        <p:nvSpPr>
          <p:cNvPr id="4" name="Slide Number Placeholder 3"/>
          <p:cNvSpPr>
            <a:spLocks noGrp="1"/>
          </p:cNvSpPr>
          <p:nvPr>
            <p:ph type="sldNum" idx="5" sz="quarter"/>
          </p:nvPr>
        </p:nvSpPr>
        <p:spPr/>
      </p:sp>
    </p:spTree>
  </p:cSld>
  <p:clrMapOvr>
    <a:masterClrMapping/>
  </p:clrMapOvr>
</p:notes>
</file>

<file path=ppt/notesSlides/notesSlide3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暴露后尽快到学校指定的医疗机构就医，向医生说清样本来源、可能的病原、暴露方式和已做的处置。是否需要进一步检查或预防性处理，由医生评估决定，遵医嘱执行，不要自己判断“没事”而拖延。</a:t>
            </a:r>
          </a:p>
          <a:p>
            <a:r>
              <a:t>暴露要登记在案：时间、地点、样本和病原、经过、防护情况、现场处置、报告和就医情况，由实验室和学校按规定存档。按医嘱定期随访复查，进行医学观察，不能一扎了之。</a:t>
            </a:r>
          </a:p>
          <a:p>
            <a:r>
              <a:t>事后全组复盘，查找原因，改进操作方法、器材（如改用安全型锐器）和规程（事故调查见第 162 课）。</a:t>
            </a:r>
          </a:p>
        </p:txBody>
      </p:sp>
      <p:sp>
        <p:nvSpPr>
          <p:cNvPr id="4" name="Slide Number Placeholder 3"/>
          <p:cNvSpPr>
            <a:spLocks noGrp="1"/>
          </p:cNvSpPr>
          <p:nvPr>
            <p:ph type="sldNum" idx="5" sz="quarter"/>
          </p:nvPr>
        </p:nvSpPr>
        <p:spPr/>
      </p:sp>
    </p:spTree>
  </p:cSld>
  <p:clrMapOvr>
    <a:masterClrMapping/>
  </p:clrMapOvr>
</p:notes>
</file>

<file path=ppt/notesSlides/notesSlide3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答案：B。解析：盖、倒、等、清；由外向内防止污染扩大。</a:t>
            </a:r>
          </a:p>
          <a:p>
            <a:r>
              <a:t>第 2 题 答案：B。解析：风机继续运行，气流仍在保护操作者；手不要猛地抽出柜外。</a:t>
            </a:r>
          </a:p>
        </p:txBody>
      </p:sp>
      <p:sp>
        <p:nvSpPr>
          <p:cNvPr id="4" name="Slide Number Placeholder 3"/>
          <p:cNvSpPr>
            <a:spLocks noGrp="1"/>
          </p:cNvSpPr>
          <p:nvPr>
            <p:ph type="sldNum" idx="5" sz="quarter"/>
          </p:nvPr>
        </p:nvSpPr>
        <p:spPr/>
      </p:sp>
    </p:spTree>
  </p:cSld>
  <p:clrMapOvr>
    <a:masterClrMapping/>
  </p:clrMapOvr>
</p:notes>
</file>

<file path=ppt/notesSlides/notesSlide4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答案：B。解析：柜外溢洒可能有气溶胶，先撤离、封闭、报告，再处置。</a:t>
            </a:r>
          </a:p>
          <a:p>
            <a:r>
              <a:t>第 4 题 答案：B。解析：关闭的盖子能把气溶胶关住；密封吊篮在柜内打开。</a:t>
            </a:r>
          </a:p>
        </p:txBody>
      </p:sp>
      <p:sp>
        <p:nvSpPr>
          <p:cNvPr id="4" name="Slide Number Placeholder 3"/>
          <p:cNvSpPr>
            <a:spLocks noGrp="1"/>
          </p:cNvSpPr>
          <p:nvPr>
            <p:ph type="sldNum" idx="5" sz="quarter"/>
          </p:nvPr>
        </p:nvSpPr>
        <p:spPr/>
      </p:sp>
    </p:spTree>
  </p:cSld>
  <p:clrMapOvr>
    <a:masterClrMapping/>
  </p:clrMapOvr>
</p:notes>
</file>

<file path=ppt/notesSlides/notesSlide4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答案：A。解析：不用力挤压伤口、不用嘴吸；报告、就医评估、登记随访。</a:t>
            </a:r>
          </a:p>
          <a:p>
            <a:r>
              <a:t>第 6 题 答案：先现场处置，然后逐级报告实验室负责人、学院和学校实验室安全管理部门（保卫处、校医院按本校程序），紧急时拨打 120；尽快就医评估，遵医嘱处理，登记暴露经过并按医嘱随访，全组复盘改进。解析：如实报告不隐瞒，是否需要预防性处理由医生决定。</a:t>
            </a:r>
          </a:p>
        </p:txBody>
      </p:sp>
      <p:sp>
        <p:nvSpPr>
          <p:cNvPr id="4" name="Slide Number Placeholder 3"/>
          <p:cNvSpPr>
            <a:spLocks noGrp="1"/>
          </p:cNvSpPr>
          <p:nvPr>
            <p:ph type="sldNum" idx="5" sz="quarter"/>
          </p:nvPr>
        </p:nvSpPr>
        <p:spPr/>
      </p:sp>
    </p:spTree>
  </p:cSld>
  <p:clrMapOvr>
    <a:masterClrMapping/>
  </p:clrMapOvr>
</p:notes>
</file>

<file path=ppt/notesSlides/notesSlide4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临床样本是从病人身上采集、送到实验室检测或研究的材料，在医院检验科、病理科和疾病检测实验室每天都要处理；高校的医学、公共卫生和生命科学实验室在合作研究中也会接收医院送来的样本。</a:t>
            </a:r>
          </a:p>
          <a:p>
            <a:r>
              <a:t>常见的临床样本有：血液、血清和血浆，鼻咽拭子、口咽拭子，尿液、粪便、痰液等体液和排泄物，以及活检组织。拭子一般泡在保存液里送来，其他样本也装在相应的保存介质或容器中。</a:t>
            </a:r>
          </a:p>
          <a:p>
            <a:r>
              <a:t>本课按样本流转的顺序讲：样本进门（接收、核对、登记、保密）→ 开管和分流（培养或核酸检测）→ 检测（核酸提取、定量检测、分区）→ 出结果（阳性报告）→ 剩余样本保存或销毁。样本怎么包装运输见第 080 课。</a:t>
            </a:r>
          </a:p>
        </p:txBody>
      </p:sp>
      <p:sp>
        <p:nvSpPr>
          <p:cNvPr id="4" name="Slide Number Placeholder 3"/>
          <p:cNvSpPr>
            <a:spLocks noGrp="1"/>
          </p:cNvSpPr>
          <p:nvPr>
            <p:ph type="sldNum" idx="5" sz="quarter"/>
          </p:nvPr>
        </p:nvSpPr>
        <p:spPr/>
      </p:sp>
    </p:spTree>
  </p:cSld>
  <p:clrMapOvr>
    <a:masterClrMapping/>
  </p:clrMapOvr>
</p:notes>
</file>

<file path=ppt/notesSlides/notesSlide4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实验室收到的生物材料大体有两类。一类是研究人员送来的纯培养物：是哪种病原、哪个株、做过什么改造，都有记录，可以对照目录和资料做风险评估（见第 067、068 课）。</a:t>
            </a:r>
          </a:p>
          <a:p>
            <a:r>
              <a:t>另一类是病人样本：形式五花八门，一管样本里可能有好几种病原，可能有送检目的之外的病原，到底有什么、浓度多高，事先往往不知道。</a:t>
            </a:r>
          </a:p>
          <a:p>
            <a:r>
              <a:t>所以，评估病人样本的风险不能只看申请单上写的检测项目，要考虑“可能有什么”。</a:t>
            </a:r>
          </a:p>
        </p:txBody>
      </p:sp>
      <p:sp>
        <p:nvSpPr>
          <p:cNvPr id="4" name="Slide Number Placeholder 3"/>
          <p:cNvSpPr>
            <a:spLocks noGrp="1"/>
          </p:cNvSpPr>
          <p:nvPr>
            <p:ph type="sldNum" idx="5" sz="quarter"/>
          </p:nvPr>
        </p:nvSpPr>
        <p:spPr/>
      </p:sp>
    </p:spTree>
  </p:cSld>
  <p:clrMapOvr>
    <a:masterClrMapping/>
  </p:clrMapOvr>
</p:notes>
</file>

<file path=ppt/notesSlides/notesSlide4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因为说不准，临床样本一律先按有传染性对待：戴手套等个人防护，在生物安全柜内开管，防溅、防扎，血样尤其如此。这是普遍防护的思路。原片“按最高可能风险对待”的说法，在国内要落实为：先按有传染性对待，再依据《人间传染的病原微生物目录》（以现行版本为准）和风险评估，确定实验活动的防护级别（见第 060 课）。</a:t>
            </a:r>
          </a:p>
          <a:p>
            <a:r>
              <a:t>注意编号方向：国内病原微生物分类第一类危害最大、第四类最低；国际风险组 1 组最低、4 组最高，两者方向相反（见第 058 课）。</a:t>
            </a:r>
          </a:p>
          <a:p>
            <a:r>
              <a:t>接收和处理前先看采样单（申请单），了解病人的病史和现在的情况，有提示高风险病原的，提前报告负责人。也要记住：有的人带有病原却没有症状，看起来“正常”的样本同样不能掉以轻心。</a:t>
            </a:r>
          </a:p>
          <a:p>
            <a:r>
              <a:t>已知样本、未知样本都按这个思路管理。你做好防护、守住规程，保护的是自己，也是同组的人和实验室外的人。</a:t>
            </a:r>
          </a:p>
        </p:txBody>
      </p:sp>
      <p:sp>
        <p:nvSpPr>
          <p:cNvPr id="4" name="Slide Number Placeholder 3"/>
          <p:cNvSpPr>
            <a:spLocks noGrp="1"/>
          </p:cNvSpPr>
          <p:nvPr>
            <p:ph type="sldNum" idx="5" sz="quarter"/>
          </p:nvPr>
        </p:nvSpPr>
        <p:spPr/>
      </p:sp>
    </p:spTree>
  </p:cSld>
  <p:clrMapOvr>
    <a:masterClrMapping/>
  </p:clrMapOvr>
</p:notes>
</file>

<file path=ppt/notesSlides/notesSlide4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污水、污泥、医院污水以及其他可能受人畜排泄物污染的环境样本，可能含有多种病原菌和病毒，同样按有感染性的样本对待，不能当成“普通水样”。</a:t>
            </a:r>
          </a:p>
          <a:p>
            <a:r>
              <a:t>采样和操作时戴手套，必要时戴护目镜；样本瓶拧紧密封，装入防漏的二级容器转运，防漏防洒。不在开放台面上直接倾倒、混合污水样本，易产生飞溅和气溶胶的操作放到生物安全柜内。</a:t>
            </a:r>
          </a:p>
          <a:p>
            <a:r>
              <a:t>环境样本的操作级别经风险评估确定，一般在二级生物安全实验室进行；操作完摘下手套按感染性废物处置，认真洗手。外出采样的安全见第 154 课。</a:t>
            </a:r>
          </a:p>
        </p:txBody>
      </p:sp>
      <p:sp>
        <p:nvSpPr>
          <p:cNvPr id="4" name="Slide Number Placeholder 3"/>
          <p:cNvSpPr>
            <a:spLocks noGrp="1"/>
          </p:cNvSpPr>
          <p:nvPr>
            <p:ph type="sldNum" idx="5" sz="quarter"/>
          </p:nvPr>
        </p:nvSpPr>
        <p:spPr/>
      </p:sp>
    </p:spTree>
  </p:cSld>
  <p:clrMapOvr>
    <a:masterClrMapping/>
  </p:clrMapOvr>
</p:notes>
</file>

<file path=ppt/notesSlides/notesSlide4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有些样本泡在化学保存液或固定液里（例如组织固定液、含裂解或灭活成分的保存液），这时样本既有生物风险，也有化学风险（刺激、腐蚀、毒性等）。</a:t>
            </a:r>
          </a:p>
          <a:p>
            <a:r>
              <a:t>操作前查阅保存液随附的化学品安全技术说明书，了解危害和防护要求，选择合适的手套和防护；含挥发性有害成分的，在合适的通风条件下操作。</a:t>
            </a:r>
          </a:p>
          <a:p>
            <a:r>
              <a:t>保存液里的样本是否已经灭活，要以验证过的说明为准，不能想当然认为“泡过了就安全”；废液按化学和感染性废物的要求分别处置（见第 077 课）。</a:t>
            </a:r>
          </a:p>
        </p:txBody>
      </p:sp>
      <p:sp>
        <p:nvSpPr>
          <p:cNvPr id="4" name="Slide Number Placeholder 3"/>
          <p:cNvSpPr>
            <a:spLocks noGrp="1"/>
          </p:cNvSpPr>
          <p:nvPr>
            <p:ph type="sldNum" idx="5" sz="quarter"/>
          </p:nvPr>
        </p:nvSpPr>
        <p:spPr/>
      </p:sp>
    </p:spTree>
  </p:cSld>
  <p:clrMapOvr>
    <a:masterClrMapping/>
  </p:clrMapOvr>
</p:notes>
</file>

<file path=ppt/notesSlides/notesSlide4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样本箱送到后，拆包前先穿戴好实验服或隔离衣、手套和护目镜，在指定的接收台面上操作，铺好吸水垫，备好消毒剂、生物危害废物袋和溢洒处理包。</a:t>
            </a:r>
          </a:p>
          <a:p>
            <a:r>
              <a:t>开箱前先看外包装有没有渗漏、破损、潮湿或污染。发现渗漏不要硬拆，用防漏袋封好，放在指定位置，报告实验室负责人，按溢洒处置规程处理（见第 078 课），并通知送样方。</a:t>
            </a:r>
          </a:p>
          <a:p>
            <a:r>
              <a:t>外包装完好的，先用规程指定的消毒剂擦拭外表面，等够规程要求的作用时间再打开；用哪种消毒剂、作用多久，按本单位规程和产品说明（见第 076 课），不凭感觉。内层的密封袋和样本容器，拿到生物安全柜里再打开。</a:t>
            </a:r>
          </a:p>
        </p:txBody>
      </p:sp>
      <p:sp>
        <p:nvSpPr>
          <p:cNvPr id="4" name="Slide Number Placeholder 3"/>
          <p:cNvSpPr>
            <a:spLocks noGrp="1"/>
          </p:cNvSpPr>
          <p:nvPr>
            <p:ph type="sldNum" idx="5" sz="quarter"/>
          </p:nvPr>
        </p:nvSpPr>
        <p:spPr/>
      </p:sp>
    </p:spTree>
  </p:cSld>
  <p:clrMapOvr>
    <a:masterClrMapping/>
  </p:clrMapOvr>
</p:notes>
</file>

<file path=ppt/notesSlides/notesSlide4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样本到达后第一步是编目登记：与送样单位一起核对送样清单，逐管核对样本标识与申请单（编号、样本类型、数量、采集时间、检测项目），确认无误后登记。登记可采用电子系统和纸质记录双份保存，记录接收时间、接收人、样本状态。</a:t>
            </a:r>
          </a:p>
          <a:p>
            <a:r>
              <a:t>不合格样本包括：没有标签或标签不清、样本与申请单不相符、容器破损或渗漏、样本量或保存条件明显不符合要求等。不合格样本拒收，或单独隔离存放，登记原因，联系送检方确认处理方式。</a:t>
            </a:r>
          </a:p>
          <a:p>
            <a:r>
              <a:t>不要自己猜测“大概是哪一管”就继续检测：标识错误既可能让结果张冠李戴，也可能让高风险样本按低风险处理。</a:t>
            </a:r>
          </a:p>
        </p:txBody>
      </p:sp>
      <p:sp>
        <p:nvSpPr>
          <p:cNvPr id="4" name="Slide Number Placeholder 3"/>
          <p:cNvSpPr>
            <a:spLocks noGrp="1"/>
          </p:cNvSpPr>
          <p:nvPr>
            <p:ph type="sldNum" idx="5" sz="quarter"/>
          </p:nvPr>
        </p:nvSpPr>
        <p:spPr/>
      </p:sp>
    </p:spTree>
  </p:cSld>
  <p:clrMapOvr>
    <a:masterClrMapping/>
  </p:clrMapOvr>
</p:notes>
</file>

<file path=ppt/notesSlides/notesSlide4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病人的健康信息属于敏感个人信息，受《中华人民共和国个人信息保护法》保护。样本登记后，用实验室编号代替病人姓名，样本管和工作记录上只写编号。</a:t>
            </a:r>
          </a:p>
          <a:p>
            <a:r>
              <a:t>编号与病人身份的对照表由专人保管：纸质记录锁在柜里，电子数据存放在有访问控制的安全服务器上，不存在个人电脑、手机或公共网盘里。检测结果和病人信息不外传，不拍摄样本管、申请单和屏幕。</a:t>
            </a:r>
          </a:p>
          <a:p>
            <a:r>
              <a:t>样本需要留存时，在库存系统中登记位置（见 K19）。临床样本用于科学研究，须按规定通过伦理审查、取得知情同意，涉及人类遗传资源的按《中华人民共和国人类遗传资源管理条例》（以现行文本为准）办理（见第 083 课）。</a:t>
            </a:r>
          </a:p>
        </p:txBody>
      </p:sp>
      <p:sp>
        <p:nvSpPr>
          <p:cNvPr id="4" name="Slide Number Placeholder 3"/>
          <p:cNvSpPr>
            <a:spLocks noGrp="1"/>
          </p:cNvSpPr>
          <p:nvPr>
            <p:ph type="sldNum" idx="5" sz="quarter"/>
          </p:nvPr>
        </p:nvSpPr>
        <p:spPr/>
      </p:sp>
    </p:spTree>
  </p:cSld>
  <p:clrMapOvr>
    <a:masterClrMapping/>
  </p:clrMapOvr>
</p:notes>
</file>

<file path=ppt/notesSlides/notesSlide4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打开临床样本管必须在生物安全柜内进行，穿好实验服或隔离衣、手套等防护，照操作规程一步步做（生物安全柜的使用见第 072 课）。不能在开放的台面上开管。</a:t>
            </a:r>
          </a:p>
          <a:p>
            <a:r>
              <a:t>开盖前先让样本管在架子上静置一会儿，让管盖内侧和管壁上的液体回落。开盖时用沾了消毒液的纸巾或纱布包住管盖，慢慢拧开，不猛拔、不甩管；管盖内侧朝下放在吸水垫上或拿在手中，避免污染。</a:t>
            </a:r>
          </a:p>
          <a:p>
            <a:r>
              <a:t>甩管、猛拔管盖、在管口快速吹打，都会把样本溅出或形成气溶胶。操作完把管盖拧紧，外壁消毒。</a:t>
            </a:r>
          </a:p>
        </p:txBody>
      </p:sp>
      <p:sp>
        <p:nvSpPr>
          <p:cNvPr id="4" name="Slide Number Placeholder 3"/>
          <p:cNvSpPr>
            <a:spLocks noGrp="1"/>
          </p:cNvSpPr>
          <p:nvPr>
            <p:ph type="sldNum" idx="5" sz="quarter"/>
          </p:nvPr>
        </p:nvSpPr>
        <p:spPr/>
      </p:sp>
    </p:spTree>
  </p:cSld>
  <p:clrMapOvr>
    <a:masterClrMapping/>
  </p:clrMapOvr>
</p:notes>
</file>

<file path=ppt/notesSlides/notesSlide4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临床样本的检测主要有四类：一是分离培养，把样本中的病原分离出来；二是血清学检测，看抗原抗体反应；三是核酸检测，提取核酸后扩增检测；四是显微镜检查。不同检测的风险不同，培养风险最高（见 K11）。</a:t>
            </a:r>
          </a:p>
          <a:p>
            <a:r>
              <a:t>血清学检测常要离心分离血清。离心感染性样本用带密封盖的离心杯或密封转子，停稳后静置一段时间，再把离心杯拿到生物安全柜内打开（离心机见第 121 课，离心管破裂处置见第 078 课）。</a:t>
            </a:r>
          </a:p>
          <a:p>
            <a:r>
              <a:t>各项检测在哪一级实验室做，按《人间传染的病原微生物目录》（以现行版本为准）和风险评估确定，一般在二级或三级生物安全实验室；涉及高致病性病原微生物的，必须在相应级别的实验室内并经批准。学生未经培训、授权，不得参与这类工作。</a:t>
            </a:r>
          </a:p>
        </p:txBody>
      </p:sp>
      <p:sp>
        <p:nvSpPr>
          <p:cNvPr id="4" name="Slide Number Placeholder 3"/>
          <p:cNvSpPr>
            <a:spLocks noGrp="1"/>
          </p:cNvSpPr>
          <p:nvPr>
            <p:ph type="sldNum" idx="5" sz="quarter"/>
          </p:nvPr>
        </p:nvSpPr>
        <p:spPr/>
      </p:sp>
    </p:spTree>
  </p:cSld>
  <p:clrMapOvr>
    <a:masterClrMapping/>
  </p:clrMapOvr>
</p:notes>
</file>

<file path=ppt/notesSlides/notesSlide4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样本进了实验室，大体分两条路：一条是要分离培养病原的，一条是直接做核酸等检测的。两条路的风险不同，国内病原目录也对“病原培养”和“未经培养的感染材料操作”“灭活材料操作”分别规定了所需的实验室级别。</a:t>
            </a:r>
          </a:p>
          <a:p>
            <a:r>
              <a:t>要培养的样本，病原会在培养中大量增加，浓度远高于原始样本，必须按活培养物评估，采取最严格的防护。培养出的纯培养物，按其病原的危害程度重新评估：有的会形成芽孢、耐受消毒，有的可经气溶胶传播，控制措施（实验室级别、消毒方法、个人防护）要选得恰当。</a:t>
            </a:r>
          </a:p>
          <a:p>
            <a:r>
              <a:t>怀疑含有高致病性病原微生物的样本，不得擅自培养：立即停止相关操作，报告实验室负责人，按国家规定和本校程序处理，须在相应级别的实验室并经批准才能开展。</a:t>
            </a:r>
          </a:p>
        </p:txBody>
      </p:sp>
      <p:sp>
        <p:nvSpPr>
          <p:cNvPr id="4" name="Slide Number Placeholder 3"/>
          <p:cNvSpPr>
            <a:spLocks noGrp="1"/>
          </p:cNvSpPr>
          <p:nvPr>
            <p:ph type="sldNum" idx="5" sz="quarter"/>
          </p:nvPr>
        </p:nvSpPr>
        <p:spPr/>
      </p:sp>
    </p:spTree>
  </p:cSld>
  <p:clrMapOvr>
    <a:masterClrMapping/>
  </p:clrMapOvr>
</p:notes>
</file>

<file path=ppt/notesSlides/notesSlide4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做核酸检测的样本，开管后先灭活，让病原失去感染力，再往下做提取。怎么灭活（加热、化学裂解等），按该病原的操作规程和试剂说明书进行；原片中的具体条件是当时的做法，以现行规定和试剂说明书为准。</a:t>
            </a:r>
          </a:p>
          <a:p>
            <a:r>
              <a:t>灭活方法既要可靠地灭活病原，又要保住要检测的核酸等成分。灭活方法须经过验证、确认有效；灭活后的样本贴上明显的“已灭活”标识，容器外壁消毒，确认后才能移出生物安全柜。没有确认灭活的，不能拿出柜外。</a:t>
            </a:r>
          </a:p>
          <a:p>
            <a:r>
              <a:t>具体怎么做，取决于处理的是什么生物因子。把每一步写进本实验室的样本处理方案（标准操作规程），连同每个操作步骤本身的风险（开管、加样、加热、离心）一起评估。</a:t>
            </a:r>
          </a:p>
        </p:txBody>
      </p:sp>
      <p:sp>
        <p:nvSpPr>
          <p:cNvPr id="4" name="Slide Number Placeholder 3"/>
          <p:cNvSpPr>
            <a:spLocks noGrp="1"/>
          </p:cNvSpPr>
          <p:nvPr>
            <p:ph type="sldNum" idx="5" sz="quarter"/>
          </p:nvPr>
        </p:nvSpPr>
        <p:spPr/>
      </p:sp>
    </p:spTree>
  </p:cSld>
  <p:clrMapOvr>
    <a:masterClrMapping/>
  </p:clrMapOvr>
</p:notes>
</file>

<file path=ppt/notesSlides/notesSlide4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提取病毒核酸已是常规工作，但同样必须遵守生物安全规程，在相应级别的实验室进行。灭活后的核酸提取也在生物安全柜内操作，开管、加样产生的气溶胶留在柜内。</a:t>
            </a:r>
          </a:p>
          <a:p>
            <a:r>
              <a:t>手工提取步骤中常有离心，会产生气溶胶；离心要用密封离心杯，停稳静置后在柜内打开。使用自动化核酸提取仪，能减少手工开盖、离心等步骤，降低气溶胶风险（见 K14、K15）。</a:t>
            </a:r>
          </a:p>
          <a:p>
            <a:r>
              <a:t>提取出的纯核酸本身风险很小，但提取前的样本和过程中的废液、耗材仍按感染性材料处理。很多病毒的遗传物质是 RNA，要用 RNA 提取试剂盒；RNA 很不稳定，放久了会降解，样本到了最好尽快处理，提取完马上放到冰上或按要求冻存。</a:t>
            </a:r>
          </a:p>
        </p:txBody>
      </p:sp>
      <p:sp>
        <p:nvSpPr>
          <p:cNvPr id="4" name="Slide Number Placeholder 3"/>
          <p:cNvSpPr>
            <a:spLocks noGrp="1"/>
          </p:cNvSpPr>
          <p:nvPr>
            <p:ph type="sldNum" idx="5" sz="quarter"/>
          </p:nvPr>
        </p:nvSpPr>
        <p:spPr/>
      </p:sp>
    </p:spTree>
  </p:cSld>
  <p:clrMapOvr>
    <a:masterClrMapping/>
  </p:clrMapOvr>
</p:notes>
</file>

<file path=ppt/notesSlides/notesSlide4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卡盒式自动核酸提取仪使用预先封装好试剂的卡盒（样本板），裂解、磁珠捕获、洗涤和洗脱全过程都在机器内完成，减少手工操作和气溶胶。不同仪器的卡盒规格（每排孔数、排数、一次可放几块）不同，以说明书为准。</a:t>
            </a:r>
          </a:p>
          <a:p>
            <a:r>
              <a:t>主要部件：卡盒上有样本孔、预封装的试剂孔和最后一排收集提取物的孔；配套的磁力板可把磁珠吸到孔底，便于吸出上清；打开前门可看到上方的一排磁棒和下方的加热块；配套耗材还有专用条（磁棒套）和校准板。开机后一般有“提取”和“消毒”（如紫外照射）等功能。</a:t>
            </a:r>
          </a:p>
          <a:p>
            <a:r>
              <a:t>校准由厂方或经培训的专业人员进行，学生不要自行拆装、校准。教学演示可以在实验室外用空耗材进行，真正处理样本时，必须在相应级别的实验室内、经培训授权后操作。</a:t>
            </a:r>
          </a:p>
        </p:txBody>
      </p:sp>
      <p:sp>
        <p:nvSpPr>
          <p:cNvPr id="4" name="Slide Number Placeholder 3"/>
          <p:cNvSpPr>
            <a:spLocks noGrp="1"/>
          </p:cNvSpPr>
          <p:nvPr>
            <p:ph type="sldNum" idx="5" sz="quarter"/>
          </p:nvPr>
        </p:nvSpPr>
        <p:spPr/>
      </p:sp>
    </p:spTree>
  </p:cSld>
  <p:clrMapOvr>
    <a:masterClrMapping/>
  </p:clrMapOvr>
</p:notes>
</file>

<file path=ppt/notesSlides/notesSlide4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操作顺序：先把专用条装进各自的卡槽，每一条都锁紧；在生物安全柜内把样本加入样本孔，试剂孔预先用膜封好（运输时不洒），用时再撕膜；加好样后，把整块样本板平稳推进仪器。</a:t>
            </a:r>
          </a:p>
          <a:p>
            <a:r>
              <a:t>在屏幕上先点“提取”，再选程序，看到选中标记（如绿色对勾）才算选上；然后选择与样本类型对应的试剂盒程序。程序或试剂盒选错，提取就白做了。装了几块卡盒，就打开几块加热块，未用的保持关闭（界面上一般显示为灰色）。</a:t>
            </a:r>
          </a:p>
          <a:p>
            <a:r>
              <a:t>仪器上贴有警示标签：启动前再确认卡盒、专用条放平、放到位，放歪会撞坏磁棒、洒出样本。确认后点“开始”，仪器自动完成裂解、磁珠捕获和洗脱，一批十几分钟到数十分钟（以程序为准）。运行中不要打开前门；完成后在柜内取出提取物，用过的卡盒按感染性废物处置，按说明书对仪器进行消毒。</a:t>
            </a:r>
          </a:p>
        </p:txBody>
      </p:sp>
      <p:sp>
        <p:nvSpPr>
          <p:cNvPr id="4" name="Slide Number Placeholder 3"/>
          <p:cNvSpPr>
            <a:spLocks noGrp="1"/>
          </p:cNvSpPr>
          <p:nvPr>
            <p:ph type="sldNum" idx="5" sz="quarter"/>
          </p:nvPr>
        </p:nvSpPr>
        <p:spPr/>
      </p:sp>
    </p:spTree>
  </p:cSld>
  <p:clrMapOvr>
    <a:masterClrMapping/>
  </p:clrMapOvr>
</p:notes>
</file>

<file path=ppt/notesSlides/notesSlide4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提取好的核酸上荧光定量 PCR 仪检测，判断样本里有没有目标病原。仪器会给出扩增曲线，告诉我们目标是否存在。</a:t>
            </a:r>
          </a:p>
          <a:p>
            <a:r>
              <a:t>RNA 病毒的检测先用逆转录酶把 RNA 转成 cDNA，再一边扩增一边读取荧光信号。检测试剂盒的引物和探针专门对准病原的几段关键基因，多个靶标同时检测可提高可靠性；不同基因在样本中的拷贝数可能不同，判读结果时要按试剂盒说明书的判定规则综合考虑。</a:t>
            </a:r>
          </a:p>
          <a:p>
            <a:r>
              <a:t>整个流程可以概括为三步：灭活 → 提取核酸 → 逆转录加定量 PCR。加样、封板在相应分区内完成，扩增后的反应管不要随意打开，防止扩增产物污染（见 K17）。</a:t>
            </a:r>
          </a:p>
        </p:txBody>
      </p:sp>
      <p:sp>
        <p:nvSpPr>
          <p:cNvPr id="4" name="Slide Number Placeholder 3"/>
          <p:cNvSpPr>
            <a:spLocks noGrp="1"/>
          </p:cNvSpPr>
          <p:nvPr>
            <p:ph type="sldNum" idx="5" sz="quarter"/>
          </p:nvPr>
        </p:nvSpPr>
        <p:spPr/>
      </p:sp>
    </p:spTree>
  </p:cSld>
  <p:clrMapOvr>
    <a:masterClrMapping/>
  </p:clrMapOvr>
</p:notes>
</file>

<file path=ppt/notesSlides/notesSlide4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开展核酸扩增检测的实验室，按《医疗机构临床基因扩增检验实验室管理办法》（以现行文本为准）等要求分区，一般包括试剂准备区、样本制备区、扩增区和扩增产物分析区（具体分区以本实验室设计和规定为准），样本制备区按生物安全要求配备生物安全柜。</a:t>
            </a:r>
          </a:p>
          <a:p>
            <a:r>
              <a:t>人员和物品按“试剂准备 → 样本制备 → 扩增 → 分析”的方向单向流动，不走回头路；各区的工作服、移液器、耗材和记录用品专区专用，不混用、不带出。</a:t>
            </a:r>
          </a:p>
          <a:p>
            <a:r>
              <a:t>分区和单向流动的目的有两个：防止扩增产物和样本交叉污染造成假阳性，也防止感染性样本的污染扩散到其他区域，保护人员。</a:t>
            </a:r>
          </a:p>
        </p:txBody>
      </p:sp>
      <p:sp>
        <p:nvSpPr>
          <p:cNvPr id="4" name="Slide Number Placeholder 3"/>
          <p:cNvSpPr>
            <a:spLocks noGrp="1"/>
          </p:cNvSpPr>
          <p:nvPr>
            <p:ph type="sldNum" idx="5" sz="quarter"/>
          </p:nvPr>
        </p:nvSpPr>
        <p:spPr/>
      </p:sp>
    </p:spTree>
  </p:cSld>
  <p:clrMapOvr>
    <a:masterClrMapping/>
  </p:clrMapOvr>
</p:notes>
</file>

<file path=ppt/notesSlides/notesSlide4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检测中出现阳性结果，特别是涉及法定传染病或高致病性病原微生物的，要按《中华人民共和国传染病防治法》等国家规定和本校程序及时报告：先报告实验室负责人，由负责人按程序报学院和学校主管部门，需要向卫生健康主管部门或疾病预防控制机构报告的，按规定执行（以现行规定为准）。</a:t>
            </a:r>
          </a:p>
          <a:p>
            <a:r>
              <a:t>阳性样本单独、加锁保存，按要求移交指定机构或按规定销毁，交接有记录。用完的样本和耗材按感染性废物处置（见第 077 课）。</a:t>
            </a:r>
          </a:p>
          <a:p>
            <a:r>
              <a:t>阳性结果和病人信息只按规定渠道报告，不私下传播、不发到社交网络。原片中的报告要求是当时的做法，以现行规定为准。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4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有的样本做完检测还要留着以后再分析。留存的样本按要求的条件（温度、容器、标识）存放在指定的冰箱或冻存设备中，设备上锁，专人管理。</a:t>
            </a:r>
          </a:p>
          <a:p>
            <a:r>
              <a:t>建立样本库存：每一管的编号、位置、数量、存入和取用记录都清楚，任何一管都能追溯到来源和去向；定期盘点，账物相符。</a:t>
            </a:r>
          </a:p>
          <a:p>
            <a:r>
              <a:t>不再保留的样本按规定销毁：按感染性废物先灭菌再处置（见第 077 课），不能随手扔进普通垃圾桶或倒入下水道。销毁要登记数量、方式、时间和经手人。毕业或离组时，个人保管的样本要清点交接（见第 007 课）。</a:t>
            </a:r>
          </a:p>
        </p:txBody>
      </p:sp>
      <p:sp>
        <p:nvSpPr>
          <p:cNvPr id="4" name="Slide Number Placeholder 3"/>
          <p:cNvSpPr>
            <a:spLocks noGrp="1"/>
          </p:cNvSpPr>
          <p:nvPr>
            <p:ph type="sldNum" idx="5" sz="quarter"/>
          </p:nvPr>
        </p:nvSpPr>
        <p:spPr/>
      </p:sp>
    </p:spTree>
  </p:cSld>
  <p:clrMapOvr>
    <a:masterClrMapping/>
  </p:clrMapOvr>
</p:notes>
</file>

<file path=ppt/notesSlides/notesSlide4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答案：B。解析：病人样本可能含多种病原，且有无症状携带，一律按有传染性对待。</a:t>
            </a:r>
          </a:p>
          <a:p>
            <a:r>
              <a:t>第 2 题 答案：B。解析：漏了别硬拆，用防漏袋封好，报告负责人，按溢洒规程处理并通知送样方。</a:t>
            </a:r>
          </a:p>
        </p:txBody>
      </p:sp>
      <p:sp>
        <p:nvSpPr>
          <p:cNvPr id="4" name="Slide Number Placeholder 3"/>
          <p:cNvSpPr>
            <a:spLocks noGrp="1"/>
          </p:cNvSpPr>
          <p:nvPr>
            <p:ph type="sldNum" idx="5" sz="quarter"/>
          </p:nvPr>
        </p:nvSpPr>
        <p:spPr/>
      </p:sp>
    </p:spTree>
  </p:cSld>
  <p:clrMapOvr>
    <a:masterClrMapping/>
  </p:clrMapOvr>
</p:notes>
</file>

<file path=ppt/notesSlides/notesSlide4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答案：B。解析：不合格样本拒收或隔离并登记，不能自己猜着做。</a:t>
            </a:r>
          </a:p>
          <a:p>
            <a:r>
              <a:t>第 4 题 答案：B。解析：柜内开管、先灭活、确认后出柜；核酸检测分区单向流动。</a:t>
            </a:r>
          </a:p>
        </p:txBody>
      </p:sp>
      <p:sp>
        <p:nvSpPr>
          <p:cNvPr id="4" name="Slide Number Placeholder 3"/>
          <p:cNvSpPr>
            <a:spLocks noGrp="1"/>
          </p:cNvSpPr>
          <p:nvPr>
            <p:ph type="sldNum" idx="5" sz="quarter"/>
          </p:nvPr>
        </p:nvSpPr>
        <p:spPr/>
      </p:sp>
    </p:spTree>
  </p:cSld>
  <p:clrMapOvr>
    <a:masterClrMapping/>
  </p:clrMapOvr>
</p:notes>
</file>

<file path=ppt/notesSlides/notesSlide4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答案：B。解析：疑似高致病样本不得擅自培养，立即报告，须在相应级别实验室并经批准才能开展。</a:t>
            </a:r>
          </a:p>
          <a:p>
            <a:r>
              <a:t>第 6 题 答案：病人健康信息属敏感个人信息，用编号代替姓名，对照表锁好专人保管，电子数据放安全服务器，不外传不拍照；要留存的样本按条件存放、设备上锁、建立库存可追溯，不留的按感染性废物灭菌处置，数量和去向登记，账物相符。解析：保护患者隐私，样本全程可追溯。</a:t>
            </a:r>
          </a:p>
        </p:txBody>
      </p:sp>
      <p:sp>
        <p:nvSpPr>
          <p:cNvPr id="4" name="Slide Number Placeholder 3"/>
          <p:cNvSpPr>
            <a:spLocks noGrp="1"/>
          </p:cNvSpPr>
          <p:nvPr>
            <p:ph type="sldNum" idx="5" sz="quarter"/>
          </p:nvPr>
        </p:nvSpPr>
        <p:spPr/>
      </p:sp>
    </p:spTree>
  </p:cSld>
  <p:clrMapOvr>
    <a:masterClrMapping/>
  </p:clrMapOvr>
</p:notes>
</file>

<file path=ppt/notesSlides/notesSlide4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运输微生物和生物样本是很多领域的日常需要，归纳起来主要有七类用途：一是科研，研究微生物的特性、行为和相互作用，包括课题组之间共享菌株、重复实验和开发新药、抗生素、益生菌等新产品；二是医疗诊断，样本送去检验鉴定；三是疫苗研发和生产，毒株只能送到有资质的单位；四是传染病防控研究，送到专门的实验室研究治疗和预防措施；五是菌种保藏，存入菌种保藏中心长期保存，以及从不同生态环境采集微生物开展生物多样性研究；六是教学，教学菌株送到学校和培训中心，工作坊和会议也会用到菌株演示；七是质量保证和法规检测，监测微生物污染、开展检测认证。</a:t>
            </a:r>
          </a:p>
          <a:p>
            <a:r>
              <a:t>运输推动了科研、医疗和环境保护，但运输途中一旦破损泄漏，会威胁运送人员、公众和环境。所以规范运输有两个目标：保住样本的活性和完整，也保住人和环境的安全。</a:t>
            </a:r>
          </a:p>
        </p:txBody>
      </p:sp>
      <p:sp>
        <p:nvSpPr>
          <p:cNvPr id="4" name="Slide Number Placeholder 3"/>
          <p:cNvSpPr>
            <a:spLocks noGrp="1"/>
          </p:cNvSpPr>
          <p:nvPr>
            <p:ph type="sldNum" idx="5" sz="quarter"/>
          </p:nvPr>
        </p:nvSpPr>
        <p:spPr/>
      </p:sp>
    </p:spTree>
  </p:cSld>
  <p:clrMapOvr>
    <a:masterClrMapping/>
  </p:clrMapOvr>
</p:notes>
</file>

<file path=ppt/notesSlides/notesSlide4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国内病原微生物分类第一类危害最大、第四类最低，与国际风险组 1 组最低、4 组最高的方向正好相反（见第 058 课）。第一类、第二类病原微生物属于高致病性病原微生物。</a:t>
            </a:r>
          </a:p>
          <a:p>
            <a:r>
              <a:t>运输高致病性病原微生物菌（毒）种或样本，必须按《病原微生物实验室生物安全管理条例》和《可感染人类的高致病性病原微生物菌（毒）种或样本运输管理规定》（以现行文本为准）事先报卫生健康主管部门批准（审批部门按省内、跨省等情况不同，以现行规定为准），使用符合要求的专用包装。</a:t>
            </a:r>
          </a:p>
          <a:p>
            <a:r>
              <a:t>运输时由专人护送（护送人数按规定），不得通过公共电（汽）车和城市铁路等公共交通工具运输；出发、到达都要登记交接，全程留痕，发生被盗、被抢、丢失、泄漏的，立即按规定报告。学生不得自行组织这类运输。</a:t>
            </a:r>
          </a:p>
        </p:txBody>
      </p:sp>
      <p:sp>
        <p:nvSpPr>
          <p:cNvPr id="4" name="Slide Number Placeholder 3"/>
          <p:cNvSpPr>
            <a:spLocks noGrp="1"/>
          </p:cNvSpPr>
          <p:nvPr>
            <p:ph type="sldNum" idx="5" sz="quarter"/>
          </p:nvPr>
        </p:nvSpPr>
        <p:spPr/>
      </p:sp>
    </p:spTree>
  </p:cSld>
  <p:clrMapOvr>
    <a:masterClrMapping/>
  </p:clrMapOvr>
</p:notes>
</file>

<file path=ppt/notesSlides/notesSlide4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运输感染性物质和临床样本，按三层包装原则包装，目的是防破损、防泄漏、防暴露：</a:t>
            </a:r>
          </a:p>
          <a:p>
            <a:r>
              <a:t>第一层是主容器：装样本的容器本身，防水、防漏、密封，盖子拧紧并可加封口膜，尽量用塑料管而不是玻璃管。主容器外面裹足吸收材料（吸水纸、吸水垫等），量要足够吸收主容器内的全部液体，万一漏了能吸干（具体要求以现行规定为准）。</a:t>
            </a:r>
          </a:p>
          <a:p>
            <a:r>
              <a:t>第二层是辅助容器：防水、防漏的密封袋或密封罐，把主容器和吸收材料一起装进去，袋口封好或用扎带锁紧；多个主容器分别包裹，防止相互碰撞。</a:t>
            </a:r>
          </a:p>
          <a:p>
            <a:r>
              <a:t>第三层是外包装：坚固防撞的硬质箱子，贴清标签和标志。样本清单、申请单等文件放在辅助容器和外包装之间，开箱前就能核对，不必打开辅助容器。箱内附上溢洒处理说明和联系人电话，标签要让接手的人看得懂。一层漏了，还有两层挡着。</a:t>
            </a:r>
          </a:p>
        </p:txBody>
      </p:sp>
      <p:sp>
        <p:nvSpPr>
          <p:cNvPr id="4" name="Slide Number Placeholder 3"/>
          <p:cNvSpPr>
            <a:spLocks noGrp="1"/>
          </p:cNvSpPr>
          <p:nvPr>
            <p:ph type="sldNum" idx="5" sz="quarter"/>
          </p:nvPr>
        </p:nvSpPr>
        <p:spPr/>
      </p:sp>
    </p:spTree>
  </p:cSld>
  <p:clrMapOvr>
    <a:masterClrMapping/>
  </p:clrMapOvr>
</p:notes>
</file>

<file path=ppt/notesSlides/notesSlide4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送检的样本管，管口可以包一小团纱布或其他吸收材料。这样做有两个好处：运输中管盖渗出的少量液体被吸住，接收方开管时滴下的液体也被它吸住。</a:t>
            </a:r>
          </a:p>
          <a:p>
            <a:r>
              <a:t>液体不沾到手套和手上，个人防护就不会被突破，也减少了在生物安全柜内的污染（开管方法见第 079 课）。用过的吸收材料按感染性废物处置。</a:t>
            </a:r>
          </a:p>
        </p:txBody>
      </p:sp>
      <p:sp>
        <p:nvSpPr>
          <p:cNvPr id="4" name="Slide Number Placeholder 3"/>
          <p:cNvSpPr>
            <a:spLocks noGrp="1"/>
          </p:cNvSpPr>
          <p:nvPr>
            <p:ph type="sldNum" idx="5" sz="quarter"/>
          </p:nvPr>
        </p:nvSpPr>
        <p:spPr/>
      </p:sp>
    </p:spTree>
  </p:cSld>
  <p:clrMapOvr>
    <a:masterClrMapping/>
  </p:clrMapOvr>
</p:notes>
</file>

<file path=ppt/notesSlides/notesSlide4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需要低温的样本，箱内配足冷却剂（冰袋、蓄冷剂或干冰），让样本在运输途中保持完好。不推荐用碎冰：碎冰融化后渗水，可能浸湿包装、冲出污染。冷却剂放在辅助容器外面，并固定好，冷却剂融化后辅助容器的位置也不能松动。</a:t>
            </a:r>
          </a:p>
          <a:p>
            <a:r>
              <a:t>用干冰时要特别注意：干冰升华产生大量二氧化碳气体，不能放进密封的容器里，否则会胀裂甚至爆裂；外包装要能让气体逸出。干冰按 GB 6944-2025（以现行文本为准）属于第 9 类杂项危险物质，外包装上要标明干冰及其数量，按危险货物运输的要求办理。</a:t>
            </a:r>
          </a:p>
          <a:p>
            <a:r>
              <a:t>搬运干冰戴隔热手套，防止冻伤；在通风良好的地方操作，不在密闭小空间或车厢内大量存放（干冰的危害见第 136 课）。液氮干式运输罐等其他低温运输方式按相应规定执行。</a:t>
            </a:r>
          </a:p>
        </p:txBody>
      </p:sp>
      <p:sp>
        <p:nvSpPr>
          <p:cNvPr id="4" name="Slide Number Placeholder 3"/>
          <p:cNvSpPr>
            <a:spLocks noGrp="1"/>
          </p:cNvSpPr>
          <p:nvPr>
            <p:ph type="sldNum" idx="5" sz="quarter"/>
          </p:nvPr>
        </p:nvSpPr>
        <p:spPr/>
      </p:sp>
    </p:spTree>
  </p:cSld>
  <p:clrMapOvr>
    <a:masterClrMapping/>
  </p:clrMapOvr>
</p:notes>
</file>

<file path=ppt/notesSlides/notesSlide4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运输时，感染性物质按国际通行的分类分为 A 类和 B 类。A 类是在运输中一旦暴露，可能使健康的人或动物造成永久性残疾或危及生命的感染性物质，包装和审批要求最严，国际联合国编号为 2814（可感染人）或 2900（仅感染动物）；B 类是不符合 A 类标准的感染性物质，如一般的诊断用临床样本，联合国编号为 3373。</a:t>
            </a:r>
          </a:p>
          <a:p>
            <a:r>
              <a:t>国内《人间传染的病原微生物目录》（以现行版本为准）对各病原的菌（毒）种和样本分别标注了运输包装分类（A 类或 B 类）。某种材料属于哪一类，查目录确定；不同类别的包装规格、标记和每件限量，以现行规定为准。</a:t>
            </a:r>
          </a:p>
          <a:p>
            <a:r>
              <a:t>GB 6944-2025（以现行文本为准）把感染性物质列为第 6 类第 2 项危险货物。不能判断类别的，按较高类别处理，并咨询单位生物安全负责人。</a:t>
            </a:r>
          </a:p>
        </p:txBody>
      </p:sp>
      <p:sp>
        <p:nvSpPr>
          <p:cNvPr id="4" name="Slide Number Placeholder 3"/>
          <p:cNvSpPr>
            <a:spLocks noGrp="1"/>
          </p:cNvSpPr>
          <p:nvPr>
            <p:ph type="sldNum" idx="5" sz="quarter"/>
          </p:nvPr>
        </p:nvSpPr>
        <p:spPr/>
      </p:sp>
    </p:spTree>
  </p:cSld>
  <p:clrMapOvr>
    <a:masterClrMapping/>
  </p:clrMapOvr>
</p:notes>
</file>

<file path=ppt/notesSlides/notesSlide4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生物危害标志（三叶状环形图形，式样以国家标准为准）在样本管、转运箱、废物袋、冰箱和实验室门上都常见到（安全标志见第 026 课）。运输包装外按规定贴生物危害标志和相应的感染性物质标记、警告用语、收发双方和联系人信息。</a:t>
            </a:r>
          </a:p>
          <a:p>
            <a:r>
              <a:t>包装和标签的准备在送样一方就要做好：样本管逐一贴清标签，不掉、不糊；包装封严实。标签清楚，保证样本不弄错、不失效；病人信息用编号代替，样本清单不写病人身份信息（见第 079 课）。</a:t>
            </a:r>
          </a:p>
          <a:p>
            <a:r>
              <a:t>送样一方把标签贴好、包装封严，路上的运送人员和接收方的实验人员都更安全。</a:t>
            </a:r>
          </a:p>
        </p:txBody>
      </p:sp>
      <p:sp>
        <p:nvSpPr>
          <p:cNvPr id="4" name="Slide Number Placeholder 3"/>
          <p:cNvSpPr>
            <a:spLocks noGrp="1"/>
          </p:cNvSpPr>
          <p:nvPr>
            <p:ph type="sldNum" idx="5" sz="quarter"/>
          </p:nvPr>
        </p:nvSpPr>
        <p:spPr/>
      </p:sp>
    </p:spTree>
  </p:cSld>
  <p:clrMapOvr>
    <a:masterClrMapping/>
  </p:clrMapOvr>
</p:notes>
</file>

<file path=ppt/notesSlides/notesSlide4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参与运输的人员——包装人员、司机、押运人员、物流公司人员——都要经过培训，知道箱里装的是什么、有什么风险、包装破损或泄漏时怎么处置、向谁报告。</a:t>
            </a:r>
          </a:p>
          <a:p>
            <a:r>
              <a:t>感染性物质和菌（毒）种要交给具备相应资质、能承运此类物品的单位运输，不能当普通快递寄送。委托运输前，由本单位样本管理人员确认承运方资质和包装要求。</a:t>
            </a:r>
          </a:p>
        </p:txBody>
      </p:sp>
      <p:sp>
        <p:nvSpPr>
          <p:cNvPr id="4" name="Slide Number Placeholder 3"/>
          <p:cNvSpPr>
            <a:spLocks noGrp="1"/>
          </p:cNvSpPr>
          <p:nvPr>
            <p:ph type="sldNum" idx="5" sz="quarter"/>
          </p:nvPr>
        </p:nvSpPr>
        <p:spPr/>
      </p:sp>
    </p:spTree>
  </p:cSld>
  <p:clrMapOvr>
    <a:masterClrMapping/>
  </p:clrMapOvr>
</p:notes>
</file>

<file path=ppt/notesSlides/notesSlide4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样本在楼内、实验室之间转运，同样要防洒防漏：不能手拿着开口或未密封的试管在走廊里走。样本管盖紧，插在试管架上，装进密闭、防漏、可消毒的转运箱，箱内垫吸水材料，万一洒了也不外漏；箱外贴生物危害标志。</a:t>
            </a:r>
          </a:p>
          <a:p>
            <a:r>
              <a:t>转运路线尽量避开人多的地方，不经过办公区、休息区，不在走廊和电梯里停留、乱放。用推车时慢行、放稳，物品出生物安全柜后直接送到目的地（如灭菌间），不在路上停留。</a:t>
            </a:r>
          </a:p>
          <a:p>
            <a:r>
              <a:t>一只手戴手套拿箱，另一只手不戴手套（或摘掉外层手套）用来开门、按电梯，避免把污染带到门把手和按钮上。高致病性样本的转运按本实验室规程执行。</a:t>
            </a:r>
          </a:p>
        </p:txBody>
      </p:sp>
      <p:sp>
        <p:nvSpPr>
          <p:cNvPr id="4" name="Slide Number Placeholder 3"/>
          <p:cNvSpPr>
            <a:spLocks noGrp="1"/>
          </p:cNvSpPr>
          <p:nvPr>
            <p:ph type="sldNum" idx="5" sz="quarter"/>
          </p:nvPr>
        </p:nvSpPr>
        <p:spPr/>
      </p:sp>
    </p:spTree>
  </p:cSld>
  <p:clrMapOvr>
    <a:masterClrMapping/>
  </p:clrMapOvr>
</p:notes>
</file>

<file path=ppt/notesSlides/notesSlide4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运输环节是生物材料最容易丢失、被盗或泄漏的环节之一，所以运输安全也是生物安保的一部分（见第 083 课）：包装牢固，交接有签收记录，路线和时间可追踪，做到不丢、不漏、账物相符。</a:t>
            </a:r>
          </a:p>
          <a:p>
            <a:r>
              <a:t>生物材料的运输和进出口规矩很多：包装、标识、运输方式都要符合国内规定。出入境的微生物、人体组织、生物制品、血液等属于特殊物品，须按《中华人民共和国国境卫生检疫法》等规定办理海关卫生检疫审批（以现行规定为准）；涉及人类遗传资源出境的，须依法审批（见第 083 课）；属于出口管制物项的，按出口管制规定办理。</a:t>
            </a:r>
          </a:p>
          <a:p>
            <a:r>
              <a:t>具体手续由单位样本管理和生物安全管理部门指导办理，个人不得擅自携带、邮寄生物材料出入境。</a:t>
            </a:r>
          </a:p>
        </p:txBody>
      </p:sp>
      <p:sp>
        <p:nvSpPr>
          <p:cNvPr id="4" name="Slide Number Placeholder 3"/>
          <p:cNvSpPr>
            <a:spLocks noGrp="1"/>
          </p:cNvSpPr>
          <p:nvPr>
            <p:ph type="sldNum" idx="5" sz="quarter"/>
          </p:nvPr>
        </p:nvSpPr>
        <p:spPr/>
      </p:sp>
    </p:spTree>
  </p:cSld>
  <p:clrMapOvr>
    <a:masterClrMapping/>
  </p:clrMapOvr>
</p:notes>
</file>

<file path=ppt/notesSlides/notesSlide4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学生不得用普通快递邮寄菌（毒）种和样本，也不能装进背包、口袋随身带出实验室或带到外校；不私下和同学、外单位人员交换菌株。</a:t>
            </a:r>
          </a:p>
          <a:p>
            <a:r>
              <a:t>需要向外单位提供或从外单位获取菌株的，先告诉导师和实验室负责人，由单位按规定登记、审批（必要时签订材料转移协议），按本课的包装要求，交有资质的单位运送；接收方要具备相应的实验室条件。</a:t>
            </a:r>
          </a:p>
          <a:p>
            <a:r>
              <a:t>这样做既是生物安全和生物安保的要求，也保证菌株来源清楚、去向可查。</a:t>
            </a:r>
          </a:p>
        </p:txBody>
      </p:sp>
      <p:sp>
        <p:nvSpPr>
          <p:cNvPr id="4" name="Slide Number Placeholder 3"/>
          <p:cNvSpPr>
            <a:spLocks noGrp="1"/>
          </p:cNvSpPr>
          <p:nvPr>
            <p:ph type="sldNum" idx="5" sz="quarter"/>
          </p:nvPr>
        </p:nvSpPr>
        <p:spPr/>
      </p:sp>
    </p:spTree>
  </p:cSld>
  <p:clrMapOvr>
    <a:masterClrMapping/>
  </p:clrMapOvr>
</p:notes>
</file>

<file path=ppt/notesSlides/notesSlide4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答案：B。解析：一层漏了还有两层；清单放在辅助容器外，开箱前就能核对。</a:t>
            </a:r>
          </a:p>
          <a:p>
            <a:r>
              <a:t>第 2 题 答案：B。解析：干冰升华产生大量气体，密封会胀裂；干冰放在辅助容器外，外包装能让气体逸出，并按第 9 类危险货物标明。</a:t>
            </a:r>
          </a:p>
        </p:txBody>
      </p:sp>
      <p:sp>
        <p:nvSpPr>
          <p:cNvPr id="4" name="Slide Number Placeholder 3"/>
          <p:cNvSpPr>
            <a:spLocks noGrp="1"/>
          </p:cNvSpPr>
          <p:nvPr>
            <p:ph type="sldNum" idx="5" sz="quarter"/>
          </p:nvPr>
        </p:nvSpPr>
        <p:spPr/>
      </p:sp>
    </p:spTree>
  </p:cSld>
  <p:clrMapOvr>
    <a:masterClrMapping/>
  </p:clrMapOvr>
</p:notes>
</file>

<file path=ppt/notesSlides/notesSlide4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答案：B。解析：须经批准、专人护送，不得通过公共交通工具运输。</a:t>
            </a:r>
          </a:p>
          <a:p>
            <a:r>
              <a:t>第 4 题 答案：B。解析：楼内转运也要插在架上、装进垫好吸水材料的密闭转运箱，箱外贴标志，避开人多处。</a:t>
            </a:r>
          </a:p>
        </p:txBody>
      </p:sp>
      <p:sp>
        <p:nvSpPr>
          <p:cNvPr id="4" name="Slide Number Placeholder 3"/>
          <p:cNvSpPr>
            <a:spLocks noGrp="1"/>
          </p:cNvSpPr>
          <p:nvPr>
            <p:ph type="sldNum" idx="5" sz="quarter"/>
          </p:nvPr>
        </p:nvSpPr>
        <p:spPr/>
      </p:sp>
    </p:spTree>
  </p:cSld>
  <p:clrMapOvr>
    <a:masterClrMapping/>
  </p:clrMapOvr>
</p:notes>
</file>

<file path=ppt/notesSlides/notesSlide4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答案：C。解析：学生不私带、不邮寄、不私下交换菌株。</a:t>
            </a:r>
          </a:p>
        </p:txBody>
      </p:sp>
      <p:sp>
        <p:nvSpPr>
          <p:cNvPr id="4" name="Slide Number Placeholder 3"/>
          <p:cNvSpPr>
            <a:spLocks noGrp="1"/>
          </p:cNvSpPr>
          <p:nvPr>
            <p:ph type="sldNum" idx="5" sz="quarter"/>
          </p:nvPr>
        </p:nvSpPr>
        <p:spPr/>
      </p:sp>
    </p:spTree>
  </p:cSld>
  <p:clrMapOvr>
    <a:masterClrMapping/>
  </p:clrMapOvr>
</p:notes>
</file>

<file path=ppt/notesSlides/notesSlide4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基因改造（基因工程）是一类生物技术：把一种生物的基因转入另一种生物，或对生物自身的基因进行改变。用重组 DNA 等技术改变了遗传物质的生物，就是转基因生物（基因工程生物、遗传修饰生物），包括转基因植物、动物和微生物（工程菌）。</a:t>
            </a:r>
          </a:p>
          <a:p>
            <a:r>
              <a:t>基因改变后，受体生物的生长发育、性状和它产生的蛋白质都可能随之改变，于是出现了新的植物和动物品种，也有了用于生产药物、处理污染的工程菌。</a:t>
            </a:r>
          </a:p>
          <a:p>
            <a:r>
              <a:t>正因为改变了生物本来的性状，转基因生物可能带来原来没有的风险，需要依法评估和管理。</a:t>
            </a:r>
          </a:p>
        </p:txBody>
      </p:sp>
      <p:sp>
        <p:nvSpPr>
          <p:cNvPr id="4" name="Slide Number Placeholder 3"/>
          <p:cNvSpPr>
            <a:spLocks noGrp="1"/>
          </p:cNvSpPr>
          <p:nvPr>
            <p:ph type="sldNum" idx="5" sz="quarter"/>
          </p:nvPr>
        </p:nvSpPr>
        <p:spPr/>
      </p:sp>
    </p:spTree>
  </p:cSld>
  <p:clrMapOvr>
    <a:masterClrMapping/>
  </p:clrMapOvr>
</p:notes>
</file>

<file path=ppt/notesSlides/notesSlide4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在我国，转基因和其他生物技术研究开发活动依法管理。《中华人民共和国生物安全法》对生物技术研究、开发和应用安全作了专门规定：研发活动按风险分为高风险、中风险、低风险三类，实行分类管理，开展前要进行风险评估，按规定取得批准或进行备案；设立单位和实验室负责人承担安全管理责任（具体要求以现行文本为准）。</a:t>
            </a:r>
          </a:p>
          <a:p>
            <a:r>
              <a:t>农业转基因生物（转基因植物、动物、微生物及其产品）按《农业转基因生物安全管理条例》（以现行文本为准）管理：依法进行安全评价，按安全等级分级管理，上市的产品按规定标识。涉及人间传染病原微生物的重组实验，同时按病原微生物实验室的规定管理。涉及重组或合成核酸的研究，生物安全管理和科研管理要一起把关。</a:t>
            </a:r>
          </a:p>
          <a:p>
            <a:r>
              <a:t>违反规定开展转基因研究，会被责令停止，还要承担法律责任。讨论转基因问题时，先了解国家的相关规定；新技术有好处，也要防风险、讲伦理。</a:t>
            </a:r>
          </a:p>
        </p:txBody>
      </p:sp>
      <p:sp>
        <p:nvSpPr>
          <p:cNvPr id="4" name="Slide Number Placeholder 3"/>
          <p:cNvSpPr>
            <a:spLocks noGrp="1"/>
          </p:cNvSpPr>
          <p:nvPr>
            <p:ph type="sldNum" idx="5" sz="quarter"/>
          </p:nvPr>
        </p:nvSpPr>
        <p:spPr/>
      </p:sp>
    </p:spTree>
  </p:cSld>
  <p:clrMapOvr>
    <a:masterClrMapping/>
  </p:clrMapOvr>
</p:notes>
</file>

<file path=ppt/notesSlides/notesSlide4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做重组 DNA、基因工程实验，立项前先做风险评估，主要评估：宿主（受体）生物是什么、有无致病性；载体的特性；目的基因的来源和功能；实验的操作方式、规模和可能的暴露途径。通用的风险评估方法见第 067 课。</a:t>
            </a:r>
          </a:p>
          <a:p>
            <a:r>
              <a:t>评估后按本校规定报单位生物安全委员会审核（生物安全委员会见第 070 课），按审核结论在相应级别的实验室开展；批了才能做，没批准不开工。实验方案有实质性修改（换宿主、换基因、扩大规模等），要重新报审。转化实验等教学实验也要按本校规定审批或备案。</a:t>
            </a:r>
          </a:p>
          <a:p>
            <a:r>
              <a:t>课程作业、竞赛项目写了方案，不等于可以动手去做。实验室负责人是本实验室生物安全的第一责任人，学生不得擅自开展重组和基因改造实验。</a:t>
            </a:r>
          </a:p>
        </p:txBody>
      </p:sp>
      <p:sp>
        <p:nvSpPr>
          <p:cNvPr id="4" name="Slide Number Placeholder 3"/>
          <p:cNvSpPr>
            <a:spLocks noGrp="1"/>
          </p:cNvSpPr>
          <p:nvPr>
            <p:ph type="sldNum" idx="5" sz="quarter"/>
          </p:nvPr>
        </p:nvSpPr>
        <p:spPr/>
      </p:sp>
    </p:spTree>
  </p:cSld>
  <p:clrMapOvr>
    <a:masterClrMapping/>
  </p:clrMapOvr>
</p:notes>
</file>

<file path=ppt/notesSlides/notesSlide4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按《农业转基因生物安全管理条例》（以现行文本为准），农业转基因生物的研究与试验分阶段管理，一般从实验研究到中间试验、环境释放、生产性试验逐步推进，进入下一阶段要按规定报告或审批；从实验室到温室再到田间，逐级批准。怎样申报，听实验室负责人和学校主管部门的安排。</a:t>
            </a:r>
          </a:p>
          <a:p>
            <a:r>
              <a:t>风险来自过程，而不只是存放：材料一旦种下、长大、开花结籽，或工程菌进入土壤和水体，扩散和影响的可能就升高。所以转基因生物走出封闭的实验室之前，必须先评估对环境和人的风险。</a:t>
            </a:r>
          </a:p>
          <a:p>
            <a:r>
              <a:t>用工程菌清理污染场地，本质上也是把菌放进环境。未经批准，任何转基因植物、动物、微生物一律不得私自种植、放养或环境释放；试验要一步步来，每一步按规定办理。植物封闭温室的要求见第 082 课。</a:t>
            </a:r>
          </a:p>
        </p:txBody>
      </p:sp>
      <p:sp>
        <p:nvSpPr>
          <p:cNvPr id="4" name="Slide Number Placeholder 3"/>
          <p:cNvSpPr>
            <a:spLocks noGrp="1"/>
          </p:cNvSpPr>
          <p:nvPr>
            <p:ph type="sldNum" idx="5" sz="quarter"/>
          </p:nvPr>
        </p:nvSpPr>
        <p:spPr/>
      </p:sp>
    </p:spTree>
  </p:cSld>
  <p:clrMapOvr>
    <a:masterClrMapping/>
  </p:clrMapOvr>
</p:notes>
</file>

<file path=ppt/notesSlides/notesSlide4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转基因生物按危险程度分为四类，判断时既看对个体的风险，也看对群体的风险（会不会扩散），看对人、动物、植物和生态环境的影响。国内农业转基因生物按《农业转基因生物安全管理条例》（以现行文本为准）分为安全等级 Ⅰ 至 Ⅳ（从尚不存在危险到高度危险）。</a:t>
            </a:r>
          </a:p>
          <a:p>
            <a:r>
              <a:t>一般而言：最低一类个体和群体风险都低，不会伤害人和动物、不影响植物和环境，常用的非致病实验室菌株属于这一类；第二类对个体有中等风险，但不易扩散、对环境影响小；第三类可能严重危害个体，扩散风险低到中等；最高一类个体和群体风险都高，还可能影响植物和环境。</a:t>
            </a:r>
          </a:p>
          <a:p>
            <a:r>
              <a:t>对应的防护措施也分为四级，级别越高，限制越严、设施越复杂。哪一类活动在几级实验室做，经风险评估并由生物安全委员会和主管部门审批确定（实验室防护等级见第 060 课）。</a:t>
            </a:r>
          </a:p>
        </p:txBody>
      </p:sp>
      <p:sp>
        <p:nvSpPr>
          <p:cNvPr id="4" name="Slide Number Placeholder 3"/>
          <p:cNvSpPr>
            <a:spLocks noGrp="1"/>
          </p:cNvSpPr>
          <p:nvPr>
            <p:ph type="sldNum" idx="5" sz="quarter"/>
          </p:nvPr>
        </p:nvSpPr>
        <p:spPr/>
      </p:sp>
    </p:spTree>
  </p:cSld>
  <p:clrMapOvr>
    <a:masterClrMapping/>
  </p:clrMapOvr>
</p:notes>
</file>

<file path=ppt/notesSlides/notesSlide4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转基因生物的风险评估有四个组成部分：先识别危害，再描述危害的特征，评估接触（暴露）的程度，最后描述风险的大小。</a:t>
            </a:r>
          </a:p>
          <a:p>
            <a:r>
              <a:t>具体做时分三步：找出可能带来不良影响的特性；评价每一项可能造成什么后果；估计每一项发生的可能性和由此得出的风险。</a:t>
            </a:r>
          </a:p>
          <a:p>
            <a:r>
              <a:t>通用的风险评估也可以按五步走：找出危害；想清谁会受害、怎么受害；评估风险并确定防护措施；把结果记录下来并照着执行；定期复查，情况变化时更新。两套说法思路一致（见第 067 课）。</a:t>
            </a:r>
          </a:p>
        </p:txBody>
      </p:sp>
      <p:sp>
        <p:nvSpPr>
          <p:cNvPr id="4" name="Slide Number Placeholder 3"/>
          <p:cNvSpPr>
            <a:spLocks noGrp="1"/>
          </p:cNvSpPr>
          <p:nvPr>
            <p:ph type="sldNum" idx="5" sz="quarter"/>
          </p:nvPr>
        </p:nvSpPr>
        <p:spPr/>
      </p:sp>
    </p:spTree>
  </p:cSld>
  <p:clrMapOvr>
    <a:masterClrMapping/>
  </p:clrMapOvr>
</p:notes>
</file>

<file path=ppt/notesSlides/notesSlide4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转基因生物进入应用（如上市）前的安全评价，要按体系做、综合考虑、一个一个逐案评价，不能一概而论。</a:t>
            </a:r>
          </a:p>
          <a:p>
            <a:r>
              <a:t>评价分两个阶段：第一阶段，把转基因生物和对应的非转基因品种比较，找出它们之间的差异；第二阶段，评价这些差异对环境、食品安全和营养各有多大影响。预期的差异和意外的差异都要看。</a:t>
            </a:r>
          </a:p>
          <a:p>
            <a:r>
              <a:t>评价时首先要说清这个生物：供体和受体各是什么生物，改了什么基因，这个基因起什么作用；然后评价环境安全和食品安全（见 K8）。国内的安全评价按《农业转基因生物安全管理条例》及配套规定进行（以现行文本为准）。</a:t>
            </a:r>
          </a:p>
        </p:txBody>
      </p:sp>
      <p:sp>
        <p:nvSpPr>
          <p:cNvPr id="4" name="Slide Number Placeholder 3"/>
          <p:cNvSpPr>
            <a:spLocks noGrp="1"/>
          </p:cNvSpPr>
          <p:nvPr>
            <p:ph type="sldNum" idx="5" sz="quarter"/>
          </p:nvPr>
        </p:nvSpPr>
        <p:spPr/>
      </p:sp>
    </p:spTree>
  </p:cSld>
  <p:clrMapOvr>
    <a:masterClrMapping/>
  </p:clrMapOvr>
</p:notes>
</file>

<file path=ppt/notesSlides/notesSlide4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环境安全评价看改造带来的预期和意外变化对生态环境的影响，常见的风险因素有：会不会使害虫或杂草产生抗性；会不会出现不良性状；对目标物种和人、动物健康有何影响；会不会伤害蜜蜂等非目标生物；基因会不会转移到其他物种（如野生近缘种）。</a:t>
            </a:r>
          </a:p>
          <a:p>
            <a:r>
              <a:t>工程菌在治理污染等方面有用，但放到野外可能打乱原有的生态平衡，所以必须考虑伦理，接受监管，未经批准不得释放（见 K4）。</a:t>
            </a:r>
          </a:p>
          <a:p>
            <a:r>
              <a:t>食品安全评价看：成分和营养是否改变，新表达的蛋白质有没有毒性、会不会致敏，加工后有没有变化，人们的食用量会不会改变，长期食用对营养的影响。</a:t>
            </a:r>
          </a:p>
        </p:txBody>
      </p:sp>
      <p:sp>
        <p:nvSpPr>
          <p:cNvPr id="4" name="Slide Number Placeholder 3"/>
          <p:cNvSpPr>
            <a:spLocks noGrp="1"/>
          </p:cNvSpPr>
          <p:nvPr>
            <p:ph type="sldNum" idx="5" sz="quarter"/>
          </p:nvPr>
        </p:nvSpPr>
        <p:spPr/>
      </p:sp>
    </p:spTree>
  </p:cSld>
  <p:clrMapOvr>
    <a:masterClrMapping/>
  </p:clrMapOvr>
</p:notes>
</file>

<file path=ppt/notesSlides/notesSlide4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风险分析要把风险和收益放在一起衡量：既问“安全吗”，也问“值得吗”；看对环境、人和动物健康的影响，并和普通品种对比。改造的生物不同，要问的问题也不同。</a:t>
            </a:r>
          </a:p>
          <a:p>
            <a:r>
              <a:t>一种教学用的风险矩阵模型用两个指数：风险指数看危害（真出问题时影响有多重）、暴露（土壤、动物、本地植物接触多少，暴露越多出问题的可能越大）和先例（以前发生过类似问题吗）；显著性指数看范围（危害会扩散多远）和可逆性（系统能不能恢复原样），还要结合在哪里种植、当地环境怎样。</a:t>
            </a:r>
          </a:p>
          <a:p>
            <a:r>
              <a:t>两个指数组合得出管控等级，从低到高大致为：不限制、需要监测、需要管理、需要限制、不建议。不易扩散、影响可逆的，监测可以少一些；容易扩散、不可逆的，要严加管控，两项都高的不建议推广。实际管理等级以国内安全评价和审批结论为准。</a:t>
            </a:r>
          </a:p>
        </p:txBody>
      </p:sp>
      <p:sp>
        <p:nvSpPr>
          <p:cNvPr id="4" name="Slide Number Placeholder 3"/>
          <p:cNvSpPr>
            <a:spLocks noGrp="1"/>
          </p:cNvSpPr>
          <p:nvPr>
            <p:ph type="sldNum" idx="5" sz="quarter"/>
          </p:nvPr>
        </p:nvSpPr>
        <p:spPr/>
      </p:sp>
    </p:spTree>
  </p:cSld>
  <p:clrMapOvr>
    <a:masterClrMapping/>
  </p:clrMapOvr>
</p:notes>
</file>

<file path=ppt/notesSlides/notesSlide4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实验室里的工程菌株、质粒和载体、转基因细胞和植物材料，都要标识清楚，登记在册（名称、来源、构建记录编号、保存位置、数量、责任人），专人保管，保存设备上锁。</a:t>
            </a:r>
          </a:p>
          <a:p>
            <a:r>
              <a:t>基因工程生物要关在实验室里：按风险评估的要求操作，必要时在生物安全柜内进行；废弃的培养物和材料灭活后按规定处置（见第 077 课），不得带出实验室，更不能向环境释放。离开实验室前脱手套、洗手。</a:t>
            </a:r>
          </a:p>
          <a:p>
            <a:r>
              <a:t>工程菌株和载体不能私下送人、带走或寄出；需要转移给其他课题组或外单位的，先报批，再按规定包装运输和交接（见第 080 课）。转基因幼苗等植物材料同样留在实验室，不带回宿舍、不随手丢弃。</a:t>
            </a:r>
          </a:p>
        </p:txBody>
      </p:sp>
      <p:sp>
        <p:nvSpPr>
          <p:cNvPr id="4" name="Slide Number Placeholder 3"/>
          <p:cNvSpPr>
            <a:spLocks noGrp="1"/>
          </p:cNvSpPr>
          <p:nvPr>
            <p:ph type="sldNum" idx="5" sz="quarter"/>
          </p:nvPr>
        </p:nvSpPr>
        <p:spPr/>
      </p:sp>
    </p:spTree>
  </p:cSld>
  <p:clrMapOvr>
    <a:masterClrMapping/>
  </p:clrMapOvr>
</p:notes>
</file>

<file path=ppt/notesSlides/notesSlide4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转基因动物也按风险评估确定的级别饲养和管理，在批准的动物设施中饲养，不得与普通动物混养，不得带出设施。</a:t>
            </a:r>
          </a:p>
          <a:p>
            <a:r>
              <a:t>防逃逸措施包括：动物房门口设防逃挡板，门禁随手关好；笼具完好、盖紧，笼卡标明品系、转基因信息、数量和责任人；每次操作前后清点数量并登记。</a:t>
            </a:r>
          </a:p>
          <a:p>
            <a:r>
              <a:t>发现动物逃逸或数量对不上，马上报告实验室负责人和动物设施管理人员，组织查找。死亡动物和废弃物按规定处置。实验动物的其他安全要求见第 084 课。</a:t>
            </a:r>
          </a:p>
        </p:txBody>
      </p:sp>
      <p:sp>
        <p:nvSpPr>
          <p:cNvPr id="4" name="Slide Number Placeholder 3"/>
          <p:cNvSpPr>
            <a:spLocks noGrp="1"/>
          </p:cNvSpPr>
          <p:nvPr>
            <p:ph type="sldNum" idx="5" sz="quarter"/>
          </p:nvPr>
        </p:nvSpPr>
        <p:spPr/>
      </p:sp>
    </p:spTree>
  </p:cSld>
  <p:clrMapOvr>
    <a:masterClrMapping/>
  </p:clrMapOvr>
</p:notes>
</file>

<file path=ppt/notesSlides/notesSlide4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转基因材料万一洒出、泄漏或丢失，先控制现场：提醒旁人，设置警示，不让污染扩散，按本实验室溢洒处置规程消毒清理（见第 078 课）。</a:t>
            </a:r>
          </a:p>
          <a:p>
            <a:r>
              <a:t>立即报告实验室负责人，再逐级报告学院和学校实验室安全、生物安全管理部门；可能已逸出到环境或丢失的，由学校按规定向主管部门报告。</a:t>
            </a:r>
          </a:p>
          <a:p>
            <a:r>
              <a:t>如实记录发生的时间、材料、数量、经过和处置措施，不隐瞒、不自行“处理掉了事”，事后复盘改进。</a:t>
            </a:r>
          </a:p>
        </p:txBody>
      </p:sp>
      <p:sp>
        <p:nvSpPr>
          <p:cNvPr id="4" name="Slide Number Placeholder 3"/>
          <p:cNvSpPr>
            <a:spLocks noGrp="1"/>
          </p:cNvSpPr>
          <p:nvPr>
            <p:ph type="sldNum" idx="5" sz="quarter"/>
          </p:nvPr>
        </p:nvSpPr>
        <p:spPr/>
      </p:sp>
    </p:spTree>
  </p:cSld>
  <p:clrMapOvr>
    <a:masterClrMapping/>
  </p:clrMapOvr>
</p:notes>
</file>

<file path=ppt/notesSlides/notesSlide4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合成生物学、基因编辑等新技术给研究带来了新可能，也带来新挑战：改造后的生物有的性状可以稳定遗传，有的是新引入的，风险往往难以事先完全预知。</a:t>
            </a:r>
          </a:p>
          <a:p>
            <a:r>
              <a:t>改造的未知风险像一座冰山，看得见的只是一小部分；原本良性的对象，经过改造也可能变成潜在的危害，或被用于不良目的。可能增强病原危害、具有两用性的研究，国际上普遍严格管控，在国内必须先评估，报主管部门审批（两用研究见第 083 课）。</a:t>
            </a:r>
          </a:p>
          <a:p>
            <a:r>
              <a:t>所以对这类研究要保持最高谨慎：先评估，经单位生物安全委员会和主管部门批准再做；学生参加竞赛和课外项目，同样遵守本课的审批和封闭要求。</a:t>
            </a:r>
          </a:p>
        </p:txBody>
      </p:sp>
      <p:sp>
        <p:nvSpPr>
          <p:cNvPr id="4" name="Slide Number Placeholder 3"/>
          <p:cNvSpPr>
            <a:spLocks noGrp="1"/>
          </p:cNvSpPr>
          <p:nvPr>
            <p:ph type="sldNum" idx="5" sz="quarter"/>
          </p:nvPr>
        </p:nvSpPr>
        <p:spPr/>
      </p:sp>
    </p:spTree>
  </p:cSld>
  <p:clrMapOvr>
    <a:masterClrMapping/>
  </p:clrMapOvr>
</p:notes>
</file>

<file path=ppt/notesSlides/notesSlide4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答案：B。解析：先评估、报委员会、批了才能做；作业写了方案不等于可以去做。</a:t>
            </a:r>
          </a:p>
          <a:p>
            <a:r>
              <a:t>第 2 题 答案：B。解析：该办法已废止，依据《中华人民共和国生物安全法》、《农业转基因生物安全管理条例》和单位生物安全委员会审查。</a:t>
            </a:r>
          </a:p>
        </p:txBody>
      </p:sp>
      <p:sp>
        <p:nvSpPr>
          <p:cNvPr id="4" name="Slide Number Placeholder 3"/>
          <p:cNvSpPr>
            <a:spLocks noGrp="1"/>
          </p:cNvSpPr>
          <p:nvPr>
            <p:ph type="sldNum" idx="5" sz="quarter"/>
          </p:nvPr>
        </p:nvSpPr>
        <p:spPr/>
      </p:sp>
    </p:spTree>
  </p:cSld>
  <p:clrMapOvr>
    <a:masterClrMapping/>
  </p:clrMapOvr>
</p:notes>
</file>

<file path=ppt/notesSlides/notesSlide4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答案：B。解析：转基因材料留在实验室；分阶段审批，未经批准不得环境释放。</a:t>
            </a:r>
          </a:p>
          <a:p>
            <a:r>
              <a:t>第 4 题 答案：B。解析：先比较找差异，再评价差异对环境、食品安全和营养的影响，预期和意外差异都要看。</a:t>
            </a:r>
          </a:p>
        </p:txBody>
      </p:sp>
      <p:sp>
        <p:nvSpPr>
          <p:cNvPr id="4" name="Slide Number Placeholder 3"/>
          <p:cNvSpPr>
            <a:spLocks noGrp="1"/>
          </p:cNvSpPr>
          <p:nvPr>
            <p:ph type="sldNum" idx="5" sz="quarter"/>
          </p:nvPr>
        </p:nvSpPr>
        <p:spPr/>
      </p:sp>
    </p:spTree>
  </p:cSld>
  <p:clrMapOvr>
    <a:masterClrMapping/>
  </p:clrMapOvr>
</p:notes>
</file>

<file path=ppt/notesSlides/notesSlide4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答案：马上报告实验室负责人和动物设施管理人员，组织查找，如实记录；平时门口放防逃挡板、门禁关好，笼卡标识，数量登记清楚。解析：防逃逸、做标识，发现逃逸立即报告。</a:t>
            </a:r>
          </a:p>
        </p:txBody>
      </p:sp>
      <p:sp>
        <p:nvSpPr>
          <p:cNvPr id="4" name="Slide Number Placeholder 3"/>
          <p:cNvSpPr>
            <a:spLocks noGrp="1"/>
          </p:cNvSpPr>
          <p:nvPr>
            <p:ph type="sldNum" idx="5" sz="quarter"/>
          </p:nvPr>
        </p:nvSpPr>
        <p:spPr/>
      </p:sp>
    </p:spTree>
  </p:cSld>
  <p:clrMapOvr>
    <a:masterClrMapping/>
  </p:clrMapOvr>
</p:notes>
</file>

<file path=ppt/notesSlides/notesSlide4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植物封闭，是把植物或种质材料放在封闭温室、植物生长室等设施里，与外界环境隔开；在确认它不带病原、害虫，不存在转基因材料扩散风险（或已经依法获得批准）之前，不得移出设施。</a:t>
            </a:r>
          </a:p>
          <a:p>
            <a:r>
              <a:t>封闭有两层：一层保护在里面工作的人（个人防护装备等），一层保护外面的环境（温室结构、防虫网、负压和废水处理等）。两层一起，才能把风险关在里面。</a:t>
            </a:r>
          </a:p>
          <a:p>
            <a:r>
              <a:t>封闭既是科学研究的需要（保证试验结果可靠、不被外界干扰），也是法律的要求。国内依据《中华人民共和国生物安全法》、《农业转基因生物安全管理条例》和植物检疫法规（均以现行文本为准）管理。</a:t>
            </a:r>
          </a:p>
        </p:txBody>
      </p:sp>
      <p:sp>
        <p:nvSpPr>
          <p:cNvPr id="4" name="Slide Number Placeholder 3"/>
          <p:cNvSpPr>
            <a:spLocks noGrp="1"/>
          </p:cNvSpPr>
          <p:nvPr>
            <p:ph type="sldNum" idx="5" sz="quarter"/>
          </p:nvPr>
        </p:nvSpPr>
        <p:spPr/>
      </p:sp>
    </p:spTree>
  </p:cSld>
  <p:clrMapOvr>
    <a:masterClrMapping/>
  </p:clrMapOvr>
</p:notes>
</file>

<file path=ppt/notesSlides/notesSlide4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原因一：从外地或国外引进的种子、苗木和其他植物材料，可能带着原产地的病菌和害虫。它们一旦传进本地，没有天敌或本地作物缺乏抗性，就可能大面积危害庄稼，造成严重损失。</a:t>
            </a:r>
          </a:p>
          <a:p>
            <a:r>
              <a:t>原因二：转基因植物不能从实验室直接种到田里。按《农业转基因生物安全管理条例》（以现行文本为准），转基因植物要先在封闭设施里研究，经安全评价、按阶段报告或审批后才能进入环境（分阶段管理和审批见第 081 课）。</a:t>
            </a:r>
          </a:p>
          <a:p>
            <a:r>
              <a:t>转基因植物的风险主要有：转基因随花粉或种子外逃，进入本地品种；抗虫等性状影响传粉昆虫等非目标生物，扰乱本地生态；材料被恶意利用（见第 083 课）；消费者和市场拒收带来经济影响。所以监管严格。封闭防止外逃，既保护环境和农户，也保护研究者的成果。转基因植物研究要严格遵守国家专门的管理规定。</a:t>
            </a:r>
          </a:p>
        </p:txBody>
      </p:sp>
      <p:sp>
        <p:nvSpPr>
          <p:cNvPr id="4" name="Slide Number Placeholder 3"/>
          <p:cNvSpPr>
            <a:spLocks noGrp="1"/>
          </p:cNvSpPr>
          <p:nvPr>
            <p:ph type="sldNum" idx="5" sz="quarter"/>
          </p:nvPr>
        </p:nvSpPr>
        <p:spPr/>
      </p:sp>
    </p:spTree>
  </p:cSld>
  <p:clrMapOvr>
    <a:masterClrMapping/>
  </p:clrMapOvr>
</p:notes>
</file>

<file path=ppt/notesSlides/notesSlide4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需要封闭的情形有五种：转基因植物；引进的植物材料（检疫观察期间）；离体培养的植物（组培苗）；控制育种试验；用病原或害虫做的抗性挑战试验。可见封闭不只为了转基因，后几种情形同样要防外来花粉进入、防病虫外逃。</a:t>
            </a:r>
          </a:p>
          <a:p>
            <a:r>
              <a:t>封闭的代价很高：要专门的设施和设备、专职的人手和持续的培训。所以要按需采用：本地常规品种、未做任何改造的材料，一般不需要封闭；新品种、引进品种、转基因材料等才需要。</a:t>
            </a:r>
          </a:p>
          <a:p>
            <a:r>
              <a:t>封闭到什么程度，由风险评估确定（风险评估方法见第 067 课），涉及转基因的按本校生物安全委员会的审查意见执行。</a:t>
            </a:r>
          </a:p>
        </p:txBody>
      </p:sp>
      <p:sp>
        <p:nvSpPr>
          <p:cNvPr id="4" name="Slide Number Placeholder 3"/>
          <p:cNvSpPr>
            <a:spLocks noGrp="1"/>
          </p:cNvSpPr>
          <p:nvPr>
            <p:ph type="sldNum" idx="5" sz="quarter"/>
          </p:nvPr>
        </p:nvSpPr>
        <p:spPr/>
      </p:sp>
    </p:spTree>
  </p:cSld>
  <p:clrMapOvr>
    <a:masterClrMapping/>
  </p:clrMapOvr>
</p:notes>
</file>

<file path=ppt/notesSlides/notesSlide4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植物生长室（人工气候室）是一个个独立的封闭小间，每间单独控制温度、湿度、光照，并带运行监测；按设计保持相对负压，空气向内流，花粉和小虫不容易跑出去（封闭和定向气流原理见第 062 课）。</a:t>
            </a:r>
          </a:p>
          <a:p>
            <a:r>
              <a:t>封闭温室的种植区占地并不大，但为它服务的空调、空气过滤、废水处理等辅助设施往往比温室本身大两三倍。辅助设备还包括加湿、照明和灌溉系统。</a:t>
            </a:r>
          </a:p>
          <a:p>
            <a:r>
              <a:t>封闭设施里不手工撒施肥料，而是由电脑控制，按设定的时间和用量把水和肥料泵进花盆，减少人员进出和溅洒。排出的水先经处理，再按规定排放，不直接排进沟渠。设施的运行和维护由专人负责，发现异常及时报告。</a:t>
            </a:r>
          </a:p>
        </p:txBody>
      </p:sp>
      <p:sp>
        <p:nvSpPr>
          <p:cNvPr id="4" name="Slide Number Placeholder 3"/>
          <p:cNvSpPr>
            <a:spLocks noGrp="1"/>
          </p:cNvSpPr>
          <p:nvPr>
            <p:ph type="sldNum" idx="5" sz="quarter"/>
          </p:nvPr>
        </p:nvSpPr>
        <p:spPr/>
      </p:sp>
    </p:spTree>
  </p:cSld>
  <p:clrMapOvr>
    <a:masterClrMapping/>
  </p:clrMapOvr>
</p:notes>
</file>

<file path=ppt/notesSlides/notesSlide4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虫网、门帘（风幕）和缓冲间是封闭温室挡住病虫进出的屏障。网上破一个小洞、门帘没放下，小虫就能钻进钻出。要定期巡查防虫网、门帘、门窗密封条，填写巡查记录，发现破损马上报告并修补；进出随手关门，不同时打开两道门。</a:t>
            </a:r>
          </a:p>
          <a:p>
            <a:r>
              <a:t>离开隔离区或封闭温室时，鞋底、衣服、头发上可能沾着虫卵、病菌和种子。要在缓冲间换鞋、脱下专用工作服挂好，检查身上，洗手后再离开；工作服不穿出温室。</a:t>
            </a:r>
          </a:p>
          <a:p>
            <a:r>
              <a:t>植株、种子、土壤、基质等材料，没经过规定的处理（如灭活）不得带出门。</a:t>
            </a:r>
          </a:p>
        </p:txBody>
      </p:sp>
      <p:sp>
        <p:nvSpPr>
          <p:cNvPr id="4" name="Slide Number Placeholder 3"/>
          <p:cNvSpPr>
            <a:spLocks noGrp="1"/>
          </p:cNvSpPr>
          <p:nvPr>
            <p:ph type="sldNum" idx="5" sz="quarter"/>
          </p:nvPr>
        </p:nvSpPr>
        <p:spPr/>
      </p:sp>
    </p:spTree>
  </p:cSld>
  <p:clrMapOvr>
    <a:masterClrMapping/>
  </p:clrMapOvr>
</p:notes>
</file>

<file path=ppt/notesSlides/notesSlide4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花粉外逃是植物封闭的重点风险。试验材料的花粉飘到附近的本地品种上，会结出混有试验性状（如转基因）的杂交后代，污染本地品种，影响农户的收成和销路，还可能引起纠纷和法律责任。</a:t>
            </a:r>
          </a:p>
          <a:p>
            <a:r>
              <a:t>防花粉外逃的措施：与同种或能杂交的植物留足隔离距离；错开花期，让试验材料和周围作物不同时开花；加纱网，开花时给花序套袋，必要时人工去雄；更好的办法是选用不产生花粉的不育品系，从源头上不让花粉出去。具体措施按风险评估和审批要求落实。</a:t>
            </a:r>
          </a:p>
          <a:p>
            <a:r>
              <a:t>验证措施是否有效：在设施四周种“哨兵植物”，定期收它们的种子检测，看试验性状有没有外逃；测不出来，说明设施封得住；测出来要立即报告。转基因植物的种子要装袋、标识、登记清楚。</a:t>
            </a:r>
          </a:p>
        </p:txBody>
      </p:sp>
      <p:sp>
        <p:nvSpPr>
          <p:cNvPr id="4" name="Slide Number Placeholder 3"/>
          <p:cNvSpPr>
            <a:spLocks noGrp="1"/>
          </p:cNvSpPr>
          <p:nvPr>
            <p:ph type="sldNum" idx="5" sz="quarter"/>
          </p:nvPr>
        </p:nvSpPr>
        <p:spPr/>
      </p:sp>
    </p:spTree>
  </p:cSld>
  <p:clrMapOvr>
    <a:masterClrMapping/>
  </p:clrMapOvr>
</p:notes>
</file>

<file path=ppt/notesSlides/notesSlide4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在无菌条件下离体培养出来的组培苗比较娇弱，从来没有接触过田间的病菌和害虫，直接下田容易感病，还可能把组培过程中的问题带到田里。</a:t>
            </a:r>
          </a:p>
          <a:p>
            <a:r>
              <a:t>所以组培苗要先在封闭温室里炼苗、过渡，观察生长和健康状况，再按计划移栽到田间。</a:t>
            </a:r>
          </a:p>
          <a:p>
            <a:r>
              <a:t>同一个品种（尤其是遗传上完全一样的克隆苗）大面积种植时，一旦有一株感病，病害就可能成片蔓延，还会传给周围农户的作物。所以下田前要先确认它的抗性和健康状况，不连累邻居。转基因组培苗的移出按第 081 课的审批要求执行。</a:t>
            </a:r>
          </a:p>
        </p:txBody>
      </p:sp>
      <p:sp>
        <p:nvSpPr>
          <p:cNvPr id="4" name="Slide Number Placeholder 3"/>
          <p:cNvSpPr>
            <a:spLocks noGrp="1"/>
          </p:cNvSpPr>
          <p:nvPr>
            <p:ph type="sldNum" idx="5" sz="quarter"/>
          </p:nvPr>
        </p:nvSpPr>
        <p:spPr/>
      </p:sp>
    </p:spTree>
  </p:cSld>
  <p:clrMapOvr>
    <a:masterClrMapping/>
  </p:clrMapOvr>
</p:notes>
</file>

<file path=ppt/notesSlides/notesSlide4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控制育种是用两个纯合亲本杂交，得到性状整齐的杂交种。外来花粉一旦混进来，就会产生不确定的杂交后代，种子不整齐。所以控制育种要在封闭条件下进行，这也是杂交种成本较高的原因之一。</a:t>
            </a:r>
          </a:p>
          <a:p>
            <a:r>
              <a:t>挑战试验（抗性鉴定）是在封闭设施里让品种接触病原或害虫，筛选出抗病、抗虫的材料。试验用的病原和害虫按本校规定审批和管理，只在指定的封闭设施里使用。</a:t>
            </a:r>
          </a:p>
          <a:p>
            <a:r>
              <a:t>病原和害虫绝不能带出设施：一旦外逃，会扩散到本地庄稼，造成危害。试验结束后，接种过的植株、土壤和器具按规定灭活后处置，设施清洁消毒后再用（消毒灭菌见第 076 课）。</a:t>
            </a:r>
          </a:p>
        </p:txBody>
      </p:sp>
      <p:sp>
        <p:nvSpPr>
          <p:cNvPr id="4" name="Slide Number Placeholder 3"/>
          <p:cNvSpPr>
            <a:spLocks noGrp="1"/>
          </p:cNvSpPr>
          <p:nvPr>
            <p:ph type="sldNum" idx="5" sz="quarter"/>
          </p:nvPr>
        </p:nvSpPr>
        <p:spPr/>
      </p:sp>
    </p:spTree>
  </p:cSld>
  <p:clrMapOvr>
    <a:masterClrMapping/>
  </p:clrMapOvr>
</p:notes>
</file>

<file path=ppt/notesSlides/notesSlide4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从国外或外地引进种子、苗木、其他繁殖材料以及含活微生物的肥料等，依法要办理检疫：从境外引进按《中华人民共和国进出境动植物检疫法》和引种检疫审批规定办理，国内调运按《植物检疫条例》办理（均以现行文本为准）。引进前先报告实验室负责人，由学校主管部门统一办理。</a:t>
            </a:r>
          </a:p>
          <a:p>
            <a:r>
              <a:t>检疫防范的风险包括：外来物种入侵本地生态；外来病虫害；外来花粉混入导致减产。有的病原要过一段时间才显出症状，所以引进材料到货后，要在指定的隔离区（隔离圃、封闭温室）种植观察一段时间，并做检测；检出带病虫的，依法限制引进或除害、销毁处理。</a:t>
            </a:r>
          </a:p>
          <a:p>
            <a:r>
              <a:t>出差、旅行、访学、野外实习时，不私自采集、携带、邮寄种子和活体植物；从境外入境时，属于禁止携带的物品要主动申报或放弃（野外实习与外出采样见第 154 课）。</a:t>
            </a:r>
          </a:p>
        </p:txBody>
      </p:sp>
      <p:sp>
        <p:nvSpPr>
          <p:cNvPr id="4" name="Slide Number Placeholder 3"/>
          <p:cNvSpPr>
            <a:spLocks noGrp="1"/>
          </p:cNvSpPr>
          <p:nvPr>
            <p:ph type="sldNum" idx="5" sz="quarter"/>
          </p:nvPr>
        </p:nvSpPr>
        <p:spPr/>
      </p:sp>
    </p:spTree>
  </p:cSld>
  <p:clrMapOvr>
    <a:masterClrMapping/>
  </p:clrMapOvr>
</p:notes>
</file>

<file path=ppt/notesSlides/notesSlide4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导入了新基因的植物，从转化的愈伤组织、组培苗到植株、种子、花粉，都按转基因材料管理，只在经过批准的指定场所（实验室、封闭温室）培养。</a:t>
            </a:r>
          </a:p>
          <a:p>
            <a:r>
              <a:t>转基因植物材料不带出实验室，不带回宿舍或家里，不送人，不随意种到校园或田里；种子装袋、标识清楚，数量和去向登记在册，专人保管。</a:t>
            </a:r>
          </a:p>
          <a:p>
            <a:r>
              <a:t>废弃的转基因植株、种子、土壤和培养基，先灭活（如高压灭菌）再按规定处置，并做记录；不能随手扔进普通垃圾或倒在室外。灭活和废物处置见第 076、077 课。</a:t>
            </a:r>
          </a:p>
        </p:txBody>
      </p:sp>
      <p:sp>
        <p:nvSpPr>
          <p:cNvPr id="4" name="Slide Number Placeholder 3"/>
          <p:cNvSpPr>
            <a:spLocks noGrp="1"/>
          </p:cNvSpPr>
          <p:nvPr>
            <p:ph type="sldNum" idx="5" sz="quarter"/>
          </p:nvPr>
        </p:nvSpPr>
        <p:spPr/>
      </p:sp>
    </p:spTree>
  </p:cSld>
  <p:clrMapOvr>
    <a:masterClrMapping/>
  </p:clrMapOvr>
</p:notes>
</file>

<file path=ppt/notesSlides/notesSlide4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转基因植物等材料的田间试验，只能在依法批准后、在批准的地点和规模内进行（分阶段审批见第 081 课）。</a:t>
            </a:r>
          </a:p>
          <a:p>
            <a:r>
              <a:t>试验地要设隔离：隔离距离、隔离带、围栏和标识，按批准的要求落实，防止花粉、种子和植株残体扩散出去，防止无关人员进入和动物取食。</a:t>
            </a:r>
          </a:p>
          <a:p>
            <a:r>
              <a:t>试验结束后，收获物和残留的植株、种子按规定处理，不留在田里自生自长；之后的季节还要继续监测有没有自生苗，做好记录，按要求报告。</a:t>
            </a:r>
          </a:p>
        </p:txBody>
      </p:sp>
      <p:sp>
        <p:nvSpPr>
          <p:cNvPr id="4" name="Slide Number Placeholder 3"/>
          <p:cNvSpPr>
            <a:spLocks noGrp="1"/>
          </p:cNvSpPr>
          <p:nvPr>
            <p:ph type="sldNum" idx="5" sz="quarter"/>
          </p:nvPr>
        </p:nvSpPr>
        <p:spPr/>
      </p:sp>
    </p:spTree>
  </p:cSld>
  <p:clrMapOvr>
    <a:masterClrMapping/>
  </p:clrMapOvr>
</p:notes>
</file>

<file path=ppt/notesSlides/notesSlide4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封闭温室和植物生长室为了防病虫外逃，通风受限，施用农药后药雾和挥发物不容易散去，人员吸入和皮肤接触的风险比露天更高。</a:t>
            </a:r>
          </a:p>
          <a:p>
            <a:r>
              <a:t>施药前读农药标签和安全技术说明书，按要求戴好防护手套、护目镜、防护服和合适的呼吸防护用品（呼吸防护见第 025 课）；按标签规定的用量和方法施药，不超量。施药由经过培训的人员进行，其他人离开。</a:t>
            </a:r>
          </a:p>
          <a:p>
            <a:r>
              <a:t>施药后在门口挂警示牌，写明施药时间；过了标签规定的间隔期再进入。剩余农药和包装按规定处理，不倒进温室排水。</a:t>
            </a:r>
          </a:p>
        </p:txBody>
      </p:sp>
      <p:sp>
        <p:nvSpPr>
          <p:cNvPr id="4" name="Slide Number Placeholder 3"/>
          <p:cNvSpPr>
            <a:spLocks noGrp="1"/>
          </p:cNvSpPr>
          <p:nvPr>
            <p:ph type="sldNum" idx="5" sz="quarter"/>
          </p:nvPr>
        </p:nvSpPr>
        <p:spPr/>
      </p:sp>
    </p:spTree>
  </p:cSld>
  <p:clrMapOvr>
    <a:masterClrMapping/>
  </p:clrMapOvr>
</p:notes>
</file>

<file path=ppt/notesSlides/notesSlide4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台风、冰雹等自然灾害打碎温室玻璃，防虫网大面积破损，停电导致负压和过滤失效，或发现转基因材料、病虫外逃，都属于封闭被突破。</a:t>
            </a:r>
          </a:p>
          <a:p>
            <a:r>
              <a:t>发生时先控制现场：关闭能关的门，拉警戒线，人员不随意进出，不把材料往外搬。立即报告实验室负责人，再逐级报学院和学校主管部门；涉及转基因材料或检疫性病虫的，由学校按规定报告主管部门。</a:t>
            </a:r>
          </a:p>
          <a:p>
            <a:r>
              <a:t>按主管部门和本校要求，收集设施周围一定范围内的植物并去污处理，加强监测。如实记录经过和处置；设施修复后经检查合格才能重新使用。</a:t>
            </a:r>
          </a:p>
        </p:txBody>
      </p:sp>
      <p:sp>
        <p:nvSpPr>
          <p:cNvPr id="4" name="Slide Number Placeholder 3"/>
          <p:cNvSpPr>
            <a:spLocks noGrp="1"/>
          </p:cNvSpPr>
          <p:nvPr>
            <p:ph type="sldNum" idx="5" sz="quarter"/>
          </p:nvPr>
        </p:nvSpPr>
        <p:spPr/>
      </p:sp>
    </p:spTree>
  </p:cSld>
  <p:clrMapOvr>
    <a:masterClrMapping/>
  </p:clrMapOvr>
</p:notes>
</file>

<file path=ppt/notesSlides/notesSlide4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答案：B。解析：引种依法检疫，不私带种苗；到货后在指定隔离区种植观察、检测。</a:t>
            </a:r>
          </a:p>
          <a:p>
            <a:r>
              <a:t>第 2 题 答案：B。解析：转基因、引进材料、组培苗、控制育种、挑战试验五种情形都需要封闭。</a:t>
            </a:r>
          </a:p>
        </p:txBody>
      </p:sp>
      <p:sp>
        <p:nvSpPr>
          <p:cNvPr id="4" name="Slide Number Placeholder 3"/>
          <p:cNvSpPr>
            <a:spLocks noGrp="1"/>
          </p:cNvSpPr>
          <p:nvPr>
            <p:ph type="sldNum" idx="5" sz="quarter"/>
          </p:nvPr>
        </p:nvSpPr>
        <p:spPr/>
      </p:sp>
    </p:spTree>
  </p:cSld>
  <p:clrMapOvr>
    <a:masterClrMapping/>
  </p:clrMapOvr>
</p:notes>
</file>

<file path=ppt/notesSlides/notesSlide4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答案：B。解析：再配合哨兵植物监测，验证设施是否封得住。</a:t>
            </a:r>
          </a:p>
          <a:p>
            <a:r>
              <a:t>第 4 题 答案：B。解析：离开时换鞋、脱工作服、检查身上，植株土壤不经处理不带出门。</a:t>
            </a:r>
          </a:p>
        </p:txBody>
      </p:sp>
      <p:sp>
        <p:nvSpPr>
          <p:cNvPr id="4" name="Slide Number Placeholder 3"/>
          <p:cNvSpPr>
            <a:spLocks noGrp="1"/>
          </p:cNvSpPr>
          <p:nvPr>
            <p:ph type="sldNum" idx="5" sz="quarter"/>
          </p:nvPr>
        </p:nvSpPr>
        <p:spPr/>
      </p:sp>
    </p:spTree>
  </p:cSld>
  <p:clrMapOvr>
    <a:masterClrMapping/>
  </p:clrMapOvr>
</p:notes>
</file>

<file path=ppt/notesSlides/notesSlide4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答案：控制现场、人员不随意进出；立即报告实验室负责人，逐级报学院和学校主管部门；按要求收集周围植物去污、加强监测；如实记录，修复检查合格后再用。解析：封闭被突破，立即报告、清理去污。</a:t>
            </a:r>
          </a:p>
        </p:txBody>
      </p:sp>
      <p:sp>
        <p:nvSpPr>
          <p:cNvPr id="4" name="Slide Number Placeholder 3"/>
          <p:cNvSpPr>
            <a:spLocks noGrp="1"/>
          </p:cNvSpPr>
          <p:nvPr>
            <p:ph type="sldNum" idx="5" sz="quarter"/>
          </p:nvPr>
        </p:nvSpPr>
        <p:spPr/>
      </p:sp>
    </p:spTree>
  </p:cSld>
  <p:clrMapOvr>
    <a:masterClrMapping/>
  </p:clrMapOvr>
</p:notes>
</file>

<file path=ppt/notesSlides/notesSlide4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管理实验室的生物风险，有两件相关但不同的事。两者都和生物材料的安全操作、防护和管理有关，但关注点和目标不一样。</a:t>
            </a:r>
          </a:p>
          <a:p>
            <a:r>
              <a:t>生物安全（实验室生物安全）是一整套操作规范和防护措施，防止有害生物材料在没有人故意的情况下意外跑出来，造成人员暴露或环境污染。例如即使按规程操作，培养物也可能洒出、防护被突破，这属于生物安全。</a:t>
            </a:r>
          </a:p>
          <a:p>
            <a:r>
              <a:t>生物安保防的是人为的、故意的行为：病原、毒素等材料丢失、被盗、未经授权接触，或被拿去滥用伤人，包括生物恐怖。</a:t>
            </a:r>
          </a:p>
          <a:p>
            <a:r>
              <a:t>一句话区别：生物安全防意外，生物安保防故意。瓶子碰倒是生物安全问题，把门卡借给别人是生物安保问题。发现材料丢失或被盗，必须立即报告（见本课 K17）。</a:t>
            </a:r>
          </a:p>
        </p:txBody>
      </p:sp>
      <p:sp>
        <p:nvSpPr>
          <p:cNvPr id="4" name="Slide Number Placeholder 3"/>
          <p:cNvSpPr>
            <a:spLocks noGrp="1"/>
          </p:cNvSpPr>
          <p:nvPr>
            <p:ph type="sldNum" idx="5" sz="quarter"/>
          </p:nvPr>
        </p:nvSpPr>
        <p:spPr/>
      </p:sp>
    </p:spTree>
  </p:cSld>
  <p:clrMapOvr>
    <a:masterClrMapping/>
  </p:clrMapOvr>
</p:notes>
</file>

<file path=ppt/notesSlides/notesSlide4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在我国，“生物安全”一词范围很宽。《中华人民共和国生物安全法》所说的生物安全，包括防控重大新发突发传染病和动植物疫情、生物技术研究开发与应用安全、病原微生物实验室生物安全、人类遗传资源与生物资源安全、防范外来物种入侵、防范生物恐怖袭击和生物武器威胁等多个方面（具体以现行文本为准）。实验室生物安全只是其中一块。</a:t>
            </a:r>
          </a:p>
          <a:p>
            <a:r>
              <a:t>在实验室管理中，常把防止病原和材料丢失、被盗、被滥用的工作叫作“生物安保”，与英文资料中的区分相对应。用词时要注意语境：法律意义上的生物安全，既防意外暴露，也防丢失和滥用。</a:t>
            </a:r>
          </a:p>
        </p:txBody>
      </p:sp>
      <p:sp>
        <p:nvSpPr>
          <p:cNvPr id="4" name="Slide Number Placeholder 3"/>
          <p:cNvSpPr>
            <a:spLocks noGrp="1"/>
          </p:cNvSpPr>
          <p:nvPr>
            <p:ph type="sldNum" idx="5" sz="quarter"/>
          </p:nvPr>
        </p:nvSpPr>
        <p:spPr/>
      </p:sp>
    </p:spTree>
  </p:cSld>
  <p:clrMapOvr>
    <a:masterClrMapping/>
  </p:clrMapOvr>
</p:notes>
</file>

<file path=ppt/notesSlides/notesSlide4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可以把实验室的生物材料看成要守护的宝贝，从两个方向看护它。</a:t>
            </a:r>
          </a:p>
          <a:p>
            <a:r>
              <a:t>生物安全首先保护实验人员，也保护周围的公众和环境不受暴露；它主要靠四样东西：培训、安全设备（如生物安全柜）、设施（如防护实验室）和标准操作规程，再加上废物管理，把风险降下来（详见第 059–077 课）。</a:t>
            </a:r>
          </a:p>
          <a:p>
            <a:r>
              <a:t>生物安保保护的是生物材料、实验室和研究设施本身，防范来自外部和内部的威胁；它主要靠：门禁限制进入，材料上锁存放，接触人员经过审核和培训，高风险材料有账可查、责任落实到人（问责）。</a:t>
            </a:r>
          </a:p>
        </p:txBody>
      </p:sp>
      <p:sp>
        <p:nvSpPr>
          <p:cNvPr id="4" name="Slide Number Placeholder 3"/>
          <p:cNvSpPr>
            <a:spLocks noGrp="1"/>
          </p:cNvSpPr>
          <p:nvPr>
            <p:ph type="sldNum" idx="5" sz="quarter"/>
          </p:nvPr>
        </p:nvSpPr>
        <p:spPr/>
      </p:sp>
    </p:spTree>
  </p:cSld>
  <p:clrMapOvr>
    <a:masterClrMapping/>
  </p:clrMapOvr>
</p:notes>
</file>

<file path=ppt/notesSlides/notesSlide4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生物安全和生物安保缺一不可：只防意外不防故意，材料可能被盗被滥用；只锁门不讲规范，人员照样会被感染。无论科研、医疗还是教学实验室，两者都要同时做好，研究的收益才能大于风险。</a:t>
            </a:r>
          </a:p>
          <a:p>
            <a:r>
              <a:t>安保不是出了事才做的事，而要和生物安全一起融入日常：守住材料、记录、门禁和信息，需要全组每个人一起来做。</a:t>
            </a:r>
          </a:p>
          <a:p>
            <a:r>
              <a:t>每个人都有安全和安保意识，风险管理才真正有效，最终守护的是公众健康。</a:t>
            </a:r>
          </a:p>
        </p:txBody>
      </p:sp>
      <p:sp>
        <p:nvSpPr>
          <p:cNvPr id="4" name="Slide Number Placeholder 3"/>
          <p:cNvSpPr>
            <a:spLocks noGrp="1"/>
          </p:cNvSpPr>
          <p:nvPr>
            <p:ph type="sldNum" idx="5" sz="quarter"/>
          </p:nvPr>
        </p:nvSpPr>
        <p:spPr/>
      </p:sp>
    </p:spTree>
  </p:cSld>
  <p:clrMapOvr>
    <a:masterClrMapping/>
  </p:clrMapOvr>
</p:notes>
</file>

<file path=ppt/notesSlides/notesSlide4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从更宽的角度看，生物安保是一整套保护措施和规程，保护的对象是人、动物、植物和环境：人会被传染生病，动物会得疫病，庄稼会遭病虫害，生态环境会被外来生物破坏。</a:t>
            </a:r>
          </a:p>
          <a:p>
            <a:r>
              <a:t>要防的是有害的生物因子：使人和动物生病的病原体、破坏庄稼的害虫，以及生物产生的毒素。工作有两个方向：一是防止外面的有害生物传进来，二是防止已有的扩散出去；传染病、入侵物种和生物威胁都在其中。</a:t>
            </a:r>
          </a:p>
          <a:p>
            <a:r>
              <a:t>危害的来源有三种：自然发生的（如候鸟带来的疫病）、意外发生的（如实验生物逃逸）、蓄意的（有人故意滥用）。三种都要防。生物安保也在日常生活中：勤洗手，生熟分开，宠物按时免疫，不私自携带动植物和种子入境（引种检疫见第 082 课）。</a:t>
            </a:r>
          </a:p>
        </p:txBody>
      </p:sp>
      <p:sp>
        <p:nvSpPr>
          <p:cNvPr id="4" name="Slide Number Placeholder 3"/>
          <p:cNvSpPr>
            <a:spLocks noGrp="1"/>
          </p:cNvSpPr>
          <p:nvPr>
            <p:ph type="sldNum" idx="5" sz="quarter"/>
          </p:nvPr>
        </p:nvSpPr>
        <p:spPr/>
      </p:sp>
    </p:spTree>
  </p:cSld>
  <p:clrMapOvr>
    <a:masterClrMapping/>
  </p:clrMapOvr>
</p:notes>
</file>

<file path=ppt/notesSlides/notesSlide4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生物安保的工作可以分成六块：一是防止疾病传播，定好规程，切断在人和动植物之间传播的途径；二是封闭与控制，实验室里靠设施和规范把病原关住，运输途中密封包装、专人负责、全程可追溯（运输见第 080 课）；三是监测，定期查看有无疫病或异常迹象，早发现、早处置。</a:t>
            </a:r>
          </a:p>
          <a:p>
            <a:r>
              <a:t>四是依法管理，农业、医疗、科研都要遵守《中华人民共和国生物安全法》和相关条例，学生能做的就是学规定、守规定；五是公众意识与教育，让大家知道风险在哪、日常该怎么做；六是应急准备与响应，针对疫情暴发、蓄意破坏等事件提前写好预案、定期更新，人人知道发现异常该向谁报告（应急预案见第 155 课）。</a:t>
            </a:r>
          </a:p>
          <a:p>
            <a:r>
              <a:t>“同一健康”的观念很重要：不少传染病来自动物，人医、兽医和环境部门要联手监测。养殖场防疫时要管住水、饲料、空气等可能带入病原的途径，并靠布局、技术和人员习惯把关，这个思路放到实验室同样适用。</a:t>
            </a:r>
          </a:p>
        </p:txBody>
      </p:sp>
      <p:sp>
        <p:nvSpPr>
          <p:cNvPr id="4" name="Slide Number Placeholder 3"/>
          <p:cNvSpPr>
            <a:spLocks noGrp="1"/>
          </p:cNvSpPr>
          <p:nvPr>
            <p:ph type="sldNum" idx="5" sz="quarter"/>
          </p:nvPr>
        </p:nvSpPr>
        <p:spPr/>
      </p:sp>
    </p:spTree>
  </p:cSld>
  <p:clrMapOvr>
    <a:masterClrMapping/>
  </p:clrMapOvr>
</p:notes>
</file>

<file path=ppt/notesSlides/notesSlide4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从安保的角度看，菌（毒）种、病原样本和毒素是需要看守的资产，要像贵重物品一样管理。威胁可能来自外部（外来人员闯入、盗窃），也可能来自内部（有权限的人员违规取用、滥用）。</a:t>
            </a:r>
          </a:p>
          <a:p>
            <a:r>
              <a:t>所以风险评估不只评意外，也要评被盗、被滥用的可能性和后果：谁能进门、谁管钥匙、材料存在哪里、怎么上锁、账怎么核，都要写进评估，再用相应措施把风险降下来（风险评估方法见第 067 课）。措施要对照国家法律法规和标准落实。</a:t>
            </a:r>
          </a:p>
          <a:p>
            <a:r>
              <a:t>评估结果交单位生物安全委员会审核，定期复查，材料、人员、场所变化时及时更新。安保措施的具体细节属于内部信息，不对外公开。</a:t>
            </a:r>
          </a:p>
        </p:txBody>
      </p:sp>
      <p:sp>
        <p:nvSpPr>
          <p:cNvPr id="4" name="Slide Number Placeholder 3"/>
          <p:cNvSpPr>
            <a:spLocks noGrp="1"/>
          </p:cNvSpPr>
          <p:nvPr>
            <p:ph type="sldNum" idx="5" sz="quarter"/>
          </p:nvPr>
        </p:nvSpPr>
        <p:spPr/>
      </p:sp>
    </p:spTree>
  </p:cSld>
  <p:clrMapOvr>
    <a:masterClrMapping/>
  </p:clrMapOvr>
</p:notes>
</file>

<file path=ppt/notesSlides/notesSlide4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物理安保是用门禁、门锁、上锁的柜子和冰箱等限制进入。个人要做到：门禁卡和钥匙不外借，密码不写在墙上、不告诉别人；刷卡进门后随手关门，不让陌生人跟着进来，也不替不认识的人开门；门禁卡丢了马上报告挂失。</a:t>
            </a:r>
          </a:p>
          <a:p>
            <a:r>
              <a:t>访客和外来人员进入要登记、经批准，全程有人陪同（访客管理见第 008 课）；发现未经授权的进入和接触，要能认出来并及时报告。</a:t>
            </a:r>
          </a:p>
          <a:p>
            <a:r>
              <a:t>最后离开实验室的人，锁好样本柜和冰箱，关好门窗，按清单逐项检查、打勾签名。门口和设备上的警示标识要恰当、准确，到处乱贴反而会让人视而不见。</a:t>
            </a:r>
          </a:p>
        </p:txBody>
      </p:sp>
      <p:sp>
        <p:nvSpPr>
          <p:cNvPr id="4" name="Slide Number Placeholder 3"/>
          <p:cNvSpPr>
            <a:spLocks noGrp="1"/>
          </p:cNvSpPr>
          <p:nvPr>
            <p:ph type="sldNum" idx="5" sz="quarter"/>
          </p:nvPr>
        </p:nvSpPr>
        <p:spPr/>
      </p:sp>
    </p:spTree>
  </p:cSld>
  <p:clrMapOvr>
    <a:masterClrMapping/>
  </p:clrMapOvr>
</p:notes>
</file>

<file path=ppt/notesSlides/notesSlide4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人员可靠性是生物安保的重要一环。接触高风险材料的人员，按单位规定经过审核、培训和授权后才能进入和操作，权限随岗位变化及时调整，离岗时及时注销（离岗交接见第 007 课）。</a:t>
            </a:r>
          </a:p>
          <a:p>
            <a:r>
              <a:t>内部人员滥用是一类威胁，常见迹象有：反常的领用（数量、种类与课题不符），领用不登记，在非工作时段反常出入。关键材料实行双人核对、互相监督。</a:t>
            </a:r>
          </a:p>
          <a:p>
            <a:r>
              <a:t>发现异常，不跟踪、不私下调查，如实报告实验室负责人（见本课 K13）。</a:t>
            </a:r>
          </a:p>
        </p:txBody>
      </p:sp>
      <p:sp>
        <p:nvSpPr>
          <p:cNvPr id="4" name="Slide Number Placeholder 3"/>
          <p:cNvSpPr>
            <a:spLocks noGrp="1"/>
          </p:cNvSpPr>
          <p:nvPr>
            <p:ph type="sldNum" idx="5" sz="quarter"/>
          </p:nvPr>
        </p:nvSpPr>
        <p:spPr/>
      </p:sp>
    </p:spTree>
  </p:cSld>
  <p:clrMapOvr>
    <a:masterClrMapping/>
  </p:clrMapOvr>
</p:notes>
</file>

<file path=ppt/notesSlides/notesSlide4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菌（毒）种、样本和毒素要锁好：高风险材料专柜专锁、专人管理；按《病原微生物实验室生物安全管理条例》（以现行文本为准），高致病性病原微生物菌（毒）种和样本的保藏、运输等要经过审批，管理极其严格，账和物必须一一对上，放错一支管子都可能引发调查。</a:t>
            </a:r>
          </a:p>
          <a:p>
            <a:r>
              <a:t>入库、取用、转移、销毁件件登记，定期盘点，账物相符；账上没记，丢了都不知道。材料在人员和单位之间转移，保持书面交接记录（监管链），分清职责，出了问题能追溯、能问责。</a:t>
            </a:r>
          </a:p>
          <a:p>
            <a:r>
              <a:t>菌（毒）种和样本只能从正规渠道获得，按规定审批，来源、数量登记在册；不私下交换，不私自带进带出（运输见第 080 课）。</a:t>
            </a:r>
          </a:p>
        </p:txBody>
      </p:sp>
      <p:sp>
        <p:nvSpPr>
          <p:cNvPr id="4" name="Slide Number Placeholder 3"/>
          <p:cNvSpPr>
            <a:spLocks noGrp="1"/>
          </p:cNvSpPr>
          <p:nvPr>
            <p:ph type="sldNum" idx="5" sz="quarter"/>
          </p:nvPr>
        </p:nvSpPr>
        <p:spPr/>
      </p:sp>
    </p:spTree>
  </p:cSld>
  <p:clrMapOvr>
    <a:masterClrMapping/>
  </p:clrMapOvr>
</p:notes>
</file>

<file path=ppt/notesSlides/notesSlide4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信息安全是生物安保的另一层：菌种清单、保藏位置、安保措施和实验数据，都要保护。保藏了什么、放在哪里，不对无关人员说；样本柜、门禁、平面布局不拍照乱发到网上和群里；遇到可疑的打听，告诉老师和保卫处。</a:t>
            </a:r>
          </a:p>
          <a:p>
            <a:r>
              <a:t>网络入侵也是威胁：陌生链接、附件不点不开；实验电脑账号一人一个、不共享，密码不贴在屏幕上，离开座位随手锁屏。</a:t>
            </a:r>
          </a:p>
          <a:p>
            <a:r>
              <a:t>数据按权限访问、定期备份；清单的共享、上传和对外提供按学校网络和数据管理规定办理。</a:t>
            </a:r>
          </a:p>
        </p:txBody>
      </p:sp>
      <p:sp>
        <p:nvSpPr>
          <p:cNvPr id="4" name="Slide Number Placeholder 3"/>
          <p:cNvSpPr>
            <a:spLocks noGrp="1"/>
          </p:cNvSpPr>
          <p:nvPr>
            <p:ph type="sldNum" idx="5" sz="quarter"/>
          </p:nvPr>
        </p:nvSpPr>
        <p:spPr/>
      </p:sp>
    </p:spTree>
  </p:cSld>
  <p:clrMapOvr>
    <a:masterClrMapping/>
  </p:clrMapOvr>
</p:notes>
</file>

<file path=ppt/notesSlides/notesSlide4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生物恐怖，是有人故意利用病原体或毒素制造伤害。细菌、病毒、毒素都可能被滥用；被重点关注的高危因子大致就分这三类，本课不讲具体名称和细节，只需记住它们极其危险、管控极严。</a:t>
            </a:r>
          </a:p>
          <a:p>
            <a:r>
              <a:t>动机多是政治或社会目的，目标是造成大范围的疾病、死亡和社会恐慌，制造恐惧本身就是手段。实施者可能是个人或团体，甚至有国家怀着恶意去做。</a:t>
            </a:r>
          </a:p>
          <a:p>
            <a:r>
              <a:t>恶意使用生物因子是严重犯罪，我国法律严厉禁止和打击，后果极其严重，绝不能碰。政府和国际组织一直在防范；对实验室人员来说，能做的是守好材料、识别异常、及时报告。</a:t>
            </a:r>
          </a:p>
        </p:txBody>
      </p:sp>
      <p:sp>
        <p:nvSpPr>
          <p:cNvPr id="4" name="Slide Number Placeholder 3"/>
          <p:cNvSpPr>
            <a:spLocks noGrp="1"/>
          </p:cNvSpPr>
          <p:nvPr>
            <p:ph type="sldNum" idx="5" sz="quarter"/>
          </p:nvPr>
        </p:nvSpPr>
        <p:spPr/>
      </p:sp>
    </p:spTree>
  </p:cSld>
  <p:clrMapOvr>
    <a:masterClrMapping/>
  </p:clrMapOvr>
</p:notes>
</file>

<file path=ppt/notesSlides/notesSlide4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看到来历不明的包裹、信件，尤其是带有可疑粉末或液体的，不碰、不闻、不摇、不打开；让周围人离开，关好门，洗手；立刻报告实验室负责人和保卫处，必要时拨打 110 报警，等待专业人员处理。</a:t>
            </a:r>
          </a:p>
          <a:p>
            <a:r>
              <a:t>看到陌生人在实验室附近徘徊、打听样本，或者材料对不上账，也要马上报告。短时间内很多人出现相同症状、动物异常死亡等情况，要及时往上报。</a:t>
            </a:r>
          </a:p>
          <a:p>
            <a:r>
              <a:t>觉得不对劲，别憋在心里，也不跟踪、不私下调查；如实告诉实验室负责人，再按程序报学院、学校和保卫处；不在群里传、不乱猜测。</a:t>
            </a:r>
          </a:p>
        </p:txBody>
      </p:sp>
      <p:sp>
        <p:nvSpPr>
          <p:cNvPr id="4" name="Slide Number Placeholder 3"/>
          <p:cNvSpPr>
            <a:spLocks noGrp="1"/>
          </p:cNvSpPr>
          <p:nvPr>
            <p:ph type="sldNum" idx="5" sz="quarter"/>
          </p:nvPr>
        </p:nvSpPr>
        <p:spPr/>
      </p:sp>
    </p:spTree>
  </p:cSld>
  <p:clrMapOvr>
    <a:masterClrMapping/>
  </p:clrMapOvr>
</p:notes>
</file>

<file path=ppt/notesSlides/notesSlide4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制造恐慌本身就是生物恐怖的目标之一。遇到相关事件，不信谣、不传谣，以官方发布的信息为准，不转发未经核实的说法。</a:t>
            </a:r>
          </a:p>
          <a:p>
            <a:r>
              <a:t>对外讲生物安全和生物安保（科普、宣传、社团活动），内容要准确：不夸大吓人，也不隐瞒风险；只讲原则、防护和报告，不传播敏感技术细节。</a:t>
            </a:r>
          </a:p>
        </p:txBody>
      </p:sp>
      <p:sp>
        <p:nvSpPr>
          <p:cNvPr id="4" name="Slide Number Placeholder 3"/>
          <p:cNvSpPr>
            <a:spLocks noGrp="1"/>
          </p:cNvSpPr>
          <p:nvPr>
            <p:ph type="sldNum" idx="5" sz="quarter"/>
          </p:nvPr>
        </p:nvSpPr>
        <p:spPr/>
      </p:sp>
    </p:spTree>
  </p:cSld>
  <p:clrMapOvr>
    <a:masterClrMapping/>
  </p:clrMapOvr>
</p:notes>
</file>

<file path=ppt/notesSlides/notesSlide4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有的研究成果既可以用来防病救人，也可能被误用、滥用来造成危害，这类研究叫两用研究。做科研要遵守法律法规和行为准则，讲生物伦理，也要想到成果可能被怎样误用。</a:t>
            </a:r>
          </a:p>
          <a:p>
            <a:r>
              <a:t>按《中华人民共和国生物安全法》和《科技伦理审查办法（试行）》（均以现行文本为准），可能被滥用的研究要事先经过单位生物安全委员会和科技伦理（审查）委员会的审查，负责任地开展；研究目标只能用于造福人类和环境。实验材料和数据按规定管理与共享。</a:t>
            </a:r>
          </a:p>
          <a:p>
            <a:r>
              <a:t>拿不准自己的课题是否涉及两用风险，先停下来向导师和实验室负责人报告；收到可疑的材料、数据或技术索要请求，也要及时报告。动物实验同样要先通过实验动物伦理审查（见第 084 课），批准内容告知全组，留好记录。</a:t>
            </a:r>
          </a:p>
        </p:txBody>
      </p:sp>
      <p:sp>
        <p:nvSpPr>
          <p:cNvPr id="4" name="Slide Number Placeholder 3"/>
          <p:cNvSpPr>
            <a:spLocks noGrp="1"/>
          </p:cNvSpPr>
          <p:nvPr>
            <p:ph type="sldNum" idx="5" sz="quarter"/>
          </p:nvPr>
        </p:nvSpPr>
        <p:spPr/>
      </p:sp>
    </p:spTree>
  </p:cSld>
  <p:clrMapOvr>
    <a:masterClrMapping/>
  </p:clrMapOvr>
</p:notes>
</file>

<file path=ppt/notesSlides/notesSlide4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用病人的临床样本或其他人体样本做研究，按《涉及人的生命科学和医学研究伦理审查办法》（以现行文本为准）先经伦理委员会审查批准，并取得受试者（本人或监护人）的知情同意。</a:t>
            </a:r>
          </a:p>
          <a:p>
            <a:r>
              <a:t>人类遗传资源（人体样本及其产生的遗传信息数据）的采集、保藏、利用和对外提供，按《中华人民共和国人类遗传资源管理条例》（以现行文本为准）管理，需要审批或备案的按规定办理，由学校主管部门统一指导。</a:t>
            </a:r>
          </a:p>
          <a:p>
            <a:r>
              <a:t>临床样本带着病人的个人信息，要严格保密：接触数据的人签保密协议；样本编码、去标识化；电子数据加密，纸质文件受控保管；没有书面授权不得复制、拍照或外传（样本接收见第 079 课）。</a:t>
            </a:r>
          </a:p>
        </p:txBody>
      </p:sp>
      <p:sp>
        <p:nvSpPr>
          <p:cNvPr id="4" name="Slide Number Placeholder 3"/>
          <p:cNvSpPr>
            <a:spLocks noGrp="1"/>
          </p:cNvSpPr>
          <p:nvPr>
            <p:ph type="sldNum" idx="5" sz="quarter"/>
          </p:nvPr>
        </p:nvSpPr>
        <p:spPr/>
      </p:sp>
    </p:spTree>
  </p:cSld>
  <p:clrMapOvr>
    <a:masterClrMapping/>
  </p:clrMapOvr>
</p:notes>
</file>

<file path=ppt/notesSlides/notesSlide4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盘点时发现菌（毒）种、样本、转基因材料少了，或者怀疑被盗、被调换，要立即报告实验室负责人，再逐级报学院、学校主管部门和保卫处，不能瞒着、不能自己悄悄补账。</a:t>
            </a:r>
          </a:p>
          <a:p>
            <a:r>
              <a:t>按《病原微生物实验室生物安全管理条例》（以现行文本为准），高致病性病原微生物菌（毒）种或样本被盗、被抢、丢失的，单位要按规定时限向主管部门和公安机关报告；具体由学校按程序办理。</a:t>
            </a:r>
          </a:p>
          <a:p>
            <a:r>
              <a:t>如实记录发现的时间、经过和已采取的措施，保护现场和记录，配合调查，按规定处理并改进管理。</a:t>
            </a:r>
          </a:p>
        </p:txBody>
      </p:sp>
      <p:sp>
        <p:nvSpPr>
          <p:cNvPr id="4" name="Slide Number Placeholder 3"/>
          <p:cNvSpPr>
            <a:spLocks noGrp="1"/>
          </p:cNvSpPr>
          <p:nvPr>
            <p:ph type="sldNum" idx="5" sz="quarter"/>
          </p:nvPr>
        </p:nvSpPr>
        <p:spPr/>
      </p:sp>
    </p:spTree>
  </p:cSld>
  <p:clrMapOvr>
    <a:masterClrMapping/>
  </p:clrMapOvr>
</p:notes>
</file>

<file path=ppt/notesSlides/notesSlide4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答案：B。解析：两者的区别在于意图；瓶子碰倒是安全问题，门卡借人是安保问题。</a:t>
            </a:r>
          </a:p>
          <a:p>
            <a:r>
              <a:t>第 2 题 答案：B。解析：门禁卡不外借、不让人尾随；需要进入的人员按规定登记授权。</a:t>
            </a:r>
          </a:p>
        </p:txBody>
      </p:sp>
      <p:sp>
        <p:nvSpPr>
          <p:cNvPr id="4" name="Slide Number Placeholder 3"/>
          <p:cNvSpPr>
            <a:spLocks noGrp="1"/>
          </p:cNvSpPr>
          <p:nvPr>
            <p:ph type="sldNum" idx="5" sz="quarter"/>
          </p:nvPr>
        </p:nvSpPr>
        <p:spPr/>
      </p:sp>
    </p:spTree>
  </p:cSld>
  <p:clrMapOvr>
    <a:masterClrMapping/>
  </p:clrMapOvr>
</p:notes>
</file>

<file path=ppt/notesSlides/notesSlide4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答案：C。解析：不碰、立即报告，交专业人员处理。</a:t>
            </a:r>
          </a:p>
          <a:p>
            <a:r>
              <a:t>第 4 题 答案：B。解析：用人的样本做研究，先过伦理审查，取得知情同意，人类遗传资源按国家规定管理。</a:t>
            </a:r>
          </a:p>
        </p:txBody>
      </p:sp>
      <p:sp>
        <p:nvSpPr>
          <p:cNvPr id="4" name="Slide Number Placeholder 3"/>
          <p:cNvSpPr>
            <a:spLocks noGrp="1"/>
          </p:cNvSpPr>
          <p:nvPr>
            <p:ph type="sldNum" idx="5" sz="quarter"/>
          </p:nvPr>
        </p:nvSpPr>
        <p:spPr/>
      </p:sp>
    </p:spTree>
  </p:cSld>
  <p:clrMapOvr>
    <a:masterClrMapping/>
  </p:clrMapOvr>
</p:notes>
</file>

<file path=ppt/notesSlides/notesSlide4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答案：成果既能造福人类、也可能被误用造成危害的研究。拿不准时先停下来向导师和实验室负责人报告，按规定经生物安全委员会和伦理审查后再开展。解析：两用研究事先审查，研究只用于造福人和环境。</a:t>
            </a:r>
          </a:p>
          <a:p>
            <a:r>
              <a:t>第 6 题 答案：C。解析：材料丢失被盗，立即报告，不瞒报。</a:t>
            </a:r>
          </a:p>
        </p:txBody>
      </p:sp>
      <p:sp>
        <p:nvSpPr>
          <p:cNvPr id="4" name="Slide Number Placeholder 3"/>
          <p:cNvSpPr>
            <a:spLocks noGrp="1"/>
          </p:cNvSpPr>
          <p:nvPr>
            <p:ph type="sldNum" idx="5" sz="quarter"/>
          </p:nvPr>
        </p:nvSpPr>
        <p:spPr/>
      </p:sp>
    </p:spTree>
  </p:cSld>
  <p:clrMapOvr>
    <a:masterClrMapping/>
  </p:clrMapOvr>
</p:notes>
</file>

<file path=ppt/notesSlides/notesSlide4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动物实验和动物样本的风险评估，比普通微生物实验多几个问题：动物有多大、多有力，会不会咬人、抓人、踢人；是否可能携带人兽共患的病原（尤其是非人灵长类、野外捕获的动物和来源不明的动物）；工作在野外还是在实验室；可能从哪条途径感染（咬伤抓伤、锐器、气溶胶、接触粪尿和组织）。大型动物需要专门的设施、保定设备和防护。</a:t>
            </a:r>
          </a:p>
          <a:p>
            <a:r>
              <a:t>动物实验中常见的场景，如给实验猴等动物做注射、采样，要在评估后按规程进行（锐器安全见第 029 课）。</a:t>
            </a:r>
          </a:p>
          <a:p>
            <a:r>
              <a:t>被动物咬伤、抓伤：立即用流动清水和肥皂水持续冲洗伤口，再消毒；马上报告实验室负责人和动物设施管理人员，及时就医，说明受伤动物的种类和来源，按医嘱处理（如需要预防接种），并做好记录（暴露处置见第 078 课）。</a:t>
            </a:r>
          </a:p>
        </p:txBody>
      </p:sp>
      <p:sp>
        <p:nvSpPr>
          <p:cNvPr id="4" name="Slide Number Placeholder 3"/>
          <p:cNvSpPr>
            <a:spLocks noGrp="1"/>
          </p:cNvSpPr>
          <p:nvPr>
            <p:ph type="sldNum" idx="5" sz="quarter"/>
          </p:nvPr>
        </p:nvSpPr>
        <p:spPr/>
      </p:sp>
    </p:spTree>
  </p:cSld>
  <p:clrMapOvr>
    <a:masterClrMapping/>
  </p:clrMapOvr>
</p:notes>
</file>

<file path=ppt/notesSlides/notesSlide4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从事动物实验的人员，要经过实验动物从业人员培训和本校规定的考核，合格后才能进入动物设施、独立操作；涉及感染性材料的，还要经过相应的生物安全培训。</a:t>
            </a:r>
          </a:p>
          <a:p>
            <a:r>
              <a:t>操作前把动物妥善保定（用合适的保定器或手法），动作轻柔、稳定，减少动物的紧张和挣扎；较大或不易控制的动物，两人配合，必要时按批准的方案先镇静。</a:t>
            </a:r>
          </a:p>
          <a:p>
            <a:r>
              <a:t>不要一个人在动物挣扎时慌忙硬来，这样既容易被咬被抓、被针扎，也会让动物受苦。</a:t>
            </a:r>
          </a:p>
        </p:txBody>
      </p:sp>
      <p:sp>
        <p:nvSpPr>
          <p:cNvPr id="4" name="Slide Number Placeholder 3"/>
          <p:cNvSpPr>
            <a:spLocks noGrp="1"/>
          </p:cNvSpPr>
          <p:nvPr>
            <p:ph type="sldNum" idx="5" sz="quarter"/>
          </p:nvPr>
        </p:nvSpPr>
        <p:spPr/>
      </p:sp>
    </p:spTree>
  </p:cSld>
  <p:clrMapOvr>
    <a:masterClrMapping/>
  </p:clrMapOvr>
</p:notes>
</file>

<file path=ppt/notesSlides/notesSlide4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实验动物的毛屑、皮屑、唾液和尿液中的蛋白质，会随换笼、清扫飘到空气中，引起打喷嚏、流涕、眼痒、皮疹甚至哮喘等过敏反应，接触时间越长越容易发生。</a:t>
            </a:r>
          </a:p>
          <a:p>
            <a:r>
              <a:t>换笼、清理垫料、抓取动物时戴口罩（必要时戴防颗粒物呼吸器）和手套，穿专用工作服；尽量在换笼台、通风柜等通风设备里操作，减少粉尘飞扬。</a:t>
            </a:r>
          </a:p>
          <a:p>
            <a:r>
              <a:t>出现过敏症状要及时就医，并告诉导师和实验室负责人，必要时调整工作内容（职业健康监护见第 152 课）。</a:t>
            </a:r>
          </a:p>
        </p:txBody>
      </p:sp>
      <p:sp>
        <p:nvSpPr>
          <p:cNvPr id="4" name="Slide Number Placeholder 3"/>
          <p:cNvSpPr>
            <a:spLocks noGrp="1"/>
          </p:cNvSpPr>
          <p:nvPr>
            <p:ph type="sldNum" idx="5" sz="quarter"/>
          </p:nvPr>
        </p:nvSpPr>
        <p:spPr/>
      </p:sp>
    </p:spTree>
  </p:cSld>
  <p:clrMapOvr>
    <a:masterClrMapping/>
  </p:clrMapOvr>
</p:notes>
</file>

<file path=ppt/notesSlides/notesSlide4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我国实验动物按《实验动物管理条例》（以现行文本为准）和各地实验动物管理规定管理：实验动物要从取得许可的单位获得，在符合 GB 14925（以现行文本为准）《实验动物 环境及设施》要求的设施中饲养和使用，人员经过培训。</a:t>
            </a:r>
          </a:p>
          <a:p>
            <a:r>
              <a:t>动物实验方案要先经本单位实验动物伦理（福利）委员会审查批准（可参照 GB/T 35892-2018（以现行文本为准）），按批准的内容实施，批准内容告知全组（科研伦理见第 083 课）。遵循“替代、减少、优化”原则：能用其他方法替代的尽量替代，减少动物数量，优化操作，减轻动物的痛苦，善待动物。</a:t>
            </a:r>
          </a:p>
          <a:p>
            <a:r>
              <a:t>涉及病原微生物感染的动物实验，按风险评估在相应级别的动物生物安全实验室（ABSL）中进行（实验室分级见第 059 课），转基因动物还要防逃逸、做标识（见第 081 课）。</a:t>
            </a:r>
          </a:p>
        </p:txBody>
      </p:sp>
      <p:sp>
        <p:nvSpPr>
          <p:cNvPr id="4" name="Slide Number Placeholder 3"/>
          <p:cNvSpPr>
            <a:spLocks noGrp="1"/>
          </p:cNvSpPr>
          <p:nvPr>
            <p:ph type="sldNum" idx="5" sz="quarter"/>
          </p:nvPr>
        </p:nvSpPr>
        <p:spPr/>
      </p:sp>
    </p:spTree>
  </p:cSld>
  <p:clrMapOvr>
    <a:masterClrMapping/>
  </p:clrMapOvr>
</p:notes>
</file>

<file path=ppt/notesSlides/notesSlide4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蚊子等媒介昆虫能传播病原，饲养这些昆虫的养虫室（养蚊室）要防止逃逸：设双层门（缓冲间）和纱网，门窗密封，室内设捕虫设施；两道门不同时打开。</a:t>
            </a:r>
          </a:p>
          <a:p>
            <a:r>
              <a:t>进出养虫室时，出来前检查衣服、头发、袖口有没有昆虫附着；不把昆虫和虫卵带出去。</a:t>
            </a:r>
          </a:p>
          <a:p>
            <a:r>
              <a:t>操作前后清点昆虫数量，记录在册；发现逃逸，立即报告实验室负责人，按预案捕捉、处置。感染性媒介昆虫的实验，在经过审批的相应级别设施中进行。</a:t>
            </a:r>
          </a:p>
        </p:txBody>
      </p:sp>
      <p:sp>
        <p:nvSpPr>
          <p:cNvPr id="4" name="Slide Number Placeholder 3"/>
          <p:cNvSpPr>
            <a:spLocks noGrp="1"/>
          </p:cNvSpPr>
          <p:nvPr>
            <p:ph type="sldNum" idx="5" sz="quarter"/>
          </p:nvPr>
        </p:nvSpPr>
        <p:spPr/>
      </p:sp>
    </p:spTree>
  </p:cSld>
  <p:clrMapOvr>
    <a:masterClrMapping/>
  </p:clrMapOvr>
</p:notes>
</file>

<file path=ppt/notesSlides/notesSlide4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用完的实验动物、昆虫（如果蝇、蚊子）和实验植物，不能放生、放到窗外或带回宿舍饲养；放生的实验生物可能携带病原、造成外来物种入侵或基因扩散。</a:t>
            </a:r>
          </a:p>
          <a:p>
            <a:r>
              <a:t>种子、菌株等实验材料，也不随手带出实验室。</a:t>
            </a:r>
          </a:p>
          <a:p>
            <a:r>
              <a:t>实验结束后，按规定灭活（如高压灭菌），动物尸体按规定冷存后交有资质的单位处置，再当相应类别的废物处置（感染性废物见第 077 课）。</a:t>
            </a:r>
          </a:p>
        </p:txBody>
      </p:sp>
      <p:sp>
        <p:nvSpPr>
          <p:cNvPr id="4" name="Slide Number Placeholder 3"/>
          <p:cNvSpPr>
            <a:spLocks noGrp="1"/>
          </p:cNvSpPr>
          <p:nvPr>
            <p:ph type="sldNum" idx="5" sz="quarter"/>
          </p:nvPr>
        </p:nvSpPr>
        <p:spPr/>
      </p:sp>
    </p:spTree>
  </p:cSld>
  <p:clrMapOvr>
    <a:masterClrMapping/>
  </p:clrMapOvr>
</p:notes>
</file>

<file path=ppt/notesSlides/notesSlide4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在校园、野外或采样途中看到异常死亡的动物（例如短时间内多只鸟类、家禽或野生动物死亡），不要用手碰，不捡拾、不带回实验室“研究”。</a:t>
            </a:r>
          </a:p>
          <a:p>
            <a:r>
              <a:t>记下位置和数量，报告学校相关部门（保卫处、后勤或实验室管理部门）；必要时由学校按《中华人民共和国动物防疫法》（以现行文本为准）向当地主管部门报告。</a:t>
            </a:r>
          </a:p>
          <a:p>
            <a:r>
              <a:t>由穿戴防护的专业人员收集和处理。野外实习和外出采样的综合安全见第 154 课。</a:t>
            </a:r>
          </a:p>
        </p:txBody>
      </p:sp>
      <p:sp>
        <p:nvSpPr>
          <p:cNvPr id="4" name="Slide Number Placeholder 3"/>
          <p:cNvSpPr>
            <a:spLocks noGrp="1"/>
          </p:cNvSpPr>
          <p:nvPr>
            <p:ph type="sldNum" idx="5" sz="quarter"/>
          </p:nvPr>
        </p:nvSpPr>
        <p:spPr/>
      </p:sp>
    </p:spTree>
  </p:cSld>
  <p:clrMapOvr>
    <a:masterClrMapping/>
  </p:clrMapOvr>
</p:notes>
</file>

<file path=ppt/notesSlides/notesSlide4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虫媒传染病是由蚊、蝇、白蛉等媒介生物传播的疾病：媒介叮咬了带病原的人或动物，再叮咬别人，病就传开了；有的原本在野生动物中循环，经叮咬传给进入森林的人。本课只讲与实验室工作和外出有关的防护和报告要点。</a:t>
            </a:r>
          </a:p>
          <a:p>
            <a:r>
              <a:t>虫媒病是古老的疾病，至今仍是全球重要的公共卫生问题，每年导致大量患者和死亡，不能忽视。很多新发传染病是从动物传到人的，媒介、病原和宿主之间还有许多未知，对新情况要保持谨慎。</a:t>
            </a:r>
          </a:p>
          <a:p>
            <a:r>
              <a:t>砍伐森林等破坏生态的行为，使蚊子的天敌减少；气候变化也让一些虫媒病的流行范围变化甚至回潮。阻断传播要两头管住：病人及时诊治，媒介有效控制。</a:t>
            </a:r>
          </a:p>
        </p:txBody>
      </p:sp>
      <p:sp>
        <p:nvSpPr>
          <p:cNvPr id="4" name="Slide Number Placeholder 3"/>
          <p:cNvSpPr>
            <a:spLocks noGrp="1"/>
          </p:cNvSpPr>
          <p:nvPr>
            <p:ph type="sldNum" idx="5" sz="quarter"/>
          </p:nvPr>
        </p:nvSpPr>
        <p:spPr/>
      </p:sp>
    </p:spTree>
  </p:cSld>
  <p:clrMapOvr>
    <a:masterClrMapping/>
  </p:clrMapOvr>
</p:notes>
</file>

<file path=ppt/notesSlides/notesSlide4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疟疾由蚊子传播，在一些热带和亚热带地区高发，每年病例众多，重症和死亡多见于幼儿；我国已经消除本地感染疟疾，但仍有境外输入病例，赴流行区的人员要特别注意。</a:t>
            </a:r>
          </a:p>
          <a:p>
            <a:r>
              <a:t>登革热、基孔肯雅热由伊蚊传播，在我国南方部分地区夏秋季也有发生；登革热可以重复感染。</a:t>
            </a:r>
          </a:p>
          <a:p>
            <a:r>
              <a:t>家蝇身上带有大量细菌，落在食物上能传播肠道传染病，饭菜要盖好，垃圾及时清理。白蛉体形很小，叮人后红肿瘙痒，也能传播疾病，常在潮湿阴暗的腐烂物中孳生。各病的具体流行情况以卫生健康部门发布的信息为准。</a:t>
            </a:r>
          </a:p>
        </p:txBody>
      </p:sp>
      <p:sp>
        <p:nvSpPr>
          <p:cNvPr id="4" name="Slide Number Placeholder 3"/>
          <p:cNvSpPr>
            <a:spLocks noGrp="1"/>
          </p:cNvSpPr>
          <p:nvPr>
            <p:ph type="sldNum" idx="5" sz="quarter"/>
          </p:nvPr>
        </p:nvSpPr>
        <p:spPr/>
      </p:sp>
    </p:spTree>
  </p:cSld>
  <p:clrMapOvr>
    <a:masterClrMapping/>
  </p:clrMapOvr>
</p:notes>
</file>

<file path=ppt/notesSlides/notesSlide4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虫媒病的主要表现是发热，可伴有寒战、头痛、乏力，忽冷忽热；登革热常伴有肌肉关节痛，基孔肯雅热的关节痛往往很明显，有人会持续很久。也有感染后没有症状的人，同样可能被蚊子叮咬后传给别人。</a:t>
            </a:r>
          </a:p>
          <a:p>
            <a:r>
              <a:t>出现出血（如皮肤出血点、牙龈出血、呕血、便血）、剧烈腹痛、持续呕吐、意识模糊等，是重症信号，要马上就医，必要时拨打 120。</a:t>
            </a:r>
          </a:p>
          <a:p>
            <a:r>
              <a:t>怀疑虫媒病时尽快到正规医院就诊，由医院化验确诊；多喝水、注意休息，用药听医生的。</a:t>
            </a:r>
          </a:p>
        </p:txBody>
      </p:sp>
      <p:sp>
        <p:nvSpPr>
          <p:cNvPr id="4" name="Slide Number Placeholder 3"/>
          <p:cNvSpPr>
            <a:spLocks noGrp="1"/>
          </p:cNvSpPr>
          <p:nvPr>
            <p:ph type="sldNum" idx="5" sz="quarter"/>
          </p:nvPr>
        </p:nvSpPr>
        <p:spPr/>
      </p:sp>
    </p:spTree>
  </p:cSld>
  <p:clrMapOvr>
    <a:masterClrMapping/>
  </p:clrMapOvr>
</p:notes>
</file>

<file path=ppt/notesSlides/notesSlide5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虫媒病的预防用药和治疗都要遵医嘱，不能自己乱买乱吃药；乱用药不但可能延误病情，还会让病原产生耐药。</a:t>
            </a:r>
          </a:p>
          <a:p>
            <a:r>
              <a:t>老一代抗疟药很多已经出现耐药。我国科学家从古代医籍和青蒿中发现了青蒿素，挽救了大量疟疾患者的生命，获得诺贝尔生理学或医学奖。</a:t>
            </a:r>
          </a:p>
          <a:p>
            <a:r>
              <a:t>部分虫媒病有疫苗，但适用人群有限、仍在发展中；能不能打、怎么打，听医生和现行规定。赴流行区出差、访学、野外工作前，先咨询医生或旅行卫生门诊。</a:t>
            </a:r>
          </a:p>
        </p:txBody>
      </p:sp>
      <p:sp>
        <p:nvSpPr>
          <p:cNvPr id="4" name="Slide Number Placeholder 3"/>
          <p:cNvSpPr>
            <a:spLocks noGrp="1"/>
          </p:cNvSpPr>
          <p:nvPr>
            <p:ph type="sldNum" idx="5" sz="quarter"/>
          </p:nvPr>
        </p:nvSpPr>
        <p:spPr/>
      </p:sp>
    </p:spTree>
  </p:cSld>
  <p:clrMapOvr>
    <a:masterClrMapping/>
  </p:clrMapOvr>
</p:notes>
</file>

<file path=ppt/notesSlides/notesSlide5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蚊子从卵到成蚊只要一周多，雨晴交替时，花盆托盘、废轮胎、容器里的积水最容易孳生蚊子。实验室、温室、宿舍和野外营地周围，定期清除积水，盖好储水容器，断了蚊子的家。</a:t>
            </a:r>
          </a:p>
          <a:p>
            <a:r>
              <a:t>纱窗、蚊帐是最基本的屏障；外出穿浅色长袖长裤，在裸露皮肤上按说明使用驱避剂，先在小块皮肤上试，看会不会过敏。</a:t>
            </a:r>
          </a:p>
          <a:p>
            <a:r>
              <a:t>蚊子在清晨和傍晚最活跃，但白天也会叮人（伊蚊多在白天叮咬），不能大意；呼气、体温、汗味和香水都会吸引蚊子。化学和生物防治由专业人员实施。</a:t>
            </a:r>
          </a:p>
        </p:txBody>
      </p:sp>
      <p:sp>
        <p:nvSpPr>
          <p:cNvPr id="4" name="Slide Number Placeholder 3"/>
          <p:cNvSpPr>
            <a:spLocks noGrp="1"/>
          </p:cNvSpPr>
          <p:nvPr>
            <p:ph type="sldNum" idx="5" sz="quarter"/>
          </p:nvPr>
        </p:nvSpPr>
        <p:spPr/>
      </p:sp>
    </p:spTree>
  </p:cSld>
  <p:clrMapOvr>
    <a:masterClrMapping/>
  </p:clrMapOvr>
</p:notes>
</file>

<file path=ppt/notesSlides/notesSlide5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社区和校园的蚊媒防控，先了解蚊子在哪里孳生、怎样传病、怕什么，再按“评估—控制—看效果”做：先统计蚊子密度；控制措施的轻重要和监测数据相称，乱喷药既污染环境，又会让蚊子产生抗药性；做完再监测，看效果。公开的病例数据和地图可帮助了解疫情。</a:t>
            </a:r>
          </a:p>
          <a:p>
            <a:r>
              <a:t>监测要和卫生健康部门一起做：用诱蚊器监测蚊子数量（有的诱捕成蚊，有的诱捕产卵的雌蚊），点位由主管部门统一确定，每天检查防止破损逃逸；灭幼药剂按规定使用，不污染水源。留意施工等带来的新积水点。</a:t>
            </a:r>
          </a:p>
          <a:p>
            <a:r>
              <a:t>释放经改造的雄蚊、用共生细菌控制蚊子等新技术，只能由专业部门依法审批后实施，个人不得尝试（转基因生物释放的审批见第 081 课）。防蚊要长期坚持，蚊种鉴定和带毒检测由专业机构进行。</a:t>
            </a:r>
          </a:p>
        </p:txBody>
      </p:sp>
      <p:sp>
        <p:nvSpPr>
          <p:cNvPr id="4" name="Slide Number Placeholder 3"/>
          <p:cNvSpPr>
            <a:spLocks noGrp="1"/>
          </p:cNvSpPr>
          <p:nvPr>
            <p:ph type="sldNum" idx="5" sz="quarter"/>
          </p:nvPr>
        </p:nvSpPr>
        <p:spPr/>
      </p:sp>
    </p:spTree>
  </p:cSld>
  <p:clrMapOvr>
    <a:masterClrMapping/>
  </p:clrMapOvr>
</p:notes>
</file>

<file path=ppt/notesSlides/notesSlide5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从虫媒病流行区、野外采样点或动物设施工作回来后几周内出现发热，不要硬扛，尽快就医。</a:t>
            </a:r>
          </a:p>
          <a:p>
            <a:r>
              <a:t>就医时主动告诉医生去过哪里、做了什么（野外工作、被蚊虫叮咬、接触动物），帮助医生尽早判断和检测。</a:t>
            </a:r>
          </a:p>
          <a:p>
            <a:r>
              <a:t>同时告诉导师和课题组，必要时报告学院；同行的人留意自己的身体情况。</a:t>
            </a:r>
          </a:p>
        </p:txBody>
      </p:sp>
      <p:sp>
        <p:nvSpPr>
          <p:cNvPr id="4" name="Slide Number Placeholder 3"/>
          <p:cNvSpPr>
            <a:spLocks noGrp="1"/>
          </p:cNvSpPr>
          <p:nvPr>
            <p:ph type="sldNum" idx="5" sz="quarter"/>
          </p:nvPr>
        </p:nvSpPr>
        <p:spPr/>
      </p:sp>
    </p:spTree>
  </p:cSld>
  <p:clrMapOvr>
    <a:masterClrMapping/>
  </p:clrMapOvr>
</p:notes>
</file>

<file path=ppt/notesSlides/notesSlide5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按《中华人民共和国传染病防治法》（以现行文本为准），确诊或疑似的法定传染病由医疗机构依法报告，个人不需要也不应该自己对外发布。</a:t>
            </a:r>
          </a:p>
          <a:p>
            <a:r>
              <a:t>接到疾病预防控制机构的流行病学调查时，如实说明行程、接触史和发病经过，配合采样和防控措施；不隐瞒、不谎报。</a:t>
            </a:r>
          </a:p>
          <a:p>
            <a:r>
              <a:t>传染病的具体分类和管理要求，以现行法律法规和卫生健康部门的规定为准。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5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答案：B。解析：被咬抓伤，冲洗消毒，报告就医。</a:t>
            </a:r>
          </a:p>
          <a:p>
            <a:r>
              <a:t>第 2 题 答案：B。解析：实验生物不放生、不乱丢，按规定灭活后再当废物处置。</a:t>
            </a:r>
          </a:p>
        </p:txBody>
      </p:sp>
      <p:sp>
        <p:nvSpPr>
          <p:cNvPr id="4" name="Slide Number Placeholder 3"/>
          <p:cNvSpPr>
            <a:spLocks noGrp="1"/>
          </p:cNvSpPr>
          <p:nvPr>
            <p:ph type="sldNum" idx="5" sz="quarter"/>
          </p:nvPr>
        </p:nvSpPr>
        <p:spPr/>
      </p:sp>
    </p:spTree>
  </p:cSld>
  <p:clrMapOvr>
    <a:masterClrMapping/>
  </p:clrMapOvr>
</p:notes>
</file>

<file path=ppt/notesSlides/notesSlide5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答案：B。解析：双门纱网、查身清点，逃逸立即报告。</a:t>
            </a:r>
          </a:p>
          <a:p>
            <a:r>
              <a:t>第 4 题 答案：B。解析：动物实验方案先经本单位实验动物伦理（福利）委员会审查批准。</a:t>
            </a:r>
          </a:p>
        </p:txBody>
      </p:sp>
      <p:sp>
        <p:nvSpPr>
          <p:cNvPr id="4" name="Slide Number Placeholder 3"/>
          <p:cNvSpPr>
            <a:spLocks noGrp="1"/>
          </p:cNvSpPr>
          <p:nvPr>
            <p:ph type="sldNum" idx="5" sz="quarter"/>
          </p:nvPr>
        </p:nvSpPr>
        <p:spPr/>
      </p:sp>
    </p:spTree>
  </p:cSld>
  <p:clrMapOvr>
    <a:masterClrMapping/>
  </p:clrMapOvr>
</p:notes>
</file>

<file path=ppt/notesSlides/notesSlide5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答案：尽快到正规医院就医，主动说明去过哪里、是否被蚊虫叮咬；告诉导师和课题组；不自行乱吃药；如实配合流行病学调查。解析：归来发热，就医说明旅行史，依法报告配合调查。</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9.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0.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1.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2.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3.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4.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5.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6.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7.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8.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9.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0.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1.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2.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3.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4.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5.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6.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7.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8.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9.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0.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1.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2.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3.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4.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5.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6.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7.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8.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9.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0.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1.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2.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3.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4.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5.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6.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7.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8.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9.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0.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1.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2.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3.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4.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5.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6.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7.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8.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9.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0.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1.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2.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3.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4.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5.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6.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7.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8.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9.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0.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1.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2.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3.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4.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5.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6.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7.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8.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9.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0.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1.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2.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3.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4.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5.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6.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7.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8.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9.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0.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1.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2.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3.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4.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5.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6.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7.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8.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9.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0.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1.xm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2.xml"/></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3.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4.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5.xml"/></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6.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7.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8.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9.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0.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1.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2.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3.xml"/></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4.xml"/></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5.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6.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7.xml"/></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8.xml"/></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9.xm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0.xml"/></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1.xm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2.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3.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4.xml"/></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5.xml"/></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6.xml"/></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7.xml"/></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8.xml"/></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9.xml"/></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0.xml"/></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1.xml"/></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2.xml"/></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3.xml"/></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4.xml"/></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5.xml"/></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6.xml"/></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7.xml"/></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8.xml"/></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9.xml"/></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0.xml"/></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1.xml"/></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2.xml"/></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3.xml"/></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4.xml"/></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5.xml"/></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6.xml"/></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7.xml"/></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8.xml"/></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9.xml"/></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0.xml"/></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1.xml"/></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2.xml"/></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3.xml"/></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4.xml"/></Relationships>
</file>

<file path=ppt/slides/_rels/slide3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5.xml"/></Relationships>
</file>

<file path=ppt/slides/_rels/slide3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6.xml"/></Relationships>
</file>

<file path=ppt/slides/_rels/slide3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7.xml"/></Relationships>
</file>

<file path=ppt/slides/_rels/slide3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8.xml"/></Relationships>
</file>

<file path=ppt/slides/_rels/slide3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9.xml"/></Relationships>
</file>

<file path=ppt/slides/_rels/slide3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0.xml"/></Relationships>
</file>

<file path=ppt/slides/_rels/slide3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1.xml"/></Relationships>
</file>

<file path=ppt/slides/_rels/slide3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2.xml"/></Relationships>
</file>

<file path=ppt/slides/_rels/slide3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3.xml"/></Relationships>
</file>

<file path=ppt/slides/_rels/slide3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4.xml"/></Relationships>
</file>

<file path=ppt/slides/_rels/slide3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5.xml"/></Relationships>
</file>

<file path=ppt/slides/_rels/slide3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6.xml"/></Relationships>
</file>

<file path=ppt/slides/_rels/slide3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7.xml"/></Relationships>
</file>

<file path=ppt/slides/_rels/slide3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8.xml"/></Relationships>
</file>

<file path=ppt/slides/_rels/slide3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9.xml"/></Relationships>
</file>

<file path=ppt/slides/_rels/slide3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0.xml"/></Relationships>
</file>

<file path=ppt/slides/_rels/slide3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1.xml"/></Relationships>
</file>

<file path=ppt/slides/_rels/slide3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2.xml"/></Relationships>
</file>

<file path=ppt/slides/_rels/slide3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3.xml"/></Relationships>
</file>

<file path=ppt/slides/_rels/slide3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4.xml"/></Relationships>
</file>

<file path=ppt/slides/_rels/slide3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5.xml"/></Relationships>
</file>

<file path=ppt/slides/_rels/slide3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6.xml"/></Relationships>
</file>

<file path=ppt/slides/_rels/slide3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7.xml"/></Relationships>
</file>

<file path=ppt/slides/_rels/slide3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8.xml"/></Relationships>
</file>

<file path=ppt/slides/_rels/slide3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9.xml"/></Relationships>
</file>

<file path=ppt/slides/_rels/slide3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0.xml"/></Relationships>
</file>

<file path=ppt/slides/_rels/slide3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1.xml"/></Relationships>
</file>

<file path=ppt/slides/_rels/slide3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2.xml"/></Relationships>
</file>

<file path=ppt/slides/_rels/slide3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3.xml"/></Relationships>
</file>

<file path=ppt/slides/_rels/slide3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4.xml"/></Relationships>
</file>

<file path=ppt/slides/_rels/slide3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5.xml"/></Relationships>
</file>

<file path=ppt/slides/_rels/slide3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6.xml"/></Relationships>
</file>

<file path=ppt/slides/_rels/slide3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7.xml"/></Relationships>
</file>

<file path=ppt/slides/_rels/slide3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8.xml"/></Relationships>
</file>

<file path=ppt/slides/_rels/slide3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9.xml"/></Relationships>
</file>

<file path=ppt/slides/_rels/slide3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0.xml"/></Relationships>
</file>

<file path=ppt/slides/_rels/slide3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1.xml"/></Relationships>
</file>

<file path=ppt/slides/_rels/slide3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2.xml"/></Relationships>
</file>

<file path=ppt/slides/_rels/slide3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3.xml"/></Relationships>
</file>

<file path=ppt/slides/_rels/slide3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4.xml"/></Relationships>
</file>

<file path=ppt/slides/_rels/slide3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5.xml"/></Relationships>
</file>

<file path=ppt/slides/_rels/slide3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6.xml"/></Relationships>
</file>

<file path=ppt/slides/_rels/slide3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7.xml"/></Relationships>
</file>

<file path=ppt/slides/_rels/slide3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8.xml"/></Relationships>
</file>

<file path=ppt/slides/_rels/slide3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9.xml"/></Relationships>
</file>

<file path=ppt/slides/_rels/slide3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0.xml"/></Relationships>
</file>

<file path=ppt/slides/_rels/slide3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1.xml"/></Relationships>
</file>

<file path=ppt/slides/_rels/slide3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2.xml"/></Relationships>
</file>

<file path=ppt/slides/_rels/slide3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3.xml"/></Relationships>
</file>

<file path=ppt/slides/_rels/slide3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4.xml"/></Relationships>
</file>

<file path=ppt/slides/_rels/slide3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5.xml"/></Relationships>
</file>

<file path=ppt/slides/_rels/slide3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6.xml"/></Relationships>
</file>

<file path=ppt/slides/_rels/slide3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7.xml"/></Relationships>
</file>

<file path=ppt/slides/_rels/slide3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8.xml"/></Relationships>
</file>

<file path=ppt/slides/_rels/slide3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9.xml"/></Relationships>
</file>

<file path=ppt/slides/_rels/slide3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0.xml"/></Relationships>
</file>

<file path=ppt/slides/_rels/slide3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1.xml"/></Relationships>
</file>

<file path=ppt/slides/_rels/slide3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2.xml"/></Relationships>
</file>

<file path=ppt/slides/_rels/slide3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3.xml"/></Relationships>
</file>

<file path=ppt/slides/_rels/slide3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4.xml"/></Relationships>
</file>

<file path=ppt/slides/_rels/slide3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5.xml"/></Relationships>
</file>

<file path=ppt/slides/_rels/slide3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6.xml"/></Relationships>
</file>

<file path=ppt/slides/_rels/slide3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7.xml"/></Relationships>
</file>

<file path=ppt/slides/_rels/slide3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8.xml"/></Relationships>
</file>

<file path=ppt/slides/_rels/slide3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9.xml"/></Relationships>
</file>

<file path=ppt/slides/_rels/slide3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0.xml"/></Relationships>
</file>

<file path=ppt/slides/_rels/slide3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1.xml"/></Relationships>
</file>

<file path=ppt/slides/_rels/slide3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2.xml"/></Relationships>
</file>

<file path=ppt/slides/_rels/slide3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3.xml"/></Relationships>
</file>

<file path=ppt/slides/_rels/slide3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4.xml"/></Relationships>
</file>

<file path=ppt/slides/_rels/slide3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5.xml"/></Relationships>
</file>

<file path=ppt/slides/_rels/slide3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6.xml"/></Relationships>
</file>

<file path=ppt/slides/_rels/slide3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7.xml"/></Relationships>
</file>

<file path=ppt/slides/_rels/slide3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8.xml"/></Relationships>
</file>

<file path=ppt/slides/_rels/slide4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9.xml"/></Relationships>
</file>

<file path=ppt/slides/_rels/slide4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0.xml"/></Relationships>
</file>

<file path=ppt/slides/_rels/slide4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1.xml"/></Relationships>
</file>

<file path=ppt/slides/_rels/slide4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2.xml"/></Relationships>
</file>

<file path=ppt/slides/_rels/slide4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3.xml"/></Relationships>
</file>

<file path=ppt/slides/_rels/slide4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4.xml"/></Relationships>
</file>

<file path=ppt/slides/_rels/slide4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5.xml"/></Relationships>
</file>

<file path=ppt/slides/_rels/slide4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6.xml"/></Relationships>
</file>

<file path=ppt/slides/_rels/slide4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7.xml"/></Relationships>
</file>

<file path=ppt/slides/_rels/slide4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8.xml"/></Relationships>
</file>

<file path=ppt/slides/_rels/slide4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9.xml"/></Relationships>
</file>

<file path=ppt/slides/_rels/slide4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0.xml"/></Relationships>
</file>

<file path=ppt/slides/_rels/slide4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1.xml"/></Relationships>
</file>

<file path=ppt/slides/_rels/slide4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2.xml"/></Relationships>
</file>

<file path=ppt/slides/_rels/slide4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3.xml"/></Relationships>
</file>

<file path=ppt/slides/_rels/slide4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4.xml"/></Relationships>
</file>

<file path=ppt/slides/_rels/slide4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5.xml"/></Relationships>
</file>

<file path=ppt/slides/_rels/slide4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6.xml"/></Relationships>
</file>

<file path=ppt/slides/_rels/slide4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7.xml"/></Relationships>
</file>

<file path=ppt/slides/_rels/slide4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8.xml"/></Relationships>
</file>

<file path=ppt/slides/_rels/slide4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9.xml"/></Relationships>
</file>

<file path=ppt/slides/_rels/slide4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0.xml"/></Relationships>
</file>

<file path=ppt/slides/_rels/slide4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1.xml"/></Relationships>
</file>

<file path=ppt/slides/_rels/slide4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2.xml"/></Relationships>
</file>

<file path=ppt/slides/_rels/slide4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3.xml"/></Relationships>
</file>

<file path=ppt/slides/_rels/slide4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4.xml"/></Relationships>
</file>

<file path=ppt/slides/_rels/slide4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5.xml"/></Relationships>
</file>

<file path=ppt/slides/_rels/slide4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6.xml"/></Relationships>
</file>

<file path=ppt/slides/_rels/slide4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7.xml"/></Relationships>
</file>

<file path=ppt/slides/_rels/slide4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8.xml"/></Relationships>
</file>

<file path=ppt/slides/_rels/slide4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9.xml"/></Relationships>
</file>

<file path=ppt/slides/_rels/slide4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0.xml"/></Relationships>
</file>

<file path=ppt/slides/_rels/slide4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1.xml"/></Relationships>
</file>

<file path=ppt/slides/_rels/slide4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2.xml"/></Relationships>
</file>

<file path=ppt/slides/_rels/slide4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3.xml"/></Relationships>
</file>

<file path=ppt/slides/_rels/slide4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4.xml"/></Relationships>
</file>

<file path=ppt/slides/_rels/slide4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5.xml"/></Relationships>
</file>

<file path=ppt/slides/_rels/slide4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6.xml"/></Relationships>
</file>

<file path=ppt/slides/_rels/slide4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7.xml"/></Relationships>
</file>

<file path=ppt/slides/_rels/slide4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8.xml"/></Relationships>
</file>

<file path=ppt/slides/_rels/slide4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9.xml"/></Relationships>
</file>

<file path=ppt/slides/_rels/slide4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0.xml"/></Relationships>
</file>

<file path=ppt/slides/_rels/slide4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1.xml"/></Relationships>
</file>

<file path=ppt/slides/_rels/slide4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2.xml"/></Relationships>
</file>

<file path=ppt/slides/_rels/slide4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3.xml"/></Relationships>
</file>

<file path=ppt/slides/_rels/slide4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4.xml"/></Relationships>
</file>

<file path=ppt/slides/_rels/slide4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5.xml"/></Relationships>
</file>

<file path=ppt/slides/_rels/slide4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6.xml"/></Relationships>
</file>

<file path=ppt/slides/_rels/slide4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7.xml"/></Relationships>
</file>

<file path=ppt/slides/_rels/slide4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8.xml"/></Relationships>
</file>

<file path=ppt/slides/_rels/slide4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9.xml"/></Relationships>
</file>

<file path=ppt/slides/_rels/slide4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0.xml"/></Relationships>
</file>

<file path=ppt/slides/_rels/slide4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1.xml"/></Relationships>
</file>

<file path=ppt/slides/_rels/slide4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2.xml"/></Relationships>
</file>

<file path=ppt/slides/_rels/slide4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3.xml"/></Relationships>
</file>

<file path=ppt/slides/_rels/slide4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4.xml"/></Relationships>
</file>

<file path=ppt/slides/_rels/slide4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5.xml"/></Relationships>
</file>

<file path=ppt/slides/_rels/slide4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6.xml"/></Relationships>
</file>

<file path=ppt/slides/_rels/slide4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7.xml"/></Relationships>
</file>

<file path=ppt/slides/_rels/slide4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8.xml"/></Relationships>
</file>

<file path=ppt/slides/_rels/slide4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9.xml"/></Relationships>
</file>

<file path=ppt/slides/_rels/slide4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0.xml"/></Relationships>
</file>

<file path=ppt/slides/_rels/slide4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1.xml"/></Relationships>
</file>

<file path=ppt/slides/_rels/slide4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2.xml"/></Relationships>
</file>

<file path=ppt/slides/_rels/slide4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3.xml"/></Relationships>
</file>

<file path=ppt/slides/_rels/slide4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4.xml"/></Relationships>
</file>

<file path=ppt/slides/_rels/slide4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5.xml"/></Relationships>
</file>

<file path=ppt/slides/_rels/slide4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6.xml"/></Relationships>
</file>

<file path=ppt/slides/_rels/slide4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7.xml"/></Relationships>
</file>

<file path=ppt/slides/_rels/slide4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8.xml"/></Relationships>
</file>

<file path=ppt/slides/_rels/slide4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9.xml"/></Relationships>
</file>

<file path=ppt/slides/_rels/slide4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0.xml"/></Relationships>
</file>

<file path=ppt/slides/_rels/slide4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1.xml"/></Relationships>
</file>

<file path=ppt/slides/_rels/slide4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2.xml"/></Relationships>
</file>

<file path=ppt/slides/_rels/slide4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3.xml"/></Relationships>
</file>

<file path=ppt/slides/_rels/slide4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4.xml"/></Relationships>
</file>

<file path=ppt/slides/_rels/slide4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5.xml"/></Relationships>
</file>

<file path=ppt/slides/_rels/slide4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6.xml"/></Relationships>
</file>

<file path=ppt/slides/_rels/slide4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7.xml"/></Relationships>
</file>

<file path=ppt/slides/_rels/slide4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8.xml"/></Relationships>
</file>

<file path=ppt/slides/_rels/slide5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9.xml"/></Relationships>
</file>

<file path=ppt/slides/_rels/slide5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0.xml"/></Relationships>
</file>

<file path=ppt/slides/_rels/slide5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1.xml"/></Relationships>
</file>

<file path=ppt/slides/_rels/slide5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2.xml"/></Relationships>
</file>

<file path=ppt/slides/_rels/slide5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3.xml"/></Relationships>
</file>

<file path=ppt/slides/_rels/slide5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4.xml"/></Relationships>
</file>

<file path=ppt/slides/_rels/slide5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5.xml"/></Relationships>
</file>

<file path=ppt/slides/_rels/slide5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6.xml"/></Relationships>
</file>

<file path=ppt/slides/_rels/slide5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7.xml"/></Relationships>
</file>

<file path=ppt/slides/_rels/slide5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8.xml"/></Relationships>
</file>

<file path=ppt/slides/_rels/slide5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9.xml"/></Relationships>
</file>

<file path=ppt/slides/_rels/slide5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0.xml"/></Relationships>
</file>

<file path=ppt/slides/_rels/slide5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1.xml"/></Relationships>
</file>

<file path=ppt/slides/_rels/slide5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2.xml"/></Relationships>
</file>

<file path=ppt/slides/_rels/slide5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3.xml"/></Relationships>
</file>

<file path=ppt/slides/_rels/slide5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4.xml"/></Relationships>
</file>

<file path=ppt/slides/_rels/slide5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5.xml"/></Relationships>
</file>

<file path=ppt/slides/_rels/slide5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6.xml"/></Relationships>
</file>

<file path=ppt/slides/_rels/slide5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7.xml"/></Relationships>
</file>

<file path=ppt/slides/_rels/slide5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8.xml"/></Relationships>
</file>

<file path=ppt/slides/_rels/slide5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9.xml"/></Relationships>
</file>

<file path=ppt/slides/_rels/slide5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0.xml"/></Relationships>
</file>

<file path=ppt/slides/_rels/slide5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1.xml"/></Relationships>
</file>

<file path=ppt/slides/_rels/slide5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2.xml"/></Relationships>
</file>

<file path=ppt/slides/_rels/slide5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3.xml"/></Relationships>
</file>

<file path=ppt/slides/_rels/slide5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4.xml"/></Relationships>
</file>

<file path=ppt/slides/_rels/slide5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5.xml"/></Relationships>
</file>

<file path=ppt/slides/_rels/slide5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6.xml"/></Relationships>
</file>

<file path=ppt/slides/_rels/slide5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7.xml"/></Relationships>
</file>

<file path=ppt/slides/_rels/slide5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8.xml"/></Relationships>
</file>

<file path=ppt/slides/_rels/slide5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9.xml"/></Relationships>
</file>

<file path=ppt/slides/_rels/slide5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0.xml"/></Relationships>
</file>

<file path=ppt/slides/_rels/slide5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1.xml"/></Relationships>
</file>

<file path=ppt/slides/_rels/slide5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2.xml"/></Relationships>
</file>

<file path=ppt/slides/_rels/slide5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3.xml"/></Relationships>
</file>

<file path=ppt/slides/_rels/slide5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4.xml"/></Relationships>
</file>

<file path=ppt/slides/_rels/slide5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5.xml"/></Relationships>
</file>

<file path=ppt/slides/_rels/slide5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6.xml"/></Relationships>
</file>

<file path=ppt/slides/_rels/slide5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7.xml"/></Relationships>
</file>

<file path=ppt/slides/_rels/slide5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8.xml"/></Relationships>
</file>

<file path=ppt/slides/_rels/slide5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9.xml"/></Relationships>
</file>

<file path=ppt/slides/_rels/slide5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0.xml"/></Relationships>
</file>

<file path=ppt/slides/_rels/slide5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1.xml"/></Relationships>
</file>

<file path=ppt/slides/_rels/slide5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2.xml"/></Relationships>
</file>

<file path=ppt/slides/_rels/slide5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3.xml"/></Relationships>
</file>

<file path=ppt/slides/_rels/slide5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4.xml"/></Relationships>
</file>

<file path=ppt/slides/_rels/slide5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5.xml"/></Relationships>
</file>

<file path=ppt/slides/_rels/slide5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6.xml"/></Relationships>
</file>

<file path=ppt/slides/_rels/slide5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7.xml"/></Relationships>
</file>

<file path=ppt/slides/_rels/slide5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8.xml"/></Relationships>
</file>

<file path=ppt/slides/_rels/slide5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9.xml"/></Relationships>
</file>

<file path=ppt/slides/_rels/slide5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0.xml"/></Relationships>
</file>

<file path=ppt/slides/_rels/slide5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1.xml"/></Relationships>
</file>

<file path=ppt/slides/_rels/slide5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2.xml"/></Relationships>
</file>

<file path=ppt/slides/_rels/slide5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3.xml"/></Relationships>
</file>

<file path=ppt/slides/_rels/slide5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4.xml"/></Relationships>
</file>

<file path=ppt/slides/_rels/slide5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5.xml"/></Relationships>
</file>

<file path=ppt/slides/_rels/slide5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6.xml"/></Relationships>
</file>

<file path=ppt/slides/_rels/slide5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7.xml"/></Relationships>
</file>

<file path=ppt/slides/_rels/slide5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8.xml"/></Relationships>
</file>

<file path=ppt/slides/_rels/slide5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9.xml"/></Relationships>
</file>

<file path=ppt/slides/_rels/slide5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0.xml"/></Relationships>
</file>

<file path=ppt/slides/_rels/slide5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1.xml"/></Relationships>
</file>

<file path=ppt/slides/_rels/slide5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2.xml"/></Relationships>
</file>

<file path=ppt/slides/_rels/slide5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3.xml"/></Relationships>
</file>

<file path=ppt/slides/_rels/slide5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4.xml"/></Relationships>
</file>

<file path=ppt/slides/_rels/slide5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5.xml"/></Relationships>
</file>

<file path=ppt/slides/_rels/slide5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6.xml"/></Relationships>
</file>

<file path=ppt/slides/_rels/slide5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7.xml"/></Relationships>
</file>

<file path=ppt/slides/_rels/slide5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8.xml"/></Relationships>
</file>

<file path=ppt/slides/_rels/slide5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9.xml"/></Relationships>
</file>

<file path=ppt/slides/_rels/slide5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0.xml"/></Relationships>
</file>

<file path=ppt/slides/_rels/slide5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1.xml"/></Relationships>
</file>

<file path=ppt/slides/_rels/slide5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2.xml"/></Relationships>
</file>

<file path=ppt/slides/_rels/slide5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3.xml"/></Relationships>
</file>

<file path=ppt/slides/_rels/slide5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4.xml"/></Relationships>
</file>

<file path=ppt/slides/_rels/slide5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5.xml"/></Relationships>
</file>

<file path=ppt/slides/_rels/slide5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6.xml"/></Relationships>
</file>

<file path=ppt/slides/_rels/slide5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7.xml"/></Relationships>
</file>

<file path=ppt/slides/_rels/slide5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8.xml"/></Relationships>
</file>

<file path=ppt/slides/_rels/slide5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9.xml"/></Relationships>
</file>

<file path=ppt/slides/_rels/slide5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0.xml"/></Relationships>
</file>

<file path=ppt/slides/_rels/slide6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1.xml"/></Relationships>
</file>

<file path=ppt/slides/_rels/slide6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2.xml"/></Relationships>
</file>

<file path=ppt/slides/_rels/slide6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3.xml"/></Relationships>
</file>

<file path=ppt/slides/_rels/slide6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4.xml"/></Relationships>
</file>

<file path=ppt/slides/_rels/slide6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5.xml"/></Relationships>
</file>

<file path=ppt/slides/_rels/slide6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6.xml"/></Relationships>
</file>

<file path=ppt/slides/_rels/slide6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7.xml"/></Relationships>
</file>

<file path=ppt/slides/_rels/slide6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8.xml"/></Relationships>
</file>

<file path=ppt/slides/_rels/slide6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9.xml"/></Relationships>
</file>

<file path=ppt/slides/_rels/slide6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0.xml"/></Relationships>
</file>

<file path=ppt/slides/_rels/slide6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1.xml"/></Relationships>
</file>

<file path=ppt/slides/_rels/slide6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2.xml"/></Relationships>
</file>

<file path=ppt/slides/_rels/slide6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3.xml"/></Relationships>
</file>

<file path=ppt/slides/_rels/slide6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4.xml"/></Relationships>
</file>

<file path=ppt/slides/_rels/slide6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5.xml"/></Relationships>
</file>

<file path=ppt/slides/_rels/slide6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6.xml"/></Relationships>
</file>

<file path=ppt/slides/_rels/slide6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7.xml"/></Relationships>
</file>

<file path=ppt/slides/_rels/slide6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057</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生物安全的概念与法规</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72 镜）　适用对象：进入生命科学、医学、农学、环境等涉及生物材料实验室的高校本科生、研究生和教职工（必修，进入生物实验室前完成）；实验室负责人和生物安全员重点学习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能说出生物安全的含义（安全操作、封闭控制）和目的（保护人员、环境和公众，防实验室获得性感染和病原意外释放），能区分生物危害、生物安全与生物安保。</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能说出生物安全的两大原则（风险评估与防护）、防护三要素（操作、设备、设施）和 5P 评估要素，知道国内病原分类与国际风险组顺序相反。</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能说出我国生物安全的主要法规和标准（生物安全法、病原微生物实验室生物安全管理条例、GB 19489、WS 233、《人间传染的病原微生物目录》），知道国际手册只作参考。</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能判断哪些做法违规（越级操作、私带样本、未经审批开展高致病性病原实验活动），知道违规要承担法律责任。</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《中华人民共和国生物安全法》（2021 年 4 月 15 日起施行，以现行文本为准）：生物安全领域的基础性法律，规定病原微生物实验室生物安全管理、法律责任</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《病原微生物实验室生物安全管理条例》（国务院令第 424 号公布，以现行文本为准）：病原微生物按危害程度分四类，实验室按防护水平分四级；一级、二级实验室备案，三级、四级实验室国家认可，高致病性病原微生物实验活动须经批准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生物安全通用要求》：风险评估、实验室设施设备、管理体系与安全手册</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233（以现行文本为准）《病原微生物实验室生物安全通用准则》：病原微生物实验室生物安全的通用技术和管理要求</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《人间传染的病原微生物目录》（国家卫生健康委发布，以现行版本为准）：病原微生物危害程度分类和实验活动所需防护水平的依据</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号，以现行文本为准）及高校实验室安全检查项目表：生物安全实验室的备案、准入、培训和管理</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本校生物安全管理制度：生物安全委员会审查、准入培训、实验活动审批，以本校规定为准</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生物实验室多了看不见的生物危害</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生物实验要和细胞、微生物打交道</a:t>
            </a:r>
          </a:p>
          <a:p>
            <a:pPr>
              <a:spcAft>
                <a:spcPts val="1000"/>
              </a:spcAft>
            </a:pPr>
            <a:r>
              <a:rPr sz="2000">
                <a:solidFill>
                  <a:srgbClr val="222B33"/>
                </a:solidFill>
                <a:latin typeface="Microsoft YaHei"/>
              </a:rPr>
              <a:t>▪ 病原体肉眼看不见，却能让健康人生病</a:t>
            </a:r>
          </a:p>
          <a:p>
            <a:pPr>
              <a:spcAft>
                <a:spcPts val="1000"/>
              </a:spcAft>
            </a:pPr>
            <a:r>
              <a:rPr sz="2000">
                <a:solidFill>
                  <a:srgbClr val="222B33"/>
                </a:solidFill>
                <a:latin typeface="Microsoft YaHei"/>
              </a:rPr>
              <a:t>▪ 样本、锐器、移液产生的气溶胶，风险就在手边</a:t>
            </a:r>
          </a:p>
          <a:p>
            <a:pPr>
              <a:spcAft>
                <a:spcPts val="1000"/>
              </a:spcAft>
            </a:pPr>
            <a:r>
              <a:rPr sz="2000">
                <a:solidFill>
                  <a:srgbClr val="222B33"/>
                </a:solidFill>
                <a:latin typeface="Microsoft YaHei"/>
              </a:rPr>
              <a:t>▪ 还有化学品和设备危害，措施一样不能少</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生命科学实验离不开细胞、微生物和各种生物样本。与其他实验室相比，生物实验室除了化学品、仪器设备、用电等常见危险，还多了一类生物危害：细菌、病毒等病原体肉眼看不见，却可能让健康人感染生病。</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认为“看不见就没危险”，随意对待样本和培养物</a:t>
            </a:r>
          </a:p>
          <a:p>
            <a:pPr>
              <a:spcAft>
                <a:spcPts val="1000"/>
              </a:spcAft>
            </a:pPr>
            <a:r>
              <a:rPr sz="1500">
                <a:solidFill>
                  <a:srgbClr val="222B33"/>
                </a:solidFill>
                <a:latin typeface="Microsoft YaHei"/>
              </a:rPr>
              <a:t>▪ 只注意生物危害，忽视同一实验室里的化学品和设备危险</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生物因子失控，会威胁公共卫生</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生物因子一旦失控，会威胁公众健康</a:t>
            </a:r>
          </a:p>
          <a:p>
            <a:pPr>
              <a:spcAft>
                <a:spcPts val="1000"/>
              </a:spcAft>
            </a:pPr>
            <a:r>
              <a:rPr sz="2000">
                <a:solidFill>
                  <a:srgbClr val="222B33"/>
                </a:solidFill>
                <a:latin typeface="Microsoft YaHei"/>
              </a:rPr>
              <a:t>▪ 一旦传开，可能引起流行</a:t>
            </a:r>
          </a:p>
          <a:p>
            <a:pPr>
              <a:spcAft>
                <a:spcPts val="1000"/>
              </a:spcAft>
            </a:pPr>
            <a:r>
              <a:rPr sz="2000">
                <a:solidFill>
                  <a:srgbClr val="222B33"/>
                </a:solidFill>
                <a:latin typeface="Microsoft YaHei"/>
              </a:rPr>
              <a:t>▪ 认识指示病例、医院内感染、经皮刺伤、流行病学</a:t>
            </a:r>
          </a:p>
          <a:p>
            <a:pPr>
              <a:spcAft>
                <a:spcPts val="1000"/>
              </a:spcAft>
            </a:pPr>
            <a:r>
              <a:rPr sz="2000">
                <a:solidFill>
                  <a:srgbClr val="222B33"/>
                </a:solidFill>
                <a:latin typeface="Microsoft YaHei"/>
              </a:rPr>
              <a:t>▪ 管好风险，研究才能走得远；这是共同的责任</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因子与化学品不同：它能在人群中传播。一旦从实验室失控逸出，受害的可能不只是操作者本人，还可能引起疾病流行，威胁整个社会的公共卫生。随着新发传染病不断出现，生物因子对公众健康的威胁也在增加。</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认为实验室感染只影响自己一个人</a:t>
            </a:r>
          </a:p>
          <a:p>
            <a:pPr>
              <a:spcAft>
                <a:spcPts val="1000"/>
              </a:spcAft>
            </a:pPr>
            <a:r>
              <a:rPr sz="1500">
                <a:solidFill>
                  <a:srgbClr val="222B33"/>
                </a:solidFill>
                <a:latin typeface="Microsoft YaHei"/>
              </a:rPr>
              <a:t>▪ 认为生物安全只是生物安全员的事</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什么是生物安全：安全操作、封闭控制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生物安全就是安全地操作感染性材料</a:t>
            </a:r>
          </a:p>
          <a:p>
            <a:pPr>
              <a:spcAft>
                <a:spcPts val="1000"/>
              </a:spcAft>
            </a:pPr>
            <a:r>
              <a:rPr sz="2000">
                <a:solidFill>
                  <a:srgbClr val="222B33"/>
                </a:solidFill>
                <a:latin typeface="Microsoft YaHei"/>
              </a:rPr>
              <a:t>▪ 并把它们牢牢控制、封闭在里面</a:t>
            </a:r>
          </a:p>
          <a:p>
            <a:pPr>
              <a:spcAft>
                <a:spcPts val="1000"/>
              </a:spcAft>
            </a:pPr>
            <a:r>
              <a:rPr sz="2000">
                <a:solidFill>
                  <a:srgbClr val="222B33"/>
                </a:solidFill>
                <a:latin typeface="Microsoft YaHei"/>
              </a:rPr>
              <a:t>▪ 给生物因子划好边界，不让它逸出</a:t>
            </a:r>
          </a:p>
          <a:p>
            <a:pPr>
              <a:spcAft>
                <a:spcPts val="1000"/>
              </a:spcAft>
            </a:pPr>
            <a:r>
              <a:rPr sz="2000">
                <a:solidFill>
                  <a:srgbClr val="222B33"/>
                </a:solidFill>
                <a:latin typeface="Microsoft YaHei"/>
              </a:rPr>
              <a:t>▪ 微生物实验室最核心的就是生物安全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生物安全，讲的是怎样安全地操作有感染性的微生物和其他有危害的生物材料，并把它们控制、封闭（也称“防护”或“封闭”）在规定的范围内。所谓防护，就是给生物因子划定边界，让它留在设备和设施里，不逸出伤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把生物安全理解成“戴好手套就行”</a:t>
            </a:r>
          </a:p>
          <a:p>
            <a:pPr>
              <a:spcAft>
                <a:spcPts val="1000"/>
              </a:spcAft>
            </a:pPr>
            <a:r>
              <a:rPr sz="1500">
                <a:solidFill>
                  <a:srgbClr val="222B33"/>
                </a:solidFill>
                <a:latin typeface="Microsoft YaHei"/>
              </a:rPr>
              <a:t>▪ 只想着保护实验样品，不考虑把病原封闭在实验室内</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目的：护人员、护环境、护公众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首先保护做实验的人</a:t>
            </a:r>
          </a:p>
          <a:p>
            <a:pPr>
              <a:spcAft>
                <a:spcPts val="1000"/>
              </a:spcAft>
            </a:pPr>
            <a:r>
              <a:rPr sz="2000">
                <a:solidFill>
                  <a:srgbClr val="222B33"/>
                </a:solidFill>
                <a:latin typeface="Microsoft YaHei"/>
              </a:rPr>
              <a:t>▪ 也保护实验室环境和周边社区公众</a:t>
            </a:r>
          </a:p>
          <a:p>
            <a:pPr>
              <a:spcAft>
                <a:spcPts val="1000"/>
              </a:spcAft>
            </a:pPr>
            <a:r>
              <a:rPr sz="2000">
                <a:solidFill>
                  <a:srgbClr val="222B33"/>
                </a:solidFill>
                <a:latin typeface="Microsoft YaHei"/>
              </a:rPr>
              <a:t>▪ 目标一：防止实验室获得性感染</a:t>
            </a:r>
          </a:p>
          <a:p>
            <a:pPr>
              <a:spcAft>
                <a:spcPts val="1000"/>
              </a:spcAft>
            </a:pPr>
            <a:r>
              <a:rPr sz="2000">
                <a:solidFill>
                  <a:srgbClr val="222B33"/>
                </a:solidFill>
                <a:latin typeface="Microsoft YaHei"/>
              </a:rPr>
              <a:t>▪ 目标二：防止病原意外释放到外界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生物安全依靠规范的做法、程序和设备，保护三方面：一是实验室工作人员；二是实验室和周边环境；三是社区公众。</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只关心自己不被感染，把污染的物品、衣物带出实验室</a:t>
            </a:r>
          </a:p>
          <a:p>
            <a:pPr>
              <a:spcAft>
                <a:spcPts val="1000"/>
              </a:spcAft>
            </a:pPr>
            <a:r>
              <a:rPr sz="1500">
                <a:solidFill>
                  <a:srgbClr val="222B33"/>
                </a:solidFill>
                <a:latin typeface="Microsoft YaHei"/>
              </a:rPr>
              <a:t>▪ 认为病原“漏一点”不要紧</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生物危害、生物安全与生物安保</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生物危害：可能伤人的生物因子</a:t>
            </a:r>
          </a:p>
          <a:p>
            <a:pPr>
              <a:spcAft>
                <a:spcPts val="1000"/>
              </a:spcAft>
            </a:pPr>
            <a:r>
              <a:rPr sz="2000">
                <a:solidFill>
                  <a:srgbClr val="222B33"/>
                </a:solidFill>
                <a:latin typeface="Microsoft YaHei"/>
              </a:rPr>
              <a:t>▪ 生物安全：防无意的暴露和释放</a:t>
            </a:r>
          </a:p>
          <a:p>
            <a:pPr>
              <a:spcAft>
                <a:spcPts val="1000"/>
              </a:spcAft>
            </a:pPr>
            <a:r>
              <a:rPr sz="2000">
                <a:solidFill>
                  <a:srgbClr val="222B33"/>
                </a:solidFill>
                <a:latin typeface="Microsoft YaHei"/>
              </a:rPr>
              <a:t>▪ 生物安保：防丢失、被盗、被滥用</a:t>
            </a:r>
          </a:p>
          <a:p>
            <a:pPr>
              <a:spcAft>
                <a:spcPts val="1000"/>
              </a:spcAft>
            </a:pPr>
            <a:r>
              <a:rPr sz="2000">
                <a:solidFill>
                  <a:srgbClr val="222B33"/>
                </a:solidFill>
                <a:latin typeface="Microsoft YaHei"/>
              </a:rPr>
              <a:t>▪ 三者互相咬合，一个也不能少</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这三个词常放在一起，含义不同：生物危害，是指可能对人、动物、植物或环境造成伤害的生物因子或材料；生物安全（实验室生物安全），重点防的是无意中的暴露和释放，比如操作失误、设施故障、防护失效，虽然不是故意的，也会危害人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认为生物安全只管操作，样本丢了与己无关</a:t>
            </a:r>
          </a:p>
          <a:p>
            <a:pPr>
              <a:spcAft>
                <a:spcPts val="1000"/>
              </a:spcAft>
            </a:pPr>
            <a:r>
              <a:rPr sz="1500">
                <a:solidFill>
                  <a:srgbClr val="222B33"/>
                </a:solidFill>
                <a:latin typeface="Microsoft YaHei"/>
              </a:rPr>
              <a:t>▪ 把菌（毒）种和样本随意放在不上锁、无登记的地方</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两大原则：风险评估与防护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生物安全有两大原则：风险评估和防护</a:t>
            </a:r>
          </a:p>
          <a:p>
            <a:pPr>
              <a:spcAft>
                <a:spcPts val="1000"/>
              </a:spcAft>
            </a:pPr>
            <a:r>
              <a:rPr sz="2000">
                <a:solidFill>
                  <a:srgbClr val="222B33"/>
                </a:solidFill>
                <a:latin typeface="Microsoft YaHei"/>
              </a:rPr>
              <a:t>▪ 先评估风险有多大</a:t>
            </a:r>
          </a:p>
          <a:p>
            <a:pPr>
              <a:spcAft>
                <a:spcPts val="1000"/>
              </a:spcAft>
            </a:pPr>
            <a:r>
              <a:rPr sz="2000">
                <a:solidFill>
                  <a:srgbClr val="222B33"/>
                </a:solidFill>
                <a:latin typeface="Microsoft YaHei"/>
              </a:rPr>
              <a:t>▪ 再按评估结果配上相应的防护</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生物安全工作有两大原则：一是风险评估，二是防护。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不做评估，凭经验决定在哪里做、怎么防护</a:t>
            </a:r>
          </a:p>
          <a:p>
            <a:pPr>
              <a:spcAft>
                <a:spcPts val="1000"/>
              </a:spcAft>
            </a:pPr>
            <a:r>
              <a:rPr sz="1500">
                <a:solidFill>
                  <a:srgbClr val="222B33"/>
                </a:solidFill>
                <a:latin typeface="Microsoft YaHei"/>
              </a:rPr>
              <a:t>▪ 认为防护越多越好，不看评估结果</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防护三要素：操作、设备、设施</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防护靠规范操作、安全设备和专门设施</a:t>
            </a:r>
          </a:p>
          <a:p>
            <a:pPr>
              <a:spcAft>
                <a:spcPts val="1000"/>
              </a:spcAft>
            </a:pPr>
            <a:r>
              <a:rPr sz="2000">
                <a:solidFill>
                  <a:srgbClr val="222B33"/>
                </a:solidFill>
                <a:latin typeface="Microsoft YaHei"/>
              </a:rPr>
              <a:t>▪ 生物安全柜就是常用的安全设备</a:t>
            </a:r>
          </a:p>
          <a:p>
            <a:pPr>
              <a:spcAft>
                <a:spcPts val="1000"/>
              </a:spcAft>
            </a:pPr>
            <a:r>
              <a:rPr sz="2000">
                <a:solidFill>
                  <a:srgbClr val="222B33"/>
                </a:solidFill>
                <a:latin typeface="Microsoft YaHei"/>
              </a:rPr>
              <a:t>▪ 三者配套，少一样防护就有漏洞</a:t>
            </a:r>
          </a:p>
          <a:p>
            <a:pPr>
              <a:spcAft>
                <a:spcPts val="1000"/>
              </a:spcAft>
            </a:pPr>
            <a:r>
              <a:rPr sz="2000">
                <a:solidFill>
                  <a:srgbClr val="222B33"/>
                </a:solidFill>
                <a:latin typeface="Microsoft YaHei"/>
              </a:rPr>
              <a:t>▪ 目的是减少暴露，能消除就消除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防护不是一样东西，而是一整套：规范的操作方法和程序（如规程、培训、良好的微生物操作习惯）；专门的安全设备（如生物安全柜、密封离心杯、个人防护装备）；专门设计的实验室设施（如分区、门禁、通风、洗手和消毒灭菌设施）。</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有了生物安全柜就忽视操作规程</a:t>
            </a:r>
          </a:p>
          <a:p>
            <a:pPr>
              <a:spcAft>
                <a:spcPts val="1000"/>
              </a:spcAft>
            </a:pPr>
            <a:r>
              <a:rPr sz="1500">
                <a:solidFill>
                  <a:srgbClr val="222B33"/>
                </a:solidFill>
                <a:latin typeface="Microsoft YaHei"/>
              </a:rPr>
              <a:t>▪ 认为个人防护装备可以代替合格的实验室设施</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5P：评估风险的五个要素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5P：病原、人员、场所、防护、规程</a:t>
            </a:r>
          </a:p>
          <a:p>
            <a:pPr>
              <a:spcAft>
                <a:spcPts val="1000"/>
              </a:spcAft>
            </a:pPr>
            <a:r>
              <a:rPr sz="1700">
                <a:solidFill>
                  <a:srgbClr val="222B33"/>
                </a:solidFill>
                <a:latin typeface="Microsoft YaHei"/>
              </a:rPr>
              <a:t>▪ 国内第一类最危险，与国际风险组顺序相反</a:t>
            </a:r>
          </a:p>
          <a:p>
            <a:pPr>
              <a:spcAft>
                <a:spcPts val="1000"/>
              </a:spcAft>
            </a:pPr>
            <a:r>
              <a:rPr sz="1700">
                <a:solidFill>
                  <a:srgbClr val="222B33"/>
                </a:solidFill>
                <a:latin typeface="Microsoft YaHei"/>
              </a:rPr>
              <a:t>▪ 人员培训合格、身体适合；场所级别配得上危害</a:t>
            </a:r>
          </a:p>
          <a:p>
            <a:pPr>
              <a:spcAft>
                <a:spcPts val="1000"/>
              </a:spcAft>
            </a:pPr>
            <a:r>
              <a:rPr sz="1700">
                <a:solidFill>
                  <a:srgbClr val="222B33"/>
                </a:solidFill>
                <a:latin typeface="Microsoft YaHei"/>
              </a:rPr>
              <a:t>▪ 五个 P 一起看，哪个薄弱先补哪个</a:t>
            </a:r>
          </a:p>
          <a:p>
            <a:pPr>
              <a:spcAft>
                <a:spcPts val="1000"/>
              </a:spcAft>
            </a:pPr>
            <a:r>
              <a:rPr sz="1700">
                <a:solidFill>
                  <a:srgbClr val="222B33"/>
                </a:solidFill>
                <a:latin typeface="Microsoft YaHei"/>
              </a:rPr>
              <a:t>▪ 再加安全文化：人人尽责</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5P 是评估生物风险时常用的五个要素：</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把国际风险组的“4 组”当成国内的“第四类”，弄反危害高低</a:t>
            </a:r>
          </a:p>
          <a:p>
            <a:pPr>
              <a:spcAft>
                <a:spcPts val="1000"/>
              </a:spcAft>
            </a:pPr>
            <a:r>
              <a:rPr sz="1500">
                <a:solidFill>
                  <a:srgbClr val="222B33"/>
                </a:solidFill>
                <a:latin typeface="Microsoft YaHei"/>
              </a:rPr>
              <a:t>▪ 只看病原危害，不看人员能力和实验操作</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国内生物安全法规与标准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生物安全法是生物安全领域的基本法律</a:t>
            </a:r>
          </a:p>
          <a:p>
            <a:pPr>
              <a:spcAft>
                <a:spcPts val="1000"/>
              </a:spcAft>
            </a:pPr>
            <a:r>
              <a:rPr sz="1700">
                <a:solidFill>
                  <a:srgbClr val="222B33"/>
                </a:solidFill>
                <a:latin typeface="Microsoft YaHei"/>
              </a:rPr>
              <a:t>▪ 条例规定病原分四类、实验室分四级</a:t>
            </a:r>
          </a:p>
          <a:p>
            <a:pPr>
              <a:spcAft>
                <a:spcPts val="1000"/>
              </a:spcAft>
            </a:pPr>
            <a:r>
              <a:rPr sz="1700">
                <a:solidFill>
                  <a:srgbClr val="222B33"/>
                </a:solidFill>
                <a:latin typeface="Microsoft YaHei"/>
              </a:rPr>
              <a:t>▪ 技术要求看 GB 19489 和 WS 233</a:t>
            </a:r>
          </a:p>
          <a:p>
            <a:pPr>
              <a:spcAft>
                <a:spcPts val="1000"/>
              </a:spcAft>
            </a:pPr>
            <a:r>
              <a:rPr sz="1700">
                <a:solidFill>
                  <a:srgbClr val="222B33"/>
                </a:solidFill>
                <a:latin typeface="Microsoft YaHei"/>
              </a:rPr>
              <a:t>▪ 病原分类查《人间传染的病原微生物目录》</a:t>
            </a:r>
          </a:p>
          <a:p>
            <a:pPr>
              <a:spcAft>
                <a:spcPts val="1000"/>
              </a:spcAft>
            </a:pPr>
            <a:r>
              <a:rPr sz="1700">
                <a:solidFill>
                  <a:srgbClr val="222B33"/>
                </a:solidFill>
                <a:latin typeface="Microsoft YaHei"/>
              </a:rPr>
              <a:t>▪ 单位要提供防护、培训和健康监护</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开展生物实验，首先要遵守国家法规。我国生物安全的主要依据包括：</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只看国外课程或教材，不了解国内法规和本校规定</a:t>
            </a:r>
          </a:p>
          <a:p>
            <a:pPr>
              <a:spcAft>
                <a:spcPts val="1000"/>
              </a:spcAft>
            </a:pPr>
            <a:r>
              <a:rPr sz="1500">
                <a:solidFill>
                  <a:srgbClr val="222B33"/>
                </a:solidFill>
                <a:latin typeface="Microsoft YaHei"/>
              </a:rPr>
              <a:t>▪ 引用法规不核对现行文本</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国际手册只作参考，以国内法规为准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国际上的生物安全手册是很好的参照起点</a:t>
            </a:r>
          </a:p>
          <a:p>
            <a:pPr>
              <a:spcAft>
                <a:spcPts val="1000"/>
              </a:spcAft>
            </a:pPr>
            <a:r>
              <a:rPr sz="2000">
                <a:solidFill>
                  <a:srgbClr val="222B33"/>
                </a:solidFill>
                <a:latin typeface="Microsoft YaHei"/>
              </a:rPr>
              <a:t>▪ 它从生物安全的一般原则讲起</a:t>
            </a:r>
          </a:p>
          <a:p>
            <a:pPr>
              <a:spcAft>
                <a:spcPts val="1000"/>
              </a:spcAft>
            </a:pPr>
            <a:r>
              <a:rPr sz="2000">
                <a:solidFill>
                  <a:srgbClr val="222B33"/>
                </a:solidFill>
                <a:latin typeface="Microsoft YaHei"/>
              </a:rPr>
              <a:t>▪ 必须在国内法律框架内使用，国内法规优先</a:t>
            </a:r>
          </a:p>
          <a:p>
            <a:pPr>
              <a:spcAft>
                <a:spcPts val="1000"/>
              </a:spcAft>
            </a:pPr>
            <a:r>
              <a:rPr sz="2000">
                <a:solidFill>
                  <a:srgbClr val="222B33"/>
                </a:solidFill>
                <a:latin typeface="Microsoft YaHei"/>
              </a:rPr>
              <a:t>▪ 各实验室要编写本实验室的安全手册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国际上有通行的实验室生物安全手册，从生物安全的一般原则讲起，涵盖风险评估、防护、设备、培训等内容，是学习和参照的好起点。</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照搬国外手册中的数值和做法</a:t>
            </a:r>
          </a:p>
          <a:p>
            <a:pPr>
              <a:spcAft>
                <a:spcPts val="1000"/>
              </a:spcAft>
            </a:pPr>
            <a:r>
              <a:rPr sz="1500">
                <a:solidFill>
                  <a:srgbClr val="222B33"/>
                </a:solidFill>
                <a:latin typeface="Microsoft YaHei"/>
              </a:rPr>
              <a:t>▪ 实验室没有自己的安全手册，或手册放着没人看</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合规：外部合规与内部合规</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守国家法规标准，是外部合规</a:t>
            </a:r>
          </a:p>
          <a:p>
            <a:pPr>
              <a:spcAft>
                <a:spcPts val="1000"/>
              </a:spcAft>
            </a:pPr>
            <a:r>
              <a:rPr sz="2000">
                <a:solidFill>
                  <a:srgbClr val="222B33"/>
                </a:solidFill>
                <a:latin typeface="Microsoft YaHei"/>
              </a:rPr>
              <a:t>▪ 守单位方针和制度，是内部合规</a:t>
            </a:r>
          </a:p>
          <a:p>
            <a:pPr>
              <a:spcAft>
                <a:spcPts val="1000"/>
              </a:spcAft>
            </a:pPr>
            <a:r>
              <a:rPr sz="2000">
                <a:solidFill>
                  <a:srgbClr val="222B33"/>
                </a:solidFill>
                <a:latin typeface="Microsoft YaHei"/>
              </a:rPr>
              <a:t>▪ 国家、地方、学校的要求，逐项找全</a:t>
            </a:r>
          </a:p>
          <a:p>
            <a:pPr>
              <a:spcAft>
                <a:spcPts val="1000"/>
              </a:spcAft>
            </a:pPr>
            <a:r>
              <a:rPr sz="2000">
                <a:solidFill>
                  <a:srgbClr val="222B33"/>
                </a:solidFill>
                <a:latin typeface="Microsoft YaHei"/>
              </a:rPr>
              <a:t>▪ 对照制度，看看合规做到哪一步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合规，就是遵守法律、法规、标准和规则。遵守国家和地方的法律法规、标准，是外部合规；遵守本单位的方针、制度和规程，是内部合规。</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只知道国家法规，不知道本校、本实验室的规定</a:t>
            </a:r>
          </a:p>
          <a:p>
            <a:pPr>
              <a:spcAft>
                <a:spcPts val="1000"/>
              </a:spcAft>
            </a:pPr>
            <a:r>
              <a:rPr sz="1500">
                <a:solidFill>
                  <a:srgbClr val="222B33"/>
                </a:solidFill>
                <a:latin typeface="Microsoft YaHei"/>
              </a:rPr>
              <a:t>▪ 制度写在纸上，没有逐项落实</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依法备案审批，违规要担责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一级、二级实验室按规定备案</a:t>
            </a:r>
          </a:p>
          <a:p>
            <a:pPr>
              <a:spcAft>
                <a:spcPts val="1000"/>
              </a:spcAft>
            </a:pPr>
            <a:r>
              <a:rPr sz="2000">
                <a:solidFill>
                  <a:srgbClr val="222B33"/>
                </a:solidFill>
                <a:latin typeface="Microsoft YaHei"/>
              </a:rPr>
              <a:t>▪ 三级、四级实验室须经国家认可</a:t>
            </a:r>
          </a:p>
          <a:p>
            <a:pPr>
              <a:spcAft>
                <a:spcPts val="1000"/>
              </a:spcAft>
            </a:pPr>
            <a:r>
              <a:rPr sz="2000">
                <a:solidFill>
                  <a:srgbClr val="222B33"/>
                </a:solidFill>
                <a:latin typeface="Microsoft YaHei"/>
              </a:rPr>
              <a:t>▪ 高致病性病原的实验活动，先审批再做</a:t>
            </a:r>
          </a:p>
          <a:p>
            <a:pPr>
              <a:spcAft>
                <a:spcPts val="1000"/>
              </a:spcAft>
            </a:pPr>
            <a:r>
              <a:rPr sz="2000">
                <a:solidFill>
                  <a:srgbClr val="222B33"/>
                </a:solidFill>
                <a:latin typeface="Microsoft YaHei"/>
              </a:rPr>
              <a:t>▪ 越级操作、私带样本都是违规，要担法律责任</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按《病原微生物实验室生物安全管理条例》等规定（以现行文本为准）：新建、改建、扩建一级、二级生物安全实验室，按规定向主管部门备案；三级、四级实验室须通过国家认可，开展高致病性病原微生物相关实验活动还须经批准。具体程序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认为“只做一次、量很小”就可以在普通实验室里做</a:t>
            </a:r>
          </a:p>
          <a:p>
            <a:pPr>
              <a:spcAft>
                <a:spcPts val="1000"/>
              </a:spcAft>
            </a:pPr>
            <a:r>
              <a:rPr sz="1500">
                <a:solidFill>
                  <a:srgbClr val="222B33"/>
                </a:solidFill>
                <a:latin typeface="Microsoft YaHei"/>
              </a:rPr>
              <a:t>▪ 把样本带回宿舍或私自送给其他单位</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持续学习、保持警觉、防患未然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持续学习新知识、新规定</a:t>
            </a:r>
          </a:p>
          <a:p>
            <a:pPr>
              <a:spcAft>
                <a:spcPts val="1000"/>
              </a:spcAft>
            </a:pPr>
            <a:r>
              <a:rPr sz="2000">
                <a:solidFill>
                  <a:srgbClr val="222B33"/>
                </a:solidFill>
                <a:latin typeface="Microsoft YaHei"/>
              </a:rPr>
              <a:t>▪ 对异常保持警觉，及时报告</a:t>
            </a:r>
          </a:p>
          <a:p>
            <a:pPr>
              <a:spcAft>
                <a:spcPts val="1000"/>
              </a:spcAft>
            </a:pPr>
            <a:r>
              <a:rPr sz="2000">
                <a:solidFill>
                  <a:srgbClr val="222B33"/>
                </a:solidFill>
                <a:latin typeface="Microsoft YaHei"/>
              </a:rPr>
              <a:t>▪ 防患于未然，人人做到生物安全</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生物安全的知识和法规在不断更新，要持续学习新知识、新规定，按要求参加复训。</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培训一次就不再更新知识</a:t>
            </a:r>
          </a:p>
          <a:p>
            <a:pPr>
              <a:spcAft>
                <a:spcPts val="1000"/>
              </a:spcAft>
            </a:pPr>
            <a:r>
              <a:rPr sz="1500">
                <a:solidFill>
                  <a:srgbClr val="222B33"/>
                </a:solidFill>
                <a:latin typeface="Microsoft YaHei"/>
              </a:rPr>
              <a:t>▪ 发现异常怕麻烦不报告</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下列关于我国病原微生物分类的说法，正确的是：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第四类危害最大</a:t>
            </a:r>
          </a:p>
          <a:p>
            <a:pPr algn="l"/>
            <a:r>
              <a:rPr sz="1500" b="0">
                <a:solidFill>
                  <a:srgbClr val="222B33"/>
                </a:solidFill>
                <a:latin typeface="Microsoft YaHei"/>
              </a:rPr>
              <a:t>B. 第一类危害最大，与国际风险组的顺序相反</a:t>
            </a:r>
          </a:p>
          <a:p>
            <a:pPr algn="l"/>
            <a:r>
              <a:rPr sz="1500" b="0">
                <a:solidFill>
                  <a:srgbClr val="222B33"/>
                </a:solidFill>
                <a:latin typeface="Microsoft YaHei"/>
              </a:rPr>
              <a:t>C. 与国际风险组顺序相同</a:t>
            </a:r>
          </a:p>
          <a:p>
            <a:pPr algn="l"/>
            <a:r>
              <a:rPr sz="1500" b="0">
                <a:solidFill>
                  <a:srgbClr val="222B33"/>
                </a:solidFill>
                <a:latin typeface="Microsoft YaHei"/>
              </a:rPr>
              <a:t>D. 只有三类</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判断：生物安全的目的只是保护做实验的人不被感染。</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防止菌（毒）种和样本被丢失、被盗、被滥用，主要属于：</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生物危害</a:t>
            </a:r>
          </a:p>
          <a:p>
            <a:pPr algn="l"/>
            <a:r>
              <a:rPr sz="1500" b="0">
                <a:solidFill>
                  <a:srgbClr val="222B33"/>
                </a:solidFill>
                <a:latin typeface="Microsoft YaHei"/>
              </a:rPr>
              <a:t>B. 生物安全</a:t>
            </a:r>
          </a:p>
          <a:p>
            <a:pPr algn="l"/>
            <a:r>
              <a:rPr sz="1500" b="0">
                <a:solidFill>
                  <a:srgbClr val="222B33"/>
                </a:solidFill>
                <a:latin typeface="Microsoft YaHei"/>
              </a:rPr>
              <a:t>C. 生物安保</a:t>
            </a:r>
          </a:p>
          <a:p>
            <a:pPr algn="l"/>
            <a:r>
              <a:rPr sz="1500" b="0">
                <a:solidFill>
                  <a:srgbClr val="222B33"/>
                </a:solidFill>
                <a:latin typeface="Microsoft YaHei"/>
              </a:rPr>
              <a:t>D. 化学安全</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5P 评估要素不包括：</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病原</a:t>
            </a:r>
          </a:p>
          <a:p>
            <a:pPr algn="l"/>
            <a:r>
              <a:rPr sz="1500" b="0">
                <a:solidFill>
                  <a:srgbClr val="222B33"/>
                </a:solidFill>
                <a:latin typeface="Microsoft YaHei"/>
              </a:rPr>
              <a:t>B. 人员</a:t>
            </a:r>
          </a:p>
          <a:p>
            <a:pPr algn="l"/>
            <a:r>
              <a:rPr sz="1500" b="0">
                <a:solidFill>
                  <a:srgbClr val="222B33"/>
                </a:solidFill>
                <a:latin typeface="Microsoft YaHei"/>
              </a:rPr>
              <a:t>C. 场所</a:t>
            </a:r>
          </a:p>
          <a:p>
            <a:pPr algn="l"/>
            <a:r>
              <a:rPr sz="1500" b="0">
                <a:solidFill>
                  <a:srgbClr val="222B33"/>
                </a:solidFill>
                <a:latin typeface="Microsoft YaHei"/>
              </a:rPr>
              <a:t>D. 价格</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判断：国际实验室生物安全手册内容全面，可以直接替代我国的法规和标准。</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简答：同学想在普通教学实验室里“只做一次”需要更高防护级别的实验，还打算把样本带回宿舍，这些做法有什么问题？</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生物实验室多了看不见的生物危害</a:t>
            </a:r>
          </a:p>
          <a:p>
            <a:pPr>
              <a:spcAft>
                <a:spcPts val="800"/>
              </a:spcAft>
            </a:pPr>
            <a:r>
              <a:rPr sz="1500">
                <a:solidFill>
                  <a:srgbClr val="FFFFFF"/>
                </a:solidFill>
                <a:latin typeface="Microsoft YaHei"/>
              </a:rPr>
              <a:t>▪ K2  生物因子失控，会威胁公共卫生</a:t>
            </a:r>
          </a:p>
          <a:p>
            <a:pPr>
              <a:spcAft>
                <a:spcPts val="800"/>
              </a:spcAft>
            </a:pPr>
            <a:r>
              <a:rPr sz="1500">
                <a:solidFill>
                  <a:srgbClr val="FFFFFF"/>
                </a:solidFill>
                <a:latin typeface="Microsoft YaHei"/>
              </a:rPr>
              <a:t>▪ K3  什么是生物安全：安全操作、封闭控制</a:t>
            </a:r>
          </a:p>
          <a:p>
            <a:pPr>
              <a:spcAft>
                <a:spcPts val="800"/>
              </a:spcAft>
            </a:pPr>
            <a:r>
              <a:rPr sz="1500">
                <a:solidFill>
                  <a:srgbClr val="FFFFFF"/>
                </a:solidFill>
                <a:latin typeface="Microsoft YaHei"/>
              </a:rPr>
              <a:t>▪ K4  目的：护人员、护环境、护公众</a:t>
            </a:r>
          </a:p>
          <a:p>
            <a:pPr>
              <a:spcAft>
                <a:spcPts val="800"/>
              </a:spcAft>
            </a:pPr>
            <a:r>
              <a:rPr sz="1500">
                <a:solidFill>
                  <a:srgbClr val="FFFFFF"/>
                </a:solidFill>
                <a:latin typeface="Microsoft YaHei"/>
              </a:rPr>
              <a:t>▪ K5  生物危害、生物安全与生物安保</a:t>
            </a:r>
          </a:p>
          <a:p>
            <a:pPr>
              <a:spcAft>
                <a:spcPts val="800"/>
              </a:spcAft>
            </a:pPr>
            <a:r>
              <a:rPr sz="1500">
                <a:solidFill>
                  <a:srgbClr val="FFFFFF"/>
                </a:solidFill>
                <a:latin typeface="Microsoft YaHei"/>
              </a:rPr>
              <a:t>▪ K6  两大原则：风险评估与防护</a:t>
            </a:r>
          </a:p>
          <a:p>
            <a:pPr>
              <a:spcAft>
                <a:spcPts val="800"/>
              </a:spcAft>
            </a:pPr>
            <a:r>
              <a:rPr sz="1500">
                <a:solidFill>
                  <a:srgbClr val="FFFFFF"/>
                </a:solidFill>
                <a:latin typeface="Microsoft YaHei"/>
              </a:rPr>
              <a:t>▪ K7  防护三要素：操作、设备、设施</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K8  5P：评估风险的五个要素</a:t>
            </a:r>
          </a:p>
          <a:p>
            <a:pPr>
              <a:spcAft>
                <a:spcPts val="800"/>
              </a:spcAft>
            </a:pPr>
            <a:r>
              <a:rPr sz="1500">
                <a:solidFill>
                  <a:srgbClr val="FFFFFF"/>
                </a:solidFill>
                <a:latin typeface="Microsoft YaHei"/>
              </a:rPr>
              <a:t>▪ K9  国内生物安全法规与标准</a:t>
            </a:r>
          </a:p>
          <a:p>
            <a:pPr>
              <a:spcAft>
                <a:spcPts val="800"/>
              </a:spcAft>
            </a:pPr>
            <a:r>
              <a:rPr sz="1500">
                <a:solidFill>
                  <a:srgbClr val="FFFFFF"/>
                </a:solidFill>
                <a:latin typeface="Microsoft YaHei"/>
              </a:rPr>
              <a:t>▪ K10  国际手册只作参考，以国内法规为准</a:t>
            </a:r>
          </a:p>
          <a:p>
            <a:pPr>
              <a:spcAft>
                <a:spcPts val="800"/>
              </a:spcAft>
            </a:pPr>
            <a:r>
              <a:rPr sz="1500">
                <a:solidFill>
                  <a:srgbClr val="FFFFFF"/>
                </a:solidFill>
                <a:latin typeface="Microsoft YaHei"/>
              </a:rPr>
              <a:t>▪ K11  合规：外部合规与内部合规</a:t>
            </a:r>
          </a:p>
          <a:p>
            <a:pPr>
              <a:spcAft>
                <a:spcPts val="800"/>
              </a:spcAft>
            </a:pPr>
            <a:r>
              <a:rPr sz="1500">
                <a:solidFill>
                  <a:srgbClr val="FFFFFF"/>
                </a:solidFill>
                <a:latin typeface="Microsoft YaHei"/>
              </a:rPr>
              <a:t>▪ K12  依法备案审批，违规要担责</a:t>
            </a:r>
          </a:p>
          <a:p>
            <a:pPr>
              <a:spcAft>
                <a:spcPts val="800"/>
              </a:spcAft>
            </a:pPr>
            <a:r>
              <a:rPr sz="1500">
                <a:solidFill>
                  <a:srgbClr val="FFFFFF"/>
                </a:solidFill>
                <a:latin typeface="Microsoft YaHei"/>
              </a:rPr>
              <a:t>▪ K13  持续学习、保持警觉、防患未然</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058</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病原微生物分类</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70 镜）　适用对象：进入生命科学、医学、农学、环境等涉及生物材料实验室的高校本科生、研究生和教职工（必修）；实验室负责人和生物安全员重点学习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能说出生物因子的主要种类（细菌、病毒、真菌、寄生虫、朊病毒、毒素、感染性核酸等）及其安全上的特点。</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能说出国内病原微生物四类的含义：第一类危害最大、第四类最小，与国际风险组（1 组最低、4 组最高）顺序相反；能判断“第一类病原不在一级实验室”。</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能做到以现行《人间传染的病原微生物目录》为准查分类和所需实验室级别；目录查不到的先评估、报生物安全委员会确定；知道第一、二类实验活动须经批准。</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能说出评估时要考虑的地区因素，会把病原资料单作为参考工具使用。</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《中华人民共和国生物安全法》（以现行文本为准）：病原微生物实验室实行分类管理和分级管理</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《病原微生物实验室生物安全管理条例》（以现行文本为准）：病原微生物按危害程度分为四类，第一类、第二类统称高致病性病原微生物；高致病性病原微生物实验活动须在相应级别实验室并经批准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《人间传染的病原微生物目录》（国家卫生健康委发布，以现行版本为准）：各病原的危害程度分类、不同实验活动所需的实验室级别</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《动物病原微生物分类名录》（以现行版本为准）：动物病原微生物的分类</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生物安全通用要求》、WS 233（以现行文本为准）《病原微生物实验室生物安全通用准则》：风险评估和实验室分级</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《农业转基因生物安全管理条例》（以现行文本为准）：农业转基因生物安全等级另成体系</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本校生物安全管理制度：目录未列的微生物由生物安全委员会评估确定，以本校规定为准</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什么是生物因子</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细菌、病毒、真菌等微生物都可能是生物因子</a:t>
            </a:r>
          </a:p>
          <a:p>
            <a:pPr>
              <a:spcAft>
                <a:spcPts val="1000"/>
              </a:spcAft>
            </a:pPr>
            <a:r>
              <a:rPr sz="2000">
                <a:solidFill>
                  <a:srgbClr val="222B33"/>
                </a:solidFill>
                <a:latin typeface="Microsoft YaHei"/>
              </a:rPr>
              <a:t>▪ 还有朊病毒这样的致病颗粒和生物毒素</a:t>
            </a:r>
          </a:p>
          <a:p>
            <a:pPr>
              <a:spcAft>
                <a:spcPts val="1000"/>
              </a:spcAft>
            </a:pPr>
            <a:r>
              <a:rPr sz="2000">
                <a:solidFill>
                  <a:srgbClr val="222B33"/>
                </a:solidFill>
                <a:latin typeface="Microsoft YaHei"/>
              </a:rPr>
              <a:t>▪ 轻则过敏，重则患病甚至死亡</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生物因子是指可能对人体健康造成危害的微生物和其他生物材料，包括细菌、病毒、真菌及其他微生物，寄生虫，朊病毒这样的致病蛋白颗粒，以及它们产生的毒素等。</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认为只有“病毒、细菌”才算生物危害，忽视真菌孢子、毒素和过敏原</a:t>
            </a:r>
          </a:p>
          <a:p>
            <a:pPr>
              <a:spcAft>
                <a:spcPts val="1000"/>
              </a:spcAft>
            </a:pPr>
            <a:r>
              <a:rPr sz="1500">
                <a:solidFill>
                  <a:srgbClr val="222B33"/>
                </a:solidFill>
                <a:latin typeface="Microsoft YaHei"/>
              </a:rPr>
              <a:t>▪ 认为非活体的毒素、核酸不需要防护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细菌、病毒、真菌各有特点</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细菌：不少来自土壤和水，有的形成芽孢，耐受力强</a:t>
            </a:r>
          </a:p>
          <a:p>
            <a:pPr>
              <a:spcAft>
                <a:spcPts val="1000"/>
              </a:spcAft>
            </a:pPr>
            <a:r>
              <a:rPr sz="1700">
                <a:solidFill>
                  <a:srgbClr val="222B33"/>
                </a:solidFill>
                <a:latin typeface="Microsoft YaHei"/>
              </a:rPr>
              <a:t>▪ 支原体没有细胞壁，部分抗生素对它无效</a:t>
            </a:r>
          </a:p>
          <a:p>
            <a:pPr>
              <a:spcAft>
                <a:spcPts val="1000"/>
              </a:spcAft>
            </a:pPr>
            <a:r>
              <a:rPr sz="1700">
                <a:solidFill>
                  <a:srgbClr val="222B33"/>
                </a:solidFill>
                <a:latin typeface="Microsoft YaHei"/>
              </a:rPr>
              <a:t>▪ 病毒：有的可能致命，很多没有特效药</a:t>
            </a:r>
          </a:p>
          <a:p>
            <a:pPr>
              <a:spcAft>
                <a:spcPts val="1000"/>
              </a:spcAft>
            </a:pPr>
            <a:r>
              <a:rPr sz="1700">
                <a:solidFill>
                  <a:srgbClr val="222B33"/>
                </a:solidFill>
                <a:latin typeface="Microsoft YaHei"/>
              </a:rPr>
              <a:t>▪ 真菌孢子随空气扩散，有的产毒素</a:t>
            </a:r>
          </a:p>
          <a:p>
            <a:pPr>
              <a:spcAft>
                <a:spcPts val="1000"/>
              </a:spcAft>
            </a:pPr>
            <a:r>
              <a:rPr sz="1700">
                <a:solidFill>
                  <a:srgbClr val="222B33"/>
                </a:solidFill>
                <a:latin typeface="Microsoft YaHei"/>
              </a:rPr>
              <a:t>▪ 免疫力低时，常见真菌也可能致病</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不同生物因子的特点不同，决定了防护的重点：</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认为普通消毒对所有细菌都同样有效，忽视芽孢的耐受性</a:t>
            </a:r>
          </a:p>
          <a:p>
            <a:pPr>
              <a:spcAft>
                <a:spcPts val="1000"/>
              </a:spcAft>
            </a:pPr>
            <a:r>
              <a:rPr sz="1500">
                <a:solidFill>
                  <a:srgbClr val="222B33"/>
                </a:solidFill>
                <a:latin typeface="Microsoft YaHei"/>
              </a:rPr>
              <a:t>▪ 认为真菌“只是发霉”，不防孢子扩散</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朊病毒、感染性核酸、寄生虫与毒素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朊病毒少见，引起人和动物慢性神经退行性病</a:t>
            </a:r>
          </a:p>
          <a:p>
            <a:pPr>
              <a:spcAft>
                <a:spcPts val="1000"/>
              </a:spcAft>
            </a:pPr>
            <a:r>
              <a:rPr sz="2000">
                <a:solidFill>
                  <a:srgbClr val="222B33"/>
                </a:solidFill>
                <a:latin typeface="Microsoft YaHei"/>
              </a:rPr>
              <a:t>▪ 有些病毒的核酸本身就有感染性</a:t>
            </a:r>
          </a:p>
          <a:p>
            <a:pPr>
              <a:spcAft>
                <a:spcPts val="1000"/>
              </a:spcAft>
            </a:pPr>
            <a:r>
              <a:rPr sz="2000">
                <a:solidFill>
                  <a:srgbClr val="222B33"/>
                </a:solidFill>
                <a:latin typeface="Microsoft YaHei"/>
              </a:rPr>
              <a:t>▪ 寄生虫、螺、蜱和蚤等也能带病</a:t>
            </a:r>
          </a:p>
          <a:p>
            <a:pPr>
              <a:spcAft>
                <a:spcPts val="1000"/>
              </a:spcAft>
            </a:pPr>
            <a:r>
              <a:rPr sz="2000">
                <a:solidFill>
                  <a:srgbClr val="222B33"/>
                </a:solidFill>
                <a:latin typeface="Microsoft YaHei"/>
              </a:rPr>
              <a:t>▪ 毒素不是活体，同样有害</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除细菌、病毒、真菌外，还有几类特殊的生物因子：</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用普通消毒方法处理可能含朊病毒的材料</a:t>
            </a:r>
          </a:p>
          <a:p>
            <a:pPr>
              <a:spcAft>
                <a:spcPts val="1000"/>
              </a:spcAft>
            </a:pPr>
            <a:r>
              <a:rPr sz="1500">
                <a:solidFill>
                  <a:srgbClr val="222B33"/>
                </a:solidFill>
                <a:latin typeface="Microsoft YaHei"/>
              </a:rPr>
              <a:t>▪ 认为提取出的核酸都没有感染性</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分组看两头：个体风险与群体风险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风险分组看两头：个体风险和群体风险</a:t>
            </a:r>
          </a:p>
          <a:p>
            <a:pPr>
              <a:spcAft>
                <a:spcPts val="1000"/>
              </a:spcAft>
            </a:pPr>
            <a:r>
              <a:rPr sz="2000">
                <a:solidFill>
                  <a:srgbClr val="222B33"/>
                </a:solidFill>
                <a:latin typeface="Microsoft YaHei"/>
              </a:rPr>
              <a:t>▪ 个体：病有多重，有没有有效的防治手段</a:t>
            </a:r>
          </a:p>
          <a:p>
            <a:pPr>
              <a:spcAft>
                <a:spcPts val="1000"/>
              </a:spcAft>
            </a:pPr>
            <a:r>
              <a:rPr sz="2000">
                <a:solidFill>
                  <a:srgbClr val="222B33"/>
                </a:solidFill>
                <a:latin typeface="Microsoft YaHei"/>
              </a:rPr>
              <a:t>▪ 群体：会不会在人群、动物和环境中传开</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病原按风险高低分组，主要看两方面：一是对个体的风险——引起的疾病有多严重，有没有有效的治疗和预防手段；二是对群体（社区）的风险——会不会在人与人、动物与人之间传播，传开后对公众、家畜和环境的影响有多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只看病情轻重，不看传播性</a:t>
            </a:r>
          </a:p>
          <a:p>
            <a:pPr>
              <a:spcAft>
                <a:spcPts val="1000"/>
              </a:spcAft>
            </a:pPr>
            <a:r>
              <a:rPr sz="1500">
                <a:solidFill>
                  <a:srgbClr val="222B33"/>
                </a:solidFill>
                <a:latin typeface="Microsoft YaHei"/>
              </a:rPr>
              <a:t>▪ 只看传播性，不看有没有防治手段</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国际风险组第1、2组</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国际风险组：1 组最低，4 组最高</a:t>
            </a:r>
          </a:p>
          <a:p>
            <a:pPr>
              <a:spcAft>
                <a:spcPts val="1000"/>
              </a:spcAft>
            </a:pPr>
            <a:r>
              <a:rPr sz="2000">
                <a:solidFill>
                  <a:srgbClr val="222B33"/>
                </a:solidFill>
                <a:latin typeface="Microsoft YaHei"/>
              </a:rPr>
              <a:t>▪ 第 1 组：个体、群体风险都低，一般不致病</a:t>
            </a:r>
          </a:p>
          <a:p>
            <a:pPr>
              <a:spcAft>
                <a:spcPts val="1000"/>
              </a:spcAft>
            </a:pPr>
            <a:r>
              <a:rPr sz="2000">
                <a:solidFill>
                  <a:srgbClr val="222B33"/>
                </a:solidFill>
                <a:latin typeface="Microsoft YaHei"/>
              </a:rPr>
              <a:t>▪ 风险最低，也要规范操作</a:t>
            </a:r>
          </a:p>
          <a:p>
            <a:pPr>
              <a:spcAft>
                <a:spcPts val="1000"/>
              </a:spcAft>
            </a:pPr>
            <a:r>
              <a:rPr sz="2000">
                <a:solidFill>
                  <a:srgbClr val="222B33"/>
                </a:solidFill>
                <a:latin typeface="Microsoft YaHei"/>
              </a:rPr>
              <a:t>▪ 第 2 组：能致病但危害有限，可防可治，扩散风险低</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国际上通行把生物因子分为四个风险组，数字越大风险越高：1 组最低、4 组最高（注意：与我国病原分类的编号方向相反，见 K7）。</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认为第 1 组微生物可以随意操作，不戴手套、不洗手</a:t>
            </a:r>
          </a:p>
          <a:p>
            <a:pPr>
              <a:spcAft>
                <a:spcPts val="1000"/>
              </a:spcAft>
            </a:pPr>
            <a:r>
              <a:rPr sz="1500">
                <a:solidFill>
                  <a:srgbClr val="222B33"/>
                </a:solidFill>
                <a:latin typeface="Microsoft YaHei"/>
              </a:rPr>
              <a:t>▪ 把国际的“第 1 组”当成国内的“第一类”</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国际风险组第3、4组</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 3 组：常致重病，一般不人传人</a:t>
            </a:r>
          </a:p>
          <a:p>
            <a:pPr>
              <a:spcAft>
                <a:spcPts val="1000"/>
              </a:spcAft>
            </a:pPr>
            <a:r>
              <a:rPr sz="2000">
                <a:solidFill>
                  <a:srgbClr val="222B33"/>
                </a:solidFill>
                <a:latin typeface="Microsoft YaHei"/>
              </a:rPr>
              <a:t>▪ 第 3 组一般有有效的治疗和预防手段</a:t>
            </a:r>
          </a:p>
          <a:p>
            <a:pPr>
              <a:spcAft>
                <a:spcPts val="1000"/>
              </a:spcAft>
            </a:pPr>
            <a:r>
              <a:rPr sz="2000">
                <a:solidFill>
                  <a:srgbClr val="222B33"/>
                </a:solidFill>
                <a:latin typeface="Microsoft YaHei"/>
              </a:rPr>
              <a:t>▪ 第 4 组：病重、易传播，个体群体风险都高</a:t>
            </a:r>
          </a:p>
          <a:p>
            <a:pPr>
              <a:spcAft>
                <a:spcPts val="1000"/>
              </a:spcAft>
            </a:pPr>
            <a:r>
              <a:rPr sz="2000">
                <a:solidFill>
                  <a:srgbClr val="222B33"/>
                </a:solidFill>
                <a:latin typeface="Microsoft YaHei"/>
              </a:rPr>
              <a:t>▪ 第 4 组往往缺药缺苗，只在最高级别设施操作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 第 3 组：个体风险高、群体风险低（或低到中等）。通常引起人或动物的严重疾病，甚至可能致死，但一般不会在人与人之间传开，而且一般有有效的治疗和预防手段。</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看到“第 4 组”以为是国内的“第四类”，误以为风险最低</a:t>
            </a:r>
          </a:p>
          <a:p>
            <a:pPr>
              <a:spcAft>
                <a:spcPts val="1000"/>
              </a:spcAft>
            </a:pPr>
            <a:r>
              <a:rPr sz="1500">
                <a:solidFill>
                  <a:srgbClr val="222B33"/>
                </a:solidFill>
                <a:latin typeface="Microsoft YaHei"/>
              </a:rPr>
              <a:t>▪ 认为有疫苗就可以降低实验室级别</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国内分四类：第一类最危险，与国际相反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国内按危害程度把病原微生物分为四类</a:t>
            </a:r>
          </a:p>
          <a:p>
            <a:pPr>
              <a:spcAft>
                <a:spcPts val="1000"/>
              </a:spcAft>
            </a:pPr>
            <a:r>
              <a:rPr sz="2000">
                <a:solidFill>
                  <a:srgbClr val="222B33"/>
                </a:solidFill>
                <a:latin typeface="Microsoft YaHei"/>
              </a:rPr>
              <a:t>▪ 第一类危害最大，第四类最小</a:t>
            </a:r>
          </a:p>
          <a:p>
            <a:pPr>
              <a:spcAft>
                <a:spcPts val="1000"/>
              </a:spcAft>
            </a:pPr>
            <a:r>
              <a:rPr sz="2000">
                <a:solidFill>
                  <a:srgbClr val="222B33"/>
                </a:solidFill>
                <a:latin typeface="Microsoft YaHei"/>
              </a:rPr>
              <a:t>▪ 编号方向与国际风险组正好相反</a:t>
            </a:r>
          </a:p>
          <a:p>
            <a:pPr>
              <a:spcAft>
                <a:spcPts val="1000"/>
              </a:spcAft>
            </a:pPr>
            <a:r>
              <a:rPr sz="2000">
                <a:solidFill>
                  <a:srgbClr val="222B33"/>
                </a:solidFill>
                <a:latin typeface="Microsoft YaHei"/>
              </a:rPr>
              <a:t>▪ 大致对应但不能自己换算，写资料注明编号体系</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按《病原微生物实验室生物安全管理条例》（以现行文本为准），我国根据传染性、感染后对个体或群体的危害程度，把病原微生物分为四类：</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把国际“4 组”和国内“第四类”混为一谈，弄反危害高低</a:t>
            </a:r>
          </a:p>
          <a:p>
            <a:pPr>
              <a:spcAft>
                <a:spcPts val="1000"/>
              </a:spcAft>
            </a:pPr>
            <a:r>
              <a:rPr sz="1500">
                <a:solidFill>
                  <a:srgbClr val="222B33"/>
                </a:solidFill>
                <a:latin typeface="Microsoft YaHei"/>
              </a:rPr>
              <a:t>▪ 按国外名单自己换算国内类别</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实验室级别国内外同向，别对号入座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实验室防护级别国内外同向，四级最高</a:t>
            </a:r>
          </a:p>
          <a:p>
            <a:pPr>
              <a:spcAft>
                <a:spcPts val="1000"/>
              </a:spcAft>
            </a:pPr>
            <a:r>
              <a:rPr sz="2000">
                <a:solidFill>
                  <a:srgbClr val="222B33"/>
                </a:solidFill>
                <a:latin typeface="Microsoft YaHei"/>
              </a:rPr>
              <a:t>▪ 第一类病原绝不在一级实验室操作</a:t>
            </a:r>
          </a:p>
          <a:p>
            <a:pPr>
              <a:spcAft>
                <a:spcPts val="1000"/>
              </a:spcAft>
            </a:pPr>
            <a:r>
              <a:rPr sz="2000">
                <a:solidFill>
                  <a:srgbClr val="222B33"/>
                </a:solidFill>
                <a:latin typeface="Microsoft YaHei"/>
              </a:rPr>
              <a:t>▪ 做哪一级，查目录再评估</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与病原分类不同，生物安全实验室的防护级别国内外方向一致：一级（BSL-1）最低，四级（BSL-4）最高（分级见第 059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认为“第一类病原就在一级实验室做”</a:t>
            </a:r>
          </a:p>
          <a:p>
            <a:pPr>
              <a:spcAft>
                <a:spcPts val="1000"/>
              </a:spcAft>
            </a:pPr>
            <a:r>
              <a:rPr sz="1500">
                <a:solidFill>
                  <a:srgbClr val="222B33"/>
                </a:solidFill>
                <a:latin typeface="Microsoft YaHei"/>
              </a:rPr>
              <a:t>▪ 只看病原类别，不看具体实验活动</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第一、二类是高致病性，须经批准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第一类、第二类统称高致病性病原微生物</a:t>
            </a:r>
          </a:p>
          <a:p>
            <a:pPr>
              <a:spcAft>
                <a:spcPts val="1000"/>
              </a:spcAft>
            </a:pPr>
            <a:r>
              <a:rPr sz="2000">
                <a:solidFill>
                  <a:srgbClr val="222B33"/>
                </a:solidFill>
                <a:latin typeface="Microsoft YaHei"/>
              </a:rPr>
              <a:t>▪ 相关实验须在相应级别实验室并经批准</a:t>
            </a:r>
          </a:p>
          <a:p>
            <a:pPr>
              <a:spcAft>
                <a:spcPts val="1000"/>
              </a:spcAft>
            </a:pPr>
            <a:r>
              <a:rPr sz="2000">
                <a:solidFill>
                  <a:srgbClr val="222B33"/>
                </a:solidFill>
                <a:latin typeface="Microsoft YaHei"/>
              </a:rPr>
              <a:t>▪ 学生不得擅自开展这类实验</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第一类、第二类病原微生物统称为高致病性病原微生物。按《病原微生物实验室生物安全管理条例》（以现行文本为准），从事高致病性病原微生物相关实验活动，须在相应防护级别的实验室进行，并按规定报经批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以为“只做检测、不做培养”就不需要审批</a:t>
            </a:r>
          </a:p>
          <a:p>
            <a:pPr>
              <a:spcAft>
                <a:spcPts val="1000"/>
              </a:spcAft>
            </a:pPr>
            <a:r>
              <a:rPr sz="1500">
                <a:solidFill>
                  <a:srgbClr val="222B33"/>
                </a:solidFill>
                <a:latin typeface="Microsoft YaHei"/>
              </a:rPr>
              <a:t>▪ 私下从别的实验室要来菌（毒）种</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查《人间传染的病原微生物目录》，用现行版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查分类以国内目录为准，国外资料只作参考</a:t>
            </a:r>
          </a:p>
          <a:p>
            <a:pPr>
              <a:spcAft>
                <a:spcPts val="1000"/>
              </a:spcAft>
            </a:pPr>
            <a:r>
              <a:rPr sz="2000">
                <a:solidFill>
                  <a:srgbClr val="222B33"/>
                </a:solidFill>
                <a:latin typeface="Microsoft YaHei"/>
              </a:rPr>
              <a:t>▪ 目录写明类别和不同实验活动所需实验室级别</a:t>
            </a:r>
          </a:p>
          <a:p>
            <a:pPr>
              <a:spcAft>
                <a:spcPts val="1000"/>
              </a:spcAft>
            </a:pPr>
            <a:r>
              <a:rPr sz="2000">
                <a:solidFill>
                  <a:srgbClr val="222B33"/>
                </a:solidFill>
                <a:latin typeface="Microsoft YaHei"/>
              </a:rPr>
              <a:t>▪ 同一病原，不同实验活动要求不同</a:t>
            </a:r>
          </a:p>
          <a:p>
            <a:pPr>
              <a:spcAft>
                <a:spcPts val="1000"/>
              </a:spcAft>
            </a:pPr>
            <a:r>
              <a:rPr sz="2000">
                <a:solidFill>
                  <a:srgbClr val="222B33"/>
                </a:solidFill>
                <a:latin typeface="Microsoft YaHei"/>
              </a:rPr>
              <a:t>▪ 目录会修订，用现行最新版，别用网上旧表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某种病原属于第几类、做什么实验需要几级实验室，以国家卫生健康委发布的《人间传染的病原微生物目录》（以现行版本为准）为准。目录按病毒、细菌类、真菌、朊病毒等列出各病原的危害程度分类，并分别写明不同实验活动（如培养、动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用国外名单或旧版表格确定国内类别</a:t>
            </a:r>
          </a:p>
          <a:p>
            <a:pPr>
              <a:spcAft>
                <a:spcPts val="1000"/>
              </a:spcAft>
            </a:pPr>
            <a:r>
              <a:rPr sz="1500">
                <a:solidFill>
                  <a:srgbClr val="222B33"/>
                </a:solidFill>
                <a:latin typeface="Microsoft YaHei"/>
              </a:rPr>
              <a:t>▪ 只看病原类别，不看具体实验活动对应的级别</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目录里查不到：评估后报委员会定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目录里查不到，先做风险评估</a:t>
            </a:r>
          </a:p>
          <a:p>
            <a:pPr>
              <a:spcAft>
                <a:spcPts val="1000"/>
              </a:spcAft>
            </a:pPr>
            <a:r>
              <a:rPr sz="2000">
                <a:solidFill>
                  <a:srgbClr val="222B33"/>
                </a:solidFill>
                <a:latin typeface="Microsoft YaHei"/>
              </a:rPr>
              <a:t>▪ 报单位生物安全委员会确定级别和防护</a:t>
            </a:r>
          </a:p>
          <a:p>
            <a:pPr>
              <a:spcAft>
                <a:spcPts val="1000"/>
              </a:spcAft>
            </a:pPr>
            <a:r>
              <a:rPr sz="2000">
                <a:solidFill>
                  <a:srgbClr val="222B33"/>
                </a:solidFill>
                <a:latin typeface="Microsoft YaHei"/>
              </a:rPr>
              <a:t>▪ 批准后，按确定的级别和防护开展</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目录没有列出的微生物（包括新分离的、来源不明的）不能自行认定为低风险。应先由项目负责人组织风险评估，提出建议的防护级别和措施，报单位生物安全委员会审查确定；批准后，按确定的级别和防护开展实验，并按国家有关规定办理（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目录里没有，就当作不需要防护</a:t>
            </a:r>
          </a:p>
          <a:p>
            <a:pPr>
              <a:spcAft>
                <a:spcPts val="1000"/>
              </a:spcAft>
            </a:pPr>
            <a:r>
              <a:rPr sz="1500">
                <a:solidFill>
                  <a:srgbClr val="222B33"/>
                </a:solidFill>
                <a:latin typeface="Microsoft YaHei"/>
              </a:rPr>
              <a:t>▪ 自己评估完就开始做，不报委员会</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动物病原和转基因生物另有分级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动物病原另有分类名录</a:t>
            </a:r>
          </a:p>
          <a:p>
            <a:pPr>
              <a:spcAft>
                <a:spcPts val="1000"/>
              </a:spcAft>
            </a:pPr>
            <a:r>
              <a:rPr sz="2000">
                <a:solidFill>
                  <a:srgbClr val="222B33"/>
                </a:solidFill>
                <a:latin typeface="Microsoft YaHei"/>
              </a:rPr>
              <a:t>▪ 涉及动物，人间和动物两个名录都要查</a:t>
            </a:r>
          </a:p>
          <a:p>
            <a:pPr>
              <a:spcAft>
                <a:spcPts val="1000"/>
              </a:spcAft>
            </a:pPr>
            <a:r>
              <a:rPr sz="2000">
                <a:solidFill>
                  <a:srgbClr val="222B33"/>
                </a:solidFill>
                <a:latin typeface="Microsoft YaHei"/>
              </a:rPr>
              <a:t>▪ 农业转基因生物另有安全等级，Ⅰ级最低、Ⅳ级最高</a:t>
            </a:r>
          </a:p>
          <a:p>
            <a:pPr>
              <a:spcAft>
                <a:spcPts val="1000"/>
              </a:spcAft>
            </a:pPr>
            <a:r>
              <a:rPr sz="2000">
                <a:solidFill>
                  <a:srgbClr val="222B33"/>
                </a:solidFill>
                <a:latin typeface="Microsoft YaHei"/>
              </a:rPr>
              <a:t>▪ 填表写清用的是哪套分级</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动物病原微生物在国内另有《动物病原微生物分类名录》（以现行版本为准）。实验涉及动物或人兽共患病原时，人间传染的病原目录和动物病原名录都要查清楚。</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涉及动物时只查人间传染的病原目录</a:t>
            </a:r>
          </a:p>
          <a:p>
            <a:pPr>
              <a:spcAft>
                <a:spcPts val="1000"/>
              </a:spcAft>
            </a:pPr>
            <a:r>
              <a:rPr sz="1500">
                <a:solidFill>
                  <a:srgbClr val="222B33"/>
                </a:solidFill>
                <a:latin typeface="Microsoft YaHei"/>
              </a:rPr>
              <a:t>▪ 把转基因安全等级和病原分类混写</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评估还要看地区因素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同一种病原，在不同地区风险不同</a:t>
            </a:r>
          </a:p>
          <a:p>
            <a:pPr>
              <a:spcAft>
                <a:spcPts val="1000"/>
              </a:spcAft>
            </a:pPr>
            <a:r>
              <a:rPr sz="2000">
                <a:solidFill>
                  <a:srgbClr val="222B33"/>
                </a:solidFill>
                <a:latin typeface="Microsoft YaHei"/>
              </a:rPr>
              <a:t>▪ 一看致病性，包括本地出现的变异株</a:t>
            </a:r>
          </a:p>
          <a:p>
            <a:pPr>
              <a:spcAft>
                <a:spcPts val="1000"/>
              </a:spcAft>
            </a:pPr>
            <a:r>
              <a:rPr sz="2000">
                <a:solidFill>
                  <a:srgbClr val="222B33"/>
                </a:solidFill>
                <a:latin typeface="Microsoft YaHei"/>
              </a:rPr>
              <a:t>▪ 二看传播方式、宿主、媒介、人口和气候</a:t>
            </a:r>
          </a:p>
          <a:p>
            <a:pPr>
              <a:spcAft>
                <a:spcPts val="1000"/>
              </a:spcAft>
            </a:pPr>
            <a:r>
              <a:rPr sz="2000">
                <a:solidFill>
                  <a:srgbClr val="222B33"/>
                </a:solidFill>
                <a:latin typeface="Microsoft YaHei"/>
              </a:rPr>
              <a:t>▪ 三看预防、四看治疗，本地能否获得</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风险分组是一般性的判断。同一种病原在不同地区风险可能不同，评估和确定措施时还要考虑地区因素：</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照搬其他地区的评估结论</a:t>
            </a:r>
          </a:p>
          <a:p>
            <a:pPr>
              <a:spcAft>
                <a:spcPts val="1000"/>
              </a:spcAft>
            </a:pPr>
            <a:r>
              <a:rPr sz="1500">
                <a:solidFill>
                  <a:srgbClr val="222B33"/>
                </a:solidFill>
                <a:latin typeface="Microsoft YaHei"/>
              </a:rPr>
              <a:t>▪ 忽视本地有没有传播媒介和防治条件</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病原资料单：病原的“说明书”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病原也有资料单，就像化学品安全技术说明书</a:t>
            </a:r>
          </a:p>
          <a:p>
            <a:pPr>
              <a:spcAft>
                <a:spcPts val="1000"/>
              </a:spcAft>
            </a:pPr>
            <a:r>
              <a:rPr sz="2000">
                <a:solidFill>
                  <a:srgbClr val="222B33"/>
                </a:solidFill>
                <a:latin typeface="Microsoft YaHei"/>
              </a:rPr>
              <a:t>▪ 网上公开、不断更新，国外资料只作参考</a:t>
            </a:r>
          </a:p>
          <a:p>
            <a:pPr>
              <a:spcAft>
                <a:spcPts val="1000"/>
              </a:spcAft>
            </a:pPr>
            <a:r>
              <a:rPr sz="2000">
                <a:solidFill>
                  <a:srgbClr val="222B33"/>
                </a:solidFill>
                <a:latin typeface="Microsoft YaHei"/>
              </a:rPr>
              <a:t>▪ 可查风险组、传播途径、处置等信息</a:t>
            </a:r>
          </a:p>
          <a:p>
            <a:pPr>
              <a:spcAft>
                <a:spcPts val="1000"/>
              </a:spcAft>
            </a:pPr>
            <a:r>
              <a:rPr sz="2000">
                <a:solidFill>
                  <a:srgbClr val="222B33"/>
                </a:solidFill>
                <a:latin typeface="Microsoft YaHei"/>
              </a:rPr>
              <a:t>▪ 有手机版，但手机不要带进高等级实验室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化学品有安全技术说明书，病原也有类似的资料单（病原安全数据表），一种病原一份，列出它的特性、传播途径、危害、消毒灭活方法、防护和处置要求等，是做风险评估的常用参考工具。</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直接按国外资料单的风险组确定国内实验室级别</a:t>
            </a:r>
          </a:p>
          <a:p>
            <a:pPr>
              <a:spcAft>
                <a:spcPts val="1000"/>
              </a:spcAft>
            </a:pPr>
            <a:r>
              <a:rPr sz="1500">
                <a:solidFill>
                  <a:srgbClr val="222B33"/>
                </a:solidFill>
                <a:latin typeface="Microsoft YaHei"/>
              </a:rPr>
              <a:t>▪ 把手机带进高等级实验室查资料</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资料单的九个部分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一是谁：名称分类；二有多凶：致病性、剂量、潜伏期</a:t>
            </a:r>
          </a:p>
          <a:p>
            <a:pPr>
              <a:spcAft>
                <a:spcPts val="1000"/>
              </a:spcAft>
            </a:pPr>
            <a:r>
              <a:rPr sz="1700">
                <a:solidFill>
                  <a:srgbClr val="222B33"/>
                </a:solidFill>
                <a:latin typeface="Microsoft YaHei"/>
              </a:rPr>
              <a:t>▪ 三怎么传：宿主、媒介、人兽共患</a:t>
            </a:r>
          </a:p>
          <a:p>
            <a:pPr>
              <a:spcAft>
                <a:spcPts val="1000"/>
              </a:spcAft>
            </a:pPr>
            <a:r>
              <a:rPr sz="1700">
                <a:solidFill>
                  <a:srgbClr val="222B33"/>
                </a:solidFill>
                <a:latin typeface="Microsoft YaHei"/>
              </a:rPr>
              <a:t>▪ 四能否杀灭：耐药性、消毒剂敏感性、接触时间</a:t>
            </a:r>
          </a:p>
          <a:p>
            <a:pPr>
              <a:spcAft>
                <a:spcPts val="1000"/>
              </a:spcAft>
            </a:pPr>
            <a:r>
              <a:rPr sz="1700">
                <a:solidFill>
                  <a:srgbClr val="222B33"/>
                </a:solidFill>
                <a:latin typeface="Microsoft YaHei"/>
              </a:rPr>
              <a:t>▪ 五急救医疗：疫苗、用药，法定传染病要上报</a:t>
            </a:r>
          </a:p>
          <a:p>
            <a:pPr>
              <a:spcAft>
                <a:spcPts val="1000"/>
              </a:spcAft>
            </a:pPr>
            <a:r>
              <a:rPr sz="1700">
                <a:solidFill>
                  <a:srgbClr val="222B33"/>
                </a:solidFill>
                <a:latin typeface="Microsoft YaHei"/>
              </a:rPr>
              <a:t>▪ 六至九：实验室危害、防护、处置储存、法规信息</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常见的病原资料单分为九个部分：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只看风险组编号，不看消毒灭活和应急处置部分</a:t>
            </a:r>
          </a:p>
          <a:p>
            <a:pPr>
              <a:spcAft>
                <a:spcPts val="1000"/>
              </a:spcAft>
            </a:pPr>
            <a:r>
              <a:rPr sz="1500">
                <a:solidFill>
                  <a:srgbClr val="222B33"/>
                </a:solidFill>
                <a:latin typeface="Microsoft YaHei"/>
              </a:rPr>
              <a:t>▪ 消毒时不等够接触时间</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关于我国病原微生物分类，正确的是：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第四类危害最大</a:t>
            </a:r>
          </a:p>
          <a:p>
            <a:pPr algn="l"/>
            <a:r>
              <a:rPr sz="1500" b="0">
                <a:solidFill>
                  <a:srgbClr val="222B33"/>
                </a:solidFill>
                <a:latin typeface="Microsoft YaHei"/>
              </a:rPr>
              <a:t>B. 第一类危害最大，第四类通常不致病</a:t>
            </a:r>
          </a:p>
          <a:p>
            <a:pPr algn="l"/>
            <a:r>
              <a:rPr sz="1500" b="0">
                <a:solidFill>
                  <a:srgbClr val="222B33"/>
                </a:solidFill>
                <a:latin typeface="Microsoft YaHei"/>
              </a:rPr>
              <a:t>C. 与国际风险组编号方向相同</a:t>
            </a:r>
          </a:p>
          <a:p>
            <a:pPr algn="l"/>
            <a:r>
              <a:rPr sz="1500" b="0">
                <a:solidFill>
                  <a:srgbClr val="222B33"/>
                </a:solidFill>
                <a:latin typeface="Microsoft YaHei"/>
              </a:rPr>
              <a:t>D. 只分三类</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判断：国内第一类病原微生物可以在一级生物安全实验室操作。</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第一类、第二类病原微生物统称为：</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条件致病菌</a:t>
            </a:r>
          </a:p>
          <a:p>
            <a:pPr algn="l"/>
            <a:r>
              <a:rPr sz="1500" b="0">
                <a:solidFill>
                  <a:srgbClr val="222B33"/>
                </a:solidFill>
                <a:latin typeface="Microsoft YaHei"/>
              </a:rPr>
              <a:t>B. 高致病性病原微生物</a:t>
            </a:r>
          </a:p>
          <a:p>
            <a:pPr algn="l"/>
            <a:r>
              <a:rPr sz="1500" b="0">
                <a:solidFill>
                  <a:srgbClr val="222B33"/>
                </a:solidFill>
                <a:latin typeface="Microsoft YaHei"/>
              </a:rPr>
              <a:t>C. 低风险微生物</a:t>
            </a:r>
          </a:p>
          <a:p>
            <a:pPr algn="l"/>
            <a:r>
              <a:rPr sz="1500" b="0">
                <a:solidFill>
                  <a:srgbClr val="222B33"/>
                </a:solidFill>
                <a:latin typeface="Microsoft YaHei"/>
              </a:rPr>
              <a:t>D. 环境微生物</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要确定某种病原的国内类别和所需实验室级别，应当以什么为准：</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国外病原资料单</a:t>
            </a:r>
          </a:p>
          <a:p>
            <a:pPr algn="l"/>
            <a:r>
              <a:rPr sz="1500" b="0">
                <a:solidFill>
                  <a:srgbClr val="222B33"/>
                </a:solidFill>
                <a:latin typeface="Microsoft YaHei"/>
              </a:rPr>
              <a:t>B. 网上流传的表格</a:t>
            </a:r>
          </a:p>
          <a:p>
            <a:pPr algn="l"/>
            <a:r>
              <a:rPr sz="1500" b="0">
                <a:solidFill>
                  <a:srgbClr val="222B33"/>
                </a:solidFill>
                <a:latin typeface="Microsoft YaHei"/>
              </a:rPr>
              <a:t>C. 现行版《人间传染的病原微生物目录》和风险评估</a:t>
            </a:r>
          </a:p>
          <a:p>
            <a:pPr algn="l"/>
            <a:r>
              <a:rPr sz="1500" b="0">
                <a:solidFill>
                  <a:srgbClr val="222B33"/>
                </a:solidFill>
                <a:latin typeface="Microsoft YaHei"/>
              </a:rPr>
              <a:t>D. 同学的经验</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判断：目录里查不到的微生物，说明它危害很低，可以直接在普通实验室操作。</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简答：同一种病原，为什么在不同地区评估结果可能不同？</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什么是生物因子</a:t>
            </a:r>
          </a:p>
          <a:p>
            <a:pPr>
              <a:spcAft>
                <a:spcPts val="800"/>
              </a:spcAft>
            </a:pPr>
            <a:r>
              <a:rPr sz="1500">
                <a:solidFill>
                  <a:srgbClr val="FFFFFF"/>
                </a:solidFill>
                <a:latin typeface="Microsoft YaHei"/>
              </a:rPr>
              <a:t>▪ K2  细菌、病毒、真菌各有特点</a:t>
            </a:r>
          </a:p>
          <a:p>
            <a:pPr>
              <a:spcAft>
                <a:spcPts val="800"/>
              </a:spcAft>
            </a:pPr>
            <a:r>
              <a:rPr sz="1500">
                <a:solidFill>
                  <a:srgbClr val="FFFFFF"/>
                </a:solidFill>
                <a:latin typeface="Microsoft YaHei"/>
              </a:rPr>
              <a:t>▪ K3  朊病毒、感染性核酸、寄生虫与毒素</a:t>
            </a:r>
          </a:p>
          <a:p>
            <a:pPr>
              <a:spcAft>
                <a:spcPts val="800"/>
              </a:spcAft>
            </a:pPr>
            <a:r>
              <a:rPr sz="1500">
                <a:solidFill>
                  <a:srgbClr val="FFFFFF"/>
                </a:solidFill>
                <a:latin typeface="Microsoft YaHei"/>
              </a:rPr>
              <a:t>▪ K4  分组看两头：个体风险与群体风险</a:t>
            </a:r>
          </a:p>
          <a:p>
            <a:pPr>
              <a:spcAft>
                <a:spcPts val="800"/>
              </a:spcAft>
            </a:pPr>
            <a:r>
              <a:rPr sz="1500">
                <a:solidFill>
                  <a:srgbClr val="FFFFFF"/>
                </a:solidFill>
                <a:latin typeface="Microsoft YaHei"/>
              </a:rPr>
              <a:t>▪ K5  国际风险组第1、2组</a:t>
            </a:r>
          </a:p>
          <a:p>
            <a:pPr>
              <a:spcAft>
                <a:spcPts val="800"/>
              </a:spcAft>
            </a:pPr>
            <a:r>
              <a:rPr sz="1500">
                <a:solidFill>
                  <a:srgbClr val="FFFFFF"/>
                </a:solidFill>
                <a:latin typeface="Microsoft YaHei"/>
              </a:rPr>
              <a:t>▪ K6  国际风险组第3、4组</a:t>
            </a:r>
          </a:p>
          <a:p>
            <a:pPr>
              <a:spcAft>
                <a:spcPts val="800"/>
              </a:spcAft>
            </a:pPr>
            <a:r>
              <a:rPr sz="1500">
                <a:solidFill>
                  <a:srgbClr val="FFFFFF"/>
                </a:solidFill>
                <a:latin typeface="Microsoft YaHei"/>
              </a:rPr>
              <a:t>▪ K7  国内分四类：第一类最危险，与国际相反</a:t>
            </a:r>
          </a:p>
          <a:p>
            <a:pPr>
              <a:spcAft>
                <a:spcPts val="800"/>
              </a:spcAft>
            </a:pPr>
            <a:r>
              <a:rPr sz="1500">
                <a:solidFill>
                  <a:srgbClr val="FFFFFF"/>
                </a:solidFill>
                <a:latin typeface="Microsoft YaHei"/>
              </a:rPr>
              <a:t>▪ K8  实验室级别国内外同向，别对号入座</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K9  第一、二类是高致病性，须经批准</a:t>
            </a:r>
          </a:p>
          <a:p>
            <a:pPr>
              <a:spcAft>
                <a:spcPts val="800"/>
              </a:spcAft>
            </a:pPr>
            <a:r>
              <a:rPr sz="1500">
                <a:solidFill>
                  <a:srgbClr val="FFFFFF"/>
                </a:solidFill>
                <a:latin typeface="Microsoft YaHei"/>
              </a:rPr>
              <a:t>▪ K10  查《人间传染的病原微生物目录》，用现行版</a:t>
            </a:r>
          </a:p>
          <a:p>
            <a:pPr>
              <a:spcAft>
                <a:spcPts val="800"/>
              </a:spcAft>
            </a:pPr>
            <a:r>
              <a:rPr sz="1500">
                <a:solidFill>
                  <a:srgbClr val="FFFFFF"/>
                </a:solidFill>
                <a:latin typeface="Microsoft YaHei"/>
              </a:rPr>
              <a:t>▪ K11  目录里查不到：评估后报委员会定</a:t>
            </a:r>
          </a:p>
          <a:p>
            <a:pPr>
              <a:spcAft>
                <a:spcPts val="800"/>
              </a:spcAft>
            </a:pPr>
            <a:r>
              <a:rPr sz="1500">
                <a:solidFill>
                  <a:srgbClr val="FFFFFF"/>
                </a:solidFill>
                <a:latin typeface="Microsoft YaHei"/>
              </a:rPr>
              <a:t>▪ K12  动物病原和转基因生物另有分级</a:t>
            </a:r>
          </a:p>
          <a:p>
            <a:pPr>
              <a:spcAft>
                <a:spcPts val="800"/>
              </a:spcAft>
            </a:pPr>
            <a:r>
              <a:rPr sz="1500">
                <a:solidFill>
                  <a:srgbClr val="FFFFFF"/>
                </a:solidFill>
                <a:latin typeface="Microsoft YaHei"/>
              </a:rPr>
              <a:t>▪ K13  评估还要看地区因素</a:t>
            </a:r>
          </a:p>
          <a:p>
            <a:pPr>
              <a:spcAft>
                <a:spcPts val="800"/>
              </a:spcAft>
            </a:pPr>
            <a:r>
              <a:rPr sz="1500">
                <a:solidFill>
                  <a:srgbClr val="FFFFFF"/>
                </a:solidFill>
                <a:latin typeface="Microsoft YaHei"/>
              </a:rPr>
              <a:t>▪ K14  病原资料单：病原的“说明书”</a:t>
            </a:r>
          </a:p>
          <a:p>
            <a:pPr>
              <a:spcAft>
                <a:spcPts val="800"/>
              </a:spcAft>
            </a:pPr>
            <a:r>
              <a:rPr sz="1500">
                <a:solidFill>
                  <a:srgbClr val="FFFFFF"/>
                </a:solidFill>
                <a:latin typeface="Microsoft YaHei"/>
              </a:rPr>
              <a:t>▪ K15  资料单的九个部分</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059</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生物安全实验室分级</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5 分钟（卡通视频 61 镜）　适用对象：进入生命科学、医学、农学、环境等涉及生物材料实验室的高校本科生、研究生和教职工（必修）；实验室负责人和生物安全员重点学习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能说出生物安全实验室按防护水平分为一级至四级（BSL-1～BSL-4），一级最低、四级最高，与国内病原分类的编号方向相反。</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能说出各级实验室适用的病原类别、典型用途，以及在设施、设备和程序上的递进（开放台面—受控进入与安全柜—负压与缓冲间—正压防护服）。</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能说出动物实验室（ABSL）的分级，知道国内标准和规定由谁制定、谁负责备案认可审批，国际手册只作参考。</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能判断学生实验的级别边界：多在一级、二级实验室；三级、四级须专门批准、培训和授权；拿不准先问负责人。</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《中华人民共和国生物安全法》（以现行文本为准）：病原微生物实验室分级管理</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《病原微生物实验室生物安全管理条例》（以现行文本为准）：实验室按生物安全防护水平分为一级至四级；一级、二级实验室备案，三级、四级实验室须通过国家认可，高致病性病原微生物实验活动须经批准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生物安全通用要求》：各级生物安全实验室（含动物生物安全实验室 ABSL-1～ABSL-4）的设施设备和管理要求</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233（以现行文本为准）《病原微生物实验室生物安全通用准则》：各级病原微生物实验室的设施、设备和操作要求</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《人间传染的病原微生物目录》（国家卫生健康委发布，以现行版本为准）：各病原不同实验活动所需的实验室级别</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号，以现行文本为准）：实验室准入、分级分类管理</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本校生物安全管理制度：实验室级别标识、准入和授权，以本校规定为准</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防护级别：一套标准化措施，四级逐级加严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防护级别是一套标准化的防护措施</a:t>
            </a:r>
          </a:p>
          <a:p>
            <a:pPr>
              <a:spcAft>
                <a:spcPts val="1000"/>
              </a:spcAft>
            </a:pPr>
            <a:r>
              <a:rPr sz="2000">
                <a:solidFill>
                  <a:srgbClr val="222B33"/>
                </a:solidFill>
                <a:latin typeface="Microsoft YaHei"/>
              </a:rPr>
              <a:t>▪ 从一级到四级，一共四个等级</a:t>
            </a:r>
          </a:p>
          <a:p>
            <a:pPr>
              <a:spcAft>
                <a:spcPts val="1000"/>
              </a:spcAft>
            </a:pPr>
            <a:r>
              <a:rPr sz="2000">
                <a:solidFill>
                  <a:srgbClr val="222B33"/>
                </a:solidFill>
                <a:latin typeface="Microsoft YaHei"/>
              </a:rPr>
              <a:t>▪ 等级越高，对应风险越高，措施越严</a:t>
            </a:r>
          </a:p>
          <a:p>
            <a:pPr>
              <a:spcAft>
                <a:spcPts val="1000"/>
              </a:spcAft>
            </a:pPr>
            <a:r>
              <a:rPr sz="2000">
                <a:solidFill>
                  <a:srgbClr val="222B33"/>
                </a:solidFill>
                <a:latin typeface="Microsoft YaHei"/>
              </a:rPr>
              <a:t>▪ 目的是保护人员、公众和环境</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生物安全防护级别（生物安全水平，BSL）是一整套标准化的防护措施，包括安全规程和做法、安全设备和实验室设施，用来控制操作微生物带来的风险，保护操作人员、公众和环境。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认为各级实验室只是“房间大小不同”</a:t>
            </a:r>
          </a:p>
          <a:p>
            <a:pPr>
              <a:spcAft>
                <a:spcPts val="1000"/>
              </a:spcAft>
            </a:pPr>
            <a:r>
              <a:rPr sz="1500">
                <a:solidFill>
                  <a:srgbClr val="222B33"/>
                </a:solidFill>
                <a:latin typeface="Microsoft YaHei"/>
              </a:rPr>
              <a:t>▪ 把病原分类的“第一类”和实验室的“一级”混为一谈</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按危害定级，每级都有设施、设备、程序</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定哪一级，看所操作生物因子的危害和实验活动</a:t>
            </a:r>
          </a:p>
          <a:p>
            <a:pPr>
              <a:spcAft>
                <a:spcPts val="1000"/>
              </a:spcAft>
            </a:pPr>
            <a:r>
              <a:rPr sz="2000">
                <a:solidFill>
                  <a:srgbClr val="222B33"/>
                </a:solidFill>
                <a:latin typeface="Microsoft YaHei"/>
              </a:rPr>
              <a:t>▪ 每一级都有设施、设备、程序三方面要求</a:t>
            </a:r>
          </a:p>
          <a:p>
            <a:pPr>
              <a:spcAft>
                <a:spcPts val="1000"/>
              </a:spcAft>
            </a:pPr>
            <a:r>
              <a:rPr sz="2000">
                <a:solidFill>
                  <a:srgbClr val="222B33"/>
                </a:solidFill>
                <a:latin typeface="Microsoft YaHei"/>
              </a:rPr>
              <a:t>▪ 级别越高，设施要求越多，三四级要独立隔离</a:t>
            </a:r>
          </a:p>
          <a:p>
            <a:pPr>
              <a:spcAft>
                <a:spcPts val="1000"/>
              </a:spcAft>
            </a:pPr>
            <a:r>
              <a:rPr sz="2000">
                <a:solidFill>
                  <a:srgbClr val="222B33"/>
                </a:solidFill>
                <a:latin typeface="Microsoft YaHei"/>
              </a:rPr>
              <a:t>▪ 设计实验室、写安全手册，都按级别来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实验在哪一级实验室做，取决于所操作生物因子的危害和具体实验活动（如何为具体实验定级见第 060 课）。每一级对三方面都有要求：什么样的房间和设施；用什么安全设备；按什么程序操作。</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只买了生物安全柜，就以为实验室“升了级”</a:t>
            </a:r>
          </a:p>
          <a:p>
            <a:pPr>
              <a:spcAft>
                <a:spcPts val="1000"/>
              </a:spcAft>
            </a:pPr>
            <a:r>
              <a:rPr sz="1500">
                <a:solidFill>
                  <a:srgbClr val="222B33"/>
                </a:solidFill>
                <a:latin typeface="Microsoft YaHei"/>
              </a:rPr>
              <a:t>▪ 不看实验活动，只看病原名称定级</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实验室级别国内外同向，病原分类反向</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实验室防护级别国内外同向：一级最低，四级最高</a:t>
            </a:r>
          </a:p>
          <a:p>
            <a:pPr>
              <a:spcAft>
                <a:spcPts val="1000"/>
              </a:spcAft>
            </a:pPr>
            <a:r>
              <a:rPr sz="2000">
                <a:solidFill>
                  <a:srgbClr val="222B33"/>
                </a:solidFill>
                <a:latin typeface="Microsoft YaHei"/>
              </a:rPr>
              <a:t>▪ 动物实验室也是同样的排法</a:t>
            </a:r>
          </a:p>
          <a:p>
            <a:pPr>
              <a:spcAft>
                <a:spcPts val="1000"/>
              </a:spcAft>
            </a:pPr>
            <a:r>
              <a:rPr sz="2000">
                <a:solidFill>
                  <a:srgbClr val="222B33"/>
                </a:solidFill>
                <a:latin typeface="Microsoft YaHei"/>
              </a:rPr>
              <a:t>▪ 病原分类国内第一类最危险，与国际风险组相反</a:t>
            </a:r>
          </a:p>
          <a:p>
            <a:pPr>
              <a:spcAft>
                <a:spcPts val="1000"/>
              </a:spcAft>
            </a:pPr>
            <a:r>
              <a:rPr sz="2000">
                <a:solidFill>
                  <a:srgbClr val="222B33"/>
                </a:solidFill>
                <a:latin typeface="Microsoft YaHei"/>
              </a:rPr>
              <a:t>▪ 口诀：病原分类反着走，实验室级别顺着走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实验室防护级别与病原分类是两套不同的编号：实验室级别国内外一致，一级最低、四级最高，动物生物安全实验室（ABSL）也一样；而病原微生物分类，国内第一类危害最大、第四类最小，国际风险组则是 1 组最低、4 组最高，方向……</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认为第一类病原在一级实验室做</a:t>
            </a:r>
          </a:p>
          <a:p>
            <a:pPr>
              <a:spcAft>
                <a:spcPts val="1000"/>
              </a:spcAft>
            </a:pPr>
            <a:r>
              <a:rPr sz="1500">
                <a:solidFill>
                  <a:srgbClr val="222B33"/>
                </a:solidFill>
                <a:latin typeface="Microsoft YaHei"/>
              </a:rPr>
              <a:t>▪ 把国际风险组的数字直接当作实验室级别</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一级：不致病的微生物，基本防护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操作已知对健康成人不致病的微生物</a:t>
            </a:r>
          </a:p>
          <a:p>
            <a:pPr>
              <a:spcAft>
                <a:spcPts val="1000"/>
              </a:spcAft>
            </a:pPr>
            <a:r>
              <a:rPr sz="2000">
                <a:solidFill>
                  <a:srgbClr val="222B33"/>
                </a:solidFill>
                <a:latin typeface="Microsoft YaHei"/>
              </a:rPr>
              <a:t>▪ 如无害的实验室菌株、面包酵母、常见环境菌</a:t>
            </a:r>
          </a:p>
          <a:p>
            <a:pPr>
              <a:spcAft>
                <a:spcPts val="1000"/>
              </a:spcAft>
            </a:pPr>
            <a:r>
              <a:rPr sz="2000">
                <a:solidFill>
                  <a:srgbClr val="222B33"/>
                </a:solidFill>
                <a:latin typeface="Microsoft YaHei"/>
              </a:rPr>
              <a:t>▪ 多用于基础教学和入门实验</a:t>
            </a:r>
          </a:p>
          <a:p>
            <a:pPr>
              <a:spcAft>
                <a:spcPts val="1000"/>
              </a:spcAft>
            </a:pPr>
            <a:r>
              <a:rPr sz="2000">
                <a:solidFill>
                  <a:srgbClr val="222B33"/>
                </a:solidFill>
                <a:latin typeface="Microsoft YaHei"/>
              </a:rPr>
              <a:t>▪ 开放台面，守基本规范，穿实验服戴手套，限制进入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一级生物安全实验室（BSL-1）风险最低，操作的是已知通常不会使健康成人致病的微生物，例如无害的实验室菌株、做面包的酵母、土壤和水中的常见非致病菌。许多基础教学实验、微生物学入门课就在这一级开展。</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认为一级实验室“没有风险”，在里面饮食、不洗手</a:t>
            </a:r>
          </a:p>
          <a:p>
            <a:pPr>
              <a:spcAft>
                <a:spcPts val="1000"/>
              </a:spcAft>
            </a:pPr>
            <a:r>
              <a:rPr sz="1500">
                <a:solidFill>
                  <a:srgbClr val="222B33"/>
                </a:solidFill>
                <a:latin typeface="Microsoft YaHei"/>
              </a:rPr>
              <a:t>▪ 在一级实验室操作未经评估的不明样本</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二级：中度风险，受控进入、安全柜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操作能致病、但一般不严重或可治的微生物</a:t>
            </a:r>
          </a:p>
          <a:p>
            <a:pPr>
              <a:spcAft>
                <a:spcPts val="1000"/>
              </a:spcAft>
            </a:pPr>
            <a:r>
              <a:rPr sz="2000">
                <a:solidFill>
                  <a:srgbClr val="222B33"/>
                </a:solidFill>
                <a:latin typeface="Microsoft YaHei"/>
              </a:rPr>
              <a:t>▪ 多用于临床检验、高校科研和医院实验室</a:t>
            </a:r>
          </a:p>
          <a:p>
            <a:pPr>
              <a:spcAft>
                <a:spcPts val="1000"/>
              </a:spcAft>
            </a:pPr>
            <a:r>
              <a:rPr sz="2000">
                <a:solidFill>
                  <a:srgbClr val="222B33"/>
                </a:solidFill>
                <a:latin typeface="Microsoft YaHei"/>
              </a:rPr>
              <a:t>▪ 受控进入，门能自动关闭，挂好生物危害标识</a:t>
            </a:r>
          </a:p>
          <a:p>
            <a:pPr>
              <a:spcAft>
                <a:spcPts val="1000"/>
              </a:spcAft>
            </a:pPr>
            <a:r>
              <a:rPr sz="2000">
                <a:solidFill>
                  <a:srgbClr val="222B33"/>
                </a:solidFill>
                <a:latin typeface="Microsoft YaHei"/>
              </a:rPr>
              <a:t>▪ 可能产生气溶胶的操作进生物安全柜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二级生物安全实验室（BSL-2）操作的是有中度风险的微生物：能让人生病，引起轻到中度疾病，但一般不严重，或者有有效的治疗和预防手段，例如一些常见的致病细菌、病毒和寄生虫；具体某种病原、某项实验需要几级，查《人间传染的……</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二级实验室的门用东西顶住常开</a:t>
            </a:r>
          </a:p>
          <a:p>
            <a:pPr>
              <a:spcAft>
                <a:spcPts val="1000"/>
              </a:spcAft>
            </a:pPr>
            <a:r>
              <a:rPr sz="1500">
                <a:solidFill>
                  <a:srgbClr val="222B33"/>
                </a:solidFill>
                <a:latin typeface="Microsoft YaHei"/>
              </a:rPr>
              <a:t>▪ 可能产生气溶胶的操作在开放台面上做</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三级：经吸入致重病，负压与严格程序</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对应可经吸入传播、致严重甚至致命疾病的病原</a:t>
            </a:r>
          </a:p>
          <a:p>
            <a:pPr>
              <a:spcAft>
                <a:spcPts val="1000"/>
              </a:spcAft>
            </a:pPr>
            <a:r>
              <a:rPr sz="2000">
                <a:solidFill>
                  <a:srgbClr val="222B33"/>
                </a:solidFill>
                <a:latin typeface="Microsoft YaHei"/>
              </a:rPr>
              <a:t>▪ 独立区域、门禁，进出经缓冲间</a:t>
            </a:r>
          </a:p>
          <a:p>
            <a:pPr>
              <a:spcAft>
                <a:spcPts val="1000"/>
              </a:spcAft>
            </a:pPr>
            <a:r>
              <a:rPr sz="2000">
                <a:solidFill>
                  <a:srgbClr val="222B33"/>
                </a:solidFill>
                <a:latin typeface="Microsoft YaHei"/>
              </a:rPr>
              <a:t>▪ 房间负压，空气只往里走，排风高效过滤</a:t>
            </a:r>
          </a:p>
          <a:p>
            <a:pPr>
              <a:spcAft>
                <a:spcPts val="1000"/>
              </a:spcAft>
            </a:pPr>
            <a:r>
              <a:rPr sz="2000">
                <a:solidFill>
                  <a:srgbClr val="222B33"/>
                </a:solidFill>
                <a:latin typeface="Microsoft YaHei"/>
              </a:rPr>
              <a:t>▪ 操作都在安全柜内，严格培训、严格程序</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三级生物安全实验室（BSL-3）也称防护实验室，用于特殊诊断和较高危害病原的研究，对应可经空气吸入传播、能引起严重甚至致命疾病的病原。多设在高级临床实验室、公共卫生实验室和科研机构；涉及高致病性病原微生物的实验活动须……</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认为学生经过一般培训就能进三级实验室</a:t>
            </a:r>
          </a:p>
          <a:p>
            <a:pPr>
              <a:spcAft>
                <a:spcPts val="1000"/>
              </a:spcAft>
            </a:pPr>
            <a:r>
              <a:rPr sz="1500">
                <a:solidFill>
                  <a:srgbClr val="222B33"/>
                </a:solidFill>
                <a:latin typeface="Microsoft YaHei"/>
              </a:rPr>
              <a:t>▪ 忽视压差、气流异常的提示</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四级：最高防护，全国少数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对应危及生命、易传播、缺乏有效防治的病原</a:t>
            </a:r>
          </a:p>
          <a:p>
            <a:pPr>
              <a:spcAft>
                <a:spcPts val="1000"/>
              </a:spcAft>
            </a:pPr>
            <a:r>
              <a:rPr sz="2000">
                <a:solidFill>
                  <a:srgbClr val="222B33"/>
                </a:solidFill>
                <a:latin typeface="Microsoft YaHei"/>
              </a:rPr>
              <a:t>▪ 穿独立供气的正压防护服，破了也往外吹</a:t>
            </a:r>
          </a:p>
          <a:p>
            <a:pPr>
              <a:spcAft>
                <a:spcPts val="1000"/>
              </a:spcAft>
            </a:pPr>
            <a:r>
              <a:rPr sz="2000">
                <a:solidFill>
                  <a:srgbClr val="222B33"/>
                </a:solidFill>
                <a:latin typeface="Microsoft YaHei"/>
              </a:rPr>
              <a:t>▪ 多道去污缓冲区、出口淋浴、双扉灭菌器</a:t>
            </a:r>
          </a:p>
          <a:p>
            <a:pPr>
              <a:spcAft>
                <a:spcPts val="1000"/>
              </a:spcAft>
            </a:pPr>
            <a:r>
              <a:rPr sz="2000">
                <a:solidFill>
                  <a:srgbClr val="222B33"/>
                </a:solidFill>
                <a:latin typeface="Microsoft YaHei"/>
              </a:rPr>
              <a:t>▪ 严格准入，专人监督；造价运行昂贵，数量极少</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四级生物安全实验室（BSL-4）是最高等级的防护，对应能危及生命、可经气溶胶传播、通常缺乏有效预防和治疗手段的高危病原；已宣布消灭的病原只在极少数指定机构保存。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认为穿上正压防护服就可以放松操作规范</a:t>
            </a:r>
          </a:p>
          <a:p>
            <a:pPr>
              <a:spcAft>
                <a:spcPts val="1000"/>
              </a:spcAft>
            </a:pPr>
            <a:r>
              <a:rPr sz="1500">
                <a:solidFill>
                  <a:srgbClr val="222B33"/>
                </a:solidFill>
                <a:latin typeface="Microsoft YaHei"/>
              </a:rPr>
              <a:t>▪ 把四级实验室当作参观场所</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动物ABSL、植物设施与“加强型”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动物实验另有动物生物安全一到四级（ABSL）</a:t>
            </a:r>
          </a:p>
          <a:p>
            <a:pPr>
              <a:spcAft>
                <a:spcPts val="1000"/>
              </a:spcAft>
            </a:pPr>
            <a:r>
              <a:rPr sz="2000">
                <a:solidFill>
                  <a:srgbClr val="222B33"/>
                </a:solidFill>
                <a:latin typeface="Microsoft YaHei"/>
              </a:rPr>
              <a:t>▪ 要防咬伤抓伤，也防动物排出的病原</a:t>
            </a:r>
          </a:p>
          <a:p>
            <a:pPr>
              <a:spcAft>
                <a:spcPts val="1000"/>
              </a:spcAft>
            </a:pPr>
            <a:r>
              <a:rPr sz="2000">
                <a:solidFill>
                  <a:srgbClr val="222B33"/>
                </a:solidFill>
                <a:latin typeface="Microsoft YaHei"/>
              </a:rPr>
              <a:t>▪ 植物和转基因植物设施另有要求</a:t>
            </a:r>
          </a:p>
          <a:p>
            <a:pPr>
              <a:spcAft>
                <a:spcPts val="1000"/>
              </a:spcAft>
            </a:pPr>
            <a:r>
              <a:rPr sz="2000">
                <a:solidFill>
                  <a:srgbClr val="222B33"/>
                </a:solidFill>
                <a:latin typeface="Microsoft YaHei"/>
              </a:rPr>
              <a:t>▪ “加强型”指借用了更高一级的部分设计</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用动物做感染性实验，按动物生物安全实验室分级，即 ABSL-1～ABSL-4，同样一级最低、四级最高（GB 19489-2008，以现行文本为准）。动物实验除了防操作中的暴露，还要防动物咬伤、抓伤，防动物排出的分泌物……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认为动物实验只要按普通实验室的级别做</a:t>
            </a:r>
          </a:p>
          <a:p>
            <a:pPr>
              <a:spcAft>
                <a:spcPts val="1000"/>
              </a:spcAft>
            </a:pPr>
            <a:r>
              <a:rPr sz="1500">
                <a:solidFill>
                  <a:srgbClr val="222B33"/>
                </a:solidFill>
                <a:latin typeface="Microsoft YaHei"/>
              </a:rPr>
              <a:t>▪ 动物垫料、排泄物按普通垃圾处理</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谁定标准：国内法律、法规、标准层层落实</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最上层是生物安全法，下面是管理条例</a:t>
            </a:r>
          </a:p>
          <a:p>
            <a:pPr>
              <a:spcAft>
                <a:spcPts val="1000"/>
              </a:spcAft>
            </a:pPr>
            <a:r>
              <a:rPr sz="2000">
                <a:solidFill>
                  <a:srgbClr val="222B33"/>
                </a:solidFill>
                <a:latin typeface="Microsoft YaHei"/>
              </a:rPr>
              <a:t>▪ 技术要求写在 GB 19489 和 WS 233 中</a:t>
            </a:r>
          </a:p>
          <a:p>
            <a:pPr>
              <a:spcAft>
                <a:spcPts val="1000"/>
              </a:spcAft>
            </a:pPr>
            <a:r>
              <a:rPr sz="2000">
                <a:solidFill>
                  <a:srgbClr val="222B33"/>
                </a:solidFill>
                <a:latin typeface="Microsoft YaHei"/>
              </a:rPr>
              <a:t>▪ 病原放几级做，查国家目录</a:t>
            </a:r>
          </a:p>
          <a:p>
            <a:pPr>
              <a:spcAft>
                <a:spcPts val="1000"/>
              </a:spcAft>
            </a:pPr>
            <a:r>
              <a:rPr sz="2000">
                <a:solidFill>
                  <a:srgbClr val="222B33"/>
                </a:solidFill>
                <a:latin typeface="Microsoft YaHei"/>
              </a:rPr>
              <a:t>▪ 标准会修订，认准现行有效版本</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实验室分级的标准不是一个机构说了算。在国内，是法律、法规、标准一层层落实：最上层是《中华人民共和国生物安全法》，下面是《病原微生物实验室生物安全管理条例》；技术要求写在国家标准 GB 19489-2008《实验室 生……</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引用已作废的旧版标准</a:t>
            </a:r>
          </a:p>
          <a:p>
            <a:pPr>
              <a:spcAft>
                <a:spcPts val="1000"/>
              </a:spcAft>
            </a:pPr>
            <a:r>
              <a:rPr sz="1500">
                <a:solidFill>
                  <a:srgbClr val="222B33"/>
                </a:solidFill>
                <a:latin typeface="Microsoft YaHei"/>
              </a:rPr>
              <a:t>▪ 只记得国外的分级说法，不知道国内标准</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国际手册和指南只作参考</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国际组织发布实验室生物安全手册和专项指南</a:t>
            </a:r>
          </a:p>
          <a:p>
            <a:pPr>
              <a:spcAft>
                <a:spcPts val="1000"/>
              </a:spcAft>
            </a:pPr>
            <a:r>
              <a:rPr sz="2000">
                <a:solidFill>
                  <a:srgbClr val="222B33"/>
                </a:solidFill>
                <a:latin typeface="Microsoft YaHei"/>
              </a:rPr>
              <a:t>▪ 多用于全球疫情应对和各国能力建设</a:t>
            </a:r>
          </a:p>
          <a:p>
            <a:pPr>
              <a:spcAft>
                <a:spcPts val="1000"/>
              </a:spcAft>
            </a:pPr>
            <a:r>
              <a:rPr sz="2000">
                <a:solidFill>
                  <a:srgbClr val="222B33"/>
                </a:solidFill>
                <a:latin typeface="Microsoft YaHei"/>
              </a:rPr>
              <a:t>▪ 在我国只作参考，以国内规定为准</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国际上也有国际组织制定实验室生物安全手册，以及针对高风险病原的专项指南，尤其帮助公共卫生体系还在建设中的国家，在全球疫情应对中发挥作用。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按国际手册自行决定实验室级别</a:t>
            </a:r>
          </a:p>
          <a:p>
            <a:pPr>
              <a:spcAft>
                <a:spcPts val="1000"/>
              </a:spcAft>
            </a:pPr>
            <a:r>
              <a:rPr sz="1500">
                <a:solidFill>
                  <a:srgbClr val="222B33"/>
                </a:solidFill>
                <a:latin typeface="Microsoft YaHei"/>
              </a:rPr>
              <a:t>▪ 认为国际指南比国内标准“更权威”</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一张图看清谁管什么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国际组织：提供国际参考</a:t>
            </a:r>
          </a:p>
          <a:p>
            <a:pPr>
              <a:spcAft>
                <a:spcPts val="1000"/>
              </a:spcAft>
            </a:pPr>
            <a:r>
              <a:rPr sz="2000">
                <a:solidFill>
                  <a:srgbClr val="222B33"/>
                </a:solidFill>
                <a:latin typeface="Microsoft YaHei"/>
              </a:rPr>
              <a:t>▪ 国家：法律法规定框架，标准定技术要求</a:t>
            </a:r>
          </a:p>
          <a:p>
            <a:pPr>
              <a:spcAft>
                <a:spcPts val="1000"/>
              </a:spcAft>
            </a:pPr>
            <a:r>
              <a:rPr sz="2000">
                <a:solidFill>
                  <a:srgbClr val="222B33"/>
                </a:solidFill>
                <a:latin typeface="Microsoft YaHei"/>
              </a:rPr>
              <a:t>▪ 主管部门和认可机构：备案、认可和审批</a:t>
            </a:r>
          </a:p>
          <a:p>
            <a:pPr>
              <a:spcAft>
                <a:spcPts val="1000"/>
              </a:spcAft>
            </a:pPr>
            <a:r>
              <a:rPr sz="2000">
                <a:solidFill>
                  <a:srgbClr val="222B33"/>
                </a:solidFill>
                <a:latin typeface="Microsoft YaHei"/>
              </a:rPr>
              <a:t>▪ 单位生物安全委员会：本地监督和执行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用一张图记住谁管什么：</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以为实验室建好就能直接用，不需要备案或认可</a:t>
            </a:r>
          </a:p>
          <a:p>
            <a:pPr>
              <a:spcAft>
                <a:spcPts val="1000"/>
              </a:spcAft>
            </a:pPr>
            <a:r>
              <a:rPr sz="1500">
                <a:solidFill>
                  <a:srgbClr val="222B33"/>
                </a:solidFill>
                <a:latin typeface="Microsoft YaHei"/>
              </a:rPr>
              <a:t>▪ 以为生物安全只是国家部门的事，学校不用管</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学生实验的级别边界</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学生实验多在一级、二级实验室</a:t>
            </a:r>
          </a:p>
          <a:p>
            <a:pPr>
              <a:spcAft>
                <a:spcPts val="1000"/>
              </a:spcAft>
            </a:pPr>
            <a:r>
              <a:rPr sz="2000">
                <a:solidFill>
                  <a:srgbClr val="222B33"/>
                </a:solidFill>
                <a:latin typeface="Microsoft YaHei"/>
              </a:rPr>
              <a:t>▪ 三级、四级须专门批准、培训和授权</a:t>
            </a:r>
          </a:p>
          <a:p>
            <a:pPr>
              <a:spcAft>
                <a:spcPts val="1000"/>
              </a:spcAft>
            </a:pPr>
            <a:r>
              <a:rPr sz="2000">
                <a:solidFill>
                  <a:srgbClr val="222B33"/>
                </a:solidFill>
                <a:latin typeface="Microsoft YaHei"/>
              </a:rPr>
              <a:t>▪ 实验须在相应级别实验室，经评估和批准</a:t>
            </a:r>
          </a:p>
          <a:p>
            <a:pPr>
              <a:spcAft>
                <a:spcPts val="1000"/>
              </a:spcAft>
            </a:pPr>
            <a:r>
              <a:rPr sz="2000">
                <a:solidFill>
                  <a:srgbClr val="222B33"/>
                </a:solidFill>
                <a:latin typeface="Microsoft YaHei"/>
              </a:rPr>
              <a:t>▪ 拿不准级别，先问负责人，不擅自做</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高校学生的教学和多数科研实验在一级、二级实验室开展。进入三级、四级实验室工作，须经单位专门批准，接受专门培训并考核合格，获得授权；学生不得自行进入或开展相关实验。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为了“方便”在级别不够的实验室做实验</a:t>
            </a:r>
          </a:p>
          <a:p>
            <a:pPr>
              <a:spcAft>
                <a:spcPts val="1000"/>
              </a:spcAft>
            </a:pPr>
            <a:r>
              <a:rPr sz="1500">
                <a:solidFill>
                  <a:srgbClr val="222B33"/>
                </a:solidFill>
                <a:latin typeface="Microsoft YaHei"/>
              </a:rPr>
              <a:t>▪ 未经准入培训就进入二级实验室</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关于生物安全实验室防护级别，正确的是：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一级最高</a:t>
            </a:r>
          </a:p>
          <a:p>
            <a:pPr algn="l"/>
            <a:r>
              <a:rPr sz="1500" b="0">
                <a:solidFill>
                  <a:srgbClr val="222B33"/>
                </a:solidFill>
                <a:latin typeface="Microsoft YaHei"/>
              </a:rPr>
              <a:t>B. 一级最低、四级最高，国内外同向</a:t>
            </a:r>
          </a:p>
          <a:p>
            <a:pPr algn="l"/>
            <a:r>
              <a:rPr sz="1500" b="0">
                <a:solidFill>
                  <a:srgbClr val="222B33"/>
                </a:solidFill>
                <a:latin typeface="Microsoft YaHei"/>
              </a:rPr>
              <a:t>C. 与病原分类编号方向相同，第一类病原在一级实验室做</a:t>
            </a:r>
          </a:p>
          <a:p>
            <a:pPr algn="l"/>
            <a:r>
              <a:rPr sz="1500" b="0">
                <a:solidFill>
                  <a:srgbClr val="222B33"/>
                </a:solidFill>
                <a:latin typeface="Microsoft YaHei"/>
              </a:rPr>
              <a:t>D. 国内只有三级</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判断：二级实验室里，可能产生气溶胶的操作应在生物安全柜内进行。</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房间保持负压、进出经缓冲间、排风经高效过滤、所有操作在安全柜内，这是哪一级实验室的特点：</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一级</a:t>
            </a:r>
          </a:p>
          <a:p>
            <a:pPr algn="l"/>
            <a:r>
              <a:rPr sz="1500" b="0">
                <a:solidFill>
                  <a:srgbClr val="222B33"/>
                </a:solidFill>
                <a:latin typeface="Microsoft YaHei"/>
              </a:rPr>
              <a:t>B. 二级</a:t>
            </a:r>
          </a:p>
          <a:p>
            <a:pPr algn="l"/>
            <a:r>
              <a:rPr sz="1500" b="0">
                <a:solidFill>
                  <a:srgbClr val="222B33"/>
                </a:solidFill>
                <a:latin typeface="Microsoft YaHei"/>
              </a:rPr>
              <a:t>C. 三级</a:t>
            </a:r>
          </a:p>
          <a:p>
            <a:pPr algn="l"/>
            <a:r>
              <a:rPr sz="1500" b="0">
                <a:solidFill>
                  <a:srgbClr val="222B33"/>
                </a:solidFill>
                <a:latin typeface="Microsoft YaHei"/>
              </a:rPr>
              <a:t>D. 只是普通化学实验室</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我国生物安全实验室的技术要求主要写在：</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GB 19489 和 WS 233</a:t>
            </a:r>
          </a:p>
          <a:p>
            <a:pPr algn="l"/>
            <a:r>
              <a:rPr sz="1500" b="0">
                <a:solidFill>
                  <a:srgbClr val="222B33"/>
                </a:solidFill>
                <a:latin typeface="Microsoft YaHei"/>
              </a:rPr>
              <a:t>B. 国际组织的手册</a:t>
            </a:r>
          </a:p>
          <a:p>
            <a:pPr algn="l"/>
            <a:r>
              <a:rPr sz="1500" b="0">
                <a:solidFill>
                  <a:srgbClr val="222B33"/>
                </a:solidFill>
                <a:latin typeface="Microsoft YaHei"/>
              </a:rPr>
              <a:t>C. 化学品安全技术说明书</a:t>
            </a:r>
          </a:p>
          <a:p>
            <a:pPr algn="l"/>
            <a:r>
              <a:rPr sz="1500" b="0">
                <a:solidFill>
                  <a:srgbClr val="222B33"/>
                </a:solidFill>
                <a:latin typeface="Microsoft YaHei"/>
              </a:rPr>
              <a:t>D. 网上的经验帖</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简答：阿杰不确定自己的实验该在几级实验室做，应该怎么办？</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防护级别：一套标准化措施，四级逐级加严</a:t>
            </a:r>
          </a:p>
          <a:p>
            <a:pPr>
              <a:spcAft>
                <a:spcPts val="800"/>
              </a:spcAft>
            </a:pPr>
            <a:r>
              <a:rPr sz="1500">
                <a:solidFill>
                  <a:srgbClr val="FFFFFF"/>
                </a:solidFill>
                <a:latin typeface="Microsoft YaHei"/>
              </a:rPr>
              <a:t>▪ K2  按危害定级，每级都有设施、设备、程序</a:t>
            </a:r>
          </a:p>
          <a:p>
            <a:pPr>
              <a:spcAft>
                <a:spcPts val="800"/>
              </a:spcAft>
            </a:pPr>
            <a:r>
              <a:rPr sz="1500">
                <a:solidFill>
                  <a:srgbClr val="FFFFFF"/>
                </a:solidFill>
                <a:latin typeface="Microsoft YaHei"/>
              </a:rPr>
              <a:t>▪ K3  实验室级别国内外同向，病原分类反向</a:t>
            </a:r>
          </a:p>
          <a:p>
            <a:pPr>
              <a:spcAft>
                <a:spcPts val="800"/>
              </a:spcAft>
            </a:pPr>
            <a:r>
              <a:rPr sz="1500">
                <a:solidFill>
                  <a:srgbClr val="FFFFFF"/>
                </a:solidFill>
                <a:latin typeface="Microsoft YaHei"/>
              </a:rPr>
              <a:t>▪ K4  一级：不致病的微生物，基本防护</a:t>
            </a:r>
          </a:p>
          <a:p>
            <a:pPr>
              <a:spcAft>
                <a:spcPts val="800"/>
              </a:spcAft>
            </a:pPr>
            <a:r>
              <a:rPr sz="1500">
                <a:solidFill>
                  <a:srgbClr val="FFFFFF"/>
                </a:solidFill>
                <a:latin typeface="Microsoft YaHei"/>
              </a:rPr>
              <a:t>▪ K5  二级：中度风险，受控进入、安全柜</a:t>
            </a:r>
          </a:p>
          <a:p>
            <a:pPr>
              <a:spcAft>
                <a:spcPts val="800"/>
              </a:spcAft>
            </a:pPr>
            <a:r>
              <a:rPr sz="1500">
                <a:solidFill>
                  <a:srgbClr val="FFFFFF"/>
                </a:solidFill>
                <a:latin typeface="Microsoft YaHei"/>
              </a:rPr>
              <a:t>▪ K6  三级：经吸入致重病，负压与严格程序</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K7  四级：最高防护，全国少数</a:t>
            </a:r>
          </a:p>
          <a:p>
            <a:pPr>
              <a:spcAft>
                <a:spcPts val="800"/>
              </a:spcAft>
            </a:pPr>
            <a:r>
              <a:rPr sz="1500">
                <a:solidFill>
                  <a:srgbClr val="FFFFFF"/>
                </a:solidFill>
                <a:latin typeface="Microsoft YaHei"/>
              </a:rPr>
              <a:t>▪ K8  动物ABSL、植物设施与“加强型”</a:t>
            </a:r>
          </a:p>
          <a:p>
            <a:pPr>
              <a:spcAft>
                <a:spcPts val="800"/>
              </a:spcAft>
            </a:pPr>
            <a:r>
              <a:rPr sz="1500">
                <a:solidFill>
                  <a:srgbClr val="FFFFFF"/>
                </a:solidFill>
                <a:latin typeface="Microsoft YaHei"/>
              </a:rPr>
              <a:t>▪ K9  谁定标准：国内法律、法规、标准层层落实</a:t>
            </a:r>
          </a:p>
          <a:p>
            <a:pPr>
              <a:spcAft>
                <a:spcPts val="800"/>
              </a:spcAft>
            </a:pPr>
            <a:r>
              <a:rPr sz="1500">
                <a:solidFill>
                  <a:srgbClr val="FFFFFF"/>
                </a:solidFill>
                <a:latin typeface="Microsoft YaHei"/>
              </a:rPr>
              <a:t>▪ K10  国际手册和指南只作参考</a:t>
            </a:r>
          </a:p>
          <a:p>
            <a:pPr>
              <a:spcAft>
                <a:spcPts val="800"/>
              </a:spcAft>
            </a:pPr>
            <a:r>
              <a:rPr sz="1500">
                <a:solidFill>
                  <a:srgbClr val="FFFFFF"/>
                </a:solidFill>
                <a:latin typeface="Microsoft YaHei"/>
              </a:rPr>
              <a:t>▪ K11  一张图看清谁管什么</a:t>
            </a:r>
          </a:p>
          <a:p>
            <a:pPr>
              <a:spcAft>
                <a:spcPts val="800"/>
              </a:spcAft>
            </a:pPr>
            <a:r>
              <a:rPr sz="1500">
                <a:solidFill>
                  <a:srgbClr val="FFFFFF"/>
                </a:solidFill>
                <a:latin typeface="Microsoft YaHei"/>
              </a:rPr>
              <a:t>▪ K12  学生实验的级别边界</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060</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如何确定实验活动的防护等级</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5 分钟（卡通视频 59 镜）　适用对象：开展或计划开展涉及微生物、细胞、临床和环境样本实验的高校研究生、本科生和教职工；项目负责人、实验室负责人和生物安全员重点学习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能说出为新微生物或新实验确定防护等级的七个步骤：认清病原、致病性、传播途径、有无药和疫苗、实验操作、设施与人员能力、查规范问委员会。</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能做到“取最高的风险因素”定级，知道风险组不直接等于实验室级别，不得随意降级，降级须评估并经批准。</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能判断未知病原、来源不明样本、细胞系、临床和环境样本、噬菌体实验都要评估定级，信息不全时从严。</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能说出定级由生物安全委员会评定审批、学生不得自行定级，评估要成文、情况变化要重新评估，条件不够依法移交。</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《中华人民共和国生物安全法》（以现行文本为准）：病原微生物实验室分类管理、分级管理，实验活动须在相应级别实验室开展</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《病原微生物实验室生物安全管理条例》（以现行文本为准）：高致病性病原微生物实验活动须在相应级别实验室并经批准；不具备条件的单位不得从事相关活动</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生物安全通用要求》：风险评估及风险控制，评估报告成文，情况变化时重新评估</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233（以现行文本为准）《病原微生物实验室生物安全通用准则》：根据病原危害和实验活动确定防护水平</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《人间传染的病原微生物目录》（国家卫生健康委发布，以现行版本为准）：不同实验活动所需的实验室防护级别</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本校生物安全管理制度：生物安全委员会审查、实验活动审批，以本校规定为准</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定级是一套结构化风险评估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定级不是查一下就行，是一套结构化风险评估</a:t>
            </a:r>
          </a:p>
          <a:p>
            <a:pPr>
              <a:spcAft>
                <a:spcPts val="1000"/>
              </a:spcAft>
            </a:pPr>
            <a:r>
              <a:rPr sz="2000">
                <a:solidFill>
                  <a:srgbClr val="222B33"/>
                </a:solidFill>
                <a:latin typeface="Microsoft YaHei"/>
              </a:rPr>
              <a:t>▪ 评估四件事：病原、实验操作、对人和对环境的风险</a:t>
            </a:r>
          </a:p>
          <a:p>
            <a:pPr>
              <a:spcAft>
                <a:spcPts val="1000"/>
              </a:spcAft>
            </a:pPr>
            <a:r>
              <a:rPr sz="2000">
                <a:solidFill>
                  <a:srgbClr val="222B33"/>
                </a:solidFill>
                <a:latin typeface="Microsoft YaHei"/>
              </a:rPr>
              <a:t>▪ 防护水平要匹配病原和具体操作</a:t>
            </a:r>
          </a:p>
          <a:p>
            <a:pPr>
              <a:spcAft>
                <a:spcPts val="1000"/>
              </a:spcAft>
            </a:pPr>
            <a:r>
              <a:rPr sz="2000">
                <a:solidFill>
                  <a:srgbClr val="222B33"/>
                </a:solidFill>
                <a:latin typeface="Microsoft YaHei"/>
              </a:rPr>
              <a:t>▪ 先查目录、做评估、定级别，再配装备</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为一种新微生物或一项新实验确定防护等级，不是在表格里查一下就行，而是一套结构化的风险评估：评估病原本身、实验操作、对人员的风险和对环境的影响，使实验室的防护水平与病原和具体操作相匹配。</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只凭病原名称“印象”定级，不做评估</a:t>
            </a:r>
          </a:p>
          <a:p>
            <a:pPr>
              <a:spcAft>
                <a:spcPts val="1000"/>
              </a:spcAft>
            </a:pPr>
            <a:r>
              <a:rPr sz="1500">
                <a:solidFill>
                  <a:srgbClr val="222B33"/>
                </a:solidFill>
                <a:latin typeface="Microsoft YaHei"/>
              </a:rPr>
              <a:t>▪ 先买好装备再考虑级别</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第一步：认清它是什么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先认清是什么种、什么株</a:t>
            </a:r>
          </a:p>
          <a:p>
            <a:pPr>
              <a:spcAft>
                <a:spcPts val="1000"/>
              </a:spcAft>
            </a:pPr>
            <a:r>
              <a:rPr sz="2000">
                <a:solidFill>
                  <a:srgbClr val="222B33"/>
                </a:solidFill>
                <a:latin typeface="Microsoft YaHei"/>
              </a:rPr>
              <a:t>▪ 有没有已知变异，有没有经过基因改造</a:t>
            </a:r>
          </a:p>
          <a:p>
            <a:pPr>
              <a:spcAft>
                <a:spcPts val="1000"/>
              </a:spcAft>
            </a:pPr>
            <a:r>
              <a:rPr sz="2000">
                <a:solidFill>
                  <a:srgbClr val="222B33"/>
                </a:solidFill>
                <a:latin typeface="Microsoft YaHei"/>
              </a:rPr>
              <a:t>▪ 再和国内目录、已有分类对照</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第一步是认清要操作的到底是什么：属于什么种、什么株，有没有已知的变异，是否经过基因改造。然后与《人间传染的病原微生物目录》（以现行版本为准）和已有分类资料对照，确定它在国内的危害程度类别。具体分类以国内目录为准，国外……</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只知道“属”，不确认具体的种和株</a:t>
            </a:r>
          </a:p>
          <a:p>
            <a:pPr>
              <a:spcAft>
                <a:spcPts val="1000"/>
              </a:spcAft>
            </a:pPr>
            <a:r>
              <a:rPr sz="1500">
                <a:solidFill>
                  <a:srgbClr val="222B33"/>
                </a:solidFill>
                <a:latin typeface="Microsoft YaHei"/>
              </a:rPr>
              <a:t>▪ 忽视菌株经过改造这一信息</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第二步：会不会致病、有多重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会不会让人或动物生病</a:t>
            </a:r>
          </a:p>
          <a:p>
            <a:pPr>
              <a:spcAft>
                <a:spcPts val="1000"/>
              </a:spcAft>
            </a:pPr>
            <a:r>
              <a:rPr sz="2000">
                <a:solidFill>
                  <a:srgbClr val="222B33"/>
                </a:solidFill>
                <a:latin typeface="Microsoft YaHei"/>
              </a:rPr>
              <a:t>▪ 病有多重，多少量就能造成感染</a:t>
            </a:r>
          </a:p>
          <a:p>
            <a:pPr>
              <a:spcAft>
                <a:spcPts val="1000"/>
              </a:spcAft>
            </a:pPr>
            <a:r>
              <a:rPr sz="2000">
                <a:solidFill>
                  <a:srgbClr val="222B33"/>
                </a:solidFill>
                <a:latin typeface="Microsoft YaHei"/>
              </a:rPr>
              <a:t>▪ 致病性越强，需要的防护级别往往越高</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第二步评估致病性：它会不会让人或动物生病？如果会，病情有多严重？多少量就可能造成感染（感染剂量）？致病性越强、感染剂量越低，需要的防护级别往往越高。病原层面更详细的评估要素见第 068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认为“只让动物生病”就不需要防护</a:t>
            </a:r>
          </a:p>
          <a:p>
            <a:pPr>
              <a:spcAft>
                <a:spcPts val="1000"/>
              </a:spcAft>
            </a:pPr>
            <a:r>
              <a:rPr sz="1500">
                <a:solidFill>
                  <a:srgbClr val="222B33"/>
                </a:solidFill>
                <a:latin typeface="Microsoft YaHei"/>
              </a:rPr>
              <a:t>▪ 忽视低剂量即可感染的情况</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第三步：怎么传播</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它怎么从一处传到另一处</a:t>
            </a:r>
          </a:p>
          <a:p>
            <a:pPr>
              <a:spcAft>
                <a:spcPts val="1000"/>
              </a:spcAft>
            </a:pPr>
            <a:r>
              <a:rPr sz="2000">
                <a:solidFill>
                  <a:srgbClr val="222B33"/>
                </a:solidFill>
                <a:latin typeface="Microsoft YaHei"/>
              </a:rPr>
              <a:t>▪ 经吸入、接触、食入还是锐器进入人体</a:t>
            </a:r>
          </a:p>
          <a:p>
            <a:pPr>
              <a:spcAft>
                <a:spcPts val="1000"/>
              </a:spcAft>
            </a:pPr>
            <a:r>
              <a:rPr sz="2000">
                <a:solidFill>
                  <a:srgbClr val="222B33"/>
                </a:solidFill>
                <a:latin typeface="Microsoft YaHei"/>
              </a:rPr>
              <a:t>▪ 能经空气传播的，级别往往更高</a:t>
            </a:r>
          </a:p>
          <a:p>
            <a:pPr>
              <a:spcAft>
                <a:spcPts val="1000"/>
              </a:spcAft>
            </a:pPr>
            <a:r>
              <a:rPr sz="2000">
                <a:solidFill>
                  <a:srgbClr val="222B33"/>
                </a:solidFill>
                <a:latin typeface="Microsoft YaHei"/>
              </a:rPr>
              <a:t>▪ 具体几级查目录，不靠印象</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第三步看传播途径：能不能随空气被吸入？会不会经皮肤黏膜接触、经口食入，或经针头等锐器刺伤进入人体？</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只考虑接触传播，忽视气溶胶吸入</a:t>
            </a:r>
          </a:p>
          <a:p>
            <a:pPr>
              <a:spcAft>
                <a:spcPts val="1000"/>
              </a:spcAft>
            </a:pPr>
            <a:r>
              <a:rPr sz="1500">
                <a:solidFill>
                  <a:srgbClr val="222B33"/>
                </a:solidFill>
                <a:latin typeface="Microsoft YaHei"/>
              </a:rPr>
              <a:t>▪ 凭记忆判断级别，不查现行目录</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第四步：有没有药和疫苗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有没有有效的治疗药物和疫苗</a:t>
            </a:r>
          </a:p>
          <a:p>
            <a:pPr>
              <a:spcAft>
                <a:spcPts val="1000"/>
              </a:spcAft>
            </a:pPr>
            <a:r>
              <a:rPr sz="2000">
                <a:solidFill>
                  <a:srgbClr val="222B33"/>
                </a:solidFill>
                <a:latin typeface="Microsoft YaHei"/>
              </a:rPr>
              <a:t>▪ 万一暴露，能不能及时处置</a:t>
            </a:r>
          </a:p>
          <a:p>
            <a:pPr>
              <a:spcAft>
                <a:spcPts val="1000"/>
              </a:spcAft>
            </a:pPr>
            <a:r>
              <a:rPr sz="2000">
                <a:solidFill>
                  <a:srgbClr val="222B33"/>
                </a:solidFill>
                <a:latin typeface="Microsoft YaHei"/>
              </a:rPr>
              <a:t>▪ 没有有效治疗手段的，级别相应往上提</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第四步看防治手段：有没有有效的治疗药物和疫苗？万一发生暴露，能不能及时进行急救、预防性用药和医学观察？</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认为有疫苗就可以降低防护要求</a:t>
            </a:r>
          </a:p>
          <a:p>
            <a:pPr>
              <a:spcAft>
                <a:spcPts val="1000"/>
              </a:spcAft>
            </a:pPr>
            <a:r>
              <a:rPr sz="1500">
                <a:solidFill>
                  <a:srgbClr val="222B33"/>
                </a:solidFill>
                <a:latin typeface="Microsoft YaHei"/>
              </a:rPr>
              <a:t>▪ 开展实验前不了解暴露后的处置途径</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第五步：实验怎么做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会不会产生气溶胶、用到锐器</a:t>
            </a:r>
          </a:p>
          <a:p>
            <a:pPr>
              <a:spcAft>
                <a:spcPts val="1000"/>
              </a:spcAft>
            </a:pPr>
            <a:r>
              <a:rPr sz="2000">
                <a:solidFill>
                  <a:srgbClr val="222B33"/>
                </a:solidFill>
                <a:latin typeface="Microsoft YaHei"/>
              </a:rPr>
              <a:t>▪ 是不是高浓度、大体积，涉不涉及动物、重组</a:t>
            </a:r>
          </a:p>
          <a:p>
            <a:pPr>
              <a:spcAft>
                <a:spcPts val="1000"/>
              </a:spcAft>
            </a:pPr>
            <a:r>
              <a:rPr sz="2000">
                <a:solidFill>
                  <a:srgbClr val="222B33"/>
                </a:solidFill>
                <a:latin typeface="Microsoft YaHei"/>
              </a:rPr>
              <a:t>▪ 同一种菌，培养和检测要求不同</a:t>
            </a:r>
          </a:p>
          <a:p>
            <a:pPr>
              <a:spcAft>
                <a:spcPts val="1000"/>
              </a:spcAft>
            </a:pPr>
            <a:r>
              <a:rPr sz="2000">
                <a:solidFill>
                  <a:srgbClr val="222B33"/>
                </a:solidFill>
                <a:latin typeface="Microsoft YaHei"/>
              </a:rPr>
              <a:t>▪ 培养活病毒风险高；涉及基因改造可能升级，先审批</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第五步看实验活动本身：会不会产生气溶胶（如离心、匀浆、超声、剧烈混匀），会不会用到锐器？是不是高浓度、大体积操作？涉不涉及动物感染实验？涉不涉及重组 DNA 或基因改造？</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认为“检测时能做，培养也就能做”</a:t>
            </a:r>
          </a:p>
          <a:p>
            <a:pPr>
              <a:spcAft>
                <a:spcPts val="1000"/>
              </a:spcAft>
            </a:pPr>
            <a:r>
              <a:rPr sz="1500">
                <a:solidFill>
                  <a:srgbClr val="222B33"/>
                </a:solidFill>
                <a:latin typeface="Microsoft YaHei"/>
              </a:rPr>
              <a:t>▪ 未经审批就开展涉及基因改造的实验</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第六步：设施和人员跟得上吗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本实验室条件够不够，防护要与风险匹配</a:t>
            </a:r>
          </a:p>
          <a:p>
            <a:pPr>
              <a:spcAft>
                <a:spcPts val="1000"/>
              </a:spcAft>
            </a:pPr>
            <a:r>
              <a:rPr sz="2000">
                <a:solidFill>
                  <a:srgbClr val="222B33"/>
                </a:solidFill>
                <a:latin typeface="Microsoft YaHei"/>
              </a:rPr>
              <a:t>▪ 人员受过培训吗，防护装备备齐了吗</a:t>
            </a:r>
          </a:p>
          <a:p>
            <a:pPr>
              <a:spcAft>
                <a:spcPts val="1000"/>
              </a:spcAft>
            </a:pPr>
            <a:r>
              <a:rPr sz="2000">
                <a:solidFill>
                  <a:srgbClr val="222B33"/>
                </a:solidFill>
                <a:latin typeface="Microsoft YaHei"/>
              </a:rPr>
              <a:t>▪ 条件不够，就别硬上</a:t>
            </a:r>
          </a:p>
          <a:p>
            <a:pPr>
              <a:spcAft>
                <a:spcPts val="1000"/>
              </a:spcAft>
            </a:pPr>
            <a:r>
              <a:rPr sz="2000">
                <a:solidFill>
                  <a:srgbClr val="222B33"/>
                </a:solidFill>
                <a:latin typeface="Microsoft YaHei"/>
              </a:rPr>
              <a:t>▪ 依法移交有资质的机构处理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第六步看本实验室的条件：实验室的防护级别和设施设备够不够？人员是否受过相应培训、考核合格？个人防护装备是否齐全？应急处置条件是否具备？防护条件必须与风险等级相匹配。</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明知条件不够，抱侥幸心理先做</a:t>
            </a:r>
          </a:p>
          <a:p>
            <a:pPr>
              <a:spcAft>
                <a:spcPts val="1000"/>
              </a:spcAft>
            </a:pPr>
            <a:r>
              <a:rPr sz="1500">
                <a:solidFill>
                  <a:srgbClr val="222B33"/>
                </a:solidFill>
                <a:latin typeface="Microsoft YaHei"/>
              </a:rPr>
              <a:t>▪ 把样本私自转给其他单位“帮忙做”</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第七步：查规范、问委员会，级别不自定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查国内法规、标准和目录，国外手册只作参考</a:t>
            </a:r>
          </a:p>
          <a:p>
            <a:pPr>
              <a:spcAft>
                <a:spcPts val="1000"/>
              </a:spcAft>
            </a:pPr>
            <a:r>
              <a:rPr sz="2000">
                <a:solidFill>
                  <a:srgbClr val="222B33"/>
                </a:solidFill>
                <a:latin typeface="Microsoft YaHei"/>
              </a:rPr>
              <a:t>▪ 咨询实验室负责人和生物安全委员会</a:t>
            </a:r>
          </a:p>
          <a:p>
            <a:pPr>
              <a:spcAft>
                <a:spcPts val="1000"/>
              </a:spcAft>
            </a:pPr>
            <a:r>
              <a:rPr sz="2000">
                <a:solidFill>
                  <a:srgbClr val="222B33"/>
                </a:solidFill>
                <a:latin typeface="Microsoft YaHei"/>
              </a:rPr>
              <a:t>▪ 级别由生物安全员或委员会评定审批</a:t>
            </a:r>
          </a:p>
          <a:p>
            <a:pPr>
              <a:spcAft>
                <a:spcPts val="1000"/>
              </a:spcAft>
            </a:pPr>
            <a:r>
              <a:rPr sz="2000">
                <a:solidFill>
                  <a:srgbClr val="222B33"/>
                </a:solidFill>
                <a:latin typeface="Microsoft YaHei"/>
              </a:rPr>
              <a:t>▪ 学生不得自行定级、擅自开展</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第七步，查规范、问专家：对照国内法律法规、GB 19489、WS 233 和《人间传染的病原微生物目录》（均以现行文本或版本为准），国外手册只作参考；再向实验室负责人、生物安全员和单位生物安全委员会咨询。</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自己在申请表上填个级别就开工</a:t>
            </a:r>
          </a:p>
          <a:p>
            <a:pPr>
              <a:spcAft>
                <a:spcPts val="1000"/>
              </a:spcAft>
            </a:pPr>
            <a:r>
              <a:rPr sz="1500">
                <a:solidFill>
                  <a:srgbClr val="222B33"/>
                </a:solidFill>
                <a:latin typeface="Microsoft YaHei"/>
              </a:rPr>
              <a:t>▪ 只问师兄师姐，不经委员会审查</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取最高的那个风险因素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最终级别取最高的那个风险因素</a:t>
            </a:r>
          </a:p>
          <a:p>
            <a:pPr>
              <a:spcAft>
                <a:spcPts val="1000"/>
              </a:spcAft>
            </a:pPr>
            <a:r>
              <a:rPr sz="2000">
                <a:solidFill>
                  <a:srgbClr val="222B33"/>
                </a:solidFill>
                <a:latin typeface="Microsoft YaHei"/>
              </a:rPr>
              <a:t>▪ 哪怕只有一项高，也按高的来</a:t>
            </a:r>
          </a:p>
          <a:p>
            <a:pPr>
              <a:spcAft>
                <a:spcPts val="1000"/>
              </a:spcAft>
            </a:pPr>
            <a:r>
              <a:rPr sz="2000">
                <a:solidFill>
                  <a:srgbClr val="222B33"/>
                </a:solidFill>
                <a:latin typeface="Microsoft YaHei"/>
              </a:rPr>
              <a:t>▪ 例子：本体风险低，改造后、有气溶胶要重新看</a:t>
            </a:r>
          </a:p>
          <a:p>
            <a:pPr>
              <a:spcAft>
                <a:spcPts val="1000"/>
              </a:spcAft>
            </a:pPr>
            <a:r>
              <a:rPr sz="2000">
                <a:solidFill>
                  <a:srgbClr val="222B33"/>
                </a:solidFill>
                <a:latin typeface="Microsoft YaHei"/>
              </a:rPr>
              <a:t>▪ 拟定级别仍要报委员会审批</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各步骤的评估结果综合起来，最终级别取最高的那个风险因素：哪怕只有一项风险高，也要按高的来。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把各项风险“平均”一下定级</a:t>
            </a:r>
          </a:p>
          <a:p>
            <a:pPr>
              <a:spcAft>
                <a:spcPts val="1000"/>
              </a:spcAft>
            </a:pPr>
            <a:r>
              <a:rPr sz="1500">
                <a:solidFill>
                  <a:srgbClr val="222B33"/>
                </a:solidFill>
                <a:latin typeface="Microsoft YaHei"/>
              </a:rPr>
              <a:t>▪ 只按菌株本体定级，不考虑改造和操作</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风险组不等于实验室级别，不得随意降级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风险组不直接等于实验室级别</a:t>
            </a:r>
          </a:p>
          <a:p>
            <a:pPr>
              <a:spcAft>
                <a:spcPts val="1000"/>
              </a:spcAft>
            </a:pPr>
            <a:r>
              <a:rPr sz="2000">
                <a:solidFill>
                  <a:srgbClr val="222B33"/>
                </a:solidFill>
                <a:latin typeface="Microsoft YaHei"/>
              </a:rPr>
              <a:t>▪ 逐案评估，但要按目录规定来</a:t>
            </a:r>
          </a:p>
          <a:p>
            <a:pPr>
              <a:spcAft>
                <a:spcPts val="1000"/>
              </a:spcAft>
            </a:pPr>
            <a:r>
              <a:rPr sz="2000">
                <a:solidFill>
                  <a:srgbClr val="222B33"/>
                </a:solidFill>
                <a:latin typeface="Microsoft YaHei"/>
              </a:rPr>
              <a:t>▪ 想在低一级实验室做，不能自己定</a:t>
            </a:r>
          </a:p>
          <a:p>
            <a:pPr>
              <a:spcAft>
                <a:spcPts val="1000"/>
              </a:spcAft>
            </a:pPr>
            <a:r>
              <a:rPr sz="2000">
                <a:solidFill>
                  <a:srgbClr val="222B33"/>
                </a:solidFill>
                <a:latin typeface="Microsoft YaHei"/>
              </a:rPr>
              <a:t>▪ 降级须评估、委员会审核，高致病性依法审批</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国际资料常说“风险组不等于实验室级别”，要结合管理控制措施逐案评估。例如有人问：国际风险组 3 的病原一定要进三级实验室吗？逐案评估的思路是对的，但在国内必须按规定来：先查《人间传染的病原微生物目录》，目录对不同实验……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以“逐案评估”为由自行降级</a:t>
            </a:r>
          </a:p>
          <a:p>
            <a:pPr>
              <a:spcAft>
                <a:spcPts val="1000"/>
              </a:spcAft>
            </a:pPr>
            <a:r>
              <a:rPr sz="1500">
                <a:solidFill>
                  <a:srgbClr val="222B33"/>
                </a:solidFill>
                <a:latin typeface="Microsoft YaHei"/>
              </a:rPr>
              <a:t>▪ 把国际风险组数字直接当成实验室级别</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未知病原、细胞系和环境样本从严定级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病原没确认，信息不全，评估从严，宁可高一档</a:t>
            </a:r>
          </a:p>
          <a:p>
            <a:pPr>
              <a:spcAft>
                <a:spcPts val="1000"/>
              </a:spcAft>
            </a:pPr>
            <a:r>
              <a:rPr sz="2000">
                <a:solidFill>
                  <a:srgbClr val="222B33"/>
                </a:solidFill>
                <a:latin typeface="Microsoft YaHei"/>
              </a:rPr>
              <a:t>▪ 细胞系、临床样本、来源不明样本也要定级</a:t>
            </a:r>
          </a:p>
          <a:p>
            <a:pPr>
              <a:spcAft>
                <a:spcPts val="1000"/>
              </a:spcAft>
            </a:pPr>
            <a:r>
              <a:rPr sz="2000">
                <a:solidFill>
                  <a:srgbClr val="222B33"/>
                </a:solidFill>
                <a:latin typeface="Microsoft YaHei"/>
              </a:rPr>
              <a:t>▪ 噬菌体实验按宿主菌和样品定级</a:t>
            </a:r>
          </a:p>
          <a:p>
            <a:pPr>
              <a:spcAft>
                <a:spcPts val="1000"/>
              </a:spcAft>
            </a:pPr>
            <a:r>
              <a:rPr sz="2000">
                <a:solidFill>
                  <a:srgbClr val="222B33"/>
                </a:solidFill>
                <a:latin typeface="Microsoft YaHei"/>
              </a:rPr>
              <a:t>▪ 污泥污水富集会放大杂菌，评估后一般二级</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病原还没有确认时信息不全，评估要从严，宁可防护高一档，并报单位生物安全委员会审核。</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认为“只是细胞”或“只是环境样本”就不用评估</a:t>
            </a:r>
          </a:p>
          <a:p>
            <a:pPr>
              <a:spcAft>
                <a:spcPts val="1000"/>
              </a:spcAft>
            </a:pPr>
            <a:r>
              <a:rPr sz="1500">
                <a:solidFill>
                  <a:srgbClr val="222B33"/>
                </a:solidFill>
                <a:latin typeface="Microsoft YaHei"/>
              </a:rPr>
              <a:t>▪ 在开放台面上对污水样本做富集培养</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评估成文，情况一变重新评估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评估要形成文件，经审核、留档可追溯</a:t>
            </a:r>
          </a:p>
          <a:p>
            <a:pPr>
              <a:spcAft>
                <a:spcPts val="1000"/>
              </a:spcAft>
            </a:pPr>
            <a:r>
              <a:rPr sz="2000">
                <a:solidFill>
                  <a:srgbClr val="222B33"/>
                </a:solidFill>
                <a:latin typeface="Microsoft YaHei"/>
              </a:rPr>
              <a:t>▪ 实验内容或条件一变，就重新评估</a:t>
            </a:r>
          </a:p>
          <a:p>
            <a:pPr>
              <a:spcAft>
                <a:spcPts val="1000"/>
              </a:spcAft>
            </a:pPr>
            <a:r>
              <a:rPr sz="2000">
                <a:solidFill>
                  <a:srgbClr val="222B33"/>
                </a:solidFill>
                <a:latin typeface="Microsoft YaHei"/>
              </a:rPr>
              <a:t>▪ 采取措施后残余风险仍偏高，报委员会</a:t>
            </a:r>
          </a:p>
          <a:p>
            <a:pPr>
              <a:spcAft>
                <a:spcPts val="1000"/>
              </a:spcAft>
            </a:pPr>
            <a:r>
              <a:rPr sz="2000">
                <a:solidFill>
                  <a:srgbClr val="222B33"/>
                </a:solidFill>
                <a:latin typeface="Microsoft YaHei"/>
              </a:rPr>
              <a:t>▪ 未批准前不擅自开工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定级评估不是口头说说，要形成书面的风险评估报告，经审核批准后留档，做到可追溯（GB 19489-2008，以现行文本为准）。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评估只在脑子里，不写成文件</a:t>
            </a:r>
          </a:p>
          <a:p>
            <a:pPr>
              <a:spcAft>
                <a:spcPts val="1000"/>
              </a:spcAft>
            </a:pPr>
            <a:r>
              <a:rPr sz="1500">
                <a:solidFill>
                  <a:srgbClr val="222B33"/>
                </a:solidFill>
                <a:latin typeface="Microsoft YaHei"/>
              </a:rPr>
              <a:t>▪ 换了新方法、扩大了规模，还沿用旧评估</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为一项新实验确定防护等级，正确的做法是：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按病原名称凭印象定级</a:t>
            </a:r>
          </a:p>
          <a:p>
            <a:pPr algn="l"/>
            <a:r>
              <a:rPr sz="1500" b="0">
                <a:solidFill>
                  <a:srgbClr val="222B33"/>
                </a:solidFill>
                <a:latin typeface="Microsoft YaHei"/>
              </a:rPr>
              <a:t>B. 查国内目录，按病原、传播、防治、操作、设施人员逐步评估，取最高风险因素，报委员会审批</a:t>
            </a:r>
          </a:p>
          <a:p>
            <a:pPr algn="l"/>
            <a:r>
              <a:rPr sz="1500" b="0">
                <a:solidFill>
                  <a:srgbClr val="222B33"/>
                </a:solidFill>
                <a:latin typeface="Microsoft YaHei"/>
              </a:rPr>
              <a:t>C. 按国外手册自行确定</a:t>
            </a:r>
          </a:p>
          <a:p>
            <a:pPr algn="l"/>
            <a:r>
              <a:rPr sz="1500" b="0">
                <a:solidFill>
                  <a:srgbClr val="222B33"/>
                </a:solidFill>
                <a:latin typeface="Microsoft YaHei"/>
              </a:rPr>
              <a:t>D. 先做起来，有问题再说</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判断：某菌株本身风险低，经过基因改造后可以直接沿用原来的级别。</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想在比目录规定低一级的实验室开展实验，应当：</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研究者自己决定</a:t>
            </a:r>
          </a:p>
          <a:p>
            <a:pPr algn="l"/>
            <a:r>
              <a:rPr sz="1500" b="0">
                <a:solidFill>
                  <a:srgbClr val="222B33"/>
                </a:solidFill>
                <a:latin typeface="Microsoft YaHei"/>
              </a:rPr>
              <a:t>B. 不能随意降级，须有充分风险评估并经委员会审核，高致病性还须依法审批</a:t>
            </a:r>
          </a:p>
          <a:p>
            <a:pPr algn="l"/>
            <a:r>
              <a:rPr sz="1500" b="0">
                <a:solidFill>
                  <a:srgbClr val="222B33"/>
                </a:solidFill>
                <a:latin typeface="Microsoft YaHei"/>
              </a:rPr>
              <a:t>C. 只要戴好口罩就行</a:t>
            </a:r>
          </a:p>
          <a:p>
            <a:pPr algn="l"/>
            <a:r>
              <a:rPr sz="1500" b="0">
                <a:solidFill>
                  <a:srgbClr val="222B33"/>
                </a:solidFill>
                <a:latin typeface="Microsoft YaHei"/>
              </a:rPr>
              <a:t>D. 晚上没人时再做</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判断：细胞系和来源不明的样本在目录里查不到，所以不需要定级。</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简答：本实验室的条件达不到某项实验所需的防护级别，应该怎么办？</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定级是一套结构化风险评估</a:t>
            </a:r>
          </a:p>
          <a:p>
            <a:pPr>
              <a:spcAft>
                <a:spcPts val="800"/>
              </a:spcAft>
            </a:pPr>
            <a:r>
              <a:rPr sz="1500">
                <a:solidFill>
                  <a:srgbClr val="FFFFFF"/>
                </a:solidFill>
                <a:latin typeface="Microsoft YaHei"/>
              </a:rPr>
              <a:t>▪ K2  第一步：认清它是什么</a:t>
            </a:r>
          </a:p>
          <a:p>
            <a:pPr>
              <a:spcAft>
                <a:spcPts val="800"/>
              </a:spcAft>
            </a:pPr>
            <a:r>
              <a:rPr sz="1500">
                <a:solidFill>
                  <a:srgbClr val="FFFFFF"/>
                </a:solidFill>
                <a:latin typeface="Microsoft YaHei"/>
              </a:rPr>
              <a:t>▪ K3  第二步：会不会致病、有多重</a:t>
            </a:r>
          </a:p>
          <a:p>
            <a:pPr>
              <a:spcAft>
                <a:spcPts val="800"/>
              </a:spcAft>
            </a:pPr>
            <a:r>
              <a:rPr sz="1500">
                <a:solidFill>
                  <a:srgbClr val="FFFFFF"/>
                </a:solidFill>
                <a:latin typeface="Microsoft YaHei"/>
              </a:rPr>
              <a:t>▪ K4  第三步：怎么传播</a:t>
            </a:r>
          </a:p>
          <a:p>
            <a:pPr>
              <a:spcAft>
                <a:spcPts val="800"/>
              </a:spcAft>
            </a:pPr>
            <a:r>
              <a:rPr sz="1500">
                <a:solidFill>
                  <a:srgbClr val="FFFFFF"/>
                </a:solidFill>
                <a:latin typeface="Microsoft YaHei"/>
              </a:rPr>
              <a:t>▪ K5  第四步：有没有药和疫苗</a:t>
            </a:r>
          </a:p>
          <a:p>
            <a:pPr>
              <a:spcAft>
                <a:spcPts val="800"/>
              </a:spcAft>
            </a:pPr>
            <a:r>
              <a:rPr sz="1500">
                <a:solidFill>
                  <a:srgbClr val="FFFFFF"/>
                </a:solidFill>
                <a:latin typeface="Microsoft YaHei"/>
              </a:rPr>
              <a:t>▪ K6  第五步：实验怎么做</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K7  第六步：设施和人员跟得上吗</a:t>
            </a:r>
          </a:p>
          <a:p>
            <a:pPr>
              <a:spcAft>
                <a:spcPts val="800"/>
              </a:spcAft>
            </a:pPr>
            <a:r>
              <a:rPr sz="1500">
                <a:solidFill>
                  <a:srgbClr val="FFFFFF"/>
                </a:solidFill>
                <a:latin typeface="Microsoft YaHei"/>
              </a:rPr>
              <a:t>▪ K8  第七步：查规范、问委员会，级别不自定</a:t>
            </a:r>
          </a:p>
          <a:p>
            <a:pPr>
              <a:spcAft>
                <a:spcPts val="800"/>
              </a:spcAft>
            </a:pPr>
            <a:r>
              <a:rPr sz="1500">
                <a:solidFill>
                  <a:srgbClr val="FFFFFF"/>
                </a:solidFill>
                <a:latin typeface="Microsoft YaHei"/>
              </a:rPr>
              <a:t>▪ K9  取最高的那个风险因素</a:t>
            </a:r>
          </a:p>
          <a:p>
            <a:pPr>
              <a:spcAft>
                <a:spcPts val="800"/>
              </a:spcAft>
            </a:pPr>
            <a:r>
              <a:rPr sz="1500">
                <a:solidFill>
                  <a:srgbClr val="FFFFFF"/>
                </a:solidFill>
                <a:latin typeface="Microsoft YaHei"/>
              </a:rPr>
              <a:t>▪ K10  风险组不等于实验室级别，不得随意降级</a:t>
            </a:r>
          </a:p>
          <a:p>
            <a:pPr>
              <a:spcAft>
                <a:spcPts val="800"/>
              </a:spcAft>
            </a:pPr>
            <a:r>
              <a:rPr sz="1500">
                <a:solidFill>
                  <a:srgbClr val="FFFFFF"/>
                </a:solidFill>
                <a:latin typeface="Microsoft YaHei"/>
              </a:rPr>
              <a:t>▪ K11  未知病原、细胞系和环境样本从严定级</a:t>
            </a:r>
          </a:p>
          <a:p>
            <a:pPr>
              <a:spcAft>
                <a:spcPts val="800"/>
              </a:spcAft>
            </a:pPr>
            <a:r>
              <a:rPr sz="1500">
                <a:solidFill>
                  <a:srgbClr val="FFFFFF"/>
                </a:solidFill>
                <a:latin typeface="Microsoft YaHei"/>
              </a:rPr>
              <a:t>▪ K12  评估成文，情况一变重新评估</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061</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各级实验室的防护要求</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7 分钟（卡通视频 84 镜）　适用对象：进入生命科学、医学、农学、环境等涉及生物材料实验室的高校本科生、研究生和教职工（必修）；实验室负责人和生物安全员重点学习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能说出各级生物安全实验室在准入、个人防护、安全设备和设施四方面的递进差异，知道各级要求是一整套、缺一项就不达标。</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能做到一级、二级实验室的日常规范：不饮食、不口吸移液、减少气溶胶、台面消毒、废物灭菌、摘手套洗手后离开；涂片和环境分离菌按要求防护。</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能说出各级人员培训的重点和人人必备的六类培训，知道培训要记录、要动手实练、三四级要带教。</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能判断防护装备缺失或损坏时应停止相关操作、报告负责人、修复确认后再开工。</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《中华人民共和国生物安全法》（以现行文本为准）：病原微生物实验室分级管理，从业人员培训</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《病原微生物实验室生物安全管理条例》（以现行文本为准）：实验室按防护水平分为一级至四级；实验室人员须经培训考核合格；高致病性病原微生物实验活动须经批准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生物安全通用要求》：各级实验室的设施设备要求、个人防护、人员培训和管理要求</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233（以现行文本为准）《病原微生物实验室生物安全通用准则》：各级病原微生物实验室的设施、设备和操作要求</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《人间传染的病原微生物目录》（国家卫生健康委发布，以现行版本为准）：各病原不同实验活动所需的实验室级别</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号，以现行文本为准）：安全教育培训与准入，实验室安全管理</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本校生物安全管理制度：准入培训、复训周期、带教授权和报告程序，以本校规定为准</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防护要求是一整套：缺一项就不达标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每一级措施分三栏：穿什么、用什么设备、房子怎么建</a:t>
            </a:r>
          </a:p>
          <a:p>
            <a:pPr>
              <a:spcAft>
                <a:spcPts val="1000"/>
              </a:spcAft>
            </a:pPr>
            <a:r>
              <a:rPr sz="2000">
                <a:solidFill>
                  <a:srgbClr val="222B33"/>
                </a:solidFill>
                <a:latin typeface="Microsoft YaHei"/>
              </a:rPr>
              <a:t>▪ 级别越高，对应的病原风险越大</a:t>
            </a:r>
          </a:p>
          <a:p>
            <a:pPr>
              <a:spcAft>
                <a:spcPts val="1000"/>
              </a:spcAft>
            </a:pPr>
            <a:r>
              <a:rPr sz="2000">
                <a:solidFill>
                  <a:srgbClr val="222B33"/>
                </a:solidFill>
                <a:latin typeface="Microsoft YaHei"/>
              </a:rPr>
              <a:t>▪ 具体病原放几级，查国家目录</a:t>
            </a:r>
          </a:p>
          <a:p>
            <a:pPr>
              <a:spcAft>
                <a:spcPts val="1000"/>
              </a:spcAft>
            </a:pPr>
            <a:r>
              <a:rPr sz="2000">
                <a:solidFill>
                  <a:srgbClr val="222B33"/>
                </a:solidFill>
                <a:latin typeface="Microsoft YaHei"/>
              </a:rPr>
              <a:t>▪ 设施、设备、操作、人员，缺一项不达标</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比较各级生物安全实验室，可以列一张对比表：先看病原风险——一级操作通常不使健康成人致病的微生物，二级操作能致病但一般可防可治的病原，三级对应可经空气传播、后果严重的病原，四级对应危及生命且缺乏有效防治手段的病原（分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买了生物安全柜，就以为实验室达到了二级</a:t>
            </a:r>
          </a:p>
          <a:p>
            <a:pPr>
              <a:spcAft>
                <a:spcPts val="1000"/>
              </a:spcAft>
            </a:pPr>
            <a:r>
              <a:rPr sz="1500">
                <a:solidFill>
                  <a:srgbClr val="222B33"/>
                </a:solidFill>
                <a:latin typeface="Microsoft YaHei"/>
              </a:rPr>
              <a:t>▪ 只看房间级别，不管操作和人员是否到位</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谁能进门：准入逐级收紧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一级：经过培训的人可进</a:t>
            </a:r>
          </a:p>
          <a:p>
            <a:pPr>
              <a:spcAft>
                <a:spcPts val="1000"/>
              </a:spcAft>
            </a:pPr>
            <a:r>
              <a:rPr sz="2000">
                <a:solidFill>
                  <a:srgbClr val="222B33"/>
                </a:solidFill>
                <a:latin typeface="Microsoft YaHei"/>
              </a:rPr>
              <a:t>▪ 二级：限制进入，门上挂标识</a:t>
            </a:r>
          </a:p>
          <a:p>
            <a:pPr>
              <a:spcAft>
                <a:spcPts val="1000"/>
              </a:spcAft>
            </a:pPr>
            <a:r>
              <a:rPr sz="2000">
                <a:solidFill>
                  <a:srgbClr val="222B33"/>
                </a:solidFill>
                <a:latin typeface="Microsoft YaHei"/>
              </a:rPr>
              <a:t>▪ 三级须专门培训和批准，四级严格控制</a:t>
            </a:r>
          </a:p>
          <a:p>
            <a:pPr>
              <a:spcAft>
                <a:spcPts val="1000"/>
              </a:spcAft>
            </a:pPr>
            <a:r>
              <a:rPr sz="2000">
                <a:solidFill>
                  <a:srgbClr val="222B33"/>
                </a:solidFill>
                <a:latin typeface="Microsoft YaHei"/>
              </a:rPr>
              <a:t>▪ 进门先看标识，培训考核合格才能操作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准入随级别逐级收紧：一级实验室，经过基本培训的人员可以进入；二级实验室限制进入，无关人员不得入内；三级实验室受控进入，人员须经专门培训、批准和授权；四级实验室严格控制进入，并有高度的安保措施。</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跟着有门禁卡的同学“蹭”进二级实验室</a:t>
            </a:r>
          </a:p>
          <a:p>
            <a:pPr>
              <a:spcAft>
                <a:spcPts val="1000"/>
              </a:spcAft>
            </a:pPr>
            <a:r>
              <a:rPr sz="1500">
                <a:solidFill>
                  <a:srgbClr val="222B33"/>
                </a:solidFill>
                <a:latin typeface="Microsoft YaHei"/>
              </a:rPr>
              <a:t>▪ 不看门口标识就进门</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个人防护逐级加码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一级：实验服为主，需要时戴手套和护目镜</a:t>
            </a:r>
          </a:p>
          <a:p>
            <a:pPr>
              <a:spcAft>
                <a:spcPts val="1000"/>
              </a:spcAft>
            </a:pPr>
            <a:r>
              <a:rPr sz="1700">
                <a:solidFill>
                  <a:srgbClr val="222B33"/>
                </a:solidFill>
                <a:latin typeface="Microsoft YaHei"/>
              </a:rPr>
              <a:t>▪ 二级：加护目镜或面屏，必须穿闭趾鞋</a:t>
            </a:r>
          </a:p>
          <a:p>
            <a:pPr>
              <a:spcAft>
                <a:spcPts val="1000"/>
              </a:spcAft>
            </a:pPr>
            <a:r>
              <a:rPr sz="1700">
                <a:solidFill>
                  <a:srgbClr val="222B33"/>
                </a:solidFill>
                <a:latin typeface="Microsoft YaHei"/>
              </a:rPr>
              <a:t>▪ 三级：前襟封闭的防护服，加呼吸防护</a:t>
            </a:r>
          </a:p>
          <a:p>
            <a:pPr>
              <a:spcAft>
                <a:spcPts val="1000"/>
              </a:spcAft>
            </a:pPr>
            <a:r>
              <a:rPr sz="1700">
                <a:solidFill>
                  <a:srgbClr val="222B33"/>
                </a:solidFill>
                <a:latin typeface="Microsoft YaHei"/>
              </a:rPr>
              <a:t>▪ 四级：正压供气防护服，多层手套</a:t>
            </a:r>
          </a:p>
          <a:p>
            <a:pPr>
              <a:spcAft>
                <a:spcPts val="1000"/>
              </a:spcAft>
            </a:pPr>
            <a:r>
              <a:rPr sz="1700">
                <a:solidFill>
                  <a:srgbClr val="222B33"/>
                </a:solidFill>
                <a:latin typeface="Microsoft YaHei"/>
              </a:rPr>
              <a:t>▪ 具体穿什么由风险评估决定，有气流也要穿</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个人防护随级别逐级加码：一级以实验服为主，需要时戴手套和护目镜；二级在实验服、手套之外，加戴护目镜或面屏等面部防护，必须穿不露脚趾的鞋；三级穿前襟封闭的防护服，戴手套和眼面部防护，并按要求加戴呼吸防护（呼吸防护与适合……</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进二级实验室穿凉鞋、拖鞋</a:t>
            </a:r>
          </a:p>
          <a:p>
            <a:pPr>
              <a:spcAft>
                <a:spcPts val="1000"/>
              </a:spcAft>
            </a:pPr>
            <a:r>
              <a:rPr sz="1500">
                <a:solidFill>
                  <a:srgbClr val="222B33"/>
                </a:solidFill>
                <a:latin typeface="Microsoft YaHei"/>
              </a:rPr>
              <a:t>▪ 认为房间有负压就可以不戴呼吸防护</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安全设备与气溶胶控制逐级加严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一级：洗手池和基本消毒用品</a:t>
            </a:r>
          </a:p>
          <a:p>
            <a:pPr>
              <a:spcAft>
                <a:spcPts val="1000"/>
              </a:spcAft>
            </a:pPr>
            <a:r>
              <a:rPr sz="2000">
                <a:solidFill>
                  <a:srgbClr val="222B33"/>
                </a:solidFill>
                <a:latin typeface="Microsoft YaHei"/>
              </a:rPr>
              <a:t>▪ 二级：可能产生气溶胶的操作进生物安全柜</a:t>
            </a:r>
          </a:p>
          <a:p>
            <a:pPr>
              <a:spcAft>
                <a:spcPts val="1000"/>
              </a:spcAft>
            </a:pPr>
            <a:r>
              <a:rPr sz="2000">
                <a:solidFill>
                  <a:srgbClr val="222B33"/>
                </a:solidFill>
                <a:latin typeface="Microsoft YaHei"/>
              </a:rPr>
              <a:t>▪ 三级：必须用安全柜，离心用密封离心杯</a:t>
            </a:r>
          </a:p>
          <a:p>
            <a:pPr>
              <a:spcAft>
                <a:spcPts val="1000"/>
              </a:spcAft>
            </a:pPr>
            <a:r>
              <a:rPr sz="2000">
                <a:solidFill>
                  <a:srgbClr val="222B33"/>
                </a:solidFill>
                <a:latin typeface="Microsoft YaHei"/>
              </a:rPr>
              <a:t>▪ 四级：全密闭安全柜，或正压服配安全柜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安全设备（工程控制）随级别加严：一级有洗手设施和基本的消毒用品；二级配备生物安全柜（通常为Ⅱ级），吸液、混匀、振荡、研磨等可能产生气溶胶或溅洒的操作要放进柜里做；三级所有涉及感染性材料的操作都必须在生物安全柜或其他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在二级实验室开放台面上振荡、研磨感染性材料</a:t>
            </a:r>
          </a:p>
          <a:p>
            <a:pPr>
              <a:spcAft>
                <a:spcPts val="1000"/>
              </a:spcAft>
            </a:pPr>
            <a:r>
              <a:rPr sz="1500">
                <a:solidFill>
                  <a:srgbClr val="222B33"/>
                </a:solidFill>
                <a:latin typeface="Microsoft YaHei"/>
              </a:rPr>
              <a:t>▪ 离心感染性材料不用密封离心杯</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实验室设施逐级递进</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一级：普通开放实验室，有洗手池</a:t>
            </a:r>
          </a:p>
          <a:p>
            <a:pPr>
              <a:spcAft>
                <a:spcPts val="1000"/>
              </a:spcAft>
            </a:pPr>
            <a:r>
              <a:rPr sz="2000">
                <a:solidFill>
                  <a:srgbClr val="222B33"/>
                </a:solidFill>
                <a:latin typeface="Microsoft YaHei"/>
              </a:rPr>
              <a:t>▪ 二级：自闭门、洗手池、洗眼装置、灭菌器</a:t>
            </a:r>
          </a:p>
          <a:p>
            <a:pPr>
              <a:spcAft>
                <a:spcPts val="1000"/>
              </a:spcAft>
            </a:pPr>
            <a:r>
              <a:rPr sz="2000">
                <a:solidFill>
                  <a:srgbClr val="222B33"/>
                </a:solidFill>
                <a:latin typeface="Microsoft YaHei"/>
              </a:rPr>
              <a:t>▪ 三级：房间负压，排风经高效过滤</a:t>
            </a:r>
          </a:p>
          <a:p>
            <a:pPr>
              <a:spcAft>
                <a:spcPts val="1000"/>
              </a:spcAft>
            </a:pPr>
            <a:r>
              <a:rPr sz="2000">
                <a:solidFill>
                  <a:srgbClr val="222B33"/>
                </a:solidFill>
                <a:latin typeface="Microsoft YaHei"/>
              </a:rPr>
              <a:t>▪ 四级：完全隔离，进风排风都要过滤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设施随级别递进：一级是普通的开放实验室，设洗手池（宜靠近出口）；二级在此基础上，门能自动关闭并有进入控制，设洗手池和洗眼装置，实验室内或所在建筑内有高压蒸汽灭菌器或其他适当的消毒灭菌设备；三级与其他区域隔离，房……</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不知道本实验室的洗眼装置和灭菌器在哪里</a:t>
            </a:r>
          </a:p>
          <a:p>
            <a:pPr>
              <a:spcAft>
                <a:spcPts val="1000"/>
              </a:spcAft>
            </a:pPr>
            <a:r>
              <a:rPr sz="1500">
                <a:solidFill>
                  <a:srgbClr val="222B33"/>
                </a:solidFill>
                <a:latin typeface="Microsoft YaHei"/>
              </a:rPr>
              <a:t>▪ 用东西顶住二级实验室的自闭门</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二级实验室的布局与两道屏障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入口附近有灭菌器，门上有生物危害标志</a:t>
            </a:r>
          </a:p>
          <a:p>
            <a:pPr>
              <a:spcAft>
                <a:spcPts val="1000"/>
              </a:spcAft>
            </a:pPr>
            <a:r>
              <a:rPr sz="1700">
                <a:solidFill>
                  <a:srgbClr val="222B33"/>
                </a:solidFill>
                <a:latin typeface="Microsoft YaHei"/>
              </a:rPr>
              <a:t>▪ 门可装门禁，防止无关人员进入</a:t>
            </a:r>
          </a:p>
          <a:p>
            <a:pPr>
              <a:spcAft>
                <a:spcPts val="1000"/>
              </a:spcAft>
            </a:pPr>
            <a:r>
              <a:rPr sz="1700">
                <a:solidFill>
                  <a:srgbClr val="222B33"/>
                </a:solidFill>
                <a:latin typeface="Microsoft YaHei"/>
              </a:rPr>
              <a:t>▪ 安全柜放最里面，气流从门口流向柜子</a:t>
            </a:r>
          </a:p>
          <a:p>
            <a:pPr>
              <a:spcAft>
                <a:spcPts val="1000"/>
              </a:spcAft>
            </a:pPr>
            <a:r>
              <a:rPr sz="1700">
                <a:solidFill>
                  <a:srgbClr val="222B33"/>
                </a:solidFill>
                <a:latin typeface="Microsoft YaHei"/>
              </a:rPr>
              <a:t>▪ 柜子按设计接好排风，不能随意改动</a:t>
            </a:r>
          </a:p>
          <a:p>
            <a:pPr>
              <a:spcAft>
                <a:spcPts val="1000"/>
              </a:spcAft>
            </a:pPr>
            <a:r>
              <a:rPr sz="1700">
                <a:solidFill>
                  <a:srgbClr val="222B33"/>
                </a:solidFill>
                <a:latin typeface="Microsoft YaHei"/>
              </a:rPr>
              <a:t>▪ 第一道：柜和防护；第二道：设施和管理</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二级实验室常见的布局：入口附近放高压灭菌器，废物就近集中灭菌，废物按类别分桶收集；门上挂生物危害标志，可加装门禁（密码、刷卡等），防止无关人员进入；按需要配备洗眼装置和应急喷淋。生物安全柜（以及化学通风柜）放在远离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把生物安全柜放在门口或人来人往的通道旁</a:t>
            </a:r>
          </a:p>
          <a:p>
            <a:pPr>
              <a:spcAft>
                <a:spcPts val="1000"/>
              </a:spcAft>
            </a:pPr>
            <a:r>
              <a:rPr sz="1500">
                <a:solidFill>
                  <a:srgbClr val="222B33"/>
                </a:solidFill>
                <a:latin typeface="Microsoft YaHei"/>
              </a:rPr>
              <a:t>▪ 自行改动安全柜的排风连接</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良好微生物操作是基本功</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良好微生物操作是各级安全的基本功</a:t>
            </a:r>
          </a:p>
          <a:p>
            <a:pPr>
              <a:spcAft>
                <a:spcPts val="1000"/>
              </a:spcAft>
            </a:pPr>
            <a:r>
              <a:rPr sz="1700">
                <a:solidFill>
                  <a:srgbClr val="222B33"/>
                </a:solidFill>
                <a:latin typeface="Microsoft YaHei"/>
              </a:rPr>
              <a:t>▪ 先定行为规范，把基本操作一条条写清</a:t>
            </a:r>
          </a:p>
          <a:p>
            <a:pPr>
              <a:spcAft>
                <a:spcPts val="1000"/>
              </a:spcAft>
            </a:pPr>
            <a:r>
              <a:rPr sz="1700">
                <a:solidFill>
                  <a:srgbClr val="222B33"/>
                </a:solidFill>
                <a:latin typeface="Microsoft YaHei"/>
              </a:rPr>
              <a:t>▪ 无菌操作、灭菌、去污，样样到位</a:t>
            </a:r>
          </a:p>
          <a:p>
            <a:pPr>
              <a:spcAft>
                <a:spcPts val="1000"/>
              </a:spcAft>
            </a:pPr>
            <a:r>
              <a:rPr sz="1700">
                <a:solidFill>
                  <a:srgbClr val="222B33"/>
                </a:solidFill>
                <a:latin typeface="Microsoft YaHei"/>
              </a:rPr>
              <a:t>▪ 消毒剂要用对，作用时间要等够</a:t>
            </a:r>
          </a:p>
          <a:p>
            <a:pPr>
              <a:spcAft>
                <a:spcPts val="1000"/>
              </a:spcAft>
            </a:pPr>
            <a:r>
              <a:rPr sz="1700">
                <a:solidFill>
                  <a:srgbClr val="222B33"/>
                </a:solidFill>
                <a:latin typeface="Microsoft YaHei"/>
              </a:rPr>
              <a:t>▪ 要有应急预案：破损、发病、溢洒、火</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良好微生物操作技术是所有级别实验室安全的基础，设施和设备再好，也替代不了规范的操作。建立实验室，第一步是制定行为规范：由实验室管理层会同使用人员一起，把最基本的操作要求一条条写清楚，形成本实验室的操作规程；生物安全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消毒剂喷上马上擦掉，不等作用时间</a:t>
            </a:r>
          </a:p>
          <a:p>
            <a:pPr>
              <a:spcAft>
                <a:spcPts val="1000"/>
              </a:spcAft>
            </a:pPr>
            <a:r>
              <a:rPr sz="1500">
                <a:solidFill>
                  <a:srgbClr val="222B33"/>
                </a:solidFill>
                <a:latin typeface="Microsoft YaHei"/>
              </a:rPr>
              <a:t>▪ 认为有了安全柜，操作可以随意</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一级、二级实验室的日常规范</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不饮食、不化妆，不用手摸脸和手机</a:t>
            </a:r>
          </a:p>
          <a:p>
            <a:pPr>
              <a:spcAft>
                <a:spcPts val="1000"/>
              </a:spcAft>
            </a:pPr>
            <a:r>
              <a:rPr sz="1700">
                <a:solidFill>
                  <a:srgbClr val="222B33"/>
                </a:solidFill>
                <a:latin typeface="Microsoft YaHei"/>
              </a:rPr>
              <a:t>▪ 严禁口吸移液，用移液器</a:t>
            </a:r>
          </a:p>
          <a:p>
            <a:pPr>
              <a:spcAft>
                <a:spcPts val="1000"/>
              </a:spcAft>
            </a:pPr>
            <a:r>
              <a:rPr sz="1700">
                <a:solidFill>
                  <a:srgbClr val="222B33"/>
                </a:solidFill>
                <a:latin typeface="Microsoft YaHei"/>
              </a:rPr>
              <a:t>▪ 动作轻缓，减少溅洒和气溶胶</a:t>
            </a:r>
          </a:p>
          <a:p>
            <a:pPr>
              <a:spcAft>
                <a:spcPts val="1000"/>
              </a:spcAft>
            </a:pPr>
            <a:r>
              <a:rPr sz="1700">
                <a:solidFill>
                  <a:srgbClr val="222B33"/>
                </a:solidFill>
                <a:latin typeface="Microsoft YaHei"/>
              </a:rPr>
              <a:t>▪ 实验前后台面消毒，废物灭菌，实验菌不外带</a:t>
            </a:r>
          </a:p>
          <a:p>
            <a:pPr>
              <a:spcAft>
                <a:spcPts val="1000"/>
              </a:spcAft>
            </a:pPr>
            <a:r>
              <a:rPr sz="1700">
                <a:solidFill>
                  <a:srgbClr val="222B33"/>
                </a:solidFill>
                <a:latin typeface="Microsoft YaHei"/>
              </a:rPr>
              <a:t>▪ 做完实验摘手套、洗手再离开</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一级、二级实验室是学生最常进入的生物实验室，日常规范人人要守：穿好实验服，按要求戴手套和护目镜，按无菌技术操作，既防样品污染，也防人员感染。实验室内不吃喝、不存放食物、不化妆，戴手套时不摸脸、手机和门把手。严禁用嘴吸……</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戴着手套接电话、开门</a:t>
            </a:r>
          </a:p>
          <a:p>
            <a:pPr>
              <a:spcAft>
                <a:spcPts val="1000"/>
              </a:spcAft>
            </a:pPr>
            <a:r>
              <a:rPr sz="1500">
                <a:solidFill>
                  <a:srgbClr val="222B33"/>
                </a:solidFill>
                <a:latin typeface="Microsoft YaHei"/>
              </a:rPr>
              <a:t>▪ 把实验菌带回宿舍或倒进下水道</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涂片和环境分离菌也要防</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涂片和湿片可能有活菌，按级别防护观察</a:t>
            </a:r>
          </a:p>
          <a:p>
            <a:pPr>
              <a:spcAft>
                <a:spcPts val="1000"/>
              </a:spcAft>
            </a:pPr>
            <a:r>
              <a:rPr sz="1700">
                <a:solidFill>
                  <a:srgbClr val="222B33"/>
                </a:solidFill>
                <a:latin typeface="Microsoft YaHei"/>
              </a:rPr>
              <a:t>▪ 用过的玻片消毒或放进锐器盒</a:t>
            </a:r>
          </a:p>
          <a:p>
            <a:pPr>
              <a:spcAft>
                <a:spcPts val="1000"/>
              </a:spcAft>
            </a:pPr>
            <a:r>
              <a:rPr sz="1700">
                <a:solidFill>
                  <a:srgbClr val="222B33"/>
                </a:solidFill>
                <a:latin typeface="Microsoft YaHei"/>
              </a:rPr>
              <a:t>▪ 土壤、水中分出的菌，鉴定前先当未知菌</a:t>
            </a:r>
          </a:p>
          <a:p>
            <a:pPr>
              <a:spcAft>
                <a:spcPts val="1000"/>
              </a:spcAft>
            </a:pPr>
            <a:r>
              <a:rPr sz="1700">
                <a:solidFill>
                  <a:srgbClr val="222B33"/>
                </a:solidFill>
                <a:latin typeface="Microsoft YaHei"/>
              </a:rPr>
              <a:t>▪ 先评估，一般在二级安全柜里操作</a:t>
            </a:r>
          </a:p>
          <a:p>
            <a:pPr>
              <a:spcAft>
                <a:spcPts val="1000"/>
              </a:spcAft>
            </a:pPr>
            <a:r>
              <a:rPr sz="1700">
                <a:solidFill>
                  <a:srgbClr val="222B33"/>
                </a:solidFill>
                <a:latin typeface="Microsoft YaHei"/>
              </a:rPr>
              <a:t>▪ 分离株标清来源，鉴定前不降级</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微生物涂片和湿片可能含有活菌，观察时按相应级别穿戴防护；用过的玻片放进消毒缸消毒，或放进锐器盒；显微镜载物台被污染时及时消毒。</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认为涂片“已经固定了”，徒手拿取或随手丢弃</a:t>
            </a:r>
          </a:p>
          <a:p>
            <a:pPr>
              <a:spcAft>
                <a:spcPts val="1000"/>
              </a:spcAft>
            </a:pPr>
            <a:r>
              <a:rPr sz="1500">
                <a:solidFill>
                  <a:srgbClr val="222B33"/>
                </a:solidFill>
                <a:latin typeface="Microsoft YaHei"/>
              </a:rPr>
              <a:t>▪ 环境分离菌没鉴定就在开放台面上大量操作</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一级、二级的培训：基本功与规程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培训分级：学什么、谁来学、怎么练</a:t>
            </a:r>
          </a:p>
          <a:p>
            <a:pPr>
              <a:spcAft>
                <a:spcPts val="1000"/>
              </a:spcAft>
            </a:pPr>
            <a:r>
              <a:rPr sz="1700">
                <a:solidFill>
                  <a:srgbClr val="222B33"/>
                </a:solidFill>
                <a:latin typeface="Microsoft YaHei"/>
              </a:rPr>
              <a:t>▪ 一级：学生和初学者，学基本功和手卫生</a:t>
            </a:r>
          </a:p>
          <a:p>
            <a:pPr>
              <a:spcAft>
                <a:spcPts val="1000"/>
              </a:spcAft>
            </a:pPr>
            <a:r>
              <a:rPr sz="1700">
                <a:solidFill>
                  <a:srgbClr val="222B33"/>
                </a:solidFill>
                <a:latin typeface="Microsoft YaHei"/>
              </a:rPr>
              <a:t>▪ 一级练穿戴防护、处理溅洒、认生物危害</a:t>
            </a:r>
          </a:p>
          <a:p>
            <a:pPr>
              <a:spcAft>
                <a:spcPts val="1000"/>
              </a:spcAft>
            </a:pPr>
            <a:r>
              <a:rPr sz="1700">
                <a:solidFill>
                  <a:srgbClr val="222B33"/>
                </a:solidFill>
                <a:latin typeface="Microsoft YaHei"/>
              </a:rPr>
              <a:t>▪ 二级：学规程、防锐器伤、用安全柜、报告</a:t>
            </a:r>
          </a:p>
          <a:p>
            <a:pPr>
              <a:spcAft>
                <a:spcPts val="1000"/>
              </a:spcAft>
            </a:pPr>
            <a:r>
              <a:rPr sz="1700">
                <a:solidFill>
                  <a:srgbClr val="222B33"/>
                </a:solidFill>
                <a:latin typeface="Microsoft YaHei"/>
              </a:rPr>
              <a:t>▪ 二级练样本防护、柜子去污、暴露演练</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每一级的培训都看三件事：学什么重点、谁来学、怎么练。一级的对象是学生、实习人员和初学者，重点是实验室一般安全、基础微生物操作、手卫生和台面消毒；练习穿戴防护用品、处理化学品和生物材料的小量溅洒，以及识别生物危害标志。</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认为只有老师和技术员要培训，学生跟着做就行</a:t>
            </a:r>
          </a:p>
          <a:p>
            <a:pPr>
              <a:spcAft>
                <a:spcPts val="1000"/>
              </a:spcAft>
            </a:pPr>
            <a:r>
              <a:rPr sz="1500">
                <a:solidFill>
                  <a:srgbClr val="222B33"/>
                </a:solidFill>
                <a:latin typeface="Microsoft YaHei"/>
              </a:rPr>
              <a:t>▪ 只学一级的内容就进入二级实验室</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三级、四级的培训：专人长期强化</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三级：学空气传播防护、进出和应急程序</a:t>
            </a:r>
          </a:p>
          <a:p>
            <a:pPr>
              <a:spcAft>
                <a:spcPts val="1000"/>
              </a:spcAft>
            </a:pPr>
            <a:r>
              <a:rPr sz="1700">
                <a:solidFill>
                  <a:srgbClr val="222B33"/>
                </a:solidFill>
                <a:latin typeface="Microsoft YaHei"/>
              </a:rPr>
              <a:t>▪ 三级做呼吸防护适合性检验，定期复训演练</a:t>
            </a:r>
          </a:p>
          <a:p>
            <a:pPr>
              <a:spcAft>
                <a:spcPts val="1000"/>
              </a:spcAft>
            </a:pPr>
            <a:r>
              <a:rPr sz="1700">
                <a:solidFill>
                  <a:srgbClr val="222B33"/>
                </a:solidFill>
                <a:latin typeface="Microsoft YaHei"/>
              </a:rPr>
              <a:t>▪ 三级为有经验的专业人员，学生未批准不得进</a:t>
            </a:r>
          </a:p>
          <a:p>
            <a:pPr>
              <a:spcAft>
                <a:spcPts val="1000"/>
              </a:spcAft>
            </a:pPr>
            <a:r>
              <a:rPr sz="1700">
                <a:solidFill>
                  <a:srgbClr val="222B33"/>
                </a:solidFill>
                <a:latin typeface="Microsoft YaHei"/>
              </a:rPr>
              <a:t>▪ 四级：专门团队长期强化训练，两人同行</a:t>
            </a:r>
          </a:p>
          <a:p>
            <a:pPr>
              <a:spcAft>
                <a:spcPts val="1000"/>
              </a:spcAft>
            </a:pPr>
            <a:r>
              <a:rPr sz="1700">
                <a:solidFill>
                  <a:srgbClr val="222B33"/>
                </a:solidFill>
                <a:latin typeface="Microsoft YaHei"/>
              </a:rPr>
              <a:t>▪ 四级练全流程：进出、淋浴、通讯、撤离</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三级的对象是有经验的专业人员，重点是更深入的生物安全原则、可经空气传播病原的封闭控制、呼吸防护（要做适合性检验，见第 025 课）、进出程序和应急程序；练习包括定期复训、熟悉设施布局、呼吸防护装备的使用和维护，以及溢……</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认为看过录像就可以进三级实验室</a:t>
            </a:r>
          </a:p>
          <a:p>
            <a:pPr>
              <a:spcAft>
                <a:spcPts val="1000"/>
              </a:spcAft>
            </a:pPr>
            <a:r>
              <a:rPr sz="1500">
                <a:solidFill>
                  <a:srgbClr val="222B33"/>
                </a:solidFill>
                <a:latin typeface="Microsoft YaHei"/>
              </a:rPr>
              <a:t>▪ 认为呼吸防护随便戴上就有效，不做适合性检验</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人人必备的六类培训</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生物安全操作：规范操作、防护设施、废物灭活</a:t>
            </a:r>
          </a:p>
          <a:p>
            <a:pPr>
              <a:spcAft>
                <a:spcPts val="1000"/>
              </a:spcAft>
            </a:pPr>
            <a:r>
              <a:rPr sz="1700">
                <a:solidFill>
                  <a:srgbClr val="222B33"/>
                </a:solidFill>
                <a:latin typeface="Microsoft YaHei"/>
              </a:rPr>
              <a:t>▪ 生物安保意识：防止无关人员接触材料</a:t>
            </a:r>
          </a:p>
          <a:p>
            <a:pPr>
              <a:spcAft>
                <a:spcPts val="1000"/>
              </a:spcAft>
            </a:pPr>
            <a:r>
              <a:rPr sz="1700">
                <a:solidFill>
                  <a:srgbClr val="222B33"/>
                </a:solidFill>
                <a:latin typeface="Microsoft YaHei"/>
              </a:rPr>
              <a:t>▪ 防护装备：会选、会穿、会脱</a:t>
            </a:r>
          </a:p>
          <a:p>
            <a:pPr>
              <a:spcAft>
                <a:spcPts val="1000"/>
              </a:spcAft>
            </a:pPr>
            <a:r>
              <a:rPr sz="1700">
                <a:solidFill>
                  <a:srgbClr val="222B33"/>
                </a:solidFill>
                <a:latin typeface="Microsoft YaHei"/>
              </a:rPr>
              <a:t>▪ 应急程序与设备使用：溢洒、撤离、安全柜、灭菌器</a:t>
            </a:r>
          </a:p>
          <a:p>
            <a:pPr>
              <a:spcAft>
                <a:spcPts val="1000"/>
              </a:spcAft>
            </a:pPr>
            <a:r>
              <a:rPr sz="1700">
                <a:solidFill>
                  <a:srgbClr val="222B33"/>
                </a:solidFill>
                <a:latin typeface="Microsoft YaHei"/>
              </a:rPr>
              <a:t>▪ 事件报告：立即报负责人、学院、学校</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实验室人员的必备培训有六类：第一，生物安全操作——规范操作，在防护设施里做实验，学会废物的灭活和处置；第二，生物安保意识——防止未经授权的人员接触病原材料（见第 083 课）；第三，个人防护装备——按风险评估选对防护……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被扎伤后觉得“没事”，不报告</a:t>
            </a:r>
          </a:p>
          <a:p>
            <a:pPr>
              <a:spcAft>
                <a:spcPts val="1000"/>
              </a:spcAft>
            </a:pPr>
            <a:r>
              <a:rPr sz="1500">
                <a:solidFill>
                  <a:srgbClr val="222B33"/>
                </a:solidFill>
                <a:latin typeface="Microsoft YaHei"/>
              </a:rPr>
              <a:t>▪ 只学操作，不学应急和报告</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培训要记录、要动手、要带教</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培训留记录，本人签字，考核合格才准入</a:t>
            </a:r>
          </a:p>
          <a:p>
            <a:pPr>
              <a:spcAft>
                <a:spcPts val="1000"/>
              </a:spcAft>
            </a:pPr>
            <a:r>
              <a:rPr sz="2000">
                <a:solidFill>
                  <a:srgbClr val="222B33"/>
                </a:solidFill>
                <a:latin typeface="Microsoft YaHei"/>
              </a:rPr>
              <a:t>▪ 定期复训，周期按本校规定</a:t>
            </a:r>
          </a:p>
          <a:p>
            <a:pPr>
              <a:spcAft>
                <a:spcPts val="1000"/>
              </a:spcAft>
            </a:pPr>
            <a:r>
              <a:rPr sz="2000">
                <a:solidFill>
                  <a:srgbClr val="222B33"/>
                </a:solidFill>
                <a:latin typeface="Microsoft YaHei"/>
              </a:rPr>
              <a:t>▪ 二级及以上必须动手实练</a:t>
            </a:r>
          </a:p>
          <a:p>
            <a:pPr>
              <a:spcAft>
                <a:spcPts val="1000"/>
              </a:spcAft>
            </a:pPr>
            <a:r>
              <a:rPr sz="2000">
                <a:solidFill>
                  <a:srgbClr val="222B33"/>
                </a:solidFill>
                <a:latin typeface="Microsoft YaHei"/>
              </a:rPr>
              <a:t>▪ 三四级先带教跟岗，能胜任才完全准入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每一级的培训都要留下记录，本人签字，考核合格才能准入；还要定期复训，复训周期按本校规定，操作内容、设备或规程变化时及时补训。</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培训签到由别人代签</a:t>
            </a:r>
          </a:p>
          <a:p>
            <a:pPr>
              <a:spcAft>
                <a:spcPts val="1000"/>
              </a:spcAft>
            </a:pPr>
            <a:r>
              <a:rPr sz="1500">
                <a:solidFill>
                  <a:srgbClr val="222B33"/>
                </a:solidFill>
                <a:latin typeface="Microsoft YaHei"/>
              </a:rPr>
              <a:t>▪ 培训过一次就再也不复训</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装备缺了坏了，不开工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装备缺了、坏了，先停下相关操作，不凑合</a:t>
            </a:r>
          </a:p>
          <a:p>
            <a:pPr>
              <a:spcAft>
                <a:spcPts val="1000"/>
              </a:spcAft>
            </a:pPr>
            <a:r>
              <a:rPr sz="2000">
                <a:solidFill>
                  <a:srgbClr val="222B33"/>
                </a:solidFill>
                <a:latin typeface="Microsoft YaHei"/>
              </a:rPr>
              <a:t>▪ 报告负责人，申领或报修</a:t>
            </a:r>
          </a:p>
          <a:p>
            <a:pPr>
              <a:spcAft>
                <a:spcPts val="1000"/>
              </a:spcAft>
            </a:pPr>
            <a:r>
              <a:rPr sz="2000">
                <a:solidFill>
                  <a:srgbClr val="222B33"/>
                </a:solidFill>
                <a:latin typeface="Microsoft YaHei"/>
              </a:rPr>
              <a:t>▪ 确认恢复正常，再开工</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防护装备或安全设备缺失、损坏（如手套破损、护目镜缺少、安全柜报警或气流异常），先停下相关操作，不凑合、不将就；按规定处理已在进行的操作和材料，报告实验室负责人，申领防护用品或报修设备。</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手套破了继续做完再说</a:t>
            </a:r>
          </a:p>
          <a:p>
            <a:pPr>
              <a:spcAft>
                <a:spcPts val="1000"/>
              </a:spcAft>
            </a:pPr>
            <a:r>
              <a:rPr sz="1500">
                <a:solidFill>
                  <a:srgbClr val="222B33"/>
                </a:solidFill>
                <a:latin typeface="Microsoft YaHei"/>
              </a:rPr>
              <a:t>▪ 安全柜报警时关掉报警继续操作</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关于二级实验室的个人防护，正确的是：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只穿实验服即可</a:t>
            </a:r>
          </a:p>
          <a:p>
            <a:pPr algn="l"/>
            <a:r>
              <a:rPr sz="1500" b="0">
                <a:solidFill>
                  <a:srgbClr val="222B33"/>
                </a:solidFill>
                <a:latin typeface="Microsoft YaHei"/>
              </a:rPr>
              <a:t>B. 实验服、手套，加护目镜或面屏，必须穿闭趾鞋</a:t>
            </a:r>
          </a:p>
          <a:p>
            <a:pPr algn="l"/>
            <a:r>
              <a:rPr sz="1500" b="0">
                <a:solidFill>
                  <a:srgbClr val="222B33"/>
                </a:solidFill>
                <a:latin typeface="Microsoft YaHei"/>
              </a:rPr>
              <a:t>C. 必须穿正压防护服</a:t>
            </a:r>
          </a:p>
          <a:p>
            <a:pPr algn="l"/>
            <a:r>
              <a:rPr sz="1500" b="0">
                <a:solidFill>
                  <a:srgbClr val="222B33"/>
                </a:solidFill>
                <a:latin typeface="Microsoft YaHei"/>
              </a:rPr>
              <a:t>D. 有安全柜就不用戴手套</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判断：二级实验室里，吸液、混匀等可能产生气溶胶的操作应在生物安全柜内进行。</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下列做法符合一级、二级实验室日常规范的是：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戴手套接电话</a:t>
            </a:r>
          </a:p>
          <a:p>
            <a:pPr algn="l"/>
            <a:r>
              <a:rPr sz="1500" b="0">
                <a:solidFill>
                  <a:srgbClr val="222B33"/>
                </a:solidFill>
                <a:latin typeface="Microsoft YaHei"/>
              </a:rPr>
              <a:t>B. 用嘴吸移液管</a:t>
            </a:r>
          </a:p>
          <a:p>
            <a:pPr algn="l"/>
            <a:r>
              <a:rPr sz="1500" b="0">
                <a:solidFill>
                  <a:srgbClr val="222B33"/>
                </a:solidFill>
                <a:latin typeface="Microsoft YaHei"/>
              </a:rPr>
              <a:t>C. 实验前后台面消毒，做完实验摘手套、洗手再离开</a:t>
            </a:r>
          </a:p>
          <a:p>
            <a:pPr algn="l"/>
            <a:r>
              <a:rPr sz="1500" b="0">
                <a:solidFill>
                  <a:srgbClr val="222B33"/>
                </a:solidFill>
                <a:latin typeface="Microsoft YaHei"/>
              </a:rPr>
              <a:t>D. 把实验菌带回宿舍继续观察</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判断：从土壤中分离出的菌，鉴定前可以按无害菌在开放台面上操作。</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阿杰发现安全柜报警、手套也破了，应该：</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关掉报警继续做</a:t>
            </a:r>
          </a:p>
          <a:p>
            <a:pPr algn="l"/>
            <a:r>
              <a:rPr sz="1500" b="0">
                <a:solidFill>
                  <a:srgbClr val="222B33"/>
                </a:solidFill>
                <a:latin typeface="Microsoft YaHei"/>
              </a:rPr>
              <a:t>B. 先做完再换手套</a:t>
            </a:r>
          </a:p>
          <a:p>
            <a:pPr algn="l"/>
            <a:r>
              <a:rPr sz="1500" b="0">
                <a:solidFill>
                  <a:srgbClr val="222B33"/>
                </a:solidFill>
                <a:latin typeface="Microsoft YaHei"/>
              </a:rPr>
              <a:t>C. 停下相关操作，报告负责人，修复确认后再开工</a:t>
            </a:r>
          </a:p>
          <a:p>
            <a:pPr algn="l"/>
            <a:r>
              <a:rPr sz="1500" b="0">
                <a:solidFill>
                  <a:srgbClr val="222B33"/>
                </a:solidFill>
                <a:latin typeface="Microsoft YaHei"/>
              </a:rPr>
              <a:t>D. 自己拆开安全柜检查</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简答：实验室人员必备的六类培训是什么？发生针刺暴露后向谁报告？</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防护要求是一整套：缺一项就不达标</a:t>
            </a:r>
          </a:p>
          <a:p>
            <a:pPr>
              <a:spcAft>
                <a:spcPts val="800"/>
              </a:spcAft>
            </a:pPr>
            <a:r>
              <a:rPr sz="1500">
                <a:solidFill>
                  <a:srgbClr val="FFFFFF"/>
                </a:solidFill>
                <a:latin typeface="Microsoft YaHei"/>
              </a:rPr>
              <a:t>▪ K2  谁能进门：准入逐级收紧</a:t>
            </a:r>
          </a:p>
          <a:p>
            <a:pPr>
              <a:spcAft>
                <a:spcPts val="800"/>
              </a:spcAft>
            </a:pPr>
            <a:r>
              <a:rPr sz="1500">
                <a:solidFill>
                  <a:srgbClr val="FFFFFF"/>
                </a:solidFill>
                <a:latin typeface="Microsoft YaHei"/>
              </a:rPr>
              <a:t>▪ K3  个人防护逐级加码</a:t>
            </a:r>
          </a:p>
          <a:p>
            <a:pPr>
              <a:spcAft>
                <a:spcPts val="800"/>
              </a:spcAft>
            </a:pPr>
            <a:r>
              <a:rPr sz="1500">
                <a:solidFill>
                  <a:srgbClr val="FFFFFF"/>
                </a:solidFill>
                <a:latin typeface="Microsoft YaHei"/>
              </a:rPr>
              <a:t>▪ K4  安全设备与气溶胶控制逐级加严</a:t>
            </a:r>
          </a:p>
          <a:p>
            <a:pPr>
              <a:spcAft>
                <a:spcPts val="800"/>
              </a:spcAft>
            </a:pPr>
            <a:r>
              <a:rPr sz="1500">
                <a:solidFill>
                  <a:srgbClr val="FFFFFF"/>
                </a:solidFill>
                <a:latin typeface="Microsoft YaHei"/>
              </a:rPr>
              <a:t>▪ K5  实验室设施逐级递进</a:t>
            </a:r>
          </a:p>
          <a:p>
            <a:pPr>
              <a:spcAft>
                <a:spcPts val="800"/>
              </a:spcAft>
            </a:pPr>
            <a:r>
              <a:rPr sz="1500">
                <a:solidFill>
                  <a:srgbClr val="FFFFFF"/>
                </a:solidFill>
                <a:latin typeface="Microsoft YaHei"/>
              </a:rPr>
              <a:t>▪ K6  二级实验室的布局与两道屏障</a:t>
            </a:r>
          </a:p>
          <a:p>
            <a:pPr>
              <a:spcAft>
                <a:spcPts val="800"/>
              </a:spcAft>
            </a:pPr>
            <a:r>
              <a:rPr sz="1500">
                <a:solidFill>
                  <a:srgbClr val="FFFFFF"/>
                </a:solidFill>
                <a:latin typeface="Microsoft YaHei"/>
              </a:rPr>
              <a:t>▪ K7  良好微生物操作是基本功</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K8  一级、二级实验室的日常规范</a:t>
            </a:r>
          </a:p>
          <a:p>
            <a:pPr>
              <a:spcAft>
                <a:spcPts val="800"/>
              </a:spcAft>
            </a:pPr>
            <a:r>
              <a:rPr sz="1500">
                <a:solidFill>
                  <a:srgbClr val="FFFFFF"/>
                </a:solidFill>
                <a:latin typeface="Microsoft YaHei"/>
              </a:rPr>
              <a:t>▪ K9  涂片和环境分离菌也要防</a:t>
            </a:r>
          </a:p>
          <a:p>
            <a:pPr>
              <a:spcAft>
                <a:spcPts val="800"/>
              </a:spcAft>
            </a:pPr>
            <a:r>
              <a:rPr sz="1500">
                <a:solidFill>
                  <a:srgbClr val="FFFFFF"/>
                </a:solidFill>
                <a:latin typeface="Microsoft YaHei"/>
              </a:rPr>
              <a:t>▪ K10  一级、二级的培训：基本功与规程</a:t>
            </a:r>
          </a:p>
          <a:p>
            <a:pPr>
              <a:spcAft>
                <a:spcPts val="800"/>
              </a:spcAft>
            </a:pPr>
            <a:r>
              <a:rPr sz="1500">
                <a:solidFill>
                  <a:srgbClr val="FFFFFF"/>
                </a:solidFill>
                <a:latin typeface="Microsoft YaHei"/>
              </a:rPr>
              <a:t>▪ K11  三级、四级的培训：专人长期强化</a:t>
            </a:r>
          </a:p>
          <a:p>
            <a:pPr>
              <a:spcAft>
                <a:spcPts val="800"/>
              </a:spcAft>
            </a:pPr>
            <a:r>
              <a:rPr sz="1500">
                <a:solidFill>
                  <a:srgbClr val="FFFFFF"/>
                </a:solidFill>
                <a:latin typeface="Microsoft YaHei"/>
              </a:rPr>
              <a:t>▪ K12  人人必备的六类培训</a:t>
            </a:r>
          </a:p>
          <a:p>
            <a:pPr>
              <a:spcAft>
                <a:spcPts val="800"/>
              </a:spcAft>
            </a:pPr>
            <a:r>
              <a:rPr sz="1500">
                <a:solidFill>
                  <a:srgbClr val="FFFFFF"/>
                </a:solidFill>
                <a:latin typeface="Microsoft YaHei"/>
              </a:rPr>
              <a:t>▪ K13  培训要记录、要动手、要带教</a:t>
            </a:r>
          </a:p>
          <a:p>
            <a:pPr>
              <a:spcAft>
                <a:spcPts val="800"/>
              </a:spcAft>
            </a:pPr>
            <a:r>
              <a:rPr sz="1500">
                <a:solidFill>
                  <a:srgbClr val="FFFFFF"/>
                </a:solidFill>
                <a:latin typeface="Microsoft YaHei"/>
              </a:rPr>
              <a:t>▪ K14  装备缺了坏了，不开工</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062</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生物封闭原理：屏障与定向气流</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6.5 分钟（卡通视频 78 镜）　适用对象：进入生命科学、医学、农学、环境等涉及生物材料实验室的高校本科生、研究生和教职工（必修）；实验室负责人、生物安全员和设施管理人员重点学习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能说出一级防护（安全设备与个人防护，保护人员）和二级防护（设施与规程，保护环境）的含义和组成，知道两道屏障要一起用。</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能说出定向气流、负压与压力梯度、气锁（缓冲间）、持续换气和高效过滤的作用，以及屏障的局限和剩余风险。</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能做到进门前看压差表和飘带，进出随手关门、缓冲间两道门不同时开，不遮挡排风口和柜前格栅。</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能判断气流方向异常（飘带外飘、压差报警、停电）时的处置：停止工作、关门挂牌、报告负责人和设施人员、修复验证后再恢复。</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《中华人民共和国生物安全法》（以现行文本为准）：病原微生物实验室应当符合生物安全国家标准和要求</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《病原微生物实验室生物安全管理条例》（以现行文本为准）：实验室设施设备符合国家标准，三级、四级实验室须通过国家认可</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生物安全通用要求》：一级屏障与二级屏障、定向气流和压力梯度、缓冲间、排风高效过滤及其检测</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50346（以现行文本为准）《生物安全实验室建筑技术规范》：生物安全实验室的建筑、通风空调和过滤等工程技术要求</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233（以现行文本为准）《病原微生物实验室生物安全通用准则》：各级病原微生物实验室的设施和设备要求</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号，以现行文本为准）：设施设备运行和隐患报告</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本校设施说明与应急预案：压差、气流方向和报警的具体要求以本校设施说明为准</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什么是封闭：把病原关在受控空间</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封闭：把病原关在受控空间，挡住外泄</a:t>
            </a:r>
          </a:p>
          <a:p>
            <a:pPr>
              <a:spcAft>
                <a:spcPts val="1000"/>
              </a:spcAft>
            </a:pPr>
            <a:r>
              <a:rPr sz="1700">
                <a:solidFill>
                  <a:srgbClr val="222B33"/>
                </a:solidFill>
                <a:latin typeface="Microsoft YaHei"/>
              </a:rPr>
              <a:t>▪ 一旦外泄，伤到人员，也伤到公众</a:t>
            </a:r>
          </a:p>
          <a:p>
            <a:pPr>
              <a:spcAft>
                <a:spcPts val="1000"/>
              </a:spcAft>
            </a:pPr>
            <a:r>
              <a:rPr sz="1700">
                <a:solidFill>
                  <a:srgbClr val="222B33"/>
                </a:solidFill>
                <a:latin typeface="Microsoft YaHei"/>
              </a:rPr>
              <a:t>▪ 高级别实验室本身就是一个防护区</a:t>
            </a:r>
          </a:p>
          <a:p>
            <a:pPr>
              <a:spcAft>
                <a:spcPts val="1000"/>
              </a:spcAft>
            </a:pPr>
            <a:r>
              <a:rPr sz="1700">
                <a:solidFill>
                  <a:srgbClr val="222B33"/>
                </a:solidFill>
                <a:latin typeface="Microsoft YaHei"/>
              </a:rPr>
              <a:t>▪ 未经批准和培训，学生不能进</a:t>
            </a:r>
          </a:p>
          <a:p>
            <a:pPr>
              <a:spcAft>
                <a:spcPts val="1000"/>
              </a:spcAft>
            </a:pPr>
            <a:r>
              <a:rPr sz="1700">
                <a:solidFill>
                  <a:srgbClr val="222B33"/>
                </a:solidFill>
                <a:latin typeface="Microsoft YaHei"/>
              </a:rPr>
              <a:t>▪ 设施再好，也要人按规程用</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封闭（防护）是生物安全的核心思路：把病原微生物关在受控的空间里，用设备、设施和管理等各种控制措施，挡住它外泄。病原一旦外泄，既会伤到实验室人员，也会危害公众和环境。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认为实验室“有负压”就万无一失，操作可以随意</a:t>
            </a:r>
          </a:p>
          <a:p>
            <a:pPr>
              <a:spcAft>
                <a:spcPts val="1000"/>
              </a:spcAft>
            </a:pPr>
            <a:r>
              <a:rPr sz="1500">
                <a:solidFill>
                  <a:srgbClr val="222B33"/>
                </a:solidFill>
                <a:latin typeface="Microsoft YaHei"/>
              </a:rPr>
              <a:t>▪ 未经批准跟随他人进入防护区</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一级防护：护住做实验的人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一级防护（一级屏障）保护操作人员</a:t>
            </a:r>
          </a:p>
          <a:p>
            <a:pPr>
              <a:spcAft>
                <a:spcPts val="1000"/>
              </a:spcAft>
            </a:pPr>
            <a:r>
              <a:rPr sz="2000">
                <a:solidFill>
                  <a:srgbClr val="222B33"/>
                </a:solidFill>
                <a:latin typeface="Microsoft YaHei"/>
              </a:rPr>
              <a:t>▪ 靠安全柜和个人防护装备</a:t>
            </a:r>
          </a:p>
          <a:p>
            <a:pPr>
              <a:spcAft>
                <a:spcPts val="1000"/>
              </a:spcAft>
            </a:pPr>
            <a:r>
              <a:rPr sz="2000">
                <a:solidFill>
                  <a:srgbClr val="222B33"/>
                </a:solidFill>
                <a:latin typeface="Microsoft YaHei"/>
              </a:rPr>
              <a:t>▪ 也靠规范操作和穿脱防护的规程</a:t>
            </a:r>
          </a:p>
          <a:p>
            <a:pPr>
              <a:spcAft>
                <a:spcPts val="1000"/>
              </a:spcAft>
            </a:pPr>
            <a:r>
              <a:rPr sz="2000">
                <a:solidFill>
                  <a:srgbClr val="222B33"/>
                </a:solidFill>
                <a:latin typeface="Microsoft YaHei"/>
              </a:rPr>
              <a:t>▪ 生物安全柜是一级防护的主力</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防护分两道。一级防护（一级屏障）的作用是护住做实验的人，把操作者与病原隔开。它由安全设备和个人防护装备组成：生物安全柜、密封离心杯等安全设备，以及实验服、手套、口罩或呼吸器、护目镜等个人防护装备，再加上规范操作和穿脱……</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认为一级防护只是“穿防护服”，忽视安全柜和操作规程</a:t>
            </a:r>
          </a:p>
          <a:p>
            <a:pPr>
              <a:spcAft>
                <a:spcPts val="1000"/>
              </a:spcAft>
            </a:pPr>
            <a:r>
              <a:rPr sz="1500">
                <a:solidFill>
                  <a:srgbClr val="222B33"/>
                </a:solidFill>
                <a:latin typeface="Microsoft YaHei"/>
              </a:rPr>
              <a:t>▪ 在安全柜外开放操作可能产生气溶胶的材料</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二级防护：护住外面的环境</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二级防护（二级屏障）保护外面的环境</a:t>
            </a:r>
          </a:p>
          <a:p>
            <a:pPr>
              <a:spcAft>
                <a:spcPts val="1000"/>
              </a:spcAft>
            </a:pPr>
            <a:r>
              <a:rPr sz="1700">
                <a:solidFill>
                  <a:srgbClr val="222B33"/>
                </a:solidFill>
                <a:latin typeface="Microsoft YaHei"/>
              </a:rPr>
              <a:t>▪ 靠工程控制：墙、门、通风、过滤</a:t>
            </a:r>
          </a:p>
          <a:p>
            <a:pPr>
              <a:spcAft>
                <a:spcPts val="1000"/>
              </a:spcAft>
            </a:pPr>
            <a:r>
              <a:rPr sz="1700">
                <a:solidFill>
                  <a:srgbClr val="222B33"/>
                </a:solidFill>
                <a:latin typeface="Microsoft YaHei"/>
              </a:rPr>
              <a:t>▪ 也靠废水去污、维护、运输和废物规程</a:t>
            </a:r>
          </a:p>
          <a:p>
            <a:pPr>
              <a:spcAft>
                <a:spcPts val="1000"/>
              </a:spcAft>
            </a:pPr>
            <a:r>
              <a:rPr sz="1700">
                <a:solidFill>
                  <a:srgbClr val="222B33"/>
                </a:solidFill>
                <a:latin typeface="Microsoft YaHei"/>
              </a:rPr>
              <a:t>▪ 植物设施靠结构挡住花粉和病原</a:t>
            </a:r>
          </a:p>
          <a:p>
            <a:pPr>
              <a:spcAft>
                <a:spcPts val="1000"/>
              </a:spcAft>
            </a:pPr>
            <a:r>
              <a:rPr sz="1700">
                <a:solidFill>
                  <a:srgbClr val="222B33"/>
                </a:solidFill>
                <a:latin typeface="Microsoft YaHei"/>
              </a:rPr>
              <a:t>▪ 工程控制建设维护成本较高</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二级防护（二级屏障）的作用是护住实验室外面的环境和公众，防止病原从实验室扩散出去。它主要靠实验室设施的工程控制：墙体、门、通风系统、高效过滤器和物理屏障，以及废水去污系统；同时也靠进出程序、去污、定期维护、物品运输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认为二级防护只是设施部门的事，与使用者无关</a:t>
            </a:r>
          </a:p>
          <a:p>
            <a:pPr>
              <a:spcAft>
                <a:spcPts val="1000"/>
              </a:spcAft>
            </a:pPr>
            <a:r>
              <a:rPr sz="1500">
                <a:solidFill>
                  <a:srgbClr val="222B33"/>
                </a:solidFill>
                <a:latin typeface="Microsoft YaHei"/>
              </a:rPr>
              <a:t>▪ 自行改动通风、排水等设施</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两道屏障一起守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一级护人，二级护环境</a:t>
            </a:r>
          </a:p>
          <a:p>
            <a:pPr>
              <a:spcAft>
                <a:spcPts val="1000"/>
              </a:spcAft>
            </a:pPr>
            <a:r>
              <a:rPr sz="2000">
                <a:solidFill>
                  <a:srgbClr val="222B33"/>
                </a:solidFill>
                <a:latin typeface="Microsoft YaHei"/>
              </a:rPr>
              <a:t>▪ 练习：护人的、护环境的分两盒</a:t>
            </a:r>
          </a:p>
          <a:p>
            <a:pPr>
              <a:spcAft>
                <a:spcPts val="1000"/>
              </a:spcAft>
            </a:pPr>
            <a:r>
              <a:rPr sz="2000">
                <a:solidFill>
                  <a:srgbClr val="222B33"/>
                </a:solidFill>
                <a:latin typeface="Microsoft YaHei"/>
              </a:rPr>
              <a:t>▪ 两层拼起来，就是一间生物安全实验室</a:t>
            </a:r>
          </a:p>
          <a:p>
            <a:pPr>
              <a:spcAft>
                <a:spcPts val="1000"/>
              </a:spcAft>
            </a:pPr>
            <a:r>
              <a:rPr sz="2000">
                <a:solidFill>
                  <a:srgbClr val="222B33"/>
                </a:solidFill>
                <a:latin typeface="Microsoft YaHei"/>
              </a:rPr>
              <a:t>▪ 两道一起用，缺一道风险就漏出去</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记住一句话：一级防护保护人，二级防护保护环境；简单说，“柜护人，房护环境”。两道屏障要同时做到、一起使用，缺了任何一道，风险都会漏出去。</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只重视个人防护，忽视关门、废物和废水处理</a:t>
            </a:r>
          </a:p>
          <a:p>
            <a:pPr>
              <a:spcAft>
                <a:spcPts val="1000"/>
              </a:spcAft>
            </a:pPr>
            <a:r>
              <a:rPr sz="1500">
                <a:solidFill>
                  <a:srgbClr val="222B33"/>
                </a:solidFill>
                <a:latin typeface="Microsoft YaHei"/>
              </a:rPr>
              <a:t>▪ 认为设施好就可以不穿戴个人防护</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定向气流：从清洁区流向污染区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封闭的核心是定向气流</a:t>
            </a:r>
          </a:p>
          <a:p>
            <a:pPr>
              <a:spcAft>
                <a:spcPts val="1000"/>
              </a:spcAft>
            </a:pPr>
            <a:r>
              <a:rPr sz="1700">
                <a:solidFill>
                  <a:srgbClr val="222B33"/>
                </a:solidFill>
                <a:latin typeface="Microsoft YaHei"/>
              </a:rPr>
              <a:t>▪ 空气从清洁区流向污染区，只进不出</a:t>
            </a:r>
          </a:p>
          <a:p>
            <a:pPr>
              <a:spcAft>
                <a:spcPts val="1000"/>
              </a:spcAft>
            </a:pPr>
            <a:r>
              <a:rPr sz="1700">
                <a:solidFill>
                  <a:srgbClr val="222B33"/>
                </a:solidFill>
                <a:latin typeface="Microsoft YaHei"/>
              </a:rPr>
              <a:t>▪ 普通房间开门往外，封闭实验室往里</a:t>
            </a:r>
          </a:p>
          <a:p>
            <a:pPr>
              <a:spcAft>
                <a:spcPts val="1000"/>
              </a:spcAft>
            </a:pPr>
            <a:r>
              <a:rPr sz="1700">
                <a:solidFill>
                  <a:srgbClr val="222B33"/>
                </a:solidFill>
                <a:latin typeface="Microsoft YaHei"/>
              </a:rPr>
              <a:t>▪ 定向气流让室内气溶胶跑不出来</a:t>
            </a:r>
          </a:p>
          <a:p>
            <a:pPr>
              <a:spcAft>
                <a:spcPts val="1000"/>
              </a:spcAft>
            </a:pPr>
            <a:r>
              <a:rPr sz="1700">
                <a:solidFill>
                  <a:srgbClr val="222B33"/>
                </a:solidFill>
                <a:latin typeface="Microsoft YaHei"/>
              </a:rPr>
              <a:t>▪ 进门前先看压差表和飘带</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防护实验室靠定向气流把病原关在封闭空间里，这是封闭最基本的思路。通过送风和排风的设计，让空气始终从清洁区流向污染区（实验区），再经高效过滤后排出；这样，室内可能产生的气溶胶就不会跑到走廊和外面。普通房间常常是开门时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进门从不看压差表和飘带</a:t>
            </a:r>
          </a:p>
          <a:p>
            <a:pPr>
              <a:spcAft>
                <a:spcPts val="1000"/>
              </a:spcAft>
            </a:pPr>
            <a:r>
              <a:rPr sz="1500">
                <a:solidFill>
                  <a:srgbClr val="222B33"/>
                </a:solidFill>
                <a:latin typeface="Microsoft YaHei"/>
              </a:rPr>
              <a:t>▪ 看到飘带外飘仍然进门</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风不能从病原吹向人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风从病原吹向人，不行</a:t>
            </a:r>
          </a:p>
          <a:p>
            <a:pPr>
              <a:spcAft>
                <a:spcPts val="1000"/>
              </a:spcAft>
            </a:pPr>
            <a:r>
              <a:rPr sz="2000">
                <a:solidFill>
                  <a:srgbClr val="222B33"/>
                </a:solidFill>
                <a:latin typeface="Microsoft YaHei"/>
              </a:rPr>
              <a:t>▪ 风从人身后来，经过病原再过滤排出</a:t>
            </a:r>
          </a:p>
          <a:p>
            <a:pPr>
              <a:spcAft>
                <a:spcPts val="1000"/>
              </a:spcAft>
            </a:pPr>
            <a:r>
              <a:rPr sz="2000">
                <a:solidFill>
                  <a:srgbClr val="222B33"/>
                </a:solidFill>
                <a:latin typeface="Microsoft YaHei"/>
              </a:rPr>
              <a:t>▪ 地上洒了，从清洁一侧处理，不踩进去</a:t>
            </a:r>
          </a:p>
          <a:p>
            <a:pPr>
              <a:spcAft>
                <a:spcPts val="1000"/>
              </a:spcAft>
            </a:pPr>
            <a:r>
              <a:rPr sz="2000">
                <a:solidFill>
                  <a:srgbClr val="222B33"/>
                </a:solidFill>
                <a:latin typeface="Microsoft YaHei"/>
              </a:rPr>
              <a:t>▪ 排风口和柜前格栅，别堆东西遮挡</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气流的方向还要考虑人的位置：风从病原吹向人是不允许的；正确的是风从人身后来，经过操作的病原材料，从另一头经过滤排出。地面发生溅洒时，从清洁的一侧（上风侧）处理，不要踩进溅洒区（溢洒处置见第 078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在排风口前堆放纸箱</a:t>
            </a:r>
          </a:p>
          <a:p>
            <a:pPr>
              <a:spcAft>
                <a:spcPts val="1000"/>
              </a:spcAft>
            </a:pPr>
            <a:r>
              <a:rPr sz="1500">
                <a:solidFill>
                  <a:srgbClr val="222B33"/>
                </a:solidFill>
                <a:latin typeface="Microsoft YaHei"/>
              </a:rPr>
              <a:t>▪ 把记录本压在安全柜前格栅上</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负压与压力梯度：越往里压力越低</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封闭实验室气压比外面低，叫负压</a:t>
            </a:r>
          </a:p>
          <a:p>
            <a:pPr>
              <a:spcAft>
                <a:spcPts val="1000"/>
              </a:spcAft>
            </a:pPr>
            <a:r>
              <a:rPr sz="1700">
                <a:solidFill>
                  <a:srgbClr val="222B33"/>
                </a:solidFill>
                <a:latin typeface="Microsoft YaHei"/>
              </a:rPr>
              <a:t>▪ 负压让含病原的气溶胶跑不出去</a:t>
            </a:r>
          </a:p>
          <a:p>
            <a:pPr>
              <a:spcAft>
                <a:spcPts val="1000"/>
              </a:spcAft>
            </a:pPr>
            <a:r>
              <a:rPr sz="1700">
                <a:solidFill>
                  <a:srgbClr val="222B33"/>
                </a:solidFill>
                <a:latin typeface="Microsoft YaHei"/>
              </a:rPr>
              <a:t>▪ 从入口往里，压力一级比一级低</a:t>
            </a:r>
          </a:p>
          <a:p>
            <a:pPr>
              <a:spcAft>
                <a:spcPts val="1000"/>
              </a:spcAft>
            </a:pPr>
            <a:r>
              <a:rPr sz="1700">
                <a:solidFill>
                  <a:srgbClr val="222B33"/>
                </a:solidFill>
                <a:latin typeface="Microsoft YaHei"/>
              </a:rPr>
              <a:t>▪ 涉病原的操作都在负压间里做</a:t>
            </a:r>
          </a:p>
          <a:p>
            <a:pPr>
              <a:spcAft>
                <a:spcPts val="1000"/>
              </a:spcAft>
            </a:pPr>
            <a:r>
              <a:rPr sz="1700">
                <a:solidFill>
                  <a:srgbClr val="222B33"/>
                </a:solidFill>
                <a:latin typeface="Microsoft YaHei"/>
              </a:rPr>
              <a:t>▪ 具体数值以标准和本校说明为准</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封闭实验室里的气压比外面低，叫负压；负压保证空气只往里流，含病原的气溶胶跑不出去。从入口一路往里，各房间的压力一级比一级低（负压一级比一级大），形成压力梯度，病原被限制在最里面；涉及病原的操作都在最里面的负压间里进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把“越往里负压越大”理解成“越往里气压越高”</a:t>
            </a:r>
          </a:p>
          <a:p>
            <a:pPr>
              <a:spcAft>
                <a:spcPts val="1000"/>
              </a:spcAft>
            </a:pPr>
            <a:r>
              <a:rPr sz="1500">
                <a:solidFill>
                  <a:srgbClr val="222B33"/>
                </a:solidFill>
                <a:latin typeface="Microsoft YaHei"/>
              </a:rPr>
              <a:t>▪ 自行调节房间的压差或风量</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气锁与缓冲间：两道门不同时开</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外界和防护区之间的一小段叫气锁或缓冲间</a:t>
            </a:r>
          </a:p>
          <a:p>
            <a:pPr>
              <a:spcAft>
                <a:spcPts val="1000"/>
              </a:spcAft>
            </a:pPr>
            <a:r>
              <a:rPr sz="1700">
                <a:solidFill>
                  <a:srgbClr val="222B33"/>
                </a:solidFill>
                <a:latin typeface="Microsoft YaHei"/>
              </a:rPr>
              <a:t>▪ 靠压力差把两边的空气隔开</a:t>
            </a:r>
          </a:p>
          <a:p>
            <a:pPr>
              <a:spcAft>
                <a:spcPts val="1000"/>
              </a:spcAft>
            </a:pPr>
            <a:r>
              <a:rPr sz="1700">
                <a:solidFill>
                  <a:srgbClr val="222B33"/>
                </a:solidFill>
                <a:latin typeface="Microsoft YaHei"/>
              </a:rPr>
              <a:t>▪ 像风幕的比喻，真正靠的是压力差</a:t>
            </a:r>
          </a:p>
          <a:p>
            <a:pPr>
              <a:spcAft>
                <a:spcPts val="1000"/>
              </a:spcAft>
            </a:pPr>
            <a:r>
              <a:rPr sz="1700">
                <a:solidFill>
                  <a:srgbClr val="222B33"/>
                </a:solidFill>
                <a:latin typeface="Microsoft YaHei"/>
              </a:rPr>
              <a:t>▪ 两道门不同时开，进出随手关</a:t>
            </a:r>
          </a:p>
          <a:p>
            <a:pPr>
              <a:spcAft>
                <a:spcPts val="1000"/>
              </a:spcAft>
            </a:pPr>
            <a:r>
              <a:rPr sz="1700">
                <a:solidFill>
                  <a:srgbClr val="222B33"/>
                </a:solidFill>
                <a:latin typeface="Microsoft YaHei"/>
              </a:rPr>
              <a:t>▪ 指示灯没变绿就等一等，门不能撑开</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外部环境和防护区之间的一小段空间叫气锁（缓冲间）：一侧通向外部，一侧就是防护区。气锁靠压力差把两边的空气隔开：有的设施把缓冲间的压力设在两侧之间，让空气逐级向内流；有的把气锁设计成高于两侧的正压，两边的空气都进不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缓冲间两道门同时打开</a:t>
            </a:r>
          </a:p>
          <a:p>
            <a:pPr>
              <a:spcAft>
                <a:spcPts val="1000"/>
              </a:spcAft>
            </a:pPr>
            <a:r>
              <a:rPr sz="1500">
                <a:solidFill>
                  <a:srgbClr val="222B33"/>
                </a:solidFill>
                <a:latin typeface="Microsoft YaHei"/>
              </a:rPr>
              <a:t>▪ 门互锁未解除时强行拉门</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持续换气，把气溶胶带走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移液、离心等操作都会产生气溶胶</a:t>
            </a:r>
          </a:p>
          <a:p>
            <a:pPr>
              <a:spcAft>
                <a:spcPts val="1000"/>
              </a:spcAft>
            </a:pPr>
            <a:r>
              <a:rPr sz="2000">
                <a:solidFill>
                  <a:srgbClr val="222B33"/>
                </a:solidFill>
                <a:latin typeface="Microsoft YaHei"/>
              </a:rPr>
              <a:t>▪ 持续换气像漂洗衣服，把气溶胶带走</a:t>
            </a:r>
          </a:p>
          <a:p>
            <a:pPr>
              <a:spcAft>
                <a:spcPts val="1000"/>
              </a:spcAft>
            </a:pPr>
            <a:r>
              <a:rPr sz="2000">
                <a:solidFill>
                  <a:srgbClr val="222B33"/>
                </a:solidFill>
                <a:latin typeface="Microsoft YaHei"/>
              </a:rPr>
              <a:t>▪ 进风过滤进来，带走污染再过滤排出</a:t>
            </a:r>
          </a:p>
          <a:p>
            <a:pPr>
              <a:spcAft>
                <a:spcPts val="1000"/>
              </a:spcAft>
            </a:pPr>
            <a:r>
              <a:rPr sz="2000">
                <a:solidFill>
                  <a:srgbClr val="222B33"/>
                </a:solidFill>
                <a:latin typeface="Microsoft YaHei"/>
              </a:rPr>
              <a:t>▪ 这样外面的社区就安全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移液、离心、混匀等操作都会产生气溶胶。个人防护装备能护住人，但室内的气溶胶需要靠持续换气来稀释和带走，就像漂洗衣服一样，一遍遍把污染带走。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认为有换气就可以在开放台面产生大量气溶胶</a:t>
            </a:r>
          </a:p>
          <a:p>
            <a:pPr>
              <a:spcAft>
                <a:spcPts val="1000"/>
              </a:spcAft>
            </a:pPr>
            <a:r>
              <a:rPr sz="1500">
                <a:solidFill>
                  <a:srgbClr val="222B33"/>
                </a:solidFill>
                <a:latin typeface="Microsoft YaHei"/>
              </a:rPr>
              <a:t>▪ 为了“安静”“保暖”私自关闭或调小通风</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高效过滤：截住病原再排出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排出去的空气必须先过高效过滤器</a:t>
            </a:r>
          </a:p>
          <a:p>
            <a:pPr>
              <a:spcAft>
                <a:spcPts val="1000"/>
              </a:spcAft>
            </a:pPr>
            <a:r>
              <a:rPr sz="1700">
                <a:solidFill>
                  <a:srgbClr val="222B33"/>
                </a:solidFill>
                <a:latin typeface="Microsoft YaHei"/>
              </a:rPr>
              <a:t>▪ 层层纤维截住颗粒和病原，小颗粒也能抓住</a:t>
            </a:r>
          </a:p>
          <a:p>
            <a:pPr>
              <a:spcAft>
                <a:spcPts val="1000"/>
              </a:spcAft>
            </a:pPr>
            <a:r>
              <a:rPr sz="1700">
                <a:solidFill>
                  <a:srgbClr val="222B33"/>
                </a:solidFill>
                <a:latin typeface="Microsoft YaHei"/>
              </a:rPr>
              <a:t>▪ 气流导向顶部过滤口排出，属于工程控制</a:t>
            </a:r>
          </a:p>
          <a:p>
            <a:pPr>
              <a:spcAft>
                <a:spcPts val="1000"/>
              </a:spcAft>
            </a:pPr>
            <a:r>
              <a:rPr sz="1700">
                <a:solidFill>
                  <a:srgbClr val="222B33"/>
                </a:solidFill>
                <a:latin typeface="Microsoft YaHei"/>
              </a:rPr>
              <a:t>▪ 过滤器靠密封装好，不能漏风</a:t>
            </a:r>
          </a:p>
          <a:p>
            <a:pPr>
              <a:spcAft>
                <a:spcPts val="1000"/>
              </a:spcAft>
            </a:pPr>
            <a:r>
              <a:rPr sz="1700">
                <a:solidFill>
                  <a:srgbClr val="222B33"/>
                </a:solidFill>
                <a:latin typeface="Microsoft YaHei"/>
              </a:rPr>
              <a:t>▪ 专人袋进袋出更换，去污废弃，按期检测</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封闭实验室要排出去的空气，必须先经过高效空气过滤器（HEPA）。过滤器里是层层纤维，颗粒和病原被纤维截住；更小的颗粒做无规则运动，也会撞上纤维被抓住，只有干净的空气才能出去。很多设施把房间气流引向天花板或高处的过滤排……</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认为过滤器“装上就永远有效”</a:t>
            </a:r>
          </a:p>
          <a:p>
            <a:pPr>
              <a:spcAft>
                <a:spcPts val="1000"/>
              </a:spcAft>
            </a:pPr>
            <a:r>
              <a:rPr sz="1500">
                <a:solidFill>
                  <a:srgbClr val="222B33"/>
                </a:solidFill>
                <a:latin typeface="Microsoft YaHei"/>
              </a:rPr>
              <a:t>▪ 非专业人员自行拆卸过滤器</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屏障有局限，总有剩余风险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高效过滤很高效，但不是百分百</a:t>
            </a:r>
          </a:p>
          <a:p>
            <a:pPr>
              <a:spcAft>
                <a:spcPts val="1000"/>
              </a:spcAft>
            </a:pPr>
            <a:r>
              <a:rPr sz="1700">
                <a:solidFill>
                  <a:srgbClr val="222B33"/>
                </a:solidFill>
                <a:latin typeface="Microsoft YaHei"/>
              </a:rPr>
              <a:t>▪ 要定期检测，确认没有泄漏</a:t>
            </a:r>
          </a:p>
          <a:p>
            <a:pPr>
              <a:spcAft>
                <a:spcPts val="1000"/>
              </a:spcAft>
            </a:pPr>
            <a:r>
              <a:rPr sz="1700">
                <a:solidFill>
                  <a:srgbClr val="222B33"/>
                </a:solidFill>
                <a:latin typeface="Microsoft YaHei"/>
              </a:rPr>
              <a:t>▪ 源头少产气溶胶，安全柜在前，房间兜底</a:t>
            </a:r>
          </a:p>
          <a:p>
            <a:pPr>
              <a:spcAft>
                <a:spcPts val="1000"/>
              </a:spcAft>
            </a:pPr>
            <a:r>
              <a:rPr sz="1700">
                <a:solidFill>
                  <a:srgbClr val="222B33"/>
                </a:solidFill>
                <a:latin typeface="Microsoft YaHei"/>
              </a:rPr>
              <a:t>▪ 屏障再多，也总有剩余风险</a:t>
            </a:r>
          </a:p>
          <a:p>
            <a:pPr>
              <a:spcAft>
                <a:spcPts val="1000"/>
              </a:spcAft>
            </a:pPr>
            <a:r>
              <a:rPr sz="1700">
                <a:solidFill>
                  <a:srgbClr val="222B33"/>
                </a:solidFill>
                <a:latin typeface="Microsoft YaHei"/>
              </a:rPr>
              <a:t>▪ 设施、气流、柜子、灭菌器要一起用</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每一道防护屏障都有局限，不能全靠它。高效过滤器效率很高，但不是百分之百，安装或老化可能造成泄漏，所以要定期检测；更重要的是从源头少产生气溶胶——安全柜在前面拦截，房间气流作为兜底。</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认为有高效过滤就可以随意产生气溶胶</a:t>
            </a:r>
          </a:p>
          <a:p>
            <a:pPr>
              <a:spcAft>
                <a:spcPts val="1000"/>
              </a:spcAft>
            </a:pPr>
            <a:r>
              <a:rPr sz="1500">
                <a:solidFill>
                  <a:srgbClr val="222B33"/>
                </a:solidFill>
                <a:latin typeface="Microsoft YaHei"/>
              </a:rPr>
              <a:t>▪ 认为措施足够多就“零风险”</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飘带外飘：不进入，关门挂牌</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飘带外飘：空气正往外流，屏障失效</a:t>
            </a:r>
          </a:p>
          <a:p>
            <a:pPr>
              <a:spcAft>
                <a:spcPts val="1000"/>
              </a:spcAft>
            </a:pPr>
            <a:r>
              <a:rPr sz="2000">
                <a:solidFill>
                  <a:srgbClr val="222B33"/>
                </a:solidFill>
                <a:latin typeface="Microsoft YaHei"/>
              </a:rPr>
              <a:t>▪ 不进入，不开展任何实验，关好门</a:t>
            </a:r>
          </a:p>
          <a:p>
            <a:pPr>
              <a:spcAft>
                <a:spcPts val="1000"/>
              </a:spcAft>
            </a:pPr>
            <a:r>
              <a:rPr sz="2000">
                <a:solidFill>
                  <a:srgbClr val="222B33"/>
                </a:solidFill>
                <a:latin typeface="Microsoft YaHei"/>
              </a:rPr>
              <a:t>▪ 门口挂牌，提醒别人也别进</a:t>
            </a:r>
          </a:p>
          <a:p>
            <a:pPr>
              <a:spcAft>
                <a:spcPts val="1000"/>
              </a:spcAft>
            </a:pPr>
            <a:r>
              <a:rPr sz="2000">
                <a:solidFill>
                  <a:srgbClr val="222B33"/>
                </a:solidFill>
                <a:latin typeface="Microsoft YaHei"/>
              </a:rPr>
              <a:t>▪ 已在里面，收好材料，撤出关门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正常情况下，气流应该流进实验室。如果一开门，门口的飘带却朝走廊外面飘，说明空气正从实验室往外流，定向气流这道屏障失效了。这时不能“先进去干活再说”。</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看到飘带外飘，觉得“一会儿就好”，照常进门</a:t>
            </a:r>
          </a:p>
          <a:p>
            <a:pPr>
              <a:spcAft>
                <a:spcPts val="1000"/>
              </a:spcAft>
            </a:pPr>
            <a:r>
              <a:rPr sz="1500">
                <a:solidFill>
                  <a:srgbClr val="222B33"/>
                </a:solidFill>
                <a:latin typeface="Microsoft YaHei"/>
              </a:rPr>
              <a:t>▪ 发现异常不挂牌，其他人不知情进入</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报告，修好验证再恢复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马上报告实验室负责人，通知设施人员</a:t>
            </a:r>
          </a:p>
          <a:p>
            <a:pPr>
              <a:spcAft>
                <a:spcPts val="1000"/>
              </a:spcAft>
            </a:pPr>
            <a:r>
              <a:rPr sz="2000">
                <a:solidFill>
                  <a:srgbClr val="222B33"/>
                </a:solidFill>
                <a:latin typeface="Microsoft YaHei"/>
              </a:rPr>
              <a:t>▪ 说清发现的时间、现象和位置</a:t>
            </a:r>
          </a:p>
          <a:p>
            <a:pPr>
              <a:spcAft>
                <a:spcPts val="1000"/>
              </a:spcAft>
            </a:pPr>
            <a:r>
              <a:rPr sz="2000">
                <a:solidFill>
                  <a:srgbClr val="222B33"/>
                </a:solidFill>
                <a:latin typeface="Microsoft YaHei"/>
              </a:rPr>
              <a:t>▪ 修好后先确认气流恢复向内</a:t>
            </a:r>
          </a:p>
          <a:p>
            <a:pPr>
              <a:spcAft>
                <a:spcPts val="1000"/>
              </a:spcAft>
            </a:pPr>
            <a:r>
              <a:rPr sz="2000">
                <a:solidFill>
                  <a:srgbClr val="222B33"/>
                </a:solidFill>
                <a:latin typeface="Microsoft YaHei"/>
              </a:rPr>
              <a:t>▪ 负责人确认后才恢复实验；以后进门先看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发现气流异常后，马上报告实验室负责人，并通知设施人员检查通风系统；报告时说清发现的时间、现象（飘带方向、压差读数或报警）和位置。按本校规定，必要时报告学院和学校实验室管理部门。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自己“拍一拍”通风设备觉得好了就开始实验</a:t>
            </a:r>
          </a:p>
          <a:p>
            <a:pPr>
              <a:spcAft>
                <a:spcPts val="1000"/>
              </a:spcAft>
            </a:pPr>
            <a:r>
              <a:rPr sz="1500">
                <a:solidFill>
                  <a:srgbClr val="222B33"/>
                </a:solidFill>
                <a:latin typeface="Microsoft YaHei"/>
              </a:rPr>
              <a:t>▪ 只告诉同学，不报告负责人</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工作中通风报警或停电</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做实验时报警或停电，先停手</a:t>
            </a:r>
          </a:p>
          <a:p>
            <a:pPr>
              <a:spcAft>
                <a:spcPts val="1000"/>
              </a:spcAft>
            </a:pPr>
            <a:r>
              <a:rPr sz="2000">
                <a:solidFill>
                  <a:srgbClr val="222B33"/>
                </a:solidFill>
                <a:latin typeface="Microsoft YaHei"/>
              </a:rPr>
              <a:t>▪ 把容器盖好封好</a:t>
            </a:r>
          </a:p>
          <a:p>
            <a:pPr>
              <a:spcAft>
                <a:spcPts val="1000"/>
              </a:spcAft>
            </a:pPr>
            <a:r>
              <a:rPr sz="2000">
                <a:solidFill>
                  <a:srgbClr val="222B33"/>
                </a:solidFill>
                <a:latin typeface="Microsoft YaHei"/>
              </a:rPr>
              <a:t>▪ 按程序脱防护，撤出实验室</a:t>
            </a:r>
          </a:p>
          <a:p>
            <a:pPr>
              <a:spcAft>
                <a:spcPts val="1000"/>
              </a:spcAft>
            </a:pPr>
            <a:r>
              <a:rPr sz="2000">
                <a:solidFill>
                  <a:srgbClr val="222B33"/>
                </a:solidFill>
                <a:latin typeface="Microsoft YaHei"/>
              </a:rPr>
              <a:t>▪ 按预案报告负责人，恢复后再进</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正在做实验时，如果通风系统报警、压差异常或停电，先停下操作，把容器盖好、样本封好，安全柜内的材料按规定收好；然后按程序脱卸个人防护装备，撤出实验室，关好门。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停电时继续在安全柜内操作</a:t>
            </a:r>
          </a:p>
          <a:p>
            <a:pPr>
              <a:spcAft>
                <a:spcPts val="1000"/>
              </a:spcAft>
            </a:pPr>
            <a:r>
              <a:rPr sz="1500">
                <a:solidFill>
                  <a:srgbClr val="222B33"/>
                </a:solidFill>
                <a:latin typeface="Microsoft YaHei"/>
              </a:rPr>
              <a:t>▪ 慌忙撤出，不脱防护直接离开</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关于一级防护和二级防护，正确的是：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一级防护保护环境，二级防护保护人</a:t>
            </a:r>
          </a:p>
          <a:p>
            <a:pPr algn="l"/>
            <a:r>
              <a:rPr sz="1500" b="0">
                <a:solidFill>
                  <a:srgbClr val="222B33"/>
                </a:solidFill>
                <a:latin typeface="Microsoft YaHei"/>
              </a:rPr>
              <a:t>B. 一级防护靠安全柜和个人防护保护人，二级防护靠设施和规程保护环境</a:t>
            </a:r>
          </a:p>
          <a:p>
            <a:pPr algn="l"/>
            <a:r>
              <a:rPr sz="1500" b="0">
                <a:solidFill>
                  <a:srgbClr val="222B33"/>
                </a:solidFill>
                <a:latin typeface="Microsoft YaHei"/>
              </a:rPr>
              <a:t>C. 有了二级防护就不需要一级防护</a:t>
            </a:r>
          </a:p>
          <a:p>
            <a:pPr algn="l"/>
            <a:r>
              <a:rPr sz="1500" b="0">
                <a:solidFill>
                  <a:srgbClr val="222B33"/>
                </a:solidFill>
                <a:latin typeface="Microsoft YaHei"/>
              </a:rPr>
              <a:t>D. 两者只在四级实验室才有</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判断：封闭实验室的定向气流应从清洁区流向污染区，越往里压力越低。</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有缓冲间的实验室，正确的做法是：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两道门同时打开方便搬东西</a:t>
            </a:r>
          </a:p>
          <a:p>
            <a:pPr algn="l"/>
            <a:r>
              <a:rPr sz="1500" b="0">
                <a:solidFill>
                  <a:srgbClr val="222B33"/>
                </a:solidFill>
                <a:latin typeface="Microsoft YaHei"/>
              </a:rPr>
              <a:t>B. 用箱子把门撑开</a:t>
            </a:r>
          </a:p>
          <a:p>
            <a:pPr algn="l"/>
            <a:r>
              <a:rPr sz="1500" b="0">
                <a:solidFill>
                  <a:srgbClr val="222B33"/>
                </a:solidFill>
                <a:latin typeface="Microsoft YaHei"/>
              </a:rPr>
              <a:t>C. 两道门不同时开，指示灯没变绿就等一等</a:t>
            </a:r>
          </a:p>
          <a:p>
            <a:pPr algn="l"/>
            <a:r>
              <a:rPr sz="1500" b="0">
                <a:solidFill>
                  <a:srgbClr val="222B33"/>
                </a:solidFill>
                <a:latin typeface="Microsoft YaHei"/>
              </a:rPr>
              <a:t>D. 互锁没解除就用力拉门</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判断：高效过滤器能截住全部病原，装上后不需要检测和更换。</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清晨开门，阿杰发现门口飘带朝走廊外飘，应该：</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先进去干活</a:t>
            </a:r>
          </a:p>
          <a:p>
            <a:pPr algn="l"/>
            <a:r>
              <a:rPr sz="1500" b="0">
                <a:solidFill>
                  <a:srgbClr val="222B33"/>
                </a:solidFill>
                <a:latin typeface="Microsoft YaHei"/>
              </a:rPr>
              <a:t>B. 不进入、关门挂牌，报告负责人和设施人员，修好验证后再恢复</a:t>
            </a:r>
          </a:p>
          <a:p>
            <a:pPr algn="l"/>
            <a:r>
              <a:rPr sz="1500" b="0">
                <a:solidFill>
                  <a:srgbClr val="222B33"/>
                </a:solidFill>
                <a:latin typeface="Microsoft YaHei"/>
              </a:rPr>
              <a:t>C. 开窗通风</a:t>
            </a:r>
          </a:p>
          <a:p>
            <a:pPr algn="l"/>
            <a:r>
              <a:rPr sz="1500" b="0">
                <a:solidFill>
                  <a:srgbClr val="222B33"/>
                </a:solidFill>
                <a:latin typeface="Microsoft YaHei"/>
              </a:rPr>
              <a:t>D. 自己调大排风</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简答：做实验时通风系统报警或停电，应该怎么做？</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什么是封闭：把病原关在受控空间</a:t>
            </a:r>
          </a:p>
          <a:p>
            <a:pPr>
              <a:spcAft>
                <a:spcPts val="800"/>
              </a:spcAft>
            </a:pPr>
            <a:r>
              <a:rPr sz="1500">
                <a:solidFill>
                  <a:srgbClr val="FFFFFF"/>
                </a:solidFill>
                <a:latin typeface="Microsoft YaHei"/>
              </a:rPr>
              <a:t>▪ K2  一级防护：护住做实验的人</a:t>
            </a:r>
          </a:p>
          <a:p>
            <a:pPr>
              <a:spcAft>
                <a:spcPts val="800"/>
              </a:spcAft>
            </a:pPr>
            <a:r>
              <a:rPr sz="1500">
                <a:solidFill>
                  <a:srgbClr val="FFFFFF"/>
                </a:solidFill>
                <a:latin typeface="Microsoft YaHei"/>
              </a:rPr>
              <a:t>▪ K3  二级防护：护住外面的环境</a:t>
            </a:r>
          </a:p>
          <a:p>
            <a:pPr>
              <a:spcAft>
                <a:spcPts val="800"/>
              </a:spcAft>
            </a:pPr>
            <a:r>
              <a:rPr sz="1500">
                <a:solidFill>
                  <a:srgbClr val="FFFFFF"/>
                </a:solidFill>
                <a:latin typeface="Microsoft YaHei"/>
              </a:rPr>
              <a:t>▪ K4  两道屏障一起守</a:t>
            </a:r>
          </a:p>
          <a:p>
            <a:pPr>
              <a:spcAft>
                <a:spcPts val="800"/>
              </a:spcAft>
            </a:pPr>
            <a:r>
              <a:rPr sz="1500">
                <a:solidFill>
                  <a:srgbClr val="FFFFFF"/>
                </a:solidFill>
                <a:latin typeface="Microsoft YaHei"/>
              </a:rPr>
              <a:t>▪ K5  定向气流：从清洁区流向污染区</a:t>
            </a:r>
          </a:p>
          <a:p>
            <a:pPr>
              <a:spcAft>
                <a:spcPts val="800"/>
              </a:spcAft>
            </a:pPr>
            <a:r>
              <a:rPr sz="1500">
                <a:solidFill>
                  <a:srgbClr val="FFFFFF"/>
                </a:solidFill>
                <a:latin typeface="Microsoft YaHei"/>
              </a:rPr>
              <a:t>▪ K6  风不能从病原吹向人</a:t>
            </a:r>
          </a:p>
          <a:p>
            <a:pPr>
              <a:spcAft>
                <a:spcPts val="800"/>
              </a:spcAft>
            </a:pPr>
            <a:r>
              <a:rPr sz="1500">
                <a:solidFill>
                  <a:srgbClr val="FFFFFF"/>
                </a:solidFill>
                <a:latin typeface="Microsoft YaHei"/>
              </a:rPr>
              <a:t>▪ K7  负压与压力梯度：越往里压力越低</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K8  气锁与缓冲间：两道门不同时开</a:t>
            </a:r>
          </a:p>
          <a:p>
            <a:pPr>
              <a:spcAft>
                <a:spcPts val="800"/>
              </a:spcAft>
            </a:pPr>
            <a:r>
              <a:rPr sz="1500">
                <a:solidFill>
                  <a:srgbClr val="FFFFFF"/>
                </a:solidFill>
                <a:latin typeface="Microsoft YaHei"/>
              </a:rPr>
              <a:t>▪ K9  持续换气，把气溶胶带走</a:t>
            </a:r>
          </a:p>
          <a:p>
            <a:pPr>
              <a:spcAft>
                <a:spcPts val="800"/>
              </a:spcAft>
            </a:pPr>
            <a:r>
              <a:rPr sz="1500">
                <a:solidFill>
                  <a:srgbClr val="FFFFFF"/>
                </a:solidFill>
                <a:latin typeface="Microsoft YaHei"/>
              </a:rPr>
              <a:t>▪ K10  高效过滤：截住病原再排出</a:t>
            </a:r>
          </a:p>
          <a:p>
            <a:pPr>
              <a:spcAft>
                <a:spcPts val="800"/>
              </a:spcAft>
            </a:pPr>
            <a:r>
              <a:rPr sz="1500">
                <a:solidFill>
                  <a:srgbClr val="FFFFFF"/>
                </a:solidFill>
                <a:latin typeface="Microsoft YaHei"/>
              </a:rPr>
              <a:t>▪ K11  屏障有局限，总有剩余风险</a:t>
            </a:r>
          </a:p>
          <a:p>
            <a:pPr>
              <a:spcAft>
                <a:spcPts val="800"/>
              </a:spcAft>
            </a:pPr>
            <a:r>
              <a:rPr sz="1500">
                <a:solidFill>
                  <a:srgbClr val="FFFFFF"/>
                </a:solidFill>
                <a:latin typeface="Microsoft YaHei"/>
              </a:rPr>
              <a:t>▪ K12  飘带外飘：不进入，关门挂牌</a:t>
            </a:r>
          </a:p>
          <a:p>
            <a:pPr>
              <a:spcAft>
                <a:spcPts val="800"/>
              </a:spcAft>
            </a:pPr>
            <a:r>
              <a:rPr sz="1500">
                <a:solidFill>
                  <a:srgbClr val="FFFFFF"/>
                </a:solidFill>
                <a:latin typeface="Microsoft YaHei"/>
              </a:rPr>
              <a:t>▪ K13  报告，修好验证再恢复</a:t>
            </a:r>
          </a:p>
          <a:p>
            <a:pPr>
              <a:spcAft>
                <a:spcPts val="800"/>
              </a:spcAft>
            </a:pPr>
            <a:r>
              <a:rPr sz="1500">
                <a:solidFill>
                  <a:srgbClr val="FFFFFF"/>
                </a:solidFill>
                <a:latin typeface="Microsoft YaHei"/>
              </a:rPr>
              <a:t>▪ K14  工作中通风报警或停电</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063</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三级生物安全实验室的布局与进出</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70 镜）　适用对象：进入生命科学、医学、农学、环境等涉及生物材料实验室的高校本科生、研究生和教职工（必修）；拟进入三级实验室工作的人员、实验室负责人和生物安全员重点学习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能说出三级生物安全实验室的用途和功能分区（辅助工作区与防护区、清洁区与污染区），知道国内病原分类与国际风险组方向相反、实验室级别国内外同向。</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能做到进门前看懂门口标识和压差面板，异常不进、及时报告；一人一卡、不尾随，非授权不进入。</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能说出单向进出路线（更衣—气锁—实验室；脱防护—淋浴—换回便服）和人流物流分开（传递窗、穿墙灭菌器）的规矩。</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能说出三级、四级设施的主要要素，以及监控、门禁和安保的作用，布局和门禁信息不外传。</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《中华人民共和国生物安全法》（以现行文本为准）：高等级病原微生物实验室的设立、安全保卫和管理</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《病原微生物实验室生物安全管理条例》（以现行文本为准）：三级、四级实验室须通过国家认可，高致病性病原微生物实验活动须经批准，实验室安保要求</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生物安全通用要求》：三级、四级实验室的平面布局（辅助工作区、防护区）、缓冲间、压力梯度、人员和物品进出、标识</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50346（以现行文本为准）《生物安全实验室建筑技术规范》：生物安全实验室的平面布局、围护结构、通风空调和配套设施</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233（以现行文本为准）《病原微生物实验室生物安全通用准则》：病原微生物实验室的设施和进出要求</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2894-2025（以现行文本为准）《安全色和安全标志》：禁止标志和警告标志</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本校三级实验室管理制度与设施说明：准入授权、进出程序、压差范围和应急预案，以本校规定为准</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三级实验室做什么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三级实验室用来关住高风险病原</a:t>
            </a:r>
          </a:p>
          <a:p>
            <a:pPr>
              <a:spcAft>
                <a:spcPts val="1000"/>
              </a:spcAft>
            </a:pPr>
            <a:r>
              <a:rPr sz="1700">
                <a:solidFill>
                  <a:srgbClr val="222B33"/>
                </a:solidFill>
                <a:latin typeface="Microsoft YaHei"/>
              </a:rPr>
              <a:t>▪ 国际风险组4组最高，国内第一类最高</a:t>
            </a:r>
          </a:p>
          <a:p>
            <a:pPr>
              <a:spcAft>
                <a:spcPts val="1000"/>
              </a:spcAft>
            </a:pPr>
            <a:r>
              <a:rPr sz="1700">
                <a:solidFill>
                  <a:srgbClr val="222B33"/>
                </a:solidFill>
                <a:latin typeface="Microsoft YaHei"/>
              </a:rPr>
              <a:t>▪ 实验室级别国内外同向，四级最高</a:t>
            </a:r>
          </a:p>
          <a:p>
            <a:pPr>
              <a:spcAft>
                <a:spcPts val="1000"/>
              </a:spcAft>
            </a:pPr>
            <a:r>
              <a:rPr sz="1700">
                <a:solidFill>
                  <a:srgbClr val="222B33"/>
                </a:solidFill>
                <a:latin typeface="Microsoft YaHei"/>
              </a:rPr>
              <a:t>▪ 涉病原工作只在最里间，各自关住</a:t>
            </a:r>
          </a:p>
          <a:p>
            <a:pPr>
              <a:spcAft>
                <a:spcPts val="1000"/>
              </a:spcAft>
            </a:pPr>
            <a:r>
              <a:rPr sz="1700">
                <a:solidFill>
                  <a:srgbClr val="222B33"/>
                </a:solidFill>
                <a:latin typeface="Microsoft YaHei"/>
              </a:rPr>
              <a:t>▪ 须国家认可，学生须专门授权才可进入</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三级生物安全实验室（BSL-3）用来关住病原，开展较高风险病原的诊断和实验。要注意两套编号的方向：病原分类国际风险组 4 组最高，国内第一类最危险，方向相反（见第 058 课）；实验室级别则国内外同向，一级最低、四级……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认为“三级”对应国内“第三类”病原</a:t>
            </a:r>
          </a:p>
          <a:p>
            <a:pPr>
              <a:spcAft>
                <a:spcPts val="1000"/>
              </a:spcAft>
            </a:pPr>
            <a:r>
              <a:rPr sz="1500">
                <a:solidFill>
                  <a:srgbClr val="222B33"/>
                </a:solidFill>
                <a:latin typeface="Microsoft YaHei"/>
              </a:rPr>
              <a:t>▪ 认为参观者可以随意进入三级实验室</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功能分区：清洁区与污染区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平面上清洁区和污染区分开</a:t>
            </a:r>
          </a:p>
          <a:p>
            <a:pPr>
              <a:spcAft>
                <a:spcPts val="1000"/>
              </a:spcAft>
            </a:pPr>
            <a:r>
              <a:rPr sz="1700">
                <a:solidFill>
                  <a:srgbClr val="222B33"/>
                </a:solidFill>
                <a:latin typeface="Microsoft YaHei"/>
              </a:rPr>
              <a:t>▪ 交界处是更衣、淋浴和灭菌设施</a:t>
            </a:r>
          </a:p>
          <a:p>
            <a:pPr>
              <a:spcAft>
                <a:spcPts val="1000"/>
              </a:spcAft>
            </a:pPr>
            <a:r>
              <a:rPr sz="1700">
                <a:solidFill>
                  <a:srgbClr val="222B33"/>
                </a:solidFill>
                <a:latin typeface="Microsoft YaHei"/>
              </a:rPr>
              <a:t>▪ 外面是辅助工作区，里面是防护区</a:t>
            </a:r>
          </a:p>
          <a:p>
            <a:pPr>
              <a:spcAft>
                <a:spcPts val="1000"/>
              </a:spcAft>
            </a:pPr>
            <a:r>
              <a:rPr sz="1700">
                <a:solidFill>
                  <a:srgbClr val="222B33"/>
                </a:solidFill>
                <a:latin typeface="Microsoft YaHei"/>
              </a:rPr>
              <a:t>▪ 防护区包括缓冲间和核心工作间</a:t>
            </a:r>
          </a:p>
          <a:p>
            <a:pPr>
              <a:spcAft>
                <a:spcPts val="1000"/>
              </a:spcAft>
            </a:pPr>
            <a:r>
              <a:rPr sz="1700">
                <a:solidFill>
                  <a:srgbClr val="222B33"/>
                </a:solidFill>
                <a:latin typeface="Microsoft YaHei"/>
              </a:rPr>
              <a:t>▪ 人和气流都从洁到污，不逆行</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三级实验室的平面按功能分区：外面是辅助工作区，放控制室、清洁更衣、办公等功能；里面是防护区，包括缓冲间和核心工作间（具体分区以 GB 19489-2008、GB 50346 和本设施设计为准）。平面图上常用颜色区分清……</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把污染区的物品拿到清洁区放置</a:t>
            </a:r>
          </a:p>
          <a:p>
            <a:pPr>
              <a:spcAft>
                <a:spcPts val="1000"/>
              </a:spcAft>
            </a:pPr>
            <a:r>
              <a:rPr sz="1500">
                <a:solidFill>
                  <a:srgbClr val="222B33"/>
                </a:solidFill>
                <a:latin typeface="Microsoft YaHei"/>
              </a:rPr>
              <a:t>▪ 在清洁区和污染区之间来回走</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门口标识：非授权禁入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门口有生物危害警告和禁止擅入标识</a:t>
            </a:r>
          </a:p>
          <a:p>
            <a:pPr>
              <a:spcAft>
                <a:spcPts val="1000"/>
              </a:spcAft>
            </a:pPr>
            <a:r>
              <a:rPr sz="2000">
                <a:solidFill>
                  <a:srgbClr val="222B33"/>
                </a:solidFill>
                <a:latin typeface="Microsoft YaHei"/>
              </a:rPr>
              <a:t>▪ 没有授权，谁都不能进</a:t>
            </a:r>
          </a:p>
          <a:p>
            <a:pPr>
              <a:spcAft>
                <a:spcPts val="1000"/>
              </a:spcAft>
            </a:pPr>
            <a:r>
              <a:rPr sz="2000">
                <a:solidFill>
                  <a:srgbClr val="222B33"/>
                </a:solidFill>
                <a:latin typeface="Microsoft YaHei"/>
              </a:rPr>
              <a:t>▪ 信息牌写明级别、负责人和联系电话</a:t>
            </a:r>
          </a:p>
          <a:p>
            <a:pPr>
              <a:spcAft>
                <a:spcPts val="1000"/>
              </a:spcAft>
            </a:pPr>
            <a:r>
              <a:rPr sz="2000">
                <a:solidFill>
                  <a:srgbClr val="222B33"/>
                </a:solidFill>
                <a:latin typeface="Microsoft YaHei"/>
              </a:rPr>
              <a:t>▪ 参观只在外区，不进防护区</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防护区门口张贴生物危害警告标志和“非授权人员禁止入内”等禁止标志（安全标志式样按 GB 2894-2025，以现行文本为准），并设信息牌，写明防护级别、负责人和联系电话等。没有授权，任何人都不能进入。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看到门开着就进去“看一眼”</a:t>
            </a:r>
          </a:p>
          <a:p>
            <a:pPr>
              <a:spcAft>
                <a:spcPts val="1000"/>
              </a:spcAft>
            </a:pPr>
            <a:r>
              <a:rPr sz="1500">
                <a:solidFill>
                  <a:srgbClr val="222B33"/>
                </a:solidFill>
                <a:latin typeface="Microsoft YaHei"/>
              </a:rPr>
              <a:t>▪ 把禁入标识当作提示，不当作禁令</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进门先看压差面板</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进门第一件事，看压力面板</a:t>
            </a:r>
          </a:p>
          <a:p>
            <a:pPr>
              <a:spcAft>
                <a:spcPts val="1000"/>
              </a:spcAft>
            </a:pPr>
            <a:r>
              <a:rPr sz="2000">
                <a:solidFill>
                  <a:srgbClr val="222B33"/>
                </a:solidFill>
                <a:latin typeface="Microsoft YaHei"/>
              </a:rPr>
              <a:t>▪ 绿灯正常，红灯报警就别进</a:t>
            </a:r>
          </a:p>
          <a:p>
            <a:pPr>
              <a:spcAft>
                <a:spcPts val="1000"/>
              </a:spcAft>
            </a:pPr>
            <a:r>
              <a:rPr sz="2000">
                <a:solidFill>
                  <a:srgbClr val="222B33"/>
                </a:solidFill>
                <a:latin typeface="Microsoft YaHei"/>
              </a:rPr>
              <a:t>▪ 读数异常，马上报告负责人和设施人员</a:t>
            </a:r>
          </a:p>
          <a:p>
            <a:pPr>
              <a:spcAft>
                <a:spcPts val="1000"/>
              </a:spcAft>
            </a:pPr>
            <a:r>
              <a:rPr sz="2000">
                <a:solidFill>
                  <a:srgbClr val="222B33"/>
                </a:solidFill>
                <a:latin typeface="Microsoft YaHei"/>
              </a:rPr>
              <a:t>▪ 正常范围以本校设施说明为准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进入负压实验室前，第一件事是看门口的压差显示面板和报警灯：显示正常（如绿灯）才可以按程序进入；读数异常或报警亮起（如红灯），不要进去，马上报告实验室负责人和设施人员。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报警灯亮着仍然进门</a:t>
            </a:r>
          </a:p>
          <a:p>
            <a:pPr>
              <a:spcAft>
                <a:spcPts val="1000"/>
              </a:spcAft>
            </a:pPr>
            <a:r>
              <a:rPr sz="1500">
                <a:solidFill>
                  <a:srgbClr val="222B33"/>
                </a:solidFill>
                <a:latin typeface="Microsoft YaHei"/>
              </a:rPr>
              <a:t>▪ 自己调节压差或关闭报警</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门禁与前室：一道门一道关</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授权人员刷卡进门，一人一卡，不尾随</a:t>
            </a:r>
          </a:p>
          <a:p>
            <a:pPr>
              <a:spcAft>
                <a:spcPts val="1000"/>
              </a:spcAft>
            </a:pPr>
            <a:r>
              <a:rPr sz="1700">
                <a:solidFill>
                  <a:srgbClr val="222B33"/>
                </a:solidFill>
                <a:latin typeface="Microsoft YaHei"/>
              </a:rPr>
              <a:t>▪ 先过前室，像气闸，压力平衡了再进</a:t>
            </a:r>
          </a:p>
          <a:p>
            <a:pPr>
              <a:spcAft>
                <a:spcPts val="1000"/>
              </a:spcAft>
            </a:pPr>
            <a:r>
              <a:rPr sz="1700">
                <a:solidFill>
                  <a:srgbClr val="222B33"/>
                </a:solidFill>
                <a:latin typeface="Microsoft YaHei"/>
              </a:rPr>
              <a:t>▪ 前室压力把里外空气隔开，设计以本设施为准</a:t>
            </a:r>
          </a:p>
          <a:p>
            <a:pPr>
              <a:spcAft>
                <a:spcPts val="1000"/>
              </a:spcAft>
            </a:pPr>
            <a:r>
              <a:rPr sz="1700">
                <a:solidFill>
                  <a:srgbClr val="222B33"/>
                </a:solidFill>
                <a:latin typeface="Microsoft YaHei"/>
              </a:rPr>
              <a:t>▪ 再往里是负压区，还有第二道门禁</a:t>
            </a:r>
          </a:p>
          <a:p>
            <a:pPr>
              <a:spcAft>
                <a:spcPts val="1000"/>
              </a:spcAft>
            </a:pPr>
            <a:r>
              <a:rPr sz="1700">
                <a:solidFill>
                  <a:srgbClr val="222B33"/>
                </a:solidFill>
                <a:latin typeface="Microsoft YaHei"/>
              </a:rPr>
              <a:t>▪ 每过一道门，压力再降一级</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三级实验室的门禁更严格：授权人员刷卡（或指纹等）进入第一区，一人一卡，不尾随他人进入，也不把卡借给别人。进门先过前室（缓冲间），它像一个气闸，门关好、压力平衡后再打开里面的门。前室用压力把里外空气隔开：有的设施前室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跟在别人身后“蹭门禁”进入</a:t>
            </a:r>
          </a:p>
          <a:p>
            <a:pPr>
              <a:spcAft>
                <a:spcPts val="1000"/>
              </a:spcAft>
            </a:pPr>
            <a:r>
              <a:rPr sz="1500">
                <a:solidFill>
                  <a:srgbClr val="222B33"/>
                </a:solidFill>
                <a:latin typeface="Microsoft YaHei"/>
              </a:rPr>
              <a:t>▪ 前室两道门同时打开</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单向进出：更衣淋浴不走回头路</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一条路进，另一条路出</a:t>
            </a:r>
          </a:p>
          <a:p>
            <a:pPr>
              <a:spcAft>
                <a:spcPts val="1000"/>
              </a:spcAft>
            </a:pPr>
            <a:r>
              <a:rPr sz="1700">
                <a:solidFill>
                  <a:srgbClr val="222B33"/>
                </a:solidFill>
                <a:latin typeface="Microsoft YaHei"/>
              </a:rPr>
              <a:t>▪ 进：先更衣换装，过气锁再进实验室</a:t>
            </a:r>
          </a:p>
          <a:p>
            <a:pPr>
              <a:spcAft>
                <a:spcPts val="1000"/>
              </a:spcAft>
            </a:pPr>
            <a:r>
              <a:rPr sz="1700">
                <a:solidFill>
                  <a:srgbClr val="222B33"/>
                </a:solidFill>
                <a:latin typeface="Microsoft YaHei"/>
              </a:rPr>
              <a:t>▪ 出：在指定位置按程序脱防护，淋浴后换便服</a:t>
            </a:r>
          </a:p>
          <a:p>
            <a:pPr>
              <a:spcAft>
                <a:spcPts val="1000"/>
              </a:spcAft>
            </a:pPr>
            <a:r>
              <a:rPr sz="1700">
                <a:solidFill>
                  <a:srgbClr val="222B33"/>
                </a:solidFill>
                <a:latin typeface="Microsoft YaHei"/>
              </a:rPr>
              <a:t>▪ 私人物品留在外面，进出按规定登记</a:t>
            </a:r>
          </a:p>
          <a:p>
            <a:pPr>
              <a:spcAft>
                <a:spcPts val="1000"/>
              </a:spcAft>
            </a:pPr>
            <a:r>
              <a:rPr sz="1700">
                <a:solidFill>
                  <a:srgbClr val="222B33"/>
                </a:solidFill>
                <a:latin typeface="Microsoft YaHei"/>
              </a:rPr>
              <a:t>▪ 感应龙头少碰表面；不抄近道，不反着走</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三级实验室的人员进出是单向的：一条路进，另一条路出。进入时，私人物品留在外侧储物柜，在清洁更衣室换上实验室专用服装，经过负压的气锁（缓冲间），再进入防护实验室；里面是限制区，外人不得进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穿着防护服原路返回清洁区</a:t>
            </a:r>
          </a:p>
          <a:p>
            <a:pPr>
              <a:spcAft>
                <a:spcPts val="1000"/>
              </a:spcAft>
            </a:pPr>
            <a:r>
              <a:rPr sz="1500">
                <a:solidFill>
                  <a:srgbClr val="222B33"/>
                </a:solidFill>
                <a:latin typeface="Microsoft YaHei"/>
              </a:rPr>
              <a:t>▪ 把手机、钥匙等私人物品带进防护区</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人流物流分开：传递窗与灭菌器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人走人道，物走物道</a:t>
            </a:r>
          </a:p>
          <a:p>
            <a:pPr>
              <a:spcAft>
                <a:spcPts val="1000"/>
              </a:spcAft>
            </a:pPr>
            <a:r>
              <a:rPr sz="1700">
                <a:solidFill>
                  <a:srgbClr val="222B33"/>
                </a:solidFill>
                <a:latin typeface="Microsoft YaHei"/>
              </a:rPr>
              <a:t>▪ 小件样本走传递窗，两门不同时开，用后消毒</a:t>
            </a:r>
          </a:p>
          <a:p>
            <a:pPr>
              <a:spcAft>
                <a:spcPts val="1000"/>
              </a:spcAft>
            </a:pPr>
            <a:r>
              <a:rPr sz="1700">
                <a:solidFill>
                  <a:srgbClr val="222B33"/>
                </a:solidFill>
                <a:latin typeface="Microsoft YaHei"/>
              </a:rPr>
              <a:t>▪ 灭菌器在实验室内，常为穿墙双门</a:t>
            </a:r>
          </a:p>
          <a:p>
            <a:pPr>
              <a:spcAft>
                <a:spcPts val="1000"/>
              </a:spcAft>
            </a:pPr>
            <a:r>
              <a:rPr sz="1700">
                <a:solidFill>
                  <a:srgbClr val="222B33"/>
                </a:solidFill>
                <a:latin typeface="Microsoft YaHei"/>
              </a:rPr>
              <a:t>▪ 出来的物品先灭菌，再按规定处置</a:t>
            </a:r>
          </a:p>
          <a:p>
            <a:pPr>
              <a:spcAft>
                <a:spcPts val="1000"/>
              </a:spcAft>
            </a:pPr>
            <a:r>
              <a:rPr sz="1700">
                <a:solidFill>
                  <a:srgbClr val="222B33"/>
                </a:solidFill>
                <a:latin typeface="Microsoft YaHei"/>
              </a:rPr>
              <a:t>▪ 安全柜接好排风，排气全部过滤</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三级实验室的人流和物流分开：人员按规定路线进出；物品走专门的通道。小件样本通过传递窗递进递出，传递窗两扇门不同时打开，用后按规定消毒。与二级实验室不同，三级实验室的高压灭菌器设在实验室内，常为穿墙的双扉灭菌器：在防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把未灭菌的物品直接从人员通道带出</a:t>
            </a:r>
          </a:p>
          <a:p>
            <a:pPr>
              <a:spcAft>
                <a:spcPts val="1000"/>
              </a:spcAft>
            </a:pPr>
            <a:r>
              <a:rPr sz="1500">
                <a:solidFill>
                  <a:srgbClr val="222B33"/>
                </a:solidFill>
                <a:latin typeface="Microsoft YaHei"/>
              </a:rPr>
              <a:t>▪ 传递窗两侧门同时打开</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控制室、监控与安保</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防护区旁有控制室，管风机和空调</a:t>
            </a:r>
          </a:p>
          <a:p>
            <a:pPr>
              <a:spcAft>
                <a:spcPts val="1000"/>
              </a:spcAft>
            </a:pPr>
            <a:r>
              <a:rPr sz="1700">
                <a:solidFill>
                  <a:srgbClr val="222B33"/>
                </a:solidFill>
                <a:latin typeface="Microsoft YaHei"/>
              </a:rPr>
              <a:t>▪ 设施人员监控运行状态</a:t>
            </a:r>
          </a:p>
          <a:p>
            <a:pPr>
              <a:spcAft>
                <a:spcPts val="1000"/>
              </a:spcAft>
            </a:pPr>
            <a:r>
              <a:rPr sz="1700">
                <a:solidFill>
                  <a:srgbClr val="222B33"/>
                </a:solidFill>
                <a:latin typeface="Microsoft YaHei"/>
              </a:rPr>
              <a:t>▪ 监控画面和门禁记录，谁进谁出都有记录</a:t>
            </a:r>
          </a:p>
          <a:p>
            <a:pPr>
              <a:spcAft>
                <a:spcPts val="1000"/>
              </a:spcAft>
            </a:pPr>
            <a:r>
              <a:rPr sz="1700">
                <a:solidFill>
                  <a:srgbClr val="222B33"/>
                </a:solidFill>
                <a:latin typeface="Microsoft YaHei"/>
              </a:rPr>
              <a:t>▪ 发现可疑人员，立即报告保卫处</a:t>
            </a:r>
          </a:p>
          <a:p>
            <a:pPr>
              <a:spcAft>
                <a:spcPts val="1000"/>
              </a:spcAft>
            </a:pPr>
            <a:r>
              <a:rPr sz="1700">
                <a:solidFill>
                  <a:srgbClr val="222B33"/>
                </a:solidFill>
                <a:latin typeface="Microsoft YaHei"/>
              </a:rPr>
              <a:t>▪ 布局和门禁信息不拍照、不外传</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防护区旁设控制室，风机、通风和空调等系统在这里集中控制，设施人员监控运行状态，异常时及时处置。</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在三级实验室外拍照发到网上</a:t>
            </a:r>
          </a:p>
          <a:p>
            <a:pPr>
              <a:spcAft>
                <a:spcPts val="1000"/>
              </a:spcAft>
            </a:pPr>
            <a:r>
              <a:rPr sz="1500">
                <a:solidFill>
                  <a:srgbClr val="222B33"/>
                </a:solidFill>
                <a:latin typeface="Microsoft YaHei"/>
              </a:rPr>
              <a:t>▪ 发现陌生人尾随却不报告</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三级设施要素一览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负压定向气流，排风经高效过滤</a:t>
            </a:r>
          </a:p>
          <a:p>
            <a:pPr>
              <a:spcAft>
                <a:spcPts val="1000"/>
              </a:spcAft>
            </a:pPr>
            <a:r>
              <a:rPr sz="2000">
                <a:solidFill>
                  <a:srgbClr val="222B33"/>
                </a:solidFill>
                <a:latin typeface="Microsoft YaHei"/>
              </a:rPr>
              <a:t>▪ 两道自闭门，免手动洗手池，旁有洗眼器</a:t>
            </a:r>
          </a:p>
          <a:p>
            <a:pPr>
              <a:spcAft>
                <a:spcPts val="1000"/>
              </a:spcAft>
            </a:pPr>
            <a:r>
              <a:rPr sz="2000">
                <a:solidFill>
                  <a:srgbClr val="222B33"/>
                </a:solidFill>
                <a:latin typeface="Microsoft YaHei"/>
              </a:rPr>
              <a:t>▪ 安全柜等防护设备，灭菌器在室内</a:t>
            </a:r>
          </a:p>
          <a:p>
            <a:pPr>
              <a:spcAft>
                <a:spcPts val="1000"/>
              </a:spcAft>
            </a:pPr>
            <a:r>
              <a:rPr sz="2000">
                <a:solidFill>
                  <a:srgbClr val="222B33"/>
                </a:solidFill>
                <a:latin typeface="Microsoft YaHei"/>
              </a:rPr>
              <a:t>▪ 压力一掉就是封闭破坏，立即启动应急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把三级实验室的设施要素放在一起看：相对外界维持负压，气流定向流动，空气只进不出，排风经高效过滤后排到室外；进出经过前室（气闸），有两道自闭门；设免手动操作的洗手池，旁边有洗眼器；配生物安全柜等防护设备，操作都在其中进……</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认为三级实验室只是“加了门禁的二级实验室”</a:t>
            </a:r>
          </a:p>
          <a:p>
            <a:pPr>
              <a:spcAft>
                <a:spcPts val="1000"/>
              </a:spcAft>
            </a:pPr>
            <a:r>
              <a:rPr sz="1500">
                <a:solidFill>
                  <a:srgbClr val="222B33"/>
                </a:solidFill>
                <a:latin typeface="Microsoft YaHei"/>
              </a:rPr>
              <a:t>▪ 压力报警时继续工作</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四级设施：独立隔离、层层去污</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独立建筑或隔离区</a:t>
            </a:r>
          </a:p>
          <a:p>
            <a:pPr>
              <a:spcAft>
                <a:spcPts val="1000"/>
              </a:spcAft>
            </a:pPr>
            <a:r>
              <a:rPr sz="2000">
                <a:solidFill>
                  <a:srgbClr val="222B33"/>
                </a:solidFill>
                <a:latin typeface="Microsoft YaHei"/>
              </a:rPr>
              <a:t>▪ 气锁进入，出来去污淋浴</a:t>
            </a:r>
          </a:p>
          <a:p>
            <a:pPr>
              <a:spcAft>
                <a:spcPts val="1000"/>
              </a:spcAft>
            </a:pPr>
            <a:r>
              <a:rPr sz="2000">
                <a:solidFill>
                  <a:srgbClr val="222B33"/>
                </a:solidFill>
                <a:latin typeface="Microsoft YaHei"/>
              </a:rPr>
              <a:t>▪ 进风排风都经高效过滤</a:t>
            </a:r>
          </a:p>
          <a:p>
            <a:pPr>
              <a:spcAft>
                <a:spcPts val="1000"/>
              </a:spcAft>
            </a:pPr>
            <a:r>
              <a:rPr sz="2000">
                <a:solidFill>
                  <a:srgbClr val="222B33"/>
                </a:solidFill>
                <a:latin typeface="Microsoft YaHei"/>
              </a:rPr>
              <a:t>▪ 有应急电源和通讯系统，全国只有少数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四级生物安全实验室（BSL-4）是独立的建筑或建筑内完全隔离的区域，人员经气锁进入，离开时要经过去污淋浴（如化学淋浴和人员淋浴）；进风和排风都经过高效过滤；并配有应急电源和通讯系统。</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把四级实验室当作参观场所</a:t>
            </a:r>
          </a:p>
          <a:p>
            <a:pPr>
              <a:spcAft>
                <a:spcPts val="1000"/>
              </a:spcAft>
            </a:pPr>
            <a:r>
              <a:rPr sz="1500">
                <a:solidFill>
                  <a:srgbClr val="222B33"/>
                </a:solidFill>
                <a:latin typeface="Microsoft YaHei"/>
              </a:rPr>
              <a:t>▪ 认为四级与三级的区别只是防护服不同</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关于编号方向，正确的是：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三级实验室对应国内第三类病原</a:t>
            </a:r>
          </a:p>
          <a:p>
            <a:pPr algn="l"/>
            <a:r>
              <a:rPr sz="1500" b="0">
                <a:solidFill>
                  <a:srgbClr val="222B33"/>
                </a:solidFill>
                <a:latin typeface="Microsoft YaHei"/>
              </a:rPr>
              <a:t>B. 国内病原分类第一类最危险，与国际风险组方向相反；实验室级别国内外同向，四级最高</a:t>
            </a:r>
          </a:p>
          <a:p>
            <a:pPr algn="l"/>
            <a:r>
              <a:rPr sz="1500" b="0">
                <a:solidFill>
                  <a:srgbClr val="222B33"/>
                </a:solidFill>
                <a:latin typeface="Microsoft YaHei"/>
              </a:rPr>
              <a:t>C. 国内实验室级别一级最高</a:t>
            </a:r>
          </a:p>
          <a:p>
            <a:pPr algn="l"/>
            <a:r>
              <a:rPr sz="1500" b="0">
                <a:solidFill>
                  <a:srgbClr val="222B33"/>
                </a:solidFill>
                <a:latin typeface="Microsoft YaHei"/>
              </a:rPr>
              <a:t>D. 两套编号完全相同</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判断：进入三级实验室前，压差面板报警亮红灯，可以先进去再报告。</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三级实验室人员离开时的正确顺序是：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原路返回，到办公室再脱防护</a:t>
            </a:r>
          </a:p>
          <a:p>
            <a:pPr algn="l"/>
            <a:r>
              <a:rPr sz="1500" b="0">
                <a:solidFill>
                  <a:srgbClr val="222B33"/>
                </a:solidFill>
                <a:latin typeface="Microsoft YaHei"/>
              </a:rPr>
              <a:t>B. 在指定位置按程序脱防护，按规定淋浴，再换回自己的衣服</a:t>
            </a:r>
          </a:p>
          <a:p>
            <a:pPr algn="l"/>
            <a:r>
              <a:rPr sz="1500" b="0">
                <a:solidFill>
                  <a:srgbClr val="222B33"/>
                </a:solidFill>
                <a:latin typeface="Microsoft YaHei"/>
              </a:rPr>
              <a:t>C. 先换便服再脱防护</a:t>
            </a:r>
          </a:p>
          <a:p>
            <a:pPr algn="l"/>
            <a:r>
              <a:rPr sz="1500" b="0">
                <a:solidFill>
                  <a:srgbClr val="222B33"/>
                </a:solidFill>
                <a:latin typeface="Microsoft YaHei"/>
              </a:rPr>
              <a:t>D. 抄近道从物品通道出去</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关于人流物流，错误的是：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人走人道，物走物道</a:t>
            </a:r>
          </a:p>
          <a:p>
            <a:pPr algn="l"/>
            <a:r>
              <a:rPr sz="1500" b="0">
                <a:solidFill>
                  <a:srgbClr val="222B33"/>
                </a:solidFill>
                <a:latin typeface="Microsoft YaHei"/>
              </a:rPr>
              <a:t>B. 小件样本走传递窗，两门不同时开</a:t>
            </a:r>
          </a:p>
          <a:p>
            <a:pPr algn="l"/>
            <a:r>
              <a:rPr sz="1500" b="0">
                <a:solidFill>
                  <a:srgbClr val="222B33"/>
                </a:solidFill>
                <a:latin typeface="Microsoft YaHei"/>
              </a:rPr>
              <a:t>C. 出来的物品先灭菌再处置</a:t>
            </a:r>
          </a:p>
          <a:p>
            <a:pPr algn="l"/>
            <a:r>
              <a:rPr sz="1500" b="0">
                <a:solidFill>
                  <a:srgbClr val="222B33"/>
                </a:solidFill>
                <a:latin typeface="Microsoft YaHei"/>
              </a:rPr>
              <a:t>D. 物品可以随人从人员通道直接带出</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判断：跟在有门禁卡的人身后进入三级实验室，也算有授权。</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简答：在三级实验室外区学习时，为什么不能拍照外传？</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800">
                <a:solidFill>
                  <a:srgbClr val="FFFFFF"/>
                </a:solidFill>
                <a:latin typeface="Microsoft YaHei"/>
              </a:rPr>
              <a:t>▪ K1  三级实验室做什么</a:t>
            </a:r>
          </a:p>
          <a:p>
            <a:pPr>
              <a:spcAft>
                <a:spcPts val="800"/>
              </a:spcAft>
            </a:pPr>
            <a:r>
              <a:rPr sz="1800">
                <a:solidFill>
                  <a:srgbClr val="FFFFFF"/>
                </a:solidFill>
                <a:latin typeface="Microsoft YaHei"/>
              </a:rPr>
              <a:t>▪ K2  功能分区：清洁区与污染区</a:t>
            </a:r>
          </a:p>
          <a:p>
            <a:pPr>
              <a:spcAft>
                <a:spcPts val="800"/>
              </a:spcAft>
            </a:pPr>
            <a:r>
              <a:rPr sz="1800">
                <a:solidFill>
                  <a:srgbClr val="FFFFFF"/>
                </a:solidFill>
                <a:latin typeface="Microsoft YaHei"/>
              </a:rPr>
              <a:t>▪ K3  门口标识：非授权禁入</a:t>
            </a:r>
          </a:p>
          <a:p>
            <a:pPr>
              <a:spcAft>
                <a:spcPts val="800"/>
              </a:spcAft>
            </a:pPr>
            <a:r>
              <a:rPr sz="1800">
                <a:solidFill>
                  <a:srgbClr val="FFFFFF"/>
                </a:solidFill>
                <a:latin typeface="Microsoft YaHei"/>
              </a:rPr>
              <a:t>▪ K4  进门先看压差面板</a:t>
            </a:r>
          </a:p>
          <a:p>
            <a:pPr>
              <a:spcAft>
                <a:spcPts val="800"/>
              </a:spcAft>
            </a:pPr>
            <a:r>
              <a:rPr sz="1800">
                <a:solidFill>
                  <a:srgbClr val="FFFFFF"/>
                </a:solidFill>
                <a:latin typeface="Microsoft YaHei"/>
              </a:rPr>
              <a:t>▪ K5  门禁与前室：一道门一道关</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800">
                <a:solidFill>
                  <a:srgbClr val="FFFFFF"/>
                </a:solidFill>
                <a:latin typeface="Microsoft YaHei"/>
              </a:rPr>
              <a:t>▪ K6  单向进出：更衣淋浴不走回头路</a:t>
            </a:r>
          </a:p>
          <a:p>
            <a:pPr>
              <a:spcAft>
                <a:spcPts val="800"/>
              </a:spcAft>
            </a:pPr>
            <a:r>
              <a:rPr sz="1800">
                <a:solidFill>
                  <a:srgbClr val="FFFFFF"/>
                </a:solidFill>
                <a:latin typeface="Microsoft YaHei"/>
              </a:rPr>
              <a:t>▪ K7  人流物流分开：传递窗与灭菌器</a:t>
            </a:r>
          </a:p>
          <a:p>
            <a:pPr>
              <a:spcAft>
                <a:spcPts val="800"/>
              </a:spcAft>
            </a:pPr>
            <a:r>
              <a:rPr sz="1800">
                <a:solidFill>
                  <a:srgbClr val="FFFFFF"/>
                </a:solidFill>
                <a:latin typeface="Microsoft YaHei"/>
              </a:rPr>
              <a:t>▪ K8  控制室、监控与安保</a:t>
            </a:r>
          </a:p>
          <a:p>
            <a:pPr>
              <a:spcAft>
                <a:spcPts val="800"/>
              </a:spcAft>
            </a:pPr>
            <a:r>
              <a:rPr sz="1800">
                <a:solidFill>
                  <a:srgbClr val="FFFFFF"/>
                </a:solidFill>
                <a:latin typeface="Microsoft YaHei"/>
              </a:rPr>
              <a:t>▪ K9  三级设施要素一览</a:t>
            </a:r>
          </a:p>
          <a:p>
            <a:pPr>
              <a:spcAft>
                <a:spcPts val="800"/>
              </a:spcAft>
            </a:pPr>
            <a:r>
              <a:rPr sz="1800">
                <a:solidFill>
                  <a:srgbClr val="FFFFFF"/>
                </a:solidFill>
                <a:latin typeface="Microsoft YaHei"/>
              </a:rPr>
              <a:t>▪ K10  四级设施：独立隔离、层层去污</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064</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生物安全设施的设计、建造与运行</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6.75 分钟（卡通视频 81 镜）　适用对象：进入生命科学、医学、农学、环境等涉及生物材料实验室的高校本科生、研究生和教职工（必修）；实验室负责人、生物安全员、设施管理人员和参与实验室新建改造的人员重点学习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能说出防护设施的组成（设备层、进排风过滤与高空排放、控制与监测、污水与废物处理、出入口缓冲间和穿墙灭菌器、物理安保），知道设施本身就是工程控制。</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能说出设施设计的主要原则：先算建设费和运行费、选址避开风险并保障支援、相邻集中和分区分流的布局、结构材料经得住负压和消毒。</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能说出建设流程（需求预算—初步设计—施工—验收认可），以及一级、二级实验室备案，三级、四级实验室审批并通过国家认可的要求。</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能做到不进入设备层、不碰过滤箱，用前查看安全柜和灭菌器的检测标识；能判断设施改造、条件变化、停用搬迁时须重新评审或先去污验收。</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《中华人民共和国生物安全法》（以现行文本为准）：病原微生物实验室应当符合生物安全国家标准和要求，设立单位负责实验室的生物安全管理</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新建、改建、扩建三级、四级实验室依法审批，建成后通过实验室国家认可并经主管部门批准方可从事相应活动；一级、二级实验室向设区的市级主管部门备案</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生物安全通用要求》：实验室设施和设备要求、废物和污水去污、设施设备的维护和检测</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50346（以现行文本为准）《生物安全实验室建筑技术规范》：生物安全实验室的选址、平面布局、建筑结构、通风空调、给排水和电气控制等工程技术要求</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233（以现行文本为准）《病原微生物实验室生物安全通用准则》：各级病原微生物实验室的设施、设备和管理要求</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《医疗废物管理条例》（以现行文本为准）：感染性废物的收集、处理和交接</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号，以现行文本为准）：实验室建设与改造的安全论证、设施设备运行维护和检测</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本校实验室建设管理规定与设施说明：压差、风量、过滤效率、污水消毒等具体参数以现行标准和本校设施说明为准</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设施本身就是防护：工程控制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生物安全不只靠安全柜和防护服</a:t>
            </a:r>
          </a:p>
          <a:p>
            <a:pPr>
              <a:spcAft>
                <a:spcPts val="1000"/>
              </a:spcAft>
            </a:pPr>
            <a:r>
              <a:rPr sz="2000">
                <a:solidFill>
                  <a:srgbClr val="222B33"/>
                </a:solidFill>
                <a:latin typeface="Microsoft YaHei"/>
              </a:rPr>
              <a:t>▪ 房子怎么设计、配什么设备，都是工程控制</a:t>
            </a:r>
          </a:p>
          <a:p>
            <a:pPr>
              <a:spcAft>
                <a:spcPts val="1000"/>
              </a:spcAft>
            </a:pPr>
            <a:r>
              <a:rPr sz="2000">
                <a:solidFill>
                  <a:srgbClr val="222B33"/>
                </a:solidFill>
                <a:latin typeface="Microsoft YaHei"/>
              </a:rPr>
              <a:t>▪ 工程控制从源头挡住风险</a:t>
            </a:r>
          </a:p>
          <a:p>
            <a:pPr>
              <a:spcAft>
                <a:spcPts val="1000"/>
              </a:spcAft>
            </a:pPr>
            <a:r>
              <a:rPr sz="2000">
                <a:solidFill>
                  <a:srgbClr val="222B33"/>
                </a:solidFill>
                <a:latin typeface="Microsoft YaHei"/>
              </a:rPr>
              <a:t>▪ 设计想周全，设施才安全好用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生物安全靠的不只是生物安全柜和个人防护装备。实验室房子怎么设计、配置什么设备，本身就是一道防护，属于控制层级中的工程控制（控制层级见第 017 课）：它不依赖每个人每次都做对，而是从源头把风险挡住。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认为设施是工程师的事，与做实验的人无关</a:t>
            </a:r>
          </a:p>
          <a:p>
            <a:pPr>
              <a:spcAft>
                <a:spcPts val="1000"/>
              </a:spcAft>
            </a:pPr>
            <a:r>
              <a:rPr sz="1500">
                <a:solidFill>
                  <a:srgbClr val="222B33"/>
                </a:solidFill>
                <a:latin typeface="Microsoft YaHei"/>
              </a:rPr>
              <a:t>▪ 设施有缺陷时靠“自己小心点”凑合使用</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一座防护设施由什么组成</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门口标志，房间可密封，气流向内、过滤排出</a:t>
            </a:r>
          </a:p>
          <a:p>
            <a:pPr>
              <a:spcAft>
                <a:spcPts val="1000"/>
              </a:spcAft>
            </a:pPr>
            <a:r>
              <a:rPr sz="1700">
                <a:solidFill>
                  <a:srgbClr val="222B33"/>
                </a:solidFill>
                <a:latin typeface="Microsoft YaHei"/>
              </a:rPr>
              <a:t>▪ 整座设施相对外界负压</a:t>
            </a:r>
          </a:p>
          <a:p>
            <a:pPr>
              <a:spcAft>
                <a:spcPts val="1000"/>
              </a:spcAft>
            </a:pPr>
            <a:r>
              <a:rPr sz="1700">
                <a:solidFill>
                  <a:srgbClr val="222B33"/>
                </a:solidFill>
                <a:latin typeface="Microsoft YaHei"/>
              </a:rPr>
              <a:t>▪ 气锁进入、淋浴出，内有安全柜和灭菌器</a:t>
            </a:r>
          </a:p>
          <a:p>
            <a:pPr>
              <a:spcAft>
                <a:spcPts val="1000"/>
              </a:spcAft>
            </a:pPr>
            <a:r>
              <a:rPr sz="1700">
                <a:solidFill>
                  <a:srgbClr val="222B33"/>
                </a:solidFill>
                <a:latin typeface="Microsoft YaHei"/>
              </a:rPr>
              <a:t>▪ 工程设计含气流、过滤、空调、污水、控制、安保等</a:t>
            </a:r>
          </a:p>
          <a:p>
            <a:pPr>
              <a:spcAft>
                <a:spcPts val="1000"/>
              </a:spcAft>
            </a:pPr>
            <a:r>
              <a:rPr sz="1700">
                <a:solidFill>
                  <a:srgbClr val="222B33"/>
                </a:solidFill>
                <a:latin typeface="Microsoft YaHei"/>
              </a:rPr>
              <a:t>▪ 一栋楼常分三层：上管空气，中做实验，下管废水</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一座防护设施（以较高等级实验室为例）的基本组成：门口有生物危害标志；房间可以密封，便于熏蒸消毒；气流定向流入，经高效过滤后排出，整座设施相对外界保持负压；人员经气锁（缓冲间）进入、经淋浴离开；室内有生物安全柜和高压灭……</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以为防护设施只是“装了安全柜的普通房间”</a:t>
            </a:r>
          </a:p>
          <a:p>
            <a:pPr>
              <a:spcAft>
                <a:spcPts val="1000"/>
              </a:spcAft>
            </a:pPr>
            <a:r>
              <a:rPr sz="1500">
                <a:solidFill>
                  <a:srgbClr val="222B33"/>
                </a:solidFill>
                <a:latin typeface="Microsoft YaHei"/>
              </a:rPr>
              <a:t>▪ 只关注实验层，忽视设备层和污水系统也是防护的一部分</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设备层：机器在上，实验室里不放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设备层统一控制全楼通风空调</a:t>
            </a:r>
          </a:p>
          <a:p>
            <a:pPr>
              <a:spcAft>
                <a:spcPts val="1000"/>
              </a:spcAft>
            </a:pPr>
            <a:r>
              <a:rPr sz="1700">
                <a:solidFill>
                  <a:srgbClr val="222B33"/>
                </a:solidFill>
                <a:latin typeface="Microsoft YaHei"/>
              </a:rPr>
              <a:t>▪ 风机、过滤器、电控柜放在实验室上方</a:t>
            </a:r>
          </a:p>
          <a:p>
            <a:pPr>
              <a:spcAft>
                <a:spcPts val="1000"/>
              </a:spcAft>
            </a:pPr>
            <a:r>
              <a:rPr sz="1700">
                <a:solidFill>
                  <a:srgbClr val="222B33"/>
                </a:solidFill>
                <a:latin typeface="Microsoft YaHei"/>
              </a:rPr>
              <a:t>▪ 实验室里不放机械，便于密封和清洁</a:t>
            </a:r>
          </a:p>
          <a:p>
            <a:pPr>
              <a:spcAft>
                <a:spcPts val="1000"/>
              </a:spcAft>
            </a:pPr>
            <a:r>
              <a:rPr sz="1700">
                <a:solidFill>
                  <a:srgbClr val="222B33"/>
                </a:solidFill>
                <a:latin typeface="Microsoft YaHei"/>
              </a:rPr>
              <a:t>▪ 层高够检修，灯和过滤器从上面换</a:t>
            </a:r>
          </a:p>
          <a:p>
            <a:pPr>
              <a:spcAft>
                <a:spcPts val="1000"/>
              </a:spcAft>
            </a:pPr>
            <a:r>
              <a:rPr sz="1700">
                <a:solidFill>
                  <a:srgbClr val="222B33"/>
                </a:solidFill>
                <a:latin typeface="Microsoft YaHei"/>
              </a:rPr>
              <a:t>▪ 设备层不是参观区，未经允许不进入</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防护设施上方的一层叫设备层（机械层），全楼的供暖、通风和空调都从这里统一控制：空气处理机组、风机、过滤器和电气控制柜都装在这里；一排排控制柜管着电机和压缩机，由电脑统一指挥；压缩机让供给实验室的水和压缩空气保持压力稳定。</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好奇进入设备层参观、触碰设备</a:t>
            </a:r>
          </a:p>
          <a:p>
            <a:pPr>
              <a:spcAft>
                <a:spcPts val="1000"/>
              </a:spcAft>
            </a:pPr>
            <a:r>
              <a:rPr sz="1500">
                <a:solidFill>
                  <a:srgbClr val="222B33"/>
                </a:solidFill>
                <a:latin typeface="Microsoft YaHei"/>
              </a:rPr>
              <a:t>▪ 设备维修不停机、不上锁挂牌</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进排风都过滤，排风高空排放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进楼的空气先过高效过滤器</a:t>
            </a:r>
          </a:p>
          <a:p>
            <a:pPr>
              <a:spcAft>
                <a:spcPts val="1000"/>
              </a:spcAft>
            </a:pPr>
            <a:r>
              <a:rPr sz="1700">
                <a:solidFill>
                  <a:srgbClr val="222B33"/>
                </a:solidFill>
                <a:latin typeface="Microsoft YaHei"/>
              </a:rPr>
              <a:t>▪ 高等级实验室排风也要过滤，两头把关</a:t>
            </a:r>
          </a:p>
          <a:p>
            <a:pPr>
              <a:spcAft>
                <a:spcPts val="1000"/>
              </a:spcAft>
            </a:pPr>
            <a:r>
              <a:rPr sz="1700">
                <a:solidFill>
                  <a:srgbClr val="222B33"/>
                </a:solidFill>
                <a:latin typeface="Microsoft YaHei"/>
              </a:rPr>
              <a:t>▪ 每个房间各有过滤器，风阀把气流配平</a:t>
            </a:r>
          </a:p>
          <a:p>
            <a:pPr>
              <a:spcAft>
                <a:spcPts val="1000"/>
              </a:spcAft>
            </a:pPr>
            <a:r>
              <a:rPr sz="1700">
                <a:solidFill>
                  <a:srgbClr val="222B33"/>
                </a:solidFill>
                <a:latin typeface="Microsoft YaHei"/>
              </a:rPr>
              <a:t>▪ 屋顶风机把排风送向高空扩散</a:t>
            </a:r>
          </a:p>
          <a:p>
            <a:pPr>
              <a:spcAft>
                <a:spcPts val="1000"/>
              </a:spcAft>
            </a:pPr>
            <a:r>
              <a:rPr sz="1700">
                <a:solidFill>
                  <a:srgbClr val="222B33"/>
                </a:solidFill>
                <a:latin typeface="Microsoft YaHei"/>
              </a:rPr>
              <a:t>▪ 除病原靠过滤，高空排放只是加保险</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空气处理机组里装有高效过滤器，进楼的空气都先过这一道；过滤段设有检修门，定期检查、维护，到期更换过滤模块。高等级实验室进来的空气要过滤，出去的空气也要过滤，两头把关；送风过滤保护人员和实验，排风过滤保护环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认为排风“排得高就安全”，可以不过滤</a:t>
            </a:r>
          </a:p>
          <a:p>
            <a:pPr>
              <a:spcAft>
                <a:spcPts val="1000"/>
              </a:spcAft>
            </a:pPr>
            <a:r>
              <a:rPr sz="1500">
                <a:solidFill>
                  <a:srgbClr val="222B33"/>
                </a:solidFill>
                <a:latin typeface="Microsoft YaHei"/>
              </a:rPr>
              <a:t>▪ 使用者自行调节风阀或风量</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控制与监测集中管理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全楼设备由电脑集中控制和监测</a:t>
            </a:r>
          </a:p>
          <a:p>
            <a:pPr>
              <a:spcAft>
                <a:spcPts val="1000"/>
              </a:spcAft>
            </a:pPr>
            <a:r>
              <a:rPr sz="2000">
                <a:solidFill>
                  <a:srgbClr val="222B33"/>
                </a:solidFill>
                <a:latin typeface="Microsoft YaHei"/>
              </a:rPr>
              <a:t>▪ 温湿度、气流、门锁在控制区一处管理</a:t>
            </a:r>
          </a:p>
          <a:p>
            <a:pPr>
              <a:spcAft>
                <a:spcPts val="1000"/>
              </a:spcAft>
            </a:pPr>
            <a:r>
              <a:rPr sz="2000">
                <a:solidFill>
                  <a:srgbClr val="222B33"/>
                </a:solidFill>
                <a:latin typeface="Microsoft YaHei"/>
              </a:rPr>
              <a:t>▪ 压差表是监测的关键</a:t>
            </a:r>
          </a:p>
          <a:p>
            <a:pPr>
              <a:spcAft>
                <a:spcPts val="1000"/>
              </a:spcAft>
            </a:pPr>
            <a:r>
              <a:rPr sz="2000">
                <a:solidFill>
                  <a:srgbClr val="222B33"/>
                </a:solidFill>
                <a:latin typeface="Microsoft YaHei"/>
              </a:rPr>
              <a:t>▪ 防护失效时报警，系统按设计停机</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防护设施的加热、制冷、湿度、通风等由电子系统集中控制和监测，哪台设备在运转、是否正常，在控制区一看就知道；监控、气流、门锁等也在控制区集中管理。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报警时关掉报警器继续实验</a:t>
            </a:r>
          </a:p>
          <a:p>
            <a:pPr>
              <a:spcAft>
                <a:spcPts val="1000"/>
              </a:spcAft>
            </a:pPr>
            <a:r>
              <a:rPr sz="1500">
                <a:solidFill>
                  <a:srgbClr val="222B33"/>
                </a:solidFill>
                <a:latin typeface="Microsoft YaHei"/>
              </a:rPr>
              <a:t>▪ 使用者私自修改控制系统设定</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污水与废物：出去之前先去污</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从设施出去的一切都要先去污</a:t>
            </a:r>
          </a:p>
          <a:p>
            <a:pPr>
              <a:spcAft>
                <a:spcPts val="1000"/>
              </a:spcAft>
            </a:pPr>
            <a:r>
              <a:rPr sz="1700">
                <a:solidFill>
                  <a:srgbClr val="222B33"/>
                </a:solidFill>
                <a:latin typeface="Microsoft YaHei"/>
              </a:rPr>
              <a:t>▪ 淋浴、洗手、灭菌器废水先进暂存罐</a:t>
            </a:r>
          </a:p>
          <a:p>
            <a:pPr>
              <a:spcAft>
                <a:spcPts val="1000"/>
              </a:spcAft>
            </a:pPr>
            <a:r>
              <a:rPr sz="1700">
                <a:solidFill>
                  <a:srgbClr val="222B33"/>
                </a:solidFill>
                <a:latin typeface="Microsoft YaHei"/>
              </a:rPr>
              <a:t>▪ 再消毒、中和，全程监测，合格才排</a:t>
            </a:r>
          </a:p>
          <a:p>
            <a:pPr>
              <a:spcAft>
                <a:spcPts val="1000"/>
              </a:spcAft>
            </a:pPr>
            <a:r>
              <a:rPr sz="1700">
                <a:solidFill>
                  <a:srgbClr val="222B33"/>
                </a:solidFill>
                <a:latin typeface="Microsoft YaHei"/>
              </a:rPr>
              <a:t>▪ 污水不能直接进市政管网</a:t>
            </a:r>
          </a:p>
          <a:p>
            <a:pPr>
              <a:spcAft>
                <a:spcPts val="1000"/>
              </a:spcAft>
            </a:pPr>
            <a:r>
              <a:rPr sz="1700">
                <a:solidFill>
                  <a:srgbClr val="222B33"/>
                </a:solidFill>
                <a:latin typeface="Microsoft YaHei"/>
              </a:rPr>
              <a:t>▪ 固体废物先灭菌，再按规定处置</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从防护设施出去的一切都要去污，连水槽流下的废水也不例外。较高等级设施的淋浴、洗手、灭菌器排水先进暂存罐，再进消毒罐（消毒方法和接触时间按规程确定），中和后才排放；全程监测，留好记录。污水不能直接接入市政管网，要另设管……</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把含病原的废液直接倒入水槽</a:t>
            </a:r>
          </a:p>
          <a:p>
            <a:pPr>
              <a:spcAft>
                <a:spcPts val="1000"/>
              </a:spcAft>
            </a:pPr>
            <a:r>
              <a:rPr sz="1500">
                <a:solidFill>
                  <a:srgbClr val="222B33"/>
                </a:solidFill>
                <a:latin typeface="Microsoft YaHei"/>
              </a:rPr>
              <a:t>▪ 未经灭菌的废物混入生活垃圾</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先算账：建得起，也要养得起</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动笔设计之前，先把钱算清楚</a:t>
            </a:r>
          </a:p>
          <a:p>
            <a:pPr>
              <a:spcAft>
                <a:spcPts val="1000"/>
              </a:spcAft>
            </a:pPr>
            <a:r>
              <a:rPr sz="1700">
                <a:solidFill>
                  <a:srgbClr val="222B33"/>
                </a:solidFill>
                <a:latin typeface="Microsoft YaHei"/>
              </a:rPr>
              <a:t>▪ 钱分两块：建设费和运行费</a:t>
            </a:r>
          </a:p>
          <a:p>
            <a:pPr>
              <a:spcAft>
                <a:spcPts val="1000"/>
              </a:spcAft>
            </a:pPr>
            <a:r>
              <a:rPr sz="1700">
                <a:solidFill>
                  <a:srgbClr val="222B33"/>
                </a:solidFill>
                <a:latin typeface="Microsoft YaHei"/>
              </a:rPr>
              <a:t>▪ 运行费会摊到每一次实验里</a:t>
            </a:r>
          </a:p>
          <a:p>
            <a:pPr>
              <a:spcAft>
                <a:spcPts val="1000"/>
              </a:spcAft>
            </a:pPr>
            <a:r>
              <a:rPr sz="1700">
                <a:solidFill>
                  <a:srgbClr val="222B33"/>
                </a:solidFill>
                <a:latin typeface="Microsoft YaHei"/>
              </a:rPr>
              <a:t>▪ 建得起养不起，安全就打折扣</a:t>
            </a:r>
          </a:p>
          <a:p>
            <a:pPr>
              <a:spcAft>
                <a:spcPts val="1000"/>
              </a:spcAft>
            </a:pPr>
            <a:r>
              <a:rPr sz="1700">
                <a:solidFill>
                  <a:srgbClr val="222B33"/>
                </a:solidFill>
                <a:latin typeface="Microsoft YaHei"/>
              </a:rPr>
              <a:t>▪ 成本是设计要考虑的事项之一</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建封闭设施投入很大，决定建实验室、动笔设计之前，先要算清楚账。钱分两块：建设费和运行费。运行费（能耗、过滤器更换、检测、维修、人员）每年都有，会摊到每一次实验里。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只争取建设经费，不落实运行维护经费</a:t>
            </a:r>
          </a:p>
          <a:p>
            <a:pPr>
              <a:spcAft>
                <a:spcPts val="1000"/>
              </a:spcAft>
            </a:pPr>
            <a:r>
              <a:rPr sz="1500">
                <a:solidFill>
                  <a:srgbClr val="222B33"/>
                </a:solidFill>
                <a:latin typeface="Microsoft YaHei"/>
              </a:rPr>
              <a:t>▪ 为省钱推迟过滤器更换和设备检测</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选址：避开风险，保障支援</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避开自然灾害多发地和人口稠密区</a:t>
            </a:r>
          </a:p>
          <a:p>
            <a:pPr>
              <a:spcAft>
                <a:spcPts val="1000"/>
              </a:spcAft>
            </a:pPr>
            <a:r>
              <a:rPr sz="1700">
                <a:solidFill>
                  <a:srgbClr val="222B33"/>
                </a:solidFill>
                <a:latin typeface="Microsoft YaHei"/>
              </a:rPr>
              <a:t>▪ 水电供应要有保障</a:t>
            </a:r>
          </a:p>
          <a:p>
            <a:pPr>
              <a:spcAft>
                <a:spcPts val="1000"/>
              </a:spcAft>
            </a:pPr>
            <a:r>
              <a:rPr sz="1700">
                <a:solidFill>
                  <a:srgbClr val="222B33"/>
                </a:solidFill>
                <a:latin typeface="Microsoft YaHei"/>
              </a:rPr>
              <a:t>▪ 应急队伍能及时赶到</a:t>
            </a:r>
          </a:p>
          <a:p>
            <a:pPr>
              <a:spcAft>
                <a:spcPts val="1000"/>
              </a:spcAft>
            </a:pPr>
            <a:r>
              <a:rPr sz="1700">
                <a:solidFill>
                  <a:srgbClr val="222B33"/>
                </a:solidFill>
                <a:latin typeface="Microsoft YaHei"/>
              </a:rPr>
              <a:t>▪ 周边环境稳定安全</a:t>
            </a:r>
          </a:p>
          <a:p>
            <a:pPr>
              <a:spcAft>
                <a:spcPts val="1000"/>
              </a:spcAft>
            </a:pPr>
            <a:r>
              <a:rPr sz="1700">
                <a:solidFill>
                  <a:srgbClr val="222B33"/>
                </a:solidFill>
                <a:latin typeface="Microsoft YaHei"/>
              </a:rPr>
              <a:t>▪ 植物封闭设施不紧挨农田</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高等级实验室选址有讲究：避开地震、洪水等自然灾害多发地，避开人口稠密区；水电供应要有保障；发生事故时应急处置队伍能及时赶到；周边社会环境稳定安全。具体选址要求以 GB 19489-2008、GB 50346 等现行标……</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为了方便把高等级实验室设在人员密集的教学楼中</a:t>
            </a:r>
          </a:p>
          <a:p>
            <a:pPr>
              <a:spcAft>
                <a:spcPts val="1000"/>
              </a:spcAft>
            </a:pPr>
            <a:r>
              <a:rPr sz="1500">
                <a:solidFill>
                  <a:srgbClr val="222B33"/>
                </a:solidFill>
                <a:latin typeface="Microsoft YaHei"/>
              </a:rPr>
              <a:t>▪ 忽视停水停电和应急支援条件</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布局：相邻集中，分区分流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防护实验室相邻集中，管道省、漏了不蔓延</a:t>
            </a:r>
          </a:p>
          <a:p>
            <a:pPr>
              <a:spcAft>
                <a:spcPts val="1000"/>
              </a:spcAft>
            </a:pPr>
            <a:r>
              <a:rPr sz="1700">
                <a:solidFill>
                  <a:srgbClr val="222B33"/>
                </a:solidFill>
                <a:latin typeface="Microsoft YaHei"/>
              </a:rPr>
              <a:t>▪ 相邻布置，通风系统才经济</a:t>
            </a:r>
          </a:p>
          <a:p>
            <a:pPr>
              <a:spcAft>
                <a:spcPts val="1000"/>
              </a:spcAft>
            </a:pPr>
            <a:r>
              <a:rPr sz="1700">
                <a:solidFill>
                  <a:srgbClr val="222B33"/>
                </a:solidFill>
                <a:latin typeface="Microsoft YaHei"/>
              </a:rPr>
              <a:t>▪ 区域按清洁到污染分级，人物按路线走</a:t>
            </a:r>
          </a:p>
          <a:p>
            <a:pPr>
              <a:spcAft>
                <a:spcPts val="1000"/>
              </a:spcAft>
            </a:pPr>
            <a:r>
              <a:rPr sz="1700">
                <a:solidFill>
                  <a:srgbClr val="222B33"/>
                </a:solidFill>
                <a:latin typeface="Microsoft YaHei"/>
              </a:rPr>
              <a:t>▪ 暂存、培养基制备、遗传操作各有分区</a:t>
            </a:r>
          </a:p>
          <a:p>
            <a:pPr>
              <a:spcAft>
                <a:spcPts val="1000"/>
              </a:spcAft>
            </a:pPr>
            <a:r>
              <a:rPr sz="1700">
                <a:solidFill>
                  <a:srgbClr val="222B33"/>
                </a:solidFill>
                <a:latin typeface="Microsoft YaHei"/>
              </a:rPr>
              <a:t>▪ 进设施的土壤和培养基先蒸汽灭菌</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就像住宅把卫生间集中在一处，管道省，漏了也不会到处蔓延；防护实验室相邻集中布置，通风和管道系统才经济、好管理。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人流和物流共用一条路线、来回穿行</a:t>
            </a:r>
          </a:p>
          <a:p>
            <a:pPr>
              <a:spcAft>
                <a:spcPts val="1000"/>
              </a:spcAft>
            </a:pPr>
            <a:r>
              <a:rPr sz="1500">
                <a:solidFill>
                  <a:srgbClr val="222B33"/>
                </a:solidFill>
                <a:latin typeface="Microsoft YaHei"/>
              </a:rPr>
              <a:t>▪ 未经处理的土壤、培养基直接带入设施</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出入口缓冲间与穿墙灭菌器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出入口是缓冲间，两道门不同时开</a:t>
            </a:r>
          </a:p>
          <a:p>
            <a:pPr>
              <a:spcAft>
                <a:spcPts val="1000"/>
              </a:spcAft>
            </a:pPr>
            <a:r>
              <a:rPr sz="1700">
                <a:solidFill>
                  <a:srgbClr val="222B33"/>
                </a:solidFill>
                <a:latin typeface="Microsoft YaHei"/>
              </a:rPr>
              <a:t>▪ 先关外门再开内门，空气往里流</a:t>
            </a:r>
          </a:p>
          <a:p>
            <a:pPr>
              <a:spcAft>
                <a:spcPts val="1000"/>
              </a:spcAft>
            </a:pPr>
            <a:r>
              <a:rPr sz="1700">
                <a:solidFill>
                  <a:srgbClr val="222B33"/>
                </a:solidFill>
                <a:latin typeface="Microsoft YaHei"/>
              </a:rPr>
              <a:t>▪ 灭菌器嵌在墙里，两边开门</a:t>
            </a:r>
          </a:p>
          <a:p>
            <a:pPr>
              <a:spcAft>
                <a:spcPts val="1000"/>
              </a:spcAft>
            </a:pPr>
            <a:r>
              <a:rPr sz="1700">
                <a:solidFill>
                  <a:srgbClr val="222B33"/>
                </a:solidFill>
                <a:latin typeface="Microsoft YaHei"/>
              </a:rPr>
              <a:t>▪ 出去的材料、衣物都灭菌后才出去</a:t>
            </a:r>
          </a:p>
          <a:p>
            <a:pPr>
              <a:spcAft>
                <a:spcPts val="1000"/>
              </a:spcAft>
            </a:pPr>
            <a:r>
              <a:rPr sz="1700">
                <a:solidFill>
                  <a:srgbClr val="222B33"/>
                </a:solidFill>
                <a:latin typeface="Microsoft YaHei"/>
              </a:rPr>
              <a:t>▪ 未批准放行的材料，按规程销毁</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设施的出入口是有两道门的缓冲间：先关外门，再开内门，两道门不同时开；开内门时空气往里流，不往外跑（缓冲间压力设计以本设施说明为准，见第 062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缓冲间两道门同时打开搬运物品</a:t>
            </a:r>
          </a:p>
          <a:p>
            <a:pPr>
              <a:spcAft>
                <a:spcPts val="1000"/>
              </a:spcAft>
            </a:pPr>
            <a:r>
              <a:rPr sz="1500">
                <a:solidFill>
                  <a:srgbClr val="222B33"/>
                </a:solidFill>
                <a:latin typeface="Microsoft YaHei"/>
              </a:rPr>
              <a:t>▪ 未经灭菌把材料或工作服从防护区带出</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结构和材料要经得住</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负压设施的墙、玻璃、密封要结实</a:t>
            </a:r>
          </a:p>
          <a:p>
            <a:pPr>
              <a:spcAft>
                <a:spcPts val="1000"/>
              </a:spcAft>
            </a:pPr>
            <a:r>
              <a:rPr sz="2000">
                <a:solidFill>
                  <a:srgbClr val="222B33"/>
                </a:solidFill>
                <a:latin typeface="Microsoft YaHei"/>
              </a:rPr>
              <a:t>▪ 风机故障、负压过大可能撑破玻璃</a:t>
            </a:r>
          </a:p>
          <a:p>
            <a:pPr>
              <a:spcAft>
                <a:spcPts val="1000"/>
              </a:spcAft>
            </a:pPr>
            <a:r>
              <a:rPr sz="2000">
                <a:solidFill>
                  <a:srgbClr val="222B33"/>
                </a:solidFill>
                <a:latin typeface="Microsoft YaHei"/>
              </a:rPr>
              <a:t>▪ 要熏蒸消毒，材料须耐湿耐腐蚀、易清洁</a:t>
            </a:r>
          </a:p>
          <a:p>
            <a:pPr>
              <a:spcAft>
                <a:spcPts val="1000"/>
              </a:spcAft>
            </a:pPr>
            <a:r>
              <a:rPr sz="2000">
                <a:solidFill>
                  <a:srgbClr val="222B33"/>
                </a:solidFill>
                <a:latin typeface="Microsoft YaHei"/>
              </a:rPr>
              <a:t>▪ 植物设施的采光要看当地气候</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负压设施要让空气稳定地往里流，墙体、观察窗玻璃和密封都要足够结实；风机出故障时负压可能过大，结构不够会撑破玻璃，所以设计时要有相应的保护和联锁。</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在负压实验室墙面随意打孔、钉挂物品</a:t>
            </a:r>
          </a:p>
          <a:p>
            <a:pPr>
              <a:spcAft>
                <a:spcPts val="1000"/>
              </a:spcAft>
            </a:pPr>
            <a:r>
              <a:rPr sz="1500">
                <a:solidFill>
                  <a:srgbClr val="222B33"/>
                </a:solidFill>
                <a:latin typeface="Microsoft YaHei"/>
              </a:rPr>
              <a:t>▪ 熏蒸消毒后未经确认就进入房间</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设计时就考虑物理安保</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安保要在设计时就考虑进去</a:t>
            </a:r>
          </a:p>
          <a:p>
            <a:pPr>
              <a:spcAft>
                <a:spcPts val="1000"/>
              </a:spcAft>
            </a:pPr>
            <a:r>
              <a:rPr sz="2000">
                <a:solidFill>
                  <a:srgbClr val="222B33"/>
                </a:solidFill>
                <a:latin typeface="Microsoft YaHei"/>
              </a:rPr>
              <a:t>▪ 门禁和监控管住人员进出</a:t>
            </a:r>
          </a:p>
          <a:p>
            <a:pPr>
              <a:spcAft>
                <a:spcPts val="1000"/>
              </a:spcAft>
            </a:pPr>
            <a:r>
              <a:rPr sz="2000">
                <a:solidFill>
                  <a:srgbClr val="222B33"/>
                </a:solidFill>
                <a:latin typeface="Microsoft YaHei"/>
              </a:rPr>
              <a:t>▪ 防止材料被盗、被私自扩繁</a:t>
            </a:r>
          </a:p>
          <a:p>
            <a:pPr>
              <a:spcAft>
                <a:spcPts val="1000"/>
              </a:spcAft>
            </a:pPr>
            <a:r>
              <a:rPr sz="2000">
                <a:solidFill>
                  <a:srgbClr val="222B33"/>
                </a:solidFill>
                <a:latin typeface="Microsoft YaHei"/>
              </a:rPr>
              <a:t>▪ 数据和资料也要加密管好</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生物安保要在设计时就考虑进去，事后补救既贵又难。门禁、监控等物理安保措施管住人员进出，防止病原材料被盗、被私自扩繁或带出；实验数据和资料也要加密、分级管理。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把门禁卡借给他人或让他人尾随进入</a:t>
            </a:r>
          </a:p>
          <a:p>
            <a:pPr>
              <a:spcAft>
                <a:spcPts val="1000"/>
              </a:spcAft>
            </a:pPr>
            <a:r>
              <a:rPr sz="1500">
                <a:solidFill>
                  <a:srgbClr val="222B33"/>
                </a:solidFill>
                <a:latin typeface="Microsoft YaHei"/>
              </a:rPr>
              <a:t>▪ 在网上发布实验室布局和安保设施照片</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需求、设计、施工、认可四步走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第一步：定需求和预算，量力而行</a:t>
            </a:r>
          </a:p>
          <a:p>
            <a:pPr>
              <a:spcAft>
                <a:spcPts val="1000"/>
              </a:spcAft>
            </a:pPr>
            <a:r>
              <a:rPr sz="1700">
                <a:solidFill>
                  <a:srgbClr val="222B33"/>
                </a:solidFill>
                <a:latin typeface="Microsoft YaHei"/>
              </a:rPr>
              <a:t>▪ 第二步：初步设计，对照建筑消防等标准查合规</a:t>
            </a:r>
          </a:p>
          <a:p>
            <a:pPr>
              <a:spcAft>
                <a:spcPts val="1000"/>
              </a:spcAft>
            </a:pPr>
            <a:r>
              <a:rPr sz="1700">
                <a:solidFill>
                  <a:srgbClr val="222B33"/>
                </a:solidFill>
                <a:latin typeface="Microsoft YaHei"/>
              </a:rPr>
              <a:t>▪ 第三步：施工中改动要马上告诉工程师</a:t>
            </a:r>
          </a:p>
          <a:p>
            <a:pPr>
              <a:spcAft>
                <a:spcPts val="1000"/>
              </a:spcAft>
            </a:pPr>
            <a:r>
              <a:rPr sz="1700">
                <a:solidFill>
                  <a:srgbClr val="222B33"/>
                </a:solidFill>
                <a:latin typeface="Microsoft YaHei"/>
              </a:rPr>
              <a:t>▪ 第四步：验收认可，没通过不能开展实验</a:t>
            </a:r>
          </a:p>
          <a:p>
            <a:pPr>
              <a:spcAft>
                <a:spcPts val="1000"/>
              </a:spcAft>
            </a:pPr>
            <a:r>
              <a:rPr sz="1700">
                <a:solidFill>
                  <a:srgbClr val="222B33"/>
                </a:solidFill>
                <a:latin typeface="Microsoft YaHei"/>
              </a:rPr>
              <a:t>▪ 一二级备案，三四级审批并通过国家认可</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建设一般分四步。第一步，需求和预算：按实际需要确定规模，预算有限不要贪大，并考虑每年的维护费。第二步，初步设计：对照建筑规范、消防疏散和生物安全标准（GB 19489-2008、GB 50346 等）逐项查合规。第三……</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施工中随意增加隔墙或改变管线而不告知设计方</a:t>
            </a:r>
          </a:p>
          <a:p>
            <a:pPr>
              <a:spcAft>
                <a:spcPts val="1000"/>
              </a:spcAft>
            </a:pPr>
            <a:r>
              <a:rPr sz="1500">
                <a:solidFill>
                  <a:srgbClr val="222B33"/>
                </a:solidFill>
                <a:latin typeface="Microsoft YaHei"/>
              </a:rPr>
              <a:t>▪ 实验室刚装修完就开始做病原实验</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使用者和生物安全员参与建设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工程师懂结构，研究者懂生物，管理者协调</a:t>
            </a:r>
          </a:p>
          <a:p>
            <a:pPr>
              <a:spcAft>
                <a:spcPts val="1000"/>
              </a:spcAft>
            </a:pPr>
            <a:r>
              <a:rPr sz="1700">
                <a:solidFill>
                  <a:srgbClr val="222B33"/>
                </a:solidFill>
                <a:latin typeface="Microsoft YaHei"/>
              </a:rPr>
              <a:t>▪ 生物安全员要看懂图纸、懂通风空调</a:t>
            </a:r>
          </a:p>
          <a:p>
            <a:pPr>
              <a:spcAft>
                <a:spcPts val="1000"/>
              </a:spcAft>
            </a:pPr>
            <a:r>
              <a:rPr sz="1700">
                <a:solidFill>
                  <a:srgbClr val="222B33"/>
                </a:solidFill>
                <a:latin typeface="Microsoft YaHei"/>
              </a:rPr>
              <a:t>▪ 从建造、验收、维护到停用都参与</a:t>
            </a:r>
          </a:p>
          <a:p>
            <a:pPr>
              <a:spcAft>
                <a:spcPts val="1000"/>
              </a:spcAft>
            </a:pPr>
            <a:r>
              <a:rPr sz="1700">
                <a:solidFill>
                  <a:srgbClr val="222B33"/>
                </a:solidFill>
                <a:latin typeface="Microsoft YaHei"/>
              </a:rPr>
              <a:t>▪ 代表单位与设计方、主管部门沟通</a:t>
            </a:r>
          </a:p>
          <a:p>
            <a:pPr>
              <a:spcAft>
                <a:spcPts val="1000"/>
              </a:spcAft>
            </a:pPr>
            <a:r>
              <a:rPr sz="1700">
                <a:solidFill>
                  <a:srgbClr val="222B33"/>
                </a:solidFill>
                <a:latin typeface="Microsoft YaHei"/>
              </a:rPr>
              <a:t>▪ 使用者在关键阶段参与</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设施设计要多方合作：工程师懂结构，研究者懂生物，管理者居中协调，让设施既满足工程要求又满足实验需要，并符合生物安全法规和标准。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设计全部交给施工方，使用者和安全员到验收时才看</a:t>
            </a:r>
          </a:p>
          <a:p>
            <a:pPr>
              <a:spcAft>
                <a:spcPts val="1000"/>
              </a:spcAft>
            </a:pPr>
            <a:r>
              <a:rPr sz="1500">
                <a:solidFill>
                  <a:srgbClr val="222B33"/>
                </a:solidFill>
                <a:latin typeface="Microsoft YaHei"/>
              </a:rPr>
              <a:t>▪ 生物安全员只管制度，不了解设施</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运行维护：过滤器和关键设备定期检测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安全柜、灭菌器、过滤器、负压要定期检测</a:t>
            </a:r>
          </a:p>
          <a:p>
            <a:pPr>
              <a:spcAft>
                <a:spcPts val="1000"/>
              </a:spcAft>
            </a:pPr>
            <a:r>
              <a:rPr sz="1700">
                <a:solidFill>
                  <a:srgbClr val="222B33"/>
                </a:solidFill>
                <a:latin typeface="Microsoft YaHei"/>
              </a:rPr>
              <a:t>▪ 用前看一眼检测标识是否在有效期内</a:t>
            </a:r>
          </a:p>
          <a:p>
            <a:pPr>
              <a:spcAft>
                <a:spcPts val="1000"/>
              </a:spcAft>
            </a:pPr>
            <a:r>
              <a:rPr sz="1700">
                <a:solidFill>
                  <a:srgbClr val="222B33"/>
                </a:solidFill>
                <a:latin typeface="Microsoft YaHei"/>
              </a:rPr>
              <a:t>▪ 过期未检或检测不合格，停用</a:t>
            </a:r>
          </a:p>
          <a:p>
            <a:pPr>
              <a:spcAft>
                <a:spcPts val="1000"/>
              </a:spcAft>
            </a:pPr>
            <a:r>
              <a:rPr sz="1700">
                <a:solidFill>
                  <a:srgbClr val="222B33"/>
                </a:solidFill>
                <a:latin typeface="Microsoft YaHei"/>
              </a:rPr>
              <a:t>▪ 换过滤器先原位消毒，专人装袋更换</a:t>
            </a:r>
          </a:p>
          <a:p>
            <a:pPr>
              <a:spcAft>
                <a:spcPts val="1000"/>
              </a:spcAft>
            </a:pPr>
            <a:r>
              <a:rPr sz="1700">
                <a:solidFill>
                  <a:srgbClr val="222B33"/>
                </a:solidFill>
                <a:latin typeface="Microsoft YaHei"/>
              </a:rPr>
              <a:t>▪ 装好检漏合格才能用，学生不碰过滤箱</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控制措施装好了还要常维护。生物安全柜、高压灭菌器要按期检测、校准，排风过滤器、压差和定向气流要定期检测验证；维护和检测都要留记录，坏了及时修。使用前看一眼设备上的检测标识是否在有效期内；过期未检或检测不合格的设备挂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使用检测过期的生物安全柜</a:t>
            </a:r>
          </a:p>
          <a:p>
            <a:pPr>
              <a:spcAft>
                <a:spcPts val="1000"/>
              </a:spcAft>
            </a:pPr>
            <a:r>
              <a:rPr sz="1500">
                <a:solidFill>
                  <a:srgbClr val="222B33"/>
                </a:solidFill>
                <a:latin typeface="Microsoft YaHei"/>
              </a:rPr>
              <a:t>▪ 非专业人员自行打开过滤箱或更换过滤器</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认可有期限，变化要重新评审</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认可和备案不是一劳永逸</a:t>
            </a:r>
          </a:p>
          <a:p>
            <a:pPr>
              <a:spcAft>
                <a:spcPts val="1000"/>
              </a:spcAft>
            </a:pPr>
            <a:r>
              <a:rPr sz="2000">
                <a:solidFill>
                  <a:srgbClr val="222B33"/>
                </a:solidFill>
                <a:latin typeface="Microsoft YaHei"/>
              </a:rPr>
              <a:t>▪ 要接受定期复评和监督检查</a:t>
            </a:r>
          </a:p>
          <a:p>
            <a:pPr>
              <a:spcAft>
                <a:spcPts val="1000"/>
              </a:spcAft>
            </a:pPr>
            <a:r>
              <a:rPr sz="2000">
                <a:solidFill>
                  <a:srgbClr val="222B33"/>
                </a:solidFill>
                <a:latin typeface="Microsoft YaHei"/>
              </a:rPr>
              <a:t>▪ 设施改动、条件变化，要重新评审</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实验室的认可和备案都不是一劳永逸的：认可有有效期，到期要复评，有效期内还要接受监督评审和主管部门的监督检查（具体周期以现行规定为准）。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认为一次通过认可就可以长期不管</a:t>
            </a:r>
          </a:p>
          <a:p>
            <a:pPr>
              <a:spcAft>
                <a:spcPts val="1000"/>
              </a:spcAft>
            </a:pPr>
            <a:r>
              <a:rPr sz="1500">
                <a:solidFill>
                  <a:srgbClr val="222B33"/>
                </a:solidFill>
                <a:latin typeface="Microsoft YaHei"/>
              </a:rPr>
              <a:t>▪ 改造房间或更换关键设备后不重新检测和评审</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停用搬迁：先去污，再验收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实验室停用、设备搬迁前先彻底去污</a:t>
            </a:r>
          </a:p>
          <a:p>
            <a:pPr>
              <a:spcAft>
                <a:spcPts val="1000"/>
              </a:spcAft>
            </a:pPr>
            <a:r>
              <a:rPr sz="2000">
                <a:solidFill>
                  <a:srgbClr val="222B33"/>
                </a:solidFill>
                <a:latin typeface="Microsoft YaHei"/>
              </a:rPr>
              <a:t>▪ 去污后验收合格并签字</a:t>
            </a:r>
          </a:p>
          <a:p>
            <a:pPr>
              <a:spcAft>
                <a:spcPts val="1000"/>
              </a:spcAft>
            </a:pPr>
            <a:r>
              <a:rPr sz="2000">
                <a:solidFill>
                  <a:srgbClr val="222B33"/>
                </a:solidFill>
                <a:latin typeface="Microsoft YaHei"/>
              </a:rPr>
              <a:t>▪ 合格后才能搬走、改用或报废</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实验室停用、设备搬走或维修之前，先由实验室按规程彻底去污（消毒灭菌），清点并妥善处置剩余的生物材料。</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未经去污直接把生物安全柜交给维修或搬家公司</a:t>
            </a:r>
          </a:p>
          <a:p>
            <a:pPr>
              <a:spcAft>
                <a:spcPts val="1000"/>
              </a:spcAft>
            </a:pPr>
            <a:r>
              <a:rPr sz="1500">
                <a:solidFill>
                  <a:srgbClr val="222B33"/>
                </a:solidFill>
                <a:latin typeface="Microsoft YaHei"/>
              </a:rPr>
              <a:t>▪ 实验室停用后遗留菌种、样本无人处置</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关于防护设施的设备层，正确的是：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设备层是参观区，可以随意进入</a:t>
            </a:r>
          </a:p>
          <a:p>
            <a:pPr algn="l"/>
            <a:r>
              <a:rPr sz="1500" b="0">
                <a:solidFill>
                  <a:srgbClr val="222B33"/>
                </a:solidFill>
                <a:latin typeface="Microsoft YaHei"/>
              </a:rPr>
              <a:t>B. 风机、过滤器和电控柜放在实验室上方，实验室里不放机械，便于密封清洁</a:t>
            </a:r>
          </a:p>
          <a:p>
            <a:pPr algn="l"/>
            <a:r>
              <a:rPr sz="1500" b="0">
                <a:solidFill>
                  <a:srgbClr val="222B33"/>
                </a:solidFill>
                <a:latin typeface="Microsoft YaHei"/>
              </a:rPr>
              <a:t>C. 过滤器应从实验室房间里拆换</a:t>
            </a:r>
          </a:p>
          <a:p>
            <a:pPr algn="l"/>
            <a:r>
              <a:rPr sz="1500" b="0">
                <a:solidFill>
                  <a:srgbClr val="222B33"/>
                </a:solidFill>
                <a:latin typeface="Microsoft YaHei"/>
              </a:rPr>
              <a:t>D. 维修设备层设备不需要断电</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判断：防护设施的排风只要由屋顶风机排到高空，就可以不经过滤。</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防护设施的废水处理，正确的是：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直接排入市政管网</a:t>
            </a:r>
          </a:p>
          <a:p>
            <a:pPr algn="l"/>
            <a:r>
              <a:rPr sz="1500" b="0">
                <a:solidFill>
                  <a:srgbClr val="222B33"/>
                </a:solidFill>
                <a:latin typeface="Microsoft YaHei"/>
              </a:rPr>
              <a:t>B. 先进暂存罐，再消毒、中和，监测合格后排放</a:t>
            </a:r>
          </a:p>
          <a:p>
            <a:pPr algn="l"/>
            <a:r>
              <a:rPr sz="1500" b="0">
                <a:solidFill>
                  <a:srgbClr val="222B33"/>
                </a:solidFill>
                <a:latin typeface="Microsoft YaHei"/>
              </a:rPr>
              <a:t>C. 只处理灭菌器的废水</a:t>
            </a:r>
          </a:p>
          <a:p>
            <a:pPr algn="l"/>
            <a:r>
              <a:rPr sz="1500" b="0">
                <a:solidFill>
                  <a:srgbClr val="222B33"/>
                </a:solidFill>
                <a:latin typeface="Microsoft YaHei"/>
              </a:rPr>
              <a:t>D. 洗手水不需要处理</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关于实验室建设与认可，正确的是：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施工中加隔墙不必告诉工程师</a:t>
            </a:r>
          </a:p>
          <a:p>
            <a:pPr algn="l"/>
            <a:r>
              <a:rPr sz="1500" b="0">
                <a:solidFill>
                  <a:srgbClr val="222B33"/>
                </a:solidFill>
                <a:latin typeface="Microsoft YaHei"/>
              </a:rPr>
              <a:t>B. 实验室装修完就可以开始做病原实验</a:t>
            </a:r>
          </a:p>
          <a:p>
            <a:pPr algn="l"/>
            <a:r>
              <a:rPr sz="1500" b="0">
                <a:solidFill>
                  <a:srgbClr val="222B33"/>
                </a:solidFill>
                <a:latin typeface="Microsoft YaHei"/>
              </a:rPr>
              <a:t>C. 三级、四级实验室须依法审批并通过国家认可，一级、二级实验室须备案</a:t>
            </a:r>
          </a:p>
          <a:p>
            <a:pPr algn="l"/>
            <a:r>
              <a:rPr sz="1500" b="0">
                <a:solidFill>
                  <a:srgbClr val="222B33"/>
                </a:solidFill>
                <a:latin typeface="Microsoft YaHei"/>
              </a:rPr>
              <a:t>D. 认可一次长期有效</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判断：生物安全柜检测标识已过期，但看起来运转正常，可以继续使用。</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简答：实验室停用、生物安全柜要搬迁时应怎么做？</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设施本身就是防护：工程控制</a:t>
            </a:r>
          </a:p>
          <a:p>
            <a:pPr>
              <a:spcAft>
                <a:spcPts val="800"/>
              </a:spcAft>
            </a:pPr>
            <a:r>
              <a:rPr sz="1500">
                <a:solidFill>
                  <a:srgbClr val="FFFFFF"/>
                </a:solidFill>
                <a:latin typeface="Microsoft YaHei"/>
              </a:rPr>
              <a:t>▪ K2  一座防护设施由什么组成</a:t>
            </a:r>
          </a:p>
          <a:p>
            <a:pPr>
              <a:spcAft>
                <a:spcPts val="800"/>
              </a:spcAft>
            </a:pPr>
            <a:r>
              <a:rPr sz="1500">
                <a:solidFill>
                  <a:srgbClr val="FFFFFF"/>
                </a:solidFill>
                <a:latin typeface="Microsoft YaHei"/>
              </a:rPr>
              <a:t>▪ K3  设备层：机器在上，实验室里不放</a:t>
            </a:r>
          </a:p>
          <a:p>
            <a:pPr>
              <a:spcAft>
                <a:spcPts val="800"/>
              </a:spcAft>
            </a:pPr>
            <a:r>
              <a:rPr sz="1500">
                <a:solidFill>
                  <a:srgbClr val="FFFFFF"/>
                </a:solidFill>
                <a:latin typeface="Microsoft YaHei"/>
              </a:rPr>
              <a:t>▪ K4  进排风都过滤，排风高空排放</a:t>
            </a:r>
          </a:p>
          <a:p>
            <a:pPr>
              <a:spcAft>
                <a:spcPts val="800"/>
              </a:spcAft>
            </a:pPr>
            <a:r>
              <a:rPr sz="1500">
                <a:solidFill>
                  <a:srgbClr val="FFFFFF"/>
                </a:solidFill>
                <a:latin typeface="Microsoft YaHei"/>
              </a:rPr>
              <a:t>▪ K5  控制与监测集中管理</a:t>
            </a:r>
          </a:p>
          <a:p>
            <a:pPr>
              <a:spcAft>
                <a:spcPts val="800"/>
              </a:spcAft>
            </a:pPr>
            <a:r>
              <a:rPr sz="1500">
                <a:solidFill>
                  <a:srgbClr val="FFFFFF"/>
                </a:solidFill>
                <a:latin typeface="Microsoft YaHei"/>
              </a:rPr>
              <a:t>▪ K6  污水与废物：出去之前先去污</a:t>
            </a:r>
          </a:p>
          <a:p>
            <a:pPr>
              <a:spcAft>
                <a:spcPts val="800"/>
              </a:spcAft>
            </a:pPr>
            <a:r>
              <a:rPr sz="1500">
                <a:solidFill>
                  <a:srgbClr val="FFFFFF"/>
                </a:solidFill>
                <a:latin typeface="Microsoft YaHei"/>
              </a:rPr>
              <a:t>▪ K7  先算账：建得起，也要养得起</a:t>
            </a:r>
          </a:p>
          <a:p>
            <a:pPr>
              <a:spcAft>
                <a:spcPts val="800"/>
              </a:spcAft>
            </a:pPr>
            <a:r>
              <a:rPr sz="1500">
                <a:solidFill>
                  <a:srgbClr val="FFFFFF"/>
                </a:solidFill>
                <a:latin typeface="Microsoft YaHei"/>
              </a:rPr>
              <a:t>▪ K8  选址：避开风险，保障支援</a:t>
            </a:r>
          </a:p>
          <a:p>
            <a:pPr>
              <a:spcAft>
                <a:spcPts val="800"/>
              </a:spcAft>
            </a:pPr>
            <a:r>
              <a:rPr sz="1500">
                <a:solidFill>
                  <a:srgbClr val="FFFFFF"/>
                </a:solidFill>
                <a:latin typeface="Microsoft YaHei"/>
              </a:rPr>
              <a:t>▪ K9  布局：相邻集中，分区分流</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K10  出入口缓冲间与穿墙灭菌器</a:t>
            </a:r>
          </a:p>
          <a:p>
            <a:pPr>
              <a:spcAft>
                <a:spcPts val="800"/>
              </a:spcAft>
            </a:pPr>
            <a:r>
              <a:rPr sz="1500">
                <a:solidFill>
                  <a:srgbClr val="FFFFFF"/>
                </a:solidFill>
                <a:latin typeface="Microsoft YaHei"/>
              </a:rPr>
              <a:t>▪ K11  结构和材料要经得住</a:t>
            </a:r>
          </a:p>
          <a:p>
            <a:pPr>
              <a:spcAft>
                <a:spcPts val="800"/>
              </a:spcAft>
            </a:pPr>
            <a:r>
              <a:rPr sz="1500">
                <a:solidFill>
                  <a:srgbClr val="FFFFFF"/>
                </a:solidFill>
                <a:latin typeface="Microsoft YaHei"/>
              </a:rPr>
              <a:t>▪ K12  设计时就考虑物理安保</a:t>
            </a:r>
          </a:p>
          <a:p>
            <a:pPr>
              <a:spcAft>
                <a:spcPts val="800"/>
              </a:spcAft>
            </a:pPr>
            <a:r>
              <a:rPr sz="1500">
                <a:solidFill>
                  <a:srgbClr val="FFFFFF"/>
                </a:solidFill>
                <a:latin typeface="Microsoft YaHei"/>
              </a:rPr>
              <a:t>▪ K13  需求、设计、施工、认可四步走</a:t>
            </a:r>
          </a:p>
          <a:p>
            <a:pPr>
              <a:spcAft>
                <a:spcPts val="800"/>
              </a:spcAft>
            </a:pPr>
            <a:r>
              <a:rPr sz="1500">
                <a:solidFill>
                  <a:srgbClr val="FFFFFF"/>
                </a:solidFill>
                <a:latin typeface="Microsoft YaHei"/>
              </a:rPr>
              <a:t>▪ K14  使用者和生物安全员参与建设</a:t>
            </a:r>
          </a:p>
          <a:p>
            <a:pPr>
              <a:spcAft>
                <a:spcPts val="800"/>
              </a:spcAft>
            </a:pPr>
            <a:r>
              <a:rPr sz="1500">
                <a:solidFill>
                  <a:srgbClr val="FFFFFF"/>
                </a:solidFill>
                <a:latin typeface="Microsoft YaHei"/>
              </a:rPr>
              <a:t>▪ K15  运行维护：过滤器和关键设备定期检测</a:t>
            </a:r>
          </a:p>
          <a:p>
            <a:pPr>
              <a:spcAft>
                <a:spcPts val="800"/>
              </a:spcAft>
            </a:pPr>
            <a:r>
              <a:rPr sz="1500">
                <a:solidFill>
                  <a:srgbClr val="FFFFFF"/>
                </a:solidFill>
                <a:latin typeface="Microsoft YaHei"/>
              </a:rPr>
              <a:t>▪ K16  认可有期限，变化要重新评审</a:t>
            </a:r>
          </a:p>
          <a:p>
            <a:pPr>
              <a:spcAft>
                <a:spcPts val="800"/>
              </a:spcAft>
            </a:pPr>
            <a:r>
              <a:rPr sz="1500">
                <a:solidFill>
                  <a:srgbClr val="FFFFFF"/>
                </a:solidFill>
                <a:latin typeface="Microsoft YaHei"/>
              </a:rPr>
              <a:t>▪ K17  停用搬迁：先去污，再验收</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065</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生物风险管理体系与AMP模型</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8 分钟（卡通视频 96 镜）　适用对象：进入生命科学、医学、农学、环境等涉及生物材料实验室的高校本科生、研究生和教职工（必修）；实验室负责人、生物安全员和编写实验室生物安全管理文件的人员重点学习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能说出生物风险管理的含义（生物安全加生物安保）、目的，以及国内“设立单位负责、三级管理、生物安全委员会、按国家标准建立管理体系”的框架。</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 AMP 模型（评估、减缓、绩效）三步各回答什么问题，以及它与“计划—执行—检查—改进”循环的对应关系。</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能说出管理体系的要素（方针、领导承诺、人人知晓、实施运行、检查与纠正、持续改进）和体系文件的四个层次。</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能做到参与起草或学习本实验室的生物风险管理计划，知道其中的范围目标、角色职责、风险评估程序、操作规程、培训、事件响应、维护检查、文件记录和评审。</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《中华人民共和国生物安全法》（以现行文本为准）：病原微生物实验室的设立单位负责实验室的生物安全管理，建立健全管理制度</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《病原微生物实验室生物安全管理条例》（以现行文本为准）：实验室设立单位及其主管部门负责生物安全管理；实验室负责人为第一责任人；制定操作规程、培训、档案和事故报告制度</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生物安全通用要求》：管理体系、安全管理手册和程序文件、安全计划、风险评估、记录控制、内部审核与管理评审</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233（以现行文本为准）《病原微生物实验室生物安全通用准则》：实验室生物安全管理体系和管理要求</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45001-2020、GB/T 24001-2016（以现行文本为准）：管理体系“策划—实施—检查—改进”（PDCA）的思路，可作参照</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号，以现行文本为准）：学校—学院—实验室三级管理，实验室安全责任体系和制度建设</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本校实验室生物安全管理办法、生物安全委员会章程和实验室安全管理手册（以本校规定为准）</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生物风险管理：生物安全加生物安保</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生物风险管理包括生物安全和生物安保两部分</a:t>
            </a:r>
          </a:p>
          <a:p>
            <a:pPr>
              <a:spcAft>
                <a:spcPts val="1000"/>
              </a:spcAft>
            </a:pPr>
            <a:r>
              <a:rPr sz="1700">
                <a:solidFill>
                  <a:srgbClr val="222B33"/>
                </a:solidFill>
                <a:latin typeface="Microsoft YaHei"/>
              </a:rPr>
              <a:t>▪ 生物安全防意外暴露，生物安保防丢失、被盗和滥用</a:t>
            </a:r>
          </a:p>
          <a:p>
            <a:pPr>
              <a:spcAft>
                <a:spcPts val="1000"/>
              </a:spcAft>
            </a:pPr>
            <a:r>
              <a:rPr sz="1700">
                <a:solidFill>
                  <a:srgbClr val="222B33"/>
                </a:solidFill>
                <a:latin typeface="Microsoft YaHei"/>
              </a:rPr>
              <a:t>▪ 管材料的接收、使用、储存到销毁全过程</a:t>
            </a:r>
          </a:p>
          <a:p>
            <a:pPr>
              <a:spcAft>
                <a:spcPts val="1000"/>
              </a:spcAft>
            </a:pPr>
            <a:r>
              <a:rPr sz="1700">
                <a:solidFill>
                  <a:srgbClr val="222B33"/>
                </a:solidFill>
                <a:latin typeface="Microsoft YaHei"/>
              </a:rPr>
              <a:t>▪ 重点是病原、毒素和转基因生物</a:t>
            </a:r>
          </a:p>
          <a:p>
            <a:pPr>
              <a:spcAft>
                <a:spcPts val="1000"/>
              </a:spcAft>
            </a:pPr>
            <a:r>
              <a:rPr sz="1700">
                <a:solidFill>
                  <a:srgbClr val="222B33"/>
                </a:solidFill>
                <a:latin typeface="Microsoft YaHei"/>
              </a:rPr>
              <a:t>▪ 生物安全领域很广，本课聚焦实验室</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生物风险管理就是把实验室的生物风险管住，这是实验室每个人的事。它是一套系统方法，把两件事合在一起：生物安全，防的是人员意外接触和病原意外泄漏；生物安保，防的是生物材料丢失、被盗和被故意滥用（生物安保见第 083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认为生物风险管理只是“防感染”，忽视样本丢失和被盗</a:t>
            </a:r>
          </a:p>
          <a:p>
            <a:pPr>
              <a:spcAft>
                <a:spcPts val="1000"/>
              </a:spcAft>
            </a:pPr>
            <a:r>
              <a:rPr sz="1500">
                <a:solidFill>
                  <a:srgbClr val="222B33"/>
                </a:solidFill>
                <a:latin typeface="Microsoft YaHei"/>
              </a:rPr>
              <a:t>▪ 认为管理只是负责人和管理员的事</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为什么要管：保护人员、公众和环境</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首先防实验室获得性感染，不把病带回家</a:t>
            </a:r>
          </a:p>
          <a:p>
            <a:pPr>
              <a:spcAft>
                <a:spcPts val="1000"/>
              </a:spcAft>
            </a:pPr>
            <a:r>
              <a:rPr sz="2000">
                <a:solidFill>
                  <a:srgbClr val="222B33"/>
                </a:solidFill>
                <a:latin typeface="Microsoft YaHei"/>
              </a:rPr>
              <a:t>▪ 保护公众和环境，不让有害因子外泄</a:t>
            </a:r>
          </a:p>
          <a:p>
            <a:pPr>
              <a:spcAft>
                <a:spcPts val="1000"/>
              </a:spcAft>
            </a:pPr>
            <a:r>
              <a:rPr sz="2000">
                <a:solidFill>
                  <a:srgbClr val="222B33"/>
                </a:solidFill>
                <a:latin typeface="Microsoft YaHei"/>
              </a:rPr>
              <a:t>▪ 也关系到国家安全</a:t>
            </a:r>
          </a:p>
          <a:p>
            <a:pPr>
              <a:spcAft>
                <a:spcPts val="1000"/>
              </a:spcAft>
            </a:pPr>
            <a:r>
              <a:rPr sz="2000">
                <a:solidFill>
                  <a:srgbClr val="222B33"/>
                </a:solidFill>
                <a:latin typeface="Microsoft YaHei"/>
              </a:rPr>
              <a:t>▪ 国际手册可参考，国内依法律和国家标准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为什么要建立生物风险管理？首先是防止实验室获得性感染：在实验室工作，不应把病带回家。其次是保护公众和环境，无论意外还是蓄意，都不让有害生物因子外泄；它也关系到国家生物安全。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以国外手册的数值和做法代替国内法规和标准</a:t>
            </a:r>
          </a:p>
          <a:p>
            <a:pPr>
              <a:spcAft>
                <a:spcPts val="1000"/>
              </a:spcAft>
            </a:pPr>
            <a:r>
              <a:rPr sz="1500">
                <a:solidFill>
                  <a:srgbClr val="222B33"/>
                </a:solidFill>
                <a:latin typeface="Microsoft YaHei"/>
              </a:rPr>
              <a:t>▪ 认为“没出过事”就不需要管理体系</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国内要求：设立单位负责，体系化管理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依据：生物安全法、条例和国家标准</a:t>
            </a:r>
          </a:p>
          <a:p>
            <a:pPr>
              <a:spcAft>
                <a:spcPts val="1000"/>
              </a:spcAft>
            </a:pPr>
            <a:r>
              <a:rPr sz="2000">
                <a:solidFill>
                  <a:srgbClr val="222B33"/>
                </a:solidFill>
                <a:latin typeface="Microsoft YaHei"/>
              </a:rPr>
              <a:t>▪ 设立单位负责，学校—学院—实验室三级落实</a:t>
            </a:r>
          </a:p>
          <a:p>
            <a:pPr>
              <a:spcAft>
                <a:spcPts val="1000"/>
              </a:spcAft>
            </a:pPr>
            <a:r>
              <a:rPr sz="2000">
                <a:solidFill>
                  <a:srgbClr val="222B33"/>
                </a:solidFill>
                <a:latin typeface="Microsoft YaHei"/>
              </a:rPr>
              <a:t>▪ 生物安全委员会审议重要事项</a:t>
            </a:r>
          </a:p>
          <a:p>
            <a:pPr>
              <a:spcAft>
                <a:spcPts val="1000"/>
              </a:spcAft>
            </a:pPr>
            <a:r>
              <a:rPr sz="2000">
                <a:solidFill>
                  <a:srgbClr val="222B33"/>
                </a:solidFill>
                <a:latin typeface="Microsoft YaHei"/>
              </a:rPr>
              <a:t>▪ 按国家标准建立管理体系并持续运行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在我国，病原微生物实验室的生物安全管理由实验室设立单位负责，实验室负责人是第一责任人（以现行法规为准）。高校按学校—学院—实验室三级管理落实责任：学校制定制度、设立生物安全委员会，学院监督检查，实验室负责人组织本实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把生物安全委员会当成“走形式”，重要实验不提交审议</a:t>
            </a:r>
          </a:p>
          <a:p>
            <a:pPr>
              <a:spcAft>
                <a:spcPts val="1000"/>
              </a:spcAft>
            </a:pPr>
            <a:r>
              <a:rPr sz="1500">
                <a:solidFill>
                  <a:srgbClr val="222B33"/>
                </a:solidFill>
                <a:latin typeface="Microsoft YaHei"/>
              </a:rPr>
              <a:t>▪ 只有制度条文，没有按体系运行和检查</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AMP模型：评估、减缓、绩效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国际通行的生物风险管理方法：AMP 模型</a:t>
            </a:r>
          </a:p>
          <a:p>
            <a:pPr>
              <a:spcAft>
                <a:spcPts val="1000"/>
              </a:spcAft>
            </a:pPr>
            <a:r>
              <a:rPr sz="1700">
                <a:solidFill>
                  <a:srgbClr val="222B33"/>
                </a:solidFill>
                <a:latin typeface="Microsoft YaHei"/>
              </a:rPr>
              <a:t>▪ 评估问：有什么风险，有多大？</a:t>
            </a:r>
          </a:p>
          <a:p>
            <a:pPr>
              <a:spcAft>
                <a:spcPts val="1000"/>
              </a:spcAft>
            </a:pPr>
            <a:r>
              <a:rPr sz="1700">
                <a:solidFill>
                  <a:srgbClr val="222B33"/>
                </a:solidFill>
                <a:latin typeface="Microsoft YaHei"/>
              </a:rPr>
              <a:t>▪ 减缓问：怎样把风险降下来？</a:t>
            </a:r>
          </a:p>
          <a:p>
            <a:pPr>
              <a:spcAft>
                <a:spcPts val="1000"/>
              </a:spcAft>
            </a:pPr>
            <a:r>
              <a:rPr sz="1700">
                <a:solidFill>
                  <a:srgbClr val="222B33"/>
                </a:solidFill>
                <a:latin typeface="Microsoft YaHei"/>
              </a:rPr>
              <a:t>▪ 绩效问：怎么确认真的降下来了？</a:t>
            </a:r>
          </a:p>
          <a:p>
            <a:pPr>
              <a:spcAft>
                <a:spcPts val="1000"/>
              </a:spcAft>
            </a:pPr>
            <a:r>
              <a:rPr sz="1700">
                <a:solidFill>
                  <a:srgbClr val="222B33"/>
                </a:solidFill>
                <a:latin typeface="Microsoft YaHei"/>
              </a:rPr>
              <a:t>▪ 三步是生物风险管理的基础</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AMP 模型是国际通行的管理生物风险的基本方法，由三步组成：评估（Assessment）、减缓（Mitigation）、绩效（Performance）。评估回答“有什么风险、有多大”；减缓回答“怎样把风险降下来”；绩……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只做评估，不落实控制措施</a:t>
            </a:r>
          </a:p>
          <a:p>
            <a:pPr>
              <a:spcAft>
                <a:spcPts val="1000"/>
              </a:spcAft>
            </a:pPr>
            <a:r>
              <a:rPr sz="1500">
                <a:solidFill>
                  <a:srgbClr val="222B33"/>
                </a:solidFill>
                <a:latin typeface="Microsoft YaHei"/>
              </a:rPr>
              <a:t>▪ 采取措施后从不检查效果</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第一步：风险评估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看病原多危险、要做什么操作</a:t>
            </a:r>
          </a:p>
          <a:p>
            <a:pPr>
              <a:spcAft>
                <a:spcPts val="1000"/>
              </a:spcAft>
            </a:pPr>
            <a:r>
              <a:rPr sz="2000">
                <a:solidFill>
                  <a:srgbClr val="222B33"/>
                </a:solidFill>
                <a:latin typeface="Microsoft YaHei"/>
              </a:rPr>
              <a:t>▪ 估计出事的可能性和后果有多大</a:t>
            </a:r>
          </a:p>
          <a:p>
            <a:pPr>
              <a:spcAft>
                <a:spcPts val="1000"/>
              </a:spcAft>
            </a:pPr>
            <a:r>
              <a:rPr sz="2000">
                <a:solidFill>
                  <a:srgbClr val="222B33"/>
                </a:solidFill>
                <a:latin typeface="Microsoft YaHei"/>
              </a:rPr>
              <a:t>▪ 负责人组织，管理人员审核，动手的人参与</a:t>
            </a:r>
          </a:p>
          <a:p>
            <a:pPr>
              <a:spcAft>
                <a:spcPts val="1000"/>
              </a:spcAft>
            </a:pPr>
            <a:r>
              <a:rPr sz="2000">
                <a:solidFill>
                  <a:srgbClr val="222B33"/>
                </a:solidFill>
                <a:latin typeface="Microsoft YaHei"/>
              </a:rPr>
              <a:t>▪ 评估是其他所有工作的出发点</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第一步是风险评估：找出实验里有哪些有害生物因子，这东西有多危险，我要做什么操作，估计出事的可能性和后果有多大，从而判断风险高低。</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照抄别的实验室的评估报告</a:t>
            </a:r>
          </a:p>
          <a:p>
            <a:pPr>
              <a:spcAft>
                <a:spcPts val="1000"/>
              </a:spcAft>
            </a:pPr>
            <a:r>
              <a:rPr sz="1500">
                <a:solidFill>
                  <a:srgbClr val="222B33"/>
                </a:solidFill>
                <a:latin typeface="Microsoft YaHei"/>
              </a:rPr>
              <a:t>▪ 学生只签字，不了解评估内容</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第二步：风险减缓</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按控制层级，从消除到个人防护一层层加</a:t>
            </a:r>
          </a:p>
          <a:p>
            <a:pPr>
              <a:spcAft>
                <a:spcPts val="1000"/>
              </a:spcAft>
            </a:pPr>
            <a:r>
              <a:rPr sz="1700">
                <a:solidFill>
                  <a:srgbClr val="222B33"/>
                </a:solidFill>
                <a:latin typeface="Microsoft YaHei"/>
              </a:rPr>
              <a:t>▪ 设施、规程、防护用品一起上</a:t>
            </a:r>
          </a:p>
          <a:p>
            <a:pPr>
              <a:spcAft>
                <a:spcPts val="1000"/>
              </a:spcAft>
            </a:pPr>
            <a:r>
              <a:rPr sz="1700">
                <a:solidFill>
                  <a:srgbClr val="222B33"/>
                </a:solidFill>
                <a:latin typeface="Microsoft YaHei"/>
              </a:rPr>
              <a:t>▪ 安全措施防暴露，安保措施防丢失被盗</a:t>
            </a:r>
          </a:p>
          <a:p>
            <a:pPr>
              <a:spcAft>
                <a:spcPts val="1000"/>
              </a:spcAft>
            </a:pPr>
            <a:r>
              <a:rPr sz="1700">
                <a:solidFill>
                  <a:srgbClr val="222B33"/>
                </a:solidFill>
                <a:latin typeface="Microsoft YaHei"/>
              </a:rPr>
              <a:t>▪ 加完再评估，不可接受就再加</a:t>
            </a:r>
          </a:p>
          <a:p>
            <a:pPr>
              <a:spcAft>
                <a:spcPts val="1000"/>
              </a:spcAft>
            </a:pPr>
            <a:r>
              <a:rPr sz="1700">
                <a:solidFill>
                  <a:srgbClr val="222B33"/>
                </a:solidFill>
                <a:latin typeface="Microsoft YaHei"/>
              </a:rPr>
              <a:t>▪ 风险越高，投入的资金和人力越足</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第二步是风险减缓：按控制层级（消除、替代、工程控制、管理控制、个人防护，见第 017 课）采取措施，把风险降到可接受的程度。设施设备、标准操作规程和个人防护用品要一起上，不能只靠一种。生物安全措施防止人员意外暴露，生……</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只靠个人防护，不考虑工程和管理控制</a:t>
            </a:r>
          </a:p>
          <a:p>
            <a:pPr>
              <a:spcAft>
                <a:spcPts val="1000"/>
              </a:spcAft>
            </a:pPr>
            <a:r>
              <a:rPr sz="1500">
                <a:solidFill>
                  <a:srgbClr val="222B33"/>
                </a:solidFill>
                <a:latin typeface="Microsoft YaHei"/>
              </a:rPr>
              <a:t>▪ 加了措施不再评估残余风险</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第三步：绩效评估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看措施执行了没有、管不管用</a:t>
            </a:r>
          </a:p>
          <a:p>
            <a:pPr>
              <a:spcAft>
                <a:spcPts val="1000"/>
              </a:spcAft>
            </a:pPr>
            <a:r>
              <a:rPr sz="2000">
                <a:solidFill>
                  <a:srgbClr val="222B33"/>
                </a:solidFill>
                <a:latin typeface="Microsoft YaHei"/>
              </a:rPr>
              <a:t>▪ 定期检查设备，审核记录</a:t>
            </a:r>
          </a:p>
          <a:p>
            <a:pPr>
              <a:spcAft>
                <a:spcPts val="1000"/>
              </a:spcAft>
            </a:pPr>
            <a:r>
              <a:rPr sz="2000">
                <a:solidFill>
                  <a:srgbClr val="222B33"/>
                </a:solidFill>
                <a:latin typeface="Microsoft YaHei"/>
              </a:rPr>
              <a:t>▪ 组织演练，看大家会不会处置</a:t>
            </a:r>
          </a:p>
          <a:p>
            <a:pPr>
              <a:spcAft>
                <a:spcPts val="1000"/>
              </a:spcAft>
            </a:pPr>
            <a:r>
              <a:rPr sz="2000">
                <a:solidFill>
                  <a:srgbClr val="222B33"/>
                </a:solidFill>
                <a:latin typeface="Microsoft YaHei"/>
              </a:rPr>
              <a:t>▪ 发现问题，回到第一步改进</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三步是绩效评估：看控制措施选得对不对、有没有执行、管不管用，设备和防护有没有正常工作。方法包括定期检查，看措施是否真的落实；审核记录，看体系是否按规定运行；组织应急演练，看大家会不会处置。</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检查只看文件，不看现场操作</a:t>
            </a:r>
          </a:p>
          <a:p>
            <a:pPr>
              <a:spcAft>
                <a:spcPts val="1000"/>
              </a:spcAft>
            </a:pPr>
            <a:r>
              <a:rPr sz="1500">
                <a:solidFill>
                  <a:srgbClr val="222B33"/>
                </a:solidFill>
                <a:latin typeface="Microsoft YaHei"/>
              </a:rPr>
              <a:t>▪ 发现问题只口头提醒，不记录、不跟踪整改</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一圈圈转：AMP与PDCA循环</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管理靠计划、执行、检查、改进循环</a:t>
            </a:r>
          </a:p>
          <a:p>
            <a:pPr>
              <a:spcAft>
                <a:spcPts val="1000"/>
              </a:spcAft>
            </a:pPr>
            <a:r>
              <a:rPr sz="1700">
                <a:solidFill>
                  <a:srgbClr val="222B33"/>
                </a:solidFill>
                <a:latin typeface="Microsoft YaHei"/>
              </a:rPr>
              <a:t>▪ 评估对应计划，减缓对应执行，绩效对应检查改进</a:t>
            </a:r>
          </a:p>
          <a:p>
            <a:pPr>
              <a:spcAft>
                <a:spcPts val="1000"/>
              </a:spcAft>
            </a:pPr>
            <a:r>
              <a:rPr sz="1700">
                <a:solidFill>
                  <a:srgbClr val="222B33"/>
                </a:solidFill>
                <a:latin typeface="Microsoft YaHei"/>
              </a:rPr>
              <a:t>▪ 写下怎么做，就照写的做</a:t>
            </a:r>
          </a:p>
          <a:p>
            <a:pPr>
              <a:spcAft>
                <a:spcPts val="1000"/>
              </a:spcAft>
            </a:pPr>
            <a:r>
              <a:rPr sz="1700">
                <a:solidFill>
                  <a:srgbClr val="222B33"/>
                </a:solidFill>
                <a:latin typeface="Microsoft YaHei"/>
              </a:rPr>
              <a:t>▪ 安全员观察找根源，改进规程再回到评估</a:t>
            </a:r>
          </a:p>
          <a:p>
            <a:pPr>
              <a:spcAft>
                <a:spcPts val="1000"/>
              </a:spcAft>
            </a:pPr>
            <a:r>
              <a:rPr sz="1700">
                <a:solidFill>
                  <a:srgbClr val="222B33"/>
                </a:solidFill>
                <a:latin typeface="Microsoft YaHei"/>
              </a:rPr>
              <a:t>▪ 每转一圈，管理就提高一点</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管理实验室靠一个循环：计划、执行、检查、改进（PDCA），周而复始。用到生物风险上，就是 AMP 三步：策划从风险评估开始（识别危害、评估风险、确定怎样管住风险），对应“计划”；减缓对应“执行”；绩效对应“检查”和“……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规程写好后多年不修订</a:t>
            </a:r>
          </a:p>
          <a:p>
            <a:pPr>
              <a:spcAft>
                <a:spcPts val="1000"/>
              </a:spcAft>
            </a:pPr>
            <a:r>
              <a:rPr sz="1500">
                <a:solidFill>
                  <a:srgbClr val="222B33"/>
                </a:solidFill>
                <a:latin typeface="Microsoft YaHei"/>
              </a:rPr>
              <a:t>▪ 实际做法和书面规程两张皮</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体系：一环扣一环的过程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体系是一组相互关联的过程</a:t>
            </a:r>
          </a:p>
          <a:p>
            <a:pPr>
              <a:spcAft>
                <a:spcPts val="1000"/>
              </a:spcAft>
            </a:pPr>
            <a:r>
              <a:rPr sz="1700">
                <a:solidFill>
                  <a:srgbClr val="222B33"/>
                </a:solidFill>
                <a:latin typeface="Microsoft YaHei"/>
              </a:rPr>
              <a:t>▪ 一环出错，整条链都受影响</a:t>
            </a:r>
          </a:p>
          <a:p>
            <a:pPr>
              <a:spcAft>
                <a:spcPts val="1000"/>
              </a:spcAft>
            </a:pPr>
            <a:r>
              <a:rPr sz="1700">
                <a:solidFill>
                  <a:srgbClr val="222B33"/>
                </a:solidFill>
                <a:latin typeface="Microsoft YaHei"/>
              </a:rPr>
              <a:t>▪ 把流程画出来，每步都会产生废物</a:t>
            </a:r>
          </a:p>
          <a:p>
            <a:pPr>
              <a:spcAft>
                <a:spcPts val="1000"/>
              </a:spcAft>
            </a:pPr>
            <a:r>
              <a:rPr sz="1700">
                <a:solidFill>
                  <a:srgbClr val="222B33"/>
                </a:solidFill>
                <a:latin typeface="Microsoft YaHei"/>
              </a:rPr>
              <a:t>▪ 体系各部分缺一不可</a:t>
            </a:r>
          </a:p>
          <a:p>
            <a:pPr>
              <a:spcAft>
                <a:spcPts val="1000"/>
              </a:spcAft>
            </a:pPr>
            <a:r>
              <a:rPr sz="1700">
                <a:solidFill>
                  <a:srgbClr val="222B33"/>
                </a:solidFill>
                <a:latin typeface="Microsoft YaHei"/>
              </a:rPr>
              <a:t>▪ 管体系的人，设施等各环节都要懂一点</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实验室里的事是一环扣一环的：一环出错，整条链都受影响。管理体系就是把这些相互关联的过程一起管，还要不断改进。可以把一项检测工作的流程一步步画出来：收样、检测、记录、结果安全上传；每一步都会产生废物，要按规程去污、合规……</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只管实验操作环节，不管运输、记录和废物环节</a:t>
            </a:r>
          </a:p>
          <a:p>
            <a:pPr>
              <a:spcAft>
                <a:spcPts val="1000"/>
              </a:spcAft>
            </a:pPr>
            <a:r>
              <a:rPr sz="1500">
                <a:solidFill>
                  <a:srgbClr val="222B33"/>
                </a:solidFill>
                <a:latin typeface="Microsoft YaHei"/>
              </a:rPr>
              <a:t>▪ 各环节各管各的，出了问题互相推诿</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建体系：定义、结构、理解、改进、认清约束</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五要素：定义、结构、理解、改进、认清约束</a:t>
            </a:r>
          </a:p>
          <a:p>
            <a:pPr>
              <a:spcAft>
                <a:spcPts val="1000"/>
              </a:spcAft>
            </a:pPr>
            <a:r>
              <a:rPr sz="1700">
                <a:solidFill>
                  <a:srgbClr val="222B33"/>
                </a:solidFill>
                <a:latin typeface="Microsoft YaHei"/>
              </a:rPr>
              <a:t>▪ 先问：做什么实验、要什么仪器、谁来做</a:t>
            </a:r>
          </a:p>
          <a:p>
            <a:pPr>
              <a:spcAft>
                <a:spcPts val="1000"/>
              </a:spcAft>
            </a:pPr>
            <a:r>
              <a:rPr sz="1700">
                <a:solidFill>
                  <a:srgbClr val="222B33"/>
                </a:solidFill>
                <a:latin typeface="Microsoft YaHei"/>
              </a:rPr>
              <a:t>▪ 还牵涉运输、灭活、废物几个环节</a:t>
            </a:r>
          </a:p>
          <a:p>
            <a:pPr>
              <a:spcAft>
                <a:spcPts val="1000"/>
              </a:spcAft>
            </a:pPr>
            <a:r>
              <a:rPr sz="1700">
                <a:solidFill>
                  <a:srgbClr val="222B33"/>
                </a:solidFill>
                <a:latin typeface="Microsoft YaHei"/>
              </a:rPr>
              <a:t>▪ 人有极限，疲劳最易出事，分工要均衡</a:t>
            </a:r>
          </a:p>
          <a:p>
            <a:pPr>
              <a:spcAft>
                <a:spcPts val="1000"/>
              </a:spcAft>
            </a:pPr>
            <a:r>
              <a:rPr sz="1700">
                <a:solidFill>
                  <a:srgbClr val="222B33"/>
                </a:solidFill>
                <a:latin typeface="Microsoft YaHei"/>
              </a:rPr>
              <a:t>▪ 没有完美的体系，钱和人事先认清</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建体系有五个要素。第一，定义：定目标、划过程，这个实验室做什么，范围到哪。建实验室之前先问几个问题：做哪些实验？要什么仪器和规程？工作怎么安排、谁做什么？牵涉运输、灭活、废物哪些环节？怎样更安全、更高效？有哪些限制？……</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人手不足时长时间连续加班做高风险操作</a:t>
            </a:r>
          </a:p>
          <a:p>
            <a:pPr>
              <a:spcAft>
                <a:spcPts val="1000"/>
              </a:spcAft>
            </a:pPr>
            <a:r>
              <a:rPr sz="1500">
                <a:solidFill>
                  <a:srgbClr val="222B33"/>
                </a:solidFill>
                <a:latin typeface="Microsoft YaHei"/>
              </a:rPr>
              <a:t>▪ 不考虑经费和人员条件，计划定得做不到</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方针与领导承诺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一切从一份方针开始</a:t>
            </a:r>
          </a:p>
          <a:p>
            <a:pPr>
              <a:spcAft>
                <a:spcPts val="1000"/>
              </a:spcAft>
            </a:pPr>
            <a:r>
              <a:rPr sz="2000">
                <a:solidFill>
                  <a:srgbClr val="222B33"/>
                </a:solidFill>
                <a:latin typeface="Microsoft YaHei"/>
              </a:rPr>
              <a:t>▪ 方针写明：承诺安全、遵守法规、持续改进</a:t>
            </a:r>
          </a:p>
          <a:p>
            <a:pPr>
              <a:spcAft>
                <a:spcPts val="1000"/>
              </a:spcAft>
            </a:pPr>
            <a:r>
              <a:rPr sz="2000">
                <a:solidFill>
                  <a:srgbClr val="222B33"/>
                </a:solidFill>
                <a:latin typeface="Microsoft YaHei"/>
              </a:rPr>
              <a:t>▪ 领导承诺是体系成功的地基</a:t>
            </a:r>
          </a:p>
          <a:p>
            <a:pPr>
              <a:spcAft>
                <a:spcPts val="1000"/>
              </a:spcAft>
            </a:pPr>
            <a:r>
              <a:rPr sz="2000">
                <a:solidFill>
                  <a:srgbClr val="222B33"/>
                </a:solidFill>
                <a:latin typeface="Microsoft YaHei"/>
              </a:rPr>
              <a:t>▪ 负责人认领方针，给足资源，安全优先</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体系一切从一份生物安全方针开始。方针写明单位的承诺：把安全放进主业，遵守国家法律法规和标准，持续改进。</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方针照抄模板，与本单位实际无关</a:t>
            </a:r>
          </a:p>
          <a:p>
            <a:pPr>
              <a:spcAft>
                <a:spcPts val="1000"/>
              </a:spcAft>
            </a:pPr>
            <a:r>
              <a:rPr sz="1500">
                <a:solidFill>
                  <a:srgbClr val="222B33"/>
                </a:solidFill>
                <a:latin typeface="Microsoft YaHei"/>
              </a:rPr>
              <a:t>▪ 有方针无资源，安全经费和人员落实不了</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人人知晓，融入安全文化</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方针讲给每个人，保洁清运人员也不例外</a:t>
            </a:r>
          </a:p>
          <a:p>
            <a:pPr>
              <a:spcAft>
                <a:spcPts val="1000"/>
              </a:spcAft>
            </a:pPr>
            <a:r>
              <a:rPr sz="2000">
                <a:solidFill>
                  <a:srgbClr val="222B33"/>
                </a:solidFill>
                <a:latin typeface="Microsoft YaHei"/>
              </a:rPr>
              <a:t>▪ 生物安全和生物安保一起管</a:t>
            </a:r>
          </a:p>
          <a:p>
            <a:pPr>
              <a:spcAft>
                <a:spcPts val="1000"/>
              </a:spcAft>
            </a:pPr>
            <a:r>
              <a:rPr sz="2000">
                <a:solidFill>
                  <a:srgbClr val="222B33"/>
                </a:solidFill>
                <a:latin typeface="Microsoft YaHei"/>
              </a:rPr>
              <a:t>▪ 负责人带头，规矩才立得住</a:t>
            </a:r>
          </a:p>
          <a:p>
            <a:pPr>
              <a:spcAft>
                <a:spcPts val="1000"/>
              </a:spcAft>
            </a:pPr>
            <a:r>
              <a:rPr sz="2000">
                <a:solidFill>
                  <a:srgbClr val="222B33"/>
                </a:solidFill>
                <a:latin typeface="Microsoft YaHei"/>
              </a:rPr>
              <a:t>▪ 每个人都可以提问题、提建议</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方针要讲给每一个人听，包括保洁、清运、维修等进入实验室的人员；生物安全和生物安保一起管，最终变成每个人的习惯（安全文化见第 010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培训只覆盖学生，忽视保洁、维修等外来人员</a:t>
            </a:r>
          </a:p>
          <a:p>
            <a:pPr>
              <a:spcAft>
                <a:spcPts val="1000"/>
              </a:spcAft>
            </a:pPr>
            <a:r>
              <a:rPr sz="1500">
                <a:solidFill>
                  <a:srgbClr val="222B33"/>
                </a:solidFill>
                <a:latin typeface="Microsoft YaHei"/>
              </a:rPr>
              <a:t>▪ 负责人自己不遵守规定</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实施与运行：落到日常</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搭架构、分职责、用合格的人、抓培训、讲到位</a:t>
            </a:r>
          </a:p>
          <a:p>
            <a:pPr>
              <a:spcAft>
                <a:spcPts val="1000"/>
              </a:spcAft>
            </a:pPr>
            <a:r>
              <a:rPr sz="2000">
                <a:solidFill>
                  <a:srgbClr val="222B33"/>
                </a:solidFill>
                <a:latin typeface="Microsoft YaHei"/>
              </a:rPr>
              <a:t>▪ 日常运行要管好八个方面</a:t>
            </a:r>
          </a:p>
          <a:p>
            <a:pPr>
              <a:spcAft>
                <a:spcPts val="1000"/>
              </a:spcAft>
            </a:pPr>
            <a:r>
              <a:rPr sz="2000">
                <a:solidFill>
                  <a:srgbClr val="222B33"/>
                </a:solidFill>
                <a:latin typeface="Microsoft YaHei"/>
              </a:rPr>
              <a:t>▪ 电气、化学等一般安全也在其中</a:t>
            </a:r>
          </a:p>
          <a:p>
            <a:pPr>
              <a:spcAft>
                <a:spcPts val="1000"/>
              </a:spcAft>
            </a:pPr>
            <a:r>
              <a:rPr sz="2000">
                <a:solidFill>
                  <a:srgbClr val="222B33"/>
                </a:solidFill>
                <a:latin typeface="Microsoft YaHei"/>
              </a:rPr>
              <a:t>▪ 结合本单位实际，制定具体程序</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计划落地要做五件事：搭建组织架构，分配职责，任命合格的人员，抓好培训，把方针和做法讲到位。</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直接套用其他单位的程序文件，不结合本实验室实际</a:t>
            </a:r>
          </a:p>
          <a:p>
            <a:pPr>
              <a:spcAft>
                <a:spcPts val="1000"/>
              </a:spcAft>
            </a:pPr>
            <a:r>
              <a:rPr sz="1500">
                <a:solidFill>
                  <a:srgbClr val="222B33"/>
                </a:solidFill>
                <a:latin typeface="Microsoft YaHei"/>
              </a:rPr>
              <a:t>▪ 只管生物危害，忽视同一实验室的电气和化学安全</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查根因、做纠正、持续改进</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事故事件说明规程有缺口，趁小补上</a:t>
            </a:r>
          </a:p>
          <a:p>
            <a:pPr>
              <a:spcAft>
                <a:spcPts val="1000"/>
              </a:spcAft>
            </a:pPr>
            <a:r>
              <a:rPr sz="1700">
                <a:solidFill>
                  <a:srgbClr val="222B33"/>
                </a:solidFill>
                <a:latin typeface="Microsoft YaHei"/>
              </a:rPr>
              <a:t>▪ 查到根本原因，采取纠正措施</a:t>
            </a:r>
          </a:p>
          <a:p>
            <a:pPr>
              <a:spcAft>
                <a:spcPts val="1000"/>
              </a:spcAft>
            </a:pPr>
            <a:r>
              <a:rPr sz="1700">
                <a:solidFill>
                  <a:srgbClr val="222B33"/>
                </a:solidFill>
                <a:latin typeface="Microsoft YaHei"/>
              </a:rPr>
              <a:t>▪ 定期修订规程，新版发布，旧版收回</a:t>
            </a:r>
          </a:p>
          <a:p>
            <a:pPr>
              <a:spcAft>
                <a:spcPts val="1000"/>
              </a:spcAft>
            </a:pPr>
            <a:r>
              <a:rPr sz="1700">
                <a:solidFill>
                  <a:srgbClr val="222B33"/>
                </a:solidFill>
                <a:latin typeface="Microsoft YaHei"/>
              </a:rPr>
              <a:t>▪ 人人主人翁，预防在先，持续培训</a:t>
            </a:r>
          </a:p>
          <a:p>
            <a:pPr>
              <a:spcAft>
                <a:spcPts val="1000"/>
              </a:spcAft>
            </a:pPr>
            <a:r>
              <a:rPr sz="1700">
                <a:solidFill>
                  <a:srgbClr val="222B33"/>
                </a:solidFill>
                <a:latin typeface="Microsoft YaHei"/>
              </a:rPr>
              <a:t>▪ 定改进目标，也表扬做得好的人</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运行中出了事故或事件（包括未遂事件），说明规程有漏洞，要趁小补上。出了问题要查到根本原因，采取纠正措施，同时寻找改进的机会（事故调查与根本原因分析见第 162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出了事只追究个人，不查流程和管理上的原因</a:t>
            </a:r>
          </a:p>
          <a:p>
            <a:pPr>
              <a:spcAft>
                <a:spcPts val="1000"/>
              </a:spcAft>
            </a:pPr>
            <a:r>
              <a:rPr sz="1500">
                <a:solidFill>
                  <a:srgbClr val="222B33"/>
                </a:solidFill>
                <a:latin typeface="Microsoft YaHei"/>
              </a:rPr>
              <a:t>▪ 规程修订后旧版仍留在现场</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生物风险管理计划：范围与目标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一份完整的计划有九块内容</a:t>
            </a:r>
          </a:p>
          <a:p>
            <a:pPr>
              <a:spcAft>
                <a:spcPts val="1000"/>
              </a:spcAft>
            </a:pPr>
            <a:r>
              <a:rPr sz="2000">
                <a:solidFill>
                  <a:srgbClr val="222B33"/>
                </a:solidFill>
                <a:latin typeface="Microsoft YaHei"/>
              </a:rPr>
              <a:t>▪ 先摸清家底，列出危险源清单并随时更新</a:t>
            </a:r>
          </a:p>
          <a:p>
            <a:pPr>
              <a:spcAft>
                <a:spcPts val="1000"/>
              </a:spcAft>
            </a:pPr>
            <a:r>
              <a:rPr sz="2000">
                <a:solidFill>
                  <a:srgbClr val="222B33"/>
                </a:solidFill>
                <a:latin typeface="Microsoft YaHei"/>
              </a:rPr>
              <a:t>▪ 范围：管哪些房间、用哪些微生物、做哪些实验</a:t>
            </a:r>
          </a:p>
          <a:p>
            <a:pPr>
              <a:spcAft>
                <a:spcPts val="1000"/>
              </a:spcAft>
            </a:pPr>
            <a:r>
              <a:rPr sz="2000">
                <a:solidFill>
                  <a:srgbClr val="222B33"/>
                </a:solidFill>
                <a:latin typeface="Microsoft YaHei"/>
              </a:rPr>
              <a:t>▪ 目标要具体、能检查，写成文件可追溯</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的生物风险管理计划（安全计划）是把体系落到本实验室的成文安排，可以按九块内容组织：范围与目标、角色与职责、风险评估程序、标准操作规程、培训与能力、事件响应与报告、维护与检查、文件与记录、评审与审核。GB 194……</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计划里的范围和实际使用的病原、房间对不上</a:t>
            </a:r>
          </a:p>
          <a:p>
            <a:pPr>
              <a:spcAft>
                <a:spcPts val="1000"/>
              </a:spcAft>
            </a:pPr>
            <a:r>
              <a:rPr sz="1500">
                <a:solidFill>
                  <a:srgbClr val="222B33"/>
                </a:solidFill>
                <a:latin typeface="Microsoft YaHei"/>
              </a:rPr>
              <a:t>▪ 目标写成“确保安全”之类无法检查的空话</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计划：角色与职责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实验室负责人是第一责任人</a:t>
            </a:r>
          </a:p>
          <a:p>
            <a:pPr>
              <a:spcAft>
                <a:spcPts val="1000"/>
              </a:spcAft>
            </a:pPr>
            <a:r>
              <a:rPr sz="2000">
                <a:solidFill>
                  <a:srgbClr val="222B33"/>
                </a:solidFill>
                <a:latin typeface="Microsoft YaHei"/>
              </a:rPr>
              <a:t>▪ 安全员负责日常检查和提醒</a:t>
            </a:r>
          </a:p>
          <a:p>
            <a:pPr>
              <a:spcAft>
                <a:spcPts val="1000"/>
              </a:spcAft>
            </a:pPr>
            <a:r>
              <a:rPr sz="2000">
                <a:solidFill>
                  <a:srgbClr val="222B33"/>
                </a:solidFill>
                <a:latin typeface="Microsoft YaHei"/>
              </a:rPr>
              <a:t>▪ 每个实验人员按规程做好自己</a:t>
            </a:r>
          </a:p>
          <a:p>
            <a:pPr>
              <a:spcAft>
                <a:spcPts val="1000"/>
              </a:spcAft>
            </a:pPr>
            <a:r>
              <a:rPr sz="2000">
                <a:solidFill>
                  <a:srgbClr val="222B33"/>
                </a:solidFill>
                <a:latin typeface="Microsoft YaHei"/>
              </a:rPr>
              <a:t>▪ 计划经学院审核、学校存档，人人学习</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第二块是角色与职责：实验室负责人是第一责任人；实验室安全员负责日常检查和提醒；每个实验人员按规程做好自己的工作；学校管理部门和设施保障部门的职责也要写明。</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职责写得笼统，出了问题找不到具体负责人</a:t>
            </a:r>
          </a:p>
          <a:p>
            <a:pPr>
              <a:spcAft>
                <a:spcPts val="1000"/>
              </a:spcAft>
            </a:pPr>
            <a:r>
              <a:rPr sz="1500">
                <a:solidFill>
                  <a:srgbClr val="222B33"/>
                </a:solidFill>
                <a:latin typeface="Microsoft YaHei"/>
              </a:rPr>
              <a:t>▪ 计划只存在负责人电脑里，组内无人知晓</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计划：风险评估程序与标准操作规程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写清评估谁来做、用什么方法</a:t>
            </a:r>
          </a:p>
          <a:p>
            <a:pPr>
              <a:spcAft>
                <a:spcPts val="1000"/>
              </a:spcAft>
            </a:pPr>
            <a:r>
              <a:rPr sz="2000">
                <a:solidFill>
                  <a:srgbClr val="222B33"/>
                </a:solidFill>
                <a:latin typeface="Microsoft YaHei"/>
              </a:rPr>
              <a:t>▪ 先识别危害，再判断风险高低</a:t>
            </a:r>
          </a:p>
          <a:p>
            <a:pPr>
              <a:spcAft>
                <a:spcPts val="1000"/>
              </a:spcAft>
            </a:pPr>
            <a:r>
              <a:rPr sz="2000">
                <a:solidFill>
                  <a:srgbClr val="222B33"/>
                </a:solidFill>
                <a:latin typeface="Microsoft YaHei"/>
              </a:rPr>
              <a:t>▪ 定期评估，有变化时重新评估</a:t>
            </a:r>
          </a:p>
          <a:p>
            <a:pPr>
              <a:spcAft>
                <a:spcPts val="1000"/>
              </a:spcAft>
            </a:pPr>
            <a:r>
              <a:rPr sz="2000">
                <a:solidFill>
                  <a:srgbClr val="222B33"/>
                </a:solidFill>
                <a:latin typeface="Microsoft YaHei"/>
              </a:rPr>
              <a:t>▪ 关键操作和设备各有一份规程，不凭记忆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第三块是风险评估程序：先识别危害，再判断风险高低；写清谁来评估、用什么方法、结果谁审核；定期评估，人员、病原、操作或设施有变化时重新评估（见第 067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新增病原或操作后不重新评估</a:t>
            </a:r>
          </a:p>
          <a:p>
            <a:pPr>
              <a:spcAft>
                <a:spcPts val="1000"/>
              </a:spcAft>
            </a:pPr>
            <a:r>
              <a:rPr sz="1500">
                <a:solidFill>
                  <a:srgbClr val="222B33"/>
                </a:solidFill>
                <a:latin typeface="Microsoft YaHei"/>
              </a:rPr>
              <a:t>▪ 凭记忆操作，规程放在柜子里没人看</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计划：培训与能力</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培训后要考核，会做才算数</a:t>
            </a:r>
          </a:p>
          <a:p>
            <a:pPr>
              <a:spcAft>
                <a:spcPts val="1000"/>
              </a:spcAft>
            </a:pPr>
            <a:r>
              <a:rPr sz="2000">
                <a:solidFill>
                  <a:srgbClr val="222B33"/>
                </a:solidFill>
                <a:latin typeface="Microsoft YaHei"/>
              </a:rPr>
              <a:t>▪ 能力表上谁会做什么一目了然</a:t>
            </a:r>
          </a:p>
          <a:p>
            <a:pPr>
              <a:spcAft>
                <a:spcPts val="1000"/>
              </a:spcAft>
            </a:pPr>
            <a:r>
              <a:rPr sz="2000">
                <a:solidFill>
                  <a:srgbClr val="222B33"/>
                </a:solidFill>
                <a:latin typeface="Microsoft YaHei"/>
              </a:rPr>
              <a:t>▪ 培训不是一次了事，定期复训</a:t>
            </a:r>
          </a:p>
          <a:p>
            <a:pPr>
              <a:spcAft>
                <a:spcPts val="1000"/>
              </a:spcAft>
            </a:pPr>
            <a:r>
              <a:rPr sz="2000">
                <a:solidFill>
                  <a:srgbClr val="222B33"/>
                </a:solidFill>
                <a:latin typeface="Microsoft YaHei"/>
              </a:rPr>
              <a:t>▪ 每一步都有专人，各学各的规程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第五块是培训与能力：培训内容包括安全操作、应急程序，也包括科研伦理和生物安保意识。培训后要考核，确认真的会做才算有能力；用能力表记录谁会做什么、谁被授权做什么，一目了然。</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只听课不考核，未经能力确认就独立操作</a:t>
            </a:r>
          </a:p>
          <a:p>
            <a:pPr>
              <a:spcAft>
                <a:spcPts val="1000"/>
              </a:spcAft>
            </a:pPr>
            <a:r>
              <a:rPr sz="1500">
                <a:solidFill>
                  <a:srgbClr val="222B33"/>
                </a:solidFill>
                <a:latin typeface="Microsoft YaHei"/>
              </a:rPr>
              <a:t>▪ 新换岗位的人员不学新岗位的规程</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计划：事件响应、维护与检查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溢洒、暴露等事件先按预案处置</a:t>
            </a:r>
          </a:p>
          <a:p>
            <a:pPr>
              <a:spcAft>
                <a:spcPts val="1000"/>
              </a:spcAft>
            </a:pPr>
            <a:r>
              <a:rPr sz="2000">
                <a:solidFill>
                  <a:srgbClr val="222B33"/>
                </a:solidFill>
                <a:latin typeface="Microsoft YaHei"/>
              </a:rPr>
              <a:t>▪ 逐级报告，不隐瞒不拖延</a:t>
            </a:r>
          </a:p>
          <a:p>
            <a:pPr>
              <a:spcAft>
                <a:spcPts val="1000"/>
              </a:spcAft>
            </a:pPr>
            <a:r>
              <a:rPr sz="2000">
                <a:solidFill>
                  <a:srgbClr val="222B33"/>
                </a:solidFill>
                <a:latin typeface="Microsoft YaHei"/>
              </a:rPr>
              <a:t>▪ 应急联系电话写进计划、贴上墙</a:t>
            </a:r>
          </a:p>
          <a:p>
            <a:pPr>
              <a:spcAft>
                <a:spcPts val="1000"/>
              </a:spcAft>
            </a:pPr>
            <a:r>
              <a:rPr sz="2000">
                <a:solidFill>
                  <a:srgbClr val="222B33"/>
                </a:solidFill>
                <a:latin typeface="Microsoft YaHei"/>
              </a:rPr>
              <a:t>▪ 维护检查写成日程，检定合格贴标签，过期停用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第六块是事件响应与报告：不管是意外事故还是安保事件，都要有渠道及时发现、报告和处理。发生溢洒、暴露，先按应急预案处置（见第 078 课），再按实验室负责人、学院、学校主管部门逐级报告，不隐瞒、不拖延；应急联系电话写进……</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小的暴露事件怕麻烦不报告</a:t>
            </a:r>
          </a:p>
          <a:p>
            <a:pPr>
              <a:spcAft>
                <a:spcPts val="1000"/>
              </a:spcAft>
            </a:pPr>
            <a:r>
              <a:rPr sz="1500">
                <a:solidFill>
                  <a:srgbClr val="222B33"/>
                </a:solidFill>
                <a:latin typeface="Microsoft YaHei"/>
              </a:rPr>
              <a:t>▪ 设备维护检查没有日程，坏了才修</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计划：文件记录与评审</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文件要有版本，旧版及时收回</a:t>
            </a:r>
          </a:p>
          <a:p>
            <a:pPr>
              <a:spcAft>
                <a:spcPts val="1000"/>
              </a:spcAft>
            </a:pPr>
            <a:r>
              <a:rPr sz="2000">
                <a:solidFill>
                  <a:srgbClr val="222B33"/>
                </a:solidFill>
                <a:latin typeface="Microsoft YaHei"/>
              </a:rPr>
              <a:t>▪ 培训、检查、事件、库存都要留记录</a:t>
            </a:r>
          </a:p>
          <a:p>
            <a:pPr>
              <a:spcAft>
                <a:spcPts val="1000"/>
              </a:spcAft>
            </a:pPr>
            <a:r>
              <a:rPr sz="2000">
                <a:solidFill>
                  <a:srgbClr val="222B33"/>
                </a:solidFill>
                <a:latin typeface="Microsoft YaHei"/>
              </a:rPr>
              <a:t>▪ 记录及时、真实、受控、可追溯</a:t>
            </a:r>
          </a:p>
          <a:p>
            <a:pPr>
              <a:spcAft>
                <a:spcPts val="1000"/>
              </a:spcAft>
            </a:pPr>
            <a:r>
              <a:rPr sz="2000">
                <a:solidFill>
                  <a:srgbClr val="222B33"/>
                </a:solidFill>
                <a:latin typeface="Microsoft YaHei"/>
              </a:rPr>
              <a:t>▪ 定期评审，发现问题就改，计划随之更新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第八块是文件与记录：文件要有版本号，旧版及时收回。每项生物安全工作都要有记录，包括培训、检查、事件、库存和规程执行；记录要及时、真实、受控、可追溯，问题才查得出来。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事后补记录、编记录</a:t>
            </a:r>
          </a:p>
          <a:p>
            <a:pPr>
              <a:spcAft>
                <a:spcPts val="1000"/>
              </a:spcAft>
            </a:pPr>
            <a:r>
              <a:rPr sz="1500">
                <a:solidFill>
                  <a:srgbClr val="222B33"/>
                </a:solidFill>
                <a:latin typeface="Microsoft YaHei"/>
              </a:rPr>
              <a:t>▪ 计划制定后从不评审更新</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体系文件分四层</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第一层管理手册：定方针和职责</a:t>
            </a:r>
          </a:p>
          <a:p>
            <a:pPr>
              <a:spcAft>
                <a:spcPts val="1000"/>
              </a:spcAft>
            </a:pPr>
            <a:r>
              <a:rPr sz="2000">
                <a:solidFill>
                  <a:srgbClr val="222B33"/>
                </a:solidFill>
                <a:latin typeface="Microsoft YaHei"/>
              </a:rPr>
              <a:t>▪ 第二层程序文件：管体系怎么运转</a:t>
            </a:r>
          </a:p>
          <a:p>
            <a:pPr>
              <a:spcAft>
                <a:spcPts val="1000"/>
              </a:spcAft>
            </a:pPr>
            <a:r>
              <a:rPr sz="2000">
                <a:solidFill>
                  <a:srgbClr val="222B33"/>
                </a:solidFill>
                <a:latin typeface="Microsoft YaHei"/>
              </a:rPr>
              <a:t>▪ 第三层操作规程：教你具体怎么做</a:t>
            </a:r>
          </a:p>
          <a:p>
            <a:pPr>
              <a:spcAft>
                <a:spcPts val="1000"/>
              </a:spcAft>
            </a:pPr>
            <a:r>
              <a:rPr sz="2000">
                <a:solidFill>
                  <a:srgbClr val="222B33"/>
                </a:solidFill>
                <a:latin typeface="Microsoft YaHei"/>
              </a:rPr>
              <a:t>▪ 第四层记录：证明已经做到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体系的各部分都要写成文件，一般分四层：管理手册规定方针、目标、组织和职责；程序文件规定各项管理活动怎么运转；标准操作规程（作业指导书）教你每项操作具体怎么做；记录证明确实做到了。GB 19489-2008 对管理体系……</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手册、程序、规程内容相互矛盾</a:t>
            </a:r>
          </a:p>
          <a:p>
            <a:pPr>
              <a:spcAft>
                <a:spcPts val="1000"/>
              </a:spcAft>
            </a:pPr>
            <a:r>
              <a:rPr sz="1500">
                <a:solidFill>
                  <a:srgbClr val="222B33"/>
                </a:solidFill>
                <a:latin typeface="Microsoft YaHei"/>
              </a:rPr>
              <a:t>▪ 只有文件，没有记录证明执行</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AMP 模型三步依次是：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申请、批准、实施</a:t>
            </a:r>
          </a:p>
          <a:p>
            <a:pPr algn="l"/>
            <a:r>
              <a:rPr sz="1500" b="0">
                <a:solidFill>
                  <a:srgbClr val="222B33"/>
                </a:solidFill>
                <a:latin typeface="Microsoft YaHei"/>
              </a:rPr>
              <a:t>B. 评估、减缓、绩效</a:t>
            </a:r>
          </a:p>
          <a:p>
            <a:pPr algn="l"/>
            <a:r>
              <a:rPr sz="1500" b="0">
                <a:solidFill>
                  <a:srgbClr val="222B33"/>
                </a:solidFill>
                <a:latin typeface="Microsoft YaHei"/>
              </a:rPr>
              <a:t>C. 计划、采购、验收</a:t>
            </a:r>
          </a:p>
          <a:p>
            <a:pPr algn="l"/>
            <a:r>
              <a:rPr sz="1500" b="0">
                <a:solidFill>
                  <a:srgbClr val="222B33"/>
                </a:solidFill>
                <a:latin typeface="Microsoft YaHei"/>
              </a:rPr>
              <a:t>D. 培训、考核、上岗</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判断：生物风险管理只包括防止实验室感染，样本丢失被盗属于保卫部门的事，与实验室无关。</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 AMP 与 PDCA 的关系，正确的是：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两者毫无关系</a:t>
            </a:r>
          </a:p>
          <a:p>
            <a:pPr algn="l"/>
            <a:r>
              <a:rPr sz="1500" b="0">
                <a:solidFill>
                  <a:srgbClr val="222B33"/>
                </a:solidFill>
                <a:latin typeface="Microsoft YaHei"/>
              </a:rPr>
              <a:t>B. 评估对应计划，减缓对应执行，绩效对应检查和改进，一圈圈循环</a:t>
            </a:r>
          </a:p>
          <a:p>
            <a:pPr algn="l"/>
            <a:r>
              <a:rPr sz="1500" b="0">
                <a:solidFill>
                  <a:srgbClr val="222B33"/>
                </a:solidFill>
                <a:latin typeface="Microsoft YaHei"/>
              </a:rPr>
              <a:t>C. 做完一次就结束</a:t>
            </a:r>
          </a:p>
          <a:p>
            <a:pPr algn="l"/>
            <a:r>
              <a:rPr sz="1500" b="0">
                <a:solidFill>
                  <a:srgbClr val="222B33"/>
                </a:solidFill>
                <a:latin typeface="Microsoft YaHei"/>
              </a:rPr>
              <a:t>D. 只需要绩效，不需要评估</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体系文件四层从上到下依次是：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记录、规程、程序文件、手册</a:t>
            </a:r>
          </a:p>
          <a:p>
            <a:pPr algn="l"/>
            <a:r>
              <a:rPr sz="1500" b="0">
                <a:solidFill>
                  <a:srgbClr val="222B33"/>
                </a:solidFill>
                <a:latin typeface="Microsoft YaHei"/>
              </a:rPr>
              <a:t>B. 管理手册、程序文件、操作规程、记录</a:t>
            </a:r>
          </a:p>
          <a:p>
            <a:pPr algn="l"/>
            <a:r>
              <a:rPr sz="1500" b="0">
                <a:solidFill>
                  <a:srgbClr val="222B33"/>
                </a:solidFill>
                <a:latin typeface="Microsoft YaHei"/>
              </a:rPr>
              <a:t>C. 规程、手册、记录、程序文件</a:t>
            </a:r>
          </a:p>
          <a:p>
            <a:pPr algn="l"/>
            <a:r>
              <a:rPr sz="1500" b="0">
                <a:solidFill>
                  <a:srgbClr val="222B33"/>
                </a:solidFill>
                <a:latin typeface="Microsoft YaHei"/>
              </a:rPr>
              <a:t>D. 只有操作规程一层</a:t>
            </a:r>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判断：生物风险管理计划写好后只需负责人保存，组内成员不必学习。</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简答：一份实验室生物风险管理计划通常包括哪些内容？</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生物风险管理：生物安全加生物安保</a:t>
            </a:r>
          </a:p>
          <a:p>
            <a:pPr>
              <a:spcAft>
                <a:spcPts val="800"/>
              </a:spcAft>
            </a:pPr>
            <a:r>
              <a:rPr sz="1500">
                <a:solidFill>
                  <a:srgbClr val="FFFFFF"/>
                </a:solidFill>
                <a:latin typeface="Microsoft YaHei"/>
              </a:rPr>
              <a:t>▪ K2  为什么要管：保护人员、公众和环境</a:t>
            </a:r>
          </a:p>
          <a:p>
            <a:pPr>
              <a:spcAft>
                <a:spcPts val="800"/>
              </a:spcAft>
            </a:pPr>
            <a:r>
              <a:rPr sz="1500">
                <a:solidFill>
                  <a:srgbClr val="FFFFFF"/>
                </a:solidFill>
                <a:latin typeface="Microsoft YaHei"/>
              </a:rPr>
              <a:t>▪ S1  国内要求：设立单位负责，体系化管理</a:t>
            </a:r>
          </a:p>
          <a:p>
            <a:pPr>
              <a:spcAft>
                <a:spcPts val="800"/>
              </a:spcAft>
            </a:pPr>
            <a:r>
              <a:rPr sz="1500">
                <a:solidFill>
                  <a:srgbClr val="FFFFFF"/>
                </a:solidFill>
                <a:latin typeface="Microsoft YaHei"/>
              </a:rPr>
              <a:t>▪ K3  AMP模型：评估、减缓、绩效</a:t>
            </a:r>
          </a:p>
          <a:p>
            <a:pPr>
              <a:spcAft>
                <a:spcPts val="800"/>
              </a:spcAft>
            </a:pPr>
            <a:r>
              <a:rPr sz="1500">
                <a:solidFill>
                  <a:srgbClr val="FFFFFF"/>
                </a:solidFill>
                <a:latin typeface="Microsoft YaHei"/>
              </a:rPr>
              <a:t>▪ K4  第一步：风险评估</a:t>
            </a:r>
          </a:p>
          <a:p>
            <a:pPr>
              <a:spcAft>
                <a:spcPts val="800"/>
              </a:spcAft>
            </a:pPr>
            <a:r>
              <a:rPr sz="1500">
                <a:solidFill>
                  <a:srgbClr val="FFFFFF"/>
                </a:solidFill>
                <a:latin typeface="Microsoft YaHei"/>
              </a:rPr>
              <a:t>▪ K5  第二步：风险减缓</a:t>
            </a:r>
          </a:p>
          <a:p>
            <a:pPr>
              <a:spcAft>
                <a:spcPts val="800"/>
              </a:spcAft>
            </a:pPr>
            <a:r>
              <a:rPr sz="1500">
                <a:solidFill>
                  <a:srgbClr val="FFFFFF"/>
                </a:solidFill>
                <a:latin typeface="Microsoft YaHei"/>
              </a:rPr>
              <a:t>▪ K6  第三步：绩效评估</a:t>
            </a:r>
          </a:p>
          <a:p>
            <a:pPr>
              <a:spcAft>
                <a:spcPts val="800"/>
              </a:spcAft>
            </a:pPr>
            <a:r>
              <a:rPr sz="1500">
                <a:solidFill>
                  <a:srgbClr val="FFFFFF"/>
                </a:solidFill>
                <a:latin typeface="Microsoft YaHei"/>
              </a:rPr>
              <a:t>▪ K7  一圈圈转：AMP与PDCA循环</a:t>
            </a:r>
          </a:p>
          <a:p>
            <a:pPr>
              <a:spcAft>
                <a:spcPts val="800"/>
              </a:spcAft>
            </a:pPr>
            <a:r>
              <a:rPr sz="1500">
                <a:solidFill>
                  <a:srgbClr val="FFFFFF"/>
                </a:solidFill>
                <a:latin typeface="Microsoft YaHei"/>
              </a:rPr>
              <a:t>▪ K8  体系：一环扣一环的过程</a:t>
            </a:r>
          </a:p>
          <a:p>
            <a:pPr>
              <a:spcAft>
                <a:spcPts val="800"/>
              </a:spcAft>
            </a:pPr>
            <a:r>
              <a:rPr sz="1500">
                <a:solidFill>
                  <a:srgbClr val="FFFFFF"/>
                </a:solidFill>
                <a:latin typeface="Microsoft YaHei"/>
              </a:rPr>
              <a:t>▪ K9  建体系：定义、结构、理解、改进、认清约束</a:t>
            </a:r>
          </a:p>
          <a:p>
            <a:pPr>
              <a:spcAft>
                <a:spcPts val="800"/>
              </a:spcAft>
            </a:pPr>
            <a:r>
              <a:rPr sz="1500">
                <a:solidFill>
                  <a:srgbClr val="FFFFFF"/>
                </a:solidFill>
                <a:latin typeface="Microsoft YaHei"/>
              </a:rPr>
              <a:t>▪ K10  方针与领导承诺</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K11  人人知晓，融入安全文化</a:t>
            </a:r>
          </a:p>
          <a:p>
            <a:pPr>
              <a:spcAft>
                <a:spcPts val="800"/>
              </a:spcAft>
            </a:pPr>
            <a:r>
              <a:rPr sz="1500">
                <a:solidFill>
                  <a:srgbClr val="FFFFFF"/>
                </a:solidFill>
                <a:latin typeface="Microsoft YaHei"/>
              </a:rPr>
              <a:t>▪ K12  实施与运行：落到日常</a:t>
            </a:r>
          </a:p>
          <a:p>
            <a:pPr>
              <a:spcAft>
                <a:spcPts val="800"/>
              </a:spcAft>
            </a:pPr>
            <a:r>
              <a:rPr sz="1500">
                <a:solidFill>
                  <a:srgbClr val="FFFFFF"/>
                </a:solidFill>
                <a:latin typeface="Microsoft YaHei"/>
              </a:rPr>
              <a:t>▪ K13  查根因、做纠正、持续改进</a:t>
            </a:r>
          </a:p>
          <a:p>
            <a:pPr>
              <a:spcAft>
                <a:spcPts val="800"/>
              </a:spcAft>
            </a:pPr>
            <a:r>
              <a:rPr sz="1500">
                <a:solidFill>
                  <a:srgbClr val="FFFFFF"/>
                </a:solidFill>
                <a:latin typeface="Microsoft YaHei"/>
              </a:rPr>
              <a:t>▪ K14  生物风险管理计划：范围与目标</a:t>
            </a:r>
          </a:p>
          <a:p>
            <a:pPr>
              <a:spcAft>
                <a:spcPts val="800"/>
              </a:spcAft>
            </a:pPr>
            <a:r>
              <a:rPr sz="1500">
                <a:solidFill>
                  <a:srgbClr val="FFFFFF"/>
                </a:solidFill>
                <a:latin typeface="Microsoft YaHei"/>
              </a:rPr>
              <a:t>▪ K15  计划：角色与职责</a:t>
            </a:r>
          </a:p>
          <a:p>
            <a:pPr>
              <a:spcAft>
                <a:spcPts val="800"/>
              </a:spcAft>
            </a:pPr>
            <a:r>
              <a:rPr sz="1500">
                <a:solidFill>
                  <a:srgbClr val="FFFFFF"/>
                </a:solidFill>
                <a:latin typeface="Microsoft YaHei"/>
              </a:rPr>
              <a:t>▪ K16  计划：风险评估程序与标准操作规程</a:t>
            </a:r>
          </a:p>
          <a:p>
            <a:pPr>
              <a:spcAft>
                <a:spcPts val="800"/>
              </a:spcAft>
            </a:pPr>
            <a:r>
              <a:rPr sz="1500">
                <a:solidFill>
                  <a:srgbClr val="FFFFFF"/>
                </a:solidFill>
                <a:latin typeface="Microsoft YaHei"/>
              </a:rPr>
              <a:t>▪ K17  计划：培训与能力</a:t>
            </a:r>
          </a:p>
          <a:p>
            <a:pPr>
              <a:spcAft>
                <a:spcPts val="800"/>
              </a:spcAft>
            </a:pPr>
            <a:r>
              <a:rPr sz="1500">
                <a:solidFill>
                  <a:srgbClr val="FFFFFF"/>
                </a:solidFill>
                <a:latin typeface="Microsoft YaHei"/>
              </a:rPr>
              <a:t>▪ K18  计划：事件响应、维护与检查</a:t>
            </a:r>
          </a:p>
          <a:p>
            <a:pPr>
              <a:spcAft>
                <a:spcPts val="800"/>
              </a:spcAft>
            </a:pPr>
            <a:r>
              <a:rPr sz="1500">
                <a:solidFill>
                  <a:srgbClr val="FFFFFF"/>
                </a:solidFill>
                <a:latin typeface="Microsoft YaHei"/>
              </a:rPr>
              <a:t>▪ K19  计划：文件记录与评审</a:t>
            </a:r>
          </a:p>
          <a:p>
            <a:pPr>
              <a:spcAft>
                <a:spcPts val="800"/>
              </a:spcAft>
            </a:pPr>
            <a:r>
              <a:rPr sz="1500">
                <a:solidFill>
                  <a:srgbClr val="FFFFFF"/>
                </a:solidFill>
                <a:latin typeface="Microsoft YaHei"/>
              </a:rPr>
              <a:t>▪ K20  体系文件分四层</a:t>
            </a: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066</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生物安全绩效评估与审核</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6.5 分钟（卡通视频 78 镜）　适用对象：进入生命科学、医学、农学、环境等涉及生物材料实验室的高校本科生、研究生和教职工（必修）；实验室负责人、生物安全员和参与内部审核、安全检查的人员重点学习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能说出绩效评估的含义（记录、测量、评价；计划与实际之差）和它在“评估—减缓—绩效”循环中的作用。</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能说出从方针到目标、再到指标的关系，区分先行指标和滞后指标，说出好指标的特征和数据收集分析的注意事项。</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能说出内部审核、外部审核与监督检查、管理评审各看什么，以及纠正措施“谁改、怎么改、何时改完、复查关闭”的闭环。</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能做到被检查时照常规范操作，出错先停下、如实说明、按规程处理。</a:t>
            </a:r>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《中华人民共和国生物安全法》（以现行文本为准）：主管部门对病原微生物实验室生物安全实施监督检查，设立单位负责日常管理</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《病原微生物实验室生物安全管理条例》（以现行文本为准）：主管部门依法监督检查；三级、四级实验室须通过国家认可；实验室建立档案和事故报告制度</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生物安全通用要求》：安全计划与目标、记录控制、内部审核、管理评审、不符合项的识别和控制、纠正措施和持续改进</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233（以现行文本为准）《病原微生物实验室生物安全通用准则》：实验室生物安全管理和监督检查要求</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45001-2020（以现行文本为准）《职业健康安全管理体系 要求及使用指南》：绩效监视、测量、分析和评价，内部审核、管理评审与持续改进，可作参照</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号，以现行文本为准）：学校、学院、实验室分级开展安全检查，隐患整改闭环</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本校实验室安全检查与隐患整改办法、个人信息保护相关规定（以本校规定为准）</a:t>
            </a:r>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什么是绩效评估：记录、测量、评价</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记录、测量、评价我们做过的事</a:t>
            </a:r>
          </a:p>
          <a:p>
            <a:pPr>
              <a:spcAft>
                <a:spcPts val="1000"/>
              </a:spcAft>
            </a:pPr>
            <a:r>
              <a:rPr sz="1700">
                <a:solidFill>
                  <a:srgbClr val="222B33"/>
                </a:solidFill>
                <a:latin typeface="Microsoft YaHei"/>
              </a:rPr>
              <a:t>▪ 目的：把生物风险降下来</a:t>
            </a:r>
          </a:p>
          <a:p>
            <a:pPr>
              <a:spcAft>
                <a:spcPts val="1000"/>
              </a:spcAft>
            </a:pPr>
            <a:r>
              <a:rPr sz="1700">
                <a:solidFill>
                  <a:srgbClr val="222B33"/>
                </a:solidFill>
                <a:latin typeface="Microsoft YaHei"/>
              </a:rPr>
              <a:t>▪ 不只看病原，人、物、设施都要看</a:t>
            </a:r>
          </a:p>
          <a:p>
            <a:pPr>
              <a:spcAft>
                <a:spcPts val="1000"/>
              </a:spcAft>
            </a:pPr>
            <a:r>
              <a:rPr sz="1700">
                <a:solidFill>
                  <a:srgbClr val="222B33"/>
                </a:solidFill>
                <a:latin typeface="Microsoft YaHei"/>
              </a:rPr>
              <a:t>▪ 回头查记录：事故、未遂事件、日常检查都算</a:t>
            </a:r>
          </a:p>
          <a:p>
            <a:pPr>
              <a:spcAft>
                <a:spcPts val="1000"/>
              </a:spcAft>
            </a:pPr>
            <a:r>
              <a:rPr sz="1700">
                <a:solidFill>
                  <a:srgbClr val="222B33"/>
                </a:solidFill>
                <a:latin typeface="Microsoft YaHei"/>
              </a:rPr>
              <a:t>▪ 看哪里达标、哪里没达标，问为什么</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生物风险绩效评估，就是记录、测量和评价我们做过的事，目的是把生物风险降下来。它看的是整个体系：不只看病原，还要看人、物和设施。绩效测量不是另外一摊事，而是管理体系的一部分：规程写的和实际做的，都要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只统计事故，不统计未遂事件和日常检查发现的问题</a:t>
            </a:r>
          </a:p>
          <a:p>
            <a:pPr>
              <a:spcAft>
                <a:spcPts val="1000"/>
              </a:spcAft>
            </a:pPr>
            <a:r>
              <a:rPr sz="1500">
                <a:solidFill>
                  <a:srgbClr val="222B33"/>
                </a:solidFill>
                <a:latin typeface="Microsoft YaHei"/>
              </a:rPr>
              <a:t>▪ 认为绩效评估是管理部门的事，与实验人员无关</a:t>
            </a:r>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绩效：计划与实际之差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计划和实际的差距，就是绩效</a:t>
            </a:r>
          </a:p>
          <a:p>
            <a:pPr>
              <a:spcAft>
                <a:spcPts val="1000"/>
              </a:spcAft>
            </a:pPr>
            <a:r>
              <a:rPr sz="1700">
                <a:solidFill>
                  <a:srgbClr val="222B33"/>
                </a:solidFill>
                <a:latin typeface="Microsoft YaHei"/>
              </a:rPr>
              <a:t>▪ 找出拖后腿的原因</a:t>
            </a:r>
          </a:p>
          <a:p>
            <a:pPr>
              <a:spcAft>
                <a:spcPts val="1000"/>
              </a:spcAft>
            </a:pPr>
            <a:r>
              <a:rPr sz="1700">
                <a:solidFill>
                  <a:srgbClr val="222B33"/>
                </a:solidFill>
                <a:latin typeface="Microsoft YaHei"/>
              </a:rPr>
              <a:t>▪ 年初定目标，年底对比差在哪</a:t>
            </a:r>
          </a:p>
          <a:p>
            <a:pPr>
              <a:spcAft>
                <a:spcPts val="1000"/>
              </a:spcAft>
            </a:pPr>
            <a:r>
              <a:rPr sz="1700">
                <a:solidFill>
                  <a:srgbClr val="222B33"/>
                </a:solidFill>
                <a:latin typeface="Microsoft YaHei"/>
              </a:rPr>
              <a:t>▪ 差了就改规程、加培训，每起事件都调查</a:t>
            </a:r>
          </a:p>
          <a:p>
            <a:pPr>
              <a:spcAft>
                <a:spcPts val="1000"/>
              </a:spcAft>
            </a:pPr>
            <a:r>
              <a:rPr sz="1700">
                <a:solidFill>
                  <a:srgbClr val="222B33"/>
                </a:solidFill>
                <a:latin typeface="Microsoft YaHei"/>
              </a:rPr>
              <a:t>▪ 绩效是大家共同努力的结果，要一直用力</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打个比方：计划十五分钟跑完一公里，实际跑了二十分钟。天气、体能、装备，逐一找出拖后腿的因素。计划和实际之间的差距，就是绩效要看的东西。</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目标没达到就修改目标“凑数”</a:t>
            </a:r>
          </a:p>
          <a:p>
            <a:pPr>
              <a:spcAft>
                <a:spcPts val="1000"/>
              </a:spcAft>
            </a:pPr>
            <a:r>
              <a:rPr sz="1500">
                <a:solidFill>
                  <a:srgbClr val="222B33"/>
                </a:solidFill>
                <a:latin typeface="Microsoft YaHei"/>
              </a:rPr>
              <a:t>▪ 只看结果数字，不分析差距的原因</a:t>
            </a:r>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减缓之后再评估，一圈圈循环</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控制加了，不一定有效</a:t>
            </a:r>
          </a:p>
          <a:p>
            <a:pPr>
              <a:spcAft>
                <a:spcPts val="1000"/>
              </a:spcAft>
            </a:pPr>
            <a:r>
              <a:rPr sz="1700">
                <a:solidFill>
                  <a:srgbClr val="222B33"/>
                </a:solidFill>
                <a:latin typeface="Microsoft YaHei"/>
              </a:rPr>
              <a:t>▪ 减缓之后再评估，确认风险真的降了</a:t>
            </a:r>
          </a:p>
          <a:p>
            <a:pPr>
              <a:spcAft>
                <a:spcPts val="1000"/>
              </a:spcAft>
            </a:pPr>
            <a:r>
              <a:rPr sz="1700">
                <a:solidFill>
                  <a:srgbClr val="222B33"/>
                </a:solidFill>
                <a:latin typeface="Microsoft YaHei"/>
              </a:rPr>
              <a:t>▪ 收集信息、评价、定策略、落实、复查成一圈</a:t>
            </a:r>
          </a:p>
          <a:p>
            <a:pPr>
              <a:spcAft>
                <a:spcPts val="1000"/>
              </a:spcAft>
            </a:pPr>
            <a:r>
              <a:rPr sz="1700">
                <a:solidFill>
                  <a:srgbClr val="222B33"/>
                </a:solidFill>
                <a:latin typeface="Microsoft YaHei"/>
              </a:rPr>
              <a:t>▪ 查推荐的措施落实了吗，没有为什么，有记录吗</a:t>
            </a:r>
          </a:p>
          <a:p>
            <a:pPr>
              <a:spcAft>
                <a:spcPts val="1000"/>
              </a:spcAft>
            </a:pPr>
            <a:r>
              <a:rPr sz="1700">
                <a:solidFill>
                  <a:srgbClr val="222B33"/>
                </a:solidFill>
                <a:latin typeface="Microsoft YaHei"/>
              </a:rPr>
              <a:t>▪ 数据也是说服领导投入的依据</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控制措施加上了，就一定有效吗？要靠绩效来验证：减缓之后再做一次风险评估，确认风险真的降下来了，这一步才算数。剩下的风险能不能接受，要再判断。</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措施一上就认为风险已经解决</a:t>
            </a:r>
          </a:p>
          <a:p>
            <a:pPr>
              <a:spcAft>
                <a:spcPts val="1000"/>
              </a:spcAft>
            </a:pPr>
            <a:r>
              <a:rPr sz="1500">
                <a:solidFill>
                  <a:srgbClr val="222B33"/>
                </a:solidFill>
                <a:latin typeface="Microsoft YaHei"/>
              </a:rPr>
              <a:t>▪ 复查只问“做了吗”，不看“管用吗”</a:t>
            </a:r>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从方针到目标：看得见、量得出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方针表明决心和方向，不讲具体做法</a:t>
            </a:r>
          </a:p>
          <a:p>
            <a:pPr>
              <a:spcAft>
                <a:spcPts val="1000"/>
              </a:spcAft>
            </a:pPr>
            <a:r>
              <a:rPr sz="1700">
                <a:solidFill>
                  <a:srgbClr val="222B33"/>
                </a:solidFill>
                <a:latin typeface="Microsoft YaHei"/>
              </a:rPr>
              <a:t>▪ 方针分解成职责、目标和步骤</a:t>
            </a:r>
          </a:p>
          <a:p>
            <a:pPr>
              <a:spcAft>
                <a:spcPts val="1000"/>
              </a:spcAft>
            </a:pPr>
            <a:r>
              <a:rPr sz="1700">
                <a:solidFill>
                  <a:srgbClr val="222B33"/>
                </a:solidFill>
                <a:latin typeface="Microsoft YaHei"/>
              </a:rPr>
              <a:t>▪ 目标是看得见、量得出的结果</a:t>
            </a:r>
          </a:p>
          <a:p>
            <a:pPr>
              <a:spcAft>
                <a:spcPts val="1000"/>
              </a:spcAft>
            </a:pPr>
            <a:r>
              <a:rPr sz="1700">
                <a:solidFill>
                  <a:srgbClr val="222B33"/>
                </a:solidFill>
                <a:latin typeface="Microsoft YaHei"/>
              </a:rPr>
              <a:t>▪ 具体目标是限时步骤，如操作规程</a:t>
            </a:r>
          </a:p>
          <a:p>
            <a:pPr>
              <a:spcAft>
                <a:spcPts val="1000"/>
              </a:spcAft>
            </a:pPr>
            <a:r>
              <a:rPr sz="1700">
                <a:solidFill>
                  <a:srgbClr val="222B33"/>
                </a:solidFill>
                <a:latin typeface="Microsoft YaHei"/>
              </a:rPr>
              <a:t>▪ 具体、可测、可实现、合理、有时限</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单位的安全方针（政策）表明决心和方向，不讲具体做法，要再分解成职责、目标和步骤，落成具体目标后，再按标准检查有没有做到。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目标写成“加强安全意识”等无法测量的口号</a:t>
            </a:r>
          </a:p>
          <a:p>
            <a:pPr>
              <a:spcAft>
                <a:spcPts val="1000"/>
              </a:spcAft>
            </a:pPr>
            <a:r>
              <a:rPr sz="1500">
                <a:solidFill>
                  <a:srgbClr val="222B33"/>
                </a:solidFill>
                <a:latin typeface="Microsoft YaHei"/>
              </a:rPr>
              <a:t>▪ 定了做不到的目标，只能靠“做账”达标</a:t>
            </a:r>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指标：用数字说话</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指标要能回答多少次、多少量</a:t>
            </a:r>
          </a:p>
          <a:p>
            <a:pPr>
              <a:spcAft>
                <a:spcPts val="1000"/>
              </a:spcAft>
            </a:pPr>
            <a:r>
              <a:rPr sz="1700">
                <a:solidFill>
                  <a:srgbClr val="222B33"/>
                </a:solidFill>
                <a:latin typeface="Microsoft YaHei"/>
              </a:rPr>
              <a:t>▪ 定期用同一把尺子，偏离就提前报警</a:t>
            </a:r>
          </a:p>
          <a:p>
            <a:pPr>
              <a:spcAft>
                <a:spcPts val="1000"/>
              </a:spcAft>
            </a:pPr>
            <a:r>
              <a:rPr sz="1700">
                <a:solidFill>
                  <a:srgbClr val="222B33"/>
                </a:solidFill>
                <a:latin typeface="Microsoft YaHei"/>
              </a:rPr>
              <a:t>▪ 看事件、险兆和培训完成情况</a:t>
            </a:r>
          </a:p>
          <a:p>
            <a:pPr>
              <a:spcAft>
                <a:spcPts val="1000"/>
              </a:spcAft>
            </a:pPr>
            <a:r>
              <a:rPr sz="1700">
                <a:solidFill>
                  <a:srgbClr val="222B33"/>
                </a:solidFill>
                <a:latin typeface="Microsoft YaHei"/>
              </a:rPr>
              <a:t>▪ 演练、防护用品、检查的频次和范围都可量</a:t>
            </a:r>
          </a:p>
          <a:p>
            <a:pPr>
              <a:spcAft>
                <a:spcPts val="1000"/>
              </a:spcAft>
            </a:pPr>
            <a:r>
              <a:rPr sz="1700">
                <a:solidFill>
                  <a:srgbClr val="222B33"/>
                </a:solidFill>
                <a:latin typeface="Microsoft YaHei"/>
              </a:rPr>
              <a:t>▪ 要量什么就选什么，覆盖各层级</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指标要用数字说话，能回答“多少次、多少量”。要定期使用，一直用同一把尺子，才能看出偏离，在出事之前报警。</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只选容易统计的指标，不选真正反映风险的指标</a:t>
            </a:r>
          </a:p>
          <a:p>
            <a:pPr>
              <a:spcAft>
                <a:spcPts val="1000"/>
              </a:spcAft>
            </a:pPr>
            <a:r>
              <a:rPr sz="1500">
                <a:solidFill>
                  <a:srgbClr val="222B33"/>
                </a:solidFill>
                <a:latin typeface="Microsoft YaHei"/>
              </a:rPr>
              <a:t>▪ 指标口径经常变，前后数据无法比较</a:t>
            </a:r>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先行指标与滞后指标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指标分先行指标和滞后指标</a:t>
            </a:r>
          </a:p>
          <a:p>
            <a:pPr>
              <a:spcAft>
                <a:spcPts val="1000"/>
              </a:spcAft>
            </a:pPr>
            <a:r>
              <a:rPr sz="1700">
                <a:solidFill>
                  <a:srgbClr val="222B33"/>
                </a:solidFill>
                <a:latin typeface="Microsoft YaHei"/>
              </a:rPr>
              <a:t>▪ 先行指标：过程、文化、行为、屏障</a:t>
            </a:r>
          </a:p>
          <a:p>
            <a:pPr>
              <a:spcAft>
                <a:spcPts val="1000"/>
              </a:spcAft>
            </a:pPr>
            <a:r>
              <a:rPr sz="1700">
                <a:solidFill>
                  <a:srgbClr val="222B33"/>
                </a:solidFill>
                <a:latin typeface="Microsoft YaHei"/>
              </a:rPr>
              <a:t>▪ 滞后指标：事件、事故、险兆、整改</a:t>
            </a:r>
          </a:p>
          <a:p>
            <a:pPr>
              <a:spcAft>
                <a:spcPts val="1000"/>
              </a:spcAft>
            </a:pPr>
            <a:r>
              <a:rPr sz="1700">
                <a:solidFill>
                  <a:srgbClr val="222B33"/>
                </a:solidFill>
                <a:latin typeface="Microsoft YaHei"/>
              </a:rPr>
              <a:t>▪ 只做事后分析太晚，多看日常行为</a:t>
            </a:r>
          </a:p>
          <a:p>
            <a:pPr>
              <a:spcAft>
                <a:spcPts val="1000"/>
              </a:spcAft>
            </a:pPr>
            <a:r>
              <a:rPr sz="1700">
                <a:solidFill>
                  <a:srgbClr val="222B33"/>
                </a:solidFill>
                <a:latin typeface="Microsoft YaHei"/>
              </a:rPr>
              <a:t>▪ 多听同行的经验和教训</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指标分两类。先行指标衡量过程、文化、行为和屏障（如培训完成、检查执行、规范操作的比例、设备检测按期完成），事先定好，为安全工作指方向。滞后指标衡量事件、事故、险兆和整改情况，都是事后才看得到的。</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只看“零事故”，忽视先行指标</a:t>
            </a:r>
          </a:p>
          <a:p>
            <a:pPr>
              <a:spcAft>
                <a:spcPts val="1000"/>
              </a:spcAft>
            </a:pPr>
            <a:r>
              <a:rPr sz="1500">
                <a:solidFill>
                  <a:srgbClr val="222B33"/>
                </a:solidFill>
                <a:latin typeface="Microsoft YaHei"/>
              </a:rPr>
              <a:t>▪ 把没有事故报告当成没有风险</a:t>
            </a:r>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好指标的特征，审慎使用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好指标由大家一起商量出来</a:t>
            </a:r>
          </a:p>
          <a:p>
            <a:pPr>
              <a:spcAft>
                <a:spcPts val="1000"/>
              </a:spcAft>
            </a:pPr>
            <a:r>
              <a:rPr sz="1700">
                <a:solidFill>
                  <a:srgbClr val="222B33"/>
                </a:solidFill>
                <a:latin typeface="Microsoft YaHei"/>
              </a:rPr>
              <a:t>▪ 相关、客观、及时，成本合理</a:t>
            </a:r>
          </a:p>
          <a:p>
            <a:pPr>
              <a:spcAft>
                <a:spcPts val="1000"/>
              </a:spcAft>
            </a:pPr>
            <a:r>
              <a:rPr sz="1700">
                <a:solidFill>
                  <a:srgbClr val="222B33"/>
                </a:solidFill>
                <a:latin typeface="Microsoft YaHei"/>
              </a:rPr>
              <a:t>▪ 能指导整改，带来改进机会</a:t>
            </a:r>
          </a:p>
          <a:p>
            <a:pPr>
              <a:spcAft>
                <a:spcPts val="1000"/>
              </a:spcAft>
            </a:pPr>
            <a:r>
              <a:rPr sz="1700">
                <a:solidFill>
                  <a:srgbClr val="222B33"/>
                </a:solidFill>
                <a:latin typeface="Microsoft YaHei"/>
              </a:rPr>
              <a:t>▪ 委员会事先定标准，数据要让人看懂</a:t>
            </a:r>
          </a:p>
          <a:p>
            <a:pPr>
              <a:spcAft>
                <a:spcPts val="1000"/>
              </a:spcAft>
            </a:pPr>
            <a:r>
              <a:rPr sz="1700">
                <a:solidFill>
                  <a:srgbClr val="222B33"/>
                </a:solidFill>
                <a:latin typeface="Microsoft YaHei"/>
              </a:rPr>
              <a:t>▪ 定期检查指标，照搬别处未必合用</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好指标由相关人员一起商量出来，具有相关、客观、及时、成本合理的特点，能指导整改，带来改进机会。</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把事件数量作为考核扣分项，导致瞒报</a:t>
            </a:r>
          </a:p>
          <a:p>
            <a:pPr>
              <a:spcAft>
                <a:spcPts val="1000"/>
              </a:spcAft>
            </a:pPr>
            <a:r>
              <a:rPr sz="1500">
                <a:solidFill>
                  <a:srgbClr val="222B33"/>
                </a:solidFill>
                <a:latin typeface="Microsoft YaHei"/>
              </a:rPr>
              <a:t>▪ 照搬其他单位的指标，不结合本实验室实际</a:t>
            </a:r>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先想清楚，再测量</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量出来才看得懂，才控制得住、谈得上改进</a:t>
            </a:r>
          </a:p>
          <a:p>
            <a:pPr>
              <a:spcAft>
                <a:spcPts val="1000"/>
              </a:spcAft>
            </a:pPr>
            <a:r>
              <a:rPr sz="1700">
                <a:solidFill>
                  <a:srgbClr val="222B33"/>
                </a:solidFill>
                <a:latin typeface="Microsoft YaHei"/>
              </a:rPr>
              <a:t>▪ 流程分输入、步骤、输出，每步记下来</a:t>
            </a:r>
          </a:p>
          <a:p>
            <a:pPr>
              <a:spcAft>
                <a:spcPts val="1000"/>
              </a:spcAft>
            </a:pPr>
            <a:r>
              <a:rPr sz="1700">
                <a:solidFill>
                  <a:srgbClr val="222B33"/>
                </a:solidFill>
                <a:latin typeface="Microsoft YaHei"/>
              </a:rPr>
              <a:t>▪ 评估前先问四个问题</a:t>
            </a:r>
          </a:p>
          <a:p>
            <a:pPr>
              <a:spcAft>
                <a:spcPts val="1000"/>
              </a:spcAft>
            </a:pPr>
            <a:r>
              <a:rPr sz="1700">
                <a:solidFill>
                  <a:srgbClr val="222B33"/>
                </a:solidFill>
                <a:latin typeface="Microsoft YaHei"/>
              </a:rPr>
              <a:t>▪ 可以发问卷，也可以现场跟看</a:t>
            </a:r>
          </a:p>
          <a:p>
            <a:pPr>
              <a:spcAft>
                <a:spcPts val="1000"/>
              </a:spcAft>
            </a:pPr>
            <a:r>
              <a:rPr sz="1700">
                <a:solidFill>
                  <a:srgbClr val="222B33"/>
                </a:solidFill>
                <a:latin typeface="Microsoft YaHei"/>
              </a:rPr>
              <a:t>▪ 看事件规律、健康监测和现场操作</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测量是改进的第一步：量出来才看得懂，看得懂才控制得住，才谈得上改进；测量要用合适的工具。一个流程可以分成输入、步骤、输出，比如检测样本，每一步都记下来。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没想清楚要回答什么问题就开始收集数据</a:t>
            </a:r>
          </a:p>
          <a:p>
            <a:pPr>
              <a:spcAft>
                <a:spcPts val="1000"/>
              </a:spcAft>
            </a:pPr>
            <a:r>
              <a:rPr sz="1500">
                <a:solidFill>
                  <a:srgbClr val="222B33"/>
                </a:solidFill>
                <a:latin typeface="Microsoft YaHei"/>
              </a:rPr>
              <a:t>▪ 只看报表，不到现场看操作</a:t>
            </a:r>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收集和分析数据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确定要什么数据，收集，再分析</a:t>
            </a:r>
          </a:p>
          <a:p>
            <a:pPr>
              <a:spcAft>
                <a:spcPts val="1000"/>
              </a:spcAft>
            </a:pPr>
            <a:r>
              <a:rPr sz="1700">
                <a:solidFill>
                  <a:srgbClr val="222B33"/>
                </a:solidFill>
                <a:latin typeface="Microsoft YaHei"/>
              </a:rPr>
              <a:t>▪ 定好时间段、方法和成本，尽量不打扰工作</a:t>
            </a:r>
          </a:p>
          <a:p>
            <a:pPr>
              <a:spcAft>
                <a:spcPts val="1000"/>
              </a:spcAft>
            </a:pPr>
            <a:r>
              <a:rPr sz="1700">
                <a:solidFill>
                  <a:srgbClr val="222B33"/>
                </a:solidFill>
                <a:latin typeface="Microsoft YaHei"/>
              </a:rPr>
              <a:t>▪ 盯得太紧，人一紧张反而出错</a:t>
            </a:r>
          </a:p>
          <a:p>
            <a:pPr>
              <a:spcAft>
                <a:spcPts val="1000"/>
              </a:spcAft>
            </a:pPr>
            <a:r>
              <a:rPr sz="1700">
                <a:solidFill>
                  <a:srgbClr val="222B33"/>
                </a:solidFill>
                <a:latin typeface="Microsoft YaHei"/>
              </a:rPr>
              <a:t>▪ 分析要指定专人，给定期限</a:t>
            </a:r>
          </a:p>
          <a:p>
            <a:pPr>
              <a:spcAft>
                <a:spcPts val="1000"/>
              </a:spcAft>
            </a:pPr>
            <a:r>
              <a:rPr sz="1700">
                <a:solidFill>
                  <a:srgbClr val="222B33"/>
                </a:solidFill>
                <a:latin typeface="Microsoft YaHei"/>
              </a:rPr>
              <a:t>▪ 装监控要事先告知，录像只用于安全管理</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先确定要什么数据，再收集、分析，看体系是否合适、有效，哪里能改进；也可以借助监控和智能分析。收集前定好时间段、方法和成本；收集时尽量不打扰正常工作，盯得太紧，人一紧张反而出错。分析要花时间和资源，应指定专人、给定期限……</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数据收上来没人分析，堆在柜子里</a:t>
            </a:r>
          </a:p>
          <a:p>
            <a:pPr>
              <a:spcAft>
                <a:spcPts val="1000"/>
              </a:spcAft>
            </a:pPr>
            <a:r>
              <a:rPr sz="1500">
                <a:solidFill>
                  <a:srgbClr val="222B33"/>
                </a:solidFill>
                <a:latin typeface="Microsoft YaHei"/>
              </a:rPr>
              <a:t>▪ 私自传播监控录像或截图</a:t>
            </a:r>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案例：一次感染引出的绩效分析</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目标：降低检测人员的感染风险</a:t>
            </a:r>
          </a:p>
          <a:p>
            <a:pPr>
              <a:spcAft>
                <a:spcPts val="1000"/>
              </a:spcAft>
            </a:pPr>
            <a:r>
              <a:rPr sz="2000">
                <a:solidFill>
                  <a:srgbClr val="222B33"/>
                </a:solidFill>
                <a:latin typeface="Microsoft YaHei"/>
              </a:rPr>
              <a:t>▪ 措施：上岗前体检、防护规程、结束后复查</a:t>
            </a:r>
          </a:p>
          <a:p>
            <a:pPr>
              <a:spcAft>
                <a:spcPts val="1000"/>
              </a:spcAft>
            </a:pPr>
            <a:r>
              <a:rPr sz="2000">
                <a:solidFill>
                  <a:srgbClr val="222B33"/>
                </a:solidFill>
                <a:latin typeface="Microsoft YaHei"/>
              </a:rPr>
              <a:t>▪ 结果：五人中有一人检测阳性</a:t>
            </a:r>
          </a:p>
          <a:p>
            <a:pPr>
              <a:spcAft>
                <a:spcPts val="1000"/>
              </a:spcAft>
            </a:pPr>
            <a:r>
              <a:rPr sz="2000">
                <a:solidFill>
                  <a:srgbClr val="222B33"/>
                </a:solidFill>
                <a:latin typeface="Microsoft YaHei"/>
              </a:rPr>
              <a:t>▪ 问规程合适吗、哪里有漏洞，做事故分析并纠正</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某检测实验室的目标是降低人员感染风险，采取的措施包括上岗前体检、防护规程和项目结束后的复查。结果五名人员中有一人检测阳性——计划和实际出现了差距。</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发现人员感染后只做个人治疗，不分析规程和管理原因</a:t>
            </a:r>
          </a:p>
          <a:p>
            <a:pPr>
              <a:spcAft>
                <a:spcPts val="1000"/>
              </a:spcAft>
            </a:pPr>
            <a:r>
              <a:rPr sz="1500">
                <a:solidFill>
                  <a:srgbClr val="222B33"/>
                </a:solidFill>
                <a:latin typeface="Microsoft YaHei"/>
              </a:rPr>
              <a:t>▪ 担心影响评价而不报告</a:t>
            </a:r>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内部审核：对照规程逐项查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审核看写的和做的是否一致</a:t>
            </a:r>
          </a:p>
          <a:p>
            <a:pPr>
              <a:spcAft>
                <a:spcPts val="1000"/>
              </a:spcAft>
            </a:pPr>
            <a:r>
              <a:rPr sz="1700">
                <a:solidFill>
                  <a:srgbClr val="222B33"/>
                </a:solidFill>
                <a:latin typeface="Microsoft YaHei"/>
              </a:rPr>
              <a:t>▪ 本单位组织，对照规程逐项查</a:t>
            </a:r>
          </a:p>
          <a:p>
            <a:pPr>
              <a:spcAft>
                <a:spcPts val="1000"/>
              </a:spcAft>
            </a:pPr>
            <a:r>
              <a:rPr sz="1700">
                <a:solidFill>
                  <a:srgbClr val="222B33"/>
                </a:solidFill>
                <a:latin typeface="Microsoft YaHei"/>
              </a:rPr>
              <a:t>▪ 到实验台旁看哪步繁琐、哪步有险</a:t>
            </a:r>
          </a:p>
          <a:p>
            <a:pPr>
              <a:spcAft>
                <a:spcPts val="1000"/>
              </a:spcAft>
            </a:pPr>
            <a:r>
              <a:rPr sz="1700">
                <a:solidFill>
                  <a:srgbClr val="222B33"/>
                </a:solidFill>
                <a:latin typeface="Microsoft YaHei"/>
              </a:rPr>
              <a:t>▪ 学院、学校也会定期组织检查</a:t>
            </a:r>
          </a:p>
          <a:p>
            <a:pPr>
              <a:spcAft>
                <a:spcPts val="1000"/>
              </a:spcAft>
            </a:pPr>
            <a:r>
              <a:rPr sz="1700">
                <a:solidFill>
                  <a:srgbClr val="222B33"/>
                </a:solidFill>
                <a:latin typeface="Microsoft YaHei"/>
              </a:rPr>
              <a:t>▪ 如实记录，找出不符合项和改进点</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审核和评价就是“复查”这一步，看写的和做的是否一致、措施是否落实、是否达到预期目标。内部审核由本单位按计划组织，对照规程逐项检查；审核员要到实验台旁观察，看哪一步繁琐、哪一步有风险。GB 19489-2008 要求实……</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审核只看文件，不到现场看操作</a:t>
            </a:r>
          </a:p>
          <a:p>
            <a:pPr>
              <a:spcAft>
                <a:spcPts val="1000"/>
              </a:spcAft>
            </a:pPr>
            <a:r>
              <a:rPr sz="1500">
                <a:solidFill>
                  <a:srgbClr val="222B33"/>
                </a:solidFill>
                <a:latin typeface="Microsoft YaHei"/>
              </a:rPr>
              <a:t>▪ 检查发现的问题不写进记录，私下了结</a:t>
            </a:r>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外部审核与监督检查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审核看规程，检查看设施，检测看设备</a:t>
            </a:r>
          </a:p>
          <a:p>
            <a:pPr>
              <a:spcAft>
                <a:spcPts val="1000"/>
              </a:spcAft>
            </a:pPr>
            <a:r>
              <a:rPr sz="2000">
                <a:solidFill>
                  <a:srgbClr val="222B33"/>
                </a:solidFill>
                <a:latin typeface="Microsoft YaHei"/>
              </a:rPr>
              <a:t>▪ 外部审核比内部审核更客观</a:t>
            </a:r>
          </a:p>
          <a:p>
            <a:pPr>
              <a:spcAft>
                <a:spcPts val="1000"/>
              </a:spcAft>
            </a:pPr>
            <a:r>
              <a:rPr sz="2000">
                <a:solidFill>
                  <a:srgbClr val="222B33"/>
                </a:solidFill>
                <a:latin typeface="Microsoft YaHei"/>
              </a:rPr>
              <a:t>▪ 主管部门依法监督检查，负责人陪同配合</a:t>
            </a:r>
          </a:p>
          <a:p>
            <a:pPr>
              <a:spcAft>
                <a:spcPts val="1000"/>
              </a:spcAft>
            </a:pPr>
            <a:r>
              <a:rPr sz="2000">
                <a:solidFill>
                  <a:srgbClr val="222B33"/>
                </a:solidFill>
                <a:latin typeface="Microsoft YaHei"/>
              </a:rPr>
              <a:t>▪ 高级别实验室还要通过国家认可</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审核看规程有没有照做，检查看设施是否按设计运行，检测看设备参数是否合格。内部审核之外，外部审核更客观。</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检查前临时补记录、补签字</a:t>
            </a:r>
          </a:p>
          <a:p>
            <a:pPr>
              <a:spcAft>
                <a:spcPts val="1000"/>
              </a:spcAft>
            </a:pPr>
            <a:r>
              <a:rPr sz="1500">
                <a:solidFill>
                  <a:srgbClr val="222B33"/>
                </a:solidFill>
                <a:latin typeface="Microsoft YaHei"/>
              </a:rPr>
              <a:t>▪ 对检查人员隐瞒问题或拒绝提供资料</a:t>
            </a:r>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管理评审：体系合适、充分、有效吗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负责人按计划定期评审体系</a:t>
            </a:r>
          </a:p>
          <a:p>
            <a:pPr>
              <a:spcAft>
                <a:spcPts val="1000"/>
              </a:spcAft>
            </a:pPr>
            <a:r>
              <a:rPr sz="1700">
                <a:solidFill>
                  <a:srgbClr val="222B33"/>
                </a:solidFill>
                <a:latin typeface="Microsoft YaHei"/>
              </a:rPr>
              <a:t>▪ 看体系是否合适、充分、有效</a:t>
            </a:r>
          </a:p>
          <a:p>
            <a:pPr>
              <a:spcAft>
                <a:spcPts val="1000"/>
              </a:spcAft>
            </a:pPr>
            <a:r>
              <a:rPr sz="1700">
                <a:solidFill>
                  <a:srgbClr val="222B33"/>
                </a:solidFill>
                <a:latin typeface="Microsoft YaHei"/>
              </a:rPr>
              <a:t>▪ 输入：审核结果、纠正措施、事件调查、上次跟进</a:t>
            </a:r>
          </a:p>
          <a:p>
            <a:pPr>
              <a:spcAft>
                <a:spcPts val="1000"/>
              </a:spcAft>
            </a:pPr>
            <a:r>
              <a:rPr sz="1700">
                <a:solidFill>
                  <a:srgbClr val="222B33"/>
                </a:solidFill>
                <a:latin typeface="Microsoft YaHei"/>
              </a:rPr>
              <a:t>▪ 该改的制度、程序和目标就改</a:t>
            </a:r>
          </a:p>
          <a:p>
            <a:pPr>
              <a:spcAft>
                <a:spcPts val="1000"/>
              </a:spcAft>
            </a:pPr>
            <a:r>
              <a:rPr sz="1700">
                <a:solidFill>
                  <a:srgbClr val="222B33"/>
                </a:solidFill>
                <a:latin typeface="Microsoft YaHei"/>
              </a:rPr>
              <a:t>▪ 每一步有记录，评审才有依据</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管理评审由单位或实验室管理层按计划定期进行（例如每年，具体以现行标准和本校规定为准），评审体系是否合适、充分、有效，并寻找下一步改进的机会。</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管理评审只开会不形成决定和记录</a:t>
            </a:r>
          </a:p>
          <a:p>
            <a:pPr>
              <a:spcAft>
                <a:spcPts val="1000"/>
              </a:spcAft>
            </a:pPr>
            <a:r>
              <a:rPr sz="1500">
                <a:solidFill>
                  <a:srgbClr val="222B33"/>
                </a:solidFill>
                <a:latin typeface="Microsoft YaHei"/>
              </a:rPr>
              <a:t>▪ 上次评审的决定没有跟进落实</a:t>
            </a:r>
          </a:p>
        </p:txBody>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纠正措施与持续改进</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纠正措施：谁来改、怎么改、何时改完</a:t>
            </a:r>
          </a:p>
          <a:p>
            <a:pPr>
              <a:spcAft>
                <a:spcPts val="1000"/>
              </a:spcAft>
            </a:pPr>
            <a:r>
              <a:rPr sz="1700">
                <a:solidFill>
                  <a:srgbClr val="222B33"/>
                </a:solidFill>
                <a:latin typeface="Microsoft YaHei"/>
              </a:rPr>
              <a:t>▪ 改完拍照留证，复查后关闭</a:t>
            </a:r>
          </a:p>
          <a:p>
            <a:pPr>
              <a:spcAft>
                <a:spcPts val="1000"/>
              </a:spcAft>
            </a:pPr>
            <a:r>
              <a:rPr sz="1700">
                <a:solidFill>
                  <a:srgbClr val="222B33"/>
                </a:solidFill>
                <a:latin typeface="Microsoft YaHei"/>
              </a:rPr>
              <a:t>▪ 把检查和事件的教训写进规程</a:t>
            </a:r>
          </a:p>
          <a:p>
            <a:pPr>
              <a:spcAft>
                <a:spcPts val="1000"/>
              </a:spcAft>
            </a:pPr>
            <a:r>
              <a:rPr sz="1700">
                <a:solidFill>
                  <a:srgbClr val="222B33"/>
                </a:solidFill>
                <a:latin typeface="Microsoft YaHei"/>
              </a:rPr>
              <a:t>▪ 有记录才能持续改进，专人管文件</a:t>
            </a:r>
          </a:p>
          <a:p>
            <a:pPr>
              <a:spcAft>
                <a:spcPts val="1000"/>
              </a:spcAft>
            </a:pPr>
            <a:r>
              <a:rPr sz="1700">
                <a:solidFill>
                  <a:srgbClr val="222B33"/>
                </a:solidFill>
                <a:latin typeface="Microsoft YaHei"/>
              </a:rPr>
              <a:t>▪ 个人安全笔记代替不了正式规程</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发现问题就要采取纠正措施：明确谁来改、怎么改、什么时候改完；改完拍照留证，再复查，问题关闭才算整改到位。持续改进就是把检查和事件的教训写进规程，一圈一圈越做越好（隐患整改见第 005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整改只改表面，不查原因，问题反复出现</a:t>
            </a:r>
          </a:p>
          <a:p>
            <a:pPr>
              <a:spcAft>
                <a:spcPts val="1000"/>
              </a:spcAft>
            </a:pPr>
            <a:r>
              <a:rPr sz="1500">
                <a:solidFill>
                  <a:srgbClr val="222B33"/>
                </a:solidFill>
                <a:latin typeface="Microsoft YaHei"/>
              </a:rPr>
              <a:t>▪ 整改完不复查，问题长期“未关闭”</a:t>
            </a:r>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被检查时：照常规范，出错先停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被检查时照平常一样规范做</a:t>
            </a:r>
          </a:p>
          <a:p>
            <a:pPr>
              <a:spcAft>
                <a:spcPts val="1000"/>
              </a:spcAft>
            </a:pPr>
            <a:r>
              <a:rPr sz="2000">
                <a:solidFill>
                  <a:srgbClr val="222B33"/>
                </a:solidFill>
                <a:latin typeface="Microsoft YaHei"/>
              </a:rPr>
              <a:t>▪ 一紧张出错，先停下，别硬撑</a:t>
            </a:r>
          </a:p>
          <a:p>
            <a:pPr>
              <a:spcAft>
                <a:spcPts val="1000"/>
              </a:spcAft>
            </a:pPr>
            <a:r>
              <a:rPr sz="2000">
                <a:solidFill>
                  <a:srgbClr val="222B33"/>
                </a:solidFill>
                <a:latin typeface="Microsoft YaHei"/>
              </a:rPr>
              <a:t>▪ 如实说明，按规程处理</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审核和检查看的恰恰是平时。被检查时，照平常一样规范操作，不需要“表演”，也不能临时改变做法。</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平时随意，检查当天临时“突击规范”</a:t>
            </a:r>
          </a:p>
          <a:p>
            <a:pPr>
              <a:spcAft>
                <a:spcPts val="1000"/>
              </a:spcAft>
            </a:pPr>
            <a:r>
              <a:rPr sz="1500">
                <a:solidFill>
                  <a:srgbClr val="222B33"/>
                </a:solidFill>
                <a:latin typeface="Microsoft YaHei"/>
              </a:rPr>
              <a:t>▪ 出错后掩饰或硬撑着继续操作</a:t>
            </a:r>
          </a:p>
        </p:txBody>
      </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绩效评估中“绩效”最贴切的含义是：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发表论文的数量</a:t>
            </a:r>
          </a:p>
          <a:p>
            <a:pPr algn="l"/>
            <a:r>
              <a:rPr sz="1500" b="0">
                <a:solidFill>
                  <a:srgbClr val="222B33"/>
                </a:solidFill>
                <a:latin typeface="Microsoft YaHei"/>
              </a:rPr>
              <a:t>B. 计划与实际之间的差距</a:t>
            </a:r>
          </a:p>
          <a:p>
            <a:pPr algn="l"/>
            <a:r>
              <a:rPr sz="1500" b="0">
                <a:solidFill>
                  <a:srgbClr val="222B33"/>
                </a:solidFill>
                <a:latin typeface="Microsoft YaHei"/>
              </a:rPr>
              <a:t>C. 检查当天的表现</a:t>
            </a:r>
          </a:p>
          <a:p>
            <a:pPr algn="l"/>
            <a:r>
              <a:rPr sz="1500" b="0">
                <a:solidFill>
                  <a:srgbClr val="222B33"/>
                </a:solidFill>
                <a:latin typeface="Microsoft YaHei"/>
              </a:rPr>
              <a:t>D. 实验经费的多少</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下列属于先行指标的是：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发生溢洒的次数</a:t>
            </a:r>
          </a:p>
          <a:p>
            <a:pPr algn="l"/>
            <a:r>
              <a:rPr sz="1500" b="0">
                <a:solidFill>
                  <a:srgbClr val="222B33"/>
                </a:solidFill>
                <a:latin typeface="Microsoft YaHei"/>
              </a:rPr>
              <a:t>B. 事故的次数</a:t>
            </a:r>
          </a:p>
          <a:p>
            <a:pPr algn="l"/>
            <a:r>
              <a:rPr sz="1500" b="0">
                <a:solidFill>
                  <a:srgbClr val="222B33"/>
                </a:solidFill>
                <a:latin typeface="Microsoft YaHei"/>
              </a:rPr>
              <a:t>C. 培训按期完成和规范操作的情况</a:t>
            </a:r>
          </a:p>
          <a:p>
            <a:pPr algn="l"/>
            <a:r>
              <a:rPr sz="1500" b="0">
                <a:solidFill>
                  <a:srgbClr val="222B33"/>
                </a:solidFill>
                <a:latin typeface="Microsoft YaHei"/>
              </a:rPr>
              <a:t>D. 整改关闭的数量</a:t>
            </a:r>
          </a:p>
        </p:txBody>
      </p:sp>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判断：只要加了控制措施，就不需要再评估风险。</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关于审核和评审，正确的是：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内部审核只看文件</a:t>
            </a:r>
          </a:p>
          <a:p>
            <a:pPr algn="l"/>
            <a:r>
              <a:rPr sz="1500" b="0">
                <a:solidFill>
                  <a:srgbClr val="222B33"/>
                </a:solidFill>
                <a:latin typeface="Microsoft YaHei"/>
              </a:rPr>
              <a:t>B. 管理评审看体系是否合适、充分、有效，并修订制度和目标</a:t>
            </a:r>
          </a:p>
          <a:p>
            <a:pPr algn="l"/>
            <a:r>
              <a:rPr sz="1500" b="0">
                <a:solidFill>
                  <a:srgbClr val="222B33"/>
                </a:solidFill>
                <a:latin typeface="Microsoft YaHei"/>
              </a:rPr>
              <a:t>C. 外部检查时负责人可以不在场</a:t>
            </a:r>
          </a:p>
          <a:p>
            <a:pPr algn="l"/>
            <a:r>
              <a:rPr sz="1500" b="0">
                <a:solidFill>
                  <a:srgbClr val="222B33"/>
                </a:solidFill>
                <a:latin typeface="Microsoft YaHei"/>
              </a:rPr>
              <a:t>D. 审核发现的问题私下了结即可</a:t>
            </a:r>
          </a:p>
        </p:txBody>
      </p:sp>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判断：审核那天阿杰一紧张手滑，应先停下，如实说明并按规程处理。</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简答：一项纠正措施怎样才算整改到位？</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什么是绩效评估：记录、测量、评价</a:t>
            </a:r>
          </a:p>
          <a:p>
            <a:pPr>
              <a:spcAft>
                <a:spcPts val="800"/>
              </a:spcAft>
            </a:pPr>
            <a:r>
              <a:rPr sz="1500">
                <a:solidFill>
                  <a:srgbClr val="FFFFFF"/>
                </a:solidFill>
                <a:latin typeface="Microsoft YaHei"/>
              </a:rPr>
              <a:t>▪ K2  绩效：计划与实际之差</a:t>
            </a:r>
          </a:p>
          <a:p>
            <a:pPr>
              <a:spcAft>
                <a:spcPts val="800"/>
              </a:spcAft>
            </a:pPr>
            <a:r>
              <a:rPr sz="1500">
                <a:solidFill>
                  <a:srgbClr val="FFFFFF"/>
                </a:solidFill>
                <a:latin typeface="Microsoft YaHei"/>
              </a:rPr>
              <a:t>▪ K3  减缓之后再评估，一圈圈循环</a:t>
            </a:r>
          </a:p>
          <a:p>
            <a:pPr>
              <a:spcAft>
                <a:spcPts val="800"/>
              </a:spcAft>
            </a:pPr>
            <a:r>
              <a:rPr sz="1500">
                <a:solidFill>
                  <a:srgbClr val="FFFFFF"/>
                </a:solidFill>
                <a:latin typeface="Microsoft YaHei"/>
              </a:rPr>
              <a:t>▪ K4  从方针到目标：看得见、量得出</a:t>
            </a:r>
          </a:p>
          <a:p>
            <a:pPr>
              <a:spcAft>
                <a:spcPts val="800"/>
              </a:spcAft>
            </a:pPr>
            <a:r>
              <a:rPr sz="1500">
                <a:solidFill>
                  <a:srgbClr val="FFFFFF"/>
                </a:solidFill>
                <a:latin typeface="Microsoft YaHei"/>
              </a:rPr>
              <a:t>▪ K5  指标：用数字说话</a:t>
            </a:r>
          </a:p>
          <a:p>
            <a:pPr>
              <a:spcAft>
                <a:spcPts val="800"/>
              </a:spcAft>
            </a:pPr>
            <a:r>
              <a:rPr sz="1500">
                <a:solidFill>
                  <a:srgbClr val="FFFFFF"/>
                </a:solidFill>
                <a:latin typeface="Microsoft YaHei"/>
              </a:rPr>
              <a:t>▪ K6  先行指标与滞后指标</a:t>
            </a:r>
          </a:p>
          <a:p>
            <a:pPr>
              <a:spcAft>
                <a:spcPts val="800"/>
              </a:spcAft>
            </a:pPr>
            <a:r>
              <a:rPr sz="1500">
                <a:solidFill>
                  <a:srgbClr val="FFFFFF"/>
                </a:solidFill>
                <a:latin typeface="Microsoft YaHei"/>
              </a:rPr>
              <a:t>▪ K7  好指标的特征，审慎使用</a:t>
            </a:r>
          </a:p>
          <a:p>
            <a:pPr>
              <a:spcAft>
                <a:spcPts val="800"/>
              </a:spcAft>
            </a:pPr>
            <a:r>
              <a:rPr sz="1500">
                <a:solidFill>
                  <a:srgbClr val="FFFFFF"/>
                </a:solidFill>
                <a:latin typeface="Microsoft YaHei"/>
              </a:rPr>
              <a:t>▪ K8  先想清楚，再测量</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K9  收集和分析数据</a:t>
            </a:r>
          </a:p>
          <a:p>
            <a:pPr>
              <a:spcAft>
                <a:spcPts val="800"/>
              </a:spcAft>
            </a:pPr>
            <a:r>
              <a:rPr sz="1500">
                <a:solidFill>
                  <a:srgbClr val="FFFFFF"/>
                </a:solidFill>
                <a:latin typeface="Microsoft YaHei"/>
              </a:rPr>
              <a:t>▪ K10  案例：一次感染引出的绩效分析</a:t>
            </a:r>
          </a:p>
          <a:p>
            <a:pPr>
              <a:spcAft>
                <a:spcPts val="800"/>
              </a:spcAft>
            </a:pPr>
            <a:r>
              <a:rPr sz="1500">
                <a:solidFill>
                  <a:srgbClr val="FFFFFF"/>
                </a:solidFill>
                <a:latin typeface="Microsoft YaHei"/>
              </a:rPr>
              <a:t>▪ K11  内部审核：对照规程逐项查</a:t>
            </a:r>
          </a:p>
          <a:p>
            <a:pPr>
              <a:spcAft>
                <a:spcPts val="800"/>
              </a:spcAft>
            </a:pPr>
            <a:r>
              <a:rPr sz="1500">
                <a:solidFill>
                  <a:srgbClr val="FFFFFF"/>
                </a:solidFill>
                <a:latin typeface="Microsoft YaHei"/>
              </a:rPr>
              <a:t>▪ K12  外部审核与监督检查</a:t>
            </a:r>
          </a:p>
          <a:p>
            <a:pPr>
              <a:spcAft>
                <a:spcPts val="800"/>
              </a:spcAft>
            </a:pPr>
            <a:r>
              <a:rPr sz="1500">
                <a:solidFill>
                  <a:srgbClr val="FFFFFF"/>
                </a:solidFill>
                <a:latin typeface="Microsoft YaHei"/>
              </a:rPr>
              <a:t>▪ K13  管理评审：体系合适、充分、有效吗</a:t>
            </a:r>
          </a:p>
          <a:p>
            <a:pPr>
              <a:spcAft>
                <a:spcPts val="800"/>
              </a:spcAft>
            </a:pPr>
            <a:r>
              <a:rPr sz="1500">
                <a:solidFill>
                  <a:srgbClr val="FFFFFF"/>
                </a:solidFill>
                <a:latin typeface="Microsoft YaHei"/>
              </a:rPr>
              <a:t>▪ K14  纠正措施与持续改进</a:t>
            </a:r>
          </a:p>
          <a:p>
            <a:pPr>
              <a:spcAft>
                <a:spcPts val="800"/>
              </a:spcAft>
            </a:pPr>
            <a:r>
              <a:rPr sz="1500">
                <a:solidFill>
                  <a:srgbClr val="FFFFFF"/>
                </a:solidFill>
                <a:latin typeface="Microsoft YaHei"/>
              </a:rPr>
              <a:t>▪ K15  被检查时：照常规范，出错先停</a:t>
            </a:r>
          </a:p>
        </p:txBody>
      </p:sp>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067</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生物风险评估的步骤与风险矩阵</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7 分钟（卡通视频 80 镜）　适用对象：进入生命科学、医学、农学、环境等涉及生物材料实验室的高校本科生、研究生和教职工（必修）；实验室负责人、生物安全员和参与编写风险评估报告的人员重点学习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能说出危害与风险的区别，知道风险由可能性和后果共同决定，并能用风险矩阵判断风险等级。</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能说出生物风险评估的六步（危害识别、风险分析、风险评价、风险控制、记录、复查），以及风险随操作步骤而变化。</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能判断残余风险是否可接受、何时必须重新评估，知道评估报告要成文、审核、存档。</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能做到动手前参与本实验室的风险评估，拿不准时先问导师，不擅自开展。</a:t>
            </a:r>
          </a:p>
        </p:txBody>
      </p:sp>
    </p:spTree>
  </p:cSld>
  <p:clrMapOvr>
    <a:masterClrMapping/>
  </p:clrMapOvr>
</p:sld>
</file>

<file path=ppt/slides/slide2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《中华人民共和国生物安全法》（以现行文本为准）：病原微生物实验室的设立单位负责实验室生物安全管理，从事实验活动应当遵守有关规定</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《病原微生物实验室生物安全管理条例》（以现行文本为准）：实验室负责人为第一责任人；实验活动须在相应级别实验室开展，高致病性病原微生物实验活动须经批准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生物安全通用要求》：风险评估及风险控制，评估报告成文并经审核，情况变化时重新评估</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233（以现行文本为准）《病原微生物实验室生物安全通用准则》：根据病原危害和实验活动进行风险评估、确定防护水平</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《人间传染的病原微生物目录》（国家卫生健康委发布，以现行版本为准）：病原微生物分类和实验活动所需防护级别</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号，以现行文本为准）：实验室安全风险评估、危险性实验项目审批</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本校实验室生物安全管理办法、风险评估程序和生物安全委员会章程（以本校规定为准）</a:t>
            </a:r>
          </a:p>
        </p:txBody>
      </p:sp>
    </p:spTree>
  </p:cSld>
  <p:clrMapOvr>
    <a:masterClrMapping/>
  </p:clrMapOvr>
</p:sld>
</file>

<file path=ppt/slides/slide2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风险评估：生物安全的地基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风险评估是生物安全的地基</a:t>
            </a:r>
          </a:p>
          <a:p>
            <a:pPr>
              <a:spcAft>
                <a:spcPts val="1000"/>
              </a:spcAft>
            </a:pPr>
            <a:r>
              <a:rPr sz="1700">
                <a:solidFill>
                  <a:srgbClr val="222B33"/>
                </a:solidFill>
                <a:latin typeface="Microsoft YaHei"/>
              </a:rPr>
              <a:t>▪ 看可能性、后果，也看哪些地方拿不准</a:t>
            </a:r>
          </a:p>
          <a:p>
            <a:pPr>
              <a:spcAft>
                <a:spcPts val="1000"/>
              </a:spcAft>
            </a:pPr>
            <a:r>
              <a:rPr sz="1700">
                <a:solidFill>
                  <a:srgbClr val="222B33"/>
                </a:solidFill>
                <a:latin typeface="Microsoft YaHei"/>
              </a:rPr>
              <a:t>▪ 先评估再动手，顺序不能反</a:t>
            </a:r>
          </a:p>
          <a:p>
            <a:pPr>
              <a:spcAft>
                <a:spcPts val="1000"/>
              </a:spcAft>
            </a:pPr>
            <a:r>
              <a:rPr sz="1700">
                <a:solidFill>
                  <a:srgbClr val="222B33"/>
                </a:solidFill>
                <a:latin typeface="Microsoft YaHei"/>
              </a:rPr>
              <a:t>▪ 用菌先问来源，来历不明不乱用</a:t>
            </a:r>
          </a:p>
          <a:p>
            <a:pPr>
              <a:spcAft>
                <a:spcPts val="1000"/>
              </a:spcAft>
            </a:pPr>
            <a:r>
              <a:rPr sz="1700">
                <a:solidFill>
                  <a:srgbClr val="222B33"/>
                </a:solidFill>
                <a:latin typeface="Microsoft YaHei"/>
              </a:rPr>
              <a:t>▪ 评估、控制、看效果，不断改进</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风险评估是一个评价的过程：看出事的可能性有多大、后果有多严重，同时把拿不准的地方（资料不足、新方法、新样本）写清楚。实验的风险有高有低，只有先评估，才知道要采取多强的措施，所以说风险评估是生物安全的地基，其他工作都从……</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先动手做实验，出了问题再补评估</a:t>
            </a:r>
          </a:p>
          <a:p>
            <a:pPr>
              <a:spcAft>
                <a:spcPts val="1000"/>
              </a:spcAft>
            </a:pPr>
            <a:r>
              <a:rPr sz="1500">
                <a:solidFill>
                  <a:srgbClr val="222B33"/>
                </a:solidFill>
                <a:latin typeface="Microsoft YaHei"/>
              </a:rPr>
              <a:t>▪ 使用来历不明的菌种或样本，不问来源</a:t>
            </a:r>
          </a:p>
        </p:txBody>
      </p:sp>
    </p:spTree>
  </p:cSld>
  <p:clrMapOvr>
    <a:masterClrMapping/>
  </p:clrMapOvr>
</p:sld>
</file>

<file path=ppt/slides/slide2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危害是物，风险来自操作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危害：任何可能造成伤害的东西</a:t>
            </a:r>
          </a:p>
          <a:p>
            <a:pPr>
              <a:spcAft>
                <a:spcPts val="1000"/>
              </a:spcAft>
            </a:pPr>
            <a:r>
              <a:rPr sz="2000">
                <a:solidFill>
                  <a:srgbClr val="222B33"/>
                </a:solidFill>
                <a:latin typeface="Microsoft YaHei"/>
              </a:rPr>
              <a:t>▪ 伤害源是生物因子，就是生物风险</a:t>
            </a:r>
          </a:p>
          <a:p>
            <a:pPr>
              <a:spcAft>
                <a:spcPts val="1000"/>
              </a:spcAft>
            </a:pPr>
            <a:r>
              <a:rPr sz="2000">
                <a:solidFill>
                  <a:srgbClr val="222B33"/>
                </a:solidFill>
                <a:latin typeface="Microsoft YaHei"/>
              </a:rPr>
              <a:t>▪ 动手操作，危害才变成风险</a:t>
            </a:r>
          </a:p>
          <a:p>
            <a:pPr>
              <a:spcAft>
                <a:spcPts val="1000"/>
              </a:spcAft>
            </a:pPr>
            <a:r>
              <a:rPr sz="2000">
                <a:solidFill>
                  <a:srgbClr val="222B33"/>
                </a:solidFill>
                <a:latin typeface="Microsoft YaHei"/>
              </a:rPr>
              <a:t>▪ 操作、运输、被盗、封闭破损都带来风险</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危害是任何可能造成伤害的东西，生物因子（病原微生物、毒素、感染性样本等）就是潜在的危害。风险则是这种伤害真正发生的可能性及其后果；伤害源是生物因子的，就叫生物风险。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把危害和风险混为一谈，只看病原不看操作</a:t>
            </a:r>
          </a:p>
          <a:p>
            <a:pPr>
              <a:spcAft>
                <a:spcPts val="1000"/>
              </a:spcAft>
            </a:pPr>
            <a:r>
              <a:rPr sz="1500">
                <a:solidFill>
                  <a:srgbClr val="222B33"/>
                </a:solidFill>
                <a:latin typeface="Microsoft YaHei"/>
              </a:rPr>
              <a:t>▪ 只考虑实验操作，忽略运输、储存和被盗丢失</a:t>
            </a:r>
          </a:p>
        </p:txBody>
      </p:sp>
    </p:spTree>
  </p:cSld>
  <p:clrMapOvr>
    <a:masterClrMapping/>
  </p:clrMapOvr>
</p:sld>
</file>

<file path=ppt/slides/slide2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风险看可能性和后果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风险由可能性和后果共同决定</a:t>
            </a:r>
          </a:p>
          <a:p>
            <a:pPr>
              <a:spcAft>
                <a:spcPts val="1000"/>
              </a:spcAft>
            </a:pPr>
            <a:r>
              <a:rPr sz="2000">
                <a:solidFill>
                  <a:srgbClr val="222B33"/>
                </a:solidFill>
                <a:latin typeface="Microsoft YaHei"/>
              </a:rPr>
              <a:t>▪ 可能性：出事的几率有多大</a:t>
            </a:r>
          </a:p>
          <a:p>
            <a:pPr>
              <a:spcAft>
                <a:spcPts val="1000"/>
              </a:spcAft>
            </a:pPr>
            <a:r>
              <a:rPr sz="2000">
                <a:solidFill>
                  <a:srgbClr val="222B33"/>
                </a:solidFill>
                <a:latin typeface="Microsoft YaHei"/>
              </a:rPr>
              <a:t>▪ 后果：对人和环境的伤害有多大</a:t>
            </a:r>
          </a:p>
          <a:p>
            <a:pPr>
              <a:spcAft>
                <a:spcPts val="1000"/>
              </a:spcAft>
            </a:pPr>
            <a:r>
              <a:rPr sz="2000">
                <a:solidFill>
                  <a:srgbClr val="222B33"/>
                </a:solidFill>
                <a:latin typeface="Microsoft YaHei"/>
              </a:rPr>
              <a:t>▪ 例：转运不规范，泄漏可能大，人会被感染</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风险是可能性和后果（严重程度）的组合。可能性指防护失效、发生暴露的几率有多大；后果指一旦发生，对人员、公众和环境造成的伤害有多大。两者结合起来，才能看出风险的高低。</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只看后果，认为“病原不太危险就不用管”</a:t>
            </a:r>
          </a:p>
          <a:p>
            <a:pPr>
              <a:spcAft>
                <a:spcPts val="1000"/>
              </a:spcAft>
            </a:pPr>
            <a:r>
              <a:rPr sz="1500">
                <a:solidFill>
                  <a:srgbClr val="222B33"/>
                </a:solidFill>
                <a:latin typeface="Microsoft YaHei"/>
              </a:rPr>
              <a:t>▪ 只看可能性，认为“从没出过事”就是低风险</a:t>
            </a:r>
          </a:p>
        </p:txBody>
      </p:sp>
    </p:spTree>
  </p:cSld>
  <p:clrMapOvr>
    <a:masterClrMapping/>
  </p:clrMapOvr>
</p:sld>
</file>

<file path=ppt/slides/slide2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守规矩降的是可能性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守规则能降低出事的可能性</a:t>
            </a:r>
          </a:p>
          <a:p>
            <a:pPr>
              <a:spcAft>
                <a:spcPts val="1000"/>
              </a:spcAft>
            </a:pPr>
            <a:r>
              <a:rPr sz="2000">
                <a:solidFill>
                  <a:srgbClr val="222B33"/>
                </a:solidFill>
                <a:latin typeface="Microsoft YaHei"/>
              </a:rPr>
              <a:t>▪ 万一发生，后果不一定变轻</a:t>
            </a:r>
          </a:p>
          <a:p>
            <a:pPr>
              <a:spcAft>
                <a:spcPts val="1000"/>
              </a:spcAft>
            </a:pPr>
            <a:r>
              <a:rPr sz="2000">
                <a:solidFill>
                  <a:srgbClr val="222B33"/>
                </a:solidFill>
                <a:latin typeface="Microsoft YaHei"/>
              </a:rPr>
              <a:t>▪ 病原关在实验室里，风险很低</a:t>
            </a:r>
          </a:p>
          <a:p>
            <a:pPr>
              <a:spcAft>
                <a:spcPts val="1000"/>
              </a:spcAft>
            </a:pPr>
            <a:r>
              <a:rPr sz="2000">
                <a:solidFill>
                  <a:srgbClr val="222B33"/>
                </a:solidFill>
                <a:latin typeface="Microsoft YaHei"/>
              </a:rPr>
              <a:t>▪ 意外泄漏或被滥用，后果就很高</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可能性会随做法而变，后果却不一定。就像开车：无证乱开，出事的概率很高；守规则开车，概率低，但万一撞上，造成的伤害还是一样重。实验室里也是这样：规范操作降的是可能性，病原本身造成的后果并没有变轻，所以不能因为“我很小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认为自己操作熟练，就可以降低防护要求</a:t>
            </a:r>
          </a:p>
          <a:p>
            <a:pPr>
              <a:spcAft>
                <a:spcPts val="1000"/>
              </a:spcAft>
            </a:pPr>
            <a:r>
              <a:rPr sz="1500">
                <a:solidFill>
                  <a:srgbClr val="222B33"/>
                </a:solidFill>
                <a:latin typeface="Microsoft YaHei"/>
              </a:rPr>
              <a:t>▪ 只防意外，不防样本丢失、被盗和滥用</a:t>
            </a:r>
          </a:p>
        </p:txBody>
      </p:sp>
    </p:spTree>
  </p:cSld>
  <p:clrMapOvr>
    <a:masterClrMapping/>
  </p:clrMapOvr>
</p:sld>
</file>

<file path=ppt/slides/slide2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可能性与后果分级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可能性问：发生的概率有多大</a:t>
            </a:r>
          </a:p>
          <a:p>
            <a:pPr>
              <a:spcAft>
                <a:spcPts val="1000"/>
              </a:spcAft>
            </a:pPr>
            <a:r>
              <a:rPr sz="2000">
                <a:solidFill>
                  <a:srgbClr val="222B33"/>
                </a:solidFill>
                <a:latin typeface="Microsoft YaHei"/>
              </a:rPr>
              <a:t>▪ 后果问：万一发生，会有多严重</a:t>
            </a:r>
          </a:p>
          <a:p>
            <a:pPr>
              <a:spcAft>
                <a:spcPts val="1000"/>
              </a:spcAft>
            </a:pPr>
            <a:r>
              <a:rPr sz="2000">
                <a:solidFill>
                  <a:srgbClr val="222B33"/>
                </a:solidFill>
                <a:latin typeface="Microsoft YaHei"/>
              </a:rPr>
              <a:t>▪ 两边常分三到五级</a:t>
            </a:r>
          </a:p>
          <a:p>
            <a:pPr>
              <a:spcAft>
                <a:spcPts val="1000"/>
              </a:spcAft>
            </a:pPr>
            <a:r>
              <a:rPr sz="2000">
                <a:solidFill>
                  <a:srgbClr val="222B33"/>
                </a:solidFill>
                <a:latin typeface="Microsoft YaHei"/>
              </a:rPr>
              <a:t>▪ 分几级、怎么判，按本校评估程序</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为了把风险说清楚，可能性和后果都要分级。可能性回答“发生的概率有多大”，可从“很少”到“经常”分级；后果回答“万一发生会怎样”，可从“轻微”（无伤害或轻微不适）到“严重”（严重疾病、扩散到社区或环境）分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每个人凭感觉打分，没有统一的分级标准</a:t>
            </a:r>
          </a:p>
          <a:p>
            <a:pPr>
              <a:spcAft>
                <a:spcPts val="1000"/>
              </a:spcAft>
            </a:pPr>
            <a:r>
              <a:rPr sz="1500">
                <a:solidFill>
                  <a:srgbClr val="222B33"/>
                </a:solidFill>
                <a:latin typeface="Microsoft YaHei"/>
              </a:rPr>
              <a:t>▪ 只写“风险较低”，说不出依据</a:t>
            </a:r>
          </a:p>
        </p:txBody>
      </p:sp>
    </p:spTree>
  </p:cSld>
  <p:clrMapOvr>
    <a:masterClrMapping/>
  </p:clrMapOvr>
</p:sld>
</file>

<file path=ppt/slides/slide2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风险矩阵</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可能性和后果交叉，就是风险矩阵</a:t>
            </a:r>
          </a:p>
          <a:p>
            <a:pPr>
              <a:spcAft>
                <a:spcPts val="1000"/>
              </a:spcAft>
            </a:pPr>
            <a:r>
              <a:rPr sz="2000">
                <a:solidFill>
                  <a:srgbClr val="222B33"/>
                </a:solidFill>
                <a:latin typeface="Microsoft YaHei"/>
              </a:rPr>
              <a:t>▪ 都低最安全，都高最危险</a:t>
            </a:r>
          </a:p>
          <a:p>
            <a:pPr>
              <a:spcAft>
                <a:spcPts val="1000"/>
              </a:spcAft>
            </a:pPr>
            <a:r>
              <a:rPr sz="2000">
                <a:solidFill>
                  <a:srgbClr val="222B33"/>
                </a:solidFill>
                <a:latin typeface="Microsoft YaHei"/>
              </a:rPr>
              <a:t>▪ 每个风险点放进矩阵，一目了然</a:t>
            </a:r>
          </a:p>
          <a:p>
            <a:pPr>
              <a:spcAft>
                <a:spcPts val="1000"/>
              </a:spcAft>
            </a:pPr>
            <a:r>
              <a:rPr sz="2000">
                <a:solidFill>
                  <a:srgbClr val="222B33"/>
                </a:solidFill>
                <a:latin typeface="Microsoft YaHei"/>
              </a:rPr>
              <a:t>▪ 红格风险优先处理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把可能性和后果的分级交叉成一张表，就是风险矩阵：可能性低、后果轻的落在绿格，风险最低；可能性大、后果重的落在红格，风险最高；中间是黄格。</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只给整个实验打一个总分，不逐个风险点分析</a:t>
            </a:r>
          </a:p>
          <a:p>
            <a:pPr>
              <a:spcAft>
                <a:spcPts val="1000"/>
              </a:spcAft>
            </a:pPr>
            <a:r>
              <a:rPr sz="1500">
                <a:solidFill>
                  <a:srgbClr val="222B33"/>
                </a:solidFill>
                <a:latin typeface="Microsoft YaHei"/>
              </a:rPr>
              <a:t>▪ 评出红格仍照常开展</a:t>
            </a:r>
          </a:p>
        </p:txBody>
      </p:sp>
    </p:spTree>
  </p:cSld>
  <p:clrMapOvr>
    <a:masterClrMapping/>
  </p:clrMapOvr>
</p:sld>
</file>

<file path=ppt/slides/slide2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风险随操作而变</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样本密封冻存，风险较低</a:t>
            </a:r>
          </a:p>
          <a:p>
            <a:pPr>
              <a:spcAft>
                <a:spcPts val="1000"/>
              </a:spcAft>
            </a:pPr>
            <a:r>
              <a:rPr sz="2000">
                <a:solidFill>
                  <a:srgbClr val="222B33"/>
                </a:solidFill>
                <a:latin typeface="Microsoft YaHei"/>
              </a:rPr>
              <a:t>▪ 拿出开盖提取，风险升高</a:t>
            </a:r>
          </a:p>
          <a:p>
            <a:pPr>
              <a:spcAft>
                <a:spcPts val="1000"/>
              </a:spcAft>
            </a:pPr>
            <a:r>
              <a:rPr sz="2000">
                <a:solidFill>
                  <a:srgbClr val="222B33"/>
                </a:solidFill>
                <a:latin typeface="Microsoft YaHei"/>
              </a:rPr>
              <a:t>▪ 培养活的病原，风险最高</a:t>
            </a:r>
          </a:p>
          <a:p>
            <a:pPr>
              <a:spcAft>
                <a:spcPts val="1000"/>
              </a:spcAft>
            </a:pPr>
            <a:r>
              <a:rPr sz="2000">
                <a:solidFill>
                  <a:srgbClr val="222B33"/>
                </a:solidFill>
                <a:latin typeface="Microsoft YaHei"/>
              </a:rPr>
              <a:t>▪ 储存也有风险：密封、标清、上锁</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同一种生物材料，风险随操作而变。样本密封冻存在罐里，风险较低；拿出来开盖处理、提取核酸，风险升高；培养活的病原（数量和浓度增加），风险最高。流程一步步往后走，风险一级级升高，一旦释放，后果也越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用冻存样本的风险等级去做培养实验</a:t>
            </a:r>
          </a:p>
          <a:p>
            <a:pPr>
              <a:spcAft>
                <a:spcPts val="1000"/>
              </a:spcAft>
            </a:pPr>
            <a:r>
              <a:rPr sz="1500">
                <a:solidFill>
                  <a:srgbClr val="222B33"/>
                </a:solidFill>
                <a:latin typeface="Microsoft YaHei"/>
              </a:rPr>
              <a:t>▪ 储存的样本不标识、不上锁</a:t>
            </a:r>
          </a:p>
        </p:txBody>
      </p:sp>
    </p:spTree>
  </p:cSld>
  <p:clrMapOvr>
    <a:masterClrMapping/>
  </p:clrMapOvr>
</p:sld>
</file>

<file path=ppt/slides/slide2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评估六步，按顺序走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六步：识别、分析、评价、控制、记录、复查</a:t>
            </a:r>
          </a:p>
          <a:p>
            <a:pPr>
              <a:spcAft>
                <a:spcPts val="1000"/>
              </a:spcAft>
            </a:pPr>
            <a:r>
              <a:rPr sz="2000">
                <a:solidFill>
                  <a:srgbClr val="222B33"/>
                </a:solidFill>
                <a:latin typeface="Microsoft YaHei"/>
              </a:rPr>
              <a:t>▪ 按顺序走，不跳步</a:t>
            </a:r>
          </a:p>
          <a:p>
            <a:pPr>
              <a:spcAft>
                <a:spcPts val="1000"/>
              </a:spcAft>
            </a:pPr>
            <a:r>
              <a:rPr sz="2000">
                <a:solidFill>
                  <a:srgbClr val="222B33"/>
                </a:solidFill>
                <a:latin typeface="Microsoft YaHei"/>
              </a:rPr>
              <a:t>▪ 走完一遍，还要回头再看</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生物风险评估有固定的步骤：危害识别、风险分析、风险评价、风险控制、记录、复查。也有资料把它概括为五步（识别、评估、控制、看残余风险、再决策），内容是一致的：先认清危害，再估计风险大小，加控制后看残余风险能否接受，然后……</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跳过分析和评价，直接照搬防护措施</a:t>
            </a:r>
          </a:p>
          <a:p>
            <a:pPr>
              <a:spcAft>
                <a:spcPts val="1000"/>
              </a:spcAft>
            </a:pPr>
            <a:r>
              <a:rPr sz="1500">
                <a:solidFill>
                  <a:srgbClr val="222B33"/>
                </a:solidFill>
                <a:latin typeface="Microsoft YaHei"/>
              </a:rPr>
              <a:t>▪ 评估完一次就再不回头看</a:t>
            </a:r>
          </a:p>
        </p:txBody>
      </p:sp>
    </p:spTree>
  </p:cSld>
  <p:clrMapOvr>
    <a:masterClrMapping/>
  </p:clrMapOvr>
</p:sld>
</file>

<file path=ppt/slides/slide2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第一步：危害识别</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弄清用什么生物因子，查国内目录</a:t>
            </a:r>
          </a:p>
          <a:p>
            <a:pPr>
              <a:spcAft>
                <a:spcPts val="1000"/>
              </a:spcAft>
            </a:pPr>
            <a:r>
              <a:rPr sz="1700">
                <a:solidFill>
                  <a:srgbClr val="222B33"/>
                </a:solidFill>
                <a:latin typeface="Microsoft YaHei"/>
              </a:rPr>
              <a:t>▪ 国内第一类最危险，与国际风险组相反</a:t>
            </a:r>
          </a:p>
          <a:p>
            <a:pPr>
              <a:spcAft>
                <a:spcPts val="1000"/>
              </a:spcAft>
            </a:pPr>
            <a:r>
              <a:rPr sz="1700">
                <a:solidFill>
                  <a:srgbClr val="222B33"/>
                </a:solidFill>
                <a:latin typeface="Microsoft YaHei"/>
              </a:rPr>
              <a:t>▪ 列出操作，写清用量和浓度</a:t>
            </a:r>
          </a:p>
          <a:p>
            <a:pPr>
              <a:spcAft>
                <a:spcPts val="1000"/>
              </a:spcAft>
            </a:pPr>
            <a:r>
              <a:rPr sz="1700">
                <a:solidFill>
                  <a:srgbClr val="222B33"/>
                </a:solidFill>
                <a:latin typeface="Microsoft YaHei"/>
              </a:rPr>
              <a:t>▪ 气溶胶、溅洒、锐器要重点看</a:t>
            </a:r>
          </a:p>
          <a:p>
            <a:pPr>
              <a:spcAft>
                <a:spcPts val="1000"/>
              </a:spcAft>
            </a:pPr>
            <a:r>
              <a:rPr sz="1700">
                <a:solidFill>
                  <a:srgbClr val="222B33"/>
                </a:solidFill>
                <a:latin typeface="Microsoft YaHei"/>
              </a:rPr>
              <a:t>▪ 化学和物理危害一起找</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第一步是危害识别：先弄清用的是什么生物因子，查《人间传染的病原微生物目录》（以现行版本为准），认出它属于哪一类，再查病原资料拿到依据（要素清单见第 068 课）。注意两套编号：国内病原分类第一类危害最大、第四类最小，……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把国际风险组的编号当成国内分类，弄反危险程度</a:t>
            </a:r>
          </a:p>
          <a:p>
            <a:pPr>
              <a:spcAft>
                <a:spcPts val="1000"/>
              </a:spcAft>
            </a:pPr>
            <a:r>
              <a:rPr sz="1500">
                <a:solidFill>
                  <a:srgbClr val="222B33"/>
                </a:solidFill>
                <a:latin typeface="Microsoft YaHei"/>
              </a:rPr>
              <a:t>▪ 只看病原，不看产生气溶胶的操作和化学、物理危害</a:t>
            </a:r>
          </a:p>
        </p:txBody>
      </p:sp>
    </p:spTree>
  </p:cSld>
  <p:clrMapOvr>
    <a:masterClrMapping/>
  </p:clrMapOvr>
</p:sld>
</file>

<file path=ppt/slides/slide2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第二步：风险分析</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估计暴露的可能性和后果</a:t>
            </a:r>
          </a:p>
          <a:p>
            <a:pPr>
              <a:spcAft>
                <a:spcPts val="1000"/>
              </a:spcAft>
            </a:pPr>
            <a:r>
              <a:rPr sz="2000">
                <a:solidFill>
                  <a:srgbClr val="222B33"/>
                </a:solidFill>
                <a:latin typeface="Microsoft YaHei"/>
              </a:rPr>
              <a:t>▪ 想清楚谁可能受害</a:t>
            </a:r>
          </a:p>
          <a:p>
            <a:pPr>
              <a:spcAft>
                <a:spcPts val="1000"/>
              </a:spcAft>
            </a:pPr>
            <a:r>
              <a:rPr sz="2000">
                <a:solidFill>
                  <a:srgbClr val="222B33"/>
                </a:solidFill>
                <a:latin typeface="Microsoft YaHei"/>
              </a:rPr>
              <a:t>▪ 途径：吸入、溅入、刺伤、食入</a:t>
            </a:r>
          </a:p>
          <a:p>
            <a:pPr>
              <a:spcAft>
                <a:spcPts val="1000"/>
              </a:spcAft>
            </a:pPr>
            <a:r>
              <a:rPr sz="2000">
                <a:solidFill>
                  <a:srgbClr val="222B33"/>
                </a:solidFill>
                <a:latin typeface="Microsoft YaHei"/>
              </a:rPr>
              <a:t>▪ 来历不清的样本，风险往高处估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二步是风险分析：估计发生暴露的可能性有多大，一旦暴露后果有多严重。先想清楚谁可能受害——操作者本人、同室的同事、保洁和清运人员，甚至公众；再想清楚怎么受害——吸入气溶胶、溅到眼睛或黏膜、被锐器刺伤，还是误食入口。</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只考虑操作者本人，忽略同事和保洁清运人员</a:t>
            </a:r>
          </a:p>
          <a:p>
            <a:pPr>
              <a:spcAft>
                <a:spcPts val="1000"/>
              </a:spcAft>
            </a:pPr>
            <a:r>
              <a:rPr sz="1500">
                <a:solidFill>
                  <a:srgbClr val="222B33"/>
                </a:solidFill>
                <a:latin typeface="Microsoft YaHei"/>
              </a:rPr>
              <a:t>▪ 资料不清时按最低风险估计</a:t>
            </a:r>
          </a:p>
        </p:txBody>
      </p:sp>
    </p:spTree>
  </p:cSld>
  <p:clrMapOvr>
    <a:masterClrMapping/>
  </p:clrMapOvr>
</p:sld>
</file>

<file path=ppt/slides/slide2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第三步：风险评价</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定出总体风险等级：低、中、高</a:t>
            </a:r>
          </a:p>
          <a:p>
            <a:pPr>
              <a:spcAft>
                <a:spcPts val="1000"/>
              </a:spcAft>
            </a:pPr>
            <a:r>
              <a:rPr sz="2000">
                <a:solidFill>
                  <a:srgbClr val="222B33"/>
                </a:solidFill>
                <a:latin typeface="Microsoft YaHei"/>
              </a:rPr>
              <a:t>▪ 等级决定要多强的措施</a:t>
            </a:r>
          </a:p>
          <a:p>
            <a:pPr>
              <a:spcAft>
                <a:spcPts val="1000"/>
              </a:spcAft>
            </a:pPr>
            <a:r>
              <a:rPr sz="2000">
                <a:solidFill>
                  <a:srgbClr val="222B33"/>
                </a:solidFill>
                <a:latin typeface="Microsoft YaHei"/>
              </a:rPr>
              <a:t>▪ 看现有控制够不够</a:t>
            </a:r>
          </a:p>
          <a:p>
            <a:pPr>
              <a:spcAft>
                <a:spcPts val="1000"/>
              </a:spcAft>
            </a:pPr>
            <a:r>
              <a:rPr sz="2000">
                <a:solidFill>
                  <a:srgbClr val="222B33"/>
                </a:solidFill>
                <a:latin typeface="Microsoft YaHei"/>
              </a:rPr>
              <a:t>▪ 够就可接受，不够就再加</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第三步是风险评价：根据分析结果和风险矩阵，给出总体风险等级——低、中还是高。等级决定要采取多强的控制措施和在哪一级实验室开展。</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只给出等级，不对照现有控制是否足够</a:t>
            </a:r>
          </a:p>
          <a:p>
            <a:pPr>
              <a:spcAft>
                <a:spcPts val="1000"/>
              </a:spcAft>
            </a:pPr>
            <a:r>
              <a:rPr sz="1500">
                <a:solidFill>
                  <a:srgbClr val="222B33"/>
                </a:solidFill>
                <a:latin typeface="Microsoft YaHei"/>
              </a:rPr>
              <a:t>▪ 风险等级高，却沿用低等级的做法</a:t>
            </a:r>
          </a:p>
        </p:txBody>
      </p:sp>
    </p:spTree>
  </p:cSld>
  <p:clrMapOvr>
    <a:masterClrMapping/>
  </p:clrMapOvr>
</p:sld>
</file>

<file path=ppt/slides/slide2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第四步：风险控制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按控制层级选择措施</a:t>
            </a:r>
          </a:p>
          <a:p>
            <a:pPr>
              <a:spcAft>
                <a:spcPts val="1000"/>
              </a:spcAft>
            </a:pPr>
            <a:r>
              <a:rPr sz="2000">
                <a:solidFill>
                  <a:srgbClr val="222B33"/>
                </a:solidFill>
                <a:latin typeface="Microsoft YaHei"/>
              </a:rPr>
              <a:t>▪ 工程控制、个人防护、标准规程一起上</a:t>
            </a:r>
          </a:p>
          <a:p>
            <a:pPr>
              <a:spcAft>
                <a:spcPts val="1000"/>
              </a:spcAft>
            </a:pPr>
            <a:r>
              <a:rPr sz="2000">
                <a:solidFill>
                  <a:srgbClr val="222B33"/>
                </a:solidFill>
                <a:latin typeface="Microsoft YaHei"/>
              </a:rPr>
              <a:t>▪ 例：用密封转子，在安全柜里开盖</a:t>
            </a:r>
          </a:p>
          <a:p>
            <a:pPr>
              <a:spcAft>
                <a:spcPts val="1000"/>
              </a:spcAft>
            </a:pPr>
            <a:r>
              <a:rPr sz="2000">
                <a:solidFill>
                  <a:srgbClr val="222B33"/>
                </a:solidFill>
                <a:latin typeface="Microsoft YaHei"/>
              </a:rPr>
              <a:t>▪ 结论和建议交负责人和课题组</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第四步是风险控制：按控制层级（见第 017 课）选择措施，用什么设备、穿什么防护、怎么操作。工程控制（合适级别的实验室、生物安全柜、密封离心转子）、个人防护和标准操作规程要一起上。例如离心可能产生气溶胶的样本时，使用……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只靠个人防护，不用工程控制</a:t>
            </a:r>
          </a:p>
          <a:p>
            <a:pPr>
              <a:spcAft>
                <a:spcPts val="1000"/>
              </a:spcAft>
            </a:pPr>
            <a:r>
              <a:rPr sz="1500">
                <a:solidFill>
                  <a:srgbClr val="222B33"/>
                </a:solidFill>
                <a:latin typeface="Microsoft YaHei"/>
              </a:rPr>
              <a:t>▪ 离心后在台面上直接开盖</a:t>
            </a:r>
          </a:p>
        </p:txBody>
      </p:sp>
    </p:spTree>
  </p:cSld>
  <p:clrMapOvr>
    <a:masterClrMapping/>
  </p:clrMapOvr>
</p:sld>
</file>

<file path=ppt/slides/slide2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残余风险：能接受才开展</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控制加完，总还剩残余风险</a:t>
            </a:r>
          </a:p>
          <a:p>
            <a:pPr>
              <a:spcAft>
                <a:spcPts val="1000"/>
              </a:spcAft>
            </a:pPr>
            <a:r>
              <a:rPr sz="1700">
                <a:solidFill>
                  <a:srgbClr val="222B33"/>
                </a:solidFill>
                <a:latin typeface="Microsoft YaHei"/>
              </a:rPr>
              <a:t>▪ 逐项评估，再合起来看总风险</a:t>
            </a:r>
          </a:p>
          <a:p>
            <a:pPr>
              <a:spcAft>
                <a:spcPts val="1000"/>
              </a:spcAft>
            </a:pPr>
            <a:r>
              <a:rPr sz="1700">
                <a:solidFill>
                  <a:srgbClr val="222B33"/>
                </a:solidFill>
                <a:latin typeface="Microsoft YaHei"/>
              </a:rPr>
              <a:t>▪ 可接受，负责人批准后才开展</a:t>
            </a:r>
          </a:p>
          <a:p>
            <a:pPr>
              <a:spcAft>
                <a:spcPts val="1000"/>
              </a:spcAft>
            </a:pPr>
            <a:r>
              <a:rPr sz="1700">
                <a:solidFill>
                  <a:srgbClr val="222B33"/>
                </a:solidFill>
                <a:latin typeface="Microsoft YaHei"/>
              </a:rPr>
              <a:t>▪ 不可接受，加措施或者不做</a:t>
            </a:r>
          </a:p>
          <a:p>
            <a:pPr>
              <a:spcAft>
                <a:spcPts val="1000"/>
              </a:spcAft>
            </a:pPr>
            <a:r>
              <a:rPr sz="1700">
                <a:solidFill>
                  <a:srgbClr val="222B33"/>
                </a:solidFill>
                <a:latin typeface="Microsoft YaHei"/>
              </a:rPr>
              <a:t>▪ 风险太高报生物安全委员会</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采取控制措施后剩下的风险叫残余风险：风险能降下来，但清不了零。把要做的操作一项项列出来，每项单独评估，再合起来看总风险。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认为加了措施就“零风险”</a:t>
            </a:r>
          </a:p>
          <a:p>
            <a:pPr>
              <a:spcAft>
                <a:spcPts val="1000"/>
              </a:spcAft>
            </a:pPr>
            <a:r>
              <a:rPr sz="1500">
                <a:solidFill>
                  <a:srgbClr val="222B33"/>
                </a:solidFill>
                <a:latin typeface="Microsoft YaHei"/>
              </a:rPr>
              <a:t>▪ 残余风险不可接受，仍抱侥幸心理开展</a:t>
            </a:r>
          </a:p>
        </p:txBody>
      </p:sp>
    </p:spTree>
  </p:cSld>
  <p:clrMapOvr>
    <a:masterClrMapping/>
  </p:clrMapOvr>
</p:sld>
</file>

<file path=ppt/slides/slide2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第五步：记录成文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把评估过程和控制措施写下来</a:t>
            </a:r>
          </a:p>
          <a:p>
            <a:pPr>
              <a:spcAft>
                <a:spcPts val="1000"/>
              </a:spcAft>
            </a:pPr>
            <a:r>
              <a:rPr sz="2000">
                <a:solidFill>
                  <a:srgbClr val="222B33"/>
                </a:solidFill>
                <a:latin typeface="Microsoft YaHei"/>
              </a:rPr>
              <a:t>▪ 审核签字后存档备查</a:t>
            </a:r>
          </a:p>
          <a:p>
            <a:pPr>
              <a:spcAft>
                <a:spcPts val="1000"/>
              </a:spcAft>
            </a:pPr>
            <a:r>
              <a:rPr sz="2000">
                <a:solidFill>
                  <a:srgbClr val="222B33"/>
                </a:solidFill>
                <a:latin typeface="Microsoft YaHei"/>
              </a:rPr>
              <a:t>▪ 新来的人也能查到</a:t>
            </a:r>
          </a:p>
          <a:p>
            <a:pPr>
              <a:spcAft>
                <a:spcPts val="1000"/>
              </a:spcAft>
            </a:pPr>
            <a:r>
              <a:rPr sz="2000">
                <a:solidFill>
                  <a:srgbClr val="222B33"/>
                </a:solidFill>
                <a:latin typeface="Microsoft YaHei"/>
              </a:rPr>
              <a:t>▪ 写下来，更要每次做到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第五步是记录：把评估的过程、依据、结论和控制措施写成风险评估报告，按本校程序经审核批准后存档备查，新来的人也能查到和学习。书面记录的通用写法见第 015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评估只在脑子里，没有书面报告</a:t>
            </a:r>
          </a:p>
          <a:p>
            <a:pPr>
              <a:spcAft>
                <a:spcPts val="1000"/>
              </a:spcAft>
            </a:pPr>
            <a:r>
              <a:rPr sz="1500">
                <a:solidFill>
                  <a:srgbClr val="222B33"/>
                </a:solidFill>
                <a:latin typeface="Microsoft YaHei"/>
              </a:rPr>
              <a:t>▪ 报告写好就锁进柜子，操作时不照做</a:t>
            </a:r>
          </a:p>
        </p:txBody>
      </p:sp>
    </p:spTree>
  </p:cSld>
  <p:clrMapOvr>
    <a:masterClrMapping/>
  </p:clrMapOvr>
</p:sld>
</file>

<file path=ppt/slides/slide2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第六步：复查与重新评估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没有变化，也要定期复查</a:t>
            </a:r>
          </a:p>
          <a:p>
            <a:pPr>
              <a:spcAft>
                <a:spcPts val="1000"/>
              </a:spcAft>
            </a:pPr>
            <a:r>
              <a:rPr sz="2000">
                <a:solidFill>
                  <a:srgbClr val="222B33"/>
                </a:solidFill>
                <a:latin typeface="Microsoft YaHei"/>
              </a:rPr>
              <a:t>▪ 换病原、换方法、换人、换设施要重评</a:t>
            </a:r>
          </a:p>
          <a:p>
            <a:pPr>
              <a:spcAft>
                <a:spcPts val="1000"/>
              </a:spcAft>
            </a:pPr>
            <a:r>
              <a:rPr sz="2000">
                <a:solidFill>
                  <a:srgbClr val="222B33"/>
                </a:solidFill>
                <a:latin typeface="Microsoft YaHei"/>
              </a:rPr>
              <a:t>▪ 出了事件，也要重新评估</a:t>
            </a:r>
          </a:p>
          <a:p>
            <a:pPr>
              <a:spcAft>
                <a:spcPts val="1000"/>
              </a:spcAft>
            </a:pPr>
            <a:r>
              <a:rPr sz="2000">
                <a:solidFill>
                  <a:srgbClr val="222B33"/>
                </a:solidFill>
                <a:latin typeface="Microsoft YaHei"/>
              </a:rPr>
              <a:t>▪ 新实验的防护级别报委员会审批</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第六步是复查：即使没有变化，也要按本校规定定期复查评估报告。遇到以下情况要及时重新评估并更新：更换病原或材料、改变实验方法或流程、人员变化、设施设备变化，以及发生事件或事故之后。</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换了方法或病原，仍沿用旧的评估报告</a:t>
            </a:r>
          </a:p>
          <a:p>
            <a:pPr>
              <a:spcAft>
                <a:spcPts val="1000"/>
              </a:spcAft>
            </a:pPr>
            <a:r>
              <a:rPr sz="1500">
                <a:solidFill>
                  <a:srgbClr val="222B33"/>
                </a:solidFill>
                <a:latin typeface="Microsoft YaHei"/>
              </a:rPr>
              <a:t>▪ 发生事件后只处理现场，不重新评估</a:t>
            </a:r>
          </a:p>
        </p:txBody>
      </p:sp>
    </p:spTree>
  </p:cSld>
  <p:clrMapOvr>
    <a:masterClrMapping/>
  </p:clrMapOvr>
</p:sld>
</file>

<file path=ppt/slides/slide2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让动手的人参与评估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评估不是一个人填表</a:t>
            </a:r>
          </a:p>
          <a:p>
            <a:pPr>
              <a:spcAft>
                <a:spcPts val="1000"/>
              </a:spcAft>
            </a:pPr>
            <a:r>
              <a:rPr sz="2000">
                <a:solidFill>
                  <a:srgbClr val="222B33"/>
                </a:solidFill>
                <a:latin typeface="Microsoft YaHei"/>
              </a:rPr>
              <a:t>▪ 动手的人最清楚哪里容易出错</a:t>
            </a:r>
          </a:p>
          <a:p>
            <a:pPr>
              <a:spcAft>
                <a:spcPts val="1000"/>
              </a:spcAft>
            </a:pPr>
            <a:r>
              <a:rPr sz="2000">
                <a:solidFill>
                  <a:srgbClr val="222B33"/>
                </a:solidFill>
                <a:latin typeface="Microsoft YaHei"/>
              </a:rPr>
              <a:t>▪ 负责人组织，操作者参与，人人知晓</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风险评估不是一个人填表、别人签字。真正动手做实验的人，最清楚哪一步容易出错、哪里手不顺。因此评估由实验室负责人组织，操作者参与，生物安全管理人员审核，评估结论要让每个相关人员知晓（团队参与见第 015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由负责人一人填写，操作者只签字</a:t>
            </a:r>
          </a:p>
          <a:p>
            <a:pPr>
              <a:spcAft>
                <a:spcPts val="1000"/>
              </a:spcAft>
            </a:pPr>
            <a:r>
              <a:rPr sz="1500">
                <a:solidFill>
                  <a:srgbClr val="222B33"/>
                </a:solidFill>
                <a:latin typeface="Microsoft YaHei"/>
              </a:rPr>
              <a:t>▪ 新成员加入后不学习本实验室的评估报告</a:t>
            </a:r>
          </a:p>
        </p:txBody>
      </p:sp>
    </p:spTree>
  </p:cSld>
  <p:clrMapOvr>
    <a:masterClrMapping/>
  </p:clrMapOvr>
</p:sld>
</file>

<file path=ppt/slides/slide2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关于危害与风险，正确的是：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危害和风险是一回事</a:t>
            </a:r>
          </a:p>
          <a:p>
            <a:pPr algn="l"/>
            <a:r>
              <a:rPr sz="1500" b="0">
                <a:solidFill>
                  <a:srgbClr val="222B33"/>
                </a:solidFill>
                <a:latin typeface="Microsoft YaHei"/>
              </a:rPr>
              <a:t>B. 生物因子本身是危害，动手操作它才带来风险</a:t>
            </a:r>
          </a:p>
          <a:p>
            <a:pPr algn="l"/>
            <a:r>
              <a:rPr sz="1500" b="0">
                <a:solidFill>
                  <a:srgbClr val="222B33"/>
                </a:solidFill>
                <a:latin typeface="Microsoft YaHei"/>
              </a:rPr>
              <a:t>C. 只要病原危险，风险就一定高</a:t>
            </a:r>
          </a:p>
          <a:p>
            <a:pPr algn="l"/>
            <a:r>
              <a:rPr sz="1500" b="0">
                <a:solidFill>
                  <a:srgbClr val="222B33"/>
                </a:solidFill>
                <a:latin typeface="Microsoft YaHei"/>
              </a:rPr>
              <a:t>D. 储存的样本没有风险</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判断：守规则操作能降低出事的可能性，所以万一发生暴露，后果也会变轻。</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2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生物风险评估六步的正确顺序是：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控制、识别、记录、评价、分析、复查</a:t>
            </a:r>
          </a:p>
          <a:p>
            <a:pPr algn="l"/>
            <a:r>
              <a:rPr sz="1500" b="0">
                <a:solidFill>
                  <a:srgbClr val="222B33"/>
                </a:solidFill>
                <a:latin typeface="Microsoft YaHei"/>
              </a:rPr>
              <a:t>B. 识别、分析、评价、控制、记录、复查</a:t>
            </a:r>
          </a:p>
          <a:p>
            <a:pPr algn="l"/>
            <a:r>
              <a:rPr sz="1500" b="0">
                <a:solidFill>
                  <a:srgbClr val="222B33"/>
                </a:solidFill>
                <a:latin typeface="Microsoft YaHei"/>
              </a:rPr>
              <a:t>C. 记录、识别、控制、复查、分析、评价</a:t>
            </a:r>
          </a:p>
          <a:p>
            <a:pPr algn="l"/>
            <a:r>
              <a:rPr sz="1500" b="0">
                <a:solidFill>
                  <a:srgbClr val="222B33"/>
                </a:solidFill>
                <a:latin typeface="Microsoft YaHei"/>
              </a:rPr>
              <a:t>D. 评价、控制、识别、分析、记录、复查</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下列哪种情况不需要立即重新评估？</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更换病原</a:t>
            </a:r>
          </a:p>
          <a:p>
            <a:pPr algn="l"/>
            <a:r>
              <a:rPr sz="1500" b="0">
                <a:solidFill>
                  <a:srgbClr val="222B33"/>
                </a:solidFill>
                <a:latin typeface="Microsoft YaHei"/>
              </a:rPr>
              <a:t>B. 改变实验方法</a:t>
            </a:r>
          </a:p>
          <a:p>
            <a:pPr algn="l"/>
            <a:r>
              <a:rPr sz="1500" b="0">
                <a:solidFill>
                  <a:srgbClr val="222B33"/>
                </a:solidFill>
                <a:latin typeface="Microsoft YaHei"/>
              </a:rPr>
              <a:t>C. 发生暴露事件</a:t>
            </a:r>
          </a:p>
          <a:p>
            <a:pPr algn="l"/>
            <a:r>
              <a:rPr sz="1500" b="0">
                <a:solidFill>
                  <a:srgbClr val="222B33"/>
                </a:solidFill>
                <a:latin typeface="Microsoft YaHei"/>
              </a:rPr>
              <a:t>D. 同一人用同一方法重复做同一实验，且在复查周期内</a:t>
            </a:r>
          </a:p>
        </p:txBody>
      </p:sp>
    </p:spTree>
  </p:cSld>
  <p:clrMapOvr>
    <a:masterClrMapping/>
  </p:clrMapOvr>
</p:sld>
</file>

<file path=ppt/slides/slide2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判断：控制措施加完后，残余风险能降为零，就可以开展实验。</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简答：国内病原微生物分类与国际风险组在编号上有什么不同？</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236.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风险评估：生物安全的地基</a:t>
            </a:r>
          </a:p>
          <a:p>
            <a:pPr>
              <a:spcAft>
                <a:spcPts val="800"/>
              </a:spcAft>
            </a:pPr>
            <a:r>
              <a:rPr sz="1500">
                <a:solidFill>
                  <a:srgbClr val="FFFFFF"/>
                </a:solidFill>
                <a:latin typeface="Microsoft YaHei"/>
              </a:rPr>
              <a:t>▪ K2  危害是物，风险来自操作</a:t>
            </a:r>
          </a:p>
          <a:p>
            <a:pPr>
              <a:spcAft>
                <a:spcPts val="800"/>
              </a:spcAft>
            </a:pPr>
            <a:r>
              <a:rPr sz="1500">
                <a:solidFill>
                  <a:srgbClr val="FFFFFF"/>
                </a:solidFill>
                <a:latin typeface="Microsoft YaHei"/>
              </a:rPr>
              <a:t>▪ K3  风险看可能性和后果</a:t>
            </a:r>
          </a:p>
          <a:p>
            <a:pPr>
              <a:spcAft>
                <a:spcPts val="800"/>
              </a:spcAft>
            </a:pPr>
            <a:r>
              <a:rPr sz="1500">
                <a:solidFill>
                  <a:srgbClr val="FFFFFF"/>
                </a:solidFill>
                <a:latin typeface="Microsoft YaHei"/>
              </a:rPr>
              <a:t>▪ K4  守规矩降的是可能性</a:t>
            </a:r>
          </a:p>
          <a:p>
            <a:pPr>
              <a:spcAft>
                <a:spcPts val="800"/>
              </a:spcAft>
            </a:pPr>
            <a:r>
              <a:rPr sz="1500">
                <a:solidFill>
                  <a:srgbClr val="FFFFFF"/>
                </a:solidFill>
                <a:latin typeface="Microsoft YaHei"/>
              </a:rPr>
              <a:t>▪ K5  可能性与后果分级</a:t>
            </a:r>
          </a:p>
          <a:p>
            <a:pPr>
              <a:spcAft>
                <a:spcPts val="800"/>
              </a:spcAft>
            </a:pPr>
            <a:r>
              <a:rPr sz="1500">
                <a:solidFill>
                  <a:srgbClr val="FFFFFF"/>
                </a:solidFill>
                <a:latin typeface="Microsoft YaHei"/>
              </a:rPr>
              <a:t>▪ K6  风险矩阵</a:t>
            </a:r>
          </a:p>
          <a:p>
            <a:pPr>
              <a:spcAft>
                <a:spcPts val="800"/>
              </a:spcAft>
            </a:pPr>
            <a:r>
              <a:rPr sz="1500">
                <a:solidFill>
                  <a:srgbClr val="FFFFFF"/>
                </a:solidFill>
                <a:latin typeface="Microsoft YaHei"/>
              </a:rPr>
              <a:t>▪ K7  风险随操作而变</a:t>
            </a:r>
          </a:p>
          <a:p>
            <a:pPr>
              <a:spcAft>
                <a:spcPts val="800"/>
              </a:spcAft>
            </a:pPr>
            <a:r>
              <a:rPr sz="1500">
                <a:solidFill>
                  <a:srgbClr val="FFFFFF"/>
                </a:solidFill>
                <a:latin typeface="Microsoft YaHei"/>
              </a:rPr>
              <a:t>▪ K8  评估六步，按顺序走</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K9  第一步：危害识别</a:t>
            </a:r>
          </a:p>
          <a:p>
            <a:pPr>
              <a:spcAft>
                <a:spcPts val="800"/>
              </a:spcAft>
            </a:pPr>
            <a:r>
              <a:rPr sz="1500">
                <a:solidFill>
                  <a:srgbClr val="FFFFFF"/>
                </a:solidFill>
                <a:latin typeface="Microsoft YaHei"/>
              </a:rPr>
              <a:t>▪ K10  第二步：风险分析</a:t>
            </a:r>
          </a:p>
          <a:p>
            <a:pPr>
              <a:spcAft>
                <a:spcPts val="800"/>
              </a:spcAft>
            </a:pPr>
            <a:r>
              <a:rPr sz="1500">
                <a:solidFill>
                  <a:srgbClr val="FFFFFF"/>
                </a:solidFill>
                <a:latin typeface="Microsoft YaHei"/>
              </a:rPr>
              <a:t>▪ K11  第三步：风险评价</a:t>
            </a:r>
          </a:p>
          <a:p>
            <a:pPr>
              <a:spcAft>
                <a:spcPts val="800"/>
              </a:spcAft>
            </a:pPr>
            <a:r>
              <a:rPr sz="1500">
                <a:solidFill>
                  <a:srgbClr val="FFFFFF"/>
                </a:solidFill>
                <a:latin typeface="Microsoft YaHei"/>
              </a:rPr>
              <a:t>▪ K12  第四步：风险控制</a:t>
            </a:r>
          </a:p>
          <a:p>
            <a:pPr>
              <a:spcAft>
                <a:spcPts val="800"/>
              </a:spcAft>
            </a:pPr>
            <a:r>
              <a:rPr sz="1500">
                <a:solidFill>
                  <a:srgbClr val="FFFFFF"/>
                </a:solidFill>
                <a:latin typeface="Microsoft YaHei"/>
              </a:rPr>
              <a:t>▪ K13  残余风险：能接受才开展</a:t>
            </a:r>
          </a:p>
          <a:p>
            <a:pPr>
              <a:spcAft>
                <a:spcPts val="800"/>
              </a:spcAft>
            </a:pPr>
            <a:r>
              <a:rPr sz="1500">
                <a:solidFill>
                  <a:srgbClr val="FFFFFF"/>
                </a:solidFill>
                <a:latin typeface="Microsoft YaHei"/>
              </a:rPr>
              <a:t>▪ K14  第五步：记录成文</a:t>
            </a:r>
          </a:p>
          <a:p>
            <a:pPr>
              <a:spcAft>
                <a:spcPts val="800"/>
              </a:spcAft>
            </a:pPr>
            <a:r>
              <a:rPr sz="1500">
                <a:solidFill>
                  <a:srgbClr val="FFFFFF"/>
                </a:solidFill>
                <a:latin typeface="Microsoft YaHei"/>
              </a:rPr>
              <a:t>▪ K15  第六步：复查与重新评估</a:t>
            </a:r>
          </a:p>
          <a:p>
            <a:pPr>
              <a:spcAft>
                <a:spcPts val="800"/>
              </a:spcAft>
            </a:pPr>
            <a:r>
              <a:rPr sz="1500">
                <a:solidFill>
                  <a:srgbClr val="FFFFFF"/>
                </a:solidFill>
                <a:latin typeface="Microsoft YaHei"/>
              </a:rPr>
              <a:t>▪ K16  让动手的人参与评估</a:t>
            </a:r>
          </a:p>
        </p:txBody>
      </p:sp>
    </p:spTree>
  </p:cSld>
  <p:clrMapOvr>
    <a:masterClrMapping/>
  </p:clrMapOvr>
</p:sld>
</file>

<file path=ppt/slides/slide237.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068</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病原与实验活动的评估要素</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8 分钟（卡通视频 95 镜）　适用对象：进入生命科学、医学、农学、环境等涉及生物材料实验室的高校本科生、研究生和教职工（必修）；实验室负责人、生物安全员和参与编写风险评估报告的人员重点学习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能说出病原层面的评估要素（分类、致病性与感染剂量、感染途径与媒介、宿主范围、环境存活、本地流行、有无预防治疗、是否经过改造），知道国内病原分类与国际风险组方向相反。</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能说出实验活动层面（用途、浓度与培养量、易暴露操作）和人员层面（免疫状态、健康与过敏）的评估要素，以及设施与管理问卷要问什么。</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能做到把一个实验流程拆成单步，逐步用风险矩阵打分并汇总，评估结果成文审核后再进入减缓。</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能判断未知病原、临床和环境样本等应从严评估，一个病原、一项实验要有专门的评估。</a:t>
            </a:r>
          </a:p>
        </p:txBody>
      </p:sp>
    </p:spTree>
  </p:cSld>
  <p:clrMapOvr>
    <a:masterClrMapping/>
  </p:clrMapOvr>
</p:sld>
</file>

<file path=ppt/slides/slide2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《中华人民共和国生物安全法》（以现行文本为准）：病原微生物实验室分类管理、分级管理，从事实验活动应当遵守有关规定</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《病原微生物实验室生物安全管理条例》（以现行文本为准）：病原微生物分类管理；实验活动须在相应级别实验室开展，高致病性病原微生物实验活动须经批准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生物安全通用要求》：风险评估应考虑的要素（生物因子特性、实验活动、人员、设施设备、管理等），评估报告成文并经审核</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233（以现行文本为准）《病原微生物实验室生物安全通用准则》：根据病原危害程度和实验活动进行风险评估</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《人间传染的病原微生物目录》（国家卫生健康委发布，以现行版本为准）：病原微生物分类和实验活动所需防护级别</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《中华人民共和国生物安全法》《农业转基因生物安全管理条例》（以现行文本为准）：经改造的生物须评估并按规定审批（详见第 081 课）</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本校实验室生物安全管理办法、风险评估程序和生物安全委员会章程（以本校规定为准）</a:t>
            </a:r>
          </a:p>
        </p:txBody>
      </p:sp>
    </p:spTree>
  </p:cSld>
  <p:clrMapOvr>
    <a:masterClrMapping/>
  </p:clrMapOvr>
</p:sld>
</file>

<file path=ppt/slides/slide2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一个病原、一项实验，一份评估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评估是摸清这一个病原的风险</a:t>
            </a:r>
          </a:p>
          <a:p>
            <a:pPr>
              <a:spcAft>
                <a:spcPts val="1000"/>
              </a:spcAft>
            </a:pPr>
            <a:r>
              <a:rPr sz="2000">
                <a:solidFill>
                  <a:srgbClr val="222B33"/>
                </a:solidFill>
                <a:latin typeface="Microsoft YaHei"/>
              </a:rPr>
              <a:t>▪ 一个病原一份评估，不能套用</a:t>
            </a:r>
          </a:p>
          <a:p>
            <a:pPr>
              <a:spcAft>
                <a:spcPts val="1000"/>
              </a:spcAft>
            </a:pPr>
            <a:r>
              <a:rPr sz="2000">
                <a:solidFill>
                  <a:srgbClr val="222B33"/>
                </a:solidFill>
                <a:latin typeface="Microsoft YaHei"/>
              </a:rPr>
              <a:t>▪ 没有通用清单，每个实验专门评估</a:t>
            </a:r>
          </a:p>
          <a:p>
            <a:pPr>
              <a:spcAft>
                <a:spcPts val="1000"/>
              </a:spcAft>
            </a:pPr>
            <a:r>
              <a:rPr sz="2000">
                <a:solidFill>
                  <a:srgbClr val="222B33"/>
                </a:solidFill>
                <a:latin typeface="Microsoft YaHei"/>
              </a:rPr>
              <a:t>▪ 评估是 AMP 第一步，先找危害</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风险评估针对的是一个具体的、已知的病原和一项具体的实验活动：摸清这一株病原、这一种做法会带来什么风险。同一个病原，做核酸提取和做大量培养风险不同；不同病原更不能互相套用。所以没有一张“通用清单”能代替具体评估，每个实……</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借用隔壁实验室或网上的评估报告</a:t>
            </a:r>
          </a:p>
          <a:p>
            <a:pPr>
              <a:spcAft>
                <a:spcPts val="1000"/>
              </a:spcAft>
            </a:pPr>
            <a:r>
              <a:rPr sz="1500">
                <a:solidFill>
                  <a:srgbClr val="222B33"/>
                </a:solidFill>
                <a:latin typeface="Microsoft YaHei"/>
              </a:rPr>
              <a:t>▪ 同一病原换了实验方法，仍用原来的评估</a:t>
            </a:r>
          </a:p>
        </p:txBody>
      </p:sp>
    </p:spTree>
  </p:cSld>
  <p:clrMapOvr>
    <a:masterClrMapping/>
  </p:clrMapOvr>
</p:sld>
</file>

<file path=ppt/slides/slide2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未知病原和特殊样本从严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病原没弄清，风险看不清，评估从严</a:t>
            </a:r>
          </a:p>
          <a:p>
            <a:pPr>
              <a:spcAft>
                <a:spcPts val="1000"/>
              </a:spcAft>
            </a:pPr>
            <a:r>
              <a:rPr sz="2000">
                <a:solidFill>
                  <a:srgbClr val="222B33"/>
                </a:solidFill>
                <a:latin typeface="Microsoft YaHei"/>
              </a:rPr>
              <a:t>▪ 临床、土壤、野生动物、改造来源的样本要从严</a:t>
            </a:r>
          </a:p>
          <a:p>
            <a:pPr>
              <a:spcAft>
                <a:spcPts val="1000"/>
              </a:spcAft>
            </a:pPr>
            <a:r>
              <a:rPr sz="2000">
                <a:solidFill>
                  <a:srgbClr val="222B33"/>
                </a:solidFill>
                <a:latin typeface="Microsoft YaHei"/>
              </a:rPr>
              <a:t>▪ 看着健康的来源，也可能带病原</a:t>
            </a:r>
          </a:p>
          <a:p>
            <a:pPr>
              <a:spcAft>
                <a:spcPts val="1000"/>
              </a:spcAft>
            </a:pPr>
            <a:r>
              <a:rPr sz="2000">
                <a:solidFill>
                  <a:srgbClr val="222B33"/>
                </a:solidFill>
                <a:latin typeface="Microsoft YaHei"/>
              </a:rPr>
              <a:t>▪ 往高处估，报委员会审核</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风险评估要以已知的病原信息为依据；不知道是什么，风险就看不清。病原还没有确认时，评估要从严，按较高的防护要求操作，并报单位生物安全委员会审核（定级见第 060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认为“看起来健康的动物样本没有风险”</a:t>
            </a:r>
          </a:p>
          <a:p>
            <a:pPr>
              <a:spcAft>
                <a:spcPts val="1000"/>
              </a:spcAft>
            </a:pPr>
            <a:r>
              <a:rPr sz="1500">
                <a:solidFill>
                  <a:srgbClr val="222B33"/>
                </a:solidFill>
                <a:latin typeface="Microsoft YaHei"/>
              </a:rPr>
              <a:t>▪ 病原未确认就按最低级别处理</a:t>
            </a:r>
          </a:p>
        </p:txBody>
      </p:sp>
    </p:spTree>
  </p:cSld>
  <p:clrMapOvr>
    <a:masterClrMapping/>
  </p:clrMapOvr>
</p:sld>
</file>

<file path=ppt/slides/slide2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冰山：看不见的风险也要想</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风险像冰山，大半在水面下</a:t>
            </a:r>
          </a:p>
          <a:p>
            <a:pPr>
              <a:spcAft>
                <a:spcPts val="1000"/>
              </a:spcAft>
            </a:pPr>
            <a:r>
              <a:rPr sz="2000">
                <a:solidFill>
                  <a:srgbClr val="222B33"/>
                </a:solidFill>
                <a:latin typeface="Microsoft YaHei"/>
              </a:rPr>
              <a:t>▪ 看得见的，能评估、能控制</a:t>
            </a:r>
          </a:p>
          <a:p>
            <a:pPr>
              <a:spcAft>
                <a:spcPts val="1000"/>
              </a:spcAft>
            </a:pPr>
            <a:r>
              <a:rPr sz="2000">
                <a:solidFill>
                  <a:srgbClr val="222B33"/>
                </a:solidFill>
                <a:latin typeface="Microsoft YaHei"/>
              </a:rPr>
              <a:t>▪ 看不见的，如没人知道的过敏，也要预判</a:t>
            </a:r>
          </a:p>
          <a:p>
            <a:pPr>
              <a:spcAft>
                <a:spcPts val="1000"/>
              </a:spcAft>
            </a:pPr>
            <a:r>
              <a:rPr sz="2000">
                <a:solidFill>
                  <a:srgbClr val="222B33"/>
                </a:solidFill>
                <a:latin typeface="Microsoft YaHei"/>
              </a:rPr>
              <a:t>▪ 评估要全面，看得见看不见都想到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风险评估像一座冰山：水面上看得见的风险，能评估、能控制；水面下看不见的风险，同样可能出事，比如一个没人知道的过敏、一种新方法里没有先例的问题。没有先例时，常规的问题清单也可能问不到。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清单上的项目都打了勾，就认为没有风险了</a:t>
            </a:r>
          </a:p>
          <a:p>
            <a:pPr>
              <a:spcAft>
                <a:spcPts val="1000"/>
              </a:spcAft>
            </a:pPr>
            <a:r>
              <a:rPr sz="1500">
                <a:solidFill>
                  <a:srgbClr val="222B33"/>
                </a:solidFill>
                <a:latin typeface="Microsoft YaHei"/>
              </a:rPr>
              <a:t>▪ 对没有先例的新方法不做额外考虑</a:t>
            </a:r>
          </a:p>
        </p:txBody>
      </p:sp>
    </p:spTree>
  </p:cSld>
  <p:clrMapOvr>
    <a:masterClrMapping/>
  </p:clrMapOvr>
</p:sld>
</file>

<file path=ppt/slides/slide2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评估清单：病原、活动、人员、设施</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评估清单分四块：病原、活动、人员、设施</a:t>
            </a:r>
          </a:p>
          <a:p>
            <a:pPr>
              <a:spcAft>
                <a:spcPts val="1000"/>
              </a:spcAft>
            </a:pPr>
            <a:r>
              <a:rPr sz="2000">
                <a:solidFill>
                  <a:srgbClr val="222B33"/>
                </a:solidFill>
                <a:latin typeface="Microsoft YaHei"/>
              </a:rPr>
              <a:t>▪ 病原：分类、途径、剂量、能不能治</a:t>
            </a:r>
          </a:p>
          <a:p>
            <a:pPr>
              <a:spcAft>
                <a:spcPts val="1000"/>
              </a:spcAft>
            </a:pPr>
            <a:r>
              <a:rPr sz="2000">
                <a:solidFill>
                  <a:srgbClr val="222B33"/>
                </a:solidFill>
                <a:latin typeface="Microsoft YaHei"/>
              </a:rPr>
              <a:t>▪ 活动：做什么、用量、几步、几人</a:t>
            </a:r>
          </a:p>
          <a:p>
            <a:pPr>
              <a:spcAft>
                <a:spcPts val="1000"/>
              </a:spcAft>
            </a:pPr>
            <a:r>
              <a:rPr sz="2000">
                <a:solidFill>
                  <a:srgbClr val="222B33"/>
                </a:solidFill>
                <a:latin typeface="Microsoft YaHei"/>
              </a:rPr>
              <a:t>▪ 照着准则，编成本组的评估工具</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评估要看一串判据，可整理成一张清单，分四块：病原本身（分类、致病性、感染剂量、途径、存活、宿主、防治、是否改造）；实验活动（工艺、用量和浓度、步骤多少、参与人数）；人员（培训、健康和免疫状态）；设施与管理（设备、防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只看病原一块，不看活动、人员和设施</a:t>
            </a:r>
          </a:p>
          <a:p>
            <a:pPr>
              <a:spcAft>
                <a:spcPts val="1000"/>
              </a:spcAft>
            </a:pPr>
            <a:r>
              <a:rPr sz="1500">
                <a:solidFill>
                  <a:srgbClr val="222B33"/>
                </a:solidFill>
                <a:latin typeface="Microsoft YaHei"/>
              </a:rPr>
              <a:t>▪ 清单项目写了，却不逐项回答</a:t>
            </a:r>
          </a:p>
        </p:txBody>
      </p:sp>
    </p:spTree>
  </p:cSld>
  <p:clrMapOvr>
    <a:masterClrMapping/>
  </p:clrMapOvr>
</p:sld>
</file>

<file path=ppt/slides/slide2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病原：先查分类</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第一问：它属于哪一类</a:t>
            </a:r>
          </a:p>
          <a:p>
            <a:pPr>
              <a:spcAft>
                <a:spcPts val="1000"/>
              </a:spcAft>
            </a:pPr>
            <a:r>
              <a:rPr sz="2000">
                <a:solidFill>
                  <a:srgbClr val="222B33"/>
                </a:solidFill>
                <a:latin typeface="Microsoft YaHei"/>
              </a:rPr>
              <a:t>▪ 查《人间传染的病原微生物目录》</a:t>
            </a:r>
          </a:p>
          <a:p>
            <a:pPr>
              <a:spcAft>
                <a:spcPts val="1000"/>
              </a:spcAft>
            </a:pPr>
            <a:r>
              <a:rPr sz="2000">
                <a:solidFill>
                  <a:srgbClr val="222B33"/>
                </a:solidFill>
                <a:latin typeface="Microsoft YaHei"/>
              </a:rPr>
              <a:t>▪ 国内第一类最危险，与国际风险组相反</a:t>
            </a:r>
          </a:p>
          <a:p>
            <a:pPr>
              <a:spcAft>
                <a:spcPts val="1000"/>
              </a:spcAft>
            </a:pPr>
            <a:r>
              <a:rPr sz="2000">
                <a:solidFill>
                  <a:srgbClr val="222B33"/>
                </a:solidFill>
                <a:latin typeface="Microsoft YaHei"/>
              </a:rPr>
              <a:t>▪ 分类只是起点，还要往下问</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病原层面的第一问是：它属于哪一类？查《人间传染的病原微生物目录》（以现行版本为准），目录还规定了不同实验活动所需的实验室防护级别。</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把国际风险组的编号当成国内分类</a:t>
            </a:r>
          </a:p>
          <a:p>
            <a:pPr>
              <a:spcAft>
                <a:spcPts val="1000"/>
              </a:spcAft>
            </a:pPr>
            <a:r>
              <a:rPr sz="1500">
                <a:solidFill>
                  <a:srgbClr val="222B33"/>
                </a:solidFill>
                <a:latin typeface="Microsoft YaHei"/>
              </a:rPr>
              <a:t>▪ 只查了分类，不再看操作和人员</a:t>
            </a:r>
          </a:p>
        </p:txBody>
      </p:sp>
    </p:spTree>
  </p:cSld>
  <p:clrMapOvr>
    <a:masterClrMapping/>
  </p:clrMapOvr>
</p:sld>
</file>

<file path=ppt/slides/slide2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病原：致病性、感染剂量与后果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会不会致病，致病性有多强</a:t>
            </a:r>
          </a:p>
          <a:p>
            <a:pPr>
              <a:spcAft>
                <a:spcPts val="1000"/>
              </a:spcAft>
            </a:pPr>
            <a:r>
              <a:rPr sz="2000">
                <a:solidFill>
                  <a:srgbClr val="222B33"/>
                </a:solidFill>
                <a:latin typeface="Microsoft YaHei"/>
              </a:rPr>
              <a:t>▪ 感染剂量：多少量才会致病</a:t>
            </a:r>
          </a:p>
          <a:p>
            <a:pPr>
              <a:spcAft>
                <a:spcPts val="1000"/>
              </a:spcAft>
            </a:pPr>
            <a:r>
              <a:rPr sz="2000">
                <a:solidFill>
                  <a:srgbClr val="222B33"/>
                </a:solidFill>
                <a:latin typeface="Microsoft YaHei"/>
              </a:rPr>
              <a:t>▪ 很少的量就能致病，要格外小心</a:t>
            </a:r>
          </a:p>
          <a:p>
            <a:pPr>
              <a:spcAft>
                <a:spcPts val="1000"/>
              </a:spcAft>
            </a:pPr>
            <a:r>
              <a:rPr sz="2000">
                <a:solidFill>
                  <a:srgbClr val="222B33"/>
                </a:solidFill>
                <a:latin typeface="Microsoft YaHei"/>
              </a:rPr>
              <a:t>▪ 暴露后果有多重；培养体积尽量小</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一看致病性：暴露后会不会致病，致病性有多强。二看感染剂量：多少量才会引起感染（具体数值查权威资料，不同病原差别很大）；感染剂量越低，越要格外小心。三看暴露后果：引起的疾病有多严重。</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只看是否致病，不看感染剂量和后果严重程度</a:t>
            </a:r>
          </a:p>
          <a:p>
            <a:pPr>
              <a:spcAft>
                <a:spcPts val="1000"/>
              </a:spcAft>
            </a:pPr>
            <a:r>
              <a:rPr sz="1500">
                <a:solidFill>
                  <a:srgbClr val="222B33"/>
                </a:solidFill>
                <a:latin typeface="Microsoft YaHei"/>
              </a:rPr>
              <a:t>▪ 培养量远超实验需要</a:t>
            </a:r>
          </a:p>
        </p:txBody>
      </p:sp>
    </p:spTree>
  </p:cSld>
  <p:clrMapOvr>
    <a:masterClrMapping/>
  </p:clrMapOvr>
</p:sld>
</file>

<file path=ppt/slides/slide2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病原：感染途径与媒介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从哪里进入人体：吸入、接触、刺伤、食入</a:t>
            </a:r>
          </a:p>
          <a:p>
            <a:pPr>
              <a:spcAft>
                <a:spcPts val="1000"/>
              </a:spcAft>
            </a:pPr>
            <a:r>
              <a:rPr sz="2000">
                <a:solidFill>
                  <a:srgbClr val="222B33"/>
                </a:solidFill>
                <a:latin typeface="Microsoft YaHei"/>
              </a:rPr>
              <a:t>▪ 会不会形成气溶胶，经空气传</a:t>
            </a:r>
          </a:p>
          <a:p>
            <a:pPr>
              <a:spcAft>
                <a:spcPts val="1000"/>
              </a:spcAft>
            </a:pPr>
            <a:r>
              <a:rPr sz="2000">
                <a:solidFill>
                  <a:srgbClr val="222B33"/>
                </a:solidFill>
                <a:latin typeface="Microsoft YaHei"/>
              </a:rPr>
              <a:t>▪ 有没有媒介或宿主帮它传</a:t>
            </a:r>
          </a:p>
          <a:p>
            <a:pPr>
              <a:spcAft>
                <a:spcPts val="1000"/>
              </a:spcAft>
            </a:pPr>
            <a:r>
              <a:rPr sz="2000">
                <a:solidFill>
                  <a:srgbClr val="222B33"/>
                </a:solidFill>
                <a:latin typeface="Microsoft YaHei"/>
              </a:rPr>
              <a:t>▪ 会不会人传人，也要查清</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要查清病原从哪里进入人体：吸入气溶胶、皮肤黏膜接触、锐器刺伤，还是误食入口；会不会形成气溶胶经空气传播。还要看传播方式中有没有媒介（如蜱、蚊等）或动物宿主参与，以及会不会人传人。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只考虑自然感染途径，忽略实验室中的气溶胶和刺伤</a:t>
            </a:r>
          </a:p>
          <a:p>
            <a:pPr>
              <a:spcAft>
                <a:spcPts val="1000"/>
              </a:spcAft>
            </a:pPr>
            <a:r>
              <a:rPr sz="1500">
                <a:solidFill>
                  <a:srgbClr val="222B33"/>
                </a:solidFill>
                <a:latin typeface="Microsoft YaHei"/>
              </a:rPr>
              <a:t>▪ 不了解病原有无媒介和宿主</a:t>
            </a:r>
          </a:p>
        </p:txBody>
      </p:sp>
    </p:spTree>
  </p:cSld>
  <p:clrMapOvr>
    <a:masterClrMapping/>
  </p:clrMapOvr>
</p:sld>
</file>

<file path=ppt/slides/slide2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病原：宿主范围、环境存活、本地流行</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有的病原能在多种宿主里生存</a:t>
            </a:r>
          </a:p>
          <a:p>
            <a:pPr>
              <a:spcAft>
                <a:spcPts val="1000"/>
              </a:spcAft>
            </a:pPr>
            <a:r>
              <a:rPr sz="2000">
                <a:solidFill>
                  <a:srgbClr val="222B33"/>
                </a:solidFill>
                <a:latin typeface="Microsoft YaHei"/>
              </a:rPr>
              <a:t>▪ 有的从环境吸入就能感染</a:t>
            </a:r>
          </a:p>
          <a:p>
            <a:pPr>
              <a:spcAft>
                <a:spcPts val="1000"/>
              </a:spcAft>
            </a:pPr>
            <a:r>
              <a:rPr sz="2000">
                <a:solidFill>
                  <a:srgbClr val="222B33"/>
                </a:solidFill>
                <a:latin typeface="Microsoft YaHei"/>
              </a:rPr>
              <a:t>▪ 在环境里能活多久</a:t>
            </a:r>
          </a:p>
          <a:p>
            <a:pPr>
              <a:spcAft>
                <a:spcPts val="1000"/>
              </a:spcAft>
            </a:pPr>
            <a:r>
              <a:rPr sz="2000">
                <a:solidFill>
                  <a:srgbClr val="222B33"/>
                </a:solidFill>
                <a:latin typeface="Microsoft YaHei"/>
              </a:rPr>
              <a:t>▪ 本地流行还是外来，免疫背景不同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宿主范围：有的病原能在人、多种动物甚至环境中生存，宿主和来源很多样，有的从环境中吸入就能感染；制定管理方案时要把这些都算上。</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只考虑人是宿主，忽略实验动物和环境</a:t>
            </a:r>
          </a:p>
          <a:p>
            <a:pPr>
              <a:spcAft>
                <a:spcPts val="1000"/>
              </a:spcAft>
            </a:pPr>
            <a:r>
              <a:rPr sz="1500">
                <a:solidFill>
                  <a:srgbClr val="222B33"/>
                </a:solidFill>
                <a:latin typeface="Microsoft YaHei"/>
              </a:rPr>
              <a:t>▪ 不考虑病原在环境中的存活时间</a:t>
            </a:r>
          </a:p>
        </p:txBody>
      </p:sp>
    </p:spTree>
  </p:cSld>
  <p:clrMapOvr>
    <a:masterClrMapping/>
  </p:clrMapOvr>
</p:sld>
</file>

<file path=ppt/slides/slide2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病原：有无预防治疗和已有研究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有没有疫苗预防，有没有药物治疗</a:t>
            </a:r>
          </a:p>
          <a:p>
            <a:pPr>
              <a:spcAft>
                <a:spcPts val="1000"/>
              </a:spcAft>
            </a:pPr>
            <a:r>
              <a:rPr sz="2000">
                <a:solidFill>
                  <a:srgbClr val="222B33"/>
                </a:solidFill>
                <a:latin typeface="Microsoft YaHei"/>
              </a:rPr>
              <a:t>▪ 本地能不能及时预防和治疗</a:t>
            </a:r>
          </a:p>
          <a:p>
            <a:pPr>
              <a:spcAft>
                <a:spcPts val="1000"/>
              </a:spcAft>
            </a:pPr>
            <a:r>
              <a:rPr sz="2000">
                <a:solidFill>
                  <a:srgbClr val="222B33"/>
                </a:solidFill>
                <a:latin typeface="Microsoft YaHei"/>
              </a:rPr>
              <a:t>▪ 先查文献和已有研究，拿到依据</a:t>
            </a:r>
          </a:p>
          <a:p>
            <a:pPr>
              <a:spcAft>
                <a:spcPts val="1000"/>
              </a:spcAft>
            </a:pPr>
            <a:r>
              <a:rPr sz="2000">
                <a:solidFill>
                  <a:srgbClr val="222B33"/>
                </a:solidFill>
                <a:latin typeface="Microsoft YaHei"/>
              </a:rPr>
              <a:t>▪ 无药可防可治，风险更高</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要问有没有有效的疫苗预防、有没有药物治疗，本地医疗机构能不能及时提供。没有有效的预防和治疗手段，暴露的后果就更严重，风险等级随之升高。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凭印象判断“有药可治”，不查资料</a:t>
            </a:r>
          </a:p>
          <a:p>
            <a:pPr>
              <a:spcAft>
                <a:spcPts val="1000"/>
              </a:spcAft>
            </a:pPr>
            <a:r>
              <a:rPr sz="1500">
                <a:solidFill>
                  <a:srgbClr val="222B33"/>
                </a:solidFill>
                <a:latin typeface="Microsoft YaHei"/>
              </a:rPr>
              <a:t>▪ 不了解本地医疗机构能否处置</a:t>
            </a:r>
          </a:p>
        </p:txBody>
      </p:sp>
    </p:spTree>
  </p:cSld>
  <p:clrMapOvr>
    <a:masterClrMapping/>
  </p:clrMapOvr>
</p:sld>
</file>

<file path=ppt/slides/slide2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病原：是否经过改造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是否做过基因改造，一定要问</a:t>
            </a:r>
          </a:p>
          <a:p>
            <a:pPr>
              <a:spcAft>
                <a:spcPts val="1000"/>
              </a:spcAft>
            </a:pPr>
            <a:r>
              <a:rPr sz="2000">
                <a:solidFill>
                  <a:srgbClr val="222B33"/>
                </a:solidFill>
                <a:latin typeface="Microsoft YaHei"/>
              </a:rPr>
              <a:t>▪ 改造会带来新风险，要重新评估</a:t>
            </a:r>
          </a:p>
          <a:p>
            <a:pPr>
              <a:spcAft>
                <a:spcPts val="1000"/>
              </a:spcAft>
            </a:pPr>
            <a:r>
              <a:rPr sz="2000">
                <a:solidFill>
                  <a:srgbClr val="222B33"/>
                </a:solidFill>
                <a:latin typeface="Microsoft YaHei"/>
              </a:rPr>
              <a:t>▪ 植物还要问：会不会随花粉传出去</a:t>
            </a:r>
          </a:p>
          <a:p>
            <a:pPr>
              <a:spcAft>
                <a:spcPts val="1000"/>
              </a:spcAft>
            </a:pPr>
            <a:r>
              <a:rPr sz="2000">
                <a:solidFill>
                  <a:srgbClr val="222B33"/>
                </a:solidFill>
                <a:latin typeface="Microsoft YaHei"/>
              </a:rPr>
              <a:t>▪ 改造生物的评估见第 081 课</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要问这个生物材料有没有做过基因改造。改造可能改变它的特性，带来新的风险，必须重新评估，并按规定报单位生物安全委员会审查；不能直接沿用未改造亲本的结论。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认为“改造后的菌株和原来一样”</a:t>
            </a:r>
          </a:p>
          <a:p>
            <a:pPr>
              <a:spcAft>
                <a:spcPts val="1000"/>
              </a:spcAft>
            </a:pPr>
            <a:r>
              <a:rPr sz="1500">
                <a:solidFill>
                  <a:srgbClr val="222B33"/>
                </a:solidFill>
                <a:latin typeface="Microsoft YaHei"/>
              </a:rPr>
              <a:t>▪ 改造实验不报委员会审查</a:t>
            </a:r>
          </a:p>
        </p:txBody>
      </p:sp>
    </p:spTree>
  </p:cSld>
  <p:clrMapOvr>
    <a:masterClrMapping/>
  </p:clrMapOvr>
</p:sld>
</file>

<file path=ppt/slides/slide2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活动：拿它做什么，量有多大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活动第一问：你拿它做什么</a:t>
            </a:r>
          </a:p>
          <a:p>
            <a:pPr>
              <a:spcAft>
                <a:spcPts val="1000"/>
              </a:spcAft>
            </a:pPr>
            <a:r>
              <a:rPr sz="2000">
                <a:solidFill>
                  <a:srgbClr val="222B33"/>
                </a:solidFill>
                <a:latin typeface="Microsoft YaHei"/>
              </a:rPr>
              <a:t>▪ 冻存最低，检测升高，大量培养最高</a:t>
            </a:r>
          </a:p>
          <a:p>
            <a:pPr>
              <a:spcAft>
                <a:spcPts val="1000"/>
              </a:spcAft>
            </a:pPr>
            <a:r>
              <a:rPr sz="2000">
                <a:solidFill>
                  <a:srgbClr val="222B33"/>
                </a:solidFill>
                <a:latin typeface="Microsoft YaHei"/>
              </a:rPr>
              <a:t>▪ 浓度高、量大，风险也跟着涨</a:t>
            </a:r>
          </a:p>
          <a:p>
            <a:pPr>
              <a:spcAft>
                <a:spcPts val="1000"/>
              </a:spcAft>
            </a:pPr>
            <a:r>
              <a:rPr sz="2000">
                <a:solidFill>
                  <a:srgbClr val="222B33"/>
                </a:solidFill>
                <a:latin typeface="Microsoft YaHei"/>
              </a:rPr>
              <a:t>▪ 风险高的操作，防护相应升级</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同一个病原，操作不同风险不同。评估先问：你拿它做什么？冻存保存风险最低，开展检测风险升高，大量培养风险最高；只提取核酸风险较低，种植改造植物并收集花粉风险较高。培养使病原数量增加，一旦溢洒后果更重。</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按冻存样本的风险去做大量培养</a:t>
            </a:r>
          </a:p>
          <a:p>
            <a:pPr>
              <a:spcAft>
                <a:spcPts val="1000"/>
              </a:spcAft>
            </a:pPr>
            <a:r>
              <a:rPr sz="1500">
                <a:solidFill>
                  <a:srgbClr val="222B33"/>
                </a:solidFill>
                <a:latin typeface="Microsoft YaHei"/>
              </a:rPr>
              <a:t>▪ 随意扩大培养量和浓度</a:t>
            </a:r>
          </a:p>
        </p:txBody>
      </p:sp>
    </p:spTree>
  </p:cSld>
  <p:clrMapOvr>
    <a:masterClrMapping/>
  </p:clrMapOvr>
</p:sld>
</file>

<file path=ppt/slides/slide2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活动：哪些操作容易暴露</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标出易产生气溶胶的操作</a:t>
            </a:r>
          </a:p>
          <a:p>
            <a:pPr>
              <a:spcAft>
                <a:spcPts val="1000"/>
              </a:spcAft>
            </a:pPr>
            <a:r>
              <a:rPr sz="2000">
                <a:solidFill>
                  <a:srgbClr val="222B33"/>
                </a:solidFill>
                <a:latin typeface="Microsoft YaHei"/>
              </a:rPr>
              <a:t>▪ 有没有锐器、溅洒和手接触</a:t>
            </a:r>
          </a:p>
          <a:p>
            <a:pPr>
              <a:spcAft>
                <a:spcPts val="1000"/>
              </a:spcAft>
            </a:pPr>
            <a:r>
              <a:rPr sz="2000">
                <a:solidFill>
                  <a:srgbClr val="222B33"/>
                </a:solidFill>
                <a:latin typeface="Microsoft YaHei"/>
              </a:rPr>
              <a:t>▪ 把操作拆成小步，标出风险点</a:t>
            </a:r>
          </a:p>
          <a:p>
            <a:pPr>
              <a:spcAft>
                <a:spcPts val="1000"/>
              </a:spcAft>
            </a:pPr>
            <a:r>
              <a:rPr sz="2000">
                <a:solidFill>
                  <a:srgbClr val="222B33"/>
                </a:solidFill>
                <a:latin typeface="Microsoft YaHei"/>
              </a:rPr>
              <a:t>▪ 每步的风险，写进样本处理方案</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把整个操作拆成一个个小步骤，每一步问：会不会产生气溶胶（离心、振荡、匀浆、超声、剧烈吹打等）？有没有锐器、溅洒和手接触？把这些风险点标出来。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只评估病原，不评估具体操作</a:t>
            </a:r>
          </a:p>
          <a:p>
            <a:pPr>
              <a:spcAft>
                <a:spcPts val="1000"/>
              </a:spcAft>
            </a:pPr>
            <a:r>
              <a:rPr sz="1500">
                <a:solidFill>
                  <a:srgbClr val="222B33"/>
                </a:solidFill>
                <a:latin typeface="Microsoft YaHei"/>
              </a:rPr>
              <a:t>▪ 忽略振荡、吹打等不起眼的气溶胶来源</a:t>
            </a:r>
          </a:p>
        </p:txBody>
      </p:sp>
    </p:spTree>
  </p:cSld>
  <p:clrMapOvr>
    <a:masterClrMapping/>
  </p:clrMapOvr>
</p:sld>
</file>

<file path=ppt/slides/slide2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人员：免疫状态、健康与过敏</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评估别只看病原，也要看人</a:t>
            </a:r>
          </a:p>
          <a:p>
            <a:pPr>
              <a:spcAft>
                <a:spcPts val="1000"/>
              </a:spcAft>
            </a:pPr>
            <a:r>
              <a:rPr sz="2000">
                <a:solidFill>
                  <a:srgbClr val="222B33"/>
                </a:solidFill>
                <a:latin typeface="Microsoft YaHei"/>
              </a:rPr>
              <a:t>▪ 免疫低下的人，要加额外防护</a:t>
            </a:r>
          </a:p>
          <a:p>
            <a:pPr>
              <a:spcAft>
                <a:spcPts val="1000"/>
              </a:spcAft>
            </a:pPr>
            <a:r>
              <a:rPr sz="2000">
                <a:solidFill>
                  <a:srgbClr val="222B33"/>
                </a:solidFill>
                <a:latin typeface="Microsoft YaHei"/>
              </a:rPr>
              <a:t>▪ 过敏、免疫低下要主动说明</a:t>
            </a:r>
          </a:p>
          <a:p>
            <a:pPr>
              <a:spcAft>
                <a:spcPts val="1000"/>
              </a:spcAft>
            </a:pPr>
            <a:r>
              <a:rPr sz="2000">
                <a:solidFill>
                  <a:srgbClr val="222B33"/>
                </a:solidFill>
                <a:latin typeface="Microsoft YaHei"/>
              </a:rPr>
              <a:t>▪ 负责人调整安排，并为个人保密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评估也要看操作的人：免疫状态、健康状况、过敏史、是否怀孕等。免疫低下的人风险更高，需要额外的防护，或者调整工作安排。</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隐瞒自己的过敏或免疫低下情况</a:t>
            </a:r>
          </a:p>
          <a:p>
            <a:pPr>
              <a:spcAft>
                <a:spcPts val="1000"/>
              </a:spcAft>
            </a:pPr>
            <a:r>
              <a:rPr sz="1500">
                <a:solidFill>
                  <a:srgbClr val="222B33"/>
                </a:solidFill>
                <a:latin typeface="Microsoft YaHei"/>
              </a:rPr>
              <a:t>▪ 负责人公开传播成员的健康信息</a:t>
            </a:r>
          </a:p>
        </p:txBody>
      </p:sp>
    </p:spTree>
  </p:cSld>
  <p:clrMapOvr>
    <a:masterClrMapping/>
  </p:clrMapOvr>
</p:sld>
</file>

<file path=ppt/slides/slide2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病原问卷：是或否，逐条答</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把要素变成问卷，是或否逐条答</a:t>
            </a:r>
          </a:p>
          <a:p>
            <a:pPr>
              <a:spcAft>
                <a:spcPts val="1000"/>
              </a:spcAft>
            </a:pPr>
            <a:r>
              <a:rPr sz="2000">
                <a:solidFill>
                  <a:srgbClr val="222B33"/>
                </a:solidFill>
                <a:latin typeface="Microsoft YaHei"/>
              </a:rPr>
              <a:t>▪ 会致病吗？经吸入吗？经接触吗？</a:t>
            </a:r>
          </a:p>
          <a:p>
            <a:pPr>
              <a:spcAft>
                <a:spcPts val="1000"/>
              </a:spcAft>
            </a:pPr>
            <a:r>
              <a:rPr sz="2000">
                <a:solidFill>
                  <a:srgbClr val="222B33"/>
                </a:solidFill>
                <a:latin typeface="Microsoft YaHei"/>
              </a:rPr>
              <a:t>▪ 环境稳定吗？改造过吗？好治吗？</a:t>
            </a:r>
          </a:p>
          <a:p>
            <a:pPr>
              <a:spcAft>
                <a:spcPts val="1000"/>
              </a:spcAft>
            </a:pPr>
            <a:r>
              <a:rPr sz="2000">
                <a:solidFill>
                  <a:srgbClr val="222B33"/>
                </a:solidFill>
                <a:latin typeface="Microsoft YaHei"/>
              </a:rPr>
              <a:t>▪ 答“是”的地方，就是控制重点</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可以把病原要素变成一份问卷，用“是”或“否”逐条回答：是病原吗？暴露后会致病吗？经吸入传播吗？经接触传播吗？在环境中稳定吗？经过改造吗？好治吗？</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问卷只打勾不思考，拿不准也随便填“否”</a:t>
            </a:r>
          </a:p>
          <a:p>
            <a:pPr>
              <a:spcAft>
                <a:spcPts val="1000"/>
              </a:spcAft>
            </a:pPr>
            <a:r>
              <a:rPr sz="1500">
                <a:solidFill>
                  <a:srgbClr val="222B33"/>
                </a:solidFill>
                <a:latin typeface="Microsoft YaHei"/>
              </a:rPr>
              <a:t>▪ 答出风险点却没有对应的控制措施</a:t>
            </a:r>
          </a:p>
        </p:txBody>
      </p:sp>
    </p:spTree>
  </p:cSld>
  <p:clrMapOvr>
    <a:masterClrMapping/>
  </p:clrMapOvr>
</p:sld>
</file>

<file path=ppt/slides/slide2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设施与管理问卷</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培训够吗？有应急预案吗？</a:t>
            </a:r>
          </a:p>
          <a:p>
            <a:pPr>
              <a:spcAft>
                <a:spcPts val="1000"/>
              </a:spcAft>
            </a:pPr>
            <a:r>
              <a:rPr sz="2000">
                <a:solidFill>
                  <a:srgbClr val="222B33"/>
                </a:solidFill>
                <a:latin typeface="Microsoft YaHei"/>
              </a:rPr>
              <a:t>▪ 关键设备齐吗？防护够吗？</a:t>
            </a:r>
          </a:p>
          <a:p>
            <a:pPr>
              <a:spcAft>
                <a:spcPts val="1000"/>
              </a:spcAft>
            </a:pPr>
            <a:r>
              <a:rPr sz="2000">
                <a:solidFill>
                  <a:srgbClr val="222B33"/>
                </a:solidFill>
                <a:latin typeface="Microsoft YaHei"/>
              </a:rPr>
              <a:t>▪ 废物怎么处置？安保和规程呢？</a:t>
            </a:r>
          </a:p>
          <a:p>
            <a:pPr>
              <a:spcAft>
                <a:spcPts val="1000"/>
              </a:spcAft>
            </a:pPr>
            <a:r>
              <a:rPr sz="2000">
                <a:solidFill>
                  <a:srgbClr val="222B33"/>
                </a:solidFill>
                <a:latin typeface="Microsoft YaHei"/>
              </a:rPr>
              <a:t>▪ 和负责人一起确认；换病原要重写规程、重新培训</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再看现有控制够不够，问设施与管理：人员培训够不够？有没有应急预案？关键设备（生物安全柜、高压灭菌器等）齐不齐、合格不合格？个人防护够不够？废物怎么处置？安保措施和专门的操作规程有没有？</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设备过期未检测仍认为“控制够了”</a:t>
            </a:r>
          </a:p>
          <a:p>
            <a:pPr>
              <a:spcAft>
                <a:spcPts val="1000"/>
              </a:spcAft>
            </a:pPr>
            <a:r>
              <a:rPr sz="1500">
                <a:solidFill>
                  <a:srgbClr val="222B33"/>
                </a:solidFill>
                <a:latin typeface="Microsoft YaHei"/>
              </a:rPr>
              <a:t>▪ 换了病原仍用旧规程</a:t>
            </a:r>
          </a:p>
        </p:txBody>
      </p:sp>
    </p:spTree>
  </p:cSld>
  <p:clrMapOvr>
    <a:masterClrMapping/>
  </p:clrMapOvr>
</p:sld>
</file>

<file path=ppt/slides/slide2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安全和安保两类风险都要评</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要评两类：生物安全和生物安保</a:t>
            </a:r>
          </a:p>
          <a:p>
            <a:pPr>
              <a:spcAft>
                <a:spcPts val="1000"/>
              </a:spcAft>
            </a:pPr>
            <a:r>
              <a:rPr sz="2000">
                <a:solidFill>
                  <a:srgbClr val="222B33"/>
                </a:solidFill>
                <a:latin typeface="Microsoft YaHei"/>
              </a:rPr>
              <a:t>▪ 安全：人员和社区会不会暴露</a:t>
            </a:r>
          </a:p>
          <a:p>
            <a:pPr>
              <a:spcAft>
                <a:spcPts val="1000"/>
              </a:spcAft>
            </a:pPr>
            <a:r>
              <a:rPr sz="2000">
                <a:solidFill>
                  <a:srgbClr val="222B33"/>
                </a:solidFill>
                <a:latin typeface="Microsoft YaHei"/>
              </a:rPr>
              <a:t>▪ 安保：样本会不会丢失、被盗</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评估要同时看两类风险：生物安全风险——操作人员和周边社区会不会暴露；生物安保风险——样本会不会丢失、被盗或被滥用（生物安保见第 083 课）。两类风险都要放进同一张评估表里打分。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只评感染风险，不评样本丢失、被盗</a:t>
            </a:r>
          </a:p>
        </p:txBody>
      </p:sp>
    </p:spTree>
  </p:cSld>
  <p:clrMapOvr>
    <a:masterClrMapping/>
  </p:clrMapOvr>
</p:sld>
</file>

<file path=ppt/slides/slide2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案例：一批疑似感染的血样</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一批疑似感染的患者血样</a:t>
            </a:r>
          </a:p>
          <a:p>
            <a:pPr>
              <a:spcAft>
                <a:spcPts val="1000"/>
              </a:spcAft>
            </a:pPr>
            <a:r>
              <a:rPr sz="2000">
                <a:solidFill>
                  <a:srgbClr val="222B33"/>
                </a:solidFill>
                <a:latin typeface="Microsoft YaHei"/>
              </a:rPr>
              <a:t>▪ 镜检没查到，抗体查到了，未确证</a:t>
            </a:r>
          </a:p>
          <a:p>
            <a:pPr>
              <a:spcAft>
                <a:spcPts val="1000"/>
              </a:spcAft>
            </a:pPr>
            <a:r>
              <a:rPr sz="2000">
                <a:solidFill>
                  <a:srgbClr val="222B33"/>
                </a:solidFill>
                <a:latin typeface="Microsoft YaHei"/>
              </a:rPr>
              <a:t>▪ 已知靠蜱叮咬传，未见人传人</a:t>
            </a:r>
          </a:p>
          <a:p>
            <a:pPr>
              <a:spcAft>
                <a:spcPts val="1000"/>
              </a:spcAft>
            </a:pPr>
            <a:r>
              <a:rPr sz="2000">
                <a:solidFill>
                  <a:srgbClr val="222B33"/>
                </a:solidFill>
                <a:latin typeface="Microsoft YaHei"/>
              </a:rPr>
              <a:t>▪ 要做的是分离血清，做免疫检测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以一个结构化案例说明逐步评估的方法：某研究项目收到一批患者血样，怀疑感染某种经蜱叮咬传播的病原，但未确证——镜检没查到病原，抗体检测阳性；该病原已知靠蜱叮咬传播，未见人传人报道。实验室要做的是分离血清，再做免疫检测。</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因为“镜检没查到”就按无感染性样本处理</a:t>
            </a:r>
          </a:p>
        </p:txBody>
      </p:sp>
    </p:spTree>
  </p:cSld>
  <p:clrMapOvr>
    <a:masterClrMapping/>
  </p:clrMapOvr>
</p:sld>
</file>

<file path=ppt/slides/slide2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把流程拆成单步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结构化评估：把流程拆成单步</a:t>
            </a:r>
          </a:p>
          <a:p>
            <a:pPr>
              <a:spcAft>
                <a:spcPts val="1000"/>
              </a:spcAft>
            </a:pPr>
            <a:r>
              <a:rPr sz="2000">
                <a:solidFill>
                  <a:srgbClr val="222B33"/>
                </a:solidFill>
                <a:latin typeface="Microsoft YaHei"/>
              </a:rPr>
              <a:t>▪ 接收存放、编目、分离血清、检测</a:t>
            </a:r>
          </a:p>
          <a:p>
            <a:pPr>
              <a:spcAft>
                <a:spcPts val="1000"/>
              </a:spcAft>
            </a:pPr>
            <a:r>
              <a:rPr sz="2000">
                <a:solidFill>
                  <a:srgbClr val="222B33"/>
                </a:solidFill>
                <a:latin typeface="Microsoft YaHei"/>
              </a:rPr>
              <a:t>▪ 处置、去污、记录、应急，也不能漏</a:t>
            </a:r>
          </a:p>
          <a:p>
            <a:pPr>
              <a:spcAft>
                <a:spcPts val="1000"/>
              </a:spcAft>
            </a:pPr>
            <a:r>
              <a:rPr sz="2000">
                <a:solidFill>
                  <a:srgbClr val="222B33"/>
                </a:solidFill>
                <a:latin typeface="Microsoft YaHei"/>
              </a:rPr>
              <a:t>▪ 每一步插旗，逐一评估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结构化评估就是把一个流程拆成单个操作，一步一步评估。本案例拆成八步：接收与初始存放、样本编目、分离血清、免疫检测、检测后样本处置、去污、记录保存、意外暴露的应急处置。后四步常被忽略，也不能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只评估“检测”这一步，漏掉接收、处置和去污</a:t>
            </a:r>
          </a:p>
          <a:p>
            <a:pPr>
              <a:spcAft>
                <a:spcPts val="1000"/>
              </a:spcAft>
            </a:pPr>
            <a:r>
              <a:rPr sz="1500">
                <a:solidFill>
                  <a:srgbClr val="222B33"/>
                </a:solidFill>
                <a:latin typeface="Microsoft YaHei"/>
              </a:rPr>
              <a:t>▪ 不把应急处置列入评估</a:t>
            </a:r>
          </a:p>
        </p:txBody>
      </p:sp>
    </p:spTree>
  </p:cSld>
  <p:clrMapOvr>
    <a:masterClrMapping/>
  </p:clrMapOvr>
</p:sld>
</file>

<file path=ppt/slides/slide2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逐步打分，汇成总表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每一步用风险矩阵打分</a:t>
            </a:r>
          </a:p>
          <a:p>
            <a:pPr>
              <a:spcAft>
                <a:spcPts val="1000"/>
              </a:spcAft>
            </a:pPr>
            <a:r>
              <a:rPr sz="2000">
                <a:solidFill>
                  <a:srgbClr val="222B33"/>
                </a:solidFill>
                <a:latin typeface="Microsoft YaHei"/>
              </a:rPr>
              <a:t>▪ 颜色分低、中、高、很高</a:t>
            </a:r>
          </a:p>
          <a:p>
            <a:pPr>
              <a:spcAft>
                <a:spcPts val="1000"/>
              </a:spcAft>
            </a:pPr>
            <a:r>
              <a:rPr sz="2000">
                <a:solidFill>
                  <a:srgbClr val="222B33"/>
                </a:solidFill>
                <a:latin typeface="Microsoft YaHei"/>
              </a:rPr>
              <a:t>▪ 汇成累计矩阵，全程风险一行看清</a:t>
            </a:r>
          </a:p>
          <a:p>
            <a:pPr>
              <a:spcAft>
                <a:spcPts val="1000"/>
              </a:spcAft>
            </a:pPr>
            <a:r>
              <a:rPr sz="2000">
                <a:solidFill>
                  <a:srgbClr val="222B33"/>
                </a:solidFill>
                <a:latin typeface="Microsoft YaHei"/>
              </a:rPr>
              <a:t>▪ 做熟了也别把可能性打低，看记录和险兆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每一步都用风险矩阵（可能性配后果，见第 067 课）打分，例如“接收和存放时意外暴露”可能性低、后果低；颜色分低、中、高、很高，一看就懂。各步汇总成累计矩阵或总表，全程风险一行看清，并找出风险最高的步骤。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凭感觉打分，没有依据</a:t>
            </a:r>
          </a:p>
          <a:p>
            <a:pPr>
              <a:spcAft>
                <a:spcPts val="1000"/>
              </a:spcAft>
            </a:pPr>
            <a:r>
              <a:rPr sz="1500">
                <a:solidFill>
                  <a:srgbClr val="222B33"/>
                </a:solidFill>
                <a:latin typeface="Microsoft YaHei"/>
              </a:rPr>
              <a:t>▪ 只看单步，不汇总全程风险</a:t>
            </a:r>
          </a:p>
        </p:txBody>
      </p:sp>
    </p:spTree>
  </p:cSld>
  <p:clrMapOvr>
    <a:masterClrMapping/>
  </p:clrMapOvr>
</p:sld>
</file>

<file path=ppt/slides/slide2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决策点：评完再减缓，成文审核</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决策点：残余风险够不够低</a:t>
            </a:r>
          </a:p>
          <a:p>
            <a:pPr>
              <a:spcAft>
                <a:spcPts val="1000"/>
              </a:spcAft>
            </a:pPr>
            <a:r>
              <a:rPr sz="2000">
                <a:solidFill>
                  <a:srgbClr val="222B33"/>
                </a:solidFill>
                <a:latin typeface="Microsoft YaHei"/>
              </a:rPr>
              <a:t>▪ 评完，再进入减缓</a:t>
            </a:r>
          </a:p>
          <a:p>
            <a:pPr>
              <a:spcAft>
                <a:spcPts val="1000"/>
              </a:spcAft>
            </a:pPr>
            <a:r>
              <a:rPr sz="2000">
                <a:solidFill>
                  <a:srgbClr val="222B33"/>
                </a:solidFill>
                <a:latin typeface="Microsoft YaHei"/>
              </a:rPr>
              <a:t>▪ 评估写成文件，经委员会审核</a:t>
            </a:r>
          </a:p>
          <a:p>
            <a:pPr>
              <a:spcAft>
                <a:spcPts val="1000"/>
              </a:spcAft>
            </a:pPr>
            <a:r>
              <a:rPr sz="2000">
                <a:solidFill>
                  <a:srgbClr val="222B33"/>
                </a:solidFill>
                <a:latin typeface="Microsoft YaHei"/>
              </a:rPr>
              <a:t>▪ 评清楚、控到位，再做决定</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评估结束时有一个决策点：在现有控制下，残余风险是否可接受？不够低的，进入下一步风险减缓，对每一项风险点对应具体措施（见第 069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评估完不做决策，直接开始实验</a:t>
            </a:r>
          </a:p>
          <a:p>
            <a:pPr>
              <a:spcAft>
                <a:spcPts val="1000"/>
              </a:spcAft>
            </a:pPr>
            <a:r>
              <a:rPr sz="1500">
                <a:solidFill>
                  <a:srgbClr val="222B33"/>
                </a:solidFill>
                <a:latin typeface="Microsoft YaHei"/>
              </a:rPr>
              <a:t>▪ 评估报告不经审核</a:t>
            </a:r>
          </a:p>
        </p:txBody>
      </p:sp>
    </p:spTree>
  </p:cSld>
  <p:clrMapOvr>
    <a:masterClrMapping/>
  </p:clrMapOvr>
</p:sld>
</file>

<file path=ppt/slides/slide2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关于病原分类，正确的是：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国内第一类病原危害最小</a:t>
            </a:r>
          </a:p>
          <a:p>
            <a:pPr algn="l"/>
            <a:r>
              <a:rPr sz="1500" b="0">
                <a:solidFill>
                  <a:srgbClr val="222B33"/>
                </a:solidFill>
                <a:latin typeface="Microsoft YaHei"/>
              </a:rPr>
              <a:t>B. 国内第一类危害最大，与国际风险组 1 组最低方向相反</a:t>
            </a:r>
          </a:p>
          <a:p>
            <a:pPr algn="l"/>
            <a:r>
              <a:rPr sz="1500" b="0">
                <a:solidFill>
                  <a:srgbClr val="222B33"/>
                </a:solidFill>
                <a:latin typeface="Microsoft YaHei"/>
              </a:rPr>
              <a:t>C. 国内分类与国际风险组编号完全一致</a:t>
            </a:r>
          </a:p>
          <a:p>
            <a:pPr algn="l"/>
            <a:r>
              <a:rPr sz="1500" b="0">
                <a:solidFill>
                  <a:srgbClr val="222B33"/>
                </a:solidFill>
                <a:latin typeface="Microsoft YaHei"/>
              </a:rPr>
              <a:t>D. 分类查到后就不用再评估</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判断：同一种病原，只做核酸提取和做大量培养，风险是一样的。</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2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下列哪项不属于病原层面的评估要素？</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感染途径</a:t>
            </a:r>
          </a:p>
          <a:p>
            <a:pPr algn="l"/>
            <a:r>
              <a:rPr sz="1500" b="0">
                <a:solidFill>
                  <a:srgbClr val="222B33"/>
                </a:solidFill>
                <a:latin typeface="Microsoft YaHei"/>
              </a:rPr>
              <a:t>B. 有无预防和治疗手段</a:t>
            </a:r>
          </a:p>
          <a:p>
            <a:pPr algn="l"/>
            <a:r>
              <a:rPr sz="1500" b="0">
                <a:solidFill>
                  <a:srgbClr val="222B33"/>
                </a:solidFill>
                <a:latin typeface="Microsoft YaHei"/>
              </a:rPr>
              <a:t>C. 是否经过改造</a:t>
            </a:r>
          </a:p>
          <a:p>
            <a:pPr algn="l"/>
            <a:r>
              <a:rPr sz="1500" b="0">
                <a:solidFill>
                  <a:srgbClr val="222B33"/>
                </a:solidFill>
                <a:latin typeface="Microsoft YaHei"/>
              </a:rPr>
              <a:t>D. 实验室的装修颜色</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判断：自己有过敏或免疫低下情况，属于个人隐私，不必告诉实验室负责人。</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2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对一批疑似感染的血样做结构化评估，正确的做法是：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只评估检测这一步</a:t>
            </a:r>
          </a:p>
          <a:p>
            <a:pPr algn="l"/>
            <a:r>
              <a:rPr sz="1500" b="0">
                <a:solidFill>
                  <a:srgbClr val="222B33"/>
                </a:solidFill>
                <a:latin typeface="Microsoft YaHei"/>
              </a:rPr>
              <a:t>B. 把流程拆成接收存放、编目、分离、检测、处置、去污、记录、应急等单步，逐步打分再汇总</a:t>
            </a:r>
          </a:p>
          <a:p>
            <a:pPr algn="l"/>
            <a:r>
              <a:rPr sz="1500" b="0">
                <a:solidFill>
                  <a:srgbClr val="222B33"/>
                </a:solidFill>
                <a:latin typeface="Microsoft YaHei"/>
              </a:rPr>
              <a:t>C. 镜检没查到就按无感染性处理</a:t>
            </a:r>
          </a:p>
          <a:p>
            <a:pPr algn="l"/>
            <a:r>
              <a:rPr sz="1500" b="0">
                <a:solidFill>
                  <a:srgbClr val="222B33"/>
                </a:solidFill>
                <a:latin typeface="Microsoft YaHei"/>
              </a:rPr>
              <a:t>D. 借用别的实验室的评估</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简答：哪些样本要从严评估？</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263.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一个病原、一项实验，一份评估</a:t>
            </a:r>
          </a:p>
          <a:p>
            <a:pPr>
              <a:spcAft>
                <a:spcPts val="800"/>
              </a:spcAft>
            </a:pPr>
            <a:r>
              <a:rPr sz="1500">
                <a:solidFill>
                  <a:srgbClr val="FFFFFF"/>
                </a:solidFill>
                <a:latin typeface="Microsoft YaHei"/>
              </a:rPr>
              <a:t>▪ K2  未知病原和特殊样本从严</a:t>
            </a:r>
          </a:p>
          <a:p>
            <a:pPr>
              <a:spcAft>
                <a:spcPts val="800"/>
              </a:spcAft>
            </a:pPr>
            <a:r>
              <a:rPr sz="1500">
                <a:solidFill>
                  <a:srgbClr val="FFFFFF"/>
                </a:solidFill>
                <a:latin typeface="Microsoft YaHei"/>
              </a:rPr>
              <a:t>▪ K3  冰山：看不见的风险也要想</a:t>
            </a:r>
          </a:p>
          <a:p>
            <a:pPr>
              <a:spcAft>
                <a:spcPts val="800"/>
              </a:spcAft>
            </a:pPr>
            <a:r>
              <a:rPr sz="1500">
                <a:solidFill>
                  <a:srgbClr val="FFFFFF"/>
                </a:solidFill>
                <a:latin typeface="Microsoft YaHei"/>
              </a:rPr>
              <a:t>▪ K4  评估清单：病原、活动、人员、设施</a:t>
            </a:r>
          </a:p>
          <a:p>
            <a:pPr>
              <a:spcAft>
                <a:spcPts val="800"/>
              </a:spcAft>
            </a:pPr>
            <a:r>
              <a:rPr sz="1500">
                <a:solidFill>
                  <a:srgbClr val="FFFFFF"/>
                </a:solidFill>
                <a:latin typeface="Microsoft YaHei"/>
              </a:rPr>
              <a:t>▪ K5  病原：先查分类</a:t>
            </a:r>
          </a:p>
          <a:p>
            <a:pPr>
              <a:spcAft>
                <a:spcPts val="800"/>
              </a:spcAft>
            </a:pPr>
            <a:r>
              <a:rPr sz="1500">
                <a:solidFill>
                  <a:srgbClr val="FFFFFF"/>
                </a:solidFill>
                <a:latin typeface="Microsoft YaHei"/>
              </a:rPr>
              <a:t>▪ K6  病原：致病性、感染剂量与后果</a:t>
            </a:r>
          </a:p>
          <a:p>
            <a:pPr>
              <a:spcAft>
                <a:spcPts val="800"/>
              </a:spcAft>
            </a:pPr>
            <a:r>
              <a:rPr sz="1500">
                <a:solidFill>
                  <a:srgbClr val="FFFFFF"/>
                </a:solidFill>
                <a:latin typeface="Microsoft YaHei"/>
              </a:rPr>
              <a:t>▪ K7  病原：感染途径与媒介</a:t>
            </a:r>
          </a:p>
          <a:p>
            <a:pPr>
              <a:spcAft>
                <a:spcPts val="800"/>
              </a:spcAft>
            </a:pPr>
            <a:r>
              <a:rPr sz="1500">
                <a:solidFill>
                  <a:srgbClr val="FFFFFF"/>
                </a:solidFill>
                <a:latin typeface="Microsoft YaHei"/>
              </a:rPr>
              <a:t>▪ K8  病原：宿主范围、环境存活、本地流行</a:t>
            </a:r>
          </a:p>
          <a:p>
            <a:pPr>
              <a:spcAft>
                <a:spcPts val="800"/>
              </a:spcAft>
            </a:pPr>
            <a:r>
              <a:rPr sz="1500">
                <a:solidFill>
                  <a:srgbClr val="FFFFFF"/>
                </a:solidFill>
                <a:latin typeface="Microsoft YaHei"/>
              </a:rPr>
              <a:t>▪ K9  病原：有无预防治疗和已有研究</a:t>
            </a:r>
          </a:p>
          <a:p>
            <a:pPr>
              <a:spcAft>
                <a:spcPts val="800"/>
              </a:spcAft>
            </a:pPr>
            <a:r>
              <a:rPr sz="1500">
                <a:solidFill>
                  <a:srgbClr val="FFFFFF"/>
                </a:solidFill>
                <a:latin typeface="Microsoft YaHei"/>
              </a:rPr>
              <a:t>▪ K10  病原：是否经过改造</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K11  活动：拿它做什么，量有多大</a:t>
            </a:r>
          </a:p>
          <a:p>
            <a:pPr>
              <a:spcAft>
                <a:spcPts val="800"/>
              </a:spcAft>
            </a:pPr>
            <a:r>
              <a:rPr sz="1500">
                <a:solidFill>
                  <a:srgbClr val="FFFFFF"/>
                </a:solidFill>
                <a:latin typeface="Microsoft YaHei"/>
              </a:rPr>
              <a:t>▪ K12  活动：哪些操作容易暴露</a:t>
            </a:r>
          </a:p>
          <a:p>
            <a:pPr>
              <a:spcAft>
                <a:spcPts val="800"/>
              </a:spcAft>
            </a:pPr>
            <a:r>
              <a:rPr sz="1500">
                <a:solidFill>
                  <a:srgbClr val="FFFFFF"/>
                </a:solidFill>
                <a:latin typeface="Microsoft YaHei"/>
              </a:rPr>
              <a:t>▪ K13  人员：免疫状态、健康与过敏</a:t>
            </a:r>
          </a:p>
          <a:p>
            <a:pPr>
              <a:spcAft>
                <a:spcPts val="800"/>
              </a:spcAft>
            </a:pPr>
            <a:r>
              <a:rPr sz="1500">
                <a:solidFill>
                  <a:srgbClr val="FFFFFF"/>
                </a:solidFill>
                <a:latin typeface="Microsoft YaHei"/>
              </a:rPr>
              <a:t>▪ K14  病原问卷：是或否，逐条答</a:t>
            </a:r>
          </a:p>
          <a:p>
            <a:pPr>
              <a:spcAft>
                <a:spcPts val="800"/>
              </a:spcAft>
            </a:pPr>
            <a:r>
              <a:rPr sz="1500">
                <a:solidFill>
                  <a:srgbClr val="FFFFFF"/>
                </a:solidFill>
                <a:latin typeface="Microsoft YaHei"/>
              </a:rPr>
              <a:t>▪ K15  设施与管理问卷</a:t>
            </a:r>
          </a:p>
          <a:p>
            <a:pPr>
              <a:spcAft>
                <a:spcPts val="800"/>
              </a:spcAft>
            </a:pPr>
            <a:r>
              <a:rPr sz="1500">
                <a:solidFill>
                  <a:srgbClr val="FFFFFF"/>
                </a:solidFill>
                <a:latin typeface="Microsoft YaHei"/>
              </a:rPr>
              <a:t>▪ K16  安全和安保两类风险都要评</a:t>
            </a:r>
          </a:p>
          <a:p>
            <a:pPr>
              <a:spcAft>
                <a:spcPts val="800"/>
              </a:spcAft>
            </a:pPr>
            <a:r>
              <a:rPr sz="1500">
                <a:solidFill>
                  <a:srgbClr val="FFFFFF"/>
                </a:solidFill>
                <a:latin typeface="Microsoft YaHei"/>
              </a:rPr>
              <a:t>▪ K17  案例：一批疑似感染的血样</a:t>
            </a:r>
          </a:p>
          <a:p>
            <a:pPr>
              <a:spcAft>
                <a:spcPts val="800"/>
              </a:spcAft>
            </a:pPr>
            <a:r>
              <a:rPr sz="1500">
                <a:solidFill>
                  <a:srgbClr val="FFFFFF"/>
                </a:solidFill>
                <a:latin typeface="Microsoft YaHei"/>
              </a:rPr>
              <a:t>▪ K18  把流程拆成单步</a:t>
            </a:r>
          </a:p>
          <a:p>
            <a:pPr>
              <a:spcAft>
                <a:spcPts val="800"/>
              </a:spcAft>
            </a:pPr>
            <a:r>
              <a:rPr sz="1500">
                <a:solidFill>
                  <a:srgbClr val="FFFFFF"/>
                </a:solidFill>
                <a:latin typeface="Microsoft YaHei"/>
              </a:rPr>
              <a:t>▪ K19  逐步打分，汇成总表</a:t>
            </a:r>
          </a:p>
          <a:p>
            <a:pPr>
              <a:spcAft>
                <a:spcPts val="800"/>
              </a:spcAft>
            </a:pPr>
            <a:r>
              <a:rPr sz="1500">
                <a:solidFill>
                  <a:srgbClr val="FFFFFF"/>
                </a:solidFill>
                <a:latin typeface="Microsoft YaHei"/>
              </a:rPr>
              <a:t>▪ K20  决策点：评完再减缓，成文审核</a:t>
            </a:r>
          </a:p>
        </p:txBody>
      </p:sp>
    </p:spTree>
  </p:cSld>
  <p:clrMapOvr>
    <a:masterClrMapping/>
  </p:clrMapOvr>
</p:sld>
</file>

<file path=ppt/slides/slide264.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069</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生物风险控制与管理</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7 分钟（卡通视频 84 镜）　适用对象：进入生命科学、医学、农学、环境等涉及生物材料实验室的高校本科生、研究生和教职工（必修）；实验室负责人、生物安全员和菌毒种、样本保管人员重点学习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能说出生物风险减缓的五类控制（消除、替代、工程控制、管理控制、个人防护）及其层级，知道各类控制要并用、个人防护是最后一道防线。</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能说出管理控制的主要内容：依法依规的制度、操作规程与记录、核对表、准入培训与考核、标识、菌毒种和样本的清单台账。</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能做到按要求参加上岗体检和健康监护、按评估接种疫苗，身体不适就医时主动说明接触史并报告负责人。</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能判断菌毒种、样本或生物毒素丢失被盗、疑似实验室感染时应立即报告，知道生物毒素专人专柜、双人复核、用后灭活。</a:t>
            </a:r>
          </a:p>
        </p:txBody>
      </p:sp>
    </p:spTree>
  </p:cSld>
  <p:clrMapOvr>
    <a:masterClrMapping/>
  </p:clrMapOvr>
</p:sld>
</file>

<file path=ppt/slides/slide2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《中华人民共和国生物安全法》（以现行文本为准）：病原微生物实验室应当采取措施，加强对实验动物、菌毒种和样本的管理，防止被盗、被抢、丢失和泄漏</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《病原微生物实验室生物安全管理条例》（以现行文本为准）：实验室人员培训考核、健康监测、实验档案、菌毒种和样本的保管；实验室感染和菌毒种丢失按规定报告</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生物安全通用要求》：风险控制、管理体系、人员与健康监护、标准操作程序、材料管理、标识、记录</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233（以现行文本为准）《病原微生物实验室生物安全通用准则》：实验室生物安全管理要求和人员管理</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《中华人民共和国生物安全法》《农业转基因生物安全管理条例》（以现行文本为准）：转基因材料的登记、审查与管理（详见第 081 课）</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号，以现行文本为准）：实验室安全准入、培训考核、安全信息牌和危险物品台账</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本校实验室生物安全管理办法、菌毒种和样本管理规定、健康监护和免疫接种规定（以本校规定为准）</a:t>
            </a:r>
          </a:p>
        </p:txBody>
      </p:sp>
    </p:spTree>
  </p:cSld>
  <p:clrMapOvr>
    <a:masterClrMapping/>
  </p:clrMapOvr>
</p:sld>
</file>

<file path=ppt/slides/slide2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评估是提问，减缓才降险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评估只是提问，减缓才真正降险</a:t>
            </a:r>
          </a:p>
          <a:p>
            <a:pPr>
              <a:spcAft>
                <a:spcPts val="1000"/>
              </a:spcAft>
            </a:pPr>
            <a:r>
              <a:rPr sz="2000">
                <a:solidFill>
                  <a:srgbClr val="222B33"/>
                </a:solidFill>
                <a:latin typeface="Microsoft YaHei"/>
              </a:rPr>
              <a:t>▪ 识别危害、评估之后，控制登场</a:t>
            </a:r>
          </a:p>
          <a:p>
            <a:pPr>
              <a:spcAft>
                <a:spcPts val="1000"/>
              </a:spcAft>
            </a:pPr>
            <a:r>
              <a:rPr sz="2000">
                <a:solidFill>
                  <a:srgbClr val="222B33"/>
                </a:solidFill>
                <a:latin typeface="Microsoft YaHei"/>
              </a:rPr>
              <a:t>▪ 控制是落实管理决策的行动</a:t>
            </a:r>
          </a:p>
          <a:p>
            <a:pPr>
              <a:spcAft>
                <a:spcPts val="1000"/>
              </a:spcAft>
            </a:pPr>
            <a:r>
              <a:rPr sz="2000">
                <a:solidFill>
                  <a:srgbClr val="222B33"/>
                </a:solidFill>
                <a:latin typeface="Microsoft YaHei"/>
              </a:rPr>
              <a:t>▪ 几类措施一起用，互相补位</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风险评估（见第 067、068 课）只是在提问：有什么风险、有多大，本身不会让风险变小；风险减缓才是真正把风险降下来。流程是：识别危害、评估风险，然后进入减缓，控制措施在这一步登场。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评估报告通过了，就认为风险已经解决</a:t>
            </a:r>
          </a:p>
          <a:p>
            <a:pPr>
              <a:spcAft>
                <a:spcPts val="1000"/>
              </a:spcAft>
            </a:pPr>
            <a:r>
              <a:rPr sz="1500">
                <a:solidFill>
                  <a:srgbClr val="222B33"/>
                </a:solidFill>
                <a:latin typeface="Microsoft YaHei"/>
              </a:rPr>
              <a:t>▪ 措施写在报告里，实际不落实</a:t>
            </a:r>
          </a:p>
        </p:txBody>
      </p:sp>
    </p:spTree>
  </p:cSld>
  <p:clrMapOvr>
    <a:masterClrMapping/>
  </p:clrMapOvr>
</p:sld>
</file>

<file path=ppt/slides/slide2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五类控制，按层级从上往下选</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五类：消除、替代、工程、管理、个人防护</a:t>
            </a:r>
          </a:p>
          <a:p>
            <a:pPr>
              <a:spcAft>
                <a:spcPts val="1000"/>
              </a:spcAft>
            </a:pPr>
            <a:r>
              <a:rPr sz="2000">
                <a:solidFill>
                  <a:srgbClr val="222B33"/>
                </a:solidFill>
                <a:latin typeface="Microsoft YaHei"/>
              </a:rPr>
              <a:t>▪ 从上往下选，越往上越有效</a:t>
            </a:r>
          </a:p>
          <a:p>
            <a:pPr>
              <a:spcAft>
                <a:spcPts val="1000"/>
              </a:spcAft>
            </a:pPr>
            <a:r>
              <a:rPr sz="2000">
                <a:solidFill>
                  <a:srgbClr val="222B33"/>
                </a:solidFill>
                <a:latin typeface="Microsoft YaHei"/>
              </a:rPr>
              <a:t>▪ 安全带刹车像工程，驾照交规像管理</a:t>
            </a:r>
          </a:p>
          <a:p>
            <a:pPr>
              <a:spcAft>
                <a:spcPts val="1000"/>
              </a:spcAft>
            </a:pPr>
            <a:r>
              <a:rPr sz="2000">
                <a:solidFill>
                  <a:srgbClr val="222B33"/>
                </a:solidFill>
                <a:latin typeface="Microsoft YaHei"/>
              </a:rPr>
              <a:t>▪ 能从源头消除的，别只靠口罩手套</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风险的控制措施分五类，可以用一只手的五根手指来记：消除、替代、工程控制、管理控制、个人防护。它们排成一个层级（倒金字塔），选措施时从上往下：先想能不能不做、能不能换，再上设施设备和规程，个人防护垫底，不能单靠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一上来只想着加防护用品</a:t>
            </a:r>
          </a:p>
          <a:p>
            <a:pPr>
              <a:spcAft>
                <a:spcPts val="1000"/>
              </a:spcAft>
            </a:pPr>
            <a:r>
              <a:rPr sz="1500">
                <a:solidFill>
                  <a:srgbClr val="222B33"/>
                </a:solidFill>
                <a:latin typeface="Microsoft YaHei"/>
              </a:rPr>
              <a:t>▪ 认为层级是菜单，挑最省事的一项就行</a:t>
            </a:r>
          </a:p>
        </p:txBody>
      </p:sp>
    </p:spTree>
  </p:cSld>
  <p:clrMapOvr>
    <a:masterClrMapping/>
  </p:clrMapOvr>
</p:sld>
</file>

<file path=ppt/slides/slide2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消除：风险太大就不做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风险太大，这个实验就不做</a:t>
            </a:r>
          </a:p>
          <a:p>
            <a:pPr>
              <a:spcAft>
                <a:spcPts val="1000"/>
              </a:spcAft>
            </a:pPr>
            <a:r>
              <a:rPr sz="2000">
                <a:solidFill>
                  <a:srgbClr val="222B33"/>
                </a:solidFill>
                <a:latin typeface="Microsoft YaHei"/>
              </a:rPr>
              <a:t>▪ 没设施、没培训、没人手，就别做</a:t>
            </a:r>
          </a:p>
          <a:p>
            <a:pPr>
              <a:spcAft>
                <a:spcPts val="1000"/>
              </a:spcAft>
            </a:pPr>
            <a:r>
              <a:rPr sz="2000">
                <a:solidFill>
                  <a:srgbClr val="222B33"/>
                </a:solidFill>
                <a:latin typeface="Microsoft YaHei"/>
              </a:rPr>
              <a:t>▪ 也不一刀切，要给研究留空间</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消除是最有效的控制：风险太大，或者没有合适的设施（如没有生物安全柜、没有定向气流）、人员没有培训、人手不足，这个实验就不做，或者转到具备条件的单位开展。</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不具备条件也硬上</a:t>
            </a:r>
          </a:p>
          <a:p>
            <a:pPr>
              <a:spcAft>
                <a:spcPts val="1000"/>
              </a:spcAft>
            </a:pPr>
            <a:r>
              <a:rPr sz="1500">
                <a:solidFill>
                  <a:srgbClr val="222B33"/>
                </a:solidFill>
                <a:latin typeface="Microsoft YaHei"/>
              </a:rPr>
              <a:t>▪ 一听有风险就一律禁止，不做评估</a:t>
            </a:r>
          </a:p>
        </p:txBody>
      </p:sp>
    </p:spTree>
  </p:cSld>
  <p:clrMapOvr>
    <a:masterClrMapping/>
  </p:clrMapOvr>
</p:sld>
</file>

<file path=ppt/slides/slide2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替代：换成风险更低的</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换成减毒、弱化的株</a:t>
            </a:r>
          </a:p>
          <a:p>
            <a:pPr>
              <a:spcAft>
                <a:spcPts val="1000"/>
              </a:spcAft>
            </a:pPr>
            <a:r>
              <a:rPr sz="2000">
                <a:solidFill>
                  <a:srgbClr val="222B33"/>
                </a:solidFill>
                <a:latin typeface="Microsoft YaHei"/>
              </a:rPr>
              <a:t>▪ 样本先灭活再送来，风险就低了</a:t>
            </a:r>
          </a:p>
          <a:p>
            <a:pPr>
              <a:spcAft>
                <a:spcPts val="1000"/>
              </a:spcAft>
            </a:pPr>
            <a:r>
              <a:rPr sz="2000">
                <a:solidFill>
                  <a:srgbClr val="222B33"/>
                </a:solidFill>
                <a:latin typeface="Microsoft YaHei"/>
              </a:rPr>
              <a:t>▪ 能用塑料就不用玻璃，少用锐器</a:t>
            </a:r>
          </a:p>
          <a:p>
            <a:pPr>
              <a:spcAft>
                <a:spcPts val="1000"/>
              </a:spcAft>
            </a:pPr>
            <a:r>
              <a:rPr sz="2000">
                <a:solidFill>
                  <a:srgbClr val="222B33"/>
                </a:solidFill>
                <a:latin typeface="Microsoft YaHei"/>
              </a:rPr>
              <a:t>▪ 替代方案也要评估后再换</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替代就是换成风险更低的方案：例如改用减毒、弱化的株，在实验室里更好管理；样本在送来之前先按规定灭活，风险就大大降低；能用塑料器材就不用玻璃，能不用锐器就不用锐器。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想当然地认为“灭活了就绝对安全”，不核实灭活效果</a:t>
            </a:r>
          </a:p>
          <a:p>
            <a:pPr>
              <a:spcAft>
                <a:spcPts val="1000"/>
              </a:spcAft>
            </a:pPr>
            <a:r>
              <a:rPr sz="1500">
                <a:solidFill>
                  <a:srgbClr val="222B33"/>
                </a:solidFill>
                <a:latin typeface="Microsoft YaHei"/>
              </a:rPr>
              <a:t>▪ 不评估就随意更换材料或方法</a:t>
            </a:r>
          </a:p>
        </p:txBody>
      </p:sp>
    </p:spTree>
  </p:cSld>
  <p:clrMapOvr>
    <a:masterClrMapping/>
  </p:clrMapOvr>
</p:sld>
</file>

<file path=ppt/slides/slide2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工程控制：把病原关住</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设施设备把病原关住，给人安全环境</a:t>
            </a:r>
          </a:p>
          <a:p>
            <a:pPr>
              <a:spcAft>
                <a:spcPts val="1000"/>
              </a:spcAft>
            </a:pPr>
            <a:r>
              <a:rPr sz="2000">
                <a:solidFill>
                  <a:srgbClr val="222B33"/>
                </a:solidFill>
                <a:latin typeface="Microsoft YaHei"/>
              </a:rPr>
              <a:t>▪ 生物安全柜、高效过滤、定向气流</a:t>
            </a:r>
          </a:p>
          <a:p>
            <a:pPr>
              <a:spcAft>
                <a:spcPts val="1000"/>
              </a:spcAft>
            </a:pPr>
            <a:r>
              <a:rPr sz="2000">
                <a:solidFill>
                  <a:srgbClr val="222B33"/>
                </a:solidFill>
                <a:latin typeface="Microsoft YaHei"/>
              </a:rPr>
              <a:t>▪ 设施细节见第 062–064 课</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工程控制是用专门设计的设施设备把病原关住，给人创造安全的工作环境：例如在生物安全柜内操作并接好排风，加上高效过滤和污水处理；实验室保持负压，空气从外往里流，就形成了封闭。</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有了安全柜就不注意操作规范</a:t>
            </a:r>
          </a:p>
        </p:txBody>
      </p:sp>
    </p:spTree>
  </p:cSld>
  <p:clrMapOvr>
    <a:masterClrMapping/>
  </p:clrMapOvr>
</p:sld>
</file>

<file path=ppt/slides/slide2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个人防护：最后一道防线</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个人防护是最后一道防线</a:t>
            </a:r>
          </a:p>
          <a:p>
            <a:pPr>
              <a:spcAft>
                <a:spcPts val="1000"/>
              </a:spcAft>
            </a:pPr>
            <a:r>
              <a:rPr sz="2000">
                <a:solidFill>
                  <a:srgbClr val="222B33"/>
                </a:solidFill>
                <a:latin typeface="Microsoft YaHei"/>
              </a:rPr>
              <a:t>▪ 按感染途径和评估，选对防护</a:t>
            </a:r>
          </a:p>
          <a:p>
            <a:pPr>
              <a:spcAft>
                <a:spcPts val="1000"/>
              </a:spcAft>
            </a:pPr>
            <a:r>
              <a:rPr sz="2000">
                <a:solidFill>
                  <a:srgbClr val="222B33"/>
                </a:solidFill>
                <a:latin typeface="Microsoft YaHei"/>
              </a:rPr>
              <a:t>▪ 接触动物要戴防咬手套</a:t>
            </a:r>
          </a:p>
          <a:p>
            <a:pPr>
              <a:spcAft>
                <a:spcPts val="1000"/>
              </a:spcAft>
            </a:pPr>
            <a:r>
              <a:rPr sz="2000">
                <a:solidFill>
                  <a:srgbClr val="222B33"/>
                </a:solidFill>
                <a:latin typeface="Microsoft YaHei"/>
              </a:rPr>
              <a:t>▪ 不会正确穿脱反而更危险</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个人防护是最后一道防线：其他措施失灵时靠它挡住，所以不能只靠防护用品。防护服挡住皮肤接触；可经空气传播的，按评估选用防护口罩或动力送风呼吸器；可经眼睛感染的，要戴护目镜；接触实验动物，要戴防咬手套。</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认为防护穿得越多越安全，忽视工程和管理控制</a:t>
            </a:r>
          </a:p>
          <a:p>
            <a:pPr>
              <a:spcAft>
                <a:spcPts val="1000"/>
              </a:spcAft>
            </a:pPr>
            <a:r>
              <a:rPr sz="1500">
                <a:solidFill>
                  <a:srgbClr val="222B33"/>
                </a:solidFill>
                <a:latin typeface="Microsoft YaHei"/>
              </a:rPr>
              <a:t>▪ 脱防护时顺序错误，污染皮肤和衣物</a:t>
            </a:r>
          </a:p>
        </p:txBody>
      </p:sp>
    </p:spTree>
  </p:cSld>
  <p:clrMapOvr>
    <a:masterClrMapping/>
  </p:clrMapOvr>
</p:sld>
</file>

<file path=ppt/slides/slide2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控制要并用，互相补位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五类控制一起用，缺一块就有漏洞</a:t>
            </a:r>
          </a:p>
          <a:p>
            <a:pPr>
              <a:spcAft>
                <a:spcPts val="1000"/>
              </a:spcAft>
            </a:pPr>
            <a:r>
              <a:rPr sz="2000">
                <a:solidFill>
                  <a:srgbClr val="222B33"/>
                </a:solidFill>
                <a:latin typeface="Microsoft YaHei"/>
              </a:rPr>
              <a:t>▪ 有了安全柜，也得照规程做</a:t>
            </a:r>
          </a:p>
          <a:p>
            <a:pPr>
              <a:spcAft>
                <a:spcPts val="1000"/>
              </a:spcAft>
            </a:pPr>
            <a:r>
              <a:rPr sz="2000">
                <a:solidFill>
                  <a:srgbClr val="222B33"/>
                </a:solidFill>
                <a:latin typeface="Microsoft YaHei"/>
              </a:rPr>
              <a:t>▪ 进出、穿脱防护都要有规程</a:t>
            </a:r>
          </a:p>
          <a:p>
            <a:pPr>
              <a:spcAft>
                <a:spcPts val="1000"/>
              </a:spcAft>
            </a:pPr>
            <a:r>
              <a:rPr sz="2000">
                <a:solidFill>
                  <a:srgbClr val="222B33"/>
                </a:solidFill>
                <a:latin typeface="Microsoft YaHei"/>
              </a:rPr>
              <a:t>▪ 工程控制代替不了规范操作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五类控制不是单用，而是同时用、互相补位，缺一块就有漏洞。实验室和生物安全柜是工程控制，但进出实验室、使用安全柜都要靠规程来管；防护用品是个人防护，但穿脱要按规程，规程又属于管理控制。这些都写进实验室生物安全手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新实验室设施先进，就放松操作要求</a:t>
            </a:r>
          </a:p>
          <a:p>
            <a:pPr>
              <a:spcAft>
                <a:spcPts val="1000"/>
              </a:spcAft>
            </a:pPr>
            <a:r>
              <a:rPr sz="1500">
                <a:solidFill>
                  <a:srgbClr val="222B33"/>
                </a:solidFill>
                <a:latin typeface="Microsoft YaHei"/>
              </a:rPr>
              <a:t>▪ 只买设备，不写规程、不培训</a:t>
            </a:r>
          </a:p>
        </p:txBody>
      </p:sp>
    </p:spTree>
  </p:cSld>
  <p:clrMapOvr>
    <a:masterClrMapping/>
  </p:clrMapOvr>
</p:sld>
</file>

<file path=ppt/slides/slide2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每步问五个问题，汇成措施表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流程每一步问五个问题</a:t>
            </a:r>
          </a:p>
          <a:p>
            <a:pPr>
              <a:spcAft>
                <a:spcPts val="1000"/>
              </a:spcAft>
            </a:pPr>
            <a:r>
              <a:rPr sz="2000">
                <a:solidFill>
                  <a:srgbClr val="222B33"/>
                </a:solidFill>
                <a:latin typeface="Microsoft YaHei"/>
              </a:rPr>
              <a:t>▪ 能不做？能换？加设备？写规程？穿什么？</a:t>
            </a:r>
          </a:p>
          <a:p>
            <a:pPr>
              <a:spcAft>
                <a:spcPts val="1000"/>
              </a:spcAft>
            </a:pPr>
            <a:r>
              <a:rPr sz="2000">
                <a:solidFill>
                  <a:srgbClr val="222B33"/>
                </a:solidFill>
                <a:latin typeface="Microsoft YaHei"/>
              </a:rPr>
              <a:t>▪ 每步的措施汇成一张表</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在第 068 课把流程拆成单步、逐步打分之后，对每一步依次问五个控制问题：能不能不做（消除）？能不能换个办法（替代）？能不能加设备（工程控制）？要不要专门的规程（管理控制）？要什么防护（个人防护）？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只给整个实验列一条笼统的措施</a:t>
            </a:r>
          </a:p>
          <a:p>
            <a:pPr>
              <a:spcAft>
                <a:spcPts val="1000"/>
              </a:spcAft>
            </a:pPr>
            <a:r>
              <a:rPr sz="1500">
                <a:solidFill>
                  <a:srgbClr val="222B33"/>
                </a:solidFill>
                <a:latin typeface="Microsoft YaHei"/>
              </a:rPr>
              <a:t>▪ 措施表做好后不检查执行情况</a:t>
            </a:r>
          </a:p>
        </p:txBody>
      </p:sp>
    </p:spTree>
  </p:cSld>
  <p:clrMapOvr>
    <a:masterClrMapping/>
  </p:clrMapOvr>
</p:sld>
</file>

<file path=ppt/slides/slide2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管理控制：白纸黑字，先于设施</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管理控制是基石，建楼前就要定下</a:t>
            </a:r>
          </a:p>
          <a:p>
            <a:pPr>
              <a:spcAft>
                <a:spcPts val="1000"/>
              </a:spcAft>
            </a:pPr>
            <a:r>
              <a:rPr sz="2000">
                <a:solidFill>
                  <a:srgbClr val="222B33"/>
                </a:solidFill>
                <a:latin typeface="Microsoft YaHei"/>
              </a:rPr>
              <a:t>▪ 政策、规则、安排、培训、记录都要写下</a:t>
            </a:r>
          </a:p>
          <a:p>
            <a:pPr>
              <a:spcAft>
                <a:spcPts val="1000"/>
              </a:spcAft>
            </a:pPr>
            <a:r>
              <a:rPr sz="2000">
                <a:solidFill>
                  <a:srgbClr val="222B33"/>
                </a:solidFill>
                <a:latin typeface="Microsoft YaHei"/>
              </a:rPr>
              <a:t>▪ 包括委员会、手册、库存、体检、审核</a:t>
            </a:r>
          </a:p>
          <a:p>
            <a:pPr>
              <a:spcAft>
                <a:spcPts val="1000"/>
              </a:spcAft>
            </a:pPr>
            <a:r>
              <a:rPr sz="2000">
                <a:solidFill>
                  <a:srgbClr val="222B33"/>
                </a:solidFill>
                <a:latin typeface="Microsoft YaHei"/>
              </a:rPr>
              <a:t>▪ 目标：少接触、少暴露；也关注心理压力</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管理控制是生物风险管理的基石，要在设计建设设施之前，就以安全手册和管理制度的形式定下来。它包括书面的政策、规则、工作安排、培训和记录，一切都要白纸黑字，检查时要看记录。</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先建好实验室，再临时补制度</a:t>
            </a:r>
          </a:p>
          <a:p>
            <a:pPr>
              <a:spcAft>
                <a:spcPts val="1000"/>
              </a:spcAft>
            </a:pPr>
            <a:r>
              <a:rPr sz="1500">
                <a:solidFill>
                  <a:srgbClr val="222B33"/>
                </a:solidFill>
                <a:latin typeface="Microsoft YaHei"/>
              </a:rPr>
              <a:t>▪ 制度只口头传达，没有书面文件和记录</a:t>
            </a:r>
          </a:p>
        </p:txBody>
      </p:sp>
    </p:spTree>
  </p:cSld>
  <p:clrMapOvr>
    <a:masterClrMapping/>
  </p:clrMapOvr>
</p:sld>
</file>

<file path=ppt/slides/slide2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依法依规：外部要求与内部制度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订制度前，先把国内法规查清楚</a:t>
            </a:r>
          </a:p>
          <a:p>
            <a:pPr>
              <a:spcAft>
                <a:spcPts val="1000"/>
              </a:spcAft>
            </a:pPr>
            <a:r>
              <a:rPr sz="2000">
                <a:solidFill>
                  <a:srgbClr val="222B33"/>
                </a:solidFill>
                <a:latin typeface="Microsoft YaHei"/>
              </a:rPr>
              <a:t>▪ 内部制度必须放在法律框架里</a:t>
            </a:r>
          </a:p>
          <a:p>
            <a:pPr>
              <a:spcAft>
                <a:spcPts val="1000"/>
              </a:spcAft>
            </a:pPr>
            <a:r>
              <a:rPr sz="2000">
                <a:solidFill>
                  <a:srgbClr val="222B33"/>
                </a:solidFill>
                <a:latin typeface="Microsoft YaHei"/>
              </a:rPr>
              <a:t>▪ 不能说不知道，拿不准请人把关</a:t>
            </a:r>
          </a:p>
          <a:p>
            <a:pPr>
              <a:spcAft>
                <a:spcPts val="1000"/>
              </a:spcAft>
            </a:pPr>
            <a:r>
              <a:rPr sz="2000">
                <a:solidFill>
                  <a:srgbClr val="222B33"/>
                </a:solidFill>
                <a:latin typeface="Microsoft YaHei"/>
              </a:rPr>
              <a:t>▪ 领导支持，人人对自己的事负责</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外部要求来自单位以外：国家法律法规、国家标准和行业标准，以及地方规定（例如排水、废物处置的地方要求）；国际指南只作参考。订制度前要把国内法规查清楚，职业健康、转基因生物安全等方面尤其要注意（转基因见第 081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照搬国外手册的规定，不查国内法规</a:t>
            </a:r>
          </a:p>
          <a:p>
            <a:pPr>
              <a:spcAft>
                <a:spcPts val="1000"/>
              </a:spcAft>
            </a:pPr>
            <a:r>
              <a:rPr sz="1500">
                <a:solidFill>
                  <a:srgbClr val="222B33"/>
                </a:solidFill>
                <a:latin typeface="Microsoft YaHei"/>
              </a:rPr>
              <a:t>▪ 实验室自定的规定与学校制度、国家法规冲突</a:t>
            </a:r>
          </a:p>
        </p:txBody>
      </p:sp>
    </p:spTree>
  </p:cSld>
  <p:clrMapOvr>
    <a:masterClrMapping/>
  </p:clrMapOvr>
</p:sld>
</file>

<file path=ppt/slides/slide2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操作规程：写你所做，做你所写</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写你所做，做你所写，规程和记录一致</a:t>
            </a:r>
          </a:p>
          <a:p>
            <a:pPr>
              <a:spcAft>
                <a:spcPts val="1000"/>
              </a:spcAft>
            </a:pPr>
            <a:r>
              <a:rPr sz="2000">
                <a:solidFill>
                  <a:srgbClr val="222B33"/>
                </a:solidFill>
                <a:latin typeface="Microsoft YaHei"/>
              </a:rPr>
              <a:t>▪ 照规程一步不省，规程本身也要验证</a:t>
            </a:r>
          </a:p>
          <a:p>
            <a:pPr>
              <a:spcAft>
                <a:spcPts val="1000"/>
              </a:spcAft>
            </a:pPr>
            <a:r>
              <a:rPr sz="2000">
                <a:solidFill>
                  <a:srgbClr val="222B33"/>
                </a:solidFill>
                <a:latin typeface="Microsoft YaHei"/>
              </a:rPr>
              <a:t>▪ 规程写清应急：先处置，再逐级上报</a:t>
            </a:r>
          </a:p>
          <a:p>
            <a:pPr>
              <a:spcAft>
                <a:spcPts val="1000"/>
              </a:spcAft>
            </a:pPr>
            <a:r>
              <a:rPr sz="2000">
                <a:solidFill>
                  <a:srgbClr val="222B33"/>
                </a:solidFill>
                <a:latin typeface="Microsoft YaHei"/>
              </a:rPr>
              <a:t>▪ 电子记录要备份，纸质记录要归档</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标准操作规程的通用原则是“写你所做，做你所写”：规程写的就是实际做的，实际做的就要和规程一致，记录也要与之相符。操作时严格按规程，一步都不能省；规程本身也要测试，确认管用。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规程写一套，实际做一套</a:t>
            </a:r>
          </a:p>
          <a:p>
            <a:pPr>
              <a:spcAft>
                <a:spcPts val="1000"/>
              </a:spcAft>
            </a:pPr>
            <a:r>
              <a:rPr sz="1500">
                <a:solidFill>
                  <a:srgbClr val="222B33"/>
                </a:solidFill>
                <a:latin typeface="Microsoft YaHei"/>
              </a:rPr>
              <a:t>▪ 规程里没有应急步骤</a:t>
            </a:r>
          </a:p>
        </p:txBody>
      </p:sp>
    </p:spTree>
  </p:cSld>
  <p:clrMapOvr>
    <a:masterClrMapping/>
  </p:clrMapOvr>
</p:sld>
</file>

<file path=ppt/slides/slide2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核对表与情景意识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核对表和规程配套，边做边勾</a:t>
            </a:r>
          </a:p>
          <a:p>
            <a:pPr>
              <a:spcAft>
                <a:spcPts val="1000"/>
              </a:spcAft>
            </a:pPr>
            <a:r>
              <a:rPr sz="2000">
                <a:solidFill>
                  <a:srgbClr val="222B33"/>
                </a:solidFill>
                <a:latin typeface="Microsoft YaHei"/>
              </a:rPr>
              <a:t>▪ 累了容易出错，长流程要轮班</a:t>
            </a:r>
          </a:p>
          <a:p>
            <a:pPr>
              <a:spcAft>
                <a:spcPts val="1000"/>
              </a:spcAft>
            </a:pPr>
            <a:r>
              <a:rPr sz="2000">
                <a:solidFill>
                  <a:srgbClr val="222B33"/>
                </a:solidFill>
                <a:latin typeface="Microsoft YaHei"/>
              </a:rPr>
              <a:t>▪ 可以自查，也可以同伴互查</a:t>
            </a:r>
          </a:p>
          <a:p>
            <a:pPr>
              <a:spcAft>
                <a:spcPts val="1000"/>
              </a:spcAft>
            </a:pPr>
            <a:r>
              <a:rPr sz="2000">
                <a:solidFill>
                  <a:srgbClr val="222B33"/>
                </a:solidFill>
                <a:latin typeface="Microsoft YaHei"/>
              </a:rPr>
              <a:t>▪ 核对表存档，检查审核要看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核对表和操作规程配套使用：边做边勾，保持情景意识，知道自己做到了哪一步。人累了容易出错，长流程要安排轮班或休息。</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做完再凭记忆一次性补勾</a:t>
            </a:r>
          </a:p>
          <a:p>
            <a:pPr>
              <a:spcAft>
                <a:spcPts val="1000"/>
              </a:spcAft>
            </a:pPr>
            <a:r>
              <a:rPr sz="1500">
                <a:solidFill>
                  <a:srgbClr val="222B33"/>
                </a:solidFill>
                <a:latin typeface="Microsoft YaHei"/>
              </a:rPr>
              <a:t>▪ 连续长时间操作不休息</a:t>
            </a:r>
          </a:p>
        </p:txBody>
      </p:sp>
    </p:spTree>
  </p:cSld>
  <p:clrMapOvr>
    <a:masterClrMapping/>
  </p:clrMapOvr>
</p:sld>
</file>

<file path=ppt/slides/slide2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准入、培训考核与承诺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上岗前看培训和实际操作能力</a:t>
            </a:r>
          </a:p>
          <a:p>
            <a:pPr>
              <a:spcAft>
                <a:spcPts val="1000"/>
              </a:spcAft>
            </a:pPr>
            <a:r>
              <a:rPr sz="2000">
                <a:solidFill>
                  <a:srgbClr val="222B33"/>
                </a:solidFill>
                <a:latin typeface="Microsoft YaHei"/>
              </a:rPr>
              <a:t>▪ 在本实验室考核，换地方要重新学</a:t>
            </a:r>
          </a:p>
          <a:p>
            <a:pPr>
              <a:spcAft>
                <a:spcPts val="1000"/>
              </a:spcAft>
            </a:pPr>
            <a:r>
              <a:rPr sz="2000">
                <a:solidFill>
                  <a:srgbClr val="222B33"/>
                </a:solidFill>
                <a:latin typeface="Microsoft YaHei"/>
              </a:rPr>
              <a:t>▪ 换任务、新设备、新规定，都要培训</a:t>
            </a:r>
          </a:p>
          <a:p>
            <a:pPr>
              <a:spcAft>
                <a:spcPts val="1000"/>
              </a:spcAft>
            </a:pPr>
            <a:r>
              <a:rPr sz="2000">
                <a:solidFill>
                  <a:srgbClr val="222B33"/>
                </a:solidFill>
                <a:latin typeface="Microsoft YaHei"/>
              </a:rPr>
              <a:t>▪ 评估结果人人知晓；签承诺，报告事故和险情</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人员上岗前要看学历、培训经历、实际操作能力和相关经验，由单位考核合格后准入（准入与培训制度见第 007 课，以本校规定为准）。按能力分工；换任务、遇到新情况、来了新设备、出了新规定，都要培训。培训要在本实验室、结合实……</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认为在别的实验室培训过，就可以直接上手</a:t>
            </a:r>
          </a:p>
          <a:p>
            <a:pPr>
              <a:spcAft>
                <a:spcPts val="1000"/>
              </a:spcAft>
            </a:pPr>
            <a:r>
              <a:rPr sz="1500">
                <a:solidFill>
                  <a:srgbClr val="222B33"/>
                </a:solidFill>
                <a:latin typeface="Microsoft YaHei"/>
              </a:rPr>
              <a:t>▪ 发生未遂事件觉得“没出事”，不报告</a:t>
            </a:r>
          </a:p>
        </p:txBody>
      </p:sp>
    </p:spTree>
  </p:cSld>
  <p:clrMapOvr>
    <a:masterClrMapping/>
  </p:clrMapOvr>
</p:sld>
</file>

<file path=ppt/slides/slide2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标识写清危害和联系人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标识写清有什么危害</a:t>
            </a:r>
          </a:p>
          <a:p>
            <a:pPr>
              <a:spcAft>
                <a:spcPts val="1000"/>
              </a:spcAft>
            </a:pPr>
            <a:r>
              <a:rPr sz="2000">
                <a:solidFill>
                  <a:srgbClr val="222B33"/>
                </a:solidFill>
                <a:latin typeface="Microsoft YaHei"/>
              </a:rPr>
              <a:t>▪ 写明负责人和应急联系电话</a:t>
            </a:r>
          </a:p>
          <a:p>
            <a:pPr>
              <a:spcAft>
                <a:spcPts val="1000"/>
              </a:spcAft>
            </a:pPr>
            <a:r>
              <a:rPr sz="2000">
                <a:solidFill>
                  <a:srgbClr val="222B33"/>
                </a:solidFill>
                <a:latin typeface="Microsoft YaHei"/>
              </a:rPr>
              <a:t>▪ 有进入条件的要标明</a:t>
            </a:r>
          </a:p>
          <a:p>
            <a:pPr>
              <a:spcAft>
                <a:spcPts val="1000"/>
              </a:spcAft>
            </a:pPr>
            <a:r>
              <a:rPr sz="2000">
                <a:solidFill>
                  <a:srgbClr val="222B33"/>
                </a:solidFill>
                <a:latin typeface="Microsoft YaHei"/>
              </a:rPr>
              <a:t>▪ 感染风险高的人，不进相应区域</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门口的生物危害标志和安全信息牌要说清：有什么生物危害、防护级别、实验室负责人和应急联系电话。需要接种疫苗或佩戴呼吸防护才能进入的，要标明进入条件；免疫低下等感染风险高的人员，不进入相应区域。</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信息牌上的负责人和电话多年不更新</a:t>
            </a:r>
          </a:p>
          <a:p>
            <a:pPr>
              <a:spcAft>
                <a:spcPts val="1000"/>
              </a:spcAft>
            </a:pPr>
            <a:r>
              <a:rPr sz="1500">
                <a:solidFill>
                  <a:srgbClr val="222B33"/>
                </a:solidFill>
                <a:latin typeface="Microsoft YaHei"/>
              </a:rPr>
              <a:t>▪ 未满足进入条件也进入实验区</a:t>
            </a:r>
          </a:p>
        </p:txBody>
      </p:sp>
    </p:spTree>
  </p:cSld>
  <p:clrMapOvr>
    <a:masterClrMapping/>
  </p:clrMapOvr>
</p:sld>
</file>

<file path=ppt/slides/slide2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菌毒种和样本：清单台账，去向可查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管理从一本清单开始，变了就更新</a:t>
            </a:r>
          </a:p>
          <a:p>
            <a:pPr>
              <a:spcAft>
                <a:spcPts val="1000"/>
              </a:spcAft>
            </a:pPr>
            <a:r>
              <a:rPr sz="2000">
                <a:solidFill>
                  <a:srgbClr val="222B33"/>
                </a:solidFill>
                <a:latin typeface="Microsoft YaHei"/>
              </a:rPr>
              <a:t>▪ 专柜保存、专人负责，领用归还销毁都登记</a:t>
            </a:r>
          </a:p>
          <a:p>
            <a:pPr>
              <a:spcAft>
                <a:spcPts val="1000"/>
              </a:spcAft>
            </a:pPr>
            <a:r>
              <a:rPr sz="2000">
                <a:solidFill>
                  <a:srgbClr val="222B33"/>
                </a:solidFill>
                <a:latin typeface="Microsoft YaHei"/>
              </a:rPr>
              <a:t>▪ 不私自带出，不转送他人</a:t>
            </a:r>
          </a:p>
          <a:p>
            <a:pPr>
              <a:spcAft>
                <a:spcPts val="1000"/>
              </a:spcAft>
            </a:pPr>
            <a:r>
              <a:rPr sz="2000">
                <a:solidFill>
                  <a:srgbClr val="222B33"/>
                </a:solidFill>
                <a:latin typeface="Microsoft YaHei"/>
              </a:rPr>
              <a:t>▪ 用过的菌液先灭活；丢失被盗立即报告</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管理从一本清单开始：有哪些菌种、毒种、样本、质粒、转基因材料和实验动物，做哪些实验，都登记清楚，变了就更新。台账写明存放位置、安保要求、领用和去向，来龙去脉随时查得到。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毕业时把菌种私自带走或送给别人</a:t>
            </a:r>
          </a:p>
          <a:p>
            <a:pPr>
              <a:spcAft>
                <a:spcPts val="1000"/>
              </a:spcAft>
            </a:pPr>
            <a:r>
              <a:rPr sz="1500">
                <a:solidFill>
                  <a:srgbClr val="222B33"/>
                </a:solidFill>
                <a:latin typeface="Microsoft YaHei"/>
              </a:rPr>
              <a:t>▪ 发现少了样本，自己找不到就不了了之</a:t>
            </a:r>
          </a:p>
        </p:txBody>
      </p:sp>
    </p:spTree>
  </p:cSld>
  <p:clrMapOvr>
    <a:masterClrMapping/>
  </p:clrMapOvr>
</p:sld>
</file>

<file path=ppt/slides/slide2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医学监护：体检、健康档案、本底血清</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上岗前体检，健康史和过敏要记录</a:t>
            </a:r>
          </a:p>
          <a:p>
            <a:pPr>
              <a:spcAft>
                <a:spcPts val="1000"/>
              </a:spcAft>
            </a:pPr>
            <a:r>
              <a:rPr sz="2000">
                <a:solidFill>
                  <a:srgbClr val="222B33"/>
                </a:solidFill>
                <a:latin typeface="Microsoft YaHei"/>
              </a:rPr>
              <a:t>▪ 必要时留本底血清，出事时好对照</a:t>
            </a:r>
          </a:p>
          <a:p>
            <a:pPr>
              <a:spcAft>
                <a:spcPts val="1000"/>
              </a:spcAft>
            </a:pPr>
            <a:r>
              <a:rPr sz="2000">
                <a:solidFill>
                  <a:srgbClr val="222B33"/>
                </a:solidFill>
                <a:latin typeface="Microsoft YaHei"/>
              </a:rPr>
              <a:t>▪ 工作前、中、后都要关注健康</a:t>
            </a:r>
          </a:p>
          <a:p>
            <a:pPr>
              <a:spcAft>
                <a:spcPts val="1000"/>
              </a:spcAft>
            </a:pPr>
            <a:r>
              <a:rPr sz="2000">
                <a:solidFill>
                  <a:srgbClr val="222B33"/>
                </a:solidFill>
                <a:latin typeface="Microsoft YaHei"/>
              </a:rPr>
              <a:t>▪ 暴露后的救治由单位负责安排</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处理病原微生物或临床样本前，按规定做上岗体检，健康史（如过敏）要记录；按风险评估和规定，必要时留存本底血清，以后需要时可比对，判断有没有在实验室里发生暴露。接触高致病性病原微生物的人员，按规定进行审查（以现行规定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认为体检是形式，随便应付</a:t>
            </a:r>
          </a:p>
          <a:p>
            <a:pPr>
              <a:spcAft>
                <a:spcPts val="1000"/>
              </a:spcAft>
            </a:pPr>
            <a:r>
              <a:rPr sz="1500">
                <a:solidFill>
                  <a:srgbClr val="222B33"/>
                </a:solidFill>
                <a:latin typeface="Microsoft YaHei"/>
              </a:rPr>
              <a:t>▪ 发生暴露后自己处理，不报告不就医</a:t>
            </a:r>
          </a:p>
        </p:txBody>
      </p:sp>
    </p:spTree>
  </p:cSld>
  <p:clrMapOvr>
    <a:masterClrMapping/>
  </p:clrMapOvr>
</p:sld>
</file>

<file path=ppt/slides/slide2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按评估接种疫苗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有疫苗可用的，按评估要求接种</a:t>
            </a:r>
          </a:p>
          <a:p>
            <a:pPr>
              <a:spcAft>
                <a:spcPts val="1000"/>
              </a:spcAft>
            </a:pPr>
            <a:r>
              <a:rPr sz="2000">
                <a:solidFill>
                  <a:srgbClr val="222B33"/>
                </a:solidFill>
                <a:latin typeface="Microsoft YaHei"/>
              </a:rPr>
              <a:t>▪ 需要的，上岗前完成接种</a:t>
            </a:r>
          </a:p>
          <a:p>
            <a:pPr>
              <a:spcAft>
                <a:spcPts val="1000"/>
              </a:spcAft>
            </a:pPr>
            <a:r>
              <a:rPr sz="2000">
                <a:solidFill>
                  <a:srgbClr val="222B33"/>
                </a:solidFill>
                <a:latin typeface="Microsoft YaHei"/>
              </a:rPr>
              <a:t>▪ 打了疫苗，防护也不能少</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有的病原有疫苗可用。风险评估认为需要接种的，按要求在上岗前完成接种，并记入健康档案（具体接种项目以评估和本校规定为准）。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打了疫苗就不戴手套、不进安全柜操作</a:t>
            </a:r>
          </a:p>
        </p:txBody>
      </p:sp>
    </p:spTree>
  </p:cSld>
  <p:clrMapOvr>
    <a:masterClrMapping/>
  </p:clrMapOvr>
</p:sld>
</file>

<file path=ppt/slides/slide2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生病就医，说明接触史</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实验后身体不适，及时就医</a:t>
            </a:r>
          </a:p>
          <a:p>
            <a:pPr>
              <a:spcAft>
                <a:spcPts val="1000"/>
              </a:spcAft>
            </a:pPr>
            <a:r>
              <a:rPr sz="2000">
                <a:solidFill>
                  <a:srgbClr val="222B33"/>
                </a:solidFill>
                <a:latin typeface="Microsoft YaHei"/>
              </a:rPr>
              <a:t>▪ 告诉医生在什么实验室、接触过什么</a:t>
            </a:r>
          </a:p>
          <a:p>
            <a:pPr>
              <a:spcAft>
                <a:spcPts val="1000"/>
              </a:spcAft>
            </a:pPr>
            <a:r>
              <a:rPr sz="2000">
                <a:solidFill>
                  <a:srgbClr val="222B33"/>
                </a:solidFill>
                <a:latin typeface="Microsoft YaHei"/>
              </a:rPr>
              <a:t>▪ 同时报告导师和实验室负责人</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健康监测也落到每个人身上。做完实验后出现发热等身体不适，要及时就医，并主动告诉医生自己在什么实验室工作、接触过哪类微生物，便于医生及早判断。</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身体不适时隐瞒实验室工作经历</a:t>
            </a:r>
          </a:p>
          <a:p>
            <a:pPr>
              <a:spcAft>
                <a:spcPts val="1000"/>
              </a:spcAft>
            </a:pPr>
            <a:r>
              <a:rPr sz="1500">
                <a:solidFill>
                  <a:srgbClr val="222B33"/>
                </a:solidFill>
                <a:latin typeface="Microsoft YaHei"/>
              </a:rPr>
              <a:t>▪ 生病只请假，不报告导师和负责人</a:t>
            </a:r>
          </a:p>
        </p:txBody>
      </p:sp>
    </p:spTree>
  </p:cSld>
  <p:clrMapOvr>
    <a:masterClrMapping/>
  </p:clrMapOvr>
</p:sld>
</file>

<file path=ppt/slides/slide2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疑似实验室感染：调查与报告</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组里几个人生病，要调查原因</a:t>
            </a:r>
          </a:p>
          <a:p>
            <a:pPr>
              <a:spcAft>
                <a:spcPts val="1000"/>
              </a:spcAft>
            </a:pPr>
            <a:r>
              <a:rPr sz="2000">
                <a:solidFill>
                  <a:srgbClr val="222B33"/>
                </a:solidFill>
                <a:latin typeface="Microsoft YaHei"/>
              </a:rPr>
              <a:t>▪ 查健康记录，也查工作记录</a:t>
            </a:r>
          </a:p>
          <a:p>
            <a:pPr>
              <a:spcAft>
                <a:spcPts val="1000"/>
              </a:spcAft>
            </a:pPr>
            <a:r>
              <a:rPr sz="2000">
                <a:solidFill>
                  <a:srgbClr val="222B33"/>
                </a:solidFill>
                <a:latin typeface="Microsoft YaHei"/>
              </a:rPr>
              <a:t>▪ 判断是实验室感染还是外面感染</a:t>
            </a:r>
          </a:p>
          <a:p>
            <a:pPr>
              <a:spcAft>
                <a:spcPts val="1000"/>
              </a:spcAft>
            </a:pPr>
            <a:r>
              <a:rPr sz="2000">
                <a:solidFill>
                  <a:srgbClr val="222B33"/>
                </a:solidFill>
                <a:latin typeface="Microsoft YaHei"/>
              </a:rPr>
              <a:t>▪ 与医务部门合作，按规定报告随访</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一个课题组里有好几人生病，而他们用过同一种生物因子，且这种因子外部环境中也存在：是在实验室里感染的，还是之前或在外面感染的？生物安全员要会调查，查健康记录（体检、本底血清），也查工作记录（谁在什么时间做了什么操作）。</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几人相继生病仍当作普通感冒，不调查不报告</a:t>
            </a:r>
          </a:p>
          <a:p>
            <a:pPr>
              <a:spcAft>
                <a:spcPts val="1000"/>
              </a:spcAft>
            </a:pPr>
            <a:r>
              <a:rPr sz="1500">
                <a:solidFill>
                  <a:srgbClr val="222B33"/>
                </a:solidFill>
                <a:latin typeface="Microsoft YaHei"/>
              </a:rPr>
              <a:t>▪ 只查病人，不查工作记录和操作环节</a:t>
            </a:r>
          </a:p>
        </p:txBody>
      </p:sp>
    </p:spTree>
  </p:cSld>
  <p:clrMapOvr>
    <a:masterClrMapping/>
  </p:clrMapOvr>
</p:sld>
</file>

<file path=ppt/slides/slide2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生物毒素：专人专柜，用后灭活</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生物来源的毒素，专人专柜保管</a:t>
            </a:r>
          </a:p>
          <a:p>
            <a:pPr>
              <a:spcAft>
                <a:spcPts val="1000"/>
              </a:spcAft>
            </a:pPr>
            <a:r>
              <a:rPr sz="2000">
                <a:solidFill>
                  <a:srgbClr val="222B33"/>
                </a:solidFill>
                <a:latin typeface="Microsoft YaHei"/>
              </a:rPr>
              <a:t>▪ 领用登记，双人复核</a:t>
            </a:r>
          </a:p>
          <a:p>
            <a:pPr>
              <a:spcAft>
                <a:spcPts val="1000"/>
              </a:spcAft>
            </a:pPr>
            <a:r>
              <a:rPr sz="2000">
                <a:solidFill>
                  <a:srgbClr val="222B33"/>
                </a:solidFill>
                <a:latin typeface="Microsoft YaHei"/>
              </a:rPr>
              <a:t>▪ 定期清点，数量要对得上</a:t>
            </a:r>
          </a:p>
          <a:p>
            <a:pPr>
              <a:spcAft>
                <a:spcPts val="1000"/>
              </a:spcAft>
            </a:pPr>
            <a:r>
              <a:rPr sz="2000">
                <a:solidFill>
                  <a:srgbClr val="222B33"/>
                </a:solidFill>
                <a:latin typeface="Microsoft YaHei"/>
              </a:rPr>
              <a:t>▪ 用完按规定灭活，再作废物处置</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生物毒素是生物来源的有毒物质，可能少量就造成严重伤害，属于需要特别管理的材料。要专人专柜（加锁）保管，领用要登记、双人复核，定期清点数量，账物相符。</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毒素和普通试剂混放，无人专管</a:t>
            </a:r>
          </a:p>
          <a:p>
            <a:pPr>
              <a:spcAft>
                <a:spcPts val="1000"/>
              </a:spcAft>
            </a:pPr>
            <a:r>
              <a:rPr sz="1500">
                <a:solidFill>
                  <a:srgbClr val="222B33"/>
                </a:solidFill>
                <a:latin typeface="Microsoft YaHei"/>
              </a:rPr>
              <a:t>▪ 用剩的毒素不灭活直接丢弃</a:t>
            </a:r>
          </a:p>
        </p:txBody>
      </p:sp>
    </p:spTree>
  </p:cSld>
  <p:clrMapOvr>
    <a:masterClrMapping/>
  </p:clrMapOvr>
</p:sld>
</file>

<file path=ppt/slides/slide2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生物风险控制的五类措施，按层级从上到下是：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个人防护、管理、工程、替代、消除</a:t>
            </a:r>
          </a:p>
          <a:p>
            <a:pPr algn="l"/>
            <a:r>
              <a:rPr sz="1500" b="0">
                <a:solidFill>
                  <a:srgbClr val="222B33"/>
                </a:solidFill>
                <a:latin typeface="Microsoft YaHei"/>
              </a:rPr>
              <a:t>B. 消除、替代、工程控制、管理控制、个人防护</a:t>
            </a:r>
          </a:p>
          <a:p>
            <a:pPr algn="l"/>
            <a:r>
              <a:rPr sz="1500" b="0">
                <a:solidFill>
                  <a:srgbClr val="222B33"/>
                </a:solidFill>
                <a:latin typeface="Microsoft YaHei"/>
              </a:rPr>
              <a:t>C. 工程、消除、防护、替代、管理</a:t>
            </a:r>
          </a:p>
          <a:p>
            <a:pPr algn="l"/>
            <a:r>
              <a:rPr sz="1500" b="0">
                <a:solidFill>
                  <a:srgbClr val="222B33"/>
                </a:solidFill>
                <a:latin typeface="Microsoft YaHei"/>
              </a:rPr>
              <a:t>D. 只要个人防护即可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判断：实验室有了先进的生物安全柜，操作就可以不必严格按规程。</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2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下列关于菌毒种和样本管理的做法，正确的是：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毕业时带走自己分离的菌种</a:t>
            </a:r>
          </a:p>
          <a:p>
            <a:pPr algn="l"/>
            <a:r>
              <a:rPr sz="1500" b="0">
                <a:solidFill>
                  <a:srgbClr val="222B33"/>
                </a:solidFill>
                <a:latin typeface="Microsoft YaHei"/>
              </a:rPr>
              <a:t>B. 专柜保存、专人负责，领用归还销毁都登记，丢失立即报告负责人和保卫处</a:t>
            </a:r>
          </a:p>
          <a:p>
            <a:pPr algn="l"/>
            <a:r>
              <a:rPr sz="1500" b="0">
                <a:solidFill>
                  <a:srgbClr val="222B33"/>
                </a:solidFill>
                <a:latin typeface="Microsoft YaHei"/>
              </a:rPr>
              <a:t>C. 用过的菌液直接倒进水槽</a:t>
            </a:r>
          </a:p>
          <a:p>
            <a:pPr algn="l"/>
            <a:r>
              <a:rPr sz="1500" b="0">
                <a:solidFill>
                  <a:srgbClr val="222B33"/>
                </a:solidFill>
                <a:latin typeface="Microsoft YaHei"/>
              </a:rPr>
              <a:t>D. 把菌种转送给外校同学</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判断：已经接种了相应疫苗，就可以不戴手套、不在安全柜内操作。</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2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做完实验后发热去医院，应该：</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只说感冒了</a:t>
            </a:r>
          </a:p>
          <a:p>
            <a:pPr algn="l"/>
            <a:r>
              <a:rPr sz="1500" b="0">
                <a:solidFill>
                  <a:srgbClr val="222B33"/>
                </a:solidFill>
                <a:latin typeface="Microsoft YaHei"/>
              </a:rPr>
              <a:t>B. 告诉医生自己在什么实验室、接触过哪类微生物，并报告导师和实验室负责人</a:t>
            </a:r>
          </a:p>
          <a:p>
            <a:pPr algn="l"/>
            <a:r>
              <a:rPr sz="1500" b="0">
                <a:solidFill>
                  <a:srgbClr val="222B33"/>
                </a:solidFill>
                <a:latin typeface="Microsoft YaHei"/>
              </a:rPr>
              <a:t>C. 自己吃药不报告</a:t>
            </a:r>
          </a:p>
          <a:p>
            <a:pPr algn="l"/>
            <a:r>
              <a:rPr sz="1500" b="0">
                <a:solidFill>
                  <a:srgbClr val="222B33"/>
                </a:solidFill>
                <a:latin typeface="Microsoft YaHei"/>
              </a:rPr>
              <a:t>D. 等好了再说</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简答：生物毒素应如何管理？</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290.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评估是提问，减缓才降险</a:t>
            </a:r>
          </a:p>
          <a:p>
            <a:pPr>
              <a:spcAft>
                <a:spcPts val="800"/>
              </a:spcAft>
            </a:pPr>
            <a:r>
              <a:rPr sz="1500">
                <a:solidFill>
                  <a:srgbClr val="FFFFFF"/>
                </a:solidFill>
                <a:latin typeface="Microsoft YaHei"/>
              </a:rPr>
              <a:t>▪ K2  五类控制，按层级从上往下选</a:t>
            </a:r>
          </a:p>
          <a:p>
            <a:pPr>
              <a:spcAft>
                <a:spcPts val="800"/>
              </a:spcAft>
            </a:pPr>
            <a:r>
              <a:rPr sz="1500">
                <a:solidFill>
                  <a:srgbClr val="FFFFFF"/>
                </a:solidFill>
                <a:latin typeface="Microsoft YaHei"/>
              </a:rPr>
              <a:t>▪ K3  消除：风险太大就不做</a:t>
            </a:r>
          </a:p>
          <a:p>
            <a:pPr>
              <a:spcAft>
                <a:spcPts val="800"/>
              </a:spcAft>
            </a:pPr>
            <a:r>
              <a:rPr sz="1500">
                <a:solidFill>
                  <a:srgbClr val="FFFFFF"/>
                </a:solidFill>
                <a:latin typeface="Microsoft YaHei"/>
              </a:rPr>
              <a:t>▪ K4  替代：换成风险更低的</a:t>
            </a:r>
          </a:p>
          <a:p>
            <a:pPr>
              <a:spcAft>
                <a:spcPts val="800"/>
              </a:spcAft>
            </a:pPr>
            <a:r>
              <a:rPr sz="1500">
                <a:solidFill>
                  <a:srgbClr val="FFFFFF"/>
                </a:solidFill>
                <a:latin typeface="Microsoft YaHei"/>
              </a:rPr>
              <a:t>▪ K5  工程控制：把病原关住</a:t>
            </a:r>
          </a:p>
          <a:p>
            <a:pPr>
              <a:spcAft>
                <a:spcPts val="800"/>
              </a:spcAft>
            </a:pPr>
            <a:r>
              <a:rPr sz="1500">
                <a:solidFill>
                  <a:srgbClr val="FFFFFF"/>
                </a:solidFill>
                <a:latin typeface="Microsoft YaHei"/>
              </a:rPr>
              <a:t>▪ K6  个人防护：最后一道防线</a:t>
            </a:r>
          </a:p>
          <a:p>
            <a:pPr>
              <a:spcAft>
                <a:spcPts val="800"/>
              </a:spcAft>
            </a:pPr>
            <a:r>
              <a:rPr sz="1500">
                <a:solidFill>
                  <a:srgbClr val="FFFFFF"/>
                </a:solidFill>
                <a:latin typeface="Microsoft YaHei"/>
              </a:rPr>
              <a:t>▪ K7  控制要并用，互相补位</a:t>
            </a:r>
          </a:p>
          <a:p>
            <a:pPr>
              <a:spcAft>
                <a:spcPts val="800"/>
              </a:spcAft>
            </a:pPr>
            <a:r>
              <a:rPr sz="1500">
                <a:solidFill>
                  <a:srgbClr val="FFFFFF"/>
                </a:solidFill>
                <a:latin typeface="Microsoft YaHei"/>
              </a:rPr>
              <a:t>▪ K8  每步问五个问题，汇成措施表</a:t>
            </a:r>
          </a:p>
          <a:p>
            <a:pPr>
              <a:spcAft>
                <a:spcPts val="800"/>
              </a:spcAft>
            </a:pPr>
            <a:r>
              <a:rPr sz="1500">
                <a:solidFill>
                  <a:srgbClr val="FFFFFF"/>
                </a:solidFill>
                <a:latin typeface="Microsoft YaHei"/>
              </a:rPr>
              <a:t>▪ K9  管理控制：白纸黑字，先于设施</a:t>
            </a:r>
          </a:p>
          <a:p>
            <a:pPr>
              <a:spcAft>
                <a:spcPts val="800"/>
              </a:spcAft>
            </a:pPr>
            <a:r>
              <a:rPr sz="1500">
                <a:solidFill>
                  <a:srgbClr val="FFFFFF"/>
                </a:solidFill>
                <a:latin typeface="Microsoft YaHei"/>
              </a:rPr>
              <a:t>▪ K10  依法依规：外部要求与内部制度</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K11  操作规程：写你所做，做你所写</a:t>
            </a:r>
          </a:p>
          <a:p>
            <a:pPr>
              <a:spcAft>
                <a:spcPts val="800"/>
              </a:spcAft>
            </a:pPr>
            <a:r>
              <a:rPr sz="1500">
                <a:solidFill>
                  <a:srgbClr val="FFFFFF"/>
                </a:solidFill>
                <a:latin typeface="Microsoft YaHei"/>
              </a:rPr>
              <a:t>▪ K12  核对表与情景意识</a:t>
            </a:r>
          </a:p>
          <a:p>
            <a:pPr>
              <a:spcAft>
                <a:spcPts val="800"/>
              </a:spcAft>
            </a:pPr>
            <a:r>
              <a:rPr sz="1500">
                <a:solidFill>
                  <a:srgbClr val="FFFFFF"/>
                </a:solidFill>
                <a:latin typeface="Microsoft YaHei"/>
              </a:rPr>
              <a:t>▪ K13  准入、培训考核与承诺</a:t>
            </a:r>
          </a:p>
          <a:p>
            <a:pPr>
              <a:spcAft>
                <a:spcPts val="800"/>
              </a:spcAft>
            </a:pPr>
            <a:r>
              <a:rPr sz="1500">
                <a:solidFill>
                  <a:srgbClr val="FFFFFF"/>
                </a:solidFill>
                <a:latin typeface="Microsoft YaHei"/>
              </a:rPr>
              <a:t>▪ K14  标识写清危害和联系人</a:t>
            </a:r>
          </a:p>
          <a:p>
            <a:pPr>
              <a:spcAft>
                <a:spcPts val="800"/>
              </a:spcAft>
            </a:pPr>
            <a:r>
              <a:rPr sz="1500">
                <a:solidFill>
                  <a:srgbClr val="FFFFFF"/>
                </a:solidFill>
                <a:latin typeface="Microsoft YaHei"/>
              </a:rPr>
              <a:t>▪ K15  菌毒种和样本：清单台账，去向可查</a:t>
            </a:r>
          </a:p>
          <a:p>
            <a:pPr>
              <a:spcAft>
                <a:spcPts val="800"/>
              </a:spcAft>
            </a:pPr>
            <a:r>
              <a:rPr sz="1500">
                <a:solidFill>
                  <a:srgbClr val="FFFFFF"/>
                </a:solidFill>
                <a:latin typeface="Microsoft YaHei"/>
              </a:rPr>
              <a:t>▪ K16  医学监护：体检、健康档案、本底血清</a:t>
            </a:r>
          </a:p>
          <a:p>
            <a:pPr>
              <a:spcAft>
                <a:spcPts val="800"/>
              </a:spcAft>
            </a:pPr>
            <a:r>
              <a:rPr sz="1500">
                <a:solidFill>
                  <a:srgbClr val="FFFFFF"/>
                </a:solidFill>
                <a:latin typeface="Microsoft YaHei"/>
              </a:rPr>
              <a:t>▪ K17  按评估接种疫苗</a:t>
            </a:r>
          </a:p>
          <a:p>
            <a:pPr>
              <a:spcAft>
                <a:spcPts val="800"/>
              </a:spcAft>
            </a:pPr>
            <a:r>
              <a:rPr sz="1500">
                <a:solidFill>
                  <a:srgbClr val="FFFFFF"/>
                </a:solidFill>
                <a:latin typeface="Microsoft YaHei"/>
              </a:rPr>
              <a:t>▪ K18  生病就医，说明接触史</a:t>
            </a:r>
          </a:p>
          <a:p>
            <a:pPr>
              <a:spcAft>
                <a:spcPts val="800"/>
              </a:spcAft>
            </a:pPr>
            <a:r>
              <a:rPr sz="1500">
                <a:solidFill>
                  <a:srgbClr val="FFFFFF"/>
                </a:solidFill>
                <a:latin typeface="Microsoft YaHei"/>
              </a:rPr>
              <a:t>▪ K19  疑似实验室感染：调查与报告</a:t>
            </a:r>
          </a:p>
          <a:p>
            <a:pPr>
              <a:spcAft>
                <a:spcPts val="800"/>
              </a:spcAft>
            </a:pPr>
            <a:r>
              <a:rPr sz="1500">
                <a:solidFill>
                  <a:srgbClr val="FFFFFF"/>
                </a:solidFill>
                <a:latin typeface="Microsoft YaHei"/>
              </a:rPr>
              <a:t>▪ K20  生物毒素：专人专柜，用后灭活</a:t>
            </a:r>
          </a:p>
        </p:txBody>
      </p:sp>
    </p:spTree>
  </p:cSld>
  <p:clrMapOvr>
    <a:masterClrMapping/>
  </p:clrMapOvr>
</p:sld>
</file>

<file path=ppt/slides/slide29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070</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生物安全组织与负责人</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7 分钟（卡通视频 83 镜）　适用对象：进入生命科学、医学、农学、环境等涉及生物材料实验室的高校本科生、研究生和教职工（必修）；实验室负责人、项目负责人、生物安全员和设施管理人员重点学习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能说出高校生物安全的组织架构：三级管理、单位生物安全委员会、实验室负责人（第一责任人）、生物安全员、设施经理和项目负责人。</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能说出生物安全委员会、生物安全员、设施经理、项目负责人各自的职责与权限，知道安全员有权制止违规、必要时叫停。</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能说出书面生物安全政策和生物安全手册的要求：政策具体可落实，手册依国内法规编写、只写本实验室、与设施同步建立。</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能做到新实验先经评估和审批再开展，服从安全员监督，出事按“实验室负责人→学院→保卫处/实验室管理部门”逐级报告。</a:t>
            </a:r>
          </a:p>
        </p:txBody>
      </p:sp>
    </p:spTree>
  </p:cSld>
  <p:clrMapOvr>
    <a:masterClrMapping/>
  </p:clrMapOvr>
</p:sld>
</file>

<file path=ppt/slides/slide2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《中华人民共和国生物安全法》（以现行文本为准）：病原微生物实验室设立单位负责实验室生物安全管理，制定并落实管理制度</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实验室设立单位及其主管部门负责实验室日常活动的管理，实验室负责人为实验室生物安全的第一责任人；一级、二级实验室备案，三级、四级实验室认可，高致病性病原微生物实验活动经批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生物安全通用要求》：管理责任、生物安全委员会、安全负责人（有权制止不安全行为）、管理体系文件（政策、手册、程序文件）</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233（以现行文本为准）《病原微生物实验室生物安全通用准则》：实验室生物安全管理组织和人员职责</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《中华人民共和国生物安全法》《农业转基因生物安全管理条例》（以现行文本为准）：转基因研究的评估与审查（详见第 081 课）</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号，以现行文本为准）：学校—学院—实验室三级管理，实验室负责人第一责任，安全信息牌</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本校实验室生物安全委员会章程、实验室生物安全管理办法和生物安全手册（以本校规定为准）</a:t>
            </a:r>
          </a:p>
        </p:txBody>
      </p:sp>
    </p:spTree>
  </p:cSld>
  <p:clrMapOvr>
    <a:masterClrMapping/>
  </p:clrMapOvr>
</p:sld>
</file>

<file path=ppt/slides/slide2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三级管理：生物安全靠组织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学校、学院、实验室三级管理</a:t>
            </a:r>
          </a:p>
          <a:p>
            <a:pPr>
              <a:spcAft>
                <a:spcPts val="1000"/>
              </a:spcAft>
            </a:pPr>
            <a:r>
              <a:rPr sz="1700">
                <a:solidFill>
                  <a:srgbClr val="222B33"/>
                </a:solidFill>
                <a:latin typeface="Microsoft YaHei"/>
              </a:rPr>
              <a:t>▪ 实验室负责人是第一责任人</a:t>
            </a:r>
          </a:p>
          <a:p>
            <a:pPr>
              <a:spcAft>
                <a:spcPts val="1000"/>
              </a:spcAft>
            </a:pPr>
            <a:r>
              <a:rPr sz="1700">
                <a:solidFill>
                  <a:srgbClr val="222B33"/>
                </a:solidFill>
                <a:latin typeface="Microsoft YaHei"/>
              </a:rPr>
              <a:t>▪ 上层决策，中间把关，下层执行</a:t>
            </a:r>
          </a:p>
          <a:p>
            <a:pPr>
              <a:spcAft>
                <a:spcPts val="1000"/>
              </a:spcAft>
            </a:pPr>
            <a:r>
              <a:rPr sz="1700">
                <a:solidFill>
                  <a:srgbClr val="222B33"/>
                </a:solidFill>
                <a:latin typeface="Microsoft YaHei"/>
              </a:rPr>
              <a:t>▪ 工程、保卫、健康、动物管理都参与</a:t>
            </a:r>
          </a:p>
          <a:p>
            <a:pPr>
              <a:spcAft>
                <a:spcPts val="1000"/>
              </a:spcAft>
            </a:pPr>
            <a:r>
              <a:rPr sz="1700">
                <a:solidFill>
                  <a:srgbClr val="222B33"/>
                </a:solidFill>
                <a:latin typeface="Microsoft YaHei"/>
              </a:rPr>
              <a:t>▪ 体系里最关键的是人，培训要持续</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一个生物安全实验室能否安全运行，首先看组织：谁决策、谁把关、谁执行。高校实行学校—学院—实验室三级管理（通用讲法见第 004 课），实验室负责人是本实验室生物安全的第一责任人。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认为生物安全只是安全员一个人的事</a:t>
            </a:r>
          </a:p>
          <a:p>
            <a:pPr>
              <a:spcAft>
                <a:spcPts val="1000"/>
              </a:spcAft>
            </a:pPr>
            <a:r>
              <a:rPr sz="1500">
                <a:solidFill>
                  <a:srgbClr val="222B33"/>
                </a:solidFill>
                <a:latin typeface="Microsoft YaHei"/>
              </a:rPr>
              <a:t>▪ 培训考过一次就一劳永逸</a:t>
            </a:r>
          </a:p>
        </p:txBody>
      </p:sp>
    </p:spTree>
  </p:cSld>
  <p:clrMapOvr>
    <a:masterClrMapping/>
  </p:clrMapOvr>
</p:sld>
</file>

<file path=ppt/slides/slide2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生物安全委员会：定政策、审项目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单位设生物安全委员会，成员有管理和专家</a:t>
            </a:r>
          </a:p>
          <a:p>
            <a:pPr>
              <a:spcAft>
                <a:spcPts val="1000"/>
              </a:spcAft>
            </a:pPr>
            <a:r>
              <a:rPr sz="1700">
                <a:solidFill>
                  <a:srgbClr val="222B33"/>
                </a:solidFill>
                <a:latin typeface="Microsoft YaHei"/>
              </a:rPr>
              <a:t>▪ 制定实验室生物安全政策</a:t>
            </a:r>
          </a:p>
          <a:p>
            <a:pPr>
              <a:spcAft>
                <a:spcPts val="1000"/>
              </a:spcAft>
            </a:pPr>
            <a:r>
              <a:rPr sz="1700">
                <a:solidFill>
                  <a:srgbClr val="222B33"/>
                </a:solidFill>
                <a:latin typeface="Microsoft YaHei"/>
              </a:rPr>
              <a:t>▪ 新课题、改方法，先评估再审查</a:t>
            </a:r>
          </a:p>
          <a:p>
            <a:pPr>
              <a:spcAft>
                <a:spcPts val="1000"/>
              </a:spcAft>
            </a:pPr>
            <a:r>
              <a:rPr sz="1700">
                <a:solidFill>
                  <a:srgbClr val="222B33"/>
                </a:solidFill>
                <a:latin typeface="Microsoft YaHei"/>
              </a:rPr>
              <a:t>▪ 一二级备案，三四级认可，高致病须批准</a:t>
            </a:r>
          </a:p>
          <a:p>
            <a:pPr>
              <a:spcAft>
                <a:spcPts val="1000"/>
              </a:spcAft>
            </a:pPr>
            <a:r>
              <a:rPr sz="1700">
                <a:solidFill>
                  <a:srgbClr val="222B33"/>
                </a:solidFill>
                <a:latin typeface="Microsoft YaHei"/>
              </a:rPr>
              <a:t>▪ 学生不得自己做主，更不能自己定级</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高校、科研院所和医院一般都设有单位生物安全委员会，成员包括管理人员和生物安全、微生物、医学、工程等方面的技术专家。委员会位于组织的顶端，制定本单位、本实验室的生物安全政策，并通过设施经理、生物安全员和相关职能部门监督……</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方案改了一步，觉得不必再报</a:t>
            </a:r>
          </a:p>
          <a:p>
            <a:pPr>
              <a:spcAft>
                <a:spcPts val="1000"/>
              </a:spcAft>
            </a:pPr>
            <a:r>
              <a:rPr sz="1500">
                <a:solidFill>
                  <a:srgbClr val="222B33"/>
                </a:solidFill>
                <a:latin typeface="Microsoft YaHei"/>
              </a:rPr>
              <a:t>▪ 学生自行判断"风险不大"就开工</a:t>
            </a:r>
          </a:p>
        </p:txBody>
      </p:sp>
    </p:spTree>
  </p:cSld>
  <p:clrMapOvr>
    <a:masterClrMapping/>
  </p:clrMapOvr>
</p:sld>
</file>

<file path=ppt/slides/slide2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设施经理：管设施运行与抢修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设施经理应是合格的工程师</a:t>
            </a:r>
          </a:p>
          <a:p>
            <a:pPr>
              <a:spcAft>
                <a:spcPts val="1000"/>
              </a:spcAft>
            </a:pPr>
            <a:r>
              <a:rPr sz="2000">
                <a:solidFill>
                  <a:srgbClr val="222B33"/>
                </a:solidFill>
                <a:latin typeface="Microsoft YaHei"/>
              </a:rPr>
              <a:t>▪ 管电、风、空调运行和日常维护</a:t>
            </a:r>
          </a:p>
          <a:p>
            <a:pPr>
              <a:spcAft>
                <a:spcPts val="1000"/>
              </a:spcAft>
            </a:pPr>
            <a:r>
              <a:rPr sz="2000">
                <a:solidFill>
                  <a:srgbClr val="222B33"/>
                </a:solidFill>
                <a:latin typeface="Microsoft YaHei"/>
              </a:rPr>
              <a:t>▪ 设备出故障，由他组织抢修</a:t>
            </a:r>
          </a:p>
          <a:p>
            <a:pPr>
              <a:spcAft>
                <a:spcPts val="1000"/>
              </a:spcAft>
            </a:pPr>
            <a:r>
              <a:rPr sz="2000">
                <a:solidFill>
                  <a:srgbClr val="222B33"/>
                </a:solidFill>
                <a:latin typeface="Microsoft YaHei"/>
              </a:rPr>
              <a:t>▪ 工程出身，也要懂生物安全规程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设施经理（设施工程师）负责生物安全实验室的"硬件"：供电、通风和定向气流、空调、给排水、高压灭菌器等设施设备的运行和日常维护，设备出故障时组织抢修。他应当是合格的工程技术人员。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维修人员不经消毒和防护直接进入防护区</a:t>
            </a:r>
          </a:p>
          <a:p>
            <a:pPr>
              <a:spcAft>
                <a:spcPts val="1000"/>
              </a:spcAft>
            </a:pPr>
            <a:r>
              <a:rPr sz="1500">
                <a:solidFill>
                  <a:srgbClr val="222B33"/>
                </a:solidFill>
                <a:latin typeface="Microsoft YaHei"/>
              </a:rPr>
              <a:t>▪ 设施故障自行处理，不通知设施管理人员</a:t>
            </a:r>
          </a:p>
        </p:txBody>
      </p:sp>
    </p:spTree>
  </p:cSld>
  <p:clrMapOvr>
    <a:masterClrMapping/>
  </p:clrMapOvr>
</p:sld>
</file>

<file path=ppt/slides/slide2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生物安全员：评估、控制、监督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把单位政策落到每间实验室</a:t>
            </a:r>
          </a:p>
          <a:p>
            <a:pPr>
              <a:spcAft>
                <a:spcPts val="1000"/>
              </a:spcAft>
            </a:pPr>
            <a:r>
              <a:rPr sz="1700">
                <a:solidFill>
                  <a:srgbClr val="222B33"/>
                </a:solidFill>
                <a:latin typeface="Microsoft YaHei"/>
              </a:rPr>
              <a:t>▪ 评估风险，落实控制，检查成效</a:t>
            </a:r>
          </a:p>
          <a:p>
            <a:pPr>
              <a:spcAft>
                <a:spcPts val="1000"/>
              </a:spcAft>
            </a:pPr>
            <a:r>
              <a:rPr sz="1700">
                <a:solidFill>
                  <a:srgbClr val="222B33"/>
                </a:solidFill>
                <a:latin typeface="Microsoft YaHei"/>
              </a:rPr>
              <a:t>▪ 在现场有权监督日常运行</a:t>
            </a:r>
          </a:p>
          <a:p>
            <a:pPr>
              <a:spcAft>
                <a:spcPts val="1000"/>
              </a:spcAft>
            </a:pPr>
            <a:r>
              <a:rPr sz="1700">
                <a:solidFill>
                  <a:srgbClr val="222B33"/>
                </a:solidFill>
                <a:latin typeface="Microsoft YaHei"/>
              </a:rPr>
              <a:t>▪ 发现违规或防护破坏，有权制止</a:t>
            </a:r>
          </a:p>
          <a:p>
            <a:pPr>
              <a:spcAft>
                <a:spcPts val="1000"/>
              </a:spcAft>
            </a:pPr>
            <a:r>
              <a:rPr sz="1700">
                <a:solidFill>
                  <a:srgbClr val="222B33"/>
                </a:solidFill>
                <a:latin typeface="Microsoft YaHei"/>
              </a:rPr>
              <a:t>▪ 叫法可能不同，职责相同</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生物安全员（有的单位称生物安全负责人、安全监督员）是生物安全体系中"人"的关键一环：读懂单位的生物安全政策，并把它落实到每一间实验室。他应受过专门培训，懂生物学、懂法规、也懂操作。</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把安全员当成"挑刺的"，敷衍应付检查</a:t>
            </a:r>
          </a:p>
          <a:p>
            <a:pPr>
              <a:spcAft>
                <a:spcPts val="1000"/>
              </a:spcAft>
            </a:pPr>
            <a:r>
              <a:rPr sz="1500">
                <a:solidFill>
                  <a:srgbClr val="222B33"/>
                </a:solidFill>
                <a:latin typeface="Microsoft YaHei"/>
              </a:rPr>
              <a:t>▪ 安全员只管纸面材料，不到现场</a:t>
            </a:r>
          </a:p>
        </p:txBody>
      </p:sp>
    </p:spTree>
  </p:cSld>
  <p:clrMapOvr>
    <a:masterClrMapping/>
  </p:clrMapOvr>
</p:sld>
</file>

<file path=ppt/slides/slide2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责任三层含义：有事管、可问责、能拍板</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第一层：分内的事必须去管</a:t>
            </a:r>
          </a:p>
          <a:p>
            <a:pPr>
              <a:spcAft>
                <a:spcPts val="1000"/>
              </a:spcAft>
            </a:pPr>
            <a:r>
              <a:rPr sz="2000">
                <a:solidFill>
                  <a:srgbClr val="222B33"/>
                </a:solidFill>
                <a:latin typeface="Microsoft YaHei"/>
              </a:rPr>
              <a:t>▪ 第二层：能问责，做了什么靠记录说话</a:t>
            </a:r>
          </a:p>
          <a:p>
            <a:pPr>
              <a:spcAft>
                <a:spcPts val="1000"/>
              </a:spcAft>
            </a:pPr>
            <a:r>
              <a:rPr sz="2000">
                <a:solidFill>
                  <a:srgbClr val="222B33"/>
                </a:solidFill>
                <a:latin typeface="Microsoft YaHei"/>
              </a:rPr>
              <a:t>▪ 第三层：有授权，必要时独立叫停</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负责"有三层含义：一是职责，分内的事必须去管，不能推；二是问责，做了什么、怎么做的，要负得起责，而这要靠完整的记录来证明；三是授权，安全员要有独立决定的权力，发现严重风险时能够叫停实验，而不必等待层层批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只有职责、没有授权，发现问题叫不停</a:t>
            </a:r>
          </a:p>
          <a:p>
            <a:pPr>
              <a:spcAft>
                <a:spcPts val="1000"/>
              </a:spcAft>
            </a:pPr>
            <a:r>
              <a:rPr sz="1500">
                <a:solidFill>
                  <a:srgbClr val="222B33"/>
                </a:solidFill>
                <a:latin typeface="Microsoft YaHei"/>
              </a:rPr>
              <a:t>▪ 工作不留记录，出了事说不清</a:t>
            </a:r>
          </a:p>
        </p:txBody>
      </p:sp>
    </p:spTree>
  </p:cSld>
  <p:clrMapOvr>
    <a:masterClrMapping/>
  </p:clrMapOvr>
</p:sld>
</file>

<file path=ppt/slides/slide2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项目负责人：对自己的实验负责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项目负责人对实验本身负责</a:t>
            </a:r>
          </a:p>
          <a:p>
            <a:pPr>
              <a:spcAft>
                <a:spcPts val="1000"/>
              </a:spcAft>
            </a:pPr>
            <a:r>
              <a:rPr sz="2000">
                <a:solidFill>
                  <a:srgbClr val="222B33"/>
                </a:solidFill>
                <a:latin typeface="Microsoft YaHei"/>
              </a:rPr>
              <a:t>▪ 具体病原怎么防，由他定措施</a:t>
            </a:r>
          </a:p>
          <a:p>
            <a:pPr>
              <a:spcAft>
                <a:spcPts val="1000"/>
              </a:spcAft>
            </a:pPr>
            <a:r>
              <a:rPr sz="2000">
                <a:solidFill>
                  <a:srgbClr val="222B33"/>
                </a:solidFill>
                <a:latin typeface="Microsoft YaHei"/>
              </a:rPr>
              <a:t>▪ 带好团队，培训到位，监督落实</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项目负责人（课题负责人、导师）最了解自己的实验：用什么病原或材料、做哪些操作、风险在哪里。因此，具体的防护措施由项目负责人在风险评估基础上提出，经委员会审查后落实。</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导师只管科研进度，把安全全推给安全员</a:t>
            </a:r>
          </a:p>
          <a:p>
            <a:pPr>
              <a:spcAft>
                <a:spcPts val="1000"/>
              </a:spcAft>
            </a:pPr>
            <a:r>
              <a:rPr sz="1500">
                <a:solidFill>
                  <a:srgbClr val="222B33"/>
                </a:solidFill>
                <a:latin typeface="Microsoft YaHei"/>
              </a:rPr>
              <a:t>▪ 学生没培训就让上手做病原实验</a:t>
            </a:r>
          </a:p>
        </p:txBody>
      </p:sp>
    </p:spTree>
  </p:cSld>
  <p:clrMapOvr>
    <a:masterClrMapping/>
  </p:clrMapOvr>
</p:sld>
</file>

<file path=ppt/slides/slide3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各管一摊，协同一致</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委员会统全局，设施经理管设施</a:t>
            </a:r>
          </a:p>
          <a:p>
            <a:pPr>
              <a:spcAft>
                <a:spcPts val="1000"/>
              </a:spcAft>
            </a:pPr>
            <a:r>
              <a:rPr sz="2000">
                <a:solidFill>
                  <a:srgbClr val="222B33"/>
                </a:solidFill>
                <a:latin typeface="Microsoft YaHei"/>
              </a:rPr>
              <a:t>▪ 安全员管评估检查，负责人管实验</a:t>
            </a:r>
          </a:p>
          <a:p>
            <a:pPr>
              <a:spcAft>
                <a:spcPts val="1000"/>
              </a:spcAft>
            </a:pPr>
            <a:r>
              <a:rPr sz="2000">
                <a:solidFill>
                  <a:srgbClr val="222B33"/>
                </a:solidFill>
                <a:latin typeface="Microsoft YaHei"/>
              </a:rPr>
              <a:t>▪ 各方互相配合，步调一致</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合起来看：生物安全委员会统管全局，设施经理保证设施设备正常运转，生物安全员负责评估、控制和检查，项目负责人对实验本身负责。</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各方互不通气，设施检修时实验照常进行</a:t>
            </a:r>
          </a:p>
          <a:p>
            <a:pPr>
              <a:spcAft>
                <a:spcPts val="1000"/>
              </a:spcAft>
            </a:pPr>
            <a:r>
              <a:rPr sz="1500">
                <a:solidFill>
                  <a:srgbClr val="222B33"/>
                </a:solidFill>
                <a:latin typeface="Microsoft YaHei"/>
              </a:rPr>
              <a:t>▪ 出了问题互相推诿</a:t>
            </a:r>
          </a:p>
        </p:txBody>
      </p:sp>
    </p:spTree>
  </p:cSld>
  <p:clrMapOvr>
    <a:masterClrMapping/>
  </p:clrMapOvr>
</p:sld>
</file>

<file path=ppt/slides/slide30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安全员要懂生物，会评估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懂微生物学、细胞生物学和生物技术</a:t>
            </a:r>
          </a:p>
          <a:p>
            <a:pPr>
              <a:spcAft>
                <a:spcPts val="1000"/>
              </a:spcAft>
            </a:pPr>
            <a:r>
              <a:rPr sz="1700">
                <a:solidFill>
                  <a:srgbClr val="222B33"/>
                </a:solidFill>
                <a:latin typeface="Microsoft YaHei"/>
              </a:rPr>
              <a:t>▪ 先问：什么病原、第几类、几级实验室</a:t>
            </a:r>
          </a:p>
          <a:p>
            <a:pPr>
              <a:spcAft>
                <a:spcPts val="1000"/>
              </a:spcAft>
            </a:pPr>
            <a:r>
              <a:rPr sz="1700">
                <a:solidFill>
                  <a:srgbClr val="222B33"/>
                </a:solidFill>
                <a:latin typeface="Microsoft YaHei"/>
              </a:rPr>
              <a:t>▪ 条件不够、没有审批，不能开工</a:t>
            </a:r>
          </a:p>
          <a:p>
            <a:pPr>
              <a:spcAft>
                <a:spcPts val="1000"/>
              </a:spcAft>
            </a:pPr>
            <a:r>
              <a:rPr sz="1700">
                <a:solidFill>
                  <a:srgbClr val="222B33"/>
                </a:solidFill>
                <a:latin typeface="Microsoft YaHei"/>
              </a:rPr>
              <a:t>▪ 国内第一类最危险，与国际分组相反</a:t>
            </a:r>
          </a:p>
          <a:p>
            <a:pPr>
              <a:spcAft>
                <a:spcPts val="1000"/>
              </a:spcAft>
            </a:pPr>
            <a:r>
              <a:rPr sz="1700">
                <a:solidFill>
                  <a:srgbClr val="222B33"/>
                </a:solidFill>
                <a:latin typeface="Microsoft YaHei"/>
              </a:rPr>
              <a:t>▪ 生物之外，还有化学、锐器、用电</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安全员首先要懂微生物学和细胞生物学。例如有老师想在普通教学实验室培养某种病原，安全员要先问：是什么病原？在国内分类中属于第几类？需要几级生物安全实验室？然后组织风险评估、确定控制措施、检查效果。实验室条件不够、没有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把国际风险组的编号当成国内分类</a:t>
            </a:r>
          </a:p>
          <a:p>
            <a:pPr>
              <a:spcAft>
                <a:spcPts val="1000"/>
              </a:spcAft>
            </a:pPr>
            <a:r>
              <a:rPr sz="1500">
                <a:solidFill>
                  <a:srgbClr val="222B33"/>
                </a:solidFill>
                <a:latin typeface="Microsoft YaHei"/>
              </a:rPr>
              <a:t>▪ 只看生物风险，忽视化学、锐器和用电</a:t>
            </a:r>
          </a:p>
        </p:txBody>
      </p:sp>
    </p:spTree>
  </p:cSld>
  <p:clrMapOvr>
    <a:masterClrMapping/>
  </p:clrMapOvr>
</p:sld>
</file>

<file path=ppt/slides/slide30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保护环境，防止逃逸</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安全员也要保护环境</a:t>
            </a:r>
          </a:p>
          <a:p>
            <a:pPr>
              <a:spcAft>
                <a:spcPts val="1000"/>
              </a:spcAft>
            </a:pPr>
            <a:r>
              <a:rPr sz="2000">
                <a:solidFill>
                  <a:srgbClr val="222B33"/>
                </a:solidFill>
                <a:latin typeface="Microsoft YaHei"/>
              </a:rPr>
              <a:t>▪ 人兽共患病原、转基因生物防逃逸</a:t>
            </a:r>
          </a:p>
          <a:p>
            <a:pPr>
              <a:spcAft>
                <a:spcPts val="1000"/>
              </a:spcAft>
            </a:pPr>
            <a:r>
              <a:rPr sz="2000">
                <a:solidFill>
                  <a:srgbClr val="222B33"/>
                </a:solidFill>
                <a:latin typeface="Microsoft YaHei"/>
              </a:rPr>
              <a:t>▪ 拿不准的，及时请专家</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生物安全不只保护实验人员，还要保护实验室外的公众和环境。人兽共患病原、转基因动植物和微生物、实验动物和媒介昆虫一旦逃逸到外界，可能造成传播或生态影响，安全员要督促落实防逃逸措施（见第 082、084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认为生物安全只关乎实验室内部人员</a:t>
            </a:r>
          </a:p>
          <a:p>
            <a:pPr>
              <a:spcAft>
                <a:spcPts val="1000"/>
              </a:spcAft>
            </a:pPr>
            <a:r>
              <a:rPr sz="1500">
                <a:solidFill>
                  <a:srgbClr val="222B33"/>
                </a:solidFill>
                <a:latin typeface="Microsoft YaHei"/>
              </a:rPr>
              <a:t>▪ 拿不准时自作主张</a:t>
            </a:r>
          </a:p>
        </p:txBody>
      </p:sp>
    </p:spTree>
  </p:cSld>
  <p:clrMapOvr>
    <a:masterClrMapping/>
  </p:clrMapOvr>
</p:sld>
</file>

<file path=ppt/slides/slide30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懂设备，能教人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设备从选型、安装到检测维修都把关</a:t>
            </a:r>
          </a:p>
          <a:p>
            <a:pPr>
              <a:spcAft>
                <a:spcPts val="1000"/>
              </a:spcAft>
            </a:pPr>
            <a:r>
              <a:rPr sz="2000">
                <a:solidFill>
                  <a:srgbClr val="222B33"/>
                </a:solidFill>
                <a:latin typeface="Microsoft YaHei"/>
              </a:rPr>
              <a:t>▪ 新安全柜检测合格才能使用</a:t>
            </a:r>
          </a:p>
          <a:p>
            <a:pPr>
              <a:spcAft>
                <a:spcPts val="1000"/>
              </a:spcAft>
            </a:pPr>
            <a:r>
              <a:rPr sz="2000">
                <a:solidFill>
                  <a:srgbClr val="222B33"/>
                </a:solidFill>
                <a:latin typeface="Microsoft YaHei"/>
              </a:rPr>
              <a:t>▪ 自己会用，才能教别人用</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安全员要懂实验室的关键设备。以生物安全柜为例：选型要符合实验活动的防护需要，安装位置要避开门口和人员走动的气流干扰，安装后、移位后和定期都要由有资质的机构检测合格才能使用，出现故障要及时维修（生物安全柜见第 071–……</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新设备装好不经检测就投入使用</a:t>
            </a:r>
          </a:p>
          <a:p>
            <a:pPr>
              <a:spcAft>
                <a:spcPts val="1000"/>
              </a:spcAft>
            </a:pPr>
            <a:r>
              <a:rPr sz="1500">
                <a:solidFill>
                  <a:srgbClr val="222B33"/>
                </a:solidFill>
                <a:latin typeface="Microsoft YaHei"/>
              </a:rPr>
              <a:t>▪ 安全员自己不会用设备，培训只念说明书</a:t>
            </a:r>
          </a:p>
        </p:txBody>
      </p:sp>
    </p:spTree>
  </p:cSld>
  <p:clrMapOvr>
    <a:masterClrMapping/>
  </p:clrMapOvr>
</p:sld>
</file>

<file path=ppt/slides/slide30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沟通说服，推动变革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有人嫌安全花钱费时，当成负担</a:t>
            </a:r>
          </a:p>
          <a:p>
            <a:pPr>
              <a:spcAft>
                <a:spcPts val="1000"/>
              </a:spcAft>
            </a:pPr>
            <a:r>
              <a:rPr sz="2000">
                <a:solidFill>
                  <a:srgbClr val="222B33"/>
                </a:solidFill>
                <a:latin typeface="Microsoft YaHei"/>
              </a:rPr>
              <a:t>▪ 硬压规定没用：先明白，再沟通，后落实</a:t>
            </a:r>
          </a:p>
          <a:p>
            <a:pPr>
              <a:spcAft>
                <a:spcPts val="1000"/>
              </a:spcAft>
            </a:pPr>
            <a:r>
              <a:rPr sz="2000">
                <a:solidFill>
                  <a:srgbClr val="222B33"/>
                </a:solidFill>
                <a:latin typeface="Microsoft YaHei"/>
              </a:rPr>
              <a:t>▪ 知道为什么，才会主动遵守</a:t>
            </a:r>
          </a:p>
          <a:p>
            <a:pPr>
              <a:spcAft>
                <a:spcPts val="1000"/>
              </a:spcAft>
            </a:pPr>
            <a:r>
              <a:rPr sz="2000">
                <a:solidFill>
                  <a:srgbClr val="222B33"/>
                </a:solidFill>
                <a:latin typeface="Microsoft YaHei"/>
              </a:rPr>
              <a:t>▪ 对事不对人，讲清楚，也体谅人</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有人觉得安全是负担：花钱、费时间、影响进度。这时硬压规定没有用。推动改变要分三步：先让领导和大家明白为什么要管（提高意识），再在全单位充分沟通，最后通过培训和制度真正落实。</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只靠罚款和通报推动安全</a:t>
            </a:r>
          </a:p>
          <a:p>
            <a:pPr>
              <a:spcAft>
                <a:spcPts val="1000"/>
              </a:spcAft>
            </a:pPr>
            <a:r>
              <a:rPr sz="1500">
                <a:solidFill>
                  <a:srgbClr val="222B33"/>
                </a:solidFill>
                <a:latin typeface="Microsoft YaHei"/>
              </a:rPr>
              <a:t>▪ 把检查当成对人不对事</a:t>
            </a:r>
          </a:p>
        </p:txBody>
      </p:sp>
    </p:spTree>
  </p:cSld>
  <p:clrMapOvr>
    <a:masterClrMapping/>
  </p:clrMapOvr>
</p:sld>
</file>

<file path=ppt/slides/slide30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新任安全员从哪下手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先把安全写进单位目标和政策</a:t>
            </a:r>
          </a:p>
          <a:p>
            <a:pPr>
              <a:spcAft>
                <a:spcPts val="1000"/>
              </a:spcAft>
            </a:pPr>
            <a:r>
              <a:rPr sz="2000">
                <a:solidFill>
                  <a:srgbClr val="222B33"/>
                </a:solidFill>
                <a:latin typeface="Microsoft YaHei"/>
              </a:rPr>
              <a:t>▪ 政策在法律范围内，也是社会责任</a:t>
            </a:r>
          </a:p>
          <a:p>
            <a:pPr>
              <a:spcAft>
                <a:spcPts val="1000"/>
              </a:spcAft>
            </a:pPr>
            <a:r>
              <a:rPr sz="2000">
                <a:solidFill>
                  <a:srgbClr val="222B33"/>
                </a:solidFill>
                <a:latin typeface="Microsoft YaHei"/>
              </a:rPr>
              <a:t>▪ 找到各层愿意带头的人，支持他们</a:t>
            </a:r>
          </a:p>
          <a:p>
            <a:pPr>
              <a:spcAft>
                <a:spcPts val="1000"/>
              </a:spcAft>
            </a:pPr>
            <a:r>
              <a:rPr sz="2000">
                <a:solidFill>
                  <a:srgbClr val="222B33"/>
                </a:solidFill>
                <a:latin typeface="Microsoft YaHei"/>
              </a:rPr>
              <a:t>▪ 让安全计划各部分一起运转</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新上任的安全员可以从四方面入手：政策、法律、社会责任和人。先推动把生物安全写进单位的发展目标和政策；政策必须在国家法律法规的范围之内；生物安全也是单位对社会应负的责任。</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只写制度，不找人推动</a:t>
            </a:r>
          </a:p>
          <a:p>
            <a:pPr>
              <a:spcAft>
                <a:spcPts val="1000"/>
              </a:spcAft>
            </a:pPr>
            <a:r>
              <a:rPr sz="1500">
                <a:solidFill>
                  <a:srgbClr val="222B33"/>
                </a:solidFill>
                <a:latin typeface="Microsoft YaHei"/>
              </a:rPr>
              <a:t>▪ 各项措施各自为政，互不衔接</a:t>
            </a:r>
          </a:p>
        </p:txBody>
      </p:sp>
    </p:spTree>
  </p:cSld>
  <p:clrMapOvr>
    <a:masterClrMapping/>
  </p:clrMapOvr>
</p:sld>
</file>

<file path=ppt/slides/slide30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持续学习，特殊领域多补课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动物、植物、昆虫、临床检验要求更高</a:t>
            </a:r>
          </a:p>
          <a:p>
            <a:pPr>
              <a:spcAft>
                <a:spcPts val="1000"/>
              </a:spcAft>
            </a:pPr>
            <a:r>
              <a:rPr sz="2000">
                <a:solidFill>
                  <a:srgbClr val="222B33"/>
                </a:solidFill>
                <a:latin typeface="Microsoft YaHei"/>
              </a:rPr>
              <a:t>▪ 各领域有专门规定，要不断补课</a:t>
            </a:r>
          </a:p>
          <a:p>
            <a:pPr>
              <a:spcAft>
                <a:spcPts val="1000"/>
              </a:spcAft>
            </a:pPr>
            <a:r>
              <a:rPr sz="2000">
                <a:solidFill>
                  <a:srgbClr val="222B33"/>
                </a:solidFill>
                <a:latin typeface="Microsoft YaHei"/>
              </a:rPr>
              <a:t>▪ 本事一点点积累，知识更新要跟上</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实验动物、植物（封闭温室）、昆虫和媒介生物、临床检验等特殊领域风险更高，各有专门的法规和标准，安全员需要的本领也更多（见第 079、082、084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用普通实验室的经验管理动物实验室</a:t>
            </a:r>
          </a:p>
          <a:p>
            <a:pPr>
              <a:spcAft>
                <a:spcPts val="1000"/>
              </a:spcAft>
            </a:pPr>
            <a:r>
              <a:rPr sz="1500">
                <a:solidFill>
                  <a:srgbClr val="222B33"/>
                </a:solidFill>
                <a:latin typeface="Microsoft YaHei"/>
              </a:rPr>
              <a:t>▪ 上岗后不再学习新法规新标准</a:t>
            </a:r>
          </a:p>
        </p:txBody>
      </p:sp>
    </p:spTree>
  </p:cSld>
  <p:clrMapOvr>
    <a:masterClrMapping/>
  </p:clrMapOvr>
</p:sld>
</file>

<file path=ppt/slides/slide3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安全员靠什么发挥作用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先写下心中安全员的职责，再对照</a:t>
            </a:r>
          </a:p>
          <a:p>
            <a:pPr>
              <a:spcAft>
                <a:spcPts val="1000"/>
              </a:spcAft>
            </a:pPr>
            <a:r>
              <a:rPr sz="2000">
                <a:solidFill>
                  <a:srgbClr val="222B33"/>
                </a:solidFill>
                <a:latin typeface="Microsoft YaHei"/>
              </a:rPr>
              <a:t>▪ 领导支持是第一条</a:t>
            </a:r>
          </a:p>
          <a:p>
            <a:pPr>
              <a:spcAft>
                <a:spcPts val="1000"/>
              </a:spcAft>
            </a:pPr>
            <a:r>
              <a:rPr sz="2000">
                <a:solidFill>
                  <a:srgbClr val="222B33"/>
                </a:solidFill>
                <a:latin typeface="Microsoft YaHei"/>
              </a:rPr>
              <a:t>▪ 懂生物、懂法规、懂工程和防护</a:t>
            </a:r>
          </a:p>
          <a:p>
            <a:pPr>
              <a:spcAft>
                <a:spcPts val="1000"/>
              </a:spcAft>
            </a:pPr>
            <a:r>
              <a:rPr sz="2000">
                <a:solidFill>
                  <a:srgbClr val="222B33"/>
                </a:solidFill>
                <a:latin typeface="Microsoft YaHei"/>
              </a:rPr>
              <a:t>▪ 会培训，肯推动改变</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可以先做个小练习：写下你认为安全员应该做什么，学完后再对照补充。</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单位只设岗位不给支持</a:t>
            </a:r>
          </a:p>
          <a:p>
            <a:pPr>
              <a:spcAft>
                <a:spcPts val="1000"/>
              </a:spcAft>
            </a:pPr>
            <a:r>
              <a:rPr sz="1500">
                <a:solidFill>
                  <a:srgbClr val="222B33"/>
                </a:solidFill>
                <a:latin typeface="Microsoft YaHei"/>
              </a:rPr>
              <a:t>▪ 安全员只懂法规，不懂实验和设备</a:t>
            </a:r>
          </a:p>
        </p:txBody>
      </p:sp>
    </p:spTree>
  </p:cSld>
  <p:clrMapOvr>
    <a:masterClrMapping/>
  </p:clrMapOvr>
</p:sld>
</file>

<file path=ppt/slides/slide30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书面生物安全政策：具体可落实</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每个实验室都要有书面生物安全政策</a:t>
            </a:r>
          </a:p>
          <a:p>
            <a:pPr>
              <a:spcAft>
                <a:spcPts val="1000"/>
              </a:spcAft>
            </a:pPr>
            <a:r>
              <a:rPr sz="2000">
                <a:solidFill>
                  <a:srgbClr val="222B33"/>
                </a:solidFill>
                <a:latin typeface="Microsoft YaHei"/>
              </a:rPr>
              <a:t>▪ 写明对生物安全和安保的承诺</a:t>
            </a:r>
          </a:p>
          <a:p>
            <a:pPr>
              <a:spcAft>
                <a:spcPts val="1000"/>
              </a:spcAft>
            </a:pPr>
            <a:r>
              <a:rPr sz="2000">
                <a:solidFill>
                  <a:srgbClr val="222B33"/>
                </a:solidFill>
                <a:latin typeface="Microsoft YaHei"/>
              </a:rPr>
              <a:t>▪ 具体、可衡量、做得到、有时限</a:t>
            </a:r>
          </a:p>
          <a:p>
            <a:pPr>
              <a:spcAft>
                <a:spcPts val="1000"/>
              </a:spcAft>
            </a:pPr>
            <a:r>
              <a:rPr sz="2000">
                <a:solidFill>
                  <a:srgbClr val="222B33"/>
                </a:solidFill>
                <a:latin typeface="Microsoft YaHei"/>
              </a:rPr>
              <a:t>▪ 各岗位职责写进安全手册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每个实验室都要有书面的生物安全政策，写明单位对生物安全和生物安保的承诺，由管理层批准发布。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政策只有"安全第一"之类口号</a:t>
            </a:r>
          </a:p>
          <a:p>
            <a:pPr>
              <a:spcAft>
                <a:spcPts val="1000"/>
              </a:spcAft>
            </a:pPr>
            <a:r>
              <a:rPr sz="1500">
                <a:solidFill>
                  <a:srgbClr val="222B33"/>
                </a:solidFill>
                <a:latin typeface="Microsoft YaHei"/>
              </a:rPr>
              <a:t>▪ 职责口头约定，没有书面文件</a:t>
            </a:r>
          </a:p>
        </p:txBody>
      </p:sp>
    </p:spTree>
  </p:cSld>
  <p:clrMapOvr>
    <a:masterClrMapping/>
  </p:clrMapOvr>
</p:sld>
</file>

<file path=ppt/slides/slide30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生物安全手册：依法编写，与设施同建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政策之下是生物安全手册</a:t>
            </a:r>
          </a:p>
          <a:p>
            <a:pPr>
              <a:spcAft>
                <a:spcPts val="1000"/>
              </a:spcAft>
            </a:pPr>
            <a:r>
              <a:rPr sz="2000">
                <a:solidFill>
                  <a:srgbClr val="222B33"/>
                </a:solidFill>
                <a:latin typeface="Microsoft YaHei"/>
              </a:rPr>
              <a:t>▪ 依国内法规编写，国际指南只作参考</a:t>
            </a:r>
          </a:p>
          <a:p>
            <a:pPr>
              <a:spcAft>
                <a:spcPts val="1000"/>
              </a:spcAft>
            </a:pPr>
            <a:r>
              <a:rPr sz="2000">
                <a:solidFill>
                  <a:srgbClr val="222B33"/>
                </a:solidFill>
                <a:latin typeface="Microsoft YaHei"/>
              </a:rPr>
              <a:t>▪ 只写本实验室，具体可用</a:t>
            </a:r>
          </a:p>
          <a:p>
            <a:pPr>
              <a:spcAft>
                <a:spcPts val="1000"/>
              </a:spcAft>
            </a:pPr>
            <a:r>
              <a:rPr sz="2000">
                <a:solidFill>
                  <a:srgbClr val="222B33"/>
                </a:solidFill>
                <a:latin typeface="Microsoft YaHei"/>
              </a:rPr>
              <a:t>▪ 先定谁负责、配几人，与设施同步建好</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政策之下是生物安全手册（以及程序文件、操作规程等管理体系文件）。手册必须依据国家和地方的法律法规、国家标准编写，国际指南可以参考，但以国内规定为准。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照搬外单位或国外的手册</a:t>
            </a:r>
          </a:p>
          <a:p>
            <a:pPr>
              <a:spcAft>
                <a:spcPts val="1000"/>
              </a:spcAft>
            </a:pPr>
            <a:r>
              <a:rPr sz="1500">
                <a:solidFill>
                  <a:srgbClr val="222B33"/>
                </a:solidFill>
                <a:latin typeface="Microsoft YaHei"/>
              </a:rPr>
              <a:t>▪ 实验室投入使用了，手册还没写</a:t>
            </a:r>
          </a:p>
        </p:txBody>
      </p:sp>
    </p:spTree>
  </p:cSld>
  <p:clrMapOvr>
    <a:masterClrMapping/>
  </p:clrMapOvr>
</p:sld>
</file>

<file path=ppt/slides/slide3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学生要做的：认人、服从、报告</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认清负责人和安全员，记牢联系方式</a:t>
            </a:r>
          </a:p>
          <a:p>
            <a:pPr>
              <a:spcAft>
                <a:spcPts val="1000"/>
              </a:spcAft>
            </a:pPr>
            <a:r>
              <a:rPr sz="2000">
                <a:solidFill>
                  <a:srgbClr val="222B33"/>
                </a:solidFill>
                <a:latin typeface="Microsoft YaHei"/>
              </a:rPr>
              <a:t>▪ 新实验先交导师，评估审批后再做</a:t>
            </a:r>
          </a:p>
          <a:p>
            <a:pPr>
              <a:spcAft>
                <a:spcPts val="1000"/>
              </a:spcAft>
            </a:pPr>
            <a:r>
              <a:rPr sz="2000">
                <a:solidFill>
                  <a:srgbClr val="222B33"/>
                </a:solidFill>
                <a:latin typeface="Microsoft YaHei"/>
              </a:rPr>
              <a:t>▪ 服从安全员监督，指出就改</a:t>
            </a:r>
          </a:p>
          <a:p>
            <a:pPr>
              <a:spcAft>
                <a:spcPts val="1000"/>
              </a:spcAft>
            </a:pPr>
            <a:r>
              <a:rPr sz="2000">
                <a:solidFill>
                  <a:srgbClr val="222B33"/>
                </a:solidFill>
                <a:latin typeface="Microsoft YaHei"/>
              </a:rPr>
              <a:t>▪ 出事报负责人、学院和保卫处</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作为学生，首先要认清本实验室的负责人、导师和生物安全员，看懂门口安全信息牌上的联系方式。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不知道安全员是谁，出事不知找谁</a:t>
            </a:r>
          </a:p>
          <a:p>
            <a:pPr>
              <a:spcAft>
                <a:spcPts val="1000"/>
              </a:spcAft>
            </a:pPr>
            <a:r>
              <a:rPr sz="1500">
                <a:solidFill>
                  <a:srgbClr val="222B33"/>
                </a:solidFill>
                <a:latin typeface="Microsoft YaHei"/>
              </a:rPr>
              <a:t>▪ 怕挨批评，隐瞒小事故</a:t>
            </a:r>
          </a:p>
        </p:txBody>
      </p:sp>
    </p:spTree>
  </p:cSld>
  <p:clrMapOvr>
    <a:masterClrMapping/>
  </p:clrMapOvr>
</p:sld>
</file>

<file path=ppt/slides/slide3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实验室生物安全的第一责任人是：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学生本人</a:t>
            </a:r>
          </a:p>
          <a:p>
            <a:pPr algn="l"/>
            <a:r>
              <a:rPr sz="1500" b="0">
                <a:solidFill>
                  <a:srgbClr val="222B33"/>
                </a:solidFill>
                <a:latin typeface="Microsoft YaHei"/>
              </a:rPr>
              <a:t>B. 实验室负责人</a:t>
            </a:r>
          </a:p>
          <a:p>
            <a:pPr algn="l"/>
            <a:r>
              <a:rPr sz="1500" b="0">
                <a:solidFill>
                  <a:srgbClr val="222B33"/>
                </a:solidFill>
                <a:latin typeface="Microsoft YaHei"/>
              </a:rPr>
              <a:t>C. 保卫处</a:t>
            </a:r>
          </a:p>
          <a:p>
            <a:pPr algn="l"/>
            <a:r>
              <a:rPr sz="1500" b="0">
                <a:solidFill>
                  <a:srgbClr val="222B33"/>
                </a:solidFill>
                <a:latin typeface="Microsoft YaHei"/>
              </a:rPr>
              <a:t>D. 设备供应商</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判断：研究生觉得新实验风险不大，可以自己定级后直接开工。</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3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下列关于生物安全员的说法，正确的是：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只负责整理材料</a:t>
            </a:r>
          </a:p>
          <a:p>
            <a:pPr algn="l"/>
            <a:r>
              <a:rPr sz="1500" b="0">
                <a:solidFill>
                  <a:srgbClr val="222B33"/>
                </a:solidFill>
                <a:latin typeface="Microsoft YaHei"/>
              </a:rPr>
              <a:t>B. 发现违规或防护破坏有权制止，必要时叫停实验</a:t>
            </a:r>
          </a:p>
          <a:p>
            <a:pPr algn="l"/>
            <a:r>
              <a:rPr sz="1500" b="0">
                <a:solidFill>
                  <a:srgbClr val="222B33"/>
                </a:solidFill>
                <a:latin typeface="Microsoft YaHei"/>
              </a:rPr>
              <a:t>C. 只能提建议，不能干预</a:t>
            </a:r>
          </a:p>
          <a:p>
            <a:pPr algn="l"/>
            <a:r>
              <a:rPr sz="1500" b="0">
                <a:solidFill>
                  <a:srgbClr val="222B33"/>
                </a:solidFill>
                <a:latin typeface="Microsoft YaHei"/>
              </a:rPr>
              <a:t>D. 只管设施维修</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判断：我国病原微生物分类中，第四类危害最大。</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3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下列关于生物安全手册的做法，正确的是：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直接翻译国外手册</a:t>
            </a:r>
          </a:p>
          <a:p>
            <a:pPr algn="l"/>
            <a:r>
              <a:rPr sz="1500" b="0">
                <a:solidFill>
                  <a:srgbClr val="222B33"/>
                </a:solidFill>
                <a:latin typeface="Microsoft YaHei"/>
              </a:rPr>
              <a:t>B. 实验室先用起来，手册以后再补</a:t>
            </a:r>
          </a:p>
          <a:p>
            <a:pPr algn="l"/>
            <a:r>
              <a:rPr sz="1500" b="0">
                <a:solidFill>
                  <a:srgbClr val="222B33"/>
                </a:solidFill>
                <a:latin typeface="Microsoft YaHei"/>
              </a:rPr>
              <a:t>C. 依国内法规编写，只写本实验室的具体做法，与设施同步建成</a:t>
            </a:r>
          </a:p>
          <a:p>
            <a:pPr algn="l"/>
            <a:r>
              <a:rPr sz="1500" b="0">
                <a:solidFill>
                  <a:srgbClr val="222B33"/>
                </a:solidFill>
                <a:latin typeface="Microsoft YaHei"/>
              </a:rPr>
              <a:t>D. 只写"安全第一"</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简答：生物安全委员会、设施经理、生物安全员、项目负责人各管什么？</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314.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三级管理：生物安全靠组织</a:t>
            </a:r>
          </a:p>
          <a:p>
            <a:pPr>
              <a:spcAft>
                <a:spcPts val="800"/>
              </a:spcAft>
            </a:pPr>
            <a:r>
              <a:rPr sz="1500">
                <a:solidFill>
                  <a:srgbClr val="FFFFFF"/>
                </a:solidFill>
                <a:latin typeface="Microsoft YaHei"/>
              </a:rPr>
              <a:t>▪ K2  生物安全委员会：定政策、审项目</a:t>
            </a:r>
          </a:p>
          <a:p>
            <a:pPr>
              <a:spcAft>
                <a:spcPts val="800"/>
              </a:spcAft>
            </a:pPr>
            <a:r>
              <a:rPr sz="1500">
                <a:solidFill>
                  <a:srgbClr val="FFFFFF"/>
                </a:solidFill>
                <a:latin typeface="Microsoft YaHei"/>
              </a:rPr>
              <a:t>▪ K3  设施经理：管设施运行与抢修</a:t>
            </a:r>
          </a:p>
          <a:p>
            <a:pPr>
              <a:spcAft>
                <a:spcPts val="800"/>
              </a:spcAft>
            </a:pPr>
            <a:r>
              <a:rPr sz="1500">
                <a:solidFill>
                  <a:srgbClr val="FFFFFF"/>
                </a:solidFill>
                <a:latin typeface="Microsoft YaHei"/>
              </a:rPr>
              <a:t>▪ K4  生物安全员：评估、控制、监督</a:t>
            </a:r>
          </a:p>
          <a:p>
            <a:pPr>
              <a:spcAft>
                <a:spcPts val="800"/>
              </a:spcAft>
            </a:pPr>
            <a:r>
              <a:rPr sz="1500">
                <a:solidFill>
                  <a:srgbClr val="FFFFFF"/>
                </a:solidFill>
                <a:latin typeface="Microsoft YaHei"/>
              </a:rPr>
              <a:t>▪ K5  责任三层含义：有事管、可问责、能拍板</a:t>
            </a:r>
          </a:p>
          <a:p>
            <a:pPr>
              <a:spcAft>
                <a:spcPts val="800"/>
              </a:spcAft>
            </a:pPr>
            <a:r>
              <a:rPr sz="1500">
                <a:solidFill>
                  <a:srgbClr val="FFFFFF"/>
                </a:solidFill>
                <a:latin typeface="Microsoft YaHei"/>
              </a:rPr>
              <a:t>▪ K6  项目负责人：对自己的实验负责</a:t>
            </a:r>
          </a:p>
          <a:p>
            <a:pPr>
              <a:spcAft>
                <a:spcPts val="800"/>
              </a:spcAft>
            </a:pPr>
            <a:r>
              <a:rPr sz="1500">
                <a:solidFill>
                  <a:srgbClr val="FFFFFF"/>
                </a:solidFill>
                <a:latin typeface="Microsoft YaHei"/>
              </a:rPr>
              <a:t>▪ K7  各管一摊，协同一致</a:t>
            </a:r>
          </a:p>
          <a:p>
            <a:pPr>
              <a:spcAft>
                <a:spcPts val="800"/>
              </a:spcAft>
            </a:pPr>
            <a:r>
              <a:rPr sz="1500">
                <a:solidFill>
                  <a:srgbClr val="FFFFFF"/>
                </a:solidFill>
                <a:latin typeface="Microsoft YaHei"/>
              </a:rPr>
              <a:t>▪ K8  安全员要懂生物，会评估</a:t>
            </a:r>
          </a:p>
          <a:p>
            <a:pPr>
              <a:spcAft>
                <a:spcPts val="800"/>
              </a:spcAft>
            </a:pPr>
            <a:r>
              <a:rPr sz="1500">
                <a:solidFill>
                  <a:srgbClr val="FFFFFF"/>
                </a:solidFill>
                <a:latin typeface="Microsoft YaHei"/>
              </a:rPr>
              <a:t>▪ K9  保护环境，防止逃逸</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K10  懂设备，能教人</a:t>
            </a:r>
          </a:p>
          <a:p>
            <a:pPr>
              <a:spcAft>
                <a:spcPts val="800"/>
              </a:spcAft>
            </a:pPr>
            <a:r>
              <a:rPr sz="1500">
                <a:solidFill>
                  <a:srgbClr val="FFFFFF"/>
                </a:solidFill>
                <a:latin typeface="Microsoft YaHei"/>
              </a:rPr>
              <a:t>▪ K11  沟通说服，推动变革</a:t>
            </a:r>
          </a:p>
          <a:p>
            <a:pPr>
              <a:spcAft>
                <a:spcPts val="800"/>
              </a:spcAft>
            </a:pPr>
            <a:r>
              <a:rPr sz="1500">
                <a:solidFill>
                  <a:srgbClr val="FFFFFF"/>
                </a:solidFill>
                <a:latin typeface="Microsoft YaHei"/>
              </a:rPr>
              <a:t>▪ K12  新任安全员从哪下手</a:t>
            </a:r>
          </a:p>
          <a:p>
            <a:pPr>
              <a:spcAft>
                <a:spcPts val="800"/>
              </a:spcAft>
            </a:pPr>
            <a:r>
              <a:rPr sz="1500">
                <a:solidFill>
                  <a:srgbClr val="FFFFFF"/>
                </a:solidFill>
                <a:latin typeface="Microsoft YaHei"/>
              </a:rPr>
              <a:t>▪ K13  持续学习，特殊领域多补课</a:t>
            </a:r>
          </a:p>
          <a:p>
            <a:pPr>
              <a:spcAft>
                <a:spcPts val="800"/>
              </a:spcAft>
            </a:pPr>
            <a:r>
              <a:rPr sz="1500">
                <a:solidFill>
                  <a:srgbClr val="FFFFFF"/>
                </a:solidFill>
                <a:latin typeface="Microsoft YaHei"/>
              </a:rPr>
              <a:t>▪ K14  安全员靠什么发挥作用</a:t>
            </a:r>
          </a:p>
          <a:p>
            <a:pPr>
              <a:spcAft>
                <a:spcPts val="800"/>
              </a:spcAft>
            </a:pPr>
            <a:r>
              <a:rPr sz="1500">
                <a:solidFill>
                  <a:srgbClr val="FFFFFF"/>
                </a:solidFill>
                <a:latin typeface="Microsoft YaHei"/>
              </a:rPr>
              <a:t>▪ K15  书面生物安全政策：具体可落实</a:t>
            </a:r>
          </a:p>
          <a:p>
            <a:pPr>
              <a:spcAft>
                <a:spcPts val="800"/>
              </a:spcAft>
            </a:pPr>
            <a:r>
              <a:rPr sz="1500">
                <a:solidFill>
                  <a:srgbClr val="FFFFFF"/>
                </a:solidFill>
                <a:latin typeface="Microsoft YaHei"/>
              </a:rPr>
              <a:t>▪ K16  生物安全手册：依法编写，与设施同建</a:t>
            </a:r>
          </a:p>
          <a:p>
            <a:pPr>
              <a:spcAft>
                <a:spcPts val="800"/>
              </a:spcAft>
            </a:pPr>
            <a:r>
              <a:rPr sz="1500">
                <a:solidFill>
                  <a:srgbClr val="FFFFFF"/>
                </a:solidFill>
                <a:latin typeface="Microsoft YaHei"/>
              </a:rPr>
              <a:t>▪ S1  学生要做的：认人、服从、报告</a:t>
            </a:r>
          </a:p>
        </p:txBody>
      </p:sp>
    </p:spTree>
  </p:cSld>
  <p:clrMapOvr>
    <a:masterClrMapping/>
  </p:clrMapOvr>
</p:sld>
</file>

<file path=ppt/slides/slide315.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071</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生物安全柜与超净工作台</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72 镜）　适用对象：使用生物安全柜、超净工作台的生命科学、医学、农学、环境等专业高校本科生、研究生和教职工（必修，上机操作前完成）；实验室负责人和设备管理人员重点学习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3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能说出生物安全柜靠定向气流、高效过滤器和围护结构保护人、环境和样品，知道高效过滤器只截颗粒、不挡气体。</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能说出Ⅰ、Ⅱ、Ⅲ级生物安全柜的结构特点和保护对象，知道选哪种柜由风险评估决定。</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能判断超净工作台只护样品不护人，病原和感染性材料、挥发性有毒物质不得在超净台内操作。</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能区分生物安全柜、超净工作台、化学通风柜三者的用途并正确选用，知道生物安全柜不能当化学通风柜用。</a:t>
            </a:r>
          </a:p>
        </p:txBody>
      </p:sp>
    </p:spTree>
  </p:cSld>
  <p:clrMapOvr>
    <a:masterClrMapping/>
  </p:clrMapOvr>
</p:sld>
</file>

<file path=ppt/slides/slide3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《病原微生物实验室生物安全管理条例》（以现行文本为准）：病原微生物实验活动应在相应级别的实验室进行，实验室应配备与级别相适应的防护设备</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生物安全通用要求》：可能产生气溶胶的操作在生物安全柜内进行，安全柜的选型、安装、检测和维护</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233（以现行文本为准）《病原微生物实验室生物安全通用准则》：各级实验室对生物安全柜的配备要求</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YY 0569（以现行文本为准）《Ⅱ级 生物安全柜》等生物安全柜现行国家/行业标准：结构、气流、过滤和检测要求（具体数值以现行文本、产品说明和检测报告为准）</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《人间传染的病原微生物目录》（国家卫生健康委 2023 年版，以现行文本为准）：病原的危害程度分类和实验活动所需的防护级别</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号，以现行文本为准）：安全设施设备的配备、使用和定期检测</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本校生物安全柜和超净工作台使用管理规定（以本校规定为准）</a:t>
            </a:r>
          </a:p>
        </p:txBody>
      </p:sp>
    </p:spTree>
  </p:cSld>
  <p:clrMapOvr>
    <a:masterClrMapping/>
  </p:clrMapOvr>
</p:sld>
</file>

<file path=ppt/slides/slide3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生物安全柜：护人、护环境、护样品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生物安全柜是关键的工程控制</a:t>
            </a:r>
          </a:p>
          <a:p>
            <a:pPr>
              <a:spcAft>
                <a:spcPts val="1000"/>
              </a:spcAft>
            </a:pPr>
            <a:r>
              <a:rPr sz="2000">
                <a:solidFill>
                  <a:srgbClr val="222B33"/>
                </a:solidFill>
                <a:latin typeface="Microsoft YaHei"/>
              </a:rPr>
              <a:t>▪ 挡住操作产生的气溶胶和飞溅</a:t>
            </a:r>
          </a:p>
          <a:p>
            <a:pPr>
              <a:spcAft>
                <a:spcPts val="1000"/>
              </a:spcAft>
            </a:pPr>
            <a:r>
              <a:rPr sz="2000">
                <a:solidFill>
                  <a:srgbClr val="222B33"/>
                </a:solidFill>
                <a:latin typeface="Microsoft YaHei"/>
              </a:rPr>
              <a:t>▪ 保护操作者、环境，也保护样品</a:t>
            </a:r>
          </a:p>
          <a:p>
            <a:pPr>
              <a:spcAft>
                <a:spcPts val="1000"/>
              </a:spcAft>
            </a:pPr>
            <a:r>
              <a:rPr sz="2000">
                <a:solidFill>
                  <a:srgbClr val="222B33"/>
                </a:solidFill>
                <a:latin typeface="Microsoft YaHei"/>
              </a:rPr>
              <a:t>▪ 感染性材料、临床标本在柜内操作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生物安全柜是生物实验室最关键的工程控制设备：用设备把危险隔开，挡住移液、混匀、开盖、接种等操作时产生的感染性气溶胶和飞溅。</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在开放台面上打开临床标本或培养物</a:t>
            </a:r>
          </a:p>
          <a:p>
            <a:pPr>
              <a:spcAft>
                <a:spcPts val="1000"/>
              </a:spcAft>
            </a:pPr>
            <a:r>
              <a:rPr sz="1500">
                <a:solidFill>
                  <a:srgbClr val="222B33"/>
                </a:solidFill>
                <a:latin typeface="Microsoft YaHei"/>
              </a:rPr>
              <a:t>▪ 不认识前格栅，把物品压在上面</a:t>
            </a:r>
          </a:p>
        </p:txBody>
      </p:sp>
    </p:spTree>
  </p:cSld>
  <p:clrMapOvr>
    <a:masterClrMapping/>
  </p:clrMapOvr>
</p:sld>
</file>

<file path=ppt/slides/slide3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气流原理：前窗吸入、下降气流、过滤排出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室内空气从前窗吸入，钻进前格栅</a:t>
            </a:r>
          </a:p>
          <a:p>
            <a:pPr>
              <a:spcAft>
                <a:spcPts val="1000"/>
              </a:spcAft>
            </a:pPr>
            <a:r>
              <a:rPr sz="2000">
                <a:solidFill>
                  <a:srgbClr val="222B33"/>
                </a:solidFill>
                <a:latin typeface="Microsoft YaHei"/>
              </a:rPr>
              <a:t>▪ 吸入气流形成气幕，隔开柜内外</a:t>
            </a:r>
          </a:p>
          <a:p>
            <a:pPr>
              <a:spcAft>
                <a:spcPts val="1000"/>
              </a:spcAft>
            </a:pPr>
            <a:r>
              <a:rPr sz="2000">
                <a:solidFill>
                  <a:srgbClr val="222B33"/>
                </a:solidFill>
                <a:latin typeface="Microsoft YaHei"/>
              </a:rPr>
              <a:t>▪ 柜顶过滤后的洁净风从上往下吹</a:t>
            </a:r>
          </a:p>
          <a:p>
            <a:pPr>
              <a:spcAft>
                <a:spcPts val="1000"/>
              </a:spcAft>
            </a:pPr>
            <a:r>
              <a:rPr sz="2000">
                <a:solidFill>
                  <a:srgbClr val="222B33"/>
                </a:solidFill>
                <a:latin typeface="Microsoft YaHei"/>
              </a:rPr>
              <a:t>▪ 排出的空气也先经高效过滤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气流看不见，用发烟器放出的白烟就能看出方向：烟往哪走，空气就往哪走。以常用的Ⅱ级柜为例，正常工作时室内空气从前窗开口被吸进去，再向下钻进前格栅；前窗开口处的吸入气流与下降气流一起形成一道"气幕"，把柜内空气和室内空气……</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以为柜子开着风机就一定安全，不看气流是否正常</a:t>
            </a:r>
          </a:p>
          <a:p>
            <a:pPr>
              <a:spcAft>
                <a:spcPts val="1000"/>
              </a:spcAft>
            </a:pPr>
            <a:r>
              <a:rPr sz="1500">
                <a:solidFill>
                  <a:srgbClr val="222B33"/>
                </a:solidFill>
                <a:latin typeface="Microsoft YaHei"/>
              </a:rPr>
              <a:t>▪ 以为安全柜排风不过滤</a:t>
            </a:r>
          </a:p>
        </p:txBody>
      </p:sp>
    </p:spTree>
  </p:cSld>
  <p:clrMapOvr>
    <a:masterClrMapping/>
  </p:clrMapOvr>
</p:sld>
</file>

<file path=ppt/slides/slide3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高效过滤器：截颗粒，不挡气体</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高效过滤器能截住极细颗粒和微生物</a:t>
            </a:r>
          </a:p>
          <a:p>
            <a:pPr>
              <a:spcAft>
                <a:spcPts val="1000"/>
              </a:spcAft>
            </a:pPr>
            <a:r>
              <a:rPr sz="2000">
                <a:solidFill>
                  <a:srgbClr val="222B33"/>
                </a:solidFill>
                <a:latin typeface="Microsoft YaHei"/>
              </a:rPr>
              <a:t>▪ 多层纤维加慢速，更小的也被拦住</a:t>
            </a:r>
          </a:p>
          <a:p>
            <a:pPr>
              <a:spcAft>
                <a:spcPts val="1000"/>
              </a:spcAft>
            </a:pPr>
            <a:r>
              <a:rPr sz="2000">
                <a:solidFill>
                  <a:srgbClr val="222B33"/>
                </a:solidFill>
                <a:latin typeface="Microsoft YaHei"/>
              </a:rPr>
              <a:t>▪ 挡不住有害气体和蒸气</a:t>
            </a:r>
          </a:p>
          <a:p>
            <a:pPr>
              <a:spcAft>
                <a:spcPts val="1000"/>
              </a:spcAft>
            </a:pPr>
            <a:r>
              <a:rPr sz="2000">
                <a:solidFill>
                  <a:srgbClr val="222B33"/>
                </a:solidFill>
                <a:latin typeface="Microsoft YaHei"/>
              </a:rPr>
              <a:t>▪ 颗粒气体都有，先问清用哪种柜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高效空气过滤器由多层交错的细纤维组成，气流通过时速度放慢，细小的颗粒、微生物和气溶胶被纤维拦截，过滤效率很高（具体效率以现行标准和产品说明为准）。生物安全柜的进风、下降气流和排风都靠它净化，它还要把病原拦在柜内。</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以为高效过滤器能吸附有毒气体</a:t>
            </a:r>
          </a:p>
          <a:p>
            <a:pPr>
              <a:spcAft>
                <a:spcPts val="1000"/>
              </a:spcAft>
            </a:pPr>
            <a:r>
              <a:rPr sz="1500">
                <a:solidFill>
                  <a:srgbClr val="222B33"/>
                </a:solidFill>
                <a:latin typeface="Microsoft YaHei"/>
              </a:rPr>
              <a:t>▪ 自行拆卸或碰撞过滤器</a:t>
            </a:r>
          </a:p>
        </p:txBody>
      </p:sp>
    </p:spTree>
  </p:cSld>
  <p:clrMapOvr>
    <a:masterClrMapping/>
  </p:clrMapOvr>
</p:sld>
</file>

<file path=ppt/slides/slide3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分三级，按风险评估选</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按防护水平分Ⅰ、Ⅱ、Ⅲ级</a:t>
            </a:r>
          </a:p>
          <a:p>
            <a:pPr>
              <a:spcAft>
                <a:spcPts val="1000"/>
              </a:spcAft>
            </a:pPr>
            <a:r>
              <a:rPr sz="2000">
                <a:solidFill>
                  <a:srgbClr val="222B33"/>
                </a:solidFill>
                <a:latin typeface="Microsoft YaHei"/>
              </a:rPr>
              <a:t>▪ 风险越高，柜子越密闭</a:t>
            </a:r>
          </a:p>
          <a:p>
            <a:pPr>
              <a:spcAft>
                <a:spcPts val="1000"/>
              </a:spcAft>
            </a:pPr>
            <a:r>
              <a:rPr sz="2000">
                <a:solidFill>
                  <a:srgbClr val="222B33"/>
                </a:solidFill>
                <a:latin typeface="Microsoft YaHei"/>
              </a:rPr>
              <a:t>▪ 用哪种柜由风险评估定，拿不准先问</a:t>
            </a:r>
          </a:p>
          <a:p>
            <a:pPr>
              <a:spcAft>
                <a:spcPts val="1000"/>
              </a:spcAft>
            </a:pPr>
            <a:r>
              <a:rPr sz="2000">
                <a:solidFill>
                  <a:srgbClr val="222B33"/>
                </a:solidFill>
                <a:latin typeface="Microsoft YaHei"/>
              </a:rPr>
              <a:t>▪ 国内病原第一类最危险，别和国际弄反</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安全柜按提供的防护水平分为Ⅰ级、Ⅱ级、Ⅲ级，风险越高，柜子的密闭程度越高；常用的Ⅱ级柜按排风方式又分不同类型。不同柜型能保护的对象各不相同，用哪种柜由风险评估结合实验活动来定，拿不准时先问老师，不能自己决定。</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有柜子就用，不看柜型是否匹配</a:t>
            </a:r>
          </a:p>
          <a:p>
            <a:pPr>
              <a:spcAft>
                <a:spcPts val="1000"/>
              </a:spcAft>
            </a:pPr>
            <a:r>
              <a:rPr sz="1500">
                <a:solidFill>
                  <a:srgbClr val="222B33"/>
                </a:solidFill>
                <a:latin typeface="Microsoft YaHei"/>
              </a:rPr>
              <a:t>▪ 把国际风险组编号当成国内分类</a:t>
            </a:r>
          </a:p>
        </p:txBody>
      </p:sp>
    </p:spTree>
  </p:cSld>
  <p:clrMapOvr>
    <a:masterClrMapping/>
  </p:clrMapOvr>
</p:sld>
</file>

<file path=ppt/slides/slide3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Ⅰ级柜：护人和环境，不护样品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前面敞开，室内空气向里吸</a:t>
            </a:r>
          </a:p>
          <a:p>
            <a:pPr>
              <a:spcAft>
                <a:spcPts val="1000"/>
              </a:spcAft>
            </a:pPr>
            <a:r>
              <a:rPr sz="2000">
                <a:solidFill>
                  <a:srgbClr val="222B33"/>
                </a:solidFill>
                <a:latin typeface="Microsoft YaHei"/>
              </a:rPr>
              <a:t>▪ 经过高效过滤后再排出</a:t>
            </a:r>
          </a:p>
          <a:p>
            <a:pPr>
              <a:spcAft>
                <a:spcPts val="1000"/>
              </a:spcAft>
            </a:pPr>
            <a:r>
              <a:rPr sz="2000">
                <a:solidFill>
                  <a:srgbClr val="222B33"/>
                </a:solidFill>
                <a:latin typeface="Microsoft YaHei"/>
              </a:rPr>
              <a:t>▪ 护人、护环境，不护样品</a:t>
            </a:r>
          </a:p>
          <a:p>
            <a:pPr>
              <a:spcAft>
                <a:spcPts val="1000"/>
              </a:spcAft>
            </a:pPr>
            <a:r>
              <a:rPr sz="2000">
                <a:solidFill>
                  <a:srgbClr val="222B33"/>
                </a:solidFill>
                <a:latin typeface="Microsoft YaHei"/>
              </a:rPr>
              <a:t>▪ 一般用于低到中度风险的工作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Ⅰ级生物安全柜前面敞开，室内空气从前窗被吸入柜内，流过工作区后经高效过滤器排出。向里吸的气流保护操作者，排风过滤保护环境。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在Ⅰ级柜里做要求无菌的细胞培养</a:t>
            </a:r>
          </a:p>
          <a:p>
            <a:pPr>
              <a:spcAft>
                <a:spcPts val="1000"/>
              </a:spcAft>
            </a:pPr>
            <a:r>
              <a:rPr sz="1500">
                <a:solidFill>
                  <a:srgbClr val="222B33"/>
                </a:solidFill>
                <a:latin typeface="Microsoft YaHei"/>
              </a:rPr>
              <a:t>▪ 以为所有生物安全柜都护样品</a:t>
            </a:r>
          </a:p>
        </p:txBody>
      </p:sp>
    </p:spTree>
  </p:cSld>
  <p:clrMapOvr>
    <a:masterClrMapping/>
  </p:clrMapOvr>
</p:sld>
</file>

<file path=ppt/slides/slide3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Ⅱ级柜：最常用，分不同类型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最常用，人、环境、样品都护</a:t>
            </a:r>
          </a:p>
          <a:p>
            <a:pPr>
              <a:spcAft>
                <a:spcPts val="1000"/>
              </a:spcAft>
            </a:pPr>
            <a:r>
              <a:rPr sz="2000">
                <a:solidFill>
                  <a:srgbClr val="222B33"/>
                </a:solidFill>
                <a:latin typeface="Microsoft YaHei"/>
              </a:rPr>
              <a:t>▪ 部分空气循环，部分过滤排出</a:t>
            </a:r>
          </a:p>
          <a:p>
            <a:pPr>
              <a:spcAft>
                <a:spcPts val="1000"/>
              </a:spcAft>
            </a:pPr>
            <a:r>
              <a:rPr sz="2000">
                <a:solidFill>
                  <a:srgbClr val="222B33"/>
                </a:solidFill>
                <a:latin typeface="Microsoft YaHei"/>
              </a:rPr>
              <a:t>▪ 按气流和排风去向分不同类型</a:t>
            </a:r>
          </a:p>
          <a:p>
            <a:pPr>
              <a:spcAft>
                <a:spcPts val="1000"/>
              </a:spcAft>
            </a:pPr>
            <a:r>
              <a:rPr sz="2000">
                <a:solidFill>
                  <a:srgbClr val="222B33"/>
                </a:solidFill>
                <a:latin typeface="Microsoft YaHei"/>
              </a:rPr>
              <a:t>▪ 检测合格、标签有效才能使用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Ⅱ级生物安全柜是高校实验室最常用的柜型，人、环境、样品三方面都能保护：前窗吸入气流护人，柜顶过滤后的洁净下降气流护样品，排风经高效过滤护环境，柜内保持洁净。</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不管是哪种类型，都在柜里用挥发性溶剂</a:t>
            </a:r>
          </a:p>
          <a:p>
            <a:pPr>
              <a:spcAft>
                <a:spcPts val="1000"/>
              </a:spcAft>
            </a:pPr>
            <a:r>
              <a:rPr sz="1500">
                <a:solidFill>
                  <a:srgbClr val="222B33"/>
                </a:solidFill>
                <a:latin typeface="Microsoft YaHei"/>
              </a:rPr>
              <a:t>▪ 检测过期的柜子继续使用</a:t>
            </a:r>
          </a:p>
        </p:txBody>
      </p:sp>
    </p:spTree>
  </p:cSld>
  <p:clrMapOvr>
    <a:masterClrMapping/>
  </p:clrMapOvr>
</p:sld>
</file>

<file path=ppt/slides/slide3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Ⅲ级柜：完全密闭，手套操作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防护最高，柜内与外界完全隔离</a:t>
            </a:r>
          </a:p>
          <a:p>
            <a:pPr>
              <a:spcAft>
                <a:spcPts val="1000"/>
              </a:spcAft>
            </a:pPr>
            <a:r>
              <a:rPr sz="2000">
                <a:solidFill>
                  <a:srgbClr val="222B33"/>
                </a:solidFill>
                <a:latin typeface="Microsoft YaHei"/>
              </a:rPr>
              <a:t>▪ 手伸进固定手套口操作</a:t>
            </a:r>
          </a:p>
          <a:p>
            <a:pPr>
              <a:spcAft>
                <a:spcPts val="1000"/>
              </a:spcAft>
            </a:pPr>
            <a:r>
              <a:rPr sz="2000">
                <a:solidFill>
                  <a:srgbClr val="222B33"/>
                </a:solidFill>
                <a:latin typeface="Microsoft YaHei"/>
              </a:rPr>
              <a:t>▪ 物品走传递窗，两道门不同时开</a:t>
            </a:r>
          </a:p>
          <a:p>
            <a:pPr>
              <a:spcAft>
                <a:spcPts val="1000"/>
              </a:spcAft>
            </a:pPr>
            <a:r>
              <a:rPr sz="2000">
                <a:solidFill>
                  <a:srgbClr val="222B33"/>
                </a:solidFill>
                <a:latin typeface="Microsoft YaHei"/>
              </a:rPr>
              <a:t>▪ 材料和废物封装处理后才能出柜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Ⅲ级生物安全柜是防护水平最高的一种，对人、环境和样品的防护都最高。它是全密闭、气密的箱体，柜内与外界完全隔离，进风和排风都经高效过滤。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传递窗两道门同时打开</a:t>
            </a:r>
          </a:p>
          <a:p>
            <a:pPr>
              <a:spcAft>
                <a:spcPts val="1000"/>
              </a:spcAft>
            </a:pPr>
            <a:r>
              <a:rPr sz="1500">
                <a:solidFill>
                  <a:srgbClr val="222B33"/>
                </a:solidFill>
                <a:latin typeface="Microsoft YaHei"/>
              </a:rPr>
              <a:t>▪ 未经处理就把柜内物品取出</a:t>
            </a:r>
          </a:p>
        </p:txBody>
      </p:sp>
    </p:spTree>
  </p:cSld>
  <p:clrMapOvr>
    <a:masterClrMapping/>
  </p:clrMapOvr>
</p:sld>
</file>

<file path=ppt/slides/slide3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排风连接由工程人员按柜型定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有的排风管直接接入大楼风管</a:t>
            </a:r>
          </a:p>
          <a:p>
            <a:pPr>
              <a:spcAft>
                <a:spcPts val="1000"/>
              </a:spcAft>
            </a:pPr>
            <a:r>
              <a:rPr sz="2000">
                <a:solidFill>
                  <a:srgbClr val="222B33"/>
                </a:solidFill>
                <a:latin typeface="Microsoft YaHei"/>
              </a:rPr>
              <a:t>▪ 有的上方罩集气罩，便于风量平衡</a:t>
            </a:r>
          </a:p>
          <a:p>
            <a:pPr>
              <a:spcAft>
                <a:spcPts val="1000"/>
              </a:spcAft>
            </a:pPr>
            <a:r>
              <a:rPr sz="2000">
                <a:solidFill>
                  <a:srgbClr val="222B33"/>
                </a:solidFill>
                <a:latin typeface="Microsoft YaHei"/>
              </a:rPr>
              <a:t>▪ 怎么连接由工程人员按柜型定</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需要外排的生物安全柜，柜内空气过滤后通过管道排出。连接方式有两种：一种是排风管直接硬连接到大楼排风系统；另一种是在柜子排风口上方罩一个集气罩（留有缝隙），便于风量平衡。风阀可随风速自动调节，有的还设备用连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自行拆改排风管或集气罩</a:t>
            </a:r>
          </a:p>
          <a:p>
            <a:pPr>
              <a:spcAft>
                <a:spcPts val="1000"/>
              </a:spcAft>
            </a:pPr>
            <a:r>
              <a:rPr sz="1500">
                <a:solidFill>
                  <a:srgbClr val="222B33"/>
                </a:solidFill>
                <a:latin typeface="Microsoft YaHei"/>
              </a:rPr>
              <a:t>▪ 大楼排风停运时继续使用外排型柜</a:t>
            </a:r>
          </a:p>
        </p:txBody>
      </p:sp>
    </p:spTree>
  </p:cSld>
  <p:clrMapOvr>
    <a:masterClrMapping/>
  </p:clrMapOvr>
</p:sld>
</file>

<file path=ppt/slides/slide3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生物安全柜不是化学通风柜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两种柜长得像，用途不同</a:t>
            </a:r>
          </a:p>
          <a:p>
            <a:pPr>
              <a:spcAft>
                <a:spcPts val="1000"/>
              </a:spcAft>
            </a:pPr>
            <a:r>
              <a:rPr sz="2000">
                <a:solidFill>
                  <a:srgbClr val="222B33"/>
                </a:solidFill>
                <a:latin typeface="Microsoft YaHei"/>
              </a:rPr>
              <a:t>▪ 常见柜型有部分空气回到室内</a:t>
            </a:r>
          </a:p>
          <a:p>
            <a:pPr>
              <a:spcAft>
                <a:spcPts val="1000"/>
              </a:spcAft>
            </a:pPr>
            <a:r>
              <a:rPr sz="2000">
                <a:solidFill>
                  <a:srgbClr val="222B33"/>
                </a:solidFill>
                <a:latin typeface="Microsoft YaHei"/>
              </a:rPr>
              <a:t>▪ 滤网挡不住有毒蒸气</a:t>
            </a:r>
          </a:p>
          <a:p>
            <a:pPr>
              <a:spcAft>
                <a:spcPts val="1000"/>
              </a:spcAft>
            </a:pPr>
            <a:r>
              <a:rPr sz="2000">
                <a:solidFill>
                  <a:srgbClr val="222B33"/>
                </a:solidFill>
                <a:latin typeface="Microsoft YaHei"/>
              </a:rPr>
              <a:t>▪ 化学品进通风柜，生物样品进安全柜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安全柜和化学通风柜长得很像，但用途不同，不能混用。常见的Ⅱ级柜有部分空气经过滤后循环或回到室内，而高效过滤器挡不住化学蒸气，在柜内使用挥发性有毒化学品，蒸气会在柜内积聚或被吹回室内，还可能有燃爆风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把生物安全柜当通风柜做有机溶剂实验</a:t>
            </a:r>
          </a:p>
          <a:p>
            <a:pPr>
              <a:spcAft>
                <a:spcPts val="1000"/>
              </a:spcAft>
            </a:pPr>
            <a:r>
              <a:rPr sz="1500">
                <a:solidFill>
                  <a:srgbClr val="222B33"/>
                </a:solidFill>
                <a:latin typeface="Microsoft YaHei"/>
              </a:rPr>
              <a:t>▪ 在通风柜里开盖处理感染性样品</a:t>
            </a:r>
          </a:p>
        </p:txBody>
      </p:sp>
    </p:spTree>
  </p:cSld>
  <p:clrMapOvr>
    <a:masterClrMapping/>
  </p:clrMapOvr>
</p:sld>
</file>

<file path=ppt/slides/slide3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化学通风柜：护人，排到室外</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保护人不吸入有害蒸气、气体和粉尘</a:t>
            </a:r>
          </a:p>
          <a:p>
            <a:pPr>
              <a:spcAft>
                <a:spcPts val="1000"/>
              </a:spcAft>
            </a:pPr>
            <a:r>
              <a:rPr sz="2000">
                <a:solidFill>
                  <a:srgbClr val="222B33"/>
                </a:solidFill>
                <a:latin typeface="Microsoft YaHei"/>
              </a:rPr>
              <a:t>▪ 吸入室内空气，经管道排到室外</a:t>
            </a:r>
          </a:p>
          <a:p>
            <a:pPr>
              <a:spcAft>
                <a:spcPts val="1000"/>
              </a:spcAft>
            </a:pPr>
            <a:r>
              <a:rPr sz="2000">
                <a:solidFill>
                  <a:srgbClr val="222B33"/>
                </a:solidFill>
                <a:latin typeface="Microsoft YaHei"/>
              </a:rPr>
              <a:t>▪ 用于化学反应、蒸发溶剂等</a:t>
            </a:r>
          </a:p>
          <a:p>
            <a:pPr>
              <a:spcAft>
                <a:spcPts val="1000"/>
              </a:spcAft>
            </a:pPr>
            <a:r>
              <a:rPr sz="2000">
                <a:solidFill>
                  <a:srgbClr val="222B33"/>
                </a:solidFill>
                <a:latin typeface="Microsoft YaHei"/>
              </a:rPr>
              <a:t>▪ 不护样品，也不过滤病原</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化学通风柜保护操作者不吸入有害的蒸气、气体和粉尘：它从实验室吸入空气，经管道直接排到室外，有害物质不会在室内积聚。</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把通风柜当成可以做病原实验的地方</a:t>
            </a:r>
          </a:p>
          <a:p>
            <a:pPr>
              <a:spcAft>
                <a:spcPts val="1000"/>
              </a:spcAft>
            </a:pPr>
            <a:r>
              <a:rPr sz="1500">
                <a:solidFill>
                  <a:srgbClr val="222B33"/>
                </a:solidFill>
                <a:latin typeface="Microsoft YaHei"/>
              </a:rPr>
              <a:t>▪ 以为通风柜能保持样品无菌</a:t>
            </a:r>
          </a:p>
        </p:txBody>
      </p:sp>
    </p:spTree>
  </p:cSld>
  <p:clrMapOvr>
    <a:masterClrMapping/>
  </p:clrMapOvr>
</p:sld>
</file>

<file path=ppt/slides/slide3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超净工作台：单向气流，护样品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给怕污染的材料一个洁净空间</a:t>
            </a:r>
          </a:p>
          <a:p>
            <a:pPr>
              <a:spcAft>
                <a:spcPts val="1000"/>
              </a:spcAft>
            </a:pPr>
            <a:r>
              <a:rPr sz="2000">
                <a:solidFill>
                  <a:srgbClr val="222B33"/>
                </a:solidFill>
                <a:latin typeface="Microsoft YaHei"/>
              </a:rPr>
              <a:t>▪ 风机把空气推过高效过滤器</a:t>
            </a:r>
          </a:p>
          <a:p>
            <a:pPr>
              <a:spcAft>
                <a:spcPts val="1000"/>
              </a:spcAft>
            </a:pPr>
            <a:r>
              <a:rPr sz="2000">
                <a:solidFill>
                  <a:srgbClr val="222B33"/>
                </a:solidFill>
                <a:latin typeface="Microsoft YaHei"/>
              </a:rPr>
              <a:t>▪ 气流平行单向，几乎没有乱流</a:t>
            </a:r>
          </a:p>
          <a:p>
            <a:pPr>
              <a:spcAft>
                <a:spcPts val="1000"/>
              </a:spcAft>
            </a:pPr>
            <a:r>
              <a:rPr sz="2000">
                <a:solidFill>
                  <a:srgbClr val="222B33"/>
                </a:solidFill>
                <a:latin typeface="Microsoft YaHei"/>
              </a:rPr>
              <a:t>▪ 洁净风把污染物吹离样品</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超净工作台（洁净工作台、层流台）的作用是营造洁净环境：风机把室内空气推过高效过滤器，灰尘和微生物被拦下，干净的空气以平行、单向、稳定的层流吹过工作区，把污染物吹离样品，降低空气中的颗粒和微生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以为超净台是"小号生物安全柜"</a:t>
            </a:r>
          </a:p>
          <a:p>
            <a:pPr>
              <a:spcAft>
                <a:spcPts val="1000"/>
              </a:spcAft>
            </a:pPr>
            <a:r>
              <a:rPr sz="1500">
                <a:solidFill>
                  <a:srgbClr val="222B33"/>
                </a:solidFill>
                <a:latin typeface="Microsoft YaHei"/>
              </a:rPr>
              <a:t>▪ 超净台不开机预运行就开始无菌操作</a:t>
            </a:r>
          </a:p>
        </p:txBody>
      </p:sp>
    </p:spTree>
  </p:cSld>
  <p:clrMapOvr>
    <a:masterClrMapping/>
  </p:clrMapOvr>
</p:sld>
</file>

<file path=ppt/slides/slide3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超净台不护人：禁病原、禁有毒挥发物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超净台的风是吹向人的</a:t>
            </a:r>
          </a:p>
          <a:p>
            <a:pPr>
              <a:spcAft>
                <a:spcPts val="1000"/>
              </a:spcAft>
            </a:pPr>
            <a:r>
              <a:rPr sz="2000">
                <a:solidFill>
                  <a:srgbClr val="222B33"/>
                </a:solidFill>
                <a:latin typeface="Microsoft YaHei"/>
              </a:rPr>
              <a:t>▪ 只护样品，不护人</a:t>
            </a:r>
          </a:p>
          <a:p>
            <a:pPr>
              <a:spcAft>
                <a:spcPts val="1000"/>
              </a:spcAft>
            </a:pPr>
            <a:r>
              <a:rPr sz="2000">
                <a:solidFill>
                  <a:srgbClr val="222B33"/>
                </a:solidFill>
                <a:latin typeface="Microsoft YaHei"/>
              </a:rPr>
              <a:t>▪ 病原和感染性材料不得进超净台</a:t>
            </a:r>
          </a:p>
          <a:p>
            <a:pPr>
              <a:spcAft>
                <a:spcPts val="1000"/>
              </a:spcAft>
            </a:pPr>
            <a:r>
              <a:rPr sz="2000">
                <a:solidFill>
                  <a:srgbClr val="222B33"/>
                </a:solidFill>
                <a:latin typeface="Microsoft YaHei"/>
              </a:rPr>
              <a:t>▪ 挥发性和有毒物也不得在超净台操作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超净台（尤其是水平层流型）的洁净风从里向外吹，直接吹向操作者；即使是垂直层流型，也没有吸入气流和排风过滤来保护人。所以它只保护样品，不保护人。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在超净台里接种、涂布细菌</a:t>
            </a:r>
          </a:p>
          <a:p>
            <a:pPr>
              <a:spcAft>
                <a:spcPts val="1000"/>
              </a:spcAft>
            </a:pPr>
            <a:r>
              <a:rPr sz="1500">
                <a:solidFill>
                  <a:srgbClr val="222B33"/>
                </a:solidFill>
                <a:latin typeface="Microsoft YaHei"/>
              </a:rPr>
              <a:t>▪ 在超净台里称量有毒粉末或用有机溶剂</a:t>
            </a:r>
          </a:p>
        </p:txBody>
      </p:sp>
    </p:spTree>
  </p:cSld>
  <p:clrMapOvr>
    <a:masterClrMapping/>
  </p:clrMapOvr>
</p:sld>
</file>

<file path=ppt/slides/slide3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洁净还是围护：两者的根本区别</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超净台重洁净，安全柜重围护</a:t>
            </a:r>
          </a:p>
          <a:p>
            <a:pPr>
              <a:spcAft>
                <a:spcPts val="1000"/>
              </a:spcAft>
            </a:pPr>
            <a:r>
              <a:rPr sz="2000">
                <a:solidFill>
                  <a:srgbClr val="222B33"/>
                </a:solidFill>
                <a:latin typeface="Microsoft YaHei"/>
              </a:rPr>
              <a:t>▪ 超净台风往外吹，安全柜风往里吸</a:t>
            </a:r>
          </a:p>
          <a:p>
            <a:pPr>
              <a:spcAft>
                <a:spcPts val="1000"/>
              </a:spcAft>
            </a:pPr>
            <a:r>
              <a:rPr sz="2000">
                <a:solidFill>
                  <a:srgbClr val="222B33"/>
                </a:solidFill>
                <a:latin typeface="Microsoft YaHei"/>
              </a:rPr>
              <a:t>▪ 安全柜有前窗、屏障和过滤排风</a:t>
            </a:r>
          </a:p>
          <a:p>
            <a:pPr>
              <a:spcAft>
                <a:spcPts val="1000"/>
              </a:spcAft>
            </a:pPr>
            <a:r>
              <a:rPr sz="2000">
                <a:solidFill>
                  <a:srgbClr val="222B33"/>
                </a:solidFill>
                <a:latin typeface="Microsoft YaHei"/>
              </a:rPr>
              <a:t>▪ 超净台用于洁净操作，安全柜管感染性</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超净台和生物安全柜都提供受控的环境，都用高效过滤器，但目的不同：超净台重在洁净，不管围护；生物安全柜重在把危险围住，同时兼顾洁净。</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看都有玻璃窗和风，就认为可以互换</a:t>
            </a:r>
          </a:p>
          <a:p>
            <a:pPr>
              <a:spcAft>
                <a:spcPts val="1000"/>
              </a:spcAft>
            </a:pPr>
            <a:r>
              <a:rPr sz="1500">
                <a:solidFill>
                  <a:srgbClr val="222B33"/>
                </a:solidFill>
                <a:latin typeface="Microsoft YaHei"/>
              </a:rPr>
              <a:t>▪ 以为有高效过滤器就能防病原外泄</a:t>
            </a:r>
          </a:p>
        </p:txBody>
      </p:sp>
    </p:spTree>
  </p:cSld>
  <p:clrMapOvr>
    <a:masterClrMapping/>
  </p:clrMapOvr>
</p:sld>
</file>

<file path=ppt/slides/slide3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三句话记区别，按评估选用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三种柜子长得像，保护对象不同</a:t>
            </a:r>
          </a:p>
          <a:p>
            <a:pPr>
              <a:spcAft>
                <a:spcPts val="1000"/>
              </a:spcAft>
            </a:pPr>
            <a:r>
              <a:rPr sz="2000">
                <a:solidFill>
                  <a:srgbClr val="222B33"/>
                </a:solidFill>
                <a:latin typeface="Microsoft YaHei"/>
              </a:rPr>
              <a:t>▪ 通风柜：护人，防有害化学品</a:t>
            </a:r>
          </a:p>
          <a:p>
            <a:pPr>
              <a:spcAft>
                <a:spcPts val="1000"/>
              </a:spcAft>
            </a:pPr>
            <a:r>
              <a:rPr sz="2000">
                <a:solidFill>
                  <a:srgbClr val="222B33"/>
                </a:solidFill>
                <a:latin typeface="Microsoft YaHei"/>
              </a:rPr>
              <a:t>▪ 超净台：护样品，不护人</a:t>
            </a:r>
          </a:p>
          <a:p>
            <a:pPr>
              <a:spcAft>
                <a:spcPts val="1000"/>
              </a:spcAft>
            </a:pPr>
            <a:r>
              <a:rPr sz="2000">
                <a:solidFill>
                  <a:srgbClr val="222B33"/>
                </a:solidFill>
                <a:latin typeface="Microsoft YaHei"/>
              </a:rPr>
              <a:t>▪ 生物安全柜：人、样品、环境都护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三种柜子都有玻璃窗、都有风，常被搞混，用三句话记住：化学通风柜护人，防有害化学品；超净工作台护样品，不护人；生物安全柜人、样品、环境都护（Ⅰ级柜除外，不护样品）。</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凭位置方便随便选一台柜子</a:t>
            </a:r>
          </a:p>
          <a:p>
            <a:pPr>
              <a:spcAft>
                <a:spcPts val="1000"/>
              </a:spcAft>
            </a:pPr>
            <a:r>
              <a:rPr sz="1500">
                <a:solidFill>
                  <a:srgbClr val="222B33"/>
                </a:solidFill>
                <a:latin typeface="Microsoft YaHei"/>
              </a:rPr>
              <a:t>▪ 病原实验去超净台"图干净"</a:t>
            </a:r>
          </a:p>
        </p:txBody>
      </p:sp>
    </p:spTree>
  </p:cSld>
  <p:clrMapOvr>
    <a:masterClrMapping/>
  </p:clrMapOvr>
</p:sld>
</file>

<file path=ppt/slides/slide3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下列哪种设备只保护样品、不保护操作者？</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Ⅱ级生物安全柜</a:t>
            </a:r>
          </a:p>
          <a:p>
            <a:pPr algn="l"/>
            <a:r>
              <a:rPr sz="1500" b="0">
                <a:solidFill>
                  <a:srgbClr val="222B33"/>
                </a:solidFill>
                <a:latin typeface="Microsoft YaHei"/>
              </a:rPr>
              <a:t>B. 超净工作台</a:t>
            </a:r>
          </a:p>
          <a:p>
            <a:pPr algn="l"/>
            <a:r>
              <a:rPr sz="1500" b="0">
                <a:solidFill>
                  <a:srgbClr val="222B33"/>
                </a:solidFill>
                <a:latin typeface="Microsoft YaHei"/>
              </a:rPr>
              <a:t>C. Ⅲ级生物安全柜</a:t>
            </a:r>
          </a:p>
          <a:p>
            <a:pPr algn="l"/>
            <a:r>
              <a:rPr sz="1500" b="0">
                <a:solidFill>
                  <a:srgbClr val="222B33"/>
                </a:solidFill>
                <a:latin typeface="Microsoft YaHei"/>
              </a:rPr>
              <a:t>D. 化学通风柜</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判断：高效过滤器能截住有毒化学蒸气，所以生物安全柜可以当通风柜用。</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3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关于Ⅰ级生物安全柜，正确的是：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人、环境、样品都护</a:t>
            </a:r>
          </a:p>
          <a:p>
            <a:pPr algn="l"/>
            <a:r>
              <a:rPr sz="1500" b="0">
                <a:solidFill>
                  <a:srgbClr val="222B33"/>
                </a:solidFill>
                <a:latin typeface="Microsoft YaHei"/>
              </a:rPr>
              <a:t>B. 护人和环境，不护样品</a:t>
            </a:r>
          </a:p>
          <a:p>
            <a:pPr algn="l"/>
            <a:r>
              <a:rPr sz="1500" b="0">
                <a:solidFill>
                  <a:srgbClr val="222B33"/>
                </a:solidFill>
                <a:latin typeface="Microsoft YaHei"/>
              </a:rPr>
              <a:t>C. 完全密闭，手套操作</a:t>
            </a:r>
          </a:p>
          <a:p>
            <a:pPr algn="l"/>
            <a:r>
              <a:rPr sz="1500" b="0">
                <a:solidFill>
                  <a:srgbClr val="222B33"/>
                </a:solidFill>
                <a:latin typeface="Microsoft YaHei"/>
              </a:rPr>
              <a:t>D. 只护样品</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阿杰要涂布细菌平板，应在哪里操作？</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超净工作台</a:t>
            </a:r>
          </a:p>
          <a:p>
            <a:pPr algn="l"/>
            <a:r>
              <a:rPr sz="1500" b="0">
                <a:solidFill>
                  <a:srgbClr val="222B33"/>
                </a:solidFill>
                <a:latin typeface="Microsoft YaHei"/>
              </a:rPr>
              <a:t>B. 开放台面</a:t>
            </a:r>
          </a:p>
          <a:p>
            <a:pPr algn="l"/>
            <a:r>
              <a:rPr sz="1500" b="0">
                <a:solidFill>
                  <a:srgbClr val="222B33"/>
                </a:solidFill>
                <a:latin typeface="Microsoft YaHei"/>
              </a:rPr>
              <a:t>C. 生物安全柜</a:t>
            </a:r>
          </a:p>
          <a:p>
            <a:pPr algn="l"/>
            <a:r>
              <a:rPr sz="1500" b="0">
                <a:solidFill>
                  <a:srgbClr val="222B33"/>
                </a:solidFill>
                <a:latin typeface="Microsoft YaHei"/>
              </a:rPr>
              <a:t>D. 化学通风柜</a:t>
            </a:r>
          </a:p>
        </p:txBody>
      </p:sp>
    </p:spTree>
  </p:cSld>
  <p:clrMapOvr>
    <a:masterClrMapping/>
  </p:clrMapOvr>
</p:sld>
</file>

<file path=ppt/slides/slide3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判断：Ⅲ级生物安全柜的传递窗两道门可以同时打开，以提高效率。</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简答：用三句话说出化学通风柜、超净工作台、生物安全柜的区别。</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335.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生物安全柜：护人、护环境、护样品</a:t>
            </a:r>
          </a:p>
          <a:p>
            <a:pPr>
              <a:spcAft>
                <a:spcPts val="800"/>
              </a:spcAft>
            </a:pPr>
            <a:r>
              <a:rPr sz="1500">
                <a:solidFill>
                  <a:srgbClr val="FFFFFF"/>
                </a:solidFill>
                <a:latin typeface="Microsoft YaHei"/>
              </a:rPr>
              <a:t>▪ K2  气流原理：前窗吸入、下降气流、过滤排出</a:t>
            </a:r>
          </a:p>
          <a:p>
            <a:pPr>
              <a:spcAft>
                <a:spcPts val="800"/>
              </a:spcAft>
            </a:pPr>
            <a:r>
              <a:rPr sz="1500">
                <a:solidFill>
                  <a:srgbClr val="FFFFFF"/>
                </a:solidFill>
                <a:latin typeface="Microsoft YaHei"/>
              </a:rPr>
              <a:t>▪ K3  高效过滤器：截颗粒，不挡气体</a:t>
            </a:r>
          </a:p>
          <a:p>
            <a:pPr>
              <a:spcAft>
                <a:spcPts val="800"/>
              </a:spcAft>
            </a:pPr>
            <a:r>
              <a:rPr sz="1500">
                <a:solidFill>
                  <a:srgbClr val="FFFFFF"/>
                </a:solidFill>
                <a:latin typeface="Microsoft YaHei"/>
              </a:rPr>
              <a:t>▪ K4  分三级，按风险评估选</a:t>
            </a:r>
          </a:p>
          <a:p>
            <a:pPr>
              <a:spcAft>
                <a:spcPts val="800"/>
              </a:spcAft>
            </a:pPr>
            <a:r>
              <a:rPr sz="1500">
                <a:solidFill>
                  <a:srgbClr val="FFFFFF"/>
                </a:solidFill>
                <a:latin typeface="Microsoft YaHei"/>
              </a:rPr>
              <a:t>▪ K5  Ⅰ级柜：护人和环境，不护样品</a:t>
            </a:r>
          </a:p>
          <a:p>
            <a:pPr>
              <a:spcAft>
                <a:spcPts val="800"/>
              </a:spcAft>
            </a:pPr>
            <a:r>
              <a:rPr sz="1500">
                <a:solidFill>
                  <a:srgbClr val="FFFFFF"/>
                </a:solidFill>
                <a:latin typeface="Microsoft YaHei"/>
              </a:rPr>
              <a:t>▪ K6  Ⅱ级柜：最常用，分不同类型</a:t>
            </a:r>
          </a:p>
          <a:p>
            <a:pPr>
              <a:spcAft>
                <a:spcPts val="800"/>
              </a:spcAft>
            </a:pPr>
            <a:r>
              <a:rPr sz="1500">
                <a:solidFill>
                  <a:srgbClr val="FFFFFF"/>
                </a:solidFill>
                <a:latin typeface="Microsoft YaHei"/>
              </a:rPr>
              <a:t>▪ K7  Ⅲ级柜：完全密闭，手套操作</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K8  排风连接由工程人员按柜型定</a:t>
            </a:r>
          </a:p>
          <a:p>
            <a:pPr>
              <a:spcAft>
                <a:spcPts val="800"/>
              </a:spcAft>
            </a:pPr>
            <a:r>
              <a:rPr sz="1500">
                <a:solidFill>
                  <a:srgbClr val="FFFFFF"/>
                </a:solidFill>
                <a:latin typeface="Microsoft YaHei"/>
              </a:rPr>
              <a:t>▪ K9  生物安全柜不是化学通风柜</a:t>
            </a:r>
          </a:p>
          <a:p>
            <a:pPr>
              <a:spcAft>
                <a:spcPts val="800"/>
              </a:spcAft>
            </a:pPr>
            <a:r>
              <a:rPr sz="1500">
                <a:solidFill>
                  <a:srgbClr val="FFFFFF"/>
                </a:solidFill>
                <a:latin typeface="Microsoft YaHei"/>
              </a:rPr>
              <a:t>▪ K10  化学通风柜：护人，排到室外</a:t>
            </a:r>
          </a:p>
          <a:p>
            <a:pPr>
              <a:spcAft>
                <a:spcPts val="800"/>
              </a:spcAft>
            </a:pPr>
            <a:r>
              <a:rPr sz="1500">
                <a:solidFill>
                  <a:srgbClr val="FFFFFF"/>
                </a:solidFill>
                <a:latin typeface="Microsoft YaHei"/>
              </a:rPr>
              <a:t>▪ K11  超净工作台：单向气流，护样品</a:t>
            </a:r>
          </a:p>
          <a:p>
            <a:pPr>
              <a:spcAft>
                <a:spcPts val="800"/>
              </a:spcAft>
            </a:pPr>
            <a:r>
              <a:rPr sz="1500">
                <a:solidFill>
                  <a:srgbClr val="FFFFFF"/>
                </a:solidFill>
                <a:latin typeface="Microsoft YaHei"/>
              </a:rPr>
              <a:t>▪ K12  超净台不护人：禁病原、禁有毒挥发物</a:t>
            </a:r>
          </a:p>
          <a:p>
            <a:pPr>
              <a:spcAft>
                <a:spcPts val="800"/>
              </a:spcAft>
            </a:pPr>
            <a:r>
              <a:rPr sz="1500">
                <a:solidFill>
                  <a:srgbClr val="FFFFFF"/>
                </a:solidFill>
                <a:latin typeface="Microsoft YaHei"/>
              </a:rPr>
              <a:t>▪ K13  洁净还是围护：两者的根本区别</a:t>
            </a:r>
          </a:p>
          <a:p>
            <a:pPr>
              <a:spcAft>
                <a:spcPts val="800"/>
              </a:spcAft>
            </a:pPr>
            <a:r>
              <a:rPr sz="1500">
                <a:solidFill>
                  <a:srgbClr val="FFFFFF"/>
                </a:solidFill>
                <a:latin typeface="Microsoft YaHei"/>
              </a:rPr>
              <a:t>▪ K14  三句话记区别，按评估选用</a:t>
            </a:r>
          </a:p>
        </p:txBody>
      </p:sp>
    </p:spTree>
  </p:cSld>
  <p:clrMapOvr>
    <a:masterClrMapping/>
  </p:clrMapOvr>
</p:sld>
</file>

<file path=ppt/slides/slide336.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072</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生物安全柜的准备与使用</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7 分钟（卡通视频 84 镜）　适用对象：使用生物安全柜的生命科学、医学、农学、环境等专业高校本科生、研究生和教职工（必修，上机操作前完成并经现场考核）；实验室负责人和设备管理人员重点学习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3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能做到使用前的检查与准备：关紫外灯、认柜型、看检测标签，开风机、前窗拉到标线、关排液阀、空转，读压差、确认气流向内，擦拭消毒。</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能做到柜内物品擦净后一次放齐、由洁到污摆放、前后格栅畅通，按正确坐姿在下降气流区内操作，手臂慢进慢出。</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能说出影响气流的因素：安装位置、前窗高度、物品堆放、手臂动作、人员走动、明火、离心机和大型仪器。</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能判断柜内禁用明火、离心机和大仪器进柜前须评估，报警或气流异常时立即停止、盖好容器、挂牌停用并报告。</a:t>
            </a:r>
          </a:p>
        </p:txBody>
      </p:sp>
    </p:spTree>
  </p:cSld>
  <p:clrMapOvr>
    <a:masterClrMapping/>
  </p:clrMapOvr>
</p:sld>
</file>

<file path=ppt/slides/slide3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《病原微生物实验室生物安全管理条例》（以现行文本为准）：实验室应制定并执行标准操作规程，实验人员按规程操作</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生物安全通用要求》：可能产生气溶胶的操作在生物安全柜内进行；设备的安装位置、使用、检测、维护和标准操作程序</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233（以现行文本为准）《病原微生物实验室生物安全通用准则》：生物安全柜的使用和实验室操作规范</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YY 0569（以现行文本为准）《Ⅱ级 生物安全柜》等生物安全柜现行国家/行业标准：前窗工作高度、气流和报警要求（数值以现行文本、产品说明和检测报告为准）</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号，以现行文本为准）：仪器设备操作规程、上机培训和使用记录</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本校生物安全柜使用管理规定和本实验室生物安全柜标准操作规程（以本校规定为准）</a:t>
            </a:r>
          </a:p>
        </p:txBody>
      </p:sp>
    </p:spTree>
  </p:cSld>
  <p:clrMapOvr>
    <a:masterClrMapping/>
  </p:clrMapOvr>
</p:sld>
</file>

<file path=ppt/slides/slide3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好设备也要照规程用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设备是工程控制，规程是管理控制</a:t>
            </a:r>
          </a:p>
          <a:p>
            <a:pPr>
              <a:spcAft>
                <a:spcPts val="1000"/>
              </a:spcAft>
            </a:pPr>
            <a:r>
              <a:rPr sz="2000">
                <a:solidFill>
                  <a:srgbClr val="222B33"/>
                </a:solidFill>
                <a:latin typeface="Microsoft YaHei"/>
              </a:rPr>
              <a:t>▪ 不同柜子用法不同，按本柜编规程</a:t>
            </a:r>
          </a:p>
          <a:p>
            <a:pPr>
              <a:spcAft>
                <a:spcPts val="1000"/>
              </a:spcAft>
            </a:pPr>
            <a:r>
              <a:rPr sz="2000">
                <a:solidFill>
                  <a:srgbClr val="222B33"/>
                </a:solidFill>
                <a:latin typeface="Microsoft YaHei"/>
              </a:rPr>
              <a:t>▪ 规程验证可行、审核后再开工</a:t>
            </a:r>
          </a:p>
          <a:p>
            <a:pPr>
              <a:spcAft>
                <a:spcPts val="1000"/>
              </a:spcAft>
            </a:pPr>
            <a:r>
              <a:rPr sz="2000">
                <a:solidFill>
                  <a:srgbClr val="222B33"/>
                </a:solidFill>
                <a:latin typeface="Microsoft YaHei"/>
              </a:rPr>
              <a:t>▪ 检测、位置、摆放、消毒、维护都要管</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生物安全柜再好，也要照规程用：柜子是工程控制，操作规程是管理控制，两者配合安全才完整，不能想怎么用就怎么用。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照搬别的型号的说明，不看本柜规程</a:t>
            </a:r>
          </a:p>
          <a:p>
            <a:pPr>
              <a:spcAft>
                <a:spcPts val="1000"/>
              </a:spcAft>
            </a:pPr>
            <a:r>
              <a:rPr sz="1500">
                <a:solidFill>
                  <a:srgbClr val="222B33"/>
                </a:solidFill>
                <a:latin typeface="Microsoft YaHei"/>
              </a:rPr>
              <a:t>▪ 没有规程，凭经验操作</a:t>
            </a:r>
          </a:p>
        </p:txBody>
      </p:sp>
    </p:spTree>
  </p:cSld>
  <p:clrMapOvr>
    <a:masterClrMapping/>
  </p:clrMapOvr>
</p:sld>
</file>

<file path=ppt/slides/slide3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安装位置：避开门口和送风口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气流一乱，人会暴露，样品会污染</a:t>
            </a:r>
          </a:p>
          <a:p>
            <a:pPr>
              <a:spcAft>
                <a:spcPts val="1000"/>
              </a:spcAft>
            </a:pPr>
            <a:r>
              <a:rPr sz="2000">
                <a:solidFill>
                  <a:srgbClr val="222B33"/>
                </a:solidFill>
                <a:latin typeface="Microsoft YaHei"/>
              </a:rPr>
              <a:t>▪ 离门太近，一开门气就被抽出</a:t>
            </a:r>
          </a:p>
          <a:p>
            <a:pPr>
              <a:spcAft>
                <a:spcPts val="1000"/>
              </a:spcAft>
            </a:pPr>
            <a:r>
              <a:rPr sz="2000">
                <a:solidFill>
                  <a:srgbClr val="222B33"/>
                </a:solidFill>
                <a:latin typeface="Microsoft YaHei"/>
              </a:rPr>
              <a:t>▪ 避开空调送风口，别挤在一起</a:t>
            </a:r>
          </a:p>
          <a:p>
            <a:pPr>
              <a:spcAft>
                <a:spcPts val="1000"/>
              </a:spcAft>
            </a:pPr>
            <a:r>
              <a:rPr sz="2000">
                <a:solidFill>
                  <a:srgbClr val="222B33"/>
                </a:solidFill>
                <a:latin typeface="Microsoft YaHei"/>
              </a:rPr>
              <a:t>▪ 放在房间里端，远离走动气流</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安全柜的气流很容易被打乱，一乱，操作者可能暴露，样品可能被污染。柜子摆放的位置是首要因素：离门太近，一开门柜内空气就会被抽出来；正对空调送风口，会吹乱前窗的气幕；几台柜子挤在一起或正对着放，也会互相干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为了方便把柜子挪到门边</a:t>
            </a:r>
          </a:p>
          <a:p>
            <a:pPr>
              <a:spcAft>
                <a:spcPts val="1000"/>
              </a:spcAft>
            </a:pPr>
            <a:r>
              <a:rPr sz="1500">
                <a:solidFill>
                  <a:srgbClr val="222B33"/>
                </a:solidFill>
                <a:latin typeface="Microsoft YaHei"/>
              </a:rPr>
              <a:t>▪ 操作时开着正对柜子的空调或电扇</a:t>
            </a:r>
          </a:p>
        </p:txBody>
      </p:sp>
    </p:spTree>
  </p:cSld>
  <p:clrMapOvr>
    <a:masterClrMapping/>
  </p:clrMapOvr>
</p:sld>
</file>

<file path=ppt/slides/slide3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留足时间，备齐物品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留出一段不被打断的时间</a:t>
            </a:r>
          </a:p>
          <a:p>
            <a:pPr>
              <a:spcAft>
                <a:spcPts val="1000"/>
              </a:spcAft>
            </a:pPr>
            <a:r>
              <a:rPr sz="2000">
                <a:solidFill>
                  <a:srgbClr val="222B33"/>
                </a:solidFill>
                <a:latin typeface="Microsoft YaHei"/>
              </a:rPr>
              <a:t>▪ 物品一次备齐，放在柜旁推车上</a:t>
            </a:r>
          </a:p>
          <a:p>
            <a:pPr>
              <a:spcAft>
                <a:spcPts val="1000"/>
              </a:spcAft>
            </a:pPr>
            <a:r>
              <a:rPr sz="2000">
                <a:solidFill>
                  <a:srgbClr val="222B33"/>
                </a:solidFill>
                <a:latin typeface="Microsoft YaHei"/>
              </a:rPr>
              <a:t>▪ 消毒剂装瓶，标明名称</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在生物安全柜里操作前，先安排一段不会被打断的时间，避免中途频繁离开。</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做到一半发现缺东西，频繁进出</a:t>
            </a:r>
          </a:p>
          <a:p>
            <a:pPr>
              <a:spcAft>
                <a:spcPts val="1000"/>
              </a:spcAft>
            </a:pPr>
            <a:r>
              <a:rPr sz="1500">
                <a:solidFill>
                  <a:srgbClr val="222B33"/>
                </a:solidFill>
                <a:latin typeface="Microsoft YaHei"/>
              </a:rPr>
              <a:t>▪ 消毒剂瓶子不贴标签</a:t>
            </a:r>
          </a:p>
        </p:txBody>
      </p:sp>
    </p:spTree>
  </p:cSld>
  <p:clrMapOvr>
    <a:masterClrMapping/>
  </p:clrMapOvr>
</p:sld>
</file>

<file path=ppt/slides/slide3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开机前：关紫外灯、认柜型、看检测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先确认紫外灯已关，开着不能靠近</a:t>
            </a:r>
          </a:p>
          <a:p>
            <a:pPr>
              <a:spcAft>
                <a:spcPts val="1000"/>
              </a:spcAft>
            </a:pPr>
            <a:r>
              <a:rPr sz="2000">
                <a:solidFill>
                  <a:srgbClr val="222B33"/>
                </a:solidFill>
                <a:latin typeface="Microsoft YaHei"/>
              </a:rPr>
              <a:t>▪ 看铭牌认柜型，不清楚就问负责人</a:t>
            </a:r>
          </a:p>
          <a:p>
            <a:pPr>
              <a:spcAft>
                <a:spcPts val="1000"/>
              </a:spcAft>
            </a:pPr>
            <a:r>
              <a:rPr sz="2000">
                <a:solidFill>
                  <a:srgbClr val="222B33"/>
                </a:solidFill>
                <a:latin typeface="Microsoft YaHei"/>
              </a:rPr>
              <a:t>▪ 检测标签在有效期内才能用</a:t>
            </a:r>
          </a:p>
          <a:p>
            <a:pPr>
              <a:spcAft>
                <a:spcPts val="1000"/>
              </a:spcAft>
            </a:pPr>
            <a:r>
              <a:rPr sz="2000">
                <a:solidFill>
                  <a:srgbClr val="222B33"/>
                </a:solidFill>
                <a:latin typeface="Microsoft YaHei"/>
              </a:rPr>
              <a:t>▪ 手套式柜先查手套有无破损</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开柜第一步：确认紫外灯已经关闭。紫外线伤眼睛和皮肤，紫外灯开着时人不能靠近操作；紫外灯只是辅助消毒手段，不能代替擦拭消毒（见第 076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紫外灯开着就开始操作</a:t>
            </a:r>
          </a:p>
          <a:p>
            <a:pPr>
              <a:spcAft>
                <a:spcPts val="1000"/>
              </a:spcAft>
            </a:pPr>
            <a:r>
              <a:rPr sz="1500">
                <a:solidFill>
                  <a:srgbClr val="222B33"/>
                </a:solidFill>
                <a:latin typeface="Microsoft YaHei"/>
              </a:rPr>
              <a:t>▪ 不看检测标签，过期照用</a:t>
            </a:r>
          </a:p>
        </p:txBody>
      </p:sp>
    </p:spTree>
  </p:cSld>
  <p:clrMapOvr>
    <a:masterClrMapping/>
  </p:clrMapOvr>
</p:sld>
</file>

<file path=ppt/slides/slide3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开风机、前窗到位、空转几分钟</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打开照明和风机，报警开关要开</a:t>
            </a:r>
          </a:p>
          <a:p>
            <a:pPr>
              <a:spcAft>
                <a:spcPts val="1000"/>
              </a:spcAft>
            </a:pPr>
            <a:r>
              <a:rPr sz="2000">
                <a:solidFill>
                  <a:srgbClr val="222B33"/>
                </a:solidFill>
                <a:latin typeface="Microsoft YaHei"/>
              </a:rPr>
              <a:t>▪ 前窗拉到柜上标明的高度</a:t>
            </a:r>
          </a:p>
          <a:p>
            <a:pPr>
              <a:spcAft>
                <a:spcPts val="1000"/>
              </a:spcAft>
            </a:pPr>
            <a:r>
              <a:rPr sz="2000">
                <a:solidFill>
                  <a:srgbClr val="222B33"/>
                </a:solidFill>
                <a:latin typeface="Microsoft YaHei"/>
              </a:rPr>
              <a:t>▪ 排液阀要关好</a:t>
            </a:r>
          </a:p>
          <a:p>
            <a:pPr>
              <a:spcAft>
                <a:spcPts val="1000"/>
              </a:spcAft>
            </a:pPr>
            <a:r>
              <a:rPr sz="2000">
                <a:solidFill>
                  <a:srgbClr val="222B33"/>
                </a:solidFill>
                <a:latin typeface="Microsoft YaHei"/>
              </a:rPr>
              <a:t>▪ 开机先空转几分钟，无报警再用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打开照明灯和风机，确认前窗报警开关处于打开状态。把前窗拉到柜上标明的工作高度（以柜上标记和说明书为准），拉得太高报警就会响。</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关闭报警开关嫌吵</a:t>
            </a:r>
          </a:p>
          <a:p>
            <a:pPr>
              <a:spcAft>
                <a:spcPts val="1000"/>
              </a:spcAft>
            </a:pPr>
            <a:r>
              <a:rPr sz="1500">
                <a:solidFill>
                  <a:srgbClr val="222B33"/>
                </a:solidFill>
                <a:latin typeface="Microsoft YaHei"/>
              </a:rPr>
              <a:t>▪ 刚开风机就开始操作</a:t>
            </a:r>
          </a:p>
        </p:txBody>
      </p:sp>
    </p:spTree>
  </p:cSld>
  <p:clrMapOvr>
    <a:masterClrMapping/>
  </p:clrMapOvr>
</p:sld>
</file>

<file path=ppt/slides/slide3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前窗高度：太低起湍流，太高会外逸</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前窗高度是关键，按柜上标记</a:t>
            </a:r>
          </a:p>
          <a:p>
            <a:pPr>
              <a:spcAft>
                <a:spcPts val="1000"/>
              </a:spcAft>
            </a:pPr>
            <a:r>
              <a:rPr sz="2000">
                <a:solidFill>
                  <a:srgbClr val="222B33"/>
                </a:solidFill>
                <a:latin typeface="Microsoft YaHei"/>
              </a:rPr>
              <a:t>▪ 检测就是按这个高度做的</a:t>
            </a:r>
          </a:p>
          <a:p>
            <a:pPr>
              <a:spcAft>
                <a:spcPts val="1000"/>
              </a:spcAft>
            </a:pPr>
            <a:r>
              <a:rPr sz="2000">
                <a:solidFill>
                  <a:srgbClr val="222B33"/>
                </a:solidFill>
                <a:latin typeface="Microsoft YaHei"/>
              </a:rPr>
              <a:t>▪ 太低：开口风太急，起湍流</a:t>
            </a:r>
          </a:p>
          <a:p>
            <a:pPr>
              <a:spcAft>
                <a:spcPts val="1000"/>
              </a:spcAft>
            </a:pPr>
            <a:r>
              <a:rPr sz="2000">
                <a:solidFill>
                  <a:srgbClr val="222B33"/>
                </a:solidFill>
                <a:latin typeface="Microsoft YaHei"/>
              </a:rPr>
              <a:t>▪ 太高：报警，柜内空气外逸</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前窗高度是安全使用的关键之一。正确的工作高度写在说明书里，柜上也要标明；检测认证就是在这个高度下进行的，偏离了这个高度，检测结论就不再适用。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为了看得清、操作方便把前窗抬高</a:t>
            </a:r>
          </a:p>
          <a:p>
            <a:pPr>
              <a:spcAft>
                <a:spcPts val="1000"/>
              </a:spcAft>
            </a:pPr>
            <a:r>
              <a:rPr sz="1500">
                <a:solidFill>
                  <a:srgbClr val="222B33"/>
                </a:solidFill>
                <a:latin typeface="Microsoft YaHei"/>
              </a:rPr>
              <a:t>▪ 报警响了继续操作</a:t>
            </a:r>
          </a:p>
        </p:txBody>
      </p:sp>
    </p:spTree>
  </p:cSld>
  <p:clrMapOvr>
    <a:masterClrMapping/>
  </p:clrMapOvr>
</p:sld>
</file>

<file path=ppt/slides/slide3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读压差、看气流往里吸</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有压差表的，读数记下与上次比</a:t>
            </a:r>
          </a:p>
          <a:p>
            <a:pPr>
              <a:spcAft>
                <a:spcPts val="1000"/>
              </a:spcAft>
            </a:pPr>
            <a:r>
              <a:rPr sz="2000">
                <a:solidFill>
                  <a:srgbClr val="222B33"/>
                </a:solidFill>
                <a:latin typeface="Microsoft YaHei"/>
              </a:rPr>
              <a:t>▪ 慢慢变是积尘，突变要警惕</a:t>
            </a:r>
          </a:p>
          <a:p>
            <a:pPr>
              <a:spcAft>
                <a:spcPts val="1000"/>
              </a:spcAft>
            </a:pPr>
            <a:r>
              <a:rPr sz="2000">
                <a:solidFill>
                  <a:srgbClr val="222B33"/>
                </a:solidFill>
                <a:latin typeface="Microsoft YaHei"/>
              </a:rPr>
              <a:t>▪ 读数为零，立即停用并报告</a:t>
            </a:r>
          </a:p>
          <a:p>
            <a:pPr>
              <a:spcAft>
                <a:spcPts val="1000"/>
              </a:spcAft>
            </a:pPr>
            <a:r>
              <a:rPr sz="2000">
                <a:solidFill>
                  <a:srgbClr val="222B33"/>
                </a:solidFill>
                <a:latin typeface="Microsoft YaHei"/>
              </a:rPr>
              <a:t>▪ 纸条往里飘，说明气流向内</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柜上有压差表或气流显示的，开机后要读数并记录在贴在柜上的记录表里，和前一天比一比：读数慢慢变化，通常是过滤器逐渐积尘；突然变化要警惕，可能是过滤系统堵塞或破损。最要紧的一条：读数为零就不能用，立即停用，报告实验室负责……</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只开机不看读数，不做记录</a:t>
            </a:r>
          </a:p>
          <a:p>
            <a:pPr>
              <a:spcAft>
                <a:spcPts val="1000"/>
              </a:spcAft>
            </a:pPr>
            <a:r>
              <a:rPr sz="1500">
                <a:solidFill>
                  <a:srgbClr val="222B33"/>
                </a:solidFill>
                <a:latin typeface="Microsoft YaHei"/>
              </a:rPr>
              <a:t>▪ 压差异常仍然使用</a:t>
            </a:r>
          </a:p>
        </p:txBody>
      </p:sp>
    </p:spTree>
  </p:cSld>
  <p:clrMapOvr>
    <a:masterClrMapping/>
  </p:clrMapOvr>
</p:sld>
</file>

<file path=ppt/slides/slide3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用前擦拭消毒：湿巾擦，不喷雾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用规程指定、对病原有效的消毒剂</a:t>
            </a:r>
          </a:p>
          <a:p>
            <a:pPr>
              <a:spcAft>
                <a:spcPts val="1000"/>
              </a:spcAft>
            </a:pPr>
            <a:r>
              <a:rPr sz="2000">
                <a:solidFill>
                  <a:srgbClr val="222B33"/>
                </a:solidFill>
                <a:latin typeface="Microsoft YaHei"/>
              </a:rPr>
              <a:t>▪ 侧壁、后壁、前窗内侧，最后台面</a:t>
            </a:r>
          </a:p>
          <a:p>
            <a:pPr>
              <a:spcAft>
                <a:spcPts val="1000"/>
              </a:spcAft>
            </a:pPr>
            <a:r>
              <a:rPr sz="2000">
                <a:solidFill>
                  <a:srgbClr val="222B33"/>
                </a:solidFill>
                <a:latin typeface="Microsoft YaHei"/>
              </a:rPr>
              <a:t>▪ 不在柜内喷雾，作用时间要够</a:t>
            </a:r>
          </a:p>
          <a:p>
            <a:pPr>
              <a:spcAft>
                <a:spcPts val="1000"/>
              </a:spcAft>
            </a:pPr>
            <a:r>
              <a:rPr sz="2000">
                <a:solidFill>
                  <a:srgbClr val="222B33"/>
                </a:solidFill>
                <a:latin typeface="Microsoft YaHei"/>
              </a:rPr>
              <a:t>▪ 头不伸进柜，含氯的要擦去残留</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空转够时间后，把消毒用品放进柜内。消毒剂要用规程指定、对所操作病原确实有效的种类，按规定浓度和作用时间使用（见第 076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对着柜内大面积喷洒消毒剂</a:t>
            </a:r>
          </a:p>
          <a:p>
            <a:pPr>
              <a:spcAft>
                <a:spcPts val="1000"/>
              </a:spcAft>
            </a:pPr>
            <a:r>
              <a:rPr sz="1500">
                <a:solidFill>
                  <a:srgbClr val="222B33"/>
                </a:solidFill>
                <a:latin typeface="Microsoft YaHei"/>
              </a:rPr>
              <a:t>▪ 探头进柜擦后壁</a:t>
            </a:r>
          </a:p>
        </p:txBody>
      </p:sp>
    </p:spTree>
  </p:cSld>
  <p:clrMapOvr>
    <a:masterClrMapping/>
  </p:clrMapOvr>
</p:sld>
</file>

<file path=ppt/slides/slide3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穿戴防护，按规程铺吸水垫</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去污、准备、检查做完再开工</a:t>
            </a:r>
          </a:p>
          <a:p>
            <a:pPr>
              <a:spcAft>
                <a:spcPts val="1000"/>
              </a:spcAft>
            </a:pPr>
            <a:r>
              <a:rPr sz="2000">
                <a:solidFill>
                  <a:srgbClr val="222B33"/>
                </a:solidFill>
                <a:latin typeface="Microsoft YaHei"/>
              </a:rPr>
              <a:t>▪ 防护用品按风险评估，与工作匹配</a:t>
            </a:r>
          </a:p>
          <a:p>
            <a:pPr>
              <a:spcAft>
                <a:spcPts val="1000"/>
              </a:spcAft>
            </a:pPr>
            <a:r>
              <a:rPr sz="2000">
                <a:solidFill>
                  <a:srgbClr val="222B33"/>
                </a:solidFill>
                <a:latin typeface="Microsoft YaHei"/>
              </a:rPr>
              <a:t>▪ 吸水垫按规程铺，绝不盖住格栅</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柜子去污、准备、检查都做完，才可以开始操作。</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吸水垫铺满整个台面压住格栅</a:t>
            </a:r>
          </a:p>
          <a:p>
            <a:pPr>
              <a:spcAft>
                <a:spcPts val="1000"/>
              </a:spcAft>
            </a:pPr>
            <a:r>
              <a:rPr sz="1500">
                <a:solidFill>
                  <a:srgbClr val="222B33"/>
                </a:solidFill>
                <a:latin typeface="Microsoft YaHei"/>
              </a:rPr>
              <a:t>▪ 防护用品不按评估要求穿戴</a:t>
            </a:r>
          </a:p>
        </p:txBody>
      </p:sp>
    </p:spTree>
  </p:cSld>
  <p:clrMapOvr>
    <a:masterClrMapping/>
  </p:clrMapOvr>
</p:sld>
</file>

<file path=ppt/slides/slide3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物品擦净后一次放齐，只放必需品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物品外表面先擦，一件擦一件放</a:t>
            </a:r>
          </a:p>
          <a:p>
            <a:pPr>
              <a:spcAft>
                <a:spcPts val="1000"/>
              </a:spcAft>
            </a:pPr>
            <a:r>
              <a:rPr sz="2000">
                <a:solidFill>
                  <a:srgbClr val="222B33"/>
                </a:solidFill>
                <a:latin typeface="Microsoft YaHei"/>
              </a:rPr>
              <a:t>▪ 一次放齐，减少中途进出</a:t>
            </a:r>
          </a:p>
          <a:p>
            <a:pPr>
              <a:spcAft>
                <a:spcPts val="1000"/>
              </a:spcAft>
            </a:pPr>
            <a:r>
              <a:rPr sz="2000">
                <a:solidFill>
                  <a:srgbClr val="222B33"/>
                </a:solidFill>
                <a:latin typeface="Microsoft YaHei"/>
              </a:rPr>
              <a:t>▪ 废物袋、锐器盒按柜选大小，先放好</a:t>
            </a:r>
          </a:p>
          <a:p>
            <a:pPr>
              <a:spcAft>
                <a:spcPts val="1000"/>
              </a:spcAft>
            </a:pPr>
            <a:r>
              <a:rPr sz="2000">
                <a:solidFill>
                  <a:srgbClr val="222B33"/>
                </a:solidFill>
                <a:latin typeface="Microsoft YaHei"/>
              </a:rPr>
              <a:t>▪ 柜子不是储物柜，只放这次要用的</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物品放进柜子前，外表面先用消毒剂擦一遍，一件一件擦、一件一件放，少把外面的污染带进柜里。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长期在柜内存放试剂和耗材</a:t>
            </a:r>
          </a:p>
          <a:p>
            <a:pPr>
              <a:spcAft>
                <a:spcPts val="1000"/>
              </a:spcAft>
            </a:pPr>
            <a:r>
              <a:rPr sz="1500">
                <a:solidFill>
                  <a:srgbClr val="222B33"/>
                </a:solidFill>
                <a:latin typeface="Microsoft YaHei"/>
              </a:rPr>
              <a:t>▪ 开工后才想起放锐器盒</a:t>
            </a:r>
          </a:p>
        </p:txBody>
      </p:sp>
    </p:spTree>
  </p:cSld>
  <p:clrMapOvr>
    <a:masterClrMapping/>
  </p:clrMapOvr>
</p:sld>
</file>

<file path=ppt/slides/slide3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由洁到污摆放，顺着惯用手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清洁区、操作区、污染区依次排开</a:t>
            </a:r>
          </a:p>
          <a:p>
            <a:pPr>
              <a:spcAft>
                <a:spcPts val="1000"/>
              </a:spcAft>
            </a:pPr>
            <a:r>
              <a:rPr sz="2000">
                <a:solidFill>
                  <a:srgbClr val="222B33"/>
                </a:solidFill>
                <a:latin typeface="Microsoft YaHei"/>
              </a:rPr>
              <a:t>▪ 物品从洁往污单向走</a:t>
            </a:r>
          </a:p>
          <a:p>
            <a:pPr>
              <a:spcAft>
                <a:spcPts val="1000"/>
              </a:spcAft>
            </a:pPr>
            <a:r>
              <a:rPr sz="2000">
                <a:solidFill>
                  <a:srgbClr val="222B33"/>
                </a:solidFill>
                <a:latin typeface="Microsoft YaHei"/>
              </a:rPr>
              <a:t>▪ 惯用左手的，左右对调</a:t>
            </a:r>
          </a:p>
          <a:p>
            <a:pPr>
              <a:spcAft>
                <a:spcPts val="1000"/>
              </a:spcAft>
            </a:pPr>
            <a:r>
              <a:rPr sz="2000">
                <a:solidFill>
                  <a:srgbClr val="222B33"/>
                </a:solidFill>
                <a:latin typeface="Microsoft YaHei"/>
              </a:rPr>
              <a:t>▪ 手不来回交叉，污染就少</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柜内物品按由洁到污的原则摆放：清洁物品（如吸头、无菌试剂）放一侧，中间是操作区，废物袋和锐器盒放另一侧，物品和操作都从洁往污单向推进。</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废物袋放在清洁物品旁边</a:t>
            </a:r>
          </a:p>
          <a:p>
            <a:pPr>
              <a:spcAft>
                <a:spcPts val="1000"/>
              </a:spcAft>
            </a:pPr>
            <a:r>
              <a:rPr sz="1500">
                <a:solidFill>
                  <a:srgbClr val="222B33"/>
                </a:solidFill>
                <a:latin typeface="Microsoft YaHei"/>
              </a:rPr>
              <a:t>▪ 拿着用过的吸头从样品上方跨过</a:t>
            </a:r>
          </a:p>
        </p:txBody>
      </p:sp>
    </p:spTree>
  </p:cSld>
  <p:clrMapOvr>
    <a:masterClrMapping/>
  </p:clrMapOvr>
</p:sld>
</file>

<file path=ppt/slides/slide3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前后格栅保持畅通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前后格栅是气流的进出口</a:t>
            </a:r>
          </a:p>
          <a:p>
            <a:pPr>
              <a:spcAft>
                <a:spcPts val="1000"/>
              </a:spcAft>
            </a:pPr>
            <a:r>
              <a:rPr sz="2000">
                <a:solidFill>
                  <a:srgbClr val="222B33"/>
                </a:solidFill>
                <a:latin typeface="Microsoft YaHei"/>
              </a:rPr>
              <a:t>▪ 纸巾、管子、记录本别压格栅</a:t>
            </a:r>
          </a:p>
          <a:p>
            <a:pPr>
              <a:spcAft>
                <a:spcPts val="1000"/>
              </a:spcAft>
            </a:pPr>
            <a:r>
              <a:rPr sz="2000">
                <a:solidFill>
                  <a:srgbClr val="222B33"/>
                </a:solidFill>
                <a:latin typeface="Microsoft YaHei"/>
              </a:rPr>
              <a:t>▪ 物品往里放，别贴住后格栅</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前格栅和后格栅是柜内气流的进出口，与下降气流一起形成保护气幕。压住格栅，气流就会乱窜，防护失效。</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把记录本放在前格栅上</a:t>
            </a:r>
          </a:p>
          <a:p>
            <a:pPr>
              <a:spcAft>
                <a:spcPts val="1000"/>
              </a:spcAft>
            </a:pPr>
            <a:r>
              <a:rPr sz="1500">
                <a:solidFill>
                  <a:srgbClr val="222B33"/>
                </a:solidFill>
                <a:latin typeface="Microsoft YaHei"/>
              </a:rPr>
              <a:t>▪ 物品紧贴后壁堵住后格栅</a:t>
            </a:r>
          </a:p>
        </p:txBody>
      </p:sp>
    </p:spTree>
  </p:cSld>
  <p:clrMapOvr>
    <a:masterClrMapping/>
  </p:clrMapOvr>
</p:sld>
</file>

<file path=ppt/slides/slide3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坐姿：调椅子、肘直角，一次一人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坐着操作，一个柜子一次一人</a:t>
            </a:r>
          </a:p>
          <a:p>
            <a:pPr>
              <a:spcAft>
                <a:spcPts val="1000"/>
              </a:spcAft>
            </a:pPr>
            <a:r>
              <a:rPr sz="2000">
                <a:solidFill>
                  <a:srgbClr val="222B33"/>
                </a:solidFill>
                <a:latin typeface="Microsoft YaHei"/>
              </a:rPr>
              <a:t>▪ 脸在玻璃后，腋窝与前窗下沿齐平</a:t>
            </a:r>
          </a:p>
          <a:p>
            <a:pPr>
              <a:spcAft>
                <a:spcPts val="1000"/>
              </a:spcAft>
            </a:pPr>
            <a:r>
              <a:rPr sz="2000">
                <a:solidFill>
                  <a:srgbClr val="222B33"/>
                </a:solidFill>
                <a:latin typeface="Microsoft YaHei"/>
              </a:rPr>
              <a:t>▪ 肘部约成直角，用扶手和脚踏</a:t>
            </a:r>
          </a:p>
          <a:p>
            <a:pPr>
              <a:spcAft>
                <a:spcPts val="1000"/>
              </a:spcAft>
            </a:pPr>
            <a:r>
              <a:rPr sz="2000">
                <a:solidFill>
                  <a:srgbClr val="222B33"/>
                </a:solidFill>
                <a:latin typeface="Microsoft YaHei"/>
              </a:rPr>
              <a:t>▪ 确需两人，用宽柜并书面评估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在生物安全柜里要坐着操作，一个柜子一次只一人操作；确需两人同时操作，要用足够宽的柜子并做书面风险评估。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站着弯腰、探头操作</a:t>
            </a:r>
          </a:p>
          <a:p>
            <a:pPr>
              <a:spcAft>
                <a:spcPts val="1000"/>
              </a:spcAft>
            </a:pPr>
            <a:r>
              <a:rPr sz="1500">
                <a:solidFill>
                  <a:srgbClr val="222B33"/>
                </a:solidFill>
                <a:latin typeface="Microsoft YaHei"/>
              </a:rPr>
              <a:t>▪ 两人挤在一个窄柜前同时操作</a:t>
            </a:r>
          </a:p>
        </p:txBody>
      </p:sp>
    </p:spTree>
  </p:cSld>
  <p:clrMapOvr>
    <a:masterClrMapping/>
  </p:clrMapOvr>
</p:sld>
</file>

<file path=ppt/slides/slide3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在下降气流区里操作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下降气流罩着的地方才受保护</a:t>
            </a:r>
          </a:p>
          <a:p>
            <a:pPr>
              <a:spcAft>
                <a:spcPts val="1000"/>
              </a:spcAft>
            </a:pPr>
            <a:r>
              <a:rPr sz="2000">
                <a:solidFill>
                  <a:srgbClr val="222B33"/>
                </a:solidFill>
                <a:latin typeface="Microsoft YaHei"/>
              </a:rPr>
              <a:t>▪ 在柜内中后部操作</a:t>
            </a:r>
          </a:p>
          <a:p>
            <a:pPr>
              <a:spcAft>
                <a:spcPts val="1000"/>
              </a:spcAft>
            </a:pPr>
            <a:r>
              <a:rPr sz="2000">
                <a:solidFill>
                  <a:srgbClr val="222B33"/>
                </a:solidFill>
                <a:latin typeface="Microsoft YaHei"/>
              </a:rPr>
              <a:t>▪ 别贴着前窗口干活</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柜内有一股从上往下的洁净下降气流，被它罩住的区域才受保护。操作要在这块区域里进行，一般在台面中后部，离前格栅留出一段距离。</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在前格栅上方操作</a:t>
            </a:r>
          </a:p>
          <a:p>
            <a:pPr>
              <a:spcAft>
                <a:spcPts val="1000"/>
              </a:spcAft>
            </a:pPr>
            <a:r>
              <a:rPr sz="1500">
                <a:solidFill>
                  <a:srgbClr val="222B33"/>
                </a:solidFill>
                <a:latin typeface="Microsoft YaHei"/>
              </a:rPr>
              <a:t>▪ 把样品放在前窗口附近方便拿取</a:t>
            </a:r>
          </a:p>
        </p:txBody>
      </p:sp>
    </p:spTree>
  </p:cSld>
  <p:clrMapOvr>
    <a:masterClrMapping/>
  </p:clrMapOvr>
</p:sld>
</file>

<file path=ppt/slides/slide3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气幕很脆弱：手臂慢进慢出，旁人别靠近</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气幕很薄，一个小动作就能打破</a:t>
            </a:r>
          </a:p>
          <a:p>
            <a:pPr>
              <a:spcAft>
                <a:spcPts val="1000"/>
              </a:spcAft>
            </a:pPr>
            <a:r>
              <a:rPr sz="2000">
                <a:solidFill>
                  <a:srgbClr val="222B33"/>
                </a:solidFill>
                <a:latin typeface="Microsoft YaHei"/>
              </a:rPr>
              <a:t>▪ 手臂猛抽会把柜内空气带出</a:t>
            </a:r>
          </a:p>
          <a:p>
            <a:pPr>
              <a:spcAft>
                <a:spcPts val="1000"/>
              </a:spcAft>
            </a:pPr>
            <a:r>
              <a:rPr sz="2000">
                <a:solidFill>
                  <a:srgbClr val="222B33"/>
                </a:solidFill>
                <a:latin typeface="Microsoft YaHei"/>
              </a:rPr>
              <a:t>▪ 少进出，手臂慢慢直进直出</a:t>
            </a:r>
          </a:p>
          <a:p>
            <a:pPr>
              <a:spcAft>
                <a:spcPts val="1000"/>
              </a:spcAft>
            </a:pPr>
            <a:r>
              <a:rPr sz="2000">
                <a:solidFill>
                  <a:srgbClr val="222B33"/>
                </a:solidFill>
                <a:latin typeface="Microsoft YaHei"/>
              </a:rPr>
              <a:t>▪ 有人操作时，旁人别靠近、别穿行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即使前窗高度正确，前窗处的气幕也很脆弱：开口处的风速比人慢慢走路还慢，一个小动作就能把它打破。</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手臂快速进出取东西</a:t>
            </a:r>
          </a:p>
          <a:p>
            <a:pPr>
              <a:spcAft>
                <a:spcPts val="1000"/>
              </a:spcAft>
            </a:pPr>
            <a:r>
              <a:rPr sz="1500">
                <a:solidFill>
                  <a:srgbClr val="222B33"/>
                </a:solidFill>
                <a:latin typeface="Microsoft YaHei"/>
              </a:rPr>
              <a:t>▪ 在别人操作时从背后快步走过</a:t>
            </a:r>
          </a:p>
        </p:txBody>
      </p:sp>
    </p:spTree>
  </p:cSld>
  <p:clrMapOvr>
    <a:masterClrMapping/>
  </p:clrMapOvr>
</p:sld>
</file>

<file path=ppt/slides/slide3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产生气溶胶的操作都进柜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移液、振荡、离心、开盖都产生气溶胶</a:t>
            </a:r>
          </a:p>
          <a:p>
            <a:pPr>
              <a:spcAft>
                <a:spcPts val="1000"/>
              </a:spcAft>
            </a:pPr>
            <a:r>
              <a:rPr sz="2000">
                <a:solidFill>
                  <a:srgbClr val="222B33"/>
                </a:solidFill>
                <a:latin typeface="Microsoft YaHei"/>
              </a:rPr>
              <a:t>▪ 感染性材料的这些操作在柜里做</a:t>
            </a:r>
          </a:p>
          <a:p>
            <a:pPr>
              <a:spcAft>
                <a:spcPts val="1000"/>
              </a:spcAft>
            </a:pPr>
            <a:r>
              <a:rPr sz="2000">
                <a:solidFill>
                  <a:srgbClr val="222B33"/>
                </a:solidFill>
                <a:latin typeface="Microsoft YaHei"/>
              </a:rPr>
              <a:t>▪ 霉菌孢子会飘：封口培养，柜内开盖</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很多常规操作都会产生看不见的气溶胶：移液、吹打、振荡混匀、离心后开盖、打开培养容器等。处理感染性材料时，这些操作都要放进生物安全柜，柜内气流把飞沫挡在里面；在开放台面上图省事，飞沫会飘满房间。</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在开放台面上打开培养物</a:t>
            </a:r>
          </a:p>
          <a:p>
            <a:pPr>
              <a:spcAft>
                <a:spcPts val="1000"/>
              </a:spcAft>
            </a:pPr>
            <a:r>
              <a:rPr sz="1500">
                <a:solidFill>
                  <a:srgbClr val="222B33"/>
                </a:solidFill>
                <a:latin typeface="Microsoft YaHei"/>
              </a:rPr>
              <a:t>▪ 凑近闻平板气味判断菌种</a:t>
            </a:r>
          </a:p>
        </p:txBody>
      </p:sp>
    </p:spTree>
  </p:cSld>
  <p:clrMapOvr>
    <a:masterClrMapping/>
  </p:clrMapOvr>
</p:sld>
</file>

<file path=ppt/slides/slide3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操作一气呵成，轻柔防气溶胶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操作一气呵成，飞溅和失误就少</a:t>
            </a:r>
          </a:p>
          <a:p>
            <a:pPr>
              <a:spcAft>
                <a:spcPts val="1000"/>
              </a:spcAft>
            </a:pPr>
            <a:r>
              <a:rPr sz="2000">
                <a:solidFill>
                  <a:srgbClr val="222B33"/>
                </a:solidFill>
                <a:latin typeface="Microsoft YaHei"/>
              </a:rPr>
              <a:t>▪ 用带滤芯吸头，贴壁慢放，不吹打</a:t>
            </a:r>
          </a:p>
          <a:p>
            <a:pPr>
              <a:spcAft>
                <a:spcPts val="1000"/>
              </a:spcAft>
            </a:pPr>
            <a:r>
              <a:rPr sz="2000">
                <a:solidFill>
                  <a:srgbClr val="222B33"/>
                </a:solidFill>
                <a:latin typeface="Microsoft YaHei"/>
              </a:rPr>
              <a:t>▪ 混匀、离心后静置片刻再开盖</a:t>
            </a:r>
          </a:p>
          <a:p>
            <a:pPr>
              <a:spcAft>
                <a:spcPts val="1000"/>
              </a:spcAft>
            </a:pPr>
            <a:r>
              <a:rPr sz="2000">
                <a:solidFill>
                  <a:srgbClr val="222B33"/>
                </a:solidFill>
                <a:latin typeface="Microsoft YaHei"/>
              </a:rPr>
              <a:t>▪ 用过的吸头直接丢进柜内废物容器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柜内操作要一气呵成：取移液器、装上吸头、调好体积，从样品管中吸取，轻轻加到对应的管或孔里，用完的吸头直接丢进柜内废物容器。动作顺，飞溅和失误就少。</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用力吹打产生大量气泡</a:t>
            </a:r>
          </a:p>
          <a:p>
            <a:pPr>
              <a:spcAft>
                <a:spcPts val="1000"/>
              </a:spcAft>
            </a:pPr>
            <a:r>
              <a:rPr sz="1500">
                <a:solidFill>
                  <a:srgbClr val="222B33"/>
                </a:solidFill>
                <a:latin typeface="Microsoft YaHei"/>
              </a:rPr>
              <a:t>▪ 用过的吸头拿出柜外再丢</a:t>
            </a:r>
          </a:p>
        </p:txBody>
      </p:sp>
    </p:spTree>
  </p:cSld>
  <p:clrMapOvr>
    <a:masterClrMapping/>
  </p:clrMapOvr>
</p:sld>
</file>

<file path=ppt/slides/slide3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柜内不用明火</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柜里不点酒精灯，不用任何明火</a:t>
            </a:r>
          </a:p>
          <a:p>
            <a:pPr>
              <a:spcAft>
                <a:spcPts val="1000"/>
              </a:spcAft>
            </a:pPr>
            <a:r>
              <a:rPr sz="2000">
                <a:solidFill>
                  <a:srgbClr val="222B33"/>
                </a:solidFill>
                <a:latin typeface="Microsoft YaHei"/>
              </a:rPr>
              <a:t>▪ 热气打乱气流，还会烤坏过滤器</a:t>
            </a:r>
          </a:p>
          <a:p>
            <a:pPr>
              <a:spcAft>
                <a:spcPts val="1000"/>
              </a:spcAft>
            </a:pPr>
            <a:r>
              <a:rPr sz="2000">
                <a:solidFill>
                  <a:srgbClr val="222B33"/>
                </a:solidFill>
                <a:latin typeface="Microsoft YaHei"/>
              </a:rPr>
              <a:t>▪ 台面喷过乙醇，遇火更易起火</a:t>
            </a:r>
          </a:p>
          <a:p>
            <a:pPr>
              <a:spcAft>
                <a:spcPts val="1000"/>
              </a:spcAft>
            </a:pPr>
            <a:r>
              <a:rPr sz="2000">
                <a:solidFill>
                  <a:srgbClr val="222B33"/>
                </a:solidFill>
                <a:latin typeface="Microsoft YaHei"/>
              </a:rPr>
              <a:t>▪ 改用一次性接种环或电热灭菌器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生物安全柜内不能使用酒精灯等明火。火焰产生的热气流往上冲，会冲破保护气幕、打乱下降气流；还可能引起火灾、烤坏柜顶的高效过滤器。柜内常用乙醇擦拭台面，喷过乙醇的台面遇火更容易起火。</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习惯性在柜内点酒精灯灼烧接种环</a:t>
            </a:r>
          </a:p>
          <a:p>
            <a:pPr>
              <a:spcAft>
                <a:spcPts val="1000"/>
              </a:spcAft>
            </a:pPr>
            <a:r>
              <a:rPr sz="1500">
                <a:solidFill>
                  <a:srgbClr val="222B33"/>
                </a:solidFill>
                <a:latin typeface="Microsoft YaHei"/>
              </a:rPr>
              <a:t>▪ 乙醇瓶敞口放在柜内</a:t>
            </a:r>
          </a:p>
        </p:txBody>
      </p:sp>
    </p:spTree>
  </p:cSld>
  <p:clrMapOvr>
    <a:masterClrMapping/>
  </p:clrMapOvr>
</p:sld>
</file>

<file path=ppt/slides/slide3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离心机和大仪器进柜前先评估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离心机别进柜，风扇会搅乱气流</a:t>
            </a:r>
          </a:p>
          <a:p>
            <a:pPr>
              <a:spcAft>
                <a:spcPts val="1000"/>
              </a:spcAft>
            </a:pPr>
            <a:r>
              <a:rPr sz="2000">
                <a:solidFill>
                  <a:srgbClr val="222B33"/>
                </a:solidFill>
                <a:latin typeface="Microsoft YaHei"/>
              </a:rPr>
              <a:t>▪ 离心在柜外，按规程密封进行</a:t>
            </a:r>
          </a:p>
          <a:p>
            <a:pPr>
              <a:spcAft>
                <a:spcPts val="1000"/>
              </a:spcAft>
            </a:pPr>
            <a:r>
              <a:rPr sz="2000">
                <a:solidFill>
                  <a:srgbClr val="222B33"/>
                </a:solidFill>
                <a:latin typeface="Microsoft YaHei"/>
              </a:rPr>
              <a:t>▪ 大仪器进柜先评估，必要时测气流</a:t>
            </a:r>
          </a:p>
          <a:p>
            <a:pPr>
              <a:spcAft>
                <a:spcPts val="1000"/>
              </a:spcAft>
            </a:pPr>
            <a:r>
              <a:rPr sz="2000">
                <a:solidFill>
                  <a:srgbClr val="222B33"/>
                </a:solidFill>
                <a:latin typeface="Microsoft YaHei"/>
              </a:rPr>
              <a:t>▪ 靠后靠边放，电线不压格栅</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离心机不要放进柜内运行，它的电机散热风扇会搅乱柜内气流。离心放在柜外，按规程使用密封离心管和密封转子（或安全杯），在柜内装卸（离心机安全见第 121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把小型离心机放进柜内运行</a:t>
            </a:r>
          </a:p>
          <a:p>
            <a:pPr>
              <a:spcAft>
                <a:spcPts val="1000"/>
              </a:spcAft>
            </a:pPr>
            <a:r>
              <a:rPr sz="1500">
                <a:solidFill>
                  <a:srgbClr val="222B33"/>
                </a:solidFill>
                <a:latin typeface="Microsoft YaHei"/>
              </a:rPr>
              <a:t>▪ 电线压在前格栅上</a:t>
            </a:r>
          </a:p>
        </p:txBody>
      </p:sp>
    </p:spTree>
  </p:cSld>
  <p:clrMapOvr>
    <a:masterClrMapping/>
  </p:clrMapOvr>
</p:sld>
</file>

<file path=ppt/slides/slide3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真空吸液管路要保护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真空吸液管路要装高效过滤器</a:t>
            </a:r>
          </a:p>
          <a:p>
            <a:pPr>
              <a:spcAft>
                <a:spcPts val="1000"/>
              </a:spcAft>
            </a:pPr>
            <a:r>
              <a:rPr sz="2000">
                <a:solidFill>
                  <a:srgbClr val="222B33"/>
                </a:solidFill>
                <a:latin typeface="Microsoft YaHei"/>
              </a:rPr>
              <a:t>▪ 配收集瓶，防止液体倒吸</a:t>
            </a:r>
          </a:p>
          <a:p>
            <a:pPr>
              <a:spcAft>
                <a:spcPts val="1000"/>
              </a:spcAft>
            </a:pPr>
            <a:r>
              <a:rPr sz="2000">
                <a:solidFill>
                  <a:srgbClr val="222B33"/>
                </a:solidFill>
                <a:latin typeface="Microsoft YaHei"/>
              </a:rPr>
              <a:t>▪ 不用的管口要盖上</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在柜内用真空管路吸弃液体时，要保护好真空系统：管路上装在线高效过滤器，并配废液收集瓶（瓶内按规程加消毒剂），防止感染性液体和气溶胶进入真空系统。不用的真空管口要盖上。</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真空管路不装过滤器</a:t>
            </a:r>
          </a:p>
          <a:p>
            <a:pPr>
              <a:spcAft>
                <a:spcPts val="1000"/>
              </a:spcAft>
            </a:pPr>
            <a:r>
              <a:rPr sz="1500">
                <a:solidFill>
                  <a:srgbClr val="222B33"/>
                </a:solidFill>
                <a:latin typeface="Microsoft YaHei"/>
              </a:rPr>
              <a:t>▪ 收集瓶装满了还继续吸</a:t>
            </a:r>
          </a:p>
        </p:txBody>
      </p:sp>
    </p:spTree>
  </p:cSld>
  <p:clrMapOvr>
    <a:masterClrMapping/>
  </p:clrMapOvr>
</p:sld>
</file>

<file path=ppt/slides/slide3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中途离开和报警时怎么办</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中途离开：盖好容器，风机别关，挂牌</a:t>
            </a:r>
          </a:p>
          <a:p>
            <a:pPr>
              <a:spcAft>
                <a:spcPts val="1000"/>
              </a:spcAft>
            </a:pPr>
            <a:r>
              <a:rPr sz="2000">
                <a:solidFill>
                  <a:srgbClr val="222B33"/>
                </a:solidFill>
                <a:latin typeface="Microsoft YaHei"/>
              </a:rPr>
              <a:t>▪ 报警、停转、停电，立即停下</a:t>
            </a:r>
          </a:p>
          <a:p>
            <a:pPr>
              <a:spcAft>
                <a:spcPts val="1000"/>
              </a:spcAft>
            </a:pPr>
            <a:r>
              <a:rPr sz="2000">
                <a:solidFill>
                  <a:srgbClr val="222B33"/>
                </a:solidFill>
                <a:latin typeface="Microsoft YaHei"/>
              </a:rPr>
              <a:t>▪ 盖好容器，慢抽手，关前窗，挂牌停用</a:t>
            </a:r>
          </a:p>
          <a:p>
            <a:pPr>
              <a:spcAft>
                <a:spcPts val="1000"/>
              </a:spcAft>
            </a:pPr>
            <a:r>
              <a:rPr sz="2000">
                <a:solidFill>
                  <a:srgbClr val="222B33"/>
                </a:solidFill>
                <a:latin typeface="Microsoft YaHei"/>
              </a:rPr>
              <a:t>▪ 报告负责人，请专业人员检修</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操作中途需要离开时，先盖好所有容器、把物品放稳，双手慢慢撤出，按规程脱手套；风机不要关，挂牌提示别人勿动。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报警时继续把实验做完</a:t>
            </a:r>
          </a:p>
          <a:p>
            <a:pPr>
              <a:spcAft>
                <a:spcPts val="1000"/>
              </a:spcAft>
            </a:pPr>
            <a:r>
              <a:rPr sz="1500">
                <a:solidFill>
                  <a:srgbClr val="222B33"/>
                </a:solidFill>
                <a:latin typeface="Microsoft YaHei"/>
              </a:rPr>
              <a:t>▪ 中途离开关掉风机，容器敞口</a:t>
            </a:r>
          </a:p>
        </p:txBody>
      </p:sp>
    </p:spTree>
  </p:cSld>
  <p:clrMapOvr>
    <a:masterClrMapping/>
  </p:clrMapOvr>
</p:sld>
</file>

<file path=ppt/slides/slide3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生物安全柜开机后，下列做法正确的是：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紫外灯开着时直接开始操作</a:t>
            </a:r>
          </a:p>
          <a:p>
            <a:pPr algn="l"/>
            <a:r>
              <a:rPr sz="1500" b="0">
                <a:solidFill>
                  <a:srgbClr val="222B33"/>
                </a:solidFill>
                <a:latin typeface="Microsoft YaHei"/>
              </a:rPr>
              <a:t>B. 关闭报警开关以免吵闹</a:t>
            </a:r>
          </a:p>
          <a:p>
            <a:pPr algn="l"/>
            <a:r>
              <a:rPr sz="1500" b="0">
                <a:solidFill>
                  <a:srgbClr val="222B33"/>
                </a:solidFill>
                <a:latin typeface="Microsoft YaHei"/>
              </a:rPr>
              <a:t>C. 前窗拉到柜上标明的高度，空转一段时间、确认气流正常后再操作</a:t>
            </a:r>
          </a:p>
          <a:p>
            <a:pPr algn="l"/>
            <a:r>
              <a:rPr sz="1500" b="0">
                <a:solidFill>
                  <a:srgbClr val="222B33"/>
                </a:solidFill>
                <a:latin typeface="Microsoft YaHei"/>
              </a:rPr>
              <a:t>D. 刚开风机就放样品</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判断：为了看得更清楚，可以把前窗抬得比标线高一些。</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3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下列关于柜内物品摆放的说法，错误的是：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物品擦拭后一次放齐</a:t>
            </a:r>
          </a:p>
          <a:p>
            <a:pPr algn="l"/>
            <a:r>
              <a:rPr sz="1500" b="0">
                <a:solidFill>
                  <a:srgbClr val="222B33"/>
                </a:solidFill>
                <a:latin typeface="Microsoft YaHei"/>
              </a:rPr>
              <a:t>B. 由洁到污单向摆放</a:t>
            </a:r>
          </a:p>
          <a:p>
            <a:pPr algn="l"/>
            <a:r>
              <a:rPr sz="1500" b="0">
                <a:solidFill>
                  <a:srgbClr val="222B33"/>
                </a:solidFill>
                <a:latin typeface="Microsoft YaHei"/>
              </a:rPr>
              <a:t>C. 记录本放在前格栅上方便看</a:t>
            </a:r>
          </a:p>
          <a:p>
            <a:pPr algn="l"/>
            <a:r>
              <a:rPr sz="1500" b="0">
                <a:solidFill>
                  <a:srgbClr val="222B33"/>
                </a:solidFill>
                <a:latin typeface="Microsoft YaHei"/>
              </a:rPr>
              <a:t>D. 物品往里放但不挡后格栅</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判断：在生物安全柜内可以点酒精灯灼烧接种环。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3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操作中生物安全柜突然报警，应该：</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抓紧把实验做完</a:t>
            </a:r>
          </a:p>
          <a:p>
            <a:pPr algn="l"/>
            <a:r>
              <a:rPr sz="1500" b="0">
                <a:solidFill>
                  <a:srgbClr val="222B33"/>
                </a:solidFill>
                <a:latin typeface="Microsoft YaHei"/>
              </a:rPr>
              <a:t>B. 立即停止，盖好容器，慢慢抽手，关前窗，挂牌停用并报告负责人</a:t>
            </a:r>
          </a:p>
          <a:p>
            <a:pPr algn="l"/>
            <a:r>
              <a:rPr sz="1500" b="0">
                <a:solidFill>
                  <a:srgbClr val="222B33"/>
                </a:solidFill>
                <a:latin typeface="Microsoft YaHei"/>
              </a:rPr>
              <a:t>C. 关掉报警继续用</a:t>
            </a:r>
          </a:p>
          <a:p>
            <a:pPr algn="l"/>
            <a:r>
              <a:rPr sz="1500" b="0">
                <a:solidFill>
                  <a:srgbClr val="222B33"/>
                </a:solidFill>
                <a:latin typeface="Microsoft YaHei"/>
              </a:rPr>
              <a:t>D. 打开前窗通风</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简答：哪些因素会打乱生物安全柜的气流？</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363.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好设备也要照规程用</a:t>
            </a:r>
          </a:p>
          <a:p>
            <a:pPr>
              <a:spcAft>
                <a:spcPts val="800"/>
              </a:spcAft>
            </a:pPr>
            <a:r>
              <a:rPr sz="1500">
                <a:solidFill>
                  <a:srgbClr val="FFFFFF"/>
                </a:solidFill>
                <a:latin typeface="Microsoft YaHei"/>
              </a:rPr>
              <a:t>▪ K2  安装位置：避开门口和送风口</a:t>
            </a:r>
          </a:p>
          <a:p>
            <a:pPr>
              <a:spcAft>
                <a:spcPts val="800"/>
              </a:spcAft>
            </a:pPr>
            <a:r>
              <a:rPr sz="1500">
                <a:solidFill>
                  <a:srgbClr val="FFFFFF"/>
                </a:solidFill>
                <a:latin typeface="Microsoft YaHei"/>
              </a:rPr>
              <a:t>▪ K3  留足时间，备齐物品</a:t>
            </a:r>
          </a:p>
          <a:p>
            <a:pPr>
              <a:spcAft>
                <a:spcPts val="800"/>
              </a:spcAft>
            </a:pPr>
            <a:r>
              <a:rPr sz="1500">
                <a:solidFill>
                  <a:srgbClr val="FFFFFF"/>
                </a:solidFill>
                <a:latin typeface="Microsoft YaHei"/>
              </a:rPr>
              <a:t>▪ K4  开机前：关紫外灯、认柜型、看检测</a:t>
            </a:r>
          </a:p>
          <a:p>
            <a:pPr>
              <a:spcAft>
                <a:spcPts val="800"/>
              </a:spcAft>
            </a:pPr>
            <a:r>
              <a:rPr sz="1500">
                <a:solidFill>
                  <a:srgbClr val="FFFFFF"/>
                </a:solidFill>
                <a:latin typeface="Microsoft YaHei"/>
              </a:rPr>
              <a:t>▪ K5  开风机、前窗到位、空转几分钟</a:t>
            </a:r>
          </a:p>
          <a:p>
            <a:pPr>
              <a:spcAft>
                <a:spcPts val="800"/>
              </a:spcAft>
            </a:pPr>
            <a:r>
              <a:rPr sz="1500">
                <a:solidFill>
                  <a:srgbClr val="FFFFFF"/>
                </a:solidFill>
                <a:latin typeface="Microsoft YaHei"/>
              </a:rPr>
              <a:t>▪ K6  前窗高度：太低起湍流，太高会外逸</a:t>
            </a:r>
          </a:p>
          <a:p>
            <a:pPr>
              <a:spcAft>
                <a:spcPts val="800"/>
              </a:spcAft>
            </a:pPr>
            <a:r>
              <a:rPr sz="1500">
                <a:solidFill>
                  <a:srgbClr val="FFFFFF"/>
                </a:solidFill>
                <a:latin typeface="Microsoft YaHei"/>
              </a:rPr>
              <a:t>▪ K7  读压差、看气流往里吸</a:t>
            </a:r>
          </a:p>
          <a:p>
            <a:pPr>
              <a:spcAft>
                <a:spcPts val="800"/>
              </a:spcAft>
            </a:pPr>
            <a:r>
              <a:rPr sz="1500">
                <a:solidFill>
                  <a:srgbClr val="FFFFFF"/>
                </a:solidFill>
                <a:latin typeface="Microsoft YaHei"/>
              </a:rPr>
              <a:t>▪ K8  用前擦拭消毒：湿巾擦，不喷雾</a:t>
            </a:r>
          </a:p>
          <a:p>
            <a:pPr>
              <a:spcAft>
                <a:spcPts val="800"/>
              </a:spcAft>
            </a:pPr>
            <a:r>
              <a:rPr sz="1500">
                <a:solidFill>
                  <a:srgbClr val="FFFFFF"/>
                </a:solidFill>
                <a:latin typeface="Microsoft YaHei"/>
              </a:rPr>
              <a:t>▪ K9  穿戴防护，按规程铺吸水垫</a:t>
            </a:r>
          </a:p>
          <a:p>
            <a:pPr>
              <a:spcAft>
                <a:spcPts val="800"/>
              </a:spcAft>
            </a:pPr>
            <a:r>
              <a:rPr sz="1500">
                <a:solidFill>
                  <a:srgbClr val="FFFFFF"/>
                </a:solidFill>
                <a:latin typeface="Microsoft YaHei"/>
              </a:rPr>
              <a:t>▪ K10  物品擦净后一次放齐，只放必需品</a:t>
            </a:r>
          </a:p>
          <a:p>
            <a:pPr>
              <a:spcAft>
                <a:spcPts val="800"/>
              </a:spcAft>
            </a:pPr>
            <a:r>
              <a:rPr sz="1500">
                <a:solidFill>
                  <a:srgbClr val="FFFFFF"/>
                </a:solidFill>
                <a:latin typeface="Microsoft YaHei"/>
              </a:rPr>
              <a:t>▪ K11  由洁到污摆放，顺着惯用手</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K12  前后格栅保持畅通</a:t>
            </a:r>
          </a:p>
          <a:p>
            <a:pPr>
              <a:spcAft>
                <a:spcPts val="800"/>
              </a:spcAft>
            </a:pPr>
            <a:r>
              <a:rPr sz="1500">
                <a:solidFill>
                  <a:srgbClr val="FFFFFF"/>
                </a:solidFill>
                <a:latin typeface="Microsoft YaHei"/>
              </a:rPr>
              <a:t>▪ K13  坐姿：调椅子、肘直角，一次一人</a:t>
            </a:r>
          </a:p>
          <a:p>
            <a:pPr>
              <a:spcAft>
                <a:spcPts val="800"/>
              </a:spcAft>
            </a:pPr>
            <a:r>
              <a:rPr sz="1500">
                <a:solidFill>
                  <a:srgbClr val="FFFFFF"/>
                </a:solidFill>
                <a:latin typeface="Microsoft YaHei"/>
              </a:rPr>
              <a:t>▪ K14  在下降气流区里操作</a:t>
            </a:r>
          </a:p>
          <a:p>
            <a:pPr>
              <a:spcAft>
                <a:spcPts val="800"/>
              </a:spcAft>
            </a:pPr>
            <a:r>
              <a:rPr sz="1500">
                <a:solidFill>
                  <a:srgbClr val="FFFFFF"/>
                </a:solidFill>
                <a:latin typeface="Microsoft YaHei"/>
              </a:rPr>
              <a:t>▪ K15  气幕很脆弱：手臂慢进慢出，旁人别靠近</a:t>
            </a:r>
          </a:p>
          <a:p>
            <a:pPr>
              <a:spcAft>
                <a:spcPts val="800"/>
              </a:spcAft>
            </a:pPr>
            <a:r>
              <a:rPr sz="1500">
                <a:solidFill>
                  <a:srgbClr val="FFFFFF"/>
                </a:solidFill>
                <a:latin typeface="Microsoft YaHei"/>
              </a:rPr>
              <a:t>▪ K16  产生气溶胶的操作都进柜</a:t>
            </a:r>
          </a:p>
          <a:p>
            <a:pPr>
              <a:spcAft>
                <a:spcPts val="800"/>
              </a:spcAft>
            </a:pPr>
            <a:r>
              <a:rPr sz="1500">
                <a:solidFill>
                  <a:srgbClr val="FFFFFF"/>
                </a:solidFill>
                <a:latin typeface="Microsoft YaHei"/>
              </a:rPr>
              <a:t>▪ K17  操作一气呵成，轻柔防气溶胶</a:t>
            </a:r>
          </a:p>
          <a:p>
            <a:pPr>
              <a:spcAft>
                <a:spcPts val="800"/>
              </a:spcAft>
            </a:pPr>
            <a:r>
              <a:rPr sz="1500">
                <a:solidFill>
                  <a:srgbClr val="FFFFFF"/>
                </a:solidFill>
                <a:latin typeface="Microsoft YaHei"/>
              </a:rPr>
              <a:t>▪ K18  柜内不用明火</a:t>
            </a:r>
          </a:p>
          <a:p>
            <a:pPr>
              <a:spcAft>
                <a:spcPts val="800"/>
              </a:spcAft>
            </a:pPr>
            <a:r>
              <a:rPr sz="1500">
                <a:solidFill>
                  <a:srgbClr val="FFFFFF"/>
                </a:solidFill>
                <a:latin typeface="Microsoft YaHei"/>
              </a:rPr>
              <a:t>▪ K19  离心机和大仪器进柜前先评估</a:t>
            </a:r>
          </a:p>
          <a:p>
            <a:pPr>
              <a:spcAft>
                <a:spcPts val="800"/>
              </a:spcAft>
            </a:pPr>
            <a:r>
              <a:rPr sz="1500">
                <a:solidFill>
                  <a:srgbClr val="FFFFFF"/>
                </a:solidFill>
                <a:latin typeface="Microsoft YaHei"/>
              </a:rPr>
              <a:t>▪ K20  真空吸液管路要保护</a:t>
            </a:r>
          </a:p>
          <a:p>
            <a:pPr>
              <a:spcAft>
                <a:spcPts val="800"/>
              </a:spcAft>
            </a:pPr>
            <a:r>
              <a:rPr sz="1500">
                <a:solidFill>
                  <a:srgbClr val="FFFFFF"/>
                </a:solidFill>
                <a:latin typeface="Microsoft YaHei"/>
              </a:rPr>
              <a:t>▪ K21  中途离开和报警时怎么办</a:t>
            </a:r>
          </a:p>
        </p:txBody>
      </p:sp>
    </p:spTree>
  </p:cSld>
  <p:clrMapOvr>
    <a:masterClrMapping/>
  </p:clrMapOvr>
</p:sld>
</file>

<file path=ppt/slides/slide364.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073</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生物安全柜的清洁与废物</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5 分钟（卡通视频 62 镜）　适用对象：使用生物安全柜的生命科学、医学、农学、环境等专业高校本科生、研究生和教职工（必修，与第 072 课一起在上机操作前完成）；实验室负责人和设备管理人员重点学习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3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073 · 生物安全柜的清洁与废物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073 生物安全柜的清洁与废物</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能做到工作结束后风机不关、盖好容器、物品由轻到重擦拭消毒，样品外表去污或装二级容器出柜，吸水垫向内折叠丢弃，柜内表面再擦一遍。</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能做到柜内废物双层装袋：不超过四分之三封口、内袋拧紧扎牢补消毒、外袋包住再扎，外表消毒、换手套后移出柜外送灭菌。</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能判断袋子破损渗漏时在柜内加套处置、不拿出柜外，并报告记录。</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能说出收尾关机顺序、使用登记，以及生物安全柜新装、移位后和定期检测认证、过期停用的要求。</a:t>
            </a:r>
          </a:p>
        </p:txBody>
      </p:sp>
    </p:spTree>
  </p:cSld>
  <p:clrMapOvr>
    <a:masterClrMapping/>
  </p:clrMapOvr>
</p:sld>
</file>

<file path=ppt/slides/slide3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073 · 生物安全柜的清洁与废物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073 生物安全柜的清洁与废物</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《病原微生物实验室生物安全管理条例》（以现行文本为准）：实验室制定并执行标准操作规程，实验活动产生的废物按规定处置</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生物安全通用要求》：设备去污染、废物处置程序，生物安全柜的检测与维护</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233（以现行文本为准）《病原微生物实验室生物安全通用准则》：生物安全柜使用、实验室消毒和废物处置</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YY 0569（以现行文本为准）《Ⅱ级 生物安全柜》等生物安全柜现行国家/行业标准：安装、移位后和定期的现场检测</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《医疗废物管理条例》（以现行文本为准）：感染性废物分类收集、包装、交接登记，由有资质单位集中处置</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号，以现行文本为准）：仪器设备使用记录、维护保养和实验废物管理</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本校生物安全柜使用管理规定和本实验室生物安全柜、废物处置标准操作规程（以本校规定为准）</a:t>
            </a:r>
          </a:p>
        </p:txBody>
      </p:sp>
    </p:spTree>
  </p:cSld>
  <p:clrMapOvr>
    <a:masterClrMapping/>
  </p:clrMapOvr>
</p:sld>
</file>

<file path=ppt/slides/slide3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073 · 生物安全柜的清洁与废物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收尾也要照规程：风机一直开着</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073 生物安全柜的清洁与废物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工作结束，物品和柜子都要去污</a:t>
            </a:r>
          </a:p>
          <a:p>
            <a:pPr>
              <a:spcAft>
                <a:spcPts val="1000"/>
              </a:spcAft>
            </a:pPr>
            <a:r>
              <a:rPr sz="2000">
                <a:solidFill>
                  <a:srgbClr val="222B33"/>
                </a:solidFill>
                <a:latin typeface="Microsoft YaHei"/>
              </a:rPr>
              <a:t>▪ 清理全过程风机一直开着</a:t>
            </a:r>
          </a:p>
          <a:p>
            <a:pPr>
              <a:spcAft>
                <a:spcPts val="1000"/>
              </a:spcAft>
            </a:pPr>
            <a:r>
              <a:rPr sz="2000">
                <a:solidFill>
                  <a:srgbClr val="222B33"/>
                </a:solidFill>
                <a:latin typeface="Microsoft YaHei"/>
              </a:rPr>
              <a:t>▪ 气流在，防护才在，别急着关</a:t>
            </a:r>
          </a:p>
          <a:p>
            <a:pPr>
              <a:spcAft>
                <a:spcPts val="1000"/>
              </a:spcAft>
            </a:pPr>
            <a:r>
              <a:rPr sz="2000">
                <a:solidFill>
                  <a:srgbClr val="222B33"/>
                </a:solidFill>
                <a:latin typeface="Microsoft YaHei"/>
              </a:rPr>
              <a:t>▪ 废物、去污、溢洒都写进规程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在生物安全柜里做完实验并不等于结束：柜里的物品要去污，柜子本身也要去污，收尾和开工一样要照规程来。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做完实验先关风机再收拾</a:t>
            </a:r>
          </a:p>
          <a:p>
            <a:pPr>
              <a:spcAft>
                <a:spcPts val="1000"/>
              </a:spcAft>
            </a:pPr>
            <a:r>
              <a:rPr sz="1500">
                <a:solidFill>
                  <a:srgbClr val="222B33"/>
                </a:solidFill>
                <a:latin typeface="Microsoft YaHei"/>
              </a:rPr>
              <a:t>▪ 收尾凭习惯，没有规程</a:t>
            </a:r>
          </a:p>
        </p:txBody>
      </p:sp>
    </p:spTree>
  </p:cSld>
  <p:clrMapOvr>
    <a:masterClrMapping/>
  </p:clrMapOvr>
</p:sld>
</file>

<file path=ppt/slides/slide3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073 · 生物安全柜的清洁与废物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盖好容器，物品由轻到重消毒</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073 生物安全柜的清洁与废物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第一步：所有容器都盖好</a:t>
            </a:r>
          </a:p>
          <a:p>
            <a:pPr>
              <a:spcAft>
                <a:spcPts val="1000"/>
              </a:spcAft>
            </a:pPr>
            <a:r>
              <a:rPr sz="2000">
                <a:solidFill>
                  <a:srgbClr val="222B33"/>
                </a:solidFill>
                <a:latin typeface="Microsoft YaHei"/>
              </a:rPr>
              <a:t>▪ 用开工时同一种指定消毒剂</a:t>
            </a:r>
          </a:p>
          <a:p>
            <a:pPr>
              <a:spcAft>
                <a:spcPts val="1000"/>
              </a:spcAft>
            </a:pPr>
            <a:r>
              <a:rPr sz="2000">
                <a:solidFill>
                  <a:srgbClr val="222B33"/>
                </a:solidFill>
                <a:latin typeface="Microsoft YaHei"/>
              </a:rPr>
              <a:t>▪ 从污染最轻的物品擦起，由轻到重</a:t>
            </a:r>
          </a:p>
          <a:p>
            <a:pPr>
              <a:spcAft>
                <a:spcPts val="1000"/>
              </a:spcAft>
            </a:pPr>
            <a:r>
              <a:rPr sz="2000">
                <a:solidFill>
                  <a:srgbClr val="222B33"/>
                </a:solidFill>
                <a:latin typeface="Microsoft YaHei"/>
              </a:rPr>
              <a:t>▪ 保持湿润够时间，再擦干放清洁侧</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收尾第一步：把所有样品管、培养皿、试剂瓶等容器盖好、拧紧。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容器没盖好就开始擦拭</a:t>
            </a:r>
          </a:p>
          <a:p>
            <a:pPr>
              <a:spcAft>
                <a:spcPts val="1000"/>
              </a:spcAft>
            </a:pPr>
            <a:r>
              <a:rPr sz="1500">
                <a:solidFill>
                  <a:srgbClr val="222B33"/>
                </a:solidFill>
                <a:latin typeface="Microsoft YaHei"/>
              </a:rPr>
              <a:t>▪ 擦一下马上擦干，作用时间不够</a:t>
            </a:r>
          </a:p>
        </p:txBody>
      </p:sp>
    </p:spTree>
  </p:cSld>
  <p:clrMapOvr>
    <a:masterClrMapping/>
  </p:clrMapOvr>
</p:sld>
</file>

<file path=ppt/slides/slide3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073 · 生物安全柜的清洁与废物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样品出柜：外表去污或装二级容器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073 生物安全柜的清洁与废物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样品出柜前外表面要去污</a:t>
            </a:r>
          </a:p>
          <a:p>
            <a:pPr>
              <a:spcAft>
                <a:spcPts val="1000"/>
              </a:spcAft>
            </a:pPr>
            <a:r>
              <a:rPr sz="2000">
                <a:solidFill>
                  <a:srgbClr val="222B33"/>
                </a:solidFill>
                <a:latin typeface="Microsoft YaHei"/>
              </a:rPr>
              <a:t>▪ 或装进外表去污过的二级容器</a:t>
            </a:r>
          </a:p>
          <a:p>
            <a:pPr>
              <a:spcAft>
                <a:spcPts val="1000"/>
              </a:spcAft>
            </a:pPr>
            <a:r>
              <a:rPr sz="2000">
                <a:solidFill>
                  <a:srgbClr val="222B33"/>
                </a:solidFill>
                <a:latin typeface="Microsoft YaHei"/>
              </a:rPr>
              <a:t>▪ 其余要拿出的东西移到推车上</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样品要拿出生物安全柜时，容器外表面必须先去污；也可以把样品放进带盖、外表面已去污的二级容器（如密封盒）里再拿出，转运途中万一破损，液体也不会漏出来（样品转运见第 080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样品管外表不擦直接拿出柜外</a:t>
            </a:r>
          </a:p>
          <a:p>
            <a:pPr>
              <a:spcAft>
                <a:spcPts val="1000"/>
              </a:spcAft>
            </a:pPr>
            <a:r>
              <a:rPr sz="1500">
                <a:solidFill>
                  <a:srgbClr val="222B33"/>
                </a:solidFill>
                <a:latin typeface="Microsoft YaHei"/>
              </a:rPr>
              <a:t>▪ 用敞口的盒子转运样品</a:t>
            </a:r>
          </a:p>
        </p:txBody>
      </p:sp>
    </p:spTree>
  </p:cSld>
  <p:clrMapOvr>
    <a:masterClrMapping/>
  </p:clrMapOvr>
</p:sld>
</file>

<file path=ppt/slides/slide3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073 · 生物安全柜的清洁与废物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吸水垫向内折，柜内表面再擦一遍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073 生物安全柜的清洁与废物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吸水垫抓外角向内折，脏面朝里</a:t>
            </a:r>
          </a:p>
          <a:p>
            <a:pPr>
              <a:spcAft>
                <a:spcPts val="1000"/>
              </a:spcAft>
            </a:pPr>
            <a:r>
              <a:rPr sz="2000">
                <a:solidFill>
                  <a:srgbClr val="222B33"/>
                </a:solidFill>
                <a:latin typeface="Microsoft YaHei"/>
              </a:rPr>
              <a:t>▪ 折好丢进柜内废物袋</a:t>
            </a:r>
          </a:p>
          <a:p>
            <a:pPr>
              <a:spcAft>
                <a:spcPts val="1000"/>
              </a:spcAft>
            </a:pPr>
            <a:r>
              <a:rPr sz="2000">
                <a:solidFill>
                  <a:srgbClr val="222B33"/>
                </a:solidFill>
                <a:latin typeface="Microsoft YaHei"/>
              </a:rPr>
              <a:t>▪ 清空后侧壁、后壁、前窗内侧都擦</a:t>
            </a:r>
          </a:p>
          <a:p>
            <a:pPr>
              <a:spcAft>
                <a:spcPts val="1000"/>
              </a:spcAft>
            </a:pPr>
            <a:r>
              <a:rPr sz="2000">
                <a:solidFill>
                  <a:srgbClr val="222B33"/>
                </a:solidFill>
                <a:latin typeface="Microsoft YaHei"/>
              </a:rPr>
              <a:t>▪ 用湿巾擦，不在柜内喷雾</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用过的吸水垫，抓住外侧的角向内折叠，把污染的一面包在里面，再丢进柜内的废物袋，避免抖动扬起污染。</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把吸水垫抖开或团成一团塞进袋</a:t>
            </a:r>
          </a:p>
          <a:p>
            <a:pPr>
              <a:spcAft>
                <a:spcPts val="1000"/>
              </a:spcAft>
            </a:pPr>
            <a:r>
              <a:rPr sz="1500">
                <a:solidFill>
                  <a:srgbClr val="222B33"/>
                </a:solidFill>
                <a:latin typeface="Microsoft YaHei"/>
              </a:rPr>
              <a:t>▪ 只擦台面，不擦侧壁和前窗内侧</a:t>
            </a:r>
          </a:p>
        </p:txBody>
      </p:sp>
    </p:spTree>
  </p:cSld>
  <p:clrMapOvr>
    <a:masterClrMapping/>
  </p:clrMapOvr>
</p:sld>
</file>

<file path=ppt/slides/slide3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073 · 生物安全柜的清洁与废物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柜内废物容器：开工前备好，吸头当锐器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073 生物安全柜的清洁与废物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收尾从开工就开始：桶套两层袋</a:t>
            </a:r>
          </a:p>
          <a:p>
            <a:pPr>
              <a:spcAft>
                <a:spcPts val="1000"/>
              </a:spcAft>
            </a:pPr>
            <a:r>
              <a:rPr sz="2000">
                <a:solidFill>
                  <a:srgbClr val="222B33"/>
                </a:solidFill>
                <a:latin typeface="Microsoft YaHei"/>
              </a:rPr>
              <a:t>▪ 用过的吸头也按锐器对待</a:t>
            </a:r>
          </a:p>
          <a:p>
            <a:pPr>
              <a:spcAft>
                <a:spcPts val="1000"/>
              </a:spcAft>
            </a:pPr>
            <a:r>
              <a:rPr sz="2000">
                <a:solidFill>
                  <a:srgbClr val="222B33"/>
                </a:solidFill>
                <a:latin typeface="Microsoft YaHei"/>
              </a:rPr>
              <a:t>▪ 按规程容器里可先加消毒液</a:t>
            </a:r>
          </a:p>
          <a:p>
            <a:pPr>
              <a:spcAft>
                <a:spcPts val="1000"/>
              </a:spcAft>
            </a:pPr>
            <a:r>
              <a:rPr sz="2000">
                <a:solidFill>
                  <a:srgbClr val="222B33"/>
                </a:solidFill>
                <a:latin typeface="Microsoft YaHei"/>
              </a:rPr>
              <a:t>▪ 乙醇易挥发易燃，不宜当浸泡液</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废物处理从开工前就开始了：柜内废物桶（或废物容器）先套好两层耐高压的生物危害废物袋，消毒剂放在手边。柜内产生的废物都放进这只套袋容器里，先消毒再按规定带出处置。</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开工后才找废物袋</a:t>
            </a:r>
          </a:p>
          <a:p>
            <a:pPr>
              <a:spcAft>
                <a:spcPts val="1000"/>
              </a:spcAft>
            </a:pPr>
            <a:r>
              <a:rPr sz="1500">
                <a:solidFill>
                  <a:srgbClr val="222B33"/>
                </a:solidFill>
                <a:latin typeface="Microsoft YaHei"/>
              </a:rPr>
              <a:t>▪ 用过的吸头随手放在台面上</a:t>
            </a:r>
          </a:p>
        </p:txBody>
      </p:sp>
    </p:spTree>
  </p:cSld>
  <p:clrMapOvr>
    <a:masterClrMapping/>
  </p:clrMapOvr>
</p:sld>
</file>

<file path=ppt/slides/slide3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073 · 生物安全柜的清洁与废物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不超过四分之三就封口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073 生物安全柜的清洁与废物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废物装到四分之三前就封口</a:t>
            </a:r>
          </a:p>
          <a:p>
            <a:pPr>
              <a:spcAft>
                <a:spcPts val="1000"/>
              </a:spcAft>
            </a:pPr>
            <a:r>
              <a:rPr sz="2000">
                <a:solidFill>
                  <a:srgbClr val="222B33"/>
                </a:solidFill>
                <a:latin typeface="Microsoft YaHei"/>
              </a:rPr>
              <a:t>▪ 别装满，更别用手往下压</a:t>
            </a:r>
          </a:p>
          <a:p>
            <a:pPr>
              <a:spcAft>
                <a:spcPts val="1000"/>
              </a:spcAft>
            </a:pPr>
            <a:r>
              <a:rPr sz="2000">
                <a:solidFill>
                  <a:srgbClr val="222B33"/>
                </a:solidFill>
                <a:latin typeface="Microsoft YaHei"/>
              </a:rPr>
              <a:t>▪ 封口后盖紧，外表消毒</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柜内废物袋（桶）不要装满，装到约四分之三时就要封口（本单位规定更严的从其规定），留出扎口的余量，也避免锐器顶破袋子。</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装满冒尖才封口</a:t>
            </a:r>
          </a:p>
          <a:p>
            <a:pPr>
              <a:spcAft>
                <a:spcPts val="1000"/>
              </a:spcAft>
            </a:pPr>
            <a:r>
              <a:rPr sz="1500">
                <a:solidFill>
                  <a:srgbClr val="222B33"/>
                </a:solidFill>
                <a:latin typeface="Microsoft YaHei"/>
              </a:rPr>
              <a:t>▪ 用手压实废物</a:t>
            </a:r>
          </a:p>
        </p:txBody>
      </p:sp>
    </p:spTree>
  </p:cSld>
  <p:clrMapOvr>
    <a:masterClrMapping/>
  </p:clrMapOvr>
</p:sld>
</file>

<file path=ppt/slides/slide3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073 · 生物安全柜的清洁与废物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废物在柜内装双层袋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073 生物安全柜的清洁与废物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废物在柜里装好袋再拿出来</a:t>
            </a:r>
          </a:p>
          <a:p>
            <a:pPr>
              <a:spcAft>
                <a:spcPts val="1000"/>
              </a:spcAft>
            </a:pPr>
            <a:r>
              <a:rPr sz="2000">
                <a:solidFill>
                  <a:srgbClr val="222B33"/>
                </a:solidFill>
                <a:latin typeface="Microsoft YaHei"/>
              </a:rPr>
              <a:t>▪ 两层袋，一层破了还有一层兜着</a:t>
            </a:r>
          </a:p>
          <a:p>
            <a:pPr>
              <a:spcAft>
                <a:spcPts val="1000"/>
              </a:spcAft>
            </a:pPr>
            <a:r>
              <a:rPr sz="2000">
                <a:solidFill>
                  <a:srgbClr val="222B33"/>
                </a:solidFill>
                <a:latin typeface="Microsoft YaHei"/>
              </a:rPr>
              <a:t>▪ 收口前先消毒手套和容器外面</a:t>
            </a:r>
          </a:p>
          <a:p>
            <a:pPr>
              <a:spcAft>
                <a:spcPts val="1000"/>
              </a:spcAft>
            </a:pPr>
            <a:r>
              <a:rPr sz="2000">
                <a:solidFill>
                  <a:srgbClr val="222B33"/>
                </a:solidFill>
                <a:latin typeface="Microsoft YaHei"/>
              </a:rPr>
              <a:t>▪ 收口前往内袋加少量消毒剂</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柜内的感染性废物要在柜里装袋、封口后再拿出来：柜内有气流保护，封口时扬起的污染不会外跑。</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把敞口废物袋拿出柜外再扎</a:t>
            </a:r>
          </a:p>
          <a:p>
            <a:pPr>
              <a:spcAft>
                <a:spcPts val="1000"/>
              </a:spcAft>
            </a:pPr>
            <a:r>
              <a:rPr sz="1500">
                <a:solidFill>
                  <a:srgbClr val="222B33"/>
                </a:solidFill>
                <a:latin typeface="Microsoft YaHei"/>
              </a:rPr>
              <a:t>▪ 只用一层袋</a:t>
            </a:r>
          </a:p>
        </p:txBody>
      </p:sp>
    </p:spTree>
  </p:cSld>
  <p:clrMapOvr>
    <a:masterClrMapping/>
  </p:clrMapOvr>
</p:sld>
</file>

<file path=ppt/slides/slide3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073 · 生物安全柜的清洁与废物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内袋扎紧补消毒，外袋包住再扎</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073 生物安全柜的清洁与废物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内袋口轻轻收拢拧成一股</a:t>
            </a:r>
          </a:p>
          <a:p>
            <a:pPr>
              <a:spcAft>
                <a:spcPts val="1000"/>
              </a:spcAft>
            </a:pPr>
            <a:r>
              <a:rPr sz="2000">
                <a:solidFill>
                  <a:srgbClr val="222B33"/>
                </a:solidFill>
                <a:latin typeface="Microsoft YaHei"/>
              </a:rPr>
              <a:t>▪ 别挤袋子，空气会带出气溶胶</a:t>
            </a:r>
          </a:p>
          <a:p>
            <a:pPr>
              <a:spcAft>
                <a:spcPts val="1000"/>
              </a:spcAft>
            </a:pPr>
            <a:r>
              <a:rPr sz="2000">
                <a:solidFill>
                  <a:srgbClr val="222B33"/>
                </a:solidFill>
                <a:latin typeface="Microsoft YaHei"/>
              </a:rPr>
              <a:t>▪ 扎带扎住再缠胶带，扎口补消毒</a:t>
            </a:r>
          </a:p>
          <a:p>
            <a:pPr>
              <a:spcAft>
                <a:spcPts val="1000"/>
              </a:spcAft>
            </a:pPr>
            <a:r>
              <a:rPr sz="2000">
                <a:solidFill>
                  <a:srgbClr val="222B33"/>
                </a:solidFill>
                <a:latin typeface="Microsoft YaHei"/>
              </a:rPr>
              <a:t>▪ 翻起外袋包住内袋，同样扎紧</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封内袋：把内袋口轻轻收拢、提起，拧成一股；不要挤压袋子，也不要把袋里的空气挤出来，否则会把气溶胶带出。用扎带扎住，再缠一道胶带。</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用力挤压袋子排气</a:t>
            </a:r>
          </a:p>
          <a:p>
            <a:pPr>
              <a:spcAft>
                <a:spcPts val="1000"/>
              </a:spcAft>
            </a:pPr>
            <a:r>
              <a:rPr sz="1500">
                <a:solidFill>
                  <a:srgbClr val="222B33"/>
                </a:solidFill>
                <a:latin typeface="Microsoft YaHei"/>
              </a:rPr>
              <a:t>▪ 只扎内袋，外袋敞着</a:t>
            </a:r>
          </a:p>
        </p:txBody>
      </p:sp>
    </p:spTree>
  </p:cSld>
  <p:clrMapOvr>
    <a:masterClrMapping/>
  </p:clrMapOvr>
</p:sld>
</file>

<file path=ppt/slides/slide3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073 · 生物安全柜的清洁与废物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袋子破了：柜内加套，不拿出去</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073 生物安全柜的清洁与废物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袋子破了渗漏，先停下</a:t>
            </a:r>
          </a:p>
          <a:p>
            <a:pPr>
              <a:spcAft>
                <a:spcPts val="1000"/>
              </a:spcAft>
            </a:pPr>
            <a:r>
              <a:rPr sz="2000">
                <a:solidFill>
                  <a:srgbClr val="222B33"/>
                </a:solidFill>
                <a:latin typeface="Microsoft YaHei"/>
              </a:rPr>
              <a:t>▪ 别拿出柜外，在柜内再套一只新袋</a:t>
            </a:r>
          </a:p>
          <a:p>
            <a:pPr>
              <a:spcAft>
                <a:spcPts val="1000"/>
              </a:spcAft>
            </a:pPr>
            <a:r>
              <a:rPr sz="2000">
                <a:solidFill>
                  <a:srgbClr val="222B33"/>
                </a:solidFill>
                <a:latin typeface="Microsoft YaHei"/>
              </a:rPr>
              <a:t>▪ 漏液盖纸巾加消毒剂，手套脏了就换</a:t>
            </a:r>
          </a:p>
          <a:p>
            <a:pPr>
              <a:spcAft>
                <a:spcPts val="1000"/>
              </a:spcAft>
            </a:pPr>
            <a:r>
              <a:rPr sz="2000">
                <a:solidFill>
                  <a:srgbClr val="222B33"/>
                </a:solidFill>
                <a:latin typeface="Microsoft YaHei"/>
              </a:rPr>
              <a:t>▪ 处理完报告负责人并记录</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装袋时发现袋子破了或渗漏，先停下来，不要把它拿出柜外。在柜内外面再套一只新袋，扎紧。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拎着破袋往柜外跑</a:t>
            </a:r>
          </a:p>
          <a:p>
            <a:pPr>
              <a:spcAft>
                <a:spcPts val="1000"/>
              </a:spcAft>
            </a:pPr>
            <a:r>
              <a:rPr sz="1500">
                <a:solidFill>
                  <a:srgbClr val="222B33"/>
                </a:solidFill>
                <a:latin typeface="Microsoft YaHei"/>
              </a:rPr>
              <a:t>▪ 处理完不报告、不记录</a:t>
            </a:r>
          </a:p>
        </p:txBody>
      </p:sp>
    </p:spTree>
  </p:cSld>
  <p:clrMapOvr>
    <a:masterClrMapping/>
  </p:clrMapOvr>
</p:sld>
</file>

<file path=ppt/slides/slide3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073 · 生物安全柜的清洁与废物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外表消毒、换手套，再移出柜外</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073 生物安全柜的清洁与废物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双层袋提出，用耐高压的专用袋</a:t>
            </a:r>
          </a:p>
          <a:p>
            <a:pPr>
              <a:spcAft>
                <a:spcPts val="1000"/>
              </a:spcAft>
            </a:pPr>
            <a:r>
              <a:rPr sz="2000">
                <a:solidFill>
                  <a:srgbClr val="222B33"/>
                </a:solidFill>
                <a:latin typeface="Microsoft YaHei"/>
              </a:rPr>
              <a:t>▪ 袋子外面、空桶外壁都消毒</a:t>
            </a:r>
          </a:p>
          <a:p>
            <a:pPr>
              <a:spcAft>
                <a:spcPts val="1000"/>
              </a:spcAft>
            </a:pPr>
            <a:r>
              <a:rPr sz="2000">
                <a:solidFill>
                  <a:srgbClr val="222B33"/>
                </a:solidFill>
                <a:latin typeface="Microsoft YaHei"/>
              </a:rPr>
              <a:t>▪ 柜内脱外层手套，换干净手套</a:t>
            </a:r>
          </a:p>
          <a:p>
            <a:pPr>
              <a:spcAft>
                <a:spcPts val="1000"/>
              </a:spcAft>
            </a:pPr>
            <a:r>
              <a:rPr sz="2000">
                <a:solidFill>
                  <a:srgbClr val="222B33"/>
                </a:solidFill>
                <a:latin typeface="Microsoft YaHei"/>
              </a:rPr>
              <a:t>▪ 放进柜外废物盘，一起移走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把扎好的双层废物袋从桶里提出来；袋子应耐高压灭菌，印有生物危害标志。袋子外表面、用过的废物盘和空桶外壁都擦上消毒剂，等够作用时间再擦干净。</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不消毒袋子外表就拿出柜外</a:t>
            </a:r>
          </a:p>
          <a:p>
            <a:pPr>
              <a:spcAft>
                <a:spcPts val="1000"/>
              </a:spcAft>
            </a:pPr>
            <a:r>
              <a:rPr sz="1500">
                <a:solidFill>
                  <a:srgbClr val="222B33"/>
                </a:solidFill>
                <a:latin typeface="Microsoft YaHei"/>
              </a:rPr>
              <a:t>▪ 戴着脏手套拎袋出柜</a:t>
            </a:r>
          </a:p>
        </p:txBody>
      </p:sp>
    </p:spTree>
  </p:cSld>
  <p:clrMapOvr>
    <a:masterClrMapping/>
  </p:clrMapOvr>
</p:sld>
</file>

<file path=ppt/slides/slide3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073 · 生物安全柜的清洁与废物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送去灭菌：袋口按灭菌规程处理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073 生物安全柜的清洁与废物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柜内废物按规程送去灭菌</a:t>
            </a:r>
          </a:p>
          <a:p>
            <a:pPr>
              <a:spcAft>
                <a:spcPts val="1000"/>
              </a:spcAft>
            </a:pPr>
            <a:r>
              <a:rPr sz="2000">
                <a:solidFill>
                  <a:srgbClr val="222B33"/>
                </a:solidFill>
                <a:latin typeface="Microsoft YaHei"/>
              </a:rPr>
              <a:t>▪ 扎得太死，蒸汽进不去可能灭不透</a:t>
            </a:r>
          </a:p>
          <a:p>
            <a:pPr>
              <a:spcAft>
                <a:spcPts val="1000"/>
              </a:spcAft>
            </a:pPr>
            <a:r>
              <a:rPr sz="2000">
                <a:solidFill>
                  <a:srgbClr val="222B33"/>
                </a:solidFill>
                <a:latin typeface="Microsoft YaHei"/>
              </a:rPr>
              <a:t>▪ 加不加水、怎么松口按灭菌规程</a:t>
            </a:r>
          </a:p>
          <a:p>
            <a:pPr>
              <a:spcAft>
                <a:spcPts val="1000"/>
              </a:spcAft>
            </a:pPr>
            <a:r>
              <a:rPr sz="2000">
                <a:solidFill>
                  <a:srgbClr val="222B33"/>
                </a:solidFill>
                <a:latin typeface="Microsoft YaHei"/>
              </a:rPr>
              <a:t>▪ 灭菌后按医疗废物交接处置</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移出的废物袋按规程送到指定地点进行高压蒸汽灭菌。高压灭菌靠蒸汽穿透，袋口扎得太死，蒸汽进不去，袋子中心可能灭不透；因此是否向袋内加适量水、进灭菌器前袋口怎样放松，都按本单位灭菌规程执行（灭菌原理和验证见第 076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扎死的袋子直接灭菌，不按规程处理</a:t>
            </a:r>
          </a:p>
          <a:p>
            <a:pPr>
              <a:spcAft>
                <a:spcPts val="1000"/>
              </a:spcAft>
            </a:pPr>
            <a:r>
              <a:rPr sz="1500">
                <a:solidFill>
                  <a:srgbClr val="222B33"/>
                </a:solidFill>
                <a:latin typeface="Microsoft YaHei"/>
              </a:rPr>
              <a:t>▪ 灭菌后当生活垃圾丢弃</a:t>
            </a:r>
          </a:p>
        </p:txBody>
      </p:sp>
    </p:spTree>
  </p:cSld>
  <p:clrMapOvr>
    <a:masterClrMapping/>
  </p:clrMapOvr>
</p:sld>
</file>

<file path=ppt/slides/slide3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073 · 生物安全柜的清洁与废物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风机再运行，关灯关窗，签登记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073 生物安全柜的清洁与废物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清理完风机再运行一会儿换净空气</a:t>
            </a:r>
          </a:p>
          <a:p>
            <a:pPr>
              <a:spcAft>
                <a:spcPts val="1000"/>
              </a:spcAft>
            </a:pPr>
            <a:r>
              <a:rPr sz="2000">
                <a:solidFill>
                  <a:srgbClr val="222B33"/>
                </a:solidFill>
                <a:latin typeface="Microsoft YaHei"/>
              </a:rPr>
              <a:t>▪ 然后关灯、关风机，最后关前窗</a:t>
            </a:r>
          </a:p>
          <a:p>
            <a:pPr>
              <a:spcAft>
                <a:spcPts val="1000"/>
              </a:spcAft>
            </a:pPr>
            <a:r>
              <a:rPr sz="2000">
                <a:solidFill>
                  <a:srgbClr val="222B33"/>
                </a:solidFill>
                <a:latin typeface="Microsoft YaHei"/>
              </a:rPr>
              <a:t>▪ 风机常开的只关灯，前窗不关</a:t>
            </a:r>
          </a:p>
          <a:p>
            <a:pPr>
              <a:spcAft>
                <a:spcPts val="1000"/>
              </a:spcAft>
            </a:pPr>
            <a:r>
              <a:rPr sz="2000">
                <a:solidFill>
                  <a:srgbClr val="222B33"/>
                </a:solidFill>
                <a:latin typeface="Microsoft YaHei"/>
              </a:rPr>
              <a:t>▪ 紫外灯只作辅助；有登记的要签字</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清理完毕，柜里只留必需的东西，不要马上关机：让风机再运行一段时间（按本柜规程），把柜内空气换净。然后关照明、关风机，最后把前窗关好。</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擦完立即关风机</a:t>
            </a:r>
          </a:p>
          <a:p>
            <a:pPr>
              <a:spcAft>
                <a:spcPts val="1000"/>
              </a:spcAft>
            </a:pPr>
            <a:r>
              <a:rPr sz="1500">
                <a:solidFill>
                  <a:srgbClr val="222B33"/>
                </a:solidFill>
                <a:latin typeface="Microsoft YaHei"/>
              </a:rPr>
              <a:t>▪ 用紫外灯照射代替擦拭消毒</a:t>
            </a:r>
          </a:p>
        </p:txBody>
      </p:sp>
    </p:spTree>
  </p:cSld>
  <p:clrMapOvr>
    <a:masterClrMapping/>
  </p:clrMapOvr>
</p:sld>
</file>

<file path=ppt/slides/slide3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073 · 生物安全柜的清洁与废物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定期检测认证，维护职责分明</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073 生物安全柜的清洁与废物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每台柜子都要定期检测认证</a:t>
            </a:r>
          </a:p>
          <a:p>
            <a:pPr>
              <a:spcAft>
                <a:spcPts val="1000"/>
              </a:spcAft>
            </a:pPr>
            <a:r>
              <a:rPr sz="2000">
                <a:solidFill>
                  <a:srgbClr val="222B33"/>
                </a:solidFill>
                <a:latin typeface="Microsoft YaHei"/>
              </a:rPr>
              <a:t>▪ 新装、搬动后和到期都要检测</a:t>
            </a:r>
          </a:p>
          <a:p>
            <a:pPr>
              <a:spcAft>
                <a:spcPts val="1000"/>
              </a:spcAft>
            </a:pPr>
            <a:r>
              <a:rPr sz="2000">
                <a:solidFill>
                  <a:srgbClr val="222B33"/>
                </a:solidFill>
                <a:latin typeface="Microsoft YaHei"/>
              </a:rPr>
              <a:t>▪ 检测过期的柜子停用</a:t>
            </a:r>
          </a:p>
          <a:p>
            <a:pPr>
              <a:spcAft>
                <a:spcPts val="1000"/>
              </a:spcAft>
            </a:pPr>
            <a:r>
              <a:rPr sz="2000">
                <a:solidFill>
                  <a:srgbClr val="222B33"/>
                </a:solidFill>
                <a:latin typeface="Microsoft YaHei"/>
              </a:rPr>
              <a:t>▪ 维修、换过滤器找专业人员</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每台生物安全柜都要按国家标准和本校规定定期检测认证，由有资质的机构进行；新安装的、搬动过的柜子也要先检测合格、贴好标签再用。检测合格标签过期的柜子先停用，报告设备管理人员安排检测。</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柜子搬动后不检测直接使用</a:t>
            </a:r>
          </a:p>
          <a:p>
            <a:pPr>
              <a:spcAft>
                <a:spcPts val="1000"/>
              </a:spcAft>
            </a:pPr>
            <a:r>
              <a:rPr sz="1500">
                <a:solidFill>
                  <a:srgbClr val="222B33"/>
                </a:solidFill>
                <a:latin typeface="Microsoft YaHei"/>
              </a:rPr>
              <a:t>▪ 自行拆开柜体更换过滤器</a:t>
            </a:r>
          </a:p>
        </p:txBody>
      </p:sp>
    </p:spTree>
  </p:cSld>
  <p:clrMapOvr>
    <a:masterClrMapping/>
  </p:clrMapOvr>
</p:sld>
</file>

<file path=ppt/slides/slide3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073 · 生物安全柜的清洁与废物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073 生物安全柜的清洁与废物</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生物安全柜内工作结束后，下列做法正确的是：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先关风机再收拾</a:t>
            </a:r>
          </a:p>
          <a:p>
            <a:pPr algn="l"/>
            <a:r>
              <a:rPr sz="1500" b="0">
                <a:solidFill>
                  <a:srgbClr val="222B33"/>
                </a:solidFill>
                <a:latin typeface="Microsoft YaHei"/>
              </a:rPr>
              <a:t>B. 风机开着，盖好容器，从污染最轻的物品开始擦拭消毒</a:t>
            </a:r>
          </a:p>
          <a:p>
            <a:pPr algn="l"/>
            <a:r>
              <a:rPr sz="1500" b="0">
                <a:solidFill>
                  <a:srgbClr val="222B33"/>
                </a:solidFill>
                <a:latin typeface="Microsoft YaHei"/>
              </a:rPr>
              <a:t>C. 对着柜内大面积喷雾</a:t>
            </a:r>
          </a:p>
          <a:p>
            <a:pPr algn="l"/>
            <a:r>
              <a:rPr sz="1500" b="0">
                <a:solidFill>
                  <a:srgbClr val="222B33"/>
                </a:solidFill>
                <a:latin typeface="Microsoft YaHei"/>
              </a:rPr>
              <a:t>D. 用紫外灯照射代替擦拭</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判断：柜内废物袋装满后用手压实，可以多装一些再封口。</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3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073 · 生物安全柜的清洁与废物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073 生物安全柜的清洁与废物</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双层装袋时封内袋的正确做法是：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用力挤出袋内空气再扎紧</a:t>
            </a:r>
          </a:p>
          <a:p>
            <a:pPr algn="l"/>
            <a:r>
              <a:rPr sz="1500" b="0">
                <a:solidFill>
                  <a:srgbClr val="222B33"/>
                </a:solidFill>
                <a:latin typeface="Microsoft YaHei"/>
              </a:rPr>
              <a:t>B. 袋口轻轻收拢拧成一股，扎带扎住再缠胶带，扎口补消毒</a:t>
            </a:r>
          </a:p>
          <a:p>
            <a:pPr algn="l"/>
            <a:r>
              <a:rPr sz="1500" b="0">
                <a:solidFill>
                  <a:srgbClr val="222B33"/>
                </a:solidFill>
                <a:latin typeface="Microsoft YaHei"/>
              </a:rPr>
              <a:t>C. 把敞口袋拿出柜外再扎</a:t>
            </a:r>
          </a:p>
          <a:p>
            <a:pPr algn="l"/>
            <a:r>
              <a:rPr sz="1500" b="0">
                <a:solidFill>
                  <a:srgbClr val="222B33"/>
                </a:solidFill>
                <a:latin typeface="Microsoft YaHei"/>
              </a:rPr>
              <a:t>D. 只扎外袋</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装袋时发现废物袋破损渗漏，应该：</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赶紧拿出柜外</a:t>
            </a:r>
          </a:p>
          <a:p>
            <a:pPr algn="l"/>
            <a:r>
              <a:rPr sz="1500" b="0">
                <a:solidFill>
                  <a:srgbClr val="222B33"/>
                </a:solidFill>
                <a:latin typeface="Microsoft YaHei"/>
              </a:rPr>
              <a:t>B. 停下，在柜内外面再套一只新袋扎紧，漏液盖纸巾加消毒剂，换手套，报告并记录</a:t>
            </a:r>
          </a:p>
          <a:p>
            <a:pPr algn="l"/>
            <a:r>
              <a:rPr sz="1500" b="0">
                <a:solidFill>
                  <a:srgbClr val="222B33"/>
                </a:solidFill>
                <a:latin typeface="Microsoft YaHei"/>
              </a:rPr>
              <a:t>C. 继续装完再说</a:t>
            </a:r>
          </a:p>
          <a:p>
            <a:pPr algn="l"/>
            <a:r>
              <a:rPr sz="1500" b="0">
                <a:solidFill>
                  <a:srgbClr val="222B33"/>
                </a:solidFill>
                <a:latin typeface="Microsoft YaHei"/>
              </a:rPr>
              <a:t>D. 用胶带随便粘一下</a:t>
            </a:r>
          </a:p>
        </p:txBody>
      </p:sp>
    </p:spTree>
  </p:cSld>
  <p:clrMapOvr>
    <a:masterClrMapping/>
  </p:clrMapOvr>
</p:sld>
</file>

<file path=ppt/slides/slide3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073 · 生物安全柜的清洁与废物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073 生物安全柜的清洁与废物</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判断：生物安全柜搬动位置后，只要能开机就可以继续使用。</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简答：柜内废物袋移出柜外前要做哪些事？</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383.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收尾也要照规程：风机一直开着</a:t>
            </a:r>
          </a:p>
          <a:p>
            <a:pPr>
              <a:spcAft>
                <a:spcPts val="800"/>
              </a:spcAft>
            </a:pPr>
            <a:r>
              <a:rPr sz="1500">
                <a:solidFill>
                  <a:srgbClr val="FFFFFF"/>
                </a:solidFill>
                <a:latin typeface="Microsoft YaHei"/>
              </a:rPr>
              <a:t>▪ K2  盖好容器，物品由轻到重消毒</a:t>
            </a:r>
          </a:p>
          <a:p>
            <a:pPr>
              <a:spcAft>
                <a:spcPts val="800"/>
              </a:spcAft>
            </a:pPr>
            <a:r>
              <a:rPr sz="1500">
                <a:solidFill>
                  <a:srgbClr val="FFFFFF"/>
                </a:solidFill>
                <a:latin typeface="Microsoft YaHei"/>
              </a:rPr>
              <a:t>▪ K3  样品出柜：外表去污或装二级容器</a:t>
            </a:r>
          </a:p>
          <a:p>
            <a:pPr>
              <a:spcAft>
                <a:spcPts val="800"/>
              </a:spcAft>
            </a:pPr>
            <a:r>
              <a:rPr sz="1500">
                <a:solidFill>
                  <a:srgbClr val="FFFFFF"/>
                </a:solidFill>
                <a:latin typeface="Microsoft YaHei"/>
              </a:rPr>
              <a:t>▪ K4  吸水垫向内折，柜内表面再擦一遍</a:t>
            </a:r>
          </a:p>
          <a:p>
            <a:pPr>
              <a:spcAft>
                <a:spcPts val="800"/>
              </a:spcAft>
            </a:pPr>
            <a:r>
              <a:rPr sz="1500">
                <a:solidFill>
                  <a:srgbClr val="FFFFFF"/>
                </a:solidFill>
                <a:latin typeface="Microsoft YaHei"/>
              </a:rPr>
              <a:t>▪ K5  柜内废物容器：开工前备好，吸头当锐器</a:t>
            </a:r>
          </a:p>
          <a:p>
            <a:pPr>
              <a:spcAft>
                <a:spcPts val="800"/>
              </a:spcAft>
            </a:pPr>
            <a:r>
              <a:rPr sz="1500">
                <a:solidFill>
                  <a:srgbClr val="FFFFFF"/>
                </a:solidFill>
                <a:latin typeface="Microsoft YaHei"/>
              </a:rPr>
              <a:t>▪ K6  不超过四分之三就封口</a:t>
            </a:r>
          </a:p>
          <a:p>
            <a:pPr>
              <a:spcAft>
                <a:spcPts val="800"/>
              </a:spcAft>
            </a:pPr>
            <a:r>
              <a:rPr sz="1500">
                <a:solidFill>
                  <a:srgbClr val="FFFFFF"/>
                </a:solidFill>
                <a:latin typeface="Microsoft YaHei"/>
              </a:rPr>
              <a:t>▪ K7  废物在柜内装双层袋</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K8  内袋扎紧补消毒，外袋包住再扎</a:t>
            </a:r>
          </a:p>
          <a:p>
            <a:pPr>
              <a:spcAft>
                <a:spcPts val="800"/>
              </a:spcAft>
            </a:pPr>
            <a:r>
              <a:rPr sz="1500">
                <a:solidFill>
                  <a:srgbClr val="FFFFFF"/>
                </a:solidFill>
                <a:latin typeface="Microsoft YaHei"/>
              </a:rPr>
              <a:t>▪ K9  袋子破了：柜内加套，不拿出去</a:t>
            </a:r>
          </a:p>
          <a:p>
            <a:pPr>
              <a:spcAft>
                <a:spcPts val="800"/>
              </a:spcAft>
            </a:pPr>
            <a:r>
              <a:rPr sz="1500">
                <a:solidFill>
                  <a:srgbClr val="FFFFFF"/>
                </a:solidFill>
                <a:latin typeface="Microsoft YaHei"/>
              </a:rPr>
              <a:t>▪ K10  外表消毒、换手套，再移出柜外</a:t>
            </a:r>
          </a:p>
          <a:p>
            <a:pPr>
              <a:spcAft>
                <a:spcPts val="800"/>
              </a:spcAft>
            </a:pPr>
            <a:r>
              <a:rPr sz="1500">
                <a:solidFill>
                  <a:srgbClr val="FFFFFF"/>
                </a:solidFill>
                <a:latin typeface="Microsoft YaHei"/>
              </a:rPr>
              <a:t>▪ K11  送去灭菌：袋口按灭菌规程处理</a:t>
            </a:r>
          </a:p>
          <a:p>
            <a:pPr>
              <a:spcAft>
                <a:spcPts val="800"/>
              </a:spcAft>
            </a:pPr>
            <a:r>
              <a:rPr sz="1500">
                <a:solidFill>
                  <a:srgbClr val="FFFFFF"/>
                </a:solidFill>
                <a:latin typeface="Microsoft YaHei"/>
              </a:rPr>
              <a:t>▪ K12  风机再运行，关灯关窗，签登记</a:t>
            </a:r>
          </a:p>
          <a:p>
            <a:pPr>
              <a:spcAft>
                <a:spcPts val="800"/>
              </a:spcAft>
            </a:pPr>
            <a:r>
              <a:rPr sz="1500">
                <a:solidFill>
                  <a:srgbClr val="FFFFFF"/>
                </a:solidFill>
                <a:latin typeface="Microsoft YaHei"/>
              </a:rPr>
              <a:t>▪ K13  定期检测认证，维护职责分明</a:t>
            </a:r>
          </a:p>
        </p:txBody>
      </p:sp>
    </p:spTree>
  </p:cSld>
  <p:clrMapOvr>
    <a:masterClrMapping/>
  </p:clrMapOvr>
</p:sld>
</file>

<file path=ppt/slides/slide384.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074</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生物实验个人防护装备</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5 分钟（卡通视频 60 镜）　适用对象：从事微生物、细胞、临床样本、动物等生物实验的高校本科生、研究生和教职工（必修，进入生物安全实验室前完成）；实验室负责人和生物安全员重点学习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3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074 · 生物实验个人防护装备</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074 生物实验个人防护装备</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能说出个人防护是最后一道防线，防护用品按风险评估选择，从病原类别、侵入途径、具体操作三方面判断。</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能说出生物实验常用防护装备（手套、隔离衣/防护服、医用口罩/医用防护口罩、护目镜、面屏、送风头罩）的作用和局限。</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能做到从头到脚不留缺口：手套盖住袖口，生物材料可戴双层手套，面屏不代替口罩，防护服不出实验室。</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能判断防护用品是否合格可用：符合国家标准、尺码合适、用前检查、在有效期内，一次性用品不重复使用，破损记录上报。</a:t>
            </a:r>
          </a:p>
        </p:txBody>
      </p:sp>
    </p:spTree>
  </p:cSld>
  <p:clrMapOvr>
    <a:masterClrMapping/>
  </p:clrMapOvr>
</p:sld>
</file>

<file path=ppt/slides/slide3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074 · 生物实验个人防护装备</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074 生物实验个人防护装备</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《病原微生物实验室生物安全管理条例》（以现行文本为准）：实验室按生物安全防护级别配备个人防护用品，从业人员接受培训</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生物安全通用要求》：基于风险评估选择个人防护装备，各级实验室的个体防护要求</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233（以现行文本为准）《病原微生物实验室生物安全通用准则》：各级实验室个人防护和操作规范</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19082-2023（以现行文本为准）《医用一次性防护服技术要求》</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19083-2023（以现行文本为准）《医用防护口罩技术要求》</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28881-2023（以现行文本为准）《手部防护 化学品及微生物防护手套》</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14866-2023（以现行文本为准）《眼面防护具通用技术规范》</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号，以现行文本为准）：个人防护用品配备、培训和正确使用</a:t>
            </a:r>
          </a:p>
        </p:txBody>
      </p:sp>
    </p:spTree>
  </p:cSld>
  <p:clrMapOvr>
    <a:masterClrMapping/>
  </p:clrMapOvr>
</p:sld>
</file>

<file path=ppt/slides/slide3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074 · 生物实验个人防护装备</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个人防护是最后一道防线</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074 生物实验个人防护装备</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设施和规程在前，个人防护是最后一道</a:t>
            </a:r>
          </a:p>
          <a:p>
            <a:pPr>
              <a:spcAft>
                <a:spcPts val="1000"/>
              </a:spcAft>
            </a:pPr>
            <a:r>
              <a:rPr sz="2000">
                <a:solidFill>
                  <a:srgbClr val="222B33"/>
                </a:solidFill>
                <a:latin typeface="Microsoft YaHei"/>
              </a:rPr>
              <a:t>▪ 有了安全柜，防护用品照样要戴</a:t>
            </a:r>
          </a:p>
          <a:p>
            <a:pPr>
              <a:spcAft>
                <a:spcPts val="1000"/>
              </a:spcAft>
            </a:pPr>
            <a:r>
              <a:rPr sz="2000">
                <a:solidFill>
                  <a:srgbClr val="222B33"/>
                </a:solidFill>
                <a:latin typeface="Microsoft YaHei"/>
              </a:rPr>
              <a:t>▪ 用得对，才能真正挡住风险</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控制生物风险，先靠实验室设施和生物安全柜等工程控制，再靠操作规程等管理措施，个人防护装备是贴在身上的最后一道防线（通用防护原则见第 021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认为在安全柜里操作就不用穿戴防护</a:t>
            </a:r>
          </a:p>
          <a:p>
            <a:pPr>
              <a:spcAft>
                <a:spcPts val="1000"/>
              </a:spcAft>
            </a:pPr>
            <a:r>
              <a:rPr sz="1500">
                <a:solidFill>
                  <a:srgbClr val="222B33"/>
                </a:solidFill>
                <a:latin typeface="Microsoft YaHei"/>
              </a:rPr>
              <a:t>▪ 防护用品戴得松松垮垮</a:t>
            </a:r>
          </a:p>
        </p:txBody>
      </p:sp>
    </p:spTree>
  </p:cSld>
  <p:clrMapOvr>
    <a:masterClrMapping/>
  </p:clrMapOvr>
</p:sld>
</file>

<file path=ppt/slides/slide3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074 · 生物实验个人防护装备</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按风险评估选，写进规程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074 生物实验个人防护装备</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穿哪些不凭感觉，按风险评估</a:t>
            </a:r>
          </a:p>
          <a:p>
            <a:pPr>
              <a:spcAft>
                <a:spcPts val="1000"/>
              </a:spcAft>
            </a:pPr>
            <a:r>
              <a:rPr sz="2000">
                <a:solidFill>
                  <a:srgbClr val="222B33"/>
                </a:solidFill>
                <a:latin typeface="Microsoft YaHei"/>
              </a:rPr>
              <a:t>▪ 不是越多越好，也别自作主张加减</a:t>
            </a:r>
          </a:p>
          <a:p>
            <a:pPr>
              <a:spcAft>
                <a:spcPts val="1000"/>
              </a:spcAft>
            </a:pPr>
            <a:r>
              <a:rPr sz="2000">
                <a:solidFill>
                  <a:srgbClr val="222B33"/>
                </a:solidFill>
                <a:latin typeface="Microsoft YaHei"/>
              </a:rPr>
              <a:t>▪ 评估结果写进规程，人人照做</a:t>
            </a:r>
          </a:p>
          <a:p>
            <a:pPr>
              <a:spcAft>
                <a:spcPts val="1000"/>
              </a:spcAft>
            </a:pPr>
            <a:r>
              <a:rPr sz="2000">
                <a:solidFill>
                  <a:srgbClr val="222B33"/>
                </a:solidFill>
                <a:latin typeface="Microsoft YaHei"/>
              </a:rPr>
              <a:t>▪ 疫情时期的做法以现行规定为准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防护穿戴什么、穿到什么程度，不凭感觉，要依据病原的分类、实验室的防护级别和具体活动的风险评估来确定（生物风险评估见第 067 课），评估结果写进本实验室的标准操作规程，人人照做。</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凭个人感觉随意增减防护</a:t>
            </a:r>
          </a:p>
          <a:p>
            <a:pPr>
              <a:spcAft>
                <a:spcPts val="1000"/>
              </a:spcAft>
            </a:pPr>
            <a:r>
              <a:rPr sz="1500">
                <a:solidFill>
                  <a:srgbClr val="222B33"/>
                </a:solidFill>
                <a:latin typeface="Microsoft YaHei"/>
              </a:rPr>
              <a:t>▪ 沿用过时的防护配置不更新</a:t>
            </a:r>
          </a:p>
        </p:txBody>
      </p:sp>
    </p:spTree>
  </p:cSld>
  <p:clrMapOvr>
    <a:masterClrMapping/>
  </p:clrMapOvr>
</p:sld>
</file>

<file path=ppt/slides/slide3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074 · 生物实验个人防护装备</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三看：病原类别、侵入途径、具体操作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074 生物实验个人防护装备</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一看病原：国内第一类危害最高</a:t>
            </a:r>
          </a:p>
          <a:p>
            <a:pPr>
              <a:spcAft>
                <a:spcPts val="1000"/>
              </a:spcAft>
            </a:pPr>
            <a:r>
              <a:rPr sz="2000">
                <a:solidFill>
                  <a:srgbClr val="222B33"/>
                </a:solidFill>
                <a:latin typeface="Microsoft YaHei"/>
              </a:rPr>
              <a:t>▪ 不明病原先从严，最终由评估定</a:t>
            </a:r>
          </a:p>
          <a:p>
            <a:pPr>
              <a:spcAft>
                <a:spcPts val="1000"/>
              </a:spcAft>
            </a:pPr>
            <a:r>
              <a:rPr sz="2000">
                <a:solidFill>
                  <a:srgbClr val="222B33"/>
                </a:solidFill>
                <a:latin typeface="Microsoft YaHei"/>
              </a:rPr>
              <a:t>▪ 二看途径：从哪里进，就挡哪里</a:t>
            </a:r>
          </a:p>
          <a:p>
            <a:pPr>
              <a:spcAft>
                <a:spcPts val="1000"/>
              </a:spcAft>
            </a:pPr>
            <a:r>
              <a:rPr sz="2000">
                <a:solidFill>
                  <a:srgbClr val="222B33"/>
                </a:solidFill>
                <a:latin typeface="Microsoft YaHei"/>
              </a:rPr>
              <a:t>▪ 三看操作：产生气溶胶的要加强</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选防护先看三件事。一看病原：危害越高，防护越强。国内把病原微生物分为四类，第一类危害最高、第四类最低，与国际“风险组”的编号方向相反，不要混淆（见第 058 课）。来源不明或新出现的病原，先按较高级别从严防护，最终由……</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把国际风险组编号当成国内分类</a:t>
            </a:r>
          </a:p>
          <a:p>
            <a:pPr>
              <a:spcAft>
                <a:spcPts val="1000"/>
              </a:spcAft>
            </a:pPr>
            <a:r>
              <a:rPr sz="1500">
                <a:solidFill>
                  <a:srgbClr val="222B33"/>
                </a:solidFill>
                <a:latin typeface="Microsoft YaHei"/>
              </a:rPr>
              <a:t>▪ 只看病原不看操作，一套防护用到底</a:t>
            </a:r>
          </a:p>
        </p:txBody>
      </p:sp>
    </p:spTree>
  </p:cSld>
  <p:clrMapOvr>
    <a:masterClrMapping/>
  </p:clrMapOvr>
</p:sld>
</file>

<file path=ppt/slides/slide3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074 · 生物实验个人防护装备</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从头到脚，不留缺口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074 生物实验个人防护装备</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头套、护目镜或面屏、口罩、隔离衣、手套、鞋</a:t>
            </a:r>
          </a:p>
          <a:p>
            <a:pPr>
              <a:spcAft>
                <a:spcPts val="1000"/>
              </a:spcAft>
            </a:pPr>
            <a:r>
              <a:rPr sz="2000">
                <a:solidFill>
                  <a:srgbClr val="222B33"/>
                </a:solidFill>
                <a:latin typeface="Microsoft YaHei"/>
              </a:rPr>
              <a:t>▪ 五类：口罩、手套、防护服、护目、特殊防护</a:t>
            </a:r>
          </a:p>
          <a:p>
            <a:pPr>
              <a:spcAft>
                <a:spcPts val="1000"/>
              </a:spcAft>
            </a:pPr>
            <a:r>
              <a:rPr sz="2000">
                <a:solidFill>
                  <a:srgbClr val="222B33"/>
                </a:solidFill>
                <a:latin typeface="Microsoft YaHei"/>
              </a:rPr>
              <a:t>▪ 哪里露着皮肤，哪里就是缺口</a:t>
            </a:r>
          </a:p>
          <a:p>
            <a:pPr>
              <a:spcAft>
                <a:spcPts val="1000"/>
              </a:spcAft>
            </a:pPr>
            <a:r>
              <a:rPr sz="2000">
                <a:solidFill>
                  <a:srgbClr val="222B33"/>
                </a:solidFill>
                <a:latin typeface="Microsoft YaHei"/>
              </a:rPr>
              <a:t>▪ 手套盖住袖口；只戴手套上机不行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生物实验室的个人防护装备从头到脚一套：头套（帽子）、护目镜或面屏、贴合良好的口罩、实验服或隔离衣、一次性手套、鞋套或不露脚趾的鞋（着装要求见第 020 课）。按用途可归为五大类：呼吸防护（口罩）、手部防护、躯体防护（……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手套和袖口之间露出手腕</a:t>
            </a:r>
          </a:p>
          <a:p>
            <a:pPr>
              <a:spcAft>
                <a:spcPts val="1000"/>
              </a:spcAft>
            </a:pPr>
            <a:r>
              <a:rPr sz="1500">
                <a:solidFill>
                  <a:srgbClr val="222B33"/>
                </a:solidFill>
                <a:latin typeface="Microsoft YaHei"/>
              </a:rPr>
              <a:t>▪ 穿便服只戴手套上机</a:t>
            </a:r>
          </a:p>
        </p:txBody>
      </p:sp>
    </p:spTree>
  </p:cSld>
  <p:clrMapOvr>
    <a:masterClrMapping/>
  </p:clrMapOvr>
</p:sld>
</file>

<file path=ppt/slides/slide3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074 · 生物实验个人防护装备</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手套：生物材料可戴两层</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074 生物实验个人防护装备</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乳胶挡不住很多溶剂，腈也有局限</a:t>
            </a:r>
          </a:p>
          <a:p>
            <a:pPr>
              <a:spcAft>
                <a:spcPts val="1000"/>
              </a:spcAft>
            </a:pPr>
            <a:r>
              <a:rPr sz="2000">
                <a:solidFill>
                  <a:srgbClr val="222B33"/>
                </a:solidFill>
                <a:latin typeface="Microsoft YaHei"/>
              </a:rPr>
              <a:t>▪ 处理生物材料可戴两层，外脏内护</a:t>
            </a:r>
          </a:p>
          <a:p>
            <a:pPr>
              <a:spcAft>
                <a:spcPts val="1000"/>
              </a:spcAft>
            </a:pPr>
            <a:r>
              <a:rPr sz="2000">
                <a:solidFill>
                  <a:srgbClr val="222B33"/>
                </a:solidFill>
                <a:latin typeface="Microsoft YaHei"/>
              </a:rPr>
              <a:t>▪ 外层污染了，及时换外层</a:t>
            </a:r>
          </a:p>
          <a:p>
            <a:pPr>
              <a:spcAft>
                <a:spcPts val="1000"/>
              </a:spcAft>
            </a:pPr>
            <a:r>
              <a:rPr sz="2000">
                <a:solidFill>
                  <a:srgbClr val="222B33"/>
                </a:solidFill>
                <a:latin typeface="Microsoft YaHei"/>
              </a:rPr>
              <a:t>▪ 抓动物戴加厚手套，防咬防抓</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手套有多种材质，没有万能手套（详见第 023 课）：乳胶手套挡不住很多有机溶剂，腈手套耐溶剂性更好，但也有局限，同时接触化学品时要按化学品选材。防微生物的手套应符合 GB 28881-2023（以现行文本为准）等国家……</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用乳胶手套接触有机溶剂</a:t>
            </a:r>
          </a:p>
          <a:p>
            <a:pPr>
              <a:spcAft>
                <a:spcPts val="1000"/>
              </a:spcAft>
            </a:pPr>
            <a:r>
              <a:rPr sz="1500">
                <a:solidFill>
                  <a:srgbClr val="222B33"/>
                </a:solidFill>
                <a:latin typeface="Microsoft YaHei"/>
              </a:rPr>
              <a:t>▪ 外层手套污染了不换，继续操作</a:t>
            </a:r>
          </a:p>
        </p:txBody>
      </p:sp>
    </p:spTree>
  </p:cSld>
  <p:clrMapOvr>
    <a:masterClrMapping/>
  </p:clrMapOvr>
</p:sld>
</file>

<file path=ppt/slides/slide3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074 · 生物实验个人防护装备</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隔离衣与防护服：挡飞溅，不出门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074 生物实验个人防护装备</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隔离衣、防护服挡小飞溅</a:t>
            </a:r>
          </a:p>
          <a:p>
            <a:pPr>
              <a:spcAft>
                <a:spcPts val="1000"/>
              </a:spcAft>
            </a:pPr>
            <a:r>
              <a:rPr sz="2000">
                <a:solidFill>
                  <a:srgbClr val="222B33"/>
                </a:solidFill>
                <a:latin typeface="Microsoft YaHei"/>
              </a:rPr>
              <a:t>▪ 挡不住大量溢洒，浸湿要立即更换</a:t>
            </a:r>
          </a:p>
          <a:p>
            <a:pPr>
              <a:spcAft>
                <a:spcPts val="1000"/>
              </a:spcAft>
            </a:pPr>
            <a:r>
              <a:rPr sz="2000">
                <a:solidFill>
                  <a:srgbClr val="222B33"/>
                </a:solidFill>
                <a:latin typeface="Microsoft YaHei"/>
              </a:rPr>
              <a:t>▪ 医用防护服要符合国家标准</a:t>
            </a:r>
          </a:p>
          <a:p>
            <a:pPr>
              <a:spcAft>
                <a:spcPts val="1000"/>
              </a:spcAft>
            </a:pPr>
            <a:r>
              <a:rPr sz="2000">
                <a:solidFill>
                  <a:srgbClr val="222B33"/>
                </a:solidFill>
                <a:latin typeface="Microsoft YaHei"/>
              </a:rPr>
              <a:t>▪ 防护服不出实验室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隔离衣、防护服在实验室和现场采样时都可以穿，能挡住小的飞溅，但挡不住大量溢洒：被大量液体浸湿后要立即更换，必要时按暴露处置（见第 078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防护服浸湿了继续穿</a:t>
            </a:r>
          </a:p>
          <a:p>
            <a:pPr>
              <a:spcAft>
                <a:spcPts val="1000"/>
              </a:spcAft>
            </a:pPr>
            <a:r>
              <a:rPr sz="1500">
                <a:solidFill>
                  <a:srgbClr val="222B33"/>
                </a:solidFill>
                <a:latin typeface="Microsoft YaHei"/>
              </a:rPr>
              <a:t>▪ 穿着隔离衣去走廊、办公室</a:t>
            </a:r>
          </a:p>
        </p:txBody>
      </p:sp>
    </p:spTree>
  </p:cSld>
  <p:clrMapOvr>
    <a:masterClrMapping/>
  </p:clrMapOvr>
</p:sld>
</file>

<file path=ppt/slides/slide3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074 · 生物实验个人防护装备</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医用口罩与医用防护口罩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074 生物实验个人防护装备</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经气溶胶吸入的病原，要靠口罩挡</a:t>
            </a:r>
          </a:p>
          <a:p>
            <a:pPr>
              <a:spcAft>
                <a:spcPts val="1000"/>
              </a:spcAft>
            </a:pPr>
            <a:r>
              <a:rPr sz="2000">
                <a:solidFill>
                  <a:srgbClr val="222B33"/>
                </a:solidFill>
                <a:latin typeface="Microsoft YaHei"/>
              </a:rPr>
              <a:t>▪ 医用口罩防飞溅，防护口罩防气溶胶</a:t>
            </a:r>
          </a:p>
          <a:p>
            <a:pPr>
              <a:spcAft>
                <a:spcPts val="1000"/>
              </a:spcAft>
            </a:pPr>
            <a:r>
              <a:rPr sz="2000">
                <a:solidFill>
                  <a:srgbClr val="222B33"/>
                </a:solidFill>
                <a:latin typeface="Microsoft YaHei"/>
              </a:rPr>
              <a:t>▪ 长得像，用途不同，看清说明</a:t>
            </a:r>
          </a:p>
          <a:p>
            <a:pPr>
              <a:spcAft>
                <a:spcPts val="1000"/>
              </a:spcAft>
            </a:pPr>
            <a:r>
              <a:rPr sz="2000">
                <a:solidFill>
                  <a:srgbClr val="222B33"/>
                </a:solidFill>
                <a:latin typeface="Microsoft YaHei"/>
              </a:rPr>
              <a:t>▪ 用哪种由评估定；防护口罩不重复用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有的病原可经气溶胶吸入感染，要靠口罩把住呼吸道。医用外科口罩主要阻挡飞沫和液体飞溅；医用防护口罩（符合 GB 19083-2023，以现行文本为准）能过滤颗粒物和气溶胶，贴合面部。外形相似的口罩用途可能不同，有的能防……</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把医用外科口罩当防气溶胶的防护口罩</a:t>
            </a:r>
          </a:p>
          <a:p>
            <a:pPr>
              <a:spcAft>
                <a:spcPts val="1000"/>
              </a:spcAft>
            </a:pPr>
            <a:r>
              <a:rPr sz="1500">
                <a:solidFill>
                  <a:srgbClr val="222B33"/>
                </a:solidFill>
                <a:latin typeface="Microsoft YaHei"/>
              </a:rPr>
              <a:t>▪ 口罩喷消毒剂后再戴</a:t>
            </a:r>
          </a:p>
        </p:txBody>
      </p:sp>
    </p:spTree>
  </p:cSld>
  <p:clrMapOvr>
    <a:masterClrMapping/>
  </p:clrMapOvr>
</p:sld>
</file>

<file path=ppt/slides/slide3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074 · 生物实验个人防护装备</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护目镜、面屏、口罩各管一处</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074 生物实验个人防护装备</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护目镜护眼睛，面屏挡脸前飞溅</a:t>
            </a:r>
          </a:p>
          <a:p>
            <a:pPr>
              <a:spcAft>
                <a:spcPts val="1000"/>
              </a:spcAft>
            </a:pPr>
            <a:r>
              <a:rPr sz="2000">
                <a:solidFill>
                  <a:srgbClr val="222B33"/>
                </a:solidFill>
                <a:latin typeface="Microsoft YaHei"/>
              </a:rPr>
              <a:t>▪ 面屏不防吸入，不能代替口罩</a:t>
            </a:r>
          </a:p>
          <a:p>
            <a:pPr>
              <a:spcAft>
                <a:spcPts val="1000"/>
              </a:spcAft>
            </a:pPr>
            <a:r>
              <a:rPr sz="2000">
                <a:solidFill>
                  <a:srgbClr val="222B33"/>
                </a:solidFill>
                <a:latin typeface="Microsoft YaHei"/>
              </a:rPr>
              <a:t>▪ 可重复用的，按规程消毒后再用</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护目镜和面屏保护眼睛和面部黏膜，挡住小的飞溅；护目镜贴合眼周，面屏挡住整个面部前方（眼面防护见第 022 课，产品符合 GB 14866-2023，以现行文本为准）。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戴了面屏就不戴口罩</a:t>
            </a:r>
          </a:p>
          <a:p>
            <a:pPr>
              <a:spcAft>
                <a:spcPts val="1000"/>
              </a:spcAft>
            </a:pPr>
            <a:r>
              <a:rPr sz="1500">
                <a:solidFill>
                  <a:srgbClr val="222B33"/>
                </a:solidFill>
                <a:latin typeface="Microsoft YaHei"/>
              </a:rPr>
              <a:t>▪ 护目镜用后不消毒直接给别人用</a:t>
            </a:r>
          </a:p>
        </p:txBody>
      </p:sp>
    </p:spTree>
  </p:cSld>
  <p:clrMapOvr>
    <a:masterClrMapping/>
  </p:clrMapOvr>
</p:sld>
</file>

<file path=ppt/slides/slide3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074 · 生物实验个人防护装备</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送风头罩和正压防护服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074 生物实验个人防护装备</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送风头罩只护呼吸和头面部</a:t>
            </a:r>
          </a:p>
          <a:p>
            <a:pPr>
              <a:spcAft>
                <a:spcPts val="1000"/>
              </a:spcAft>
            </a:pPr>
            <a:r>
              <a:rPr sz="2000">
                <a:solidFill>
                  <a:srgbClr val="222B33"/>
                </a:solidFill>
                <a:latin typeface="Microsoft YaHei"/>
              </a:rPr>
              <a:t>▪ 头罩之外，防护服、手套照样配齐</a:t>
            </a:r>
          </a:p>
          <a:p>
            <a:pPr>
              <a:spcAft>
                <a:spcPts val="1000"/>
              </a:spcAft>
            </a:pPr>
            <a:r>
              <a:rPr sz="2000">
                <a:solidFill>
                  <a:srgbClr val="222B33"/>
                </a:solidFill>
                <a:latin typeface="Microsoft YaHei"/>
              </a:rPr>
              <a:t>▪ 最高等级实验室穿正压防护服</a:t>
            </a:r>
          </a:p>
          <a:p>
            <a:pPr>
              <a:spcAft>
                <a:spcPts val="1000"/>
              </a:spcAft>
            </a:pPr>
            <a:r>
              <a:rPr sz="2000">
                <a:solidFill>
                  <a:srgbClr val="222B33"/>
                </a:solidFill>
                <a:latin typeface="Microsoft YaHei"/>
              </a:rPr>
              <a:t>▪ 高级别防护须专门培训才能用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动力送风过滤式呼吸器（送风头罩，符合 GB 30864-2014，以现行文本为准）只保护呼吸道和头面部，防护服、手套等一样不能少，穿什么按风险评估和规程定（送风呼吸器的使用见第 025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戴了送风头罩就不穿防护服</a:t>
            </a:r>
          </a:p>
          <a:p>
            <a:pPr>
              <a:spcAft>
                <a:spcPts val="1000"/>
              </a:spcAft>
            </a:pPr>
            <a:r>
              <a:rPr sz="1500">
                <a:solidFill>
                  <a:srgbClr val="222B33"/>
                </a:solidFill>
                <a:latin typeface="Microsoft YaHei"/>
              </a:rPr>
              <a:t>▪ 未经培训使用高级别防护装备</a:t>
            </a:r>
          </a:p>
        </p:txBody>
      </p:sp>
    </p:spTree>
  </p:cSld>
  <p:clrMapOvr>
    <a:masterClrMapping/>
  </p:clrMapOvr>
</p:sld>
</file>

<file path=ppt/slides/slide3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074 · 生物实验个人防护装备</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临床与诊断实验的常见防护组合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074 生物实验个人防护装备</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临床检验常规：隔离衣、手套、护目镜</a:t>
            </a:r>
          </a:p>
          <a:p>
            <a:pPr>
              <a:spcAft>
                <a:spcPts val="1000"/>
              </a:spcAft>
            </a:pPr>
            <a:r>
              <a:rPr sz="2000">
                <a:solidFill>
                  <a:srgbClr val="222B33"/>
                </a:solidFill>
                <a:latin typeface="Microsoft YaHei"/>
              </a:rPr>
              <a:t>▪ 呼吸道样本：防护口罩、护目、双层手套</a:t>
            </a:r>
          </a:p>
          <a:p>
            <a:pPr>
              <a:spcAft>
                <a:spcPts val="1000"/>
              </a:spcAft>
            </a:pPr>
            <a:r>
              <a:rPr sz="2000">
                <a:solidFill>
                  <a:srgbClr val="222B33"/>
                </a:solidFill>
                <a:latin typeface="Microsoft YaHei"/>
              </a:rPr>
              <a:t>▪ 具体组合按现行规定和风险评估定</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临床检验和传染病诊断实验室处理样本时，常见的防护组合大致分两档：常规样本检验，一般穿实验服或隔离衣、戴手套，有飞溅风险时戴护目镜或面屏、医用口罩；处理可疑呼吸道传染病等高风险样本，在生物安全柜内操作，戴医用防护口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高风险样本只按常规防护处理</a:t>
            </a:r>
          </a:p>
          <a:p>
            <a:pPr>
              <a:spcAft>
                <a:spcPts val="1000"/>
              </a:spcAft>
            </a:pPr>
            <a:r>
              <a:rPr sz="1500">
                <a:solidFill>
                  <a:srgbClr val="222B33"/>
                </a:solidFill>
                <a:latin typeface="Microsoft YaHei"/>
              </a:rPr>
              <a:t>▪ 照搬网上的防护组合，不看本单位规程</a:t>
            </a:r>
          </a:p>
        </p:txBody>
      </p:sp>
    </p:spTree>
  </p:cSld>
  <p:clrMapOvr>
    <a:masterClrMapping/>
  </p:clrMapOvr>
</p:sld>
</file>

<file path=ppt/slides/slide3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074 · 生物实验个人防护装备</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合格产品，配齐尺码，用前检查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074 生物实验个人防护装备</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买合格产品，统一采购，登记入库</a:t>
            </a:r>
          </a:p>
          <a:p>
            <a:pPr>
              <a:spcAft>
                <a:spcPts val="1000"/>
              </a:spcAft>
            </a:pPr>
            <a:r>
              <a:rPr sz="2000">
                <a:solidFill>
                  <a:srgbClr val="222B33"/>
                </a:solidFill>
                <a:latin typeface="Microsoft YaHei"/>
              </a:rPr>
              <a:t>▪ 按人配齐，大小尺码都要有</a:t>
            </a:r>
          </a:p>
          <a:p>
            <a:pPr>
              <a:spcAft>
                <a:spcPts val="1000"/>
              </a:spcAft>
            </a:pPr>
            <a:r>
              <a:rPr sz="2000">
                <a:solidFill>
                  <a:srgbClr val="222B33"/>
                </a:solidFill>
                <a:latin typeface="Microsoft YaHei"/>
              </a:rPr>
              <a:t>▪ 戴前检查，破损马上换</a:t>
            </a:r>
          </a:p>
          <a:p>
            <a:pPr>
              <a:spcAft>
                <a:spcPts val="1000"/>
              </a:spcAft>
            </a:pPr>
            <a:r>
              <a:rPr sz="2000">
                <a:solidFill>
                  <a:srgbClr val="222B33"/>
                </a:solidFill>
                <a:latin typeface="Microsoft YaHei"/>
              </a:rPr>
              <a:t>▪ 看清有效期，过期不用，及时补充</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防护用品要选合格产品：口罩、防护服、手套、护目镜各有国家标准，采购时看清执行标准、类别和有效期，由单位统一采购、登记入库。</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尺码不合适也凑合着戴</a:t>
            </a:r>
          </a:p>
          <a:p>
            <a:pPr>
              <a:spcAft>
                <a:spcPts val="1000"/>
              </a:spcAft>
            </a:pPr>
            <a:r>
              <a:rPr sz="1500">
                <a:solidFill>
                  <a:srgbClr val="222B33"/>
                </a:solidFill>
                <a:latin typeface="Microsoft YaHei"/>
              </a:rPr>
              <a:t>▪ 使用过期的防护用品</a:t>
            </a:r>
          </a:p>
        </p:txBody>
      </p:sp>
    </p:spTree>
  </p:cSld>
  <p:clrMapOvr>
    <a:masterClrMapping/>
  </p:clrMapOvr>
</p:sld>
</file>

<file path=ppt/slides/slide3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074 · 生物实验个人防护装备</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一次性不重复用，破损要报告</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074 生物实验个人防护装备</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一次性用品用过就丢，不挂起来再穿</a:t>
            </a:r>
          </a:p>
          <a:p>
            <a:pPr>
              <a:spcAft>
                <a:spcPts val="1000"/>
              </a:spcAft>
            </a:pPr>
            <a:r>
              <a:rPr sz="2000">
                <a:solidFill>
                  <a:srgbClr val="222B33"/>
                </a:solidFill>
                <a:latin typeface="Microsoft YaHei"/>
              </a:rPr>
              <a:t>▪ 按感染性废物，灭菌后处置</a:t>
            </a:r>
          </a:p>
          <a:p>
            <a:pPr>
              <a:spcAft>
                <a:spcPts val="1000"/>
              </a:spcAft>
            </a:pPr>
            <a:r>
              <a:rPr sz="2000">
                <a:solidFill>
                  <a:srgbClr val="222B33"/>
                </a:solidFill>
                <a:latin typeface="Microsoft YaHei"/>
              </a:rPr>
              <a:t>▪ 防护服破了，记录上报，定期检查</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一次性防护服、手套、口罩用过就丢，不能挂起来下次再穿。用后按感染性废物放进生物危害废物袋，按规程灭菌后处置（见第 077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一次性隔离衣挂在门后反复穿</a:t>
            </a:r>
          </a:p>
          <a:p>
            <a:pPr>
              <a:spcAft>
                <a:spcPts val="1000"/>
              </a:spcAft>
            </a:pPr>
            <a:r>
              <a:rPr sz="1500">
                <a:solidFill>
                  <a:srgbClr val="222B33"/>
                </a:solidFill>
                <a:latin typeface="Microsoft YaHei"/>
              </a:rPr>
              <a:t>▪ 防护服破了不报告</a:t>
            </a:r>
          </a:p>
        </p:txBody>
      </p:sp>
    </p:spTree>
  </p:cSld>
  <p:clrMapOvr>
    <a:masterClrMapping/>
  </p:clrMapOvr>
</p:sld>
</file>

<file path=ppt/slides/slide3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074 · 生物实验个人防护装备</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防护离不开管理：评估、培训、规程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074 生物实验个人防护装备</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先评估，再选择，再培训，照规程</a:t>
            </a:r>
          </a:p>
          <a:p>
            <a:pPr>
              <a:spcAft>
                <a:spcPts val="1000"/>
              </a:spcAft>
            </a:pPr>
            <a:r>
              <a:rPr sz="2000">
                <a:solidFill>
                  <a:srgbClr val="222B33"/>
                </a:solidFill>
                <a:latin typeface="Microsoft YaHei"/>
              </a:rPr>
              <a:t>▪ 穿和脱都要培训，按规程一步步来</a:t>
            </a:r>
          </a:p>
          <a:p>
            <a:pPr>
              <a:spcAft>
                <a:spcPts val="1000"/>
              </a:spcAft>
            </a:pPr>
            <a:r>
              <a:rPr sz="2000">
                <a:solidFill>
                  <a:srgbClr val="222B33"/>
                </a:solidFill>
                <a:latin typeface="Microsoft YaHei"/>
              </a:rPr>
              <a:t>▪ 头发束好，首饰摘掉，再穿防护</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个人防护离不开管理：先充分评估风险，再选择防护用品，然后对人员进行培训，穿戴和脱卸都按规程一步步来，考核合格后才能独立操作（穿脱顺序见第 075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只发防护用品，不培训穿脱</a:t>
            </a:r>
          </a:p>
          <a:p>
            <a:pPr>
              <a:spcAft>
                <a:spcPts val="1000"/>
              </a:spcAft>
            </a:pPr>
            <a:r>
              <a:rPr sz="1500">
                <a:solidFill>
                  <a:srgbClr val="222B33"/>
                </a:solidFill>
                <a:latin typeface="Microsoft YaHei"/>
              </a:rPr>
              <a:t>▪ 戴着戒指、手链穿戴手套</a:t>
            </a:r>
          </a:p>
        </p:txBody>
      </p:sp>
    </p:spTree>
  </p:cSld>
  <p:clrMapOvr>
    <a:masterClrMapping/>
  </p:clrMapOvr>
</p:sld>
</file>

<file path=ppt/slides/slide4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074 · 生物实验个人防护装备</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074 生物实验个人防护装备</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生物实验选个人防护装备，主要依据是：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个人感觉</a:t>
            </a:r>
          </a:p>
          <a:p>
            <a:pPr algn="l"/>
            <a:r>
              <a:rPr sz="1500" b="0">
                <a:solidFill>
                  <a:srgbClr val="222B33"/>
                </a:solidFill>
                <a:latin typeface="Microsoft YaHei"/>
              </a:rPr>
              <a:t>B. 风险评估：病原类别、侵入途径和具体操作</a:t>
            </a:r>
          </a:p>
          <a:p>
            <a:pPr algn="l"/>
            <a:r>
              <a:rPr sz="1500" b="0">
                <a:solidFill>
                  <a:srgbClr val="222B33"/>
                </a:solidFill>
                <a:latin typeface="Microsoft YaHei"/>
              </a:rPr>
              <a:t>C. 越多越安全</a:t>
            </a:r>
          </a:p>
          <a:p>
            <a:pPr algn="l"/>
            <a:r>
              <a:rPr sz="1500" b="0">
                <a:solidFill>
                  <a:srgbClr val="222B33"/>
                </a:solidFill>
                <a:latin typeface="Microsoft YaHei"/>
              </a:rPr>
              <a:t>D. 别人穿什么就穿什么</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判断：国内病原微生物分类中，第四类危害最高。</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40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074 · 生物实验个人防护装备</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074 生物实验个人防护装备</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下列说法正确的是：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面屏可以代替口罩</a:t>
            </a:r>
          </a:p>
          <a:p>
            <a:pPr algn="l"/>
            <a:r>
              <a:rPr sz="1500" b="0">
                <a:solidFill>
                  <a:srgbClr val="222B33"/>
                </a:solidFill>
                <a:latin typeface="Microsoft YaHei"/>
              </a:rPr>
              <a:t>B. 医用外科口罩可防气溶胶，等同于医用防护口罩</a:t>
            </a:r>
          </a:p>
          <a:p>
            <a:pPr algn="l"/>
            <a:r>
              <a:rPr sz="1500" b="0">
                <a:solidFill>
                  <a:srgbClr val="222B33"/>
                </a:solidFill>
                <a:latin typeface="Microsoft YaHei"/>
              </a:rPr>
              <a:t>C. 面屏不防吸入，有气溶胶风险要同时戴合适的口罩</a:t>
            </a:r>
          </a:p>
          <a:p>
            <a:pPr algn="l"/>
            <a:r>
              <a:rPr sz="1500" b="0">
                <a:solidFill>
                  <a:srgbClr val="222B33"/>
                </a:solidFill>
                <a:latin typeface="Microsoft YaHei"/>
              </a:rPr>
              <a:t>D. 一次性口罩消毒后可重复使用</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判断：处理感染性生物材料时可戴两层手套，外层污染后及时更换外层。</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40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074 · 生物实验个人防护装备</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074 生物实验个人防护装备</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下列哪种做法错误？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手套盖住袖口</a:t>
            </a:r>
          </a:p>
          <a:p>
            <a:pPr algn="l"/>
            <a:r>
              <a:rPr sz="1500" b="0">
                <a:solidFill>
                  <a:srgbClr val="222B33"/>
                </a:solidFill>
                <a:latin typeface="Microsoft YaHei"/>
              </a:rPr>
              <a:t>B. 穿着隔离衣去办公室取资料</a:t>
            </a:r>
          </a:p>
          <a:p>
            <a:pPr algn="l"/>
            <a:r>
              <a:rPr sz="1500" b="0">
                <a:solidFill>
                  <a:srgbClr val="222B33"/>
                </a:solidFill>
                <a:latin typeface="Microsoft YaHei"/>
              </a:rPr>
              <a:t>C. 戴前检查手套</a:t>
            </a:r>
          </a:p>
          <a:p>
            <a:pPr algn="l"/>
            <a:r>
              <a:rPr sz="1500" b="0">
                <a:solidFill>
                  <a:srgbClr val="222B33"/>
                </a:solidFill>
                <a:latin typeface="Microsoft YaHei"/>
              </a:rPr>
              <a:t>D. 防护服破损记录上报</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简答：戴了送风头罩，是否还需要穿防护服、戴手套？为什么？</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403.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个人防护是最后一道防线</a:t>
            </a:r>
          </a:p>
          <a:p>
            <a:pPr>
              <a:spcAft>
                <a:spcPts val="800"/>
              </a:spcAft>
            </a:pPr>
            <a:r>
              <a:rPr sz="1500">
                <a:solidFill>
                  <a:srgbClr val="FFFFFF"/>
                </a:solidFill>
                <a:latin typeface="Microsoft YaHei"/>
              </a:rPr>
              <a:t>▪ K2  按风险评估选，写进规程</a:t>
            </a:r>
          </a:p>
          <a:p>
            <a:pPr>
              <a:spcAft>
                <a:spcPts val="800"/>
              </a:spcAft>
            </a:pPr>
            <a:r>
              <a:rPr sz="1500">
                <a:solidFill>
                  <a:srgbClr val="FFFFFF"/>
                </a:solidFill>
                <a:latin typeface="Microsoft YaHei"/>
              </a:rPr>
              <a:t>▪ K3  三看：病原类别、侵入途径、具体操作</a:t>
            </a:r>
          </a:p>
          <a:p>
            <a:pPr>
              <a:spcAft>
                <a:spcPts val="800"/>
              </a:spcAft>
            </a:pPr>
            <a:r>
              <a:rPr sz="1500">
                <a:solidFill>
                  <a:srgbClr val="FFFFFF"/>
                </a:solidFill>
                <a:latin typeface="Microsoft YaHei"/>
              </a:rPr>
              <a:t>▪ K4  从头到脚，不留缺口</a:t>
            </a:r>
          </a:p>
          <a:p>
            <a:pPr>
              <a:spcAft>
                <a:spcPts val="800"/>
              </a:spcAft>
            </a:pPr>
            <a:r>
              <a:rPr sz="1500">
                <a:solidFill>
                  <a:srgbClr val="FFFFFF"/>
                </a:solidFill>
                <a:latin typeface="Microsoft YaHei"/>
              </a:rPr>
              <a:t>▪ K5  手套：生物材料可戴两层</a:t>
            </a:r>
          </a:p>
          <a:p>
            <a:pPr>
              <a:spcAft>
                <a:spcPts val="800"/>
              </a:spcAft>
            </a:pPr>
            <a:r>
              <a:rPr sz="1500">
                <a:solidFill>
                  <a:srgbClr val="FFFFFF"/>
                </a:solidFill>
                <a:latin typeface="Microsoft YaHei"/>
              </a:rPr>
              <a:t>▪ K6  隔离衣与防护服：挡飞溅，不出门</a:t>
            </a:r>
          </a:p>
          <a:p>
            <a:pPr>
              <a:spcAft>
                <a:spcPts val="800"/>
              </a:spcAft>
            </a:pPr>
            <a:r>
              <a:rPr sz="1500">
                <a:solidFill>
                  <a:srgbClr val="FFFFFF"/>
                </a:solidFill>
                <a:latin typeface="Microsoft YaHei"/>
              </a:rPr>
              <a:t>▪ K7  医用口罩与医用防护口罩</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K8  护目镜、面屏、口罩各管一处</a:t>
            </a:r>
          </a:p>
          <a:p>
            <a:pPr>
              <a:spcAft>
                <a:spcPts val="800"/>
              </a:spcAft>
            </a:pPr>
            <a:r>
              <a:rPr sz="1500">
                <a:solidFill>
                  <a:srgbClr val="FFFFFF"/>
                </a:solidFill>
                <a:latin typeface="Microsoft YaHei"/>
              </a:rPr>
              <a:t>▪ K9  送风头罩和正压防护服</a:t>
            </a:r>
          </a:p>
          <a:p>
            <a:pPr>
              <a:spcAft>
                <a:spcPts val="800"/>
              </a:spcAft>
            </a:pPr>
            <a:r>
              <a:rPr sz="1500">
                <a:solidFill>
                  <a:srgbClr val="FFFFFF"/>
                </a:solidFill>
                <a:latin typeface="Microsoft YaHei"/>
              </a:rPr>
              <a:t>▪ S1  临床与诊断实验的常见防护组合</a:t>
            </a:r>
          </a:p>
          <a:p>
            <a:pPr>
              <a:spcAft>
                <a:spcPts val="800"/>
              </a:spcAft>
            </a:pPr>
            <a:r>
              <a:rPr sz="1500">
                <a:solidFill>
                  <a:srgbClr val="FFFFFF"/>
                </a:solidFill>
                <a:latin typeface="Microsoft YaHei"/>
              </a:rPr>
              <a:t>▪ K10  合格产品，配齐尺码，用前检查</a:t>
            </a:r>
          </a:p>
          <a:p>
            <a:pPr>
              <a:spcAft>
                <a:spcPts val="800"/>
              </a:spcAft>
            </a:pPr>
            <a:r>
              <a:rPr sz="1500">
                <a:solidFill>
                  <a:srgbClr val="FFFFFF"/>
                </a:solidFill>
                <a:latin typeface="Microsoft YaHei"/>
              </a:rPr>
              <a:t>▪ K11  一次性不重复用，破损要报告</a:t>
            </a:r>
          </a:p>
          <a:p>
            <a:pPr>
              <a:spcAft>
                <a:spcPts val="800"/>
              </a:spcAft>
            </a:pPr>
            <a:r>
              <a:rPr sz="1500">
                <a:solidFill>
                  <a:srgbClr val="FFFFFF"/>
                </a:solidFill>
                <a:latin typeface="Microsoft YaHei"/>
              </a:rPr>
              <a:t>▪ K12  防护离不开管理：评估、培训、规程</a:t>
            </a:r>
          </a:p>
        </p:txBody>
      </p:sp>
    </p:spTree>
  </p:cSld>
  <p:clrMapOvr>
    <a:masterClrMapping/>
  </p:clrMapOvr>
</p:sld>
</file>

<file path=ppt/slides/slide404.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075</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防护装备的穿戴与脱卸</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74 镜）　适用对象：进入生物安全实验室、临床检验或病原微生物实验区的高校本科生、研究生和教职工（必修，须经穿脱演练考核）；实验室负责人和生物安全员重点学习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40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能做到穿前准备（摘首饰、个人物品留门外、束长发、检查装备），在穿戴区按顺序穿戴：手卫生→帽子→口罩→护目镜/面屏→隔离衣→手套（以本单位 SOP 为准）。</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能做到手套盖住袖口、口罩压紧鼻夹、面屏遮全脸、隔离衣系活结，按需戴双层手套，穿完对镜自查、同伴互查。</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能做到在脱卸区从最脏到最干净脱卸：先摘手套（翻脱法）→手卫生→摘面屏/护目镜→脱隔离衣（外面朝里卷）→摘口罩→洗手，全程不自我污染。</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能说出送风头罩“先开机有风再戴、摘下后再关机”的要求，以及脱卸方法须统一写进本实验室规程。</a:t>
            </a:r>
          </a:p>
        </p:txBody>
      </p:sp>
    </p:spTree>
  </p:cSld>
  <p:clrMapOvr>
    <a:masterClrMapping/>
  </p:clrMapOvr>
</p:sld>
</file>

<file path=ppt/slides/slide40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《病原微生物实验室生物安全管理条例》（以现行文本为准）：实验人员按标准操作规程使用个人防护用品并接受培训</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生物安全通用要求》：个体防护装备的穿戴和脱卸程序、防护区出入要求</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233（以现行文本为准）《病原微生物实验室生物安全通用准则》：个人防护和实验室操作规范</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WS/T 311-2023（以现行文本为准）《医院隔离技术标准》：防护用品穿脱顺序和方法（临床实验室参照）</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WS/T 313-2019（以现行文本为准）《医务人员手卫生规范》：洗手与卫生手消毒的时机和方法</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19082-2023、GB 19083-2023（以现行文本为准）：医用一次性防护服、医用防护口罩技术要求</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30864-2014（以现行文本为准）《呼吸防护 动力送风过滤式呼吸器》</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本校生物安全实验室管理规定和本实验室个人防护装备穿脱标准操作规程（以本校规定为准）</a:t>
            </a:r>
          </a:p>
        </p:txBody>
      </p:sp>
    </p:spTree>
  </p:cSld>
  <p:clrMapOvr>
    <a:masterClrMapping/>
  </p:clrMapOvr>
</p:sld>
</file>

<file path=ppt/slides/slide4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穿前准备：摘首饰、物品留门外、束长发</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首饰、手表先摘下</a:t>
            </a:r>
          </a:p>
          <a:p>
            <a:pPr>
              <a:spcAft>
                <a:spcPts val="1000"/>
              </a:spcAft>
            </a:pPr>
            <a:r>
              <a:rPr sz="2000">
                <a:solidFill>
                  <a:srgbClr val="222B33"/>
                </a:solidFill>
                <a:latin typeface="Microsoft YaHei"/>
              </a:rPr>
              <a:t>▪ 手机、外套、包、笔留在实验室外</a:t>
            </a:r>
          </a:p>
          <a:p>
            <a:pPr>
              <a:spcAft>
                <a:spcPts val="1000"/>
              </a:spcAft>
            </a:pPr>
            <a:r>
              <a:rPr sz="2000">
                <a:solidFill>
                  <a:srgbClr val="222B33"/>
                </a:solidFill>
                <a:latin typeface="Microsoft YaHei"/>
              </a:rPr>
              <a:t>▪ 长发束起来</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穿戴防护装备前先做准备：摘下戒指、手链、手表等首饰，它们会戳破手套、藏污纳垢，也让手套戴不服帖。手机、外套、包和笔等个人物品放在实验室外的储物柜里，不带进实验区（着装和个人物品要求见第 020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戴着戒指、手表戴手套</a:t>
            </a:r>
          </a:p>
          <a:p>
            <a:pPr>
              <a:spcAft>
                <a:spcPts val="1000"/>
              </a:spcAft>
            </a:pPr>
            <a:r>
              <a:rPr sz="1500">
                <a:solidFill>
                  <a:srgbClr val="222B33"/>
                </a:solidFill>
                <a:latin typeface="Microsoft YaHei"/>
              </a:rPr>
              <a:t>▪ 把手机揣在隔离衣里带进实验区</a:t>
            </a:r>
          </a:p>
        </p:txBody>
      </p:sp>
    </p:spTree>
  </p:cSld>
  <p:clrMapOvr>
    <a:masterClrMapping/>
  </p:clrMapOvr>
</p:sld>
</file>

<file path=ppt/slides/slide40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备齐装备，合身无破损</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常规操作：实验服、护目镜、手套</a:t>
            </a:r>
          </a:p>
          <a:p>
            <a:pPr>
              <a:spcAft>
                <a:spcPts val="1000"/>
              </a:spcAft>
            </a:pPr>
            <a:r>
              <a:rPr sz="2000">
                <a:solidFill>
                  <a:srgbClr val="222B33"/>
                </a:solidFill>
                <a:latin typeface="Microsoft YaHei"/>
              </a:rPr>
              <a:t>▪ 有飞溅风险：加隔离衣、口罩、面屏</a:t>
            </a:r>
          </a:p>
          <a:p>
            <a:pPr>
              <a:spcAft>
                <a:spcPts val="1000"/>
              </a:spcAft>
            </a:pPr>
            <a:r>
              <a:rPr sz="2000">
                <a:solidFill>
                  <a:srgbClr val="222B33"/>
                </a:solidFill>
                <a:latin typeface="Microsoft YaHei"/>
              </a:rPr>
              <a:t>▪ 隔离衣前襟完整、后开、袖口收紧</a:t>
            </a:r>
          </a:p>
          <a:p>
            <a:pPr>
              <a:spcAft>
                <a:spcPts val="1000"/>
              </a:spcAft>
            </a:pPr>
            <a:r>
              <a:rPr sz="2000">
                <a:solidFill>
                  <a:srgbClr val="222B33"/>
                </a:solidFill>
                <a:latin typeface="Microsoft YaHei"/>
              </a:rPr>
              <a:t>▪ 穿前查破洞、撕裂、系带，坏了就换</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按风险评估备齐本次要用的装备（选择见第 074 课）。常规操作的基本装备是紧袖口的实验服、手套和带侧护的护目镜；有飞沫、飞溅风险时，换穿隔离衣，加戴口罩和面屏。隔离衣应前襟完整、后开、袖口收紧（针织或松紧袖口）。</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不检查就穿，进去后才发现破洞</a:t>
            </a:r>
          </a:p>
          <a:p>
            <a:pPr>
              <a:spcAft>
                <a:spcPts val="1000"/>
              </a:spcAft>
            </a:pPr>
            <a:r>
              <a:rPr sz="1500">
                <a:solidFill>
                  <a:srgbClr val="222B33"/>
                </a:solidFill>
                <a:latin typeface="Microsoft YaHei"/>
              </a:rPr>
              <a:t>▪ 尺码不合适也凑合着穿</a:t>
            </a:r>
          </a:p>
        </p:txBody>
      </p:sp>
    </p:spTree>
  </p:cSld>
  <p:clrMapOvr>
    <a:masterClrMapping/>
  </p:clrMapOvr>
</p:sld>
</file>

<file path=ppt/slides/slide40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穿脱分区，在缓冲间穿好再进</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穿戴区和脱卸区分开</a:t>
            </a:r>
          </a:p>
          <a:p>
            <a:pPr>
              <a:spcAft>
                <a:spcPts val="1000"/>
              </a:spcAft>
            </a:pPr>
            <a:r>
              <a:rPr sz="2000">
                <a:solidFill>
                  <a:srgbClr val="222B33"/>
                </a:solidFill>
                <a:latin typeface="Microsoft YaHei"/>
              </a:rPr>
              <a:t>▪ 免得脏防护用品沾到干净物品</a:t>
            </a:r>
          </a:p>
          <a:p>
            <a:pPr>
              <a:spcAft>
                <a:spcPts val="1000"/>
              </a:spcAft>
            </a:pPr>
            <a:r>
              <a:rPr sz="2000">
                <a:solidFill>
                  <a:srgbClr val="222B33"/>
                </a:solidFill>
                <a:latin typeface="Microsoft YaHei"/>
              </a:rPr>
              <a:t>▪ 在缓冲间穿好，确认无误再进门</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穿戴区和脱卸区要分开设置，避免脱下的污染防护用品碰到干净的衣物和装备。有缓冲间的实验室，防护装备备齐在缓冲间，进去前在这里穿，出来在这里脱。</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在走廊里穿脱防护用品</a:t>
            </a:r>
          </a:p>
          <a:p>
            <a:pPr>
              <a:spcAft>
                <a:spcPts val="1000"/>
              </a:spcAft>
            </a:pPr>
            <a:r>
              <a:rPr sz="1500">
                <a:solidFill>
                  <a:srgbClr val="222B33"/>
                </a:solidFill>
                <a:latin typeface="Microsoft YaHei"/>
              </a:rPr>
              <a:t>▪ 脱下的隔离衣扔在干净衣物旁</a:t>
            </a:r>
          </a:p>
        </p:txBody>
      </p:sp>
    </p:spTree>
  </p:cSld>
  <p:clrMapOvr>
    <a:masterClrMapping/>
  </p:clrMapOvr>
</p:sld>
</file>

<file path=ppt/slides/slide4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穿戴顺序：口罩护目在前，手套最后</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穿前先做手卫生</a:t>
            </a:r>
          </a:p>
          <a:p>
            <a:pPr>
              <a:spcAft>
                <a:spcPts val="1000"/>
              </a:spcAft>
            </a:pPr>
            <a:r>
              <a:rPr sz="2000">
                <a:solidFill>
                  <a:srgbClr val="222B33"/>
                </a:solidFill>
                <a:latin typeface="Microsoft YaHei"/>
              </a:rPr>
              <a:t>▪ 常用：帽子、口罩、护目镜、隔离衣、手套</a:t>
            </a:r>
          </a:p>
          <a:p>
            <a:pPr>
              <a:spcAft>
                <a:spcPts val="1000"/>
              </a:spcAft>
            </a:pPr>
            <a:r>
              <a:rPr sz="2000">
                <a:solidFill>
                  <a:srgbClr val="222B33"/>
                </a:solidFill>
                <a:latin typeface="Microsoft YaHei"/>
              </a:rPr>
              <a:t>▪ 基本三件：实验服、护目镜、手套</a:t>
            </a:r>
          </a:p>
          <a:p>
            <a:pPr>
              <a:spcAft>
                <a:spcPts val="1000"/>
              </a:spcAft>
            </a:pPr>
            <a:r>
              <a:rPr sz="2000">
                <a:solidFill>
                  <a:srgbClr val="222B33"/>
                </a:solidFill>
                <a:latin typeface="Microsoft YaHei"/>
              </a:rPr>
              <a:t>▪ 手套最后戴，以本单位规程为准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穿戴顺序贴在穿戴区墙上，照着做。国内常用的顺序是：手卫生→戴帽子→戴口罩（医用防护口罩做密合性检查）→戴护目镜或面屏→穿隔离衣（或防护服）→戴手套。只穿基本三件时：扣好实验服→戴护目镜→戴手套。</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先戴手套再穿隔离衣、戴口罩</a:t>
            </a:r>
          </a:p>
          <a:p>
            <a:pPr>
              <a:spcAft>
                <a:spcPts val="1000"/>
              </a:spcAft>
            </a:pPr>
            <a:r>
              <a:rPr sz="1500">
                <a:solidFill>
                  <a:srgbClr val="222B33"/>
                </a:solidFill>
                <a:latin typeface="Microsoft YaHei"/>
              </a:rPr>
              <a:t>▪ 不看流程图，凭记忆随意穿</a:t>
            </a:r>
          </a:p>
        </p:txBody>
      </p:sp>
    </p:spTree>
  </p:cSld>
  <p:clrMapOvr>
    <a:masterClrMapping/>
  </p:clrMapOvr>
</p:sld>
</file>

<file path=ppt/slides/slide4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口罩：压鼻夹，贴紧鼻梁面颊</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耳挂挂在耳后，金属鼻夹朝上</a:t>
            </a:r>
          </a:p>
          <a:p>
            <a:pPr>
              <a:spcAft>
                <a:spcPts val="1000"/>
              </a:spcAft>
            </a:pPr>
            <a:r>
              <a:rPr sz="2000">
                <a:solidFill>
                  <a:srgbClr val="222B33"/>
                </a:solidFill>
                <a:latin typeface="Microsoft YaHei"/>
              </a:rPr>
              <a:t>▪ 双手食指按压鼻夹两侧</a:t>
            </a:r>
          </a:p>
          <a:p>
            <a:pPr>
              <a:spcAft>
                <a:spcPts val="1000"/>
              </a:spcAft>
            </a:pPr>
            <a:r>
              <a:rPr sz="2000">
                <a:solidFill>
                  <a:srgbClr val="222B33"/>
                </a:solidFill>
                <a:latin typeface="Microsoft YaHei"/>
              </a:rPr>
              <a:t>▪ 上缘贴紧鼻梁和面颊</a:t>
            </a:r>
          </a:p>
          <a:p>
            <a:pPr>
              <a:spcAft>
                <a:spcPts val="1000"/>
              </a:spcAft>
            </a:pPr>
            <a:r>
              <a:rPr sz="2000">
                <a:solidFill>
                  <a:srgbClr val="222B33"/>
                </a:solidFill>
                <a:latin typeface="Microsoft YaHei"/>
              </a:rPr>
              <a:t>▪ 医用防护口罩每次戴好查密合</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戴医用口罩：把耳挂挂在耳后，鼻夹一侧朝上，用双手食指从中间向两侧按压鼻夹，让口罩上缘贴紧鼻梁和面颊，再把口罩下缘拉到下巴下方。不要用单手捏鼻夹，会捏出尖角漏气。</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鼻夹不压，鼻梁两侧漏气</a:t>
            </a:r>
          </a:p>
          <a:p>
            <a:pPr>
              <a:spcAft>
                <a:spcPts val="1000"/>
              </a:spcAft>
            </a:pPr>
            <a:r>
              <a:rPr sz="1500">
                <a:solidFill>
                  <a:srgbClr val="222B33"/>
                </a:solidFill>
                <a:latin typeface="Microsoft YaHei"/>
              </a:rPr>
              <a:t>▪ 口罩只遮嘴不遮鼻</a:t>
            </a:r>
          </a:p>
        </p:txBody>
      </p:sp>
    </p:spTree>
  </p:cSld>
  <p:clrMapOvr>
    <a:masterClrMapping/>
  </p:clrMapOvr>
</p:sld>
</file>

<file path=ppt/slides/slide4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面屏：盖住前额、下巴和两侧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拉开弹力头带，套到脑后</a:t>
            </a:r>
          </a:p>
          <a:p>
            <a:pPr>
              <a:spcAft>
                <a:spcPts val="1000"/>
              </a:spcAft>
            </a:pPr>
            <a:r>
              <a:rPr sz="2000">
                <a:solidFill>
                  <a:srgbClr val="222B33"/>
                </a:solidFill>
                <a:latin typeface="Microsoft YaHei"/>
              </a:rPr>
              <a:t>▪ 海绵贴在眉毛上方</a:t>
            </a:r>
          </a:p>
          <a:p>
            <a:pPr>
              <a:spcAft>
                <a:spcPts val="1000"/>
              </a:spcAft>
            </a:pPr>
            <a:r>
              <a:rPr sz="2000">
                <a:solidFill>
                  <a:srgbClr val="222B33"/>
                </a:solidFill>
                <a:latin typeface="Microsoft YaHei"/>
              </a:rPr>
              <a:t>▪ 盖住前额，过下巴，包住两侧</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戴面屏：先拉开弹力头带，套到脑后，海绵衬垫贴在眉毛上方的额头。戴好后面屏要盖住前额、下缘过下巴、两侧包住面颊。</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面屏太短，下巴露在外面</a:t>
            </a:r>
          </a:p>
          <a:p>
            <a:pPr>
              <a:spcAft>
                <a:spcPts val="1000"/>
              </a:spcAft>
            </a:pPr>
            <a:r>
              <a:rPr sz="1500">
                <a:solidFill>
                  <a:srgbClr val="222B33"/>
                </a:solidFill>
                <a:latin typeface="Microsoft YaHei"/>
              </a:rPr>
              <a:t>▪ 护目镜压在口罩上缘造成漏气</a:t>
            </a:r>
          </a:p>
        </p:txBody>
      </p:sp>
    </p:spTree>
  </p:cSld>
  <p:clrMapOvr>
    <a:masterClrMapping/>
  </p:clrMapOvr>
</p:sld>
</file>

<file path=ppt/slides/slide4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隔离衣：系活结，遮住日常衣物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颈后、腰后系好带子</a:t>
            </a:r>
          </a:p>
          <a:p>
            <a:pPr>
              <a:spcAft>
                <a:spcPts val="1000"/>
              </a:spcAft>
            </a:pPr>
            <a:r>
              <a:rPr sz="2000">
                <a:solidFill>
                  <a:srgbClr val="222B33"/>
                </a:solidFill>
                <a:latin typeface="Microsoft YaHei"/>
              </a:rPr>
              <a:t>▪ 系活结，别打死结、别勒太紧</a:t>
            </a:r>
          </a:p>
          <a:p>
            <a:pPr>
              <a:spcAft>
                <a:spcPts val="1000"/>
              </a:spcAft>
            </a:pPr>
            <a:r>
              <a:rPr sz="2000">
                <a:solidFill>
                  <a:srgbClr val="222B33"/>
                </a:solidFill>
                <a:latin typeface="Microsoft YaHei"/>
              </a:rPr>
              <a:t>▪ 合身好活动，日常衣物不外露</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穿隔离衣：手臂伸进袖子，把衣服拉到肩上，在颈后系好领口的带子，腰带在背后或侧面系上。</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腰带打死结，脱时解不开</a:t>
            </a:r>
          </a:p>
          <a:p>
            <a:pPr>
              <a:spcAft>
                <a:spcPts val="1000"/>
              </a:spcAft>
            </a:pPr>
            <a:r>
              <a:rPr sz="1500">
                <a:solidFill>
                  <a:srgbClr val="222B33"/>
                </a:solidFill>
                <a:latin typeface="Microsoft YaHei"/>
              </a:rPr>
              <a:t>▪ 隔离衣太小，后背敞开</a:t>
            </a:r>
          </a:p>
        </p:txBody>
      </p:sp>
    </p:spTree>
  </p:cSld>
  <p:clrMapOvr>
    <a:masterClrMapping/>
  </p:clrMapOvr>
</p:sld>
</file>

<file path=ppt/slides/slide4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手套套在袖口外，手腕封严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最后戴手套，先把袖口拉到掌心</a:t>
            </a:r>
          </a:p>
          <a:p>
            <a:pPr>
              <a:spcAft>
                <a:spcPts val="1000"/>
              </a:spcAft>
            </a:pPr>
            <a:r>
              <a:rPr sz="2000">
                <a:solidFill>
                  <a:srgbClr val="222B33"/>
                </a:solidFill>
                <a:latin typeface="Microsoft YaHei"/>
              </a:rPr>
              <a:t>▪ 手套套在袖口外面，不是塞进袖子</a:t>
            </a:r>
          </a:p>
          <a:p>
            <a:pPr>
              <a:spcAft>
                <a:spcPts val="1000"/>
              </a:spcAft>
            </a:pPr>
            <a:r>
              <a:rPr sz="2000">
                <a:solidFill>
                  <a:srgbClr val="222B33"/>
                </a:solidFill>
                <a:latin typeface="Microsoft YaHei"/>
              </a:rPr>
              <a:t>▪ 穿连体服的，手腕缝隙按规程封严</a:t>
            </a:r>
          </a:p>
          <a:p>
            <a:pPr>
              <a:spcAft>
                <a:spcPts val="1000"/>
              </a:spcAft>
            </a:pPr>
            <a:r>
              <a:rPr sz="2000">
                <a:solidFill>
                  <a:srgbClr val="222B33"/>
                </a:solidFill>
                <a:latin typeface="Microsoft YaHei"/>
              </a:rPr>
              <a:t>▪ 开工前再查一遍手套</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最后戴手套：先把隔离衣袖口拉到掌心，再把手套口拉起，套在袖口外面，而不是塞进袖子里。这样袖子不会滑出来，袖口也不会沾上污染。</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手套塞在袖子里，手腕露出</a:t>
            </a:r>
          </a:p>
          <a:p>
            <a:pPr>
              <a:spcAft>
                <a:spcPts val="1000"/>
              </a:spcAft>
            </a:pPr>
            <a:r>
              <a:rPr sz="1500">
                <a:solidFill>
                  <a:srgbClr val="222B33"/>
                </a:solidFill>
                <a:latin typeface="Microsoft YaHei"/>
              </a:rPr>
              <a:t>▪ 戴好手套后不再检查</a:t>
            </a:r>
          </a:p>
        </p:txBody>
      </p:sp>
    </p:spTree>
  </p:cSld>
  <p:clrMapOvr>
    <a:masterClrMapping/>
  </p:clrMapOvr>
</p:sld>
</file>

<file path=ppt/slides/slide4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双层手套：外层脏了换外层</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风险较高时戴两层，外层最后戴</a:t>
            </a:r>
          </a:p>
          <a:p>
            <a:pPr>
              <a:spcAft>
                <a:spcPts val="1000"/>
              </a:spcAft>
            </a:pPr>
            <a:r>
              <a:rPr sz="2000">
                <a:solidFill>
                  <a:srgbClr val="222B33"/>
                </a:solidFill>
                <a:latin typeface="Microsoft YaHei"/>
              </a:rPr>
              <a:t>▪ 外层脏了在实验室内只换外层</a:t>
            </a:r>
          </a:p>
          <a:p>
            <a:pPr>
              <a:spcAft>
                <a:spcPts val="1000"/>
              </a:spcAft>
            </a:pPr>
            <a:r>
              <a:rPr sz="2000">
                <a:solidFill>
                  <a:srgbClr val="222B33"/>
                </a:solidFill>
                <a:latin typeface="Microsoft YaHei"/>
              </a:rPr>
              <a:t>▪ 手套破了立即换，手消毒后戴新的</a:t>
            </a:r>
          </a:p>
          <a:p>
            <a:pPr>
              <a:spcAft>
                <a:spcPts val="1000"/>
              </a:spcAft>
            </a:pPr>
            <a:r>
              <a:rPr sz="2000">
                <a:solidFill>
                  <a:srgbClr val="222B33"/>
                </a:solidFill>
                <a:latin typeface="Microsoft YaHei"/>
              </a:rPr>
              <a:t>▪ 手破皮按暴露处理并报告</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风险较高时，按规程戴双层手套：内层盖住袖口，最后再戴一层外手套。外层沾上污染，在实验室内（或生物安全柜内）脱掉外层，换上新的，内层一直护着手。戴几层、怎么脱，按本实验室规程执行。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外层污染了不换，继续操作</a:t>
            </a:r>
          </a:p>
          <a:p>
            <a:pPr>
              <a:spcAft>
                <a:spcPts val="1000"/>
              </a:spcAft>
            </a:pPr>
            <a:r>
              <a:rPr sz="1500">
                <a:solidFill>
                  <a:srgbClr val="222B33"/>
                </a:solidFill>
                <a:latin typeface="Microsoft YaHei"/>
              </a:rPr>
              <a:t>▪ 手套破了草草换掉，不检查皮肤</a:t>
            </a:r>
          </a:p>
        </p:txBody>
      </p:sp>
    </p:spTree>
  </p:cSld>
  <p:clrMapOvr>
    <a:masterClrMapping/>
  </p:clrMapOvr>
</p:sld>
</file>

<file path=ppt/slides/slide4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送风头罩：先系腰带、接好线、调头箍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穿戴顺序照规程，电池先挂好</a:t>
            </a:r>
          </a:p>
          <a:p>
            <a:pPr>
              <a:spcAft>
                <a:spcPts val="1000"/>
              </a:spcAft>
            </a:pPr>
            <a:r>
              <a:rPr sz="2000">
                <a:solidFill>
                  <a:srgbClr val="222B33"/>
                </a:solidFill>
                <a:latin typeface="Microsoft YaHei"/>
              </a:rPr>
              <a:t>▪ 第一步先系好腰带，调好松紧</a:t>
            </a:r>
          </a:p>
          <a:p>
            <a:pPr>
              <a:spcAft>
                <a:spcPts val="1000"/>
              </a:spcAft>
            </a:pPr>
            <a:r>
              <a:rPr sz="2000">
                <a:solidFill>
                  <a:srgbClr val="222B33"/>
                </a:solidFill>
                <a:latin typeface="Microsoft YaHei"/>
              </a:rPr>
              <a:t>▪ 穿上防护服就够不着腰带了</a:t>
            </a:r>
          </a:p>
          <a:p>
            <a:pPr>
              <a:spcAft>
                <a:spcPts val="1000"/>
              </a:spcAft>
            </a:pPr>
            <a:r>
              <a:rPr sz="2000">
                <a:solidFill>
                  <a:srgbClr val="222B33"/>
                </a:solidFill>
                <a:latin typeface="Microsoft YaHei"/>
              </a:rPr>
              <a:t>▪ 导线插紧拧牢，头箍调到贴额</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使用动力送风过滤式呼吸器（送风头罩）时，穿戴顺序写在规程里，照规程做。第一步先把装有风机和电池的腰带系好、调好松紧：穿上防护服以后就够不着了。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先穿防护服再找腰带</a:t>
            </a:r>
          </a:p>
          <a:p>
            <a:pPr>
              <a:spcAft>
                <a:spcPts val="1000"/>
              </a:spcAft>
            </a:pPr>
            <a:r>
              <a:rPr sz="1500">
                <a:solidFill>
                  <a:srgbClr val="222B33"/>
                </a:solidFill>
                <a:latin typeface="Microsoft YaHei"/>
              </a:rPr>
              <a:t>▪ 导管没拧紧就戴上</a:t>
            </a:r>
          </a:p>
        </p:txBody>
      </p:sp>
    </p:spTree>
  </p:cSld>
  <p:clrMapOvr>
    <a:masterClrMapping/>
  </p:clrMapOvr>
</p:sld>
</file>

<file path=ppt/slides/slide4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先开机有风再戴，披肩收进防护服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戴之前一定先开机，有风再戴</a:t>
            </a:r>
          </a:p>
          <a:p>
            <a:pPr>
              <a:spcAft>
                <a:spcPts val="1000"/>
              </a:spcAft>
            </a:pPr>
            <a:r>
              <a:rPr sz="2000">
                <a:solidFill>
                  <a:srgbClr val="222B33"/>
                </a:solidFill>
                <a:latin typeface="Microsoft YaHei"/>
              </a:rPr>
              <a:t>▪ 不送风就戴会憋闷，有窒息危险</a:t>
            </a:r>
          </a:p>
          <a:p>
            <a:pPr>
              <a:spcAft>
                <a:spcPts val="1000"/>
              </a:spcAft>
            </a:pPr>
            <a:r>
              <a:rPr sz="2000">
                <a:solidFill>
                  <a:srgbClr val="222B33"/>
                </a:solidFill>
                <a:latin typeface="Microsoft YaHei"/>
              </a:rPr>
              <a:t>▪ 风机转着戴上，披肩拉平不卷边</a:t>
            </a:r>
          </a:p>
          <a:p>
            <a:pPr>
              <a:spcAft>
                <a:spcPts val="1000"/>
              </a:spcAft>
            </a:pPr>
            <a:r>
              <a:rPr sz="2000">
                <a:solidFill>
                  <a:srgbClr val="222B33"/>
                </a:solidFill>
                <a:latin typeface="Microsoft YaHei"/>
              </a:rPr>
              <a:t>▪ 披肩管线收进防护服；指示灯全亮再进</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戴头罩之前一定先开机，伸手在头罩里感觉一下，确认有风送进来再戴；不送风就戴上，会憋闷，有窒息危险。顺序不能反。</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不开机就戴上头罩</a:t>
            </a:r>
          </a:p>
          <a:p>
            <a:pPr>
              <a:spcAft>
                <a:spcPts val="1000"/>
              </a:spcAft>
            </a:pPr>
            <a:r>
              <a:rPr sz="1500">
                <a:solidFill>
                  <a:srgbClr val="222B33"/>
                </a:solidFill>
                <a:latin typeface="Microsoft YaHei"/>
              </a:rPr>
              <a:t>▪ 披肩卷边或露在防护服外</a:t>
            </a:r>
          </a:p>
        </p:txBody>
      </p:sp>
    </p:spTree>
  </p:cSld>
  <p:clrMapOvr>
    <a:masterClrMapping/>
  </p:clrMapOvr>
</p:sld>
</file>

<file path=ppt/slides/slide4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照镜自查，同伴互查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穿完照镜子：头面、拉链、手腕、脚下</a:t>
            </a:r>
          </a:p>
          <a:p>
            <a:pPr>
              <a:spcAft>
                <a:spcPts val="1000"/>
              </a:spcAft>
            </a:pPr>
            <a:r>
              <a:rPr sz="2000">
                <a:solidFill>
                  <a:srgbClr val="222B33"/>
                </a:solidFill>
                <a:latin typeface="Microsoft YaHei"/>
              </a:rPr>
              <a:t>▪ 镜子看不到背后，请同伴互查</a:t>
            </a:r>
          </a:p>
          <a:p>
            <a:pPr>
              <a:spcAft>
                <a:spcPts val="1000"/>
              </a:spcAft>
            </a:pPr>
            <a:r>
              <a:rPr sz="2000">
                <a:solidFill>
                  <a:srgbClr val="222B33"/>
                </a:solidFill>
                <a:latin typeface="Microsoft YaHei"/>
              </a:rPr>
              <a:t>▪ 先练熟、经考核，再进实验室</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穿完对着镜子逐一检查：头罩或帽子、口罩、护目镜或面屏、拉链和系带、手腕处的手套、脚下的鞋套，有没有缺口和卷边。</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穿完不检查直接进门</a:t>
            </a:r>
          </a:p>
          <a:p>
            <a:pPr>
              <a:spcAft>
                <a:spcPts val="1000"/>
              </a:spcAft>
            </a:pPr>
            <a:r>
              <a:rPr sz="1500">
                <a:solidFill>
                  <a:srgbClr val="222B33"/>
                </a:solidFill>
                <a:latin typeface="Microsoft YaHei"/>
              </a:rPr>
              <a:t>▪ 只看正面，后背敞开不知道</a:t>
            </a:r>
          </a:p>
        </p:txBody>
      </p:sp>
    </p:spTree>
  </p:cSld>
  <p:clrMapOvr>
    <a:masterClrMapping/>
  </p:clrMapOvr>
</p:sld>
</file>

<file path=ppt/slides/slide4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脱卸原则：从最脏到最干净，方法写进规程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脱卸从最脏的开始，到最干净的结束</a:t>
            </a:r>
          </a:p>
          <a:p>
            <a:pPr>
              <a:spcAft>
                <a:spcPts val="1000"/>
              </a:spcAft>
            </a:pPr>
            <a:r>
              <a:rPr sz="2000">
                <a:solidFill>
                  <a:srgbClr val="222B33"/>
                </a:solidFill>
                <a:latin typeface="Microsoft YaHei"/>
              </a:rPr>
              <a:t>▪ 常用：手套、手消毒、护目、隔离衣、口罩</a:t>
            </a:r>
          </a:p>
          <a:p>
            <a:pPr>
              <a:spcAft>
                <a:spcPts val="1000"/>
              </a:spcAft>
            </a:pPr>
            <a:r>
              <a:rPr sz="2000">
                <a:solidFill>
                  <a:srgbClr val="222B33"/>
                </a:solidFill>
                <a:latin typeface="Microsoft YaHei"/>
              </a:rPr>
              <a:t>▪ 一件一件脱，脏面朝里，别碰身上</a:t>
            </a:r>
          </a:p>
          <a:p>
            <a:pPr>
              <a:spcAft>
                <a:spcPts val="1000"/>
              </a:spcAft>
            </a:pPr>
            <a:r>
              <a:rPr sz="2000">
                <a:solidFill>
                  <a:srgbClr val="222B33"/>
                </a:solidFill>
                <a:latin typeface="Microsoft YaHei"/>
              </a:rPr>
              <a:t>▪ 脱法选定一种，写进规程统一做</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脱卸是最容易自我污染的环节。原则是从最脏的脱到最干净的：手套污染最重先脱，口罩贴着口鼻最后摘。国内常用的顺序是：摘手套→手卫生→摘护目镜或面屏→脱隔离衣（或防护服）→手卫生→摘口罩、帽子→洗手（以本单位 SOP 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先摘口罩再脱手套</a:t>
            </a:r>
          </a:p>
          <a:p>
            <a:pPr>
              <a:spcAft>
                <a:spcPts val="1000"/>
              </a:spcAft>
            </a:pPr>
            <a:r>
              <a:rPr sz="1500">
                <a:solidFill>
                  <a:srgbClr val="222B33"/>
                </a:solidFill>
                <a:latin typeface="Microsoft YaHei"/>
              </a:rPr>
              <a:t>▪ 每个人脱法各不相同</a:t>
            </a:r>
          </a:p>
        </p:txBody>
      </p:sp>
    </p:spTree>
  </p:cSld>
  <p:clrMapOvr>
    <a:masterClrMapping/>
  </p:clrMapOvr>
</p:sld>
</file>

<file path=ppt/slides/slide4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先摘手套：翻着脱，外面不碰皮肤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动作慢而轻，捏住腕部外侧</a:t>
            </a:r>
          </a:p>
          <a:p>
            <a:pPr>
              <a:spcAft>
                <a:spcPts val="1000"/>
              </a:spcAft>
            </a:pPr>
            <a:r>
              <a:rPr sz="2000">
                <a:solidFill>
                  <a:srgbClr val="222B33"/>
                </a:solidFill>
                <a:latin typeface="Microsoft YaHei"/>
              </a:rPr>
              <a:t>▪ 整只拉下翻过来，握在另一手心</a:t>
            </a:r>
          </a:p>
          <a:p>
            <a:pPr>
              <a:spcAft>
                <a:spcPts val="1000"/>
              </a:spcAft>
            </a:pPr>
            <a:r>
              <a:rPr sz="2000">
                <a:solidFill>
                  <a:srgbClr val="222B33"/>
                </a:solidFill>
                <a:latin typeface="Microsoft YaHei"/>
              </a:rPr>
              <a:t>▪ 裸手从内侧伸进，翻下包成一团</a:t>
            </a:r>
          </a:p>
          <a:p>
            <a:pPr>
              <a:spcAft>
                <a:spcPts val="1000"/>
              </a:spcAft>
            </a:pPr>
            <a:r>
              <a:rPr sz="2000">
                <a:solidFill>
                  <a:srgbClr val="222B33"/>
                </a:solidFill>
                <a:latin typeface="Microsoft YaHei"/>
              </a:rPr>
              <a:t>▪ 裸手不碰外面；丢弃，不重复用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摘手套动作要慢、要轻，避免弹起飞溅。步骤：①用一只手的手指捏起另一只手套腕部的外侧，注意脏手套不要碰到袖口；②整只拉下，手套翻成里朝外，握在仍戴着手套的手里；③裸手的手指从剩下那只手套的手腕内侧伸进去，向上、向外翻下……</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捏着指尖把手套拽下来</a:t>
            </a:r>
          </a:p>
          <a:p>
            <a:pPr>
              <a:spcAft>
                <a:spcPts val="1000"/>
              </a:spcAft>
            </a:pPr>
            <a:r>
              <a:rPr sz="1500">
                <a:solidFill>
                  <a:srgbClr val="222B33"/>
                </a:solidFill>
                <a:latin typeface="Microsoft YaHei"/>
              </a:rPr>
              <a:t>▪ 摘下的手套随手放在台面上</a:t>
            </a:r>
          </a:p>
        </p:txBody>
      </p:sp>
    </p:spTree>
  </p:cSld>
  <p:clrMapOvr>
    <a:masterClrMapping/>
  </p:clrMapOvr>
</p:sld>
</file>

<file path=ppt/slides/slide4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摘手套后先手消毒</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摘完手套，先做手卫生</a:t>
            </a:r>
          </a:p>
          <a:p>
            <a:pPr>
              <a:spcAft>
                <a:spcPts val="1000"/>
              </a:spcAft>
            </a:pPr>
            <a:r>
              <a:rPr sz="2000">
                <a:solidFill>
                  <a:srgbClr val="222B33"/>
                </a:solidFill>
                <a:latin typeface="Microsoft YaHei"/>
              </a:rPr>
              <a:t>▪ 按规程手消毒或洗手</a:t>
            </a:r>
          </a:p>
          <a:p>
            <a:pPr>
              <a:spcAft>
                <a:spcPts val="1000"/>
              </a:spcAft>
            </a:pPr>
            <a:r>
              <a:rPr sz="2000">
                <a:solidFill>
                  <a:srgbClr val="222B33"/>
                </a:solidFill>
                <a:latin typeface="Microsoft YaHei"/>
              </a:rPr>
              <a:t>▪ 有的规程换一副干净手套再继续脱</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摘下手套后，手上可能已沾上看不见的污染，要先做手卫生：用速干手消毒剂揉搓双手，或洗手；有的规程要求换戴一副干净手套再继续脱其他防护用品。按本实验室规程执行，再脱下一件。</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摘了手套直接用手去摘面屏、口罩</a:t>
            </a:r>
          </a:p>
          <a:p>
            <a:pPr>
              <a:spcAft>
                <a:spcPts val="1000"/>
              </a:spcAft>
            </a:pPr>
            <a:r>
              <a:rPr sz="1500">
                <a:solidFill>
                  <a:srgbClr val="222B33"/>
                </a:solidFill>
                <a:latin typeface="Microsoft YaHei"/>
              </a:rPr>
              <a:t>▪ 手消毒剂只抹一下手心</a:t>
            </a:r>
          </a:p>
        </p:txBody>
      </p:sp>
    </p:spTree>
  </p:cSld>
  <p:clrMapOvr>
    <a:masterClrMapping/>
  </p:clrMapOvr>
</p:sld>
</file>

<file path=ppt/slides/slide4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摘面屏、护目镜：捏头带和镜腿</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头稍前倾，捏耳上方头带轻轻提起</a:t>
            </a:r>
          </a:p>
          <a:p>
            <a:pPr>
              <a:spcAft>
                <a:spcPts val="1000"/>
              </a:spcAft>
            </a:pPr>
            <a:r>
              <a:rPr sz="2000">
                <a:solidFill>
                  <a:srgbClr val="222B33"/>
                </a:solidFill>
                <a:latin typeface="Microsoft YaHei"/>
              </a:rPr>
              <a:t>▪ 别碰前片，一次性的丢进废物袋</a:t>
            </a:r>
          </a:p>
          <a:p>
            <a:pPr>
              <a:spcAft>
                <a:spcPts val="1000"/>
              </a:spcAft>
            </a:pPr>
            <a:r>
              <a:rPr sz="2000">
                <a:solidFill>
                  <a:srgbClr val="222B33"/>
                </a:solidFill>
                <a:latin typeface="Microsoft YaHei"/>
              </a:rPr>
              <a:t>▪ 护目镜捏镜腿摘，放指定处统一消毒</a:t>
            </a:r>
          </a:p>
          <a:p>
            <a:pPr>
              <a:spcAft>
                <a:spcPts val="1000"/>
              </a:spcAft>
            </a:pPr>
            <a:r>
              <a:rPr sz="2000">
                <a:solidFill>
                  <a:srgbClr val="222B33"/>
                </a:solidFill>
                <a:latin typeface="Microsoft YaHei"/>
              </a:rPr>
              <a:t>▪ 清洁护目镜也要戴手套</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摘面屏：头稍向前倾，捏住耳朵上方的头带，轻轻提起离开面部；面屏前片可能有污染，不要碰。一次性面屏丢进感染性废物容器。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抓着面屏前片摘下</a:t>
            </a:r>
          </a:p>
          <a:p>
            <a:pPr>
              <a:spcAft>
                <a:spcPts val="1000"/>
              </a:spcAft>
            </a:pPr>
            <a:r>
              <a:rPr sz="1500">
                <a:solidFill>
                  <a:srgbClr val="222B33"/>
                </a:solidFill>
                <a:latin typeface="Microsoft YaHei"/>
              </a:rPr>
              <a:t>▪ 护目镜摘下随手放在桌上</a:t>
            </a:r>
          </a:p>
        </p:txBody>
      </p:sp>
    </p:spTree>
  </p:cSld>
  <p:clrMapOvr>
    <a:masterClrMapping/>
  </p:clrMapOvr>
</p:sld>
</file>

<file path=ppt/slides/slide4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脱隔离衣、实验服：外面朝里卷起</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解腰带，抓两肩往前拉，松开领口</a:t>
            </a:r>
          </a:p>
          <a:p>
            <a:pPr>
              <a:spcAft>
                <a:spcPts val="1000"/>
              </a:spcAft>
            </a:pPr>
            <a:r>
              <a:rPr sz="2000">
                <a:solidFill>
                  <a:srgbClr val="222B33"/>
                </a:solidFill>
                <a:latin typeface="Microsoft YaHei"/>
              </a:rPr>
              <a:t>▪ 离身往前脱，边脱边卷，外面朝里</a:t>
            </a:r>
          </a:p>
          <a:p>
            <a:pPr>
              <a:spcAft>
                <a:spcPts val="1000"/>
              </a:spcAft>
            </a:pPr>
            <a:r>
              <a:rPr sz="2000">
                <a:solidFill>
                  <a:srgbClr val="222B33"/>
                </a:solidFill>
                <a:latin typeface="Microsoft YaHei"/>
              </a:rPr>
              <a:t>▪ 实验服：裸手不碰外面，捏袖口抽臂</a:t>
            </a:r>
          </a:p>
          <a:p>
            <a:pPr>
              <a:spcAft>
                <a:spcPts val="1000"/>
              </a:spcAft>
            </a:pPr>
            <a:r>
              <a:rPr sz="2000">
                <a:solidFill>
                  <a:srgbClr val="222B33"/>
                </a:solidFill>
                <a:latin typeface="Microsoft YaHei"/>
              </a:rPr>
              <a:t>▪ 可再穿的挂好，污染的卷起丢弃</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脱隔离衣：解开腰带，抓住两肩向前拉，让颈后的系带松开（或按规程解开）；从肩部往前脱下，远离身体，边脱边卷，让外面翻到里面，卷成一团，脏的外面不碰到裸手和日常衣物，丢进感染性废物容器。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像脱外套一样从头上扯下隔离衣</a:t>
            </a:r>
          </a:p>
          <a:p>
            <a:pPr>
              <a:spcAft>
                <a:spcPts val="1000"/>
              </a:spcAft>
            </a:pPr>
            <a:r>
              <a:rPr sz="1500">
                <a:solidFill>
                  <a:srgbClr val="222B33"/>
                </a:solidFill>
                <a:latin typeface="Microsoft YaHei"/>
              </a:rPr>
              <a:t>▪ 裸手抓实验服前襟脱下</a:t>
            </a:r>
          </a:p>
        </p:txBody>
      </p:sp>
    </p:spTree>
  </p:cSld>
  <p:clrMapOvr>
    <a:masterClrMapping/>
  </p:clrMapOvr>
</p:sld>
</file>

<file path=ppt/slides/slide4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另两种做法：连手套一起脱，或先衣后手套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一种：手套连袖口一起剥下</a:t>
            </a:r>
          </a:p>
          <a:p>
            <a:pPr>
              <a:spcAft>
                <a:spcPts val="1000"/>
              </a:spcAft>
            </a:pPr>
            <a:r>
              <a:rPr sz="2000">
                <a:solidFill>
                  <a:srgbClr val="222B33"/>
                </a:solidFill>
                <a:latin typeface="Microsoft YaHei"/>
              </a:rPr>
              <a:t>▪ 衣带手套里朝外卷成一团丢弃</a:t>
            </a:r>
          </a:p>
          <a:p>
            <a:pPr>
              <a:spcAft>
                <a:spcPts val="1000"/>
              </a:spcAft>
            </a:pPr>
            <a:r>
              <a:rPr sz="2000">
                <a:solidFill>
                  <a:srgbClr val="222B33"/>
                </a:solidFill>
                <a:latin typeface="Microsoft YaHei"/>
              </a:rPr>
              <a:t>▪ 另一种：先脱隔离衣，再摘手套</a:t>
            </a:r>
          </a:p>
          <a:p>
            <a:pPr>
              <a:spcAft>
                <a:spcPts val="1000"/>
              </a:spcAft>
            </a:pPr>
            <a:r>
              <a:rPr sz="2000">
                <a:solidFill>
                  <a:srgbClr val="222B33"/>
                </a:solidFill>
                <a:latin typeface="Microsoft YaHei"/>
              </a:rPr>
              <a:t>▪ 用哪种按评估选定，写进规程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除了先摘手套，还有两种规程常用的做法。一种是隔离衣与手套一起脱：抓肩前拉松开领口，往前脱下时手臂往外抽，捏住手套连同袖口一起剥下，手套留在袖子里，双手干净地出来，衣服连手套里朝外卷成一团丢弃，脏面不碰裸手和日常衣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同一实验室几种做法混着用</a:t>
            </a:r>
          </a:p>
          <a:p>
            <a:pPr>
              <a:spcAft>
                <a:spcPts val="1000"/>
              </a:spcAft>
            </a:pPr>
            <a:r>
              <a:rPr sz="1500">
                <a:solidFill>
                  <a:srgbClr val="222B33"/>
                </a:solidFill>
                <a:latin typeface="Microsoft YaHei"/>
              </a:rPr>
              <a:t>▪ 一起脱时手套从袖子里掉出、裸手碰到外面</a:t>
            </a:r>
          </a:p>
        </p:txBody>
      </p:sp>
    </p:spTree>
  </p:cSld>
  <p:clrMapOvr>
    <a:masterClrMapping/>
  </p:clrMapOvr>
</p:sld>
</file>

<file path=ppt/slides/slide4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摘口罩：只捏耳挂</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口罩最后摘，只捏耳挂</a:t>
            </a:r>
          </a:p>
          <a:p>
            <a:pPr>
              <a:spcAft>
                <a:spcPts val="1000"/>
              </a:spcAft>
            </a:pPr>
            <a:r>
              <a:rPr sz="2000">
                <a:solidFill>
                  <a:srgbClr val="222B33"/>
                </a:solidFill>
                <a:latin typeface="Microsoft YaHei"/>
              </a:rPr>
              <a:t>▪ 不碰口罩外面</a:t>
            </a:r>
          </a:p>
          <a:p>
            <a:pPr>
              <a:spcAft>
                <a:spcPts val="1000"/>
              </a:spcAft>
            </a:pPr>
            <a:r>
              <a:rPr sz="2000">
                <a:solidFill>
                  <a:srgbClr val="222B33"/>
                </a:solidFill>
                <a:latin typeface="Microsoft YaHei"/>
              </a:rPr>
              <a:t>▪ 离开面部就丢进感染性废物袋</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口罩贴着口鼻，在其他防护用品脱完、手卫生后最后摘：只捏住耳挂（或头带）从耳后取下，不碰口罩外面，离开面部后直接丢进感染性废物容器。医用防护口罩先拉下下方头带，再拉上方头带。</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用手抓口罩正面拉下</a:t>
            </a:r>
          </a:p>
          <a:p>
            <a:pPr>
              <a:spcAft>
                <a:spcPts val="1000"/>
              </a:spcAft>
            </a:pPr>
            <a:r>
              <a:rPr sz="1500">
                <a:solidFill>
                  <a:srgbClr val="222B33"/>
                </a:solidFill>
                <a:latin typeface="Microsoft YaHei"/>
              </a:rPr>
              <a:t>▪ 摘下的口罩挂在下巴上或揣进口袋</a:t>
            </a:r>
          </a:p>
        </p:txBody>
      </p:sp>
    </p:spTree>
  </p:cSld>
  <p:clrMapOvr>
    <a:masterClrMapping/>
  </p:clrMapOvr>
</p:sld>
</file>

<file path=ppt/slides/slide4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送风头罩：风机转着摘，摘下再关机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摘头罩时风机别关</a:t>
            </a:r>
          </a:p>
          <a:p>
            <a:pPr>
              <a:spcAft>
                <a:spcPts val="1000"/>
              </a:spcAft>
            </a:pPr>
            <a:r>
              <a:rPr sz="2000">
                <a:solidFill>
                  <a:srgbClr val="222B33"/>
                </a:solidFill>
                <a:latin typeface="Microsoft YaHei"/>
              </a:rPr>
              <a:t>▪ 外面都当污染，手只碰规定位置</a:t>
            </a:r>
          </a:p>
          <a:p>
            <a:pPr>
              <a:spcAft>
                <a:spcPts val="1000"/>
              </a:spcAft>
            </a:pPr>
            <a:r>
              <a:rPr sz="2000">
                <a:solidFill>
                  <a:srgbClr val="222B33"/>
                </a:solidFill>
                <a:latin typeface="Microsoft YaHei"/>
              </a:rPr>
              <a:t>▪ 脸别碰外面，放指定处等去污</a:t>
            </a:r>
          </a:p>
          <a:p>
            <a:pPr>
              <a:spcAft>
                <a:spcPts val="1000"/>
              </a:spcAft>
            </a:pPr>
            <a:r>
              <a:rPr sz="2000">
                <a:solidFill>
                  <a:srgbClr val="222B33"/>
                </a:solidFill>
                <a:latin typeface="Microsoft YaHei"/>
              </a:rPr>
              <a:t>▪ 摘下后再关机、拔电池，然后洗手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摘送风头罩时，风机保持运转，按规程摘下头盔：头罩外面都当作污染，手只碰规定的位置，脸不碰外面。摘下后放到指定位置等待去污，然后再关机、断开电池。摘完马上洗手。</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先关风机再摘头罩</a:t>
            </a:r>
          </a:p>
          <a:p>
            <a:pPr>
              <a:spcAft>
                <a:spcPts val="1000"/>
              </a:spcAft>
            </a:pPr>
            <a:r>
              <a:rPr sz="1500">
                <a:solidFill>
                  <a:srgbClr val="222B33"/>
                </a:solidFill>
                <a:latin typeface="Microsoft YaHei"/>
              </a:rPr>
              <a:t>▪ 摘下的头罩随手放在干净区</a:t>
            </a:r>
          </a:p>
        </p:txBody>
      </p:sp>
    </p:spTree>
  </p:cSld>
  <p:clrMapOvr>
    <a:masterClrMapping/>
  </p:clrMapOvr>
</p:sld>
</file>

<file path=ppt/slides/slide4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最后洗手，再离开</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最后用流水和洗手液认真洗手</a:t>
            </a:r>
          </a:p>
          <a:p>
            <a:pPr>
              <a:spcAft>
                <a:spcPts val="1000"/>
              </a:spcAft>
            </a:pPr>
            <a:r>
              <a:rPr sz="2000">
                <a:solidFill>
                  <a:srgbClr val="222B33"/>
                </a:solidFill>
                <a:latin typeface="Microsoft YaHei"/>
              </a:rPr>
              <a:t>▪ 手背、指缝、指尖、指甲下都搓到</a:t>
            </a:r>
          </a:p>
          <a:p>
            <a:pPr>
              <a:spcAft>
                <a:spcPts val="1000"/>
              </a:spcAft>
            </a:pPr>
            <a:r>
              <a:rPr sz="2000">
                <a:solidFill>
                  <a:srgbClr val="222B33"/>
                </a:solidFill>
                <a:latin typeface="Microsoft YaHei"/>
              </a:rPr>
              <a:t>▪ 纸巾擦干，再用纸巾关龙头</a:t>
            </a:r>
          </a:p>
          <a:p>
            <a:pPr>
              <a:spcAft>
                <a:spcPts val="1000"/>
              </a:spcAft>
            </a:pPr>
            <a:r>
              <a:rPr sz="2000">
                <a:solidFill>
                  <a:srgbClr val="222B33"/>
                </a:solidFill>
                <a:latin typeface="Microsoft YaHei"/>
              </a:rPr>
              <a:t>▪ 暂时没水先手消，有条件尽快洗手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全部脱完，最后一步是用流动水和洗手液（肥皂）洗手：手心、手背、指缝、指尖、指甲下、拇指和手腕都要认真揉搓，时间要够（洗手步骤见第 020 课）。用一次性纸巾擦干，再用纸巾关水龙头。</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脱完防护直接离开，不洗手</a:t>
            </a:r>
          </a:p>
          <a:p>
            <a:pPr>
              <a:spcAft>
                <a:spcPts val="1000"/>
              </a:spcAft>
            </a:pPr>
            <a:r>
              <a:rPr sz="1500">
                <a:solidFill>
                  <a:srgbClr val="222B33"/>
                </a:solidFill>
                <a:latin typeface="Microsoft YaHei"/>
              </a:rPr>
              <a:t>▪ 只用手消毒剂代替洗手，有水也不洗</a:t>
            </a:r>
          </a:p>
        </p:txBody>
      </p:sp>
    </p:spTree>
  </p:cSld>
  <p:clrMapOvr>
    <a:masterClrMapping/>
  </p:clrMapOvr>
</p:sld>
</file>

<file path=ppt/slides/slide4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下列穿戴顺序中，符合国内常用做法的是：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手套→隔离衣→口罩→护目镜</a:t>
            </a:r>
          </a:p>
          <a:p>
            <a:pPr algn="l"/>
            <a:r>
              <a:rPr sz="1500" b="0">
                <a:solidFill>
                  <a:srgbClr val="222B33"/>
                </a:solidFill>
                <a:latin typeface="Microsoft YaHei"/>
              </a:rPr>
              <a:t>B. 手卫生→帽子→口罩→护目镜/面屏→隔离衣→手套</a:t>
            </a:r>
          </a:p>
          <a:p>
            <a:pPr algn="l"/>
            <a:r>
              <a:rPr sz="1500" b="0">
                <a:solidFill>
                  <a:srgbClr val="222B33"/>
                </a:solidFill>
                <a:latin typeface="Microsoft YaHei"/>
              </a:rPr>
              <a:t>C. 隔离衣→手套→口罩→帽子</a:t>
            </a:r>
          </a:p>
          <a:p>
            <a:pPr algn="l"/>
            <a:r>
              <a:rPr sz="1500" b="0">
                <a:solidFill>
                  <a:srgbClr val="222B33"/>
                </a:solidFill>
                <a:latin typeface="Microsoft YaHei"/>
              </a:rPr>
              <a:t>D. 口罩→手套→隔离衣→护目镜</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判断：脱卸防护装备应从最干净的开始，最后脱手套。</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4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翻脱法摘手套，正确的是：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捏指尖往下拽</a:t>
            </a:r>
          </a:p>
          <a:p>
            <a:pPr algn="l"/>
            <a:r>
              <a:rPr sz="1500" b="0">
                <a:solidFill>
                  <a:srgbClr val="222B33"/>
                </a:solidFill>
                <a:latin typeface="Microsoft YaHei"/>
              </a:rPr>
              <a:t>B. 捏腕部外侧翻下，握在另一手心，裸手从内侧伸进翻下包成一团</a:t>
            </a:r>
          </a:p>
          <a:p>
            <a:pPr algn="l"/>
            <a:r>
              <a:rPr sz="1500" b="0">
                <a:solidFill>
                  <a:srgbClr val="222B33"/>
                </a:solidFill>
                <a:latin typeface="Microsoft YaHei"/>
              </a:rPr>
              <a:t>C. 用牙咬下</a:t>
            </a:r>
          </a:p>
          <a:p>
            <a:pPr algn="l"/>
            <a:r>
              <a:rPr sz="1500" b="0">
                <a:solidFill>
                  <a:srgbClr val="222B33"/>
                </a:solidFill>
                <a:latin typeface="Microsoft YaHei"/>
              </a:rPr>
              <a:t>D. 两只手套互相搓下</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使用送风头罩时，下列做法正确的是：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先戴头罩再开机</a:t>
            </a:r>
          </a:p>
          <a:p>
            <a:pPr algn="l"/>
            <a:r>
              <a:rPr sz="1500" b="0">
                <a:solidFill>
                  <a:srgbClr val="222B33"/>
                </a:solidFill>
                <a:latin typeface="Microsoft YaHei"/>
              </a:rPr>
              <a:t>B. 先开机确认有风再戴，摘下后再关机</a:t>
            </a:r>
          </a:p>
          <a:p>
            <a:pPr algn="l"/>
            <a:r>
              <a:rPr sz="1500" b="0">
                <a:solidFill>
                  <a:srgbClr val="222B33"/>
                </a:solidFill>
                <a:latin typeface="Microsoft YaHei"/>
              </a:rPr>
              <a:t>C. 先关机再摘头罩</a:t>
            </a:r>
          </a:p>
          <a:p>
            <a:pPr algn="l"/>
            <a:r>
              <a:rPr sz="1500" b="0">
                <a:solidFill>
                  <a:srgbClr val="222B33"/>
                </a:solidFill>
                <a:latin typeface="Microsoft YaHei"/>
              </a:rPr>
              <a:t>D. 指示灯不全亮也可进入</a:t>
            </a:r>
          </a:p>
        </p:txBody>
      </p:sp>
    </p:spTree>
  </p:cSld>
  <p:clrMapOvr>
    <a:masterClrMapping/>
  </p:clrMapOvr>
</p:sld>
</file>

<file path=ppt/slides/slide4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判断：同一实验室可以每个人按自己习惯选择不同的脱卸方法。</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简答：脱卸时怎样防止自我污染？</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43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穿前准备：摘首饰、物品留门外、束长发</a:t>
            </a:r>
          </a:p>
          <a:p>
            <a:pPr>
              <a:spcAft>
                <a:spcPts val="800"/>
              </a:spcAft>
            </a:pPr>
            <a:r>
              <a:rPr sz="1500">
                <a:solidFill>
                  <a:srgbClr val="FFFFFF"/>
                </a:solidFill>
                <a:latin typeface="Microsoft YaHei"/>
              </a:rPr>
              <a:t>▪ K2  备齐装备，合身无破损</a:t>
            </a:r>
          </a:p>
          <a:p>
            <a:pPr>
              <a:spcAft>
                <a:spcPts val="800"/>
              </a:spcAft>
            </a:pPr>
            <a:r>
              <a:rPr sz="1500">
                <a:solidFill>
                  <a:srgbClr val="FFFFFF"/>
                </a:solidFill>
                <a:latin typeface="Microsoft YaHei"/>
              </a:rPr>
              <a:t>▪ K3  穿脱分区，在缓冲间穿好再进</a:t>
            </a:r>
          </a:p>
          <a:p>
            <a:pPr>
              <a:spcAft>
                <a:spcPts val="800"/>
              </a:spcAft>
            </a:pPr>
            <a:r>
              <a:rPr sz="1500">
                <a:solidFill>
                  <a:srgbClr val="FFFFFF"/>
                </a:solidFill>
                <a:latin typeface="Microsoft YaHei"/>
              </a:rPr>
              <a:t>▪ K4  穿戴顺序：口罩护目在前，手套最后</a:t>
            </a:r>
          </a:p>
          <a:p>
            <a:pPr>
              <a:spcAft>
                <a:spcPts val="800"/>
              </a:spcAft>
            </a:pPr>
            <a:r>
              <a:rPr sz="1500">
                <a:solidFill>
                  <a:srgbClr val="FFFFFF"/>
                </a:solidFill>
                <a:latin typeface="Microsoft YaHei"/>
              </a:rPr>
              <a:t>▪ K5  口罩：压鼻夹，贴紧鼻梁面颊</a:t>
            </a:r>
          </a:p>
          <a:p>
            <a:pPr>
              <a:spcAft>
                <a:spcPts val="800"/>
              </a:spcAft>
            </a:pPr>
            <a:r>
              <a:rPr sz="1500">
                <a:solidFill>
                  <a:srgbClr val="FFFFFF"/>
                </a:solidFill>
                <a:latin typeface="Microsoft YaHei"/>
              </a:rPr>
              <a:t>▪ K6  面屏：盖住前额、下巴和两侧</a:t>
            </a:r>
          </a:p>
          <a:p>
            <a:pPr>
              <a:spcAft>
                <a:spcPts val="800"/>
              </a:spcAft>
            </a:pPr>
            <a:r>
              <a:rPr sz="1500">
                <a:solidFill>
                  <a:srgbClr val="FFFFFF"/>
                </a:solidFill>
                <a:latin typeface="Microsoft YaHei"/>
              </a:rPr>
              <a:t>▪ K7  隔离衣：系活结，遮住日常衣物</a:t>
            </a:r>
          </a:p>
          <a:p>
            <a:pPr>
              <a:spcAft>
                <a:spcPts val="800"/>
              </a:spcAft>
            </a:pPr>
            <a:r>
              <a:rPr sz="1500">
                <a:solidFill>
                  <a:srgbClr val="FFFFFF"/>
                </a:solidFill>
                <a:latin typeface="Microsoft YaHei"/>
              </a:rPr>
              <a:t>▪ K8  手套套在袖口外，手腕封严</a:t>
            </a:r>
          </a:p>
          <a:p>
            <a:pPr>
              <a:spcAft>
                <a:spcPts val="800"/>
              </a:spcAft>
            </a:pPr>
            <a:r>
              <a:rPr sz="1500">
                <a:solidFill>
                  <a:srgbClr val="FFFFFF"/>
                </a:solidFill>
                <a:latin typeface="Microsoft YaHei"/>
              </a:rPr>
              <a:t>▪ K9  双层手套：外层脏了换外层</a:t>
            </a:r>
          </a:p>
          <a:p>
            <a:pPr>
              <a:spcAft>
                <a:spcPts val="800"/>
              </a:spcAft>
            </a:pPr>
            <a:r>
              <a:rPr sz="1500">
                <a:solidFill>
                  <a:srgbClr val="FFFFFF"/>
                </a:solidFill>
                <a:latin typeface="Microsoft YaHei"/>
              </a:rPr>
              <a:t>▪ K10  送风头罩：先系腰带、接好线、调头箍</a:t>
            </a:r>
          </a:p>
          <a:p>
            <a:pPr>
              <a:spcAft>
                <a:spcPts val="800"/>
              </a:spcAft>
            </a:pPr>
            <a:r>
              <a:rPr sz="1500">
                <a:solidFill>
                  <a:srgbClr val="FFFFFF"/>
                </a:solidFill>
                <a:latin typeface="Microsoft YaHei"/>
              </a:rPr>
              <a:t>▪ K11  先开机有风再戴，披肩收进防护服</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K12  照镜自查，同伴互查</a:t>
            </a:r>
          </a:p>
          <a:p>
            <a:pPr>
              <a:spcAft>
                <a:spcPts val="800"/>
              </a:spcAft>
            </a:pPr>
            <a:r>
              <a:rPr sz="1500">
                <a:solidFill>
                  <a:srgbClr val="FFFFFF"/>
                </a:solidFill>
                <a:latin typeface="Microsoft YaHei"/>
              </a:rPr>
              <a:t>▪ K13  脱卸原则：从最脏到最干净，方法写进规程</a:t>
            </a:r>
          </a:p>
          <a:p>
            <a:pPr>
              <a:spcAft>
                <a:spcPts val="800"/>
              </a:spcAft>
            </a:pPr>
            <a:r>
              <a:rPr sz="1500">
                <a:solidFill>
                  <a:srgbClr val="FFFFFF"/>
                </a:solidFill>
                <a:latin typeface="Microsoft YaHei"/>
              </a:rPr>
              <a:t>▪ K14  先摘手套：翻着脱，外面不碰皮肤</a:t>
            </a:r>
          </a:p>
          <a:p>
            <a:pPr>
              <a:spcAft>
                <a:spcPts val="800"/>
              </a:spcAft>
            </a:pPr>
            <a:r>
              <a:rPr sz="1500">
                <a:solidFill>
                  <a:srgbClr val="FFFFFF"/>
                </a:solidFill>
                <a:latin typeface="Microsoft YaHei"/>
              </a:rPr>
              <a:t>▪ K15  摘手套后先手消毒</a:t>
            </a:r>
          </a:p>
          <a:p>
            <a:pPr>
              <a:spcAft>
                <a:spcPts val="800"/>
              </a:spcAft>
            </a:pPr>
            <a:r>
              <a:rPr sz="1500">
                <a:solidFill>
                  <a:srgbClr val="FFFFFF"/>
                </a:solidFill>
                <a:latin typeface="Microsoft YaHei"/>
              </a:rPr>
              <a:t>▪ K16  摘面屏、护目镜：捏头带和镜腿</a:t>
            </a:r>
          </a:p>
          <a:p>
            <a:pPr>
              <a:spcAft>
                <a:spcPts val="800"/>
              </a:spcAft>
            </a:pPr>
            <a:r>
              <a:rPr sz="1500">
                <a:solidFill>
                  <a:srgbClr val="FFFFFF"/>
                </a:solidFill>
                <a:latin typeface="Microsoft YaHei"/>
              </a:rPr>
              <a:t>▪ K17  脱隔离衣、实验服：外面朝里卷起</a:t>
            </a:r>
          </a:p>
          <a:p>
            <a:pPr>
              <a:spcAft>
                <a:spcPts val="800"/>
              </a:spcAft>
            </a:pPr>
            <a:r>
              <a:rPr sz="1500">
                <a:solidFill>
                  <a:srgbClr val="FFFFFF"/>
                </a:solidFill>
                <a:latin typeface="Microsoft YaHei"/>
              </a:rPr>
              <a:t>▪ K18  另两种做法：连手套一起脱，或先衣后手套</a:t>
            </a:r>
          </a:p>
          <a:p>
            <a:pPr>
              <a:spcAft>
                <a:spcPts val="800"/>
              </a:spcAft>
            </a:pPr>
            <a:r>
              <a:rPr sz="1500">
                <a:solidFill>
                  <a:srgbClr val="FFFFFF"/>
                </a:solidFill>
                <a:latin typeface="Microsoft YaHei"/>
              </a:rPr>
              <a:t>▪ K19  摘口罩：只捏耳挂</a:t>
            </a:r>
          </a:p>
          <a:p>
            <a:pPr>
              <a:spcAft>
                <a:spcPts val="800"/>
              </a:spcAft>
            </a:pPr>
            <a:r>
              <a:rPr sz="1500">
                <a:solidFill>
                  <a:srgbClr val="FFFFFF"/>
                </a:solidFill>
                <a:latin typeface="Microsoft YaHei"/>
              </a:rPr>
              <a:t>▪ K20  送风头罩：风机转着摘，摘下再关机</a:t>
            </a:r>
          </a:p>
          <a:p>
            <a:pPr>
              <a:spcAft>
                <a:spcPts val="800"/>
              </a:spcAft>
            </a:pPr>
            <a:r>
              <a:rPr sz="1500">
                <a:solidFill>
                  <a:srgbClr val="FFFFFF"/>
                </a:solidFill>
                <a:latin typeface="Microsoft YaHei"/>
              </a:rPr>
              <a:t>▪ K21  最后洗手，再离开</a:t>
            </a:r>
          </a:p>
        </p:txBody>
      </p:sp>
    </p:spTree>
  </p:cSld>
  <p:clrMapOvr>
    <a:masterClrMapping/>
  </p:clrMapOvr>
</p:sld>
</file>

<file path=ppt/slides/slide432.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076</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消毒与灭菌</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72 镜）　适用对象：从事微生物、细胞、分子生物学、医学、农学、环境等生物实验的高校本科生、研究生和教职工（必修）；负责消毒灭菌设备和熏蒸工作的实验室人员重点学习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4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076 · 消毒与灭菌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076 消毒与灭菌</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能说出消毒、去污与灭菌的区别，并按用途选择热、化学、辐射等方法，不拿消毒当灭菌。</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能做到选对消毒剂、保持表面湿润等够作用时间，开工前、收工后和洒溢后及时消毒台面和设备。</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能做到安全配制和保存消毒液（防护、标签日期、按期更换、不乱混、乙醇远离火源），并判断紫外消毒的局限。</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能说出湿热灭菌的原理、装载要求和监测验证方法，以及熏蒸和气体灭菌的安全要求。</a:t>
            </a:r>
          </a:p>
        </p:txBody>
      </p:sp>
    </p:spTree>
  </p:cSld>
  <p:clrMapOvr>
    <a:masterClrMapping/>
  </p:clrMapOvr>
</p:sld>
</file>

<file path=ppt/slides/slide4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076 · 消毒与灭菌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076 消毒与灭菌</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《中华人民共和国生物安全法》：从事病原微生物实验活动应遵守实验室技术规范和操作规程，防止病原微生物扩散</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《病原微生物实验室生物安全管理条例》（以现行文本为准）：实验室应制定并执行消毒、灭菌等标准操作规程，实验废物按规定处置</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生物安全通用要求》：消毒灭菌方法的选择与确认、设备去污染、灭菌效果监测</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233（以现行文本为准）《病原微生物实验室生物安全通用准则》：实验室消毒与灭菌、压力蒸汽灭菌效果监测</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《消毒管理办法》（以现行文本为准）：消毒产品使用说明与消毒效果要求</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号，以现行文本为准）：生物实验室消毒灭菌、仪器设备使用和化学品管理</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本校生物安全管理规定和本实验室消毒灭菌、高压灭菌器、熏蒸标准操作规程（以本校规定为准）</a:t>
            </a:r>
          </a:p>
        </p:txBody>
      </p:sp>
    </p:spTree>
  </p:cSld>
  <p:clrMapOvr>
    <a:masterClrMapping/>
  </p:clrMapOvr>
</p:sld>
</file>

<file path=ppt/slides/slide4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076 · 消毒与灭菌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消毒、去污、灭菌不是一回事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076 消毒与灭菌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消毒：把微生物减少到安全水平</a:t>
            </a:r>
          </a:p>
          <a:p>
            <a:pPr>
              <a:spcAft>
                <a:spcPts val="1000"/>
              </a:spcAft>
            </a:pPr>
            <a:r>
              <a:rPr sz="1700">
                <a:solidFill>
                  <a:srgbClr val="222B33"/>
                </a:solidFill>
                <a:latin typeface="Microsoft YaHei"/>
              </a:rPr>
              <a:t>▪ 灭菌：全部杀灭，包括芽孢</a:t>
            </a:r>
          </a:p>
          <a:p>
            <a:pPr>
              <a:spcAft>
                <a:spcPts val="1000"/>
              </a:spcAft>
            </a:pPr>
            <a:r>
              <a:rPr sz="1700">
                <a:solidFill>
                  <a:srgbClr val="222B33"/>
                </a:solidFill>
                <a:latin typeface="Microsoft YaHei"/>
              </a:rPr>
              <a:t>▪ 去污：让物品能安全拿取或处置</a:t>
            </a:r>
          </a:p>
          <a:p>
            <a:pPr>
              <a:spcAft>
                <a:spcPts val="1000"/>
              </a:spcAft>
            </a:pPr>
            <a:r>
              <a:rPr sz="1700">
                <a:solidFill>
                  <a:srgbClr val="222B33"/>
                </a:solidFill>
                <a:latin typeface="Microsoft YaHei"/>
              </a:rPr>
              <a:t>▪ 器皿先洗净，再消毒，需要时灭菌</a:t>
            </a:r>
          </a:p>
          <a:p>
            <a:pPr>
              <a:spcAft>
                <a:spcPts val="1000"/>
              </a:spcAft>
            </a:pPr>
            <a:r>
              <a:rPr sz="1700">
                <a:solidFill>
                  <a:srgbClr val="222B33"/>
                </a:solidFill>
                <a:latin typeface="Microsoft YaHei"/>
              </a:rPr>
              <a:t>▪ 按用途选方法，别拿消毒当灭菌</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消毒是用物理或化学方法把物体表面或环境中的微生物减少到不再引起感染的水平，不要求全部杀灭；灭菌是杀灭全部微生物，包括抵抗力最强的细菌芽孢；去污（去污染）是让被污染的物品、表面能够安全地拿取、使用或处置，可以通过清洁、……</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把消毒过的器皿当无菌器材使用</a:t>
            </a:r>
          </a:p>
          <a:p>
            <a:pPr>
              <a:spcAft>
                <a:spcPts val="1000"/>
              </a:spcAft>
            </a:pPr>
            <a:r>
              <a:rPr sz="1500">
                <a:solidFill>
                  <a:srgbClr val="222B33"/>
                </a:solidFill>
                <a:latin typeface="Microsoft YaHei"/>
              </a:rPr>
              <a:t>▪ 器皿不清洗就直接消毒或灭菌</a:t>
            </a:r>
          </a:p>
        </p:txBody>
      </p:sp>
    </p:spTree>
  </p:cSld>
  <p:clrMapOvr>
    <a:masterClrMapping/>
  </p:clrMapOvr>
</p:sld>
</file>

<file path=ppt/slides/slide4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076 · 消毒与灭菌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杀灭微生物的方法：热、化学、辐射</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076 消毒与灭菌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热、化学品、辐射都能杀灭微生物</a:t>
            </a:r>
          </a:p>
          <a:p>
            <a:pPr>
              <a:spcAft>
                <a:spcPts val="1000"/>
              </a:spcAft>
            </a:pPr>
            <a:r>
              <a:rPr sz="2000">
                <a:solidFill>
                  <a:srgbClr val="222B33"/>
                </a:solidFill>
                <a:latin typeface="Microsoft YaHei"/>
              </a:rPr>
              <a:t>▪ 耐热物品首选湿热（高压蒸汽）灭菌</a:t>
            </a:r>
          </a:p>
          <a:p>
            <a:pPr>
              <a:spcAft>
                <a:spcPts val="1000"/>
              </a:spcAft>
            </a:pPr>
            <a:r>
              <a:rPr sz="2000">
                <a:solidFill>
                  <a:srgbClr val="222B33"/>
                </a:solidFill>
                <a:latin typeface="Microsoft YaHei"/>
              </a:rPr>
              <a:t>▪ 台面设备用化学消毒剂擦拭</a:t>
            </a:r>
          </a:p>
          <a:p>
            <a:pPr>
              <a:spcAft>
                <a:spcPts val="1000"/>
              </a:spcAft>
            </a:pPr>
            <a:r>
              <a:rPr sz="2000">
                <a:solidFill>
                  <a:srgbClr val="222B33"/>
                </a:solidFill>
                <a:latin typeface="Microsoft YaHei"/>
              </a:rPr>
              <a:t>▪ 紫外照表面，房间整体用熏蒸</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杀灭微生物的方法主要有三类：热（湿热即高压蒸汽灭菌、干热、焚烧）、化学品（各类消毒剂、灭菌剂和熏蒸、气体灭菌）、辐射（紫外线照射；工业上的电离辐射灭菌）。此外还有过滤等去除微生物的物理方法。</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不分对象，一种方法用到底</a:t>
            </a:r>
          </a:p>
          <a:p>
            <a:pPr>
              <a:spcAft>
                <a:spcPts val="1000"/>
              </a:spcAft>
            </a:pPr>
            <a:r>
              <a:rPr sz="1500">
                <a:solidFill>
                  <a:srgbClr val="222B33"/>
                </a:solidFill>
                <a:latin typeface="Microsoft YaHei"/>
              </a:rPr>
              <a:t>▪ 用紫外照射代替对器材的灭菌</a:t>
            </a:r>
          </a:p>
        </p:txBody>
      </p:sp>
    </p:spTree>
  </p:cSld>
  <p:clrMapOvr>
    <a:masterClrMapping/>
  </p:clrMapOvr>
</p:sld>
</file>

<file path=ppt/slides/slide4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076 · 消毒与灭菌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灭菌手段本身有危害，必须照规程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076 消毒与灭菌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能杀菌的东西同样能伤人</a:t>
            </a:r>
          </a:p>
          <a:p>
            <a:pPr>
              <a:spcAft>
                <a:spcPts val="1000"/>
              </a:spcAft>
            </a:pPr>
            <a:r>
              <a:rPr sz="1700">
                <a:solidFill>
                  <a:srgbClr val="222B33"/>
                </a:solidFill>
                <a:latin typeface="Microsoft YaHei"/>
              </a:rPr>
              <a:t>▪ 高温烫伤、药剂中毒、紫外伤眼</a:t>
            </a:r>
          </a:p>
          <a:p>
            <a:pPr>
              <a:spcAft>
                <a:spcPts val="1000"/>
              </a:spcAft>
            </a:pPr>
            <a:r>
              <a:rPr sz="1700">
                <a:solidFill>
                  <a:srgbClr val="222B33"/>
                </a:solidFill>
                <a:latin typeface="Microsoft YaHei"/>
              </a:rPr>
              <a:t>▪ 用错管错还会污染环境</a:t>
            </a:r>
          </a:p>
          <a:p>
            <a:pPr>
              <a:spcAft>
                <a:spcPts val="1000"/>
              </a:spcAft>
            </a:pPr>
            <a:r>
              <a:rPr sz="1700">
                <a:solidFill>
                  <a:srgbClr val="222B33"/>
                </a:solidFill>
                <a:latin typeface="Microsoft YaHei"/>
              </a:rPr>
              <a:t>▪ 规程两个目的：护人也保效果</a:t>
            </a:r>
          </a:p>
          <a:p>
            <a:pPr>
              <a:spcAft>
                <a:spcPts val="1000"/>
              </a:spcAft>
            </a:pPr>
            <a:r>
              <a:rPr sz="1700">
                <a:solidFill>
                  <a:srgbClr val="222B33"/>
                </a:solidFill>
                <a:latin typeface="Microsoft YaHei"/>
              </a:rPr>
              <a:t>▪ 没学过规程，不上手</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消毒灭菌用的高温高压蒸汽、化学消毒剂和熏蒸剂、紫外线，本身就是危害：会造成烫伤、化学灼伤和中毒、眼和皮肤的紫外损伤，高压设备使用不当还可能发生事故（高压灭菌器的操作安全见第 123 课，紫外灯的人身防护见第 111 ……</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觉得消毒剂“只是清洁用品”，不防护</a:t>
            </a:r>
          </a:p>
          <a:p>
            <a:pPr>
              <a:spcAft>
                <a:spcPts val="1000"/>
              </a:spcAft>
            </a:pPr>
            <a:r>
              <a:rPr sz="1500">
                <a:solidFill>
                  <a:srgbClr val="222B33"/>
                </a:solidFill>
                <a:latin typeface="Microsoft YaHei"/>
              </a:rPr>
              <a:t>▪ 没经培训就操作高压灭菌器</a:t>
            </a:r>
          </a:p>
        </p:txBody>
      </p:sp>
    </p:spTree>
  </p:cSld>
  <p:clrMapOvr>
    <a:masterClrMapping/>
  </p:clrMapOvr>
</p:sld>
</file>

<file path=ppt/slides/slide4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076 · 消毒与灭菌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消毒剂要对得上微生物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076 消毒与灭菌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微生物不同，抵抗力差得远</a:t>
            </a:r>
          </a:p>
          <a:p>
            <a:pPr>
              <a:spcAft>
                <a:spcPts val="1000"/>
              </a:spcAft>
            </a:pPr>
            <a:r>
              <a:rPr sz="1700">
                <a:solidFill>
                  <a:srgbClr val="222B33"/>
                </a:solidFill>
                <a:latin typeface="Microsoft YaHei"/>
              </a:rPr>
              <a:t>▪ 乙醇对芽孢无效</a:t>
            </a:r>
          </a:p>
          <a:p>
            <a:pPr>
              <a:spcAft>
                <a:spcPts val="1000"/>
              </a:spcAft>
            </a:pPr>
            <a:r>
              <a:rPr sz="1700">
                <a:solidFill>
                  <a:srgbClr val="222B33"/>
                </a:solidFill>
                <a:latin typeface="Microsoft YaHei"/>
              </a:rPr>
              <a:t>▪ 有机物降低效果，先清掉污物</a:t>
            </a:r>
          </a:p>
          <a:p>
            <a:pPr>
              <a:spcAft>
                <a:spcPts val="1000"/>
              </a:spcAft>
            </a:pPr>
            <a:r>
              <a:rPr sz="1700">
                <a:solidFill>
                  <a:srgbClr val="222B33"/>
                </a:solidFill>
                <a:latin typeface="Microsoft YaHei"/>
              </a:rPr>
              <a:t>▪ 含氯的腐蚀金属，作用后清水擦净</a:t>
            </a:r>
          </a:p>
          <a:p>
            <a:pPr>
              <a:spcAft>
                <a:spcPts val="1000"/>
              </a:spcAft>
            </a:pPr>
            <a:r>
              <a:rPr sz="1700">
                <a:solidFill>
                  <a:srgbClr val="222B33"/>
                </a:solidFill>
                <a:latin typeface="Microsoft YaHei"/>
              </a:rPr>
              <a:t>▪ 换消毒剂先确认有效，写进规程</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不同微生物对消毒剂的抵抗力相差很大：一般细菌、有包膜病毒较容易杀灭，分枝杆菌、无包膜病毒更难，细菌芽孢最难。常用的乙醇（常用 75% 左右）作用快，但对芽孢无效；含氯消毒剂作用谱广，但有腐蚀性和刺激性。选哪种，看要对……</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用乙醇对付可能有芽孢的污染</a:t>
            </a:r>
          </a:p>
          <a:p>
            <a:pPr>
              <a:spcAft>
                <a:spcPts val="1000"/>
              </a:spcAft>
            </a:pPr>
            <a:r>
              <a:rPr sz="1500">
                <a:solidFill>
                  <a:srgbClr val="222B33"/>
                </a:solidFill>
                <a:latin typeface="Microsoft YaHei"/>
              </a:rPr>
              <a:t>▪ 不查有效性就换便宜的消毒剂</a:t>
            </a:r>
          </a:p>
        </p:txBody>
      </p:sp>
    </p:spTree>
  </p:cSld>
  <p:clrMapOvr>
    <a:masterClrMapping/>
  </p:clrMapOvr>
</p:sld>
</file>

<file path=ppt/slides/slide4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076 · 消毒与灭菌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保持湿润，等够作用时间</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076 消毒与灭菌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喷一下就擦，等于没消毒</a:t>
            </a:r>
          </a:p>
          <a:p>
            <a:pPr>
              <a:spcAft>
                <a:spcPts val="1000"/>
              </a:spcAft>
            </a:pPr>
            <a:r>
              <a:rPr sz="2000">
                <a:solidFill>
                  <a:srgbClr val="222B33"/>
                </a:solidFill>
                <a:latin typeface="Microsoft YaHei"/>
              </a:rPr>
              <a:t>▪ 表面保持湿润，等够作用时间</a:t>
            </a:r>
          </a:p>
          <a:p>
            <a:pPr>
              <a:spcAft>
                <a:spcPts val="1000"/>
              </a:spcAft>
            </a:pPr>
            <a:r>
              <a:rPr sz="2000">
                <a:solidFill>
                  <a:srgbClr val="222B33"/>
                </a:solidFill>
                <a:latin typeface="Microsoft YaHei"/>
              </a:rPr>
              <a:t>▪ 时间到再擦去残留</a:t>
            </a:r>
          </a:p>
          <a:p>
            <a:pPr>
              <a:spcAft>
                <a:spcPts val="1000"/>
              </a:spcAft>
            </a:pPr>
            <a:r>
              <a:rPr sz="2000">
                <a:solidFill>
                  <a:srgbClr val="222B33"/>
                </a:solidFill>
                <a:latin typeface="Microsoft YaHei"/>
              </a:rPr>
              <a:t>▪ 浓度和时间以规程和说明为准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消毒剂需要与微生物接触足够的时间才能起作用。喷一下马上擦干，接触时间不够，等于没消毒。</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喷完立即擦干</a:t>
            </a:r>
          </a:p>
          <a:p>
            <a:pPr>
              <a:spcAft>
                <a:spcPts val="1000"/>
              </a:spcAft>
            </a:pPr>
            <a:r>
              <a:rPr sz="1500">
                <a:solidFill>
                  <a:srgbClr val="222B33"/>
                </a:solidFill>
                <a:latin typeface="Microsoft YaHei"/>
              </a:rPr>
              <a:t>▪ 凭感觉稀释，不看说明</a:t>
            </a:r>
          </a:p>
        </p:txBody>
      </p:sp>
    </p:spTree>
  </p:cSld>
  <p:clrMapOvr>
    <a:masterClrMapping/>
  </p:clrMapOvr>
</p:sld>
</file>

<file path=ppt/slides/slide4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076 · 消毒与灭菌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台面设备：开工前、收工后、洒了马上消毒</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076 消毒与灭菌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一洒一漏，台面和材料就被污染</a:t>
            </a:r>
          </a:p>
          <a:p>
            <a:pPr>
              <a:spcAft>
                <a:spcPts val="1000"/>
              </a:spcAft>
            </a:pPr>
            <a:r>
              <a:rPr sz="1700">
                <a:solidFill>
                  <a:srgbClr val="222B33"/>
                </a:solidFill>
                <a:latin typeface="Microsoft YaHei"/>
              </a:rPr>
              <a:t>▪ 开工前、收工后，台面都要消毒</a:t>
            </a:r>
          </a:p>
          <a:p>
            <a:pPr>
              <a:spcAft>
                <a:spcPts val="1000"/>
              </a:spcAft>
            </a:pPr>
            <a:r>
              <a:rPr sz="1700">
                <a:solidFill>
                  <a:srgbClr val="222B33"/>
                </a:solidFill>
                <a:latin typeface="Microsoft YaHei"/>
              </a:rPr>
              <a:t>▪ 用过的仪器设备也要擦</a:t>
            </a:r>
          </a:p>
          <a:p>
            <a:pPr>
              <a:spcAft>
                <a:spcPts val="1000"/>
              </a:spcAft>
            </a:pPr>
            <a:r>
              <a:rPr sz="1700">
                <a:solidFill>
                  <a:srgbClr val="222B33"/>
                </a:solidFill>
                <a:latin typeface="Microsoft YaHei"/>
              </a:rPr>
              <a:t>▪ 洒了按规程马上处理</a:t>
            </a:r>
          </a:p>
          <a:p>
            <a:pPr>
              <a:spcAft>
                <a:spcPts val="1000"/>
              </a:spcAft>
            </a:pPr>
            <a:r>
              <a:rPr sz="1700">
                <a:solidFill>
                  <a:srgbClr val="222B33"/>
                </a:solidFill>
                <a:latin typeface="Microsoft YaHei"/>
              </a:rPr>
              <a:t>▪ 用过的东西收进专用袋</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生物材料一旦洒漏，台面、设备和材料都会被污染，既威胁人员，也破坏实验的无菌条件。</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只在收工时擦一次台面</a:t>
            </a:r>
          </a:p>
          <a:p>
            <a:pPr>
              <a:spcAft>
                <a:spcPts val="1000"/>
              </a:spcAft>
            </a:pPr>
            <a:r>
              <a:rPr sz="1500">
                <a:solidFill>
                  <a:srgbClr val="222B33"/>
                </a:solidFill>
                <a:latin typeface="Microsoft YaHei"/>
              </a:rPr>
              <a:t>▪ 用过的东西随手丢在台面上</a:t>
            </a:r>
          </a:p>
        </p:txBody>
      </p:sp>
    </p:spTree>
  </p:cSld>
  <p:clrMapOvr>
    <a:masterClrMapping/>
  </p:clrMapOvr>
</p:sld>
</file>

<file path=ppt/slides/slide4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076 · 消毒与灭菌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配制消毒液：防护、标签、按期更换</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076 消毒与灭菌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配消毒液，戴好手套和护目镜</a:t>
            </a:r>
          </a:p>
          <a:p>
            <a:pPr>
              <a:spcAft>
                <a:spcPts val="1000"/>
              </a:spcAft>
            </a:pPr>
            <a:r>
              <a:rPr sz="2000">
                <a:solidFill>
                  <a:srgbClr val="222B33"/>
                </a:solidFill>
                <a:latin typeface="Microsoft YaHei"/>
              </a:rPr>
              <a:t>▪ 贴标签，写名称和配制日期</a:t>
            </a:r>
          </a:p>
          <a:p>
            <a:pPr>
              <a:spcAft>
                <a:spcPts val="1000"/>
              </a:spcAft>
            </a:pPr>
            <a:r>
              <a:rPr sz="2000">
                <a:solidFill>
                  <a:srgbClr val="222B33"/>
                </a:solidFill>
                <a:latin typeface="Microsoft YaHei"/>
              </a:rPr>
              <a:t>▪ 过了有效期就换新的</a:t>
            </a:r>
          </a:p>
          <a:p>
            <a:pPr>
              <a:spcAft>
                <a:spcPts val="1000"/>
              </a:spcAft>
            </a:pPr>
            <a:r>
              <a:rPr sz="2000">
                <a:solidFill>
                  <a:srgbClr val="222B33"/>
                </a:solidFill>
                <a:latin typeface="Microsoft YaHei"/>
              </a:rPr>
              <a:t>▪ 需要现配的就现配现用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消毒剂浓缩液多有腐蚀性或刺激性。配制和擦拭时戴好手套和护目镜，在通风良好处按说明量取、稀释，必要时穿防护围裙。</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配制时不戴护目镜</a:t>
            </a:r>
          </a:p>
          <a:p>
            <a:pPr>
              <a:spcAft>
                <a:spcPts val="1000"/>
              </a:spcAft>
            </a:pPr>
            <a:r>
              <a:rPr sz="1500">
                <a:solidFill>
                  <a:srgbClr val="222B33"/>
                </a:solidFill>
                <a:latin typeface="Microsoft YaHei"/>
              </a:rPr>
              <a:t>▪ 稀释液没有标签和日期</a:t>
            </a:r>
          </a:p>
        </p:txBody>
      </p:sp>
    </p:spTree>
  </p:cSld>
  <p:clrMapOvr>
    <a:masterClrMapping/>
  </p:clrMapOvr>
</p:sld>
</file>

<file path=ppt/slides/slide4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076 · 消毒与灭菌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消毒剂不乱混，乙醇远离火源</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076 消毒与灭菌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含氯的不和酸性、含氨清洁剂混</a:t>
            </a:r>
          </a:p>
          <a:p>
            <a:pPr>
              <a:spcAft>
                <a:spcPts val="1000"/>
              </a:spcAft>
            </a:pPr>
            <a:r>
              <a:rPr sz="2000">
                <a:solidFill>
                  <a:srgbClr val="222B33"/>
                </a:solidFill>
                <a:latin typeface="Microsoft YaHei"/>
              </a:rPr>
              <a:t>▪ 能不能混，查说明书、问老师</a:t>
            </a:r>
          </a:p>
          <a:p>
            <a:pPr>
              <a:spcAft>
                <a:spcPts val="1000"/>
              </a:spcAft>
            </a:pPr>
            <a:r>
              <a:rPr sz="2000">
                <a:solidFill>
                  <a:srgbClr val="222B33"/>
                </a:solidFill>
                <a:latin typeface="Microsoft YaHei"/>
              </a:rPr>
              <a:t>▪ 乙醇易燃，远离明火、热源和火花</a:t>
            </a:r>
          </a:p>
          <a:p>
            <a:pPr>
              <a:spcAft>
                <a:spcPts val="1000"/>
              </a:spcAft>
            </a:pPr>
            <a:r>
              <a:rPr sz="2000">
                <a:solidFill>
                  <a:srgbClr val="222B33"/>
                </a:solidFill>
                <a:latin typeface="Microsoft YaHei"/>
              </a:rPr>
              <a:t>▪ 消毒剂也是化学品，按化学品管理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消毒剂不能随手混在一起：含氯消毒剂与酸性物品混合会放出氯气，与含氨清洁剂混合也会产生有害气体。能不能混用、能不能先后使用，查产品说明书或安全技术说明书，拿不准就问老师。</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把含氯消毒剂和酸性清洁剂混在一起</a:t>
            </a:r>
          </a:p>
          <a:p>
            <a:pPr>
              <a:spcAft>
                <a:spcPts val="1000"/>
              </a:spcAft>
            </a:pPr>
            <a:r>
              <a:rPr sz="1500">
                <a:solidFill>
                  <a:srgbClr val="222B33"/>
                </a:solidFill>
                <a:latin typeface="Microsoft YaHei"/>
              </a:rPr>
              <a:t>▪ 在酒精灯旁大量喷洒乙醇</a:t>
            </a:r>
          </a:p>
        </p:txBody>
      </p:sp>
    </p:spTree>
  </p:cSld>
  <p:clrMapOvr>
    <a:masterClrMapping/>
  </p:clrMapOvr>
</p:sld>
</file>

<file path=ppt/slides/slide4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076 · 消毒与灭菌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紫外消毒只是辅助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076 消毒与灭菌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只对直接照到的表面有效</a:t>
            </a:r>
          </a:p>
          <a:p>
            <a:pPr>
              <a:spcAft>
                <a:spcPts val="1000"/>
              </a:spcAft>
            </a:pPr>
            <a:r>
              <a:rPr sz="1700">
                <a:solidFill>
                  <a:srgbClr val="222B33"/>
                </a:solidFill>
                <a:latin typeface="Microsoft YaHei"/>
              </a:rPr>
              <a:t>▪ 阴影、角落、灰尘下面管不着</a:t>
            </a:r>
          </a:p>
          <a:p>
            <a:pPr>
              <a:spcAft>
                <a:spcPts val="1000"/>
              </a:spcAft>
            </a:pPr>
            <a:r>
              <a:rPr sz="1700">
                <a:solidFill>
                  <a:srgbClr val="222B33"/>
                </a:solidFill>
                <a:latin typeface="Microsoft YaHei"/>
              </a:rPr>
              <a:t>▪ 不能代替消毒剂擦拭</a:t>
            </a:r>
          </a:p>
          <a:p>
            <a:pPr>
              <a:spcAft>
                <a:spcPts val="1000"/>
              </a:spcAft>
            </a:pPr>
            <a:r>
              <a:rPr sz="1700">
                <a:solidFill>
                  <a:srgbClr val="222B33"/>
                </a:solidFill>
                <a:latin typeface="Microsoft YaHei"/>
              </a:rPr>
              <a:t>▪ 灯管老化，要定期检测更换</a:t>
            </a:r>
          </a:p>
          <a:p>
            <a:pPr>
              <a:spcAft>
                <a:spcPts val="1000"/>
              </a:spcAft>
            </a:pPr>
            <a:r>
              <a:rPr sz="1700">
                <a:solidFill>
                  <a:srgbClr val="222B33"/>
                </a:solidFill>
                <a:latin typeface="Microsoft YaHei"/>
              </a:rPr>
              <a:t>▪ 开灯时人离开；开多久按规程</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紫外线只能杀灭直接照射到的表面和空气中的微生物，穿透力很弱：物品背后的阴影、角落、灰尘和污物下面都照不到。因此紫外消毒只能作为辅助手段，不能代替消毒剂擦拭和灭菌。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用紫外照射代替擦拭消毒</a:t>
            </a:r>
          </a:p>
          <a:p>
            <a:pPr>
              <a:spcAft>
                <a:spcPts val="1000"/>
              </a:spcAft>
            </a:pPr>
            <a:r>
              <a:rPr sz="1500">
                <a:solidFill>
                  <a:srgbClr val="222B33"/>
                </a:solidFill>
                <a:latin typeface="Microsoft YaHei"/>
              </a:rPr>
              <a:t>▪ 紫外灯亮着时开门查看</a:t>
            </a:r>
          </a:p>
        </p:txBody>
      </p:sp>
    </p:spTree>
  </p:cSld>
  <p:clrMapOvr>
    <a:masterClrMapping/>
  </p:clrMapOvr>
</p:sld>
</file>

<file path=ppt/slides/slide4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076 · 消毒与灭菌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湿热灭菌：靠饱和蒸汽穿透</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076 消毒与灭菌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高压蒸汽灭菌最常用也最可靠</a:t>
            </a:r>
          </a:p>
          <a:p>
            <a:pPr>
              <a:spcAft>
                <a:spcPts val="1000"/>
              </a:spcAft>
            </a:pPr>
            <a:r>
              <a:rPr sz="1700">
                <a:solidFill>
                  <a:srgbClr val="222B33"/>
                </a:solidFill>
                <a:latin typeface="Microsoft YaHei"/>
              </a:rPr>
              <a:t>▪ 加压让蒸汽温度升高</a:t>
            </a:r>
          </a:p>
          <a:p>
            <a:pPr>
              <a:spcAft>
                <a:spcPts val="1000"/>
              </a:spcAft>
            </a:pPr>
            <a:r>
              <a:rPr sz="1700">
                <a:solidFill>
                  <a:srgbClr val="222B33"/>
                </a:solidFill>
                <a:latin typeface="Microsoft YaHei"/>
              </a:rPr>
              <a:t>▪ 蒸汽要钻进物品中心才灭得透</a:t>
            </a:r>
          </a:p>
          <a:p>
            <a:pPr>
              <a:spcAft>
                <a:spcPts val="1000"/>
              </a:spcAft>
            </a:pPr>
            <a:r>
              <a:rPr sz="1700">
                <a:solidFill>
                  <a:srgbClr val="222B33"/>
                </a:solidFill>
                <a:latin typeface="Microsoft YaHei"/>
              </a:rPr>
              <a:t>▪ 装载松散，瓶盖拧松，袋口不扎死</a:t>
            </a:r>
          </a:p>
          <a:p>
            <a:pPr>
              <a:spcAft>
                <a:spcPts val="1000"/>
              </a:spcAft>
            </a:pPr>
            <a:r>
              <a:rPr sz="1700">
                <a:solidFill>
                  <a:srgbClr val="222B33"/>
                </a:solidFill>
                <a:latin typeface="Microsoft YaHei"/>
              </a:rPr>
              <a:t>▪ 参数按设备规程和验证结果</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高压蒸汽灭菌是实验室最常用、最可靠的灭菌方法：在密闭容器中加压，使饱和蒸汽温度升高；高温蒸汽接触物品并在表面冷凝放热，使微生物的蛋白质变性而死亡。</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灭菌筐塞满、袋口扎死</a:t>
            </a:r>
          </a:p>
          <a:p>
            <a:pPr>
              <a:spcAft>
                <a:spcPts val="1000"/>
              </a:spcAft>
            </a:pPr>
            <a:r>
              <a:rPr sz="1500">
                <a:solidFill>
                  <a:srgbClr val="222B33"/>
                </a:solidFill>
                <a:latin typeface="Microsoft YaHei"/>
              </a:rPr>
              <a:t>▪ 自行改参数、缩短时间</a:t>
            </a:r>
          </a:p>
        </p:txBody>
      </p:sp>
    </p:spTree>
  </p:cSld>
  <p:clrMapOvr>
    <a:masterClrMapping/>
  </p:clrMapOvr>
</p:sld>
</file>

<file path=ppt/slides/slide4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076 · 消毒与灭菌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灭菌效果要监测和验证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076 消毒与灭菌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每锅看温度、压力、时间记录</a:t>
            </a:r>
          </a:p>
          <a:p>
            <a:pPr>
              <a:spcAft>
                <a:spcPts val="1000"/>
              </a:spcAft>
            </a:pPr>
            <a:r>
              <a:rPr sz="1700">
                <a:solidFill>
                  <a:srgbClr val="222B33"/>
                </a:solidFill>
                <a:latin typeface="Microsoft YaHei"/>
              </a:rPr>
              <a:t>▪ 指示胶带变色只说明经过灭菌</a:t>
            </a:r>
          </a:p>
          <a:p>
            <a:pPr>
              <a:spcAft>
                <a:spcPts val="1000"/>
              </a:spcAft>
            </a:pPr>
            <a:r>
              <a:rPr sz="1700">
                <a:solidFill>
                  <a:srgbClr val="222B33"/>
                </a:solidFill>
                <a:latin typeface="Microsoft YaHei"/>
              </a:rPr>
              <a:t>▪ 生物指示物定期验证能否杀灭</a:t>
            </a:r>
          </a:p>
          <a:p>
            <a:pPr>
              <a:spcAft>
                <a:spcPts val="1000"/>
              </a:spcAft>
            </a:pPr>
            <a:r>
              <a:rPr sz="1700">
                <a:solidFill>
                  <a:srgbClr val="222B33"/>
                </a:solidFill>
                <a:latin typeface="Microsoft YaHei"/>
              </a:rPr>
              <a:t>▪ 新装、维修后、换装法都要验证</a:t>
            </a:r>
          </a:p>
          <a:p>
            <a:pPr>
              <a:spcAft>
                <a:spcPts val="1000"/>
              </a:spcAft>
            </a:pPr>
            <a:r>
              <a:rPr sz="1700">
                <a:solidFill>
                  <a:srgbClr val="222B33"/>
                </a:solidFill>
                <a:latin typeface="Microsoft YaHei"/>
              </a:rPr>
              <a:t>▪ 不合格停用报告，记录存档</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灭菌是否成功，要靠监测和验证，而不是“看着差不多”。常用三类监测：物理监测，每一锅记录温度、压力和时间；化学指示物，如包外的指示胶带和包内指示卡，变色只说明经过了灭菌过程，不等于中心已经灭透；生物指示物，内含耐热芽孢……</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指示胶带变色就认为灭透了</a:t>
            </a:r>
          </a:p>
          <a:p>
            <a:pPr>
              <a:spcAft>
                <a:spcPts val="1000"/>
              </a:spcAft>
            </a:pPr>
            <a:r>
              <a:rPr sz="1500">
                <a:solidFill>
                  <a:srgbClr val="222B33"/>
                </a:solidFill>
                <a:latin typeface="Microsoft YaHei"/>
              </a:rPr>
              <a:t>▪ 监测不合格仍继续使用</a:t>
            </a:r>
          </a:p>
        </p:txBody>
      </p:sp>
    </p:spTree>
  </p:cSld>
  <p:clrMapOvr>
    <a:masterClrMapping/>
  </p:clrMapOvr>
</p:sld>
</file>

<file path=ppt/slides/slide4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076 · 消毒与灭菌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熏蒸与气体灭菌：专人操作，通风合格再进</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076 消毒与灭菌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整间实验室或柜子去污用熏蒸</a:t>
            </a:r>
          </a:p>
          <a:p>
            <a:pPr>
              <a:spcAft>
                <a:spcPts val="1000"/>
              </a:spcAft>
            </a:pPr>
            <a:r>
              <a:rPr sz="1700">
                <a:solidFill>
                  <a:srgbClr val="222B33"/>
                </a:solidFill>
                <a:latin typeface="Microsoft YaHei"/>
              </a:rPr>
              <a:t>▪ 熏蒸药剂对人也有害</a:t>
            </a:r>
          </a:p>
          <a:p>
            <a:pPr>
              <a:spcAft>
                <a:spcPts val="1000"/>
              </a:spcAft>
            </a:pPr>
            <a:r>
              <a:rPr sz="1700">
                <a:solidFill>
                  <a:srgbClr val="222B33"/>
                </a:solidFill>
                <a:latin typeface="Microsoft YaHei"/>
              </a:rPr>
              <a:t>▪ 专人操作，先清场，门口挂牌</a:t>
            </a:r>
          </a:p>
          <a:p>
            <a:pPr>
              <a:spcAft>
                <a:spcPts val="1000"/>
              </a:spcAft>
            </a:pPr>
            <a:r>
              <a:rPr sz="1700">
                <a:solidFill>
                  <a:srgbClr val="222B33"/>
                </a:solidFill>
                <a:latin typeface="Microsoft YaHei"/>
              </a:rPr>
              <a:t>▪ 通风、检测合格后才能进去</a:t>
            </a:r>
          </a:p>
          <a:p>
            <a:pPr>
              <a:spcAft>
                <a:spcPts val="1000"/>
              </a:spcAft>
            </a:pPr>
            <a:r>
              <a:rPr sz="1700">
                <a:solidFill>
                  <a:srgbClr val="222B33"/>
                </a:solidFill>
                <a:latin typeface="Microsoft YaHei"/>
              </a:rPr>
              <a:t>▪ 气体灭菌有毒易燃，不提前开门</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需要对整间实验室、生物安全柜整体去污时（如更换过滤器、设备维修搬迁、实验室停用或发生严重污染后），采用熏蒸消毒。熏蒸用的药剂对人同样有毒有害。</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熏蒸期间无人看管、不挂牌</a:t>
            </a:r>
          </a:p>
          <a:p>
            <a:pPr>
              <a:spcAft>
                <a:spcPts val="1000"/>
              </a:spcAft>
            </a:pPr>
            <a:r>
              <a:rPr sz="1500">
                <a:solidFill>
                  <a:srgbClr val="222B33"/>
                </a:solidFill>
                <a:latin typeface="Microsoft YaHei"/>
              </a:rPr>
              <a:t>▪ 熏蒸后不检测就进入</a:t>
            </a:r>
          </a:p>
        </p:txBody>
      </p:sp>
    </p:spTree>
  </p:cSld>
  <p:clrMapOvr>
    <a:masterClrMapping/>
  </p:clrMapOvr>
</p:sld>
</file>

<file path=ppt/slides/slide4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076 · 消毒与灭菌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076 消毒与灭菌</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关于消毒和灭菌，下列说法正确的是：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消毒过的器皿就是无菌的</a:t>
            </a:r>
          </a:p>
          <a:p>
            <a:pPr algn="l"/>
            <a:r>
              <a:rPr sz="1500" b="0">
                <a:solidFill>
                  <a:srgbClr val="222B33"/>
                </a:solidFill>
                <a:latin typeface="Microsoft YaHei"/>
              </a:rPr>
              <a:t>B. 灭菌能杀灭包括芽孢在内的全部微生物</a:t>
            </a:r>
          </a:p>
          <a:p>
            <a:pPr algn="l"/>
            <a:r>
              <a:rPr sz="1500" b="0">
                <a:solidFill>
                  <a:srgbClr val="222B33"/>
                </a:solidFill>
                <a:latin typeface="Microsoft YaHei"/>
              </a:rPr>
              <a:t>C. 消毒和灭菌是同一个意思</a:t>
            </a:r>
          </a:p>
          <a:p>
            <a:pPr algn="l"/>
            <a:r>
              <a:rPr sz="1500" b="0">
                <a:solidFill>
                  <a:srgbClr val="222B33"/>
                </a:solidFill>
                <a:latin typeface="Microsoft YaHei"/>
              </a:rPr>
              <a:t>D. 紫外照射可以代替灭菌</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判断：台面喷上消毒剂后立即擦干，就完成了消毒。</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4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076 · 消毒与灭菌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076 消毒与灭菌</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下列做法中错误的是：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配制消毒液时戴手套和护目镜</a:t>
            </a:r>
          </a:p>
          <a:p>
            <a:pPr algn="l"/>
            <a:r>
              <a:rPr sz="1500" b="0">
                <a:solidFill>
                  <a:srgbClr val="222B33"/>
                </a:solidFill>
                <a:latin typeface="Microsoft YaHei"/>
              </a:rPr>
              <a:t>B. 稀释液贴标签写配制日期</a:t>
            </a:r>
          </a:p>
          <a:p>
            <a:pPr algn="l"/>
            <a:r>
              <a:rPr sz="1500" b="0">
                <a:solidFill>
                  <a:srgbClr val="222B33"/>
                </a:solidFill>
                <a:latin typeface="Microsoft YaHei"/>
              </a:rPr>
              <a:t>C. 把含氯消毒剂和酸性清洁剂混合增强效果</a:t>
            </a:r>
          </a:p>
          <a:p>
            <a:pPr algn="l"/>
            <a:r>
              <a:rPr sz="1500" b="0">
                <a:solidFill>
                  <a:srgbClr val="222B33"/>
                </a:solidFill>
                <a:latin typeface="Microsoft YaHei"/>
              </a:rPr>
              <a:t>D. 乙醇远离酒精灯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判断：开着紫外灯照射 30 分钟后，生物安全柜就不必再用消毒剂擦拭。</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4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076 · 消毒与灭菌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076 消毒与灭菌</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高压蒸汽灭菌后包外指示胶带变色了，说明：</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物品已经彻底灭菌</a:t>
            </a:r>
          </a:p>
          <a:p>
            <a:pPr algn="l"/>
            <a:r>
              <a:rPr sz="1500" b="0">
                <a:solidFill>
                  <a:srgbClr val="222B33"/>
                </a:solidFill>
                <a:latin typeface="Microsoft YaHei"/>
              </a:rPr>
              <a:t>B. 物品经过了灭菌过程，是否灭透还要靠物理监测和生物指示物验证</a:t>
            </a:r>
          </a:p>
          <a:p>
            <a:pPr algn="l"/>
            <a:r>
              <a:rPr sz="1500" b="0">
                <a:solidFill>
                  <a:srgbClr val="222B33"/>
                </a:solidFill>
                <a:latin typeface="Microsoft YaHei"/>
              </a:rPr>
              <a:t>C. 设备不需要再验证</a:t>
            </a:r>
          </a:p>
          <a:p>
            <a:pPr algn="l"/>
            <a:r>
              <a:rPr sz="1500" b="0">
                <a:solidFill>
                  <a:srgbClr val="222B33"/>
                </a:solidFill>
                <a:latin typeface="Microsoft YaHei"/>
              </a:rPr>
              <a:t>D. 可以缩短下次灭菌时间</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简答：实验室熏蒸消毒时要做到哪些安全要求？</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450.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消毒、去污、灭菌不是一回事</a:t>
            </a:r>
          </a:p>
          <a:p>
            <a:pPr>
              <a:spcAft>
                <a:spcPts val="800"/>
              </a:spcAft>
            </a:pPr>
            <a:r>
              <a:rPr sz="1500">
                <a:solidFill>
                  <a:srgbClr val="FFFFFF"/>
                </a:solidFill>
                <a:latin typeface="Microsoft YaHei"/>
              </a:rPr>
              <a:t>▪ K2  杀灭微生物的方法：热、化学、辐射</a:t>
            </a:r>
          </a:p>
          <a:p>
            <a:pPr>
              <a:spcAft>
                <a:spcPts val="800"/>
              </a:spcAft>
            </a:pPr>
            <a:r>
              <a:rPr sz="1500">
                <a:solidFill>
                  <a:srgbClr val="FFFFFF"/>
                </a:solidFill>
                <a:latin typeface="Microsoft YaHei"/>
              </a:rPr>
              <a:t>▪ K3  灭菌手段本身有危害，必须照规程</a:t>
            </a:r>
          </a:p>
          <a:p>
            <a:pPr>
              <a:spcAft>
                <a:spcPts val="800"/>
              </a:spcAft>
            </a:pPr>
            <a:r>
              <a:rPr sz="1500">
                <a:solidFill>
                  <a:srgbClr val="FFFFFF"/>
                </a:solidFill>
                <a:latin typeface="Microsoft YaHei"/>
              </a:rPr>
              <a:t>▪ K4  消毒剂要对得上微生物</a:t>
            </a:r>
          </a:p>
          <a:p>
            <a:pPr>
              <a:spcAft>
                <a:spcPts val="800"/>
              </a:spcAft>
            </a:pPr>
            <a:r>
              <a:rPr sz="1500">
                <a:solidFill>
                  <a:srgbClr val="FFFFFF"/>
                </a:solidFill>
                <a:latin typeface="Microsoft YaHei"/>
              </a:rPr>
              <a:t>▪ K5  保持湿润，等够作用时间</a:t>
            </a:r>
          </a:p>
          <a:p>
            <a:pPr>
              <a:spcAft>
                <a:spcPts val="800"/>
              </a:spcAft>
            </a:pPr>
            <a:r>
              <a:rPr sz="1500">
                <a:solidFill>
                  <a:srgbClr val="FFFFFF"/>
                </a:solidFill>
                <a:latin typeface="Microsoft YaHei"/>
              </a:rPr>
              <a:t>▪ K6  台面设备：开工前、收工后、洒了马上消毒</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K7  配制消毒液：防护、标签、按期更换</a:t>
            </a:r>
          </a:p>
          <a:p>
            <a:pPr>
              <a:spcAft>
                <a:spcPts val="800"/>
              </a:spcAft>
            </a:pPr>
            <a:r>
              <a:rPr sz="1500">
                <a:solidFill>
                  <a:srgbClr val="FFFFFF"/>
                </a:solidFill>
                <a:latin typeface="Microsoft YaHei"/>
              </a:rPr>
              <a:t>▪ K8  消毒剂不乱混，乙醇远离火源</a:t>
            </a:r>
          </a:p>
          <a:p>
            <a:pPr>
              <a:spcAft>
                <a:spcPts val="800"/>
              </a:spcAft>
            </a:pPr>
            <a:r>
              <a:rPr sz="1500">
                <a:solidFill>
                  <a:srgbClr val="FFFFFF"/>
                </a:solidFill>
                <a:latin typeface="Microsoft YaHei"/>
              </a:rPr>
              <a:t>▪ K9  紫外消毒只是辅助</a:t>
            </a:r>
          </a:p>
          <a:p>
            <a:pPr>
              <a:spcAft>
                <a:spcPts val="800"/>
              </a:spcAft>
            </a:pPr>
            <a:r>
              <a:rPr sz="1500">
                <a:solidFill>
                  <a:srgbClr val="FFFFFF"/>
                </a:solidFill>
                <a:latin typeface="Microsoft YaHei"/>
              </a:rPr>
              <a:t>▪ K10  湿热灭菌：靠饱和蒸汽穿透</a:t>
            </a:r>
          </a:p>
          <a:p>
            <a:pPr>
              <a:spcAft>
                <a:spcPts val="800"/>
              </a:spcAft>
            </a:pPr>
            <a:r>
              <a:rPr sz="1500">
                <a:solidFill>
                  <a:srgbClr val="FFFFFF"/>
                </a:solidFill>
                <a:latin typeface="Microsoft YaHei"/>
              </a:rPr>
              <a:t>▪ K11  灭菌效果要监测和验证</a:t>
            </a:r>
          </a:p>
          <a:p>
            <a:pPr>
              <a:spcAft>
                <a:spcPts val="800"/>
              </a:spcAft>
            </a:pPr>
            <a:r>
              <a:rPr sz="1500">
                <a:solidFill>
                  <a:srgbClr val="FFFFFF"/>
                </a:solidFill>
                <a:latin typeface="Microsoft YaHei"/>
              </a:rPr>
              <a:t>▪ K12  熏蒸与气体灭菌：专人操作，通风合格再进</a:t>
            </a:r>
          </a:p>
        </p:txBody>
      </p:sp>
    </p:spTree>
  </p:cSld>
  <p:clrMapOvr>
    <a:masterClrMapping/>
  </p:clrMapOvr>
</p:sld>
</file>

<file path=ppt/slides/slide45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077</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感染性废物处置</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5 分钟（卡通视频 61 镜）　适用对象：从事微生物、细胞、分子生物学、医学、农学、环境等生物实验的高校本科生、研究生和教职工（必修）；实验室负责人和废物管理人员重点学习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4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077 · 感染性废物处置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077 感染性废物处置</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能说出哪些属于感染性废物，做到与化学废物、锐器分类收集，实验前定好废物管理方案。</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能做到锐器进锐器盒、不回套针帽，感染性废物用专用袋双层包装、不超过四分之三封口、不用手压。</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能判断液体废物、培养物、工程菌与转基因材料的正确处理：不倒下水道、不开盖查看污染瓶、先灭活、不私自带出。</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能说出出实验室前灭菌确认登记、专用包装标签暂存、交有资质单位并留存转移联单的要求。</a:t>
            </a:r>
          </a:p>
        </p:txBody>
      </p:sp>
    </p:spTree>
  </p:cSld>
  <p:clrMapOvr>
    <a:masterClrMapping/>
  </p:clrMapOvr>
</p:sld>
</file>

<file path=ppt/slides/slide4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077 · 感染性废物处置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077 感染性废物处置</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《中华人民共和国生物安全法》：病原微生物实验室应防止病原微生物扩散，实验废物按规定处置</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《中华人民共和国固体废物污染环境防治法》：医疗废物按国家危险废物名录管理，集中处置</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《医疗废物管理条例》（以现行文本为准）：医疗废物分类收集、专用包装和警示标识、暂时贮存、交接登记、交有资质单位集中处置，禁止混入生活垃圾</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《医疗卫生机构医疗废物管理办法》（以现行文本为准）：分类收集、包装容器、暂存设施、交接与登记要求</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《国家危险废物名录》（以现行文本为准）：医疗废物列入危险废物管理</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《病原微生物实验室生物安全管理条例》（以现行文本为准）：实验室产生的废水、废气和危险废物按规定处置</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生物安全通用要求》、WS 233（以现行文本为准）《病原微生物实验室生物安全通用准则》：废物处置程序、包装与去污染</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本校实验室废物管理规定和本实验室感染性废物处置标准操作规程（以本校规定为准）</a:t>
            </a:r>
          </a:p>
        </p:txBody>
      </p:sp>
    </p:spTree>
  </p:cSld>
  <p:clrMapOvr>
    <a:masterClrMapping/>
  </p:clrMapOvr>
</p:sld>
</file>

<file path=ppt/slides/slide4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077 · 感染性废物处置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先定废物管理方案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077 感染性废物处置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做实验前先想好废物怎么处理</a:t>
            </a:r>
          </a:p>
          <a:p>
            <a:pPr>
              <a:spcAft>
                <a:spcPts val="1000"/>
              </a:spcAft>
            </a:pPr>
            <a:r>
              <a:rPr sz="2000">
                <a:solidFill>
                  <a:srgbClr val="222B33"/>
                </a:solidFill>
                <a:latin typeface="Microsoft YaHei"/>
              </a:rPr>
              <a:t>▪ 分类、暂存、转运、处置环环写清</a:t>
            </a:r>
          </a:p>
          <a:p>
            <a:pPr>
              <a:spcAft>
                <a:spcPts val="1000"/>
              </a:spcAft>
            </a:pPr>
            <a:r>
              <a:rPr sz="2000">
                <a:solidFill>
                  <a:srgbClr val="222B33"/>
                </a:solidFill>
                <a:latin typeface="Microsoft YaHei"/>
              </a:rPr>
              <a:t>▪ 处理效果要验证</a:t>
            </a:r>
          </a:p>
          <a:p>
            <a:pPr>
              <a:spcAft>
                <a:spcPts val="1000"/>
              </a:spcAft>
            </a:pPr>
            <a:r>
              <a:rPr sz="2000">
                <a:solidFill>
                  <a:srgbClr val="222B33"/>
                </a:solidFill>
                <a:latin typeface="Microsoft YaHei"/>
              </a:rPr>
              <a:t>▪ 每个实验室有自己的处置规程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感染性废物的处理不是实验做完才考虑的事。开展生物因子实验之前，就要想好会产生哪些废物、用什么容器装、怎样灭活、送到哪里。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实验做完才找废物袋和去向</a:t>
            </a:r>
          </a:p>
          <a:p>
            <a:pPr>
              <a:spcAft>
                <a:spcPts val="1000"/>
              </a:spcAft>
            </a:pPr>
            <a:r>
              <a:rPr sz="1500">
                <a:solidFill>
                  <a:srgbClr val="222B33"/>
                </a:solidFill>
                <a:latin typeface="Microsoft YaHei"/>
              </a:rPr>
              <a:t>▪ 照搬别的实验室规程，不结合本室情况</a:t>
            </a:r>
          </a:p>
        </p:txBody>
      </p:sp>
    </p:spTree>
  </p:cSld>
  <p:clrMapOvr>
    <a:masterClrMapping/>
  </p:clrMapOvr>
</p:sld>
</file>

<file path=ppt/slides/slide4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077 · 感染性废物处置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先分类：感染性废物单独收集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077 感染性废物处置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培养物、菌种、血液和接触过的耗材都算</a:t>
            </a:r>
          </a:p>
          <a:p>
            <a:pPr>
              <a:spcAft>
                <a:spcPts val="1000"/>
              </a:spcAft>
            </a:pPr>
            <a:r>
              <a:rPr sz="1700">
                <a:solidFill>
                  <a:srgbClr val="222B33"/>
                </a:solidFill>
                <a:latin typeface="Microsoft YaHei"/>
              </a:rPr>
              <a:t>▪ 检测产生的废物一律按感染性对待</a:t>
            </a:r>
          </a:p>
          <a:p>
            <a:pPr>
              <a:spcAft>
                <a:spcPts val="1000"/>
              </a:spcAft>
            </a:pPr>
            <a:r>
              <a:rPr sz="1700">
                <a:solidFill>
                  <a:srgbClr val="222B33"/>
                </a:solidFill>
                <a:latin typeface="Microsoft YaHei"/>
              </a:rPr>
              <a:t>▪ 感染性、化学、锐器分开收集</a:t>
            </a:r>
          </a:p>
          <a:p>
            <a:pPr>
              <a:spcAft>
                <a:spcPts val="1000"/>
              </a:spcAft>
            </a:pPr>
            <a:r>
              <a:rPr sz="1700">
                <a:solidFill>
                  <a:srgbClr val="222B33"/>
                </a:solidFill>
                <a:latin typeface="Microsoft YaHei"/>
              </a:rPr>
              <a:t>▪ 化学废液别混进生物废物袋</a:t>
            </a:r>
          </a:p>
          <a:p>
            <a:pPr>
              <a:spcAft>
                <a:spcPts val="1000"/>
              </a:spcAft>
            </a:pPr>
            <a:r>
              <a:rPr sz="1700">
                <a:solidFill>
                  <a:srgbClr val="222B33"/>
                </a:solidFill>
                <a:latin typeface="Microsoft YaHei"/>
              </a:rPr>
              <a:t>▪ 拿不准看指引、问老师</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感染性废物是含有或可能含有病原微生物、有引发感染风险的废物，包括：培养物和菌（毒）种、血液及血液制品、临床和环境样本、接触过它们的吸头、平板、手套、纸巾、细胞培养耗材，检测仪器用过的卡盒和试剂条等。实验动物尸体和组织……</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把感染性废物当普通垃圾扔</a:t>
            </a:r>
          </a:p>
          <a:p>
            <a:pPr>
              <a:spcAft>
                <a:spcPts val="1000"/>
              </a:spcAft>
            </a:pPr>
            <a:r>
              <a:rPr sz="1500">
                <a:solidFill>
                  <a:srgbClr val="222B33"/>
                </a:solidFill>
                <a:latin typeface="Microsoft YaHei"/>
              </a:rPr>
              <a:t>▪ 把化学废液倒进生物废物袋一起灭菌</a:t>
            </a:r>
          </a:p>
        </p:txBody>
      </p:sp>
    </p:spTree>
  </p:cSld>
  <p:clrMapOvr>
    <a:masterClrMapping/>
  </p:clrMapOvr>
</p:sld>
</file>

<file path=ppt/slides/slide4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077 · 感染性废物处置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锐器进锐器盒，不回套针帽</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077 感染性废物处置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针头、刀片、碎玻璃不进袋，进锐器盒</a:t>
            </a:r>
          </a:p>
          <a:p>
            <a:pPr>
              <a:spcAft>
                <a:spcPts val="1000"/>
              </a:spcAft>
            </a:pPr>
            <a:r>
              <a:rPr sz="1700">
                <a:solidFill>
                  <a:srgbClr val="222B33"/>
                </a:solidFill>
                <a:latin typeface="Microsoft YaHei"/>
              </a:rPr>
              <a:t>▪ 别随手放在敞口盘子里</a:t>
            </a:r>
          </a:p>
          <a:p>
            <a:pPr>
              <a:spcAft>
                <a:spcPts val="1000"/>
              </a:spcAft>
            </a:pPr>
            <a:r>
              <a:rPr sz="1700">
                <a:solidFill>
                  <a:srgbClr val="222B33"/>
                </a:solidFill>
                <a:latin typeface="Microsoft YaHei"/>
              </a:rPr>
              <a:t>▪ 用过的针不回套、不掰弯、不拆针头</a:t>
            </a:r>
          </a:p>
          <a:p>
            <a:pPr>
              <a:spcAft>
                <a:spcPts val="1000"/>
              </a:spcAft>
            </a:pPr>
            <a:r>
              <a:rPr sz="1700">
                <a:solidFill>
                  <a:srgbClr val="222B33"/>
                </a:solidFill>
                <a:latin typeface="Microsoft YaHei"/>
              </a:rPr>
              <a:t>▪ 装到四分之三或警戒线就封盒</a:t>
            </a:r>
          </a:p>
          <a:p>
            <a:pPr>
              <a:spcAft>
                <a:spcPts val="1000"/>
              </a:spcAft>
            </a:pPr>
            <a:r>
              <a:rPr sz="1700">
                <a:solidFill>
                  <a:srgbClr val="222B33"/>
                </a:solidFill>
                <a:latin typeface="Microsoft YaHei"/>
              </a:rPr>
              <a:t>▪ 硬往里塞最容易扎伤手</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沾染过生物材料的针头、刀片、玻片、碎玻璃等是感染性锐器，扎破皮肤就可能直接造成感染。它们不能装进塑料袋，要放进防刺穿、防渗漏、有生物危害标志的专用锐器盒；锐器盒放在操作位置旁边，用完立即投入，不能随手放在敞口盘子或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用双手回套针帽</a:t>
            </a:r>
          </a:p>
          <a:p>
            <a:pPr>
              <a:spcAft>
                <a:spcPts val="1000"/>
              </a:spcAft>
            </a:pPr>
            <a:r>
              <a:rPr sz="1500">
                <a:solidFill>
                  <a:srgbClr val="222B33"/>
                </a:solidFill>
                <a:latin typeface="Microsoft YaHei"/>
              </a:rPr>
              <a:t>▪ 锐器盒装满冒尖还往里塞</a:t>
            </a:r>
          </a:p>
        </p:txBody>
      </p:sp>
    </p:spTree>
  </p:cSld>
  <p:clrMapOvr>
    <a:masterClrMapping/>
  </p:clrMapOvr>
</p:sld>
</file>

<file path=ppt/slides/slide4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077 · 感染性废物处置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专用袋双层包装，别装满别手压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077 感染性废物处置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用专用袋和带盖容器装</a:t>
            </a:r>
          </a:p>
          <a:p>
            <a:pPr>
              <a:spcAft>
                <a:spcPts val="1000"/>
              </a:spcAft>
            </a:pPr>
            <a:r>
              <a:rPr sz="1700">
                <a:solidFill>
                  <a:srgbClr val="222B33"/>
                </a:solidFill>
                <a:latin typeface="Microsoft YaHei"/>
              </a:rPr>
              <a:t>▪ 双层装袋：内袋破了外袋兜着</a:t>
            </a:r>
          </a:p>
          <a:p>
            <a:pPr>
              <a:spcAft>
                <a:spcPts val="1000"/>
              </a:spcAft>
            </a:pPr>
            <a:r>
              <a:rPr sz="1700">
                <a:solidFill>
                  <a:srgbClr val="222B33"/>
                </a:solidFill>
                <a:latin typeface="Microsoft YaHei"/>
              </a:rPr>
              <a:t>▪ 内袋加消毒剂扎紧，外袋再扎</a:t>
            </a:r>
          </a:p>
          <a:p>
            <a:pPr>
              <a:spcAft>
                <a:spcPts val="1000"/>
              </a:spcAft>
            </a:pPr>
            <a:r>
              <a:rPr sz="1700">
                <a:solidFill>
                  <a:srgbClr val="222B33"/>
                </a:solidFill>
                <a:latin typeface="Microsoft YaHei"/>
              </a:rPr>
              <a:t>▪ 袋子和桶的外面也要消毒</a:t>
            </a:r>
          </a:p>
          <a:p>
            <a:pPr>
              <a:spcAft>
                <a:spcPts val="1000"/>
              </a:spcAft>
            </a:pPr>
            <a:r>
              <a:rPr sz="1700">
                <a:solidFill>
                  <a:srgbClr val="222B33"/>
                </a:solidFill>
                <a:latin typeface="Microsoft YaHei"/>
              </a:rPr>
              <a:t>▪ 别装太满，千万别用手往下压</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感染性废物用耐高压灭菌、印有生物危害标志的专用袋，套在带盖、可脚踏开启的容器里。双层装袋是常用的做法：内袋万一被戳破，还有外袋兜着。废物容器在使用前就套好两层袋（在生物安全柜内使用的，进柜前套好），实验中废物直接放进……</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只用一层普通垃圾袋</a:t>
            </a:r>
          </a:p>
          <a:p>
            <a:pPr>
              <a:spcAft>
                <a:spcPts val="1000"/>
              </a:spcAft>
            </a:pPr>
            <a:r>
              <a:rPr sz="1500">
                <a:solidFill>
                  <a:srgbClr val="222B33"/>
                </a:solidFill>
                <a:latin typeface="Microsoft YaHei"/>
              </a:rPr>
              <a:t>▪ 用手把袋里的废物往下压实</a:t>
            </a:r>
          </a:p>
        </p:txBody>
      </p:sp>
    </p:spTree>
  </p:cSld>
  <p:clrMapOvr>
    <a:masterClrMapping/>
  </p:clrMapOvr>
</p:sld>
</file>

<file path=ppt/slides/slide4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077 · 感染性废物处置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液体废物不进下水道</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077 感染性废物处置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液体培养物不能直接倒下水道</a:t>
            </a:r>
          </a:p>
          <a:p>
            <a:pPr>
              <a:spcAft>
                <a:spcPts val="1000"/>
              </a:spcAft>
            </a:pPr>
            <a:r>
              <a:rPr sz="1700">
                <a:solidFill>
                  <a:srgbClr val="222B33"/>
                </a:solidFill>
                <a:latin typeface="Microsoft YaHei"/>
              </a:rPr>
              <a:t>▪ 收进带盖容器，放进托盘防打翻</a:t>
            </a:r>
          </a:p>
          <a:p>
            <a:pPr>
              <a:spcAft>
                <a:spcPts val="1000"/>
              </a:spcAft>
            </a:pPr>
            <a:r>
              <a:rPr sz="1700">
                <a:solidFill>
                  <a:srgbClr val="222B33"/>
                </a:solidFill>
                <a:latin typeface="Microsoft YaHei"/>
              </a:rPr>
              <a:t>▪ 按规程消毒或灭菌后再处置</a:t>
            </a:r>
          </a:p>
          <a:p>
            <a:pPr>
              <a:spcAft>
                <a:spcPts val="1000"/>
              </a:spcAft>
            </a:pPr>
            <a:r>
              <a:rPr sz="1700">
                <a:solidFill>
                  <a:srgbClr val="222B33"/>
                </a:solidFill>
                <a:latin typeface="Microsoft YaHei"/>
              </a:rPr>
              <a:t>▪ 实验菌株不往外环境排放</a:t>
            </a:r>
          </a:p>
          <a:p>
            <a:pPr>
              <a:spcAft>
                <a:spcPts val="1000"/>
              </a:spcAft>
            </a:pPr>
            <a:r>
              <a:rPr sz="1700">
                <a:solidFill>
                  <a:srgbClr val="222B33"/>
                </a:solidFill>
                <a:latin typeface="Microsoft YaHei"/>
              </a:rPr>
              <a:t>▪ 野外用菌须经评估和批准</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液体培养物、废培养液、含活菌的菌液不能直接倒进水槽和下水道。收集在带盖、不易破碎的容器里，容器放进托盘，防止打翻；按规程用消毒剂处理或高压灭菌后，再按本校规定处置。消毒后的液体如含化学品，按化学废液处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把菌液直接倒进水槽冲掉</a:t>
            </a:r>
          </a:p>
          <a:p>
            <a:pPr>
              <a:spcAft>
                <a:spcPts val="1000"/>
              </a:spcAft>
            </a:pPr>
            <a:r>
              <a:rPr sz="1500">
                <a:solidFill>
                  <a:srgbClr val="222B33"/>
                </a:solidFill>
                <a:latin typeface="Microsoft YaHei"/>
              </a:rPr>
              <a:t>▪ 废液瓶敞口放在台面边上</a:t>
            </a:r>
          </a:p>
        </p:txBody>
      </p:sp>
    </p:spTree>
  </p:cSld>
  <p:clrMapOvr>
    <a:masterClrMapping/>
  </p:clrMapOvr>
</p:sld>
</file>

<file path=ppt/slides/slide4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077 · 感染性废物处置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培养物先灭活，污染瓶不开盖</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077 感染性废物处置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计完数的平板里还是活菌</a:t>
            </a:r>
          </a:p>
          <a:p>
            <a:pPr>
              <a:spcAft>
                <a:spcPts val="1000"/>
              </a:spcAft>
            </a:pPr>
            <a:r>
              <a:rPr sz="1700">
                <a:solidFill>
                  <a:srgbClr val="222B33"/>
                </a:solidFill>
                <a:latin typeface="Microsoft YaHei"/>
              </a:rPr>
              <a:t>▪ 平板、吸头、接种环先装袋灭菌</a:t>
            </a:r>
          </a:p>
          <a:p>
            <a:pPr>
              <a:spcAft>
                <a:spcPts val="1000"/>
              </a:spcAft>
            </a:pPr>
            <a:r>
              <a:rPr sz="1700">
                <a:solidFill>
                  <a:srgbClr val="222B33"/>
                </a:solidFill>
                <a:latin typeface="Microsoft YaHei"/>
              </a:rPr>
              <a:t>▪ 长霉的培养瓶别打开闻、打开看</a:t>
            </a:r>
          </a:p>
          <a:p>
            <a:pPr>
              <a:spcAft>
                <a:spcPts val="1000"/>
              </a:spcAft>
            </a:pPr>
            <a:r>
              <a:rPr sz="1700">
                <a:solidFill>
                  <a:srgbClr val="222B33"/>
                </a:solidFill>
                <a:latin typeface="Microsoft YaHei"/>
              </a:rPr>
              <a:t>▪ 整瓶不开盖直接灭菌</a:t>
            </a:r>
          </a:p>
          <a:p>
            <a:pPr>
              <a:spcAft>
                <a:spcPts val="1000"/>
              </a:spcAft>
            </a:pPr>
            <a:r>
              <a:rPr sz="1700">
                <a:solidFill>
                  <a:srgbClr val="222B33"/>
                </a:solidFill>
                <a:latin typeface="Microsoft YaHei"/>
              </a:rPr>
              <a:t>▪ 培养物不能私自带出实验室</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用过的平板、试管、吸头、接种环等，即使实验已经结束、计数已经完成，里面仍然是大量活菌，必须先放进高压灭菌袋，灭菌杀灭全部活菌后，再按感染性废物交学校统一处置，不能直接扔垃圾桶，也不能倒下水道。病原和实验菌株不能外泄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计完数的平板直接扔进垃圾桶</a:t>
            </a:r>
          </a:p>
          <a:p>
            <a:pPr>
              <a:spcAft>
                <a:spcPts val="1000"/>
              </a:spcAft>
            </a:pPr>
            <a:r>
              <a:rPr sz="1500">
                <a:solidFill>
                  <a:srgbClr val="222B33"/>
                </a:solidFill>
                <a:latin typeface="Microsoft YaHei"/>
              </a:rPr>
              <a:t>▪ 打开污染的培养瓶闻气味</a:t>
            </a:r>
          </a:p>
        </p:txBody>
      </p:sp>
    </p:spTree>
  </p:cSld>
  <p:clrMapOvr>
    <a:masterClrMapping/>
  </p:clrMapOvr>
</p:sld>
</file>

<file path=ppt/slides/slide4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077 · 感染性废物处置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工程菌与转基因材料：灭活、登记、不带出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077 感染性废物处置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工程菌带抗性基因，不能外泄</a:t>
            </a:r>
          </a:p>
          <a:p>
            <a:pPr>
              <a:spcAft>
                <a:spcPts val="1000"/>
              </a:spcAft>
            </a:pPr>
            <a:r>
              <a:rPr sz="1700">
                <a:solidFill>
                  <a:srgbClr val="222B33"/>
                </a:solidFill>
                <a:latin typeface="Microsoft YaHei"/>
              </a:rPr>
              <a:t>▪ 培养物和耗材先灭活再处置</a:t>
            </a:r>
          </a:p>
          <a:p>
            <a:pPr>
              <a:spcAft>
                <a:spcPts val="1000"/>
              </a:spcAft>
            </a:pPr>
            <a:r>
              <a:rPr sz="1700">
                <a:solidFill>
                  <a:srgbClr val="222B33"/>
                </a:solidFill>
                <a:latin typeface="Microsoft YaHei"/>
              </a:rPr>
              <a:t>▪ 组培苗和转基因材料不得私自带走</a:t>
            </a:r>
          </a:p>
          <a:p>
            <a:pPr>
              <a:spcAft>
                <a:spcPts val="1000"/>
              </a:spcAft>
            </a:pPr>
            <a:r>
              <a:rPr sz="1700">
                <a:solidFill>
                  <a:srgbClr val="222B33"/>
                </a:solidFill>
                <a:latin typeface="Microsoft YaHei"/>
              </a:rPr>
              <a:t>▪ 试验结束清掉自生苗</a:t>
            </a:r>
          </a:p>
          <a:p>
            <a:pPr>
              <a:spcAft>
                <a:spcPts val="1000"/>
              </a:spcAft>
            </a:pPr>
            <a:r>
              <a:rPr sz="1700">
                <a:solidFill>
                  <a:srgbClr val="222B33"/>
                </a:solidFill>
                <a:latin typeface="Microsoft YaHei"/>
              </a:rPr>
              <a:t>▪ 菌株和处理都要登记</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基因工程菌常带有抗生素抗性基因等外源基因，一旦外泄可能在环境中扩散。含工程菌的培养物、废液和耗材收进专用容器，先灭活（如高压灭菌），再按规定分类处置。</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工程菌菌液直接倒进下水道</a:t>
            </a:r>
          </a:p>
          <a:p>
            <a:pPr>
              <a:spcAft>
                <a:spcPts val="1000"/>
              </a:spcAft>
            </a:pPr>
            <a:r>
              <a:rPr sz="1500">
                <a:solidFill>
                  <a:srgbClr val="222B33"/>
                </a:solidFill>
                <a:latin typeface="Microsoft YaHei"/>
              </a:rPr>
              <a:t>▪ 把转基因苗带回宿舍养</a:t>
            </a:r>
          </a:p>
        </p:txBody>
      </p:sp>
    </p:spTree>
  </p:cSld>
  <p:clrMapOvr>
    <a:masterClrMapping/>
  </p:clrMapOvr>
</p:sld>
</file>

<file path=ppt/slides/slide4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077 · 感染性废物处置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出实验室前先灭菌，确认并登记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077 感染性废物处置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感染性废物出实验室前先灭菌</a:t>
            </a:r>
          </a:p>
          <a:p>
            <a:pPr>
              <a:spcAft>
                <a:spcPts val="1000"/>
              </a:spcAft>
            </a:pPr>
            <a:r>
              <a:rPr sz="2000">
                <a:solidFill>
                  <a:srgbClr val="222B33"/>
                </a:solidFill>
                <a:latin typeface="Microsoft YaHei"/>
              </a:rPr>
              <a:t>▪ 按本室手册，由培训过的人操作</a:t>
            </a:r>
          </a:p>
          <a:p>
            <a:pPr>
              <a:spcAft>
                <a:spcPts val="1000"/>
              </a:spcAft>
            </a:pPr>
            <a:r>
              <a:rPr sz="2000">
                <a:solidFill>
                  <a:srgbClr val="222B33"/>
                </a:solidFill>
                <a:latin typeface="Microsoft YaHei"/>
              </a:rPr>
              <a:t>▪ 用指示物确认灭菌到位</a:t>
            </a:r>
          </a:p>
          <a:p>
            <a:pPr>
              <a:spcAft>
                <a:spcPts val="1000"/>
              </a:spcAft>
            </a:pPr>
            <a:r>
              <a:rPr sz="2000">
                <a:solidFill>
                  <a:srgbClr val="222B33"/>
                </a:solidFill>
                <a:latin typeface="Microsoft YaHei"/>
              </a:rPr>
              <a:t>▪ 每锅登记，合格了再往外送</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国内高校实验室的感染性废物，一般要先在实验室内（或本单位指定地点）高压蒸汽灭菌，灭菌合格后再离开实验室，交学校统一处置。</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没有灭菌就把感染性废物送出实验室</a:t>
            </a:r>
          </a:p>
          <a:p>
            <a:pPr>
              <a:spcAft>
                <a:spcPts val="1000"/>
              </a:spcAft>
            </a:pPr>
            <a:r>
              <a:rPr sz="1500">
                <a:solidFill>
                  <a:srgbClr val="222B33"/>
                </a:solidFill>
                <a:latin typeface="Microsoft YaHei"/>
              </a:rPr>
              <a:t>▪ 灭菌不登记，结果无据可查</a:t>
            </a:r>
          </a:p>
        </p:txBody>
      </p:sp>
    </p:spTree>
  </p:cSld>
  <p:clrMapOvr>
    <a:masterClrMapping/>
  </p:clrMapOvr>
</p:sld>
</file>

<file path=ppt/slides/slide4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077 · 感染性废物处置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专用包装、标签、暂存，及时清运</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077 感染性废物处置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灭菌后装进医疗废物专用包装</a:t>
            </a:r>
          </a:p>
          <a:p>
            <a:pPr>
              <a:spcAft>
                <a:spcPts val="1000"/>
              </a:spcAft>
            </a:pPr>
            <a:r>
              <a:rPr sz="1700">
                <a:solidFill>
                  <a:srgbClr val="222B33"/>
                </a:solidFill>
                <a:latin typeface="Microsoft YaHei"/>
              </a:rPr>
              <a:t>▪ 贴标签：哪个实验室、什么时间</a:t>
            </a:r>
          </a:p>
          <a:p>
            <a:pPr>
              <a:spcAft>
                <a:spcPts val="1000"/>
              </a:spcAft>
            </a:pPr>
            <a:r>
              <a:rPr sz="1700">
                <a:solidFill>
                  <a:srgbClr val="222B33"/>
                </a:solidFill>
                <a:latin typeface="Microsoft YaHei"/>
              </a:rPr>
              <a:t>▪ 不能随手堆在走廊、楼道</a:t>
            </a:r>
          </a:p>
          <a:p>
            <a:pPr>
              <a:spcAft>
                <a:spcPts val="1000"/>
              </a:spcAft>
            </a:pPr>
            <a:r>
              <a:rPr sz="1700">
                <a:solidFill>
                  <a:srgbClr val="222B33"/>
                </a:solidFill>
                <a:latin typeface="Microsoft YaHei"/>
              </a:rPr>
              <a:t>▪ 放进专门的暂存点或转运箱</a:t>
            </a:r>
          </a:p>
          <a:p>
            <a:pPr>
              <a:spcAft>
                <a:spcPts val="1000"/>
              </a:spcAft>
            </a:pPr>
            <a:r>
              <a:rPr sz="1700">
                <a:solidFill>
                  <a:srgbClr val="222B33"/>
                </a:solidFill>
                <a:latin typeface="Microsoft YaHei"/>
              </a:rPr>
              <a:t>▪ 按时清运，不长时间存放</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灭菌后的感染性废物按本校规定装进医疗废物专用包装袋或容器（有警示标识），锐器盒单独装。包装外贴好标签，写明产生的实验室、日期、废物类别等。</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废物袋没标签，来源不明</a:t>
            </a:r>
          </a:p>
          <a:p>
            <a:pPr>
              <a:spcAft>
                <a:spcPts val="1000"/>
              </a:spcAft>
            </a:pPr>
            <a:r>
              <a:rPr sz="1500">
                <a:solidFill>
                  <a:srgbClr val="222B33"/>
                </a:solidFill>
                <a:latin typeface="Microsoft YaHei"/>
              </a:rPr>
              <a:t>▪ 废物袋长期堆在楼道</a:t>
            </a:r>
          </a:p>
        </p:txBody>
      </p:sp>
    </p:spTree>
  </p:cSld>
  <p:clrMapOvr>
    <a:masterClrMapping/>
  </p:clrMapOvr>
</p:sld>
</file>

<file path=ppt/slides/slide4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077 · 感染性废物处置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交有资质单位，联单存档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077 感染性废物处置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交有资质的单位统一处置</a:t>
            </a:r>
          </a:p>
          <a:p>
            <a:pPr>
              <a:spcAft>
                <a:spcPts val="1000"/>
              </a:spcAft>
            </a:pPr>
            <a:r>
              <a:rPr sz="1700">
                <a:solidFill>
                  <a:srgbClr val="222B33"/>
                </a:solidFill>
                <a:latin typeface="Microsoft YaHei"/>
              </a:rPr>
              <a:t>▪ 交接时填好登记和转移联单</a:t>
            </a:r>
          </a:p>
          <a:p>
            <a:pPr>
              <a:spcAft>
                <a:spcPts val="1000"/>
              </a:spcAft>
            </a:pPr>
            <a:r>
              <a:rPr sz="1700">
                <a:solidFill>
                  <a:srgbClr val="222B33"/>
                </a:solidFill>
                <a:latin typeface="Microsoft YaHei"/>
              </a:rPr>
              <a:t>▪ 联单存档，去向可查</a:t>
            </a:r>
          </a:p>
          <a:p>
            <a:pPr>
              <a:spcAft>
                <a:spcPts val="1000"/>
              </a:spcAft>
            </a:pPr>
            <a:r>
              <a:rPr sz="1700">
                <a:solidFill>
                  <a:srgbClr val="222B33"/>
                </a:solidFill>
                <a:latin typeface="Microsoft YaHei"/>
              </a:rPr>
              <a:t>▪ 不混生活垃圾，不交无资质的人</a:t>
            </a:r>
          </a:p>
          <a:p>
            <a:pPr>
              <a:spcAft>
                <a:spcPts val="1000"/>
              </a:spcAft>
            </a:pPr>
            <a:r>
              <a:rPr sz="1700">
                <a:solidFill>
                  <a:srgbClr val="222B33"/>
                </a:solidFill>
                <a:latin typeface="Microsoft YaHei"/>
              </a:rPr>
              <a:t>▪ 实验室不能自己焚烧</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感染性废物（医疗废物）属于国家危险废物名录管理的危险废物，由学校统一交给有资质的医疗废物集中处置单位，用高温焚烧等方式无害化处置。</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灭菌后就当生活垃圾扔了</a:t>
            </a:r>
          </a:p>
          <a:p>
            <a:pPr>
              <a:spcAft>
                <a:spcPts val="1000"/>
              </a:spcAft>
            </a:pPr>
            <a:r>
              <a:rPr sz="1500">
                <a:solidFill>
                  <a:srgbClr val="222B33"/>
                </a:solidFill>
                <a:latin typeface="Microsoft YaHei"/>
              </a:rPr>
              <a:t>▪ 把废物交给收废品的人</a:t>
            </a:r>
          </a:p>
        </p:txBody>
      </p:sp>
    </p:spTree>
  </p:cSld>
  <p:clrMapOvr>
    <a:masterClrMapping/>
  </p:clrMapOvr>
</p:sld>
</file>

<file path=ppt/slides/slide4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077 · 感染性废物处置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077 感染性废物处置</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下列废物中，应该放进锐器盒的是：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用过的手套</a:t>
            </a:r>
          </a:p>
          <a:p>
            <a:pPr algn="l"/>
            <a:r>
              <a:rPr sz="1500" b="0">
                <a:solidFill>
                  <a:srgbClr val="222B33"/>
                </a:solidFill>
                <a:latin typeface="Microsoft YaHei"/>
              </a:rPr>
              <a:t>B. 用过的平板</a:t>
            </a:r>
          </a:p>
          <a:p>
            <a:pPr algn="l"/>
            <a:r>
              <a:rPr sz="1500" b="0">
                <a:solidFill>
                  <a:srgbClr val="222B33"/>
                </a:solidFill>
                <a:latin typeface="Microsoft YaHei"/>
              </a:rPr>
              <a:t>C. 沾染菌液的针头和碎玻片</a:t>
            </a:r>
          </a:p>
          <a:p>
            <a:pPr algn="l"/>
            <a:r>
              <a:rPr sz="1500" b="0">
                <a:solidFill>
                  <a:srgbClr val="222B33"/>
                </a:solidFill>
                <a:latin typeface="Microsoft YaHei"/>
              </a:rPr>
              <a:t>D. 擦台面的纸巾</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判断：计完数的平板实验已经结束，可以直接丢进普通垃圾桶。</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4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077 · 感染性废物处置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077 感染性废物处置</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感染性废物袋快装满时，正确的做法是：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用手压实再多装一些</a:t>
            </a:r>
          </a:p>
          <a:p>
            <a:pPr algn="l"/>
            <a:r>
              <a:rPr sz="1500" b="0">
                <a:solidFill>
                  <a:srgbClr val="222B33"/>
                </a:solidFill>
                <a:latin typeface="Microsoft YaHei"/>
              </a:rPr>
              <a:t>B. 不超过四分之三就扎口，换新袋</a:t>
            </a:r>
          </a:p>
          <a:p>
            <a:pPr algn="l"/>
            <a:r>
              <a:rPr sz="1500" b="0">
                <a:solidFill>
                  <a:srgbClr val="222B33"/>
                </a:solidFill>
                <a:latin typeface="Microsoft YaHei"/>
              </a:rPr>
              <a:t>C. 装满冒尖再扎</a:t>
            </a:r>
          </a:p>
          <a:p>
            <a:pPr algn="l"/>
            <a:r>
              <a:rPr sz="1500" b="0">
                <a:solidFill>
                  <a:srgbClr val="222B33"/>
                </a:solidFill>
                <a:latin typeface="Microsoft YaHei"/>
              </a:rPr>
              <a:t>D. 把袋口敞着等清运</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判断：液体菌液加大量自来水稀释后，可以倒进下水道。</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4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077 · 感染性废物处置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077 感染性废物处置</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灭菌后的感染性废物最终应该：</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混进生活垃圾</a:t>
            </a:r>
          </a:p>
          <a:p>
            <a:pPr algn="l"/>
            <a:r>
              <a:rPr sz="1500" b="0">
                <a:solidFill>
                  <a:srgbClr val="222B33"/>
                </a:solidFill>
                <a:latin typeface="Microsoft YaHei"/>
              </a:rPr>
              <a:t>B. 交给收废品的人</a:t>
            </a:r>
          </a:p>
          <a:p>
            <a:pPr algn="l"/>
            <a:r>
              <a:rPr sz="1500" b="0">
                <a:solidFill>
                  <a:srgbClr val="222B33"/>
                </a:solidFill>
                <a:latin typeface="Microsoft YaHei"/>
              </a:rPr>
              <a:t>C. 在实验室里自己焚烧</a:t>
            </a:r>
          </a:p>
          <a:p>
            <a:pPr algn="l"/>
            <a:r>
              <a:rPr sz="1500" b="0">
                <a:solidFill>
                  <a:srgbClr val="222B33"/>
                </a:solidFill>
                <a:latin typeface="Microsoft YaHei"/>
              </a:rPr>
              <a:t>D. 装进专用包装贴标签，暂存后交有资质单位处置并填写转移联单</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简答：培养瓶长了霉，应该怎样处理？</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467.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800">
                <a:solidFill>
                  <a:srgbClr val="FFFFFF"/>
                </a:solidFill>
                <a:latin typeface="Microsoft YaHei"/>
              </a:rPr>
              <a:t>▪ K1  先定废物管理方案</a:t>
            </a:r>
          </a:p>
          <a:p>
            <a:pPr>
              <a:spcAft>
                <a:spcPts val="800"/>
              </a:spcAft>
            </a:pPr>
            <a:r>
              <a:rPr sz="1800">
                <a:solidFill>
                  <a:srgbClr val="FFFFFF"/>
                </a:solidFill>
                <a:latin typeface="Microsoft YaHei"/>
              </a:rPr>
              <a:t>▪ K2  先分类：感染性废物单独收集</a:t>
            </a:r>
          </a:p>
          <a:p>
            <a:pPr>
              <a:spcAft>
                <a:spcPts val="800"/>
              </a:spcAft>
            </a:pPr>
            <a:r>
              <a:rPr sz="1800">
                <a:solidFill>
                  <a:srgbClr val="FFFFFF"/>
                </a:solidFill>
                <a:latin typeface="Microsoft YaHei"/>
              </a:rPr>
              <a:t>▪ K3  锐器进锐器盒，不回套针帽</a:t>
            </a:r>
          </a:p>
          <a:p>
            <a:pPr>
              <a:spcAft>
                <a:spcPts val="800"/>
              </a:spcAft>
            </a:pPr>
            <a:r>
              <a:rPr sz="1800">
                <a:solidFill>
                  <a:srgbClr val="FFFFFF"/>
                </a:solidFill>
                <a:latin typeface="Microsoft YaHei"/>
              </a:rPr>
              <a:t>▪ K4  专用袋双层包装，别装满别手压</a:t>
            </a:r>
          </a:p>
          <a:p>
            <a:pPr>
              <a:spcAft>
                <a:spcPts val="800"/>
              </a:spcAft>
            </a:pPr>
            <a:r>
              <a:rPr sz="1800">
                <a:solidFill>
                  <a:srgbClr val="FFFFFF"/>
                </a:solidFill>
                <a:latin typeface="Microsoft YaHei"/>
              </a:rPr>
              <a:t>▪ K5  液体废物不进下水道</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800">
                <a:solidFill>
                  <a:srgbClr val="FFFFFF"/>
                </a:solidFill>
                <a:latin typeface="Microsoft YaHei"/>
              </a:rPr>
              <a:t>▪ K6  培养物先灭活，污染瓶不开盖</a:t>
            </a:r>
          </a:p>
          <a:p>
            <a:pPr>
              <a:spcAft>
                <a:spcPts val="800"/>
              </a:spcAft>
            </a:pPr>
            <a:r>
              <a:rPr sz="1800">
                <a:solidFill>
                  <a:srgbClr val="FFFFFF"/>
                </a:solidFill>
                <a:latin typeface="Microsoft YaHei"/>
              </a:rPr>
              <a:t>▪ K7  工程菌与转基因材料：灭活、登记、不带出</a:t>
            </a:r>
          </a:p>
          <a:p>
            <a:pPr>
              <a:spcAft>
                <a:spcPts val="800"/>
              </a:spcAft>
            </a:pPr>
            <a:r>
              <a:rPr sz="1800">
                <a:solidFill>
                  <a:srgbClr val="FFFFFF"/>
                </a:solidFill>
                <a:latin typeface="Microsoft YaHei"/>
              </a:rPr>
              <a:t>▪ K8  出实验室前先灭菌，确认并登记</a:t>
            </a:r>
          </a:p>
          <a:p>
            <a:pPr>
              <a:spcAft>
                <a:spcPts val="800"/>
              </a:spcAft>
            </a:pPr>
            <a:r>
              <a:rPr sz="1800">
                <a:solidFill>
                  <a:srgbClr val="FFFFFF"/>
                </a:solidFill>
                <a:latin typeface="Microsoft YaHei"/>
              </a:rPr>
              <a:t>▪ K9  专用包装、标签、暂存，及时清运</a:t>
            </a:r>
          </a:p>
          <a:p>
            <a:pPr>
              <a:spcAft>
                <a:spcPts val="800"/>
              </a:spcAft>
            </a:pPr>
            <a:r>
              <a:rPr sz="1800">
                <a:solidFill>
                  <a:srgbClr val="FFFFFF"/>
                </a:solidFill>
                <a:latin typeface="Microsoft YaHei"/>
              </a:rPr>
              <a:t>▪ K10  交有资质单位，联单存档</a:t>
            </a:r>
          </a:p>
        </p:txBody>
      </p:sp>
    </p:spTree>
  </p:cSld>
  <p:clrMapOvr>
    <a:masterClrMapping/>
  </p:clrMapOvr>
</p:sld>
</file>

<file path=ppt/slides/slide468.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078</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生物溢洒与暴露处置</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7 分钟（卡通视频 85 镜）　适用对象：从事微生物、细胞、分子生物学、医学、农学、环境等生物实验和临床样本检测的高校本科生、研究生和教职工（必修）；实验室负责人和安全员重点学习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4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078 · 生物溢洒与暴露处置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078 生物溢洒与暴露处置</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能说出生物溢洒处置的原则（先控制、不扩散、按规程）和溢洒处理包的配置，事先学会、演练过。</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能做到柜内和台面小量溢洒按“盖、倒、等、清”处置：吸水材料覆盖、消毒剂由外向内、二次留置、碎片用夹子、物品器材去污。</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能判断柜外溢洒、转运洒漏和离心管破裂时先撤离或先封闭、等气溶胶沉降、报告后由专人处置。</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能做到针刺伤、皮肤和眼睛沾染后立即冲洗等现场急救，逐级报告，就医评估，登记并随访。</a:t>
            </a:r>
          </a:p>
        </p:txBody>
      </p:sp>
    </p:spTree>
  </p:cSld>
  <p:clrMapOvr>
    <a:masterClrMapping/>
  </p:clrMapOvr>
</p:sld>
</file>

<file path=ppt/slides/slide4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078 · 生物溢洒与暴露处置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078 生物溢洒与暴露处置</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《中华人民共和国生物安全法》：病原微生物实验室应制定应急预案，发生意外事故及时处置、报告</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《病原微生物实验室生物安全管理条例》（以现行文本为准）：实验室制定实验室感染应急处置预案；发生暴露或感染时立即采取控制措施、报告，并对有关人员进行医学观察</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生物安全通用要求》：溢洒处理程序、应急预案和演练、事故报告、暴露人员医学评估与监测</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233（以现行文本为准）《病原微生物实验室生物安全通用准则》：意外事故处置、消毒和报告</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号，以现行文本为准）：应急预案、应急物资配备与事故报告</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本校实验室安全事故应急预案和本实验室生物溢洒、暴露处置标准操作规程（以本校规定为准）</a:t>
            </a:r>
          </a:p>
        </p:txBody>
      </p:sp>
    </p:spTree>
  </p:cSld>
  <p:clrMapOvr>
    <a:masterClrMapping/>
  </p:clrMapOvr>
</p:sld>
</file>

<file path=ppt/slides/slide4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078 · 生物溢洒与暴露处置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出了事马上行动，规定必须照做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078 生物溢洒与暴露处置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生物事件升级很快，不能犹豫</a:t>
            </a:r>
          </a:p>
          <a:p>
            <a:pPr>
              <a:spcAft>
                <a:spcPts val="1000"/>
              </a:spcAft>
            </a:pPr>
            <a:r>
              <a:rPr sz="2000">
                <a:solidFill>
                  <a:srgbClr val="222B33"/>
                </a:solidFill>
                <a:latin typeface="Microsoft YaHei"/>
              </a:rPr>
              <a:t>▪ 停下、控制、消毒，按规程处理</a:t>
            </a:r>
          </a:p>
          <a:p>
            <a:pPr>
              <a:spcAft>
                <a:spcPts val="1000"/>
              </a:spcAft>
            </a:pPr>
            <a:r>
              <a:rPr sz="2000">
                <a:solidFill>
                  <a:srgbClr val="222B33"/>
                </a:solidFill>
                <a:latin typeface="Microsoft YaHei"/>
              </a:rPr>
              <a:t>▪ 处置规定不是建议，必须照做</a:t>
            </a:r>
          </a:p>
          <a:p>
            <a:pPr>
              <a:spcAft>
                <a:spcPts val="1000"/>
              </a:spcAft>
            </a:pPr>
            <a:r>
              <a:rPr sz="2000">
                <a:solidFill>
                  <a:srgbClr val="222B33"/>
                </a:solidFill>
                <a:latin typeface="Microsoft YaHei"/>
              </a:rPr>
              <a:t>▪ 按规范来，才能保护每一个人</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病原微生物和生物毒素的溢洒、暴露事件发展很快，一旦发生，没有时间犹豫：越早控制，扩散和感染的风险越小。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慌乱中凭本能乱擦乱跑</a:t>
            </a:r>
          </a:p>
          <a:p>
            <a:pPr>
              <a:spcAft>
                <a:spcPts val="1000"/>
              </a:spcAft>
            </a:pPr>
            <a:r>
              <a:rPr sz="1500">
                <a:solidFill>
                  <a:srgbClr val="222B33"/>
                </a:solidFill>
                <a:latin typeface="Microsoft YaHei"/>
              </a:rPr>
              <a:t>▪ 觉得“洒一点没事”，不按规程处理</a:t>
            </a:r>
          </a:p>
        </p:txBody>
      </p:sp>
    </p:spTree>
  </p:cSld>
  <p:clrMapOvr>
    <a:masterClrMapping/>
  </p:clrMapOvr>
</p:sld>
</file>

<file path=ppt/slides/slide4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078 · 生物溢洒与暴露处置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事先定好规程，备好溢洒处理包</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078 生物溢洒与暴露处置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溢洒怎么处理，事先写进规程</a:t>
            </a:r>
          </a:p>
          <a:p>
            <a:pPr>
              <a:spcAft>
                <a:spcPts val="1000"/>
              </a:spcAft>
            </a:pPr>
            <a:r>
              <a:rPr sz="2000">
                <a:solidFill>
                  <a:srgbClr val="222B33"/>
                </a:solidFill>
                <a:latin typeface="Microsoft YaHei"/>
              </a:rPr>
              <a:t>▪ 溢洒处理包就近备好，人人知道在哪</a:t>
            </a:r>
          </a:p>
          <a:p>
            <a:pPr>
              <a:spcAft>
                <a:spcPts val="1000"/>
              </a:spcAft>
            </a:pPr>
            <a:r>
              <a:rPr sz="2000">
                <a:solidFill>
                  <a:srgbClr val="222B33"/>
                </a:solidFill>
                <a:latin typeface="Microsoft YaHei"/>
              </a:rPr>
              <a:t>▪ 人人提前学会、演练过</a:t>
            </a:r>
          </a:p>
          <a:p>
            <a:pPr>
              <a:spcAft>
                <a:spcPts val="1000"/>
              </a:spcAft>
            </a:pPr>
            <a:r>
              <a:rPr sz="2000">
                <a:solidFill>
                  <a:srgbClr val="222B33"/>
                </a:solidFill>
                <a:latin typeface="Microsoft YaHei"/>
              </a:rPr>
              <a:t>▪ 动手前先查防护，需要时加戴手套</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每个生物实验室都要事先制定溢洒和暴露处置规程，写明不同情况（柜内、台面、柜外、离心机、转运途中、人员暴露）怎么处理、找谁报告；规程中的一般程序按本室的病原、操作和设施调整。</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出了事才找消毒剂和吸水纸</a:t>
            </a:r>
          </a:p>
          <a:p>
            <a:pPr>
              <a:spcAft>
                <a:spcPts val="1000"/>
              </a:spcAft>
            </a:pPr>
            <a:r>
              <a:rPr sz="1500">
                <a:solidFill>
                  <a:srgbClr val="222B33"/>
                </a:solidFill>
                <a:latin typeface="Microsoft YaHei"/>
              </a:rPr>
              <a:t>▪ 防护不到位就上手清理</a:t>
            </a:r>
          </a:p>
        </p:txBody>
      </p:sp>
    </p:spTree>
  </p:cSld>
  <p:clrMapOvr>
    <a:masterClrMapping/>
  </p:clrMapOvr>
</p:sld>
</file>

<file path=ppt/slides/slide4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078 · 生物溢洒与暴露处置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第一步控制：警示清场，不让扩散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078 生物溢洒与暴露处置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第一步是控制：拉警示，贴标志</a:t>
            </a:r>
          </a:p>
          <a:p>
            <a:pPr>
              <a:spcAft>
                <a:spcPts val="1000"/>
              </a:spcAft>
            </a:pPr>
            <a:r>
              <a:rPr sz="2000">
                <a:solidFill>
                  <a:srgbClr val="222B33"/>
                </a:solidFill>
                <a:latin typeface="Microsoft YaHei"/>
              </a:rPr>
              <a:t>▪ 提醒周围的人，无关人员先离开</a:t>
            </a:r>
          </a:p>
          <a:p>
            <a:pPr>
              <a:spcAft>
                <a:spcPts val="1000"/>
              </a:spcAft>
            </a:pPr>
            <a:r>
              <a:rPr sz="2000">
                <a:solidFill>
                  <a:srgbClr val="222B33"/>
                </a:solidFill>
                <a:latin typeface="Microsoft YaHei"/>
              </a:rPr>
              <a:t>▪ 目标：关住它，不让它扩散</a:t>
            </a:r>
          </a:p>
          <a:p>
            <a:pPr>
              <a:spcAft>
                <a:spcPts val="1000"/>
              </a:spcAft>
            </a:pPr>
            <a:r>
              <a:rPr sz="2000">
                <a:solidFill>
                  <a:srgbClr val="222B33"/>
                </a:solidFill>
                <a:latin typeface="Microsoft YaHei"/>
              </a:rPr>
              <a:t>▪ 平时易产生气溶胶的操作放柜里做</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发生溢洒，第一步是控制：大声提醒周围的人，在溢洒区域设置警示带或警示牌，贴上生物危害标志，无关人员离开，防止有人踩踏或接触后把污染带走。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不提醒旁人，自己闷头处理</a:t>
            </a:r>
          </a:p>
          <a:p>
            <a:pPr>
              <a:spcAft>
                <a:spcPts val="1000"/>
              </a:spcAft>
            </a:pPr>
            <a:r>
              <a:rPr sz="1500">
                <a:solidFill>
                  <a:srgbClr val="222B33"/>
                </a:solidFill>
                <a:latin typeface="Microsoft YaHei"/>
              </a:rPr>
              <a:t>▪ 让别人从溢洒区域走过</a:t>
            </a:r>
          </a:p>
        </p:txBody>
      </p:sp>
    </p:spTree>
  </p:cSld>
  <p:clrMapOvr>
    <a:masterClrMapping/>
  </p:clrMapOvr>
</p:sld>
</file>

<file path=ppt/slides/slide4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078 · 生物溢洒与暴露处置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柜内溢洒：风机不关，及时清理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078 生物溢洒与暴露处置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柜里洒了别慌，风机继续开着</a:t>
            </a:r>
          </a:p>
          <a:p>
            <a:pPr>
              <a:spcAft>
                <a:spcPts val="1000"/>
              </a:spcAft>
            </a:pPr>
            <a:r>
              <a:rPr sz="1700">
                <a:solidFill>
                  <a:srgbClr val="222B33"/>
                </a:solidFill>
                <a:latin typeface="Microsoft YaHei"/>
              </a:rPr>
              <a:t>▪ 别急着把手抽出来</a:t>
            </a:r>
          </a:p>
          <a:p>
            <a:pPr>
              <a:spcAft>
                <a:spcPts val="1000"/>
              </a:spcAft>
            </a:pPr>
            <a:r>
              <a:rPr sz="1700">
                <a:solidFill>
                  <a:srgbClr val="222B33"/>
                </a:solidFill>
                <a:latin typeface="Microsoft YaHei"/>
              </a:rPr>
              <a:t>▪ 马上清理去污，不能等以后</a:t>
            </a:r>
          </a:p>
          <a:p>
            <a:pPr>
              <a:spcAft>
                <a:spcPts val="1000"/>
              </a:spcAft>
            </a:pPr>
            <a:r>
              <a:rPr sz="1700">
                <a:solidFill>
                  <a:srgbClr val="222B33"/>
                </a:solidFill>
                <a:latin typeface="Microsoft YaHei"/>
              </a:rPr>
              <a:t>▪ 流进格栅下面的也要清理</a:t>
            </a:r>
          </a:p>
          <a:p>
            <a:pPr>
              <a:spcAft>
                <a:spcPts val="1000"/>
              </a:spcAft>
            </a:pPr>
            <a:r>
              <a:rPr sz="1700">
                <a:solidFill>
                  <a:srgbClr val="222B33"/>
                </a:solidFill>
                <a:latin typeface="Microsoft YaHei"/>
              </a:rPr>
              <a:t>▪ 量大处理不了请人协助，事后报告</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在生物安全柜内发生溢洒，不要慌：风机继续运行，柜子的气流仍在保护操作者；双手不要猛地抽出柜外，以免把气溶胶带出来。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一洒就关风机</a:t>
            </a:r>
          </a:p>
          <a:p>
            <a:pPr>
              <a:spcAft>
                <a:spcPts val="1000"/>
              </a:spcAft>
            </a:pPr>
            <a:r>
              <a:rPr sz="1500">
                <a:solidFill>
                  <a:srgbClr val="222B33"/>
                </a:solidFill>
                <a:latin typeface="Microsoft YaHei"/>
              </a:rPr>
              <a:t>▪ 只擦台面，不管格栅和集液槽</a:t>
            </a:r>
          </a:p>
        </p:txBody>
      </p:sp>
    </p:spTree>
  </p:cSld>
  <p:clrMapOvr>
    <a:masterClrMapping/>
  </p:clrMapOvr>
</p:sld>
</file>

<file path=ppt/slides/slide4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078 · 生物溢洒与暴露处置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盖住，消毒剂由外向内</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078 生物溢洒与暴露处置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先用吸水纸盖住，把液体吸住</a:t>
            </a:r>
          </a:p>
          <a:p>
            <a:pPr>
              <a:spcAft>
                <a:spcPts val="1000"/>
              </a:spcAft>
            </a:pPr>
            <a:r>
              <a:rPr sz="1700">
                <a:solidFill>
                  <a:srgbClr val="222B33"/>
                </a:solidFill>
                <a:latin typeface="Microsoft YaHei"/>
              </a:rPr>
              <a:t>▪ 用指定消毒剂，从外缘往中间浇</a:t>
            </a:r>
          </a:p>
          <a:p>
            <a:pPr>
              <a:spcAft>
                <a:spcPts val="1000"/>
              </a:spcAft>
            </a:pPr>
            <a:r>
              <a:rPr sz="1700">
                <a:solidFill>
                  <a:srgbClr val="222B33"/>
                </a:solidFill>
                <a:latin typeface="Microsoft YaHei"/>
              </a:rPr>
              <a:t>▪ 由外向内，污染才不会扩大</a:t>
            </a:r>
          </a:p>
          <a:p>
            <a:pPr>
              <a:spcAft>
                <a:spcPts val="1000"/>
              </a:spcAft>
            </a:pPr>
            <a:r>
              <a:rPr sz="1700">
                <a:solidFill>
                  <a:srgbClr val="222B33"/>
                </a:solidFill>
                <a:latin typeface="Microsoft YaHei"/>
              </a:rPr>
              <a:t>▪ 沾到皮肤，立即冲洗并报告</a:t>
            </a:r>
          </a:p>
          <a:p>
            <a:pPr>
              <a:spcAft>
                <a:spcPts val="1000"/>
              </a:spcAft>
            </a:pPr>
            <a:r>
              <a:rPr sz="1700">
                <a:solidFill>
                  <a:srgbClr val="222B33"/>
                </a:solidFill>
                <a:latin typeface="Microsoft YaHei"/>
              </a:rPr>
              <a:t>▪ 记住：盖、倒、等、清</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台面或柜内的小量溢洒，第一步用吸水纸、纸巾或吸水垫覆盖溢洒物，先把液体吸住，不让它流开，也减少飞溅。</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直接用纸巾来回抹</a:t>
            </a:r>
          </a:p>
          <a:p>
            <a:pPr>
              <a:spcAft>
                <a:spcPts val="1000"/>
              </a:spcAft>
            </a:pPr>
            <a:r>
              <a:rPr sz="1500">
                <a:solidFill>
                  <a:srgbClr val="222B33"/>
                </a:solidFill>
                <a:latin typeface="Microsoft YaHei"/>
              </a:rPr>
              <a:t>▪ 对着溢洒中心猛倒消毒剂</a:t>
            </a:r>
          </a:p>
        </p:txBody>
      </p:sp>
    </p:spTree>
  </p:cSld>
  <p:clrMapOvr>
    <a:masterClrMapping/>
  </p:clrMapOvr>
</p:sld>
</file>

<file path=ppt/slides/slide4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078 · 生物溢洒与暴露处置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擦掉，再浇一遍留置，时间到再丢</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078 生物溢洒与暴露处置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尽量擦干净，纸巾丢进废物袋</a:t>
            </a:r>
          </a:p>
          <a:p>
            <a:pPr>
              <a:spcAft>
                <a:spcPts val="1000"/>
              </a:spcAft>
            </a:pPr>
            <a:r>
              <a:rPr sz="2000">
                <a:solidFill>
                  <a:srgbClr val="222B33"/>
                </a:solidFill>
                <a:latin typeface="Microsoft YaHei"/>
              </a:rPr>
              <a:t>▪ 换新纸巾再浇一遍，留在原处</a:t>
            </a:r>
          </a:p>
          <a:p>
            <a:pPr>
              <a:spcAft>
                <a:spcPts val="1000"/>
              </a:spcAft>
            </a:pPr>
            <a:r>
              <a:rPr sz="2000">
                <a:solidFill>
                  <a:srgbClr val="222B33"/>
                </a:solidFill>
                <a:latin typeface="Microsoft YaHei"/>
              </a:rPr>
              <a:t>▪ 等多久，以本实验室规程为准</a:t>
            </a:r>
          </a:p>
          <a:p>
            <a:pPr>
              <a:spcAft>
                <a:spcPts val="1000"/>
              </a:spcAft>
            </a:pPr>
            <a:r>
              <a:rPr sz="2000">
                <a:solidFill>
                  <a:srgbClr val="222B33"/>
                </a:solidFill>
                <a:latin typeface="Microsoft YaHei"/>
              </a:rPr>
              <a:t>▪ 时间到了，再丢进废物袋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消毒剂作用后，尽量把溢洒物擦干净，纸巾丢进生物危害废物袋。</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浇完消毒剂立刻擦掉</a:t>
            </a:r>
          </a:p>
          <a:p>
            <a:pPr>
              <a:spcAft>
                <a:spcPts val="1000"/>
              </a:spcAft>
            </a:pPr>
            <a:r>
              <a:rPr sz="1500">
                <a:solidFill>
                  <a:srgbClr val="222B33"/>
                </a:solidFill>
                <a:latin typeface="Microsoft YaHei"/>
              </a:rPr>
              <a:t>▪ 用过的纸巾丢进普通垃圾桶</a:t>
            </a:r>
          </a:p>
        </p:txBody>
      </p:sp>
    </p:spTree>
  </p:cSld>
  <p:clrMapOvr>
    <a:masterClrMapping/>
  </p:clrMapOvr>
</p:sld>
</file>

<file path=ppt/slides/slide4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078 · 生物溢洒与暴露处置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碎片用夹子，物品器材都去污</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078 生物溢洒与暴露处置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碎玻璃碎管用镊子夹进锐器盒</a:t>
            </a:r>
          </a:p>
          <a:p>
            <a:pPr>
              <a:spcAft>
                <a:spcPts val="1000"/>
              </a:spcAft>
            </a:pPr>
            <a:r>
              <a:rPr sz="1700">
                <a:solidFill>
                  <a:srgbClr val="222B33"/>
                </a:solidFill>
                <a:latin typeface="Microsoft YaHei"/>
              </a:rPr>
              <a:t>▪ 千万别用手去捡</a:t>
            </a:r>
          </a:p>
          <a:p>
            <a:pPr>
              <a:spcAft>
                <a:spcPts val="1000"/>
              </a:spcAft>
            </a:pPr>
            <a:r>
              <a:rPr sz="1700">
                <a:solidFill>
                  <a:srgbClr val="222B33"/>
                </a:solidFill>
                <a:latin typeface="Microsoft YaHei"/>
              </a:rPr>
              <a:t>▪ 用了含氯消毒剂，再用清水擦一遍</a:t>
            </a:r>
          </a:p>
          <a:p>
            <a:pPr>
              <a:spcAft>
                <a:spcPts val="1000"/>
              </a:spcAft>
            </a:pPr>
            <a:r>
              <a:rPr sz="1700">
                <a:solidFill>
                  <a:srgbClr val="222B33"/>
                </a:solidFill>
                <a:latin typeface="Microsoft YaHei"/>
              </a:rPr>
              <a:t>▪ 溅到的物品也要擦，等够时间再用</a:t>
            </a:r>
          </a:p>
          <a:p>
            <a:pPr>
              <a:spcAft>
                <a:spcPts val="1000"/>
              </a:spcAft>
            </a:pPr>
            <a:r>
              <a:rPr sz="1700">
                <a:solidFill>
                  <a:srgbClr val="222B33"/>
                </a:solidFill>
                <a:latin typeface="Microsoft YaHei"/>
              </a:rPr>
              <a:t>▪ 污染器材送去高压灭菌</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溢洒物里有碎玻璃、碎管时，不要用手去捡，戴着手套也不行；用镊子、夹子或小铲把碎片夹进锐器盒。</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戴手套直接捡碎玻璃</a:t>
            </a:r>
          </a:p>
          <a:p>
            <a:pPr>
              <a:spcAft>
                <a:spcPts val="1000"/>
              </a:spcAft>
            </a:pPr>
            <a:r>
              <a:rPr sz="1500">
                <a:solidFill>
                  <a:srgbClr val="222B33"/>
                </a:solidFill>
                <a:latin typeface="Microsoft YaHei"/>
              </a:rPr>
              <a:t>▪ 只清理台面，不管被溅到的物品</a:t>
            </a:r>
          </a:p>
        </p:txBody>
      </p:sp>
    </p:spTree>
  </p:cSld>
  <p:clrMapOvr>
    <a:masterClrMapping/>
  </p:clrMapOvr>
</p:sld>
</file>

<file path=ppt/slides/slide4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078 · 生物溢洒与暴露处置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柜外溢洒：先撤离，关门等沉降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078 生物溢洒与暴露处置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柜外洒了摔碎了，可能有气溶胶</a:t>
            </a:r>
          </a:p>
          <a:p>
            <a:pPr>
              <a:spcAft>
                <a:spcPts val="1000"/>
              </a:spcAft>
            </a:pPr>
            <a:r>
              <a:rPr sz="1700">
                <a:solidFill>
                  <a:srgbClr val="222B33"/>
                </a:solidFill>
                <a:latin typeface="Microsoft YaHei"/>
              </a:rPr>
              <a:t>▪ 别急着擦，提醒旁人，撤出房间</a:t>
            </a:r>
          </a:p>
          <a:p>
            <a:pPr>
              <a:spcAft>
                <a:spcPts val="1000"/>
              </a:spcAft>
            </a:pPr>
            <a:r>
              <a:rPr sz="1700">
                <a:solidFill>
                  <a:srgbClr val="222B33"/>
                </a:solidFill>
                <a:latin typeface="Microsoft YaHei"/>
              </a:rPr>
              <a:t>▪ 关好门，挂警示；身上溅到先冲洗</a:t>
            </a:r>
          </a:p>
          <a:p>
            <a:pPr>
              <a:spcAft>
                <a:spcPts val="1000"/>
              </a:spcAft>
            </a:pPr>
            <a:r>
              <a:rPr sz="1700">
                <a:solidFill>
                  <a:srgbClr val="222B33"/>
                </a:solidFill>
                <a:latin typeface="Microsoft YaHei"/>
              </a:rPr>
              <a:t>▪ 立即报告，等气溶胶沉降</a:t>
            </a:r>
          </a:p>
          <a:p>
            <a:pPr>
              <a:spcAft>
                <a:spcPts val="1000"/>
              </a:spcAft>
            </a:pPr>
            <a:r>
              <a:rPr sz="1700">
                <a:solidFill>
                  <a:srgbClr val="222B33"/>
                </a:solidFill>
                <a:latin typeface="Microsoft YaHei"/>
              </a:rPr>
              <a:t>▪ 穿好防护，由专人覆盖消毒清理</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培养物等感染性材料洒在生物安全柜外，或瓶子摔碎，可能产生气溶胶。这时不要急着擦：提醒旁人，所有人立即撤出房间，关好门，门口挂上警示牌，防止有人进入。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柜外打碎了马上蹲下去擦</a:t>
            </a:r>
          </a:p>
          <a:p>
            <a:pPr>
              <a:spcAft>
                <a:spcPts val="1000"/>
              </a:spcAft>
            </a:pPr>
            <a:r>
              <a:rPr sz="1500">
                <a:solidFill>
                  <a:srgbClr val="222B33"/>
                </a:solidFill>
                <a:latin typeface="Microsoft YaHei"/>
              </a:rPr>
              <a:t>▪ 撤离时不关门、不挂警示</a:t>
            </a:r>
          </a:p>
        </p:txBody>
      </p:sp>
    </p:spTree>
  </p:cSld>
  <p:clrMapOvr>
    <a:masterClrMapping/>
  </p:clrMapOvr>
</p:sld>
</file>

<file path=ppt/slides/slide4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078 · 生物溢洒与暴露处置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转运途中洒漏：先围住，再报告</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078 生物溢洒与暴露处置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转运路上袋子掉了漏了</a:t>
            </a:r>
          </a:p>
          <a:p>
            <a:pPr>
              <a:spcAft>
                <a:spcPts val="1000"/>
              </a:spcAft>
            </a:pPr>
            <a:r>
              <a:rPr sz="2000">
                <a:solidFill>
                  <a:srgbClr val="222B33"/>
                </a:solidFill>
                <a:latin typeface="Microsoft YaHei"/>
              </a:rPr>
              <a:t>▪ 先让旁人绕开，别用手去捡</a:t>
            </a:r>
          </a:p>
          <a:p>
            <a:pPr>
              <a:spcAft>
                <a:spcPts val="1000"/>
              </a:spcAft>
            </a:pPr>
            <a:r>
              <a:rPr sz="2000">
                <a:solidFill>
                  <a:srgbClr val="222B33"/>
                </a:solidFill>
                <a:latin typeface="Microsoft YaHei"/>
              </a:rPr>
              <a:t>▪ 马上报告，取来溢洒处理包</a:t>
            </a:r>
          </a:p>
          <a:p>
            <a:pPr>
              <a:spcAft>
                <a:spcPts val="1000"/>
              </a:spcAft>
            </a:pPr>
            <a:r>
              <a:rPr sz="2000">
                <a:solidFill>
                  <a:srgbClr val="222B33"/>
                </a:solidFill>
                <a:latin typeface="Microsoft YaHei"/>
              </a:rPr>
              <a:t>▪ 穿好防护，覆盖消毒，按规程处理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在走廊、电梯等转运路上，废物袋或样品盒掉落、渗漏时，先让周围的人绕开，看住现场，不要用手去捡。</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徒手把漏液的袋子捡起来</a:t>
            </a:r>
          </a:p>
          <a:p>
            <a:pPr>
              <a:spcAft>
                <a:spcPts val="1000"/>
              </a:spcAft>
            </a:pPr>
            <a:r>
              <a:rPr sz="1500">
                <a:solidFill>
                  <a:srgbClr val="222B33"/>
                </a:solidFill>
                <a:latin typeface="Microsoft YaHei"/>
              </a:rPr>
              <a:t>▪ 留下渗漏的地面不管就走</a:t>
            </a:r>
          </a:p>
        </p:txBody>
      </p:sp>
    </p:spTree>
  </p:cSld>
  <p:clrMapOvr>
    <a:masterClrMapping/>
  </p:clrMapOvr>
</p:sld>
</file>

<file path=ppt/slides/slide4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078 · 生物溢洒与暴露处置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离心管破裂：不开盖，柜内开吊篮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078 生物溢洒与暴露处置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离心感染性样品，怀疑管子破了</a:t>
            </a:r>
          </a:p>
          <a:p>
            <a:pPr>
              <a:spcAft>
                <a:spcPts val="1000"/>
              </a:spcAft>
            </a:pPr>
            <a:r>
              <a:rPr sz="1700">
                <a:solidFill>
                  <a:srgbClr val="222B33"/>
                </a:solidFill>
                <a:latin typeface="Microsoft YaHei"/>
              </a:rPr>
              <a:t>▪ 别急着开盖，先让气溶胶沉降</a:t>
            </a:r>
          </a:p>
          <a:p>
            <a:pPr>
              <a:spcAft>
                <a:spcPts val="1000"/>
              </a:spcAft>
            </a:pPr>
            <a:r>
              <a:rPr sz="1700">
                <a:solidFill>
                  <a:srgbClr val="222B33"/>
                </a:solidFill>
                <a:latin typeface="Microsoft YaHei"/>
              </a:rPr>
              <a:t>▪ 挂上警示，静置，报告负责人</a:t>
            </a:r>
          </a:p>
          <a:p>
            <a:pPr>
              <a:spcAft>
                <a:spcPts val="1000"/>
              </a:spcAft>
            </a:pPr>
            <a:r>
              <a:rPr sz="1700">
                <a:solidFill>
                  <a:srgbClr val="222B33"/>
                </a:solidFill>
                <a:latin typeface="Microsoft YaHei"/>
              </a:rPr>
              <a:t>▪ 穿好防护，密封吊篮拿进柜里开</a:t>
            </a:r>
          </a:p>
          <a:p>
            <a:pPr>
              <a:spcAft>
                <a:spcPts val="1000"/>
              </a:spcAft>
            </a:pPr>
            <a:r>
              <a:rPr sz="1700">
                <a:solidFill>
                  <a:srgbClr val="222B33"/>
                </a:solidFill>
                <a:latin typeface="Microsoft YaHei"/>
              </a:rPr>
              <a:t>▪ 消毒剂要和转子材质相容</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离心感染性样品时，如果怀疑或发现离心管破裂（听到破裂声、运行异常），停机后不要马上打开离心机盖；关闭的盖子能把气溶胶关在里面。挂上警示牌，静置规程规定的时间让气溶胶沉降，并立即报告实验室负责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离心机一停就打开盖子查看</a:t>
            </a:r>
          </a:p>
          <a:p>
            <a:pPr>
              <a:spcAft>
                <a:spcPts val="1000"/>
              </a:spcAft>
            </a:pPr>
            <a:r>
              <a:rPr sz="1500">
                <a:solidFill>
                  <a:srgbClr val="222B33"/>
                </a:solidFill>
                <a:latin typeface="Microsoft YaHei"/>
              </a:rPr>
              <a:t>▪ 用会腐蚀转子的消毒剂随意浸泡</a:t>
            </a:r>
          </a:p>
        </p:txBody>
      </p:sp>
    </p:spTree>
  </p:cSld>
  <p:clrMapOvr>
    <a:masterClrMapping/>
  </p:clrMapOvr>
</p:sld>
</file>

<file path=ppt/slides/slide4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078 · 生物溢洒与暴露处置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防护失效：停下、更换、查皮肤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078 生物溢洒与暴露处置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隔离衣大片溅湿，先停下盖好样品</a:t>
            </a:r>
          </a:p>
          <a:p>
            <a:pPr>
              <a:spcAft>
                <a:spcPts val="1000"/>
              </a:spcAft>
            </a:pPr>
            <a:r>
              <a:rPr sz="2000">
                <a:solidFill>
                  <a:srgbClr val="222B33"/>
                </a:solidFill>
                <a:latin typeface="Microsoft YaHei"/>
              </a:rPr>
              <a:t>▪ 到脱卸区按顺序脱下，换新的</a:t>
            </a:r>
          </a:p>
          <a:p>
            <a:pPr>
              <a:spcAft>
                <a:spcPts val="1000"/>
              </a:spcAft>
            </a:pPr>
            <a:r>
              <a:rPr sz="2000">
                <a:solidFill>
                  <a:srgbClr val="222B33"/>
                </a:solidFill>
                <a:latin typeface="Microsoft YaHei"/>
              </a:rPr>
              <a:t>▪ 手套破了，脱下来仔细查皮肤</a:t>
            </a:r>
          </a:p>
          <a:p>
            <a:pPr>
              <a:spcAft>
                <a:spcPts val="1000"/>
              </a:spcAft>
            </a:pPr>
            <a:r>
              <a:rPr sz="2000">
                <a:solidFill>
                  <a:srgbClr val="222B33"/>
                </a:solidFill>
                <a:latin typeface="Microsoft YaHei"/>
              </a:rPr>
              <a:t>▪ 洗手换手套；有破皮按暴露处置</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工作中隔离衣被大片溅湿、口罩被打湿、手套破损，都属于防护失效。先停下，把锐器安全放好，盖好样品容器，再到脱卸区按顺序脱下污染的防护用品（见第 075 课），换上新的。</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手套破了继续操作</a:t>
            </a:r>
          </a:p>
          <a:p>
            <a:pPr>
              <a:spcAft>
                <a:spcPts val="1000"/>
              </a:spcAft>
            </a:pPr>
            <a:r>
              <a:rPr sz="1500">
                <a:solidFill>
                  <a:srgbClr val="222B33"/>
                </a:solidFill>
                <a:latin typeface="Microsoft YaHei"/>
              </a:rPr>
              <a:t>▪ 换手套时不检查皮肤</a:t>
            </a:r>
          </a:p>
        </p:txBody>
      </p:sp>
    </p:spTree>
  </p:cSld>
  <p:clrMapOvr>
    <a:masterClrMapping/>
  </p:clrMapOvr>
</p:sld>
</file>

<file path=ppt/slides/slide4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078 · 生物溢洒与暴露处置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针刺伤：轻挤、冲洗、消毒、包扎</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078 生物溢洒与暴露处置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沾过血样的针扎到，就有感染风险</a:t>
            </a:r>
          </a:p>
          <a:p>
            <a:pPr>
              <a:spcAft>
                <a:spcPts val="1000"/>
              </a:spcAft>
            </a:pPr>
            <a:r>
              <a:rPr sz="1700">
                <a:solidFill>
                  <a:srgbClr val="222B33"/>
                </a:solidFill>
                <a:latin typeface="Microsoft YaHei"/>
              </a:rPr>
              <a:t>▪ 立即处理，是最关键的一步</a:t>
            </a:r>
          </a:p>
          <a:p>
            <a:pPr>
              <a:spcAft>
                <a:spcPts val="1000"/>
              </a:spcAft>
            </a:pPr>
            <a:r>
              <a:rPr sz="1700">
                <a:solidFill>
                  <a:srgbClr val="222B33"/>
                </a:solidFill>
                <a:latin typeface="Microsoft YaHei"/>
              </a:rPr>
              <a:t>▪ 从近心端向伤口方向轻挤，不用嘴吸</a:t>
            </a:r>
          </a:p>
          <a:p>
            <a:pPr>
              <a:spcAft>
                <a:spcPts val="1000"/>
              </a:spcAft>
            </a:pPr>
            <a:r>
              <a:rPr sz="1700">
                <a:solidFill>
                  <a:srgbClr val="222B33"/>
                </a:solidFill>
                <a:latin typeface="Microsoft YaHei"/>
              </a:rPr>
              <a:t>▪ 肥皂加流动水彻底冲洗</a:t>
            </a:r>
          </a:p>
          <a:p>
            <a:pPr>
              <a:spcAft>
                <a:spcPts val="1000"/>
              </a:spcAft>
            </a:pPr>
            <a:r>
              <a:rPr sz="1700">
                <a:solidFill>
                  <a:srgbClr val="222B33"/>
                </a:solidFill>
                <a:latin typeface="Microsoft YaHei"/>
              </a:rPr>
              <a:t>▪ 冲洗后消毒、包扎，马上报告</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操作针头、玻片、刀片时一滑，就可能被扎伤或割伤；沾过血液、临床样本或培养物的锐器造成的伤口，就有感染风险。立即处理是最关键的一步。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被扎后用嘴吸伤口</a:t>
            </a:r>
          </a:p>
          <a:p>
            <a:pPr>
              <a:spcAft>
                <a:spcPts val="1000"/>
              </a:spcAft>
            </a:pPr>
            <a:r>
              <a:rPr sz="1500">
                <a:solidFill>
                  <a:srgbClr val="222B33"/>
                </a:solidFill>
                <a:latin typeface="Microsoft YaHei"/>
              </a:rPr>
              <a:t>▪ 觉得只是小伤，不冲洗不报告</a:t>
            </a:r>
          </a:p>
        </p:txBody>
      </p:sp>
    </p:spTree>
  </p:cSld>
  <p:clrMapOvr>
    <a:masterClrMapping/>
  </p:clrMapOvr>
</p:sld>
</file>

<file path=ppt/slides/slide4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078 · 生物溢洒与暴露处置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皮肤和眼睛沾染：马上冲洗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078 生物溢洒与暴露处置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皮肤沾到样品，立即流水冲洗</a:t>
            </a:r>
          </a:p>
          <a:p>
            <a:pPr>
              <a:spcAft>
                <a:spcPts val="1000"/>
              </a:spcAft>
            </a:pPr>
            <a:r>
              <a:rPr sz="2000">
                <a:solidFill>
                  <a:srgbClr val="222B33"/>
                </a:solidFill>
                <a:latin typeface="Microsoft YaHei"/>
              </a:rPr>
              <a:t>▪ 溅进眼睛，马上到洗眼器反复冲洗</a:t>
            </a:r>
          </a:p>
          <a:p>
            <a:pPr>
              <a:spcAft>
                <a:spcPts val="1000"/>
              </a:spcAft>
            </a:pPr>
            <a:r>
              <a:rPr sz="2000">
                <a:solidFill>
                  <a:srgbClr val="222B33"/>
                </a:solidFill>
                <a:latin typeface="Microsoft YaHei"/>
              </a:rPr>
              <a:t>▪ 口鼻溅到，也用清水反复冲洗</a:t>
            </a:r>
          </a:p>
          <a:p>
            <a:pPr>
              <a:spcAft>
                <a:spcPts val="1000"/>
              </a:spcAft>
            </a:pPr>
            <a:r>
              <a:rPr sz="2000">
                <a:solidFill>
                  <a:srgbClr val="222B33"/>
                </a:solidFill>
                <a:latin typeface="Microsoft YaHei"/>
              </a:rPr>
              <a:t>▪ 冲洗后报告，紧急拨打120</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完整皮肤沾到样品或培养物，立即脱去污染的衣物或手套，用肥皂和流动水冲洗。</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溅进眼睛后用手揉</a:t>
            </a:r>
          </a:p>
          <a:p>
            <a:pPr>
              <a:spcAft>
                <a:spcPts val="1000"/>
              </a:spcAft>
            </a:pPr>
            <a:r>
              <a:rPr sz="1500">
                <a:solidFill>
                  <a:srgbClr val="222B33"/>
                </a:solidFill>
                <a:latin typeface="Microsoft YaHei"/>
              </a:rPr>
              <a:t>▪ 冲洗几秒就停</a:t>
            </a:r>
          </a:p>
        </p:txBody>
      </p:sp>
    </p:spTree>
  </p:cSld>
  <p:clrMapOvr>
    <a:masterClrMapping/>
  </p:clrMapOvr>
</p:sld>
</file>

<file path=ppt/slides/slide4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078 · 生物溢洒与暴露处置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立即逐级报告，不隐瞒</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078 生物溢洒与暴露处置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先立即处置，再马上报告</a:t>
            </a:r>
          </a:p>
          <a:p>
            <a:pPr>
              <a:spcAft>
                <a:spcPts val="1000"/>
              </a:spcAft>
            </a:pPr>
            <a:r>
              <a:rPr sz="1700">
                <a:solidFill>
                  <a:srgbClr val="222B33"/>
                </a:solidFill>
                <a:latin typeface="Microsoft YaHei"/>
              </a:rPr>
              <a:t>▪ 逐级报告负责人、学院和学校部门</a:t>
            </a:r>
          </a:p>
          <a:p>
            <a:pPr>
              <a:spcAft>
                <a:spcPts val="1000"/>
              </a:spcAft>
            </a:pPr>
            <a:r>
              <a:rPr sz="1700">
                <a:solidFill>
                  <a:srgbClr val="222B33"/>
                </a:solidFill>
                <a:latin typeface="Microsoft YaHei"/>
              </a:rPr>
              <a:t>▪ 溢洒、暴露都要报，小事也报</a:t>
            </a:r>
          </a:p>
          <a:p>
            <a:pPr>
              <a:spcAft>
                <a:spcPts val="1000"/>
              </a:spcAft>
            </a:pPr>
            <a:r>
              <a:rPr sz="1700">
                <a:solidFill>
                  <a:srgbClr val="222B33"/>
                </a:solidFill>
                <a:latin typeface="Microsoft YaHei"/>
              </a:rPr>
              <a:t>▪ 如实报告，别隐瞒，别自己扛</a:t>
            </a:r>
          </a:p>
          <a:p>
            <a:pPr>
              <a:spcAft>
                <a:spcPts val="1000"/>
              </a:spcAft>
            </a:pPr>
            <a:r>
              <a:rPr sz="1700">
                <a:solidFill>
                  <a:srgbClr val="222B33"/>
                </a:solidFill>
                <a:latin typeface="Microsoft YaHei"/>
              </a:rPr>
              <a:t>▪ 伤情严重，立即拨打120</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发生针刺、溢洒、暴露，先立即进行现场处置，处置后马上报告：实验室负责人（导师）→ 学院 → 学校实验室安全管理部门、保卫处和校医院，按本校应急预案和报告程序执行（报告程序见第 157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怕挨批评，暴露后不报告</a:t>
            </a:r>
          </a:p>
          <a:p>
            <a:pPr>
              <a:spcAft>
                <a:spcPts val="1000"/>
              </a:spcAft>
            </a:pPr>
            <a:r>
              <a:rPr sz="1500">
                <a:solidFill>
                  <a:srgbClr val="222B33"/>
                </a:solidFill>
                <a:latin typeface="Microsoft YaHei"/>
              </a:rPr>
              <a:t>▪ 只告诉同学，不报告负责人</a:t>
            </a:r>
          </a:p>
        </p:txBody>
      </p:sp>
    </p:spTree>
  </p:cSld>
  <p:clrMapOvr>
    <a:masterClrMapping/>
  </p:clrMapOvr>
</p:sld>
</file>

<file path=ppt/slides/slide4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078 · 生物溢洒与暴露处置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就医评估，登记随访</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078 生物溢洒与暴露处置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尽快就医，说清样本来源</a:t>
            </a:r>
          </a:p>
          <a:p>
            <a:pPr>
              <a:spcAft>
                <a:spcPts val="1000"/>
              </a:spcAft>
            </a:pPr>
            <a:r>
              <a:rPr sz="1700">
                <a:solidFill>
                  <a:srgbClr val="222B33"/>
                </a:solidFill>
                <a:latin typeface="Microsoft YaHei"/>
              </a:rPr>
              <a:t>▪ 需不需要进一步处理，听医生的</a:t>
            </a:r>
          </a:p>
          <a:p>
            <a:pPr>
              <a:spcAft>
                <a:spcPts val="1000"/>
              </a:spcAft>
            </a:pPr>
            <a:r>
              <a:rPr sz="1700">
                <a:solidFill>
                  <a:srgbClr val="222B33"/>
                </a:solidFill>
                <a:latin typeface="Microsoft YaHei"/>
              </a:rPr>
              <a:t>▪ 登记时间、样本、经过和处置</a:t>
            </a:r>
          </a:p>
          <a:p>
            <a:pPr>
              <a:spcAft>
                <a:spcPts val="1000"/>
              </a:spcAft>
            </a:pPr>
            <a:r>
              <a:rPr sz="1700">
                <a:solidFill>
                  <a:srgbClr val="222B33"/>
                </a:solidFill>
                <a:latin typeface="Microsoft YaHei"/>
              </a:rPr>
              <a:t>▪ 按医嘱随访复查，不能一扎了之</a:t>
            </a:r>
          </a:p>
          <a:p>
            <a:pPr>
              <a:spcAft>
                <a:spcPts val="1000"/>
              </a:spcAft>
            </a:pPr>
            <a:r>
              <a:rPr sz="1700">
                <a:solidFill>
                  <a:srgbClr val="222B33"/>
                </a:solidFill>
                <a:latin typeface="Microsoft YaHei"/>
              </a:rPr>
              <a:t>▪ 全组复盘，改进操作和器材</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暴露后尽快到学校指定的医疗机构就医，向医生说清样本来源、可能的病原、暴露方式和已做的处置。是否需要进一步检查或预防性处理，由医生评估决定，遵医嘱执行，不要自己判断“没事”而拖延。</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自认为没事，不去就医</a:t>
            </a:r>
          </a:p>
          <a:p>
            <a:pPr>
              <a:spcAft>
                <a:spcPts val="1000"/>
              </a:spcAft>
            </a:pPr>
            <a:r>
              <a:rPr sz="1500">
                <a:solidFill>
                  <a:srgbClr val="222B33"/>
                </a:solidFill>
                <a:latin typeface="Microsoft YaHei"/>
              </a:rPr>
              <a:t>▪ 就医一次就不再随访</a:t>
            </a:r>
          </a:p>
        </p:txBody>
      </p:sp>
    </p:spTree>
  </p:cSld>
  <p:clrMapOvr>
    <a:masterClrMapping/>
  </p:clrMapOvr>
</p:sld>
</file>

<file path=ppt/slides/slide4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078 · 生物溢洒与暴露处置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078 生物溢洒与暴露处置</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台面小量菌液溢洒，下列处置顺序正确的是：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直接用纸巾来回擦</a:t>
            </a:r>
          </a:p>
          <a:p>
            <a:pPr algn="l"/>
            <a:r>
              <a:rPr sz="1500" b="0">
                <a:solidFill>
                  <a:srgbClr val="222B33"/>
                </a:solidFill>
                <a:latin typeface="Microsoft YaHei"/>
              </a:rPr>
              <a:t>B. 吸水纸覆盖，消毒剂由外向内浇，作用足够时间后清理，按感染性废物处置</a:t>
            </a:r>
          </a:p>
          <a:p>
            <a:pPr algn="l"/>
            <a:r>
              <a:rPr sz="1500" b="0">
                <a:solidFill>
                  <a:srgbClr val="222B33"/>
                </a:solidFill>
                <a:latin typeface="Microsoft YaHei"/>
              </a:rPr>
              <a:t>C. 从中间往外倒消毒剂</a:t>
            </a:r>
          </a:p>
          <a:p>
            <a:pPr algn="l"/>
            <a:r>
              <a:rPr sz="1500" b="0">
                <a:solidFill>
                  <a:srgbClr val="222B33"/>
                </a:solidFill>
                <a:latin typeface="Microsoft YaHei"/>
              </a:rPr>
              <a:t>D. 用水冲进下水道</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判断：生物安全柜内发生溢洒，应立即关闭风机再处理。</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4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078 · 生物溢洒与暴露处置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078 生物溢洒与暴露处置</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培养瓶在生物安全柜外摔碎，正确的第一反应是：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马上蹲下用手捡碎片</a:t>
            </a:r>
          </a:p>
          <a:p>
            <a:pPr algn="l"/>
            <a:r>
              <a:rPr sz="1500" b="0">
                <a:solidFill>
                  <a:srgbClr val="222B33"/>
                </a:solidFill>
                <a:latin typeface="Microsoft YaHei"/>
              </a:rPr>
              <a:t>B. 提醒旁人撤出房间，关门挂警示，报告负责人，等气溶胶沉降后由专人穿好防护处理</a:t>
            </a:r>
          </a:p>
          <a:p>
            <a:pPr algn="l"/>
            <a:r>
              <a:rPr sz="1500" b="0">
                <a:solidFill>
                  <a:srgbClr val="222B33"/>
                </a:solidFill>
                <a:latin typeface="Microsoft YaHei"/>
              </a:rPr>
              <a:t>C. 开窗通风后继续实验</a:t>
            </a:r>
          </a:p>
          <a:p>
            <a:pPr algn="l"/>
            <a:r>
              <a:rPr sz="1500" b="0">
                <a:solidFill>
                  <a:srgbClr val="222B33"/>
                </a:solidFill>
                <a:latin typeface="Microsoft YaHei"/>
              </a:rPr>
              <a:t>D. 用拖把拖干净</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怀疑离心感染性样品时离心管破裂，应该：</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停机后立即开盖查看</a:t>
            </a:r>
          </a:p>
          <a:p>
            <a:pPr algn="l"/>
            <a:r>
              <a:rPr sz="1500" b="0">
                <a:solidFill>
                  <a:srgbClr val="222B33"/>
                </a:solidFill>
                <a:latin typeface="Microsoft YaHei"/>
              </a:rPr>
              <a:t>B. 不开盖，挂警示静置让气溶胶沉降，报告后穿好防护，把密封吊篮拿进生物安全柜内打开</a:t>
            </a:r>
          </a:p>
          <a:p>
            <a:pPr algn="l"/>
            <a:r>
              <a:rPr sz="1500" b="0">
                <a:solidFill>
                  <a:srgbClr val="222B33"/>
                </a:solidFill>
                <a:latin typeface="Microsoft YaHei"/>
              </a:rPr>
              <a:t>C. 继续离心</a:t>
            </a:r>
          </a:p>
          <a:p>
            <a:pPr algn="l"/>
            <a:r>
              <a:rPr sz="1500" b="0">
                <a:solidFill>
                  <a:srgbClr val="222B33"/>
                </a:solidFill>
                <a:latin typeface="Microsoft YaHei"/>
              </a:rPr>
              <a:t>D. 用手取出碎管</a:t>
            </a:r>
          </a:p>
        </p:txBody>
      </p:sp>
    </p:spTree>
  </p:cSld>
  <p:clrMapOvr>
    <a:masterClrMapping/>
  </p:clrMapOvr>
</p:sld>
</file>

<file path=ppt/slides/slide4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078 · 生物溢洒与暴露处置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078 生物溢洒与暴露处置</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判断：被沾过血样的针头扎伤后，应从近心端向伤口方向轻轻挤出血液，用肥皂和流动水冲洗，消毒包扎后立即报告并就医。</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简答：发生生物暴露后，应向谁报告？报告后还要做什么？</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489.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出了事马上行动，规定必须照做</a:t>
            </a:r>
          </a:p>
          <a:p>
            <a:pPr>
              <a:spcAft>
                <a:spcPts val="800"/>
              </a:spcAft>
            </a:pPr>
            <a:r>
              <a:rPr sz="1500">
                <a:solidFill>
                  <a:srgbClr val="FFFFFF"/>
                </a:solidFill>
                <a:latin typeface="Microsoft YaHei"/>
              </a:rPr>
              <a:t>▪ K2  事先定好规程，备好溢洒处理包</a:t>
            </a:r>
          </a:p>
          <a:p>
            <a:pPr>
              <a:spcAft>
                <a:spcPts val="800"/>
              </a:spcAft>
            </a:pPr>
            <a:r>
              <a:rPr sz="1500">
                <a:solidFill>
                  <a:srgbClr val="FFFFFF"/>
                </a:solidFill>
                <a:latin typeface="Microsoft YaHei"/>
              </a:rPr>
              <a:t>▪ K3  第一步控制：警示清场，不让扩散</a:t>
            </a:r>
          </a:p>
          <a:p>
            <a:pPr>
              <a:spcAft>
                <a:spcPts val="800"/>
              </a:spcAft>
            </a:pPr>
            <a:r>
              <a:rPr sz="1500">
                <a:solidFill>
                  <a:srgbClr val="FFFFFF"/>
                </a:solidFill>
                <a:latin typeface="Microsoft YaHei"/>
              </a:rPr>
              <a:t>▪ K4  柜内溢洒：风机不关，及时清理</a:t>
            </a:r>
          </a:p>
          <a:p>
            <a:pPr>
              <a:spcAft>
                <a:spcPts val="800"/>
              </a:spcAft>
            </a:pPr>
            <a:r>
              <a:rPr sz="1500">
                <a:solidFill>
                  <a:srgbClr val="FFFFFF"/>
                </a:solidFill>
                <a:latin typeface="Microsoft YaHei"/>
              </a:rPr>
              <a:t>▪ K5  盖住，消毒剂由外向内</a:t>
            </a:r>
          </a:p>
          <a:p>
            <a:pPr>
              <a:spcAft>
                <a:spcPts val="800"/>
              </a:spcAft>
            </a:pPr>
            <a:r>
              <a:rPr sz="1500">
                <a:solidFill>
                  <a:srgbClr val="FFFFFF"/>
                </a:solidFill>
                <a:latin typeface="Microsoft YaHei"/>
              </a:rPr>
              <a:t>▪ K6  擦掉，再浇一遍留置，时间到再丢</a:t>
            </a:r>
          </a:p>
          <a:p>
            <a:pPr>
              <a:spcAft>
                <a:spcPts val="800"/>
              </a:spcAft>
            </a:pPr>
            <a:r>
              <a:rPr sz="1500">
                <a:solidFill>
                  <a:srgbClr val="FFFFFF"/>
                </a:solidFill>
                <a:latin typeface="Microsoft YaHei"/>
              </a:rPr>
              <a:t>▪ K7  碎片用夹子，物品器材都去污</a:t>
            </a:r>
          </a:p>
          <a:p>
            <a:pPr>
              <a:spcAft>
                <a:spcPts val="800"/>
              </a:spcAft>
            </a:pPr>
            <a:r>
              <a:rPr sz="1500">
                <a:solidFill>
                  <a:srgbClr val="FFFFFF"/>
                </a:solidFill>
                <a:latin typeface="Microsoft YaHei"/>
              </a:rPr>
              <a:t>▪ K8  柜外溢洒：先撤离，关门等沉降</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K9  转运途中洒漏：先围住，再报告</a:t>
            </a:r>
          </a:p>
          <a:p>
            <a:pPr>
              <a:spcAft>
                <a:spcPts val="800"/>
              </a:spcAft>
            </a:pPr>
            <a:r>
              <a:rPr sz="1500">
                <a:solidFill>
                  <a:srgbClr val="FFFFFF"/>
                </a:solidFill>
                <a:latin typeface="Microsoft YaHei"/>
              </a:rPr>
              <a:t>▪ K10  离心管破裂：不开盖，柜内开吊篮</a:t>
            </a:r>
          </a:p>
          <a:p>
            <a:pPr>
              <a:spcAft>
                <a:spcPts val="800"/>
              </a:spcAft>
            </a:pPr>
            <a:r>
              <a:rPr sz="1500">
                <a:solidFill>
                  <a:srgbClr val="FFFFFF"/>
                </a:solidFill>
                <a:latin typeface="Microsoft YaHei"/>
              </a:rPr>
              <a:t>▪ K11  防护失效：停下、更换、查皮肤</a:t>
            </a:r>
          </a:p>
          <a:p>
            <a:pPr>
              <a:spcAft>
                <a:spcPts val="800"/>
              </a:spcAft>
            </a:pPr>
            <a:r>
              <a:rPr sz="1500">
                <a:solidFill>
                  <a:srgbClr val="FFFFFF"/>
                </a:solidFill>
                <a:latin typeface="Microsoft YaHei"/>
              </a:rPr>
              <a:t>▪ K12  针刺伤：轻挤、冲洗、消毒、包扎</a:t>
            </a:r>
          </a:p>
          <a:p>
            <a:pPr>
              <a:spcAft>
                <a:spcPts val="800"/>
              </a:spcAft>
            </a:pPr>
            <a:r>
              <a:rPr sz="1500">
                <a:solidFill>
                  <a:srgbClr val="FFFFFF"/>
                </a:solidFill>
                <a:latin typeface="Microsoft YaHei"/>
              </a:rPr>
              <a:t>▪ K13  皮肤和眼睛沾染：马上冲洗</a:t>
            </a:r>
          </a:p>
          <a:p>
            <a:pPr>
              <a:spcAft>
                <a:spcPts val="800"/>
              </a:spcAft>
            </a:pPr>
            <a:r>
              <a:rPr sz="1500">
                <a:solidFill>
                  <a:srgbClr val="FFFFFF"/>
                </a:solidFill>
                <a:latin typeface="Microsoft YaHei"/>
              </a:rPr>
              <a:t>▪ K14  立即逐级报告，不隐瞒</a:t>
            </a:r>
          </a:p>
          <a:p>
            <a:pPr>
              <a:spcAft>
                <a:spcPts val="800"/>
              </a:spcAft>
            </a:pPr>
            <a:r>
              <a:rPr sz="1500">
                <a:solidFill>
                  <a:srgbClr val="FFFFFF"/>
                </a:solidFill>
                <a:latin typeface="Microsoft YaHei"/>
              </a:rPr>
              <a:t>▪ K15  就医评估，登记随访</a:t>
            </a:r>
          </a:p>
        </p:txBody>
      </p:sp>
    </p:spTree>
  </p:cSld>
  <p:clrMapOvr>
    <a:masterClrMapping/>
  </p:clrMapOvr>
</p:sld>
</file>

<file path=ppt/slides/slide490.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079</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临床与环境样本的接收和处理</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8 分钟（卡通视频 96 镜）　适用对象：接触临床样本（血液、血清、拭子、体液、组织等）和污水等环境样本的医学、生命科学、公共卫生、环境工程等专业本科生、研究生和教职工（必修）；样本接收人员、实验室负责人和安全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4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079 · 临床与环境样本的接收和处理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079 临床与环境样本的接收和处理</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能说出临床样本和环境样本的特点：成分复杂、病原说不准，一律按有传染性对待，再查目录、做风险评估定级别。</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能做到样本接收的规范步骤：先穿防护、查渗漏、外包装消毒，逐管核对登记，不合格样本拒收，编号代替姓名并保护患者信息。</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能做到在生物安全柜内静置、垫纸、慢拧开管；能判断“要培养的”和“做核酸的”两条路的不同防护，疑似高致病样本不擅自培养。</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能说出核酸检测的灭活—提取—定量流程、自动提取仪的安全操作、实验室分区单向流动，以及阳性结果报告和剩余样本存毁登记的要求。</a:t>
            </a:r>
          </a:p>
        </p:txBody>
      </p:sp>
    </p:spTree>
  </p:cSld>
  <p:clrMapOvr>
    <a:masterClrMapping/>
  </p:clrMapOvr>
</p:sld>
</file>

<file path=ppt/slides/slide4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079 · 临床与环境样本的接收和处理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079 临床与环境样本的接收和处理</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《中华人民共和国生物安全法》：病原微生物实验室生物安全管理、样本的管理与报告义务</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《病原微生物实验室生物安全管理条例》（以现行文本为准）：样本的采集、保存、登记和销毁，高致病性病原微生物实验活动须在相应级别实验室并经批准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《人间传染的病原微生物目录》（国家卫生健康委发布，以现行版本为准）：病原分类及培养、未经培养的感染材料、灭活材料等不同实验活动所需的实验室级别</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生物安全通用要求》：样本接收、标识、运送、储存、销毁与记录</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233（以现行文本为准）《病原微生物实验室生物安全通用准则》：样本操作、生物安全柜使用、消毒与废物处置</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《中华人民共和国个人信息保护法》、《中华人民共和国人类遗传资源管理条例》（以现行文本为准）：患者健康信息属敏感个人信息；样本用于研究须依法合规</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《医疗机构临床基因扩增检验实验室管理办法》（以现行文本为准）：核酸扩增检验实验室分区与单向流动</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《中华人民共和国传染病防治法》（以现行文本为准）及本校实验室安全管理规定：阳性结果和疑似传染病的报告程序</a:t>
            </a:r>
          </a:p>
        </p:txBody>
      </p:sp>
    </p:spTree>
  </p:cSld>
  <p:clrMapOvr>
    <a:masterClrMapping/>
  </p:clrMapOvr>
</p:sld>
</file>

<file path=ppt/slides/slide4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079 · 临床与环境样本的接收和处理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临床样本：来源多，种类多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079 临床与环境样本的接收和处理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临床样本来自医院的病人</a:t>
            </a:r>
          </a:p>
          <a:p>
            <a:pPr>
              <a:spcAft>
                <a:spcPts val="1000"/>
              </a:spcAft>
            </a:pPr>
            <a:r>
              <a:rPr sz="2000">
                <a:solidFill>
                  <a:srgbClr val="222B33"/>
                </a:solidFill>
                <a:latin typeface="Microsoft YaHei"/>
              </a:rPr>
              <a:t>▪ 血液、血清、拭子、尿液、粪便、组织等</a:t>
            </a:r>
          </a:p>
          <a:p>
            <a:pPr>
              <a:spcAft>
                <a:spcPts val="1000"/>
              </a:spcAft>
            </a:pPr>
            <a:r>
              <a:rPr sz="2000">
                <a:solidFill>
                  <a:srgbClr val="222B33"/>
                </a:solidFill>
                <a:latin typeface="Microsoft YaHei"/>
              </a:rPr>
              <a:t>▪ 送来时一般泡在保存液或保存介质里</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临床样本是从病人身上采集、送到实验室检测或研究的材料，在医院检验科、病理科和疾病检测实验室每天都要处理；高校的医学、公共卫生和生命科学实验室在合作研究中也会接收医院送来的样本。</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以为只有“病原菌株”才危险，忽视普通临床样本</a:t>
            </a:r>
          </a:p>
          <a:p>
            <a:pPr>
              <a:spcAft>
                <a:spcPts val="1000"/>
              </a:spcAft>
            </a:pPr>
            <a:r>
              <a:rPr sz="1500">
                <a:solidFill>
                  <a:srgbClr val="222B33"/>
                </a:solidFill>
                <a:latin typeface="Microsoft YaHei"/>
              </a:rPr>
              <a:t>▪ 不清楚样本泡的是什么保存液就直接操作</a:t>
            </a:r>
          </a:p>
        </p:txBody>
      </p:sp>
    </p:spTree>
  </p:cSld>
  <p:clrMapOvr>
    <a:masterClrMapping/>
  </p:clrMapOvr>
</p:sld>
</file>

<file path=ppt/slides/slide4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079 · 临床与环境样本的接收和处理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培养物底细清楚，病人样本说不准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079 临床与环境样本的接收和处理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研究人员送来的纯培养物底细清楚</a:t>
            </a:r>
          </a:p>
          <a:p>
            <a:pPr>
              <a:spcAft>
                <a:spcPts val="1000"/>
              </a:spcAft>
            </a:pPr>
            <a:r>
              <a:rPr sz="2000">
                <a:solidFill>
                  <a:srgbClr val="222B33"/>
                </a:solidFill>
                <a:latin typeface="Microsoft YaHei"/>
              </a:rPr>
              <a:t>▪ 是什么、改过什么都清楚，风险好评估</a:t>
            </a:r>
          </a:p>
          <a:p>
            <a:pPr>
              <a:spcAft>
                <a:spcPts val="1000"/>
              </a:spcAft>
            </a:pPr>
            <a:r>
              <a:rPr sz="2000">
                <a:solidFill>
                  <a:srgbClr val="222B33"/>
                </a:solidFill>
                <a:latin typeface="Microsoft YaHei"/>
              </a:rPr>
              <a:t>▪ 病人样本可能不止一种病原，事先说不准</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实验室收到的生物材料大体有两类。一类是研究人员送来的纯培养物：是哪种病原、哪个株、做过什么改造，都有记录，可以对照目录和资料做风险评估（见第 067、068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只按申请单上的检测项目估计风险</a:t>
            </a:r>
          </a:p>
          <a:p>
            <a:pPr>
              <a:spcAft>
                <a:spcPts val="1000"/>
              </a:spcAft>
            </a:pPr>
            <a:r>
              <a:rPr sz="1500">
                <a:solidFill>
                  <a:srgbClr val="222B33"/>
                </a:solidFill>
                <a:latin typeface="Microsoft YaHei"/>
              </a:rPr>
              <a:t>▪ 把病人样本当成“只含目标病原”的样品</a:t>
            </a:r>
          </a:p>
        </p:txBody>
      </p:sp>
    </p:spTree>
  </p:cSld>
  <p:clrMapOvr>
    <a:masterClrMapping/>
  </p:clrMapOvr>
</p:sld>
</file>

<file path=ppt/slides/slide4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079 · 临床与环境样本的接收和处理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一律按有传染性对待，再评估定级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079 临床与环境样本的接收和处理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每一管临床样本都按有传染性对待</a:t>
            </a:r>
          </a:p>
          <a:p>
            <a:pPr>
              <a:spcAft>
                <a:spcPts val="1000"/>
              </a:spcAft>
            </a:pPr>
            <a:r>
              <a:rPr sz="1700">
                <a:solidFill>
                  <a:srgbClr val="222B33"/>
                </a:solidFill>
                <a:latin typeface="Microsoft YaHei"/>
              </a:rPr>
              <a:t>▪ 再查病原目录、做风险评估，定实验室级别</a:t>
            </a:r>
          </a:p>
          <a:p>
            <a:pPr>
              <a:spcAft>
                <a:spcPts val="1000"/>
              </a:spcAft>
            </a:pPr>
            <a:r>
              <a:rPr sz="1700">
                <a:solidFill>
                  <a:srgbClr val="222B33"/>
                </a:solidFill>
                <a:latin typeface="Microsoft YaHei"/>
              </a:rPr>
              <a:t>▪ 国内第一类最危险，别和国际编号弄反</a:t>
            </a:r>
          </a:p>
          <a:p>
            <a:pPr>
              <a:spcAft>
                <a:spcPts val="1000"/>
              </a:spcAft>
            </a:pPr>
            <a:r>
              <a:rPr sz="1700">
                <a:solidFill>
                  <a:srgbClr val="222B33"/>
                </a:solidFill>
                <a:latin typeface="Microsoft YaHei"/>
              </a:rPr>
              <a:t>▪ 看采样单；没症状也可能带菌，别大意</a:t>
            </a:r>
          </a:p>
          <a:p>
            <a:pPr>
              <a:spcAft>
                <a:spcPts val="1000"/>
              </a:spcAft>
            </a:pPr>
            <a:r>
              <a:rPr sz="1700">
                <a:solidFill>
                  <a:srgbClr val="222B33"/>
                </a:solidFill>
                <a:latin typeface="Microsoft YaHei"/>
              </a:rPr>
              <a:t>▪ 血样防溅防扎；已知未知一样管</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因为说不准，临床样本一律先按有传染性对待：戴手套等个人防护，在生物安全柜内开管，防溅、防扎，血样尤其如此。这是普遍防护的思路。原片“按最高可能风险对待”的说法，在国内要落实为：先按有传染性对待，再依据《人间传染的病原……</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样本“看着正常”“申请单写的是普通项目”就放松防护</a:t>
            </a:r>
          </a:p>
          <a:p>
            <a:pPr>
              <a:spcAft>
                <a:spcPts val="1000"/>
              </a:spcAft>
            </a:pPr>
            <a:r>
              <a:rPr sz="1500">
                <a:solidFill>
                  <a:srgbClr val="222B33"/>
                </a:solidFill>
                <a:latin typeface="Microsoft YaHei"/>
              </a:rPr>
              <a:t>▪ 把国际风险组编号当成国内分类</a:t>
            </a:r>
          </a:p>
        </p:txBody>
      </p:sp>
    </p:spTree>
  </p:cSld>
  <p:clrMapOvr>
    <a:masterClrMapping/>
  </p:clrMapOvr>
</p:sld>
</file>

<file path=ppt/slides/slide4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079 · 临床与环境样本的接收和处理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污水等环境样本也按感染性对待</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079 临床与环境样本的接收和处理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污水尤其医院污水可能含病原</a:t>
            </a:r>
          </a:p>
          <a:p>
            <a:pPr>
              <a:spcAft>
                <a:spcPts val="1000"/>
              </a:spcAft>
            </a:pPr>
            <a:r>
              <a:rPr sz="2000">
                <a:solidFill>
                  <a:srgbClr val="222B33"/>
                </a:solidFill>
                <a:latin typeface="Microsoft YaHei"/>
              </a:rPr>
              <a:t>▪ 戴手套取样，瓶盖拧紧，做完洗手</a:t>
            </a:r>
          </a:p>
          <a:p>
            <a:pPr>
              <a:spcAft>
                <a:spcPts val="1000"/>
              </a:spcAft>
            </a:pPr>
            <a:r>
              <a:rPr sz="2000">
                <a:solidFill>
                  <a:srgbClr val="222B33"/>
                </a:solidFill>
                <a:latin typeface="Microsoft YaHei"/>
              </a:rPr>
              <a:t>▪ 不在开放台面上直接倾倒</a:t>
            </a:r>
          </a:p>
          <a:p>
            <a:pPr>
              <a:spcAft>
                <a:spcPts val="1000"/>
              </a:spcAft>
            </a:pPr>
            <a:r>
              <a:rPr sz="2000">
                <a:solidFill>
                  <a:srgbClr val="222B33"/>
                </a:solidFill>
                <a:latin typeface="Microsoft YaHei"/>
              </a:rPr>
              <a:t>▪ 评估后一般在二级实验室操作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污水、污泥、医院污水以及其他可能受人畜排泄物污染的环境样本，可能含有多种病原菌和病毒，同样按有感染性的样本对待，不能当成“普通水样”。</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把污水样本当普通水样在开放台面上倒来倒去</a:t>
            </a:r>
          </a:p>
          <a:p>
            <a:pPr>
              <a:spcAft>
                <a:spcPts val="1000"/>
              </a:spcAft>
            </a:pPr>
            <a:r>
              <a:rPr sz="1500">
                <a:solidFill>
                  <a:srgbClr val="222B33"/>
                </a:solidFill>
                <a:latin typeface="Microsoft YaHei"/>
              </a:rPr>
              <a:t>▪ 采样后不洗手就吃东西</a:t>
            </a:r>
          </a:p>
        </p:txBody>
      </p:sp>
    </p:spTree>
  </p:cSld>
  <p:clrMapOvr>
    <a:masterClrMapping/>
  </p:clrMapOvr>
</p:sld>
</file>

<file path=ppt/slides/slide4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079 · 临床与环境样本的接收和处理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保存液：生物、化学两头防</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079 临床与环境样本的接收和处理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有的样本泡在化学保存液里</a:t>
            </a:r>
          </a:p>
          <a:p>
            <a:pPr>
              <a:spcAft>
                <a:spcPts val="1000"/>
              </a:spcAft>
            </a:pPr>
            <a:r>
              <a:rPr sz="2000">
                <a:solidFill>
                  <a:srgbClr val="222B33"/>
                </a:solidFill>
                <a:latin typeface="Microsoft YaHei"/>
              </a:rPr>
              <a:t>▪ 查随附的化学品安全技术说明书</a:t>
            </a:r>
          </a:p>
          <a:p>
            <a:pPr>
              <a:spcAft>
                <a:spcPts val="1000"/>
              </a:spcAft>
            </a:pPr>
            <a:r>
              <a:rPr sz="2000">
                <a:solidFill>
                  <a:srgbClr val="222B33"/>
                </a:solidFill>
                <a:latin typeface="Microsoft YaHei"/>
              </a:rPr>
              <a:t>▪ 生物风险、化学风险两头都防</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有些样本泡在化学保存液或固定液里（例如组织固定液、含裂解或灭活成分的保存液），这时样本既有生物风险，也有化学风险（刺激、腐蚀、毒性等）。</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只防生物风险，忽视保存液的化学危害</a:t>
            </a:r>
          </a:p>
          <a:p>
            <a:pPr>
              <a:spcAft>
                <a:spcPts val="1000"/>
              </a:spcAft>
            </a:pPr>
            <a:r>
              <a:rPr sz="1500">
                <a:solidFill>
                  <a:srgbClr val="222B33"/>
                </a:solidFill>
                <a:latin typeface="Microsoft YaHei"/>
              </a:rPr>
              <a:t>▪ 认为泡在保存液里的样本一定已经没有传染性</a:t>
            </a:r>
          </a:p>
        </p:txBody>
      </p:sp>
    </p:spTree>
  </p:cSld>
  <p:clrMapOvr>
    <a:masterClrMapping/>
  </p:clrMapOvr>
</p:sld>
</file>

<file path=ppt/slides/slide4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079 · 临床与环境样本的接收和处理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拆包：先防护，查渗漏，外包装消毒</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079 临床与环境样本的接收和处理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拆包前先穿戴好防护，不光着手拆箱</a:t>
            </a:r>
          </a:p>
          <a:p>
            <a:pPr>
              <a:spcAft>
                <a:spcPts val="1000"/>
              </a:spcAft>
            </a:pPr>
            <a:r>
              <a:rPr sz="1700">
                <a:solidFill>
                  <a:srgbClr val="222B33"/>
                </a:solidFill>
                <a:latin typeface="Microsoft YaHei"/>
              </a:rPr>
              <a:t>▪ 在指定台面拆，备好吸水垫和消毒剂</a:t>
            </a:r>
          </a:p>
          <a:p>
            <a:pPr>
              <a:spcAft>
                <a:spcPts val="1000"/>
              </a:spcAft>
            </a:pPr>
            <a:r>
              <a:rPr sz="1700">
                <a:solidFill>
                  <a:srgbClr val="222B33"/>
                </a:solidFill>
                <a:latin typeface="Microsoft YaHei"/>
              </a:rPr>
              <a:t>▪ 开箱前查渗漏破损；漏了别硬拆，封好报告</a:t>
            </a:r>
          </a:p>
          <a:p>
            <a:pPr>
              <a:spcAft>
                <a:spcPts val="1000"/>
              </a:spcAft>
            </a:pPr>
            <a:r>
              <a:rPr sz="1700">
                <a:solidFill>
                  <a:srgbClr val="222B33"/>
                </a:solidFill>
                <a:latin typeface="Microsoft YaHei"/>
              </a:rPr>
              <a:t>▪ 外包装先消毒，等够作用时间再开</a:t>
            </a:r>
          </a:p>
          <a:p>
            <a:pPr>
              <a:spcAft>
                <a:spcPts val="1000"/>
              </a:spcAft>
            </a:pPr>
            <a:r>
              <a:rPr sz="1700">
                <a:solidFill>
                  <a:srgbClr val="222B33"/>
                </a:solidFill>
                <a:latin typeface="Microsoft YaHei"/>
              </a:rPr>
              <a:t>▪ 内层袋拿到生物安全柜里再开</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样本箱送到后，拆包前先穿戴好实验服或隔离衣、手套和护目镜，在指定的接收台面上操作，铺好吸水垫，备好消毒剂、生物危害废物袋和溢洒处理包。</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光着手在普通办公桌上拆样本箱</a:t>
            </a:r>
          </a:p>
          <a:p>
            <a:pPr>
              <a:spcAft>
                <a:spcPts val="1000"/>
              </a:spcAft>
            </a:pPr>
            <a:r>
              <a:rPr sz="1500">
                <a:solidFill>
                  <a:srgbClr val="222B33"/>
                </a:solidFill>
                <a:latin typeface="Microsoft YaHei"/>
              </a:rPr>
              <a:t>▪ 发现箱子湿了还继续拆开查看</a:t>
            </a:r>
          </a:p>
        </p:txBody>
      </p:sp>
    </p:spTree>
  </p:cSld>
  <p:clrMapOvr>
    <a:masterClrMapping/>
  </p:clrMapOvr>
</p:sld>
</file>

<file path=ppt/slides/slide4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079 · 临床与环境样本的接收和处理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核对登记，不合格样本拒收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079 临床与环境样本的接收和处理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逐管核对样本、申请单和送样清单</a:t>
            </a:r>
          </a:p>
          <a:p>
            <a:pPr>
              <a:spcAft>
                <a:spcPts val="1000"/>
              </a:spcAft>
            </a:pPr>
            <a:r>
              <a:rPr sz="2000">
                <a:solidFill>
                  <a:srgbClr val="222B33"/>
                </a:solidFill>
                <a:latin typeface="Microsoft YaHei"/>
              </a:rPr>
              <a:t>▪ 样本一到就登记，电脑纸本各一份</a:t>
            </a:r>
          </a:p>
          <a:p>
            <a:pPr>
              <a:spcAft>
                <a:spcPts val="1000"/>
              </a:spcAft>
            </a:pPr>
            <a:r>
              <a:rPr sz="2000">
                <a:solidFill>
                  <a:srgbClr val="222B33"/>
                </a:solidFill>
                <a:latin typeface="Microsoft YaHei"/>
              </a:rPr>
              <a:t>▪ 没标签、对不上、破损的拒收或隔离</a:t>
            </a:r>
          </a:p>
          <a:p>
            <a:pPr>
              <a:spcAft>
                <a:spcPts val="1000"/>
              </a:spcAft>
            </a:pPr>
            <a:r>
              <a:rPr sz="2000">
                <a:solidFill>
                  <a:srgbClr val="222B33"/>
                </a:solidFill>
                <a:latin typeface="Microsoft YaHei"/>
              </a:rPr>
              <a:t>▪ 单独隔离、登记，联系送检方，别自己猜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样本到达后第一步是编目登记：与送样单位一起核对送样清单，逐管核对样本标识与申请单（编号、样本类型、数量、采集时间、检测项目），确认无误后登记。登记可采用电子系统和纸质记录双份保存，记录接收时间、接收人、样本状态。</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先做检测，事后再补登记</a:t>
            </a:r>
          </a:p>
          <a:p>
            <a:pPr>
              <a:spcAft>
                <a:spcPts val="1000"/>
              </a:spcAft>
            </a:pPr>
            <a:r>
              <a:rPr sz="1500">
                <a:solidFill>
                  <a:srgbClr val="222B33"/>
                </a:solidFill>
                <a:latin typeface="Microsoft YaHei"/>
              </a:rPr>
              <a:t>▪ 标签模糊时凭印象补写编号</a:t>
            </a:r>
          </a:p>
        </p:txBody>
      </p:sp>
    </p:spTree>
  </p:cSld>
  <p:clrMapOvr>
    <a:masterClrMapping/>
  </p:clrMapOvr>
</p:sld>
</file>

<file path=ppt/slides/slide5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079 · 临床与环境样本的接收和处理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编号代替姓名，信息保密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079 临床与环境样本的接收和处理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每份样本编号，代替病人姓名</a:t>
            </a:r>
          </a:p>
          <a:p>
            <a:pPr>
              <a:spcAft>
                <a:spcPts val="1000"/>
              </a:spcAft>
            </a:pPr>
            <a:r>
              <a:rPr sz="1700">
                <a:solidFill>
                  <a:srgbClr val="222B33"/>
                </a:solidFill>
                <a:latin typeface="Microsoft YaHei"/>
              </a:rPr>
              <a:t>▪ 编号对照表锁好，专人保管</a:t>
            </a:r>
          </a:p>
          <a:p>
            <a:pPr>
              <a:spcAft>
                <a:spcPts val="1000"/>
              </a:spcAft>
            </a:pPr>
            <a:r>
              <a:rPr sz="1700">
                <a:solidFill>
                  <a:srgbClr val="222B33"/>
                </a:solidFill>
                <a:latin typeface="Microsoft YaHei"/>
              </a:rPr>
              <a:t>▪ 电子数据放在安全的服务器上</a:t>
            </a:r>
          </a:p>
          <a:p>
            <a:pPr>
              <a:spcAft>
                <a:spcPts val="1000"/>
              </a:spcAft>
            </a:pPr>
            <a:r>
              <a:rPr sz="1700">
                <a:solidFill>
                  <a:srgbClr val="222B33"/>
                </a:solidFill>
                <a:latin typeface="Microsoft YaHei"/>
              </a:rPr>
              <a:t>▪ 病人信息不外传，不拍照</a:t>
            </a:r>
          </a:p>
          <a:p>
            <a:pPr>
              <a:spcAft>
                <a:spcPts val="1000"/>
              </a:spcAft>
            </a:pPr>
            <a:r>
              <a:rPr sz="1700">
                <a:solidFill>
                  <a:srgbClr val="222B33"/>
                </a:solidFill>
                <a:latin typeface="Microsoft YaHei"/>
              </a:rPr>
              <a:t>▪ 用于研究，按规定办好审查手续</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病人的健康信息属于敏感个人信息，受《中华人民共和国个人信息保护法》保护。样本登记后，用实验室编号代替病人姓名，样本管和工作记录上只写编号。</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在样本管上直接写病人姓名</a:t>
            </a:r>
          </a:p>
          <a:p>
            <a:pPr>
              <a:spcAft>
                <a:spcPts val="1000"/>
              </a:spcAft>
            </a:pPr>
            <a:r>
              <a:rPr sz="1500">
                <a:solidFill>
                  <a:srgbClr val="222B33"/>
                </a:solidFill>
                <a:latin typeface="Microsoft YaHei"/>
              </a:rPr>
              <a:t>▪ 把带病人信息的申请单拍照发到群里</a:t>
            </a:r>
          </a:p>
        </p:txBody>
      </p:sp>
    </p:spTree>
  </p:cSld>
  <p:clrMapOvr>
    <a:masterClrMapping/>
  </p:clrMapOvr>
</p:sld>
</file>

<file path=ppt/slides/slide50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079 · 临床与环境样本的接收和处理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柜内开管：静置、垫纸、慢拧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079 临床与环境样本的接收和处理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病人样本不在开放台面上开管</a:t>
            </a:r>
          </a:p>
          <a:p>
            <a:pPr>
              <a:spcAft>
                <a:spcPts val="1000"/>
              </a:spcAft>
            </a:pPr>
            <a:r>
              <a:rPr sz="1700">
                <a:solidFill>
                  <a:srgbClr val="222B33"/>
                </a:solidFill>
                <a:latin typeface="Microsoft YaHei"/>
              </a:rPr>
              <a:t>▪ 一律在生物安全柜里开，穿好防护</a:t>
            </a:r>
          </a:p>
          <a:p>
            <a:pPr>
              <a:spcAft>
                <a:spcPts val="1000"/>
              </a:spcAft>
            </a:pPr>
            <a:r>
              <a:rPr sz="1700">
                <a:solidFill>
                  <a:srgbClr val="222B33"/>
                </a:solidFill>
                <a:latin typeface="Microsoft YaHei"/>
              </a:rPr>
              <a:t>▪ 开盖前先静置一会儿</a:t>
            </a:r>
          </a:p>
          <a:p>
            <a:pPr>
              <a:spcAft>
                <a:spcPts val="1000"/>
              </a:spcAft>
            </a:pPr>
            <a:r>
              <a:rPr sz="1700">
                <a:solidFill>
                  <a:srgbClr val="222B33"/>
                </a:solidFill>
                <a:latin typeface="Microsoft YaHei"/>
              </a:rPr>
              <a:t>▪ 消毒液纸巾包住管盖，慢慢拧开</a:t>
            </a:r>
          </a:p>
          <a:p>
            <a:pPr>
              <a:spcAft>
                <a:spcPts val="1000"/>
              </a:spcAft>
            </a:pPr>
            <a:r>
              <a:rPr sz="1700">
                <a:solidFill>
                  <a:srgbClr val="222B33"/>
                </a:solidFill>
                <a:latin typeface="Microsoft YaHei"/>
              </a:rPr>
              <a:t>▪ 甩管、硬拔都会溅出气溶胶</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打开临床样本管必须在生物安全柜内进行，穿好实验服或隔离衣、手套等防护，照操作规程一步步做（生物安全柜的使用见第 072 课）。不能在开放的台面上开管。</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为了省事在台面上拔开管盖</a:t>
            </a:r>
          </a:p>
          <a:p>
            <a:pPr>
              <a:spcAft>
                <a:spcPts val="1000"/>
              </a:spcAft>
            </a:pPr>
            <a:r>
              <a:rPr sz="1500">
                <a:solidFill>
                  <a:srgbClr val="222B33"/>
                </a:solidFill>
                <a:latin typeface="Microsoft YaHei"/>
              </a:rPr>
              <a:t>▪ 管盖粘紧时用力猛拔</a:t>
            </a:r>
          </a:p>
        </p:txBody>
      </p:sp>
    </p:spTree>
  </p:cSld>
  <p:clrMapOvr>
    <a:masterClrMapping/>
  </p:clrMapOvr>
</p:sld>
</file>

<file path=ppt/slides/slide50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079 · 临床与环境样本的接收和处理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四类检测，各按风险定场所</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079 临床与环境样本的接收和处理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主要四类：分离培养、血清学、核酸检测、显微镜检</a:t>
            </a:r>
          </a:p>
          <a:p>
            <a:pPr>
              <a:spcAft>
                <a:spcPts val="1000"/>
              </a:spcAft>
            </a:pPr>
            <a:r>
              <a:rPr sz="2000">
                <a:solidFill>
                  <a:srgbClr val="222B33"/>
                </a:solidFill>
                <a:latin typeface="Microsoft YaHei"/>
              </a:rPr>
              <a:t>▪ 离心用密封杯，停稳静置到柜里开</a:t>
            </a:r>
          </a:p>
          <a:p>
            <a:pPr>
              <a:spcAft>
                <a:spcPts val="1000"/>
              </a:spcAft>
            </a:pPr>
            <a:r>
              <a:rPr sz="2000">
                <a:solidFill>
                  <a:srgbClr val="222B33"/>
                </a:solidFill>
                <a:latin typeface="Microsoft YaHei"/>
              </a:rPr>
              <a:t>▪ 按目录在相应级别实验室做</a:t>
            </a:r>
          </a:p>
          <a:p>
            <a:pPr>
              <a:spcAft>
                <a:spcPts val="1000"/>
              </a:spcAft>
            </a:pPr>
            <a:r>
              <a:rPr sz="2000">
                <a:solidFill>
                  <a:srgbClr val="222B33"/>
                </a:solidFill>
                <a:latin typeface="Microsoft YaHei"/>
              </a:rPr>
              <a:t>▪ 高风险的须经批准，学生不能碰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临床样本的检测主要有四类：一是分离培养，把样本中的病原分离出来；二是血清学检测，看抗原抗体反应；三是核酸检测，提取核酸后扩增检测；四是显微镜检查。不同检测的风险不同，培养风险最高（见 K11）。</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离心感染性样本用不带盖的离心管</a:t>
            </a:r>
          </a:p>
          <a:p>
            <a:pPr>
              <a:spcAft>
                <a:spcPts val="1000"/>
              </a:spcAft>
            </a:pPr>
            <a:r>
              <a:rPr sz="1500">
                <a:solidFill>
                  <a:srgbClr val="222B33"/>
                </a:solidFill>
                <a:latin typeface="Microsoft YaHei"/>
              </a:rPr>
              <a:t>▪ 离心停止后马上在台面上打开</a:t>
            </a:r>
          </a:p>
        </p:txBody>
      </p:sp>
    </p:spTree>
  </p:cSld>
  <p:clrMapOvr>
    <a:masterClrMapping/>
  </p:clrMapOvr>
</p:sld>
</file>

<file path=ppt/slides/slide50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079 · 临床与环境样本的接收和处理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要培养的：最严防护，疑似高致病不擅自做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079 临床与环境样本的接收和处理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样本进实验室分两条路：培养或做核酸</a:t>
            </a:r>
          </a:p>
          <a:p>
            <a:pPr>
              <a:spcAft>
                <a:spcPts val="1000"/>
              </a:spcAft>
            </a:pPr>
            <a:r>
              <a:rPr sz="1700">
                <a:solidFill>
                  <a:srgbClr val="222B33"/>
                </a:solidFill>
                <a:latin typeface="Microsoft YaHei"/>
              </a:rPr>
              <a:t>▪ 要培养的，病原会越养越多</a:t>
            </a:r>
          </a:p>
          <a:p>
            <a:pPr>
              <a:spcAft>
                <a:spcPts val="1000"/>
              </a:spcAft>
            </a:pPr>
            <a:r>
              <a:rPr sz="1700">
                <a:solidFill>
                  <a:srgbClr val="222B33"/>
                </a:solidFill>
                <a:latin typeface="Microsoft YaHei"/>
              </a:rPr>
              <a:t>▪ 按活培养物评估，防护做到最严</a:t>
            </a:r>
          </a:p>
          <a:p>
            <a:pPr>
              <a:spcAft>
                <a:spcPts val="1000"/>
              </a:spcAft>
            </a:pPr>
            <a:r>
              <a:rPr sz="1700">
                <a:solidFill>
                  <a:srgbClr val="222B33"/>
                </a:solidFill>
                <a:latin typeface="Microsoft YaHei"/>
              </a:rPr>
              <a:t>▪ 芽孢、经空气传播的，措施要选对</a:t>
            </a:r>
          </a:p>
          <a:p>
            <a:pPr>
              <a:spcAft>
                <a:spcPts val="1000"/>
              </a:spcAft>
            </a:pPr>
            <a:r>
              <a:rPr sz="1700">
                <a:solidFill>
                  <a:srgbClr val="222B33"/>
                </a:solidFill>
                <a:latin typeface="Microsoft YaHei"/>
              </a:rPr>
              <a:t>▪ 疑似高致病的不擅自培养，立即报告</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样本进了实验室，大体分两条路：一条是要分离培养病原的，一条是直接做核酸等检测的。两条路的风险不同，国内病原目录也对“病原培养”和“未经培养的感染材料操作”“灭活材料操作”分别规定了所需的实验室级别。</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把培养物当成和原始样本一样的风险</a:t>
            </a:r>
          </a:p>
          <a:p>
            <a:pPr>
              <a:spcAft>
                <a:spcPts val="1000"/>
              </a:spcAft>
            </a:pPr>
            <a:r>
              <a:rPr sz="1500">
                <a:solidFill>
                  <a:srgbClr val="222B33"/>
                </a:solidFill>
                <a:latin typeface="Microsoft YaHei"/>
              </a:rPr>
              <a:t>▪ 发现可疑结果后自行扩大培养“确认一下”</a:t>
            </a:r>
          </a:p>
        </p:txBody>
      </p:sp>
    </p:spTree>
  </p:cSld>
  <p:clrMapOvr>
    <a:masterClrMapping/>
  </p:clrMapOvr>
</p:sld>
</file>

<file path=ppt/slides/slide50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079 · 临床与环境样本的接收和处理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做核酸的：先灭活，确认后出柜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079 临床与环境样本的接收和处理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做核酸检测的，先灭活</a:t>
            </a:r>
          </a:p>
          <a:p>
            <a:pPr>
              <a:spcAft>
                <a:spcPts val="1000"/>
              </a:spcAft>
            </a:pPr>
            <a:r>
              <a:rPr sz="1700">
                <a:solidFill>
                  <a:srgbClr val="222B33"/>
                </a:solidFill>
                <a:latin typeface="Microsoft YaHei"/>
              </a:rPr>
              <a:t>▪ 怎么灭活，按规程和试剂说明书</a:t>
            </a:r>
          </a:p>
          <a:p>
            <a:pPr>
              <a:spcAft>
                <a:spcPts val="1000"/>
              </a:spcAft>
            </a:pPr>
            <a:r>
              <a:rPr sz="1700">
                <a:solidFill>
                  <a:srgbClr val="222B33"/>
                </a:solidFill>
                <a:latin typeface="Microsoft YaHei"/>
              </a:rPr>
              <a:t>▪ 既要灭活，又要保住检测成分</a:t>
            </a:r>
          </a:p>
          <a:p>
            <a:pPr>
              <a:spcAft>
                <a:spcPts val="1000"/>
              </a:spcAft>
            </a:pPr>
            <a:r>
              <a:rPr sz="1700">
                <a:solidFill>
                  <a:srgbClr val="222B33"/>
                </a:solidFill>
                <a:latin typeface="Microsoft YaHei"/>
              </a:rPr>
              <a:t>▪ 灭活方法要验证；贴标识、外壁消毒后出柜</a:t>
            </a:r>
          </a:p>
          <a:p>
            <a:pPr>
              <a:spcAft>
                <a:spcPts val="1000"/>
              </a:spcAft>
            </a:pPr>
            <a:r>
              <a:rPr sz="1700">
                <a:solidFill>
                  <a:srgbClr val="222B33"/>
                </a:solidFill>
                <a:latin typeface="Microsoft YaHei"/>
              </a:rPr>
              <a:t>▪ 每一步写进方案，步骤风险也评估</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做核酸检测的样本，开管后先灭活，让病原失去感染力，再往下做提取。怎么灭活（加热、化学裂解等），按该病原的操作规程和试剂说明书进行；原片中的具体条件是当时的做法，以现行规定和试剂说明书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灭活没完成就把样本拿出生物安全柜</a:t>
            </a:r>
          </a:p>
          <a:p>
            <a:pPr>
              <a:spcAft>
                <a:spcPts val="1000"/>
              </a:spcAft>
            </a:pPr>
            <a:r>
              <a:rPr sz="1500">
                <a:solidFill>
                  <a:srgbClr val="222B33"/>
                </a:solidFill>
                <a:latin typeface="Microsoft YaHei"/>
              </a:rPr>
              <a:t>▪ 照搬网上或旧文献的灭活条件，不做验证</a:t>
            </a:r>
          </a:p>
        </p:txBody>
      </p:sp>
    </p:spTree>
  </p:cSld>
  <p:clrMapOvr>
    <a:masterClrMapping/>
  </p:clrMapOvr>
</p:sld>
</file>

<file path=ppt/slides/slide50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079 · 临床与环境样本的接收和处理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核酸提取在柜内，防离心气溶胶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079 临床与环境样本的接收和处理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灭活后提取核酸，也在柜里做</a:t>
            </a:r>
          </a:p>
          <a:p>
            <a:pPr>
              <a:spcAft>
                <a:spcPts val="1000"/>
              </a:spcAft>
            </a:pPr>
            <a:r>
              <a:rPr sz="1700">
                <a:solidFill>
                  <a:srgbClr val="222B33"/>
                </a:solidFill>
                <a:latin typeface="Microsoft YaHei"/>
              </a:rPr>
              <a:t>▪ 提取要离心，会产生气溶胶</a:t>
            </a:r>
          </a:p>
          <a:p>
            <a:pPr>
              <a:spcAft>
                <a:spcPts val="1000"/>
              </a:spcAft>
            </a:pPr>
            <a:r>
              <a:rPr sz="1700">
                <a:solidFill>
                  <a:srgbClr val="222B33"/>
                </a:solidFill>
                <a:latin typeface="Microsoft YaHei"/>
              </a:rPr>
              <a:t>▪ 用自动化提取仪能减少气溶胶</a:t>
            </a:r>
          </a:p>
          <a:p>
            <a:pPr>
              <a:spcAft>
                <a:spcPts val="1000"/>
              </a:spcAft>
            </a:pPr>
            <a:r>
              <a:rPr sz="1700">
                <a:solidFill>
                  <a:srgbClr val="222B33"/>
                </a:solidFill>
                <a:latin typeface="Microsoft YaHei"/>
              </a:rPr>
              <a:t>▪ 提出的核酸本身风险很小</a:t>
            </a:r>
          </a:p>
          <a:p>
            <a:pPr>
              <a:spcAft>
                <a:spcPts val="1000"/>
              </a:spcAft>
            </a:pPr>
            <a:r>
              <a:rPr sz="1700">
                <a:solidFill>
                  <a:srgbClr val="222B33"/>
                </a:solidFill>
                <a:latin typeface="Microsoft YaHei"/>
              </a:rPr>
              <a:t>▪ RNA 不稳定：尽快处理，提完上冰</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提取病毒核酸已是常规工作，但同样必须遵守生物安全规程，在相应级别的实验室进行。灭活后的核酸提取也在生物安全柜内操作，开管、加样产生的气溶胶留在柜内。</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认为“已经加了裂解液”就可以在柜外随便操作</a:t>
            </a:r>
          </a:p>
          <a:p>
            <a:pPr>
              <a:spcAft>
                <a:spcPts val="1000"/>
              </a:spcAft>
            </a:pPr>
            <a:r>
              <a:rPr sz="1500">
                <a:solidFill>
                  <a:srgbClr val="222B33"/>
                </a:solidFill>
                <a:latin typeface="Microsoft YaHei"/>
              </a:rPr>
              <a:t>▪ 离心后在柜外直接打开离心管</a:t>
            </a:r>
          </a:p>
        </p:txBody>
      </p:sp>
    </p:spTree>
  </p:cSld>
  <p:clrMapOvr>
    <a:masterClrMapping/>
  </p:clrMapOvr>
</p:sld>
</file>

<file path=ppt/slides/slide50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079 · 临床与环境样本的接收和处理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卡盒式自动提取：认识仪器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079 临床与环境样本的接收和处理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卡盒式提取仪全程在机器里完成</a:t>
            </a:r>
          </a:p>
          <a:p>
            <a:pPr>
              <a:spcAft>
                <a:spcPts val="1000"/>
              </a:spcAft>
            </a:pPr>
            <a:r>
              <a:rPr sz="1700">
                <a:solidFill>
                  <a:srgbClr val="222B33"/>
                </a:solidFill>
                <a:latin typeface="Microsoft YaHei"/>
              </a:rPr>
              <a:t>▪ 卡盒有样本孔、试剂孔和收集孔</a:t>
            </a:r>
          </a:p>
          <a:p>
            <a:pPr>
              <a:spcAft>
                <a:spcPts val="1000"/>
              </a:spcAft>
            </a:pPr>
            <a:r>
              <a:rPr sz="1700">
                <a:solidFill>
                  <a:srgbClr val="222B33"/>
                </a:solidFill>
                <a:latin typeface="Microsoft YaHei"/>
              </a:rPr>
              <a:t>▪ 磁力板把磁珠吸到底；内有磁棒和加热块</a:t>
            </a:r>
          </a:p>
          <a:p>
            <a:pPr>
              <a:spcAft>
                <a:spcPts val="1000"/>
              </a:spcAft>
            </a:pPr>
            <a:r>
              <a:rPr sz="1700">
                <a:solidFill>
                  <a:srgbClr val="222B33"/>
                </a:solidFill>
                <a:latin typeface="Microsoft YaHei"/>
              </a:rPr>
              <a:t>▪ 校准交给专业人员，别自己动</a:t>
            </a:r>
          </a:p>
          <a:p>
            <a:pPr>
              <a:spcAft>
                <a:spcPts val="1000"/>
              </a:spcAft>
            </a:pPr>
            <a:r>
              <a:rPr sz="1700">
                <a:solidFill>
                  <a:srgbClr val="222B33"/>
                </a:solidFill>
                <a:latin typeface="Microsoft YaHei"/>
              </a:rPr>
              <a:t>▪ 学会步骤，到相应实验室实际操作</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卡盒式自动核酸提取仪使用预先封装好试剂的卡盒（样本板），裂解、磁珠捕获、洗涤和洗脱全过程都在机器内完成，减少手工操作和气溶胶。不同仪器的卡盒规格（每排孔数、排数、一次可放几块）不同，以说明书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自行打开仪器内部或调整校准</a:t>
            </a:r>
          </a:p>
          <a:p>
            <a:pPr>
              <a:spcAft>
                <a:spcPts val="1000"/>
              </a:spcAft>
            </a:pPr>
            <a:r>
              <a:rPr sz="1500">
                <a:solidFill>
                  <a:srgbClr val="222B33"/>
                </a:solidFill>
                <a:latin typeface="Microsoft YaHei"/>
              </a:rPr>
              <a:t>▪ 在普通办公室里用仪器处理真实样本</a:t>
            </a:r>
          </a:p>
        </p:txBody>
      </p:sp>
    </p:spTree>
  </p:cSld>
  <p:clrMapOvr>
    <a:masterClrMapping/>
  </p:clrMapOvr>
</p:sld>
</file>

<file path=ppt/slides/slide5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079 · 临床与环境样本的接收和处理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装板、选程序，确认到位再启动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079 临床与环境样本的接收和处理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专用条装进卡槽，每条都锁紧</a:t>
            </a:r>
          </a:p>
          <a:p>
            <a:pPr>
              <a:spcAft>
                <a:spcPts val="1000"/>
              </a:spcAft>
            </a:pPr>
            <a:r>
              <a:rPr sz="1700">
                <a:solidFill>
                  <a:srgbClr val="222B33"/>
                </a:solidFill>
                <a:latin typeface="Microsoft YaHei"/>
              </a:rPr>
              <a:t>▪ 在柜里加样，试剂孔用时再撕膜</a:t>
            </a:r>
          </a:p>
          <a:p>
            <a:pPr>
              <a:spcAft>
                <a:spcPts val="1000"/>
              </a:spcAft>
            </a:pPr>
            <a:r>
              <a:rPr sz="1700">
                <a:solidFill>
                  <a:srgbClr val="222B33"/>
                </a:solidFill>
                <a:latin typeface="Microsoft YaHei"/>
              </a:rPr>
              <a:t>▪ 选提取、选程序见对勾，再选对应试剂盒</a:t>
            </a:r>
          </a:p>
          <a:p>
            <a:pPr>
              <a:spcAft>
                <a:spcPts val="1000"/>
              </a:spcAft>
            </a:pPr>
            <a:r>
              <a:rPr sz="1700">
                <a:solidFill>
                  <a:srgbClr val="222B33"/>
                </a:solidFill>
                <a:latin typeface="Microsoft YaHei"/>
              </a:rPr>
              <a:t>▪ 装几块卡盒就开几块加热块</a:t>
            </a:r>
          </a:p>
          <a:p>
            <a:pPr>
              <a:spcAft>
                <a:spcPts val="1000"/>
              </a:spcAft>
            </a:pPr>
            <a:r>
              <a:rPr sz="1700">
                <a:solidFill>
                  <a:srgbClr val="222B33"/>
                </a:solidFill>
                <a:latin typeface="Microsoft YaHei"/>
              </a:rPr>
              <a:t>▪ 启动前确认放平到位，放歪会洒样</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操作顺序：先把专用条装进各自的卡槽，每一条都锁紧；在生物安全柜内把样本加入样本孔，试剂孔预先用膜封好（运输时不洒），用时再撕膜；加好样后，把整块样本板平稳推进仪器。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专用条没锁紧、卡盒没放平就启动</a:t>
            </a:r>
          </a:p>
          <a:p>
            <a:pPr>
              <a:spcAft>
                <a:spcPts val="1000"/>
              </a:spcAft>
            </a:pPr>
            <a:r>
              <a:rPr sz="1500">
                <a:solidFill>
                  <a:srgbClr val="222B33"/>
                </a:solidFill>
                <a:latin typeface="Microsoft YaHei"/>
              </a:rPr>
              <a:t>▪ 运行中途打开前门查看</a:t>
            </a:r>
          </a:p>
        </p:txBody>
      </p:sp>
    </p:spTree>
  </p:cSld>
  <p:clrMapOvr>
    <a:masterClrMapping/>
  </p:clrMapOvr>
</p:sld>
</file>

<file path=ppt/slides/slide50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079 · 临床与环境样本的接收和处理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荧光定量检测与判读</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079 临床与环境样本的接收和处理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提取物最后上荧光定量仪检测</a:t>
            </a:r>
          </a:p>
          <a:p>
            <a:pPr>
              <a:spcAft>
                <a:spcPts val="1000"/>
              </a:spcAft>
            </a:pPr>
            <a:r>
              <a:rPr sz="2000">
                <a:solidFill>
                  <a:srgbClr val="222B33"/>
                </a:solidFill>
                <a:latin typeface="Microsoft YaHei"/>
              </a:rPr>
              <a:t>▪ RNA 先逆转录，再边扩增边读荧光</a:t>
            </a:r>
          </a:p>
          <a:p>
            <a:pPr>
              <a:spcAft>
                <a:spcPts val="1000"/>
              </a:spcAft>
            </a:pPr>
            <a:r>
              <a:rPr sz="2000">
                <a:solidFill>
                  <a:srgbClr val="222B33"/>
                </a:solidFill>
                <a:latin typeface="Microsoft YaHei"/>
              </a:rPr>
              <a:t>▪ 引物对准几段关键基因</a:t>
            </a:r>
          </a:p>
          <a:p>
            <a:pPr>
              <a:spcAft>
                <a:spcPts val="1000"/>
              </a:spcAft>
            </a:pPr>
            <a:r>
              <a:rPr sz="2000">
                <a:solidFill>
                  <a:srgbClr val="222B33"/>
                </a:solidFill>
                <a:latin typeface="Microsoft YaHei"/>
              </a:rPr>
              <a:t>▪ 各基因拷贝数不同，判读要考虑</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提取好的核酸上荧光定量 PCR 仪检测，判断样本里有没有目标病原。仪器会给出扩增曲线，告诉我们目标是否存在。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只看一个靶标的曲线就下结论</a:t>
            </a:r>
          </a:p>
          <a:p>
            <a:pPr>
              <a:spcAft>
                <a:spcPts val="1000"/>
              </a:spcAft>
            </a:pPr>
            <a:r>
              <a:rPr sz="1500">
                <a:solidFill>
                  <a:srgbClr val="222B33"/>
                </a:solidFill>
                <a:latin typeface="Microsoft YaHei"/>
              </a:rPr>
              <a:t>▪ 扩增结束后在实验室里随意开盖</a:t>
            </a:r>
          </a:p>
        </p:txBody>
      </p:sp>
    </p:spTree>
  </p:cSld>
  <p:clrMapOvr>
    <a:masterClrMapping/>
  </p:clrMapOvr>
</p:sld>
</file>

<file path=ppt/slides/slide50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079 · 临床与环境样本的接收和处理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核酸检测分区，单向流动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079 临床与环境样本的接收和处理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核酸检测实验室分成几个区</a:t>
            </a:r>
          </a:p>
          <a:p>
            <a:pPr>
              <a:spcAft>
                <a:spcPts val="1000"/>
              </a:spcAft>
            </a:pPr>
            <a:r>
              <a:rPr sz="2000">
                <a:solidFill>
                  <a:srgbClr val="222B33"/>
                </a:solidFill>
                <a:latin typeface="Microsoft YaHei"/>
              </a:rPr>
              <a:t>▪ 人和物品单向走，不走回头路</a:t>
            </a:r>
          </a:p>
          <a:p>
            <a:pPr>
              <a:spcAft>
                <a:spcPts val="1000"/>
              </a:spcAft>
            </a:pPr>
            <a:r>
              <a:rPr sz="2000">
                <a:solidFill>
                  <a:srgbClr val="222B33"/>
                </a:solidFill>
                <a:latin typeface="Microsoft YaHei"/>
              </a:rPr>
              <a:t>▪ 各区工作服和用品不混用</a:t>
            </a:r>
          </a:p>
          <a:p>
            <a:pPr>
              <a:spcAft>
                <a:spcPts val="1000"/>
              </a:spcAft>
            </a:pPr>
            <a:r>
              <a:rPr sz="2000">
                <a:solidFill>
                  <a:srgbClr val="222B33"/>
                </a:solidFill>
                <a:latin typeface="Microsoft YaHei"/>
              </a:rPr>
              <a:t>▪ 既防污染结果，也保护人员</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开展核酸扩增检测的实验室，按《医疗机构临床基因扩增检验实验室管理办法》（以现行文本为准）等要求分区，一般包括试剂准备区、样本制备区、扩增区和扩增产物分析区（具体分区以本实验室设计和规定为准），样本制备区按生物安全要求……</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从扩增区出来又回到样本制备区</a:t>
            </a:r>
          </a:p>
          <a:p>
            <a:pPr>
              <a:spcAft>
                <a:spcPts val="1000"/>
              </a:spcAft>
            </a:pPr>
            <a:r>
              <a:rPr sz="1500">
                <a:solidFill>
                  <a:srgbClr val="222B33"/>
                </a:solidFill>
                <a:latin typeface="Microsoft YaHei"/>
              </a:rPr>
              <a:t>▪ 穿着一个区的工作服到另一个区</a:t>
            </a:r>
          </a:p>
        </p:txBody>
      </p:sp>
    </p:spTree>
  </p:cSld>
  <p:clrMapOvr>
    <a:masterClrMapping/>
  </p:clrMapOvr>
</p:sld>
</file>

<file path=ppt/slides/slide5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079 · 临床与环境样本的接收和处理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阳性结果及时报告</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079 临床与环境样本的接收和处理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出现阳性结果，按规定及时报告</a:t>
            </a:r>
          </a:p>
          <a:p>
            <a:pPr>
              <a:spcAft>
                <a:spcPts val="1000"/>
              </a:spcAft>
            </a:pPr>
            <a:r>
              <a:rPr sz="2000">
                <a:solidFill>
                  <a:srgbClr val="222B33"/>
                </a:solidFill>
                <a:latin typeface="Microsoft YaHei"/>
              </a:rPr>
              <a:t>▪ 按国家规定和本校程序逐级上报</a:t>
            </a:r>
          </a:p>
          <a:p>
            <a:pPr>
              <a:spcAft>
                <a:spcPts val="1000"/>
              </a:spcAft>
            </a:pPr>
            <a:r>
              <a:rPr sz="2000">
                <a:solidFill>
                  <a:srgbClr val="222B33"/>
                </a:solidFill>
                <a:latin typeface="Microsoft YaHei"/>
              </a:rPr>
              <a:t>▪ 阳性样本单独保存，按要求移交</a:t>
            </a:r>
          </a:p>
          <a:p>
            <a:pPr>
              <a:spcAft>
                <a:spcPts val="1000"/>
              </a:spcAft>
            </a:pPr>
            <a:r>
              <a:rPr sz="2000">
                <a:solidFill>
                  <a:srgbClr val="222B33"/>
                </a:solidFill>
                <a:latin typeface="Microsoft YaHei"/>
              </a:rPr>
              <a:t>▪ 结果不私下外传</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检测中出现阳性结果，特别是涉及法定传染病或高致病性病原微生物的，要按《中华人民共和国传染病防治法》等国家规定和本校程序及时报告：先报告实验室负责人，由负责人按程序报学院和学校主管部门，需要向卫生健康主管部门或疾病预防……</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发现阳性后只在组里说一声，不按程序报告</a:t>
            </a:r>
          </a:p>
          <a:p>
            <a:pPr>
              <a:spcAft>
                <a:spcPts val="1000"/>
              </a:spcAft>
            </a:pPr>
            <a:r>
              <a:rPr sz="1500">
                <a:solidFill>
                  <a:srgbClr val="222B33"/>
                </a:solidFill>
                <a:latin typeface="Microsoft YaHei"/>
              </a:rPr>
              <a:t>▪ 把阳性样本和其他样本混放</a:t>
            </a:r>
          </a:p>
        </p:txBody>
      </p:sp>
    </p:spTree>
  </p:cSld>
  <p:clrMapOvr>
    <a:masterClrMapping/>
  </p:clrMapOvr>
</p:sld>
</file>

<file path=ppt/slides/slide5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079 · 临床与环境样本的接收和处理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剩余样本：存要上锁，毁要登记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079 临床与环境样本的接收和处理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要留存的样本按条件存放，冰箱上锁</a:t>
            </a:r>
          </a:p>
          <a:p>
            <a:pPr>
              <a:spcAft>
                <a:spcPts val="1000"/>
              </a:spcAft>
            </a:pPr>
            <a:r>
              <a:rPr sz="2000">
                <a:solidFill>
                  <a:srgbClr val="222B33"/>
                </a:solidFill>
                <a:latin typeface="Microsoft YaHei"/>
              </a:rPr>
              <a:t>▪ 库存清楚，每一管都能追溯</a:t>
            </a:r>
          </a:p>
          <a:p>
            <a:pPr>
              <a:spcAft>
                <a:spcPts val="1000"/>
              </a:spcAft>
            </a:pPr>
            <a:r>
              <a:rPr sz="2000">
                <a:solidFill>
                  <a:srgbClr val="222B33"/>
                </a:solidFill>
                <a:latin typeface="Microsoft YaHei"/>
              </a:rPr>
              <a:t>▪ 不留的按感染性废物处置，不进普通垃圾</a:t>
            </a:r>
          </a:p>
          <a:p>
            <a:pPr>
              <a:spcAft>
                <a:spcPts val="1000"/>
              </a:spcAft>
            </a:pPr>
            <a:r>
              <a:rPr sz="2000">
                <a:solidFill>
                  <a:srgbClr val="222B33"/>
                </a:solidFill>
                <a:latin typeface="Microsoft YaHei"/>
              </a:rPr>
              <a:t>▪ 数量、去向都登记，账物相符</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有的样本做完检测还要留着以后再分析。留存的样本按要求的条件（温度、容器、标识）存放在指定的冰箱或冻存设备中，设备上锁，专人管理。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样本放在不上锁的公共冰箱里，没人知道是谁的</a:t>
            </a:r>
          </a:p>
          <a:p>
            <a:pPr>
              <a:spcAft>
                <a:spcPts val="1000"/>
              </a:spcAft>
            </a:pPr>
            <a:r>
              <a:rPr sz="1500">
                <a:solidFill>
                  <a:srgbClr val="222B33"/>
                </a:solidFill>
                <a:latin typeface="Microsoft YaHei"/>
              </a:rPr>
              <a:t>▪ 用完的样本管直接丢进普通垃圾桶</a:t>
            </a:r>
          </a:p>
        </p:txBody>
      </p:sp>
    </p:spTree>
  </p:cSld>
  <p:clrMapOvr>
    <a:masterClrMapping/>
  </p:clrMapOvr>
</p:sld>
</file>

<file path=ppt/slides/slide5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079 · 临床与环境样本的接收和处理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079 临床与环境样本的接收和处理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关于临床样本，下列说法正确的是：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申请单写的是普通检测项目，可以按无传染性处理</a:t>
            </a:r>
          </a:p>
          <a:p>
            <a:pPr algn="l"/>
            <a:r>
              <a:rPr sz="1500" b="0">
                <a:solidFill>
                  <a:srgbClr val="222B33"/>
                </a:solidFill>
                <a:latin typeface="Microsoft YaHei"/>
              </a:rPr>
              <a:t>B. 一律先按有传染性对待，再查病原目录、做风险评估确定防护级别</a:t>
            </a:r>
          </a:p>
          <a:p>
            <a:pPr algn="l"/>
            <a:r>
              <a:rPr sz="1500" b="0">
                <a:solidFill>
                  <a:srgbClr val="222B33"/>
                </a:solidFill>
                <a:latin typeface="Microsoft YaHei"/>
              </a:rPr>
              <a:t>C. 看起来正常的样本一般不含病原</a:t>
            </a:r>
          </a:p>
          <a:p>
            <a:pPr algn="l"/>
            <a:r>
              <a:rPr sz="1500" b="0">
                <a:solidFill>
                  <a:srgbClr val="222B33"/>
                </a:solidFill>
                <a:latin typeface="Microsoft YaHei"/>
              </a:rPr>
              <a:t>D. 泡在保存液里的样本一定已经灭活</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判断：样本箱送到后发现外包装潮湿渗漏，应立即打开查看是哪一管漏了。</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5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079 · 临床与环境样本的接收和处理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079 临床与环境样本的接收和处理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接收样本时发现一管没有标签，正确的做法是：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按顺序推断编号补写</a:t>
            </a:r>
          </a:p>
          <a:p>
            <a:pPr algn="l"/>
            <a:r>
              <a:rPr sz="1500" b="0">
                <a:solidFill>
                  <a:srgbClr val="222B33"/>
                </a:solidFill>
                <a:latin typeface="Microsoft YaHei"/>
              </a:rPr>
              <a:t>B. 拒收或单独隔离，登记原因，联系送检方</a:t>
            </a:r>
          </a:p>
          <a:p>
            <a:pPr algn="l"/>
            <a:r>
              <a:rPr sz="1500" b="0">
                <a:solidFill>
                  <a:srgbClr val="222B33"/>
                </a:solidFill>
                <a:latin typeface="Microsoft YaHei"/>
              </a:rPr>
              <a:t>C. 先检测再说</a:t>
            </a:r>
          </a:p>
          <a:p>
            <a:pPr algn="l"/>
            <a:r>
              <a:rPr sz="1500" b="0">
                <a:solidFill>
                  <a:srgbClr val="222B33"/>
                </a:solidFill>
                <a:latin typeface="Microsoft YaHei"/>
              </a:rPr>
              <a:t>D. 直接丢弃，不登记</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做核酸检测的临床样本，下列流程正确的是：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台面上开管，加热后提取</a:t>
            </a:r>
          </a:p>
          <a:p>
            <a:pPr algn="l"/>
            <a:r>
              <a:rPr sz="1500" b="0">
                <a:solidFill>
                  <a:srgbClr val="222B33"/>
                </a:solidFill>
                <a:latin typeface="Microsoft YaHei"/>
              </a:rPr>
              <a:t>B. 生物安全柜内静置、垫纸慢拧开管，按验证过的方法灭活，贴标识、外壁消毒后出柜，再提取和定量检测</a:t>
            </a:r>
          </a:p>
          <a:p>
            <a:pPr algn="l"/>
            <a:r>
              <a:rPr sz="1500" b="0">
                <a:solidFill>
                  <a:srgbClr val="222B33"/>
                </a:solidFill>
                <a:latin typeface="Microsoft YaHei"/>
              </a:rPr>
              <a:t>C. 先培养扩增病原再提取</a:t>
            </a:r>
          </a:p>
          <a:p>
            <a:pPr algn="l"/>
            <a:r>
              <a:rPr sz="1500" b="0">
                <a:solidFill>
                  <a:srgbClr val="222B33"/>
                </a:solidFill>
                <a:latin typeface="Microsoft YaHei"/>
              </a:rPr>
              <a:t>D. 开管后直接拿到扩增区操作</a:t>
            </a:r>
          </a:p>
        </p:txBody>
      </p:sp>
    </p:spTree>
  </p:cSld>
  <p:clrMapOvr>
    <a:masterClrMapping/>
  </p:clrMapOvr>
</p:sld>
</file>

<file path=ppt/slides/slide5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079 · 临床与环境样本的接收和处理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079 临床与环境样本的接收和处理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判断：检测中怀疑样本含高致病性病原微生物，可以先自行扩大培养确认后再报告。</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简答：为什么样本要用编号代替病人姓名？剩余样本怎样管理？</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515.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临床样本：来源多，种类多</a:t>
            </a:r>
          </a:p>
          <a:p>
            <a:pPr>
              <a:spcAft>
                <a:spcPts val="800"/>
              </a:spcAft>
            </a:pPr>
            <a:r>
              <a:rPr sz="1500">
                <a:solidFill>
                  <a:srgbClr val="FFFFFF"/>
                </a:solidFill>
                <a:latin typeface="Microsoft YaHei"/>
              </a:rPr>
              <a:t>▪ K2  培养物底细清楚，病人样本说不准</a:t>
            </a:r>
          </a:p>
          <a:p>
            <a:pPr>
              <a:spcAft>
                <a:spcPts val="800"/>
              </a:spcAft>
            </a:pPr>
            <a:r>
              <a:rPr sz="1500">
                <a:solidFill>
                  <a:srgbClr val="FFFFFF"/>
                </a:solidFill>
                <a:latin typeface="Microsoft YaHei"/>
              </a:rPr>
              <a:t>▪ K3  一律按有传染性对待，再评估定级</a:t>
            </a:r>
          </a:p>
          <a:p>
            <a:pPr>
              <a:spcAft>
                <a:spcPts val="800"/>
              </a:spcAft>
            </a:pPr>
            <a:r>
              <a:rPr sz="1500">
                <a:solidFill>
                  <a:srgbClr val="FFFFFF"/>
                </a:solidFill>
                <a:latin typeface="Microsoft YaHei"/>
              </a:rPr>
              <a:t>▪ K4  污水等环境样本也按感染性对待</a:t>
            </a:r>
          </a:p>
          <a:p>
            <a:pPr>
              <a:spcAft>
                <a:spcPts val="800"/>
              </a:spcAft>
            </a:pPr>
            <a:r>
              <a:rPr sz="1500">
                <a:solidFill>
                  <a:srgbClr val="FFFFFF"/>
                </a:solidFill>
                <a:latin typeface="Microsoft YaHei"/>
              </a:rPr>
              <a:t>▪ K5  保存液：生物、化学两头防</a:t>
            </a:r>
          </a:p>
          <a:p>
            <a:pPr>
              <a:spcAft>
                <a:spcPts val="800"/>
              </a:spcAft>
            </a:pPr>
            <a:r>
              <a:rPr sz="1500">
                <a:solidFill>
                  <a:srgbClr val="FFFFFF"/>
                </a:solidFill>
                <a:latin typeface="Microsoft YaHei"/>
              </a:rPr>
              <a:t>▪ K6  拆包：先防护，查渗漏，外包装消毒</a:t>
            </a:r>
          </a:p>
          <a:p>
            <a:pPr>
              <a:spcAft>
                <a:spcPts val="800"/>
              </a:spcAft>
            </a:pPr>
            <a:r>
              <a:rPr sz="1500">
                <a:solidFill>
                  <a:srgbClr val="FFFFFF"/>
                </a:solidFill>
                <a:latin typeface="Microsoft YaHei"/>
              </a:rPr>
              <a:t>▪ K7  核对登记，不合格样本拒收</a:t>
            </a:r>
          </a:p>
          <a:p>
            <a:pPr>
              <a:spcAft>
                <a:spcPts val="800"/>
              </a:spcAft>
            </a:pPr>
            <a:r>
              <a:rPr sz="1500">
                <a:solidFill>
                  <a:srgbClr val="FFFFFF"/>
                </a:solidFill>
                <a:latin typeface="Microsoft YaHei"/>
              </a:rPr>
              <a:t>▪ K8  编号代替姓名，信息保密</a:t>
            </a:r>
          </a:p>
          <a:p>
            <a:pPr>
              <a:spcAft>
                <a:spcPts val="800"/>
              </a:spcAft>
            </a:pPr>
            <a:r>
              <a:rPr sz="1500">
                <a:solidFill>
                  <a:srgbClr val="FFFFFF"/>
                </a:solidFill>
                <a:latin typeface="Microsoft YaHei"/>
              </a:rPr>
              <a:t>▪ K9  柜内开管：静置、垫纸、慢拧</a:t>
            </a:r>
          </a:p>
          <a:p>
            <a:pPr>
              <a:spcAft>
                <a:spcPts val="800"/>
              </a:spcAft>
            </a:pPr>
            <a:r>
              <a:rPr sz="1500">
                <a:solidFill>
                  <a:srgbClr val="FFFFFF"/>
                </a:solidFill>
                <a:latin typeface="Microsoft YaHei"/>
              </a:rPr>
              <a:t>▪ K10  四类检测，各按风险定场所</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K11  要培养的：最严防护，疑似高致病不擅自做</a:t>
            </a:r>
          </a:p>
          <a:p>
            <a:pPr>
              <a:spcAft>
                <a:spcPts val="800"/>
              </a:spcAft>
            </a:pPr>
            <a:r>
              <a:rPr sz="1500">
                <a:solidFill>
                  <a:srgbClr val="FFFFFF"/>
                </a:solidFill>
                <a:latin typeface="Microsoft YaHei"/>
              </a:rPr>
              <a:t>▪ K12  做核酸的：先灭活，确认后出柜</a:t>
            </a:r>
          </a:p>
          <a:p>
            <a:pPr>
              <a:spcAft>
                <a:spcPts val="800"/>
              </a:spcAft>
            </a:pPr>
            <a:r>
              <a:rPr sz="1500">
                <a:solidFill>
                  <a:srgbClr val="FFFFFF"/>
                </a:solidFill>
                <a:latin typeface="Microsoft YaHei"/>
              </a:rPr>
              <a:t>▪ K13  核酸提取在柜内，防离心气溶胶</a:t>
            </a:r>
          </a:p>
          <a:p>
            <a:pPr>
              <a:spcAft>
                <a:spcPts val="800"/>
              </a:spcAft>
            </a:pPr>
            <a:r>
              <a:rPr sz="1500">
                <a:solidFill>
                  <a:srgbClr val="FFFFFF"/>
                </a:solidFill>
                <a:latin typeface="Microsoft YaHei"/>
              </a:rPr>
              <a:t>▪ K14  卡盒式自动提取：认识仪器</a:t>
            </a:r>
          </a:p>
          <a:p>
            <a:pPr>
              <a:spcAft>
                <a:spcPts val="800"/>
              </a:spcAft>
            </a:pPr>
            <a:r>
              <a:rPr sz="1500">
                <a:solidFill>
                  <a:srgbClr val="FFFFFF"/>
                </a:solidFill>
                <a:latin typeface="Microsoft YaHei"/>
              </a:rPr>
              <a:t>▪ K15  装板、选程序，确认到位再启动</a:t>
            </a:r>
          </a:p>
          <a:p>
            <a:pPr>
              <a:spcAft>
                <a:spcPts val="800"/>
              </a:spcAft>
            </a:pPr>
            <a:r>
              <a:rPr sz="1500">
                <a:solidFill>
                  <a:srgbClr val="FFFFFF"/>
                </a:solidFill>
                <a:latin typeface="Microsoft YaHei"/>
              </a:rPr>
              <a:t>▪ K16  荧光定量检测与判读</a:t>
            </a:r>
          </a:p>
          <a:p>
            <a:pPr>
              <a:spcAft>
                <a:spcPts val="800"/>
              </a:spcAft>
            </a:pPr>
            <a:r>
              <a:rPr sz="1500">
                <a:solidFill>
                  <a:srgbClr val="FFFFFF"/>
                </a:solidFill>
                <a:latin typeface="Microsoft YaHei"/>
              </a:rPr>
              <a:t>▪ K17  核酸检测分区，单向流动</a:t>
            </a:r>
          </a:p>
          <a:p>
            <a:pPr>
              <a:spcAft>
                <a:spcPts val="800"/>
              </a:spcAft>
            </a:pPr>
            <a:r>
              <a:rPr sz="1500">
                <a:solidFill>
                  <a:srgbClr val="FFFFFF"/>
                </a:solidFill>
                <a:latin typeface="Microsoft YaHei"/>
              </a:rPr>
              <a:t>▪ K18  阳性结果及时报告</a:t>
            </a:r>
          </a:p>
          <a:p>
            <a:pPr>
              <a:spcAft>
                <a:spcPts val="800"/>
              </a:spcAft>
            </a:pPr>
            <a:r>
              <a:rPr sz="1500">
                <a:solidFill>
                  <a:srgbClr val="FFFFFF"/>
                </a:solidFill>
                <a:latin typeface="Microsoft YaHei"/>
              </a:rPr>
              <a:t>▪ K19  剩余样本：存要上锁，毁要登记</a:t>
            </a:r>
          </a:p>
        </p:txBody>
      </p:sp>
    </p:spTree>
  </p:cSld>
  <p:clrMapOvr>
    <a:masterClrMapping/>
  </p:clrMapOvr>
</p:sld>
</file>

<file path=ppt/slides/slide516.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080</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菌毒种与样本的包装运输</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5 分钟（卡通视频 60 镜）　适用对象：需要寄送、接收或在楼内转运菌（毒）种、临床样本和其他生物材料的高校本科生、研究生和教职工（必修）；样本管理员、实验室负责人和安全员重点学习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5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080 · 菌毒种与样本的包装运输</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080 菌毒种与样本的包装运输</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能说出微生物运输的主要用途，以及规范运输“既保活性，也保安全”的意义；能说出高致病性菌（毒）种和样本运输须经批准、专人护送。</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能做到按三层包装原则包装样本：主容器、吸收材料、辅助容器、外包装，清单放在外层，冷却剂选对，干冰按危险货物处理。</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 A 类、B 类感染性物质的区别和标记要求，能认出生物危害标志，知道运输人员要培训。</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能做到楼内转运用密闭箱，不手拿试管；不私带、不邮寄、不私下交换菌株，转移须经导师和单位审批。</a:t>
            </a:r>
          </a:p>
        </p:txBody>
      </p:sp>
    </p:spTree>
  </p:cSld>
  <p:clrMapOvr>
    <a:masterClrMapping/>
  </p:clrMapOvr>
</p:sld>
</file>

<file path=ppt/slides/slide5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080 · 菌毒种与样本的包装运输</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080 菌毒种与样本的包装运输</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《中华人民共和国生物安全法》：病原微生物菌（毒）种和样本的运输、保藏管理与生物安保</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运输高致病性病原微生物菌（毒）种或样本须经批准，容器和包装材料防水、防破损、防外泄并有生物危险标识，专人护送，不得通过公共电（汽）车和城市铁路运输</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《可感染人类的高致病性病原微生物菌（毒）种或样本运输管理规定》（以现行文本为准）：运输审批程序、包装和交接要求</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《人间传染的病原微生物目录》（国家卫生健康委发布，以现行版本为准）：各病原的运输包装分类（A 类、B 类）</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生物安全通用要求》：样本运送、包装、标识与记录</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233（以现行文本为准）《病原微生物实验室生物安全通用准则》：实验室内和实验室间的样本转运</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6944-2025（以现行文本为准）《危险货物分类和品名编号》：感染性物质（第 6 类第 2 项）与干冰（第 9 类）</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《中华人民共和国国境卫生检疫法》（以现行文本为准）及本校生物材料运输、进出口管理规定：出入境特殊物品卫生检疫审批</a:t>
            </a:r>
          </a:p>
        </p:txBody>
      </p:sp>
    </p:spTree>
  </p:cSld>
  <p:clrMapOvr>
    <a:masterClrMapping/>
  </p:clrMapOvr>
</p:sld>
</file>

<file path=ppt/slides/slide5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080 · 菌毒种与样本的包装运输</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运输微生物，服务很多领域</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080 菌毒种与样本的包装运输</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科研、合作研究、开发新药，都要送菌株</a:t>
            </a:r>
          </a:p>
          <a:p>
            <a:pPr>
              <a:spcAft>
                <a:spcPts val="1000"/>
              </a:spcAft>
            </a:pPr>
            <a:r>
              <a:rPr sz="1700">
                <a:solidFill>
                  <a:srgbClr val="222B33"/>
                </a:solidFill>
                <a:latin typeface="Microsoft YaHei"/>
              </a:rPr>
              <a:t>▪ 样本送检、疫苗研发、传染病研究</a:t>
            </a:r>
          </a:p>
          <a:p>
            <a:pPr>
              <a:spcAft>
                <a:spcPts val="1000"/>
              </a:spcAft>
            </a:pPr>
            <a:r>
              <a:rPr sz="1700">
                <a:solidFill>
                  <a:srgbClr val="222B33"/>
                </a:solidFill>
                <a:latin typeface="Microsoft YaHei"/>
              </a:rPr>
              <a:t>▪ 菌种保藏、多样性研究、教学、会议演示</a:t>
            </a:r>
          </a:p>
          <a:p>
            <a:pPr>
              <a:spcAft>
                <a:spcPts val="1000"/>
              </a:spcAft>
            </a:pPr>
            <a:r>
              <a:rPr sz="1700">
                <a:solidFill>
                  <a:srgbClr val="222B33"/>
                </a:solidFill>
                <a:latin typeface="Microsoft YaHei"/>
              </a:rPr>
              <a:t>▪ 质控、检测和认证，也要运送样本</a:t>
            </a:r>
          </a:p>
          <a:p>
            <a:pPr>
              <a:spcAft>
                <a:spcPts val="1000"/>
              </a:spcAft>
            </a:pPr>
            <a:r>
              <a:rPr sz="1700">
                <a:solidFill>
                  <a:srgbClr val="222B33"/>
                </a:solidFill>
                <a:latin typeface="Microsoft YaHei"/>
              </a:rPr>
              <a:t>▪ 规范运输，既保活性，也保安全</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运输微生物和生物样本是很多领域的日常需要，归纳起来主要有七类用途：一是科研，研究微生物的特性、行为和相互作用，包括课题组之间共享菌株、重复实验和开发新药、抗生素、益生菌等新产品；二是医疗诊断，样本送去检验鉴定；三是疫……</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觉得“只是寄个样本”，随便找个盒子装</a:t>
            </a:r>
          </a:p>
          <a:p>
            <a:pPr>
              <a:spcAft>
                <a:spcPts val="1000"/>
              </a:spcAft>
            </a:pPr>
            <a:r>
              <a:rPr sz="1500">
                <a:solidFill>
                  <a:srgbClr val="222B33"/>
                </a:solidFill>
                <a:latin typeface="Microsoft YaHei"/>
              </a:rPr>
              <a:t>▪ 只关心样本别坏，不关心路上的人是否安全</a:t>
            </a:r>
          </a:p>
        </p:txBody>
      </p:sp>
    </p:spTree>
  </p:cSld>
  <p:clrMapOvr>
    <a:masterClrMapping/>
  </p:clrMapOvr>
</p:sld>
</file>

<file path=ppt/slides/slide5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080 · 菌毒种与样本的包装运输</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高致病性菌毒种运输，先审批</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080 菌毒种与样本的包装运输</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国内第一类最危险，和国际分组相反</a:t>
            </a:r>
          </a:p>
          <a:p>
            <a:pPr>
              <a:spcAft>
                <a:spcPts val="1000"/>
              </a:spcAft>
            </a:pPr>
            <a:r>
              <a:rPr sz="1700">
                <a:solidFill>
                  <a:srgbClr val="222B33"/>
                </a:solidFill>
                <a:latin typeface="Microsoft YaHei"/>
              </a:rPr>
              <a:t>▪ 高致病性的，先报主管部门批准</a:t>
            </a:r>
          </a:p>
          <a:p>
            <a:pPr>
              <a:spcAft>
                <a:spcPts val="1000"/>
              </a:spcAft>
            </a:pPr>
            <a:r>
              <a:rPr sz="1700">
                <a:solidFill>
                  <a:srgbClr val="222B33"/>
                </a:solidFill>
                <a:latin typeface="Microsoft YaHei"/>
              </a:rPr>
              <a:t>▪ 用专用包装，专人护送</a:t>
            </a:r>
          </a:p>
          <a:p>
            <a:pPr>
              <a:spcAft>
                <a:spcPts val="1000"/>
              </a:spcAft>
            </a:pPr>
            <a:r>
              <a:rPr sz="1700">
                <a:solidFill>
                  <a:srgbClr val="222B33"/>
                </a:solidFill>
                <a:latin typeface="Microsoft YaHei"/>
              </a:rPr>
              <a:t>▪ 不搭公共交通工具</a:t>
            </a:r>
          </a:p>
          <a:p>
            <a:pPr>
              <a:spcAft>
                <a:spcPts val="1000"/>
              </a:spcAft>
            </a:pPr>
            <a:r>
              <a:rPr sz="1700">
                <a:solidFill>
                  <a:srgbClr val="222B33"/>
                </a:solidFill>
                <a:latin typeface="Microsoft YaHei"/>
              </a:rPr>
              <a:t>▪ 登记交接，全程留痕</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国内病原微生物分类第一类危害最大、第四类最低，与国际风险组 1 组最低、4 组最高的方向正好相反（见第 058 课）。第一类、第二类病原微生物属于高致病性病原微生物。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先寄出去，事后再补审批手续</a:t>
            </a:r>
          </a:p>
          <a:p>
            <a:pPr>
              <a:spcAft>
                <a:spcPts val="1000"/>
              </a:spcAft>
            </a:pPr>
            <a:r>
              <a:rPr sz="1500">
                <a:solidFill>
                  <a:srgbClr val="222B33"/>
                </a:solidFill>
                <a:latin typeface="Microsoft YaHei"/>
              </a:rPr>
              <a:t>▪ 一个人带着高致病性样本乘坐公共交通</a:t>
            </a:r>
          </a:p>
        </p:txBody>
      </p:sp>
    </p:spTree>
  </p:cSld>
  <p:clrMapOvr>
    <a:masterClrMapping/>
  </p:clrMapOvr>
</p:sld>
</file>

<file path=ppt/slides/slide5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080 · 菌毒种与样本的包装运输</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三层包装：一层漏了还有两层</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080 菌毒种与样本的包装运输</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运输感染性物质，用三层包装</a:t>
            </a:r>
          </a:p>
          <a:p>
            <a:pPr>
              <a:spcAft>
                <a:spcPts val="1000"/>
              </a:spcAft>
            </a:pPr>
            <a:r>
              <a:rPr sz="1700">
                <a:solidFill>
                  <a:srgbClr val="222B33"/>
                </a:solidFill>
                <a:latin typeface="Microsoft YaHei"/>
              </a:rPr>
              <a:t>▪ 第一层防水密封的主容器，选塑料管</a:t>
            </a:r>
          </a:p>
          <a:p>
            <a:pPr>
              <a:spcAft>
                <a:spcPts val="1000"/>
              </a:spcAft>
            </a:pPr>
            <a:r>
              <a:rPr sz="1700">
                <a:solidFill>
                  <a:srgbClr val="222B33"/>
                </a:solidFill>
                <a:latin typeface="Microsoft YaHei"/>
              </a:rPr>
              <a:t>▪ 裹足吸收材料；第二层防水辅助容器封好口</a:t>
            </a:r>
          </a:p>
          <a:p>
            <a:pPr>
              <a:spcAft>
                <a:spcPts val="1000"/>
              </a:spcAft>
            </a:pPr>
            <a:r>
              <a:rPr sz="1700">
                <a:solidFill>
                  <a:srgbClr val="222B33"/>
                </a:solidFill>
                <a:latin typeface="Microsoft YaHei"/>
              </a:rPr>
              <a:t>▪ 第三层坚固防撞，清单放在外层</a:t>
            </a:r>
          </a:p>
          <a:p>
            <a:pPr>
              <a:spcAft>
                <a:spcPts val="1000"/>
              </a:spcAft>
            </a:pPr>
            <a:r>
              <a:rPr sz="1700">
                <a:solidFill>
                  <a:srgbClr val="222B33"/>
                </a:solidFill>
                <a:latin typeface="Microsoft YaHei"/>
              </a:rPr>
              <a:t>▪ 附上溢洒处理说明，防破损防暴露</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运输感染性物质和临床样本，按三层包装原则包装，目的是防破损、防泄漏、防暴露：</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样本管直接丢进泡沫箱，没有辅助容器</a:t>
            </a:r>
          </a:p>
          <a:p>
            <a:pPr>
              <a:spcAft>
                <a:spcPts val="1000"/>
              </a:spcAft>
            </a:pPr>
            <a:r>
              <a:rPr sz="1500">
                <a:solidFill>
                  <a:srgbClr val="222B33"/>
                </a:solidFill>
                <a:latin typeface="Microsoft YaHei"/>
              </a:rPr>
              <a:t>▪ 把清单塞进装样本的密封袋里</a:t>
            </a:r>
          </a:p>
        </p:txBody>
      </p:sp>
    </p:spTree>
  </p:cSld>
  <p:clrMapOvr>
    <a:masterClrMapping/>
  </p:clrMapOvr>
</p:sld>
</file>

<file path=ppt/slides/slide5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080 · 菌毒种与样本的包装运输</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管口一团吸收材料，防滴漏</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080 菌毒种与样本的包装运输</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管口包一小团纱布等吸收材料</a:t>
            </a:r>
          </a:p>
          <a:p>
            <a:pPr>
              <a:spcAft>
                <a:spcPts val="1000"/>
              </a:spcAft>
            </a:pPr>
            <a:r>
              <a:rPr sz="2000">
                <a:solidFill>
                  <a:srgbClr val="222B33"/>
                </a:solidFill>
                <a:latin typeface="Microsoft YaHei"/>
              </a:rPr>
              <a:t>▪ 开管时滴下的液体被它吸住</a:t>
            </a:r>
          </a:p>
          <a:p>
            <a:pPr>
              <a:spcAft>
                <a:spcPts val="1000"/>
              </a:spcAft>
            </a:pPr>
            <a:r>
              <a:rPr sz="2000">
                <a:solidFill>
                  <a:srgbClr val="222B33"/>
                </a:solidFill>
                <a:latin typeface="Microsoft YaHei"/>
              </a:rPr>
              <a:t>▪ 不沾手套，防护就不会被突破</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送检的样本管，管口可以包一小团纱布或其他吸收材料。这样做有两个好处：运输中管盖渗出的少量液体被吸住，接收方开管时滴下的液体也被它吸住。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管口外壁沾着样本也不处理就装箱</a:t>
            </a:r>
          </a:p>
          <a:p>
            <a:pPr>
              <a:spcAft>
                <a:spcPts val="1000"/>
              </a:spcAft>
            </a:pPr>
            <a:r>
              <a:rPr sz="1500">
                <a:solidFill>
                  <a:srgbClr val="222B33"/>
                </a:solidFill>
                <a:latin typeface="Microsoft YaHei"/>
              </a:rPr>
              <a:t>▪ 开管后把沾湿的纱布随手放在台面上</a:t>
            </a:r>
          </a:p>
        </p:txBody>
      </p:sp>
    </p:spTree>
  </p:cSld>
  <p:clrMapOvr>
    <a:masterClrMapping/>
  </p:clrMapOvr>
</p:sld>
</file>

<file path=ppt/slides/slide5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080 · 菌毒种与样本的包装运输</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冷却剂选对，干冰按危险货物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080 菌毒种与样本的包装运输</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配足冷却剂，样本保持完好</a:t>
            </a:r>
          </a:p>
          <a:p>
            <a:pPr>
              <a:spcAft>
                <a:spcPts val="1000"/>
              </a:spcAft>
            </a:pPr>
            <a:r>
              <a:rPr sz="1700">
                <a:solidFill>
                  <a:srgbClr val="222B33"/>
                </a:solidFill>
                <a:latin typeface="Microsoft YaHei"/>
              </a:rPr>
              <a:t>▪ 不推荐碎冰，融化渗水易污染</a:t>
            </a:r>
          </a:p>
          <a:p>
            <a:pPr>
              <a:spcAft>
                <a:spcPts val="1000"/>
              </a:spcAft>
            </a:pPr>
            <a:r>
              <a:rPr sz="1700">
                <a:solidFill>
                  <a:srgbClr val="222B33"/>
                </a:solidFill>
                <a:latin typeface="Microsoft YaHei"/>
              </a:rPr>
              <a:t>▪ 干冰放辅助容器外，不能密封，留出气口</a:t>
            </a:r>
          </a:p>
          <a:p>
            <a:pPr>
              <a:spcAft>
                <a:spcPts val="1000"/>
              </a:spcAft>
            </a:pPr>
            <a:r>
              <a:rPr sz="1700">
                <a:solidFill>
                  <a:srgbClr val="222B33"/>
                </a:solidFill>
                <a:latin typeface="Microsoft YaHei"/>
              </a:rPr>
              <a:t>▪ 干冰属第 9 类危险货物，要标明</a:t>
            </a:r>
          </a:p>
          <a:p>
            <a:pPr>
              <a:spcAft>
                <a:spcPts val="1000"/>
              </a:spcAft>
            </a:pPr>
            <a:r>
              <a:rPr sz="1700">
                <a:solidFill>
                  <a:srgbClr val="222B33"/>
                </a:solidFill>
                <a:latin typeface="Microsoft YaHei"/>
              </a:rPr>
              <a:t>▪ 拿干冰戴隔热手套，保持通风</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需要低温的样本，箱内配足冷却剂（冰袋、蓄冷剂或干冰），让样本在运输途中保持完好。不推荐用碎冰：碎冰融化后渗水，可能浸湿包装、冲出污染。冷却剂放在辅助容器外面，并固定好，冷却剂融化后辅助容器的位置也不能松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把干冰装进拧紧的密封罐</a:t>
            </a:r>
          </a:p>
          <a:p>
            <a:pPr>
              <a:spcAft>
                <a:spcPts val="1000"/>
              </a:spcAft>
            </a:pPr>
            <a:r>
              <a:rPr sz="1500">
                <a:solidFill>
                  <a:srgbClr val="222B33"/>
                </a:solidFill>
                <a:latin typeface="Microsoft YaHei"/>
              </a:rPr>
              <a:t>▪ 用碎冰直接埋住样本袋</a:t>
            </a:r>
          </a:p>
        </p:txBody>
      </p:sp>
    </p:spTree>
  </p:cSld>
  <p:clrMapOvr>
    <a:masterClrMapping/>
  </p:clrMapOvr>
</p:sld>
</file>

<file path=ppt/slides/slide5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080 · 菌毒种与样本的包装运输</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A 类、B 类，分类和标记不同</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080 菌毒种与样本的包装运输</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感染性物质运输时分 A 类和 B 类</a:t>
            </a:r>
          </a:p>
          <a:p>
            <a:pPr>
              <a:spcAft>
                <a:spcPts val="1000"/>
              </a:spcAft>
            </a:pPr>
            <a:r>
              <a:rPr sz="2000">
                <a:solidFill>
                  <a:srgbClr val="222B33"/>
                </a:solidFill>
                <a:latin typeface="Microsoft YaHei"/>
              </a:rPr>
              <a:t>▪ A 类危害高，包装要求更严</a:t>
            </a:r>
          </a:p>
          <a:p>
            <a:pPr>
              <a:spcAft>
                <a:spcPts val="1000"/>
              </a:spcAft>
            </a:pPr>
            <a:r>
              <a:rPr sz="2000">
                <a:solidFill>
                  <a:srgbClr val="222B33"/>
                </a:solidFill>
                <a:latin typeface="Microsoft YaHei"/>
              </a:rPr>
              <a:t>▪ B 类一般是普通诊断样本</a:t>
            </a:r>
          </a:p>
          <a:p>
            <a:pPr>
              <a:spcAft>
                <a:spcPts val="1000"/>
              </a:spcAft>
            </a:pPr>
            <a:r>
              <a:rPr sz="2000">
                <a:solidFill>
                  <a:srgbClr val="222B33"/>
                </a:solidFill>
                <a:latin typeface="Microsoft YaHei"/>
              </a:rPr>
              <a:t>▪ 属哪类查目录，包装限量按现行规定</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运输时，感染性物质按国际通行的分类分为 A 类和 B 类。A 类是在运输中一旦暴露，可能使健康的人或动物造成永久性残疾或危及生命的感染性物质，包装和审批要求最严，国际联合国编号为 2814（可感染人）或 2900（仅……</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不查目录，凭感觉按 B 类寄送</a:t>
            </a:r>
          </a:p>
          <a:p>
            <a:pPr>
              <a:spcAft>
                <a:spcPts val="1000"/>
              </a:spcAft>
            </a:pPr>
            <a:r>
              <a:rPr sz="1500">
                <a:solidFill>
                  <a:srgbClr val="222B33"/>
                </a:solidFill>
                <a:latin typeface="Microsoft YaHei"/>
              </a:rPr>
              <a:t>▪ 把 A 类、B 类与国内病原分类的第一类、第二类混为一谈</a:t>
            </a:r>
          </a:p>
        </p:txBody>
      </p:sp>
    </p:spTree>
  </p:cSld>
  <p:clrMapOvr>
    <a:masterClrMapping/>
  </p:clrMapOvr>
</p:sld>
</file>

<file path=ppt/slides/slide5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080 · 菌毒种与样本的包装运输</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送样方贴好标签、包好箱</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080 菌毒种与样本的包装运输</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认识生物危害标志，样本、容器、冰箱常见</a:t>
            </a:r>
          </a:p>
          <a:p>
            <a:pPr>
              <a:spcAft>
                <a:spcPts val="1000"/>
              </a:spcAft>
            </a:pPr>
            <a:r>
              <a:rPr sz="2000">
                <a:solidFill>
                  <a:srgbClr val="222B33"/>
                </a:solidFill>
                <a:latin typeface="Microsoft YaHei"/>
              </a:rPr>
              <a:t>▪ 采样一方先贴清标签、封严包装</a:t>
            </a:r>
          </a:p>
          <a:p>
            <a:pPr>
              <a:spcAft>
                <a:spcPts val="1000"/>
              </a:spcAft>
            </a:pPr>
            <a:r>
              <a:rPr sz="2000">
                <a:solidFill>
                  <a:srgbClr val="222B33"/>
                </a:solidFill>
                <a:latin typeface="Microsoft YaHei"/>
              </a:rPr>
              <a:t>▪ 标签清楚，病人信息保密</a:t>
            </a:r>
          </a:p>
          <a:p>
            <a:pPr>
              <a:spcAft>
                <a:spcPts val="1000"/>
              </a:spcAft>
            </a:pPr>
            <a:r>
              <a:rPr sz="2000">
                <a:solidFill>
                  <a:srgbClr val="222B33"/>
                </a:solidFill>
                <a:latin typeface="Microsoft YaHei"/>
              </a:rPr>
              <a:t>▪ 保护路上的人，也保护实验室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生物危害标志（三叶状环形图形，式样以国家标准为准）在样本管、转运箱、废物袋、冰箱和实验室门上都常见到（安全标志见第 026 课）。运输包装外按规定贴生物危害标志和相应的感染性物质标记、警告用语、收发双方和联系人信息。</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用手写便签贴在管子上，运输中脱落</a:t>
            </a:r>
          </a:p>
          <a:p>
            <a:pPr>
              <a:spcAft>
                <a:spcPts val="1000"/>
              </a:spcAft>
            </a:pPr>
            <a:r>
              <a:rPr sz="1500">
                <a:solidFill>
                  <a:srgbClr val="222B33"/>
                </a:solidFill>
                <a:latin typeface="Microsoft YaHei"/>
              </a:rPr>
              <a:t>▪ 在样本管上写病人姓名</a:t>
            </a:r>
          </a:p>
        </p:txBody>
      </p:sp>
    </p:spTree>
  </p:cSld>
  <p:clrMapOvr>
    <a:masterClrMapping/>
  </p:clrMapOvr>
</p:sld>
</file>

<file path=ppt/slides/slide5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080 · 菌毒种与样本的包装运输</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运输人员要培训</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080 菌毒种与样本的包装运输</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司机、快递员也要经过培训</a:t>
            </a:r>
          </a:p>
          <a:p>
            <a:pPr>
              <a:spcAft>
                <a:spcPts val="1000"/>
              </a:spcAft>
            </a:pPr>
            <a:r>
              <a:rPr sz="2000">
                <a:solidFill>
                  <a:srgbClr val="222B33"/>
                </a:solidFill>
                <a:latin typeface="Microsoft YaHei"/>
              </a:rPr>
              <a:t>▪ 知道箱里是什么，出了事怎么办</a:t>
            </a:r>
          </a:p>
          <a:p>
            <a:pPr>
              <a:spcAft>
                <a:spcPts val="1000"/>
              </a:spcAft>
            </a:pPr>
            <a:r>
              <a:rPr sz="2000">
                <a:solidFill>
                  <a:srgbClr val="222B33"/>
                </a:solidFill>
                <a:latin typeface="Microsoft YaHei"/>
              </a:rPr>
              <a:t>▪ 不能交给没资质的普通快递</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参与运输的人员——包装人员、司机、押运人员、物流公司人员——都要经过培训，知道箱里装的是什么、有什么风险、包装破损或泄漏时怎么处置、向谁报告。</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让不知情的同学或快递员帮忙送样本</a:t>
            </a:r>
          </a:p>
          <a:p>
            <a:pPr>
              <a:spcAft>
                <a:spcPts val="1000"/>
              </a:spcAft>
            </a:pPr>
            <a:r>
              <a:rPr sz="1500">
                <a:solidFill>
                  <a:srgbClr val="222B33"/>
                </a:solidFill>
                <a:latin typeface="Microsoft YaHei"/>
              </a:rPr>
              <a:t>▪ 不告诉运送人箱内物品的性质</a:t>
            </a:r>
          </a:p>
        </p:txBody>
      </p:sp>
    </p:spTree>
  </p:cSld>
  <p:clrMapOvr>
    <a:masterClrMapping/>
  </p:clrMapOvr>
</p:sld>
</file>

<file path=ppt/slides/slide5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080 · 菌毒种与样本的包装运输</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楼内转运：密闭箱，不手拿</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080 菌毒种与样本的包装运输</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楼里转运，不能手拿着试管走</a:t>
            </a:r>
          </a:p>
          <a:p>
            <a:pPr>
              <a:spcAft>
                <a:spcPts val="1000"/>
              </a:spcAft>
            </a:pPr>
            <a:r>
              <a:rPr sz="1700">
                <a:solidFill>
                  <a:srgbClr val="222B33"/>
                </a:solidFill>
                <a:latin typeface="Microsoft YaHei"/>
              </a:rPr>
              <a:t>▪ 管子插在架上，装进垫好吸水垫的密闭箱</a:t>
            </a:r>
          </a:p>
          <a:p>
            <a:pPr>
              <a:spcAft>
                <a:spcPts val="1000"/>
              </a:spcAft>
            </a:pPr>
            <a:r>
              <a:rPr sz="1700">
                <a:solidFill>
                  <a:srgbClr val="222B33"/>
                </a:solidFill>
                <a:latin typeface="Microsoft YaHei"/>
              </a:rPr>
              <a:t>▪ 箱外贴标志，避开人多的地方</a:t>
            </a:r>
          </a:p>
          <a:p>
            <a:pPr>
              <a:spcAft>
                <a:spcPts val="1000"/>
              </a:spcAft>
            </a:pPr>
            <a:r>
              <a:rPr sz="1700">
                <a:solidFill>
                  <a:srgbClr val="222B33"/>
                </a:solidFill>
                <a:latin typeface="Microsoft YaHei"/>
              </a:rPr>
              <a:t>▪ 推车慢行，直达目的地，不经过办公区</a:t>
            </a:r>
          </a:p>
          <a:p>
            <a:pPr>
              <a:spcAft>
                <a:spcPts val="1000"/>
              </a:spcAft>
            </a:pPr>
            <a:r>
              <a:rPr sz="1700">
                <a:solidFill>
                  <a:srgbClr val="222B33"/>
                </a:solidFill>
                <a:latin typeface="Microsoft YaHei"/>
              </a:rPr>
              <a:t>▪ 开门按电梯，用干净的手</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样本在楼内、实验室之间转运，同样要防洒防漏：不能手拿着开口或未密封的试管在走廊里走。样本管盖紧，插在试管架上，装进密闭、防漏、可消毒的转运箱，箱内垫吸水材料，万一洒了也不外漏；箱外贴生物危害标志。</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手里攥着几支样本管穿过走廊</a:t>
            </a:r>
          </a:p>
          <a:p>
            <a:pPr>
              <a:spcAft>
                <a:spcPts val="1000"/>
              </a:spcAft>
            </a:pPr>
            <a:r>
              <a:rPr sz="1500">
                <a:solidFill>
                  <a:srgbClr val="222B33"/>
                </a:solidFill>
                <a:latin typeface="Microsoft YaHei"/>
              </a:rPr>
              <a:t>▪ 戴着污染的手套按电梯、开门</a:t>
            </a:r>
          </a:p>
        </p:txBody>
      </p:sp>
    </p:spTree>
  </p:cSld>
  <p:clrMapOvr>
    <a:masterClrMapping/>
  </p:clrMapOvr>
</p:sld>
</file>

<file path=ppt/slides/slide5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080 · 菌毒种与样本的包装运输</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运输安保与进出口合规</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080 菌毒种与样本的包装运输</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运输安全，也是生物安保</a:t>
            </a:r>
          </a:p>
          <a:p>
            <a:pPr>
              <a:spcAft>
                <a:spcPts val="1000"/>
              </a:spcAft>
            </a:pPr>
            <a:r>
              <a:rPr sz="2000">
                <a:solidFill>
                  <a:srgbClr val="222B33"/>
                </a:solidFill>
                <a:latin typeface="Microsoft YaHei"/>
              </a:rPr>
              <a:t>▪ 包得牢、交接清，不丢不漏</a:t>
            </a:r>
          </a:p>
          <a:p>
            <a:pPr>
              <a:spcAft>
                <a:spcPts val="1000"/>
              </a:spcAft>
            </a:pPr>
            <a:r>
              <a:rPr sz="2000">
                <a:solidFill>
                  <a:srgbClr val="222B33"/>
                </a:solidFill>
                <a:latin typeface="Microsoft YaHei"/>
              </a:rPr>
              <a:t>▪ 进出口生物材料，先办检疫审批</a:t>
            </a:r>
          </a:p>
          <a:p>
            <a:pPr>
              <a:spcAft>
                <a:spcPts val="1000"/>
              </a:spcAft>
            </a:pPr>
            <a:r>
              <a:rPr sz="2000">
                <a:solidFill>
                  <a:srgbClr val="222B33"/>
                </a:solidFill>
                <a:latin typeface="Microsoft YaHei"/>
              </a:rPr>
              <a:t>▪ 包装、标识、运输方式都要合规</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运输环节是生物材料最容易丢失、被盗或泄漏的环节之一，所以运输安全也是生物安保的一部分（见第 083 课）：包装牢固，交接有签收记录，路线和时间可追踪，做到不丢、不漏、账物相符。</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出国交流时把样本放进行李随身带走</a:t>
            </a:r>
          </a:p>
          <a:p>
            <a:pPr>
              <a:spcAft>
                <a:spcPts val="1000"/>
              </a:spcAft>
            </a:pPr>
            <a:r>
              <a:rPr sz="1500">
                <a:solidFill>
                  <a:srgbClr val="222B33"/>
                </a:solidFill>
                <a:latin typeface="Microsoft YaHei"/>
              </a:rPr>
              <a:t>▪ 收到包裹不签收、不登记</a:t>
            </a:r>
          </a:p>
        </p:txBody>
      </p:sp>
    </p:spTree>
  </p:cSld>
  <p:clrMapOvr>
    <a:masterClrMapping/>
  </p:clrMapOvr>
</p:sld>
</file>

<file path=ppt/slides/slide5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080 · 菌毒种与样本的包装运输</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学生不私带、不邮寄、不交换菌株</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080 菌毒种与样本的包装运输</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菌株不能用普通快递寄</a:t>
            </a:r>
          </a:p>
          <a:p>
            <a:pPr>
              <a:spcAft>
                <a:spcPts val="1000"/>
              </a:spcAft>
            </a:pPr>
            <a:r>
              <a:rPr sz="1700">
                <a:solidFill>
                  <a:srgbClr val="222B33"/>
                </a:solidFill>
                <a:latin typeface="Microsoft YaHei"/>
              </a:rPr>
              <a:t>▪ 不能装进包里随身带走</a:t>
            </a:r>
          </a:p>
          <a:p>
            <a:pPr>
              <a:spcAft>
                <a:spcPts val="1000"/>
              </a:spcAft>
            </a:pPr>
            <a:r>
              <a:rPr sz="1700">
                <a:solidFill>
                  <a:srgbClr val="222B33"/>
                </a:solidFill>
                <a:latin typeface="Microsoft YaHei"/>
              </a:rPr>
              <a:t>▪ 不私下和别人交换菌株</a:t>
            </a:r>
          </a:p>
          <a:p>
            <a:pPr>
              <a:spcAft>
                <a:spcPts val="1000"/>
              </a:spcAft>
            </a:pPr>
            <a:r>
              <a:rPr sz="1700">
                <a:solidFill>
                  <a:srgbClr val="222B33"/>
                </a:solidFill>
                <a:latin typeface="Microsoft YaHei"/>
              </a:rPr>
              <a:t>▪ 需要转移，先告诉导师，单位登记审批</a:t>
            </a:r>
          </a:p>
          <a:p>
            <a:pPr>
              <a:spcAft>
                <a:spcPts val="1000"/>
              </a:spcAft>
            </a:pPr>
            <a:r>
              <a:rPr sz="1700">
                <a:solidFill>
                  <a:srgbClr val="222B33"/>
                </a:solidFill>
                <a:latin typeface="Microsoft YaHei"/>
              </a:rPr>
              <a:t>▪ 交有资质的单位运送</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学生不得用普通快递邮寄菌（毒）种和样本，也不能装进背包、口袋随身带出实验室或带到外校；不私下和同学、外单位人员交换菌株。</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帮外校同学“顺路带一管菌种”</a:t>
            </a:r>
          </a:p>
          <a:p>
            <a:pPr>
              <a:spcAft>
                <a:spcPts val="1000"/>
              </a:spcAft>
            </a:pPr>
            <a:r>
              <a:rPr sz="1500">
                <a:solidFill>
                  <a:srgbClr val="222B33"/>
                </a:solidFill>
                <a:latin typeface="Microsoft YaHei"/>
              </a:rPr>
              <a:t>▪ 毕业时把菌株私自带走</a:t>
            </a:r>
          </a:p>
        </p:txBody>
      </p:sp>
    </p:spTree>
  </p:cSld>
  <p:clrMapOvr>
    <a:masterClrMapping/>
  </p:clrMapOvr>
</p:sld>
</file>

<file path=ppt/slides/slide5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080 · 菌毒种与样本的包装运输</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080 菌毒种与样本的包装运输</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关于三层包装，下列说法正确的是：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样本管直接放进泡沫箱即可</a:t>
            </a:r>
          </a:p>
          <a:p>
            <a:pPr algn="l"/>
            <a:r>
              <a:rPr sz="1500" b="0">
                <a:solidFill>
                  <a:srgbClr val="222B33"/>
                </a:solidFill>
                <a:latin typeface="Microsoft YaHei"/>
              </a:rPr>
              <a:t>B. 防水主容器外裹足吸收材料，装入防水辅助容器封口，再放入坚固外包装，清单放在外层</a:t>
            </a:r>
          </a:p>
          <a:p>
            <a:pPr algn="l"/>
            <a:r>
              <a:rPr sz="1500" b="0">
                <a:solidFill>
                  <a:srgbClr val="222B33"/>
                </a:solidFill>
                <a:latin typeface="Microsoft YaHei"/>
              </a:rPr>
              <a:t>C. 清单放在装样本的密封袋里</a:t>
            </a:r>
          </a:p>
          <a:p>
            <a:pPr algn="l"/>
            <a:r>
              <a:rPr sz="1500" b="0">
                <a:solidFill>
                  <a:srgbClr val="222B33"/>
                </a:solidFill>
                <a:latin typeface="Microsoft YaHei"/>
              </a:rPr>
              <a:t>D. 优先选玻璃管作主容器</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判断：用干冰作冷却剂时，应把干冰装进拧紧的密封罐，防止升华。</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5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080 · 菌毒种与样本的包装运输</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080 菌毒种与样本的包装运输</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运输高致病性病原微生物菌（毒）种或样本，下列做法正确的是：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用普通快递寄出</a:t>
            </a:r>
          </a:p>
          <a:p>
            <a:pPr algn="l"/>
            <a:r>
              <a:rPr sz="1500" b="0">
                <a:solidFill>
                  <a:srgbClr val="222B33"/>
                </a:solidFill>
                <a:latin typeface="Microsoft YaHei"/>
              </a:rPr>
              <a:t>B. 事先报主管部门批准，用专用包装，专人护送，登记交接</a:t>
            </a:r>
          </a:p>
          <a:p>
            <a:pPr algn="l"/>
            <a:r>
              <a:rPr sz="1500" b="0">
                <a:solidFill>
                  <a:srgbClr val="222B33"/>
                </a:solidFill>
                <a:latin typeface="Microsoft YaHei"/>
              </a:rPr>
              <a:t>C. 一个人乘地铁送达</a:t>
            </a:r>
          </a:p>
          <a:p>
            <a:pPr algn="l"/>
            <a:r>
              <a:rPr sz="1500" b="0">
                <a:solidFill>
                  <a:srgbClr val="222B33"/>
                </a:solidFill>
                <a:latin typeface="Microsoft YaHei"/>
              </a:rPr>
              <a:t>D. 先寄出再补手续</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判断：在楼内把样本送到隔壁实验室，盖紧管盖后手拿着走过去就可以。</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5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080 · 菌毒种与样本的包装运输</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080 菌毒种与样本的包装运输</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外校同学请阿杰寄一管菌种，阿杰应该：</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用快递寄出</a:t>
            </a:r>
          </a:p>
          <a:p>
            <a:pPr algn="l"/>
            <a:r>
              <a:rPr sz="1500" b="0">
                <a:solidFill>
                  <a:srgbClr val="222B33"/>
                </a:solidFill>
                <a:latin typeface="Microsoft YaHei"/>
              </a:rPr>
              <a:t>B. 装进背包带过去</a:t>
            </a:r>
          </a:p>
          <a:p>
            <a:pPr algn="l"/>
            <a:r>
              <a:rPr sz="1500" b="0">
                <a:solidFill>
                  <a:srgbClr val="222B33"/>
                </a:solidFill>
                <a:latin typeface="Microsoft YaHei"/>
              </a:rPr>
              <a:t>C. 先告诉导师，由单位登记审批，按规定包装后交有资质的单位运送</a:t>
            </a:r>
          </a:p>
          <a:p>
            <a:pPr algn="l"/>
            <a:r>
              <a:rPr sz="1500" b="0">
                <a:solidFill>
                  <a:srgbClr val="222B33"/>
                </a:solidFill>
                <a:latin typeface="Microsoft YaHei"/>
              </a:rPr>
              <a:t>D. 私下交换</a:t>
            </a:r>
          </a:p>
        </p:txBody>
      </p:sp>
    </p:spTree>
  </p:cSld>
  <p:clrMapOvr>
    <a:masterClrMapping/>
  </p:clrMapOvr>
</p:sld>
</file>

<file path=ppt/slides/slide533.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运输微生物，服务很多领域</a:t>
            </a:r>
          </a:p>
          <a:p>
            <a:pPr>
              <a:spcAft>
                <a:spcPts val="800"/>
              </a:spcAft>
            </a:pPr>
            <a:r>
              <a:rPr sz="1500">
                <a:solidFill>
                  <a:srgbClr val="FFFFFF"/>
                </a:solidFill>
                <a:latin typeface="Microsoft YaHei"/>
              </a:rPr>
              <a:t>▪ K2  高致病性菌毒种运输，先审批</a:t>
            </a:r>
          </a:p>
          <a:p>
            <a:pPr>
              <a:spcAft>
                <a:spcPts val="800"/>
              </a:spcAft>
            </a:pPr>
            <a:r>
              <a:rPr sz="1500">
                <a:solidFill>
                  <a:srgbClr val="FFFFFF"/>
                </a:solidFill>
                <a:latin typeface="Microsoft YaHei"/>
              </a:rPr>
              <a:t>▪ K3  三层包装：一层漏了还有两层</a:t>
            </a:r>
          </a:p>
          <a:p>
            <a:pPr>
              <a:spcAft>
                <a:spcPts val="800"/>
              </a:spcAft>
            </a:pPr>
            <a:r>
              <a:rPr sz="1500">
                <a:solidFill>
                  <a:srgbClr val="FFFFFF"/>
                </a:solidFill>
                <a:latin typeface="Microsoft YaHei"/>
              </a:rPr>
              <a:t>▪ K4  管口一团吸收材料，防滴漏</a:t>
            </a:r>
          </a:p>
          <a:p>
            <a:pPr>
              <a:spcAft>
                <a:spcPts val="800"/>
              </a:spcAft>
            </a:pPr>
            <a:r>
              <a:rPr sz="1500">
                <a:solidFill>
                  <a:srgbClr val="FFFFFF"/>
                </a:solidFill>
                <a:latin typeface="Microsoft YaHei"/>
              </a:rPr>
              <a:t>▪ K5  冷却剂选对，干冰按危险货物</a:t>
            </a:r>
          </a:p>
          <a:p>
            <a:pPr>
              <a:spcAft>
                <a:spcPts val="800"/>
              </a:spcAft>
            </a:pPr>
            <a:r>
              <a:rPr sz="1500">
                <a:solidFill>
                  <a:srgbClr val="FFFFFF"/>
                </a:solidFill>
                <a:latin typeface="Microsoft YaHei"/>
              </a:rPr>
              <a:t>▪ K6  A 类、B 类，分类和标记不同</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K7  送样方贴好标签、包好箱</a:t>
            </a:r>
          </a:p>
          <a:p>
            <a:pPr>
              <a:spcAft>
                <a:spcPts val="800"/>
              </a:spcAft>
            </a:pPr>
            <a:r>
              <a:rPr sz="1500">
                <a:solidFill>
                  <a:srgbClr val="FFFFFF"/>
                </a:solidFill>
                <a:latin typeface="Microsoft YaHei"/>
              </a:rPr>
              <a:t>▪ K8  运输人员要培训</a:t>
            </a:r>
          </a:p>
          <a:p>
            <a:pPr>
              <a:spcAft>
                <a:spcPts val="800"/>
              </a:spcAft>
            </a:pPr>
            <a:r>
              <a:rPr sz="1500">
                <a:solidFill>
                  <a:srgbClr val="FFFFFF"/>
                </a:solidFill>
                <a:latin typeface="Microsoft YaHei"/>
              </a:rPr>
              <a:t>▪ K9  楼内转运：密闭箱，不手拿</a:t>
            </a:r>
          </a:p>
          <a:p>
            <a:pPr>
              <a:spcAft>
                <a:spcPts val="800"/>
              </a:spcAft>
            </a:pPr>
            <a:r>
              <a:rPr sz="1500">
                <a:solidFill>
                  <a:srgbClr val="FFFFFF"/>
                </a:solidFill>
                <a:latin typeface="Microsoft YaHei"/>
              </a:rPr>
              <a:t>▪ K10  运输安保与进出口合规</a:t>
            </a:r>
          </a:p>
          <a:p>
            <a:pPr>
              <a:spcAft>
                <a:spcPts val="800"/>
              </a:spcAft>
            </a:pPr>
            <a:r>
              <a:rPr sz="1500">
                <a:solidFill>
                  <a:srgbClr val="FFFFFF"/>
                </a:solidFill>
                <a:latin typeface="Microsoft YaHei"/>
              </a:rPr>
              <a:t>▪ K11  学生不私带、不邮寄、不交换菌株</a:t>
            </a:r>
          </a:p>
        </p:txBody>
      </p:sp>
    </p:spTree>
  </p:cSld>
  <p:clrMapOvr>
    <a:masterClrMapping/>
  </p:clrMapOvr>
</p:sld>
</file>

<file path=ppt/slides/slide534.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081</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转基因生物安全</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69 镜）　适用对象：从事重组 DNA、基因工程、转基因动植物和微生物、合成生物学等研究的生命科学、农学、医学、环境等专业本科生、研究生和教职工（必修）；参加科创竞赛、课程设计的学生和实验室负责人重点学习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5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081 · 转基因生物安全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081 转基因生物安全</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能说出什么是转基因生物，以及国内依法管理的框架：《中华人民共和国生物安全法》按风险分类管理、《农业转基因生物安全管理条例》分级与分阶段审批、单位生物安全委员会审查。</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能做到转基因实验“先评估、报委员会、批了才能做”，改方案重新报，未经批准不向环境释放。</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能说出转基因生物危险度分类与防护分级的思路，风险评估步骤，安全评价（与非转基因对照、环境安全、食品安全）和风险矩阵（扩散、可逆性）的要点。</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能做到工程菌株和载体登记、不外带不私转，转基因动物防逃逸，发生逸出或丢失时控制现场、立即报告；对合成生物学等新技术保持最高谨慎。</a:t>
            </a:r>
          </a:p>
        </p:txBody>
      </p:sp>
    </p:spTree>
  </p:cSld>
  <p:clrMapOvr>
    <a:masterClrMapping/>
  </p:clrMapOvr>
</p:sld>
</file>

<file path=ppt/slides/slide5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081 · 转基因生物安全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081 转基因生物安全</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《中华人民共和国生物安全法》：生物技术研究、开发活动按风险分为高风险、中风险、低风险三类管理，开展前进行风险评估，按规定取得批准或备案（具体要求以现行文本为准）</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《农业转基因生物安全管理条例》（以现行文本为准）：农业转基因生物安全分级管理、安全评价，研究与试验分阶段报告或审批，标识管理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《病原微生物实验室生物安全管理条例》（以现行文本为准）：涉及病原微生物的转基因实验同时按病原微生物实验室管理</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生物安全通用要求》：风险评估、生物安全委员会、实验室分级与记录</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233（以现行文本为准）《病原微生物实验室生物安全通用准则》：实验室操作规范与意外事故报告</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本单位生物安全委员会章程和转基因（基因工程）实验审批、备案规定（以本校规定为准；原《基因工程安全管理办法》已废止，不作依据）</a:t>
            </a:r>
          </a:p>
        </p:txBody>
      </p:sp>
    </p:spTree>
  </p:cSld>
  <p:clrMapOvr>
    <a:masterClrMapping/>
  </p:clrMapOvr>
</p:sld>
</file>

<file path=ppt/slides/slide5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081 · 转基因生物安全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什么是转基因生物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081 转基因生物安全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把一种生物的基因转入另一种生物</a:t>
            </a:r>
          </a:p>
          <a:p>
            <a:pPr>
              <a:spcAft>
                <a:spcPts val="1000"/>
              </a:spcAft>
            </a:pPr>
            <a:r>
              <a:rPr sz="2000">
                <a:solidFill>
                  <a:srgbClr val="222B33"/>
                </a:solidFill>
                <a:latin typeface="Microsoft YaHei"/>
              </a:rPr>
              <a:t>▪ 用重组 DNA 技术改过遗传物质的，叫转基因生物</a:t>
            </a:r>
          </a:p>
          <a:p>
            <a:pPr>
              <a:spcAft>
                <a:spcPts val="1000"/>
              </a:spcAft>
            </a:pPr>
            <a:r>
              <a:rPr sz="2000">
                <a:solidFill>
                  <a:srgbClr val="222B33"/>
                </a:solidFill>
                <a:latin typeface="Microsoft YaHei"/>
              </a:rPr>
              <a:t>▪ 改了基因，性状和蛋白质都可能变</a:t>
            </a:r>
          </a:p>
          <a:p>
            <a:pPr>
              <a:spcAft>
                <a:spcPts val="1000"/>
              </a:spcAft>
            </a:pPr>
            <a:r>
              <a:rPr sz="2000">
                <a:solidFill>
                  <a:srgbClr val="222B33"/>
                </a:solidFill>
                <a:latin typeface="Microsoft YaHei"/>
              </a:rPr>
              <a:t>▪ 于是有了新的植物、动物和微生物品种</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基因改造（基因工程）是一类生物技术：把一种生物的基因转入另一种生物，或对生物自身的基因进行改变。用重组 DNA 等技术改变了遗传物质的生物，就是转基因生物（基因工程生物、遗传修饰生物），包括转基因植物、动物和微生物（……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认为课堂上做的质粒转化“不算转基因”</a:t>
            </a:r>
          </a:p>
          <a:p>
            <a:pPr>
              <a:spcAft>
                <a:spcPts val="1000"/>
              </a:spcAft>
            </a:pPr>
            <a:r>
              <a:rPr sz="1500">
                <a:solidFill>
                  <a:srgbClr val="222B33"/>
                </a:solidFill>
                <a:latin typeface="Microsoft YaHei"/>
              </a:rPr>
              <a:t>▪ 认为只有转基因农作物才需要管理</a:t>
            </a:r>
          </a:p>
        </p:txBody>
      </p:sp>
    </p:spTree>
  </p:cSld>
  <p:clrMapOvr>
    <a:masterClrMapping/>
  </p:clrMapOvr>
</p:sld>
</file>

<file path=ppt/slides/slide5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081 · 转基因生物安全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转基因依法管理，按风险分类</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081 转基因生物安全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转基因实验受法律管制</a:t>
            </a:r>
          </a:p>
          <a:p>
            <a:pPr>
              <a:spcAft>
                <a:spcPts val="1000"/>
              </a:spcAft>
            </a:pPr>
            <a:r>
              <a:rPr sz="1700">
                <a:solidFill>
                  <a:srgbClr val="222B33"/>
                </a:solidFill>
                <a:latin typeface="Microsoft YaHei"/>
              </a:rPr>
              <a:t>▪ 生物安全法把研发活动分高、中、低风险三类</a:t>
            </a:r>
          </a:p>
          <a:p>
            <a:pPr>
              <a:spcAft>
                <a:spcPts val="1000"/>
              </a:spcAft>
            </a:pPr>
            <a:r>
              <a:rPr sz="1700">
                <a:solidFill>
                  <a:srgbClr val="222B33"/>
                </a:solidFill>
                <a:latin typeface="Microsoft YaHei"/>
              </a:rPr>
              <a:t>▪ 农业转基因依法评价、分级、标识</a:t>
            </a:r>
          </a:p>
          <a:p>
            <a:pPr>
              <a:spcAft>
                <a:spcPts val="1000"/>
              </a:spcAft>
            </a:pPr>
            <a:r>
              <a:rPr sz="1700">
                <a:solidFill>
                  <a:srgbClr val="222B33"/>
                </a:solidFill>
                <a:latin typeface="Microsoft YaHei"/>
              </a:rPr>
              <a:t>▪ 违规会被叫停，还要承担法律责任</a:t>
            </a:r>
          </a:p>
          <a:p>
            <a:pPr>
              <a:spcAft>
                <a:spcPts val="1000"/>
              </a:spcAft>
            </a:pPr>
            <a:r>
              <a:rPr sz="1700">
                <a:solidFill>
                  <a:srgbClr val="222B33"/>
                </a:solidFill>
                <a:latin typeface="Microsoft YaHei"/>
              </a:rPr>
              <a:t>▪ 新技术有好处，也要防风险、讲伦理</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在我国，转基因和其他生物技术研究开发活动依法管理。《中华人民共和国生物安全法》对生物技术研究、开发和应用安全作了专门规定：研发活动按风险分为高风险、中风险、低风险三类，实行分类管理，开展前要进行风险评估，按规定取得批……</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以为“只是基础研究”就不受法律管理</a:t>
            </a:r>
          </a:p>
          <a:p>
            <a:pPr>
              <a:spcAft>
                <a:spcPts val="1000"/>
              </a:spcAft>
            </a:pPr>
            <a:r>
              <a:rPr sz="1500">
                <a:solidFill>
                  <a:srgbClr val="222B33"/>
                </a:solidFill>
                <a:latin typeface="Microsoft YaHei"/>
              </a:rPr>
              <a:t>▪ 引用已废止的旧规章作为审批依据</a:t>
            </a:r>
          </a:p>
        </p:txBody>
      </p:sp>
    </p:spTree>
  </p:cSld>
  <p:clrMapOvr>
    <a:masterClrMapping/>
  </p:clrMapOvr>
</p:sld>
</file>

<file path=ppt/slides/slide5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081 · 转基因生物安全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先评估，报生物安全委员会，批了才能做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081 转基因生物安全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立项前先评估宿主、载体、目的基因和操作</a:t>
            </a:r>
          </a:p>
          <a:p>
            <a:pPr>
              <a:spcAft>
                <a:spcPts val="1000"/>
              </a:spcAft>
            </a:pPr>
            <a:r>
              <a:rPr sz="1700">
                <a:solidFill>
                  <a:srgbClr val="222B33"/>
                </a:solidFill>
                <a:latin typeface="Microsoft YaHei"/>
              </a:rPr>
              <a:t>▪ 按本校规定报生物安全委员会审核</a:t>
            </a:r>
          </a:p>
          <a:p>
            <a:pPr>
              <a:spcAft>
                <a:spcPts val="1000"/>
              </a:spcAft>
            </a:pPr>
            <a:r>
              <a:rPr sz="1700">
                <a:solidFill>
                  <a:srgbClr val="222B33"/>
                </a:solidFill>
                <a:latin typeface="Microsoft YaHei"/>
              </a:rPr>
              <a:t>▪ 批了才能做；改方案要重新报</a:t>
            </a:r>
          </a:p>
          <a:p>
            <a:pPr>
              <a:spcAft>
                <a:spcPts val="1000"/>
              </a:spcAft>
            </a:pPr>
            <a:r>
              <a:rPr sz="1700">
                <a:solidFill>
                  <a:srgbClr val="222B33"/>
                </a:solidFill>
                <a:latin typeface="Microsoft YaHei"/>
              </a:rPr>
              <a:t>▪ 作业写了方案，不等于可以去做</a:t>
            </a:r>
          </a:p>
          <a:p>
            <a:pPr>
              <a:spcAft>
                <a:spcPts val="1000"/>
              </a:spcAft>
            </a:pPr>
            <a:r>
              <a:rPr sz="1700">
                <a:solidFill>
                  <a:srgbClr val="222B33"/>
                </a:solidFill>
                <a:latin typeface="Microsoft YaHei"/>
              </a:rPr>
              <a:t>▪ 负责人是第一责任人，学生不擅自做</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做重组 DNA、基因工程实验，立项前先做风险评估，主要评估：宿主（受体）生物是什么、有无致病性；载体的特性；目的基因的来源和功能；实验的操作方式、规模和可能的暴露途径。通用的风险评估方法见第 067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先做实验，等出了结果再补审批</a:t>
            </a:r>
          </a:p>
          <a:p>
            <a:pPr>
              <a:spcAft>
                <a:spcPts val="1000"/>
              </a:spcAft>
            </a:pPr>
            <a:r>
              <a:rPr sz="1500">
                <a:solidFill>
                  <a:srgbClr val="222B33"/>
                </a:solidFill>
                <a:latin typeface="Microsoft YaHei"/>
              </a:rPr>
              <a:t>▪ 方案改了不重新报，照旧批复执行</a:t>
            </a:r>
          </a:p>
        </p:txBody>
      </p:sp>
    </p:spTree>
  </p:cSld>
  <p:clrMapOvr>
    <a:masterClrMapping/>
  </p:clrMapOvr>
</p:sld>
</file>

<file path=ppt/slides/slide5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081 · 转基因生物安全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分阶段审批，未经批准不进环境</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081 转基因生物安全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从实验室到温室到田间，分阶段管理</a:t>
            </a:r>
          </a:p>
          <a:p>
            <a:pPr>
              <a:spcAft>
                <a:spcPts val="1000"/>
              </a:spcAft>
            </a:pPr>
            <a:r>
              <a:rPr sz="1700">
                <a:solidFill>
                  <a:srgbClr val="222B33"/>
                </a:solidFill>
                <a:latin typeface="Microsoft YaHei"/>
              </a:rPr>
              <a:t>▪ 进入下一阶段，按规定报告或审批</a:t>
            </a:r>
          </a:p>
          <a:p>
            <a:pPr>
              <a:spcAft>
                <a:spcPts val="1000"/>
              </a:spcAft>
            </a:pPr>
            <a:r>
              <a:rPr sz="1700">
                <a:solidFill>
                  <a:srgbClr val="222B33"/>
                </a:solidFill>
                <a:latin typeface="Microsoft YaHei"/>
              </a:rPr>
              <a:t>▪ 风险来自过程：种下、长大、开花就升高</a:t>
            </a:r>
          </a:p>
          <a:p>
            <a:pPr>
              <a:spcAft>
                <a:spcPts val="1000"/>
              </a:spcAft>
            </a:pPr>
            <a:r>
              <a:rPr sz="1700">
                <a:solidFill>
                  <a:srgbClr val="222B33"/>
                </a:solidFill>
                <a:latin typeface="Microsoft YaHei"/>
              </a:rPr>
              <a:t>▪ 走出实验室前，先评估环境和人的风险</a:t>
            </a:r>
          </a:p>
          <a:p>
            <a:pPr>
              <a:spcAft>
                <a:spcPts val="1000"/>
              </a:spcAft>
            </a:pPr>
            <a:r>
              <a:rPr sz="1700">
                <a:solidFill>
                  <a:srgbClr val="222B33"/>
                </a:solidFill>
                <a:latin typeface="Microsoft YaHei"/>
              </a:rPr>
              <a:t>▪ 未经批准，不得私自释放到环境</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按《农业转基因生物安全管理条例》（以现行文本为准），农业转基因生物的研究与试验分阶段管理，一般从实验研究到中间试验、环境释放、生产性试验逐步推进，进入下一阶段要按规定报告或审批；从实验室到温室再到田间，逐级批准。怎样……</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把实验室里的转基因幼苗带回宿舍或种到校园</a:t>
            </a:r>
          </a:p>
          <a:p>
            <a:pPr>
              <a:spcAft>
                <a:spcPts val="1000"/>
              </a:spcAft>
            </a:pPr>
            <a:r>
              <a:rPr sz="1500">
                <a:solidFill>
                  <a:srgbClr val="222B33"/>
                </a:solidFill>
                <a:latin typeface="Microsoft YaHei"/>
              </a:rPr>
              <a:t>▪ 把工程菌培养物倒进下水道或土壤</a:t>
            </a:r>
          </a:p>
        </p:txBody>
      </p:sp>
    </p:spTree>
  </p:cSld>
  <p:clrMapOvr>
    <a:masterClrMapping/>
  </p:clrMapOvr>
</p:sld>
</file>

<file path=ppt/slides/slide5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081 · 转基因生物安全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危险度分四类，防护分四级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081 转基因生物安全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转基因生物按危险度分四类</a:t>
            </a:r>
          </a:p>
          <a:p>
            <a:pPr>
              <a:spcAft>
                <a:spcPts val="1000"/>
              </a:spcAft>
            </a:pPr>
            <a:r>
              <a:rPr sz="1700">
                <a:solidFill>
                  <a:srgbClr val="222B33"/>
                </a:solidFill>
                <a:latin typeface="Microsoft YaHei"/>
              </a:rPr>
              <a:t>▪ 看对人、动物、植物、环境的影响和扩散</a:t>
            </a:r>
          </a:p>
          <a:p>
            <a:pPr>
              <a:spcAft>
                <a:spcPts val="1000"/>
              </a:spcAft>
            </a:pPr>
            <a:r>
              <a:rPr sz="1700">
                <a:solidFill>
                  <a:srgbClr val="222B33"/>
                </a:solidFill>
                <a:latin typeface="Microsoft YaHei"/>
              </a:rPr>
              <a:t>▪ 最低一类如常用非致病实验室菌株</a:t>
            </a:r>
          </a:p>
          <a:p>
            <a:pPr>
              <a:spcAft>
                <a:spcPts val="1000"/>
              </a:spcAft>
            </a:pPr>
            <a:r>
              <a:rPr sz="1700">
                <a:solidFill>
                  <a:srgbClr val="222B33"/>
                </a:solidFill>
                <a:latin typeface="Microsoft YaHei"/>
              </a:rPr>
              <a:t>▪ 防护也分四级，级别越高越严</a:t>
            </a:r>
          </a:p>
          <a:p>
            <a:pPr>
              <a:spcAft>
                <a:spcPts val="1000"/>
              </a:spcAft>
            </a:pPr>
            <a:r>
              <a:rPr sz="1700">
                <a:solidFill>
                  <a:srgbClr val="222B33"/>
                </a:solidFill>
                <a:latin typeface="Microsoft YaHei"/>
              </a:rPr>
              <a:t>▪ 具体几级，经风险评估和审批确定</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转基因生物按危险程度分为四类，判断时既看对个体的风险，也看对群体的风险（会不会扩散），看对人、动物、植物和生态环境的影响。国内农业转基因生物按《农业转基因生物安全管理条例》（以现行文本为准）分为安全等级 Ⅰ 至 Ⅳ（……</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认为转基因生物的危险度一定和受体相同</a:t>
            </a:r>
          </a:p>
          <a:p>
            <a:pPr>
              <a:spcAft>
                <a:spcPts val="1000"/>
              </a:spcAft>
            </a:pPr>
            <a:r>
              <a:rPr sz="1500">
                <a:solidFill>
                  <a:srgbClr val="222B33"/>
                </a:solidFill>
                <a:latin typeface="Microsoft YaHei"/>
              </a:rPr>
              <a:t>▪ 不评估就把转基因实验放在普通教学实验室</a:t>
            </a:r>
          </a:p>
        </p:txBody>
      </p:sp>
    </p:spTree>
  </p:cSld>
  <p:clrMapOvr>
    <a:masterClrMapping/>
  </p:clrMapOvr>
</p:sld>
</file>

<file path=ppt/slides/slide5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081 · 转基因生物安全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风险评估的步骤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081 转基因生物安全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四部分：识别危害、危害特征、暴露评估、风险描述</a:t>
            </a:r>
          </a:p>
          <a:p>
            <a:pPr>
              <a:spcAft>
                <a:spcPts val="1000"/>
              </a:spcAft>
            </a:pPr>
            <a:r>
              <a:rPr sz="2000">
                <a:solidFill>
                  <a:srgbClr val="222B33"/>
                </a:solidFill>
                <a:latin typeface="Microsoft YaHei"/>
              </a:rPr>
              <a:t>▪ 找出不良特性，看后果，估可能性</a:t>
            </a:r>
          </a:p>
          <a:p>
            <a:pPr>
              <a:spcAft>
                <a:spcPts val="1000"/>
              </a:spcAft>
            </a:pPr>
            <a:r>
              <a:rPr sz="2000">
                <a:solidFill>
                  <a:srgbClr val="222B33"/>
                </a:solidFill>
                <a:latin typeface="Microsoft YaHei"/>
              </a:rPr>
              <a:t>▪ 定措施、记下来、照着做，定期复查</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转基因生物的风险评估有四个组成部分：先识别危害，再描述危害的特征，评估接触（暴露）的程度，最后描述风险的大小。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只写评估报告，不落实措施</a:t>
            </a:r>
          </a:p>
          <a:p>
            <a:pPr>
              <a:spcAft>
                <a:spcPts val="1000"/>
              </a:spcAft>
            </a:pPr>
            <a:r>
              <a:rPr sz="1500">
                <a:solidFill>
                  <a:srgbClr val="222B33"/>
                </a:solidFill>
                <a:latin typeface="Microsoft YaHei"/>
              </a:rPr>
              <a:t>▪ 实验条件变了，评估还是老样子</a:t>
            </a:r>
          </a:p>
        </p:txBody>
      </p:sp>
    </p:spTree>
  </p:cSld>
  <p:clrMapOvr>
    <a:masterClrMapping/>
  </p:clrMapOvr>
</p:sld>
</file>

<file path=ppt/slides/slide5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081 · 转基因生物安全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安全评价：和非转基因的比一比</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081 转基因生物安全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先和对应的非转基因品种比一比</a:t>
            </a:r>
          </a:p>
          <a:p>
            <a:pPr>
              <a:spcAft>
                <a:spcPts val="1000"/>
              </a:spcAft>
            </a:pPr>
            <a:r>
              <a:rPr sz="1700">
                <a:solidFill>
                  <a:srgbClr val="222B33"/>
                </a:solidFill>
                <a:latin typeface="Microsoft YaHei"/>
              </a:rPr>
              <a:t>▪ 找出差异，再看差异的影响</a:t>
            </a:r>
          </a:p>
          <a:p>
            <a:pPr>
              <a:spcAft>
                <a:spcPts val="1000"/>
              </a:spcAft>
            </a:pPr>
            <a:r>
              <a:rPr sz="1700">
                <a:solidFill>
                  <a:srgbClr val="222B33"/>
                </a:solidFill>
                <a:latin typeface="Microsoft YaHei"/>
              </a:rPr>
              <a:t>▪ 预期的、意外的差异都要看</a:t>
            </a:r>
          </a:p>
          <a:p>
            <a:pPr>
              <a:spcAft>
                <a:spcPts val="1000"/>
              </a:spcAft>
            </a:pPr>
            <a:r>
              <a:rPr sz="1700">
                <a:solidFill>
                  <a:srgbClr val="222B33"/>
                </a:solidFill>
                <a:latin typeface="Microsoft YaHei"/>
              </a:rPr>
              <a:t>▪ 说清供体、受体，改了什么、起什么作用</a:t>
            </a:r>
          </a:p>
          <a:p>
            <a:pPr>
              <a:spcAft>
                <a:spcPts val="1000"/>
              </a:spcAft>
            </a:pPr>
            <a:r>
              <a:rPr sz="1700">
                <a:solidFill>
                  <a:srgbClr val="222B33"/>
                </a:solidFill>
                <a:latin typeface="Microsoft YaHei"/>
              </a:rPr>
              <a:t>▪ 按体系综合考虑，逐案评价</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转基因生物进入应用（如上市）前的安全评价，要按体系做、综合考虑、一个一个逐案评价，不能一概而论。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只看预期的新性状，不查意外变化</a:t>
            </a:r>
          </a:p>
          <a:p>
            <a:pPr>
              <a:spcAft>
                <a:spcPts val="1000"/>
              </a:spcAft>
            </a:pPr>
            <a:r>
              <a:rPr sz="1500">
                <a:solidFill>
                  <a:srgbClr val="222B33"/>
                </a:solidFill>
                <a:latin typeface="Microsoft YaHei"/>
              </a:rPr>
              <a:t>▪ 用一个案例的结论代替其他品种</a:t>
            </a:r>
          </a:p>
        </p:txBody>
      </p:sp>
    </p:spTree>
  </p:cSld>
  <p:clrMapOvr>
    <a:masterClrMapping/>
  </p:clrMapOvr>
</p:sld>
</file>

<file path=ppt/slides/slide5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081 · 转基因生物安全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环境安全与食品安全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081 转基因生物安全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环境：抗性、不良性状、非目标生物、基因转移</a:t>
            </a:r>
          </a:p>
          <a:p>
            <a:pPr>
              <a:spcAft>
                <a:spcPts val="1000"/>
              </a:spcAft>
            </a:pPr>
            <a:r>
              <a:rPr sz="2000">
                <a:solidFill>
                  <a:srgbClr val="222B33"/>
                </a:solidFill>
                <a:latin typeface="Microsoft YaHei"/>
              </a:rPr>
              <a:t>▪ 工程菌放到野外，可能打乱原有生态</a:t>
            </a:r>
          </a:p>
          <a:p>
            <a:pPr>
              <a:spcAft>
                <a:spcPts val="1000"/>
              </a:spcAft>
            </a:pPr>
            <a:r>
              <a:rPr sz="2000">
                <a:solidFill>
                  <a:srgbClr val="222B33"/>
                </a:solidFill>
                <a:latin typeface="Microsoft YaHei"/>
              </a:rPr>
              <a:t>▪ 食品：营养、毒性、致敏性</a:t>
            </a:r>
          </a:p>
          <a:p>
            <a:pPr>
              <a:spcAft>
                <a:spcPts val="1000"/>
              </a:spcAft>
            </a:pPr>
            <a:r>
              <a:rPr sz="2000">
                <a:solidFill>
                  <a:srgbClr val="222B33"/>
                </a:solidFill>
                <a:latin typeface="Microsoft YaHei"/>
              </a:rPr>
              <a:t>▪ 还看加工变化、食用量和长期影响</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环境安全评价看改造带来的预期和意外变化对生态环境的影响，常见的风险因素有：会不会使害虫或杂草产生抗性；会不会出现不良性状；对目标物种和人、动物健康有何影响；会不会伤害蜜蜂等非目标生物；基因会不会转移到其他物种（如野生……</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只评价对人的影响，不看非目标生物和生态</a:t>
            </a:r>
          </a:p>
          <a:p>
            <a:pPr>
              <a:spcAft>
                <a:spcPts val="1000"/>
              </a:spcAft>
            </a:pPr>
            <a:r>
              <a:rPr sz="1500">
                <a:solidFill>
                  <a:srgbClr val="222B33"/>
                </a:solidFill>
                <a:latin typeface="Microsoft YaHei"/>
              </a:rPr>
              <a:t>▪ 认为工程菌“能分解污染物”就可以随意投放</a:t>
            </a:r>
          </a:p>
        </p:txBody>
      </p:sp>
    </p:spTree>
  </p:cSld>
  <p:clrMapOvr>
    <a:masterClrMapping/>
  </p:clrMapOvr>
</p:sld>
</file>

<file path=ppt/slides/slide5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081 · 转基因生物安全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风险矩阵：能扩散吗？能恢复吗？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081 转基因生物安全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风险分析：安全吗？值得吗？</a:t>
            </a:r>
          </a:p>
          <a:p>
            <a:pPr>
              <a:spcAft>
                <a:spcPts val="1000"/>
              </a:spcAft>
            </a:pPr>
            <a:r>
              <a:rPr sz="1700">
                <a:solidFill>
                  <a:srgbClr val="222B33"/>
                </a:solidFill>
                <a:latin typeface="Microsoft YaHei"/>
              </a:rPr>
              <a:t>▪ 风险指数看危害、暴露和先例</a:t>
            </a:r>
          </a:p>
          <a:p>
            <a:pPr>
              <a:spcAft>
                <a:spcPts val="1000"/>
              </a:spcAft>
            </a:pPr>
            <a:r>
              <a:rPr sz="1700">
                <a:solidFill>
                  <a:srgbClr val="222B33"/>
                </a:solidFill>
                <a:latin typeface="Microsoft YaHei"/>
              </a:rPr>
              <a:t>▪ 显著性指数看扩散范围和可逆性</a:t>
            </a:r>
          </a:p>
          <a:p>
            <a:pPr>
              <a:spcAft>
                <a:spcPts val="1000"/>
              </a:spcAft>
            </a:pPr>
            <a:r>
              <a:rPr sz="1700">
                <a:solidFill>
                  <a:srgbClr val="222B33"/>
                </a:solidFill>
                <a:latin typeface="Microsoft YaHei"/>
              </a:rPr>
              <a:t>▪ 两项组合得出管控等级</a:t>
            </a:r>
          </a:p>
          <a:p>
            <a:pPr>
              <a:spcAft>
                <a:spcPts val="1000"/>
              </a:spcAft>
            </a:pPr>
            <a:r>
              <a:rPr sz="1700">
                <a:solidFill>
                  <a:srgbClr val="222B33"/>
                </a:solidFill>
                <a:latin typeface="Microsoft YaHei"/>
              </a:rPr>
              <a:t>▪ 易扩散、不可逆的，要严加管控</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风险分析要把风险和收益放在一起衡量：既问“安全吗”，也问“值得吗”；看对环境、人和动物健康的影响，并和普通品种对比。改造的生物不同，要问的问题也不同。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只看危害大小，不看能否扩散和恢复</a:t>
            </a:r>
          </a:p>
          <a:p>
            <a:pPr>
              <a:spcAft>
                <a:spcPts val="1000"/>
              </a:spcAft>
            </a:pPr>
            <a:r>
              <a:rPr sz="1500">
                <a:solidFill>
                  <a:srgbClr val="222B33"/>
                </a:solidFill>
                <a:latin typeface="Microsoft YaHei"/>
              </a:rPr>
              <a:t>▪ 用教学模型的结论代替法定的安全评价</a:t>
            </a:r>
          </a:p>
        </p:txBody>
      </p:sp>
    </p:spTree>
  </p:cSld>
  <p:clrMapOvr>
    <a:masterClrMapping/>
  </p:clrMapOvr>
</p:sld>
</file>

<file path=ppt/slides/slide5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081 · 转基因生物安全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工程菌和载体：登记在册，不外带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081 转基因生物安全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工程菌株和载体标识清楚、登记在册</a:t>
            </a:r>
          </a:p>
          <a:p>
            <a:pPr>
              <a:spcAft>
                <a:spcPts val="1000"/>
              </a:spcAft>
            </a:pPr>
            <a:r>
              <a:rPr sz="1700">
                <a:solidFill>
                  <a:srgbClr val="222B33"/>
                </a:solidFill>
                <a:latin typeface="Microsoft YaHei"/>
              </a:rPr>
              <a:t>▪ 专人保管，按评估在相应条件下操作</a:t>
            </a:r>
          </a:p>
          <a:p>
            <a:pPr>
              <a:spcAft>
                <a:spcPts val="1000"/>
              </a:spcAft>
            </a:pPr>
            <a:r>
              <a:rPr sz="1700">
                <a:solidFill>
                  <a:srgbClr val="222B33"/>
                </a:solidFill>
                <a:latin typeface="Microsoft YaHei"/>
              </a:rPr>
              <a:t>▪ 不能私下送人、带走或寄出</a:t>
            </a:r>
          </a:p>
          <a:p>
            <a:pPr>
              <a:spcAft>
                <a:spcPts val="1000"/>
              </a:spcAft>
            </a:pPr>
            <a:r>
              <a:rPr sz="1700">
                <a:solidFill>
                  <a:srgbClr val="222B33"/>
                </a:solidFill>
                <a:latin typeface="Microsoft YaHei"/>
              </a:rPr>
              <a:t>▪ 实验幼苗等材料也留在实验室</a:t>
            </a:r>
          </a:p>
          <a:p>
            <a:pPr>
              <a:spcAft>
                <a:spcPts val="1000"/>
              </a:spcAft>
            </a:pPr>
            <a:r>
              <a:rPr sz="1700">
                <a:solidFill>
                  <a:srgbClr val="222B33"/>
                </a:solidFill>
                <a:latin typeface="Microsoft YaHei"/>
              </a:rPr>
              <a:t>▪ 离开前脱手套、洗手</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实验室里的工程菌株、质粒和载体、转基因细胞和植物材料，都要标识清楚，登记在册（名称、来源、构建记录编号、保存位置、数量、责任人），专人保管，保存设备上锁。</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冻存管上只写“1、2、3”，没有登记</a:t>
            </a:r>
          </a:p>
          <a:p>
            <a:pPr>
              <a:spcAft>
                <a:spcPts val="1000"/>
              </a:spcAft>
            </a:pPr>
            <a:r>
              <a:rPr sz="1500">
                <a:solidFill>
                  <a:srgbClr val="222B33"/>
                </a:solidFill>
                <a:latin typeface="Microsoft YaHei"/>
              </a:rPr>
              <a:t>▪ 把转基因菌株装进口袋带去别的实验室</a:t>
            </a:r>
          </a:p>
        </p:txBody>
      </p:sp>
    </p:spTree>
  </p:cSld>
  <p:clrMapOvr>
    <a:masterClrMapping/>
  </p:clrMapOvr>
</p:sld>
</file>

<file path=ppt/slides/slide5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081 · 转基因生物安全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转基因动物：防逃逸，做标识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081 转基因生物安全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转基因动物按级别饲养管理</a:t>
            </a:r>
          </a:p>
          <a:p>
            <a:pPr>
              <a:spcAft>
                <a:spcPts val="1000"/>
              </a:spcAft>
            </a:pPr>
            <a:r>
              <a:rPr sz="2000">
                <a:solidFill>
                  <a:srgbClr val="222B33"/>
                </a:solidFill>
                <a:latin typeface="Microsoft YaHei"/>
              </a:rPr>
              <a:t>▪ 门口有挡板，门禁关好</a:t>
            </a:r>
          </a:p>
          <a:p>
            <a:pPr>
              <a:spcAft>
                <a:spcPts val="1000"/>
              </a:spcAft>
            </a:pPr>
            <a:r>
              <a:rPr sz="2000">
                <a:solidFill>
                  <a:srgbClr val="222B33"/>
                </a:solidFill>
                <a:latin typeface="Microsoft YaHei"/>
              </a:rPr>
              <a:t>▪ 笼子做好标识，数量登记清楚</a:t>
            </a:r>
          </a:p>
          <a:p>
            <a:pPr>
              <a:spcAft>
                <a:spcPts val="1000"/>
              </a:spcAft>
            </a:pPr>
            <a:r>
              <a:rPr sz="2000">
                <a:solidFill>
                  <a:srgbClr val="222B33"/>
                </a:solidFill>
                <a:latin typeface="Microsoft YaHei"/>
              </a:rPr>
              <a:t>▪ 发现逃逸或数量少了，马上报告</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转基因动物也按风险评估确定的级别饲养和管理，在批准的动物设施中饲养，不得与普通动物混养，不得带出设施。</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开着门操作，门口挡板不放</a:t>
            </a:r>
          </a:p>
          <a:p>
            <a:pPr>
              <a:spcAft>
                <a:spcPts val="1000"/>
              </a:spcAft>
            </a:pPr>
            <a:r>
              <a:rPr sz="1500">
                <a:solidFill>
                  <a:srgbClr val="222B33"/>
                </a:solidFill>
                <a:latin typeface="Microsoft YaHei"/>
              </a:rPr>
              <a:t>▪ 动物少了一只不报告，自己悄悄找</a:t>
            </a:r>
          </a:p>
        </p:txBody>
      </p:sp>
    </p:spTree>
  </p:cSld>
  <p:clrMapOvr>
    <a:masterClrMapping/>
  </p:clrMapOvr>
</p:sld>
</file>

<file path=ppt/slides/slide5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081 · 转基因生物安全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意外逸出：控住现场，立即报告</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081 转基因生物安全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材料洒出、丢失，先控制现场</a:t>
            </a:r>
          </a:p>
          <a:p>
            <a:pPr>
              <a:spcAft>
                <a:spcPts val="1000"/>
              </a:spcAft>
            </a:pPr>
            <a:r>
              <a:rPr sz="2000">
                <a:solidFill>
                  <a:srgbClr val="222B33"/>
                </a:solidFill>
                <a:latin typeface="Microsoft YaHei"/>
              </a:rPr>
              <a:t>▪ 按规程消毒清理</a:t>
            </a:r>
          </a:p>
          <a:p>
            <a:pPr>
              <a:spcAft>
                <a:spcPts val="1000"/>
              </a:spcAft>
            </a:pPr>
            <a:r>
              <a:rPr sz="2000">
                <a:solidFill>
                  <a:srgbClr val="222B33"/>
                </a:solidFill>
                <a:latin typeface="Microsoft YaHei"/>
              </a:rPr>
              <a:t>▪ 立即报告负责人，再逐级报学院、学校</a:t>
            </a:r>
          </a:p>
          <a:p>
            <a:pPr>
              <a:spcAft>
                <a:spcPts val="1000"/>
              </a:spcAft>
            </a:pPr>
            <a:r>
              <a:rPr sz="2000">
                <a:solidFill>
                  <a:srgbClr val="222B33"/>
                </a:solidFill>
                <a:latin typeface="Microsoft YaHei"/>
              </a:rPr>
              <a:t>▪ 如实记录经过，不隐瞒</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转基因材料万一洒出、泄漏或丢失，先控制现场：提醒旁人，设置警示，不让污染扩散，按本实验室溢洒处置规程消毒清理（见第 078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洒了一点工程菌，擦一下就不报告</a:t>
            </a:r>
          </a:p>
          <a:p>
            <a:pPr>
              <a:spcAft>
                <a:spcPts val="1000"/>
              </a:spcAft>
            </a:pPr>
            <a:r>
              <a:rPr sz="1500">
                <a:solidFill>
                  <a:srgbClr val="222B33"/>
                </a:solidFill>
                <a:latin typeface="Microsoft YaHei"/>
              </a:rPr>
              <a:t>▪ 发现材料丢失，等找到再说</a:t>
            </a:r>
          </a:p>
        </p:txBody>
      </p:sp>
    </p:spTree>
  </p:cSld>
  <p:clrMapOvr>
    <a:masterClrMapping/>
  </p:clrMapOvr>
</p:sld>
</file>

<file path=ppt/slides/slide5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081 · 转基因生物安全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合成生物学：未知风险，最高谨慎</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081 转基因生物安全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合成生物学，先要守住生物安全</a:t>
            </a:r>
          </a:p>
          <a:p>
            <a:pPr>
              <a:spcAft>
                <a:spcPts val="1000"/>
              </a:spcAft>
            </a:pPr>
            <a:r>
              <a:rPr sz="1700">
                <a:solidFill>
                  <a:srgbClr val="222B33"/>
                </a:solidFill>
                <a:latin typeface="Microsoft YaHei"/>
              </a:rPr>
              <a:t>▪ 改造的未知风险，像一座冰山</a:t>
            </a:r>
          </a:p>
          <a:p>
            <a:pPr>
              <a:spcAft>
                <a:spcPts val="1000"/>
              </a:spcAft>
            </a:pPr>
            <a:r>
              <a:rPr sz="1700">
                <a:solidFill>
                  <a:srgbClr val="222B33"/>
                </a:solidFill>
                <a:latin typeface="Microsoft YaHei"/>
              </a:rPr>
              <a:t>▪ 良性的，也可能变成潜在危害</a:t>
            </a:r>
          </a:p>
          <a:p>
            <a:pPr>
              <a:spcAft>
                <a:spcPts val="1000"/>
              </a:spcAft>
            </a:pPr>
            <a:r>
              <a:rPr sz="1700">
                <a:solidFill>
                  <a:srgbClr val="222B33"/>
                </a:solidFill>
                <a:latin typeface="Microsoft YaHei"/>
              </a:rPr>
              <a:t>▪ 可能被两用的研究，严格管控</a:t>
            </a:r>
          </a:p>
          <a:p>
            <a:pPr>
              <a:spcAft>
                <a:spcPts val="1000"/>
              </a:spcAft>
            </a:pPr>
            <a:r>
              <a:rPr sz="1700">
                <a:solidFill>
                  <a:srgbClr val="222B33"/>
                </a:solidFill>
                <a:latin typeface="Microsoft YaHei"/>
              </a:rPr>
              <a:t>▪ 先评估，经批准再做</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合成生物学、基因编辑等新技术给研究带来了新可能，也带来新挑战：改造后的生物有的性状可以稳定遗传，有的是新引入的，风险往往难以事先完全预知。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认为“底盘生物是安全菌株”就不需要评估</a:t>
            </a:r>
          </a:p>
          <a:p>
            <a:pPr>
              <a:spcAft>
                <a:spcPts val="1000"/>
              </a:spcAft>
            </a:pPr>
            <a:r>
              <a:rPr sz="1500">
                <a:solidFill>
                  <a:srgbClr val="222B33"/>
                </a:solidFill>
                <a:latin typeface="Microsoft YaHei"/>
              </a:rPr>
              <a:t>▪ 在网上找到方法就自行尝试改造</a:t>
            </a:r>
          </a:p>
        </p:txBody>
      </p:sp>
    </p:spTree>
  </p:cSld>
  <p:clrMapOvr>
    <a:masterClrMapping/>
  </p:clrMapOvr>
</p:sld>
</file>

<file path=ppt/slides/slide5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081 · 转基因生物安全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081 转基因生物安全</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学生想在课程设计中做一个质粒转化实验，正确的做法是：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照着教材直接做</a:t>
            </a:r>
          </a:p>
          <a:p>
            <a:pPr algn="l"/>
            <a:r>
              <a:rPr sz="1500" b="0">
                <a:solidFill>
                  <a:srgbClr val="222B33"/>
                </a:solidFill>
                <a:latin typeface="Microsoft YaHei"/>
              </a:rPr>
              <a:t>B. 先做风险评估，按本校规定报生物安全委员会审批或备案，批了在相应实验室做</a:t>
            </a:r>
          </a:p>
          <a:p>
            <a:pPr algn="l"/>
            <a:r>
              <a:rPr sz="1500" b="0">
                <a:solidFill>
                  <a:srgbClr val="222B33"/>
                </a:solidFill>
                <a:latin typeface="Microsoft YaHei"/>
              </a:rPr>
              <a:t>C. 在宿舍做</a:t>
            </a:r>
          </a:p>
          <a:p>
            <a:pPr algn="l"/>
            <a:r>
              <a:rPr sz="1500" b="0">
                <a:solidFill>
                  <a:srgbClr val="222B33"/>
                </a:solidFill>
                <a:latin typeface="Microsoft YaHei"/>
              </a:rPr>
              <a:t>D. 先做实验再补手续</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判断：《基因工程安全管理办法》是当前高校转基因实验审批的主要依据。</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5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081 · 转基因生物安全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081 转基因生物安全</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判断：实验室里培养的转基因幼苗长势很好，可以带回宿舍或种到校园里观察。</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转基因生物安全评价的第一阶段是：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直接做田间试验</a:t>
            </a:r>
          </a:p>
          <a:p>
            <a:pPr algn="l"/>
            <a:r>
              <a:rPr sz="1500" b="0">
                <a:solidFill>
                  <a:srgbClr val="222B33"/>
                </a:solidFill>
                <a:latin typeface="Microsoft YaHei"/>
              </a:rPr>
              <a:t>B. 与对应的非转基因品种比较，找出差异</a:t>
            </a:r>
          </a:p>
          <a:p>
            <a:pPr algn="l"/>
            <a:r>
              <a:rPr sz="1500" b="0">
                <a:solidFill>
                  <a:srgbClr val="222B33"/>
                </a:solidFill>
                <a:latin typeface="Microsoft YaHei"/>
              </a:rPr>
              <a:t>C. 只评价食品口味</a:t>
            </a:r>
          </a:p>
          <a:p>
            <a:pPr algn="l"/>
            <a:r>
              <a:rPr sz="1500" b="0">
                <a:solidFill>
                  <a:srgbClr val="222B33"/>
                </a:solidFill>
                <a:latin typeface="Microsoft YaHei"/>
              </a:rPr>
              <a:t>D. 直接上市</a:t>
            </a:r>
          </a:p>
        </p:txBody>
      </p:sp>
    </p:spTree>
  </p:cSld>
  <p:clrMapOvr>
    <a:masterClrMapping/>
  </p:clrMapOvr>
</p:sld>
</file>

<file path=ppt/slides/slide5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081 · 转基因生物安全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081 转基因生物安全</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简答：转基因动物饲养中发现笼内数量少了一只，应该怎么做？</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553.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什么是转基因生物</a:t>
            </a:r>
          </a:p>
          <a:p>
            <a:pPr>
              <a:spcAft>
                <a:spcPts val="800"/>
              </a:spcAft>
            </a:pPr>
            <a:r>
              <a:rPr sz="1500">
                <a:solidFill>
                  <a:srgbClr val="FFFFFF"/>
                </a:solidFill>
                <a:latin typeface="Microsoft YaHei"/>
              </a:rPr>
              <a:t>▪ K2  转基因依法管理，按风险分类</a:t>
            </a:r>
          </a:p>
          <a:p>
            <a:pPr>
              <a:spcAft>
                <a:spcPts val="800"/>
              </a:spcAft>
            </a:pPr>
            <a:r>
              <a:rPr sz="1500">
                <a:solidFill>
                  <a:srgbClr val="FFFFFF"/>
                </a:solidFill>
                <a:latin typeface="Microsoft YaHei"/>
              </a:rPr>
              <a:t>▪ K3  先评估，报生物安全委员会，批了才能做</a:t>
            </a:r>
          </a:p>
          <a:p>
            <a:pPr>
              <a:spcAft>
                <a:spcPts val="800"/>
              </a:spcAft>
            </a:pPr>
            <a:r>
              <a:rPr sz="1500">
                <a:solidFill>
                  <a:srgbClr val="FFFFFF"/>
                </a:solidFill>
                <a:latin typeface="Microsoft YaHei"/>
              </a:rPr>
              <a:t>▪ K4  分阶段审批，未经批准不进环境</a:t>
            </a:r>
          </a:p>
          <a:p>
            <a:pPr>
              <a:spcAft>
                <a:spcPts val="800"/>
              </a:spcAft>
            </a:pPr>
            <a:r>
              <a:rPr sz="1500">
                <a:solidFill>
                  <a:srgbClr val="FFFFFF"/>
                </a:solidFill>
                <a:latin typeface="Microsoft YaHei"/>
              </a:rPr>
              <a:t>▪ K5  危险度分四类，防护分四级</a:t>
            </a:r>
          </a:p>
          <a:p>
            <a:pPr>
              <a:spcAft>
                <a:spcPts val="800"/>
              </a:spcAft>
            </a:pPr>
            <a:r>
              <a:rPr sz="1500">
                <a:solidFill>
                  <a:srgbClr val="FFFFFF"/>
                </a:solidFill>
                <a:latin typeface="Microsoft YaHei"/>
              </a:rPr>
              <a:t>▪ K6  风险评估的步骤</a:t>
            </a:r>
          </a:p>
          <a:p>
            <a:pPr>
              <a:spcAft>
                <a:spcPts val="800"/>
              </a:spcAft>
            </a:pPr>
            <a:r>
              <a:rPr sz="1500">
                <a:solidFill>
                  <a:srgbClr val="FFFFFF"/>
                </a:solidFill>
                <a:latin typeface="Microsoft YaHei"/>
              </a:rPr>
              <a:t>▪ K7  安全评价：和非转基因的比一比</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K8  环境安全与食品安全</a:t>
            </a:r>
          </a:p>
          <a:p>
            <a:pPr>
              <a:spcAft>
                <a:spcPts val="800"/>
              </a:spcAft>
            </a:pPr>
            <a:r>
              <a:rPr sz="1500">
                <a:solidFill>
                  <a:srgbClr val="FFFFFF"/>
                </a:solidFill>
                <a:latin typeface="Microsoft YaHei"/>
              </a:rPr>
              <a:t>▪ K9  风险矩阵：能扩散吗？能恢复吗？</a:t>
            </a:r>
          </a:p>
          <a:p>
            <a:pPr>
              <a:spcAft>
                <a:spcPts val="800"/>
              </a:spcAft>
            </a:pPr>
            <a:r>
              <a:rPr sz="1500">
                <a:solidFill>
                  <a:srgbClr val="FFFFFF"/>
                </a:solidFill>
                <a:latin typeface="Microsoft YaHei"/>
              </a:rPr>
              <a:t>▪ K10  工程菌和载体：登记在册，不外带</a:t>
            </a:r>
          </a:p>
          <a:p>
            <a:pPr>
              <a:spcAft>
                <a:spcPts val="800"/>
              </a:spcAft>
            </a:pPr>
            <a:r>
              <a:rPr sz="1500">
                <a:solidFill>
                  <a:srgbClr val="FFFFFF"/>
                </a:solidFill>
                <a:latin typeface="Microsoft YaHei"/>
              </a:rPr>
              <a:t>▪ K11  转基因动物：防逃逸，做标识</a:t>
            </a:r>
          </a:p>
          <a:p>
            <a:pPr>
              <a:spcAft>
                <a:spcPts val="800"/>
              </a:spcAft>
            </a:pPr>
            <a:r>
              <a:rPr sz="1500">
                <a:solidFill>
                  <a:srgbClr val="FFFFFF"/>
                </a:solidFill>
                <a:latin typeface="Microsoft YaHei"/>
              </a:rPr>
              <a:t>▪ K12  意外逸出：控住现场，立即报告</a:t>
            </a:r>
          </a:p>
          <a:p>
            <a:pPr>
              <a:spcAft>
                <a:spcPts val="800"/>
              </a:spcAft>
            </a:pPr>
            <a:r>
              <a:rPr sz="1500">
                <a:solidFill>
                  <a:srgbClr val="FFFFFF"/>
                </a:solidFill>
                <a:latin typeface="Microsoft YaHei"/>
              </a:rPr>
              <a:t>▪ K13  合成生物学：未知风险，最高谨慎</a:t>
            </a:r>
          </a:p>
        </p:txBody>
      </p:sp>
    </p:spTree>
  </p:cSld>
  <p:clrMapOvr>
    <a:masterClrMapping/>
  </p:clrMapOvr>
</p:sld>
</file>

<file path=ppt/slides/slide554.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082</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植物生物安全：封闭温室与检疫</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70 镜）　适用对象：在封闭温室、植物生长室、组培室和试验田开展研究的农学、植物科学、园艺、植保、林学、生命科学等专业本科生、研究生和教职工（必修）；引进种质、做转基因植物和抗性鉴定的课题组重点学习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5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082 · 植物生物安全：封闭温室与检疫</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082 植物生物安全：封闭温室与检疫</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能说出植物封闭的含义和两大原因（引进材料带病虫、转基因植物获批前须封闭），以及需要封闭的五种情形。</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能做到在封闭温室和植物生长室按规定工作：防虫网门帘完好、出门换鞋脱衣不带病虫，防花粉外逃（隔离、错花期、套袋、不育品系、哨兵植物）。</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能做到引种依法检疫、不私带种苗，转基因植物材料不外带、不乱扔、灭活后处置，田间试验设隔离并持续监测。</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能判断封闭被突破等异常情况，控制现场、立即逐级报告；封闭温室施药前做好个人防护。</a:t>
            </a:r>
          </a:p>
        </p:txBody>
      </p:sp>
    </p:spTree>
  </p:cSld>
  <p:clrMapOvr>
    <a:masterClrMapping/>
  </p:clrMapOvr>
</p:sld>
</file>

<file path=ppt/slides/slide5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082 · 植物生物安全：封闭温室与检疫</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082 植物生物安全：封闭温室与检疫</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《中华人民共和国生物安全法》：生物技术研究开发安全管理、防范外来物种入侵、生物安全事件报告（具体要求以现行文本为准）</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《农业转基因生物安全管理条例》（以现行文本为准）：农业转基因生物分级管理、安全评价，研究与试验分阶段报告或审批</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《中华人民共和国进出境动植物检疫法》（以现行文本为准）：进境植物、植物产品和其他检疫物依法检疫，禁止携带、邮寄的物品</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《植物检疫条例》（以现行文本为准）：国内植物检疫对象、调运检疫和从国外引进种子苗木的检疫审批</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《农药管理条例》（以现行文本为准）：按标签要求使用农药，安全间隔期和个人防护</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单位生物安全委员会对转基因植物和封闭设施的审查规定（以本校规定为准；原《基因工程安全管理办法》已废止，不作依据）</a:t>
            </a:r>
          </a:p>
        </p:txBody>
      </p:sp>
    </p:spTree>
  </p:cSld>
  <p:clrMapOvr>
    <a:masterClrMapping/>
  </p:clrMapOvr>
</p:sld>
</file>

<file path=ppt/slides/slide5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082 · 植物生物安全：封闭温室与检疫</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植物封闭：关在设施里，确认安全才移出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082 植物生物安全：封闭温室与检疫</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植物封闭，就是把植物关在设施里与外界隔开</a:t>
            </a:r>
          </a:p>
          <a:p>
            <a:pPr>
              <a:spcAft>
                <a:spcPts val="1000"/>
              </a:spcAft>
            </a:pPr>
            <a:r>
              <a:rPr sz="2000">
                <a:solidFill>
                  <a:srgbClr val="222B33"/>
                </a:solidFill>
                <a:latin typeface="Microsoft YaHei"/>
              </a:rPr>
              <a:t>▪ 确认没有病虫、没有转基因风险，才能移出</a:t>
            </a:r>
          </a:p>
          <a:p>
            <a:pPr>
              <a:spcAft>
                <a:spcPts val="1000"/>
              </a:spcAft>
            </a:pPr>
            <a:r>
              <a:rPr sz="2000">
                <a:solidFill>
                  <a:srgbClr val="222B33"/>
                </a:solidFill>
                <a:latin typeface="Microsoft YaHei"/>
              </a:rPr>
              <a:t>▪ 封闭既是科学需要，也是法律要求</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植物封闭，是把植物或种质材料放在封闭温室、植物生长室等设施里，与外界环境隔开；在确认它不带病原、害虫，不存在转基因材料扩散风险（或已经依法获得批准）之前，不得移出设施。</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认为温室只是“种花的地方”，可以随意进出、随手带走植株</a:t>
            </a:r>
          </a:p>
          <a:p>
            <a:pPr>
              <a:spcAft>
                <a:spcPts val="1000"/>
              </a:spcAft>
            </a:pPr>
            <a:r>
              <a:rPr sz="1500">
                <a:solidFill>
                  <a:srgbClr val="222B33"/>
                </a:solidFill>
                <a:latin typeface="Microsoft YaHei"/>
              </a:rPr>
              <a:t>▪ 试验没结束、没确认安全就把植物移到露天</a:t>
            </a:r>
          </a:p>
        </p:txBody>
      </p:sp>
    </p:spTree>
  </p:cSld>
  <p:clrMapOvr>
    <a:masterClrMapping/>
  </p:clrMapOvr>
</p:sld>
</file>

<file path=ppt/slides/slide5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082 · 植物生物安全：封闭温室与检疫</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为什么封闭：病虫和转基因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082 植物生物安全：封闭温室与检疫</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引进的种苗可能带来外地病菌和害虫</a:t>
            </a:r>
          </a:p>
          <a:p>
            <a:pPr>
              <a:spcAft>
                <a:spcPts val="1000"/>
              </a:spcAft>
            </a:pPr>
            <a:r>
              <a:rPr sz="1700">
                <a:solidFill>
                  <a:srgbClr val="222B33"/>
                </a:solidFill>
                <a:latin typeface="Microsoft YaHei"/>
              </a:rPr>
              <a:t>▪ 传进本地会危害庄稼，造成经济损失</a:t>
            </a:r>
          </a:p>
          <a:p>
            <a:pPr>
              <a:spcAft>
                <a:spcPts val="1000"/>
              </a:spcAft>
            </a:pPr>
            <a:r>
              <a:rPr sz="1700">
                <a:solidFill>
                  <a:srgbClr val="222B33"/>
                </a:solidFill>
                <a:latin typeface="Microsoft YaHei"/>
              </a:rPr>
              <a:t>▪ 转基因植物不能从实验室直接下田</a:t>
            </a:r>
          </a:p>
          <a:p>
            <a:pPr>
              <a:spcAft>
                <a:spcPts val="1000"/>
              </a:spcAft>
            </a:pPr>
            <a:r>
              <a:rPr sz="1700">
                <a:solidFill>
                  <a:srgbClr val="222B33"/>
                </a:solidFill>
                <a:latin typeface="Microsoft YaHei"/>
              </a:rPr>
              <a:t>▪ 还要防基因外逃、伤害传粉昆虫和被恶意利用</a:t>
            </a:r>
          </a:p>
          <a:p>
            <a:pPr>
              <a:spcAft>
                <a:spcPts val="1000"/>
              </a:spcAft>
            </a:pPr>
            <a:r>
              <a:rPr sz="1700">
                <a:solidFill>
                  <a:srgbClr val="222B33"/>
                </a:solidFill>
                <a:latin typeface="Microsoft YaHei"/>
              </a:rPr>
              <a:t>▪ 封闭保护环境，也保护研究成果</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原因一：从外地或国外引进的种子、苗木和其他植物材料，可能带着原产地的病菌和害虫。它们一旦传进本地，没有天敌或本地作物缺乏抗性，就可能大面积危害庄稼，造成严重损失。</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认为只有转基因植物才有生物安全问题，引进的普通种苗不用管</a:t>
            </a:r>
          </a:p>
          <a:p>
            <a:pPr>
              <a:spcAft>
                <a:spcPts val="1000"/>
              </a:spcAft>
            </a:pPr>
            <a:r>
              <a:rPr sz="1500">
                <a:solidFill>
                  <a:srgbClr val="222B33"/>
                </a:solidFill>
                <a:latin typeface="Microsoft YaHei"/>
              </a:rPr>
              <a:t>▪ 认为封闭只是“保护别人”，与自己的研究无关</a:t>
            </a:r>
          </a:p>
        </p:txBody>
      </p:sp>
    </p:spTree>
  </p:cSld>
  <p:clrMapOvr>
    <a:masterClrMapping/>
  </p:clrMapOvr>
</p:sld>
</file>

<file path=ppt/slides/slide5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082 · 植物生物安全：封闭温室与检疫</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需要封闭的五种情形，按需采用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082 植物生物安全：封闭温室与检疫</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五种情形：转基因、引进材料、组培苗、控制育种、挑战试验</a:t>
            </a:r>
          </a:p>
          <a:p>
            <a:pPr>
              <a:spcAft>
                <a:spcPts val="1000"/>
              </a:spcAft>
            </a:pPr>
            <a:r>
              <a:rPr sz="1700">
                <a:solidFill>
                  <a:srgbClr val="222B33"/>
                </a:solidFill>
                <a:latin typeface="Microsoft YaHei"/>
              </a:rPr>
              <a:t>▪ 封闭不只为了转基因</a:t>
            </a:r>
          </a:p>
          <a:p>
            <a:pPr>
              <a:spcAft>
                <a:spcPts val="1000"/>
              </a:spcAft>
            </a:pPr>
            <a:r>
              <a:rPr sz="1700">
                <a:solidFill>
                  <a:srgbClr val="222B33"/>
                </a:solidFill>
                <a:latin typeface="Microsoft YaHei"/>
              </a:rPr>
              <a:t>▪ 封闭要设施、人手和培训，代价不小</a:t>
            </a:r>
          </a:p>
          <a:p>
            <a:pPr>
              <a:spcAft>
                <a:spcPts val="1000"/>
              </a:spcAft>
            </a:pPr>
            <a:r>
              <a:rPr sz="1700">
                <a:solidFill>
                  <a:srgbClr val="222B33"/>
                </a:solidFill>
                <a:latin typeface="Microsoft YaHei"/>
              </a:rPr>
              <a:t>▪ 本地常规品种不用封，新的、引进的才封</a:t>
            </a:r>
          </a:p>
          <a:p>
            <a:pPr>
              <a:spcAft>
                <a:spcPts val="1000"/>
              </a:spcAft>
            </a:pPr>
            <a:r>
              <a:rPr sz="1700">
                <a:solidFill>
                  <a:srgbClr val="222B33"/>
                </a:solidFill>
                <a:latin typeface="Microsoft YaHei"/>
              </a:rPr>
              <a:t>▪ 封到什么程度，按风险评估确定</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需要封闭的情形有五种：转基因植物；引进的植物材料（检疫观察期间）；离体培养的植物（组培苗）；控制育种试验；用病原或害虫做的抗性挑战试验。可见封闭不只为了转基因，后几种情形同样要防外来花粉进入、防病虫外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认为所有植物都要在封闭温室里种，或反过来认为只有转基因才封闭</a:t>
            </a:r>
          </a:p>
          <a:p>
            <a:pPr>
              <a:spcAft>
                <a:spcPts val="1000"/>
              </a:spcAft>
            </a:pPr>
            <a:r>
              <a:rPr sz="1500">
                <a:solidFill>
                  <a:srgbClr val="222B33"/>
                </a:solidFill>
                <a:latin typeface="Microsoft YaHei"/>
              </a:rPr>
              <a:t>▪ 不做风险评估，凭经验决定封闭措施</a:t>
            </a:r>
          </a:p>
        </p:txBody>
      </p:sp>
    </p:spTree>
  </p:cSld>
  <p:clrMapOvr>
    <a:masterClrMapping/>
  </p:clrMapOvr>
</p:sld>
</file>

<file path=ppt/slides/slide5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082 · 植物生物安全：封闭温室与检疫</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封闭温室与植物生长室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082 植物生物安全：封闭温室与检疫</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植物生长室各自独立，带运行监测</a:t>
            </a:r>
          </a:p>
          <a:p>
            <a:pPr>
              <a:spcAft>
                <a:spcPts val="1000"/>
              </a:spcAft>
            </a:pPr>
            <a:r>
              <a:rPr sz="1700">
                <a:solidFill>
                  <a:srgbClr val="222B33"/>
                </a:solidFill>
                <a:latin typeface="Microsoft YaHei"/>
              </a:rPr>
              <a:t>▪ 保持负压，花粉跑不出去</a:t>
            </a:r>
          </a:p>
          <a:p>
            <a:pPr>
              <a:spcAft>
                <a:spcPts val="1000"/>
              </a:spcAft>
            </a:pPr>
            <a:r>
              <a:rPr sz="1700">
                <a:solidFill>
                  <a:srgbClr val="222B33"/>
                </a:solidFill>
                <a:latin typeface="Microsoft YaHei"/>
              </a:rPr>
              <a:t>▪ 空调、过滤、废水处理设备比温室还大</a:t>
            </a:r>
          </a:p>
          <a:p>
            <a:pPr>
              <a:spcAft>
                <a:spcPts val="1000"/>
              </a:spcAft>
            </a:pPr>
            <a:r>
              <a:rPr sz="1700">
                <a:solidFill>
                  <a:srgbClr val="222B33"/>
                </a:solidFill>
                <a:latin typeface="Microsoft YaHei"/>
              </a:rPr>
              <a:t>▪ 水肥由电脑控制，定时定量泵入</a:t>
            </a:r>
          </a:p>
          <a:p>
            <a:pPr>
              <a:spcAft>
                <a:spcPts val="1000"/>
              </a:spcAft>
            </a:pPr>
            <a:r>
              <a:rPr sz="1700">
                <a:solidFill>
                  <a:srgbClr val="222B33"/>
                </a:solidFill>
                <a:latin typeface="Microsoft YaHei"/>
              </a:rPr>
              <a:t>▪ 排出的水先处理，再按规定排放</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植物生长室（人工气候室）是一个个独立的封闭小间，每间单独控制温度、湿度、光照，并带运行监测；按设计保持相对负压，空气向内流，花粉和小虫不容易跑出去（封闭和定向气流原理见第 062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为了方便长时间敞开生长室门</a:t>
            </a:r>
          </a:p>
          <a:p>
            <a:pPr>
              <a:spcAft>
                <a:spcPts val="1000"/>
              </a:spcAft>
            </a:pPr>
            <a:r>
              <a:rPr sz="1500">
                <a:solidFill>
                  <a:srgbClr val="222B33"/>
                </a:solidFill>
                <a:latin typeface="Microsoft YaHei"/>
              </a:rPr>
              <a:t>▪ 把温室排水直接接到室外沟渠</a:t>
            </a:r>
          </a:p>
        </p:txBody>
      </p:sp>
    </p:spTree>
  </p:cSld>
  <p:clrMapOvr>
    <a:masterClrMapping/>
  </p:clrMapOvr>
</p:sld>
</file>

<file path=ppt/slides/slide5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082 · 植物生物安全：封闭温室与检疫</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防虫网门帘常巡查，出门不带病虫</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082 植物生物安全：封闭温室与检疫</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防虫网、门帘是挡病虫的屏障</a:t>
            </a:r>
          </a:p>
          <a:p>
            <a:pPr>
              <a:spcAft>
                <a:spcPts val="1000"/>
              </a:spcAft>
            </a:pPr>
            <a:r>
              <a:rPr sz="1700">
                <a:solidFill>
                  <a:srgbClr val="222B33"/>
                </a:solidFill>
                <a:latin typeface="Microsoft YaHei"/>
              </a:rPr>
              <a:t>▪ 破个小洞，害虫就能进出</a:t>
            </a:r>
          </a:p>
          <a:p>
            <a:pPr>
              <a:spcAft>
                <a:spcPts val="1000"/>
              </a:spcAft>
            </a:pPr>
            <a:r>
              <a:rPr sz="1700">
                <a:solidFill>
                  <a:srgbClr val="222B33"/>
                </a:solidFill>
                <a:latin typeface="Microsoft YaHei"/>
              </a:rPr>
              <a:t>▪ 定期巡查，发现破损马上修补</a:t>
            </a:r>
          </a:p>
          <a:p>
            <a:pPr>
              <a:spcAft>
                <a:spcPts val="1000"/>
              </a:spcAft>
            </a:pPr>
            <a:r>
              <a:rPr sz="1700">
                <a:solidFill>
                  <a:srgbClr val="222B33"/>
                </a:solidFill>
                <a:latin typeface="Microsoft YaHei"/>
              </a:rPr>
              <a:t>▪ 离开时换鞋、脱工作服，检查身上</a:t>
            </a:r>
          </a:p>
          <a:p>
            <a:pPr>
              <a:spcAft>
                <a:spcPts val="1000"/>
              </a:spcAft>
            </a:pPr>
            <a:r>
              <a:rPr sz="1700">
                <a:solidFill>
                  <a:srgbClr val="222B33"/>
                </a:solidFill>
                <a:latin typeface="Microsoft YaHei"/>
              </a:rPr>
              <a:t>▪ 植株、土壤不经处理，不带出门</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防虫网、门帘（风幕）和缓冲间是封闭温室挡住病虫进出的屏障。网上破一个小洞、门帘没放下，小虫就能钻进钻出。要定期巡查防虫网、门帘、门窗密封条，填写巡查记录，发现破损马上报告并修补；进出随手关门，不同时打开两道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看见防虫网有小洞，觉得“问题不大”不报告</a:t>
            </a:r>
          </a:p>
          <a:p>
            <a:pPr>
              <a:spcAft>
                <a:spcPts val="1000"/>
              </a:spcAft>
            </a:pPr>
            <a:r>
              <a:rPr sz="1500">
                <a:solidFill>
                  <a:srgbClr val="222B33"/>
                </a:solidFill>
                <a:latin typeface="Microsoft YaHei"/>
              </a:rPr>
              <a:t>▪ 穿着温室工作服直接去食堂或另一个温室</a:t>
            </a:r>
          </a:p>
        </p:txBody>
      </p:sp>
    </p:spTree>
  </p:cSld>
  <p:clrMapOvr>
    <a:masterClrMapping/>
  </p:clrMapOvr>
</p:sld>
</file>

<file path=ppt/slides/slide5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082 · 植物生物安全：封闭温室与检疫</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防花粉外逃：隔离、错花期、不育、哨兵</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082 植物生物安全：封闭温室与检疫</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花粉外逃会和本地品种杂交</a:t>
            </a:r>
          </a:p>
          <a:p>
            <a:pPr>
              <a:spcAft>
                <a:spcPts val="1000"/>
              </a:spcAft>
            </a:pPr>
            <a:r>
              <a:rPr sz="1700">
                <a:solidFill>
                  <a:srgbClr val="222B33"/>
                </a:solidFill>
                <a:latin typeface="Microsoft YaHei"/>
              </a:rPr>
              <a:t>▪ 混进本地品种，影响农户收成</a:t>
            </a:r>
          </a:p>
          <a:p>
            <a:pPr>
              <a:spcAft>
                <a:spcPts val="1000"/>
              </a:spcAft>
            </a:pPr>
            <a:r>
              <a:rPr sz="1700">
                <a:solidFill>
                  <a:srgbClr val="222B33"/>
                </a:solidFill>
                <a:latin typeface="Microsoft YaHei"/>
              </a:rPr>
              <a:t>▪ 留隔离距离，错开花期，加纱网，套袋去雄</a:t>
            </a:r>
          </a:p>
          <a:p>
            <a:pPr>
              <a:spcAft>
                <a:spcPts val="1000"/>
              </a:spcAft>
            </a:pPr>
            <a:r>
              <a:rPr sz="1700">
                <a:solidFill>
                  <a:srgbClr val="222B33"/>
                </a:solidFill>
                <a:latin typeface="Microsoft YaHei"/>
              </a:rPr>
              <a:t>▪ 更好的办法：用不产花粉的不育品系</a:t>
            </a:r>
          </a:p>
          <a:p>
            <a:pPr>
              <a:spcAft>
                <a:spcPts val="1000"/>
              </a:spcAft>
            </a:pPr>
            <a:r>
              <a:rPr sz="1700">
                <a:solidFill>
                  <a:srgbClr val="222B33"/>
                </a:solidFill>
                <a:latin typeface="Microsoft YaHei"/>
              </a:rPr>
              <a:t>▪ 种哨兵植物，收种子检测有没有外逃</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花粉外逃是植物封闭的重点风险。试验材料的花粉飘到附近的本地品种上，会结出混有试验性状（如转基因）的杂交后代，污染本地品种，影响农户的收成和销路，还可能引起纠纷和法律责任。</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开花期打开温室通风窗或拆掉纱网</a:t>
            </a:r>
          </a:p>
          <a:p>
            <a:pPr>
              <a:spcAft>
                <a:spcPts val="1000"/>
              </a:spcAft>
            </a:pPr>
            <a:r>
              <a:rPr sz="1500">
                <a:solidFill>
                  <a:srgbClr val="222B33"/>
                </a:solidFill>
                <a:latin typeface="Microsoft YaHei"/>
              </a:rPr>
              <a:t>▪ 只设隔离措施，不做监测验证</a:t>
            </a:r>
          </a:p>
        </p:txBody>
      </p:sp>
    </p:spTree>
  </p:cSld>
  <p:clrMapOvr>
    <a:masterClrMapping/>
  </p:clrMapOvr>
</p:sld>
</file>

<file path=ppt/slides/slide5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082 · 植物生物安全：封闭温室与检疫</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组培苗：先在温室过渡</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082 植物生物安全：封闭温室与检疫</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组培苗娇弱，没见过田间病虫</a:t>
            </a:r>
          </a:p>
          <a:p>
            <a:pPr>
              <a:spcAft>
                <a:spcPts val="1000"/>
              </a:spcAft>
            </a:pPr>
            <a:r>
              <a:rPr sz="2000">
                <a:solidFill>
                  <a:srgbClr val="222B33"/>
                </a:solidFill>
                <a:latin typeface="Microsoft YaHei"/>
              </a:rPr>
              <a:t>▪ 封闭温室是下田前的过渡站</a:t>
            </a:r>
          </a:p>
          <a:p>
            <a:pPr>
              <a:spcAft>
                <a:spcPts val="1000"/>
              </a:spcAft>
            </a:pPr>
            <a:r>
              <a:rPr sz="2000">
                <a:solidFill>
                  <a:srgbClr val="222B33"/>
                </a:solidFill>
                <a:latin typeface="Microsoft YaHei"/>
              </a:rPr>
              <a:t>▪ 同一品种成片种，一病就是一大片</a:t>
            </a:r>
          </a:p>
          <a:p>
            <a:pPr>
              <a:spcAft>
                <a:spcPts val="1000"/>
              </a:spcAft>
            </a:pPr>
            <a:r>
              <a:rPr sz="2000">
                <a:solidFill>
                  <a:srgbClr val="222B33"/>
                </a:solidFill>
                <a:latin typeface="Microsoft YaHei"/>
              </a:rPr>
              <a:t>▪ 先确认抗性，别连累邻居</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在无菌条件下离体培养出来的组培苗比较娇弱，从来没有接触过田间的病菌和害虫，直接下田容易感病，还可能把组培过程中的问题带到田里。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组培苗出瓶后直接种到露天试验田</a:t>
            </a:r>
          </a:p>
          <a:p>
            <a:pPr>
              <a:spcAft>
                <a:spcPts val="1000"/>
              </a:spcAft>
            </a:pPr>
            <a:r>
              <a:rPr sz="1500">
                <a:solidFill>
                  <a:srgbClr val="222B33"/>
                </a:solidFill>
                <a:latin typeface="Microsoft YaHei"/>
              </a:rPr>
              <a:t>▪ 认为无菌培养的苗一定不带病</a:t>
            </a:r>
          </a:p>
        </p:txBody>
      </p:sp>
    </p:spTree>
  </p:cSld>
  <p:clrMapOvr>
    <a:masterClrMapping/>
  </p:clrMapOvr>
</p:sld>
</file>

<file path=ppt/slides/slide5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082 · 植物生物安全：封闭温室与检疫</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控制育种和挑战试验：都在封闭中做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082 植物生物安全：封闭温室与检疫</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控制育种：两个亲本杂交得到杂交种</a:t>
            </a:r>
          </a:p>
          <a:p>
            <a:pPr>
              <a:spcAft>
                <a:spcPts val="1000"/>
              </a:spcAft>
            </a:pPr>
            <a:r>
              <a:rPr sz="2000">
                <a:solidFill>
                  <a:srgbClr val="222B33"/>
                </a:solidFill>
                <a:latin typeface="Microsoft YaHei"/>
              </a:rPr>
              <a:t>▪ 外来花粉一混进来，种子就不整齐</a:t>
            </a:r>
          </a:p>
          <a:p>
            <a:pPr>
              <a:spcAft>
                <a:spcPts val="1000"/>
              </a:spcAft>
            </a:pPr>
            <a:r>
              <a:rPr sz="2000">
                <a:solidFill>
                  <a:srgbClr val="222B33"/>
                </a:solidFill>
                <a:latin typeface="Microsoft YaHei"/>
              </a:rPr>
              <a:t>▪ 挑战试验：在封闭中接种，选出抗病品种</a:t>
            </a:r>
          </a:p>
          <a:p>
            <a:pPr>
              <a:spcAft>
                <a:spcPts val="1000"/>
              </a:spcAft>
            </a:pPr>
            <a:r>
              <a:rPr sz="2000">
                <a:solidFill>
                  <a:srgbClr val="222B33"/>
                </a:solidFill>
                <a:latin typeface="Microsoft YaHei"/>
              </a:rPr>
              <a:t>▪ 病原和害虫绝不能带出设施</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控制育种是用两个纯合亲本杂交，得到性状整齐的杂交种。外来花粉一旦混进来，就会产生不确定的杂交后代，种子不整齐。所以控制育种要在封闭条件下进行，这也是杂交种成本较高的原因之一。</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把接种过病原的植株拿到普通实验室或室外拍照、展示</a:t>
            </a:r>
          </a:p>
          <a:p>
            <a:pPr>
              <a:spcAft>
                <a:spcPts val="1000"/>
              </a:spcAft>
            </a:pPr>
            <a:r>
              <a:rPr sz="1500">
                <a:solidFill>
                  <a:srgbClr val="222B33"/>
                </a:solidFill>
                <a:latin typeface="Microsoft YaHei"/>
              </a:rPr>
              <a:t>▪ 试验结束后不灭活就把盆土倒掉</a:t>
            </a:r>
          </a:p>
        </p:txBody>
      </p:sp>
    </p:spTree>
  </p:cSld>
  <p:clrMapOvr>
    <a:masterClrMapping/>
  </p:clrMapOvr>
</p:sld>
</file>

<file path=ppt/slides/slide5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082 · 植物生物安全：封闭温室与检疫</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引种依法检疫，不私带种苗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082 植物生物安全：封闭温室与检疫</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引进种苗、活菌肥料依法要检疫</a:t>
            </a:r>
          </a:p>
          <a:p>
            <a:pPr>
              <a:spcAft>
                <a:spcPts val="1000"/>
              </a:spcAft>
            </a:pPr>
            <a:r>
              <a:rPr sz="1700">
                <a:solidFill>
                  <a:srgbClr val="222B33"/>
                </a:solidFill>
                <a:latin typeface="Microsoft YaHei"/>
              </a:rPr>
              <a:t>▪ 防外来入侵，也防外来花粉减产</a:t>
            </a:r>
          </a:p>
          <a:p>
            <a:pPr>
              <a:spcAft>
                <a:spcPts val="1000"/>
              </a:spcAft>
            </a:pPr>
            <a:r>
              <a:rPr sz="1700">
                <a:solidFill>
                  <a:srgbClr val="222B33"/>
                </a:solidFill>
                <a:latin typeface="Microsoft YaHei"/>
              </a:rPr>
              <a:t>▪ 到货后在指定隔离区种植观察、检测</a:t>
            </a:r>
          </a:p>
          <a:p>
            <a:pPr>
              <a:spcAft>
                <a:spcPts val="1000"/>
              </a:spcAft>
            </a:pPr>
            <a:r>
              <a:rPr sz="1700">
                <a:solidFill>
                  <a:srgbClr val="222B33"/>
                </a:solidFill>
                <a:latin typeface="Microsoft YaHei"/>
              </a:rPr>
              <a:t>▪ 带病虫的，依法限制引进或处理</a:t>
            </a:r>
          </a:p>
          <a:p>
            <a:pPr>
              <a:spcAft>
                <a:spcPts val="1000"/>
              </a:spcAft>
            </a:pPr>
            <a:r>
              <a:rPr sz="1700">
                <a:solidFill>
                  <a:srgbClr val="222B33"/>
                </a:solidFill>
                <a:latin typeface="Microsoft YaHei"/>
              </a:rPr>
              <a:t>▪ 出差旅行，别私带种子和植物</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从国外或外地引进种子、苗木、其他繁殖材料以及含活微生物的肥料等，依法要办理检疫：从境外引进按《中华人民共和国进出境动植物检疫法》和引种检疫审批规定办理，国内调运按《植物检疫条例》办理（均以现行文本为准）。引进前先报告……</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把出差带回的种子直接种进温室</a:t>
            </a:r>
          </a:p>
          <a:p>
            <a:pPr>
              <a:spcAft>
                <a:spcPts val="1000"/>
              </a:spcAft>
            </a:pPr>
            <a:r>
              <a:rPr sz="1500">
                <a:solidFill>
                  <a:srgbClr val="222B33"/>
                </a:solidFill>
                <a:latin typeface="Microsoft YaHei"/>
              </a:rPr>
              <a:t>▪ 请朋友从国外邮寄种子，不办检疫审批</a:t>
            </a:r>
          </a:p>
        </p:txBody>
      </p:sp>
    </p:spTree>
  </p:cSld>
  <p:clrMapOvr>
    <a:masterClrMapping/>
  </p:clrMapOvr>
</p:sld>
</file>

<file path=ppt/slides/slide5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082 · 植物生物安全：封闭温室与检疫</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转基因植物材料不外带、不乱扔</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082 植物生物安全：封闭温室与检疫</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转基因植物在指定地点培养</a:t>
            </a:r>
          </a:p>
          <a:p>
            <a:pPr>
              <a:spcAft>
                <a:spcPts val="1000"/>
              </a:spcAft>
            </a:pPr>
            <a:r>
              <a:rPr sz="1700">
                <a:solidFill>
                  <a:srgbClr val="222B33"/>
                </a:solidFill>
                <a:latin typeface="Microsoft YaHei"/>
              </a:rPr>
              <a:t>▪ 不带回宿舍、不送人、不随意种植</a:t>
            </a:r>
          </a:p>
          <a:p>
            <a:pPr>
              <a:spcAft>
                <a:spcPts val="1000"/>
              </a:spcAft>
            </a:pPr>
            <a:r>
              <a:rPr sz="1700">
                <a:solidFill>
                  <a:srgbClr val="222B33"/>
                </a:solidFill>
                <a:latin typeface="Microsoft YaHei"/>
              </a:rPr>
              <a:t>▪ 种子装袋、标识，去向登记清楚</a:t>
            </a:r>
          </a:p>
          <a:p>
            <a:pPr>
              <a:spcAft>
                <a:spcPts val="1000"/>
              </a:spcAft>
            </a:pPr>
            <a:r>
              <a:rPr sz="1700">
                <a:solidFill>
                  <a:srgbClr val="222B33"/>
                </a:solidFill>
                <a:latin typeface="Microsoft YaHei"/>
              </a:rPr>
              <a:t>▪ 废弃植株和土壤灭活后再处置</a:t>
            </a:r>
          </a:p>
          <a:p>
            <a:pPr>
              <a:spcAft>
                <a:spcPts val="1000"/>
              </a:spcAft>
            </a:pPr>
            <a:r>
              <a:rPr sz="1700">
                <a:solidFill>
                  <a:srgbClr val="222B33"/>
                </a:solidFill>
                <a:latin typeface="Microsoft YaHei"/>
              </a:rPr>
              <a:t>▪ 不能随手扔进普通垃圾</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导入了新基因的植物，从转化的愈伤组织、组培苗到植株、种子、花粉，都按转基因材料管理，只在经过批准的指定场所（实验室、封闭温室）培养。</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觉得转基因幼苗长得好看，带回宿舍养</a:t>
            </a:r>
          </a:p>
          <a:p>
            <a:pPr>
              <a:spcAft>
                <a:spcPts val="1000"/>
              </a:spcAft>
            </a:pPr>
            <a:r>
              <a:rPr sz="1500">
                <a:solidFill>
                  <a:srgbClr val="222B33"/>
                </a:solidFill>
                <a:latin typeface="Microsoft YaHei"/>
              </a:rPr>
              <a:t>▪ 把废弃植株和盆土直接倒进校园垃圾桶</a:t>
            </a:r>
          </a:p>
        </p:txBody>
      </p:sp>
    </p:spTree>
  </p:cSld>
  <p:clrMapOvr>
    <a:masterClrMapping/>
  </p:clrMapOvr>
</p:sld>
</file>

<file path=ppt/slides/slide5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082 · 植物生物安全：封闭温室与检疫</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田间试验要隔离、防扩散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082 植物生物安全：封闭温室与检疫</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田间试验要经批准，设好隔离</a:t>
            </a:r>
          </a:p>
          <a:p>
            <a:pPr>
              <a:spcAft>
                <a:spcPts val="1000"/>
              </a:spcAft>
            </a:pPr>
            <a:r>
              <a:rPr sz="2000">
                <a:solidFill>
                  <a:srgbClr val="222B33"/>
                </a:solidFill>
                <a:latin typeface="Microsoft YaHei"/>
              </a:rPr>
              <a:t>▪ 防止花粉、种子扩散出去</a:t>
            </a:r>
          </a:p>
          <a:p>
            <a:pPr>
              <a:spcAft>
                <a:spcPts val="1000"/>
              </a:spcAft>
            </a:pPr>
            <a:r>
              <a:rPr sz="2000">
                <a:solidFill>
                  <a:srgbClr val="222B33"/>
                </a:solidFill>
                <a:latin typeface="Microsoft YaHei"/>
              </a:rPr>
              <a:t>▪ 结束后，残留材料按规定处理</a:t>
            </a:r>
          </a:p>
          <a:p>
            <a:pPr>
              <a:spcAft>
                <a:spcPts val="1000"/>
              </a:spcAft>
            </a:pPr>
            <a:r>
              <a:rPr sz="2000">
                <a:solidFill>
                  <a:srgbClr val="222B33"/>
                </a:solidFill>
                <a:latin typeface="Microsoft YaHei"/>
              </a:rPr>
              <a:t>▪ 之后继续监测，并做好记录</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转基因植物等材料的田间试验，只能在依法批准后、在批准的地点和规模内进行（分阶段审批见第 081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试验结束后把剩余种子随手撒在地头</a:t>
            </a:r>
          </a:p>
          <a:p>
            <a:pPr>
              <a:spcAft>
                <a:spcPts val="1000"/>
              </a:spcAft>
            </a:pPr>
            <a:r>
              <a:rPr sz="1500">
                <a:solidFill>
                  <a:srgbClr val="222B33"/>
                </a:solidFill>
                <a:latin typeface="Microsoft YaHei"/>
              </a:rPr>
              <a:t>▪ 收获完就不再管试验地</a:t>
            </a:r>
          </a:p>
        </p:txBody>
      </p:sp>
    </p:spTree>
  </p:cSld>
  <p:clrMapOvr>
    <a:masterClrMapping/>
  </p:clrMapOvr>
</p:sld>
</file>

<file path=ppt/slides/slide5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082 · 植物生物安全：封闭温室与检疫</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封闭温室施药，先防护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082 植物生物安全：封闭温室与检疫</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封闭温室不通风，施药更要小心</a:t>
            </a:r>
          </a:p>
          <a:p>
            <a:pPr>
              <a:spcAft>
                <a:spcPts val="1000"/>
              </a:spcAft>
            </a:pPr>
            <a:r>
              <a:rPr sz="2000">
                <a:solidFill>
                  <a:srgbClr val="222B33"/>
                </a:solidFill>
                <a:latin typeface="Microsoft YaHei"/>
              </a:rPr>
              <a:t>▪ 按标签要求戴好防护再施药</a:t>
            </a:r>
          </a:p>
          <a:p>
            <a:pPr>
              <a:spcAft>
                <a:spcPts val="1000"/>
              </a:spcAft>
            </a:pPr>
            <a:r>
              <a:rPr sz="2000">
                <a:solidFill>
                  <a:srgbClr val="222B33"/>
                </a:solidFill>
                <a:latin typeface="Microsoft YaHei"/>
              </a:rPr>
              <a:t>▪ 施药后门口挂牌提醒</a:t>
            </a:r>
          </a:p>
          <a:p>
            <a:pPr>
              <a:spcAft>
                <a:spcPts val="1000"/>
              </a:spcAft>
            </a:pPr>
            <a:r>
              <a:rPr sz="2000">
                <a:solidFill>
                  <a:srgbClr val="222B33"/>
                </a:solidFill>
                <a:latin typeface="Microsoft YaHei"/>
              </a:rPr>
              <a:t>▪ 过了规定间隔期再进去</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封闭温室和植物生长室为了防病虫外逃，通风受限，施用农药后药雾和挥发物不容易散去，人员吸入和皮肤接触的风险比露天更高。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不戴防护进温室喷药，觉得“量不大”</a:t>
            </a:r>
          </a:p>
          <a:p>
            <a:pPr>
              <a:spcAft>
                <a:spcPts val="1000"/>
              </a:spcAft>
            </a:pPr>
            <a:r>
              <a:rPr sz="1500">
                <a:solidFill>
                  <a:srgbClr val="222B33"/>
                </a:solidFill>
                <a:latin typeface="Microsoft YaHei"/>
              </a:rPr>
              <a:t>▪ 刚施完药就进去采样或观察</a:t>
            </a:r>
          </a:p>
        </p:txBody>
      </p:sp>
    </p:spTree>
  </p:cSld>
  <p:clrMapOvr>
    <a:masterClrMapping/>
  </p:clrMapOvr>
</p:sld>
</file>

<file path=ppt/slides/slide5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082 · 植物生物安全：封闭温室与检疫</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封闭被突破：立即报告，清理去污</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082 植物生物安全：封闭温室与检疫</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台风打碎玻璃，封闭就被突破了</a:t>
            </a:r>
          </a:p>
          <a:p>
            <a:pPr>
              <a:spcAft>
                <a:spcPts val="1000"/>
              </a:spcAft>
            </a:pPr>
            <a:r>
              <a:rPr sz="1700">
                <a:solidFill>
                  <a:srgbClr val="222B33"/>
                </a:solidFill>
                <a:latin typeface="Microsoft YaHei"/>
              </a:rPr>
              <a:t>▪ 先控制现场，人员不随意进出</a:t>
            </a:r>
          </a:p>
          <a:p>
            <a:pPr>
              <a:spcAft>
                <a:spcPts val="1000"/>
              </a:spcAft>
            </a:pPr>
            <a:r>
              <a:rPr sz="1700">
                <a:solidFill>
                  <a:srgbClr val="222B33"/>
                </a:solidFill>
                <a:latin typeface="Microsoft YaHei"/>
              </a:rPr>
              <a:t>▪ 立即报告负责人，逐级报学校主管部门</a:t>
            </a:r>
          </a:p>
          <a:p>
            <a:pPr>
              <a:spcAft>
                <a:spcPts val="1000"/>
              </a:spcAft>
            </a:pPr>
            <a:r>
              <a:rPr sz="1700">
                <a:solidFill>
                  <a:srgbClr val="222B33"/>
                </a:solidFill>
                <a:latin typeface="Microsoft YaHei"/>
              </a:rPr>
              <a:t>▪ 按要求收集周围植物，去污处理</a:t>
            </a:r>
          </a:p>
          <a:p>
            <a:pPr>
              <a:spcAft>
                <a:spcPts val="1000"/>
              </a:spcAft>
            </a:pPr>
            <a:r>
              <a:rPr sz="1700">
                <a:solidFill>
                  <a:srgbClr val="222B33"/>
                </a:solidFill>
                <a:latin typeface="Microsoft YaHei"/>
              </a:rPr>
              <a:t>▪ 如实记录，修好检查合格再用</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台风、冰雹等自然灾害打碎温室玻璃，防虫网大面积破损，停电导致负压和过滤失效，或发现转基因材料、病虫外逃，都属于封闭被突破。</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温室玻璃碎了，先自己扫一扫，不报告</a:t>
            </a:r>
          </a:p>
          <a:p>
            <a:pPr>
              <a:spcAft>
                <a:spcPts val="1000"/>
              </a:spcAft>
            </a:pPr>
            <a:r>
              <a:rPr sz="1500">
                <a:solidFill>
                  <a:srgbClr val="222B33"/>
                </a:solidFill>
                <a:latin typeface="Microsoft YaHei"/>
              </a:rPr>
              <a:t>▪ 怕担责任，隐瞒材料外逃</a:t>
            </a:r>
          </a:p>
        </p:txBody>
      </p:sp>
    </p:spTree>
  </p:cSld>
  <p:clrMapOvr>
    <a:masterClrMapping/>
  </p:clrMapOvr>
</p:sld>
</file>

<file path=ppt/slides/slide5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082 · 植物生物安全：封闭温室与检疫</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082 植物生物安全：封闭温室与检疫</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出差带回一包外地种子，想种进学校温室做对照，正确的做法是：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直接种进温室</a:t>
            </a:r>
          </a:p>
          <a:p>
            <a:pPr algn="l"/>
            <a:r>
              <a:rPr sz="1500" b="0">
                <a:solidFill>
                  <a:srgbClr val="222B33"/>
                </a:solidFill>
                <a:latin typeface="Microsoft YaHei"/>
              </a:rPr>
              <a:t>B. 先报告实验室负责人，依法办理检疫，在指定隔离区种植观察</a:t>
            </a:r>
          </a:p>
          <a:p>
            <a:pPr algn="l"/>
            <a:r>
              <a:rPr sz="1500" b="0">
                <a:solidFill>
                  <a:srgbClr val="222B33"/>
                </a:solidFill>
                <a:latin typeface="Microsoft YaHei"/>
              </a:rPr>
              <a:t>C. 送给同学种</a:t>
            </a:r>
          </a:p>
          <a:p>
            <a:pPr algn="l"/>
            <a:r>
              <a:rPr sz="1500" b="0">
                <a:solidFill>
                  <a:srgbClr val="222B33"/>
                </a:solidFill>
                <a:latin typeface="Microsoft YaHei"/>
              </a:rPr>
              <a:t>D. 种在宿舍阳台</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判断：只有转基因植物才需要封闭。</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5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082 · 植物生物安全：封闭温室与检疫</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082 植物生物安全：封闭温室与检疫</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下列哪项是防止转基因花粉外逃的措施？</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开花期打开通风窗</a:t>
            </a:r>
          </a:p>
          <a:p>
            <a:pPr algn="l"/>
            <a:r>
              <a:rPr sz="1500" b="0">
                <a:solidFill>
                  <a:srgbClr val="222B33"/>
                </a:solidFill>
                <a:latin typeface="Microsoft YaHei"/>
              </a:rPr>
              <a:t>B. 留隔离距离、错开花期、套袋、选用不育品系</a:t>
            </a:r>
          </a:p>
          <a:p>
            <a:pPr algn="l"/>
            <a:r>
              <a:rPr sz="1500" b="0">
                <a:solidFill>
                  <a:srgbClr val="222B33"/>
                </a:solidFill>
                <a:latin typeface="Microsoft YaHei"/>
              </a:rPr>
              <a:t>C. 拆掉纱网</a:t>
            </a:r>
          </a:p>
          <a:p>
            <a:pPr algn="l"/>
            <a:r>
              <a:rPr sz="1500" b="0">
                <a:solidFill>
                  <a:srgbClr val="222B33"/>
                </a:solidFill>
                <a:latin typeface="Microsoft YaHei"/>
              </a:rPr>
              <a:t>D. 不做任何监测</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判断：离开封闭温室时，可以穿着温室工作服直接去另一个温室。</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5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082 · 植物生物安全：封闭温室与检疫</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082 植物生物安全：封闭温室与检疫</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简答：台风打碎了封闭温室的玻璃，应该怎么做？</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573.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植物封闭：关在设施里，确认安全才移出</a:t>
            </a:r>
          </a:p>
          <a:p>
            <a:pPr>
              <a:spcAft>
                <a:spcPts val="800"/>
              </a:spcAft>
            </a:pPr>
            <a:r>
              <a:rPr sz="1500">
                <a:solidFill>
                  <a:srgbClr val="FFFFFF"/>
                </a:solidFill>
                <a:latin typeface="Microsoft YaHei"/>
              </a:rPr>
              <a:t>▪ K2  为什么封闭：病虫和转基因</a:t>
            </a:r>
          </a:p>
          <a:p>
            <a:pPr>
              <a:spcAft>
                <a:spcPts val="800"/>
              </a:spcAft>
            </a:pPr>
            <a:r>
              <a:rPr sz="1500">
                <a:solidFill>
                  <a:srgbClr val="FFFFFF"/>
                </a:solidFill>
                <a:latin typeface="Microsoft YaHei"/>
              </a:rPr>
              <a:t>▪ K3  需要封闭的五种情形，按需采用</a:t>
            </a:r>
          </a:p>
          <a:p>
            <a:pPr>
              <a:spcAft>
                <a:spcPts val="800"/>
              </a:spcAft>
            </a:pPr>
            <a:r>
              <a:rPr sz="1500">
                <a:solidFill>
                  <a:srgbClr val="FFFFFF"/>
                </a:solidFill>
                <a:latin typeface="Microsoft YaHei"/>
              </a:rPr>
              <a:t>▪ K4  封闭温室与植物生长室</a:t>
            </a:r>
          </a:p>
          <a:p>
            <a:pPr>
              <a:spcAft>
                <a:spcPts val="800"/>
              </a:spcAft>
            </a:pPr>
            <a:r>
              <a:rPr sz="1500">
                <a:solidFill>
                  <a:srgbClr val="FFFFFF"/>
                </a:solidFill>
                <a:latin typeface="Microsoft YaHei"/>
              </a:rPr>
              <a:t>▪ K5  防虫网门帘常巡查，出门不带病虫</a:t>
            </a:r>
          </a:p>
          <a:p>
            <a:pPr>
              <a:spcAft>
                <a:spcPts val="800"/>
              </a:spcAft>
            </a:pPr>
            <a:r>
              <a:rPr sz="1500">
                <a:solidFill>
                  <a:srgbClr val="FFFFFF"/>
                </a:solidFill>
                <a:latin typeface="Microsoft YaHei"/>
              </a:rPr>
              <a:t>▪ K6  防花粉外逃：隔离、错花期、不育、哨兵</a:t>
            </a:r>
          </a:p>
          <a:p>
            <a:pPr>
              <a:spcAft>
                <a:spcPts val="800"/>
              </a:spcAft>
            </a:pPr>
            <a:r>
              <a:rPr sz="1500">
                <a:solidFill>
                  <a:srgbClr val="FFFFFF"/>
                </a:solidFill>
                <a:latin typeface="Microsoft YaHei"/>
              </a:rPr>
              <a:t>▪ K7  组培苗：先在温室过渡</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K8  控制育种和挑战试验：都在封闭中做</a:t>
            </a:r>
          </a:p>
          <a:p>
            <a:pPr>
              <a:spcAft>
                <a:spcPts val="800"/>
              </a:spcAft>
            </a:pPr>
            <a:r>
              <a:rPr sz="1500">
                <a:solidFill>
                  <a:srgbClr val="FFFFFF"/>
                </a:solidFill>
                <a:latin typeface="Microsoft YaHei"/>
              </a:rPr>
              <a:t>▪ K9  引种依法检疫，不私带种苗</a:t>
            </a:r>
          </a:p>
          <a:p>
            <a:pPr>
              <a:spcAft>
                <a:spcPts val="800"/>
              </a:spcAft>
            </a:pPr>
            <a:r>
              <a:rPr sz="1500">
                <a:solidFill>
                  <a:srgbClr val="FFFFFF"/>
                </a:solidFill>
                <a:latin typeface="Microsoft YaHei"/>
              </a:rPr>
              <a:t>▪ K10  转基因植物材料不外带、不乱扔</a:t>
            </a:r>
          </a:p>
          <a:p>
            <a:pPr>
              <a:spcAft>
                <a:spcPts val="800"/>
              </a:spcAft>
            </a:pPr>
            <a:r>
              <a:rPr sz="1500">
                <a:solidFill>
                  <a:srgbClr val="FFFFFF"/>
                </a:solidFill>
                <a:latin typeface="Microsoft YaHei"/>
              </a:rPr>
              <a:t>▪ K11  田间试验要隔离、防扩散</a:t>
            </a:r>
          </a:p>
          <a:p>
            <a:pPr>
              <a:spcAft>
                <a:spcPts val="800"/>
              </a:spcAft>
            </a:pPr>
            <a:r>
              <a:rPr sz="1500">
                <a:solidFill>
                  <a:srgbClr val="FFFFFF"/>
                </a:solidFill>
                <a:latin typeface="Microsoft YaHei"/>
              </a:rPr>
              <a:t>▪ K12  封闭温室施药，先防护</a:t>
            </a:r>
          </a:p>
          <a:p>
            <a:pPr>
              <a:spcAft>
                <a:spcPts val="800"/>
              </a:spcAft>
            </a:pPr>
            <a:r>
              <a:rPr sz="1500">
                <a:solidFill>
                  <a:srgbClr val="FFFFFF"/>
                </a:solidFill>
                <a:latin typeface="Microsoft YaHei"/>
              </a:rPr>
              <a:t>▪ K13  封闭被突破：立即报告，清理去污</a:t>
            </a:r>
          </a:p>
        </p:txBody>
      </p:sp>
    </p:spTree>
  </p:cSld>
  <p:clrMapOvr>
    <a:masterClrMapping/>
  </p:clrMapOvr>
</p:sld>
</file>

<file path=ppt/slides/slide574.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083</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生物安保与两用研究</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7 分钟（卡通视频 85 镜）　适用对象：在生物、医学、农学、环境、药学等实验室工作，接触菌（毒）种、病原样本、人类样本和相关数据的本科生、研究生和教职工（必修）；实验室负责人、菌毒种和样本管理人员、开展伦理审查相关研究的课题组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5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083 · 生物安保与两用研究</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083 生物安保与两用研究</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能说出生物安全与生物安保的区别（防意外与防故意），以及中文“生物安全”在《中华人民共和国生物安全法》中的更宽含义。</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能做到生物安保的日常要求：门禁不外借不尾随、访客登记陪同、高风险材料专柜专锁、账物相符、来源合法、信息不乱说不乱发、电脑锁屏。</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能判断两用研究和涉及人的样本研究需要事先审查（伦理审查、知情同意、人类遗传资源管理），拿不准先停下来报告。</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能做到遇到可疑包裹、可疑人员和询问、材料丢失被盗时不碰、不私查，立即逐级报告；不信谣不传谣。</a:t>
            </a:r>
          </a:p>
        </p:txBody>
      </p:sp>
    </p:spTree>
  </p:cSld>
  <p:clrMapOvr>
    <a:masterClrMapping/>
  </p:clrMapOvr>
</p:sld>
</file>

<file path=ppt/slides/slide5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083 · 生物安保与两用研究</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083 生物安保与两用研究</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《中华人民共和国生物安全法》：防范生物恐怖与生物武器威胁、生物技术研究开发安全管理、病原微生物实验室安全与保藏管理、人类遗传资源管理（具体要求以现行文本为准）</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《病原微生物实验室生物安全管理条例》（以现行文本为准）：菌（毒）种和样本的来源、保藏、运输与安全保卫，被盗、被抢、丢失、泄漏的报告</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《中华人民共和国人类遗传资源管理条例》（以现行文本为准）：人类遗传资源的采集、保藏、利用和对外提供管理</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《涉及人的生命科学和医学研究伦理审查办法》（以现行文本为准）：伦理审查与知情同意</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《科技伦理审查办法（试行）》（以现行文本为准）：科技活动的伦理审查与风险防范</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《中华人民共和国个人信息保护法》（以现行文本为准）：患者等个人信息的保护</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生物安全通用要求》：风险评估、人员管理、安保与访问控制、记录</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本单位门禁、菌（毒）种和样本管理、信息安全制度（以本校规定为准）</a:t>
            </a:r>
          </a:p>
        </p:txBody>
      </p:sp>
    </p:spTree>
  </p:cSld>
  <p:clrMapOvr>
    <a:masterClrMapping/>
  </p:clrMapOvr>
</p:sld>
</file>

<file path=ppt/slides/slide5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083 · 生物安保与两用研究</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生物安全防意外，生物安保防故意</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083 生物安保与两用研究</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生物安全和生物安保听着像，侧重点不同</a:t>
            </a:r>
          </a:p>
          <a:p>
            <a:pPr>
              <a:spcAft>
                <a:spcPts val="1000"/>
              </a:spcAft>
            </a:pPr>
            <a:r>
              <a:rPr sz="1700">
                <a:solidFill>
                  <a:srgbClr val="222B33"/>
                </a:solidFill>
                <a:latin typeface="Microsoft YaHei"/>
              </a:rPr>
              <a:t>▪ 生物安全：防意外暴露和泄漏</a:t>
            </a:r>
          </a:p>
          <a:p>
            <a:pPr>
              <a:spcAft>
                <a:spcPts val="1000"/>
              </a:spcAft>
            </a:pPr>
            <a:r>
              <a:rPr sz="1700">
                <a:solidFill>
                  <a:srgbClr val="222B33"/>
                </a:solidFill>
                <a:latin typeface="Microsoft YaHei"/>
              </a:rPr>
              <a:t>▪ 生物安保：防丢失、被盗和故意滥用</a:t>
            </a:r>
          </a:p>
          <a:p>
            <a:pPr>
              <a:spcAft>
                <a:spcPts val="1000"/>
              </a:spcAft>
            </a:pPr>
            <a:r>
              <a:rPr sz="1700">
                <a:solidFill>
                  <a:srgbClr val="222B33"/>
                </a:solidFill>
                <a:latin typeface="Microsoft YaHei"/>
              </a:rPr>
              <a:t>▪ 瓶子碰倒是安全，门卡借人是安保</a:t>
            </a:r>
          </a:p>
          <a:p>
            <a:pPr>
              <a:spcAft>
                <a:spcPts val="1000"/>
              </a:spcAft>
            </a:pPr>
            <a:r>
              <a:rPr sz="1700">
                <a:solidFill>
                  <a:srgbClr val="222B33"/>
                </a:solidFill>
                <a:latin typeface="Microsoft YaHei"/>
              </a:rPr>
              <a:t>▪ 两者的区别，就在于意图</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管理实验室的生物风险，有两件相关但不同的事。两者都和生物材料的安全操作、防护和管理有关，但关注点和目标不一样。</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以为只要防护做好，就不用管门禁和账目</a:t>
            </a:r>
          </a:p>
          <a:p>
            <a:pPr>
              <a:spcAft>
                <a:spcPts val="1000"/>
              </a:spcAft>
            </a:pPr>
            <a:r>
              <a:rPr sz="1500">
                <a:solidFill>
                  <a:srgbClr val="222B33"/>
                </a:solidFill>
                <a:latin typeface="Microsoft YaHei"/>
              </a:rPr>
              <a:t>▪ 把门卡借给同学“帮个忙”，觉得不算安全问题</a:t>
            </a:r>
          </a:p>
        </p:txBody>
      </p:sp>
    </p:spTree>
  </p:cSld>
  <p:clrMapOvr>
    <a:masterClrMapping/>
  </p:clrMapOvr>
</p:sld>
</file>

<file path=ppt/slides/slide5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083 · 生物安保与两用研究</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中文的“生物安全”管得更宽</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083 生物安保与两用研究</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中文的“生物安全”是个大概念</a:t>
            </a:r>
          </a:p>
          <a:p>
            <a:pPr>
              <a:spcAft>
                <a:spcPts val="1000"/>
              </a:spcAft>
            </a:pPr>
            <a:r>
              <a:rPr sz="2000">
                <a:solidFill>
                  <a:srgbClr val="222B33"/>
                </a:solidFill>
                <a:latin typeface="Microsoft YaHei"/>
              </a:rPr>
              <a:t>▪ 生物安全法既管实验室，也管防范生物恐怖</a:t>
            </a:r>
          </a:p>
          <a:p>
            <a:pPr>
              <a:spcAft>
                <a:spcPts val="1000"/>
              </a:spcAft>
            </a:pPr>
            <a:r>
              <a:rPr sz="2000">
                <a:solidFill>
                  <a:srgbClr val="222B33"/>
                </a:solidFill>
                <a:latin typeface="Microsoft YaHei"/>
              </a:rPr>
              <a:t>▪ 实验室里常把防丢失、防滥用叫生物安保</a:t>
            </a:r>
          </a:p>
          <a:p>
            <a:pPr>
              <a:spcAft>
                <a:spcPts val="1000"/>
              </a:spcAft>
            </a:pPr>
            <a:r>
              <a:rPr sz="2000">
                <a:solidFill>
                  <a:srgbClr val="222B33"/>
                </a:solidFill>
                <a:latin typeface="Microsoft YaHei"/>
              </a:rPr>
              <a:t>▪ 防意外暴露，也防丢失和滥用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在我国，“生物安全”一词范围很宽。《中华人民共和国生物安全法》所说的生物安全，包括防控重大新发突发传染病和动植物疫情、生物技术研究开发与应用安全、病原微生物实验室生物安全、人类遗传资源与生物资源安全、防范外来物种入侵……</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以为《中华人民共和国生物安全法》只管实验室操作</a:t>
            </a:r>
          </a:p>
          <a:p>
            <a:pPr>
              <a:spcAft>
                <a:spcPts val="1000"/>
              </a:spcAft>
            </a:pPr>
            <a:r>
              <a:rPr sz="1500">
                <a:solidFill>
                  <a:srgbClr val="222B33"/>
                </a:solidFill>
                <a:latin typeface="Microsoft YaHei"/>
              </a:rPr>
              <a:t>▪ 把“生物安全”和“生物安保”混为一谈，忽略安保要求</a:t>
            </a:r>
          </a:p>
        </p:txBody>
      </p:sp>
    </p:spTree>
  </p:cSld>
  <p:clrMapOvr>
    <a:masterClrMapping/>
  </p:clrMapOvr>
</p:sld>
</file>

<file path=ppt/slides/slide5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083 · 生物安保与两用研究</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各自保护什么、靠什么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083 生物安保与两用研究</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把生物材料看成要守护的宝贝</a:t>
            </a:r>
          </a:p>
          <a:p>
            <a:pPr>
              <a:spcAft>
                <a:spcPts val="1000"/>
              </a:spcAft>
            </a:pPr>
            <a:r>
              <a:rPr sz="1700">
                <a:solidFill>
                  <a:srgbClr val="222B33"/>
                </a:solidFill>
                <a:latin typeface="Microsoft YaHei"/>
              </a:rPr>
              <a:t>▪ 生物安全护人员、公众和环境</a:t>
            </a:r>
          </a:p>
          <a:p>
            <a:pPr>
              <a:spcAft>
                <a:spcPts val="1000"/>
              </a:spcAft>
            </a:pPr>
            <a:r>
              <a:rPr sz="1700">
                <a:solidFill>
                  <a:srgbClr val="222B33"/>
                </a:solidFill>
                <a:latin typeface="Microsoft YaHei"/>
              </a:rPr>
              <a:t>▪ 靠培训、设备、设施和规程</a:t>
            </a:r>
          </a:p>
          <a:p>
            <a:pPr>
              <a:spcAft>
                <a:spcPts val="1000"/>
              </a:spcAft>
            </a:pPr>
            <a:r>
              <a:rPr sz="1700">
                <a:solidFill>
                  <a:srgbClr val="222B33"/>
                </a:solidFill>
                <a:latin typeface="Microsoft YaHei"/>
              </a:rPr>
              <a:t>▪ 生物安保护材料和设施</a:t>
            </a:r>
          </a:p>
          <a:p>
            <a:pPr>
              <a:spcAft>
                <a:spcPts val="1000"/>
              </a:spcAft>
            </a:pPr>
            <a:r>
              <a:rPr sz="1700">
                <a:solidFill>
                  <a:srgbClr val="222B33"/>
                </a:solidFill>
                <a:latin typeface="Microsoft YaHei"/>
              </a:rPr>
              <a:t>▪ 靠门禁、上锁、人员审核和问责</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可以把实验室的生物材料看成要守护的宝贝，从两个方向看护它。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认为安保只是保卫处的事，与实验人员无关</a:t>
            </a:r>
          </a:p>
          <a:p>
            <a:pPr>
              <a:spcAft>
                <a:spcPts val="1000"/>
              </a:spcAft>
            </a:pPr>
            <a:r>
              <a:rPr sz="1500">
                <a:solidFill>
                  <a:srgbClr val="222B33"/>
                </a:solidFill>
                <a:latin typeface="Microsoft YaHei"/>
              </a:rPr>
              <a:t>▪ 只装门禁，不建账、不审核人员</a:t>
            </a:r>
          </a:p>
        </p:txBody>
      </p:sp>
    </p:spTree>
  </p:cSld>
  <p:clrMapOvr>
    <a:masterClrMapping/>
  </p:clrMapOvr>
</p:sld>
</file>

<file path=ppt/slides/slide5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083 · 生物安保与两用研究</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两手都要硬，人人有责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083 生物安保与两用研究</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安全和安保，缺一不可</a:t>
            </a:r>
          </a:p>
          <a:p>
            <a:pPr>
              <a:spcAft>
                <a:spcPts val="1000"/>
              </a:spcAft>
            </a:pPr>
            <a:r>
              <a:rPr sz="2000">
                <a:solidFill>
                  <a:srgbClr val="222B33"/>
                </a:solidFill>
                <a:latin typeface="Microsoft YaHei"/>
              </a:rPr>
              <a:t>▪ 科研、医疗、教学实验室都一样</a:t>
            </a:r>
          </a:p>
          <a:p>
            <a:pPr>
              <a:spcAft>
                <a:spcPts val="1000"/>
              </a:spcAft>
            </a:pPr>
            <a:r>
              <a:rPr sz="2000">
                <a:solidFill>
                  <a:srgbClr val="222B33"/>
                </a:solidFill>
                <a:latin typeface="Microsoft YaHei"/>
              </a:rPr>
              <a:t>▪ 日常就做，全组一起来守</a:t>
            </a:r>
          </a:p>
          <a:p>
            <a:pPr>
              <a:spcAft>
                <a:spcPts val="1000"/>
              </a:spcAft>
            </a:pPr>
            <a:r>
              <a:rPr sz="2000">
                <a:solidFill>
                  <a:srgbClr val="222B33"/>
                </a:solidFill>
                <a:latin typeface="Microsoft YaHei"/>
              </a:rPr>
              <a:t>▪ 人人有意识，才能守护大众健康</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生物安全和生物安保缺一不可：只防意外不防故意，材料可能被盗被滥用；只锁门不讲规范，人员照样会被感染。无论科研、医疗还是教学实验室，两者都要同时做好，研究的收益才能大于风险。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认为教学实验室“没什么危险材料”，不必讲安保</a:t>
            </a:r>
          </a:p>
          <a:p>
            <a:pPr>
              <a:spcAft>
                <a:spcPts val="1000"/>
              </a:spcAft>
            </a:pPr>
            <a:r>
              <a:rPr sz="1500">
                <a:solidFill>
                  <a:srgbClr val="222B33"/>
                </a:solidFill>
                <a:latin typeface="Microsoft YaHei"/>
              </a:rPr>
              <a:t>▪ 觉得安保是负责人一个人的事</a:t>
            </a:r>
          </a:p>
        </p:txBody>
      </p:sp>
    </p:spTree>
  </p:cSld>
  <p:clrMapOvr>
    <a:masterClrMapping/>
  </p:clrMapOvr>
</p:sld>
</file>

<file path=ppt/slides/slide5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083 · 生物安保与两用研究</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生物安保：护人、动植物和环境</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083 生物安保与两用研究</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保护人、动物、植物和环境</a:t>
            </a:r>
          </a:p>
          <a:p>
            <a:pPr>
              <a:spcAft>
                <a:spcPts val="1000"/>
              </a:spcAft>
            </a:pPr>
            <a:r>
              <a:rPr sz="1700">
                <a:solidFill>
                  <a:srgbClr val="222B33"/>
                </a:solidFill>
                <a:latin typeface="Microsoft YaHei"/>
              </a:rPr>
              <a:t>▪ 防的是病原、害虫、毒素等有害生物因子</a:t>
            </a:r>
          </a:p>
          <a:p>
            <a:pPr>
              <a:spcAft>
                <a:spcPts val="1000"/>
              </a:spcAft>
            </a:pPr>
            <a:r>
              <a:rPr sz="1700">
                <a:solidFill>
                  <a:srgbClr val="222B33"/>
                </a:solidFill>
                <a:latin typeface="Microsoft YaHei"/>
              </a:rPr>
              <a:t>▪ 一防外来有害生物传进来，二防扩散出去</a:t>
            </a:r>
          </a:p>
          <a:p>
            <a:pPr>
              <a:spcAft>
                <a:spcPts val="1000"/>
              </a:spcAft>
            </a:pPr>
            <a:r>
              <a:rPr sz="1700">
                <a:solidFill>
                  <a:srgbClr val="222B33"/>
                </a:solidFill>
                <a:latin typeface="Microsoft YaHei"/>
              </a:rPr>
              <a:t>▪ 自然的、意外的、蓄意的，都要防</a:t>
            </a:r>
          </a:p>
          <a:p>
            <a:pPr>
              <a:spcAft>
                <a:spcPts val="1000"/>
              </a:spcAft>
            </a:pPr>
            <a:r>
              <a:rPr sz="1700">
                <a:solidFill>
                  <a:srgbClr val="222B33"/>
                </a:solidFill>
                <a:latin typeface="Microsoft YaHei"/>
              </a:rPr>
              <a:t>▪ 生活中勤洗手、不私带动植物入境</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从更宽的角度看，生物安保是一整套保护措施和规程，保护的对象是人、动物、植物和环境：人会被传染生病，动物会得疫病，庄稼会遭病虫害，生态环境会被外来生物破坏。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以为生物安保只和病原实验室有关</a:t>
            </a:r>
          </a:p>
          <a:p>
            <a:pPr>
              <a:spcAft>
                <a:spcPts val="1000"/>
              </a:spcAft>
            </a:pPr>
            <a:r>
              <a:rPr sz="1500">
                <a:solidFill>
                  <a:srgbClr val="222B33"/>
                </a:solidFill>
                <a:latin typeface="Microsoft YaHei"/>
              </a:rPr>
              <a:t>▪ 出境旅行私带水果、种子、活体动物回国</a:t>
            </a:r>
          </a:p>
        </p:txBody>
      </p:sp>
    </p:spTree>
  </p:cSld>
  <p:clrMapOvr>
    <a:masterClrMapping/>
  </p:clrMapOvr>
</p:sld>
</file>

<file path=ppt/slides/slide5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083 · 生物安保与两用研究</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生物安保的六块工作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083 生物安保与两用研究</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防传播、封闭控制、监测、依法管理、教育、应急</a:t>
            </a:r>
          </a:p>
          <a:p>
            <a:pPr>
              <a:spcAft>
                <a:spcPts val="1000"/>
              </a:spcAft>
            </a:pPr>
            <a:r>
              <a:rPr sz="1700">
                <a:solidFill>
                  <a:srgbClr val="222B33"/>
                </a:solidFill>
                <a:latin typeface="Microsoft YaHei"/>
              </a:rPr>
              <a:t>▪ 实验室里封住，运输也要密封可追溯</a:t>
            </a:r>
          </a:p>
          <a:p>
            <a:pPr>
              <a:spcAft>
                <a:spcPts val="1000"/>
              </a:spcAft>
            </a:pPr>
            <a:r>
              <a:rPr sz="1700">
                <a:solidFill>
                  <a:srgbClr val="222B33"/>
                </a:solidFill>
                <a:latin typeface="Microsoft YaHei"/>
              </a:rPr>
              <a:t>▪ 同一健康：人和动物的病连在一起</a:t>
            </a:r>
          </a:p>
          <a:p>
            <a:pPr>
              <a:spcAft>
                <a:spcPts val="1000"/>
              </a:spcAft>
            </a:pPr>
            <a:r>
              <a:rPr sz="1700">
                <a:solidFill>
                  <a:srgbClr val="222B33"/>
                </a:solidFill>
                <a:latin typeface="Microsoft YaHei"/>
              </a:rPr>
              <a:t>▪ 写好预案，人人知道向谁报告</a:t>
            </a:r>
          </a:p>
          <a:p>
            <a:pPr>
              <a:spcAft>
                <a:spcPts val="1000"/>
              </a:spcAft>
            </a:pPr>
            <a:r>
              <a:rPr sz="1700">
                <a:solidFill>
                  <a:srgbClr val="222B33"/>
                </a:solidFill>
                <a:latin typeface="Microsoft YaHei"/>
              </a:rPr>
              <a:t>▪ 养殖场防疫的思路，实验室也适用</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生物安保的工作可以分成六块：一是防止疾病传播，定好规程，切断在人和动植物之间传播的途径；二是封闭与控制，实验室里靠设施和规范把病原关住，运输途中密封包装、专人负责、全程可追溯（运输见第 080 课）；三是监测，定期查……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只重视实验室内部，忽视运输途中的管理</a:t>
            </a:r>
          </a:p>
          <a:p>
            <a:pPr>
              <a:spcAft>
                <a:spcPts val="1000"/>
              </a:spcAft>
            </a:pPr>
            <a:r>
              <a:rPr sz="1500">
                <a:solidFill>
                  <a:srgbClr val="222B33"/>
                </a:solidFill>
                <a:latin typeface="Microsoft YaHei"/>
              </a:rPr>
              <a:t>▪ 没有预案，出了异常不知道向谁报告</a:t>
            </a:r>
          </a:p>
        </p:txBody>
      </p:sp>
    </p:spTree>
  </p:cSld>
  <p:clrMapOvr>
    <a:masterClrMapping/>
  </p:clrMapOvr>
</p:sld>
</file>

<file path=ppt/slides/slide5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083 · 生物安保与两用研究</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病原是资产：评估被盗被滥用的风险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083 生物安保与两用研究</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安保眼里，菌种样本是要看守的资产</a:t>
            </a:r>
          </a:p>
          <a:p>
            <a:pPr>
              <a:spcAft>
                <a:spcPts val="1000"/>
              </a:spcAft>
            </a:pPr>
            <a:r>
              <a:rPr sz="2000">
                <a:solidFill>
                  <a:srgbClr val="222B33"/>
                </a:solidFill>
                <a:latin typeface="Microsoft YaHei"/>
              </a:rPr>
              <a:t>▪ 威胁有两种：内部的，外部的</a:t>
            </a:r>
          </a:p>
          <a:p>
            <a:pPr>
              <a:spcAft>
                <a:spcPts val="1000"/>
              </a:spcAft>
            </a:pPr>
            <a:r>
              <a:rPr sz="2000">
                <a:solidFill>
                  <a:srgbClr val="222B33"/>
                </a:solidFill>
                <a:latin typeface="Microsoft YaHei"/>
              </a:rPr>
              <a:t>▪ 评估也看被盗滥用：谁能拿、存哪、怎么锁</a:t>
            </a:r>
          </a:p>
          <a:p>
            <a:pPr>
              <a:spcAft>
                <a:spcPts val="1000"/>
              </a:spcAft>
            </a:pPr>
            <a:r>
              <a:rPr sz="2000">
                <a:solidFill>
                  <a:srgbClr val="222B33"/>
                </a:solidFill>
                <a:latin typeface="Microsoft YaHei"/>
              </a:rPr>
              <a:t>▪ 评估结果交单位审核，定期复查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从安保的角度看，菌（毒）种、病原样本和毒素是需要看守的资产，要像贵重物品一样管理。威胁可能来自外部（外来人员闯入、盗窃），也可能来自内部（有权限的人员违规取用、滥用）。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风险评估只写防护，不写门禁和账目</a:t>
            </a:r>
          </a:p>
          <a:p>
            <a:pPr>
              <a:spcAft>
                <a:spcPts val="1000"/>
              </a:spcAft>
            </a:pPr>
            <a:r>
              <a:rPr sz="1500">
                <a:solidFill>
                  <a:srgbClr val="222B33"/>
                </a:solidFill>
                <a:latin typeface="Microsoft YaHei"/>
              </a:rPr>
              <a:t>▪ 把安保措施细节发到公开网络上</a:t>
            </a:r>
          </a:p>
        </p:txBody>
      </p:sp>
    </p:spTree>
  </p:cSld>
  <p:clrMapOvr>
    <a:masterClrMapping/>
  </p:clrMapOvr>
</p:sld>
</file>

<file path=ppt/slides/slide5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083 · 生物安保与两用研究</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物理安保：门禁不外借，不尾随</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083 生物安保与两用研究</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门禁卡不外借，不让人尾随</a:t>
            </a:r>
          </a:p>
          <a:p>
            <a:pPr>
              <a:spcAft>
                <a:spcPts val="1000"/>
              </a:spcAft>
            </a:pPr>
            <a:r>
              <a:rPr sz="1700">
                <a:solidFill>
                  <a:srgbClr val="222B33"/>
                </a:solidFill>
                <a:latin typeface="Microsoft YaHei"/>
              </a:rPr>
              <a:t>▪ 密码不写墙上，不告诉别人</a:t>
            </a:r>
          </a:p>
          <a:p>
            <a:pPr>
              <a:spcAft>
                <a:spcPts val="1000"/>
              </a:spcAft>
            </a:pPr>
            <a:r>
              <a:rPr sz="1700">
                <a:solidFill>
                  <a:srgbClr val="222B33"/>
                </a:solidFill>
                <a:latin typeface="Microsoft YaHei"/>
              </a:rPr>
              <a:t>▪ 访客登记，全程有人陪同</a:t>
            </a:r>
          </a:p>
          <a:p>
            <a:pPr>
              <a:spcAft>
                <a:spcPts val="1000"/>
              </a:spcAft>
            </a:pPr>
            <a:r>
              <a:rPr sz="1700">
                <a:solidFill>
                  <a:srgbClr val="222B33"/>
                </a:solidFill>
                <a:latin typeface="Microsoft YaHei"/>
              </a:rPr>
              <a:t>▪ 卡丢了马上挂失；最后离开锁柜关门</a:t>
            </a:r>
          </a:p>
          <a:p>
            <a:pPr>
              <a:spcAft>
                <a:spcPts val="1000"/>
              </a:spcAft>
            </a:pPr>
            <a:r>
              <a:rPr sz="1700">
                <a:solidFill>
                  <a:srgbClr val="222B33"/>
                </a:solidFill>
                <a:latin typeface="Microsoft YaHei"/>
              </a:rPr>
              <a:t>▪ 标识要恰当，贴滥了就没人看</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物理安保是用门禁、门锁、上锁的柜子和冰箱等限制进入。个人要做到：门禁卡和钥匙不外借，密码不写在墙上、不告诉别人；刷卡进门后随手关门，不让陌生人跟着进来，也不替不认识的人开门；门禁卡丢了马上报告挂失。</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同学说忘带卡，就刷卡让他跟着进</a:t>
            </a:r>
          </a:p>
          <a:p>
            <a:pPr>
              <a:spcAft>
                <a:spcPts val="1000"/>
              </a:spcAft>
            </a:pPr>
            <a:r>
              <a:rPr sz="1500">
                <a:solidFill>
                  <a:srgbClr val="222B33"/>
                </a:solidFill>
                <a:latin typeface="Microsoft YaHei"/>
              </a:rPr>
              <a:t>▪ 为了方便把门禁密码贴在门边</a:t>
            </a:r>
          </a:p>
        </p:txBody>
      </p:sp>
    </p:spTree>
  </p:cSld>
  <p:clrMapOvr>
    <a:masterClrMapping/>
  </p:clrMapOvr>
</p:sld>
</file>

<file path=ppt/slides/slide5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083 · 生物安保与两用研究</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人员可靠：背景审核，防内部滥用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083 生物安保与两用研究</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接触高风险材料前，要审核和培训</a:t>
            </a:r>
          </a:p>
          <a:p>
            <a:pPr>
              <a:spcAft>
                <a:spcPts val="1000"/>
              </a:spcAft>
            </a:pPr>
            <a:r>
              <a:rPr sz="2000">
                <a:solidFill>
                  <a:srgbClr val="222B33"/>
                </a:solidFill>
                <a:latin typeface="Microsoft YaHei"/>
              </a:rPr>
              <a:t>▪ 留意反常领用、不登记、乱时段出入</a:t>
            </a:r>
          </a:p>
          <a:p>
            <a:pPr>
              <a:spcAft>
                <a:spcPts val="1000"/>
              </a:spcAft>
            </a:pPr>
            <a:r>
              <a:rPr sz="2000">
                <a:solidFill>
                  <a:srgbClr val="222B33"/>
                </a:solidFill>
                <a:latin typeface="Microsoft YaHei"/>
              </a:rPr>
              <a:t>▪ 关键材料，双人核对，互相监督</a:t>
            </a:r>
          </a:p>
          <a:p>
            <a:pPr>
              <a:spcAft>
                <a:spcPts val="1000"/>
              </a:spcAft>
            </a:pPr>
            <a:r>
              <a:rPr sz="2000">
                <a:solidFill>
                  <a:srgbClr val="222B33"/>
                </a:solidFill>
                <a:latin typeface="Microsoft YaHei"/>
              </a:rPr>
              <a:t>▪ 能认出未经授权的接触，及时报告</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人员可靠性是生物安保的重要一环。接触高风险材料的人员，按单位规定经过审核、培训和授权后才能进入和操作，权限随岗位变化及时调整，离岗时及时注销（离岗交接见第 007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碍于情面，不报告同事的反常领用</a:t>
            </a:r>
          </a:p>
          <a:p>
            <a:pPr>
              <a:spcAft>
                <a:spcPts val="1000"/>
              </a:spcAft>
            </a:pPr>
            <a:r>
              <a:rPr sz="1500">
                <a:solidFill>
                  <a:srgbClr val="222B33"/>
                </a:solidFill>
                <a:latin typeface="Microsoft YaHei"/>
              </a:rPr>
              <a:t>▪ 毕业离组后门禁和系统权限没有注销</a:t>
            </a:r>
          </a:p>
        </p:txBody>
      </p:sp>
    </p:spTree>
  </p:cSld>
  <p:clrMapOvr>
    <a:masterClrMapping/>
  </p:clrMapOvr>
</p:sld>
</file>

<file path=ppt/slides/slide5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083 · 生物安保与两用研究</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材料管控：账物相符，来源合法</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083 生物安保与两用研究</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高风险材料，专柜专锁专人管</a:t>
            </a:r>
          </a:p>
          <a:p>
            <a:pPr>
              <a:spcAft>
                <a:spcPts val="1000"/>
              </a:spcAft>
            </a:pPr>
            <a:r>
              <a:rPr sz="1700">
                <a:solidFill>
                  <a:srgbClr val="222B33"/>
                </a:solidFill>
                <a:latin typeface="Microsoft YaHei"/>
              </a:rPr>
              <a:t>▪ 入库、取用、转移、销毁，件件登记</a:t>
            </a:r>
          </a:p>
          <a:p>
            <a:pPr>
              <a:spcAft>
                <a:spcPts val="1000"/>
              </a:spcAft>
            </a:pPr>
            <a:r>
              <a:rPr sz="1700">
                <a:solidFill>
                  <a:srgbClr val="222B33"/>
                </a:solidFill>
                <a:latin typeface="Microsoft YaHei"/>
              </a:rPr>
              <a:t>▪ 定期盘点，账物相符，零差错</a:t>
            </a:r>
          </a:p>
          <a:p>
            <a:pPr>
              <a:spcAft>
                <a:spcPts val="1000"/>
              </a:spcAft>
            </a:pPr>
            <a:r>
              <a:rPr sz="1700">
                <a:solidFill>
                  <a:srgbClr val="222B33"/>
                </a:solidFill>
                <a:latin typeface="Microsoft YaHei"/>
              </a:rPr>
              <a:t>▪ 转移要书面交接，职责清楚可问责</a:t>
            </a:r>
          </a:p>
          <a:p>
            <a:pPr>
              <a:spcAft>
                <a:spcPts val="1000"/>
              </a:spcAft>
            </a:pPr>
            <a:r>
              <a:rPr sz="1700">
                <a:solidFill>
                  <a:srgbClr val="222B33"/>
                </a:solidFill>
                <a:latin typeface="Microsoft YaHei"/>
              </a:rPr>
              <a:t>▪ 菌毒种从正规渠道来，不私下交换</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菌（毒）种、样本和毒素要锁好：高风险材料专柜专锁、专人管理；按《病原微生物实验室生物安全管理条例》（以现行文本为准），高致病性病原微生物菌（毒）种和样本的保藏、运输等要经过审批，管理极其严格，账和物必须一一对上，放错……</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取了样本不登记，想着“用完再补”</a:t>
            </a:r>
          </a:p>
          <a:p>
            <a:pPr>
              <a:spcAft>
                <a:spcPts val="1000"/>
              </a:spcAft>
            </a:pPr>
            <a:r>
              <a:rPr sz="1500">
                <a:solidFill>
                  <a:srgbClr val="222B33"/>
                </a:solidFill>
                <a:latin typeface="Microsoft YaHei"/>
              </a:rPr>
              <a:t>▪ 从别的课题组私下要一管菌株</a:t>
            </a:r>
          </a:p>
        </p:txBody>
      </p:sp>
    </p:spTree>
  </p:cSld>
  <p:clrMapOvr>
    <a:masterClrMapping/>
  </p:clrMapOvr>
</p:sld>
</file>

<file path=ppt/slides/slide5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083 · 生物安保与两用研究</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信息安全：不乱说、不乱发、锁屏</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083 生物安保与两用研究</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保藏了什么、放在哪，不随便说</a:t>
            </a:r>
          </a:p>
          <a:p>
            <a:pPr>
              <a:spcAft>
                <a:spcPts val="1000"/>
              </a:spcAft>
            </a:pPr>
            <a:r>
              <a:rPr sz="1700">
                <a:solidFill>
                  <a:srgbClr val="222B33"/>
                </a:solidFill>
                <a:latin typeface="Microsoft YaHei"/>
              </a:rPr>
              <a:t>▪ 样本柜和门禁，不拍照乱发</a:t>
            </a:r>
          </a:p>
          <a:p>
            <a:pPr>
              <a:spcAft>
                <a:spcPts val="1000"/>
              </a:spcAft>
            </a:pPr>
            <a:r>
              <a:rPr sz="1700">
                <a:solidFill>
                  <a:srgbClr val="222B33"/>
                </a:solidFill>
                <a:latin typeface="Microsoft YaHei"/>
              </a:rPr>
              <a:t>▪ 陌生链接、附件，不点不开</a:t>
            </a:r>
          </a:p>
          <a:p>
            <a:pPr>
              <a:spcAft>
                <a:spcPts val="1000"/>
              </a:spcAft>
            </a:pPr>
            <a:r>
              <a:rPr sz="1700">
                <a:solidFill>
                  <a:srgbClr val="222B33"/>
                </a:solidFill>
                <a:latin typeface="Microsoft YaHei"/>
              </a:rPr>
              <a:t>▪ 账号不共享，离开随手锁屏</a:t>
            </a:r>
          </a:p>
          <a:p>
            <a:pPr>
              <a:spcAft>
                <a:spcPts val="1000"/>
              </a:spcAft>
            </a:pPr>
            <a:r>
              <a:rPr sz="1700">
                <a:solidFill>
                  <a:srgbClr val="222B33"/>
                </a:solidFill>
                <a:latin typeface="Microsoft YaHei"/>
              </a:rPr>
              <a:t>▪ 数据设权限、做备份，按学校规定办</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信息安全是生物安保的另一层：菌种清单、保藏位置、安保措施和实验数据，都要保护。保藏了什么、放在哪里，不对无关人员说；样本柜、门禁、平面布局不拍照乱发到网上和群里；遇到可疑的打听，告诉老师和保卫处。</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在社交媒体上晒实验室样本柜和门禁照片</a:t>
            </a:r>
          </a:p>
          <a:p>
            <a:pPr>
              <a:spcAft>
                <a:spcPts val="1000"/>
              </a:spcAft>
            </a:pPr>
            <a:r>
              <a:rPr sz="1500">
                <a:solidFill>
                  <a:srgbClr val="222B33"/>
                </a:solidFill>
                <a:latin typeface="Microsoft YaHei"/>
              </a:rPr>
              <a:t>▪ 全组共用一个账号，密码贴在显示器上</a:t>
            </a:r>
          </a:p>
        </p:txBody>
      </p:sp>
    </p:spTree>
  </p:cSld>
  <p:clrMapOvr>
    <a:masterClrMapping/>
  </p:clrMapOvr>
</p:sld>
</file>

<file path=ppt/slides/slide5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083 · 生物安保与两用研究</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生物恐怖：故意害人，是重罪</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083 生物安保与两用研究</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生物恐怖是故意用病原或毒素制造伤害</a:t>
            </a:r>
          </a:p>
          <a:p>
            <a:pPr>
              <a:spcAft>
                <a:spcPts val="1000"/>
              </a:spcAft>
            </a:pPr>
            <a:r>
              <a:rPr sz="1700">
                <a:solidFill>
                  <a:srgbClr val="222B33"/>
                </a:solidFill>
                <a:latin typeface="Microsoft YaHei"/>
              </a:rPr>
              <a:t>▪ 目的是害人，制造大范围疾病和恐慌</a:t>
            </a:r>
          </a:p>
          <a:p>
            <a:pPr>
              <a:spcAft>
                <a:spcPts val="1000"/>
              </a:spcAft>
            </a:pPr>
            <a:r>
              <a:rPr sz="1700">
                <a:solidFill>
                  <a:srgbClr val="222B33"/>
                </a:solidFill>
                <a:latin typeface="Microsoft YaHei"/>
              </a:rPr>
              <a:t>▪ 实施者可能是个人、团体，甚至国家</a:t>
            </a:r>
          </a:p>
          <a:p>
            <a:pPr>
              <a:spcAft>
                <a:spcPts val="1000"/>
              </a:spcAft>
            </a:pPr>
            <a:r>
              <a:rPr sz="1700">
                <a:solidFill>
                  <a:srgbClr val="222B33"/>
                </a:solidFill>
                <a:latin typeface="Microsoft YaHei"/>
              </a:rPr>
              <a:t>▪ 恶意使用生物因子是重罪，绝不能碰</a:t>
            </a:r>
          </a:p>
          <a:p>
            <a:pPr>
              <a:spcAft>
                <a:spcPts val="1000"/>
              </a:spcAft>
            </a:pPr>
            <a:r>
              <a:rPr sz="1700">
                <a:solidFill>
                  <a:srgbClr val="222B33"/>
                </a:solidFill>
                <a:latin typeface="Microsoft YaHei"/>
              </a:rPr>
              <a:t>▪ 我们能做的，是识别和报告</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生物恐怖，是有人故意利用病原体或毒素制造伤害。细菌、病毒、毒素都可能被滥用；被重点关注的高危因子大致就分这三类，本课不讲具体名称和细节，只需记住它们极其危险、管控极严。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出于好奇在网上搜索、传播敏感技术细节</a:t>
            </a:r>
          </a:p>
          <a:p>
            <a:pPr>
              <a:spcAft>
                <a:spcPts val="1000"/>
              </a:spcAft>
            </a:pPr>
            <a:r>
              <a:rPr sz="1500">
                <a:solidFill>
                  <a:srgbClr val="222B33"/>
                </a:solidFill>
                <a:latin typeface="Microsoft YaHei"/>
              </a:rPr>
              <a:t>▪ 以为开玩笑说“拿去吓人”不算事</a:t>
            </a:r>
          </a:p>
        </p:txBody>
      </p:sp>
    </p:spTree>
  </p:cSld>
  <p:clrMapOvr>
    <a:masterClrMapping/>
  </p:clrMapOvr>
</p:sld>
</file>

<file path=ppt/slides/slide5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083 · 生物安保与两用研究</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可疑包裹和异常：不碰，立即报告</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083 生物安保与两用研究</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来历不明的包裹：不碰、不闻、不打开</a:t>
            </a:r>
          </a:p>
          <a:p>
            <a:pPr>
              <a:spcAft>
                <a:spcPts val="1000"/>
              </a:spcAft>
            </a:pPr>
            <a:r>
              <a:rPr sz="1700">
                <a:solidFill>
                  <a:srgbClr val="222B33"/>
                </a:solidFill>
                <a:latin typeface="Microsoft YaHei"/>
              </a:rPr>
              <a:t>▪ 离开现场，关好门，立刻报告</a:t>
            </a:r>
          </a:p>
          <a:p>
            <a:pPr>
              <a:spcAft>
                <a:spcPts val="1000"/>
              </a:spcAft>
            </a:pPr>
            <a:r>
              <a:rPr sz="1700">
                <a:solidFill>
                  <a:srgbClr val="222B33"/>
                </a:solidFill>
                <a:latin typeface="Microsoft YaHei"/>
              </a:rPr>
              <a:t>▪ 报负责人和保卫处，必要时打110</a:t>
            </a:r>
          </a:p>
          <a:p>
            <a:pPr>
              <a:spcAft>
                <a:spcPts val="1000"/>
              </a:spcAft>
            </a:pPr>
            <a:r>
              <a:rPr sz="1700">
                <a:solidFill>
                  <a:srgbClr val="222B33"/>
                </a:solidFill>
                <a:latin typeface="Microsoft YaHei"/>
              </a:rPr>
              <a:t>▪ 病例异常聚集、动物异常死亡，及时上报</a:t>
            </a:r>
          </a:p>
          <a:p>
            <a:pPr>
              <a:spcAft>
                <a:spcPts val="1000"/>
              </a:spcAft>
            </a:pPr>
            <a:r>
              <a:rPr sz="1700">
                <a:solidFill>
                  <a:srgbClr val="222B33"/>
                </a:solidFill>
                <a:latin typeface="Microsoft YaHei"/>
              </a:rPr>
              <a:t>▪ 觉得不对劲，如实报告，不私查不乱猜</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看到来历不明的包裹、信件，尤其是带有可疑粉末或液体的，不碰、不闻、不摇、不打开；让周围人离开，关好门，洗手；立刻报告实验室负责人和保卫处，必要时拨打 110 报警，等待专业人员处理。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好奇打开可疑包裹看看是什么</a:t>
            </a:r>
          </a:p>
          <a:p>
            <a:pPr>
              <a:spcAft>
                <a:spcPts val="1000"/>
              </a:spcAft>
            </a:pPr>
            <a:r>
              <a:rPr sz="1500">
                <a:solidFill>
                  <a:srgbClr val="222B33"/>
                </a:solidFill>
                <a:latin typeface="Microsoft YaHei"/>
              </a:rPr>
              <a:t>▪ 发现异常自己去“调查”，或在群里猜测议论</a:t>
            </a:r>
          </a:p>
        </p:txBody>
      </p:sp>
    </p:spTree>
  </p:cSld>
  <p:clrMapOvr>
    <a:masterClrMapping/>
  </p:clrMapOvr>
</p:sld>
</file>

<file path=ppt/slides/slide5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083 · 生物安保与两用研究</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不信谣不传谣，科普要准确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083 生物安保与两用研究</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恐慌本身，就是攻击的目标</a:t>
            </a:r>
          </a:p>
          <a:p>
            <a:pPr>
              <a:spcAft>
                <a:spcPts val="1000"/>
              </a:spcAft>
            </a:pPr>
            <a:r>
              <a:rPr sz="2000">
                <a:solidFill>
                  <a:srgbClr val="222B33"/>
                </a:solidFill>
                <a:latin typeface="Microsoft YaHei"/>
              </a:rPr>
              <a:t>▪ 不信谣、不传谣，听官方通报</a:t>
            </a:r>
          </a:p>
          <a:p>
            <a:pPr>
              <a:spcAft>
                <a:spcPts val="1000"/>
              </a:spcAft>
            </a:pPr>
            <a:r>
              <a:rPr sz="2000">
                <a:solidFill>
                  <a:srgbClr val="222B33"/>
                </a:solidFill>
                <a:latin typeface="Microsoft YaHei"/>
              </a:rPr>
              <a:t>▪ 对外科普不夸大，也不隐瞒</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制造恐慌本身就是生物恐怖的目标之一。遇到相关事件，不信谣、不传谣，以官方发布的信息为准，不转发未经核实的说法。</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转发来源不明的“内部消息”</a:t>
            </a:r>
          </a:p>
          <a:p>
            <a:pPr>
              <a:spcAft>
                <a:spcPts val="1000"/>
              </a:spcAft>
            </a:pPr>
            <a:r>
              <a:rPr sz="1500">
                <a:solidFill>
                  <a:srgbClr val="222B33"/>
                </a:solidFill>
                <a:latin typeface="Microsoft YaHei"/>
              </a:rPr>
              <a:t>▪ 科普时为吸引眼球夸大风险</a:t>
            </a:r>
          </a:p>
        </p:txBody>
      </p:sp>
    </p:spTree>
  </p:cSld>
  <p:clrMapOvr>
    <a:masterClrMapping/>
  </p:clrMapOvr>
</p:sld>
</file>

<file path=ppt/slides/slide5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083 · 生物安保与两用研究</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两用研究与科研伦理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083 生物安保与两用研究</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成果能救人也可能被误用，叫两用研究</a:t>
            </a:r>
          </a:p>
          <a:p>
            <a:pPr>
              <a:spcAft>
                <a:spcPts val="1000"/>
              </a:spcAft>
            </a:pPr>
            <a:r>
              <a:rPr sz="1700">
                <a:solidFill>
                  <a:srgbClr val="222B33"/>
                </a:solidFill>
                <a:latin typeface="Microsoft YaHei"/>
              </a:rPr>
              <a:t>▪ 可能两用的研究，事先审查</a:t>
            </a:r>
          </a:p>
          <a:p>
            <a:pPr>
              <a:spcAft>
                <a:spcPts val="1000"/>
              </a:spcAft>
            </a:pPr>
            <a:r>
              <a:rPr sz="1700">
                <a:solidFill>
                  <a:srgbClr val="222B33"/>
                </a:solidFill>
                <a:latin typeface="Microsoft YaHei"/>
              </a:rPr>
              <a:t>▪ 研究只能用于造福人和环境</a:t>
            </a:r>
          </a:p>
          <a:p>
            <a:pPr>
              <a:spcAft>
                <a:spcPts val="1000"/>
              </a:spcAft>
            </a:pPr>
            <a:r>
              <a:rPr sz="1700">
                <a:solidFill>
                  <a:srgbClr val="222B33"/>
                </a:solidFill>
                <a:latin typeface="Microsoft YaHei"/>
              </a:rPr>
              <a:t>▪ 拿不准先停下报告；可疑索要也报告</a:t>
            </a:r>
          </a:p>
          <a:p>
            <a:pPr>
              <a:spcAft>
                <a:spcPts val="1000"/>
              </a:spcAft>
            </a:pPr>
            <a:r>
              <a:rPr sz="1700">
                <a:solidFill>
                  <a:srgbClr val="222B33"/>
                </a:solidFill>
                <a:latin typeface="Microsoft YaHei"/>
              </a:rPr>
              <a:t>▪ 动物实验也先过伦理审批，告知全组</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有的研究成果既可以用来防病救人，也可能被误用、滥用来造成危害，这类研究叫两用研究。做科研要遵守法律法规和行为准则，讲生物伦理，也要想到成果可能被怎样误用。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认为“只是基础研究”，不需要考虑误用</a:t>
            </a:r>
          </a:p>
          <a:p>
            <a:pPr>
              <a:spcAft>
                <a:spcPts val="1000"/>
              </a:spcAft>
            </a:pPr>
            <a:r>
              <a:rPr sz="1500">
                <a:solidFill>
                  <a:srgbClr val="222B33"/>
                </a:solidFill>
                <a:latin typeface="Microsoft YaHei"/>
              </a:rPr>
              <a:t>▪ 把未发表的敏感数据随意发给陌生索要者</a:t>
            </a:r>
          </a:p>
        </p:txBody>
      </p:sp>
    </p:spTree>
  </p:cSld>
  <p:clrMapOvr>
    <a:masterClrMapping/>
  </p:clrMapOvr>
</p:sld>
</file>

<file path=ppt/slides/slide5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083 · 生物安保与两用研究</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人的样本：伦理审查、知情同意、遗传资源</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083 生物安保与两用研究</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用人的样本做研究，先过伦理审查</a:t>
            </a:r>
          </a:p>
          <a:p>
            <a:pPr>
              <a:spcAft>
                <a:spcPts val="1000"/>
              </a:spcAft>
            </a:pPr>
            <a:r>
              <a:rPr sz="2000">
                <a:solidFill>
                  <a:srgbClr val="222B33"/>
                </a:solidFill>
                <a:latin typeface="Microsoft YaHei"/>
              </a:rPr>
              <a:t>▪ 要有本人的知情同意</a:t>
            </a:r>
          </a:p>
          <a:p>
            <a:pPr>
              <a:spcAft>
                <a:spcPts val="1000"/>
              </a:spcAft>
            </a:pPr>
            <a:r>
              <a:rPr sz="2000">
                <a:solidFill>
                  <a:srgbClr val="222B33"/>
                </a:solidFill>
                <a:latin typeface="Microsoft YaHei"/>
              </a:rPr>
              <a:t>▪ 人类遗传资源，按国家规定管理</a:t>
            </a:r>
          </a:p>
          <a:p>
            <a:pPr>
              <a:spcAft>
                <a:spcPts val="1000"/>
              </a:spcAft>
            </a:pPr>
            <a:r>
              <a:rPr sz="2000">
                <a:solidFill>
                  <a:srgbClr val="222B33"/>
                </a:solidFill>
                <a:latin typeface="Microsoft YaHei"/>
              </a:rPr>
              <a:t>▪ 病人信息保密：加密、签协议、不拍照</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用病人的临床样本或其他人体样本做研究，按《涉及人的生命科学和医学研究伦理审查办法》（以现行文本为准）先经伦理委员会审查批准，并取得受试者（本人或监护人）的知情同意。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先用剩余临床样本做实验，再补伦理审查</a:t>
            </a:r>
          </a:p>
          <a:p>
            <a:pPr>
              <a:spcAft>
                <a:spcPts val="1000"/>
              </a:spcAft>
            </a:pPr>
            <a:r>
              <a:rPr sz="1500">
                <a:solidFill>
                  <a:srgbClr val="222B33"/>
                </a:solidFill>
                <a:latin typeface="Microsoft YaHei"/>
              </a:rPr>
              <a:t>▪ 把带病人姓名的样本照片发到群里</a:t>
            </a:r>
          </a:p>
        </p:txBody>
      </p:sp>
    </p:spTree>
  </p:cSld>
  <p:clrMapOvr>
    <a:masterClrMapping/>
  </p:clrMapOvr>
</p:sld>
</file>

<file path=ppt/slides/slide5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083 · 生物安保与两用研究</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材料丢失被盗，立即报告</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083 生物安保与两用研究</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材料丢失、被盗，要立即报告</a:t>
            </a:r>
          </a:p>
          <a:p>
            <a:pPr>
              <a:spcAft>
                <a:spcPts val="1000"/>
              </a:spcAft>
            </a:pPr>
            <a:r>
              <a:rPr sz="2000">
                <a:solidFill>
                  <a:srgbClr val="222B33"/>
                </a:solidFill>
                <a:latin typeface="Microsoft YaHei"/>
              </a:rPr>
              <a:t>▪ 逐级报负责人、学院、学校和保卫处</a:t>
            </a:r>
          </a:p>
          <a:p>
            <a:pPr>
              <a:spcAft>
                <a:spcPts val="1000"/>
              </a:spcAft>
            </a:pPr>
            <a:r>
              <a:rPr sz="2000">
                <a:solidFill>
                  <a:srgbClr val="222B33"/>
                </a:solidFill>
                <a:latin typeface="Microsoft YaHei"/>
              </a:rPr>
              <a:t>▪ 如实记录，不瞒着，按规定处理</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盘点时发现菌（毒）种、样本、转基因材料少了，或者怀疑被盗、被调换，要立即报告实验室负责人，再逐级报学院、学校主管部门和保卫处，不能瞒着、不能自己悄悄补账。</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发现少了一管，以为是自己记错就不报告</a:t>
            </a:r>
          </a:p>
          <a:p>
            <a:pPr>
              <a:spcAft>
                <a:spcPts val="1000"/>
              </a:spcAft>
            </a:pPr>
            <a:r>
              <a:rPr sz="1500">
                <a:solidFill>
                  <a:srgbClr val="222B33"/>
                </a:solidFill>
                <a:latin typeface="Microsoft YaHei"/>
              </a:rPr>
              <a:t>▪ 偷偷补登记，掩盖丢失</a:t>
            </a:r>
          </a:p>
        </p:txBody>
      </p:sp>
    </p:spTree>
  </p:cSld>
  <p:clrMapOvr>
    <a:masterClrMapping/>
  </p:clrMapOvr>
</p:sld>
</file>

<file path=ppt/slides/slide5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083 · 生物安保与两用研究</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083 生物安保与两用研究</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生物安全与生物安保的主要区别是：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没有区别</a:t>
            </a:r>
          </a:p>
          <a:p>
            <a:pPr algn="l"/>
            <a:r>
              <a:rPr sz="1500" b="0">
                <a:solidFill>
                  <a:srgbClr val="222B33"/>
                </a:solidFill>
                <a:latin typeface="Microsoft YaHei"/>
              </a:rPr>
              <a:t>B. 生物安全防意外，生物安保防丢失、被盗和故意滥用</a:t>
            </a:r>
          </a:p>
          <a:p>
            <a:pPr algn="l"/>
            <a:r>
              <a:rPr sz="1500" b="0">
                <a:solidFill>
                  <a:srgbClr val="222B33"/>
                </a:solidFill>
                <a:latin typeface="Microsoft YaHei"/>
              </a:rPr>
              <a:t>C. 生物安保只管消防</a:t>
            </a:r>
          </a:p>
          <a:p>
            <a:pPr algn="l"/>
            <a:r>
              <a:rPr sz="1500" b="0">
                <a:solidFill>
                  <a:srgbClr val="222B33"/>
                </a:solidFill>
                <a:latin typeface="Microsoft YaHei"/>
              </a:rPr>
              <a:t>D. 生物安全只管门禁</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判断：同学说忘带门禁卡，可以刷卡让他跟着进入实验室。</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5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083 · 生物安保与两用研究</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083 生物安保与两用研究</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收到一个来历不明、有可疑粉末的包裹，正确的做法是：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打开看看</a:t>
            </a:r>
          </a:p>
          <a:p>
            <a:pPr algn="l"/>
            <a:r>
              <a:rPr sz="1500" b="0">
                <a:solidFill>
                  <a:srgbClr val="222B33"/>
                </a:solidFill>
                <a:latin typeface="Microsoft YaHei"/>
              </a:rPr>
              <a:t>B. 拿到通风柜里拆</a:t>
            </a:r>
          </a:p>
          <a:p>
            <a:pPr algn="l"/>
            <a:r>
              <a:rPr sz="1500" b="0">
                <a:solidFill>
                  <a:srgbClr val="222B33"/>
                </a:solidFill>
                <a:latin typeface="Microsoft YaHei"/>
              </a:rPr>
              <a:t>C. 不碰不闻不打开，离开并关门，立即报告负责人和保卫处，必要时打110</a:t>
            </a:r>
          </a:p>
          <a:p>
            <a:pPr algn="l"/>
            <a:r>
              <a:rPr sz="1500" b="0">
                <a:solidFill>
                  <a:srgbClr val="222B33"/>
                </a:solidFill>
                <a:latin typeface="Microsoft YaHei"/>
              </a:rPr>
              <a:t>D. 扔进垃圾桶</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判断：用医院剩余的病人样本做研究，只要不公开病人姓名，就不需要伦理审查。</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5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083 · 生物安保与两用研究</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083 生物安保与两用研究</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简答：什么是两用研究？如果拿不准自己的课题是否涉及两用风险，应该怎么做？</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盘点时发现少了一管菌种，应该：</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悄悄补登记</a:t>
            </a:r>
          </a:p>
          <a:p>
            <a:pPr algn="l"/>
            <a:r>
              <a:rPr sz="1500" b="0">
                <a:solidFill>
                  <a:srgbClr val="222B33"/>
                </a:solidFill>
                <a:latin typeface="Microsoft YaHei"/>
              </a:rPr>
              <a:t>B. 等下次盘点再说</a:t>
            </a:r>
          </a:p>
          <a:p>
            <a:pPr algn="l"/>
            <a:r>
              <a:rPr sz="1500" b="0">
                <a:solidFill>
                  <a:srgbClr val="222B33"/>
                </a:solidFill>
                <a:latin typeface="Microsoft YaHei"/>
              </a:rPr>
              <a:t>C. 立即逐级报告负责人、学院、学校和保卫处，如实记录</a:t>
            </a:r>
          </a:p>
          <a:p>
            <a:pPr algn="l"/>
            <a:r>
              <a:rPr sz="1500" b="0">
                <a:solidFill>
                  <a:srgbClr val="222B33"/>
                </a:solidFill>
                <a:latin typeface="Microsoft YaHei"/>
              </a:rPr>
              <a:t>D. 自己找找就算了</a:t>
            </a:r>
          </a:p>
        </p:txBody>
      </p:sp>
    </p:spTree>
  </p:cSld>
  <p:clrMapOvr>
    <a:masterClrMapping/>
  </p:clrMapOvr>
</p:sld>
</file>

<file path=ppt/slides/slide597.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生物安全防意外，生物安保防故意</a:t>
            </a:r>
          </a:p>
          <a:p>
            <a:pPr>
              <a:spcAft>
                <a:spcPts val="800"/>
              </a:spcAft>
            </a:pPr>
            <a:r>
              <a:rPr sz="1500">
                <a:solidFill>
                  <a:srgbClr val="FFFFFF"/>
                </a:solidFill>
                <a:latin typeface="Microsoft YaHei"/>
              </a:rPr>
              <a:t>▪ K2  中文的“生物安全”管得更宽</a:t>
            </a:r>
          </a:p>
          <a:p>
            <a:pPr>
              <a:spcAft>
                <a:spcPts val="800"/>
              </a:spcAft>
            </a:pPr>
            <a:r>
              <a:rPr sz="1500">
                <a:solidFill>
                  <a:srgbClr val="FFFFFF"/>
                </a:solidFill>
                <a:latin typeface="Microsoft YaHei"/>
              </a:rPr>
              <a:t>▪ K3  各自保护什么、靠什么</a:t>
            </a:r>
          </a:p>
          <a:p>
            <a:pPr>
              <a:spcAft>
                <a:spcPts val="800"/>
              </a:spcAft>
            </a:pPr>
            <a:r>
              <a:rPr sz="1500">
                <a:solidFill>
                  <a:srgbClr val="FFFFFF"/>
                </a:solidFill>
                <a:latin typeface="Microsoft YaHei"/>
              </a:rPr>
              <a:t>▪ K4  两手都要硬，人人有责</a:t>
            </a:r>
          </a:p>
          <a:p>
            <a:pPr>
              <a:spcAft>
                <a:spcPts val="800"/>
              </a:spcAft>
            </a:pPr>
            <a:r>
              <a:rPr sz="1500">
                <a:solidFill>
                  <a:srgbClr val="FFFFFF"/>
                </a:solidFill>
                <a:latin typeface="Microsoft YaHei"/>
              </a:rPr>
              <a:t>▪ K5  生物安保：护人、动植物和环境</a:t>
            </a:r>
          </a:p>
          <a:p>
            <a:pPr>
              <a:spcAft>
                <a:spcPts val="800"/>
              </a:spcAft>
            </a:pPr>
            <a:r>
              <a:rPr sz="1500">
                <a:solidFill>
                  <a:srgbClr val="FFFFFF"/>
                </a:solidFill>
                <a:latin typeface="Microsoft YaHei"/>
              </a:rPr>
              <a:t>▪ K6  生物安保的六块工作</a:t>
            </a:r>
          </a:p>
          <a:p>
            <a:pPr>
              <a:spcAft>
                <a:spcPts val="800"/>
              </a:spcAft>
            </a:pPr>
            <a:r>
              <a:rPr sz="1500">
                <a:solidFill>
                  <a:srgbClr val="FFFFFF"/>
                </a:solidFill>
                <a:latin typeface="Microsoft YaHei"/>
              </a:rPr>
              <a:t>▪ K7  病原是资产：评估被盗被滥用的风险</a:t>
            </a:r>
          </a:p>
          <a:p>
            <a:pPr>
              <a:spcAft>
                <a:spcPts val="800"/>
              </a:spcAft>
            </a:pPr>
            <a:r>
              <a:rPr sz="1500">
                <a:solidFill>
                  <a:srgbClr val="FFFFFF"/>
                </a:solidFill>
                <a:latin typeface="Microsoft YaHei"/>
              </a:rPr>
              <a:t>▪ K8  物理安保：门禁不外借，不尾随</a:t>
            </a:r>
          </a:p>
          <a:p>
            <a:pPr>
              <a:spcAft>
                <a:spcPts val="800"/>
              </a:spcAft>
            </a:pPr>
            <a:r>
              <a:rPr sz="1500">
                <a:solidFill>
                  <a:srgbClr val="FFFFFF"/>
                </a:solidFill>
                <a:latin typeface="Microsoft YaHei"/>
              </a:rPr>
              <a:t>▪ K9  人员可靠：背景审核，防内部滥用</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K10  材料管控：账物相符，来源合法</a:t>
            </a:r>
          </a:p>
          <a:p>
            <a:pPr>
              <a:spcAft>
                <a:spcPts val="800"/>
              </a:spcAft>
            </a:pPr>
            <a:r>
              <a:rPr sz="1500">
                <a:solidFill>
                  <a:srgbClr val="FFFFFF"/>
                </a:solidFill>
                <a:latin typeface="Microsoft YaHei"/>
              </a:rPr>
              <a:t>▪ K11  信息安全：不乱说、不乱发、锁屏</a:t>
            </a:r>
          </a:p>
          <a:p>
            <a:pPr>
              <a:spcAft>
                <a:spcPts val="800"/>
              </a:spcAft>
            </a:pPr>
            <a:r>
              <a:rPr sz="1500">
                <a:solidFill>
                  <a:srgbClr val="FFFFFF"/>
                </a:solidFill>
                <a:latin typeface="Microsoft YaHei"/>
              </a:rPr>
              <a:t>▪ K12  生物恐怖：故意害人，是重罪</a:t>
            </a:r>
          </a:p>
          <a:p>
            <a:pPr>
              <a:spcAft>
                <a:spcPts val="800"/>
              </a:spcAft>
            </a:pPr>
            <a:r>
              <a:rPr sz="1500">
                <a:solidFill>
                  <a:srgbClr val="FFFFFF"/>
                </a:solidFill>
                <a:latin typeface="Microsoft YaHei"/>
              </a:rPr>
              <a:t>▪ K13  可疑包裹和异常：不碰，立即报告</a:t>
            </a:r>
          </a:p>
          <a:p>
            <a:pPr>
              <a:spcAft>
                <a:spcPts val="800"/>
              </a:spcAft>
            </a:pPr>
            <a:r>
              <a:rPr sz="1500">
                <a:solidFill>
                  <a:srgbClr val="FFFFFF"/>
                </a:solidFill>
                <a:latin typeface="Microsoft YaHei"/>
              </a:rPr>
              <a:t>▪ K14  不信谣不传谣，科普要准确</a:t>
            </a:r>
          </a:p>
          <a:p>
            <a:pPr>
              <a:spcAft>
                <a:spcPts val="800"/>
              </a:spcAft>
            </a:pPr>
            <a:r>
              <a:rPr sz="1500">
                <a:solidFill>
                  <a:srgbClr val="FFFFFF"/>
                </a:solidFill>
                <a:latin typeface="Microsoft YaHei"/>
              </a:rPr>
              <a:t>▪ K15  两用研究与科研伦理</a:t>
            </a:r>
          </a:p>
          <a:p>
            <a:pPr>
              <a:spcAft>
                <a:spcPts val="800"/>
              </a:spcAft>
            </a:pPr>
            <a:r>
              <a:rPr sz="1500">
                <a:solidFill>
                  <a:srgbClr val="FFFFFF"/>
                </a:solidFill>
                <a:latin typeface="Microsoft YaHei"/>
              </a:rPr>
              <a:t>▪ K16  人的样本：伦理审查、知情同意、遗传资源</a:t>
            </a:r>
          </a:p>
          <a:p>
            <a:pPr>
              <a:spcAft>
                <a:spcPts val="800"/>
              </a:spcAft>
            </a:pPr>
            <a:r>
              <a:rPr sz="1500">
                <a:solidFill>
                  <a:srgbClr val="FFFFFF"/>
                </a:solidFill>
                <a:latin typeface="Microsoft YaHei"/>
              </a:rPr>
              <a:t>▪ K17  材料丢失被盗，立即报告</a:t>
            </a:r>
          </a:p>
        </p:txBody>
      </p:sp>
    </p:spTree>
  </p:cSld>
  <p:clrMapOvr>
    <a:masterClrMapping/>
  </p:clrMapOvr>
</p:sld>
</file>

<file path=ppt/slides/slide598.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084</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实验动物与媒介生物</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74 镜）　适用对象：从事动物实验、实验动物饲养管理、昆虫（含蚊等媒介昆虫）饲养与研究的医学、药学、生命科学、农学、兽医等专业本科生、研究生和教职工（必修）；参加野外实习、外出采样和赴虫媒病流行区出差的师生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5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084 · 实验动物与媒介生物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084 实验动物与媒介生物</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能说出动物实验的主要风险（咬伤抓伤、人兽共患病、过敏）和实验动物依法管理的要点（许可、伦理审查、动物福利、按风险进入相应级别动物实验室）。</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能做到培训上岗、妥善保定、做好防护，被咬伤抓伤时冲洗消毒、报告就医；养虫室双门纱网、查身清点，实验生物不放生不乱丢，异常病死动物不碰并报告。</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能说出虫媒病靠叮咬传播、常见的疟疾、登革热、基孔肯雅热等以发热为主要表现，能做到防蚊（清积水、纱窗蚊帐、驱避剂）、不乱吃药。</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能做到外出归来发热及时就医并主动说明旅行史，告诉导师，如实配合流行病学调查。</a:t>
            </a:r>
          </a:p>
        </p:txBody>
      </p:sp>
    </p:spTree>
  </p:cSld>
  <p:clrMapOvr>
    <a:masterClrMapping/>
  </p:clrMapOvr>
</p:sld>
</file>

<file path=ppt/slides/slide6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084 · 实验动物与媒介生物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084 实验动物与媒介生物</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《实验动物管理条例》（以现行文本为准）：实验动物的饲育、检疫、使用和从业人员管理</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14925（以现行文本为准）《实验动物 环境及设施》</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35892-2018（以现行文本为准）《实验动物 福利伦理审查指南》</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生物安全通用要求》：动物生物安全实验室（ABSL）的分级与要求</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《病原微生物实验室生物安全管理条例》（以现行文本为准）：感染性动物实验在相应级别的实验室进行</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《中华人民共和国传染病防治法》（以现行文本为准）：传染病由医疗机构依法报告，个人如实提供情况、配合调查</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《中华人民共和国动物防疫法》（以现行文本为准）：发现动物异常死亡等疫情线索及时报告</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本单位实验动物伦理（福利）委员会和动物实验平台管理规定（以本校规定为准）</a:t>
            </a:r>
          </a:p>
        </p:txBody>
      </p:sp>
    </p:spTree>
  </p:cSld>
  <p:clrMapOvr>
    <a:masterClrMapping/>
  </p:clrMapOvr>
</p:sld>
</file>

<file path=ppt/slides/slide60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084 · 实验动物与媒介生物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和动物打交道，先想风险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084 实验动物与媒介生物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动物多大，会不会咬人、抓人</a:t>
            </a:r>
          </a:p>
          <a:p>
            <a:pPr>
              <a:spcAft>
                <a:spcPts val="1000"/>
              </a:spcAft>
            </a:pPr>
            <a:r>
              <a:rPr sz="1700">
                <a:solidFill>
                  <a:srgbClr val="222B33"/>
                </a:solidFill>
                <a:latin typeface="Microsoft YaHei"/>
              </a:rPr>
              <a:t>▪ 是否携带人兽共患的病原</a:t>
            </a:r>
          </a:p>
          <a:p>
            <a:pPr>
              <a:spcAft>
                <a:spcPts val="1000"/>
              </a:spcAft>
            </a:pPr>
            <a:r>
              <a:rPr sz="1700">
                <a:solidFill>
                  <a:srgbClr val="222B33"/>
                </a:solidFill>
                <a:latin typeface="Microsoft YaHei"/>
              </a:rPr>
              <a:t>▪ 在野外还是实验室，从哪儿感染</a:t>
            </a:r>
          </a:p>
          <a:p>
            <a:pPr>
              <a:spcAft>
                <a:spcPts val="1000"/>
              </a:spcAft>
            </a:pPr>
            <a:r>
              <a:rPr sz="1700">
                <a:solidFill>
                  <a:srgbClr val="222B33"/>
                </a:solidFill>
                <a:latin typeface="Microsoft YaHei"/>
              </a:rPr>
              <a:t>▪ 大动物要专门的防护和设施</a:t>
            </a:r>
          </a:p>
          <a:p>
            <a:pPr>
              <a:spcAft>
                <a:spcPts val="1000"/>
              </a:spcAft>
            </a:pPr>
            <a:r>
              <a:rPr sz="1700">
                <a:solidFill>
                  <a:srgbClr val="222B33"/>
                </a:solidFill>
                <a:latin typeface="Microsoft YaHei"/>
              </a:rPr>
              <a:t>▪ 被咬抓伤：冲洗、消毒、报告、就医</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动物实验和动物样本的风险评估，比普通微生物实验多几个问题：动物有多大、多有力，会不会咬人、抓人、踢人；是否可能携带人兽共患的病原（尤其是非人灵长类、野外捕获的动物和来源不明的动物）；工作在野外还是在实验室；可能从哪条……</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被小鼠咬了一口觉得没事，不冲洗、不报告</a:t>
            </a:r>
          </a:p>
          <a:p>
            <a:pPr>
              <a:spcAft>
                <a:spcPts val="1000"/>
              </a:spcAft>
            </a:pPr>
            <a:r>
              <a:rPr sz="1500">
                <a:solidFill>
                  <a:srgbClr val="222B33"/>
                </a:solidFill>
                <a:latin typeface="Microsoft YaHei"/>
              </a:rPr>
              <a:t>▪ 认为实验动物都是“干净”的，不做防护</a:t>
            </a:r>
          </a:p>
        </p:txBody>
      </p:sp>
    </p:spTree>
  </p:cSld>
  <p:clrMapOvr>
    <a:masterClrMapping/>
  </p:clrMapOvr>
</p:sld>
</file>

<file path=ppt/slides/slide60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084 · 实验动物与媒介生物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培训上岗，妥善保定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084 实验动物与媒介生物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动物实验人员须培训合格上岗</a:t>
            </a:r>
          </a:p>
          <a:p>
            <a:pPr>
              <a:spcAft>
                <a:spcPts val="1000"/>
              </a:spcAft>
            </a:pPr>
            <a:r>
              <a:rPr sz="2000">
                <a:solidFill>
                  <a:srgbClr val="222B33"/>
                </a:solidFill>
                <a:latin typeface="Microsoft YaHei"/>
              </a:rPr>
              <a:t>▪ 动物妥善保定，必要时两人配合</a:t>
            </a:r>
          </a:p>
          <a:p>
            <a:pPr>
              <a:spcAft>
                <a:spcPts val="1000"/>
              </a:spcAft>
            </a:pPr>
            <a:r>
              <a:rPr sz="2000">
                <a:solidFill>
                  <a:srgbClr val="222B33"/>
                </a:solidFill>
                <a:latin typeface="Microsoft YaHei"/>
              </a:rPr>
              <a:t>▪ 不要一个人慌忙硬来</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从事动物实验的人员，要经过实验动物从业人员培训和本校规定的考核，合格后才能进入动物设施、独立操作；涉及感染性材料的，还要经过相应的生物安全培训。</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没有培训就跟着师兄进动物房操作</a:t>
            </a:r>
          </a:p>
          <a:p>
            <a:pPr>
              <a:spcAft>
                <a:spcPts val="1000"/>
              </a:spcAft>
            </a:pPr>
            <a:r>
              <a:rPr sz="1500">
                <a:solidFill>
                  <a:srgbClr val="222B33"/>
                </a:solidFill>
                <a:latin typeface="Microsoft YaHei"/>
              </a:rPr>
              <a:t>▪ 一只手抓动物，另一只手打针</a:t>
            </a:r>
          </a:p>
        </p:txBody>
      </p:sp>
    </p:spTree>
  </p:cSld>
  <p:clrMapOvr>
    <a:masterClrMapping/>
  </p:clrMapOvr>
</p:sld>
</file>

<file path=ppt/slides/slide60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084 · 实验动物与媒介生物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动物过敏要防护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084 实验动物与媒介生物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毛屑和尿液，会引起过敏</a:t>
            </a:r>
          </a:p>
          <a:p>
            <a:pPr>
              <a:spcAft>
                <a:spcPts val="1000"/>
              </a:spcAft>
            </a:pPr>
            <a:r>
              <a:rPr sz="2000">
                <a:solidFill>
                  <a:srgbClr val="222B33"/>
                </a:solidFill>
                <a:latin typeface="Microsoft YaHei"/>
              </a:rPr>
              <a:t>▪ 戴口罩手套，在通风设备里操作</a:t>
            </a:r>
          </a:p>
          <a:p>
            <a:pPr>
              <a:spcAft>
                <a:spcPts val="1000"/>
              </a:spcAft>
            </a:pPr>
            <a:r>
              <a:rPr sz="2000">
                <a:solidFill>
                  <a:srgbClr val="222B33"/>
                </a:solidFill>
                <a:latin typeface="Microsoft YaHei"/>
              </a:rPr>
              <a:t>▪ 有过敏症状，及时就医，告诉老师</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实验动物的毛屑、皮屑、唾液和尿液中的蛋白质，会随换笼、清扫飘到空气中，引起打喷嚏、流涕、眼痒、皮疹甚至哮喘等过敏反应，接触时间越长越容易发生。</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在开放台面上抖落垫料、清扫笼具</a:t>
            </a:r>
          </a:p>
          <a:p>
            <a:pPr>
              <a:spcAft>
                <a:spcPts val="1000"/>
              </a:spcAft>
            </a:pPr>
            <a:r>
              <a:rPr sz="1500">
                <a:solidFill>
                  <a:srgbClr val="222B33"/>
                </a:solidFill>
                <a:latin typeface="Microsoft YaHei"/>
              </a:rPr>
              <a:t>▪ 有过敏症状硬扛，不告诉老师</a:t>
            </a:r>
          </a:p>
        </p:txBody>
      </p:sp>
    </p:spTree>
  </p:cSld>
  <p:clrMapOvr>
    <a:masterClrMapping/>
  </p:clrMapOvr>
</p:sld>
</file>

<file path=ppt/slides/slide60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084 · 实验动物与媒介生物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实验动物依法管理：许可、伦理、福利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084 实验动物与媒介生物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实验动物依法管理</a:t>
            </a:r>
          </a:p>
          <a:p>
            <a:pPr>
              <a:spcAft>
                <a:spcPts val="1000"/>
              </a:spcAft>
            </a:pPr>
            <a:r>
              <a:rPr sz="1700">
                <a:solidFill>
                  <a:srgbClr val="222B33"/>
                </a:solidFill>
                <a:latin typeface="Microsoft YaHei"/>
              </a:rPr>
              <a:t>▪ 动物来源合格，在合格设施里饲养</a:t>
            </a:r>
          </a:p>
          <a:p>
            <a:pPr>
              <a:spcAft>
                <a:spcPts val="1000"/>
              </a:spcAft>
            </a:pPr>
            <a:r>
              <a:rPr sz="1700">
                <a:solidFill>
                  <a:srgbClr val="222B33"/>
                </a:solidFill>
                <a:latin typeface="Microsoft YaHei"/>
              </a:rPr>
              <a:t>▪ 实验方案先过伦理审查</a:t>
            </a:r>
          </a:p>
          <a:p>
            <a:pPr>
              <a:spcAft>
                <a:spcPts val="1000"/>
              </a:spcAft>
            </a:pPr>
            <a:r>
              <a:rPr sz="1700">
                <a:solidFill>
                  <a:srgbClr val="222B33"/>
                </a:solidFill>
                <a:latin typeface="Microsoft YaHei"/>
              </a:rPr>
              <a:t>▪ 替代、减少、优化，善待动物</a:t>
            </a:r>
          </a:p>
          <a:p>
            <a:pPr>
              <a:spcAft>
                <a:spcPts val="1000"/>
              </a:spcAft>
            </a:pPr>
            <a:r>
              <a:rPr sz="1700">
                <a:solidFill>
                  <a:srgbClr val="222B33"/>
                </a:solidFill>
                <a:latin typeface="Microsoft YaHei"/>
              </a:rPr>
              <a:t>▪ 感染性动物实验进相应级别动物实验室</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我国实验动物按《实验动物管理条例》（以现行文本为准）和各地实验动物管理规定管理：实验动物要从取得许可的单位获得，在符合 GB 14925（以现行文本为准）《实验动物 环境及设施》要求的设施中饲养和使用，人员经过培训。</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方案没批先开始做，或批了 10 只用了 20 只</a:t>
            </a:r>
          </a:p>
          <a:p>
            <a:pPr>
              <a:spcAft>
                <a:spcPts val="1000"/>
              </a:spcAft>
            </a:pPr>
            <a:r>
              <a:rPr sz="1500">
                <a:solidFill>
                  <a:srgbClr val="222B33"/>
                </a:solidFill>
                <a:latin typeface="Microsoft YaHei"/>
              </a:rPr>
              <a:t>▪ 从宠物市场买动物做实验</a:t>
            </a:r>
          </a:p>
        </p:txBody>
      </p:sp>
    </p:spTree>
  </p:cSld>
  <p:clrMapOvr>
    <a:masterClrMapping/>
  </p:clrMapOvr>
</p:sld>
</file>

<file path=ppt/slides/slide60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084 · 实验动物与媒介生物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养虫室：双门纱网，查身清点</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084 实验动物与媒介生物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养虫室要双层门、纱网，防止逃逸</a:t>
            </a:r>
          </a:p>
          <a:p>
            <a:pPr>
              <a:spcAft>
                <a:spcPts val="1000"/>
              </a:spcAft>
            </a:pPr>
            <a:r>
              <a:rPr sz="1700">
                <a:solidFill>
                  <a:srgbClr val="222B33"/>
                </a:solidFill>
                <a:latin typeface="Microsoft YaHei"/>
              </a:rPr>
              <a:t>▪ 两道门，不同时开</a:t>
            </a:r>
          </a:p>
          <a:p>
            <a:pPr>
              <a:spcAft>
                <a:spcPts val="1000"/>
              </a:spcAft>
            </a:pPr>
            <a:r>
              <a:rPr sz="1700">
                <a:solidFill>
                  <a:srgbClr val="222B33"/>
                </a:solidFill>
                <a:latin typeface="Microsoft YaHei"/>
              </a:rPr>
              <a:t>▪ 出来前，查衣服头发有没有虫</a:t>
            </a:r>
          </a:p>
          <a:p>
            <a:pPr>
              <a:spcAft>
                <a:spcPts val="1000"/>
              </a:spcAft>
            </a:pPr>
            <a:r>
              <a:rPr sz="1700">
                <a:solidFill>
                  <a:srgbClr val="222B33"/>
                </a:solidFill>
                <a:latin typeface="Microsoft YaHei"/>
              </a:rPr>
              <a:t>▪ 操作前后清点数量，记录在册</a:t>
            </a:r>
          </a:p>
          <a:p>
            <a:pPr>
              <a:spcAft>
                <a:spcPts val="1000"/>
              </a:spcAft>
            </a:pPr>
            <a:r>
              <a:rPr sz="1700">
                <a:solidFill>
                  <a:srgbClr val="222B33"/>
                </a:solidFill>
                <a:latin typeface="Microsoft YaHei"/>
              </a:rPr>
              <a:t>▪ 发现逃逸，立即报告并处置</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蚊子等媒介昆虫能传播病原，饲养这些昆虫的养虫室（养蚊室）要防止逃逸：设双层门（缓冲间）和纱网，门窗密封，室内设捕虫设施；两道门不同时打开。</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嫌麻烦把两道门同时打开通风</a:t>
            </a:r>
          </a:p>
          <a:p>
            <a:pPr>
              <a:spcAft>
                <a:spcPts val="1000"/>
              </a:spcAft>
            </a:pPr>
            <a:r>
              <a:rPr sz="1500">
                <a:solidFill>
                  <a:srgbClr val="222B33"/>
                </a:solidFill>
                <a:latin typeface="Microsoft YaHei"/>
              </a:rPr>
              <a:t>▪ 做完实验不清点，不知道有没有逃逸</a:t>
            </a:r>
          </a:p>
        </p:txBody>
      </p:sp>
    </p:spTree>
  </p:cSld>
  <p:clrMapOvr>
    <a:masterClrMapping/>
  </p:clrMapOvr>
</p:sld>
</file>

<file path=ppt/slides/slide60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084 · 实验动物与媒介生物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实验生物不放生、不乱丢</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084 实验动物与媒介生物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实验动物、昆虫，不能放生</a:t>
            </a:r>
          </a:p>
          <a:p>
            <a:pPr>
              <a:spcAft>
                <a:spcPts val="1000"/>
              </a:spcAft>
            </a:pPr>
            <a:r>
              <a:rPr sz="2000">
                <a:solidFill>
                  <a:srgbClr val="222B33"/>
                </a:solidFill>
                <a:latin typeface="Microsoft YaHei"/>
              </a:rPr>
              <a:t>▪ 种子、菌株，也不随手带出去</a:t>
            </a:r>
          </a:p>
          <a:p>
            <a:pPr>
              <a:spcAft>
                <a:spcPts val="1000"/>
              </a:spcAft>
            </a:pPr>
            <a:r>
              <a:rPr sz="2000">
                <a:solidFill>
                  <a:srgbClr val="222B33"/>
                </a:solidFill>
                <a:latin typeface="Microsoft YaHei"/>
              </a:rPr>
              <a:t>▪ 按规定灭活，再当废物处置</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用完的实验动物、昆虫（如果蝇、蚊子）和实验植物，不能放生、放到窗外或带回宿舍饲养；放生的实验生物可能携带病原、造成外来物种入侵或基因扩散。</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把用完的果蝇、蚊子放到窗外</a:t>
            </a:r>
          </a:p>
          <a:p>
            <a:pPr>
              <a:spcAft>
                <a:spcPts val="1000"/>
              </a:spcAft>
            </a:pPr>
            <a:r>
              <a:rPr sz="1500">
                <a:solidFill>
                  <a:srgbClr val="222B33"/>
                </a:solidFill>
                <a:latin typeface="Microsoft YaHei"/>
              </a:rPr>
              <a:t>▪ 把实验小鼠带回宿舍当宠物</a:t>
            </a:r>
          </a:p>
        </p:txBody>
      </p:sp>
    </p:spTree>
  </p:cSld>
  <p:clrMapOvr>
    <a:masterClrMapping/>
  </p:clrMapOvr>
</p:sld>
</file>

<file path=ppt/slides/slide6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084 · 实验动物与媒介生物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异常病死动物：不碰，报告</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084 实验动物与媒介生物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看到异常死亡的动物，别用手碰</a:t>
            </a:r>
          </a:p>
          <a:p>
            <a:pPr>
              <a:spcAft>
                <a:spcPts val="1000"/>
              </a:spcAft>
            </a:pPr>
            <a:r>
              <a:rPr sz="2000">
                <a:solidFill>
                  <a:srgbClr val="222B33"/>
                </a:solidFill>
                <a:latin typeface="Microsoft YaHei"/>
              </a:rPr>
              <a:t>▪ 记下位置，报告学校相关部门</a:t>
            </a:r>
          </a:p>
          <a:p>
            <a:pPr>
              <a:spcAft>
                <a:spcPts val="1000"/>
              </a:spcAft>
            </a:pPr>
            <a:r>
              <a:rPr sz="2000">
                <a:solidFill>
                  <a:srgbClr val="222B33"/>
                </a:solidFill>
                <a:latin typeface="Microsoft YaHei"/>
              </a:rPr>
              <a:t>▪ 由专业人员来处理</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在校园、野外或采样途中看到异常死亡的动物（例如短时间内多只鸟类、家禽或野生动物死亡），不要用手碰，不捡拾、不带回实验室“研究”。</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好奇捡起死鸟带回实验室解剖</a:t>
            </a:r>
          </a:p>
          <a:p>
            <a:pPr>
              <a:spcAft>
                <a:spcPts val="1000"/>
              </a:spcAft>
            </a:pPr>
            <a:r>
              <a:rPr sz="1500">
                <a:solidFill>
                  <a:srgbClr val="222B33"/>
                </a:solidFill>
                <a:latin typeface="Microsoft YaHei"/>
              </a:rPr>
              <a:t>▪ 看到了不报告，觉得“与我无关”</a:t>
            </a:r>
          </a:p>
        </p:txBody>
      </p:sp>
    </p:spTree>
  </p:cSld>
  <p:clrMapOvr>
    <a:masterClrMapping/>
  </p:clrMapOvr>
</p:sld>
</file>

<file path=ppt/slides/slide60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084 · 实验动物与媒介生物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虫媒病：叮咬传播，不能忽视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084 实验动物与媒介生物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蚊子叮了带病的，再叮人，病就传开</a:t>
            </a:r>
          </a:p>
          <a:p>
            <a:pPr>
              <a:spcAft>
                <a:spcPts val="1000"/>
              </a:spcAft>
            </a:pPr>
            <a:r>
              <a:rPr sz="2000">
                <a:solidFill>
                  <a:srgbClr val="222B33"/>
                </a:solidFill>
                <a:latin typeface="Microsoft YaHei"/>
              </a:rPr>
              <a:t>▪ 虫媒病每年夺走大量生命，不能忽视</a:t>
            </a:r>
          </a:p>
          <a:p>
            <a:pPr>
              <a:spcAft>
                <a:spcPts val="1000"/>
              </a:spcAft>
            </a:pPr>
            <a:r>
              <a:rPr sz="2000">
                <a:solidFill>
                  <a:srgbClr val="222B33"/>
                </a:solidFill>
                <a:latin typeface="Microsoft YaHei"/>
              </a:rPr>
              <a:t>▪ 不少新发病来自动物，还有很多未知</a:t>
            </a:r>
          </a:p>
          <a:p>
            <a:pPr>
              <a:spcAft>
                <a:spcPts val="1000"/>
              </a:spcAft>
            </a:pPr>
            <a:r>
              <a:rPr sz="2000">
                <a:solidFill>
                  <a:srgbClr val="222B33"/>
                </a:solidFill>
                <a:latin typeface="Microsoft YaHei"/>
              </a:rPr>
              <a:t>▪ 生态破坏和气候变化，让蚊子变多</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虫媒传染病是由蚊、蝇、白蛉等媒介生物传播的疾病：媒介叮咬了带病原的人或动物，再叮咬别人，病就传开了；有的原本在野生动物中循环，经叮咬传给进入森林的人。本课只讲与实验室工作和外出有关的防护和报告要点。</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认为虫媒病“离我们很远”，出差不做防护</a:t>
            </a:r>
          </a:p>
          <a:p>
            <a:pPr>
              <a:spcAft>
                <a:spcPts val="1000"/>
              </a:spcAft>
            </a:pPr>
            <a:r>
              <a:rPr sz="1500">
                <a:solidFill>
                  <a:srgbClr val="222B33"/>
                </a:solidFill>
                <a:latin typeface="Microsoft YaHei"/>
              </a:rPr>
              <a:t>▪ 认为只要不接触病人就不会被传染</a:t>
            </a:r>
          </a:p>
        </p:txBody>
      </p:sp>
    </p:spTree>
  </p:cSld>
  <p:clrMapOvr>
    <a:masterClrMapping/>
  </p:clrMapOvr>
</p:sld>
</file>

<file path=ppt/slides/slide60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084 · 实验动物与媒介生物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常见虫媒病：疟疾、登革热、基孔肯雅热</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084 实验动物与媒介生物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常见的有疟疾、登革热、基孔肯雅热</a:t>
            </a:r>
          </a:p>
          <a:p>
            <a:pPr>
              <a:spcAft>
                <a:spcPts val="1000"/>
              </a:spcAft>
            </a:pPr>
            <a:r>
              <a:rPr sz="2000">
                <a:solidFill>
                  <a:srgbClr val="222B33"/>
                </a:solidFill>
                <a:latin typeface="Microsoft YaHei"/>
              </a:rPr>
              <a:t>▪ 疟疾在一些热带地区高发，儿童最受害</a:t>
            </a:r>
          </a:p>
          <a:p>
            <a:pPr>
              <a:spcAft>
                <a:spcPts val="1000"/>
              </a:spcAft>
            </a:pPr>
            <a:r>
              <a:rPr sz="2000">
                <a:solidFill>
                  <a:srgbClr val="222B33"/>
                </a:solidFill>
                <a:latin typeface="Microsoft YaHei"/>
              </a:rPr>
              <a:t>▪ 登革热、基孔肯雅热由伊蚊传播</a:t>
            </a:r>
          </a:p>
          <a:p>
            <a:pPr>
              <a:spcAft>
                <a:spcPts val="1000"/>
              </a:spcAft>
            </a:pPr>
            <a:r>
              <a:rPr sz="2000">
                <a:solidFill>
                  <a:srgbClr val="222B33"/>
                </a:solidFill>
                <a:latin typeface="Microsoft YaHei"/>
              </a:rPr>
              <a:t>▪ 家蝇传肠道病，白蛉叮人也能传病</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疟疾由蚊子传播，在一些热带和亚热带地区高发，每年病例众多，重症和死亡多见于幼儿；我国已经消除本地感染疟疾，但仍有境外输入病例，赴流行区的人员要特别注意。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以为国内没有本地疟疾就不必防输入</a:t>
            </a:r>
          </a:p>
          <a:p>
            <a:pPr>
              <a:spcAft>
                <a:spcPts val="1000"/>
              </a:spcAft>
            </a:pPr>
            <a:r>
              <a:rPr sz="1500">
                <a:solidFill>
                  <a:srgbClr val="222B33"/>
                </a:solidFill>
                <a:latin typeface="Microsoft YaHei"/>
              </a:rPr>
              <a:t>▪ 在野外随意坐卧在潮湿腐烂的落叶上</a:t>
            </a:r>
          </a:p>
        </p:txBody>
      </p:sp>
    </p:spTree>
  </p:cSld>
  <p:clrMapOvr>
    <a:masterClrMapping/>
  </p:clrMapOvr>
</p:sld>
</file>

<file path=ppt/slides/slide6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084 · 实验动物与媒介生物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发热等症状，尽快就医</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084 实验动物与媒介生物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虫媒病常见发热，忽冷忽热</a:t>
            </a:r>
          </a:p>
          <a:p>
            <a:pPr>
              <a:spcAft>
                <a:spcPts val="1000"/>
              </a:spcAft>
            </a:pPr>
            <a:r>
              <a:rPr sz="2000">
                <a:solidFill>
                  <a:srgbClr val="222B33"/>
                </a:solidFill>
                <a:latin typeface="Microsoft YaHei"/>
              </a:rPr>
              <a:t>▪ 还会肌肉关节痛，有的持续很久</a:t>
            </a:r>
          </a:p>
          <a:p>
            <a:pPr>
              <a:spcAft>
                <a:spcPts val="1000"/>
              </a:spcAft>
            </a:pPr>
            <a:r>
              <a:rPr sz="2000">
                <a:solidFill>
                  <a:srgbClr val="222B33"/>
                </a:solidFill>
                <a:latin typeface="Microsoft YaHei"/>
              </a:rPr>
              <a:t>▪ 出血、意识异常是重症信号，马上就医</a:t>
            </a:r>
          </a:p>
          <a:p>
            <a:pPr>
              <a:spcAft>
                <a:spcPts val="1000"/>
              </a:spcAft>
            </a:pPr>
            <a:r>
              <a:rPr sz="2000">
                <a:solidFill>
                  <a:srgbClr val="222B33"/>
                </a:solidFill>
                <a:latin typeface="Microsoft YaHei"/>
              </a:rPr>
              <a:t>▪ 医院会化验确诊，多喝水，遵医嘱</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虫媒病的主要表现是发热，可伴有寒战、头痛、乏力，忽冷忽热；登革热常伴有肌肉关节痛，基孔肯雅热的关节痛往往很明显，有人会持续很久。也有感染后没有症状的人，同样可能被蚊子叮咬后传给别人。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发热以为是感冒，自己吃点药硬扛</a:t>
            </a:r>
          </a:p>
          <a:p>
            <a:pPr>
              <a:spcAft>
                <a:spcPts val="1000"/>
              </a:spcAft>
            </a:pPr>
            <a:r>
              <a:rPr sz="1500">
                <a:solidFill>
                  <a:srgbClr val="222B33"/>
                </a:solidFill>
                <a:latin typeface="Microsoft YaHei"/>
              </a:rPr>
              <a:t>▪ 出现出血等危险信号还不去医院</a:t>
            </a:r>
          </a:p>
        </p:txBody>
      </p:sp>
    </p:spTree>
  </p:cSld>
  <p:clrMapOvr>
    <a:masterClrMapping/>
  </p:clrMapOvr>
</p:sld>
</file>

<file path=ppt/slides/slide6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084 · 实验动物与媒介生物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预防治疗听医生，不乱吃药</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084 实验动物与媒介生物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预防和治疗，都不能自己乱吃药</a:t>
            </a:r>
          </a:p>
          <a:p>
            <a:pPr>
              <a:spcAft>
                <a:spcPts val="1000"/>
              </a:spcAft>
            </a:pPr>
            <a:r>
              <a:rPr sz="1700">
                <a:solidFill>
                  <a:srgbClr val="222B33"/>
                </a:solidFill>
                <a:latin typeface="Microsoft YaHei"/>
              </a:rPr>
              <a:t>▪ 乱用药，会让病原耐药</a:t>
            </a:r>
          </a:p>
          <a:p>
            <a:pPr>
              <a:spcAft>
                <a:spcPts val="1000"/>
              </a:spcAft>
            </a:pPr>
            <a:r>
              <a:rPr sz="1700">
                <a:solidFill>
                  <a:srgbClr val="222B33"/>
                </a:solidFill>
                <a:latin typeface="Microsoft YaHei"/>
              </a:rPr>
              <a:t>▪ 我国科学家从青蒿中发现了青蒿素</a:t>
            </a:r>
          </a:p>
          <a:p>
            <a:pPr>
              <a:spcAft>
                <a:spcPts val="1000"/>
              </a:spcAft>
            </a:pPr>
            <a:r>
              <a:rPr sz="1700">
                <a:solidFill>
                  <a:srgbClr val="222B33"/>
                </a:solidFill>
                <a:latin typeface="Microsoft YaHei"/>
              </a:rPr>
              <a:t>▪ 疫苗能不能打，听医生和现行规定</a:t>
            </a:r>
          </a:p>
          <a:p>
            <a:pPr>
              <a:spcAft>
                <a:spcPts val="1000"/>
              </a:spcAft>
            </a:pPr>
            <a:r>
              <a:rPr sz="1700">
                <a:solidFill>
                  <a:srgbClr val="222B33"/>
                </a:solidFill>
                <a:latin typeface="Microsoft YaHei"/>
              </a:rPr>
              <a:t>▪ 去流行区前，先问医生</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虫媒病的预防用药和治疗都要遵医嘱，不能自己乱买乱吃药；乱用药不但可能延误病情，还会让病原产生耐药。</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出发前自己从网上买药带着吃</a:t>
            </a:r>
          </a:p>
          <a:p>
            <a:pPr>
              <a:spcAft>
                <a:spcPts val="1000"/>
              </a:spcAft>
            </a:pPr>
            <a:r>
              <a:rPr sz="1500">
                <a:solidFill>
                  <a:srgbClr val="222B33"/>
                </a:solidFill>
                <a:latin typeface="Microsoft YaHei"/>
              </a:rPr>
              <a:t>▪ 听说有疫苗就认为可以不防蚊</a:t>
            </a:r>
          </a:p>
        </p:txBody>
      </p:sp>
    </p:spTree>
  </p:cSld>
  <p:clrMapOvr>
    <a:masterClrMapping/>
  </p:clrMapOvr>
</p:sld>
</file>

<file path=ppt/slides/slide6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084 · 实验动物与媒介生物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防蚊：清积水、纱窗蚊帐、驱避剂</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084 实验动物与媒介生物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积水最易孳生蚊子，几天就能成蚊</a:t>
            </a:r>
          </a:p>
          <a:p>
            <a:pPr>
              <a:spcAft>
                <a:spcPts val="1000"/>
              </a:spcAft>
            </a:pPr>
            <a:r>
              <a:rPr sz="1700">
                <a:solidFill>
                  <a:srgbClr val="222B33"/>
                </a:solidFill>
                <a:latin typeface="Microsoft YaHei"/>
              </a:rPr>
              <a:t>▪ 清除积水，断了蚊子的家</a:t>
            </a:r>
          </a:p>
          <a:p>
            <a:pPr>
              <a:spcAft>
                <a:spcPts val="1000"/>
              </a:spcAft>
            </a:pPr>
            <a:r>
              <a:rPr sz="1700">
                <a:solidFill>
                  <a:srgbClr val="222B33"/>
                </a:solidFill>
                <a:latin typeface="Microsoft YaHei"/>
              </a:rPr>
              <a:t>▪ 纱窗蚊帐，是最基本的屏障</a:t>
            </a:r>
          </a:p>
          <a:p>
            <a:pPr>
              <a:spcAft>
                <a:spcPts val="1000"/>
              </a:spcAft>
            </a:pPr>
            <a:r>
              <a:rPr sz="1700">
                <a:solidFill>
                  <a:srgbClr val="222B33"/>
                </a:solidFill>
                <a:latin typeface="Microsoft YaHei"/>
              </a:rPr>
              <a:t>▪ 长袖长裤，驱避剂按说明用</a:t>
            </a:r>
          </a:p>
          <a:p>
            <a:pPr>
              <a:spcAft>
                <a:spcPts val="1000"/>
              </a:spcAft>
            </a:pPr>
            <a:r>
              <a:rPr sz="1700">
                <a:solidFill>
                  <a:srgbClr val="222B33"/>
                </a:solidFill>
                <a:latin typeface="Microsoft YaHei"/>
              </a:rPr>
              <a:t>▪ 早晚最活跃，白天也叮，别大意</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蚊子从卵到成蚊只要一周多，雨晴交替时，花盆托盘、废轮胎、容器里的积水最容易孳生蚊子。实验室、温室、宿舍和野外营地周围，定期清除积水，盖好储水容器，断了蚊子的家。</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实验楼周围积水长期不清理</a:t>
            </a:r>
          </a:p>
          <a:p>
            <a:pPr>
              <a:spcAft>
                <a:spcPts val="1000"/>
              </a:spcAft>
            </a:pPr>
            <a:r>
              <a:rPr sz="1500">
                <a:solidFill>
                  <a:srgbClr val="222B33"/>
                </a:solidFill>
                <a:latin typeface="Microsoft YaHei"/>
              </a:rPr>
              <a:t>▪ 只在晚上防蚊，白天在野外不做防护</a:t>
            </a:r>
          </a:p>
        </p:txBody>
      </p:sp>
    </p:spTree>
  </p:cSld>
  <p:clrMapOvr>
    <a:masterClrMapping/>
  </p:clrMapOvr>
</p:sld>
</file>

<file path=ppt/slides/slide6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084 · 实验动物与媒介生物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监测与防控：评估、适度、专业部门做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084 实验动物与媒介生物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防控先评估：统计蚊子有多少</a:t>
            </a:r>
          </a:p>
          <a:p>
            <a:pPr>
              <a:spcAft>
                <a:spcPts val="1000"/>
              </a:spcAft>
            </a:pPr>
            <a:r>
              <a:rPr sz="1700">
                <a:solidFill>
                  <a:srgbClr val="222B33"/>
                </a:solidFill>
                <a:latin typeface="Microsoft YaHei"/>
              </a:rPr>
              <a:t>▪ 诱蚊器监测，点位由主管部门定</a:t>
            </a:r>
          </a:p>
          <a:p>
            <a:pPr>
              <a:spcAft>
                <a:spcPts val="1000"/>
              </a:spcAft>
            </a:pPr>
            <a:r>
              <a:rPr sz="1700">
                <a:solidFill>
                  <a:srgbClr val="222B33"/>
                </a:solidFill>
                <a:latin typeface="Microsoft YaHei"/>
              </a:rPr>
              <a:t>▪ 控制要适度，乱喷药会产生抗药性</a:t>
            </a:r>
          </a:p>
          <a:p>
            <a:pPr>
              <a:spcAft>
                <a:spcPts val="1000"/>
              </a:spcAft>
            </a:pPr>
            <a:r>
              <a:rPr sz="1700">
                <a:solidFill>
                  <a:srgbClr val="222B33"/>
                </a:solidFill>
                <a:latin typeface="Microsoft YaHei"/>
              </a:rPr>
              <a:t>▪ 措施看数据，做完再数，看效果</a:t>
            </a:r>
          </a:p>
          <a:p>
            <a:pPr>
              <a:spcAft>
                <a:spcPts val="1000"/>
              </a:spcAft>
            </a:pPr>
            <a:r>
              <a:rPr sz="1700">
                <a:solidFill>
                  <a:srgbClr val="222B33"/>
                </a:solidFill>
                <a:latin typeface="Microsoft YaHei"/>
              </a:rPr>
              <a:t>▪ 新防蚊技术由专业部门审批实施</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社区和校园的蚊媒防控，先了解蚊子在哪里孳生、怎样传病、怕什么，再按“评估—控制—看效果”做：先统计蚊子密度；控制措施的轻重要和监测数据相称，乱喷药既污染环境，又会让蚊子产生抗药性；做完再监测，看效果。公开的病例数据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看到蚊子多就大量喷药</a:t>
            </a:r>
          </a:p>
          <a:p>
            <a:pPr>
              <a:spcAft>
                <a:spcPts val="1000"/>
              </a:spcAft>
            </a:pPr>
            <a:r>
              <a:rPr sz="1500">
                <a:solidFill>
                  <a:srgbClr val="222B33"/>
                </a:solidFill>
                <a:latin typeface="Microsoft YaHei"/>
              </a:rPr>
              <a:t>▪ 学生自行在校园投放、释放实验蚊子</a:t>
            </a:r>
          </a:p>
        </p:txBody>
      </p:sp>
    </p:spTree>
  </p:cSld>
  <p:clrMapOvr>
    <a:masterClrMapping/>
  </p:clrMapOvr>
</p:sld>
</file>

<file path=ppt/slides/slide6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084 · 实验动物与媒介生物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归来发热：就医，说明旅行史</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084 实验动物与媒介生物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外出回来几周内发热，别硬扛</a:t>
            </a:r>
          </a:p>
          <a:p>
            <a:pPr>
              <a:spcAft>
                <a:spcPts val="1000"/>
              </a:spcAft>
            </a:pPr>
            <a:r>
              <a:rPr sz="2000">
                <a:solidFill>
                  <a:srgbClr val="222B33"/>
                </a:solidFill>
                <a:latin typeface="Microsoft YaHei"/>
              </a:rPr>
              <a:t>▪ 就医时，主动说去过哪里</a:t>
            </a:r>
          </a:p>
          <a:p>
            <a:pPr>
              <a:spcAft>
                <a:spcPts val="1000"/>
              </a:spcAft>
            </a:pPr>
            <a:r>
              <a:rPr sz="2000">
                <a:solidFill>
                  <a:srgbClr val="222B33"/>
                </a:solidFill>
                <a:latin typeface="Microsoft YaHei"/>
              </a:rPr>
              <a:t>▪ 同时告诉导师和课题组</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从虫媒病流行区、野外采样点或动物设施工作回来后几周内出现发热，不要硬扛，尽快就医。</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回国后发热，以为是旅途劳累</a:t>
            </a:r>
          </a:p>
          <a:p>
            <a:pPr>
              <a:spcAft>
                <a:spcPts val="1000"/>
              </a:spcAft>
            </a:pPr>
            <a:r>
              <a:rPr sz="1500">
                <a:solidFill>
                  <a:srgbClr val="222B33"/>
                </a:solidFill>
                <a:latin typeface="Microsoft YaHei"/>
              </a:rPr>
              <a:t>▪ 看病时不提出差和野外经历</a:t>
            </a:r>
          </a:p>
        </p:txBody>
      </p:sp>
    </p:spTree>
  </p:cSld>
  <p:clrMapOvr>
    <a:masterClrMapping/>
  </p:clrMapOvr>
</p:sld>
</file>

<file path=ppt/slides/slide6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084 · 实验动物与媒介生物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依法报告，配合调查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084 实验动物与媒介生物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传染病由医疗机构依法报告</a:t>
            </a:r>
          </a:p>
          <a:p>
            <a:pPr>
              <a:spcAft>
                <a:spcPts val="1000"/>
              </a:spcAft>
            </a:pPr>
            <a:r>
              <a:rPr sz="2000">
                <a:solidFill>
                  <a:srgbClr val="222B33"/>
                </a:solidFill>
                <a:latin typeface="Microsoft YaHei"/>
              </a:rPr>
              <a:t>▪ 如实说明行程，配合流行病学调查</a:t>
            </a:r>
          </a:p>
          <a:p>
            <a:pPr>
              <a:spcAft>
                <a:spcPts val="1000"/>
              </a:spcAft>
            </a:pPr>
            <a:r>
              <a:rPr sz="2000">
                <a:solidFill>
                  <a:srgbClr val="222B33"/>
                </a:solidFill>
                <a:latin typeface="Microsoft YaHei"/>
              </a:rPr>
              <a:t>▪ 具体分类和要求，以现行法规为准</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按《中华人民共和国传染病防治法》（以现行文本为准），确诊或疑似的法定传染病由医疗机构依法报告，个人不需要也不应该自己对外发布。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隐瞒去过流行区的经历</a:t>
            </a:r>
          </a:p>
          <a:p>
            <a:pPr>
              <a:spcAft>
                <a:spcPts val="1000"/>
              </a:spcAft>
            </a:pPr>
            <a:r>
              <a:rPr sz="1500">
                <a:solidFill>
                  <a:srgbClr val="222B33"/>
                </a:solidFill>
                <a:latin typeface="Microsoft YaHei"/>
              </a:rPr>
              <a:t>▪ 在群里自行发布未经确认的病例信息</a:t>
            </a:r>
          </a:p>
        </p:txBody>
      </p:sp>
    </p:spTree>
  </p:cSld>
  <p:clrMapOvr>
    <a:masterClrMapping/>
  </p:clrMapOvr>
</p:sld>
</file>

<file path=ppt/slides/slide6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084 · 实验动物与媒介生物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084 实验动物与媒介生物</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操作时被实验小鼠咬破手指，正确的做法是：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没流多少血，继续做</a:t>
            </a:r>
          </a:p>
          <a:p>
            <a:pPr algn="l"/>
            <a:r>
              <a:rPr sz="1500" b="0">
                <a:solidFill>
                  <a:srgbClr val="222B33"/>
                </a:solidFill>
                <a:latin typeface="Microsoft YaHei"/>
              </a:rPr>
              <a:t>B. 立即用流动清水和肥皂水冲洗、消毒，报告负责人，及时就医并记录</a:t>
            </a:r>
          </a:p>
          <a:p>
            <a:pPr algn="l"/>
            <a:r>
              <a:rPr sz="1500" b="0">
                <a:solidFill>
                  <a:srgbClr val="222B33"/>
                </a:solidFill>
                <a:latin typeface="Microsoft YaHei"/>
              </a:rPr>
              <a:t>C. 贴个创可贴就行</a:t>
            </a:r>
          </a:p>
          <a:p>
            <a:pPr algn="l"/>
            <a:r>
              <a:rPr sz="1500" b="0">
                <a:solidFill>
                  <a:srgbClr val="222B33"/>
                </a:solidFill>
                <a:latin typeface="Microsoft YaHei"/>
              </a:rPr>
              <a:t>D. 等下班再说</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判断：用完的果蝇和蚊子可以放到窗外，反正是常见的虫子。</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6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084 · 实验动物与媒介生物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084 实验动物与媒介生物</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下列关于养虫室的做法，正确的是：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两道门同时打开通风</a:t>
            </a:r>
          </a:p>
          <a:p>
            <a:pPr algn="l"/>
            <a:r>
              <a:rPr sz="1500" b="0">
                <a:solidFill>
                  <a:srgbClr val="222B33"/>
                </a:solidFill>
                <a:latin typeface="Microsoft YaHei"/>
              </a:rPr>
              <a:t>B. 出来前检查衣服头发，操作前后清点数量，发现逃逸立即报告</a:t>
            </a:r>
          </a:p>
          <a:p>
            <a:pPr algn="l"/>
            <a:r>
              <a:rPr sz="1500" b="0">
                <a:solidFill>
                  <a:srgbClr val="222B33"/>
                </a:solidFill>
                <a:latin typeface="Microsoft YaHei"/>
              </a:rPr>
              <a:t>C. 不用清点</a:t>
            </a:r>
          </a:p>
          <a:p>
            <a:pPr algn="l"/>
            <a:r>
              <a:rPr sz="1500" b="0">
                <a:solidFill>
                  <a:srgbClr val="222B33"/>
                </a:solidFill>
                <a:latin typeface="Microsoft YaHei"/>
              </a:rPr>
              <a:t>D. 纱网破了不影响</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判断：动物实验方案只要导师同意，不需要经过伦理审查。</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6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084 · 实验动物与媒介生物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084 实验动物与媒介生物</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简答：从虫媒病流行区出差回来两周后发热，应该怎么做？</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619.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和动物打交道，先想风险</a:t>
            </a:r>
          </a:p>
          <a:p>
            <a:pPr>
              <a:spcAft>
                <a:spcPts val="800"/>
              </a:spcAft>
            </a:pPr>
            <a:r>
              <a:rPr sz="1500">
                <a:solidFill>
                  <a:srgbClr val="FFFFFF"/>
                </a:solidFill>
                <a:latin typeface="Microsoft YaHei"/>
              </a:rPr>
              <a:t>▪ K2  培训上岗，妥善保定</a:t>
            </a:r>
          </a:p>
          <a:p>
            <a:pPr>
              <a:spcAft>
                <a:spcPts val="800"/>
              </a:spcAft>
            </a:pPr>
            <a:r>
              <a:rPr sz="1500">
                <a:solidFill>
                  <a:srgbClr val="FFFFFF"/>
                </a:solidFill>
                <a:latin typeface="Microsoft YaHei"/>
              </a:rPr>
              <a:t>▪ K3  动物过敏要防护</a:t>
            </a:r>
          </a:p>
          <a:p>
            <a:pPr>
              <a:spcAft>
                <a:spcPts val="800"/>
              </a:spcAft>
            </a:pPr>
            <a:r>
              <a:rPr sz="1500">
                <a:solidFill>
                  <a:srgbClr val="FFFFFF"/>
                </a:solidFill>
                <a:latin typeface="Microsoft YaHei"/>
              </a:rPr>
              <a:t>▪ S1  实验动物依法管理：许可、伦理、福利</a:t>
            </a:r>
          </a:p>
          <a:p>
            <a:pPr>
              <a:spcAft>
                <a:spcPts val="800"/>
              </a:spcAft>
            </a:pPr>
            <a:r>
              <a:rPr sz="1500">
                <a:solidFill>
                  <a:srgbClr val="FFFFFF"/>
                </a:solidFill>
                <a:latin typeface="Microsoft YaHei"/>
              </a:rPr>
              <a:t>▪ K4  养虫室：双门纱网，查身清点</a:t>
            </a:r>
          </a:p>
          <a:p>
            <a:pPr>
              <a:spcAft>
                <a:spcPts val="800"/>
              </a:spcAft>
            </a:pPr>
            <a:r>
              <a:rPr sz="1500">
                <a:solidFill>
                  <a:srgbClr val="FFFFFF"/>
                </a:solidFill>
                <a:latin typeface="Microsoft YaHei"/>
              </a:rPr>
              <a:t>▪ K5  实验生物不放生、不乱丢</a:t>
            </a:r>
          </a:p>
          <a:p>
            <a:pPr>
              <a:spcAft>
                <a:spcPts val="800"/>
              </a:spcAft>
            </a:pPr>
            <a:r>
              <a:rPr sz="1500">
                <a:solidFill>
                  <a:srgbClr val="FFFFFF"/>
                </a:solidFill>
                <a:latin typeface="Microsoft YaHei"/>
              </a:rPr>
              <a:t>▪ K6  异常病死动物：不碰，报告</a:t>
            </a:r>
          </a:p>
          <a:p>
            <a:pPr>
              <a:spcAft>
                <a:spcPts val="800"/>
              </a:spcAft>
            </a:pPr>
            <a:r>
              <a:rPr sz="1500">
                <a:solidFill>
                  <a:srgbClr val="FFFFFF"/>
                </a:solidFill>
                <a:latin typeface="Microsoft YaHei"/>
              </a:rPr>
              <a:t>▪ K7  虫媒病：叮咬传播，不能忽视</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K8  常见虫媒病：疟疾、登革热、基孔肯雅热</a:t>
            </a:r>
          </a:p>
          <a:p>
            <a:pPr>
              <a:spcAft>
                <a:spcPts val="800"/>
              </a:spcAft>
            </a:pPr>
            <a:r>
              <a:rPr sz="1500">
                <a:solidFill>
                  <a:srgbClr val="FFFFFF"/>
                </a:solidFill>
                <a:latin typeface="Microsoft YaHei"/>
              </a:rPr>
              <a:t>▪ K9  发热等症状，尽快就医</a:t>
            </a:r>
          </a:p>
          <a:p>
            <a:pPr>
              <a:spcAft>
                <a:spcPts val="800"/>
              </a:spcAft>
            </a:pPr>
            <a:r>
              <a:rPr sz="1500">
                <a:solidFill>
                  <a:srgbClr val="FFFFFF"/>
                </a:solidFill>
                <a:latin typeface="Microsoft YaHei"/>
              </a:rPr>
              <a:t>▪ K10  预防治疗听医生，不乱吃药</a:t>
            </a:r>
          </a:p>
          <a:p>
            <a:pPr>
              <a:spcAft>
                <a:spcPts val="800"/>
              </a:spcAft>
            </a:pPr>
            <a:r>
              <a:rPr sz="1500">
                <a:solidFill>
                  <a:srgbClr val="FFFFFF"/>
                </a:solidFill>
                <a:latin typeface="Microsoft YaHei"/>
              </a:rPr>
              <a:t>▪ K11  防蚊：清积水、纱窗蚊帐、驱避剂</a:t>
            </a:r>
          </a:p>
          <a:p>
            <a:pPr>
              <a:spcAft>
                <a:spcPts val="800"/>
              </a:spcAft>
            </a:pPr>
            <a:r>
              <a:rPr sz="1500">
                <a:solidFill>
                  <a:srgbClr val="FFFFFF"/>
                </a:solidFill>
                <a:latin typeface="Microsoft YaHei"/>
              </a:rPr>
              <a:t>▪ K12  监测与防控：评估、适度、专业部门做</a:t>
            </a:r>
          </a:p>
          <a:p>
            <a:pPr>
              <a:spcAft>
                <a:spcPts val="800"/>
              </a:spcAft>
            </a:pPr>
            <a:r>
              <a:rPr sz="1500">
                <a:solidFill>
                  <a:srgbClr val="FFFFFF"/>
                </a:solidFill>
                <a:latin typeface="Microsoft YaHei"/>
              </a:rPr>
              <a:t>▪ K13  归来发热：就医，说明旅行史</a:t>
            </a:r>
          </a:p>
          <a:p>
            <a:pPr>
              <a:spcAft>
                <a:spcPts val="800"/>
              </a:spcAft>
            </a:pPr>
            <a:r>
              <a:rPr sz="1500">
                <a:solidFill>
                  <a:srgbClr val="FFFFFF"/>
                </a:solidFill>
                <a:latin typeface="Microsoft YaHei"/>
              </a:rPr>
              <a:t>▪ K14  依法报告，配合调查</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《高校实验室安全》学习课件</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