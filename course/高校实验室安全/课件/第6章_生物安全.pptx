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生命科学实验离不开细胞、微生物和各种生物样本。与其他实验室相比，生物实验室除了化学品、仪器设备、用电等常见危险，还多了一类生物危害：细菌、病毒等病原体肉眼看不见，却可能让健康人感染生病。</a:t>
            </a:r>
          </a:p>
          <a:p>
            <a:r>
              <a:t>风险往往就在手边：血液等样本可能带有病原；针头、刀片等锐器可能刺伤皮肤；移液、混匀、离心等操作可能产生肉眼看不见的气溶胶。微生物实验室的危害来自三方面——活的微生物、消毒剂和化学试剂、各种仪器设备，所以各方面的安全措施都不能少。</a:t>
            </a:r>
          </a:p>
          <a:p>
            <a:r>
              <a:t>实验室门口的生物危害标志就是提醒：门后有生物危害，进门要遵守本实验室的规定。学习本章时做好笔记，没弄懂的地方回头再看，或请教老师。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因子与化学品不同：它能在人群中传播。一旦从实验室失控逸出，受害的可能不只是操作者本人，还可能引起疾病流行，威胁整个社会的公共卫生。随着新发传染病不断出现，生物因子对公众健康的威胁也在增加。</a:t>
            </a:r>
          </a:p>
          <a:p>
            <a:r>
              <a:t>学习生物安全常会遇到几个词：指示病例（一起疫情中最先被发现、引起关注的病例）；医院内感染（在医疗机构内获得的感染）；经皮肤刺伤（经锐器刺破皮肤造成的暴露）；流行病学（研究疾病在人群中分布和传播规律的学科）。</a:t>
            </a:r>
          </a:p>
          <a:p>
            <a:r>
              <a:t>研发诊断方法、疫苗和治疗药物，都离不开对病原的研究；只有先把风险管好，研究才能持续开展。生物安全不是某一家实验室的事，而是每个国家、每个单位、每个实验室共同的责任。</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生物安全，讲的是怎样安全地操作有感染性的微生物和其他有危害的生物材料，并把它们控制、封闭（也称“防护”或“封闭”）在规定的范围内。所谓防护，就是给生物因子划定边界，让它留在设备和设施里，不逸出伤人。</a:t>
            </a:r>
          </a:p>
          <a:p>
            <a:r>
              <a:t>GB 19489-2008 对实验室生物安全的表述是：实验室的生物安全条件和状态不低于容许水平，可避免实验室人员、来访人员、社区及环境受到不可接受的损害，符合相关法规、标准等对实验室生物安全责任的要求（以现行文本为准）。《中华人民共和国生物安全法》则把生物安全放在国家安全的高度，病原微生物实验室生物安全是其中的重要内容。</a:t>
            </a:r>
          </a:p>
          <a:p>
            <a:r>
              <a:t>实验室安全包括很多方面，而在微生物实验室，最核心的就是生物安全：既护住自己，也不让微生物跑出去。</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生物安全依靠规范的做法、程序和设备，保护三方面：一是实验室工作人员；二是实验室和周边环境；三是社区公众。</a:t>
            </a:r>
          </a:p>
          <a:p>
            <a:r>
              <a:t>具体目标有两个：一是防止实验室获得性感染，即工作人员在实验中被感染；二是防止病原意外释放，即感染性材料因泄漏、设施故障或带出实验室而扩散到外界。防意外暴露、防病原外泄，挡住的是感染因子、毒素等各种生物危害。</a:t>
            </a:r>
          </a:p>
          <a:p>
            <a:r>
              <a:t>保护自己，保护实验室，也就保护了身边的每个人。</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三个词常放在一起，含义不同：生物危害，是指可能对人、动物、植物或环境造成伤害的生物因子或材料；生物安全（实验室生物安全），重点防的是无意中的暴露和释放，比如操作失误、设施故障、防护失效，虽然不是故意的，也会危害人员和公众；生物安保，重点防的是生物材料被丢失、被盗、被滥用或被故意释放。</a:t>
            </a:r>
          </a:p>
          <a:p>
            <a:r>
              <a:t>三者互相咬合：认清危害是前提，生物安全措施防止意外，生物安保措施防止人为故意。实验室既要做好生物安全，也要管好菌（毒）种和样本的保管、登记和交接。生物安保的具体要求见第 083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生物安全工作有两大原则：一是风险评估，二是防护。</a:t>
            </a:r>
          </a:p>
          <a:p>
            <a:r>
              <a:t>风险评估在前：开展实验前，弄清要操作的病原或材料有什么危害、怎么操作、谁来操作、在哪里操作，判断风险有多大。防护在后：按评估结果，选择相应级别的实验室、安全设备、个人防护装备和操作规程。没有评估，防护就可能不足或过度。生物风险评估的具体步骤见第 067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不是一样东西，而是一整套：规范的操作方法和程序（如规程、培训、良好的微生物操作习惯）；专门的安全设备（如生物安全柜、密封离心杯、个人防护装备）；专门设计的实验室设施（如分区、门禁、通风、洗手和消毒灭菌设施）。</a:t>
            </a:r>
          </a:p>
          <a:p>
            <a:r>
              <a:t>三要素要配套使用，合起来才是一套防护体系，缺一环就可能出事。例如有生物安全柜但不按规程操作，或操作规范但实验室级别不够，防护都有漏洞。</a:t>
            </a:r>
          </a:p>
          <a:p>
            <a:r>
              <a:t>防护的目的是减少暴露：人不暴露，环境也不暴露。能消除危害的先消除（如不必要的操作不做），不能消除的尽量减少（如用安全设备、做好个人防护）。生物安全柜的原理和使用见第 071、072 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5P 是评估生物风险时常用的五个要素：</a:t>
            </a:r>
          </a:p>
          <a:p>
            <a:r>
              <a:t>1. 病原：先弄清操作的是什么，查《人间传染的病原微生物目录》确定危害程度和所需防护水平。注意：我国把病原微生物按危害程度分为四类，第一类危害最大、第四类最小；国际上通行的“风险组”则是 1 组最低、4 组最高，两者顺序相反，不能混用（详见第 058 课）。</a:t>
            </a:r>
          </a:p>
          <a:p>
            <a:r>
              <a:t>2. 人员：谁来做，能力和健康状况是否合适；先培训、考核合格，才能上岗。</a:t>
            </a:r>
          </a:p>
          <a:p>
            <a:r>
              <a:t>3. 场所：实验室的防护级别要与病原危害和实验活动相匹配（实验室分级见第 059 课）。</a:t>
            </a:r>
          </a:p>
          <a:p>
            <a:r>
              <a:t>4. 个人防护：按评估结果选择防护装备（见第 074 课）。</a:t>
            </a:r>
          </a:p>
          <a:p>
            <a:r>
              <a:t>5. 规程：操作步骤写清楚，照着做。</a:t>
            </a:r>
          </a:p>
          <a:p>
            <a:r>
              <a:t>五个 P 相互影响，要一起看，才能定准风险，再决定采取哪些控制措施；哪个 P 薄弱就先补哪个，短板补上，风险才真正降下来。在此之上还有安全文化：人人尽责，安全才稳。如何确定具体实验的防护等级见第 060 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开展生物实验，首先要遵守国家法规。我国生物安全的主要依据包括：</a:t>
            </a:r>
          </a:p>
          <a:p>
            <a:r>
              <a:t>- 《中华人民共和国生物安全法》：生物安全领域的基础性法律，对病原微生物实验室生物安全管理、法律责任等作出规定。</a:t>
            </a:r>
          </a:p>
          <a:p>
            <a:r>
              <a:t>- 《病原微生物实验室生物安全管理条例》：把病原微生物按危害程度分为四类，把实验室按生物安全防护水平分为一级至四级，规定各级实验室可以从事的实验活动、备案和审批要求。</a:t>
            </a:r>
          </a:p>
          <a:p>
            <a:r>
              <a:t>- GB 19489-2008《实验室 生物安全通用要求》（国家标准）和 WS 233《病原微生物实验室生物安全通用准则》（行业标准）：规定风险评估、设施设备、管理体系等技术和管理要求（均以现行文本为准）。</a:t>
            </a:r>
          </a:p>
          <a:p>
            <a:r>
              <a:t>- 《人间传染的病原微生物目录》（以现行版本为准）：查病原的危害程度分类和各类实验活动所需的防护水平。</a:t>
            </a:r>
          </a:p>
          <a:p>
            <a:r>
              <a:t>- 本校生物安全管理制度。</a:t>
            </a:r>
          </a:p>
          <a:p>
            <a:r>
              <a:t>实验人员的职业安全同样有法可依：单位要为实验人员提供防护装备、培训和健康监护。开展生物实验前先做风险评估，在相应防护级别的实验室里进行。法规体系的总体框架见第 002 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国际上有通行的实验室生物安全手册，从生物安全的一般原则讲起，涵盖风险评估、防护、设备、培训等内容，是学习和参照的好起点。</a:t>
            </a:r>
          </a:p>
          <a:p>
            <a:r>
              <a:t>但任何国际手册都只能在本国法律框架内使用：国家和地方法规优先，国际手册作为补充和背景；其中引用的国外法规、数值和做法不能直接照搬。在我国，一切做法以国内法律法规、国家标准、行业标准和本校规定为准。</a:t>
            </a:r>
          </a:p>
          <a:p>
            <a:r>
              <a:t>落脚点是本土化：每个实验室都要依据国家标准和本单位制度，编写适合本实验室的安全手册和操作规程，并让每个人知晓。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合规，就是遵守法律、法规、标准和规则。遵守国家和地方的法律法规、标准，是外部合规；遵守本单位的方针、制度和规程，是内部合规。</a:t>
            </a:r>
          </a:p>
          <a:p>
            <a:r>
              <a:t>实验室要把适用的要求找全：国家法律法规、国家标准和行业标准、地方规定、学校和学院的制度，逐项对照、逐项落实，一项不落。可以问问自己：我们遵从哪些法律、指南、伦理要求、规范和标准？翻一翻本实验室的制度和记录，就知道合规做到了哪一步。</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病原微生物实验室生物安全管理条例》等规定（以现行文本为准）：新建、改建、扩建一级、二级生物安全实验室，按规定向主管部门备案；三级、四级实验室须通过国家认可，开展高致病性病原微生物相关实验活动还须经批准。具体程序以现行规定和本校规定为准。</a:t>
            </a:r>
          </a:p>
          <a:p>
            <a:r>
              <a:t>学生不得擅自开展高致病性病原微生物或未经评估审批的实验活动，不得在防护级别不够的实验室里做高级别的实验（越级操作），不得私自带出、转移、赠送菌（毒）种和样本。</a:t>
            </a:r>
          </a:p>
          <a:p>
            <a:r>
              <a:t>违反生物安全法律法规，要承担相应的法律责任。守规矩，既是保护自己，也是保护大家。</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生物安全的知识和法规在不断更新，要持续学习新知识、新规定，按要求参加复训。</a:t>
            </a:r>
          </a:p>
          <a:p>
            <a:r>
              <a:t>工作中对异常保持警觉：设备报警、气流异常、样本容器破损、身体不适等，都要立即停止操作，报告实验室负责人，按本校规定处理。</a:t>
            </a:r>
          </a:p>
          <a:p>
            <a:r>
              <a:t>把风险挡在实验室里、防患于未然，靠的是每个人。生物安全的组织和责任见第 070 课，安全文化见第 010 课。</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答案：B。解析：我国按危害程度把病原微生物分为四类，第一类危害最大、第四类最小；国际风险组 1 组最低、4 组最高，顺序相反。</a:t>
            </a:r>
          </a:p>
          <a:p>
            <a:r>
              <a:t>第 2 题 答案：B。解析：生物安全保护人员、环境和公众，目标是防止实验室获得性感染和防止病原意外释放。</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答案：C。解析：生物安全重点防无意的暴露和释放，生物安保重点防丢失、被盗、被滥用和故意释放，二者相辅相成。</a:t>
            </a:r>
          </a:p>
          <a:p>
            <a:r>
              <a:t>第 4 题 答案：D。解析：5P 指病原、人员、场所、个人防护、规程，五个要素一起看才能定准风险。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答案：B。解析：国际手册只作参考，必须在国内法律框架内使用，以国内法规、国家标准、行业标准和本校规定为准。</a:t>
            </a:r>
          </a:p>
          <a:p>
            <a:r>
              <a:t>第 6 题 答案：属于越级操作和私带样本，违反生物安全法规和本校规定，要承担法律责任；应先做风险评估，在相应防护级别的实验室开展并按规定审批，样本不得带出实验室。解析：守规矩既保护自己，也保护公众。</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生物因子是指可能对人体健康造成危害的微生物和其他生物材料，包括细菌、病毒、真菌及其他微生物，寄生虫，朊病毒这样的致病蛋白颗粒，以及它们产生的毒素等。</a:t>
            </a:r>
          </a:p>
          <a:p>
            <a:r>
              <a:t>关键在于它们会损害人的健康：轻则引起过敏，重则引起疾病甚至死亡。凡能对人造成危害的生物因子，都要纳入管理，做风险评估、按规定防护。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不同生物因子的特点不同，决定了防护的重点：</a:t>
            </a:r>
          </a:p>
          <a:p>
            <a:r>
              <a:t>- 细菌：不少来自土壤和水。有的能形成芽孢，对干燥、高温、消毒剂耐受力很强，在环境中能长期存活，操作时要特别注意防气溶胶，灭菌要彻底。支原体是一类没有细胞壁的细菌，作用于细胞壁的抗生素对它无效，常侵犯呼吸道。</a:t>
            </a:r>
          </a:p>
          <a:p>
            <a:r>
              <a:t>- 病毒：只能在活细胞内复制。有的能引起出血热等严重甚至致命的疾病，很多还没有特效药。</a:t>
            </a:r>
          </a:p>
          <a:p>
            <a:r>
              <a:t>- 真菌：酵母类中有带荚膜的致病种类，对免疫力低下的人尤其危险；霉菌等丝状真菌靠孢子随空气扩散，有的来自鸟粪和土壤，有的能产生毒素。免疫力低下时，常见的真菌也可能致病。</a:t>
            </a:r>
          </a:p>
          <a:p>
            <a:r>
              <a:t>这些特点在风险评估和选择消毒灭菌方法时都要考虑（评估要素见第 068 课，消毒灭菌见第 076 课）。</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除细菌、病毒、真菌外，还有几类特殊的生物因子：</a:t>
            </a:r>
          </a:p>
          <a:p>
            <a:r>
              <a:t>- 朊病毒：一类具有感染性的蛋白颗粒，比较少见，可引起人和动物的慢性神经退行性疾病，对常规消毒灭菌方法抵抗力强，处理要求特殊，按本校规定和专门规程执行。</a:t>
            </a:r>
          </a:p>
          <a:p>
            <a:r>
              <a:t>- 感染性核酸：有些病毒的核酸本身就有感染性，操作核酸同样不能大意。</a:t>
            </a:r>
          </a:p>
          <a:p>
            <a:r>
              <a:t>- 寄生虫和媒介：血液寄生虫、作为中间宿主的螺，以及能传播疾病的蜱、蚤等节肢动物，都要纳入管理（实验动物与媒介生物见第 084 课）。</a:t>
            </a:r>
          </a:p>
          <a:p>
            <a:r>
              <a:t>- 生物毒素：不是活体，不会繁殖，但毒性可以很强，同样要按危险材料管理（见第 069 课）。</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病原按风险高低分组，主要看两方面：一是对个体的风险——引起的疾病有多严重，有没有有效的治疗和预防手段；二是对群体（社区）的风险——会不会在人与人、动物与人之间传播，传开后对公众、家畜和环境的影响有多大。</a:t>
            </a:r>
          </a:p>
          <a:p>
            <a:r>
              <a:t>国际上通行的风险组和我国的危害程度分类，都是从这两方面判断的，但编号方向相反（见 K7）。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国际上通行把生物因子分为四个风险组，数字越大风险越高：1 组最低、4 组最高（注意：与我国病原分类的编号方向相反，见 K7）。</a:t>
            </a:r>
          </a:p>
          <a:p>
            <a:r>
              <a:t>- 第 1 组：个体风险低、群体风险低。一般不会让健康成人或动物生病，例如常用的大肠杆菌实验室菌株、用于发酵的微生物。风险低，也要按规范操作。</a:t>
            </a:r>
          </a:p>
          <a:p>
            <a:r>
              <a:t>- 第 2 组：个体风险中等、群体风险低。能让人或动物生病，但对实验人员、社区、家畜和环境危害不大；实验室暴露也可能引起严重感染，但有有效的治疗和预防手段，感染扩散的风险有限。</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第 3 组：个体风险高、群体风险低（或低到中等）。通常引起人或动物的严重疾病，甚至可能致死，但一般不会在人与人之间传开，而且一般有有效的治疗和预防手段。</a:t>
            </a:r>
          </a:p>
          <a:p>
            <a:r>
              <a:t>- 第 4 组：个体风险和群体风险都高。可引起人或动物的严重乃至致命的疾病，容易直接或间接在人与人、动物与人之间传播，通常没有有效的治疗和预防手段，只能在最高防护级别的设施里操作。</a:t>
            </a:r>
          </a:p>
          <a:p>
            <a:r>
              <a:t>学生实验不涉及这些高风险病原；相关实验活动在国内属于高致病性病原微生物管理范围（见 K9）。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按《病原微生物实验室生物安全管理条例》（以现行文本为准），我国根据传染性、感染后对个体或群体的危害程度，把病原微生物分为四类：</a:t>
            </a:r>
          </a:p>
          <a:p>
            <a:r>
              <a:t>- 第一类：能够引起人类或者动物非常严重疾病的微生物，以及我国尚未发现或者已经宣布消灭的微生物；</a:t>
            </a:r>
          </a:p>
          <a:p>
            <a:r>
              <a:t>- 第二类：能够引起人类或者动物严重疾病，比较容易直接或者间接在人与人、动物与人、动物与动物间传播的微生物；</a:t>
            </a:r>
          </a:p>
          <a:p>
            <a:r>
              <a:t>- 第三类：能够引起人类或者动物疾病，但一般情况下对人、动物或者环境不构成严重危害，传播风险有限，实验室感染后很少引起严重疾病，并且具备有效治疗和预防措施的微生物；</a:t>
            </a:r>
          </a:p>
          <a:p>
            <a:r>
              <a:t>- 第四类：在通常情况下不会引起人类或者动物疾病的微生物。</a:t>
            </a:r>
          </a:p>
          <a:p>
            <a:r>
              <a:t>一定要记住：国内数字越小越危险，国际数字越大越危险。国际第 4 组大致对应国内第一类、国际第 1 组大致对应国内第四类，但这只是大致对应，不能机械换算；某种病原属于第几类，以国内目录为准（见 K10）。填表、写报告和标签时，注明用的是哪一套编号，不要混写。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与病原分类不同，生物安全实验室的防护级别国内外方向一致：一级（BSL-1）最低，四级（BSL-4）最高（分级见第 059 课）。</a:t>
            </a:r>
          </a:p>
          <a:p>
            <a:r>
              <a:t>所以不能把病原的“第几类”和实验室的“第几级”简单对号入座：国内第一类病原危害最大，需要的是高级别实验室，绝不是一级实验室。具体某项实验在哪一级实验室做，先查目录中该实验活动所需的级别，再结合风险评估确定（定级步骤见第 060 课）。</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类、第二类病原微生物统称为高致病性病原微生物。按《病原微生物实验室生物安全管理条例》（以现行文本为准），从事高致病性病原微生物相关实验活动，须在相应防护级别的实验室进行，并按规定报经批准。</a:t>
            </a:r>
          </a:p>
          <a:p>
            <a:r>
              <a:t>学生不得擅自开展涉及高致病性病原微生物的实验，也不得接触、索要、私自保存这类菌（毒）种和样本。任何涉及病原微生物的实验，都要先经导师和单位按本校规定审查。</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某种病原属于第几类、做什么实验需要几级实验室，以国家卫生健康委发布的《人间传染的病原微生物目录》（以现行版本为准）为准。目录按病毒、细菌类、真菌、朊病毒等列出各病原的危害程度分类，并分别写明不同实验活动（如培养、动物感染实验、未经培养的感染材料操作、灭活材料和无感染性材料操作）所需的实验室防护级别，以及运输包装要求。</a:t>
            </a:r>
          </a:p>
          <a:p>
            <a:r>
              <a:t>同一病原，实验活动不同，所需级别也可能不同。国外资料和网上名单的归类可能与国内不一样，只能作参考；目录会修订，查分类和防护要求时要用现行最新版本，不要使用网上流传的旧表格。</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录没有列出的微生物（包括新分离的、来源不明的）不能自行认定为低风险。应先由项目负责人组织风险评估，提出建议的防护级别和措施，报单位生物安全委员会审查确定；批准后，按确定的级别和防护开展实验，并按国家有关规定办理（以现行规定和本校规定为准）。未知病原和来源不明的样本从严对待，定级步骤见第 060 课，生物安全委员会见第 070 课。</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动物病原微生物在国内另有《动物病原微生物分类名录》（以现行版本为准）。实验涉及动物或人兽共患病原时，人间传染的病原目录和动物病原名录都要查清楚。</a:t>
            </a:r>
          </a:p>
          <a:p>
            <a:r>
              <a:t>农业转基因生物另有安全等级体系，按《农业转基因生物安全管理条例》等规定（以现行文本为准）分为Ⅰ至Ⅳ级，Ⅰ级最低、Ⅳ级最高，方向又与病原分类不同（见第 081 课）。填写申请表、评估表时写清楚用的是哪一套分级，不要混用。</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风险分组是一般性的判断。同一种病原在不同地区风险可能不同，评估和确定措施时还要考虑地区因素：</a:t>
            </a:r>
          </a:p>
          <a:p>
            <a:r>
              <a:t>1. 致病性，包括本地出现的变异株；</a:t>
            </a:r>
          </a:p>
          <a:p>
            <a:r>
              <a:t>2. 传播方式和宿主范围，以及本地人群的免疫水平、人口密度和流动性、有没有适宜的传播媒介、气候等环境条件；</a:t>
            </a:r>
          </a:p>
          <a:p>
            <a:r>
              <a:t>3. 本地能否获得有效的预防措施；</a:t>
            </a:r>
          </a:p>
          <a:p>
            <a:r>
              <a:t>4. 本地能否获得有效的治疗。</a:t>
            </a:r>
          </a:p>
          <a:p>
            <a:r>
              <a:t>四个因素都考虑到，评估才完整。在国内，病原类别以目录为准，地区因素用于具体实验的风险评估（评估要素见第 068 课）。</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化学品有安全技术说明书，病原也有类似的资料单（病原安全数据表），一种病原一份，列出它的特性、传播途径、危害、消毒灭活方法、防护和处置要求等，是做风险评估的常用参考工具。</a:t>
            </a:r>
          </a:p>
          <a:p>
            <a:r>
              <a:t>常用的病原资料单多为国外公开发布的在线资料，内容不断更新，可以参考；但其中的风险组编号和防护建议不能替代国内目录和规定，国内类别以《人间传染的病原微生物目录》为准。</a:t>
            </a:r>
          </a:p>
          <a:p>
            <a:r>
              <a:t>资料单有手机版，查阅方便；但不要把手机带进高等级实验室——手机可能被污染，成为传播感染的媒介。进入实验室的个人物品按本实验室规定管理。</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常见的病原资料单分为九个部分：</a:t>
            </a:r>
          </a:p>
          <a:p>
            <a:r>
              <a:t>1. 感染因子：名称、类型、分类和特性。</a:t>
            </a:r>
          </a:p>
          <a:p>
            <a:r>
              <a:t>2. 危害识别：致病性、传播性、宿主范围、感染剂量（往往难以确定）、潜伏期。</a:t>
            </a:r>
          </a:p>
          <a:p>
            <a:r>
              <a:t>3. 传播：传播途径，有没有储存宿主和媒介，是否人兽共患。</a:t>
            </a:r>
          </a:p>
          <a:p>
            <a:r>
              <a:t>4. 稳定性与存活：是否耐药，对哪些消毒剂敏感（消毒剂要选对，并保证足够的接触时间），能否用高温灭活，离开宿主能存活多久。</a:t>
            </a:r>
          </a:p>
          <a:p>
            <a:r>
              <a:t>5. 急救与医疗：医学监测、急救，有没有疫苗和预防用药；属于法定报告传染病的要按规定上报。</a:t>
            </a:r>
          </a:p>
          <a:p>
            <a:r>
              <a:t>6. 实验室危害：已报告的实验室感染、可能带有病原的标本来源、特殊危害；患者样本中还可能含有其他病原。</a:t>
            </a:r>
          </a:p>
          <a:p>
            <a:r>
              <a:t>7. 暴露控制与个人防护：风险越高，所需实验室级别和个人防护越高（国内级别以目录和评估为准）。</a:t>
            </a:r>
          </a:p>
          <a:p>
            <a:r>
              <a:t>8. 处置与储存：溢洒清理规程、销毁处置要求，储存要登记、上锁。</a:t>
            </a:r>
          </a:p>
          <a:p>
            <a:r>
              <a:t>9. 法规与其他信息：相关法规、更新日期、编写者、参考文献。资料单是受控文档，可以按病原名称查到。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答案：B。解析：我国病原微生物分四类，第一类危害最大、第四类最小，与国际风险组（1 组最低、4 组最高）方向相反。</a:t>
            </a:r>
          </a:p>
          <a:p>
            <a:r>
              <a:t>第 2 题 答案：B。解析：实验室级别国内外同向，四级最高；第一类病原危害最大，需要高级别实验室，并须经批准。</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答案：B。解析：其相关实验活动须在相应级别实验室进行并经批准，学生不得擅自开展。</a:t>
            </a:r>
          </a:p>
          <a:p>
            <a:r>
              <a:t>第 4 题 答案：C。解析：国外资料只作参考，以国内现行目录为准，并结合具体实验活动的风险评估。</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答案：B。解析：目录未列的微生物先做风险评估，报单位生物安全委员会确定级别和防护，批准后再开展。</a:t>
            </a:r>
          </a:p>
          <a:p>
            <a:r>
              <a:t>第 6 题 答案：要考虑地区因素：致病性（含本地变异株），传播方式、宿主范围、本地人群免疫、人口密度和流动性、媒介和气候，本地能否获得有效的预防和治疗。解析：四个因素都考虑到，评估才完整。</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生物安全防护级别（生物安全水平，BSL）是一整套标准化的防护措施，包括安全规程和做法、安全设备和实验室设施，用来控制操作微生物带来的风险，保护操作人员、公众和环境。</a:t>
            </a:r>
          </a:p>
          <a:p>
            <a:r>
              <a:t>我国把生物安全实验室按防护水平分为一级、二级、三级、四级（BSL-1～BSL-4），从一级到四级逐级加严：等级越高，对应的生物因子风险越高，防护措施也越严。设计实验室、编写实验室安全手册，都按级别来确定要求。</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实验在哪一级实验室做，取决于所操作生物因子的危害和具体实验活动（如何为具体实验定级见第 060 课）。每一级对三方面都有要求：什么样的房间和设施；用什么安全设备；按什么程序操作。</a:t>
            </a:r>
          </a:p>
          <a:p>
            <a:r>
              <a:t>级别越高，设施要求越多：三级、四级实验室要与其他区域独立隔离，房间能密封，可以进行气体熏蒸消毒，并有定向气流、负压和排风高效过滤等工程措施（封闭原理见第 062 课）。各级具体的操作要求见第 061 课。</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实验室防护级别与病原分类是两套不同的编号：实验室级别国内外一致，一级最低、四级最高，动物生物安全实验室（ABSL）也一样；而病原微生物分类，国内第一类危害最大、第四类最小，国际风险组则是 1 组最低、4 组最高，方向相反（见第 058 课）。</a:t>
            </a:r>
          </a:p>
          <a:p>
            <a:r>
              <a:t>记口诀：病原分类反着走，实验室级别顺着走。国内第一类、第二类（高致病性）病原，需要的是高级别实验室。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级生物安全实验室（BSL-1）风险最低，操作的是已知通常不会使健康成人致病的微生物，例如无害的实验室菌株、做面包的酵母、土壤和水中的常见非致病菌。许多基础教学实验、微生物学入门课就在这一级开展。</a:t>
            </a:r>
          </a:p>
          <a:p>
            <a:r>
              <a:t>一级实验室通常是开放台面，一般不需要专门的封闭设施；但仍要遵守基本操作规范，穿实验服、戴手套，做好洗手和台面消毒，限制无关人员进入。一级实验室大致对应国际第 1 组，具体以国内目录和风险评估为准。</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级生物安全实验室（BSL-2）操作的是有中度风险的微生物：能让人生病，引起轻到中度疾病，但一般不严重，或者有有效的治疗和预防手段，例如一些常见的致病细菌、病毒和寄生虫；具体某种病原、某项实验需要几级，查《人间传染的病原微生物目录》。二级实验室多用于临床检验、高校科研和医院实验室。</a:t>
            </a:r>
          </a:p>
          <a:p>
            <a:r>
              <a:t>与一级相比，二级要受控进入：门能自动关闭，门口挂生物危害标志和防护级别、负责人等信息，有合适的通风，配备洗手池和高压灭菌器等设施；可能产生气溶胶的操作要在生物安全柜内进行。人员要先经过培训，会操作、会处置感染性材料；按风险评估，必要时加戴面屏和呼吸防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生物安全实验室（BSL-3）也称防护实验室，用于特殊诊断和较高危害病原的研究，对应可经空气吸入传播、能引起严重甚至致命疾病的病原。多设在高级临床实验室、公共卫生实验室和科研机构；涉及高致病性病原微生物的实验活动须在相应级别实验室并经批准。</a:t>
            </a:r>
          </a:p>
          <a:p>
            <a:r>
              <a:t>三级实验室与其他区域隔离，有门禁和缓冲间；房间保持负压，形成由清洁区向污染区的定向气流，排风经高效过滤后排出；房间可密封，能做气体熏蒸消毒；所有感染性材料操作都在生物安全柜内进行。人员须经严格培训，严格按程序操作和去污，按要求穿全身防护、戴呼吸防护。三级实验室须通过国家认可。布局与进出见第 063 课。</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四级生物安全实验室（BSL-4）是最高等级的防护，对应能危及生命、可经气溶胶传播、通常缺乏有效预防和治疗手段的高危病原；已宣布消灭的病原只在极少数指定机构保存。</a:t>
            </a:r>
          </a:p>
          <a:p>
            <a:r>
              <a:t>四级实验室有两种基本形式：人员穿独立供气的正压防护服工作（即使防护服破损，空气也是向外吹），或者在三级生物安全柜（全封闭手套箱式）内操作。进出要经过多道去污缓冲区，出口设化学淋浴和人员淋浴，物品经双扉高压灭菌器传出，有专用的通风和废水处理系统。进入受到严格控制，所有工作都在有经验人员的监督下进行。</a:t>
            </a:r>
          </a:p>
          <a:p>
            <a:r>
              <a:t>四级实验室造价和运行费用都非常高，维护和监管要求极严，只在国家批准的少数设施中建设；大多数从业人员工作在二级、三级实验室，高校学生平时接触的是一级、二级。</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用动物做感染性实验，按动物生物安全实验室分级，即 ABSL-1～ABSL-4，同样一级最低、四级最高（GB 19489-2008，以现行文本为准）。动物实验除了防操作中的暴露，还要防动物咬伤、抓伤，防动物排出的分泌物、排泄物和垫料中的病原，以及动物逃逸（见第 084 课）。</a:t>
            </a:r>
          </a:p>
          <a:p>
            <a:r>
              <a:t>植物病原和转基因植物的研究设施（如封闭温室）另有专门要求（见第 082 课）。国际资料中有在级别后加“加号”的“加强型”说法，表示在本级基础上借用了更高一级的部分设计或措施；国内以现行标准和主管部门要求为准。</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实验室分级的标准不是一个机构说了算。在国内，是法律、法规、标准一层层落实：最上层是《中华人民共和国生物安全法》，下面是《病原微生物实验室生物安全管理条例》；技术要求写在国家标准 GB 19489-2008《实验室 生物安全通用要求》和行业标准 WS 233《病原微生物实验室生物安全通用准则》中（均以现行文本为准），包括防护设施、个人防护、实验室设计以及每一级的具体要求；具体病原的哪类实验放在几级做，查《人间传染的病原微生物目录》。</a:t>
            </a:r>
          </a:p>
          <a:p>
            <a:r>
              <a:t>标准和目录会随着新的认识不断修订。查规定时先确认是不是现行有效版本，旧版本不要再照用；学校发布更新通知，要及时学习。</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国际上也有国际组织制定实验室生物安全手册，以及针对高风险病原的专项指南，尤其帮助公共卫生体系还在建设中的国家，在全球疫情应对中发挥作用。</a:t>
            </a:r>
          </a:p>
          <a:p>
            <a:r>
              <a:t>这些手册和指南在我国只作参考和背景资料。实验室分级、设施要求、审批程序，一律以国内法律法规、国家标准、行业标准和本校规定为准。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用一张图记住谁管什么：</a:t>
            </a:r>
          </a:p>
          <a:p>
            <a:r>
              <a:t>- 国际组织：提供手册和指南，作为国际参考；</a:t>
            </a:r>
          </a:p>
          <a:p>
            <a:r>
              <a:t>- 国家：法律、行政法规确定管理框架，国家标准和行业标准规定技术要求；</a:t>
            </a:r>
          </a:p>
          <a:p>
            <a:r>
              <a:t>- 主管部门和认可机构：卫生健康、农业农村等主管部门负责实验室备案和实验活动审批，三级、四级实验室须通过国家认可（具体分工以现行规定为准）；</a:t>
            </a:r>
          </a:p>
          <a:p>
            <a:r>
              <a:t>- 单位：学校生物安全委员会和实验室管理部门负责本地的审查、监督和执行，实验室负责人负责本实验室的日常管理（见第 070 课）。</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高校学生的教学和多数科研实验在一级、二级实验室开展。进入三级、四级实验室工作，须经单位专门批准，接受专门培训并考核合格，获得授权；学生不得自行进入或开展相关实验。</a:t>
            </a:r>
          </a:p>
          <a:p>
            <a:r>
              <a:t>任何涉及病原微生物的实验，都要按国家目录和风险评估确定实验室级别，经批准后在相应级别的实验室里做；进入实验室前先通过准入培训，做好个人防护。拿不准实验该在几级做，先问导师和实验室负责人，不擅自开展。</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答案：B。解析：实验室级别国内外同向，四级最高；病原分类国内第一类最危险，方向相反。</a:t>
            </a:r>
          </a:p>
          <a:p>
            <a:r>
              <a:t>第 2 题 答案：A。解析：二级实验室受控进入、门自动关闭、挂标识，可能产生气溶胶的操作进安全柜。</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答案：C。解析：三级实验室用于可经吸入致严重疾病的病原，须通过国家认可。</a:t>
            </a:r>
          </a:p>
          <a:p>
            <a:r>
              <a:t>第 4 题 答案：A。解析：以法律、条例为框架，技术要求见 GB 19489-2008 和 WS 233（以现行文本为准），国际手册只作参考。</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答案：先查现行目录、做风险评估，并请教导师和实验室负责人，按确定的级别和批准开展；拿不准时不擅自做。解析：学生实验多在一级、二级，三四级须专门批准、培训和授权。</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为一种新微生物或一项新实验确定防护等级，不是在表格里查一下就行，而是一套结构化的风险评估：评估病原本身、实验操作、对人员的风险和对环境的影响，使实验室的防护水平与病原和具体操作相匹配。</a:t>
            </a:r>
          </a:p>
          <a:p>
            <a:r>
              <a:t>注意两套编号：国内病原分类第一类危害最大、第四类最小，国际风险组 1 组最低、4 组最高，方向相反；实验室防护级别则国内外同向，四级最高（见第 058、059 课）。第一类、第二类属于高致病性病原微生物，相关实验须在相应级别实验室并经批准。</a:t>
            </a:r>
          </a:p>
          <a:p>
            <a:r>
              <a:t>先查国家目录、做风险评估、确定级别，再按级别配备设施、设备和个人防护。通用的风险评估步骤和风险矩阵见第 067 课。</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是认清要操作的到底是什么：属于什么种、什么株，有没有已知的变异，是否经过基因改造。然后与《人间传染的病原微生物目录》（以现行版本为准）和已有分类资料对照，确定它在国内的危害程度类别。具体分类以国内目录为准，国外资料只作参考。</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第二步评估致病性：它会不会让人或动物生病？如果会，病情有多严重？多少量就可能造成感染（感染剂量）？致病性越强、感染剂量越低，需要的防护级别往往越高。病原层面更详细的评估要素见第 068 课。</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第三步看传播途径：能不能随空气被吸入？会不会经皮肤黏膜接触、经口食入，或经针头等锐器刺伤进入人体？</a:t>
            </a:r>
          </a:p>
          <a:p>
            <a:r>
              <a:t>能经空气（气溶胶）传播、引起严重疾病的病原，通常需要更高级别的实验室（如三级）。具体某种病原、某项实验需要几级，查目录并结合评估确定，不凭印象。</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第四步看防治手段：有没有有效的治疗药物和疫苗？万一发生暴露，能不能及时进行急救、预防性用药和医学观察？</a:t>
            </a:r>
          </a:p>
          <a:p>
            <a:r>
              <a:t>没有有效治疗和预防手段的病原，一旦感染后果最严重，防护级别也要相应提高。暴露后的处置见第 078 课。</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第五步看实验活动本身：会不会产生气溶胶（如离心、匀浆、超声、剧烈混匀），会不会用到锐器？是不是高浓度、大体积操作？涉不涉及动物感染实验？涉不涉及重组 DNA 或基因改造？</a:t>
            </a:r>
          </a:p>
          <a:p>
            <a:r>
              <a:t>同一种病原，实验活动不同，所需级别也不同：例如对未经培养的样本做检测，与大量培养活的病原，风险和要求差别很大；目录对不同实验活动分别规定了所需的实验室级别（以现行版本为准）。培养活病毒等高风险活动须经批准，学生不得擅自开展。</a:t>
            </a:r>
          </a:p>
          <a:p>
            <a:r>
              <a:t>涉及基因改造（如使用病毒载体）的实验，可能需要提高防护级别，并须先经单位生物安全委员会审批（见第 081 课）；涉及可能被滥用的两用研究，还要经过相应的伦理和安全审查（见第 083 课）。</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第六步看本实验室的条件：实验室的防护级别和设施设备够不够？人员是否受过相应培训、考核合格？个人防护装备是否齐全？应急处置条件是否具备？防护条件必须与风险等级相匹配。</a:t>
            </a:r>
          </a:p>
          <a:p>
            <a:r>
              <a:t>条件不够，就不要硬上。涉及第一类、第二类等高致病性病原微生物的，必须在具备条件的实验室并经批准才能开展；不具备条件的，按规定移交有资质的机构处理，或者按规定销毁（以现行规定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第七步，查规范、问专家：对照国内法律法规、GB 19489、WS 233 和《人间传染的病原微生物目录》（均以现行文本或版本为准），国外手册只作参考；再向实验室负责人、生物安全员和单位生物安全委员会咨询。</a:t>
            </a:r>
          </a:p>
          <a:p>
            <a:r>
              <a:t>防护级别不是研究者自己说了算：由项目负责人组织评估、提出拟定级别，经生物安全员或单位生物安全委员会评定、审批后确定；高致病性病原微生物的实验活动还须依法审批。学生不得自行定级，不得擅自开展。生物安全委员会的职责见第 070 课。</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各步骤的评估结果综合起来，最终级别取最高的那个风险因素：哪怕只有一项风险高，也要按高的来。</a:t>
            </a:r>
          </a:p>
          <a:p>
            <a:r>
              <a:t>举个例子：某菌株本身属于低风险，按本体可在一级实验室操作；但经过基因改造后要重新评估改造带来的变化，实验中又有产生气溶胶的操作，综合各项取最高，给出拟定级别。拟定的级别仍要报单位生物安全委员会审批，批准后才能开展。</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国际资料常说“风险组不等于实验室级别”，要结合管理控制措施逐案评估。例如有人问：国际风险组 3 的病原一定要进三级实验室吗？逐案评估的思路是对的，但在国内必须按规定来：先查《人间传染的病原微生物目录》，目录对不同实验活动所需的实验室级别有明确规定。</a:t>
            </a:r>
          </a:p>
          <a:p>
            <a:r>
              <a:t>在国内不能随意降级操作。想在比目录规定低一级的实验室里做，研究者不能自己决定，必须有充分的风险评估，经单位生物安全委员会审核；涉及高致病性病原微生物的，还须依法审批（以现行规定为准）。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病原还没有确认时信息不全，评估要从严，宁可防护高一档，并报单位生物安全委员会审核。</a:t>
            </a:r>
          </a:p>
          <a:p>
            <a:r>
              <a:t>细胞系、临床样本、来源不明的样本，在目录里不一定查得到，同样要做风险评估，确定在几级实验室操作；拿不准的交单位生物安全委员会把关。</a:t>
            </a:r>
          </a:p>
          <a:p>
            <a:r>
              <a:t>噬菌体实验离不开宿主菌，用于杀灭致病菌的噬菌体，宿主往往就是致病菌，防护级别要按宿主菌和样品来评估，致病宿主菌在生物安全柜内规范操作。污泥、污水常被用作接种物，里面什么菌都可能有，包括致病菌；富集培养会把杂菌一起放大，评估后一般在二级实验室操作。</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定级评估不是口头说说，要形成书面的风险评估报告，经审核批准后留档，做到可追溯（GB 19489-2008，以现行文本为准）。</a:t>
            </a:r>
          </a:p>
          <a:p>
            <a:r>
              <a:t>实验内容、病原、规模、方法、人员或设施条件发生变化时，要重新做风险评估。采取控制措施后残余风险仍然偏高的，要上报单位生物安全委员会，由委员会决定是否开展，不擅自开工。风险评估的记录与复查见第 067 课。</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答案：B。解析：定级是一套结构化风险评估，级别由生物安全委员会评定审批。</a:t>
            </a:r>
          </a:p>
          <a:p>
            <a:r>
              <a:t>第 2 题 答案：B。解析：改造后要重新评估，结合操作中的气溶胶等风险，综合取最高，并报委员会审批。</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答案：B。解析：在国内不得随意降级操作。</a:t>
            </a:r>
          </a:p>
          <a:p>
            <a:r>
              <a:t>第 4 题 答案：B。解析：同样要做风险评估确定级别，信息不全时从严，拿不准交生物安全委员会把关。</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答案：不硬上；涉及高致病性病原的须在具备条件的实验室并经批准开展，否则按规定移交有资质的机构处理；报告实验室负责人。解析：防护条件必须与风险等级匹配。</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较各级生物安全实验室，可以列一张对比表：先看病原风险——一级操作通常不使健康成人致病的微生物，二级操作能致病但一般可防可治的病原，三级对应可经空气传播、后果严重的病原，四级对应危及生命且缺乏有效防治手段的病原（分级见第 059 课）。举例只看类别：一级多为无害的实验室菌株，二级多为常见可治的致病菌；具体某种病原、某项实验活动放在几级，查《人间传染的病原微生物目录》并做风险评估（见第 060 课）。注意国内病原分类第一类最危险，与国际风险组 1–4 方向相反；实验室级别则国内外同向，一级最低、四级最高。</a:t>
            </a:r>
          </a:p>
          <a:p>
            <a:r>
              <a:t>每一级的防护措施分三栏来看：个人防护（穿什么）、安全设备即工程控制（用什么设备）、实验室设施（房子怎么建），再加上操作规范和人员培训。各级要求是一整套：房子够格、操作不到位，或者设备齐全、人员没培训，都不算达到该级别。检查时设施、设备、操作、人员都要查。</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准入随级别逐级收紧：一级实验室，经过基本培训的人员可以进入；二级实验室限制进入，无关人员不得入内；三级实验室受控进入，人员须经专门培训、批准和授权；四级实验室严格控制进入，并有高度的安保措施。</a:t>
            </a:r>
          </a:p>
          <a:p>
            <a:r>
              <a:t>进门前先看门上的标识：生物危害标志、防护级别、涉及的病原或风险、实验室负责人和联系电话，看清要求、穿戴好再进。进入生物安全实验室实行“先培训、后准入”：培训考核合格才能进门操作，使用生物安全柜等设备也要先培训、考核并获得授权；学校、学院、实验室层层负责。进三级实验室须先批准、先培训，未获准入不得进入，也不得单独进入工作。</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随级别逐级加码：一级以实验服为主，需要时戴手套和护目镜；二级在实验服、手套之外，加戴护目镜或面屏等面部防护，必须穿不露脚趾的鞋；三级穿前襟封闭的防护服，戴手套和眼面部防护，并按要求加戴呼吸防护（呼吸防护与适合性检验见第 025 课）；四级在不使用全密闭安全柜时，穿独立供气的正压防护服，手部戴多层手套。</a:t>
            </a:r>
          </a:p>
          <a:p>
            <a:r>
              <a:t>具体穿戴什么、戴什么级别的呼吸防护，由风险评估决定（防护装备的选择见第 074 课，穿脱顺序见第 075 课）。实验室的定向气流、安全柜等工程措施能帮助保护人员，但不是万能的，个人防护照样要穿戴齐全。</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设备（工程控制）随级别加严：一级有洗手设施和基本的消毒用品；二级配备生物安全柜（通常为Ⅱ级），吸液、混匀、振荡、研磨等可能产生气溶胶或溅洒的操作要放进柜里做；三级所有涉及感染性材料的操作都必须在生物安全柜或其他物理防护设备内进行，离心时使用密封的离心杯或转子；四级使用全密闭的Ⅲ级生物安全柜，或在防护服型实验室中穿正压防护服配合Ⅱ级生物安全柜工作，并有独立供气（生物安全柜见第 071、072 课）。</a:t>
            </a:r>
          </a:p>
          <a:p>
            <a:r>
              <a:t>气溶胶控制的要求同样逐级提高：一级一般无专门要求；二级在可能产生气溶胶时必须防护；三级至关重要；四级要求时刻处于全封闭状态。</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设施随级别递进：一级是普通的开放实验室，设洗手池（宜靠近出口）；二级在此基础上，门能自动关闭并有进入控制，设洗手池和洗眼装置，实验室内或所在建筑内有高压蒸汽灭菌器或其他适当的消毒灭菌设备；三级与其他区域隔离，房间保持负压，排风经高效过滤后排出（封闭原理见第 062 课，布局与进出见第 063 课）；四级完全隔离，进风、排风都要经过高效过滤，并有专用的废水处理等系统。</a:t>
            </a:r>
          </a:p>
          <a:p>
            <a:r>
              <a:t>各级设施的具体技术要求，以 GB 19489-2008、GB 50346《生物安全实验室建筑技术规范》和 WS 233（均以现行文本为准）以及本校设施说明为准。学生要做的是认识本实验室的设施、知道它们在哪里，不擅自改动。</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级实验室常见的布局：入口附近放高压灭菌器，废物就近集中灭菌，废物按类别分桶收集；门上挂生物危害标志，可加装门禁（密码、刷卡等），防止无关人员进入；按需要配备洗眼装置和应急喷淋。生物安全柜（以及化学通风柜）放在远离门口、人员走动少的最里面，空气从门口流入，经过操作者，再进入柜子，把可能的污染拉向柜内、远离人员。柜子的排风按设计连接，不能自行拆改。</a:t>
            </a:r>
          </a:p>
          <a:p>
            <a:r>
              <a:t>二级实验室同样有两道屏障：第一道是生物安全柜和个人防护，保护操作者；第二道是门、洗手池、灭菌设施和规范管理，防止污染扩散到实验室外（两道防护的原理见第 062 课）。</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良好微生物操作技术是所有级别实验室安全的基础，设施和设备再好，也替代不了规范的操作。建立实验室，第一步是制定行为规范：由实验室管理层会同使用人员一起，把最基本的操作要求一条条写清楚，形成本实验室的操作规程；生物安全员负责指导大家、理顺工作流程。</a:t>
            </a:r>
          </a:p>
          <a:p>
            <a:r>
              <a:t>良好微生物操作包括无菌操作、灭菌和去污样样到位；消毒要选对消毒剂，并等够规定的作用时间（见第 076 课）。实验室还要有应急预案，覆盖设备破损、人员发病、溢洒和火灾等情形（溢洒与暴露处置见第 078 课）。</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级、二级实验室是学生最常进入的生物实验室，日常规范人人要守：穿好实验服，按要求戴手套和护目镜，按无菌技术操作，既防样品污染，也防人员感染。实验室内不吃喝、不存放食物、不化妆，戴手套时不摸脸、手机和门把手。严禁用嘴吸移液管，使用移液器等辅助装置；尽量少用锐器，用过的锐器直接放入锐器盒。</a:t>
            </a:r>
          </a:p>
          <a:p>
            <a:r>
              <a:t>操作时动作轻缓，减少溅洒和气溶胶；实验前后和溅洒后对台面消毒。培养物、废液和污染物品灭菌后按规定处置（见第 077 课），实验菌株不得带出实验室、不得排放到外界环境。实验服不穿出实验室；做完实验先摘手套，再用洗手池按步骤洗手，然后离开。二级实验室还要保持门关闭，可能产生气溶胶的操作在安全柜内进行。</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微生物涂片和湿片可能含有活菌，观察时按相应级别穿戴防护；用过的玻片放进消毒缸消毒，或放进锐器盒；显微镜载物台被污染时及时消毒。</a:t>
            </a:r>
          </a:p>
          <a:p>
            <a:r>
              <a:t>从土壤、水等环境中分离出的菌，可能混有致病菌，鉴定前一律按未知菌对待：先做风险评估，再确定防护级别，一般在二级实验室的生物安全柜内操作；分离株标清来源和日期，鉴定结果出来之前不降级（未知样本从严定级见第 060 课）。</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级的培训都看三件事：学什么重点、谁来学、怎么练。一级的对象是学生、实习人员和初学者，重点是实验室一般安全、基础微生物操作、手卫生和台面消毒；练习穿戴防护用品、处理化学品和生物材料的小量溅洒，以及识别生物危害标志。</a:t>
            </a:r>
          </a:p>
          <a:p>
            <a:r>
              <a:t>二级的对象是检验人员、科研人员和教学实验室人员，做二级课题的学生同样要学；重点是标准操作规程、病原材料的安全操作、预防锐器伤、正确使用生物安全柜，以及发生事件后及时报告；练习血液等样本的暴露防护、安全柜的使用和去污，以及暴露后的应急演练。</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三级的对象是有经验的专业人员，重点是更深入的生物安全原则、可经空气传播病原的封闭控制、呼吸防护（要做适合性检验，见第 025 课）、进出程序和应急程序；练习包括定期复训、熟悉设施布局、呼吸防护装备的使用和维护，以及溢洒和感染事件的模拟演练。学生未经批准，不得进入三级实验室。</a:t>
            </a:r>
          </a:p>
          <a:p>
            <a:r>
              <a:t>四级的对象是专门的病原研究和公共卫生团队，要接受长期的强化训练，重点是正压防护服的使用、全封闭操作程序和严格的去污方案，必要时评估身心状况，坚持两人同行；练习全流程模拟、进出缓冲间和化学淋浴、通讯规程和紧急撤离预案。具体要求以国家规定和所在机构的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实验室人员的必备培训有六类：第一，生物安全操作——规范操作，在防护设施里做实验，学会废物的灭活和处置；第二，生物安保意识——防止未经授权的人员接触病原材料（见第 083 课）；第三，个人防护装备——按风险评估选对防护用品，按顺序穿戴，检查是否完好，脱卸时把外面当污染面，不碰到皮肤（见第 075 课）；第四，应急程序——溢洒怎么处理，什么情况要撤离，被扎伤、溅到后第一时间怎么做（见第 078 课）；第五，设备使用——安全柜怎么开、怎么用、怎么判断是否正常，高压灭菌器怎么装载、怎么防烫伤（见第 123 课）。</a:t>
            </a:r>
          </a:p>
          <a:p>
            <a:r>
              <a:t>第六，事件报告——知道向谁报告：实验室负责人、学院和学校实验室管理部门（需要时保卫处）；事故和暴露发生后立即报告，如实记录，配合后续医学评估和随访。</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每一级的培训都要留下记录，本人签字，考核合格才能准入；还要定期复训，复训周期按本校规定，操作内容、设备或规程变化时及时补训。</a:t>
            </a:r>
          </a:p>
          <a:p>
            <a:r>
              <a:t>二级及以上的培训必须动手实练，光看书、光听课不算学会。三级、四级先由有经验的人员带教跟岗，确认能独立胜任后，才给予完全准入。</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防护装备或安全设备缺失、损坏（如手套破损、护目镜缺少、安全柜报警或气流异常），先停下相关操作，不凑合、不将就；按规定处理已在进行的操作和材料，报告实验室负责人，申领防护用品或报修设备。</a:t>
            </a:r>
          </a:p>
          <a:p>
            <a:r>
              <a:t>维修后经确认恢复正常（需要检测的设备经检测合格），再恢复工作；不得擅自拆修安全柜等设备。</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答案：B。解析：二级在一级基础上加面部防护，必须穿闭趾鞋；具体按风险评估。</a:t>
            </a:r>
          </a:p>
          <a:p>
            <a:r>
              <a:t>第 2 题 答案：A。解析：二级的工程控制要求可能产生气溶胶的操作进生物安全柜。</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答案：C。解析：不饮食、不口吸、不外带实验菌，台面消毒、摘手套洗手后离开。</a:t>
            </a:r>
          </a:p>
          <a:p>
            <a:r>
              <a:t>第 4 题 答案：B。解析：环境分离菌鉴定前按未知菌对待，先评估，一般在二级安全柜内操作，鉴定前不降级。</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答案：C。解析：装备缺了坏了不开工，报告、申领或报修，确认正常再恢复。</a:t>
            </a:r>
          </a:p>
          <a:p>
            <a:r>
              <a:t>第 6 题 答案：生物安全操作、生物安保意识、个人防护装备、应急程序、设备使用、事件报告；立即报告实验室负责人、学院和学校实验室管理部门，如实记录，配合医学评估和随访。解析：培训要记录、签字、考核合格才准入，并定期复训。</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封闭（防护）是生物安全的核心思路：把病原微生物关在受控的空间里，用设备、设施和管理等各种控制措施，挡住它外泄。病原一旦外泄，既会伤到实验室人员，也会危害公众和环境。</a:t>
            </a:r>
          </a:p>
          <a:p>
            <a:r>
              <a:t>高级别生物安全实验室本身就是一个防护区，研究人员在受控的环境里工作；进入须经批准和专门培训，学生未经批准不能进入（各级准入要求见第 061 课）。合格的防护设施是重要保障，但再好的设施也要靠人按规程使用。</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分两道。一级防护（一级屏障）的作用是护住做实验的人，把操作者与病原隔开。它由安全设备和个人防护装备组成：生物安全柜、密封离心杯等安全设备，以及实验服、手套、口罩或呼吸器、护目镜等个人防护装备，再加上规范操作和穿脱防护的规程等管理措施。</a:t>
            </a:r>
          </a:p>
          <a:p>
            <a:r>
              <a:t>生物安全柜是一级防护的主力（见第 071 课）。研究植物病原时也一样：如果植物携带对人有害的病原，就要用口罩、手套等防护把人隔开。</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级防护（二级屏障）的作用是护住实验室外面的环境和公众，防止病原从实验室扩散出去。它主要靠实验室设施的工程控制：墙体、门、通风系统、高效过滤器和物理屏障，以及废水去污系统；同时也靠进出程序、去污、定期维护、物品运输和废物处置等规程。</a:t>
            </a:r>
          </a:p>
          <a:p>
            <a:r>
              <a:t>植物研究设施同样有二级封闭：靠温室等设施结构，挡住花粉和植物病原外逃（见第 082 课）。工程控制依赖设施，建设和维护的成本都较高，因此更要正确使用、按期维护。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记住一句话：一级防护保护人，二级防护保护环境；简单说，“柜护人，房护环境”。两道屏障要同时做到、一起使用，缺了任何一道，风险都会漏出去。</a:t>
            </a:r>
          </a:p>
          <a:p>
            <a:r>
              <a:t>课堂上可以做一个分组练习：准备便利贴和两个盒子，一组写“护人”的措施（实验服、手套、口罩、眼罩、送风呼吸器、生物安全柜、穿脱规程），一组写“护环境”的措施（高效过滤、废水去污、通风、定期维护、运输和废物处置规程），分别贴进两个盒子；最后把两层拼在一起，就是一间生物安全实验室的雏形。</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实验室靠定向气流把病原关在封闭空间里，这是封闭最基本的思路。通过送风和排风的设计，让空气始终从清洁区流向污染区（实验区），再经高效过滤后排出；这样，室内可能产生的气溶胶就不会跑到走廊和外面。普通房间常常是开门时空气往外流，封闭实验室正好相反，空气往里流。</a:t>
            </a:r>
          </a:p>
          <a:p>
            <a:r>
              <a:t>定向气流是生物安全实验室常见的工程控制措施，高级别实验室要求更严（具体以 GB 19489-2008、GB 50346 和本校设施说明为准）。进门前看一眼门口的压差显示和气流飘带：飘带应朝实验室里飘；读数不对、飘带外飘或有报警，先不要进去。</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气流的方向还要考虑人的位置：风从病原吹向人是不允许的；正确的是风从人身后来，经过操作的病原材料，从另一头经过滤排出。地面发生溅洒时，从清洁的一侧（上风侧）处理，不要踩进溅洒区（溢洒处置见第 078 课）。</a:t>
            </a:r>
          </a:p>
          <a:p>
            <a:r>
              <a:t>不要在排风口前堆放物品，也不要在生物安全柜前面的格栅上压放本子、物品或手臂；遮挡后气流就会紊乱，屏障随之失效（安全柜使用见第 072 课）。</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闭实验室里的气压比外面低，叫负压；负压保证空气只往里流，含病原的气溶胶跑不出去。从入口一路往里，各房间的压力一级比一级低（负压一级比一级大），形成压力梯度，病原被限制在最里面；涉及病原的操作都在最里面的负压间里进行。门口的压力显示面板正常时一般亮绿灯。</a:t>
            </a:r>
          </a:p>
          <a:p>
            <a:r>
              <a:t>各级、各房间的压差和换气要求由 GB 19489-2008、GB 50346（均以现行文本为准）规定，具体数值以本校设施说明为准；使用者不需要也不应自行调节，只要会看、会判断是否正常。布局与进出见第 063 课。</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外部环境和防护区之间的一小段空间叫气锁（缓冲间）：一侧通向外部，一侧就是防护区。气锁靠压力差把两边的空气隔开：有的设施把缓冲间的压力设在两侧之间，让空气逐级向内流；有的把气锁设计成高于两侧的正压，两边的空气都进不来。可以把它比作商场门口的风幕，一道“气墙”把病原挡在里面——这只是比喻，真正靠的是压力差（本设施的压力设计以本校设施说明为准）。</a:t>
            </a:r>
          </a:p>
          <a:p>
            <a:r>
              <a:t>实验室的门也是二级防护的一部分：进出随手关门，不能用东西撑开；有缓冲间的，两道门不同时打开，有互锁指示灯的，灯没变绿就等一等，不强行开门。</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移液、离心、混匀等操作都会产生气溶胶。个人防护装备能护住人，但室内的气溶胶需要靠持续换气来稀释和带走，就像漂洗衣服一样，一遍遍把污染带走。</a:t>
            </a:r>
          </a:p>
          <a:p>
            <a:r>
              <a:t>在高级别封闭实验室，空气经过滤后送入，流过操作区，带走可能的污染，再经高效过滤排出去，这样实验室外的社区就是安全的。换气次数等参数以现行标准和本校设施说明为准。</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闭实验室要排出去的空气，必须先经过高效空气过滤器（HEPA）。过滤器里是层层纤维，颗粒和病原被纤维截住；更小的颗粒做无规则运动，也会撞上纤维被抓住，只有干净的空气才能出去。很多设施把房间气流引向天花板或高处的过滤排风口，过滤后排出，这种靠设施的措施就是工程控制。高效过滤器有严格的效率标准，以现行国家标准为准。</a:t>
            </a:r>
          </a:p>
          <a:p>
            <a:r>
              <a:t>过滤器靠密封装置安装，不能漏风；用久了滤材会老化，要按期检测和更换。更换由经过培训的专业人员完成，采用袋进袋出等方式，旧过滤器先去污再废弃，不能重复使用。学生不得自行拆卸或更换过滤器（设施运行见第 064 课）。</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每一道防护屏障都有局限，不能全靠它。高效过滤器效率很高，但不是百分之百，安装或老化可能造成泄漏，所以要定期检测；更重要的是从源头少产生气溶胶——安全柜在前面拦截，房间气流作为兜底。</a:t>
            </a:r>
          </a:p>
          <a:p>
            <a:r>
              <a:t>无论措施有多少，总有剩余风险，所以还要靠规范操作、培训和应急准备。回顾本课：实验室设施、定向气流和负压、生物安全柜（定期检测、放对位置、按规程使用）、高压灭菌器（按规定管理）等措施要一起用，缺一不可。</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正常情况下，气流应该流进实验室。如果一开门，门口的飘带却朝走廊外面飘，说明空气正从实验室往外流，定向气流这道屏障失效了。这时不能“先进去干活再说”。</a:t>
            </a:r>
          </a:p>
          <a:p>
            <a:r>
              <a:t>正确做法：不进入，不开展任何实验，关好门；在门口挂牌，提醒其他人也不要进入。如果已经在里面，就停止操作，把材料收好封好，撤出并关门。</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发现气流异常后，马上报告实验室负责人，并通知设施人员检查通风系统；报告时说清发现的时间、现象（飘带方向、压差读数或报警）和位置。按本校规定，必要时报告学院和学校实验室管理部门。</a:t>
            </a:r>
          </a:p>
          <a:p>
            <a:r>
              <a:t>设施人员修好后，先验证气流已恢复向内、压差正常；经实验室负责人确认后，才能恢复实验。以后每次进门，都先看一眼飘带和压差显示。</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正在做实验时，如果通风系统报警、压差异常或停电，先停下操作，把容器盖好、样本封好，安全柜内的材料按规定收好；然后按程序脱卸个人防护装备，撤出实验室，关好门。</a:t>
            </a:r>
          </a:p>
          <a:p>
            <a:r>
              <a:t>撤出后马上按应急预案报告实验室负责人，等设施恢复并确认正常后再进入。高级别实验室的应急处置按本单位应急预案执行。</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答案：B。解析：一级护人，二级护环境，两道一起用。</a:t>
            </a:r>
          </a:p>
          <a:p>
            <a:r>
              <a:t>第 2 题 答案：A。解析：负压与压力梯度让空气只往里流，具体数值以标准和本校说明为准。</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答案：C。解析：门也是屏障，进出随手关，缓冲间两道门不同时开。</a:t>
            </a:r>
          </a:p>
          <a:p>
            <a:r>
              <a:t>第 4 题 答案：B。解析：高效过滤不是百分百，要定期检测、按期由专人更换；总有剩余风险。</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答案：B。解析：飘带外飘说明定向气流失效。</a:t>
            </a:r>
          </a:p>
          <a:p>
            <a:r>
              <a:t>第 6 题 答案：先停手，盖好容器、封好样本；按程序脱防护，撤出实验室并关门；按预案报告负责人，设施恢复并确认正常后再进入。解析：不在失效的屏障下继续操作。</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三级生物安全实验室（BSL-3）用来关住病原，开展较高风险病原的诊断和实验。要注意两套编号的方向：病原分类国际风险组 4 组最高，国内第一类最危险，方向相反（见第 058 课）；实验室级别则国内外同向，一级最低、四级最高。</a:t>
            </a:r>
          </a:p>
          <a:p>
            <a:r>
              <a:t>所有涉及病原的诊断和实验工作，只在最里面的核心工作间进行，病原被关在各自的工作区里。三级实验室须通过国家认可，涉及高致病性病原微生物的实验活动还须经批准。高校学生平时在一级、二级实验室工作，进入三级实验室须经专门培训和授权（见第 061 课）。</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三级实验室的平面按功能分区：外面是辅助工作区，放控制室、清洁更衣、办公等功能；里面是防护区，包括缓冲间和核心工作间（具体分区以 GB 19489-2008、GB 50346 和本设施设计为准）。平面图上常用颜色区分清洁区和污染区，两者的交界处设更衣、淋浴和灭菌设施。</a:t>
            </a:r>
          </a:p>
          <a:p>
            <a:r>
              <a:t>分区的原则是清洁和污染分开：人员行走和气流方向都从清洁区到污染区，不逆行、不交叉（封闭原理见第 062 课）。</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防护区门口张贴生物危害警告标志和“非授权人员禁止入内”等禁止标志（安全标志式样按 GB 2894-2025，以现行文本为准），并设信息牌，写明防护级别、负责人和联系电话等。没有授权，任何人都不能进入。</a:t>
            </a:r>
          </a:p>
          <a:p>
            <a:r>
              <a:t>组织学生了解三级实验室时，只在外区或通过图示、视频学习，不进入防护区；看到禁入标识，就停下脚步。</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进入负压实验室前，第一件事是看门口的压差显示面板和报警灯：显示正常（如绿灯）才可以按程序进入；读数异常或报警亮起（如红灯），不要进去，马上报告实验室负责人和设施人员。</a:t>
            </a:r>
          </a:p>
          <a:p>
            <a:r>
              <a:t>各房间压差的正常范围由现行标准和本设施的设计决定，以本校设施说明为准；使用者只需会看、会判断，不得自行调节（气流异常的处置见第 062 课）。</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实验室的门禁更严格：授权人员刷卡（或指纹等）进入第一区，一人一卡，不尾随他人进入，也不把卡借给别人。进门先过前室（缓冲间），它像一个气闸，门关好、压力平衡后再打开里面的门。前室用压力把里外空气隔开：有的设施前室为正压，把外面的空气挡在外面、把病原留在里面；有的按压力梯度设计，具体以本设施说明为准。</a:t>
            </a:r>
          </a:p>
          <a:p>
            <a:r>
              <a:t>第一区里常有一间间样本处理间；再往里是负压区，设第二道门禁；经过清洁更衣室等房间，每过一道门，压力再降一级，空气始终往里流。</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实验室的人员进出是单向的：一条路进，另一条路出。进入时，私人物品留在外侧储物柜，在清洁更衣室换上实验室专用服装，经过负压的气锁（缓冲间），再进入防护实验室；里面是限制区，外人不得进入。</a:t>
            </a:r>
          </a:p>
          <a:p>
            <a:r>
              <a:t>离开时，在指定位置按程序脱卸个人防护装备（见第 075 课），按规定淋浴，再换回自己的衣服。洗手用感应龙头，能不碰的表面就不碰。进出按规定登记；路线不能抄近道，也不能反着走，洁到污、不走回头路。</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实验室的人流和物流分开：人员按规定路线进出；物品走专门的通道。小件样本通过传递窗递进递出，传递窗两扇门不同时打开，用后按规定消毒。与二级实验室不同，三级实验室的高压灭菌器设在实验室内，常为穿墙的双扉灭菌器：在防护区一侧装入，在外侧取出。</a:t>
            </a:r>
          </a:p>
          <a:p>
            <a:r>
              <a:t>离开实验室的物品和废物，先封好包装、经灭菌（或其他有效消毒），再按规定交有资质的单位处置（见第 077 课）。生物安全柜按设计接好排风，排气全部经过高效过滤。</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防护区旁设控制室，风机、通风和空调等系统在这里集中控制，设施人员监控运行状态，异常时及时处置。</a:t>
            </a:r>
          </a:p>
          <a:p>
            <a:r>
              <a:t>监控画面和门禁记录让谁进谁出都有记录，门禁、监控和安保共同把关（生物安保见第 083 课）。发现可疑人员或有人尾随，立即报告保卫处和实验室负责人；实验室的布局、门禁和安保信息属于敏感信息，不拍照、不外传。</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三级实验室的设施要素放在一起看：相对外界维持负压，气流定向流动，空气只进不出，排风经高效过滤后排到室外；进出经过前室（气闸），有两道自闭门；设免手动操作的洗手池，旁边有洗眼器；配生物安全柜等防护设备，操作都在其中进行；灭菌器设在实验室内（这也对通风空调提出了新的要求）。</a:t>
            </a:r>
          </a:p>
          <a:p>
            <a:r>
              <a:t>运行中如果压力突然下降、报警，就意味着封闭可能被破坏，要立即停止工作，按应急预案处置和报告（见第 062 课）。各项技术要求以 GB 19489-2008、GB 50346 和 WS 233（均以现行文本为准）为准；设施的设计和运行见第 064 课。</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四级生物安全实验室（BSL-4）是独立的建筑或建筑内完全隔离的区域，人员经气锁进入，离开时要经过去污淋浴（如化学淋浴和人员淋浴）；进风和排风都经过高效过滤；并配有应急电源和通讯系统。</a:t>
            </a:r>
          </a:p>
          <a:p>
            <a:r>
              <a:t>四级实验室造价和运行要求极高，只在国家批准的少数设施中建设（分级见第 059 课），高校学生一般不会接触。</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答案：B。解析：病原分类反着走，实验室级别顺着走。</a:t>
            </a:r>
          </a:p>
          <a:p>
            <a:r>
              <a:t>第 2 题 答案：B。解析：读数异常或报警就别进，马上报告负责人和设施人员。</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答案：B。解析：单向进出，不走回头路，不抄近道。</a:t>
            </a:r>
          </a:p>
          <a:p>
            <a:r>
              <a:t>第 4 题 答案：D。解析：物品经传递窗或穿墙灭菌器，灭菌后才出来。</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答案：B。解析：一人一卡，不尾随、不借卡；发现尾随报告保卫处。</a:t>
            </a:r>
          </a:p>
          <a:p>
            <a:r>
              <a:t>第 6 题 答案：实验室的布局、门禁和安保信息属于敏感信息，外传可能被利用、危害实验室安保；有疑问向实验室负责人或保卫处咨询。解析：门禁、监控和安保一起把关。</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生物安全靠的不只是生物安全柜和个人防护装备。实验室房子怎么设计、配置什么设备，本身就是一道防护，属于控制层级中的工程控制（控制层级见第 017 课）：它不依赖每个人每次都做对，而是从源头把风险挡住。</a:t>
            </a:r>
          </a:p>
          <a:p>
            <a:r>
              <a:t>设施设计得周全，使用起来才既安全又好用；设计考虑不周，后面的操作和管理就要付出更多代价去弥补。所以，即使是学生和普通使用者，也应了解设施各部分的作用，正确使用、不随意改动。</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座防护设施（以较高等级实验室为例）的基本组成：门口有生物危害标志；房间可以密封，便于熏蒸消毒；气流定向流入，经高效过滤后排出，整座设施相对外界保持负压；人员经气锁（缓冲间）进入、经淋浴离开；室内有生物安全柜和高压灭菌器；楼下有污水处理系统。不同级别的实验室配置不同，具体以 GB 19489-2008、GB 50346 和本校设施说明为准（各级要求见第 061 课，三级布局与进出见第 063 课）。</a:t>
            </a:r>
          </a:p>
          <a:p>
            <a:r>
              <a:t>工程设计通常包括八个部分：设施（建筑）设计、气流、过滤、暖通空调、污水处理、给排水、智能控制和安防。这类设施的楼体通常至少分三层：上层是设备层，负责空气处理；中层是实验室和办公；底层收集并处理全部废水。</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设施上方的一层叫设备层（机械层），全楼的供暖、通风和空调都从这里统一控制：空气处理机组、风机、过滤器和电气控制柜都装在这里；一排排控制柜管着电机和压缩机，由电脑统一指挥；压缩机让供给实验室的水和压缩空气保持压力稳定。</a:t>
            </a:r>
          </a:p>
          <a:p>
            <a:r>
              <a:t>把机械放在实验室上方，实验室里就不放机械设备，便于密封和清洁消毒。设备层的层高要够人进去检修，灯具和过滤器都从上面更换，不必在实验室房间里开口。</a:t>
            </a:r>
          </a:p>
          <a:p>
            <a:r>
              <a:t>设备层有转动设备、高压电和高处作业等危险，不是参观区：未经允许不得进入，进入须有人陪同；维修前先停机断电、上锁挂牌（见第 144 课）。</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空气处理机组里装有高效过滤器，进楼的空气都先过这一道；过滤段设有检修门，定期检查、维护，到期更换过滤模块。高等级实验室进来的空气要过滤，出去的空气也要过滤，两头把关；送风过滤保护人员和实验，排风过滤保护环境。</a:t>
            </a:r>
          </a:p>
          <a:p>
            <a:r>
              <a:t>每个房间连接各自独立的高效过滤器，一间出问题不连累其他房间；风阀一开一合调节风量，把各房间的气流配平，维持定向气流（原理见第 062 课）。排风过滤单元先把颗粒物滤干净，再由屋顶的高空排放风机高速射向高空，远离进风口和人群，充分扩散。注意：除去病原靠的是过滤，排高只是加一道保险。</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防护设施的加热、制冷、湿度、通风等由电子系统集中控制和监测，哪台设备在运转、是否正常，在控制区一看就知道；监控、气流、门锁等也在控制区集中管理。</a:t>
            </a:r>
          </a:p>
          <a:p>
            <a:r>
              <a:t>压差显示和报警是监测的关键（会看压差面板见第 063 课）。系统设计成防护一旦失效就报警，并按设计联锁停机或转入安全状态，此时按应急预案撤离和报告（见第 062 课）。控制系统的参数由设施管理人员按规程设定，使用者不得自行更改。</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防护设施出去的一切都要去污，连水槽流下的废水也不例外。较高等级设施的淋浴、洗手、灭菌器排水先进暂存罐，再进消毒罐（消毒方法和接触时间按规程确定），中和后才排放；全程监测，留好记录。污水不能直接接入市政管网，要另设管道或专门处理后再排放，排放应符合国家和地方要求。</a:t>
            </a:r>
          </a:p>
          <a:p>
            <a:r>
              <a:t>封闭设施出来的固体废物要先去污灭菌，再按《医疗废物管理条例》和本校规定交有资质的单位处置（见第 077 课）。</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建封闭设施投入很大，决定建实验室、动笔设计之前，先要算清楚账。钱分两块：建设费和运行费。运行费（能耗、过滤器更换、检测、维修、人员）每年都有，会摊到每一次实验里。</a:t>
            </a:r>
          </a:p>
          <a:p>
            <a:r>
              <a:t>设计时就要把维护费用算进去；建得起却养不起，过滤器不能按期更换、设备不能按期检测，安全就会打折扣。设计要统筹考虑的事项包括选址、结构、控制与监测、废物与污水、安保，以及建设成本和运行成本。</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高等级实验室选址有讲究：避开地震、洪水等自然灾害多发地，避开人口稠密区；水电供应要有保障；发生事故时应急处置队伍能及时赶到；周边社会环境稳定安全。具体选址要求以 GB 19489-2008、GB 50346 等现行标准为准。</a:t>
            </a:r>
          </a:p>
          <a:p>
            <a:r>
              <a:t>植物封闭设施不要紧挨农田，以免万一泄漏扩散到作物，造成生态危害和法律纠纷（植物生物安全见第 082 课）。</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就像住宅把卫生间集中在一处，管道省，漏了也不会到处蔓延；防护实验室相邻集中布置，通风和管道系统才经济、好管理。</a:t>
            </a:r>
          </a:p>
          <a:p>
            <a:r>
              <a:t>标准布局的原则：区域按从清洁到污染分级，人和物按规定路线走，不交叉、不走回头路（见第 063 课）。功能上分出暂存区（材料先送进暂存区，再按程序转入）、培养基制备区、遗传操作区（放转化设备，转化后的材料再送进封闭区培养）和控制区。以植物设施为例，进入的培养基、土壤要先蒸汽灭菌，去掉其中带的病原。</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设施的出入口是有两道门的缓冲间：先关外门，再开内门，两道门不同时开；开内门时空气往里流，不往外跑（缓冲间压力设计以本设施说明为准，见第 062 课）。</a:t>
            </a:r>
          </a:p>
          <a:p>
            <a:r>
              <a:t>高压灭菌器嵌在墙里，两边各有一扇门（双扉灭菌器），一侧在防护区内装料，另一侧在清洁区取出。进来的东西要干净，出去的更要去污：以植物封闭设施为例，植株、土壤、种子、工作服全部灭菌后才能出去。项目结束时，未经批准放行的材料按规程灭菌销毁。灭菌器的使用和验证见第 076 课。</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负压设施要让空气稳定地往里流，墙体、观察窗玻璃和密封都要足够结实；风机出故障时负压可能过大，结构不够会撑破玻璃，所以设计时要有相应的保护和联锁。</a:t>
            </a:r>
          </a:p>
          <a:p>
            <a:r>
              <a:t>房间表面材料要耐受消毒剂和熏蒸、耐湿耐腐蚀、易清洁；熏蒸期间按规程清场，检测合格后再进入。植物设施还要考虑采光：阳光进来热量也进来，制冷更贵，炎热地区宜用封闭生长室加人工光，凉爽地区用温室更合适（见第 082 课）。</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生物安保要在设计时就考虑进去，事后补救既贵又难。门禁、监控等物理安保措施管住人员进出，防止病原材料被盗、被私自扩繁或带出；实验数据和资料也要加密、分级管理。</a:t>
            </a:r>
          </a:p>
          <a:p>
            <a:r>
              <a:t>安保措施的具体配置属于敏感信息，不对外公开、不拍照传播；使用者遵守门禁规定，不借卡、不尾随、不带无关人员进入（生物安保见第 083 课）。</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建设一般分四步。第一步，需求和预算：按实际需要确定规模，预算有限不要贪大，并考虑每年的维护费。第二步，初步设计：对照建筑规范、消防疏散和生物安全标准（GB 19489-2008、GB 50346 等）逐项查合规。第三步，施工：设施是定制的，施工中加一根梁、隔一个间，气流就会改变，任何改动都要马上告诉设计工程师，重新评估。第四步，验收认可：建成后经检测验收合格，按规定通过认可或备案后才能开展实验。</a:t>
            </a:r>
          </a:p>
          <a:p>
            <a:r>
              <a:t>按《病原微生物实验室生物安全管理条例》，新建、改建、扩建三级、四级实验室应当依法审批，建成后通过实验室国家认可，并经主管部门批准方可从事高致病性病原微生物相关实验活动；一级、二级实验室向设区的市级主管部门备案（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设施设计要多方合作：工程师懂结构，研究者懂生物，管理者居中协调，让设施既满足工程要求又满足实验需要，并符合生物安全法规和标准。</a:t>
            </a:r>
          </a:p>
          <a:p>
            <a:r>
              <a:t>管生物安全的人也要懂一点设施设计，才能和工程师说到一块：生物安全员（生物安全管理人员）要看得懂设施图纸，懂通风空调和基本布局，从建造、验收、维护到停用，每一步都有安全问题。单位新建高等级实验室或动物设施时，生物安全员代表单位向设计方、施工方提问，并回应主管部门的要求。实验室的使用者（负责人、教师和研究生）也要在需求、设计审查和验收等关键阶段参与（生物安全组织见第 070 课）。</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控制措施装好了还要常维护。生物安全柜、高压灭菌器要按期检测、校准，排风过滤器、压差和定向气流要定期检测验证；维护和检测都要留记录，坏了及时修。使用前看一眼设备上的检测标识是否在有效期内；过期未检或检测不合格的设备挂牌停用（安全柜检测见第 073 课，灭菌器验证见第 076 课）。</a:t>
            </a:r>
          </a:p>
          <a:p>
            <a:r>
              <a:t>排风过滤器上截留着病原，更换前要先原位消毒，由经过培训的专业人员按程序更换，袋进袋出、装袋带出处置；新过滤器装好后检漏合格才能再用。学生不要自己打开过滤箱。</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实验室的认可和备案都不是一劳永逸的：认可有有效期，到期要复评，有效期内还要接受监督评审和主管部门的监督检查（具体周期以现行规定为准）。</a:t>
            </a:r>
          </a:p>
          <a:p>
            <a:r>
              <a:t>设施改造、主要设备更换、实验活动或病原变化等情况发生时，要重新评估、审批，改后重新检测验收或重新评审，并按规定变更备案。</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实验室停用、设备搬走或维修之前，先由实验室按规程彻底去污（消毒灭菌），清点并妥善处置剩余的生物材料。</a:t>
            </a:r>
          </a:p>
          <a:p>
            <a:r>
              <a:t>去污完成后经实验室负责人或指定人员验收合格、签字，才能把设备搬走、交给维修人员、改作他用或报废；房间停用也要经去污验收后才能交出或改造。</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答案：B。解析：设备层集中放机械，未经允许不进入，维修先停机断电、上锁挂牌。</a:t>
            </a:r>
          </a:p>
          <a:p>
            <a:r>
              <a:t>第 2 题 答案：B。解析：除去病原靠高效过滤，高空排放只是加一道保险。</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答案：B。解析：从设施出去的一切都要先去污，连水槽废水也不例外。</a:t>
            </a:r>
          </a:p>
          <a:p>
            <a:r>
              <a:t>第 4 题 答案：C。解析：建成后验收认可才能开展实验，认可有期限，设施变化要重新评审。</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答案：B。解析：过期未检或检测不合格的设备应挂牌停用，检测合格后再用。</a:t>
            </a:r>
          </a:p>
          <a:p>
            <a:r>
              <a:t>第 6 题 答案：先按规程彻底去污，处置剩余生物材料；经负责人或指定人员验收合格签字后，才能搬走、维修、改用或报废。解析：防止设备和房间带着病原交给不知情的人。</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风险管理就是把实验室的生物风险管住，这是实验室每个人的事。它是一套系统方法，把两件事合在一起：生物安全，防的是人员意外接触和病原意外泄漏；生物安保，防的是生物材料丢失、被盗和被故意滥用（生物安保见第 083 课）。伦理意识和领导力也是这套方法的组成部分。</a:t>
            </a:r>
          </a:p>
          <a:p>
            <a:r>
              <a:t>它管的是生物材料的处理、储存和处置，从拿到手到最后销毁，每一环都要管；重点是病原微生物、生物毒素和转基因生物。国家层面的生物安全领域很广，包括重大传染病防控、遗传资源保护、外来物种入侵防范等，本课聚焦其中的实验室生物安全（概念与法规见第 057 课）。</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为什么要建立生物风险管理？首先是防止实验室获得性感染：在实验室工作，不应把病带回家。其次是保护公众和环境，无论意外还是蓄意，都不让有害生物因子外泄；它也关系到国家生物安全。</a:t>
            </a:r>
          </a:p>
          <a:p>
            <a:r>
              <a:t>第三是依法依规。国际上有生物安全手册和管理标准可作参考，在国内首先要遵守《中华人民共和国生物安全法》《病原微生物实验室生物安全管理条例》和国家标准、行业标准，以及学校的规定。</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我国，病原微生物实验室的生物安全管理由实验室设立单位负责，实验室负责人是第一责任人（以现行法规为准）。高校按学校—学院—实验室三级管理落实责任：学校制定制度、设立生物安全委员会，学院监督检查，实验室负责人组织本实验室的风险评估、规程、培训和日常管理（组织与负责人见第 070 课）。</a:t>
            </a:r>
          </a:p>
          <a:p>
            <a:r>
              <a:t>生物安全委员会负责审议实验室的风险评估、重要实验活动和规程等事项。实验室按 GB 19489-2008 等标准建立生物安全管理体系：有管理手册、程序文件、操作规程和记录，有年度安全计划，并通过内部审核和管理评审持续运行（审核见第 066 课）。本课讲的 AMP 模型是国际通行的生物风险管理方法，在这一国内框架下使用。</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AMP 模型是国际通行的管理生物风险的基本方法，由三步组成：评估（Assessment）、减缓（Mitigation）、绩效（Performance）。评估回答“有什么风险、有多大”；减缓回答“怎样把风险降下来”；绩效回答“怎么确认风险真的降下来了”。也可以概括成：找出风险、评估大小、降低风险、持续盯住。</a:t>
            </a:r>
          </a:p>
          <a:p>
            <a:r>
              <a:t>这三步是生物风险管理的基础，做完一圈再来一圈，不断改进。学习本章，就是要学会三件事：会做风险评估，找出这个病原、这项操作的具体风险；会用各类控制措施把风险降下来；会评价这些措施是不是真的管用。</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第一步是风险评估：找出实验里有哪些有害生物因子，这东西有多危险，我要做什么操作，估计出事的可能性和后果有多大，从而判断风险高低。</a:t>
            </a:r>
          </a:p>
          <a:p>
            <a:r>
              <a:t>风险评估由实验室负责人组织，生物安全管理人员审核，必要时提交生物安全委员会审议；做实验的人也要参与评估，并了解评估结论。评估是其他所有工作的出发点，具体步骤和方法见第 067、068 课。</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第二步是风险减缓：按控制层级（消除、替代、工程控制、管理控制、个人防护，见第 017 课）采取措施，把风险降到可接受的程度。设施设备、标准操作规程和个人防护用品要一起上，不能只靠一种。生物安全措施防止人员意外暴露，生物安保措施防止样本丢失、被盗。</a:t>
            </a:r>
          </a:p>
          <a:p>
            <a:r>
              <a:t>加完控制措施后要再评估残余风险：仍不可接受，就再加控制，或者不开展该实验。风险看可能性也看后果；风险越高，投入的资金和人力也要越足。具体控制措施见第 069 课。</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步是绩效评估：看控制措施选得对不对、有没有执行、管不管用，设备和防护有没有正常工作。方法包括定期检查，看措施是否真的落实；审核记录，看体系是否按规定运行；组织应急演练，看大家会不会处置。</a:t>
            </a:r>
          </a:p>
          <a:p>
            <a:r>
              <a:t>发现问题就采取纠正措施，并回到第一步重新评估、改进。绩效评估与审核的具体做法见第 066 课。</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管理实验室靠一个循环：计划、执行、检查、改进（PDCA），周而复始。用到生物风险上，就是 AMP 三步：策划从风险评估开始（识别危害、评估风险、确定怎样管住风险），对应“计划”；减缓对应“执行”；绩效对应“检查”和“改进”。也有人把它概括为意识、行动、反省，缺一不可。</a:t>
            </a:r>
          </a:p>
          <a:p>
            <a:r>
              <a:t>PDCA 的核心是“写下怎么做，就照写的做”，再检查做得怎么样。生物安全员观察大家实际怎么做，找出问题的根本原因，改进规程，再回到评估。检查发现的问题变成下一轮的计划，每转一圈，安全水平就提高一点。</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的事是一环扣一环的：一环出错，整条链都受影响。管理体系就是把这些相互关联的过程一起管，还要不断改进。可以把一项检测工作的流程一步步画出来：收样、检测、记录、结果安全上传；每一步都会产生废物，要按规程去污、合规处置。</a:t>
            </a:r>
          </a:p>
          <a:p>
            <a:r>
              <a:t>完善的体系由几个部分撑起来（风险评估、风险减缓、绩效监测、培训与能力、事件报告、持续改进），像几根柱子撑房子，缺一根就不稳。管生物安全的人，除了懂微生物和管理，还要懂一点气流方向、通风空调、给排水等设施知识（见第 064 课），这些本事要在工作中慢慢积累。</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体系有五个要素。第一，定义：定目标、划过程，这个实验室做什么，范围到哪。建实验室之前先问几个问题：做哪些实验？要什么仪器和规程？工作怎么安排、谁做什么？牵涉运输、灭活、废物哪些环节？怎样更安全、更高效？有哪些限制？第二，结构：谁负责什么，每个人按哪份规程做。</a:t>
            </a:r>
          </a:p>
          <a:p>
            <a:r>
              <a:t>第三，理解：各环节相互依存，人也有极限，疲劳最容易出事，工作分配要均衡，培训要到位。第四，改进：盯住事故和事件，找到缺口、修订规程（见 K13）。第五，认清约束：没有完美的体系，经费不够、缺少合格的人等限制要事先认清，量力而行。即使还没在生物实验室工作，也可以设想一个实验室，练习写方针、写计划，再想怎么落实、怎么检查改进。</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体系一切从一份生物安全方针开始。方针写明单位的承诺：把安全放进主业，遵守国家法律法规和标准，持续改进。</a:t>
            </a:r>
          </a:p>
          <a:p>
            <a:r>
              <a:t>体系能否成功，地基是领导承诺：单位和实验室负责人认领方针，给足人员、经费和设施等资源，把安全放在优先位置，而不是只挂在墙上。</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方针要讲给每一个人听，包括保洁、清运、维修等进入实验室的人员；生物安全和生物安保一起管，最终变成每个人的习惯（安全文化见第 010 课）。</a:t>
            </a:r>
          </a:p>
          <a:p>
            <a:r>
              <a:t>体系能不能落地，要看安全文化：负责人带头遵守，规矩才立得住；每个人都可以提出问题和建议，发现隐患敢说、愿意报告。</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计划落地要做五件事：搭建组织架构，分配职责，任命合格的人员，抓好培训，把方针和做法讲到位。</a:t>
            </a:r>
          </a:p>
          <a:p>
            <a:r>
              <a:t>日常运行要管好八个方面：运行控制，电气、化学等一般安全，库存台账，工作计划，操作规范，废物管理，人员管理，设施的保养和维修。通用模板只是起点，要结合本单位、本实验室的实际，制定具体的生物风险管理程序。</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运行中出了事故或事件（包括未遂事件），说明规程有漏洞，要趁小补上。出了问题要查到根本原因，采取纠正措施，同时寻找改进的机会（事故调查与根本原因分析见第 162 课）。</a:t>
            </a:r>
          </a:p>
          <a:p>
            <a:r>
              <a:t>定期回顾，把程序和制度改得更好；新版本发布后，旧版本要收回，防止误用。持续改进要做到：人人有主人翁意识，定期评估，规程有效，预防在先，持续培训，定改进目标，表扬做得好的人。</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的生物风险管理计划（安全计划）是把体系落到本实验室的成文安排，可以按九块内容组织：范围与目标、角色与职责、风险评估程序、标准操作规程、培训与能力、事件响应与报告、维护与检查、文件与记录、评审与审核。GB 19489-2008 对实验室年度安全计划也有要求（以现行文本为准）。</a:t>
            </a:r>
          </a:p>
          <a:p>
            <a:r>
              <a:t>写计划前先摸清家底：菌（毒）种和样本、化学品、锐器、设备都列成清单，清单随时更新，计划才对得上。第一块写范围：管哪些房间，用哪些微生物，做哪些实验；再写目标：要达到怎样的安全状态。目标和指标要具体、能检查，写成文件，事后能追溯。</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第二块是角色与职责：实验室负责人是第一责任人；实验室安全员负责日常检查和提醒；每个实验人员按规程做好自己的工作；学校管理部门和设施保障部门的职责也要写明。</a:t>
            </a:r>
          </a:p>
          <a:p>
            <a:r>
              <a:t>计划写好后交学院审核，学校存档，与三级管理衔接；组内人人学习，知道自己的职责（组织与职责见第 070 课）。</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第三块是风险评估程序：先识别危害，再判断风险高低；写清谁来评估、用什么方法、结果谁审核；定期评估，人员、病原、操作或设施有变化时重新评估（见第 067 课）。</a:t>
            </a:r>
          </a:p>
          <a:p>
            <a:r>
              <a:t>第四块是标准操作规程：关键操作和关键设备各有一份规程，按规程一步一步做，不凭记忆（规程编写见第 019 课）。</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第五块是培训与能力：培训内容包括安全操作、应急程序，也包括科研伦理和生物安保意识。培训后要考核，确认真的会做才算有能力；用能力表记录谁会做什么、谁被授权做什么，一目了然。</a:t>
            </a:r>
          </a:p>
          <a:p>
            <a:r>
              <a:t>培训不是一次了事，要持续学习、定期复训，能力才跟得上。流程中的每一步都有专人负责：处理样本的学样本处理规程，管废物的学废物规程（准入培训见第 007 课）。</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第六块是事件响应与报告：不管是意外事故还是安保事件，都要有渠道及时发现、报告和处理。发生溢洒、暴露，先按应急预案处置（见第 078 课），再按实验室负责人、学院、学校主管部门逐级报告，不隐瞒、不拖延；应急联系电话写进计划，贴在实验室显眼处。</a:t>
            </a:r>
          </a:p>
          <a:p>
            <a:r>
              <a:t>第七块是维护与检查计划：哪台设备、多久检查一次，写成日程；检定合格贴标签，过期停用（见第 064 课）。</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第八块是文件与记录：文件要有版本号，旧版及时收回。每项生物安全工作都要有记录，包括培训、检查、事件、库存和规程执行；记录要及时、真实、受控、可追溯，问题才查得出来。</a:t>
            </a:r>
          </a:p>
          <a:p>
            <a:r>
              <a:t>第九块是评审与审核：定期看计划落实得怎么样，发现问题就改，计划随之更新（内部审核和管理评审见第 066 课）。</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体系的各部分都要写成文件，一般分四层：管理手册规定方针、目标、组织和职责；程序文件规定各项管理活动怎么运转；标准操作规程（作业指导书）教你每项操作具体怎么做；记录证明确实做到了。GB 19489-2008 对管理体系文件和记录也有相应要求（以现行文本为准）。</a:t>
            </a:r>
          </a:p>
          <a:p>
            <a:r>
              <a:t>文件齐全、层次清楚、相互一致，日常照着做，检查时才拿得出来。</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答案：B。解析：评估问有什么风险，减缓问怎样降下来，绩效问怎么确认真的降下来了。</a:t>
            </a:r>
          </a:p>
          <a:p>
            <a:r>
              <a:t>第 2 题 答案：B。解析：生物风险管理包括生物安全和生物安保两部分，实验室要管好材料的全过程。</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答案：B。解析：每转一圈，管理就提高一点。</a:t>
            </a:r>
          </a:p>
          <a:p>
            <a:r>
              <a:t>第 4 题 答案：B。解析：手册定方针职责，程序管运转，规程教操作，记录证明做到。</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答案：B。解析：计划经学院审核、学校存档，组内人人学习，知道自己的职责。</a:t>
            </a:r>
          </a:p>
          <a:p>
            <a:r>
              <a:t>第 6 题 答案：范围与目标（含危险源清单）、角色与职责、风险评估程序、标准操作规程、培训与能力、事件响应与报告、维护与检查、文件与记录、评审与审核。解析：九块内容对应体系的各个要素。</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风险绩效评估，就是记录、测量和评价我们做过的事，目的是把生物风险降下来。它看的是整个体系：不只看病原，还要看人、物和设施。绩效测量不是另外一摊事，而是管理体系的一部分：规程写的和实际做的，都要量。</a:t>
            </a:r>
          </a:p>
          <a:p>
            <a:r>
              <a:t>做法是回头查记录：有没有发生防护失效，有没有事故、事件和未遂事件，日常检查发现了什么；出了事故或险情，就修订规程。绩效评估能看出体系哪里达标、哪里没有，没达标就要问为什么；认证认可时审核员要看这些记录；它还能预防事故、减少损失和开支。</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打个比方：计划十五分钟跑完一公里，实际跑了二十分钟。天气、体能、装备，逐一找出拖后腿的因素。计划和实际之间的差距，就是绩效要看的东西。</a:t>
            </a:r>
          </a:p>
          <a:p>
            <a:r>
              <a:t>实验室可以年初定目标（如事件、事故、溢洒的情况），年底做对比表：事件超了，可能是规程有漏洞，就修订规程、加强培训；目标是零溢洒，实际发生了一次，也要改。每一起事件和事故都要调查。绩效是每个人努力的总和，实际常常达不到计划，而且会变化，要持续用力。</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控制措施加上了，就一定有效吗？要靠绩效来验证：减缓之后再做一次风险评估，确认风险真的降下来了，这一步才算数。剩下的风险能不能接受，要再判断。</a:t>
            </a:r>
          </a:p>
          <a:p>
            <a:r>
              <a:t>风险管理是一个圆圈：收集信息、评价风险、制定策略、落实控制措施、复查，然后再转一圈。绩效评估是 AMP 循环的第三步（见第 065 课），可以用一张表来做：推荐了什么措施？真落实了吗？没有，为什么？有没有记录？再审核、修改措施。整改之后还要看效果；绩效数据也是说服领导投入资源的依据。</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单位的安全方针（政策）表明决心和方向，不讲具体做法，要再分解成职责、目标和步骤，落成具体目标后，再按标准检查有没有做到。</a:t>
            </a:r>
          </a:p>
          <a:p>
            <a:r>
              <a:t>目标是看得见、量得出的结果，比如“实验结束，人员零感染”。具体目标是限时完成的步骤，最典型的就是标准操作规程。目标要符合五个要求：具体、可测量、能实现、合理、有时限；不要定做不到的目标，审核时会被指出来。</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指标要用数字说话，能回答“多少次、多少量”。要定期使用，一直用同一把尺子，才能看出偏离，在出事之前报警。</a:t>
            </a:r>
          </a:p>
          <a:p>
            <a:r>
              <a:t>常用的生物安全绩效指标：事件报告（发生多少、什么原因），险兆（未遂）事件（差一点出事的也算），培训（该学的人是否都学完），演练有没有做（记录就是证据），防护用品配备，检查的频次和范围，做法是否符合现行标准规范。挑指标时，要量什么就选什么，不图省事；尽量能量化，并覆盖实验室、学院、学校各个层级。</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标分两类。先行指标衡量过程、文化、行为和屏障（如培训完成、检查执行、规范操作的比例、设备检测按期完成），事先定好，为安全工作指方向。滞后指标衡量事件、事故、险兆和整改情况，都是事后才看得到的。</a:t>
            </a:r>
          </a:p>
          <a:p>
            <a:r>
              <a:t>只在出事后才分析就太晚了。要多观察日常行为，提前发现苗头，多听同行的经验和教训，把先行指标和滞后指标结合起来看。</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好指标由相关人员一起商量出来，具有相关、客观、及时、成本合理的特点，能指导整改，带来改进机会。</a:t>
            </a:r>
          </a:p>
          <a:p>
            <a:r>
              <a:t>指标要审慎使用：度量标准由生物安全委员会等事先定好，数据要呈现得让人看得懂。评价体系本身也要定期检查：指标还相关吗？要不要换新的？照搬别处的指标未必合用。不能为了“指标好看”而少报、瞒报事件。</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测量是改进的第一步：量出来才看得懂，看得懂才控制得住，才谈得上改进；测量要用合适的工具。一个流程可以分成输入、步骤、输出，比如检测样本，每一步都记下来。</a:t>
            </a:r>
          </a:p>
          <a:p>
            <a:r>
              <a:t>设计评估前先把问题想清楚，问四个问题：步骤做得到吗？步骤对不对？结果达标吗？量的东西对吗？方法上可以发问卷，也可以到现场跟看。生物安全绩效的常用来源：一看事件和事故报告，找规律；二看人员健康监测（如按规定留存本底血清，见第 069 课）；三是现场观察，审核操作。</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确定要什么数据，再收集、分析，看体系是否合适、有效，哪里能改进；也可以借助监控和智能分析。收集前定好时间段、方法和成本；收集时尽量不打扰正常工作，盯得太紧，人一紧张反而出错。分析要花时间和资源，应指定专人、给定期限，专心做完。</a:t>
            </a:r>
          </a:p>
          <a:p>
            <a:r>
              <a:t>使用监控收集数据，要事先告知相关人员；录像只用于安全管理，不外传，按规定保管，保护个人信息。</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某检测实验室的目标是降低人员感染风险，采取的措施包括上岗前体检、防护规程和项目结束后的复查。结果五名人员中有一人检测阳性——计划和实际出现了差距。</a:t>
            </a:r>
          </a:p>
          <a:p>
            <a:r>
              <a:t>这时要问：规程合适吗？是规程本身有缺陷，还是执行出了问题？哪里出了漏洞？要做事故分析，查根本原因，采取纠正措施，并按规定报告和对相关人员进行医学评估（事故调查见第 162 课，暴露处置见第 078 课）。</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审核和评价就是“复查”这一步，看写的和做的是否一致、措施是否落实、是否达到预期目标。内部审核由本单位按计划组织，对照规程逐项检查；审核员要到实验台旁观察，看哪一步繁琐、哪一步有风险。GB 19489-2008 要求实验室按计划开展内部审核（以现行文本为准）。</a:t>
            </a:r>
          </a:p>
          <a:p>
            <a:r>
              <a:t>学院、学校也会按三级管理定期组织安全检查（见第 005 课）。查到什么，如实记下来；既要找出缺陷和不符合项，也要找改进点，再提出改进办法，发现问题回头改。</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审核看规程有没有照做，检查看设施是否按设计运行，检测看设备参数是否合格。内部审核之外，外部审核更客观。</a:t>
            </a:r>
          </a:p>
          <a:p>
            <a:r>
              <a:t>主管部门依法对实验室进行监督检查，实验室负责人陪同、如实提供资料、配合检查；新建设施要经主管部门检查验收。三级、四级实验室还要通过实验室国家认可，并接受复评和监督评审（见第 064 课）。认可和检查时，审核员会查阅各项记录。</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管理评审由单位或实验室管理层按计划定期进行（例如每年，具体以现行标准和本校规定为准），评审体系是否合适、充分、有效，并寻找下一步改进的机会。</a:t>
            </a:r>
          </a:p>
          <a:p>
            <a:r>
              <a:t>评审要看的材料包括：内部审核和外部检查结果、规程执行情况、风险评估进展、纠正和预防措施、上次评审的跟进、改进建议，以及事故和事件调查。评审后，该改的制度、程序和目标就改。每一步都有记录，评审才有依据。</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发现问题就要采取纠正措施：明确谁来改、怎么改、什么时候改完；改完拍照留证，再复查，问题关闭才算整改到位。持续改进就是把检查和事件的教训写进规程，一圈一圈越做越好（隐患整改见第 005 课）。</a:t>
            </a:r>
          </a:p>
          <a:p>
            <a:r>
              <a:t>外有法规，内有制度；有记录，才能持续改进。最好有专人管理文件和记录。人员、培训、规程、标识、台账等，个人也可以记一本安全笔记，但笔记代替不了正式规程。</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审核和检查看的恰恰是平时。被检查时，照平常一样规范操作，不需要“表演”，也不能临时改变做法。</a:t>
            </a:r>
          </a:p>
          <a:p>
            <a:r>
              <a:t>如果一紧张出错（如手滑、轻微溢洒），先停下，不要硬撑着继续；如实向检查人员和负责人说明，按规程处理（溢洒处置见第 078 课）。检查发现的问题是改进的机会，不是“丢面子”。</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答案：B。解析：找出差距和拖后腿的原因，再改进。</a:t>
            </a:r>
          </a:p>
          <a:p>
            <a:r>
              <a:t>第 2 题 答案：C。解析：先行指标看过程、文化、行为和屏障，事先指方向；事件、事故、险兆、整改属于滞后指标。</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答案：B。解析：减缓之后要再评估，确认风险真的降下来了。</a:t>
            </a:r>
          </a:p>
          <a:p>
            <a:r>
              <a:t>第 4 题 答案：B。解析：内审对照规程到现场查，外部检查负责人陪同配合，问题如实记录并整改。</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答案：A。解析：被检查时照常规范，出错先停，别硬撑，不掩饰。</a:t>
            </a:r>
          </a:p>
          <a:p>
            <a:r>
              <a:t>第 6 题 答案：明确谁来改、怎么改、何时改完；改完留证据（如照片、记录），经复查确认有效后关闭，并把教训写进规程。解析：整改要闭环。</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评估是一个评价的过程：看出事的可能性有多大、后果有多严重，同时把拿不准的地方（资料不足、新方法、新样本）写清楚。实验的风险有高有低，只有先评估，才知道要采取多强的措施，所以说风险评估是生物安全的地基，其他工作都从这里出发（风险评估的通用方法见第 014 课）。</a:t>
            </a:r>
          </a:p>
          <a:p>
            <a:r>
              <a:t>使用菌种、样本之前，先弄清它从哪里来、是什么、对人有没有危害；来历不明的环境菌不随意使用，来源不清的临床样本风险要往高处估。按评估结果，在规定级别的实验室、用规定的方法操作（防护等级的确定见第 060 课）。</a:t>
            </a:r>
          </a:p>
          <a:p>
            <a:r>
              <a:t>评估之后要实施控制（工程控制加个人防护等），再检查控制效果，发现问题就回到评估，循环改进（管理体系见第 065 课）。</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危害是任何可能造成伤害的东西，生物因子（病原微生物、毒素、感染性样本等）就是潜在的危害。风险则是这种伤害真正发生的可能性及其后果；伤害源是生物因子的，就叫生物风险。</a:t>
            </a:r>
          </a:p>
          <a:p>
            <a:r>
              <a:t>危害本身是“物”，人动手去操作它，危害才变成风险。操作、运输、被盗、容器或封闭屏障破损，都是危害变成风险的途径。所以评估时既要看“这东西有多危险”，也要看“我要拿它做什么”。</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风险是可能性和后果（严重程度）的组合。可能性指防护失效、发生暴露的几率有多大；后果指一旦发生，对人员、公众和环境造成的伤害有多大。两者结合起来，才能看出风险的高低。</a:t>
            </a:r>
          </a:p>
          <a:p>
            <a:r>
              <a:t>举例：样本转运不规范（容器不密封、没有二级包装），发生泄漏的可能性就大，后果是转运人员和沿途的人可能被感染。包装运输的要求见第 080 课。</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能性会随做法而变，后果却不一定。就像开车：无证乱开，出事的概率很高；守规则开车，概率低，但万一撞上，造成的伤害还是一样重。实验室里也是这样：规范操作降的是可能性，病原本身造成的后果并没有变轻，所以不能因为“我很小心”就放松防护。</a:t>
            </a:r>
          </a:p>
          <a:p>
            <a:r>
              <a:t>致病的病原关在实验室的封闭条件下，风险很低；一旦因为意外泄漏或被人故意带出、滥用，后果就很严重。因此既要防意外（生物安全），也要防滥用（生物安保，见第 083 课）。</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把风险说清楚，可能性和后果都要分级。可能性回答“发生的概率有多大”，可从“很少”到“经常”分级；后果回答“万一发生会怎样”，可从“轻微”（无伤害或轻微不适）到“严重”（严重疾病、扩散到社区或环境）分级。</a:t>
            </a:r>
          </a:p>
          <a:p>
            <a:r>
              <a:t>常见的做法是两边各分三到五级。分几级、每一级怎么判定，以本校风险评估程序为准；同一实验室内应统一标准，评估人员对照同一张表打分，结果才可比。</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把可能性和后果的分级交叉成一张表，就是风险矩阵：可能性低、后果轻的落在绿格，风险最低；可能性大、后果重的落在红格，风险最高；中间是黄格。</a:t>
            </a:r>
          </a:p>
          <a:p>
            <a:r>
              <a:t>把实验中的每个风险点（每个操作步骤）都放进矩阵，哪里风险高一目了然，红格优先处理。风险矩阵的通用用法见第 014 课。</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一种生物材料，风险随操作而变。样本密封冻存在罐里，风险较低；拿出来开盖处理、提取核酸，风险升高；培养活的病原（数量和浓度增加），风险最高。流程一步步往后走，风险一级级升高，一旦释放，后果也越大。</a:t>
            </a:r>
          </a:p>
          <a:p>
            <a:r>
              <a:t>所以评估不能只做一次笼统的结论，提取、扩增、检测、培养等步骤越多，越要逐步评估（逐步打分的方法见第 068 课）。储存也有风险：容器要密封、标签要标清、冷冻柜要上锁，库存要有记录。</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风险评估有固定的步骤：危害识别、风险分析、风险评价、风险控制、记录、复查。也有资料把它概括为五步（识别、评估、控制、看残余风险、再决策），内容是一致的：先认清危害，再估计风险大小，加控制后看残余风险能否接受，然后决定做不做。</a:t>
            </a:r>
          </a:p>
          <a:p>
            <a:r>
              <a:t>最后一步是复查，走完一遍还要回头再看。评估的结果用于确定防护等级（见第 060 课）和控制措施（见第 069 课）。</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第一步是危害识别：先弄清用的是什么生物因子，查《人间传染的病原微生物目录》（以现行版本为准），认出它属于哪一类，再查病原资料拿到依据（要素清单见第 068 课）。注意两套编号：国内病原分类第一类危害最大、第四类最小，国际风险组 1 组最低、4 组最高，方向相反（见第 058 课）。</a:t>
            </a:r>
          </a:p>
          <a:p>
            <a:r>
              <a:t>再列出要做哪些实验活动，用量多少、浓度多高写清楚。看会不会溅、会不会扎，会不会产生气溶胶（离心、振荡、匀浆、超声、吹打等），这是重点。评估要把病原、操作、人员和设施四个方面都看到。</a:t>
            </a:r>
          </a:p>
          <a:p>
            <a:r>
              <a:t>风险评估别只盯着微生物：消毒剂、固定液有化学危害，锐器、高温、紫外灯也会伤人，要一起识别。</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步是风险分析：估计发生暴露的可能性有多大，一旦暴露后果有多严重。先想清楚谁可能受害——操作者本人、同室的同事、保洁和清运人员，甚至公众；再想清楚怎么受害——吸入气溶胶、溅到眼睛或黏膜、被锐器刺伤，还是误食入口。</a:t>
            </a:r>
          </a:p>
          <a:p>
            <a:r>
              <a:t>资料不足、来历不清的样本（如未经检测的临床样本、环境样本），风险往高处估。</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第三步是风险评价：根据分析结果和风险矩阵，给出总体风险等级——低、中还是高。等级决定要采取多强的控制措施和在哪一级实验室开展。</a:t>
            </a:r>
          </a:p>
          <a:p>
            <a:r>
              <a:t>评价时还要对照现有的控制措施：现有设施、设备、规程和防护够不够把风险控制住。够，就可以接受；不够，就要再加控制。</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第四步是风险控制：按控制层级（见第 017 课）选择措施，用什么设备、穿什么防护、怎么操作。工程控制（合适级别的实验室、生物安全柜、密封离心转子）、个人防护和标准操作规程要一起上。例如离心可能产生气溶胶的样本时，使用密封转子，离心后在生物安全柜内开盖。</a:t>
            </a:r>
          </a:p>
          <a:p>
            <a:r>
              <a:t>生物安全员可以用问卷逐项评估，按控制层级挑合适的措施，把结论和建议讲给实验室负责人和课题组。具体的控制与管理措施见第 069 课。</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采取控制措施后剩下的风险叫残余风险：风险能降下来，但清不了零。把要做的操作一项项列出来，每项单独评估，再合起来看总风险。</a:t>
            </a:r>
          </a:p>
          <a:p>
            <a:r>
              <a:t>残余风险能接受，经实验室负责人批准后才开展，并且要让团队都知道、都认可“我们带着这些风险工作”；不能接受，就再加措施、改方法，或者不做。残余风险较高或拿不准的，报生物安全委员会审议。各实验室情况不同，要按实际评估，不照搬别人的结论。</a:t>
            </a:r>
          </a:p>
          <a:p>
            <a:r>
              <a:t>学生拿不准时，先问导师，不擅自开展。</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第五步是记录：把评估的过程、依据、结论和控制措施写成风险评估报告，按本校程序经审核批准后存档备查，新来的人也能查到和学习。书面记录的通用写法见第 015 课。</a:t>
            </a:r>
          </a:p>
          <a:p>
            <a:r>
              <a:t>写下来只是一半，更重要的是把报告里的措施真正落实到每一次操作中。</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第六步是复查：即使没有变化，也要按本校规定定期复查评估报告。遇到以下情况要及时重新评估并更新：更换病原或材料、改变实验方法或流程、人员变化、设施设备变化，以及发生事件或事故之后。</a:t>
            </a:r>
          </a:p>
          <a:p>
            <a:r>
              <a:t>新开展的实验活动，其防护级别要按本校程序报生物安全委员会审批，不自行决定（见第 060 课）。</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评估不是一个人填表、别人签字。真正动手做实验的人，最清楚哪一步容易出错、哪里手不顺。因此评估由实验室负责人组织，操作者参与，生物安全管理人员审核，评估结论要让每个相关人员知晓（团队参与见第 015 课）。</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答案：B。解析：危害是物，风险看可能性和后果，与怎么操作、运输、储存有关。</a:t>
            </a:r>
          </a:p>
          <a:p>
            <a:r>
              <a:t>第 2 题 答案：B。解析：规范操作降的是可能性，后果不一定变轻，防护不能放松。</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答案：B。解析：先认清危害，再分析和评价风险，然后控制、记录，最后定期复查。</a:t>
            </a:r>
          </a:p>
          <a:p>
            <a:r>
              <a:t>第 4 题 答案：D。解析：换病原、换方法、换人换设施、出了事件都要重新评估；没有变化也要定期复查。</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答案：B。解析：残余风险能降不能清零；可接受并经负责人批准才开展，不可接受就加措施或不做。</a:t>
            </a:r>
          </a:p>
          <a:p>
            <a:r>
              <a:t>第 6 题 答案：国内第一类危害最大、第四类最小；国际风险组 1 组最低、4 组最高，方向相反。解析：查目录时不能把两套编号弄混。</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评估针对的是一个具体的、已知的病原和一项具体的实验活动：摸清这一株病原、这一种做法会带来什么风险。同一个病原，做核酸提取和做大量培养风险不同；不同病原更不能互相套用。所以没有一张“通用清单”能代替具体评估，每个实验都要专门评估，不能借用别的实验室的评估报告。</a:t>
            </a:r>
          </a:p>
          <a:p>
            <a:r>
              <a:t>在评估、减缓、绩效的 AMP 循环里（见第 065 课），评估是第一步，首先要做的是找出危害。评估的步骤和风险矩阵见第 067 课，本课讲评估时要逐项考虑的要素。</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风险评估要以已知的病原信息为依据；不知道是什么，风险就看不清。病原还没有确认时，评估要从严，按较高的防护要求操作，并报单位生物安全委员会审核（定级见第 060 课）。</a:t>
            </a:r>
          </a:p>
          <a:p>
            <a:r>
              <a:t>有几类样本要特别从严对待：经过改造的核酸或生物材料、临床（医院）样本、土壤等环境样本、野生动物来源的样本；即使样本来自看起来健康的人或动物，也可能携带病原。这些样本在没有充分信息之前，风险往高处估。</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风险评估像一座冰山：水面上看得见的风险，能评估、能控制；水面下看不见的风险，同样可能出事，比如一个没人知道的过敏、一种新方法里没有先例的问题。没有先例时，常规的问题清单也可能问不到。</a:t>
            </a:r>
          </a:p>
          <a:p>
            <a:r>
              <a:t>所以评估要尽量全面：查资料、问有经验的人、让动手的人参与，对看不见的风险也尽力预判，并在复查时补充（复查见第 067 课）。</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估要看一串判据，可整理成一张清单，分四块：病原本身（分类、致病性、感染剂量、途径、存活、宿主、防治、是否改造）；实验活动（工艺、用量和浓度、步骤多少、参与人数）；人员（培训、健康和免疫状态）；设施与管理（设备、防护、预案、废物、安保）。</a:t>
            </a:r>
          </a:p>
          <a:p>
            <a:r>
              <a:t>各单位可以参照国家标准、行业标准和本校程序，把清单编成本实验室的评估工具（问卷或表格），照着逐项问一遍，评估就成形了。</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病原层面的第一问是：它属于哪一类？查《人间传染的病原微生物目录》（以现行版本为准），目录还规定了不同实验活动所需的实验室防护级别。</a:t>
            </a:r>
          </a:p>
          <a:p>
            <a:r>
              <a:t>注意两套编号：国内病原微生物分为四类，第一类危害最大、第四类最小；国际风险组 1 组最低、4 组最高，方向相反（见第 058 课）。阅读国外资料时不能把编号直接套用。分类只是起点，还要继续问后面的各项要素。</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一看致病性：暴露后会不会致病，致病性有多强。二看感染剂量：多少量才会引起感染（具体数值查权威资料，不同病原差别很大）；感染剂量越低，越要格外小心。三看暴露后果：引起的疾病有多严重。</a:t>
            </a:r>
          </a:p>
          <a:p>
            <a:r>
              <a:t>培养体积在满足实验需要的前提下尽量小，万一溢洒，量少也更容易控制。</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要查清病原从哪里进入人体：吸入气溶胶、皮肤黏膜接触、锐器刺伤，还是误食入口；会不会形成气溶胶经空气传播。还要看传播方式中有没有媒介（如蜱、蚊等）或动物宿主参与，以及会不会人传人。</a:t>
            </a:r>
          </a:p>
          <a:p>
            <a:r>
              <a:t>途径决定控制重点：能经空气传播的，要特别控制产生气溶胶的操作；经血液传播的，要特别防锐器伤。</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宿主范围：有的病原能在人、多种动物甚至环境中生存，宿主和来源很多样，有的从环境中吸入就能感染；制定管理方案时要把这些都算上。</a:t>
            </a:r>
          </a:p>
          <a:p>
            <a:r>
              <a:t>环境存活：病原在台面、器材和空气中能存活多久，决定了污染范围和消毒要求（消毒见第 076 课）。本地流行情况：病原在本地流行还是外来，本地人可能已有一定免疫力，外来病原则可能没有。</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要问有没有有效的疫苗预防、有没有药物治疗，本地医疗机构能不能及时提供。没有有效的预防和治疗手段，暴露的后果就更严重，风险等级随之升高。</a:t>
            </a:r>
          </a:p>
          <a:p>
            <a:r>
              <a:t>评估要有依据：先查文献、病原资料和已有研究，了解这个病原在实验室里的已知风险和以往的感染事件。</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要问这个生物材料有没有做过基因改造。改造可能改变它的特性，带来新的风险，必须重新评估，并按规定报单位生物安全委员会审查；不能直接沿用未改造亲本的结论。</a:t>
            </a:r>
          </a:p>
          <a:p>
            <a:r>
              <a:t>经改造的植物还要问：有没有毒性，能否随花粉传播、传多远，人员有没有培训，是否在封闭条件下操作。转基因生物的风险评估见第 081 课，植物封闭温室见第 082 课。</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一个病原，操作不同风险不同。评估先问：你拿它做什么？冻存保存风险最低，开展检测风险升高，大量培养风险最高；只提取核酸风险较低，种植改造植物并收集花粉风险较高。培养使病原数量增加，一旦溢洒后果更重。</a:t>
            </a:r>
          </a:p>
          <a:p>
            <a:r>
              <a:t>浓度越高、体积越大，风险也跟着上升。处理高风险样品或操作时，防护措施要相应升级（防护等级见第 060 课）。</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把整个操作拆成一个个小步骤，每一步问：会不会产生气溶胶（离心、振荡、匀浆、超声、剧烈吹打等）？有没有锐器、溅洒和手接触？把这些风险点标出来。</a:t>
            </a:r>
          </a:p>
          <a:p>
            <a:r>
              <a:t>每一步操作本身的风险都要评估，并写进样本处理方案，对应具体的控制措施，例如移液时沿管壁缓慢放液、在生物安全柜内操作、使用密封离心转子（生物安全柜使用见第 072 课）。</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评估也要看操作的人：免疫状态、健康状况、过敏史、是否怀孕等。免疫低下的人风险更高，需要额外的防护，或者调整工作安排。</a:t>
            </a:r>
          </a:p>
          <a:p>
            <a:r>
              <a:t>本人应主动向实验室负责人说明过敏、免疫低下等情况，负责人据此调整安排，并对个人健康信息保密（健康告知见第 152 课，医学监护与免疫接种见第 069 课）。</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可以把病原要素变成一份问卷，用“是”或“否”逐条回答：是病原吗？暴露后会致病吗？经吸入传播吗？经接触传播吗？在环境中稳定吗？经过改造吗？好治吗？</a:t>
            </a:r>
          </a:p>
          <a:p>
            <a:r>
              <a:t>答“是”（或“不好治”）的地方，就是风险点，要对应到具体的控制措施。问卷的条目可按本校评估程序增减。</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再看现有控制够不够，问设施与管理：人员培训够不够？有没有应急预案？关键设备（生物安全柜、高压灭菌器等）齐不齐、合格不合格？个人防护够不够？废物怎么处置？安保措施和专门的操作规程有没有？</a:t>
            </a:r>
          </a:p>
          <a:p>
            <a:r>
              <a:t>这些要和实验室负责人一起确认。换了病原，规程要重写，人员要重新培训。</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评估要同时看两类风险：生物安全风险——操作人员和周边社区会不会暴露；生物安保风险——样本会不会丢失、被盗或被滥用（生物安保见第 083 课）。两类风险都要放进同一张评估表里打分。</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一个结构化案例说明逐步评估的方法：某研究项目收到一批患者血样，怀疑感染某种经蜱叮咬传播的病原，但未确证——镜检没查到病原，抗体检测阳性；该病原已知靠蜱叮咬传播，未见人传人报道。实验室要做的是分离血清，再做免疫检测。</a:t>
            </a:r>
          </a:p>
          <a:p>
            <a:r>
              <a:t>已掌握的信息（途径、是否人传人、要做的操作）就是评估的依据；未确证的部分按从严原则处理。</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构化评估就是把一个流程拆成单个操作，一步一步评估。本案例拆成八步：接收与初始存放、样本编目、分离血清、免疫检测、检测后样本处置、去污、记录保存、意外暴露的应急处置。后四步常被忽略，也不能漏。</a:t>
            </a:r>
          </a:p>
          <a:p>
            <a:r>
              <a:t>更大范围的流程还包括运输、接收、储存、处理、处置和数据传输，每一步都要评一次。例如接收时先在安全柜内检查样本管的密封和标签（样本接收见第 079 课）。</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每一步都用风险矩阵（可能性配后果，见第 067 课）打分，例如“接收和存放时意外暴露”可能性低、后果低；颜色分低、中、高、很高，一看就懂。各步汇总成累计矩阵或总表，全程风险一行看清，并找出风险最高的步骤。</a:t>
            </a:r>
          </a:p>
          <a:p>
            <a:r>
              <a:t>总表还能看出风险的变化：例如样本灭活后，被盗滥用的风险就降低了。打分要有依据：做熟了也不能随手把可能性打低，要参考实验记录、事件和险兆报告，不凭感觉。</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评估结束时有一个决策点：在现有控制下，残余风险是否可接受？不够低的，进入下一步风险减缓，对每一项风险点对应具体措施（见第 069 课）。</a:t>
            </a:r>
          </a:p>
          <a:p>
            <a:r>
              <a:t>评估结果要写成文件，按本校程序经生物安全委员会审核，再对应到一条条具体措施并落实。评清楚、控到位，再决定是否开展。</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答案：B。解析：两套编号方向相反；分类只是评估的起点。</a:t>
            </a:r>
          </a:p>
          <a:p>
            <a:r>
              <a:t>第 2 题 答案：B。解析：冻存最低、检测升高、大量培养最高，浓度和量越大风险越高。</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答案：D。解析：病原层面看分类、致病性与感染剂量、途径与媒介、宿主、存活、本地流行、防治和改造。</a:t>
            </a:r>
          </a:p>
          <a:p>
            <a:r>
              <a:t>第 4 题 答案：B。解析：应主动说明，负责人据此调整安排并为个人保密。</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答案：B。解析：每一步都要评，后几步也不能漏，汇成总表看全程风险。</a:t>
            </a:r>
          </a:p>
          <a:p>
            <a:r>
              <a:t>第 6 题 答案：病原未确认的样本、经过改造的材料、临床样本、土壤等环境样本、野生动物来源的样本（包括看似健康来源的）。解析：信息不足时风险往高处估，报生物安全委员会审核。</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风险评估（见第 067、068 课）只是在提问：有什么风险、有多大，本身不会让风险变小；风险减缓才是真正把风险降下来。流程是：识别危害、评估风险，然后进入减缓，控制措施在这一步登场。</a:t>
            </a:r>
          </a:p>
          <a:p>
            <a:r>
              <a:t>控制就是落实管理决策的行动：评估报告里定下的每一条措施，都要落实到设施、规程、培训和防护上，而且几类措施要一起用、互相补位。</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风险的控制措施分五类，可以用一只手的五根手指来记：消除、替代、工程控制、管理控制、个人防护。它们排成一个层级（倒金字塔），选措施时从上往下：先想能不能不做、能不能换，再上设施设备和规程，个人防护垫底，不能单靠它。控制层级的通用讲法见第 017 课。</a:t>
            </a:r>
          </a:p>
          <a:p>
            <a:r>
              <a:t>打个比方：汽车的安全带和刹车是工程控制，驾照和交通规则是管理控制。能从源头消除或替代的风险，不要只靠口罩手套来挡。加完控制后，再看残余风险，决定做还是不做（见第 067 课）。</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消除是最有效的控制：风险太大，或者没有合适的设施（如没有生物安全柜、没有定向气流）、人员没有培训、人手不足，这个实验就不做，或者转到具备条件的单位开展。</a:t>
            </a:r>
          </a:p>
          <a:p>
            <a:r>
              <a:t>但消除也不是一刀切：全部停掉会阻碍科研进步，要在评估的基础上给研究留出空间，通过其他控制把风险降到可接受，再谨慎开展。</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替代就是换成风险更低的方案：例如改用减毒、弱化的株，在实验室里更好管理；样本在送来之前先按规定灭活，风险就大大降低；能用塑料器材就不用玻璃，能不用锐器就不用锐器。</a:t>
            </a:r>
          </a:p>
          <a:p>
            <a:r>
              <a:t>替代方案本身也要经过评估再换，确认新方案确实风险更低、又能满足实验需要（灭活要经过验证）。</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工程控制是用专门设计的设施设备把病原关住，给人创造安全的工作环境：例如在生物安全柜内操作并接好排风，加上高效过滤和污水处理；实验室保持负压，空气从外往里流，就形成了封闭。</a:t>
            </a:r>
          </a:p>
          <a:p>
            <a:r>
              <a:t>封闭原理、设施布局和运行维护分别见第 062、063、064 课，生物安全柜见第 071–073 课。</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是最后一道防线：其他措施失灵时靠它挡住，所以不能只靠防护用品。防护服挡住皮肤接触；可经空气传播的，按评估选用防护口罩或动力送风呼吸器；可经眼睛感染的，要戴护目镜；接触实验动物，要戴防咬手套。</a:t>
            </a:r>
          </a:p>
          <a:p>
            <a:r>
              <a:t>不会正确穿脱，反而可能污染自己，所以每件防护都配有使用规程。防护装备的选用见第 074 课，穿戴与脱卸见第 075 课。</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类控制不是单用，而是同时用、互相补位，缺一块就有漏洞。实验室和生物安全柜是工程控制，但进出实验室、使用安全柜都要靠规程来管；防护用品是个人防护，但穿脱要按规程，规程又属于管理控制。这些都写进实验室生物安全手册。</a:t>
            </a:r>
          </a:p>
          <a:p>
            <a:r>
              <a:t>有了好设施，操作也不能随便：工程控制不能代替规范操作，设施加规范，才真正安全。</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在第 068 课把流程拆成单步、逐步打分之后，对每一步依次问五个控制问题：能不能不做（消除）？能不能换个办法（替代）？能不能加设备（工程控制）？要不要专门的规程（管理控制）？要什么防护（个人防护）？</a:t>
            </a:r>
          </a:p>
          <a:p>
            <a:r>
              <a:t>把每一步选定的措施汇总成一张措施表，例如“接收与存放”主要靠规程和个人防护，再据此落实和检查（绩效评估见第 066 课）。</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管理控制是生物风险管理的基石，要在设计建设设施之前，就以安全手册和管理制度的形式定下来。它包括书面的政策、规则、工作安排、培训和记录，一切都要白纸黑字，检查时要看记录。</a:t>
            </a:r>
          </a:p>
          <a:p>
            <a:r>
              <a:t>管理控制种类很多：管理计划、生物安全委员会（以及实验动物、伦理等委员会）、人员与培训、手册、标识、库存、体检、检查审核和文件记录，也包括准入、个人防护和操作规范的要求，以及对工作人员心理和压力的关注。目标是减少接触的时间、次数和严重程度，把风险降下来。</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外部要求来自单位以外：国家法律法规、国家标准和行业标准，以及地方规定（例如排水、废物处置的地方要求）；国际指南只作参考。订制度前要把国内法规查清楚，职业健康、转基因生物安全等方面尤其要注意（转基因见第 081 课）。</a:t>
            </a:r>
          </a:p>
          <a:p>
            <a:r>
              <a:t>内部制度由学校、学院和实验室按需要制定，但必须放在法律框架里面，不能与法规冲突。单位要找出所有相关要求并逐条落实，不能说“我不知道有这个规定”；拿不准的，请懂法规的人把关。管理制度要有领导支持，每个人都要对自己的事负责，制度变成做法，做法留下记录。</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标准操作规程的通用原则是“写你所做，做你所写”：规程写的就是实际做的，实际做的就要和规程一致，记录也要与之相符。操作时严格按规程，一步都不能省；规程本身也要测试，确认管用。</a:t>
            </a:r>
          </a:p>
          <a:p>
            <a:r>
              <a:t>规程里要写清应急步骤：溢洒、针刺、暴露怎么处置，先处置，再逐级上报（处置见第 078 课）。记录可以是电子或纸质的：电子记录要备份、要保密，纸质记录要归档存放，记录要有人核实确认。</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核对表和操作规程配套使用：边做边勾，保持情景意识，知道自己做到了哪一步。人累了容易出错，长流程要安排轮班或休息。</a:t>
            </a:r>
          </a:p>
          <a:p>
            <a:r>
              <a:t>核对表可以自查，也可以同伴互查；填好的核对表按规定存档（电子、纸质均可），检查和审核时要查。</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人员上岗前要看学历、培训经历、实际操作能力和相关经验，由单位考核合格后准入（准入与培训制度见第 007 课，以本校规定为准）。按能力分工；换任务、遇到新情况、来了新设备、出了新规定，都要培训。培训要在本实验室、结合实际进行，在别处合格，换地方还要重新学。定期在工作台旁考核，不合格就再培训；培训要留记录，能力要能证明。</a:t>
            </a:r>
          </a:p>
          <a:p>
            <a:r>
              <a:t>风险评估做完，要讲给每个一起工作的人，看懂后签字确认，评估更新后再告诉大家。使用者还要签承诺：自己遵守规程，也提醒别人遵守；事故和未遂事件都要报告；出现相关症状或新的健康问题也要报告。</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门口的生物危害标志和安全信息牌要说清：有什么生物危害、防护级别、实验室负责人和应急联系电话。需要接种疫苗或佩戴呼吸防护才能进入的，要标明进入条件；免疫低下等感染风险高的人员，不进入相应区域。</a:t>
            </a:r>
          </a:p>
          <a:p>
            <a:r>
              <a:t>标识按国家标准和本校规定的式样设置，信息变化时及时更新。</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管理从一本清单开始：有哪些菌种、毒种、样本、质粒、转基因材料和实验动物，做哪些实验，都登记清楚，变了就更新。台账写明存放位置、安保要求、领用和去向，来龙去脉随时查得到。</a:t>
            </a:r>
          </a:p>
          <a:p>
            <a:r>
              <a:t>菌毒种和样本要专柜保存、专人保管，贴好标签，领用、归还、销毁都要登记。不得私自带出实验室，不得私自转送他人；不把来历不明的菌株带进实验室。用过的菌液和平板先灭活再处理，不能直接倒进水槽（感染性废物见第 077 课）。</a:t>
            </a:r>
          </a:p>
          <a:p>
            <a:r>
              <a:t>发现菌毒种或样本丢失、被盗，立即报告实验室负责人和保卫处，并按规定逐级上报，不得隐瞒（生物安保见第 083 课）。</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处理病原微生物或临床样本前，按规定做上岗体检，健康史（如过敏）要记录；按风险评估和规定，必要时留存本底血清，以后需要时可比对，判断有没有在实验室里发生暴露。接触高致病性病原微生物的人员，按规定进行审查（以现行规定为准）。</a:t>
            </a:r>
          </a:p>
          <a:p>
            <a:r>
              <a:t>工作前、中、后都要关注健康，按规定定期体检和健康监测。发生暴露后，由单位负责安排医学评估、预防性处置和救治。职业健康监护的一般要求见第 152 课。</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有的病原有疫苗可用。风险评估认为需要接种的，按要求在上岗前完成接种，并记入健康档案（具体接种项目以评估和本校规定为准）。</a:t>
            </a:r>
          </a:p>
          <a:p>
            <a:r>
              <a:t>疫苗不是万能的：保护作用因人而异，也不覆盖其他危害，打了疫苗，个人防护和规范操作一样也不能少。</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健康监测也落到每个人身上。做完实验后出现发热等身体不适，要及时就医，并主动告诉医生自己在什么实验室工作、接触过哪类微生物，便于医生及早判断。</a:t>
            </a:r>
          </a:p>
          <a:p>
            <a:r>
              <a:t>同时报告导师和实验室负责人，便于及早查明原因、采取措施，保护其他人员。</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课题组里有好几人生病，而他们用过同一种生物因子，且这种因子外部环境中也存在：是在实验室里感染的，还是之前或在外面感染的？生物安全员要会调查，查健康记录（体检、本底血清），也查工作记录（谁在什么时间做了什么操作）。</a:t>
            </a:r>
          </a:p>
          <a:p>
            <a:r>
              <a:t>疑似实验室感染要立即按规定报告并处置（以现行规定和本校规定为准），对相关人员进行医学观察和随访。生物安全员要和学校医务、职业健康部门合作，做好预防和健康监测。</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生物毒素是生物来源的有毒物质，可能少量就造成严重伤害，属于需要特别管理的材料。要专人专柜（加锁）保管，领用要登记、双人复核，定期清点数量，账物相符。</a:t>
            </a:r>
          </a:p>
          <a:p>
            <a:r>
              <a:t>用完按规定方法灭活，再作为废物处置。属于国家管制范围的，按相应规定管理和审批（以现行规定和本校规定为准）；发现丢失、被盗立即报告。</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答案：B。解析：从上往下选，越往上越有效，个人防护是最后一道防线。</a:t>
            </a:r>
          </a:p>
          <a:p>
            <a:r>
              <a:t>第 2 题 答案：B。解析：各类控制要并用，工程控制代替不了规范操作。</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答案：B。解析：清单台账，去向可查；不私自带出、不转送；用过的先灭活。</a:t>
            </a:r>
          </a:p>
          <a:p>
            <a:r>
              <a:t>第 4 题 答案：B。解析：打了疫苗，防护和规范操作也不能少。</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答案：B。解析：说明接触史便于及早判断，报告负责人便于查明原因、保护他人。</a:t>
            </a:r>
          </a:p>
          <a:p>
            <a:r>
              <a:t>第 6 题 答案：专人专柜（加锁）保管，领用登记、双人复核，定期清点账物相符，用完按规定灭活再作废物处置，丢失被盗立即报告。解析：属于国家管制范围的按相应规定管理。</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一个生物安全实验室能否安全运行，首先看组织：谁决策、谁把关、谁执行。高校实行学校—学院—实验室三级管理（通用讲法见第 004 课），实验室负责人是本实验室生物安全的第一责任人。</a:t>
            </a:r>
          </a:p>
          <a:p>
            <a:r>
              <a:t>生物安全的组织结构可以分三层：上层是学校和学院领导，负责决策和资源保障；中层是生物安全委员会和生物安全员，负责审查和把关；下层是技术人员、研究人员和辅助人员，按规程执行。周边还有设施工程（电、通风、空调）、保卫（门禁和数据安全）、职业健康（体检和医学监护）、实验动物管理以及外部专家顾问。</a:t>
            </a:r>
          </a:p>
          <a:p>
            <a:r>
              <a:t>体系里最关键的是人。每一层的人员都要经过培训，而且培训不是一次性的，要随着任务、设备和规定的变化持续进行（见第 069 课）。</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科研院所和医院一般都设有单位生物安全委员会，成员包括管理人员和生物安全、微生物、医学、工程等方面的技术专家。委员会位于组织的顶端，制定本单位、本实验室的生物安全政策，并通过设施经理、生物安全员和相关职能部门监督落实。</a:t>
            </a:r>
          </a:p>
          <a:p>
            <a:r>
              <a:t>委员会的核心工作是审查：涉及病原微生物、转基因等的研究，新课题开题或方法有重大改变时，先做风险评估（见第 067、068 课），再提交委员会审查；风险评估结论和应采用的防护级别由委员会把关。</a:t>
            </a:r>
          </a:p>
          <a:p>
            <a:r>
              <a:t>国内对实验室和实验活动有法定程序：一级、二级生物安全实验室按规定向主管部门备案；三级、四级实验室须通过国家认可，从事高致病性病原微生物实验活动须经批准（具体程序以现行法规为准）。学生不能自己决定开展新实验，更不能自己给病原或实验活动"定级"。</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设施经理（设施工程师）负责生物安全实验室的"硬件"：供电、通风和定向气流、空调、给排水、高压灭菌器等设施设备的运行和日常维护，设备出故障时组织抢修。他应当是合格的工程技术人员。</a:t>
            </a:r>
          </a:p>
          <a:p>
            <a:r>
              <a:t>设施经理进入实验室维修时同样面临生物风险，所以除了懂工程，还必须懂生物安全规程：维修前与实验室负责人沟通、按要求消毒和穿戴防护、做好记录（设施的设计与运行见第 064 课）。</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生物安全员（有的单位称生物安全负责人、安全监督员）是生物安全体系中"人"的关键一环：读懂单位的生物安全政策，并把它落实到每一间实验室。他应受过专门培训，懂生物学、懂法规、也懂操作。</a:t>
            </a:r>
          </a:p>
          <a:p>
            <a:r>
              <a:t>安全员的主要工作是三步循环：评估风险、落实控制措施、检查控制成效。在实验室现场，安全员有权监督日常运行；发现防护被破坏或违规操作，有权当场指出并制止。按 GB 19489-2008（以现行文本为准）的要求，单位应指定安全负责人，并赋予其监督实验室活动、制止不安全行为的职责和权力。</a:t>
            </a:r>
          </a:p>
          <a:p>
            <a:r>
              <a:t>各单位对这一岗位的叫法可能不同，但职责是相近的。</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负责"有三层含义：一是职责，分内的事必须去管，不能推；二是问责，做了什么、怎么做的，要负得起责，而这要靠完整的记录来证明；三是授权，安全员要有独立决定的权力，发现严重风险时能够叫停实验，而不必等待层层批准。</a:t>
            </a:r>
          </a:p>
          <a:p>
            <a:r>
              <a:t>单位要通过书面文件明确安全员的职责和权力，并在组织上给予支持，否则"有责无权"，监督就会落空。</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项目负责人（课题负责人、导师）最了解自己的实验：用什么病原或材料、做哪些操作、风险在哪里。因此，具体的防护措施由项目负责人在风险评估基础上提出，经委员会审查后落实。</a:t>
            </a:r>
          </a:p>
          <a:p>
            <a:r>
              <a:t>项目负责人带领团队对实验本身负责：组织风险评估、编写操作规程、保证组内人员培训合格和健康监护到位、监督规程执行，出现事故及时报告。</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合起来看：生物安全委员会统管全局，设施经理保证设施设备正常运转，生物安全员负责评估、控制和检查，项目负责人对实验本身负责。</a:t>
            </a:r>
          </a:p>
          <a:p>
            <a:r>
              <a:t>各方像一组咬合的齿轮，任何一方缺位，整个体系都会停转。例如设施停电检修，要提前通知项目负责人暂停实验；安全员发现问题，要同时告知项目负责人和设施经理。</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员首先要懂微生物学和细胞生物学。例如有老师想在普通教学实验室培养某种病原，安全员要先问：是什么病原？在国内分类中属于第几类？需要几级生物安全实验室？然后组织风险评估、确定控制措施、检查效果。实验室条件不够、没有经过审批的，不能开工。</a:t>
            </a:r>
          </a:p>
          <a:p>
            <a:r>
              <a:t>要特别注意：我国《病原微生物实验室生物安全管理条例》把病原微生物分为四类，第一类危害最大、第四类最低，与国际上按"风险组"从低到高编号的方向正好相反，不能弄反（见第 058 课）。</a:t>
            </a:r>
          </a:p>
          <a:p>
            <a:r>
              <a:t>安全员也要懂基因工程和生物技术：基因改造可能改变病原的致病性、宿主范围等特性，这类研究必须先评估、经审查批准（见第 081 课）。此外，实验室里除了生物风险，还有化学品、锐器、用电等风险，也要一并评估。</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生物安全不只保护实验人员，还要保护实验室外的公众和环境。人兽共患病原、转基因动植物和微生物、实验动物和媒介昆虫一旦逃逸到外界，可能造成传播或生态影响，安全员要督促落实防逃逸措施（见第 082、084 课）。</a:t>
            </a:r>
          </a:p>
          <a:p>
            <a:r>
              <a:t>遇到自己不熟悉的领域或拿不准的问题，要及时请教专家或上报委员会，不能凭感觉决定。</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员要懂实验室的关键设备。以生物安全柜为例：选型要符合实验活动的防护需要，安装位置要避开门口和人员走动的气流干扰，安装后、移位后和定期都要由有资质的机构检测合格才能使用，出现故障要及时维修（生物安全柜见第 071–073 课）。</a:t>
            </a:r>
          </a:p>
          <a:p>
            <a:r>
              <a:t>安全员自己会正确使用设备，才能培训和指导别人使用。</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有人觉得安全是负担：花钱、费时间、影响进度。这时硬压规定没有用。推动改变要分三步：先让领导和大家明白为什么要管（提高意识），再在全单位充分沟通，最后通过培训和制度真正落实。</a:t>
            </a:r>
          </a:p>
          <a:p>
            <a:r>
              <a:t>合规就是遵从规则、标准和法律，但"法律逼我才遵守"是不够的。只有明白了道理，知道这是在保护自己和他人，才会主动去做。</a:t>
            </a:r>
          </a:p>
          <a:p>
            <a:r>
              <a:t>安全员沟通时要讲清楚、说得服人，对领导、同事和外单位都一样；要对事不对人、不带偏见，体察不同背景的人对风险的不同看法。</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新上任的安全员可以从四方面入手：政策、法律、社会责任和人。先推动把生物安全写进单位的发展目标和政策；政策必须在国家法律法规的范围之内；生物安全也是单位对社会应负的责任。</a:t>
            </a:r>
          </a:p>
          <a:p>
            <a:r>
              <a:t>最关键的是找到各层级愿意带头推动安全的人，支持他们，让他们影响身边的人。安全计划由制度、设施、培训、健康监护、应急等许多部分组成，安全员要让这些部分和人环环相扣、一起运转。</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实验动物、植物（封闭温室）、昆虫和媒介生物、临床检验等特殊领域风险更高，各有专门的法规和标准，安全员需要的本领也更多（见第 079、082、084 课）。</a:t>
            </a:r>
          </a:p>
          <a:p>
            <a:r>
              <a:t>安全员的能力是一点点积累起来的。法规、标准和技术都在更新，安全员要持续学习、参加培训，把自己当成一份需要常更新的"活文件"。</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可以先做个小练习：写下你认为安全员应该做什么，学完后再对照补充。</a:t>
            </a:r>
          </a:p>
          <a:p>
            <a:r>
              <a:t>安全员能否发挥作用，取决于六点：领导支持（第一条）、懂生物学、懂法规、懂工程控制和个人防护用品、会培训、能推动改变。政策要靠沟通和培训才能真正落地。</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每个实验室都要有书面的生物安全政策，写明单位对生物安全和生物安保的承诺，由管理层批准发布。</a:t>
            </a:r>
          </a:p>
          <a:p>
            <a:r>
              <a:t>政策不能空喊口号，要具体、可衡量、做得到、有时限，例如"每年组织一次全员培训和考核""安全柜每年检测一次"。安全员和各岗位的职责也要写成文字，纳入生物安全手册。</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政策之下是生物安全手册（以及程序文件、操作规程等管理体系文件）。手册必须依据国家和地方的法律法规、国家标准编写，国际指南可以参考，但以国内规定为准。</a:t>
            </a:r>
          </a:p>
          <a:p>
            <a:r>
              <a:t>手册只写本实验室的内容：布局、人员职责、准入、操作规程、消毒和废物处理、应急处置等，要具体、可操作，不能照抄别人的。</a:t>
            </a:r>
          </a:p>
          <a:p>
            <a:r>
              <a:t>建实验室时，先确定谁负责、配备多少人员、是否需要设施经理；就像买车要配说明书，实验室楼建好时，生物安全手册和管理制度也要同时建好，不能"先用起来再说"。</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作为学生，首先要认清本实验室的负责人、导师和生物安全员，看懂门口安全信息牌上的联系方式。</a:t>
            </a:r>
          </a:p>
          <a:p>
            <a:r>
              <a:t>新课题、新方法先交导师，经风险评估和单位审查批准后才能开展；接受安全员的监督检查，被指出问题立即改正。发生溢洒、暴露、丢失等事件时，先按应急程序处置，同时报告实验室负责人，再逐级报学院和保卫处（实验室管理部门），需要急救时拨打 120（见第 078 课）。</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答案：B。解析：按《病原微生物实验室生物安全管理条例》和高校三级管理要求，实验室负责人是第一责任人。</a:t>
            </a:r>
          </a:p>
          <a:p>
            <a:r>
              <a:t>第 2 题 答案：B。解析：新课题、改方法要先评估，再经单位生物安全委员会审查；学生不能自己定级。</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答案：B。解析：安全员负责评估、控制、检查，有权监督和制止不安全行为。</a:t>
            </a:r>
          </a:p>
          <a:p>
            <a:r>
              <a:t>第 4 题 答案：B。解析：国内第一类危害最大、第四类最低，与国际风险组编号方向相反。</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答案：C。解析：手册依国内法规，具体可用，与设施同建。</a:t>
            </a:r>
          </a:p>
          <a:p>
            <a:r>
              <a:t>第 6 题 答案：委员会制定政策、审查项目和防护级别；设施经理管设施运行、维护和抢修；安全员管风险评估、控制落实和现场监督检查；项目负责人对实验本身负责、制定具体防护措施并管好团队。解析：各方协同一致，缺一不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057</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生物安全的概念与法规</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适用对象：进入生命科学、医学、农学、环境等涉及生物材料实验室的高校本科生、研究生和教职工（必修，进入生物实验室前完成）；实验室负责人和生物安全员重点学习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能说出生物安全的含义（安全操作、封闭控制）和目的（保护人员、环境和公众，防实验室获得性感染和病原意外释放），能区分生物危害、生物安全与生物安保。</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能说出生物安全的两大原则（风险评估与防护）、防护三要素（操作、设备、设施）和 5P 评估要素，知道国内病原分类与国际风险组顺序相反。</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能说出我国生物安全的主要法规和标准（生物安全法、病原微生物实验室生物安全管理条例、GB 19489、WS 233、《人间传染的病原微生物目录》），知道国际手册只作参考。</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能判断哪些做法违规（越级操作、私带样本、未经审批开展高致病性病原实验活动），知道违规要承担法律责任。</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《中华人民共和国生物安全法》（2021 年 4 月 15 日起施行，以现行文本为准）：生物安全领域的基础性法律，规定病原微生物实验室生物安全管理、法律责任</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《病原微生物实验室生物安全管理条例》（国务院令第 424 号公布，以现行文本为准）：病原微生物按危害程度分四类，实验室按防护水平分四级；一级、二级实验室备案，三级、四级实验室国家认可，高致病性病原微生物实验活动须经批准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生物安全通用要求》：风险评估、实验室设施设备、管理体系与安全手册</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233（以现行文本为准）《病原微生物实验室生物安全通用准则》：病原微生物实验室生物安全的通用技术和管理要求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《人间传染的病原微生物目录》（国家卫生健康委发布，以现行版本为准）：病原微生物危害程度分类和实验活动所需防护水平的依据</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号，以现行文本为准）及高校实验室安全检查项目表：生物安全实验室的备案、准入、培训和管理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本校生物安全管理制度：生物安全委员会审查、准入培训、实验活动审批，以本校规定为准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生物实验室多了看不见的生物危害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生物实验要和细胞、微生物打交道</a:t>
            </a:r>
          </a:p>
          <a:p>
            <a:pPr>
              <a:spcAft>
                <a:spcPts val="1000"/>
              </a:spcAft>
            </a:pPr>
            <a:r>
              <a:rPr sz="2000">
                <a:solidFill>
                  <a:srgbClr val="222B33"/>
                </a:solidFill>
                <a:latin typeface="Microsoft YaHei"/>
              </a:rPr>
              <a:t>▪ 病原体肉眼看不见，却能让健康人生病</a:t>
            </a:r>
          </a:p>
          <a:p>
            <a:pPr>
              <a:spcAft>
                <a:spcPts val="1000"/>
              </a:spcAft>
            </a:pPr>
            <a:r>
              <a:rPr sz="2000">
                <a:solidFill>
                  <a:srgbClr val="222B33"/>
                </a:solidFill>
                <a:latin typeface="Microsoft YaHei"/>
              </a:rPr>
              <a:t>▪ 样本、锐器、移液产生的气溶胶，风险就在手边</a:t>
            </a:r>
          </a:p>
          <a:p>
            <a:pPr>
              <a:spcAft>
                <a:spcPts val="1000"/>
              </a:spcAft>
            </a:pPr>
            <a:r>
              <a:rPr sz="2000">
                <a:solidFill>
                  <a:srgbClr val="222B33"/>
                </a:solidFill>
                <a:latin typeface="Microsoft YaHei"/>
              </a:rPr>
              <a:t>▪ 还有化学品和设备危害，措施一样不能少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生命科学实验离不开细胞、微生物和各种生物样本。与其他实验室相比，生物实验室除了化学品、仪器设备、用电等常见危险，还多了一类生物危害：细菌、病毒等病原体肉眼看不见，却可能让健康人感染生病。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认为“看不见就没危险”，随意对待样本和培养物</a:t>
            </a:r>
          </a:p>
          <a:p>
            <a:pPr>
              <a:spcAft>
                <a:spcPts val="1000"/>
              </a:spcAft>
            </a:pPr>
            <a:r>
              <a:rPr sz="1500">
                <a:solidFill>
                  <a:srgbClr val="222B33"/>
                </a:solidFill>
                <a:latin typeface="Microsoft YaHei"/>
              </a:rPr>
              <a:t>▪ 只注意生物危害，忽视同一实验室里的化学品和设备危险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生物因子失控，会威胁公共卫生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生物因子一旦失控，会威胁公众健康</a:t>
            </a:r>
          </a:p>
          <a:p>
            <a:pPr>
              <a:spcAft>
                <a:spcPts val="1000"/>
              </a:spcAft>
            </a:pPr>
            <a:r>
              <a:rPr sz="2000">
                <a:solidFill>
                  <a:srgbClr val="222B33"/>
                </a:solidFill>
                <a:latin typeface="Microsoft YaHei"/>
              </a:rPr>
              <a:t>▪ 一旦传开，可能引起流行</a:t>
            </a:r>
          </a:p>
          <a:p>
            <a:pPr>
              <a:spcAft>
                <a:spcPts val="1000"/>
              </a:spcAft>
            </a:pPr>
            <a:r>
              <a:rPr sz="2000">
                <a:solidFill>
                  <a:srgbClr val="222B33"/>
                </a:solidFill>
                <a:latin typeface="Microsoft YaHei"/>
              </a:rPr>
              <a:t>▪ 认识指示病例、医院内感染、经皮刺伤、流行病学</a:t>
            </a:r>
          </a:p>
          <a:p>
            <a:pPr>
              <a:spcAft>
                <a:spcPts val="1000"/>
              </a:spcAft>
            </a:pPr>
            <a:r>
              <a:rPr sz="2000">
                <a:solidFill>
                  <a:srgbClr val="222B33"/>
                </a:solidFill>
                <a:latin typeface="Microsoft YaHei"/>
              </a:rPr>
              <a:t>▪ 管好风险，研究才能走得远；这是共同的责任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因子与化学品不同：它能在人群中传播。一旦从实验室失控逸出，受害的可能不只是操作者本人，还可能引起疾病流行，威胁整个社会的公共卫生。随着新发传染病不断出现，生物因子对公众健康的威胁也在增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认为实验室感染只影响自己一个人</a:t>
            </a:r>
          </a:p>
          <a:p>
            <a:pPr>
              <a:spcAft>
                <a:spcPts val="1000"/>
              </a:spcAft>
            </a:pPr>
            <a:r>
              <a:rPr sz="1500">
                <a:solidFill>
                  <a:srgbClr val="222B33"/>
                </a:solidFill>
                <a:latin typeface="Microsoft YaHei"/>
              </a:rPr>
              <a:t>▪ 认为生物安全只是生物安全员的事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什么是生物安全：安全操作、封闭控制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生物安全就是安全地操作感染性材料</a:t>
            </a:r>
          </a:p>
          <a:p>
            <a:pPr>
              <a:spcAft>
                <a:spcPts val="1000"/>
              </a:spcAft>
            </a:pPr>
            <a:r>
              <a:rPr sz="2000">
                <a:solidFill>
                  <a:srgbClr val="222B33"/>
                </a:solidFill>
                <a:latin typeface="Microsoft YaHei"/>
              </a:rPr>
              <a:t>▪ 并把它们牢牢控制、封闭在里面</a:t>
            </a:r>
          </a:p>
          <a:p>
            <a:pPr>
              <a:spcAft>
                <a:spcPts val="1000"/>
              </a:spcAft>
            </a:pPr>
            <a:r>
              <a:rPr sz="2000">
                <a:solidFill>
                  <a:srgbClr val="222B33"/>
                </a:solidFill>
                <a:latin typeface="Microsoft YaHei"/>
              </a:rPr>
              <a:t>▪ 给生物因子划好边界，不让它逸出</a:t>
            </a:r>
          </a:p>
          <a:p>
            <a:pPr>
              <a:spcAft>
                <a:spcPts val="1000"/>
              </a:spcAft>
            </a:pPr>
            <a:r>
              <a:rPr sz="2000">
                <a:solidFill>
                  <a:srgbClr val="222B33"/>
                </a:solidFill>
                <a:latin typeface="Microsoft YaHei"/>
              </a:rPr>
              <a:t>▪ 微生物实验室最核心的就是生物安全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生物安全，讲的是怎样安全地操作有感染性的微生物和其他有危害的生物材料，并把它们控制、封闭（也称“防护”或“封闭”）在规定的范围内。所谓防护，就是给生物因子划定边界，让它留在设备和设施里，不逸出伤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把生物安全理解成“戴好手套就行”</a:t>
            </a:r>
          </a:p>
          <a:p>
            <a:pPr>
              <a:spcAft>
                <a:spcPts val="1000"/>
              </a:spcAft>
            </a:pPr>
            <a:r>
              <a:rPr sz="1500">
                <a:solidFill>
                  <a:srgbClr val="222B33"/>
                </a:solidFill>
                <a:latin typeface="Microsoft YaHei"/>
              </a:rPr>
              <a:t>▪ 只想着保护实验样品，不考虑把病原封闭在实验室内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目的：护人员、护环境、护公众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首先保护做实验的人</a:t>
            </a:r>
          </a:p>
          <a:p>
            <a:pPr>
              <a:spcAft>
                <a:spcPts val="1000"/>
              </a:spcAft>
            </a:pPr>
            <a:r>
              <a:rPr sz="2000">
                <a:solidFill>
                  <a:srgbClr val="222B33"/>
                </a:solidFill>
                <a:latin typeface="Microsoft YaHei"/>
              </a:rPr>
              <a:t>▪ 也保护实验室环境和周边社区公众</a:t>
            </a:r>
          </a:p>
          <a:p>
            <a:pPr>
              <a:spcAft>
                <a:spcPts val="1000"/>
              </a:spcAft>
            </a:pPr>
            <a:r>
              <a:rPr sz="2000">
                <a:solidFill>
                  <a:srgbClr val="222B33"/>
                </a:solidFill>
                <a:latin typeface="Microsoft YaHei"/>
              </a:rPr>
              <a:t>▪ 目标一：防止实验室获得性感染</a:t>
            </a:r>
          </a:p>
          <a:p>
            <a:pPr>
              <a:spcAft>
                <a:spcPts val="1000"/>
              </a:spcAft>
            </a:pPr>
            <a:r>
              <a:rPr sz="2000">
                <a:solidFill>
                  <a:srgbClr val="222B33"/>
                </a:solidFill>
                <a:latin typeface="Microsoft YaHei"/>
              </a:rPr>
              <a:t>▪ 目标二：防止病原意外释放到外界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生物安全依靠规范的做法、程序和设备，保护三方面：一是实验室工作人员；二是实验室和周边环境；三是社区公众。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只关心自己不被感染，把污染的物品、衣物带出实验室</a:t>
            </a:r>
          </a:p>
          <a:p>
            <a:pPr>
              <a:spcAft>
                <a:spcPts val="1000"/>
              </a:spcAft>
            </a:pPr>
            <a:r>
              <a:rPr sz="1500">
                <a:solidFill>
                  <a:srgbClr val="222B33"/>
                </a:solidFill>
                <a:latin typeface="Microsoft YaHei"/>
              </a:rPr>
              <a:t>▪ 认为病原“漏一点”不要紧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生物危害、生物安全与生物安保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生物危害：可能伤人的生物因子</a:t>
            </a:r>
          </a:p>
          <a:p>
            <a:pPr>
              <a:spcAft>
                <a:spcPts val="1000"/>
              </a:spcAft>
            </a:pPr>
            <a:r>
              <a:rPr sz="2000">
                <a:solidFill>
                  <a:srgbClr val="222B33"/>
                </a:solidFill>
                <a:latin typeface="Microsoft YaHei"/>
              </a:rPr>
              <a:t>▪ 生物安全：防无意的暴露和释放</a:t>
            </a:r>
          </a:p>
          <a:p>
            <a:pPr>
              <a:spcAft>
                <a:spcPts val="1000"/>
              </a:spcAft>
            </a:pPr>
            <a:r>
              <a:rPr sz="2000">
                <a:solidFill>
                  <a:srgbClr val="222B33"/>
                </a:solidFill>
                <a:latin typeface="Microsoft YaHei"/>
              </a:rPr>
              <a:t>▪ 生物安保：防丢失、被盗、被滥用</a:t>
            </a:r>
          </a:p>
          <a:p>
            <a:pPr>
              <a:spcAft>
                <a:spcPts val="1000"/>
              </a:spcAft>
            </a:pPr>
            <a:r>
              <a:rPr sz="2000">
                <a:solidFill>
                  <a:srgbClr val="222B33"/>
                </a:solidFill>
                <a:latin typeface="Microsoft YaHei"/>
              </a:rPr>
              <a:t>▪ 三者互相咬合，一个也不能少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这三个词常放在一起，含义不同：生物危害，是指可能对人、动物、植物或环境造成伤害的生物因子或材料；生物安全（实验室生物安全），重点防的是无意中的暴露和释放，比如操作失误、设施故障、防护失效，虽然不是故意的，也会危害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认为生物安全只管操作，样本丢了与己无关</a:t>
            </a:r>
          </a:p>
          <a:p>
            <a:pPr>
              <a:spcAft>
                <a:spcPts val="1000"/>
              </a:spcAft>
            </a:pPr>
            <a:r>
              <a:rPr sz="1500">
                <a:solidFill>
                  <a:srgbClr val="222B33"/>
                </a:solidFill>
                <a:latin typeface="Microsoft YaHei"/>
              </a:rPr>
              <a:t>▪ 把菌（毒）种和样本随意放在不上锁、无登记的地方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两大原则：风险评估与防护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生物安全有两大原则：风险评估和防护</a:t>
            </a:r>
          </a:p>
          <a:p>
            <a:pPr>
              <a:spcAft>
                <a:spcPts val="1000"/>
              </a:spcAft>
            </a:pPr>
            <a:r>
              <a:rPr sz="2000">
                <a:solidFill>
                  <a:srgbClr val="222B33"/>
                </a:solidFill>
                <a:latin typeface="Microsoft YaHei"/>
              </a:rPr>
              <a:t>▪ 先评估风险有多大</a:t>
            </a:r>
          </a:p>
          <a:p>
            <a:pPr>
              <a:spcAft>
                <a:spcPts val="1000"/>
              </a:spcAft>
            </a:pPr>
            <a:r>
              <a:rPr sz="2000">
                <a:solidFill>
                  <a:srgbClr val="222B33"/>
                </a:solidFill>
                <a:latin typeface="Microsoft YaHei"/>
              </a:rPr>
              <a:t>▪ 再按评估结果配上相应的防护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生物安全工作有两大原则：一是风险评估，二是防护。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不做评估，凭经验决定在哪里做、怎么防护</a:t>
            </a:r>
          </a:p>
          <a:p>
            <a:pPr>
              <a:spcAft>
                <a:spcPts val="1000"/>
              </a:spcAft>
            </a:pPr>
            <a:r>
              <a:rPr sz="1500">
                <a:solidFill>
                  <a:srgbClr val="222B33"/>
                </a:solidFill>
                <a:latin typeface="Microsoft YaHei"/>
              </a:rPr>
              <a:t>▪ 认为防护越多越好，不看评估结果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防护三要素：操作、设备、设施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防护靠规范操作、安全设备和专门设施</a:t>
            </a:r>
          </a:p>
          <a:p>
            <a:pPr>
              <a:spcAft>
                <a:spcPts val="1000"/>
              </a:spcAft>
            </a:pPr>
            <a:r>
              <a:rPr sz="2000">
                <a:solidFill>
                  <a:srgbClr val="222B33"/>
                </a:solidFill>
                <a:latin typeface="Microsoft YaHei"/>
              </a:rPr>
              <a:t>▪ 生物安全柜就是常用的安全设备</a:t>
            </a:r>
          </a:p>
          <a:p>
            <a:pPr>
              <a:spcAft>
                <a:spcPts val="1000"/>
              </a:spcAft>
            </a:pPr>
            <a:r>
              <a:rPr sz="2000">
                <a:solidFill>
                  <a:srgbClr val="222B33"/>
                </a:solidFill>
                <a:latin typeface="Microsoft YaHei"/>
              </a:rPr>
              <a:t>▪ 三者配套，少一样防护就有漏洞</a:t>
            </a:r>
          </a:p>
          <a:p>
            <a:pPr>
              <a:spcAft>
                <a:spcPts val="1000"/>
              </a:spcAft>
            </a:pPr>
            <a:r>
              <a:rPr sz="2000">
                <a:solidFill>
                  <a:srgbClr val="222B33"/>
                </a:solidFill>
                <a:latin typeface="Microsoft YaHei"/>
              </a:rPr>
              <a:t>▪ 目的是减少暴露，能消除就消除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不是一样东西，而是一整套：规范的操作方法和程序（如规程、培训、良好的微生物操作习惯）；专门的安全设备（如生物安全柜、密封离心杯、个人防护装备）；专门设计的实验室设施（如分区、门禁、通风、洗手和消毒灭菌设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有了生物安全柜就忽视操作规程</a:t>
            </a:r>
          </a:p>
          <a:p>
            <a:pPr>
              <a:spcAft>
                <a:spcPts val="1000"/>
              </a:spcAft>
            </a:pPr>
            <a:r>
              <a:rPr sz="1500">
                <a:solidFill>
                  <a:srgbClr val="222B33"/>
                </a:solidFill>
                <a:latin typeface="Microsoft YaHei"/>
              </a:rPr>
              <a:t>▪ 认为个人防护装备可以代替合格的实验室设施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5P：评估风险的五个要素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5P：病原、人员、场所、防护、规程</a:t>
            </a:r>
          </a:p>
          <a:p>
            <a:pPr>
              <a:spcAft>
                <a:spcPts val="1000"/>
              </a:spcAft>
            </a:pPr>
            <a:r>
              <a:rPr sz="1700">
                <a:solidFill>
                  <a:srgbClr val="222B33"/>
                </a:solidFill>
                <a:latin typeface="Microsoft YaHei"/>
              </a:rPr>
              <a:t>▪ 国内第一类最危险，与国际风险组顺序相反</a:t>
            </a:r>
          </a:p>
          <a:p>
            <a:pPr>
              <a:spcAft>
                <a:spcPts val="1000"/>
              </a:spcAft>
            </a:pPr>
            <a:r>
              <a:rPr sz="1700">
                <a:solidFill>
                  <a:srgbClr val="222B33"/>
                </a:solidFill>
                <a:latin typeface="Microsoft YaHei"/>
              </a:rPr>
              <a:t>▪ 人员培训合格、身体适合；场所级别配得上危害</a:t>
            </a:r>
          </a:p>
          <a:p>
            <a:pPr>
              <a:spcAft>
                <a:spcPts val="1000"/>
              </a:spcAft>
            </a:pPr>
            <a:r>
              <a:rPr sz="1700">
                <a:solidFill>
                  <a:srgbClr val="222B33"/>
                </a:solidFill>
                <a:latin typeface="Microsoft YaHei"/>
              </a:rPr>
              <a:t>▪ 五个 P 一起看，哪个薄弱先补哪个</a:t>
            </a:r>
          </a:p>
          <a:p>
            <a:pPr>
              <a:spcAft>
                <a:spcPts val="1000"/>
              </a:spcAft>
            </a:pPr>
            <a:r>
              <a:rPr sz="1700">
                <a:solidFill>
                  <a:srgbClr val="222B33"/>
                </a:solidFill>
                <a:latin typeface="Microsoft YaHei"/>
              </a:rPr>
              <a:t>▪ 再加安全文化：人人尽责</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5P 是评估生物风险时常用的五个要素：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把国际风险组的“4 组”当成国内的“第四类”，弄反危害高低</a:t>
            </a:r>
          </a:p>
          <a:p>
            <a:pPr>
              <a:spcAft>
                <a:spcPts val="1000"/>
              </a:spcAft>
            </a:pPr>
            <a:r>
              <a:rPr sz="1500">
                <a:solidFill>
                  <a:srgbClr val="222B33"/>
                </a:solidFill>
                <a:latin typeface="Microsoft YaHei"/>
              </a:rPr>
              <a:t>▪ 只看病原危害，不看人员能力和实验操作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国内生物安全法规与标准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生物安全法是生物安全领域的基本法律</a:t>
            </a:r>
          </a:p>
          <a:p>
            <a:pPr>
              <a:spcAft>
                <a:spcPts val="1000"/>
              </a:spcAft>
            </a:pPr>
            <a:r>
              <a:rPr sz="1700">
                <a:solidFill>
                  <a:srgbClr val="222B33"/>
                </a:solidFill>
                <a:latin typeface="Microsoft YaHei"/>
              </a:rPr>
              <a:t>▪ 条例规定病原分四类、实验室分四级</a:t>
            </a:r>
          </a:p>
          <a:p>
            <a:pPr>
              <a:spcAft>
                <a:spcPts val="1000"/>
              </a:spcAft>
            </a:pPr>
            <a:r>
              <a:rPr sz="1700">
                <a:solidFill>
                  <a:srgbClr val="222B33"/>
                </a:solidFill>
                <a:latin typeface="Microsoft YaHei"/>
              </a:rPr>
              <a:t>▪ 技术要求看 GB 19489 和 WS 233</a:t>
            </a:r>
          </a:p>
          <a:p>
            <a:pPr>
              <a:spcAft>
                <a:spcPts val="1000"/>
              </a:spcAft>
            </a:pPr>
            <a:r>
              <a:rPr sz="1700">
                <a:solidFill>
                  <a:srgbClr val="222B33"/>
                </a:solidFill>
                <a:latin typeface="Microsoft YaHei"/>
              </a:rPr>
              <a:t>▪ 病原分类查《人间传染的病原微生物目录》</a:t>
            </a:r>
          </a:p>
          <a:p>
            <a:pPr>
              <a:spcAft>
                <a:spcPts val="1000"/>
              </a:spcAft>
            </a:pPr>
            <a:r>
              <a:rPr sz="1700">
                <a:solidFill>
                  <a:srgbClr val="222B33"/>
                </a:solidFill>
                <a:latin typeface="Microsoft YaHei"/>
              </a:rPr>
              <a:t>▪ 单位要提供防护、培训和健康监护</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开展生物实验，首先要遵守国家法规。我国生物安全的主要依据包括：</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只看国外课程或教材，不了解国内法规和本校规定</a:t>
            </a:r>
          </a:p>
          <a:p>
            <a:pPr>
              <a:spcAft>
                <a:spcPts val="1000"/>
              </a:spcAft>
            </a:pPr>
            <a:r>
              <a:rPr sz="1500">
                <a:solidFill>
                  <a:srgbClr val="222B33"/>
                </a:solidFill>
                <a:latin typeface="Microsoft YaHei"/>
              </a:rPr>
              <a:t>▪ 引用法规不核对现行文本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国际手册只作参考，以国内法规为准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国际上的生物安全手册是很好的参照起点</a:t>
            </a:r>
          </a:p>
          <a:p>
            <a:pPr>
              <a:spcAft>
                <a:spcPts val="1000"/>
              </a:spcAft>
            </a:pPr>
            <a:r>
              <a:rPr sz="2000">
                <a:solidFill>
                  <a:srgbClr val="222B33"/>
                </a:solidFill>
                <a:latin typeface="Microsoft YaHei"/>
              </a:rPr>
              <a:t>▪ 它从生物安全的一般原则讲起</a:t>
            </a:r>
          </a:p>
          <a:p>
            <a:pPr>
              <a:spcAft>
                <a:spcPts val="1000"/>
              </a:spcAft>
            </a:pPr>
            <a:r>
              <a:rPr sz="2000">
                <a:solidFill>
                  <a:srgbClr val="222B33"/>
                </a:solidFill>
                <a:latin typeface="Microsoft YaHei"/>
              </a:rPr>
              <a:t>▪ 必须在国内法律框架内使用，国内法规优先</a:t>
            </a:r>
          </a:p>
          <a:p>
            <a:pPr>
              <a:spcAft>
                <a:spcPts val="1000"/>
              </a:spcAft>
            </a:pPr>
            <a:r>
              <a:rPr sz="2000">
                <a:solidFill>
                  <a:srgbClr val="222B33"/>
                </a:solidFill>
                <a:latin typeface="Microsoft YaHei"/>
              </a:rPr>
              <a:t>▪ 各实验室要编写本实验室的安全手册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国际上有通行的实验室生物安全手册，从生物安全的一般原则讲起，涵盖风险评估、防护、设备、培训等内容，是学习和参照的好起点。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照搬国外手册中的数值和做法</a:t>
            </a:r>
          </a:p>
          <a:p>
            <a:pPr>
              <a:spcAft>
                <a:spcPts val="1000"/>
              </a:spcAft>
            </a:pPr>
            <a:r>
              <a:rPr sz="1500">
                <a:solidFill>
                  <a:srgbClr val="222B33"/>
                </a:solidFill>
                <a:latin typeface="Microsoft YaHei"/>
              </a:rPr>
              <a:t>▪ 实验室没有自己的安全手册，或手册放着没人看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合规：外部合规与内部合规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守国家法规标准，是外部合规</a:t>
            </a:r>
          </a:p>
          <a:p>
            <a:pPr>
              <a:spcAft>
                <a:spcPts val="1000"/>
              </a:spcAft>
            </a:pPr>
            <a:r>
              <a:rPr sz="2000">
                <a:solidFill>
                  <a:srgbClr val="222B33"/>
                </a:solidFill>
                <a:latin typeface="Microsoft YaHei"/>
              </a:rPr>
              <a:t>▪ 守单位方针和制度，是内部合规</a:t>
            </a:r>
          </a:p>
          <a:p>
            <a:pPr>
              <a:spcAft>
                <a:spcPts val="1000"/>
              </a:spcAft>
            </a:pPr>
            <a:r>
              <a:rPr sz="2000">
                <a:solidFill>
                  <a:srgbClr val="222B33"/>
                </a:solidFill>
                <a:latin typeface="Microsoft YaHei"/>
              </a:rPr>
              <a:t>▪ 国家、地方、学校的要求，逐项找全</a:t>
            </a:r>
          </a:p>
          <a:p>
            <a:pPr>
              <a:spcAft>
                <a:spcPts val="1000"/>
              </a:spcAft>
            </a:pPr>
            <a:r>
              <a:rPr sz="2000">
                <a:solidFill>
                  <a:srgbClr val="222B33"/>
                </a:solidFill>
                <a:latin typeface="Microsoft YaHei"/>
              </a:rPr>
              <a:t>▪ 对照制度，看看合规做到哪一步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合规，就是遵守法律、法规、标准和规则。遵守国家和地方的法律法规、标准，是外部合规；遵守本单位的方针、制度和规程，是内部合规。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只知道国家法规，不知道本校、本实验室的规定</a:t>
            </a:r>
          </a:p>
          <a:p>
            <a:pPr>
              <a:spcAft>
                <a:spcPts val="1000"/>
              </a:spcAft>
            </a:pPr>
            <a:r>
              <a:rPr sz="1500">
                <a:solidFill>
                  <a:srgbClr val="222B33"/>
                </a:solidFill>
                <a:latin typeface="Microsoft YaHei"/>
              </a:rPr>
              <a:t>▪ 制度写在纸上，没有逐项落实</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依法备案审批，违规要担责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一级、二级实验室按规定备案</a:t>
            </a:r>
          </a:p>
          <a:p>
            <a:pPr>
              <a:spcAft>
                <a:spcPts val="1000"/>
              </a:spcAft>
            </a:pPr>
            <a:r>
              <a:rPr sz="2000">
                <a:solidFill>
                  <a:srgbClr val="222B33"/>
                </a:solidFill>
                <a:latin typeface="Microsoft YaHei"/>
              </a:rPr>
              <a:t>▪ 三级、四级实验室须经国家认可</a:t>
            </a:r>
          </a:p>
          <a:p>
            <a:pPr>
              <a:spcAft>
                <a:spcPts val="1000"/>
              </a:spcAft>
            </a:pPr>
            <a:r>
              <a:rPr sz="2000">
                <a:solidFill>
                  <a:srgbClr val="222B33"/>
                </a:solidFill>
                <a:latin typeface="Microsoft YaHei"/>
              </a:rPr>
              <a:t>▪ 高致病性病原的实验活动，先审批再做</a:t>
            </a:r>
          </a:p>
          <a:p>
            <a:pPr>
              <a:spcAft>
                <a:spcPts val="1000"/>
              </a:spcAft>
            </a:pPr>
            <a:r>
              <a:rPr sz="2000">
                <a:solidFill>
                  <a:srgbClr val="222B33"/>
                </a:solidFill>
                <a:latin typeface="Microsoft YaHei"/>
              </a:rPr>
              <a:t>▪ 越级操作、私带样本都是违规，要担法律责任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病原微生物实验室生物安全管理条例》等规定（以现行文本为准）：新建、改建、扩建一级、二级生物安全实验室，按规定向主管部门备案；三级、四级实验室须通过国家认可，开展高致病性病原微生物相关实验活动还须经批准。具体程序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认为“只做一次、量很小”就可以在普通实验室里做</a:t>
            </a:r>
          </a:p>
          <a:p>
            <a:pPr>
              <a:spcAft>
                <a:spcPts val="1000"/>
              </a:spcAft>
            </a:pPr>
            <a:r>
              <a:rPr sz="1500">
                <a:solidFill>
                  <a:srgbClr val="222B33"/>
                </a:solidFill>
                <a:latin typeface="Microsoft YaHei"/>
              </a:rPr>
              <a:t>▪ 把样本带回宿舍或私自送给其他单位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持续学习、保持警觉、防患未然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持续学习新知识、新规定</a:t>
            </a:r>
          </a:p>
          <a:p>
            <a:pPr>
              <a:spcAft>
                <a:spcPts val="1000"/>
              </a:spcAft>
            </a:pPr>
            <a:r>
              <a:rPr sz="2000">
                <a:solidFill>
                  <a:srgbClr val="222B33"/>
                </a:solidFill>
                <a:latin typeface="Microsoft YaHei"/>
              </a:rPr>
              <a:t>▪ 对异常保持警觉，及时报告</a:t>
            </a:r>
          </a:p>
          <a:p>
            <a:pPr>
              <a:spcAft>
                <a:spcPts val="1000"/>
              </a:spcAft>
            </a:pPr>
            <a:r>
              <a:rPr sz="2000">
                <a:solidFill>
                  <a:srgbClr val="222B33"/>
                </a:solidFill>
                <a:latin typeface="Microsoft YaHei"/>
              </a:rPr>
              <a:t>▪ 防患于未然，人人做到生物安全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生物安全的知识和法规在不断更新，要持续学习新知识、新规定，按要求参加复训。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培训一次就不再更新知识</a:t>
            </a:r>
          </a:p>
          <a:p>
            <a:pPr>
              <a:spcAft>
                <a:spcPts val="1000"/>
              </a:spcAft>
            </a:pPr>
            <a:r>
              <a:rPr sz="1500">
                <a:solidFill>
                  <a:srgbClr val="222B33"/>
                </a:solidFill>
                <a:latin typeface="Microsoft YaHei"/>
              </a:rPr>
              <a:t>▪ 发现异常怕麻烦不报告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下列关于我国病原微生物分类的说法，正确的是：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第四类危害最大</a:t>
            </a:r>
          </a:p>
          <a:p>
            <a:pPr algn="l"/>
            <a:r>
              <a:rPr sz="1500" b="0">
                <a:solidFill>
                  <a:srgbClr val="222B33"/>
                </a:solidFill>
                <a:latin typeface="Microsoft YaHei"/>
              </a:rPr>
              <a:t>B. 第一类危害最大，与国际风险组的顺序相反</a:t>
            </a:r>
          </a:p>
          <a:p>
            <a:pPr algn="l"/>
            <a:r>
              <a:rPr sz="1500" b="0">
                <a:solidFill>
                  <a:srgbClr val="222B33"/>
                </a:solidFill>
                <a:latin typeface="Microsoft YaHei"/>
              </a:rPr>
              <a:t>C. 与国际风险组顺序相同</a:t>
            </a:r>
          </a:p>
          <a:p>
            <a:pPr algn="l"/>
            <a:r>
              <a:rPr sz="1500" b="0">
                <a:solidFill>
                  <a:srgbClr val="222B33"/>
                </a:solidFill>
                <a:latin typeface="Microsoft YaHei"/>
              </a:rPr>
              <a:t>D. 只有三类</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判断：生物安全的目的只是保护做实验的人不被感染。</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防止菌（毒）种和样本被丢失、被盗、被滥用，主要属于：</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生物危害</a:t>
            </a:r>
          </a:p>
          <a:p>
            <a:pPr algn="l"/>
            <a:r>
              <a:rPr sz="1500" b="0">
                <a:solidFill>
                  <a:srgbClr val="222B33"/>
                </a:solidFill>
                <a:latin typeface="Microsoft YaHei"/>
              </a:rPr>
              <a:t>B. 生物安全</a:t>
            </a:r>
          </a:p>
          <a:p>
            <a:pPr algn="l"/>
            <a:r>
              <a:rPr sz="1500" b="0">
                <a:solidFill>
                  <a:srgbClr val="222B33"/>
                </a:solidFill>
                <a:latin typeface="Microsoft YaHei"/>
              </a:rPr>
              <a:t>C. 生物安保</a:t>
            </a:r>
          </a:p>
          <a:p>
            <a:pPr algn="l"/>
            <a:r>
              <a:rPr sz="1500" b="0">
                <a:solidFill>
                  <a:srgbClr val="222B33"/>
                </a:solidFill>
                <a:latin typeface="Microsoft YaHei"/>
              </a:rPr>
              <a:t>D. 化学安全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5P 评估要素不包括：</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病原</a:t>
            </a:r>
          </a:p>
          <a:p>
            <a:pPr algn="l"/>
            <a:r>
              <a:rPr sz="1500" b="0">
                <a:solidFill>
                  <a:srgbClr val="222B33"/>
                </a:solidFill>
                <a:latin typeface="Microsoft YaHei"/>
              </a:rPr>
              <a:t>B. 人员</a:t>
            </a:r>
          </a:p>
          <a:p>
            <a:pPr algn="l"/>
            <a:r>
              <a:rPr sz="1500" b="0">
                <a:solidFill>
                  <a:srgbClr val="222B33"/>
                </a:solidFill>
                <a:latin typeface="Microsoft YaHei"/>
              </a:rPr>
              <a:t>C. 场所</a:t>
            </a:r>
          </a:p>
          <a:p>
            <a:pPr algn="l"/>
            <a:r>
              <a:rPr sz="1500" b="0">
                <a:solidFill>
                  <a:srgbClr val="222B33"/>
                </a:solidFill>
                <a:latin typeface="Microsoft YaHei"/>
              </a:rPr>
              <a:t>D. 价格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057 · 生物安全的概念与法规</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057 生物安全的概念与法规</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判断：国际实验室生物安全手册内容全面，可以直接替代我国的法规和标准。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简答：同学想在普通教学实验室里“只做一次”需要更高防护级别的实验，还打算把样本带回宿舍，这些做法有什么问题？</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生物实验室多了看不见的生物危害</a:t>
            </a:r>
          </a:p>
          <a:p>
            <a:pPr>
              <a:spcAft>
                <a:spcPts val="800"/>
              </a:spcAft>
            </a:pPr>
            <a:r>
              <a:rPr sz="1500">
                <a:solidFill>
                  <a:srgbClr val="FFFFFF"/>
                </a:solidFill>
                <a:latin typeface="Microsoft YaHei"/>
              </a:rPr>
              <a:t>▪ K2  生物因子失控，会威胁公共卫生</a:t>
            </a:r>
          </a:p>
          <a:p>
            <a:pPr>
              <a:spcAft>
                <a:spcPts val="800"/>
              </a:spcAft>
            </a:pPr>
            <a:r>
              <a:rPr sz="1500">
                <a:solidFill>
                  <a:srgbClr val="FFFFFF"/>
                </a:solidFill>
                <a:latin typeface="Microsoft YaHei"/>
              </a:rPr>
              <a:t>▪ K3  什么是生物安全：安全操作、封闭控制</a:t>
            </a:r>
          </a:p>
          <a:p>
            <a:pPr>
              <a:spcAft>
                <a:spcPts val="800"/>
              </a:spcAft>
            </a:pPr>
            <a:r>
              <a:rPr sz="1500">
                <a:solidFill>
                  <a:srgbClr val="FFFFFF"/>
                </a:solidFill>
                <a:latin typeface="Microsoft YaHei"/>
              </a:rPr>
              <a:t>▪ K4  目的：护人员、护环境、护公众</a:t>
            </a:r>
          </a:p>
          <a:p>
            <a:pPr>
              <a:spcAft>
                <a:spcPts val="800"/>
              </a:spcAft>
            </a:pPr>
            <a:r>
              <a:rPr sz="1500">
                <a:solidFill>
                  <a:srgbClr val="FFFFFF"/>
                </a:solidFill>
                <a:latin typeface="Microsoft YaHei"/>
              </a:rPr>
              <a:t>▪ K5  生物危害、生物安全与生物安保</a:t>
            </a:r>
          </a:p>
          <a:p>
            <a:pPr>
              <a:spcAft>
                <a:spcPts val="800"/>
              </a:spcAft>
            </a:pPr>
            <a:r>
              <a:rPr sz="1500">
                <a:solidFill>
                  <a:srgbClr val="FFFFFF"/>
                </a:solidFill>
                <a:latin typeface="Microsoft YaHei"/>
              </a:rPr>
              <a:t>▪ K6  两大原则：风险评估与防护</a:t>
            </a:r>
          </a:p>
          <a:p>
            <a:pPr>
              <a:spcAft>
                <a:spcPts val="800"/>
              </a:spcAft>
            </a:pPr>
            <a:r>
              <a:rPr sz="1500">
                <a:solidFill>
                  <a:srgbClr val="FFFFFF"/>
                </a:solidFill>
                <a:latin typeface="Microsoft YaHei"/>
              </a:rPr>
              <a:t>▪ K7  防护三要素：操作、设备、设施</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5P：评估风险的五个要素</a:t>
            </a:r>
          </a:p>
          <a:p>
            <a:pPr>
              <a:spcAft>
                <a:spcPts val="800"/>
              </a:spcAft>
            </a:pPr>
            <a:r>
              <a:rPr sz="1500">
                <a:solidFill>
                  <a:srgbClr val="FFFFFF"/>
                </a:solidFill>
                <a:latin typeface="Microsoft YaHei"/>
              </a:rPr>
              <a:t>▪ K9  国内生物安全法规与标准</a:t>
            </a:r>
          </a:p>
          <a:p>
            <a:pPr>
              <a:spcAft>
                <a:spcPts val="800"/>
              </a:spcAft>
            </a:pPr>
            <a:r>
              <a:rPr sz="1500">
                <a:solidFill>
                  <a:srgbClr val="FFFFFF"/>
                </a:solidFill>
                <a:latin typeface="Microsoft YaHei"/>
              </a:rPr>
              <a:t>▪ K10  国际手册只作参考，以国内法规为准</a:t>
            </a:r>
          </a:p>
          <a:p>
            <a:pPr>
              <a:spcAft>
                <a:spcPts val="800"/>
              </a:spcAft>
            </a:pPr>
            <a:r>
              <a:rPr sz="1500">
                <a:solidFill>
                  <a:srgbClr val="FFFFFF"/>
                </a:solidFill>
                <a:latin typeface="Microsoft YaHei"/>
              </a:rPr>
              <a:t>▪ K11  合规：外部合规与内部合规</a:t>
            </a:r>
          </a:p>
          <a:p>
            <a:pPr>
              <a:spcAft>
                <a:spcPts val="800"/>
              </a:spcAft>
            </a:pPr>
            <a:r>
              <a:rPr sz="1500">
                <a:solidFill>
                  <a:srgbClr val="FFFFFF"/>
                </a:solidFill>
                <a:latin typeface="Microsoft YaHei"/>
              </a:rPr>
              <a:t>▪ K12  依法备案审批，违规要担责</a:t>
            </a:r>
          </a:p>
          <a:p>
            <a:pPr>
              <a:spcAft>
                <a:spcPts val="800"/>
              </a:spcAft>
            </a:pPr>
            <a:r>
              <a:rPr sz="1500">
                <a:solidFill>
                  <a:srgbClr val="FFFFFF"/>
                </a:solidFill>
                <a:latin typeface="Microsoft YaHei"/>
              </a:rPr>
              <a:t>▪ K13  持续学习、保持警觉、防患未然</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058</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病原微生物分类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70 镜）　适用对象：进入生命科学、医学、农学、环境等涉及生物材料实验室的高校本科生、研究生和教职工（必修）；实验室负责人和生物安全员重点学习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能说出生物因子的主要种类（细菌、病毒、真菌、寄生虫、朊病毒、毒素、感染性核酸等）及其安全上的特点。</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能说出国内病原微生物四类的含义：第一类危害最大、第四类最小，与国际风险组（1 组最低、4 组最高）顺序相反；能判断“第一类病原不在一级实验室”。</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能做到以现行《人间传染的病原微生物目录》为准查分类和所需实验室级别；目录查不到的先评估、报生物安全委员会确定；知道第一、二类实验活动须经批准。</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能说出评估时要考虑的地区因素，会把病原资料单作为参考工具使用。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《中华人民共和国生物安全法》（以现行文本为准）：病原微生物实验室实行分类管理和分级管理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《病原微生物实验室生物安全管理条例》（以现行文本为准）：病原微生物按危害程度分为四类，第一类、第二类统称高致病性病原微生物；高致病性病原微生物实验活动须在相应级别实验室并经批准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《人间传染的病原微生物目录》（国家卫生健康委发布，以现行版本为准）：各病原的危害程度分类、不同实验活动所需的实验室级别</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《动物病原微生物分类名录》（以现行版本为准）：动物病原微生物的分类</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生物安全通用要求》、WS 233（以现行文本为准）《病原微生物实验室生物安全通用准则》：风险评估和实验室分级</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《农业转基因生物安全管理条例》（以现行文本为准）：农业转基因生物安全等级另成体系</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本校生物安全管理制度：目录未列的微生物由生物安全委员会评估确定，以本校规定为准</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什么是生物因子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细菌、病毒、真菌等微生物都可能是生物因子</a:t>
            </a:r>
          </a:p>
          <a:p>
            <a:pPr>
              <a:spcAft>
                <a:spcPts val="1000"/>
              </a:spcAft>
            </a:pPr>
            <a:r>
              <a:rPr sz="2000">
                <a:solidFill>
                  <a:srgbClr val="222B33"/>
                </a:solidFill>
                <a:latin typeface="Microsoft YaHei"/>
              </a:rPr>
              <a:t>▪ 还有朊病毒这样的致病颗粒和生物毒素</a:t>
            </a:r>
          </a:p>
          <a:p>
            <a:pPr>
              <a:spcAft>
                <a:spcPts val="1000"/>
              </a:spcAft>
            </a:pPr>
            <a:r>
              <a:rPr sz="2000">
                <a:solidFill>
                  <a:srgbClr val="222B33"/>
                </a:solidFill>
                <a:latin typeface="Microsoft YaHei"/>
              </a:rPr>
              <a:t>▪ 轻则过敏，重则患病甚至死亡</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生物因子是指可能对人体健康造成危害的微生物和其他生物材料，包括细菌、病毒、真菌及其他微生物，寄生虫，朊病毒这样的致病蛋白颗粒，以及它们产生的毒素等。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认为只有“病毒、细菌”才算生物危害，忽视真菌孢子、毒素和过敏原</a:t>
            </a:r>
          </a:p>
          <a:p>
            <a:pPr>
              <a:spcAft>
                <a:spcPts val="1000"/>
              </a:spcAft>
            </a:pPr>
            <a:r>
              <a:rPr sz="1500">
                <a:solidFill>
                  <a:srgbClr val="222B33"/>
                </a:solidFill>
                <a:latin typeface="Microsoft YaHei"/>
              </a:rPr>
              <a:t>▪ 认为非活体的毒素、核酸不需要防护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细菌、病毒、真菌各有特点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细菌：不少来自土壤和水，有的形成芽孢，耐受力强</a:t>
            </a:r>
          </a:p>
          <a:p>
            <a:pPr>
              <a:spcAft>
                <a:spcPts val="1000"/>
              </a:spcAft>
            </a:pPr>
            <a:r>
              <a:rPr sz="1700">
                <a:solidFill>
                  <a:srgbClr val="222B33"/>
                </a:solidFill>
                <a:latin typeface="Microsoft YaHei"/>
              </a:rPr>
              <a:t>▪ 支原体没有细胞壁，部分抗生素对它无效</a:t>
            </a:r>
          </a:p>
          <a:p>
            <a:pPr>
              <a:spcAft>
                <a:spcPts val="1000"/>
              </a:spcAft>
            </a:pPr>
            <a:r>
              <a:rPr sz="1700">
                <a:solidFill>
                  <a:srgbClr val="222B33"/>
                </a:solidFill>
                <a:latin typeface="Microsoft YaHei"/>
              </a:rPr>
              <a:t>▪ 病毒：有的可能致命，很多没有特效药</a:t>
            </a:r>
          </a:p>
          <a:p>
            <a:pPr>
              <a:spcAft>
                <a:spcPts val="1000"/>
              </a:spcAft>
            </a:pPr>
            <a:r>
              <a:rPr sz="1700">
                <a:solidFill>
                  <a:srgbClr val="222B33"/>
                </a:solidFill>
                <a:latin typeface="Microsoft YaHei"/>
              </a:rPr>
              <a:t>▪ 真菌孢子随空气扩散，有的产毒素</a:t>
            </a:r>
          </a:p>
          <a:p>
            <a:pPr>
              <a:spcAft>
                <a:spcPts val="1000"/>
              </a:spcAft>
            </a:pPr>
            <a:r>
              <a:rPr sz="1700">
                <a:solidFill>
                  <a:srgbClr val="222B33"/>
                </a:solidFill>
                <a:latin typeface="Microsoft YaHei"/>
              </a:rPr>
              <a:t>▪ 免疫力低时，常见真菌也可能致病</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不同生物因子的特点不同，决定了防护的重点：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认为普通消毒对所有细菌都同样有效，忽视芽孢的耐受性</a:t>
            </a:r>
          </a:p>
          <a:p>
            <a:pPr>
              <a:spcAft>
                <a:spcPts val="1000"/>
              </a:spcAft>
            </a:pPr>
            <a:r>
              <a:rPr sz="1500">
                <a:solidFill>
                  <a:srgbClr val="222B33"/>
                </a:solidFill>
                <a:latin typeface="Microsoft YaHei"/>
              </a:rPr>
              <a:t>▪ 认为真菌“只是发霉”，不防孢子扩散</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朊病毒、感染性核酸、寄生虫与毒素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朊病毒少见，引起人和动物慢性神经退行性病</a:t>
            </a:r>
          </a:p>
          <a:p>
            <a:pPr>
              <a:spcAft>
                <a:spcPts val="1000"/>
              </a:spcAft>
            </a:pPr>
            <a:r>
              <a:rPr sz="2000">
                <a:solidFill>
                  <a:srgbClr val="222B33"/>
                </a:solidFill>
                <a:latin typeface="Microsoft YaHei"/>
              </a:rPr>
              <a:t>▪ 有些病毒的核酸本身就有感染性</a:t>
            </a:r>
          </a:p>
          <a:p>
            <a:pPr>
              <a:spcAft>
                <a:spcPts val="1000"/>
              </a:spcAft>
            </a:pPr>
            <a:r>
              <a:rPr sz="2000">
                <a:solidFill>
                  <a:srgbClr val="222B33"/>
                </a:solidFill>
                <a:latin typeface="Microsoft YaHei"/>
              </a:rPr>
              <a:t>▪ 寄生虫、螺、蜱和蚤等也能带病</a:t>
            </a:r>
          </a:p>
          <a:p>
            <a:pPr>
              <a:spcAft>
                <a:spcPts val="1000"/>
              </a:spcAft>
            </a:pPr>
            <a:r>
              <a:rPr sz="2000">
                <a:solidFill>
                  <a:srgbClr val="222B33"/>
                </a:solidFill>
                <a:latin typeface="Microsoft YaHei"/>
              </a:rPr>
              <a:t>▪ 毒素不是活体，同样有害</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除细菌、病毒、真菌外，还有几类特殊的生物因子：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用普通消毒方法处理可能含朊病毒的材料</a:t>
            </a:r>
          </a:p>
          <a:p>
            <a:pPr>
              <a:spcAft>
                <a:spcPts val="1000"/>
              </a:spcAft>
            </a:pPr>
            <a:r>
              <a:rPr sz="1500">
                <a:solidFill>
                  <a:srgbClr val="222B33"/>
                </a:solidFill>
                <a:latin typeface="Microsoft YaHei"/>
              </a:rPr>
              <a:t>▪ 认为提取出的核酸都没有感染性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分组看两头：个体风险与群体风险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风险分组看两头：个体风险和群体风险</a:t>
            </a:r>
          </a:p>
          <a:p>
            <a:pPr>
              <a:spcAft>
                <a:spcPts val="1000"/>
              </a:spcAft>
            </a:pPr>
            <a:r>
              <a:rPr sz="2000">
                <a:solidFill>
                  <a:srgbClr val="222B33"/>
                </a:solidFill>
                <a:latin typeface="Microsoft YaHei"/>
              </a:rPr>
              <a:t>▪ 个体：病有多重，有没有有效的防治手段</a:t>
            </a:r>
          </a:p>
          <a:p>
            <a:pPr>
              <a:spcAft>
                <a:spcPts val="1000"/>
              </a:spcAft>
            </a:pPr>
            <a:r>
              <a:rPr sz="2000">
                <a:solidFill>
                  <a:srgbClr val="222B33"/>
                </a:solidFill>
                <a:latin typeface="Microsoft YaHei"/>
              </a:rPr>
              <a:t>▪ 群体：会不会在人群、动物和环境中传开</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病原按风险高低分组，主要看两方面：一是对个体的风险——引起的疾病有多严重，有没有有效的治疗和预防手段；二是对群体（社区）的风险——会不会在人与人、动物与人之间传播，传开后对公众、家畜和环境的影响有多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只看病情轻重，不看传播性</a:t>
            </a:r>
          </a:p>
          <a:p>
            <a:pPr>
              <a:spcAft>
                <a:spcPts val="1000"/>
              </a:spcAft>
            </a:pPr>
            <a:r>
              <a:rPr sz="1500">
                <a:solidFill>
                  <a:srgbClr val="222B33"/>
                </a:solidFill>
                <a:latin typeface="Microsoft YaHei"/>
              </a:rPr>
              <a:t>▪ 只看传播性，不看有没有防治手段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国际风险组第1、2组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国际风险组：1 组最低，4 组最高</a:t>
            </a:r>
          </a:p>
          <a:p>
            <a:pPr>
              <a:spcAft>
                <a:spcPts val="1000"/>
              </a:spcAft>
            </a:pPr>
            <a:r>
              <a:rPr sz="2000">
                <a:solidFill>
                  <a:srgbClr val="222B33"/>
                </a:solidFill>
                <a:latin typeface="Microsoft YaHei"/>
              </a:rPr>
              <a:t>▪ 第 1 组：个体、群体风险都低，一般不致病</a:t>
            </a:r>
          </a:p>
          <a:p>
            <a:pPr>
              <a:spcAft>
                <a:spcPts val="1000"/>
              </a:spcAft>
            </a:pPr>
            <a:r>
              <a:rPr sz="2000">
                <a:solidFill>
                  <a:srgbClr val="222B33"/>
                </a:solidFill>
                <a:latin typeface="Microsoft YaHei"/>
              </a:rPr>
              <a:t>▪ 风险最低，也要规范操作</a:t>
            </a:r>
          </a:p>
          <a:p>
            <a:pPr>
              <a:spcAft>
                <a:spcPts val="1000"/>
              </a:spcAft>
            </a:pPr>
            <a:r>
              <a:rPr sz="2000">
                <a:solidFill>
                  <a:srgbClr val="222B33"/>
                </a:solidFill>
                <a:latin typeface="Microsoft YaHei"/>
              </a:rPr>
              <a:t>▪ 第 2 组：能致病但危害有限，可防可治，扩散风险低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国际上通行把生物因子分为四个风险组，数字越大风险越高：1 组最低、4 组最高（注意：与我国病原分类的编号方向相反，见 K7）。</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认为第 1 组微生物可以随意操作，不戴手套、不洗手</a:t>
            </a:r>
          </a:p>
          <a:p>
            <a:pPr>
              <a:spcAft>
                <a:spcPts val="1000"/>
              </a:spcAft>
            </a:pPr>
            <a:r>
              <a:rPr sz="1500">
                <a:solidFill>
                  <a:srgbClr val="222B33"/>
                </a:solidFill>
                <a:latin typeface="Microsoft YaHei"/>
              </a:rPr>
              <a:t>▪ 把国际的“第 1 组”当成国内的“第一类”</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国际风险组第3、4组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3 组：常致重病，一般不人传人</a:t>
            </a:r>
          </a:p>
          <a:p>
            <a:pPr>
              <a:spcAft>
                <a:spcPts val="1000"/>
              </a:spcAft>
            </a:pPr>
            <a:r>
              <a:rPr sz="2000">
                <a:solidFill>
                  <a:srgbClr val="222B33"/>
                </a:solidFill>
                <a:latin typeface="Microsoft YaHei"/>
              </a:rPr>
              <a:t>▪ 第 3 组一般有有效的治疗和预防手段</a:t>
            </a:r>
          </a:p>
          <a:p>
            <a:pPr>
              <a:spcAft>
                <a:spcPts val="1000"/>
              </a:spcAft>
            </a:pPr>
            <a:r>
              <a:rPr sz="2000">
                <a:solidFill>
                  <a:srgbClr val="222B33"/>
                </a:solidFill>
                <a:latin typeface="Microsoft YaHei"/>
              </a:rPr>
              <a:t>▪ 第 4 组：病重、易传播，个体群体风险都高</a:t>
            </a:r>
          </a:p>
          <a:p>
            <a:pPr>
              <a:spcAft>
                <a:spcPts val="1000"/>
              </a:spcAft>
            </a:pPr>
            <a:r>
              <a:rPr sz="2000">
                <a:solidFill>
                  <a:srgbClr val="222B33"/>
                </a:solidFill>
                <a:latin typeface="Microsoft YaHei"/>
              </a:rPr>
              <a:t>▪ 第 4 组往往缺药缺苗，只在最高级别设施操作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 第 3 组：个体风险高、群体风险低（或低到中等）。通常引起人或动物的严重疾病，甚至可能致死，但一般不会在人与人之间传开，而且一般有有效的治疗和预防手段。</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看到“第 4 组”以为是国内的“第四类”，误以为风险最低</a:t>
            </a:r>
          </a:p>
          <a:p>
            <a:pPr>
              <a:spcAft>
                <a:spcPts val="1000"/>
              </a:spcAft>
            </a:pPr>
            <a:r>
              <a:rPr sz="1500">
                <a:solidFill>
                  <a:srgbClr val="222B33"/>
                </a:solidFill>
                <a:latin typeface="Microsoft YaHei"/>
              </a:rPr>
              <a:t>▪ 认为有疫苗就可以降低实验室级别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国内分四类：第一类最危险，与国际相反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国内按危害程度把病原微生物分为四类</a:t>
            </a:r>
          </a:p>
          <a:p>
            <a:pPr>
              <a:spcAft>
                <a:spcPts val="1000"/>
              </a:spcAft>
            </a:pPr>
            <a:r>
              <a:rPr sz="2000">
                <a:solidFill>
                  <a:srgbClr val="222B33"/>
                </a:solidFill>
                <a:latin typeface="Microsoft YaHei"/>
              </a:rPr>
              <a:t>▪ 第一类危害最大，第四类最小</a:t>
            </a:r>
          </a:p>
          <a:p>
            <a:pPr>
              <a:spcAft>
                <a:spcPts val="1000"/>
              </a:spcAft>
            </a:pPr>
            <a:r>
              <a:rPr sz="2000">
                <a:solidFill>
                  <a:srgbClr val="222B33"/>
                </a:solidFill>
                <a:latin typeface="Microsoft YaHei"/>
              </a:rPr>
              <a:t>▪ 编号方向与国际风险组正好相反</a:t>
            </a:r>
          </a:p>
          <a:p>
            <a:pPr>
              <a:spcAft>
                <a:spcPts val="1000"/>
              </a:spcAft>
            </a:pPr>
            <a:r>
              <a:rPr sz="2000">
                <a:solidFill>
                  <a:srgbClr val="222B33"/>
                </a:solidFill>
                <a:latin typeface="Microsoft YaHei"/>
              </a:rPr>
              <a:t>▪ 大致对应但不能自己换算，写资料注明编号体系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按《病原微生物实验室生物安全管理条例》（以现行文本为准），我国根据传染性、感染后对个体或群体的危害程度，把病原微生物分为四类：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把国际“4 组”和国内“第四类”混为一谈，弄反危害高低</a:t>
            </a:r>
          </a:p>
          <a:p>
            <a:pPr>
              <a:spcAft>
                <a:spcPts val="1000"/>
              </a:spcAft>
            </a:pPr>
            <a:r>
              <a:rPr sz="1500">
                <a:solidFill>
                  <a:srgbClr val="222B33"/>
                </a:solidFill>
                <a:latin typeface="Microsoft YaHei"/>
              </a:rPr>
              <a:t>▪ 按国外名单自己换算国内类别</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实验室级别国内外同向，别对号入座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实验室防护级别国内外同向，四级最高</a:t>
            </a:r>
          </a:p>
          <a:p>
            <a:pPr>
              <a:spcAft>
                <a:spcPts val="1000"/>
              </a:spcAft>
            </a:pPr>
            <a:r>
              <a:rPr sz="2000">
                <a:solidFill>
                  <a:srgbClr val="222B33"/>
                </a:solidFill>
                <a:latin typeface="Microsoft YaHei"/>
              </a:rPr>
              <a:t>▪ 第一类病原绝不在一级实验室操作</a:t>
            </a:r>
          </a:p>
          <a:p>
            <a:pPr>
              <a:spcAft>
                <a:spcPts val="1000"/>
              </a:spcAft>
            </a:pPr>
            <a:r>
              <a:rPr sz="2000">
                <a:solidFill>
                  <a:srgbClr val="222B33"/>
                </a:solidFill>
                <a:latin typeface="Microsoft YaHei"/>
              </a:rPr>
              <a:t>▪ 做哪一级，查目录再评估</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与病原分类不同，生物安全实验室的防护级别国内外方向一致：一级（BSL-1）最低，四级（BSL-4）最高（分级见第 059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认为“第一类病原就在一级实验室做”</a:t>
            </a:r>
          </a:p>
          <a:p>
            <a:pPr>
              <a:spcAft>
                <a:spcPts val="1000"/>
              </a:spcAft>
            </a:pPr>
            <a:r>
              <a:rPr sz="1500">
                <a:solidFill>
                  <a:srgbClr val="222B33"/>
                </a:solidFill>
                <a:latin typeface="Microsoft YaHei"/>
              </a:rPr>
              <a:t>▪ 只看病原类别，不看具体实验活动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第一、二类是高致病性，须经批准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第一类、第二类统称高致病性病原微生物</a:t>
            </a:r>
          </a:p>
          <a:p>
            <a:pPr>
              <a:spcAft>
                <a:spcPts val="1000"/>
              </a:spcAft>
            </a:pPr>
            <a:r>
              <a:rPr sz="2000">
                <a:solidFill>
                  <a:srgbClr val="222B33"/>
                </a:solidFill>
                <a:latin typeface="Microsoft YaHei"/>
              </a:rPr>
              <a:t>▪ 相关实验须在相应级别实验室并经批准</a:t>
            </a:r>
          </a:p>
          <a:p>
            <a:pPr>
              <a:spcAft>
                <a:spcPts val="1000"/>
              </a:spcAft>
            </a:pPr>
            <a:r>
              <a:rPr sz="2000">
                <a:solidFill>
                  <a:srgbClr val="222B33"/>
                </a:solidFill>
                <a:latin typeface="Microsoft YaHei"/>
              </a:rPr>
              <a:t>▪ 学生不得擅自开展这类实验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一类、第二类病原微生物统称为高致病性病原微生物。按《病原微生物实验室生物安全管理条例》（以现行文本为准），从事高致病性病原微生物相关实验活动，须在相应防护级别的实验室进行，并按规定报经批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以为“只做检测、不做培养”就不需要审批</a:t>
            </a:r>
          </a:p>
          <a:p>
            <a:pPr>
              <a:spcAft>
                <a:spcPts val="1000"/>
              </a:spcAft>
            </a:pPr>
            <a:r>
              <a:rPr sz="1500">
                <a:solidFill>
                  <a:srgbClr val="222B33"/>
                </a:solidFill>
                <a:latin typeface="Microsoft YaHei"/>
              </a:rPr>
              <a:t>▪ 私下从别的实验室要来菌（毒）种</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查《人间传染的病原微生物目录》，用现行版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查分类以国内目录为准，国外资料只作参考</a:t>
            </a:r>
          </a:p>
          <a:p>
            <a:pPr>
              <a:spcAft>
                <a:spcPts val="1000"/>
              </a:spcAft>
            </a:pPr>
            <a:r>
              <a:rPr sz="2000">
                <a:solidFill>
                  <a:srgbClr val="222B33"/>
                </a:solidFill>
                <a:latin typeface="Microsoft YaHei"/>
              </a:rPr>
              <a:t>▪ 目录写明类别和不同实验活动所需实验室级别</a:t>
            </a:r>
          </a:p>
          <a:p>
            <a:pPr>
              <a:spcAft>
                <a:spcPts val="1000"/>
              </a:spcAft>
            </a:pPr>
            <a:r>
              <a:rPr sz="2000">
                <a:solidFill>
                  <a:srgbClr val="222B33"/>
                </a:solidFill>
                <a:latin typeface="Microsoft YaHei"/>
              </a:rPr>
              <a:t>▪ 同一病原，不同实验活动要求不同</a:t>
            </a:r>
          </a:p>
          <a:p>
            <a:pPr>
              <a:spcAft>
                <a:spcPts val="1000"/>
              </a:spcAft>
            </a:pPr>
            <a:r>
              <a:rPr sz="2000">
                <a:solidFill>
                  <a:srgbClr val="222B33"/>
                </a:solidFill>
                <a:latin typeface="Microsoft YaHei"/>
              </a:rPr>
              <a:t>▪ 目录会修订，用现行最新版，别用网上旧表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某种病原属于第几类、做什么实验需要几级实验室，以国家卫生健康委发布的《人间传染的病原微生物目录》（以现行版本为准）为准。目录按病毒、细菌类、真菌、朊病毒等列出各病原的危害程度分类，并分别写明不同实验活动（如培养、动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用国外名单或旧版表格确定国内类别</a:t>
            </a:r>
          </a:p>
          <a:p>
            <a:pPr>
              <a:spcAft>
                <a:spcPts val="1000"/>
              </a:spcAft>
            </a:pPr>
            <a:r>
              <a:rPr sz="1500">
                <a:solidFill>
                  <a:srgbClr val="222B33"/>
                </a:solidFill>
                <a:latin typeface="Microsoft YaHei"/>
              </a:rPr>
              <a:t>▪ 只看病原类别，不看具体实验活动对应的级别</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目录里查不到：评估后报委员会定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目录里查不到，先做风险评估</a:t>
            </a:r>
          </a:p>
          <a:p>
            <a:pPr>
              <a:spcAft>
                <a:spcPts val="1000"/>
              </a:spcAft>
            </a:pPr>
            <a:r>
              <a:rPr sz="2000">
                <a:solidFill>
                  <a:srgbClr val="222B33"/>
                </a:solidFill>
                <a:latin typeface="Microsoft YaHei"/>
              </a:rPr>
              <a:t>▪ 报单位生物安全委员会确定级别和防护</a:t>
            </a:r>
          </a:p>
          <a:p>
            <a:pPr>
              <a:spcAft>
                <a:spcPts val="1000"/>
              </a:spcAft>
            </a:pPr>
            <a:r>
              <a:rPr sz="2000">
                <a:solidFill>
                  <a:srgbClr val="222B33"/>
                </a:solidFill>
                <a:latin typeface="Microsoft YaHei"/>
              </a:rPr>
              <a:t>▪ 批准后，按确定的级别和防护开展</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目录没有列出的微生物（包括新分离的、来源不明的）不能自行认定为低风险。应先由项目负责人组织风险评估，提出建议的防护级别和措施，报单位生物安全委员会审查确定；批准后，按确定的级别和防护开展实验，并按国家有关规定办理（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目录里没有，就当作不需要防护</a:t>
            </a:r>
          </a:p>
          <a:p>
            <a:pPr>
              <a:spcAft>
                <a:spcPts val="1000"/>
              </a:spcAft>
            </a:pPr>
            <a:r>
              <a:rPr sz="1500">
                <a:solidFill>
                  <a:srgbClr val="222B33"/>
                </a:solidFill>
                <a:latin typeface="Microsoft YaHei"/>
              </a:rPr>
              <a:t>▪ 自己评估完就开始做，不报委员会</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动物病原和转基因生物另有分级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动物病原另有分类名录</a:t>
            </a:r>
          </a:p>
          <a:p>
            <a:pPr>
              <a:spcAft>
                <a:spcPts val="1000"/>
              </a:spcAft>
            </a:pPr>
            <a:r>
              <a:rPr sz="2000">
                <a:solidFill>
                  <a:srgbClr val="222B33"/>
                </a:solidFill>
                <a:latin typeface="Microsoft YaHei"/>
              </a:rPr>
              <a:t>▪ 涉及动物，人间和动物两个名录都要查</a:t>
            </a:r>
          </a:p>
          <a:p>
            <a:pPr>
              <a:spcAft>
                <a:spcPts val="1000"/>
              </a:spcAft>
            </a:pPr>
            <a:r>
              <a:rPr sz="2000">
                <a:solidFill>
                  <a:srgbClr val="222B33"/>
                </a:solidFill>
                <a:latin typeface="Microsoft YaHei"/>
              </a:rPr>
              <a:t>▪ 农业转基因生物另有安全等级，Ⅰ级最低、Ⅳ级最高</a:t>
            </a:r>
          </a:p>
          <a:p>
            <a:pPr>
              <a:spcAft>
                <a:spcPts val="1000"/>
              </a:spcAft>
            </a:pPr>
            <a:r>
              <a:rPr sz="2000">
                <a:solidFill>
                  <a:srgbClr val="222B33"/>
                </a:solidFill>
                <a:latin typeface="Microsoft YaHei"/>
              </a:rPr>
              <a:t>▪ 填表写清用的是哪套分级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动物病原微生物在国内另有《动物病原微生物分类名录》（以现行版本为准）。实验涉及动物或人兽共患病原时，人间传染的病原目录和动物病原名录都要查清楚。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涉及动物时只查人间传染的病原目录</a:t>
            </a:r>
          </a:p>
          <a:p>
            <a:pPr>
              <a:spcAft>
                <a:spcPts val="1000"/>
              </a:spcAft>
            </a:pPr>
            <a:r>
              <a:rPr sz="1500">
                <a:solidFill>
                  <a:srgbClr val="222B33"/>
                </a:solidFill>
                <a:latin typeface="Microsoft YaHei"/>
              </a:rPr>
              <a:t>▪ 把转基因安全等级和病原分类混写</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评估还要看地区因素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同一种病原，在不同地区风险不同</a:t>
            </a:r>
          </a:p>
          <a:p>
            <a:pPr>
              <a:spcAft>
                <a:spcPts val="1000"/>
              </a:spcAft>
            </a:pPr>
            <a:r>
              <a:rPr sz="2000">
                <a:solidFill>
                  <a:srgbClr val="222B33"/>
                </a:solidFill>
                <a:latin typeface="Microsoft YaHei"/>
              </a:rPr>
              <a:t>▪ 一看致病性，包括本地出现的变异株</a:t>
            </a:r>
          </a:p>
          <a:p>
            <a:pPr>
              <a:spcAft>
                <a:spcPts val="1000"/>
              </a:spcAft>
            </a:pPr>
            <a:r>
              <a:rPr sz="2000">
                <a:solidFill>
                  <a:srgbClr val="222B33"/>
                </a:solidFill>
                <a:latin typeface="Microsoft YaHei"/>
              </a:rPr>
              <a:t>▪ 二看传播方式、宿主、媒介、人口和气候</a:t>
            </a:r>
          </a:p>
          <a:p>
            <a:pPr>
              <a:spcAft>
                <a:spcPts val="1000"/>
              </a:spcAft>
            </a:pPr>
            <a:r>
              <a:rPr sz="2000">
                <a:solidFill>
                  <a:srgbClr val="222B33"/>
                </a:solidFill>
                <a:latin typeface="Microsoft YaHei"/>
              </a:rPr>
              <a:t>▪ 三看预防、四看治疗，本地能否获得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风险分组是一般性的判断。同一种病原在不同地区风险可能不同，评估和确定措施时还要考虑地区因素：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照搬其他地区的评估结论</a:t>
            </a:r>
          </a:p>
          <a:p>
            <a:pPr>
              <a:spcAft>
                <a:spcPts val="1000"/>
              </a:spcAft>
            </a:pPr>
            <a:r>
              <a:rPr sz="1500">
                <a:solidFill>
                  <a:srgbClr val="222B33"/>
                </a:solidFill>
                <a:latin typeface="Microsoft YaHei"/>
              </a:rPr>
              <a:t>▪ 忽视本地有没有传播媒介和防治条件</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病原资料单：病原的“说明书”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病原也有资料单，就像化学品安全技术说明书</a:t>
            </a:r>
          </a:p>
          <a:p>
            <a:pPr>
              <a:spcAft>
                <a:spcPts val="1000"/>
              </a:spcAft>
            </a:pPr>
            <a:r>
              <a:rPr sz="2000">
                <a:solidFill>
                  <a:srgbClr val="222B33"/>
                </a:solidFill>
                <a:latin typeface="Microsoft YaHei"/>
              </a:rPr>
              <a:t>▪ 网上公开、不断更新，国外资料只作参考</a:t>
            </a:r>
          </a:p>
          <a:p>
            <a:pPr>
              <a:spcAft>
                <a:spcPts val="1000"/>
              </a:spcAft>
            </a:pPr>
            <a:r>
              <a:rPr sz="2000">
                <a:solidFill>
                  <a:srgbClr val="222B33"/>
                </a:solidFill>
                <a:latin typeface="Microsoft YaHei"/>
              </a:rPr>
              <a:t>▪ 可查风险组、传播途径、处置等信息</a:t>
            </a:r>
          </a:p>
          <a:p>
            <a:pPr>
              <a:spcAft>
                <a:spcPts val="1000"/>
              </a:spcAft>
            </a:pPr>
            <a:r>
              <a:rPr sz="2000">
                <a:solidFill>
                  <a:srgbClr val="222B33"/>
                </a:solidFill>
                <a:latin typeface="Microsoft YaHei"/>
              </a:rPr>
              <a:t>▪ 有手机版，但手机不要带进高等级实验室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化学品有安全技术说明书，病原也有类似的资料单（病原安全数据表），一种病原一份，列出它的特性、传播途径、危害、消毒灭活方法、防护和处置要求等，是做风险评估的常用参考工具。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直接按国外资料单的风险组确定国内实验室级别</a:t>
            </a:r>
          </a:p>
          <a:p>
            <a:pPr>
              <a:spcAft>
                <a:spcPts val="1000"/>
              </a:spcAft>
            </a:pPr>
            <a:r>
              <a:rPr sz="1500">
                <a:solidFill>
                  <a:srgbClr val="222B33"/>
                </a:solidFill>
                <a:latin typeface="Microsoft YaHei"/>
              </a:rPr>
              <a:t>▪ 把手机带进高等级实验室查资料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资料单的九个部分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一是谁：名称分类；二有多凶：致病性、剂量、潜伏期</a:t>
            </a:r>
          </a:p>
          <a:p>
            <a:pPr>
              <a:spcAft>
                <a:spcPts val="1000"/>
              </a:spcAft>
            </a:pPr>
            <a:r>
              <a:rPr sz="1700">
                <a:solidFill>
                  <a:srgbClr val="222B33"/>
                </a:solidFill>
                <a:latin typeface="Microsoft YaHei"/>
              </a:rPr>
              <a:t>▪ 三怎么传：宿主、媒介、人兽共患</a:t>
            </a:r>
          </a:p>
          <a:p>
            <a:pPr>
              <a:spcAft>
                <a:spcPts val="1000"/>
              </a:spcAft>
            </a:pPr>
            <a:r>
              <a:rPr sz="1700">
                <a:solidFill>
                  <a:srgbClr val="222B33"/>
                </a:solidFill>
                <a:latin typeface="Microsoft YaHei"/>
              </a:rPr>
              <a:t>▪ 四能否杀灭：耐药性、消毒剂敏感性、接触时间</a:t>
            </a:r>
          </a:p>
          <a:p>
            <a:pPr>
              <a:spcAft>
                <a:spcPts val="1000"/>
              </a:spcAft>
            </a:pPr>
            <a:r>
              <a:rPr sz="1700">
                <a:solidFill>
                  <a:srgbClr val="222B33"/>
                </a:solidFill>
                <a:latin typeface="Microsoft YaHei"/>
              </a:rPr>
              <a:t>▪ 五急救医疗：疫苗、用药，法定传染病要上报</a:t>
            </a:r>
          </a:p>
          <a:p>
            <a:pPr>
              <a:spcAft>
                <a:spcPts val="1000"/>
              </a:spcAft>
            </a:pPr>
            <a:r>
              <a:rPr sz="1700">
                <a:solidFill>
                  <a:srgbClr val="222B33"/>
                </a:solidFill>
                <a:latin typeface="Microsoft YaHei"/>
              </a:rPr>
              <a:t>▪ 六至九：实验室危害、防护、处置储存、法规信息</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常见的病原资料单分为九个部分：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只看风险组编号，不看消毒灭活和应急处置部分</a:t>
            </a:r>
          </a:p>
          <a:p>
            <a:pPr>
              <a:spcAft>
                <a:spcPts val="1000"/>
              </a:spcAft>
            </a:pPr>
            <a:r>
              <a:rPr sz="1500">
                <a:solidFill>
                  <a:srgbClr val="222B33"/>
                </a:solidFill>
                <a:latin typeface="Microsoft YaHei"/>
              </a:rPr>
              <a:t>▪ 消毒时不等够接触时间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关于我国病原微生物分类，正确的是：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第四类危害最大</a:t>
            </a:r>
          </a:p>
          <a:p>
            <a:pPr algn="l"/>
            <a:r>
              <a:rPr sz="1500" b="0">
                <a:solidFill>
                  <a:srgbClr val="222B33"/>
                </a:solidFill>
                <a:latin typeface="Microsoft YaHei"/>
              </a:rPr>
              <a:t>B. 第一类危害最大，第四类通常不致病</a:t>
            </a:r>
          </a:p>
          <a:p>
            <a:pPr algn="l"/>
            <a:r>
              <a:rPr sz="1500" b="0">
                <a:solidFill>
                  <a:srgbClr val="222B33"/>
                </a:solidFill>
                <a:latin typeface="Microsoft YaHei"/>
              </a:rPr>
              <a:t>C. 与国际风险组编号方向相同</a:t>
            </a:r>
          </a:p>
          <a:p>
            <a:pPr algn="l"/>
            <a:r>
              <a:rPr sz="1500" b="0">
                <a:solidFill>
                  <a:srgbClr val="222B33"/>
                </a:solidFill>
                <a:latin typeface="Microsoft YaHei"/>
              </a:rPr>
              <a:t>D. 只分三类</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判断：国内第一类病原微生物可以在一级生物安全实验室操作。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第一类、第二类病原微生物统称为：</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条件致病菌</a:t>
            </a:r>
          </a:p>
          <a:p>
            <a:pPr algn="l"/>
            <a:r>
              <a:rPr sz="1500" b="0">
                <a:solidFill>
                  <a:srgbClr val="222B33"/>
                </a:solidFill>
                <a:latin typeface="Microsoft YaHei"/>
              </a:rPr>
              <a:t>B. 高致病性病原微生物</a:t>
            </a:r>
          </a:p>
          <a:p>
            <a:pPr algn="l"/>
            <a:r>
              <a:rPr sz="1500" b="0">
                <a:solidFill>
                  <a:srgbClr val="222B33"/>
                </a:solidFill>
                <a:latin typeface="Microsoft YaHei"/>
              </a:rPr>
              <a:t>C. 低风险微生物</a:t>
            </a:r>
          </a:p>
          <a:p>
            <a:pPr algn="l"/>
            <a:r>
              <a:rPr sz="1500" b="0">
                <a:solidFill>
                  <a:srgbClr val="222B33"/>
                </a:solidFill>
                <a:latin typeface="Microsoft YaHei"/>
              </a:rPr>
              <a:t>D. 环境微生物</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要确定某种病原的国内类别和所需实验室级别，应当以什么为准：</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国外病原资料单</a:t>
            </a:r>
          </a:p>
          <a:p>
            <a:pPr algn="l"/>
            <a:r>
              <a:rPr sz="1500" b="0">
                <a:solidFill>
                  <a:srgbClr val="222B33"/>
                </a:solidFill>
                <a:latin typeface="Microsoft YaHei"/>
              </a:rPr>
              <a:t>B. 网上流传的表格</a:t>
            </a:r>
          </a:p>
          <a:p>
            <a:pPr algn="l"/>
            <a:r>
              <a:rPr sz="1500" b="0">
                <a:solidFill>
                  <a:srgbClr val="222B33"/>
                </a:solidFill>
                <a:latin typeface="Microsoft YaHei"/>
              </a:rPr>
              <a:t>C. 现行版《人间传染的病原微生物目录》和风险评估</a:t>
            </a:r>
          </a:p>
          <a:p>
            <a:pPr algn="l"/>
            <a:r>
              <a:rPr sz="1500" b="0">
                <a:solidFill>
                  <a:srgbClr val="222B33"/>
                </a:solidFill>
                <a:latin typeface="Microsoft YaHei"/>
              </a:rPr>
              <a:t>D. 同学的经验</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058 · 病原微生物分类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058 病原微生物分类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判断：目录里查不到的微生物，说明它危害很低，可以直接在普通实验室操作。</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简答：同一种病原，为什么在不同地区评估结果可能不同？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什么是生物因子</a:t>
            </a:r>
          </a:p>
          <a:p>
            <a:pPr>
              <a:spcAft>
                <a:spcPts val="800"/>
              </a:spcAft>
            </a:pPr>
            <a:r>
              <a:rPr sz="1500">
                <a:solidFill>
                  <a:srgbClr val="FFFFFF"/>
                </a:solidFill>
                <a:latin typeface="Microsoft YaHei"/>
              </a:rPr>
              <a:t>▪ K2  细菌、病毒、真菌各有特点</a:t>
            </a:r>
          </a:p>
          <a:p>
            <a:pPr>
              <a:spcAft>
                <a:spcPts val="800"/>
              </a:spcAft>
            </a:pPr>
            <a:r>
              <a:rPr sz="1500">
                <a:solidFill>
                  <a:srgbClr val="FFFFFF"/>
                </a:solidFill>
                <a:latin typeface="Microsoft YaHei"/>
              </a:rPr>
              <a:t>▪ K3  朊病毒、感染性核酸、寄生虫与毒素</a:t>
            </a:r>
          </a:p>
          <a:p>
            <a:pPr>
              <a:spcAft>
                <a:spcPts val="800"/>
              </a:spcAft>
            </a:pPr>
            <a:r>
              <a:rPr sz="1500">
                <a:solidFill>
                  <a:srgbClr val="FFFFFF"/>
                </a:solidFill>
                <a:latin typeface="Microsoft YaHei"/>
              </a:rPr>
              <a:t>▪ K4  分组看两头：个体风险与群体风险</a:t>
            </a:r>
          </a:p>
          <a:p>
            <a:pPr>
              <a:spcAft>
                <a:spcPts val="800"/>
              </a:spcAft>
            </a:pPr>
            <a:r>
              <a:rPr sz="1500">
                <a:solidFill>
                  <a:srgbClr val="FFFFFF"/>
                </a:solidFill>
                <a:latin typeface="Microsoft YaHei"/>
              </a:rPr>
              <a:t>▪ K5  国际风险组第1、2组</a:t>
            </a:r>
          </a:p>
          <a:p>
            <a:pPr>
              <a:spcAft>
                <a:spcPts val="800"/>
              </a:spcAft>
            </a:pPr>
            <a:r>
              <a:rPr sz="1500">
                <a:solidFill>
                  <a:srgbClr val="FFFFFF"/>
                </a:solidFill>
                <a:latin typeface="Microsoft YaHei"/>
              </a:rPr>
              <a:t>▪ K6  国际风险组第3、4组</a:t>
            </a:r>
          </a:p>
          <a:p>
            <a:pPr>
              <a:spcAft>
                <a:spcPts val="800"/>
              </a:spcAft>
            </a:pPr>
            <a:r>
              <a:rPr sz="1500">
                <a:solidFill>
                  <a:srgbClr val="FFFFFF"/>
                </a:solidFill>
                <a:latin typeface="Microsoft YaHei"/>
              </a:rPr>
              <a:t>▪ K7  国内分四类：第一类最危险，与国际相反</a:t>
            </a:r>
          </a:p>
          <a:p>
            <a:pPr>
              <a:spcAft>
                <a:spcPts val="800"/>
              </a:spcAft>
            </a:pPr>
            <a:r>
              <a:rPr sz="1500">
                <a:solidFill>
                  <a:srgbClr val="FFFFFF"/>
                </a:solidFill>
                <a:latin typeface="Microsoft YaHei"/>
              </a:rPr>
              <a:t>▪ K8  实验室级别国内外同向，别对号入座</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第一、二类是高致病性，须经批准</a:t>
            </a:r>
          </a:p>
          <a:p>
            <a:pPr>
              <a:spcAft>
                <a:spcPts val="800"/>
              </a:spcAft>
            </a:pPr>
            <a:r>
              <a:rPr sz="1500">
                <a:solidFill>
                  <a:srgbClr val="FFFFFF"/>
                </a:solidFill>
                <a:latin typeface="Microsoft YaHei"/>
              </a:rPr>
              <a:t>▪ K10  查《人间传染的病原微生物目录》，用现行版</a:t>
            </a:r>
          </a:p>
          <a:p>
            <a:pPr>
              <a:spcAft>
                <a:spcPts val="800"/>
              </a:spcAft>
            </a:pPr>
            <a:r>
              <a:rPr sz="1500">
                <a:solidFill>
                  <a:srgbClr val="FFFFFF"/>
                </a:solidFill>
                <a:latin typeface="Microsoft YaHei"/>
              </a:rPr>
              <a:t>▪ K11  目录里查不到：评估后报委员会定</a:t>
            </a:r>
          </a:p>
          <a:p>
            <a:pPr>
              <a:spcAft>
                <a:spcPts val="800"/>
              </a:spcAft>
            </a:pPr>
            <a:r>
              <a:rPr sz="1500">
                <a:solidFill>
                  <a:srgbClr val="FFFFFF"/>
                </a:solidFill>
                <a:latin typeface="Microsoft YaHei"/>
              </a:rPr>
              <a:t>▪ K12  动物病原和转基因生物另有分级</a:t>
            </a:r>
          </a:p>
          <a:p>
            <a:pPr>
              <a:spcAft>
                <a:spcPts val="800"/>
              </a:spcAft>
            </a:pPr>
            <a:r>
              <a:rPr sz="1500">
                <a:solidFill>
                  <a:srgbClr val="FFFFFF"/>
                </a:solidFill>
                <a:latin typeface="Microsoft YaHei"/>
              </a:rPr>
              <a:t>▪ K13  评估还要看地区因素</a:t>
            </a:r>
          </a:p>
          <a:p>
            <a:pPr>
              <a:spcAft>
                <a:spcPts val="800"/>
              </a:spcAft>
            </a:pPr>
            <a:r>
              <a:rPr sz="1500">
                <a:solidFill>
                  <a:srgbClr val="FFFFFF"/>
                </a:solidFill>
                <a:latin typeface="Microsoft YaHei"/>
              </a:rPr>
              <a:t>▪ K14  病原资料单：病原的“说明书”</a:t>
            </a:r>
          </a:p>
          <a:p>
            <a:pPr>
              <a:spcAft>
                <a:spcPts val="800"/>
              </a:spcAft>
            </a:pPr>
            <a:r>
              <a:rPr sz="1500">
                <a:solidFill>
                  <a:srgbClr val="FFFFFF"/>
                </a:solidFill>
                <a:latin typeface="Microsoft YaHei"/>
              </a:rPr>
              <a:t>▪ K15  资料单的九个部分</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生物安全实验室分级</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适用对象：进入生命科学、医学、农学、环境等涉及生物材料实验室的高校本科生、研究生和教职工（必修）；实验室负责人和生物安全员重点学习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能说出生物安全实验室按防护水平分为一级至四级（BSL-1～BSL-4），一级最低、四级最高，与国内病原分类的编号方向相反。</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能说出各级实验室适用的病原类别、典型用途，以及在设施、设备和程序上的递进（开放台面—受控进入与安全柜—负压与缓冲间—正压防护服）。</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能说出动物实验室（ABSL）的分级，知道国内标准和规定由谁制定、谁负责备案认可审批，国际手册只作参考。</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能判断学生实验的级别边界：多在一级、二级实验室；三级、四级须专门批准、培训和授权；拿不准先问负责人。</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《中华人民共和国生物安全法》（以现行文本为准）：病原微生物实验室分级管理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《病原微生物实验室生物安全管理条例》（以现行文本为准）：实验室按生物安全防护水平分为一级至四级；一级、二级实验室备案，三级、四级实验室须通过国家认可，高致病性病原微生物实验活动须经批准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生物安全通用要求》：各级生物安全实验室（含动物生物安全实验室 ABSL-1～ABSL-4）的设施设备和管理要求</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233（以现行文本为准）《病原微生物实验室生物安全通用准则》：各级病原微生物实验室的设施、设备和操作要求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《人间传染的病原微生物目录》（国家卫生健康委发布，以现行版本为准）：各病原不同实验活动所需的实验室级别</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号，以现行文本为准）：实验室准入、分级分类管理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本校生物安全管理制度：实验室级别标识、准入和授权，以本校规定为准</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防护级别：一套标准化措施，四级逐级加严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防护级别是一套标准化的防护措施</a:t>
            </a:r>
          </a:p>
          <a:p>
            <a:pPr>
              <a:spcAft>
                <a:spcPts val="1000"/>
              </a:spcAft>
            </a:pPr>
            <a:r>
              <a:rPr sz="2000">
                <a:solidFill>
                  <a:srgbClr val="222B33"/>
                </a:solidFill>
                <a:latin typeface="Microsoft YaHei"/>
              </a:rPr>
              <a:t>▪ 从一级到四级，一共四个等级</a:t>
            </a:r>
          </a:p>
          <a:p>
            <a:pPr>
              <a:spcAft>
                <a:spcPts val="1000"/>
              </a:spcAft>
            </a:pPr>
            <a:r>
              <a:rPr sz="2000">
                <a:solidFill>
                  <a:srgbClr val="222B33"/>
                </a:solidFill>
                <a:latin typeface="Microsoft YaHei"/>
              </a:rPr>
              <a:t>▪ 等级越高，对应风险越高，措施越严</a:t>
            </a:r>
          </a:p>
          <a:p>
            <a:pPr>
              <a:spcAft>
                <a:spcPts val="1000"/>
              </a:spcAft>
            </a:pPr>
            <a:r>
              <a:rPr sz="2000">
                <a:solidFill>
                  <a:srgbClr val="222B33"/>
                </a:solidFill>
                <a:latin typeface="Microsoft YaHei"/>
              </a:rPr>
              <a:t>▪ 目的是保护人员、公众和环境</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生物安全防护级别（生物安全水平，BSL）是一整套标准化的防护措施，包括安全规程和做法、安全设备和实验室设施，用来控制操作微生物带来的风险，保护操作人员、公众和环境。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认为各级实验室只是“房间大小不同”</a:t>
            </a:r>
          </a:p>
          <a:p>
            <a:pPr>
              <a:spcAft>
                <a:spcPts val="1000"/>
              </a:spcAft>
            </a:pPr>
            <a:r>
              <a:rPr sz="1500">
                <a:solidFill>
                  <a:srgbClr val="222B33"/>
                </a:solidFill>
                <a:latin typeface="Microsoft YaHei"/>
              </a:rPr>
              <a:t>▪ 把病原分类的“第一类”和实验室的“一级”混为一谈</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按危害定级，每级都有设施、设备、程序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定哪一级，看所操作生物因子的危害和实验活动</a:t>
            </a:r>
          </a:p>
          <a:p>
            <a:pPr>
              <a:spcAft>
                <a:spcPts val="1000"/>
              </a:spcAft>
            </a:pPr>
            <a:r>
              <a:rPr sz="2000">
                <a:solidFill>
                  <a:srgbClr val="222B33"/>
                </a:solidFill>
                <a:latin typeface="Microsoft YaHei"/>
              </a:rPr>
              <a:t>▪ 每一级都有设施、设备、程序三方面要求</a:t>
            </a:r>
          </a:p>
          <a:p>
            <a:pPr>
              <a:spcAft>
                <a:spcPts val="1000"/>
              </a:spcAft>
            </a:pPr>
            <a:r>
              <a:rPr sz="2000">
                <a:solidFill>
                  <a:srgbClr val="222B33"/>
                </a:solidFill>
                <a:latin typeface="Microsoft YaHei"/>
              </a:rPr>
              <a:t>▪ 级别越高，设施要求越多，三四级要独立隔离</a:t>
            </a:r>
          </a:p>
          <a:p>
            <a:pPr>
              <a:spcAft>
                <a:spcPts val="1000"/>
              </a:spcAft>
            </a:pPr>
            <a:r>
              <a:rPr sz="2000">
                <a:solidFill>
                  <a:srgbClr val="222B33"/>
                </a:solidFill>
                <a:latin typeface="Microsoft YaHei"/>
              </a:rPr>
              <a:t>▪ 设计实验室、写安全手册，都按级别来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实验在哪一级实验室做，取决于所操作生物因子的危害和具体实验活动（如何为具体实验定级见第 060 课）。每一级对三方面都有要求：什么样的房间和设施；用什么安全设备；按什么程序操作。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只买了生物安全柜，就以为实验室“升了级”</a:t>
            </a:r>
          </a:p>
          <a:p>
            <a:pPr>
              <a:spcAft>
                <a:spcPts val="1000"/>
              </a:spcAft>
            </a:pPr>
            <a:r>
              <a:rPr sz="1500">
                <a:solidFill>
                  <a:srgbClr val="222B33"/>
                </a:solidFill>
                <a:latin typeface="Microsoft YaHei"/>
              </a:rPr>
              <a:t>▪ 不看实验活动，只看病原名称定级</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实验室级别国内外同向，病原分类反向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实验室防护级别国内外同向：一级最低，四级最高</a:t>
            </a:r>
          </a:p>
          <a:p>
            <a:pPr>
              <a:spcAft>
                <a:spcPts val="1000"/>
              </a:spcAft>
            </a:pPr>
            <a:r>
              <a:rPr sz="2000">
                <a:solidFill>
                  <a:srgbClr val="222B33"/>
                </a:solidFill>
                <a:latin typeface="Microsoft YaHei"/>
              </a:rPr>
              <a:t>▪ 动物实验室也是同样的排法</a:t>
            </a:r>
          </a:p>
          <a:p>
            <a:pPr>
              <a:spcAft>
                <a:spcPts val="1000"/>
              </a:spcAft>
            </a:pPr>
            <a:r>
              <a:rPr sz="2000">
                <a:solidFill>
                  <a:srgbClr val="222B33"/>
                </a:solidFill>
                <a:latin typeface="Microsoft YaHei"/>
              </a:rPr>
              <a:t>▪ 病原分类国内第一类最危险，与国际风险组相反</a:t>
            </a:r>
          </a:p>
          <a:p>
            <a:pPr>
              <a:spcAft>
                <a:spcPts val="1000"/>
              </a:spcAft>
            </a:pPr>
            <a:r>
              <a:rPr sz="2000">
                <a:solidFill>
                  <a:srgbClr val="222B33"/>
                </a:solidFill>
                <a:latin typeface="Microsoft YaHei"/>
              </a:rPr>
              <a:t>▪ 口诀：病原分类反着走，实验室级别顺着走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实验室防护级别与病原分类是两套不同的编号：实验室级别国内外一致，一级最低、四级最高，动物生物安全实验室（ABSL）也一样；而病原微生物分类，国内第一类危害最大、第四类最小，国际风险组则是 1 组最低、4 组最高，方向……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认为第一类病原在一级实验室做</a:t>
            </a:r>
          </a:p>
          <a:p>
            <a:pPr>
              <a:spcAft>
                <a:spcPts val="1000"/>
              </a:spcAft>
            </a:pPr>
            <a:r>
              <a:rPr sz="1500">
                <a:solidFill>
                  <a:srgbClr val="222B33"/>
                </a:solidFill>
                <a:latin typeface="Microsoft YaHei"/>
              </a:rPr>
              <a:t>▪ 把国际风险组的数字直接当作实验室级别</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一级：不致病的微生物，基本防护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操作已知对健康成人不致病的微生物</a:t>
            </a:r>
          </a:p>
          <a:p>
            <a:pPr>
              <a:spcAft>
                <a:spcPts val="1000"/>
              </a:spcAft>
            </a:pPr>
            <a:r>
              <a:rPr sz="2000">
                <a:solidFill>
                  <a:srgbClr val="222B33"/>
                </a:solidFill>
                <a:latin typeface="Microsoft YaHei"/>
              </a:rPr>
              <a:t>▪ 如无害的实验室菌株、面包酵母、常见环境菌</a:t>
            </a:r>
          </a:p>
          <a:p>
            <a:pPr>
              <a:spcAft>
                <a:spcPts val="1000"/>
              </a:spcAft>
            </a:pPr>
            <a:r>
              <a:rPr sz="2000">
                <a:solidFill>
                  <a:srgbClr val="222B33"/>
                </a:solidFill>
                <a:latin typeface="Microsoft YaHei"/>
              </a:rPr>
              <a:t>▪ 多用于基础教学和入门实验</a:t>
            </a:r>
          </a:p>
          <a:p>
            <a:pPr>
              <a:spcAft>
                <a:spcPts val="1000"/>
              </a:spcAft>
            </a:pPr>
            <a:r>
              <a:rPr sz="2000">
                <a:solidFill>
                  <a:srgbClr val="222B33"/>
                </a:solidFill>
                <a:latin typeface="Microsoft YaHei"/>
              </a:rPr>
              <a:t>▪ 开放台面，守基本规范，穿实验服戴手套，限制进入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级生物安全实验室（BSL-1）风险最低，操作的是已知通常不会使健康成人致病的微生物，例如无害的实验室菌株、做面包的酵母、土壤和水中的常见非致病菌。许多基础教学实验、微生物学入门课就在这一级开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认为一级实验室“没有风险”，在里面饮食、不洗手</a:t>
            </a:r>
          </a:p>
          <a:p>
            <a:pPr>
              <a:spcAft>
                <a:spcPts val="1000"/>
              </a:spcAft>
            </a:pPr>
            <a:r>
              <a:rPr sz="1500">
                <a:solidFill>
                  <a:srgbClr val="222B33"/>
                </a:solidFill>
                <a:latin typeface="Microsoft YaHei"/>
              </a:rPr>
              <a:t>▪ 在一级实验室操作未经评估的不明样本</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二级：中度风险，受控进入、安全柜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操作能致病、但一般不严重或可治的微生物</a:t>
            </a:r>
          </a:p>
          <a:p>
            <a:pPr>
              <a:spcAft>
                <a:spcPts val="1000"/>
              </a:spcAft>
            </a:pPr>
            <a:r>
              <a:rPr sz="2000">
                <a:solidFill>
                  <a:srgbClr val="222B33"/>
                </a:solidFill>
                <a:latin typeface="Microsoft YaHei"/>
              </a:rPr>
              <a:t>▪ 多用于临床检验、高校科研和医院实验室</a:t>
            </a:r>
          </a:p>
          <a:p>
            <a:pPr>
              <a:spcAft>
                <a:spcPts val="1000"/>
              </a:spcAft>
            </a:pPr>
            <a:r>
              <a:rPr sz="2000">
                <a:solidFill>
                  <a:srgbClr val="222B33"/>
                </a:solidFill>
                <a:latin typeface="Microsoft YaHei"/>
              </a:rPr>
              <a:t>▪ 受控进入，门能自动关闭，挂好生物危害标识</a:t>
            </a:r>
          </a:p>
          <a:p>
            <a:pPr>
              <a:spcAft>
                <a:spcPts val="1000"/>
              </a:spcAft>
            </a:pPr>
            <a:r>
              <a:rPr sz="2000">
                <a:solidFill>
                  <a:srgbClr val="222B33"/>
                </a:solidFill>
                <a:latin typeface="Microsoft YaHei"/>
              </a:rPr>
              <a:t>▪ 可能产生气溶胶的操作进生物安全柜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二级生物安全实验室（BSL-2）操作的是有中度风险的微生物：能让人生病，引起轻到中度疾病，但一般不严重，或者有有效的治疗和预防手段，例如一些常见的致病细菌、病毒和寄生虫；具体某种病原、某项实验需要几级，查《人间传染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二级实验室的门用东西顶住常开</a:t>
            </a:r>
          </a:p>
          <a:p>
            <a:pPr>
              <a:spcAft>
                <a:spcPts val="1000"/>
              </a:spcAft>
            </a:pPr>
            <a:r>
              <a:rPr sz="1500">
                <a:solidFill>
                  <a:srgbClr val="222B33"/>
                </a:solidFill>
                <a:latin typeface="Microsoft YaHei"/>
              </a:rPr>
              <a:t>▪ 可能产生气溶胶的操作在开放台面上做</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三级：经吸入致重病，负压与严格程序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对应可经吸入传播、致严重甚至致命疾病的病原</a:t>
            </a:r>
          </a:p>
          <a:p>
            <a:pPr>
              <a:spcAft>
                <a:spcPts val="1000"/>
              </a:spcAft>
            </a:pPr>
            <a:r>
              <a:rPr sz="2000">
                <a:solidFill>
                  <a:srgbClr val="222B33"/>
                </a:solidFill>
                <a:latin typeface="Microsoft YaHei"/>
              </a:rPr>
              <a:t>▪ 独立区域、门禁，进出经缓冲间</a:t>
            </a:r>
          </a:p>
          <a:p>
            <a:pPr>
              <a:spcAft>
                <a:spcPts val="1000"/>
              </a:spcAft>
            </a:pPr>
            <a:r>
              <a:rPr sz="2000">
                <a:solidFill>
                  <a:srgbClr val="222B33"/>
                </a:solidFill>
                <a:latin typeface="Microsoft YaHei"/>
              </a:rPr>
              <a:t>▪ 房间负压，空气只往里走，排风高效过滤</a:t>
            </a:r>
          </a:p>
          <a:p>
            <a:pPr>
              <a:spcAft>
                <a:spcPts val="1000"/>
              </a:spcAft>
            </a:pPr>
            <a:r>
              <a:rPr sz="2000">
                <a:solidFill>
                  <a:srgbClr val="222B33"/>
                </a:solidFill>
                <a:latin typeface="Microsoft YaHei"/>
              </a:rPr>
              <a:t>▪ 操作都在安全柜内，严格培训、严格程序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三级生物安全实验室（BSL-3）也称防护实验室，用于特殊诊断和较高危害病原的研究，对应可经空气吸入传播、能引起严重甚至致命疾病的病原。多设在高级临床实验室、公共卫生实验室和科研机构；涉及高致病性病原微生物的实验活动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认为学生经过一般培训就能进三级实验室</a:t>
            </a:r>
          </a:p>
          <a:p>
            <a:pPr>
              <a:spcAft>
                <a:spcPts val="1000"/>
              </a:spcAft>
            </a:pPr>
            <a:r>
              <a:rPr sz="1500">
                <a:solidFill>
                  <a:srgbClr val="222B33"/>
                </a:solidFill>
                <a:latin typeface="Microsoft YaHei"/>
              </a:rPr>
              <a:t>▪ 忽视压差、气流异常的提示</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四级：最高防护，全国少数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对应危及生命、易传播、缺乏有效防治的病原</a:t>
            </a:r>
          </a:p>
          <a:p>
            <a:pPr>
              <a:spcAft>
                <a:spcPts val="1000"/>
              </a:spcAft>
            </a:pPr>
            <a:r>
              <a:rPr sz="2000">
                <a:solidFill>
                  <a:srgbClr val="222B33"/>
                </a:solidFill>
                <a:latin typeface="Microsoft YaHei"/>
              </a:rPr>
              <a:t>▪ 穿独立供气的正压防护服，破了也往外吹</a:t>
            </a:r>
          </a:p>
          <a:p>
            <a:pPr>
              <a:spcAft>
                <a:spcPts val="1000"/>
              </a:spcAft>
            </a:pPr>
            <a:r>
              <a:rPr sz="2000">
                <a:solidFill>
                  <a:srgbClr val="222B33"/>
                </a:solidFill>
                <a:latin typeface="Microsoft YaHei"/>
              </a:rPr>
              <a:t>▪ 多道去污缓冲区、出口淋浴、双扉灭菌器</a:t>
            </a:r>
          </a:p>
          <a:p>
            <a:pPr>
              <a:spcAft>
                <a:spcPts val="1000"/>
              </a:spcAft>
            </a:pPr>
            <a:r>
              <a:rPr sz="2000">
                <a:solidFill>
                  <a:srgbClr val="222B33"/>
                </a:solidFill>
                <a:latin typeface="Microsoft YaHei"/>
              </a:rPr>
              <a:t>▪ 严格准入，专人监督；造价运行昂贵，数量极少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四级生物安全实验室（BSL-4）是最高等级的防护，对应能危及生命、可经气溶胶传播、通常缺乏有效预防和治疗手段的高危病原；已宣布消灭的病原只在极少数指定机构保存。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认为穿上正压防护服就可以放松操作规范</a:t>
            </a:r>
          </a:p>
          <a:p>
            <a:pPr>
              <a:spcAft>
                <a:spcPts val="1000"/>
              </a:spcAft>
            </a:pPr>
            <a:r>
              <a:rPr sz="1500">
                <a:solidFill>
                  <a:srgbClr val="222B33"/>
                </a:solidFill>
                <a:latin typeface="Microsoft YaHei"/>
              </a:rPr>
              <a:t>▪ 把四级实验室当作参观场所</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动物ABSL、植物设施与“加强型”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动物实验另有动物生物安全一到四级（ABSL）</a:t>
            </a:r>
          </a:p>
          <a:p>
            <a:pPr>
              <a:spcAft>
                <a:spcPts val="1000"/>
              </a:spcAft>
            </a:pPr>
            <a:r>
              <a:rPr sz="2000">
                <a:solidFill>
                  <a:srgbClr val="222B33"/>
                </a:solidFill>
                <a:latin typeface="Microsoft YaHei"/>
              </a:rPr>
              <a:t>▪ 要防咬伤抓伤，也防动物排出的病原</a:t>
            </a:r>
          </a:p>
          <a:p>
            <a:pPr>
              <a:spcAft>
                <a:spcPts val="1000"/>
              </a:spcAft>
            </a:pPr>
            <a:r>
              <a:rPr sz="2000">
                <a:solidFill>
                  <a:srgbClr val="222B33"/>
                </a:solidFill>
                <a:latin typeface="Microsoft YaHei"/>
              </a:rPr>
              <a:t>▪ 植物和转基因植物设施另有要求</a:t>
            </a:r>
          </a:p>
          <a:p>
            <a:pPr>
              <a:spcAft>
                <a:spcPts val="1000"/>
              </a:spcAft>
            </a:pPr>
            <a:r>
              <a:rPr sz="2000">
                <a:solidFill>
                  <a:srgbClr val="222B33"/>
                </a:solidFill>
                <a:latin typeface="Microsoft YaHei"/>
              </a:rPr>
              <a:t>▪ “加强型”指借用了更高一级的部分设计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用动物做感染性实验，按动物生物安全实验室分级，即 ABSL-1～ABSL-4，同样一级最低、四级最高（GB 19489-2008，以现行文本为准）。动物实验除了防操作中的暴露，还要防动物咬伤、抓伤，防动物排出的分泌物……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认为动物实验只要按普通实验室的级别做</a:t>
            </a:r>
          </a:p>
          <a:p>
            <a:pPr>
              <a:spcAft>
                <a:spcPts val="1000"/>
              </a:spcAft>
            </a:pPr>
            <a:r>
              <a:rPr sz="1500">
                <a:solidFill>
                  <a:srgbClr val="222B33"/>
                </a:solidFill>
                <a:latin typeface="Microsoft YaHei"/>
              </a:rPr>
              <a:t>▪ 动物垫料、排泄物按普通垃圾处理</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谁定标准：国内法律、法规、标准层层落实</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最上层是生物安全法，下面是管理条例</a:t>
            </a:r>
          </a:p>
          <a:p>
            <a:pPr>
              <a:spcAft>
                <a:spcPts val="1000"/>
              </a:spcAft>
            </a:pPr>
            <a:r>
              <a:rPr sz="2000">
                <a:solidFill>
                  <a:srgbClr val="222B33"/>
                </a:solidFill>
                <a:latin typeface="Microsoft YaHei"/>
              </a:rPr>
              <a:t>▪ 技术要求写在 GB 19489 和 WS 233 中</a:t>
            </a:r>
          </a:p>
          <a:p>
            <a:pPr>
              <a:spcAft>
                <a:spcPts val="1000"/>
              </a:spcAft>
            </a:pPr>
            <a:r>
              <a:rPr sz="2000">
                <a:solidFill>
                  <a:srgbClr val="222B33"/>
                </a:solidFill>
                <a:latin typeface="Microsoft YaHei"/>
              </a:rPr>
              <a:t>▪ 病原放几级做，查国家目录</a:t>
            </a:r>
          </a:p>
          <a:p>
            <a:pPr>
              <a:spcAft>
                <a:spcPts val="1000"/>
              </a:spcAft>
            </a:pPr>
            <a:r>
              <a:rPr sz="2000">
                <a:solidFill>
                  <a:srgbClr val="222B33"/>
                </a:solidFill>
                <a:latin typeface="Microsoft YaHei"/>
              </a:rPr>
              <a:t>▪ 标准会修订，认准现行有效版本</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实验室分级的标准不是一个机构说了算。在国内，是法律、法规、标准一层层落实：最上层是《中华人民共和国生物安全法》，下面是《病原微生物实验室生物安全管理条例》；技术要求写在国家标准 GB 19489-2008《实验室 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引用已作废的旧版标准</a:t>
            </a:r>
          </a:p>
          <a:p>
            <a:pPr>
              <a:spcAft>
                <a:spcPts val="1000"/>
              </a:spcAft>
            </a:pPr>
            <a:r>
              <a:rPr sz="1500">
                <a:solidFill>
                  <a:srgbClr val="222B33"/>
                </a:solidFill>
                <a:latin typeface="Microsoft YaHei"/>
              </a:rPr>
              <a:t>▪ 只记得国外的分级说法，不知道国内标准</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国际手册和指南只作参考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国际组织发布实验室生物安全手册和专项指南</a:t>
            </a:r>
          </a:p>
          <a:p>
            <a:pPr>
              <a:spcAft>
                <a:spcPts val="1000"/>
              </a:spcAft>
            </a:pPr>
            <a:r>
              <a:rPr sz="2000">
                <a:solidFill>
                  <a:srgbClr val="222B33"/>
                </a:solidFill>
                <a:latin typeface="Microsoft YaHei"/>
              </a:rPr>
              <a:t>▪ 多用于全球疫情应对和各国能力建设</a:t>
            </a:r>
          </a:p>
          <a:p>
            <a:pPr>
              <a:spcAft>
                <a:spcPts val="1000"/>
              </a:spcAft>
            </a:pPr>
            <a:r>
              <a:rPr sz="2000">
                <a:solidFill>
                  <a:srgbClr val="222B33"/>
                </a:solidFill>
                <a:latin typeface="Microsoft YaHei"/>
              </a:rPr>
              <a:t>▪ 在我国只作参考，以国内规定为准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国际上也有国际组织制定实验室生物安全手册，以及针对高风险病原的专项指南，尤其帮助公共卫生体系还在建设中的国家，在全球疫情应对中发挥作用。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按国际手册自行决定实验室级别</a:t>
            </a:r>
          </a:p>
          <a:p>
            <a:pPr>
              <a:spcAft>
                <a:spcPts val="1000"/>
              </a:spcAft>
            </a:pPr>
            <a:r>
              <a:rPr sz="1500">
                <a:solidFill>
                  <a:srgbClr val="222B33"/>
                </a:solidFill>
                <a:latin typeface="Microsoft YaHei"/>
              </a:rPr>
              <a:t>▪ 认为国际指南比国内标准“更权威”</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一张图看清谁管什么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国际组织：提供国际参考</a:t>
            </a:r>
          </a:p>
          <a:p>
            <a:pPr>
              <a:spcAft>
                <a:spcPts val="1000"/>
              </a:spcAft>
            </a:pPr>
            <a:r>
              <a:rPr sz="2000">
                <a:solidFill>
                  <a:srgbClr val="222B33"/>
                </a:solidFill>
                <a:latin typeface="Microsoft YaHei"/>
              </a:rPr>
              <a:t>▪ 国家：法律法规定框架，标准定技术要求</a:t>
            </a:r>
          </a:p>
          <a:p>
            <a:pPr>
              <a:spcAft>
                <a:spcPts val="1000"/>
              </a:spcAft>
            </a:pPr>
            <a:r>
              <a:rPr sz="2000">
                <a:solidFill>
                  <a:srgbClr val="222B33"/>
                </a:solidFill>
                <a:latin typeface="Microsoft YaHei"/>
              </a:rPr>
              <a:t>▪ 主管部门和认可机构：备案、认可和审批</a:t>
            </a:r>
          </a:p>
          <a:p>
            <a:pPr>
              <a:spcAft>
                <a:spcPts val="1000"/>
              </a:spcAft>
            </a:pPr>
            <a:r>
              <a:rPr sz="2000">
                <a:solidFill>
                  <a:srgbClr val="222B33"/>
                </a:solidFill>
                <a:latin typeface="Microsoft YaHei"/>
              </a:rPr>
              <a:t>▪ 单位生物安全委员会：本地监督和执行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用一张图记住谁管什么：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以为实验室建好就能直接用，不需要备案或认可</a:t>
            </a:r>
          </a:p>
          <a:p>
            <a:pPr>
              <a:spcAft>
                <a:spcPts val="1000"/>
              </a:spcAft>
            </a:pPr>
            <a:r>
              <a:rPr sz="1500">
                <a:solidFill>
                  <a:srgbClr val="222B33"/>
                </a:solidFill>
                <a:latin typeface="Microsoft YaHei"/>
              </a:rPr>
              <a:t>▪ 以为生物安全只是国家部门的事，学校不用管</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学生实验的级别边界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学生实验多在一级、二级实验室</a:t>
            </a:r>
          </a:p>
          <a:p>
            <a:pPr>
              <a:spcAft>
                <a:spcPts val="1000"/>
              </a:spcAft>
            </a:pPr>
            <a:r>
              <a:rPr sz="2000">
                <a:solidFill>
                  <a:srgbClr val="222B33"/>
                </a:solidFill>
                <a:latin typeface="Microsoft YaHei"/>
              </a:rPr>
              <a:t>▪ 三级、四级须专门批准、培训和授权</a:t>
            </a:r>
          </a:p>
          <a:p>
            <a:pPr>
              <a:spcAft>
                <a:spcPts val="1000"/>
              </a:spcAft>
            </a:pPr>
            <a:r>
              <a:rPr sz="2000">
                <a:solidFill>
                  <a:srgbClr val="222B33"/>
                </a:solidFill>
                <a:latin typeface="Microsoft YaHei"/>
              </a:rPr>
              <a:t>▪ 实验须在相应级别实验室，经评估和批准</a:t>
            </a:r>
          </a:p>
          <a:p>
            <a:pPr>
              <a:spcAft>
                <a:spcPts val="1000"/>
              </a:spcAft>
            </a:pPr>
            <a:r>
              <a:rPr sz="2000">
                <a:solidFill>
                  <a:srgbClr val="222B33"/>
                </a:solidFill>
                <a:latin typeface="Microsoft YaHei"/>
              </a:rPr>
              <a:t>▪ 拿不准级别，先问负责人，不擅自做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高校学生的教学和多数科研实验在一级、二级实验室开展。进入三级、四级实验室工作，须经单位专门批准，接受专门培训并考核合格，获得授权；学生不得自行进入或开展相关实验。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为了“方便”在级别不够的实验室做实验</a:t>
            </a:r>
          </a:p>
          <a:p>
            <a:pPr>
              <a:spcAft>
                <a:spcPts val="1000"/>
              </a:spcAft>
            </a:pPr>
            <a:r>
              <a:rPr sz="1500">
                <a:solidFill>
                  <a:srgbClr val="222B33"/>
                </a:solidFill>
                <a:latin typeface="Microsoft YaHei"/>
              </a:rPr>
              <a:t>▪ 未经准入培训就进入二级实验室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关于生物安全实验室防护级别，正确的是：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一级最高</a:t>
            </a:r>
          </a:p>
          <a:p>
            <a:pPr algn="l"/>
            <a:r>
              <a:rPr sz="1500" b="0">
                <a:solidFill>
                  <a:srgbClr val="222B33"/>
                </a:solidFill>
                <a:latin typeface="Microsoft YaHei"/>
              </a:rPr>
              <a:t>B. 一级最低、四级最高，国内外同向</a:t>
            </a:r>
          </a:p>
          <a:p>
            <a:pPr algn="l"/>
            <a:r>
              <a:rPr sz="1500" b="0">
                <a:solidFill>
                  <a:srgbClr val="222B33"/>
                </a:solidFill>
                <a:latin typeface="Microsoft YaHei"/>
              </a:rPr>
              <a:t>C. 与病原分类编号方向相同，第一类病原在一级实验室做</a:t>
            </a:r>
          </a:p>
          <a:p>
            <a:pPr algn="l"/>
            <a:r>
              <a:rPr sz="1500" b="0">
                <a:solidFill>
                  <a:srgbClr val="222B33"/>
                </a:solidFill>
                <a:latin typeface="Microsoft YaHei"/>
              </a:rPr>
              <a:t>D. 国内只有三级</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判断：二级实验室里，可能产生气溶胶的操作应在生物安全柜内进行。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房间保持负压、进出经缓冲间、排风经高效过滤、所有操作在安全柜内，这是哪一级实验室的特点：</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一级</a:t>
            </a:r>
          </a:p>
          <a:p>
            <a:pPr algn="l"/>
            <a:r>
              <a:rPr sz="1500" b="0">
                <a:solidFill>
                  <a:srgbClr val="222B33"/>
                </a:solidFill>
                <a:latin typeface="Microsoft YaHei"/>
              </a:rPr>
              <a:t>B. 二级</a:t>
            </a:r>
          </a:p>
          <a:p>
            <a:pPr algn="l"/>
            <a:r>
              <a:rPr sz="1500" b="0">
                <a:solidFill>
                  <a:srgbClr val="222B33"/>
                </a:solidFill>
                <a:latin typeface="Microsoft YaHei"/>
              </a:rPr>
              <a:t>C. 三级</a:t>
            </a:r>
          </a:p>
          <a:p>
            <a:pPr algn="l"/>
            <a:r>
              <a:rPr sz="1500" b="0">
                <a:solidFill>
                  <a:srgbClr val="222B33"/>
                </a:solidFill>
                <a:latin typeface="Microsoft YaHei"/>
              </a:rPr>
              <a:t>D. 只是普通化学实验室</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我国生物安全实验室的技术要求主要写在：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GB 19489 和 WS 233</a:t>
            </a:r>
          </a:p>
          <a:p>
            <a:pPr algn="l"/>
            <a:r>
              <a:rPr sz="1500" b="0">
                <a:solidFill>
                  <a:srgbClr val="222B33"/>
                </a:solidFill>
                <a:latin typeface="Microsoft YaHei"/>
              </a:rPr>
              <a:t>B. 国际组织的手册</a:t>
            </a:r>
          </a:p>
          <a:p>
            <a:pPr algn="l"/>
            <a:r>
              <a:rPr sz="1500" b="0">
                <a:solidFill>
                  <a:srgbClr val="222B33"/>
                </a:solidFill>
                <a:latin typeface="Microsoft YaHei"/>
              </a:rPr>
              <a:t>C. 化学品安全技术说明书</a:t>
            </a:r>
          </a:p>
          <a:p>
            <a:pPr algn="l"/>
            <a:r>
              <a:rPr sz="1500" b="0">
                <a:solidFill>
                  <a:srgbClr val="222B33"/>
                </a:solidFill>
                <a:latin typeface="Microsoft YaHei"/>
              </a:rPr>
              <a:t>D. 网上的经验帖</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059 · 生物安全实验室分级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059 生物安全实验室分级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简答：阿杰不确定自己的实验该在几级实验室做，应该怎么办？</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防护级别：一套标准化措施，四级逐级加严</a:t>
            </a:r>
          </a:p>
          <a:p>
            <a:pPr>
              <a:spcAft>
                <a:spcPts val="800"/>
              </a:spcAft>
            </a:pPr>
            <a:r>
              <a:rPr sz="1500">
                <a:solidFill>
                  <a:srgbClr val="FFFFFF"/>
                </a:solidFill>
                <a:latin typeface="Microsoft YaHei"/>
              </a:rPr>
              <a:t>▪ K2  按危害定级，每级都有设施、设备、程序</a:t>
            </a:r>
          </a:p>
          <a:p>
            <a:pPr>
              <a:spcAft>
                <a:spcPts val="800"/>
              </a:spcAft>
            </a:pPr>
            <a:r>
              <a:rPr sz="1500">
                <a:solidFill>
                  <a:srgbClr val="FFFFFF"/>
                </a:solidFill>
                <a:latin typeface="Microsoft YaHei"/>
              </a:rPr>
              <a:t>▪ K3  实验室级别国内外同向，病原分类反向</a:t>
            </a:r>
          </a:p>
          <a:p>
            <a:pPr>
              <a:spcAft>
                <a:spcPts val="800"/>
              </a:spcAft>
            </a:pPr>
            <a:r>
              <a:rPr sz="1500">
                <a:solidFill>
                  <a:srgbClr val="FFFFFF"/>
                </a:solidFill>
                <a:latin typeface="Microsoft YaHei"/>
              </a:rPr>
              <a:t>▪ K4  一级：不致病的微生物，基本防护</a:t>
            </a:r>
          </a:p>
          <a:p>
            <a:pPr>
              <a:spcAft>
                <a:spcPts val="800"/>
              </a:spcAft>
            </a:pPr>
            <a:r>
              <a:rPr sz="1500">
                <a:solidFill>
                  <a:srgbClr val="FFFFFF"/>
                </a:solidFill>
                <a:latin typeface="Microsoft YaHei"/>
              </a:rPr>
              <a:t>▪ K5  二级：中度风险，受控进入、安全柜</a:t>
            </a:r>
          </a:p>
          <a:p>
            <a:pPr>
              <a:spcAft>
                <a:spcPts val="800"/>
              </a:spcAft>
            </a:pPr>
            <a:r>
              <a:rPr sz="1500">
                <a:solidFill>
                  <a:srgbClr val="FFFFFF"/>
                </a:solidFill>
                <a:latin typeface="Microsoft YaHei"/>
              </a:rPr>
              <a:t>▪ K6  三级：经吸入致重病，负压与严格程序</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四级：最高防护，全国少数</a:t>
            </a:r>
          </a:p>
          <a:p>
            <a:pPr>
              <a:spcAft>
                <a:spcPts val="800"/>
              </a:spcAft>
            </a:pPr>
            <a:r>
              <a:rPr sz="1500">
                <a:solidFill>
                  <a:srgbClr val="FFFFFF"/>
                </a:solidFill>
                <a:latin typeface="Microsoft YaHei"/>
              </a:rPr>
              <a:t>▪ K8  动物ABSL、植物设施与“加强型”</a:t>
            </a:r>
          </a:p>
          <a:p>
            <a:pPr>
              <a:spcAft>
                <a:spcPts val="800"/>
              </a:spcAft>
            </a:pPr>
            <a:r>
              <a:rPr sz="1500">
                <a:solidFill>
                  <a:srgbClr val="FFFFFF"/>
                </a:solidFill>
                <a:latin typeface="Microsoft YaHei"/>
              </a:rPr>
              <a:t>▪ K9  谁定标准：国内法律、法规、标准层层落实</a:t>
            </a:r>
          </a:p>
          <a:p>
            <a:pPr>
              <a:spcAft>
                <a:spcPts val="800"/>
              </a:spcAft>
            </a:pPr>
            <a:r>
              <a:rPr sz="1500">
                <a:solidFill>
                  <a:srgbClr val="FFFFFF"/>
                </a:solidFill>
                <a:latin typeface="Microsoft YaHei"/>
              </a:rPr>
              <a:t>▪ K10  国际手册和指南只作参考</a:t>
            </a:r>
          </a:p>
          <a:p>
            <a:pPr>
              <a:spcAft>
                <a:spcPts val="800"/>
              </a:spcAft>
            </a:pPr>
            <a:r>
              <a:rPr sz="1500">
                <a:solidFill>
                  <a:srgbClr val="FFFFFF"/>
                </a:solidFill>
                <a:latin typeface="Microsoft YaHei"/>
              </a:rPr>
              <a:t>▪ K11  一张图看清谁管什么</a:t>
            </a:r>
          </a:p>
          <a:p>
            <a:pPr>
              <a:spcAft>
                <a:spcPts val="800"/>
              </a:spcAft>
            </a:pPr>
            <a:r>
              <a:rPr sz="1500">
                <a:solidFill>
                  <a:srgbClr val="FFFFFF"/>
                </a:solidFill>
                <a:latin typeface="Microsoft YaHei"/>
              </a:rPr>
              <a:t>▪ K12  学生实验的级别边界</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如何确定实验活动的防护等级</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59 镜）　适用对象：开展或计划开展涉及微生物、细胞、临床和环境样本实验的高校研究生、本科生和教职工；项目负责人、实验室负责人和生物安全员重点学习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能说出为新微生物或新实验确定防护等级的七个步骤：认清病原、致病性、传播途径、有无药和疫苗、实验操作、设施与人员能力、查规范问委员会。</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能做到“取最高的风险因素”定级，知道风险组不直接等于实验室级别，不得随意降级，降级须评估并经批准。</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能判断未知病原、来源不明样本、细胞系、临床和环境样本、噬菌体实验都要评估定级，信息不全时从严。</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能说出定级由生物安全委员会评定审批、学生不得自行定级，评估要成文、情况变化要重新评估，条件不够依法移交。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《中华人民共和国生物安全法》（以现行文本为准）：病原微生物实验室分类管理、分级管理，实验活动须在相应级别实验室开展</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《病原微生物实验室生物安全管理条例》（以现行文本为准）：高致病性病原微生物实验活动须在相应级别实验室并经批准；不具备条件的单位不得从事相关活动</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生物安全通用要求》：风险评估及风险控制，评估报告成文，情况变化时重新评估</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233（以现行文本为准）《病原微生物实验室生物安全通用准则》：根据病原危害和实验活动确定防护水平</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《人间传染的病原微生物目录》（国家卫生健康委发布，以现行版本为准）：不同实验活动所需的实验室防护级别</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本校生物安全管理制度：生物安全委员会审查、实验活动审批，以本校规定为准</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定级是一套结构化风险评估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定级不是查一下就行，是一套结构化风险评估</a:t>
            </a:r>
          </a:p>
          <a:p>
            <a:pPr>
              <a:spcAft>
                <a:spcPts val="1000"/>
              </a:spcAft>
            </a:pPr>
            <a:r>
              <a:rPr sz="2000">
                <a:solidFill>
                  <a:srgbClr val="222B33"/>
                </a:solidFill>
                <a:latin typeface="Microsoft YaHei"/>
              </a:rPr>
              <a:t>▪ 评估四件事：病原、实验操作、对人和对环境的风险</a:t>
            </a:r>
          </a:p>
          <a:p>
            <a:pPr>
              <a:spcAft>
                <a:spcPts val="1000"/>
              </a:spcAft>
            </a:pPr>
            <a:r>
              <a:rPr sz="2000">
                <a:solidFill>
                  <a:srgbClr val="222B33"/>
                </a:solidFill>
                <a:latin typeface="Microsoft YaHei"/>
              </a:rPr>
              <a:t>▪ 防护水平要匹配病原和具体操作</a:t>
            </a:r>
          </a:p>
          <a:p>
            <a:pPr>
              <a:spcAft>
                <a:spcPts val="1000"/>
              </a:spcAft>
            </a:pPr>
            <a:r>
              <a:rPr sz="2000">
                <a:solidFill>
                  <a:srgbClr val="222B33"/>
                </a:solidFill>
                <a:latin typeface="Microsoft YaHei"/>
              </a:rPr>
              <a:t>▪ 先查目录、做评估、定级别，再配装备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为一种新微生物或一项新实验确定防护等级，不是在表格里查一下就行，而是一套结构化的风险评估：评估病原本身、实验操作、对人员的风险和对环境的影响，使实验室的防护水平与病原和具体操作相匹配。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只凭病原名称“印象”定级，不做评估</a:t>
            </a:r>
          </a:p>
          <a:p>
            <a:pPr>
              <a:spcAft>
                <a:spcPts val="1000"/>
              </a:spcAft>
            </a:pPr>
            <a:r>
              <a:rPr sz="1500">
                <a:solidFill>
                  <a:srgbClr val="222B33"/>
                </a:solidFill>
                <a:latin typeface="Microsoft YaHei"/>
              </a:rPr>
              <a:t>▪ 先买好装备再考虑级别</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第一步：认清它是什么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先认清是什么种、什么株</a:t>
            </a:r>
          </a:p>
          <a:p>
            <a:pPr>
              <a:spcAft>
                <a:spcPts val="1000"/>
              </a:spcAft>
            </a:pPr>
            <a:r>
              <a:rPr sz="2000">
                <a:solidFill>
                  <a:srgbClr val="222B33"/>
                </a:solidFill>
                <a:latin typeface="Microsoft YaHei"/>
              </a:rPr>
              <a:t>▪ 有没有已知变异，有没有经过基因改造</a:t>
            </a:r>
          </a:p>
          <a:p>
            <a:pPr>
              <a:spcAft>
                <a:spcPts val="1000"/>
              </a:spcAft>
            </a:pPr>
            <a:r>
              <a:rPr sz="2000">
                <a:solidFill>
                  <a:srgbClr val="222B33"/>
                </a:solidFill>
                <a:latin typeface="Microsoft YaHei"/>
              </a:rPr>
              <a:t>▪ 再和国内目录、已有分类对照</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一步是认清要操作的到底是什么：属于什么种、什么株，有没有已知的变异，是否经过基因改造。然后与《人间传染的病原微生物目录》（以现行版本为准）和已有分类资料对照，确定它在国内的危害程度类别。具体分类以国内目录为准，国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只知道“属”，不确认具体的种和株</a:t>
            </a:r>
          </a:p>
          <a:p>
            <a:pPr>
              <a:spcAft>
                <a:spcPts val="1000"/>
              </a:spcAft>
            </a:pPr>
            <a:r>
              <a:rPr sz="1500">
                <a:solidFill>
                  <a:srgbClr val="222B33"/>
                </a:solidFill>
                <a:latin typeface="Microsoft YaHei"/>
              </a:rPr>
              <a:t>▪ 忽视菌株经过改造这一信息</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第二步：会不会致病、有多重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会不会让人或动物生病</a:t>
            </a:r>
          </a:p>
          <a:p>
            <a:pPr>
              <a:spcAft>
                <a:spcPts val="1000"/>
              </a:spcAft>
            </a:pPr>
            <a:r>
              <a:rPr sz="2000">
                <a:solidFill>
                  <a:srgbClr val="222B33"/>
                </a:solidFill>
                <a:latin typeface="Microsoft YaHei"/>
              </a:rPr>
              <a:t>▪ 病有多重，多少量就能造成感染</a:t>
            </a:r>
          </a:p>
          <a:p>
            <a:pPr>
              <a:spcAft>
                <a:spcPts val="1000"/>
              </a:spcAft>
            </a:pPr>
            <a:r>
              <a:rPr sz="2000">
                <a:solidFill>
                  <a:srgbClr val="222B33"/>
                </a:solidFill>
                <a:latin typeface="Microsoft YaHei"/>
              </a:rPr>
              <a:t>▪ 致病性越强，需要的防护级别往往越高</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第二步评估致病性：它会不会让人或动物生病？如果会，病情有多严重？多少量就可能造成感染（感染剂量）？致病性越强、感染剂量越低，需要的防护级别往往越高。病原层面更详细的评估要素见第 068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认为“只让动物生病”就不需要防护</a:t>
            </a:r>
          </a:p>
          <a:p>
            <a:pPr>
              <a:spcAft>
                <a:spcPts val="1000"/>
              </a:spcAft>
            </a:pPr>
            <a:r>
              <a:rPr sz="1500">
                <a:solidFill>
                  <a:srgbClr val="222B33"/>
                </a:solidFill>
                <a:latin typeface="Microsoft YaHei"/>
              </a:rPr>
              <a:t>▪ 忽视低剂量即可感染的情况</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第三步：怎么传播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它怎么从一处传到另一处</a:t>
            </a:r>
          </a:p>
          <a:p>
            <a:pPr>
              <a:spcAft>
                <a:spcPts val="1000"/>
              </a:spcAft>
            </a:pPr>
            <a:r>
              <a:rPr sz="2000">
                <a:solidFill>
                  <a:srgbClr val="222B33"/>
                </a:solidFill>
                <a:latin typeface="Microsoft YaHei"/>
              </a:rPr>
              <a:t>▪ 经吸入、接触、食入还是锐器进入人体</a:t>
            </a:r>
          </a:p>
          <a:p>
            <a:pPr>
              <a:spcAft>
                <a:spcPts val="1000"/>
              </a:spcAft>
            </a:pPr>
            <a:r>
              <a:rPr sz="2000">
                <a:solidFill>
                  <a:srgbClr val="222B33"/>
                </a:solidFill>
                <a:latin typeface="Microsoft YaHei"/>
              </a:rPr>
              <a:t>▪ 能经空气传播的，级别往往更高</a:t>
            </a:r>
          </a:p>
          <a:p>
            <a:pPr>
              <a:spcAft>
                <a:spcPts val="1000"/>
              </a:spcAft>
            </a:pPr>
            <a:r>
              <a:rPr sz="2000">
                <a:solidFill>
                  <a:srgbClr val="222B33"/>
                </a:solidFill>
                <a:latin typeface="Microsoft YaHei"/>
              </a:rPr>
              <a:t>▪ 具体几级查目录，不靠印象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第三步看传播途径：能不能随空气被吸入？会不会经皮肤黏膜接触、经口食入，或经针头等锐器刺伤进入人体？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只考虑接触传播，忽视气溶胶吸入</a:t>
            </a:r>
          </a:p>
          <a:p>
            <a:pPr>
              <a:spcAft>
                <a:spcPts val="1000"/>
              </a:spcAft>
            </a:pPr>
            <a:r>
              <a:rPr sz="1500">
                <a:solidFill>
                  <a:srgbClr val="222B33"/>
                </a:solidFill>
                <a:latin typeface="Microsoft YaHei"/>
              </a:rPr>
              <a:t>▪ 凭记忆判断级别，不查现行目录</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第四步：有没有药和疫苗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有没有有效的治疗药物和疫苗</a:t>
            </a:r>
          </a:p>
          <a:p>
            <a:pPr>
              <a:spcAft>
                <a:spcPts val="1000"/>
              </a:spcAft>
            </a:pPr>
            <a:r>
              <a:rPr sz="2000">
                <a:solidFill>
                  <a:srgbClr val="222B33"/>
                </a:solidFill>
                <a:latin typeface="Microsoft YaHei"/>
              </a:rPr>
              <a:t>▪ 万一暴露，能不能及时处置</a:t>
            </a:r>
          </a:p>
          <a:p>
            <a:pPr>
              <a:spcAft>
                <a:spcPts val="1000"/>
              </a:spcAft>
            </a:pPr>
            <a:r>
              <a:rPr sz="2000">
                <a:solidFill>
                  <a:srgbClr val="222B33"/>
                </a:solidFill>
                <a:latin typeface="Microsoft YaHei"/>
              </a:rPr>
              <a:t>▪ 没有有效治疗手段的，级别相应往上提</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第四步看防治手段：有没有有效的治疗药物和疫苗？万一发生暴露，能不能及时进行急救、预防性用药和医学观察？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认为有疫苗就可以降低防护要求</a:t>
            </a:r>
          </a:p>
          <a:p>
            <a:pPr>
              <a:spcAft>
                <a:spcPts val="1000"/>
              </a:spcAft>
            </a:pPr>
            <a:r>
              <a:rPr sz="1500">
                <a:solidFill>
                  <a:srgbClr val="222B33"/>
                </a:solidFill>
                <a:latin typeface="Microsoft YaHei"/>
              </a:rPr>
              <a:t>▪ 开展实验前不了解暴露后的处置途径</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第五步：实验怎么做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会不会产生气溶胶、用到锐器</a:t>
            </a:r>
          </a:p>
          <a:p>
            <a:pPr>
              <a:spcAft>
                <a:spcPts val="1000"/>
              </a:spcAft>
            </a:pPr>
            <a:r>
              <a:rPr sz="2000">
                <a:solidFill>
                  <a:srgbClr val="222B33"/>
                </a:solidFill>
                <a:latin typeface="Microsoft YaHei"/>
              </a:rPr>
              <a:t>▪ 是不是高浓度、大体积，涉不涉及动物、重组</a:t>
            </a:r>
          </a:p>
          <a:p>
            <a:pPr>
              <a:spcAft>
                <a:spcPts val="1000"/>
              </a:spcAft>
            </a:pPr>
            <a:r>
              <a:rPr sz="2000">
                <a:solidFill>
                  <a:srgbClr val="222B33"/>
                </a:solidFill>
                <a:latin typeface="Microsoft YaHei"/>
              </a:rPr>
              <a:t>▪ 同一种菌，培养和检测要求不同</a:t>
            </a:r>
          </a:p>
          <a:p>
            <a:pPr>
              <a:spcAft>
                <a:spcPts val="1000"/>
              </a:spcAft>
            </a:pPr>
            <a:r>
              <a:rPr sz="2000">
                <a:solidFill>
                  <a:srgbClr val="222B33"/>
                </a:solidFill>
                <a:latin typeface="Microsoft YaHei"/>
              </a:rPr>
              <a:t>▪ 培养活病毒风险高；涉及基因改造可能升级，先审批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第五步看实验活动本身：会不会产生气溶胶（如离心、匀浆、超声、剧烈混匀），会不会用到锐器？是不是高浓度、大体积操作？涉不涉及动物感染实验？涉不涉及重组 DNA 或基因改造？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认为“检测时能做，培养也就能做”</a:t>
            </a:r>
          </a:p>
          <a:p>
            <a:pPr>
              <a:spcAft>
                <a:spcPts val="1000"/>
              </a:spcAft>
            </a:pPr>
            <a:r>
              <a:rPr sz="1500">
                <a:solidFill>
                  <a:srgbClr val="222B33"/>
                </a:solidFill>
                <a:latin typeface="Microsoft YaHei"/>
              </a:rPr>
              <a:t>▪ 未经审批就开展涉及基因改造的实验</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第六步：设施和人员跟得上吗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本实验室条件够不够，防护要与风险匹配</a:t>
            </a:r>
          </a:p>
          <a:p>
            <a:pPr>
              <a:spcAft>
                <a:spcPts val="1000"/>
              </a:spcAft>
            </a:pPr>
            <a:r>
              <a:rPr sz="2000">
                <a:solidFill>
                  <a:srgbClr val="222B33"/>
                </a:solidFill>
                <a:latin typeface="Microsoft YaHei"/>
              </a:rPr>
              <a:t>▪ 人员受过培训吗，防护装备备齐了吗</a:t>
            </a:r>
          </a:p>
          <a:p>
            <a:pPr>
              <a:spcAft>
                <a:spcPts val="1000"/>
              </a:spcAft>
            </a:pPr>
            <a:r>
              <a:rPr sz="2000">
                <a:solidFill>
                  <a:srgbClr val="222B33"/>
                </a:solidFill>
                <a:latin typeface="Microsoft YaHei"/>
              </a:rPr>
              <a:t>▪ 条件不够，就别硬上</a:t>
            </a:r>
          </a:p>
          <a:p>
            <a:pPr>
              <a:spcAft>
                <a:spcPts val="1000"/>
              </a:spcAft>
            </a:pPr>
            <a:r>
              <a:rPr sz="2000">
                <a:solidFill>
                  <a:srgbClr val="222B33"/>
                </a:solidFill>
                <a:latin typeface="Microsoft YaHei"/>
              </a:rPr>
              <a:t>▪ 依法移交有资质的机构处理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第六步看本实验室的条件：实验室的防护级别和设施设备够不够？人员是否受过相应培训、考核合格？个人防护装备是否齐全？应急处置条件是否具备？防护条件必须与风险等级相匹配。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明知条件不够，抱侥幸心理先做</a:t>
            </a:r>
          </a:p>
          <a:p>
            <a:pPr>
              <a:spcAft>
                <a:spcPts val="1000"/>
              </a:spcAft>
            </a:pPr>
            <a:r>
              <a:rPr sz="1500">
                <a:solidFill>
                  <a:srgbClr val="222B33"/>
                </a:solidFill>
                <a:latin typeface="Microsoft YaHei"/>
              </a:rPr>
              <a:t>▪ 把样本私自转给其他单位“帮忙做”</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第七步：查规范、问委员会，级别不自定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查国内法规、标准和目录，国外手册只作参考</a:t>
            </a:r>
          </a:p>
          <a:p>
            <a:pPr>
              <a:spcAft>
                <a:spcPts val="1000"/>
              </a:spcAft>
            </a:pPr>
            <a:r>
              <a:rPr sz="2000">
                <a:solidFill>
                  <a:srgbClr val="222B33"/>
                </a:solidFill>
                <a:latin typeface="Microsoft YaHei"/>
              </a:rPr>
              <a:t>▪ 咨询实验室负责人和生物安全委员会</a:t>
            </a:r>
          </a:p>
          <a:p>
            <a:pPr>
              <a:spcAft>
                <a:spcPts val="1000"/>
              </a:spcAft>
            </a:pPr>
            <a:r>
              <a:rPr sz="2000">
                <a:solidFill>
                  <a:srgbClr val="222B33"/>
                </a:solidFill>
                <a:latin typeface="Microsoft YaHei"/>
              </a:rPr>
              <a:t>▪ 级别由生物安全员或委员会评定审批</a:t>
            </a:r>
          </a:p>
          <a:p>
            <a:pPr>
              <a:spcAft>
                <a:spcPts val="1000"/>
              </a:spcAft>
            </a:pPr>
            <a:r>
              <a:rPr sz="2000">
                <a:solidFill>
                  <a:srgbClr val="222B33"/>
                </a:solidFill>
                <a:latin typeface="Microsoft YaHei"/>
              </a:rPr>
              <a:t>▪ 学生不得自行定级、擅自开展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第七步，查规范、问专家：对照国内法律法规、GB 19489、WS 233 和《人间传染的病原微生物目录》（均以现行文本或版本为准），国外手册只作参考；再向实验室负责人、生物安全员和单位生物安全委员会咨询。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自己在申请表上填个级别就开工</a:t>
            </a:r>
          </a:p>
          <a:p>
            <a:pPr>
              <a:spcAft>
                <a:spcPts val="1000"/>
              </a:spcAft>
            </a:pPr>
            <a:r>
              <a:rPr sz="1500">
                <a:solidFill>
                  <a:srgbClr val="222B33"/>
                </a:solidFill>
                <a:latin typeface="Microsoft YaHei"/>
              </a:rPr>
              <a:t>▪ 只问师兄师姐，不经委员会审查</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取最高的那个风险因素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最终级别取最高的那个风险因素</a:t>
            </a:r>
          </a:p>
          <a:p>
            <a:pPr>
              <a:spcAft>
                <a:spcPts val="1000"/>
              </a:spcAft>
            </a:pPr>
            <a:r>
              <a:rPr sz="2000">
                <a:solidFill>
                  <a:srgbClr val="222B33"/>
                </a:solidFill>
                <a:latin typeface="Microsoft YaHei"/>
              </a:rPr>
              <a:t>▪ 哪怕只有一项高，也按高的来</a:t>
            </a:r>
          </a:p>
          <a:p>
            <a:pPr>
              <a:spcAft>
                <a:spcPts val="1000"/>
              </a:spcAft>
            </a:pPr>
            <a:r>
              <a:rPr sz="2000">
                <a:solidFill>
                  <a:srgbClr val="222B33"/>
                </a:solidFill>
                <a:latin typeface="Microsoft YaHei"/>
              </a:rPr>
              <a:t>▪ 例子：本体风险低，改造后、有气溶胶要重新看</a:t>
            </a:r>
          </a:p>
          <a:p>
            <a:pPr>
              <a:spcAft>
                <a:spcPts val="1000"/>
              </a:spcAft>
            </a:pPr>
            <a:r>
              <a:rPr sz="2000">
                <a:solidFill>
                  <a:srgbClr val="222B33"/>
                </a:solidFill>
                <a:latin typeface="Microsoft YaHei"/>
              </a:rPr>
              <a:t>▪ 拟定级别仍要报委员会审批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各步骤的评估结果综合起来，最终级别取最高的那个风险因素：哪怕只有一项风险高，也要按高的来。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把各项风险“平均”一下定级</a:t>
            </a:r>
          </a:p>
          <a:p>
            <a:pPr>
              <a:spcAft>
                <a:spcPts val="1000"/>
              </a:spcAft>
            </a:pPr>
            <a:r>
              <a:rPr sz="1500">
                <a:solidFill>
                  <a:srgbClr val="222B33"/>
                </a:solidFill>
                <a:latin typeface="Microsoft YaHei"/>
              </a:rPr>
              <a:t>▪ 只按菌株本体定级，不考虑改造和操作</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风险组不等于实验室级别，不得随意降级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风险组不直接等于实验室级别</a:t>
            </a:r>
          </a:p>
          <a:p>
            <a:pPr>
              <a:spcAft>
                <a:spcPts val="1000"/>
              </a:spcAft>
            </a:pPr>
            <a:r>
              <a:rPr sz="2000">
                <a:solidFill>
                  <a:srgbClr val="222B33"/>
                </a:solidFill>
                <a:latin typeface="Microsoft YaHei"/>
              </a:rPr>
              <a:t>▪ 逐案评估，但要按目录规定来</a:t>
            </a:r>
          </a:p>
          <a:p>
            <a:pPr>
              <a:spcAft>
                <a:spcPts val="1000"/>
              </a:spcAft>
            </a:pPr>
            <a:r>
              <a:rPr sz="2000">
                <a:solidFill>
                  <a:srgbClr val="222B33"/>
                </a:solidFill>
                <a:latin typeface="Microsoft YaHei"/>
              </a:rPr>
              <a:t>▪ 想在低一级实验室做，不能自己定</a:t>
            </a:r>
          </a:p>
          <a:p>
            <a:pPr>
              <a:spcAft>
                <a:spcPts val="1000"/>
              </a:spcAft>
            </a:pPr>
            <a:r>
              <a:rPr sz="2000">
                <a:solidFill>
                  <a:srgbClr val="222B33"/>
                </a:solidFill>
                <a:latin typeface="Microsoft YaHei"/>
              </a:rPr>
              <a:t>▪ 降级须评估、委员会审核，高致病性依法审批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国际资料常说“风险组不等于实验室级别”，要结合管理控制措施逐案评估。例如有人问：国际风险组 3 的病原一定要进三级实验室吗？逐案评估的思路是对的，但在国内必须按规定来：先查《人间传染的病原微生物目录》，目录对不同实验……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以“逐案评估”为由自行降级</a:t>
            </a:r>
          </a:p>
          <a:p>
            <a:pPr>
              <a:spcAft>
                <a:spcPts val="1000"/>
              </a:spcAft>
            </a:pPr>
            <a:r>
              <a:rPr sz="1500">
                <a:solidFill>
                  <a:srgbClr val="222B33"/>
                </a:solidFill>
                <a:latin typeface="Microsoft YaHei"/>
              </a:rPr>
              <a:t>▪ 把国际风险组数字直接当成实验室级别</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未知病原、细胞系和环境样本从严定级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病原没确认，信息不全，评估从严，宁可高一档</a:t>
            </a:r>
          </a:p>
          <a:p>
            <a:pPr>
              <a:spcAft>
                <a:spcPts val="1000"/>
              </a:spcAft>
            </a:pPr>
            <a:r>
              <a:rPr sz="2000">
                <a:solidFill>
                  <a:srgbClr val="222B33"/>
                </a:solidFill>
                <a:latin typeface="Microsoft YaHei"/>
              </a:rPr>
              <a:t>▪ 细胞系、临床样本、来源不明样本也要定级</a:t>
            </a:r>
          </a:p>
          <a:p>
            <a:pPr>
              <a:spcAft>
                <a:spcPts val="1000"/>
              </a:spcAft>
            </a:pPr>
            <a:r>
              <a:rPr sz="2000">
                <a:solidFill>
                  <a:srgbClr val="222B33"/>
                </a:solidFill>
                <a:latin typeface="Microsoft YaHei"/>
              </a:rPr>
              <a:t>▪ 噬菌体实验按宿主菌和样品定级</a:t>
            </a:r>
          </a:p>
          <a:p>
            <a:pPr>
              <a:spcAft>
                <a:spcPts val="1000"/>
              </a:spcAft>
            </a:pPr>
            <a:r>
              <a:rPr sz="2000">
                <a:solidFill>
                  <a:srgbClr val="222B33"/>
                </a:solidFill>
                <a:latin typeface="Microsoft YaHei"/>
              </a:rPr>
              <a:t>▪ 污泥污水富集会放大杂菌，评估后一般二级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病原还没有确认时信息不全，评估要从严，宁可防护高一档，并报单位生物安全委员会审核。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认为“只是细胞”或“只是环境样本”就不用评估</a:t>
            </a:r>
          </a:p>
          <a:p>
            <a:pPr>
              <a:spcAft>
                <a:spcPts val="1000"/>
              </a:spcAft>
            </a:pPr>
            <a:r>
              <a:rPr sz="1500">
                <a:solidFill>
                  <a:srgbClr val="222B33"/>
                </a:solidFill>
                <a:latin typeface="Microsoft YaHei"/>
              </a:rPr>
              <a:t>▪ 在开放台面上对污水样本做富集培养</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评估成文，情况一变重新评估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评估要形成文件，经审核、留档可追溯</a:t>
            </a:r>
          </a:p>
          <a:p>
            <a:pPr>
              <a:spcAft>
                <a:spcPts val="1000"/>
              </a:spcAft>
            </a:pPr>
            <a:r>
              <a:rPr sz="2000">
                <a:solidFill>
                  <a:srgbClr val="222B33"/>
                </a:solidFill>
                <a:latin typeface="Microsoft YaHei"/>
              </a:rPr>
              <a:t>▪ 实验内容或条件一变，就重新评估</a:t>
            </a:r>
          </a:p>
          <a:p>
            <a:pPr>
              <a:spcAft>
                <a:spcPts val="1000"/>
              </a:spcAft>
            </a:pPr>
            <a:r>
              <a:rPr sz="2000">
                <a:solidFill>
                  <a:srgbClr val="222B33"/>
                </a:solidFill>
                <a:latin typeface="Microsoft YaHei"/>
              </a:rPr>
              <a:t>▪ 采取措施后残余风险仍偏高，报委员会</a:t>
            </a:r>
          </a:p>
          <a:p>
            <a:pPr>
              <a:spcAft>
                <a:spcPts val="1000"/>
              </a:spcAft>
            </a:pPr>
            <a:r>
              <a:rPr sz="2000">
                <a:solidFill>
                  <a:srgbClr val="222B33"/>
                </a:solidFill>
                <a:latin typeface="Microsoft YaHei"/>
              </a:rPr>
              <a:t>▪ 未批准前不擅自开工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定级评估不是口头说说，要形成书面的风险评估报告，经审核批准后留档，做到可追溯（GB 19489-2008，以现行文本为准）。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评估只在脑子里，不写成文件</a:t>
            </a:r>
          </a:p>
          <a:p>
            <a:pPr>
              <a:spcAft>
                <a:spcPts val="1000"/>
              </a:spcAft>
            </a:pPr>
            <a:r>
              <a:rPr sz="1500">
                <a:solidFill>
                  <a:srgbClr val="222B33"/>
                </a:solidFill>
                <a:latin typeface="Microsoft YaHei"/>
              </a:rPr>
              <a:t>▪ 换了新方法、扩大了规模，还沿用旧评估</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为一项新实验确定防护等级，正确的做法是：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按病原名称凭印象定级</a:t>
            </a:r>
          </a:p>
          <a:p>
            <a:pPr algn="l"/>
            <a:r>
              <a:rPr sz="1500" b="0">
                <a:solidFill>
                  <a:srgbClr val="222B33"/>
                </a:solidFill>
                <a:latin typeface="Microsoft YaHei"/>
              </a:rPr>
              <a:t>B. 查国内目录，按病原、传播、防治、操作、设施人员逐步评估，取最高风险因素，报委员会审批</a:t>
            </a:r>
          </a:p>
          <a:p>
            <a:pPr algn="l"/>
            <a:r>
              <a:rPr sz="1500" b="0">
                <a:solidFill>
                  <a:srgbClr val="222B33"/>
                </a:solidFill>
                <a:latin typeface="Microsoft YaHei"/>
              </a:rPr>
              <a:t>C. 按国外手册自行确定</a:t>
            </a:r>
          </a:p>
          <a:p>
            <a:pPr algn="l"/>
            <a:r>
              <a:rPr sz="1500" b="0">
                <a:solidFill>
                  <a:srgbClr val="222B33"/>
                </a:solidFill>
                <a:latin typeface="Microsoft YaHei"/>
              </a:rPr>
              <a:t>D. 先做起来，有问题再说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判断：某菌株本身风险低，经过基因改造后可以直接沿用原来的级别。</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想在比目录规定低一级的实验室开展实验，应当：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研究者自己决定</a:t>
            </a:r>
          </a:p>
          <a:p>
            <a:pPr algn="l"/>
            <a:r>
              <a:rPr sz="1500" b="0">
                <a:solidFill>
                  <a:srgbClr val="222B33"/>
                </a:solidFill>
                <a:latin typeface="Microsoft YaHei"/>
              </a:rPr>
              <a:t>B. 不能随意降级，须有充分风险评估并经委员会审核，高致病性还须依法审批</a:t>
            </a:r>
          </a:p>
          <a:p>
            <a:pPr algn="l"/>
            <a:r>
              <a:rPr sz="1500" b="0">
                <a:solidFill>
                  <a:srgbClr val="222B33"/>
                </a:solidFill>
                <a:latin typeface="Microsoft YaHei"/>
              </a:rPr>
              <a:t>C. 只要戴好口罩就行</a:t>
            </a:r>
          </a:p>
          <a:p>
            <a:pPr algn="l"/>
            <a:r>
              <a:rPr sz="1500" b="0">
                <a:solidFill>
                  <a:srgbClr val="222B33"/>
                </a:solidFill>
                <a:latin typeface="Microsoft YaHei"/>
              </a:rPr>
              <a:t>D. 晚上没人时再做</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判断：细胞系和来源不明的样本在目录里查不到，所以不需要定级。</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060 · 如何确定实验活动的防护等级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060 如何确定实验活动的防护等级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简答：本实验室的条件达不到某项实验所需的防护级别，应该怎么办？</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定级是一套结构化风险评估</a:t>
            </a:r>
          </a:p>
          <a:p>
            <a:pPr>
              <a:spcAft>
                <a:spcPts val="800"/>
              </a:spcAft>
            </a:pPr>
            <a:r>
              <a:rPr sz="1500">
                <a:solidFill>
                  <a:srgbClr val="FFFFFF"/>
                </a:solidFill>
                <a:latin typeface="Microsoft YaHei"/>
              </a:rPr>
              <a:t>▪ K2  第一步：认清它是什么</a:t>
            </a:r>
          </a:p>
          <a:p>
            <a:pPr>
              <a:spcAft>
                <a:spcPts val="800"/>
              </a:spcAft>
            </a:pPr>
            <a:r>
              <a:rPr sz="1500">
                <a:solidFill>
                  <a:srgbClr val="FFFFFF"/>
                </a:solidFill>
                <a:latin typeface="Microsoft YaHei"/>
              </a:rPr>
              <a:t>▪ K3  第二步：会不会致病、有多重</a:t>
            </a:r>
          </a:p>
          <a:p>
            <a:pPr>
              <a:spcAft>
                <a:spcPts val="800"/>
              </a:spcAft>
            </a:pPr>
            <a:r>
              <a:rPr sz="1500">
                <a:solidFill>
                  <a:srgbClr val="FFFFFF"/>
                </a:solidFill>
                <a:latin typeface="Microsoft YaHei"/>
              </a:rPr>
              <a:t>▪ K4  第三步：怎么传播</a:t>
            </a:r>
          </a:p>
          <a:p>
            <a:pPr>
              <a:spcAft>
                <a:spcPts val="800"/>
              </a:spcAft>
            </a:pPr>
            <a:r>
              <a:rPr sz="1500">
                <a:solidFill>
                  <a:srgbClr val="FFFFFF"/>
                </a:solidFill>
                <a:latin typeface="Microsoft YaHei"/>
              </a:rPr>
              <a:t>▪ K5  第四步：有没有药和疫苗</a:t>
            </a:r>
          </a:p>
          <a:p>
            <a:pPr>
              <a:spcAft>
                <a:spcPts val="800"/>
              </a:spcAft>
            </a:pPr>
            <a:r>
              <a:rPr sz="1500">
                <a:solidFill>
                  <a:srgbClr val="FFFFFF"/>
                </a:solidFill>
                <a:latin typeface="Microsoft YaHei"/>
              </a:rPr>
              <a:t>▪ K6  第五步：实验怎么做</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第六步：设施和人员跟得上吗</a:t>
            </a:r>
          </a:p>
          <a:p>
            <a:pPr>
              <a:spcAft>
                <a:spcPts val="800"/>
              </a:spcAft>
            </a:pPr>
            <a:r>
              <a:rPr sz="1500">
                <a:solidFill>
                  <a:srgbClr val="FFFFFF"/>
                </a:solidFill>
                <a:latin typeface="Microsoft YaHei"/>
              </a:rPr>
              <a:t>▪ K8  第七步：查规范、问委员会，级别不自定</a:t>
            </a:r>
          </a:p>
          <a:p>
            <a:pPr>
              <a:spcAft>
                <a:spcPts val="800"/>
              </a:spcAft>
            </a:pPr>
            <a:r>
              <a:rPr sz="1500">
                <a:solidFill>
                  <a:srgbClr val="FFFFFF"/>
                </a:solidFill>
                <a:latin typeface="Microsoft YaHei"/>
              </a:rPr>
              <a:t>▪ K9  取最高的那个风险因素</a:t>
            </a:r>
          </a:p>
          <a:p>
            <a:pPr>
              <a:spcAft>
                <a:spcPts val="800"/>
              </a:spcAft>
            </a:pPr>
            <a:r>
              <a:rPr sz="1500">
                <a:solidFill>
                  <a:srgbClr val="FFFFFF"/>
                </a:solidFill>
                <a:latin typeface="Microsoft YaHei"/>
              </a:rPr>
              <a:t>▪ K10  风险组不等于实验室级别，不得随意降级</a:t>
            </a:r>
          </a:p>
          <a:p>
            <a:pPr>
              <a:spcAft>
                <a:spcPts val="800"/>
              </a:spcAft>
            </a:pPr>
            <a:r>
              <a:rPr sz="1500">
                <a:solidFill>
                  <a:srgbClr val="FFFFFF"/>
                </a:solidFill>
                <a:latin typeface="Microsoft YaHei"/>
              </a:rPr>
              <a:t>▪ K11  未知病原、细胞系和环境样本从严定级</a:t>
            </a:r>
          </a:p>
          <a:p>
            <a:pPr>
              <a:spcAft>
                <a:spcPts val="800"/>
              </a:spcAft>
            </a:pPr>
            <a:r>
              <a:rPr sz="1500">
                <a:solidFill>
                  <a:srgbClr val="FFFFFF"/>
                </a:solidFill>
                <a:latin typeface="Microsoft YaHei"/>
              </a:rPr>
              <a:t>▪ K12  评估成文，情况一变重新评估</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各级实验室的防护要求</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84 镜）　适用对象：进入生命科学、医学、农学、环境等涉及生物材料实验室的高校本科生、研究生和教职工（必修）；实验室负责人和生物安全员重点学习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能说出各级生物安全实验室在准入、个人防护、安全设备和设施四方面的递进差异，知道各级要求是一整套、缺一项就不达标。</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能做到一级、二级实验室的日常规范：不饮食、不口吸移液、减少气溶胶、台面消毒、废物灭菌、摘手套洗手后离开；涂片和环境分离菌按要求防护。</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能说出各级人员培训的重点和人人必备的六类培训，知道培训要记录、要动手实练、三四级要带教。</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能判断防护装备缺失或损坏时应停止相关操作、报告负责人、修复确认后再开工。</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《中华人民共和国生物安全法》（以现行文本为准）：病原微生物实验室分级管理，从业人员培训</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《病原微生物实验室生物安全管理条例》（以现行文本为准）：实验室按防护水平分为一级至四级；实验室人员须经培训考核合格；高致病性病原微生物实验活动须经批准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生物安全通用要求》：各级实验室的设施设备要求、个人防护、人员培训和管理要求</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233（以现行文本为准）《病原微生物实验室生物安全通用准则》：各级病原微生物实验室的设施、设备和操作要求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《人间传染的病原微生物目录》（国家卫生健康委发布，以现行版本为准）：各病原不同实验活动所需的实验室级别</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号，以现行文本为准）：安全教育培训与准入，实验室安全管理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本校生物安全管理制度：准入培训、复训周期、带教授权和报告程序，以本校规定为准</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防护要求是一整套：缺一项就不达标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每一级措施分三栏：穿什么、用什么设备、房子怎么建</a:t>
            </a:r>
          </a:p>
          <a:p>
            <a:pPr>
              <a:spcAft>
                <a:spcPts val="1000"/>
              </a:spcAft>
            </a:pPr>
            <a:r>
              <a:rPr sz="2000">
                <a:solidFill>
                  <a:srgbClr val="222B33"/>
                </a:solidFill>
                <a:latin typeface="Microsoft YaHei"/>
              </a:rPr>
              <a:t>▪ 级别越高，对应的病原风险越大</a:t>
            </a:r>
          </a:p>
          <a:p>
            <a:pPr>
              <a:spcAft>
                <a:spcPts val="1000"/>
              </a:spcAft>
            </a:pPr>
            <a:r>
              <a:rPr sz="2000">
                <a:solidFill>
                  <a:srgbClr val="222B33"/>
                </a:solidFill>
                <a:latin typeface="Microsoft YaHei"/>
              </a:rPr>
              <a:t>▪ 具体病原放几级，查国家目录</a:t>
            </a:r>
          </a:p>
          <a:p>
            <a:pPr>
              <a:spcAft>
                <a:spcPts val="1000"/>
              </a:spcAft>
            </a:pPr>
            <a:r>
              <a:rPr sz="2000">
                <a:solidFill>
                  <a:srgbClr val="222B33"/>
                </a:solidFill>
                <a:latin typeface="Microsoft YaHei"/>
              </a:rPr>
              <a:t>▪ 设施、设备、操作、人员，缺一项不达标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比较各级生物安全实验室，可以列一张对比表：先看病原风险——一级操作通常不使健康成人致病的微生物，二级操作能致病但一般可防可治的病原，三级对应可经空气传播、后果严重的病原，四级对应危及生命且缺乏有效防治手段的病原（分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买了生物安全柜，就以为实验室达到了二级</a:t>
            </a:r>
          </a:p>
          <a:p>
            <a:pPr>
              <a:spcAft>
                <a:spcPts val="1000"/>
              </a:spcAft>
            </a:pPr>
            <a:r>
              <a:rPr sz="1500">
                <a:solidFill>
                  <a:srgbClr val="222B33"/>
                </a:solidFill>
                <a:latin typeface="Microsoft YaHei"/>
              </a:rPr>
              <a:t>▪ 只看房间级别，不管操作和人员是否到位</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谁能进门：准入逐级收紧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一级：经过培训的人可进</a:t>
            </a:r>
          </a:p>
          <a:p>
            <a:pPr>
              <a:spcAft>
                <a:spcPts val="1000"/>
              </a:spcAft>
            </a:pPr>
            <a:r>
              <a:rPr sz="2000">
                <a:solidFill>
                  <a:srgbClr val="222B33"/>
                </a:solidFill>
                <a:latin typeface="Microsoft YaHei"/>
              </a:rPr>
              <a:t>▪ 二级：限制进入，门上挂标识</a:t>
            </a:r>
          </a:p>
          <a:p>
            <a:pPr>
              <a:spcAft>
                <a:spcPts val="1000"/>
              </a:spcAft>
            </a:pPr>
            <a:r>
              <a:rPr sz="2000">
                <a:solidFill>
                  <a:srgbClr val="222B33"/>
                </a:solidFill>
                <a:latin typeface="Microsoft YaHei"/>
              </a:rPr>
              <a:t>▪ 三级须专门培训和批准，四级严格控制</a:t>
            </a:r>
          </a:p>
          <a:p>
            <a:pPr>
              <a:spcAft>
                <a:spcPts val="1000"/>
              </a:spcAft>
            </a:pPr>
            <a:r>
              <a:rPr sz="2000">
                <a:solidFill>
                  <a:srgbClr val="222B33"/>
                </a:solidFill>
                <a:latin typeface="Microsoft YaHei"/>
              </a:rPr>
              <a:t>▪ 进门先看标识，培训考核合格才能操作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准入随级别逐级收紧：一级实验室，经过基本培训的人员可以进入；二级实验室限制进入，无关人员不得入内；三级实验室受控进入，人员须经专门培训、批准和授权；四级实验室严格控制进入，并有高度的安保措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跟着有门禁卡的同学“蹭”进二级实验室</a:t>
            </a:r>
          </a:p>
          <a:p>
            <a:pPr>
              <a:spcAft>
                <a:spcPts val="1000"/>
              </a:spcAft>
            </a:pPr>
            <a:r>
              <a:rPr sz="1500">
                <a:solidFill>
                  <a:srgbClr val="222B33"/>
                </a:solidFill>
                <a:latin typeface="Microsoft YaHei"/>
              </a:rPr>
              <a:t>▪ 不看门口标识就进门</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个人防护逐级加码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一级：实验服为主，需要时戴手套和护目镜</a:t>
            </a:r>
          </a:p>
          <a:p>
            <a:pPr>
              <a:spcAft>
                <a:spcPts val="1000"/>
              </a:spcAft>
            </a:pPr>
            <a:r>
              <a:rPr sz="1700">
                <a:solidFill>
                  <a:srgbClr val="222B33"/>
                </a:solidFill>
                <a:latin typeface="Microsoft YaHei"/>
              </a:rPr>
              <a:t>▪ 二级：加护目镜或面屏，必须穿闭趾鞋</a:t>
            </a:r>
          </a:p>
          <a:p>
            <a:pPr>
              <a:spcAft>
                <a:spcPts val="1000"/>
              </a:spcAft>
            </a:pPr>
            <a:r>
              <a:rPr sz="1700">
                <a:solidFill>
                  <a:srgbClr val="222B33"/>
                </a:solidFill>
                <a:latin typeface="Microsoft YaHei"/>
              </a:rPr>
              <a:t>▪ 三级：前襟封闭的防护服，加呼吸防护</a:t>
            </a:r>
          </a:p>
          <a:p>
            <a:pPr>
              <a:spcAft>
                <a:spcPts val="1000"/>
              </a:spcAft>
            </a:pPr>
            <a:r>
              <a:rPr sz="1700">
                <a:solidFill>
                  <a:srgbClr val="222B33"/>
                </a:solidFill>
                <a:latin typeface="Microsoft YaHei"/>
              </a:rPr>
              <a:t>▪ 四级：正压供气防护服，多层手套</a:t>
            </a:r>
          </a:p>
          <a:p>
            <a:pPr>
              <a:spcAft>
                <a:spcPts val="1000"/>
              </a:spcAft>
            </a:pPr>
            <a:r>
              <a:rPr sz="1700">
                <a:solidFill>
                  <a:srgbClr val="222B33"/>
                </a:solidFill>
                <a:latin typeface="Microsoft YaHei"/>
              </a:rPr>
              <a:t>▪ 具体穿什么由风险评估决定，有气流也要穿</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个人防护随级别逐级加码：一级以实验服为主，需要时戴手套和护目镜；二级在实验服、手套之外，加戴护目镜或面屏等面部防护，必须穿不露脚趾的鞋；三级穿前襟封闭的防护服，戴手套和眼面部防护，并按要求加戴呼吸防护（呼吸防护与适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进二级实验室穿凉鞋、拖鞋</a:t>
            </a:r>
          </a:p>
          <a:p>
            <a:pPr>
              <a:spcAft>
                <a:spcPts val="1000"/>
              </a:spcAft>
            </a:pPr>
            <a:r>
              <a:rPr sz="1500">
                <a:solidFill>
                  <a:srgbClr val="222B33"/>
                </a:solidFill>
                <a:latin typeface="Microsoft YaHei"/>
              </a:rPr>
              <a:t>▪ 认为房间有负压就可以不戴呼吸防护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安全设备与气溶胶控制逐级加严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一级：洗手池和基本消毒用品</a:t>
            </a:r>
          </a:p>
          <a:p>
            <a:pPr>
              <a:spcAft>
                <a:spcPts val="1000"/>
              </a:spcAft>
            </a:pPr>
            <a:r>
              <a:rPr sz="2000">
                <a:solidFill>
                  <a:srgbClr val="222B33"/>
                </a:solidFill>
                <a:latin typeface="Microsoft YaHei"/>
              </a:rPr>
              <a:t>▪ 二级：可能产生气溶胶的操作进生物安全柜</a:t>
            </a:r>
          </a:p>
          <a:p>
            <a:pPr>
              <a:spcAft>
                <a:spcPts val="1000"/>
              </a:spcAft>
            </a:pPr>
            <a:r>
              <a:rPr sz="2000">
                <a:solidFill>
                  <a:srgbClr val="222B33"/>
                </a:solidFill>
                <a:latin typeface="Microsoft YaHei"/>
              </a:rPr>
              <a:t>▪ 三级：必须用安全柜，离心用密封离心杯</a:t>
            </a:r>
          </a:p>
          <a:p>
            <a:pPr>
              <a:spcAft>
                <a:spcPts val="1000"/>
              </a:spcAft>
            </a:pPr>
            <a:r>
              <a:rPr sz="2000">
                <a:solidFill>
                  <a:srgbClr val="222B33"/>
                </a:solidFill>
                <a:latin typeface="Microsoft YaHei"/>
              </a:rPr>
              <a:t>▪ 四级：全密闭安全柜，或正压服配安全柜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设备（工程控制）随级别加严：一级有洗手设施和基本的消毒用品；二级配备生物安全柜（通常为Ⅱ级），吸液、混匀、振荡、研磨等可能产生气溶胶或溅洒的操作要放进柜里做；三级所有涉及感染性材料的操作都必须在生物安全柜或其他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在二级实验室开放台面上振荡、研磨感染性材料</a:t>
            </a:r>
          </a:p>
          <a:p>
            <a:pPr>
              <a:spcAft>
                <a:spcPts val="1000"/>
              </a:spcAft>
            </a:pPr>
            <a:r>
              <a:rPr sz="1500">
                <a:solidFill>
                  <a:srgbClr val="222B33"/>
                </a:solidFill>
                <a:latin typeface="Microsoft YaHei"/>
              </a:rPr>
              <a:t>▪ 离心感染性材料不用密封离心杯</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实验室设施逐级递进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一级：普通开放实验室，有洗手池</a:t>
            </a:r>
          </a:p>
          <a:p>
            <a:pPr>
              <a:spcAft>
                <a:spcPts val="1000"/>
              </a:spcAft>
            </a:pPr>
            <a:r>
              <a:rPr sz="2000">
                <a:solidFill>
                  <a:srgbClr val="222B33"/>
                </a:solidFill>
                <a:latin typeface="Microsoft YaHei"/>
              </a:rPr>
              <a:t>▪ 二级：自闭门、洗手池、洗眼装置、灭菌器</a:t>
            </a:r>
          </a:p>
          <a:p>
            <a:pPr>
              <a:spcAft>
                <a:spcPts val="1000"/>
              </a:spcAft>
            </a:pPr>
            <a:r>
              <a:rPr sz="2000">
                <a:solidFill>
                  <a:srgbClr val="222B33"/>
                </a:solidFill>
                <a:latin typeface="Microsoft YaHei"/>
              </a:rPr>
              <a:t>▪ 三级：房间负压，排风经高效过滤</a:t>
            </a:r>
          </a:p>
          <a:p>
            <a:pPr>
              <a:spcAft>
                <a:spcPts val="1000"/>
              </a:spcAft>
            </a:pPr>
            <a:r>
              <a:rPr sz="2000">
                <a:solidFill>
                  <a:srgbClr val="222B33"/>
                </a:solidFill>
                <a:latin typeface="Microsoft YaHei"/>
              </a:rPr>
              <a:t>▪ 四级：完全隔离，进风排风都要过滤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设施随级别递进：一级是普通的开放实验室，设洗手池（宜靠近出口）；二级在此基础上，门能自动关闭并有进入控制，设洗手池和洗眼装置，实验室内或所在建筑内有高压蒸汽灭菌器或其他适当的消毒灭菌设备；三级与其他区域隔离，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不知道本实验室的洗眼装置和灭菌器在哪里</a:t>
            </a:r>
          </a:p>
          <a:p>
            <a:pPr>
              <a:spcAft>
                <a:spcPts val="1000"/>
              </a:spcAft>
            </a:pPr>
            <a:r>
              <a:rPr sz="1500">
                <a:solidFill>
                  <a:srgbClr val="222B33"/>
                </a:solidFill>
                <a:latin typeface="Microsoft YaHei"/>
              </a:rPr>
              <a:t>▪ 用东西顶住二级实验室的自闭门</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二级实验室的布局与两道屏障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入口附近有灭菌器，门上有生物危害标志</a:t>
            </a:r>
          </a:p>
          <a:p>
            <a:pPr>
              <a:spcAft>
                <a:spcPts val="1000"/>
              </a:spcAft>
            </a:pPr>
            <a:r>
              <a:rPr sz="1700">
                <a:solidFill>
                  <a:srgbClr val="222B33"/>
                </a:solidFill>
                <a:latin typeface="Microsoft YaHei"/>
              </a:rPr>
              <a:t>▪ 门可装门禁，防止无关人员进入</a:t>
            </a:r>
          </a:p>
          <a:p>
            <a:pPr>
              <a:spcAft>
                <a:spcPts val="1000"/>
              </a:spcAft>
            </a:pPr>
            <a:r>
              <a:rPr sz="1700">
                <a:solidFill>
                  <a:srgbClr val="222B33"/>
                </a:solidFill>
                <a:latin typeface="Microsoft YaHei"/>
              </a:rPr>
              <a:t>▪ 安全柜放最里面，气流从门口流向柜子</a:t>
            </a:r>
          </a:p>
          <a:p>
            <a:pPr>
              <a:spcAft>
                <a:spcPts val="1000"/>
              </a:spcAft>
            </a:pPr>
            <a:r>
              <a:rPr sz="1700">
                <a:solidFill>
                  <a:srgbClr val="222B33"/>
                </a:solidFill>
                <a:latin typeface="Microsoft YaHei"/>
              </a:rPr>
              <a:t>▪ 柜子按设计接好排风，不能随意改动</a:t>
            </a:r>
          </a:p>
          <a:p>
            <a:pPr>
              <a:spcAft>
                <a:spcPts val="1000"/>
              </a:spcAft>
            </a:pPr>
            <a:r>
              <a:rPr sz="1700">
                <a:solidFill>
                  <a:srgbClr val="222B33"/>
                </a:solidFill>
                <a:latin typeface="Microsoft YaHei"/>
              </a:rPr>
              <a:t>▪ 第一道：柜和防护；第二道：设施和管理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二级实验室常见的布局：入口附近放高压灭菌器，废物就近集中灭菌，废物按类别分桶收集；门上挂生物危害标志，可加装门禁（密码、刷卡等），防止无关人员进入；按需要配备洗眼装置和应急喷淋。生物安全柜（以及化学通风柜）放在远离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把生物安全柜放在门口或人来人往的通道旁</a:t>
            </a:r>
          </a:p>
          <a:p>
            <a:pPr>
              <a:spcAft>
                <a:spcPts val="1000"/>
              </a:spcAft>
            </a:pPr>
            <a:r>
              <a:rPr sz="1500">
                <a:solidFill>
                  <a:srgbClr val="222B33"/>
                </a:solidFill>
                <a:latin typeface="Microsoft YaHei"/>
              </a:rPr>
              <a:t>▪ 自行改动安全柜的排风连接</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良好微生物操作是基本功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良好微生物操作是各级安全的基本功</a:t>
            </a:r>
          </a:p>
          <a:p>
            <a:pPr>
              <a:spcAft>
                <a:spcPts val="1000"/>
              </a:spcAft>
            </a:pPr>
            <a:r>
              <a:rPr sz="1700">
                <a:solidFill>
                  <a:srgbClr val="222B33"/>
                </a:solidFill>
                <a:latin typeface="Microsoft YaHei"/>
              </a:rPr>
              <a:t>▪ 先定行为规范，把基本操作一条条写清</a:t>
            </a:r>
          </a:p>
          <a:p>
            <a:pPr>
              <a:spcAft>
                <a:spcPts val="1000"/>
              </a:spcAft>
            </a:pPr>
            <a:r>
              <a:rPr sz="1700">
                <a:solidFill>
                  <a:srgbClr val="222B33"/>
                </a:solidFill>
                <a:latin typeface="Microsoft YaHei"/>
              </a:rPr>
              <a:t>▪ 无菌操作、灭菌、去污，样样到位</a:t>
            </a:r>
          </a:p>
          <a:p>
            <a:pPr>
              <a:spcAft>
                <a:spcPts val="1000"/>
              </a:spcAft>
            </a:pPr>
            <a:r>
              <a:rPr sz="1700">
                <a:solidFill>
                  <a:srgbClr val="222B33"/>
                </a:solidFill>
                <a:latin typeface="Microsoft YaHei"/>
              </a:rPr>
              <a:t>▪ 消毒剂要用对，作用时间要等够</a:t>
            </a:r>
          </a:p>
          <a:p>
            <a:pPr>
              <a:spcAft>
                <a:spcPts val="1000"/>
              </a:spcAft>
            </a:pPr>
            <a:r>
              <a:rPr sz="1700">
                <a:solidFill>
                  <a:srgbClr val="222B33"/>
                </a:solidFill>
                <a:latin typeface="Microsoft YaHei"/>
              </a:rPr>
              <a:t>▪ 要有应急预案：破损、发病、溢洒、火</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良好微生物操作技术是所有级别实验室安全的基础，设施和设备再好，也替代不了规范的操作。建立实验室，第一步是制定行为规范：由实验室管理层会同使用人员一起，把最基本的操作要求一条条写清楚，形成本实验室的操作规程；生物安全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消毒剂喷上马上擦掉，不等作用时间</a:t>
            </a:r>
          </a:p>
          <a:p>
            <a:pPr>
              <a:spcAft>
                <a:spcPts val="1000"/>
              </a:spcAft>
            </a:pPr>
            <a:r>
              <a:rPr sz="1500">
                <a:solidFill>
                  <a:srgbClr val="222B33"/>
                </a:solidFill>
                <a:latin typeface="Microsoft YaHei"/>
              </a:rPr>
              <a:t>▪ 认为有了安全柜，操作可以随意</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一级、二级实验室的日常规范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不饮食、不化妆，不用手摸脸和手机</a:t>
            </a:r>
          </a:p>
          <a:p>
            <a:pPr>
              <a:spcAft>
                <a:spcPts val="1000"/>
              </a:spcAft>
            </a:pPr>
            <a:r>
              <a:rPr sz="1700">
                <a:solidFill>
                  <a:srgbClr val="222B33"/>
                </a:solidFill>
                <a:latin typeface="Microsoft YaHei"/>
              </a:rPr>
              <a:t>▪ 严禁口吸移液，用移液器</a:t>
            </a:r>
          </a:p>
          <a:p>
            <a:pPr>
              <a:spcAft>
                <a:spcPts val="1000"/>
              </a:spcAft>
            </a:pPr>
            <a:r>
              <a:rPr sz="1700">
                <a:solidFill>
                  <a:srgbClr val="222B33"/>
                </a:solidFill>
                <a:latin typeface="Microsoft YaHei"/>
              </a:rPr>
              <a:t>▪ 动作轻缓，减少溅洒和气溶胶</a:t>
            </a:r>
          </a:p>
          <a:p>
            <a:pPr>
              <a:spcAft>
                <a:spcPts val="1000"/>
              </a:spcAft>
            </a:pPr>
            <a:r>
              <a:rPr sz="1700">
                <a:solidFill>
                  <a:srgbClr val="222B33"/>
                </a:solidFill>
                <a:latin typeface="Microsoft YaHei"/>
              </a:rPr>
              <a:t>▪ 实验前后台面消毒，废物灭菌，实验菌不外带</a:t>
            </a:r>
          </a:p>
          <a:p>
            <a:pPr>
              <a:spcAft>
                <a:spcPts val="1000"/>
              </a:spcAft>
            </a:pPr>
            <a:r>
              <a:rPr sz="1700">
                <a:solidFill>
                  <a:srgbClr val="222B33"/>
                </a:solidFill>
                <a:latin typeface="Microsoft YaHei"/>
              </a:rPr>
              <a:t>▪ 做完实验摘手套、洗手再离开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一级、二级实验室是学生最常进入的生物实验室，日常规范人人要守：穿好实验服，按要求戴手套和护目镜，按无菌技术操作，既防样品污染，也防人员感染。实验室内不吃喝、不存放食物、不化妆，戴手套时不摸脸、手机和门把手。严禁用嘴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戴着手套接电话、开门</a:t>
            </a:r>
          </a:p>
          <a:p>
            <a:pPr>
              <a:spcAft>
                <a:spcPts val="1000"/>
              </a:spcAft>
            </a:pPr>
            <a:r>
              <a:rPr sz="1500">
                <a:solidFill>
                  <a:srgbClr val="222B33"/>
                </a:solidFill>
                <a:latin typeface="Microsoft YaHei"/>
              </a:rPr>
              <a:t>▪ 把实验菌带回宿舍或倒进下水道</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涂片和环境分离菌也要防</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涂片和湿片可能有活菌，按级别防护观察</a:t>
            </a:r>
          </a:p>
          <a:p>
            <a:pPr>
              <a:spcAft>
                <a:spcPts val="1000"/>
              </a:spcAft>
            </a:pPr>
            <a:r>
              <a:rPr sz="1700">
                <a:solidFill>
                  <a:srgbClr val="222B33"/>
                </a:solidFill>
                <a:latin typeface="Microsoft YaHei"/>
              </a:rPr>
              <a:t>▪ 用过的玻片消毒或放进锐器盒</a:t>
            </a:r>
          </a:p>
          <a:p>
            <a:pPr>
              <a:spcAft>
                <a:spcPts val="1000"/>
              </a:spcAft>
            </a:pPr>
            <a:r>
              <a:rPr sz="1700">
                <a:solidFill>
                  <a:srgbClr val="222B33"/>
                </a:solidFill>
                <a:latin typeface="Microsoft YaHei"/>
              </a:rPr>
              <a:t>▪ 土壤、水中分出的菌，鉴定前先当未知菌</a:t>
            </a:r>
          </a:p>
          <a:p>
            <a:pPr>
              <a:spcAft>
                <a:spcPts val="1000"/>
              </a:spcAft>
            </a:pPr>
            <a:r>
              <a:rPr sz="1700">
                <a:solidFill>
                  <a:srgbClr val="222B33"/>
                </a:solidFill>
                <a:latin typeface="Microsoft YaHei"/>
              </a:rPr>
              <a:t>▪ 先评估，一般在二级安全柜里操作</a:t>
            </a:r>
          </a:p>
          <a:p>
            <a:pPr>
              <a:spcAft>
                <a:spcPts val="1000"/>
              </a:spcAft>
            </a:pPr>
            <a:r>
              <a:rPr sz="1700">
                <a:solidFill>
                  <a:srgbClr val="222B33"/>
                </a:solidFill>
                <a:latin typeface="Microsoft YaHei"/>
              </a:rPr>
              <a:t>▪ 分离株标清来源，鉴定前不降级</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微生物涂片和湿片可能含有活菌，观察时按相应级别穿戴防护；用过的玻片放进消毒缸消毒，或放进锐器盒；显微镜载物台被污染时及时消毒。</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认为涂片“已经固定了”，徒手拿取或随手丢弃</a:t>
            </a:r>
          </a:p>
          <a:p>
            <a:pPr>
              <a:spcAft>
                <a:spcPts val="1000"/>
              </a:spcAft>
            </a:pPr>
            <a:r>
              <a:rPr sz="1500">
                <a:solidFill>
                  <a:srgbClr val="222B33"/>
                </a:solidFill>
                <a:latin typeface="Microsoft YaHei"/>
              </a:rPr>
              <a:t>▪ 环境分离菌没鉴定就在开放台面上大量操作</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一级、二级的培训：基本功与规程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培训分级：学什么、谁来学、怎么练</a:t>
            </a:r>
          </a:p>
          <a:p>
            <a:pPr>
              <a:spcAft>
                <a:spcPts val="1000"/>
              </a:spcAft>
            </a:pPr>
            <a:r>
              <a:rPr sz="1700">
                <a:solidFill>
                  <a:srgbClr val="222B33"/>
                </a:solidFill>
                <a:latin typeface="Microsoft YaHei"/>
              </a:rPr>
              <a:t>▪ 一级：学生和初学者，学基本功和手卫生</a:t>
            </a:r>
          </a:p>
          <a:p>
            <a:pPr>
              <a:spcAft>
                <a:spcPts val="1000"/>
              </a:spcAft>
            </a:pPr>
            <a:r>
              <a:rPr sz="1700">
                <a:solidFill>
                  <a:srgbClr val="222B33"/>
                </a:solidFill>
                <a:latin typeface="Microsoft YaHei"/>
              </a:rPr>
              <a:t>▪ 一级练穿戴防护、处理溅洒、认生物危害</a:t>
            </a:r>
          </a:p>
          <a:p>
            <a:pPr>
              <a:spcAft>
                <a:spcPts val="1000"/>
              </a:spcAft>
            </a:pPr>
            <a:r>
              <a:rPr sz="1700">
                <a:solidFill>
                  <a:srgbClr val="222B33"/>
                </a:solidFill>
                <a:latin typeface="Microsoft YaHei"/>
              </a:rPr>
              <a:t>▪ 二级：学规程、防锐器伤、用安全柜、报告</a:t>
            </a:r>
          </a:p>
          <a:p>
            <a:pPr>
              <a:spcAft>
                <a:spcPts val="1000"/>
              </a:spcAft>
            </a:pPr>
            <a:r>
              <a:rPr sz="1700">
                <a:solidFill>
                  <a:srgbClr val="222B33"/>
                </a:solidFill>
                <a:latin typeface="Microsoft YaHei"/>
              </a:rPr>
              <a:t>▪ 二级练样本防护、柜子去污、暴露演练</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每一级的培训都看三件事：学什么重点、谁来学、怎么练。一级的对象是学生、实习人员和初学者，重点是实验室一般安全、基础微生物操作、手卫生和台面消毒；练习穿戴防护用品、处理化学品和生物材料的小量溅洒，以及识别生物危害标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认为只有老师和技术员要培训，学生跟着做就行</a:t>
            </a:r>
          </a:p>
          <a:p>
            <a:pPr>
              <a:spcAft>
                <a:spcPts val="1000"/>
              </a:spcAft>
            </a:pPr>
            <a:r>
              <a:rPr sz="1500">
                <a:solidFill>
                  <a:srgbClr val="222B33"/>
                </a:solidFill>
                <a:latin typeface="Microsoft YaHei"/>
              </a:rPr>
              <a:t>▪ 只学一级的内容就进入二级实验室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三级、四级的培训：专人长期强化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三级：学空气传播防护、进出和应急程序</a:t>
            </a:r>
          </a:p>
          <a:p>
            <a:pPr>
              <a:spcAft>
                <a:spcPts val="1000"/>
              </a:spcAft>
            </a:pPr>
            <a:r>
              <a:rPr sz="1700">
                <a:solidFill>
                  <a:srgbClr val="222B33"/>
                </a:solidFill>
                <a:latin typeface="Microsoft YaHei"/>
              </a:rPr>
              <a:t>▪ 三级做呼吸防护适合性检验，定期复训演练</a:t>
            </a:r>
          </a:p>
          <a:p>
            <a:pPr>
              <a:spcAft>
                <a:spcPts val="1000"/>
              </a:spcAft>
            </a:pPr>
            <a:r>
              <a:rPr sz="1700">
                <a:solidFill>
                  <a:srgbClr val="222B33"/>
                </a:solidFill>
                <a:latin typeface="Microsoft YaHei"/>
              </a:rPr>
              <a:t>▪ 三级为有经验的专业人员，学生未批准不得进</a:t>
            </a:r>
          </a:p>
          <a:p>
            <a:pPr>
              <a:spcAft>
                <a:spcPts val="1000"/>
              </a:spcAft>
            </a:pPr>
            <a:r>
              <a:rPr sz="1700">
                <a:solidFill>
                  <a:srgbClr val="222B33"/>
                </a:solidFill>
                <a:latin typeface="Microsoft YaHei"/>
              </a:rPr>
              <a:t>▪ 四级：专门团队长期强化训练，两人同行</a:t>
            </a:r>
          </a:p>
          <a:p>
            <a:pPr>
              <a:spcAft>
                <a:spcPts val="1000"/>
              </a:spcAft>
            </a:pPr>
            <a:r>
              <a:rPr sz="1700">
                <a:solidFill>
                  <a:srgbClr val="222B33"/>
                </a:solidFill>
                <a:latin typeface="Microsoft YaHei"/>
              </a:rPr>
              <a:t>▪ 四级练全流程：进出、淋浴、通讯、撤离</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三级的对象是有经验的专业人员，重点是更深入的生物安全原则、可经空气传播病原的封闭控制、呼吸防护（要做适合性检验，见第 025 课）、进出程序和应急程序；练习包括定期复训、熟悉设施布局、呼吸防护装备的使用和维护，以及溢……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认为看过录像就可以进三级实验室</a:t>
            </a:r>
          </a:p>
          <a:p>
            <a:pPr>
              <a:spcAft>
                <a:spcPts val="1000"/>
              </a:spcAft>
            </a:pPr>
            <a:r>
              <a:rPr sz="1500">
                <a:solidFill>
                  <a:srgbClr val="222B33"/>
                </a:solidFill>
                <a:latin typeface="Microsoft YaHei"/>
              </a:rPr>
              <a:t>▪ 认为呼吸防护随便戴上就有效，不做适合性检验</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人人必备的六类培训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生物安全操作：规范操作、防护设施、废物灭活</a:t>
            </a:r>
          </a:p>
          <a:p>
            <a:pPr>
              <a:spcAft>
                <a:spcPts val="1000"/>
              </a:spcAft>
            </a:pPr>
            <a:r>
              <a:rPr sz="1700">
                <a:solidFill>
                  <a:srgbClr val="222B33"/>
                </a:solidFill>
                <a:latin typeface="Microsoft YaHei"/>
              </a:rPr>
              <a:t>▪ 生物安保意识：防止无关人员接触材料</a:t>
            </a:r>
          </a:p>
          <a:p>
            <a:pPr>
              <a:spcAft>
                <a:spcPts val="1000"/>
              </a:spcAft>
            </a:pPr>
            <a:r>
              <a:rPr sz="1700">
                <a:solidFill>
                  <a:srgbClr val="222B33"/>
                </a:solidFill>
                <a:latin typeface="Microsoft YaHei"/>
              </a:rPr>
              <a:t>▪ 防护装备：会选、会穿、会脱</a:t>
            </a:r>
          </a:p>
          <a:p>
            <a:pPr>
              <a:spcAft>
                <a:spcPts val="1000"/>
              </a:spcAft>
            </a:pPr>
            <a:r>
              <a:rPr sz="1700">
                <a:solidFill>
                  <a:srgbClr val="222B33"/>
                </a:solidFill>
                <a:latin typeface="Microsoft YaHei"/>
              </a:rPr>
              <a:t>▪ 应急程序与设备使用：溢洒、撤离、安全柜、灭菌器</a:t>
            </a:r>
          </a:p>
          <a:p>
            <a:pPr>
              <a:spcAft>
                <a:spcPts val="1000"/>
              </a:spcAft>
            </a:pPr>
            <a:r>
              <a:rPr sz="1700">
                <a:solidFill>
                  <a:srgbClr val="222B33"/>
                </a:solidFill>
                <a:latin typeface="Microsoft YaHei"/>
              </a:rPr>
              <a:t>▪ 事件报告：立即报负责人、学院、学校</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实验室人员的必备培训有六类：第一，生物安全操作——规范操作，在防护设施里做实验，学会废物的灭活和处置；第二，生物安保意识——防止未经授权的人员接触病原材料（见第 083 课）；第三，个人防护装备——按风险评估选对防护……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被扎伤后觉得“没事”，不报告</a:t>
            </a:r>
          </a:p>
          <a:p>
            <a:pPr>
              <a:spcAft>
                <a:spcPts val="1000"/>
              </a:spcAft>
            </a:pPr>
            <a:r>
              <a:rPr sz="1500">
                <a:solidFill>
                  <a:srgbClr val="222B33"/>
                </a:solidFill>
                <a:latin typeface="Microsoft YaHei"/>
              </a:rPr>
              <a:t>▪ 只学操作，不学应急和报告</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培训要记录、要动手、要带教</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培训留记录，本人签字，考核合格才准入</a:t>
            </a:r>
          </a:p>
          <a:p>
            <a:pPr>
              <a:spcAft>
                <a:spcPts val="1000"/>
              </a:spcAft>
            </a:pPr>
            <a:r>
              <a:rPr sz="2000">
                <a:solidFill>
                  <a:srgbClr val="222B33"/>
                </a:solidFill>
                <a:latin typeface="Microsoft YaHei"/>
              </a:rPr>
              <a:t>▪ 定期复训，周期按本校规定</a:t>
            </a:r>
          </a:p>
          <a:p>
            <a:pPr>
              <a:spcAft>
                <a:spcPts val="1000"/>
              </a:spcAft>
            </a:pPr>
            <a:r>
              <a:rPr sz="2000">
                <a:solidFill>
                  <a:srgbClr val="222B33"/>
                </a:solidFill>
                <a:latin typeface="Microsoft YaHei"/>
              </a:rPr>
              <a:t>▪ 二级及以上必须动手实练</a:t>
            </a:r>
          </a:p>
          <a:p>
            <a:pPr>
              <a:spcAft>
                <a:spcPts val="1000"/>
              </a:spcAft>
            </a:pPr>
            <a:r>
              <a:rPr sz="2000">
                <a:solidFill>
                  <a:srgbClr val="222B33"/>
                </a:solidFill>
                <a:latin typeface="Microsoft YaHei"/>
              </a:rPr>
              <a:t>▪ 三四级先带教跟岗，能胜任才完全准入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每一级的培训都要留下记录，本人签字，考核合格才能准入；还要定期复训，复训周期按本校规定，操作内容、设备或规程变化时及时补训。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培训签到由别人代签</a:t>
            </a:r>
          </a:p>
          <a:p>
            <a:pPr>
              <a:spcAft>
                <a:spcPts val="1000"/>
              </a:spcAft>
            </a:pPr>
            <a:r>
              <a:rPr sz="1500">
                <a:solidFill>
                  <a:srgbClr val="222B33"/>
                </a:solidFill>
                <a:latin typeface="Microsoft YaHei"/>
              </a:rPr>
              <a:t>▪ 培训过一次就再也不复训</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装备缺了坏了，不开工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装备缺了、坏了，先停下相关操作，不凑合</a:t>
            </a:r>
          </a:p>
          <a:p>
            <a:pPr>
              <a:spcAft>
                <a:spcPts val="1000"/>
              </a:spcAft>
            </a:pPr>
            <a:r>
              <a:rPr sz="2000">
                <a:solidFill>
                  <a:srgbClr val="222B33"/>
                </a:solidFill>
                <a:latin typeface="Microsoft YaHei"/>
              </a:rPr>
              <a:t>▪ 报告负责人，申领或报修</a:t>
            </a:r>
          </a:p>
          <a:p>
            <a:pPr>
              <a:spcAft>
                <a:spcPts val="1000"/>
              </a:spcAft>
            </a:pPr>
            <a:r>
              <a:rPr sz="2000">
                <a:solidFill>
                  <a:srgbClr val="222B33"/>
                </a:solidFill>
                <a:latin typeface="Microsoft YaHei"/>
              </a:rPr>
              <a:t>▪ 确认恢复正常，再开工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防护装备或安全设备缺失、损坏（如手套破损、护目镜缺少、安全柜报警或气流异常），先停下相关操作，不凑合、不将就；按规定处理已在进行的操作和材料，报告实验室负责人，申领防护用品或报修设备。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手套破了继续做完再说</a:t>
            </a:r>
          </a:p>
          <a:p>
            <a:pPr>
              <a:spcAft>
                <a:spcPts val="1000"/>
              </a:spcAft>
            </a:pPr>
            <a:r>
              <a:rPr sz="1500">
                <a:solidFill>
                  <a:srgbClr val="222B33"/>
                </a:solidFill>
                <a:latin typeface="Microsoft YaHei"/>
              </a:rPr>
              <a:t>▪ 安全柜报警时关掉报警继续操作</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关于二级实验室的个人防护，正确的是：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只穿实验服即可</a:t>
            </a:r>
          </a:p>
          <a:p>
            <a:pPr algn="l"/>
            <a:r>
              <a:rPr sz="1500" b="0">
                <a:solidFill>
                  <a:srgbClr val="222B33"/>
                </a:solidFill>
                <a:latin typeface="Microsoft YaHei"/>
              </a:rPr>
              <a:t>B. 实验服、手套，加护目镜或面屏，必须穿闭趾鞋</a:t>
            </a:r>
          </a:p>
          <a:p>
            <a:pPr algn="l"/>
            <a:r>
              <a:rPr sz="1500" b="0">
                <a:solidFill>
                  <a:srgbClr val="222B33"/>
                </a:solidFill>
                <a:latin typeface="Microsoft YaHei"/>
              </a:rPr>
              <a:t>C. 必须穿正压防护服</a:t>
            </a:r>
          </a:p>
          <a:p>
            <a:pPr algn="l"/>
            <a:r>
              <a:rPr sz="1500" b="0">
                <a:solidFill>
                  <a:srgbClr val="222B33"/>
                </a:solidFill>
                <a:latin typeface="Microsoft YaHei"/>
              </a:rPr>
              <a:t>D. 有安全柜就不用戴手套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判断：二级实验室里，吸液、混匀等可能产生气溶胶的操作应在生物安全柜内进行。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下列做法符合一级、二级实验室日常规范的是：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戴手套接电话</a:t>
            </a:r>
          </a:p>
          <a:p>
            <a:pPr algn="l"/>
            <a:r>
              <a:rPr sz="1500" b="0">
                <a:solidFill>
                  <a:srgbClr val="222B33"/>
                </a:solidFill>
                <a:latin typeface="Microsoft YaHei"/>
              </a:rPr>
              <a:t>B. 用嘴吸移液管</a:t>
            </a:r>
          </a:p>
          <a:p>
            <a:pPr algn="l"/>
            <a:r>
              <a:rPr sz="1500" b="0">
                <a:solidFill>
                  <a:srgbClr val="222B33"/>
                </a:solidFill>
                <a:latin typeface="Microsoft YaHei"/>
              </a:rPr>
              <a:t>C. 实验前后台面消毒，做完实验摘手套、洗手再离开</a:t>
            </a:r>
          </a:p>
          <a:p>
            <a:pPr algn="l"/>
            <a:r>
              <a:rPr sz="1500" b="0">
                <a:solidFill>
                  <a:srgbClr val="222B33"/>
                </a:solidFill>
                <a:latin typeface="Microsoft YaHei"/>
              </a:rPr>
              <a:t>D. 把实验菌带回宿舍继续观察</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判断：从土壤中分离出的菌，鉴定前可以按无害菌在开放台面上操作。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阿杰发现安全柜报警、手套也破了，应该：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关掉报警继续做</a:t>
            </a:r>
          </a:p>
          <a:p>
            <a:pPr algn="l"/>
            <a:r>
              <a:rPr sz="1500" b="0">
                <a:solidFill>
                  <a:srgbClr val="222B33"/>
                </a:solidFill>
                <a:latin typeface="Microsoft YaHei"/>
              </a:rPr>
              <a:t>B. 先做完再换手套</a:t>
            </a:r>
          </a:p>
          <a:p>
            <a:pPr algn="l"/>
            <a:r>
              <a:rPr sz="1500" b="0">
                <a:solidFill>
                  <a:srgbClr val="222B33"/>
                </a:solidFill>
                <a:latin typeface="Microsoft YaHei"/>
              </a:rPr>
              <a:t>C. 停下相关操作，报告负责人，修复确认后再开工</a:t>
            </a:r>
          </a:p>
          <a:p>
            <a:pPr algn="l"/>
            <a:r>
              <a:rPr sz="1500" b="0">
                <a:solidFill>
                  <a:srgbClr val="222B33"/>
                </a:solidFill>
                <a:latin typeface="Microsoft YaHei"/>
              </a:rPr>
              <a:t>D. 自己拆开安全柜检查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简答：实验室人员必备的六类培训是什么？发生针刺暴露后向谁报告？</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防护要求是一整套：缺一项就不达标</a:t>
            </a:r>
          </a:p>
          <a:p>
            <a:pPr>
              <a:spcAft>
                <a:spcPts val="800"/>
              </a:spcAft>
            </a:pPr>
            <a:r>
              <a:rPr sz="1500">
                <a:solidFill>
                  <a:srgbClr val="FFFFFF"/>
                </a:solidFill>
                <a:latin typeface="Microsoft YaHei"/>
              </a:rPr>
              <a:t>▪ K2  谁能进门：准入逐级收紧</a:t>
            </a:r>
          </a:p>
          <a:p>
            <a:pPr>
              <a:spcAft>
                <a:spcPts val="800"/>
              </a:spcAft>
            </a:pPr>
            <a:r>
              <a:rPr sz="1500">
                <a:solidFill>
                  <a:srgbClr val="FFFFFF"/>
                </a:solidFill>
                <a:latin typeface="Microsoft YaHei"/>
              </a:rPr>
              <a:t>▪ K3  个人防护逐级加码</a:t>
            </a:r>
          </a:p>
          <a:p>
            <a:pPr>
              <a:spcAft>
                <a:spcPts val="800"/>
              </a:spcAft>
            </a:pPr>
            <a:r>
              <a:rPr sz="1500">
                <a:solidFill>
                  <a:srgbClr val="FFFFFF"/>
                </a:solidFill>
                <a:latin typeface="Microsoft YaHei"/>
              </a:rPr>
              <a:t>▪ K4  安全设备与气溶胶控制逐级加严</a:t>
            </a:r>
          </a:p>
          <a:p>
            <a:pPr>
              <a:spcAft>
                <a:spcPts val="800"/>
              </a:spcAft>
            </a:pPr>
            <a:r>
              <a:rPr sz="1500">
                <a:solidFill>
                  <a:srgbClr val="FFFFFF"/>
                </a:solidFill>
                <a:latin typeface="Microsoft YaHei"/>
              </a:rPr>
              <a:t>▪ K5  实验室设施逐级递进</a:t>
            </a:r>
          </a:p>
          <a:p>
            <a:pPr>
              <a:spcAft>
                <a:spcPts val="800"/>
              </a:spcAft>
            </a:pPr>
            <a:r>
              <a:rPr sz="1500">
                <a:solidFill>
                  <a:srgbClr val="FFFFFF"/>
                </a:solidFill>
                <a:latin typeface="Microsoft YaHei"/>
              </a:rPr>
              <a:t>▪ K6  二级实验室的布局与两道屏障</a:t>
            </a:r>
          </a:p>
          <a:p>
            <a:pPr>
              <a:spcAft>
                <a:spcPts val="800"/>
              </a:spcAft>
            </a:pPr>
            <a:r>
              <a:rPr sz="1500">
                <a:solidFill>
                  <a:srgbClr val="FFFFFF"/>
                </a:solidFill>
                <a:latin typeface="Microsoft YaHei"/>
              </a:rPr>
              <a:t>▪ K7  良好微生物操作是基本功</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一级、二级实验室的日常规范</a:t>
            </a:r>
          </a:p>
          <a:p>
            <a:pPr>
              <a:spcAft>
                <a:spcPts val="800"/>
              </a:spcAft>
            </a:pPr>
            <a:r>
              <a:rPr sz="1500">
                <a:solidFill>
                  <a:srgbClr val="FFFFFF"/>
                </a:solidFill>
                <a:latin typeface="Microsoft YaHei"/>
              </a:rPr>
              <a:t>▪ K9  涂片和环境分离菌也要防</a:t>
            </a:r>
          </a:p>
          <a:p>
            <a:pPr>
              <a:spcAft>
                <a:spcPts val="800"/>
              </a:spcAft>
            </a:pPr>
            <a:r>
              <a:rPr sz="1500">
                <a:solidFill>
                  <a:srgbClr val="FFFFFF"/>
                </a:solidFill>
                <a:latin typeface="Microsoft YaHei"/>
              </a:rPr>
              <a:t>▪ K10  一级、二级的培训：基本功与规程</a:t>
            </a:r>
          </a:p>
          <a:p>
            <a:pPr>
              <a:spcAft>
                <a:spcPts val="800"/>
              </a:spcAft>
            </a:pPr>
            <a:r>
              <a:rPr sz="1500">
                <a:solidFill>
                  <a:srgbClr val="FFFFFF"/>
                </a:solidFill>
                <a:latin typeface="Microsoft YaHei"/>
              </a:rPr>
              <a:t>▪ K11  三级、四级的培训：专人长期强化</a:t>
            </a:r>
          </a:p>
          <a:p>
            <a:pPr>
              <a:spcAft>
                <a:spcPts val="800"/>
              </a:spcAft>
            </a:pPr>
            <a:r>
              <a:rPr sz="1500">
                <a:solidFill>
                  <a:srgbClr val="FFFFFF"/>
                </a:solidFill>
                <a:latin typeface="Microsoft YaHei"/>
              </a:rPr>
              <a:t>▪ K12  人人必备的六类培训</a:t>
            </a:r>
          </a:p>
          <a:p>
            <a:pPr>
              <a:spcAft>
                <a:spcPts val="800"/>
              </a:spcAft>
            </a:pPr>
            <a:r>
              <a:rPr sz="1500">
                <a:solidFill>
                  <a:srgbClr val="FFFFFF"/>
                </a:solidFill>
                <a:latin typeface="Microsoft YaHei"/>
              </a:rPr>
              <a:t>▪ K13  培训要记录、要动手、要带教</a:t>
            </a:r>
          </a:p>
          <a:p>
            <a:pPr>
              <a:spcAft>
                <a:spcPts val="800"/>
              </a:spcAft>
            </a:pPr>
            <a:r>
              <a:rPr sz="1500">
                <a:solidFill>
                  <a:srgbClr val="FFFFFF"/>
                </a:solidFill>
                <a:latin typeface="Microsoft YaHei"/>
              </a:rPr>
              <a:t>▪ K14  装备缺了坏了，不开工</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生物封闭原理：屏障与定向气流</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6.5 分钟（卡通视频 78 镜）　适用对象：进入生命科学、医学、农学、环境等涉及生物材料实验室的高校本科生、研究生和教职工（必修）；实验室负责人、生物安全员和设施管理人员重点学习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能说出一级防护（安全设备与个人防护，保护人员）和二级防护（设施与规程，保护环境）的含义和组成，知道两道屏障要一起用。</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能说出定向气流、负压与压力梯度、气锁（缓冲间）、持续换气和高效过滤的作用，以及屏障的局限和剩余风险。</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能做到进门前看压差表和飘带，进出随手关门、缓冲间两道门不同时开，不遮挡排风口和柜前格栅。</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能判断气流方向异常（飘带外飘、压差报警、停电）时的处置：停止工作、关门挂牌、报告负责人和设施人员、修复验证后再恢复。</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《中华人民共和国生物安全法》（以现行文本为准）：病原微生物实验室应当符合生物安全国家标准和要求</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《病原微生物实验室生物安全管理条例》（以现行文本为准）：实验室设施设备符合国家标准，三级、四级实验室须通过国家认可</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生物安全通用要求》：一级屏障与二级屏障、定向气流和压力梯度、缓冲间、排风高效过滤及其检测</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50346（以现行文本为准）《生物安全实验室建筑技术规范》：生物安全实验室的建筑、通风空调和过滤等工程技术要求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233（以现行文本为准）《病原微生物实验室生物安全通用准则》：各级病原微生物实验室的设施和设备要求</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号，以现行文本为准）：设施设备运行和隐患报告</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本校设施说明与应急预案：压差、气流方向和报警的具体要求以本校设施说明为准</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什么是封闭：把病原关在受控空间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封闭：把病原关在受控空间，挡住外泄</a:t>
            </a:r>
          </a:p>
          <a:p>
            <a:pPr>
              <a:spcAft>
                <a:spcPts val="1000"/>
              </a:spcAft>
            </a:pPr>
            <a:r>
              <a:rPr sz="1700">
                <a:solidFill>
                  <a:srgbClr val="222B33"/>
                </a:solidFill>
                <a:latin typeface="Microsoft YaHei"/>
              </a:rPr>
              <a:t>▪ 一旦外泄，伤到人员，也伤到公众</a:t>
            </a:r>
          </a:p>
          <a:p>
            <a:pPr>
              <a:spcAft>
                <a:spcPts val="1000"/>
              </a:spcAft>
            </a:pPr>
            <a:r>
              <a:rPr sz="1700">
                <a:solidFill>
                  <a:srgbClr val="222B33"/>
                </a:solidFill>
                <a:latin typeface="Microsoft YaHei"/>
              </a:rPr>
              <a:t>▪ 高级别实验室本身就是一个防护区</a:t>
            </a:r>
          </a:p>
          <a:p>
            <a:pPr>
              <a:spcAft>
                <a:spcPts val="1000"/>
              </a:spcAft>
            </a:pPr>
            <a:r>
              <a:rPr sz="1700">
                <a:solidFill>
                  <a:srgbClr val="222B33"/>
                </a:solidFill>
                <a:latin typeface="Microsoft YaHei"/>
              </a:rPr>
              <a:t>▪ 未经批准和培训，学生不能进</a:t>
            </a:r>
          </a:p>
          <a:p>
            <a:pPr>
              <a:spcAft>
                <a:spcPts val="1000"/>
              </a:spcAft>
            </a:pPr>
            <a:r>
              <a:rPr sz="1700">
                <a:solidFill>
                  <a:srgbClr val="222B33"/>
                </a:solidFill>
                <a:latin typeface="Microsoft YaHei"/>
              </a:rPr>
              <a:t>▪ 设施再好，也要人按规程用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封闭（防护）是生物安全的核心思路：把病原微生物关在受控的空间里，用设备、设施和管理等各种控制措施，挡住它外泄。病原一旦外泄，既会伤到实验室人员，也会危害公众和环境。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认为实验室“有负压”就万无一失，操作可以随意</a:t>
            </a:r>
          </a:p>
          <a:p>
            <a:pPr>
              <a:spcAft>
                <a:spcPts val="1000"/>
              </a:spcAft>
            </a:pPr>
            <a:r>
              <a:rPr sz="1500">
                <a:solidFill>
                  <a:srgbClr val="222B33"/>
                </a:solidFill>
                <a:latin typeface="Microsoft YaHei"/>
              </a:rPr>
              <a:t>▪ 未经批准跟随他人进入防护区</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一级防护：护住做实验的人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一级防护（一级屏障）保护操作人员</a:t>
            </a:r>
          </a:p>
          <a:p>
            <a:pPr>
              <a:spcAft>
                <a:spcPts val="1000"/>
              </a:spcAft>
            </a:pPr>
            <a:r>
              <a:rPr sz="2000">
                <a:solidFill>
                  <a:srgbClr val="222B33"/>
                </a:solidFill>
                <a:latin typeface="Microsoft YaHei"/>
              </a:rPr>
              <a:t>▪ 靠安全柜和个人防护装备</a:t>
            </a:r>
          </a:p>
          <a:p>
            <a:pPr>
              <a:spcAft>
                <a:spcPts val="1000"/>
              </a:spcAft>
            </a:pPr>
            <a:r>
              <a:rPr sz="2000">
                <a:solidFill>
                  <a:srgbClr val="222B33"/>
                </a:solidFill>
                <a:latin typeface="Microsoft YaHei"/>
              </a:rPr>
              <a:t>▪ 也靠规范操作和穿脱防护的规程</a:t>
            </a:r>
          </a:p>
          <a:p>
            <a:pPr>
              <a:spcAft>
                <a:spcPts val="1000"/>
              </a:spcAft>
            </a:pPr>
            <a:r>
              <a:rPr sz="2000">
                <a:solidFill>
                  <a:srgbClr val="222B33"/>
                </a:solidFill>
                <a:latin typeface="Microsoft YaHei"/>
              </a:rPr>
              <a:t>▪ 生物安全柜是一级防护的主力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分两道。一级防护（一级屏障）的作用是护住做实验的人，把操作者与病原隔开。它由安全设备和个人防护装备组成：生物安全柜、密封离心杯等安全设备，以及实验服、手套、口罩或呼吸器、护目镜等个人防护装备，再加上规范操作和穿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认为一级防护只是“穿防护服”，忽视安全柜和操作规程</a:t>
            </a:r>
          </a:p>
          <a:p>
            <a:pPr>
              <a:spcAft>
                <a:spcPts val="1000"/>
              </a:spcAft>
            </a:pPr>
            <a:r>
              <a:rPr sz="1500">
                <a:solidFill>
                  <a:srgbClr val="222B33"/>
                </a:solidFill>
                <a:latin typeface="Microsoft YaHei"/>
              </a:rPr>
              <a:t>▪ 在安全柜外开放操作可能产生气溶胶的材料</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二级防护：护住外面的环境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二级防护（二级屏障）保护外面的环境</a:t>
            </a:r>
          </a:p>
          <a:p>
            <a:pPr>
              <a:spcAft>
                <a:spcPts val="1000"/>
              </a:spcAft>
            </a:pPr>
            <a:r>
              <a:rPr sz="1700">
                <a:solidFill>
                  <a:srgbClr val="222B33"/>
                </a:solidFill>
                <a:latin typeface="Microsoft YaHei"/>
              </a:rPr>
              <a:t>▪ 靠工程控制：墙、门、通风、过滤</a:t>
            </a:r>
          </a:p>
          <a:p>
            <a:pPr>
              <a:spcAft>
                <a:spcPts val="1000"/>
              </a:spcAft>
            </a:pPr>
            <a:r>
              <a:rPr sz="1700">
                <a:solidFill>
                  <a:srgbClr val="222B33"/>
                </a:solidFill>
                <a:latin typeface="Microsoft YaHei"/>
              </a:rPr>
              <a:t>▪ 也靠废水去污、维护、运输和废物规程</a:t>
            </a:r>
          </a:p>
          <a:p>
            <a:pPr>
              <a:spcAft>
                <a:spcPts val="1000"/>
              </a:spcAft>
            </a:pPr>
            <a:r>
              <a:rPr sz="1700">
                <a:solidFill>
                  <a:srgbClr val="222B33"/>
                </a:solidFill>
                <a:latin typeface="Microsoft YaHei"/>
              </a:rPr>
              <a:t>▪ 植物设施靠结构挡住花粉和病原</a:t>
            </a:r>
          </a:p>
          <a:p>
            <a:pPr>
              <a:spcAft>
                <a:spcPts val="1000"/>
              </a:spcAft>
            </a:pPr>
            <a:r>
              <a:rPr sz="1700">
                <a:solidFill>
                  <a:srgbClr val="222B33"/>
                </a:solidFill>
                <a:latin typeface="Microsoft YaHei"/>
              </a:rPr>
              <a:t>▪ 工程控制建设维护成本较高</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二级防护（二级屏障）的作用是护住实验室外面的环境和公众，防止病原从实验室扩散出去。它主要靠实验室设施的工程控制：墙体、门、通风系统、高效过滤器和物理屏障，以及废水去污系统；同时也靠进出程序、去污、定期维护、物品运输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认为二级防护只是设施部门的事，与使用者无关</a:t>
            </a:r>
          </a:p>
          <a:p>
            <a:pPr>
              <a:spcAft>
                <a:spcPts val="1000"/>
              </a:spcAft>
            </a:pPr>
            <a:r>
              <a:rPr sz="1500">
                <a:solidFill>
                  <a:srgbClr val="222B33"/>
                </a:solidFill>
                <a:latin typeface="Microsoft YaHei"/>
              </a:rPr>
              <a:t>▪ 自行改动通风、排水等设施</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两道屏障一起守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一级护人，二级护环境</a:t>
            </a:r>
          </a:p>
          <a:p>
            <a:pPr>
              <a:spcAft>
                <a:spcPts val="1000"/>
              </a:spcAft>
            </a:pPr>
            <a:r>
              <a:rPr sz="2000">
                <a:solidFill>
                  <a:srgbClr val="222B33"/>
                </a:solidFill>
                <a:latin typeface="Microsoft YaHei"/>
              </a:rPr>
              <a:t>▪ 练习：护人的、护环境的分两盒</a:t>
            </a:r>
          </a:p>
          <a:p>
            <a:pPr>
              <a:spcAft>
                <a:spcPts val="1000"/>
              </a:spcAft>
            </a:pPr>
            <a:r>
              <a:rPr sz="2000">
                <a:solidFill>
                  <a:srgbClr val="222B33"/>
                </a:solidFill>
                <a:latin typeface="Microsoft YaHei"/>
              </a:rPr>
              <a:t>▪ 两层拼起来，就是一间生物安全实验室</a:t>
            </a:r>
          </a:p>
          <a:p>
            <a:pPr>
              <a:spcAft>
                <a:spcPts val="1000"/>
              </a:spcAft>
            </a:pPr>
            <a:r>
              <a:rPr sz="2000">
                <a:solidFill>
                  <a:srgbClr val="222B33"/>
                </a:solidFill>
                <a:latin typeface="Microsoft YaHei"/>
              </a:rPr>
              <a:t>▪ 两道一起用，缺一道风险就漏出去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记住一句话：一级防护保护人，二级防护保护环境；简单说，“柜护人，房护环境”。两道屏障要同时做到、一起使用，缺了任何一道，风险都会漏出去。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只重视个人防护，忽视关门、废物和废水处理</a:t>
            </a:r>
          </a:p>
          <a:p>
            <a:pPr>
              <a:spcAft>
                <a:spcPts val="1000"/>
              </a:spcAft>
            </a:pPr>
            <a:r>
              <a:rPr sz="1500">
                <a:solidFill>
                  <a:srgbClr val="222B33"/>
                </a:solidFill>
                <a:latin typeface="Microsoft YaHei"/>
              </a:rPr>
              <a:t>▪ 认为设施好就可以不穿戴个人防护</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定向气流：从清洁区流向污染区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封闭的核心是定向气流</a:t>
            </a:r>
          </a:p>
          <a:p>
            <a:pPr>
              <a:spcAft>
                <a:spcPts val="1000"/>
              </a:spcAft>
            </a:pPr>
            <a:r>
              <a:rPr sz="1700">
                <a:solidFill>
                  <a:srgbClr val="222B33"/>
                </a:solidFill>
                <a:latin typeface="Microsoft YaHei"/>
              </a:rPr>
              <a:t>▪ 空气从清洁区流向污染区，只进不出</a:t>
            </a:r>
          </a:p>
          <a:p>
            <a:pPr>
              <a:spcAft>
                <a:spcPts val="1000"/>
              </a:spcAft>
            </a:pPr>
            <a:r>
              <a:rPr sz="1700">
                <a:solidFill>
                  <a:srgbClr val="222B33"/>
                </a:solidFill>
                <a:latin typeface="Microsoft YaHei"/>
              </a:rPr>
              <a:t>▪ 普通房间开门往外，封闭实验室往里</a:t>
            </a:r>
          </a:p>
          <a:p>
            <a:pPr>
              <a:spcAft>
                <a:spcPts val="1000"/>
              </a:spcAft>
            </a:pPr>
            <a:r>
              <a:rPr sz="1700">
                <a:solidFill>
                  <a:srgbClr val="222B33"/>
                </a:solidFill>
                <a:latin typeface="Microsoft YaHei"/>
              </a:rPr>
              <a:t>▪ 定向气流让室内气溶胶跑不出来</a:t>
            </a:r>
          </a:p>
          <a:p>
            <a:pPr>
              <a:spcAft>
                <a:spcPts val="1000"/>
              </a:spcAft>
            </a:pPr>
            <a:r>
              <a:rPr sz="1700">
                <a:solidFill>
                  <a:srgbClr val="222B33"/>
                </a:solidFill>
                <a:latin typeface="Microsoft YaHei"/>
              </a:rPr>
              <a:t>▪ 进门前先看压差表和飘带</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防护实验室靠定向气流把病原关在封闭空间里，这是封闭最基本的思路。通过送风和排风的设计，让空气始终从清洁区流向污染区（实验区），再经高效过滤后排出；这样，室内可能产生的气溶胶就不会跑到走廊和外面。普通房间常常是开门时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进门从不看压差表和飘带</a:t>
            </a:r>
          </a:p>
          <a:p>
            <a:pPr>
              <a:spcAft>
                <a:spcPts val="1000"/>
              </a:spcAft>
            </a:pPr>
            <a:r>
              <a:rPr sz="1500">
                <a:solidFill>
                  <a:srgbClr val="222B33"/>
                </a:solidFill>
                <a:latin typeface="Microsoft YaHei"/>
              </a:rPr>
              <a:t>▪ 看到飘带外飘仍然进门</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风不能从病原吹向人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风从病原吹向人，不行</a:t>
            </a:r>
          </a:p>
          <a:p>
            <a:pPr>
              <a:spcAft>
                <a:spcPts val="1000"/>
              </a:spcAft>
            </a:pPr>
            <a:r>
              <a:rPr sz="2000">
                <a:solidFill>
                  <a:srgbClr val="222B33"/>
                </a:solidFill>
                <a:latin typeface="Microsoft YaHei"/>
              </a:rPr>
              <a:t>▪ 风从人身后来，经过病原再过滤排出</a:t>
            </a:r>
          </a:p>
          <a:p>
            <a:pPr>
              <a:spcAft>
                <a:spcPts val="1000"/>
              </a:spcAft>
            </a:pPr>
            <a:r>
              <a:rPr sz="2000">
                <a:solidFill>
                  <a:srgbClr val="222B33"/>
                </a:solidFill>
                <a:latin typeface="Microsoft YaHei"/>
              </a:rPr>
              <a:t>▪ 地上洒了，从清洁一侧处理，不踩进去</a:t>
            </a:r>
          </a:p>
          <a:p>
            <a:pPr>
              <a:spcAft>
                <a:spcPts val="1000"/>
              </a:spcAft>
            </a:pPr>
            <a:r>
              <a:rPr sz="2000">
                <a:solidFill>
                  <a:srgbClr val="222B33"/>
                </a:solidFill>
                <a:latin typeface="Microsoft YaHei"/>
              </a:rPr>
              <a:t>▪ 排风口和柜前格栅，别堆东西遮挡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气流的方向还要考虑人的位置：风从病原吹向人是不允许的；正确的是风从人身后来，经过操作的病原材料，从另一头经过滤排出。地面发生溅洒时，从清洁的一侧（上风侧）处理，不要踩进溅洒区（溢洒处置见第 078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在排风口前堆放纸箱</a:t>
            </a:r>
          </a:p>
          <a:p>
            <a:pPr>
              <a:spcAft>
                <a:spcPts val="1000"/>
              </a:spcAft>
            </a:pPr>
            <a:r>
              <a:rPr sz="1500">
                <a:solidFill>
                  <a:srgbClr val="222B33"/>
                </a:solidFill>
                <a:latin typeface="Microsoft YaHei"/>
              </a:rPr>
              <a:t>▪ 把记录本压在安全柜前格栅上</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负压与压力梯度：越往里压力越低</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封闭实验室气压比外面低，叫负压</a:t>
            </a:r>
          </a:p>
          <a:p>
            <a:pPr>
              <a:spcAft>
                <a:spcPts val="1000"/>
              </a:spcAft>
            </a:pPr>
            <a:r>
              <a:rPr sz="1700">
                <a:solidFill>
                  <a:srgbClr val="222B33"/>
                </a:solidFill>
                <a:latin typeface="Microsoft YaHei"/>
              </a:rPr>
              <a:t>▪ 负压让含病原的气溶胶跑不出去</a:t>
            </a:r>
          </a:p>
          <a:p>
            <a:pPr>
              <a:spcAft>
                <a:spcPts val="1000"/>
              </a:spcAft>
            </a:pPr>
            <a:r>
              <a:rPr sz="1700">
                <a:solidFill>
                  <a:srgbClr val="222B33"/>
                </a:solidFill>
                <a:latin typeface="Microsoft YaHei"/>
              </a:rPr>
              <a:t>▪ 从入口往里，压力一级比一级低</a:t>
            </a:r>
          </a:p>
          <a:p>
            <a:pPr>
              <a:spcAft>
                <a:spcPts val="1000"/>
              </a:spcAft>
            </a:pPr>
            <a:r>
              <a:rPr sz="1700">
                <a:solidFill>
                  <a:srgbClr val="222B33"/>
                </a:solidFill>
                <a:latin typeface="Microsoft YaHei"/>
              </a:rPr>
              <a:t>▪ 涉病原的操作都在负压间里做</a:t>
            </a:r>
          </a:p>
          <a:p>
            <a:pPr>
              <a:spcAft>
                <a:spcPts val="1000"/>
              </a:spcAft>
            </a:pPr>
            <a:r>
              <a:rPr sz="1700">
                <a:solidFill>
                  <a:srgbClr val="222B33"/>
                </a:solidFill>
                <a:latin typeface="Microsoft YaHei"/>
              </a:rPr>
              <a:t>▪ 具体数值以标准和本校说明为准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封闭实验室里的气压比外面低，叫负压；负压保证空气只往里流，含病原的气溶胶跑不出去。从入口一路往里，各房间的压力一级比一级低（负压一级比一级大），形成压力梯度，病原被限制在最里面；涉及病原的操作都在最里面的负压间里进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把“越往里负压越大”理解成“越往里气压越高”</a:t>
            </a:r>
          </a:p>
          <a:p>
            <a:pPr>
              <a:spcAft>
                <a:spcPts val="1000"/>
              </a:spcAft>
            </a:pPr>
            <a:r>
              <a:rPr sz="1500">
                <a:solidFill>
                  <a:srgbClr val="222B33"/>
                </a:solidFill>
                <a:latin typeface="Microsoft YaHei"/>
              </a:rPr>
              <a:t>▪ 自行调节房间的压差或风量</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气锁与缓冲间：两道门不同时开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外界和防护区之间的一小段叫气锁或缓冲间</a:t>
            </a:r>
          </a:p>
          <a:p>
            <a:pPr>
              <a:spcAft>
                <a:spcPts val="1000"/>
              </a:spcAft>
            </a:pPr>
            <a:r>
              <a:rPr sz="1700">
                <a:solidFill>
                  <a:srgbClr val="222B33"/>
                </a:solidFill>
                <a:latin typeface="Microsoft YaHei"/>
              </a:rPr>
              <a:t>▪ 靠压力差把两边的空气隔开</a:t>
            </a:r>
          </a:p>
          <a:p>
            <a:pPr>
              <a:spcAft>
                <a:spcPts val="1000"/>
              </a:spcAft>
            </a:pPr>
            <a:r>
              <a:rPr sz="1700">
                <a:solidFill>
                  <a:srgbClr val="222B33"/>
                </a:solidFill>
                <a:latin typeface="Microsoft YaHei"/>
              </a:rPr>
              <a:t>▪ 像风幕的比喻，真正靠的是压力差</a:t>
            </a:r>
          </a:p>
          <a:p>
            <a:pPr>
              <a:spcAft>
                <a:spcPts val="1000"/>
              </a:spcAft>
            </a:pPr>
            <a:r>
              <a:rPr sz="1700">
                <a:solidFill>
                  <a:srgbClr val="222B33"/>
                </a:solidFill>
                <a:latin typeface="Microsoft YaHei"/>
              </a:rPr>
              <a:t>▪ 两道门不同时开，进出随手关</a:t>
            </a:r>
          </a:p>
          <a:p>
            <a:pPr>
              <a:spcAft>
                <a:spcPts val="1000"/>
              </a:spcAft>
            </a:pPr>
            <a:r>
              <a:rPr sz="1700">
                <a:solidFill>
                  <a:srgbClr val="222B33"/>
                </a:solidFill>
                <a:latin typeface="Microsoft YaHei"/>
              </a:rPr>
              <a:t>▪ 指示灯没变绿就等一等，门不能撑开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外部环境和防护区之间的一小段空间叫气锁（缓冲间）：一侧通向外部，一侧就是防护区。气锁靠压力差把两边的空气隔开：有的设施把缓冲间的压力设在两侧之间，让空气逐级向内流；有的把气锁设计成高于两侧的正压，两边的空气都进不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缓冲间两道门同时打开</a:t>
            </a:r>
          </a:p>
          <a:p>
            <a:pPr>
              <a:spcAft>
                <a:spcPts val="1000"/>
              </a:spcAft>
            </a:pPr>
            <a:r>
              <a:rPr sz="1500">
                <a:solidFill>
                  <a:srgbClr val="222B33"/>
                </a:solidFill>
                <a:latin typeface="Microsoft YaHei"/>
              </a:rPr>
              <a:t>▪ 门互锁未解除时强行拉门</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持续换气，把气溶胶带走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移液、离心等操作都会产生气溶胶</a:t>
            </a:r>
          </a:p>
          <a:p>
            <a:pPr>
              <a:spcAft>
                <a:spcPts val="1000"/>
              </a:spcAft>
            </a:pPr>
            <a:r>
              <a:rPr sz="2000">
                <a:solidFill>
                  <a:srgbClr val="222B33"/>
                </a:solidFill>
                <a:latin typeface="Microsoft YaHei"/>
              </a:rPr>
              <a:t>▪ 持续换气像漂洗衣服，把气溶胶带走</a:t>
            </a:r>
          </a:p>
          <a:p>
            <a:pPr>
              <a:spcAft>
                <a:spcPts val="1000"/>
              </a:spcAft>
            </a:pPr>
            <a:r>
              <a:rPr sz="2000">
                <a:solidFill>
                  <a:srgbClr val="222B33"/>
                </a:solidFill>
                <a:latin typeface="Microsoft YaHei"/>
              </a:rPr>
              <a:t>▪ 进风过滤进来，带走污染再过滤排出</a:t>
            </a:r>
          </a:p>
          <a:p>
            <a:pPr>
              <a:spcAft>
                <a:spcPts val="1000"/>
              </a:spcAft>
            </a:pPr>
            <a:r>
              <a:rPr sz="2000">
                <a:solidFill>
                  <a:srgbClr val="222B33"/>
                </a:solidFill>
                <a:latin typeface="Microsoft YaHei"/>
              </a:rPr>
              <a:t>▪ 这样外面的社区就安全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移液、离心、混匀等操作都会产生气溶胶。个人防护装备能护住人，但室内的气溶胶需要靠持续换气来稀释和带走，就像漂洗衣服一样，一遍遍把污染带走。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认为有换气就可以在开放台面产生大量气溶胶</a:t>
            </a:r>
          </a:p>
          <a:p>
            <a:pPr>
              <a:spcAft>
                <a:spcPts val="1000"/>
              </a:spcAft>
            </a:pPr>
            <a:r>
              <a:rPr sz="1500">
                <a:solidFill>
                  <a:srgbClr val="222B33"/>
                </a:solidFill>
                <a:latin typeface="Microsoft YaHei"/>
              </a:rPr>
              <a:t>▪ 为了“安静”“保暖”私自关闭或调小通风</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高效过滤：截住病原再排出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排出去的空气必须先过高效过滤器</a:t>
            </a:r>
          </a:p>
          <a:p>
            <a:pPr>
              <a:spcAft>
                <a:spcPts val="1000"/>
              </a:spcAft>
            </a:pPr>
            <a:r>
              <a:rPr sz="1700">
                <a:solidFill>
                  <a:srgbClr val="222B33"/>
                </a:solidFill>
                <a:latin typeface="Microsoft YaHei"/>
              </a:rPr>
              <a:t>▪ 层层纤维截住颗粒和病原，小颗粒也能抓住</a:t>
            </a:r>
          </a:p>
          <a:p>
            <a:pPr>
              <a:spcAft>
                <a:spcPts val="1000"/>
              </a:spcAft>
            </a:pPr>
            <a:r>
              <a:rPr sz="1700">
                <a:solidFill>
                  <a:srgbClr val="222B33"/>
                </a:solidFill>
                <a:latin typeface="Microsoft YaHei"/>
              </a:rPr>
              <a:t>▪ 气流导向顶部过滤口排出，属于工程控制</a:t>
            </a:r>
          </a:p>
          <a:p>
            <a:pPr>
              <a:spcAft>
                <a:spcPts val="1000"/>
              </a:spcAft>
            </a:pPr>
            <a:r>
              <a:rPr sz="1700">
                <a:solidFill>
                  <a:srgbClr val="222B33"/>
                </a:solidFill>
                <a:latin typeface="Microsoft YaHei"/>
              </a:rPr>
              <a:t>▪ 过滤器靠密封装好，不能漏风</a:t>
            </a:r>
          </a:p>
          <a:p>
            <a:pPr>
              <a:spcAft>
                <a:spcPts val="1000"/>
              </a:spcAft>
            </a:pPr>
            <a:r>
              <a:rPr sz="1700">
                <a:solidFill>
                  <a:srgbClr val="222B33"/>
                </a:solidFill>
                <a:latin typeface="Microsoft YaHei"/>
              </a:rPr>
              <a:t>▪ 专人袋进袋出更换，去污废弃，按期检测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封闭实验室要排出去的空气，必须先经过高效空气过滤器（HEPA）。过滤器里是层层纤维，颗粒和病原被纤维截住；更小的颗粒做无规则运动，也会撞上纤维被抓住，只有干净的空气才能出去。很多设施把房间气流引向天花板或高处的过滤排……</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认为过滤器“装上就永远有效”</a:t>
            </a:r>
          </a:p>
          <a:p>
            <a:pPr>
              <a:spcAft>
                <a:spcPts val="1000"/>
              </a:spcAft>
            </a:pPr>
            <a:r>
              <a:rPr sz="1500">
                <a:solidFill>
                  <a:srgbClr val="222B33"/>
                </a:solidFill>
                <a:latin typeface="Microsoft YaHei"/>
              </a:rPr>
              <a:t>▪ 非专业人员自行拆卸过滤器</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屏障有局限，总有剩余风险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高效过滤很高效，但不是百分百</a:t>
            </a:r>
          </a:p>
          <a:p>
            <a:pPr>
              <a:spcAft>
                <a:spcPts val="1000"/>
              </a:spcAft>
            </a:pPr>
            <a:r>
              <a:rPr sz="1700">
                <a:solidFill>
                  <a:srgbClr val="222B33"/>
                </a:solidFill>
                <a:latin typeface="Microsoft YaHei"/>
              </a:rPr>
              <a:t>▪ 要定期检测，确认没有泄漏</a:t>
            </a:r>
          </a:p>
          <a:p>
            <a:pPr>
              <a:spcAft>
                <a:spcPts val="1000"/>
              </a:spcAft>
            </a:pPr>
            <a:r>
              <a:rPr sz="1700">
                <a:solidFill>
                  <a:srgbClr val="222B33"/>
                </a:solidFill>
                <a:latin typeface="Microsoft YaHei"/>
              </a:rPr>
              <a:t>▪ 源头少产气溶胶，安全柜在前，房间兜底</a:t>
            </a:r>
          </a:p>
          <a:p>
            <a:pPr>
              <a:spcAft>
                <a:spcPts val="1000"/>
              </a:spcAft>
            </a:pPr>
            <a:r>
              <a:rPr sz="1700">
                <a:solidFill>
                  <a:srgbClr val="222B33"/>
                </a:solidFill>
                <a:latin typeface="Microsoft YaHei"/>
              </a:rPr>
              <a:t>▪ 屏障再多，也总有剩余风险</a:t>
            </a:r>
          </a:p>
          <a:p>
            <a:pPr>
              <a:spcAft>
                <a:spcPts val="1000"/>
              </a:spcAft>
            </a:pPr>
            <a:r>
              <a:rPr sz="1700">
                <a:solidFill>
                  <a:srgbClr val="222B33"/>
                </a:solidFill>
                <a:latin typeface="Microsoft YaHei"/>
              </a:rPr>
              <a:t>▪ 设施、气流、柜子、灭菌器要一起用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每一道防护屏障都有局限，不能全靠它。高效过滤器效率很高，但不是百分之百，安装或老化可能造成泄漏，所以要定期检测；更重要的是从源头少产生气溶胶——安全柜在前面拦截，房间气流作为兜底。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认为有高效过滤就可以随意产生气溶胶</a:t>
            </a:r>
          </a:p>
          <a:p>
            <a:pPr>
              <a:spcAft>
                <a:spcPts val="1000"/>
              </a:spcAft>
            </a:pPr>
            <a:r>
              <a:rPr sz="1500">
                <a:solidFill>
                  <a:srgbClr val="222B33"/>
                </a:solidFill>
                <a:latin typeface="Microsoft YaHei"/>
              </a:rPr>
              <a:t>▪ 认为措施足够多就“零风险”</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飘带外飘：不进入，关门挂牌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飘带外飘：空气正往外流，屏障失效</a:t>
            </a:r>
          </a:p>
          <a:p>
            <a:pPr>
              <a:spcAft>
                <a:spcPts val="1000"/>
              </a:spcAft>
            </a:pPr>
            <a:r>
              <a:rPr sz="2000">
                <a:solidFill>
                  <a:srgbClr val="222B33"/>
                </a:solidFill>
                <a:latin typeface="Microsoft YaHei"/>
              </a:rPr>
              <a:t>▪ 不进入，不开展任何实验，关好门</a:t>
            </a:r>
          </a:p>
          <a:p>
            <a:pPr>
              <a:spcAft>
                <a:spcPts val="1000"/>
              </a:spcAft>
            </a:pPr>
            <a:r>
              <a:rPr sz="2000">
                <a:solidFill>
                  <a:srgbClr val="222B33"/>
                </a:solidFill>
                <a:latin typeface="Microsoft YaHei"/>
              </a:rPr>
              <a:t>▪ 门口挂牌，提醒别人也别进</a:t>
            </a:r>
          </a:p>
          <a:p>
            <a:pPr>
              <a:spcAft>
                <a:spcPts val="1000"/>
              </a:spcAft>
            </a:pPr>
            <a:r>
              <a:rPr sz="2000">
                <a:solidFill>
                  <a:srgbClr val="222B33"/>
                </a:solidFill>
                <a:latin typeface="Microsoft YaHei"/>
              </a:rPr>
              <a:t>▪ 已在里面，收好材料，撤出关门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正常情况下，气流应该流进实验室。如果一开门，门口的飘带却朝走廊外面飘，说明空气正从实验室往外流，定向气流这道屏障失效了。这时不能“先进去干活再说”。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看到飘带外飘，觉得“一会儿就好”，照常进门</a:t>
            </a:r>
          </a:p>
          <a:p>
            <a:pPr>
              <a:spcAft>
                <a:spcPts val="1000"/>
              </a:spcAft>
            </a:pPr>
            <a:r>
              <a:rPr sz="1500">
                <a:solidFill>
                  <a:srgbClr val="222B33"/>
                </a:solidFill>
                <a:latin typeface="Microsoft YaHei"/>
              </a:rPr>
              <a:t>▪ 发现异常不挂牌，其他人不知情进入</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报告，修好验证再恢复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马上报告实验室负责人，通知设施人员</a:t>
            </a:r>
          </a:p>
          <a:p>
            <a:pPr>
              <a:spcAft>
                <a:spcPts val="1000"/>
              </a:spcAft>
            </a:pPr>
            <a:r>
              <a:rPr sz="2000">
                <a:solidFill>
                  <a:srgbClr val="222B33"/>
                </a:solidFill>
                <a:latin typeface="Microsoft YaHei"/>
              </a:rPr>
              <a:t>▪ 说清发现的时间、现象和位置</a:t>
            </a:r>
          </a:p>
          <a:p>
            <a:pPr>
              <a:spcAft>
                <a:spcPts val="1000"/>
              </a:spcAft>
            </a:pPr>
            <a:r>
              <a:rPr sz="2000">
                <a:solidFill>
                  <a:srgbClr val="222B33"/>
                </a:solidFill>
                <a:latin typeface="Microsoft YaHei"/>
              </a:rPr>
              <a:t>▪ 修好后先确认气流恢复向内</a:t>
            </a:r>
          </a:p>
          <a:p>
            <a:pPr>
              <a:spcAft>
                <a:spcPts val="1000"/>
              </a:spcAft>
            </a:pPr>
            <a:r>
              <a:rPr sz="2000">
                <a:solidFill>
                  <a:srgbClr val="222B33"/>
                </a:solidFill>
                <a:latin typeface="Microsoft YaHei"/>
              </a:rPr>
              <a:t>▪ 负责人确认后才恢复实验；以后进门先看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发现气流异常后，马上报告实验室负责人，并通知设施人员检查通风系统；报告时说清发现的时间、现象（飘带方向、压差读数或报警）和位置。按本校规定，必要时报告学院和学校实验室管理部门。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自己“拍一拍”通风设备觉得好了就开始实验</a:t>
            </a:r>
          </a:p>
          <a:p>
            <a:pPr>
              <a:spcAft>
                <a:spcPts val="1000"/>
              </a:spcAft>
            </a:pPr>
            <a:r>
              <a:rPr sz="1500">
                <a:solidFill>
                  <a:srgbClr val="222B33"/>
                </a:solidFill>
                <a:latin typeface="Microsoft YaHei"/>
              </a:rPr>
              <a:t>▪ 只告诉同学，不报告负责人</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工作中通风报警或停电</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做实验时报警或停电，先停手</a:t>
            </a:r>
          </a:p>
          <a:p>
            <a:pPr>
              <a:spcAft>
                <a:spcPts val="1000"/>
              </a:spcAft>
            </a:pPr>
            <a:r>
              <a:rPr sz="2000">
                <a:solidFill>
                  <a:srgbClr val="222B33"/>
                </a:solidFill>
                <a:latin typeface="Microsoft YaHei"/>
              </a:rPr>
              <a:t>▪ 把容器盖好封好</a:t>
            </a:r>
          </a:p>
          <a:p>
            <a:pPr>
              <a:spcAft>
                <a:spcPts val="1000"/>
              </a:spcAft>
            </a:pPr>
            <a:r>
              <a:rPr sz="2000">
                <a:solidFill>
                  <a:srgbClr val="222B33"/>
                </a:solidFill>
                <a:latin typeface="Microsoft YaHei"/>
              </a:rPr>
              <a:t>▪ 按程序脱防护，撤出实验室</a:t>
            </a:r>
          </a:p>
          <a:p>
            <a:pPr>
              <a:spcAft>
                <a:spcPts val="1000"/>
              </a:spcAft>
            </a:pPr>
            <a:r>
              <a:rPr sz="2000">
                <a:solidFill>
                  <a:srgbClr val="222B33"/>
                </a:solidFill>
                <a:latin typeface="Microsoft YaHei"/>
              </a:rPr>
              <a:t>▪ 按预案报告负责人，恢复后再进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正在做实验时，如果通风系统报警、压差异常或停电，先停下操作，把容器盖好、样本封好，安全柜内的材料按规定收好；然后按程序脱卸个人防护装备，撤出实验室，关好门。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停电时继续在安全柜内操作</a:t>
            </a:r>
          </a:p>
          <a:p>
            <a:pPr>
              <a:spcAft>
                <a:spcPts val="1000"/>
              </a:spcAft>
            </a:pPr>
            <a:r>
              <a:rPr sz="1500">
                <a:solidFill>
                  <a:srgbClr val="222B33"/>
                </a:solidFill>
                <a:latin typeface="Microsoft YaHei"/>
              </a:rPr>
              <a:t>▪ 慌忙撤出，不脱防护直接离开</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关于一级防护和二级防护，正确的是：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一级防护保护环境，二级防护保护人</a:t>
            </a:r>
          </a:p>
          <a:p>
            <a:pPr algn="l"/>
            <a:r>
              <a:rPr sz="1500" b="0">
                <a:solidFill>
                  <a:srgbClr val="222B33"/>
                </a:solidFill>
                <a:latin typeface="Microsoft YaHei"/>
              </a:rPr>
              <a:t>B. 一级防护靠安全柜和个人防护保护人，二级防护靠设施和规程保护环境</a:t>
            </a:r>
          </a:p>
          <a:p>
            <a:pPr algn="l"/>
            <a:r>
              <a:rPr sz="1500" b="0">
                <a:solidFill>
                  <a:srgbClr val="222B33"/>
                </a:solidFill>
                <a:latin typeface="Microsoft YaHei"/>
              </a:rPr>
              <a:t>C. 有了二级防护就不需要一级防护</a:t>
            </a:r>
          </a:p>
          <a:p>
            <a:pPr algn="l"/>
            <a:r>
              <a:rPr sz="1500" b="0">
                <a:solidFill>
                  <a:srgbClr val="222B33"/>
                </a:solidFill>
                <a:latin typeface="Microsoft YaHei"/>
              </a:rPr>
              <a:t>D. 两者只在四级实验室才有</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判断：封闭实验室的定向气流应从清洁区流向污染区，越往里压力越低。</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有缓冲间的实验室，正确的做法是：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两道门同时打开方便搬东西</a:t>
            </a:r>
          </a:p>
          <a:p>
            <a:pPr algn="l"/>
            <a:r>
              <a:rPr sz="1500" b="0">
                <a:solidFill>
                  <a:srgbClr val="222B33"/>
                </a:solidFill>
                <a:latin typeface="Microsoft YaHei"/>
              </a:rPr>
              <a:t>B. 用箱子把门撑开</a:t>
            </a:r>
          </a:p>
          <a:p>
            <a:pPr algn="l"/>
            <a:r>
              <a:rPr sz="1500" b="0">
                <a:solidFill>
                  <a:srgbClr val="222B33"/>
                </a:solidFill>
                <a:latin typeface="Microsoft YaHei"/>
              </a:rPr>
              <a:t>C. 两道门不同时开，指示灯没变绿就等一等</a:t>
            </a:r>
          </a:p>
          <a:p>
            <a:pPr algn="l"/>
            <a:r>
              <a:rPr sz="1500" b="0">
                <a:solidFill>
                  <a:srgbClr val="222B33"/>
                </a:solidFill>
                <a:latin typeface="Microsoft YaHei"/>
              </a:rPr>
              <a:t>D. 互锁没解除就用力拉门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判断：高效过滤器能截住全部病原，装上后不需要检测和更换。</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062 · 生物封闭原理：屏障与定向气流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062 生物封闭原理：屏障与定向气流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清晨开门，阿杰发现门口飘带朝走廊外飘，应该：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先进去干活</a:t>
            </a:r>
          </a:p>
          <a:p>
            <a:pPr algn="l"/>
            <a:r>
              <a:rPr sz="1500" b="0">
                <a:solidFill>
                  <a:srgbClr val="222B33"/>
                </a:solidFill>
                <a:latin typeface="Microsoft YaHei"/>
              </a:rPr>
              <a:t>B. 不进入、关门挂牌，报告负责人和设施人员，修好验证后再恢复</a:t>
            </a:r>
          </a:p>
          <a:p>
            <a:pPr algn="l"/>
            <a:r>
              <a:rPr sz="1500" b="0">
                <a:solidFill>
                  <a:srgbClr val="222B33"/>
                </a:solidFill>
                <a:latin typeface="Microsoft YaHei"/>
              </a:rPr>
              <a:t>C. 开窗通风</a:t>
            </a:r>
          </a:p>
          <a:p>
            <a:pPr algn="l"/>
            <a:r>
              <a:rPr sz="1500" b="0">
                <a:solidFill>
                  <a:srgbClr val="222B33"/>
                </a:solidFill>
                <a:latin typeface="Microsoft YaHei"/>
              </a:rPr>
              <a:t>D. 自己调大排风</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简答：做实验时通风系统报警或停电，应该怎么做？</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什么是封闭：把病原关在受控空间</a:t>
            </a:r>
          </a:p>
          <a:p>
            <a:pPr>
              <a:spcAft>
                <a:spcPts val="800"/>
              </a:spcAft>
            </a:pPr>
            <a:r>
              <a:rPr sz="1500">
                <a:solidFill>
                  <a:srgbClr val="FFFFFF"/>
                </a:solidFill>
                <a:latin typeface="Microsoft YaHei"/>
              </a:rPr>
              <a:t>▪ K2  一级防护：护住做实验的人</a:t>
            </a:r>
          </a:p>
          <a:p>
            <a:pPr>
              <a:spcAft>
                <a:spcPts val="800"/>
              </a:spcAft>
            </a:pPr>
            <a:r>
              <a:rPr sz="1500">
                <a:solidFill>
                  <a:srgbClr val="FFFFFF"/>
                </a:solidFill>
                <a:latin typeface="Microsoft YaHei"/>
              </a:rPr>
              <a:t>▪ K3  二级防护：护住外面的环境</a:t>
            </a:r>
          </a:p>
          <a:p>
            <a:pPr>
              <a:spcAft>
                <a:spcPts val="800"/>
              </a:spcAft>
            </a:pPr>
            <a:r>
              <a:rPr sz="1500">
                <a:solidFill>
                  <a:srgbClr val="FFFFFF"/>
                </a:solidFill>
                <a:latin typeface="Microsoft YaHei"/>
              </a:rPr>
              <a:t>▪ K4  两道屏障一起守</a:t>
            </a:r>
          </a:p>
          <a:p>
            <a:pPr>
              <a:spcAft>
                <a:spcPts val="800"/>
              </a:spcAft>
            </a:pPr>
            <a:r>
              <a:rPr sz="1500">
                <a:solidFill>
                  <a:srgbClr val="FFFFFF"/>
                </a:solidFill>
                <a:latin typeface="Microsoft YaHei"/>
              </a:rPr>
              <a:t>▪ K5  定向气流：从清洁区流向污染区</a:t>
            </a:r>
          </a:p>
          <a:p>
            <a:pPr>
              <a:spcAft>
                <a:spcPts val="800"/>
              </a:spcAft>
            </a:pPr>
            <a:r>
              <a:rPr sz="1500">
                <a:solidFill>
                  <a:srgbClr val="FFFFFF"/>
                </a:solidFill>
                <a:latin typeface="Microsoft YaHei"/>
              </a:rPr>
              <a:t>▪ K6  风不能从病原吹向人</a:t>
            </a:r>
          </a:p>
          <a:p>
            <a:pPr>
              <a:spcAft>
                <a:spcPts val="800"/>
              </a:spcAft>
            </a:pPr>
            <a:r>
              <a:rPr sz="1500">
                <a:solidFill>
                  <a:srgbClr val="FFFFFF"/>
                </a:solidFill>
                <a:latin typeface="Microsoft YaHei"/>
              </a:rPr>
              <a:t>▪ K7  负压与压力梯度：越往里压力越低</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气锁与缓冲间：两道门不同时开</a:t>
            </a:r>
          </a:p>
          <a:p>
            <a:pPr>
              <a:spcAft>
                <a:spcPts val="800"/>
              </a:spcAft>
            </a:pPr>
            <a:r>
              <a:rPr sz="1500">
                <a:solidFill>
                  <a:srgbClr val="FFFFFF"/>
                </a:solidFill>
                <a:latin typeface="Microsoft YaHei"/>
              </a:rPr>
              <a:t>▪ K9  持续换气，把气溶胶带走</a:t>
            </a:r>
          </a:p>
          <a:p>
            <a:pPr>
              <a:spcAft>
                <a:spcPts val="800"/>
              </a:spcAft>
            </a:pPr>
            <a:r>
              <a:rPr sz="1500">
                <a:solidFill>
                  <a:srgbClr val="FFFFFF"/>
                </a:solidFill>
                <a:latin typeface="Microsoft YaHei"/>
              </a:rPr>
              <a:t>▪ K10  高效过滤：截住病原再排出</a:t>
            </a:r>
          </a:p>
          <a:p>
            <a:pPr>
              <a:spcAft>
                <a:spcPts val="800"/>
              </a:spcAft>
            </a:pPr>
            <a:r>
              <a:rPr sz="1500">
                <a:solidFill>
                  <a:srgbClr val="FFFFFF"/>
                </a:solidFill>
                <a:latin typeface="Microsoft YaHei"/>
              </a:rPr>
              <a:t>▪ K11  屏障有局限，总有剩余风险</a:t>
            </a:r>
          </a:p>
          <a:p>
            <a:pPr>
              <a:spcAft>
                <a:spcPts val="800"/>
              </a:spcAft>
            </a:pPr>
            <a:r>
              <a:rPr sz="1500">
                <a:solidFill>
                  <a:srgbClr val="FFFFFF"/>
                </a:solidFill>
                <a:latin typeface="Microsoft YaHei"/>
              </a:rPr>
              <a:t>▪ K12  飘带外飘：不进入，关门挂牌</a:t>
            </a:r>
          </a:p>
          <a:p>
            <a:pPr>
              <a:spcAft>
                <a:spcPts val="800"/>
              </a:spcAft>
            </a:pPr>
            <a:r>
              <a:rPr sz="1500">
                <a:solidFill>
                  <a:srgbClr val="FFFFFF"/>
                </a:solidFill>
                <a:latin typeface="Microsoft YaHei"/>
              </a:rPr>
              <a:t>▪ K13  报告，修好验证再恢复</a:t>
            </a:r>
          </a:p>
          <a:p>
            <a:pPr>
              <a:spcAft>
                <a:spcPts val="800"/>
              </a:spcAft>
            </a:pPr>
            <a:r>
              <a:rPr sz="1500">
                <a:solidFill>
                  <a:srgbClr val="FFFFFF"/>
                </a:solidFill>
                <a:latin typeface="Microsoft YaHei"/>
              </a:rPr>
              <a:t>▪ K14  工作中通风报警或停电</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三级生物安全实验室的布局与进出</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70 镜）　适用对象：进入生命科学、医学、农学、环境等涉及生物材料实验室的高校本科生、研究生和教职工（必修）；拟进入三级实验室工作的人员、实验室负责人和生物安全员重点学习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能说出三级生物安全实验室的用途和功能分区（辅助工作区与防护区、清洁区与污染区），知道国内病原分类与国际风险组方向相反、实验室级别国内外同向。</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能做到进门前看懂门口标识和压差面板，异常不进、及时报告；一人一卡、不尾随，非授权不进入。</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能说出单向进出路线（更衣—气锁—实验室；脱防护—淋浴—换回便服）和人流物流分开（传递窗、穿墙灭菌器）的规矩。</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能说出三级、四级设施的主要要素，以及监控、门禁和安保的作用，布局和门禁信息不外传。</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《中华人民共和国生物安全法》（以现行文本为准）：高等级病原微生物实验室的设立、安全保卫和管理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《病原微生物实验室生物安全管理条例》（以现行文本为准）：三级、四级实验室须通过国家认可，高致病性病原微生物实验活动须经批准，实验室安保要求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生物安全通用要求》：三级、四级实验室的平面布局（辅助工作区、防护区）、缓冲间、压力梯度、人员和物品进出、标识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50346（以现行文本为准）《生物安全实验室建筑技术规范》：生物安全实验室的平面布局、围护结构、通风空调和配套设施</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233（以现行文本为准）《病原微生物实验室生物安全通用准则》：病原微生物实验室的设施和进出要求</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2894-2025（以现行文本为准）《安全色和安全标志》：禁止标志和警告标志</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本校三级实验室管理制度与设施说明：准入授权、进出程序、压差范围和应急预案，以本校规定为准</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三级实验室做什么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三级实验室用来关住高风险病原</a:t>
            </a:r>
          </a:p>
          <a:p>
            <a:pPr>
              <a:spcAft>
                <a:spcPts val="1000"/>
              </a:spcAft>
            </a:pPr>
            <a:r>
              <a:rPr sz="1700">
                <a:solidFill>
                  <a:srgbClr val="222B33"/>
                </a:solidFill>
                <a:latin typeface="Microsoft YaHei"/>
              </a:rPr>
              <a:t>▪ 国际风险组4组最高，国内第一类最高</a:t>
            </a:r>
          </a:p>
          <a:p>
            <a:pPr>
              <a:spcAft>
                <a:spcPts val="1000"/>
              </a:spcAft>
            </a:pPr>
            <a:r>
              <a:rPr sz="1700">
                <a:solidFill>
                  <a:srgbClr val="222B33"/>
                </a:solidFill>
                <a:latin typeface="Microsoft YaHei"/>
              </a:rPr>
              <a:t>▪ 实验室级别国内外同向，四级最高</a:t>
            </a:r>
          </a:p>
          <a:p>
            <a:pPr>
              <a:spcAft>
                <a:spcPts val="1000"/>
              </a:spcAft>
            </a:pPr>
            <a:r>
              <a:rPr sz="1700">
                <a:solidFill>
                  <a:srgbClr val="222B33"/>
                </a:solidFill>
                <a:latin typeface="Microsoft YaHei"/>
              </a:rPr>
              <a:t>▪ 涉病原工作只在最里间，各自关住</a:t>
            </a:r>
          </a:p>
          <a:p>
            <a:pPr>
              <a:spcAft>
                <a:spcPts val="1000"/>
              </a:spcAft>
            </a:pPr>
            <a:r>
              <a:rPr sz="1700">
                <a:solidFill>
                  <a:srgbClr val="222B33"/>
                </a:solidFill>
                <a:latin typeface="Microsoft YaHei"/>
              </a:rPr>
              <a:t>▪ 须国家认可，学生须专门授权才可进入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三级生物安全实验室（BSL-3）用来关住病原，开展较高风险病原的诊断和实验。要注意两套编号的方向：病原分类国际风险组 4 组最高，国内第一类最危险，方向相反（见第 058 课）；实验室级别则国内外同向，一级最低、四级……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认为“三级”对应国内“第三类”病原</a:t>
            </a:r>
          </a:p>
          <a:p>
            <a:pPr>
              <a:spcAft>
                <a:spcPts val="1000"/>
              </a:spcAft>
            </a:pPr>
            <a:r>
              <a:rPr sz="1500">
                <a:solidFill>
                  <a:srgbClr val="222B33"/>
                </a:solidFill>
                <a:latin typeface="Microsoft YaHei"/>
              </a:rPr>
              <a:t>▪ 认为参观者可以随意进入三级实验室</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功能分区：清洁区与污染区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平面上清洁区和污染区分开</a:t>
            </a:r>
          </a:p>
          <a:p>
            <a:pPr>
              <a:spcAft>
                <a:spcPts val="1000"/>
              </a:spcAft>
            </a:pPr>
            <a:r>
              <a:rPr sz="1700">
                <a:solidFill>
                  <a:srgbClr val="222B33"/>
                </a:solidFill>
                <a:latin typeface="Microsoft YaHei"/>
              </a:rPr>
              <a:t>▪ 交界处是更衣、淋浴和灭菌设施</a:t>
            </a:r>
          </a:p>
          <a:p>
            <a:pPr>
              <a:spcAft>
                <a:spcPts val="1000"/>
              </a:spcAft>
            </a:pPr>
            <a:r>
              <a:rPr sz="1700">
                <a:solidFill>
                  <a:srgbClr val="222B33"/>
                </a:solidFill>
                <a:latin typeface="Microsoft YaHei"/>
              </a:rPr>
              <a:t>▪ 外面是辅助工作区，里面是防护区</a:t>
            </a:r>
          </a:p>
          <a:p>
            <a:pPr>
              <a:spcAft>
                <a:spcPts val="1000"/>
              </a:spcAft>
            </a:pPr>
            <a:r>
              <a:rPr sz="1700">
                <a:solidFill>
                  <a:srgbClr val="222B33"/>
                </a:solidFill>
                <a:latin typeface="Microsoft YaHei"/>
              </a:rPr>
              <a:t>▪ 防护区包括缓冲间和核心工作间</a:t>
            </a:r>
          </a:p>
          <a:p>
            <a:pPr>
              <a:spcAft>
                <a:spcPts val="1000"/>
              </a:spcAft>
            </a:pPr>
            <a:r>
              <a:rPr sz="1700">
                <a:solidFill>
                  <a:srgbClr val="222B33"/>
                </a:solidFill>
                <a:latin typeface="Microsoft YaHei"/>
              </a:rPr>
              <a:t>▪ 人和气流都从洁到污，不逆行</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三级实验室的平面按功能分区：外面是辅助工作区，放控制室、清洁更衣、办公等功能；里面是防护区，包括缓冲间和核心工作间（具体分区以 GB 19489-2008、GB 50346 和本设施设计为准）。平面图上常用颜色区分清……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把污染区的物品拿到清洁区放置</a:t>
            </a:r>
          </a:p>
          <a:p>
            <a:pPr>
              <a:spcAft>
                <a:spcPts val="1000"/>
              </a:spcAft>
            </a:pPr>
            <a:r>
              <a:rPr sz="1500">
                <a:solidFill>
                  <a:srgbClr val="222B33"/>
                </a:solidFill>
                <a:latin typeface="Microsoft YaHei"/>
              </a:rPr>
              <a:t>▪ 在清洁区和污染区之间来回走</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门口标识：非授权禁入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门口有生物危害警告和禁止擅入标识</a:t>
            </a:r>
          </a:p>
          <a:p>
            <a:pPr>
              <a:spcAft>
                <a:spcPts val="1000"/>
              </a:spcAft>
            </a:pPr>
            <a:r>
              <a:rPr sz="2000">
                <a:solidFill>
                  <a:srgbClr val="222B33"/>
                </a:solidFill>
                <a:latin typeface="Microsoft YaHei"/>
              </a:rPr>
              <a:t>▪ 没有授权，谁都不能进</a:t>
            </a:r>
          </a:p>
          <a:p>
            <a:pPr>
              <a:spcAft>
                <a:spcPts val="1000"/>
              </a:spcAft>
            </a:pPr>
            <a:r>
              <a:rPr sz="2000">
                <a:solidFill>
                  <a:srgbClr val="222B33"/>
                </a:solidFill>
                <a:latin typeface="Microsoft YaHei"/>
              </a:rPr>
              <a:t>▪ 信息牌写明级别、负责人和联系电话</a:t>
            </a:r>
          </a:p>
          <a:p>
            <a:pPr>
              <a:spcAft>
                <a:spcPts val="1000"/>
              </a:spcAft>
            </a:pPr>
            <a:r>
              <a:rPr sz="2000">
                <a:solidFill>
                  <a:srgbClr val="222B33"/>
                </a:solidFill>
                <a:latin typeface="Microsoft YaHei"/>
              </a:rPr>
              <a:t>▪ 参观只在外区，不进防护区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防护区门口张贴生物危害警告标志和“非授权人员禁止入内”等禁止标志（安全标志式样按 GB 2894-2025，以现行文本为准），并设信息牌，写明防护级别、负责人和联系电话等。没有授权，任何人都不能进入。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看到门开着就进去“看一眼”</a:t>
            </a:r>
          </a:p>
          <a:p>
            <a:pPr>
              <a:spcAft>
                <a:spcPts val="1000"/>
              </a:spcAft>
            </a:pPr>
            <a:r>
              <a:rPr sz="1500">
                <a:solidFill>
                  <a:srgbClr val="222B33"/>
                </a:solidFill>
                <a:latin typeface="Microsoft YaHei"/>
              </a:rPr>
              <a:t>▪ 把禁入标识当作提示，不当作禁令</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进门先看压差面板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进门第一件事，看压力面板</a:t>
            </a:r>
          </a:p>
          <a:p>
            <a:pPr>
              <a:spcAft>
                <a:spcPts val="1000"/>
              </a:spcAft>
            </a:pPr>
            <a:r>
              <a:rPr sz="2000">
                <a:solidFill>
                  <a:srgbClr val="222B33"/>
                </a:solidFill>
                <a:latin typeface="Microsoft YaHei"/>
              </a:rPr>
              <a:t>▪ 绿灯正常，红灯报警就别进</a:t>
            </a:r>
          </a:p>
          <a:p>
            <a:pPr>
              <a:spcAft>
                <a:spcPts val="1000"/>
              </a:spcAft>
            </a:pPr>
            <a:r>
              <a:rPr sz="2000">
                <a:solidFill>
                  <a:srgbClr val="222B33"/>
                </a:solidFill>
                <a:latin typeface="Microsoft YaHei"/>
              </a:rPr>
              <a:t>▪ 读数异常，马上报告负责人和设施人员</a:t>
            </a:r>
          </a:p>
          <a:p>
            <a:pPr>
              <a:spcAft>
                <a:spcPts val="1000"/>
              </a:spcAft>
            </a:pPr>
            <a:r>
              <a:rPr sz="2000">
                <a:solidFill>
                  <a:srgbClr val="222B33"/>
                </a:solidFill>
                <a:latin typeface="Microsoft YaHei"/>
              </a:rPr>
              <a:t>▪ 正常范围以本校设施说明为准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进入负压实验室前，第一件事是看门口的压差显示面板和报警灯：显示正常（如绿灯）才可以按程序进入；读数异常或报警亮起（如红灯），不要进去，马上报告实验室负责人和设施人员。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报警灯亮着仍然进门</a:t>
            </a:r>
          </a:p>
          <a:p>
            <a:pPr>
              <a:spcAft>
                <a:spcPts val="1000"/>
              </a:spcAft>
            </a:pPr>
            <a:r>
              <a:rPr sz="1500">
                <a:solidFill>
                  <a:srgbClr val="222B33"/>
                </a:solidFill>
                <a:latin typeface="Microsoft YaHei"/>
              </a:rPr>
              <a:t>▪ 自己调节压差或关闭报警</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门禁与前室：一道门一道关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授权人员刷卡进门，一人一卡，不尾随</a:t>
            </a:r>
          </a:p>
          <a:p>
            <a:pPr>
              <a:spcAft>
                <a:spcPts val="1000"/>
              </a:spcAft>
            </a:pPr>
            <a:r>
              <a:rPr sz="1700">
                <a:solidFill>
                  <a:srgbClr val="222B33"/>
                </a:solidFill>
                <a:latin typeface="Microsoft YaHei"/>
              </a:rPr>
              <a:t>▪ 先过前室，像气闸，压力平衡了再进</a:t>
            </a:r>
          </a:p>
          <a:p>
            <a:pPr>
              <a:spcAft>
                <a:spcPts val="1000"/>
              </a:spcAft>
            </a:pPr>
            <a:r>
              <a:rPr sz="1700">
                <a:solidFill>
                  <a:srgbClr val="222B33"/>
                </a:solidFill>
                <a:latin typeface="Microsoft YaHei"/>
              </a:rPr>
              <a:t>▪ 前室压力把里外空气隔开，设计以本设施为准</a:t>
            </a:r>
          </a:p>
          <a:p>
            <a:pPr>
              <a:spcAft>
                <a:spcPts val="1000"/>
              </a:spcAft>
            </a:pPr>
            <a:r>
              <a:rPr sz="1700">
                <a:solidFill>
                  <a:srgbClr val="222B33"/>
                </a:solidFill>
                <a:latin typeface="Microsoft YaHei"/>
              </a:rPr>
              <a:t>▪ 再往里是负压区，还有第二道门禁</a:t>
            </a:r>
          </a:p>
          <a:p>
            <a:pPr>
              <a:spcAft>
                <a:spcPts val="1000"/>
              </a:spcAft>
            </a:pPr>
            <a:r>
              <a:rPr sz="1700">
                <a:solidFill>
                  <a:srgbClr val="222B33"/>
                </a:solidFill>
                <a:latin typeface="Microsoft YaHei"/>
              </a:rPr>
              <a:t>▪ 每过一道门，压力再降一级</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三级实验室的门禁更严格：授权人员刷卡（或指纹等）进入第一区，一人一卡，不尾随他人进入，也不把卡借给别人。进门先过前室（缓冲间），它像一个气闸，门关好、压力平衡后再打开里面的门。前室用压力把里外空气隔开：有的设施前室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跟在别人身后“蹭门禁”进入</a:t>
            </a:r>
          </a:p>
          <a:p>
            <a:pPr>
              <a:spcAft>
                <a:spcPts val="1000"/>
              </a:spcAft>
            </a:pPr>
            <a:r>
              <a:rPr sz="1500">
                <a:solidFill>
                  <a:srgbClr val="222B33"/>
                </a:solidFill>
                <a:latin typeface="Microsoft YaHei"/>
              </a:rPr>
              <a:t>▪ 前室两道门同时打开</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单向进出：更衣淋浴不走回头路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一条路进，另一条路出</a:t>
            </a:r>
          </a:p>
          <a:p>
            <a:pPr>
              <a:spcAft>
                <a:spcPts val="1000"/>
              </a:spcAft>
            </a:pPr>
            <a:r>
              <a:rPr sz="1700">
                <a:solidFill>
                  <a:srgbClr val="222B33"/>
                </a:solidFill>
                <a:latin typeface="Microsoft YaHei"/>
              </a:rPr>
              <a:t>▪ 进：先更衣换装，过气锁再进实验室</a:t>
            </a:r>
          </a:p>
          <a:p>
            <a:pPr>
              <a:spcAft>
                <a:spcPts val="1000"/>
              </a:spcAft>
            </a:pPr>
            <a:r>
              <a:rPr sz="1700">
                <a:solidFill>
                  <a:srgbClr val="222B33"/>
                </a:solidFill>
                <a:latin typeface="Microsoft YaHei"/>
              </a:rPr>
              <a:t>▪ 出：在指定位置按程序脱防护，淋浴后换便服</a:t>
            </a:r>
          </a:p>
          <a:p>
            <a:pPr>
              <a:spcAft>
                <a:spcPts val="1000"/>
              </a:spcAft>
            </a:pPr>
            <a:r>
              <a:rPr sz="1700">
                <a:solidFill>
                  <a:srgbClr val="222B33"/>
                </a:solidFill>
                <a:latin typeface="Microsoft YaHei"/>
              </a:rPr>
              <a:t>▪ 私人物品留在外面，进出按规定登记</a:t>
            </a:r>
          </a:p>
          <a:p>
            <a:pPr>
              <a:spcAft>
                <a:spcPts val="1000"/>
              </a:spcAft>
            </a:pPr>
            <a:r>
              <a:rPr sz="1700">
                <a:solidFill>
                  <a:srgbClr val="222B33"/>
                </a:solidFill>
                <a:latin typeface="Microsoft YaHei"/>
              </a:rPr>
              <a:t>▪ 感应龙头少碰表面；不抄近道，不反着走</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三级实验室的人员进出是单向的：一条路进，另一条路出。进入时，私人物品留在外侧储物柜，在清洁更衣室换上实验室专用服装，经过负压的气锁（缓冲间），再进入防护实验室；里面是限制区，外人不得进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穿着防护服原路返回清洁区</a:t>
            </a:r>
          </a:p>
          <a:p>
            <a:pPr>
              <a:spcAft>
                <a:spcPts val="1000"/>
              </a:spcAft>
            </a:pPr>
            <a:r>
              <a:rPr sz="1500">
                <a:solidFill>
                  <a:srgbClr val="222B33"/>
                </a:solidFill>
                <a:latin typeface="Microsoft YaHei"/>
              </a:rPr>
              <a:t>▪ 把手机、钥匙等私人物品带进防护区</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人流物流分开：传递窗与灭菌器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人走人道，物走物道</a:t>
            </a:r>
          </a:p>
          <a:p>
            <a:pPr>
              <a:spcAft>
                <a:spcPts val="1000"/>
              </a:spcAft>
            </a:pPr>
            <a:r>
              <a:rPr sz="1700">
                <a:solidFill>
                  <a:srgbClr val="222B33"/>
                </a:solidFill>
                <a:latin typeface="Microsoft YaHei"/>
              </a:rPr>
              <a:t>▪ 小件样本走传递窗，两门不同时开，用后消毒</a:t>
            </a:r>
          </a:p>
          <a:p>
            <a:pPr>
              <a:spcAft>
                <a:spcPts val="1000"/>
              </a:spcAft>
            </a:pPr>
            <a:r>
              <a:rPr sz="1700">
                <a:solidFill>
                  <a:srgbClr val="222B33"/>
                </a:solidFill>
                <a:latin typeface="Microsoft YaHei"/>
              </a:rPr>
              <a:t>▪ 灭菌器在实验室内，常为穿墙双门</a:t>
            </a:r>
          </a:p>
          <a:p>
            <a:pPr>
              <a:spcAft>
                <a:spcPts val="1000"/>
              </a:spcAft>
            </a:pPr>
            <a:r>
              <a:rPr sz="1700">
                <a:solidFill>
                  <a:srgbClr val="222B33"/>
                </a:solidFill>
                <a:latin typeface="Microsoft YaHei"/>
              </a:rPr>
              <a:t>▪ 出来的物品先灭菌，再按规定处置</a:t>
            </a:r>
          </a:p>
          <a:p>
            <a:pPr>
              <a:spcAft>
                <a:spcPts val="1000"/>
              </a:spcAft>
            </a:pPr>
            <a:r>
              <a:rPr sz="1700">
                <a:solidFill>
                  <a:srgbClr val="222B33"/>
                </a:solidFill>
                <a:latin typeface="Microsoft YaHei"/>
              </a:rPr>
              <a:t>▪ 安全柜接好排风，排气全部过滤</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三级实验室的人流和物流分开：人员按规定路线进出；物品走专门的通道。小件样本通过传递窗递进递出，传递窗两扇门不同时打开，用后按规定消毒。与二级实验室不同，三级实验室的高压灭菌器设在实验室内，常为穿墙的双扉灭菌器：在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把未灭菌的物品直接从人员通道带出</a:t>
            </a:r>
          </a:p>
          <a:p>
            <a:pPr>
              <a:spcAft>
                <a:spcPts val="1000"/>
              </a:spcAft>
            </a:pPr>
            <a:r>
              <a:rPr sz="1500">
                <a:solidFill>
                  <a:srgbClr val="222B33"/>
                </a:solidFill>
                <a:latin typeface="Microsoft YaHei"/>
              </a:rPr>
              <a:t>▪ 传递窗两侧门同时打开</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控制室、监控与安保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防护区旁有控制室，管风机和空调</a:t>
            </a:r>
          </a:p>
          <a:p>
            <a:pPr>
              <a:spcAft>
                <a:spcPts val="1000"/>
              </a:spcAft>
            </a:pPr>
            <a:r>
              <a:rPr sz="1700">
                <a:solidFill>
                  <a:srgbClr val="222B33"/>
                </a:solidFill>
                <a:latin typeface="Microsoft YaHei"/>
              </a:rPr>
              <a:t>▪ 设施人员监控运行状态</a:t>
            </a:r>
          </a:p>
          <a:p>
            <a:pPr>
              <a:spcAft>
                <a:spcPts val="1000"/>
              </a:spcAft>
            </a:pPr>
            <a:r>
              <a:rPr sz="1700">
                <a:solidFill>
                  <a:srgbClr val="222B33"/>
                </a:solidFill>
                <a:latin typeface="Microsoft YaHei"/>
              </a:rPr>
              <a:t>▪ 监控画面和门禁记录，谁进谁出都有记录</a:t>
            </a:r>
          </a:p>
          <a:p>
            <a:pPr>
              <a:spcAft>
                <a:spcPts val="1000"/>
              </a:spcAft>
            </a:pPr>
            <a:r>
              <a:rPr sz="1700">
                <a:solidFill>
                  <a:srgbClr val="222B33"/>
                </a:solidFill>
                <a:latin typeface="Microsoft YaHei"/>
              </a:rPr>
              <a:t>▪ 发现可疑人员，立即报告保卫处</a:t>
            </a:r>
          </a:p>
          <a:p>
            <a:pPr>
              <a:spcAft>
                <a:spcPts val="1000"/>
              </a:spcAft>
            </a:pPr>
            <a:r>
              <a:rPr sz="1700">
                <a:solidFill>
                  <a:srgbClr val="222B33"/>
                </a:solidFill>
                <a:latin typeface="Microsoft YaHei"/>
              </a:rPr>
              <a:t>▪ 布局和门禁信息不拍照、不外传</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防护区旁设控制室，风机、通风和空调等系统在这里集中控制，设施人员监控运行状态，异常时及时处置。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在三级实验室外拍照发到网上</a:t>
            </a:r>
          </a:p>
          <a:p>
            <a:pPr>
              <a:spcAft>
                <a:spcPts val="1000"/>
              </a:spcAft>
            </a:pPr>
            <a:r>
              <a:rPr sz="1500">
                <a:solidFill>
                  <a:srgbClr val="222B33"/>
                </a:solidFill>
                <a:latin typeface="Microsoft YaHei"/>
              </a:rPr>
              <a:t>▪ 发现陌生人尾随却不报告</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三级设施要素一览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负压定向气流，排风经高效过滤</a:t>
            </a:r>
          </a:p>
          <a:p>
            <a:pPr>
              <a:spcAft>
                <a:spcPts val="1000"/>
              </a:spcAft>
            </a:pPr>
            <a:r>
              <a:rPr sz="2000">
                <a:solidFill>
                  <a:srgbClr val="222B33"/>
                </a:solidFill>
                <a:latin typeface="Microsoft YaHei"/>
              </a:rPr>
              <a:t>▪ 两道自闭门，免手动洗手池，旁有洗眼器</a:t>
            </a:r>
          </a:p>
          <a:p>
            <a:pPr>
              <a:spcAft>
                <a:spcPts val="1000"/>
              </a:spcAft>
            </a:pPr>
            <a:r>
              <a:rPr sz="2000">
                <a:solidFill>
                  <a:srgbClr val="222B33"/>
                </a:solidFill>
                <a:latin typeface="Microsoft YaHei"/>
              </a:rPr>
              <a:t>▪ 安全柜等防护设备，灭菌器在室内</a:t>
            </a:r>
          </a:p>
          <a:p>
            <a:pPr>
              <a:spcAft>
                <a:spcPts val="1000"/>
              </a:spcAft>
            </a:pPr>
            <a:r>
              <a:rPr sz="2000">
                <a:solidFill>
                  <a:srgbClr val="222B33"/>
                </a:solidFill>
                <a:latin typeface="Microsoft YaHei"/>
              </a:rPr>
              <a:t>▪ 压力一掉就是封闭破坏，立即启动应急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把三级实验室的设施要素放在一起看：相对外界维持负压，气流定向流动，空气只进不出，排风经高效过滤后排到室外；进出经过前室（气闸），有两道自闭门；设免手动操作的洗手池，旁边有洗眼器；配生物安全柜等防护设备，操作都在其中进……</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认为三级实验室只是“加了门禁的二级实验室”</a:t>
            </a:r>
          </a:p>
          <a:p>
            <a:pPr>
              <a:spcAft>
                <a:spcPts val="1000"/>
              </a:spcAft>
            </a:pPr>
            <a:r>
              <a:rPr sz="1500">
                <a:solidFill>
                  <a:srgbClr val="222B33"/>
                </a:solidFill>
                <a:latin typeface="Microsoft YaHei"/>
              </a:rPr>
              <a:t>▪ 压力报警时继续工作</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四级设施：独立隔离、层层去污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独立建筑或隔离区</a:t>
            </a:r>
          </a:p>
          <a:p>
            <a:pPr>
              <a:spcAft>
                <a:spcPts val="1000"/>
              </a:spcAft>
            </a:pPr>
            <a:r>
              <a:rPr sz="2000">
                <a:solidFill>
                  <a:srgbClr val="222B33"/>
                </a:solidFill>
                <a:latin typeface="Microsoft YaHei"/>
              </a:rPr>
              <a:t>▪ 气锁进入，出来去污淋浴</a:t>
            </a:r>
          </a:p>
          <a:p>
            <a:pPr>
              <a:spcAft>
                <a:spcPts val="1000"/>
              </a:spcAft>
            </a:pPr>
            <a:r>
              <a:rPr sz="2000">
                <a:solidFill>
                  <a:srgbClr val="222B33"/>
                </a:solidFill>
                <a:latin typeface="Microsoft YaHei"/>
              </a:rPr>
              <a:t>▪ 进风排风都经高效过滤</a:t>
            </a:r>
          </a:p>
          <a:p>
            <a:pPr>
              <a:spcAft>
                <a:spcPts val="1000"/>
              </a:spcAft>
            </a:pPr>
            <a:r>
              <a:rPr sz="2000">
                <a:solidFill>
                  <a:srgbClr val="222B33"/>
                </a:solidFill>
                <a:latin typeface="Microsoft YaHei"/>
              </a:rPr>
              <a:t>▪ 有应急电源和通讯系统，全国只有少数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四级生物安全实验室（BSL-4）是独立的建筑或建筑内完全隔离的区域，人员经气锁进入，离开时要经过去污淋浴（如化学淋浴和人员淋浴）；进风和排风都经过高效过滤；并配有应急电源和通讯系统。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把四级实验室当作参观场所</a:t>
            </a:r>
          </a:p>
          <a:p>
            <a:pPr>
              <a:spcAft>
                <a:spcPts val="1000"/>
              </a:spcAft>
            </a:pPr>
            <a:r>
              <a:rPr sz="1500">
                <a:solidFill>
                  <a:srgbClr val="222B33"/>
                </a:solidFill>
                <a:latin typeface="Microsoft YaHei"/>
              </a:rPr>
              <a:t>▪ 认为四级与三级的区别只是防护服不同</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关于编号方向，正确的是：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三级实验室对应国内第三类病原</a:t>
            </a:r>
          </a:p>
          <a:p>
            <a:pPr algn="l"/>
            <a:r>
              <a:rPr sz="1500" b="0">
                <a:solidFill>
                  <a:srgbClr val="222B33"/>
                </a:solidFill>
                <a:latin typeface="Microsoft YaHei"/>
              </a:rPr>
              <a:t>B. 国内病原分类第一类最危险，与国际风险组方向相反；实验室级别国内外同向，四级最高</a:t>
            </a:r>
          </a:p>
          <a:p>
            <a:pPr algn="l"/>
            <a:r>
              <a:rPr sz="1500" b="0">
                <a:solidFill>
                  <a:srgbClr val="222B33"/>
                </a:solidFill>
                <a:latin typeface="Microsoft YaHei"/>
              </a:rPr>
              <a:t>C. 国内实验室级别一级最高</a:t>
            </a:r>
          </a:p>
          <a:p>
            <a:pPr algn="l"/>
            <a:r>
              <a:rPr sz="1500" b="0">
                <a:solidFill>
                  <a:srgbClr val="222B33"/>
                </a:solidFill>
                <a:latin typeface="Microsoft YaHei"/>
              </a:rPr>
              <a:t>D. 两套编号完全相同</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判断：进入三级实验室前，压差面板报警亮红灯，可以先进去再报告。</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三级实验室人员离开时的正确顺序是：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原路返回，到办公室再脱防护</a:t>
            </a:r>
          </a:p>
          <a:p>
            <a:pPr algn="l"/>
            <a:r>
              <a:rPr sz="1500" b="0">
                <a:solidFill>
                  <a:srgbClr val="222B33"/>
                </a:solidFill>
                <a:latin typeface="Microsoft YaHei"/>
              </a:rPr>
              <a:t>B. 在指定位置按程序脱防护，按规定淋浴，再换回自己的衣服</a:t>
            </a:r>
          </a:p>
          <a:p>
            <a:pPr algn="l"/>
            <a:r>
              <a:rPr sz="1500" b="0">
                <a:solidFill>
                  <a:srgbClr val="222B33"/>
                </a:solidFill>
                <a:latin typeface="Microsoft YaHei"/>
              </a:rPr>
              <a:t>C. 先换便服再脱防护</a:t>
            </a:r>
          </a:p>
          <a:p>
            <a:pPr algn="l"/>
            <a:r>
              <a:rPr sz="1500" b="0">
                <a:solidFill>
                  <a:srgbClr val="222B33"/>
                </a:solidFill>
                <a:latin typeface="Microsoft YaHei"/>
              </a:rPr>
              <a:t>D. 抄近道从物品通道出去</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关于人流物流，错误的是：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人走人道，物走物道</a:t>
            </a:r>
          </a:p>
          <a:p>
            <a:pPr algn="l"/>
            <a:r>
              <a:rPr sz="1500" b="0">
                <a:solidFill>
                  <a:srgbClr val="222B33"/>
                </a:solidFill>
                <a:latin typeface="Microsoft YaHei"/>
              </a:rPr>
              <a:t>B. 小件样本走传递窗，两门不同时开</a:t>
            </a:r>
          </a:p>
          <a:p>
            <a:pPr algn="l"/>
            <a:r>
              <a:rPr sz="1500" b="0">
                <a:solidFill>
                  <a:srgbClr val="222B33"/>
                </a:solidFill>
                <a:latin typeface="Microsoft YaHei"/>
              </a:rPr>
              <a:t>C. 出来的物品先灭菌再处置</a:t>
            </a:r>
          </a:p>
          <a:p>
            <a:pPr algn="l"/>
            <a:r>
              <a:rPr sz="1500" b="0">
                <a:solidFill>
                  <a:srgbClr val="222B33"/>
                </a:solidFill>
                <a:latin typeface="Microsoft YaHei"/>
              </a:rPr>
              <a:t>D. 物品可以随人从人员通道直接带出</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063 · 三级生物安全实验室的布局与进出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063 三级生物安全实验室的布局与进出</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判断：跟在有门禁卡的人身后进入三级实验室，也算有授权。</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简答：在三级实验室外区学习时，为什么不能拍照外传？</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三级实验室做什么</a:t>
            </a:r>
          </a:p>
          <a:p>
            <a:pPr>
              <a:spcAft>
                <a:spcPts val="800"/>
              </a:spcAft>
            </a:pPr>
            <a:r>
              <a:rPr sz="1800">
                <a:solidFill>
                  <a:srgbClr val="FFFFFF"/>
                </a:solidFill>
                <a:latin typeface="Microsoft YaHei"/>
              </a:rPr>
              <a:t>▪ K2  功能分区：清洁区与污染区</a:t>
            </a:r>
          </a:p>
          <a:p>
            <a:pPr>
              <a:spcAft>
                <a:spcPts val="800"/>
              </a:spcAft>
            </a:pPr>
            <a:r>
              <a:rPr sz="1800">
                <a:solidFill>
                  <a:srgbClr val="FFFFFF"/>
                </a:solidFill>
                <a:latin typeface="Microsoft YaHei"/>
              </a:rPr>
              <a:t>▪ K3  门口标识：非授权禁入</a:t>
            </a:r>
          </a:p>
          <a:p>
            <a:pPr>
              <a:spcAft>
                <a:spcPts val="800"/>
              </a:spcAft>
            </a:pPr>
            <a:r>
              <a:rPr sz="1800">
                <a:solidFill>
                  <a:srgbClr val="FFFFFF"/>
                </a:solidFill>
                <a:latin typeface="Microsoft YaHei"/>
              </a:rPr>
              <a:t>▪ K4  进门先看压差面板</a:t>
            </a:r>
          </a:p>
          <a:p>
            <a:pPr>
              <a:spcAft>
                <a:spcPts val="800"/>
              </a:spcAft>
            </a:pPr>
            <a:r>
              <a:rPr sz="1800">
                <a:solidFill>
                  <a:srgbClr val="FFFFFF"/>
                </a:solidFill>
                <a:latin typeface="Microsoft YaHei"/>
              </a:rPr>
              <a:t>▪ K5  门禁与前室：一道门一道关</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K6  单向进出：更衣淋浴不走回头路</a:t>
            </a:r>
          </a:p>
          <a:p>
            <a:pPr>
              <a:spcAft>
                <a:spcPts val="800"/>
              </a:spcAft>
            </a:pPr>
            <a:r>
              <a:rPr sz="1800">
                <a:solidFill>
                  <a:srgbClr val="FFFFFF"/>
                </a:solidFill>
                <a:latin typeface="Microsoft YaHei"/>
              </a:rPr>
              <a:t>▪ K7  人流物流分开：传递窗与灭菌器</a:t>
            </a:r>
          </a:p>
          <a:p>
            <a:pPr>
              <a:spcAft>
                <a:spcPts val="800"/>
              </a:spcAft>
            </a:pPr>
            <a:r>
              <a:rPr sz="1800">
                <a:solidFill>
                  <a:srgbClr val="FFFFFF"/>
                </a:solidFill>
                <a:latin typeface="Microsoft YaHei"/>
              </a:rPr>
              <a:t>▪ K8  控制室、监控与安保</a:t>
            </a:r>
          </a:p>
          <a:p>
            <a:pPr>
              <a:spcAft>
                <a:spcPts val="800"/>
              </a:spcAft>
            </a:pPr>
            <a:r>
              <a:rPr sz="1800">
                <a:solidFill>
                  <a:srgbClr val="FFFFFF"/>
                </a:solidFill>
                <a:latin typeface="Microsoft YaHei"/>
              </a:rPr>
              <a:t>▪ K9  三级设施要素一览</a:t>
            </a:r>
          </a:p>
          <a:p>
            <a:pPr>
              <a:spcAft>
                <a:spcPts val="800"/>
              </a:spcAft>
            </a:pPr>
            <a:r>
              <a:rPr sz="1800">
                <a:solidFill>
                  <a:srgbClr val="FFFFFF"/>
                </a:solidFill>
                <a:latin typeface="Microsoft YaHei"/>
              </a:rPr>
              <a:t>▪ K10  四级设施：独立隔离、层层去污</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生物安全设施的设计、建造与运行</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6.75 分钟（卡通视频 81 镜）　适用对象：进入生命科学、医学、农学、环境等涉及生物材料实验室的高校本科生、研究生和教职工（必修）；实验室负责人、生物安全员、设施管理人员和参与实验室新建改造的人员重点学习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能说出防护设施的组成（设备层、进排风过滤与高空排放、控制与监测、污水与废物处理、出入口缓冲间和穿墙灭菌器、物理安保），知道设施本身就是工程控制。</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能说出设施设计的主要原则：先算建设费和运行费、选址避开风险并保障支援、相邻集中和分区分流的布局、结构材料经得住负压和消毒。</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能说出建设流程（需求预算—初步设计—施工—验收认可），以及一级、二级实验室备案，三级、四级实验室审批并通过国家认可的要求。</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能做到不进入设备层、不碰过滤箱，用前查看安全柜和灭菌器的检测标识；能判断设施改造、条件变化、停用搬迁时须重新评审或先去污验收。</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《中华人民共和国生物安全法》（以现行文本为准）：病原微生物实验室应当符合生物安全国家标准和要求，设立单位负责实验室的生物安全管理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新建、改建、扩建三级、四级实验室依法审批，建成后通过实验室国家认可并经主管部门批准方可从事相应活动；一级、二级实验室向设区的市级主管部门备案</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生物安全通用要求》：实验室设施和设备要求、废物和污水去污、设施设备的维护和检测</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50346（以现行文本为准）《生物安全实验室建筑技术规范》：生物安全实验室的选址、平面布局、建筑结构、通风空调、给排水和电气控制等工程技术要求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233（以现行文本为准）《病原微生物实验室生物安全通用准则》：各级病原微生物实验室的设施、设备和管理要求</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《医疗废物管理条例》（以现行文本为准）：感染性废物的收集、处理和交接</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号，以现行文本为准）：实验室建设与改造的安全论证、设施设备运行维护和检测</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本校实验室建设管理规定与设施说明：压差、风量、过滤效率、污水消毒等具体参数以现行标准和本校设施说明为准</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设施本身就是防护：工程控制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生物安全不只靠安全柜和防护服</a:t>
            </a:r>
          </a:p>
          <a:p>
            <a:pPr>
              <a:spcAft>
                <a:spcPts val="1000"/>
              </a:spcAft>
            </a:pPr>
            <a:r>
              <a:rPr sz="2000">
                <a:solidFill>
                  <a:srgbClr val="222B33"/>
                </a:solidFill>
                <a:latin typeface="Microsoft YaHei"/>
              </a:rPr>
              <a:t>▪ 房子怎么设计、配什么设备，都是工程控制</a:t>
            </a:r>
          </a:p>
          <a:p>
            <a:pPr>
              <a:spcAft>
                <a:spcPts val="1000"/>
              </a:spcAft>
            </a:pPr>
            <a:r>
              <a:rPr sz="2000">
                <a:solidFill>
                  <a:srgbClr val="222B33"/>
                </a:solidFill>
                <a:latin typeface="Microsoft YaHei"/>
              </a:rPr>
              <a:t>▪ 工程控制从源头挡住风险</a:t>
            </a:r>
          </a:p>
          <a:p>
            <a:pPr>
              <a:spcAft>
                <a:spcPts val="1000"/>
              </a:spcAft>
            </a:pPr>
            <a:r>
              <a:rPr sz="2000">
                <a:solidFill>
                  <a:srgbClr val="222B33"/>
                </a:solidFill>
                <a:latin typeface="Microsoft YaHei"/>
              </a:rPr>
              <a:t>▪ 设计想周全，设施才安全好用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生物安全靠的不只是生物安全柜和个人防护装备。实验室房子怎么设计、配置什么设备，本身就是一道防护，属于控制层级中的工程控制（控制层级见第 017 课）：它不依赖每个人每次都做对，而是从源头把风险挡住。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认为设施是工程师的事，与做实验的人无关</a:t>
            </a:r>
          </a:p>
          <a:p>
            <a:pPr>
              <a:spcAft>
                <a:spcPts val="1000"/>
              </a:spcAft>
            </a:pPr>
            <a:r>
              <a:rPr sz="1500">
                <a:solidFill>
                  <a:srgbClr val="222B33"/>
                </a:solidFill>
                <a:latin typeface="Microsoft YaHei"/>
              </a:rPr>
              <a:t>▪ 设施有缺陷时靠“自己小心点”凑合使用</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一座防护设施由什么组成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门口标志，房间可密封，气流向内、过滤排出</a:t>
            </a:r>
          </a:p>
          <a:p>
            <a:pPr>
              <a:spcAft>
                <a:spcPts val="1000"/>
              </a:spcAft>
            </a:pPr>
            <a:r>
              <a:rPr sz="1700">
                <a:solidFill>
                  <a:srgbClr val="222B33"/>
                </a:solidFill>
                <a:latin typeface="Microsoft YaHei"/>
              </a:rPr>
              <a:t>▪ 整座设施相对外界负压</a:t>
            </a:r>
          </a:p>
          <a:p>
            <a:pPr>
              <a:spcAft>
                <a:spcPts val="1000"/>
              </a:spcAft>
            </a:pPr>
            <a:r>
              <a:rPr sz="1700">
                <a:solidFill>
                  <a:srgbClr val="222B33"/>
                </a:solidFill>
                <a:latin typeface="Microsoft YaHei"/>
              </a:rPr>
              <a:t>▪ 气锁进入、淋浴出，内有安全柜和灭菌器</a:t>
            </a:r>
          </a:p>
          <a:p>
            <a:pPr>
              <a:spcAft>
                <a:spcPts val="1000"/>
              </a:spcAft>
            </a:pPr>
            <a:r>
              <a:rPr sz="1700">
                <a:solidFill>
                  <a:srgbClr val="222B33"/>
                </a:solidFill>
                <a:latin typeface="Microsoft YaHei"/>
              </a:rPr>
              <a:t>▪ 工程设计含气流、过滤、空调、污水、控制、安保等</a:t>
            </a:r>
          </a:p>
          <a:p>
            <a:pPr>
              <a:spcAft>
                <a:spcPts val="1000"/>
              </a:spcAft>
            </a:pPr>
            <a:r>
              <a:rPr sz="1700">
                <a:solidFill>
                  <a:srgbClr val="222B33"/>
                </a:solidFill>
                <a:latin typeface="Microsoft YaHei"/>
              </a:rPr>
              <a:t>▪ 一栋楼常分三层：上管空气，中做实验，下管废水</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一座防护设施（以较高等级实验室为例）的基本组成：门口有生物危害标志；房间可以密封，便于熏蒸消毒；气流定向流入，经高效过滤后排出，整座设施相对外界保持负压；人员经气锁（缓冲间）进入、经淋浴离开；室内有生物安全柜和高压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以为防护设施只是“装了安全柜的普通房间”</a:t>
            </a:r>
          </a:p>
          <a:p>
            <a:pPr>
              <a:spcAft>
                <a:spcPts val="1000"/>
              </a:spcAft>
            </a:pPr>
            <a:r>
              <a:rPr sz="1500">
                <a:solidFill>
                  <a:srgbClr val="222B33"/>
                </a:solidFill>
                <a:latin typeface="Microsoft YaHei"/>
              </a:rPr>
              <a:t>▪ 只关注实验层，忽视设备层和污水系统也是防护的一部分</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设备层：机器在上，实验室里不放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设备层统一控制全楼通风空调</a:t>
            </a:r>
          </a:p>
          <a:p>
            <a:pPr>
              <a:spcAft>
                <a:spcPts val="1000"/>
              </a:spcAft>
            </a:pPr>
            <a:r>
              <a:rPr sz="1700">
                <a:solidFill>
                  <a:srgbClr val="222B33"/>
                </a:solidFill>
                <a:latin typeface="Microsoft YaHei"/>
              </a:rPr>
              <a:t>▪ 风机、过滤器、电控柜放在实验室上方</a:t>
            </a:r>
          </a:p>
          <a:p>
            <a:pPr>
              <a:spcAft>
                <a:spcPts val="1000"/>
              </a:spcAft>
            </a:pPr>
            <a:r>
              <a:rPr sz="1700">
                <a:solidFill>
                  <a:srgbClr val="222B33"/>
                </a:solidFill>
                <a:latin typeface="Microsoft YaHei"/>
              </a:rPr>
              <a:t>▪ 实验室里不放机械，便于密封和清洁</a:t>
            </a:r>
          </a:p>
          <a:p>
            <a:pPr>
              <a:spcAft>
                <a:spcPts val="1000"/>
              </a:spcAft>
            </a:pPr>
            <a:r>
              <a:rPr sz="1700">
                <a:solidFill>
                  <a:srgbClr val="222B33"/>
                </a:solidFill>
                <a:latin typeface="Microsoft YaHei"/>
              </a:rPr>
              <a:t>▪ 层高够检修，灯和过滤器从上面换</a:t>
            </a:r>
          </a:p>
          <a:p>
            <a:pPr>
              <a:spcAft>
                <a:spcPts val="1000"/>
              </a:spcAft>
            </a:pPr>
            <a:r>
              <a:rPr sz="1700">
                <a:solidFill>
                  <a:srgbClr val="222B33"/>
                </a:solidFill>
                <a:latin typeface="Microsoft YaHei"/>
              </a:rPr>
              <a:t>▪ 设备层不是参观区，未经允许不进入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防护设施上方的一层叫设备层（机械层），全楼的供暖、通风和空调都从这里统一控制：空气处理机组、风机、过滤器和电气控制柜都装在这里；一排排控制柜管着电机和压缩机，由电脑统一指挥；压缩机让供给实验室的水和压缩空气保持压力稳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好奇进入设备层参观、触碰设备</a:t>
            </a:r>
          </a:p>
          <a:p>
            <a:pPr>
              <a:spcAft>
                <a:spcPts val="1000"/>
              </a:spcAft>
            </a:pPr>
            <a:r>
              <a:rPr sz="1500">
                <a:solidFill>
                  <a:srgbClr val="222B33"/>
                </a:solidFill>
                <a:latin typeface="Microsoft YaHei"/>
              </a:rPr>
              <a:t>▪ 设备维修不停机、不上锁挂牌</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进排风都过滤，排风高空排放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进楼的空气先过高效过滤器</a:t>
            </a:r>
          </a:p>
          <a:p>
            <a:pPr>
              <a:spcAft>
                <a:spcPts val="1000"/>
              </a:spcAft>
            </a:pPr>
            <a:r>
              <a:rPr sz="1700">
                <a:solidFill>
                  <a:srgbClr val="222B33"/>
                </a:solidFill>
                <a:latin typeface="Microsoft YaHei"/>
              </a:rPr>
              <a:t>▪ 高等级实验室排风也要过滤，两头把关</a:t>
            </a:r>
          </a:p>
          <a:p>
            <a:pPr>
              <a:spcAft>
                <a:spcPts val="1000"/>
              </a:spcAft>
            </a:pPr>
            <a:r>
              <a:rPr sz="1700">
                <a:solidFill>
                  <a:srgbClr val="222B33"/>
                </a:solidFill>
                <a:latin typeface="Microsoft YaHei"/>
              </a:rPr>
              <a:t>▪ 每个房间各有过滤器，风阀把气流配平</a:t>
            </a:r>
          </a:p>
          <a:p>
            <a:pPr>
              <a:spcAft>
                <a:spcPts val="1000"/>
              </a:spcAft>
            </a:pPr>
            <a:r>
              <a:rPr sz="1700">
                <a:solidFill>
                  <a:srgbClr val="222B33"/>
                </a:solidFill>
                <a:latin typeface="Microsoft YaHei"/>
              </a:rPr>
              <a:t>▪ 屋顶风机把排风送向高空扩散</a:t>
            </a:r>
          </a:p>
          <a:p>
            <a:pPr>
              <a:spcAft>
                <a:spcPts val="1000"/>
              </a:spcAft>
            </a:pPr>
            <a:r>
              <a:rPr sz="1700">
                <a:solidFill>
                  <a:srgbClr val="222B33"/>
                </a:solidFill>
                <a:latin typeface="Microsoft YaHei"/>
              </a:rPr>
              <a:t>▪ 除病原靠过滤，高空排放只是加保险</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空气处理机组里装有高效过滤器，进楼的空气都先过这一道；过滤段设有检修门，定期检查、维护，到期更换过滤模块。高等级实验室进来的空气要过滤，出去的空气也要过滤，两头把关；送风过滤保护人员和实验，排风过滤保护环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认为排风“排得高就安全”，可以不过滤</a:t>
            </a:r>
          </a:p>
          <a:p>
            <a:pPr>
              <a:spcAft>
                <a:spcPts val="1000"/>
              </a:spcAft>
            </a:pPr>
            <a:r>
              <a:rPr sz="1500">
                <a:solidFill>
                  <a:srgbClr val="222B33"/>
                </a:solidFill>
                <a:latin typeface="Microsoft YaHei"/>
              </a:rPr>
              <a:t>▪ 使用者自行调节风阀或风量</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控制与监测集中管理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全楼设备由电脑集中控制和监测</a:t>
            </a:r>
          </a:p>
          <a:p>
            <a:pPr>
              <a:spcAft>
                <a:spcPts val="1000"/>
              </a:spcAft>
            </a:pPr>
            <a:r>
              <a:rPr sz="2000">
                <a:solidFill>
                  <a:srgbClr val="222B33"/>
                </a:solidFill>
                <a:latin typeface="Microsoft YaHei"/>
              </a:rPr>
              <a:t>▪ 温湿度、气流、门锁在控制区一处管理</a:t>
            </a:r>
          </a:p>
          <a:p>
            <a:pPr>
              <a:spcAft>
                <a:spcPts val="1000"/>
              </a:spcAft>
            </a:pPr>
            <a:r>
              <a:rPr sz="2000">
                <a:solidFill>
                  <a:srgbClr val="222B33"/>
                </a:solidFill>
                <a:latin typeface="Microsoft YaHei"/>
              </a:rPr>
              <a:t>▪ 压差表是监测的关键</a:t>
            </a:r>
          </a:p>
          <a:p>
            <a:pPr>
              <a:spcAft>
                <a:spcPts val="1000"/>
              </a:spcAft>
            </a:pPr>
            <a:r>
              <a:rPr sz="2000">
                <a:solidFill>
                  <a:srgbClr val="222B33"/>
                </a:solidFill>
                <a:latin typeface="Microsoft YaHei"/>
              </a:rPr>
              <a:t>▪ 防护失效时报警，系统按设计停机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防护设施的加热、制冷、湿度、通风等由电子系统集中控制和监测，哪台设备在运转、是否正常，在控制区一看就知道；监控、气流、门锁等也在控制区集中管理。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报警时关掉报警器继续实验</a:t>
            </a:r>
          </a:p>
          <a:p>
            <a:pPr>
              <a:spcAft>
                <a:spcPts val="1000"/>
              </a:spcAft>
            </a:pPr>
            <a:r>
              <a:rPr sz="1500">
                <a:solidFill>
                  <a:srgbClr val="222B33"/>
                </a:solidFill>
                <a:latin typeface="Microsoft YaHei"/>
              </a:rPr>
              <a:t>▪ 使用者私自修改控制系统设定</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污水与废物：出去之前先去污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从设施出去的一切都要先去污</a:t>
            </a:r>
          </a:p>
          <a:p>
            <a:pPr>
              <a:spcAft>
                <a:spcPts val="1000"/>
              </a:spcAft>
            </a:pPr>
            <a:r>
              <a:rPr sz="1700">
                <a:solidFill>
                  <a:srgbClr val="222B33"/>
                </a:solidFill>
                <a:latin typeface="Microsoft YaHei"/>
              </a:rPr>
              <a:t>▪ 淋浴、洗手、灭菌器废水先进暂存罐</a:t>
            </a:r>
          </a:p>
          <a:p>
            <a:pPr>
              <a:spcAft>
                <a:spcPts val="1000"/>
              </a:spcAft>
            </a:pPr>
            <a:r>
              <a:rPr sz="1700">
                <a:solidFill>
                  <a:srgbClr val="222B33"/>
                </a:solidFill>
                <a:latin typeface="Microsoft YaHei"/>
              </a:rPr>
              <a:t>▪ 再消毒、中和，全程监测，合格才排</a:t>
            </a:r>
          </a:p>
          <a:p>
            <a:pPr>
              <a:spcAft>
                <a:spcPts val="1000"/>
              </a:spcAft>
            </a:pPr>
            <a:r>
              <a:rPr sz="1700">
                <a:solidFill>
                  <a:srgbClr val="222B33"/>
                </a:solidFill>
                <a:latin typeface="Microsoft YaHei"/>
              </a:rPr>
              <a:t>▪ 污水不能直接进市政管网</a:t>
            </a:r>
          </a:p>
          <a:p>
            <a:pPr>
              <a:spcAft>
                <a:spcPts val="1000"/>
              </a:spcAft>
            </a:pPr>
            <a:r>
              <a:rPr sz="1700">
                <a:solidFill>
                  <a:srgbClr val="222B33"/>
                </a:solidFill>
                <a:latin typeface="Microsoft YaHei"/>
              </a:rPr>
              <a:t>▪ 固体废物先灭菌，再按规定处置</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从防护设施出去的一切都要去污，连水槽流下的废水也不例外。较高等级设施的淋浴、洗手、灭菌器排水先进暂存罐，再进消毒罐（消毒方法和接触时间按规程确定），中和后才排放；全程监测，留好记录。污水不能直接接入市政管网，要另设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把含病原的废液直接倒入水槽</a:t>
            </a:r>
          </a:p>
          <a:p>
            <a:pPr>
              <a:spcAft>
                <a:spcPts val="1000"/>
              </a:spcAft>
            </a:pPr>
            <a:r>
              <a:rPr sz="1500">
                <a:solidFill>
                  <a:srgbClr val="222B33"/>
                </a:solidFill>
                <a:latin typeface="Microsoft YaHei"/>
              </a:rPr>
              <a:t>▪ 未经灭菌的废物混入生活垃圾</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先算账：建得起，也要养得起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动笔设计之前，先把钱算清楚</a:t>
            </a:r>
          </a:p>
          <a:p>
            <a:pPr>
              <a:spcAft>
                <a:spcPts val="1000"/>
              </a:spcAft>
            </a:pPr>
            <a:r>
              <a:rPr sz="1700">
                <a:solidFill>
                  <a:srgbClr val="222B33"/>
                </a:solidFill>
                <a:latin typeface="Microsoft YaHei"/>
              </a:rPr>
              <a:t>▪ 钱分两块：建设费和运行费</a:t>
            </a:r>
          </a:p>
          <a:p>
            <a:pPr>
              <a:spcAft>
                <a:spcPts val="1000"/>
              </a:spcAft>
            </a:pPr>
            <a:r>
              <a:rPr sz="1700">
                <a:solidFill>
                  <a:srgbClr val="222B33"/>
                </a:solidFill>
                <a:latin typeface="Microsoft YaHei"/>
              </a:rPr>
              <a:t>▪ 运行费会摊到每一次实验里</a:t>
            </a:r>
          </a:p>
          <a:p>
            <a:pPr>
              <a:spcAft>
                <a:spcPts val="1000"/>
              </a:spcAft>
            </a:pPr>
            <a:r>
              <a:rPr sz="1700">
                <a:solidFill>
                  <a:srgbClr val="222B33"/>
                </a:solidFill>
                <a:latin typeface="Microsoft YaHei"/>
              </a:rPr>
              <a:t>▪ 建得起养不起，安全就打折扣</a:t>
            </a:r>
          </a:p>
          <a:p>
            <a:pPr>
              <a:spcAft>
                <a:spcPts val="1000"/>
              </a:spcAft>
            </a:pPr>
            <a:r>
              <a:rPr sz="1700">
                <a:solidFill>
                  <a:srgbClr val="222B33"/>
                </a:solidFill>
                <a:latin typeface="Microsoft YaHei"/>
              </a:rPr>
              <a:t>▪ 成本是设计要考虑的事项之一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建封闭设施投入很大，决定建实验室、动笔设计之前，先要算清楚账。钱分两块：建设费和运行费。运行费（能耗、过滤器更换、检测、维修、人员）每年都有，会摊到每一次实验里。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只争取建设经费，不落实运行维护经费</a:t>
            </a:r>
          </a:p>
          <a:p>
            <a:pPr>
              <a:spcAft>
                <a:spcPts val="1000"/>
              </a:spcAft>
            </a:pPr>
            <a:r>
              <a:rPr sz="1500">
                <a:solidFill>
                  <a:srgbClr val="222B33"/>
                </a:solidFill>
                <a:latin typeface="Microsoft YaHei"/>
              </a:rPr>
              <a:t>▪ 为省钱推迟过滤器更换和设备检测</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选址：避开风险，保障支援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避开自然灾害多发地和人口稠密区</a:t>
            </a:r>
          </a:p>
          <a:p>
            <a:pPr>
              <a:spcAft>
                <a:spcPts val="1000"/>
              </a:spcAft>
            </a:pPr>
            <a:r>
              <a:rPr sz="1700">
                <a:solidFill>
                  <a:srgbClr val="222B33"/>
                </a:solidFill>
                <a:latin typeface="Microsoft YaHei"/>
              </a:rPr>
              <a:t>▪ 水电供应要有保障</a:t>
            </a:r>
          </a:p>
          <a:p>
            <a:pPr>
              <a:spcAft>
                <a:spcPts val="1000"/>
              </a:spcAft>
            </a:pPr>
            <a:r>
              <a:rPr sz="1700">
                <a:solidFill>
                  <a:srgbClr val="222B33"/>
                </a:solidFill>
                <a:latin typeface="Microsoft YaHei"/>
              </a:rPr>
              <a:t>▪ 应急队伍能及时赶到</a:t>
            </a:r>
          </a:p>
          <a:p>
            <a:pPr>
              <a:spcAft>
                <a:spcPts val="1000"/>
              </a:spcAft>
            </a:pPr>
            <a:r>
              <a:rPr sz="1700">
                <a:solidFill>
                  <a:srgbClr val="222B33"/>
                </a:solidFill>
                <a:latin typeface="Microsoft YaHei"/>
              </a:rPr>
              <a:t>▪ 周边环境稳定安全</a:t>
            </a:r>
          </a:p>
          <a:p>
            <a:pPr>
              <a:spcAft>
                <a:spcPts val="1000"/>
              </a:spcAft>
            </a:pPr>
            <a:r>
              <a:rPr sz="1700">
                <a:solidFill>
                  <a:srgbClr val="222B33"/>
                </a:solidFill>
                <a:latin typeface="Microsoft YaHei"/>
              </a:rPr>
              <a:t>▪ 植物封闭设施不紧挨农田</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高等级实验室选址有讲究：避开地震、洪水等自然灾害多发地，避开人口稠密区；水电供应要有保障；发生事故时应急处置队伍能及时赶到；周边社会环境稳定安全。具体选址要求以 GB 19489-2008、GB 50346 等现行标……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为了方便把高等级实验室设在人员密集的教学楼中</a:t>
            </a:r>
          </a:p>
          <a:p>
            <a:pPr>
              <a:spcAft>
                <a:spcPts val="1000"/>
              </a:spcAft>
            </a:pPr>
            <a:r>
              <a:rPr sz="1500">
                <a:solidFill>
                  <a:srgbClr val="222B33"/>
                </a:solidFill>
                <a:latin typeface="Microsoft YaHei"/>
              </a:rPr>
              <a:t>▪ 忽视停水停电和应急支援条件</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布局：相邻集中，分区分流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防护实验室相邻集中，管道省、漏了不蔓延</a:t>
            </a:r>
          </a:p>
          <a:p>
            <a:pPr>
              <a:spcAft>
                <a:spcPts val="1000"/>
              </a:spcAft>
            </a:pPr>
            <a:r>
              <a:rPr sz="1700">
                <a:solidFill>
                  <a:srgbClr val="222B33"/>
                </a:solidFill>
                <a:latin typeface="Microsoft YaHei"/>
              </a:rPr>
              <a:t>▪ 相邻布置，通风系统才经济</a:t>
            </a:r>
          </a:p>
          <a:p>
            <a:pPr>
              <a:spcAft>
                <a:spcPts val="1000"/>
              </a:spcAft>
            </a:pPr>
            <a:r>
              <a:rPr sz="1700">
                <a:solidFill>
                  <a:srgbClr val="222B33"/>
                </a:solidFill>
                <a:latin typeface="Microsoft YaHei"/>
              </a:rPr>
              <a:t>▪ 区域按清洁到污染分级，人物按路线走</a:t>
            </a:r>
          </a:p>
          <a:p>
            <a:pPr>
              <a:spcAft>
                <a:spcPts val="1000"/>
              </a:spcAft>
            </a:pPr>
            <a:r>
              <a:rPr sz="1700">
                <a:solidFill>
                  <a:srgbClr val="222B33"/>
                </a:solidFill>
                <a:latin typeface="Microsoft YaHei"/>
              </a:rPr>
              <a:t>▪ 暂存、培养基制备、遗传操作各有分区</a:t>
            </a:r>
          </a:p>
          <a:p>
            <a:pPr>
              <a:spcAft>
                <a:spcPts val="1000"/>
              </a:spcAft>
            </a:pPr>
            <a:r>
              <a:rPr sz="1700">
                <a:solidFill>
                  <a:srgbClr val="222B33"/>
                </a:solidFill>
                <a:latin typeface="Microsoft YaHei"/>
              </a:rPr>
              <a:t>▪ 进设施的土壤和培养基先蒸汽灭菌</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就像住宅把卫生间集中在一处，管道省，漏了也不会到处蔓延；防护实验室相邻集中布置，通风和管道系统才经济、好管理。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人流和物流共用一条路线、来回穿行</a:t>
            </a:r>
          </a:p>
          <a:p>
            <a:pPr>
              <a:spcAft>
                <a:spcPts val="1000"/>
              </a:spcAft>
            </a:pPr>
            <a:r>
              <a:rPr sz="1500">
                <a:solidFill>
                  <a:srgbClr val="222B33"/>
                </a:solidFill>
                <a:latin typeface="Microsoft YaHei"/>
              </a:rPr>
              <a:t>▪ 未经处理的土壤、培养基直接带入设施</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出入口缓冲间与穿墙灭菌器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出入口是缓冲间，两道门不同时开</a:t>
            </a:r>
          </a:p>
          <a:p>
            <a:pPr>
              <a:spcAft>
                <a:spcPts val="1000"/>
              </a:spcAft>
            </a:pPr>
            <a:r>
              <a:rPr sz="1700">
                <a:solidFill>
                  <a:srgbClr val="222B33"/>
                </a:solidFill>
                <a:latin typeface="Microsoft YaHei"/>
              </a:rPr>
              <a:t>▪ 先关外门再开内门，空气往里流</a:t>
            </a:r>
          </a:p>
          <a:p>
            <a:pPr>
              <a:spcAft>
                <a:spcPts val="1000"/>
              </a:spcAft>
            </a:pPr>
            <a:r>
              <a:rPr sz="1700">
                <a:solidFill>
                  <a:srgbClr val="222B33"/>
                </a:solidFill>
                <a:latin typeface="Microsoft YaHei"/>
              </a:rPr>
              <a:t>▪ 灭菌器嵌在墙里，两边开门</a:t>
            </a:r>
          </a:p>
          <a:p>
            <a:pPr>
              <a:spcAft>
                <a:spcPts val="1000"/>
              </a:spcAft>
            </a:pPr>
            <a:r>
              <a:rPr sz="1700">
                <a:solidFill>
                  <a:srgbClr val="222B33"/>
                </a:solidFill>
                <a:latin typeface="Microsoft YaHei"/>
              </a:rPr>
              <a:t>▪ 出去的材料、衣物都灭菌后才出去</a:t>
            </a:r>
          </a:p>
          <a:p>
            <a:pPr>
              <a:spcAft>
                <a:spcPts val="1000"/>
              </a:spcAft>
            </a:pPr>
            <a:r>
              <a:rPr sz="1700">
                <a:solidFill>
                  <a:srgbClr val="222B33"/>
                </a:solidFill>
                <a:latin typeface="Microsoft YaHei"/>
              </a:rPr>
              <a:t>▪ 未批准放行的材料，按规程销毁</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设施的出入口是有两道门的缓冲间：先关外门，再开内门，两道门不同时开；开内门时空气往里流，不往外跑（缓冲间压力设计以本设施说明为准，见第 062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缓冲间两道门同时打开搬运物品</a:t>
            </a:r>
          </a:p>
          <a:p>
            <a:pPr>
              <a:spcAft>
                <a:spcPts val="1000"/>
              </a:spcAft>
            </a:pPr>
            <a:r>
              <a:rPr sz="1500">
                <a:solidFill>
                  <a:srgbClr val="222B33"/>
                </a:solidFill>
                <a:latin typeface="Microsoft YaHei"/>
              </a:rPr>
              <a:t>▪ 未经灭菌把材料或工作服从防护区带出</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结构和材料要经得住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负压设施的墙、玻璃、密封要结实</a:t>
            </a:r>
          </a:p>
          <a:p>
            <a:pPr>
              <a:spcAft>
                <a:spcPts val="1000"/>
              </a:spcAft>
            </a:pPr>
            <a:r>
              <a:rPr sz="2000">
                <a:solidFill>
                  <a:srgbClr val="222B33"/>
                </a:solidFill>
                <a:latin typeface="Microsoft YaHei"/>
              </a:rPr>
              <a:t>▪ 风机故障、负压过大可能撑破玻璃</a:t>
            </a:r>
          </a:p>
          <a:p>
            <a:pPr>
              <a:spcAft>
                <a:spcPts val="1000"/>
              </a:spcAft>
            </a:pPr>
            <a:r>
              <a:rPr sz="2000">
                <a:solidFill>
                  <a:srgbClr val="222B33"/>
                </a:solidFill>
                <a:latin typeface="Microsoft YaHei"/>
              </a:rPr>
              <a:t>▪ 要熏蒸消毒，材料须耐湿耐腐蚀、易清洁</a:t>
            </a:r>
          </a:p>
          <a:p>
            <a:pPr>
              <a:spcAft>
                <a:spcPts val="1000"/>
              </a:spcAft>
            </a:pPr>
            <a:r>
              <a:rPr sz="2000">
                <a:solidFill>
                  <a:srgbClr val="222B33"/>
                </a:solidFill>
                <a:latin typeface="Microsoft YaHei"/>
              </a:rPr>
              <a:t>▪ 植物设施的采光要看当地气候</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负压设施要让空气稳定地往里流，墙体、观察窗玻璃和密封都要足够结实；风机出故障时负压可能过大，结构不够会撑破玻璃，所以设计时要有相应的保护和联锁。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在负压实验室墙面随意打孔、钉挂物品</a:t>
            </a:r>
          </a:p>
          <a:p>
            <a:pPr>
              <a:spcAft>
                <a:spcPts val="1000"/>
              </a:spcAft>
            </a:pPr>
            <a:r>
              <a:rPr sz="1500">
                <a:solidFill>
                  <a:srgbClr val="222B33"/>
                </a:solidFill>
                <a:latin typeface="Microsoft YaHei"/>
              </a:rPr>
              <a:t>▪ 熏蒸消毒后未经确认就进入房间</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设计时就考虑物理安保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安保要在设计时就考虑进去</a:t>
            </a:r>
          </a:p>
          <a:p>
            <a:pPr>
              <a:spcAft>
                <a:spcPts val="1000"/>
              </a:spcAft>
            </a:pPr>
            <a:r>
              <a:rPr sz="2000">
                <a:solidFill>
                  <a:srgbClr val="222B33"/>
                </a:solidFill>
                <a:latin typeface="Microsoft YaHei"/>
              </a:rPr>
              <a:t>▪ 门禁和监控管住人员进出</a:t>
            </a:r>
          </a:p>
          <a:p>
            <a:pPr>
              <a:spcAft>
                <a:spcPts val="1000"/>
              </a:spcAft>
            </a:pPr>
            <a:r>
              <a:rPr sz="2000">
                <a:solidFill>
                  <a:srgbClr val="222B33"/>
                </a:solidFill>
                <a:latin typeface="Microsoft YaHei"/>
              </a:rPr>
              <a:t>▪ 防止材料被盗、被私自扩繁</a:t>
            </a:r>
          </a:p>
          <a:p>
            <a:pPr>
              <a:spcAft>
                <a:spcPts val="1000"/>
              </a:spcAft>
            </a:pPr>
            <a:r>
              <a:rPr sz="2000">
                <a:solidFill>
                  <a:srgbClr val="222B33"/>
                </a:solidFill>
                <a:latin typeface="Microsoft YaHei"/>
              </a:rPr>
              <a:t>▪ 数据和资料也要加密管好</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生物安保要在设计时就考虑进去，事后补救既贵又难。门禁、监控等物理安保措施管住人员进出，防止病原材料被盗、被私自扩繁或带出；实验数据和资料也要加密、分级管理。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把门禁卡借给他人或让他人尾随进入</a:t>
            </a:r>
          </a:p>
          <a:p>
            <a:pPr>
              <a:spcAft>
                <a:spcPts val="1000"/>
              </a:spcAft>
            </a:pPr>
            <a:r>
              <a:rPr sz="1500">
                <a:solidFill>
                  <a:srgbClr val="222B33"/>
                </a:solidFill>
                <a:latin typeface="Microsoft YaHei"/>
              </a:rPr>
              <a:t>▪ 在网上发布实验室布局和安保设施照片</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需求、设计、施工、认可四步走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第一步：定需求和预算，量力而行</a:t>
            </a:r>
          </a:p>
          <a:p>
            <a:pPr>
              <a:spcAft>
                <a:spcPts val="1000"/>
              </a:spcAft>
            </a:pPr>
            <a:r>
              <a:rPr sz="1700">
                <a:solidFill>
                  <a:srgbClr val="222B33"/>
                </a:solidFill>
                <a:latin typeface="Microsoft YaHei"/>
              </a:rPr>
              <a:t>▪ 第二步：初步设计，对照建筑消防等标准查合规</a:t>
            </a:r>
          </a:p>
          <a:p>
            <a:pPr>
              <a:spcAft>
                <a:spcPts val="1000"/>
              </a:spcAft>
            </a:pPr>
            <a:r>
              <a:rPr sz="1700">
                <a:solidFill>
                  <a:srgbClr val="222B33"/>
                </a:solidFill>
                <a:latin typeface="Microsoft YaHei"/>
              </a:rPr>
              <a:t>▪ 第三步：施工中改动要马上告诉工程师</a:t>
            </a:r>
          </a:p>
          <a:p>
            <a:pPr>
              <a:spcAft>
                <a:spcPts val="1000"/>
              </a:spcAft>
            </a:pPr>
            <a:r>
              <a:rPr sz="1700">
                <a:solidFill>
                  <a:srgbClr val="222B33"/>
                </a:solidFill>
                <a:latin typeface="Microsoft YaHei"/>
              </a:rPr>
              <a:t>▪ 第四步：验收认可，没通过不能开展实验</a:t>
            </a:r>
          </a:p>
          <a:p>
            <a:pPr>
              <a:spcAft>
                <a:spcPts val="1000"/>
              </a:spcAft>
            </a:pPr>
            <a:r>
              <a:rPr sz="1700">
                <a:solidFill>
                  <a:srgbClr val="222B33"/>
                </a:solidFill>
                <a:latin typeface="Microsoft YaHei"/>
              </a:rPr>
              <a:t>▪ 一二级备案，三四级审批并通过国家认可</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建设一般分四步。第一步，需求和预算：按实际需要确定规模，预算有限不要贪大，并考虑每年的维护费。第二步，初步设计：对照建筑规范、消防疏散和生物安全标准（GB 19489-2008、GB 50346 等）逐项查合规。第三……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施工中随意增加隔墙或改变管线而不告知设计方</a:t>
            </a:r>
          </a:p>
          <a:p>
            <a:pPr>
              <a:spcAft>
                <a:spcPts val="1000"/>
              </a:spcAft>
            </a:pPr>
            <a:r>
              <a:rPr sz="1500">
                <a:solidFill>
                  <a:srgbClr val="222B33"/>
                </a:solidFill>
                <a:latin typeface="Microsoft YaHei"/>
              </a:rPr>
              <a:t>▪ 实验室刚装修完就开始做病原实验</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使用者和生物安全员参与建设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工程师懂结构，研究者懂生物，管理者协调</a:t>
            </a:r>
          </a:p>
          <a:p>
            <a:pPr>
              <a:spcAft>
                <a:spcPts val="1000"/>
              </a:spcAft>
            </a:pPr>
            <a:r>
              <a:rPr sz="1700">
                <a:solidFill>
                  <a:srgbClr val="222B33"/>
                </a:solidFill>
                <a:latin typeface="Microsoft YaHei"/>
              </a:rPr>
              <a:t>▪ 生物安全员要看懂图纸、懂通风空调</a:t>
            </a:r>
          </a:p>
          <a:p>
            <a:pPr>
              <a:spcAft>
                <a:spcPts val="1000"/>
              </a:spcAft>
            </a:pPr>
            <a:r>
              <a:rPr sz="1700">
                <a:solidFill>
                  <a:srgbClr val="222B33"/>
                </a:solidFill>
                <a:latin typeface="Microsoft YaHei"/>
              </a:rPr>
              <a:t>▪ 从建造、验收、维护到停用都参与</a:t>
            </a:r>
          </a:p>
          <a:p>
            <a:pPr>
              <a:spcAft>
                <a:spcPts val="1000"/>
              </a:spcAft>
            </a:pPr>
            <a:r>
              <a:rPr sz="1700">
                <a:solidFill>
                  <a:srgbClr val="222B33"/>
                </a:solidFill>
                <a:latin typeface="Microsoft YaHei"/>
              </a:rPr>
              <a:t>▪ 代表单位与设计方、主管部门沟通</a:t>
            </a:r>
          </a:p>
          <a:p>
            <a:pPr>
              <a:spcAft>
                <a:spcPts val="1000"/>
              </a:spcAft>
            </a:pPr>
            <a:r>
              <a:rPr sz="1700">
                <a:solidFill>
                  <a:srgbClr val="222B33"/>
                </a:solidFill>
                <a:latin typeface="Microsoft YaHei"/>
              </a:rPr>
              <a:t>▪ 使用者在关键阶段参与</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设施设计要多方合作：工程师懂结构，研究者懂生物，管理者居中协调，让设施既满足工程要求又满足实验需要，并符合生物安全法规和标准。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设计全部交给施工方，使用者和安全员到验收时才看</a:t>
            </a:r>
          </a:p>
          <a:p>
            <a:pPr>
              <a:spcAft>
                <a:spcPts val="1000"/>
              </a:spcAft>
            </a:pPr>
            <a:r>
              <a:rPr sz="1500">
                <a:solidFill>
                  <a:srgbClr val="222B33"/>
                </a:solidFill>
                <a:latin typeface="Microsoft YaHei"/>
              </a:rPr>
              <a:t>▪ 生物安全员只管制度，不了解设施</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运行维护：过滤器和关键设备定期检测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安全柜、灭菌器、过滤器、负压要定期检测</a:t>
            </a:r>
          </a:p>
          <a:p>
            <a:pPr>
              <a:spcAft>
                <a:spcPts val="1000"/>
              </a:spcAft>
            </a:pPr>
            <a:r>
              <a:rPr sz="1700">
                <a:solidFill>
                  <a:srgbClr val="222B33"/>
                </a:solidFill>
                <a:latin typeface="Microsoft YaHei"/>
              </a:rPr>
              <a:t>▪ 用前看一眼检测标识是否在有效期内</a:t>
            </a:r>
          </a:p>
          <a:p>
            <a:pPr>
              <a:spcAft>
                <a:spcPts val="1000"/>
              </a:spcAft>
            </a:pPr>
            <a:r>
              <a:rPr sz="1700">
                <a:solidFill>
                  <a:srgbClr val="222B33"/>
                </a:solidFill>
                <a:latin typeface="Microsoft YaHei"/>
              </a:rPr>
              <a:t>▪ 过期未检或检测不合格，停用</a:t>
            </a:r>
          </a:p>
          <a:p>
            <a:pPr>
              <a:spcAft>
                <a:spcPts val="1000"/>
              </a:spcAft>
            </a:pPr>
            <a:r>
              <a:rPr sz="1700">
                <a:solidFill>
                  <a:srgbClr val="222B33"/>
                </a:solidFill>
                <a:latin typeface="Microsoft YaHei"/>
              </a:rPr>
              <a:t>▪ 换过滤器先原位消毒，专人装袋更换</a:t>
            </a:r>
          </a:p>
          <a:p>
            <a:pPr>
              <a:spcAft>
                <a:spcPts val="1000"/>
              </a:spcAft>
            </a:pPr>
            <a:r>
              <a:rPr sz="1700">
                <a:solidFill>
                  <a:srgbClr val="222B33"/>
                </a:solidFill>
                <a:latin typeface="Microsoft YaHei"/>
              </a:rPr>
              <a:t>▪ 装好检漏合格才能用，学生不碰过滤箱</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控制措施装好了还要常维护。生物安全柜、高压灭菌器要按期检测、校准，排风过滤器、压差和定向气流要定期检测验证；维护和检测都要留记录，坏了及时修。使用前看一眼设备上的检测标识是否在有效期内；过期未检或检测不合格的设备挂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使用检测过期的生物安全柜</a:t>
            </a:r>
          </a:p>
          <a:p>
            <a:pPr>
              <a:spcAft>
                <a:spcPts val="1000"/>
              </a:spcAft>
            </a:pPr>
            <a:r>
              <a:rPr sz="1500">
                <a:solidFill>
                  <a:srgbClr val="222B33"/>
                </a:solidFill>
                <a:latin typeface="Microsoft YaHei"/>
              </a:rPr>
              <a:t>▪ 非专业人员自行打开过滤箱或更换过滤器</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认可有期限，变化要重新评审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认可和备案不是一劳永逸</a:t>
            </a:r>
          </a:p>
          <a:p>
            <a:pPr>
              <a:spcAft>
                <a:spcPts val="1000"/>
              </a:spcAft>
            </a:pPr>
            <a:r>
              <a:rPr sz="2000">
                <a:solidFill>
                  <a:srgbClr val="222B33"/>
                </a:solidFill>
                <a:latin typeface="Microsoft YaHei"/>
              </a:rPr>
              <a:t>▪ 要接受定期复评和监督检查</a:t>
            </a:r>
          </a:p>
          <a:p>
            <a:pPr>
              <a:spcAft>
                <a:spcPts val="1000"/>
              </a:spcAft>
            </a:pPr>
            <a:r>
              <a:rPr sz="2000">
                <a:solidFill>
                  <a:srgbClr val="222B33"/>
                </a:solidFill>
                <a:latin typeface="Microsoft YaHei"/>
              </a:rPr>
              <a:t>▪ 设施改动、条件变化，要重新评审</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实验室的认可和备案都不是一劳永逸的：认可有有效期，到期要复评，有效期内还要接受监督评审和主管部门的监督检查（具体周期以现行规定为准）。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认为一次通过认可就可以长期不管</a:t>
            </a:r>
          </a:p>
          <a:p>
            <a:pPr>
              <a:spcAft>
                <a:spcPts val="1000"/>
              </a:spcAft>
            </a:pPr>
            <a:r>
              <a:rPr sz="1500">
                <a:solidFill>
                  <a:srgbClr val="222B33"/>
                </a:solidFill>
                <a:latin typeface="Microsoft YaHei"/>
              </a:rPr>
              <a:t>▪ 改造房间或更换关键设备后不重新检测和评审</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停用搬迁：先去污，再验收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实验室停用、设备搬迁前先彻底去污</a:t>
            </a:r>
          </a:p>
          <a:p>
            <a:pPr>
              <a:spcAft>
                <a:spcPts val="1000"/>
              </a:spcAft>
            </a:pPr>
            <a:r>
              <a:rPr sz="2000">
                <a:solidFill>
                  <a:srgbClr val="222B33"/>
                </a:solidFill>
                <a:latin typeface="Microsoft YaHei"/>
              </a:rPr>
              <a:t>▪ 去污后验收合格并签字</a:t>
            </a:r>
          </a:p>
          <a:p>
            <a:pPr>
              <a:spcAft>
                <a:spcPts val="1000"/>
              </a:spcAft>
            </a:pPr>
            <a:r>
              <a:rPr sz="2000">
                <a:solidFill>
                  <a:srgbClr val="222B33"/>
                </a:solidFill>
                <a:latin typeface="Microsoft YaHei"/>
              </a:rPr>
              <a:t>▪ 合格后才能搬走、改用或报废</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实验室停用、设备搬走或维修之前，先由实验室按规程彻底去污（消毒灭菌），清点并妥善处置剩余的生物材料。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未经去污直接把生物安全柜交给维修或搬家公司</a:t>
            </a:r>
          </a:p>
          <a:p>
            <a:pPr>
              <a:spcAft>
                <a:spcPts val="1000"/>
              </a:spcAft>
            </a:pPr>
            <a:r>
              <a:rPr sz="1500">
                <a:solidFill>
                  <a:srgbClr val="222B33"/>
                </a:solidFill>
                <a:latin typeface="Microsoft YaHei"/>
              </a:rPr>
              <a:t>▪ 实验室停用后遗留菌种、样本无人处置</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关于防护设施的设备层，正确的是：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设备层是参观区，可以随意进入</a:t>
            </a:r>
          </a:p>
          <a:p>
            <a:pPr algn="l"/>
            <a:r>
              <a:rPr sz="1500" b="0">
                <a:solidFill>
                  <a:srgbClr val="222B33"/>
                </a:solidFill>
                <a:latin typeface="Microsoft YaHei"/>
              </a:rPr>
              <a:t>B. 风机、过滤器和电控柜放在实验室上方，实验室里不放机械，便于密封清洁</a:t>
            </a:r>
          </a:p>
          <a:p>
            <a:pPr algn="l"/>
            <a:r>
              <a:rPr sz="1500" b="0">
                <a:solidFill>
                  <a:srgbClr val="222B33"/>
                </a:solidFill>
                <a:latin typeface="Microsoft YaHei"/>
              </a:rPr>
              <a:t>C. 过滤器应从实验室房间里拆换</a:t>
            </a:r>
          </a:p>
          <a:p>
            <a:pPr algn="l"/>
            <a:r>
              <a:rPr sz="1500" b="0">
                <a:solidFill>
                  <a:srgbClr val="222B33"/>
                </a:solidFill>
                <a:latin typeface="Microsoft YaHei"/>
              </a:rPr>
              <a:t>D. 维修设备层设备不需要断电</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判断：防护设施的排风只要由屋顶风机排到高空，就可以不经过滤。</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防护设施的废水处理，正确的是：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直接排入市政管网</a:t>
            </a:r>
          </a:p>
          <a:p>
            <a:pPr algn="l"/>
            <a:r>
              <a:rPr sz="1500" b="0">
                <a:solidFill>
                  <a:srgbClr val="222B33"/>
                </a:solidFill>
                <a:latin typeface="Microsoft YaHei"/>
              </a:rPr>
              <a:t>B. 先进暂存罐，再消毒、中和，监测合格后排放</a:t>
            </a:r>
          </a:p>
          <a:p>
            <a:pPr algn="l"/>
            <a:r>
              <a:rPr sz="1500" b="0">
                <a:solidFill>
                  <a:srgbClr val="222B33"/>
                </a:solidFill>
                <a:latin typeface="Microsoft YaHei"/>
              </a:rPr>
              <a:t>C. 只处理灭菌器的废水</a:t>
            </a:r>
          </a:p>
          <a:p>
            <a:pPr algn="l"/>
            <a:r>
              <a:rPr sz="1500" b="0">
                <a:solidFill>
                  <a:srgbClr val="222B33"/>
                </a:solidFill>
                <a:latin typeface="Microsoft YaHei"/>
              </a:rPr>
              <a:t>D. 洗手水不需要处理</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关于实验室建设与认可，正确的是：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施工中加隔墙不必告诉工程师</a:t>
            </a:r>
          </a:p>
          <a:p>
            <a:pPr algn="l"/>
            <a:r>
              <a:rPr sz="1500" b="0">
                <a:solidFill>
                  <a:srgbClr val="222B33"/>
                </a:solidFill>
                <a:latin typeface="Microsoft YaHei"/>
              </a:rPr>
              <a:t>B. 实验室装修完就可以开始做病原实验</a:t>
            </a:r>
          </a:p>
          <a:p>
            <a:pPr algn="l"/>
            <a:r>
              <a:rPr sz="1500" b="0">
                <a:solidFill>
                  <a:srgbClr val="222B33"/>
                </a:solidFill>
                <a:latin typeface="Microsoft YaHei"/>
              </a:rPr>
              <a:t>C. 三级、四级实验室须依法审批并通过国家认可，一级、二级实验室须备案</a:t>
            </a:r>
          </a:p>
          <a:p>
            <a:pPr algn="l"/>
            <a:r>
              <a:rPr sz="1500" b="0">
                <a:solidFill>
                  <a:srgbClr val="222B33"/>
                </a:solidFill>
                <a:latin typeface="Microsoft YaHei"/>
              </a:rPr>
              <a:t>D. 认可一次长期有效</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064 · 生物安全设施的设计、建造与运行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064 生物安全设施的设计、建造与运行</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判断：生物安全柜检测标识已过期，但看起来运转正常，可以继续使用。</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简答：实验室停用、生物安全柜要搬迁时应怎么做？</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设施本身就是防护：工程控制</a:t>
            </a:r>
          </a:p>
          <a:p>
            <a:pPr>
              <a:spcAft>
                <a:spcPts val="800"/>
              </a:spcAft>
            </a:pPr>
            <a:r>
              <a:rPr sz="1500">
                <a:solidFill>
                  <a:srgbClr val="FFFFFF"/>
                </a:solidFill>
                <a:latin typeface="Microsoft YaHei"/>
              </a:rPr>
              <a:t>▪ K2  一座防护设施由什么组成</a:t>
            </a:r>
          </a:p>
          <a:p>
            <a:pPr>
              <a:spcAft>
                <a:spcPts val="800"/>
              </a:spcAft>
            </a:pPr>
            <a:r>
              <a:rPr sz="1500">
                <a:solidFill>
                  <a:srgbClr val="FFFFFF"/>
                </a:solidFill>
                <a:latin typeface="Microsoft YaHei"/>
              </a:rPr>
              <a:t>▪ K3  设备层：机器在上，实验室里不放</a:t>
            </a:r>
          </a:p>
          <a:p>
            <a:pPr>
              <a:spcAft>
                <a:spcPts val="800"/>
              </a:spcAft>
            </a:pPr>
            <a:r>
              <a:rPr sz="1500">
                <a:solidFill>
                  <a:srgbClr val="FFFFFF"/>
                </a:solidFill>
                <a:latin typeface="Microsoft YaHei"/>
              </a:rPr>
              <a:t>▪ K4  进排风都过滤，排风高空排放</a:t>
            </a:r>
          </a:p>
          <a:p>
            <a:pPr>
              <a:spcAft>
                <a:spcPts val="800"/>
              </a:spcAft>
            </a:pPr>
            <a:r>
              <a:rPr sz="1500">
                <a:solidFill>
                  <a:srgbClr val="FFFFFF"/>
                </a:solidFill>
                <a:latin typeface="Microsoft YaHei"/>
              </a:rPr>
              <a:t>▪ K5  控制与监测集中管理</a:t>
            </a:r>
          </a:p>
          <a:p>
            <a:pPr>
              <a:spcAft>
                <a:spcPts val="800"/>
              </a:spcAft>
            </a:pPr>
            <a:r>
              <a:rPr sz="1500">
                <a:solidFill>
                  <a:srgbClr val="FFFFFF"/>
                </a:solidFill>
                <a:latin typeface="Microsoft YaHei"/>
              </a:rPr>
              <a:t>▪ K6  污水与废物：出去之前先去污</a:t>
            </a:r>
          </a:p>
          <a:p>
            <a:pPr>
              <a:spcAft>
                <a:spcPts val="800"/>
              </a:spcAft>
            </a:pPr>
            <a:r>
              <a:rPr sz="1500">
                <a:solidFill>
                  <a:srgbClr val="FFFFFF"/>
                </a:solidFill>
                <a:latin typeface="Microsoft YaHei"/>
              </a:rPr>
              <a:t>▪ K7  先算账：建得起，也要养得起</a:t>
            </a:r>
          </a:p>
          <a:p>
            <a:pPr>
              <a:spcAft>
                <a:spcPts val="800"/>
              </a:spcAft>
            </a:pPr>
            <a:r>
              <a:rPr sz="1500">
                <a:solidFill>
                  <a:srgbClr val="FFFFFF"/>
                </a:solidFill>
                <a:latin typeface="Microsoft YaHei"/>
              </a:rPr>
              <a:t>▪ K8  选址：避开风险，保障支援</a:t>
            </a:r>
          </a:p>
          <a:p>
            <a:pPr>
              <a:spcAft>
                <a:spcPts val="800"/>
              </a:spcAft>
            </a:pPr>
            <a:r>
              <a:rPr sz="1500">
                <a:solidFill>
                  <a:srgbClr val="FFFFFF"/>
                </a:solidFill>
                <a:latin typeface="Microsoft YaHei"/>
              </a:rPr>
              <a:t>▪ K9  布局：相邻集中，分区分流</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出入口缓冲间与穿墙灭菌器</a:t>
            </a:r>
          </a:p>
          <a:p>
            <a:pPr>
              <a:spcAft>
                <a:spcPts val="800"/>
              </a:spcAft>
            </a:pPr>
            <a:r>
              <a:rPr sz="1500">
                <a:solidFill>
                  <a:srgbClr val="FFFFFF"/>
                </a:solidFill>
                <a:latin typeface="Microsoft YaHei"/>
              </a:rPr>
              <a:t>▪ K11  结构和材料要经得住</a:t>
            </a:r>
          </a:p>
          <a:p>
            <a:pPr>
              <a:spcAft>
                <a:spcPts val="800"/>
              </a:spcAft>
            </a:pPr>
            <a:r>
              <a:rPr sz="1500">
                <a:solidFill>
                  <a:srgbClr val="FFFFFF"/>
                </a:solidFill>
                <a:latin typeface="Microsoft YaHei"/>
              </a:rPr>
              <a:t>▪ K12  设计时就考虑物理安保</a:t>
            </a:r>
          </a:p>
          <a:p>
            <a:pPr>
              <a:spcAft>
                <a:spcPts val="800"/>
              </a:spcAft>
            </a:pPr>
            <a:r>
              <a:rPr sz="1500">
                <a:solidFill>
                  <a:srgbClr val="FFFFFF"/>
                </a:solidFill>
                <a:latin typeface="Microsoft YaHei"/>
              </a:rPr>
              <a:t>▪ K13  需求、设计、施工、认可四步走</a:t>
            </a:r>
          </a:p>
          <a:p>
            <a:pPr>
              <a:spcAft>
                <a:spcPts val="800"/>
              </a:spcAft>
            </a:pPr>
            <a:r>
              <a:rPr sz="1500">
                <a:solidFill>
                  <a:srgbClr val="FFFFFF"/>
                </a:solidFill>
                <a:latin typeface="Microsoft YaHei"/>
              </a:rPr>
              <a:t>▪ K14  使用者和生物安全员参与建设</a:t>
            </a:r>
          </a:p>
          <a:p>
            <a:pPr>
              <a:spcAft>
                <a:spcPts val="800"/>
              </a:spcAft>
            </a:pPr>
            <a:r>
              <a:rPr sz="1500">
                <a:solidFill>
                  <a:srgbClr val="FFFFFF"/>
                </a:solidFill>
                <a:latin typeface="Microsoft YaHei"/>
              </a:rPr>
              <a:t>▪ K15  运行维护：过滤器和关键设备定期检测</a:t>
            </a:r>
          </a:p>
          <a:p>
            <a:pPr>
              <a:spcAft>
                <a:spcPts val="800"/>
              </a:spcAft>
            </a:pPr>
            <a:r>
              <a:rPr sz="1500">
                <a:solidFill>
                  <a:srgbClr val="FFFFFF"/>
                </a:solidFill>
                <a:latin typeface="Microsoft YaHei"/>
              </a:rPr>
              <a:t>▪ K16  认可有期限，变化要重新评审</a:t>
            </a:r>
          </a:p>
          <a:p>
            <a:pPr>
              <a:spcAft>
                <a:spcPts val="800"/>
              </a:spcAft>
            </a:pPr>
            <a:r>
              <a:rPr sz="1500">
                <a:solidFill>
                  <a:srgbClr val="FFFFFF"/>
                </a:solidFill>
                <a:latin typeface="Microsoft YaHei"/>
              </a:rPr>
              <a:t>▪ K17  停用搬迁：先去污，再验收</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生物风险管理体系与AMP模型</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8 分钟（卡通视频 96 镜）　适用对象：进入生命科学、医学、农学、环境等涉及生物材料实验室的高校本科生、研究生和教职工（必修）；实验室负责人、生物安全员和编写实验室生物安全管理文件的人员重点学习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能说出生物风险管理的含义（生物安全加生物安保）、目的，以及国内“设立单位负责、三级管理、生物安全委员会、按国家标准建立管理体系”的框架。</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 AMP 模型（评估、减缓、绩效）三步各回答什么问题，以及它与“计划—执行—检查—改进”循环的对应关系。</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能说出管理体系的要素（方针、领导承诺、人人知晓、实施运行、检查与纠正、持续改进）和体系文件的四个层次。</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能做到参与起草或学习本实验室的生物风险管理计划，知道其中的范围目标、角色职责、风险评估程序、操作规程、培训、事件响应、维护检查、文件记录和评审。</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《中华人民共和国生物安全法》（以现行文本为准）：病原微生物实验室的设立单位负责实验室的生物安全管理，建立健全管理制度</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《病原微生物实验室生物安全管理条例》（以现行文本为准）：实验室设立单位及其主管部门负责生物安全管理；实验室负责人为第一责任人；制定操作规程、培训、档案和事故报告制度</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生物安全通用要求》：管理体系、安全管理手册和程序文件、安全计划、风险评估、记录控制、内部审核与管理评审</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233（以现行文本为准）《病原微生物实验室生物安全通用准则》：实验室生物安全管理体系和管理要求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45001-2020、GB/T 24001-2016（以现行文本为准）：管理体系“策划—实施—检查—改进”（PDCA）的思路，可作参照</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号，以现行文本为准）：学校—学院—实验室三级管理，实验室安全责任体系和制度建设</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本校实验室生物安全管理办法、生物安全委员会章程和实验室安全管理手册（以本校规定为准）</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生物风险管理：生物安全加生物安保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生物风险管理包括生物安全和生物安保两部分</a:t>
            </a:r>
          </a:p>
          <a:p>
            <a:pPr>
              <a:spcAft>
                <a:spcPts val="1000"/>
              </a:spcAft>
            </a:pPr>
            <a:r>
              <a:rPr sz="1700">
                <a:solidFill>
                  <a:srgbClr val="222B33"/>
                </a:solidFill>
                <a:latin typeface="Microsoft YaHei"/>
              </a:rPr>
              <a:t>▪ 生物安全防意外暴露，生物安保防丢失、被盗和滥用</a:t>
            </a:r>
          </a:p>
          <a:p>
            <a:pPr>
              <a:spcAft>
                <a:spcPts val="1000"/>
              </a:spcAft>
            </a:pPr>
            <a:r>
              <a:rPr sz="1700">
                <a:solidFill>
                  <a:srgbClr val="222B33"/>
                </a:solidFill>
                <a:latin typeface="Microsoft YaHei"/>
              </a:rPr>
              <a:t>▪ 管材料的接收、使用、储存到销毁全过程</a:t>
            </a:r>
          </a:p>
          <a:p>
            <a:pPr>
              <a:spcAft>
                <a:spcPts val="1000"/>
              </a:spcAft>
            </a:pPr>
            <a:r>
              <a:rPr sz="1700">
                <a:solidFill>
                  <a:srgbClr val="222B33"/>
                </a:solidFill>
                <a:latin typeface="Microsoft YaHei"/>
              </a:rPr>
              <a:t>▪ 重点是病原、毒素和转基因生物</a:t>
            </a:r>
          </a:p>
          <a:p>
            <a:pPr>
              <a:spcAft>
                <a:spcPts val="1000"/>
              </a:spcAft>
            </a:pPr>
            <a:r>
              <a:rPr sz="1700">
                <a:solidFill>
                  <a:srgbClr val="222B33"/>
                </a:solidFill>
                <a:latin typeface="Microsoft YaHei"/>
              </a:rPr>
              <a:t>▪ 生物安全领域很广，本课聚焦实验室</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生物风险管理就是把实验室的生物风险管住，这是实验室每个人的事。它是一套系统方法，把两件事合在一起：生物安全，防的是人员意外接触和病原意外泄漏；生物安保，防的是生物材料丢失、被盗和被故意滥用（生物安保见第 083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认为生物风险管理只是“防感染”，忽视样本丢失和被盗</a:t>
            </a:r>
          </a:p>
          <a:p>
            <a:pPr>
              <a:spcAft>
                <a:spcPts val="1000"/>
              </a:spcAft>
            </a:pPr>
            <a:r>
              <a:rPr sz="1500">
                <a:solidFill>
                  <a:srgbClr val="222B33"/>
                </a:solidFill>
                <a:latin typeface="Microsoft YaHei"/>
              </a:rPr>
              <a:t>▪ 认为管理只是负责人和管理员的事</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为什么要管：保护人员、公众和环境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首先防实验室获得性感染，不把病带回家</a:t>
            </a:r>
          </a:p>
          <a:p>
            <a:pPr>
              <a:spcAft>
                <a:spcPts val="1000"/>
              </a:spcAft>
            </a:pPr>
            <a:r>
              <a:rPr sz="2000">
                <a:solidFill>
                  <a:srgbClr val="222B33"/>
                </a:solidFill>
                <a:latin typeface="Microsoft YaHei"/>
              </a:rPr>
              <a:t>▪ 保护公众和环境，不让有害因子外泄</a:t>
            </a:r>
          </a:p>
          <a:p>
            <a:pPr>
              <a:spcAft>
                <a:spcPts val="1000"/>
              </a:spcAft>
            </a:pPr>
            <a:r>
              <a:rPr sz="2000">
                <a:solidFill>
                  <a:srgbClr val="222B33"/>
                </a:solidFill>
                <a:latin typeface="Microsoft YaHei"/>
              </a:rPr>
              <a:t>▪ 也关系到国家安全</a:t>
            </a:r>
          </a:p>
          <a:p>
            <a:pPr>
              <a:spcAft>
                <a:spcPts val="1000"/>
              </a:spcAft>
            </a:pPr>
            <a:r>
              <a:rPr sz="2000">
                <a:solidFill>
                  <a:srgbClr val="222B33"/>
                </a:solidFill>
                <a:latin typeface="Microsoft YaHei"/>
              </a:rPr>
              <a:t>▪ 国际手册可参考，国内依法律和国家标准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为什么要建立生物风险管理？首先是防止实验室获得性感染：在实验室工作，不应把病带回家。其次是保护公众和环境，无论意外还是蓄意，都不让有害生物因子外泄；它也关系到国家生物安全。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以国外手册的数值和做法代替国内法规和标准</a:t>
            </a:r>
          </a:p>
          <a:p>
            <a:pPr>
              <a:spcAft>
                <a:spcPts val="1000"/>
              </a:spcAft>
            </a:pPr>
            <a:r>
              <a:rPr sz="1500">
                <a:solidFill>
                  <a:srgbClr val="222B33"/>
                </a:solidFill>
                <a:latin typeface="Microsoft YaHei"/>
              </a:rPr>
              <a:t>▪ 认为“没出过事”就不需要管理体系</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国内要求：设立单位负责，体系化管理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依据：生物安全法、条例和国家标准</a:t>
            </a:r>
          </a:p>
          <a:p>
            <a:pPr>
              <a:spcAft>
                <a:spcPts val="1000"/>
              </a:spcAft>
            </a:pPr>
            <a:r>
              <a:rPr sz="2000">
                <a:solidFill>
                  <a:srgbClr val="222B33"/>
                </a:solidFill>
                <a:latin typeface="Microsoft YaHei"/>
              </a:rPr>
              <a:t>▪ 设立单位负责，学校—学院—实验室三级落实</a:t>
            </a:r>
          </a:p>
          <a:p>
            <a:pPr>
              <a:spcAft>
                <a:spcPts val="1000"/>
              </a:spcAft>
            </a:pPr>
            <a:r>
              <a:rPr sz="2000">
                <a:solidFill>
                  <a:srgbClr val="222B33"/>
                </a:solidFill>
                <a:latin typeface="Microsoft YaHei"/>
              </a:rPr>
              <a:t>▪ 生物安全委员会审议重要事项</a:t>
            </a:r>
          </a:p>
          <a:p>
            <a:pPr>
              <a:spcAft>
                <a:spcPts val="1000"/>
              </a:spcAft>
            </a:pPr>
            <a:r>
              <a:rPr sz="2000">
                <a:solidFill>
                  <a:srgbClr val="222B33"/>
                </a:solidFill>
                <a:latin typeface="Microsoft YaHei"/>
              </a:rPr>
              <a:t>▪ 按国家标准建立管理体系并持续运行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在我国，病原微生物实验室的生物安全管理由实验室设立单位负责，实验室负责人是第一责任人（以现行法规为准）。高校按学校—学院—实验室三级管理落实责任：学校制定制度、设立生物安全委员会，学院监督检查，实验室负责人组织本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把生物安全委员会当成“走形式”，重要实验不提交审议</a:t>
            </a:r>
          </a:p>
          <a:p>
            <a:pPr>
              <a:spcAft>
                <a:spcPts val="1000"/>
              </a:spcAft>
            </a:pPr>
            <a:r>
              <a:rPr sz="1500">
                <a:solidFill>
                  <a:srgbClr val="222B33"/>
                </a:solidFill>
                <a:latin typeface="Microsoft YaHei"/>
              </a:rPr>
              <a:t>▪ 只有制度条文，没有按体系运行和检查</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AMP模型：评估、减缓、绩效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国际通行的生物风险管理方法：AMP 模型</a:t>
            </a:r>
          </a:p>
          <a:p>
            <a:pPr>
              <a:spcAft>
                <a:spcPts val="1000"/>
              </a:spcAft>
            </a:pPr>
            <a:r>
              <a:rPr sz="1700">
                <a:solidFill>
                  <a:srgbClr val="222B33"/>
                </a:solidFill>
                <a:latin typeface="Microsoft YaHei"/>
              </a:rPr>
              <a:t>▪ 评估问：有什么风险，有多大？</a:t>
            </a:r>
          </a:p>
          <a:p>
            <a:pPr>
              <a:spcAft>
                <a:spcPts val="1000"/>
              </a:spcAft>
            </a:pPr>
            <a:r>
              <a:rPr sz="1700">
                <a:solidFill>
                  <a:srgbClr val="222B33"/>
                </a:solidFill>
                <a:latin typeface="Microsoft YaHei"/>
              </a:rPr>
              <a:t>▪ 减缓问：怎样把风险降下来？</a:t>
            </a:r>
          </a:p>
          <a:p>
            <a:pPr>
              <a:spcAft>
                <a:spcPts val="1000"/>
              </a:spcAft>
            </a:pPr>
            <a:r>
              <a:rPr sz="1700">
                <a:solidFill>
                  <a:srgbClr val="222B33"/>
                </a:solidFill>
                <a:latin typeface="Microsoft YaHei"/>
              </a:rPr>
              <a:t>▪ 绩效问：怎么确认真的降下来了？</a:t>
            </a:r>
          </a:p>
          <a:p>
            <a:pPr>
              <a:spcAft>
                <a:spcPts val="1000"/>
              </a:spcAft>
            </a:pPr>
            <a:r>
              <a:rPr sz="1700">
                <a:solidFill>
                  <a:srgbClr val="222B33"/>
                </a:solidFill>
                <a:latin typeface="Microsoft YaHei"/>
              </a:rPr>
              <a:t>▪ 三步是生物风险管理的基础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AMP 模型是国际通行的管理生物风险的基本方法，由三步组成：评估（Assessment）、减缓（Mitigation）、绩效（Performance）。评估回答“有什么风险、有多大”；减缓回答“怎样把风险降下来”；绩……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只做评估，不落实控制措施</a:t>
            </a:r>
          </a:p>
          <a:p>
            <a:pPr>
              <a:spcAft>
                <a:spcPts val="1000"/>
              </a:spcAft>
            </a:pPr>
            <a:r>
              <a:rPr sz="1500">
                <a:solidFill>
                  <a:srgbClr val="222B33"/>
                </a:solidFill>
                <a:latin typeface="Microsoft YaHei"/>
              </a:rPr>
              <a:t>▪ 采取措施后从不检查效果</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第一步：风险评估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看病原多危险、要做什么操作</a:t>
            </a:r>
          </a:p>
          <a:p>
            <a:pPr>
              <a:spcAft>
                <a:spcPts val="1000"/>
              </a:spcAft>
            </a:pPr>
            <a:r>
              <a:rPr sz="2000">
                <a:solidFill>
                  <a:srgbClr val="222B33"/>
                </a:solidFill>
                <a:latin typeface="Microsoft YaHei"/>
              </a:rPr>
              <a:t>▪ 估计出事的可能性和后果有多大</a:t>
            </a:r>
          </a:p>
          <a:p>
            <a:pPr>
              <a:spcAft>
                <a:spcPts val="1000"/>
              </a:spcAft>
            </a:pPr>
            <a:r>
              <a:rPr sz="2000">
                <a:solidFill>
                  <a:srgbClr val="222B33"/>
                </a:solidFill>
                <a:latin typeface="Microsoft YaHei"/>
              </a:rPr>
              <a:t>▪ 负责人组织，管理人员审核，动手的人参与</a:t>
            </a:r>
          </a:p>
          <a:p>
            <a:pPr>
              <a:spcAft>
                <a:spcPts val="1000"/>
              </a:spcAft>
            </a:pPr>
            <a:r>
              <a:rPr sz="2000">
                <a:solidFill>
                  <a:srgbClr val="222B33"/>
                </a:solidFill>
                <a:latin typeface="Microsoft YaHei"/>
              </a:rPr>
              <a:t>▪ 评估是其他所有工作的出发点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第一步是风险评估：找出实验里有哪些有害生物因子，这东西有多危险，我要做什么操作，估计出事的可能性和后果有多大，从而判断风险高低。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照抄别的实验室的评估报告</a:t>
            </a:r>
          </a:p>
          <a:p>
            <a:pPr>
              <a:spcAft>
                <a:spcPts val="1000"/>
              </a:spcAft>
            </a:pPr>
            <a:r>
              <a:rPr sz="1500">
                <a:solidFill>
                  <a:srgbClr val="222B33"/>
                </a:solidFill>
                <a:latin typeface="Microsoft YaHei"/>
              </a:rPr>
              <a:t>▪ 学生只签字，不了解评估内容</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第二步：风险减缓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按控制层级，从消除到个人防护一层层加</a:t>
            </a:r>
          </a:p>
          <a:p>
            <a:pPr>
              <a:spcAft>
                <a:spcPts val="1000"/>
              </a:spcAft>
            </a:pPr>
            <a:r>
              <a:rPr sz="1700">
                <a:solidFill>
                  <a:srgbClr val="222B33"/>
                </a:solidFill>
                <a:latin typeface="Microsoft YaHei"/>
              </a:rPr>
              <a:t>▪ 设施、规程、防护用品一起上</a:t>
            </a:r>
          </a:p>
          <a:p>
            <a:pPr>
              <a:spcAft>
                <a:spcPts val="1000"/>
              </a:spcAft>
            </a:pPr>
            <a:r>
              <a:rPr sz="1700">
                <a:solidFill>
                  <a:srgbClr val="222B33"/>
                </a:solidFill>
                <a:latin typeface="Microsoft YaHei"/>
              </a:rPr>
              <a:t>▪ 安全措施防暴露，安保措施防丢失被盗</a:t>
            </a:r>
          </a:p>
          <a:p>
            <a:pPr>
              <a:spcAft>
                <a:spcPts val="1000"/>
              </a:spcAft>
            </a:pPr>
            <a:r>
              <a:rPr sz="1700">
                <a:solidFill>
                  <a:srgbClr val="222B33"/>
                </a:solidFill>
                <a:latin typeface="Microsoft YaHei"/>
              </a:rPr>
              <a:t>▪ 加完再评估，不可接受就再加</a:t>
            </a:r>
          </a:p>
          <a:p>
            <a:pPr>
              <a:spcAft>
                <a:spcPts val="1000"/>
              </a:spcAft>
            </a:pPr>
            <a:r>
              <a:rPr sz="1700">
                <a:solidFill>
                  <a:srgbClr val="222B33"/>
                </a:solidFill>
                <a:latin typeface="Microsoft YaHei"/>
              </a:rPr>
              <a:t>▪ 风险越高，投入的资金和人力越足</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第二步是风险减缓：按控制层级（消除、替代、工程控制、管理控制、个人防护，见第 017 课）采取措施，把风险降到可接受的程度。设施设备、标准操作规程和个人防护用品要一起上，不能只靠一种。生物安全措施防止人员意外暴露，生……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只靠个人防护，不考虑工程和管理控制</a:t>
            </a:r>
          </a:p>
          <a:p>
            <a:pPr>
              <a:spcAft>
                <a:spcPts val="1000"/>
              </a:spcAft>
            </a:pPr>
            <a:r>
              <a:rPr sz="1500">
                <a:solidFill>
                  <a:srgbClr val="222B33"/>
                </a:solidFill>
                <a:latin typeface="Microsoft YaHei"/>
              </a:rPr>
              <a:t>▪ 加了措施不再评估残余风险</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第三步：绩效评估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看措施执行了没有、管不管用</a:t>
            </a:r>
          </a:p>
          <a:p>
            <a:pPr>
              <a:spcAft>
                <a:spcPts val="1000"/>
              </a:spcAft>
            </a:pPr>
            <a:r>
              <a:rPr sz="2000">
                <a:solidFill>
                  <a:srgbClr val="222B33"/>
                </a:solidFill>
                <a:latin typeface="Microsoft YaHei"/>
              </a:rPr>
              <a:t>▪ 定期检查设备，审核记录</a:t>
            </a:r>
          </a:p>
          <a:p>
            <a:pPr>
              <a:spcAft>
                <a:spcPts val="1000"/>
              </a:spcAft>
            </a:pPr>
            <a:r>
              <a:rPr sz="2000">
                <a:solidFill>
                  <a:srgbClr val="222B33"/>
                </a:solidFill>
                <a:latin typeface="Microsoft YaHei"/>
              </a:rPr>
              <a:t>▪ 组织演练，看大家会不会处置</a:t>
            </a:r>
          </a:p>
          <a:p>
            <a:pPr>
              <a:spcAft>
                <a:spcPts val="1000"/>
              </a:spcAft>
            </a:pPr>
            <a:r>
              <a:rPr sz="2000">
                <a:solidFill>
                  <a:srgbClr val="222B33"/>
                </a:solidFill>
                <a:latin typeface="Microsoft YaHei"/>
              </a:rPr>
              <a:t>▪ 发现问题，回到第一步改进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三步是绩效评估：看控制措施选得对不对、有没有执行、管不管用，设备和防护有没有正常工作。方法包括定期检查，看措施是否真的落实；审核记录，看体系是否按规定运行；组织应急演练，看大家会不会处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检查只看文件，不看现场操作</a:t>
            </a:r>
          </a:p>
          <a:p>
            <a:pPr>
              <a:spcAft>
                <a:spcPts val="1000"/>
              </a:spcAft>
            </a:pPr>
            <a:r>
              <a:rPr sz="1500">
                <a:solidFill>
                  <a:srgbClr val="222B33"/>
                </a:solidFill>
                <a:latin typeface="Microsoft YaHei"/>
              </a:rPr>
              <a:t>▪ 发现问题只口头提醒，不记录、不跟踪整改</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一圈圈转：AMP与PDCA循环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管理靠计划、执行、检查、改进循环</a:t>
            </a:r>
          </a:p>
          <a:p>
            <a:pPr>
              <a:spcAft>
                <a:spcPts val="1000"/>
              </a:spcAft>
            </a:pPr>
            <a:r>
              <a:rPr sz="1700">
                <a:solidFill>
                  <a:srgbClr val="222B33"/>
                </a:solidFill>
                <a:latin typeface="Microsoft YaHei"/>
              </a:rPr>
              <a:t>▪ 评估对应计划，减缓对应执行，绩效对应检查改进</a:t>
            </a:r>
          </a:p>
          <a:p>
            <a:pPr>
              <a:spcAft>
                <a:spcPts val="1000"/>
              </a:spcAft>
            </a:pPr>
            <a:r>
              <a:rPr sz="1700">
                <a:solidFill>
                  <a:srgbClr val="222B33"/>
                </a:solidFill>
                <a:latin typeface="Microsoft YaHei"/>
              </a:rPr>
              <a:t>▪ 写下怎么做，就照写的做</a:t>
            </a:r>
          </a:p>
          <a:p>
            <a:pPr>
              <a:spcAft>
                <a:spcPts val="1000"/>
              </a:spcAft>
            </a:pPr>
            <a:r>
              <a:rPr sz="1700">
                <a:solidFill>
                  <a:srgbClr val="222B33"/>
                </a:solidFill>
                <a:latin typeface="Microsoft YaHei"/>
              </a:rPr>
              <a:t>▪ 安全员观察找根源，改进规程再回到评估</a:t>
            </a:r>
          </a:p>
          <a:p>
            <a:pPr>
              <a:spcAft>
                <a:spcPts val="1000"/>
              </a:spcAft>
            </a:pPr>
            <a:r>
              <a:rPr sz="1700">
                <a:solidFill>
                  <a:srgbClr val="222B33"/>
                </a:solidFill>
                <a:latin typeface="Microsoft YaHei"/>
              </a:rPr>
              <a:t>▪ 每转一圈，管理就提高一点</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管理实验室靠一个循环：计划、执行、检查、改进（PDCA），周而复始。用到生物风险上，就是 AMP 三步：策划从风险评估开始（识别危害、评估风险、确定怎样管住风险），对应“计划”；减缓对应“执行”；绩效对应“检查”和“……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规程写好后多年不修订</a:t>
            </a:r>
          </a:p>
          <a:p>
            <a:pPr>
              <a:spcAft>
                <a:spcPts val="1000"/>
              </a:spcAft>
            </a:pPr>
            <a:r>
              <a:rPr sz="1500">
                <a:solidFill>
                  <a:srgbClr val="222B33"/>
                </a:solidFill>
                <a:latin typeface="Microsoft YaHei"/>
              </a:rPr>
              <a:t>▪ 实际做法和书面规程两张皮</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体系：一环扣一环的过程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体系是一组相互关联的过程</a:t>
            </a:r>
          </a:p>
          <a:p>
            <a:pPr>
              <a:spcAft>
                <a:spcPts val="1000"/>
              </a:spcAft>
            </a:pPr>
            <a:r>
              <a:rPr sz="1700">
                <a:solidFill>
                  <a:srgbClr val="222B33"/>
                </a:solidFill>
                <a:latin typeface="Microsoft YaHei"/>
              </a:rPr>
              <a:t>▪ 一环出错，整条链都受影响</a:t>
            </a:r>
          </a:p>
          <a:p>
            <a:pPr>
              <a:spcAft>
                <a:spcPts val="1000"/>
              </a:spcAft>
            </a:pPr>
            <a:r>
              <a:rPr sz="1700">
                <a:solidFill>
                  <a:srgbClr val="222B33"/>
                </a:solidFill>
                <a:latin typeface="Microsoft YaHei"/>
              </a:rPr>
              <a:t>▪ 把流程画出来，每步都会产生废物</a:t>
            </a:r>
          </a:p>
          <a:p>
            <a:pPr>
              <a:spcAft>
                <a:spcPts val="1000"/>
              </a:spcAft>
            </a:pPr>
            <a:r>
              <a:rPr sz="1700">
                <a:solidFill>
                  <a:srgbClr val="222B33"/>
                </a:solidFill>
                <a:latin typeface="Microsoft YaHei"/>
              </a:rPr>
              <a:t>▪ 体系各部分缺一不可</a:t>
            </a:r>
          </a:p>
          <a:p>
            <a:pPr>
              <a:spcAft>
                <a:spcPts val="1000"/>
              </a:spcAft>
            </a:pPr>
            <a:r>
              <a:rPr sz="1700">
                <a:solidFill>
                  <a:srgbClr val="222B33"/>
                </a:solidFill>
                <a:latin typeface="Microsoft YaHei"/>
              </a:rPr>
              <a:t>▪ 管体系的人，设施等各环节都要懂一点</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实验室里的事是一环扣一环的：一环出错，整条链都受影响。管理体系就是把这些相互关联的过程一起管，还要不断改进。可以把一项检测工作的流程一步步画出来：收样、检测、记录、结果安全上传；每一步都会产生废物，要按规程去污、合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只管实验操作环节，不管运输、记录和废物环节</a:t>
            </a:r>
          </a:p>
          <a:p>
            <a:pPr>
              <a:spcAft>
                <a:spcPts val="1000"/>
              </a:spcAft>
            </a:pPr>
            <a:r>
              <a:rPr sz="1500">
                <a:solidFill>
                  <a:srgbClr val="222B33"/>
                </a:solidFill>
                <a:latin typeface="Microsoft YaHei"/>
              </a:rPr>
              <a:t>▪ 各环节各管各的，出了问题互相推诿</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建体系：定义、结构、理解、改进、认清约束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五要素：定义、结构、理解、改进、认清约束</a:t>
            </a:r>
          </a:p>
          <a:p>
            <a:pPr>
              <a:spcAft>
                <a:spcPts val="1000"/>
              </a:spcAft>
            </a:pPr>
            <a:r>
              <a:rPr sz="1700">
                <a:solidFill>
                  <a:srgbClr val="222B33"/>
                </a:solidFill>
                <a:latin typeface="Microsoft YaHei"/>
              </a:rPr>
              <a:t>▪ 先问：做什么实验、要什么仪器、谁来做</a:t>
            </a:r>
          </a:p>
          <a:p>
            <a:pPr>
              <a:spcAft>
                <a:spcPts val="1000"/>
              </a:spcAft>
            </a:pPr>
            <a:r>
              <a:rPr sz="1700">
                <a:solidFill>
                  <a:srgbClr val="222B33"/>
                </a:solidFill>
                <a:latin typeface="Microsoft YaHei"/>
              </a:rPr>
              <a:t>▪ 还牵涉运输、灭活、废物几个环节</a:t>
            </a:r>
          </a:p>
          <a:p>
            <a:pPr>
              <a:spcAft>
                <a:spcPts val="1000"/>
              </a:spcAft>
            </a:pPr>
            <a:r>
              <a:rPr sz="1700">
                <a:solidFill>
                  <a:srgbClr val="222B33"/>
                </a:solidFill>
                <a:latin typeface="Microsoft YaHei"/>
              </a:rPr>
              <a:t>▪ 人有极限，疲劳最易出事，分工要均衡</a:t>
            </a:r>
          </a:p>
          <a:p>
            <a:pPr>
              <a:spcAft>
                <a:spcPts val="1000"/>
              </a:spcAft>
            </a:pPr>
            <a:r>
              <a:rPr sz="1700">
                <a:solidFill>
                  <a:srgbClr val="222B33"/>
                </a:solidFill>
                <a:latin typeface="Microsoft YaHei"/>
              </a:rPr>
              <a:t>▪ 没有完美的体系，钱和人事先认清</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建体系有五个要素。第一，定义：定目标、划过程，这个实验室做什么，范围到哪。建实验室之前先问几个问题：做哪些实验？要什么仪器和规程？工作怎么安排、谁做什么？牵涉运输、灭活、废物哪些环节？怎样更安全、更高效？有哪些限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人手不足时长时间连续加班做高风险操作</a:t>
            </a:r>
          </a:p>
          <a:p>
            <a:pPr>
              <a:spcAft>
                <a:spcPts val="1000"/>
              </a:spcAft>
            </a:pPr>
            <a:r>
              <a:rPr sz="1500">
                <a:solidFill>
                  <a:srgbClr val="222B33"/>
                </a:solidFill>
                <a:latin typeface="Microsoft YaHei"/>
              </a:rPr>
              <a:t>▪ 不考虑经费和人员条件，计划定得做不到</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方针与领导承诺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一切从一份方针开始</a:t>
            </a:r>
          </a:p>
          <a:p>
            <a:pPr>
              <a:spcAft>
                <a:spcPts val="1000"/>
              </a:spcAft>
            </a:pPr>
            <a:r>
              <a:rPr sz="2000">
                <a:solidFill>
                  <a:srgbClr val="222B33"/>
                </a:solidFill>
                <a:latin typeface="Microsoft YaHei"/>
              </a:rPr>
              <a:t>▪ 方针写明：承诺安全、遵守法规、持续改进</a:t>
            </a:r>
          </a:p>
          <a:p>
            <a:pPr>
              <a:spcAft>
                <a:spcPts val="1000"/>
              </a:spcAft>
            </a:pPr>
            <a:r>
              <a:rPr sz="2000">
                <a:solidFill>
                  <a:srgbClr val="222B33"/>
                </a:solidFill>
                <a:latin typeface="Microsoft YaHei"/>
              </a:rPr>
              <a:t>▪ 领导承诺是体系成功的地基</a:t>
            </a:r>
          </a:p>
          <a:p>
            <a:pPr>
              <a:spcAft>
                <a:spcPts val="1000"/>
              </a:spcAft>
            </a:pPr>
            <a:r>
              <a:rPr sz="2000">
                <a:solidFill>
                  <a:srgbClr val="222B33"/>
                </a:solidFill>
                <a:latin typeface="Microsoft YaHei"/>
              </a:rPr>
              <a:t>▪ 负责人认领方针，给足资源，安全优先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体系一切从一份生物安全方针开始。方针写明单位的承诺：把安全放进主业，遵守国家法律法规和标准，持续改进。</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方针照抄模板，与本单位实际无关</a:t>
            </a:r>
          </a:p>
          <a:p>
            <a:pPr>
              <a:spcAft>
                <a:spcPts val="1000"/>
              </a:spcAft>
            </a:pPr>
            <a:r>
              <a:rPr sz="1500">
                <a:solidFill>
                  <a:srgbClr val="222B33"/>
                </a:solidFill>
                <a:latin typeface="Microsoft YaHei"/>
              </a:rPr>
              <a:t>▪ 有方针无资源，安全经费和人员落实不了</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人人知晓，融入安全文化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方针讲给每个人，保洁清运人员也不例外</a:t>
            </a:r>
          </a:p>
          <a:p>
            <a:pPr>
              <a:spcAft>
                <a:spcPts val="1000"/>
              </a:spcAft>
            </a:pPr>
            <a:r>
              <a:rPr sz="2000">
                <a:solidFill>
                  <a:srgbClr val="222B33"/>
                </a:solidFill>
                <a:latin typeface="Microsoft YaHei"/>
              </a:rPr>
              <a:t>▪ 生物安全和生物安保一起管</a:t>
            </a:r>
          </a:p>
          <a:p>
            <a:pPr>
              <a:spcAft>
                <a:spcPts val="1000"/>
              </a:spcAft>
            </a:pPr>
            <a:r>
              <a:rPr sz="2000">
                <a:solidFill>
                  <a:srgbClr val="222B33"/>
                </a:solidFill>
                <a:latin typeface="Microsoft YaHei"/>
              </a:rPr>
              <a:t>▪ 负责人带头，规矩才立得住</a:t>
            </a:r>
          </a:p>
          <a:p>
            <a:pPr>
              <a:spcAft>
                <a:spcPts val="1000"/>
              </a:spcAft>
            </a:pPr>
            <a:r>
              <a:rPr sz="2000">
                <a:solidFill>
                  <a:srgbClr val="222B33"/>
                </a:solidFill>
                <a:latin typeface="Microsoft YaHei"/>
              </a:rPr>
              <a:t>▪ 每个人都可以提问题、提建议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方针要讲给每一个人听，包括保洁、清运、维修等进入实验室的人员；生物安全和生物安保一起管，最终变成每个人的习惯（安全文化见第 010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培训只覆盖学生，忽视保洁、维修等外来人员</a:t>
            </a:r>
          </a:p>
          <a:p>
            <a:pPr>
              <a:spcAft>
                <a:spcPts val="1000"/>
              </a:spcAft>
            </a:pPr>
            <a:r>
              <a:rPr sz="1500">
                <a:solidFill>
                  <a:srgbClr val="222B33"/>
                </a:solidFill>
                <a:latin typeface="Microsoft YaHei"/>
              </a:rPr>
              <a:t>▪ 负责人自己不遵守规定</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实施与运行：落到日常</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搭架构、分职责、用合格的人、抓培训、讲到位</a:t>
            </a:r>
          </a:p>
          <a:p>
            <a:pPr>
              <a:spcAft>
                <a:spcPts val="1000"/>
              </a:spcAft>
            </a:pPr>
            <a:r>
              <a:rPr sz="2000">
                <a:solidFill>
                  <a:srgbClr val="222B33"/>
                </a:solidFill>
                <a:latin typeface="Microsoft YaHei"/>
              </a:rPr>
              <a:t>▪ 日常运行要管好八个方面</a:t>
            </a:r>
          </a:p>
          <a:p>
            <a:pPr>
              <a:spcAft>
                <a:spcPts val="1000"/>
              </a:spcAft>
            </a:pPr>
            <a:r>
              <a:rPr sz="2000">
                <a:solidFill>
                  <a:srgbClr val="222B33"/>
                </a:solidFill>
                <a:latin typeface="Microsoft YaHei"/>
              </a:rPr>
              <a:t>▪ 电气、化学等一般安全也在其中</a:t>
            </a:r>
          </a:p>
          <a:p>
            <a:pPr>
              <a:spcAft>
                <a:spcPts val="1000"/>
              </a:spcAft>
            </a:pPr>
            <a:r>
              <a:rPr sz="2000">
                <a:solidFill>
                  <a:srgbClr val="222B33"/>
                </a:solidFill>
                <a:latin typeface="Microsoft YaHei"/>
              </a:rPr>
              <a:t>▪ 结合本单位实际，制定具体程序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计划落地要做五件事：搭建组织架构，分配职责，任命合格的人员，抓好培训，把方针和做法讲到位。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直接套用其他单位的程序文件，不结合本实验室实际</a:t>
            </a:r>
          </a:p>
          <a:p>
            <a:pPr>
              <a:spcAft>
                <a:spcPts val="1000"/>
              </a:spcAft>
            </a:pPr>
            <a:r>
              <a:rPr sz="1500">
                <a:solidFill>
                  <a:srgbClr val="222B33"/>
                </a:solidFill>
                <a:latin typeface="Microsoft YaHei"/>
              </a:rPr>
              <a:t>▪ 只管生物危害，忽视同一实验室的电气和化学安全</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查根因、做纠正、持续改进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事故事件说明规程有缺口，趁小补上</a:t>
            </a:r>
          </a:p>
          <a:p>
            <a:pPr>
              <a:spcAft>
                <a:spcPts val="1000"/>
              </a:spcAft>
            </a:pPr>
            <a:r>
              <a:rPr sz="1700">
                <a:solidFill>
                  <a:srgbClr val="222B33"/>
                </a:solidFill>
                <a:latin typeface="Microsoft YaHei"/>
              </a:rPr>
              <a:t>▪ 查到根本原因，采取纠正措施</a:t>
            </a:r>
          </a:p>
          <a:p>
            <a:pPr>
              <a:spcAft>
                <a:spcPts val="1000"/>
              </a:spcAft>
            </a:pPr>
            <a:r>
              <a:rPr sz="1700">
                <a:solidFill>
                  <a:srgbClr val="222B33"/>
                </a:solidFill>
                <a:latin typeface="Microsoft YaHei"/>
              </a:rPr>
              <a:t>▪ 定期修订规程，新版发布，旧版收回</a:t>
            </a:r>
          </a:p>
          <a:p>
            <a:pPr>
              <a:spcAft>
                <a:spcPts val="1000"/>
              </a:spcAft>
            </a:pPr>
            <a:r>
              <a:rPr sz="1700">
                <a:solidFill>
                  <a:srgbClr val="222B33"/>
                </a:solidFill>
                <a:latin typeface="Microsoft YaHei"/>
              </a:rPr>
              <a:t>▪ 人人主人翁，预防在先，持续培训</a:t>
            </a:r>
          </a:p>
          <a:p>
            <a:pPr>
              <a:spcAft>
                <a:spcPts val="1000"/>
              </a:spcAft>
            </a:pPr>
            <a:r>
              <a:rPr sz="1700">
                <a:solidFill>
                  <a:srgbClr val="222B33"/>
                </a:solidFill>
                <a:latin typeface="Microsoft YaHei"/>
              </a:rPr>
              <a:t>▪ 定改进目标，也表扬做得好的人</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运行中出了事故或事件（包括未遂事件），说明规程有漏洞，要趁小补上。出了问题要查到根本原因，采取纠正措施，同时寻找改进的机会（事故调查与根本原因分析见第 162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出了事只追究个人，不查流程和管理上的原因</a:t>
            </a:r>
          </a:p>
          <a:p>
            <a:pPr>
              <a:spcAft>
                <a:spcPts val="1000"/>
              </a:spcAft>
            </a:pPr>
            <a:r>
              <a:rPr sz="1500">
                <a:solidFill>
                  <a:srgbClr val="222B33"/>
                </a:solidFill>
                <a:latin typeface="Microsoft YaHei"/>
              </a:rPr>
              <a:t>▪ 规程修订后旧版仍留在现场</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生物风险管理计划：范围与目标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一份完整的计划有九块内容</a:t>
            </a:r>
          </a:p>
          <a:p>
            <a:pPr>
              <a:spcAft>
                <a:spcPts val="1000"/>
              </a:spcAft>
            </a:pPr>
            <a:r>
              <a:rPr sz="2000">
                <a:solidFill>
                  <a:srgbClr val="222B33"/>
                </a:solidFill>
                <a:latin typeface="Microsoft YaHei"/>
              </a:rPr>
              <a:t>▪ 先摸清家底，列出危险源清单并随时更新</a:t>
            </a:r>
          </a:p>
          <a:p>
            <a:pPr>
              <a:spcAft>
                <a:spcPts val="1000"/>
              </a:spcAft>
            </a:pPr>
            <a:r>
              <a:rPr sz="2000">
                <a:solidFill>
                  <a:srgbClr val="222B33"/>
                </a:solidFill>
                <a:latin typeface="Microsoft YaHei"/>
              </a:rPr>
              <a:t>▪ 范围：管哪些房间、用哪些微生物、做哪些实验</a:t>
            </a:r>
          </a:p>
          <a:p>
            <a:pPr>
              <a:spcAft>
                <a:spcPts val="1000"/>
              </a:spcAft>
            </a:pPr>
            <a:r>
              <a:rPr sz="2000">
                <a:solidFill>
                  <a:srgbClr val="222B33"/>
                </a:solidFill>
                <a:latin typeface="Microsoft YaHei"/>
              </a:rPr>
              <a:t>▪ 目标要具体、能检查，写成文件可追溯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的生物风险管理计划（安全计划）是把体系落到本实验室的成文安排，可以按九块内容组织：范围与目标、角色与职责、风险评估程序、标准操作规程、培训与能力、事件响应与报告、维护与检查、文件与记录、评审与审核。GB 194……</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计划里的范围和实际使用的病原、房间对不上</a:t>
            </a:r>
          </a:p>
          <a:p>
            <a:pPr>
              <a:spcAft>
                <a:spcPts val="1000"/>
              </a:spcAft>
            </a:pPr>
            <a:r>
              <a:rPr sz="1500">
                <a:solidFill>
                  <a:srgbClr val="222B33"/>
                </a:solidFill>
                <a:latin typeface="Microsoft YaHei"/>
              </a:rPr>
              <a:t>▪ 目标写成“确保安全”之类无法检查的空话</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计划：角色与职责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实验室负责人是第一责任人</a:t>
            </a:r>
          </a:p>
          <a:p>
            <a:pPr>
              <a:spcAft>
                <a:spcPts val="1000"/>
              </a:spcAft>
            </a:pPr>
            <a:r>
              <a:rPr sz="2000">
                <a:solidFill>
                  <a:srgbClr val="222B33"/>
                </a:solidFill>
                <a:latin typeface="Microsoft YaHei"/>
              </a:rPr>
              <a:t>▪ 安全员负责日常检查和提醒</a:t>
            </a:r>
          </a:p>
          <a:p>
            <a:pPr>
              <a:spcAft>
                <a:spcPts val="1000"/>
              </a:spcAft>
            </a:pPr>
            <a:r>
              <a:rPr sz="2000">
                <a:solidFill>
                  <a:srgbClr val="222B33"/>
                </a:solidFill>
                <a:latin typeface="Microsoft YaHei"/>
              </a:rPr>
              <a:t>▪ 每个实验人员按规程做好自己</a:t>
            </a:r>
          </a:p>
          <a:p>
            <a:pPr>
              <a:spcAft>
                <a:spcPts val="1000"/>
              </a:spcAft>
            </a:pPr>
            <a:r>
              <a:rPr sz="2000">
                <a:solidFill>
                  <a:srgbClr val="222B33"/>
                </a:solidFill>
                <a:latin typeface="Microsoft YaHei"/>
              </a:rPr>
              <a:t>▪ 计划经学院审核、学校存档，人人学习</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第二块是角色与职责：实验室负责人是第一责任人；实验室安全员负责日常检查和提醒；每个实验人员按规程做好自己的工作；学校管理部门和设施保障部门的职责也要写明。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职责写得笼统，出了问题找不到具体负责人</a:t>
            </a:r>
          </a:p>
          <a:p>
            <a:pPr>
              <a:spcAft>
                <a:spcPts val="1000"/>
              </a:spcAft>
            </a:pPr>
            <a:r>
              <a:rPr sz="1500">
                <a:solidFill>
                  <a:srgbClr val="222B33"/>
                </a:solidFill>
                <a:latin typeface="Microsoft YaHei"/>
              </a:rPr>
              <a:t>▪ 计划只存在负责人电脑里，组内无人知晓</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计划：风险评估程序与标准操作规程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写清评估谁来做、用什么方法</a:t>
            </a:r>
          </a:p>
          <a:p>
            <a:pPr>
              <a:spcAft>
                <a:spcPts val="1000"/>
              </a:spcAft>
            </a:pPr>
            <a:r>
              <a:rPr sz="2000">
                <a:solidFill>
                  <a:srgbClr val="222B33"/>
                </a:solidFill>
                <a:latin typeface="Microsoft YaHei"/>
              </a:rPr>
              <a:t>▪ 先识别危害，再判断风险高低</a:t>
            </a:r>
          </a:p>
          <a:p>
            <a:pPr>
              <a:spcAft>
                <a:spcPts val="1000"/>
              </a:spcAft>
            </a:pPr>
            <a:r>
              <a:rPr sz="2000">
                <a:solidFill>
                  <a:srgbClr val="222B33"/>
                </a:solidFill>
                <a:latin typeface="Microsoft YaHei"/>
              </a:rPr>
              <a:t>▪ 定期评估，有变化时重新评估</a:t>
            </a:r>
          </a:p>
          <a:p>
            <a:pPr>
              <a:spcAft>
                <a:spcPts val="1000"/>
              </a:spcAft>
            </a:pPr>
            <a:r>
              <a:rPr sz="2000">
                <a:solidFill>
                  <a:srgbClr val="222B33"/>
                </a:solidFill>
                <a:latin typeface="Microsoft YaHei"/>
              </a:rPr>
              <a:t>▪ 关键操作和设备各有一份规程，不凭记忆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第三块是风险评估程序：先识别危害，再判断风险高低；写清谁来评估、用什么方法、结果谁审核；定期评估，人员、病原、操作或设施有变化时重新评估（见第 067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新增病原或操作后不重新评估</a:t>
            </a:r>
          </a:p>
          <a:p>
            <a:pPr>
              <a:spcAft>
                <a:spcPts val="1000"/>
              </a:spcAft>
            </a:pPr>
            <a:r>
              <a:rPr sz="1500">
                <a:solidFill>
                  <a:srgbClr val="222B33"/>
                </a:solidFill>
                <a:latin typeface="Microsoft YaHei"/>
              </a:rPr>
              <a:t>▪ 凭记忆操作，规程放在柜子里没人看</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计划：培训与能力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培训后要考核，会做才算数</a:t>
            </a:r>
          </a:p>
          <a:p>
            <a:pPr>
              <a:spcAft>
                <a:spcPts val="1000"/>
              </a:spcAft>
            </a:pPr>
            <a:r>
              <a:rPr sz="2000">
                <a:solidFill>
                  <a:srgbClr val="222B33"/>
                </a:solidFill>
                <a:latin typeface="Microsoft YaHei"/>
              </a:rPr>
              <a:t>▪ 能力表上谁会做什么一目了然</a:t>
            </a:r>
          </a:p>
          <a:p>
            <a:pPr>
              <a:spcAft>
                <a:spcPts val="1000"/>
              </a:spcAft>
            </a:pPr>
            <a:r>
              <a:rPr sz="2000">
                <a:solidFill>
                  <a:srgbClr val="222B33"/>
                </a:solidFill>
                <a:latin typeface="Microsoft YaHei"/>
              </a:rPr>
              <a:t>▪ 培训不是一次了事，定期复训</a:t>
            </a:r>
          </a:p>
          <a:p>
            <a:pPr>
              <a:spcAft>
                <a:spcPts val="1000"/>
              </a:spcAft>
            </a:pPr>
            <a:r>
              <a:rPr sz="2000">
                <a:solidFill>
                  <a:srgbClr val="222B33"/>
                </a:solidFill>
                <a:latin typeface="Microsoft YaHei"/>
              </a:rPr>
              <a:t>▪ 每一步都有专人，各学各的规程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第五块是培训与能力：培训内容包括安全操作、应急程序，也包括科研伦理和生物安保意识。培训后要考核，确认真的会做才算有能力；用能力表记录谁会做什么、谁被授权做什么，一目了然。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只听课不考核，未经能力确认就独立操作</a:t>
            </a:r>
          </a:p>
          <a:p>
            <a:pPr>
              <a:spcAft>
                <a:spcPts val="1000"/>
              </a:spcAft>
            </a:pPr>
            <a:r>
              <a:rPr sz="1500">
                <a:solidFill>
                  <a:srgbClr val="222B33"/>
                </a:solidFill>
                <a:latin typeface="Microsoft YaHei"/>
              </a:rPr>
              <a:t>▪ 新换岗位的人员不学新岗位的规程</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计划：事件响应、维护与检查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溢洒、暴露等事件先按预案处置</a:t>
            </a:r>
          </a:p>
          <a:p>
            <a:pPr>
              <a:spcAft>
                <a:spcPts val="1000"/>
              </a:spcAft>
            </a:pPr>
            <a:r>
              <a:rPr sz="2000">
                <a:solidFill>
                  <a:srgbClr val="222B33"/>
                </a:solidFill>
                <a:latin typeface="Microsoft YaHei"/>
              </a:rPr>
              <a:t>▪ 逐级报告，不隐瞒不拖延</a:t>
            </a:r>
          </a:p>
          <a:p>
            <a:pPr>
              <a:spcAft>
                <a:spcPts val="1000"/>
              </a:spcAft>
            </a:pPr>
            <a:r>
              <a:rPr sz="2000">
                <a:solidFill>
                  <a:srgbClr val="222B33"/>
                </a:solidFill>
                <a:latin typeface="Microsoft YaHei"/>
              </a:rPr>
              <a:t>▪ 应急联系电话写进计划、贴上墙</a:t>
            </a:r>
          </a:p>
          <a:p>
            <a:pPr>
              <a:spcAft>
                <a:spcPts val="1000"/>
              </a:spcAft>
            </a:pPr>
            <a:r>
              <a:rPr sz="2000">
                <a:solidFill>
                  <a:srgbClr val="222B33"/>
                </a:solidFill>
                <a:latin typeface="Microsoft YaHei"/>
              </a:rPr>
              <a:t>▪ 维护检查写成日程，检定合格贴标签，过期停用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第六块是事件响应与报告：不管是意外事故还是安保事件，都要有渠道及时发现、报告和处理。发生溢洒、暴露，先按应急预案处置（见第 078 课），再按实验室负责人、学院、学校主管部门逐级报告，不隐瞒、不拖延；应急联系电话写进……</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小的暴露事件怕麻烦不报告</a:t>
            </a:r>
          </a:p>
          <a:p>
            <a:pPr>
              <a:spcAft>
                <a:spcPts val="1000"/>
              </a:spcAft>
            </a:pPr>
            <a:r>
              <a:rPr sz="1500">
                <a:solidFill>
                  <a:srgbClr val="222B33"/>
                </a:solidFill>
                <a:latin typeface="Microsoft YaHei"/>
              </a:rPr>
              <a:t>▪ 设备维护检查没有日程，坏了才修</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计划：文件记录与评审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文件要有版本，旧版及时收回</a:t>
            </a:r>
          </a:p>
          <a:p>
            <a:pPr>
              <a:spcAft>
                <a:spcPts val="1000"/>
              </a:spcAft>
            </a:pPr>
            <a:r>
              <a:rPr sz="2000">
                <a:solidFill>
                  <a:srgbClr val="222B33"/>
                </a:solidFill>
                <a:latin typeface="Microsoft YaHei"/>
              </a:rPr>
              <a:t>▪ 培训、检查、事件、库存都要留记录</a:t>
            </a:r>
          </a:p>
          <a:p>
            <a:pPr>
              <a:spcAft>
                <a:spcPts val="1000"/>
              </a:spcAft>
            </a:pPr>
            <a:r>
              <a:rPr sz="2000">
                <a:solidFill>
                  <a:srgbClr val="222B33"/>
                </a:solidFill>
                <a:latin typeface="Microsoft YaHei"/>
              </a:rPr>
              <a:t>▪ 记录及时、真实、受控、可追溯</a:t>
            </a:r>
          </a:p>
          <a:p>
            <a:pPr>
              <a:spcAft>
                <a:spcPts val="1000"/>
              </a:spcAft>
            </a:pPr>
            <a:r>
              <a:rPr sz="2000">
                <a:solidFill>
                  <a:srgbClr val="222B33"/>
                </a:solidFill>
                <a:latin typeface="Microsoft YaHei"/>
              </a:rPr>
              <a:t>▪ 定期评审，发现问题就改，计划随之更新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第八块是文件与记录：文件要有版本号，旧版及时收回。每项生物安全工作都要有记录，包括培训、检查、事件、库存和规程执行；记录要及时、真实、受控、可追溯，问题才查得出来。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事后补记录、编记录</a:t>
            </a:r>
          </a:p>
          <a:p>
            <a:pPr>
              <a:spcAft>
                <a:spcPts val="1000"/>
              </a:spcAft>
            </a:pPr>
            <a:r>
              <a:rPr sz="1500">
                <a:solidFill>
                  <a:srgbClr val="222B33"/>
                </a:solidFill>
                <a:latin typeface="Microsoft YaHei"/>
              </a:rPr>
              <a:t>▪ 计划制定后从不评审更新</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体系文件分四层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第一层管理手册：定方针和职责</a:t>
            </a:r>
          </a:p>
          <a:p>
            <a:pPr>
              <a:spcAft>
                <a:spcPts val="1000"/>
              </a:spcAft>
            </a:pPr>
            <a:r>
              <a:rPr sz="2000">
                <a:solidFill>
                  <a:srgbClr val="222B33"/>
                </a:solidFill>
                <a:latin typeface="Microsoft YaHei"/>
              </a:rPr>
              <a:t>▪ 第二层程序文件：管体系怎么运转</a:t>
            </a:r>
          </a:p>
          <a:p>
            <a:pPr>
              <a:spcAft>
                <a:spcPts val="1000"/>
              </a:spcAft>
            </a:pPr>
            <a:r>
              <a:rPr sz="2000">
                <a:solidFill>
                  <a:srgbClr val="222B33"/>
                </a:solidFill>
                <a:latin typeface="Microsoft YaHei"/>
              </a:rPr>
              <a:t>▪ 第三层操作规程：教你具体怎么做</a:t>
            </a:r>
          </a:p>
          <a:p>
            <a:pPr>
              <a:spcAft>
                <a:spcPts val="1000"/>
              </a:spcAft>
            </a:pPr>
            <a:r>
              <a:rPr sz="2000">
                <a:solidFill>
                  <a:srgbClr val="222B33"/>
                </a:solidFill>
                <a:latin typeface="Microsoft YaHei"/>
              </a:rPr>
              <a:t>▪ 第四层记录：证明已经做到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体系的各部分都要写成文件，一般分四层：管理手册规定方针、目标、组织和职责；程序文件规定各项管理活动怎么运转；标准操作规程（作业指导书）教你每项操作具体怎么做；记录证明确实做到了。GB 19489-2008 对管理体系……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手册、程序、规程内容相互矛盾</a:t>
            </a:r>
          </a:p>
          <a:p>
            <a:pPr>
              <a:spcAft>
                <a:spcPts val="1000"/>
              </a:spcAft>
            </a:pPr>
            <a:r>
              <a:rPr sz="1500">
                <a:solidFill>
                  <a:srgbClr val="222B33"/>
                </a:solidFill>
                <a:latin typeface="Microsoft YaHei"/>
              </a:rPr>
              <a:t>▪ 只有文件，没有记录证明执行</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AMP 模型三步依次是：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申请、批准、实施</a:t>
            </a:r>
          </a:p>
          <a:p>
            <a:pPr algn="l"/>
            <a:r>
              <a:rPr sz="1500" b="0">
                <a:solidFill>
                  <a:srgbClr val="222B33"/>
                </a:solidFill>
                <a:latin typeface="Microsoft YaHei"/>
              </a:rPr>
              <a:t>B. 评估、减缓、绩效</a:t>
            </a:r>
          </a:p>
          <a:p>
            <a:pPr algn="l"/>
            <a:r>
              <a:rPr sz="1500" b="0">
                <a:solidFill>
                  <a:srgbClr val="222B33"/>
                </a:solidFill>
                <a:latin typeface="Microsoft YaHei"/>
              </a:rPr>
              <a:t>C. 计划、采购、验收</a:t>
            </a:r>
          </a:p>
          <a:p>
            <a:pPr algn="l"/>
            <a:r>
              <a:rPr sz="1500" b="0">
                <a:solidFill>
                  <a:srgbClr val="222B33"/>
                </a:solidFill>
                <a:latin typeface="Microsoft YaHei"/>
              </a:rPr>
              <a:t>D. 培训、考核、上岗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判断：生物风险管理只包括防止实验室感染，样本丢失被盗属于保卫部门的事，与实验室无关。</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 AMP 与 PDCA 的关系，正确的是：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两者毫无关系</a:t>
            </a:r>
          </a:p>
          <a:p>
            <a:pPr algn="l"/>
            <a:r>
              <a:rPr sz="1500" b="0">
                <a:solidFill>
                  <a:srgbClr val="222B33"/>
                </a:solidFill>
                <a:latin typeface="Microsoft YaHei"/>
              </a:rPr>
              <a:t>B. 评估对应计划，减缓对应执行，绩效对应检查和改进，一圈圈循环</a:t>
            </a:r>
          </a:p>
          <a:p>
            <a:pPr algn="l"/>
            <a:r>
              <a:rPr sz="1500" b="0">
                <a:solidFill>
                  <a:srgbClr val="222B33"/>
                </a:solidFill>
                <a:latin typeface="Microsoft YaHei"/>
              </a:rPr>
              <a:t>C. 做完一次就结束</a:t>
            </a:r>
          </a:p>
          <a:p>
            <a:pPr algn="l"/>
            <a:r>
              <a:rPr sz="1500" b="0">
                <a:solidFill>
                  <a:srgbClr val="222B33"/>
                </a:solidFill>
                <a:latin typeface="Microsoft YaHei"/>
              </a:rPr>
              <a:t>D. 只需要绩效，不需要评估</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体系文件四层从上到下依次是：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记录、规程、程序文件、手册</a:t>
            </a:r>
          </a:p>
          <a:p>
            <a:pPr algn="l"/>
            <a:r>
              <a:rPr sz="1500" b="0">
                <a:solidFill>
                  <a:srgbClr val="222B33"/>
                </a:solidFill>
                <a:latin typeface="Microsoft YaHei"/>
              </a:rPr>
              <a:t>B. 管理手册、程序文件、操作规程、记录</a:t>
            </a:r>
          </a:p>
          <a:p>
            <a:pPr algn="l"/>
            <a:r>
              <a:rPr sz="1500" b="0">
                <a:solidFill>
                  <a:srgbClr val="222B33"/>
                </a:solidFill>
                <a:latin typeface="Microsoft YaHei"/>
              </a:rPr>
              <a:t>C. 规程、手册、记录、程序文件</a:t>
            </a:r>
          </a:p>
          <a:p>
            <a:pPr algn="l"/>
            <a:r>
              <a:rPr sz="1500" b="0">
                <a:solidFill>
                  <a:srgbClr val="222B33"/>
                </a:solidFill>
                <a:latin typeface="Microsoft YaHei"/>
              </a:rPr>
              <a:t>D. 只有操作规程一层</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065 · 生物风险管理体系与AMP模型</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065 生物风险管理体系与AMP模型</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判断：生物风险管理计划写好后只需负责人保存，组内成员不必学习。</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简答：一份实验室生物风险管理计划通常包括哪些内容？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生物风险管理：生物安全加生物安保</a:t>
            </a:r>
          </a:p>
          <a:p>
            <a:pPr>
              <a:spcAft>
                <a:spcPts val="800"/>
              </a:spcAft>
            </a:pPr>
            <a:r>
              <a:rPr sz="1500">
                <a:solidFill>
                  <a:srgbClr val="FFFFFF"/>
                </a:solidFill>
                <a:latin typeface="Microsoft YaHei"/>
              </a:rPr>
              <a:t>▪ K2  为什么要管：保护人员、公众和环境</a:t>
            </a:r>
          </a:p>
          <a:p>
            <a:pPr>
              <a:spcAft>
                <a:spcPts val="800"/>
              </a:spcAft>
            </a:pPr>
            <a:r>
              <a:rPr sz="1500">
                <a:solidFill>
                  <a:srgbClr val="FFFFFF"/>
                </a:solidFill>
                <a:latin typeface="Microsoft YaHei"/>
              </a:rPr>
              <a:t>▪ S1  国内要求：设立单位负责，体系化管理</a:t>
            </a:r>
          </a:p>
          <a:p>
            <a:pPr>
              <a:spcAft>
                <a:spcPts val="800"/>
              </a:spcAft>
            </a:pPr>
            <a:r>
              <a:rPr sz="1500">
                <a:solidFill>
                  <a:srgbClr val="FFFFFF"/>
                </a:solidFill>
                <a:latin typeface="Microsoft YaHei"/>
              </a:rPr>
              <a:t>▪ K3  AMP模型：评估、减缓、绩效</a:t>
            </a:r>
          </a:p>
          <a:p>
            <a:pPr>
              <a:spcAft>
                <a:spcPts val="800"/>
              </a:spcAft>
            </a:pPr>
            <a:r>
              <a:rPr sz="1500">
                <a:solidFill>
                  <a:srgbClr val="FFFFFF"/>
                </a:solidFill>
                <a:latin typeface="Microsoft YaHei"/>
              </a:rPr>
              <a:t>▪ K4  第一步：风险评估</a:t>
            </a:r>
          </a:p>
          <a:p>
            <a:pPr>
              <a:spcAft>
                <a:spcPts val="800"/>
              </a:spcAft>
            </a:pPr>
            <a:r>
              <a:rPr sz="1500">
                <a:solidFill>
                  <a:srgbClr val="FFFFFF"/>
                </a:solidFill>
                <a:latin typeface="Microsoft YaHei"/>
              </a:rPr>
              <a:t>▪ K5  第二步：风险减缓</a:t>
            </a:r>
          </a:p>
          <a:p>
            <a:pPr>
              <a:spcAft>
                <a:spcPts val="800"/>
              </a:spcAft>
            </a:pPr>
            <a:r>
              <a:rPr sz="1500">
                <a:solidFill>
                  <a:srgbClr val="FFFFFF"/>
                </a:solidFill>
                <a:latin typeface="Microsoft YaHei"/>
              </a:rPr>
              <a:t>▪ K6  第三步：绩效评估</a:t>
            </a:r>
          </a:p>
          <a:p>
            <a:pPr>
              <a:spcAft>
                <a:spcPts val="800"/>
              </a:spcAft>
            </a:pPr>
            <a:r>
              <a:rPr sz="1500">
                <a:solidFill>
                  <a:srgbClr val="FFFFFF"/>
                </a:solidFill>
                <a:latin typeface="Microsoft YaHei"/>
              </a:rPr>
              <a:t>▪ K7  一圈圈转：AMP与PDCA循环</a:t>
            </a:r>
          </a:p>
          <a:p>
            <a:pPr>
              <a:spcAft>
                <a:spcPts val="800"/>
              </a:spcAft>
            </a:pPr>
            <a:r>
              <a:rPr sz="1500">
                <a:solidFill>
                  <a:srgbClr val="FFFFFF"/>
                </a:solidFill>
                <a:latin typeface="Microsoft YaHei"/>
              </a:rPr>
              <a:t>▪ K8  体系：一环扣一环的过程</a:t>
            </a:r>
          </a:p>
          <a:p>
            <a:pPr>
              <a:spcAft>
                <a:spcPts val="800"/>
              </a:spcAft>
            </a:pPr>
            <a:r>
              <a:rPr sz="1500">
                <a:solidFill>
                  <a:srgbClr val="FFFFFF"/>
                </a:solidFill>
                <a:latin typeface="Microsoft YaHei"/>
              </a:rPr>
              <a:t>▪ K9  建体系：定义、结构、理解、改进、认清约束</a:t>
            </a:r>
          </a:p>
          <a:p>
            <a:pPr>
              <a:spcAft>
                <a:spcPts val="800"/>
              </a:spcAft>
            </a:pPr>
            <a:r>
              <a:rPr sz="1500">
                <a:solidFill>
                  <a:srgbClr val="FFFFFF"/>
                </a:solidFill>
                <a:latin typeface="Microsoft YaHei"/>
              </a:rPr>
              <a:t>▪ K10  方针与领导承诺</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K11  人人知晓，融入安全文化</a:t>
            </a:r>
          </a:p>
          <a:p>
            <a:pPr>
              <a:spcAft>
                <a:spcPts val="800"/>
              </a:spcAft>
            </a:pPr>
            <a:r>
              <a:rPr sz="1500">
                <a:solidFill>
                  <a:srgbClr val="FFFFFF"/>
                </a:solidFill>
                <a:latin typeface="Microsoft YaHei"/>
              </a:rPr>
              <a:t>▪ K12  实施与运行：落到日常</a:t>
            </a:r>
          </a:p>
          <a:p>
            <a:pPr>
              <a:spcAft>
                <a:spcPts val="800"/>
              </a:spcAft>
            </a:pPr>
            <a:r>
              <a:rPr sz="1500">
                <a:solidFill>
                  <a:srgbClr val="FFFFFF"/>
                </a:solidFill>
                <a:latin typeface="Microsoft YaHei"/>
              </a:rPr>
              <a:t>▪ K13  查根因、做纠正、持续改进</a:t>
            </a:r>
          </a:p>
          <a:p>
            <a:pPr>
              <a:spcAft>
                <a:spcPts val="800"/>
              </a:spcAft>
            </a:pPr>
            <a:r>
              <a:rPr sz="1500">
                <a:solidFill>
                  <a:srgbClr val="FFFFFF"/>
                </a:solidFill>
                <a:latin typeface="Microsoft YaHei"/>
              </a:rPr>
              <a:t>▪ K14  生物风险管理计划：范围与目标</a:t>
            </a:r>
          </a:p>
          <a:p>
            <a:pPr>
              <a:spcAft>
                <a:spcPts val="800"/>
              </a:spcAft>
            </a:pPr>
            <a:r>
              <a:rPr sz="1500">
                <a:solidFill>
                  <a:srgbClr val="FFFFFF"/>
                </a:solidFill>
                <a:latin typeface="Microsoft YaHei"/>
              </a:rPr>
              <a:t>▪ K15  计划：角色与职责</a:t>
            </a:r>
          </a:p>
          <a:p>
            <a:pPr>
              <a:spcAft>
                <a:spcPts val="800"/>
              </a:spcAft>
            </a:pPr>
            <a:r>
              <a:rPr sz="1500">
                <a:solidFill>
                  <a:srgbClr val="FFFFFF"/>
                </a:solidFill>
                <a:latin typeface="Microsoft YaHei"/>
              </a:rPr>
              <a:t>▪ K16  计划：风险评估程序与标准操作规程</a:t>
            </a:r>
          </a:p>
          <a:p>
            <a:pPr>
              <a:spcAft>
                <a:spcPts val="800"/>
              </a:spcAft>
            </a:pPr>
            <a:r>
              <a:rPr sz="1500">
                <a:solidFill>
                  <a:srgbClr val="FFFFFF"/>
                </a:solidFill>
                <a:latin typeface="Microsoft YaHei"/>
              </a:rPr>
              <a:t>▪ K17  计划：培训与能力</a:t>
            </a:r>
          </a:p>
          <a:p>
            <a:pPr>
              <a:spcAft>
                <a:spcPts val="800"/>
              </a:spcAft>
            </a:pPr>
            <a:r>
              <a:rPr sz="1500">
                <a:solidFill>
                  <a:srgbClr val="FFFFFF"/>
                </a:solidFill>
                <a:latin typeface="Microsoft YaHei"/>
              </a:rPr>
              <a:t>▪ K18  计划：事件响应、维护与检查</a:t>
            </a:r>
          </a:p>
          <a:p>
            <a:pPr>
              <a:spcAft>
                <a:spcPts val="800"/>
              </a:spcAft>
            </a:pPr>
            <a:r>
              <a:rPr sz="1500">
                <a:solidFill>
                  <a:srgbClr val="FFFFFF"/>
                </a:solidFill>
                <a:latin typeface="Microsoft YaHei"/>
              </a:rPr>
              <a:t>▪ K19  计划：文件记录与评审</a:t>
            </a:r>
          </a:p>
          <a:p>
            <a:pPr>
              <a:spcAft>
                <a:spcPts val="800"/>
              </a:spcAft>
            </a:pPr>
            <a:r>
              <a:rPr sz="1500">
                <a:solidFill>
                  <a:srgbClr val="FFFFFF"/>
                </a:solidFill>
                <a:latin typeface="Microsoft YaHei"/>
              </a:rPr>
              <a:t>▪ K20  体系文件分四层</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生物安全绩效评估与审核</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6.5 分钟（卡通视频 78 镜）　适用对象：进入生命科学、医学、农学、环境等涉及生物材料实验室的高校本科生、研究生和教职工（必修）；实验室负责人、生物安全员和参与内部审核、安全检查的人员重点学习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能说出绩效评估的含义（记录、测量、评价；计划与实际之差）和它在“评估—减缓—绩效”循环中的作用。</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能说出从方针到目标、再到指标的关系，区分先行指标和滞后指标，说出好指标的特征和数据收集分析的注意事项。</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能说出内部审核、外部审核与监督检查、管理评审各看什么，以及纠正措施“谁改、怎么改、何时改完、复查关闭”的闭环。</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能做到被检查时照常规范操作，出错先停下、如实说明、按规程处理。</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《中华人民共和国生物安全法》（以现行文本为准）：主管部门对病原微生物实验室生物安全实施监督检查，设立单位负责日常管理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《病原微生物实验室生物安全管理条例》（以现行文本为准）：主管部门依法监督检查；三级、四级实验室须通过国家认可；实验室建立档案和事故报告制度</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生物安全通用要求》：安全计划与目标、记录控制、内部审核、管理评审、不符合项的识别和控制、纠正措施和持续改进</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233（以现行文本为准）《病原微生物实验室生物安全通用准则》：实验室生物安全管理和监督检查要求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45001-2020（以现行文本为准）《职业健康安全管理体系 要求及使用指南》：绩效监视、测量、分析和评价，内部审核、管理评审与持续改进，可作参照</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号，以现行文本为准）：学校、学院、实验室分级开展安全检查，隐患整改闭环</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本校实验室安全检查与隐患整改办法、个人信息保护相关规定（以本校规定为准）</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什么是绩效评估：记录、测量、评价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记录、测量、评价我们做过的事</a:t>
            </a:r>
          </a:p>
          <a:p>
            <a:pPr>
              <a:spcAft>
                <a:spcPts val="1000"/>
              </a:spcAft>
            </a:pPr>
            <a:r>
              <a:rPr sz="1700">
                <a:solidFill>
                  <a:srgbClr val="222B33"/>
                </a:solidFill>
                <a:latin typeface="Microsoft YaHei"/>
              </a:rPr>
              <a:t>▪ 目的：把生物风险降下来</a:t>
            </a:r>
          </a:p>
          <a:p>
            <a:pPr>
              <a:spcAft>
                <a:spcPts val="1000"/>
              </a:spcAft>
            </a:pPr>
            <a:r>
              <a:rPr sz="1700">
                <a:solidFill>
                  <a:srgbClr val="222B33"/>
                </a:solidFill>
                <a:latin typeface="Microsoft YaHei"/>
              </a:rPr>
              <a:t>▪ 不只看病原，人、物、设施都要看</a:t>
            </a:r>
          </a:p>
          <a:p>
            <a:pPr>
              <a:spcAft>
                <a:spcPts val="1000"/>
              </a:spcAft>
            </a:pPr>
            <a:r>
              <a:rPr sz="1700">
                <a:solidFill>
                  <a:srgbClr val="222B33"/>
                </a:solidFill>
                <a:latin typeface="Microsoft YaHei"/>
              </a:rPr>
              <a:t>▪ 回头查记录：事故、未遂事件、日常检查都算</a:t>
            </a:r>
          </a:p>
          <a:p>
            <a:pPr>
              <a:spcAft>
                <a:spcPts val="1000"/>
              </a:spcAft>
            </a:pPr>
            <a:r>
              <a:rPr sz="1700">
                <a:solidFill>
                  <a:srgbClr val="222B33"/>
                </a:solidFill>
                <a:latin typeface="Microsoft YaHei"/>
              </a:rPr>
              <a:t>▪ 看哪里达标、哪里没达标，问为什么</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生物风险绩效评估，就是记录、测量和评价我们做过的事，目的是把生物风险降下来。它看的是整个体系：不只看病原，还要看人、物和设施。绩效测量不是另外一摊事，而是管理体系的一部分：规程写的和实际做的，都要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只统计事故，不统计未遂事件和日常检查发现的问题</a:t>
            </a:r>
          </a:p>
          <a:p>
            <a:pPr>
              <a:spcAft>
                <a:spcPts val="1000"/>
              </a:spcAft>
            </a:pPr>
            <a:r>
              <a:rPr sz="1500">
                <a:solidFill>
                  <a:srgbClr val="222B33"/>
                </a:solidFill>
                <a:latin typeface="Microsoft YaHei"/>
              </a:rPr>
              <a:t>▪ 认为绩效评估是管理部门的事，与实验人员无关</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绩效：计划与实际之差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计划和实际的差距，就是绩效</a:t>
            </a:r>
          </a:p>
          <a:p>
            <a:pPr>
              <a:spcAft>
                <a:spcPts val="1000"/>
              </a:spcAft>
            </a:pPr>
            <a:r>
              <a:rPr sz="1700">
                <a:solidFill>
                  <a:srgbClr val="222B33"/>
                </a:solidFill>
                <a:latin typeface="Microsoft YaHei"/>
              </a:rPr>
              <a:t>▪ 找出拖后腿的原因</a:t>
            </a:r>
          </a:p>
          <a:p>
            <a:pPr>
              <a:spcAft>
                <a:spcPts val="1000"/>
              </a:spcAft>
            </a:pPr>
            <a:r>
              <a:rPr sz="1700">
                <a:solidFill>
                  <a:srgbClr val="222B33"/>
                </a:solidFill>
                <a:latin typeface="Microsoft YaHei"/>
              </a:rPr>
              <a:t>▪ 年初定目标，年底对比差在哪</a:t>
            </a:r>
          </a:p>
          <a:p>
            <a:pPr>
              <a:spcAft>
                <a:spcPts val="1000"/>
              </a:spcAft>
            </a:pPr>
            <a:r>
              <a:rPr sz="1700">
                <a:solidFill>
                  <a:srgbClr val="222B33"/>
                </a:solidFill>
                <a:latin typeface="Microsoft YaHei"/>
              </a:rPr>
              <a:t>▪ 差了就改规程、加培训，每起事件都调查</a:t>
            </a:r>
          </a:p>
          <a:p>
            <a:pPr>
              <a:spcAft>
                <a:spcPts val="1000"/>
              </a:spcAft>
            </a:pPr>
            <a:r>
              <a:rPr sz="1700">
                <a:solidFill>
                  <a:srgbClr val="222B33"/>
                </a:solidFill>
                <a:latin typeface="Microsoft YaHei"/>
              </a:rPr>
              <a:t>▪ 绩效是大家共同努力的结果，要一直用力</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打个比方：计划十五分钟跑完一公里，实际跑了二十分钟。天气、体能、装备，逐一找出拖后腿的因素。计划和实际之间的差距，就是绩效要看的东西。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目标没达到就修改目标“凑数”</a:t>
            </a:r>
          </a:p>
          <a:p>
            <a:pPr>
              <a:spcAft>
                <a:spcPts val="1000"/>
              </a:spcAft>
            </a:pPr>
            <a:r>
              <a:rPr sz="1500">
                <a:solidFill>
                  <a:srgbClr val="222B33"/>
                </a:solidFill>
                <a:latin typeface="Microsoft YaHei"/>
              </a:rPr>
              <a:t>▪ 只看结果数字，不分析差距的原因</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减缓之后再评估，一圈圈循环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控制加了，不一定有效</a:t>
            </a:r>
          </a:p>
          <a:p>
            <a:pPr>
              <a:spcAft>
                <a:spcPts val="1000"/>
              </a:spcAft>
            </a:pPr>
            <a:r>
              <a:rPr sz="1700">
                <a:solidFill>
                  <a:srgbClr val="222B33"/>
                </a:solidFill>
                <a:latin typeface="Microsoft YaHei"/>
              </a:rPr>
              <a:t>▪ 减缓之后再评估，确认风险真的降了</a:t>
            </a:r>
          </a:p>
          <a:p>
            <a:pPr>
              <a:spcAft>
                <a:spcPts val="1000"/>
              </a:spcAft>
            </a:pPr>
            <a:r>
              <a:rPr sz="1700">
                <a:solidFill>
                  <a:srgbClr val="222B33"/>
                </a:solidFill>
                <a:latin typeface="Microsoft YaHei"/>
              </a:rPr>
              <a:t>▪ 收集信息、评价、定策略、落实、复查成一圈</a:t>
            </a:r>
          </a:p>
          <a:p>
            <a:pPr>
              <a:spcAft>
                <a:spcPts val="1000"/>
              </a:spcAft>
            </a:pPr>
            <a:r>
              <a:rPr sz="1700">
                <a:solidFill>
                  <a:srgbClr val="222B33"/>
                </a:solidFill>
                <a:latin typeface="Microsoft YaHei"/>
              </a:rPr>
              <a:t>▪ 查推荐的措施落实了吗，没有为什么，有记录吗</a:t>
            </a:r>
          </a:p>
          <a:p>
            <a:pPr>
              <a:spcAft>
                <a:spcPts val="1000"/>
              </a:spcAft>
            </a:pPr>
            <a:r>
              <a:rPr sz="1700">
                <a:solidFill>
                  <a:srgbClr val="222B33"/>
                </a:solidFill>
                <a:latin typeface="Microsoft YaHei"/>
              </a:rPr>
              <a:t>▪ 数据也是说服领导投入的依据</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控制措施加上了，就一定有效吗？要靠绩效来验证：减缓之后再做一次风险评估，确认风险真的降下来了，这一步才算数。剩下的风险能不能接受，要再判断。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措施一上就认为风险已经解决</a:t>
            </a:r>
          </a:p>
          <a:p>
            <a:pPr>
              <a:spcAft>
                <a:spcPts val="1000"/>
              </a:spcAft>
            </a:pPr>
            <a:r>
              <a:rPr sz="1500">
                <a:solidFill>
                  <a:srgbClr val="222B33"/>
                </a:solidFill>
                <a:latin typeface="Microsoft YaHei"/>
              </a:rPr>
              <a:t>▪ 复查只问“做了吗”，不看“管用吗”</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从方针到目标：看得见、量得出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方针表明决心和方向，不讲具体做法</a:t>
            </a:r>
          </a:p>
          <a:p>
            <a:pPr>
              <a:spcAft>
                <a:spcPts val="1000"/>
              </a:spcAft>
            </a:pPr>
            <a:r>
              <a:rPr sz="1700">
                <a:solidFill>
                  <a:srgbClr val="222B33"/>
                </a:solidFill>
                <a:latin typeface="Microsoft YaHei"/>
              </a:rPr>
              <a:t>▪ 方针分解成职责、目标和步骤</a:t>
            </a:r>
          </a:p>
          <a:p>
            <a:pPr>
              <a:spcAft>
                <a:spcPts val="1000"/>
              </a:spcAft>
            </a:pPr>
            <a:r>
              <a:rPr sz="1700">
                <a:solidFill>
                  <a:srgbClr val="222B33"/>
                </a:solidFill>
                <a:latin typeface="Microsoft YaHei"/>
              </a:rPr>
              <a:t>▪ 目标是看得见、量得出的结果</a:t>
            </a:r>
          </a:p>
          <a:p>
            <a:pPr>
              <a:spcAft>
                <a:spcPts val="1000"/>
              </a:spcAft>
            </a:pPr>
            <a:r>
              <a:rPr sz="1700">
                <a:solidFill>
                  <a:srgbClr val="222B33"/>
                </a:solidFill>
                <a:latin typeface="Microsoft YaHei"/>
              </a:rPr>
              <a:t>▪ 具体目标是限时步骤，如操作规程</a:t>
            </a:r>
          </a:p>
          <a:p>
            <a:pPr>
              <a:spcAft>
                <a:spcPts val="1000"/>
              </a:spcAft>
            </a:pPr>
            <a:r>
              <a:rPr sz="1700">
                <a:solidFill>
                  <a:srgbClr val="222B33"/>
                </a:solidFill>
                <a:latin typeface="Microsoft YaHei"/>
              </a:rPr>
              <a:t>▪ 具体、可测、可实现、合理、有时限</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单位的安全方针（政策）表明决心和方向，不讲具体做法，要再分解成职责、目标和步骤，落成具体目标后，再按标准检查有没有做到。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目标写成“加强安全意识”等无法测量的口号</a:t>
            </a:r>
          </a:p>
          <a:p>
            <a:pPr>
              <a:spcAft>
                <a:spcPts val="1000"/>
              </a:spcAft>
            </a:pPr>
            <a:r>
              <a:rPr sz="1500">
                <a:solidFill>
                  <a:srgbClr val="222B33"/>
                </a:solidFill>
                <a:latin typeface="Microsoft YaHei"/>
              </a:rPr>
              <a:t>▪ 定了做不到的目标，只能靠“做账”达标</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指标：用数字说话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指标要能回答多少次、多少量</a:t>
            </a:r>
          </a:p>
          <a:p>
            <a:pPr>
              <a:spcAft>
                <a:spcPts val="1000"/>
              </a:spcAft>
            </a:pPr>
            <a:r>
              <a:rPr sz="1700">
                <a:solidFill>
                  <a:srgbClr val="222B33"/>
                </a:solidFill>
                <a:latin typeface="Microsoft YaHei"/>
              </a:rPr>
              <a:t>▪ 定期用同一把尺子，偏离就提前报警</a:t>
            </a:r>
          </a:p>
          <a:p>
            <a:pPr>
              <a:spcAft>
                <a:spcPts val="1000"/>
              </a:spcAft>
            </a:pPr>
            <a:r>
              <a:rPr sz="1700">
                <a:solidFill>
                  <a:srgbClr val="222B33"/>
                </a:solidFill>
                <a:latin typeface="Microsoft YaHei"/>
              </a:rPr>
              <a:t>▪ 看事件、险兆和培训完成情况</a:t>
            </a:r>
          </a:p>
          <a:p>
            <a:pPr>
              <a:spcAft>
                <a:spcPts val="1000"/>
              </a:spcAft>
            </a:pPr>
            <a:r>
              <a:rPr sz="1700">
                <a:solidFill>
                  <a:srgbClr val="222B33"/>
                </a:solidFill>
                <a:latin typeface="Microsoft YaHei"/>
              </a:rPr>
              <a:t>▪ 演练、防护用品、检查的频次和范围都可量</a:t>
            </a:r>
          </a:p>
          <a:p>
            <a:pPr>
              <a:spcAft>
                <a:spcPts val="1000"/>
              </a:spcAft>
            </a:pPr>
            <a:r>
              <a:rPr sz="1700">
                <a:solidFill>
                  <a:srgbClr val="222B33"/>
                </a:solidFill>
                <a:latin typeface="Microsoft YaHei"/>
              </a:rPr>
              <a:t>▪ 要量什么就选什么，覆盖各层级</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指标要用数字说话，能回答“多少次、多少量”。要定期使用，一直用同一把尺子，才能看出偏离，在出事之前报警。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只选容易统计的指标，不选真正反映风险的指标</a:t>
            </a:r>
          </a:p>
          <a:p>
            <a:pPr>
              <a:spcAft>
                <a:spcPts val="1000"/>
              </a:spcAft>
            </a:pPr>
            <a:r>
              <a:rPr sz="1500">
                <a:solidFill>
                  <a:srgbClr val="222B33"/>
                </a:solidFill>
                <a:latin typeface="Microsoft YaHei"/>
              </a:rPr>
              <a:t>▪ 指标口径经常变，前后数据无法比较</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先行指标与滞后指标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指标分先行指标和滞后指标</a:t>
            </a:r>
          </a:p>
          <a:p>
            <a:pPr>
              <a:spcAft>
                <a:spcPts val="1000"/>
              </a:spcAft>
            </a:pPr>
            <a:r>
              <a:rPr sz="1700">
                <a:solidFill>
                  <a:srgbClr val="222B33"/>
                </a:solidFill>
                <a:latin typeface="Microsoft YaHei"/>
              </a:rPr>
              <a:t>▪ 先行指标：过程、文化、行为、屏障</a:t>
            </a:r>
          </a:p>
          <a:p>
            <a:pPr>
              <a:spcAft>
                <a:spcPts val="1000"/>
              </a:spcAft>
            </a:pPr>
            <a:r>
              <a:rPr sz="1700">
                <a:solidFill>
                  <a:srgbClr val="222B33"/>
                </a:solidFill>
                <a:latin typeface="Microsoft YaHei"/>
              </a:rPr>
              <a:t>▪ 滞后指标：事件、事故、险兆、整改</a:t>
            </a:r>
          </a:p>
          <a:p>
            <a:pPr>
              <a:spcAft>
                <a:spcPts val="1000"/>
              </a:spcAft>
            </a:pPr>
            <a:r>
              <a:rPr sz="1700">
                <a:solidFill>
                  <a:srgbClr val="222B33"/>
                </a:solidFill>
                <a:latin typeface="Microsoft YaHei"/>
              </a:rPr>
              <a:t>▪ 只做事后分析太晚，多看日常行为</a:t>
            </a:r>
          </a:p>
          <a:p>
            <a:pPr>
              <a:spcAft>
                <a:spcPts val="1000"/>
              </a:spcAft>
            </a:pPr>
            <a:r>
              <a:rPr sz="1700">
                <a:solidFill>
                  <a:srgbClr val="222B33"/>
                </a:solidFill>
                <a:latin typeface="Microsoft YaHei"/>
              </a:rPr>
              <a:t>▪ 多听同行的经验和教训</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指标分两类。先行指标衡量过程、文化、行为和屏障（如培训完成、检查执行、规范操作的比例、设备检测按期完成），事先定好，为安全工作指方向。滞后指标衡量事件、事故、险兆和整改情况，都是事后才看得到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只看“零事故”，忽视先行指标</a:t>
            </a:r>
          </a:p>
          <a:p>
            <a:pPr>
              <a:spcAft>
                <a:spcPts val="1000"/>
              </a:spcAft>
            </a:pPr>
            <a:r>
              <a:rPr sz="1500">
                <a:solidFill>
                  <a:srgbClr val="222B33"/>
                </a:solidFill>
                <a:latin typeface="Microsoft YaHei"/>
              </a:rPr>
              <a:t>▪ 把没有事故报告当成没有风险</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好指标的特征，审慎使用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好指标由大家一起商量出来</a:t>
            </a:r>
          </a:p>
          <a:p>
            <a:pPr>
              <a:spcAft>
                <a:spcPts val="1000"/>
              </a:spcAft>
            </a:pPr>
            <a:r>
              <a:rPr sz="1700">
                <a:solidFill>
                  <a:srgbClr val="222B33"/>
                </a:solidFill>
                <a:latin typeface="Microsoft YaHei"/>
              </a:rPr>
              <a:t>▪ 相关、客观、及时，成本合理</a:t>
            </a:r>
          </a:p>
          <a:p>
            <a:pPr>
              <a:spcAft>
                <a:spcPts val="1000"/>
              </a:spcAft>
            </a:pPr>
            <a:r>
              <a:rPr sz="1700">
                <a:solidFill>
                  <a:srgbClr val="222B33"/>
                </a:solidFill>
                <a:latin typeface="Microsoft YaHei"/>
              </a:rPr>
              <a:t>▪ 能指导整改，带来改进机会</a:t>
            </a:r>
          </a:p>
          <a:p>
            <a:pPr>
              <a:spcAft>
                <a:spcPts val="1000"/>
              </a:spcAft>
            </a:pPr>
            <a:r>
              <a:rPr sz="1700">
                <a:solidFill>
                  <a:srgbClr val="222B33"/>
                </a:solidFill>
                <a:latin typeface="Microsoft YaHei"/>
              </a:rPr>
              <a:t>▪ 委员会事先定标准，数据要让人看懂</a:t>
            </a:r>
          </a:p>
          <a:p>
            <a:pPr>
              <a:spcAft>
                <a:spcPts val="1000"/>
              </a:spcAft>
            </a:pPr>
            <a:r>
              <a:rPr sz="1700">
                <a:solidFill>
                  <a:srgbClr val="222B33"/>
                </a:solidFill>
                <a:latin typeface="Microsoft YaHei"/>
              </a:rPr>
              <a:t>▪ 定期检查指标，照搬别处未必合用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好指标由相关人员一起商量出来，具有相关、客观、及时、成本合理的特点，能指导整改，带来改进机会。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把事件数量作为考核扣分项，导致瞒报</a:t>
            </a:r>
          </a:p>
          <a:p>
            <a:pPr>
              <a:spcAft>
                <a:spcPts val="1000"/>
              </a:spcAft>
            </a:pPr>
            <a:r>
              <a:rPr sz="1500">
                <a:solidFill>
                  <a:srgbClr val="222B33"/>
                </a:solidFill>
                <a:latin typeface="Microsoft YaHei"/>
              </a:rPr>
              <a:t>▪ 照搬其他单位的指标，不结合本实验室实际</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先想清楚，再测量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量出来才看得懂，才控制得住、谈得上改进</a:t>
            </a:r>
          </a:p>
          <a:p>
            <a:pPr>
              <a:spcAft>
                <a:spcPts val="1000"/>
              </a:spcAft>
            </a:pPr>
            <a:r>
              <a:rPr sz="1700">
                <a:solidFill>
                  <a:srgbClr val="222B33"/>
                </a:solidFill>
                <a:latin typeface="Microsoft YaHei"/>
              </a:rPr>
              <a:t>▪ 流程分输入、步骤、输出，每步记下来</a:t>
            </a:r>
          </a:p>
          <a:p>
            <a:pPr>
              <a:spcAft>
                <a:spcPts val="1000"/>
              </a:spcAft>
            </a:pPr>
            <a:r>
              <a:rPr sz="1700">
                <a:solidFill>
                  <a:srgbClr val="222B33"/>
                </a:solidFill>
                <a:latin typeface="Microsoft YaHei"/>
              </a:rPr>
              <a:t>▪ 评估前先问四个问题</a:t>
            </a:r>
          </a:p>
          <a:p>
            <a:pPr>
              <a:spcAft>
                <a:spcPts val="1000"/>
              </a:spcAft>
            </a:pPr>
            <a:r>
              <a:rPr sz="1700">
                <a:solidFill>
                  <a:srgbClr val="222B33"/>
                </a:solidFill>
                <a:latin typeface="Microsoft YaHei"/>
              </a:rPr>
              <a:t>▪ 可以发问卷，也可以现场跟看</a:t>
            </a:r>
          </a:p>
          <a:p>
            <a:pPr>
              <a:spcAft>
                <a:spcPts val="1000"/>
              </a:spcAft>
            </a:pPr>
            <a:r>
              <a:rPr sz="1700">
                <a:solidFill>
                  <a:srgbClr val="222B33"/>
                </a:solidFill>
                <a:latin typeface="Microsoft YaHei"/>
              </a:rPr>
              <a:t>▪ 看事件规律、健康监测和现场操作</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测量是改进的第一步：量出来才看得懂，看得懂才控制得住，才谈得上改进；测量要用合适的工具。一个流程可以分成输入、步骤、输出，比如检测样本，每一步都记下来。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没想清楚要回答什么问题就开始收集数据</a:t>
            </a:r>
          </a:p>
          <a:p>
            <a:pPr>
              <a:spcAft>
                <a:spcPts val="1000"/>
              </a:spcAft>
            </a:pPr>
            <a:r>
              <a:rPr sz="1500">
                <a:solidFill>
                  <a:srgbClr val="222B33"/>
                </a:solidFill>
                <a:latin typeface="Microsoft YaHei"/>
              </a:rPr>
              <a:t>▪ 只看报表，不到现场看操作</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收集和分析数据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确定要什么数据，收集，再分析</a:t>
            </a:r>
          </a:p>
          <a:p>
            <a:pPr>
              <a:spcAft>
                <a:spcPts val="1000"/>
              </a:spcAft>
            </a:pPr>
            <a:r>
              <a:rPr sz="1700">
                <a:solidFill>
                  <a:srgbClr val="222B33"/>
                </a:solidFill>
                <a:latin typeface="Microsoft YaHei"/>
              </a:rPr>
              <a:t>▪ 定好时间段、方法和成本，尽量不打扰工作</a:t>
            </a:r>
          </a:p>
          <a:p>
            <a:pPr>
              <a:spcAft>
                <a:spcPts val="1000"/>
              </a:spcAft>
            </a:pPr>
            <a:r>
              <a:rPr sz="1700">
                <a:solidFill>
                  <a:srgbClr val="222B33"/>
                </a:solidFill>
                <a:latin typeface="Microsoft YaHei"/>
              </a:rPr>
              <a:t>▪ 盯得太紧，人一紧张反而出错</a:t>
            </a:r>
          </a:p>
          <a:p>
            <a:pPr>
              <a:spcAft>
                <a:spcPts val="1000"/>
              </a:spcAft>
            </a:pPr>
            <a:r>
              <a:rPr sz="1700">
                <a:solidFill>
                  <a:srgbClr val="222B33"/>
                </a:solidFill>
                <a:latin typeface="Microsoft YaHei"/>
              </a:rPr>
              <a:t>▪ 分析要指定专人，给定期限</a:t>
            </a:r>
          </a:p>
          <a:p>
            <a:pPr>
              <a:spcAft>
                <a:spcPts val="1000"/>
              </a:spcAft>
            </a:pPr>
            <a:r>
              <a:rPr sz="1700">
                <a:solidFill>
                  <a:srgbClr val="222B33"/>
                </a:solidFill>
                <a:latin typeface="Microsoft YaHei"/>
              </a:rPr>
              <a:t>▪ 装监控要事先告知，录像只用于安全管理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先确定要什么数据，再收集、分析，看体系是否合适、有效，哪里能改进；也可以借助监控和智能分析。收集前定好时间段、方法和成本；收集时尽量不打扰正常工作，盯得太紧，人一紧张反而出错。分析要花时间和资源，应指定专人、给定期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数据收上来没人分析，堆在柜子里</a:t>
            </a:r>
          </a:p>
          <a:p>
            <a:pPr>
              <a:spcAft>
                <a:spcPts val="1000"/>
              </a:spcAft>
            </a:pPr>
            <a:r>
              <a:rPr sz="1500">
                <a:solidFill>
                  <a:srgbClr val="222B33"/>
                </a:solidFill>
                <a:latin typeface="Microsoft YaHei"/>
              </a:rPr>
              <a:t>▪ 私自传播监控录像或截图</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案例：一次感染引出的绩效分析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目标：降低检测人员的感染风险</a:t>
            </a:r>
          </a:p>
          <a:p>
            <a:pPr>
              <a:spcAft>
                <a:spcPts val="1000"/>
              </a:spcAft>
            </a:pPr>
            <a:r>
              <a:rPr sz="2000">
                <a:solidFill>
                  <a:srgbClr val="222B33"/>
                </a:solidFill>
                <a:latin typeface="Microsoft YaHei"/>
              </a:rPr>
              <a:t>▪ 措施：上岗前体检、防护规程、结束后复查</a:t>
            </a:r>
          </a:p>
          <a:p>
            <a:pPr>
              <a:spcAft>
                <a:spcPts val="1000"/>
              </a:spcAft>
            </a:pPr>
            <a:r>
              <a:rPr sz="2000">
                <a:solidFill>
                  <a:srgbClr val="222B33"/>
                </a:solidFill>
                <a:latin typeface="Microsoft YaHei"/>
              </a:rPr>
              <a:t>▪ 结果：五人中有一人检测阳性</a:t>
            </a:r>
          </a:p>
          <a:p>
            <a:pPr>
              <a:spcAft>
                <a:spcPts val="1000"/>
              </a:spcAft>
            </a:pPr>
            <a:r>
              <a:rPr sz="2000">
                <a:solidFill>
                  <a:srgbClr val="222B33"/>
                </a:solidFill>
                <a:latin typeface="Microsoft YaHei"/>
              </a:rPr>
              <a:t>▪ 问规程合适吗、哪里有漏洞，做事故分析并纠正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某检测实验室的目标是降低人员感染风险，采取的措施包括上岗前体检、防护规程和项目结束后的复查。结果五名人员中有一人检测阳性——计划和实际出现了差距。</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发现人员感染后只做个人治疗，不分析规程和管理原因</a:t>
            </a:r>
          </a:p>
          <a:p>
            <a:pPr>
              <a:spcAft>
                <a:spcPts val="1000"/>
              </a:spcAft>
            </a:pPr>
            <a:r>
              <a:rPr sz="1500">
                <a:solidFill>
                  <a:srgbClr val="222B33"/>
                </a:solidFill>
                <a:latin typeface="Microsoft YaHei"/>
              </a:rPr>
              <a:t>▪ 担心影响评价而不报告</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内部审核：对照规程逐项查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审核看写的和做的是否一致</a:t>
            </a:r>
          </a:p>
          <a:p>
            <a:pPr>
              <a:spcAft>
                <a:spcPts val="1000"/>
              </a:spcAft>
            </a:pPr>
            <a:r>
              <a:rPr sz="1700">
                <a:solidFill>
                  <a:srgbClr val="222B33"/>
                </a:solidFill>
                <a:latin typeface="Microsoft YaHei"/>
              </a:rPr>
              <a:t>▪ 本单位组织，对照规程逐项查</a:t>
            </a:r>
          </a:p>
          <a:p>
            <a:pPr>
              <a:spcAft>
                <a:spcPts val="1000"/>
              </a:spcAft>
            </a:pPr>
            <a:r>
              <a:rPr sz="1700">
                <a:solidFill>
                  <a:srgbClr val="222B33"/>
                </a:solidFill>
                <a:latin typeface="Microsoft YaHei"/>
              </a:rPr>
              <a:t>▪ 到实验台旁看哪步繁琐、哪步有险</a:t>
            </a:r>
          </a:p>
          <a:p>
            <a:pPr>
              <a:spcAft>
                <a:spcPts val="1000"/>
              </a:spcAft>
            </a:pPr>
            <a:r>
              <a:rPr sz="1700">
                <a:solidFill>
                  <a:srgbClr val="222B33"/>
                </a:solidFill>
                <a:latin typeface="Microsoft YaHei"/>
              </a:rPr>
              <a:t>▪ 学院、学校也会定期组织检查</a:t>
            </a:r>
          </a:p>
          <a:p>
            <a:pPr>
              <a:spcAft>
                <a:spcPts val="1000"/>
              </a:spcAft>
            </a:pPr>
            <a:r>
              <a:rPr sz="1700">
                <a:solidFill>
                  <a:srgbClr val="222B33"/>
                </a:solidFill>
                <a:latin typeface="Microsoft YaHei"/>
              </a:rPr>
              <a:t>▪ 如实记录，找出不符合项和改进点</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审核和评价就是“复查”这一步，看写的和做的是否一致、措施是否落实、是否达到预期目标。内部审核由本单位按计划组织，对照规程逐项检查；审核员要到实验台旁观察，看哪一步繁琐、哪一步有风险。GB 19489-2008 要求实……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审核只看文件，不到现场看操作</a:t>
            </a:r>
          </a:p>
          <a:p>
            <a:pPr>
              <a:spcAft>
                <a:spcPts val="1000"/>
              </a:spcAft>
            </a:pPr>
            <a:r>
              <a:rPr sz="1500">
                <a:solidFill>
                  <a:srgbClr val="222B33"/>
                </a:solidFill>
                <a:latin typeface="Microsoft YaHei"/>
              </a:rPr>
              <a:t>▪ 检查发现的问题不写进记录，私下了结</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外部审核与监督检查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审核看规程，检查看设施，检测看设备</a:t>
            </a:r>
          </a:p>
          <a:p>
            <a:pPr>
              <a:spcAft>
                <a:spcPts val="1000"/>
              </a:spcAft>
            </a:pPr>
            <a:r>
              <a:rPr sz="2000">
                <a:solidFill>
                  <a:srgbClr val="222B33"/>
                </a:solidFill>
                <a:latin typeface="Microsoft YaHei"/>
              </a:rPr>
              <a:t>▪ 外部审核比内部审核更客观</a:t>
            </a:r>
          </a:p>
          <a:p>
            <a:pPr>
              <a:spcAft>
                <a:spcPts val="1000"/>
              </a:spcAft>
            </a:pPr>
            <a:r>
              <a:rPr sz="2000">
                <a:solidFill>
                  <a:srgbClr val="222B33"/>
                </a:solidFill>
                <a:latin typeface="Microsoft YaHei"/>
              </a:rPr>
              <a:t>▪ 主管部门依法监督检查，负责人陪同配合</a:t>
            </a:r>
          </a:p>
          <a:p>
            <a:pPr>
              <a:spcAft>
                <a:spcPts val="1000"/>
              </a:spcAft>
            </a:pPr>
            <a:r>
              <a:rPr sz="2000">
                <a:solidFill>
                  <a:srgbClr val="222B33"/>
                </a:solidFill>
                <a:latin typeface="Microsoft YaHei"/>
              </a:rPr>
              <a:t>▪ 高级别实验室还要通过国家认可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审核看规程有没有照做，检查看设施是否按设计运行，检测看设备参数是否合格。内部审核之外，外部审核更客观。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检查前临时补记录、补签字</a:t>
            </a:r>
          </a:p>
          <a:p>
            <a:pPr>
              <a:spcAft>
                <a:spcPts val="1000"/>
              </a:spcAft>
            </a:pPr>
            <a:r>
              <a:rPr sz="1500">
                <a:solidFill>
                  <a:srgbClr val="222B33"/>
                </a:solidFill>
                <a:latin typeface="Microsoft YaHei"/>
              </a:rPr>
              <a:t>▪ 对检查人员隐瞒问题或拒绝提供资料</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管理评审：体系合适、充分、有效吗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负责人按计划定期评审体系</a:t>
            </a:r>
          </a:p>
          <a:p>
            <a:pPr>
              <a:spcAft>
                <a:spcPts val="1000"/>
              </a:spcAft>
            </a:pPr>
            <a:r>
              <a:rPr sz="1700">
                <a:solidFill>
                  <a:srgbClr val="222B33"/>
                </a:solidFill>
                <a:latin typeface="Microsoft YaHei"/>
              </a:rPr>
              <a:t>▪ 看体系是否合适、充分、有效</a:t>
            </a:r>
          </a:p>
          <a:p>
            <a:pPr>
              <a:spcAft>
                <a:spcPts val="1000"/>
              </a:spcAft>
            </a:pPr>
            <a:r>
              <a:rPr sz="1700">
                <a:solidFill>
                  <a:srgbClr val="222B33"/>
                </a:solidFill>
                <a:latin typeface="Microsoft YaHei"/>
              </a:rPr>
              <a:t>▪ 输入：审核结果、纠正措施、事件调查、上次跟进</a:t>
            </a:r>
          </a:p>
          <a:p>
            <a:pPr>
              <a:spcAft>
                <a:spcPts val="1000"/>
              </a:spcAft>
            </a:pPr>
            <a:r>
              <a:rPr sz="1700">
                <a:solidFill>
                  <a:srgbClr val="222B33"/>
                </a:solidFill>
                <a:latin typeface="Microsoft YaHei"/>
              </a:rPr>
              <a:t>▪ 该改的制度、程序和目标就改</a:t>
            </a:r>
          </a:p>
          <a:p>
            <a:pPr>
              <a:spcAft>
                <a:spcPts val="1000"/>
              </a:spcAft>
            </a:pPr>
            <a:r>
              <a:rPr sz="1700">
                <a:solidFill>
                  <a:srgbClr val="222B33"/>
                </a:solidFill>
                <a:latin typeface="Microsoft YaHei"/>
              </a:rPr>
              <a:t>▪ 每一步有记录，评审才有依据</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管理评审由单位或实验室管理层按计划定期进行（例如每年，具体以现行标准和本校规定为准），评审体系是否合适、充分、有效，并寻找下一步改进的机会。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管理评审只开会不形成决定和记录</a:t>
            </a:r>
          </a:p>
          <a:p>
            <a:pPr>
              <a:spcAft>
                <a:spcPts val="1000"/>
              </a:spcAft>
            </a:pPr>
            <a:r>
              <a:rPr sz="1500">
                <a:solidFill>
                  <a:srgbClr val="222B33"/>
                </a:solidFill>
                <a:latin typeface="Microsoft YaHei"/>
              </a:rPr>
              <a:t>▪ 上次评审的决定没有跟进落实</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纠正措施与持续改进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纠正措施：谁来改、怎么改、何时改完</a:t>
            </a:r>
          </a:p>
          <a:p>
            <a:pPr>
              <a:spcAft>
                <a:spcPts val="1000"/>
              </a:spcAft>
            </a:pPr>
            <a:r>
              <a:rPr sz="1700">
                <a:solidFill>
                  <a:srgbClr val="222B33"/>
                </a:solidFill>
                <a:latin typeface="Microsoft YaHei"/>
              </a:rPr>
              <a:t>▪ 改完拍照留证，复查后关闭</a:t>
            </a:r>
          </a:p>
          <a:p>
            <a:pPr>
              <a:spcAft>
                <a:spcPts val="1000"/>
              </a:spcAft>
            </a:pPr>
            <a:r>
              <a:rPr sz="1700">
                <a:solidFill>
                  <a:srgbClr val="222B33"/>
                </a:solidFill>
                <a:latin typeface="Microsoft YaHei"/>
              </a:rPr>
              <a:t>▪ 把检查和事件的教训写进规程</a:t>
            </a:r>
          </a:p>
          <a:p>
            <a:pPr>
              <a:spcAft>
                <a:spcPts val="1000"/>
              </a:spcAft>
            </a:pPr>
            <a:r>
              <a:rPr sz="1700">
                <a:solidFill>
                  <a:srgbClr val="222B33"/>
                </a:solidFill>
                <a:latin typeface="Microsoft YaHei"/>
              </a:rPr>
              <a:t>▪ 有记录才能持续改进，专人管文件</a:t>
            </a:r>
          </a:p>
          <a:p>
            <a:pPr>
              <a:spcAft>
                <a:spcPts val="1000"/>
              </a:spcAft>
            </a:pPr>
            <a:r>
              <a:rPr sz="1700">
                <a:solidFill>
                  <a:srgbClr val="222B33"/>
                </a:solidFill>
                <a:latin typeface="Microsoft YaHei"/>
              </a:rPr>
              <a:t>▪ 个人安全笔记代替不了正式规程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发现问题就要采取纠正措施：明确谁来改、怎么改、什么时候改完；改完拍照留证，再复查，问题关闭才算整改到位。持续改进就是把检查和事件的教训写进规程，一圈一圈越做越好（隐患整改见第 005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整改只改表面，不查原因，问题反复出现</a:t>
            </a:r>
          </a:p>
          <a:p>
            <a:pPr>
              <a:spcAft>
                <a:spcPts val="1000"/>
              </a:spcAft>
            </a:pPr>
            <a:r>
              <a:rPr sz="1500">
                <a:solidFill>
                  <a:srgbClr val="222B33"/>
                </a:solidFill>
                <a:latin typeface="Microsoft YaHei"/>
              </a:rPr>
              <a:t>▪ 整改完不复查，问题长期“未关闭”</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被检查时：照常规范，出错先停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被检查时照平常一样规范做</a:t>
            </a:r>
          </a:p>
          <a:p>
            <a:pPr>
              <a:spcAft>
                <a:spcPts val="1000"/>
              </a:spcAft>
            </a:pPr>
            <a:r>
              <a:rPr sz="2000">
                <a:solidFill>
                  <a:srgbClr val="222B33"/>
                </a:solidFill>
                <a:latin typeface="Microsoft YaHei"/>
              </a:rPr>
              <a:t>▪ 一紧张出错，先停下，别硬撑</a:t>
            </a:r>
          </a:p>
          <a:p>
            <a:pPr>
              <a:spcAft>
                <a:spcPts val="1000"/>
              </a:spcAft>
            </a:pPr>
            <a:r>
              <a:rPr sz="2000">
                <a:solidFill>
                  <a:srgbClr val="222B33"/>
                </a:solidFill>
                <a:latin typeface="Microsoft YaHei"/>
              </a:rPr>
              <a:t>▪ 如实说明，按规程处理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审核和检查看的恰恰是平时。被检查时，照平常一样规范操作，不需要“表演”，也不能临时改变做法。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平时随意，检查当天临时“突击规范”</a:t>
            </a:r>
          </a:p>
          <a:p>
            <a:pPr>
              <a:spcAft>
                <a:spcPts val="1000"/>
              </a:spcAft>
            </a:pPr>
            <a:r>
              <a:rPr sz="1500">
                <a:solidFill>
                  <a:srgbClr val="222B33"/>
                </a:solidFill>
                <a:latin typeface="Microsoft YaHei"/>
              </a:rPr>
              <a:t>▪ 出错后掩饰或硬撑着继续操作</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绩效评估中“绩效”最贴切的含义是：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发表论文的数量</a:t>
            </a:r>
          </a:p>
          <a:p>
            <a:pPr algn="l"/>
            <a:r>
              <a:rPr sz="1500" b="0">
                <a:solidFill>
                  <a:srgbClr val="222B33"/>
                </a:solidFill>
                <a:latin typeface="Microsoft YaHei"/>
              </a:rPr>
              <a:t>B. 计划与实际之间的差距</a:t>
            </a:r>
          </a:p>
          <a:p>
            <a:pPr algn="l"/>
            <a:r>
              <a:rPr sz="1500" b="0">
                <a:solidFill>
                  <a:srgbClr val="222B33"/>
                </a:solidFill>
                <a:latin typeface="Microsoft YaHei"/>
              </a:rPr>
              <a:t>C. 检查当天的表现</a:t>
            </a:r>
          </a:p>
          <a:p>
            <a:pPr algn="l"/>
            <a:r>
              <a:rPr sz="1500" b="0">
                <a:solidFill>
                  <a:srgbClr val="222B33"/>
                </a:solidFill>
                <a:latin typeface="Microsoft YaHei"/>
              </a:rPr>
              <a:t>D. 实验经费的多少</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下列属于先行指标的是：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发生溢洒的次数</a:t>
            </a:r>
          </a:p>
          <a:p>
            <a:pPr algn="l"/>
            <a:r>
              <a:rPr sz="1500" b="0">
                <a:solidFill>
                  <a:srgbClr val="222B33"/>
                </a:solidFill>
                <a:latin typeface="Microsoft YaHei"/>
              </a:rPr>
              <a:t>B. 事故的次数</a:t>
            </a:r>
          </a:p>
          <a:p>
            <a:pPr algn="l"/>
            <a:r>
              <a:rPr sz="1500" b="0">
                <a:solidFill>
                  <a:srgbClr val="222B33"/>
                </a:solidFill>
                <a:latin typeface="Microsoft YaHei"/>
              </a:rPr>
              <a:t>C. 培训按期完成和规范操作的情况</a:t>
            </a:r>
          </a:p>
          <a:p>
            <a:pPr algn="l"/>
            <a:r>
              <a:rPr sz="1500" b="0">
                <a:solidFill>
                  <a:srgbClr val="222B33"/>
                </a:solidFill>
                <a:latin typeface="Microsoft YaHei"/>
              </a:rPr>
              <a:t>D. 整改关闭的数量</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判断：只要加了控制措施，就不需要再评估风险。</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关于审核和评审，正确的是：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内部审核只看文件</a:t>
            </a:r>
          </a:p>
          <a:p>
            <a:pPr algn="l"/>
            <a:r>
              <a:rPr sz="1500" b="0">
                <a:solidFill>
                  <a:srgbClr val="222B33"/>
                </a:solidFill>
                <a:latin typeface="Microsoft YaHei"/>
              </a:rPr>
              <a:t>B. 管理评审看体系是否合适、充分、有效，并修订制度和目标</a:t>
            </a:r>
          </a:p>
          <a:p>
            <a:pPr algn="l"/>
            <a:r>
              <a:rPr sz="1500" b="0">
                <a:solidFill>
                  <a:srgbClr val="222B33"/>
                </a:solidFill>
                <a:latin typeface="Microsoft YaHei"/>
              </a:rPr>
              <a:t>C. 外部检查时负责人可以不在场</a:t>
            </a:r>
          </a:p>
          <a:p>
            <a:pPr algn="l"/>
            <a:r>
              <a:rPr sz="1500" b="0">
                <a:solidFill>
                  <a:srgbClr val="222B33"/>
                </a:solidFill>
                <a:latin typeface="Microsoft YaHei"/>
              </a:rPr>
              <a:t>D. 审核发现的问题私下了结即可</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066 · 生物安全绩效评估与审核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066 生物安全绩效评估与审核</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判断：审核那天阿杰一紧张手滑，应先停下，如实说明并按规程处理。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简答：一项纠正措施怎样才算整改到位？</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什么是绩效评估：记录、测量、评价</a:t>
            </a:r>
          </a:p>
          <a:p>
            <a:pPr>
              <a:spcAft>
                <a:spcPts val="800"/>
              </a:spcAft>
            </a:pPr>
            <a:r>
              <a:rPr sz="1500">
                <a:solidFill>
                  <a:srgbClr val="FFFFFF"/>
                </a:solidFill>
                <a:latin typeface="Microsoft YaHei"/>
              </a:rPr>
              <a:t>▪ K2  绩效：计划与实际之差</a:t>
            </a:r>
          </a:p>
          <a:p>
            <a:pPr>
              <a:spcAft>
                <a:spcPts val="800"/>
              </a:spcAft>
            </a:pPr>
            <a:r>
              <a:rPr sz="1500">
                <a:solidFill>
                  <a:srgbClr val="FFFFFF"/>
                </a:solidFill>
                <a:latin typeface="Microsoft YaHei"/>
              </a:rPr>
              <a:t>▪ K3  减缓之后再评估，一圈圈循环</a:t>
            </a:r>
          </a:p>
          <a:p>
            <a:pPr>
              <a:spcAft>
                <a:spcPts val="800"/>
              </a:spcAft>
            </a:pPr>
            <a:r>
              <a:rPr sz="1500">
                <a:solidFill>
                  <a:srgbClr val="FFFFFF"/>
                </a:solidFill>
                <a:latin typeface="Microsoft YaHei"/>
              </a:rPr>
              <a:t>▪ K4  从方针到目标：看得见、量得出</a:t>
            </a:r>
          </a:p>
          <a:p>
            <a:pPr>
              <a:spcAft>
                <a:spcPts val="800"/>
              </a:spcAft>
            </a:pPr>
            <a:r>
              <a:rPr sz="1500">
                <a:solidFill>
                  <a:srgbClr val="FFFFFF"/>
                </a:solidFill>
                <a:latin typeface="Microsoft YaHei"/>
              </a:rPr>
              <a:t>▪ K5  指标：用数字说话</a:t>
            </a:r>
          </a:p>
          <a:p>
            <a:pPr>
              <a:spcAft>
                <a:spcPts val="800"/>
              </a:spcAft>
            </a:pPr>
            <a:r>
              <a:rPr sz="1500">
                <a:solidFill>
                  <a:srgbClr val="FFFFFF"/>
                </a:solidFill>
                <a:latin typeface="Microsoft YaHei"/>
              </a:rPr>
              <a:t>▪ K6  先行指标与滞后指标</a:t>
            </a:r>
          </a:p>
          <a:p>
            <a:pPr>
              <a:spcAft>
                <a:spcPts val="800"/>
              </a:spcAft>
            </a:pPr>
            <a:r>
              <a:rPr sz="1500">
                <a:solidFill>
                  <a:srgbClr val="FFFFFF"/>
                </a:solidFill>
                <a:latin typeface="Microsoft YaHei"/>
              </a:rPr>
              <a:t>▪ K7  好指标的特征，审慎使用</a:t>
            </a:r>
          </a:p>
          <a:p>
            <a:pPr>
              <a:spcAft>
                <a:spcPts val="800"/>
              </a:spcAft>
            </a:pPr>
            <a:r>
              <a:rPr sz="1500">
                <a:solidFill>
                  <a:srgbClr val="FFFFFF"/>
                </a:solidFill>
                <a:latin typeface="Microsoft YaHei"/>
              </a:rPr>
              <a:t>▪ K8  先想清楚，再测量</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收集和分析数据</a:t>
            </a:r>
          </a:p>
          <a:p>
            <a:pPr>
              <a:spcAft>
                <a:spcPts val="800"/>
              </a:spcAft>
            </a:pPr>
            <a:r>
              <a:rPr sz="1500">
                <a:solidFill>
                  <a:srgbClr val="FFFFFF"/>
                </a:solidFill>
                <a:latin typeface="Microsoft YaHei"/>
              </a:rPr>
              <a:t>▪ K10  案例：一次感染引出的绩效分析</a:t>
            </a:r>
          </a:p>
          <a:p>
            <a:pPr>
              <a:spcAft>
                <a:spcPts val="800"/>
              </a:spcAft>
            </a:pPr>
            <a:r>
              <a:rPr sz="1500">
                <a:solidFill>
                  <a:srgbClr val="FFFFFF"/>
                </a:solidFill>
                <a:latin typeface="Microsoft YaHei"/>
              </a:rPr>
              <a:t>▪ K11  内部审核：对照规程逐项查</a:t>
            </a:r>
          </a:p>
          <a:p>
            <a:pPr>
              <a:spcAft>
                <a:spcPts val="800"/>
              </a:spcAft>
            </a:pPr>
            <a:r>
              <a:rPr sz="1500">
                <a:solidFill>
                  <a:srgbClr val="FFFFFF"/>
                </a:solidFill>
                <a:latin typeface="Microsoft YaHei"/>
              </a:rPr>
              <a:t>▪ K12  外部审核与监督检查</a:t>
            </a:r>
          </a:p>
          <a:p>
            <a:pPr>
              <a:spcAft>
                <a:spcPts val="800"/>
              </a:spcAft>
            </a:pPr>
            <a:r>
              <a:rPr sz="1500">
                <a:solidFill>
                  <a:srgbClr val="FFFFFF"/>
                </a:solidFill>
                <a:latin typeface="Microsoft YaHei"/>
              </a:rPr>
              <a:t>▪ K13  管理评审：体系合适、充分、有效吗</a:t>
            </a:r>
          </a:p>
          <a:p>
            <a:pPr>
              <a:spcAft>
                <a:spcPts val="800"/>
              </a:spcAft>
            </a:pPr>
            <a:r>
              <a:rPr sz="1500">
                <a:solidFill>
                  <a:srgbClr val="FFFFFF"/>
                </a:solidFill>
                <a:latin typeface="Microsoft YaHei"/>
              </a:rPr>
              <a:t>▪ K14  纠正措施与持续改进</a:t>
            </a:r>
          </a:p>
          <a:p>
            <a:pPr>
              <a:spcAft>
                <a:spcPts val="800"/>
              </a:spcAft>
            </a:pPr>
            <a:r>
              <a:rPr sz="1500">
                <a:solidFill>
                  <a:srgbClr val="FFFFFF"/>
                </a:solidFill>
                <a:latin typeface="Microsoft YaHei"/>
              </a:rPr>
              <a:t>▪ K15  被检查时：照常规范，出错先停</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067</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生物风险评估的步骤与风险矩阵</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80 镜）　适用对象：进入生命科学、医学、农学、环境等涉及生物材料实验室的高校本科生、研究生和教职工（必修）；实验室负责人、生物安全员和参与编写风险评估报告的人员重点学习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能说出危害与风险的区别，知道风险由可能性和后果共同决定，并能用风险矩阵判断风险等级。</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能说出生物风险评估的六步（危害识别、风险分析、风险评价、风险控制、记录、复查），以及风险随操作步骤而变化。</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能判断残余风险是否可接受、何时必须重新评估，知道评估报告要成文、审核、存档。</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能做到动手前参与本实验室的风险评估，拿不准时先问导师，不擅自开展。</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《中华人民共和国生物安全法》（以现行文本为准）：病原微生物实验室的设立单位负责实验室生物安全管理，从事实验活动应当遵守有关规定</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《病原微生物实验室生物安全管理条例》（以现行文本为准）：实验室负责人为第一责任人；实验活动须在相应级别实验室开展，高致病性病原微生物实验活动须经批准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生物安全通用要求》：风险评估及风险控制，评估报告成文并经审核，情况变化时重新评估</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233（以现行文本为准）《病原微生物实验室生物安全通用准则》：根据病原危害和实验活动进行风险评估、确定防护水平</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《人间传染的病原微生物目录》（国家卫生健康委发布，以现行版本为准）：病原微生物分类和实验活动所需防护级别</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号，以现行文本为准）：实验室安全风险评估、危险性实验项目审批</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本校实验室生物安全管理办法、风险评估程序和生物安全委员会章程（以本校规定为准）</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风险评估：生物安全的地基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风险评估是生物安全的地基</a:t>
            </a:r>
          </a:p>
          <a:p>
            <a:pPr>
              <a:spcAft>
                <a:spcPts val="1000"/>
              </a:spcAft>
            </a:pPr>
            <a:r>
              <a:rPr sz="1700">
                <a:solidFill>
                  <a:srgbClr val="222B33"/>
                </a:solidFill>
                <a:latin typeface="Microsoft YaHei"/>
              </a:rPr>
              <a:t>▪ 看可能性、后果，也看哪些地方拿不准</a:t>
            </a:r>
          </a:p>
          <a:p>
            <a:pPr>
              <a:spcAft>
                <a:spcPts val="1000"/>
              </a:spcAft>
            </a:pPr>
            <a:r>
              <a:rPr sz="1700">
                <a:solidFill>
                  <a:srgbClr val="222B33"/>
                </a:solidFill>
                <a:latin typeface="Microsoft YaHei"/>
              </a:rPr>
              <a:t>▪ 先评估再动手，顺序不能反</a:t>
            </a:r>
          </a:p>
          <a:p>
            <a:pPr>
              <a:spcAft>
                <a:spcPts val="1000"/>
              </a:spcAft>
            </a:pPr>
            <a:r>
              <a:rPr sz="1700">
                <a:solidFill>
                  <a:srgbClr val="222B33"/>
                </a:solidFill>
                <a:latin typeface="Microsoft YaHei"/>
              </a:rPr>
              <a:t>▪ 用菌先问来源，来历不明不乱用</a:t>
            </a:r>
          </a:p>
          <a:p>
            <a:pPr>
              <a:spcAft>
                <a:spcPts val="1000"/>
              </a:spcAft>
            </a:pPr>
            <a:r>
              <a:rPr sz="1700">
                <a:solidFill>
                  <a:srgbClr val="222B33"/>
                </a:solidFill>
                <a:latin typeface="Microsoft YaHei"/>
              </a:rPr>
              <a:t>▪ 评估、控制、看效果，不断改进</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风险评估是一个评价的过程：看出事的可能性有多大、后果有多严重，同时把拿不准的地方（资料不足、新方法、新样本）写清楚。实验的风险有高有低，只有先评估，才知道要采取多强的措施，所以说风险评估是生物安全的地基，其他工作都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先动手做实验，出了问题再补评估</a:t>
            </a:r>
          </a:p>
          <a:p>
            <a:pPr>
              <a:spcAft>
                <a:spcPts val="1000"/>
              </a:spcAft>
            </a:pPr>
            <a:r>
              <a:rPr sz="1500">
                <a:solidFill>
                  <a:srgbClr val="222B33"/>
                </a:solidFill>
                <a:latin typeface="Microsoft YaHei"/>
              </a:rPr>
              <a:t>▪ 使用来历不明的菌种或样本，不问来源</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危害是物，风险来自操作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危害：任何可能造成伤害的东西</a:t>
            </a:r>
          </a:p>
          <a:p>
            <a:pPr>
              <a:spcAft>
                <a:spcPts val="1000"/>
              </a:spcAft>
            </a:pPr>
            <a:r>
              <a:rPr sz="2000">
                <a:solidFill>
                  <a:srgbClr val="222B33"/>
                </a:solidFill>
                <a:latin typeface="Microsoft YaHei"/>
              </a:rPr>
              <a:t>▪ 伤害源是生物因子，就是生物风险</a:t>
            </a:r>
          </a:p>
          <a:p>
            <a:pPr>
              <a:spcAft>
                <a:spcPts val="1000"/>
              </a:spcAft>
            </a:pPr>
            <a:r>
              <a:rPr sz="2000">
                <a:solidFill>
                  <a:srgbClr val="222B33"/>
                </a:solidFill>
                <a:latin typeface="Microsoft YaHei"/>
              </a:rPr>
              <a:t>▪ 动手操作，危害才变成风险</a:t>
            </a:r>
          </a:p>
          <a:p>
            <a:pPr>
              <a:spcAft>
                <a:spcPts val="1000"/>
              </a:spcAft>
            </a:pPr>
            <a:r>
              <a:rPr sz="2000">
                <a:solidFill>
                  <a:srgbClr val="222B33"/>
                </a:solidFill>
                <a:latin typeface="Microsoft YaHei"/>
              </a:rPr>
              <a:t>▪ 操作、运输、被盗、封闭破损都带来风险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危害是任何可能造成伤害的东西，生物因子（病原微生物、毒素、感染性样本等）就是潜在的危害。风险则是这种伤害真正发生的可能性及其后果；伤害源是生物因子的，就叫生物风险。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把危害和风险混为一谈，只看病原不看操作</a:t>
            </a:r>
          </a:p>
          <a:p>
            <a:pPr>
              <a:spcAft>
                <a:spcPts val="1000"/>
              </a:spcAft>
            </a:pPr>
            <a:r>
              <a:rPr sz="1500">
                <a:solidFill>
                  <a:srgbClr val="222B33"/>
                </a:solidFill>
                <a:latin typeface="Microsoft YaHei"/>
              </a:rPr>
              <a:t>▪ 只考虑实验操作，忽略运输、储存和被盗丢失</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风险看可能性和后果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风险由可能性和后果共同决定</a:t>
            </a:r>
          </a:p>
          <a:p>
            <a:pPr>
              <a:spcAft>
                <a:spcPts val="1000"/>
              </a:spcAft>
            </a:pPr>
            <a:r>
              <a:rPr sz="2000">
                <a:solidFill>
                  <a:srgbClr val="222B33"/>
                </a:solidFill>
                <a:latin typeface="Microsoft YaHei"/>
              </a:rPr>
              <a:t>▪ 可能性：出事的几率有多大</a:t>
            </a:r>
          </a:p>
          <a:p>
            <a:pPr>
              <a:spcAft>
                <a:spcPts val="1000"/>
              </a:spcAft>
            </a:pPr>
            <a:r>
              <a:rPr sz="2000">
                <a:solidFill>
                  <a:srgbClr val="222B33"/>
                </a:solidFill>
                <a:latin typeface="Microsoft YaHei"/>
              </a:rPr>
              <a:t>▪ 后果：对人和环境的伤害有多大</a:t>
            </a:r>
          </a:p>
          <a:p>
            <a:pPr>
              <a:spcAft>
                <a:spcPts val="1000"/>
              </a:spcAft>
            </a:pPr>
            <a:r>
              <a:rPr sz="2000">
                <a:solidFill>
                  <a:srgbClr val="222B33"/>
                </a:solidFill>
                <a:latin typeface="Microsoft YaHei"/>
              </a:rPr>
              <a:t>▪ 例：转运不规范，泄漏可能大，人会被感染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风险是可能性和后果（严重程度）的组合。可能性指防护失效、发生暴露的几率有多大；后果指一旦发生，对人员、公众和环境造成的伤害有多大。两者结合起来，才能看出风险的高低。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只看后果，认为“病原不太危险就不用管”</a:t>
            </a:r>
          </a:p>
          <a:p>
            <a:pPr>
              <a:spcAft>
                <a:spcPts val="1000"/>
              </a:spcAft>
            </a:pPr>
            <a:r>
              <a:rPr sz="1500">
                <a:solidFill>
                  <a:srgbClr val="222B33"/>
                </a:solidFill>
                <a:latin typeface="Microsoft YaHei"/>
              </a:rPr>
              <a:t>▪ 只看可能性，认为“从没出过事”就是低风险</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守规矩降的是可能性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守规则能降低出事的可能性</a:t>
            </a:r>
          </a:p>
          <a:p>
            <a:pPr>
              <a:spcAft>
                <a:spcPts val="1000"/>
              </a:spcAft>
            </a:pPr>
            <a:r>
              <a:rPr sz="2000">
                <a:solidFill>
                  <a:srgbClr val="222B33"/>
                </a:solidFill>
                <a:latin typeface="Microsoft YaHei"/>
              </a:rPr>
              <a:t>▪ 万一发生，后果不一定变轻</a:t>
            </a:r>
          </a:p>
          <a:p>
            <a:pPr>
              <a:spcAft>
                <a:spcPts val="1000"/>
              </a:spcAft>
            </a:pPr>
            <a:r>
              <a:rPr sz="2000">
                <a:solidFill>
                  <a:srgbClr val="222B33"/>
                </a:solidFill>
                <a:latin typeface="Microsoft YaHei"/>
              </a:rPr>
              <a:t>▪ 病原关在实验室里，风险很低</a:t>
            </a:r>
          </a:p>
          <a:p>
            <a:pPr>
              <a:spcAft>
                <a:spcPts val="1000"/>
              </a:spcAft>
            </a:pPr>
            <a:r>
              <a:rPr sz="2000">
                <a:solidFill>
                  <a:srgbClr val="222B33"/>
                </a:solidFill>
                <a:latin typeface="Microsoft YaHei"/>
              </a:rPr>
              <a:t>▪ 意外泄漏或被滥用，后果就很高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可能性会随做法而变，后果却不一定。就像开车：无证乱开，出事的概率很高；守规则开车，概率低，但万一撞上，造成的伤害还是一样重。实验室里也是这样：规范操作降的是可能性，病原本身造成的后果并没有变轻，所以不能因为“我很小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认为自己操作熟练，就可以降低防护要求</a:t>
            </a:r>
          </a:p>
          <a:p>
            <a:pPr>
              <a:spcAft>
                <a:spcPts val="1000"/>
              </a:spcAft>
            </a:pPr>
            <a:r>
              <a:rPr sz="1500">
                <a:solidFill>
                  <a:srgbClr val="222B33"/>
                </a:solidFill>
                <a:latin typeface="Microsoft YaHei"/>
              </a:rPr>
              <a:t>▪ 只防意外，不防样本丢失、被盗和滥用</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可能性与后果分级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可能性问：发生的概率有多大</a:t>
            </a:r>
          </a:p>
          <a:p>
            <a:pPr>
              <a:spcAft>
                <a:spcPts val="1000"/>
              </a:spcAft>
            </a:pPr>
            <a:r>
              <a:rPr sz="2000">
                <a:solidFill>
                  <a:srgbClr val="222B33"/>
                </a:solidFill>
                <a:latin typeface="Microsoft YaHei"/>
              </a:rPr>
              <a:t>▪ 后果问：万一发生，会有多严重</a:t>
            </a:r>
          </a:p>
          <a:p>
            <a:pPr>
              <a:spcAft>
                <a:spcPts val="1000"/>
              </a:spcAft>
            </a:pPr>
            <a:r>
              <a:rPr sz="2000">
                <a:solidFill>
                  <a:srgbClr val="222B33"/>
                </a:solidFill>
                <a:latin typeface="Microsoft YaHei"/>
              </a:rPr>
              <a:t>▪ 两边常分三到五级</a:t>
            </a:r>
          </a:p>
          <a:p>
            <a:pPr>
              <a:spcAft>
                <a:spcPts val="1000"/>
              </a:spcAft>
            </a:pPr>
            <a:r>
              <a:rPr sz="2000">
                <a:solidFill>
                  <a:srgbClr val="222B33"/>
                </a:solidFill>
                <a:latin typeface="Microsoft YaHei"/>
              </a:rPr>
              <a:t>▪ 分几级、怎么判，按本校评估程序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为了把风险说清楚，可能性和后果都要分级。可能性回答“发生的概率有多大”，可从“很少”到“经常”分级；后果回答“万一发生会怎样”，可从“轻微”（无伤害或轻微不适）到“严重”（严重疾病、扩散到社区或环境）分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每个人凭感觉打分，没有统一的分级标准</a:t>
            </a:r>
          </a:p>
          <a:p>
            <a:pPr>
              <a:spcAft>
                <a:spcPts val="1000"/>
              </a:spcAft>
            </a:pPr>
            <a:r>
              <a:rPr sz="1500">
                <a:solidFill>
                  <a:srgbClr val="222B33"/>
                </a:solidFill>
                <a:latin typeface="Microsoft YaHei"/>
              </a:rPr>
              <a:t>▪ 只写“风险较低”，说不出依据</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风险矩阵</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可能性和后果交叉，就是风险矩阵</a:t>
            </a:r>
          </a:p>
          <a:p>
            <a:pPr>
              <a:spcAft>
                <a:spcPts val="1000"/>
              </a:spcAft>
            </a:pPr>
            <a:r>
              <a:rPr sz="2000">
                <a:solidFill>
                  <a:srgbClr val="222B33"/>
                </a:solidFill>
                <a:latin typeface="Microsoft YaHei"/>
              </a:rPr>
              <a:t>▪ 都低最安全，都高最危险</a:t>
            </a:r>
          </a:p>
          <a:p>
            <a:pPr>
              <a:spcAft>
                <a:spcPts val="1000"/>
              </a:spcAft>
            </a:pPr>
            <a:r>
              <a:rPr sz="2000">
                <a:solidFill>
                  <a:srgbClr val="222B33"/>
                </a:solidFill>
                <a:latin typeface="Microsoft YaHei"/>
              </a:rPr>
              <a:t>▪ 每个风险点放进矩阵，一目了然</a:t>
            </a:r>
          </a:p>
          <a:p>
            <a:pPr>
              <a:spcAft>
                <a:spcPts val="1000"/>
              </a:spcAft>
            </a:pPr>
            <a:r>
              <a:rPr sz="2000">
                <a:solidFill>
                  <a:srgbClr val="222B33"/>
                </a:solidFill>
                <a:latin typeface="Microsoft YaHei"/>
              </a:rPr>
              <a:t>▪ 红格风险优先处理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把可能性和后果的分级交叉成一张表，就是风险矩阵：可能性低、后果轻的落在绿格，风险最低；可能性大、后果重的落在红格，风险最高；中间是黄格。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只给整个实验打一个总分，不逐个风险点分析</a:t>
            </a:r>
          </a:p>
          <a:p>
            <a:pPr>
              <a:spcAft>
                <a:spcPts val="1000"/>
              </a:spcAft>
            </a:pPr>
            <a:r>
              <a:rPr sz="1500">
                <a:solidFill>
                  <a:srgbClr val="222B33"/>
                </a:solidFill>
                <a:latin typeface="Microsoft YaHei"/>
              </a:rPr>
              <a:t>▪ 评出红格仍照常开展</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风险随操作而变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样本密封冻存，风险较低</a:t>
            </a:r>
          </a:p>
          <a:p>
            <a:pPr>
              <a:spcAft>
                <a:spcPts val="1000"/>
              </a:spcAft>
            </a:pPr>
            <a:r>
              <a:rPr sz="2000">
                <a:solidFill>
                  <a:srgbClr val="222B33"/>
                </a:solidFill>
                <a:latin typeface="Microsoft YaHei"/>
              </a:rPr>
              <a:t>▪ 拿出开盖提取，风险升高</a:t>
            </a:r>
          </a:p>
          <a:p>
            <a:pPr>
              <a:spcAft>
                <a:spcPts val="1000"/>
              </a:spcAft>
            </a:pPr>
            <a:r>
              <a:rPr sz="2000">
                <a:solidFill>
                  <a:srgbClr val="222B33"/>
                </a:solidFill>
                <a:latin typeface="Microsoft YaHei"/>
              </a:rPr>
              <a:t>▪ 培养活的病原，风险最高</a:t>
            </a:r>
          </a:p>
          <a:p>
            <a:pPr>
              <a:spcAft>
                <a:spcPts val="1000"/>
              </a:spcAft>
            </a:pPr>
            <a:r>
              <a:rPr sz="2000">
                <a:solidFill>
                  <a:srgbClr val="222B33"/>
                </a:solidFill>
                <a:latin typeface="Microsoft YaHei"/>
              </a:rPr>
              <a:t>▪ 储存也有风险：密封、标清、上锁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同一种生物材料，风险随操作而变。样本密封冻存在罐里，风险较低；拿出来开盖处理、提取核酸，风险升高；培养活的病原（数量和浓度增加），风险最高。流程一步步往后走，风险一级级升高，一旦释放，后果也越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用冻存样本的风险等级去做培养实验</a:t>
            </a:r>
          </a:p>
          <a:p>
            <a:pPr>
              <a:spcAft>
                <a:spcPts val="1000"/>
              </a:spcAft>
            </a:pPr>
            <a:r>
              <a:rPr sz="1500">
                <a:solidFill>
                  <a:srgbClr val="222B33"/>
                </a:solidFill>
                <a:latin typeface="Microsoft YaHei"/>
              </a:rPr>
              <a:t>▪ 储存的样本不标识、不上锁</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评估六步，按顺序走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六步：识别、分析、评价、控制、记录、复查</a:t>
            </a:r>
          </a:p>
          <a:p>
            <a:pPr>
              <a:spcAft>
                <a:spcPts val="1000"/>
              </a:spcAft>
            </a:pPr>
            <a:r>
              <a:rPr sz="2000">
                <a:solidFill>
                  <a:srgbClr val="222B33"/>
                </a:solidFill>
                <a:latin typeface="Microsoft YaHei"/>
              </a:rPr>
              <a:t>▪ 按顺序走，不跳步</a:t>
            </a:r>
          </a:p>
          <a:p>
            <a:pPr>
              <a:spcAft>
                <a:spcPts val="1000"/>
              </a:spcAft>
            </a:pPr>
            <a:r>
              <a:rPr sz="2000">
                <a:solidFill>
                  <a:srgbClr val="222B33"/>
                </a:solidFill>
                <a:latin typeface="Microsoft YaHei"/>
              </a:rPr>
              <a:t>▪ 走完一遍，还要回头再看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生物风险评估有固定的步骤：危害识别、风险分析、风险评价、风险控制、记录、复查。也有资料把它概括为五步（识别、评估、控制、看残余风险、再决策），内容是一致的：先认清危害，再估计风险大小，加控制后看残余风险能否接受，然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跳过分析和评价，直接照搬防护措施</a:t>
            </a:r>
          </a:p>
          <a:p>
            <a:pPr>
              <a:spcAft>
                <a:spcPts val="1000"/>
              </a:spcAft>
            </a:pPr>
            <a:r>
              <a:rPr sz="1500">
                <a:solidFill>
                  <a:srgbClr val="222B33"/>
                </a:solidFill>
                <a:latin typeface="Microsoft YaHei"/>
              </a:rPr>
              <a:t>▪ 评估完一次就再不回头看</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第一步：危害识别</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弄清用什么生物因子，查国内目录</a:t>
            </a:r>
          </a:p>
          <a:p>
            <a:pPr>
              <a:spcAft>
                <a:spcPts val="1000"/>
              </a:spcAft>
            </a:pPr>
            <a:r>
              <a:rPr sz="1700">
                <a:solidFill>
                  <a:srgbClr val="222B33"/>
                </a:solidFill>
                <a:latin typeface="Microsoft YaHei"/>
              </a:rPr>
              <a:t>▪ 国内第一类最危险，与国际风险组相反</a:t>
            </a:r>
          </a:p>
          <a:p>
            <a:pPr>
              <a:spcAft>
                <a:spcPts val="1000"/>
              </a:spcAft>
            </a:pPr>
            <a:r>
              <a:rPr sz="1700">
                <a:solidFill>
                  <a:srgbClr val="222B33"/>
                </a:solidFill>
                <a:latin typeface="Microsoft YaHei"/>
              </a:rPr>
              <a:t>▪ 列出操作，写清用量和浓度</a:t>
            </a:r>
          </a:p>
          <a:p>
            <a:pPr>
              <a:spcAft>
                <a:spcPts val="1000"/>
              </a:spcAft>
            </a:pPr>
            <a:r>
              <a:rPr sz="1700">
                <a:solidFill>
                  <a:srgbClr val="222B33"/>
                </a:solidFill>
                <a:latin typeface="Microsoft YaHei"/>
              </a:rPr>
              <a:t>▪ 气溶胶、溅洒、锐器要重点看</a:t>
            </a:r>
          </a:p>
          <a:p>
            <a:pPr>
              <a:spcAft>
                <a:spcPts val="1000"/>
              </a:spcAft>
            </a:pPr>
            <a:r>
              <a:rPr sz="1700">
                <a:solidFill>
                  <a:srgbClr val="222B33"/>
                </a:solidFill>
                <a:latin typeface="Microsoft YaHei"/>
              </a:rPr>
              <a:t>▪ 化学和物理危害一起找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第一步是危害识别：先弄清用的是什么生物因子，查《人间传染的病原微生物目录》（以现行版本为准），认出它属于哪一类，再查病原资料拿到依据（要素清单见第 068 课）。注意两套编号：国内病原分类第一类危害最大、第四类最小，……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把国际风险组的编号当成国内分类，弄反危险程度</a:t>
            </a:r>
          </a:p>
          <a:p>
            <a:pPr>
              <a:spcAft>
                <a:spcPts val="1000"/>
              </a:spcAft>
            </a:pPr>
            <a:r>
              <a:rPr sz="1500">
                <a:solidFill>
                  <a:srgbClr val="222B33"/>
                </a:solidFill>
                <a:latin typeface="Microsoft YaHei"/>
              </a:rPr>
              <a:t>▪ 只看病原，不看产生气溶胶的操作和化学、物理危害</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第二步：风险分析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估计暴露的可能性和后果</a:t>
            </a:r>
          </a:p>
          <a:p>
            <a:pPr>
              <a:spcAft>
                <a:spcPts val="1000"/>
              </a:spcAft>
            </a:pPr>
            <a:r>
              <a:rPr sz="2000">
                <a:solidFill>
                  <a:srgbClr val="222B33"/>
                </a:solidFill>
                <a:latin typeface="Microsoft YaHei"/>
              </a:rPr>
              <a:t>▪ 想清楚谁可能受害</a:t>
            </a:r>
          </a:p>
          <a:p>
            <a:pPr>
              <a:spcAft>
                <a:spcPts val="1000"/>
              </a:spcAft>
            </a:pPr>
            <a:r>
              <a:rPr sz="2000">
                <a:solidFill>
                  <a:srgbClr val="222B33"/>
                </a:solidFill>
                <a:latin typeface="Microsoft YaHei"/>
              </a:rPr>
              <a:t>▪ 途径：吸入、溅入、刺伤、食入</a:t>
            </a:r>
          </a:p>
          <a:p>
            <a:pPr>
              <a:spcAft>
                <a:spcPts val="1000"/>
              </a:spcAft>
            </a:pPr>
            <a:r>
              <a:rPr sz="2000">
                <a:solidFill>
                  <a:srgbClr val="222B33"/>
                </a:solidFill>
                <a:latin typeface="Microsoft YaHei"/>
              </a:rPr>
              <a:t>▪ 来历不清的样本，风险往高处估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二步是风险分析：估计发生暴露的可能性有多大，一旦暴露后果有多严重。先想清楚谁可能受害——操作者本人、同室的同事、保洁和清运人员，甚至公众；再想清楚怎么受害——吸入气溶胶、溅到眼睛或黏膜、被锐器刺伤，还是误食入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只考虑操作者本人，忽略同事和保洁清运人员</a:t>
            </a:r>
          </a:p>
          <a:p>
            <a:pPr>
              <a:spcAft>
                <a:spcPts val="1000"/>
              </a:spcAft>
            </a:pPr>
            <a:r>
              <a:rPr sz="1500">
                <a:solidFill>
                  <a:srgbClr val="222B33"/>
                </a:solidFill>
                <a:latin typeface="Microsoft YaHei"/>
              </a:rPr>
              <a:t>▪ 资料不清时按最低风险估计</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第三步：风险评价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定出总体风险等级：低、中、高</a:t>
            </a:r>
          </a:p>
          <a:p>
            <a:pPr>
              <a:spcAft>
                <a:spcPts val="1000"/>
              </a:spcAft>
            </a:pPr>
            <a:r>
              <a:rPr sz="2000">
                <a:solidFill>
                  <a:srgbClr val="222B33"/>
                </a:solidFill>
                <a:latin typeface="Microsoft YaHei"/>
              </a:rPr>
              <a:t>▪ 等级决定要多强的措施</a:t>
            </a:r>
          </a:p>
          <a:p>
            <a:pPr>
              <a:spcAft>
                <a:spcPts val="1000"/>
              </a:spcAft>
            </a:pPr>
            <a:r>
              <a:rPr sz="2000">
                <a:solidFill>
                  <a:srgbClr val="222B33"/>
                </a:solidFill>
                <a:latin typeface="Microsoft YaHei"/>
              </a:rPr>
              <a:t>▪ 看现有控制够不够</a:t>
            </a:r>
          </a:p>
          <a:p>
            <a:pPr>
              <a:spcAft>
                <a:spcPts val="1000"/>
              </a:spcAft>
            </a:pPr>
            <a:r>
              <a:rPr sz="2000">
                <a:solidFill>
                  <a:srgbClr val="222B33"/>
                </a:solidFill>
                <a:latin typeface="Microsoft YaHei"/>
              </a:rPr>
              <a:t>▪ 够就可接受，不够就再加</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第三步是风险评价：根据分析结果和风险矩阵，给出总体风险等级——低、中还是高。等级决定要采取多强的控制措施和在哪一级实验室开展。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只给出等级，不对照现有控制是否足够</a:t>
            </a:r>
          </a:p>
          <a:p>
            <a:pPr>
              <a:spcAft>
                <a:spcPts val="1000"/>
              </a:spcAft>
            </a:pPr>
            <a:r>
              <a:rPr sz="1500">
                <a:solidFill>
                  <a:srgbClr val="222B33"/>
                </a:solidFill>
                <a:latin typeface="Microsoft YaHei"/>
              </a:rPr>
              <a:t>▪ 风险等级高，却沿用低等级的做法</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第四步：风险控制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按控制层级选择措施</a:t>
            </a:r>
          </a:p>
          <a:p>
            <a:pPr>
              <a:spcAft>
                <a:spcPts val="1000"/>
              </a:spcAft>
            </a:pPr>
            <a:r>
              <a:rPr sz="2000">
                <a:solidFill>
                  <a:srgbClr val="222B33"/>
                </a:solidFill>
                <a:latin typeface="Microsoft YaHei"/>
              </a:rPr>
              <a:t>▪ 工程控制、个人防护、标准规程一起上</a:t>
            </a:r>
          </a:p>
          <a:p>
            <a:pPr>
              <a:spcAft>
                <a:spcPts val="1000"/>
              </a:spcAft>
            </a:pPr>
            <a:r>
              <a:rPr sz="2000">
                <a:solidFill>
                  <a:srgbClr val="222B33"/>
                </a:solidFill>
                <a:latin typeface="Microsoft YaHei"/>
              </a:rPr>
              <a:t>▪ 例：用密封转子，在安全柜里开盖</a:t>
            </a:r>
          </a:p>
          <a:p>
            <a:pPr>
              <a:spcAft>
                <a:spcPts val="1000"/>
              </a:spcAft>
            </a:pPr>
            <a:r>
              <a:rPr sz="2000">
                <a:solidFill>
                  <a:srgbClr val="222B33"/>
                </a:solidFill>
                <a:latin typeface="Microsoft YaHei"/>
              </a:rPr>
              <a:t>▪ 结论和建议交负责人和课题组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第四步是风险控制：按控制层级（见第 017 课）选择措施，用什么设备、穿什么防护、怎么操作。工程控制（合适级别的实验室、生物安全柜、密封离心转子）、个人防护和标准操作规程要一起上。例如离心可能产生气溶胶的样本时，使用……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只靠个人防护，不用工程控制</a:t>
            </a:r>
          </a:p>
          <a:p>
            <a:pPr>
              <a:spcAft>
                <a:spcPts val="1000"/>
              </a:spcAft>
            </a:pPr>
            <a:r>
              <a:rPr sz="1500">
                <a:solidFill>
                  <a:srgbClr val="222B33"/>
                </a:solidFill>
                <a:latin typeface="Microsoft YaHei"/>
              </a:rPr>
              <a:t>▪ 离心后在台面上直接开盖</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残余风险：能接受才开展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控制加完，总还剩残余风险</a:t>
            </a:r>
          </a:p>
          <a:p>
            <a:pPr>
              <a:spcAft>
                <a:spcPts val="1000"/>
              </a:spcAft>
            </a:pPr>
            <a:r>
              <a:rPr sz="1700">
                <a:solidFill>
                  <a:srgbClr val="222B33"/>
                </a:solidFill>
                <a:latin typeface="Microsoft YaHei"/>
              </a:rPr>
              <a:t>▪ 逐项评估，再合起来看总风险</a:t>
            </a:r>
          </a:p>
          <a:p>
            <a:pPr>
              <a:spcAft>
                <a:spcPts val="1000"/>
              </a:spcAft>
            </a:pPr>
            <a:r>
              <a:rPr sz="1700">
                <a:solidFill>
                  <a:srgbClr val="222B33"/>
                </a:solidFill>
                <a:latin typeface="Microsoft YaHei"/>
              </a:rPr>
              <a:t>▪ 可接受，负责人批准后才开展</a:t>
            </a:r>
          </a:p>
          <a:p>
            <a:pPr>
              <a:spcAft>
                <a:spcPts val="1000"/>
              </a:spcAft>
            </a:pPr>
            <a:r>
              <a:rPr sz="1700">
                <a:solidFill>
                  <a:srgbClr val="222B33"/>
                </a:solidFill>
                <a:latin typeface="Microsoft YaHei"/>
              </a:rPr>
              <a:t>▪ 不可接受，加措施或者不做</a:t>
            </a:r>
          </a:p>
          <a:p>
            <a:pPr>
              <a:spcAft>
                <a:spcPts val="1000"/>
              </a:spcAft>
            </a:pPr>
            <a:r>
              <a:rPr sz="1700">
                <a:solidFill>
                  <a:srgbClr val="222B33"/>
                </a:solidFill>
                <a:latin typeface="Microsoft YaHei"/>
              </a:rPr>
              <a:t>▪ 风险太高报生物安全委员会</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采取控制措施后剩下的风险叫残余风险：风险能降下来，但清不了零。把要做的操作一项项列出来，每项单独评估，再合起来看总风险。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认为加了措施就“零风险”</a:t>
            </a:r>
          </a:p>
          <a:p>
            <a:pPr>
              <a:spcAft>
                <a:spcPts val="1000"/>
              </a:spcAft>
            </a:pPr>
            <a:r>
              <a:rPr sz="1500">
                <a:solidFill>
                  <a:srgbClr val="222B33"/>
                </a:solidFill>
                <a:latin typeface="Microsoft YaHei"/>
              </a:rPr>
              <a:t>▪ 残余风险不可接受，仍抱侥幸心理开展</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第五步：记录成文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把评估过程和控制措施写下来</a:t>
            </a:r>
          </a:p>
          <a:p>
            <a:pPr>
              <a:spcAft>
                <a:spcPts val="1000"/>
              </a:spcAft>
            </a:pPr>
            <a:r>
              <a:rPr sz="2000">
                <a:solidFill>
                  <a:srgbClr val="222B33"/>
                </a:solidFill>
                <a:latin typeface="Microsoft YaHei"/>
              </a:rPr>
              <a:t>▪ 审核签字后存档备查</a:t>
            </a:r>
          </a:p>
          <a:p>
            <a:pPr>
              <a:spcAft>
                <a:spcPts val="1000"/>
              </a:spcAft>
            </a:pPr>
            <a:r>
              <a:rPr sz="2000">
                <a:solidFill>
                  <a:srgbClr val="222B33"/>
                </a:solidFill>
                <a:latin typeface="Microsoft YaHei"/>
              </a:rPr>
              <a:t>▪ 新来的人也能查到</a:t>
            </a:r>
          </a:p>
          <a:p>
            <a:pPr>
              <a:spcAft>
                <a:spcPts val="1000"/>
              </a:spcAft>
            </a:pPr>
            <a:r>
              <a:rPr sz="2000">
                <a:solidFill>
                  <a:srgbClr val="222B33"/>
                </a:solidFill>
                <a:latin typeface="Microsoft YaHei"/>
              </a:rPr>
              <a:t>▪ 写下来，更要每次做到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第五步是记录：把评估的过程、依据、结论和控制措施写成风险评估报告，按本校程序经审核批准后存档备查，新来的人也能查到和学习。书面记录的通用写法见第 015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评估只在脑子里，没有书面报告</a:t>
            </a:r>
          </a:p>
          <a:p>
            <a:pPr>
              <a:spcAft>
                <a:spcPts val="1000"/>
              </a:spcAft>
            </a:pPr>
            <a:r>
              <a:rPr sz="1500">
                <a:solidFill>
                  <a:srgbClr val="222B33"/>
                </a:solidFill>
                <a:latin typeface="Microsoft YaHei"/>
              </a:rPr>
              <a:t>▪ 报告写好就锁进柜子，操作时不照做</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第六步：复查与重新评估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没有变化，也要定期复查</a:t>
            </a:r>
          </a:p>
          <a:p>
            <a:pPr>
              <a:spcAft>
                <a:spcPts val="1000"/>
              </a:spcAft>
            </a:pPr>
            <a:r>
              <a:rPr sz="2000">
                <a:solidFill>
                  <a:srgbClr val="222B33"/>
                </a:solidFill>
                <a:latin typeface="Microsoft YaHei"/>
              </a:rPr>
              <a:t>▪ 换病原、换方法、换人、换设施要重评</a:t>
            </a:r>
          </a:p>
          <a:p>
            <a:pPr>
              <a:spcAft>
                <a:spcPts val="1000"/>
              </a:spcAft>
            </a:pPr>
            <a:r>
              <a:rPr sz="2000">
                <a:solidFill>
                  <a:srgbClr val="222B33"/>
                </a:solidFill>
                <a:latin typeface="Microsoft YaHei"/>
              </a:rPr>
              <a:t>▪ 出了事件，也要重新评估</a:t>
            </a:r>
          </a:p>
          <a:p>
            <a:pPr>
              <a:spcAft>
                <a:spcPts val="1000"/>
              </a:spcAft>
            </a:pPr>
            <a:r>
              <a:rPr sz="2000">
                <a:solidFill>
                  <a:srgbClr val="222B33"/>
                </a:solidFill>
                <a:latin typeface="Microsoft YaHei"/>
              </a:rPr>
              <a:t>▪ 新实验的防护级别报委员会审批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第六步是复查：即使没有变化，也要按本校规定定期复查评估报告。遇到以下情况要及时重新评估并更新：更换病原或材料、改变实验方法或流程、人员变化、设施设备变化，以及发生事件或事故之后。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换了方法或病原，仍沿用旧的评估报告</a:t>
            </a:r>
          </a:p>
          <a:p>
            <a:pPr>
              <a:spcAft>
                <a:spcPts val="1000"/>
              </a:spcAft>
            </a:pPr>
            <a:r>
              <a:rPr sz="1500">
                <a:solidFill>
                  <a:srgbClr val="222B33"/>
                </a:solidFill>
                <a:latin typeface="Microsoft YaHei"/>
              </a:rPr>
              <a:t>▪ 发生事件后只处理现场，不重新评估</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让动手的人参与评估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评估不是一个人填表</a:t>
            </a:r>
          </a:p>
          <a:p>
            <a:pPr>
              <a:spcAft>
                <a:spcPts val="1000"/>
              </a:spcAft>
            </a:pPr>
            <a:r>
              <a:rPr sz="2000">
                <a:solidFill>
                  <a:srgbClr val="222B33"/>
                </a:solidFill>
                <a:latin typeface="Microsoft YaHei"/>
              </a:rPr>
              <a:t>▪ 动手的人最清楚哪里容易出错</a:t>
            </a:r>
          </a:p>
          <a:p>
            <a:pPr>
              <a:spcAft>
                <a:spcPts val="1000"/>
              </a:spcAft>
            </a:pPr>
            <a:r>
              <a:rPr sz="2000">
                <a:solidFill>
                  <a:srgbClr val="222B33"/>
                </a:solidFill>
                <a:latin typeface="Microsoft YaHei"/>
              </a:rPr>
              <a:t>▪ 负责人组织，操作者参与，人人知晓</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风险评估不是一个人填表、别人签字。真正动手做实验的人，最清楚哪一步容易出错、哪里手不顺。因此评估由实验室负责人组织，操作者参与，生物安全管理人员审核，评估结论要让每个相关人员知晓（团队参与见第 015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由负责人一人填写，操作者只签字</a:t>
            </a:r>
          </a:p>
          <a:p>
            <a:pPr>
              <a:spcAft>
                <a:spcPts val="1000"/>
              </a:spcAft>
            </a:pPr>
            <a:r>
              <a:rPr sz="1500">
                <a:solidFill>
                  <a:srgbClr val="222B33"/>
                </a:solidFill>
                <a:latin typeface="Microsoft YaHei"/>
              </a:rPr>
              <a:t>▪ 新成员加入后不学习本实验室的评估报告</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关于危害与风险，正确的是：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危害和风险是一回事</a:t>
            </a:r>
          </a:p>
          <a:p>
            <a:pPr algn="l"/>
            <a:r>
              <a:rPr sz="1500" b="0">
                <a:solidFill>
                  <a:srgbClr val="222B33"/>
                </a:solidFill>
                <a:latin typeface="Microsoft YaHei"/>
              </a:rPr>
              <a:t>B. 生物因子本身是危害，动手操作它才带来风险</a:t>
            </a:r>
          </a:p>
          <a:p>
            <a:pPr algn="l"/>
            <a:r>
              <a:rPr sz="1500" b="0">
                <a:solidFill>
                  <a:srgbClr val="222B33"/>
                </a:solidFill>
                <a:latin typeface="Microsoft YaHei"/>
              </a:rPr>
              <a:t>C. 只要病原危险，风险就一定高</a:t>
            </a:r>
          </a:p>
          <a:p>
            <a:pPr algn="l"/>
            <a:r>
              <a:rPr sz="1500" b="0">
                <a:solidFill>
                  <a:srgbClr val="222B33"/>
                </a:solidFill>
                <a:latin typeface="Microsoft YaHei"/>
              </a:rPr>
              <a:t>D. 储存的样本没有风险</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判断：守规则操作能降低出事的可能性，所以万一发生暴露，后果也会变轻。</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生物风险评估六步的正确顺序是：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控制、识别、记录、评价、分析、复查</a:t>
            </a:r>
          </a:p>
          <a:p>
            <a:pPr algn="l"/>
            <a:r>
              <a:rPr sz="1500" b="0">
                <a:solidFill>
                  <a:srgbClr val="222B33"/>
                </a:solidFill>
                <a:latin typeface="Microsoft YaHei"/>
              </a:rPr>
              <a:t>B. 识别、分析、评价、控制、记录、复查</a:t>
            </a:r>
          </a:p>
          <a:p>
            <a:pPr algn="l"/>
            <a:r>
              <a:rPr sz="1500" b="0">
                <a:solidFill>
                  <a:srgbClr val="222B33"/>
                </a:solidFill>
                <a:latin typeface="Microsoft YaHei"/>
              </a:rPr>
              <a:t>C. 记录、识别、控制、复查、分析、评价</a:t>
            </a:r>
          </a:p>
          <a:p>
            <a:pPr algn="l"/>
            <a:r>
              <a:rPr sz="1500" b="0">
                <a:solidFill>
                  <a:srgbClr val="222B33"/>
                </a:solidFill>
                <a:latin typeface="Microsoft YaHei"/>
              </a:rPr>
              <a:t>D. 评价、控制、识别、分析、记录、复查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下列哪种情况不需要立即重新评估？</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更换病原</a:t>
            </a:r>
          </a:p>
          <a:p>
            <a:pPr algn="l"/>
            <a:r>
              <a:rPr sz="1500" b="0">
                <a:solidFill>
                  <a:srgbClr val="222B33"/>
                </a:solidFill>
                <a:latin typeface="Microsoft YaHei"/>
              </a:rPr>
              <a:t>B. 改变实验方法</a:t>
            </a:r>
          </a:p>
          <a:p>
            <a:pPr algn="l"/>
            <a:r>
              <a:rPr sz="1500" b="0">
                <a:solidFill>
                  <a:srgbClr val="222B33"/>
                </a:solidFill>
                <a:latin typeface="Microsoft YaHei"/>
              </a:rPr>
              <a:t>C. 发生暴露事件</a:t>
            </a:r>
          </a:p>
          <a:p>
            <a:pPr algn="l"/>
            <a:r>
              <a:rPr sz="1500" b="0">
                <a:solidFill>
                  <a:srgbClr val="222B33"/>
                </a:solidFill>
                <a:latin typeface="Microsoft YaHei"/>
              </a:rPr>
              <a:t>D. 同一人用同一方法重复做同一实验，且在复查周期内</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067 · 生物风险评估的步骤与风险矩阵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067 生物风险评估的步骤与风险矩阵</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判断：控制措施加完后，残余风险能降为零，就可以开展实验。</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简答：国内病原微生物分类与国际风险组在编号上有什么不同？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风险评估：生物安全的地基</a:t>
            </a:r>
          </a:p>
          <a:p>
            <a:pPr>
              <a:spcAft>
                <a:spcPts val="800"/>
              </a:spcAft>
            </a:pPr>
            <a:r>
              <a:rPr sz="1500">
                <a:solidFill>
                  <a:srgbClr val="FFFFFF"/>
                </a:solidFill>
                <a:latin typeface="Microsoft YaHei"/>
              </a:rPr>
              <a:t>▪ K2  危害是物，风险来自操作</a:t>
            </a:r>
          </a:p>
          <a:p>
            <a:pPr>
              <a:spcAft>
                <a:spcPts val="800"/>
              </a:spcAft>
            </a:pPr>
            <a:r>
              <a:rPr sz="1500">
                <a:solidFill>
                  <a:srgbClr val="FFFFFF"/>
                </a:solidFill>
                <a:latin typeface="Microsoft YaHei"/>
              </a:rPr>
              <a:t>▪ K3  风险看可能性和后果</a:t>
            </a:r>
          </a:p>
          <a:p>
            <a:pPr>
              <a:spcAft>
                <a:spcPts val="800"/>
              </a:spcAft>
            </a:pPr>
            <a:r>
              <a:rPr sz="1500">
                <a:solidFill>
                  <a:srgbClr val="FFFFFF"/>
                </a:solidFill>
                <a:latin typeface="Microsoft YaHei"/>
              </a:rPr>
              <a:t>▪ K4  守规矩降的是可能性</a:t>
            </a:r>
          </a:p>
          <a:p>
            <a:pPr>
              <a:spcAft>
                <a:spcPts val="800"/>
              </a:spcAft>
            </a:pPr>
            <a:r>
              <a:rPr sz="1500">
                <a:solidFill>
                  <a:srgbClr val="FFFFFF"/>
                </a:solidFill>
                <a:latin typeface="Microsoft YaHei"/>
              </a:rPr>
              <a:t>▪ K5  可能性与后果分级</a:t>
            </a:r>
          </a:p>
          <a:p>
            <a:pPr>
              <a:spcAft>
                <a:spcPts val="800"/>
              </a:spcAft>
            </a:pPr>
            <a:r>
              <a:rPr sz="1500">
                <a:solidFill>
                  <a:srgbClr val="FFFFFF"/>
                </a:solidFill>
                <a:latin typeface="Microsoft YaHei"/>
              </a:rPr>
              <a:t>▪ K6  风险矩阵</a:t>
            </a:r>
          </a:p>
          <a:p>
            <a:pPr>
              <a:spcAft>
                <a:spcPts val="800"/>
              </a:spcAft>
            </a:pPr>
            <a:r>
              <a:rPr sz="1500">
                <a:solidFill>
                  <a:srgbClr val="FFFFFF"/>
                </a:solidFill>
                <a:latin typeface="Microsoft YaHei"/>
              </a:rPr>
              <a:t>▪ K7  风险随操作而变</a:t>
            </a:r>
          </a:p>
          <a:p>
            <a:pPr>
              <a:spcAft>
                <a:spcPts val="800"/>
              </a:spcAft>
            </a:pPr>
            <a:r>
              <a:rPr sz="1500">
                <a:solidFill>
                  <a:srgbClr val="FFFFFF"/>
                </a:solidFill>
                <a:latin typeface="Microsoft YaHei"/>
              </a:rPr>
              <a:t>▪ K8  评估六步，按顺序走</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第一步：危害识别</a:t>
            </a:r>
          </a:p>
          <a:p>
            <a:pPr>
              <a:spcAft>
                <a:spcPts val="800"/>
              </a:spcAft>
            </a:pPr>
            <a:r>
              <a:rPr sz="1500">
                <a:solidFill>
                  <a:srgbClr val="FFFFFF"/>
                </a:solidFill>
                <a:latin typeface="Microsoft YaHei"/>
              </a:rPr>
              <a:t>▪ K10  第二步：风险分析</a:t>
            </a:r>
          </a:p>
          <a:p>
            <a:pPr>
              <a:spcAft>
                <a:spcPts val="800"/>
              </a:spcAft>
            </a:pPr>
            <a:r>
              <a:rPr sz="1500">
                <a:solidFill>
                  <a:srgbClr val="FFFFFF"/>
                </a:solidFill>
                <a:latin typeface="Microsoft YaHei"/>
              </a:rPr>
              <a:t>▪ K11  第三步：风险评价</a:t>
            </a:r>
          </a:p>
          <a:p>
            <a:pPr>
              <a:spcAft>
                <a:spcPts val="800"/>
              </a:spcAft>
            </a:pPr>
            <a:r>
              <a:rPr sz="1500">
                <a:solidFill>
                  <a:srgbClr val="FFFFFF"/>
                </a:solidFill>
                <a:latin typeface="Microsoft YaHei"/>
              </a:rPr>
              <a:t>▪ K12  第四步：风险控制</a:t>
            </a:r>
          </a:p>
          <a:p>
            <a:pPr>
              <a:spcAft>
                <a:spcPts val="800"/>
              </a:spcAft>
            </a:pPr>
            <a:r>
              <a:rPr sz="1500">
                <a:solidFill>
                  <a:srgbClr val="FFFFFF"/>
                </a:solidFill>
                <a:latin typeface="Microsoft YaHei"/>
              </a:rPr>
              <a:t>▪ K13  残余风险：能接受才开展</a:t>
            </a:r>
          </a:p>
          <a:p>
            <a:pPr>
              <a:spcAft>
                <a:spcPts val="800"/>
              </a:spcAft>
            </a:pPr>
            <a:r>
              <a:rPr sz="1500">
                <a:solidFill>
                  <a:srgbClr val="FFFFFF"/>
                </a:solidFill>
                <a:latin typeface="Microsoft YaHei"/>
              </a:rPr>
              <a:t>▪ K14  第五步：记录成文</a:t>
            </a:r>
          </a:p>
          <a:p>
            <a:pPr>
              <a:spcAft>
                <a:spcPts val="800"/>
              </a:spcAft>
            </a:pPr>
            <a:r>
              <a:rPr sz="1500">
                <a:solidFill>
                  <a:srgbClr val="FFFFFF"/>
                </a:solidFill>
                <a:latin typeface="Microsoft YaHei"/>
              </a:rPr>
              <a:t>▪ K15  第六步：复查与重新评估</a:t>
            </a:r>
          </a:p>
          <a:p>
            <a:pPr>
              <a:spcAft>
                <a:spcPts val="800"/>
              </a:spcAft>
            </a:pPr>
            <a:r>
              <a:rPr sz="1500">
                <a:solidFill>
                  <a:srgbClr val="FFFFFF"/>
                </a:solidFill>
                <a:latin typeface="Microsoft YaHei"/>
              </a:rPr>
              <a:t>▪ K16  让动手的人参与评估</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068</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病原与实验活动的评估要素</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8 分钟（卡通视频 95 镜）　适用对象：进入生命科学、医学、农学、环境等涉及生物材料实验室的高校本科生、研究生和教职工（必修）；实验室负责人、生物安全员和参与编写风险评估报告的人员重点学习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能说出病原层面的评估要素（分类、致病性与感染剂量、感染途径与媒介、宿主范围、环境存活、本地流行、有无预防治疗、是否经过改造），知道国内病原分类与国际风险组方向相反。</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能说出实验活动层面（用途、浓度与培养量、易暴露操作）和人员层面（免疫状态、健康与过敏）的评估要素，以及设施与管理问卷要问什么。</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能做到把一个实验流程拆成单步，逐步用风险矩阵打分并汇总，评估结果成文审核后再进入减缓。</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能判断未知病原、临床和环境样本等应从严评估，一个病原、一项实验要有专门的评估。</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《中华人民共和国生物安全法》（以现行文本为准）：病原微生物实验室分类管理、分级管理，从事实验活动应当遵守有关规定</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《病原微生物实验室生物安全管理条例》（以现行文本为准）：病原微生物分类管理；实验活动须在相应级别实验室开展，高致病性病原微生物实验活动须经批准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生物安全通用要求》：风险评估应考虑的要素（生物因子特性、实验活动、人员、设施设备、管理等），评估报告成文并经审核</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233（以现行文本为准）《病原微生物实验室生物安全通用准则》：根据病原危害程度和实验活动进行风险评估</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《人间传染的病原微生物目录》（国家卫生健康委发布，以现行版本为准）：病原微生物分类和实验活动所需防护级别</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《中华人民共和国生物安全法》《农业转基因生物安全管理条例》（以现行文本为准）：经改造的生物须评估并按规定审批（详见第 081 课）</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本校实验室生物安全管理办法、风险评估程序和生物安全委员会章程（以本校规定为准）</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一个病原、一项实验，一份评估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评估是摸清这一个病原的风险</a:t>
            </a:r>
          </a:p>
          <a:p>
            <a:pPr>
              <a:spcAft>
                <a:spcPts val="1000"/>
              </a:spcAft>
            </a:pPr>
            <a:r>
              <a:rPr sz="2000">
                <a:solidFill>
                  <a:srgbClr val="222B33"/>
                </a:solidFill>
                <a:latin typeface="Microsoft YaHei"/>
              </a:rPr>
              <a:t>▪ 一个病原一份评估，不能套用</a:t>
            </a:r>
          </a:p>
          <a:p>
            <a:pPr>
              <a:spcAft>
                <a:spcPts val="1000"/>
              </a:spcAft>
            </a:pPr>
            <a:r>
              <a:rPr sz="2000">
                <a:solidFill>
                  <a:srgbClr val="222B33"/>
                </a:solidFill>
                <a:latin typeface="Microsoft YaHei"/>
              </a:rPr>
              <a:t>▪ 没有通用清单，每个实验专门评估</a:t>
            </a:r>
          </a:p>
          <a:p>
            <a:pPr>
              <a:spcAft>
                <a:spcPts val="1000"/>
              </a:spcAft>
            </a:pPr>
            <a:r>
              <a:rPr sz="2000">
                <a:solidFill>
                  <a:srgbClr val="222B33"/>
                </a:solidFill>
                <a:latin typeface="Microsoft YaHei"/>
              </a:rPr>
              <a:t>▪ 评估是 AMP 第一步，先找危害</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风险评估针对的是一个具体的、已知的病原和一项具体的实验活动：摸清这一株病原、这一种做法会带来什么风险。同一个病原，做核酸提取和做大量培养风险不同；不同病原更不能互相套用。所以没有一张“通用清单”能代替具体评估，每个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借用隔壁实验室或网上的评估报告</a:t>
            </a:r>
          </a:p>
          <a:p>
            <a:pPr>
              <a:spcAft>
                <a:spcPts val="1000"/>
              </a:spcAft>
            </a:pPr>
            <a:r>
              <a:rPr sz="1500">
                <a:solidFill>
                  <a:srgbClr val="222B33"/>
                </a:solidFill>
                <a:latin typeface="Microsoft YaHei"/>
              </a:rPr>
              <a:t>▪ 同一病原换了实验方法，仍用原来的评估</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未知病原和特殊样本从严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病原没弄清，风险看不清，评估从严</a:t>
            </a:r>
          </a:p>
          <a:p>
            <a:pPr>
              <a:spcAft>
                <a:spcPts val="1000"/>
              </a:spcAft>
            </a:pPr>
            <a:r>
              <a:rPr sz="2000">
                <a:solidFill>
                  <a:srgbClr val="222B33"/>
                </a:solidFill>
                <a:latin typeface="Microsoft YaHei"/>
              </a:rPr>
              <a:t>▪ 临床、土壤、野生动物、改造来源的样本要从严</a:t>
            </a:r>
          </a:p>
          <a:p>
            <a:pPr>
              <a:spcAft>
                <a:spcPts val="1000"/>
              </a:spcAft>
            </a:pPr>
            <a:r>
              <a:rPr sz="2000">
                <a:solidFill>
                  <a:srgbClr val="222B33"/>
                </a:solidFill>
                <a:latin typeface="Microsoft YaHei"/>
              </a:rPr>
              <a:t>▪ 看着健康的来源，也可能带病原</a:t>
            </a:r>
          </a:p>
          <a:p>
            <a:pPr>
              <a:spcAft>
                <a:spcPts val="1000"/>
              </a:spcAft>
            </a:pPr>
            <a:r>
              <a:rPr sz="2000">
                <a:solidFill>
                  <a:srgbClr val="222B33"/>
                </a:solidFill>
                <a:latin typeface="Microsoft YaHei"/>
              </a:rPr>
              <a:t>▪ 往高处估，报委员会审核</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风险评估要以已知的病原信息为依据；不知道是什么，风险就看不清。病原还没有确认时，评估要从严，按较高的防护要求操作，并报单位生物安全委员会审核（定级见第 060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认为“看起来健康的动物样本没有风险”</a:t>
            </a:r>
          </a:p>
          <a:p>
            <a:pPr>
              <a:spcAft>
                <a:spcPts val="1000"/>
              </a:spcAft>
            </a:pPr>
            <a:r>
              <a:rPr sz="1500">
                <a:solidFill>
                  <a:srgbClr val="222B33"/>
                </a:solidFill>
                <a:latin typeface="Microsoft YaHei"/>
              </a:rPr>
              <a:t>▪ 病原未确认就按最低级别处理</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冰山：看不见的风险也要想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风险像冰山，大半在水面下</a:t>
            </a:r>
          </a:p>
          <a:p>
            <a:pPr>
              <a:spcAft>
                <a:spcPts val="1000"/>
              </a:spcAft>
            </a:pPr>
            <a:r>
              <a:rPr sz="2000">
                <a:solidFill>
                  <a:srgbClr val="222B33"/>
                </a:solidFill>
                <a:latin typeface="Microsoft YaHei"/>
              </a:rPr>
              <a:t>▪ 看得见的，能评估、能控制</a:t>
            </a:r>
          </a:p>
          <a:p>
            <a:pPr>
              <a:spcAft>
                <a:spcPts val="1000"/>
              </a:spcAft>
            </a:pPr>
            <a:r>
              <a:rPr sz="2000">
                <a:solidFill>
                  <a:srgbClr val="222B33"/>
                </a:solidFill>
                <a:latin typeface="Microsoft YaHei"/>
              </a:rPr>
              <a:t>▪ 看不见的，如没人知道的过敏，也要预判</a:t>
            </a:r>
          </a:p>
          <a:p>
            <a:pPr>
              <a:spcAft>
                <a:spcPts val="1000"/>
              </a:spcAft>
            </a:pPr>
            <a:r>
              <a:rPr sz="2000">
                <a:solidFill>
                  <a:srgbClr val="222B33"/>
                </a:solidFill>
                <a:latin typeface="Microsoft YaHei"/>
              </a:rPr>
              <a:t>▪ 评估要全面，看得见看不见都想到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风险评估像一座冰山：水面上看得见的风险，能评估、能控制；水面下看不见的风险，同样可能出事，比如一个没人知道的过敏、一种新方法里没有先例的问题。没有先例时，常规的问题清单也可能问不到。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清单上的项目都打了勾，就认为没有风险了</a:t>
            </a:r>
          </a:p>
          <a:p>
            <a:pPr>
              <a:spcAft>
                <a:spcPts val="1000"/>
              </a:spcAft>
            </a:pPr>
            <a:r>
              <a:rPr sz="1500">
                <a:solidFill>
                  <a:srgbClr val="222B33"/>
                </a:solidFill>
                <a:latin typeface="Microsoft YaHei"/>
              </a:rPr>
              <a:t>▪ 对没有先例的新方法不做额外考虑</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评估清单：病原、活动、人员、设施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评估清单分四块：病原、活动、人员、设施</a:t>
            </a:r>
          </a:p>
          <a:p>
            <a:pPr>
              <a:spcAft>
                <a:spcPts val="1000"/>
              </a:spcAft>
            </a:pPr>
            <a:r>
              <a:rPr sz="2000">
                <a:solidFill>
                  <a:srgbClr val="222B33"/>
                </a:solidFill>
                <a:latin typeface="Microsoft YaHei"/>
              </a:rPr>
              <a:t>▪ 病原：分类、途径、剂量、能不能治</a:t>
            </a:r>
          </a:p>
          <a:p>
            <a:pPr>
              <a:spcAft>
                <a:spcPts val="1000"/>
              </a:spcAft>
            </a:pPr>
            <a:r>
              <a:rPr sz="2000">
                <a:solidFill>
                  <a:srgbClr val="222B33"/>
                </a:solidFill>
                <a:latin typeface="Microsoft YaHei"/>
              </a:rPr>
              <a:t>▪ 活动：做什么、用量、几步、几人</a:t>
            </a:r>
          </a:p>
          <a:p>
            <a:pPr>
              <a:spcAft>
                <a:spcPts val="1000"/>
              </a:spcAft>
            </a:pPr>
            <a:r>
              <a:rPr sz="2000">
                <a:solidFill>
                  <a:srgbClr val="222B33"/>
                </a:solidFill>
                <a:latin typeface="Microsoft YaHei"/>
              </a:rPr>
              <a:t>▪ 照着准则，编成本组的评估工具</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评估要看一串判据，可整理成一张清单，分四块：病原本身（分类、致病性、感染剂量、途径、存活、宿主、防治、是否改造）；实验活动（工艺、用量和浓度、步骤多少、参与人数）；人员（培训、健康和免疫状态）；设施与管理（设备、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只看病原一块，不看活动、人员和设施</a:t>
            </a:r>
          </a:p>
          <a:p>
            <a:pPr>
              <a:spcAft>
                <a:spcPts val="1000"/>
              </a:spcAft>
            </a:pPr>
            <a:r>
              <a:rPr sz="1500">
                <a:solidFill>
                  <a:srgbClr val="222B33"/>
                </a:solidFill>
                <a:latin typeface="Microsoft YaHei"/>
              </a:rPr>
              <a:t>▪ 清单项目写了，却不逐项回答</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病原：先查分类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第一问：它属于哪一类</a:t>
            </a:r>
          </a:p>
          <a:p>
            <a:pPr>
              <a:spcAft>
                <a:spcPts val="1000"/>
              </a:spcAft>
            </a:pPr>
            <a:r>
              <a:rPr sz="2000">
                <a:solidFill>
                  <a:srgbClr val="222B33"/>
                </a:solidFill>
                <a:latin typeface="Microsoft YaHei"/>
              </a:rPr>
              <a:t>▪ 查《人间传染的病原微生物目录》</a:t>
            </a:r>
          </a:p>
          <a:p>
            <a:pPr>
              <a:spcAft>
                <a:spcPts val="1000"/>
              </a:spcAft>
            </a:pPr>
            <a:r>
              <a:rPr sz="2000">
                <a:solidFill>
                  <a:srgbClr val="222B33"/>
                </a:solidFill>
                <a:latin typeface="Microsoft YaHei"/>
              </a:rPr>
              <a:t>▪ 国内第一类最危险，与国际风险组相反</a:t>
            </a:r>
          </a:p>
          <a:p>
            <a:pPr>
              <a:spcAft>
                <a:spcPts val="1000"/>
              </a:spcAft>
            </a:pPr>
            <a:r>
              <a:rPr sz="2000">
                <a:solidFill>
                  <a:srgbClr val="222B33"/>
                </a:solidFill>
                <a:latin typeface="Microsoft YaHei"/>
              </a:rPr>
              <a:t>▪ 分类只是起点，还要往下问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病原层面的第一问是：它属于哪一类？查《人间传染的病原微生物目录》（以现行版本为准），目录还规定了不同实验活动所需的实验室防护级别。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把国际风险组的编号当成国内分类</a:t>
            </a:r>
          </a:p>
          <a:p>
            <a:pPr>
              <a:spcAft>
                <a:spcPts val="1000"/>
              </a:spcAft>
            </a:pPr>
            <a:r>
              <a:rPr sz="1500">
                <a:solidFill>
                  <a:srgbClr val="222B33"/>
                </a:solidFill>
                <a:latin typeface="Microsoft YaHei"/>
              </a:rPr>
              <a:t>▪ 只查了分类，不再看操作和人员</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病原：致病性、感染剂量与后果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会不会致病，致病性有多强</a:t>
            </a:r>
          </a:p>
          <a:p>
            <a:pPr>
              <a:spcAft>
                <a:spcPts val="1000"/>
              </a:spcAft>
            </a:pPr>
            <a:r>
              <a:rPr sz="2000">
                <a:solidFill>
                  <a:srgbClr val="222B33"/>
                </a:solidFill>
                <a:latin typeface="Microsoft YaHei"/>
              </a:rPr>
              <a:t>▪ 感染剂量：多少量才会致病</a:t>
            </a:r>
          </a:p>
          <a:p>
            <a:pPr>
              <a:spcAft>
                <a:spcPts val="1000"/>
              </a:spcAft>
            </a:pPr>
            <a:r>
              <a:rPr sz="2000">
                <a:solidFill>
                  <a:srgbClr val="222B33"/>
                </a:solidFill>
                <a:latin typeface="Microsoft YaHei"/>
              </a:rPr>
              <a:t>▪ 很少的量就能致病，要格外小心</a:t>
            </a:r>
          </a:p>
          <a:p>
            <a:pPr>
              <a:spcAft>
                <a:spcPts val="1000"/>
              </a:spcAft>
            </a:pPr>
            <a:r>
              <a:rPr sz="2000">
                <a:solidFill>
                  <a:srgbClr val="222B33"/>
                </a:solidFill>
                <a:latin typeface="Microsoft YaHei"/>
              </a:rPr>
              <a:t>▪ 暴露后果有多重；培养体积尽量小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一看致病性：暴露后会不会致病，致病性有多强。二看感染剂量：多少量才会引起感染（具体数值查权威资料，不同病原差别很大）；感染剂量越低，越要格外小心。三看暴露后果：引起的疾病有多严重。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只看是否致病，不看感染剂量和后果严重程度</a:t>
            </a:r>
          </a:p>
          <a:p>
            <a:pPr>
              <a:spcAft>
                <a:spcPts val="1000"/>
              </a:spcAft>
            </a:pPr>
            <a:r>
              <a:rPr sz="1500">
                <a:solidFill>
                  <a:srgbClr val="222B33"/>
                </a:solidFill>
                <a:latin typeface="Microsoft YaHei"/>
              </a:rPr>
              <a:t>▪ 培养量远超实验需要</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病原：感染途径与媒介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从哪里进入人体：吸入、接触、刺伤、食入</a:t>
            </a:r>
          </a:p>
          <a:p>
            <a:pPr>
              <a:spcAft>
                <a:spcPts val="1000"/>
              </a:spcAft>
            </a:pPr>
            <a:r>
              <a:rPr sz="2000">
                <a:solidFill>
                  <a:srgbClr val="222B33"/>
                </a:solidFill>
                <a:latin typeface="Microsoft YaHei"/>
              </a:rPr>
              <a:t>▪ 会不会形成气溶胶，经空气传</a:t>
            </a:r>
          </a:p>
          <a:p>
            <a:pPr>
              <a:spcAft>
                <a:spcPts val="1000"/>
              </a:spcAft>
            </a:pPr>
            <a:r>
              <a:rPr sz="2000">
                <a:solidFill>
                  <a:srgbClr val="222B33"/>
                </a:solidFill>
                <a:latin typeface="Microsoft YaHei"/>
              </a:rPr>
              <a:t>▪ 有没有媒介或宿主帮它传</a:t>
            </a:r>
          </a:p>
          <a:p>
            <a:pPr>
              <a:spcAft>
                <a:spcPts val="1000"/>
              </a:spcAft>
            </a:pPr>
            <a:r>
              <a:rPr sz="2000">
                <a:solidFill>
                  <a:srgbClr val="222B33"/>
                </a:solidFill>
                <a:latin typeface="Microsoft YaHei"/>
              </a:rPr>
              <a:t>▪ 会不会人传人，也要查清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要查清病原从哪里进入人体：吸入气溶胶、皮肤黏膜接触、锐器刺伤，还是误食入口；会不会形成气溶胶经空气传播。还要看传播方式中有没有媒介（如蜱、蚊等）或动物宿主参与，以及会不会人传人。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只考虑自然感染途径，忽略实验室中的气溶胶和刺伤</a:t>
            </a:r>
          </a:p>
          <a:p>
            <a:pPr>
              <a:spcAft>
                <a:spcPts val="1000"/>
              </a:spcAft>
            </a:pPr>
            <a:r>
              <a:rPr sz="1500">
                <a:solidFill>
                  <a:srgbClr val="222B33"/>
                </a:solidFill>
                <a:latin typeface="Microsoft YaHei"/>
              </a:rPr>
              <a:t>▪ 不了解病原有无媒介和宿主</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病原：宿主范围、环境存活、本地流行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有的病原能在多种宿主里生存</a:t>
            </a:r>
          </a:p>
          <a:p>
            <a:pPr>
              <a:spcAft>
                <a:spcPts val="1000"/>
              </a:spcAft>
            </a:pPr>
            <a:r>
              <a:rPr sz="2000">
                <a:solidFill>
                  <a:srgbClr val="222B33"/>
                </a:solidFill>
                <a:latin typeface="Microsoft YaHei"/>
              </a:rPr>
              <a:t>▪ 有的从环境吸入就能感染</a:t>
            </a:r>
          </a:p>
          <a:p>
            <a:pPr>
              <a:spcAft>
                <a:spcPts val="1000"/>
              </a:spcAft>
            </a:pPr>
            <a:r>
              <a:rPr sz="2000">
                <a:solidFill>
                  <a:srgbClr val="222B33"/>
                </a:solidFill>
                <a:latin typeface="Microsoft YaHei"/>
              </a:rPr>
              <a:t>▪ 在环境里能活多久</a:t>
            </a:r>
          </a:p>
          <a:p>
            <a:pPr>
              <a:spcAft>
                <a:spcPts val="1000"/>
              </a:spcAft>
            </a:pPr>
            <a:r>
              <a:rPr sz="2000">
                <a:solidFill>
                  <a:srgbClr val="222B33"/>
                </a:solidFill>
                <a:latin typeface="Microsoft YaHei"/>
              </a:rPr>
              <a:t>▪ 本地流行还是外来，免疫背景不同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宿主范围：有的病原能在人、多种动物甚至环境中生存，宿主和来源很多样，有的从环境中吸入就能感染；制定管理方案时要把这些都算上。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只考虑人是宿主，忽略实验动物和环境</a:t>
            </a:r>
          </a:p>
          <a:p>
            <a:pPr>
              <a:spcAft>
                <a:spcPts val="1000"/>
              </a:spcAft>
            </a:pPr>
            <a:r>
              <a:rPr sz="1500">
                <a:solidFill>
                  <a:srgbClr val="222B33"/>
                </a:solidFill>
                <a:latin typeface="Microsoft YaHei"/>
              </a:rPr>
              <a:t>▪ 不考虑病原在环境中的存活时间</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病原：有无预防治疗和已有研究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有没有疫苗预防，有没有药物治疗</a:t>
            </a:r>
          </a:p>
          <a:p>
            <a:pPr>
              <a:spcAft>
                <a:spcPts val="1000"/>
              </a:spcAft>
            </a:pPr>
            <a:r>
              <a:rPr sz="2000">
                <a:solidFill>
                  <a:srgbClr val="222B33"/>
                </a:solidFill>
                <a:latin typeface="Microsoft YaHei"/>
              </a:rPr>
              <a:t>▪ 本地能不能及时预防和治疗</a:t>
            </a:r>
          </a:p>
          <a:p>
            <a:pPr>
              <a:spcAft>
                <a:spcPts val="1000"/>
              </a:spcAft>
            </a:pPr>
            <a:r>
              <a:rPr sz="2000">
                <a:solidFill>
                  <a:srgbClr val="222B33"/>
                </a:solidFill>
                <a:latin typeface="Microsoft YaHei"/>
              </a:rPr>
              <a:t>▪ 先查文献和已有研究，拿到依据</a:t>
            </a:r>
          </a:p>
          <a:p>
            <a:pPr>
              <a:spcAft>
                <a:spcPts val="1000"/>
              </a:spcAft>
            </a:pPr>
            <a:r>
              <a:rPr sz="2000">
                <a:solidFill>
                  <a:srgbClr val="222B33"/>
                </a:solidFill>
                <a:latin typeface="Microsoft YaHei"/>
              </a:rPr>
              <a:t>▪ 无药可防可治，风险更高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要问有没有有效的疫苗预防、有没有药物治疗，本地医疗机构能不能及时提供。没有有效的预防和治疗手段，暴露的后果就更严重，风险等级随之升高。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凭印象判断“有药可治”，不查资料</a:t>
            </a:r>
          </a:p>
          <a:p>
            <a:pPr>
              <a:spcAft>
                <a:spcPts val="1000"/>
              </a:spcAft>
            </a:pPr>
            <a:r>
              <a:rPr sz="1500">
                <a:solidFill>
                  <a:srgbClr val="222B33"/>
                </a:solidFill>
                <a:latin typeface="Microsoft YaHei"/>
              </a:rPr>
              <a:t>▪ 不了解本地医疗机构能否处置</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病原：是否经过改造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是否做过基因改造，一定要问</a:t>
            </a:r>
          </a:p>
          <a:p>
            <a:pPr>
              <a:spcAft>
                <a:spcPts val="1000"/>
              </a:spcAft>
            </a:pPr>
            <a:r>
              <a:rPr sz="2000">
                <a:solidFill>
                  <a:srgbClr val="222B33"/>
                </a:solidFill>
                <a:latin typeface="Microsoft YaHei"/>
              </a:rPr>
              <a:t>▪ 改造会带来新风险，要重新评估</a:t>
            </a:r>
          </a:p>
          <a:p>
            <a:pPr>
              <a:spcAft>
                <a:spcPts val="1000"/>
              </a:spcAft>
            </a:pPr>
            <a:r>
              <a:rPr sz="2000">
                <a:solidFill>
                  <a:srgbClr val="222B33"/>
                </a:solidFill>
                <a:latin typeface="Microsoft YaHei"/>
              </a:rPr>
              <a:t>▪ 植物还要问：会不会随花粉传出去</a:t>
            </a:r>
          </a:p>
          <a:p>
            <a:pPr>
              <a:spcAft>
                <a:spcPts val="1000"/>
              </a:spcAft>
            </a:pPr>
            <a:r>
              <a:rPr sz="2000">
                <a:solidFill>
                  <a:srgbClr val="222B33"/>
                </a:solidFill>
                <a:latin typeface="Microsoft YaHei"/>
              </a:rPr>
              <a:t>▪ 改造生物的评估见第 081 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要问这个生物材料有没有做过基因改造。改造可能改变它的特性，带来新的风险，必须重新评估，并按规定报单位生物安全委员会审查；不能直接沿用未改造亲本的结论。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认为“改造后的菌株和原来一样”</a:t>
            </a:r>
          </a:p>
          <a:p>
            <a:pPr>
              <a:spcAft>
                <a:spcPts val="1000"/>
              </a:spcAft>
            </a:pPr>
            <a:r>
              <a:rPr sz="1500">
                <a:solidFill>
                  <a:srgbClr val="222B33"/>
                </a:solidFill>
                <a:latin typeface="Microsoft YaHei"/>
              </a:rPr>
              <a:t>▪ 改造实验不报委员会审查</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活动：拿它做什么，量有多大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活动第一问：你拿它做什么</a:t>
            </a:r>
          </a:p>
          <a:p>
            <a:pPr>
              <a:spcAft>
                <a:spcPts val="1000"/>
              </a:spcAft>
            </a:pPr>
            <a:r>
              <a:rPr sz="2000">
                <a:solidFill>
                  <a:srgbClr val="222B33"/>
                </a:solidFill>
                <a:latin typeface="Microsoft YaHei"/>
              </a:rPr>
              <a:t>▪ 冻存最低，检测升高，大量培养最高</a:t>
            </a:r>
          </a:p>
          <a:p>
            <a:pPr>
              <a:spcAft>
                <a:spcPts val="1000"/>
              </a:spcAft>
            </a:pPr>
            <a:r>
              <a:rPr sz="2000">
                <a:solidFill>
                  <a:srgbClr val="222B33"/>
                </a:solidFill>
                <a:latin typeface="Microsoft YaHei"/>
              </a:rPr>
              <a:t>▪ 浓度高、量大，风险也跟着涨</a:t>
            </a:r>
          </a:p>
          <a:p>
            <a:pPr>
              <a:spcAft>
                <a:spcPts val="1000"/>
              </a:spcAft>
            </a:pPr>
            <a:r>
              <a:rPr sz="2000">
                <a:solidFill>
                  <a:srgbClr val="222B33"/>
                </a:solidFill>
                <a:latin typeface="Microsoft YaHei"/>
              </a:rPr>
              <a:t>▪ 风险高的操作，防护相应升级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同一个病原，操作不同风险不同。评估先问：你拿它做什么？冻存保存风险最低，开展检测风险升高，大量培养风险最高；只提取核酸风险较低，种植改造植物并收集花粉风险较高。培养使病原数量增加，一旦溢洒后果更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按冻存样本的风险去做大量培养</a:t>
            </a:r>
          </a:p>
          <a:p>
            <a:pPr>
              <a:spcAft>
                <a:spcPts val="1000"/>
              </a:spcAft>
            </a:pPr>
            <a:r>
              <a:rPr sz="1500">
                <a:solidFill>
                  <a:srgbClr val="222B33"/>
                </a:solidFill>
                <a:latin typeface="Microsoft YaHei"/>
              </a:rPr>
              <a:t>▪ 随意扩大培养量和浓度</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活动：哪些操作容易暴露</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标出易产生气溶胶的操作</a:t>
            </a:r>
          </a:p>
          <a:p>
            <a:pPr>
              <a:spcAft>
                <a:spcPts val="1000"/>
              </a:spcAft>
            </a:pPr>
            <a:r>
              <a:rPr sz="2000">
                <a:solidFill>
                  <a:srgbClr val="222B33"/>
                </a:solidFill>
                <a:latin typeface="Microsoft YaHei"/>
              </a:rPr>
              <a:t>▪ 有没有锐器、溅洒和手接触</a:t>
            </a:r>
          </a:p>
          <a:p>
            <a:pPr>
              <a:spcAft>
                <a:spcPts val="1000"/>
              </a:spcAft>
            </a:pPr>
            <a:r>
              <a:rPr sz="2000">
                <a:solidFill>
                  <a:srgbClr val="222B33"/>
                </a:solidFill>
                <a:latin typeface="Microsoft YaHei"/>
              </a:rPr>
              <a:t>▪ 把操作拆成小步，标出风险点</a:t>
            </a:r>
          </a:p>
          <a:p>
            <a:pPr>
              <a:spcAft>
                <a:spcPts val="1000"/>
              </a:spcAft>
            </a:pPr>
            <a:r>
              <a:rPr sz="2000">
                <a:solidFill>
                  <a:srgbClr val="222B33"/>
                </a:solidFill>
                <a:latin typeface="Microsoft YaHei"/>
              </a:rPr>
              <a:t>▪ 每步的风险，写进样本处理方案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把整个操作拆成一个个小步骤，每一步问：会不会产生气溶胶（离心、振荡、匀浆、超声、剧烈吹打等）？有没有锐器、溅洒和手接触？把这些风险点标出来。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只评估病原，不评估具体操作</a:t>
            </a:r>
          </a:p>
          <a:p>
            <a:pPr>
              <a:spcAft>
                <a:spcPts val="1000"/>
              </a:spcAft>
            </a:pPr>
            <a:r>
              <a:rPr sz="1500">
                <a:solidFill>
                  <a:srgbClr val="222B33"/>
                </a:solidFill>
                <a:latin typeface="Microsoft YaHei"/>
              </a:rPr>
              <a:t>▪ 忽略振荡、吹打等不起眼的气溶胶来源</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人员：免疫状态、健康与过敏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评估别只看病原，也要看人</a:t>
            </a:r>
          </a:p>
          <a:p>
            <a:pPr>
              <a:spcAft>
                <a:spcPts val="1000"/>
              </a:spcAft>
            </a:pPr>
            <a:r>
              <a:rPr sz="2000">
                <a:solidFill>
                  <a:srgbClr val="222B33"/>
                </a:solidFill>
                <a:latin typeface="Microsoft YaHei"/>
              </a:rPr>
              <a:t>▪ 免疫低下的人，要加额外防护</a:t>
            </a:r>
          </a:p>
          <a:p>
            <a:pPr>
              <a:spcAft>
                <a:spcPts val="1000"/>
              </a:spcAft>
            </a:pPr>
            <a:r>
              <a:rPr sz="2000">
                <a:solidFill>
                  <a:srgbClr val="222B33"/>
                </a:solidFill>
                <a:latin typeface="Microsoft YaHei"/>
              </a:rPr>
              <a:t>▪ 过敏、免疫低下要主动说明</a:t>
            </a:r>
          </a:p>
          <a:p>
            <a:pPr>
              <a:spcAft>
                <a:spcPts val="1000"/>
              </a:spcAft>
            </a:pPr>
            <a:r>
              <a:rPr sz="2000">
                <a:solidFill>
                  <a:srgbClr val="222B33"/>
                </a:solidFill>
                <a:latin typeface="Microsoft YaHei"/>
              </a:rPr>
              <a:t>▪ 负责人调整安排，并为个人保密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评估也要看操作的人：免疫状态、健康状况、过敏史、是否怀孕等。免疫低下的人风险更高，需要额外的防护，或者调整工作安排。</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隐瞒自己的过敏或免疫低下情况</a:t>
            </a:r>
          </a:p>
          <a:p>
            <a:pPr>
              <a:spcAft>
                <a:spcPts val="1000"/>
              </a:spcAft>
            </a:pPr>
            <a:r>
              <a:rPr sz="1500">
                <a:solidFill>
                  <a:srgbClr val="222B33"/>
                </a:solidFill>
                <a:latin typeface="Microsoft YaHei"/>
              </a:rPr>
              <a:t>▪ 负责人公开传播成员的健康信息</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病原问卷：是或否，逐条答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把要素变成问卷，是或否逐条答</a:t>
            </a:r>
          </a:p>
          <a:p>
            <a:pPr>
              <a:spcAft>
                <a:spcPts val="1000"/>
              </a:spcAft>
            </a:pPr>
            <a:r>
              <a:rPr sz="2000">
                <a:solidFill>
                  <a:srgbClr val="222B33"/>
                </a:solidFill>
                <a:latin typeface="Microsoft YaHei"/>
              </a:rPr>
              <a:t>▪ 会致病吗？经吸入吗？经接触吗？</a:t>
            </a:r>
          </a:p>
          <a:p>
            <a:pPr>
              <a:spcAft>
                <a:spcPts val="1000"/>
              </a:spcAft>
            </a:pPr>
            <a:r>
              <a:rPr sz="2000">
                <a:solidFill>
                  <a:srgbClr val="222B33"/>
                </a:solidFill>
                <a:latin typeface="Microsoft YaHei"/>
              </a:rPr>
              <a:t>▪ 环境稳定吗？改造过吗？好治吗？</a:t>
            </a:r>
          </a:p>
          <a:p>
            <a:pPr>
              <a:spcAft>
                <a:spcPts val="1000"/>
              </a:spcAft>
            </a:pPr>
            <a:r>
              <a:rPr sz="2000">
                <a:solidFill>
                  <a:srgbClr val="222B33"/>
                </a:solidFill>
                <a:latin typeface="Microsoft YaHei"/>
              </a:rPr>
              <a:t>▪ 答“是”的地方，就是控制重点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可以把病原要素变成一份问卷，用“是”或“否”逐条回答：是病原吗？暴露后会致病吗？经吸入传播吗？经接触传播吗？在环境中稳定吗？经过改造吗？好治吗？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问卷只打勾不思考，拿不准也随便填“否”</a:t>
            </a:r>
          </a:p>
          <a:p>
            <a:pPr>
              <a:spcAft>
                <a:spcPts val="1000"/>
              </a:spcAft>
            </a:pPr>
            <a:r>
              <a:rPr sz="1500">
                <a:solidFill>
                  <a:srgbClr val="222B33"/>
                </a:solidFill>
                <a:latin typeface="Microsoft YaHei"/>
              </a:rPr>
              <a:t>▪ 答出风险点却没有对应的控制措施</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设施与管理问卷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培训够吗？有应急预案吗？</a:t>
            </a:r>
          </a:p>
          <a:p>
            <a:pPr>
              <a:spcAft>
                <a:spcPts val="1000"/>
              </a:spcAft>
            </a:pPr>
            <a:r>
              <a:rPr sz="2000">
                <a:solidFill>
                  <a:srgbClr val="222B33"/>
                </a:solidFill>
                <a:latin typeface="Microsoft YaHei"/>
              </a:rPr>
              <a:t>▪ 关键设备齐吗？防护够吗？</a:t>
            </a:r>
          </a:p>
          <a:p>
            <a:pPr>
              <a:spcAft>
                <a:spcPts val="1000"/>
              </a:spcAft>
            </a:pPr>
            <a:r>
              <a:rPr sz="2000">
                <a:solidFill>
                  <a:srgbClr val="222B33"/>
                </a:solidFill>
                <a:latin typeface="Microsoft YaHei"/>
              </a:rPr>
              <a:t>▪ 废物怎么处置？安保和规程呢？</a:t>
            </a:r>
          </a:p>
          <a:p>
            <a:pPr>
              <a:spcAft>
                <a:spcPts val="1000"/>
              </a:spcAft>
            </a:pPr>
            <a:r>
              <a:rPr sz="2000">
                <a:solidFill>
                  <a:srgbClr val="222B33"/>
                </a:solidFill>
                <a:latin typeface="Microsoft YaHei"/>
              </a:rPr>
              <a:t>▪ 和负责人一起确认；换病原要重写规程、重新培训</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再看现有控制够不够，问设施与管理：人员培训够不够？有没有应急预案？关键设备（生物安全柜、高压灭菌器等）齐不齐、合格不合格？个人防护够不够？废物怎么处置？安保措施和专门的操作规程有没有？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设备过期未检测仍认为“控制够了”</a:t>
            </a:r>
          </a:p>
          <a:p>
            <a:pPr>
              <a:spcAft>
                <a:spcPts val="1000"/>
              </a:spcAft>
            </a:pPr>
            <a:r>
              <a:rPr sz="1500">
                <a:solidFill>
                  <a:srgbClr val="222B33"/>
                </a:solidFill>
                <a:latin typeface="Microsoft YaHei"/>
              </a:rPr>
              <a:t>▪ 换了病原仍用旧规程</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安全和安保两类风险都要评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要评两类：生物安全和生物安保</a:t>
            </a:r>
          </a:p>
          <a:p>
            <a:pPr>
              <a:spcAft>
                <a:spcPts val="1000"/>
              </a:spcAft>
            </a:pPr>
            <a:r>
              <a:rPr sz="2000">
                <a:solidFill>
                  <a:srgbClr val="222B33"/>
                </a:solidFill>
                <a:latin typeface="Microsoft YaHei"/>
              </a:rPr>
              <a:t>▪ 安全：人员和社区会不会暴露</a:t>
            </a:r>
          </a:p>
          <a:p>
            <a:pPr>
              <a:spcAft>
                <a:spcPts val="1000"/>
              </a:spcAft>
            </a:pPr>
            <a:r>
              <a:rPr sz="2000">
                <a:solidFill>
                  <a:srgbClr val="222B33"/>
                </a:solidFill>
                <a:latin typeface="Microsoft YaHei"/>
              </a:rPr>
              <a:t>▪ 安保：样本会不会丢失、被盗</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评估要同时看两类风险：生物安全风险——操作人员和周边社区会不会暴露；生物安保风险——样本会不会丢失、被盗或被滥用（生物安保见第 083 课）。两类风险都要放进同一张评估表里打分。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只评感染风险，不评样本丢失、被盗</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案例：一批疑似感染的血样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一批疑似感染的患者血样</a:t>
            </a:r>
          </a:p>
          <a:p>
            <a:pPr>
              <a:spcAft>
                <a:spcPts val="1000"/>
              </a:spcAft>
            </a:pPr>
            <a:r>
              <a:rPr sz="2000">
                <a:solidFill>
                  <a:srgbClr val="222B33"/>
                </a:solidFill>
                <a:latin typeface="Microsoft YaHei"/>
              </a:rPr>
              <a:t>▪ 镜检没查到，抗体查到了，未确证</a:t>
            </a:r>
          </a:p>
          <a:p>
            <a:pPr>
              <a:spcAft>
                <a:spcPts val="1000"/>
              </a:spcAft>
            </a:pPr>
            <a:r>
              <a:rPr sz="2000">
                <a:solidFill>
                  <a:srgbClr val="222B33"/>
                </a:solidFill>
                <a:latin typeface="Microsoft YaHei"/>
              </a:rPr>
              <a:t>▪ 已知靠蜱叮咬传，未见人传人</a:t>
            </a:r>
          </a:p>
          <a:p>
            <a:pPr>
              <a:spcAft>
                <a:spcPts val="1000"/>
              </a:spcAft>
            </a:pPr>
            <a:r>
              <a:rPr sz="2000">
                <a:solidFill>
                  <a:srgbClr val="222B33"/>
                </a:solidFill>
                <a:latin typeface="Microsoft YaHei"/>
              </a:rPr>
              <a:t>▪ 要做的是分离血清，做免疫检测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以一个结构化案例说明逐步评估的方法：某研究项目收到一批患者血样，怀疑感染某种经蜱叮咬传播的病原，但未确证——镜检没查到病原，抗体检测阳性；该病原已知靠蜱叮咬传播，未见人传人报道。实验室要做的是分离血清，再做免疫检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因为“镜检没查到”就按无感染性样本处理</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把流程拆成单步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结构化评估：把流程拆成单步</a:t>
            </a:r>
          </a:p>
          <a:p>
            <a:pPr>
              <a:spcAft>
                <a:spcPts val="1000"/>
              </a:spcAft>
            </a:pPr>
            <a:r>
              <a:rPr sz="2000">
                <a:solidFill>
                  <a:srgbClr val="222B33"/>
                </a:solidFill>
                <a:latin typeface="Microsoft YaHei"/>
              </a:rPr>
              <a:t>▪ 接收存放、编目、分离血清、检测</a:t>
            </a:r>
          </a:p>
          <a:p>
            <a:pPr>
              <a:spcAft>
                <a:spcPts val="1000"/>
              </a:spcAft>
            </a:pPr>
            <a:r>
              <a:rPr sz="2000">
                <a:solidFill>
                  <a:srgbClr val="222B33"/>
                </a:solidFill>
                <a:latin typeface="Microsoft YaHei"/>
              </a:rPr>
              <a:t>▪ 处置、去污、记录、应急，也不能漏</a:t>
            </a:r>
          </a:p>
          <a:p>
            <a:pPr>
              <a:spcAft>
                <a:spcPts val="1000"/>
              </a:spcAft>
            </a:pPr>
            <a:r>
              <a:rPr sz="2000">
                <a:solidFill>
                  <a:srgbClr val="222B33"/>
                </a:solidFill>
                <a:latin typeface="Microsoft YaHei"/>
              </a:rPr>
              <a:t>▪ 每一步插旗，逐一评估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结构化评估就是把一个流程拆成单个操作，一步一步评估。本案例拆成八步：接收与初始存放、样本编目、分离血清、免疫检测、检测后样本处置、去污、记录保存、意外暴露的应急处置。后四步常被忽略，也不能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只评估“检测”这一步，漏掉接收、处置和去污</a:t>
            </a:r>
          </a:p>
          <a:p>
            <a:pPr>
              <a:spcAft>
                <a:spcPts val="1000"/>
              </a:spcAft>
            </a:pPr>
            <a:r>
              <a:rPr sz="1500">
                <a:solidFill>
                  <a:srgbClr val="222B33"/>
                </a:solidFill>
                <a:latin typeface="Microsoft YaHei"/>
              </a:rPr>
              <a:t>▪ 不把应急处置列入评估</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逐步打分，汇成总表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每一步用风险矩阵打分</a:t>
            </a:r>
          </a:p>
          <a:p>
            <a:pPr>
              <a:spcAft>
                <a:spcPts val="1000"/>
              </a:spcAft>
            </a:pPr>
            <a:r>
              <a:rPr sz="2000">
                <a:solidFill>
                  <a:srgbClr val="222B33"/>
                </a:solidFill>
                <a:latin typeface="Microsoft YaHei"/>
              </a:rPr>
              <a:t>▪ 颜色分低、中、高、很高</a:t>
            </a:r>
          </a:p>
          <a:p>
            <a:pPr>
              <a:spcAft>
                <a:spcPts val="1000"/>
              </a:spcAft>
            </a:pPr>
            <a:r>
              <a:rPr sz="2000">
                <a:solidFill>
                  <a:srgbClr val="222B33"/>
                </a:solidFill>
                <a:latin typeface="Microsoft YaHei"/>
              </a:rPr>
              <a:t>▪ 汇成累计矩阵，全程风险一行看清</a:t>
            </a:r>
          </a:p>
          <a:p>
            <a:pPr>
              <a:spcAft>
                <a:spcPts val="1000"/>
              </a:spcAft>
            </a:pPr>
            <a:r>
              <a:rPr sz="2000">
                <a:solidFill>
                  <a:srgbClr val="222B33"/>
                </a:solidFill>
                <a:latin typeface="Microsoft YaHei"/>
              </a:rPr>
              <a:t>▪ 做熟了也别把可能性打低，看记录和险兆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每一步都用风险矩阵（可能性配后果，见第 067 课）打分，例如“接收和存放时意外暴露”可能性低、后果低；颜色分低、中、高、很高，一看就懂。各步汇总成累计矩阵或总表，全程风险一行看清，并找出风险最高的步骤。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凭感觉打分，没有依据</a:t>
            </a:r>
          </a:p>
          <a:p>
            <a:pPr>
              <a:spcAft>
                <a:spcPts val="1000"/>
              </a:spcAft>
            </a:pPr>
            <a:r>
              <a:rPr sz="1500">
                <a:solidFill>
                  <a:srgbClr val="222B33"/>
                </a:solidFill>
                <a:latin typeface="Microsoft YaHei"/>
              </a:rPr>
              <a:t>▪ 只看单步，不汇总全程风险</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决策点：评完再减缓，成文审核</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决策点：残余风险够不够低</a:t>
            </a:r>
          </a:p>
          <a:p>
            <a:pPr>
              <a:spcAft>
                <a:spcPts val="1000"/>
              </a:spcAft>
            </a:pPr>
            <a:r>
              <a:rPr sz="2000">
                <a:solidFill>
                  <a:srgbClr val="222B33"/>
                </a:solidFill>
                <a:latin typeface="Microsoft YaHei"/>
              </a:rPr>
              <a:t>▪ 评完，再进入减缓</a:t>
            </a:r>
          </a:p>
          <a:p>
            <a:pPr>
              <a:spcAft>
                <a:spcPts val="1000"/>
              </a:spcAft>
            </a:pPr>
            <a:r>
              <a:rPr sz="2000">
                <a:solidFill>
                  <a:srgbClr val="222B33"/>
                </a:solidFill>
                <a:latin typeface="Microsoft YaHei"/>
              </a:rPr>
              <a:t>▪ 评估写成文件，经委员会审核</a:t>
            </a:r>
          </a:p>
          <a:p>
            <a:pPr>
              <a:spcAft>
                <a:spcPts val="1000"/>
              </a:spcAft>
            </a:pPr>
            <a:r>
              <a:rPr sz="2000">
                <a:solidFill>
                  <a:srgbClr val="222B33"/>
                </a:solidFill>
                <a:latin typeface="Microsoft YaHei"/>
              </a:rPr>
              <a:t>▪ 评清楚、控到位，再做决定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评估结束时有一个决策点：在现有控制下，残余风险是否可接受？不够低的，进入下一步风险减缓，对每一项风险点对应具体措施（见第 069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评估完不做决策，直接开始实验</a:t>
            </a:r>
          </a:p>
          <a:p>
            <a:pPr>
              <a:spcAft>
                <a:spcPts val="1000"/>
              </a:spcAft>
            </a:pPr>
            <a:r>
              <a:rPr sz="1500">
                <a:solidFill>
                  <a:srgbClr val="222B33"/>
                </a:solidFill>
                <a:latin typeface="Microsoft YaHei"/>
              </a:rPr>
              <a:t>▪ 评估报告不经审核</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关于病原分类，正确的是：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国内第一类病原危害最小</a:t>
            </a:r>
          </a:p>
          <a:p>
            <a:pPr algn="l"/>
            <a:r>
              <a:rPr sz="1500" b="0">
                <a:solidFill>
                  <a:srgbClr val="222B33"/>
                </a:solidFill>
                <a:latin typeface="Microsoft YaHei"/>
              </a:rPr>
              <a:t>B. 国内第一类危害最大，与国际风险组 1 组最低方向相反</a:t>
            </a:r>
          </a:p>
          <a:p>
            <a:pPr algn="l"/>
            <a:r>
              <a:rPr sz="1500" b="0">
                <a:solidFill>
                  <a:srgbClr val="222B33"/>
                </a:solidFill>
                <a:latin typeface="Microsoft YaHei"/>
              </a:rPr>
              <a:t>C. 国内分类与国际风险组编号完全一致</a:t>
            </a:r>
          </a:p>
          <a:p>
            <a:pPr algn="l"/>
            <a:r>
              <a:rPr sz="1500" b="0">
                <a:solidFill>
                  <a:srgbClr val="222B33"/>
                </a:solidFill>
                <a:latin typeface="Microsoft YaHei"/>
              </a:rPr>
              <a:t>D. 分类查到后就不用再评估</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判断：同一种病原，只做核酸提取和做大量培养，风险是一样的。</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下列哪项不属于病原层面的评估要素？</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感染途径</a:t>
            </a:r>
          </a:p>
          <a:p>
            <a:pPr algn="l"/>
            <a:r>
              <a:rPr sz="1500" b="0">
                <a:solidFill>
                  <a:srgbClr val="222B33"/>
                </a:solidFill>
                <a:latin typeface="Microsoft YaHei"/>
              </a:rPr>
              <a:t>B. 有无预防和治疗手段</a:t>
            </a:r>
          </a:p>
          <a:p>
            <a:pPr algn="l"/>
            <a:r>
              <a:rPr sz="1500" b="0">
                <a:solidFill>
                  <a:srgbClr val="222B33"/>
                </a:solidFill>
                <a:latin typeface="Microsoft YaHei"/>
              </a:rPr>
              <a:t>C. 是否经过改造</a:t>
            </a:r>
          </a:p>
          <a:p>
            <a:pPr algn="l"/>
            <a:r>
              <a:rPr sz="1500" b="0">
                <a:solidFill>
                  <a:srgbClr val="222B33"/>
                </a:solidFill>
                <a:latin typeface="Microsoft YaHei"/>
              </a:rPr>
              <a:t>D. 实验室的装修颜色</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判断：自己有过敏或免疫低下情况，属于个人隐私，不必告诉实验室负责人。</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068 · 病原与实验活动的评估要素</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068 病原与实验活动的评估要素</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对一批疑似感染的血样做结构化评估，正确的做法是：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只评估检测这一步</a:t>
            </a:r>
          </a:p>
          <a:p>
            <a:pPr algn="l"/>
            <a:r>
              <a:rPr sz="1500" b="0">
                <a:solidFill>
                  <a:srgbClr val="222B33"/>
                </a:solidFill>
                <a:latin typeface="Microsoft YaHei"/>
              </a:rPr>
              <a:t>B. 把流程拆成接收存放、编目、分离、检测、处置、去污、记录、应急等单步，逐步打分再汇总</a:t>
            </a:r>
          </a:p>
          <a:p>
            <a:pPr algn="l"/>
            <a:r>
              <a:rPr sz="1500" b="0">
                <a:solidFill>
                  <a:srgbClr val="222B33"/>
                </a:solidFill>
                <a:latin typeface="Microsoft YaHei"/>
              </a:rPr>
              <a:t>C. 镜检没查到就按无感染性处理</a:t>
            </a:r>
          </a:p>
          <a:p>
            <a:pPr algn="l"/>
            <a:r>
              <a:rPr sz="1500" b="0">
                <a:solidFill>
                  <a:srgbClr val="222B33"/>
                </a:solidFill>
                <a:latin typeface="Microsoft YaHei"/>
              </a:rPr>
              <a:t>D. 借用别的实验室的评估</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简答：哪些样本要从严评估？</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一个病原、一项实验，一份评估</a:t>
            </a:r>
          </a:p>
          <a:p>
            <a:pPr>
              <a:spcAft>
                <a:spcPts val="800"/>
              </a:spcAft>
            </a:pPr>
            <a:r>
              <a:rPr sz="1500">
                <a:solidFill>
                  <a:srgbClr val="FFFFFF"/>
                </a:solidFill>
                <a:latin typeface="Microsoft YaHei"/>
              </a:rPr>
              <a:t>▪ K2  未知病原和特殊样本从严</a:t>
            </a:r>
          </a:p>
          <a:p>
            <a:pPr>
              <a:spcAft>
                <a:spcPts val="800"/>
              </a:spcAft>
            </a:pPr>
            <a:r>
              <a:rPr sz="1500">
                <a:solidFill>
                  <a:srgbClr val="FFFFFF"/>
                </a:solidFill>
                <a:latin typeface="Microsoft YaHei"/>
              </a:rPr>
              <a:t>▪ K3  冰山：看不见的风险也要想</a:t>
            </a:r>
          </a:p>
          <a:p>
            <a:pPr>
              <a:spcAft>
                <a:spcPts val="800"/>
              </a:spcAft>
            </a:pPr>
            <a:r>
              <a:rPr sz="1500">
                <a:solidFill>
                  <a:srgbClr val="FFFFFF"/>
                </a:solidFill>
                <a:latin typeface="Microsoft YaHei"/>
              </a:rPr>
              <a:t>▪ K4  评估清单：病原、活动、人员、设施</a:t>
            </a:r>
          </a:p>
          <a:p>
            <a:pPr>
              <a:spcAft>
                <a:spcPts val="800"/>
              </a:spcAft>
            </a:pPr>
            <a:r>
              <a:rPr sz="1500">
                <a:solidFill>
                  <a:srgbClr val="FFFFFF"/>
                </a:solidFill>
                <a:latin typeface="Microsoft YaHei"/>
              </a:rPr>
              <a:t>▪ K5  病原：先查分类</a:t>
            </a:r>
          </a:p>
          <a:p>
            <a:pPr>
              <a:spcAft>
                <a:spcPts val="800"/>
              </a:spcAft>
            </a:pPr>
            <a:r>
              <a:rPr sz="1500">
                <a:solidFill>
                  <a:srgbClr val="FFFFFF"/>
                </a:solidFill>
                <a:latin typeface="Microsoft YaHei"/>
              </a:rPr>
              <a:t>▪ K6  病原：致病性、感染剂量与后果</a:t>
            </a:r>
          </a:p>
          <a:p>
            <a:pPr>
              <a:spcAft>
                <a:spcPts val="800"/>
              </a:spcAft>
            </a:pPr>
            <a:r>
              <a:rPr sz="1500">
                <a:solidFill>
                  <a:srgbClr val="FFFFFF"/>
                </a:solidFill>
                <a:latin typeface="Microsoft YaHei"/>
              </a:rPr>
              <a:t>▪ K7  病原：感染途径与媒介</a:t>
            </a:r>
          </a:p>
          <a:p>
            <a:pPr>
              <a:spcAft>
                <a:spcPts val="800"/>
              </a:spcAft>
            </a:pPr>
            <a:r>
              <a:rPr sz="1500">
                <a:solidFill>
                  <a:srgbClr val="FFFFFF"/>
                </a:solidFill>
                <a:latin typeface="Microsoft YaHei"/>
              </a:rPr>
              <a:t>▪ K8  病原：宿主范围、环境存活、本地流行</a:t>
            </a:r>
          </a:p>
          <a:p>
            <a:pPr>
              <a:spcAft>
                <a:spcPts val="800"/>
              </a:spcAft>
            </a:pPr>
            <a:r>
              <a:rPr sz="1500">
                <a:solidFill>
                  <a:srgbClr val="FFFFFF"/>
                </a:solidFill>
                <a:latin typeface="Microsoft YaHei"/>
              </a:rPr>
              <a:t>▪ K9  病原：有无预防治疗和已有研究</a:t>
            </a:r>
          </a:p>
          <a:p>
            <a:pPr>
              <a:spcAft>
                <a:spcPts val="800"/>
              </a:spcAft>
            </a:pPr>
            <a:r>
              <a:rPr sz="1500">
                <a:solidFill>
                  <a:srgbClr val="FFFFFF"/>
                </a:solidFill>
                <a:latin typeface="Microsoft YaHei"/>
              </a:rPr>
              <a:t>▪ K10  病原：是否经过改造</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K11  活动：拿它做什么，量有多大</a:t>
            </a:r>
          </a:p>
          <a:p>
            <a:pPr>
              <a:spcAft>
                <a:spcPts val="800"/>
              </a:spcAft>
            </a:pPr>
            <a:r>
              <a:rPr sz="1500">
                <a:solidFill>
                  <a:srgbClr val="FFFFFF"/>
                </a:solidFill>
                <a:latin typeface="Microsoft YaHei"/>
              </a:rPr>
              <a:t>▪ K12  活动：哪些操作容易暴露</a:t>
            </a:r>
          </a:p>
          <a:p>
            <a:pPr>
              <a:spcAft>
                <a:spcPts val="800"/>
              </a:spcAft>
            </a:pPr>
            <a:r>
              <a:rPr sz="1500">
                <a:solidFill>
                  <a:srgbClr val="FFFFFF"/>
                </a:solidFill>
                <a:latin typeface="Microsoft YaHei"/>
              </a:rPr>
              <a:t>▪ K13  人员：免疫状态、健康与过敏</a:t>
            </a:r>
          </a:p>
          <a:p>
            <a:pPr>
              <a:spcAft>
                <a:spcPts val="800"/>
              </a:spcAft>
            </a:pPr>
            <a:r>
              <a:rPr sz="1500">
                <a:solidFill>
                  <a:srgbClr val="FFFFFF"/>
                </a:solidFill>
                <a:latin typeface="Microsoft YaHei"/>
              </a:rPr>
              <a:t>▪ K14  病原问卷：是或否，逐条答</a:t>
            </a:r>
          </a:p>
          <a:p>
            <a:pPr>
              <a:spcAft>
                <a:spcPts val="800"/>
              </a:spcAft>
            </a:pPr>
            <a:r>
              <a:rPr sz="1500">
                <a:solidFill>
                  <a:srgbClr val="FFFFFF"/>
                </a:solidFill>
                <a:latin typeface="Microsoft YaHei"/>
              </a:rPr>
              <a:t>▪ K15  设施与管理问卷</a:t>
            </a:r>
          </a:p>
          <a:p>
            <a:pPr>
              <a:spcAft>
                <a:spcPts val="800"/>
              </a:spcAft>
            </a:pPr>
            <a:r>
              <a:rPr sz="1500">
                <a:solidFill>
                  <a:srgbClr val="FFFFFF"/>
                </a:solidFill>
                <a:latin typeface="Microsoft YaHei"/>
              </a:rPr>
              <a:t>▪ K16  安全和安保两类风险都要评</a:t>
            </a:r>
          </a:p>
          <a:p>
            <a:pPr>
              <a:spcAft>
                <a:spcPts val="800"/>
              </a:spcAft>
            </a:pPr>
            <a:r>
              <a:rPr sz="1500">
                <a:solidFill>
                  <a:srgbClr val="FFFFFF"/>
                </a:solidFill>
                <a:latin typeface="Microsoft YaHei"/>
              </a:rPr>
              <a:t>▪ K17  案例：一批疑似感染的血样</a:t>
            </a:r>
          </a:p>
          <a:p>
            <a:pPr>
              <a:spcAft>
                <a:spcPts val="800"/>
              </a:spcAft>
            </a:pPr>
            <a:r>
              <a:rPr sz="1500">
                <a:solidFill>
                  <a:srgbClr val="FFFFFF"/>
                </a:solidFill>
                <a:latin typeface="Microsoft YaHei"/>
              </a:rPr>
              <a:t>▪ K18  把流程拆成单步</a:t>
            </a:r>
          </a:p>
          <a:p>
            <a:pPr>
              <a:spcAft>
                <a:spcPts val="800"/>
              </a:spcAft>
            </a:pPr>
            <a:r>
              <a:rPr sz="1500">
                <a:solidFill>
                  <a:srgbClr val="FFFFFF"/>
                </a:solidFill>
                <a:latin typeface="Microsoft YaHei"/>
              </a:rPr>
              <a:t>▪ K19  逐步打分，汇成总表</a:t>
            </a:r>
          </a:p>
          <a:p>
            <a:pPr>
              <a:spcAft>
                <a:spcPts val="800"/>
              </a:spcAft>
            </a:pPr>
            <a:r>
              <a:rPr sz="1500">
                <a:solidFill>
                  <a:srgbClr val="FFFFFF"/>
                </a:solidFill>
                <a:latin typeface="Microsoft YaHei"/>
              </a:rPr>
              <a:t>▪ K20  决策点：评完再减缓，成文审核</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生物风险控制与管理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84 镜）　适用对象：进入生命科学、医学、农学、环境等涉及生物材料实验室的高校本科生、研究生和教职工（必修）；实验室负责人、生物安全员和菌毒种、样本保管人员重点学习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能说出生物风险减缓的五类控制（消除、替代、工程控制、管理控制、个人防护）及其层级，知道各类控制要并用、个人防护是最后一道防线。</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能说出管理控制的主要内容：依法依规的制度、操作规程与记录、核对表、准入培训与考核、标识、菌毒种和样本的清单台账。</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能做到按要求参加上岗体检和健康监护、按评估接种疫苗，身体不适就医时主动说明接触史并报告负责人。</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能判断菌毒种、样本或生物毒素丢失被盗、疑似实验室感染时应立即报告，知道生物毒素专人专柜、双人复核、用后灭活。</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《中华人民共和国生物安全法》（以现行文本为准）：病原微生物实验室应当采取措施，加强对实验动物、菌毒种和样本的管理，防止被盗、被抢、丢失和泄漏</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《病原微生物实验室生物安全管理条例》（以现行文本为准）：实验室人员培训考核、健康监测、实验档案、菌毒种和样本的保管；实验室感染和菌毒种丢失按规定报告</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生物安全通用要求》：风险控制、管理体系、人员与健康监护、标准操作程序、材料管理、标识、记录</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233（以现行文本为准）《病原微生物实验室生物安全通用准则》：实验室生物安全管理要求和人员管理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《中华人民共和国生物安全法》《农业转基因生物安全管理条例》（以现行文本为准）：转基因材料的登记、审查与管理（详见第 081 课）</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号，以现行文本为准）：实验室安全准入、培训考核、安全信息牌和危险物品台账</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本校实验室生物安全管理办法、菌毒种和样本管理规定、健康监护和免疫接种规定（以本校规定为准）</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评估是提问，减缓才降险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评估只是提问，减缓才真正降险</a:t>
            </a:r>
          </a:p>
          <a:p>
            <a:pPr>
              <a:spcAft>
                <a:spcPts val="1000"/>
              </a:spcAft>
            </a:pPr>
            <a:r>
              <a:rPr sz="2000">
                <a:solidFill>
                  <a:srgbClr val="222B33"/>
                </a:solidFill>
                <a:latin typeface="Microsoft YaHei"/>
              </a:rPr>
              <a:t>▪ 识别危害、评估之后，控制登场</a:t>
            </a:r>
          </a:p>
          <a:p>
            <a:pPr>
              <a:spcAft>
                <a:spcPts val="1000"/>
              </a:spcAft>
            </a:pPr>
            <a:r>
              <a:rPr sz="2000">
                <a:solidFill>
                  <a:srgbClr val="222B33"/>
                </a:solidFill>
                <a:latin typeface="Microsoft YaHei"/>
              </a:rPr>
              <a:t>▪ 控制是落实管理决策的行动</a:t>
            </a:r>
          </a:p>
          <a:p>
            <a:pPr>
              <a:spcAft>
                <a:spcPts val="1000"/>
              </a:spcAft>
            </a:pPr>
            <a:r>
              <a:rPr sz="2000">
                <a:solidFill>
                  <a:srgbClr val="222B33"/>
                </a:solidFill>
                <a:latin typeface="Microsoft YaHei"/>
              </a:rPr>
              <a:t>▪ 几类措施一起用，互相补位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风险评估（见第 067、068 课）只是在提问：有什么风险、有多大，本身不会让风险变小；风险减缓才是真正把风险降下来。流程是：识别危害、评估风险，然后进入减缓，控制措施在这一步登场。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评估报告通过了，就认为风险已经解决</a:t>
            </a:r>
          </a:p>
          <a:p>
            <a:pPr>
              <a:spcAft>
                <a:spcPts val="1000"/>
              </a:spcAft>
            </a:pPr>
            <a:r>
              <a:rPr sz="1500">
                <a:solidFill>
                  <a:srgbClr val="222B33"/>
                </a:solidFill>
                <a:latin typeface="Microsoft YaHei"/>
              </a:rPr>
              <a:t>▪ 措施写在报告里，实际不落实</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五类控制，按层级从上往下选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五类：消除、替代、工程、管理、个人防护</a:t>
            </a:r>
          </a:p>
          <a:p>
            <a:pPr>
              <a:spcAft>
                <a:spcPts val="1000"/>
              </a:spcAft>
            </a:pPr>
            <a:r>
              <a:rPr sz="2000">
                <a:solidFill>
                  <a:srgbClr val="222B33"/>
                </a:solidFill>
                <a:latin typeface="Microsoft YaHei"/>
              </a:rPr>
              <a:t>▪ 从上往下选，越往上越有效</a:t>
            </a:r>
          </a:p>
          <a:p>
            <a:pPr>
              <a:spcAft>
                <a:spcPts val="1000"/>
              </a:spcAft>
            </a:pPr>
            <a:r>
              <a:rPr sz="2000">
                <a:solidFill>
                  <a:srgbClr val="222B33"/>
                </a:solidFill>
                <a:latin typeface="Microsoft YaHei"/>
              </a:rPr>
              <a:t>▪ 安全带刹车像工程，驾照交规像管理</a:t>
            </a:r>
          </a:p>
          <a:p>
            <a:pPr>
              <a:spcAft>
                <a:spcPts val="1000"/>
              </a:spcAft>
            </a:pPr>
            <a:r>
              <a:rPr sz="2000">
                <a:solidFill>
                  <a:srgbClr val="222B33"/>
                </a:solidFill>
                <a:latin typeface="Microsoft YaHei"/>
              </a:rPr>
              <a:t>▪ 能从源头消除的，别只靠口罩手套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风险的控制措施分五类，可以用一只手的五根手指来记：消除、替代、工程控制、管理控制、个人防护。它们排成一个层级（倒金字塔），选措施时从上往下：先想能不能不做、能不能换，再上设施设备和规程，个人防护垫底，不能单靠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一上来只想着加防护用品</a:t>
            </a:r>
          </a:p>
          <a:p>
            <a:pPr>
              <a:spcAft>
                <a:spcPts val="1000"/>
              </a:spcAft>
            </a:pPr>
            <a:r>
              <a:rPr sz="1500">
                <a:solidFill>
                  <a:srgbClr val="222B33"/>
                </a:solidFill>
                <a:latin typeface="Microsoft YaHei"/>
              </a:rPr>
              <a:t>▪ 认为层级是菜单，挑最省事的一项就行</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消除：风险太大就不做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风险太大，这个实验就不做</a:t>
            </a:r>
          </a:p>
          <a:p>
            <a:pPr>
              <a:spcAft>
                <a:spcPts val="1000"/>
              </a:spcAft>
            </a:pPr>
            <a:r>
              <a:rPr sz="2000">
                <a:solidFill>
                  <a:srgbClr val="222B33"/>
                </a:solidFill>
                <a:latin typeface="Microsoft YaHei"/>
              </a:rPr>
              <a:t>▪ 没设施、没培训、没人手，就别做</a:t>
            </a:r>
          </a:p>
          <a:p>
            <a:pPr>
              <a:spcAft>
                <a:spcPts val="1000"/>
              </a:spcAft>
            </a:pPr>
            <a:r>
              <a:rPr sz="2000">
                <a:solidFill>
                  <a:srgbClr val="222B33"/>
                </a:solidFill>
                <a:latin typeface="Microsoft YaHei"/>
              </a:rPr>
              <a:t>▪ 也不一刀切，要给研究留空间</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消除是最有效的控制：风险太大，或者没有合适的设施（如没有生物安全柜、没有定向气流）、人员没有培训、人手不足，这个实验就不做，或者转到具备条件的单位开展。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不具备条件也硬上</a:t>
            </a:r>
          </a:p>
          <a:p>
            <a:pPr>
              <a:spcAft>
                <a:spcPts val="1000"/>
              </a:spcAft>
            </a:pPr>
            <a:r>
              <a:rPr sz="1500">
                <a:solidFill>
                  <a:srgbClr val="222B33"/>
                </a:solidFill>
                <a:latin typeface="Microsoft YaHei"/>
              </a:rPr>
              <a:t>▪ 一听有风险就一律禁止，不做评估</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替代：换成风险更低的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换成减毒、弱化的株</a:t>
            </a:r>
          </a:p>
          <a:p>
            <a:pPr>
              <a:spcAft>
                <a:spcPts val="1000"/>
              </a:spcAft>
            </a:pPr>
            <a:r>
              <a:rPr sz="2000">
                <a:solidFill>
                  <a:srgbClr val="222B33"/>
                </a:solidFill>
                <a:latin typeface="Microsoft YaHei"/>
              </a:rPr>
              <a:t>▪ 样本先灭活再送来，风险就低了</a:t>
            </a:r>
          </a:p>
          <a:p>
            <a:pPr>
              <a:spcAft>
                <a:spcPts val="1000"/>
              </a:spcAft>
            </a:pPr>
            <a:r>
              <a:rPr sz="2000">
                <a:solidFill>
                  <a:srgbClr val="222B33"/>
                </a:solidFill>
                <a:latin typeface="Microsoft YaHei"/>
              </a:rPr>
              <a:t>▪ 能用塑料就不用玻璃，少用锐器</a:t>
            </a:r>
          </a:p>
          <a:p>
            <a:pPr>
              <a:spcAft>
                <a:spcPts val="1000"/>
              </a:spcAft>
            </a:pPr>
            <a:r>
              <a:rPr sz="2000">
                <a:solidFill>
                  <a:srgbClr val="222B33"/>
                </a:solidFill>
                <a:latin typeface="Microsoft YaHei"/>
              </a:rPr>
              <a:t>▪ 替代方案也要评估后再换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替代就是换成风险更低的方案：例如改用减毒、弱化的株，在实验室里更好管理；样本在送来之前先按规定灭活，风险就大大降低；能用塑料器材就不用玻璃，能不用锐器就不用锐器。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想当然地认为“灭活了就绝对安全”，不核实灭活效果</a:t>
            </a:r>
          </a:p>
          <a:p>
            <a:pPr>
              <a:spcAft>
                <a:spcPts val="1000"/>
              </a:spcAft>
            </a:pPr>
            <a:r>
              <a:rPr sz="1500">
                <a:solidFill>
                  <a:srgbClr val="222B33"/>
                </a:solidFill>
                <a:latin typeface="Microsoft YaHei"/>
              </a:rPr>
              <a:t>▪ 不评估就随意更换材料或方法</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工程控制：把病原关住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设施设备把病原关住，给人安全环境</a:t>
            </a:r>
          </a:p>
          <a:p>
            <a:pPr>
              <a:spcAft>
                <a:spcPts val="1000"/>
              </a:spcAft>
            </a:pPr>
            <a:r>
              <a:rPr sz="2000">
                <a:solidFill>
                  <a:srgbClr val="222B33"/>
                </a:solidFill>
                <a:latin typeface="Microsoft YaHei"/>
              </a:rPr>
              <a:t>▪ 生物安全柜、高效过滤、定向气流</a:t>
            </a:r>
          </a:p>
          <a:p>
            <a:pPr>
              <a:spcAft>
                <a:spcPts val="1000"/>
              </a:spcAft>
            </a:pPr>
            <a:r>
              <a:rPr sz="2000">
                <a:solidFill>
                  <a:srgbClr val="222B33"/>
                </a:solidFill>
                <a:latin typeface="Microsoft YaHei"/>
              </a:rPr>
              <a:t>▪ 设施细节见第 062–064 课</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工程控制是用专门设计的设施设备把病原关住，给人创造安全的工作环境：例如在生物安全柜内操作并接好排风，加上高效过滤和污水处理；实验室保持负压，空气从外往里流，就形成了封闭。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有了安全柜就不注意操作规范</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个人防护：最后一道防线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个人防护是最后一道防线</a:t>
            </a:r>
          </a:p>
          <a:p>
            <a:pPr>
              <a:spcAft>
                <a:spcPts val="1000"/>
              </a:spcAft>
            </a:pPr>
            <a:r>
              <a:rPr sz="2000">
                <a:solidFill>
                  <a:srgbClr val="222B33"/>
                </a:solidFill>
                <a:latin typeface="Microsoft YaHei"/>
              </a:rPr>
              <a:t>▪ 按感染途径和评估，选对防护</a:t>
            </a:r>
          </a:p>
          <a:p>
            <a:pPr>
              <a:spcAft>
                <a:spcPts val="1000"/>
              </a:spcAft>
            </a:pPr>
            <a:r>
              <a:rPr sz="2000">
                <a:solidFill>
                  <a:srgbClr val="222B33"/>
                </a:solidFill>
                <a:latin typeface="Microsoft YaHei"/>
              </a:rPr>
              <a:t>▪ 接触动物要戴防咬手套</a:t>
            </a:r>
          </a:p>
          <a:p>
            <a:pPr>
              <a:spcAft>
                <a:spcPts val="1000"/>
              </a:spcAft>
            </a:pPr>
            <a:r>
              <a:rPr sz="2000">
                <a:solidFill>
                  <a:srgbClr val="222B33"/>
                </a:solidFill>
                <a:latin typeface="Microsoft YaHei"/>
              </a:rPr>
              <a:t>▪ 不会正确穿脱反而更危险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个人防护是最后一道防线：其他措施失灵时靠它挡住，所以不能只靠防护用品。防护服挡住皮肤接触；可经空气传播的，按评估选用防护口罩或动力送风呼吸器；可经眼睛感染的，要戴护目镜；接触实验动物，要戴防咬手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认为防护穿得越多越安全，忽视工程和管理控制</a:t>
            </a:r>
          </a:p>
          <a:p>
            <a:pPr>
              <a:spcAft>
                <a:spcPts val="1000"/>
              </a:spcAft>
            </a:pPr>
            <a:r>
              <a:rPr sz="1500">
                <a:solidFill>
                  <a:srgbClr val="222B33"/>
                </a:solidFill>
                <a:latin typeface="Microsoft YaHei"/>
              </a:rPr>
              <a:t>▪ 脱防护时顺序错误，污染皮肤和衣物</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控制要并用，互相补位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五类控制一起用，缺一块就有漏洞</a:t>
            </a:r>
          </a:p>
          <a:p>
            <a:pPr>
              <a:spcAft>
                <a:spcPts val="1000"/>
              </a:spcAft>
            </a:pPr>
            <a:r>
              <a:rPr sz="2000">
                <a:solidFill>
                  <a:srgbClr val="222B33"/>
                </a:solidFill>
                <a:latin typeface="Microsoft YaHei"/>
              </a:rPr>
              <a:t>▪ 有了安全柜，也得照规程做</a:t>
            </a:r>
          </a:p>
          <a:p>
            <a:pPr>
              <a:spcAft>
                <a:spcPts val="1000"/>
              </a:spcAft>
            </a:pPr>
            <a:r>
              <a:rPr sz="2000">
                <a:solidFill>
                  <a:srgbClr val="222B33"/>
                </a:solidFill>
                <a:latin typeface="Microsoft YaHei"/>
              </a:rPr>
              <a:t>▪ 进出、穿脱防护都要有规程</a:t>
            </a:r>
          </a:p>
          <a:p>
            <a:pPr>
              <a:spcAft>
                <a:spcPts val="1000"/>
              </a:spcAft>
            </a:pPr>
            <a:r>
              <a:rPr sz="2000">
                <a:solidFill>
                  <a:srgbClr val="222B33"/>
                </a:solidFill>
                <a:latin typeface="Microsoft YaHei"/>
              </a:rPr>
              <a:t>▪ 工程控制代替不了规范操作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五类控制不是单用，而是同时用、互相补位，缺一块就有漏洞。实验室和生物安全柜是工程控制，但进出实验室、使用安全柜都要靠规程来管；防护用品是个人防护，但穿脱要按规程，规程又属于管理控制。这些都写进实验室生物安全手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新实验室设施先进，就放松操作要求</a:t>
            </a:r>
          </a:p>
          <a:p>
            <a:pPr>
              <a:spcAft>
                <a:spcPts val="1000"/>
              </a:spcAft>
            </a:pPr>
            <a:r>
              <a:rPr sz="1500">
                <a:solidFill>
                  <a:srgbClr val="222B33"/>
                </a:solidFill>
                <a:latin typeface="Microsoft YaHei"/>
              </a:rPr>
              <a:t>▪ 只买设备，不写规程、不培训</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每步问五个问题，汇成措施表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流程每一步问五个问题</a:t>
            </a:r>
          </a:p>
          <a:p>
            <a:pPr>
              <a:spcAft>
                <a:spcPts val="1000"/>
              </a:spcAft>
            </a:pPr>
            <a:r>
              <a:rPr sz="2000">
                <a:solidFill>
                  <a:srgbClr val="222B33"/>
                </a:solidFill>
                <a:latin typeface="Microsoft YaHei"/>
              </a:rPr>
              <a:t>▪ 能不做？能换？加设备？写规程？穿什么？</a:t>
            </a:r>
          </a:p>
          <a:p>
            <a:pPr>
              <a:spcAft>
                <a:spcPts val="1000"/>
              </a:spcAft>
            </a:pPr>
            <a:r>
              <a:rPr sz="2000">
                <a:solidFill>
                  <a:srgbClr val="222B33"/>
                </a:solidFill>
                <a:latin typeface="Microsoft YaHei"/>
              </a:rPr>
              <a:t>▪ 每步的措施汇成一张表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在第 068 课把流程拆成单步、逐步打分之后，对每一步依次问五个控制问题：能不能不做（消除）？能不能换个办法（替代）？能不能加设备（工程控制）？要不要专门的规程（管理控制）？要什么防护（个人防护）？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只给整个实验列一条笼统的措施</a:t>
            </a:r>
          </a:p>
          <a:p>
            <a:pPr>
              <a:spcAft>
                <a:spcPts val="1000"/>
              </a:spcAft>
            </a:pPr>
            <a:r>
              <a:rPr sz="1500">
                <a:solidFill>
                  <a:srgbClr val="222B33"/>
                </a:solidFill>
                <a:latin typeface="Microsoft YaHei"/>
              </a:rPr>
              <a:t>▪ 措施表做好后不检查执行情况</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管理控制：白纸黑字，先于设施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管理控制是基石，建楼前就要定下</a:t>
            </a:r>
          </a:p>
          <a:p>
            <a:pPr>
              <a:spcAft>
                <a:spcPts val="1000"/>
              </a:spcAft>
            </a:pPr>
            <a:r>
              <a:rPr sz="2000">
                <a:solidFill>
                  <a:srgbClr val="222B33"/>
                </a:solidFill>
                <a:latin typeface="Microsoft YaHei"/>
              </a:rPr>
              <a:t>▪ 政策、规则、安排、培训、记录都要写下</a:t>
            </a:r>
          </a:p>
          <a:p>
            <a:pPr>
              <a:spcAft>
                <a:spcPts val="1000"/>
              </a:spcAft>
            </a:pPr>
            <a:r>
              <a:rPr sz="2000">
                <a:solidFill>
                  <a:srgbClr val="222B33"/>
                </a:solidFill>
                <a:latin typeface="Microsoft YaHei"/>
              </a:rPr>
              <a:t>▪ 包括委员会、手册、库存、体检、审核</a:t>
            </a:r>
          </a:p>
          <a:p>
            <a:pPr>
              <a:spcAft>
                <a:spcPts val="1000"/>
              </a:spcAft>
            </a:pPr>
            <a:r>
              <a:rPr sz="2000">
                <a:solidFill>
                  <a:srgbClr val="222B33"/>
                </a:solidFill>
                <a:latin typeface="Microsoft YaHei"/>
              </a:rPr>
              <a:t>▪ 目标：少接触、少暴露；也关注心理压力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管理控制是生物风险管理的基石，要在设计建设设施之前，就以安全手册和管理制度的形式定下来。它包括书面的政策、规则、工作安排、培训和记录，一切都要白纸黑字，检查时要看记录。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先建好实验室，再临时补制度</a:t>
            </a:r>
          </a:p>
          <a:p>
            <a:pPr>
              <a:spcAft>
                <a:spcPts val="1000"/>
              </a:spcAft>
            </a:pPr>
            <a:r>
              <a:rPr sz="1500">
                <a:solidFill>
                  <a:srgbClr val="222B33"/>
                </a:solidFill>
                <a:latin typeface="Microsoft YaHei"/>
              </a:rPr>
              <a:t>▪ 制度只口头传达，没有书面文件和记录</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依法依规：外部要求与内部制度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订制度前，先把国内法规查清楚</a:t>
            </a:r>
          </a:p>
          <a:p>
            <a:pPr>
              <a:spcAft>
                <a:spcPts val="1000"/>
              </a:spcAft>
            </a:pPr>
            <a:r>
              <a:rPr sz="2000">
                <a:solidFill>
                  <a:srgbClr val="222B33"/>
                </a:solidFill>
                <a:latin typeface="Microsoft YaHei"/>
              </a:rPr>
              <a:t>▪ 内部制度必须放在法律框架里</a:t>
            </a:r>
          </a:p>
          <a:p>
            <a:pPr>
              <a:spcAft>
                <a:spcPts val="1000"/>
              </a:spcAft>
            </a:pPr>
            <a:r>
              <a:rPr sz="2000">
                <a:solidFill>
                  <a:srgbClr val="222B33"/>
                </a:solidFill>
                <a:latin typeface="Microsoft YaHei"/>
              </a:rPr>
              <a:t>▪ 不能说不知道，拿不准请人把关</a:t>
            </a:r>
          </a:p>
          <a:p>
            <a:pPr>
              <a:spcAft>
                <a:spcPts val="1000"/>
              </a:spcAft>
            </a:pPr>
            <a:r>
              <a:rPr sz="2000">
                <a:solidFill>
                  <a:srgbClr val="222B33"/>
                </a:solidFill>
                <a:latin typeface="Microsoft YaHei"/>
              </a:rPr>
              <a:t>▪ 领导支持，人人对自己的事负责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外部要求来自单位以外：国家法律法规、国家标准和行业标准，以及地方规定（例如排水、废物处置的地方要求）；国际指南只作参考。订制度前要把国内法规查清楚，职业健康、转基因生物安全等方面尤其要注意（转基因见第 081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照搬国外手册的规定，不查国内法规</a:t>
            </a:r>
          </a:p>
          <a:p>
            <a:pPr>
              <a:spcAft>
                <a:spcPts val="1000"/>
              </a:spcAft>
            </a:pPr>
            <a:r>
              <a:rPr sz="1500">
                <a:solidFill>
                  <a:srgbClr val="222B33"/>
                </a:solidFill>
                <a:latin typeface="Microsoft YaHei"/>
              </a:rPr>
              <a:t>▪ 实验室自定的规定与学校制度、国家法规冲突</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操作规程：写你所做，做你所写</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写你所做，做你所写，规程和记录一致</a:t>
            </a:r>
          </a:p>
          <a:p>
            <a:pPr>
              <a:spcAft>
                <a:spcPts val="1000"/>
              </a:spcAft>
            </a:pPr>
            <a:r>
              <a:rPr sz="2000">
                <a:solidFill>
                  <a:srgbClr val="222B33"/>
                </a:solidFill>
                <a:latin typeface="Microsoft YaHei"/>
              </a:rPr>
              <a:t>▪ 照规程一步不省，规程本身也要验证</a:t>
            </a:r>
          </a:p>
          <a:p>
            <a:pPr>
              <a:spcAft>
                <a:spcPts val="1000"/>
              </a:spcAft>
            </a:pPr>
            <a:r>
              <a:rPr sz="2000">
                <a:solidFill>
                  <a:srgbClr val="222B33"/>
                </a:solidFill>
                <a:latin typeface="Microsoft YaHei"/>
              </a:rPr>
              <a:t>▪ 规程写清应急：先处置，再逐级上报</a:t>
            </a:r>
          </a:p>
          <a:p>
            <a:pPr>
              <a:spcAft>
                <a:spcPts val="1000"/>
              </a:spcAft>
            </a:pPr>
            <a:r>
              <a:rPr sz="2000">
                <a:solidFill>
                  <a:srgbClr val="222B33"/>
                </a:solidFill>
                <a:latin typeface="Microsoft YaHei"/>
              </a:rPr>
              <a:t>▪ 电子记录要备份，纸质记录要归档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标准操作规程的通用原则是“写你所做，做你所写”：规程写的就是实际做的，实际做的就要和规程一致，记录也要与之相符。操作时严格按规程，一步都不能省；规程本身也要测试，确认管用。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规程写一套，实际做一套</a:t>
            </a:r>
          </a:p>
          <a:p>
            <a:pPr>
              <a:spcAft>
                <a:spcPts val="1000"/>
              </a:spcAft>
            </a:pPr>
            <a:r>
              <a:rPr sz="1500">
                <a:solidFill>
                  <a:srgbClr val="222B33"/>
                </a:solidFill>
                <a:latin typeface="Microsoft YaHei"/>
              </a:rPr>
              <a:t>▪ 规程里没有应急步骤</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核对表与情景意识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核对表和规程配套，边做边勾</a:t>
            </a:r>
          </a:p>
          <a:p>
            <a:pPr>
              <a:spcAft>
                <a:spcPts val="1000"/>
              </a:spcAft>
            </a:pPr>
            <a:r>
              <a:rPr sz="2000">
                <a:solidFill>
                  <a:srgbClr val="222B33"/>
                </a:solidFill>
                <a:latin typeface="Microsoft YaHei"/>
              </a:rPr>
              <a:t>▪ 累了容易出错，长流程要轮班</a:t>
            </a:r>
          </a:p>
          <a:p>
            <a:pPr>
              <a:spcAft>
                <a:spcPts val="1000"/>
              </a:spcAft>
            </a:pPr>
            <a:r>
              <a:rPr sz="2000">
                <a:solidFill>
                  <a:srgbClr val="222B33"/>
                </a:solidFill>
                <a:latin typeface="Microsoft YaHei"/>
              </a:rPr>
              <a:t>▪ 可以自查，也可以同伴互查</a:t>
            </a:r>
          </a:p>
          <a:p>
            <a:pPr>
              <a:spcAft>
                <a:spcPts val="1000"/>
              </a:spcAft>
            </a:pPr>
            <a:r>
              <a:rPr sz="2000">
                <a:solidFill>
                  <a:srgbClr val="222B33"/>
                </a:solidFill>
                <a:latin typeface="Microsoft YaHei"/>
              </a:rPr>
              <a:t>▪ 核对表存档，检查审核要看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核对表和操作规程配套使用：边做边勾，保持情景意识，知道自己做到了哪一步。人累了容易出错，长流程要安排轮班或休息。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做完再凭记忆一次性补勾</a:t>
            </a:r>
          </a:p>
          <a:p>
            <a:pPr>
              <a:spcAft>
                <a:spcPts val="1000"/>
              </a:spcAft>
            </a:pPr>
            <a:r>
              <a:rPr sz="1500">
                <a:solidFill>
                  <a:srgbClr val="222B33"/>
                </a:solidFill>
                <a:latin typeface="Microsoft YaHei"/>
              </a:rPr>
              <a:t>▪ 连续长时间操作不休息</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准入、培训考核与承诺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上岗前看培训和实际操作能力</a:t>
            </a:r>
          </a:p>
          <a:p>
            <a:pPr>
              <a:spcAft>
                <a:spcPts val="1000"/>
              </a:spcAft>
            </a:pPr>
            <a:r>
              <a:rPr sz="2000">
                <a:solidFill>
                  <a:srgbClr val="222B33"/>
                </a:solidFill>
                <a:latin typeface="Microsoft YaHei"/>
              </a:rPr>
              <a:t>▪ 在本实验室考核，换地方要重新学</a:t>
            </a:r>
          </a:p>
          <a:p>
            <a:pPr>
              <a:spcAft>
                <a:spcPts val="1000"/>
              </a:spcAft>
            </a:pPr>
            <a:r>
              <a:rPr sz="2000">
                <a:solidFill>
                  <a:srgbClr val="222B33"/>
                </a:solidFill>
                <a:latin typeface="Microsoft YaHei"/>
              </a:rPr>
              <a:t>▪ 换任务、新设备、新规定，都要培训</a:t>
            </a:r>
          </a:p>
          <a:p>
            <a:pPr>
              <a:spcAft>
                <a:spcPts val="1000"/>
              </a:spcAft>
            </a:pPr>
            <a:r>
              <a:rPr sz="2000">
                <a:solidFill>
                  <a:srgbClr val="222B33"/>
                </a:solidFill>
                <a:latin typeface="Microsoft YaHei"/>
              </a:rPr>
              <a:t>▪ 评估结果人人知晓；签承诺，报告事故和险情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人员上岗前要看学历、培训经历、实际操作能力和相关经验，由单位考核合格后准入（准入与培训制度见第 007 课，以本校规定为准）。按能力分工；换任务、遇到新情况、来了新设备、出了新规定，都要培训。培训要在本实验室、结合实……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认为在别的实验室培训过，就可以直接上手</a:t>
            </a:r>
          </a:p>
          <a:p>
            <a:pPr>
              <a:spcAft>
                <a:spcPts val="1000"/>
              </a:spcAft>
            </a:pPr>
            <a:r>
              <a:rPr sz="1500">
                <a:solidFill>
                  <a:srgbClr val="222B33"/>
                </a:solidFill>
                <a:latin typeface="Microsoft YaHei"/>
              </a:rPr>
              <a:t>▪ 发生未遂事件觉得“没出事”，不报告</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标识写清危害和联系人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标识写清有什么危害</a:t>
            </a:r>
          </a:p>
          <a:p>
            <a:pPr>
              <a:spcAft>
                <a:spcPts val="1000"/>
              </a:spcAft>
            </a:pPr>
            <a:r>
              <a:rPr sz="2000">
                <a:solidFill>
                  <a:srgbClr val="222B33"/>
                </a:solidFill>
                <a:latin typeface="Microsoft YaHei"/>
              </a:rPr>
              <a:t>▪ 写明负责人和应急联系电话</a:t>
            </a:r>
          </a:p>
          <a:p>
            <a:pPr>
              <a:spcAft>
                <a:spcPts val="1000"/>
              </a:spcAft>
            </a:pPr>
            <a:r>
              <a:rPr sz="2000">
                <a:solidFill>
                  <a:srgbClr val="222B33"/>
                </a:solidFill>
                <a:latin typeface="Microsoft YaHei"/>
              </a:rPr>
              <a:t>▪ 有进入条件的要标明</a:t>
            </a:r>
          </a:p>
          <a:p>
            <a:pPr>
              <a:spcAft>
                <a:spcPts val="1000"/>
              </a:spcAft>
            </a:pPr>
            <a:r>
              <a:rPr sz="2000">
                <a:solidFill>
                  <a:srgbClr val="222B33"/>
                </a:solidFill>
                <a:latin typeface="Microsoft YaHei"/>
              </a:rPr>
              <a:t>▪ 感染风险高的人，不进相应区域</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门口的生物危害标志和安全信息牌要说清：有什么生物危害、防护级别、实验室负责人和应急联系电话。需要接种疫苗或佩戴呼吸防护才能进入的，要标明进入条件；免疫低下等感染风险高的人员，不进入相应区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信息牌上的负责人和电话多年不更新</a:t>
            </a:r>
          </a:p>
          <a:p>
            <a:pPr>
              <a:spcAft>
                <a:spcPts val="1000"/>
              </a:spcAft>
            </a:pPr>
            <a:r>
              <a:rPr sz="1500">
                <a:solidFill>
                  <a:srgbClr val="222B33"/>
                </a:solidFill>
                <a:latin typeface="Microsoft YaHei"/>
              </a:rPr>
              <a:t>▪ 未满足进入条件也进入实验区</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菌毒种和样本：清单台账，去向可查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管理从一本清单开始，变了就更新</a:t>
            </a:r>
          </a:p>
          <a:p>
            <a:pPr>
              <a:spcAft>
                <a:spcPts val="1000"/>
              </a:spcAft>
            </a:pPr>
            <a:r>
              <a:rPr sz="2000">
                <a:solidFill>
                  <a:srgbClr val="222B33"/>
                </a:solidFill>
                <a:latin typeface="Microsoft YaHei"/>
              </a:rPr>
              <a:t>▪ 专柜保存、专人负责，领用归还销毁都登记</a:t>
            </a:r>
          </a:p>
          <a:p>
            <a:pPr>
              <a:spcAft>
                <a:spcPts val="1000"/>
              </a:spcAft>
            </a:pPr>
            <a:r>
              <a:rPr sz="2000">
                <a:solidFill>
                  <a:srgbClr val="222B33"/>
                </a:solidFill>
                <a:latin typeface="Microsoft YaHei"/>
              </a:rPr>
              <a:t>▪ 不私自带出，不转送他人</a:t>
            </a:r>
          </a:p>
          <a:p>
            <a:pPr>
              <a:spcAft>
                <a:spcPts val="1000"/>
              </a:spcAft>
            </a:pPr>
            <a:r>
              <a:rPr sz="2000">
                <a:solidFill>
                  <a:srgbClr val="222B33"/>
                </a:solidFill>
                <a:latin typeface="Microsoft YaHei"/>
              </a:rPr>
              <a:t>▪ 用过的菌液先灭活；丢失被盗立即报告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管理从一本清单开始：有哪些菌种、毒种、样本、质粒、转基因材料和实验动物，做哪些实验，都登记清楚，变了就更新。台账写明存放位置、安保要求、领用和去向，来龙去脉随时查得到。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毕业时把菌种私自带走或送给别人</a:t>
            </a:r>
          </a:p>
          <a:p>
            <a:pPr>
              <a:spcAft>
                <a:spcPts val="1000"/>
              </a:spcAft>
            </a:pPr>
            <a:r>
              <a:rPr sz="1500">
                <a:solidFill>
                  <a:srgbClr val="222B33"/>
                </a:solidFill>
                <a:latin typeface="Microsoft YaHei"/>
              </a:rPr>
              <a:t>▪ 发现少了样本，自己找不到就不了了之</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医学监护：体检、健康档案、本底血清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上岗前体检，健康史和过敏要记录</a:t>
            </a:r>
          </a:p>
          <a:p>
            <a:pPr>
              <a:spcAft>
                <a:spcPts val="1000"/>
              </a:spcAft>
            </a:pPr>
            <a:r>
              <a:rPr sz="2000">
                <a:solidFill>
                  <a:srgbClr val="222B33"/>
                </a:solidFill>
                <a:latin typeface="Microsoft YaHei"/>
              </a:rPr>
              <a:t>▪ 必要时留本底血清，出事时好对照</a:t>
            </a:r>
          </a:p>
          <a:p>
            <a:pPr>
              <a:spcAft>
                <a:spcPts val="1000"/>
              </a:spcAft>
            </a:pPr>
            <a:r>
              <a:rPr sz="2000">
                <a:solidFill>
                  <a:srgbClr val="222B33"/>
                </a:solidFill>
                <a:latin typeface="Microsoft YaHei"/>
              </a:rPr>
              <a:t>▪ 工作前、中、后都要关注健康</a:t>
            </a:r>
          </a:p>
          <a:p>
            <a:pPr>
              <a:spcAft>
                <a:spcPts val="1000"/>
              </a:spcAft>
            </a:pPr>
            <a:r>
              <a:rPr sz="2000">
                <a:solidFill>
                  <a:srgbClr val="222B33"/>
                </a:solidFill>
                <a:latin typeface="Microsoft YaHei"/>
              </a:rPr>
              <a:t>▪ 暴露后的救治由单位负责安排</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处理病原微生物或临床样本前，按规定做上岗体检，健康史（如过敏）要记录；按风险评估和规定，必要时留存本底血清，以后需要时可比对，判断有没有在实验室里发生暴露。接触高致病性病原微生物的人员，按规定进行审查（以现行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认为体检是形式，随便应付</a:t>
            </a:r>
          </a:p>
          <a:p>
            <a:pPr>
              <a:spcAft>
                <a:spcPts val="1000"/>
              </a:spcAft>
            </a:pPr>
            <a:r>
              <a:rPr sz="1500">
                <a:solidFill>
                  <a:srgbClr val="222B33"/>
                </a:solidFill>
                <a:latin typeface="Microsoft YaHei"/>
              </a:rPr>
              <a:t>▪ 发生暴露后自己处理，不报告不就医</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按评估接种疫苗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有疫苗可用的，按评估要求接种</a:t>
            </a:r>
          </a:p>
          <a:p>
            <a:pPr>
              <a:spcAft>
                <a:spcPts val="1000"/>
              </a:spcAft>
            </a:pPr>
            <a:r>
              <a:rPr sz="2000">
                <a:solidFill>
                  <a:srgbClr val="222B33"/>
                </a:solidFill>
                <a:latin typeface="Microsoft YaHei"/>
              </a:rPr>
              <a:t>▪ 需要的，上岗前完成接种</a:t>
            </a:r>
          </a:p>
          <a:p>
            <a:pPr>
              <a:spcAft>
                <a:spcPts val="1000"/>
              </a:spcAft>
            </a:pPr>
            <a:r>
              <a:rPr sz="2000">
                <a:solidFill>
                  <a:srgbClr val="222B33"/>
                </a:solidFill>
                <a:latin typeface="Microsoft YaHei"/>
              </a:rPr>
              <a:t>▪ 打了疫苗，防护也不能少</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有的病原有疫苗可用。风险评估认为需要接种的，按要求在上岗前完成接种，并记入健康档案（具体接种项目以评估和本校规定为准）。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打了疫苗就不戴手套、不进安全柜操作</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生病就医，说明接触史</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实验后身体不适，及时就医</a:t>
            </a:r>
          </a:p>
          <a:p>
            <a:pPr>
              <a:spcAft>
                <a:spcPts val="1000"/>
              </a:spcAft>
            </a:pPr>
            <a:r>
              <a:rPr sz="2000">
                <a:solidFill>
                  <a:srgbClr val="222B33"/>
                </a:solidFill>
                <a:latin typeface="Microsoft YaHei"/>
              </a:rPr>
              <a:t>▪ 告诉医生在什么实验室、接触过什么</a:t>
            </a:r>
          </a:p>
          <a:p>
            <a:pPr>
              <a:spcAft>
                <a:spcPts val="1000"/>
              </a:spcAft>
            </a:pPr>
            <a:r>
              <a:rPr sz="2000">
                <a:solidFill>
                  <a:srgbClr val="222B33"/>
                </a:solidFill>
                <a:latin typeface="Microsoft YaHei"/>
              </a:rPr>
              <a:t>▪ 同时报告导师和实验室负责人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健康监测也落到每个人身上。做完实验后出现发热等身体不适，要及时就医，并主动告诉医生自己在什么实验室工作、接触过哪类微生物，便于医生及早判断。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身体不适时隐瞒实验室工作经历</a:t>
            </a:r>
          </a:p>
          <a:p>
            <a:pPr>
              <a:spcAft>
                <a:spcPts val="1000"/>
              </a:spcAft>
            </a:pPr>
            <a:r>
              <a:rPr sz="1500">
                <a:solidFill>
                  <a:srgbClr val="222B33"/>
                </a:solidFill>
                <a:latin typeface="Microsoft YaHei"/>
              </a:rPr>
              <a:t>▪ 生病只请假，不报告导师和负责人</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疑似实验室感染：调查与报告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组里几个人生病，要调查原因</a:t>
            </a:r>
          </a:p>
          <a:p>
            <a:pPr>
              <a:spcAft>
                <a:spcPts val="1000"/>
              </a:spcAft>
            </a:pPr>
            <a:r>
              <a:rPr sz="2000">
                <a:solidFill>
                  <a:srgbClr val="222B33"/>
                </a:solidFill>
                <a:latin typeface="Microsoft YaHei"/>
              </a:rPr>
              <a:t>▪ 查健康记录，也查工作记录</a:t>
            </a:r>
          </a:p>
          <a:p>
            <a:pPr>
              <a:spcAft>
                <a:spcPts val="1000"/>
              </a:spcAft>
            </a:pPr>
            <a:r>
              <a:rPr sz="2000">
                <a:solidFill>
                  <a:srgbClr val="222B33"/>
                </a:solidFill>
                <a:latin typeface="Microsoft YaHei"/>
              </a:rPr>
              <a:t>▪ 判断是实验室感染还是外面感染</a:t>
            </a:r>
          </a:p>
          <a:p>
            <a:pPr>
              <a:spcAft>
                <a:spcPts val="1000"/>
              </a:spcAft>
            </a:pPr>
            <a:r>
              <a:rPr sz="2000">
                <a:solidFill>
                  <a:srgbClr val="222B33"/>
                </a:solidFill>
                <a:latin typeface="Microsoft YaHei"/>
              </a:rPr>
              <a:t>▪ 与医务部门合作，按规定报告随访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个课题组里有好几人生病，而他们用过同一种生物因子，且这种因子外部环境中也存在：是在实验室里感染的，还是之前或在外面感染的？生物安全员要会调查，查健康记录（体检、本底血清），也查工作记录（谁在什么时间做了什么操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几人相继生病仍当作普通感冒，不调查不报告</a:t>
            </a:r>
          </a:p>
          <a:p>
            <a:pPr>
              <a:spcAft>
                <a:spcPts val="1000"/>
              </a:spcAft>
            </a:pPr>
            <a:r>
              <a:rPr sz="1500">
                <a:solidFill>
                  <a:srgbClr val="222B33"/>
                </a:solidFill>
                <a:latin typeface="Microsoft YaHei"/>
              </a:rPr>
              <a:t>▪ 只查病人，不查工作记录和操作环节</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生物毒素：专人专柜，用后灭活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生物来源的毒素，专人专柜保管</a:t>
            </a:r>
          </a:p>
          <a:p>
            <a:pPr>
              <a:spcAft>
                <a:spcPts val="1000"/>
              </a:spcAft>
            </a:pPr>
            <a:r>
              <a:rPr sz="2000">
                <a:solidFill>
                  <a:srgbClr val="222B33"/>
                </a:solidFill>
                <a:latin typeface="Microsoft YaHei"/>
              </a:rPr>
              <a:t>▪ 领用登记，双人复核</a:t>
            </a:r>
          </a:p>
          <a:p>
            <a:pPr>
              <a:spcAft>
                <a:spcPts val="1000"/>
              </a:spcAft>
            </a:pPr>
            <a:r>
              <a:rPr sz="2000">
                <a:solidFill>
                  <a:srgbClr val="222B33"/>
                </a:solidFill>
                <a:latin typeface="Microsoft YaHei"/>
              </a:rPr>
              <a:t>▪ 定期清点，数量要对得上</a:t>
            </a:r>
          </a:p>
          <a:p>
            <a:pPr>
              <a:spcAft>
                <a:spcPts val="1000"/>
              </a:spcAft>
            </a:pPr>
            <a:r>
              <a:rPr sz="2000">
                <a:solidFill>
                  <a:srgbClr val="222B33"/>
                </a:solidFill>
                <a:latin typeface="Microsoft YaHei"/>
              </a:rPr>
              <a:t>▪ 用完按规定灭活，再作废物处置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生物毒素是生物来源的有毒物质，可能少量就造成严重伤害，属于需要特别管理的材料。要专人专柜（加锁）保管，领用要登记、双人复核，定期清点数量，账物相符。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毒素和普通试剂混放，无人专管</a:t>
            </a:r>
          </a:p>
          <a:p>
            <a:pPr>
              <a:spcAft>
                <a:spcPts val="1000"/>
              </a:spcAft>
            </a:pPr>
            <a:r>
              <a:rPr sz="1500">
                <a:solidFill>
                  <a:srgbClr val="222B33"/>
                </a:solidFill>
                <a:latin typeface="Microsoft YaHei"/>
              </a:rPr>
              <a:t>▪ 用剩的毒素不灭活直接丢弃</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生物风险控制的五类措施，按层级从上到下是：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个人防护、管理、工程、替代、消除</a:t>
            </a:r>
          </a:p>
          <a:p>
            <a:pPr algn="l"/>
            <a:r>
              <a:rPr sz="1500" b="0">
                <a:solidFill>
                  <a:srgbClr val="222B33"/>
                </a:solidFill>
                <a:latin typeface="Microsoft YaHei"/>
              </a:rPr>
              <a:t>B. 消除、替代、工程控制、管理控制、个人防护</a:t>
            </a:r>
          </a:p>
          <a:p>
            <a:pPr algn="l"/>
            <a:r>
              <a:rPr sz="1500" b="0">
                <a:solidFill>
                  <a:srgbClr val="222B33"/>
                </a:solidFill>
                <a:latin typeface="Microsoft YaHei"/>
              </a:rPr>
              <a:t>C. 工程、消除、防护、替代、管理</a:t>
            </a:r>
          </a:p>
          <a:p>
            <a:pPr algn="l"/>
            <a:r>
              <a:rPr sz="1500" b="0">
                <a:solidFill>
                  <a:srgbClr val="222B33"/>
                </a:solidFill>
                <a:latin typeface="Microsoft YaHei"/>
              </a:rPr>
              <a:t>D. 只要个人防护即可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判断：实验室有了先进的生物安全柜，操作就可以不必严格按规程。</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下列关于菌毒种和样本管理的做法，正确的是：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毕业时带走自己分离的菌种</a:t>
            </a:r>
          </a:p>
          <a:p>
            <a:pPr algn="l"/>
            <a:r>
              <a:rPr sz="1500" b="0">
                <a:solidFill>
                  <a:srgbClr val="222B33"/>
                </a:solidFill>
                <a:latin typeface="Microsoft YaHei"/>
              </a:rPr>
              <a:t>B. 专柜保存、专人负责，领用归还销毁都登记，丢失立即报告负责人和保卫处</a:t>
            </a:r>
          </a:p>
          <a:p>
            <a:pPr algn="l"/>
            <a:r>
              <a:rPr sz="1500" b="0">
                <a:solidFill>
                  <a:srgbClr val="222B33"/>
                </a:solidFill>
                <a:latin typeface="Microsoft YaHei"/>
              </a:rPr>
              <a:t>C. 用过的菌液直接倒进水槽</a:t>
            </a:r>
          </a:p>
          <a:p>
            <a:pPr algn="l"/>
            <a:r>
              <a:rPr sz="1500" b="0">
                <a:solidFill>
                  <a:srgbClr val="222B33"/>
                </a:solidFill>
                <a:latin typeface="Microsoft YaHei"/>
              </a:rPr>
              <a:t>D. 把菌种转送给外校同学</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判断：已经接种了相应疫苗，就可以不戴手套、不在安全柜内操作。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069 · 生物风险控制与管理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069 生物风险控制与管理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做完实验后发热去医院，应该：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只说感冒了</a:t>
            </a:r>
          </a:p>
          <a:p>
            <a:pPr algn="l"/>
            <a:r>
              <a:rPr sz="1500" b="0">
                <a:solidFill>
                  <a:srgbClr val="222B33"/>
                </a:solidFill>
                <a:latin typeface="Microsoft YaHei"/>
              </a:rPr>
              <a:t>B. 告诉医生自己在什么实验室、接触过哪类微生物，并报告导师和实验室负责人</a:t>
            </a:r>
          </a:p>
          <a:p>
            <a:pPr algn="l"/>
            <a:r>
              <a:rPr sz="1500" b="0">
                <a:solidFill>
                  <a:srgbClr val="222B33"/>
                </a:solidFill>
                <a:latin typeface="Microsoft YaHei"/>
              </a:rPr>
              <a:t>C. 自己吃药不报告</a:t>
            </a:r>
          </a:p>
          <a:p>
            <a:pPr algn="l"/>
            <a:r>
              <a:rPr sz="1500" b="0">
                <a:solidFill>
                  <a:srgbClr val="222B33"/>
                </a:solidFill>
                <a:latin typeface="Microsoft YaHei"/>
              </a:rPr>
              <a:t>D. 等好了再说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简答：生物毒素应如何管理？</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评估是提问，减缓才降险</a:t>
            </a:r>
          </a:p>
          <a:p>
            <a:pPr>
              <a:spcAft>
                <a:spcPts val="800"/>
              </a:spcAft>
            </a:pPr>
            <a:r>
              <a:rPr sz="1500">
                <a:solidFill>
                  <a:srgbClr val="FFFFFF"/>
                </a:solidFill>
                <a:latin typeface="Microsoft YaHei"/>
              </a:rPr>
              <a:t>▪ K2  五类控制，按层级从上往下选</a:t>
            </a:r>
          </a:p>
          <a:p>
            <a:pPr>
              <a:spcAft>
                <a:spcPts val="800"/>
              </a:spcAft>
            </a:pPr>
            <a:r>
              <a:rPr sz="1500">
                <a:solidFill>
                  <a:srgbClr val="FFFFFF"/>
                </a:solidFill>
                <a:latin typeface="Microsoft YaHei"/>
              </a:rPr>
              <a:t>▪ K3  消除：风险太大就不做</a:t>
            </a:r>
          </a:p>
          <a:p>
            <a:pPr>
              <a:spcAft>
                <a:spcPts val="800"/>
              </a:spcAft>
            </a:pPr>
            <a:r>
              <a:rPr sz="1500">
                <a:solidFill>
                  <a:srgbClr val="FFFFFF"/>
                </a:solidFill>
                <a:latin typeface="Microsoft YaHei"/>
              </a:rPr>
              <a:t>▪ K4  替代：换成风险更低的</a:t>
            </a:r>
          </a:p>
          <a:p>
            <a:pPr>
              <a:spcAft>
                <a:spcPts val="800"/>
              </a:spcAft>
            </a:pPr>
            <a:r>
              <a:rPr sz="1500">
                <a:solidFill>
                  <a:srgbClr val="FFFFFF"/>
                </a:solidFill>
                <a:latin typeface="Microsoft YaHei"/>
              </a:rPr>
              <a:t>▪ K5  工程控制：把病原关住</a:t>
            </a:r>
          </a:p>
          <a:p>
            <a:pPr>
              <a:spcAft>
                <a:spcPts val="800"/>
              </a:spcAft>
            </a:pPr>
            <a:r>
              <a:rPr sz="1500">
                <a:solidFill>
                  <a:srgbClr val="FFFFFF"/>
                </a:solidFill>
                <a:latin typeface="Microsoft YaHei"/>
              </a:rPr>
              <a:t>▪ K6  个人防护：最后一道防线</a:t>
            </a:r>
          </a:p>
          <a:p>
            <a:pPr>
              <a:spcAft>
                <a:spcPts val="800"/>
              </a:spcAft>
            </a:pPr>
            <a:r>
              <a:rPr sz="1500">
                <a:solidFill>
                  <a:srgbClr val="FFFFFF"/>
                </a:solidFill>
                <a:latin typeface="Microsoft YaHei"/>
              </a:rPr>
              <a:t>▪ K7  控制要并用，互相补位</a:t>
            </a:r>
          </a:p>
          <a:p>
            <a:pPr>
              <a:spcAft>
                <a:spcPts val="800"/>
              </a:spcAft>
            </a:pPr>
            <a:r>
              <a:rPr sz="1500">
                <a:solidFill>
                  <a:srgbClr val="FFFFFF"/>
                </a:solidFill>
                <a:latin typeface="Microsoft YaHei"/>
              </a:rPr>
              <a:t>▪ K8  每步问五个问题，汇成措施表</a:t>
            </a:r>
          </a:p>
          <a:p>
            <a:pPr>
              <a:spcAft>
                <a:spcPts val="800"/>
              </a:spcAft>
            </a:pPr>
            <a:r>
              <a:rPr sz="1500">
                <a:solidFill>
                  <a:srgbClr val="FFFFFF"/>
                </a:solidFill>
                <a:latin typeface="Microsoft YaHei"/>
              </a:rPr>
              <a:t>▪ K9  管理控制：白纸黑字，先于设施</a:t>
            </a:r>
          </a:p>
          <a:p>
            <a:pPr>
              <a:spcAft>
                <a:spcPts val="800"/>
              </a:spcAft>
            </a:pPr>
            <a:r>
              <a:rPr sz="1500">
                <a:solidFill>
                  <a:srgbClr val="FFFFFF"/>
                </a:solidFill>
                <a:latin typeface="Microsoft YaHei"/>
              </a:rPr>
              <a:t>▪ K10  依法依规：外部要求与内部制度</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K11  操作规程：写你所做，做你所写</a:t>
            </a:r>
          </a:p>
          <a:p>
            <a:pPr>
              <a:spcAft>
                <a:spcPts val="800"/>
              </a:spcAft>
            </a:pPr>
            <a:r>
              <a:rPr sz="1500">
                <a:solidFill>
                  <a:srgbClr val="FFFFFF"/>
                </a:solidFill>
                <a:latin typeface="Microsoft YaHei"/>
              </a:rPr>
              <a:t>▪ K12  核对表与情景意识</a:t>
            </a:r>
          </a:p>
          <a:p>
            <a:pPr>
              <a:spcAft>
                <a:spcPts val="800"/>
              </a:spcAft>
            </a:pPr>
            <a:r>
              <a:rPr sz="1500">
                <a:solidFill>
                  <a:srgbClr val="FFFFFF"/>
                </a:solidFill>
                <a:latin typeface="Microsoft YaHei"/>
              </a:rPr>
              <a:t>▪ K13  准入、培训考核与承诺</a:t>
            </a:r>
          </a:p>
          <a:p>
            <a:pPr>
              <a:spcAft>
                <a:spcPts val="800"/>
              </a:spcAft>
            </a:pPr>
            <a:r>
              <a:rPr sz="1500">
                <a:solidFill>
                  <a:srgbClr val="FFFFFF"/>
                </a:solidFill>
                <a:latin typeface="Microsoft YaHei"/>
              </a:rPr>
              <a:t>▪ K14  标识写清危害和联系人</a:t>
            </a:r>
          </a:p>
          <a:p>
            <a:pPr>
              <a:spcAft>
                <a:spcPts val="800"/>
              </a:spcAft>
            </a:pPr>
            <a:r>
              <a:rPr sz="1500">
                <a:solidFill>
                  <a:srgbClr val="FFFFFF"/>
                </a:solidFill>
                <a:latin typeface="Microsoft YaHei"/>
              </a:rPr>
              <a:t>▪ K15  菌毒种和样本：清单台账，去向可查</a:t>
            </a:r>
          </a:p>
          <a:p>
            <a:pPr>
              <a:spcAft>
                <a:spcPts val="800"/>
              </a:spcAft>
            </a:pPr>
            <a:r>
              <a:rPr sz="1500">
                <a:solidFill>
                  <a:srgbClr val="FFFFFF"/>
                </a:solidFill>
                <a:latin typeface="Microsoft YaHei"/>
              </a:rPr>
              <a:t>▪ K16  医学监护：体检、健康档案、本底血清</a:t>
            </a:r>
          </a:p>
          <a:p>
            <a:pPr>
              <a:spcAft>
                <a:spcPts val="800"/>
              </a:spcAft>
            </a:pPr>
            <a:r>
              <a:rPr sz="1500">
                <a:solidFill>
                  <a:srgbClr val="FFFFFF"/>
                </a:solidFill>
                <a:latin typeface="Microsoft YaHei"/>
              </a:rPr>
              <a:t>▪ K17  按评估接种疫苗</a:t>
            </a:r>
          </a:p>
          <a:p>
            <a:pPr>
              <a:spcAft>
                <a:spcPts val="800"/>
              </a:spcAft>
            </a:pPr>
            <a:r>
              <a:rPr sz="1500">
                <a:solidFill>
                  <a:srgbClr val="FFFFFF"/>
                </a:solidFill>
                <a:latin typeface="Microsoft YaHei"/>
              </a:rPr>
              <a:t>▪ K18  生病就医，说明接触史</a:t>
            </a:r>
          </a:p>
          <a:p>
            <a:pPr>
              <a:spcAft>
                <a:spcPts val="800"/>
              </a:spcAft>
            </a:pPr>
            <a:r>
              <a:rPr sz="1500">
                <a:solidFill>
                  <a:srgbClr val="FFFFFF"/>
                </a:solidFill>
                <a:latin typeface="Microsoft YaHei"/>
              </a:rPr>
              <a:t>▪ K19  疑似实验室感染：调查与报告</a:t>
            </a:r>
          </a:p>
          <a:p>
            <a:pPr>
              <a:spcAft>
                <a:spcPts val="800"/>
              </a:spcAft>
            </a:pPr>
            <a:r>
              <a:rPr sz="1500">
                <a:solidFill>
                  <a:srgbClr val="FFFFFF"/>
                </a:solidFill>
                <a:latin typeface="Microsoft YaHei"/>
              </a:rPr>
              <a:t>▪ K20  生物毒素：专人专柜，用后灭活</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070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生物安全组织与负责人</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83 镜）　适用对象：进入生命科学、医学、农学、环境等涉及生物材料实验室的高校本科生、研究生和教职工（必修）；实验室负责人、项目负责人、生物安全员和设施管理人员重点学习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能说出高校生物安全的组织架构：三级管理、单位生物安全委员会、实验室负责人（第一责任人）、生物安全员、设施经理和项目负责人。</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能说出生物安全委员会、生物安全员、设施经理、项目负责人各自的职责与权限，知道安全员有权制止违规、必要时叫停。</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能说出书面生物安全政策和生物安全手册的要求：政策具体可落实，手册依国内法规编写、只写本实验室、与设施同步建立。</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能做到新实验先经评估和审批再开展，服从安全员监督，出事按“实验室负责人→学院→保卫处/实验室管理部门”逐级报告。</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《中华人民共和国生物安全法》（以现行文本为准）：病原微生物实验室设立单位负责实验室生物安全管理，制定并落实管理制度</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设立单位及其主管部门负责实验室日常活动的管理，实验室负责人为实验室生物安全的第一责任人；一级、二级实验室备案，三级、四级实验室认可，高致病性病原微生物实验活动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生物安全通用要求》：管理责任、生物安全委员会、安全负责人（有权制止不安全行为）、管理体系文件（政策、手册、程序文件）</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233（以现行文本为准）《病原微生物实验室生物安全通用准则》：实验室生物安全管理组织和人员职责</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《中华人民共和国生物安全法》《农业转基因生物安全管理条例》（以现行文本为准）：转基因研究的评估与审查（详见第 081 课）</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号，以现行文本为准）：学校—学院—实验室三级管理，实验室负责人第一责任，安全信息牌</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本校实验室生物安全委员会章程、实验室生物安全管理办法和生物安全手册（以本校规定为准）</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三级管理：生物安全靠组织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学校、学院、实验室三级管理</a:t>
            </a:r>
          </a:p>
          <a:p>
            <a:pPr>
              <a:spcAft>
                <a:spcPts val="1000"/>
              </a:spcAft>
            </a:pPr>
            <a:r>
              <a:rPr sz="1700">
                <a:solidFill>
                  <a:srgbClr val="222B33"/>
                </a:solidFill>
                <a:latin typeface="Microsoft YaHei"/>
              </a:rPr>
              <a:t>▪ 实验室负责人是第一责任人</a:t>
            </a:r>
          </a:p>
          <a:p>
            <a:pPr>
              <a:spcAft>
                <a:spcPts val="1000"/>
              </a:spcAft>
            </a:pPr>
            <a:r>
              <a:rPr sz="1700">
                <a:solidFill>
                  <a:srgbClr val="222B33"/>
                </a:solidFill>
                <a:latin typeface="Microsoft YaHei"/>
              </a:rPr>
              <a:t>▪ 上层决策，中间把关，下层执行</a:t>
            </a:r>
          </a:p>
          <a:p>
            <a:pPr>
              <a:spcAft>
                <a:spcPts val="1000"/>
              </a:spcAft>
            </a:pPr>
            <a:r>
              <a:rPr sz="1700">
                <a:solidFill>
                  <a:srgbClr val="222B33"/>
                </a:solidFill>
                <a:latin typeface="Microsoft YaHei"/>
              </a:rPr>
              <a:t>▪ 工程、保卫、健康、动物管理都参与</a:t>
            </a:r>
          </a:p>
          <a:p>
            <a:pPr>
              <a:spcAft>
                <a:spcPts val="1000"/>
              </a:spcAft>
            </a:pPr>
            <a:r>
              <a:rPr sz="1700">
                <a:solidFill>
                  <a:srgbClr val="222B33"/>
                </a:solidFill>
                <a:latin typeface="Microsoft YaHei"/>
              </a:rPr>
              <a:t>▪ 体系里最关键的是人，培训要持续</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一个生物安全实验室能否安全运行，首先看组织：谁决策、谁把关、谁执行。高校实行学校—学院—实验室三级管理（通用讲法见第 004 课），实验室负责人是本实验室生物安全的第一责任人。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认为生物安全只是安全员一个人的事</a:t>
            </a:r>
          </a:p>
          <a:p>
            <a:pPr>
              <a:spcAft>
                <a:spcPts val="1000"/>
              </a:spcAft>
            </a:pPr>
            <a:r>
              <a:rPr sz="1500">
                <a:solidFill>
                  <a:srgbClr val="222B33"/>
                </a:solidFill>
                <a:latin typeface="Microsoft YaHei"/>
              </a:rPr>
              <a:t>▪ 培训考过一次就一劳永逸</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生物安全委员会：定政策、审项目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单位设生物安全委员会，成员有管理和专家</a:t>
            </a:r>
          </a:p>
          <a:p>
            <a:pPr>
              <a:spcAft>
                <a:spcPts val="1000"/>
              </a:spcAft>
            </a:pPr>
            <a:r>
              <a:rPr sz="1700">
                <a:solidFill>
                  <a:srgbClr val="222B33"/>
                </a:solidFill>
                <a:latin typeface="Microsoft YaHei"/>
              </a:rPr>
              <a:t>▪ 制定实验室生物安全政策</a:t>
            </a:r>
          </a:p>
          <a:p>
            <a:pPr>
              <a:spcAft>
                <a:spcPts val="1000"/>
              </a:spcAft>
            </a:pPr>
            <a:r>
              <a:rPr sz="1700">
                <a:solidFill>
                  <a:srgbClr val="222B33"/>
                </a:solidFill>
                <a:latin typeface="Microsoft YaHei"/>
              </a:rPr>
              <a:t>▪ 新课题、改方法，先评估再审查</a:t>
            </a:r>
          </a:p>
          <a:p>
            <a:pPr>
              <a:spcAft>
                <a:spcPts val="1000"/>
              </a:spcAft>
            </a:pPr>
            <a:r>
              <a:rPr sz="1700">
                <a:solidFill>
                  <a:srgbClr val="222B33"/>
                </a:solidFill>
                <a:latin typeface="Microsoft YaHei"/>
              </a:rPr>
              <a:t>▪ 一二级备案，三四级认可，高致病须批准</a:t>
            </a:r>
          </a:p>
          <a:p>
            <a:pPr>
              <a:spcAft>
                <a:spcPts val="1000"/>
              </a:spcAft>
            </a:pPr>
            <a:r>
              <a:rPr sz="1700">
                <a:solidFill>
                  <a:srgbClr val="222B33"/>
                </a:solidFill>
                <a:latin typeface="Microsoft YaHei"/>
              </a:rPr>
              <a:t>▪ 学生不得自己做主，更不能自己定级</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高校、科研院所和医院一般都设有单位生物安全委员会，成员包括管理人员和生物安全、微生物、医学、工程等方面的技术专家。委员会位于组织的顶端，制定本单位、本实验室的生物安全政策，并通过设施经理、生物安全员和相关职能部门监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方案改了一步，觉得不必再报</a:t>
            </a:r>
          </a:p>
          <a:p>
            <a:pPr>
              <a:spcAft>
                <a:spcPts val="1000"/>
              </a:spcAft>
            </a:pPr>
            <a:r>
              <a:rPr sz="1500">
                <a:solidFill>
                  <a:srgbClr val="222B33"/>
                </a:solidFill>
                <a:latin typeface="Microsoft YaHei"/>
              </a:rPr>
              <a:t>▪ 学生自行判断"风险不大"就开工</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设施经理：管设施运行与抢修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设施经理应是合格的工程师</a:t>
            </a:r>
          </a:p>
          <a:p>
            <a:pPr>
              <a:spcAft>
                <a:spcPts val="1000"/>
              </a:spcAft>
            </a:pPr>
            <a:r>
              <a:rPr sz="2000">
                <a:solidFill>
                  <a:srgbClr val="222B33"/>
                </a:solidFill>
                <a:latin typeface="Microsoft YaHei"/>
              </a:rPr>
              <a:t>▪ 管电、风、空调运行和日常维护</a:t>
            </a:r>
          </a:p>
          <a:p>
            <a:pPr>
              <a:spcAft>
                <a:spcPts val="1000"/>
              </a:spcAft>
            </a:pPr>
            <a:r>
              <a:rPr sz="2000">
                <a:solidFill>
                  <a:srgbClr val="222B33"/>
                </a:solidFill>
                <a:latin typeface="Microsoft YaHei"/>
              </a:rPr>
              <a:t>▪ 设备出故障，由他组织抢修</a:t>
            </a:r>
          </a:p>
          <a:p>
            <a:pPr>
              <a:spcAft>
                <a:spcPts val="1000"/>
              </a:spcAft>
            </a:pPr>
            <a:r>
              <a:rPr sz="2000">
                <a:solidFill>
                  <a:srgbClr val="222B33"/>
                </a:solidFill>
                <a:latin typeface="Microsoft YaHei"/>
              </a:rPr>
              <a:t>▪ 工程出身，也要懂生物安全规程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设施经理（设施工程师）负责生物安全实验室的"硬件"：供电、通风和定向气流、空调、给排水、高压灭菌器等设施设备的运行和日常维护，设备出故障时组织抢修。他应当是合格的工程技术人员。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维修人员不经消毒和防护直接进入防护区</a:t>
            </a:r>
          </a:p>
          <a:p>
            <a:pPr>
              <a:spcAft>
                <a:spcPts val="1000"/>
              </a:spcAft>
            </a:pPr>
            <a:r>
              <a:rPr sz="1500">
                <a:solidFill>
                  <a:srgbClr val="222B33"/>
                </a:solidFill>
                <a:latin typeface="Microsoft YaHei"/>
              </a:rPr>
              <a:t>▪ 设施故障自行处理，不通知设施管理人员</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生物安全员：评估、控制、监督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把单位政策落到每间实验室</a:t>
            </a:r>
          </a:p>
          <a:p>
            <a:pPr>
              <a:spcAft>
                <a:spcPts val="1000"/>
              </a:spcAft>
            </a:pPr>
            <a:r>
              <a:rPr sz="1700">
                <a:solidFill>
                  <a:srgbClr val="222B33"/>
                </a:solidFill>
                <a:latin typeface="Microsoft YaHei"/>
              </a:rPr>
              <a:t>▪ 评估风险，落实控制，检查成效</a:t>
            </a:r>
          </a:p>
          <a:p>
            <a:pPr>
              <a:spcAft>
                <a:spcPts val="1000"/>
              </a:spcAft>
            </a:pPr>
            <a:r>
              <a:rPr sz="1700">
                <a:solidFill>
                  <a:srgbClr val="222B33"/>
                </a:solidFill>
                <a:latin typeface="Microsoft YaHei"/>
              </a:rPr>
              <a:t>▪ 在现场有权监督日常运行</a:t>
            </a:r>
          </a:p>
          <a:p>
            <a:pPr>
              <a:spcAft>
                <a:spcPts val="1000"/>
              </a:spcAft>
            </a:pPr>
            <a:r>
              <a:rPr sz="1700">
                <a:solidFill>
                  <a:srgbClr val="222B33"/>
                </a:solidFill>
                <a:latin typeface="Microsoft YaHei"/>
              </a:rPr>
              <a:t>▪ 发现违规或防护破坏，有权制止</a:t>
            </a:r>
          </a:p>
          <a:p>
            <a:pPr>
              <a:spcAft>
                <a:spcPts val="1000"/>
              </a:spcAft>
            </a:pPr>
            <a:r>
              <a:rPr sz="1700">
                <a:solidFill>
                  <a:srgbClr val="222B33"/>
                </a:solidFill>
                <a:latin typeface="Microsoft YaHei"/>
              </a:rPr>
              <a:t>▪ 叫法可能不同，职责相同</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生物安全员（有的单位称生物安全负责人、安全监督员）是生物安全体系中"人"的关键一环：读懂单位的生物安全政策，并把它落实到每一间实验室。他应受过专门培训，懂生物学、懂法规、也懂操作。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把安全员当成"挑刺的"，敷衍应付检查</a:t>
            </a:r>
          </a:p>
          <a:p>
            <a:pPr>
              <a:spcAft>
                <a:spcPts val="1000"/>
              </a:spcAft>
            </a:pPr>
            <a:r>
              <a:rPr sz="1500">
                <a:solidFill>
                  <a:srgbClr val="222B33"/>
                </a:solidFill>
                <a:latin typeface="Microsoft YaHei"/>
              </a:rPr>
              <a:t>▪ 安全员只管纸面材料，不到现场</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责任三层含义：有事管、可问责、能拍板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第一层：分内的事必须去管</a:t>
            </a:r>
          </a:p>
          <a:p>
            <a:pPr>
              <a:spcAft>
                <a:spcPts val="1000"/>
              </a:spcAft>
            </a:pPr>
            <a:r>
              <a:rPr sz="2000">
                <a:solidFill>
                  <a:srgbClr val="222B33"/>
                </a:solidFill>
                <a:latin typeface="Microsoft YaHei"/>
              </a:rPr>
              <a:t>▪ 第二层：能问责，做了什么靠记录说话</a:t>
            </a:r>
          </a:p>
          <a:p>
            <a:pPr>
              <a:spcAft>
                <a:spcPts val="1000"/>
              </a:spcAft>
            </a:pPr>
            <a:r>
              <a:rPr sz="2000">
                <a:solidFill>
                  <a:srgbClr val="222B33"/>
                </a:solidFill>
                <a:latin typeface="Microsoft YaHei"/>
              </a:rPr>
              <a:t>▪ 第三层：有授权，必要时独立叫停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负责"有三层含义：一是职责，分内的事必须去管，不能推；二是问责，做了什么、怎么做的，要负得起责，而这要靠完整的记录来证明；三是授权，安全员要有独立决定的权力，发现严重风险时能够叫停实验，而不必等待层层批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只有职责、没有授权，发现问题叫不停</a:t>
            </a:r>
          </a:p>
          <a:p>
            <a:pPr>
              <a:spcAft>
                <a:spcPts val="1000"/>
              </a:spcAft>
            </a:pPr>
            <a:r>
              <a:rPr sz="1500">
                <a:solidFill>
                  <a:srgbClr val="222B33"/>
                </a:solidFill>
                <a:latin typeface="Microsoft YaHei"/>
              </a:rPr>
              <a:t>▪ 工作不留记录，出了事说不清</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项目负责人：对自己的实验负责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项目负责人对实验本身负责</a:t>
            </a:r>
          </a:p>
          <a:p>
            <a:pPr>
              <a:spcAft>
                <a:spcPts val="1000"/>
              </a:spcAft>
            </a:pPr>
            <a:r>
              <a:rPr sz="2000">
                <a:solidFill>
                  <a:srgbClr val="222B33"/>
                </a:solidFill>
                <a:latin typeface="Microsoft YaHei"/>
              </a:rPr>
              <a:t>▪ 具体病原怎么防，由他定措施</a:t>
            </a:r>
          </a:p>
          <a:p>
            <a:pPr>
              <a:spcAft>
                <a:spcPts val="1000"/>
              </a:spcAft>
            </a:pPr>
            <a:r>
              <a:rPr sz="2000">
                <a:solidFill>
                  <a:srgbClr val="222B33"/>
                </a:solidFill>
                <a:latin typeface="Microsoft YaHei"/>
              </a:rPr>
              <a:t>▪ 带好团队，培训到位，监督落实</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项目负责人（课题负责人、导师）最了解自己的实验：用什么病原或材料、做哪些操作、风险在哪里。因此，具体的防护措施由项目负责人在风险评估基础上提出，经委员会审查后落实。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导师只管科研进度，把安全全推给安全员</a:t>
            </a:r>
          </a:p>
          <a:p>
            <a:pPr>
              <a:spcAft>
                <a:spcPts val="1000"/>
              </a:spcAft>
            </a:pPr>
            <a:r>
              <a:rPr sz="1500">
                <a:solidFill>
                  <a:srgbClr val="222B33"/>
                </a:solidFill>
                <a:latin typeface="Microsoft YaHei"/>
              </a:rPr>
              <a:t>▪ 学生没培训就让上手做病原实验</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各管一摊，协同一致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委员会统全局，设施经理管设施</a:t>
            </a:r>
          </a:p>
          <a:p>
            <a:pPr>
              <a:spcAft>
                <a:spcPts val="1000"/>
              </a:spcAft>
            </a:pPr>
            <a:r>
              <a:rPr sz="2000">
                <a:solidFill>
                  <a:srgbClr val="222B33"/>
                </a:solidFill>
                <a:latin typeface="Microsoft YaHei"/>
              </a:rPr>
              <a:t>▪ 安全员管评估检查，负责人管实验</a:t>
            </a:r>
          </a:p>
          <a:p>
            <a:pPr>
              <a:spcAft>
                <a:spcPts val="1000"/>
              </a:spcAft>
            </a:pPr>
            <a:r>
              <a:rPr sz="2000">
                <a:solidFill>
                  <a:srgbClr val="222B33"/>
                </a:solidFill>
                <a:latin typeface="Microsoft YaHei"/>
              </a:rPr>
              <a:t>▪ 各方互相配合，步调一致</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合起来看：生物安全委员会统管全局，设施经理保证设施设备正常运转，生物安全员负责评估、控制和检查，项目负责人对实验本身负责。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各方互不通气，设施检修时实验照常进行</a:t>
            </a:r>
          </a:p>
          <a:p>
            <a:pPr>
              <a:spcAft>
                <a:spcPts val="1000"/>
              </a:spcAft>
            </a:pPr>
            <a:r>
              <a:rPr sz="1500">
                <a:solidFill>
                  <a:srgbClr val="222B33"/>
                </a:solidFill>
                <a:latin typeface="Microsoft YaHei"/>
              </a:rPr>
              <a:t>▪ 出了问题互相推诿</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安全员要懂生物，会评估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懂微生物学、细胞生物学和生物技术</a:t>
            </a:r>
          </a:p>
          <a:p>
            <a:pPr>
              <a:spcAft>
                <a:spcPts val="1000"/>
              </a:spcAft>
            </a:pPr>
            <a:r>
              <a:rPr sz="1700">
                <a:solidFill>
                  <a:srgbClr val="222B33"/>
                </a:solidFill>
                <a:latin typeface="Microsoft YaHei"/>
              </a:rPr>
              <a:t>▪ 先问：什么病原、第几类、几级实验室</a:t>
            </a:r>
          </a:p>
          <a:p>
            <a:pPr>
              <a:spcAft>
                <a:spcPts val="1000"/>
              </a:spcAft>
            </a:pPr>
            <a:r>
              <a:rPr sz="1700">
                <a:solidFill>
                  <a:srgbClr val="222B33"/>
                </a:solidFill>
                <a:latin typeface="Microsoft YaHei"/>
              </a:rPr>
              <a:t>▪ 条件不够、没有审批，不能开工</a:t>
            </a:r>
          </a:p>
          <a:p>
            <a:pPr>
              <a:spcAft>
                <a:spcPts val="1000"/>
              </a:spcAft>
            </a:pPr>
            <a:r>
              <a:rPr sz="1700">
                <a:solidFill>
                  <a:srgbClr val="222B33"/>
                </a:solidFill>
                <a:latin typeface="Microsoft YaHei"/>
              </a:rPr>
              <a:t>▪ 国内第一类最危险，与国际分组相反</a:t>
            </a:r>
          </a:p>
          <a:p>
            <a:pPr>
              <a:spcAft>
                <a:spcPts val="1000"/>
              </a:spcAft>
            </a:pPr>
            <a:r>
              <a:rPr sz="1700">
                <a:solidFill>
                  <a:srgbClr val="222B33"/>
                </a:solidFill>
                <a:latin typeface="Microsoft YaHei"/>
              </a:rPr>
              <a:t>▪ 生物之外，还有化学、锐器、用电</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安全员首先要懂微生物学和细胞生物学。例如有老师想在普通教学实验室培养某种病原，安全员要先问：是什么病原？在国内分类中属于第几类？需要几级生物安全实验室？然后组织风险评估、确定控制措施、检查效果。实验室条件不够、没有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把国际风险组的编号当成国内分类</a:t>
            </a:r>
          </a:p>
          <a:p>
            <a:pPr>
              <a:spcAft>
                <a:spcPts val="1000"/>
              </a:spcAft>
            </a:pPr>
            <a:r>
              <a:rPr sz="1500">
                <a:solidFill>
                  <a:srgbClr val="222B33"/>
                </a:solidFill>
                <a:latin typeface="Microsoft YaHei"/>
              </a:rPr>
              <a:t>▪ 只看生物风险，忽视化学、锐器和用电</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保护环境，防止逃逸</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安全员也要保护环境</a:t>
            </a:r>
          </a:p>
          <a:p>
            <a:pPr>
              <a:spcAft>
                <a:spcPts val="1000"/>
              </a:spcAft>
            </a:pPr>
            <a:r>
              <a:rPr sz="2000">
                <a:solidFill>
                  <a:srgbClr val="222B33"/>
                </a:solidFill>
                <a:latin typeface="Microsoft YaHei"/>
              </a:rPr>
              <a:t>▪ 人兽共患病原、转基因生物防逃逸</a:t>
            </a:r>
          </a:p>
          <a:p>
            <a:pPr>
              <a:spcAft>
                <a:spcPts val="1000"/>
              </a:spcAft>
            </a:pPr>
            <a:r>
              <a:rPr sz="2000">
                <a:solidFill>
                  <a:srgbClr val="222B33"/>
                </a:solidFill>
                <a:latin typeface="Microsoft YaHei"/>
              </a:rPr>
              <a:t>▪ 拿不准的，及时请专家</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生物安全不只保护实验人员，还要保护实验室外的公众和环境。人兽共患病原、转基因动植物和微生物、实验动物和媒介昆虫一旦逃逸到外界，可能造成传播或生态影响，安全员要督促落实防逃逸措施（见第 082、084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认为生物安全只关乎实验室内部人员</a:t>
            </a:r>
          </a:p>
          <a:p>
            <a:pPr>
              <a:spcAft>
                <a:spcPts val="1000"/>
              </a:spcAft>
            </a:pPr>
            <a:r>
              <a:rPr sz="1500">
                <a:solidFill>
                  <a:srgbClr val="222B33"/>
                </a:solidFill>
                <a:latin typeface="Microsoft YaHei"/>
              </a:rPr>
              <a:t>▪ 拿不准时自作主张</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懂设备，能教人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设备从选型、安装到检测维修都把关</a:t>
            </a:r>
          </a:p>
          <a:p>
            <a:pPr>
              <a:spcAft>
                <a:spcPts val="1000"/>
              </a:spcAft>
            </a:pPr>
            <a:r>
              <a:rPr sz="2000">
                <a:solidFill>
                  <a:srgbClr val="222B33"/>
                </a:solidFill>
                <a:latin typeface="Microsoft YaHei"/>
              </a:rPr>
              <a:t>▪ 新安全柜检测合格才能使用</a:t>
            </a:r>
          </a:p>
          <a:p>
            <a:pPr>
              <a:spcAft>
                <a:spcPts val="1000"/>
              </a:spcAft>
            </a:pPr>
            <a:r>
              <a:rPr sz="2000">
                <a:solidFill>
                  <a:srgbClr val="222B33"/>
                </a:solidFill>
                <a:latin typeface="Microsoft YaHei"/>
              </a:rPr>
              <a:t>▪ 自己会用，才能教别人用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员要懂实验室的关键设备。以生物安全柜为例：选型要符合实验活动的防护需要，安装位置要避开门口和人员走动的气流干扰，安装后、移位后和定期都要由有资质的机构检测合格才能使用，出现故障要及时维修（生物安全柜见第 071–……</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新设备装好不经检测就投入使用</a:t>
            </a:r>
          </a:p>
          <a:p>
            <a:pPr>
              <a:spcAft>
                <a:spcPts val="1000"/>
              </a:spcAft>
            </a:pPr>
            <a:r>
              <a:rPr sz="1500">
                <a:solidFill>
                  <a:srgbClr val="222B33"/>
                </a:solidFill>
                <a:latin typeface="Microsoft YaHei"/>
              </a:rPr>
              <a:t>▪ 安全员自己不会用设备，培训只念说明书</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沟通说服，推动变革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有人嫌安全花钱费时，当成负担</a:t>
            </a:r>
          </a:p>
          <a:p>
            <a:pPr>
              <a:spcAft>
                <a:spcPts val="1000"/>
              </a:spcAft>
            </a:pPr>
            <a:r>
              <a:rPr sz="2000">
                <a:solidFill>
                  <a:srgbClr val="222B33"/>
                </a:solidFill>
                <a:latin typeface="Microsoft YaHei"/>
              </a:rPr>
              <a:t>▪ 硬压规定没用：先明白，再沟通，后落实</a:t>
            </a:r>
          </a:p>
          <a:p>
            <a:pPr>
              <a:spcAft>
                <a:spcPts val="1000"/>
              </a:spcAft>
            </a:pPr>
            <a:r>
              <a:rPr sz="2000">
                <a:solidFill>
                  <a:srgbClr val="222B33"/>
                </a:solidFill>
                <a:latin typeface="Microsoft YaHei"/>
              </a:rPr>
              <a:t>▪ 知道为什么，才会主动遵守</a:t>
            </a:r>
          </a:p>
          <a:p>
            <a:pPr>
              <a:spcAft>
                <a:spcPts val="1000"/>
              </a:spcAft>
            </a:pPr>
            <a:r>
              <a:rPr sz="2000">
                <a:solidFill>
                  <a:srgbClr val="222B33"/>
                </a:solidFill>
                <a:latin typeface="Microsoft YaHei"/>
              </a:rPr>
              <a:t>▪ 对事不对人，讲清楚，也体谅人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有人觉得安全是负担：花钱、费时间、影响进度。这时硬压规定没有用。推动改变要分三步：先让领导和大家明白为什么要管（提高意识），再在全单位充分沟通，最后通过培训和制度真正落实。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只靠罚款和通报推动安全</a:t>
            </a:r>
          </a:p>
          <a:p>
            <a:pPr>
              <a:spcAft>
                <a:spcPts val="1000"/>
              </a:spcAft>
            </a:pPr>
            <a:r>
              <a:rPr sz="1500">
                <a:solidFill>
                  <a:srgbClr val="222B33"/>
                </a:solidFill>
                <a:latin typeface="Microsoft YaHei"/>
              </a:rPr>
              <a:t>▪ 把检查当成对人不对事</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新任安全员从哪下手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先把安全写进单位目标和政策</a:t>
            </a:r>
          </a:p>
          <a:p>
            <a:pPr>
              <a:spcAft>
                <a:spcPts val="1000"/>
              </a:spcAft>
            </a:pPr>
            <a:r>
              <a:rPr sz="2000">
                <a:solidFill>
                  <a:srgbClr val="222B33"/>
                </a:solidFill>
                <a:latin typeface="Microsoft YaHei"/>
              </a:rPr>
              <a:t>▪ 政策在法律范围内，也是社会责任</a:t>
            </a:r>
          </a:p>
          <a:p>
            <a:pPr>
              <a:spcAft>
                <a:spcPts val="1000"/>
              </a:spcAft>
            </a:pPr>
            <a:r>
              <a:rPr sz="2000">
                <a:solidFill>
                  <a:srgbClr val="222B33"/>
                </a:solidFill>
                <a:latin typeface="Microsoft YaHei"/>
              </a:rPr>
              <a:t>▪ 找到各层愿意带头的人，支持他们</a:t>
            </a:r>
          </a:p>
          <a:p>
            <a:pPr>
              <a:spcAft>
                <a:spcPts val="1000"/>
              </a:spcAft>
            </a:pPr>
            <a:r>
              <a:rPr sz="2000">
                <a:solidFill>
                  <a:srgbClr val="222B33"/>
                </a:solidFill>
                <a:latin typeface="Microsoft YaHei"/>
              </a:rPr>
              <a:t>▪ 让安全计划各部分一起运转</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新上任的安全员可以从四方面入手：政策、法律、社会责任和人。先推动把生物安全写进单位的发展目标和政策；政策必须在国家法律法规的范围之内；生物安全也是单位对社会应负的责任。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只写制度，不找人推动</a:t>
            </a:r>
          </a:p>
          <a:p>
            <a:pPr>
              <a:spcAft>
                <a:spcPts val="1000"/>
              </a:spcAft>
            </a:pPr>
            <a:r>
              <a:rPr sz="1500">
                <a:solidFill>
                  <a:srgbClr val="222B33"/>
                </a:solidFill>
                <a:latin typeface="Microsoft YaHei"/>
              </a:rPr>
              <a:t>▪ 各项措施各自为政，互不衔接</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持续学习，特殊领域多补课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动物、植物、昆虫、临床检验要求更高</a:t>
            </a:r>
          </a:p>
          <a:p>
            <a:pPr>
              <a:spcAft>
                <a:spcPts val="1000"/>
              </a:spcAft>
            </a:pPr>
            <a:r>
              <a:rPr sz="2000">
                <a:solidFill>
                  <a:srgbClr val="222B33"/>
                </a:solidFill>
                <a:latin typeface="Microsoft YaHei"/>
              </a:rPr>
              <a:t>▪ 各领域有专门规定，要不断补课</a:t>
            </a:r>
          </a:p>
          <a:p>
            <a:pPr>
              <a:spcAft>
                <a:spcPts val="1000"/>
              </a:spcAft>
            </a:pPr>
            <a:r>
              <a:rPr sz="2000">
                <a:solidFill>
                  <a:srgbClr val="222B33"/>
                </a:solidFill>
                <a:latin typeface="Microsoft YaHei"/>
              </a:rPr>
              <a:t>▪ 本事一点点积累，知识更新要跟上</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实验动物、植物（封闭温室）、昆虫和媒介生物、临床检验等特殊领域风险更高，各有专门的法规和标准，安全员需要的本领也更多（见第 079、082、084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用普通实验室的经验管理动物实验室</a:t>
            </a:r>
          </a:p>
          <a:p>
            <a:pPr>
              <a:spcAft>
                <a:spcPts val="1000"/>
              </a:spcAft>
            </a:pPr>
            <a:r>
              <a:rPr sz="1500">
                <a:solidFill>
                  <a:srgbClr val="222B33"/>
                </a:solidFill>
                <a:latin typeface="Microsoft YaHei"/>
              </a:rPr>
              <a:t>▪ 上岗后不再学习新法规新标准</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安全员靠什么发挥作用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先写下心中安全员的职责，再对照</a:t>
            </a:r>
          </a:p>
          <a:p>
            <a:pPr>
              <a:spcAft>
                <a:spcPts val="1000"/>
              </a:spcAft>
            </a:pPr>
            <a:r>
              <a:rPr sz="2000">
                <a:solidFill>
                  <a:srgbClr val="222B33"/>
                </a:solidFill>
                <a:latin typeface="Microsoft YaHei"/>
              </a:rPr>
              <a:t>▪ 领导支持是第一条</a:t>
            </a:r>
          </a:p>
          <a:p>
            <a:pPr>
              <a:spcAft>
                <a:spcPts val="1000"/>
              </a:spcAft>
            </a:pPr>
            <a:r>
              <a:rPr sz="2000">
                <a:solidFill>
                  <a:srgbClr val="222B33"/>
                </a:solidFill>
                <a:latin typeface="Microsoft YaHei"/>
              </a:rPr>
              <a:t>▪ 懂生物、懂法规、懂工程和防护</a:t>
            </a:r>
          </a:p>
          <a:p>
            <a:pPr>
              <a:spcAft>
                <a:spcPts val="1000"/>
              </a:spcAft>
            </a:pPr>
            <a:r>
              <a:rPr sz="2000">
                <a:solidFill>
                  <a:srgbClr val="222B33"/>
                </a:solidFill>
                <a:latin typeface="Microsoft YaHei"/>
              </a:rPr>
              <a:t>▪ 会培训，肯推动改变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可以先做个小练习：写下你认为安全员应该做什么，学完后再对照补充。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单位只设岗位不给支持</a:t>
            </a:r>
          </a:p>
          <a:p>
            <a:pPr>
              <a:spcAft>
                <a:spcPts val="1000"/>
              </a:spcAft>
            </a:pPr>
            <a:r>
              <a:rPr sz="1500">
                <a:solidFill>
                  <a:srgbClr val="222B33"/>
                </a:solidFill>
                <a:latin typeface="Microsoft YaHei"/>
              </a:rPr>
              <a:t>▪ 安全员只懂法规，不懂实验和设备</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书面生物安全政策：具体可落实</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每个实验室都要有书面生物安全政策</a:t>
            </a:r>
          </a:p>
          <a:p>
            <a:pPr>
              <a:spcAft>
                <a:spcPts val="1000"/>
              </a:spcAft>
            </a:pPr>
            <a:r>
              <a:rPr sz="2000">
                <a:solidFill>
                  <a:srgbClr val="222B33"/>
                </a:solidFill>
                <a:latin typeface="Microsoft YaHei"/>
              </a:rPr>
              <a:t>▪ 写明对生物安全和安保的承诺</a:t>
            </a:r>
          </a:p>
          <a:p>
            <a:pPr>
              <a:spcAft>
                <a:spcPts val="1000"/>
              </a:spcAft>
            </a:pPr>
            <a:r>
              <a:rPr sz="2000">
                <a:solidFill>
                  <a:srgbClr val="222B33"/>
                </a:solidFill>
                <a:latin typeface="Microsoft YaHei"/>
              </a:rPr>
              <a:t>▪ 具体、可衡量、做得到、有时限</a:t>
            </a:r>
          </a:p>
          <a:p>
            <a:pPr>
              <a:spcAft>
                <a:spcPts val="1000"/>
              </a:spcAft>
            </a:pPr>
            <a:r>
              <a:rPr sz="2000">
                <a:solidFill>
                  <a:srgbClr val="222B33"/>
                </a:solidFill>
                <a:latin typeface="Microsoft YaHei"/>
              </a:rPr>
              <a:t>▪ 各岗位职责写进安全手册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每个实验室都要有书面的生物安全政策，写明单位对生物安全和生物安保的承诺，由管理层批准发布。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政策只有"安全第一"之类口号</a:t>
            </a:r>
          </a:p>
          <a:p>
            <a:pPr>
              <a:spcAft>
                <a:spcPts val="1000"/>
              </a:spcAft>
            </a:pPr>
            <a:r>
              <a:rPr sz="1500">
                <a:solidFill>
                  <a:srgbClr val="222B33"/>
                </a:solidFill>
                <a:latin typeface="Microsoft YaHei"/>
              </a:rPr>
              <a:t>▪ 职责口头约定，没有书面文件</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生物安全手册：依法编写，与设施同建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政策之下是生物安全手册</a:t>
            </a:r>
          </a:p>
          <a:p>
            <a:pPr>
              <a:spcAft>
                <a:spcPts val="1000"/>
              </a:spcAft>
            </a:pPr>
            <a:r>
              <a:rPr sz="2000">
                <a:solidFill>
                  <a:srgbClr val="222B33"/>
                </a:solidFill>
                <a:latin typeface="Microsoft YaHei"/>
              </a:rPr>
              <a:t>▪ 依国内法规编写，国际指南只作参考</a:t>
            </a:r>
          </a:p>
          <a:p>
            <a:pPr>
              <a:spcAft>
                <a:spcPts val="1000"/>
              </a:spcAft>
            </a:pPr>
            <a:r>
              <a:rPr sz="2000">
                <a:solidFill>
                  <a:srgbClr val="222B33"/>
                </a:solidFill>
                <a:latin typeface="Microsoft YaHei"/>
              </a:rPr>
              <a:t>▪ 只写本实验室，具体可用</a:t>
            </a:r>
          </a:p>
          <a:p>
            <a:pPr>
              <a:spcAft>
                <a:spcPts val="1000"/>
              </a:spcAft>
            </a:pPr>
            <a:r>
              <a:rPr sz="2000">
                <a:solidFill>
                  <a:srgbClr val="222B33"/>
                </a:solidFill>
                <a:latin typeface="Microsoft YaHei"/>
              </a:rPr>
              <a:t>▪ 先定谁负责、配几人，与设施同步建好</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政策之下是生物安全手册（以及程序文件、操作规程等管理体系文件）。手册必须依据国家和地方的法律法规、国家标准编写，国际指南可以参考，但以国内规定为准。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照搬外单位或国外的手册</a:t>
            </a:r>
          </a:p>
          <a:p>
            <a:pPr>
              <a:spcAft>
                <a:spcPts val="1000"/>
              </a:spcAft>
            </a:pPr>
            <a:r>
              <a:rPr sz="1500">
                <a:solidFill>
                  <a:srgbClr val="222B33"/>
                </a:solidFill>
                <a:latin typeface="Microsoft YaHei"/>
              </a:rPr>
              <a:t>▪ 实验室投入使用了，手册还没写</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学生要做的：认人、服从、报告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认清负责人和安全员，记牢联系方式</a:t>
            </a:r>
          </a:p>
          <a:p>
            <a:pPr>
              <a:spcAft>
                <a:spcPts val="1000"/>
              </a:spcAft>
            </a:pPr>
            <a:r>
              <a:rPr sz="2000">
                <a:solidFill>
                  <a:srgbClr val="222B33"/>
                </a:solidFill>
                <a:latin typeface="Microsoft YaHei"/>
              </a:rPr>
              <a:t>▪ 新实验先交导师，评估审批后再做</a:t>
            </a:r>
          </a:p>
          <a:p>
            <a:pPr>
              <a:spcAft>
                <a:spcPts val="1000"/>
              </a:spcAft>
            </a:pPr>
            <a:r>
              <a:rPr sz="2000">
                <a:solidFill>
                  <a:srgbClr val="222B33"/>
                </a:solidFill>
                <a:latin typeface="Microsoft YaHei"/>
              </a:rPr>
              <a:t>▪ 服从安全员监督，指出就改</a:t>
            </a:r>
          </a:p>
          <a:p>
            <a:pPr>
              <a:spcAft>
                <a:spcPts val="1000"/>
              </a:spcAft>
            </a:pPr>
            <a:r>
              <a:rPr sz="2000">
                <a:solidFill>
                  <a:srgbClr val="222B33"/>
                </a:solidFill>
                <a:latin typeface="Microsoft YaHei"/>
              </a:rPr>
              <a:t>▪ 出事报负责人、学院和保卫处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作为学生，首先要认清本实验室的负责人、导师和生物安全员，看懂门口安全信息牌上的联系方式。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不知道安全员是谁，出事不知找谁</a:t>
            </a:r>
          </a:p>
          <a:p>
            <a:pPr>
              <a:spcAft>
                <a:spcPts val="1000"/>
              </a:spcAft>
            </a:pPr>
            <a:r>
              <a:rPr sz="1500">
                <a:solidFill>
                  <a:srgbClr val="222B33"/>
                </a:solidFill>
                <a:latin typeface="Microsoft YaHei"/>
              </a:rPr>
              <a:t>▪ 怕挨批评，隐瞒小事故</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实验室生物安全的第一责任人是：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学生本人</a:t>
            </a:r>
          </a:p>
          <a:p>
            <a:pPr algn="l"/>
            <a:r>
              <a:rPr sz="1500" b="0">
                <a:solidFill>
                  <a:srgbClr val="222B33"/>
                </a:solidFill>
                <a:latin typeface="Microsoft YaHei"/>
              </a:rPr>
              <a:t>B. 实验室负责人</a:t>
            </a:r>
          </a:p>
          <a:p>
            <a:pPr algn="l"/>
            <a:r>
              <a:rPr sz="1500" b="0">
                <a:solidFill>
                  <a:srgbClr val="222B33"/>
                </a:solidFill>
                <a:latin typeface="Microsoft YaHei"/>
              </a:rPr>
              <a:t>C. 保卫处</a:t>
            </a:r>
          </a:p>
          <a:p>
            <a:pPr algn="l"/>
            <a:r>
              <a:rPr sz="1500" b="0">
                <a:solidFill>
                  <a:srgbClr val="222B33"/>
                </a:solidFill>
                <a:latin typeface="Microsoft YaHei"/>
              </a:rPr>
              <a:t>D. 设备供应商</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判断：研究生觉得新实验风险不大，可以自己定级后直接开工。</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下列关于生物安全员的说法，正确的是：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只负责整理材料</a:t>
            </a:r>
          </a:p>
          <a:p>
            <a:pPr algn="l"/>
            <a:r>
              <a:rPr sz="1500" b="0">
                <a:solidFill>
                  <a:srgbClr val="222B33"/>
                </a:solidFill>
                <a:latin typeface="Microsoft YaHei"/>
              </a:rPr>
              <a:t>B. 发现违规或防护破坏有权制止，必要时叫停实验</a:t>
            </a:r>
          </a:p>
          <a:p>
            <a:pPr algn="l"/>
            <a:r>
              <a:rPr sz="1500" b="0">
                <a:solidFill>
                  <a:srgbClr val="222B33"/>
                </a:solidFill>
                <a:latin typeface="Microsoft YaHei"/>
              </a:rPr>
              <a:t>C. 只能提建议，不能干预</a:t>
            </a:r>
          </a:p>
          <a:p>
            <a:pPr algn="l"/>
            <a:r>
              <a:rPr sz="1500" b="0">
                <a:solidFill>
                  <a:srgbClr val="222B33"/>
                </a:solidFill>
                <a:latin typeface="Microsoft YaHei"/>
              </a:rPr>
              <a:t>D. 只管设施维修</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判断：我国病原微生物分类中，第四类危害最大。</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070 · 生物安全组织与负责人</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070 生物安全组织与负责人</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下列关于生物安全手册的做法，正确的是：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直接翻译国外手册</a:t>
            </a:r>
          </a:p>
          <a:p>
            <a:pPr algn="l"/>
            <a:r>
              <a:rPr sz="1500" b="0">
                <a:solidFill>
                  <a:srgbClr val="222B33"/>
                </a:solidFill>
                <a:latin typeface="Microsoft YaHei"/>
              </a:rPr>
              <a:t>B. 实验室先用起来，手册以后再补</a:t>
            </a:r>
          </a:p>
          <a:p>
            <a:pPr algn="l"/>
            <a:r>
              <a:rPr sz="1500" b="0">
                <a:solidFill>
                  <a:srgbClr val="222B33"/>
                </a:solidFill>
                <a:latin typeface="Microsoft YaHei"/>
              </a:rPr>
              <a:t>C. 依国内法规编写，只写本实验室的具体做法，与设施同步建成</a:t>
            </a:r>
          </a:p>
          <a:p>
            <a:pPr algn="l"/>
            <a:r>
              <a:rPr sz="1500" b="0">
                <a:solidFill>
                  <a:srgbClr val="222B33"/>
                </a:solidFill>
                <a:latin typeface="Microsoft YaHei"/>
              </a:rPr>
              <a:t>D. 只写"安全第一"</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简答：生物安全委员会、设施经理、生物安全员、项目负责人各管什么？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三级管理：生物安全靠组织</a:t>
            </a:r>
          </a:p>
          <a:p>
            <a:pPr>
              <a:spcAft>
                <a:spcPts val="800"/>
              </a:spcAft>
            </a:pPr>
            <a:r>
              <a:rPr sz="1500">
                <a:solidFill>
                  <a:srgbClr val="FFFFFF"/>
                </a:solidFill>
                <a:latin typeface="Microsoft YaHei"/>
              </a:rPr>
              <a:t>▪ K2  生物安全委员会：定政策、审项目</a:t>
            </a:r>
          </a:p>
          <a:p>
            <a:pPr>
              <a:spcAft>
                <a:spcPts val="800"/>
              </a:spcAft>
            </a:pPr>
            <a:r>
              <a:rPr sz="1500">
                <a:solidFill>
                  <a:srgbClr val="FFFFFF"/>
                </a:solidFill>
                <a:latin typeface="Microsoft YaHei"/>
              </a:rPr>
              <a:t>▪ K3  设施经理：管设施运行与抢修</a:t>
            </a:r>
          </a:p>
          <a:p>
            <a:pPr>
              <a:spcAft>
                <a:spcPts val="800"/>
              </a:spcAft>
            </a:pPr>
            <a:r>
              <a:rPr sz="1500">
                <a:solidFill>
                  <a:srgbClr val="FFFFFF"/>
                </a:solidFill>
                <a:latin typeface="Microsoft YaHei"/>
              </a:rPr>
              <a:t>▪ K4  生物安全员：评估、控制、监督</a:t>
            </a:r>
          </a:p>
          <a:p>
            <a:pPr>
              <a:spcAft>
                <a:spcPts val="800"/>
              </a:spcAft>
            </a:pPr>
            <a:r>
              <a:rPr sz="1500">
                <a:solidFill>
                  <a:srgbClr val="FFFFFF"/>
                </a:solidFill>
                <a:latin typeface="Microsoft YaHei"/>
              </a:rPr>
              <a:t>▪ K5  责任三层含义：有事管、可问责、能拍板</a:t>
            </a:r>
          </a:p>
          <a:p>
            <a:pPr>
              <a:spcAft>
                <a:spcPts val="800"/>
              </a:spcAft>
            </a:pPr>
            <a:r>
              <a:rPr sz="1500">
                <a:solidFill>
                  <a:srgbClr val="FFFFFF"/>
                </a:solidFill>
                <a:latin typeface="Microsoft YaHei"/>
              </a:rPr>
              <a:t>▪ K6  项目负责人：对自己的实验负责</a:t>
            </a:r>
          </a:p>
          <a:p>
            <a:pPr>
              <a:spcAft>
                <a:spcPts val="800"/>
              </a:spcAft>
            </a:pPr>
            <a:r>
              <a:rPr sz="1500">
                <a:solidFill>
                  <a:srgbClr val="FFFFFF"/>
                </a:solidFill>
                <a:latin typeface="Microsoft YaHei"/>
              </a:rPr>
              <a:t>▪ K7  各管一摊，协同一致</a:t>
            </a:r>
          </a:p>
          <a:p>
            <a:pPr>
              <a:spcAft>
                <a:spcPts val="800"/>
              </a:spcAft>
            </a:pPr>
            <a:r>
              <a:rPr sz="1500">
                <a:solidFill>
                  <a:srgbClr val="FFFFFF"/>
                </a:solidFill>
                <a:latin typeface="Microsoft YaHei"/>
              </a:rPr>
              <a:t>▪ K8  安全员要懂生物，会评估</a:t>
            </a:r>
          </a:p>
          <a:p>
            <a:pPr>
              <a:spcAft>
                <a:spcPts val="800"/>
              </a:spcAft>
            </a:pPr>
            <a:r>
              <a:rPr sz="1500">
                <a:solidFill>
                  <a:srgbClr val="FFFFFF"/>
                </a:solidFill>
                <a:latin typeface="Microsoft YaHei"/>
              </a:rPr>
              <a:t>▪ K9  保护环境，防止逃逸</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懂设备，能教人</a:t>
            </a:r>
          </a:p>
          <a:p>
            <a:pPr>
              <a:spcAft>
                <a:spcPts val="800"/>
              </a:spcAft>
            </a:pPr>
            <a:r>
              <a:rPr sz="1500">
                <a:solidFill>
                  <a:srgbClr val="FFFFFF"/>
                </a:solidFill>
                <a:latin typeface="Microsoft YaHei"/>
              </a:rPr>
              <a:t>▪ K11  沟通说服，推动变革</a:t>
            </a:r>
          </a:p>
          <a:p>
            <a:pPr>
              <a:spcAft>
                <a:spcPts val="800"/>
              </a:spcAft>
            </a:pPr>
            <a:r>
              <a:rPr sz="1500">
                <a:solidFill>
                  <a:srgbClr val="FFFFFF"/>
                </a:solidFill>
                <a:latin typeface="Microsoft YaHei"/>
              </a:rPr>
              <a:t>▪ K12  新任安全员从哪下手</a:t>
            </a:r>
          </a:p>
          <a:p>
            <a:pPr>
              <a:spcAft>
                <a:spcPts val="800"/>
              </a:spcAft>
            </a:pPr>
            <a:r>
              <a:rPr sz="1500">
                <a:solidFill>
                  <a:srgbClr val="FFFFFF"/>
                </a:solidFill>
                <a:latin typeface="Microsoft YaHei"/>
              </a:rPr>
              <a:t>▪ K13  持续学习，特殊领域多补课</a:t>
            </a:r>
          </a:p>
          <a:p>
            <a:pPr>
              <a:spcAft>
                <a:spcPts val="800"/>
              </a:spcAft>
            </a:pPr>
            <a:r>
              <a:rPr sz="1500">
                <a:solidFill>
                  <a:srgbClr val="FFFFFF"/>
                </a:solidFill>
                <a:latin typeface="Microsoft YaHei"/>
              </a:rPr>
              <a:t>▪ K14  安全员靠什么发挥作用</a:t>
            </a:r>
          </a:p>
          <a:p>
            <a:pPr>
              <a:spcAft>
                <a:spcPts val="800"/>
              </a:spcAft>
            </a:pPr>
            <a:r>
              <a:rPr sz="1500">
                <a:solidFill>
                  <a:srgbClr val="FFFFFF"/>
                </a:solidFill>
                <a:latin typeface="Microsoft YaHei"/>
              </a:rPr>
              <a:t>▪ K15  书面生物安全政策：具体可落实</a:t>
            </a:r>
          </a:p>
          <a:p>
            <a:pPr>
              <a:spcAft>
                <a:spcPts val="800"/>
              </a:spcAft>
            </a:pPr>
            <a:r>
              <a:rPr sz="1500">
                <a:solidFill>
                  <a:srgbClr val="FFFFFF"/>
                </a:solidFill>
                <a:latin typeface="Microsoft YaHei"/>
              </a:rPr>
              <a:t>▪ K16  生物安全手册：依法编写，与设施同建</a:t>
            </a:r>
          </a:p>
          <a:p>
            <a:pPr>
              <a:spcAft>
                <a:spcPts val="800"/>
              </a:spcAft>
            </a:pPr>
            <a:r>
              <a:rPr sz="1500">
                <a:solidFill>
                  <a:srgbClr val="FFFFFF"/>
                </a:solidFill>
                <a:latin typeface="Microsoft YaHei"/>
              </a:rPr>
              <a:t>▪ S1  学生要做的：认人、服从、报告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