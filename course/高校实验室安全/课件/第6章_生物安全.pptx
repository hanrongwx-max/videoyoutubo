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生物安全靠的不只是生物安全柜和个人防护装备。实验室房子怎么设计、配置什么设备，本身就是一道防护，属于控制层级中的工程控制（控制层级见第 017 课）：它不依赖每个人每次都做对，而是从源头把风险挡住。</a:t>
            </a:r>
          </a:p>
          <a:p>
            <a:r>
              <a:t>设施设计得周全，使用起来才既安全又好用；设计考虑不周，后面的操作和管理就要付出更多代价去弥补。所以，即使是学生和普通使用者，也应了解设施各部分的作用，正确使用、不随意改动。</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菌器；楼下有污水处理系统。不同级别的实验室配置不同，具体以 GB 19489-2008、GB 50346 和本校设施说明为准（各级要求见第 061 课，三级布局与进出见第 063 课）。</a:t>
            </a:r>
          </a:p>
          <a:p>
            <a:r>
              <a:t>工程设计通常包括八个部分：设施（建筑）设计、气流、过滤、暖通空调、污水处理、给排水、智能控制和安防。这类设施的楼体通常至少分三层：上层是设备层，负责空气处理；中层是实验室和办公；底层收集并处理全部废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a:p>
            <a:r>
              <a:t>把机械放在实验室上方，实验室里就不放机械设备，便于密封和清洁消毒。设备层的层高要够人进去检修，灯具和过滤器都从上面更换，不必在实验室房间里开口。</a:t>
            </a:r>
          </a:p>
          <a:p>
            <a:r>
              <a:t>设备层有转动设备、高压电和高处作业等危险，不是参观区：未经允许不得进入，进入须有人陪同；维修前先停机断电、上锁挂牌（见第 144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a:p>
            <a:r>
              <a:t>每个房间连接各自独立的高效过滤器，一间出问题不连累其他房间；风阀一开一合调节风量，把各房间的气流配平，维持定向气流（原理见第 062 课）。排风过滤单元先把颗粒物滤干净，再由屋顶的高空排放风机高速射向高空，远离进风口和人群，充分扩散。注意：除去病原靠的是过滤，排高只是加一道保险。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防护设施的加热、制冷、湿度、通风等由电子系统集中控制和监测，哪台设备在运转、是否正常，在控制区一看就知道；监控、气流、门锁等也在控制区集中管理。</a:t>
            </a:r>
          </a:p>
          <a:p>
            <a:r>
              <a:t>压差显示和报警是监测的关键（会看压差面板见第 063 课）。系统设计成防护一旦失效就报警，并按设计联锁停机或转入安全状态，此时按应急预案撤离和报告（见第 062 课）。控制系统的参数由设施管理人员按规程设定，使用者不得自行更改。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道或专门处理后再排放，排放应符合国家和地方要求。</a:t>
            </a:r>
          </a:p>
          <a:p>
            <a:r>
              <a:t>封闭设施出来的固体废物要先去污灭菌，再按《医疗废物管理条例》和本校规定交有资质的单位处置（见第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建封闭设施投入很大，决定建实验室、动笔设计之前，先要算清楚账。钱分两块：建设费和运行费。运行费（能耗、过滤器更换、检测、维修、人员）每年都有，会摊到每一次实验里。</a:t>
            </a:r>
          </a:p>
          <a:p>
            <a:r>
              <a:t>设计时就要把维护费用算进去；建得起却养不起，过滤器不能按期更换、设备不能按期检测，安全就会打折扣。设计要统筹考虑的事项包括选址、结构、控制与监测、废物与污水、安保，以及建设成本和运行成本。</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高等级实验室选址有讲究：避开地震、洪水等自然灾害多发地，避开人口稠密区；水电供应要有保障；发生事故时应急处置队伍能及时赶到；周边社会环境稳定安全。具体选址要求以 GB 19489-2008、GB 50346 等现行标准为准。</a:t>
            </a:r>
          </a:p>
          <a:p>
            <a:r>
              <a:t>植物封闭设施不要紧挨农田，以免万一泄漏扩散到作物，造成生态危害和法律纠纷（植物生物安全见第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就像住宅把卫生间集中在一处，管道省，漏了也不会到处蔓延；防护实验室相邻集中布置，通风和管道系统才经济、好管理。</a:t>
            </a:r>
          </a:p>
          <a:p>
            <a:r>
              <a:t>标准布局的原则：区域按从清洁到污染分级，人和物按规定路线走，不交叉、不走回头路（见第 063 课）。功能上分出暂存区（材料先送进暂存区，再按程序转入）、培养基制备区、遗传操作区（放转化设备，转化后的材料再送进封闭区培养）和控制区。以植物设施为例，进入的培养基、土壤要先蒸汽灭菌，去掉其中带的病原。</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设施的出入口是有两道门的缓冲间：先关外门，再开内门，两道门不同时开；开内门时空气往里流，不往外跑（缓冲间压力设计以本设施说明为准，见第 062 课）。</a:t>
            </a:r>
          </a:p>
          <a:p>
            <a:r>
              <a:t>高压灭菌器嵌在墙里，两边各有一扇门（双扉灭菌器），一侧在防护区内装料，另一侧在清洁区取出。进来的东西要干净，出去的更要去污：以植物封闭设施为例，植株、土壤、种子、工作服全部灭菌后才能出去。项目结束时，未经批准放行的材料按规程灭菌销毁。灭菌器的使用和验证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负压设施要让空气稳定地往里流，墙体、观察窗玻璃和密封都要足够结实；风机出故障时负压可能过大，结构不够会撑破玻璃，所以设计时要有相应的保护和联锁。</a:t>
            </a:r>
          </a:p>
          <a:p>
            <a:r>
              <a:t>房间表面材料要耐受消毒剂和熏蒸、耐湿耐腐蚀、易清洁；熏蒸期间按规程清场，检测合格后再进入。植物设施还要考虑采光：阳光进来热量也进来，制冷更贵，炎热地区宜用封闭生长室加人工光，凉爽地区用温室更合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生物安保要在设计时就考虑进去，事后补救既贵又难。门禁、监控等物理安保措施管住人员进出，防止病原材料被盗、被私自扩繁或带出；实验数据和资料也要加密、分级管理。</a:t>
            </a:r>
          </a:p>
          <a:p>
            <a:r>
              <a:t>安保措施的具体配置属于敏感信息，不对外公开、不拍照传播；使用者遵守门禁规定，不借卡、不尾随、不带无关人员进入（生物安保见第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建设一般分四步。第一步，需求和预算：按实际需要确定规模，预算有限不要贪大，并考虑每年的维护费。第二步，初步设计：对照建筑规范、消防疏散和生物安全标准（GB 19489-2008、GB 50346 等）逐项查合规。第三步，施工：设施是定制的，施工中加一根梁、隔一个间，气流就会改变，任何改动都要马上告诉设计工程师，重新评估。第四步，验收认可：建成后经检测验收合格，按规定通过认可或备案后才能开展实验。</a:t>
            </a:r>
          </a:p>
          <a:p>
            <a:r>
              <a:t>按《病原微生物实验室生物安全管理条例》，新建、改建、扩建三级、四级实验室应当依法审批，建成后通过实验室国家认可，并经主管部门批准方可从事高致病性病原微生物相关实验活动；一级、二级实验室向设区的市级主管部门备案（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设施设计要多方合作：工程师懂结构，研究者懂生物，管理者居中协调，让设施既满足工程要求又满足实验需要，并符合生物安全法规和标准。</a:t>
            </a:r>
          </a:p>
          <a:p>
            <a:r>
              <a:t>管生物安全的人也要懂一点设施设计，才能和工程师说到一块：生物安全员（生物安全管理人员）要看得懂设施图纸，懂通风空调和基本布局，从建造、验收、维护到停用，每一步都有安全问题。单位新建高等级实验室或动物设施时，生物安全员代表单位向设计方、施工方提问，并回应主管部门的要求。实验室的使用者（负责人、教师和研究生）也要在需求、设计审查和验收等关键阶段参与（生物安全组织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停用（安全柜检测见第 073 课，灭菌器验证见第 076 课）。</a:t>
            </a:r>
          </a:p>
          <a:p>
            <a:r>
              <a:t>排风过滤器上截留着病原，更换前要先原位消毒，由经过培训的专业人员按程序更换，袋进袋出、装袋带出处置；新过滤器装好后检漏合格才能再用。学生不要自己打开过滤箱。</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实验室的认可和备案都不是一劳永逸的：认可有有效期，到期要复评，有效期内还要接受监督评审和主管部门的监督检查（具体周期以现行规定为准）。</a:t>
            </a:r>
          </a:p>
          <a:p>
            <a:r>
              <a:t>设施改造、主要设备更换、实验活动或病原变化等情况发生时，要重新评估、审批，改后重新检测验收或重新评审，并按规定变更备案。</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实验室停用、设备搬走或维修之前，先由实验室按规程彻底去污（消毒灭菌），清点并妥善处置剩余的生物材料。</a:t>
            </a:r>
          </a:p>
          <a:p>
            <a:r>
              <a:t>去污完成后经实验室负责人或指定人员验收合格、签字，才能把设备搬走、交给维修人员、改作他用或报废；房间停用也要经去污验收后才能交出或改造。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答案：B。解析：设备层集中放机械，未经允许不进入，维修先停机断电、上锁挂牌。</a:t>
            </a:r>
          </a:p>
          <a:p>
            <a:r>
              <a:t>第 2 题 答案：B。解析：除去病原靠高效过滤，高空排放只是加一道保险。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答案：B。解析：从设施出去的一切都要先去污，连水槽废水也不例外。</a:t>
            </a:r>
          </a:p>
          <a:p>
            <a:r>
              <a:t>第 4 题 答案：C。解析：建成后验收认可才能开展实验，认可有期限，设施变化要重新评审。</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答案：B。解析：过期未检或检测不合格的设备应挂牌停用，检测合格后再用。</a:t>
            </a:r>
          </a:p>
          <a:p>
            <a:r>
              <a:t>第 6 题 答案：先按规程彻底去污，处置剩余生物材料；经负责人或指定人员验收合格签字后，才能搬走、维修、改用或报废。解析：防止设备和房间带着病原交给不知情的人。</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课）。伦理意识和领导力也是这套方法的组成部分。</a:t>
            </a:r>
          </a:p>
          <a:p>
            <a:r>
              <a:t>它管的是生物材料的处理、储存和处置，从拿到手到最后销毁，每一环都要管；重点是病原微生物、生物毒素和转基因生物。国家层面的生物安全领域很广，包括重大传染病防控、遗传资源保护、外来物种入侵防范等，本课聚焦其中的实验室生物安全（概念与法规见第 057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为什么要建立生物风险管理？首先是防止实验室获得性感染：在实验室工作，不应把病带回家。其次是保护公众和环境，无论意外还是蓄意，都不让有害生物因子外泄；它也关系到国家生物安全。</a:t>
            </a:r>
          </a:p>
          <a:p>
            <a:r>
              <a:t>第三是依法依规。国际上有生物安全手册和管理标准可作参考，在国内首先要遵守《中华人民共和国生物安全法》《病原微生物实验室生物安全管理条例》和国家标准、行业标准，以及学校的规定。</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室的风险评估、规程、培训和日常管理（组织与负责人见第 070 课）。</a:t>
            </a:r>
          </a:p>
          <a:p>
            <a:r>
              <a:t>生物安全委员会负责审议实验室的风险评估、重要实验活动和规程等事项。实验室按 GB 19489-2008 等标准建立生物安全管理体系：有管理手册、程序文件、操作规程和记录，有年度安全计划，并通过内部审核和管理评审持续运行（审核见第 066 课）。本课讲的 AMP 模型是国际通行的生物风险管理方法，在这一国内框架下使用。</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 模型是国际通行的管理生物风险的基本方法，由三步组成：评估（Assessment）、减缓（Mitigation）、绩效（Performance）。评估回答“有什么风险、有多大”；减缓回答“怎样把风险降下来”；绩效回答“怎么确认风险真的降下来了”。也可以概括成：找出风险、评估大小、降低风险、持续盯住。</a:t>
            </a:r>
          </a:p>
          <a:p>
            <a:r>
              <a:t>这三步是生物风险管理的基础，做完一圈再来一圈，不断改进。学习本章，就是要学会三件事：会做风险评估，找出这个病原、这项操作的具体风险；会用各类控制措施把风险降下来；会评价这些措施是不是真的管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第一步是风险评估：找出实验里有哪些有害生物因子，这东西有多危险，我要做什么操作，估计出事的可能性和后果有多大，从而判断风险高低。</a:t>
            </a:r>
          </a:p>
          <a:p>
            <a:r>
              <a:t>风险评估由实验室负责人组织，生物安全管理人员审核，必要时提交生物安全委员会审议；做实验的人也要参与评估，并了解评估结论。评估是其他所有工作的出发点，具体步骤和方法见第 067、068 课。</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第二步是风险减缓：按控制层级（消除、替代、工程控制、管理控制、个人防护，见第 017 课）采取措施，把风险降到可接受的程度。设施设备、标准操作规程和个人防护用品要一起上，不能只靠一种。生物安全措施防止人员意外暴露，生物安保措施防止样本丢失、被盗。</a:t>
            </a:r>
          </a:p>
          <a:p>
            <a:r>
              <a:t>加完控制措施后要再评估残余风险：仍不可接受，就再加控制，或者不开展该实验。风险看可能性也看后果；风险越高，投入的资金和人力也要越足。具体控制措施见第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绩效评估：看控制措施选得对不对、有没有执行、管不管用，设备和防护有没有正常工作。方法包括定期检查，看措施是否真的落实；审核记录，看体系是否按规定运行；组织应急演练，看大家会不会处置。</a:t>
            </a:r>
          </a:p>
          <a:p>
            <a:r>
              <a:t>发现问题就采取纠正措施，并回到第一步重新评估、改进。绩效评估与审核的具体做法见第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管理实验室靠一个循环：计划、执行、检查、改进（PDCA），周而复始。用到生物风险上，就是 AMP 三步：策划从风险评估开始（识别危害、评估风险、确定怎样管住风险），对应“计划”；减缓对应“执行”；绩效对应“检查”和“改进”。也有人把它概括为意识、行动、反省，缺一不可。</a:t>
            </a:r>
          </a:p>
          <a:p>
            <a:r>
              <a:t>PDCA 的核心是“写下怎么做，就照写的做”，再检查做得怎么样。生物安全员观察大家实际怎么做，找出问题的根本原因，改进规程，再回到评估。检查发现的问题变成下一轮的计划，每转一圈，安全水平就提高一点。</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处置。</a:t>
            </a:r>
          </a:p>
          <a:p>
            <a:r>
              <a:t>完善的体系由几个部分撑起来（风险评估、风险减缓、绩效监测、培训与能力、事件报告、持续改进），像几根柱子撑房子，缺一根就不稳。管生物安全的人，除了懂微生物和管理，还要懂一点气流方向、通风空调、给排水等设施知识（见第 064 课），这些本事要在工作中慢慢积累。</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体系有五个要素。第一，定义：定目标、划过程，这个实验室做什么，范围到哪。建实验室之前先问几个问题：做哪些实验？要什么仪器和规程？工作怎么安排、谁做什么？牵涉运输、灭活、废物哪些环节？怎样更安全、更高效？有哪些限制？第二，结构：谁负责什么，每个人按哪份规程做。</a:t>
            </a:r>
          </a:p>
          <a:p>
            <a:r>
              <a:t>第三，理解：各环节相互依存，人也有极限，疲劳最容易出事，工作分配要均衡，培训要到位。第四，改进：盯住事故和事件，找到缺口、修订规程（见 K13）。第五，认清约束：没有完美的体系，经费不够、缺少合格的人等限制要事先认清，量力而行。即使还没在生物实验室工作，也可以设想一个实验室，练习写方针、写计划，再想怎么落实、怎么检查改进。</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体系一切从一份生物安全方针开始。方针写明单位的承诺：把安全放进主业，遵守国家法律法规和标准，持续改进。</a:t>
            </a:r>
          </a:p>
          <a:p>
            <a:r>
              <a:t>体系能否成功，地基是领导承诺：单位和实验室负责人认领方针，给足人员、经费和设施等资源，把安全放在优先位置，而不是只挂在墙上。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方针要讲给每一个人听，包括保洁、清运、维修等进入实验室的人员；生物安全和生物安保一起管，最终变成每个人的习惯（安全文化见第 010 课）。</a:t>
            </a:r>
          </a:p>
          <a:p>
            <a:r>
              <a:t>体系能不能落地，要看安全文化：负责人带头遵守，规矩才立得住；每个人都可以提出问题和建议，发现隐患敢说、愿意报告。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计划落地要做五件事：搭建组织架构，分配职责，任命合格的人员，抓好培训，把方针和做法讲到位。</a:t>
            </a:r>
          </a:p>
          <a:p>
            <a:r>
              <a:t>日常运行要管好八个方面：运行控制，电气、化学等一般安全，库存台账，工作计划，操作规范，废物管理，人员管理，设施的保养和维修。通用模板只是起点，要结合本单位、本实验室的实际，制定具体的生物风险管理程序。</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运行中出了事故或事件（包括未遂事件），说明规程有漏洞，要趁小补上。出了问题要查到根本原因，采取纠正措施，同时寻找改进的机会（事故调查与根本原因分析见第 162 课）。</a:t>
            </a:r>
          </a:p>
          <a:p>
            <a:r>
              <a:t>定期回顾，把程序和制度改得更好；新版本发布后，旧版本要收回，防止误用。持续改进要做到：人人有主人翁意识，定期评估，规程有效，预防在先，持续培训，定改进目标，表扬做得好的人。</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生物风险管理计划（安全计划）是把体系落到本实验室的成文安排，可以按九块内容组织：范围与目标、角色与职责、风险评估程序、标准操作规程、培训与能力、事件响应与报告、维护与检查、文件与记录、评审与审核。GB 19489-2008 对实验室年度安全计划也有要求（以现行文本为准）。</a:t>
            </a:r>
          </a:p>
          <a:p>
            <a:r>
              <a:t>写计划前先摸清家底：菌（毒）种和样本、化学品、锐器、设备都列成清单，清单随时更新，计划才对得上。第一块写范围：管哪些房间，用哪些微生物，做哪些实验；再写目标：要达到怎样的安全状态。目标和指标要具体、能检查，写成文件，事后能追溯。</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第二块是角色与职责：实验室负责人是第一责任人；实验室安全员负责日常检查和提醒；每个实验人员按规程做好自己的工作；学校管理部门和设施保障部门的职责也要写明。</a:t>
            </a:r>
          </a:p>
          <a:p>
            <a:r>
              <a:t>计划写好后交学院审核，学校存档，与三级管理衔接；组内人人学习，知道自己的职责（组织与职责见第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第三块是风险评估程序：先识别危害，再判断风险高低；写清谁来评估、用什么方法、结果谁审核；定期评估，人员、病原、操作或设施有变化时重新评估（见第 067 课）。</a:t>
            </a:r>
          </a:p>
          <a:p>
            <a:r>
              <a:t>第四块是标准操作规程：关键操作和关键设备各有一份规程，按规程一步一步做，不凭记忆（规程编写见第 019 课）。</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第五块是培训与能力：培训内容包括安全操作、应急程序，也包括科研伦理和生物安保意识。培训后要考核，确认真的会做才算有能力；用能力表记录谁会做什么、谁被授权做什么，一目了然。</a:t>
            </a:r>
          </a:p>
          <a:p>
            <a:r>
              <a:t>培训不是一次了事，要持续学习、定期复训，能力才跟得上。流程中的每一步都有专人负责：处理样本的学样本处理规程，管废物的学废物规程（准入培训见第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第六块是事件响应与报告：不管是意外事故还是安保事件，都要有渠道及时发现、报告和处理。发生溢洒、暴露，先按应急预案处置（见第 078 课），再按实验室负责人、学院、学校主管部门逐级报告，不隐瞒、不拖延；应急联系电话写进计划，贴在实验室显眼处。</a:t>
            </a:r>
          </a:p>
          <a:p>
            <a:r>
              <a:t>第七块是维护与检查计划：哪台设备、多久检查一次，写成日程；检定合格贴标签，过期停用（见第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第八块是文件与记录：文件要有版本号，旧版及时收回。每项生物安全工作都要有记录，包括培训、检查、事件、库存和规程执行；记录要及时、真实、受控、可追溯，问题才查得出来。</a:t>
            </a:r>
          </a:p>
          <a:p>
            <a:r>
              <a:t>第九块是评审与审核：定期看计划落实得怎么样，发现问题就改，计划随之更新（内部审核和管理评审见第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体系的各部分都要写成文件，一般分四层：管理手册规定方针、目标、组织和职责；程序文件规定各项管理活动怎么运转；标准操作规程（作业指导书）教你每项操作具体怎么做；记录证明确实做到了。GB 19489-2008 对管理体系文件和记录也有相应要求（以现行文本为准）。</a:t>
            </a:r>
          </a:p>
          <a:p>
            <a:r>
              <a:t>文件齐全、层次清楚、相互一致，日常照着做，检查时才拿得出来。</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答案：B。解析：评估问有什么风险，减缓问怎样降下来，绩效问怎么确认真的降下来了。</a:t>
            </a:r>
          </a:p>
          <a:p>
            <a:r>
              <a:t>第 2 题 答案：B。解析：生物风险管理包括生物安全和生物安保两部分，实验室要管好材料的全过程。</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答案：B。解析：每转一圈，管理就提高一点。</a:t>
            </a:r>
          </a:p>
          <a:p>
            <a:r>
              <a:t>第 4 题 答案：B。解析：手册定方针职责，程序管运转，规程教操作，记录证明做到。</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答案：B。解析：计划经学院审核、学校存档，组内人人学习，知道自己的职责。</a:t>
            </a:r>
          </a:p>
          <a:p>
            <a:r>
              <a:t>第 6 题 答案：范围与目标（含危险源清单）、角色与职责、风险评估程序、标准操作规程、培训与能力、事件响应与报告、维护与检查、文件与记录、评审与审核。解析：九块内容对应体系的各个要素。</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绩效评估，就是记录、测量和评价我们做过的事，目的是把生物风险降下来。它看的是整个体系：不只看病原，还要看人、物和设施。绩效测量不是另外一摊事，而是管理体系的一部分：规程写的和实际做的，都要量。</a:t>
            </a:r>
          </a:p>
          <a:p>
            <a:r>
              <a:t>做法是回头查记录：有没有发生防护失效，有没有事故、事件和未遂事件，日常检查发现了什么；出了事故或险情，就修订规程。绩效评估能看出体系哪里达标、哪里没有，没达标就要问为什么；认证认可时审核员要看这些记录；它还能预防事故、减少损失和开支。</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打个比方：计划十五分钟跑完一公里，实际跑了二十分钟。天气、体能、装备，逐一找出拖后腿的因素。计划和实际之间的差距，就是绩效要看的东西。</a:t>
            </a:r>
          </a:p>
          <a:p>
            <a:r>
              <a:t>实验室可以年初定目标（如事件、事故、溢洒的情况），年底做对比表：事件超了，可能是规程有漏洞，就修订规程、加强培训；目标是零溢洒，实际发生了一次，也要改。每一起事件和事故都要调查。绩效是每个人努力的总和，实际常常达不到计划，而且会变化，要持续用力。</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控制措施加上了，就一定有效吗？要靠绩效来验证：减缓之后再做一次风险评估，确认风险真的降下来了，这一步才算数。剩下的风险能不能接受，要再判断。</a:t>
            </a:r>
          </a:p>
          <a:p>
            <a:r>
              <a:t>风险管理是一个圆圈：收集信息、评价风险、制定策略、落实控制措施、复查，然后再转一圈。绩效评估是 AMP 循环的第三步（见第 065 课），可以用一张表来做：推荐了什么措施？真落实了吗？没有，为什么？有没有记录？再审核、修改措施。整改之后还要看效果；绩效数据也是说服领导投入资源的依据。</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单位的安全方针（政策）表明决心和方向，不讲具体做法，要再分解成职责、目标和步骤，落成具体目标后，再按标准检查有没有做到。</a:t>
            </a:r>
          </a:p>
          <a:p>
            <a:r>
              <a:t>目标是看得见、量得出的结果，比如“实验结束，人员零感染”。具体目标是限时完成的步骤，最典型的就是标准操作规程。目标要符合五个要求：具体、可测量、能实现、合理、有时限；不要定做不到的目标，审核时会被指出来。</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指标要用数字说话，能回答“多少次、多少量”。要定期使用，一直用同一把尺子，才能看出偏离，在出事之前报警。</a:t>
            </a:r>
          </a:p>
          <a:p>
            <a:r>
              <a:t>常用的生物安全绩效指标：事件报告（发生多少、什么原因），险兆（未遂）事件（差一点出事的也算），培训（该学的人是否都学完），演练有没有做（记录就是证据），防护用品配备，检查的频次和范围，做法是否符合现行标准规范。挑指标时，要量什么就选什么，不图省事；尽量能量化，并覆盖实验室、学院、学校各个层级。</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分两类。先行指标衡量过程、文化、行为和屏障（如培训完成、检查执行、规范操作的比例、设备检测按期完成），事先定好，为安全工作指方向。滞后指标衡量事件、事故、险兆和整改情况，都是事后才看得到的。</a:t>
            </a:r>
          </a:p>
          <a:p>
            <a:r>
              <a:t>只在出事后才分析就太晚了。要多观察日常行为，提前发现苗头，多听同行的经验和教训，把先行指标和滞后指标结合起来看。</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好指标由相关人员一起商量出来，具有相关、客观、及时、成本合理的特点，能指导整改，带来改进机会。</a:t>
            </a:r>
          </a:p>
          <a:p>
            <a:r>
              <a:t>指标要审慎使用：度量标准由生物安全委员会等事先定好，数据要呈现得让人看得懂。评价体系本身也要定期检查：指标还相关吗？要不要换新的？照搬别处的指标未必合用。不能为了“指标好看”而少报、瞒报事件。</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测量是改进的第一步：量出来才看得懂，看得懂才控制得住，才谈得上改进；测量要用合适的工具。一个流程可以分成输入、步骤、输出，比如检测样本，每一步都记下来。</a:t>
            </a:r>
          </a:p>
          <a:p>
            <a:r>
              <a:t>设计评估前先把问题想清楚，问四个问题：步骤做得到吗？步骤对不对？结果达标吗？量的东西对吗？方法上可以发问卷，也可以到现场跟看。生物安全绩效的常用来源：一看事件和事故报告，找规律；二看人员健康监测（如按规定留存本底血清，见第 069 课）；三是现场观察，审核操作。</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专心做完。</a:t>
            </a:r>
          </a:p>
          <a:p>
            <a:r>
              <a:t>使用监控收集数据，要事先告知相关人员；录像只用于安全管理，不外传，按规定保管，保护个人信息。</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某检测实验室的目标是降低人员感染风险，采取的措施包括上岗前体检、防护规程和项目结束后的复查。结果五名人员中有一人检测阳性——计划和实际出现了差距。</a:t>
            </a:r>
          </a:p>
          <a:p>
            <a:r>
              <a:t>这时要问：规程合适吗？是规程本身有缺陷，还是执行出了问题？哪里出了漏洞？要做事故分析，查根本原因，采取纠正措施，并按规定报告和对相关人员进行医学评估（事故调查见第 162 课，暴露处置见第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审核和评价就是“复查”这一步，看写的和做的是否一致、措施是否落实、是否达到预期目标。内部审核由本单位按计划组织，对照规程逐项检查；审核员要到实验台旁观察，看哪一步繁琐、哪一步有风险。GB 19489-2008 要求实验室按计划开展内部审核（以现行文本为准）。</a:t>
            </a:r>
          </a:p>
          <a:p>
            <a:r>
              <a:t>学院、学校也会按三级管理定期组织安全检查（见第 005 课）。查到什么，如实记下来；既要找出缺陷和不符合项，也要找改进点，再提出改进办法，发现问题回头改。</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审核看规程有没有照做，检查看设施是否按设计运行，检测看设备参数是否合格。内部审核之外，外部审核更客观。</a:t>
            </a:r>
          </a:p>
          <a:p>
            <a:r>
              <a:t>主管部门依法对实验室进行监督检查，实验室负责人陪同、如实提供资料、配合检查；新建设施要经主管部门检查验收。三级、四级实验室还要通过实验室国家认可，并接受复评和监督评审（见第 064 课）。认可和检查时，审核员会查阅各项记录。</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管理评审由单位或实验室管理层按计划定期进行（例如每年，具体以现行标准和本校规定为准），评审体系是否合适、充分、有效，并寻找下一步改进的机会。</a:t>
            </a:r>
          </a:p>
          <a:p>
            <a:r>
              <a:t>评审要看的材料包括：内部审核和外部检查结果、规程执行情况、风险评估进展、纠正和预防措施、上次评审的跟进、改进建议，以及事故和事件调查。评审后，该改的制度、程序和目标就改。每一步都有记录，评审才有依据。</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发现问题就要采取纠正措施：明确谁来改、怎么改、什么时候改完；改完拍照留证，再复查，问题关闭才算整改到位。持续改进就是把检查和事件的教训写进规程，一圈一圈越做越好（隐患整改见第 005 课）。</a:t>
            </a:r>
          </a:p>
          <a:p>
            <a:r>
              <a:t>外有法规，内有制度；有记录，才能持续改进。最好有专人管理文件和记录。人员、培训、规程、标识、台账等，个人也可以记一本安全笔记，但笔记代替不了正式规程。</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审核和检查看的恰恰是平时。被检查时，照平常一样规范操作，不需要“表演”，也不能临时改变做法。</a:t>
            </a:r>
          </a:p>
          <a:p>
            <a:r>
              <a:t>如果一紧张出错（如手滑、轻微溢洒），先停下，不要硬撑着继续；如实向检查人员和负责人说明，按规程处理（溢洒处置见第 078 课）。检查发现的问题是改进的机会，不是“丢面子”。</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答案：B。解析：找出差距和拖后腿的原因，再改进。</a:t>
            </a:r>
          </a:p>
          <a:p>
            <a:r>
              <a:t>第 2 题 答案：C。解析：先行指标看过程、文化、行为和屏障，事先指方向；事件、事故、险兆、整改属于滞后指标。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答案：B。解析：减缓之后要再评估，确认风险真的降下来了。</a:t>
            </a:r>
          </a:p>
          <a:p>
            <a:r>
              <a:t>第 4 题 答案：B。解析：内审对照规程到现场查，外部检查负责人陪同配合，问题如实记录并整改。</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答案：A。解析：被检查时照常规范，出错先停，别硬撑，不掩饰。</a:t>
            </a:r>
          </a:p>
          <a:p>
            <a:r>
              <a:t>第 6 题 答案：明确谁来改、怎么改、何时改完；改完留证据（如照片、记录），经复查确认有效后关闭，并把教训写进规程。解析：整改要闭环。</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这里出发（风险评估的通用方法见第 014 课）。</a:t>
            </a:r>
          </a:p>
          <a:p>
            <a:r>
              <a:t>使用菌种、样本之前，先弄清它从哪里来、是什么、对人有没有危害；来历不明的环境菌不随意使用，来源不清的临床样本风险要往高处估。按评估结果，在规定级别的实验室、用规定的方法操作（防护等级的确定见第 060 课）。</a:t>
            </a:r>
          </a:p>
          <a:p>
            <a:r>
              <a:t>评估之后要实施控制（工程控制加个人防护等），再检查控制效果，发现问题就回到评估，循环改进（管理体系见第 065 课）。</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危害是任何可能造成伤害的东西，生物因子（病原微生物、毒素、感染性样本等）就是潜在的危害。风险则是这种伤害真正发生的可能性及其后果；伤害源是生物因子的，就叫生物风险。</a:t>
            </a:r>
          </a:p>
          <a:p>
            <a:r>
              <a:t>危害本身是“物”，人动手去操作它，危害才变成风险。操作、运输、被盗、容器或封闭屏障破损，都是危害变成风险的途径。所以评估时既要看“这东西有多危险”，也要看“我要拿它做什么”。</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风险是可能性和后果（严重程度）的组合。可能性指防护失效、发生暴露的几率有多大；后果指一旦发生，对人员、公众和环境造成的伤害有多大。两者结合起来，才能看出风险的高低。</a:t>
            </a:r>
          </a:p>
          <a:p>
            <a:r>
              <a:t>举例：样本转运不规范（容器不密封、没有二级包装），发生泄漏的可能性就大，后果是转运人员和沿途的人可能被感染。包装运输的要求见第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就放松防护。</a:t>
            </a:r>
          </a:p>
          <a:p>
            <a:r>
              <a:t>致病的病原关在实验室的封闭条件下，风险很低；一旦因为意外泄漏或被人故意带出、滥用，后果就很严重。因此既要防意外（生物安全），也要防滥用（生物安保，见第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把风险说清楚，可能性和后果都要分级。可能性回答“发生的概率有多大”，可从“很少”到“经常”分级；后果回答“万一发生会怎样”，可从“轻微”（无伤害或轻微不适）到“严重”（严重疾病、扩散到社区或环境）分级。</a:t>
            </a:r>
          </a:p>
          <a:p>
            <a:r>
              <a:t>常见的做法是两边各分三到五级。分几级、每一级怎么判定，以本校风险评估程序为准；同一实验室内应统一标准，评估人员对照同一张表打分，结果才可比。</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把可能性和后果的分级交叉成一张表，就是风险矩阵：可能性低、后果轻的落在绿格，风险最低；可能性大、后果重的落在红格，风险最高；中间是黄格。</a:t>
            </a:r>
          </a:p>
          <a:p>
            <a:r>
              <a:t>把实验中的每个风险点（每个操作步骤）都放进矩阵，哪里风险高一目了然，红格优先处理。风险矩阵的通用用法见第 014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生物材料，风险随操作而变。样本密封冻存在罐里，风险较低；拿出来开盖处理、提取核酸，风险升高；培养活的病原（数量和浓度增加），风险最高。流程一步步往后走，风险一级级升高，一旦释放，后果也越大。</a:t>
            </a:r>
          </a:p>
          <a:p>
            <a:r>
              <a:t>所以评估不能只做一次笼统的结论，提取、扩增、检测、培养等步骤越多，越要逐步评估（逐步打分的方法见第 068 课）。储存也有风险：容器要密封、标签要标清、冷冻柜要上锁，库存要有记录。</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评估有固定的步骤：危害识别、风险分析、风险评价、风险控制、记录、复查。也有资料把它概括为五步（识别、评估、控制、看残余风险、再决策），内容是一致的：先认清危害，再估计风险大小，加控制后看残余风险能否接受，然后决定做不做。</a:t>
            </a:r>
          </a:p>
          <a:p>
            <a:r>
              <a:t>最后一步是复查，走完一遍还要回头再看。评估的结果用于确定防护等级（见第 060 课）和控制措施（见第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第一步是危害识别：先弄清用的是什么生物因子，查《人间传染的病原微生物目录》（以现行版本为准），认出它属于哪一类，再查病原资料拿到依据（要素清单见第 068 课）。注意两套编号：国内病原分类第一类危害最大、第四类最小，国际风险组 1 组最低、4 组最高，方向相反（见第 058 课）。</a:t>
            </a:r>
          </a:p>
          <a:p>
            <a:r>
              <a:t>再列出要做哪些实验活动，用量多少、浓度多高写清楚。看会不会溅、会不会扎，会不会产生气溶胶（离心、振荡、匀浆、超声、吹打等），这是重点。评估要把病原、操作、人员和设施四个方面都看到。</a:t>
            </a:r>
          </a:p>
          <a:p>
            <a:r>
              <a:t>风险评估别只盯着微生物：消毒剂、固定液有化学危害，锐器、高温、紫外灯也会伤人，要一起识别。</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a:p>
            <a:r>
              <a:t>资料不足、来历不清的样本（如未经检测的临床样本、环境样本），风险往高处估。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第三步是风险评价：根据分析结果和风险矩阵，给出总体风险等级——低、中还是高。等级决定要采取多强的控制措施和在哪一级实验室开展。</a:t>
            </a:r>
          </a:p>
          <a:p>
            <a:r>
              <a:t>评价时还要对照现有的控制措施：现有设施、设备、规程和防护够不够把风险控制住。够，就可以接受；不够，就要再加控制。</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第四步是风险控制：按控制层级（见第 017 课）选择措施，用什么设备、穿什么防护、怎么操作。工程控制（合适级别的实验室、生物安全柜、密封离心转子）、个人防护和标准操作规程要一起上。例如离心可能产生气溶胶的样本时，使用密封转子，离心后在生物安全柜内开盖。</a:t>
            </a:r>
          </a:p>
          <a:p>
            <a:r>
              <a:t>生物安全员可以用问卷逐项评估，按控制层级挑合适的措施，把结论和建议讲给实验室负责人和课题组。具体的控制与管理措施见第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采取控制措施后剩下的风险叫残余风险：风险能降下来，但清不了零。把要做的操作一项项列出来，每项单独评估，再合起来看总风险。</a:t>
            </a:r>
          </a:p>
          <a:p>
            <a:r>
              <a:t>残余风险能接受，经实验室负责人批准后才开展，并且要让团队都知道、都认可“我们带着这些风险工作”；不能接受，就再加措施、改方法，或者不做。残余风险较高或拿不准的，报生物安全委员会审议。各实验室情况不同，要按实际评估，不照搬别人的结论。</a:t>
            </a:r>
          </a:p>
          <a:p>
            <a:r>
              <a:t>学生拿不准时，先问导师，不擅自开展。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第五步是记录：把评估的过程、依据、结论和控制措施写成风险评估报告，按本校程序经审核批准后存档备查，新来的人也能查到和学习。书面记录的通用写法见第 015 课。</a:t>
            </a:r>
          </a:p>
          <a:p>
            <a:r>
              <a:t>写下来只是一半，更重要的是把报告里的措施真正落实到每一次操作中。</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第六步是复查：即使没有变化，也要按本校规定定期复查评估报告。遇到以下情况要及时重新评估并更新：更换病原或材料、改变实验方法或流程、人员变化、设施设备变化，以及发生事件或事故之后。</a:t>
            </a:r>
          </a:p>
          <a:p>
            <a:r>
              <a:t>新开展的实验活动，其防护级别要按本校程序报生物安全委员会审批，不自行决定（见第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答案：B。解析：危害是物，风险看可能性和后果，与怎么操作、运输、储存有关。</a:t>
            </a:r>
          </a:p>
          <a:p>
            <a:r>
              <a:t>第 2 题 答案：B。解析：规范操作降的是可能性，后果不一定变轻，防护不能放松。</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答案：B。解析：先认清危害，再分析和评价风险，然后控制、记录，最后定期复查。</a:t>
            </a:r>
          </a:p>
          <a:p>
            <a:r>
              <a:t>第 4 题 答案：D。解析：换病原、换方法、换人换设施、出了事件都要重新评估；没有变化也要定期复查。</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答案：B。解析：残余风险能降不能清零；可接受并经负责人批准才开展，不可接受就加措施或不做。</a:t>
            </a:r>
          </a:p>
          <a:p>
            <a:r>
              <a:t>第 6 题 答案：国内第一类危害最大、第四类最小；国际风险组 1 组最低、4 组最高，方向相反。解析：查目录时不能把两套编号弄混。</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生物安全设施的设计、建造与运行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6.75 分钟（卡通视频 81 镜）　适用对象：进入生命科学、医学、农学、环境等涉及生物材料实验室的高校本科生、研究生和教职工（必修）；实验室负责人、生物安全员、设施管理人员和参与实验室新建改造的人员重点学习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能说出防护设施的组成（设备层、进排风过滤与高空排放、控制与监测、污水与废物处理、出入口缓冲间和穿墙灭菌器、物理安保），知道设施本身就是工程控制。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能说出设施设计的主要原则：先算建设费和运行费、选址避开风险并保障支援、相邻集中和分区分流的布局、结构材料经得住负压和消毒。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能说出建设流程（需求预算—初步设计—施工—验收认可），以及一级、二级实验室备案，三级、四级实验室审批并通过国家认可的要求。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能做到不进入设备层、不碰过滤箱，用前查看安全柜和灭菌器的检测标识；能判断设施改造、条件变化、停用搬迁时须重新评审或先去污验收。</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《中华人民共和国生物安全法》（以现行文本为准）：病原微生物实验室应当符合生物安全国家标准和要求，设立单位负责实验室的生物安全管理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新建、改建、扩建三级、四级实验室依法审批，建成后通过实验室国家认可并经主管部门批准方可从事相应活动；一级、二级实验室向设区的市级主管部门备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生物安全通用要求》：实验室设施和设备要求、废物和污水去污、设施设备的维护和检测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50346（以现行文本为准）《生物安全实验室建筑技术规范》：生物安全实验室的选址、平面布局、建筑结构、通风空调、给排水和电气控制等工程技术要求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233（以现行文本为准）《病原微生物实验室生物安全通用准则》：各级病原微生物实验室的设施、设备和管理要求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《医疗废物管理条例》（以现行文本为准）：感染性废物的收集、处理和交接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号，以现行文本为准）：实验室建设与改造的安全论证、设施设备运行维护和检测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本校实验室建设管理规定与设施说明：压差、风量、过滤效率、污水消毒等具体参数以现行标准和本校设施说明为准</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设施本身就是防护：工程控制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生物安全不只靠安全柜和防护服</a:t>
            </a:r>
          </a:p>
          <a:p>
            <a:pPr>
              <a:spcAft>
                <a:spcPts val="1000"/>
              </a:spcAft>
            </a:pPr>
            <a:r>
              <a:rPr sz="2000">
                <a:solidFill>
                  <a:srgbClr val="222B33"/>
                </a:solidFill>
                <a:latin typeface="Microsoft YaHei"/>
              </a:rPr>
              <a:t>▪ 房子怎么设计、配什么设备，都是工程控制</a:t>
            </a:r>
          </a:p>
          <a:p>
            <a:pPr>
              <a:spcAft>
                <a:spcPts val="1000"/>
              </a:spcAft>
            </a:pPr>
            <a:r>
              <a:rPr sz="2000">
                <a:solidFill>
                  <a:srgbClr val="222B33"/>
                </a:solidFill>
                <a:latin typeface="Microsoft YaHei"/>
              </a:rPr>
              <a:t>▪ 工程控制从源头挡住风险</a:t>
            </a:r>
          </a:p>
          <a:p>
            <a:pPr>
              <a:spcAft>
                <a:spcPts val="1000"/>
              </a:spcAft>
            </a:pPr>
            <a:r>
              <a:rPr sz="2000">
                <a:solidFill>
                  <a:srgbClr val="222B33"/>
                </a:solidFill>
                <a:latin typeface="Microsoft YaHei"/>
              </a:rPr>
              <a:t>▪ 设计想周全，设施才安全好用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生物安全靠的不只是生物安全柜和个人防护装备。实验室房子怎么设计、配置什么设备，本身就是一道防护，属于控制层级中的工程控制（控制层级见第 017 课）：它不依赖每个人每次都做对，而是从源头把风险挡住。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认为设施是工程师的事，与做实验的人无关</a:t>
            </a:r>
          </a:p>
          <a:p>
            <a:pPr>
              <a:spcAft>
                <a:spcPts val="1000"/>
              </a:spcAft>
            </a:pPr>
            <a:r>
              <a:rPr sz="1500">
                <a:solidFill>
                  <a:srgbClr val="222B33"/>
                </a:solidFill>
                <a:latin typeface="Microsoft YaHei"/>
              </a:rPr>
              <a:t>▪ 设施有缺陷时靠“自己小心点”凑合使用</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一座防护设施由什么组成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门口标志，房间可密封，气流向内、过滤排出</a:t>
            </a:r>
          </a:p>
          <a:p>
            <a:pPr>
              <a:spcAft>
                <a:spcPts val="1000"/>
              </a:spcAft>
            </a:pPr>
            <a:r>
              <a:rPr sz="1700">
                <a:solidFill>
                  <a:srgbClr val="222B33"/>
                </a:solidFill>
                <a:latin typeface="Microsoft YaHei"/>
              </a:rPr>
              <a:t>▪ 整座设施相对外界负压</a:t>
            </a:r>
          </a:p>
          <a:p>
            <a:pPr>
              <a:spcAft>
                <a:spcPts val="1000"/>
              </a:spcAft>
            </a:pPr>
            <a:r>
              <a:rPr sz="1700">
                <a:solidFill>
                  <a:srgbClr val="222B33"/>
                </a:solidFill>
                <a:latin typeface="Microsoft YaHei"/>
              </a:rPr>
              <a:t>▪ 气锁进入、淋浴出，内有安全柜和灭菌器</a:t>
            </a:r>
          </a:p>
          <a:p>
            <a:pPr>
              <a:spcAft>
                <a:spcPts val="1000"/>
              </a:spcAft>
            </a:pPr>
            <a:r>
              <a:rPr sz="1700">
                <a:solidFill>
                  <a:srgbClr val="222B33"/>
                </a:solidFill>
                <a:latin typeface="Microsoft YaHei"/>
              </a:rPr>
              <a:t>▪ 工程设计含气流、过滤、空调、污水、控制、安保等</a:t>
            </a:r>
          </a:p>
          <a:p>
            <a:pPr>
              <a:spcAft>
                <a:spcPts val="1000"/>
              </a:spcAft>
            </a:pPr>
            <a:r>
              <a:rPr sz="1700">
                <a:solidFill>
                  <a:srgbClr val="222B33"/>
                </a:solidFill>
                <a:latin typeface="Microsoft YaHei"/>
              </a:rPr>
              <a:t>▪ 一栋楼常分三层：上管空气，中做实验，下管废水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以为防护设施只是“装了安全柜的普通房间”</a:t>
            </a:r>
          </a:p>
          <a:p>
            <a:pPr>
              <a:spcAft>
                <a:spcPts val="1000"/>
              </a:spcAft>
            </a:pPr>
            <a:r>
              <a:rPr sz="1500">
                <a:solidFill>
                  <a:srgbClr val="222B33"/>
                </a:solidFill>
                <a:latin typeface="Microsoft YaHei"/>
              </a:rPr>
              <a:t>▪ 只关注实验层，忽视设备层和污水系统也是防护的一部分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设备层：机器在上，实验室里不放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设备层统一控制全楼通风空调</a:t>
            </a:r>
          </a:p>
          <a:p>
            <a:pPr>
              <a:spcAft>
                <a:spcPts val="1000"/>
              </a:spcAft>
            </a:pPr>
            <a:r>
              <a:rPr sz="1700">
                <a:solidFill>
                  <a:srgbClr val="222B33"/>
                </a:solidFill>
                <a:latin typeface="Microsoft YaHei"/>
              </a:rPr>
              <a:t>▪ 风机、过滤器、电控柜放在实验室上方</a:t>
            </a:r>
          </a:p>
          <a:p>
            <a:pPr>
              <a:spcAft>
                <a:spcPts val="1000"/>
              </a:spcAft>
            </a:pPr>
            <a:r>
              <a:rPr sz="1700">
                <a:solidFill>
                  <a:srgbClr val="222B33"/>
                </a:solidFill>
                <a:latin typeface="Microsoft YaHei"/>
              </a:rPr>
              <a:t>▪ 实验室里不放机械，便于密封和清洁</a:t>
            </a:r>
          </a:p>
          <a:p>
            <a:pPr>
              <a:spcAft>
                <a:spcPts val="1000"/>
              </a:spcAft>
            </a:pPr>
            <a:r>
              <a:rPr sz="1700">
                <a:solidFill>
                  <a:srgbClr val="222B33"/>
                </a:solidFill>
                <a:latin typeface="Microsoft YaHei"/>
              </a:rPr>
              <a:t>▪ 层高够检修，灯和过滤器从上面换</a:t>
            </a:r>
          </a:p>
          <a:p>
            <a:pPr>
              <a:spcAft>
                <a:spcPts val="1000"/>
              </a:spcAft>
            </a:pPr>
            <a:r>
              <a:rPr sz="1700">
                <a:solidFill>
                  <a:srgbClr val="222B33"/>
                </a:solidFill>
                <a:latin typeface="Microsoft YaHei"/>
              </a:rPr>
              <a:t>▪ 设备层不是参观区，未经允许不进入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好奇进入设备层参观、触碰设备</a:t>
            </a:r>
          </a:p>
          <a:p>
            <a:pPr>
              <a:spcAft>
                <a:spcPts val="1000"/>
              </a:spcAft>
            </a:pPr>
            <a:r>
              <a:rPr sz="1500">
                <a:solidFill>
                  <a:srgbClr val="222B33"/>
                </a:solidFill>
                <a:latin typeface="Microsoft YaHei"/>
              </a:rPr>
              <a:t>▪ 设备维修不停机、不上锁挂牌</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进排风都过滤，排风高空排放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进楼的空气先过高效过滤器</a:t>
            </a:r>
          </a:p>
          <a:p>
            <a:pPr>
              <a:spcAft>
                <a:spcPts val="1000"/>
              </a:spcAft>
            </a:pPr>
            <a:r>
              <a:rPr sz="1700">
                <a:solidFill>
                  <a:srgbClr val="222B33"/>
                </a:solidFill>
                <a:latin typeface="Microsoft YaHei"/>
              </a:rPr>
              <a:t>▪ 高等级实验室排风也要过滤，两头把关</a:t>
            </a:r>
          </a:p>
          <a:p>
            <a:pPr>
              <a:spcAft>
                <a:spcPts val="1000"/>
              </a:spcAft>
            </a:pPr>
            <a:r>
              <a:rPr sz="1700">
                <a:solidFill>
                  <a:srgbClr val="222B33"/>
                </a:solidFill>
                <a:latin typeface="Microsoft YaHei"/>
              </a:rPr>
              <a:t>▪ 每个房间各有过滤器，风阀把气流配平</a:t>
            </a:r>
          </a:p>
          <a:p>
            <a:pPr>
              <a:spcAft>
                <a:spcPts val="1000"/>
              </a:spcAft>
            </a:pPr>
            <a:r>
              <a:rPr sz="1700">
                <a:solidFill>
                  <a:srgbClr val="222B33"/>
                </a:solidFill>
                <a:latin typeface="Microsoft YaHei"/>
              </a:rPr>
              <a:t>▪ 屋顶风机把排风送向高空扩散</a:t>
            </a:r>
          </a:p>
          <a:p>
            <a:pPr>
              <a:spcAft>
                <a:spcPts val="1000"/>
              </a:spcAft>
            </a:pPr>
            <a:r>
              <a:rPr sz="1700">
                <a:solidFill>
                  <a:srgbClr val="222B33"/>
                </a:solidFill>
                <a:latin typeface="Microsoft YaHei"/>
              </a:rPr>
              <a:t>▪ 除病原靠过滤，高空排放只是加保险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认为排风“排得高就安全”，可以不过滤</a:t>
            </a:r>
          </a:p>
          <a:p>
            <a:pPr>
              <a:spcAft>
                <a:spcPts val="1000"/>
              </a:spcAft>
            </a:pPr>
            <a:r>
              <a:rPr sz="1500">
                <a:solidFill>
                  <a:srgbClr val="222B33"/>
                </a:solidFill>
                <a:latin typeface="Microsoft YaHei"/>
              </a:rPr>
              <a:t>▪ 使用者自行调节风阀或风量</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控制与监测集中管理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全楼设备由电脑集中控制和监测</a:t>
            </a:r>
          </a:p>
          <a:p>
            <a:pPr>
              <a:spcAft>
                <a:spcPts val="1000"/>
              </a:spcAft>
            </a:pPr>
            <a:r>
              <a:rPr sz="2000">
                <a:solidFill>
                  <a:srgbClr val="222B33"/>
                </a:solidFill>
                <a:latin typeface="Microsoft YaHei"/>
              </a:rPr>
              <a:t>▪ 温湿度、气流、门锁在控制区一处管理</a:t>
            </a:r>
          </a:p>
          <a:p>
            <a:pPr>
              <a:spcAft>
                <a:spcPts val="1000"/>
              </a:spcAft>
            </a:pPr>
            <a:r>
              <a:rPr sz="2000">
                <a:solidFill>
                  <a:srgbClr val="222B33"/>
                </a:solidFill>
                <a:latin typeface="Microsoft YaHei"/>
              </a:rPr>
              <a:t>▪ 压差表是监测的关键</a:t>
            </a:r>
          </a:p>
          <a:p>
            <a:pPr>
              <a:spcAft>
                <a:spcPts val="1000"/>
              </a:spcAft>
            </a:pPr>
            <a:r>
              <a:rPr sz="2000">
                <a:solidFill>
                  <a:srgbClr val="222B33"/>
                </a:solidFill>
                <a:latin typeface="Microsoft YaHei"/>
              </a:rPr>
              <a:t>▪ 防护失效时报警，系统按设计停机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防护设施的加热、制冷、湿度、通风等由电子系统集中控制和监测，哪台设备在运转、是否正常，在控制区一看就知道；监控、气流、门锁等也在控制区集中管理。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报警时关掉报警器继续实验</a:t>
            </a:r>
          </a:p>
          <a:p>
            <a:pPr>
              <a:spcAft>
                <a:spcPts val="1000"/>
              </a:spcAft>
            </a:pPr>
            <a:r>
              <a:rPr sz="1500">
                <a:solidFill>
                  <a:srgbClr val="222B33"/>
                </a:solidFill>
                <a:latin typeface="Microsoft YaHei"/>
              </a:rPr>
              <a:t>▪ 使用者私自修改控制系统设定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污水与废物：出去之前先去污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从设施出去的一切都要先去污</a:t>
            </a:r>
          </a:p>
          <a:p>
            <a:pPr>
              <a:spcAft>
                <a:spcPts val="1000"/>
              </a:spcAft>
            </a:pPr>
            <a:r>
              <a:rPr sz="1700">
                <a:solidFill>
                  <a:srgbClr val="222B33"/>
                </a:solidFill>
                <a:latin typeface="Microsoft YaHei"/>
              </a:rPr>
              <a:t>▪ 淋浴、洗手、灭菌器废水先进暂存罐</a:t>
            </a:r>
          </a:p>
          <a:p>
            <a:pPr>
              <a:spcAft>
                <a:spcPts val="1000"/>
              </a:spcAft>
            </a:pPr>
            <a:r>
              <a:rPr sz="1700">
                <a:solidFill>
                  <a:srgbClr val="222B33"/>
                </a:solidFill>
                <a:latin typeface="Microsoft YaHei"/>
              </a:rPr>
              <a:t>▪ 再消毒、中和，全程监测，合格才排</a:t>
            </a:r>
          </a:p>
          <a:p>
            <a:pPr>
              <a:spcAft>
                <a:spcPts val="1000"/>
              </a:spcAft>
            </a:pPr>
            <a:r>
              <a:rPr sz="1700">
                <a:solidFill>
                  <a:srgbClr val="222B33"/>
                </a:solidFill>
                <a:latin typeface="Microsoft YaHei"/>
              </a:rPr>
              <a:t>▪ 污水不能直接进市政管网</a:t>
            </a:r>
          </a:p>
          <a:p>
            <a:pPr>
              <a:spcAft>
                <a:spcPts val="1000"/>
              </a:spcAft>
            </a:pPr>
            <a:r>
              <a:rPr sz="1700">
                <a:solidFill>
                  <a:srgbClr val="222B33"/>
                </a:solidFill>
                <a:latin typeface="Microsoft YaHei"/>
              </a:rPr>
              <a:t>▪ 固体废物先灭菌，再按规定处置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把含病原的废液直接倒入水槽</a:t>
            </a:r>
          </a:p>
          <a:p>
            <a:pPr>
              <a:spcAft>
                <a:spcPts val="1000"/>
              </a:spcAft>
            </a:pPr>
            <a:r>
              <a:rPr sz="1500">
                <a:solidFill>
                  <a:srgbClr val="222B33"/>
                </a:solidFill>
                <a:latin typeface="Microsoft YaHei"/>
              </a:rPr>
              <a:t>▪ 未经灭菌的废物混入生活垃圾</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先算账：建得起，也要养得起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动笔设计之前，先把钱算清楚</a:t>
            </a:r>
          </a:p>
          <a:p>
            <a:pPr>
              <a:spcAft>
                <a:spcPts val="1000"/>
              </a:spcAft>
            </a:pPr>
            <a:r>
              <a:rPr sz="1700">
                <a:solidFill>
                  <a:srgbClr val="222B33"/>
                </a:solidFill>
                <a:latin typeface="Microsoft YaHei"/>
              </a:rPr>
              <a:t>▪ 钱分两块：建设费和运行费</a:t>
            </a:r>
          </a:p>
          <a:p>
            <a:pPr>
              <a:spcAft>
                <a:spcPts val="1000"/>
              </a:spcAft>
            </a:pPr>
            <a:r>
              <a:rPr sz="1700">
                <a:solidFill>
                  <a:srgbClr val="222B33"/>
                </a:solidFill>
                <a:latin typeface="Microsoft YaHei"/>
              </a:rPr>
              <a:t>▪ 运行费会摊到每一次实验里</a:t>
            </a:r>
          </a:p>
          <a:p>
            <a:pPr>
              <a:spcAft>
                <a:spcPts val="1000"/>
              </a:spcAft>
            </a:pPr>
            <a:r>
              <a:rPr sz="1700">
                <a:solidFill>
                  <a:srgbClr val="222B33"/>
                </a:solidFill>
                <a:latin typeface="Microsoft YaHei"/>
              </a:rPr>
              <a:t>▪ 建得起养不起，安全就打折扣</a:t>
            </a:r>
          </a:p>
          <a:p>
            <a:pPr>
              <a:spcAft>
                <a:spcPts val="1000"/>
              </a:spcAft>
            </a:pPr>
            <a:r>
              <a:rPr sz="1700">
                <a:solidFill>
                  <a:srgbClr val="222B33"/>
                </a:solidFill>
                <a:latin typeface="Microsoft YaHei"/>
              </a:rPr>
              <a:t>▪ 成本是设计要考虑的事项之一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建封闭设施投入很大，决定建实验室、动笔设计之前，先要算清楚账。钱分两块：建设费和运行费。运行费（能耗、过滤器更换、检测、维修、人员）每年都有，会摊到每一次实验里。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只争取建设经费，不落实运行维护经费</a:t>
            </a:r>
          </a:p>
          <a:p>
            <a:pPr>
              <a:spcAft>
                <a:spcPts val="1000"/>
              </a:spcAft>
            </a:pPr>
            <a:r>
              <a:rPr sz="1500">
                <a:solidFill>
                  <a:srgbClr val="222B33"/>
                </a:solidFill>
                <a:latin typeface="Microsoft YaHei"/>
              </a:rPr>
              <a:t>▪ 为省钱推迟过滤器更换和设备检测</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选址：避开风险，保障支援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避开自然灾害多发地和人口稠密区</a:t>
            </a:r>
          </a:p>
          <a:p>
            <a:pPr>
              <a:spcAft>
                <a:spcPts val="1000"/>
              </a:spcAft>
            </a:pPr>
            <a:r>
              <a:rPr sz="1700">
                <a:solidFill>
                  <a:srgbClr val="222B33"/>
                </a:solidFill>
                <a:latin typeface="Microsoft YaHei"/>
              </a:rPr>
              <a:t>▪ 水电供应要有保障</a:t>
            </a:r>
          </a:p>
          <a:p>
            <a:pPr>
              <a:spcAft>
                <a:spcPts val="1000"/>
              </a:spcAft>
            </a:pPr>
            <a:r>
              <a:rPr sz="1700">
                <a:solidFill>
                  <a:srgbClr val="222B33"/>
                </a:solidFill>
                <a:latin typeface="Microsoft YaHei"/>
              </a:rPr>
              <a:t>▪ 应急队伍能及时赶到</a:t>
            </a:r>
          </a:p>
          <a:p>
            <a:pPr>
              <a:spcAft>
                <a:spcPts val="1000"/>
              </a:spcAft>
            </a:pPr>
            <a:r>
              <a:rPr sz="1700">
                <a:solidFill>
                  <a:srgbClr val="222B33"/>
                </a:solidFill>
                <a:latin typeface="Microsoft YaHei"/>
              </a:rPr>
              <a:t>▪ 周边环境稳定安全</a:t>
            </a:r>
          </a:p>
          <a:p>
            <a:pPr>
              <a:spcAft>
                <a:spcPts val="1000"/>
              </a:spcAft>
            </a:pPr>
            <a:r>
              <a:rPr sz="1700">
                <a:solidFill>
                  <a:srgbClr val="222B33"/>
                </a:solidFill>
                <a:latin typeface="Microsoft YaHei"/>
              </a:rPr>
              <a:t>▪ 植物封闭设施不紧挨农田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高等级实验室选址有讲究：避开地震、洪水等自然灾害多发地，避开人口稠密区；水电供应要有保障；发生事故时应急处置队伍能及时赶到；周边社会环境稳定安全。具体选址要求以 GB 19489-2008、GB 50346 等现行标……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为了方便把高等级实验室设在人员密集的教学楼中</a:t>
            </a:r>
          </a:p>
          <a:p>
            <a:pPr>
              <a:spcAft>
                <a:spcPts val="1000"/>
              </a:spcAft>
            </a:pPr>
            <a:r>
              <a:rPr sz="1500">
                <a:solidFill>
                  <a:srgbClr val="222B33"/>
                </a:solidFill>
                <a:latin typeface="Microsoft YaHei"/>
              </a:rPr>
              <a:t>▪ 忽视停水停电和应急支援条件</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布局：相邻集中，分区分流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防护实验室相邻集中，管道省、漏了不蔓延</a:t>
            </a:r>
          </a:p>
          <a:p>
            <a:pPr>
              <a:spcAft>
                <a:spcPts val="1000"/>
              </a:spcAft>
            </a:pPr>
            <a:r>
              <a:rPr sz="1700">
                <a:solidFill>
                  <a:srgbClr val="222B33"/>
                </a:solidFill>
                <a:latin typeface="Microsoft YaHei"/>
              </a:rPr>
              <a:t>▪ 相邻布置，通风系统才经济</a:t>
            </a:r>
          </a:p>
          <a:p>
            <a:pPr>
              <a:spcAft>
                <a:spcPts val="1000"/>
              </a:spcAft>
            </a:pPr>
            <a:r>
              <a:rPr sz="1700">
                <a:solidFill>
                  <a:srgbClr val="222B33"/>
                </a:solidFill>
                <a:latin typeface="Microsoft YaHei"/>
              </a:rPr>
              <a:t>▪ 区域按清洁到污染分级，人物按路线走</a:t>
            </a:r>
          </a:p>
          <a:p>
            <a:pPr>
              <a:spcAft>
                <a:spcPts val="1000"/>
              </a:spcAft>
            </a:pPr>
            <a:r>
              <a:rPr sz="1700">
                <a:solidFill>
                  <a:srgbClr val="222B33"/>
                </a:solidFill>
                <a:latin typeface="Microsoft YaHei"/>
              </a:rPr>
              <a:t>▪ 暂存、培养基制备、遗传操作各有分区</a:t>
            </a:r>
          </a:p>
          <a:p>
            <a:pPr>
              <a:spcAft>
                <a:spcPts val="1000"/>
              </a:spcAft>
            </a:pPr>
            <a:r>
              <a:rPr sz="1700">
                <a:solidFill>
                  <a:srgbClr val="222B33"/>
                </a:solidFill>
                <a:latin typeface="Microsoft YaHei"/>
              </a:rPr>
              <a:t>▪ 进设施的土壤和培养基先蒸汽灭菌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就像住宅把卫生间集中在一处，管道省，漏了也不会到处蔓延；防护实验室相邻集中布置，通风和管道系统才经济、好管理。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人流和物流共用一条路线、来回穿行</a:t>
            </a:r>
          </a:p>
          <a:p>
            <a:pPr>
              <a:spcAft>
                <a:spcPts val="1000"/>
              </a:spcAft>
            </a:pPr>
            <a:r>
              <a:rPr sz="1500">
                <a:solidFill>
                  <a:srgbClr val="222B33"/>
                </a:solidFill>
                <a:latin typeface="Microsoft YaHei"/>
              </a:rPr>
              <a:t>▪ 未经处理的土壤、培养基直接带入设施</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出入口缓冲间与穿墙灭菌器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出入口是缓冲间，两道门不同时开</a:t>
            </a:r>
          </a:p>
          <a:p>
            <a:pPr>
              <a:spcAft>
                <a:spcPts val="1000"/>
              </a:spcAft>
            </a:pPr>
            <a:r>
              <a:rPr sz="1700">
                <a:solidFill>
                  <a:srgbClr val="222B33"/>
                </a:solidFill>
                <a:latin typeface="Microsoft YaHei"/>
              </a:rPr>
              <a:t>▪ 先关外门再开内门，空气往里流</a:t>
            </a:r>
          </a:p>
          <a:p>
            <a:pPr>
              <a:spcAft>
                <a:spcPts val="1000"/>
              </a:spcAft>
            </a:pPr>
            <a:r>
              <a:rPr sz="1700">
                <a:solidFill>
                  <a:srgbClr val="222B33"/>
                </a:solidFill>
                <a:latin typeface="Microsoft YaHei"/>
              </a:rPr>
              <a:t>▪ 灭菌器嵌在墙里，两边开门</a:t>
            </a:r>
          </a:p>
          <a:p>
            <a:pPr>
              <a:spcAft>
                <a:spcPts val="1000"/>
              </a:spcAft>
            </a:pPr>
            <a:r>
              <a:rPr sz="1700">
                <a:solidFill>
                  <a:srgbClr val="222B33"/>
                </a:solidFill>
                <a:latin typeface="Microsoft YaHei"/>
              </a:rPr>
              <a:t>▪ 出去的材料、衣物都灭菌后才出去</a:t>
            </a:r>
          </a:p>
          <a:p>
            <a:pPr>
              <a:spcAft>
                <a:spcPts val="1000"/>
              </a:spcAft>
            </a:pPr>
            <a:r>
              <a:rPr sz="1700">
                <a:solidFill>
                  <a:srgbClr val="222B33"/>
                </a:solidFill>
                <a:latin typeface="Microsoft YaHei"/>
              </a:rPr>
              <a:t>▪ 未批准放行的材料，按规程销毁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设施的出入口是有两道门的缓冲间：先关外门，再开内门，两道门不同时开；开内门时空气往里流，不往外跑（缓冲间压力设计以本设施说明为准，见第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缓冲间两道门同时打开搬运物品</a:t>
            </a:r>
          </a:p>
          <a:p>
            <a:pPr>
              <a:spcAft>
                <a:spcPts val="1000"/>
              </a:spcAft>
            </a:pPr>
            <a:r>
              <a:rPr sz="1500">
                <a:solidFill>
                  <a:srgbClr val="222B33"/>
                </a:solidFill>
                <a:latin typeface="Microsoft YaHei"/>
              </a:rPr>
              <a:t>▪ 未经灭菌把材料或工作服从防护区带出</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结构和材料要经得住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负压设施的墙、玻璃、密封要结实</a:t>
            </a:r>
          </a:p>
          <a:p>
            <a:pPr>
              <a:spcAft>
                <a:spcPts val="1000"/>
              </a:spcAft>
            </a:pPr>
            <a:r>
              <a:rPr sz="2000">
                <a:solidFill>
                  <a:srgbClr val="222B33"/>
                </a:solidFill>
                <a:latin typeface="Microsoft YaHei"/>
              </a:rPr>
              <a:t>▪ 风机故障、负压过大可能撑破玻璃</a:t>
            </a:r>
          </a:p>
          <a:p>
            <a:pPr>
              <a:spcAft>
                <a:spcPts val="1000"/>
              </a:spcAft>
            </a:pPr>
            <a:r>
              <a:rPr sz="2000">
                <a:solidFill>
                  <a:srgbClr val="222B33"/>
                </a:solidFill>
                <a:latin typeface="Microsoft YaHei"/>
              </a:rPr>
              <a:t>▪ 要熏蒸消毒，材料须耐湿耐腐蚀、易清洁</a:t>
            </a:r>
          </a:p>
          <a:p>
            <a:pPr>
              <a:spcAft>
                <a:spcPts val="1000"/>
              </a:spcAft>
            </a:pPr>
            <a:r>
              <a:rPr sz="2000">
                <a:solidFill>
                  <a:srgbClr val="222B33"/>
                </a:solidFill>
                <a:latin typeface="Microsoft YaHei"/>
              </a:rPr>
              <a:t>▪ 植物设施的采光要看当地气候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负压设施要让空气稳定地往里流，墙体、观察窗玻璃和密封都要足够结实；风机出故障时负压可能过大，结构不够会撑破玻璃，所以设计时要有相应的保护和联锁。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在负压实验室墙面随意打孔、钉挂物品</a:t>
            </a:r>
          </a:p>
          <a:p>
            <a:pPr>
              <a:spcAft>
                <a:spcPts val="1000"/>
              </a:spcAft>
            </a:pPr>
            <a:r>
              <a:rPr sz="1500">
                <a:solidFill>
                  <a:srgbClr val="222B33"/>
                </a:solidFill>
                <a:latin typeface="Microsoft YaHei"/>
              </a:rPr>
              <a:t>▪ 熏蒸消毒后未经确认就进入房间</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设计时就考虑物理安保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安保要在设计时就考虑进去</a:t>
            </a:r>
          </a:p>
          <a:p>
            <a:pPr>
              <a:spcAft>
                <a:spcPts val="1000"/>
              </a:spcAft>
            </a:pPr>
            <a:r>
              <a:rPr sz="2000">
                <a:solidFill>
                  <a:srgbClr val="222B33"/>
                </a:solidFill>
                <a:latin typeface="Microsoft YaHei"/>
              </a:rPr>
              <a:t>▪ 门禁和监控管住人员进出</a:t>
            </a:r>
          </a:p>
          <a:p>
            <a:pPr>
              <a:spcAft>
                <a:spcPts val="1000"/>
              </a:spcAft>
            </a:pPr>
            <a:r>
              <a:rPr sz="2000">
                <a:solidFill>
                  <a:srgbClr val="222B33"/>
                </a:solidFill>
                <a:latin typeface="Microsoft YaHei"/>
              </a:rPr>
              <a:t>▪ 防止材料被盗、被私自扩繁</a:t>
            </a:r>
          </a:p>
          <a:p>
            <a:pPr>
              <a:spcAft>
                <a:spcPts val="1000"/>
              </a:spcAft>
            </a:pPr>
            <a:r>
              <a:rPr sz="2000">
                <a:solidFill>
                  <a:srgbClr val="222B33"/>
                </a:solidFill>
                <a:latin typeface="Microsoft YaHei"/>
              </a:rPr>
              <a:t>▪ 数据和资料也要加密管好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生物安保要在设计时就考虑进去，事后补救既贵又难。门禁、监控等物理安保措施管住人员进出，防止病原材料被盗、被私自扩繁或带出；实验数据和资料也要加密、分级管理。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把门禁卡借给他人或让他人尾随进入</a:t>
            </a:r>
          </a:p>
          <a:p>
            <a:pPr>
              <a:spcAft>
                <a:spcPts val="1000"/>
              </a:spcAft>
            </a:pPr>
            <a:r>
              <a:rPr sz="1500">
                <a:solidFill>
                  <a:srgbClr val="222B33"/>
                </a:solidFill>
                <a:latin typeface="Microsoft YaHei"/>
              </a:rPr>
              <a:t>▪ 在网上发布实验室布局和安保设施照片</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需求、设计、施工、认可四步走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第一步：定需求和预算，量力而行</a:t>
            </a:r>
          </a:p>
          <a:p>
            <a:pPr>
              <a:spcAft>
                <a:spcPts val="1000"/>
              </a:spcAft>
            </a:pPr>
            <a:r>
              <a:rPr sz="1700">
                <a:solidFill>
                  <a:srgbClr val="222B33"/>
                </a:solidFill>
                <a:latin typeface="Microsoft YaHei"/>
              </a:rPr>
              <a:t>▪ 第二步：初步设计，对照建筑消防等标准查合规</a:t>
            </a:r>
          </a:p>
          <a:p>
            <a:pPr>
              <a:spcAft>
                <a:spcPts val="1000"/>
              </a:spcAft>
            </a:pPr>
            <a:r>
              <a:rPr sz="1700">
                <a:solidFill>
                  <a:srgbClr val="222B33"/>
                </a:solidFill>
                <a:latin typeface="Microsoft YaHei"/>
              </a:rPr>
              <a:t>▪ 第三步：施工中改动要马上告诉工程师</a:t>
            </a:r>
          </a:p>
          <a:p>
            <a:pPr>
              <a:spcAft>
                <a:spcPts val="1000"/>
              </a:spcAft>
            </a:pPr>
            <a:r>
              <a:rPr sz="1700">
                <a:solidFill>
                  <a:srgbClr val="222B33"/>
                </a:solidFill>
                <a:latin typeface="Microsoft YaHei"/>
              </a:rPr>
              <a:t>▪ 第四步：验收认可，没通过不能开展实验</a:t>
            </a:r>
          </a:p>
          <a:p>
            <a:pPr>
              <a:spcAft>
                <a:spcPts val="1000"/>
              </a:spcAft>
            </a:pPr>
            <a:r>
              <a:rPr sz="1700">
                <a:solidFill>
                  <a:srgbClr val="222B33"/>
                </a:solidFill>
                <a:latin typeface="Microsoft YaHei"/>
              </a:rPr>
              <a:t>▪ 一二级备案，三四级审批并通过国家认可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建设一般分四步。第一步，需求和预算：按实际需要确定规模，预算有限不要贪大，并考虑每年的维护费。第二步，初步设计：对照建筑规范、消防疏散和生物安全标准（GB 19489-2008、GB 50346 等）逐项查合规。第三……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施工中随意增加隔墙或改变管线而不告知设计方</a:t>
            </a:r>
          </a:p>
          <a:p>
            <a:pPr>
              <a:spcAft>
                <a:spcPts val="1000"/>
              </a:spcAft>
            </a:pPr>
            <a:r>
              <a:rPr sz="1500">
                <a:solidFill>
                  <a:srgbClr val="222B33"/>
                </a:solidFill>
                <a:latin typeface="Microsoft YaHei"/>
              </a:rPr>
              <a:t>▪ 实验室刚装修完就开始做病原实验</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使用者和生物安全员参与建设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工程师懂结构，研究者懂生物，管理者协调</a:t>
            </a:r>
          </a:p>
          <a:p>
            <a:pPr>
              <a:spcAft>
                <a:spcPts val="1000"/>
              </a:spcAft>
            </a:pPr>
            <a:r>
              <a:rPr sz="1700">
                <a:solidFill>
                  <a:srgbClr val="222B33"/>
                </a:solidFill>
                <a:latin typeface="Microsoft YaHei"/>
              </a:rPr>
              <a:t>▪ 生物安全员要看懂图纸、懂通风空调</a:t>
            </a:r>
          </a:p>
          <a:p>
            <a:pPr>
              <a:spcAft>
                <a:spcPts val="1000"/>
              </a:spcAft>
            </a:pPr>
            <a:r>
              <a:rPr sz="1700">
                <a:solidFill>
                  <a:srgbClr val="222B33"/>
                </a:solidFill>
                <a:latin typeface="Microsoft YaHei"/>
              </a:rPr>
              <a:t>▪ 从建造、验收、维护到停用都参与</a:t>
            </a:r>
          </a:p>
          <a:p>
            <a:pPr>
              <a:spcAft>
                <a:spcPts val="1000"/>
              </a:spcAft>
            </a:pPr>
            <a:r>
              <a:rPr sz="1700">
                <a:solidFill>
                  <a:srgbClr val="222B33"/>
                </a:solidFill>
                <a:latin typeface="Microsoft YaHei"/>
              </a:rPr>
              <a:t>▪ 代表单位与设计方、主管部门沟通</a:t>
            </a:r>
          </a:p>
          <a:p>
            <a:pPr>
              <a:spcAft>
                <a:spcPts val="1000"/>
              </a:spcAft>
            </a:pPr>
            <a:r>
              <a:rPr sz="1700">
                <a:solidFill>
                  <a:srgbClr val="222B33"/>
                </a:solidFill>
                <a:latin typeface="Microsoft YaHei"/>
              </a:rPr>
              <a:t>▪ 使用者在关键阶段参与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设施设计要多方合作：工程师懂结构，研究者懂生物，管理者居中协调，让设施既满足工程要求又满足实验需要，并符合生物安全法规和标准。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设计全部交给施工方，使用者和安全员到验收时才看</a:t>
            </a:r>
          </a:p>
          <a:p>
            <a:pPr>
              <a:spcAft>
                <a:spcPts val="1000"/>
              </a:spcAft>
            </a:pPr>
            <a:r>
              <a:rPr sz="1500">
                <a:solidFill>
                  <a:srgbClr val="222B33"/>
                </a:solidFill>
                <a:latin typeface="Microsoft YaHei"/>
              </a:rPr>
              <a:t>▪ 生物安全员只管制度，不了解设施</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运行维护：过滤器和关键设备定期检测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安全柜、灭菌器、过滤器、负压要定期检测</a:t>
            </a:r>
          </a:p>
          <a:p>
            <a:pPr>
              <a:spcAft>
                <a:spcPts val="1000"/>
              </a:spcAft>
            </a:pPr>
            <a:r>
              <a:rPr sz="1700">
                <a:solidFill>
                  <a:srgbClr val="222B33"/>
                </a:solidFill>
                <a:latin typeface="Microsoft YaHei"/>
              </a:rPr>
              <a:t>▪ 用前看一眼检测标识是否在有效期内</a:t>
            </a:r>
          </a:p>
          <a:p>
            <a:pPr>
              <a:spcAft>
                <a:spcPts val="1000"/>
              </a:spcAft>
            </a:pPr>
            <a:r>
              <a:rPr sz="1700">
                <a:solidFill>
                  <a:srgbClr val="222B33"/>
                </a:solidFill>
                <a:latin typeface="Microsoft YaHei"/>
              </a:rPr>
              <a:t>▪ 过期未检或检测不合格，停用</a:t>
            </a:r>
          </a:p>
          <a:p>
            <a:pPr>
              <a:spcAft>
                <a:spcPts val="1000"/>
              </a:spcAft>
            </a:pPr>
            <a:r>
              <a:rPr sz="1700">
                <a:solidFill>
                  <a:srgbClr val="222B33"/>
                </a:solidFill>
                <a:latin typeface="Microsoft YaHei"/>
              </a:rPr>
              <a:t>▪ 换过滤器先原位消毒，专人装袋更换</a:t>
            </a:r>
          </a:p>
          <a:p>
            <a:pPr>
              <a:spcAft>
                <a:spcPts val="1000"/>
              </a:spcAft>
            </a:pPr>
            <a:r>
              <a:rPr sz="1700">
                <a:solidFill>
                  <a:srgbClr val="222B33"/>
                </a:solidFill>
                <a:latin typeface="Microsoft YaHei"/>
              </a:rPr>
              <a:t>▪ 装好检漏合格才能用，学生不碰过滤箱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使用检测过期的生物安全柜</a:t>
            </a:r>
          </a:p>
          <a:p>
            <a:pPr>
              <a:spcAft>
                <a:spcPts val="1000"/>
              </a:spcAft>
            </a:pPr>
            <a:r>
              <a:rPr sz="1500">
                <a:solidFill>
                  <a:srgbClr val="222B33"/>
                </a:solidFill>
                <a:latin typeface="Microsoft YaHei"/>
              </a:rPr>
              <a:t>▪ 非专业人员自行打开过滤箱或更换过滤器</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认可有期限，变化要重新评审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认可和备案不是一劳永逸</a:t>
            </a:r>
          </a:p>
          <a:p>
            <a:pPr>
              <a:spcAft>
                <a:spcPts val="1000"/>
              </a:spcAft>
            </a:pPr>
            <a:r>
              <a:rPr sz="2000">
                <a:solidFill>
                  <a:srgbClr val="222B33"/>
                </a:solidFill>
                <a:latin typeface="Microsoft YaHei"/>
              </a:rPr>
              <a:t>▪ 要接受定期复评和监督检查</a:t>
            </a:r>
          </a:p>
          <a:p>
            <a:pPr>
              <a:spcAft>
                <a:spcPts val="1000"/>
              </a:spcAft>
            </a:pPr>
            <a:r>
              <a:rPr sz="2000">
                <a:solidFill>
                  <a:srgbClr val="222B33"/>
                </a:solidFill>
                <a:latin typeface="Microsoft YaHei"/>
              </a:rPr>
              <a:t>▪ 设施改动、条件变化，要重新评审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实验室的认可和备案都不是一劳永逸的：认可有有效期，到期要复评，有效期内还要接受监督评审和主管部门的监督检查（具体周期以现行规定为准）。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认为一次通过认可就可以长期不管</a:t>
            </a:r>
          </a:p>
          <a:p>
            <a:pPr>
              <a:spcAft>
                <a:spcPts val="1000"/>
              </a:spcAft>
            </a:pPr>
            <a:r>
              <a:rPr sz="1500">
                <a:solidFill>
                  <a:srgbClr val="222B33"/>
                </a:solidFill>
                <a:latin typeface="Microsoft YaHei"/>
              </a:rPr>
              <a:t>▪ 改造房间或更换关键设备后不重新检测和评审</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停用搬迁：先去污，再验收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实验室停用、设备搬迁前先彻底去污</a:t>
            </a:r>
          </a:p>
          <a:p>
            <a:pPr>
              <a:spcAft>
                <a:spcPts val="1000"/>
              </a:spcAft>
            </a:pPr>
            <a:r>
              <a:rPr sz="2000">
                <a:solidFill>
                  <a:srgbClr val="222B33"/>
                </a:solidFill>
                <a:latin typeface="Microsoft YaHei"/>
              </a:rPr>
              <a:t>▪ 去污后验收合格并签字</a:t>
            </a:r>
          </a:p>
          <a:p>
            <a:pPr>
              <a:spcAft>
                <a:spcPts val="1000"/>
              </a:spcAft>
            </a:pPr>
            <a:r>
              <a:rPr sz="2000">
                <a:solidFill>
                  <a:srgbClr val="222B33"/>
                </a:solidFill>
                <a:latin typeface="Microsoft YaHei"/>
              </a:rPr>
              <a:t>▪ 合格后才能搬走、改用或报废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实验室停用、设备搬走或维修之前，先由实验室按规程彻底去污（消毒灭菌），清点并妥善处置剩余的生物材料。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未经去污直接把生物安全柜交给维修或搬家公司</a:t>
            </a:r>
          </a:p>
          <a:p>
            <a:pPr>
              <a:spcAft>
                <a:spcPts val="1000"/>
              </a:spcAft>
            </a:pPr>
            <a:r>
              <a:rPr sz="1500">
                <a:solidFill>
                  <a:srgbClr val="222B33"/>
                </a:solidFill>
                <a:latin typeface="Microsoft YaHei"/>
              </a:rPr>
              <a:t>▪ 实验室停用后遗留菌种、样本无人处置</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关于防护设施的设备层，正确的是：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设备层是参观区，可以随意进入</a:t>
            </a:r>
          </a:p>
          <a:p>
            <a:pPr algn="l"/>
            <a:r>
              <a:rPr sz="1500" b="0">
                <a:solidFill>
                  <a:srgbClr val="222B33"/>
                </a:solidFill>
                <a:latin typeface="Microsoft YaHei"/>
              </a:rPr>
              <a:t>B. 风机、过滤器和电控柜放在实验室上方，实验室里不放机械，便于密封清洁</a:t>
            </a:r>
          </a:p>
          <a:p>
            <a:pPr algn="l"/>
            <a:r>
              <a:rPr sz="1500" b="0">
                <a:solidFill>
                  <a:srgbClr val="222B33"/>
                </a:solidFill>
                <a:latin typeface="Microsoft YaHei"/>
              </a:rPr>
              <a:t>C. 过滤器应从实验室房间里拆换</a:t>
            </a:r>
          </a:p>
          <a:p>
            <a:pPr algn="l"/>
            <a:r>
              <a:rPr sz="1500" b="0">
                <a:solidFill>
                  <a:srgbClr val="222B33"/>
                </a:solidFill>
                <a:latin typeface="Microsoft YaHei"/>
              </a:rPr>
              <a:t>D. 维修设备层设备不需要断电</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判断：防护设施的排风只要由屋顶风机排到高空，就可以不经过滤。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防护设施的废水处理，正确的是：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直接排入市政管网</a:t>
            </a:r>
          </a:p>
          <a:p>
            <a:pPr algn="l"/>
            <a:r>
              <a:rPr sz="1500" b="0">
                <a:solidFill>
                  <a:srgbClr val="222B33"/>
                </a:solidFill>
                <a:latin typeface="Microsoft YaHei"/>
              </a:rPr>
              <a:t>B. 先进暂存罐，再消毒、中和，监测合格后排放</a:t>
            </a:r>
          </a:p>
          <a:p>
            <a:pPr algn="l"/>
            <a:r>
              <a:rPr sz="1500" b="0">
                <a:solidFill>
                  <a:srgbClr val="222B33"/>
                </a:solidFill>
                <a:latin typeface="Microsoft YaHei"/>
              </a:rPr>
              <a:t>C. 只处理灭菌器的废水</a:t>
            </a:r>
          </a:p>
          <a:p>
            <a:pPr algn="l"/>
            <a:r>
              <a:rPr sz="1500" b="0">
                <a:solidFill>
                  <a:srgbClr val="222B33"/>
                </a:solidFill>
                <a:latin typeface="Microsoft YaHei"/>
              </a:rPr>
              <a:t>D. 洗手水不需要处理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关于实验室建设与认可，正确的是：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施工中加隔墙不必告诉工程师</a:t>
            </a:r>
          </a:p>
          <a:p>
            <a:pPr algn="l"/>
            <a:r>
              <a:rPr sz="1500" b="0">
                <a:solidFill>
                  <a:srgbClr val="222B33"/>
                </a:solidFill>
                <a:latin typeface="Microsoft YaHei"/>
              </a:rPr>
              <a:t>B. 实验室装修完就可以开始做病原实验</a:t>
            </a:r>
          </a:p>
          <a:p>
            <a:pPr algn="l"/>
            <a:r>
              <a:rPr sz="1500" b="0">
                <a:solidFill>
                  <a:srgbClr val="222B33"/>
                </a:solidFill>
                <a:latin typeface="Microsoft YaHei"/>
              </a:rPr>
              <a:t>C. 三级、四级实验室须依法审批并通过国家认可，一级、二级实验室须备案</a:t>
            </a:r>
          </a:p>
          <a:p>
            <a:pPr algn="l"/>
            <a:r>
              <a:rPr sz="1500" b="0">
                <a:solidFill>
                  <a:srgbClr val="222B33"/>
                </a:solidFill>
                <a:latin typeface="Microsoft YaHei"/>
              </a:rPr>
              <a:t>D. 认可一次长期有效</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判断：生物安全柜检测标识已过期，但看起来运转正常，可以继续使用。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简答：实验室停用、生物安全柜要搬迁时应怎么做？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设施本身就是防护：工程控制</a:t>
            </a:r>
          </a:p>
          <a:p>
            <a:pPr>
              <a:spcAft>
                <a:spcPts val="800"/>
              </a:spcAft>
            </a:pPr>
            <a:r>
              <a:rPr sz="1500">
                <a:solidFill>
                  <a:srgbClr val="FFFFFF"/>
                </a:solidFill>
                <a:latin typeface="Microsoft YaHei"/>
              </a:rPr>
              <a:t>▪ K2  一座防护设施由什么组成</a:t>
            </a:r>
          </a:p>
          <a:p>
            <a:pPr>
              <a:spcAft>
                <a:spcPts val="800"/>
              </a:spcAft>
            </a:pPr>
            <a:r>
              <a:rPr sz="1500">
                <a:solidFill>
                  <a:srgbClr val="FFFFFF"/>
                </a:solidFill>
                <a:latin typeface="Microsoft YaHei"/>
              </a:rPr>
              <a:t>▪ K3  设备层：机器在上，实验室里不放</a:t>
            </a:r>
          </a:p>
          <a:p>
            <a:pPr>
              <a:spcAft>
                <a:spcPts val="800"/>
              </a:spcAft>
            </a:pPr>
            <a:r>
              <a:rPr sz="1500">
                <a:solidFill>
                  <a:srgbClr val="FFFFFF"/>
                </a:solidFill>
                <a:latin typeface="Microsoft YaHei"/>
              </a:rPr>
              <a:t>▪ K4  进排风都过滤，排风高空排放</a:t>
            </a:r>
          </a:p>
          <a:p>
            <a:pPr>
              <a:spcAft>
                <a:spcPts val="800"/>
              </a:spcAft>
            </a:pPr>
            <a:r>
              <a:rPr sz="1500">
                <a:solidFill>
                  <a:srgbClr val="FFFFFF"/>
                </a:solidFill>
                <a:latin typeface="Microsoft YaHei"/>
              </a:rPr>
              <a:t>▪ K5  控制与监测集中管理</a:t>
            </a:r>
          </a:p>
          <a:p>
            <a:pPr>
              <a:spcAft>
                <a:spcPts val="800"/>
              </a:spcAft>
            </a:pPr>
            <a:r>
              <a:rPr sz="1500">
                <a:solidFill>
                  <a:srgbClr val="FFFFFF"/>
                </a:solidFill>
                <a:latin typeface="Microsoft YaHei"/>
              </a:rPr>
              <a:t>▪ K6  污水与废物：出去之前先去污</a:t>
            </a:r>
          </a:p>
          <a:p>
            <a:pPr>
              <a:spcAft>
                <a:spcPts val="800"/>
              </a:spcAft>
            </a:pPr>
            <a:r>
              <a:rPr sz="1500">
                <a:solidFill>
                  <a:srgbClr val="FFFFFF"/>
                </a:solidFill>
                <a:latin typeface="Microsoft YaHei"/>
              </a:rPr>
              <a:t>▪ K7  先算账：建得起，也要养得起</a:t>
            </a:r>
          </a:p>
          <a:p>
            <a:pPr>
              <a:spcAft>
                <a:spcPts val="800"/>
              </a:spcAft>
            </a:pPr>
            <a:r>
              <a:rPr sz="1500">
                <a:solidFill>
                  <a:srgbClr val="FFFFFF"/>
                </a:solidFill>
                <a:latin typeface="Microsoft YaHei"/>
              </a:rPr>
              <a:t>▪ K8  选址：避开风险，保障支援</a:t>
            </a:r>
          </a:p>
          <a:p>
            <a:pPr>
              <a:spcAft>
                <a:spcPts val="800"/>
              </a:spcAft>
            </a:pPr>
            <a:r>
              <a:rPr sz="1500">
                <a:solidFill>
                  <a:srgbClr val="FFFFFF"/>
                </a:solidFill>
                <a:latin typeface="Microsoft YaHei"/>
              </a:rPr>
              <a:t>▪ K9  布局：相邻集中，分区分流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出入口缓冲间与穿墙灭菌器</a:t>
            </a:r>
          </a:p>
          <a:p>
            <a:pPr>
              <a:spcAft>
                <a:spcPts val="800"/>
              </a:spcAft>
            </a:pPr>
            <a:r>
              <a:rPr sz="1500">
                <a:solidFill>
                  <a:srgbClr val="FFFFFF"/>
                </a:solidFill>
                <a:latin typeface="Microsoft YaHei"/>
              </a:rPr>
              <a:t>▪ K11  结构和材料要经得住</a:t>
            </a:r>
          </a:p>
          <a:p>
            <a:pPr>
              <a:spcAft>
                <a:spcPts val="800"/>
              </a:spcAft>
            </a:pPr>
            <a:r>
              <a:rPr sz="1500">
                <a:solidFill>
                  <a:srgbClr val="FFFFFF"/>
                </a:solidFill>
                <a:latin typeface="Microsoft YaHei"/>
              </a:rPr>
              <a:t>▪ K12  设计时就考虑物理安保</a:t>
            </a:r>
          </a:p>
          <a:p>
            <a:pPr>
              <a:spcAft>
                <a:spcPts val="800"/>
              </a:spcAft>
            </a:pPr>
            <a:r>
              <a:rPr sz="1500">
                <a:solidFill>
                  <a:srgbClr val="FFFFFF"/>
                </a:solidFill>
                <a:latin typeface="Microsoft YaHei"/>
              </a:rPr>
              <a:t>▪ K13  需求、设计、施工、认可四步走</a:t>
            </a:r>
          </a:p>
          <a:p>
            <a:pPr>
              <a:spcAft>
                <a:spcPts val="800"/>
              </a:spcAft>
            </a:pPr>
            <a:r>
              <a:rPr sz="1500">
                <a:solidFill>
                  <a:srgbClr val="FFFFFF"/>
                </a:solidFill>
                <a:latin typeface="Microsoft YaHei"/>
              </a:rPr>
              <a:t>▪ K14  使用者和生物安全员参与建设</a:t>
            </a:r>
          </a:p>
          <a:p>
            <a:pPr>
              <a:spcAft>
                <a:spcPts val="800"/>
              </a:spcAft>
            </a:pPr>
            <a:r>
              <a:rPr sz="1500">
                <a:solidFill>
                  <a:srgbClr val="FFFFFF"/>
                </a:solidFill>
                <a:latin typeface="Microsoft YaHei"/>
              </a:rPr>
              <a:t>▪ K15  运行维护：过滤器和关键设备定期检测</a:t>
            </a:r>
          </a:p>
          <a:p>
            <a:pPr>
              <a:spcAft>
                <a:spcPts val="800"/>
              </a:spcAft>
            </a:pPr>
            <a:r>
              <a:rPr sz="1500">
                <a:solidFill>
                  <a:srgbClr val="FFFFFF"/>
                </a:solidFill>
                <a:latin typeface="Microsoft YaHei"/>
              </a:rPr>
              <a:t>▪ K16  认可有期限，变化要重新评审</a:t>
            </a:r>
          </a:p>
          <a:p>
            <a:pPr>
              <a:spcAft>
                <a:spcPts val="800"/>
              </a:spcAft>
            </a:pPr>
            <a:r>
              <a:rPr sz="1500">
                <a:solidFill>
                  <a:srgbClr val="FFFFFF"/>
                </a:solidFill>
                <a:latin typeface="Microsoft YaHei"/>
              </a:rPr>
              <a:t>▪ K17  停用搬迁：先去污，再验收</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生物风险管理体系与AMP模型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适用对象：进入生命科学、医学、农学、环境等涉及生物材料实验室的高校本科生、研究生和教职工（必修）；实验室负责人、生物安全员和编写实验室生物安全管理文件的人员重点学习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能说出生物风险管理的含义（生物安全加生物安保）、目的，以及国内“设立单位负责、三级管理、生物安全委员会、按国家标准建立管理体系”的框架。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AMP 模型（评估、减缓、绩效）三步各回答什么问题，以及它与“计划—执行—检查—改进”循环的对应关系。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能说出管理体系的要素（方针、领导承诺、人人知晓、实施运行、检查与纠正、持续改进）和体系文件的四个层次。</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能做到参与起草或学习本实验室的生物风险管理计划，知道其中的范围目标、角色职责、风险评估程序、操作规程、培训、事件响应、维护检查、文件记录和评审。</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《中华人民共和国生物安全法》（以现行文本为准）：病原微生物实验室的设立单位负责实验室的生物安全管理，建立健全管理制度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《病原微生物实验室生物安全管理条例》（以现行文本为准）：实验室设立单位及其主管部门负责生物安全管理；实验室负责人为第一责任人；制定操作规程、培训、档案和事故报告制度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生物安全通用要求》：管理体系、安全管理手册和程序文件、安全计划、风险评估、记录控制、内部审核与管理评审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233（以现行文本为准）《病原微生物实验室生物安全通用准则》：实验室生物安全管理体系和管理要求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45001-2020、GB/T 24001-2016（以现行文本为准）：管理体系“策划—实施—检查—改进”（PDCA）的思路，可作参照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号，以现行文本为准）：学校—学院—实验室三级管理，实验室安全责任体系和制度建设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本校实验室生物安全管理办法、生物安全委员会章程和实验室安全管理手册（以本校规定为准）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生物风险管理：生物安全加生物安保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生物风险管理包括生物安全和生物安保两部分</a:t>
            </a:r>
          </a:p>
          <a:p>
            <a:pPr>
              <a:spcAft>
                <a:spcPts val="1000"/>
              </a:spcAft>
            </a:pPr>
            <a:r>
              <a:rPr sz="1700">
                <a:solidFill>
                  <a:srgbClr val="222B33"/>
                </a:solidFill>
                <a:latin typeface="Microsoft YaHei"/>
              </a:rPr>
              <a:t>▪ 生物安全防意外暴露，生物安保防丢失、被盗和滥用</a:t>
            </a:r>
          </a:p>
          <a:p>
            <a:pPr>
              <a:spcAft>
                <a:spcPts val="1000"/>
              </a:spcAft>
            </a:pPr>
            <a:r>
              <a:rPr sz="1700">
                <a:solidFill>
                  <a:srgbClr val="222B33"/>
                </a:solidFill>
                <a:latin typeface="Microsoft YaHei"/>
              </a:rPr>
              <a:t>▪ 管材料的接收、使用、储存到销毁全过程</a:t>
            </a:r>
          </a:p>
          <a:p>
            <a:pPr>
              <a:spcAft>
                <a:spcPts val="1000"/>
              </a:spcAft>
            </a:pPr>
            <a:r>
              <a:rPr sz="1700">
                <a:solidFill>
                  <a:srgbClr val="222B33"/>
                </a:solidFill>
                <a:latin typeface="Microsoft YaHei"/>
              </a:rPr>
              <a:t>▪ 重点是病原、毒素和转基因生物</a:t>
            </a:r>
          </a:p>
          <a:p>
            <a:pPr>
              <a:spcAft>
                <a:spcPts val="1000"/>
              </a:spcAft>
            </a:pPr>
            <a:r>
              <a:rPr sz="1700">
                <a:solidFill>
                  <a:srgbClr val="222B33"/>
                </a:solidFill>
                <a:latin typeface="Microsoft YaHei"/>
              </a:rPr>
              <a:t>▪ 生物安全领域很广，本课聚焦实验室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认为生物风险管理只是“防感染”，忽视样本丢失和被盗</a:t>
            </a:r>
          </a:p>
          <a:p>
            <a:pPr>
              <a:spcAft>
                <a:spcPts val="1000"/>
              </a:spcAft>
            </a:pPr>
            <a:r>
              <a:rPr sz="1500">
                <a:solidFill>
                  <a:srgbClr val="222B33"/>
                </a:solidFill>
                <a:latin typeface="Microsoft YaHei"/>
              </a:rPr>
              <a:t>▪ 认为管理只是负责人和管理员的事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为什么要管：保护人员、公众和环境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首先防实验室获得性感染，不把病带回家</a:t>
            </a:r>
          </a:p>
          <a:p>
            <a:pPr>
              <a:spcAft>
                <a:spcPts val="1000"/>
              </a:spcAft>
            </a:pPr>
            <a:r>
              <a:rPr sz="2000">
                <a:solidFill>
                  <a:srgbClr val="222B33"/>
                </a:solidFill>
                <a:latin typeface="Microsoft YaHei"/>
              </a:rPr>
              <a:t>▪ 保护公众和环境，不让有害因子外泄</a:t>
            </a:r>
          </a:p>
          <a:p>
            <a:pPr>
              <a:spcAft>
                <a:spcPts val="1000"/>
              </a:spcAft>
            </a:pPr>
            <a:r>
              <a:rPr sz="2000">
                <a:solidFill>
                  <a:srgbClr val="222B33"/>
                </a:solidFill>
                <a:latin typeface="Microsoft YaHei"/>
              </a:rPr>
              <a:t>▪ 也关系到国家安全</a:t>
            </a:r>
          </a:p>
          <a:p>
            <a:pPr>
              <a:spcAft>
                <a:spcPts val="1000"/>
              </a:spcAft>
            </a:pPr>
            <a:r>
              <a:rPr sz="2000">
                <a:solidFill>
                  <a:srgbClr val="222B33"/>
                </a:solidFill>
                <a:latin typeface="Microsoft YaHei"/>
              </a:rPr>
              <a:t>▪ 国际手册可参考，国内依法律和国家标准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为什么要建立生物风险管理？首先是防止实验室获得性感染：在实验室工作，不应把病带回家。其次是保护公众和环境，无论意外还是蓄意，都不让有害生物因子外泄；它也关系到国家生物安全。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以国外手册的数值和做法代替国内法规和标准</a:t>
            </a:r>
          </a:p>
          <a:p>
            <a:pPr>
              <a:spcAft>
                <a:spcPts val="1000"/>
              </a:spcAft>
            </a:pPr>
            <a:r>
              <a:rPr sz="1500">
                <a:solidFill>
                  <a:srgbClr val="222B33"/>
                </a:solidFill>
                <a:latin typeface="Microsoft YaHei"/>
              </a:rPr>
              <a:t>▪ 认为“没出过事”就不需要管理体系</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国内要求：设立单位负责，体系化管理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依据：生物安全法、条例和国家标准</a:t>
            </a:r>
          </a:p>
          <a:p>
            <a:pPr>
              <a:spcAft>
                <a:spcPts val="1000"/>
              </a:spcAft>
            </a:pPr>
            <a:r>
              <a:rPr sz="2000">
                <a:solidFill>
                  <a:srgbClr val="222B33"/>
                </a:solidFill>
                <a:latin typeface="Microsoft YaHei"/>
              </a:rPr>
              <a:t>▪ 设立单位负责，学校—学院—实验室三级落实</a:t>
            </a:r>
          </a:p>
          <a:p>
            <a:pPr>
              <a:spcAft>
                <a:spcPts val="1000"/>
              </a:spcAft>
            </a:pPr>
            <a:r>
              <a:rPr sz="2000">
                <a:solidFill>
                  <a:srgbClr val="222B33"/>
                </a:solidFill>
                <a:latin typeface="Microsoft YaHei"/>
              </a:rPr>
              <a:t>▪ 生物安全委员会审议重要事项</a:t>
            </a:r>
          </a:p>
          <a:p>
            <a:pPr>
              <a:spcAft>
                <a:spcPts val="1000"/>
              </a:spcAft>
            </a:pPr>
            <a:r>
              <a:rPr sz="2000">
                <a:solidFill>
                  <a:srgbClr val="222B33"/>
                </a:solidFill>
                <a:latin typeface="Microsoft YaHei"/>
              </a:rPr>
              <a:t>▪ 按国家标准建立管理体系并持续运行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把生物安全委员会当成“走形式”，重要实验不提交审议</a:t>
            </a:r>
          </a:p>
          <a:p>
            <a:pPr>
              <a:spcAft>
                <a:spcPts val="1000"/>
              </a:spcAft>
            </a:pPr>
            <a:r>
              <a:rPr sz="1500">
                <a:solidFill>
                  <a:srgbClr val="222B33"/>
                </a:solidFill>
                <a:latin typeface="Microsoft YaHei"/>
              </a:rPr>
              <a:t>▪ 只有制度条文，没有按体系运行和检查</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AMP模型：评估、减缓、绩效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国际通行的生物风险管理方法：AMP 模型</a:t>
            </a:r>
          </a:p>
          <a:p>
            <a:pPr>
              <a:spcAft>
                <a:spcPts val="1000"/>
              </a:spcAft>
            </a:pPr>
            <a:r>
              <a:rPr sz="1700">
                <a:solidFill>
                  <a:srgbClr val="222B33"/>
                </a:solidFill>
                <a:latin typeface="Microsoft YaHei"/>
              </a:rPr>
              <a:t>▪ 评估问：有什么风险，有多大？</a:t>
            </a:r>
          </a:p>
          <a:p>
            <a:pPr>
              <a:spcAft>
                <a:spcPts val="1000"/>
              </a:spcAft>
            </a:pPr>
            <a:r>
              <a:rPr sz="1700">
                <a:solidFill>
                  <a:srgbClr val="222B33"/>
                </a:solidFill>
                <a:latin typeface="Microsoft YaHei"/>
              </a:rPr>
              <a:t>▪ 减缓问：怎样把风险降下来？</a:t>
            </a:r>
          </a:p>
          <a:p>
            <a:pPr>
              <a:spcAft>
                <a:spcPts val="1000"/>
              </a:spcAft>
            </a:pPr>
            <a:r>
              <a:rPr sz="1700">
                <a:solidFill>
                  <a:srgbClr val="222B33"/>
                </a:solidFill>
                <a:latin typeface="Microsoft YaHei"/>
              </a:rPr>
              <a:t>▪ 绩效问：怎么确认真的降下来了？</a:t>
            </a:r>
          </a:p>
          <a:p>
            <a:pPr>
              <a:spcAft>
                <a:spcPts val="1000"/>
              </a:spcAft>
            </a:pPr>
            <a:r>
              <a:rPr sz="1700">
                <a:solidFill>
                  <a:srgbClr val="222B33"/>
                </a:solidFill>
                <a:latin typeface="Microsoft YaHei"/>
              </a:rPr>
              <a:t>▪ 三步是生物风险管理的基础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AMP 模型是国际通行的管理生物风险的基本方法，由三步组成：评估（Assessment）、减缓（Mitigation）、绩效（Performance）。评估回答“有什么风险、有多大”；减缓回答“怎样把风险降下来”；绩……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只做评估，不落实控制措施</a:t>
            </a:r>
          </a:p>
          <a:p>
            <a:pPr>
              <a:spcAft>
                <a:spcPts val="1000"/>
              </a:spcAft>
            </a:pPr>
            <a:r>
              <a:rPr sz="1500">
                <a:solidFill>
                  <a:srgbClr val="222B33"/>
                </a:solidFill>
                <a:latin typeface="Microsoft YaHei"/>
              </a:rPr>
              <a:t>▪ 采取措施后从不检查效果</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看病原多危险、要做什么操作</a:t>
            </a:r>
          </a:p>
          <a:p>
            <a:pPr>
              <a:spcAft>
                <a:spcPts val="1000"/>
              </a:spcAft>
            </a:pPr>
            <a:r>
              <a:rPr sz="2000">
                <a:solidFill>
                  <a:srgbClr val="222B33"/>
                </a:solidFill>
                <a:latin typeface="Microsoft YaHei"/>
              </a:rPr>
              <a:t>▪ 估计出事的可能性和后果有多大</a:t>
            </a:r>
          </a:p>
          <a:p>
            <a:pPr>
              <a:spcAft>
                <a:spcPts val="1000"/>
              </a:spcAft>
            </a:pPr>
            <a:r>
              <a:rPr sz="2000">
                <a:solidFill>
                  <a:srgbClr val="222B33"/>
                </a:solidFill>
                <a:latin typeface="Microsoft YaHei"/>
              </a:rPr>
              <a:t>▪ 负责人组织，管理人员审核，动手的人参与</a:t>
            </a:r>
          </a:p>
          <a:p>
            <a:pPr>
              <a:spcAft>
                <a:spcPts val="1000"/>
              </a:spcAft>
            </a:pPr>
            <a:r>
              <a:rPr sz="2000">
                <a:solidFill>
                  <a:srgbClr val="222B33"/>
                </a:solidFill>
                <a:latin typeface="Microsoft YaHei"/>
              </a:rPr>
              <a:t>▪ 评估是其他所有工作的出发点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第一步是风险评估：找出实验里有哪些有害生物因子，这东西有多危险，我要做什么操作，估计出事的可能性和后果有多大，从而判断风险高低。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照抄别的实验室的评估报告</a:t>
            </a:r>
          </a:p>
          <a:p>
            <a:pPr>
              <a:spcAft>
                <a:spcPts val="1000"/>
              </a:spcAft>
            </a:pPr>
            <a:r>
              <a:rPr sz="1500">
                <a:solidFill>
                  <a:srgbClr val="222B33"/>
                </a:solidFill>
                <a:latin typeface="Microsoft YaHei"/>
              </a:rPr>
              <a:t>▪ 学生只签字，不了解评估内容</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第二步：风险减缓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按控制层级，从消除到个人防护一层层加</a:t>
            </a:r>
          </a:p>
          <a:p>
            <a:pPr>
              <a:spcAft>
                <a:spcPts val="1000"/>
              </a:spcAft>
            </a:pPr>
            <a:r>
              <a:rPr sz="1700">
                <a:solidFill>
                  <a:srgbClr val="222B33"/>
                </a:solidFill>
                <a:latin typeface="Microsoft YaHei"/>
              </a:rPr>
              <a:t>▪ 设施、规程、防护用品一起上</a:t>
            </a:r>
          </a:p>
          <a:p>
            <a:pPr>
              <a:spcAft>
                <a:spcPts val="1000"/>
              </a:spcAft>
            </a:pPr>
            <a:r>
              <a:rPr sz="1700">
                <a:solidFill>
                  <a:srgbClr val="222B33"/>
                </a:solidFill>
                <a:latin typeface="Microsoft YaHei"/>
              </a:rPr>
              <a:t>▪ 安全措施防暴露，安保措施防丢失被盗</a:t>
            </a:r>
          </a:p>
          <a:p>
            <a:pPr>
              <a:spcAft>
                <a:spcPts val="1000"/>
              </a:spcAft>
            </a:pPr>
            <a:r>
              <a:rPr sz="1700">
                <a:solidFill>
                  <a:srgbClr val="222B33"/>
                </a:solidFill>
                <a:latin typeface="Microsoft YaHei"/>
              </a:rPr>
              <a:t>▪ 加完再评估，不可接受就再加</a:t>
            </a:r>
          </a:p>
          <a:p>
            <a:pPr>
              <a:spcAft>
                <a:spcPts val="1000"/>
              </a:spcAft>
            </a:pPr>
            <a:r>
              <a:rPr sz="1700">
                <a:solidFill>
                  <a:srgbClr val="222B33"/>
                </a:solidFill>
                <a:latin typeface="Microsoft YaHei"/>
              </a:rPr>
              <a:t>▪ 风险越高，投入的资金和人力越足</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第二步是风险减缓：按控制层级（消除、替代、工程控制、管理控制、个人防护，见第 017 课）采取措施，把风险降到可接受的程度。设施设备、标准操作规程和个人防护用品要一起上，不能只靠一种。生物安全措施防止人员意外暴露，生……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只靠个人防护，不考虑工程和管理控制</a:t>
            </a:r>
          </a:p>
          <a:p>
            <a:pPr>
              <a:spcAft>
                <a:spcPts val="1000"/>
              </a:spcAft>
            </a:pPr>
            <a:r>
              <a:rPr sz="1500">
                <a:solidFill>
                  <a:srgbClr val="222B33"/>
                </a:solidFill>
                <a:latin typeface="Microsoft YaHei"/>
              </a:rPr>
              <a:t>▪ 加了措施不再评估残余风险</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第三步：绩效评估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看措施执行了没有、管不管用</a:t>
            </a:r>
          </a:p>
          <a:p>
            <a:pPr>
              <a:spcAft>
                <a:spcPts val="1000"/>
              </a:spcAft>
            </a:pPr>
            <a:r>
              <a:rPr sz="2000">
                <a:solidFill>
                  <a:srgbClr val="222B33"/>
                </a:solidFill>
                <a:latin typeface="Microsoft YaHei"/>
              </a:rPr>
              <a:t>▪ 定期检查设备，审核记录</a:t>
            </a:r>
          </a:p>
          <a:p>
            <a:pPr>
              <a:spcAft>
                <a:spcPts val="1000"/>
              </a:spcAft>
            </a:pPr>
            <a:r>
              <a:rPr sz="2000">
                <a:solidFill>
                  <a:srgbClr val="222B33"/>
                </a:solidFill>
                <a:latin typeface="Microsoft YaHei"/>
              </a:rPr>
              <a:t>▪ 组织演练，看大家会不会处置</a:t>
            </a:r>
          </a:p>
          <a:p>
            <a:pPr>
              <a:spcAft>
                <a:spcPts val="1000"/>
              </a:spcAft>
            </a:pPr>
            <a:r>
              <a:rPr sz="2000">
                <a:solidFill>
                  <a:srgbClr val="222B33"/>
                </a:solidFill>
                <a:latin typeface="Microsoft YaHei"/>
              </a:rPr>
              <a:t>▪ 发现问题，回到第一步改进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绩效评估：看控制措施选得对不对、有没有执行、管不管用，设备和防护有没有正常工作。方法包括定期检查，看措施是否真的落实；审核记录，看体系是否按规定运行；组织应急演练，看大家会不会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检查只看文件，不看现场操作</a:t>
            </a:r>
          </a:p>
          <a:p>
            <a:pPr>
              <a:spcAft>
                <a:spcPts val="1000"/>
              </a:spcAft>
            </a:pPr>
            <a:r>
              <a:rPr sz="1500">
                <a:solidFill>
                  <a:srgbClr val="222B33"/>
                </a:solidFill>
                <a:latin typeface="Microsoft YaHei"/>
              </a:rPr>
              <a:t>▪ 发现问题只口头提醒，不记录、不跟踪整改</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一圈圈转：AMP与PDCA循环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管理靠计划、执行、检查、改进循环</a:t>
            </a:r>
          </a:p>
          <a:p>
            <a:pPr>
              <a:spcAft>
                <a:spcPts val="1000"/>
              </a:spcAft>
            </a:pPr>
            <a:r>
              <a:rPr sz="1700">
                <a:solidFill>
                  <a:srgbClr val="222B33"/>
                </a:solidFill>
                <a:latin typeface="Microsoft YaHei"/>
              </a:rPr>
              <a:t>▪ 评估对应计划，减缓对应执行，绩效对应检查改进</a:t>
            </a:r>
          </a:p>
          <a:p>
            <a:pPr>
              <a:spcAft>
                <a:spcPts val="1000"/>
              </a:spcAft>
            </a:pPr>
            <a:r>
              <a:rPr sz="1700">
                <a:solidFill>
                  <a:srgbClr val="222B33"/>
                </a:solidFill>
                <a:latin typeface="Microsoft YaHei"/>
              </a:rPr>
              <a:t>▪ 写下怎么做，就照写的做</a:t>
            </a:r>
          </a:p>
          <a:p>
            <a:pPr>
              <a:spcAft>
                <a:spcPts val="1000"/>
              </a:spcAft>
            </a:pPr>
            <a:r>
              <a:rPr sz="1700">
                <a:solidFill>
                  <a:srgbClr val="222B33"/>
                </a:solidFill>
                <a:latin typeface="Microsoft YaHei"/>
              </a:rPr>
              <a:t>▪ 安全员观察找根源，改进规程再回到评估</a:t>
            </a:r>
          </a:p>
          <a:p>
            <a:pPr>
              <a:spcAft>
                <a:spcPts val="1000"/>
              </a:spcAft>
            </a:pPr>
            <a:r>
              <a:rPr sz="1700">
                <a:solidFill>
                  <a:srgbClr val="222B33"/>
                </a:solidFill>
                <a:latin typeface="Microsoft YaHei"/>
              </a:rPr>
              <a:t>▪ 每转一圈，管理就提高一点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管理实验室靠一个循环：计划、执行、检查、改进（PDCA），周而复始。用到生物风险上，就是 AMP 三步：策划从风险评估开始（识别危害、评估风险、确定怎样管住风险），对应“计划”；减缓对应“执行”；绩效对应“检查”和“……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规程写好后多年不修订</a:t>
            </a:r>
          </a:p>
          <a:p>
            <a:pPr>
              <a:spcAft>
                <a:spcPts val="1000"/>
              </a:spcAft>
            </a:pPr>
            <a:r>
              <a:rPr sz="1500">
                <a:solidFill>
                  <a:srgbClr val="222B33"/>
                </a:solidFill>
                <a:latin typeface="Microsoft YaHei"/>
              </a:rPr>
              <a:t>▪ 实际做法和书面规程两张皮</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体系：一环扣一环的过程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体系是一组相互关联的过程</a:t>
            </a:r>
          </a:p>
          <a:p>
            <a:pPr>
              <a:spcAft>
                <a:spcPts val="1000"/>
              </a:spcAft>
            </a:pPr>
            <a:r>
              <a:rPr sz="1700">
                <a:solidFill>
                  <a:srgbClr val="222B33"/>
                </a:solidFill>
                <a:latin typeface="Microsoft YaHei"/>
              </a:rPr>
              <a:t>▪ 一环出错，整条链都受影响</a:t>
            </a:r>
          </a:p>
          <a:p>
            <a:pPr>
              <a:spcAft>
                <a:spcPts val="1000"/>
              </a:spcAft>
            </a:pPr>
            <a:r>
              <a:rPr sz="1700">
                <a:solidFill>
                  <a:srgbClr val="222B33"/>
                </a:solidFill>
                <a:latin typeface="Microsoft YaHei"/>
              </a:rPr>
              <a:t>▪ 把流程画出来，每步都会产生废物</a:t>
            </a:r>
          </a:p>
          <a:p>
            <a:pPr>
              <a:spcAft>
                <a:spcPts val="1000"/>
              </a:spcAft>
            </a:pPr>
            <a:r>
              <a:rPr sz="1700">
                <a:solidFill>
                  <a:srgbClr val="222B33"/>
                </a:solidFill>
                <a:latin typeface="Microsoft YaHei"/>
              </a:rPr>
              <a:t>▪ 体系各部分缺一不可</a:t>
            </a:r>
          </a:p>
          <a:p>
            <a:pPr>
              <a:spcAft>
                <a:spcPts val="1000"/>
              </a:spcAft>
            </a:pPr>
            <a:r>
              <a:rPr sz="1700">
                <a:solidFill>
                  <a:srgbClr val="222B33"/>
                </a:solidFill>
                <a:latin typeface="Microsoft YaHei"/>
              </a:rPr>
              <a:t>▪ 管体系的人，设施等各环节都要懂一点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只管实验操作环节，不管运输、记录和废物环节</a:t>
            </a:r>
          </a:p>
          <a:p>
            <a:pPr>
              <a:spcAft>
                <a:spcPts val="1000"/>
              </a:spcAft>
            </a:pPr>
            <a:r>
              <a:rPr sz="1500">
                <a:solidFill>
                  <a:srgbClr val="222B33"/>
                </a:solidFill>
                <a:latin typeface="Microsoft YaHei"/>
              </a:rPr>
              <a:t>▪ 各环节各管各的，出了问题互相推诿</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建体系：定义、结构、理解、改进、认清约束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五要素：定义、结构、理解、改进、认清约束</a:t>
            </a:r>
          </a:p>
          <a:p>
            <a:pPr>
              <a:spcAft>
                <a:spcPts val="1000"/>
              </a:spcAft>
            </a:pPr>
            <a:r>
              <a:rPr sz="1700">
                <a:solidFill>
                  <a:srgbClr val="222B33"/>
                </a:solidFill>
                <a:latin typeface="Microsoft YaHei"/>
              </a:rPr>
              <a:t>▪ 先问：做什么实验、要什么仪器、谁来做</a:t>
            </a:r>
          </a:p>
          <a:p>
            <a:pPr>
              <a:spcAft>
                <a:spcPts val="1000"/>
              </a:spcAft>
            </a:pPr>
            <a:r>
              <a:rPr sz="1700">
                <a:solidFill>
                  <a:srgbClr val="222B33"/>
                </a:solidFill>
                <a:latin typeface="Microsoft YaHei"/>
              </a:rPr>
              <a:t>▪ 还牵涉运输、灭活、废物几个环节</a:t>
            </a:r>
          </a:p>
          <a:p>
            <a:pPr>
              <a:spcAft>
                <a:spcPts val="1000"/>
              </a:spcAft>
            </a:pPr>
            <a:r>
              <a:rPr sz="1700">
                <a:solidFill>
                  <a:srgbClr val="222B33"/>
                </a:solidFill>
                <a:latin typeface="Microsoft YaHei"/>
              </a:rPr>
              <a:t>▪ 人有极限，疲劳最易出事，分工要均衡</a:t>
            </a:r>
          </a:p>
          <a:p>
            <a:pPr>
              <a:spcAft>
                <a:spcPts val="1000"/>
              </a:spcAft>
            </a:pPr>
            <a:r>
              <a:rPr sz="1700">
                <a:solidFill>
                  <a:srgbClr val="222B33"/>
                </a:solidFill>
                <a:latin typeface="Microsoft YaHei"/>
              </a:rPr>
              <a:t>▪ 没有完美的体系，钱和人事先认清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体系有五个要素。第一，定义：定目标、划过程，这个实验室做什么，范围到哪。建实验室之前先问几个问题：做哪些实验？要什么仪器和规程？工作怎么安排、谁做什么？牵涉运输、灭活、废物哪些环节？怎样更安全、更高效？有哪些限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人手不足时长时间连续加班做高风险操作</a:t>
            </a:r>
          </a:p>
          <a:p>
            <a:pPr>
              <a:spcAft>
                <a:spcPts val="1000"/>
              </a:spcAft>
            </a:pPr>
            <a:r>
              <a:rPr sz="1500">
                <a:solidFill>
                  <a:srgbClr val="222B33"/>
                </a:solidFill>
                <a:latin typeface="Microsoft YaHei"/>
              </a:rPr>
              <a:t>▪ 不考虑经费和人员条件，计划定得做不到</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方针与领导承诺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一切从一份方针开始</a:t>
            </a:r>
          </a:p>
          <a:p>
            <a:pPr>
              <a:spcAft>
                <a:spcPts val="1000"/>
              </a:spcAft>
            </a:pPr>
            <a:r>
              <a:rPr sz="2000">
                <a:solidFill>
                  <a:srgbClr val="222B33"/>
                </a:solidFill>
                <a:latin typeface="Microsoft YaHei"/>
              </a:rPr>
              <a:t>▪ 方针写明：承诺安全、遵守法规、持续改进</a:t>
            </a:r>
          </a:p>
          <a:p>
            <a:pPr>
              <a:spcAft>
                <a:spcPts val="1000"/>
              </a:spcAft>
            </a:pPr>
            <a:r>
              <a:rPr sz="2000">
                <a:solidFill>
                  <a:srgbClr val="222B33"/>
                </a:solidFill>
                <a:latin typeface="Microsoft YaHei"/>
              </a:rPr>
              <a:t>▪ 领导承诺是体系成功的地基</a:t>
            </a:r>
          </a:p>
          <a:p>
            <a:pPr>
              <a:spcAft>
                <a:spcPts val="1000"/>
              </a:spcAft>
            </a:pPr>
            <a:r>
              <a:rPr sz="2000">
                <a:solidFill>
                  <a:srgbClr val="222B33"/>
                </a:solidFill>
                <a:latin typeface="Microsoft YaHei"/>
              </a:rPr>
              <a:t>▪ 负责人认领方针，给足资源，安全优先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体系一切从一份生物安全方针开始。方针写明单位的承诺：把安全放进主业，遵守国家法律法规和标准，持续改进。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方针照抄模板，与本单位实际无关</a:t>
            </a:r>
          </a:p>
          <a:p>
            <a:pPr>
              <a:spcAft>
                <a:spcPts val="1000"/>
              </a:spcAft>
            </a:pPr>
            <a:r>
              <a:rPr sz="1500">
                <a:solidFill>
                  <a:srgbClr val="222B33"/>
                </a:solidFill>
                <a:latin typeface="Microsoft YaHei"/>
              </a:rPr>
              <a:t>▪ 有方针无资源，安全经费和人员落实不了</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人人知晓，融入安全文化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方针讲给每个人，保洁清运人员也不例外</a:t>
            </a:r>
          </a:p>
          <a:p>
            <a:pPr>
              <a:spcAft>
                <a:spcPts val="1000"/>
              </a:spcAft>
            </a:pPr>
            <a:r>
              <a:rPr sz="2000">
                <a:solidFill>
                  <a:srgbClr val="222B33"/>
                </a:solidFill>
                <a:latin typeface="Microsoft YaHei"/>
              </a:rPr>
              <a:t>▪ 生物安全和生物安保一起管</a:t>
            </a:r>
          </a:p>
          <a:p>
            <a:pPr>
              <a:spcAft>
                <a:spcPts val="1000"/>
              </a:spcAft>
            </a:pPr>
            <a:r>
              <a:rPr sz="2000">
                <a:solidFill>
                  <a:srgbClr val="222B33"/>
                </a:solidFill>
                <a:latin typeface="Microsoft YaHei"/>
              </a:rPr>
              <a:t>▪ 负责人带头，规矩才立得住</a:t>
            </a:r>
          </a:p>
          <a:p>
            <a:pPr>
              <a:spcAft>
                <a:spcPts val="1000"/>
              </a:spcAft>
            </a:pPr>
            <a:r>
              <a:rPr sz="2000">
                <a:solidFill>
                  <a:srgbClr val="222B33"/>
                </a:solidFill>
                <a:latin typeface="Microsoft YaHei"/>
              </a:rPr>
              <a:t>▪ 每个人都可以提问题、提建议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方针要讲给每一个人听，包括保洁、清运、维修等进入实验室的人员；生物安全和生物安保一起管，最终变成每个人的习惯（安全文化见第 010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培训只覆盖学生，忽视保洁、维修等外来人员</a:t>
            </a:r>
          </a:p>
          <a:p>
            <a:pPr>
              <a:spcAft>
                <a:spcPts val="1000"/>
              </a:spcAft>
            </a:pPr>
            <a:r>
              <a:rPr sz="1500">
                <a:solidFill>
                  <a:srgbClr val="222B33"/>
                </a:solidFill>
                <a:latin typeface="Microsoft YaHei"/>
              </a:rPr>
              <a:t>▪ 负责人自己不遵守规定</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实施与运行：落到日常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搭架构、分职责、用合格的人、抓培训、讲到位</a:t>
            </a:r>
          </a:p>
          <a:p>
            <a:pPr>
              <a:spcAft>
                <a:spcPts val="1000"/>
              </a:spcAft>
            </a:pPr>
            <a:r>
              <a:rPr sz="2000">
                <a:solidFill>
                  <a:srgbClr val="222B33"/>
                </a:solidFill>
                <a:latin typeface="Microsoft YaHei"/>
              </a:rPr>
              <a:t>▪ 日常运行要管好八个方面</a:t>
            </a:r>
          </a:p>
          <a:p>
            <a:pPr>
              <a:spcAft>
                <a:spcPts val="1000"/>
              </a:spcAft>
            </a:pPr>
            <a:r>
              <a:rPr sz="2000">
                <a:solidFill>
                  <a:srgbClr val="222B33"/>
                </a:solidFill>
                <a:latin typeface="Microsoft YaHei"/>
              </a:rPr>
              <a:t>▪ 电气、化学等一般安全也在其中</a:t>
            </a:r>
          </a:p>
          <a:p>
            <a:pPr>
              <a:spcAft>
                <a:spcPts val="1000"/>
              </a:spcAft>
            </a:pPr>
            <a:r>
              <a:rPr sz="2000">
                <a:solidFill>
                  <a:srgbClr val="222B33"/>
                </a:solidFill>
                <a:latin typeface="Microsoft YaHei"/>
              </a:rPr>
              <a:t>▪ 结合本单位实际，制定具体程序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计划落地要做五件事：搭建组织架构，分配职责，任命合格的人员，抓好培训，把方针和做法讲到位。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直接套用其他单位的程序文件，不结合本实验室实际</a:t>
            </a:r>
          </a:p>
          <a:p>
            <a:pPr>
              <a:spcAft>
                <a:spcPts val="1000"/>
              </a:spcAft>
            </a:pPr>
            <a:r>
              <a:rPr sz="1500">
                <a:solidFill>
                  <a:srgbClr val="222B33"/>
                </a:solidFill>
                <a:latin typeface="Microsoft YaHei"/>
              </a:rPr>
              <a:t>▪ 只管生物危害，忽视同一实验室的电气和化学安全</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查根因、做纠正、持续改进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事故事件说明规程有缺口，趁小补上</a:t>
            </a:r>
          </a:p>
          <a:p>
            <a:pPr>
              <a:spcAft>
                <a:spcPts val="1000"/>
              </a:spcAft>
            </a:pPr>
            <a:r>
              <a:rPr sz="1700">
                <a:solidFill>
                  <a:srgbClr val="222B33"/>
                </a:solidFill>
                <a:latin typeface="Microsoft YaHei"/>
              </a:rPr>
              <a:t>▪ 查到根本原因，采取纠正措施</a:t>
            </a:r>
          </a:p>
          <a:p>
            <a:pPr>
              <a:spcAft>
                <a:spcPts val="1000"/>
              </a:spcAft>
            </a:pPr>
            <a:r>
              <a:rPr sz="1700">
                <a:solidFill>
                  <a:srgbClr val="222B33"/>
                </a:solidFill>
                <a:latin typeface="Microsoft YaHei"/>
              </a:rPr>
              <a:t>▪ 定期修订规程，新版发布，旧版收回</a:t>
            </a:r>
          </a:p>
          <a:p>
            <a:pPr>
              <a:spcAft>
                <a:spcPts val="1000"/>
              </a:spcAft>
            </a:pPr>
            <a:r>
              <a:rPr sz="1700">
                <a:solidFill>
                  <a:srgbClr val="222B33"/>
                </a:solidFill>
                <a:latin typeface="Microsoft YaHei"/>
              </a:rPr>
              <a:t>▪ 人人主人翁，预防在先，持续培训</a:t>
            </a:r>
          </a:p>
          <a:p>
            <a:pPr>
              <a:spcAft>
                <a:spcPts val="1000"/>
              </a:spcAft>
            </a:pPr>
            <a:r>
              <a:rPr sz="1700">
                <a:solidFill>
                  <a:srgbClr val="222B33"/>
                </a:solidFill>
                <a:latin typeface="Microsoft YaHei"/>
              </a:rPr>
              <a:t>▪ 定改进目标，也表扬做得好的人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运行中出了事故或事件（包括未遂事件），说明规程有漏洞，要趁小补上。出了问题要查到根本原因，采取纠正措施，同时寻找改进的机会（事故调查与根本原因分析见第 162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出了事只追究个人，不查流程和管理上的原因</a:t>
            </a:r>
          </a:p>
          <a:p>
            <a:pPr>
              <a:spcAft>
                <a:spcPts val="1000"/>
              </a:spcAft>
            </a:pPr>
            <a:r>
              <a:rPr sz="1500">
                <a:solidFill>
                  <a:srgbClr val="222B33"/>
                </a:solidFill>
                <a:latin typeface="Microsoft YaHei"/>
              </a:rPr>
              <a:t>▪ 规程修订后旧版仍留在现场</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生物风险管理计划：范围与目标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一份完整的计划有九块内容</a:t>
            </a:r>
          </a:p>
          <a:p>
            <a:pPr>
              <a:spcAft>
                <a:spcPts val="1000"/>
              </a:spcAft>
            </a:pPr>
            <a:r>
              <a:rPr sz="2000">
                <a:solidFill>
                  <a:srgbClr val="222B33"/>
                </a:solidFill>
                <a:latin typeface="Microsoft YaHei"/>
              </a:rPr>
              <a:t>▪ 先摸清家底，列出危险源清单并随时更新</a:t>
            </a:r>
          </a:p>
          <a:p>
            <a:pPr>
              <a:spcAft>
                <a:spcPts val="1000"/>
              </a:spcAft>
            </a:pPr>
            <a:r>
              <a:rPr sz="2000">
                <a:solidFill>
                  <a:srgbClr val="222B33"/>
                </a:solidFill>
                <a:latin typeface="Microsoft YaHei"/>
              </a:rPr>
              <a:t>▪ 范围：管哪些房间、用哪些微生物、做哪些实验</a:t>
            </a:r>
          </a:p>
          <a:p>
            <a:pPr>
              <a:spcAft>
                <a:spcPts val="1000"/>
              </a:spcAft>
            </a:pPr>
            <a:r>
              <a:rPr sz="2000">
                <a:solidFill>
                  <a:srgbClr val="222B33"/>
                </a:solidFill>
                <a:latin typeface="Microsoft YaHei"/>
              </a:rPr>
              <a:t>▪ 目标要具体、能检查，写成文件可追溯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生物风险管理计划（安全计划）是把体系落到本实验室的成文安排，可以按九块内容组织：范围与目标、角色与职责、风险评估程序、标准操作规程、培训与能力、事件响应与报告、维护与检查、文件与记录、评审与审核。GB 194……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计划里的范围和实际使用的病原、房间对不上</a:t>
            </a:r>
          </a:p>
          <a:p>
            <a:pPr>
              <a:spcAft>
                <a:spcPts val="1000"/>
              </a:spcAft>
            </a:pPr>
            <a:r>
              <a:rPr sz="1500">
                <a:solidFill>
                  <a:srgbClr val="222B33"/>
                </a:solidFill>
                <a:latin typeface="Microsoft YaHei"/>
              </a:rPr>
              <a:t>▪ 目标写成“确保安全”之类无法检查的空话</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计划：角色与职责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安全员负责日常检查和提醒</a:t>
            </a:r>
          </a:p>
          <a:p>
            <a:pPr>
              <a:spcAft>
                <a:spcPts val="1000"/>
              </a:spcAft>
            </a:pPr>
            <a:r>
              <a:rPr sz="2000">
                <a:solidFill>
                  <a:srgbClr val="222B33"/>
                </a:solidFill>
                <a:latin typeface="Microsoft YaHei"/>
              </a:rPr>
              <a:t>▪ 每个实验人员按规程做好自己</a:t>
            </a:r>
          </a:p>
          <a:p>
            <a:pPr>
              <a:spcAft>
                <a:spcPts val="1000"/>
              </a:spcAft>
            </a:pPr>
            <a:r>
              <a:rPr sz="2000">
                <a:solidFill>
                  <a:srgbClr val="222B33"/>
                </a:solidFill>
                <a:latin typeface="Microsoft YaHei"/>
              </a:rPr>
              <a:t>▪ 计划经学院审核、学校存档，人人学习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第二块是角色与职责：实验室负责人是第一责任人；实验室安全员负责日常检查和提醒；每个实验人员按规程做好自己的工作；学校管理部门和设施保障部门的职责也要写明。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职责写得笼统，出了问题找不到具体负责人</a:t>
            </a:r>
          </a:p>
          <a:p>
            <a:pPr>
              <a:spcAft>
                <a:spcPts val="1000"/>
              </a:spcAft>
            </a:pPr>
            <a:r>
              <a:rPr sz="1500">
                <a:solidFill>
                  <a:srgbClr val="222B33"/>
                </a:solidFill>
                <a:latin typeface="Microsoft YaHei"/>
              </a:rPr>
              <a:t>▪ 计划只存在负责人电脑里，组内无人知晓</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计划：风险评估程序与标准操作规程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写清评估谁来做、用什么方法</a:t>
            </a:r>
          </a:p>
          <a:p>
            <a:pPr>
              <a:spcAft>
                <a:spcPts val="1000"/>
              </a:spcAft>
            </a:pPr>
            <a:r>
              <a:rPr sz="2000">
                <a:solidFill>
                  <a:srgbClr val="222B33"/>
                </a:solidFill>
                <a:latin typeface="Microsoft YaHei"/>
              </a:rPr>
              <a:t>▪ 先识别危害，再判断风险高低</a:t>
            </a:r>
          </a:p>
          <a:p>
            <a:pPr>
              <a:spcAft>
                <a:spcPts val="1000"/>
              </a:spcAft>
            </a:pPr>
            <a:r>
              <a:rPr sz="2000">
                <a:solidFill>
                  <a:srgbClr val="222B33"/>
                </a:solidFill>
                <a:latin typeface="Microsoft YaHei"/>
              </a:rPr>
              <a:t>▪ 定期评估，有变化时重新评估</a:t>
            </a:r>
          </a:p>
          <a:p>
            <a:pPr>
              <a:spcAft>
                <a:spcPts val="1000"/>
              </a:spcAft>
            </a:pPr>
            <a:r>
              <a:rPr sz="2000">
                <a:solidFill>
                  <a:srgbClr val="222B33"/>
                </a:solidFill>
                <a:latin typeface="Microsoft YaHei"/>
              </a:rPr>
              <a:t>▪ 关键操作和设备各有一份规程，不凭记忆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第三块是风险评估程序：先识别危害，再判断风险高低；写清谁来评估、用什么方法、结果谁审核；定期评估，人员、病原、操作或设施有变化时重新评估（见第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新增病原或操作后不重新评估</a:t>
            </a:r>
          </a:p>
          <a:p>
            <a:pPr>
              <a:spcAft>
                <a:spcPts val="1000"/>
              </a:spcAft>
            </a:pPr>
            <a:r>
              <a:rPr sz="1500">
                <a:solidFill>
                  <a:srgbClr val="222B33"/>
                </a:solidFill>
                <a:latin typeface="Microsoft YaHei"/>
              </a:rPr>
              <a:t>▪ 凭记忆操作，规程放在柜子里没人看</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计划：培训与能力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培训后要考核，会做才算数</a:t>
            </a:r>
          </a:p>
          <a:p>
            <a:pPr>
              <a:spcAft>
                <a:spcPts val="1000"/>
              </a:spcAft>
            </a:pPr>
            <a:r>
              <a:rPr sz="2000">
                <a:solidFill>
                  <a:srgbClr val="222B33"/>
                </a:solidFill>
                <a:latin typeface="Microsoft YaHei"/>
              </a:rPr>
              <a:t>▪ 能力表上谁会做什么一目了然</a:t>
            </a:r>
          </a:p>
          <a:p>
            <a:pPr>
              <a:spcAft>
                <a:spcPts val="1000"/>
              </a:spcAft>
            </a:pPr>
            <a:r>
              <a:rPr sz="2000">
                <a:solidFill>
                  <a:srgbClr val="222B33"/>
                </a:solidFill>
                <a:latin typeface="Microsoft YaHei"/>
              </a:rPr>
              <a:t>▪ 培训不是一次了事，定期复训</a:t>
            </a:r>
          </a:p>
          <a:p>
            <a:pPr>
              <a:spcAft>
                <a:spcPts val="1000"/>
              </a:spcAft>
            </a:pPr>
            <a:r>
              <a:rPr sz="2000">
                <a:solidFill>
                  <a:srgbClr val="222B33"/>
                </a:solidFill>
                <a:latin typeface="Microsoft YaHei"/>
              </a:rPr>
              <a:t>▪ 每一步都有专人，各学各的规程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第五块是培训与能力：培训内容包括安全操作、应急程序，也包括科研伦理和生物安保意识。培训后要考核，确认真的会做才算有能力；用能力表记录谁会做什么、谁被授权做什么，一目了然。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只听课不考核，未经能力确认就独立操作</a:t>
            </a:r>
          </a:p>
          <a:p>
            <a:pPr>
              <a:spcAft>
                <a:spcPts val="1000"/>
              </a:spcAft>
            </a:pPr>
            <a:r>
              <a:rPr sz="1500">
                <a:solidFill>
                  <a:srgbClr val="222B33"/>
                </a:solidFill>
                <a:latin typeface="Microsoft YaHei"/>
              </a:rPr>
              <a:t>▪ 新换岗位的人员不学新岗位的规程</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计划：事件响应、维护与检查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溢洒、暴露等事件先按预案处置</a:t>
            </a:r>
          </a:p>
          <a:p>
            <a:pPr>
              <a:spcAft>
                <a:spcPts val="1000"/>
              </a:spcAft>
            </a:pPr>
            <a:r>
              <a:rPr sz="2000">
                <a:solidFill>
                  <a:srgbClr val="222B33"/>
                </a:solidFill>
                <a:latin typeface="Microsoft YaHei"/>
              </a:rPr>
              <a:t>▪ 逐级报告，不隐瞒不拖延</a:t>
            </a:r>
          </a:p>
          <a:p>
            <a:pPr>
              <a:spcAft>
                <a:spcPts val="1000"/>
              </a:spcAft>
            </a:pPr>
            <a:r>
              <a:rPr sz="2000">
                <a:solidFill>
                  <a:srgbClr val="222B33"/>
                </a:solidFill>
                <a:latin typeface="Microsoft YaHei"/>
              </a:rPr>
              <a:t>▪ 应急联系电话写进计划、贴上墙</a:t>
            </a:r>
          </a:p>
          <a:p>
            <a:pPr>
              <a:spcAft>
                <a:spcPts val="1000"/>
              </a:spcAft>
            </a:pPr>
            <a:r>
              <a:rPr sz="2000">
                <a:solidFill>
                  <a:srgbClr val="222B33"/>
                </a:solidFill>
                <a:latin typeface="Microsoft YaHei"/>
              </a:rPr>
              <a:t>▪ 维护检查写成日程，检定合格贴标签，过期停用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第六块是事件响应与报告：不管是意外事故还是安保事件，都要有渠道及时发现、报告和处理。发生溢洒、暴露，先按应急预案处置（见第 078 课），再按实验室负责人、学院、学校主管部门逐级报告，不隐瞒、不拖延；应急联系电话写进……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小的暴露事件怕麻烦不报告</a:t>
            </a:r>
          </a:p>
          <a:p>
            <a:pPr>
              <a:spcAft>
                <a:spcPts val="1000"/>
              </a:spcAft>
            </a:pPr>
            <a:r>
              <a:rPr sz="1500">
                <a:solidFill>
                  <a:srgbClr val="222B33"/>
                </a:solidFill>
                <a:latin typeface="Microsoft YaHei"/>
              </a:rPr>
              <a:t>▪ 设备维护检查没有日程，坏了才修</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计划：文件记录与评审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文件要有版本，旧版及时收回</a:t>
            </a:r>
          </a:p>
          <a:p>
            <a:pPr>
              <a:spcAft>
                <a:spcPts val="1000"/>
              </a:spcAft>
            </a:pPr>
            <a:r>
              <a:rPr sz="2000">
                <a:solidFill>
                  <a:srgbClr val="222B33"/>
                </a:solidFill>
                <a:latin typeface="Microsoft YaHei"/>
              </a:rPr>
              <a:t>▪ 培训、检查、事件、库存都要留记录</a:t>
            </a:r>
          </a:p>
          <a:p>
            <a:pPr>
              <a:spcAft>
                <a:spcPts val="1000"/>
              </a:spcAft>
            </a:pPr>
            <a:r>
              <a:rPr sz="2000">
                <a:solidFill>
                  <a:srgbClr val="222B33"/>
                </a:solidFill>
                <a:latin typeface="Microsoft YaHei"/>
              </a:rPr>
              <a:t>▪ 记录及时、真实、受控、可追溯</a:t>
            </a:r>
          </a:p>
          <a:p>
            <a:pPr>
              <a:spcAft>
                <a:spcPts val="1000"/>
              </a:spcAft>
            </a:pPr>
            <a:r>
              <a:rPr sz="2000">
                <a:solidFill>
                  <a:srgbClr val="222B33"/>
                </a:solidFill>
                <a:latin typeface="Microsoft YaHei"/>
              </a:rPr>
              <a:t>▪ 定期评审，发现问题就改，计划随之更新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第八块是文件与记录：文件要有版本号，旧版及时收回。每项生物安全工作都要有记录，包括培训、检查、事件、库存和规程执行；记录要及时、真实、受控、可追溯，问题才查得出来。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事后补记录、编记录</a:t>
            </a:r>
          </a:p>
          <a:p>
            <a:pPr>
              <a:spcAft>
                <a:spcPts val="1000"/>
              </a:spcAft>
            </a:pPr>
            <a:r>
              <a:rPr sz="1500">
                <a:solidFill>
                  <a:srgbClr val="222B33"/>
                </a:solidFill>
                <a:latin typeface="Microsoft YaHei"/>
              </a:rPr>
              <a:t>▪ 计划制定后从不评审更新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体系文件分四层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第一层管理手册：定方针和职责</a:t>
            </a:r>
          </a:p>
          <a:p>
            <a:pPr>
              <a:spcAft>
                <a:spcPts val="1000"/>
              </a:spcAft>
            </a:pPr>
            <a:r>
              <a:rPr sz="2000">
                <a:solidFill>
                  <a:srgbClr val="222B33"/>
                </a:solidFill>
                <a:latin typeface="Microsoft YaHei"/>
              </a:rPr>
              <a:t>▪ 第二层程序文件：管体系怎么运转</a:t>
            </a:r>
          </a:p>
          <a:p>
            <a:pPr>
              <a:spcAft>
                <a:spcPts val="1000"/>
              </a:spcAft>
            </a:pPr>
            <a:r>
              <a:rPr sz="2000">
                <a:solidFill>
                  <a:srgbClr val="222B33"/>
                </a:solidFill>
                <a:latin typeface="Microsoft YaHei"/>
              </a:rPr>
              <a:t>▪ 第三层操作规程：教你具体怎么做</a:t>
            </a:r>
          </a:p>
          <a:p>
            <a:pPr>
              <a:spcAft>
                <a:spcPts val="1000"/>
              </a:spcAft>
            </a:pPr>
            <a:r>
              <a:rPr sz="2000">
                <a:solidFill>
                  <a:srgbClr val="222B33"/>
                </a:solidFill>
                <a:latin typeface="Microsoft YaHei"/>
              </a:rPr>
              <a:t>▪ 第四层记录：证明已经做到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体系的各部分都要写成文件，一般分四层：管理手册规定方针、目标、组织和职责；程序文件规定各项管理活动怎么运转；标准操作规程（作业指导书）教你每项操作具体怎么做；记录证明确实做到了。GB 19489-2008 对管理体系……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手册、程序、规程内容相互矛盾</a:t>
            </a:r>
          </a:p>
          <a:p>
            <a:pPr>
              <a:spcAft>
                <a:spcPts val="1000"/>
              </a:spcAft>
            </a:pPr>
            <a:r>
              <a:rPr sz="1500">
                <a:solidFill>
                  <a:srgbClr val="222B33"/>
                </a:solidFill>
                <a:latin typeface="Microsoft YaHei"/>
              </a:rPr>
              <a:t>▪ 只有文件，没有记录证明执行</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AMP 模型三步依次是：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申请、批准、实施</a:t>
            </a:r>
          </a:p>
          <a:p>
            <a:pPr algn="l"/>
            <a:r>
              <a:rPr sz="1500" b="0">
                <a:solidFill>
                  <a:srgbClr val="222B33"/>
                </a:solidFill>
                <a:latin typeface="Microsoft YaHei"/>
              </a:rPr>
              <a:t>B. 评估、减缓、绩效</a:t>
            </a:r>
          </a:p>
          <a:p>
            <a:pPr algn="l"/>
            <a:r>
              <a:rPr sz="1500" b="0">
                <a:solidFill>
                  <a:srgbClr val="222B33"/>
                </a:solidFill>
                <a:latin typeface="Microsoft YaHei"/>
              </a:rPr>
              <a:t>C. 计划、采购、验收</a:t>
            </a:r>
          </a:p>
          <a:p>
            <a:pPr algn="l"/>
            <a:r>
              <a:rPr sz="1500" b="0">
                <a:solidFill>
                  <a:srgbClr val="222B33"/>
                </a:solidFill>
                <a:latin typeface="Microsoft YaHei"/>
              </a:rPr>
              <a:t>D. 培训、考核、上岗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判断：生物风险管理只包括防止实验室感染，样本丢失被盗属于保卫部门的事，与实验室无关。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 AMP 与 PDCA 的关系，正确的是：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两者毫无关系</a:t>
            </a:r>
          </a:p>
          <a:p>
            <a:pPr algn="l"/>
            <a:r>
              <a:rPr sz="1500" b="0">
                <a:solidFill>
                  <a:srgbClr val="222B33"/>
                </a:solidFill>
                <a:latin typeface="Microsoft YaHei"/>
              </a:rPr>
              <a:t>B. 评估对应计划，减缓对应执行，绩效对应检查和改进，一圈圈循环</a:t>
            </a:r>
          </a:p>
          <a:p>
            <a:pPr algn="l"/>
            <a:r>
              <a:rPr sz="1500" b="0">
                <a:solidFill>
                  <a:srgbClr val="222B33"/>
                </a:solidFill>
                <a:latin typeface="Microsoft YaHei"/>
              </a:rPr>
              <a:t>C. 做完一次就结束</a:t>
            </a:r>
          </a:p>
          <a:p>
            <a:pPr algn="l"/>
            <a:r>
              <a:rPr sz="1500" b="0">
                <a:solidFill>
                  <a:srgbClr val="222B33"/>
                </a:solidFill>
                <a:latin typeface="Microsoft YaHei"/>
              </a:rPr>
              <a:t>D. 只需要绩效，不需要评估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体系文件四层从上到下依次是：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记录、规程、程序文件、手册</a:t>
            </a:r>
          </a:p>
          <a:p>
            <a:pPr algn="l"/>
            <a:r>
              <a:rPr sz="1500" b="0">
                <a:solidFill>
                  <a:srgbClr val="222B33"/>
                </a:solidFill>
                <a:latin typeface="Microsoft YaHei"/>
              </a:rPr>
              <a:t>B. 管理手册、程序文件、操作规程、记录</a:t>
            </a:r>
          </a:p>
          <a:p>
            <a:pPr algn="l"/>
            <a:r>
              <a:rPr sz="1500" b="0">
                <a:solidFill>
                  <a:srgbClr val="222B33"/>
                </a:solidFill>
                <a:latin typeface="Microsoft YaHei"/>
              </a:rPr>
              <a:t>C. 规程、手册、记录、程序文件</a:t>
            </a:r>
          </a:p>
          <a:p>
            <a:pPr algn="l"/>
            <a:r>
              <a:rPr sz="1500" b="0">
                <a:solidFill>
                  <a:srgbClr val="222B33"/>
                </a:solidFill>
                <a:latin typeface="Microsoft YaHei"/>
              </a:rPr>
              <a:t>D. 只有操作规程一层</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判断：生物风险管理计划写好后只需负责人保存，组内成员不必学习。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简答：一份实验室生物风险管理计划通常包括哪些内容？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生物风险管理：生物安全加生物安保</a:t>
            </a:r>
          </a:p>
          <a:p>
            <a:pPr>
              <a:spcAft>
                <a:spcPts val="800"/>
              </a:spcAft>
            </a:pPr>
            <a:r>
              <a:rPr sz="1500">
                <a:solidFill>
                  <a:srgbClr val="FFFFFF"/>
                </a:solidFill>
                <a:latin typeface="Microsoft YaHei"/>
              </a:rPr>
              <a:t>▪ K2  为什么要管：保护人员、公众和环境</a:t>
            </a:r>
          </a:p>
          <a:p>
            <a:pPr>
              <a:spcAft>
                <a:spcPts val="800"/>
              </a:spcAft>
            </a:pPr>
            <a:r>
              <a:rPr sz="1500">
                <a:solidFill>
                  <a:srgbClr val="FFFFFF"/>
                </a:solidFill>
                <a:latin typeface="Microsoft YaHei"/>
              </a:rPr>
              <a:t>▪ S1  国内要求：设立单位负责，体系化管理</a:t>
            </a:r>
          </a:p>
          <a:p>
            <a:pPr>
              <a:spcAft>
                <a:spcPts val="800"/>
              </a:spcAft>
            </a:pPr>
            <a:r>
              <a:rPr sz="1500">
                <a:solidFill>
                  <a:srgbClr val="FFFFFF"/>
                </a:solidFill>
                <a:latin typeface="Microsoft YaHei"/>
              </a:rPr>
              <a:t>▪ K3  AMP模型：评估、减缓、绩效</a:t>
            </a:r>
          </a:p>
          <a:p>
            <a:pPr>
              <a:spcAft>
                <a:spcPts val="800"/>
              </a:spcAft>
            </a:pPr>
            <a:r>
              <a:rPr sz="1500">
                <a:solidFill>
                  <a:srgbClr val="FFFFFF"/>
                </a:solidFill>
                <a:latin typeface="Microsoft YaHei"/>
              </a:rPr>
              <a:t>▪ K4  第一步：风险评估</a:t>
            </a:r>
          </a:p>
          <a:p>
            <a:pPr>
              <a:spcAft>
                <a:spcPts val="800"/>
              </a:spcAft>
            </a:pPr>
            <a:r>
              <a:rPr sz="1500">
                <a:solidFill>
                  <a:srgbClr val="FFFFFF"/>
                </a:solidFill>
                <a:latin typeface="Microsoft YaHei"/>
              </a:rPr>
              <a:t>▪ K5  第二步：风险减缓</a:t>
            </a:r>
          </a:p>
          <a:p>
            <a:pPr>
              <a:spcAft>
                <a:spcPts val="800"/>
              </a:spcAft>
            </a:pPr>
            <a:r>
              <a:rPr sz="1500">
                <a:solidFill>
                  <a:srgbClr val="FFFFFF"/>
                </a:solidFill>
                <a:latin typeface="Microsoft YaHei"/>
              </a:rPr>
              <a:t>▪ K6  第三步：绩效评估</a:t>
            </a:r>
          </a:p>
          <a:p>
            <a:pPr>
              <a:spcAft>
                <a:spcPts val="800"/>
              </a:spcAft>
            </a:pPr>
            <a:r>
              <a:rPr sz="1500">
                <a:solidFill>
                  <a:srgbClr val="FFFFFF"/>
                </a:solidFill>
                <a:latin typeface="Microsoft YaHei"/>
              </a:rPr>
              <a:t>▪ K7  一圈圈转：AMP与PDCA循环</a:t>
            </a:r>
          </a:p>
          <a:p>
            <a:pPr>
              <a:spcAft>
                <a:spcPts val="800"/>
              </a:spcAft>
            </a:pPr>
            <a:r>
              <a:rPr sz="1500">
                <a:solidFill>
                  <a:srgbClr val="FFFFFF"/>
                </a:solidFill>
                <a:latin typeface="Microsoft YaHei"/>
              </a:rPr>
              <a:t>▪ K8  体系：一环扣一环的过程</a:t>
            </a:r>
          </a:p>
          <a:p>
            <a:pPr>
              <a:spcAft>
                <a:spcPts val="800"/>
              </a:spcAft>
            </a:pPr>
            <a:r>
              <a:rPr sz="1500">
                <a:solidFill>
                  <a:srgbClr val="FFFFFF"/>
                </a:solidFill>
                <a:latin typeface="Microsoft YaHei"/>
              </a:rPr>
              <a:t>▪ K9  建体系：定义、结构、理解、改进、认清约束</a:t>
            </a:r>
          </a:p>
          <a:p>
            <a:pPr>
              <a:spcAft>
                <a:spcPts val="800"/>
              </a:spcAft>
            </a:pPr>
            <a:r>
              <a:rPr sz="1500">
                <a:solidFill>
                  <a:srgbClr val="FFFFFF"/>
                </a:solidFill>
                <a:latin typeface="Microsoft YaHei"/>
              </a:rPr>
              <a:t>▪ K10  方针与领导承诺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人人知晓，融入安全文化</a:t>
            </a:r>
          </a:p>
          <a:p>
            <a:pPr>
              <a:spcAft>
                <a:spcPts val="800"/>
              </a:spcAft>
            </a:pPr>
            <a:r>
              <a:rPr sz="1500">
                <a:solidFill>
                  <a:srgbClr val="FFFFFF"/>
                </a:solidFill>
                <a:latin typeface="Microsoft YaHei"/>
              </a:rPr>
              <a:t>▪ K12  实施与运行：落到日常</a:t>
            </a:r>
          </a:p>
          <a:p>
            <a:pPr>
              <a:spcAft>
                <a:spcPts val="800"/>
              </a:spcAft>
            </a:pPr>
            <a:r>
              <a:rPr sz="1500">
                <a:solidFill>
                  <a:srgbClr val="FFFFFF"/>
                </a:solidFill>
                <a:latin typeface="Microsoft YaHei"/>
              </a:rPr>
              <a:t>▪ K13  查根因、做纠正、持续改进</a:t>
            </a:r>
          </a:p>
          <a:p>
            <a:pPr>
              <a:spcAft>
                <a:spcPts val="800"/>
              </a:spcAft>
            </a:pPr>
            <a:r>
              <a:rPr sz="1500">
                <a:solidFill>
                  <a:srgbClr val="FFFFFF"/>
                </a:solidFill>
                <a:latin typeface="Microsoft YaHei"/>
              </a:rPr>
              <a:t>▪ K14  生物风险管理计划：范围与目标</a:t>
            </a:r>
          </a:p>
          <a:p>
            <a:pPr>
              <a:spcAft>
                <a:spcPts val="800"/>
              </a:spcAft>
            </a:pPr>
            <a:r>
              <a:rPr sz="1500">
                <a:solidFill>
                  <a:srgbClr val="FFFFFF"/>
                </a:solidFill>
                <a:latin typeface="Microsoft YaHei"/>
              </a:rPr>
              <a:t>▪ K15  计划：角色与职责</a:t>
            </a:r>
          </a:p>
          <a:p>
            <a:pPr>
              <a:spcAft>
                <a:spcPts val="800"/>
              </a:spcAft>
            </a:pPr>
            <a:r>
              <a:rPr sz="1500">
                <a:solidFill>
                  <a:srgbClr val="FFFFFF"/>
                </a:solidFill>
                <a:latin typeface="Microsoft YaHei"/>
              </a:rPr>
              <a:t>▪ K16  计划：风险评估程序与标准操作规程</a:t>
            </a:r>
          </a:p>
          <a:p>
            <a:pPr>
              <a:spcAft>
                <a:spcPts val="800"/>
              </a:spcAft>
            </a:pPr>
            <a:r>
              <a:rPr sz="1500">
                <a:solidFill>
                  <a:srgbClr val="FFFFFF"/>
                </a:solidFill>
                <a:latin typeface="Microsoft YaHei"/>
              </a:rPr>
              <a:t>▪ K17  计划：培训与能力</a:t>
            </a:r>
          </a:p>
          <a:p>
            <a:pPr>
              <a:spcAft>
                <a:spcPts val="800"/>
              </a:spcAft>
            </a:pPr>
            <a:r>
              <a:rPr sz="1500">
                <a:solidFill>
                  <a:srgbClr val="FFFFFF"/>
                </a:solidFill>
                <a:latin typeface="Microsoft YaHei"/>
              </a:rPr>
              <a:t>▪ K18  计划：事件响应、维护与检查</a:t>
            </a:r>
          </a:p>
          <a:p>
            <a:pPr>
              <a:spcAft>
                <a:spcPts val="800"/>
              </a:spcAft>
            </a:pPr>
            <a:r>
              <a:rPr sz="1500">
                <a:solidFill>
                  <a:srgbClr val="FFFFFF"/>
                </a:solidFill>
                <a:latin typeface="Microsoft YaHei"/>
              </a:rPr>
              <a:t>▪ K19  计划：文件记录与评审</a:t>
            </a:r>
          </a:p>
          <a:p>
            <a:pPr>
              <a:spcAft>
                <a:spcPts val="800"/>
              </a:spcAft>
            </a:pPr>
            <a:r>
              <a:rPr sz="1500">
                <a:solidFill>
                  <a:srgbClr val="FFFFFF"/>
                </a:solidFill>
                <a:latin typeface="Microsoft YaHei"/>
              </a:rPr>
              <a:t>▪ K20  体系文件分四层</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生物安全绩效评估与审核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适用对象：进入生命科学、医学、农学、环境等涉及生物材料实验室的高校本科生、研究生和教职工（必修）；实验室负责人、生物安全员和参与内部审核、安全检查的人员重点学习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能说出绩效评估的含义（记录、测量、评价；计划与实际之差）和它在“评估—减缓—绩效”循环中的作用。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能说出从方针到目标、再到指标的关系，区分先行指标和滞后指标，说出好指标的特征和数据收集分析的注意事项。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能说出内部审核、外部审核与监督检查、管理评审各看什么，以及纠正措施“谁改、怎么改、何时改完、复查关闭”的闭环。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能做到被检查时照常规范操作，出错先停下、如实说明、按规程处理。</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《中华人民共和国生物安全法》（以现行文本为准）：主管部门对病原微生物实验室生物安全实施监督检查，设立单位负责日常管理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《病原微生物实验室生物安全管理条例》（以现行文本为准）：主管部门依法监督检查；三级、四级实验室须通过国家认可；实验室建立档案和事故报告制度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生物安全通用要求》：安全计划与目标、记录控制、内部审核、管理评审、不符合项的识别和控制、纠正措施和持续改进</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233（以现行文本为准）《病原微生物实验室生物安全通用准则》：实验室生物安全管理和监督检查要求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要求及使用指南》：绩效监视、测量、分析和评价，内部审核、管理评审与持续改进，可作参照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号，以现行文本为准）：学校、学院、实验室分级开展安全检查，隐患整改闭环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本校实验室安全检查与隐患整改办法、个人信息保护相关规定（以本校规定为准）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什么是绩效评估：记录、测量、评价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记录、测量、评价我们做过的事</a:t>
            </a:r>
          </a:p>
          <a:p>
            <a:pPr>
              <a:spcAft>
                <a:spcPts val="1000"/>
              </a:spcAft>
            </a:pPr>
            <a:r>
              <a:rPr sz="1700">
                <a:solidFill>
                  <a:srgbClr val="222B33"/>
                </a:solidFill>
                <a:latin typeface="Microsoft YaHei"/>
              </a:rPr>
              <a:t>▪ 目的：把生物风险降下来</a:t>
            </a:r>
          </a:p>
          <a:p>
            <a:pPr>
              <a:spcAft>
                <a:spcPts val="1000"/>
              </a:spcAft>
            </a:pPr>
            <a:r>
              <a:rPr sz="1700">
                <a:solidFill>
                  <a:srgbClr val="222B33"/>
                </a:solidFill>
                <a:latin typeface="Microsoft YaHei"/>
              </a:rPr>
              <a:t>▪ 不只看病原，人、物、设施都要看</a:t>
            </a:r>
          </a:p>
          <a:p>
            <a:pPr>
              <a:spcAft>
                <a:spcPts val="1000"/>
              </a:spcAft>
            </a:pPr>
            <a:r>
              <a:rPr sz="1700">
                <a:solidFill>
                  <a:srgbClr val="222B33"/>
                </a:solidFill>
                <a:latin typeface="Microsoft YaHei"/>
              </a:rPr>
              <a:t>▪ 回头查记录：事故、未遂事件、日常检查都算</a:t>
            </a:r>
          </a:p>
          <a:p>
            <a:pPr>
              <a:spcAft>
                <a:spcPts val="1000"/>
              </a:spcAft>
            </a:pPr>
            <a:r>
              <a:rPr sz="1700">
                <a:solidFill>
                  <a:srgbClr val="222B33"/>
                </a:solidFill>
                <a:latin typeface="Microsoft YaHei"/>
              </a:rPr>
              <a:t>▪ 看哪里达标、哪里没达标，问为什么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绩效评估，就是记录、测量和评价我们做过的事，目的是把生物风险降下来。它看的是整个体系：不只看病原，还要看人、物和设施。绩效测量不是另外一摊事，而是管理体系的一部分：规程写的和实际做的，都要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只统计事故，不统计未遂事件和日常检查发现的问题</a:t>
            </a:r>
          </a:p>
          <a:p>
            <a:pPr>
              <a:spcAft>
                <a:spcPts val="1000"/>
              </a:spcAft>
            </a:pPr>
            <a:r>
              <a:rPr sz="1500">
                <a:solidFill>
                  <a:srgbClr val="222B33"/>
                </a:solidFill>
                <a:latin typeface="Microsoft YaHei"/>
              </a:rPr>
              <a:t>▪ 认为绩效评估是管理部门的事，与实验人员无关</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绩效：计划与实际之差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计划和实际的差距，就是绩效</a:t>
            </a:r>
          </a:p>
          <a:p>
            <a:pPr>
              <a:spcAft>
                <a:spcPts val="1000"/>
              </a:spcAft>
            </a:pPr>
            <a:r>
              <a:rPr sz="1700">
                <a:solidFill>
                  <a:srgbClr val="222B33"/>
                </a:solidFill>
                <a:latin typeface="Microsoft YaHei"/>
              </a:rPr>
              <a:t>▪ 找出拖后腿的原因</a:t>
            </a:r>
          </a:p>
          <a:p>
            <a:pPr>
              <a:spcAft>
                <a:spcPts val="1000"/>
              </a:spcAft>
            </a:pPr>
            <a:r>
              <a:rPr sz="1700">
                <a:solidFill>
                  <a:srgbClr val="222B33"/>
                </a:solidFill>
                <a:latin typeface="Microsoft YaHei"/>
              </a:rPr>
              <a:t>▪ 年初定目标，年底对比差在哪</a:t>
            </a:r>
          </a:p>
          <a:p>
            <a:pPr>
              <a:spcAft>
                <a:spcPts val="1000"/>
              </a:spcAft>
            </a:pPr>
            <a:r>
              <a:rPr sz="1700">
                <a:solidFill>
                  <a:srgbClr val="222B33"/>
                </a:solidFill>
                <a:latin typeface="Microsoft YaHei"/>
              </a:rPr>
              <a:t>▪ 差了就改规程、加培训，每起事件都调查</a:t>
            </a:r>
          </a:p>
          <a:p>
            <a:pPr>
              <a:spcAft>
                <a:spcPts val="1000"/>
              </a:spcAft>
            </a:pPr>
            <a:r>
              <a:rPr sz="1700">
                <a:solidFill>
                  <a:srgbClr val="222B33"/>
                </a:solidFill>
                <a:latin typeface="Microsoft YaHei"/>
              </a:rPr>
              <a:t>▪ 绩效是大家共同努力的结果，要一直用力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打个比方：计划十五分钟跑完一公里，实际跑了二十分钟。天气、体能、装备，逐一找出拖后腿的因素。计划和实际之间的差距，就是绩效要看的东西。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目标没达到就修改目标“凑数”</a:t>
            </a:r>
          </a:p>
          <a:p>
            <a:pPr>
              <a:spcAft>
                <a:spcPts val="1000"/>
              </a:spcAft>
            </a:pPr>
            <a:r>
              <a:rPr sz="1500">
                <a:solidFill>
                  <a:srgbClr val="222B33"/>
                </a:solidFill>
                <a:latin typeface="Microsoft YaHei"/>
              </a:rPr>
              <a:t>▪ 只看结果数字，不分析差距的原因</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减缓之后再评估，一圈圈循环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控制加了，不一定有效</a:t>
            </a:r>
          </a:p>
          <a:p>
            <a:pPr>
              <a:spcAft>
                <a:spcPts val="1000"/>
              </a:spcAft>
            </a:pPr>
            <a:r>
              <a:rPr sz="1700">
                <a:solidFill>
                  <a:srgbClr val="222B33"/>
                </a:solidFill>
                <a:latin typeface="Microsoft YaHei"/>
              </a:rPr>
              <a:t>▪ 减缓之后再评估，确认风险真的降了</a:t>
            </a:r>
          </a:p>
          <a:p>
            <a:pPr>
              <a:spcAft>
                <a:spcPts val="1000"/>
              </a:spcAft>
            </a:pPr>
            <a:r>
              <a:rPr sz="1700">
                <a:solidFill>
                  <a:srgbClr val="222B33"/>
                </a:solidFill>
                <a:latin typeface="Microsoft YaHei"/>
              </a:rPr>
              <a:t>▪ 收集信息、评价、定策略、落实、复查成一圈</a:t>
            </a:r>
          </a:p>
          <a:p>
            <a:pPr>
              <a:spcAft>
                <a:spcPts val="1000"/>
              </a:spcAft>
            </a:pPr>
            <a:r>
              <a:rPr sz="1700">
                <a:solidFill>
                  <a:srgbClr val="222B33"/>
                </a:solidFill>
                <a:latin typeface="Microsoft YaHei"/>
              </a:rPr>
              <a:t>▪ 查推荐的措施落实了吗，没有为什么，有记录吗</a:t>
            </a:r>
          </a:p>
          <a:p>
            <a:pPr>
              <a:spcAft>
                <a:spcPts val="1000"/>
              </a:spcAft>
            </a:pPr>
            <a:r>
              <a:rPr sz="1700">
                <a:solidFill>
                  <a:srgbClr val="222B33"/>
                </a:solidFill>
                <a:latin typeface="Microsoft YaHei"/>
              </a:rPr>
              <a:t>▪ 数据也是说服领导投入的依据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控制措施加上了，就一定有效吗？要靠绩效来验证：减缓之后再做一次风险评估，确认风险真的降下来了，这一步才算数。剩下的风险能不能接受，要再判断。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措施一上就认为风险已经解决</a:t>
            </a:r>
          </a:p>
          <a:p>
            <a:pPr>
              <a:spcAft>
                <a:spcPts val="1000"/>
              </a:spcAft>
            </a:pPr>
            <a:r>
              <a:rPr sz="1500">
                <a:solidFill>
                  <a:srgbClr val="222B33"/>
                </a:solidFill>
                <a:latin typeface="Microsoft YaHei"/>
              </a:rPr>
              <a:t>▪ 复查只问“做了吗”，不看“管用吗”</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从方针到目标：看得见、量得出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方针表明决心和方向，不讲具体做法</a:t>
            </a:r>
          </a:p>
          <a:p>
            <a:pPr>
              <a:spcAft>
                <a:spcPts val="1000"/>
              </a:spcAft>
            </a:pPr>
            <a:r>
              <a:rPr sz="1700">
                <a:solidFill>
                  <a:srgbClr val="222B33"/>
                </a:solidFill>
                <a:latin typeface="Microsoft YaHei"/>
              </a:rPr>
              <a:t>▪ 方针分解成职责、目标和步骤</a:t>
            </a:r>
          </a:p>
          <a:p>
            <a:pPr>
              <a:spcAft>
                <a:spcPts val="1000"/>
              </a:spcAft>
            </a:pPr>
            <a:r>
              <a:rPr sz="1700">
                <a:solidFill>
                  <a:srgbClr val="222B33"/>
                </a:solidFill>
                <a:latin typeface="Microsoft YaHei"/>
              </a:rPr>
              <a:t>▪ 目标是看得见、量得出的结果</a:t>
            </a:r>
          </a:p>
          <a:p>
            <a:pPr>
              <a:spcAft>
                <a:spcPts val="1000"/>
              </a:spcAft>
            </a:pPr>
            <a:r>
              <a:rPr sz="1700">
                <a:solidFill>
                  <a:srgbClr val="222B33"/>
                </a:solidFill>
                <a:latin typeface="Microsoft YaHei"/>
              </a:rPr>
              <a:t>▪ 具体目标是限时步骤，如操作规程</a:t>
            </a:r>
          </a:p>
          <a:p>
            <a:pPr>
              <a:spcAft>
                <a:spcPts val="1000"/>
              </a:spcAft>
            </a:pPr>
            <a:r>
              <a:rPr sz="1700">
                <a:solidFill>
                  <a:srgbClr val="222B33"/>
                </a:solidFill>
                <a:latin typeface="Microsoft YaHei"/>
              </a:rPr>
              <a:t>▪ 具体、可测、可实现、合理、有时限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单位的安全方针（政策）表明决心和方向，不讲具体做法，要再分解成职责、目标和步骤，落成具体目标后，再按标准检查有没有做到。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目标写成“加强安全意识”等无法测量的口号</a:t>
            </a:r>
          </a:p>
          <a:p>
            <a:pPr>
              <a:spcAft>
                <a:spcPts val="1000"/>
              </a:spcAft>
            </a:pPr>
            <a:r>
              <a:rPr sz="1500">
                <a:solidFill>
                  <a:srgbClr val="222B33"/>
                </a:solidFill>
                <a:latin typeface="Microsoft YaHei"/>
              </a:rPr>
              <a:t>▪ 定了做不到的目标，只能靠“做账”达标</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指标：用数字说话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指标要能回答多少次、多少量</a:t>
            </a:r>
          </a:p>
          <a:p>
            <a:pPr>
              <a:spcAft>
                <a:spcPts val="1000"/>
              </a:spcAft>
            </a:pPr>
            <a:r>
              <a:rPr sz="1700">
                <a:solidFill>
                  <a:srgbClr val="222B33"/>
                </a:solidFill>
                <a:latin typeface="Microsoft YaHei"/>
              </a:rPr>
              <a:t>▪ 定期用同一把尺子，偏离就提前报警</a:t>
            </a:r>
          </a:p>
          <a:p>
            <a:pPr>
              <a:spcAft>
                <a:spcPts val="1000"/>
              </a:spcAft>
            </a:pPr>
            <a:r>
              <a:rPr sz="1700">
                <a:solidFill>
                  <a:srgbClr val="222B33"/>
                </a:solidFill>
                <a:latin typeface="Microsoft YaHei"/>
              </a:rPr>
              <a:t>▪ 看事件、险兆和培训完成情况</a:t>
            </a:r>
          </a:p>
          <a:p>
            <a:pPr>
              <a:spcAft>
                <a:spcPts val="1000"/>
              </a:spcAft>
            </a:pPr>
            <a:r>
              <a:rPr sz="1700">
                <a:solidFill>
                  <a:srgbClr val="222B33"/>
                </a:solidFill>
                <a:latin typeface="Microsoft YaHei"/>
              </a:rPr>
              <a:t>▪ 演练、防护用品、检查的频次和范围都可量</a:t>
            </a:r>
          </a:p>
          <a:p>
            <a:pPr>
              <a:spcAft>
                <a:spcPts val="1000"/>
              </a:spcAft>
            </a:pPr>
            <a:r>
              <a:rPr sz="1700">
                <a:solidFill>
                  <a:srgbClr val="222B33"/>
                </a:solidFill>
                <a:latin typeface="Microsoft YaHei"/>
              </a:rPr>
              <a:t>▪ 要量什么就选什么，覆盖各层级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指标要用数字说话，能回答“多少次、多少量”。要定期使用，一直用同一把尺子，才能看出偏离，在出事之前报警。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只选容易统计的指标，不选真正反映风险的指标</a:t>
            </a:r>
          </a:p>
          <a:p>
            <a:pPr>
              <a:spcAft>
                <a:spcPts val="1000"/>
              </a:spcAft>
            </a:pPr>
            <a:r>
              <a:rPr sz="1500">
                <a:solidFill>
                  <a:srgbClr val="222B33"/>
                </a:solidFill>
                <a:latin typeface="Microsoft YaHei"/>
              </a:rPr>
              <a:t>▪ 指标口径经常变，前后数据无法比较</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先行指标与滞后指标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指标分先行指标和滞后指标</a:t>
            </a:r>
          </a:p>
          <a:p>
            <a:pPr>
              <a:spcAft>
                <a:spcPts val="1000"/>
              </a:spcAft>
            </a:pPr>
            <a:r>
              <a:rPr sz="1700">
                <a:solidFill>
                  <a:srgbClr val="222B33"/>
                </a:solidFill>
                <a:latin typeface="Microsoft YaHei"/>
              </a:rPr>
              <a:t>▪ 先行指标：过程、文化、行为、屏障</a:t>
            </a:r>
          </a:p>
          <a:p>
            <a:pPr>
              <a:spcAft>
                <a:spcPts val="1000"/>
              </a:spcAft>
            </a:pPr>
            <a:r>
              <a:rPr sz="1700">
                <a:solidFill>
                  <a:srgbClr val="222B33"/>
                </a:solidFill>
                <a:latin typeface="Microsoft YaHei"/>
              </a:rPr>
              <a:t>▪ 滞后指标：事件、事故、险兆、整改</a:t>
            </a:r>
          </a:p>
          <a:p>
            <a:pPr>
              <a:spcAft>
                <a:spcPts val="1000"/>
              </a:spcAft>
            </a:pPr>
            <a:r>
              <a:rPr sz="1700">
                <a:solidFill>
                  <a:srgbClr val="222B33"/>
                </a:solidFill>
                <a:latin typeface="Microsoft YaHei"/>
              </a:rPr>
              <a:t>▪ 只做事后分析太晚，多看日常行为</a:t>
            </a:r>
          </a:p>
          <a:p>
            <a:pPr>
              <a:spcAft>
                <a:spcPts val="1000"/>
              </a:spcAft>
            </a:pPr>
            <a:r>
              <a:rPr sz="1700">
                <a:solidFill>
                  <a:srgbClr val="222B33"/>
                </a:solidFill>
                <a:latin typeface="Microsoft YaHei"/>
              </a:rPr>
              <a:t>▪ 多听同行的经验和教训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分两类。先行指标衡量过程、文化、行为和屏障（如培训完成、检查执行、规范操作的比例、设备检测按期完成），事先定好，为安全工作指方向。滞后指标衡量事件、事故、险兆和整改情况，都是事后才看得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只看“零事故”，忽视先行指标</a:t>
            </a:r>
          </a:p>
          <a:p>
            <a:pPr>
              <a:spcAft>
                <a:spcPts val="1000"/>
              </a:spcAft>
            </a:pPr>
            <a:r>
              <a:rPr sz="1500">
                <a:solidFill>
                  <a:srgbClr val="222B33"/>
                </a:solidFill>
                <a:latin typeface="Microsoft YaHei"/>
              </a:rPr>
              <a:t>▪ 把没有事故报告当成没有风险</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好指标的特征，审慎使用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好指标由大家一起商量出来</a:t>
            </a:r>
          </a:p>
          <a:p>
            <a:pPr>
              <a:spcAft>
                <a:spcPts val="1000"/>
              </a:spcAft>
            </a:pPr>
            <a:r>
              <a:rPr sz="1700">
                <a:solidFill>
                  <a:srgbClr val="222B33"/>
                </a:solidFill>
                <a:latin typeface="Microsoft YaHei"/>
              </a:rPr>
              <a:t>▪ 相关、客观、及时，成本合理</a:t>
            </a:r>
          </a:p>
          <a:p>
            <a:pPr>
              <a:spcAft>
                <a:spcPts val="1000"/>
              </a:spcAft>
            </a:pPr>
            <a:r>
              <a:rPr sz="1700">
                <a:solidFill>
                  <a:srgbClr val="222B33"/>
                </a:solidFill>
                <a:latin typeface="Microsoft YaHei"/>
              </a:rPr>
              <a:t>▪ 能指导整改，带来改进机会</a:t>
            </a:r>
          </a:p>
          <a:p>
            <a:pPr>
              <a:spcAft>
                <a:spcPts val="1000"/>
              </a:spcAft>
            </a:pPr>
            <a:r>
              <a:rPr sz="1700">
                <a:solidFill>
                  <a:srgbClr val="222B33"/>
                </a:solidFill>
                <a:latin typeface="Microsoft YaHei"/>
              </a:rPr>
              <a:t>▪ 委员会事先定标准，数据要让人看懂</a:t>
            </a:r>
          </a:p>
          <a:p>
            <a:pPr>
              <a:spcAft>
                <a:spcPts val="1000"/>
              </a:spcAft>
            </a:pPr>
            <a:r>
              <a:rPr sz="1700">
                <a:solidFill>
                  <a:srgbClr val="222B33"/>
                </a:solidFill>
                <a:latin typeface="Microsoft YaHei"/>
              </a:rPr>
              <a:t>▪ 定期检查指标，照搬别处未必合用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好指标由相关人员一起商量出来，具有相关、客观、及时、成本合理的特点，能指导整改，带来改进机会。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把事件数量作为考核扣分项，导致瞒报</a:t>
            </a:r>
          </a:p>
          <a:p>
            <a:pPr>
              <a:spcAft>
                <a:spcPts val="1000"/>
              </a:spcAft>
            </a:pPr>
            <a:r>
              <a:rPr sz="1500">
                <a:solidFill>
                  <a:srgbClr val="222B33"/>
                </a:solidFill>
                <a:latin typeface="Microsoft YaHei"/>
              </a:rPr>
              <a:t>▪ 照搬其他单位的指标，不结合本实验室实际</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先想清楚，再测量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量出来才看得懂，才控制得住、谈得上改进</a:t>
            </a:r>
          </a:p>
          <a:p>
            <a:pPr>
              <a:spcAft>
                <a:spcPts val="1000"/>
              </a:spcAft>
            </a:pPr>
            <a:r>
              <a:rPr sz="1700">
                <a:solidFill>
                  <a:srgbClr val="222B33"/>
                </a:solidFill>
                <a:latin typeface="Microsoft YaHei"/>
              </a:rPr>
              <a:t>▪ 流程分输入、步骤、输出，每步记下来</a:t>
            </a:r>
          </a:p>
          <a:p>
            <a:pPr>
              <a:spcAft>
                <a:spcPts val="1000"/>
              </a:spcAft>
            </a:pPr>
            <a:r>
              <a:rPr sz="1700">
                <a:solidFill>
                  <a:srgbClr val="222B33"/>
                </a:solidFill>
                <a:latin typeface="Microsoft YaHei"/>
              </a:rPr>
              <a:t>▪ 评估前先问四个问题</a:t>
            </a:r>
          </a:p>
          <a:p>
            <a:pPr>
              <a:spcAft>
                <a:spcPts val="1000"/>
              </a:spcAft>
            </a:pPr>
            <a:r>
              <a:rPr sz="1700">
                <a:solidFill>
                  <a:srgbClr val="222B33"/>
                </a:solidFill>
                <a:latin typeface="Microsoft YaHei"/>
              </a:rPr>
              <a:t>▪ 可以发问卷，也可以现场跟看</a:t>
            </a:r>
          </a:p>
          <a:p>
            <a:pPr>
              <a:spcAft>
                <a:spcPts val="1000"/>
              </a:spcAft>
            </a:pPr>
            <a:r>
              <a:rPr sz="1700">
                <a:solidFill>
                  <a:srgbClr val="222B33"/>
                </a:solidFill>
                <a:latin typeface="Microsoft YaHei"/>
              </a:rPr>
              <a:t>▪ 看事件规律、健康监测和现场操作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测量是改进的第一步：量出来才看得懂，看得懂才控制得住，才谈得上改进；测量要用合适的工具。一个流程可以分成输入、步骤、输出，比如检测样本，每一步都记下来。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没想清楚要回答什么问题就开始收集数据</a:t>
            </a:r>
          </a:p>
          <a:p>
            <a:pPr>
              <a:spcAft>
                <a:spcPts val="1000"/>
              </a:spcAft>
            </a:pPr>
            <a:r>
              <a:rPr sz="1500">
                <a:solidFill>
                  <a:srgbClr val="222B33"/>
                </a:solidFill>
                <a:latin typeface="Microsoft YaHei"/>
              </a:rPr>
              <a:t>▪ 只看报表，不到现场看操作</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收集和分析数据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确定要什么数据，收集，再分析</a:t>
            </a:r>
          </a:p>
          <a:p>
            <a:pPr>
              <a:spcAft>
                <a:spcPts val="1000"/>
              </a:spcAft>
            </a:pPr>
            <a:r>
              <a:rPr sz="1700">
                <a:solidFill>
                  <a:srgbClr val="222B33"/>
                </a:solidFill>
                <a:latin typeface="Microsoft YaHei"/>
              </a:rPr>
              <a:t>▪ 定好时间段、方法和成本，尽量不打扰工作</a:t>
            </a:r>
          </a:p>
          <a:p>
            <a:pPr>
              <a:spcAft>
                <a:spcPts val="1000"/>
              </a:spcAft>
            </a:pPr>
            <a:r>
              <a:rPr sz="1700">
                <a:solidFill>
                  <a:srgbClr val="222B33"/>
                </a:solidFill>
                <a:latin typeface="Microsoft YaHei"/>
              </a:rPr>
              <a:t>▪ 盯得太紧，人一紧张反而出错</a:t>
            </a:r>
          </a:p>
          <a:p>
            <a:pPr>
              <a:spcAft>
                <a:spcPts val="1000"/>
              </a:spcAft>
            </a:pPr>
            <a:r>
              <a:rPr sz="1700">
                <a:solidFill>
                  <a:srgbClr val="222B33"/>
                </a:solidFill>
                <a:latin typeface="Microsoft YaHei"/>
              </a:rPr>
              <a:t>▪ 分析要指定专人，给定期限</a:t>
            </a:r>
          </a:p>
          <a:p>
            <a:pPr>
              <a:spcAft>
                <a:spcPts val="1000"/>
              </a:spcAft>
            </a:pPr>
            <a:r>
              <a:rPr sz="1700">
                <a:solidFill>
                  <a:srgbClr val="222B33"/>
                </a:solidFill>
                <a:latin typeface="Microsoft YaHei"/>
              </a:rPr>
              <a:t>▪ 装监控要事先告知，录像只用于安全管理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数据收上来没人分析，堆在柜子里</a:t>
            </a:r>
          </a:p>
          <a:p>
            <a:pPr>
              <a:spcAft>
                <a:spcPts val="1000"/>
              </a:spcAft>
            </a:pPr>
            <a:r>
              <a:rPr sz="1500">
                <a:solidFill>
                  <a:srgbClr val="222B33"/>
                </a:solidFill>
                <a:latin typeface="Microsoft YaHei"/>
              </a:rPr>
              <a:t>▪ 私自传播监控录像或截图</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案例：一次感染引出的绩效分析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目标：降低检测人员的感染风险</a:t>
            </a:r>
          </a:p>
          <a:p>
            <a:pPr>
              <a:spcAft>
                <a:spcPts val="1000"/>
              </a:spcAft>
            </a:pPr>
            <a:r>
              <a:rPr sz="2000">
                <a:solidFill>
                  <a:srgbClr val="222B33"/>
                </a:solidFill>
                <a:latin typeface="Microsoft YaHei"/>
              </a:rPr>
              <a:t>▪ 措施：上岗前体检、防护规程、结束后复查</a:t>
            </a:r>
          </a:p>
          <a:p>
            <a:pPr>
              <a:spcAft>
                <a:spcPts val="1000"/>
              </a:spcAft>
            </a:pPr>
            <a:r>
              <a:rPr sz="2000">
                <a:solidFill>
                  <a:srgbClr val="222B33"/>
                </a:solidFill>
                <a:latin typeface="Microsoft YaHei"/>
              </a:rPr>
              <a:t>▪ 结果：五人中有一人检测阳性</a:t>
            </a:r>
          </a:p>
          <a:p>
            <a:pPr>
              <a:spcAft>
                <a:spcPts val="1000"/>
              </a:spcAft>
            </a:pPr>
            <a:r>
              <a:rPr sz="2000">
                <a:solidFill>
                  <a:srgbClr val="222B33"/>
                </a:solidFill>
                <a:latin typeface="Microsoft YaHei"/>
              </a:rPr>
              <a:t>▪ 问规程合适吗、哪里有漏洞，做事故分析并纠正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某检测实验室的目标是降低人员感染风险，采取的措施包括上岗前体检、防护规程和项目结束后的复查。结果五名人员中有一人检测阳性——计划和实际出现了差距。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发现人员感染后只做个人治疗，不分析规程和管理原因</a:t>
            </a:r>
          </a:p>
          <a:p>
            <a:pPr>
              <a:spcAft>
                <a:spcPts val="1000"/>
              </a:spcAft>
            </a:pPr>
            <a:r>
              <a:rPr sz="1500">
                <a:solidFill>
                  <a:srgbClr val="222B33"/>
                </a:solidFill>
                <a:latin typeface="Microsoft YaHei"/>
              </a:rPr>
              <a:t>▪ 担心影响评价而不报告</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内部审核：对照规程逐项查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审核看写的和做的是否一致</a:t>
            </a:r>
          </a:p>
          <a:p>
            <a:pPr>
              <a:spcAft>
                <a:spcPts val="1000"/>
              </a:spcAft>
            </a:pPr>
            <a:r>
              <a:rPr sz="1700">
                <a:solidFill>
                  <a:srgbClr val="222B33"/>
                </a:solidFill>
                <a:latin typeface="Microsoft YaHei"/>
              </a:rPr>
              <a:t>▪ 本单位组织，对照规程逐项查</a:t>
            </a:r>
          </a:p>
          <a:p>
            <a:pPr>
              <a:spcAft>
                <a:spcPts val="1000"/>
              </a:spcAft>
            </a:pPr>
            <a:r>
              <a:rPr sz="1700">
                <a:solidFill>
                  <a:srgbClr val="222B33"/>
                </a:solidFill>
                <a:latin typeface="Microsoft YaHei"/>
              </a:rPr>
              <a:t>▪ 到实验台旁看哪步繁琐、哪步有险</a:t>
            </a:r>
          </a:p>
          <a:p>
            <a:pPr>
              <a:spcAft>
                <a:spcPts val="1000"/>
              </a:spcAft>
            </a:pPr>
            <a:r>
              <a:rPr sz="1700">
                <a:solidFill>
                  <a:srgbClr val="222B33"/>
                </a:solidFill>
                <a:latin typeface="Microsoft YaHei"/>
              </a:rPr>
              <a:t>▪ 学院、学校也会定期组织检查</a:t>
            </a:r>
          </a:p>
          <a:p>
            <a:pPr>
              <a:spcAft>
                <a:spcPts val="1000"/>
              </a:spcAft>
            </a:pPr>
            <a:r>
              <a:rPr sz="1700">
                <a:solidFill>
                  <a:srgbClr val="222B33"/>
                </a:solidFill>
                <a:latin typeface="Microsoft YaHei"/>
              </a:rPr>
              <a:t>▪ 如实记录，找出不符合项和改进点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审核和评价就是“复查”这一步，看写的和做的是否一致、措施是否落实、是否达到预期目标。内部审核由本单位按计划组织，对照规程逐项检查；审核员要到实验台旁观察，看哪一步繁琐、哪一步有风险。GB 19489-2008 要求实……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审核只看文件，不到现场看操作</a:t>
            </a:r>
          </a:p>
          <a:p>
            <a:pPr>
              <a:spcAft>
                <a:spcPts val="1000"/>
              </a:spcAft>
            </a:pPr>
            <a:r>
              <a:rPr sz="1500">
                <a:solidFill>
                  <a:srgbClr val="222B33"/>
                </a:solidFill>
                <a:latin typeface="Microsoft YaHei"/>
              </a:rPr>
              <a:t>▪ 检查发现的问题不写进记录，私下了结</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外部审核与监督检查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审核看规程，检查看设施，检测看设备</a:t>
            </a:r>
          </a:p>
          <a:p>
            <a:pPr>
              <a:spcAft>
                <a:spcPts val="1000"/>
              </a:spcAft>
            </a:pPr>
            <a:r>
              <a:rPr sz="2000">
                <a:solidFill>
                  <a:srgbClr val="222B33"/>
                </a:solidFill>
                <a:latin typeface="Microsoft YaHei"/>
              </a:rPr>
              <a:t>▪ 外部审核比内部审核更客观</a:t>
            </a:r>
          </a:p>
          <a:p>
            <a:pPr>
              <a:spcAft>
                <a:spcPts val="1000"/>
              </a:spcAft>
            </a:pPr>
            <a:r>
              <a:rPr sz="2000">
                <a:solidFill>
                  <a:srgbClr val="222B33"/>
                </a:solidFill>
                <a:latin typeface="Microsoft YaHei"/>
              </a:rPr>
              <a:t>▪ 主管部门依法监督检查，负责人陪同配合</a:t>
            </a:r>
          </a:p>
          <a:p>
            <a:pPr>
              <a:spcAft>
                <a:spcPts val="1000"/>
              </a:spcAft>
            </a:pPr>
            <a:r>
              <a:rPr sz="2000">
                <a:solidFill>
                  <a:srgbClr val="222B33"/>
                </a:solidFill>
                <a:latin typeface="Microsoft YaHei"/>
              </a:rPr>
              <a:t>▪ 高级别实验室还要通过国家认可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审核看规程有没有照做，检查看设施是否按设计运行，检测看设备参数是否合格。内部审核之外，外部审核更客观。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检查前临时补记录、补签字</a:t>
            </a:r>
          </a:p>
          <a:p>
            <a:pPr>
              <a:spcAft>
                <a:spcPts val="1000"/>
              </a:spcAft>
            </a:pPr>
            <a:r>
              <a:rPr sz="1500">
                <a:solidFill>
                  <a:srgbClr val="222B33"/>
                </a:solidFill>
                <a:latin typeface="Microsoft YaHei"/>
              </a:rPr>
              <a:t>▪ 对检查人员隐瞒问题或拒绝提供资料</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管理评审：体系合适、充分、有效吗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负责人按计划定期评审体系</a:t>
            </a:r>
          </a:p>
          <a:p>
            <a:pPr>
              <a:spcAft>
                <a:spcPts val="1000"/>
              </a:spcAft>
            </a:pPr>
            <a:r>
              <a:rPr sz="1700">
                <a:solidFill>
                  <a:srgbClr val="222B33"/>
                </a:solidFill>
                <a:latin typeface="Microsoft YaHei"/>
              </a:rPr>
              <a:t>▪ 看体系是否合适、充分、有效</a:t>
            </a:r>
          </a:p>
          <a:p>
            <a:pPr>
              <a:spcAft>
                <a:spcPts val="1000"/>
              </a:spcAft>
            </a:pPr>
            <a:r>
              <a:rPr sz="1700">
                <a:solidFill>
                  <a:srgbClr val="222B33"/>
                </a:solidFill>
                <a:latin typeface="Microsoft YaHei"/>
              </a:rPr>
              <a:t>▪ 输入：审核结果、纠正措施、事件调查、上次跟进</a:t>
            </a:r>
          </a:p>
          <a:p>
            <a:pPr>
              <a:spcAft>
                <a:spcPts val="1000"/>
              </a:spcAft>
            </a:pPr>
            <a:r>
              <a:rPr sz="1700">
                <a:solidFill>
                  <a:srgbClr val="222B33"/>
                </a:solidFill>
                <a:latin typeface="Microsoft YaHei"/>
              </a:rPr>
              <a:t>▪ 该改的制度、程序和目标就改</a:t>
            </a:r>
          </a:p>
          <a:p>
            <a:pPr>
              <a:spcAft>
                <a:spcPts val="1000"/>
              </a:spcAft>
            </a:pPr>
            <a:r>
              <a:rPr sz="1700">
                <a:solidFill>
                  <a:srgbClr val="222B33"/>
                </a:solidFill>
                <a:latin typeface="Microsoft YaHei"/>
              </a:rPr>
              <a:t>▪ 每一步有记录，评审才有依据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管理评审由单位或实验室管理层按计划定期进行（例如每年，具体以现行标准和本校规定为准），评审体系是否合适、充分、有效，并寻找下一步改进的机会。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管理评审只开会不形成决定和记录</a:t>
            </a:r>
          </a:p>
          <a:p>
            <a:pPr>
              <a:spcAft>
                <a:spcPts val="1000"/>
              </a:spcAft>
            </a:pPr>
            <a:r>
              <a:rPr sz="1500">
                <a:solidFill>
                  <a:srgbClr val="222B33"/>
                </a:solidFill>
                <a:latin typeface="Microsoft YaHei"/>
              </a:rPr>
              <a:t>▪ 上次评审的决定没有跟进落实</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纠正措施与持续改进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纠正措施：谁来改、怎么改、何时改完</a:t>
            </a:r>
          </a:p>
          <a:p>
            <a:pPr>
              <a:spcAft>
                <a:spcPts val="1000"/>
              </a:spcAft>
            </a:pPr>
            <a:r>
              <a:rPr sz="1700">
                <a:solidFill>
                  <a:srgbClr val="222B33"/>
                </a:solidFill>
                <a:latin typeface="Microsoft YaHei"/>
              </a:rPr>
              <a:t>▪ 改完拍照留证，复查后关闭</a:t>
            </a:r>
          </a:p>
          <a:p>
            <a:pPr>
              <a:spcAft>
                <a:spcPts val="1000"/>
              </a:spcAft>
            </a:pPr>
            <a:r>
              <a:rPr sz="1700">
                <a:solidFill>
                  <a:srgbClr val="222B33"/>
                </a:solidFill>
                <a:latin typeface="Microsoft YaHei"/>
              </a:rPr>
              <a:t>▪ 把检查和事件的教训写进规程</a:t>
            </a:r>
          </a:p>
          <a:p>
            <a:pPr>
              <a:spcAft>
                <a:spcPts val="1000"/>
              </a:spcAft>
            </a:pPr>
            <a:r>
              <a:rPr sz="1700">
                <a:solidFill>
                  <a:srgbClr val="222B33"/>
                </a:solidFill>
                <a:latin typeface="Microsoft YaHei"/>
              </a:rPr>
              <a:t>▪ 有记录才能持续改进，专人管文件</a:t>
            </a:r>
          </a:p>
          <a:p>
            <a:pPr>
              <a:spcAft>
                <a:spcPts val="1000"/>
              </a:spcAft>
            </a:pPr>
            <a:r>
              <a:rPr sz="1700">
                <a:solidFill>
                  <a:srgbClr val="222B33"/>
                </a:solidFill>
                <a:latin typeface="Microsoft YaHei"/>
              </a:rPr>
              <a:t>▪ 个人安全笔记代替不了正式规程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发现问题就要采取纠正措施：明确谁来改、怎么改、什么时候改完；改完拍照留证，再复查，问题关闭才算整改到位。持续改进就是把检查和事件的教训写进规程，一圈一圈越做越好（隐患整改见第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整改只改表面，不查原因，问题反复出现</a:t>
            </a:r>
          </a:p>
          <a:p>
            <a:pPr>
              <a:spcAft>
                <a:spcPts val="1000"/>
              </a:spcAft>
            </a:pPr>
            <a:r>
              <a:rPr sz="1500">
                <a:solidFill>
                  <a:srgbClr val="222B33"/>
                </a:solidFill>
                <a:latin typeface="Microsoft YaHei"/>
              </a:rPr>
              <a:t>▪ 整改完不复查，问题长期“未关闭”</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被检查时：照常规范，出错先停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被检查时照平常一样规范做</a:t>
            </a:r>
          </a:p>
          <a:p>
            <a:pPr>
              <a:spcAft>
                <a:spcPts val="1000"/>
              </a:spcAft>
            </a:pPr>
            <a:r>
              <a:rPr sz="2000">
                <a:solidFill>
                  <a:srgbClr val="222B33"/>
                </a:solidFill>
                <a:latin typeface="Microsoft YaHei"/>
              </a:rPr>
              <a:t>▪ 一紧张出错，先停下，别硬撑</a:t>
            </a:r>
          </a:p>
          <a:p>
            <a:pPr>
              <a:spcAft>
                <a:spcPts val="1000"/>
              </a:spcAft>
            </a:pPr>
            <a:r>
              <a:rPr sz="2000">
                <a:solidFill>
                  <a:srgbClr val="222B33"/>
                </a:solidFill>
                <a:latin typeface="Microsoft YaHei"/>
              </a:rPr>
              <a:t>▪ 如实说明，按规程处理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审核和检查看的恰恰是平时。被检查时，照平常一样规范操作，不需要“表演”，也不能临时改变做法。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平时随意，检查当天临时“突击规范”</a:t>
            </a:r>
          </a:p>
          <a:p>
            <a:pPr>
              <a:spcAft>
                <a:spcPts val="1000"/>
              </a:spcAft>
            </a:pPr>
            <a:r>
              <a:rPr sz="1500">
                <a:solidFill>
                  <a:srgbClr val="222B33"/>
                </a:solidFill>
                <a:latin typeface="Microsoft YaHei"/>
              </a:rPr>
              <a:t>▪ 出错后掩饰或硬撑着继续操作</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绩效评估中“绩效”最贴切的含义是：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发表论文的数量</a:t>
            </a:r>
          </a:p>
          <a:p>
            <a:pPr algn="l"/>
            <a:r>
              <a:rPr sz="1500" b="0">
                <a:solidFill>
                  <a:srgbClr val="222B33"/>
                </a:solidFill>
                <a:latin typeface="Microsoft YaHei"/>
              </a:rPr>
              <a:t>B. 计划与实际之间的差距</a:t>
            </a:r>
          </a:p>
          <a:p>
            <a:pPr algn="l"/>
            <a:r>
              <a:rPr sz="1500" b="0">
                <a:solidFill>
                  <a:srgbClr val="222B33"/>
                </a:solidFill>
                <a:latin typeface="Microsoft YaHei"/>
              </a:rPr>
              <a:t>C. 检查当天的表现</a:t>
            </a:r>
          </a:p>
          <a:p>
            <a:pPr algn="l"/>
            <a:r>
              <a:rPr sz="1500" b="0">
                <a:solidFill>
                  <a:srgbClr val="222B33"/>
                </a:solidFill>
                <a:latin typeface="Microsoft YaHei"/>
              </a:rPr>
              <a:t>D. 实验经费的多少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下列属于先行指标的是：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发生溢洒的次数</a:t>
            </a:r>
          </a:p>
          <a:p>
            <a:pPr algn="l"/>
            <a:r>
              <a:rPr sz="1500" b="0">
                <a:solidFill>
                  <a:srgbClr val="222B33"/>
                </a:solidFill>
                <a:latin typeface="Microsoft YaHei"/>
              </a:rPr>
              <a:t>B. 事故的次数</a:t>
            </a:r>
          </a:p>
          <a:p>
            <a:pPr algn="l"/>
            <a:r>
              <a:rPr sz="1500" b="0">
                <a:solidFill>
                  <a:srgbClr val="222B33"/>
                </a:solidFill>
                <a:latin typeface="Microsoft YaHei"/>
              </a:rPr>
              <a:t>C. 培训按期完成和规范操作的情况</a:t>
            </a:r>
          </a:p>
          <a:p>
            <a:pPr algn="l"/>
            <a:r>
              <a:rPr sz="1500" b="0">
                <a:solidFill>
                  <a:srgbClr val="222B33"/>
                </a:solidFill>
                <a:latin typeface="Microsoft YaHei"/>
              </a:rPr>
              <a:t>D. 整改关闭的数量</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判断：只要加了控制措施，就不需要再评估风险。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关于审核和评审，正确的是：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内部审核只看文件</a:t>
            </a:r>
          </a:p>
          <a:p>
            <a:pPr algn="l"/>
            <a:r>
              <a:rPr sz="1500" b="0">
                <a:solidFill>
                  <a:srgbClr val="222B33"/>
                </a:solidFill>
                <a:latin typeface="Microsoft YaHei"/>
              </a:rPr>
              <a:t>B. 管理评审看体系是否合适、充分、有效，并修订制度和目标</a:t>
            </a:r>
          </a:p>
          <a:p>
            <a:pPr algn="l"/>
            <a:r>
              <a:rPr sz="1500" b="0">
                <a:solidFill>
                  <a:srgbClr val="222B33"/>
                </a:solidFill>
                <a:latin typeface="Microsoft YaHei"/>
              </a:rPr>
              <a:t>C. 外部检查时负责人可以不在场</a:t>
            </a:r>
          </a:p>
          <a:p>
            <a:pPr algn="l"/>
            <a:r>
              <a:rPr sz="1500" b="0">
                <a:solidFill>
                  <a:srgbClr val="222B33"/>
                </a:solidFill>
                <a:latin typeface="Microsoft YaHei"/>
              </a:rPr>
              <a:t>D. 审核发现的问题私下了结即可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判断：审核那天阿杰一紧张手滑，应先停下，如实说明并按规程处理。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简答：一项纠正措施怎样才算整改到位？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什么是绩效评估：记录、测量、评价</a:t>
            </a:r>
          </a:p>
          <a:p>
            <a:pPr>
              <a:spcAft>
                <a:spcPts val="800"/>
              </a:spcAft>
            </a:pPr>
            <a:r>
              <a:rPr sz="1500">
                <a:solidFill>
                  <a:srgbClr val="FFFFFF"/>
                </a:solidFill>
                <a:latin typeface="Microsoft YaHei"/>
              </a:rPr>
              <a:t>▪ K2  绩效：计划与实际之差</a:t>
            </a:r>
          </a:p>
          <a:p>
            <a:pPr>
              <a:spcAft>
                <a:spcPts val="800"/>
              </a:spcAft>
            </a:pPr>
            <a:r>
              <a:rPr sz="1500">
                <a:solidFill>
                  <a:srgbClr val="FFFFFF"/>
                </a:solidFill>
                <a:latin typeface="Microsoft YaHei"/>
              </a:rPr>
              <a:t>▪ K3  减缓之后再评估，一圈圈循环</a:t>
            </a:r>
          </a:p>
          <a:p>
            <a:pPr>
              <a:spcAft>
                <a:spcPts val="800"/>
              </a:spcAft>
            </a:pPr>
            <a:r>
              <a:rPr sz="1500">
                <a:solidFill>
                  <a:srgbClr val="FFFFFF"/>
                </a:solidFill>
                <a:latin typeface="Microsoft YaHei"/>
              </a:rPr>
              <a:t>▪ K4  从方针到目标：看得见、量得出</a:t>
            </a:r>
          </a:p>
          <a:p>
            <a:pPr>
              <a:spcAft>
                <a:spcPts val="800"/>
              </a:spcAft>
            </a:pPr>
            <a:r>
              <a:rPr sz="1500">
                <a:solidFill>
                  <a:srgbClr val="FFFFFF"/>
                </a:solidFill>
                <a:latin typeface="Microsoft YaHei"/>
              </a:rPr>
              <a:t>▪ K5  指标：用数字说话</a:t>
            </a:r>
          </a:p>
          <a:p>
            <a:pPr>
              <a:spcAft>
                <a:spcPts val="800"/>
              </a:spcAft>
            </a:pPr>
            <a:r>
              <a:rPr sz="1500">
                <a:solidFill>
                  <a:srgbClr val="FFFFFF"/>
                </a:solidFill>
                <a:latin typeface="Microsoft YaHei"/>
              </a:rPr>
              <a:t>▪ K6  先行指标与滞后指标</a:t>
            </a:r>
          </a:p>
          <a:p>
            <a:pPr>
              <a:spcAft>
                <a:spcPts val="800"/>
              </a:spcAft>
            </a:pPr>
            <a:r>
              <a:rPr sz="1500">
                <a:solidFill>
                  <a:srgbClr val="FFFFFF"/>
                </a:solidFill>
                <a:latin typeface="Microsoft YaHei"/>
              </a:rPr>
              <a:t>▪ K7  好指标的特征，审慎使用</a:t>
            </a:r>
          </a:p>
          <a:p>
            <a:pPr>
              <a:spcAft>
                <a:spcPts val="800"/>
              </a:spcAft>
            </a:pPr>
            <a:r>
              <a:rPr sz="1500">
                <a:solidFill>
                  <a:srgbClr val="FFFFFF"/>
                </a:solidFill>
                <a:latin typeface="Microsoft YaHei"/>
              </a:rPr>
              <a:t>▪ K8  先想清楚，再测量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收集和分析数据</a:t>
            </a:r>
          </a:p>
          <a:p>
            <a:pPr>
              <a:spcAft>
                <a:spcPts val="800"/>
              </a:spcAft>
            </a:pPr>
            <a:r>
              <a:rPr sz="1500">
                <a:solidFill>
                  <a:srgbClr val="FFFFFF"/>
                </a:solidFill>
                <a:latin typeface="Microsoft YaHei"/>
              </a:rPr>
              <a:t>▪ K10  案例：一次感染引出的绩效分析</a:t>
            </a:r>
          </a:p>
          <a:p>
            <a:pPr>
              <a:spcAft>
                <a:spcPts val="800"/>
              </a:spcAft>
            </a:pPr>
            <a:r>
              <a:rPr sz="1500">
                <a:solidFill>
                  <a:srgbClr val="FFFFFF"/>
                </a:solidFill>
                <a:latin typeface="Microsoft YaHei"/>
              </a:rPr>
              <a:t>▪ K11  内部审核：对照规程逐项查</a:t>
            </a:r>
          </a:p>
          <a:p>
            <a:pPr>
              <a:spcAft>
                <a:spcPts val="800"/>
              </a:spcAft>
            </a:pPr>
            <a:r>
              <a:rPr sz="1500">
                <a:solidFill>
                  <a:srgbClr val="FFFFFF"/>
                </a:solidFill>
                <a:latin typeface="Microsoft YaHei"/>
              </a:rPr>
              <a:t>▪ K12  外部审核与监督检查</a:t>
            </a:r>
          </a:p>
          <a:p>
            <a:pPr>
              <a:spcAft>
                <a:spcPts val="800"/>
              </a:spcAft>
            </a:pPr>
            <a:r>
              <a:rPr sz="1500">
                <a:solidFill>
                  <a:srgbClr val="FFFFFF"/>
                </a:solidFill>
                <a:latin typeface="Microsoft YaHei"/>
              </a:rPr>
              <a:t>▪ K13  管理评审：体系合适、充分、有效吗</a:t>
            </a:r>
          </a:p>
          <a:p>
            <a:pPr>
              <a:spcAft>
                <a:spcPts val="800"/>
              </a:spcAft>
            </a:pPr>
            <a:r>
              <a:rPr sz="1500">
                <a:solidFill>
                  <a:srgbClr val="FFFFFF"/>
                </a:solidFill>
                <a:latin typeface="Microsoft YaHei"/>
              </a:rPr>
              <a:t>▪ K14  纠正措施与持续改进</a:t>
            </a:r>
          </a:p>
          <a:p>
            <a:pPr>
              <a:spcAft>
                <a:spcPts val="800"/>
              </a:spcAft>
            </a:pPr>
            <a:r>
              <a:rPr sz="1500">
                <a:solidFill>
                  <a:srgbClr val="FFFFFF"/>
                </a:solidFill>
                <a:latin typeface="Microsoft YaHei"/>
              </a:rPr>
              <a:t>▪ K15  被检查时：照常规范，出错先停</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生物风险评估的步骤与风险矩阵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能说出危害与风险的区别，知道风险由可能性和后果共同决定，并能用风险矩阵判断风险等级。</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能说出生物风险评估的六步（危害识别、风险分析、风险评价、风险控制、记录、复查），以及风险随操作步骤而变化。</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能判断残余风险是否可接受、何时必须重新评估，知道评估报告要成文、审核、存档。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能做到动手前参与本实验室的风险评估，拿不准时先问导师，不擅自开展。</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《中华人民共和国生物安全法》（以现行文本为准）：病原微生物实验室的设立单位负责实验室生物安全管理，从事实验活动应当遵守有关规定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《病原微生物实验室生物安全管理条例》（以现行文本为准）：实验室负责人为第一责任人；实验活动须在相应级别实验室开展，高致病性病原微生物实验活动须经批准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生物安全通用要求》：风险评估及风险控制，评估报告成文并经审核，情况变化时重新评估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233（以现行文本为准）《病原微生物实验室生物安全通用准则》：根据病原危害和实验活动进行风险评估、确定防护水平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号，以现行文本为准）：实验室安全风险评估、危险性实验项目审批</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风险评估：生物安全的地基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风险评估是生物安全的地基</a:t>
            </a:r>
          </a:p>
          <a:p>
            <a:pPr>
              <a:spcAft>
                <a:spcPts val="1000"/>
              </a:spcAft>
            </a:pPr>
            <a:r>
              <a:rPr sz="1700">
                <a:solidFill>
                  <a:srgbClr val="222B33"/>
                </a:solidFill>
                <a:latin typeface="Microsoft YaHei"/>
              </a:rPr>
              <a:t>▪ 看可能性、后果，也看哪些地方拿不准</a:t>
            </a:r>
          </a:p>
          <a:p>
            <a:pPr>
              <a:spcAft>
                <a:spcPts val="1000"/>
              </a:spcAft>
            </a:pPr>
            <a:r>
              <a:rPr sz="1700">
                <a:solidFill>
                  <a:srgbClr val="222B33"/>
                </a:solidFill>
                <a:latin typeface="Microsoft YaHei"/>
              </a:rPr>
              <a:t>▪ 先评估再动手，顺序不能反</a:t>
            </a:r>
          </a:p>
          <a:p>
            <a:pPr>
              <a:spcAft>
                <a:spcPts val="1000"/>
              </a:spcAft>
            </a:pPr>
            <a:r>
              <a:rPr sz="1700">
                <a:solidFill>
                  <a:srgbClr val="222B33"/>
                </a:solidFill>
                <a:latin typeface="Microsoft YaHei"/>
              </a:rPr>
              <a:t>▪ 用菌先问来源，来历不明不乱用</a:t>
            </a:r>
          </a:p>
          <a:p>
            <a:pPr>
              <a:spcAft>
                <a:spcPts val="1000"/>
              </a:spcAft>
            </a:pPr>
            <a:r>
              <a:rPr sz="1700">
                <a:solidFill>
                  <a:srgbClr val="222B33"/>
                </a:solidFill>
                <a:latin typeface="Microsoft YaHei"/>
              </a:rPr>
              <a:t>▪ 评估、控制、看效果，不断改进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先动手做实验，出了问题再补评估</a:t>
            </a:r>
          </a:p>
          <a:p>
            <a:pPr>
              <a:spcAft>
                <a:spcPts val="1000"/>
              </a:spcAft>
            </a:pPr>
            <a:r>
              <a:rPr sz="1500">
                <a:solidFill>
                  <a:srgbClr val="222B33"/>
                </a:solidFill>
                <a:latin typeface="Microsoft YaHei"/>
              </a:rPr>
              <a:t>▪ 使用来历不明的菌种或样本，不问来源</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危害是物，风险来自操作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危害：任何可能造成伤害的东西</a:t>
            </a:r>
          </a:p>
          <a:p>
            <a:pPr>
              <a:spcAft>
                <a:spcPts val="1000"/>
              </a:spcAft>
            </a:pPr>
            <a:r>
              <a:rPr sz="2000">
                <a:solidFill>
                  <a:srgbClr val="222B33"/>
                </a:solidFill>
                <a:latin typeface="Microsoft YaHei"/>
              </a:rPr>
              <a:t>▪ 伤害源是生物因子，就是生物风险</a:t>
            </a:r>
          </a:p>
          <a:p>
            <a:pPr>
              <a:spcAft>
                <a:spcPts val="1000"/>
              </a:spcAft>
            </a:pPr>
            <a:r>
              <a:rPr sz="2000">
                <a:solidFill>
                  <a:srgbClr val="222B33"/>
                </a:solidFill>
                <a:latin typeface="Microsoft YaHei"/>
              </a:rPr>
              <a:t>▪ 动手操作，危害才变成风险</a:t>
            </a:r>
          </a:p>
          <a:p>
            <a:pPr>
              <a:spcAft>
                <a:spcPts val="1000"/>
              </a:spcAft>
            </a:pPr>
            <a:r>
              <a:rPr sz="2000">
                <a:solidFill>
                  <a:srgbClr val="222B33"/>
                </a:solidFill>
                <a:latin typeface="Microsoft YaHei"/>
              </a:rPr>
              <a:t>▪ 操作、运输、被盗、封闭破损都带来风险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危害是任何可能造成伤害的东西，生物因子（病原微生物、毒素、感染性样本等）就是潜在的危害。风险则是这种伤害真正发生的可能性及其后果；伤害源是生物因子的，就叫生物风险。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把危害和风险混为一谈，只看病原不看操作</a:t>
            </a:r>
          </a:p>
          <a:p>
            <a:pPr>
              <a:spcAft>
                <a:spcPts val="1000"/>
              </a:spcAft>
            </a:pPr>
            <a:r>
              <a:rPr sz="1500">
                <a:solidFill>
                  <a:srgbClr val="222B33"/>
                </a:solidFill>
                <a:latin typeface="Microsoft YaHei"/>
              </a:rPr>
              <a:t>▪ 只考虑实验操作，忽略运输、储存和被盗丢失</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风险看可能性和后果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风险由可能性和后果共同决定</a:t>
            </a:r>
          </a:p>
          <a:p>
            <a:pPr>
              <a:spcAft>
                <a:spcPts val="1000"/>
              </a:spcAft>
            </a:pPr>
            <a:r>
              <a:rPr sz="2000">
                <a:solidFill>
                  <a:srgbClr val="222B33"/>
                </a:solidFill>
                <a:latin typeface="Microsoft YaHei"/>
              </a:rPr>
              <a:t>▪ 可能性：出事的几率有多大</a:t>
            </a:r>
          </a:p>
          <a:p>
            <a:pPr>
              <a:spcAft>
                <a:spcPts val="1000"/>
              </a:spcAft>
            </a:pPr>
            <a:r>
              <a:rPr sz="2000">
                <a:solidFill>
                  <a:srgbClr val="222B33"/>
                </a:solidFill>
                <a:latin typeface="Microsoft YaHei"/>
              </a:rPr>
              <a:t>▪ 后果：对人和环境的伤害有多大</a:t>
            </a:r>
          </a:p>
          <a:p>
            <a:pPr>
              <a:spcAft>
                <a:spcPts val="1000"/>
              </a:spcAft>
            </a:pPr>
            <a:r>
              <a:rPr sz="2000">
                <a:solidFill>
                  <a:srgbClr val="222B33"/>
                </a:solidFill>
                <a:latin typeface="Microsoft YaHei"/>
              </a:rPr>
              <a:t>▪ 例：转运不规范，泄漏可能大，人会被感染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风险是可能性和后果（严重程度）的组合。可能性指防护失效、发生暴露的几率有多大；后果指一旦发生，对人员、公众和环境造成的伤害有多大。两者结合起来，才能看出风险的高低。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只看后果，认为“病原不太危险就不用管”</a:t>
            </a:r>
          </a:p>
          <a:p>
            <a:pPr>
              <a:spcAft>
                <a:spcPts val="1000"/>
              </a:spcAft>
            </a:pPr>
            <a:r>
              <a:rPr sz="1500">
                <a:solidFill>
                  <a:srgbClr val="222B33"/>
                </a:solidFill>
                <a:latin typeface="Microsoft YaHei"/>
              </a:rPr>
              <a:t>▪ 只看可能性，认为“从没出过事”就是低风险</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守规矩降的是可能性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守规则能降低出事的可能性</a:t>
            </a:r>
          </a:p>
          <a:p>
            <a:pPr>
              <a:spcAft>
                <a:spcPts val="1000"/>
              </a:spcAft>
            </a:pPr>
            <a:r>
              <a:rPr sz="2000">
                <a:solidFill>
                  <a:srgbClr val="222B33"/>
                </a:solidFill>
                <a:latin typeface="Microsoft YaHei"/>
              </a:rPr>
              <a:t>▪ 万一发生，后果不一定变轻</a:t>
            </a:r>
          </a:p>
          <a:p>
            <a:pPr>
              <a:spcAft>
                <a:spcPts val="1000"/>
              </a:spcAft>
            </a:pPr>
            <a:r>
              <a:rPr sz="2000">
                <a:solidFill>
                  <a:srgbClr val="222B33"/>
                </a:solidFill>
                <a:latin typeface="Microsoft YaHei"/>
              </a:rPr>
              <a:t>▪ 病原关在实验室里，风险很低</a:t>
            </a:r>
          </a:p>
          <a:p>
            <a:pPr>
              <a:spcAft>
                <a:spcPts val="1000"/>
              </a:spcAft>
            </a:pPr>
            <a:r>
              <a:rPr sz="2000">
                <a:solidFill>
                  <a:srgbClr val="222B33"/>
                </a:solidFill>
                <a:latin typeface="Microsoft YaHei"/>
              </a:rPr>
              <a:t>▪ 意外泄漏或被滥用，后果就很高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认为自己操作熟练，就可以降低防护要求</a:t>
            </a:r>
          </a:p>
          <a:p>
            <a:pPr>
              <a:spcAft>
                <a:spcPts val="1000"/>
              </a:spcAft>
            </a:pPr>
            <a:r>
              <a:rPr sz="1500">
                <a:solidFill>
                  <a:srgbClr val="222B33"/>
                </a:solidFill>
                <a:latin typeface="Microsoft YaHei"/>
              </a:rPr>
              <a:t>▪ 只防意外，不防样本丢失、被盗和滥用</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可能性与后果分级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可能性问：发生的概率有多大</a:t>
            </a:r>
          </a:p>
          <a:p>
            <a:pPr>
              <a:spcAft>
                <a:spcPts val="1000"/>
              </a:spcAft>
            </a:pPr>
            <a:r>
              <a:rPr sz="2000">
                <a:solidFill>
                  <a:srgbClr val="222B33"/>
                </a:solidFill>
                <a:latin typeface="Microsoft YaHei"/>
              </a:rPr>
              <a:t>▪ 后果问：万一发生，会有多严重</a:t>
            </a:r>
          </a:p>
          <a:p>
            <a:pPr>
              <a:spcAft>
                <a:spcPts val="1000"/>
              </a:spcAft>
            </a:pPr>
            <a:r>
              <a:rPr sz="2000">
                <a:solidFill>
                  <a:srgbClr val="222B33"/>
                </a:solidFill>
                <a:latin typeface="Microsoft YaHei"/>
              </a:rPr>
              <a:t>▪ 两边常分三到五级</a:t>
            </a:r>
          </a:p>
          <a:p>
            <a:pPr>
              <a:spcAft>
                <a:spcPts val="1000"/>
              </a:spcAft>
            </a:pPr>
            <a:r>
              <a:rPr sz="2000">
                <a:solidFill>
                  <a:srgbClr val="222B33"/>
                </a:solidFill>
                <a:latin typeface="Microsoft YaHei"/>
              </a:rPr>
              <a:t>▪ 分几级、怎么判，按本校评估程序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了把风险说清楚，可能性和后果都要分级。可能性回答“发生的概率有多大”，可从“很少”到“经常”分级；后果回答“万一发生会怎样”，可从“轻微”（无伤害或轻微不适）到“严重”（严重疾病、扩散到社区或环境）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每个人凭感觉打分，没有统一的分级标准</a:t>
            </a:r>
          </a:p>
          <a:p>
            <a:pPr>
              <a:spcAft>
                <a:spcPts val="1000"/>
              </a:spcAft>
            </a:pPr>
            <a:r>
              <a:rPr sz="1500">
                <a:solidFill>
                  <a:srgbClr val="222B33"/>
                </a:solidFill>
                <a:latin typeface="Microsoft YaHei"/>
              </a:rPr>
              <a:t>▪ 只写“风险较低”，说不出依据</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可能性和后果交叉，就是风险矩阵</a:t>
            </a:r>
          </a:p>
          <a:p>
            <a:pPr>
              <a:spcAft>
                <a:spcPts val="1000"/>
              </a:spcAft>
            </a:pPr>
            <a:r>
              <a:rPr sz="2000">
                <a:solidFill>
                  <a:srgbClr val="222B33"/>
                </a:solidFill>
                <a:latin typeface="Microsoft YaHei"/>
              </a:rPr>
              <a:t>▪ 都低最安全，都高最危险</a:t>
            </a:r>
          </a:p>
          <a:p>
            <a:pPr>
              <a:spcAft>
                <a:spcPts val="1000"/>
              </a:spcAft>
            </a:pPr>
            <a:r>
              <a:rPr sz="2000">
                <a:solidFill>
                  <a:srgbClr val="222B33"/>
                </a:solidFill>
                <a:latin typeface="Microsoft YaHei"/>
              </a:rPr>
              <a:t>▪ 每个风险点放进矩阵，一目了然</a:t>
            </a:r>
          </a:p>
          <a:p>
            <a:pPr>
              <a:spcAft>
                <a:spcPts val="1000"/>
              </a:spcAft>
            </a:pPr>
            <a:r>
              <a:rPr sz="2000">
                <a:solidFill>
                  <a:srgbClr val="222B33"/>
                </a:solidFill>
                <a:latin typeface="Microsoft YaHei"/>
              </a:rPr>
              <a:t>▪ 红格风险优先处理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把可能性和后果的分级交叉成一张表，就是风险矩阵：可能性低、后果轻的落在绿格，风险最低；可能性大、后果重的落在红格，风险最高；中间是黄格。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只给整个实验打一个总分，不逐个风险点分析</a:t>
            </a:r>
          </a:p>
          <a:p>
            <a:pPr>
              <a:spcAft>
                <a:spcPts val="1000"/>
              </a:spcAft>
            </a:pPr>
            <a:r>
              <a:rPr sz="1500">
                <a:solidFill>
                  <a:srgbClr val="222B33"/>
                </a:solidFill>
                <a:latin typeface="Microsoft YaHei"/>
              </a:rPr>
              <a:t>▪ 评出红格仍照常开展</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风险随操作而变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样本密封冻存，风险较低</a:t>
            </a:r>
          </a:p>
          <a:p>
            <a:pPr>
              <a:spcAft>
                <a:spcPts val="1000"/>
              </a:spcAft>
            </a:pPr>
            <a:r>
              <a:rPr sz="2000">
                <a:solidFill>
                  <a:srgbClr val="222B33"/>
                </a:solidFill>
                <a:latin typeface="Microsoft YaHei"/>
              </a:rPr>
              <a:t>▪ 拿出开盖提取，风险升高</a:t>
            </a:r>
          </a:p>
          <a:p>
            <a:pPr>
              <a:spcAft>
                <a:spcPts val="1000"/>
              </a:spcAft>
            </a:pPr>
            <a:r>
              <a:rPr sz="2000">
                <a:solidFill>
                  <a:srgbClr val="222B33"/>
                </a:solidFill>
                <a:latin typeface="Microsoft YaHei"/>
              </a:rPr>
              <a:t>▪ 培养活的病原，风险最高</a:t>
            </a:r>
          </a:p>
          <a:p>
            <a:pPr>
              <a:spcAft>
                <a:spcPts val="1000"/>
              </a:spcAft>
            </a:pPr>
            <a:r>
              <a:rPr sz="2000">
                <a:solidFill>
                  <a:srgbClr val="222B33"/>
                </a:solidFill>
                <a:latin typeface="Microsoft YaHei"/>
              </a:rPr>
              <a:t>▪ 储存也有风险：密封、标清、上锁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生物材料，风险随操作而变。样本密封冻存在罐里，风险较低；拿出来开盖处理、提取核酸，风险升高；培养活的病原（数量和浓度增加），风险最高。流程一步步往后走，风险一级级升高，一旦释放，后果也越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用冻存样本的风险等级去做培养实验</a:t>
            </a:r>
          </a:p>
          <a:p>
            <a:pPr>
              <a:spcAft>
                <a:spcPts val="1000"/>
              </a:spcAft>
            </a:pPr>
            <a:r>
              <a:rPr sz="1500">
                <a:solidFill>
                  <a:srgbClr val="222B33"/>
                </a:solidFill>
                <a:latin typeface="Microsoft YaHei"/>
              </a:rPr>
              <a:t>▪ 储存的样本不标识、不上锁</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评估六步，按顺序走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六步：识别、分析、评价、控制、记录、复查</a:t>
            </a:r>
          </a:p>
          <a:p>
            <a:pPr>
              <a:spcAft>
                <a:spcPts val="1000"/>
              </a:spcAft>
            </a:pPr>
            <a:r>
              <a:rPr sz="2000">
                <a:solidFill>
                  <a:srgbClr val="222B33"/>
                </a:solidFill>
                <a:latin typeface="Microsoft YaHei"/>
              </a:rPr>
              <a:t>▪ 按顺序走，不跳步</a:t>
            </a:r>
          </a:p>
          <a:p>
            <a:pPr>
              <a:spcAft>
                <a:spcPts val="1000"/>
              </a:spcAft>
            </a:pPr>
            <a:r>
              <a:rPr sz="2000">
                <a:solidFill>
                  <a:srgbClr val="222B33"/>
                </a:solidFill>
                <a:latin typeface="Microsoft YaHei"/>
              </a:rPr>
              <a:t>▪ 走完一遍，还要回头再看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风险评估有固定的步骤：危害识别、风险分析、风险评价、风险控制、记录、复查。也有资料把它概括为五步（识别、评估、控制、看残余风险、再决策），内容是一致的：先认清危害，再估计风险大小，加控制后看残余风险能否接受，然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跳过分析和评价，直接照搬防护措施</a:t>
            </a:r>
          </a:p>
          <a:p>
            <a:pPr>
              <a:spcAft>
                <a:spcPts val="1000"/>
              </a:spcAft>
            </a:pPr>
            <a:r>
              <a:rPr sz="1500">
                <a:solidFill>
                  <a:srgbClr val="222B33"/>
                </a:solidFill>
                <a:latin typeface="Microsoft YaHei"/>
              </a:rPr>
              <a:t>▪ 评估完一次就再不回头看</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第一步：危害识别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弄清用什么生物因子，查国内目录</a:t>
            </a:r>
          </a:p>
          <a:p>
            <a:pPr>
              <a:spcAft>
                <a:spcPts val="1000"/>
              </a:spcAft>
            </a:pPr>
            <a:r>
              <a:rPr sz="1700">
                <a:solidFill>
                  <a:srgbClr val="222B33"/>
                </a:solidFill>
                <a:latin typeface="Microsoft YaHei"/>
              </a:rPr>
              <a:t>▪ 国内第一类最危险，与国际风险组相反</a:t>
            </a:r>
          </a:p>
          <a:p>
            <a:pPr>
              <a:spcAft>
                <a:spcPts val="1000"/>
              </a:spcAft>
            </a:pPr>
            <a:r>
              <a:rPr sz="1700">
                <a:solidFill>
                  <a:srgbClr val="222B33"/>
                </a:solidFill>
                <a:latin typeface="Microsoft YaHei"/>
              </a:rPr>
              <a:t>▪ 列出操作，写清用量和浓度</a:t>
            </a:r>
          </a:p>
          <a:p>
            <a:pPr>
              <a:spcAft>
                <a:spcPts val="1000"/>
              </a:spcAft>
            </a:pPr>
            <a:r>
              <a:rPr sz="1700">
                <a:solidFill>
                  <a:srgbClr val="222B33"/>
                </a:solidFill>
                <a:latin typeface="Microsoft YaHei"/>
              </a:rPr>
              <a:t>▪ 气溶胶、溅洒、锐器要重点看</a:t>
            </a:r>
          </a:p>
          <a:p>
            <a:pPr>
              <a:spcAft>
                <a:spcPts val="1000"/>
              </a:spcAft>
            </a:pPr>
            <a:r>
              <a:rPr sz="1700">
                <a:solidFill>
                  <a:srgbClr val="222B33"/>
                </a:solidFill>
                <a:latin typeface="Microsoft YaHei"/>
              </a:rPr>
              <a:t>▪ 化学和物理危害一起找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第一步是危害识别：先弄清用的是什么生物因子，查《人间传染的病原微生物目录》（以现行版本为准），认出它属于哪一类，再查病原资料拿到依据（要素清单见第 068 课）。注意两套编号：国内病原分类第一类危害最大、第四类最小，……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把国际风险组的编号当成国内分类，弄反危险程度</a:t>
            </a:r>
          </a:p>
          <a:p>
            <a:pPr>
              <a:spcAft>
                <a:spcPts val="1000"/>
              </a:spcAft>
            </a:pPr>
            <a:r>
              <a:rPr sz="1500">
                <a:solidFill>
                  <a:srgbClr val="222B33"/>
                </a:solidFill>
                <a:latin typeface="Microsoft YaHei"/>
              </a:rPr>
              <a:t>▪ 只看病原，不看产生气溶胶的操作和化学、物理危害</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估计暴露的可能性和后果</a:t>
            </a:r>
          </a:p>
          <a:p>
            <a:pPr>
              <a:spcAft>
                <a:spcPts val="1000"/>
              </a:spcAft>
            </a:pPr>
            <a:r>
              <a:rPr sz="2000">
                <a:solidFill>
                  <a:srgbClr val="222B33"/>
                </a:solidFill>
                <a:latin typeface="Microsoft YaHei"/>
              </a:rPr>
              <a:t>▪ 想清楚谁可能受害</a:t>
            </a:r>
          </a:p>
          <a:p>
            <a:pPr>
              <a:spcAft>
                <a:spcPts val="1000"/>
              </a:spcAft>
            </a:pPr>
            <a:r>
              <a:rPr sz="2000">
                <a:solidFill>
                  <a:srgbClr val="222B33"/>
                </a:solidFill>
                <a:latin typeface="Microsoft YaHei"/>
              </a:rPr>
              <a:t>▪ 途径：吸入、溅入、刺伤、食入</a:t>
            </a:r>
          </a:p>
          <a:p>
            <a:pPr>
              <a:spcAft>
                <a:spcPts val="1000"/>
              </a:spcAft>
            </a:pPr>
            <a:r>
              <a:rPr sz="2000">
                <a:solidFill>
                  <a:srgbClr val="222B33"/>
                </a:solidFill>
                <a:latin typeface="Microsoft YaHei"/>
              </a:rPr>
              <a:t>▪ 来历不清的样本，风险往高处估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只考虑操作者本人，忽略同事和保洁清运人员</a:t>
            </a:r>
          </a:p>
          <a:p>
            <a:pPr>
              <a:spcAft>
                <a:spcPts val="1000"/>
              </a:spcAft>
            </a:pPr>
            <a:r>
              <a:rPr sz="1500">
                <a:solidFill>
                  <a:srgbClr val="222B33"/>
                </a:solidFill>
                <a:latin typeface="Microsoft YaHei"/>
              </a:rPr>
              <a:t>▪ 资料不清时按最低风险估计</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第三步：风险评价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定出总体风险等级：低、中、高</a:t>
            </a:r>
          </a:p>
          <a:p>
            <a:pPr>
              <a:spcAft>
                <a:spcPts val="1000"/>
              </a:spcAft>
            </a:pPr>
            <a:r>
              <a:rPr sz="2000">
                <a:solidFill>
                  <a:srgbClr val="222B33"/>
                </a:solidFill>
                <a:latin typeface="Microsoft YaHei"/>
              </a:rPr>
              <a:t>▪ 等级决定要多强的措施</a:t>
            </a:r>
          </a:p>
          <a:p>
            <a:pPr>
              <a:spcAft>
                <a:spcPts val="1000"/>
              </a:spcAft>
            </a:pPr>
            <a:r>
              <a:rPr sz="2000">
                <a:solidFill>
                  <a:srgbClr val="222B33"/>
                </a:solidFill>
                <a:latin typeface="Microsoft YaHei"/>
              </a:rPr>
              <a:t>▪ 看现有控制够不够</a:t>
            </a:r>
          </a:p>
          <a:p>
            <a:pPr>
              <a:spcAft>
                <a:spcPts val="1000"/>
              </a:spcAft>
            </a:pPr>
            <a:r>
              <a:rPr sz="2000">
                <a:solidFill>
                  <a:srgbClr val="222B33"/>
                </a:solidFill>
                <a:latin typeface="Microsoft YaHei"/>
              </a:rPr>
              <a:t>▪ 够就可接受，不够就再加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第三步是风险评价：根据分析结果和风险矩阵，给出总体风险等级——低、中还是高。等级决定要采取多强的控制措施和在哪一级实验室开展。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只给出等级，不对照现有控制是否足够</a:t>
            </a:r>
          </a:p>
          <a:p>
            <a:pPr>
              <a:spcAft>
                <a:spcPts val="1000"/>
              </a:spcAft>
            </a:pPr>
            <a:r>
              <a:rPr sz="1500">
                <a:solidFill>
                  <a:srgbClr val="222B33"/>
                </a:solidFill>
                <a:latin typeface="Microsoft YaHei"/>
              </a:rPr>
              <a:t>▪ 风险等级高，却沿用低等级的做法</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第四步：风险控制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按控制层级选择措施</a:t>
            </a:r>
          </a:p>
          <a:p>
            <a:pPr>
              <a:spcAft>
                <a:spcPts val="1000"/>
              </a:spcAft>
            </a:pPr>
            <a:r>
              <a:rPr sz="2000">
                <a:solidFill>
                  <a:srgbClr val="222B33"/>
                </a:solidFill>
                <a:latin typeface="Microsoft YaHei"/>
              </a:rPr>
              <a:t>▪ 工程控制、个人防护、标准规程一起上</a:t>
            </a:r>
          </a:p>
          <a:p>
            <a:pPr>
              <a:spcAft>
                <a:spcPts val="1000"/>
              </a:spcAft>
            </a:pPr>
            <a:r>
              <a:rPr sz="2000">
                <a:solidFill>
                  <a:srgbClr val="222B33"/>
                </a:solidFill>
                <a:latin typeface="Microsoft YaHei"/>
              </a:rPr>
              <a:t>▪ 例：用密封转子，在安全柜里开盖</a:t>
            </a:r>
          </a:p>
          <a:p>
            <a:pPr>
              <a:spcAft>
                <a:spcPts val="1000"/>
              </a:spcAft>
            </a:pPr>
            <a:r>
              <a:rPr sz="2000">
                <a:solidFill>
                  <a:srgbClr val="222B33"/>
                </a:solidFill>
                <a:latin typeface="Microsoft YaHei"/>
              </a:rPr>
              <a:t>▪ 结论和建议交负责人和课题组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第四步是风险控制：按控制层级（见第 017 课）选择措施，用什么设备、穿什么防护、怎么操作。工程控制（合适级别的实验室、生物安全柜、密封离心转子）、个人防护和标准操作规程要一起上。例如离心可能产生气溶胶的样本时，使用……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只靠个人防护，不用工程控制</a:t>
            </a:r>
          </a:p>
          <a:p>
            <a:pPr>
              <a:spcAft>
                <a:spcPts val="1000"/>
              </a:spcAft>
            </a:pPr>
            <a:r>
              <a:rPr sz="1500">
                <a:solidFill>
                  <a:srgbClr val="222B33"/>
                </a:solidFill>
                <a:latin typeface="Microsoft YaHei"/>
              </a:rPr>
              <a:t>▪ 离心后在台面上直接开盖</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残余风险：能接受才开展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控制加完，总还剩残余风险</a:t>
            </a:r>
          </a:p>
          <a:p>
            <a:pPr>
              <a:spcAft>
                <a:spcPts val="1000"/>
              </a:spcAft>
            </a:pPr>
            <a:r>
              <a:rPr sz="1700">
                <a:solidFill>
                  <a:srgbClr val="222B33"/>
                </a:solidFill>
                <a:latin typeface="Microsoft YaHei"/>
              </a:rPr>
              <a:t>▪ 逐项评估，再合起来看总风险</a:t>
            </a:r>
          </a:p>
          <a:p>
            <a:pPr>
              <a:spcAft>
                <a:spcPts val="1000"/>
              </a:spcAft>
            </a:pPr>
            <a:r>
              <a:rPr sz="1700">
                <a:solidFill>
                  <a:srgbClr val="222B33"/>
                </a:solidFill>
                <a:latin typeface="Microsoft YaHei"/>
              </a:rPr>
              <a:t>▪ 可接受，负责人批准后才开展</a:t>
            </a:r>
          </a:p>
          <a:p>
            <a:pPr>
              <a:spcAft>
                <a:spcPts val="1000"/>
              </a:spcAft>
            </a:pPr>
            <a:r>
              <a:rPr sz="1700">
                <a:solidFill>
                  <a:srgbClr val="222B33"/>
                </a:solidFill>
                <a:latin typeface="Microsoft YaHei"/>
              </a:rPr>
              <a:t>▪ 不可接受，加措施或者不做</a:t>
            </a:r>
          </a:p>
          <a:p>
            <a:pPr>
              <a:spcAft>
                <a:spcPts val="1000"/>
              </a:spcAft>
            </a:pPr>
            <a:r>
              <a:rPr sz="1700">
                <a:solidFill>
                  <a:srgbClr val="222B33"/>
                </a:solidFill>
                <a:latin typeface="Microsoft YaHei"/>
              </a:rPr>
              <a:t>▪ 风险太高报生物安全委员会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采取控制措施后剩下的风险叫残余风险：风险能降下来，但清不了零。把要做的操作一项项列出来，每项单独评估，再合起来看总风险。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认为加了措施就“零风险”</a:t>
            </a:r>
          </a:p>
          <a:p>
            <a:pPr>
              <a:spcAft>
                <a:spcPts val="1000"/>
              </a:spcAft>
            </a:pPr>
            <a:r>
              <a:rPr sz="1500">
                <a:solidFill>
                  <a:srgbClr val="222B33"/>
                </a:solidFill>
                <a:latin typeface="Microsoft YaHei"/>
              </a:rPr>
              <a:t>▪ 残余风险不可接受，仍抱侥幸心理开展</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第五步：记录成文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把评估过程和控制措施写下来</a:t>
            </a:r>
          </a:p>
          <a:p>
            <a:pPr>
              <a:spcAft>
                <a:spcPts val="1000"/>
              </a:spcAft>
            </a:pPr>
            <a:r>
              <a:rPr sz="2000">
                <a:solidFill>
                  <a:srgbClr val="222B33"/>
                </a:solidFill>
                <a:latin typeface="Microsoft YaHei"/>
              </a:rPr>
              <a:t>▪ 审核签字后存档备查</a:t>
            </a:r>
          </a:p>
          <a:p>
            <a:pPr>
              <a:spcAft>
                <a:spcPts val="1000"/>
              </a:spcAft>
            </a:pPr>
            <a:r>
              <a:rPr sz="2000">
                <a:solidFill>
                  <a:srgbClr val="222B33"/>
                </a:solidFill>
                <a:latin typeface="Microsoft YaHei"/>
              </a:rPr>
              <a:t>▪ 新来的人也能查到</a:t>
            </a:r>
          </a:p>
          <a:p>
            <a:pPr>
              <a:spcAft>
                <a:spcPts val="1000"/>
              </a:spcAft>
            </a:pPr>
            <a:r>
              <a:rPr sz="2000">
                <a:solidFill>
                  <a:srgbClr val="222B33"/>
                </a:solidFill>
                <a:latin typeface="Microsoft YaHei"/>
              </a:rPr>
              <a:t>▪ 写下来，更要每次做到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第五步是记录：把评估的过程、依据、结论和控制措施写成风险评估报告，按本校程序经审核批准后存档备查，新来的人也能查到和学习。书面记录的通用写法见第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评估只在脑子里，没有书面报告</a:t>
            </a:r>
          </a:p>
          <a:p>
            <a:pPr>
              <a:spcAft>
                <a:spcPts val="1000"/>
              </a:spcAft>
            </a:pPr>
            <a:r>
              <a:rPr sz="1500">
                <a:solidFill>
                  <a:srgbClr val="222B33"/>
                </a:solidFill>
                <a:latin typeface="Microsoft YaHei"/>
              </a:rPr>
              <a:t>▪ 报告写好就锁进柜子，操作时不照做</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第六步：复查与重新评估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没有变化，也要定期复查</a:t>
            </a:r>
          </a:p>
          <a:p>
            <a:pPr>
              <a:spcAft>
                <a:spcPts val="1000"/>
              </a:spcAft>
            </a:pPr>
            <a:r>
              <a:rPr sz="2000">
                <a:solidFill>
                  <a:srgbClr val="222B33"/>
                </a:solidFill>
                <a:latin typeface="Microsoft YaHei"/>
              </a:rPr>
              <a:t>▪ 换病原、换方法、换人、换设施要重评</a:t>
            </a:r>
          </a:p>
          <a:p>
            <a:pPr>
              <a:spcAft>
                <a:spcPts val="1000"/>
              </a:spcAft>
            </a:pPr>
            <a:r>
              <a:rPr sz="2000">
                <a:solidFill>
                  <a:srgbClr val="222B33"/>
                </a:solidFill>
                <a:latin typeface="Microsoft YaHei"/>
              </a:rPr>
              <a:t>▪ 出了事件，也要重新评估</a:t>
            </a:r>
          </a:p>
          <a:p>
            <a:pPr>
              <a:spcAft>
                <a:spcPts val="1000"/>
              </a:spcAft>
            </a:pPr>
            <a:r>
              <a:rPr sz="2000">
                <a:solidFill>
                  <a:srgbClr val="222B33"/>
                </a:solidFill>
                <a:latin typeface="Microsoft YaHei"/>
              </a:rPr>
              <a:t>▪ 新实验的防护级别报委员会审批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第六步是复查：即使没有变化，也要按本校规定定期复查评估报告。遇到以下情况要及时重新评估并更新：更换病原或材料、改变实验方法或流程、人员变化、设施设备变化，以及发生事件或事故之后。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换了方法或病原，仍沿用旧的评估报告</a:t>
            </a:r>
          </a:p>
          <a:p>
            <a:pPr>
              <a:spcAft>
                <a:spcPts val="1000"/>
              </a:spcAft>
            </a:pPr>
            <a:r>
              <a:rPr sz="1500">
                <a:solidFill>
                  <a:srgbClr val="222B33"/>
                </a:solidFill>
                <a:latin typeface="Microsoft YaHei"/>
              </a:rPr>
              <a:t>▪ 发生事件后只处理现场，不重新评估</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让动手的人参与评估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评估不是一个人填表</a:t>
            </a:r>
          </a:p>
          <a:p>
            <a:pPr>
              <a:spcAft>
                <a:spcPts val="1000"/>
              </a:spcAft>
            </a:pPr>
            <a:r>
              <a:rPr sz="2000">
                <a:solidFill>
                  <a:srgbClr val="222B33"/>
                </a:solidFill>
                <a:latin typeface="Microsoft YaHei"/>
              </a:rPr>
              <a:t>▪ 动手的人最清楚哪里容易出错</a:t>
            </a:r>
          </a:p>
          <a:p>
            <a:pPr>
              <a:spcAft>
                <a:spcPts val="1000"/>
              </a:spcAft>
            </a:pPr>
            <a:r>
              <a:rPr sz="2000">
                <a:solidFill>
                  <a:srgbClr val="222B33"/>
                </a:solidFill>
                <a:latin typeface="Microsoft YaHei"/>
              </a:rPr>
              <a:t>▪ 负责人组织，操作者参与，人人知晓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由负责人一人填写，操作者只签字</a:t>
            </a:r>
          </a:p>
          <a:p>
            <a:pPr>
              <a:spcAft>
                <a:spcPts val="1000"/>
              </a:spcAft>
            </a:pPr>
            <a:r>
              <a:rPr sz="1500">
                <a:solidFill>
                  <a:srgbClr val="222B33"/>
                </a:solidFill>
                <a:latin typeface="Microsoft YaHei"/>
              </a:rPr>
              <a:t>▪ 新成员加入后不学习本实验室的评估报告</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关于危害与风险，正确的是：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危害和风险是一回事</a:t>
            </a:r>
          </a:p>
          <a:p>
            <a:pPr algn="l"/>
            <a:r>
              <a:rPr sz="1500" b="0">
                <a:solidFill>
                  <a:srgbClr val="222B33"/>
                </a:solidFill>
                <a:latin typeface="Microsoft YaHei"/>
              </a:rPr>
              <a:t>B. 生物因子本身是危害，动手操作它才带来风险</a:t>
            </a:r>
          </a:p>
          <a:p>
            <a:pPr algn="l"/>
            <a:r>
              <a:rPr sz="1500" b="0">
                <a:solidFill>
                  <a:srgbClr val="222B33"/>
                </a:solidFill>
                <a:latin typeface="Microsoft YaHei"/>
              </a:rPr>
              <a:t>C. 只要病原危险，风险就一定高</a:t>
            </a:r>
          </a:p>
          <a:p>
            <a:pPr algn="l"/>
            <a:r>
              <a:rPr sz="1500" b="0">
                <a:solidFill>
                  <a:srgbClr val="222B33"/>
                </a:solidFill>
                <a:latin typeface="Microsoft YaHei"/>
              </a:rPr>
              <a:t>D. 储存的样本没有风险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判断：守规则操作能降低出事的可能性，所以万一发生暴露，后果也会变轻。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生物风险评估六步的正确顺序是：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控制、识别、记录、评价、分析、复查</a:t>
            </a:r>
          </a:p>
          <a:p>
            <a:pPr algn="l"/>
            <a:r>
              <a:rPr sz="1500" b="0">
                <a:solidFill>
                  <a:srgbClr val="222B33"/>
                </a:solidFill>
                <a:latin typeface="Microsoft YaHei"/>
              </a:rPr>
              <a:t>B. 识别、分析、评价、控制、记录、复查</a:t>
            </a:r>
          </a:p>
          <a:p>
            <a:pPr algn="l"/>
            <a:r>
              <a:rPr sz="1500" b="0">
                <a:solidFill>
                  <a:srgbClr val="222B33"/>
                </a:solidFill>
                <a:latin typeface="Microsoft YaHei"/>
              </a:rPr>
              <a:t>C. 记录、识别、控制、复查、分析、评价</a:t>
            </a:r>
          </a:p>
          <a:p>
            <a:pPr algn="l"/>
            <a:r>
              <a:rPr sz="1500" b="0">
                <a:solidFill>
                  <a:srgbClr val="222B33"/>
                </a:solidFill>
                <a:latin typeface="Microsoft YaHei"/>
              </a:rPr>
              <a:t>D. 评价、控制、识别、分析、记录、复查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下列哪种情况不需要立即重新评估？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更换病原</a:t>
            </a:r>
          </a:p>
          <a:p>
            <a:pPr algn="l"/>
            <a:r>
              <a:rPr sz="1500" b="0">
                <a:solidFill>
                  <a:srgbClr val="222B33"/>
                </a:solidFill>
                <a:latin typeface="Microsoft YaHei"/>
              </a:rPr>
              <a:t>B. 改变实验方法</a:t>
            </a:r>
          </a:p>
          <a:p>
            <a:pPr algn="l"/>
            <a:r>
              <a:rPr sz="1500" b="0">
                <a:solidFill>
                  <a:srgbClr val="222B33"/>
                </a:solidFill>
                <a:latin typeface="Microsoft YaHei"/>
              </a:rPr>
              <a:t>C. 发生暴露事件</a:t>
            </a:r>
          </a:p>
          <a:p>
            <a:pPr algn="l"/>
            <a:r>
              <a:rPr sz="1500" b="0">
                <a:solidFill>
                  <a:srgbClr val="222B33"/>
                </a:solidFill>
                <a:latin typeface="Microsoft YaHei"/>
              </a:rPr>
              <a:t>D. 同一人用同一方法重复做同一实验，且在复查周期内</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判断：控制措施加完后，残余风险能降为零，就可以开展实验。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简答：国内病原微生物分类与国际风险组在编号上有什么不同？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风险评估：生物安全的地基</a:t>
            </a:r>
          </a:p>
          <a:p>
            <a:pPr>
              <a:spcAft>
                <a:spcPts val="800"/>
              </a:spcAft>
            </a:pPr>
            <a:r>
              <a:rPr sz="1500">
                <a:solidFill>
                  <a:srgbClr val="FFFFFF"/>
                </a:solidFill>
                <a:latin typeface="Microsoft YaHei"/>
              </a:rPr>
              <a:t>▪ K2  危害是物，风险来自操作</a:t>
            </a:r>
          </a:p>
          <a:p>
            <a:pPr>
              <a:spcAft>
                <a:spcPts val="800"/>
              </a:spcAft>
            </a:pPr>
            <a:r>
              <a:rPr sz="1500">
                <a:solidFill>
                  <a:srgbClr val="FFFFFF"/>
                </a:solidFill>
                <a:latin typeface="Microsoft YaHei"/>
              </a:rPr>
              <a:t>▪ K3  风险看可能性和后果</a:t>
            </a:r>
          </a:p>
          <a:p>
            <a:pPr>
              <a:spcAft>
                <a:spcPts val="800"/>
              </a:spcAft>
            </a:pPr>
            <a:r>
              <a:rPr sz="1500">
                <a:solidFill>
                  <a:srgbClr val="FFFFFF"/>
                </a:solidFill>
                <a:latin typeface="Microsoft YaHei"/>
              </a:rPr>
              <a:t>▪ K4  守规矩降的是可能性</a:t>
            </a:r>
          </a:p>
          <a:p>
            <a:pPr>
              <a:spcAft>
                <a:spcPts val="800"/>
              </a:spcAft>
            </a:pPr>
            <a:r>
              <a:rPr sz="1500">
                <a:solidFill>
                  <a:srgbClr val="FFFFFF"/>
                </a:solidFill>
                <a:latin typeface="Microsoft YaHei"/>
              </a:rPr>
              <a:t>▪ K5  可能性与后果分级</a:t>
            </a:r>
          </a:p>
          <a:p>
            <a:pPr>
              <a:spcAft>
                <a:spcPts val="800"/>
              </a:spcAft>
            </a:pPr>
            <a:r>
              <a:rPr sz="1500">
                <a:solidFill>
                  <a:srgbClr val="FFFFFF"/>
                </a:solidFill>
                <a:latin typeface="Microsoft YaHei"/>
              </a:rPr>
              <a:t>▪ K6  风险矩阵</a:t>
            </a:r>
          </a:p>
          <a:p>
            <a:pPr>
              <a:spcAft>
                <a:spcPts val="800"/>
              </a:spcAft>
            </a:pPr>
            <a:r>
              <a:rPr sz="1500">
                <a:solidFill>
                  <a:srgbClr val="FFFFFF"/>
                </a:solidFill>
                <a:latin typeface="Microsoft YaHei"/>
              </a:rPr>
              <a:t>▪ K7  风险随操作而变</a:t>
            </a:r>
          </a:p>
          <a:p>
            <a:pPr>
              <a:spcAft>
                <a:spcPts val="800"/>
              </a:spcAft>
            </a:pPr>
            <a:r>
              <a:rPr sz="1500">
                <a:solidFill>
                  <a:srgbClr val="FFFFFF"/>
                </a:solidFill>
                <a:latin typeface="Microsoft YaHei"/>
              </a:rPr>
              <a:t>▪ K8  评估六步，按顺序走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第一步：危害识别</a:t>
            </a:r>
          </a:p>
          <a:p>
            <a:pPr>
              <a:spcAft>
                <a:spcPts val="800"/>
              </a:spcAft>
            </a:pPr>
            <a:r>
              <a:rPr sz="1500">
                <a:solidFill>
                  <a:srgbClr val="FFFFFF"/>
                </a:solidFill>
                <a:latin typeface="Microsoft YaHei"/>
              </a:rPr>
              <a:t>▪ K10  第二步：风险分析</a:t>
            </a:r>
          </a:p>
          <a:p>
            <a:pPr>
              <a:spcAft>
                <a:spcPts val="800"/>
              </a:spcAft>
            </a:pPr>
            <a:r>
              <a:rPr sz="1500">
                <a:solidFill>
                  <a:srgbClr val="FFFFFF"/>
                </a:solidFill>
                <a:latin typeface="Microsoft YaHei"/>
              </a:rPr>
              <a:t>▪ K11  第三步：风险评价</a:t>
            </a:r>
          </a:p>
          <a:p>
            <a:pPr>
              <a:spcAft>
                <a:spcPts val="800"/>
              </a:spcAft>
            </a:pPr>
            <a:r>
              <a:rPr sz="1500">
                <a:solidFill>
                  <a:srgbClr val="FFFFFF"/>
                </a:solidFill>
                <a:latin typeface="Microsoft YaHei"/>
              </a:rPr>
              <a:t>▪ K12  第四步：风险控制</a:t>
            </a:r>
          </a:p>
          <a:p>
            <a:pPr>
              <a:spcAft>
                <a:spcPts val="800"/>
              </a:spcAft>
            </a:pPr>
            <a:r>
              <a:rPr sz="1500">
                <a:solidFill>
                  <a:srgbClr val="FFFFFF"/>
                </a:solidFill>
                <a:latin typeface="Microsoft YaHei"/>
              </a:rPr>
              <a:t>▪ K13  残余风险：能接受才开展</a:t>
            </a:r>
          </a:p>
          <a:p>
            <a:pPr>
              <a:spcAft>
                <a:spcPts val="800"/>
              </a:spcAft>
            </a:pPr>
            <a:r>
              <a:rPr sz="1500">
                <a:solidFill>
                  <a:srgbClr val="FFFFFF"/>
                </a:solidFill>
                <a:latin typeface="Microsoft YaHei"/>
              </a:rPr>
              <a:t>▪ K14  第五步：记录成文</a:t>
            </a:r>
          </a:p>
          <a:p>
            <a:pPr>
              <a:spcAft>
                <a:spcPts val="800"/>
              </a:spcAft>
            </a:pPr>
            <a:r>
              <a:rPr sz="1500">
                <a:solidFill>
                  <a:srgbClr val="FFFFFF"/>
                </a:solidFill>
                <a:latin typeface="Microsoft YaHei"/>
              </a:rPr>
              <a:t>▪ K15  第六步：复查与重新评估</a:t>
            </a:r>
          </a:p>
          <a:p>
            <a:pPr>
              <a:spcAft>
                <a:spcPts val="800"/>
              </a:spcAft>
            </a:pPr>
            <a:r>
              <a:rPr sz="1500">
                <a:solidFill>
                  <a:srgbClr val="FFFFFF"/>
                </a:solidFill>
                <a:latin typeface="Microsoft YaHei"/>
              </a:rPr>
              <a:t>▪ K16  让动手的人参与评估</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