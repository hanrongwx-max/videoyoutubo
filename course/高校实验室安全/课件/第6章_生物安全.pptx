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在生物安全柜里做完实验并不等于结束：柜里的物品要去污，柜子本身也要去污，收尾和开工一样要照规程来。</a:t>
            </a:r>
          </a:p>
          <a:p>
            <a:r>
              <a:t>整个清理过程中风机必须一直开着：气流还在，柜子的防护才在；先关风机再收拾，柜内的气溶胶就会飘到操作者身边。</a:t>
            </a:r>
          </a:p>
          <a:p>
            <a:r>
              <a:t>使用前的消毒、物品摆放、溢洒处置、废物处理、用后去污，每一步都要写进本实验室的生物安全柜标准操作规程，并配有日常维护计划和溢洒应急程序（溢洒见第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收尾第一步：把所有样品管、培养皿、试剂瓶等容器盖好、拧紧。</a:t>
            </a:r>
          </a:p>
          <a:p>
            <a:r>
              <a:t>然后用开工前擦柜子的同一种指定消毒剂，对柜内物品逐件去污。用浸湿消毒剂的纸巾擦拭为主，不在柜内大面积喷雾；从污染最轻的物品开始，最后处理污染最重的，避免把污染越擦越多。</a:t>
            </a:r>
          </a:p>
          <a:p>
            <a:r>
              <a:t>消毒剂要让物品表面保持湿润，达到规定的作用时间才有效（浓度和作用时间以本单位 SOP 和产品说明为准，见第 076 课）。时间到后擦去残留液体；要留在柜里的东西放到清洁的一侧。</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样品要拿出生物安全柜时，容器外表面必须先去污；也可以把样品放进带盖、外表面已去污的二级容器（如密封盒）里再拿出，转运途中万一破损，液体也不会漏出来（样品转运见第 080 课）。</a:t>
            </a:r>
          </a:p>
          <a:p>
            <a:r>
              <a:t>其余要拿出柜外的物品，去污后移到柜旁的推车上，不在柜内堆放。</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用过的吸水垫，抓住外侧的角向内折叠，把污染的一面包在里面，再丢进柜内的废物袋，避免抖动扬起污染。</a:t>
            </a:r>
          </a:p>
          <a:p>
            <a:r>
              <a:t>柜内清空后，内表面也要去污，方法与开工前相同（见第 072 课）：用浸湿消毒剂的纸巾依次擦两侧壁、后壁、前窗玻璃内侧，最后擦台面，不漏死角，前窗内侧最容易被忘记。不要在柜内喷雾，雾滴会被吸进格栅和过滤器。用含氯消毒剂的，作用后再用清水擦去残留。</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废物处理从开工前就开始了：柜内废物桶（或废物容器）先套好两层耐高压的生物危害废物袋，消毒剂放在手边。柜内产生的废物都放进这只套袋容器里，先消毒再按规定带出处置。</a:t>
            </a:r>
          </a:p>
          <a:p>
            <a:r>
              <a:t>在柜内，用过的移液吸头能戳破袋子，也按锐器对待，放进专用容器；针头等锐器放锐器盒。</a:t>
            </a:r>
          </a:p>
          <a:p>
            <a:r>
              <a:t>按风险评估和规程，可在废物容器里预先加入一部分消毒液，让废物一进去就接触消毒剂。用哪种消毒剂按规程定；乙醇易挥发、易燃，不宜单独用作浸泡液（消毒剂选用见第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柜内废物袋（桶）不要装满，装到约四分之三时就要封口（本单位规定更严的从其规定），留出扎口的余量，也避免锐器顶破袋子。</a:t>
            </a:r>
          </a:p>
          <a:p>
            <a:r>
              <a:t>装得太满时不要用手往下压，以免锐器刺伤、袋子破裂。封口后盖紧容器，外表面消毒，再送到指定地点按规程灭菌处置。</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柜内的感染性废物要在柜里装袋、封口后再拿出来：柜内有气流保护，封口时扬起的污染不会外跑。</a:t>
            </a:r>
          </a:p>
          <a:p>
            <a:r>
              <a:t>用两层袋装：一层被吸头等戳破，还有另一层兜着。动手收口前，先用指定消毒剂擦一擦手套和废物容器外面；再用洗瓶往内袋里加少量消毒剂，让废物表面先接触消毒剂（不在柜内大面积喷雾）。</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封内袋：把内袋口轻轻收拢、提起，拧成一股；不要挤压袋子，也不要把袋里的空气挤出来，否则会把气溶胶带出。用扎带扎住，再缠一道胶带。</a:t>
            </a:r>
          </a:p>
          <a:p>
            <a:r>
              <a:t>扎好后在扎口处再擦一遍消毒剂，手碰过的地方最容易沾上污染。</a:t>
            </a:r>
          </a:p>
          <a:p>
            <a:r>
              <a:t>封外袋：把外袋从桶沿翻起来，把内袋整个包在里面，同样拧紧，用扎带和胶带扎好第二道口。整理多余的袋口，轻轻拉一拉确认扎牢。</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装袋时发现袋子破了或渗漏，先停下来，不要把它拿出柜外。在柜内外面再套一只新袋，扎紧。</a:t>
            </a:r>
          </a:p>
          <a:p>
            <a:r>
              <a:t>漏出的液体用纸巾覆盖，再加消毒剂作用规定时间后清理，纸巾作为感染性废物处理；手套沾上污染马上更换。处理完报告实验室负责人并记录；漏到柜外或量大的，按溢洒应急程序处置（见第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把扎好的双层废物袋从桶里提出来；袋子应耐高压灭菌，印有生物危害标志。袋子外表面、用过的废物盘和空桶外壁都擦上消毒剂，等够作用时间再擦干净。</a:t>
            </a:r>
          </a:p>
          <a:p>
            <a:r>
              <a:t>用过的纸巾丢掉，摘掉外层手套（戴双层手套的在柜内脱外层），换上干净手套，再把袋子拿出柜外。脏手套拎着没消毒的袋子出柜，会把污染带出来。</a:t>
            </a:r>
          </a:p>
          <a:p>
            <a:r>
              <a:t>只用了废物袋的，把它放进柜外的废物盘（周转箱）；袋和盘都在柜内用了的，就一起拿出来，按规程移走。</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课，灭菌器操作见第 123 课）。</a:t>
            </a:r>
          </a:p>
          <a:p>
            <a:r>
              <a:t>国内高校实验室的感染性废物，一般先在实验室内灭菌，再作为医疗废物（或按本校规定）分类包装、登记，交有资质的单位集中处置，不得混入生活垃圾（见第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清理完毕，柜里只留必需的东西，不要马上关机：让风机再运行一段时间（按本柜规程），把柜内空气换净。然后关照明、关风机，最后把前窗关好。</a:t>
            </a:r>
          </a:p>
          <a:p>
            <a:r>
              <a:t>有的实验室生物安全柜风机长期运行，那就只关照明，前窗保持在工作位置，按本单位规程执行。</a:t>
            </a:r>
          </a:p>
          <a:p>
            <a:r>
              <a:t>紫外灯只能作辅助消毒，不能代替擦拭；开紫外灯时人要离开，前窗关闭（见第 076、111 课）。有使用登记的，记得登记签字，写清使用时间和异常情况。</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每台生物安全柜都要按国家标准和本校规定定期检测认证，由有资质的机构进行；新安装的、搬动过的柜子也要先检测合格、贴好标签再用。检测合格标签过期的柜子先停用，报告设备管理人员安排检测。</a:t>
            </a:r>
          </a:p>
          <a:p>
            <a:r>
              <a:t>每个实验室都要定好清洁维护计划：日常清洁和保养有规程可依，由使用者按规程做；维修和更换高效过滤器涉及污染部件，必须由专业人员按规程先去污再操作，使用者不得自行拆卸。拿不准的，问实验室负责人、学院和学校实验室安全管理部门。</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答案：B。解析：清理全过程风机不关，先盖好容器，由轻到重擦拭，保持湿润够作用时间。</a:t>
            </a:r>
          </a:p>
          <a:p>
            <a:r>
              <a:t>第 2 题 答案：B。解析：装到约四分之三就封口，不得用手压，以免锐器刺伤、袋子破裂。</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答案：B。解析：挤压袋子会把气溶胶带出；封口在柜内完成，内外两道口都要扎牢。</a:t>
            </a:r>
          </a:p>
          <a:p>
            <a:r>
              <a:t>第 4 题 答案：B。解析：破袋不出柜，柜内加套处置；漏到柜外按溢洒程序处理。</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答案：B。解析：新装、移位后和定期都要由有资质的机构检测合格，过期停用。</a:t>
            </a:r>
          </a:p>
          <a:p>
            <a:r>
              <a:t>第 6 题 答案：双层扎紧后提出，袋子外表、废物盘和空桶外壁消毒并等够作用时间，脱掉外层手套、换干净手套，再放进柜外废物盘移走送灭菌。解析：防止把柜内污染带到柜外。</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控制生物风险，先靠实验室设施和生物安全柜等工程控制，再靠操作规程等管理措施，个人防护装备是贴在身上的最后一道防线（通用防护原则见第 021 课）。</a:t>
            </a:r>
          </a:p>
          <a:p>
            <a:r>
              <a:t>有了生物安全柜，手套、实验服（隔离衣）、口罩等该戴的照样要戴：设备挡住大部分气溶胶，防护用品防的是万一。最后一道防线一旦用错、戴歪，风险就直接到人身上，所以要用得对，才能真正起作用。</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防护穿戴什么、穿到什么程度，不凭感觉，要依据病原的分类、实验室的防护级别和具体活动的风险评估来确定（生物风险评估见第 067 课），评估结果写进本实验室的标准操作规程，人人照做。</a:t>
            </a:r>
          </a:p>
          <a:p>
            <a:r>
              <a:t>防护不是越多越好：穿得过多会闷热、动作笨拙、穿脱时更容易自我污染；也不能嫌麻烦自作主张减掉。普通的微生物操作，多数是实验服（隔离衣）、手套和护目镜。</a:t>
            </a:r>
          </a:p>
          <a:p>
            <a:r>
              <a:t>新冠疫情期间形成的防护配置是当时的做法，现在要以国家现行规定、本单位风险评估结果和产品说明为准。引进新的防护用品前要试用，提前想到可能的问题，用起来有问题及时反馈、解决。</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选防护先看三件事。一看病原：危害越高，防护越强。国内把病原微生物分为四类，第一类危害最高、第四类最低，与国际“风险组”的编号方向相反，不要混淆（见第 058 课）。来源不明或新出现的病原，先按较高级别从严防护，最终由风险评估确定；参考表只是起点。</a:t>
            </a:r>
          </a:p>
          <a:p>
            <a:r>
              <a:t>二看侵入途径：经呼吸道（气溶胶）、眼和黏膜、皮肤破损、针刺等，从哪里进就挡住哪里，多种途径就多重防护。</a:t>
            </a:r>
          </a:p>
          <a:p>
            <a:r>
              <a:t>三看具体操作：同一种样本，接收、登记时一般穿戴基本防护；开盖、核酸提取、离心、振荡等可能产生气溶胶的操作，要在生物安全柜内进行并加强防护。</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生物实验室的个人防护装备从头到脚一套：头套（帽子）、护目镜或面屏、贴合良好的口罩、实验服或隔离衣、一次性手套、鞋套或不露脚趾的鞋（着装要求见第 020 课）。按用途可归为五大类：呼吸防护（口罩）、手部防护、躯体防护（防护服）、眼面防护和特殊防护。</a:t>
            </a:r>
          </a:p>
          <a:p>
            <a:r>
              <a:t>呼吸道、眼睛、皮肤、手和脚，哪里露着皮肤，哪里就是防护缺口。手套要盖住实验服袖口，手腕不能露出一截。</a:t>
            </a:r>
          </a:p>
          <a:p>
            <a:r>
              <a:t>穿便服、只戴一副手套就上机操作是不行的：实验服、护目镜、手套一样不少，按规程穿戴齐全再开始。用过的一次性防护用品放进感染性废物袋。</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手套有多种材质，没有万能手套（详见第 023 课）：乳胶手套挡不住很多有机溶剂，腈手套耐溶剂性更好，但也有局限，同时接触化学品时要按化学品选材。防微生物的手套应符合 GB 28881-2023（以现行文本为准）等国家标准。</a:t>
            </a:r>
          </a:p>
          <a:p>
            <a:r>
              <a:t>处理感染性生物材料时，按风险评估可以戴两层手套：外层被污染，里层还能护着；外层污染或破损就及时更换外层，摘外层时不碰到里层外的皮肤。</a:t>
            </a:r>
          </a:p>
          <a:p>
            <a:r>
              <a:t>抓取、保定实验动物时，在内层手套外戴加厚的防咬、防抓手套（实验动物见第 084 课）。</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隔离衣、防护服在实验室和现场采样时都可以穿，能挡住小的飞溅，但挡不住大量溢洒：被大量液体浸湿后要立即更换，必要时按暴露处置（见第 078 课）。</a:t>
            </a:r>
          </a:p>
          <a:p>
            <a:r>
              <a:t>需要医用一次性防护服时，选符合 GB 19082-2023（以现行文本为准）的合格产品；一次性防护服用过不再穿，成本也不低，要按评估合理使用（实验服与防护服的通用要求见第 024 课）。</a:t>
            </a:r>
          </a:p>
          <a:p>
            <a:r>
              <a:t>防护服、隔离衣只在实验区内穿，不穿出实验室，不穿进办公室、食堂等公共区域。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有的病原可经气溶胶吸入感染，要靠口罩把住呼吸道。医用外科口罩主要阻挡飞沫和液体飞溅；医用防护口罩（符合 GB 19083-2023，以现行文本为准）能过滤颗粒物和气溶胶，贴合面部。外形相似的口罩用途可能不同，有的能防液体喷溅，有的不能，用前看清标准、类别和说明。</a:t>
            </a:r>
          </a:p>
          <a:p>
            <a:r>
              <a:t>用医用口罩还是医用防护口罩，由本实验室的风险评估确定。医用防护口罩选好型号后要做适合性检验，每次佩戴做密合性检查（呼吸器类型和适合性检验见第 025 课）。</a:t>
            </a:r>
          </a:p>
          <a:p>
            <a:r>
              <a:t>口罩消毒会损坏过滤材料和贴合性能，一次性口罩不要消毒后重复使用。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护目镜和面屏保护眼睛和面部黏膜，挡住小的飞溅；护目镜贴合眼周，面屏挡住整个面部前方（眼面防护见第 022 课，产品符合 GB 14866-2023，以现行文本为准）。</a:t>
            </a:r>
          </a:p>
          <a:p>
            <a:r>
              <a:t>面屏、护目镜、口罩各管一处，不能互相代替：面屏下方和两侧是开放的，不防吸入，有气溶胶风险时必须同时戴合适的口罩。</a:t>
            </a:r>
          </a:p>
          <a:p>
            <a:r>
              <a:t>可重复使用的护目镜和面屏，用后按规程清洁消毒、晾干后再用。</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动力送风过滤式呼吸器（送风头罩，符合 GB 30864-2014，以现行文本为准）只保护呼吸道和头面部，防护服、手套等一样不能少，穿什么按风险评估和规程定（送风呼吸器的使用见第 025 课）。</a:t>
            </a:r>
          </a:p>
          <a:p>
            <a:r>
              <a:t>最高防护级别的实验室，人员穿着正压防护服：服内持续送入洁净空气，保持正压，万一出现破口，空气也是往外流，外界污染进不来。这类装备昂贵、操作复杂，只有经专门培训考核、获得授权的人员才能使用（各级实验室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护目镜或面屏，穿隔离衣或医用防护服，戴双层手套，必要时加鞋套、帽子。</a:t>
            </a:r>
          </a:p>
          <a:p>
            <a:r>
              <a:t>这只是一般做法，具体组合以国家卫生健康部门的现行规定、本实验室的风险评估和标准操作规程为准（临床样本见第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防护用品要选合格产品：口罩、防护服、手套、护目镜各有国家标准，采购时看清执行标准、类别和有效期，由单位统一采购、登记入库。</a:t>
            </a:r>
          </a:p>
          <a:p>
            <a:r>
              <a:t>按人员配齐，各种尺码都要有，太大太小都会留缺口、影响操作。戴之前检查有无破损、老化，手套可轻轻困住空气或对光查看有无小孔，有问题马上换。</a:t>
            </a:r>
          </a:p>
          <a:p>
            <a:r>
              <a:t>防护用品有有效期，过期的不用；库存快用完了及时补充，别凑合。</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一次性防护服、手套、口罩用过就丢，不能挂起来下次再穿。用后按感染性废物放进生物危害废物袋，按规程灭菌后处置（见第 077 课）。</a:t>
            </a:r>
          </a:p>
          <a:p>
            <a:r>
              <a:t>使用中发现防护服、手套破损，要按规程处理并记录上报，必要时按暴露处置；破损记录在内部审核和检查时一并核查，用来改进防护用品选择和操作。</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个人防护离不开管理：先充分评估风险，再选择防护用品，然后对人员进行培训，穿戴和脱卸都按规程一步步来，考核合格后才能独立操作（穿脱顺序见第 075 课）。</a:t>
            </a:r>
          </a:p>
          <a:p>
            <a:r>
              <a:t>穿防护前先把长发束好，摘掉首饰；防护用品合格、不过期；防护服不穿出实验室。选防护记住三看：看病原、看途径、看操作。</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答案：B。解析：防护按风险评估确定并写进规程，不多不少。</a:t>
            </a:r>
          </a:p>
          <a:p>
            <a:r>
              <a:t>第 2 题 答案：B。解析：国内第一类危害最高、第四类最低，与国际风险组编号方向相反。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答案：C。解析：面屏、护目镜、口罩各管一处；医用防护口罩防气溶胶，一次性口罩不重复使用。</a:t>
            </a:r>
          </a:p>
          <a:p>
            <a:r>
              <a:t>第 4 题 答案：A。解析：双层手套外脏内护，外层污染或破损及时更换。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答案：B。解析：防护服、隔离衣不出实验室。</a:t>
            </a:r>
          </a:p>
          <a:p>
            <a:r>
              <a:t>第 6 题 答案：需要。送风头罩只保护呼吸道和头面部，身体和手仍需防护服和手套。解析：从头到脚不留缺口，具体按风险评估和规程配齐。</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穿戴防护装备前先做准备：摘下戒指、手链、手表等首饰，它们会戳破手套、藏污纳垢，也让手套戴不服帖。手机、外套、包和笔等个人物品放在实验室外的储物柜里，不带进实验区（着装和个人物品要求见第 020 课）。</a:t>
            </a:r>
          </a:p>
          <a:p>
            <a:r>
              <a:t>有长发的，把头发束起、盘好，必要时戴帽子，防止头发垂落沾污或碰到面部。</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按风险评估备齐本次要用的装备（选择见第 074 课）。常规操作的基本装备是紧袖口的实验服、手套和带侧护的护目镜；有飞沫、飞溅风险时，换穿隔离衣，加戴口罩和面屏。隔离衣应前襟完整、后开、袖口收紧（针织或松紧袖口）。</a:t>
            </a:r>
          </a:p>
          <a:p>
            <a:r>
              <a:t>实验服、隔离衣和手套要尺码合身，方便活动。穿前逐件检查有无撕裂、破洞、缺扣、系带松脱，有缺陷的换新的，不凑合。</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穿戴区和脱卸区要分开设置，避免脱下的污染防护用品碰到干净的衣物和装备。有缓冲间的实验室，防护装备备齐在缓冲间，进去前在这里穿，出来在这里脱。</a:t>
            </a:r>
          </a:p>
          <a:p>
            <a:r>
              <a:t>进入较高风险区域前，在缓冲间按评估要求穿戴好（如送风式呼吸器），用前检查，确认无误再进入实验区。高级别防护装备须经培训考核后才能使用。</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戴顺序贴在穿戴区墙上，照着做。国内常用的顺序是：手卫生→戴帽子→戴口罩（医用防护口罩做密合性检查）→戴护目镜或面屏→穿隔离衣（或防护服）→戴手套。只穿基本三件时：扣好实验服→戴护目镜→戴手套。</a:t>
            </a:r>
          </a:p>
          <a:p>
            <a:r>
              <a:t>各单位、各类实验室的具体顺序可能略有不同（例如有的规程先穿隔离衣再戴面屏），以本单位标准操作规程为准；共同的原则是手套最后戴、盖住袖口。</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戴医用口罩：把耳挂挂在耳后，鼻夹一侧朝上，用双手食指从中间向两侧按压鼻夹，让口罩上缘贴紧鼻梁和面颊，再把口罩下缘拉到下巴下方。不要用单手捏鼻夹，会捏出尖角漏气。</a:t>
            </a:r>
          </a:p>
          <a:p>
            <a:r>
              <a:t>医用防护口罩每次戴好后做密合性检查（双手捂住口罩快速呼气、吸气，感觉边缘是否漏气），漏气就调整鼻夹和头带；适合性检验见第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戴面屏：先拉开弹力头带，套到脑后，海绵衬垫贴在眉毛上方的额头。戴好后面屏要盖住前额、下缘过下巴、两侧包住面颊。</a:t>
            </a:r>
          </a:p>
          <a:p>
            <a:r>
              <a:t>戴护目镜时，调整头带让镜框贴合眼周，不压迫口罩上缘；戴眼镜的选能罩在眼镜外的护目镜（眼面防护见第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穿隔离衣：手臂伸进袖子，把衣服拉到肩上，在颈后系好领口的带子，腰带在背后或侧面系上。</a:t>
            </a:r>
          </a:p>
          <a:p>
            <a:r>
              <a:t>带子要系牢，但打活结、不要勒得太紧，脱的时候才好解开或扯断。隔离衣要合身、方便活动，前后都要遮住日常衣物，不让里面的衣服露在外面。</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最后戴手套：先把隔离衣袖口拉到掌心，再把手套口拉起，套在袖口外面，而不是塞进袖子里。这样袖子不会滑出来，袖口也不会沾上污染。</a:t>
            </a:r>
          </a:p>
          <a:p>
            <a:r>
              <a:t>穿一次性连体防护服时，先戴内层手套盖住袖口，手腕处是最容易出现缺口的地方，按规程把缝隙封严；处理体液等液体样本时，连体服能在洒出时护住全身。开工前再检查一遍手套，确认没有破口。</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风险较高时，按规程戴双层手套：内层盖住袖口，最后再戴一层外手套。外层沾上污染，在实验室内（或生物安全柜内）脱掉外层，换上新的，内层一直护着手。戴几层、怎么脱，按本实验室规程执行。</a:t>
            </a:r>
          </a:p>
          <a:p>
            <a:r>
              <a:t>手套沾上样本或破损，立即在柜内脱下丢进废物容器，手部消毒后换上新手套。如果手部皮肤也破了，按暴露处置并报告（见第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使用动力送风过滤式呼吸器（送风头罩）时，穿戴顺序写在规程里，照规程做。第一步先把装有风机和电池的腰带系好、调好松紧：穿上防护服以后就够不着了。</a:t>
            </a:r>
          </a:p>
          <a:p>
            <a:r>
              <a:t>把送风导管接好、插紧、拧牢；调好头盔（头罩）里的头箍，让它稳稳贴住额头。送风呼吸器的用前检查和故障时的退出程序见第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戴头罩之前一定先开机，伸手在头罩里感觉一下，确认有风送进来再戴；不送风就戴上，会憋闷，有窒息危险。顺序不能反。</a:t>
            </a:r>
          </a:p>
          <a:p>
            <a:r>
              <a:t>按规程先穿好连体防护服，风机转着把头罩从头顶套下，戴正，把披肩拉平、盖住肩膀，对镜看披肩有没有卷边。头罩的披肩塞进防护服，导管收在里面不外露，再拉好拉链、系紧颈部。</a:t>
            </a:r>
          </a:p>
          <a:p>
            <a:r>
              <a:t>进门前看风机的指示灯：全亮说明供电和送风正常；指示灯不全亮就不要进入。</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穿完对着镜子逐一检查：头罩或帽子、口罩、护目镜或面屏、拉链和系带、手腕处的手套、脚下的鞋套，有没有缺口和卷边。</a:t>
            </a:r>
          </a:p>
          <a:p>
            <a:r>
              <a:t>镜子看不到背后，请同伴帮忙看后背、颈部和手腕，互相检查后再进门。穿脱流程要反复演练，脱卸区贴好流程图；练熟并经考核合格后，才能独立进入实验室。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a:p>
            <a:r>
              <a:t>防护用品不能穿出实验室，要在脱卸区按规定顺序一件一件脱，脏的一面朝里，不碰到身体和日常衣物；一次性的丢进感染性废物容器，可重复使用的按规程处理。</a:t>
            </a:r>
          </a:p>
          <a:p>
            <a:r>
              <a:t>脱卸的方法和顺序不止一种（见 K18）。实验室要按风险评估先选定一种，写进本实验室的操作规程，大家统一照做，不要临场乱换。</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把两只包成一团（通用要求见第 023 课）。</a:t>
            </a:r>
          </a:p>
          <a:p>
            <a:r>
              <a:t>整个过程中干净的手不碰手套外面。脱下的手套丢进感染性废物容器，一次性手套绝不重复使用。</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摘下手套后，手上可能已沾上看不见的污染，要先做手卫生：用速干手消毒剂揉搓双手，或洗手；有的规程要求换戴一副干净手套再继续脱其他防护用品。按本实验室规程执行，再脱下一件。</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摘面屏：头稍向前倾，捏住耳朵上方的头带，轻轻提起离开面部；面屏前片可能有污染，不要碰。一次性面屏丢进感染性废物容器。</a:t>
            </a:r>
          </a:p>
          <a:p>
            <a:r>
              <a:t>摘护目镜：捏住太阳穴处的镜腿取下，镜腿沾污的可能小，不碰镜片；放到指定位置，按规程统一清洁消毒。清洁消毒护目镜时也要戴手套，用规定的消毒剂，作用时间要够（以本单位 SOP 和产品说明为准）。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脱隔离衣：解开腰带，抓住两肩向前拉，让颈后的系带松开（或按规程解开）；从肩部往前脱下，远离身体，边脱边卷，让外面翻到里面，卷成一团，脏的外面不碰到裸手和日常衣物，丢进感染性废物容器。</a:t>
            </a:r>
          </a:p>
          <a:p>
            <a:r>
              <a:t>脱实验服：实验服外面可能有污染，裸手不碰；袖口一直被手套盖着，是干净的。解开扣子，捏住一只袖口的内侧把手臂抽出来，另一只同样抽出。可以再穿的实验服挂到指定位置；有明显污染或需要丢弃的，里面朝向自己向外折，里朝外卷成一团，丢进感染性废物容器（实验服的清洗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a:p>
            <a:r>
              <a:t>另一种是先脱隔离衣、后摘手套：脱到袖子时，把袖子从手套下面拉出来，手套先留在手上，隔离衣卷团丢弃后，再用翻脱法摘手套。</a:t>
            </a:r>
          </a:p>
          <a:p>
            <a:r>
              <a:t>无论哪一种，脱完都要手卫生，具体用哪种由风险评估确定并写进本实验室规程（见 K13）。</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口罩贴着口鼻，在其他防护用品脱完、手卫生后最后摘：只捏住耳挂（或头带）从耳后取下，不碰口罩外面，离开面部后直接丢进感染性废物容器。医用防护口罩先拉下下方头带，再拉上方头带。</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摘送风头罩时，风机保持运转，按规程摘下头盔：头罩外面都当作污染，手只碰规定的位置，脸不碰外面。摘下后放到指定位置等待去污，然后再关机、断开电池。摘完马上洗手。</a:t>
            </a:r>
          </a:p>
          <a:p>
            <a:r>
              <a:t>先关风机再摘，头罩内失去正压，外面的污染容易进到面部。</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全部脱完，最后一步是用流动水和洗手液（肥皂）洗手：手心、手背、指缝、指尖、指甲下、拇指和手腕都要认真揉搓，时间要够（洗手步骤见第 020 课）。用一次性纸巾擦干，再用纸巾关水龙头。</a:t>
            </a:r>
          </a:p>
          <a:p>
            <a:r>
              <a:t>摘手套后、接触污染后、离开实验室前都必须洗手。暂时没有洗手条件时，先用速干手消毒剂，有条件后尽快洗手。洗完手再离开实验室。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答案：B。解析：手套最后戴并盖住袖口；具体顺序以本单位 SOP 为准。</a:t>
            </a:r>
          </a:p>
          <a:p>
            <a:r>
              <a:t>第 2 题 答案：B。解析：脱卸从最脏的（手套）开始，口罩最后摘，每脱下高污染物品后做手卫生。</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答案：B。解析：干净的手始终不碰手套外面。</a:t>
            </a:r>
          </a:p>
          <a:p>
            <a:r>
              <a:t>第 4 题 答案：B。解析：不送风戴头罩有窒息危险；摘时风机运转，保持正压防止污染进入面部。</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答案：B。解析：脱法按风险评估选定一种，写进规程，统一照做。</a:t>
            </a:r>
          </a:p>
          <a:p>
            <a:r>
              <a:t>第 6 题 答案：在脱卸区进行；从最脏到最干净；手套用翻脱法，裸手不碰外面；摘手套后手卫生；面屏捏头带、口罩捏耳挂；隔离衣外面朝里卷起；最后洗手。解析：脏面朝里、不碰身体和日常衣物。</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生物安全柜的清洁与废物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62 镜）　适用对象：使用生物安全柜的生命科学、医学、农学、环境等专业高校本科生、研究生和教职工（必修，与第 072 课一起在上机操作前完成）；实验室负责人和设备管理人员重点学习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能做到工作结束后风机不关、盖好容器、物品由轻到重擦拭消毒，样品外表去污或装二级容器出柜，吸水垫向内折叠丢弃，柜内表面再擦一遍。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能做到柜内废物双层装袋：不超过四分之三封口、内袋拧紧扎牢补消毒、外袋包住再扎，外表消毒、换手套后移出柜外送灭菌。</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能判断袋子破损渗漏时在柜内加套处置、不拿出柜外，并报告记录。</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能说出收尾关机顺序、使用登记，以及生物安全柜新装、移位后和定期检测认证、过期停用的要求。</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《病原微生物实验室生物安全管理条例》（以现行文本为准）：实验室制定并执行标准操作规程，实验活动产生的废物按规定处置</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生物安全通用要求》：设备去污染、废物处置程序，生物安全柜的检测与维护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233（以现行文本为准）《病原微生物实验室生物安全通用准则》：生物安全柜使用、实验室消毒和废物处置</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生物安全柜》等生物安全柜现行国家/行业标准：安装、移位后和定期的现场检测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《医疗废物管理条例》（以现行文本为准）：感染性废物分类收集、包装、交接登记，由有资质单位集中处置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号，以现行文本为准）：仪器设备使用记录、维护保养和实验废物管理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本校生物安全柜使用管理规定和本实验室生物安全柜、废物处置标准操作规程（以本校规定为准）</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收尾也要照规程：风机一直开着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工作结束，物品和柜子都要去污</a:t>
            </a:r>
          </a:p>
          <a:p>
            <a:pPr>
              <a:spcAft>
                <a:spcPts val="1000"/>
              </a:spcAft>
            </a:pPr>
            <a:r>
              <a:rPr sz="2000">
                <a:solidFill>
                  <a:srgbClr val="222B33"/>
                </a:solidFill>
                <a:latin typeface="Microsoft YaHei"/>
              </a:rPr>
              <a:t>▪ 清理全过程风机一直开着</a:t>
            </a:r>
          </a:p>
          <a:p>
            <a:pPr>
              <a:spcAft>
                <a:spcPts val="1000"/>
              </a:spcAft>
            </a:pPr>
            <a:r>
              <a:rPr sz="2000">
                <a:solidFill>
                  <a:srgbClr val="222B33"/>
                </a:solidFill>
                <a:latin typeface="Microsoft YaHei"/>
              </a:rPr>
              <a:t>▪ 气流在，防护才在，别急着关</a:t>
            </a:r>
          </a:p>
          <a:p>
            <a:pPr>
              <a:spcAft>
                <a:spcPts val="1000"/>
              </a:spcAft>
            </a:pPr>
            <a:r>
              <a:rPr sz="2000">
                <a:solidFill>
                  <a:srgbClr val="222B33"/>
                </a:solidFill>
                <a:latin typeface="Microsoft YaHei"/>
              </a:rPr>
              <a:t>▪ 废物、去污、溢洒都写进规程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在生物安全柜里做完实验并不等于结束：柜里的物品要去污，柜子本身也要去污，收尾和开工一样要照规程来。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做完实验先关风机再收拾</a:t>
            </a:r>
          </a:p>
          <a:p>
            <a:pPr>
              <a:spcAft>
                <a:spcPts val="1000"/>
              </a:spcAft>
            </a:pPr>
            <a:r>
              <a:rPr sz="1500">
                <a:solidFill>
                  <a:srgbClr val="222B33"/>
                </a:solidFill>
                <a:latin typeface="Microsoft YaHei"/>
              </a:rPr>
              <a:t>▪ 收尾凭习惯，没有规程</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盖好容器，物品由轻到重消毒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第一步：所有容器都盖好</a:t>
            </a:r>
          </a:p>
          <a:p>
            <a:pPr>
              <a:spcAft>
                <a:spcPts val="1000"/>
              </a:spcAft>
            </a:pPr>
            <a:r>
              <a:rPr sz="2000">
                <a:solidFill>
                  <a:srgbClr val="222B33"/>
                </a:solidFill>
                <a:latin typeface="Microsoft YaHei"/>
              </a:rPr>
              <a:t>▪ 用开工时同一种指定消毒剂</a:t>
            </a:r>
          </a:p>
          <a:p>
            <a:pPr>
              <a:spcAft>
                <a:spcPts val="1000"/>
              </a:spcAft>
            </a:pPr>
            <a:r>
              <a:rPr sz="2000">
                <a:solidFill>
                  <a:srgbClr val="222B33"/>
                </a:solidFill>
                <a:latin typeface="Microsoft YaHei"/>
              </a:rPr>
              <a:t>▪ 从污染最轻的物品擦起，由轻到重</a:t>
            </a:r>
          </a:p>
          <a:p>
            <a:pPr>
              <a:spcAft>
                <a:spcPts val="1000"/>
              </a:spcAft>
            </a:pPr>
            <a:r>
              <a:rPr sz="2000">
                <a:solidFill>
                  <a:srgbClr val="222B33"/>
                </a:solidFill>
                <a:latin typeface="Microsoft YaHei"/>
              </a:rPr>
              <a:t>▪ 保持湿润够时间，再擦干放清洁侧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收尾第一步：把所有样品管、培养皿、试剂瓶等容器盖好、拧紧。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容器没盖好就开始擦拭</a:t>
            </a:r>
          </a:p>
          <a:p>
            <a:pPr>
              <a:spcAft>
                <a:spcPts val="1000"/>
              </a:spcAft>
            </a:pPr>
            <a:r>
              <a:rPr sz="1500">
                <a:solidFill>
                  <a:srgbClr val="222B33"/>
                </a:solidFill>
                <a:latin typeface="Microsoft YaHei"/>
              </a:rPr>
              <a:t>▪ 擦一下马上擦干，作用时间不够</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样品出柜：外表去污或装二级容器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样品出柜前外表面要去污</a:t>
            </a:r>
          </a:p>
          <a:p>
            <a:pPr>
              <a:spcAft>
                <a:spcPts val="1000"/>
              </a:spcAft>
            </a:pPr>
            <a:r>
              <a:rPr sz="2000">
                <a:solidFill>
                  <a:srgbClr val="222B33"/>
                </a:solidFill>
                <a:latin typeface="Microsoft YaHei"/>
              </a:rPr>
              <a:t>▪ 或装进外表去污过的二级容器</a:t>
            </a:r>
          </a:p>
          <a:p>
            <a:pPr>
              <a:spcAft>
                <a:spcPts val="1000"/>
              </a:spcAft>
            </a:pPr>
            <a:r>
              <a:rPr sz="2000">
                <a:solidFill>
                  <a:srgbClr val="222B33"/>
                </a:solidFill>
                <a:latin typeface="Microsoft YaHei"/>
              </a:rPr>
              <a:t>▪ 其余要拿出的东西移到推车上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样品要拿出生物安全柜时，容器外表面必须先去污；也可以把样品放进带盖、外表面已去污的二级容器（如密封盒）里再拿出，转运途中万一破损，液体也不会漏出来（样品转运见第 080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样品管外表不擦直接拿出柜外</a:t>
            </a:r>
          </a:p>
          <a:p>
            <a:pPr>
              <a:spcAft>
                <a:spcPts val="1000"/>
              </a:spcAft>
            </a:pPr>
            <a:r>
              <a:rPr sz="1500">
                <a:solidFill>
                  <a:srgbClr val="222B33"/>
                </a:solidFill>
                <a:latin typeface="Microsoft YaHei"/>
              </a:rPr>
              <a:t>▪ 用敞口的盒子转运样品</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吸水垫向内折，柜内表面再擦一遍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吸水垫抓外角向内折，脏面朝里</a:t>
            </a:r>
          </a:p>
          <a:p>
            <a:pPr>
              <a:spcAft>
                <a:spcPts val="1000"/>
              </a:spcAft>
            </a:pPr>
            <a:r>
              <a:rPr sz="2000">
                <a:solidFill>
                  <a:srgbClr val="222B33"/>
                </a:solidFill>
                <a:latin typeface="Microsoft YaHei"/>
              </a:rPr>
              <a:t>▪ 折好丢进柜内废物袋</a:t>
            </a:r>
          </a:p>
          <a:p>
            <a:pPr>
              <a:spcAft>
                <a:spcPts val="1000"/>
              </a:spcAft>
            </a:pPr>
            <a:r>
              <a:rPr sz="2000">
                <a:solidFill>
                  <a:srgbClr val="222B33"/>
                </a:solidFill>
                <a:latin typeface="Microsoft YaHei"/>
              </a:rPr>
              <a:t>▪ 清空后侧壁、后壁、前窗内侧都擦</a:t>
            </a:r>
          </a:p>
          <a:p>
            <a:pPr>
              <a:spcAft>
                <a:spcPts val="1000"/>
              </a:spcAft>
            </a:pPr>
            <a:r>
              <a:rPr sz="2000">
                <a:solidFill>
                  <a:srgbClr val="222B33"/>
                </a:solidFill>
                <a:latin typeface="Microsoft YaHei"/>
              </a:rPr>
              <a:t>▪ 用湿巾擦，不在柜内喷雾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用过的吸水垫，抓住外侧的角向内折叠，把污染的一面包在里面，再丢进柜内的废物袋，避免抖动扬起污染。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把吸水垫抖开或团成一团塞进袋</a:t>
            </a:r>
          </a:p>
          <a:p>
            <a:pPr>
              <a:spcAft>
                <a:spcPts val="1000"/>
              </a:spcAft>
            </a:pPr>
            <a:r>
              <a:rPr sz="1500">
                <a:solidFill>
                  <a:srgbClr val="222B33"/>
                </a:solidFill>
                <a:latin typeface="Microsoft YaHei"/>
              </a:rPr>
              <a:t>▪ 只擦台面，不擦侧壁和前窗内侧</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柜内废物容器：开工前备好，吸头当锐器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收尾从开工就开始：桶套两层袋</a:t>
            </a:r>
          </a:p>
          <a:p>
            <a:pPr>
              <a:spcAft>
                <a:spcPts val="1000"/>
              </a:spcAft>
            </a:pPr>
            <a:r>
              <a:rPr sz="2000">
                <a:solidFill>
                  <a:srgbClr val="222B33"/>
                </a:solidFill>
                <a:latin typeface="Microsoft YaHei"/>
              </a:rPr>
              <a:t>▪ 用过的吸头也按锐器对待</a:t>
            </a:r>
          </a:p>
          <a:p>
            <a:pPr>
              <a:spcAft>
                <a:spcPts val="1000"/>
              </a:spcAft>
            </a:pPr>
            <a:r>
              <a:rPr sz="2000">
                <a:solidFill>
                  <a:srgbClr val="222B33"/>
                </a:solidFill>
                <a:latin typeface="Microsoft YaHei"/>
              </a:rPr>
              <a:t>▪ 按规程容器里可先加消毒液</a:t>
            </a:r>
          </a:p>
          <a:p>
            <a:pPr>
              <a:spcAft>
                <a:spcPts val="1000"/>
              </a:spcAft>
            </a:pPr>
            <a:r>
              <a:rPr sz="2000">
                <a:solidFill>
                  <a:srgbClr val="222B33"/>
                </a:solidFill>
                <a:latin typeface="Microsoft YaHei"/>
              </a:rPr>
              <a:t>▪ 乙醇易挥发易燃，不宜当浸泡液</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废物处理从开工前就开始了：柜内废物桶（或废物容器）先套好两层耐高压的生物危害废物袋，消毒剂放在手边。柜内产生的废物都放进这只套袋容器里，先消毒再按规定带出处置。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开工后才找废物袋</a:t>
            </a:r>
          </a:p>
          <a:p>
            <a:pPr>
              <a:spcAft>
                <a:spcPts val="1000"/>
              </a:spcAft>
            </a:pPr>
            <a:r>
              <a:rPr sz="1500">
                <a:solidFill>
                  <a:srgbClr val="222B33"/>
                </a:solidFill>
                <a:latin typeface="Microsoft YaHei"/>
              </a:rPr>
              <a:t>▪ 用过的吸头随手放在台面上</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不超过四分之三就封口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废物装到四分之三前就封口</a:t>
            </a:r>
          </a:p>
          <a:p>
            <a:pPr>
              <a:spcAft>
                <a:spcPts val="1000"/>
              </a:spcAft>
            </a:pPr>
            <a:r>
              <a:rPr sz="2000">
                <a:solidFill>
                  <a:srgbClr val="222B33"/>
                </a:solidFill>
                <a:latin typeface="Microsoft YaHei"/>
              </a:rPr>
              <a:t>▪ 别装满，更别用手往下压</a:t>
            </a:r>
          </a:p>
          <a:p>
            <a:pPr>
              <a:spcAft>
                <a:spcPts val="1000"/>
              </a:spcAft>
            </a:pPr>
            <a:r>
              <a:rPr sz="2000">
                <a:solidFill>
                  <a:srgbClr val="222B33"/>
                </a:solidFill>
                <a:latin typeface="Microsoft YaHei"/>
              </a:rPr>
              <a:t>▪ 封口后盖紧，外表消毒</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柜内废物袋（桶）不要装满，装到约四分之三时就要封口（本单位规定更严的从其规定），留出扎口的余量，也避免锐器顶破袋子。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装满冒尖才封口</a:t>
            </a:r>
          </a:p>
          <a:p>
            <a:pPr>
              <a:spcAft>
                <a:spcPts val="1000"/>
              </a:spcAft>
            </a:pPr>
            <a:r>
              <a:rPr sz="1500">
                <a:solidFill>
                  <a:srgbClr val="222B33"/>
                </a:solidFill>
                <a:latin typeface="Microsoft YaHei"/>
              </a:rPr>
              <a:t>▪ 用手压实废物</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废物在柜内装双层袋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废物在柜里装好袋再拿出来</a:t>
            </a:r>
          </a:p>
          <a:p>
            <a:pPr>
              <a:spcAft>
                <a:spcPts val="1000"/>
              </a:spcAft>
            </a:pPr>
            <a:r>
              <a:rPr sz="2000">
                <a:solidFill>
                  <a:srgbClr val="222B33"/>
                </a:solidFill>
                <a:latin typeface="Microsoft YaHei"/>
              </a:rPr>
              <a:t>▪ 两层袋，一层破了还有一层兜着</a:t>
            </a:r>
          </a:p>
          <a:p>
            <a:pPr>
              <a:spcAft>
                <a:spcPts val="1000"/>
              </a:spcAft>
            </a:pPr>
            <a:r>
              <a:rPr sz="2000">
                <a:solidFill>
                  <a:srgbClr val="222B33"/>
                </a:solidFill>
                <a:latin typeface="Microsoft YaHei"/>
              </a:rPr>
              <a:t>▪ 收口前先消毒手套和容器外面</a:t>
            </a:r>
          </a:p>
          <a:p>
            <a:pPr>
              <a:spcAft>
                <a:spcPts val="1000"/>
              </a:spcAft>
            </a:pPr>
            <a:r>
              <a:rPr sz="2000">
                <a:solidFill>
                  <a:srgbClr val="222B33"/>
                </a:solidFill>
                <a:latin typeface="Microsoft YaHei"/>
              </a:rPr>
              <a:t>▪ 收口前往内袋加少量消毒剂</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柜内的感染性废物要在柜里装袋、封口后再拿出来：柜内有气流保护，封口时扬起的污染不会外跑。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把敞口废物袋拿出柜外再扎</a:t>
            </a:r>
          </a:p>
          <a:p>
            <a:pPr>
              <a:spcAft>
                <a:spcPts val="1000"/>
              </a:spcAft>
            </a:pPr>
            <a:r>
              <a:rPr sz="1500">
                <a:solidFill>
                  <a:srgbClr val="222B33"/>
                </a:solidFill>
                <a:latin typeface="Microsoft YaHei"/>
              </a:rPr>
              <a:t>▪ 只用一层袋</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内袋扎紧补消毒，外袋包住再扎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内袋口轻轻收拢拧成一股</a:t>
            </a:r>
          </a:p>
          <a:p>
            <a:pPr>
              <a:spcAft>
                <a:spcPts val="1000"/>
              </a:spcAft>
            </a:pPr>
            <a:r>
              <a:rPr sz="2000">
                <a:solidFill>
                  <a:srgbClr val="222B33"/>
                </a:solidFill>
                <a:latin typeface="Microsoft YaHei"/>
              </a:rPr>
              <a:t>▪ 别挤袋子，空气会带出气溶胶</a:t>
            </a:r>
          </a:p>
          <a:p>
            <a:pPr>
              <a:spcAft>
                <a:spcPts val="1000"/>
              </a:spcAft>
            </a:pPr>
            <a:r>
              <a:rPr sz="2000">
                <a:solidFill>
                  <a:srgbClr val="222B33"/>
                </a:solidFill>
                <a:latin typeface="Microsoft YaHei"/>
              </a:rPr>
              <a:t>▪ 扎带扎住再缠胶带，扎口补消毒</a:t>
            </a:r>
          </a:p>
          <a:p>
            <a:pPr>
              <a:spcAft>
                <a:spcPts val="1000"/>
              </a:spcAft>
            </a:pPr>
            <a:r>
              <a:rPr sz="2000">
                <a:solidFill>
                  <a:srgbClr val="222B33"/>
                </a:solidFill>
                <a:latin typeface="Microsoft YaHei"/>
              </a:rPr>
              <a:t>▪ 翻起外袋包住内袋，同样扎紧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封内袋：把内袋口轻轻收拢、提起，拧成一股；不要挤压袋子，也不要把袋里的空气挤出来，否则会把气溶胶带出。用扎带扎住，再缠一道胶带。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用力挤压袋子排气</a:t>
            </a:r>
          </a:p>
          <a:p>
            <a:pPr>
              <a:spcAft>
                <a:spcPts val="1000"/>
              </a:spcAft>
            </a:pPr>
            <a:r>
              <a:rPr sz="1500">
                <a:solidFill>
                  <a:srgbClr val="222B33"/>
                </a:solidFill>
                <a:latin typeface="Microsoft YaHei"/>
              </a:rPr>
              <a:t>▪ 只扎内袋，外袋敞着</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袋子破了：柜内加套，不拿出去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袋子破了渗漏，先停下</a:t>
            </a:r>
          </a:p>
          <a:p>
            <a:pPr>
              <a:spcAft>
                <a:spcPts val="1000"/>
              </a:spcAft>
            </a:pPr>
            <a:r>
              <a:rPr sz="2000">
                <a:solidFill>
                  <a:srgbClr val="222B33"/>
                </a:solidFill>
                <a:latin typeface="Microsoft YaHei"/>
              </a:rPr>
              <a:t>▪ 别拿出柜外，在柜内再套一只新袋</a:t>
            </a:r>
          </a:p>
          <a:p>
            <a:pPr>
              <a:spcAft>
                <a:spcPts val="1000"/>
              </a:spcAft>
            </a:pPr>
            <a:r>
              <a:rPr sz="2000">
                <a:solidFill>
                  <a:srgbClr val="222B33"/>
                </a:solidFill>
                <a:latin typeface="Microsoft YaHei"/>
              </a:rPr>
              <a:t>▪ 漏液盖纸巾加消毒剂，手套脏了就换</a:t>
            </a:r>
          </a:p>
          <a:p>
            <a:pPr>
              <a:spcAft>
                <a:spcPts val="1000"/>
              </a:spcAft>
            </a:pPr>
            <a:r>
              <a:rPr sz="2000">
                <a:solidFill>
                  <a:srgbClr val="222B33"/>
                </a:solidFill>
                <a:latin typeface="Microsoft YaHei"/>
              </a:rPr>
              <a:t>▪ 处理完报告负责人并记录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装袋时发现袋子破了或渗漏，先停下来，不要把它拿出柜外。在柜内外面再套一只新袋，扎紧。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拎着破袋往柜外跑</a:t>
            </a:r>
          </a:p>
          <a:p>
            <a:pPr>
              <a:spcAft>
                <a:spcPts val="1000"/>
              </a:spcAft>
            </a:pPr>
            <a:r>
              <a:rPr sz="1500">
                <a:solidFill>
                  <a:srgbClr val="222B33"/>
                </a:solidFill>
                <a:latin typeface="Microsoft YaHei"/>
              </a:rPr>
              <a:t>▪ 处理完不报告、不记录</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外表消毒、换手套，再移出柜外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双层袋提出，用耐高压的专用袋</a:t>
            </a:r>
          </a:p>
          <a:p>
            <a:pPr>
              <a:spcAft>
                <a:spcPts val="1000"/>
              </a:spcAft>
            </a:pPr>
            <a:r>
              <a:rPr sz="2000">
                <a:solidFill>
                  <a:srgbClr val="222B33"/>
                </a:solidFill>
                <a:latin typeface="Microsoft YaHei"/>
              </a:rPr>
              <a:t>▪ 袋子外面、空桶外壁都消毒</a:t>
            </a:r>
          </a:p>
          <a:p>
            <a:pPr>
              <a:spcAft>
                <a:spcPts val="1000"/>
              </a:spcAft>
            </a:pPr>
            <a:r>
              <a:rPr sz="2000">
                <a:solidFill>
                  <a:srgbClr val="222B33"/>
                </a:solidFill>
                <a:latin typeface="Microsoft YaHei"/>
              </a:rPr>
              <a:t>▪ 柜内脱外层手套，换干净手套</a:t>
            </a:r>
          </a:p>
          <a:p>
            <a:pPr>
              <a:spcAft>
                <a:spcPts val="1000"/>
              </a:spcAft>
            </a:pPr>
            <a:r>
              <a:rPr sz="2000">
                <a:solidFill>
                  <a:srgbClr val="222B33"/>
                </a:solidFill>
                <a:latin typeface="Microsoft YaHei"/>
              </a:rPr>
              <a:t>▪ 放进柜外废物盘，一起移走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把扎好的双层废物袋从桶里提出来；袋子应耐高压灭菌，印有生物危害标志。袋子外表面、用过的废物盘和空桶外壁都擦上消毒剂，等够作用时间再擦干净。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不消毒袋子外表就拿出柜外</a:t>
            </a:r>
          </a:p>
          <a:p>
            <a:pPr>
              <a:spcAft>
                <a:spcPts val="1000"/>
              </a:spcAft>
            </a:pPr>
            <a:r>
              <a:rPr sz="1500">
                <a:solidFill>
                  <a:srgbClr val="222B33"/>
                </a:solidFill>
                <a:latin typeface="Microsoft YaHei"/>
              </a:rPr>
              <a:t>▪ 戴着脏手套拎袋出柜</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送去灭菌：袋口按灭菌规程处理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柜内废物按规程送去灭菌</a:t>
            </a:r>
          </a:p>
          <a:p>
            <a:pPr>
              <a:spcAft>
                <a:spcPts val="1000"/>
              </a:spcAft>
            </a:pPr>
            <a:r>
              <a:rPr sz="2000">
                <a:solidFill>
                  <a:srgbClr val="222B33"/>
                </a:solidFill>
                <a:latin typeface="Microsoft YaHei"/>
              </a:rPr>
              <a:t>▪ 扎得太死，蒸汽进不去可能灭不透</a:t>
            </a:r>
          </a:p>
          <a:p>
            <a:pPr>
              <a:spcAft>
                <a:spcPts val="1000"/>
              </a:spcAft>
            </a:pPr>
            <a:r>
              <a:rPr sz="2000">
                <a:solidFill>
                  <a:srgbClr val="222B33"/>
                </a:solidFill>
                <a:latin typeface="Microsoft YaHei"/>
              </a:rPr>
              <a:t>▪ 加不加水、怎么松口按灭菌规程</a:t>
            </a:r>
          </a:p>
          <a:p>
            <a:pPr>
              <a:spcAft>
                <a:spcPts val="1000"/>
              </a:spcAft>
            </a:pPr>
            <a:r>
              <a:rPr sz="2000">
                <a:solidFill>
                  <a:srgbClr val="222B33"/>
                </a:solidFill>
                <a:latin typeface="Microsoft YaHei"/>
              </a:rPr>
              <a:t>▪ 灭菌后按医疗废物交接处置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出的废物袋按规程送到指定地点进行高压蒸汽灭菌。高压灭菌靠蒸汽穿透，袋口扎得太死，蒸汽进不去，袋子中心可能灭不透；因此是否向袋内加适量水、进灭菌器前袋口怎样放松，都按本单位灭菌规程执行（灭菌原理和验证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扎死的袋子直接灭菌，不按规程处理</a:t>
            </a:r>
          </a:p>
          <a:p>
            <a:pPr>
              <a:spcAft>
                <a:spcPts val="1000"/>
              </a:spcAft>
            </a:pPr>
            <a:r>
              <a:rPr sz="1500">
                <a:solidFill>
                  <a:srgbClr val="222B33"/>
                </a:solidFill>
                <a:latin typeface="Microsoft YaHei"/>
              </a:rPr>
              <a:t>▪ 灭菌后当生活垃圾丢弃</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风机再运行，关灯关窗，签登记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清理完风机再运行一会儿换净空气</a:t>
            </a:r>
          </a:p>
          <a:p>
            <a:pPr>
              <a:spcAft>
                <a:spcPts val="1000"/>
              </a:spcAft>
            </a:pPr>
            <a:r>
              <a:rPr sz="2000">
                <a:solidFill>
                  <a:srgbClr val="222B33"/>
                </a:solidFill>
                <a:latin typeface="Microsoft YaHei"/>
              </a:rPr>
              <a:t>▪ 然后关灯、关风机，最后关前窗</a:t>
            </a:r>
          </a:p>
          <a:p>
            <a:pPr>
              <a:spcAft>
                <a:spcPts val="1000"/>
              </a:spcAft>
            </a:pPr>
            <a:r>
              <a:rPr sz="2000">
                <a:solidFill>
                  <a:srgbClr val="222B33"/>
                </a:solidFill>
                <a:latin typeface="Microsoft YaHei"/>
              </a:rPr>
              <a:t>▪ 风机常开的只关灯，前窗不关</a:t>
            </a:r>
          </a:p>
          <a:p>
            <a:pPr>
              <a:spcAft>
                <a:spcPts val="1000"/>
              </a:spcAft>
            </a:pPr>
            <a:r>
              <a:rPr sz="2000">
                <a:solidFill>
                  <a:srgbClr val="222B33"/>
                </a:solidFill>
                <a:latin typeface="Microsoft YaHei"/>
              </a:rPr>
              <a:t>▪ 紫外灯只作辅助；有登记的要签字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清理完毕，柜里只留必需的东西，不要马上关机：让风机再运行一段时间（按本柜规程），把柜内空气换净。然后关照明、关风机，最后把前窗关好。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擦完立即关风机</a:t>
            </a:r>
          </a:p>
          <a:p>
            <a:pPr>
              <a:spcAft>
                <a:spcPts val="1000"/>
              </a:spcAft>
            </a:pPr>
            <a:r>
              <a:rPr sz="1500">
                <a:solidFill>
                  <a:srgbClr val="222B33"/>
                </a:solidFill>
                <a:latin typeface="Microsoft YaHei"/>
              </a:rPr>
              <a:t>▪ 用紫外灯照射代替擦拭消毒</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定期检测认证，维护职责分明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每台柜子都要定期检测认证</a:t>
            </a:r>
          </a:p>
          <a:p>
            <a:pPr>
              <a:spcAft>
                <a:spcPts val="1000"/>
              </a:spcAft>
            </a:pPr>
            <a:r>
              <a:rPr sz="2000">
                <a:solidFill>
                  <a:srgbClr val="222B33"/>
                </a:solidFill>
                <a:latin typeface="Microsoft YaHei"/>
              </a:rPr>
              <a:t>▪ 新装、搬动后和到期都要检测</a:t>
            </a:r>
          </a:p>
          <a:p>
            <a:pPr>
              <a:spcAft>
                <a:spcPts val="1000"/>
              </a:spcAft>
            </a:pPr>
            <a:r>
              <a:rPr sz="2000">
                <a:solidFill>
                  <a:srgbClr val="222B33"/>
                </a:solidFill>
                <a:latin typeface="Microsoft YaHei"/>
              </a:rPr>
              <a:t>▪ 检测过期的柜子停用</a:t>
            </a:r>
          </a:p>
          <a:p>
            <a:pPr>
              <a:spcAft>
                <a:spcPts val="1000"/>
              </a:spcAft>
            </a:pPr>
            <a:r>
              <a:rPr sz="2000">
                <a:solidFill>
                  <a:srgbClr val="222B33"/>
                </a:solidFill>
                <a:latin typeface="Microsoft YaHei"/>
              </a:rPr>
              <a:t>▪ 维修、换过滤器找专业人员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每台生物安全柜都要按国家标准和本校规定定期检测认证，由有资质的机构进行；新安装的、搬动过的柜子也要先检测合格、贴好标签再用。检测合格标签过期的柜子先停用，报告设备管理人员安排检测。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柜子搬动后不检测直接使用</a:t>
            </a:r>
          </a:p>
          <a:p>
            <a:pPr>
              <a:spcAft>
                <a:spcPts val="1000"/>
              </a:spcAft>
            </a:pPr>
            <a:r>
              <a:rPr sz="1500">
                <a:solidFill>
                  <a:srgbClr val="222B33"/>
                </a:solidFill>
                <a:latin typeface="Microsoft YaHei"/>
              </a:rPr>
              <a:t>▪ 自行拆开柜体更换过滤器</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生物安全柜内工作结束后，下列做法正确的是：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先关风机再收拾</a:t>
            </a:r>
          </a:p>
          <a:p>
            <a:pPr algn="l"/>
            <a:r>
              <a:rPr sz="1500" b="0">
                <a:solidFill>
                  <a:srgbClr val="222B33"/>
                </a:solidFill>
                <a:latin typeface="Microsoft YaHei"/>
              </a:rPr>
              <a:t>B. 风机开着，盖好容器，从污染最轻的物品开始擦拭消毒</a:t>
            </a:r>
          </a:p>
          <a:p>
            <a:pPr algn="l"/>
            <a:r>
              <a:rPr sz="1500" b="0">
                <a:solidFill>
                  <a:srgbClr val="222B33"/>
                </a:solidFill>
                <a:latin typeface="Microsoft YaHei"/>
              </a:rPr>
              <a:t>C. 对着柜内大面积喷雾</a:t>
            </a:r>
          </a:p>
          <a:p>
            <a:pPr algn="l"/>
            <a:r>
              <a:rPr sz="1500" b="0">
                <a:solidFill>
                  <a:srgbClr val="222B33"/>
                </a:solidFill>
                <a:latin typeface="Microsoft YaHei"/>
              </a:rPr>
              <a:t>D. 用紫外灯照射代替擦拭</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判断：柜内废物袋装满后用手压实，可以多装一些再封口。</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双层装袋时封内袋的正确做法是：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用力挤出袋内空气再扎紧</a:t>
            </a:r>
          </a:p>
          <a:p>
            <a:pPr algn="l"/>
            <a:r>
              <a:rPr sz="1500" b="0">
                <a:solidFill>
                  <a:srgbClr val="222B33"/>
                </a:solidFill>
                <a:latin typeface="Microsoft YaHei"/>
              </a:rPr>
              <a:t>B. 袋口轻轻收拢拧成一股，扎带扎住再缠胶带，扎口补消毒</a:t>
            </a:r>
          </a:p>
          <a:p>
            <a:pPr algn="l"/>
            <a:r>
              <a:rPr sz="1500" b="0">
                <a:solidFill>
                  <a:srgbClr val="222B33"/>
                </a:solidFill>
                <a:latin typeface="Microsoft YaHei"/>
              </a:rPr>
              <a:t>C. 把敞口袋拿出柜外再扎</a:t>
            </a:r>
          </a:p>
          <a:p>
            <a:pPr algn="l"/>
            <a:r>
              <a:rPr sz="1500" b="0">
                <a:solidFill>
                  <a:srgbClr val="222B33"/>
                </a:solidFill>
                <a:latin typeface="Microsoft YaHei"/>
              </a:rPr>
              <a:t>D. 只扎外袋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装袋时发现废物袋破损渗漏，应该：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赶紧拿出柜外</a:t>
            </a:r>
          </a:p>
          <a:p>
            <a:pPr algn="l"/>
            <a:r>
              <a:rPr sz="1500" b="0">
                <a:solidFill>
                  <a:srgbClr val="222B33"/>
                </a:solidFill>
                <a:latin typeface="Microsoft YaHei"/>
              </a:rPr>
              <a:t>B. 停下，在柜内外面再套一只新袋扎紧，漏液盖纸巾加消毒剂，换手套，报告并记录</a:t>
            </a:r>
          </a:p>
          <a:p>
            <a:pPr algn="l"/>
            <a:r>
              <a:rPr sz="1500" b="0">
                <a:solidFill>
                  <a:srgbClr val="222B33"/>
                </a:solidFill>
                <a:latin typeface="Microsoft YaHei"/>
              </a:rPr>
              <a:t>C. 继续装完再说</a:t>
            </a:r>
          </a:p>
          <a:p>
            <a:pPr algn="l"/>
            <a:r>
              <a:rPr sz="1500" b="0">
                <a:solidFill>
                  <a:srgbClr val="222B33"/>
                </a:solidFill>
                <a:latin typeface="Microsoft YaHei"/>
              </a:rPr>
              <a:t>D. 用胶带随便粘一下</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073 · 生物安全柜的清洁与废物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073 生物安全柜的清洁与废物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判断：生物安全柜搬动位置后，只要能开机就可以继续使用。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简答：柜内废物袋移出柜外前要做哪些事？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收尾也要照规程：风机一直开着</a:t>
            </a:r>
          </a:p>
          <a:p>
            <a:pPr>
              <a:spcAft>
                <a:spcPts val="800"/>
              </a:spcAft>
            </a:pPr>
            <a:r>
              <a:rPr sz="1500">
                <a:solidFill>
                  <a:srgbClr val="FFFFFF"/>
                </a:solidFill>
                <a:latin typeface="Microsoft YaHei"/>
              </a:rPr>
              <a:t>▪ K2  盖好容器，物品由轻到重消毒</a:t>
            </a:r>
          </a:p>
          <a:p>
            <a:pPr>
              <a:spcAft>
                <a:spcPts val="800"/>
              </a:spcAft>
            </a:pPr>
            <a:r>
              <a:rPr sz="1500">
                <a:solidFill>
                  <a:srgbClr val="FFFFFF"/>
                </a:solidFill>
                <a:latin typeface="Microsoft YaHei"/>
              </a:rPr>
              <a:t>▪ K3  样品出柜：外表去污或装二级容器</a:t>
            </a:r>
          </a:p>
          <a:p>
            <a:pPr>
              <a:spcAft>
                <a:spcPts val="800"/>
              </a:spcAft>
            </a:pPr>
            <a:r>
              <a:rPr sz="1500">
                <a:solidFill>
                  <a:srgbClr val="FFFFFF"/>
                </a:solidFill>
                <a:latin typeface="Microsoft YaHei"/>
              </a:rPr>
              <a:t>▪ K4  吸水垫向内折，柜内表面再擦一遍</a:t>
            </a:r>
          </a:p>
          <a:p>
            <a:pPr>
              <a:spcAft>
                <a:spcPts val="800"/>
              </a:spcAft>
            </a:pPr>
            <a:r>
              <a:rPr sz="1500">
                <a:solidFill>
                  <a:srgbClr val="FFFFFF"/>
                </a:solidFill>
                <a:latin typeface="Microsoft YaHei"/>
              </a:rPr>
              <a:t>▪ K5  柜内废物容器：开工前备好，吸头当锐器</a:t>
            </a:r>
          </a:p>
          <a:p>
            <a:pPr>
              <a:spcAft>
                <a:spcPts val="800"/>
              </a:spcAft>
            </a:pPr>
            <a:r>
              <a:rPr sz="1500">
                <a:solidFill>
                  <a:srgbClr val="FFFFFF"/>
                </a:solidFill>
                <a:latin typeface="Microsoft YaHei"/>
              </a:rPr>
              <a:t>▪ K6  不超过四分之三就封口</a:t>
            </a:r>
          </a:p>
          <a:p>
            <a:pPr>
              <a:spcAft>
                <a:spcPts val="800"/>
              </a:spcAft>
            </a:pPr>
            <a:r>
              <a:rPr sz="1500">
                <a:solidFill>
                  <a:srgbClr val="FFFFFF"/>
                </a:solidFill>
                <a:latin typeface="Microsoft YaHei"/>
              </a:rPr>
              <a:t>▪ K7  废物在柜内装双层袋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内袋扎紧补消毒，外袋包住再扎</a:t>
            </a:r>
          </a:p>
          <a:p>
            <a:pPr>
              <a:spcAft>
                <a:spcPts val="800"/>
              </a:spcAft>
            </a:pPr>
            <a:r>
              <a:rPr sz="1500">
                <a:solidFill>
                  <a:srgbClr val="FFFFFF"/>
                </a:solidFill>
                <a:latin typeface="Microsoft YaHei"/>
              </a:rPr>
              <a:t>▪ K9  袋子破了：柜内加套，不拿出去</a:t>
            </a:r>
          </a:p>
          <a:p>
            <a:pPr>
              <a:spcAft>
                <a:spcPts val="800"/>
              </a:spcAft>
            </a:pPr>
            <a:r>
              <a:rPr sz="1500">
                <a:solidFill>
                  <a:srgbClr val="FFFFFF"/>
                </a:solidFill>
                <a:latin typeface="Microsoft YaHei"/>
              </a:rPr>
              <a:t>▪ K10  外表消毒、换手套，再移出柜外</a:t>
            </a:r>
          </a:p>
          <a:p>
            <a:pPr>
              <a:spcAft>
                <a:spcPts val="800"/>
              </a:spcAft>
            </a:pPr>
            <a:r>
              <a:rPr sz="1500">
                <a:solidFill>
                  <a:srgbClr val="FFFFFF"/>
                </a:solidFill>
                <a:latin typeface="Microsoft YaHei"/>
              </a:rPr>
              <a:t>▪ K11  送去灭菌：袋口按灭菌规程处理</a:t>
            </a:r>
          </a:p>
          <a:p>
            <a:pPr>
              <a:spcAft>
                <a:spcPts val="800"/>
              </a:spcAft>
            </a:pPr>
            <a:r>
              <a:rPr sz="1500">
                <a:solidFill>
                  <a:srgbClr val="FFFFFF"/>
                </a:solidFill>
                <a:latin typeface="Microsoft YaHei"/>
              </a:rPr>
              <a:t>▪ K12  风机再运行，关灯关窗，签登记</a:t>
            </a:r>
          </a:p>
          <a:p>
            <a:pPr>
              <a:spcAft>
                <a:spcPts val="800"/>
              </a:spcAft>
            </a:pPr>
            <a:r>
              <a:rPr sz="1500">
                <a:solidFill>
                  <a:srgbClr val="FFFFFF"/>
                </a:solidFill>
                <a:latin typeface="Microsoft YaHei"/>
              </a:rPr>
              <a:t>▪ K13  定期检测认证，维护职责分明</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生物实验个人防护装备</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60 镜）　适用对象：从事微生物、细胞、临床样本、动物等生物实验的高校本科生、研究生和教职工（必修，进入生物安全实验室前完成）；实验室负责人和生物安全员重点学习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能说出个人防护是最后一道防线，防护用品按风险评估选择，从病原类别、侵入途径、具体操作三方面判断。</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能说出生物实验常用防护装备（手套、隔离衣/防护服、医用口罩/医用防护口罩、护目镜、面屏、送风头罩）的作用和局限。</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能做到从头到脚不留缺口：手套盖住袖口，生物材料可戴双层手套，面屏不代替口罩，防护服不出实验室。</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能判断防护用品是否合格可用：符合国家标准、尺码合适、用前检查、在有效期内，一次性用品不重复使用，破损记录上报。</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《病原微生物实验室生物安全管理条例》（以现行文本为准）：实验室按生物安全防护级别配备个人防护用品，从业人员接受培训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生物安全通用要求》：基于风险评估选择个人防护装备，各级实验室的个体防护要求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233（以现行文本为准）《病原微生物实验室生物安全通用准则》：各级实验室个人防护和操作规范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19082-2023（以现行文本为准）《医用一次性防护服技术要求》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19083-2023（以现行文本为准）《医用防护口罩技术要求》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号，以现行文本为准）：个人防护用品配备、培训和正确使用</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个人防护是最后一道防线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设施和规程在前，个人防护是最后一道</a:t>
            </a:r>
          </a:p>
          <a:p>
            <a:pPr>
              <a:spcAft>
                <a:spcPts val="1000"/>
              </a:spcAft>
            </a:pPr>
            <a:r>
              <a:rPr sz="2000">
                <a:solidFill>
                  <a:srgbClr val="222B33"/>
                </a:solidFill>
                <a:latin typeface="Microsoft YaHei"/>
              </a:rPr>
              <a:t>▪ 有了安全柜，防护用品照样要戴</a:t>
            </a:r>
          </a:p>
          <a:p>
            <a:pPr>
              <a:spcAft>
                <a:spcPts val="1000"/>
              </a:spcAft>
            </a:pPr>
            <a:r>
              <a:rPr sz="2000">
                <a:solidFill>
                  <a:srgbClr val="222B33"/>
                </a:solidFill>
                <a:latin typeface="Microsoft YaHei"/>
              </a:rPr>
              <a:t>▪ 用得对，才能真正挡住风险</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控制生物风险，先靠实验室设施和生物安全柜等工程控制，再靠操作规程等管理措施，个人防护装备是贴在身上的最后一道防线（通用防护原则见第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认为在安全柜里操作就不用穿戴防护</a:t>
            </a:r>
          </a:p>
          <a:p>
            <a:pPr>
              <a:spcAft>
                <a:spcPts val="1000"/>
              </a:spcAft>
            </a:pPr>
            <a:r>
              <a:rPr sz="1500">
                <a:solidFill>
                  <a:srgbClr val="222B33"/>
                </a:solidFill>
                <a:latin typeface="Microsoft YaHei"/>
              </a:rPr>
              <a:t>▪ 防护用品戴得松松垮垮</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穿哪些不凭感觉，按风险评估</a:t>
            </a:r>
          </a:p>
          <a:p>
            <a:pPr>
              <a:spcAft>
                <a:spcPts val="1000"/>
              </a:spcAft>
            </a:pPr>
            <a:r>
              <a:rPr sz="2000">
                <a:solidFill>
                  <a:srgbClr val="222B33"/>
                </a:solidFill>
                <a:latin typeface="Microsoft YaHei"/>
              </a:rPr>
              <a:t>▪ 不是越多越好，也别自作主张加减</a:t>
            </a:r>
          </a:p>
          <a:p>
            <a:pPr>
              <a:spcAft>
                <a:spcPts val="1000"/>
              </a:spcAft>
            </a:pPr>
            <a:r>
              <a:rPr sz="2000">
                <a:solidFill>
                  <a:srgbClr val="222B33"/>
                </a:solidFill>
                <a:latin typeface="Microsoft YaHei"/>
              </a:rPr>
              <a:t>▪ 评估结果写进规程，人人照做</a:t>
            </a:r>
          </a:p>
          <a:p>
            <a:pPr>
              <a:spcAft>
                <a:spcPts val="1000"/>
              </a:spcAft>
            </a:pPr>
            <a:r>
              <a:rPr sz="2000">
                <a:solidFill>
                  <a:srgbClr val="222B33"/>
                </a:solidFill>
                <a:latin typeface="Microsoft YaHei"/>
              </a:rPr>
              <a:t>▪ 疫情时期的做法以现行规定为准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防护穿戴什么、穿到什么程度，不凭感觉，要依据病原的分类、实验室的防护级别和具体活动的风险评估来确定（生物风险评估见第 067 课），评估结果写进本实验室的标准操作规程，人人照做。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凭个人感觉随意增减防护</a:t>
            </a:r>
          </a:p>
          <a:p>
            <a:pPr>
              <a:spcAft>
                <a:spcPts val="1000"/>
              </a:spcAft>
            </a:pPr>
            <a:r>
              <a:rPr sz="1500">
                <a:solidFill>
                  <a:srgbClr val="222B33"/>
                </a:solidFill>
                <a:latin typeface="Microsoft YaHei"/>
              </a:rPr>
              <a:t>▪ 沿用过时的防护配置不更新</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三看：病原类别、侵入途径、具体操作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一看病原：国内第一类危害最高</a:t>
            </a:r>
          </a:p>
          <a:p>
            <a:pPr>
              <a:spcAft>
                <a:spcPts val="1000"/>
              </a:spcAft>
            </a:pPr>
            <a:r>
              <a:rPr sz="2000">
                <a:solidFill>
                  <a:srgbClr val="222B33"/>
                </a:solidFill>
                <a:latin typeface="Microsoft YaHei"/>
              </a:rPr>
              <a:t>▪ 不明病原先从严，最终由评估定</a:t>
            </a:r>
          </a:p>
          <a:p>
            <a:pPr>
              <a:spcAft>
                <a:spcPts val="1000"/>
              </a:spcAft>
            </a:pPr>
            <a:r>
              <a:rPr sz="2000">
                <a:solidFill>
                  <a:srgbClr val="222B33"/>
                </a:solidFill>
                <a:latin typeface="Microsoft YaHei"/>
              </a:rPr>
              <a:t>▪ 二看途径：从哪里进，就挡哪里</a:t>
            </a:r>
          </a:p>
          <a:p>
            <a:pPr>
              <a:spcAft>
                <a:spcPts val="1000"/>
              </a:spcAft>
            </a:pPr>
            <a:r>
              <a:rPr sz="2000">
                <a:solidFill>
                  <a:srgbClr val="222B33"/>
                </a:solidFill>
                <a:latin typeface="Microsoft YaHei"/>
              </a:rPr>
              <a:t>▪ 三看操作：产生气溶胶的要加强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选防护先看三件事。一看病原：危害越高，防护越强。国内把病原微生物分为四类，第一类危害最高、第四类最低，与国际“风险组”的编号方向相反，不要混淆（见第 058 课）。来源不明或新出现的病原，先按较高级别从严防护，最终由……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把国际风险组编号当成国内分类</a:t>
            </a:r>
          </a:p>
          <a:p>
            <a:pPr>
              <a:spcAft>
                <a:spcPts val="1000"/>
              </a:spcAft>
            </a:pPr>
            <a:r>
              <a:rPr sz="1500">
                <a:solidFill>
                  <a:srgbClr val="222B33"/>
                </a:solidFill>
                <a:latin typeface="Microsoft YaHei"/>
              </a:rPr>
              <a:t>▪ 只看病原不看操作，一套防护用到底</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从头到脚，不留缺口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头套、护目镜或面屏、口罩、隔离衣、手套、鞋</a:t>
            </a:r>
          </a:p>
          <a:p>
            <a:pPr>
              <a:spcAft>
                <a:spcPts val="1000"/>
              </a:spcAft>
            </a:pPr>
            <a:r>
              <a:rPr sz="2000">
                <a:solidFill>
                  <a:srgbClr val="222B33"/>
                </a:solidFill>
                <a:latin typeface="Microsoft YaHei"/>
              </a:rPr>
              <a:t>▪ 五类：口罩、手套、防护服、护目、特殊防护</a:t>
            </a:r>
          </a:p>
          <a:p>
            <a:pPr>
              <a:spcAft>
                <a:spcPts val="1000"/>
              </a:spcAft>
            </a:pPr>
            <a:r>
              <a:rPr sz="2000">
                <a:solidFill>
                  <a:srgbClr val="222B33"/>
                </a:solidFill>
                <a:latin typeface="Microsoft YaHei"/>
              </a:rPr>
              <a:t>▪ 哪里露着皮肤，哪里就是缺口</a:t>
            </a:r>
          </a:p>
          <a:p>
            <a:pPr>
              <a:spcAft>
                <a:spcPts val="1000"/>
              </a:spcAft>
            </a:pPr>
            <a:r>
              <a:rPr sz="2000">
                <a:solidFill>
                  <a:srgbClr val="222B33"/>
                </a:solidFill>
                <a:latin typeface="Microsoft YaHei"/>
              </a:rPr>
              <a:t>▪ 手套盖住袖口；只戴手套上机不行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生物实验室的个人防护装备从头到脚一套：头套（帽子）、护目镜或面屏、贴合良好的口罩、实验服或隔离衣、一次性手套、鞋套或不露脚趾的鞋（着装要求见第 020 课）。按用途可归为五大类：呼吸防护（口罩）、手部防护、躯体防护（……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手套和袖口之间露出手腕</a:t>
            </a:r>
          </a:p>
          <a:p>
            <a:pPr>
              <a:spcAft>
                <a:spcPts val="1000"/>
              </a:spcAft>
            </a:pPr>
            <a:r>
              <a:rPr sz="1500">
                <a:solidFill>
                  <a:srgbClr val="222B33"/>
                </a:solidFill>
                <a:latin typeface="Microsoft YaHei"/>
              </a:rPr>
              <a:t>▪ 穿便服只戴手套上机</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手套：生物材料可戴两层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乳胶挡不住很多溶剂，腈也有局限</a:t>
            </a:r>
          </a:p>
          <a:p>
            <a:pPr>
              <a:spcAft>
                <a:spcPts val="1000"/>
              </a:spcAft>
            </a:pPr>
            <a:r>
              <a:rPr sz="2000">
                <a:solidFill>
                  <a:srgbClr val="222B33"/>
                </a:solidFill>
                <a:latin typeface="Microsoft YaHei"/>
              </a:rPr>
              <a:t>▪ 处理生物材料可戴两层，外脏内护</a:t>
            </a:r>
          </a:p>
          <a:p>
            <a:pPr>
              <a:spcAft>
                <a:spcPts val="1000"/>
              </a:spcAft>
            </a:pPr>
            <a:r>
              <a:rPr sz="2000">
                <a:solidFill>
                  <a:srgbClr val="222B33"/>
                </a:solidFill>
                <a:latin typeface="Microsoft YaHei"/>
              </a:rPr>
              <a:t>▪ 外层污染了，及时换外层</a:t>
            </a:r>
          </a:p>
          <a:p>
            <a:pPr>
              <a:spcAft>
                <a:spcPts val="1000"/>
              </a:spcAft>
            </a:pPr>
            <a:r>
              <a:rPr sz="2000">
                <a:solidFill>
                  <a:srgbClr val="222B33"/>
                </a:solidFill>
                <a:latin typeface="Microsoft YaHei"/>
              </a:rPr>
              <a:t>▪ 抓动物戴加厚手套，防咬防抓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手套有多种材质，没有万能手套（详见第 023 课）：乳胶手套挡不住很多有机溶剂，腈手套耐溶剂性更好，但也有局限，同时接触化学品时要按化学品选材。防微生物的手套应符合 GB 28881-2023（以现行文本为准）等国家……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用乳胶手套接触有机溶剂</a:t>
            </a:r>
          </a:p>
          <a:p>
            <a:pPr>
              <a:spcAft>
                <a:spcPts val="1000"/>
              </a:spcAft>
            </a:pPr>
            <a:r>
              <a:rPr sz="1500">
                <a:solidFill>
                  <a:srgbClr val="222B33"/>
                </a:solidFill>
                <a:latin typeface="Microsoft YaHei"/>
              </a:rPr>
              <a:t>▪ 外层手套污染了不换，继续操作</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隔离衣与防护服：挡飞溅，不出门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隔离衣、防护服挡小飞溅</a:t>
            </a:r>
          </a:p>
          <a:p>
            <a:pPr>
              <a:spcAft>
                <a:spcPts val="1000"/>
              </a:spcAft>
            </a:pPr>
            <a:r>
              <a:rPr sz="2000">
                <a:solidFill>
                  <a:srgbClr val="222B33"/>
                </a:solidFill>
                <a:latin typeface="Microsoft YaHei"/>
              </a:rPr>
              <a:t>▪ 挡不住大量溢洒，浸湿要立即更换</a:t>
            </a:r>
          </a:p>
          <a:p>
            <a:pPr>
              <a:spcAft>
                <a:spcPts val="1000"/>
              </a:spcAft>
            </a:pPr>
            <a:r>
              <a:rPr sz="2000">
                <a:solidFill>
                  <a:srgbClr val="222B33"/>
                </a:solidFill>
                <a:latin typeface="Microsoft YaHei"/>
              </a:rPr>
              <a:t>▪ 医用防护服要符合国家标准</a:t>
            </a:r>
          </a:p>
          <a:p>
            <a:pPr>
              <a:spcAft>
                <a:spcPts val="1000"/>
              </a:spcAft>
            </a:pPr>
            <a:r>
              <a:rPr sz="2000">
                <a:solidFill>
                  <a:srgbClr val="222B33"/>
                </a:solidFill>
                <a:latin typeface="Microsoft YaHei"/>
              </a:rPr>
              <a:t>▪ 防护服不出实验室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隔离衣、防护服在实验室和现场采样时都可以穿，能挡住小的飞溅，但挡不住大量溢洒：被大量液体浸湿后要立即更换，必要时按暴露处置（见第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防护服浸湿了继续穿</a:t>
            </a:r>
          </a:p>
          <a:p>
            <a:pPr>
              <a:spcAft>
                <a:spcPts val="1000"/>
              </a:spcAft>
            </a:pPr>
            <a:r>
              <a:rPr sz="1500">
                <a:solidFill>
                  <a:srgbClr val="222B33"/>
                </a:solidFill>
                <a:latin typeface="Microsoft YaHei"/>
              </a:rPr>
              <a:t>▪ 穿着隔离衣去走廊、办公室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医用口罩与医用防护口罩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经气溶胶吸入的病原，要靠口罩挡</a:t>
            </a:r>
          </a:p>
          <a:p>
            <a:pPr>
              <a:spcAft>
                <a:spcPts val="1000"/>
              </a:spcAft>
            </a:pPr>
            <a:r>
              <a:rPr sz="2000">
                <a:solidFill>
                  <a:srgbClr val="222B33"/>
                </a:solidFill>
                <a:latin typeface="Microsoft YaHei"/>
              </a:rPr>
              <a:t>▪ 医用口罩防飞溅，防护口罩防气溶胶</a:t>
            </a:r>
          </a:p>
          <a:p>
            <a:pPr>
              <a:spcAft>
                <a:spcPts val="1000"/>
              </a:spcAft>
            </a:pPr>
            <a:r>
              <a:rPr sz="2000">
                <a:solidFill>
                  <a:srgbClr val="222B33"/>
                </a:solidFill>
                <a:latin typeface="Microsoft YaHei"/>
              </a:rPr>
              <a:t>▪ 长得像，用途不同，看清说明</a:t>
            </a:r>
          </a:p>
          <a:p>
            <a:pPr>
              <a:spcAft>
                <a:spcPts val="1000"/>
              </a:spcAft>
            </a:pPr>
            <a:r>
              <a:rPr sz="2000">
                <a:solidFill>
                  <a:srgbClr val="222B33"/>
                </a:solidFill>
                <a:latin typeface="Microsoft YaHei"/>
              </a:rPr>
              <a:t>▪ 用哪种由评估定；防护口罩不重复用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有的病原可经气溶胶吸入感染，要靠口罩把住呼吸道。医用外科口罩主要阻挡飞沫和液体飞溅；医用防护口罩（符合 GB 19083-2023，以现行文本为准）能过滤颗粒物和气溶胶，贴合面部。外形相似的口罩用途可能不同，有的能防……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把医用外科口罩当防气溶胶的防护口罩</a:t>
            </a:r>
          </a:p>
          <a:p>
            <a:pPr>
              <a:spcAft>
                <a:spcPts val="1000"/>
              </a:spcAft>
            </a:pPr>
            <a:r>
              <a:rPr sz="1500">
                <a:solidFill>
                  <a:srgbClr val="222B33"/>
                </a:solidFill>
                <a:latin typeface="Microsoft YaHei"/>
              </a:rPr>
              <a:t>▪ 口罩喷消毒剂后再戴</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护目镜、面屏、口罩各管一处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护目镜护眼睛，面屏挡脸前飞溅</a:t>
            </a:r>
          </a:p>
          <a:p>
            <a:pPr>
              <a:spcAft>
                <a:spcPts val="1000"/>
              </a:spcAft>
            </a:pPr>
            <a:r>
              <a:rPr sz="2000">
                <a:solidFill>
                  <a:srgbClr val="222B33"/>
                </a:solidFill>
                <a:latin typeface="Microsoft YaHei"/>
              </a:rPr>
              <a:t>▪ 面屏不防吸入，不能代替口罩</a:t>
            </a:r>
          </a:p>
          <a:p>
            <a:pPr>
              <a:spcAft>
                <a:spcPts val="1000"/>
              </a:spcAft>
            </a:pPr>
            <a:r>
              <a:rPr sz="2000">
                <a:solidFill>
                  <a:srgbClr val="222B33"/>
                </a:solidFill>
                <a:latin typeface="Microsoft YaHei"/>
              </a:rPr>
              <a:t>▪ 可重复用的，按规程消毒后再用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护目镜和面屏保护眼睛和面部黏膜，挡住小的飞溅；护目镜贴合眼周，面屏挡住整个面部前方（眼面防护见第 022 课，产品符合 GB 14866-2023，以现行文本为准）。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戴了面屏就不戴口罩</a:t>
            </a:r>
          </a:p>
          <a:p>
            <a:pPr>
              <a:spcAft>
                <a:spcPts val="1000"/>
              </a:spcAft>
            </a:pPr>
            <a:r>
              <a:rPr sz="1500">
                <a:solidFill>
                  <a:srgbClr val="222B33"/>
                </a:solidFill>
                <a:latin typeface="Microsoft YaHei"/>
              </a:rPr>
              <a:t>▪ 护目镜用后不消毒直接给别人用</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送风头罩和正压防护服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送风头罩只护呼吸和头面部</a:t>
            </a:r>
          </a:p>
          <a:p>
            <a:pPr>
              <a:spcAft>
                <a:spcPts val="1000"/>
              </a:spcAft>
            </a:pPr>
            <a:r>
              <a:rPr sz="2000">
                <a:solidFill>
                  <a:srgbClr val="222B33"/>
                </a:solidFill>
                <a:latin typeface="Microsoft YaHei"/>
              </a:rPr>
              <a:t>▪ 头罩之外，防护服、手套照样配齐</a:t>
            </a:r>
          </a:p>
          <a:p>
            <a:pPr>
              <a:spcAft>
                <a:spcPts val="1000"/>
              </a:spcAft>
            </a:pPr>
            <a:r>
              <a:rPr sz="2000">
                <a:solidFill>
                  <a:srgbClr val="222B33"/>
                </a:solidFill>
                <a:latin typeface="Microsoft YaHei"/>
              </a:rPr>
              <a:t>▪ 最高等级实验室穿正压防护服</a:t>
            </a:r>
          </a:p>
          <a:p>
            <a:pPr>
              <a:spcAft>
                <a:spcPts val="1000"/>
              </a:spcAft>
            </a:pPr>
            <a:r>
              <a:rPr sz="2000">
                <a:solidFill>
                  <a:srgbClr val="222B33"/>
                </a:solidFill>
                <a:latin typeface="Microsoft YaHei"/>
              </a:rPr>
              <a:t>▪ 高级别防护须专门培训才能用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动力送风过滤式呼吸器（送风头罩，符合 GB 30864-2014，以现行文本为准）只保护呼吸道和头面部，防护服、手套等一样不能少，穿什么按风险评估和规程定（送风呼吸器的使用见第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戴了送风头罩就不穿防护服</a:t>
            </a:r>
          </a:p>
          <a:p>
            <a:pPr>
              <a:spcAft>
                <a:spcPts val="1000"/>
              </a:spcAft>
            </a:pPr>
            <a:r>
              <a:rPr sz="1500">
                <a:solidFill>
                  <a:srgbClr val="222B33"/>
                </a:solidFill>
                <a:latin typeface="Microsoft YaHei"/>
              </a:rPr>
              <a:t>▪ 未经培训使用高级别防护装备</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临床与诊断实验的常见防护组合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临床检验常规：隔离衣、手套、护目镜</a:t>
            </a:r>
          </a:p>
          <a:p>
            <a:pPr>
              <a:spcAft>
                <a:spcPts val="1000"/>
              </a:spcAft>
            </a:pPr>
            <a:r>
              <a:rPr sz="2000">
                <a:solidFill>
                  <a:srgbClr val="222B33"/>
                </a:solidFill>
                <a:latin typeface="Microsoft YaHei"/>
              </a:rPr>
              <a:t>▪ 呼吸道样本：防护口罩、护目、双层手套</a:t>
            </a:r>
          </a:p>
          <a:p>
            <a:pPr>
              <a:spcAft>
                <a:spcPts val="1000"/>
              </a:spcAft>
            </a:pPr>
            <a:r>
              <a:rPr sz="2000">
                <a:solidFill>
                  <a:srgbClr val="222B33"/>
                </a:solidFill>
                <a:latin typeface="Microsoft YaHei"/>
              </a:rPr>
              <a:t>▪ 具体组合按现行规定和风险评估定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临床检验和传染病诊断实验室处理样本时，常见的防护组合大致分两档：常规样本检验，一般穿实验服或隔离衣、戴手套，有飞溅风险时戴护目镜或面屏、医用口罩；处理可疑呼吸道传染病等高风险样本，在生物安全柜内操作，戴医用防护口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高风险样本只按常规防护处理</a:t>
            </a:r>
          </a:p>
          <a:p>
            <a:pPr>
              <a:spcAft>
                <a:spcPts val="1000"/>
              </a:spcAft>
            </a:pPr>
            <a:r>
              <a:rPr sz="1500">
                <a:solidFill>
                  <a:srgbClr val="222B33"/>
                </a:solidFill>
                <a:latin typeface="Microsoft YaHei"/>
              </a:rPr>
              <a:t>▪ 照搬网上的防护组合，不看本单位规程</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合格产品，配齐尺码，用前检查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买合格产品，统一采购，登记入库</a:t>
            </a:r>
          </a:p>
          <a:p>
            <a:pPr>
              <a:spcAft>
                <a:spcPts val="1000"/>
              </a:spcAft>
            </a:pPr>
            <a:r>
              <a:rPr sz="2000">
                <a:solidFill>
                  <a:srgbClr val="222B33"/>
                </a:solidFill>
                <a:latin typeface="Microsoft YaHei"/>
              </a:rPr>
              <a:t>▪ 按人配齐，大小尺码都要有</a:t>
            </a:r>
          </a:p>
          <a:p>
            <a:pPr>
              <a:spcAft>
                <a:spcPts val="1000"/>
              </a:spcAft>
            </a:pPr>
            <a:r>
              <a:rPr sz="2000">
                <a:solidFill>
                  <a:srgbClr val="222B33"/>
                </a:solidFill>
                <a:latin typeface="Microsoft YaHei"/>
              </a:rPr>
              <a:t>▪ 戴前检查，破损马上换</a:t>
            </a:r>
          </a:p>
          <a:p>
            <a:pPr>
              <a:spcAft>
                <a:spcPts val="1000"/>
              </a:spcAft>
            </a:pPr>
            <a:r>
              <a:rPr sz="2000">
                <a:solidFill>
                  <a:srgbClr val="222B33"/>
                </a:solidFill>
                <a:latin typeface="Microsoft YaHei"/>
              </a:rPr>
              <a:t>▪ 看清有效期，过期不用，及时补充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防护用品要选合格产品：口罩、防护服、手套、护目镜各有国家标准，采购时看清执行标准、类别和有效期，由单位统一采购、登记入库。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尺码不合适也凑合着戴</a:t>
            </a:r>
          </a:p>
          <a:p>
            <a:pPr>
              <a:spcAft>
                <a:spcPts val="1000"/>
              </a:spcAft>
            </a:pPr>
            <a:r>
              <a:rPr sz="1500">
                <a:solidFill>
                  <a:srgbClr val="222B33"/>
                </a:solidFill>
                <a:latin typeface="Microsoft YaHei"/>
              </a:rPr>
              <a:t>▪ 使用过期的防护用品</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一次性不重复用，破损要报告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一次性用品用过就丢，不挂起来再穿</a:t>
            </a:r>
          </a:p>
          <a:p>
            <a:pPr>
              <a:spcAft>
                <a:spcPts val="1000"/>
              </a:spcAft>
            </a:pPr>
            <a:r>
              <a:rPr sz="2000">
                <a:solidFill>
                  <a:srgbClr val="222B33"/>
                </a:solidFill>
                <a:latin typeface="Microsoft YaHei"/>
              </a:rPr>
              <a:t>▪ 按感染性废物，灭菌后处置</a:t>
            </a:r>
          </a:p>
          <a:p>
            <a:pPr>
              <a:spcAft>
                <a:spcPts val="1000"/>
              </a:spcAft>
            </a:pPr>
            <a:r>
              <a:rPr sz="2000">
                <a:solidFill>
                  <a:srgbClr val="222B33"/>
                </a:solidFill>
                <a:latin typeface="Microsoft YaHei"/>
              </a:rPr>
              <a:t>▪ 防护服破了，记录上报，定期检查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一次性防护服、手套、口罩用过就丢，不能挂起来下次再穿。用后按感染性废物放进生物危害废物袋，按规程灭菌后处置（见第 077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一次性隔离衣挂在门后反复穿</a:t>
            </a:r>
          </a:p>
          <a:p>
            <a:pPr>
              <a:spcAft>
                <a:spcPts val="1000"/>
              </a:spcAft>
            </a:pPr>
            <a:r>
              <a:rPr sz="1500">
                <a:solidFill>
                  <a:srgbClr val="222B33"/>
                </a:solidFill>
                <a:latin typeface="Microsoft YaHei"/>
              </a:rPr>
              <a:t>▪ 防护服破了不报告</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防护离不开管理：评估、培训、规程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先评估，再选择，再培训，照规程</a:t>
            </a:r>
          </a:p>
          <a:p>
            <a:pPr>
              <a:spcAft>
                <a:spcPts val="1000"/>
              </a:spcAft>
            </a:pPr>
            <a:r>
              <a:rPr sz="2000">
                <a:solidFill>
                  <a:srgbClr val="222B33"/>
                </a:solidFill>
                <a:latin typeface="Microsoft YaHei"/>
              </a:rPr>
              <a:t>▪ 穿和脱都要培训，按规程一步步来</a:t>
            </a:r>
          </a:p>
          <a:p>
            <a:pPr>
              <a:spcAft>
                <a:spcPts val="1000"/>
              </a:spcAft>
            </a:pPr>
            <a:r>
              <a:rPr sz="2000">
                <a:solidFill>
                  <a:srgbClr val="222B33"/>
                </a:solidFill>
                <a:latin typeface="Microsoft YaHei"/>
              </a:rPr>
              <a:t>▪ 头发束好，首饰摘掉，再穿防护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个人防护离不开管理：先充分评估风险，再选择防护用品，然后对人员进行培训，穿戴和脱卸都按规程一步步来，考核合格后才能独立操作（穿脱顺序见第 075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只发防护用品，不培训穿脱</a:t>
            </a:r>
          </a:p>
          <a:p>
            <a:pPr>
              <a:spcAft>
                <a:spcPts val="1000"/>
              </a:spcAft>
            </a:pPr>
            <a:r>
              <a:rPr sz="1500">
                <a:solidFill>
                  <a:srgbClr val="222B33"/>
                </a:solidFill>
                <a:latin typeface="Microsoft YaHei"/>
              </a:rPr>
              <a:t>▪ 戴着戒指、手链穿戴手套</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生物实验选个人防护装备，主要依据是：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个人感觉</a:t>
            </a:r>
          </a:p>
          <a:p>
            <a:pPr algn="l"/>
            <a:r>
              <a:rPr sz="1500" b="0">
                <a:solidFill>
                  <a:srgbClr val="222B33"/>
                </a:solidFill>
                <a:latin typeface="Microsoft YaHei"/>
              </a:rPr>
              <a:t>B. 风险评估：病原类别、侵入途径和具体操作</a:t>
            </a:r>
          </a:p>
          <a:p>
            <a:pPr algn="l"/>
            <a:r>
              <a:rPr sz="1500" b="0">
                <a:solidFill>
                  <a:srgbClr val="222B33"/>
                </a:solidFill>
                <a:latin typeface="Microsoft YaHei"/>
              </a:rPr>
              <a:t>C. 越多越安全</a:t>
            </a:r>
          </a:p>
          <a:p>
            <a:pPr algn="l"/>
            <a:r>
              <a:rPr sz="1500" b="0">
                <a:solidFill>
                  <a:srgbClr val="222B33"/>
                </a:solidFill>
                <a:latin typeface="Microsoft YaHei"/>
              </a:rPr>
              <a:t>D. 别人穿什么就穿什么</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判断：国内病原微生物分类中，第四类危害最高。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面屏可以代替口罩</a:t>
            </a:r>
          </a:p>
          <a:p>
            <a:pPr algn="l"/>
            <a:r>
              <a:rPr sz="1500" b="0">
                <a:solidFill>
                  <a:srgbClr val="222B33"/>
                </a:solidFill>
                <a:latin typeface="Microsoft YaHei"/>
              </a:rPr>
              <a:t>B. 医用外科口罩可防气溶胶，等同于医用防护口罩</a:t>
            </a:r>
          </a:p>
          <a:p>
            <a:pPr algn="l"/>
            <a:r>
              <a:rPr sz="1500" b="0">
                <a:solidFill>
                  <a:srgbClr val="222B33"/>
                </a:solidFill>
                <a:latin typeface="Microsoft YaHei"/>
              </a:rPr>
              <a:t>C. 面屏不防吸入，有气溶胶风险要同时戴合适的口罩</a:t>
            </a:r>
          </a:p>
          <a:p>
            <a:pPr algn="l"/>
            <a:r>
              <a:rPr sz="1500" b="0">
                <a:solidFill>
                  <a:srgbClr val="222B33"/>
                </a:solidFill>
                <a:latin typeface="Microsoft YaHei"/>
              </a:rPr>
              <a:t>D. 一次性口罩消毒后可重复使用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判断：处理感染性生物材料时可戴两层手套，外层污染后及时更换外层。</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074 · 生物实验个人防护装备</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074 生物实验个人防护装备</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下列哪种做法错误？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手套盖住袖口</a:t>
            </a:r>
          </a:p>
          <a:p>
            <a:pPr algn="l"/>
            <a:r>
              <a:rPr sz="1500" b="0">
                <a:solidFill>
                  <a:srgbClr val="222B33"/>
                </a:solidFill>
                <a:latin typeface="Microsoft YaHei"/>
              </a:rPr>
              <a:t>B. 穿着隔离衣去办公室取资料</a:t>
            </a:r>
          </a:p>
          <a:p>
            <a:pPr algn="l"/>
            <a:r>
              <a:rPr sz="1500" b="0">
                <a:solidFill>
                  <a:srgbClr val="222B33"/>
                </a:solidFill>
                <a:latin typeface="Microsoft YaHei"/>
              </a:rPr>
              <a:t>C. 戴前检查手套</a:t>
            </a:r>
          </a:p>
          <a:p>
            <a:pPr algn="l"/>
            <a:r>
              <a:rPr sz="1500" b="0">
                <a:solidFill>
                  <a:srgbClr val="222B33"/>
                </a:solidFill>
                <a:latin typeface="Microsoft YaHei"/>
              </a:rPr>
              <a:t>D. 防护服破损记录上报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简答：戴了送风头罩，是否还需要穿防护服、戴手套？为什么？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个人防护是最后一道防线</a:t>
            </a:r>
          </a:p>
          <a:p>
            <a:pPr>
              <a:spcAft>
                <a:spcPts val="800"/>
              </a:spcAft>
            </a:pPr>
            <a:r>
              <a:rPr sz="1500">
                <a:solidFill>
                  <a:srgbClr val="FFFFFF"/>
                </a:solidFill>
                <a:latin typeface="Microsoft YaHei"/>
              </a:rPr>
              <a:t>▪ K2  按风险评估选，写进规程</a:t>
            </a:r>
          </a:p>
          <a:p>
            <a:pPr>
              <a:spcAft>
                <a:spcPts val="800"/>
              </a:spcAft>
            </a:pPr>
            <a:r>
              <a:rPr sz="1500">
                <a:solidFill>
                  <a:srgbClr val="FFFFFF"/>
                </a:solidFill>
                <a:latin typeface="Microsoft YaHei"/>
              </a:rPr>
              <a:t>▪ K3  三看：病原类别、侵入途径、具体操作</a:t>
            </a:r>
          </a:p>
          <a:p>
            <a:pPr>
              <a:spcAft>
                <a:spcPts val="800"/>
              </a:spcAft>
            </a:pPr>
            <a:r>
              <a:rPr sz="1500">
                <a:solidFill>
                  <a:srgbClr val="FFFFFF"/>
                </a:solidFill>
                <a:latin typeface="Microsoft YaHei"/>
              </a:rPr>
              <a:t>▪ K4  从头到脚，不留缺口</a:t>
            </a:r>
          </a:p>
          <a:p>
            <a:pPr>
              <a:spcAft>
                <a:spcPts val="800"/>
              </a:spcAft>
            </a:pPr>
            <a:r>
              <a:rPr sz="1500">
                <a:solidFill>
                  <a:srgbClr val="FFFFFF"/>
                </a:solidFill>
                <a:latin typeface="Microsoft YaHei"/>
              </a:rPr>
              <a:t>▪ K5  手套：生物材料可戴两层</a:t>
            </a:r>
          </a:p>
          <a:p>
            <a:pPr>
              <a:spcAft>
                <a:spcPts val="800"/>
              </a:spcAft>
            </a:pPr>
            <a:r>
              <a:rPr sz="1500">
                <a:solidFill>
                  <a:srgbClr val="FFFFFF"/>
                </a:solidFill>
                <a:latin typeface="Microsoft YaHei"/>
              </a:rPr>
              <a:t>▪ K6  隔离衣与防护服：挡飞溅，不出门</a:t>
            </a:r>
          </a:p>
          <a:p>
            <a:pPr>
              <a:spcAft>
                <a:spcPts val="800"/>
              </a:spcAft>
            </a:pPr>
            <a:r>
              <a:rPr sz="1500">
                <a:solidFill>
                  <a:srgbClr val="FFFFFF"/>
                </a:solidFill>
                <a:latin typeface="Microsoft YaHei"/>
              </a:rPr>
              <a:t>▪ K7  医用口罩与医用防护口罩</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护目镜、面屏、口罩各管一处</a:t>
            </a:r>
          </a:p>
          <a:p>
            <a:pPr>
              <a:spcAft>
                <a:spcPts val="800"/>
              </a:spcAft>
            </a:pPr>
            <a:r>
              <a:rPr sz="1500">
                <a:solidFill>
                  <a:srgbClr val="FFFFFF"/>
                </a:solidFill>
                <a:latin typeface="Microsoft YaHei"/>
              </a:rPr>
              <a:t>▪ K9  送风头罩和正压防护服</a:t>
            </a:r>
          </a:p>
          <a:p>
            <a:pPr>
              <a:spcAft>
                <a:spcPts val="800"/>
              </a:spcAft>
            </a:pPr>
            <a:r>
              <a:rPr sz="1500">
                <a:solidFill>
                  <a:srgbClr val="FFFFFF"/>
                </a:solidFill>
                <a:latin typeface="Microsoft YaHei"/>
              </a:rPr>
              <a:t>▪ S1  临床与诊断实验的常见防护组合</a:t>
            </a:r>
          </a:p>
          <a:p>
            <a:pPr>
              <a:spcAft>
                <a:spcPts val="800"/>
              </a:spcAft>
            </a:pPr>
            <a:r>
              <a:rPr sz="1500">
                <a:solidFill>
                  <a:srgbClr val="FFFFFF"/>
                </a:solidFill>
                <a:latin typeface="Microsoft YaHei"/>
              </a:rPr>
              <a:t>▪ K10  合格产品，配齐尺码，用前检查</a:t>
            </a:r>
          </a:p>
          <a:p>
            <a:pPr>
              <a:spcAft>
                <a:spcPts val="800"/>
              </a:spcAft>
            </a:pPr>
            <a:r>
              <a:rPr sz="1500">
                <a:solidFill>
                  <a:srgbClr val="FFFFFF"/>
                </a:solidFill>
                <a:latin typeface="Microsoft YaHei"/>
              </a:rPr>
              <a:t>▪ K11  一次性不重复用，破损要报告</a:t>
            </a:r>
          </a:p>
          <a:p>
            <a:pPr>
              <a:spcAft>
                <a:spcPts val="800"/>
              </a:spcAft>
            </a:pPr>
            <a:r>
              <a:rPr sz="1500">
                <a:solidFill>
                  <a:srgbClr val="FFFFFF"/>
                </a:solidFill>
                <a:latin typeface="Microsoft YaHei"/>
              </a:rPr>
              <a:t>▪ K12  防护离不开管理：评估、培训、规程</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防护装备的穿戴与脱卸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74 镜）　适用对象：进入生物安全实验室、临床检验或病原微生物实验区的高校本科生、研究生和教职工（必修，须经穿脱演练考核）；实验室负责人和生物安全员重点学习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能做到穿前准备（摘首饰、个人物品留门外、束长发、检查装备），在穿戴区按顺序穿戴：手卫生→帽子→口罩→护目镜/面屏→隔离衣→手套（以本单位 SOP 为准）。</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能做到手套盖住袖口、口罩压紧鼻夹、面屏遮全脸、隔离衣系活结，按需戴双层手套，穿完对镜自查、同伴互查。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能做到在脱卸区从最脏到最干净脱卸：先摘手套（翻脱法）→手卫生→摘面屏/护目镜→脱隔离衣（外面朝里卷）→摘口罩→洗手，全程不自我污染。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能说出送风头罩“先开机有风再戴、摘下后再关机”的要求，以及脱卸方法须统一写进本实验室规程。</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《病原微生物实验室生物安全管理条例》（以现行文本为准）：实验人员按标准操作规程使用个人防护用品并接受培训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生物安全通用要求》：个体防护装备的穿戴和脱卸程序、防护区出入要求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233（以现行文本为准）《病原微生物实验室生物安全通用准则》：个人防护和实验室操作规范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311-2023（以现行文本为准）《医院隔离技术标准》：防护用品穿脱顺序和方法（临床实验室参照）</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WS/T 313-2019（以现行文本为准）《医务人员手卫生规范》：洗手与卫生手消毒的时机和方法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19082-2023、GB 19083-2023（以现行文本为准）：医用一次性防护服、医用防护口罩技术要求</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30864-2014（以现行文本为准）《呼吸防护 动力送风过滤式呼吸器》</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本校生物安全实验室管理规定和本实验室个人防护装备穿脱标准操作规程（以本校规定为准）</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穿前准备：摘首饰、物品留门外、束长发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首饰、手表先摘下</a:t>
            </a:r>
          </a:p>
          <a:p>
            <a:pPr>
              <a:spcAft>
                <a:spcPts val="1000"/>
              </a:spcAft>
            </a:pPr>
            <a:r>
              <a:rPr sz="2000">
                <a:solidFill>
                  <a:srgbClr val="222B33"/>
                </a:solidFill>
                <a:latin typeface="Microsoft YaHei"/>
              </a:rPr>
              <a:t>▪ 手机、外套、包、笔留在实验室外</a:t>
            </a:r>
          </a:p>
          <a:p>
            <a:pPr>
              <a:spcAft>
                <a:spcPts val="1000"/>
              </a:spcAft>
            </a:pPr>
            <a:r>
              <a:rPr sz="2000">
                <a:solidFill>
                  <a:srgbClr val="222B33"/>
                </a:solidFill>
                <a:latin typeface="Microsoft YaHei"/>
              </a:rPr>
              <a:t>▪ 长发束起来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穿戴防护装备前先做准备：摘下戒指、手链、手表等首饰，它们会戳破手套、藏污纳垢，也让手套戴不服帖。手机、外套、包和笔等个人物品放在实验室外的储物柜里，不带进实验区（着装和个人物品要求见第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戴着戒指、手表戴手套</a:t>
            </a:r>
          </a:p>
          <a:p>
            <a:pPr>
              <a:spcAft>
                <a:spcPts val="1000"/>
              </a:spcAft>
            </a:pPr>
            <a:r>
              <a:rPr sz="1500">
                <a:solidFill>
                  <a:srgbClr val="222B33"/>
                </a:solidFill>
                <a:latin typeface="Microsoft YaHei"/>
              </a:rPr>
              <a:t>▪ 把手机揣在隔离衣里带进实验区</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备齐装备，合身无破损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常规操作：实验服、护目镜、手套</a:t>
            </a:r>
          </a:p>
          <a:p>
            <a:pPr>
              <a:spcAft>
                <a:spcPts val="1000"/>
              </a:spcAft>
            </a:pPr>
            <a:r>
              <a:rPr sz="2000">
                <a:solidFill>
                  <a:srgbClr val="222B33"/>
                </a:solidFill>
                <a:latin typeface="Microsoft YaHei"/>
              </a:rPr>
              <a:t>▪ 有飞溅风险：加隔离衣、口罩、面屏</a:t>
            </a:r>
          </a:p>
          <a:p>
            <a:pPr>
              <a:spcAft>
                <a:spcPts val="1000"/>
              </a:spcAft>
            </a:pPr>
            <a:r>
              <a:rPr sz="2000">
                <a:solidFill>
                  <a:srgbClr val="222B33"/>
                </a:solidFill>
                <a:latin typeface="Microsoft YaHei"/>
              </a:rPr>
              <a:t>▪ 隔离衣前襟完整、后开、袖口收紧</a:t>
            </a:r>
          </a:p>
          <a:p>
            <a:pPr>
              <a:spcAft>
                <a:spcPts val="1000"/>
              </a:spcAft>
            </a:pPr>
            <a:r>
              <a:rPr sz="2000">
                <a:solidFill>
                  <a:srgbClr val="222B33"/>
                </a:solidFill>
                <a:latin typeface="Microsoft YaHei"/>
              </a:rPr>
              <a:t>▪ 穿前查破洞、撕裂、系带，坏了就换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按风险评估备齐本次要用的装备（选择见第 074 课）。常规操作的基本装备是紧袖口的实验服、手套和带侧护的护目镜；有飞沫、飞溅风险时，换穿隔离衣，加戴口罩和面屏。隔离衣应前襟完整、后开、袖口收紧（针织或松紧袖口）。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不检查就穿，进去后才发现破洞</a:t>
            </a:r>
          </a:p>
          <a:p>
            <a:pPr>
              <a:spcAft>
                <a:spcPts val="1000"/>
              </a:spcAft>
            </a:pPr>
            <a:r>
              <a:rPr sz="1500">
                <a:solidFill>
                  <a:srgbClr val="222B33"/>
                </a:solidFill>
                <a:latin typeface="Microsoft YaHei"/>
              </a:rPr>
              <a:t>▪ 尺码不合适也凑合着穿</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穿脱分区，在缓冲间穿好再进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穿戴区和脱卸区分开</a:t>
            </a:r>
          </a:p>
          <a:p>
            <a:pPr>
              <a:spcAft>
                <a:spcPts val="1000"/>
              </a:spcAft>
            </a:pPr>
            <a:r>
              <a:rPr sz="2000">
                <a:solidFill>
                  <a:srgbClr val="222B33"/>
                </a:solidFill>
                <a:latin typeface="Microsoft YaHei"/>
              </a:rPr>
              <a:t>▪ 免得脏防护用品沾到干净物品</a:t>
            </a:r>
          </a:p>
          <a:p>
            <a:pPr>
              <a:spcAft>
                <a:spcPts val="1000"/>
              </a:spcAft>
            </a:pPr>
            <a:r>
              <a:rPr sz="2000">
                <a:solidFill>
                  <a:srgbClr val="222B33"/>
                </a:solidFill>
                <a:latin typeface="Microsoft YaHei"/>
              </a:rPr>
              <a:t>▪ 在缓冲间穿好，确认无误再进门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穿戴区和脱卸区要分开设置，避免脱下的污染防护用品碰到干净的衣物和装备。有缓冲间的实验室，防护装备备齐在缓冲间，进去前在这里穿，出来在这里脱。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在走廊里穿脱防护用品</a:t>
            </a:r>
          </a:p>
          <a:p>
            <a:pPr>
              <a:spcAft>
                <a:spcPts val="1000"/>
              </a:spcAft>
            </a:pPr>
            <a:r>
              <a:rPr sz="1500">
                <a:solidFill>
                  <a:srgbClr val="222B33"/>
                </a:solidFill>
                <a:latin typeface="Microsoft YaHei"/>
              </a:rPr>
              <a:t>▪ 脱下的隔离衣扔在干净衣物旁</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穿戴顺序：口罩护目在前，手套最后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穿前先做手卫生</a:t>
            </a:r>
          </a:p>
          <a:p>
            <a:pPr>
              <a:spcAft>
                <a:spcPts val="1000"/>
              </a:spcAft>
            </a:pPr>
            <a:r>
              <a:rPr sz="2000">
                <a:solidFill>
                  <a:srgbClr val="222B33"/>
                </a:solidFill>
                <a:latin typeface="Microsoft YaHei"/>
              </a:rPr>
              <a:t>▪ 常用：帽子、口罩、护目镜、隔离衣、手套</a:t>
            </a:r>
          </a:p>
          <a:p>
            <a:pPr>
              <a:spcAft>
                <a:spcPts val="1000"/>
              </a:spcAft>
            </a:pPr>
            <a:r>
              <a:rPr sz="2000">
                <a:solidFill>
                  <a:srgbClr val="222B33"/>
                </a:solidFill>
                <a:latin typeface="Microsoft YaHei"/>
              </a:rPr>
              <a:t>▪ 基本三件：实验服、护目镜、手套</a:t>
            </a:r>
          </a:p>
          <a:p>
            <a:pPr>
              <a:spcAft>
                <a:spcPts val="1000"/>
              </a:spcAft>
            </a:pPr>
            <a:r>
              <a:rPr sz="2000">
                <a:solidFill>
                  <a:srgbClr val="222B33"/>
                </a:solidFill>
                <a:latin typeface="Microsoft YaHei"/>
              </a:rPr>
              <a:t>▪ 手套最后戴，以本单位规程为准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穿戴顺序贴在穿戴区墙上，照着做。国内常用的顺序是：手卫生→戴帽子→戴口罩（医用防护口罩做密合性检查）→戴护目镜或面屏→穿隔离衣（或防护服）→戴手套。只穿基本三件时：扣好实验服→戴护目镜→戴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先戴手套再穿隔离衣、戴口罩</a:t>
            </a:r>
          </a:p>
          <a:p>
            <a:pPr>
              <a:spcAft>
                <a:spcPts val="1000"/>
              </a:spcAft>
            </a:pPr>
            <a:r>
              <a:rPr sz="1500">
                <a:solidFill>
                  <a:srgbClr val="222B33"/>
                </a:solidFill>
                <a:latin typeface="Microsoft YaHei"/>
              </a:rPr>
              <a:t>▪ 不看流程图，凭记忆随意穿</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口罩：压鼻夹，贴紧鼻梁面颊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耳挂挂在耳后，金属鼻夹朝上</a:t>
            </a:r>
          </a:p>
          <a:p>
            <a:pPr>
              <a:spcAft>
                <a:spcPts val="1000"/>
              </a:spcAft>
            </a:pPr>
            <a:r>
              <a:rPr sz="2000">
                <a:solidFill>
                  <a:srgbClr val="222B33"/>
                </a:solidFill>
                <a:latin typeface="Microsoft YaHei"/>
              </a:rPr>
              <a:t>▪ 双手食指按压鼻夹两侧</a:t>
            </a:r>
          </a:p>
          <a:p>
            <a:pPr>
              <a:spcAft>
                <a:spcPts val="1000"/>
              </a:spcAft>
            </a:pPr>
            <a:r>
              <a:rPr sz="2000">
                <a:solidFill>
                  <a:srgbClr val="222B33"/>
                </a:solidFill>
                <a:latin typeface="Microsoft YaHei"/>
              </a:rPr>
              <a:t>▪ 上缘贴紧鼻梁和面颊</a:t>
            </a:r>
          </a:p>
          <a:p>
            <a:pPr>
              <a:spcAft>
                <a:spcPts val="1000"/>
              </a:spcAft>
            </a:pPr>
            <a:r>
              <a:rPr sz="2000">
                <a:solidFill>
                  <a:srgbClr val="222B33"/>
                </a:solidFill>
                <a:latin typeface="Microsoft YaHei"/>
              </a:rPr>
              <a:t>▪ 医用防护口罩每次戴好查密合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戴医用口罩：把耳挂挂在耳后，鼻夹一侧朝上，用双手食指从中间向两侧按压鼻夹，让口罩上缘贴紧鼻梁和面颊，再把口罩下缘拉到下巴下方。不要用单手捏鼻夹，会捏出尖角漏气。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鼻夹不压，鼻梁两侧漏气</a:t>
            </a:r>
          </a:p>
          <a:p>
            <a:pPr>
              <a:spcAft>
                <a:spcPts val="1000"/>
              </a:spcAft>
            </a:pPr>
            <a:r>
              <a:rPr sz="1500">
                <a:solidFill>
                  <a:srgbClr val="222B33"/>
                </a:solidFill>
                <a:latin typeface="Microsoft YaHei"/>
              </a:rPr>
              <a:t>▪ 口罩只遮嘴不遮鼻</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面屏：盖住前额、下巴和两侧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拉开弹力头带，套到脑后</a:t>
            </a:r>
          </a:p>
          <a:p>
            <a:pPr>
              <a:spcAft>
                <a:spcPts val="1000"/>
              </a:spcAft>
            </a:pPr>
            <a:r>
              <a:rPr sz="2000">
                <a:solidFill>
                  <a:srgbClr val="222B33"/>
                </a:solidFill>
                <a:latin typeface="Microsoft YaHei"/>
              </a:rPr>
              <a:t>▪ 海绵贴在眉毛上方</a:t>
            </a:r>
          </a:p>
          <a:p>
            <a:pPr>
              <a:spcAft>
                <a:spcPts val="1000"/>
              </a:spcAft>
            </a:pPr>
            <a:r>
              <a:rPr sz="2000">
                <a:solidFill>
                  <a:srgbClr val="222B33"/>
                </a:solidFill>
                <a:latin typeface="Microsoft YaHei"/>
              </a:rPr>
              <a:t>▪ 盖住前额，过下巴，包住两侧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戴面屏：先拉开弹力头带，套到脑后，海绵衬垫贴在眉毛上方的额头。戴好后面屏要盖住前额、下缘过下巴、两侧包住面颊。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面屏太短，下巴露在外面</a:t>
            </a:r>
          </a:p>
          <a:p>
            <a:pPr>
              <a:spcAft>
                <a:spcPts val="1000"/>
              </a:spcAft>
            </a:pPr>
            <a:r>
              <a:rPr sz="1500">
                <a:solidFill>
                  <a:srgbClr val="222B33"/>
                </a:solidFill>
                <a:latin typeface="Microsoft YaHei"/>
              </a:rPr>
              <a:t>▪ 护目镜压在口罩上缘造成漏气</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隔离衣：系活结，遮住日常衣物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颈后、腰后系好带子</a:t>
            </a:r>
          </a:p>
          <a:p>
            <a:pPr>
              <a:spcAft>
                <a:spcPts val="1000"/>
              </a:spcAft>
            </a:pPr>
            <a:r>
              <a:rPr sz="2000">
                <a:solidFill>
                  <a:srgbClr val="222B33"/>
                </a:solidFill>
                <a:latin typeface="Microsoft YaHei"/>
              </a:rPr>
              <a:t>▪ 系活结，别打死结、别勒太紧</a:t>
            </a:r>
          </a:p>
          <a:p>
            <a:pPr>
              <a:spcAft>
                <a:spcPts val="1000"/>
              </a:spcAft>
            </a:pPr>
            <a:r>
              <a:rPr sz="2000">
                <a:solidFill>
                  <a:srgbClr val="222B33"/>
                </a:solidFill>
                <a:latin typeface="Microsoft YaHei"/>
              </a:rPr>
              <a:t>▪ 合身好活动，日常衣物不外露</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穿隔离衣：手臂伸进袖子，把衣服拉到肩上，在颈后系好领口的带子，腰带在背后或侧面系上。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腰带打死结，脱时解不开</a:t>
            </a:r>
          </a:p>
          <a:p>
            <a:pPr>
              <a:spcAft>
                <a:spcPts val="1000"/>
              </a:spcAft>
            </a:pPr>
            <a:r>
              <a:rPr sz="1500">
                <a:solidFill>
                  <a:srgbClr val="222B33"/>
                </a:solidFill>
                <a:latin typeface="Microsoft YaHei"/>
              </a:rPr>
              <a:t>▪ 隔离衣太小，后背敞开</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手套套在袖口外，手腕封严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最后戴手套，先把袖口拉到掌心</a:t>
            </a:r>
          </a:p>
          <a:p>
            <a:pPr>
              <a:spcAft>
                <a:spcPts val="1000"/>
              </a:spcAft>
            </a:pPr>
            <a:r>
              <a:rPr sz="2000">
                <a:solidFill>
                  <a:srgbClr val="222B33"/>
                </a:solidFill>
                <a:latin typeface="Microsoft YaHei"/>
              </a:rPr>
              <a:t>▪ 手套套在袖口外面，不是塞进袖子</a:t>
            </a:r>
          </a:p>
          <a:p>
            <a:pPr>
              <a:spcAft>
                <a:spcPts val="1000"/>
              </a:spcAft>
            </a:pPr>
            <a:r>
              <a:rPr sz="2000">
                <a:solidFill>
                  <a:srgbClr val="222B33"/>
                </a:solidFill>
                <a:latin typeface="Microsoft YaHei"/>
              </a:rPr>
              <a:t>▪ 穿连体服的，手腕缝隙按规程封严</a:t>
            </a:r>
          </a:p>
          <a:p>
            <a:pPr>
              <a:spcAft>
                <a:spcPts val="1000"/>
              </a:spcAft>
            </a:pPr>
            <a:r>
              <a:rPr sz="2000">
                <a:solidFill>
                  <a:srgbClr val="222B33"/>
                </a:solidFill>
                <a:latin typeface="Microsoft YaHei"/>
              </a:rPr>
              <a:t>▪ 开工前再查一遍手套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最后戴手套：先把隔离衣袖口拉到掌心，再把手套口拉起，套在袖口外面，而不是塞进袖子里。这样袖子不会滑出来，袖口也不会沾上污染。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手套塞在袖子里，手腕露出</a:t>
            </a:r>
          </a:p>
          <a:p>
            <a:pPr>
              <a:spcAft>
                <a:spcPts val="1000"/>
              </a:spcAft>
            </a:pPr>
            <a:r>
              <a:rPr sz="1500">
                <a:solidFill>
                  <a:srgbClr val="222B33"/>
                </a:solidFill>
                <a:latin typeface="Microsoft YaHei"/>
              </a:rPr>
              <a:t>▪ 戴好手套后不再检查</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双层手套：外层脏了换外层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风险较高时戴两层，外层最后戴</a:t>
            </a:r>
          </a:p>
          <a:p>
            <a:pPr>
              <a:spcAft>
                <a:spcPts val="1000"/>
              </a:spcAft>
            </a:pPr>
            <a:r>
              <a:rPr sz="2000">
                <a:solidFill>
                  <a:srgbClr val="222B33"/>
                </a:solidFill>
                <a:latin typeface="Microsoft YaHei"/>
              </a:rPr>
              <a:t>▪ 外层脏了在实验室内只换外层</a:t>
            </a:r>
          </a:p>
          <a:p>
            <a:pPr>
              <a:spcAft>
                <a:spcPts val="1000"/>
              </a:spcAft>
            </a:pPr>
            <a:r>
              <a:rPr sz="2000">
                <a:solidFill>
                  <a:srgbClr val="222B33"/>
                </a:solidFill>
                <a:latin typeface="Microsoft YaHei"/>
              </a:rPr>
              <a:t>▪ 手套破了立即换，手消毒后戴新的</a:t>
            </a:r>
          </a:p>
          <a:p>
            <a:pPr>
              <a:spcAft>
                <a:spcPts val="1000"/>
              </a:spcAft>
            </a:pPr>
            <a:r>
              <a:rPr sz="2000">
                <a:solidFill>
                  <a:srgbClr val="222B33"/>
                </a:solidFill>
                <a:latin typeface="Microsoft YaHei"/>
              </a:rPr>
              <a:t>▪ 手破皮按暴露处理并报告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风险较高时，按规程戴双层手套：内层盖住袖口，最后再戴一层外手套。外层沾上污染，在实验室内（或生物安全柜内）脱掉外层，换上新的，内层一直护着手。戴几层、怎么脱，按本实验室规程执行。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外层污染了不换，继续操作</a:t>
            </a:r>
          </a:p>
          <a:p>
            <a:pPr>
              <a:spcAft>
                <a:spcPts val="1000"/>
              </a:spcAft>
            </a:pPr>
            <a:r>
              <a:rPr sz="1500">
                <a:solidFill>
                  <a:srgbClr val="222B33"/>
                </a:solidFill>
                <a:latin typeface="Microsoft YaHei"/>
              </a:rPr>
              <a:t>▪ 手套破了草草换掉，不检查皮肤</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送风头罩：先系腰带、接好线、调头箍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穿戴顺序照规程，电池先挂好</a:t>
            </a:r>
          </a:p>
          <a:p>
            <a:pPr>
              <a:spcAft>
                <a:spcPts val="1000"/>
              </a:spcAft>
            </a:pPr>
            <a:r>
              <a:rPr sz="2000">
                <a:solidFill>
                  <a:srgbClr val="222B33"/>
                </a:solidFill>
                <a:latin typeface="Microsoft YaHei"/>
              </a:rPr>
              <a:t>▪ 第一步先系好腰带，调好松紧</a:t>
            </a:r>
          </a:p>
          <a:p>
            <a:pPr>
              <a:spcAft>
                <a:spcPts val="1000"/>
              </a:spcAft>
            </a:pPr>
            <a:r>
              <a:rPr sz="2000">
                <a:solidFill>
                  <a:srgbClr val="222B33"/>
                </a:solidFill>
                <a:latin typeface="Microsoft YaHei"/>
              </a:rPr>
              <a:t>▪ 穿上防护服就够不着腰带了</a:t>
            </a:r>
          </a:p>
          <a:p>
            <a:pPr>
              <a:spcAft>
                <a:spcPts val="1000"/>
              </a:spcAft>
            </a:pPr>
            <a:r>
              <a:rPr sz="2000">
                <a:solidFill>
                  <a:srgbClr val="222B33"/>
                </a:solidFill>
                <a:latin typeface="Microsoft YaHei"/>
              </a:rPr>
              <a:t>▪ 导线插紧拧牢，头箍调到贴额</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使用动力送风过滤式呼吸器（送风头罩）时，穿戴顺序写在规程里，照规程做。第一步先把装有风机和电池的腰带系好、调好松紧：穿上防护服以后就够不着了。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先穿防护服再找腰带</a:t>
            </a:r>
          </a:p>
          <a:p>
            <a:pPr>
              <a:spcAft>
                <a:spcPts val="1000"/>
              </a:spcAft>
            </a:pPr>
            <a:r>
              <a:rPr sz="1500">
                <a:solidFill>
                  <a:srgbClr val="222B33"/>
                </a:solidFill>
                <a:latin typeface="Microsoft YaHei"/>
              </a:rPr>
              <a:t>▪ 导管没拧紧就戴上</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先开机有风再戴，披肩收进防护服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戴之前一定先开机，有风再戴</a:t>
            </a:r>
          </a:p>
          <a:p>
            <a:pPr>
              <a:spcAft>
                <a:spcPts val="1000"/>
              </a:spcAft>
            </a:pPr>
            <a:r>
              <a:rPr sz="2000">
                <a:solidFill>
                  <a:srgbClr val="222B33"/>
                </a:solidFill>
                <a:latin typeface="Microsoft YaHei"/>
              </a:rPr>
              <a:t>▪ 不送风就戴会憋闷，有窒息危险</a:t>
            </a:r>
          </a:p>
          <a:p>
            <a:pPr>
              <a:spcAft>
                <a:spcPts val="1000"/>
              </a:spcAft>
            </a:pPr>
            <a:r>
              <a:rPr sz="2000">
                <a:solidFill>
                  <a:srgbClr val="222B33"/>
                </a:solidFill>
                <a:latin typeface="Microsoft YaHei"/>
              </a:rPr>
              <a:t>▪ 风机转着戴上，披肩拉平不卷边</a:t>
            </a:r>
          </a:p>
          <a:p>
            <a:pPr>
              <a:spcAft>
                <a:spcPts val="1000"/>
              </a:spcAft>
            </a:pPr>
            <a:r>
              <a:rPr sz="2000">
                <a:solidFill>
                  <a:srgbClr val="222B33"/>
                </a:solidFill>
                <a:latin typeface="Microsoft YaHei"/>
              </a:rPr>
              <a:t>▪ 披肩管线收进防护服；指示灯全亮再进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戴头罩之前一定先开机，伸手在头罩里感觉一下，确认有风送进来再戴；不送风就戴上，会憋闷，有窒息危险。顺序不能反。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不开机就戴上头罩</a:t>
            </a:r>
          </a:p>
          <a:p>
            <a:pPr>
              <a:spcAft>
                <a:spcPts val="1000"/>
              </a:spcAft>
            </a:pPr>
            <a:r>
              <a:rPr sz="1500">
                <a:solidFill>
                  <a:srgbClr val="222B33"/>
                </a:solidFill>
                <a:latin typeface="Microsoft YaHei"/>
              </a:rPr>
              <a:t>▪ 披肩卷边或露在防护服外</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照镜自查，同伴互查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穿完照镜子：头面、拉链、手腕、脚下</a:t>
            </a:r>
          </a:p>
          <a:p>
            <a:pPr>
              <a:spcAft>
                <a:spcPts val="1000"/>
              </a:spcAft>
            </a:pPr>
            <a:r>
              <a:rPr sz="2000">
                <a:solidFill>
                  <a:srgbClr val="222B33"/>
                </a:solidFill>
                <a:latin typeface="Microsoft YaHei"/>
              </a:rPr>
              <a:t>▪ 镜子看不到背后，请同伴互查</a:t>
            </a:r>
          </a:p>
          <a:p>
            <a:pPr>
              <a:spcAft>
                <a:spcPts val="1000"/>
              </a:spcAft>
            </a:pPr>
            <a:r>
              <a:rPr sz="2000">
                <a:solidFill>
                  <a:srgbClr val="222B33"/>
                </a:solidFill>
                <a:latin typeface="Microsoft YaHei"/>
              </a:rPr>
              <a:t>▪ 先练熟、经考核，再进实验室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穿完对着镜子逐一检查：头罩或帽子、口罩、护目镜或面屏、拉链和系带、手腕处的手套、脚下的鞋套，有没有缺口和卷边。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穿完不检查直接进门</a:t>
            </a:r>
          </a:p>
          <a:p>
            <a:pPr>
              <a:spcAft>
                <a:spcPts val="1000"/>
              </a:spcAft>
            </a:pPr>
            <a:r>
              <a:rPr sz="1500">
                <a:solidFill>
                  <a:srgbClr val="222B33"/>
                </a:solidFill>
                <a:latin typeface="Microsoft YaHei"/>
              </a:rPr>
              <a:t>▪ 只看正面，后背敞开不知道</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脱卸原则：从最脏到最干净，方法写进规程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脱卸从最脏的开始，到最干净的结束</a:t>
            </a:r>
          </a:p>
          <a:p>
            <a:pPr>
              <a:spcAft>
                <a:spcPts val="1000"/>
              </a:spcAft>
            </a:pPr>
            <a:r>
              <a:rPr sz="2000">
                <a:solidFill>
                  <a:srgbClr val="222B33"/>
                </a:solidFill>
                <a:latin typeface="Microsoft YaHei"/>
              </a:rPr>
              <a:t>▪ 常用：手套、手消毒、护目、隔离衣、口罩</a:t>
            </a:r>
          </a:p>
          <a:p>
            <a:pPr>
              <a:spcAft>
                <a:spcPts val="1000"/>
              </a:spcAft>
            </a:pPr>
            <a:r>
              <a:rPr sz="2000">
                <a:solidFill>
                  <a:srgbClr val="222B33"/>
                </a:solidFill>
                <a:latin typeface="Microsoft YaHei"/>
              </a:rPr>
              <a:t>▪ 一件一件脱，脏面朝里，别碰身上</a:t>
            </a:r>
          </a:p>
          <a:p>
            <a:pPr>
              <a:spcAft>
                <a:spcPts val="1000"/>
              </a:spcAft>
            </a:pPr>
            <a:r>
              <a:rPr sz="2000">
                <a:solidFill>
                  <a:srgbClr val="222B33"/>
                </a:solidFill>
                <a:latin typeface="Microsoft YaHei"/>
              </a:rPr>
              <a:t>▪ 脱法选定一种，写进规程统一做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卸是最容易自我污染的环节。原则是从最脏的脱到最干净的：手套污染最重先脱，口罩贴着口鼻最后摘。国内常用的顺序是：摘手套→手卫生→摘护目镜或面屏→脱隔离衣（或防护服）→手卫生→摘口罩、帽子→洗手（以本单位 SOP 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先摘口罩再脱手套</a:t>
            </a:r>
          </a:p>
          <a:p>
            <a:pPr>
              <a:spcAft>
                <a:spcPts val="1000"/>
              </a:spcAft>
            </a:pPr>
            <a:r>
              <a:rPr sz="1500">
                <a:solidFill>
                  <a:srgbClr val="222B33"/>
                </a:solidFill>
                <a:latin typeface="Microsoft YaHei"/>
              </a:rPr>
              <a:t>▪ 每个人脱法各不相同</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先摘手套：翻着脱，外面不碰皮肤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动作慢而轻，捏住腕部外侧</a:t>
            </a:r>
          </a:p>
          <a:p>
            <a:pPr>
              <a:spcAft>
                <a:spcPts val="1000"/>
              </a:spcAft>
            </a:pPr>
            <a:r>
              <a:rPr sz="2000">
                <a:solidFill>
                  <a:srgbClr val="222B33"/>
                </a:solidFill>
                <a:latin typeface="Microsoft YaHei"/>
              </a:rPr>
              <a:t>▪ 整只拉下翻过来，握在另一手心</a:t>
            </a:r>
          </a:p>
          <a:p>
            <a:pPr>
              <a:spcAft>
                <a:spcPts val="1000"/>
              </a:spcAft>
            </a:pPr>
            <a:r>
              <a:rPr sz="2000">
                <a:solidFill>
                  <a:srgbClr val="222B33"/>
                </a:solidFill>
                <a:latin typeface="Microsoft YaHei"/>
              </a:rPr>
              <a:t>▪ 裸手从内侧伸进，翻下包成一团</a:t>
            </a:r>
          </a:p>
          <a:p>
            <a:pPr>
              <a:spcAft>
                <a:spcPts val="1000"/>
              </a:spcAft>
            </a:pPr>
            <a:r>
              <a:rPr sz="2000">
                <a:solidFill>
                  <a:srgbClr val="222B33"/>
                </a:solidFill>
                <a:latin typeface="Microsoft YaHei"/>
              </a:rPr>
              <a:t>▪ 裸手不碰外面；丢弃，不重复用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手套动作要慢、要轻，避免弹起飞溅。步骤：①用一只手的手指捏起另一只手套腕部的外侧，注意脏手套不要碰到袖口；②整只拉下，手套翻成里朝外，握在仍戴着手套的手里；③裸手的手指从剩下那只手套的手腕内侧伸进去，向上、向外翻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捏着指尖把手套拽下来</a:t>
            </a:r>
          </a:p>
          <a:p>
            <a:pPr>
              <a:spcAft>
                <a:spcPts val="1000"/>
              </a:spcAft>
            </a:pPr>
            <a:r>
              <a:rPr sz="1500">
                <a:solidFill>
                  <a:srgbClr val="222B33"/>
                </a:solidFill>
                <a:latin typeface="Microsoft YaHei"/>
              </a:rPr>
              <a:t>▪ 摘下的手套随手放在台面上</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摘手套后先手消毒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摘完手套，先做手卫生</a:t>
            </a:r>
          </a:p>
          <a:p>
            <a:pPr>
              <a:spcAft>
                <a:spcPts val="1000"/>
              </a:spcAft>
            </a:pPr>
            <a:r>
              <a:rPr sz="2000">
                <a:solidFill>
                  <a:srgbClr val="222B33"/>
                </a:solidFill>
                <a:latin typeface="Microsoft YaHei"/>
              </a:rPr>
              <a:t>▪ 按规程手消毒或洗手</a:t>
            </a:r>
          </a:p>
          <a:p>
            <a:pPr>
              <a:spcAft>
                <a:spcPts val="1000"/>
              </a:spcAft>
            </a:pPr>
            <a:r>
              <a:rPr sz="2000">
                <a:solidFill>
                  <a:srgbClr val="222B33"/>
                </a:solidFill>
                <a:latin typeface="Microsoft YaHei"/>
              </a:rPr>
              <a:t>▪ 有的规程换一副干净手套再继续脱</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摘下手套后，手上可能已沾上看不见的污染，要先做手卫生：用速干手消毒剂揉搓双手，或洗手；有的规程要求换戴一副干净手套再继续脱其他防护用品。按本实验室规程执行，再脱下一件。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摘了手套直接用手去摘面屏、口罩</a:t>
            </a:r>
          </a:p>
          <a:p>
            <a:pPr>
              <a:spcAft>
                <a:spcPts val="1000"/>
              </a:spcAft>
            </a:pPr>
            <a:r>
              <a:rPr sz="1500">
                <a:solidFill>
                  <a:srgbClr val="222B33"/>
                </a:solidFill>
                <a:latin typeface="Microsoft YaHei"/>
              </a:rPr>
              <a:t>▪ 手消毒剂只抹一下手心</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摘面屏、护目镜：捏头带和镜腿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头稍前倾，捏耳上方头带轻轻提起</a:t>
            </a:r>
          </a:p>
          <a:p>
            <a:pPr>
              <a:spcAft>
                <a:spcPts val="1000"/>
              </a:spcAft>
            </a:pPr>
            <a:r>
              <a:rPr sz="2000">
                <a:solidFill>
                  <a:srgbClr val="222B33"/>
                </a:solidFill>
                <a:latin typeface="Microsoft YaHei"/>
              </a:rPr>
              <a:t>▪ 别碰前片，一次性的丢进废物袋</a:t>
            </a:r>
          </a:p>
          <a:p>
            <a:pPr>
              <a:spcAft>
                <a:spcPts val="1000"/>
              </a:spcAft>
            </a:pPr>
            <a:r>
              <a:rPr sz="2000">
                <a:solidFill>
                  <a:srgbClr val="222B33"/>
                </a:solidFill>
                <a:latin typeface="Microsoft YaHei"/>
              </a:rPr>
              <a:t>▪ 护目镜捏镜腿摘，放指定处统一消毒</a:t>
            </a:r>
          </a:p>
          <a:p>
            <a:pPr>
              <a:spcAft>
                <a:spcPts val="1000"/>
              </a:spcAft>
            </a:pPr>
            <a:r>
              <a:rPr sz="2000">
                <a:solidFill>
                  <a:srgbClr val="222B33"/>
                </a:solidFill>
                <a:latin typeface="Microsoft YaHei"/>
              </a:rPr>
              <a:t>▪ 清洁护目镜也要戴手套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摘面屏：头稍向前倾，捏住耳朵上方的头带，轻轻提起离开面部；面屏前片可能有污染，不要碰。一次性面屏丢进感染性废物容器。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抓着面屏前片摘下</a:t>
            </a:r>
          </a:p>
          <a:p>
            <a:pPr>
              <a:spcAft>
                <a:spcPts val="1000"/>
              </a:spcAft>
            </a:pPr>
            <a:r>
              <a:rPr sz="1500">
                <a:solidFill>
                  <a:srgbClr val="222B33"/>
                </a:solidFill>
                <a:latin typeface="Microsoft YaHei"/>
              </a:rPr>
              <a:t>▪ 护目镜摘下随手放在桌上</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脱隔离衣、实验服：外面朝里卷起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解腰带，抓两肩往前拉，松开领口</a:t>
            </a:r>
          </a:p>
          <a:p>
            <a:pPr>
              <a:spcAft>
                <a:spcPts val="1000"/>
              </a:spcAft>
            </a:pPr>
            <a:r>
              <a:rPr sz="2000">
                <a:solidFill>
                  <a:srgbClr val="222B33"/>
                </a:solidFill>
                <a:latin typeface="Microsoft YaHei"/>
              </a:rPr>
              <a:t>▪ 离身往前脱，边脱边卷，外面朝里</a:t>
            </a:r>
          </a:p>
          <a:p>
            <a:pPr>
              <a:spcAft>
                <a:spcPts val="1000"/>
              </a:spcAft>
            </a:pPr>
            <a:r>
              <a:rPr sz="2000">
                <a:solidFill>
                  <a:srgbClr val="222B33"/>
                </a:solidFill>
                <a:latin typeface="Microsoft YaHei"/>
              </a:rPr>
              <a:t>▪ 实验服：裸手不碰外面，捏袖口抽臂</a:t>
            </a:r>
          </a:p>
          <a:p>
            <a:pPr>
              <a:spcAft>
                <a:spcPts val="1000"/>
              </a:spcAft>
            </a:pPr>
            <a:r>
              <a:rPr sz="2000">
                <a:solidFill>
                  <a:srgbClr val="222B33"/>
                </a:solidFill>
                <a:latin typeface="Microsoft YaHei"/>
              </a:rPr>
              <a:t>▪ 可再穿的挂好，污染的卷起丢弃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脱隔离衣：解开腰带，抓住两肩向前拉，让颈后的系带松开（或按规程解开）；从肩部往前脱下，远离身体，边脱边卷，让外面翻到里面，卷成一团，脏的外面不碰到裸手和日常衣物，丢进感染性废物容器。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像脱外套一样从头上扯下隔离衣</a:t>
            </a:r>
          </a:p>
          <a:p>
            <a:pPr>
              <a:spcAft>
                <a:spcPts val="1000"/>
              </a:spcAft>
            </a:pPr>
            <a:r>
              <a:rPr sz="1500">
                <a:solidFill>
                  <a:srgbClr val="222B33"/>
                </a:solidFill>
                <a:latin typeface="Microsoft YaHei"/>
              </a:rPr>
              <a:t>▪ 裸手抓实验服前襟脱下</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另两种做法：连手套一起脱，或先衣后手套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一种：手套连袖口一起剥下</a:t>
            </a:r>
          </a:p>
          <a:p>
            <a:pPr>
              <a:spcAft>
                <a:spcPts val="1000"/>
              </a:spcAft>
            </a:pPr>
            <a:r>
              <a:rPr sz="2000">
                <a:solidFill>
                  <a:srgbClr val="222B33"/>
                </a:solidFill>
                <a:latin typeface="Microsoft YaHei"/>
              </a:rPr>
              <a:t>▪ 衣带手套里朝外卷成一团丢弃</a:t>
            </a:r>
          </a:p>
          <a:p>
            <a:pPr>
              <a:spcAft>
                <a:spcPts val="1000"/>
              </a:spcAft>
            </a:pPr>
            <a:r>
              <a:rPr sz="2000">
                <a:solidFill>
                  <a:srgbClr val="222B33"/>
                </a:solidFill>
                <a:latin typeface="Microsoft YaHei"/>
              </a:rPr>
              <a:t>▪ 另一种：先脱隔离衣，再摘手套</a:t>
            </a:r>
          </a:p>
          <a:p>
            <a:pPr>
              <a:spcAft>
                <a:spcPts val="1000"/>
              </a:spcAft>
            </a:pPr>
            <a:r>
              <a:rPr sz="2000">
                <a:solidFill>
                  <a:srgbClr val="222B33"/>
                </a:solidFill>
                <a:latin typeface="Microsoft YaHei"/>
              </a:rPr>
              <a:t>▪ 用哪种按评估选定，写进规程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先摘手套，还有两种规程常用的做法。一种是隔离衣与手套一起脱：抓肩前拉松开领口，往前脱下时手臂往外抽，捏住手套连同袖口一起剥下，手套留在袖子里，双手干净地出来，衣服连手套里朝外卷成一团丢弃，脏面不碰裸手和日常衣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同一实验室几种做法混着用</a:t>
            </a:r>
          </a:p>
          <a:p>
            <a:pPr>
              <a:spcAft>
                <a:spcPts val="1000"/>
              </a:spcAft>
            </a:pPr>
            <a:r>
              <a:rPr sz="1500">
                <a:solidFill>
                  <a:srgbClr val="222B33"/>
                </a:solidFill>
                <a:latin typeface="Microsoft YaHei"/>
              </a:rPr>
              <a:t>▪ 一起脱时手套从袖子里掉出、裸手碰到外面</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摘口罩：只捏耳挂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口罩最后摘，只捏耳挂</a:t>
            </a:r>
          </a:p>
          <a:p>
            <a:pPr>
              <a:spcAft>
                <a:spcPts val="1000"/>
              </a:spcAft>
            </a:pPr>
            <a:r>
              <a:rPr sz="2000">
                <a:solidFill>
                  <a:srgbClr val="222B33"/>
                </a:solidFill>
                <a:latin typeface="Microsoft YaHei"/>
              </a:rPr>
              <a:t>▪ 不碰口罩外面</a:t>
            </a:r>
          </a:p>
          <a:p>
            <a:pPr>
              <a:spcAft>
                <a:spcPts val="1000"/>
              </a:spcAft>
            </a:pPr>
            <a:r>
              <a:rPr sz="2000">
                <a:solidFill>
                  <a:srgbClr val="222B33"/>
                </a:solidFill>
                <a:latin typeface="Microsoft YaHei"/>
              </a:rPr>
              <a:t>▪ 离开面部就丢进感染性废物袋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口罩贴着口鼻，在其他防护用品脱完、手卫生后最后摘：只捏住耳挂（或头带）从耳后取下，不碰口罩外面，离开面部后直接丢进感染性废物容器。医用防护口罩先拉下下方头带，再拉上方头带。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用手抓口罩正面拉下</a:t>
            </a:r>
          </a:p>
          <a:p>
            <a:pPr>
              <a:spcAft>
                <a:spcPts val="1000"/>
              </a:spcAft>
            </a:pPr>
            <a:r>
              <a:rPr sz="1500">
                <a:solidFill>
                  <a:srgbClr val="222B33"/>
                </a:solidFill>
                <a:latin typeface="Microsoft YaHei"/>
              </a:rPr>
              <a:t>▪ 摘下的口罩挂在下巴上或揣进口袋</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送风头罩：风机转着摘，摘下再关机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摘头罩时风机别关</a:t>
            </a:r>
          </a:p>
          <a:p>
            <a:pPr>
              <a:spcAft>
                <a:spcPts val="1000"/>
              </a:spcAft>
            </a:pPr>
            <a:r>
              <a:rPr sz="2000">
                <a:solidFill>
                  <a:srgbClr val="222B33"/>
                </a:solidFill>
                <a:latin typeface="Microsoft YaHei"/>
              </a:rPr>
              <a:t>▪ 外面都当污染，手只碰规定位置</a:t>
            </a:r>
          </a:p>
          <a:p>
            <a:pPr>
              <a:spcAft>
                <a:spcPts val="1000"/>
              </a:spcAft>
            </a:pPr>
            <a:r>
              <a:rPr sz="2000">
                <a:solidFill>
                  <a:srgbClr val="222B33"/>
                </a:solidFill>
                <a:latin typeface="Microsoft YaHei"/>
              </a:rPr>
              <a:t>▪ 脸别碰外面，放指定处等去污</a:t>
            </a:r>
          </a:p>
          <a:p>
            <a:pPr>
              <a:spcAft>
                <a:spcPts val="1000"/>
              </a:spcAft>
            </a:pPr>
            <a:r>
              <a:rPr sz="2000">
                <a:solidFill>
                  <a:srgbClr val="222B33"/>
                </a:solidFill>
                <a:latin typeface="Microsoft YaHei"/>
              </a:rPr>
              <a:t>▪ 摘下后再关机、拔电池，然后洗手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摘送风头罩时，风机保持运转，按规程摘下头盔：头罩外面都当作污染，手只碰规定的位置，脸不碰外面。摘下后放到指定位置等待去污，然后再关机、断开电池。摘完马上洗手。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先关风机再摘头罩</a:t>
            </a:r>
          </a:p>
          <a:p>
            <a:pPr>
              <a:spcAft>
                <a:spcPts val="1000"/>
              </a:spcAft>
            </a:pPr>
            <a:r>
              <a:rPr sz="1500">
                <a:solidFill>
                  <a:srgbClr val="222B33"/>
                </a:solidFill>
                <a:latin typeface="Microsoft YaHei"/>
              </a:rPr>
              <a:t>▪ 摘下的头罩随手放在干净区</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最后洗手，再离开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最后用流水和洗手液认真洗手</a:t>
            </a:r>
          </a:p>
          <a:p>
            <a:pPr>
              <a:spcAft>
                <a:spcPts val="1000"/>
              </a:spcAft>
            </a:pPr>
            <a:r>
              <a:rPr sz="2000">
                <a:solidFill>
                  <a:srgbClr val="222B33"/>
                </a:solidFill>
                <a:latin typeface="Microsoft YaHei"/>
              </a:rPr>
              <a:t>▪ 手背、指缝、指尖、指甲下都搓到</a:t>
            </a:r>
          </a:p>
          <a:p>
            <a:pPr>
              <a:spcAft>
                <a:spcPts val="1000"/>
              </a:spcAft>
            </a:pPr>
            <a:r>
              <a:rPr sz="2000">
                <a:solidFill>
                  <a:srgbClr val="222B33"/>
                </a:solidFill>
                <a:latin typeface="Microsoft YaHei"/>
              </a:rPr>
              <a:t>▪ 纸巾擦干，再用纸巾关龙头</a:t>
            </a:r>
          </a:p>
          <a:p>
            <a:pPr>
              <a:spcAft>
                <a:spcPts val="1000"/>
              </a:spcAft>
            </a:pPr>
            <a:r>
              <a:rPr sz="2000">
                <a:solidFill>
                  <a:srgbClr val="222B33"/>
                </a:solidFill>
                <a:latin typeface="Microsoft YaHei"/>
              </a:rPr>
              <a:t>▪ 暂时没水先手消，有条件尽快洗手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全部脱完，最后一步是用流动水和洗手液（肥皂）洗手：手心、手背、指缝、指尖、指甲下、拇指和手腕都要认真揉搓，时间要够（洗手步骤见第 020 课）。用一次性纸巾擦干，再用纸巾关水龙头。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脱完防护直接离开，不洗手</a:t>
            </a:r>
          </a:p>
          <a:p>
            <a:pPr>
              <a:spcAft>
                <a:spcPts val="1000"/>
              </a:spcAft>
            </a:pPr>
            <a:r>
              <a:rPr sz="1500">
                <a:solidFill>
                  <a:srgbClr val="222B33"/>
                </a:solidFill>
                <a:latin typeface="Microsoft YaHei"/>
              </a:rPr>
              <a:t>▪ 只用手消毒剂代替洗手，有水也不洗</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下列穿戴顺序中，符合国内常用做法的是：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手套→隔离衣→口罩→护目镜</a:t>
            </a:r>
          </a:p>
          <a:p>
            <a:pPr algn="l"/>
            <a:r>
              <a:rPr sz="1500" b="0">
                <a:solidFill>
                  <a:srgbClr val="222B33"/>
                </a:solidFill>
                <a:latin typeface="Microsoft YaHei"/>
              </a:rPr>
              <a:t>B. 手卫生→帽子→口罩→护目镜/面屏→隔离衣→手套</a:t>
            </a:r>
          </a:p>
          <a:p>
            <a:pPr algn="l"/>
            <a:r>
              <a:rPr sz="1500" b="0">
                <a:solidFill>
                  <a:srgbClr val="222B33"/>
                </a:solidFill>
                <a:latin typeface="Microsoft YaHei"/>
              </a:rPr>
              <a:t>C. 隔离衣→手套→口罩→帽子</a:t>
            </a:r>
          </a:p>
          <a:p>
            <a:pPr algn="l"/>
            <a:r>
              <a:rPr sz="1500" b="0">
                <a:solidFill>
                  <a:srgbClr val="222B33"/>
                </a:solidFill>
                <a:latin typeface="Microsoft YaHei"/>
              </a:rPr>
              <a:t>D. 口罩→手套→隔离衣→护目镜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判断：脱卸防护装备应从最干净的开始，最后脱手套。</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翻脱法摘手套，正确的是：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捏指尖往下拽</a:t>
            </a:r>
          </a:p>
          <a:p>
            <a:pPr algn="l"/>
            <a:r>
              <a:rPr sz="1500" b="0">
                <a:solidFill>
                  <a:srgbClr val="222B33"/>
                </a:solidFill>
                <a:latin typeface="Microsoft YaHei"/>
              </a:rPr>
              <a:t>B. 捏腕部外侧翻下，握在另一手心，裸手从内侧伸进翻下包成一团</a:t>
            </a:r>
          </a:p>
          <a:p>
            <a:pPr algn="l"/>
            <a:r>
              <a:rPr sz="1500" b="0">
                <a:solidFill>
                  <a:srgbClr val="222B33"/>
                </a:solidFill>
                <a:latin typeface="Microsoft YaHei"/>
              </a:rPr>
              <a:t>C. 用牙咬下</a:t>
            </a:r>
          </a:p>
          <a:p>
            <a:pPr algn="l"/>
            <a:r>
              <a:rPr sz="1500" b="0">
                <a:solidFill>
                  <a:srgbClr val="222B33"/>
                </a:solidFill>
                <a:latin typeface="Microsoft YaHei"/>
              </a:rPr>
              <a:t>D. 两只手套互相搓下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使用送风头罩时，下列做法正确的是：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先戴头罩再开机</a:t>
            </a:r>
          </a:p>
          <a:p>
            <a:pPr algn="l"/>
            <a:r>
              <a:rPr sz="1500" b="0">
                <a:solidFill>
                  <a:srgbClr val="222B33"/>
                </a:solidFill>
                <a:latin typeface="Microsoft YaHei"/>
              </a:rPr>
              <a:t>B. 先开机确认有风再戴，摘下后再关机</a:t>
            </a:r>
          </a:p>
          <a:p>
            <a:pPr algn="l"/>
            <a:r>
              <a:rPr sz="1500" b="0">
                <a:solidFill>
                  <a:srgbClr val="222B33"/>
                </a:solidFill>
                <a:latin typeface="Microsoft YaHei"/>
              </a:rPr>
              <a:t>C. 先关机再摘头罩</a:t>
            </a:r>
          </a:p>
          <a:p>
            <a:pPr algn="l"/>
            <a:r>
              <a:rPr sz="1500" b="0">
                <a:solidFill>
                  <a:srgbClr val="222B33"/>
                </a:solidFill>
                <a:latin typeface="Microsoft YaHei"/>
              </a:rPr>
              <a:t>D. 指示灯不全亮也可进入</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075 · 防护装备的穿戴与脱卸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075 防护装备的穿戴与脱卸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判断：同一实验室可以每个人按自己习惯选择不同的脱卸方法。</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简答：脱卸时怎样防止自我污染？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穿前准备：摘首饰、物品留门外、束长发</a:t>
            </a:r>
          </a:p>
          <a:p>
            <a:pPr>
              <a:spcAft>
                <a:spcPts val="800"/>
              </a:spcAft>
            </a:pPr>
            <a:r>
              <a:rPr sz="1500">
                <a:solidFill>
                  <a:srgbClr val="FFFFFF"/>
                </a:solidFill>
                <a:latin typeface="Microsoft YaHei"/>
              </a:rPr>
              <a:t>▪ K2  备齐装备，合身无破损</a:t>
            </a:r>
          </a:p>
          <a:p>
            <a:pPr>
              <a:spcAft>
                <a:spcPts val="800"/>
              </a:spcAft>
            </a:pPr>
            <a:r>
              <a:rPr sz="1500">
                <a:solidFill>
                  <a:srgbClr val="FFFFFF"/>
                </a:solidFill>
                <a:latin typeface="Microsoft YaHei"/>
              </a:rPr>
              <a:t>▪ K3  穿脱分区，在缓冲间穿好再进</a:t>
            </a:r>
          </a:p>
          <a:p>
            <a:pPr>
              <a:spcAft>
                <a:spcPts val="800"/>
              </a:spcAft>
            </a:pPr>
            <a:r>
              <a:rPr sz="1500">
                <a:solidFill>
                  <a:srgbClr val="FFFFFF"/>
                </a:solidFill>
                <a:latin typeface="Microsoft YaHei"/>
              </a:rPr>
              <a:t>▪ K4  穿戴顺序：口罩护目在前，手套最后</a:t>
            </a:r>
          </a:p>
          <a:p>
            <a:pPr>
              <a:spcAft>
                <a:spcPts val="800"/>
              </a:spcAft>
            </a:pPr>
            <a:r>
              <a:rPr sz="1500">
                <a:solidFill>
                  <a:srgbClr val="FFFFFF"/>
                </a:solidFill>
                <a:latin typeface="Microsoft YaHei"/>
              </a:rPr>
              <a:t>▪ K5  口罩：压鼻夹，贴紧鼻梁面颊</a:t>
            </a:r>
          </a:p>
          <a:p>
            <a:pPr>
              <a:spcAft>
                <a:spcPts val="800"/>
              </a:spcAft>
            </a:pPr>
            <a:r>
              <a:rPr sz="1500">
                <a:solidFill>
                  <a:srgbClr val="FFFFFF"/>
                </a:solidFill>
                <a:latin typeface="Microsoft YaHei"/>
              </a:rPr>
              <a:t>▪ K6  面屏：盖住前额、下巴和两侧</a:t>
            </a:r>
          </a:p>
          <a:p>
            <a:pPr>
              <a:spcAft>
                <a:spcPts val="800"/>
              </a:spcAft>
            </a:pPr>
            <a:r>
              <a:rPr sz="1500">
                <a:solidFill>
                  <a:srgbClr val="FFFFFF"/>
                </a:solidFill>
                <a:latin typeface="Microsoft YaHei"/>
              </a:rPr>
              <a:t>▪ K7  隔离衣：系活结，遮住日常衣物</a:t>
            </a:r>
          </a:p>
          <a:p>
            <a:pPr>
              <a:spcAft>
                <a:spcPts val="800"/>
              </a:spcAft>
            </a:pPr>
            <a:r>
              <a:rPr sz="1500">
                <a:solidFill>
                  <a:srgbClr val="FFFFFF"/>
                </a:solidFill>
                <a:latin typeface="Microsoft YaHei"/>
              </a:rPr>
              <a:t>▪ K8  手套套在袖口外，手腕封严</a:t>
            </a:r>
          </a:p>
          <a:p>
            <a:pPr>
              <a:spcAft>
                <a:spcPts val="800"/>
              </a:spcAft>
            </a:pPr>
            <a:r>
              <a:rPr sz="1500">
                <a:solidFill>
                  <a:srgbClr val="FFFFFF"/>
                </a:solidFill>
                <a:latin typeface="Microsoft YaHei"/>
              </a:rPr>
              <a:t>▪ K9  双层手套：外层脏了换外层</a:t>
            </a:r>
          </a:p>
          <a:p>
            <a:pPr>
              <a:spcAft>
                <a:spcPts val="800"/>
              </a:spcAft>
            </a:pPr>
            <a:r>
              <a:rPr sz="1500">
                <a:solidFill>
                  <a:srgbClr val="FFFFFF"/>
                </a:solidFill>
                <a:latin typeface="Microsoft YaHei"/>
              </a:rPr>
              <a:t>▪ K10  送风头罩：先系腰带、接好线、调头箍</a:t>
            </a:r>
          </a:p>
          <a:p>
            <a:pPr>
              <a:spcAft>
                <a:spcPts val="800"/>
              </a:spcAft>
            </a:pPr>
            <a:r>
              <a:rPr sz="1500">
                <a:solidFill>
                  <a:srgbClr val="FFFFFF"/>
                </a:solidFill>
                <a:latin typeface="Microsoft YaHei"/>
              </a:rPr>
              <a:t>▪ K11  先开机有风再戴，披肩收进防护服</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照镜自查，同伴互查</a:t>
            </a:r>
          </a:p>
          <a:p>
            <a:pPr>
              <a:spcAft>
                <a:spcPts val="800"/>
              </a:spcAft>
            </a:pPr>
            <a:r>
              <a:rPr sz="1500">
                <a:solidFill>
                  <a:srgbClr val="FFFFFF"/>
                </a:solidFill>
                <a:latin typeface="Microsoft YaHei"/>
              </a:rPr>
              <a:t>▪ K13  脱卸原则：从最脏到最干净，方法写进规程</a:t>
            </a:r>
          </a:p>
          <a:p>
            <a:pPr>
              <a:spcAft>
                <a:spcPts val="800"/>
              </a:spcAft>
            </a:pPr>
            <a:r>
              <a:rPr sz="1500">
                <a:solidFill>
                  <a:srgbClr val="FFFFFF"/>
                </a:solidFill>
                <a:latin typeface="Microsoft YaHei"/>
              </a:rPr>
              <a:t>▪ K14  先摘手套：翻着脱，外面不碰皮肤</a:t>
            </a:r>
          </a:p>
          <a:p>
            <a:pPr>
              <a:spcAft>
                <a:spcPts val="800"/>
              </a:spcAft>
            </a:pPr>
            <a:r>
              <a:rPr sz="1500">
                <a:solidFill>
                  <a:srgbClr val="FFFFFF"/>
                </a:solidFill>
                <a:latin typeface="Microsoft YaHei"/>
              </a:rPr>
              <a:t>▪ K15  摘手套后先手消毒</a:t>
            </a:r>
          </a:p>
          <a:p>
            <a:pPr>
              <a:spcAft>
                <a:spcPts val="800"/>
              </a:spcAft>
            </a:pPr>
            <a:r>
              <a:rPr sz="1500">
                <a:solidFill>
                  <a:srgbClr val="FFFFFF"/>
                </a:solidFill>
                <a:latin typeface="Microsoft YaHei"/>
              </a:rPr>
              <a:t>▪ K16  摘面屏、护目镜：捏头带和镜腿</a:t>
            </a:r>
          </a:p>
          <a:p>
            <a:pPr>
              <a:spcAft>
                <a:spcPts val="800"/>
              </a:spcAft>
            </a:pPr>
            <a:r>
              <a:rPr sz="1500">
                <a:solidFill>
                  <a:srgbClr val="FFFFFF"/>
                </a:solidFill>
                <a:latin typeface="Microsoft YaHei"/>
              </a:rPr>
              <a:t>▪ K17  脱隔离衣、实验服：外面朝里卷起</a:t>
            </a:r>
          </a:p>
          <a:p>
            <a:pPr>
              <a:spcAft>
                <a:spcPts val="800"/>
              </a:spcAft>
            </a:pPr>
            <a:r>
              <a:rPr sz="1500">
                <a:solidFill>
                  <a:srgbClr val="FFFFFF"/>
                </a:solidFill>
                <a:latin typeface="Microsoft YaHei"/>
              </a:rPr>
              <a:t>▪ K18  另两种做法：连手套一起脱，或先衣后手套</a:t>
            </a:r>
          </a:p>
          <a:p>
            <a:pPr>
              <a:spcAft>
                <a:spcPts val="800"/>
              </a:spcAft>
            </a:pPr>
            <a:r>
              <a:rPr sz="1500">
                <a:solidFill>
                  <a:srgbClr val="FFFFFF"/>
                </a:solidFill>
                <a:latin typeface="Microsoft YaHei"/>
              </a:rPr>
              <a:t>▪ K19  摘口罩：只捏耳挂</a:t>
            </a:r>
          </a:p>
          <a:p>
            <a:pPr>
              <a:spcAft>
                <a:spcPts val="800"/>
              </a:spcAft>
            </a:pPr>
            <a:r>
              <a:rPr sz="1500">
                <a:solidFill>
                  <a:srgbClr val="FFFFFF"/>
                </a:solidFill>
                <a:latin typeface="Microsoft YaHei"/>
              </a:rPr>
              <a:t>▪ K20  送风头罩：风机转着摘，摘下再关机</a:t>
            </a:r>
          </a:p>
          <a:p>
            <a:pPr>
              <a:spcAft>
                <a:spcPts val="800"/>
              </a:spcAft>
            </a:pPr>
            <a:r>
              <a:rPr sz="1500">
                <a:solidFill>
                  <a:srgbClr val="FFFFFF"/>
                </a:solidFill>
                <a:latin typeface="Microsoft YaHei"/>
              </a:rPr>
              <a:t>▪ K21  最后洗手，再离开</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