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控制生物风险，先靠实验室设施和生物安全柜等工程控制，再靠操作规程等管理措施，个人防护装备是贴在身上的最后一道防线（通用防护原则见第 021 课）。</a:t>
            </a:r>
          </a:p>
          <a:p>
            <a:r>
              <a:t>有了生物安全柜，手套、实验服（隔离衣）、口罩等该戴的照样要戴：设备挡住大部分气溶胶，防护用品防的是万一。最后一道防线一旦用错、戴歪，风险就直接到人身上，所以要用得对，才能真正起作用。</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防护穿戴什么、穿到什么程度，不凭感觉，要依据病原的分类、实验室的防护级别和具体活动的风险评估来确定（生物风险评估见第 067 课），评估结果写进本实验室的标准操作规程，人人照做。</a:t>
            </a:r>
          </a:p>
          <a:p>
            <a:r>
              <a:t>防护不是越多越好：穿得过多会闷热、动作笨拙、穿脱时更容易自我污染；也不能嫌麻烦自作主张减掉。普通的微生物操作，多数是实验服（隔离衣）、手套和护目镜。</a:t>
            </a:r>
          </a:p>
          <a:p>
            <a:r>
              <a:t>新冠疫情期间形成的防护配置是当时的做法，现在要以国家现行规定、本单位风险评估结果和产品说明为准。引进新的防护用品前要试用，提前想到可能的问题，用起来有问题及时反馈、解决。</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选防护先看三件事。一看病原：危害越高，防护越强。国内把病原微生物分为四类，第一类危害最高、第四类最低，与国际“风险组”的编号方向相反，不要混淆（见第 058 课）。来源不明或新出现的病原，先按较高级别从严防护，最终由风险评估确定；参考表只是起点。</a:t>
            </a:r>
          </a:p>
          <a:p>
            <a:r>
              <a:t>二看侵入途径：经呼吸道（气溶胶）、眼和黏膜、皮肤破损、针刺等，从哪里进就挡住哪里，多种途径就多重防护。</a:t>
            </a:r>
          </a:p>
          <a:p>
            <a:r>
              <a:t>三看具体操作：同一种样本，接收、登记时一般穿戴基本防护；开盖、核酸提取、离心、振荡等可能产生气溶胶的操作，要在生物安全柜内进行并加强防护。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生物实验室的个人防护装备从头到脚一套：头套（帽子）、护目镜或面屏、贴合良好的口罩、实验服或隔离衣、一次性手套、鞋套或不露脚趾的鞋（着装要求见第 020 课）。按用途可归为五大类：呼吸防护（口罩）、手部防护、躯体防护（防护服）、眼面防护和特殊防护。</a:t>
            </a:r>
          </a:p>
          <a:p>
            <a:r>
              <a:t>呼吸道、眼睛、皮肤、手和脚，哪里露着皮肤，哪里就是防护缺口。手套要盖住实验服袖口，手腕不能露出一截。</a:t>
            </a:r>
          </a:p>
          <a:p>
            <a:r>
              <a:t>穿便服、只戴一副手套就上机操作是不行的：实验服、护目镜、手套一样不少，按规程穿戴齐全再开始。用过的一次性防护用品放进感染性废物袋。</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手套有多种材质，没有万能手套（详见第 023 课）：乳胶手套挡不住很多有机溶剂，腈手套耐溶剂性更好，但也有局限，同时接触化学品时要按化学品选材。防微生物的手套应符合 GB 28881-2023（以现行文本为准）等国家标准。</a:t>
            </a:r>
          </a:p>
          <a:p>
            <a:r>
              <a:t>处理感染性生物材料时，按风险评估可以戴两层手套：外层被污染，里层还能护着；外层污染或破损就及时更换外层，摘外层时不碰到里层外的皮肤。</a:t>
            </a:r>
          </a:p>
          <a:p>
            <a:r>
              <a:t>抓取、保定实验动物时，在内层手套外戴加厚的防咬、防抓手套（实验动物见第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隔离衣、防护服在实验室和现场采样时都可以穿，能挡住小的飞溅，但挡不住大量溢洒：被大量液体浸湿后要立即更换，必要时按暴露处置（见第 078 课）。</a:t>
            </a:r>
          </a:p>
          <a:p>
            <a:r>
              <a:t>需要医用一次性防护服时，选符合 GB 19082-2023（以现行文本为准）的合格产品；一次性防护服用过不再穿，成本也不低，要按评估合理使用（实验服与防护服的通用要求见第 024 课）。</a:t>
            </a:r>
          </a:p>
          <a:p>
            <a:r>
              <a:t>防护服、隔离衣只在实验区内穿，不穿出实验室，不穿进办公室、食堂等公共区域。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有的病原可经气溶胶吸入感染，要靠口罩把住呼吸道。医用外科口罩主要阻挡飞沫和液体飞溅；医用防护口罩（符合 GB 19083-2023，以现行文本为准）能过滤颗粒物和气溶胶，贴合面部。外形相似的口罩用途可能不同，有的能防液体喷溅，有的不能，用前看清标准、类别和说明。</a:t>
            </a:r>
          </a:p>
          <a:p>
            <a:r>
              <a:t>用医用口罩还是医用防护口罩，由本实验室的风险评估确定。医用防护口罩选好型号后要做适合性检验，每次佩戴做密合性检查（呼吸器类型和适合性检验见第 025 课）。</a:t>
            </a:r>
          </a:p>
          <a:p>
            <a:r>
              <a:t>口罩消毒会损坏过滤材料和贴合性能，一次性口罩不要消毒后重复使用。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护目镜和面屏保护眼睛和面部黏膜，挡住小的飞溅；护目镜贴合眼周，面屏挡住整个面部前方（眼面防护见第 022 课，产品符合 GB 14866-2023，以现行文本为准）。</a:t>
            </a:r>
          </a:p>
          <a:p>
            <a:r>
              <a:t>面屏、护目镜、口罩各管一处，不能互相代替：面屏下方和两侧是开放的，不防吸入，有气溶胶风险时必须同时戴合适的口罩。</a:t>
            </a:r>
          </a:p>
          <a:p>
            <a:r>
              <a:t>可重复使用的护目镜和面屏，用后按规程清洁消毒、晾干后再用。</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动力送风过滤式呼吸器（送风头罩，符合 GB 30864-2014，以现行文本为准）只保护呼吸道和头面部，防护服、手套等一样不能少，穿什么按风险评估和规程定（送风呼吸器的使用见第 025 课）。</a:t>
            </a:r>
          </a:p>
          <a:p>
            <a:r>
              <a:t>最高防护级别的实验室，人员穿着正压防护服：服内持续送入洁净空气，保持正压，万一出现破口，空气也是往外流，外界污染进不来。这类装备昂贵、操作复杂，只有经专门培训考核、获得授权的人员才能使用（各级实验室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护目镜或面屏，穿隔离衣或医用防护服，戴双层手套，必要时加鞋套、帽子。</a:t>
            </a:r>
          </a:p>
          <a:p>
            <a:r>
              <a:t>这只是一般做法，具体组合以国家卫生健康部门的现行规定、本实验室的风险评估和标准操作规程为准（临床样本见第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防护用品要选合格产品：口罩、防护服、手套、护目镜各有国家标准，采购时看清执行标准、类别和有效期，由单位统一采购、登记入库。</a:t>
            </a:r>
          </a:p>
          <a:p>
            <a:r>
              <a:t>按人员配齐，各种尺码都要有，太大太小都会留缺口、影响操作。戴之前检查有无破损、老化，手套可轻轻困住空气或对光查看有无小孔，有问题马上换。</a:t>
            </a:r>
          </a:p>
          <a:p>
            <a:r>
              <a:t>防护用品有有效期，过期的不用；库存快用完了及时补充，别凑合。</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一次性防护服、手套、口罩用过就丢，不能挂起来下次再穿。用后按感染性废物放进生物危害废物袋，按规程灭菌后处置（见第 077 课）。</a:t>
            </a:r>
          </a:p>
          <a:p>
            <a:r>
              <a:t>使用中发现防护服、手套破损，要按规程处理并记录上报，必要时按暴露处置；破损记录在内部审核和检查时一并核查，用来改进防护用品选择和操作。</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个人防护离不开管理：先充分评估风险，再选择防护用品，然后对人员进行培训，穿戴和脱卸都按规程一步步来，考核合格后才能独立操作（穿脱顺序见第 075 课）。</a:t>
            </a:r>
          </a:p>
          <a:p>
            <a:r>
              <a:t>穿防护前先把长发束好，摘掉首饰；防护用品合格、不过期；防护服不穿出实验室。选防护记住三看：看病原、看途径、看操作。</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答案：B。解析：防护按风险评估确定并写进规程，不多不少。</a:t>
            </a:r>
          </a:p>
          <a:p>
            <a:r>
              <a:t>第 2 题 答案：B。解析：国内第一类危害最高、第四类最低，与国际风险组编号方向相反。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答案：C。解析：面屏、护目镜、口罩各管一处；医用防护口罩防气溶胶，一次性口罩不重复使用。</a:t>
            </a:r>
          </a:p>
          <a:p>
            <a:r>
              <a:t>第 4 题 答案：A。解析：双层手套外脏内护，外层污染或破损及时更换。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答案：B。解析：防护服、隔离衣不出实验室。</a:t>
            </a:r>
          </a:p>
          <a:p>
            <a:r>
              <a:t>第 6 题 答案：需要。送风头罩只保护呼吸道和头面部，身体和手仍需防护服和手套。解析：从头到脚不留缺口，具体按风险评估和规程配齐。</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穿戴防护装备前先做准备：摘下戒指、手链、手表等首饰，它们会戳破手套、藏污纳垢，也让手套戴不服帖。手机、外套、包和笔等个人物品放在实验室外的储物柜里，不带进实验区（着装和个人物品要求见第 020 课）。</a:t>
            </a:r>
          </a:p>
          <a:p>
            <a:r>
              <a:t>有长发的，把头发束起、盘好，必要时戴帽子，防止头发垂落沾污或碰到面部。</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按风险评估备齐本次要用的装备（选择见第 074 课）。常规操作的基本装备是紧袖口的实验服、手套和带侧护的护目镜；有飞沫、飞溅风险时，换穿隔离衣，加戴口罩和面屏。隔离衣应前襟完整、后开、袖口收紧（针织或松紧袖口）。</a:t>
            </a:r>
          </a:p>
          <a:p>
            <a:r>
              <a:t>实验服、隔离衣和手套要尺码合身，方便活动。穿前逐件检查有无撕裂、破洞、缺扣、系带松脱，有缺陷的换新的，不凑合。</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穿戴区和脱卸区要分开设置，避免脱下的污染防护用品碰到干净的衣物和装备。有缓冲间的实验室，防护装备备齐在缓冲间，进去前在这里穿，出来在这里脱。</a:t>
            </a:r>
          </a:p>
          <a:p>
            <a:r>
              <a:t>进入较高风险区域前，在缓冲间按评估要求穿戴好（如送风式呼吸器），用前检查，确认无误再进入实验区。高级别防护装备须经培训考核后才能使用。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顺序贴在穿戴区墙上，照着做。国内常用的顺序是：手卫生→戴帽子→戴口罩（医用防护口罩做密合性检查）→戴护目镜或面屏→穿隔离衣（或防护服）→戴手套。只穿基本三件时：扣好实验服→戴护目镜→戴手套。</a:t>
            </a:r>
          </a:p>
          <a:p>
            <a:r>
              <a:t>各单位、各类实验室的具体顺序可能略有不同（例如有的规程先穿隔离衣再戴面屏），以本单位标准操作规程为准；共同的原则是手套最后戴、盖住袖口。</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戴医用口罩：把耳挂挂在耳后，鼻夹一侧朝上，用双手食指从中间向两侧按压鼻夹，让口罩上缘贴紧鼻梁和面颊，再把口罩下缘拉到下巴下方。不要用单手捏鼻夹，会捏出尖角漏气。</a:t>
            </a:r>
          </a:p>
          <a:p>
            <a:r>
              <a:t>医用防护口罩每次戴好后做密合性检查（双手捂住口罩快速呼气、吸气，感觉边缘是否漏气），漏气就调整鼻夹和头带；适合性检验见第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戴面屏：先拉开弹力头带，套到脑后，海绵衬垫贴在眉毛上方的额头。戴好后面屏要盖住前额、下缘过下巴、两侧包住面颊。</a:t>
            </a:r>
          </a:p>
          <a:p>
            <a:r>
              <a:t>戴护目镜时，调整头带让镜框贴合眼周，不压迫口罩上缘；戴眼镜的选能罩在眼镜外的护目镜（眼面防护见第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穿隔离衣：手臂伸进袖子，把衣服拉到肩上，在颈后系好领口的带子，腰带在背后或侧面系上。</a:t>
            </a:r>
          </a:p>
          <a:p>
            <a:r>
              <a:t>带子要系牢，但打活结、不要勒得太紧，脱的时候才好解开或扯断。隔离衣要合身、方便活动，前后都要遮住日常衣物，不让里面的衣服露在外面。</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最后戴手套：先把隔离衣袖口拉到掌心，再把手套口拉起，套在袖口外面，而不是塞进袖子里。这样袖子不会滑出来，袖口也不会沾上污染。</a:t>
            </a:r>
          </a:p>
          <a:p>
            <a:r>
              <a:t>穿一次性连体防护服时，先戴内层手套盖住袖口，手腕处是最容易出现缺口的地方，按规程把缝隙封严；处理体液等液体样本时，连体服能在洒出时护住全身。开工前再检查一遍手套，确认没有破口。</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风险较高时，按规程戴双层手套：内层盖住袖口，最后再戴一层外手套。外层沾上污染，在实验室内（或生物安全柜内）脱掉外层，换上新的，内层一直护着手。戴几层、怎么脱，按本实验室规程执行。</a:t>
            </a:r>
          </a:p>
          <a:p>
            <a:r>
              <a:t>手套沾上样本或破损，立即在柜内脱下丢进废物容器，手部消毒后换上新手套。如果手部皮肤也破了，按暴露处置并报告（见第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使用动力送风过滤式呼吸器（送风头罩）时，穿戴顺序写在规程里，照规程做。第一步先把装有风机和电池的腰带系好、调好松紧：穿上防护服以后就够不着了。</a:t>
            </a:r>
          </a:p>
          <a:p>
            <a:r>
              <a:t>把送风导管接好、插紧、拧牢；调好头盔（头罩）里的头箍，让它稳稳贴住额头。送风呼吸器的用前检查和故障时的退出程序见第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戴头罩之前一定先开机，伸手在头罩里感觉一下，确认有风送进来再戴；不送风就戴上，会憋闷，有窒息危险。顺序不能反。</a:t>
            </a:r>
          </a:p>
          <a:p>
            <a:r>
              <a:t>按规程先穿好连体防护服，风机转着把头罩从头顶套下，戴正，把披肩拉平、盖住肩膀，对镜看披肩有没有卷边。头罩的披肩塞进防护服，导管收在里面不外露，再拉好拉链、系紧颈部。</a:t>
            </a:r>
          </a:p>
          <a:p>
            <a:r>
              <a:t>进门前看风机的指示灯：全亮说明供电和送风正常；指示灯不全亮就不要进入。</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穿完对着镜子逐一检查：头罩或帽子、口罩、护目镜或面屏、拉链和系带、手腕处的手套、脚下的鞋套，有没有缺口和卷边。</a:t>
            </a:r>
          </a:p>
          <a:p>
            <a:r>
              <a:t>镜子看不到背后，请同伴帮忙看后背、颈部和手腕，互相检查后再进门。穿脱流程要反复演练，脱卸区贴好流程图；练熟并经考核合格后，才能独立进入实验室。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a:p>
            <a:r>
              <a:t>防护用品不能穿出实验室，要在脱卸区按规定顺序一件一件脱，脏的一面朝里，不碰到身体和日常衣物；一次性的丢进感染性废物容器，可重复使用的按规程处理。</a:t>
            </a:r>
          </a:p>
          <a:p>
            <a:r>
              <a:t>脱卸的方法和顺序不止一种（见 K18）。实验室要按风险评估先选定一种，写进本实验室的操作规程，大家统一照做，不要临场乱换。</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把两只包成一团（通用要求见第 023 课）。</a:t>
            </a:r>
          </a:p>
          <a:p>
            <a:r>
              <a:t>整个过程中干净的手不碰手套外面。脱下的手套丢进感染性废物容器，一次性手套绝不重复使用。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摘下手套后，手上可能已沾上看不见的污染，要先做手卫生：用速干手消毒剂揉搓双手，或洗手；有的规程要求换戴一副干净手套再继续脱其他防护用品。按本实验室规程执行，再脱下一件。</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摘面屏：头稍向前倾，捏住耳朵上方的头带，轻轻提起离开面部；面屏前片可能有污染，不要碰。一次性面屏丢进感染性废物容器。</a:t>
            </a:r>
          </a:p>
          <a:p>
            <a:r>
              <a:t>摘护目镜：捏住太阳穴处的镜腿取下，镜腿沾污的可能小，不碰镜片；放到指定位置，按规程统一清洁消毒。清洁消毒护目镜时也要戴手套，用规定的消毒剂，作用时间要够（以本单位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脱隔离衣：解开腰带，抓住两肩向前拉，让颈后的系带松开（或按规程解开）；从肩部往前脱下，远离身体，边脱边卷，让外面翻到里面，卷成一团，脏的外面不碰到裸手和日常衣物，丢进感染性废物容器。</a:t>
            </a:r>
          </a:p>
          <a:p>
            <a:r>
              <a:t>脱实验服：实验服外面可能有污染，裸手不碰；袖口一直被手套盖着，是干净的。解开扣子，捏住一只袖口的内侧把手臂抽出来，另一只同样抽出。可以再穿的实验服挂到指定位置；有明显污染或需要丢弃的，里面朝向自己向外折，里朝外卷成一团，丢进感染性废物容器（实验服的清洗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a:p>
            <a:r>
              <a:t>另一种是先脱隔离衣、后摘手套：脱到袖子时，把袖子从手套下面拉出来，手套先留在手上，隔离衣卷团丢弃后，再用翻脱法摘手套。</a:t>
            </a:r>
          </a:p>
          <a:p>
            <a:r>
              <a:t>无论哪一种，脱完都要手卫生，具体用哪种由风险评估确定并写进本实验室规程（见 K13）。</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口罩贴着口鼻，在其他防护用品脱完、手卫生后最后摘：只捏住耳挂（或头带）从耳后取下，不碰口罩外面，离开面部后直接丢进感染性废物容器。医用防护口罩先拉下下方头带，再拉上方头带。</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摘送风头罩时，风机保持运转，按规程摘下头盔：头罩外面都当作污染，手只碰规定的位置，脸不碰外面。摘下后放到指定位置等待去污，然后再关机、断开电池。摘完马上洗手。</a:t>
            </a:r>
          </a:p>
          <a:p>
            <a:r>
              <a:t>先关风机再摘，头罩内失去正压，外面的污染容易进到面部。</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全部脱完，最后一步是用流动水和洗手液（肥皂）洗手：手心、手背、指缝、指尖、指甲下、拇指和手腕都要认真揉搓，时间要够（洗手步骤见第 020 课）。用一次性纸巾擦干，再用纸巾关水龙头。</a:t>
            </a:r>
          </a:p>
          <a:p>
            <a:r>
              <a:t>摘手套后、接触污染后、离开实验室前都必须洗手。暂时没有洗手条件时，先用速干手消毒剂，有条件后尽快洗手。洗完手再离开实验室。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答案：B。解析：手套最后戴并盖住袖口；具体顺序以本单位 SOP 为准。</a:t>
            </a:r>
          </a:p>
          <a:p>
            <a:r>
              <a:t>第 2 题 答案：B。解析：脱卸从最脏的（手套）开始，口罩最后摘，每脱下高污染物品后做手卫生。</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答案：B。解析：干净的手始终不碰手套外面。</a:t>
            </a:r>
          </a:p>
          <a:p>
            <a:r>
              <a:t>第 4 题 答案：B。解析：不送风戴头罩有窒息危险；摘时风机运转，保持正压防止污染进入面部。</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答案：B。解析：脱法按风险评估选定一种，写进规程，统一照做。</a:t>
            </a:r>
          </a:p>
          <a:p>
            <a:r>
              <a:t>第 6 题 答案：在脱卸区进行；从最脏到最干净；手套用翻脱法，裸手不碰外面；摘手套后手卫生；面屏捏头带、口罩捏耳挂；隔离衣外面朝里卷起；最后洗手。解析：脏面朝里、不碰身体和日常衣物。</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消毒或灭菌来实现。</a:t>
            </a:r>
          </a:p>
          <a:p>
            <a:r>
              <a:t>三者方法不同、效果不同：实验台面、仪器外壳一般消毒即可；培养基、无菌操作用的器材、要重复使用的污染器皿和感染性废物则要灭菌。器皿用完先彻底清洗（污物会挡住消毒剂和蒸汽），再消毒，需要时再灭菌。</a:t>
            </a:r>
          </a:p>
          <a:p>
            <a:r>
              <a:t>消过毒的东西不等于无菌，不能当无菌器材使用。用哪种方法，由风险评估和本实验室规程确定；生物安全员和实验室负责人要掌握哪种方法管用、怎么用对。</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杀灭微生物的方法主要有三类：热（湿热即高压蒸汽灭菌、干热、焚烧）、化学品（各类消毒剂、灭菌剂和熏蒸、气体灭菌）、辐射（紫外线照射；工业上的电离辐射灭菌）。此外还有过滤等去除微生物的物理方法。</a:t>
            </a:r>
          </a:p>
          <a:p>
            <a:r>
              <a:t>选择时看对象和目的：耐热耐湿的玻璃器皿、培养基、废物首选高压蒸汽灭菌；台面、仪器外壳等不能加热的表面用化学消毒剂擦拭；紫外线只能辅助消毒照得到的表面；整个房间或生物安全柜整体去污用熏蒸。具体方法按风险评估和本实验室规程确定。</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课）。</a:t>
            </a:r>
          </a:p>
          <a:p>
            <a:r>
              <a:t>化学灭菌剂、消毒废液和辐射管理不好，还会伤害环境：不能把化学灭菌剂、高浓度消毒废液随意倒入下水道，按本校化学废物要求处置（见第 053、054 课）。</a:t>
            </a:r>
          </a:p>
          <a:p>
            <a:r>
              <a:t>所以消毒灭菌必须有严格的标准操作规程。规程有两个目的：保护操作的人，也保证灭菌效果。没有经过培训、没学过规程的人不得操作灭菌和熏蒸设备。</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不同微生物对消毒剂的抵抗力相差很大：一般细菌、有包膜病毒较容易杀灭，分枝杆菌、无包膜病毒更难，细菌芽孢最难。常用的乙醇（常用 75% 左右）作用快，但对芽孢无效；含氯消毒剂作用谱广，但有腐蚀性和刺激性。选哪种，看要对付的是什么生物因子，按风险评估和规程确定。</a:t>
            </a:r>
          </a:p>
          <a:p>
            <a:r>
              <a:t>血液、培养物等有机物会降低消毒剂效果：大量污物先用吸水材料清除，再消毒。含氯消毒剂会腐蚀不锈钢等金属表面，作用时间到后用清水擦去残留。</a:t>
            </a:r>
          </a:p>
          <a:p>
            <a:r>
              <a:t>想换一种（比如更便宜的）消毒剂时，先确认它对本实验室的生物因子有效，经负责人同意，并在规程中写明消毒剂种类、浓度和作用时间（以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消毒剂需要与微生物接触足够的时间才能起作用。喷一下马上擦干，接触时间不够，等于没消毒。</a:t>
            </a:r>
          </a:p>
          <a:p>
            <a:r>
              <a:t>正确做法：用浸湿消毒剂的纸巾擦拭或适量喷洒，让表面在整个作用时间内保持湿润，必要时补加；时间到后再擦去残留。消毒剂的浓度和作用时间以本单位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生物材料一旦洒漏，台面、设备和材料都会被污染，既威胁人员，也破坏实验的无菌条件。</a:t>
            </a:r>
          </a:p>
          <a:p>
            <a:r>
              <a:t>台面要在开工前、收工后各消毒一次；用过的移液器、离心机外壳、旋涡振荡器等仪器设备也要用浸湿消毒剂的纸巾擦拭（不要直接对仪器喷洒，以免液体进入电器部件）。生物安全柜内的清洁见第 073 课。</a:t>
            </a:r>
          </a:p>
          <a:p>
            <a:r>
              <a:t>发生洒溢立即按溢洒程序处理（见第 078 课）。用过的吸头、手套、纸巾等收进专用的生物危害废物袋或容器，按感染性废物处置（见第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消毒剂浓缩液多有腐蚀性或刺激性。配制和擦拭时戴好手套和护目镜，在通风良好处按说明量取、稀释，必要时穿防护围裙。</a:t>
            </a:r>
          </a:p>
          <a:p>
            <a:r>
              <a:t>配好的消毒液装在合适的容器里，贴上标签，写明名称、浓度和配制日期（及配制人）。很多稀释液（如含氯消毒剂稀释液）会逐渐失效，按产品说明和规程现配现用或按期更换，过期的不得使用；没有标签、来历不明的液体不要用。</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消毒剂不能随手混在一起：含氯消毒剂与酸性物品混合会放出氯气，与含氨清洁剂混合也会产生有害气体。能不能混用、能不能先后使用，查产品说明书或安全技术说明书，拿不准就问老师。</a:t>
            </a:r>
          </a:p>
          <a:p>
            <a:r>
              <a:t>乙醇和含醇消毒剂易燃：远离酒精灯、电热设备和火花，不在明火旁大量喷洒，用后盖紧（化学品防火见第 046 课）。消毒剂也是化学品，按化学品要求储存、标识和处置。</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紫外线只能杀灭直接照射到的表面和空气中的微生物，穿透力很弱：物品背后的阴影、角落、灰尘和污物下面都照不到。因此紫外消毒只能作为辅助手段，不能代替消毒剂擦拭和灭菌。</a:t>
            </a:r>
          </a:p>
          <a:p>
            <a:r>
              <a:t>紫外灯管会随使用时间老化、强度下降，表面积灰也会降低效果，要定期清洁、检测强度并按规定更换。</a:t>
            </a:r>
          </a:p>
          <a:p>
            <a:r>
              <a:t>紫外线伤眼伤皮肤：开灯时人要离开，不能直视；生物安全柜、核酸提取仪等仪器内的紫外灯亮着时不要打开柜门、仓门查看（人身防护见第 111 课）。开不开紫外灯、开多久，按本实验室规程执行。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高压蒸汽灭菌是实验室最常用、最可靠的灭菌方法：在密闭容器中加压，使饱和蒸汽温度升高；高温蒸汽接触物品并在表面冷凝放热，使微生物的蛋白质变性而死亡。</a:t>
            </a:r>
          </a:p>
          <a:p>
            <a:r>
              <a:t>灭菌效果取决于蒸汽能否接触到每一处：灭菌器里的冷空气要排净，否则物品中心会留下“冷点”；装载要松散、留有间隙，瓶盖拧松，废物袋口不要扎死，液体不要装得太满。装得太满太乱、设备有故障（如排气不畅、密封不严），灭菌都不会彻底。</a:t>
            </a:r>
          </a:p>
          <a:p>
            <a:r>
              <a:t>温度、时间等参数以设备操作规程和验证结果为准，不同负载可能不同。高压灭菌器是压力容器，开门、装取等操作安全见第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放在负载最难灭透的位置，灭菌后培养，看芽孢是否被杀灭，按规程定期进行。</a:t>
            </a:r>
          </a:p>
          <a:p>
            <a:r>
              <a:t>新安装、维修后、更换装载方式或负载类型时，都要验证灭菌效果。监测不合格时，停用设备并报告负责人，本批物品按未灭菌对待、重新灭菌，查明原因修复后再用。监测和验证结果记录在案，按规定保存。</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需要对整间实验室、生物安全柜整体去污时（如更换过滤器、设备维修搬迁、实验室停用或发生严重污染后），采用熏蒸消毒。熏蒸用的药剂对人同样有毒有害。</a:t>
            </a:r>
          </a:p>
          <a:p>
            <a:r>
              <a:t>熏蒸由经过培训的专人按规程操作：事先清场、封闭房间或设备，门口挂警示牌，防止人员误入；完成后充分通风，经检测合格后才能进入。</a:t>
            </a:r>
          </a:p>
          <a:p>
            <a:r>
              <a:t>不耐热的器材有时用气体灭菌（如环氧乙烷），这类气体有毒、易燃。在专用设备和区域内由专人操作，未到时间不得提前开门，灭菌后按规程通风散气后才能使用。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答案：B。解析：消毒只把微生物减少到安全水平；灭菌是全部杀灭，包括芽孢。</a:t>
            </a:r>
          </a:p>
          <a:p>
            <a:r>
              <a:t>第 2 题 答案：B。解析：要让表面保持湿润，等够规程和产品说明规定的作用时间。</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答案：C。解析：含氯消毒剂与酸性物品混合会放出有害气体。</a:t>
            </a:r>
          </a:p>
          <a:p>
            <a:r>
              <a:t>第 4 题 答案：B。解析：紫外只对照到的表面有效，阴影和污物下照不到，只能辅助，不能代替擦拭。</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答案：B。解析：化学指示物只说明经过灭菌过程；灭菌效果靠物理、化学、生物监测和定期验证。</a:t>
            </a:r>
          </a:p>
          <a:p>
            <a:r>
              <a:t>第 6 题 答案：由培训过的专人按规程操作；事先清场、封闭，门口挂警示牌防止误入；结束后充分通风，检测合格后才能进入。解析：熏蒸药剂对人同样有毒有害。</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感染性废物的处理不是实验做完才考虑的事。开展生物因子实验之前，就要想好会产生哪些废物、用什么容器装、怎样灭活、送到哪里。</a:t>
            </a:r>
          </a:p>
          <a:p>
            <a:r>
              <a:t>实验室要有完整的生物废物管理方案，写进标准操作规程：分类收集、包装、暂存、转运、处置每个环节由谁做、怎么做、怎么记录，并对灭菌等处理效果进行验证（见第 076 课）。每个实验室按自己的生物因子和实验活动制定规程，新进人员按规程培训后才能操作。</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按本校规定专门收集处置（见第 084 课）。检测临床样本产生的废物一律按感染性废物对待。</a:t>
            </a:r>
          </a:p>
          <a:p>
            <a:r>
              <a:t>装袋之前先分类：感染性废物放进有生物危害标志的专用容器；锐器进锐器盒（见 K3）；化学废液、含油废物按化学废物分类收集（见第 053、054 课），不混进生物废物袋。既有感染性又含挥发性、腐蚀性化学品的废物不能直接高压灭菌，按规程专门处理。</a:t>
            </a:r>
          </a:p>
          <a:p>
            <a:r>
              <a:t>废物分类以本校规定和本实验室规程为准，墙上贴好分类指引；拿不准的，问实验室负责人或老师，不要凭感觉丢。</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面上。</a:t>
            </a:r>
          </a:p>
          <a:p>
            <a:r>
              <a:t>用过的针头不用手回套针帽，不掰弯、不折断、不用手拆针头，连同注射器整体投入锐器盒。锐器盒装到约四分之三或盒上的警戒线就封盒（锁死后不能再打开），不要硬往里塞或用手压。封好的锐器盒按感染性废物灭菌、处置。非感染性锐器和碎玻璃见第 029 课。</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内袋。</a:t>
            </a:r>
          </a:p>
          <a:p>
            <a:r>
              <a:t>封口时：按本实验室规程向内袋加少量消毒剂，收拢内袋口拧紧，用扎带或胶带扎牢；再把外袋同样拧紧扎好，两道扎口两道保险。扎好后把袋子提出，袋子外面和空桶外壁都用消毒剂擦拭，擦拭用的纸巾也按感染性废物处理。在生物安全柜内装袋的详细手法见第 073 课。</a:t>
            </a:r>
          </a:p>
          <a:p>
            <a:r>
              <a:t>袋子不要装太满，留出扎口的位置，一般不超过四分之三；千万不要用手往下压，会扎破手套，还会把气溶胶挤出来。快满了就扎口，换上新袋。</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a:p>
            <a:r>
              <a:t>从环境中分离的菌株、实验用的菌株都不能随意排放到外环境。需要在野外使用微生物（如环境修复试验）的，必须事先进行风险评估并经单位和有关部门批准。发生溢洒时先覆盖消毒，按程序清理，并报告实验室负责人（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环境中。</a:t>
            </a:r>
          </a:p>
          <a:p>
            <a:r>
              <a:t>培养瓶长了霉、长了杂菌，不要打开闻、打开看，以免孢子和气溶胶扩散；整瓶不开盖放进灭菌袋高压灭菌后再处置。</a:t>
            </a:r>
          </a:p>
          <a:p>
            <a:r>
              <a:t>培养物、菌种不能私自带出实验室，也不能私自送人或交换（菌毒种运输见第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基因工程菌常带有抗生素抗性基因等外源基因，一旦外泄可能在环境中扩散。含工程菌的培养物、废液和耗材收进专用容器，先灭活（如高压灭菌），再按规定分类处置。</a:t>
            </a:r>
          </a:p>
          <a:p>
            <a:r>
              <a:t>转基因植物材料、组培苗和转基因废弃物不能随手扔，也不得私自带出实验室或温室；先灭活，再按规定处置。田间或温室试验结束后，还要清除自生苗，防止残留（转基因生物安全见第 081、082 课）。</a:t>
            </a:r>
          </a:p>
          <a:p>
            <a:r>
              <a:t>保存的菌株、转基因材料要登记清楚；废弃物的灭活和处置也要登记，按本校规定执行。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国内高校实验室的感染性废物，一般要先在实验室内（或本单位指定地点）高压蒸汽灭菌，灭菌合格后再离开实验室，交学校统一处置。</a:t>
            </a:r>
          </a:p>
          <a:p>
            <a:r>
              <a:t>灭菌按本实验室生物安全手册和灭菌器规程进行，由经过培训的人员操作（灭菌原理和验证见第 076 课，灭菌器操作安全见第 123 课）。用化学指示物（指示胶带、指示条）确认每一锅经过了灭菌，并结合温度、时间记录和定期的生物指示物验证判断效果。</a:t>
            </a:r>
          </a:p>
          <a:p>
            <a:r>
              <a:t>每锅灭菌都要登记：日期、废物来源、操作人、指示物结果。灭菌不合格的废物重新灭菌，不往外送。原片“灭菌后焚烧”的做法在国内由有资质的集中处置单位完成，实验室不得自行焚烧（见 K10）。</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灭菌后的感染性废物按本校规定装进医疗废物专用包装袋或容器（有警示标识），锐器盒单独装。包装外贴好标签，写明产生的实验室、日期、废物类别等。</a:t>
            </a:r>
          </a:p>
          <a:p>
            <a:r>
              <a:t>废物出实验室后不能随手堆在走廊、楼道或垃圾间，要放到本单位设置的暂存点或密闭转运箱中。暂存点有警示标识、防渗漏、防鼠防蚊蝇、上锁专人管理。按规定时限及时清运，不长时间存放（具体时限以现行规定和本校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感染性废物（医疗废物）属于国家危险废物名录管理的危险废物，由学校统一交给有资质的医疗废物集中处置单位，用高温焚烧等方式无害化处置。</a:t>
            </a:r>
          </a:p>
          <a:p>
            <a:r>
              <a:t>交接时双方核对种类、数量（重量），填写交接登记和危险废物转移联单；联单和登记资料按规定期限存档，保证每一袋废物去向可查。</a:t>
            </a:r>
          </a:p>
          <a:p>
            <a:r>
              <a:t>严禁把感染性废物混入生活垃圾，严禁交给没有资质的单位或个人（如收废品人员），实验室不得自行焚烧或填埋。</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答案：C。解析：感染性锐器进防刺穿的锐器盒，不装进塑料袋。</a:t>
            </a:r>
          </a:p>
          <a:p>
            <a:r>
              <a:t>第 2 题 答案：B。解析：平板里仍是活菌，先高压灭菌，再按感染性废物交学校统一处置。</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答案：B。解析：留出扎口位置，不得用手压，以免扎破手套、挤出气溶胶。</a:t>
            </a:r>
          </a:p>
          <a:p>
            <a:r>
              <a:t>第 4 题 答案：B。解析：液体培养物收进带盖容器，按规程消毒或灭菌后再按规定处置。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答案：D。解析：医疗废物按危险废物管理，交有资质单位集中处置，联单存档。</a:t>
            </a:r>
          </a:p>
          <a:p>
            <a:r>
              <a:t>第 6 题 答案：不要打开闻或查看，整瓶不开盖放进高压灭菌袋，灭菌后按感染性废物处置。解析：开盖会使孢子和气溶胶扩散。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生物实验个人防护装备</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适用对象：从事微生物、细胞、临床样本、动物等生物实验的高校本科生、研究生和教职工（必修，进入生物安全实验室前完成）；实验室负责人和生物安全员重点学习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能说出个人防护是最后一道防线，防护用品按风险评估选择，从病原类别、侵入途径、具体操作三方面判断。</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能说出生物实验常用防护装备（手套、隔离衣/防护服、医用口罩/医用防护口罩、护目镜、面屏、送风头罩）的作用和局限。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能做到从头到脚不留缺口：手套盖住袖口，生物材料可戴双层手套，面屏不代替口罩，防护服不出实验室。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能判断防护用品是否合格可用：符合国家标准、尺码合适、用前检查、在有效期内，一次性用品不重复使用，破损记录上报。</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《病原微生物实验室生物安全管理条例》（以现行文本为准）：实验室按生物安全防护级别配备个人防护用品，从业人员接受培训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生物安全通用要求》：基于风险评估选择个人防护装备，各级实验室的个体防护要求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233（以现行文本为准）《病原微生物实验室生物安全通用准则》：各级实验室个人防护和操作规范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19082-2023（以现行文本为准）《医用一次性防护服技术要求》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19083-2023（以现行文本为准）《医用防护口罩技术要求》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号，以现行文本为准）：个人防护用品配备、培训和正确使用</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个人防护是最后一道防线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设施和规程在前，个人防护是最后一道</a:t>
            </a:r>
          </a:p>
          <a:p>
            <a:pPr>
              <a:spcAft>
                <a:spcPts val="1000"/>
              </a:spcAft>
            </a:pPr>
            <a:r>
              <a:rPr sz="2000">
                <a:solidFill>
                  <a:srgbClr val="222B33"/>
                </a:solidFill>
                <a:latin typeface="Microsoft YaHei"/>
              </a:rPr>
              <a:t>▪ 有了安全柜，防护用品照样要戴</a:t>
            </a:r>
          </a:p>
          <a:p>
            <a:pPr>
              <a:spcAft>
                <a:spcPts val="1000"/>
              </a:spcAft>
            </a:pPr>
            <a:r>
              <a:rPr sz="2000">
                <a:solidFill>
                  <a:srgbClr val="222B33"/>
                </a:solidFill>
                <a:latin typeface="Microsoft YaHei"/>
              </a:rPr>
              <a:t>▪ 用得对，才能真正挡住风险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控制生物风险，先靠实验室设施和生物安全柜等工程控制，再靠操作规程等管理措施，个人防护装备是贴在身上的最后一道防线（通用防护原则见第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认为在安全柜里操作就不用穿戴防护</a:t>
            </a:r>
          </a:p>
          <a:p>
            <a:pPr>
              <a:spcAft>
                <a:spcPts val="1000"/>
              </a:spcAft>
            </a:pPr>
            <a:r>
              <a:rPr sz="1500">
                <a:solidFill>
                  <a:srgbClr val="222B33"/>
                </a:solidFill>
                <a:latin typeface="Microsoft YaHei"/>
              </a:rPr>
              <a:t>▪ 防护用品戴得松松垮垮</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穿哪些不凭感觉，按风险评估</a:t>
            </a:r>
          </a:p>
          <a:p>
            <a:pPr>
              <a:spcAft>
                <a:spcPts val="1000"/>
              </a:spcAft>
            </a:pPr>
            <a:r>
              <a:rPr sz="2000">
                <a:solidFill>
                  <a:srgbClr val="222B33"/>
                </a:solidFill>
                <a:latin typeface="Microsoft YaHei"/>
              </a:rPr>
              <a:t>▪ 不是越多越好，也别自作主张加减</a:t>
            </a:r>
          </a:p>
          <a:p>
            <a:pPr>
              <a:spcAft>
                <a:spcPts val="1000"/>
              </a:spcAft>
            </a:pPr>
            <a:r>
              <a:rPr sz="2000">
                <a:solidFill>
                  <a:srgbClr val="222B33"/>
                </a:solidFill>
                <a:latin typeface="Microsoft YaHei"/>
              </a:rPr>
              <a:t>▪ 评估结果写进规程，人人照做</a:t>
            </a:r>
          </a:p>
          <a:p>
            <a:pPr>
              <a:spcAft>
                <a:spcPts val="1000"/>
              </a:spcAft>
            </a:pPr>
            <a:r>
              <a:rPr sz="2000">
                <a:solidFill>
                  <a:srgbClr val="222B33"/>
                </a:solidFill>
                <a:latin typeface="Microsoft YaHei"/>
              </a:rPr>
              <a:t>▪ 疫情时期的做法以现行规定为准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防护穿戴什么、穿到什么程度，不凭感觉，要依据病原的分类、实验室的防护级别和具体活动的风险评估来确定（生物风险评估见第 067 课），评估结果写进本实验室的标准操作规程，人人照做。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凭个人感觉随意增减防护</a:t>
            </a:r>
          </a:p>
          <a:p>
            <a:pPr>
              <a:spcAft>
                <a:spcPts val="1000"/>
              </a:spcAft>
            </a:pPr>
            <a:r>
              <a:rPr sz="1500">
                <a:solidFill>
                  <a:srgbClr val="222B33"/>
                </a:solidFill>
                <a:latin typeface="Microsoft YaHei"/>
              </a:rPr>
              <a:t>▪ 沿用过时的防护配置不更新</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三看：病原类别、侵入途径、具体操作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一看病原：国内第一类危害最高</a:t>
            </a:r>
          </a:p>
          <a:p>
            <a:pPr>
              <a:spcAft>
                <a:spcPts val="1000"/>
              </a:spcAft>
            </a:pPr>
            <a:r>
              <a:rPr sz="2000">
                <a:solidFill>
                  <a:srgbClr val="222B33"/>
                </a:solidFill>
                <a:latin typeface="Microsoft YaHei"/>
              </a:rPr>
              <a:t>▪ 不明病原先从严，最终由评估定</a:t>
            </a:r>
          </a:p>
          <a:p>
            <a:pPr>
              <a:spcAft>
                <a:spcPts val="1000"/>
              </a:spcAft>
            </a:pPr>
            <a:r>
              <a:rPr sz="2000">
                <a:solidFill>
                  <a:srgbClr val="222B33"/>
                </a:solidFill>
                <a:latin typeface="Microsoft YaHei"/>
              </a:rPr>
              <a:t>▪ 二看途径：从哪里进，就挡哪里</a:t>
            </a:r>
          </a:p>
          <a:p>
            <a:pPr>
              <a:spcAft>
                <a:spcPts val="1000"/>
              </a:spcAft>
            </a:pPr>
            <a:r>
              <a:rPr sz="2000">
                <a:solidFill>
                  <a:srgbClr val="222B33"/>
                </a:solidFill>
                <a:latin typeface="Microsoft YaHei"/>
              </a:rPr>
              <a:t>▪ 三看操作：产生气溶胶的要加强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选防护先看三件事。一看病原：危害越高，防护越强。国内把病原微生物分为四类，第一类危害最高、第四类最低，与国际“风险组”的编号方向相反，不要混淆（见第 058 课）。来源不明或新出现的病原，先按较高级别从严防护，最终由……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把国际风险组编号当成国内分类</a:t>
            </a:r>
          </a:p>
          <a:p>
            <a:pPr>
              <a:spcAft>
                <a:spcPts val="1000"/>
              </a:spcAft>
            </a:pPr>
            <a:r>
              <a:rPr sz="1500">
                <a:solidFill>
                  <a:srgbClr val="222B33"/>
                </a:solidFill>
                <a:latin typeface="Microsoft YaHei"/>
              </a:rPr>
              <a:t>▪ 只看病原不看操作，一套防护用到底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从头到脚，不留缺口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头套、护目镜或面屏、口罩、隔离衣、手套、鞋</a:t>
            </a:r>
          </a:p>
          <a:p>
            <a:pPr>
              <a:spcAft>
                <a:spcPts val="1000"/>
              </a:spcAft>
            </a:pPr>
            <a:r>
              <a:rPr sz="2000">
                <a:solidFill>
                  <a:srgbClr val="222B33"/>
                </a:solidFill>
                <a:latin typeface="Microsoft YaHei"/>
              </a:rPr>
              <a:t>▪ 五类：口罩、手套、防护服、护目、特殊防护</a:t>
            </a:r>
          </a:p>
          <a:p>
            <a:pPr>
              <a:spcAft>
                <a:spcPts val="1000"/>
              </a:spcAft>
            </a:pPr>
            <a:r>
              <a:rPr sz="2000">
                <a:solidFill>
                  <a:srgbClr val="222B33"/>
                </a:solidFill>
                <a:latin typeface="Microsoft YaHei"/>
              </a:rPr>
              <a:t>▪ 哪里露着皮肤，哪里就是缺口</a:t>
            </a:r>
          </a:p>
          <a:p>
            <a:pPr>
              <a:spcAft>
                <a:spcPts val="1000"/>
              </a:spcAft>
            </a:pPr>
            <a:r>
              <a:rPr sz="2000">
                <a:solidFill>
                  <a:srgbClr val="222B33"/>
                </a:solidFill>
                <a:latin typeface="Microsoft YaHei"/>
              </a:rPr>
              <a:t>▪ 手套盖住袖口；只戴手套上机不行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生物实验室的个人防护装备从头到脚一套：头套（帽子）、护目镜或面屏、贴合良好的口罩、实验服或隔离衣、一次性手套、鞋套或不露脚趾的鞋（着装要求见第 020 课）。按用途可归为五大类：呼吸防护（口罩）、手部防护、躯体防护（……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手套和袖口之间露出手腕</a:t>
            </a:r>
          </a:p>
          <a:p>
            <a:pPr>
              <a:spcAft>
                <a:spcPts val="1000"/>
              </a:spcAft>
            </a:pPr>
            <a:r>
              <a:rPr sz="1500">
                <a:solidFill>
                  <a:srgbClr val="222B33"/>
                </a:solidFill>
                <a:latin typeface="Microsoft YaHei"/>
              </a:rPr>
              <a:t>▪ 穿便服只戴手套上机</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手套：生物材料可戴两层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乳胶挡不住很多溶剂，腈也有局限</a:t>
            </a:r>
          </a:p>
          <a:p>
            <a:pPr>
              <a:spcAft>
                <a:spcPts val="1000"/>
              </a:spcAft>
            </a:pPr>
            <a:r>
              <a:rPr sz="2000">
                <a:solidFill>
                  <a:srgbClr val="222B33"/>
                </a:solidFill>
                <a:latin typeface="Microsoft YaHei"/>
              </a:rPr>
              <a:t>▪ 处理生物材料可戴两层，外脏内护</a:t>
            </a:r>
          </a:p>
          <a:p>
            <a:pPr>
              <a:spcAft>
                <a:spcPts val="1000"/>
              </a:spcAft>
            </a:pPr>
            <a:r>
              <a:rPr sz="2000">
                <a:solidFill>
                  <a:srgbClr val="222B33"/>
                </a:solidFill>
                <a:latin typeface="Microsoft YaHei"/>
              </a:rPr>
              <a:t>▪ 外层污染了，及时换外层</a:t>
            </a:r>
          </a:p>
          <a:p>
            <a:pPr>
              <a:spcAft>
                <a:spcPts val="1000"/>
              </a:spcAft>
            </a:pPr>
            <a:r>
              <a:rPr sz="2000">
                <a:solidFill>
                  <a:srgbClr val="222B33"/>
                </a:solidFill>
                <a:latin typeface="Microsoft YaHei"/>
              </a:rPr>
              <a:t>▪ 抓动物戴加厚手套，防咬防抓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手套有多种材质，没有万能手套（详见第 023 课）：乳胶手套挡不住很多有机溶剂，腈手套耐溶剂性更好，但也有局限，同时接触化学品时要按化学品选材。防微生物的手套应符合 GB 28881-2023（以现行文本为准）等国家……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用乳胶手套接触有机溶剂</a:t>
            </a:r>
          </a:p>
          <a:p>
            <a:pPr>
              <a:spcAft>
                <a:spcPts val="1000"/>
              </a:spcAft>
            </a:pPr>
            <a:r>
              <a:rPr sz="1500">
                <a:solidFill>
                  <a:srgbClr val="222B33"/>
                </a:solidFill>
                <a:latin typeface="Microsoft YaHei"/>
              </a:rPr>
              <a:t>▪ 外层手套污染了不换，继续操作</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隔离衣与防护服：挡飞溅，不出门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隔离衣、防护服挡小飞溅</a:t>
            </a:r>
          </a:p>
          <a:p>
            <a:pPr>
              <a:spcAft>
                <a:spcPts val="1000"/>
              </a:spcAft>
            </a:pPr>
            <a:r>
              <a:rPr sz="2000">
                <a:solidFill>
                  <a:srgbClr val="222B33"/>
                </a:solidFill>
                <a:latin typeface="Microsoft YaHei"/>
              </a:rPr>
              <a:t>▪ 挡不住大量溢洒，浸湿要立即更换</a:t>
            </a:r>
          </a:p>
          <a:p>
            <a:pPr>
              <a:spcAft>
                <a:spcPts val="1000"/>
              </a:spcAft>
            </a:pPr>
            <a:r>
              <a:rPr sz="2000">
                <a:solidFill>
                  <a:srgbClr val="222B33"/>
                </a:solidFill>
                <a:latin typeface="Microsoft YaHei"/>
              </a:rPr>
              <a:t>▪ 医用防护服要符合国家标准</a:t>
            </a:r>
          </a:p>
          <a:p>
            <a:pPr>
              <a:spcAft>
                <a:spcPts val="1000"/>
              </a:spcAft>
            </a:pPr>
            <a:r>
              <a:rPr sz="2000">
                <a:solidFill>
                  <a:srgbClr val="222B33"/>
                </a:solidFill>
                <a:latin typeface="Microsoft YaHei"/>
              </a:rPr>
              <a:t>▪ 防护服不出实验室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隔离衣、防护服在实验室和现场采样时都可以穿，能挡住小的飞溅，但挡不住大量溢洒：被大量液体浸湿后要立即更换，必要时按暴露处置（见第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防护服浸湿了继续穿</a:t>
            </a:r>
          </a:p>
          <a:p>
            <a:pPr>
              <a:spcAft>
                <a:spcPts val="1000"/>
              </a:spcAft>
            </a:pPr>
            <a:r>
              <a:rPr sz="1500">
                <a:solidFill>
                  <a:srgbClr val="222B33"/>
                </a:solidFill>
                <a:latin typeface="Microsoft YaHei"/>
              </a:rPr>
              <a:t>▪ 穿着隔离衣去走廊、办公室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医用口罩与医用防护口罩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经气溶胶吸入的病原，要靠口罩挡</a:t>
            </a:r>
          </a:p>
          <a:p>
            <a:pPr>
              <a:spcAft>
                <a:spcPts val="1000"/>
              </a:spcAft>
            </a:pPr>
            <a:r>
              <a:rPr sz="2000">
                <a:solidFill>
                  <a:srgbClr val="222B33"/>
                </a:solidFill>
                <a:latin typeface="Microsoft YaHei"/>
              </a:rPr>
              <a:t>▪ 医用口罩防飞溅，防护口罩防气溶胶</a:t>
            </a:r>
          </a:p>
          <a:p>
            <a:pPr>
              <a:spcAft>
                <a:spcPts val="1000"/>
              </a:spcAft>
            </a:pPr>
            <a:r>
              <a:rPr sz="2000">
                <a:solidFill>
                  <a:srgbClr val="222B33"/>
                </a:solidFill>
                <a:latin typeface="Microsoft YaHei"/>
              </a:rPr>
              <a:t>▪ 长得像，用途不同，看清说明</a:t>
            </a:r>
          </a:p>
          <a:p>
            <a:pPr>
              <a:spcAft>
                <a:spcPts val="1000"/>
              </a:spcAft>
            </a:pPr>
            <a:r>
              <a:rPr sz="2000">
                <a:solidFill>
                  <a:srgbClr val="222B33"/>
                </a:solidFill>
                <a:latin typeface="Microsoft YaHei"/>
              </a:rPr>
              <a:t>▪ 用哪种由评估定；防护口罩不重复用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有的病原可经气溶胶吸入感染，要靠口罩把住呼吸道。医用外科口罩主要阻挡飞沫和液体飞溅；医用防护口罩（符合 GB 19083-2023，以现行文本为准）能过滤颗粒物和气溶胶，贴合面部。外形相似的口罩用途可能不同，有的能防……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把医用外科口罩当防气溶胶的防护口罩</a:t>
            </a:r>
          </a:p>
          <a:p>
            <a:pPr>
              <a:spcAft>
                <a:spcPts val="1000"/>
              </a:spcAft>
            </a:pPr>
            <a:r>
              <a:rPr sz="1500">
                <a:solidFill>
                  <a:srgbClr val="222B33"/>
                </a:solidFill>
                <a:latin typeface="Microsoft YaHei"/>
              </a:rPr>
              <a:t>▪ 口罩喷消毒剂后再戴</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护目镜、面屏、口罩各管一处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护目镜护眼睛，面屏挡脸前飞溅</a:t>
            </a:r>
          </a:p>
          <a:p>
            <a:pPr>
              <a:spcAft>
                <a:spcPts val="1000"/>
              </a:spcAft>
            </a:pPr>
            <a:r>
              <a:rPr sz="2000">
                <a:solidFill>
                  <a:srgbClr val="222B33"/>
                </a:solidFill>
                <a:latin typeface="Microsoft YaHei"/>
              </a:rPr>
              <a:t>▪ 面屏不防吸入，不能代替口罩</a:t>
            </a:r>
          </a:p>
          <a:p>
            <a:pPr>
              <a:spcAft>
                <a:spcPts val="1000"/>
              </a:spcAft>
            </a:pPr>
            <a:r>
              <a:rPr sz="2000">
                <a:solidFill>
                  <a:srgbClr val="222B33"/>
                </a:solidFill>
                <a:latin typeface="Microsoft YaHei"/>
              </a:rPr>
              <a:t>▪ 可重复用的，按规程消毒后再用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护目镜和面屏保护眼睛和面部黏膜，挡住小的飞溅；护目镜贴合眼周，面屏挡住整个面部前方（眼面防护见第 022 课，产品符合 GB 14866-2023，以现行文本为准）。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戴了面屏就不戴口罩</a:t>
            </a:r>
          </a:p>
          <a:p>
            <a:pPr>
              <a:spcAft>
                <a:spcPts val="1000"/>
              </a:spcAft>
            </a:pPr>
            <a:r>
              <a:rPr sz="1500">
                <a:solidFill>
                  <a:srgbClr val="222B33"/>
                </a:solidFill>
                <a:latin typeface="Microsoft YaHei"/>
              </a:rPr>
              <a:t>▪ 护目镜用后不消毒直接给别人用</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送风头罩和正压防护服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送风头罩只护呼吸和头面部</a:t>
            </a:r>
          </a:p>
          <a:p>
            <a:pPr>
              <a:spcAft>
                <a:spcPts val="1000"/>
              </a:spcAft>
            </a:pPr>
            <a:r>
              <a:rPr sz="2000">
                <a:solidFill>
                  <a:srgbClr val="222B33"/>
                </a:solidFill>
                <a:latin typeface="Microsoft YaHei"/>
              </a:rPr>
              <a:t>▪ 头罩之外，防护服、手套照样配齐</a:t>
            </a:r>
          </a:p>
          <a:p>
            <a:pPr>
              <a:spcAft>
                <a:spcPts val="1000"/>
              </a:spcAft>
            </a:pPr>
            <a:r>
              <a:rPr sz="2000">
                <a:solidFill>
                  <a:srgbClr val="222B33"/>
                </a:solidFill>
                <a:latin typeface="Microsoft YaHei"/>
              </a:rPr>
              <a:t>▪ 最高等级实验室穿正压防护服</a:t>
            </a:r>
          </a:p>
          <a:p>
            <a:pPr>
              <a:spcAft>
                <a:spcPts val="1000"/>
              </a:spcAft>
            </a:pPr>
            <a:r>
              <a:rPr sz="2000">
                <a:solidFill>
                  <a:srgbClr val="222B33"/>
                </a:solidFill>
                <a:latin typeface="Microsoft YaHei"/>
              </a:rPr>
              <a:t>▪ 高级别防护须专门培训才能用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动力送风过滤式呼吸器（送风头罩，符合 GB 30864-2014，以现行文本为准）只保护呼吸道和头面部，防护服、手套等一样不能少，穿什么按风险评估和规程定（送风呼吸器的使用见第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戴了送风头罩就不穿防护服</a:t>
            </a:r>
          </a:p>
          <a:p>
            <a:pPr>
              <a:spcAft>
                <a:spcPts val="1000"/>
              </a:spcAft>
            </a:pPr>
            <a:r>
              <a:rPr sz="1500">
                <a:solidFill>
                  <a:srgbClr val="222B33"/>
                </a:solidFill>
                <a:latin typeface="Microsoft YaHei"/>
              </a:rPr>
              <a:t>▪ 未经培训使用高级别防护装备</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临床与诊断实验的常见防护组合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临床检验常规：隔离衣、手套、护目镜</a:t>
            </a:r>
          </a:p>
          <a:p>
            <a:pPr>
              <a:spcAft>
                <a:spcPts val="1000"/>
              </a:spcAft>
            </a:pPr>
            <a:r>
              <a:rPr sz="2000">
                <a:solidFill>
                  <a:srgbClr val="222B33"/>
                </a:solidFill>
                <a:latin typeface="Microsoft YaHei"/>
              </a:rPr>
              <a:t>▪ 呼吸道样本：防护口罩、护目、双层手套</a:t>
            </a:r>
          </a:p>
          <a:p>
            <a:pPr>
              <a:spcAft>
                <a:spcPts val="1000"/>
              </a:spcAft>
            </a:pPr>
            <a:r>
              <a:rPr sz="2000">
                <a:solidFill>
                  <a:srgbClr val="222B33"/>
                </a:solidFill>
                <a:latin typeface="Microsoft YaHei"/>
              </a:rPr>
              <a:t>▪ 具体组合按现行规定和风险评估定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高风险样本只按常规防护处理</a:t>
            </a:r>
          </a:p>
          <a:p>
            <a:pPr>
              <a:spcAft>
                <a:spcPts val="1000"/>
              </a:spcAft>
            </a:pPr>
            <a:r>
              <a:rPr sz="1500">
                <a:solidFill>
                  <a:srgbClr val="222B33"/>
                </a:solidFill>
                <a:latin typeface="Microsoft YaHei"/>
              </a:rPr>
              <a:t>▪ 照搬网上的防护组合，不看本单位规程</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合格产品，配齐尺码，用前检查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买合格产品，统一采购，登记入库</a:t>
            </a:r>
          </a:p>
          <a:p>
            <a:pPr>
              <a:spcAft>
                <a:spcPts val="1000"/>
              </a:spcAft>
            </a:pPr>
            <a:r>
              <a:rPr sz="2000">
                <a:solidFill>
                  <a:srgbClr val="222B33"/>
                </a:solidFill>
                <a:latin typeface="Microsoft YaHei"/>
              </a:rPr>
              <a:t>▪ 按人配齐，大小尺码都要有</a:t>
            </a:r>
          </a:p>
          <a:p>
            <a:pPr>
              <a:spcAft>
                <a:spcPts val="1000"/>
              </a:spcAft>
            </a:pPr>
            <a:r>
              <a:rPr sz="2000">
                <a:solidFill>
                  <a:srgbClr val="222B33"/>
                </a:solidFill>
                <a:latin typeface="Microsoft YaHei"/>
              </a:rPr>
              <a:t>▪ 戴前检查，破损马上换</a:t>
            </a:r>
          </a:p>
          <a:p>
            <a:pPr>
              <a:spcAft>
                <a:spcPts val="1000"/>
              </a:spcAft>
            </a:pPr>
            <a:r>
              <a:rPr sz="2000">
                <a:solidFill>
                  <a:srgbClr val="222B33"/>
                </a:solidFill>
                <a:latin typeface="Microsoft YaHei"/>
              </a:rPr>
              <a:t>▪ 看清有效期，过期不用，及时补充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防护用品要选合格产品：口罩、防护服、手套、护目镜各有国家标准，采购时看清执行标准、类别和有效期，由单位统一采购、登记入库。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尺码不合适也凑合着戴</a:t>
            </a:r>
          </a:p>
          <a:p>
            <a:pPr>
              <a:spcAft>
                <a:spcPts val="1000"/>
              </a:spcAft>
            </a:pPr>
            <a:r>
              <a:rPr sz="1500">
                <a:solidFill>
                  <a:srgbClr val="222B33"/>
                </a:solidFill>
                <a:latin typeface="Microsoft YaHei"/>
              </a:rPr>
              <a:t>▪ 使用过期的防护用品</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一次性不重复用，破损要报告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一次性用品用过就丢，不挂起来再穿</a:t>
            </a:r>
          </a:p>
          <a:p>
            <a:pPr>
              <a:spcAft>
                <a:spcPts val="1000"/>
              </a:spcAft>
            </a:pPr>
            <a:r>
              <a:rPr sz="2000">
                <a:solidFill>
                  <a:srgbClr val="222B33"/>
                </a:solidFill>
                <a:latin typeface="Microsoft YaHei"/>
              </a:rPr>
              <a:t>▪ 按感染性废物，灭菌后处置</a:t>
            </a:r>
          </a:p>
          <a:p>
            <a:pPr>
              <a:spcAft>
                <a:spcPts val="1000"/>
              </a:spcAft>
            </a:pPr>
            <a:r>
              <a:rPr sz="2000">
                <a:solidFill>
                  <a:srgbClr val="222B33"/>
                </a:solidFill>
                <a:latin typeface="Microsoft YaHei"/>
              </a:rPr>
              <a:t>▪ 防护服破了，记录上报，定期检查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一次性防护服、手套、口罩用过就丢，不能挂起来下次再穿。用后按感染性废物放进生物危害废物袋，按规程灭菌后处置（见第 077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一次性隔离衣挂在门后反复穿</a:t>
            </a:r>
          </a:p>
          <a:p>
            <a:pPr>
              <a:spcAft>
                <a:spcPts val="1000"/>
              </a:spcAft>
            </a:pPr>
            <a:r>
              <a:rPr sz="1500">
                <a:solidFill>
                  <a:srgbClr val="222B33"/>
                </a:solidFill>
                <a:latin typeface="Microsoft YaHei"/>
              </a:rPr>
              <a:t>▪ 防护服破了不报告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防护离不开管理：评估、培训、规程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先评估，再选择，再培训，照规程</a:t>
            </a:r>
          </a:p>
          <a:p>
            <a:pPr>
              <a:spcAft>
                <a:spcPts val="1000"/>
              </a:spcAft>
            </a:pPr>
            <a:r>
              <a:rPr sz="2000">
                <a:solidFill>
                  <a:srgbClr val="222B33"/>
                </a:solidFill>
                <a:latin typeface="Microsoft YaHei"/>
              </a:rPr>
              <a:t>▪ 穿和脱都要培训，按规程一步步来</a:t>
            </a:r>
          </a:p>
          <a:p>
            <a:pPr>
              <a:spcAft>
                <a:spcPts val="1000"/>
              </a:spcAft>
            </a:pPr>
            <a:r>
              <a:rPr sz="2000">
                <a:solidFill>
                  <a:srgbClr val="222B33"/>
                </a:solidFill>
                <a:latin typeface="Microsoft YaHei"/>
              </a:rPr>
              <a:t>▪ 头发束好，首饰摘掉，再穿防护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个人防护离不开管理：先充分评估风险，再选择防护用品，然后对人员进行培训，穿戴和脱卸都按规程一步步来，考核合格后才能独立操作（穿脱顺序见第 075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只发防护用品，不培训穿脱</a:t>
            </a:r>
          </a:p>
          <a:p>
            <a:pPr>
              <a:spcAft>
                <a:spcPts val="1000"/>
              </a:spcAft>
            </a:pPr>
            <a:r>
              <a:rPr sz="1500">
                <a:solidFill>
                  <a:srgbClr val="222B33"/>
                </a:solidFill>
                <a:latin typeface="Microsoft YaHei"/>
              </a:rPr>
              <a:t>▪ 戴着戒指、手链穿戴手套</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生物实验选个人防护装备，主要依据是：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个人感觉</a:t>
            </a:r>
          </a:p>
          <a:p>
            <a:pPr algn="l"/>
            <a:r>
              <a:rPr sz="1500" b="0">
                <a:solidFill>
                  <a:srgbClr val="222B33"/>
                </a:solidFill>
                <a:latin typeface="Microsoft YaHei"/>
              </a:rPr>
              <a:t>B. 风险评估：病原类别、侵入途径和具体操作</a:t>
            </a:r>
          </a:p>
          <a:p>
            <a:pPr algn="l"/>
            <a:r>
              <a:rPr sz="1500" b="0">
                <a:solidFill>
                  <a:srgbClr val="222B33"/>
                </a:solidFill>
                <a:latin typeface="Microsoft YaHei"/>
              </a:rPr>
              <a:t>C. 越多越安全</a:t>
            </a:r>
          </a:p>
          <a:p>
            <a:pPr algn="l"/>
            <a:r>
              <a:rPr sz="1500" b="0">
                <a:solidFill>
                  <a:srgbClr val="222B33"/>
                </a:solidFill>
                <a:latin typeface="Microsoft YaHei"/>
              </a:rPr>
              <a:t>D. 别人穿什么就穿什么</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判断：国内病原微生物分类中，第四类危害最高。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面屏可以代替口罩</a:t>
            </a:r>
          </a:p>
          <a:p>
            <a:pPr algn="l"/>
            <a:r>
              <a:rPr sz="1500" b="0">
                <a:solidFill>
                  <a:srgbClr val="222B33"/>
                </a:solidFill>
                <a:latin typeface="Microsoft YaHei"/>
              </a:rPr>
              <a:t>B. 医用外科口罩可防气溶胶，等同于医用防护口罩</a:t>
            </a:r>
          </a:p>
          <a:p>
            <a:pPr algn="l"/>
            <a:r>
              <a:rPr sz="1500" b="0">
                <a:solidFill>
                  <a:srgbClr val="222B33"/>
                </a:solidFill>
                <a:latin typeface="Microsoft YaHei"/>
              </a:rPr>
              <a:t>C. 面屏不防吸入，有气溶胶风险要同时戴合适的口罩</a:t>
            </a:r>
          </a:p>
          <a:p>
            <a:pPr algn="l"/>
            <a:r>
              <a:rPr sz="1500" b="0">
                <a:solidFill>
                  <a:srgbClr val="222B33"/>
                </a:solidFill>
                <a:latin typeface="Microsoft YaHei"/>
              </a:rPr>
              <a:t>D. 一次性口罩消毒后可重复使用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判断：处理感染性生物材料时可戴两层手套，外层污染后及时更换外层。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下列哪种做法错误？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手套盖住袖口</a:t>
            </a:r>
          </a:p>
          <a:p>
            <a:pPr algn="l"/>
            <a:r>
              <a:rPr sz="1500" b="0">
                <a:solidFill>
                  <a:srgbClr val="222B33"/>
                </a:solidFill>
                <a:latin typeface="Microsoft YaHei"/>
              </a:rPr>
              <a:t>B. 穿着隔离衣去办公室取资料</a:t>
            </a:r>
          </a:p>
          <a:p>
            <a:pPr algn="l"/>
            <a:r>
              <a:rPr sz="1500" b="0">
                <a:solidFill>
                  <a:srgbClr val="222B33"/>
                </a:solidFill>
                <a:latin typeface="Microsoft YaHei"/>
              </a:rPr>
              <a:t>C. 戴前检查手套</a:t>
            </a:r>
          </a:p>
          <a:p>
            <a:pPr algn="l"/>
            <a:r>
              <a:rPr sz="1500" b="0">
                <a:solidFill>
                  <a:srgbClr val="222B33"/>
                </a:solidFill>
                <a:latin typeface="Microsoft YaHei"/>
              </a:rPr>
              <a:t>D. 防护服破损记录上报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简答：戴了送风头罩，是否还需要穿防护服、戴手套？为什么？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个人防护是最后一道防线</a:t>
            </a:r>
          </a:p>
          <a:p>
            <a:pPr>
              <a:spcAft>
                <a:spcPts val="800"/>
              </a:spcAft>
            </a:pPr>
            <a:r>
              <a:rPr sz="1500">
                <a:solidFill>
                  <a:srgbClr val="FFFFFF"/>
                </a:solidFill>
                <a:latin typeface="Microsoft YaHei"/>
              </a:rPr>
              <a:t>▪ K2  按风险评估选，写进规程</a:t>
            </a:r>
          </a:p>
          <a:p>
            <a:pPr>
              <a:spcAft>
                <a:spcPts val="800"/>
              </a:spcAft>
            </a:pPr>
            <a:r>
              <a:rPr sz="1500">
                <a:solidFill>
                  <a:srgbClr val="FFFFFF"/>
                </a:solidFill>
                <a:latin typeface="Microsoft YaHei"/>
              </a:rPr>
              <a:t>▪ K3  三看：病原类别、侵入途径、具体操作</a:t>
            </a:r>
          </a:p>
          <a:p>
            <a:pPr>
              <a:spcAft>
                <a:spcPts val="800"/>
              </a:spcAft>
            </a:pPr>
            <a:r>
              <a:rPr sz="1500">
                <a:solidFill>
                  <a:srgbClr val="FFFFFF"/>
                </a:solidFill>
                <a:latin typeface="Microsoft YaHei"/>
              </a:rPr>
              <a:t>▪ K4  从头到脚，不留缺口</a:t>
            </a:r>
          </a:p>
          <a:p>
            <a:pPr>
              <a:spcAft>
                <a:spcPts val="800"/>
              </a:spcAft>
            </a:pPr>
            <a:r>
              <a:rPr sz="1500">
                <a:solidFill>
                  <a:srgbClr val="FFFFFF"/>
                </a:solidFill>
                <a:latin typeface="Microsoft YaHei"/>
              </a:rPr>
              <a:t>▪ K5  手套：生物材料可戴两层</a:t>
            </a:r>
          </a:p>
          <a:p>
            <a:pPr>
              <a:spcAft>
                <a:spcPts val="800"/>
              </a:spcAft>
            </a:pPr>
            <a:r>
              <a:rPr sz="1500">
                <a:solidFill>
                  <a:srgbClr val="FFFFFF"/>
                </a:solidFill>
                <a:latin typeface="Microsoft YaHei"/>
              </a:rPr>
              <a:t>▪ K6  隔离衣与防护服：挡飞溅，不出门</a:t>
            </a:r>
          </a:p>
          <a:p>
            <a:pPr>
              <a:spcAft>
                <a:spcPts val="800"/>
              </a:spcAft>
            </a:pPr>
            <a:r>
              <a:rPr sz="1500">
                <a:solidFill>
                  <a:srgbClr val="FFFFFF"/>
                </a:solidFill>
                <a:latin typeface="Microsoft YaHei"/>
              </a:rPr>
              <a:t>▪ K7  医用口罩与医用防护口罩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护目镜、面屏、口罩各管一处</a:t>
            </a:r>
          </a:p>
          <a:p>
            <a:pPr>
              <a:spcAft>
                <a:spcPts val="800"/>
              </a:spcAft>
            </a:pPr>
            <a:r>
              <a:rPr sz="1500">
                <a:solidFill>
                  <a:srgbClr val="FFFFFF"/>
                </a:solidFill>
                <a:latin typeface="Microsoft YaHei"/>
              </a:rPr>
              <a:t>▪ K9  送风头罩和正压防护服</a:t>
            </a:r>
          </a:p>
          <a:p>
            <a:pPr>
              <a:spcAft>
                <a:spcPts val="800"/>
              </a:spcAft>
            </a:pPr>
            <a:r>
              <a:rPr sz="1500">
                <a:solidFill>
                  <a:srgbClr val="FFFFFF"/>
                </a:solidFill>
                <a:latin typeface="Microsoft YaHei"/>
              </a:rPr>
              <a:t>▪ S1  临床与诊断实验的常见防护组合</a:t>
            </a:r>
          </a:p>
          <a:p>
            <a:pPr>
              <a:spcAft>
                <a:spcPts val="800"/>
              </a:spcAft>
            </a:pPr>
            <a:r>
              <a:rPr sz="1500">
                <a:solidFill>
                  <a:srgbClr val="FFFFFF"/>
                </a:solidFill>
                <a:latin typeface="Microsoft YaHei"/>
              </a:rPr>
              <a:t>▪ K10  合格产品，配齐尺码，用前检查</a:t>
            </a:r>
          </a:p>
          <a:p>
            <a:pPr>
              <a:spcAft>
                <a:spcPts val="800"/>
              </a:spcAft>
            </a:pPr>
            <a:r>
              <a:rPr sz="1500">
                <a:solidFill>
                  <a:srgbClr val="FFFFFF"/>
                </a:solidFill>
                <a:latin typeface="Microsoft YaHei"/>
              </a:rPr>
              <a:t>▪ K11  一次性不重复用，破损要报告</a:t>
            </a:r>
          </a:p>
          <a:p>
            <a:pPr>
              <a:spcAft>
                <a:spcPts val="800"/>
              </a:spcAft>
            </a:pPr>
            <a:r>
              <a:rPr sz="1500">
                <a:solidFill>
                  <a:srgbClr val="FFFFFF"/>
                </a:solidFill>
                <a:latin typeface="Microsoft YaHei"/>
              </a:rPr>
              <a:t>▪ K12  防护离不开管理：评估、培训、规程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防护装备的穿戴与脱卸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74 镜）　适用对象：进入生物安全实验室、临床检验或病原微生物实验区的高校本科生、研究生和教职工（必修，须经穿脱演练考核）；实验室负责人和生物安全员重点学习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能做到穿前准备（摘首饰、个人物品留门外、束长发、检查装备），在穿戴区按顺序穿戴：手卫生→帽子→口罩→护目镜/面屏→隔离衣→手套（以本单位 SOP 为准）。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能做到手套盖住袖口、口罩压紧鼻夹、面屏遮全脸、隔离衣系活结，按需戴双层手套，穿完对镜自查、同伴互查。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能做到在脱卸区从最脏到最干净脱卸：先摘手套（翻脱法）→手卫生→摘面屏/护目镜→脱隔离衣（外面朝里卷）→摘口罩→洗手，全程不自我污染。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能说出送风头罩“先开机有风再戴、摘下后再关机”的要求，以及脱卸方法须统一写进本实验室规程。</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《病原微生物实验室生物安全管理条例》（以现行文本为准）：实验人员按标准操作规程使用个人防护用品并接受培训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生物安全通用要求》：个体防护装备的穿戴和脱卸程序、防护区出入要求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233（以现行文本为准）《病原微生物实验室生物安全通用准则》：个人防护和实验室操作规范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311-2023（以现行文本为准）《医院隔离技术标准》：防护用品穿脱顺序和方法（临床实验室参照）</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313-2019（以现行文本为准）《医务人员手卫生规范》：洗手与卫生手消毒的时机和方法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19082-2023、GB 19083-2023（以现行文本为准）：医用一次性防护服、医用防护口罩技术要求</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本校生物安全实验室管理规定和本实验室个人防护装备穿脱标准操作规程（以本校规定为准）</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穿前准备：摘首饰、物品留门外、束长发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首饰、手表先摘下</a:t>
            </a:r>
          </a:p>
          <a:p>
            <a:pPr>
              <a:spcAft>
                <a:spcPts val="1000"/>
              </a:spcAft>
            </a:pPr>
            <a:r>
              <a:rPr sz="2000">
                <a:solidFill>
                  <a:srgbClr val="222B33"/>
                </a:solidFill>
                <a:latin typeface="Microsoft YaHei"/>
              </a:rPr>
              <a:t>▪ 手机、外套、包、笔留在实验室外</a:t>
            </a:r>
          </a:p>
          <a:p>
            <a:pPr>
              <a:spcAft>
                <a:spcPts val="1000"/>
              </a:spcAft>
            </a:pPr>
            <a:r>
              <a:rPr sz="2000">
                <a:solidFill>
                  <a:srgbClr val="222B33"/>
                </a:solidFill>
                <a:latin typeface="Microsoft YaHei"/>
              </a:rPr>
              <a:t>▪ 长发束起来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穿戴防护装备前先做准备：摘下戒指、手链、手表等首饰，它们会戳破手套、藏污纳垢，也让手套戴不服帖。手机、外套、包和笔等个人物品放在实验室外的储物柜里，不带进实验区（着装和个人物品要求见第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戴着戒指、手表戴手套</a:t>
            </a:r>
          </a:p>
          <a:p>
            <a:pPr>
              <a:spcAft>
                <a:spcPts val="1000"/>
              </a:spcAft>
            </a:pPr>
            <a:r>
              <a:rPr sz="1500">
                <a:solidFill>
                  <a:srgbClr val="222B33"/>
                </a:solidFill>
                <a:latin typeface="Microsoft YaHei"/>
              </a:rPr>
              <a:t>▪ 把手机揣在隔离衣里带进实验区</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备齐装备，合身无破损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常规操作：实验服、护目镜、手套</a:t>
            </a:r>
          </a:p>
          <a:p>
            <a:pPr>
              <a:spcAft>
                <a:spcPts val="1000"/>
              </a:spcAft>
            </a:pPr>
            <a:r>
              <a:rPr sz="2000">
                <a:solidFill>
                  <a:srgbClr val="222B33"/>
                </a:solidFill>
                <a:latin typeface="Microsoft YaHei"/>
              </a:rPr>
              <a:t>▪ 有飞溅风险：加隔离衣、口罩、面屏</a:t>
            </a:r>
          </a:p>
          <a:p>
            <a:pPr>
              <a:spcAft>
                <a:spcPts val="1000"/>
              </a:spcAft>
            </a:pPr>
            <a:r>
              <a:rPr sz="2000">
                <a:solidFill>
                  <a:srgbClr val="222B33"/>
                </a:solidFill>
                <a:latin typeface="Microsoft YaHei"/>
              </a:rPr>
              <a:t>▪ 隔离衣前襟完整、后开、袖口收紧</a:t>
            </a:r>
          </a:p>
          <a:p>
            <a:pPr>
              <a:spcAft>
                <a:spcPts val="1000"/>
              </a:spcAft>
            </a:pPr>
            <a:r>
              <a:rPr sz="2000">
                <a:solidFill>
                  <a:srgbClr val="222B33"/>
                </a:solidFill>
                <a:latin typeface="Microsoft YaHei"/>
              </a:rPr>
              <a:t>▪ 穿前查破洞、撕裂、系带，坏了就换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按风险评估备齐本次要用的装备（选择见第 074 课）。常规操作的基本装备是紧袖口的实验服、手套和带侧护的护目镜；有飞沫、飞溅风险时，换穿隔离衣，加戴口罩和面屏。隔离衣应前襟完整、后开、袖口收紧（针织或松紧袖口）。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不检查就穿，进去后才发现破洞</a:t>
            </a:r>
          </a:p>
          <a:p>
            <a:pPr>
              <a:spcAft>
                <a:spcPts val="1000"/>
              </a:spcAft>
            </a:pPr>
            <a:r>
              <a:rPr sz="1500">
                <a:solidFill>
                  <a:srgbClr val="222B33"/>
                </a:solidFill>
                <a:latin typeface="Microsoft YaHei"/>
              </a:rPr>
              <a:t>▪ 尺码不合适也凑合着穿</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穿脱分区，在缓冲间穿好再进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穿戴区和脱卸区分开</a:t>
            </a:r>
          </a:p>
          <a:p>
            <a:pPr>
              <a:spcAft>
                <a:spcPts val="1000"/>
              </a:spcAft>
            </a:pPr>
            <a:r>
              <a:rPr sz="2000">
                <a:solidFill>
                  <a:srgbClr val="222B33"/>
                </a:solidFill>
                <a:latin typeface="Microsoft YaHei"/>
              </a:rPr>
              <a:t>▪ 免得脏防护用品沾到干净物品</a:t>
            </a:r>
          </a:p>
          <a:p>
            <a:pPr>
              <a:spcAft>
                <a:spcPts val="1000"/>
              </a:spcAft>
            </a:pPr>
            <a:r>
              <a:rPr sz="2000">
                <a:solidFill>
                  <a:srgbClr val="222B33"/>
                </a:solidFill>
                <a:latin typeface="Microsoft YaHei"/>
              </a:rPr>
              <a:t>▪ 在缓冲间穿好，确认无误再进门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穿戴区和脱卸区要分开设置，避免脱下的污染防护用品碰到干净的衣物和装备。有缓冲间的实验室，防护装备备齐在缓冲间，进去前在这里穿，出来在这里脱。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在走廊里穿脱防护用品</a:t>
            </a:r>
          </a:p>
          <a:p>
            <a:pPr>
              <a:spcAft>
                <a:spcPts val="1000"/>
              </a:spcAft>
            </a:pPr>
            <a:r>
              <a:rPr sz="1500">
                <a:solidFill>
                  <a:srgbClr val="222B33"/>
                </a:solidFill>
                <a:latin typeface="Microsoft YaHei"/>
              </a:rPr>
              <a:t>▪ 脱下的隔离衣扔在干净衣物旁</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穿戴顺序：口罩护目在前，手套最后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穿前先做手卫生</a:t>
            </a:r>
          </a:p>
          <a:p>
            <a:pPr>
              <a:spcAft>
                <a:spcPts val="1000"/>
              </a:spcAft>
            </a:pPr>
            <a:r>
              <a:rPr sz="2000">
                <a:solidFill>
                  <a:srgbClr val="222B33"/>
                </a:solidFill>
                <a:latin typeface="Microsoft YaHei"/>
              </a:rPr>
              <a:t>▪ 常用：帽子、口罩、护目镜、隔离衣、手套</a:t>
            </a:r>
          </a:p>
          <a:p>
            <a:pPr>
              <a:spcAft>
                <a:spcPts val="1000"/>
              </a:spcAft>
            </a:pPr>
            <a:r>
              <a:rPr sz="2000">
                <a:solidFill>
                  <a:srgbClr val="222B33"/>
                </a:solidFill>
                <a:latin typeface="Microsoft YaHei"/>
              </a:rPr>
              <a:t>▪ 基本三件：实验服、护目镜、手套</a:t>
            </a:r>
          </a:p>
          <a:p>
            <a:pPr>
              <a:spcAft>
                <a:spcPts val="1000"/>
              </a:spcAft>
            </a:pPr>
            <a:r>
              <a:rPr sz="2000">
                <a:solidFill>
                  <a:srgbClr val="222B33"/>
                </a:solidFill>
                <a:latin typeface="Microsoft YaHei"/>
              </a:rPr>
              <a:t>▪ 手套最后戴，以本单位规程为准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穿戴顺序贴在穿戴区墙上，照着做。国内常用的顺序是：手卫生→戴帽子→戴口罩（医用防护口罩做密合性检查）→戴护目镜或面屏→穿隔离衣（或防护服）→戴手套。只穿基本三件时：扣好实验服→戴护目镜→戴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先戴手套再穿隔离衣、戴口罩</a:t>
            </a:r>
          </a:p>
          <a:p>
            <a:pPr>
              <a:spcAft>
                <a:spcPts val="1000"/>
              </a:spcAft>
            </a:pPr>
            <a:r>
              <a:rPr sz="1500">
                <a:solidFill>
                  <a:srgbClr val="222B33"/>
                </a:solidFill>
                <a:latin typeface="Microsoft YaHei"/>
              </a:rPr>
              <a:t>▪ 不看流程图，凭记忆随意穿</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口罩：压鼻夹，贴紧鼻梁面颊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耳挂挂在耳后，金属鼻夹朝上</a:t>
            </a:r>
          </a:p>
          <a:p>
            <a:pPr>
              <a:spcAft>
                <a:spcPts val="1000"/>
              </a:spcAft>
            </a:pPr>
            <a:r>
              <a:rPr sz="2000">
                <a:solidFill>
                  <a:srgbClr val="222B33"/>
                </a:solidFill>
                <a:latin typeface="Microsoft YaHei"/>
              </a:rPr>
              <a:t>▪ 双手食指按压鼻夹两侧</a:t>
            </a:r>
          </a:p>
          <a:p>
            <a:pPr>
              <a:spcAft>
                <a:spcPts val="1000"/>
              </a:spcAft>
            </a:pPr>
            <a:r>
              <a:rPr sz="2000">
                <a:solidFill>
                  <a:srgbClr val="222B33"/>
                </a:solidFill>
                <a:latin typeface="Microsoft YaHei"/>
              </a:rPr>
              <a:t>▪ 上缘贴紧鼻梁和面颊</a:t>
            </a:r>
          </a:p>
          <a:p>
            <a:pPr>
              <a:spcAft>
                <a:spcPts val="1000"/>
              </a:spcAft>
            </a:pPr>
            <a:r>
              <a:rPr sz="2000">
                <a:solidFill>
                  <a:srgbClr val="222B33"/>
                </a:solidFill>
                <a:latin typeface="Microsoft YaHei"/>
              </a:rPr>
              <a:t>▪ 医用防护口罩每次戴好查密合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戴医用口罩：把耳挂挂在耳后，鼻夹一侧朝上，用双手食指从中间向两侧按压鼻夹，让口罩上缘贴紧鼻梁和面颊，再把口罩下缘拉到下巴下方。不要用单手捏鼻夹，会捏出尖角漏气。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鼻夹不压，鼻梁两侧漏气</a:t>
            </a:r>
          </a:p>
          <a:p>
            <a:pPr>
              <a:spcAft>
                <a:spcPts val="1000"/>
              </a:spcAft>
            </a:pPr>
            <a:r>
              <a:rPr sz="1500">
                <a:solidFill>
                  <a:srgbClr val="222B33"/>
                </a:solidFill>
                <a:latin typeface="Microsoft YaHei"/>
              </a:rPr>
              <a:t>▪ 口罩只遮嘴不遮鼻</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面屏：盖住前额、下巴和两侧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拉开弹力头带，套到脑后</a:t>
            </a:r>
          </a:p>
          <a:p>
            <a:pPr>
              <a:spcAft>
                <a:spcPts val="1000"/>
              </a:spcAft>
            </a:pPr>
            <a:r>
              <a:rPr sz="2000">
                <a:solidFill>
                  <a:srgbClr val="222B33"/>
                </a:solidFill>
                <a:latin typeface="Microsoft YaHei"/>
              </a:rPr>
              <a:t>▪ 海绵贴在眉毛上方</a:t>
            </a:r>
          </a:p>
          <a:p>
            <a:pPr>
              <a:spcAft>
                <a:spcPts val="1000"/>
              </a:spcAft>
            </a:pPr>
            <a:r>
              <a:rPr sz="2000">
                <a:solidFill>
                  <a:srgbClr val="222B33"/>
                </a:solidFill>
                <a:latin typeface="Microsoft YaHei"/>
              </a:rPr>
              <a:t>▪ 盖住前额，过下巴，包住两侧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戴面屏：先拉开弹力头带，套到脑后，海绵衬垫贴在眉毛上方的额头。戴好后面屏要盖住前额、下缘过下巴、两侧包住面颊。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面屏太短，下巴露在外面</a:t>
            </a:r>
          </a:p>
          <a:p>
            <a:pPr>
              <a:spcAft>
                <a:spcPts val="1000"/>
              </a:spcAft>
            </a:pPr>
            <a:r>
              <a:rPr sz="1500">
                <a:solidFill>
                  <a:srgbClr val="222B33"/>
                </a:solidFill>
                <a:latin typeface="Microsoft YaHei"/>
              </a:rPr>
              <a:t>▪ 护目镜压在口罩上缘造成漏气</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隔离衣：系活结，遮住日常衣物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颈后、腰后系好带子</a:t>
            </a:r>
          </a:p>
          <a:p>
            <a:pPr>
              <a:spcAft>
                <a:spcPts val="1000"/>
              </a:spcAft>
            </a:pPr>
            <a:r>
              <a:rPr sz="2000">
                <a:solidFill>
                  <a:srgbClr val="222B33"/>
                </a:solidFill>
                <a:latin typeface="Microsoft YaHei"/>
              </a:rPr>
              <a:t>▪ 系活结，别打死结、别勒太紧</a:t>
            </a:r>
          </a:p>
          <a:p>
            <a:pPr>
              <a:spcAft>
                <a:spcPts val="1000"/>
              </a:spcAft>
            </a:pPr>
            <a:r>
              <a:rPr sz="2000">
                <a:solidFill>
                  <a:srgbClr val="222B33"/>
                </a:solidFill>
                <a:latin typeface="Microsoft YaHei"/>
              </a:rPr>
              <a:t>▪ 合身好活动，日常衣物不外露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穿隔离衣：手臂伸进袖子，把衣服拉到肩上，在颈后系好领口的带子，腰带在背后或侧面系上。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腰带打死结，脱时解不开</a:t>
            </a:r>
          </a:p>
          <a:p>
            <a:pPr>
              <a:spcAft>
                <a:spcPts val="1000"/>
              </a:spcAft>
            </a:pPr>
            <a:r>
              <a:rPr sz="1500">
                <a:solidFill>
                  <a:srgbClr val="222B33"/>
                </a:solidFill>
                <a:latin typeface="Microsoft YaHei"/>
              </a:rPr>
              <a:t>▪ 隔离衣太小，后背敞开</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手套套在袖口外，手腕封严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最后戴手套，先把袖口拉到掌心</a:t>
            </a:r>
          </a:p>
          <a:p>
            <a:pPr>
              <a:spcAft>
                <a:spcPts val="1000"/>
              </a:spcAft>
            </a:pPr>
            <a:r>
              <a:rPr sz="2000">
                <a:solidFill>
                  <a:srgbClr val="222B33"/>
                </a:solidFill>
                <a:latin typeface="Microsoft YaHei"/>
              </a:rPr>
              <a:t>▪ 手套套在袖口外面，不是塞进袖子</a:t>
            </a:r>
          </a:p>
          <a:p>
            <a:pPr>
              <a:spcAft>
                <a:spcPts val="1000"/>
              </a:spcAft>
            </a:pPr>
            <a:r>
              <a:rPr sz="2000">
                <a:solidFill>
                  <a:srgbClr val="222B33"/>
                </a:solidFill>
                <a:latin typeface="Microsoft YaHei"/>
              </a:rPr>
              <a:t>▪ 穿连体服的，手腕缝隙按规程封严</a:t>
            </a:r>
          </a:p>
          <a:p>
            <a:pPr>
              <a:spcAft>
                <a:spcPts val="1000"/>
              </a:spcAft>
            </a:pPr>
            <a:r>
              <a:rPr sz="2000">
                <a:solidFill>
                  <a:srgbClr val="222B33"/>
                </a:solidFill>
                <a:latin typeface="Microsoft YaHei"/>
              </a:rPr>
              <a:t>▪ 开工前再查一遍手套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最后戴手套：先把隔离衣袖口拉到掌心，再把手套口拉起，套在袖口外面，而不是塞进袖子里。这样袖子不会滑出来，袖口也不会沾上污染。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手套塞在袖子里，手腕露出</a:t>
            </a:r>
          </a:p>
          <a:p>
            <a:pPr>
              <a:spcAft>
                <a:spcPts val="1000"/>
              </a:spcAft>
            </a:pPr>
            <a:r>
              <a:rPr sz="1500">
                <a:solidFill>
                  <a:srgbClr val="222B33"/>
                </a:solidFill>
                <a:latin typeface="Microsoft YaHei"/>
              </a:rPr>
              <a:t>▪ 戴好手套后不再检查</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双层手套：外层脏了换外层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风险较高时戴两层，外层最后戴</a:t>
            </a:r>
          </a:p>
          <a:p>
            <a:pPr>
              <a:spcAft>
                <a:spcPts val="1000"/>
              </a:spcAft>
            </a:pPr>
            <a:r>
              <a:rPr sz="2000">
                <a:solidFill>
                  <a:srgbClr val="222B33"/>
                </a:solidFill>
                <a:latin typeface="Microsoft YaHei"/>
              </a:rPr>
              <a:t>▪ 外层脏了在实验室内只换外层</a:t>
            </a:r>
          </a:p>
          <a:p>
            <a:pPr>
              <a:spcAft>
                <a:spcPts val="1000"/>
              </a:spcAft>
            </a:pPr>
            <a:r>
              <a:rPr sz="2000">
                <a:solidFill>
                  <a:srgbClr val="222B33"/>
                </a:solidFill>
                <a:latin typeface="Microsoft YaHei"/>
              </a:rPr>
              <a:t>▪ 手套破了立即换，手消毒后戴新的</a:t>
            </a:r>
          </a:p>
          <a:p>
            <a:pPr>
              <a:spcAft>
                <a:spcPts val="1000"/>
              </a:spcAft>
            </a:pPr>
            <a:r>
              <a:rPr sz="2000">
                <a:solidFill>
                  <a:srgbClr val="222B33"/>
                </a:solidFill>
                <a:latin typeface="Microsoft YaHei"/>
              </a:rPr>
              <a:t>▪ 手破皮按暴露处理并报告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风险较高时，按规程戴双层手套：内层盖住袖口，最后再戴一层外手套。外层沾上污染，在实验室内（或生物安全柜内）脱掉外层，换上新的，内层一直护着手。戴几层、怎么脱，按本实验室规程执行。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外层污染了不换，继续操作</a:t>
            </a:r>
          </a:p>
          <a:p>
            <a:pPr>
              <a:spcAft>
                <a:spcPts val="1000"/>
              </a:spcAft>
            </a:pPr>
            <a:r>
              <a:rPr sz="1500">
                <a:solidFill>
                  <a:srgbClr val="222B33"/>
                </a:solidFill>
                <a:latin typeface="Microsoft YaHei"/>
              </a:rPr>
              <a:t>▪ 手套破了草草换掉，不检查皮肤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送风头罩：先系腰带、接好线、调头箍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穿戴顺序照规程，电池先挂好</a:t>
            </a:r>
          </a:p>
          <a:p>
            <a:pPr>
              <a:spcAft>
                <a:spcPts val="1000"/>
              </a:spcAft>
            </a:pPr>
            <a:r>
              <a:rPr sz="2000">
                <a:solidFill>
                  <a:srgbClr val="222B33"/>
                </a:solidFill>
                <a:latin typeface="Microsoft YaHei"/>
              </a:rPr>
              <a:t>▪ 第一步先系好腰带，调好松紧</a:t>
            </a:r>
          </a:p>
          <a:p>
            <a:pPr>
              <a:spcAft>
                <a:spcPts val="1000"/>
              </a:spcAft>
            </a:pPr>
            <a:r>
              <a:rPr sz="2000">
                <a:solidFill>
                  <a:srgbClr val="222B33"/>
                </a:solidFill>
                <a:latin typeface="Microsoft YaHei"/>
              </a:rPr>
              <a:t>▪ 穿上防护服就够不着腰带了</a:t>
            </a:r>
          </a:p>
          <a:p>
            <a:pPr>
              <a:spcAft>
                <a:spcPts val="1000"/>
              </a:spcAft>
            </a:pPr>
            <a:r>
              <a:rPr sz="2000">
                <a:solidFill>
                  <a:srgbClr val="222B33"/>
                </a:solidFill>
                <a:latin typeface="Microsoft YaHei"/>
              </a:rPr>
              <a:t>▪ 导线插紧拧牢，头箍调到贴额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使用动力送风过滤式呼吸器（送风头罩）时，穿戴顺序写在规程里，照规程做。第一步先把装有风机和电池的腰带系好、调好松紧：穿上防护服以后就够不着了。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先穿防护服再找腰带</a:t>
            </a:r>
          </a:p>
          <a:p>
            <a:pPr>
              <a:spcAft>
                <a:spcPts val="1000"/>
              </a:spcAft>
            </a:pPr>
            <a:r>
              <a:rPr sz="1500">
                <a:solidFill>
                  <a:srgbClr val="222B33"/>
                </a:solidFill>
                <a:latin typeface="Microsoft YaHei"/>
              </a:rPr>
              <a:t>▪ 导管没拧紧就戴上</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先开机有风再戴，披肩收进防护服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戴之前一定先开机，有风再戴</a:t>
            </a:r>
          </a:p>
          <a:p>
            <a:pPr>
              <a:spcAft>
                <a:spcPts val="1000"/>
              </a:spcAft>
            </a:pPr>
            <a:r>
              <a:rPr sz="2000">
                <a:solidFill>
                  <a:srgbClr val="222B33"/>
                </a:solidFill>
                <a:latin typeface="Microsoft YaHei"/>
              </a:rPr>
              <a:t>▪ 不送风就戴会憋闷，有窒息危险</a:t>
            </a:r>
          </a:p>
          <a:p>
            <a:pPr>
              <a:spcAft>
                <a:spcPts val="1000"/>
              </a:spcAft>
            </a:pPr>
            <a:r>
              <a:rPr sz="2000">
                <a:solidFill>
                  <a:srgbClr val="222B33"/>
                </a:solidFill>
                <a:latin typeface="Microsoft YaHei"/>
              </a:rPr>
              <a:t>▪ 风机转着戴上，披肩拉平不卷边</a:t>
            </a:r>
          </a:p>
          <a:p>
            <a:pPr>
              <a:spcAft>
                <a:spcPts val="1000"/>
              </a:spcAft>
            </a:pPr>
            <a:r>
              <a:rPr sz="2000">
                <a:solidFill>
                  <a:srgbClr val="222B33"/>
                </a:solidFill>
                <a:latin typeface="Microsoft YaHei"/>
              </a:rPr>
              <a:t>▪ 披肩管线收进防护服；指示灯全亮再进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戴头罩之前一定先开机，伸手在头罩里感觉一下，确认有风送进来再戴；不送风就戴上，会憋闷，有窒息危险。顺序不能反。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不开机就戴上头罩</a:t>
            </a:r>
          </a:p>
          <a:p>
            <a:pPr>
              <a:spcAft>
                <a:spcPts val="1000"/>
              </a:spcAft>
            </a:pPr>
            <a:r>
              <a:rPr sz="1500">
                <a:solidFill>
                  <a:srgbClr val="222B33"/>
                </a:solidFill>
                <a:latin typeface="Microsoft YaHei"/>
              </a:rPr>
              <a:t>▪ 披肩卷边或露在防护服外</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照镜自查，同伴互查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穿完照镜子：头面、拉链、手腕、脚下</a:t>
            </a:r>
          </a:p>
          <a:p>
            <a:pPr>
              <a:spcAft>
                <a:spcPts val="1000"/>
              </a:spcAft>
            </a:pPr>
            <a:r>
              <a:rPr sz="2000">
                <a:solidFill>
                  <a:srgbClr val="222B33"/>
                </a:solidFill>
                <a:latin typeface="Microsoft YaHei"/>
              </a:rPr>
              <a:t>▪ 镜子看不到背后，请同伴互查</a:t>
            </a:r>
          </a:p>
          <a:p>
            <a:pPr>
              <a:spcAft>
                <a:spcPts val="1000"/>
              </a:spcAft>
            </a:pPr>
            <a:r>
              <a:rPr sz="2000">
                <a:solidFill>
                  <a:srgbClr val="222B33"/>
                </a:solidFill>
                <a:latin typeface="Microsoft YaHei"/>
              </a:rPr>
              <a:t>▪ 先练熟、经考核，再进实验室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穿完对着镜子逐一检查：头罩或帽子、口罩、护目镜或面屏、拉链和系带、手腕处的手套、脚下的鞋套，有没有缺口和卷边。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穿完不检查直接进门</a:t>
            </a:r>
          </a:p>
          <a:p>
            <a:pPr>
              <a:spcAft>
                <a:spcPts val="1000"/>
              </a:spcAft>
            </a:pPr>
            <a:r>
              <a:rPr sz="1500">
                <a:solidFill>
                  <a:srgbClr val="222B33"/>
                </a:solidFill>
                <a:latin typeface="Microsoft YaHei"/>
              </a:rPr>
              <a:t>▪ 只看正面，后背敞开不知道</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脱卸原则：从最脏到最干净，方法写进规程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脱卸从最脏的开始，到最干净的结束</a:t>
            </a:r>
          </a:p>
          <a:p>
            <a:pPr>
              <a:spcAft>
                <a:spcPts val="1000"/>
              </a:spcAft>
            </a:pPr>
            <a:r>
              <a:rPr sz="2000">
                <a:solidFill>
                  <a:srgbClr val="222B33"/>
                </a:solidFill>
                <a:latin typeface="Microsoft YaHei"/>
              </a:rPr>
              <a:t>▪ 常用：手套、手消毒、护目、隔离衣、口罩</a:t>
            </a:r>
          </a:p>
          <a:p>
            <a:pPr>
              <a:spcAft>
                <a:spcPts val="1000"/>
              </a:spcAft>
            </a:pPr>
            <a:r>
              <a:rPr sz="2000">
                <a:solidFill>
                  <a:srgbClr val="222B33"/>
                </a:solidFill>
                <a:latin typeface="Microsoft YaHei"/>
              </a:rPr>
              <a:t>▪ 一件一件脱，脏面朝里，别碰身上</a:t>
            </a:r>
          </a:p>
          <a:p>
            <a:pPr>
              <a:spcAft>
                <a:spcPts val="1000"/>
              </a:spcAft>
            </a:pPr>
            <a:r>
              <a:rPr sz="2000">
                <a:solidFill>
                  <a:srgbClr val="222B33"/>
                </a:solidFill>
                <a:latin typeface="Microsoft YaHei"/>
              </a:rPr>
              <a:t>▪ 脱法选定一种，写进规程统一做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先摘口罩再脱手套</a:t>
            </a:r>
          </a:p>
          <a:p>
            <a:pPr>
              <a:spcAft>
                <a:spcPts val="1000"/>
              </a:spcAft>
            </a:pPr>
            <a:r>
              <a:rPr sz="1500">
                <a:solidFill>
                  <a:srgbClr val="222B33"/>
                </a:solidFill>
                <a:latin typeface="Microsoft YaHei"/>
              </a:rPr>
              <a:t>▪ 每个人脱法各不相同</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先摘手套：翻着脱，外面不碰皮肤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动作慢而轻，捏住腕部外侧</a:t>
            </a:r>
          </a:p>
          <a:p>
            <a:pPr>
              <a:spcAft>
                <a:spcPts val="1000"/>
              </a:spcAft>
            </a:pPr>
            <a:r>
              <a:rPr sz="2000">
                <a:solidFill>
                  <a:srgbClr val="222B33"/>
                </a:solidFill>
                <a:latin typeface="Microsoft YaHei"/>
              </a:rPr>
              <a:t>▪ 整只拉下翻过来，握在另一手心</a:t>
            </a:r>
          </a:p>
          <a:p>
            <a:pPr>
              <a:spcAft>
                <a:spcPts val="1000"/>
              </a:spcAft>
            </a:pPr>
            <a:r>
              <a:rPr sz="2000">
                <a:solidFill>
                  <a:srgbClr val="222B33"/>
                </a:solidFill>
                <a:latin typeface="Microsoft YaHei"/>
              </a:rPr>
              <a:t>▪ 裸手从内侧伸进，翻下包成一团</a:t>
            </a:r>
          </a:p>
          <a:p>
            <a:pPr>
              <a:spcAft>
                <a:spcPts val="1000"/>
              </a:spcAft>
            </a:pPr>
            <a:r>
              <a:rPr sz="2000">
                <a:solidFill>
                  <a:srgbClr val="222B33"/>
                </a:solidFill>
                <a:latin typeface="Microsoft YaHei"/>
              </a:rPr>
              <a:t>▪ 裸手不碰外面；丢弃，不重复用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捏着指尖把手套拽下来</a:t>
            </a:r>
          </a:p>
          <a:p>
            <a:pPr>
              <a:spcAft>
                <a:spcPts val="1000"/>
              </a:spcAft>
            </a:pPr>
            <a:r>
              <a:rPr sz="1500">
                <a:solidFill>
                  <a:srgbClr val="222B33"/>
                </a:solidFill>
                <a:latin typeface="Microsoft YaHei"/>
              </a:rPr>
              <a:t>▪ 摘下的手套随手放在台面上</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摘手套后先手消毒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摘完手套，先做手卫生</a:t>
            </a:r>
          </a:p>
          <a:p>
            <a:pPr>
              <a:spcAft>
                <a:spcPts val="1000"/>
              </a:spcAft>
            </a:pPr>
            <a:r>
              <a:rPr sz="2000">
                <a:solidFill>
                  <a:srgbClr val="222B33"/>
                </a:solidFill>
                <a:latin typeface="Microsoft YaHei"/>
              </a:rPr>
              <a:t>▪ 按规程手消毒或洗手</a:t>
            </a:r>
          </a:p>
          <a:p>
            <a:pPr>
              <a:spcAft>
                <a:spcPts val="1000"/>
              </a:spcAft>
            </a:pPr>
            <a:r>
              <a:rPr sz="2000">
                <a:solidFill>
                  <a:srgbClr val="222B33"/>
                </a:solidFill>
                <a:latin typeface="Microsoft YaHei"/>
              </a:rPr>
              <a:t>▪ 有的规程换一副干净手套再继续脱</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摘下手套后，手上可能已沾上看不见的污染，要先做手卫生：用速干手消毒剂揉搓双手，或洗手；有的规程要求换戴一副干净手套再继续脱其他防护用品。按本实验室规程执行，再脱下一件。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摘了手套直接用手去摘面屏、口罩</a:t>
            </a:r>
          </a:p>
          <a:p>
            <a:pPr>
              <a:spcAft>
                <a:spcPts val="1000"/>
              </a:spcAft>
            </a:pPr>
            <a:r>
              <a:rPr sz="1500">
                <a:solidFill>
                  <a:srgbClr val="222B33"/>
                </a:solidFill>
                <a:latin typeface="Microsoft YaHei"/>
              </a:rPr>
              <a:t>▪ 手消毒剂只抹一下手心</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摘面屏、护目镜：捏头带和镜腿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头稍前倾，捏耳上方头带轻轻提起</a:t>
            </a:r>
          </a:p>
          <a:p>
            <a:pPr>
              <a:spcAft>
                <a:spcPts val="1000"/>
              </a:spcAft>
            </a:pPr>
            <a:r>
              <a:rPr sz="2000">
                <a:solidFill>
                  <a:srgbClr val="222B33"/>
                </a:solidFill>
                <a:latin typeface="Microsoft YaHei"/>
              </a:rPr>
              <a:t>▪ 别碰前片，一次性的丢进废物袋</a:t>
            </a:r>
          </a:p>
          <a:p>
            <a:pPr>
              <a:spcAft>
                <a:spcPts val="1000"/>
              </a:spcAft>
            </a:pPr>
            <a:r>
              <a:rPr sz="2000">
                <a:solidFill>
                  <a:srgbClr val="222B33"/>
                </a:solidFill>
                <a:latin typeface="Microsoft YaHei"/>
              </a:rPr>
              <a:t>▪ 护目镜捏镜腿摘，放指定处统一消毒</a:t>
            </a:r>
          </a:p>
          <a:p>
            <a:pPr>
              <a:spcAft>
                <a:spcPts val="1000"/>
              </a:spcAft>
            </a:pPr>
            <a:r>
              <a:rPr sz="2000">
                <a:solidFill>
                  <a:srgbClr val="222B33"/>
                </a:solidFill>
                <a:latin typeface="Microsoft YaHei"/>
              </a:rPr>
              <a:t>▪ 清洁护目镜也要戴手套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摘面屏：头稍向前倾，捏住耳朵上方的头带，轻轻提起离开面部；面屏前片可能有污染，不要碰。一次性面屏丢进感染性废物容器。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抓着面屏前片摘下</a:t>
            </a:r>
          </a:p>
          <a:p>
            <a:pPr>
              <a:spcAft>
                <a:spcPts val="1000"/>
              </a:spcAft>
            </a:pPr>
            <a:r>
              <a:rPr sz="1500">
                <a:solidFill>
                  <a:srgbClr val="222B33"/>
                </a:solidFill>
                <a:latin typeface="Microsoft YaHei"/>
              </a:rPr>
              <a:t>▪ 护目镜摘下随手放在桌上</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脱隔离衣、实验服：外面朝里卷起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解腰带，抓两肩往前拉，松开领口</a:t>
            </a:r>
          </a:p>
          <a:p>
            <a:pPr>
              <a:spcAft>
                <a:spcPts val="1000"/>
              </a:spcAft>
            </a:pPr>
            <a:r>
              <a:rPr sz="2000">
                <a:solidFill>
                  <a:srgbClr val="222B33"/>
                </a:solidFill>
                <a:latin typeface="Microsoft YaHei"/>
              </a:rPr>
              <a:t>▪ 离身往前脱，边脱边卷，外面朝里</a:t>
            </a:r>
          </a:p>
          <a:p>
            <a:pPr>
              <a:spcAft>
                <a:spcPts val="1000"/>
              </a:spcAft>
            </a:pPr>
            <a:r>
              <a:rPr sz="2000">
                <a:solidFill>
                  <a:srgbClr val="222B33"/>
                </a:solidFill>
                <a:latin typeface="Microsoft YaHei"/>
              </a:rPr>
              <a:t>▪ 实验服：裸手不碰外面，捏袖口抽臂</a:t>
            </a:r>
          </a:p>
          <a:p>
            <a:pPr>
              <a:spcAft>
                <a:spcPts val="1000"/>
              </a:spcAft>
            </a:pPr>
            <a:r>
              <a:rPr sz="2000">
                <a:solidFill>
                  <a:srgbClr val="222B33"/>
                </a:solidFill>
                <a:latin typeface="Microsoft YaHei"/>
              </a:rPr>
              <a:t>▪ 可再穿的挂好，污染的卷起丢弃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脱隔离衣：解开腰带，抓住两肩向前拉，让颈后的系带松开（或按规程解开）；从肩部往前脱下，远离身体，边脱边卷，让外面翻到里面，卷成一团，脏的外面不碰到裸手和日常衣物，丢进感染性废物容器。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像脱外套一样从头上扯下隔离衣</a:t>
            </a:r>
          </a:p>
          <a:p>
            <a:pPr>
              <a:spcAft>
                <a:spcPts val="1000"/>
              </a:spcAft>
            </a:pPr>
            <a:r>
              <a:rPr sz="1500">
                <a:solidFill>
                  <a:srgbClr val="222B33"/>
                </a:solidFill>
                <a:latin typeface="Microsoft YaHei"/>
              </a:rPr>
              <a:t>▪ 裸手抓实验服前襟脱下</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另两种做法：连手套一起脱，或先衣后手套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一种：手套连袖口一起剥下</a:t>
            </a:r>
          </a:p>
          <a:p>
            <a:pPr>
              <a:spcAft>
                <a:spcPts val="1000"/>
              </a:spcAft>
            </a:pPr>
            <a:r>
              <a:rPr sz="2000">
                <a:solidFill>
                  <a:srgbClr val="222B33"/>
                </a:solidFill>
                <a:latin typeface="Microsoft YaHei"/>
              </a:rPr>
              <a:t>▪ 衣带手套里朝外卷成一团丢弃</a:t>
            </a:r>
          </a:p>
          <a:p>
            <a:pPr>
              <a:spcAft>
                <a:spcPts val="1000"/>
              </a:spcAft>
            </a:pPr>
            <a:r>
              <a:rPr sz="2000">
                <a:solidFill>
                  <a:srgbClr val="222B33"/>
                </a:solidFill>
                <a:latin typeface="Microsoft YaHei"/>
              </a:rPr>
              <a:t>▪ 另一种：先脱隔离衣，再摘手套</a:t>
            </a:r>
          </a:p>
          <a:p>
            <a:pPr>
              <a:spcAft>
                <a:spcPts val="1000"/>
              </a:spcAft>
            </a:pPr>
            <a:r>
              <a:rPr sz="2000">
                <a:solidFill>
                  <a:srgbClr val="222B33"/>
                </a:solidFill>
                <a:latin typeface="Microsoft YaHei"/>
              </a:rPr>
              <a:t>▪ 用哪种按评估选定，写进规程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同一实验室几种做法混着用</a:t>
            </a:r>
          </a:p>
          <a:p>
            <a:pPr>
              <a:spcAft>
                <a:spcPts val="1000"/>
              </a:spcAft>
            </a:pPr>
            <a:r>
              <a:rPr sz="1500">
                <a:solidFill>
                  <a:srgbClr val="222B33"/>
                </a:solidFill>
                <a:latin typeface="Microsoft YaHei"/>
              </a:rPr>
              <a:t>▪ 一起脱时手套从袖子里掉出、裸手碰到外面</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摘口罩：只捏耳挂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口罩最后摘，只捏耳挂</a:t>
            </a:r>
          </a:p>
          <a:p>
            <a:pPr>
              <a:spcAft>
                <a:spcPts val="1000"/>
              </a:spcAft>
            </a:pPr>
            <a:r>
              <a:rPr sz="2000">
                <a:solidFill>
                  <a:srgbClr val="222B33"/>
                </a:solidFill>
                <a:latin typeface="Microsoft YaHei"/>
              </a:rPr>
              <a:t>▪ 不碰口罩外面</a:t>
            </a:r>
          </a:p>
          <a:p>
            <a:pPr>
              <a:spcAft>
                <a:spcPts val="1000"/>
              </a:spcAft>
            </a:pPr>
            <a:r>
              <a:rPr sz="2000">
                <a:solidFill>
                  <a:srgbClr val="222B33"/>
                </a:solidFill>
                <a:latin typeface="Microsoft YaHei"/>
              </a:rPr>
              <a:t>▪ 离开面部就丢进感染性废物袋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口罩贴着口鼻，在其他防护用品脱完、手卫生后最后摘：只捏住耳挂（或头带）从耳后取下，不碰口罩外面，离开面部后直接丢进感染性废物容器。医用防护口罩先拉下下方头带，再拉上方头带。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用手抓口罩正面拉下</a:t>
            </a:r>
          </a:p>
          <a:p>
            <a:pPr>
              <a:spcAft>
                <a:spcPts val="1000"/>
              </a:spcAft>
            </a:pPr>
            <a:r>
              <a:rPr sz="1500">
                <a:solidFill>
                  <a:srgbClr val="222B33"/>
                </a:solidFill>
                <a:latin typeface="Microsoft YaHei"/>
              </a:rPr>
              <a:t>▪ 摘下的口罩挂在下巴上或揣进口袋</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送风头罩：风机转着摘，摘下再关机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摘头罩时风机别关</a:t>
            </a:r>
          </a:p>
          <a:p>
            <a:pPr>
              <a:spcAft>
                <a:spcPts val="1000"/>
              </a:spcAft>
            </a:pPr>
            <a:r>
              <a:rPr sz="2000">
                <a:solidFill>
                  <a:srgbClr val="222B33"/>
                </a:solidFill>
                <a:latin typeface="Microsoft YaHei"/>
              </a:rPr>
              <a:t>▪ 外面都当污染，手只碰规定位置</a:t>
            </a:r>
          </a:p>
          <a:p>
            <a:pPr>
              <a:spcAft>
                <a:spcPts val="1000"/>
              </a:spcAft>
            </a:pPr>
            <a:r>
              <a:rPr sz="2000">
                <a:solidFill>
                  <a:srgbClr val="222B33"/>
                </a:solidFill>
                <a:latin typeface="Microsoft YaHei"/>
              </a:rPr>
              <a:t>▪ 脸别碰外面，放指定处等去污</a:t>
            </a:r>
          </a:p>
          <a:p>
            <a:pPr>
              <a:spcAft>
                <a:spcPts val="1000"/>
              </a:spcAft>
            </a:pPr>
            <a:r>
              <a:rPr sz="2000">
                <a:solidFill>
                  <a:srgbClr val="222B33"/>
                </a:solidFill>
                <a:latin typeface="Microsoft YaHei"/>
              </a:rPr>
              <a:t>▪ 摘下后再关机、拔电池，然后洗手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摘送风头罩时，风机保持运转，按规程摘下头盔：头罩外面都当作污染，手只碰规定的位置，脸不碰外面。摘下后放到指定位置等待去污，然后再关机、断开电池。摘完马上洗手。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先关风机再摘头罩</a:t>
            </a:r>
          </a:p>
          <a:p>
            <a:pPr>
              <a:spcAft>
                <a:spcPts val="1000"/>
              </a:spcAft>
            </a:pPr>
            <a:r>
              <a:rPr sz="1500">
                <a:solidFill>
                  <a:srgbClr val="222B33"/>
                </a:solidFill>
                <a:latin typeface="Microsoft YaHei"/>
              </a:rPr>
              <a:t>▪ 摘下的头罩随手放在干净区</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最后洗手，再离开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最后用流水和洗手液认真洗手</a:t>
            </a:r>
          </a:p>
          <a:p>
            <a:pPr>
              <a:spcAft>
                <a:spcPts val="1000"/>
              </a:spcAft>
            </a:pPr>
            <a:r>
              <a:rPr sz="2000">
                <a:solidFill>
                  <a:srgbClr val="222B33"/>
                </a:solidFill>
                <a:latin typeface="Microsoft YaHei"/>
              </a:rPr>
              <a:t>▪ 手背、指缝、指尖、指甲下都搓到</a:t>
            </a:r>
          </a:p>
          <a:p>
            <a:pPr>
              <a:spcAft>
                <a:spcPts val="1000"/>
              </a:spcAft>
            </a:pPr>
            <a:r>
              <a:rPr sz="2000">
                <a:solidFill>
                  <a:srgbClr val="222B33"/>
                </a:solidFill>
                <a:latin typeface="Microsoft YaHei"/>
              </a:rPr>
              <a:t>▪ 纸巾擦干，再用纸巾关龙头</a:t>
            </a:r>
          </a:p>
          <a:p>
            <a:pPr>
              <a:spcAft>
                <a:spcPts val="1000"/>
              </a:spcAft>
            </a:pPr>
            <a:r>
              <a:rPr sz="2000">
                <a:solidFill>
                  <a:srgbClr val="222B33"/>
                </a:solidFill>
                <a:latin typeface="Microsoft YaHei"/>
              </a:rPr>
              <a:t>▪ 暂时没水先手消，有条件尽快洗手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全部脱完，最后一步是用流动水和洗手液（肥皂）洗手：手心、手背、指缝、指尖、指甲下、拇指和手腕都要认真揉搓，时间要够（洗手步骤见第 020 课）。用一次性纸巾擦干，再用纸巾关水龙头。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脱完防护直接离开，不洗手</a:t>
            </a:r>
          </a:p>
          <a:p>
            <a:pPr>
              <a:spcAft>
                <a:spcPts val="1000"/>
              </a:spcAft>
            </a:pPr>
            <a:r>
              <a:rPr sz="1500">
                <a:solidFill>
                  <a:srgbClr val="222B33"/>
                </a:solidFill>
                <a:latin typeface="Microsoft YaHei"/>
              </a:rPr>
              <a:t>▪ 只用手消毒剂代替洗手，有水也不洗</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下列穿戴顺序中，符合国内常用做法的是：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手套→隔离衣→口罩→护目镜</a:t>
            </a:r>
          </a:p>
          <a:p>
            <a:pPr algn="l"/>
            <a:r>
              <a:rPr sz="1500" b="0">
                <a:solidFill>
                  <a:srgbClr val="222B33"/>
                </a:solidFill>
                <a:latin typeface="Microsoft YaHei"/>
              </a:rPr>
              <a:t>B. 手卫生→帽子→口罩→护目镜/面屏→隔离衣→手套</a:t>
            </a:r>
          </a:p>
          <a:p>
            <a:pPr algn="l"/>
            <a:r>
              <a:rPr sz="1500" b="0">
                <a:solidFill>
                  <a:srgbClr val="222B33"/>
                </a:solidFill>
                <a:latin typeface="Microsoft YaHei"/>
              </a:rPr>
              <a:t>C. 隔离衣→手套→口罩→帽子</a:t>
            </a:r>
          </a:p>
          <a:p>
            <a:pPr algn="l"/>
            <a:r>
              <a:rPr sz="1500" b="0">
                <a:solidFill>
                  <a:srgbClr val="222B33"/>
                </a:solidFill>
                <a:latin typeface="Microsoft YaHei"/>
              </a:rPr>
              <a:t>D. 口罩→手套→隔离衣→护目镜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判断：脱卸防护装备应从最干净的开始，最后脱手套。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翻脱法摘手套，正确的是：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捏指尖往下拽</a:t>
            </a:r>
          </a:p>
          <a:p>
            <a:pPr algn="l"/>
            <a:r>
              <a:rPr sz="1500" b="0">
                <a:solidFill>
                  <a:srgbClr val="222B33"/>
                </a:solidFill>
                <a:latin typeface="Microsoft YaHei"/>
              </a:rPr>
              <a:t>B. 捏腕部外侧翻下，握在另一手心，裸手从内侧伸进翻下包成一团</a:t>
            </a:r>
          </a:p>
          <a:p>
            <a:pPr algn="l"/>
            <a:r>
              <a:rPr sz="1500" b="0">
                <a:solidFill>
                  <a:srgbClr val="222B33"/>
                </a:solidFill>
                <a:latin typeface="Microsoft YaHei"/>
              </a:rPr>
              <a:t>C. 用牙咬下</a:t>
            </a:r>
          </a:p>
          <a:p>
            <a:pPr algn="l"/>
            <a:r>
              <a:rPr sz="1500" b="0">
                <a:solidFill>
                  <a:srgbClr val="222B33"/>
                </a:solidFill>
                <a:latin typeface="Microsoft YaHei"/>
              </a:rPr>
              <a:t>D. 两只手套互相搓下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使用送风头罩时，下列做法正确的是：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先戴头罩再开机</a:t>
            </a:r>
          </a:p>
          <a:p>
            <a:pPr algn="l"/>
            <a:r>
              <a:rPr sz="1500" b="0">
                <a:solidFill>
                  <a:srgbClr val="222B33"/>
                </a:solidFill>
                <a:latin typeface="Microsoft YaHei"/>
              </a:rPr>
              <a:t>B. 先开机确认有风再戴，摘下后再关机</a:t>
            </a:r>
          </a:p>
          <a:p>
            <a:pPr algn="l"/>
            <a:r>
              <a:rPr sz="1500" b="0">
                <a:solidFill>
                  <a:srgbClr val="222B33"/>
                </a:solidFill>
                <a:latin typeface="Microsoft YaHei"/>
              </a:rPr>
              <a:t>C. 先关机再摘头罩</a:t>
            </a:r>
          </a:p>
          <a:p>
            <a:pPr algn="l"/>
            <a:r>
              <a:rPr sz="1500" b="0">
                <a:solidFill>
                  <a:srgbClr val="222B33"/>
                </a:solidFill>
                <a:latin typeface="Microsoft YaHei"/>
              </a:rPr>
              <a:t>D. 指示灯不全亮也可进入</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判断：同一实验室可以每个人按自己习惯选择不同的脱卸方法。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简答：脱卸时怎样防止自我污染？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穿前准备：摘首饰、物品留门外、束长发</a:t>
            </a:r>
          </a:p>
          <a:p>
            <a:pPr>
              <a:spcAft>
                <a:spcPts val="800"/>
              </a:spcAft>
            </a:pPr>
            <a:r>
              <a:rPr sz="1500">
                <a:solidFill>
                  <a:srgbClr val="FFFFFF"/>
                </a:solidFill>
                <a:latin typeface="Microsoft YaHei"/>
              </a:rPr>
              <a:t>▪ K2  备齐装备，合身无破损</a:t>
            </a:r>
          </a:p>
          <a:p>
            <a:pPr>
              <a:spcAft>
                <a:spcPts val="800"/>
              </a:spcAft>
            </a:pPr>
            <a:r>
              <a:rPr sz="1500">
                <a:solidFill>
                  <a:srgbClr val="FFFFFF"/>
                </a:solidFill>
                <a:latin typeface="Microsoft YaHei"/>
              </a:rPr>
              <a:t>▪ K3  穿脱分区，在缓冲间穿好再进</a:t>
            </a:r>
          </a:p>
          <a:p>
            <a:pPr>
              <a:spcAft>
                <a:spcPts val="800"/>
              </a:spcAft>
            </a:pPr>
            <a:r>
              <a:rPr sz="1500">
                <a:solidFill>
                  <a:srgbClr val="FFFFFF"/>
                </a:solidFill>
                <a:latin typeface="Microsoft YaHei"/>
              </a:rPr>
              <a:t>▪ K4  穿戴顺序：口罩护目在前，手套最后</a:t>
            </a:r>
          </a:p>
          <a:p>
            <a:pPr>
              <a:spcAft>
                <a:spcPts val="800"/>
              </a:spcAft>
            </a:pPr>
            <a:r>
              <a:rPr sz="1500">
                <a:solidFill>
                  <a:srgbClr val="FFFFFF"/>
                </a:solidFill>
                <a:latin typeface="Microsoft YaHei"/>
              </a:rPr>
              <a:t>▪ K5  口罩：压鼻夹，贴紧鼻梁面颊</a:t>
            </a:r>
          </a:p>
          <a:p>
            <a:pPr>
              <a:spcAft>
                <a:spcPts val="800"/>
              </a:spcAft>
            </a:pPr>
            <a:r>
              <a:rPr sz="1500">
                <a:solidFill>
                  <a:srgbClr val="FFFFFF"/>
                </a:solidFill>
                <a:latin typeface="Microsoft YaHei"/>
              </a:rPr>
              <a:t>▪ K6  面屏：盖住前额、下巴和两侧</a:t>
            </a:r>
          </a:p>
          <a:p>
            <a:pPr>
              <a:spcAft>
                <a:spcPts val="800"/>
              </a:spcAft>
            </a:pPr>
            <a:r>
              <a:rPr sz="1500">
                <a:solidFill>
                  <a:srgbClr val="FFFFFF"/>
                </a:solidFill>
                <a:latin typeface="Microsoft YaHei"/>
              </a:rPr>
              <a:t>▪ K7  隔离衣：系活结，遮住日常衣物</a:t>
            </a:r>
          </a:p>
          <a:p>
            <a:pPr>
              <a:spcAft>
                <a:spcPts val="800"/>
              </a:spcAft>
            </a:pPr>
            <a:r>
              <a:rPr sz="1500">
                <a:solidFill>
                  <a:srgbClr val="FFFFFF"/>
                </a:solidFill>
                <a:latin typeface="Microsoft YaHei"/>
              </a:rPr>
              <a:t>▪ K8  手套套在袖口外，手腕封严</a:t>
            </a:r>
          </a:p>
          <a:p>
            <a:pPr>
              <a:spcAft>
                <a:spcPts val="800"/>
              </a:spcAft>
            </a:pPr>
            <a:r>
              <a:rPr sz="1500">
                <a:solidFill>
                  <a:srgbClr val="FFFFFF"/>
                </a:solidFill>
                <a:latin typeface="Microsoft YaHei"/>
              </a:rPr>
              <a:t>▪ K9  双层手套：外层脏了换外层</a:t>
            </a:r>
          </a:p>
          <a:p>
            <a:pPr>
              <a:spcAft>
                <a:spcPts val="800"/>
              </a:spcAft>
            </a:pPr>
            <a:r>
              <a:rPr sz="1500">
                <a:solidFill>
                  <a:srgbClr val="FFFFFF"/>
                </a:solidFill>
                <a:latin typeface="Microsoft YaHei"/>
              </a:rPr>
              <a:t>▪ K10  送风头罩：先系腰带、接好线、调头箍</a:t>
            </a:r>
          </a:p>
          <a:p>
            <a:pPr>
              <a:spcAft>
                <a:spcPts val="800"/>
              </a:spcAft>
            </a:pPr>
            <a:r>
              <a:rPr sz="1500">
                <a:solidFill>
                  <a:srgbClr val="FFFFFF"/>
                </a:solidFill>
                <a:latin typeface="Microsoft YaHei"/>
              </a:rPr>
              <a:t>▪ K11  先开机有风再戴，披肩收进防护服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照镜自查，同伴互查</a:t>
            </a:r>
          </a:p>
          <a:p>
            <a:pPr>
              <a:spcAft>
                <a:spcPts val="800"/>
              </a:spcAft>
            </a:pPr>
            <a:r>
              <a:rPr sz="1500">
                <a:solidFill>
                  <a:srgbClr val="FFFFFF"/>
                </a:solidFill>
                <a:latin typeface="Microsoft YaHei"/>
              </a:rPr>
              <a:t>▪ K13  脱卸原则：从最脏到最干净，方法写进规程</a:t>
            </a:r>
          </a:p>
          <a:p>
            <a:pPr>
              <a:spcAft>
                <a:spcPts val="800"/>
              </a:spcAft>
            </a:pPr>
            <a:r>
              <a:rPr sz="1500">
                <a:solidFill>
                  <a:srgbClr val="FFFFFF"/>
                </a:solidFill>
                <a:latin typeface="Microsoft YaHei"/>
              </a:rPr>
              <a:t>▪ K14  先摘手套：翻着脱，外面不碰皮肤</a:t>
            </a:r>
          </a:p>
          <a:p>
            <a:pPr>
              <a:spcAft>
                <a:spcPts val="800"/>
              </a:spcAft>
            </a:pPr>
            <a:r>
              <a:rPr sz="1500">
                <a:solidFill>
                  <a:srgbClr val="FFFFFF"/>
                </a:solidFill>
                <a:latin typeface="Microsoft YaHei"/>
              </a:rPr>
              <a:t>▪ K15  摘手套后先手消毒</a:t>
            </a:r>
          </a:p>
          <a:p>
            <a:pPr>
              <a:spcAft>
                <a:spcPts val="800"/>
              </a:spcAft>
            </a:pPr>
            <a:r>
              <a:rPr sz="1500">
                <a:solidFill>
                  <a:srgbClr val="FFFFFF"/>
                </a:solidFill>
                <a:latin typeface="Microsoft YaHei"/>
              </a:rPr>
              <a:t>▪ K16  摘面屏、护目镜：捏头带和镜腿</a:t>
            </a:r>
          </a:p>
          <a:p>
            <a:pPr>
              <a:spcAft>
                <a:spcPts val="800"/>
              </a:spcAft>
            </a:pPr>
            <a:r>
              <a:rPr sz="1500">
                <a:solidFill>
                  <a:srgbClr val="FFFFFF"/>
                </a:solidFill>
                <a:latin typeface="Microsoft YaHei"/>
              </a:rPr>
              <a:t>▪ K17  脱隔离衣、实验服：外面朝里卷起</a:t>
            </a:r>
          </a:p>
          <a:p>
            <a:pPr>
              <a:spcAft>
                <a:spcPts val="800"/>
              </a:spcAft>
            </a:pPr>
            <a:r>
              <a:rPr sz="1500">
                <a:solidFill>
                  <a:srgbClr val="FFFFFF"/>
                </a:solidFill>
                <a:latin typeface="Microsoft YaHei"/>
              </a:rPr>
              <a:t>▪ K18  另两种做法：连手套一起脱，或先衣后手套</a:t>
            </a:r>
          </a:p>
          <a:p>
            <a:pPr>
              <a:spcAft>
                <a:spcPts val="800"/>
              </a:spcAft>
            </a:pPr>
            <a:r>
              <a:rPr sz="1500">
                <a:solidFill>
                  <a:srgbClr val="FFFFFF"/>
                </a:solidFill>
                <a:latin typeface="Microsoft YaHei"/>
              </a:rPr>
              <a:t>▪ K19  摘口罩：只捏耳挂</a:t>
            </a:r>
          </a:p>
          <a:p>
            <a:pPr>
              <a:spcAft>
                <a:spcPts val="800"/>
              </a:spcAft>
            </a:pPr>
            <a:r>
              <a:rPr sz="1500">
                <a:solidFill>
                  <a:srgbClr val="FFFFFF"/>
                </a:solidFill>
                <a:latin typeface="Microsoft YaHei"/>
              </a:rPr>
              <a:t>▪ K20  送风头罩：风机转着摘，摘下再关机</a:t>
            </a:r>
          </a:p>
          <a:p>
            <a:pPr>
              <a:spcAft>
                <a:spcPts val="800"/>
              </a:spcAft>
            </a:pPr>
            <a:r>
              <a:rPr sz="1500">
                <a:solidFill>
                  <a:srgbClr val="FFFFFF"/>
                </a:solidFill>
                <a:latin typeface="Microsoft YaHei"/>
              </a:rPr>
              <a:t>▪ K21  最后洗手，再离开</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消毒与灭菌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适用对象：从事微生物、细胞、分子生物学、医学、农学、环境等生物实验的高校本科生、研究生和教职工（必修）；负责消毒灭菌设备和熏蒸工作的实验室人员重点学习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能说出消毒、去污与灭菌的区别，并按用途选择热、化学、辐射等方法，不拿消毒当灭菌。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能做到选对消毒剂、保持表面湿润等够作用时间，开工前、收工后和洒溢后及时消毒台面和设备。</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能做到安全配制和保存消毒液（防护、标签日期、按期更换、不乱混、乙醇远离火源），并判断紫外消毒的局限。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能说出湿热灭菌的原理、装载要求和监测验证方法，以及熏蒸和气体灭菌的安全要求。</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《中华人民共和国生物安全法》：从事病原微生物实验活动应遵守实验室技术规范和操作规程，防止病原微生物扩散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《病原微生物实验室生物安全管理条例》（以现行文本为准）：实验室应制定并执行消毒、灭菌等标准操作规程，实验废物按规定处置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生物安全通用要求》：消毒灭菌方法的选择与确认、设备去污染、灭菌效果监测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233（以现行文本为准）《病原微生物实验室生物安全通用准则》：实验室消毒与灭菌、压力蒸汽灭菌效果监测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《消毒管理办法》（以现行文本为准）：消毒产品使用说明与消毒效果要求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号，以现行文本为准）：生物实验室消毒灭菌、仪器设备使用和化学品管理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本校生物安全管理规定和本实验室消毒灭菌、高压灭菌器、熏蒸标准操作规程（以本校规定为准）</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消毒、去污、灭菌不是一回事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消毒：把微生物减少到安全水平</a:t>
            </a:r>
          </a:p>
          <a:p>
            <a:pPr>
              <a:spcAft>
                <a:spcPts val="1000"/>
              </a:spcAft>
            </a:pPr>
            <a:r>
              <a:rPr sz="1700">
                <a:solidFill>
                  <a:srgbClr val="222B33"/>
                </a:solidFill>
                <a:latin typeface="Microsoft YaHei"/>
              </a:rPr>
              <a:t>▪ 灭菌：全部杀灭，包括芽孢</a:t>
            </a:r>
          </a:p>
          <a:p>
            <a:pPr>
              <a:spcAft>
                <a:spcPts val="1000"/>
              </a:spcAft>
            </a:pPr>
            <a:r>
              <a:rPr sz="1700">
                <a:solidFill>
                  <a:srgbClr val="222B33"/>
                </a:solidFill>
                <a:latin typeface="Microsoft YaHei"/>
              </a:rPr>
              <a:t>▪ 去污：让物品能安全拿取或处置</a:t>
            </a:r>
          </a:p>
          <a:p>
            <a:pPr>
              <a:spcAft>
                <a:spcPts val="1000"/>
              </a:spcAft>
            </a:pPr>
            <a:r>
              <a:rPr sz="1700">
                <a:solidFill>
                  <a:srgbClr val="222B33"/>
                </a:solidFill>
                <a:latin typeface="Microsoft YaHei"/>
              </a:rPr>
              <a:t>▪ 器皿先洗净，再消毒，需要时灭菌</a:t>
            </a:r>
          </a:p>
          <a:p>
            <a:pPr>
              <a:spcAft>
                <a:spcPts val="1000"/>
              </a:spcAft>
            </a:pPr>
            <a:r>
              <a:rPr sz="1700">
                <a:solidFill>
                  <a:srgbClr val="222B33"/>
                </a:solidFill>
                <a:latin typeface="Microsoft YaHei"/>
              </a:rPr>
              <a:t>▪ 按用途选方法，别拿消毒当灭菌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把消毒过的器皿当无菌器材使用</a:t>
            </a:r>
          </a:p>
          <a:p>
            <a:pPr>
              <a:spcAft>
                <a:spcPts val="1000"/>
              </a:spcAft>
            </a:pPr>
            <a:r>
              <a:rPr sz="1500">
                <a:solidFill>
                  <a:srgbClr val="222B33"/>
                </a:solidFill>
                <a:latin typeface="Microsoft YaHei"/>
              </a:rPr>
              <a:t>▪ 器皿不清洗就直接消毒或灭菌</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杀灭微生物的方法：热、化学、辐射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热、化学品、辐射都能杀灭微生物</a:t>
            </a:r>
          </a:p>
          <a:p>
            <a:pPr>
              <a:spcAft>
                <a:spcPts val="1000"/>
              </a:spcAft>
            </a:pPr>
            <a:r>
              <a:rPr sz="2000">
                <a:solidFill>
                  <a:srgbClr val="222B33"/>
                </a:solidFill>
                <a:latin typeface="Microsoft YaHei"/>
              </a:rPr>
              <a:t>▪ 耐热物品首选湿热（高压蒸汽）灭菌</a:t>
            </a:r>
          </a:p>
          <a:p>
            <a:pPr>
              <a:spcAft>
                <a:spcPts val="1000"/>
              </a:spcAft>
            </a:pPr>
            <a:r>
              <a:rPr sz="2000">
                <a:solidFill>
                  <a:srgbClr val="222B33"/>
                </a:solidFill>
                <a:latin typeface="Microsoft YaHei"/>
              </a:rPr>
              <a:t>▪ 台面设备用化学消毒剂擦拭</a:t>
            </a:r>
          </a:p>
          <a:p>
            <a:pPr>
              <a:spcAft>
                <a:spcPts val="1000"/>
              </a:spcAft>
            </a:pPr>
            <a:r>
              <a:rPr sz="2000">
                <a:solidFill>
                  <a:srgbClr val="222B33"/>
                </a:solidFill>
                <a:latin typeface="Microsoft YaHei"/>
              </a:rPr>
              <a:t>▪ 紫外照表面，房间整体用熏蒸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杀灭微生物的方法主要有三类：热（湿热即高压蒸汽灭菌、干热、焚烧）、化学品（各类消毒剂、灭菌剂和熏蒸、气体灭菌）、辐射（紫外线照射；工业上的电离辐射灭菌）。此外还有过滤等去除微生物的物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不分对象，一种方法用到底</a:t>
            </a:r>
          </a:p>
          <a:p>
            <a:pPr>
              <a:spcAft>
                <a:spcPts val="1000"/>
              </a:spcAft>
            </a:pPr>
            <a:r>
              <a:rPr sz="1500">
                <a:solidFill>
                  <a:srgbClr val="222B33"/>
                </a:solidFill>
                <a:latin typeface="Microsoft YaHei"/>
              </a:rPr>
              <a:t>▪ 用紫外照射代替对器材的灭菌</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灭菌手段本身有危害，必须照规程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能杀菌的东西同样能伤人</a:t>
            </a:r>
          </a:p>
          <a:p>
            <a:pPr>
              <a:spcAft>
                <a:spcPts val="1000"/>
              </a:spcAft>
            </a:pPr>
            <a:r>
              <a:rPr sz="1700">
                <a:solidFill>
                  <a:srgbClr val="222B33"/>
                </a:solidFill>
                <a:latin typeface="Microsoft YaHei"/>
              </a:rPr>
              <a:t>▪ 高温烫伤、药剂中毒、紫外伤眼</a:t>
            </a:r>
          </a:p>
          <a:p>
            <a:pPr>
              <a:spcAft>
                <a:spcPts val="1000"/>
              </a:spcAft>
            </a:pPr>
            <a:r>
              <a:rPr sz="1700">
                <a:solidFill>
                  <a:srgbClr val="222B33"/>
                </a:solidFill>
                <a:latin typeface="Microsoft YaHei"/>
              </a:rPr>
              <a:t>▪ 用错管错还会污染环境</a:t>
            </a:r>
          </a:p>
          <a:p>
            <a:pPr>
              <a:spcAft>
                <a:spcPts val="1000"/>
              </a:spcAft>
            </a:pPr>
            <a:r>
              <a:rPr sz="1700">
                <a:solidFill>
                  <a:srgbClr val="222B33"/>
                </a:solidFill>
                <a:latin typeface="Microsoft YaHei"/>
              </a:rPr>
              <a:t>▪ 规程两个目的：护人也保效果</a:t>
            </a:r>
          </a:p>
          <a:p>
            <a:pPr>
              <a:spcAft>
                <a:spcPts val="1000"/>
              </a:spcAft>
            </a:pPr>
            <a:r>
              <a:rPr sz="1700">
                <a:solidFill>
                  <a:srgbClr val="222B33"/>
                </a:solidFill>
                <a:latin typeface="Microsoft YaHei"/>
              </a:rPr>
              <a:t>▪ 没学过规程，不上手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觉得消毒剂“只是清洁用品”，不防护</a:t>
            </a:r>
          </a:p>
          <a:p>
            <a:pPr>
              <a:spcAft>
                <a:spcPts val="1000"/>
              </a:spcAft>
            </a:pPr>
            <a:r>
              <a:rPr sz="1500">
                <a:solidFill>
                  <a:srgbClr val="222B33"/>
                </a:solidFill>
                <a:latin typeface="Microsoft YaHei"/>
              </a:rPr>
              <a:t>▪ 没经培训就操作高压灭菌器</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消毒剂要对得上微生物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微生物不同，抵抗力差得远</a:t>
            </a:r>
          </a:p>
          <a:p>
            <a:pPr>
              <a:spcAft>
                <a:spcPts val="1000"/>
              </a:spcAft>
            </a:pPr>
            <a:r>
              <a:rPr sz="1700">
                <a:solidFill>
                  <a:srgbClr val="222B33"/>
                </a:solidFill>
                <a:latin typeface="Microsoft YaHei"/>
              </a:rPr>
              <a:t>▪ 乙醇对芽孢无效</a:t>
            </a:r>
          </a:p>
          <a:p>
            <a:pPr>
              <a:spcAft>
                <a:spcPts val="1000"/>
              </a:spcAft>
            </a:pPr>
            <a:r>
              <a:rPr sz="1700">
                <a:solidFill>
                  <a:srgbClr val="222B33"/>
                </a:solidFill>
                <a:latin typeface="Microsoft YaHei"/>
              </a:rPr>
              <a:t>▪ 有机物降低效果，先清掉污物</a:t>
            </a:r>
          </a:p>
          <a:p>
            <a:pPr>
              <a:spcAft>
                <a:spcPts val="1000"/>
              </a:spcAft>
            </a:pPr>
            <a:r>
              <a:rPr sz="1700">
                <a:solidFill>
                  <a:srgbClr val="222B33"/>
                </a:solidFill>
                <a:latin typeface="Microsoft YaHei"/>
              </a:rPr>
              <a:t>▪ 含氯的腐蚀金属，作用后清水擦净</a:t>
            </a:r>
          </a:p>
          <a:p>
            <a:pPr>
              <a:spcAft>
                <a:spcPts val="1000"/>
              </a:spcAft>
            </a:pPr>
            <a:r>
              <a:rPr sz="1700">
                <a:solidFill>
                  <a:srgbClr val="222B33"/>
                </a:solidFill>
                <a:latin typeface="Microsoft YaHei"/>
              </a:rPr>
              <a:t>▪ 换消毒剂先确认有效，写进规程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不同微生物对消毒剂的抵抗力相差很大：一般细菌、有包膜病毒较容易杀灭，分枝杆菌、无包膜病毒更难，细菌芽孢最难。常用的乙醇（常用 75% 左右）作用快，但对芽孢无效；含氯消毒剂作用谱广，但有腐蚀性和刺激性。选哪种，看要对……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用乙醇对付可能有芽孢的污染</a:t>
            </a:r>
          </a:p>
          <a:p>
            <a:pPr>
              <a:spcAft>
                <a:spcPts val="1000"/>
              </a:spcAft>
            </a:pPr>
            <a:r>
              <a:rPr sz="1500">
                <a:solidFill>
                  <a:srgbClr val="222B33"/>
                </a:solidFill>
                <a:latin typeface="Microsoft YaHei"/>
              </a:rPr>
              <a:t>▪ 不查有效性就换便宜的消毒剂</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保持湿润，等够作用时间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喷一下就擦，等于没消毒</a:t>
            </a:r>
          </a:p>
          <a:p>
            <a:pPr>
              <a:spcAft>
                <a:spcPts val="1000"/>
              </a:spcAft>
            </a:pPr>
            <a:r>
              <a:rPr sz="2000">
                <a:solidFill>
                  <a:srgbClr val="222B33"/>
                </a:solidFill>
                <a:latin typeface="Microsoft YaHei"/>
              </a:rPr>
              <a:t>▪ 表面保持湿润，等够作用时间</a:t>
            </a:r>
          </a:p>
          <a:p>
            <a:pPr>
              <a:spcAft>
                <a:spcPts val="1000"/>
              </a:spcAft>
            </a:pPr>
            <a:r>
              <a:rPr sz="2000">
                <a:solidFill>
                  <a:srgbClr val="222B33"/>
                </a:solidFill>
                <a:latin typeface="Microsoft YaHei"/>
              </a:rPr>
              <a:t>▪ 时间到再擦去残留</a:t>
            </a:r>
          </a:p>
          <a:p>
            <a:pPr>
              <a:spcAft>
                <a:spcPts val="1000"/>
              </a:spcAft>
            </a:pPr>
            <a:r>
              <a:rPr sz="2000">
                <a:solidFill>
                  <a:srgbClr val="222B33"/>
                </a:solidFill>
                <a:latin typeface="Microsoft YaHei"/>
              </a:rPr>
              <a:t>▪ 浓度和时间以规程和说明为准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消毒剂需要与微生物接触足够的时间才能起作用。喷一下马上擦干，接触时间不够，等于没消毒。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喷完立即擦干</a:t>
            </a:r>
          </a:p>
          <a:p>
            <a:pPr>
              <a:spcAft>
                <a:spcPts val="1000"/>
              </a:spcAft>
            </a:pPr>
            <a:r>
              <a:rPr sz="1500">
                <a:solidFill>
                  <a:srgbClr val="222B33"/>
                </a:solidFill>
                <a:latin typeface="Microsoft YaHei"/>
              </a:rPr>
              <a:t>▪ 凭感觉稀释，不看说明</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台面设备：开工前、收工后、洒了马上消毒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一洒一漏，台面和材料就被污染</a:t>
            </a:r>
          </a:p>
          <a:p>
            <a:pPr>
              <a:spcAft>
                <a:spcPts val="1000"/>
              </a:spcAft>
            </a:pPr>
            <a:r>
              <a:rPr sz="1700">
                <a:solidFill>
                  <a:srgbClr val="222B33"/>
                </a:solidFill>
                <a:latin typeface="Microsoft YaHei"/>
              </a:rPr>
              <a:t>▪ 开工前、收工后，台面都要消毒</a:t>
            </a:r>
          </a:p>
          <a:p>
            <a:pPr>
              <a:spcAft>
                <a:spcPts val="1000"/>
              </a:spcAft>
            </a:pPr>
            <a:r>
              <a:rPr sz="1700">
                <a:solidFill>
                  <a:srgbClr val="222B33"/>
                </a:solidFill>
                <a:latin typeface="Microsoft YaHei"/>
              </a:rPr>
              <a:t>▪ 用过的仪器设备也要擦</a:t>
            </a:r>
          </a:p>
          <a:p>
            <a:pPr>
              <a:spcAft>
                <a:spcPts val="1000"/>
              </a:spcAft>
            </a:pPr>
            <a:r>
              <a:rPr sz="1700">
                <a:solidFill>
                  <a:srgbClr val="222B33"/>
                </a:solidFill>
                <a:latin typeface="Microsoft YaHei"/>
              </a:rPr>
              <a:t>▪ 洒了按规程马上处理</a:t>
            </a:r>
          </a:p>
          <a:p>
            <a:pPr>
              <a:spcAft>
                <a:spcPts val="1000"/>
              </a:spcAft>
            </a:pPr>
            <a:r>
              <a:rPr sz="1700">
                <a:solidFill>
                  <a:srgbClr val="222B33"/>
                </a:solidFill>
                <a:latin typeface="Microsoft YaHei"/>
              </a:rPr>
              <a:t>▪ 用过的东西收进专用袋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生物材料一旦洒漏，台面、设备和材料都会被污染，既威胁人员，也破坏实验的无菌条件。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只在收工时擦一次台面</a:t>
            </a:r>
          </a:p>
          <a:p>
            <a:pPr>
              <a:spcAft>
                <a:spcPts val="1000"/>
              </a:spcAft>
            </a:pPr>
            <a:r>
              <a:rPr sz="1500">
                <a:solidFill>
                  <a:srgbClr val="222B33"/>
                </a:solidFill>
                <a:latin typeface="Microsoft YaHei"/>
              </a:rPr>
              <a:t>▪ 用过的东西随手丢在台面上</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配制消毒液：防护、标签、按期更换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配消毒液，戴好手套和护目镜</a:t>
            </a:r>
          </a:p>
          <a:p>
            <a:pPr>
              <a:spcAft>
                <a:spcPts val="1000"/>
              </a:spcAft>
            </a:pPr>
            <a:r>
              <a:rPr sz="2000">
                <a:solidFill>
                  <a:srgbClr val="222B33"/>
                </a:solidFill>
                <a:latin typeface="Microsoft YaHei"/>
              </a:rPr>
              <a:t>▪ 贴标签，写名称和配制日期</a:t>
            </a:r>
          </a:p>
          <a:p>
            <a:pPr>
              <a:spcAft>
                <a:spcPts val="1000"/>
              </a:spcAft>
            </a:pPr>
            <a:r>
              <a:rPr sz="2000">
                <a:solidFill>
                  <a:srgbClr val="222B33"/>
                </a:solidFill>
                <a:latin typeface="Microsoft YaHei"/>
              </a:rPr>
              <a:t>▪ 过了有效期就换新的</a:t>
            </a:r>
          </a:p>
          <a:p>
            <a:pPr>
              <a:spcAft>
                <a:spcPts val="1000"/>
              </a:spcAft>
            </a:pPr>
            <a:r>
              <a:rPr sz="2000">
                <a:solidFill>
                  <a:srgbClr val="222B33"/>
                </a:solidFill>
                <a:latin typeface="Microsoft YaHei"/>
              </a:rPr>
              <a:t>▪ 需要现配的就现配现用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消毒剂浓缩液多有腐蚀性或刺激性。配制和擦拭时戴好手套和护目镜，在通风良好处按说明量取、稀释，必要时穿防护围裙。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配制时不戴护目镜</a:t>
            </a:r>
          </a:p>
          <a:p>
            <a:pPr>
              <a:spcAft>
                <a:spcPts val="1000"/>
              </a:spcAft>
            </a:pPr>
            <a:r>
              <a:rPr sz="1500">
                <a:solidFill>
                  <a:srgbClr val="222B33"/>
                </a:solidFill>
                <a:latin typeface="Microsoft YaHei"/>
              </a:rPr>
              <a:t>▪ 稀释液没有标签和日期</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消毒剂不乱混，乙醇远离火源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含氯的不和酸性、含氨清洁剂混</a:t>
            </a:r>
          </a:p>
          <a:p>
            <a:pPr>
              <a:spcAft>
                <a:spcPts val="1000"/>
              </a:spcAft>
            </a:pPr>
            <a:r>
              <a:rPr sz="2000">
                <a:solidFill>
                  <a:srgbClr val="222B33"/>
                </a:solidFill>
                <a:latin typeface="Microsoft YaHei"/>
              </a:rPr>
              <a:t>▪ 能不能混，查说明书、问老师</a:t>
            </a:r>
          </a:p>
          <a:p>
            <a:pPr>
              <a:spcAft>
                <a:spcPts val="1000"/>
              </a:spcAft>
            </a:pPr>
            <a:r>
              <a:rPr sz="2000">
                <a:solidFill>
                  <a:srgbClr val="222B33"/>
                </a:solidFill>
                <a:latin typeface="Microsoft YaHei"/>
              </a:rPr>
              <a:t>▪ 乙醇易燃，远离明火、热源和火花</a:t>
            </a:r>
          </a:p>
          <a:p>
            <a:pPr>
              <a:spcAft>
                <a:spcPts val="1000"/>
              </a:spcAft>
            </a:pPr>
            <a:r>
              <a:rPr sz="2000">
                <a:solidFill>
                  <a:srgbClr val="222B33"/>
                </a:solidFill>
                <a:latin typeface="Microsoft YaHei"/>
              </a:rPr>
              <a:t>▪ 消毒剂也是化学品，按化学品管理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消毒剂不能随手混在一起：含氯消毒剂与酸性物品混合会放出氯气，与含氨清洁剂混合也会产生有害气体。能不能混用、能不能先后使用，查产品说明书或安全技术说明书，拿不准就问老师。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把含氯消毒剂和酸性清洁剂混在一起</a:t>
            </a:r>
          </a:p>
          <a:p>
            <a:pPr>
              <a:spcAft>
                <a:spcPts val="1000"/>
              </a:spcAft>
            </a:pPr>
            <a:r>
              <a:rPr sz="1500">
                <a:solidFill>
                  <a:srgbClr val="222B33"/>
                </a:solidFill>
                <a:latin typeface="Microsoft YaHei"/>
              </a:rPr>
              <a:t>▪ 在酒精灯旁大量喷洒乙醇</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紫外消毒只是辅助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只对直接照到的表面有效</a:t>
            </a:r>
          </a:p>
          <a:p>
            <a:pPr>
              <a:spcAft>
                <a:spcPts val="1000"/>
              </a:spcAft>
            </a:pPr>
            <a:r>
              <a:rPr sz="1700">
                <a:solidFill>
                  <a:srgbClr val="222B33"/>
                </a:solidFill>
                <a:latin typeface="Microsoft YaHei"/>
              </a:rPr>
              <a:t>▪ 阴影、角落、灰尘下面管不着</a:t>
            </a:r>
          </a:p>
          <a:p>
            <a:pPr>
              <a:spcAft>
                <a:spcPts val="1000"/>
              </a:spcAft>
            </a:pPr>
            <a:r>
              <a:rPr sz="1700">
                <a:solidFill>
                  <a:srgbClr val="222B33"/>
                </a:solidFill>
                <a:latin typeface="Microsoft YaHei"/>
              </a:rPr>
              <a:t>▪ 不能代替消毒剂擦拭</a:t>
            </a:r>
          </a:p>
          <a:p>
            <a:pPr>
              <a:spcAft>
                <a:spcPts val="1000"/>
              </a:spcAft>
            </a:pPr>
            <a:r>
              <a:rPr sz="1700">
                <a:solidFill>
                  <a:srgbClr val="222B33"/>
                </a:solidFill>
                <a:latin typeface="Microsoft YaHei"/>
              </a:rPr>
              <a:t>▪ 灯管老化，要定期检测更换</a:t>
            </a:r>
          </a:p>
          <a:p>
            <a:pPr>
              <a:spcAft>
                <a:spcPts val="1000"/>
              </a:spcAft>
            </a:pPr>
            <a:r>
              <a:rPr sz="1700">
                <a:solidFill>
                  <a:srgbClr val="222B33"/>
                </a:solidFill>
                <a:latin typeface="Microsoft YaHei"/>
              </a:rPr>
              <a:t>▪ 开灯时人离开；开多久按规程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紫外线只能杀灭直接照射到的表面和空气中的微生物，穿透力很弱：物品背后的阴影、角落、灰尘和污物下面都照不到。因此紫外消毒只能作为辅助手段，不能代替消毒剂擦拭和灭菌。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用紫外照射代替擦拭消毒</a:t>
            </a:r>
          </a:p>
          <a:p>
            <a:pPr>
              <a:spcAft>
                <a:spcPts val="1000"/>
              </a:spcAft>
            </a:pPr>
            <a:r>
              <a:rPr sz="1500">
                <a:solidFill>
                  <a:srgbClr val="222B33"/>
                </a:solidFill>
                <a:latin typeface="Microsoft YaHei"/>
              </a:rPr>
              <a:t>▪ 紫外灯亮着时开门查看</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湿热灭菌：靠饱和蒸汽穿透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高压蒸汽灭菌最常用也最可靠</a:t>
            </a:r>
          </a:p>
          <a:p>
            <a:pPr>
              <a:spcAft>
                <a:spcPts val="1000"/>
              </a:spcAft>
            </a:pPr>
            <a:r>
              <a:rPr sz="1700">
                <a:solidFill>
                  <a:srgbClr val="222B33"/>
                </a:solidFill>
                <a:latin typeface="Microsoft YaHei"/>
              </a:rPr>
              <a:t>▪ 加压让蒸汽温度升高</a:t>
            </a:r>
          </a:p>
          <a:p>
            <a:pPr>
              <a:spcAft>
                <a:spcPts val="1000"/>
              </a:spcAft>
            </a:pPr>
            <a:r>
              <a:rPr sz="1700">
                <a:solidFill>
                  <a:srgbClr val="222B33"/>
                </a:solidFill>
                <a:latin typeface="Microsoft YaHei"/>
              </a:rPr>
              <a:t>▪ 蒸汽要钻进物品中心才灭得透</a:t>
            </a:r>
          </a:p>
          <a:p>
            <a:pPr>
              <a:spcAft>
                <a:spcPts val="1000"/>
              </a:spcAft>
            </a:pPr>
            <a:r>
              <a:rPr sz="1700">
                <a:solidFill>
                  <a:srgbClr val="222B33"/>
                </a:solidFill>
                <a:latin typeface="Microsoft YaHei"/>
              </a:rPr>
              <a:t>▪ 装载松散，瓶盖拧松，袋口不扎死</a:t>
            </a:r>
          </a:p>
          <a:p>
            <a:pPr>
              <a:spcAft>
                <a:spcPts val="1000"/>
              </a:spcAft>
            </a:pPr>
            <a:r>
              <a:rPr sz="1700">
                <a:solidFill>
                  <a:srgbClr val="222B33"/>
                </a:solidFill>
                <a:latin typeface="Microsoft YaHei"/>
              </a:rPr>
              <a:t>▪ 参数按设备规程和验证结果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高压蒸汽灭菌是实验室最常用、最可靠的灭菌方法：在密闭容器中加压，使饱和蒸汽温度升高；高温蒸汽接触物品并在表面冷凝放热，使微生物的蛋白质变性而死亡。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灭菌筐塞满、袋口扎死</a:t>
            </a:r>
          </a:p>
          <a:p>
            <a:pPr>
              <a:spcAft>
                <a:spcPts val="1000"/>
              </a:spcAft>
            </a:pPr>
            <a:r>
              <a:rPr sz="1500">
                <a:solidFill>
                  <a:srgbClr val="222B33"/>
                </a:solidFill>
                <a:latin typeface="Microsoft YaHei"/>
              </a:rPr>
              <a:t>▪ 自行改参数、缩短时间</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灭菌效果要监测和验证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每锅看温度、压力、时间记录</a:t>
            </a:r>
          </a:p>
          <a:p>
            <a:pPr>
              <a:spcAft>
                <a:spcPts val="1000"/>
              </a:spcAft>
            </a:pPr>
            <a:r>
              <a:rPr sz="1700">
                <a:solidFill>
                  <a:srgbClr val="222B33"/>
                </a:solidFill>
                <a:latin typeface="Microsoft YaHei"/>
              </a:rPr>
              <a:t>▪ 指示胶带变色只说明经过灭菌</a:t>
            </a:r>
          </a:p>
          <a:p>
            <a:pPr>
              <a:spcAft>
                <a:spcPts val="1000"/>
              </a:spcAft>
            </a:pPr>
            <a:r>
              <a:rPr sz="1700">
                <a:solidFill>
                  <a:srgbClr val="222B33"/>
                </a:solidFill>
                <a:latin typeface="Microsoft YaHei"/>
              </a:rPr>
              <a:t>▪ 生物指示物定期验证能否杀灭</a:t>
            </a:r>
          </a:p>
          <a:p>
            <a:pPr>
              <a:spcAft>
                <a:spcPts val="1000"/>
              </a:spcAft>
            </a:pPr>
            <a:r>
              <a:rPr sz="1700">
                <a:solidFill>
                  <a:srgbClr val="222B33"/>
                </a:solidFill>
                <a:latin typeface="Microsoft YaHei"/>
              </a:rPr>
              <a:t>▪ 新装、维修后、换装法都要验证</a:t>
            </a:r>
          </a:p>
          <a:p>
            <a:pPr>
              <a:spcAft>
                <a:spcPts val="1000"/>
              </a:spcAft>
            </a:pPr>
            <a:r>
              <a:rPr sz="1700">
                <a:solidFill>
                  <a:srgbClr val="222B33"/>
                </a:solidFill>
                <a:latin typeface="Microsoft YaHei"/>
              </a:rPr>
              <a:t>▪ 不合格停用报告，记录存档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指示胶带变色就认为灭透了</a:t>
            </a:r>
          </a:p>
          <a:p>
            <a:pPr>
              <a:spcAft>
                <a:spcPts val="1000"/>
              </a:spcAft>
            </a:pPr>
            <a:r>
              <a:rPr sz="1500">
                <a:solidFill>
                  <a:srgbClr val="222B33"/>
                </a:solidFill>
                <a:latin typeface="Microsoft YaHei"/>
              </a:rPr>
              <a:t>▪ 监测不合格仍继续使用</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熏蒸与气体灭菌：专人操作，通风合格再进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整间实验室或柜子去污用熏蒸</a:t>
            </a:r>
          </a:p>
          <a:p>
            <a:pPr>
              <a:spcAft>
                <a:spcPts val="1000"/>
              </a:spcAft>
            </a:pPr>
            <a:r>
              <a:rPr sz="1700">
                <a:solidFill>
                  <a:srgbClr val="222B33"/>
                </a:solidFill>
                <a:latin typeface="Microsoft YaHei"/>
              </a:rPr>
              <a:t>▪ 熏蒸药剂对人也有害</a:t>
            </a:r>
          </a:p>
          <a:p>
            <a:pPr>
              <a:spcAft>
                <a:spcPts val="1000"/>
              </a:spcAft>
            </a:pPr>
            <a:r>
              <a:rPr sz="1700">
                <a:solidFill>
                  <a:srgbClr val="222B33"/>
                </a:solidFill>
                <a:latin typeface="Microsoft YaHei"/>
              </a:rPr>
              <a:t>▪ 专人操作，先清场，门口挂牌</a:t>
            </a:r>
          </a:p>
          <a:p>
            <a:pPr>
              <a:spcAft>
                <a:spcPts val="1000"/>
              </a:spcAft>
            </a:pPr>
            <a:r>
              <a:rPr sz="1700">
                <a:solidFill>
                  <a:srgbClr val="222B33"/>
                </a:solidFill>
                <a:latin typeface="Microsoft YaHei"/>
              </a:rPr>
              <a:t>▪ 通风、检测合格后才能进去</a:t>
            </a:r>
          </a:p>
          <a:p>
            <a:pPr>
              <a:spcAft>
                <a:spcPts val="1000"/>
              </a:spcAft>
            </a:pPr>
            <a:r>
              <a:rPr sz="1700">
                <a:solidFill>
                  <a:srgbClr val="222B33"/>
                </a:solidFill>
                <a:latin typeface="Microsoft YaHei"/>
              </a:rPr>
              <a:t>▪ 气体灭菌有毒易燃，不提前开门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需要对整间实验室、生物安全柜整体去污时（如更换过滤器、设备维修搬迁、实验室停用或发生严重污染后），采用熏蒸消毒。熏蒸用的药剂对人同样有毒有害。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熏蒸期间无人看管、不挂牌</a:t>
            </a:r>
          </a:p>
          <a:p>
            <a:pPr>
              <a:spcAft>
                <a:spcPts val="1000"/>
              </a:spcAft>
            </a:pPr>
            <a:r>
              <a:rPr sz="1500">
                <a:solidFill>
                  <a:srgbClr val="222B33"/>
                </a:solidFill>
                <a:latin typeface="Microsoft YaHei"/>
              </a:rPr>
              <a:t>▪ 熏蒸后不检测就进入</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关于消毒和灭菌，下列说法正确的是：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消毒过的器皿就是无菌的</a:t>
            </a:r>
          </a:p>
          <a:p>
            <a:pPr algn="l"/>
            <a:r>
              <a:rPr sz="1500" b="0">
                <a:solidFill>
                  <a:srgbClr val="222B33"/>
                </a:solidFill>
                <a:latin typeface="Microsoft YaHei"/>
              </a:rPr>
              <a:t>B. 灭菌能杀灭包括芽孢在内的全部微生物</a:t>
            </a:r>
          </a:p>
          <a:p>
            <a:pPr algn="l"/>
            <a:r>
              <a:rPr sz="1500" b="0">
                <a:solidFill>
                  <a:srgbClr val="222B33"/>
                </a:solidFill>
                <a:latin typeface="Microsoft YaHei"/>
              </a:rPr>
              <a:t>C. 消毒和灭菌是同一个意思</a:t>
            </a:r>
          </a:p>
          <a:p>
            <a:pPr algn="l"/>
            <a:r>
              <a:rPr sz="1500" b="0">
                <a:solidFill>
                  <a:srgbClr val="222B33"/>
                </a:solidFill>
                <a:latin typeface="Microsoft YaHei"/>
              </a:rPr>
              <a:t>D. 紫外照射可以代替灭菌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判断：台面喷上消毒剂后立即擦干，就完成了消毒。</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配制消毒液时戴手套和护目镜</a:t>
            </a:r>
          </a:p>
          <a:p>
            <a:pPr algn="l"/>
            <a:r>
              <a:rPr sz="1500" b="0">
                <a:solidFill>
                  <a:srgbClr val="222B33"/>
                </a:solidFill>
                <a:latin typeface="Microsoft YaHei"/>
              </a:rPr>
              <a:t>B. 稀释液贴标签写配制日期</a:t>
            </a:r>
          </a:p>
          <a:p>
            <a:pPr algn="l"/>
            <a:r>
              <a:rPr sz="1500" b="0">
                <a:solidFill>
                  <a:srgbClr val="222B33"/>
                </a:solidFill>
                <a:latin typeface="Microsoft YaHei"/>
              </a:rPr>
              <a:t>C. 把含氯消毒剂和酸性清洁剂混合增强效果</a:t>
            </a:r>
          </a:p>
          <a:p>
            <a:pPr algn="l"/>
            <a:r>
              <a:rPr sz="1500" b="0">
                <a:solidFill>
                  <a:srgbClr val="222B33"/>
                </a:solidFill>
                <a:latin typeface="Microsoft YaHei"/>
              </a:rPr>
              <a:t>D. 乙醇远离酒精灯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判断：开着紫外灯照射 30 分钟后，生物安全柜就不必再用消毒剂擦拭。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高压蒸汽灭菌后包外指示胶带变色了，说明：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物品已经彻底灭菌</a:t>
            </a:r>
          </a:p>
          <a:p>
            <a:pPr algn="l"/>
            <a:r>
              <a:rPr sz="1500" b="0">
                <a:solidFill>
                  <a:srgbClr val="222B33"/>
                </a:solidFill>
                <a:latin typeface="Microsoft YaHei"/>
              </a:rPr>
              <a:t>B. 物品经过了灭菌过程，是否灭透还要靠物理监测和生物指示物验证</a:t>
            </a:r>
          </a:p>
          <a:p>
            <a:pPr algn="l"/>
            <a:r>
              <a:rPr sz="1500" b="0">
                <a:solidFill>
                  <a:srgbClr val="222B33"/>
                </a:solidFill>
                <a:latin typeface="Microsoft YaHei"/>
              </a:rPr>
              <a:t>C. 设备不需要再验证</a:t>
            </a:r>
          </a:p>
          <a:p>
            <a:pPr algn="l"/>
            <a:r>
              <a:rPr sz="1500" b="0">
                <a:solidFill>
                  <a:srgbClr val="222B33"/>
                </a:solidFill>
                <a:latin typeface="Microsoft YaHei"/>
              </a:rPr>
              <a:t>D. 可以缩短下次灭菌时间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简答：实验室熏蒸消毒时要做到哪些安全要求？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消毒、去污、灭菌不是一回事</a:t>
            </a:r>
          </a:p>
          <a:p>
            <a:pPr>
              <a:spcAft>
                <a:spcPts val="800"/>
              </a:spcAft>
            </a:pPr>
            <a:r>
              <a:rPr sz="1500">
                <a:solidFill>
                  <a:srgbClr val="FFFFFF"/>
                </a:solidFill>
                <a:latin typeface="Microsoft YaHei"/>
              </a:rPr>
              <a:t>▪ K2  杀灭微生物的方法：热、化学、辐射</a:t>
            </a:r>
          </a:p>
          <a:p>
            <a:pPr>
              <a:spcAft>
                <a:spcPts val="800"/>
              </a:spcAft>
            </a:pPr>
            <a:r>
              <a:rPr sz="1500">
                <a:solidFill>
                  <a:srgbClr val="FFFFFF"/>
                </a:solidFill>
                <a:latin typeface="Microsoft YaHei"/>
              </a:rPr>
              <a:t>▪ K3  灭菌手段本身有危害，必须照规程</a:t>
            </a:r>
          </a:p>
          <a:p>
            <a:pPr>
              <a:spcAft>
                <a:spcPts val="800"/>
              </a:spcAft>
            </a:pPr>
            <a:r>
              <a:rPr sz="1500">
                <a:solidFill>
                  <a:srgbClr val="FFFFFF"/>
                </a:solidFill>
                <a:latin typeface="Microsoft YaHei"/>
              </a:rPr>
              <a:t>▪ K4  消毒剂要对得上微生物</a:t>
            </a:r>
          </a:p>
          <a:p>
            <a:pPr>
              <a:spcAft>
                <a:spcPts val="800"/>
              </a:spcAft>
            </a:pPr>
            <a:r>
              <a:rPr sz="1500">
                <a:solidFill>
                  <a:srgbClr val="FFFFFF"/>
                </a:solidFill>
                <a:latin typeface="Microsoft YaHei"/>
              </a:rPr>
              <a:t>▪ K5  保持湿润，等够作用时间</a:t>
            </a:r>
          </a:p>
          <a:p>
            <a:pPr>
              <a:spcAft>
                <a:spcPts val="800"/>
              </a:spcAft>
            </a:pPr>
            <a:r>
              <a:rPr sz="1500">
                <a:solidFill>
                  <a:srgbClr val="FFFFFF"/>
                </a:solidFill>
                <a:latin typeface="Microsoft YaHei"/>
              </a:rPr>
              <a:t>▪ K6  台面设备：开工前、收工后、洒了马上消毒</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配制消毒液：防护、标签、按期更换</a:t>
            </a:r>
          </a:p>
          <a:p>
            <a:pPr>
              <a:spcAft>
                <a:spcPts val="800"/>
              </a:spcAft>
            </a:pPr>
            <a:r>
              <a:rPr sz="1500">
                <a:solidFill>
                  <a:srgbClr val="FFFFFF"/>
                </a:solidFill>
                <a:latin typeface="Microsoft YaHei"/>
              </a:rPr>
              <a:t>▪ K8  消毒剂不乱混，乙醇远离火源</a:t>
            </a:r>
          </a:p>
          <a:p>
            <a:pPr>
              <a:spcAft>
                <a:spcPts val="800"/>
              </a:spcAft>
            </a:pPr>
            <a:r>
              <a:rPr sz="1500">
                <a:solidFill>
                  <a:srgbClr val="FFFFFF"/>
                </a:solidFill>
                <a:latin typeface="Microsoft YaHei"/>
              </a:rPr>
              <a:t>▪ K9  紫外消毒只是辅助</a:t>
            </a:r>
          </a:p>
          <a:p>
            <a:pPr>
              <a:spcAft>
                <a:spcPts val="800"/>
              </a:spcAft>
            </a:pPr>
            <a:r>
              <a:rPr sz="1500">
                <a:solidFill>
                  <a:srgbClr val="FFFFFF"/>
                </a:solidFill>
                <a:latin typeface="Microsoft YaHei"/>
              </a:rPr>
              <a:t>▪ K10  湿热灭菌：靠饱和蒸汽穿透</a:t>
            </a:r>
          </a:p>
          <a:p>
            <a:pPr>
              <a:spcAft>
                <a:spcPts val="800"/>
              </a:spcAft>
            </a:pPr>
            <a:r>
              <a:rPr sz="1500">
                <a:solidFill>
                  <a:srgbClr val="FFFFFF"/>
                </a:solidFill>
                <a:latin typeface="Microsoft YaHei"/>
              </a:rPr>
              <a:t>▪ K11  灭菌效果要监测和验证</a:t>
            </a:r>
          </a:p>
          <a:p>
            <a:pPr>
              <a:spcAft>
                <a:spcPts val="800"/>
              </a:spcAft>
            </a:pPr>
            <a:r>
              <a:rPr sz="1500">
                <a:solidFill>
                  <a:srgbClr val="FFFFFF"/>
                </a:solidFill>
                <a:latin typeface="Microsoft YaHei"/>
              </a:rPr>
              <a:t>▪ K12  熏蒸与气体灭菌：专人操作，通风合格再进</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感染性废物处置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适用对象：从事微生物、细胞、分子生物学、医学、农学、环境等生物实验的高校本科生、研究生和教职工（必修）；实验室负责人和废物管理人员重点学习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能说出哪些属于感染性废物，做到与化学废物、锐器分类收集，实验前定好废物管理方案。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能做到锐器进锐器盒、不回套针帽，感染性废物用专用袋双层包装、不超过四分之三封口、不用手压。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能判断液体废物、培养物、工程菌与转基因材料的正确处理：不倒下水道、不开盖查看污染瓶、先灭活、不私自带出。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能说出出实验室前灭菌确认登记、专用包装标签暂存、交有资质单位并留存转移联单的要求。</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《中华人民共和国生物安全法》：病原微生物实验室应防止病原微生物扩散，实验废物按规定处置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《中华人民共和国固体废物污染环境防治法》：医疗废物按国家危险废物名录管理，集中处置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《医疗废物管理条例》（以现行文本为准）：医疗废物分类收集、专用包装和警示标识、暂时贮存、交接登记、交有资质单位集中处置，禁止混入生活垃圾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《医疗卫生机构医疗废物管理办法》（以现行文本为准）：分类收集、包装容器、暂存设施、交接与登记要求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《国家危险废物名录》（以现行文本为准）：医疗废物列入危险废物管理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《病原微生物实验室生物安全管理条例》（以现行文本为准）：实验室产生的废水、废气和危险废物按规定处置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233（以现行文本为准）《病原微生物实验室生物安全通用准则》：废物处置程序、包装与去污染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本校实验室废物管理规定和本实验室感染性废物处置标准操作规程（以本校规定为准）</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先定废物管理方案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做实验前先想好废物怎么处理</a:t>
            </a:r>
          </a:p>
          <a:p>
            <a:pPr>
              <a:spcAft>
                <a:spcPts val="1000"/>
              </a:spcAft>
            </a:pPr>
            <a:r>
              <a:rPr sz="2000">
                <a:solidFill>
                  <a:srgbClr val="222B33"/>
                </a:solidFill>
                <a:latin typeface="Microsoft YaHei"/>
              </a:rPr>
              <a:t>▪ 分类、暂存、转运、处置环环写清</a:t>
            </a:r>
          </a:p>
          <a:p>
            <a:pPr>
              <a:spcAft>
                <a:spcPts val="1000"/>
              </a:spcAft>
            </a:pPr>
            <a:r>
              <a:rPr sz="2000">
                <a:solidFill>
                  <a:srgbClr val="222B33"/>
                </a:solidFill>
                <a:latin typeface="Microsoft YaHei"/>
              </a:rPr>
              <a:t>▪ 处理效果要验证</a:t>
            </a:r>
          </a:p>
          <a:p>
            <a:pPr>
              <a:spcAft>
                <a:spcPts val="1000"/>
              </a:spcAft>
            </a:pPr>
            <a:r>
              <a:rPr sz="2000">
                <a:solidFill>
                  <a:srgbClr val="222B33"/>
                </a:solidFill>
                <a:latin typeface="Microsoft YaHei"/>
              </a:rPr>
              <a:t>▪ 每个实验室有自己的处置规程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感染性废物的处理不是实验做完才考虑的事。开展生物因子实验之前，就要想好会产生哪些废物、用什么容器装、怎样灭活、送到哪里。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实验做完才找废物袋和去向</a:t>
            </a:r>
          </a:p>
          <a:p>
            <a:pPr>
              <a:spcAft>
                <a:spcPts val="1000"/>
              </a:spcAft>
            </a:pPr>
            <a:r>
              <a:rPr sz="1500">
                <a:solidFill>
                  <a:srgbClr val="222B33"/>
                </a:solidFill>
                <a:latin typeface="Microsoft YaHei"/>
              </a:rPr>
              <a:t>▪ 照搬别的实验室规程，不结合本室情况</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先分类：感染性废物单独收集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培养物、菌种、血液和接触过的耗材都算</a:t>
            </a:r>
          </a:p>
          <a:p>
            <a:pPr>
              <a:spcAft>
                <a:spcPts val="1000"/>
              </a:spcAft>
            </a:pPr>
            <a:r>
              <a:rPr sz="1700">
                <a:solidFill>
                  <a:srgbClr val="222B33"/>
                </a:solidFill>
                <a:latin typeface="Microsoft YaHei"/>
              </a:rPr>
              <a:t>▪ 检测产生的废物一律按感染性对待</a:t>
            </a:r>
          </a:p>
          <a:p>
            <a:pPr>
              <a:spcAft>
                <a:spcPts val="1000"/>
              </a:spcAft>
            </a:pPr>
            <a:r>
              <a:rPr sz="1700">
                <a:solidFill>
                  <a:srgbClr val="222B33"/>
                </a:solidFill>
                <a:latin typeface="Microsoft YaHei"/>
              </a:rPr>
              <a:t>▪ 感染性、化学、锐器分开收集</a:t>
            </a:r>
          </a:p>
          <a:p>
            <a:pPr>
              <a:spcAft>
                <a:spcPts val="1000"/>
              </a:spcAft>
            </a:pPr>
            <a:r>
              <a:rPr sz="1700">
                <a:solidFill>
                  <a:srgbClr val="222B33"/>
                </a:solidFill>
                <a:latin typeface="Microsoft YaHei"/>
              </a:rPr>
              <a:t>▪ 化学废液别混进生物废物袋</a:t>
            </a:r>
          </a:p>
          <a:p>
            <a:pPr>
              <a:spcAft>
                <a:spcPts val="1000"/>
              </a:spcAft>
            </a:pPr>
            <a:r>
              <a:rPr sz="1700">
                <a:solidFill>
                  <a:srgbClr val="222B33"/>
                </a:solidFill>
                <a:latin typeface="Microsoft YaHei"/>
              </a:rPr>
              <a:t>▪ 拿不准看指引、问老师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把感染性废物当普通垃圾扔</a:t>
            </a:r>
          </a:p>
          <a:p>
            <a:pPr>
              <a:spcAft>
                <a:spcPts val="1000"/>
              </a:spcAft>
            </a:pPr>
            <a:r>
              <a:rPr sz="1500">
                <a:solidFill>
                  <a:srgbClr val="222B33"/>
                </a:solidFill>
                <a:latin typeface="Microsoft YaHei"/>
              </a:rPr>
              <a:t>▪ 把化学废液倒进生物废物袋一起灭菌</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锐器进锐器盒，不回套针帽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针头、刀片、碎玻璃不进袋，进锐器盒</a:t>
            </a:r>
          </a:p>
          <a:p>
            <a:pPr>
              <a:spcAft>
                <a:spcPts val="1000"/>
              </a:spcAft>
            </a:pPr>
            <a:r>
              <a:rPr sz="1700">
                <a:solidFill>
                  <a:srgbClr val="222B33"/>
                </a:solidFill>
                <a:latin typeface="Microsoft YaHei"/>
              </a:rPr>
              <a:t>▪ 别随手放在敞口盘子里</a:t>
            </a:r>
          </a:p>
          <a:p>
            <a:pPr>
              <a:spcAft>
                <a:spcPts val="1000"/>
              </a:spcAft>
            </a:pPr>
            <a:r>
              <a:rPr sz="1700">
                <a:solidFill>
                  <a:srgbClr val="222B33"/>
                </a:solidFill>
                <a:latin typeface="Microsoft YaHei"/>
              </a:rPr>
              <a:t>▪ 用过的针不回套、不掰弯、不拆针头</a:t>
            </a:r>
          </a:p>
          <a:p>
            <a:pPr>
              <a:spcAft>
                <a:spcPts val="1000"/>
              </a:spcAft>
            </a:pPr>
            <a:r>
              <a:rPr sz="1700">
                <a:solidFill>
                  <a:srgbClr val="222B33"/>
                </a:solidFill>
                <a:latin typeface="Microsoft YaHei"/>
              </a:rPr>
              <a:t>▪ 装到四分之三或警戒线就封盒</a:t>
            </a:r>
          </a:p>
          <a:p>
            <a:pPr>
              <a:spcAft>
                <a:spcPts val="1000"/>
              </a:spcAft>
            </a:pPr>
            <a:r>
              <a:rPr sz="1700">
                <a:solidFill>
                  <a:srgbClr val="222B33"/>
                </a:solidFill>
                <a:latin typeface="Microsoft YaHei"/>
              </a:rPr>
              <a:t>▪ 硬往里塞最容易扎伤手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用双手回套针帽</a:t>
            </a:r>
          </a:p>
          <a:p>
            <a:pPr>
              <a:spcAft>
                <a:spcPts val="1000"/>
              </a:spcAft>
            </a:pPr>
            <a:r>
              <a:rPr sz="1500">
                <a:solidFill>
                  <a:srgbClr val="222B33"/>
                </a:solidFill>
                <a:latin typeface="Microsoft YaHei"/>
              </a:rPr>
              <a:t>▪ 锐器盒装满冒尖还往里塞</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专用袋双层包装，别装满别手压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用专用袋和带盖容器装</a:t>
            </a:r>
          </a:p>
          <a:p>
            <a:pPr>
              <a:spcAft>
                <a:spcPts val="1000"/>
              </a:spcAft>
            </a:pPr>
            <a:r>
              <a:rPr sz="1700">
                <a:solidFill>
                  <a:srgbClr val="222B33"/>
                </a:solidFill>
                <a:latin typeface="Microsoft YaHei"/>
              </a:rPr>
              <a:t>▪ 双层装袋：内袋破了外袋兜着</a:t>
            </a:r>
          </a:p>
          <a:p>
            <a:pPr>
              <a:spcAft>
                <a:spcPts val="1000"/>
              </a:spcAft>
            </a:pPr>
            <a:r>
              <a:rPr sz="1700">
                <a:solidFill>
                  <a:srgbClr val="222B33"/>
                </a:solidFill>
                <a:latin typeface="Microsoft YaHei"/>
              </a:rPr>
              <a:t>▪ 内袋加消毒剂扎紧，外袋再扎</a:t>
            </a:r>
          </a:p>
          <a:p>
            <a:pPr>
              <a:spcAft>
                <a:spcPts val="1000"/>
              </a:spcAft>
            </a:pPr>
            <a:r>
              <a:rPr sz="1700">
                <a:solidFill>
                  <a:srgbClr val="222B33"/>
                </a:solidFill>
                <a:latin typeface="Microsoft YaHei"/>
              </a:rPr>
              <a:t>▪ 袋子和桶的外面也要消毒</a:t>
            </a:r>
          </a:p>
          <a:p>
            <a:pPr>
              <a:spcAft>
                <a:spcPts val="1000"/>
              </a:spcAft>
            </a:pPr>
            <a:r>
              <a:rPr sz="1700">
                <a:solidFill>
                  <a:srgbClr val="222B33"/>
                </a:solidFill>
                <a:latin typeface="Microsoft YaHei"/>
              </a:rPr>
              <a:t>▪ 别装太满，千万别用手往下压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只用一层普通垃圾袋</a:t>
            </a:r>
          </a:p>
          <a:p>
            <a:pPr>
              <a:spcAft>
                <a:spcPts val="1000"/>
              </a:spcAft>
            </a:pPr>
            <a:r>
              <a:rPr sz="1500">
                <a:solidFill>
                  <a:srgbClr val="222B33"/>
                </a:solidFill>
                <a:latin typeface="Microsoft YaHei"/>
              </a:rPr>
              <a:t>▪ 用手把袋里的废物往下压实</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液体废物不进下水道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液体培养物不能直接倒下水道</a:t>
            </a:r>
          </a:p>
          <a:p>
            <a:pPr>
              <a:spcAft>
                <a:spcPts val="1000"/>
              </a:spcAft>
            </a:pPr>
            <a:r>
              <a:rPr sz="1700">
                <a:solidFill>
                  <a:srgbClr val="222B33"/>
                </a:solidFill>
                <a:latin typeface="Microsoft YaHei"/>
              </a:rPr>
              <a:t>▪ 收进带盖容器，放进托盘防打翻</a:t>
            </a:r>
          </a:p>
          <a:p>
            <a:pPr>
              <a:spcAft>
                <a:spcPts val="1000"/>
              </a:spcAft>
            </a:pPr>
            <a:r>
              <a:rPr sz="1700">
                <a:solidFill>
                  <a:srgbClr val="222B33"/>
                </a:solidFill>
                <a:latin typeface="Microsoft YaHei"/>
              </a:rPr>
              <a:t>▪ 按规程消毒或灭菌后再处置</a:t>
            </a:r>
          </a:p>
          <a:p>
            <a:pPr>
              <a:spcAft>
                <a:spcPts val="1000"/>
              </a:spcAft>
            </a:pPr>
            <a:r>
              <a:rPr sz="1700">
                <a:solidFill>
                  <a:srgbClr val="222B33"/>
                </a:solidFill>
                <a:latin typeface="Microsoft YaHei"/>
              </a:rPr>
              <a:t>▪ 实验菌株不往外环境排放</a:t>
            </a:r>
          </a:p>
          <a:p>
            <a:pPr>
              <a:spcAft>
                <a:spcPts val="1000"/>
              </a:spcAft>
            </a:pPr>
            <a:r>
              <a:rPr sz="1700">
                <a:solidFill>
                  <a:srgbClr val="222B33"/>
                </a:solidFill>
                <a:latin typeface="Microsoft YaHei"/>
              </a:rPr>
              <a:t>▪ 野外用菌须经评估和批准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把菌液直接倒进水槽冲掉</a:t>
            </a:r>
          </a:p>
          <a:p>
            <a:pPr>
              <a:spcAft>
                <a:spcPts val="1000"/>
              </a:spcAft>
            </a:pPr>
            <a:r>
              <a:rPr sz="1500">
                <a:solidFill>
                  <a:srgbClr val="222B33"/>
                </a:solidFill>
                <a:latin typeface="Microsoft YaHei"/>
              </a:rPr>
              <a:t>▪ 废液瓶敞口放在台面边上</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培养物先灭活，污染瓶不开盖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计完数的平板里还是活菌</a:t>
            </a:r>
          </a:p>
          <a:p>
            <a:pPr>
              <a:spcAft>
                <a:spcPts val="1000"/>
              </a:spcAft>
            </a:pPr>
            <a:r>
              <a:rPr sz="1700">
                <a:solidFill>
                  <a:srgbClr val="222B33"/>
                </a:solidFill>
                <a:latin typeface="Microsoft YaHei"/>
              </a:rPr>
              <a:t>▪ 平板、吸头、接种环先装袋灭菌</a:t>
            </a:r>
          </a:p>
          <a:p>
            <a:pPr>
              <a:spcAft>
                <a:spcPts val="1000"/>
              </a:spcAft>
            </a:pPr>
            <a:r>
              <a:rPr sz="1700">
                <a:solidFill>
                  <a:srgbClr val="222B33"/>
                </a:solidFill>
                <a:latin typeface="Microsoft YaHei"/>
              </a:rPr>
              <a:t>▪ 长霉的培养瓶别打开闻、打开看</a:t>
            </a:r>
          </a:p>
          <a:p>
            <a:pPr>
              <a:spcAft>
                <a:spcPts val="1000"/>
              </a:spcAft>
            </a:pPr>
            <a:r>
              <a:rPr sz="1700">
                <a:solidFill>
                  <a:srgbClr val="222B33"/>
                </a:solidFill>
                <a:latin typeface="Microsoft YaHei"/>
              </a:rPr>
              <a:t>▪ 整瓶不开盖直接灭菌</a:t>
            </a:r>
          </a:p>
          <a:p>
            <a:pPr>
              <a:spcAft>
                <a:spcPts val="1000"/>
              </a:spcAft>
            </a:pPr>
            <a:r>
              <a:rPr sz="1700">
                <a:solidFill>
                  <a:srgbClr val="222B33"/>
                </a:solidFill>
                <a:latin typeface="Microsoft YaHei"/>
              </a:rPr>
              <a:t>▪ 培养物不能私自带出实验室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计完数的平板直接扔进垃圾桶</a:t>
            </a:r>
          </a:p>
          <a:p>
            <a:pPr>
              <a:spcAft>
                <a:spcPts val="1000"/>
              </a:spcAft>
            </a:pPr>
            <a:r>
              <a:rPr sz="1500">
                <a:solidFill>
                  <a:srgbClr val="222B33"/>
                </a:solidFill>
                <a:latin typeface="Microsoft YaHei"/>
              </a:rPr>
              <a:t>▪ 打开污染的培养瓶闻气味</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工程菌与转基因材料：灭活、登记、不带出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工程菌带抗性基因，不能外泄</a:t>
            </a:r>
          </a:p>
          <a:p>
            <a:pPr>
              <a:spcAft>
                <a:spcPts val="1000"/>
              </a:spcAft>
            </a:pPr>
            <a:r>
              <a:rPr sz="1700">
                <a:solidFill>
                  <a:srgbClr val="222B33"/>
                </a:solidFill>
                <a:latin typeface="Microsoft YaHei"/>
              </a:rPr>
              <a:t>▪ 培养物和耗材先灭活再处置</a:t>
            </a:r>
          </a:p>
          <a:p>
            <a:pPr>
              <a:spcAft>
                <a:spcPts val="1000"/>
              </a:spcAft>
            </a:pPr>
            <a:r>
              <a:rPr sz="1700">
                <a:solidFill>
                  <a:srgbClr val="222B33"/>
                </a:solidFill>
                <a:latin typeface="Microsoft YaHei"/>
              </a:rPr>
              <a:t>▪ 组培苗和转基因材料不得私自带走</a:t>
            </a:r>
          </a:p>
          <a:p>
            <a:pPr>
              <a:spcAft>
                <a:spcPts val="1000"/>
              </a:spcAft>
            </a:pPr>
            <a:r>
              <a:rPr sz="1700">
                <a:solidFill>
                  <a:srgbClr val="222B33"/>
                </a:solidFill>
                <a:latin typeface="Microsoft YaHei"/>
              </a:rPr>
              <a:t>▪ 试验结束清掉自生苗</a:t>
            </a:r>
          </a:p>
          <a:p>
            <a:pPr>
              <a:spcAft>
                <a:spcPts val="1000"/>
              </a:spcAft>
            </a:pPr>
            <a:r>
              <a:rPr sz="1700">
                <a:solidFill>
                  <a:srgbClr val="222B33"/>
                </a:solidFill>
                <a:latin typeface="Microsoft YaHei"/>
              </a:rPr>
              <a:t>▪ 菌株和处理都要登记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基因工程菌常带有抗生素抗性基因等外源基因，一旦外泄可能在环境中扩散。含工程菌的培养物、废液和耗材收进专用容器，先灭活（如高压灭菌），再按规定分类处置。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工程菌菌液直接倒进下水道</a:t>
            </a:r>
          </a:p>
          <a:p>
            <a:pPr>
              <a:spcAft>
                <a:spcPts val="1000"/>
              </a:spcAft>
            </a:pPr>
            <a:r>
              <a:rPr sz="1500">
                <a:solidFill>
                  <a:srgbClr val="222B33"/>
                </a:solidFill>
                <a:latin typeface="Microsoft YaHei"/>
              </a:rPr>
              <a:t>▪ 把转基因苗带回宿舍养</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出实验室前先灭菌，确认并登记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感染性废物出实验室前先灭菌</a:t>
            </a:r>
          </a:p>
          <a:p>
            <a:pPr>
              <a:spcAft>
                <a:spcPts val="1000"/>
              </a:spcAft>
            </a:pPr>
            <a:r>
              <a:rPr sz="2000">
                <a:solidFill>
                  <a:srgbClr val="222B33"/>
                </a:solidFill>
                <a:latin typeface="Microsoft YaHei"/>
              </a:rPr>
              <a:t>▪ 按本室手册，由培训过的人操作</a:t>
            </a:r>
          </a:p>
          <a:p>
            <a:pPr>
              <a:spcAft>
                <a:spcPts val="1000"/>
              </a:spcAft>
            </a:pPr>
            <a:r>
              <a:rPr sz="2000">
                <a:solidFill>
                  <a:srgbClr val="222B33"/>
                </a:solidFill>
                <a:latin typeface="Microsoft YaHei"/>
              </a:rPr>
              <a:t>▪ 用指示物确认灭菌到位</a:t>
            </a:r>
          </a:p>
          <a:p>
            <a:pPr>
              <a:spcAft>
                <a:spcPts val="1000"/>
              </a:spcAft>
            </a:pPr>
            <a:r>
              <a:rPr sz="2000">
                <a:solidFill>
                  <a:srgbClr val="222B33"/>
                </a:solidFill>
                <a:latin typeface="Microsoft YaHei"/>
              </a:rPr>
              <a:t>▪ 每锅登记，合格了再往外送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国内高校实验室的感染性废物，一般要先在实验室内（或本单位指定地点）高压蒸汽灭菌，灭菌合格后再离开实验室，交学校统一处置。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没有灭菌就把感染性废物送出实验室</a:t>
            </a:r>
          </a:p>
          <a:p>
            <a:pPr>
              <a:spcAft>
                <a:spcPts val="1000"/>
              </a:spcAft>
            </a:pPr>
            <a:r>
              <a:rPr sz="1500">
                <a:solidFill>
                  <a:srgbClr val="222B33"/>
                </a:solidFill>
                <a:latin typeface="Microsoft YaHei"/>
              </a:rPr>
              <a:t>▪ 灭菌不登记，结果无据可查</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专用包装、标签、暂存，及时清运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灭菌后装进医疗废物专用包装</a:t>
            </a:r>
          </a:p>
          <a:p>
            <a:pPr>
              <a:spcAft>
                <a:spcPts val="1000"/>
              </a:spcAft>
            </a:pPr>
            <a:r>
              <a:rPr sz="1700">
                <a:solidFill>
                  <a:srgbClr val="222B33"/>
                </a:solidFill>
                <a:latin typeface="Microsoft YaHei"/>
              </a:rPr>
              <a:t>▪ 贴标签：哪个实验室、什么时间</a:t>
            </a:r>
          </a:p>
          <a:p>
            <a:pPr>
              <a:spcAft>
                <a:spcPts val="1000"/>
              </a:spcAft>
            </a:pPr>
            <a:r>
              <a:rPr sz="1700">
                <a:solidFill>
                  <a:srgbClr val="222B33"/>
                </a:solidFill>
                <a:latin typeface="Microsoft YaHei"/>
              </a:rPr>
              <a:t>▪ 不能随手堆在走廊、楼道</a:t>
            </a:r>
          </a:p>
          <a:p>
            <a:pPr>
              <a:spcAft>
                <a:spcPts val="1000"/>
              </a:spcAft>
            </a:pPr>
            <a:r>
              <a:rPr sz="1700">
                <a:solidFill>
                  <a:srgbClr val="222B33"/>
                </a:solidFill>
                <a:latin typeface="Microsoft YaHei"/>
              </a:rPr>
              <a:t>▪ 放进专门的暂存点或转运箱</a:t>
            </a:r>
          </a:p>
          <a:p>
            <a:pPr>
              <a:spcAft>
                <a:spcPts val="1000"/>
              </a:spcAft>
            </a:pPr>
            <a:r>
              <a:rPr sz="1700">
                <a:solidFill>
                  <a:srgbClr val="222B33"/>
                </a:solidFill>
                <a:latin typeface="Microsoft YaHei"/>
              </a:rPr>
              <a:t>▪ 按时清运，不长时间存放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灭菌后的感染性废物按本校规定装进医疗废物专用包装袋或容器（有警示标识），锐器盒单独装。包装外贴好标签，写明产生的实验室、日期、废物类别等。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废物袋没标签，来源不明</a:t>
            </a:r>
          </a:p>
          <a:p>
            <a:pPr>
              <a:spcAft>
                <a:spcPts val="1000"/>
              </a:spcAft>
            </a:pPr>
            <a:r>
              <a:rPr sz="1500">
                <a:solidFill>
                  <a:srgbClr val="222B33"/>
                </a:solidFill>
                <a:latin typeface="Microsoft YaHei"/>
              </a:rPr>
              <a:t>▪ 废物袋长期堆在楼道</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交有资质单位，联单存档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交有资质的单位统一处置</a:t>
            </a:r>
          </a:p>
          <a:p>
            <a:pPr>
              <a:spcAft>
                <a:spcPts val="1000"/>
              </a:spcAft>
            </a:pPr>
            <a:r>
              <a:rPr sz="1700">
                <a:solidFill>
                  <a:srgbClr val="222B33"/>
                </a:solidFill>
                <a:latin typeface="Microsoft YaHei"/>
              </a:rPr>
              <a:t>▪ 交接时填好登记和转移联单</a:t>
            </a:r>
          </a:p>
          <a:p>
            <a:pPr>
              <a:spcAft>
                <a:spcPts val="1000"/>
              </a:spcAft>
            </a:pPr>
            <a:r>
              <a:rPr sz="1700">
                <a:solidFill>
                  <a:srgbClr val="222B33"/>
                </a:solidFill>
                <a:latin typeface="Microsoft YaHei"/>
              </a:rPr>
              <a:t>▪ 联单存档，去向可查</a:t>
            </a:r>
          </a:p>
          <a:p>
            <a:pPr>
              <a:spcAft>
                <a:spcPts val="1000"/>
              </a:spcAft>
            </a:pPr>
            <a:r>
              <a:rPr sz="1700">
                <a:solidFill>
                  <a:srgbClr val="222B33"/>
                </a:solidFill>
                <a:latin typeface="Microsoft YaHei"/>
              </a:rPr>
              <a:t>▪ 不混生活垃圾，不交无资质的人</a:t>
            </a:r>
          </a:p>
          <a:p>
            <a:pPr>
              <a:spcAft>
                <a:spcPts val="1000"/>
              </a:spcAft>
            </a:pPr>
            <a:r>
              <a:rPr sz="1700">
                <a:solidFill>
                  <a:srgbClr val="222B33"/>
                </a:solidFill>
                <a:latin typeface="Microsoft YaHei"/>
              </a:rPr>
              <a:t>▪ 实验室不能自己焚烧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感染性废物（医疗废物）属于国家危险废物名录管理的危险废物，由学校统一交给有资质的医疗废物集中处置单位，用高温焚烧等方式无害化处置。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灭菌后就当生活垃圾扔了</a:t>
            </a:r>
          </a:p>
          <a:p>
            <a:pPr>
              <a:spcAft>
                <a:spcPts val="1000"/>
              </a:spcAft>
            </a:pPr>
            <a:r>
              <a:rPr sz="1500">
                <a:solidFill>
                  <a:srgbClr val="222B33"/>
                </a:solidFill>
                <a:latin typeface="Microsoft YaHei"/>
              </a:rPr>
              <a:t>▪ 把废物交给收废品的人</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下列废物中，应该放进锐器盒的是：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用过的手套</a:t>
            </a:r>
          </a:p>
          <a:p>
            <a:pPr algn="l"/>
            <a:r>
              <a:rPr sz="1500" b="0">
                <a:solidFill>
                  <a:srgbClr val="222B33"/>
                </a:solidFill>
                <a:latin typeface="Microsoft YaHei"/>
              </a:rPr>
              <a:t>B. 用过的平板</a:t>
            </a:r>
          </a:p>
          <a:p>
            <a:pPr algn="l"/>
            <a:r>
              <a:rPr sz="1500" b="0">
                <a:solidFill>
                  <a:srgbClr val="222B33"/>
                </a:solidFill>
                <a:latin typeface="Microsoft YaHei"/>
              </a:rPr>
              <a:t>C. 沾染菌液的针头和碎玻片</a:t>
            </a:r>
          </a:p>
          <a:p>
            <a:pPr algn="l"/>
            <a:r>
              <a:rPr sz="1500" b="0">
                <a:solidFill>
                  <a:srgbClr val="222B33"/>
                </a:solidFill>
                <a:latin typeface="Microsoft YaHei"/>
              </a:rPr>
              <a:t>D. 擦台面的纸巾</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判断：计完数的平板实验已经结束，可以直接丢进普通垃圾桶。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感染性废物袋快装满时，正确的做法是：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用手压实再多装一些</a:t>
            </a:r>
          </a:p>
          <a:p>
            <a:pPr algn="l"/>
            <a:r>
              <a:rPr sz="1500" b="0">
                <a:solidFill>
                  <a:srgbClr val="222B33"/>
                </a:solidFill>
                <a:latin typeface="Microsoft YaHei"/>
              </a:rPr>
              <a:t>B. 不超过四分之三就扎口，换新袋</a:t>
            </a:r>
          </a:p>
          <a:p>
            <a:pPr algn="l"/>
            <a:r>
              <a:rPr sz="1500" b="0">
                <a:solidFill>
                  <a:srgbClr val="222B33"/>
                </a:solidFill>
                <a:latin typeface="Microsoft YaHei"/>
              </a:rPr>
              <a:t>C. 装满冒尖再扎</a:t>
            </a:r>
          </a:p>
          <a:p>
            <a:pPr algn="l"/>
            <a:r>
              <a:rPr sz="1500" b="0">
                <a:solidFill>
                  <a:srgbClr val="222B33"/>
                </a:solidFill>
                <a:latin typeface="Microsoft YaHei"/>
              </a:rPr>
              <a:t>D. 把袋口敞着等清运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判断：液体菌液加大量自来水稀释后，可以倒进下水道。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灭菌后的感染性废物最终应该：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混进生活垃圾</a:t>
            </a:r>
          </a:p>
          <a:p>
            <a:pPr algn="l"/>
            <a:r>
              <a:rPr sz="1500" b="0">
                <a:solidFill>
                  <a:srgbClr val="222B33"/>
                </a:solidFill>
                <a:latin typeface="Microsoft YaHei"/>
              </a:rPr>
              <a:t>B. 交给收废品的人</a:t>
            </a:r>
          </a:p>
          <a:p>
            <a:pPr algn="l"/>
            <a:r>
              <a:rPr sz="1500" b="0">
                <a:solidFill>
                  <a:srgbClr val="222B33"/>
                </a:solidFill>
                <a:latin typeface="Microsoft YaHei"/>
              </a:rPr>
              <a:t>C. 在实验室里自己焚烧</a:t>
            </a:r>
          </a:p>
          <a:p>
            <a:pPr algn="l"/>
            <a:r>
              <a:rPr sz="1500" b="0">
                <a:solidFill>
                  <a:srgbClr val="222B33"/>
                </a:solidFill>
                <a:latin typeface="Microsoft YaHei"/>
              </a:rPr>
              <a:t>D. 装进专用包装贴标签，暂存后交有资质单位处置并填写转移联单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简答：培养瓶长了霉，应该怎样处理？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先定废物管理方案</a:t>
            </a:r>
          </a:p>
          <a:p>
            <a:pPr>
              <a:spcAft>
                <a:spcPts val="800"/>
              </a:spcAft>
            </a:pPr>
            <a:r>
              <a:rPr sz="1800">
                <a:solidFill>
                  <a:srgbClr val="FFFFFF"/>
                </a:solidFill>
                <a:latin typeface="Microsoft YaHei"/>
              </a:rPr>
              <a:t>▪ K2  先分类：感染性废物单独收集</a:t>
            </a:r>
          </a:p>
          <a:p>
            <a:pPr>
              <a:spcAft>
                <a:spcPts val="800"/>
              </a:spcAft>
            </a:pPr>
            <a:r>
              <a:rPr sz="1800">
                <a:solidFill>
                  <a:srgbClr val="FFFFFF"/>
                </a:solidFill>
                <a:latin typeface="Microsoft YaHei"/>
              </a:rPr>
              <a:t>▪ K3  锐器进锐器盒，不回套针帽</a:t>
            </a:r>
          </a:p>
          <a:p>
            <a:pPr>
              <a:spcAft>
                <a:spcPts val="800"/>
              </a:spcAft>
            </a:pPr>
            <a:r>
              <a:rPr sz="1800">
                <a:solidFill>
                  <a:srgbClr val="FFFFFF"/>
                </a:solidFill>
                <a:latin typeface="Microsoft YaHei"/>
              </a:rPr>
              <a:t>▪ K4  专用袋双层包装，别装满别手压</a:t>
            </a:r>
          </a:p>
          <a:p>
            <a:pPr>
              <a:spcAft>
                <a:spcPts val="800"/>
              </a:spcAft>
            </a:pPr>
            <a:r>
              <a:rPr sz="1800">
                <a:solidFill>
                  <a:srgbClr val="FFFFFF"/>
                </a:solidFill>
                <a:latin typeface="Microsoft YaHei"/>
              </a:rPr>
              <a:t>▪ K5  液体废物不进下水道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培养物先灭活，污染瓶不开盖</a:t>
            </a:r>
          </a:p>
          <a:p>
            <a:pPr>
              <a:spcAft>
                <a:spcPts val="800"/>
              </a:spcAft>
            </a:pPr>
            <a:r>
              <a:rPr sz="1800">
                <a:solidFill>
                  <a:srgbClr val="FFFFFF"/>
                </a:solidFill>
                <a:latin typeface="Microsoft YaHei"/>
              </a:rPr>
              <a:t>▪ K7  工程菌与转基因材料：灭活、登记、不带出</a:t>
            </a:r>
          </a:p>
          <a:p>
            <a:pPr>
              <a:spcAft>
                <a:spcPts val="800"/>
              </a:spcAft>
            </a:pPr>
            <a:r>
              <a:rPr sz="1800">
                <a:solidFill>
                  <a:srgbClr val="FFFFFF"/>
                </a:solidFill>
                <a:latin typeface="Microsoft YaHei"/>
              </a:rPr>
              <a:t>▪ K8  出实验室前先灭菌，确认并登记</a:t>
            </a:r>
          </a:p>
          <a:p>
            <a:pPr>
              <a:spcAft>
                <a:spcPts val="800"/>
              </a:spcAft>
            </a:pPr>
            <a:r>
              <a:rPr sz="1800">
                <a:solidFill>
                  <a:srgbClr val="FFFFFF"/>
                </a:solidFill>
                <a:latin typeface="Microsoft YaHei"/>
              </a:rPr>
              <a:t>▪ K9  专用包装、标签、暂存，及时清运</a:t>
            </a:r>
          </a:p>
          <a:p>
            <a:pPr>
              <a:spcAft>
                <a:spcPts val="800"/>
              </a:spcAft>
            </a:pPr>
            <a:r>
              <a:rPr sz="1800">
                <a:solidFill>
                  <a:srgbClr val="FFFFFF"/>
                </a:solidFill>
                <a:latin typeface="Microsoft YaHei"/>
              </a:rPr>
              <a:t>▪ K10  交有资质单位，联单存档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