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生命科学实验离不开细胞、微生物和各种生物样本。与其他实验室相比，生物实验室除了化学品、仪器设备、用电等常见危险，还多了一类生物危害：细菌、病毒等病原体肉眼看不见，却可能让健康人感染生病。</a:t>
            </a:r>
          </a:p>
          <a:p>
            <a:r>
              <a:t>风险往往就在手边：血液等样本可能带有病原；针头、刀片等锐器可能刺伤皮肤；移液、混匀、离心等操作可能产生肉眼看不见的气溶胶。微生物实验室的危害来自三方面——活的微生物、消毒剂和化学试剂、各种仪器设备，所以各方面的安全措施都不能少。</a:t>
            </a:r>
          </a:p>
          <a:p>
            <a:r>
              <a:t>实验室门口的生物危害标志就是提醒：门后有生物危害，进门要遵守本实验室的规定。学习本章时做好笔记，没弄懂的地方回头再看，或请教老师。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与化学品不同：它能在人群中传播。一旦从实验室失控逸出，受害的可能不只是操作者本人，还可能引起疾病流行，威胁整个社会的公共卫生。随着新发传染病不断出现，生物因子对公众健康的威胁也在增加。</a:t>
            </a:r>
          </a:p>
          <a:p>
            <a:r>
              <a:t>学习生物安全常会遇到几个词：指示病例（一起疫情中最先被发现、引起关注的病例）；医院内感染（在医疗机构内获得的感染）；经皮肤刺伤（经锐器刺破皮肤造成的暴露）；流行病学（研究疾病在人群中分布和传播规律的学科）。</a:t>
            </a:r>
          </a:p>
          <a:p>
            <a:r>
              <a:t>研发诊断方法、疫苗和治疗药物，都离不开对病原的研究；只有先把风险管好，研究才能持续开展。生物安全不是某一家实验室的事，而是每个国家、每个单位、每个实验室共同的责任。</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生物安全，讲的是怎样安全地操作有感染性的微生物和其他有危害的生物材料，并把它们控制、封闭（也称“防护”或“封闭”）在规定的范围内。所谓防护，就是给生物因子划定边界，让它留在设备和设施里，不逸出伤人。</a:t>
            </a:r>
          </a:p>
          <a:p>
            <a:r>
              <a:t>GB 19489-2008 对实验室生物安全的表述是：实验室的生物安全条件和状态不低于容许水平，可避免实验室人员、来访人员、社区及环境受到不可接受的损害，符合相关法规、标准等对实验室生物安全责任的要求（以现行文本为准）。《中华人民共和国生物安全法》则把生物安全放在国家安全的高度，病原微生物实验室生物安全是其中的重要内容。</a:t>
            </a:r>
          </a:p>
          <a:p>
            <a:r>
              <a:t>实验室安全包括很多方面，而在微生物实验室，最核心的就是生物安全：既护住自己，也不让微生物跑出去。</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生物安全依靠规范的做法、程序和设备，保护三方面：一是实验室工作人员；二是实验室和周边环境；三是社区公众。</a:t>
            </a:r>
          </a:p>
          <a:p>
            <a:r>
              <a:t>具体目标有两个：一是防止实验室获得性感染，即工作人员在实验中被感染；二是防止病原意外释放，即感染性材料因泄漏、设施故障或带出实验室而扩散到外界。防意外暴露、防病原外泄，挡住的是感染因子、毒素等各种生物危害。</a:t>
            </a:r>
          </a:p>
          <a:p>
            <a:r>
              <a:t>保护自己，保护实验室，也就保护了身边的每个人。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和公众；生物安保，重点防的是生物材料被丢失、被盗、被滥用或被故意释放。</a:t>
            </a:r>
          </a:p>
          <a:p>
            <a:r>
              <a:t>三者互相咬合：认清危害是前提，生物安全措施防止意外，生物安保措施防止人为故意。实验室既要做好生物安全，也要管好菌（毒）种和样本的保管、登记和交接。生物安保的具体要求见第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生物安全工作有两大原则：一是风险评估，二是防护。</a:t>
            </a:r>
          </a:p>
          <a:p>
            <a:r>
              <a:t>风险评估在前：开展实验前，弄清要操作的病原或材料有什么危害、怎么操作、谁来操作、在哪里操作，判断风险有多大。防护在后：按评估结果，选择相应级别的实验室、安全设备、个人防护装备和操作规程。没有评估，防护就可能不足或过度。生物风险评估的具体步骤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不是一样东西，而是一整套：规范的操作方法和程序（如规程、培训、良好的微生物操作习惯）；专门的安全设备（如生物安全柜、密封离心杯、个人防护装备）；专门设计的实验室设施（如分区、门禁、通风、洗手和消毒灭菌设施）。</a:t>
            </a:r>
          </a:p>
          <a:p>
            <a:r>
              <a:t>三要素要配套使用，合起来才是一套防护体系，缺一环就可能出事。例如有生物安全柜但不按规程操作，或操作规范但实验室级别不够，防护都有漏洞。</a:t>
            </a:r>
          </a:p>
          <a:p>
            <a:r>
              <a:t>防护的目的是减少暴露：人不暴露，环境也不暴露。能消除危害的先消除（如不必要的操作不做），不能消除的尽量减少（如用安全设备、做好个人防护）。生物安全柜的原理和使用见第 071、072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5P 是评估生物风险时常用的五个要素：</a:t>
            </a:r>
          </a:p>
          <a:p>
            <a:r>
              <a:t>1. 病原：先弄清操作的是什么，查《人间传染的病原微生物目录》确定危害程度和所需防护水平。注意：我国把病原微生物按危害程度分为四类，第一类危害最大、第四类最小；国际上通行的“风险组”则是 1 组最低、4 组最高，两者顺序相反，不能混用（详见第 058 课）。</a:t>
            </a:r>
          </a:p>
          <a:p>
            <a:r>
              <a:t>2. 人员：谁来做，能力和健康状况是否合适；先培训、考核合格，才能上岗。</a:t>
            </a:r>
          </a:p>
          <a:p>
            <a:r>
              <a:t>3. 场所：实验室的防护级别要与病原危害和实验活动相匹配（实验室分级见第 059 课）。</a:t>
            </a:r>
          </a:p>
          <a:p>
            <a:r>
              <a:t>4. 个人防护：按评估结果选择防护装备（见第 074 课）。</a:t>
            </a:r>
          </a:p>
          <a:p>
            <a:r>
              <a:t>5. 规程：操作步骤写清楚，照着做。</a:t>
            </a:r>
          </a:p>
          <a:p>
            <a:r>
              <a:t>五个 P 相互影响，要一起看，才能定准风险，再决定采取哪些控制措施；哪个 P 薄弱就先补哪个，短板补上，风险才真正降下来。在此之上还有安全文化：人人尽责，安全才稳。如何确定具体实验的防护等级见第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开展生物实验，首先要遵守国家法规。我国生物安全的主要依据包括：</a:t>
            </a:r>
          </a:p>
          <a:p>
            <a:r>
              <a:t>- 《中华人民共和国生物安全法》：生物安全领域的基础性法律，对病原微生物实验室生物安全管理、法律责任等作出规定。</a:t>
            </a:r>
          </a:p>
          <a:p>
            <a:r>
              <a:t>- 《病原微生物实验室生物安全管理条例》：把病原微生物按危害程度分为四类，把实验室按生物安全防护水平分为一级至四级，规定各级实验室可以从事的实验活动、备案和审批要求。</a:t>
            </a:r>
          </a:p>
          <a:p>
            <a:r>
              <a:t>- GB 19489-2008《实验室 生物安全通用要求》（国家标准）和 WS 233《病原微生物实验室生物安全通用准则》（行业标准）：规定风险评估、设施设备、管理体系等技术和管理要求（均以现行文本为准）。</a:t>
            </a:r>
          </a:p>
          <a:p>
            <a:r>
              <a:t>- 《人间传染的病原微生物目录》（以现行版本为准）：查病原的危害程度分类和各类实验活动所需的防护水平。</a:t>
            </a:r>
          </a:p>
          <a:p>
            <a:r>
              <a:t>- 本校生物安全管理制度。</a:t>
            </a:r>
          </a:p>
          <a:p>
            <a:r>
              <a:t>实验人员的职业安全同样有法可依：单位要为实验人员提供防护装备、培训和健康监护。开展生物实验前先做风险评估，在相应防护级别的实验室里进行。法规体系的总体框架见第 002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国际上有通行的实验室生物安全手册，从生物安全的一般原则讲起，涵盖风险评估、防护、设备、培训等内容，是学习和参照的好起点。</a:t>
            </a:r>
          </a:p>
          <a:p>
            <a:r>
              <a:t>但任何国际手册都只能在本国法律框架内使用：国家和地方法规优先，国际手册作为补充和背景；其中引用的国外法规、数值和做法不能直接照搬。在我国，一切做法以国内法律法规、国家标准、行业标准和本校规定为准。</a:t>
            </a:r>
          </a:p>
          <a:p>
            <a:r>
              <a:t>落脚点是本土化：每个实验室都要依据国家标准和本单位制度，编写适合本实验室的安全手册和操作规程，并让每个人知晓。</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合规，就是遵守法律、法规、标准和规则。遵守国家和地方的法律法规、标准，是外部合规；遵守本单位的方针、制度和规程，是内部合规。</a:t>
            </a:r>
          </a:p>
          <a:p>
            <a:r>
              <a:t>实验室要把适用的要求找全：国家法律法规、国家标准和行业标准、地方规定、学校和学院的制度，逐项对照、逐项落实，一项不落。可以问问自己：我们遵从哪些法律、指南、伦理要求、规范和标准？翻一翻本实验室的制度和记录，就知道合规做到了哪一步。</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现行规定和本校规定为准。</a:t>
            </a:r>
          </a:p>
          <a:p>
            <a:r>
              <a:t>学生不得擅自开展高致病性病原微生物或未经评估审批的实验活动，不得在防护级别不够的实验室里做高级别的实验（越级操作），不得私自带出、转移、赠送菌（毒）种和样本。</a:t>
            </a:r>
          </a:p>
          <a:p>
            <a:r>
              <a:t>违反生物安全法律法规，要承担相应的法律责任。守规矩，既是保护自己，也是保护大家。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生物安全的知识和法规在不断更新，要持续学习新知识、新规定，按要求参加复训。</a:t>
            </a:r>
          </a:p>
          <a:p>
            <a:r>
              <a:t>工作中对异常保持警觉：设备报警、气流异常、样本容器破损、身体不适等，都要立即停止操作，报告实验室负责人，按本校规定处理。</a:t>
            </a:r>
          </a:p>
          <a:p>
            <a:r>
              <a:t>把风险挡在实验室里、防患于未然，靠的是每个人。生物安全的组织和责任见第 070 课，安全文化见第 010 课。</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答案：B。解析：我国按危害程度把病原微生物分为四类，第一类危害最大、第四类最小；国际风险组 1 组最低、4 组最高，顺序相反。</a:t>
            </a:r>
          </a:p>
          <a:p>
            <a:r>
              <a:t>第 2 题 答案：B。解析：生物安全保护人员、环境和公众，目标是防止实验室获得性感染和防止病原意外释放。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答案：C。解析：生物安全重点防无意的暴露和释放，生物安保重点防丢失、被盗、被滥用和故意释放，二者相辅相成。</a:t>
            </a:r>
          </a:p>
          <a:p>
            <a:r>
              <a:t>第 4 题 答案：D。解析：5P 指病原、人员、场所、个人防护、规程，五个要素一起看才能定准风险。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答案：B。解析：国际手册只作参考，必须在国内法律框架内使用，以国内法规、国家标准、行业标准和本校规定为准。</a:t>
            </a:r>
          </a:p>
          <a:p>
            <a:r>
              <a:t>第 6 题 答案：属于越级操作和私带样本，违反生物安全法规和本校规定，要承担法律责任；应先做风险评估，在相应防护级别的实验室开展并按规定审批，样本不得带出实验室。解析：守规矩既保护自己，也保护公众。</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生物因子是指可能对人体健康造成危害的微生物和其他生物材料，包括细菌、病毒、真菌及其他微生物，寄生虫，朊病毒这样的致病蛋白颗粒，以及它们产生的毒素等。</a:t>
            </a:r>
          </a:p>
          <a:p>
            <a:r>
              <a:t>关键在于它们会损害人的健康：轻则引起过敏，重则引起疾病甚至死亡。凡能对人造成危害的生物因子，都要纳入管理，做风险评估、按规定防护。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不同生物因子的特点不同，决定了防护的重点：</a:t>
            </a:r>
          </a:p>
          <a:p>
            <a:r>
              <a:t>- 细菌：不少来自土壤和水。有的能形成芽孢，对干燥、高温、消毒剂耐受力很强，在环境中能长期存活，操作时要特别注意防气溶胶，灭菌要彻底。支原体是一类没有细胞壁的细菌，作用于细胞壁的抗生素对它无效，常侵犯呼吸道。</a:t>
            </a:r>
          </a:p>
          <a:p>
            <a:r>
              <a:t>- 病毒：只能在活细胞内复制。有的能引起出血热等严重甚至致命的疾病，很多还没有特效药。</a:t>
            </a:r>
          </a:p>
          <a:p>
            <a:r>
              <a:t>- 真菌：酵母类中有带荚膜的致病种类，对免疫力低下的人尤其危险；霉菌等丝状真菌靠孢子随空气扩散，有的来自鸟粪和土壤，有的能产生毒素。免疫力低下时，常见的真菌也可能致病。</a:t>
            </a:r>
          </a:p>
          <a:p>
            <a:r>
              <a:t>这些特点在风险评估和选择消毒灭菌方法时都要考虑（评估要素见第 068 课，消毒灭菌见第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除细菌、病毒、真菌外，还有几类特殊的生物因子：</a:t>
            </a:r>
          </a:p>
          <a:p>
            <a:r>
              <a:t>- 朊病毒：一类具有感染性的蛋白颗粒，比较少见，可引起人和动物的慢性神经退行性疾病，对常规消毒灭菌方法抵抗力强，处理要求特殊，按本校规定和专门规程执行。</a:t>
            </a:r>
          </a:p>
          <a:p>
            <a:r>
              <a:t>- 感染性核酸：有些病毒的核酸本身就有感染性，操作核酸同样不能大意。</a:t>
            </a:r>
          </a:p>
          <a:p>
            <a:r>
              <a:t>- 寄生虫和媒介：血液寄生虫、作为中间宿主的螺，以及能传播疾病的蜱、蚤等节肢动物，都要纳入管理（实验动物与媒介生物见第 084 课）。</a:t>
            </a:r>
          </a:p>
          <a:p>
            <a:r>
              <a:t>- 生物毒素：不是活体，不会繁殖，但毒性可以很强，同样要按危险材料管理（见第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按风险高低分组，主要看两方面：一是对个体的风险——引起的疾病有多严重，有没有有效的治疗和预防手段；二是对群体（社区）的风险——会不会在人与人、动物与人之间传播，传开后对公众、家畜和环境的影响有多大。</a:t>
            </a:r>
          </a:p>
          <a:p>
            <a:r>
              <a:t>国际上通行的风险组和我国的危害程度分类，都是从这两方面判断的，但编号方向相反（见 K7）。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国际上通行把生物因子分为四个风险组，数字越大风险越高：1 组最低、4 组最高（注意：与我国病原分类的编号方向相反，见 K7）。</a:t>
            </a:r>
          </a:p>
          <a:p>
            <a:r>
              <a:t>- 第 1 组：个体风险低、群体风险低。一般不会让健康成人或动物生病，例如常用的大肠杆菌实验室菌株、用于发酵的微生物。风险低，也要按规范操作。</a:t>
            </a:r>
          </a:p>
          <a:p>
            <a:r>
              <a:t>- 第 2 组：个体风险中等、群体风险低。能让人或动物生病，但对实验人员、社区、家畜和环境危害不大；实验室暴露也可能引起严重感染，但有有效的治疗和预防手段，感染扩散的风险有限。</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第 3 组：个体风险高、群体风险低（或低到中等）。通常引起人或动物的严重疾病，甚至可能致死，但一般不会在人与人之间传开，而且一般有有效的治疗和预防手段。</a:t>
            </a:r>
          </a:p>
          <a:p>
            <a:r>
              <a:t>- 第 4 组：个体风险和群体风险都高。可引起人或动物的严重乃至致命的疾病，容易直接或间接在人与人、动物与人之间传播，通常没有有效的治疗和预防手段，只能在最高防护级别的设施里操作。</a:t>
            </a:r>
          </a:p>
          <a:p>
            <a:r>
              <a:t>学生实验不涉及这些高风险病原；相关实验活动在国内属于高致病性病原微生物管理范围（见 K9）。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按《病原微生物实验室生物安全管理条例》（以现行文本为准），我国根据传染性、感染后对个体或群体的危害程度，把病原微生物分为四类：</a:t>
            </a:r>
          </a:p>
          <a:p>
            <a:r>
              <a:t>- 第一类：能够引起人类或者动物非常严重疾病的微生物，以及我国尚未发现或者已经宣布消灭的微生物；</a:t>
            </a:r>
          </a:p>
          <a:p>
            <a:r>
              <a:t>- 第二类：能够引起人类或者动物严重疾病，比较容易直接或者间接在人与人、动物与人、动物与动物间传播的微生物；</a:t>
            </a:r>
          </a:p>
          <a:p>
            <a:r>
              <a:t>- 第三类：能够引起人类或者动物疾病，但一般情况下对人、动物或者环境不构成严重危害，传播风险有限，实验室感染后很少引起严重疾病，并且具备有效治疗和预防措施的微生物；</a:t>
            </a:r>
          </a:p>
          <a:p>
            <a:r>
              <a:t>- 第四类：在通常情况下不会引起人类或者动物疾病的微生物。</a:t>
            </a:r>
          </a:p>
          <a:p>
            <a:r>
              <a:t>一定要记住：国内数字越小越危险，国际数字越大越危险。国际第 4 组大致对应国内第一类、国际第 1 组大致对应国内第四类，但这只是大致对应，不能机械换算；某种病原属于第几类，以国内目录为准（见 K10）。填表、写报告和标签时，注明用的是哪一套编号，不要混写。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与病原分类不同，生物安全实验室的防护级别国内外方向一致：一级（BSL-1）最低，四级（BSL-4）最高（分级见第 059 课）。</a:t>
            </a:r>
          </a:p>
          <a:p>
            <a:r>
              <a:t>所以不能把病原的“第几类”和实验室的“第几级”简单对号入座：国内第一类病原危害最大，需要的是高级别实验室，绝不是一级实验室。具体某项实验在哪一级实验室做，先查目录中该实验活动所需的级别，再结合风险评估确定（定级步骤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类、第二类病原微生物统称为高致病性病原微生物。按《病原微生物实验室生物安全管理条例》（以现行文本为准），从事高致病性病原微生物相关实验活动，须在相应防护级别的实验室进行，并按规定报经批准。</a:t>
            </a:r>
          </a:p>
          <a:p>
            <a:r>
              <a:t>学生不得擅自开展涉及高致病性病原微生物的实验，也不得接触、索要、私自保存这类菌（毒）种和样本。任何涉及病原微生物的实验，都要先经导师和单位按本校规定审查。</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感染实验、未经培养的感染材料操作、灭活材料和无感染性材料操作）所需的实验室防护级别，以及运输包装要求。</a:t>
            </a:r>
          </a:p>
          <a:p>
            <a:r>
              <a:t>同一病原，实验活动不同，所需级别也可能不同。国外资料和网上名单的归类可能与国内不一样，只能作参考；目录会修订，查分类和防护要求时要用现行最新版本，不要使用网上流传的旧表格。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现行规定和本校规定为准）。未知病原和来源不明的样本从严对待，定级步骤见第 060 课，生物安全委员会见第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动物病原微生物在国内另有《动物病原微生物分类名录》（以现行版本为准）。实验涉及动物或人兽共患病原时，人间传染的病原目录和动物病原名录都要查清楚。</a:t>
            </a:r>
          </a:p>
          <a:p>
            <a:r>
              <a:t>农业转基因生物另有安全等级体系，按《农业转基因生物安全管理条例》等规定（以现行文本为准）分为Ⅰ至Ⅳ级，Ⅰ级最低、Ⅳ级最高，方向又与病原分类不同（见第 081 课）。填写申请表、评估表时写清楚用的是哪一套分级，不要混用。</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风险分组是一般性的判断。同一种病原在不同地区风险可能不同，评估和确定措施时还要考虑地区因素：</a:t>
            </a:r>
          </a:p>
          <a:p>
            <a:r>
              <a:t>1. 致病性，包括本地出现的变异株；</a:t>
            </a:r>
          </a:p>
          <a:p>
            <a:r>
              <a:t>2. 传播方式和宿主范围，以及本地人群的免疫水平、人口密度和流动性、有没有适宜的传播媒介、气候等环境条件；</a:t>
            </a:r>
          </a:p>
          <a:p>
            <a:r>
              <a:t>3. 本地能否获得有效的预防措施；</a:t>
            </a:r>
          </a:p>
          <a:p>
            <a:r>
              <a:t>4. 本地能否获得有效的治疗。</a:t>
            </a:r>
          </a:p>
          <a:p>
            <a:r>
              <a:t>四个因素都考虑到，评估才完整。在国内，病原类别以目录为准，地区因素用于具体实验的风险评估（评估要素见第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化学品有安全技术说明书，病原也有类似的资料单（病原安全数据表），一种病原一份，列出它的特性、传播途径、危害、消毒灭活方法、防护和处置要求等，是做风险评估的常用参考工具。</a:t>
            </a:r>
          </a:p>
          <a:p>
            <a:r>
              <a:t>常用的病原资料单多为国外公开发布的在线资料，内容不断更新，可以参考；但其中的风险组编号和防护建议不能替代国内目录和规定，国内类别以《人间传染的病原微生物目录》为准。</a:t>
            </a:r>
          </a:p>
          <a:p>
            <a:r>
              <a:t>资料单有手机版，查阅方便；但不要把手机带进高等级实验室——手机可能被污染，成为传播感染的媒介。进入实验室的个人物品按本实验室规定管理。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常见的病原资料单分为九个部分：</a:t>
            </a:r>
          </a:p>
          <a:p>
            <a:r>
              <a:t>1. 感染因子：名称、类型、分类和特性。</a:t>
            </a:r>
          </a:p>
          <a:p>
            <a:r>
              <a:t>2. 危害识别：致病性、传播性、宿主范围、感染剂量（往往难以确定）、潜伏期。</a:t>
            </a:r>
          </a:p>
          <a:p>
            <a:r>
              <a:t>3. 传播：传播途径，有没有储存宿主和媒介，是否人兽共患。</a:t>
            </a:r>
          </a:p>
          <a:p>
            <a:r>
              <a:t>4. 稳定性与存活：是否耐药，对哪些消毒剂敏感（消毒剂要选对，并保证足够的接触时间），能否用高温灭活，离开宿主能存活多久。</a:t>
            </a:r>
          </a:p>
          <a:p>
            <a:r>
              <a:t>5. 急救与医疗：医学监测、急救，有没有疫苗和预防用药；属于法定报告传染病的要按规定上报。</a:t>
            </a:r>
          </a:p>
          <a:p>
            <a:r>
              <a:t>6. 实验室危害：已报告的实验室感染、可能带有病原的标本来源、特殊危害；患者样本中还可能含有其他病原。</a:t>
            </a:r>
          </a:p>
          <a:p>
            <a:r>
              <a:t>7. 暴露控制与个人防护：风险越高，所需实验室级别和个人防护越高（国内级别以目录和评估为准）。</a:t>
            </a:r>
          </a:p>
          <a:p>
            <a:r>
              <a:t>8. 处置与储存：溢洒清理规程、销毁处置要求，储存要登记、上锁。</a:t>
            </a:r>
          </a:p>
          <a:p>
            <a:r>
              <a:t>9. 法规与其他信息：相关法规、更新日期、编写者、参考文献。资料单是受控文档，可以按病原名称查到。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答案：B。解析：我国病原微生物分四类，第一类危害最大、第四类最小，与国际风险组（1 组最低、4 组最高）方向相反。</a:t>
            </a:r>
          </a:p>
          <a:p>
            <a:r>
              <a:t>第 2 题 答案：B。解析：实验室级别国内外同向，四级最高；第一类病原危害最大，需要高级别实验室，并须经批准。</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答案：B。解析：其相关实验活动须在相应级别实验室进行并经批准，学生不得擅自开展。</a:t>
            </a:r>
          </a:p>
          <a:p>
            <a:r>
              <a:t>第 4 题 答案：C。解析：国外资料只作参考，以国内现行目录为准，并结合具体实验活动的风险评估。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答案：B。解析：目录未列的微生物先做风险评估，报单位生物安全委员会确定级别和防护，批准后再开展。</a:t>
            </a:r>
          </a:p>
          <a:p>
            <a:r>
              <a:t>第 6 题 答案：要考虑地区因素：致病性（含本地变异株），传播方式、宿主范围、本地人群免疫、人口密度和流动性、媒介和气候，本地能否获得有效的预防和治疗。解析：四个因素都考虑到，评估才完整。</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生物安全防护级别（生物安全水平，BSL）是一整套标准化的防护措施，包括安全规程和做法、安全设备和实验室设施，用来控制操作微生物带来的风险，保护操作人员、公众和环境。</a:t>
            </a:r>
          </a:p>
          <a:p>
            <a:r>
              <a:t>我国把生物安全实验室按防护水平分为一级、二级、三级、四级（BSL-1～BSL-4），从一级到四级逐级加严：等级越高，对应的生物因子风险越高，防护措施也越严。设计实验室、编写实验室安全手册，都按级别来确定要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实验在哪一级实验室做，取决于所操作生物因子的危害和具体实验活动（如何为具体实验定级见第 060 课）。每一级对三方面都有要求：什么样的房间和设施；用什么安全设备；按什么程序操作。</a:t>
            </a:r>
          </a:p>
          <a:p>
            <a:r>
              <a:t>级别越高，设施要求越多：三级、四级实验室要与其他区域独立隔离，房间能密封，可以进行气体熏蒸消毒，并有定向气流、负压和排风高效过滤等工程措施（封闭原理见第 062 课）。各级具体的操作要求见第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实验室防护级别与病原分类是两套不同的编号：实验室级别国内外一致，一级最低、四级最高，动物生物安全实验室（ABSL）也一样；而病原微生物分类，国内第一类危害最大、第四类最小，国际风险组则是 1 组最低、4 组最高，方向相反（见第 058 课）。</a:t>
            </a:r>
          </a:p>
          <a:p>
            <a:r>
              <a:t>记口诀：病原分类反着走，实验室级别顺着走。国内第一类、第二类（高致病性）病原，需要的是高级别实验室。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生物安全实验室（BSL-1）风险最低，操作的是已知通常不会使健康成人致病的微生物，例如无害的实验室菌株、做面包的酵母、土壤和水中的常见非致病菌。许多基础教学实验、微生物学入门课就在这一级开展。</a:t>
            </a:r>
          </a:p>
          <a:p>
            <a:r>
              <a:t>一级实验室通常是开放台面，一般不需要专门的封闭设施；但仍要遵守基本操作规范，穿实验服、戴手套，做好洗手和台面消毒，限制无关人员进入。一级实验室大致对应国际第 1 组，具体以国内目录和风险评估为准。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病原微生物目录》。二级实验室多用于临床检验、高校科研和医院实验室。</a:t>
            </a:r>
          </a:p>
          <a:p>
            <a:r>
              <a:t>与一级相比，二级要受控进入：门能自动关闭，门口挂生物危害标志和防护级别、负责人等信息，有合适的通风，配备洗手池和高压灭菌器等设施；可能产生气溶胶的操作要在生物安全柜内进行。人员要先经过培训，会操作、会处置感染性材料；按风险评估，必要时加戴面屏和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在相应级别实验室并经批准。</a:t>
            </a:r>
          </a:p>
          <a:p>
            <a:r>
              <a:t>三级实验室与其他区域隔离，有门禁和缓冲间；房间保持负压，形成由清洁区向污染区的定向气流，排风经高效过滤后排出；房间可密封，能做气体熏蒸消毒；所有感染性材料操作都在生物安全柜内进行。人员须经严格培训，严格按程序操作和去污，按要求穿全身防护、戴呼吸防护。三级实验室须通过国家认可。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四级生物安全实验室（BSL-4）是最高等级的防护，对应能危及生命、可经气溶胶传播、通常缺乏有效预防和治疗手段的高危病原；已宣布消灭的病原只在极少数指定机构保存。</a:t>
            </a:r>
          </a:p>
          <a:p>
            <a:r>
              <a:t>四级实验室有两种基本形式：人员穿独立供气的正压防护服工作（即使防护服破损，空气也是向外吹），或者在三级生物安全柜（全封闭手套箱式）内操作。进出要经过多道去污缓冲区，出口设化学淋浴和人员淋浴，物品经双扉高压灭菌器传出，有专用的通风和废水处理系统。进入受到严格控制，所有工作都在有经验人员的监督下进行。</a:t>
            </a:r>
          </a:p>
          <a:p>
            <a:r>
              <a:t>四级实验室造价和运行费用都非常高，维护和监管要求极严，只在国家批准的少数设施中建设；大多数从业人员工作在二级、三级实验室，高校学生平时接触的是一级、二级。</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用动物做感染性实验，按动物生物安全实验室分级，即 ABSL-1～ABSL-4，同样一级最低、四级最高（GB 19489-2008，以现行文本为准）。动物实验除了防操作中的暴露，还要防动物咬伤、抓伤，防动物排出的分泌物、排泄物和垫料中的病原，以及动物逃逸（见第 084 课）。</a:t>
            </a:r>
          </a:p>
          <a:p>
            <a:r>
              <a:t>植物病原和转基因植物的研究设施（如封闭温室）另有专门要求（见第 082 课）。国际资料中有在级别后加“加号”的“加强型”说法，表示在本级基础上借用了更高一级的部分设计或措施；国内以现行标准和主管部门要求为准。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实验室分级的标准不是一个机构说了算。在国内，是法律、法规、标准一层层落实：最上层是《中华人民共和国生物安全法》，下面是《病原微生物实验室生物安全管理条例》；技术要求写在国家标准 GB 19489-2008《实验室 生物安全通用要求》和行业标准 WS 233《病原微生物实验室生物安全通用准则》中（均以现行文本为准），包括防护设施、个人防护、实验室设计以及每一级的具体要求；具体病原的哪类实验放在几级做，查《人间传染的病原微生物目录》。</a:t>
            </a:r>
          </a:p>
          <a:p>
            <a:r>
              <a:t>标准和目录会随着新的认识不断修订。查规定时先确认是不是现行有效版本，旧版本不要再照用；学校发布更新通知，要及时学习。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国际上也有国际组织制定实验室生物安全手册，以及针对高风险病原的专项指南，尤其帮助公共卫生体系还在建设中的国家，在全球疫情应对中发挥作用。</a:t>
            </a:r>
          </a:p>
          <a:p>
            <a:r>
              <a:t>这些手册和指南在我国只作参考和背景资料。实验室分级、设施要求、审批程序，一律以国内法律法规、国家标准、行业标准和本校规定为准。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用一张图记住谁管什么：</a:t>
            </a:r>
          </a:p>
          <a:p>
            <a:r>
              <a:t>- 国际组织：提供手册和指南，作为国际参考；</a:t>
            </a:r>
          </a:p>
          <a:p>
            <a:r>
              <a:t>- 国家：法律、行政法规确定管理框架，国家标准和行业标准规定技术要求；</a:t>
            </a:r>
          </a:p>
          <a:p>
            <a:r>
              <a:t>- 主管部门和认可机构：卫生健康、农业农村等主管部门负责实验室备案和实验活动审批，三级、四级实验室须通过国家认可（具体分工以现行规定为准）；</a:t>
            </a:r>
          </a:p>
          <a:p>
            <a:r>
              <a:t>- 单位：学校生物安全委员会和实验室管理部门负责本地的审查、监督和执行，实验室负责人负责本实验室的日常管理（见第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高校学生的教学和多数科研实验在一级、二级实验室开展。进入三级、四级实验室工作，须经单位专门批准，接受专门培训并考核合格，获得授权；学生不得自行进入或开展相关实验。</a:t>
            </a:r>
          </a:p>
          <a:p>
            <a:r>
              <a:t>任何涉及病原微生物的实验，都要按国家目录和风险评估确定实验室级别，经批准后在相应级别的实验室里做；进入实验室前先通过准入培训，做好个人防护。拿不准实验该在几级做，先问导师和实验室负责人，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答案：B。解析：实验室级别国内外同向，四级最高；病原分类国内第一类最危险，方向相反。</a:t>
            </a:r>
          </a:p>
          <a:p>
            <a:r>
              <a:t>第 2 题 答案：A。解析：二级实验室受控进入、门自动关闭、挂标识，可能产生气溶胶的操作进安全柜。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答案：C。解析：三级实验室用于可经吸入致严重疾病的病原，须通过国家认可。</a:t>
            </a:r>
          </a:p>
          <a:p>
            <a:r>
              <a:t>第 4 题 答案：A。解析：以法律、条例为框架，技术要求见 GB 19489-2008 和 WS 233（以现行文本为准），国际手册只作参考。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答案：先查现行目录、做风险评估，并请教导师和实验室负责人，按确定的级别和批准开展；拿不准时不擅自做。解析：学生实验多在一级、二级，三四级须专门批准、培训和授权。</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为一种新微生物或一项新实验确定防护等级，不是在表格里查一下就行，而是一套结构化的风险评估：评估病原本身、实验操作、对人员的风险和对环境的影响，使实验室的防护水平与病原和具体操作相匹配。</a:t>
            </a:r>
          </a:p>
          <a:p>
            <a:r>
              <a:t>注意两套编号：国内病原分类第一类危害最大、第四类最小，国际风险组 1 组最低、4 组最高，方向相反；实验室防护级别则国内外同向，四级最高（见第 058、059 课）。第一类、第二类属于高致病性病原微生物，相关实验须在相应级别实验室并经批准。</a:t>
            </a:r>
          </a:p>
          <a:p>
            <a:r>
              <a:t>先查国家目录、做风险评估、确定级别，再按级别配备设施、设备和个人防护。通用的风险评估步骤和风险矩阵见第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资料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第三步看传播途径：能不能随空气被吸入？会不会经皮肤黏膜接触、经口食入，或经针头等锐器刺伤进入人体？</a:t>
            </a:r>
          </a:p>
          <a:p>
            <a:r>
              <a:t>能经空气（气溶胶）传播、引起严重疾病的病原，通常需要更高级别的实验室（如三级）。具体某种病原、某项实验需要几级，查目录并结合评估确定，不凭印象。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第四步看防治手段：有没有有效的治疗药物和疫苗？万一发生暴露，能不能及时进行急救、预防性用药和医学观察？</a:t>
            </a:r>
          </a:p>
          <a:p>
            <a:r>
              <a:t>没有有效治疗和预防手段的病原，一旦感染后果最严重，防护级别也要相应提高。暴露后的处置见第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第五步看实验活动本身：会不会产生气溶胶（如离心、匀浆、超声、剧烈混匀），会不会用到锐器？是不是高浓度、大体积操作？涉不涉及动物感染实验？涉不涉及重组 DNA 或基因改造？</a:t>
            </a:r>
          </a:p>
          <a:p>
            <a:r>
              <a:t>同一种病原，实验活动不同，所需级别也不同：例如对未经培养的样本做检测，与大量培养活的病原，风险和要求差别很大；目录对不同实验活动分别规定了所需的实验室级别（以现行版本为准）。培养活病毒等高风险活动须经批准，学生不得擅自开展。</a:t>
            </a:r>
          </a:p>
          <a:p>
            <a:r>
              <a:t>涉及基因改造（如使用病毒载体）的实验，可能需要提高防护级别，并须先经单位生物安全委员会审批（见第 081 课）；涉及可能被滥用的两用研究，还要经过相应的伦理和安全审查（见第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第六步看本实验室的条件：实验室的防护级别和设施设备够不够？人员是否受过相应培训、考核合格？个人防护装备是否齐全？应急处置条件是否具备？防护条件必须与风险等级相匹配。</a:t>
            </a:r>
          </a:p>
          <a:p>
            <a:r>
              <a:t>条件不够，就不要硬上。涉及第一类、第二类等高致病性病原微生物的，必须在具备条件的实验室并经批准才能开展；不具备条件的，按规定移交有资质的机构处理，或者按规定销毁（以现行规定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第七步，查规范、问专家：对照国内法律法规、GB 19489、WS 233 和《人间传染的病原微生物目录》（均以现行文本或版本为准），国外手册只作参考；再向实验室负责人、生物安全员和单位生物安全委员会咨询。</a:t>
            </a:r>
          </a:p>
          <a:p>
            <a:r>
              <a:t>防护级别不是研究者自己说了算：由项目负责人组织评估、提出拟定级别，经生物安全员或单位生物安全委员会评定、审批后确定；高致病性病原微生物的实验活动还须依法审批。学生不得自行定级，不得擅自开展。生物安全委员会的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各步骤的评估结果综合起来，最终级别取最高的那个风险因素：哪怕只有一项风险高，也要按高的来。</a:t>
            </a:r>
          </a:p>
          <a:p>
            <a:r>
              <a:t>举个例子：某菌株本身属于低风险，按本体可在一级实验室操作；但经过基因改造后要重新评估改造带来的变化，实验中又有产生气溶胶的操作，综合各项取最高，给出拟定级别。拟定的级别仍要报单位生物安全委员会审批，批准后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的病原一定要进三级实验室吗？逐案评估的思路是对的，但在国内必须按规定来：先查《人间传染的病原微生物目录》，目录对不同实验活动所需的实验室级别有明确规定。</a:t>
            </a:r>
          </a:p>
          <a:p>
            <a:r>
              <a:t>在国内不能随意降级操作。想在比目录规定低一级的实验室里做，研究者不能自己决定，必须有充分的风险评估，经单位生物安全委员会审核；涉及高致病性病原微生物的，还须依法审批（以现行规定为准）。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病原还没有确认时信息不全，评估要从严，宁可防护高一档，并报单位生物安全委员会审核。</a:t>
            </a:r>
          </a:p>
          <a:p>
            <a:r>
              <a:t>细胞系、临床样本、来源不明的样本，在目录里不一定查得到，同样要做风险评估，确定在几级实验室操作；拿不准的交单位生物安全委员会把关。</a:t>
            </a:r>
          </a:p>
          <a:p>
            <a:r>
              <a:t>噬菌体实验离不开宿主菌，用于杀灭致病菌的噬菌体，宿主往往就是致病菌，防护级别要按宿主菌和样品来评估，致病宿主菌在生物安全柜内规范操作。污泥、污水常被用作接种物，里面什么菌都可能有，包括致病菌；富集培养会把杂菌一起放大，评估后一般在二级实验室操作。</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定级评估不是口头说说，要形成书面的风险评估报告，经审核批准后留档，做到可追溯（GB 19489-2008，以现行文本为准）。</a:t>
            </a:r>
          </a:p>
          <a:p>
            <a:r>
              <a:t>实验内容、病原、规模、方法、人员或设施条件发生变化时，要重新做风险评估。采取控制措施后残余风险仍然偏高的，要上报单位生物安全委员会，由委员会决定是否开展，不擅自开工。风险评估的记录与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答案：B。解析：定级是一套结构化风险评估，级别由生物安全委员会评定审批。</a:t>
            </a:r>
          </a:p>
          <a:p>
            <a:r>
              <a:t>第 2 题 答案：B。解析：改造后要重新评估，结合操作中的气溶胶等风险，综合取最高，并报委员会审批。</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答案：B。解析：在国内不得随意降级操作。</a:t>
            </a:r>
          </a:p>
          <a:p>
            <a:r>
              <a:t>第 4 题 答案：B。解析：同样要做风险评估确定级别，信息不全时从严，拿不准交生物安全委员会把关。</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答案：不硬上；涉及高致病性病原的须在具备条件的实验室并经批准开展，否则按规定移交有资质的机构处理；报告实验室负责人。解析：防护条件必须与风险等级匹配。</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见第 059 课）。举例只看类别：一级多为无害的实验室菌株，二级多为常见可治的致病菌；具体某种病原、某项实验活动放在几级，查《人间传染的病原微生物目录》并做风险评估（见第 060 课）。注意国内病原分类第一类最危险，与国际风险组 1–4 方向相反；实验室级别则国内外同向，一级最低、四级最高。</a:t>
            </a:r>
          </a:p>
          <a:p>
            <a:r>
              <a:t>每一级的防护措施分三栏来看：个人防护（穿什么）、安全设备即工程控制（用什么设备）、实验室设施（房子怎么建），再加上操作规范和人员培训。各级要求是一整套：房子够格、操作不到位，或者设备齐全、人员没培训，都不算达到该级别。检查时设施、设备、操作、人员都要查。</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准入随级别逐级收紧：一级实验室，经过基本培训的人员可以进入；二级实验室限制进入，无关人员不得入内；三级实验室受控进入，人员须经专门培训、批准和授权；四级实验室严格控制进入，并有高度的安保措施。</a:t>
            </a:r>
          </a:p>
          <a:p>
            <a:r>
              <a:t>进门前先看门上的标识：生物危害标志、防护级别、涉及的病原或风险、实验室负责人和联系电话，看清要求、穿戴好再进。进入生物安全实验室实行“先培训、后准入”：培训考核合格才能进门操作，使用生物安全柜等设备也要先培训、考核并获得授权；学校、学院、实验室层层负责。进三级实验室须先批准、先培训，未获准入不得进入，也不得单独进入工作。</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性检验见第 025 课）；四级在不使用全密闭安全柜时，穿独立供气的正压防护服，手部戴多层手套。</a:t>
            </a:r>
          </a:p>
          <a:p>
            <a:r>
              <a:t>具体穿戴什么、戴什么级别的呼吸防护，由风险评估决定（防护装备的选择见第 074 课，穿脱顺序见第 075 课）。实验室的定向气流、安全柜等工程措施能帮助保护人员，但不是万能的，个人防护照样要穿戴齐全。</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理防护设备内进行，离心时使用密封的离心杯或转子；四级使用全密闭的Ⅲ级生物安全柜，或在防护服型实验室中穿正压防护服配合Ⅱ级生物安全柜工作，并有独立供气（生物安全柜见第 071、072 课）。</a:t>
            </a:r>
          </a:p>
          <a:p>
            <a:r>
              <a:t>气溶胶控制的要求同样逐级提高：一级一般无专门要求；二级在可能产生气溶胶时必须防护；三级至关重要；四级要求时刻处于全封闭状态。</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间保持负压，排风经高效过滤后排出（封闭原理见第 062 课，布局与进出见第 063 课）；四级完全隔离，进风、排风都要经过高效过滤，并有专用的废水处理等系统。</a:t>
            </a:r>
          </a:p>
          <a:p>
            <a:r>
              <a:t>各级设施的具体技术要求，以 GB 19489-2008、GB 50346《生物安全实验室建筑技术规范》和 WS 233（均以现行文本为准）以及本校设施说明为准。学生要做的是认识本实验室的设施、知道它们在哪里，不擅自改动。</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口、人员走动少的最里面，空气从门口流入，经过操作者，再进入柜子，把可能的污染拉向柜内、远离人员。柜子的排风按设计连接，不能自行拆改。</a:t>
            </a:r>
          </a:p>
          <a:p>
            <a:r>
              <a:t>二级实验室同样有两道屏障：第一道是生物安全柜和个人防护，保护操作者；第二道是门、洗手池、灭菌设施和规范管理，防止污染扩散到实验室外（两道防护的原理见第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负责指导大家、理顺工作流程。</a:t>
            </a:r>
          </a:p>
          <a:p>
            <a:r>
              <a:t>良好微生物操作包括无菌操作、灭菌和去污样样到位；消毒要选对消毒剂，并等够规定的作用时间（见第 076 课）。实验室还要有应急预案，覆盖设备破损、人员发病、溢洒和火灾等情形（溢洒与暴露处置见第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移液管，使用移液器等辅助装置；尽量少用锐器，用过的锐器直接放入锐器盒。</a:t>
            </a:r>
          </a:p>
          <a:p>
            <a:r>
              <a:t>操作时动作轻缓，减少溅洒和气溶胶；实验前后和溅洒后对台面消毒。培养物、废液和污染物品灭菌后按规定处置（见第 077 课），实验菌株不得带出实验室、不得排放到外界环境。实验服不穿出实验室；做完实验先摘手套，再用洗手池按步骤洗手，然后离开。二级实验室还要保持门关闭，可能产生气溶胶的操作在安全柜内进行。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微生物涂片和湿片可能含有活菌，观察时按相应级别穿戴防护；用过的玻片放进消毒缸消毒，或放进锐器盒；显微镜载物台被污染时及时消毒。</a:t>
            </a:r>
          </a:p>
          <a:p>
            <a:r>
              <a:t>从土壤、水等环境中分离出的菌，可能混有致病菌，鉴定前一律按未知菌对待：先做风险评估，再确定防护级别，一般在二级实验室的生物安全柜内操作；分离株标清来源和日期，鉴定结果出来之前不降级（未知样本从严定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a:p>
            <a:r>
              <a:t>二级的对象是检验人员、科研人员和教学实验室人员，做二级课题的学生同样要学；重点是标准操作规程、病原材料的安全操作、预防锐器伤、正确使用生物安全柜，以及发生事件后及时报告；练习血液等样本的暴露防护、安全柜的使用和去污，以及暴露后的应急演练。</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课）、进出程序和应急程序；练习包括定期复训、熟悉设施布局、呼吸防护装备的使用和维护，以及溢洒和感染事件的模拟演练。学生未经批准，不得进入三级实验室。</a:t>
            </a:r>
          </a:p>
          <a:p>
            <a:r>
              <a:t>四级的对象是专门的病原研究和公共卫生团队，要接受长期的强化训练，重点是正压防护服的使用、全封闭操作程序和严格的去污方案，必要时评估身心状况，坚持两人同行；练习全流程模拟、进出缓冲间和化学淋浴、通讯规程和紧急撤离预案。具体要求以国家规定和所在机构的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实验室人员的必备培训有六类：第一，生物安全操作——规范操作，在防护设施里做实验，学会废物的灭活和处置；第二，生物安保意识——防止未经授权的人员接触病原材料（见第 083 课）；第三，个人防护装备——按风险评估选对防护用品，按顺序穿戴，检查是否完好，脱卸时把外面当污染面，不碰到皮肤（见第 075 课）；第四，应急程序——溢洒怎么处理，什么情况要撤离，被扎伤、溅到后第一时间怎么做（见第 078 课）；第五，设备使用——安全柜怎么开、怎么用、怎么判断是否正常，高压灭菌器怎么装载、怎么防烫伤（见第 123 课）。</a:t>
            </a:r>
          </a:p>
          <a:p>
            <a:r>
              <a:t>第六，事件报告——知道向谁报告：实验室负责人、学院和学校实验室管理部门（需要时保卫处）；事故和暴露发生后立即报告，如实记录，配合后续医学评估和随访。</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每一级的培训都要留下记录，本人签字，考核合格才能准入；还要定期复训，复训周期按本校规定，操作内容、设备或规程变化时及时补训。</a:t>
            </a:r>
          </a:p>
          <a:p>
            <a:r>
              <a:t>二级及以上的培训必须动手实练，光看书、光听课不算学会。三级、四级先由有经验的人员带教跟岗，确认能独立胜任后，才给予完全准入。</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防护装备或安全设备缺失、损坏（如手套破损、护目镜缺少、安全柜报警或气流异常），先停下相关操作，不凑合、不将就；按规定处理已在进行的操作和材料，报告实验室负责人，申领防护用品或报修设备。</a:t>
            </a:r>
          </a:p>
          <a:p>
            <a:r>
              <a:t>维修后经确认恢复正常（需要检测的设备经检测合格），再恢复工作；不得擅自拆修安全柜等设备。</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答案：B。解析：二级在一级基础上加面部防护，必须穿闭趾鞋；具体按风险评估。</a:t>
            </a:r>
          </a:p>
          <a:p>
            <a:r>
              <a:t>第 2 题 答案：A。解析：二级的工程控制要求可能产生气溶胶的操作进生物安全柜。</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答案：C。解析：不饮食、不口吸、不外带实验菌，台面消毒、摘手套洗手后离开。</a:t>
            </a:r>
          </a:p>
          <a:p>
            <a:r>
              <a:t>第 4 题 答案：B。解析：环境分离菌鉴定前按未知菌对待，先评估，一般在二级安全柜内操作，鉴定前不降级。</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答案：C。解析：装备缺了坏了不开工，报告、申领或报修，确认正常再恢复。</a:t>
            </a:r>
          </a:p>
          <a:p>
            <a:r>
              <a:t>第 6 题 答案：生物安全操作、生物安保意识、个人防护装备、应急程序、设备使用、事件报告；立即报告实验室负责人、学院和学校实验室管理部门，如实记录，配合医学评估和随访。解析：培训要记录、签字、考核合格才准入，并定期复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生物安全的概念与法规</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适用对象：进入生命科学、医学、农学、环境等涉及生物材料实验室的高校本科生、研究生和教职工（必修，进入生物实验室前完成）；实验室负责人和生物安全员重点学习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能说出生物安全的含义（安全操作、封闭控制）和目的（保护人员、环境和公众，防实验室获得性感染和病原意外释放），能区分生物危害、生物安全与生物安保。</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能说出生物安全的两大原则（风险评估与防护）、防护三要素（操作、设备、设施）和 5P 评估要素，知道国内病原分类与国际风险组顺序相反。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能说出我国生物安全的主要法规和标准（生物安全法、病原微生物实验室生物安全管理条例、GB 19489、WS 233、《人间传染的病原微生物目录》），知道国际手册只作参考。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能判断哪些做法违规（越级操作、私带样本、未经审批开展高致病性病原实验活动），知道违规要承担法律责任。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《中华人民共和国生物安全法》（2021 年 4 月 15 日起施行，以现行文本为准）：生物安全领域的基础性法律，规定病原微生物实验室生物安全管理、法律责任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《病原微生物实验室生物安全管理条例》（国务院令第 424 号公布，以现行文本为准）：病原微生物按危害程度分四类，实验室按防护水平分四级；一级、二级实验室备案，三级、四级实验室国家认可，高致病性病原微生物实验活动须经批准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生物安全通用要求》：风险评估、实验室设施设备、管理体系与安全手册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233（以现行文本为准）《病原微生物实验室生物安全通用准则》：病原微生物实验室生物安全的通用技术和管理要求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《人间传染的病原微生物目录》（国家卫生健康委发布，以现行版本为准）：病原微生物危害程度分类和实验活动所需防护水平的依据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号，以现行文本为准）及高校实验室安全检查项目表：生物安全实验室的备案、准入、培训和管理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本校生物安全管理制度：生物安全委员会审查、准入培训、实验活动审批，以本校规定为准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生物实验室多了看不见的生物危害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生物实验要和细胞、微生物打交道</a:t>
            </a:r>
          </a:p>
          <a:p>
            <a:pPr>
              <a:spcAft>
                <a:spcPts val="1000"/>
              </a:spcAft>
            </a:pPr>
            <a:r>
              <a:rPr sz="2000">
                <a:solidFill>
                  <a:srgbClr val="222B33"/>
                </a:solidFill>
                <a:latin typeface="Microsoft YaHei"/>
              </a:rPr>
              <a:t>▪ 病原体肉眼看不见，却能让健康人生病</a:t>
            </a:r>
          </a:p>
          <a:p>
            <a:pPr>
              <a:spcAft>
                <a:spcPts val="1000"/>
              </a:spcAft>
            </a:pPr>
            <a:r>
              <a:rPr sz="2000">
                <a:solidFill>
                  <a:srgbClr val="222B33"/>
                </a:solidFill>
                <a:latin typeface="Microsoft YaHei"/>
              </a:rPr>
              <a:t>▪ 样本、锐器、移液产生的气溶胶，风险就在手边</a:t>
            </a:r>
          </a:p>
          <a:p>
            <a:pPr>
              <a:spcAft>
                <a:spcPts val="1000"/>
              </a:spcAft>
            </a:pPr>
            <a:r>
              <a:rPr sz="2000">
                <a:solidFill>
                  <a:srgbClr val="222B33"/>
                </a:solidFill>
                <a:latin typeface="Microsoft YaHei"/>
              </a:rPr>
              <a:t>▪ 还有化学品和设备危害，措施一样不能少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生命科学实验离不开细胞、微生物和各种生物样本。与其他实验室相比，生物实验室除了化学品、仪器设备、用电等常见危险，还多了一类生物危害：细菌、病毒等病原体肉眼看不见，却可能让健康人感染生病。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认为“看不见就没危险”，随意对待样本和培养物</a:t>
            </a:r>
          </a:p>
          <a:p>
            <a:pPr>
              <a:spcAft>
                <a:spcPts val="1000"/>
              </a:spcAft>
            </a:pPr>
            <a:r>
              <a:rPr sz="1500">
                <a:solidFill>
                  <a:srgbClr val="222B33"/>
                </a:solidFill>
                <a:latin typeface="Microsoft YaHei"/>
              </a:rPr>
              <a:t>▪ 只注意生物危害，忽视同一实验室里的化学品和设备危险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生物因子失控，会威胁公共卫生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生物因子一旦失控，会威胁公众健康</a:t>
            </a:r>
          </a:p>
          <a:p>
            <a:pPr>
              <a:spcAft>
                <a:spcPts val="1000"/>
              </a:spcAft>
            </a:pPr>
            <a:r>
              <a:rPr sz="2000">
                <a:solidFill>
                  <a:srgbClr val="222B33"/>
                </a:solidFill>
                <a:latin typeface="Microsoft YaHei"/>
              </a:rPr>
              <a:t>▪ 一旦传开，可能引起流行</a:t>
            </a:r>
          </a:p>
          <a:p>
            <a:pPr>
              <a:spcAft>
                <a:spcPts val="1000"/>
              </a:spcAft>
            </a:pPr>
            <a:r>
              <a:rPr sz="2000">
                <a:solidFill>
                  <a:srgbClr val="222B33"/>
                </a:solidFill>
                <a:latin typeface="Microsoft YaHei"/>
              </a:rPr>
              <a:t>▪ 认识指示病例、医院内感染、经皮刺伤、流行病学</a:t>
            </a:r>
          </a:p>
          <a:p>
            <a:pPr>
              <a:spcAft>
                <a:spcPts val="1000"/>
              </a:spcAft>
            </a:pPr>
            <a:r>
              <a:rPr sz="2000">
                <a:solidFill>
                  <a:srgbClr val="222B33"/>
                </a:solidFill>
                <a:latin typeface="Microsoft YaHei"/>
              </a:rPr>
              <a:t>▪ 管好风险，研究才能走得远；这是共同的责任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因子与化学品不同：它能在人群中传播。一旦从实验室失控逸出，受害的可能不只是操作者本人，还可能引起疾病流行，威胁整个社会的公共卫生。随着新发传染病不断出现，生物因子对公众健康的威胁也在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认为实验室感染只影响自己一个人</a:t>
            </a:r>
          </a:p>
          <a:p>
            <a:pPr>
              <a:spcAft>
                <a:spcPts val="1000"/>
              </a:spcAft>
            </a:pPr>
            <a:r>
              <a:rPr sz="1500">
                <a:solidFill>
                  <a:srgbClr val="222B33"/>
                </a:solidFill>
                <a:latin typeface="Microsoft YaHei"/>
              </a:rPr>
              <a:t>▪ 认为生物安全只是生物安全员的事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什么是生物安全：安全操作、封闭控制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生物安全就是安全地操作感染性材料</a:t>
            </a:r>
          </a:p>
          <a:p>
            <a:pPr>
              <a:spcAft>
                <a:spcPts val="1000"/>
              </a:spcAft>
            </a:pPr>
            <a:r>
              <a:rPr sz="2000">
                <a:solidFill>
                  <a:srgbClr val="222B33"/>
                </a:solidFill>
                <a:latin typeface="Microsoft YaHei"/>
              </a:rPr>
              <a:t>▪ 并把它们牢牢控制、封闭在里面</a:t>
            </a:r>
          </a:p>
          <a:p>
            <a:pPr>
              <a:spcAft>
                <a:spcPts val="1000"/>
              </a:spcAft>
            </a:pPr>
            <a:r>
              <a:rPr sz="2000">
                <a:solidFill>
                  <a:srgbClr val="222B33"/>
                </a:solidFill>
                <a:latin typeface="Microsoft YaHei"/>
              </a:rPr>
              <a:t>▪ 给生物因子划好边界，不让它逸出</a:t>
            </a:r>
          </a:p>
          <a:p>
            <a:pPr>
              <a:spcAft>
                <a:spcPts val="1000"/>
              </a:spcAft>
            </a:pPr>
            <a:r>
              <a:rPr sz="2000">
                <a:solidFill>
                  <a:srgbClr val="222B33"/>
                </a:solidFill>
                <a:latin typeface="Microsoft YaHei"/>
              </a:rPr>
              <a:t>▪ 微生物实验室最核心的就是生物安全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生物安全，讲的是怎样安全地操作有感染性的微生物和其他有危害的生物材料，并把它们控制、封闭（也称“防护”或“封闭”）在规定的范围内。所谓防护，就是给生物因子划定边界，让它留在设备和设施里，不逸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把生物安全理解成“戴好手套就行”</a:t>
            </a:r>
          </a:p>
          <a:p>
            <a:pPr>
              <a:spcAft>
                <a:spcPts val="1000"/>
              </a:spcAft>
            </a:pPr>
            <a:r>
              <a:rPr sz="1500">
                <a:solidFill>
                  <a:srgbClr val="222B33"/>
                </a:solidFill>
                <a:latin typeface="Microsoft YaHei"/>
              </a:rPr>
              <a:t>▪ 只想着保护实验样品，不考虑把病原封闭在实验室内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目的：护人员、护环境、护公众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首先保护做实验的人</a:t>
            </a:r>
          </a:p>
          <a:p>
            <a:pPr>
              <a:spcAft>
                <a:spcPts val="1000"/>
              </a:spcAft>
            </a:pPr>
            <a:r>
              <a:rPr sz="2000">
                <a:solidFill>
                  <a:srgbClr val="222B33"/>
                </a:solidFill>
                <a:latin typeface="Microsoft YaHei"/>
              </a:rPr>
              <a:t>▪ 也保护实验室环境和周边社区公众</a:t>
            </a:r>
          </a:p>
          <a:p>
            <a:pPr>
              <a:spcAft>
                <a:spcPts val="1000"/>
              </a:spcAft>
            </a:pPr>
            <a:r>
              <a:rPr sz="2000">
                <a:solidFill>
                  <a:srgbClr val="222B33"/>
                </a:solidFill>
                <a:latin typeface="Microsoft YaHei"/>
              </a:rPr>
              <a:t>▪ 目标一：防止实验室获得性感染</a:t>
            </a:r>
          </a:p>
          <a:p>
            <a:pPr>
              <a:spcAft>
                <a:spcPts val="1000"/>
              </a:spcAft>
            </a:pPr>
            <a:r>
              <a:rPr sz="2000">
                <a:solidFill>
                  <a:srgbClr val="222B33"/>
                </a:solidFill>
                <a:latin typeface="Microsoft YaHei"/>
              </a:rPr>
              <a:t>▪ 目标二：防止病原意外释放到外界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生物安全依靠规范的做法、程序和设备，保护三方面：一是实验室工作人员；二是实验室和周边环境；三是社区公众。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只关心自己不被感染，把污染的物品、衣物带出实验室</a:t>
            </a:r>
          </a:p>
          <a:p>
            <a:pPr>
              <a:spcAft>
                <a:spcPts val="1000"/>
              </a:spcAft>
            </a:pPr>
            <a:r>
              <a:rPr sz="1500">
                <a:solidFill>
                  <a:srgbClr val="222B33"/>
                </a:solidFill>
                <a:latin typeface="Microsoft YaHei"/>
              </a:rPr>
              <a:t>▪ 认为病原“漏一点”不要紧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生物危害、生物安全与生物安保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生物危害：可能伤人的生物因子</a:t>
            </a:r>
          </a:p>
          <a:p>
            <a:pPr>
              <a:spcAft>
                <a:spcPts val="1000"/>
              </a:spcAft>
            </a:pPr>
            <a:r>
              <a:rPr sz="2000">
                <a:solidFill>
                  <a:srgbClr val="222B33"/>
                </a:solidFill>
                <a:latin typeface="Microsoft YaHei"/>
              </a:rPr>
              <a:t>▪ 生物安全：防无意的暴露和释放</a:t>
            </a:r>
          </a:p>
          <a:p>
            <a:pPr>
              <a:spcAft>
                <a:spcPts val="1000"/>
              </a:spcAft>
            </a:pPr>
            <a:r>
              <a:rPr sz="2000">
                <a:solidFill>
                  <a:srgbClr val="222B33"/>
                </a:solidFill>
                <a:latin typeface="Microsoft YaHei"/>
              </a:rPr>
              <a:t>▪ 生物安保：防丢失、被盗、被滥用</a:t>
            </a:r>
          </a:p>
          <a:p>
            <a:pPr>
              <a:spcAft>
                <a:spcPts val="1000"/>
              </a:spcAft>
            </a:pPr>
            <a:r>
              <a:rPr sz="2000">
                <a:solidFill>
                  <a:srgbClr val="222B33"/>
                </a:solidFill>
                <a:latin typeface="Microsoft YaHei"/>
              </a:rPr>
              <a:t>▪ 三者互相咬合，一个也不能少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认为生物安全只管操作，样本丢了与己无关</a:t>
            </a:r>
          </a:p>
          <a:p>
            <a:pPr>
              <a:spcAft>
                <a:spcPts val="1000"/>
              </a:spcAft>
            </a:pPr>
            <a:r>
              <a:rPr sz="1500">
                <a:solidFill>
                  <a:srgbClr val="222B33"/>
                </a:solidFill>
                <a:latin typeface="Microsoft YaHei"/>
              </a:rPr>
              <a:t>▪ 把菌（毒）种和样本随意放在不上锁、无登记的地方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两大原则：风险评估与防护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生物安全有两大原则：风险评估和防护</a:t>
            </a:r>
          </a:p>
          <a:p>
            <a:pPr>
              <a:spcAft>
                <a:spcPts val="1000"/>
              </a:spcAft>
            </a:pPr>
            <a:r>
              <a:rPr sz="2000">
                <a:solidFill>
                  <a:srgbClr val="222B33"/>
                </a:solidFill>
                <a:latin typeface="Microsoft YaHei"/>
              </a:rPr>
              <a:t>▪ 先评估风险有多大</a:t>
            </a:r>
          </a:p>
          <a:p>
            <a:pPr>
              <a:spcAft>
                <a:spcPts val="1000"/>
              </a:spcAft>
            </a:pPr>
            <a:r>
              <a:rPr sz="2000">
                <a:solidFill>
                  <a:srgbClr val="222B33"/>
                </a:solidFill>
                <a:latin typeface="Microsoft YaHei"/>
              </a:rPr>
              <a:t>▪ 再按评估结果配上相应的防护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生物安全工作有两大原则：一是风险评估，二是防护。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不做评估，凭经验决定在哪里做、怎么防护</a:t>
            </a:r>
          </a:p>
          <a:p>
            <a:pPr>
              <a:spcAft>
                <a:spcPts val="1000"/>
              </a:spcAft>
            </a:pPr>
            <a:r>
              <a:rPr sz="1500">
                <a:solidFill>
                  <a:srgbClr val="222B33"/>
                </a:solidFill>
                <a:latin typeface="Microsoft YaHei"/>
              </a:rPr>
              <a:t>▪ 认为防护越多越好，不看评估结果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防护三要素：操作、设备、设施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防护靠规范操作、安全设备和专门设施</a:t>
            </a:r>
          </a:p>
          <a:p>
            <a:pPr>
              <a:spcAft>
                <a:spcPts val="1000"/>
              </a:spcAft>
            </a:pPr>
            <a:r>
              <a:rPr sz="2000">
                <a:solidFill>
                  <a:srgbClr val="222B33"/>
                </a:solidFill>
                <a:latin typeface="Microsoft YaHei"/>
              </a:rPr>
              <a:t>▪ 生物安全柜就是常用的安全设备</a:t>
            </a:r>
          </a:p>
          <a:p>
            <a:pPr>
              <a:spcAft>
                <a:spcPts val="1000"/>
              </a:spcAft>
            </a:pPr>
            <a:r>
              <a:rPr sz="2000">
                <a:solidFill>
                  <a:srgbClr val="222B33"/>
                </a:solidFill>
                <a:latin typeface="Microsoft YaHei"/>
              </a:rPr>
              <a:t>▪ 三者配套，少一样防护就有漏洞</a:t>
            </a:r>
          </a:p>
          <a:p>
            <a:pPr>
              <a:spcAft>
                <a:spcPts val="1000"/>
              </a:spcAft>
            </a:pPr>
            <a:r>
              <a:rPr sz="2000">
                <a:solidFill>
                  <a:srgbClr val="222B33"/>
                </a:solidFill>
                <a:latin typeface="Microsoft YaHei"/>
              </a:rPr>
              <a:t>▪ 目的是减少暴露，能消除就消除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不是一样东西，而是一整套：规范的操作方法和程序（如规程、培训、良好的微生物操作习惯）；专门的安全设备（如生物安全柜、密封离心杯、个人防护装备）；专门设计的实验室设施（如分区、门禁、通风、洗手和消毒灭菌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有了生物安全柜就忽视操作规程</a:t>
            </a:r>
          </a:p>
          <a:p>
            <a:pPr>
              <a:spcAft>
                <a:spcPts val="1000"/>
              </a:spcAft>
            </a:pPr>
            <a:r>
              <a:rPr sz="1500">
                <a:solidFill>
                  <a:srgbClr val="222B33"/>
                </a:solidFill>
                <a:latin typeface="Microsoft YaHei"/>
              </a:rPr>
              <a:t>▪ 认为个人防护装备可以代替合格的实验室设施</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5P：评估风险的五个要素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5P：病原、人员、场所、防护、规程</a:t>
            </a:r>
          </a:p>
          <a:p>
            <a:pPr>
              <a:spcAft>
                <a:spcPts val="1000"/>
              </a:spcAft>
            </a:pPr>
            <a:r>
              <a:rPr sz="1700">
                <a:solidFill>
                  <a:srgbClr val="222B33"/>
                </a:solidFill>
                <a:latin typeface="Microsoft YaHei"/>
              </a:rPr>
              <a:t>▪ 国内第一类最危险，与国际风险组顺序相反</a:t>
            </a:r>
          </a:p>
          <a:p>
            <a:pPr>
              <a:spcAft>
                <a:spcPts val="1000"/>
              </a:spcAft>
            </a:pPr>
            <a:r>
              <a:rPr sz="1700">
                <a:solidFill>
                  <a:srgbClr val="222B33"/>
                </a:solidFill>
                <a:latin typeface="Microsoft YaHei"/>
              </a:rPr>
              <a:t>▪ 人员培训合格、身体适合；场所级别配得上危害</a:t>
            </a:r>
          </a:p>
          <a:p>
            <a:pPr>
              <a:spcAft>
                <a:spcPts val="1000"/>
              </a:spcAft>
            </a:pPr>
            <a:r>
              <a:rPr sz="1700">
                <a:solidFill>
                  <a:srgbClr val="222B33"/>
                </a:solidFill>
                <a:latin typeface="Microsoft YaHei"/>
              </a:rPr>
              <a:t>▪ 五个 P 一起看，哪个薄弱先补哪个</a:t>
            </a:r>
          </a:p>
          <a:p>
            <a:pPr>
              <a:spcAft>
                <a:spcPts val="1000"/>
              </a:spcAft>
            </a:pPr>
            <a:r>
              <a:rPr sz="1700">
                <a:solidFill>
                  <a:srgbClr val="222B33"/>
                </a:solidFill>
                <a:latin typeface="Microsoft YaHei"/>
              </a:rPr>
              <a:t>▪ 再加安全文化：人人尽责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5P 是评估生物风险时常用的五个要素：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把国际风险组的“4 组”当成国内的“第四类”，弄反危害高低</a:t>
            </a:r>
          </a:p>
          <a:p>
            <a:pPr>
              <a:spcAft>
                <a:spcPts val="1000"/>
              </a:spcAft>
            </a:pPr>
            <a:r>
              <a:rPr sz="1500">
                <a:solidFill>
                  <a:srgbClr val="222B33"/>
                </a:solidFill>
                <a:latin typeface="Microsoft YaHei"/>
              </a:rPr>
              <a:t>▪ 只看病原危害，不看人员能力和实验操作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国内生物安全法规与标准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生物安全法是生物安全领域的基本法律</a:t>
            </a:r>
          </a:p>
          <a:p>
            <a:pPr>
              <a:spcAft>
                <a:spcPts val="1000"/>
              </a:spcAft>
            </a:pPr>
            <a:r>
              <a:rPr sz="1700">
                <a:solidFill>
                  <a:srgbClr val="222B33"/>
                </a:solidFill>
                <a:latin typeface="Microsoft YaHei"/>
              </a:rPr>
              <a:t>▪ 条例规定病原分四类、实验室分四级</a:t>
            </a:r>
          </a:p>
          <a:p>
            <a:pPr>
              <a:spcAft>
                <a:spcPts val="1000"/>
              </a:spcAft>
            </a:pPr>
            <a:r>
              <a:rPr sz="1700">
                <a:solidFill>
                  <a:srgbClr val="222B33"/>
                </a:solidFill>
                <a:latin typeface="Microsoft YaHei"/>
              </a:rPr>
              <a:t>▪ 技术要求看 GB 19489 和 WS 233</a:t>
            </a:r>
          </a:p>
          <a:p>
            <a:pPr>
              <a:spcAft>
                <a:spcPts val="1000"/>
              </a:spcAft>
            </a:pPr>
            <a:r>
              <a:rPr sz="1700">
                <a:solidFill>
                  <a:srgbClr val="222B33"/>
                </a:solidFill>
                <a:latin typeface="Microsoft YaHei"/>
              </a:rPr>
              <a:t>▪ 病原分类查《人间传染的病原微生物目录》</a:t>
            </a:r>
          </a:p>
          <a:p>
            <a:pPr>
              <a:spcAft>
                <a:spcPts val="1000"/>
              </a:spcAft>
            </a:pPr>
            <a:r>
              <a:rPr sz="1700">
                <a:solidFill>
                  <a:srgbClr val="222B33"/>
                </a:solidFill>
                <a:latin typeface="Microsoft YaHei"/>
              </a:rPr>
              <a:t>▪ 单位要提供防护、培训和健康监护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开展生物实验，首先要遵守国家法规。我国生物安全的主要依据包括：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只看国外课程或教材，不了解国内法规和本校规定</a:t>
            </a:r>
          </a:p>
          <a:p>
            <a:pPr>
              <a:spcAft>
                <a:spcPts val="1000"/>
              </a:spcAft>
            </a:pPr>
            <a:r>
              <a:rPr sz="1500">
                <a:solidFill>
                  <a:srgbClr val="222B33"/>
                </a:solidFill>
                <a:latin typeface="Microsoft YaHei"/>
              </a:rPr>
              <a:t>▪ 引用法规不核对现行文本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国际手册只作参考，以国内法规为准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国际上的生物安全手册是很好的参照起点</a:t>
            </a:r>
          </a:p>
          <a:p>
            <a:pPr>
              <a:spcAft>
                <a:spcPts val="1000"/>
              </a:spcAft>
            </a:pPr>
            <a:r>
              <a:rPr sz="2000">
                <a:solidFill>
                  <a:srgbClr val="222B33"/>
                </a:solidFill>
                <a:latin typeface="Microsoft YaHei"/>
              </a:rPr>
              <a:t>▪ 它从生物安全的一般原则讲起</a:t>
            </a:r>
          </a:p>
          <a:p>
            <a:pPr>
              <a:spcAft>
                <a:spcPts val="1000"/>
              </a:spcAft>
            </a:pPr>
            <a:r>
              <a:rPr sz="2000">
                <a:solidFill>
                  <a:srgbClr val="222B33"/>
                </a:solidFill>
                <a:latin typeface="Microsoft YaHei"/>
              </a:rPr>
              <a:t>▪ 必须在国内法律框架内使用，国内法规优先</a:t>
            </a:r>
          </a:p>
          <a:p>
            <a:pPr>
              <a:spcAft>
                <a:spcPts val="1000"/>
              </a:spcAft>
            </a:pPr>
            <a:r>
              <a:rPr sz="2000">
                <a:solidFill>
                  <a:srgbClr val="222B33"/>
                </a:solidFill>
                <a:latin typeface="Microsoft YaHei"/>
              </a:rPr>
              <a:t>▪ 各实验室要编写本实验室的安全手册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国际上有通行的实验室生物安全手册，从生物安全的一般原则讲起，涵盖风险评估、防护、设备、培训等内容，是学习和参照的好起点。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照搬国外手册中的数值和做法</a:t>
            </a:r>
          </a:p>
          <a:p>
            <a:pPr>
              <a:spcAft>
                <a:spcPts val="1000"/>
              </a:spcAft>
            </a:pPr>
            <a:r>
              <a:rPr sz="1500">
                <a:solidFill>
                  <a:srgbClr val="222B33"/>
                </a:solidFill>
                <a:latin typeface="Microsoft YaHei"/>
              </a:rPr>
              <a:t>▪ 实验室没有自己的安全手册，或手册放着没人看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合规：外部合规与内部合规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守国家法规标准，是外部合规</a:t>
            </a:r>
          </a:p>
          <a:p>
            <a:pPr>
              <a:spcAft>
                <a:spcPts val="1000"/>
              </a:spcAft>
            </a:pPr>
            <a:r>
              <a:rPr sz="2000">
                <a:solidFill>
                  <a:srgbClr val="222B33"/>
                </a:solidFill>
                <a:latin typeface="Microsoft YaHei"/>
              </a:rPr>
              <a:t>▪ 守单位方针和制度，是内部合规</a:t>
            </a:r>
          </a:p>
          <a:p>
            <a:pPr>
              <a:spcAft>
                <a:spcPts val="1000"/>
              </a:spcAft>
            </a:pPr>
            <a:r>
              <a:rPr sz="2000">
                <a:solidFill>
                  <a:srgbClr val="222B33"/>
                </a:solidFill>
                <a:latin typeface="Microsoft YaHei"/>
              </a:rPr>
              <a:t>▪ 国家、地方、学校的要求，逐项找全</a:t>
            </a:r>
          </a:p>
          <a:p>
            <a:pPr>
              <a:spcAft>
                <a:spcPts val="1000"/>
              </a:spcAft>
            </a:pPr>
            <a:r>
              <a:rPr sz="2000">
                <a:solidFill>
                  <a:srgbClr val="222B33"/>
                </a:solidFill>
                <a:latin typeface="Microsoft YaHei"/>
              </a:rPr>
              <a:t>▪ 对照制度，看看合规做到哪一步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合规，就是遵守法律、法规、标准和规则。遵守国家和地方的法律法规、标准，是外部合规；遵守本单位的方针、制度和规程，是内部合规。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只知道国家法规，不知道本校、本实验室的规定</a:t>
            </a:r>
          </a:p>
          <a:p>
            <a:pPr>
              <a:spcAft>
                <a:spcPts val="1000"/>
              </a:spcAft>
            </a:pPr>
            <a:r>
              <a:rPr sz="1500">
                <a:solidFill>
                  <a:srgbClr val="222B33"/>
                </a:solidFill>
                <a:latin typeface="Microsoft YaHei"/>
              </a:rPr>
              <a:t>▪ 制度写在纸上，没有逐项落实</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依法备案审批，违规要担责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一级、二级实验室按规定备案</a:t>
            </a:r>
          </a:p>
          <a:p>
            <a:pPr>
              <a:spcAft>
                <a:spcPts val="1000"/>
              </a:spcAft>
            </a:pPr>
            <a:r>
              <a:rPr sz="2000">
                <a:solidFill>
                  <a:srgbClr val="222B33"/>
                </a:solidFill>
                <a:latin typeface="Microsoft YaHei"/>
              </a:rPr>
              <a:t>▪ 三级、四级实验室须经国家认可</a:t>
            </a:r>
          </a:p>
          <a:p>
            <a:pPr>
              <a:spcAft>
                <a:spcPts val="1000"/>
              </a:spcAft>
            </a:pPr>
            <a:r>
              <a:rPr sz="2000">
                <a:solidFill>
                  <a:srgbClr val="222B33"/>
                </a:solidFill>
                <a:latin typeface="Microsoft YaHei"/>
              </a:rPr>
              <a:t>▪ 高致病性病原的实验活动，先审批再做</a:t>
            </a:r>
          </a:p>
          <a:p>
            <a:pPr>
              <a:spcAft>
                <a:spcPts val="1000"/>
              </a:spcAft>
            </a:pPr>
            <a:r>
              <a:rPr sz="2000">
                <a:solidFill>
                  <a:srgbClr val="222B33"/>
                </a:solidFill>
                <a:latin typeface="Microsoft YaHei"/>
              </a:rPr>
              <a:t>▪ 越级操作、私带样本都是违规，要担法律责任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认为“只做一次、量很小”就可以在普通实验室里做</a:t>
            </a:r>
          </a:p>
          <a:p>
            <a:pPr>
              <a:spcAft>
                <a:spcPts val="1000"/>
              </a:spcAft>
            </a:pPr>
            <a:r>
              <a:rPr sz="1500">
                <a:solidFill>
                  <a:srgbClr val="222B33"/>
                </a:solidFill>
                <a:latin typeface="Microsoft YaHei"/>
              </a:rPr>
              <a:t>▪ 把样本带回宿舍或私自送给其他单位</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持续学习、保持警觉、防患未然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持续学习新知识、新规定</a:t>
            </a:r>
          </a:p>
          <a:p>
            <a:pPr>
              <a:spcAft>
                <a:spcPts val="1000"/>
              </a:spcAft>
            </a:pPr>
            <a:r>
              <a:rPr sz="2000">
                <a:solidFill>
                  <a:srgbClr val="222B33"/>
                </a:solidFill>
                <a:latin typeface="Microsoft YaHei"/>
              </a:rPr>
              <a:t>▪ 对异常保持警觉，及时报告</a:t>
            </a:r>
          </a:p>
          <a:p>
            <a:pPr>
              <a:spcAft>
                <a:spcPts val="1000"/>
              </a:spcAft>
            </a:pPr>
            <a:r>
              <a:rPr sz="2000">
                <a:solidFill>
                  <a:srgbClr val="222B33"/>
                </a:solidFill>
                <a:latin typeface="Microsoft YaHei"/>
              </a:rPr>
              <a:t>▪ 防患于未然，人人做到生物安全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生物安全的知识和法规在不断更新，要持续学习新知识、新规定，按要求参加复训。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培训一次就不再更新知识</a:t>
            </a:r>
          </a:p>
          <a:p>
            <a:pPr>
              <a:spcAft>
                <a:spcPts val="1000"/>
              </a:spcAft>
            </a:pPr>
            <a:r>
              <a:rPr sz="1500">
                <a:solidFill>
                  <a:srgbClr val="222B33"/>
                </a:solidFill>
                <a:latin typeface="Microsoft YaHei"/>
              </a:rPr>
              <a:t>▪ 发现异常怕麻烦不报告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下列关于我国病原微生物分类的说法，正确的是：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第一类危害最大，与国际风险组的顺序相反</a:t>
            </a:r>
          </a:p>
          <a:p>
            <a:pPr algn="l"/>
            <a:r>
              <a:rPr sz="1500" b="0">
                <a:solidFill>
                  <a:srgbClr val="222B33"/>
                </a:solidFill>
                <a:latin typeface="Microsoft YaHei"/>
              </a:rPr>
              <a:t>C. 与国际风险组顺序相同</a:t>
            </a:r>
          </a:p>
          <a:p>
            <a:pPr algn="l"/>
            <a:r>
              <a:rPr sz="1500" b="0">
                <a:solidFill>
                  <a:srgbClr val="222B33"/>
                </a:solidFill>
                <a:latin typeface="Microsoft YaHei"/>
              </a:rPr>
              <a:t>D. 只有三类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判断：生物安全的目的只是保护做实验的人不被感染。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防止菌（毒）种和样本被丢失、被盗、被滥用，主要属于：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生物危害</a:t>
            </a:r>
          </a:p>
          <a:p>
            <a:pPr algn="l"/>
            <a:r>
              <a:rPr sz="1500" b="0">
                <a:solidFill>
                  <a:srgbClr val="222B33"/>
                </a:solidFill>
                <a:latin typeface="Microsoft YaHei"/>
              </a:rPr>
              <a:t>B. 生物安全</a:t>
            </a:r>
          </a:p>
          <a:p>
            <a:pPr algn="l"/>
            <a:r>
              <a:rPr sz="1500" b="0">
                <a:solidFill>
                  <a:srgbClr val="222B33"/>
                </a:solidFill>
                <a:latin typeface="Microsoft YaHei"/>
              </a:rPr>
              <a:t>C. 生物安保</a:t>
            </a:r>
          </a:p>
          <a:p>
            <a:pPr algn="l"/>
            <a:r>
              <a:rPr sz="1500" b="0">
                <a:solidFill>
                  <a:srgbClr val="222B33"/>
                </a:solidFill>
                <a:latin typeface="Microsoft YaHei"/>
              </a:rPr>
              <a:t>D. 化学安全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5P 评估要素不包括：</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病原</a:t>
            </a:r>
          </a:p>
          <a:p>
            <a:pPr algn="l"/>
            <a:r>
              <a:rPr sz="1500" b="0">
                <a:solidFill>
                  <a:srgbClr val="222B33"/>
                </a:solidFill>
                <a:latin typeface="Microsoft YaHei"/>
              </a:rPr>
              <a:t>B. 人员</a:t>
            </a:r>
          </a:p>
          <a:p>
            <a:pPr algn="l"/>
            <a:r>
              <a:rPr sz="1500" b="0">
                <a:solidFill>
                  <a:srgbClr val="222B33"/>
                </a:solidFill>
                <a:latin typeface="Microsoft YaHei"/>
              </a:rPr>
              <a:t>C. 场所</a:t>
            </a:r>
          </a:p>
          <a:p>
            <a:pPr algn="l"/>
            <a:r>
              <a:rPr sz="1500" b="0">
                <a:solidFill>
                  <a:srgbClr val="222B33"/>
                </a:solidFill>
                <a:latin typeface="Microsoft YaHei"/>
              </a:rPr>
              <a:t>D. 价格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判断：国际实验室生物安全手册内容全面，可以直接替代我国的法规和标准。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简答：同学想在普通教学实验室里“只做一次”需要更高防护级别的实验，还打算把样本带回宿舍，这些做法有什么问题？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生物实验室多了看不见的生物危害</a:t>
            </a:r>
          </a:p>
          <a:p>
            <a:pPr>
              <a:spcAft>
                <a:spcPts val="800"/>
              </a:spcAft>
            </a:pPr>
            <a:r>
              <a:rPr sz="1500">
                <a:solidFill>
                  <a:srgbClr val="FFFFFF"/>
                </a:solidFill>
                <a:latin typeface="Microsoft YaHei"/>
              </a:rPr>
              <a:t>▪ K2  生物因子失控，会威胁公共卫生</a:t>
            </a:r>
          </a:p>
          <a:p>
            <a:pPr>
              <a:spcAft>
                <a:spcPts val="800"/>
              </a:spcAft>
            </a:pPr>
            <a:r>
              <a:rPr sz="1500">
                <a:solidFill>
                  <a:srgbClr val="FFFFFF"/>
                </a:solidFill>
                <a:latin typeface="Microsoft YaHei"/>
              </a:rPr>
              <a:t>▪ K3  什么是生物安全：安全操作、封闭控制</a:t>
            </a:r>
          </a:p>
          <a:p>
            <a:pPr>
              <a:spcAft>
                <a:spcPts val="800"/>
              </a:spcAft>
            </a:pPr>
            <a:r>
              <a:rPr sz="1500">
                <a:solidFill>
                  <a:srgbClr val="FFFFFF"/>
                </a:solidFill>
                <a:latin typeface="Microsoft YaHei"/>
              </a:rPr>
              <a:t>▪ K4  目的：护人员、护环境、护公众</a:t>
            </a:r>
          </a:p>
          <a:p>
            <a:pPr>
              <a:spcAft>
                <a:spcPts val="800"/>
              </a:spcAft>
            </a:pPr>
            <a:r>
              <a:rPr sz="1500">
                <a:solidFill>
                  <a:srgbClr val="FFFFFF"/>
                </a:solidFill>
                <a:latin typeface="Microsoft YaHei"/>
              </a:rPr>
              <a:t>▪ K5  生物危害、生物安全与生物安保</a:t>
            </a:r>
          </a:p>
          <a:p>
            <a:pPr>
              <a:spcAft>
                <a:spcPts val="800"/>
              </a:spcAft>
            </a:pPr>
            <a:r>
              <a:rPr sz="1500">
                <a:solidFill>
                  <a:srgbClr val="FFFFFF"/>
                </a:solidFill>
                <a:latin typeface="Microsoft YaHei"/>
              </a:rPr>
              <a:t>▪ K6  两大原则：风险评估与防护</a:t>
            </a:r>
          </a:p>
          <a:p>
            <a:pPr>
              <a:spcAft>
                <a:spcPts val="800"/>
              </a:spcAft>
            </a:pPr>
            <a:r>
              <a:rPr sz="1500">
                <a:solidFill>
                  <a:srgbClr val="FFFFFF"/>
                </a:solidFill>
                <a:latin typeface="Microsoft YaHei"/>
              </a:rPr>
              <a:t>▪ K7  防护三要素：操作、设备、设施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5P：评估风险的五个要素</a:t>
            </a:r>
          </a:p>
          <a:p>
            <a:pPr>
              <a:spcAft>
                <a:spcPts val="800"/>
              </a:spcAft>
            </a:pPr>
            <a:r>
              <a:rPr sz="1500">
                <a:solidFill>
                  <a:srgbClr val="FFFFFF"/>
                </a:solidFill>
                <a:latin typeface="Microsoft YaHei"/>
              </a:rPr>
              <a:t>▪ K9  国内生物安全法规与标准</a:t>
            </a:r>
          </a:p>
          <a:p>
            <a:pPr>
              <a:spcAft>
                <a:spcPts val="800"/>
              </a:spcAft>
            </a:pPr>
            <a:r>
              <a:rPr sz="1500">
                <a:solidFill>
                  <a:srgbClr val="FFFFFF"/>
                </a:solidFill>
                <a:latin typeface="Microsoft YaHei"/>
              </a:rPr>
              <a:t>▪ K10  国际手册只作参考，以国内法规为准</a:t>
            </a:r>
          </a:p>
          <a:p>
            <a:pPr>
              <a:spcAft>
                <a:spcPts val="800"/>
              </a:spcAft>
            </a:pPr>
            <a:r>
              <a:rPr sz="1500">
                <a:solidFill>
                  <a:srgbClr val="FFFFFF"/>
                </a:solidFill>
                <a:latin typeface="Microsoft YaHei"/>
              </a:rPr>
              <a:t>▪ K11  合规：外部合规与内部合规</a:t>
            </a:r>
          </a:p>
          <a:p>
            <a:pPr>
              <a:spcAft>
                <a:spcPts val="800"/>
              </a:spcAft>
            </a:pPr>
            <a:r>
              <a:rPr sz="1500">
                <a:solidFill>
                  <a:srgbClr val="FFFFFF"/>
                </a:solidFill>
                <a:latin typeface="Microsoft YaHei"/>
              </a:rPr>
              <a:t>▪ K12  依法备案审批，违规要担责</a:t>
            </a:r>
          </a:p>
          <a:p>
            <a:pPr>
              <a:spcAft>
                <a:spcPts val="800"/>
              </a:spcAft>
            </a:pPr>
            <a:r>
              <a:rPr sz="1500">
                <a:solidFill>
                  <a:srgbClr val="FFFFFF"/>
                </a:solidFill>
                <a:latin typeface="Microsoft YaHei"/>
              </a:rPr>
              <a:t>▪ K13  持续学习、保持警觉、防患未然</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病原微生物分类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能说出生物因子的主要种类（细菌、病毒、真菌、寄生虫、朊病毒、毒素、感染性核酸等）及其安全上的特点。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能说出国内病原微生物四类的含义：第一类危害最大、第四类最小，与国际风险组（1 组最低、4 组最高）顺序相反；能判断“第一类病原不在一级实验室”。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能做到以现行《人间传染的病原微生物目录》为准查分类和所需实验室级别；目录查不到的先评估、报生物安全委员会确定；知道第一、二类实验活动须经批准。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能说出评估时要考虑的地区因素，会把病原资料单作为参考工具使用。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《中华人民共和国生物安全法》（以现行文本为准）：病原微生物实验室实行分类管理和分级管理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《病原微生物实验室生物安全管理条例》（以现行文本为准）：病原微生物按危害程度分为四类，第一类、第二类统称高致病性病原微生物；高致病性病原微生物实验活动须在相应级别实验室并经批准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《人间传染的病原微生物目录》（国家卫生健康委发布，以现行版本为准）：各病原的危害程度分类、不同实验活动所需的实验室级别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《动物病原微生物分类名录》（以现行版本为准）：动物病原微生物的分类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233（以现行文本为准）《病原微生物实验室生物安全通用准则》：风险评估和实验室分级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《农业转基因生物安全管理条例》（以现行文本为准）：农业转基因生物安全等级另成体系</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本校生物安全管理制度：目录未列的微生物由生物安全委员会评估确定，以本校规定为准</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什么是生物因子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细菌、病毒、真菌等微生物都可能是生物因子</a:t>
            </a:r>
          </a:p>
          <a:p>
            <a:pPr>
              <a:spcAft>
                <a:spcPts val="1000"/>
              </a:spcAft>
            </a:pPr>
            <a:r>
              <a:rPr sz="2000">
                <a:solidFill>
                  <a:srgbClr val="222B33"/>
                </a:solidFill>
                <a:latin typeface="Microsoft YaHei"/>
              </a:rPr>
              <a:t>▪ 还有朊病毒这样的致病颗粒和生物毒素</a:t>
            </a:r>
          </a:p>
          <a:p>
            <a:pPr>
              <a:spcAft>
                <a:spcPts val="1000"/>
              </a:spcAft>
            </a:pPr>
            <a:r>
              <a:rPr sz="2000">
                <a:solidFill>
                  <a:srgbClr val="222B33"/>
                </a:solidFill>
                <a:latin typeface="Microsoft YaHei"/>
              </a:rPr>
              <a:t>▪ 轻则过敏，重则患病甚至死亡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生物因子是指可能对人体健康造成危害的微生物和其他生物材料，包括细菌、病毒、真菌及其他微生物，寄生虫，朊病毒这样的致病蛋白颗粒，以及它们产生的毒素等。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认为只有“病毒、细菌”才算生物危害，忽视真菌孢子、毒素和过敏原</a:t>
            </a:r>
          </a:p>
          <a:p>
            <a:pPr>
              <a:spcAft>
                <a:spcPts val="1000"/>
              </a:spcAft>
            </a:pPr>
            <a:r>
              <a:rPr sz="1500">
                <a:solidFill>
                  <a:srgbClr val="222B33"/>
                </a:solidFill>
                <a:latin typeface="Microsoft YaHei"/>
              </a:rPr>
              <a:t>▪ 认为非活体的毒素、核酸不需要防护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细菌、病毒、真菌各有特点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细菌：不少来自土壤和水，有的形成芽孢，耐受力强</a:t>
            </a:r>
          </a:p>
          <a:p>
            <a:pPr>
              <a:spcAft>
                <a:spcPts val="1000"/>
              </a:spcAft>
            </a:pPr>
            <a:r>
              <a:rPr sz="1700">
                <a:solidFill>
                  <a:srgbClr val="222B33"/>
                </a:solidFill>
                <a:latin typeface="Microsoft YaHei"/>
              </a:rPr>
              <a:t>▪ 支原体没有细胞壁，部分抗生素对它无效</a:t>
            </a:r>
          </a:p>
          <a:p>
            <a:pPr>
              <a:spcAft>
                <a:spcPts val="1000"/>
              </a:spcAft>
            </a:pPr>
            <a:r>
              <a:rPr sz="1700">
                <a:solidFill>
                  <a:srgbClr val="222B33"/>
                </a:solidFill>
                <a:latin typeface="Microsoft YaHei"/>
              </a:rPr>
              <a:t>▪ 病毒：有的可能致命，很多没有特效药</a:t>
            </a:r>
          </a:p>
          <a:p>
            <a:pPr>
              <a:spcAft>
                <a:spcPts val="1000"/>
              </a:spcAft>
            </a:pPr>
            <a:r>
              <a:rPr sz="1700">
                <a:solidFill>
                  <a:srgbClr val="222B33"/>
                </a:solidFill>
                <a:latin typeface="Microsoft YaHei"/>
              </a:rPr>
              <a:t>▪ 真菌孢子随空气扩散，有的产毒素</a:t>
            </a:r>
          </a:p>
          <a:p>
            <a:pPr>
              <a:spcAft>
                <a:spcPts val="1000"/>
              </a:spcAft>
            </a:pPr>
            <a:r>
              <a:rPr sz="1700">
                <a:solidFill>
                  <a:srgbClr val="222B33"/>
                </a:solidFill>
                <a:latin typeface="Microsoft YaHei"/>
              </a:rPr>
              <a:t>▪ 免疫力低时，常见真菌也可能致病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不同生物因子的特点不同，决定了防护的重点：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认为普通消毒对所有细菌都同样有效，忽视芽孢的耐受性</a:t>
            </a:r>
          </a:p>
          <a:p>
            <a:pPr>
              <a:spcAft>
                <a:spcPts val="1000"/>
              </a:spcAft>
            </a:pPr>
            <a:r>
              <a:rPr sz="1500">
                <a:solidFill>
                  <a:srgbClr val="222B33"/>
                </a:solidFill>
                <a:latin typeface="Microsoft YaHei"/>
              </a:rPr>
              <a:t>▪ 认为真菌“只是发霉”，不防孢子扩散</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朊病毒、感染性核酸、寄生虫与毒素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朊病毒少见，引起人和动物慢性神经退行性病</a:t>
            </a:r>
          </a:p>
          <a:p>
            <a:pPr>
              <a:spcAft>
                <a:spcPts val="1000"/>
              </a:spcAft>
            </a:pPr>
            <a:r>
              <a:rPr sz="2000">
                <a:solidFill>
                  <a:srgbClr val="222B33"/>
                </a:solidFill>
                <a:latin typeface="Microsoft YaHei"/>
              </a:rPr>
              <a:t>▪ 有些病毒的核酸本身就有感染性</a:t>
            </a:r>
          </a:p>
          <a:p>
            <a:pPr>
              <a:spcAft>
                <a:spcPts val="1000"/>
              </a:spcAft>
            </a:pPr>
            <a:r>
              <a:rPr sz="2000">
                <a:solidFill>
                  <a:srgbClr val="222B33"/>
                </a:solidFill>
                <a:latin typeface="Microsoft YaHei"/>
              </a:rPr>
              <a:t>▪ 寄生虫、螺、蜱和蚤等也能带病</a:t>
            </a:r>
          </a:p>
          <a:p>
            <a:pPr>
              <a:spcAft>
                <a:spcPts val="1000"/>
              </a:spcAft>
            </a:pPr>
            <a:r>
              <a:rPr sz="2000">
                <a:solidFill>
                  <a:srgbClr val="222B33"/>
                </a:solidFill>
                <a:latin typeface="Microsoft YaHei"/>
              </a:rPr>
              <a:t>▪ 毒素不是活体，同样有害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除细菌、病毒、真菌外，还有几类特殊的生物因子：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用普通消毒方法处理可能含朊病毒的材料</a:t>
            </a:r>
          </a:p>
          <a:p>
            <a:pPr>
              <a:spcAft>
                <a:spcPts val="1000"/>
              </a:spcAft>
            </a:pPr>
            <a:r>
              <a:rPr sz="1500">
                <a:solidFill>
                  <a:srgbClr val="222B33"/>
                </a:solidFill>
                <a:latin typeface="Microsoft YaHei"/>
              </a:rPr>
              <a:t>▪ 认为提取出的核酸都没有感染性</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分组看两头：个体风险与群体风险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风险分组看两头：个体风险和群体风险</a:t>
            </a:r>
          </a:p>
          <a:p>
            <a:pPr>
              <a:spcAft>
                <a:spcPts val="1000"/>
              </a:spcAft>
            </a:pPr>
            <a:r>
              <a:rPr sz="2000">
                <a:solidFill>
                  <a:srgbClr val="222B33"/>
                </a:solidFill>
                <a:latin typeface="Microsoft YaHei"/>
              </a:rPr>
              <a:t>▪ 个体：病有多重，有没有有效的防治手段</a:t>
            </a:r>
          </a:p>
          <a:p>
            <a:pPr>
              <a:spcAft>
                <a:spcPts val="1000"/>
              </a:spcAft>
            </a:pPr>
            <a:r>
              <a:rPr sz="2000">
                <a:solidFill>
                  <a:srgbClr val="222B33"/>
                </a:solidFill>
                <a:latin typeface="Microsoft YaHei"/>
              </a:rPr>
              <a:t>▪ 群体：会不会在人群、动物和环境中传开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病原按风险高低分组，主要看两方面：一是对个体的风险——引起的疾病有多严重，有没有有效的治疗和预防手段；二是对群体（社区）的风险——会不会在人与人、动物与人之间传播，传开后对公众、家畜和环境的影响有多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只看病情轻重，不看传播性</a:t>
            </a:r>
          </a:p>
          <a:p>
            <a:pPr>
              <a:spcAft>
                <a:spcPts val="1000"/>
              </a:spcAft>
            </a:pPr>
            <a:r>
              <a:rPr sz="1500">
                <a:solidFill>
                  <a:srgbClr val="222B33"/>
                </a:solidFill>
                <a:latin typeface="Microsoft YaHei"/>
              </a:rPr>
              <a:t>▪ 只看传播性，不看有没有防治手段</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国际风险组第1、2组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国际风险组：1 组最低，4 组最高</a:t>
            </a:r>
          </a:p>
          <a:p>
            <a:pPr>
              <a:spcAft>
                <a:spcPts val="1000"/>
              </a:spcAft>
            </a:pPr>
            <a:r>
              <a:rPr sz="2000">
                <a:solidFill>
                  <a:srgbClr val="222B33"/>
                </a:solidFill>
                <a:latin typeface="Microsoft YaHei"/>
              </a:rPr>
              <a:t>▪ 第 1 组：个体、群体风险都低，一般不致病</a:t>
            </a:r>
          </a:p>
          <a:p>
            <a:pPr>
              <a:spcAft>
                <a:spcPts val="1000"/>
              </a:spcAft>
            </a:pPr>
            <a:r>
              <a:rPr sz="2000">
                <a:solidFill>
                  <a:srgbClr val="222B33"/>
                </a:solidFill>
                <a:latin typeface="Microsoft YaHei"/>
              </a:rPr>
              <a:t>▪ 风险最低，也要规范操作</a:t>
            </a:r>
          </a:p>
          <a:p>
            <a:pPr>
              <a:spcAft>
                <a:spcPts val="1000"/>
              </a:spcAft>
            </a:pPr>
            <a:r>
              <a:rPr sz="2000">
                <a:solidFill>
                  <a:srgbClr val="222B33"/>
                </a:solidFill>
                <a:latin typeface="Microsoft YaHei"/>
              </a:rPr>
              <a:t>▪ 第 2 组：能致病但危害有限，可防可治，扩散风险低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国际上通行把生物因子分为四个风险组，数字越大风险越高：1 组最低、4 组最高（注意：与我国病原分类的编号方向相反，见 K7）。</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 1 组微生物可以随意操作，不戴手套、不洗手</a:t>
            </a:r>
          </a:p>
          <a:p>
            <a:pPr>
              <a:spcAft>
                <a:spcPts val="1000"/>
              </a:spcAft>
            </a:pPr>
            <a:r>
              <a:rPr sz="1500">
                <a:solidFill>
                  <a:srgbClr val="222B33"/>
                </a:solidFill>
                <a:latin typeface="Microsoft YaHei"/>
              </a:rPr>
              <a:t>▪ 把国际的“第 1 组”当成国内的“第一类”</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国际风险组第3、4组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3 组：常致重病，一般不人传人</a:t>
            </a:r>
          </a:p>
          <a:p>
            <a:pPr>
              <a:spcAft>
                <a:spcPts val="1000"/>
              </a:spcAft>
            </a:pPr>
            <a:r>
              <a:rPr sz="2000">
                <a:solidFill>
                  <a:srgbClr val="222B33"/>
                </a:solidFill>
                <a:latin typeface="Microsoft YaHei"/>
              </a:rPr>
              <a:t>▪ 第 3 组一般有有效的治疗和预防手段</a:t>
            </a:r>
          </a:p>
          <a:p>
            <a:pPr>
              <a:spcAft>
                <a:spcPts val="1000"/>
              </a:spcAft>
            </a:pPr>
            <a:r>
              <a:rPr sz="2000">
                <a:solidFill>
                  <a:srgbClr val="222B33"/>
                </a:solidFill>
                <a:latin typeface="Microsoft YaHei"/>
              </a:rPr>
              <a:t>▪ 第 4 组：病重、易传播，个体群体风险都高</a:t>
            </a:r>
          </a:p>
          <a:p>
            <a:pPr>
              <a:spcAft>
                <a:spcPts val="1000"/>
              </a:spcAft>
            </a:pPr>
            <a:r>
              <a:rPr sz="2000">
                <a:solidFill>
                  <a:srgbClr val="222B33"/>
                </a:solidFill>
                <a:latin typeface="Microsoft YaHei"/>
              </a:rPr>
              <a:t>▪ 第 4 组往往缺药缺苗，只在最高级别设施操作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 第 3 组：个体风险高、群体风险低（或低到中等）。通常引起人或动物的严重疾病，甚至可能致死，但一般不会在人与人之间传开，而且一般有有效的治疗和预防手段。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看到“第 4 组”以为是国内的“第四类”，误以为风险最低</a:t>
            </a:r>
          </a:p>
          <a:p>
            <a:pPr>
              <a:spcAft>
                <a:spcPts val="1000"/>
              </a:spcAft>
            </a:pPr>
            <a:r>
              <a:rPr sz="1500">
                <a:solidFill>
                  <a:srgbClr val="222B33"/>
                </a:solidFill>
                <a:latin typeface="Microsoft YaHei"/>
              </a:rPr>
              <a:t>▪ 认为有疫苗就可以降低实验室级别</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国内分四类：第一类最危险，与国际相反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国内按危害程度把病原微生物分为四类</a:t>
            </a:r>
          </a:p>
          <a:p>
            <a:pPr>
              <a:spcAft>
                <a:spcPts val="1000"/>
              </a:spcAft>
            </a:pPr>
            <a:r>
              <a:rPr sz="2000">
                <a:solidFill>
                  <a:srgbClr val="222B33"/>
                </a:solidFill>
                <a:latin typeface="Microsoft YaHei"/>
              </a:rPr>
              <a:t>▪ 第一类危害最大，第四类最小</a:t>
            </a:r>
          </a:p>
          <a:p>
            <a:pPr>
              <a:spcAft>
                <a:spcPts val="1000"/>
              </a:spcAft>
            </a:pPr>
            <a:r>
              <a:rPr sz="2000">
                <a:solidFill>
                  <a:srgbClr val="222B33"/>
                </a:solidFill>
                <a:latin typeface="Microsoft YaHei"/>
              </a:rPr>
              <a:t>▪ 编号方向与国际风险组正好相反</a:t>
            </a:r>
          </a:p>
          <a:p>
            <a:pPr>
              <a:spcAft>
                <a:spcPts val="1000"/>
              </a:spcAft>
            </a:pPr>
            <a:r>
              <a:rPr sz="2000">
                <a:solidFill>
                  <a:srgbClr val="222B33"/>
                </a:solidFill>
                <a:latin typeface="Microsoft YaHei"/>
              </a:rPr>
              <a:t>▪ 大致对应但不能自己换算，写资料注明编号体系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按《病原微生物实验室生物安全管理条例》（以现行文本为准），我国根据传染性、感染后对个体或群体的危害程度，把病原微生物分为四类：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把国际“4 组”和国内“第四类”混为一谈，弄反危害高低</a:t>
            </a:r>
          </a:p>
          <a:p>
            <a:pPr>
              <a:spcAft>
                <a:spcPts val="1000"/>
              </a:spcAft>
            </a:pPr>
            <a:r>
              <a:rPr sz="1500">
                <a:solidFill>
                  <a:srgbClr val="222B33"/>
                </a:solidFill>
                <a:latin typeface="Microsoft YaHei"/>
              </a:rPr>
              <a:t>▪ 按国外名单自己换算国内类别</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实验室级别国内外同向，别对号入座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实验室防护级别国内外同向，四级最高</a:t>
            </a:r>
          </a:p>
          <a:p>
            <a:pPr>
              <a:spcAft>
                <a:spcPts val="1000"/>
              </a:spcAft>
            </a:pPr>
            <a:r>
              <a:rPr sz="2000">
                <a:solidFill>
                  <a:srgbClr val="222B33"/>
                </a:solidFill>
                <a:latin typeface="Microsoft YaHei"/>
              </a:rPr>
              <a:t>▪ 第一类病原绝不在一级实验室操作</a:t>
            </a:r>
          </a:p>
          <a:p>
            <a:pPr>
              <a:spcAft>
                <a:spcPts val="1000"/>
              </a:spcAft>
            </a:pPr>
            <a:r>
              <a:rPr sz="2000">
                <a:solidFill>
                  <a:srgbClr val="222B33"/>
                </a:solidFill>
                <a:latin typeface="Microsoft YaHei"/>
              </a:rPr>
              <a:t>▪ 做哪一级，查目录再评估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与病原分类不同，生物安全实验室的防护级别国内外方向一致：一级（BSL-1）最低，四级（BSL-4）最高（分级见第 059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认为“第一类病原就在一级实验室做”</a:t>
            </a:r>
          </a:p>
          <a:p>
            <a:pPr>
              <a:spcAft>
                <a:spcPts val="1000"/>
              </a:spcAft>
            </a:pPr>
            <a:r>
              <a:rPr sz="1500">
                <a:solidFill>
                  <a:srgbClr val="222B33"/>
                </a:solidFill>
                <a:latin typeface="Microsoft YaHei"/>
              </a:rPr>
              <a:t>▪ 只看病原类别，不看具体实验活动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第一、二类是高致病性，须经批准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第一类、第二类统称高致病性病原微生物</a:t>
            </a:r>
          </a:p>
          <a:p>
            <a:pPr>
              <a:spcAft>
                <a:spcPts val="1000"/>
              </a:spcAft>
            </a:pPr>
            <a:r>
              <a:rPr sz="2000">
                <a:solidFill>
                  <a:srgbClr val="222B33"/>
                </a:solidFill>
                <a:latin typeface="Microsoft YaHei"/>
              </a:rPr>
              <a:t>▪ 相关实验须在相应级别实验室并经批准</a:t>
            </a:r>
          </a:p>
          <a:p>
            <a:pPr>
              <a:spcAft>
                <a:spcPts val="1000"/>
              </a:spcAft>
            </a:pPr>
            <a:r>
              <a:rPr sz="2000">
                <a:solidFill>
                  <a:srgbClr val="222B33"/>
                </a:solidFill>
                <a:latin typeface="Microsoft YaHei"/>
              </a:rPr>
              <a:t>▪ 学生不得擅自开展这类实验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类、第二类病原微生物统称为高致病性病原微生物。按《病原微生物实验室生物安全管理条例》（以现行文本为准），从事高致病性病原微生物相关实验活动，须在相应防护级别的实验室进行，并按规定报经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以为“只做检测、不做培养”就不需要审批</a:t>
            </a:r>
          </a:p>
          <a:p>
            <a:pPr>
              <a:spcAft>
                <a:spcPts val="1000"/>
              </a:spcAft>
            </a:pPr>
            <a:r>
              <a:rPr sz="1500">
                <a:solidFill>
                  <a:srgbClr val="222B33"/>
                </a:solidFill>
                <a:latin typeface="Microsoft YaHei"/>
              </a:rPr>
              <a:t>▪ 私下从别的实验室要来菌（毒）种</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查《人间传染的病原微生物目录》，用现行版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查分类以国内目录为准，国外资料只作参考</a:t>
            </a:r>
          </a:p>
          <a:p>
            <a:pPr>
              <a:spcAft>
                <a:spcPts val="1000"/>
              </a:spcAft>
            </a:pPr>
            <a:r>
              <a:rPr sz="2000">
                <a:solidFill>
                  <a:srgbClr val="222B33"/>
                </a:solidFill>
                <a:latin typeface="Microsoft YaHei"/>
              </a:rPr>
              <a:t>▪ 目录写明类别和不同实验活动所需实验室级别</a:t>
            </a:r>
          </a:p>
          <a:p>
            <a:pPr>
              <a:spcAft>
                <a:spcPts val="1000"/>
              </a:spcAft>
            </a:pPr>
            <a:r>
              <a:rPr sz="2000">
                <a:solidFill>
                  <a:srgbClr val="222B33"/>
                </a:solidFill>
                <a:latin typeface="Microsoft YaHei"/>
              </a:rPr>
              <a:t>▪ 同一病原，不同实验活动要求不同</a:t>
            </a:r>
          </a:p>
          <a:p>
            <a:pPr>
              <a:spcAft>
                <a:spcPts val="1000"/>
              </a:spcAft>
            </a:pPr>
            <a:r>
              <a:rPr sz="2000">
                <a:solidFill>
                  <a:srgbClr val="222B33"/>
                </a:solidFill>
                <a:latin typeface="Microsoft YaHei"/>
              </a:rPr>
              <a:t>▪ 目录会修订，用现行最新版，别用网上旧表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用国外名单或旧版表格确定国内类别</a:t>
            </a:r>
          </a:p>
          <a:p>
            <a:pPr>
              <a:spcAft>
                <a:spcPts val="1000"/>
              </a:spcAft>
            </a:pPr>
            <a:r>
              <a:rPr sz="1500">
                <a:solidFill>
                  <a:srgbClr val="222B33"/>
                </a:solidFill>
                <a:latin typeface="Microsoft YaHei"/>
              </a:rPr>
              <a:t>▪ 只看病原类别，不看具体实验活动对应的级别</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目录里查不到：评估后报委员会定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目录里查不到，先做风险评估</a:t>
            </a:r>
          </a:p>
          <a:p>
            <a:pPr>
              <a:spcAft>
                <a:spcPts val="1000"/>
              </a:spcAft>
            </a:pPr>
            <a:r>
              <a:rPr sz="2000">
                <a:solidFill>
                  <a:srgbClr val="222B33"/>
                </a:solidFill>
                <a:latin typeface="Microsoft YaHei"/>
              </a:rPr>
              <a:t>▪ 报单位生物安全委员会确定级别和防护</a:t>
            </a:r>
          </a:p>
          <a:p>
            <a:pPr>
              <a:spcAft>
                <a:spcPts val="1000"/>
              </a:spcAft>
            </a:pPr>
            <a:r>
              <a:rPr sz="2000">
                <a:solidFill>
                  <a:srgbClr val="222B33"/>
                </a:solidFill>
                <a:latin typeface="Microsoft YaHei"/>
              </a:rPr>
              <a:t>▪ 批准后，按确定的级别和防护开展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目录里没有，就当作不需要防护</a:t>
            </a:r>
          </a:p>
          <a:p>
            <a:pPr>
              <a:spcAft>
                <a:spcPts val="1000"/>
              </a:spcAft>
            </a:pPr>
            <a:r>
              <a:rPr sz="1500">
                <a:solidFill>
                  <a:srgbClr val="222B33"/>
                </a:solidFill>
                <a:latin typeface="Microsoft YaHei"/>
              </a:rPr>
              <a:t>▪ 自己评估完就开始做，不报委员会</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动物病原和转基因生物另有分级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动物病原另有分类名录</a:t>
            </a:r>
          </a:p>
          <a:p>
            <a:pPr>
              <a:spcAft>
                <a:spcPts val="1000"/>
              </a:spcAft>
            </a:pPr>
            <a:r>
              <a:rPr sz="2000">
                <a:solidFill>
                  <a:srgbClr val="222B33"/>
                </a:solidFill>
                <a:latin typeface="Microsoft YaHei"/>
              </a:rPr>
              <a:t>▪ 涉及动物，人间和动物两个名录都要查</a:t>
            </a:r>
          </a:p>
          <a:p>
            <a:pPr>
              <a:spcAft>
                <a:spcPts val="1000"/>
              </a:spcAft>
            </a:pPr>
            <a:r>
              <a:rPr sz="2000">
                <a:solidFill>
                  <a:srgbClr val="222B33"/>
                </a:solidFill>
                <a:latin typeface="Microsoft YaHei"/>
              </a:rPr>
              <a:t>▪ 农业转基因生物另有安全等级，Ⅰ级最低、Ⅳ级最高</a:t>
            </a:r>
          </a:p>
          <a:p>
            <a:pPr>
              <a:spcAft>
                <a:spcPts val="1000"/>
              </a:spcAft>
            </a:pPr>
            <a:r>
              <a:rPr sz="2000">
                <a:solidFill>
                  <a:srgbClr val="222B33"/>
                </a:solidFill>
                <a:latin typeface="Microsoft YaHei"/>
              </a:rPr>
              <a:t>▪ 填表写清用的是哪套分级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动物病原微生物在国内另有《动物病原微生物分类名录》（以现行版本为准）。实验涉及动物或人兽共患病原时，人间传染的病原目录和动物病原名录都要查清楚。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涉及动物时只查人间传染的病原目录</a:t>
            </a:r>
          </a:p>
          <a:p>
            <a:pPr>
              <a:spcAft>
                <a:spcPts val="1000"/>
              </a:spcAft>
            </a:pPr>
            <a:r>
              <a:rPr sz="1500">
                <a:solidFill>
                  <a:srgbClr val="222B33"/>
                </a:solidFill>
                <a:latin typeface="Microsoft YaHei"/>
              </a:rPr>
              <a:t>▪ 把转基因安全等级和病原分类混写</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评估还要看地区因素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同一种病原，在不同地区风险不同</a:t>
            </a:r>
          </a:p>
          <a:p>
            <a:pPr>
              <a:spcAft>
                <a:spcPts val="1000"/>
              </a:spcAft>
            </a:pPr>
            <a:r>
              <a:rPr sz="2000">
                <a:solidFill>
                  <a:srgbClr val="222B33"/>
                </a:solidFill>
                <a:latin typeface="Microsoft YaHei"/>
              </a:rPr>
              <a:t>▪ 一看致病性，包括本地出现的变异株</a:t>
            </a:r>
          </a:p>
          <a:p>
            <a:pPr>
              <a:spcAft>
                <a:spcPts val="1000"/>
              </a:spcAft>
            </a:pPr>
            <a:r>
              <a:rPr sz="2000">
                <a:solidFill>
                  <a:srgbClr val="222B33"/>
                </a:solidFill>
                <a:latin typeface="Microsoft YaHei"/>
              </a:rPr>
              <a:t>▪ 二看传播方式、宿主、媒介、人口和气候</a:t>
            </a:r>
          </a:p>
          <a:p>
            <a:pPr>
              <a:spcAft>
                <a:spcPts val="1000"/>
              </a:spcAft>
            </a:pPr>
            <a:r>
              <a:rPr sz="2000">
                <a:solidFill>
                  <a:srgbClr val="222B33"/>
                </a:solidFill>
                <a:latin typeface="Microsoft YaHei"/>
              </a:rPr>
              <a:t>▪ 三看预防、四看治疗，本地能否获得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风险分组是一般性的判断。同一种病原在不同地区风险可能不同，评估和确定措施时还要考虑地区因素：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照搬其他地区的评估结论</a:t>
            </a:r>
          </a:p>
          <a:p>
            <a:pPr>
              <a:spcAft>
                <a:spcPts val="1000"/>
              </a:spcAft>
            </a:pPr>
            <a:r>
              <a:rPr sz="1500">
                <a:solidFill>
                  <a:srgbClr val="222B33"/>
                </a:solidFill>
                <a:latin typeface="Microsoft YaHei"/>
              </a:rPr>
              <a:t>▪ 忽视本地有没有传播媒介和防治条件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病原资料单：病原的“说明书”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病原也有资料单，就像化学品安全技术说明书</a:t>
            </a:r>
          </a:p>
          <a:p>
            <a:pPr>
              <a:spcAft>
                <a:spcPts val="1000"/>
              </a:spcAft>
            </a:pPr>
            <a:r>
              <a:rPr sz="2000">
                <a:solidFill>
                  <a:srgbClr val="222B33"/>
                </a:solidFill>
                <a:latin typeface="Microsoft YaHei"/>
              </a:rPr>
              <a:t>▪ 网上公开、不断更新，国外资料只作参考</a:t>
            </a:r>
          </a:p>
          <a:p>
            <a:pPr>
              <a:spcAft>
                <a:spcPts val="1000"/>
              </a:spcAft>
            </a:pPr>
            <a:r>
              <a:rPr sz="2000">
                <a:solidFill>
                  <a:srgbClr val="222B33"/>
                </a:solidFill>
                <a:latin typeface="Microsoft YaHei"/>
              </a:rPr>
              <a:t>▪ 可查风险组、传播途径、处置等信息</a:t>
            </a:r>
          </a:p>
          <a:p>
            <a:pPr>
              <a:spcAft>
                <a:spcPts val="1000"/>
              </a:spcAft>
            </a:pPr>
            <a:r>
              <a:rPr sz="2000">
                <a:solidFill>
                  <a:srgbClr val="222B33"/>
                </a:solidFill>
                <a:latin typeface="Microsoft YaHei"/>
              </a:rPr>
              <a:t>▪ 有手机版，但手机不要带进高等级实验室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化学品有安全技术说明书，病原也有类似的资料单（病原安全数据表），一种病原一份，列出它的特性、传播途径、危害、消毒灭活方法、防护和处置要求等，是做风险评估的常用参考工具。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直接按国外资料单的风险组确定国内实验室级别</a:t>
            </a:r>
          </a:p>
          <a:p>
            <a:pPr>
              <a:spcAft>
                <a:spcPts val="1000"/>
              </a:spcAft>
            </a:pPr>
            <a:r>
              <a:rPr sz="1500">
                <a:solidFill>
                  <a:srgbClr val="222B33"/>
                </a:solidFill>
                <a:latin typeface="Microsoft YaHei"/>
              </a:rPr>
              <a:t>▪ 把手机带进高等级实验室查资料</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资料单的九个部分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一是谁：名称分类；二有多凶：致病性、剂量、潜伏期</a:t>
            </a:r>
          </a:p>
          <a:p>
            <a:pPr>
              <a:spcAft>
                <a:spcPts val="1000"/>
              </a:spcAft>
            </a:pPr>
            <a:r>
              <a:rPr sz="1700">
                <a:solidFill>
                  <a:srgbClr val="222B33"/>
                </a:solidFill>
                <a:latin typeface="Microsoft YaHei"/>
              </a:rPr>
              <a:t>▪ 三怎么传：宿主、媒介、人兽共患</a:t>
            </a:r>
          </a:p>
          <a:p>
            <a:pPr>
              <a:spcAft>
                <a:spcPts val="1000"/>
              </a:spcAft>
            </a:pPr>
            <a:r>
              <a:rPr sz="1700">
                <a:solidFill>
                  <a:srgbClr val="222B33"/>
                </a:solidFill>
                <a:latin typeface="Microsoft YaHei"/>
              </a:rPr>
              <a:t>▪ 四能否杀灭：耐药性、消毒剂敏感性、接触时间</a:t>
            </a:r>
          </a:p>
          <a:p>
            <a:pPr>
              <a:spcAft>
                <a:spcPts val="1000"/>
              </a:spcAft>
            </a:pPr>
            <a:r>
              <a:rPr sz="1700">
                <a:solidFill>
                  <a:srgbClr val="222B33"/>
                </a:solidFill>
                <a:latin typeface="Microsoft YaHei"/>
              </a:rPr>
              <a:t>▪ 五急救医疗：疫苗、用药，法定传染病要上报</a:t>
            </a:r>
          </a:p>
          <a:p>
            <a:pPr>
              <a:spcAft>
                <a:spcPts val="1000"/>
              </a:spcAft>
            </a:pPr>
            <a:r>
              <a:rPr sz="1700">
                <a:solidFill>
                  <a:srgbClr val="222B33"/>
                </a:solidFill>
                <a:latin typeface="Microsoft YaHei"/>
              </a:rPr>
              <a:t>▪ 六至九：实验室危害、防护、处置储存、法规信息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常见的病原资料单分为九个部分：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只看风险组编号，不看消毒灭活和应急处置部分</a:t>
            </a:r>
          </a:p>
          <a:p>
            <a:pPr>
              <a:spcAft>
                <a:spcPts val="1000"/>
              </a:spcAft>
            </a:pPr>
            <a:r>
              <a:rPr sz="1500">
                <a:solidFill>
                  <a:srgbClr val="222B33"/>
                </a:solidFill>
                <a:latin typeface="Microsoft YaHei"/>
              </a:rPr>
              <a:t>▪ 消毒时不等够接触时间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关于我国病原微生物分类，正确的是：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第一类危害最大，第四类通常不致病</a:t>
            </a:r>
          </a:p>
          <a:p>
            <a:pPr algn="l"/>
            <a:r>
              <a:rPr sz="1500" b="0">
                <a:solidFill>
                  <a:srgbClr val="222B33"/>
                </a:solidFill>
                <a:latin typeface="Microsoft YaHei"/>
              </a:rPr>
              <a:t>C. 与国际风险组编号方向相同</a:t>
            </a:r>
          </a:p>
          <a:p>
            <a:pPr algn="l"/>
            <a:r>
              <a:rPr sz="1500" b="0">
                <a:solidFill>
                  <a:srgbClr val="222B33"/>
                </a:solidFill>
                <a:latin typeface="Microsoft YaHei"/>
              </a:rPr>
              <a:t>D. 只分三类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判断：国内第一类病原微生物可以在一级生物安全实验室操作。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第一类、第二类病原微生物统称为：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条件致病菌</a:t>
            </a:r>
          </a:p>
          <a:p>
            <a:pPr algn="l"/>
            <a:r>
              <a:rPr sz="1500" b="0">
                <a:solidFill>
                  <a:srgbClr val="222B33"/>
                </a:solidFill>
                <a:latin typeface="Microsoft YaHei"/>
              </a:rPr>
              <a:t>B. 高致病性病原微生物</a:t>
            </a:r>
          </a:p>
          <a:p>
            <a:pPr algn="l"/>
            <a:r>
              <a:rPr sz="1500" b="0">
                <a:solidFill>
                  <a:srgbClr val="222B33"/>
                </a:solidFill>
                <a:latin typeface="Microsoft YaHei"/>
              </a:rPr>
              <a:t>C. 低风险微生物</a:t>
            </a:r>
          </a:p>
          <a:p>
            <a:pPr algn="l"/>
            <a:r>
              <a:rPr sz="1500" b="0">
                <a:solidFill>
                  <a:srgbClr val="222B33"/>
                </a:solidFill>
                <a:latin typeface="Microsoft YaHei"/>
              </a:rPr>
              <a:t>D. 环境微生物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要确定某种病原的国内类别和所需实验室级别，应当以什么为准：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国外病原资料单</a:t>
            </a:r>
          </a:p>
          <a:p>
            <a:pPr algn="l"/>
            <a:r>
              <a:rPr sz="1500" b="0">
                <a:solidFill>
                  <a:srgbClr val="222B33"/>
                </a:solidFill>
                <a:latin typeface="Microsoft YaHei"/>
              </a:rPr>
              <a:t>B. 网上流传的表格</a:t>
            </a:r>
          </a:p>
          <a:p>
            <a:pPr algn="l"/>
            <a:r>
              <a:rPr sz="1500" b="0">
                <a:solidFill>
                  <a:srgbClr val="222B33"/>
                </a:solidFill>
                <a:latin typeface="Microsoft YaHei"/>
              </a:rPr>
              <a:t>C. 现行版《人间传染的病原微生物目录》和风险评估</a:t>
            </a:r>
          </a:p>
          <a:p>
            <a:pPr algn="l"/>
            <a:r>
              <a:rPr sz="1500" b="0">
                <a:solidFill>
                  <a:srgbClr val="222B33"/>
                </a:solidFill>
                <a:latin typeface="Microsoft YaHei"/>
              </a:rPr>
              <a:t>D. 同学的经验</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判断：目录里查不到的微生物，说明它危害很低，可以直接在普通实验室操作。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简答：同一种病原，为什么在不同地区评估结果可能不同？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什么是生物因子</a:t>
            </a:r>
          </a:p>
          <a:p>
            <a:pPr>
              <a:spcAft>
                <a:spcPts val="800"/>
              </a:spcAft>
            </a:pPr>
            <a:r>
              <a:rPr sz="1500">
                <a:solidFill>
                  <a:srgbClr val="FFFFFF"/>
                </a:solidFill>
                <a:latin typeface="Microsoft YaHei"/>
              </a:rPr>
              <a:t>▪ K2  细菌、病毒、真菌各有特点</a:t>
            </a:r>
          </a:p>
          <a:p>
            <a:pPr>
              <a:spcAft>
                <a:spcPts val="800"/>
              </a:spcAft>
            </a:pPr>
            <a:r>
              <a:rPr sz="1500">
                <a:solidFill>
                  <a:srgbClr val="FFFFFF"/>
                </a:solidFill>
                <a:latin typeface="Microsoft YaHei"/>
              </a:rPr>
              <a:t>▪ K3  朊病毒、感染性核酸、寄生虫与毒素</a:t>
            </a:r>
          </a:p>
          <a:p>
            <a:pPr>
              <a:spcAft>
                <a:spcPts val="800"/>
              </a:spcAft>
            </a:pPr>
            <a:r>
              <a:rPr sz="1500">
                <a:solidFill>
                  <a:srgbClr val="FFFFFF"/>
                </a:solidFill>
                <a:latin typeface="Microsoft YaHei"/>
              </a:rPr>
              <a:t>▪ K4  分组看两头：个体风险与群体风险</a:t>
            </a:r>
          </a:p>
          <a:p>
            <a:pPr>
              <a:spcAft>
                <a:spcPts val="800"/>
              </a:spcAft>
            </a:pPr>
            <a:r>
              <a:rPr sz="1500">
                <a:solidFill>
                  <a:srgbClr val="FFFFFF"/>
                </a:solidFill>
                <a:latin typeface="Microsoft YaHei"/>
              </a:rPr>
              <a:t>▪ K5  国际风险组第1、2组</a:t>
            </a:r>
          </a:p>
          <a:p>
            <a:pPr>
              <a:spcAft>
                <a:spcPts val="800"/>
              </a:spcAft>
            </a:pPr>
            <a:r>
              <a:rPr sz="1500">
                <a:solidFill>
                  <a:srgbClr val="FFFFFF"/>
                </a:solidFill>
                <a:latin typeface="Microsoft YaHei"/>
              </a:rPr>
              <a:t>▪ K6  国际风险组第3、4组</a:t>
            </a:r>
          </a:p>
          <a:p>
            <a:pPr>
              <a:spcAft>
                <a:spcPts val="800"/>
              </a:spcAft>
            </a:pPr>
            <a:r>
              <a:rPr sz="1500">
                <a:solidFill>
                  <a:srgbClr val="FFFFFF"/>
                </a:solidFill>
                <a:latin typeface="Microsoft YaHei"/>
              </a:rPr>
              <a:t>▪ K7  国内分四类：第一类最危险，与国际相反</a:t>
            </a:r>
          </a:p>
          <a:p>
            <a:pPr>
              <a:spcAft>
                <a:spcPts val="800"/>
              </a:spcAft>
            </a:pPr>
            <a:r>
              <a:rPr sz="1500">
                <a:solidFill>
                  <a:srgbClr val="FFFFFF"/>
                </a:solidFill>
                <a:latin typeface="Microsoft YaHei"/>
              </a:rPr>
              <a:t>▪ K8  实验室级别国内外同向，别对号入座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第一、二类是高致病性，须经批准</a:t>
            </a:r>
          </a:p>
          <a:p>
            <a:pPr>
              <a:spcAft>
                <a:spcPts val="800"/>
              </a:spcAft>
            </a:pPr>
            <a:r>
              <a:rPr sz="1500">
                <a:solidFill>
                  <a:srgbClr val="FFFFFF"/>
                </a:solidFill>
                <a:latin typeface="Microsoft YaHei"/>
              </a:rPr>
              <a:t>▪ K10  查《人间传染的病原微生物目录》，用现行版</a:t>
            </a:r>
          </a:p>
          <a:p>
            <a:pPr>
              <a:spcAft>
                <a:spcPts val="800"/>
              </a:spcAft>
            </a:pPr>
            <a:r>
              <a:rPr sz="1500">
                <a:solidFill>
                  <a:srgbClr val="FFFFFF"/>
                </a:solidFill>
                <a:latin typeface="Microsoft YaHei"/>
              </a:rPr>
              <a:t>▪ K11  目录里查不到：评估后报委员会定</a:t>
            </a:r>
          </a:p>
          <a:p>
            <a:pPr>
              <a:spcAft>
                <a:spcPts val="800"/>
              </a:spcAft>
            </a:pPr>
            <a:r>
              <a:rPr sz="1500">
                <a:solidFill>
                  <a:srgbClr val="FFFFFF"/>
                </a:solidFill>
                <a:latin typeface="Microsoft YaHei"/>
              </a:rPr>
              <a:t>▪ K12  动物病原和转基因生物另有分级</a:t>
            </a:r>
          </a:p>
          <a:p>
            <a:pPr>
              <a:spcAft>
                <a:spcPts val="800"/>
              </a:spcAft>
            </a:pPr>
            <a:r>
              <a:rPr sz="1500">
                <a:solidFill>
                  <a:srgbClr val="FFFFFF"/>
                </a:solidFill>
                <a:latin typeface="Microsoft YaHei"/>
              </a:rPr>
              <a:t>▪ K13  评估还要看地区因素</a:t>
            </a:r>
          </a:p>
          <a:p>
            <a:pPr>
              <a:spcAft>
                <a:spcPts val="800"/>
              </a:spcAft>
            </a:pPr>
            <a:r>
              <a:rPr sz="1500">
                <a:solidFill>
                  <a:srgbClr val="FFFFFF"/>
                </a:solidFill>
                <a:latin typeface="Microsoft YaHei"/>
              </a:rPr>
              <a:t>▪ K14  病原资料单：病原的“说明书”</a:t>
            </a:r>
          </a:p>
          <a:p>
            <a:pPr>
              <a:spcAft>
                <a:spcPts val="800"/>
              </a:spcAft>
            </a:pPr>
            <a:r>
              <a:rPr sz="1500">
                <a:solidFill>
                  <a:srgbClr val="FFFFFF"/>
                </a:solidFill>
                <a:latin typeface="Microsoft YaHei"/>
              </a:rPr>
              <a:t>▪ K15  资料单的九个部分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生物安全实验室分级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能说出生物安全实验室按防护水平分为一级至四级（BSL-1～BSL-4），一级最低、四级最高，与国内病原分类的编号方向相反。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能说出各级实验室适用的病原类别、典型用途，以及在设施、设备和程序上的递进（开放台面—受控进入与安全柜—负压与缓冲间—正压防护服）。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能说出动物实验室（ABSL）的分级，知道国内标准和规定由谁制定、谁负责备案认可审批，国际手册只作参考。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能判断学生实验的级别边界：多在一级、二级实验室；三级、四级须专门批准、培训和授权；拿不准先问负责人。</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《病原微生物实验室生物安全管理条例》（以现行文本为准）：实验室按生物安全防护水平分为一级至四级；一级、二级实验室备案，三级、四级实验室须通过国家认可，高致病性病原微生物实验活动须经批准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生物安全通用要求》：各级生物安全实验室（含动物生物安全实验室 ABSL-1～ABSL-4）的设施设备和管理要求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号，以现行文本为准）：实验室准入、分级分类管理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本校生物安全管理制度：实验室级别标识、准入和授权，以本校规定为准</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防护级别：一套标准化措施，四级逐级加严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防护级别是一套标准化的防护措施</a:t>
            </a:r>
          </a:p>
          <a:p>
            <a:pPr>
              <a:spcAft>
                <a:spcPts val="1000"/>
              </a:spcAft>
            </a:pPr>
            <a:r>
              <a:rPr sz="2000">
                <a:solidFill>
                  <a:srgbClr val="222B33"/>
                </a:solidFill>
                <a:latin typeface="Microsoft YaHei"/>
              </a:rPr>
              <a:t>▪ 从一级到四级，一共四个等级</a:t>
            </a:r>
          </a:p>
          <a:p>
            <a:pPr>
              <a:spcAft>
                <a:spcPts val="1000"/>
              </a:spcAft>
            </a:pPr>
            <a:r>
              <a:rPr sz="2000">
                <a:solidFill>
                  <a:srgbClr val="222B33"/>
                </a:solidFill>
                <a:latin typeface="Microsoft YaHei"/>
              </a:rPr>
              <a:t>▪ 等级越高，对应风险越高，措施越严</a:t>
            </a:r>
          </a:p>
          <a:p>
            <a:pPr>
              <a:spcAft>
                <a:spcPts val="1000"/>
              </a:spcAft>
            </a:pPr>
            <a:r>
              <a:rPr sz="2000">
                <a:solidFill>
                  <a:srgbClr val="222B33"/>
                </a:solidFill>
                <a:latin typeface="Microsoft YaHei"/>
              </a:rPr>
              <a:t>▪ 目的是保护人员、公众和环境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生物安全防护级别（生物安全水平，BSL）是一整套标准化的防护措施，包括安全规程和做法、安全设备和实验室设施，用来控制操作微生物带来的风险，保护操作人员、公众和环境。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认为各级实验室只是“房间大小不同”</a:t>
            </a:r>
          </a:p>
          <a:p>
            <a:pPr>
              <a:spcAft>
                <a:spcPts val="1000"/>
              </a:spcAft>
            </a:pPr>
            <a:r>
              <a:rPr sz="1500">
                <a:solidFill>
                  <a:srgbClr val="222B33"/>
                </a:solidFill>
                <a:latin typeface="Microsoft YaHei"/>
              </a:rPr>
              <a:t>▪ 把病原分类的“第一类”和实验室的“一级”混为一谈</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按危害定级，每级都有设施、设备、程序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定哪一级，看所操作生物因子的危害和实验活动</a:t>
            </a:r>
          </a:p>
          <a:p>
            <a:pPr>
              <a:spcAft>
                <a:spcPts val="1000"/>
              </a:spcAft>
            </a:pPr>
            <a:r>
              <a:rPr sz="2000">
                <a:solidFill>
                  <a:srgbClr val="222B33"/>
                </a:solidFill>
                <a:latin typeface="Microsoft YaHei"/>
              </a:rPr>
              <a:t>▪ 每一级都有设施、设备、程序三方面要求</a:t>
            </a:r>
          </a:p>
          <a:p>
            <a:pPr>
              <a:spcAft>
                <a:spcPts val="1000"/>
              </a:spcAft>
            </a:pPr>
            <a:r>
              <a:rPr sz="2000">
                <a:solidFill>
                  <a:srgbClr val="222B33"/>
                </a:solidFill>
                <a:latin typeface="Microsoft YaHei"/>
              </a:rPr>
              <a:t>▪ 级别越高，设施要求越多，三四级要独立隔离</a:t>
            </a:r>
          </a:p>
          <a:p>
            <a:pPr>
              <a:spcAft>
                <a:spcPts val="1000"/>
              </a:spcAft>
            </a:pPr>
            <a:r>
              <a:rPr sz="2000">
                <a:solidFill>
                  <a:srgbClr val="222B33"/>
                </a:solidFill>
                <a:latin typeface="Microsoft YaHei"/>
              </a:rPr>
              <a:t>▪ 设计实验室、写安全手册，都按级别来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实验在哪一级实验室做，取决于所操作生物因子的危害和具体实验活动（如何为具体实验定级见第 060 课）。每一级对三方面都有要求：什么样的房间和设施；用什么安全设备；按什么程序操作。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只买了生物安全柜，就以为实验室“升了级”</a:t>
            </a:r>
          </a:p>
          <a:p>
            <a:pPr>
              <a:spcAft>
                <a:spcPts val="1000"/>
              </a:spcAft>
            </a:pPr>
            <a:r>
              <a:rPr sz="1500">
                <a:solidFill>
                  <a:srgbClr val="222B33"/>
                </a:solidFill>
                <a:latin typeface="Microsoft YaHei"/>
              </a:rPr>
              <a:t>▪ 不看实验活动，只看病原名称定级</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实验室级别国内外同向，病原分类反向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实验室防护级别国内外同向：一级最低，四级最高</a:t>
            </a:r>
          </a:p>
          <a:p>
            <a:pPr>
              <a:spcAft>
                <a:spcPts val="1000"/>
              </a:spcAft>
            </a:pPr>
            <a:r>
              <a:rPr sz="2000">
                <a:solidFill>
                  <a:srgbClr val="222B33"/>
                </a:solidFill>
                <a:latin typeface="Microsoft YaHei"/>
              </a:rPr>
              <a:t>▪ 动物实验室也是同样的排法</a:t>
            </a:r>
          </a:p>
          <a:p>
            <a:pPr>
              <a:spcAft>
                <a:spcPts val="1000"/>
              </a:spcAft>
            </a:pPr>
            <a:r>
              <a:rPr sz="2000">
                <a:solidFill>
                  <a:srgbClr val="222B33"/>
                </a:solidFill>
                <a:latin typeface="Microsoft YaHei"/>
              </a:rPr>
              <a:t>▪ 病原分类国内第一类最危险，与国际风险组相反</a:t>
            </a:r>
          </a:p>
          <a:p>
            <a:pPr>
              <a:spcAft>
                <a:spcPts val="1000"/>
              </a:spcAft>
            </a:pPr>
            <a:r>
              <a:rPr sz="2000">
                <a:solidFill>
                  <a:srgbClr val="222B33"/>
                </a:solidFill>
                <a:latin typeface="Microsoft YaHei"/>
              </a:rPr>
              <a:t>▪ 口诀：病原分类反着走，实验室级别顺着走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实验室防护级别与病原分类是两套不同的编号：实验室级别国内外一致，一级最低、四级最高，动物生物安全实验室（ABSL）也一样；而病原微生物分类，国内第一类危害最大、第四类最小，国际风险组则是 1 组最低、4 组最高，方向……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认为第一类病原在一级实验室做</a:t>
            </a:r>
          </a:p>
          <a:p>
            <a:pPr>
              <a:spcAft>
                <a:spcPts val="1000"/>
              </a:spcAft>
            </a:pPr>
            <a:r>
              <a:rPr sz="1500">
                <a:solidFill>
                  <a:srgbClr val="222B33"/>
                </a:solidFill>
                <a:latin typeface="Microsoft YaHei"/>
              </a:rPr>
              <a:t>▪ 把国际风险组的数字直接当作实验室级别</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一级：不致病的微生物，基本防护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操作已知对健康成人不致病的微生物</a:t>
            </a:r>
          </a:p>
          <a:p>
            <a:pPr>
              <a:spcAft>
                <a:spcPts val="1000"/>
              </a:spcAft>
            </a:pPr>
            <a:r>
              <a:rPr sz="2000">
                <a:solidFill>
                  <a:srgbClr val="222B33"/>
                </a:solidFill>
                <a:latin typeface="Microsoft YaHei"/>
              </a:rPr>
              <a:t>▪ 如无害的实验室菌株、面包酵母、常见环境菌</a:t>
            </a:r>
          </a:p>
          <a:p>
            <a:pPr>
              <a:spcAft>
                <a:spcPts val="1000"/>
              </a:spcAft>
            </a:pPr>
            <a:r>
              <a:rPr sz="2000">
                <a:solidFill>
                  <a:srgbClr val="222B33"/>
                </a:solidFill>
                <a:latin typeface="Microsoft YaHei"/>
              </a:rPr>
              <a:t>▪ 多用于基础教学和入门实验</a:t>
            </a:r>
          </a:p>
          <a:p>
            <a:pPr>
              <a:spcAft>
                <a:spcPts val="1000"/>
              </a:spcAft>
            </a:pPr>
            <a:r>
              <a:rPr sz="2000">
                <a:solidFill>
                  <a:srgbClr val="222B33"/>
                </a:solidFill>
                <a:latin typeface="Microsoft YaHei"/>
              </a:rPr>
              <a:t>▪ 开放台面，守基本规范，穿实验服戴手套，限制进入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级生物安全实验室（BSL-1）风险最低，操作的是已知通常不会使健康成人致病的微生物，例如无害的实验室菌株、做面包的酵母、土壤和水中的常见非致病菌。许多基础教学实验、微生物学入门课就在这一级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认为一级实验室“没有风险”，在里面饮食、不洗手</a:t>
            </a:r>
          </a:p>
          <a:p>
            <a:pPr>
              <a:spcAft>
                <a:spcPts val="1000"/>
              </a:spcAft>
            </a:pPr>
            <a:r>
              <a:rPr sz="1500">
                <a:solidFill>
                  <a:srgbClr val="222B33"/>
                </a:solidFill>
                <a:latin typeface="Microsoft YaHei"/>
              </a:rPr>
              <a:t>▪ 在一级实验室操作未经评估的不明样本</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二级：中度风险，受控进入、安全柜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操作能致病、但一般不严重或可治的微生物</a:t>
            </a:r>
          </a:p>
          <a:p>
            <a:pPr>
              <a:spcAft>
                <a:spcPts val="1000"/>
              </a:spcAft>
            </a:pPr>
            <a:r>
              <a:rPr sz="2000">
                <a:solidFill>
                  <a:srgbClr val="222B33"/>
                </a:solidFill>
                <a:latin typeface="Microsoft YaHei"/>
              </a:rPr>
              <a:t>▪ 多用于临床检验、高校科研和医院实验室</a:t>
            </a:r>
          </a:p>
          <a:p>
            <a:pPr>
              <a:spcAft>
                <a:spcPts val="1000"/>
              </a:spcAft>
            </a:pPr>
            <a:r>
              <a:rPr sz="2000">
                <a:solidFill>
                  <a:srgbClr val="222B33"/>
                </a:solidFill>
                <a:latin typeface="Microsoft YaHei"/>
              </a:rPr>
              <a:t>▪ 受控进入，门能自动关闭，挂好生物危害标识</a:t>
            </a:r>
          </a:p>
          <a:p>
            <a:pPr>
              <a:spcAft>
                <a:spcPts val="1000"/>
              </a:spcAft>
            </a:pPr>
            <a:r>
              <a:rPr sz="2000">
                <a:solidFill>
                  <a:srgbClr val="222B33"/>
                </a:solidFill>
                <a:latin typeface="Microsoft YaHei"/>
              </a:rPr>
              <a:t>▪ 可能产生气溶胶的操作进生物安全柜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二级实验室的门用东西顶住常开</a:t>
            </a:r>
          </a:p>
          <a:p>
            <a:pPr>
              <a:spcAft>
                <a:spcPts val="1000"/>
              </a:spcAft>
            </a:pPr>
            <a:r>
              <a:rPr sz="1500">
                <a:solidFill>
                  <a:srgbClr val="222B33"/>
                </a:solidFill>
                <a:latin typeface="Microsoft YaHei"/>
              </a:rPr>
              <a:t>▪ 可能产生气溶胶的操作在开放台面上做</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三级：经吸入致重病，负压与严格程序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对应可经吸入传播、致严重甚至致命疾病的病原</a:t>
            </a:r>
          </a:p>
          <a:p>
            <a:pPr>
              <a:spcAft>
                <a:spcPts val="1000"/>
              </a:spcAft>
            </a:pPr>
            <a:r>
              <a:rPr sz="2000">
                <a:solidFill>
                  <a:srgbClr val="222B33"/>
                </a:solidFill>
                <a:latin typeface="Microsoft YaHei"/>
              </a:rPr>
              <a:t>▪ 独立区域、门禁，进出经缓冲间</a:t>
            </a:r>
          </a:p>
          <a:p>
            <a:pPr>
              <a:spcAft>
                <a:spcPts val="1000"/>
              </a:spcAft>
            </a:pPr>
            <a:r>
              <a:rPr sz="2000">
                <a:solidFill>
                  <a:srgbClr val="222B33"/>
                </a:solidFill>
                <a:latin typeface="Microsoft YaHei"/>
              </a:rPr>
              <a:t>▪ 房间负压，空气只往里走，排风高效过滤</a:t>
            </a:r>
          </a:p>
          <a:p>
            <a:pPr>
              <a:spcAft>
                <a:spcPts val="1000"/>
              </a:spcAft>
            </a:pPr>
            <a:r>
              <a:rPr sz="2000">
                <a:solidFill>
                  <a:srgbClr val="222B33"/>
                </a:solidFill>
                <a:latin typeface="Microsoft YaHei"/>
              </a:rPr>
              <a:t>▪ 操作都在安全柜内，严格培训、严格程序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认为学生经过一般培训就能进三级实验室</a:t>
            </a:r>
          </a:p>
          <a:p>
            <a:pPr>
              <a:spcAft>
                <a:spcPts val="1000"/>
              </a:spcAft>
            </a:pPr>
            <a:r>
              <a:rPr sz="1500">
                <a:solidFill>
                  <a:srgbClr val="222B33"/>
                </a:solidFill>
                <a:latin typeface="Microsoft YaHei"/>
              </a:rPr>
              <a:t>▪ 忽视压差、气流异常的提示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四级：最高防护，全国少数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对应危及生命、易传播、缺乏有效防治的病原</a:t>
            </a:r>
          </a:p>
          <a:p>
            <a:pPr>
              <a:spcAft>
                <a:spcPts val="1000"/>
              </a:spcAft>
            </a:pPr>
            <a:r>
              <a:rPr sz="2000">
                <a:solidFill>
                  <a:srgbClr val="222B33"/>
                </a:solidFill>
                <a:latin typeface="Microsoft YaHei"/>
              </a:rPr>
              <a:t>▪ 穿独立供气的正压防护服，破了也往外吹</a:t>
            </a:r>
          </a:p>
          <a:p>
            <a:pPr>
              <a:spcAft>
                <a:spcPts val="1000"/>
              </a:spcAft>
            </a:pPr>
            <a:r>
              <a:rPr sz="2000">
                <a:solidFill>
                  <a:srgbClr val="222B33"/>
                </a:solidFill>
                <a:latin typeface="Microsoft YaHei"/>
              </a:rPr>
              <a:t>▪ 多道去污缓冲区、出口淋浴、双扉灭菌器</a:t>
            </a:r>
          </a:p>
          <a:p>
            <a:pPr>
              <a:spcAft>
                <a:spcPts val="1000"/>
              </a:spcAft>
            </a:pPr>
            <a:r>
              <a:rPr sz="2000">
                <a:solidFill>
                  <a:srgbClr val="222B33"/>
                </a:solidFill>
                <a:latin typeface="Microsoft YaHei"/>
              </a:rPr>
              <a:t>▪ 严格准入，专人监督；造价运行昂贵，数量极少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四级生物安全实验室（BSL-4）是最高等级的防护，对应能危及生命、可经气溶胶传播、通常缺乏有效预防和治疗手段的高危病原；已宣布消灭的病原只在极少数指定机构保存。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认为穿上正压防护服就可以放松操作规范</a:t>
            </a:r>
          </a:p>
          <a:p>
            <a:pPr>
              <a:spcAft>
                <a:spcPts val="1000"/>
              </a:spcAft>
            </a:pPr>
            <a:r>
              <a:rPr sz="1500">
                <a:solidFill>
                  <a:srgbClr val="222B33"/>
                </a:solidFill>
                <a:latin typeface="Microsoft YaHei"/>
              </a:rPr>
              <a:t>▪ 把四级实验室当作参观场所</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动物ABSL、植物设施与“加强型”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动物实验另有动物生物安全一到四级（ABSL）</a:t>
            </a:r>
          </a:p>
          <a:p>
            <a:pPr>
              <a:spcAft>
                <a:spcPts val="1000"/>
              </a:spcAft>
            </a:pPr>
            <a:r>
              <a:rPr sz="2000">
                <a:solidFill>
                  <a:srgbClr val="222B33"/>
                </a:solidFill>
                <a:latin typeface="Microsoft YaHei"/>
              </a:rPr>
              <a:t>▪ 要防咬伤抓伤，也防动物排出的病原</a:t>
            </a:r>
          </a:p>
          <a:p>
            <a:pPr>
              <a:spcAft>
                <a:spcPts val="1000"/>
              </a:spcAft>
            </a:pPr>
            <a:r>
              <a:rPr sz="2000">
                <a:solidFill>
                  <a:srgbClr val="222B33"/>
                </a:solidFill>
                <a:latin typeface="Microsoft YaHei"/>
              </a:rPr>
              <a:t>▪ 植物和转基因植物设施另有要求</a:t>
            </a:r>
          </a:p>
          <a:p>
            <a:pPr>
              <a:spcAft>
                <a:spcPts val="1000"/>
              </a:spcAft>
            </a:pPr>
            <a:r>
              <a:rPr sz="2000">
                <a:solidFill>
                  <a:srgbClr val="222B33"/>
                </a:solidFill>
                <a:latin typeface="Microsoft YaHei"/>
              </a:rPr>
              <a:t>▪ “加强型”指借用了更高一级的部分设计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用动物做感染性实验，按动物生物安全实验室分级，即 ABSL-1～ABSL-4，同样一级最低、四级最高（GB 19489-2008，以现行文本为准）。动物实验除了防操作中的暴露，还要防动物咬伤、抓伤，防动物排出的分泌物……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认为动物实验只要按普通实验室的级别做</a:t>
            </a:r>
          </a:p>
          <a:p>
            <a:pPr>
              <a:spcAft>
                <a:spcPts val="1000"/>
              </a:spcAft>
            </a:pPr>
            <a:r>
              <a:rPr sz="1500">
                <a:solidFill>
                  <a:srgbClr val="222B33"/>
                </a:solidFill>
                <a:latin typeface="Microsoft YaHei"/>
              </a:rPr>
              <a:t>▪ 动物垫料、排泄物按普通垃圾处理</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谁定标准：国内法律、法规、标准层层落实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最上层是生物安全法，下面是管理条例</a:t>
            </a:r>
          </a:p>
          <a:p>
            <a:pPr>
              <a:spcAft>
                <a:spcPts val="1000"/>
              </a:spcAft>
            </a:pPr>
            <a:r>
              <a:rPr sz="2000">
                <a:solidFill>
                  <a:srgbClr val="222B33"/>
                </a:solidFill>
                <a:latin typeface="Microsoft YaHei"/>
              </a:rPr>
              <a:t>▪ 技术要求写在 GB 19489 和 WS 233 中</a:t>
            </a:r>
          </a:p>
          <a:p>
            <a:pPr>
              <a:spcAft>
                <a:spcPts val="1000"/>
              </a:spcAft>
            </a:pPr>
            <a:r>
              <a:rPr sz="2000">
                <a:solidFill>
                  <a:srgbClr val="222B33"/>
                </a:solidFill>
                <a:latin typeface="Microsoft YaHei"/>
              </a:rPr>
              <a:t>▪ 病原放几级做，查国家目录</a:t>
            </a:r>
          </a:p>
          <a:p>
            <a:pPr>
              <a:spcAft>
                <a:spcPts val="1000"/>
              </a:spcAft>
            </a:pPr>
            <a:r>
              <a:rPr sz="2000">
                <a:solidFill>
                  <a:srgbClr val="222B33"/>
                </a:solidFill>
                <a:latin typeface="Microsoft YaHei"/>
              </a:rPr>
              <a:t>▪ 标准会修订，认准现行有效版本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实验室分级的标准不是一个机构说了算。在国内，是法律、法规、标准一层层落实：最上层是《中华人民共和国生物安全法》，下面是《病原微生物实验室生物安全管理条例》；技术要求写在国家标准 GB 19489-2008《实验室 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引用已作废的旧版标准</a:t>
            </a:r>
          </a:p>
          <a:p>
            <a:pPr>
              <a:spcAft>
                <a:spcPts val="1000"/>
              </a:spcAft>
            </a:pPr>
            <a:r>
              <a:rPr sz="1500">
                <a:solidFill>
                  <a:srgbClr val="222B33"/>
                </a:solidFill>
                <a:latin typeface="Microsoft YaHei"/>
              </a:rPr>
              <a:t>▪ 只记得国外的分级说法，不知道国内标准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国际手册和指南只作参考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国际组织发布实验室生物安全手册和专项指南</a:t>
            </a:r>
          </a:p>
          <a:p>
            <a:pPr>
              <a:spcAft>
                <a:spcPts val="1000"/>
              </a:spcAft>
            </a:pPr>
            <a:r>
              <a:rPr sz="2000">
                <a:solidFill>
                  <a:srgbClr val="222B33"/>
                </a:solidFill>
                <a:latin typeface="Microsoft YaHei"/>
              </a:rPr>
              <a:t>▪ 多用于全球疫情应对和各国能力建设</a:t>
            </a:r>
          </a:p>
          <a:p>
            <a:pPr>
              <a:spcAft>
                <a:spcPts val="1000"/>
              </a:spcAft>
            </a:pPr>
            <a:r>
              <a:rPr sz="2000">
                <a:solidFill>
                  <a:srgbClr val="222B33"/>
                </a:solidFill>
                <a:latin typeface="Microsoft YaHei"/>
              </a:rPr>
              <a:t>▪ 在我国只作参考，以国内规定为准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国际上也有国际组织制定实验室生物安全手册，以及针对高风险病原的专项指南，尤其帮助公共卫生体系还在建设中的国家，在全球疫情应对中发挥作用。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按国际手册自行决定实验室级别</a:t>
            </a:r>
          </a:p>
          <a:p>
            <a:pPr>
              <a:spcAft>
                <a:spcPts val="1000"/>
              </a:spcAft>
            </a:pPr>
            <a:r>
              <a:rPr sz="1500">
                <a:solidFill>
                  <a:srgbClr val="222B33"/>
                </a:solidFill>
                <a:latin typeface="Microsoft YaHei"/>
              </a:rPr>
              <a:t>▪ 认为国际指南比国内标准“更权威”</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一张图看清谁管什么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国际组织：提供国际参考</a:t>
            </a:r>
          </a:p>
          <a:p>
            <a:pPr>
              <a:spcAft>
                <a:spcPts val="1000"/>
              </a:spcAft>
            </a:pPr>
            <a:r>
              <a:rPr sz="2000">
                <a:solidFill>
                  <a:srgbClr val="222B33"/>
                </a:solidFill>
                <a:latin typeface="Microsoft YaHei"/>
              </a:rPr>
              <a:t>▪ 国家：法律法规定框架，标准定技术要求</a:t>
            </a:r>
          </a:p>
          <a:p>
            <a:pPr>
              <a:spcAft>
                <a:spcPts val="1000"/>
              </a:spcAft>
            </a:pPr>
            <a:r>
              <a:rPr sz="2000">
                <a:solidFill>
                  <a:srgbClr val="222B33"/>
                </a:solidFill>
                <a:latin typeface="Microsoft YaHei"/>
              </a:rPr>
              <a:t>▪ 主管部门和认可机构：备案、认可和审批</a:t>
            </a:r>
          </a:p>
          <a:p>
            <a:pPr>
              <a:spcAft>
                <a:spcPts val="1000"/>
              </a:spcAft>
            </a:pPr>
            <a:r>
              <a:rPr sz="2000">
                <a:solidFill>
                  <a:srgbClr val="222B33"/>
                </a:solidFill>
                <a:latin typeface="Microsoft YaHei"/>
              </a:rPr>
              <a:t>▪ 单位生物安全委员会：本地监督和执行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用一张图记住谁管什么：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以为实验室建好就能直接用，不需要备案或认可</a:t>
            </a:r>
          </a:p>
          <a:p>
            <a:pPr>
              <a:spcAft>
                <a:spcPts val="1000"/>
              </a:spcAft>
            </a:pPr>
            <a:r>
              <a:rPr sz="1500">
                <a:solidFill>
                  <a:srgbClr val="222B33"/>
                </a:solidFill>
                <a:latin typeface="Microsoft YaHei"/>
              </a:rPr>
              <a:t>▪ 以为生物安全只是国家部门的事，学校不用管</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学生实验的级别边界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学生实验多在一级、二级实验室</a:t>
            </a:r>
          </a:p>
          <a:p>
            <a:pPr>
              <a:spcAft>
                <a:spcPts val="1000"/>
              </a:spcAft>
            </a:pPr>
            <a:r>
              <a:rPr sz="2000">
                <a:solidFill>
                  <a:srgbClr val="222B33"/>
                </a:solidFill>
                <a:latin typeface="Microsoft YaHei"/>
              </a:rPr>
              <a:t>▪ 三级、四级须专门批准、培训和授权</a:t>
            </a:r>
          </a:p>
          <a:p>
            <a:pPr>
              <a:spcAft>
                <a:spcPts val="1000"/>
              </a:spcAft>
            </a:pPr>
            <a:r>
              <a:rPr sz="2000">
                <a:solidFill>
                  <a:srgbClr val="222B33"/>
                </a:solidFill>
                <a:latin typeface="Microsoft YaHei"/>
              </a:rPr>
              <a:t>▪ 实验须在相应级别实验室，经评估和批准</a:t>
            </a:r>
          </a:p>
          <a:p>
            <a:pPr>
              <a:spcAft>
                <a:spcPts val="1000"/>
              </a:spcAft>
            </a:pPr>
            <a:r>
              <a:rPr sz="2000">
                <a:solidFill>
                  <a:srgbClr val="222B33"/>
                </a:solidFill>
                <a:latin typeface="Microsoft YaHei"/>
              </a:rPr>
              <a:t>▪ 拿不准级别，先问负责人，不擅自做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高校学生的教学和多数科研实验在一级、二级实验室开展。进入三级、四级实验室工作，须经单位专门批准，接受专门培训并考核合格，获得授权；学生不得自行进入或开展相关实验。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为了“方便”在级别不够的实验室做实验</a:t>
            </a:r>
          </a:p>
          <a:p>
            <a:pPr>
              <a:spcAft>
                <a:spcPts val="1000"/>
              </a:spcAft>
            </a:pPr>
            <a:r>
              <a:rPr sz="1500">
                <a:solidFill>
                  <a:srgbClr val="222B33"/>
                </a:solidFill>
                <a:latin typeface="Microsoft YaHei"/>
              </a:rPr>
              <a:t>▪ 未经准入培训就进入二级实验室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关于生物安全实验室防护级别，正确的是：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一级最高</a:t>
            </a:r>
          </a:p>
          <a:p>
            <a:pPr algn="l"/>
            <a:r>
              <a:rPr sz="1500" b="0">
                <a:solidFill>
                  <a:srgbClr val="222B33"/>
                </a:solidFill>
                <a:latin typeface="Microsoft YaHei"/>
              </a:rPr>
              <a:t>B. 一级最低、四级最高，国内外同向</a:t>
            </a:r>
          </a:p>
          <a:p>
            <a:pPr algn="l"/>
            <a:r>
              <a:rPr sz="1500" b="0">
                <a:solidFill>
                  <a:srgbClr val="222B33"/>
                </a:solidFill>
                <a:latin typeface="Microsoft YaHei"/>
              </a:rPr>
              <a:t>C. 与病原分类编号方向相同，第一类病原在一级实验室做</a:t>
            </a:r>
          </a:p>
          <a:p>
            <a:pPr algn="l"/>
            <a:r>
              <a:rPr sz="1500" b="0">
                <a:solidFill>
                  <a:srgbClr val="222B33"/>
                </a:solidFill>
                <a:latin typeface="Microsoft YaHei"/>
              </a:rPr>
              <a:t>D. 国内只有三级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房间保持负压、进出经缓冲间、排风经高效过滤、所有操作在安全柜内，这是哪一级实验室的特点：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a:t>
            </a:r>
          </a:p>
          <a:p>
            <a:pPr algn="l"/>
            <a:r>
              <a:rPr sz="1500" b="0">
                <a:solidFill>
                  <a:srgbClr val="222B33"/>
                </a:solidFill>
                <a:latin typeface="Microsoft YaHei"/>
              </a:rPr>
              <a:t>B. 二级</a:t>
            </a:r>
          </a:p>
          <a:p>
            <a:pPr algn="l"/>
            <a:r>
              <a:rPr sz="1500" b="0">
                <a:solidFill>
                  <a:srgbClr val="222B33"/>
                </a:solidFill>
                <a:latin typeface="Microsoft YaHei"/>
              </a:rPr>
              <a:t>C. 三级</a:t>
            </a:r>
          </a:p>
          <a:p>
            <a:pPr algn="l"/>
            <a:r>
              <a:rPr sz="1500" b="0">
                <a:solidFill>
                  <a:srgbClr val="222B33"/>
                </a:solidFill>
                <a:latin typeface="Microsoft YaHei"/>
              </a:rPr>
              <a:t>D. 只是普通化学实验室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我国生物安全实验室的技术要求主要写在：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19489 和 WS 233</a:t>
            </a:r>
          </a:p>
          <a:p>
            <a:pPr algn="l"/>
            <a:r>
              <a:rPr sz="1500" b="0">
                <a:solidFill>
                  <a:srgbClr val="222B33"/>
                </a:solidFill>
                <a:latin typeface="Microsoft YaHei"/>
              </a:rPr>
              <a:t>B. 国际组织的手册</a:t>
            </a:r>
          </a:p>
          <a:p>
            <a:pPr algn="l"/>
            <a:r>
              <a:rPr sz="1500" b="0">
                <a:solidFill>
                  <a:srgbClr val="222B33"/>
                </a:solidFill>
                <a:latin typeface="Microsoft YaHei"/>
              </a:rPr>
              <a:t>C. 化学品安全技术说明书</a:t>
            </a:r>
          </a:p>
          <a:p>
            <a:pPr algn="l"/>
            <a:r>
              <a:rPr sz="1500" b="0">
                <a:solidFill>
                  <a:srgbClr val="222B33"/>
                </a:solidFill>
                <a:latin typeface="Microsoft YaHei"/>
              </a:rPr>
              <a:t>D. 网上的经验帖</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简答：阿杰不确定自己的实验该在几级实验室做，应该怎么办？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防护级别：一套标准化措施，四级逐级加严</a:t>
            </a:r>
          </a:p>
          <a:p>
            <a:pPr>
              <a:spcAft>
                <a:spcPts val="800"/>
              </a:spcAft>
            </a:pPr>
            <a:r>
              <a:rPr sz="1500">
                <a:solidFill>
                  <a:srgbClr val="FFFFFF"/>
                </a:solidFill>
                <a:latin typeface="Microsoft YaHei"/>
              </a:rPr>
              <a:t>▪ K2  按危害定级，每级都有设施、设备、程序</a:t>
            </a:r>
          </a:p>
          <a:p>
            <a:pPr>
              <a:spcAft>
                <a:spcPts val="800"/>
              </a:spcAft>
            </a:pPr>
            <a:r>
              <a:rPr sz="1500">
                <a:solidFill>
                  <a:srgbClr val="FFFFFF"/>
                </a:solidFill>
                <a:latin typeface="Microsoft YaHei"/>
              </a:rPr>
              <a:t>▪ K3  实验室级别国内外同向，病原分类反向</a:t>
            </a:r>
          </a:p>
          <a:p>
            <a:pPr>
              <a:spcAft>
                <a:spcPts val="800"/>
              </a:spcAft>
            </a:pPr>
            <a:r>
              <a:rPr sz="1500">
                <a:solidFill>
                  <a:srgbClr val="FFFFFF"/>
                </a:solidFill>
                <a:latin typeface="Microsoft YaHei"/>
              </a:rPr>
              <a:t>▪ K4  一级：不致病的微生物，基本防护</a:t>
            </a:r>
          </a:p>
          <a:p>
            <a:pPr>
              <a:spcAft>
                <a:spcPts val="800"/>
              </a:spcAft>
            </a:pPr>
            <a:r>
              <a:rPr sz="1500">
                <a:solidFill>
                  <a:srgbClr val="FFFFFF"/>
                </a:solidFill>
                <a:latin typeface="Microsoft YaHei"/>
              </a:rPr>
              <a:t>▪ K5  二级：中度风险，受控进入、安全柜</a:t>
            </a:r>
          </a:p>
          <a:p>
            <a:pPr>
              <a:spcAft>
                <a:spcPts val="800"/>
              </a:spcAft>
            </a:pPr>
            <a:r>
              <a:rPr sz="1500">
                <a:solidFill>
                  <a:srgbClr val="FFFFFF"/>
                </a:solidFill>
                <a:latin typeface="Microsoft YaHei"/>
              </a:rPr>
              <a:t>▪ K6  三级：经吸入致重病，负压与严格程序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四级：最高防护，全国少数</a:t>
            </a:r>
          </a:p>
          <a:p>
            <a:pPr>
              <a:spcAft>
                <a:spcPts val="800"/>
              </a:spcAft>
            </a:pPr>
            <a:r>
              <a:rPr sz="1500">
                <a:solidFill>
                  <a:srgbClr val="FFFFFF"/>
                </a:solidFill>
                <a:latin typeface="Microsoft YaHei"/>
              </a:rPr>
              <a:t>▪ K8  动物ABSL、植物设施与“加强型”</a:t>
            </a:r>
          </a:p>
          <a:p>
            <a:pPr>
              <a:spcAft>
                <a:spcPts val="800"/>
              </a:spcAft>
            </a:pPr>
            <a:r>
              <a:rPr sz="1500">
                <a:solidFill>
                  <a:srgbClr val="FFFFFF"/>
                </a:solidFill>
                <a:latin typeface="Microsoft YaHei"/>
              </a:rPr>
              <a:t>▪ K9  谁定标准：国内法律、法规、标准层层落实</a:t>
            </a:r>
          </a:p>
          <a:p>
            <a:pPr>
              <a:spcAft>
                <a:spcPts val="800"/>
              </a:spcAft>
            </a:pPr>
            <a:r>
              <a:rPr sz="1500">
                <a:solidFill>
                  <a:srgbClr val="FFFFFF"/>
                </a:solidFill>
                <a:latin typeface="Microsoft YaHei"/>
              </a:rPr>
              <a:t>▪ K10  国际手册和指南只作参考</a:t>
            </a:r>
          </a:p>
          <a:p>
            <a:pPr>
              <a:spcAft>
                <a:spcPts val="800"/>
              </a:spcAft>
            </a:pPr>
            <a:r>
              <a:rPr sz="1500">
                <a:solidFill>
                  <a:srgbClr val="FFFFFF"/>
                </a:solidFill>
                <a:latin typeface="Microsoft YaHei"/>
              </a:rPr>
              <a:t>▪ K11  一张图看清谁管什么</a:t>
            </a:r>
          </a:p>
          <a:p>
            <a:pPr>
              <a:spcAft>
                <a:spcPts val="800"/>
              </a:spcAft>
            </a:pPr>
            <a:r>
              <a:rPr sz="1500">
                <a:solidFill>
                  <a:srgbClr val="FFFFFF"/>
                </a:solidFill>
                <a:latin typeface="Microsoft YaHei"/>
              </a:rPr>
              <a:t>▪ K12  学生实验的级别边界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如何确定实验活动的防护等级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59 镜）　适用对象：开展或计划开展涉及微生物、细胞、临床和环境样本实验的高校研究生、本科生和教职工；项目负责人、实验室负责人和生物安全员重点学习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能说出为新微生物或新实验确定防护等级的七个步骤：认清病原、致病性、传播途径、有无药和疫苗、实验操作、设施与人员能力、查规范问委员会。</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能做到“取最高的风险因素”定级，知道风险组不直接等于实验室级别，不得随意降级，降级须评估并经批准。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能判断未知病原、来源不明样本、细胞系、临床和环境样本、噬菌体实验都要评估定级，信息不全时从严。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能说出定级由生物安全委员会评定审批、学生不得自行定级，评估要成文、情况变化要重新评估，条件不够依法移交。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《中华人民共和国生物安全法》（以现行文本为准）：病原微生物实验室分类管理、分级管理，实验活动须在相应级别实验室开展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《病原微生物实验室生物安全管理条例》（以现行文本为准）：高致病性病原微生物实验活动须在相应级别实验室并经批准；不具备条件的单位不得从事相关活动</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《人间传染的病原微生物目录》（国家卫生健康委发布，以现行版本为准）：不同实验活动所需的实验室防护级别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本校生物安全管理制度：生物安全委员会审查、实验活动审批，以本校规定为准</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定级是一套结构化风险评估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定级不是查一下就行，是一套结构化风险评估</a:t>
            </a:r>
          </a:p>
          <a:p>
            <a:pPr>
              <a:spcAft>
                <a:spcPts val="1000"/>
              </a:spcAft>
            </a:pPr>
            <a:r>
              <a:rPr sz="2000">
                <a:solidFill>
                  <a:srgbClr val="222B33"/>
                </a:solidFill>
                <a:latin typeface="Microsoft YaHei"/>
              </a:rPr>
              <a:t>▪ 评估四件事：病原、实验操作、对人和对环境的风险</a:t>
            </a:r>
          </a:p>
          <a:p>
            <a:pPr>
              <a:spcAft>
                <a:spcPts val="1000"/>
              </a:spcAft>
            </a:pPr>
            <a:r>
              <a:rPr sz="2000">
                <a:solidFill>
                  <a:srgbClr val="222B33"/>
                </a:solidFill>
                <a:latin typeface="Microsoft YaHei"/>
              </a:rPr>
              <a:t>▪ 防护水平要匹配病原和具体操作</a:t>
            </a:r>
          </a:p>
          <a:p>
            <a:pPr>
              <a:spcAft>
                <a:spcPts val="1000"/>
              </a:spcAft>
            </a:pPr>
            <a:r>
              <a:rPr sz="2000">
                <a:solidFill>
                  <a:srgbClr val="222B33"/>
                </a:solidFill>
                <a:latin typeface="Microsoft YaHei"/>
              </a:rPr>
              <a:t>▪ 先查目录、做评估、定级别，再配装备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为一种新微生物或一项新实验确定防护等级，不是在表格里查一下就行，而是一套结构化的风险评估：评估病原本身、实验操作、对人员的风险和对环境的影响，使实验室的防护水平与病原和具体操作相匹配。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只凭病原名称“印象”定级，不做评估</a:t>
            </a:r>
          </a:p>
          <a:p>
            <a:pPr>
              <a:spcAft>
                <a:spcPts val="1000"/>
              </a:spcAft>
            </a:pPr>
            <a:r>
              <a:rPr sz="1500">
                <a:solidFill>
                  <a:srgbClr val="222B33"/>
                </a:solidFill>
                <a:latin typeface="Microsoft YaHei"/>
              </a:rPr>
              <a:t>▪ 先买好装备再考虑级别</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第一步：认清它是什么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先认清是什么种、什么株</a:t>
            </a:r>
          </a:p>
          <a:p>
            <a:pPr>
              <a:spcAft>
                <a:spcPts val="1000"/>
              </a:spcAft>
            </a:pPr>
            <a:r>
              <a:rPr sz="2000">
                <a:solidFill>
                  <a:srgbClr val="222B33"/>
                </a:solidFill>
                <a:latin typeface="Microsoft YaHei"/>
              </a:rPr>
              <a:t>▪ 有没有已知变异，有没有经过基因改造</a:t>
            </a:r>
          </a:p>
          <a:p>
            <a:pPr>
              <a:spcAft>
                <a:spcPts val="1000"/>
              </a:spcAft>
            </a:pPr>
            <a:r>
              <a:rPr sz="2000">
                <a:solidFill>
                  <a:srgbClr val="222B33"/>
                </a:solidFill>
                <a:latin typeface="Microsoft YaHei"/>
              </a:rPr>
              <a:t>▪ 再和国内目录、已有分类对照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只知道“属”，不确认具体的种和株</a:t>
            </a:r>
          </a:p>
          <a:p>
            <a:pPr>
              <a:spcAft>
                <a:spcPts val="1000"/>
              </a:spcAft>
            </a:pPr>
            <a:r>
              <a:rPr sz="1500">
                <a:solidFill>
                  <a:srgbClr val="222B33"/>
                </a:solidFill>
                <a:latin typeface="Microsoft YaHei"/>
              </a:rPr>
              <a:t>▪ 忽视菌株经过改造这一信息</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第二步：会不会致病、有多重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会不会让人或动物生病</a:t>
            </a:r>
          </a:p>
          <a:p>
            <a:pPr>
              <a:spcAft>
                <a:spcPts val="1000"/>
              </a:spcAft>
            </a:pPr>
            <a:r>
              <a:rPr sz="2000">
                <a:solidFill>
                  <a:srgbClr val="222B33"/>
                </a:solidFill>
                <a:latin typeface="Microsoft YaHei"/>
              </a:rPr>
              <a:t>▪ 病有多重，多少量就能造成感染</a:t>
            </a:r>
          </a:p>
          <a:p>
            <a:pPr>
              <a:spcAft>
                <a:spcPts val="1000"/>
              </a:spcAft>
            </a:pPr>
            <a:r>
              <a:rPr sz="2000">
                <a:solidFill>
                  <a:srgbClr val="222B33"/>
                </a:solidFill>
                <a:latin typeface="Microsoft YaHei"/>
              </a:rPr>
              <a:t>▪ 致病性越强，需要的防护级别往往越高</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认为“只让动物生病”就不需要防护</a:t>
            </a:r>
          </a:p>
          <a:p>
            <a:pPr>
              <a:spcAft>
                <a:spcPts val="1000"/>
              </a:spcAft>
            </a:pPr>
            <a:r>
              <a:rPr sz="1500">
                <a:solidFill>
                  <a:srgbClr val="222B33"/>
                </a:solidFill>
                <a:latin typeface="Microsoft YaHei"/>
              </a:rPr>
              <a:t>▪ 忽视低剂量即可感染的情况</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第三步：怎么传播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它怎么从一处传到另一处</a:t>
            </a:r>
          </a:p>
          <a:p>
            <a:pPr>
              <a:spcAft>
                <a:spcPts val="1000"/>
              </a:spcAft>
            </a:pPr>
            <a:r>
              <a:rPr sz="2000">
                <a:solidFill>
                  <a:srgbClr val="222B33"/>
                </a:solidFill>
                <a:latin typeface="Microsoft YaHei"/>
              </a:rPr>
              <a:t>▪ 经吸入、接触、食入还是锐器进入人体</a:t>
            </a:r>
          </a:p>
          <a:p>
            <a:pPr>
              <a:spcAft>
                <a:spcPts val="1000"/>
              </a:spcAft>
            </a:pPr>
            <a:r>
              <a:rPr sz="2000">
                <a:solidFill>
                  <a:srgbClr val="222B33"/>
                </a:solidFill>
                <a:latin typeface="Microsoft YaHei"/>
              </a:rPr>
              <a:t>▪ 能经空气传播的，级别往往更高</a:t>
            </a:r>
          </a:p>
          <a:p>
            <a:pPr>
              <a:spcAft>
                <a:spcPts val="1000"/>
              </a:spcAft>
            </a:pPr>
            <a:r>
              <a:rPr sz="2000">
                <a:solidFill>
                  <a:srgbClr val="222B33"/>
                </a:solidFill>
                <a:latin typeface="Microsoft YaHei"/>
              </a:rPr>
              <a:t>▪ 具体几级查目录，不靠印象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第三步看传播途径：能不能随空气被吸入？会不会经皮肤黏膜接触、经口食入，或经针头等锐器刺伤进入人体？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只考虑接触传播，忽视气溶胶吸入</a:t>
            </a:r>
          </a:p>
          <a:p>
            <a:pPr>
              <a:spcAft>
                <a:spcPts val="1000"/>
              </a:spcAft>
            </a:pPr>
            <a:r>
              <a:rPr sz="1500">
                <a:solidFill>
                  <a:srgbClr val="222B33"/>
                </a:solidFill>
                <a:latin typeface="Microsoft YaHei"/>
              </a:rPr>
              <a:t>▪ 凭记忆判断级别，不查现行目录</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第四步：有没有药和疫苗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有没有有效的治疗药物和疫苗</a:t>
            </a:r>
          </a:p>
          <a:p>
            <a:pPr>
              <a:spcAft>
                <a:spcPts val="1000"/>
              </a:spcAft>
            </a:pPr>
            <a:r>
              <a:rPr sz="2000">
                <a:solidFill>
                  <a:srgbClr val="222B33"/>
                </a:solidFill>
                <a:latin typeface="Microsoft YaHei"/>
              </a:rPr>
              <a:t>▪ 万一暴露，能不能及时处置</a:t>
            </a:r>
          </a:p>
          <a:p>
            <a:pPr>
              <a:spcAft>
                <a:spcPts val="1000"/>
              </a:spcAft>
            </a:pPr>
            <a:r>
              <a:rPr sz="2000">
                <a:solidFill>
                  <a:srgbClr val="222B33"/>
                </a:solidFill>
                <a:latin typeface="Microsoft YaHei"/>
              </a:rPr>
              <a:t>▪ 没有有效治疗手段的，级别相应往上提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第四步看防治手段：有没有有效的治疗药物和疫苗？万一发生暴露，能不能及时进行急救、预防性用药和医学观察？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认为有疫苗就可以降低防护要求</a:t>
            </a:r>
          </a:p>
          <a:p>
            <a:pPr>
              <a:spcAft>
                <a:spcPts val="1000"/>
              </a:spcAft>
            </a:pPr>
            <a:r>
              <a:rPr sz="1500">
                <a:solidFill>
                  <a:srgbClr val="222B33"/>
                </a:solidFill>
                <a:latin typeface="Microsoft YaHei"/>
              </a:rPr>
              <a:t>▪ 开展实验前不了解暴露后的处置途径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第五步：实验怎么做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会不会产生气溶胶、用到锐器</a:t>
            </a:r>
          </a:p>
          <a:p>
            <a:pPr>
              <a:spcAft>
                <a:spcPts val="1000"/>
              </a:spcAft>
            </a:pPr>
            <a:r>
              <a:rPr sz="2000">
                <a:solidFill>
                  <a:srgbClr val="222B33"/>
                </a:solidFill>
                <a:latin typeface="Microsoft YaHei"/>
              </a:rPr>
              <a:t>▪ 是不是高浓度、大体积，涉不涉及动物、重组</a:t>
            </a:r>
          </a:p>
          <a:p>
            <a:pPr>
              <a:spcAft>
                <a:spcPts val="1000"/>
              </a:spcAft>
            </a:pPr>
            <a:r>
              <a:rPr sz="2000">
                <a:solidFill>
                  <a:srgbClr val="222B33"/>
                </a:solidFill>
                <a:latin typeface="Microsoft YaHei"/>
              </a:rPr>
              <a:t>▪ 同一种菌，培养和检测要求不同</a:t>
            </a:r>
          </a:p>
          <a:p>
            <a:pPr>
              <a:spcAft>
                <a:spcPts val="1000"/>
              </a:spcAft>
            </a:pPr>
            <a:r>
              <a:rPr sz="2000">
                <a:solidFill>
                  <a:srgbClr val="222B33"/>
                </a:solidFill>
                <a:latin typeface="Microsoft YaHei"/>
              </a:rPr>
              <a:t>▪ 培养活病毒风险高；涉及基因改造可能升级，先审批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第五步看实验活动本身：会不会产生气溶胶（如离心、匀浆、超声、剧烈混匀），会不会用到锐器？是不是高浓度、大体积操作？涉不涉及动物感染实验？涉不涉及重组 DNA 或基因改造？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认为“检测时能做，培养也就能做”</a:t>
            </a:r>
          </a:p>
          <a:p>
            <a:pPr>
              <a:spcAft>
                <a:spcPts val="1000"/>
              </a:spcAft>
            </a:pPr>
            <a:r>
              <a:rPr sz="1500">
                <a:solidFill>
                  <a:srgbClr val="222B33"/>
                </a:solidFill>
                <a:latin typeface="Microsoft YaHei"/>
              </a:rPr>
              <a:t>▪ 未经审批就开展涉及基因改造的实验</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第六步：设施和人员跟得上吗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本实验室条件够不够，防护要与风险匹配</a:t>
            </a:r>
          </a:p>
          <a:p>
            <a:pPr>
              <a:spcAft>
                <a:spcPts val="1000"/>
              </a:spcAft>
            </a:pPr>
            <a:r>
              <a:rPr sz="2000">
                <a:solidFill>
                  <a:srgbClr val="222B33"/>
                </a:solidFill>
                <a:latin typeface="Microsoft YaHei"/>
              </a:rPr>
              <a:t>▪ 人员受过培训吗，防护装备备齐了吗</a:t>
            </a:r>
          </a:p>
          <a:p>
            <a:pPr>
              <a:spcAft>
                <a:spcPts val="1000"/>
              </a:spcAft>
            </a:pPr>
            <a:r>
              <a:rPr sz="2000">
                <a:solidFill>
                  <a:srgbClr val="222B33"/>
                </a:solidFill>
                <a:latin typeface="Microsoft YaHei"/>
              </a:rPr>
              <a:t>▪ 条件不够，就别硬上</a:t>
            </a:r>
          </a:p>
          <a:p>
            <a:pPr>
              <a:spcAft>
                <a:spcPts val="1000"/>
              </a:spcAft>
            </a:pPr>
            <a:r>
              <a:rPr sz="2000">
                <a:solidFill>
                  <a:srgbClr val="222B33"/>
                </a:solidFill>
                <a:latin typeface="Microsoft YaHei"/>
              </a:rPr>
              <a:t>▪ 依法移交有资质的机构处理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第六步看本实验室的条件：实验室的防护级别和设施设备够不够？人员是否受过相应培训、考核合格？个人防护装备是否齐全？应急处置条件是否具备？防护条件必须与风险等级相匹配。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明知条件不够，抱侥幸心理先做</a:t>
            </a:r>
          </a:p>
          <a:p>
            <a:pPr>
              <a:spcAft>
                <a:spcPts val="1000"/>
              </a:spcAft>
            </a:pPr>
            <a:r>
              <a:rPr sz="1500">
                <a:solidFill>
                  <a:srgbClr val="222B33"/>
                </a:solidFill>
                <a:latin typeface="Microsoft YaHei"/>
              </a:rPr>
              <a:t>▪ 把样本私自转给其他单位“帮忙做”</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第七步：查规范、问委员会，级别不自定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查国内法规、标准和目录，国外手册只作参考</a:t>
            </a:r>
          </a:p>
          <a:p>
            <a:pPr>
              <a:spcAft>
                <a:spcPts val="1000"/>
              </a:spcAft>
            </a:pPr>
            <a:r>
              <a:rPr sz="2000">
                <a:solidFill>
                  <a:srgbClr val="222B33"/>
                </a:solidFill>
                <a:latin typeface="Microsoft YaHei"/>
              </a:rPr>
              <a:t>▪ 咨询实验室负责人和生物安全委员会</a:t>
            </a:r>
          </a:p>
          <a:p>
            <a:pPr>
              <a:spcAft>
                <a:spcPts val="1000"/>
              </a:spcAft>
            </a:pPr>
            <a:r>
              <a:rPr sz="2000">
                <a:solidFill>
                  <a:srgbClr val="222B33"/>
                </a:solidFill>
                <a:latin typeface="Microsoft YaHei"/>
              </a:rPr>
              <a:t>▪ 级别由生物安全员或委员会评定审批</a:t>
            </a:r>
          </a:p>
          <a:p>
            <a:pPr>
              <a:spcAft>
                <a:spcPts val="1000"/>
              </a:spcAft>
            </a:pPr>
            <a:r>
              <a:rPr sz="2000">
                <a:solidFill>
                  <a:srgbClr val="222B33"/>
                </a:solidFill>
                <a:latin typeface="Microsoft YaHei"/>
              </a:rPr>
              <a:t>▪ 学生不得自行定级、擅自开展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第七步，查规范、问专家：对照国内法律法规、GB 19489、WS 233 和《人间传染的病原微生物目录》（均以现行文本或版本为准），国外手册只作参考；再向实验室负责人、生物安全员和单位生物安全委员会咨询。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自己在申请表上填个级别就开工</a:t>
            </a:r>
          </a:p>
          <a:p>
            <a:pPr>
              <a:spcAft>
                <a:spcPts val="1000"/>
              </a:spcAft>
            </a:pPr>
            <a:r>
              <a:rPr sz="1500">
                <a:solidFill>
                  <a:srgbClr val="222B33"/>
                </a:solidFill>
                <a:latin typeface="Microsoft YaHei"/>
              </a:rPr>
              <a:t>▪ 只问师兄师姐，不经委员会审查</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取最高的那个风险因素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最终级别取最高的那个风险因素</a:t>
            </a:r>
          </a:p>
          <a:p>
            <a:pPr>
              <a:spcAft>
                <a:spcPts val="1000"/>
              </a:spcAft>
            </a:pPr>
            <a:r>
              <a:rPr sz="2000">
                <a:solidFill>
                  <a:srgbClr val="222B33"/>
                </a:solidFill>
                <a:latin typeface="Microsoft YaHei"/>
              </a:rPr>
              <a:t>▪ 哪怕只有一项高，也按高的来</a:t>
            </a:r>
          </a:p>
          <a:p>
            <a:pPr>
              <a:spcAft>
                <a:spcPts val="1000"/>
              </a:spcAft>
            </a:pPr>
            <a:r>
              <a:rPr sz="2000">
                <a:solidFill>
                  <a:srgbClr val="222B33"/>
                </a:solidFill>
                <a:latin typeface="Microsoft YaHei"/>
              </a:rPr>
              <a:t>▪ 例子：本体风险低，改造后、有气溶胶要重新看</a:t>
            </a:r>
          </a:p>
          <a:p>
            <a:pPr>
              <a:spcAft>
                <a:spcPts val="1000"/>
              </a:spcAft>
            </a:pPr>
            <a:r>
              <a:rPr sz="2000">
                <a:solidFill>
                  <a:srgbClr val="222B33"/>
                </a:solidFill>
                <a:latin typeface="Microsoft YaHei"/>
              </a:rPr>
              <a:t>▪ 拟定级别仍要报委员会审批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各步骤的评估结果综合起来，最终级别取最高的那个风险因素：哪怕只有一项风险高，也要按高的来。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把各项风险“平均”一下定级</a:t>
            </a:r>
          </a:p>
          <a:p>
            <a:pPr>
              <a:spcAft>
                <a:spcPts val="1000"/>
              </a:spcAft>
            </a:pPr>
            <a:r>
              <a:rPr sz="1500">
                <a:solidFill>
                  <a:srgbClr val="222B33"/>
                </a:solidFill>
                <a:latin typeface="Microsoft YaHei"/>
              </a:rPr>
              <a:t>▪ 只按菌株本体定级，不考虑改造和操作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风险组不等于实验室级别，不得随意降级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风险组不直接等于实验室级别</a:t>
            </a:r>
          </a:p>
          <a:p>
            <a:pPr>
              <a:spcAft>
                <a:spcPts val="1000"/>
              </a:spcAft>
            </a:pPr>
            <a:r>
              <a:rPr sz="2000">
                <a:solidFill>
                  <a:srgbClr val="222B33"/>
                </a:solidFill>
                <a:latin typeface="Microsoft YaHei"/>
              </a:rPr>
              <a:t>▪ 逐案评估，但要按目录规定来</a:t>
            </a:r>
          </a:p>
          <a:p>
            <a:pPr>
              <a:spcAft>
                <a:spcPts val="1000"/>
              </a:spcAft>
            </a:pPr>
            <a:r>
              <a:rPr sz="2000">
                <a:solidFill>
                  <a:srgbClr val="222B33"/>
                </a:solidFill>
                <a:latin typeface="Microsoft YaHei"/>
              </a:rPr>
              <a:t>▪ 想在低一级实验室做，不能自己定</a:t>
            </a:r>
          </a:p>
          <a:p>
            <a:pPr>
              <a:spcAft>
                <a:spcPts val="1000"/>
              </a:spcAft>
            </a:pPr>
            <a:r>
              <a:rPr sz="2000">
                <a:solidFill>
                  <a:srgbClr val="222B33"/>
                </a:solidFill>
                <a:latin typeface="Microsoft YaHei"/>
              </a:rPr>
              <a:t>▪ 降级须评估、委员会审核，高致病性依法审批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以“逐案评估”为由自行降级</a:t>
            </a:r>
          </a:p>
          <a:p>
            <a:pPr>
              <a:spcAft>
                <a:spcPts val="1000"/>
              </a:spcAft>
            </a:pPr>
            <a:r>
              <a:rPr sz="1500">
                <a:solidFill>
                  <a:srgbClr val="222B33"/>
                </a:solidFill>
                <a:latin typeface="Microsoft YaHei"/>
              </a:rPr>
              <a:t>▪ 把国际风险组数字直接当成实验室级别</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未知病原、细胞系和环境样本从严定级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病原没确认，信息不全，评估从严，宁可高一档</a:t>
            </a:r>
          </a:p>
          <a:p>
            <a:pPr>
              <a:spcAft>
                <a:spcPts val="1000"/>
              </a:spcAft>
            </a:pPr>
            <a:r>
              <a:rPr sz="2000">
                <a:solidFill>
                  <a:srgbClr val="222B33"/>
                </a:solidFill>
                <a:latin typeface="Microsoft YaHei"/>
              </a:rPr>
              <a:t>▪ 细胞系、临床样本、来源不明样本也要定级</a:t>
            </a:r>
          </a:p>
          <a:p>
            <a:pPr>
              <a:spcAft>
                <a:spcPts val="1000"/>
              </a:spcAft>
            </a:pPr>
            <a:r>
              <a:rPr sz="2000">
                <a:solidFill>
                  <a:srgbClr val="222B33"/>
                </a:solidFill>
                <a:latin typeface="Microsoft YaHei"/>
              </a:rPr>
              <a:t>▪ 噬菌体实验按宿主菌和样品定级</a:t>
            </a:r>
          </a:p>
          <a:p>
            <a:pPr>
              <a:spcAft>
                <a:spcPts val="1000"/>
              </a:spcAft>
            </a:pPr>
            <a:r>
              <a:rPr sz="2000">
                <a:solidFill>
                  <a:srgbClr val="222B33"/>
                </a:solidFill>
                <a:latin typeface="Microsoft YaHei"/>
              </a:rPr>
              <a:t>▪ 污泥污水富集会放大杂菌，评估后一般二级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病原还没有确认时信息不全，评估要从严，宁可防护高一档，并报单位生物安全委员会审核。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认为“只是细胞”或“只是环境样本”就不用评估</a:t>
            </a:r>
          </a:p>
          <a:p>
            <a:pPr>
              <a:spcAft>
                <a:spcPts val="1000"/>
              </a:spcAft>
            </a:pPr>
            <a:r>
              <a:rPr sz="1500">
                <a:solidFill>
                  <a:srgbClr val="222B33"/>
                </a:solidFill>
                <a:latin typeface="Microsoft YaHei"/>
              </a:rPr>
              <a:t>▪ 在开放台面上对污水样本做富集培养</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评估成文，情况一变重新评估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评估要形成文件，经审核、留档可追溯</a:t>
            </a:r>
          </a:p>
          <a:p>
            <a:pPr>
              <a:spcAft>
                <a:spcPts val="1000"/>
              </a:spcAft>
            </a:pPr>
            <a:r>
              <a:rPr sz="2000">
                <a:solidFill>
                  <a:srgbClr val="222B33"/>
                </a:solidFill>
                <a:latin typeface="Microsoft YaHei"/>
              </a:rPr>
              <a:t>▪ 实验内容或条件一变，就重新评估</a:t>
            </a:r>
          </a:p>
          <a:p>
            <a:pPr>
              <a:spcAft>
                <a:spcPts val="1000"/>
              </a:spcAft>
            </a:pPr>
            <a:r>
              <a:rPr sz="2000">
                <a:solidFill>
                  <a:srgbClr val="222B33"/>
                </a:solidFill>
                <a:latin typeface="Microsoft YaHei"/>
              </a:rPr>
              <a:t>▪ 采取措施后残余风险仍偏高，报委员会</a:t>
            </a:r>
          </a:p>
          <a:p>
            <a:pPr>
              <a:spcAft>
                <a:spcPts val="1000"/>
              </a:spcAft>
            </a:pPr>
            <a:r>
              <a:rPr sz="2000">
                <a:solidFill>
                  <a:srgbClr val="222B33"/>
                </a:solidFill>
                <a:latin typeface="Microsoft YaHei"/>
              </a:rPr>
              <a:t>▪ 未批准前不擅自开工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定级评估不是口头说说，要形成书面的风险评估报告，经审核批准后留档，做到可追溯（GB 19489-2008，以现行文本为准）。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评估只在脑子里，不写成文件</a:t>
            </a:r>
          </a:p>
          <a:p>
            <a:pPr>
              <a:spcAft>
                <a:spcPts val="1000"/>
              </a:spcAft>
            </a:pPr>
            <a:r>
              <a:rPr sz="1500">
                <a:solidFill>
                  <a:srgbClr val="222B33"/>
                </a:solidFill>
                <a:latin typeface="Microsoft YaHei"/>
              </a:rPr>
              <a:t>▪ 换了新方法、扩大了规模，还沿用旧评估</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为一项新实验确定防护等级，正确的做法是：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按病原名称凭印象定级</a:t>
            </a:r>
          </a:p>
          <a:p>
            <a:pPr algn="l"/>
            <a:r>
              <a:rPr sz="1500" b="0">
                <a:solidFill>
                  <a:srgbClr val="222B33"/>
                </a:solidFill>
                <a:latin typeface="Microsoft YaHei"/>
              </a:rPr>
              <a:t>B. 查国内目录，按病原、传播、防治、操作、设施人员逐步评估，取最高风险因素，报委员会审批</a:t>
            </a:r>
          </a:p>
          <a:p>
            <a:pPr algn="l"/>
            <a:r>
              <a:rPr sz="1500" b="0">
                <a:solidFill>
                  <a:srgbClr val="222B33"/>
                </a:solidFill>
                <a:latin typeface="Microsoft YaHei"/>
              </a:rPr>
              <a:t>C. 按国外手册自行确定</a:t>
            </a:r>
          </a:p>
          <a:p>
            <a:pPr algn="l"/>
            <a:r>
              <a:rPr sz="1500" b="0">
                <a:solidFill>
                  <a:srgbClr val="222B33"/>
                </a:solidFill>
                <a:latin typeface="Microsoft YaHei"/>
              </a:rPr>
              <a:t>D. 先做起来，有问题再说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判断：某菌株本身风险低，经过基因改造后可以直接沿用原来的级别。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想在比目录规定低一级的实验室开展实验，应当：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研究者自己决定</a:t>
            </a:r>
          </a:p>
          <a:p>
            <a:pPr algn="l"/>
            <a:r>
              <a:rPr sz="1500" b="0">
                <a:solidFill>
                  <a:srgbClr val="222B33"/>
                </a:solidFill>
                <a:latin typeface="Microsoft YaHei"/>
              </a:rPr>
              <a:t>B. 不能随意降级，须有充分风险评估并经委员会审核，高致病性还须依法审批</a:t>
            </a:r>
          </a:p>
          <a:p>
            <a:pPr algn="l"/>
            <a:r>
              <a:rPr sz="1500" b="0">
                <a:solidFill>
                  <a:srgbClr val="222B33"/>
                </a:solidFill>
                <a:latin typeface="Microsoft YaHei"/>
              </a:rPr>
              <a:t>C. 只要戴好口罩就行</a:t>
            </a:r>
          </a:p>
          <a:p>
            <a:pPr algn="l"/>
            <a:r>
              <a:rPr sz="1500" b="0">
                <a:solidFill>
                  <a:srgbClr val="222B33"/>
                </a:solidFill>
                <a:latin typeface="Microsoft YaHei"/>
              </a:rPr>
              <a:t>D. 晚上没人时再做</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判断：细胞系和来源不明的样本在目录里查不到，所以不需要定级。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简答：本实验室的条件达不到某项实验所需的防护级别，应该怎么办？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定级是一套结构化风险评估</a:t>
            </a:r>
          </a:p>
          <a:p>
            <a:pPr>
              <a:spcAft>
                <a:spcPts val="800"/>
              </a:spcAft>
            </a:pPr>
            <a:r>
              <a:rPr sz="1500">
                <a:solidFill>
                  <a:srgbClr val="FFFFFF"/>
                </a:solidFill>
                <a:latin typeface="Microsoft YaHei"/>
              </a:rPr>
              <a:t>▪ K2  第一步：认清它是什么</a:t>
            </a:r>
          </a:p>
          <a:p>
            <a:pPr>
              <a:spcAft>
                <a:spcPts val="800"/>
              </a:spcAft>
            </a:pPr>
            <a:r>
              <a:rPr sz="1500">
                <a:solidFill>
                  <a:srgbClr val="FFFFFF"/>
                </a:solidFill>
                <a:latin typeface="Microsoft YaHei"/>
              </a:rPr>
              <a:t>▪ K3  第二步：会不会致病、有多重</a:t>
            </a:r>
          </a:p>
          <a:p>
            <a:pPr>
              <a:spcAft>
                <a:spcPts val="800"/>
              </a:spcAft>
            </a:pPr>
            <a:r>
              <a:rPr sz="1500">
                <a:solidFill>
                  <a:srgbClr val="FFFFFF"/>
                </a:solidFill>
                <a:latin typeface="Microsoft YaHei"/>
              </a:rPr>
              <a:t>▪ K4  第三步：怎么传播</a:t>
            </a:r>
          </a:p>
          <a:p>
            <a:pPr>
              <a:spcAft>
                <a:spcPts val="800"/>
              </a:spcAft>
            </a:pPr>
            <a:r>
              <a:rPr sz="1500">
                <a:solidFill>
                  <a:srgbClr val="FFFFFF"/>
                </a:solidFill>
                <a:latin typeface="Microsoft YaHei"/>
              </a:rPr>
              <a:t>▪ K5  第四步：有没有药和疫苗</a:t>
            </a:r>
          </a:p>
          <a:p>
            <a:pPr>
              <a:spcAft>
                <a:spcPts val="800"/>
              </a:spcAft>
            </a:pPr>
            <a:r>
              <a:rPr sz="1500">
                <a:solidFill>
                  <a:srgbClr val="FFFFFF"/>
                </a:solidFill>
                <a:latin typeface="Microsoft YaHei"/>
              </a:rPr>
              <a:t>▪ K6  第五步：实验怎么做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第六步：设施和人员跟得上吗</a:t>
            </a:r>
          </a:p>
          <a:p>
            <a:pPr>
              <a:spcAft>
                <a:spcPts val="800"/>
              </a:spcAft>
            </a:pPr>
            <a:r>
              <a:rPr sz="1500">
                <a:solidFill>
                  <a:srgbClr val="FFFFFF"/>
                </a:solidFill>
                <a:latin typeface="Microsoft YaHei"/>
              </a:rPr>
              <a:t>▪ K8  第七步：查规范、问委员会，级别不自定</a:t>
            </a:r>
          </a:p>
          <a:p>
            <a:pPr>
              <a:spcAft>
                <a:spcPts val="800"/>
              </a:spcAft>
            </a:pPr>
            <a:r>
              <a:rPr sz="1500">
                <a:solidFill>
                  <a:srgbClr val="FFFFFF"/>
                </a:solidFill>
                <a:latin typeface="Microsoft YaHei"/>
              </a:rPr>
              <a:t>▪ K9  取最高的那个风险因素</a:t>
            </a:r>
          </a:p>
          <a:p>
            <a:pPr>
              <a:spcAft>
                <a:spcPts val="800"/>
              </a:spcAft>
            </a:pPr>
            <a:r>
              <a:rPr sz="1500">
                <a:solidFill>
                  <a:srgbClr val="FFFFFF"/>
                </a:solidFill>
                <a:latin typeface="Microsoft YaHei"/>
              </a:rPr>
              <a:t>▪ K10  风险组不等于实验室级别，不得随意降级</a:t>
            </a:r>
          </a:p>
          <a:p>
            <a:pPr>
              <a:spcAft>
                <a:spcPts val="800"/>
              </a:spcAft>
            </a:pPr>
            <a:r>
              <a:rPr sz="1500">
                <a:solidFill>
                  <a:srgbClr val="FFFFFF"/>
                </a:solidFill>
                <a:latin typeface="Microsoft YaHei"/>
              </a:rPr>
              <a:t>▪ K11  未知病原、细胞系和环境样本从严定级</a:t>
            </a:r>
          </a:p>
          <a:p>
            <a:pPr>
              <a:spcAft>
                <a:spcPts val="800"/>
              </a:spcAft>
            </a:pPr>
            <a:r>
              <a:rPr sz="1500">
                <a:solidFill>
                  <a:srgbClr val="FFFFFF"/>
                </a:solidFill>
                <a:latin typeface="Microsoft YaHei"/>
              </a:rPr>
              <a:t>▪ K12  评估成文，情况一变重新评估</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各级实验室的防护要求</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能说出各级生物安全实验室在准入、个人防护、安全设备和设施四方面的递进差异，知道各级要求是一整套、缺一项就不达标。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能做到一级、二级实验室的日常规范：不饮食、不口吸移液、减少气溶胶、台面消毒、废物灭菌、摘手套洗手后离开；涂片和环境分离菌按要求防护。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能说出各级人员培训的重点和人人必备的六类培训，知道培训要记录、要动手实练、三四级要带教。</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能判断防护装备缺失或损坏时应停止相关操作、报告负责人、修复确认后再开工。</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《中华人民共和国生物安全法》（以现行文本为准）：病原微生物实验室分级管理，从业人员培训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《病原微生物实验室生物安全管理条例》（以现行文本为准）：实验室按防护水平分为一级至四级；实验室人员须经培训考核合格；高致病性病原微生物实验活动须经批准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生物安全通用要求》：各级实验室的设施设备要求、个人防护、人员培训和管理要求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号，以现行文本为准）：安全教育培训与准入，实验室安全管理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本校生物安全管理制度：准入培训、复训周期、带教授权和报告程序，以本校规定为准</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防护要求是一整套：缺一项就不达标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每一级措施分三栏：穿什么、用什么设备、房子怎么建</a:t>
            </a:r>
          </a:p>
          <a:p>
            <a:pPr>
              <a:spcAft>
                <a:spcPts val="1000"/>
              </a:spcAft>
            </a:pPr>
            <a:r>
              <a:rPr sz="2000">
                <a:solidFill>
                  <a:srgbClr val="222B33"/>
                </a:solidFill>
                <a:latin typeface="Microsoft YaHei"/>
              </a:rPr>
              <a:t>▪ 级别越高，对应的病原风险越大</a:t>
            </a:r>
          </a:p>
          <a:p>
            <a:pPr>
              <a:spcAft>
                <a:spcPts val="1000"/>
              </a:spcAft>
            </a:pPr>
            <a:r>
              <a:rPr sz="2000">
                <a:solidFill>
                  <a:srgbClr val="222B33"/>
                </a:solidFill>
                <a:latin typeface="Microsoft YaHei"/>
              </a:rPr>
              <a:t>▪ 具体病原放几级，查国家目录</a:t>
            </a:r>
          </a:p>
          <a:p>
            <a:pPr>
              <a:spcAft>
                <a:spcPts val="1000"/>
              </a:spcAft>
            </a:pPr>
            <a:r>
              <a:rPr sz="2000">
                <a:solidFill>
                  <a:srgbClr val="222B33"/>
                </a:solidFill>
                <a:latin typeface="Microsoft YaHei"/>
              </a:rPr>
              <a:t>▪ 设施、设备、操作、人员，缺一项不达标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买了生物安全柜，就以为实验室达到了二级</a:t>
            </a:r>
          </a:p>
          <a:p>
            <a:pPr>
              <a:spcAft>
                <a:spcPts val="1000"/>
              </a:spcAft>
            </a:pPr>
            <a:r>
              <a:rPr sz="1500">
                <a:solidFill>
                  <a:srgbClr val="222B33"/>
                </a:solidFill>
                <a:latin typeface="Microsoft YaHei"/>
              </a:rPr>
              <a:t>▪ 只看房间级别，不管操作和人员是否到位</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谁能进门：准入逐级收紧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一级：经过培训的人可进</a:t>
            </a:r>
          </a:p>
          <a:p>
            <a:pPr>
              <a:spcAft>
                <a:spcPts val="1000"/>
              </a:spcAft>
            </a:pPr>
            <a:r>
              <a:rPr sz="2000">
                <a:solidFill>
                  <a:srgbClr val="222B33"/>
                </a:solidFill>
                <a:latin typeface="Microsoft YaHei"/>
              </a:rPr>
              <a:t>▪ 二级：限制进入，门上挂标识</a:t>
            </a:r>
          </a:p>
          <a:p>
            <a:pPr>
              <a:spcAft>
                <a:spcPts val="1000"/>
              </a:spcAft>
            </a:pPr>
            <a:r>
              <a:rPr sz="2000">
                <a:solidFill>
                  <a:srgbClr val="222B33"/>
                </a:solidFill>
                <a:latin typeface="Microsoft YaHei"/>
              </a:rPr>
              <a:t>▪ 三级须专门培训和批准，四级严格控制</a:t>
            </a:r>
          </a:p>
          <a:p>
            <a:pPr>
              <a:spcAft>
                <a:spcPts val="1000"/>
              </a:spcAft>
            </a:pPr>
            <a:r>
              <a:rPr sz="2000">
                <a:solidFill>
                  <a:srgbClr val="222B33"/>
                </a:solidFill>
                <a:latin typeface="Microsoft YaHei"/>
              </a:rPr>
              <a:t>▪ 进门先看标识，培训考核合格才能操作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准入随级别逐级收紧：一级实验室，经过基本培训的人员可以进入；二级实验室限制进入，无关人员不得入内；三级实验室受控进入，人员须经专门培训、批准和授权；四级实验室严格控制进入，并有高度的安保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跟着有门禁卡的同学“蹭”进二级实验室</a:t>
            </a:r>
          </a:p>
          <a:p>
            <a:pPr>
              <a:spcAft>
                <a:spcPts val="1000"/>
              </a:spcAft>
            </a:pPr>
            <a:r>
              <a:rPr sz="1500">
                <a:solidFill>
                  <a:srgbClr val="222B33"/>
                </a:solidFill>
                <a:latin typeface="Microsoft YaHei"/>
              </a:rPr>
              <a:t>▪ 不看门口标识就进门</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个人防护逐级加码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一级：实验服为主，需要时戴手套和护目镜</a:t>
            </a:r>
          </a:p>
          <a:p>
            <a:pPr>
              <a:spcAft>
                <a:spcPts val="1000"/>
              </a:spcAft>
            </a:pPr>
            <a:r>
              <a:rPr sz="1700">
                <a:solidFill>
                  <a:srgbClr val="222B33"/>
                </a:solidFill>
                <a:latin typeface="Microsoft YaHei"/>
              </a:rPr>
              <a:t>▪ 二级：加护目镜或面屏，必须穿闭趾鞋</a:t>
            </a:r>
          </a:p>
          <a:p>
            <a:pPr>
              <a:spcAft>
                <a:spcPts val="1000"/>
              </a:spcAft>
            </a:pPr>
            <a:r>
              <a:rPr sz="1700">
                <a:solidFill>
                  <a:srgbClr val="222B33"/>
                </a:solidFill>
                <a:latin typeface="Microsoft YaHei"/>
              </a:rPr>
              <a:t>▪ 三级：前襟封闭的防护服，加呼吸防护</a:t>
            </a:r>
          </a:p>
          <a:p>
            <a:pPr>
              <a:spcAft>
                <a:spcPts val="1000"/>
              </a:spcAft>
            </a:pPr>
            <a:r>
              <a:rPr sz="1700">
                <a:solidFill>
                  <a:srgbClr val="222B33"/>
                </a:solidFill>
                <a:latin typeface="Microsoft YaHei"/>
              </a:rPr>
              <a:t>▪ 四级：正压供气防护服，多层手套</a:t>
            </a:r>
          </a:p>
          <a:p>
            <a:pPr>
              <a:spcAft>
                <a:spcPts val="1000"/>
              </a:spcAft>
            </a:pPr>
            <a:r>
              <a:rPr sz="1700">
                <a:solidFill>
                  <a:srgbClr val="222B33"/>
                </a:solidFill>
                <a:latin typeface="Microsoft YaHei"/>
              </a:rPr>
              <a:t>▪ 具体穿什么由风险评估决定，有气流也要穿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进二级实验室穿凉鞋、拖鞋</a:t>
            </a:r>
          </a:p>
          <a:p>
            <a:pPr>
              <a:spcAft>
                <a:spcPts val="1000"/>
              </a:spcAft>
            </a:pPr>
            <a:r>
              <a:rPr sz="1500">
                <a:solidFill>
                  <a:srgbClr val="222B33"/>
                </a:solidFill>
                <a:latin typeface="Microsoft YaHei"/>
              </a:rPr>
              <a:t>▪ 认为房间有负压就可以不戴呼吸防护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安全设备与气溶胶控制逐级加严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一级：洗手池和基本消毒用品</a:t>
            </a:r>
          </a:p>
          <a:p>
            <a:pPr>
              <a:spcAft>
                <a:spcPts val="1000"/>
              </a:spcAft>
            </a:pPr>
            <a:r>
              <a:rPr sz="2000">
                <a:solidFill>
                  <a:srgbClr val="222B33"/>
                </a:solidFill>
                <a:latin typeface="Microsoft YaHei"/>
              </a:rPr>
              <a:t>▪ 二级：可能产生气溶胶的操作进生物安全柜</a:t>
            </a:r>
          </a:p>
          <a:p>
            <a:pPr>
              <a:spcAft>
                <a:spcPts val="1000"/>
              </a:spcAft>
            </a:pPr>
            <a:r>
              <a:rPr sz="2000">
                <a:solidFill>
                  <a:srgbClr val="222B33"/>
                </a:solidFill>
                <a:latin typeface="Microsoft YaHei"/>
              </a:rPr>
              <a:t>▪ 三级：必须用安全柜，离心用密封离心杯</a:t>
            </a:r>
          </a:p>
          <a:p>
            <a:pPr>
              <a:spcAft>
                <a:spcPts val="1000"/>
              </a:spcAft>
            </a:pPr>
            <a:r>
              <a:rPr sz="2000">
                <a:solidFill>
                  <a:srgbClr val="222B33"/>
                </a:solidFill>
                <a:latin typeface="Microsoft YaHei"/>
              </a:rPr>
              <a:t>▪ 四级：全密闭安全柜，或正压服配安全柜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在二级实验室开放台面上振荡、研磨感染性材料</a:t>
            </a:r>
          </a:p>
          <a:p>
            <a:pPr>
              <a:spcAft>
                <a:spcPts val="1000"/>
              </a:spcAft>
            </a:pPr>
            <a:r>
              <a:rPr sz="1500">
                <a:solidFill>
                  <a:srgbClr val="222B33"/>
                </a:solidFill>
                <a:latin typeface="Microsoft YaHei"/>
              </a:rPr>
              <a:t>▪ 离心感染性材料不用密封离心杯</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实验室设施逐级递进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一级：普通开放实验室，有洗手池</a:t>
            </a:r>
          </a:p>
          <a:p>
            <a:pPr>
              <a:spcAft>
                <a:spcPts val="1000"/>
              </a:spcAft>
            </a:pPr>
            <a:r>
              <a:rPr sz="2000">
                <a:solidFill>
                  <a:srgbClr val="222B33"/>
                </a:solidFill>
                <a:latin typeface="Microsoft YaHei"/>
              </a:rPr>
              <a:t>▪ 二级：自闭门、洗手池、洗眼装置、灭菌器</a:t>
            </a:r>
          </a:p>
          <a:p>
            <a:pPr>
              <a:spcAft>
                <a:spcPts val="1000"/>
              </a:spcAft>
            </a:pPr>
            <a:r>
              <a:rPr sz="2000">
                <a:solidFill>
                  <a:srgbClr val="222B33"/>
                </a:solidFill>
                <a:latin typeface="Microsoft YaHei"/>
              </a:rPr>
              <a:t>▪ 三级：房间负压，排风经高效过滤</a:t>
            </a:r>
          </a:p>
          <a:p>
            <a:pPr>
              <a:spcAft>
                <a:spcPts val="1000"/>
              </a:spcAft>
            </a:pPr>
            <a:r>
              <a:rPr sz="2000">
                <a:solidFill>
                  <a:srgbClr val="222B33"/>
                </a:solidFill>
                <a:latin typeface="Microsoft YaHei"/>
              </a:rPr>
              <a:t>▪ 四级：完全隔离，进风排风都要过滤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不知道本实验室的洗眼装置和灭菌器在哪里</a:t>
            </a:r>
          </a:p>
          <a:p>
            <a:pPr>
              <a:spcAft>
                <a:spcPts val="1000"/>
              </a:spcAft>
            </a:pPr>
            <a:r>
              <a:rPr sz="1500">
                <a:solidFill>
                  <a:srgbClr val="222B33"/>
                </a:solidFill>
                <a:latin typeface="Microsoft YaHei"/>
              </a:rPr>
              <a:t>▪ 用东西顶住二级实验室的自闭门</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二级实验室的布局与两道屏障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入口附近有灭菌器，门上有生物危害标志</a:t>
            </a:r>
          </a:p>
          <a:p>
            <a:pPr>
              <a:spcAft>
                <a:spcPts val="1000"/>
              </a:spcAft>
            </a:pPr>
            <a:r>
              <a:rPr sz="1700">
                <a:solidFill>
                  <a:srgbClr val="222B33"/>
                </a:solidFill>
                <a:latin typeface="Microsoft YaHei"/>
              </a:rPr>
              <a:t>▪ 门可装门禁，防止无关人员进入</a:t>
            </a:r>
          </a:p>
          <a:p>
            <a:pPr>
              <a:spcAft>
                <a:spcPts val="1000"/>
              </a:spcAft>
            </a:pPr>
            <a:r>
              <a:rPr sz="1700">
                <a:solidFill>
                  <a:srgbClr val="222B33"/>
                </a:solidFill>
                <a:latin typeface="Microsoft YaHei"/>
              </a:rPr>
              <a:t>▪ 安全柜放最里面，气流从门口流向柜子</a:t>
            </a:r>
          </a:p>
          <a:p>
            <a:pPr>
              <a:spcAft>
                <a:spcPts val="1000"/>
              </a:spcAft>
            </a:pPr>
            <a:r>
              <a:rPr sz="1700">
                <a:solidFill>
                  <a:srgbClr val="222B33"/>
                </a:solidFill>
                <a:latin typeface="Microsoft YaHei"/>
              </a:rPr>
              <a:t>▪ 柜子按设计接好排风，不能随意改动</a:t>
            </a:r>
          </a:p>
          <a:p>
            <a:pPr>
              <a:spcAft>
                <a:spcPts val="1000"/>
              </a:spcAft>
            </a:pPr>
            <a:r>
              <a:rPr sz="1700">
                <a:solidFill>
                  <a:srgbClr val="222B33"/>
                </a:solidFill>
                <a:latin typeface="Microsoft YaHei"/>
              </a:rPr>
              <a:t>▪ 第一道：柜和防护；第二道：设施和管理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把生物安全柜放在门口或人来人往的通道旁</a:t>
            </a:r>
          </a:p>
          <a:p>
            <a:pPr>
              <a:spcAft>
                <a:spcPts val="1000"/>
              </a:spcAft>
            </a:pPr>
            <a:r>
              <a:rPr sz="1500">
                <a:solidFill>
                  <a:srgbClr val="222B33"/>
                </a:solidFill>
                <a:latin typeface="Microsoft YaHei"/>
              </a:rPr>
              <a:t>▪ 自行改动安全柜的排风连接</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良好微生物操作是基本功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良好微生物操作是各级安全的基本功</a:t>
            </a:r>
          </a:p>
          <a:p>
            <a:pPr>
              <a:spcAft>
                <a:spcPts val="1000"/>
              </a:spcAft>
            </a:pPr>
            <a:r>
              <a:rPr sz="1700">
                <a:solidFill>
                  <a:srgbClr val="222B33"/>
                </a:solidFill>
                <a:latin typeface="Microsoft YaHei"/>
              </a:rPr>
              <a:t>▪ 先定行为规范，把基本操作一条条写清</a:t>
            </a:r>
          </a:p>
          <a:p>
            <a:pPr>
              <a:spcAft>
                <a:spcPts val="1000"/>
              </a:spcAft>
            </a:pPr>
            <a:r>
              <a:rPr sz="1700">
                <a:solidFill>
                  <a:srgbClr val="222B33"/>
                </a:solidFill>
                <a:latin typeface="Microsoft YaHei"/>
              </a:rPr>
              <a:t>▪ 无菌操作、灭菌、去污，样样到位</a:t>
            </a:r>
          </a:p>
          <a:p>
            <a:pPr>
              <a:spcAft>
                <a:spcPts val="1000"/>
              </a:spcAft>
            </a:pPr>
            <a:r>
              <a:rPr sz="1700">
                <a:solidFill>
                  <a:srgbClr val="222B33"/>
                </a:solidFill>
                <a:latin typeface="Microsoft YaHei"/>
              </a:rPr>
              <a:t>▪ 消毒剂要用对，作用时间要等够</a:t>
            </a:r>
          </a:p>
          <a:p>
            <a:pPr>
              <a:spcAft>
                <a:spcPts val="1000"/>
              </a:spcAft>
            </a:pPr>
            <a:r>
              <a:rPr sz="1700">
                <a:solidFill>
                  <a:srgbClr val="222B33"/>
                </a:solidFill>
                <a:latin typeface="Microsoft YaHei"/>
              </a:rPr>
              <a:t>▪ 要有应急预案：破损、发病、溢洒、火</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消毒剂喷上马上擦掉，不等作用时间</a:t>
            </a:r>
          </a:p>
          <a:p>
            <a:pPr>
              <a:spcAft>
                <a:spcPts val="1000"/>
              </a:spcAft>
            </a:pPr>
            <a:r>
              <a:rPr sz="1500">
                <a:solidFill>
                  <a:srgbClr val="222B33"/>
                </a:solidFill>
                <a:latin typeface="Microsoft YaHei"/>
              </a:rPr>
              <a:t>▪ 认为有了安全柜，操作可以随意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一级、二级实验室的日常规范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不饮食、不化妆，不用手摸脸和手机</a:t>
            </a:r>
          </a:p>
          <a:p>
            <a:pPr>
              <a:spcAft>
                <a:spcPts val="1000"/>
              </a:spcAft>
            </a:pPr>
            <a:r>
              <a:rPr sz="1700">
                <a:solidFill>
                  <a:srgbClr val="222B33"/>
                </a:solidFill>
                <a:latin typeface="Microsoft YaHei"/>
              </a:rPr>
              <a:t>▪ 严禁口吸移液，用移液器</a:t>
            </a:r>
          </a:p>
          <a:p>
            <a:pPr>
              <a:spcAft>
                <a:spcPts val="1000"/>
              </a:spcAft>
            </a:pPr>
            <a:r>
              <a:rPr sz="1700">
                <a:solidFill>
                  <a:srgbClr val="222B33"/>
                </a:solidFill>
                <a:latin typeface="Microsoft YaHei"/>
              </a:rPr>
              <a:t>▪ 动作轻缓，减少溅洒和气溶胶</a:t>
            </a:r>
          </a:p>
          <a:p>
            <a:pPr>
              <a:spcAft>
                <a:spcPts val="1000"/>
              </a:spcAft>
            </a:pPr>
            <a:r>
              <a:rPr sz="1700">
                <a:solidFill>
                  <a:srgbClr val="222B33"/>
                </a:solidFill>
                <a:latin typeface="Microsoft YaHei"/>
              </a:rPr>
              <a:t>▪ 实验前后台面消毒，废物灭菌，实验菌不外带</a:t>
            </a:r>
          </a:p>
          <a:p>
            <a:pPr>
              <a:spcAft>
                <a:spcPts val="1000"/>
              </a:spcAft>
            </a:pPr>
            <a:r>
              <a:rPr sz="1700">
                <a:solidFill>
                  <a:srgbClr val="222B33"/>
                </a:solidFill>
                <a:latin typeface="Microsoft YaHei"/>
              </a:rPr>
              <a:t>▪ 做完实验摘手套、洗手再离开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戴着手套接电话、开门</a:t>
            </a:r>
          </a:p>
          <a:p>
            <a:pPr>
              <a:spcAft>
                <a:spcPts val="1000"/>
              </a:spcAft>
            </a:pPr>
            <a:r>
              <a:rPr sz="1500">
                <a:solidFill>
                  <a:srgbClr val="222B33"/>
                </a:solidFill>
                <a:latin typeface="Microsoft YaHei"/>
              </a:rPr>
              <a:t>▪ 把实验菌带回宿舍或倒进下水道</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涂片和环境分离菌也要防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涂片和湿片可能有活菌，按级别防护观察</a:t>
            </a:r>
          </a:p>
          <a:p>
            <a:pPr>
              <a:spcAft>
                <a:spcPts val="1000"/>
              </a:spcAft>
            </a:pPr>
            <a:r>
              <a:rPr sz="1700">
                <a:solidFill>
                  <a:srgbClr val="222B33"/>
                </a:solidFill>
                <a:latin typeface="Microsoft YaHei"/>
              </a:rPr>
              <a:t>▪ 用过的玻片消毒或放进锐器盒</a:t>
            </a:r>
          </a:p>
          <a:p>
            <a:pPr>
              <a:spcAft>
                <a:spcPts val="1000"/>
              </a:spcAft>
            </a:pPr>
            <a:r>
              <a:rPr sz="1700">
                <a:solidFill>
                  <a:srgbClr val="222B33"/>
                </a:solidFill>
                <a:latin typeface="Microsoft YaHei"/>
              </a:rPr>
              <a:t>▪ 土壤、水中分出的菌，鉴定前先当未知菌</a:t>
            </a:r>
          </a:p>
          <a:p>
            <a:pPr>
              <a:spcAft>
                <a:spcPts val="1000"/>
              </a:spcAft>
            </a:pPr>
            <a:r>
              <a:rPr sz="1700">
                <a:solidFill>
                  <a:srgbClr val="222B33"/>
                </a:solidFill>
                <a:latin typeface="Microsoft YaHei"/>
              </a:rPr>
              <a:t>▪ 先评估，一般在二级安全柜里操作</a:t>
            </a:r>
          </a:p>
          <a:p>
            <a:pPr>
              <a:spcAft>
                <a:spcPts val="1000"/>
              </a:spcAft>
            </a:pPr>
            <a:r>
              <a:rPr sz="1700">
                <a:solidFill>
                  <a:srgbClr val="222B33"/>
                </a:solidFill>
                <a:latin typeface="Microsoft YaHei"/>
              </a:rPr>
              <a:t>▪ 分离株标清来源，鉴定前不降级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微生物涂片和湿片可能含有活菌，观察时按相应级别穿戴防护；用过的玻片放进消毒缸消毒，或放进锐器盒；显微镜载物台被污染时及时消毒。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认为涂片“已经固定了”，徒手拿取或随手丢弃</a:t>
            </a:r>
          </a:p>
          <a:p>
            <a:pPr>
              <a:spcAft>
                <a:spcPts val="1000"/>
              </a:spcAft>
            </a:pPr>
            <a:r>
              <a:rPr sz="1500">
                <a:solidFill>
                  <a:srgbClr val="222B33"/>
                </a:solidFill>
                <a:latin typeface="Microsoft YaHei"/>
              </a:rPr>
              <a:t>▪ 环境分离菌没鉴定就在开放台面上大量操作</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一级、二级的培训：基本功与规程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培训分级：学什么、谁来学、怎么练</a:t>
            </a:r>
          </a:p>
          <a:p>
            <a:pPr>
              <a:spcAft>
                <a:spcPts val="1000"/>
              </a:spcAft>
            </a:pPr>
            <a:r>
              <a:rPr sz="1700">
                <a:solidFill>
                  <a:srgbClr val="222B33"/>
                </a:solidFill>
                <a:latin typeface="Microsoft YaHei"/>
              </a:rPr>
              <a:t>▪ 一级：学生和初学者，学基本功和手卫生</a:t>
            </a:r>
          </a:p>
          <a:p>
            <a:pPr>
              <a:spcAft>
                <a:spcPts val="1000"/>
              </a:spcAft>
            </a:pPr>
            <a:r>
              <a:rPr sz="1700">
                <a:solidFill>
                  <a:srgbClr val="222B33"/>
                </a:solidFill>
                <a:latin typeface="Microsoft YaHei"/>
              </a:rPr>
              <a:t>▪ 一级练穿戴防护、处理溅洒、认生物危害</a:t>
            </a:r>
          </a:p>
          <a:p>
            <a:pPr>
              <a:spcAft>
                <a:spcPts val="1000"/>
              </a:spcAft>
            </a:pPr>
            <a:r>
              <a:rPr sz="1700">
                <a:solidFill>
                  <a:srgbClr val="222B33"/>
                </a:solidFill>
                <a:latin typeface="Microsoft YaHei"/>
              </a:rPr>
              <a:t>▪ 二级：学规程、防锐器伤、用安全柜、报告</a:t>
            </a:r>
          </a:p>
          <a:p>
            <a:pPr>
              <a:spcAft>
                <a:spcPts val="1000"/>
              </a:spcAft>
            </a:pPr>
            <a:r>
              <a:rPr sz="1700">
                <a:solidFill>
                  <a:srgbClr val="222B33"/>
                </a:solidFill>
                <a:latin typeface="Microsoft YaHei"/>
              </a:rPr>
              <a:t>▪ 二级练样本防护、柜子去污、暴露演练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认为只有老师和技术员要培训，学生跟着做就行</a:t>
            </a:r>
          </a:p>
          <a:p>
            <a:pPr>
              <a:spcAft>
                <a:spcPts val="1000"/>
              </a:spcAft>
            </a:pPr>
            <a:r>
              <a:rPr sz="1500">
                <a:solidFill>
                  <a:srgbClr val="222B33"/>
                </a:solidFill>
                <a:latin typeface="Microsoft YaHei"/>
              </a:rPr>
              <a:t>▪ 只学一级的内容就进入二级实验室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三级、四级的培训：专人长期强化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三级：学空气传播防护、进出和应急程序</a:t>
            </a:r>
          </a:p>
          <a:p>
            <a:pPr>
              <a:spcAft>
                <a:spcPts val="1000"/>
              </a:spcAft>
            </a:pPr>
            <a:r>
              <a:rPr sz="1700">
                <a:solidFill>
                  <a:srgbClr val="222B33"/>
                </a:solidFill>
                <a:latin typeface="Microsoft YaHei"/>
              </a:rPr>
              <a:t>▪ 三级做呼吸防护适合性检验，定期复训演练</a:t>
            </a:r>
          </a:p>
          <a:p>
            <a:pPr>
              <a:spcAft>
                <a:spcPts val="1000"/>
              </a:spcAft>
            </a:pPr>
            <a:r>
              <a:rPr sz="1700">
                <a:solidFill>
                  <a:srgbClr val="222B33"/>
                </a:solidFill>
                <a:latin typeface="Microsoft YaHei"/>
              </a:rPr>
              <a:t>▪ 三级为有经验的专业人员，学生未批准不得进</a:t>
            </a:r>
          </a:p>
          <a:p>
            <a:pPr>
              <a:spcAft>
                <a:spcPts val="1000"/>
              </a:spcAft>
            </a:pPr>
            <a:r>
              <a:rPr sz="1700">
                <a:solidFill>
                  <a:srgbClr val="222B33"/>
                </a:solidFill>
                <a:latin typeface="Microsoft YaHei"/>
              </a:rPr>
              <a:t>▪ 四级：专门团队长期强化训练，两人同行</a:t>
            </a:r>
          </a:p>
          <a:p>
            <a:pPr>
              <a:spcAft>
                <a:spcPts val="1000"/>
              </a:spcAft>
            </a:pPr>
            <a:r>
              <a:rPr sz="1700">
                <a:solidFill>
                  <a:srgbClr val="222B33"/>
                </a:solidFill>
                <a:latin typeface="Microsoft YaHei"/>
              </a:rPr>
              <a:t>▪ 四级练全流程：进出、淋浴、通讯、撤离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认为看过录像就可以进三级实验室</a:t>
            </a:r>
          </a:p>
          <a:p>
            <a:pPr>
              <a:spcAft>
                <a:spcPts val="1000"/>
              </a:spcAft>
            </a:pPr>
            <a:r>
              <a:rPr sz="1500">
                <a:solidFill>
                  <a:srgbClr val="222B33"/>
                </a:solidFill>
                <a:latin typeface="Microsoft YaHei"/>
              </a:rPr>
              <a:t>▪ 认为呼吸防护随便戴上就有效，不做适合性检验</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人人必备的六类培训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生物安全操作：规范操作、防护设施、废物灭活</a:t>
            </a:r>
          </a:p>
          <a:p>
            <a:pPr>
              <a:spcAft>
                <a:spcPts val="1000"/>
              </a:spcAft>
            </a:pPr>
            <a:r>
              <a:rPr sz="1700">
                <a:solidFill>
                  <a:srgbClr val="222B33"/>
                </a:solidFill>
                <a:latin typeface="Microsoft YaHei"/>
              </a:rPr>
              <a:t>▪ 生物安保意识：防止无关人员接触材料</a:t>
            </a:r>
          </a:p>
          <a:p>
            <a:pPr>
              <a:spcAft>
                <a:spcPts val="1000"/>
              </a:spcAft>
            </a:pPr>
            <a:r>
              <a:rPr sz="1700">
                <a:solidFill>
                  <a:srgbClr val="222B33"/>
                </a:solidFill>
                <a:latin typeface="Microsoft YaHei"/>
              </a:rPr>
              <a:t>▪ 防护装备：会选、会穿、会脱</a:t>
            </a:r>
          </a:p>
          <a:p>
            <a:pPr>
              <a:spcAft>
                <a:spcPts val="1000"/>
              </a:spcAft>
            </a:pPr>
            <a:r>
              <a:rPr sz="1700">
                <a:solidFill>
                  <a:srgbClr val="222B33"/>
                </a:solidFill>
                <a:latin typeface="Microsoft YaHei"/>
              </a:rPr>
              <a:t>▪ 应急程序与设备使用：溢洒、撤离、安全柜、灭菌器</a:t>
            </a:r>
          </a:p>
          <a:p>
            <a:pPr>
              <a:spcAft>
                <a:spcPts val="1000"/>
              </a:spcAft>
            </a:pPr>
            <a:r>
              <a:rPr sz="1700">
                <a:solidFill>
                  <a:srgbClr val="222B33"/>
                </a:solidFill>
                <a:latin typeface="Microsoft YaHei"/>
              </a:rPr>
              <a:t>▪ 事件报告：立即报负责人、学院、学校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实验室人员的必备培训有六类：第一，生物安全操作——规范操作，在防护设施里做实验，学会废物的灭活和处置；第二，生物安保意识——防止未经授权的人员接触病原材料（见第 083 课）；第三，个人防护装备——按风险评估选对防护……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被扎伤后觉得“没事”，不报告</a:t>
            </a:r>
          </a:p>
          <a:p>
            <a:pPr>
              <a:spcAft>
                <a:spcPts val="1000"/>
              </a:spcAft>
            </a:pPr>
            <a:r>
              <a:rPr sz="1500">
                <a:solidFill>
                  <a:srgbClr val="222B33"/>
                </a:solidFill>
                <a:latin typeface="Microsoft YaHei"/>
              </a:rPr>
              <a:t>▪ 只学操作，不学应急和报告</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培训要记录、要动手、要带教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培训留记录，本人签字，考核合格才准入</a:t>
            </a:r>
          </a:p>
          <a:p>
            <a:pPr>
              <a:spcAft>
                <a:spcPts val="1000"/>
              </a:spcAft>
            </a:pPr>
            <a:r>
              <a:rPr sz="2000">
                <a:solidFill>
                  <a:srgbClr val="222B33"/>
                </a:solidFill>
                <a:latin typeface="Microsoft YaHei"/>
              </a:rPr>
              <a:t>▪ 定期复训，周期按本校规定</a:t>
            </a:r>
          </a:p>
          <a:p>
            <a:pPr>
              <a:spcAft>
                <a:spcPts val="1000"/>
              </a:spcAft>
            </a:pPr>
            <a:r>
              <a:rPr sz="2000">
                <a:solidFill>
                  <a:srgbClr val="222B33"/>
                </a:solidFill>
                <a:latin typeface="Microsoft YaHei"/>
              </a:rPr>
              <a:t>▪ 二级及以上必须动手实练</a:t>
            </a:r>
          </a:p>
          <a:p>
            <a:pPr>
              <a:spcAft>
                <a:spcPts val="1000"/>
              </a:spcAft>
            </a:pPr>
            <a:r>
              <a:rPr sz="2000">
                <a:solidFill>
                  <a:srgbClr val="222B33"/>
                </a:solidFill>
                <a:latin typeface="Microsoft YaHei"/>
              </a:rPr>
              <a:t>▪ 三四级先带教跟岗，能胜任才完全准入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每一级的培训都要留下记录，本人签字，考核合格才能准入；还要定期复训，复训周期按本校规定，操作内容、设备或规程变化时及时补训。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培训签到由别人代签</a:t>
            </a:r>
          </a:p>
          <a:p>
            <a:pPr>
              <a:spcAft>
                <a:spcPts val="1000"/>
              </a:spcAft>
            </a:pPr>
            <a:r>
              <a:rPr sz="1500">
                <a:solidFill>
                  <a:srgbClr val="222B33"/>
                </a:solidFill>
                <a:latin typeface="Microsoft YaHei"/>
              </a:rPr>
              <a:t>▪ 培训过一次就再也不复训</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装备缺了坏了，不开工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装备缺了、坏了，先停下相关操作，不凑合</a:t>
            </a:r>
          </a:p>
          <a:p>
            <a:pPr>
              <a:spcAft>
                <a:spcPts val="1000"/>
              </a:spcAft>
            </a:pPr>
            <a:r>
              <a:rPr sz="2000">
                <a:solidFill>
                  <a:srgbClr val="222B33"/>
                </a:solidFill>
                <a:latin typeface="Microsoft YaHei"/>
              </a:rPr>
              <a:t>▪ 报告负责人，申领或报修</a:t>
            </a:r>
          </a:p>
          <a:p>
            <a:pPr>
              <a:spcAft>
                <a:spcPts val="1000"/>
              </a:spcAft>
            </a:pPr>
            <a:r>
              <a:rPr sz="2000">
                <a:solidFill>
                  <a:srgbClr val="222B33"/>
                </a:solidFill>
                <a:latin typeface="Microsoft YaHei"/>
              </a:rPr>
              <a:t>▪ 确认恢复正常，再开工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防护装备或安全设备缺失、损坏（如手套破损、护目镜缺少、安全柜报警或气流异常），先停下相关操作，不凑合、不将就；按规定处理已在进行的操作和材料，报告实验室负责人，申领防护用品或报修设备。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手套破了继续做完再说</a:t>
            </a:r>
          </a:p>
          <a:p>
            <a:pPr>
              <a:spcAft>
                <a:spcPts val="1000"/>
              </a:spcAft>
            </a:pPr>
            <a:r>
              <a:rPr sz="1500">
                <a:solidFill>
                  <a:srgbClr val="222B33"/>
                </a:solidFill>
                <a:latin typeface="Microsoft YaHei"/>
              </a:rPr>
              <a:t>▪ 安全柜报警时关掉报警继续操作</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关于二级实验室的个人防护，正确的是：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只穿实验服即可</a:t>
            </a:r>
          </a:p>
          <a:p>
            <a:pPr algn="l"/>
            <a:r>
              <a:rPr sz="1500" b="0">
                <a:solidFill>
                  <a:srgbClr val="222B33"/>
                </a:solidFill>
                <a:latin typeface="Microsoft YaHei"/>
              </a:rPr>
              <a:t>B. 实验服、手套，加护目镜或面屏，必须穿闭趾鞋</a:t>
            </a:r>
          </a:p>
          <a:p>
            <a:pPr algn="l"/>
            <a:r>
              <a:rPr sz="1500" b="0">
                <a:solidFill>
                  <a:srgbClr val="222B33"/>
                </a:solidFill>
                <a:latin typeface="Microsoft YaHei"/>
              </a:rPr>
              <a:t>C. 必须穿正压防护服</a:t>
            </a:r>
          </a:p>
          <a:p>
            <a:pPr algn="l"/>
            <a:r>
              <a:rPr sz="1500" b="0">
                <a:solidFill>
                  <a:srgbClr val="222B33"/>
                </a:solidFill>
                <a:latin typeface="Microsoft YaHei"/>
              </a:rPr>
              <a:t>D. 有安全柜就不用戴手套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判断：二级实验室里，吸液、混匀等可能产生气溶胶的操作应在生物安全柜内进行。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下列做法符合一级、二级实验室日常规范的是：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戴手套接电话</a:t>
            </a:r>
          </a:p>
          <a:p>
            <a:pPr algn="l"/>
            <a:r>
              <a:rPr sz="1500" b="0">
                <a:solidFill>
                  <a:srgbClr val="222B33"/>
                </a:solidFill>
                <a:latin typeface="Microsoft YaHei"/>
              </a:rPr>
              <a:t>B. 用嘴吸移液管</a:t>
            </a:r>
          </a:p>
          <a:p>
            <a:pPr algn="l"/>
            <a:r>
              <a:rPr sz="1500" b="0">
                <a:solidFill>
                  <a:srgbClr val="222B33"/>
                </a:solidFill>
                <a:latin typeface="Microsoft YaHei"/>
              </a:rPr>
              <a:t>C. 实验前后台面消毒，做完实验摘手套、洗手再离开</a:t>
            </a:r>
          </a:p>
          <a:p>
            <a:pPr algn="l"/>
            <a:r>
              <a:rPr sz="1500" b="0">
                <a:solidFill>
                  <a:srgbClr val="222B33"/>
                </a:solidFill>
                <a:latin typeface="Microsoft YaHei"/>
              </a:rPr>
              <a:t>D. 把实验菌带回宿舍继续观察</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判断：从土壤中分离出的菌，鉴定前可以按无害菌在开放台面上操作。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阿杰发现安全柜报警、手套也破了，应该：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关掉报警继续做</a:t>
            </a:r>
          </a:p>
          <a:p>
            <a:pPr algn="l"/>
            <a:r>
              <a:rPr sz="1500" b="0">
                <a:solidFill>
                  <a:srgbClr val="222B33"/>
                </a:solidFill>
                <a:latin typeface="Microsoft YaHei"/>
              </a:rPr>
              <a:t>B. 先做完再换手套</a:t>
            </a:r>
          </a:p>
          <a:p>
            <a:pPr algn="l"/>
            <a:r>
              <a:rPr sz="1500" b="0">
                <a:solidFill>
                  <a:srgbClr val="222B33"/>
                </a:solidFill>
                <a:latin typeface="Microsoft YaHei"/>
              </a:rPr>
              <a:t>C. 停下相关操作，报告负责人，修复确认后再开工</a:t>
            </a:r>
          </a:p>
          <a:p>
            <a:pPr algn="l"/>
            <a:r>
              <a:rPr sz="1500" b="0">
                <a:solidFill>
                  <a:srgbClr val="222B33"/>
                </a:solidFill>
                <a:latin typeface="Microsoft YaHei"/>
              </a:rPr>
              <a:t>D. 自己拆开安全柜检查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简答：实验室人员必备的六类培训是什么？发生针刺暴露后向谁报告？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防护要求是一整套：缺一项就不达标</a:t>
            </a:r>
          </a:p>
          <a:p>
            <a:pPr>
              <a:spcAft>
                <a:spcPts val="800"/>
              </a:spcAft>
            </a:pPr>
            <a:r>
              <a:rPr sz="1500">
                <a:solidFill>
                  <a:srgbClr val="FFFFFF"/>
                </a:solidFill>
                <a:latin typeface="Microsoft YaHei"/>
              </a:rPr>
              <a:t>▪ K2  谁能进门：准入逐级收紧</a:t>
            </a:r>
          </a:p>
          <a:p>
            <a:pPr>
              <a:spcAft>
                <a:spcPts val="800"/>
              </a:spcAft>
            </a:pPr>
            <a:r>
              <a:rPr sz="1500">
                <a:solidFill>
                  <a:srgbClr val="FFFFFF"/>
                </a:solidFill>
                <a:latin typeface="Microsoft YaHei"/>
              </a:rPr>
              <a:t>▪ K3  个人防护逐级加码</a:t>
            </a:r>
          </a:p>
          <a:p>
            <a:pPr>
              <a:spcAft>
                <a:spcPts val="800"/>
              </a:spcAft>
            </a:pPr>
            <a:r>
              <a:rPr sz="1500">
                <a:solidFill>
                  <a:srgbClr val="FFFFFF"/>
                </a:solidFill>
                <a:latin typeface="Microsoft YaHei"/>
              </a:rPr>
              <a:t>▪ K4  安全设备与气溶胶控制逐级加严</a:t>
            </a:r>
          </a:p>
          <a:p>
            <a:pPr>
              <a:spcAft>
                <a:spcPts val="800"/>
              </a:spcAft>
            </a:pPr>
            <a:r>
              <a:rPr sz="1500">
                <a:solidFill>
                  <a:srgbClr val="FFFFFF"/>
                </a:solidFill>
                <a:latin typeface="Microsoft YaHei"/>
              </a:rPr>
              <a:t>▪ K5  实验室设施逐级递进</a:t>
            </a:r>
          </a:p>
          <a:p>
            <a:pPr>
              <a:spcAft>
                <a:spcPts val="800"/>
              </a:spcAft>
            </a:pPr>
            <a:r>
              <a:rPr sz="1500">
                <a:solidFill>
                  <a:srgbClr val="FFFFFF"/>
                </a:solidFill>
                <a:latin typeface="Microsoft YaHei"/>
              </a:rPr>
              <a:t>▪ K6  二级实验室的布局与两道屏障</a:t>
            </a:r>
          </a:p>
          <a:p>
            <a:pPr>
              <a:spcAft>
                <a:spcPts val="800"/>
              </a:spcAft>
            </a:pPr>
            <a:r>
              <a:rPr sz="1500">
                <a:solidFill>
                  <a:srgbClr val="FFFFFF"/>
                </a:solidFill>
                <a:latin typeface="Microsoft YaHei"/>
              </a:rPr>
              <a:t>▪ K7  良好微生物操作是基本功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一级、二级实验室的日常规范</a:t>
            </a:r>
          </a:p>
          <a:p>
            <a:pPr>
              <a:spcAft>
                <a:spcPts val="800"/>
              </a:spcAft>
            </a:pPr>
            <a:r>
              <a:rPr sz="1500">
                <a:solidFill>
                  <a:srgbClr val="FFFFFF"/>
                </a:solidFill>
                <a:latin typeface="Microsoft YaHei"/>
              </a:rPr>
              <a:t>▪ K9  涂片和环境分离菌也要防</a:t>
            </a:r>
          </a:p>
          <a:p>
            <a:pPr>
              <a:spcAft>
                <a:spcPts val="800"/>
              </a:spcAft>
            </a:pPr>
            <a:r>
              <a:rPr sz="1500">
                <a:solidFill>
                  <a:srgbClr val="FFFFFF"/>
                </a:solidFill>
                <a:latin typeface="Microsoft YaHei"/>
              </a:rPr>
              <a:t>▪ K10  一级、二级的培训：基本功与规程</a:t>
            </a:r>
          </a:p>
          <a:p>
            <a:pPr>
              <a:spcAft>
                <a:spcPts val="800"/>
              </a:spcAft>
            </a:pPr>
            <a:r>
              <a:rPr sz="1500">
                <a:solidFill>
                  <a:srgbClr val="FFFFFF"/>
                </a:solidFill>
                <a:latin typeface="Microsoft YaHei"/>
              </a:rPr>
              <a:t>▪ K11  三级、四级的培训：专人长期强化</a:t>
            </a:r>
          </a:p>
          <a:p>
            <a:pPr>
              <a:spcAft>
                <a:spcPts val="800"/>
              </a:spcAft>
            </a:pPr>
            <a:r>
              <a:rPr sz="1500">
                <a:solidFill>
                  <a:srgbClr val="FFFFFF"/>
                </a:solidFill>
                <a:latin typeface="Microsoft YaHei"/>
              </a:rPr>
              <a:t>▪ K12  人人必备的六类培训</a:t>
            </a:r>
          </a:p>
          <a:p>
            <a:pPr>
              <a:spcAft>
                <a:spcPts val="800"/>
              </a:spcAft>
            </a:pPr>
            <a:r>
              <a:rPr sz="1500">
                <a:solidFill>
                  <a:srgbClr val="FFFFFF"/>
                </a:solidFill>
                <a:latin typeface="Microsoft YaHei"/>
              </a:rPr>
              <a:t>▪ K13  培训要记录、要动手、要带教</a:t>
            </a:r>
          </a:p>
          <a:p>
            <a:pPr>
              <a:spcAft>
                <a:spcPts val="800"/>
              </a:spcAft>
            </a:pPr>
            <a:r>
              <a:rPr sz="1500">
                <a:solidFill>
                  <a:srgbClr val="FFFFFF"/>
                </a:solidFill>
                <a:latin typeface="Microsoft YaHei"/>
              </a:rPr>
              <a:t>▪ K14  装备缺了坏了，不开工</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