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临床样本是从病人身上采集、送到实验室检测或研究的材料，在医院检验科、病理科和疾病检测实验室每天都要处理；高校的医学、公共卫生和生命科学实验室在合作研究中也会接收医院送来的样本。</a:t>
            </a:r>
          </a:p>
          <a:p>
            <a:r>
              <a:t>常见的临床样本有：血液、血清和血浆，鼻咽拭子、口咽拭子，尿液、粪便、痰液等体液和排泄物，以及活检组织。拭子一般泡在保存液里送来，其他样本也装在相应的保存介质或容器中。</a:t>
            </a:r>
          </a:p>
          <a:p>
            <a:r>
              <a:t>本课按样本流转的顺序讲：样本进门（接收、核对、登记、保密）→ 开管和分流（培养或核酸检测）→ 检测（核酸提取、定量检测、分区）→ 出结果（阳性报告）→ 剩余样本保存或销毁。样本怎么包装运输见第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实验室收到的生物材料大体有两类。一类是研究人员送来的纯培养物：是哪种病原、哪个株、做过什么改造，都有记录，可以对照目录和资料做风险评估（见第 067、068 课）。</a:t>
            </a:r>
          </a:p>
          <a:p>
            <a:r>
              <a:t>另一类是病人样本：形式五花八门，一管样本里可能有好几种病原，可能有送检目的之外的病原，到底有什么、浓度多高，事先往往不知道。</a:t>
            </a:r>
          </a:p>
          <a:p>
            <a:r>
              <a:t>所以，评估病人样本的风险不能只看申请单上写的检测项目，要考虑“可能有什么”。</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微生物目录》（以现行版本为准）和风险评估，确定实验活动的防护级别（见第 060 课）。</a:t>
            </a:r>
          </a:p>
          <a:p>
            <a:r>
              <a:t>注意编号方向：国内病原微生物分类第一类危害最大、第四类最低；国际风险组 1 组最低、4 组最高，两者方向相反（见第 058 课）。</a:t>
            </a:r>
          </a:p>
          <a:p>
            <a:r>
              <a:t>接收和处理前先看采样单（申请单），了解病人的病史和现在的情况，有提示高风险病原的，提前报告负责人。也要记住：有的人带有病原却没有症状，看起来“正常”的样本同样不能掉以轻心。</a:t>
            </a:r>
          </a:p>
          <a:p>
            <a:r>
              <a:t>已知样本、未知样本都按这个思路管理。你做好防护、守住规程，保护的是自己，也是同组的人和实验室外的人。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污水、污泥、医院污水以及其他可能受人畜排泄物污染的环境样本，可能含有多种病原菌和病毒，同样按有感染性的样本对待，不能当成“普通水样”。</a:t>
            </a:r>
          </a:p>
          <a:p>
            <a:r>
              <a:t>采样和操作时戴手套，必要时戴护目镜；样本瓶拧紧密封，装入防漏的二级容器转运，防漏防洒。不在开放台面上直接倾倒、混合污水样本，易产生飞溅和气溶胶的操作放到生物安全柜内。</a:t>
            </a:r>
          </a:p>
          <a:p>
            <a:r>
              <a:t>环境样本的操作级别经风险评估确定，一般在二级生物安全实验室进行；操作完摘下手套按感染性废物处置，认真洗手。外出采样的安全见第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有些样本泡在化学保存液或固定液里（例如组织固定液、含裂解或灭活成分的保存液），这时样本既有生物风险，也有化学风险（刺激、腐蚀、毒性等）。</a:t>
            </a:r>
          </a:p>
          <a:p>
            <a:r>
              <a:t>操作前查阅保存液随附的化学品安全技术说明书，了解危害和防护要求，选择合适的手套和防护；含挥发性有害成分的，在合适的通风条件下操作。</a:t>
            </a:r>
          </a:p>
          <a:p>
            <a:r>
              <a:t>保存液里的样本是否已经灭活，要以验证过的说明为准，不能想当然认为“泡过了就安全”；废液按化学和感染性废物的要求分别处置（见第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样本箱送到后，拆包前先穿戴好实验服或隔离衣、手套和护目镜，在指定的接收台面上操作，铺好吸水垫，备好消毒剂、生物危害废物袋和溢洒处理包。</a:t>
            </a:r>
          </a:p>
          <a:p>
            <a:r>
              <a:t>开箱前先看外包装有没有渗漏、破损、潮湿或污染。发现渗漏不要硬拆，用防漏袋封好，放在指定位置，报告实验室负责人，按溢洒处置规程处理（见第 078 课），并通知送样方。</a:t>
            </a:r>
          </a:p>
          <a:p>
            <a:r>
              <a:t>外包装完好的，先用规程指定的消毒剂擦拭外表面，等够规程要求的作用时间再打开；用哪种消毒剂、作用多久，按本单位规程和产品说明（见第 076 课），不凭感觉。内层的密封袋和样本容器，拿到生物安全柜里再打开。</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a:p>
            <a:r>
              <a:t>不合格样本包括：没有标签或标签不清、样本与申请单不相符、容器破损或渗漏、样本量或保存条件明显不符合要求等。不合格样本拒收，或单独隔离存放，登记原因，联系送检方确认处理方式。</a:t>
            </a:r>
          </a:p>
          <a:p>
            <a:r>
              <a:t>不要自己猜测“大概是哪一管”就继续检测：标识错误既可能让结果张冠李戴，也可能让高风险样本按低风险处理。</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病人的健康信息属于敏感个人信息，受《中华人民共和国个人信息保护法》保护。样本登记后，用实验室编号代替病人姓名，样本管和工作记录上只写编号。</a:t>
            </a:r>
          </a:p>
          <a:p>
            <a:r>
              <a:t>编号与病人身份的对照表由专人保管：纸质记录锁在柜里，电子数据存放在有访问控制的安全服务器上，不存在个人电脑、手机或公共网盘里。检测结果和病人信息不外传，不拍摄样本管、申请单和屏幕。</a:t>
            </a:r>
          </a:p>
          <a:p>
            <a:r>
              <a:t>样本需要留存时，在库存系统中登记位置（见 K19）。临床样本用于科学研究，须按规定通过伦理审查、取得知情同意，涉及人类遗传资源的按《中华人民共和国人类遗传资源管理条例》（以现行文本为准）办理（见第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打开临床样本管必须在生物安全柜内进行，穿好实验服或隔离衣、手套等防护，照操作规程一步步做（生物安全柜的使用见第 072 课）。不能在开放的台面上开管。</a:t>
            </a:r>
          </a:p>
          <a:p>
            <a:r>
              <a:t>开盖前先让样本管在架子上静置一会儿，让管盖内侧和管壁上的液体回落。开盖时用沾了消毒液的纸巾或纱布包住管盖，慢慢拧开，不猛拔、不甩管；管盖内侧朝下放在吸水垫上或拿在手中，避免污染。</a:t>
            </a:r>
          </a:p>
          <a:p>
            <a:r>
              <a:t>甩管、猛拔管盖、在管口快速吹打，都会把样本溅出或形成气溶胶。操作完把管盖拧紧，外壁消毒。</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临床样本的检测主要有四类：一是分离培养，把样本中的病原分离出来；二是血清学检测，看抗原抗体反应；三是核酸检测，提取核酸后扩增检测；四是显微镜检查。不同检测的风险不同，培养风险最高（见 K11）。</a:t>
            </a:r>
          </a:p>
          <a:p>
            <a:r>
              <a:t>血清学检测常要离心分离血清。离心感染性样本用带密封盖的离心杯或密封转子，停稳后静置一段时间，再把离心杯拿到生物安全柜内打开（离心机见第 121 课，离心管破裂处置见第 078 课）。</a:t>
            </a:r>
          </a:p>
          <a:p>
            <a:r>
              <a:t>各项检测在哪一级实验室做，按《人间传染的病原微生物目录》（以现行版本为准）和风险评估确定，一般在二级或三级生物安全实验室；涉及高致病性病原微生物的，必须在相应级别的实验室内并经批准。学生未经培训、授权，不得参与这类工作。</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进了实验室，大体分两条路：一条是要分离培养病原的，一条是直接做核酸等检测的。两条路的风险不同，国内病原目录也对“病原培养”和“未经培养的感染材料操作”“灭活材料操作”分别规定了所需的实验室级别。</a:t>
            </a:r>
          </a:p>
          <a:p>
            <a:r>
              <a:t>要培养的样本，病原会在培养中大量增加，浓度远高于原始样本，必须按活培养物评估，采取最严格的防护。培养出的纯培养物，按其病原的危害程度重新评估：有的会形成芽孢、耐受消毒，有的可经气溶胶传播，控制措施（实验室级别、消毒方法、个人防护）要选得恰当。</a:t>
            </a:r>
          </a:p>
          <a:p>
            <a:r>
              <a:t>怀疑含有高致病性病原微生物的样本，不得擅自培养：立即停止相关操作，报告实验室负责人，按国家规定和本校程序处理，须在相应级别的实验室并经批准才能开展。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核酸检测的样本，开管后先灭活，让病原失去感染力，再往下做提取。怎么灭活（加热、化学裂解等），按该病原的操作规程和试剂说明书进行；原片中的具体条件是当时的做法，以现行规定和试剂说明书为准。</a:t>
            </a:r>
          </a:p>
          <a:p>
            <a:r>
              <a:t>灭活方法既要可靠地灭活病原，又要保住要检测的核酸等成分。灭活方法须经过验证、确认有效；灭活后的样本贴上明显的“已灭活”标识，容器外壁消毒，确认后才能移出生物安全柜。没有确认灭活的，不能拿出柜外。</a:t>
            </a:r>
          </a:p>
          <a:p>
            <a:r>
              <a:t>具体怎么做，取决于处理的是什么生物因子。把每一步写进本实验室的样本处理方案（标准操作规程），连同每个操作步骤本身的风险（开管、加样、加热、离心）一起评估。</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提取病毒核酸已是常规工作，但同样必须遵守生物安全规程，在相应级别的实验室进行。灭活后的核酸提取也在生物安全柜内操作，开管、加样产生的气溶胶留在柜内。</a:t>
            </a:r>
          </a:p>
          <a:p>
            <a:r>
              <a:t>手工提取步骤中常有离心，会产生气溶胶；离心要用密封离心杯，停稳静置后在柜内打开。使用自动化核酸提取仪，能减少手工开盖、离心等步骤，降低气溶胶风险（见 K14、K15）。</a:t>
            </a:r>
          </a:p>
          <a:p>
            <a:r>
              <a:t>提取出的纯核酸本身风险很小，但提取前的样本和过程中的废液、耗材仍按感染性材料处理。很多病毒的遗传物质是 RNA，要用 RNA 提取试剂盒；RNA 很不稳定，放久了会降解，样本到了最好尽快处理，提取完马上放到冰上或按要求冻存。</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卡盒式自动核酸提取仪使用预先封装好试剂的卡盒（样本板），裂解、磁珠捕获、洗涤和洗脱全过程都在机器内完成，减少手工操作和气溶胶。不同仪器的卡盒规格（每排孔数、排数、一次可放几块）不同，以说明书为准。</a:t>
            </a:r>
          </a:p>
          <a:p>
            <a:r>
              <a:t>主要部件：卡盒上有样本孔、预封装的试剂孔和最后一排收集提取物的孔；配套的磁力板可把磁珠吸到孔底，便于吸出上清；打开前门可看到上方的一排磁棒和下方的加热块；配套耗材还有专用条（磁棒套）和校准板。开机后一般有“提取”和“消毒”（如紫外照射）等功能。</a:t>
            </a:r>
          </a:p>
          <a:p>
            <a:r>
              <a:t>校准由厂方或经培训的专业人员进行，学生不要自行拆装、校准。教学演示可以在实验室外用空耗材进行，真正处理样本时，必须在相应级别的实验室内、经培训授权后操作。</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操作顺序：先把专用条装进各自的卡槽，每一条都锁紧；在生物安全柜内把样本加入样本孔，试剂孔预先用膜封好（运输时不洒），用时再撕膜；加好样后，把整块样本板平稳推进仪器。</a:t>
            </a:r>
          </a:p>
          <a:p>
            <a:r>
              <a:t>在屏幕上先点“提取”，再选程序，看到选中标记（如绿色对勾）才算选上；然后选择与样本类型对应的试剂盒程序。程序或试剂盒选错，提取就白做了。装了几块卡盒，就打开几块加热块，未用的保持关闭（界面上一般显示为灰色）。</a:t>
            </a:r>
          </a:p>
          <a:p>
            <a:r>
              <a:t>仪器上贴有警示标签：启动前再确认卡盒、专用条放平、放到位，放歪会撞坏磁棒、洒出样本。确认后点“开始”，仪器自动完成裂解、磁珠捕获和洗脱，一批十几分钟到数十分钟（以程序为准）。运行中不要打开前门；完成后在柜内取出提取物，用过的卡盒按感染性废物处置，按说明书对仪器进行消毒。</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提取好的核酸上荧光定量 PCR 仪检测，判断样本里有没有目标病原。仪器会给出扩增曲线，告诉我们目标是否存在。</a:t>
            </a:r>
          </a:p>
          <a:p>
            <a:r>
              <a:t>RNA 病毒的检测先用逆转录酶把 RNA 转成 cDNA，再一边扩增一边读取荧光信号。检测试剂盒的引物和探针专门对准病原的几段关键基因，多个靶标同时检测可提高可靠性；不同基因在样本中的拷贝数可能不同，判读结果时要按试剂盒说明书的判定规则综合考虑。</a:t>
            </a:r>
          </a:p>
          <a:p>
            <a:r>
              <a:t>整个流程可以概括为三步：灭活 → 提取核酸 → 逆转录加定量 PCR。加样、封板在相应分区内完成，扩增后的反应管不要随意打开，防止扩增产物污染（见 K17）。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配备生物安全柜。</a:t>
            </a:r>
          </a:p>
          <a:p>
            <a:r>
              <a:t>人员和物品按“试剂准备 → 样本制备 → 扩增 → 分析”的方向单向流动，不走回头路；各区的工作服、移液器、耗材和记录用品专区专用，不混用、不带出。</a:t>
            </a:r>
          </a:p>
          <a:p>
            <a:r>
              <a:t>分区和单向流动的目的有两个：防止扩增产物和样本交叉污染造成假阳性，也防止感染性样本的污染扩散到其他区域，保护人员。</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控制机构报告的，按规定执行（以现行规定为准）。</a:t>
            </a:r>
          </a:p>
          <a:p>
            <a:r>
              <a:t>阳性样本单独、加锁保存，按要求移交指定机构或按规定销毁，交接有记录。用完的样本和耗材按感染性废物处置（见第 077 课）。</a:t>
            </a:r>
          </a:p>
          <a:p>
            <a:r>
              <a:t>阳性结果和病人信息只按规定渠道报告，不私下传播、不发到社交网络。原片中的报告要求是当时的做法，以现行规定为准。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有的样本做完检测还要留着以后再分析。留存的样本按要求的条件（温度、容器、标识）存放在指定的冰箱或冻存设备中，设备上锁，专人管理。</a:t>
            </a:r>
          </a:p>
          <a:p>
            <a:r>
              <a:t>建立样本库存：每一管的编号、位置、数量、存入和取用记录都清楚，任何一管都能追溯到来源和去向；定期盘点，账物相符。</a:t>
            </a:r>
          </a:p>
          <a:p>
            <a:r>
              <a:t>不再保留的样本按规定销毁：按感染性废物先灭菌再处置（见第 077 课），不能随手扔进普通垃圾桶或倒入下水道。销毁要登记数量、方式、时间和经手人。毕业或离组时，个人保管的样本要清点交接（见第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答案：B。解析：病人样本可能含多种病原，且有无症状携带，一律按有传染性对待。</a:t>
            </a:r>
          </a:p>
          <a:p>
            <a:r>
              <a:t>第 2 题 答案：B。解析：漏了别硬拆，用防漏袋封好，报告负责人，按溢洒规程处理并通知送样方。</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答案：B。解析：不合格样本拒收或隔离并登记，不能自己猜着做。</a:t>
            </a:r>
          </a:p>
          <a:p>
            <a:r>
              <a:t>第 4 题 答案：B。解析：柜内开管、先灭活、确认后出柜；核酸检测分区单向流动。</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答案：B。解析：疑似高致病样本不得擅自培养，立即报告，须在相应级别实验室并经批准才能开展。</a:t>
            </a:r>
          </a:p>
          <a:p>
            <a:r>
              <a:t>第 6 题 答案：病人健康信息属敏感个人信息，用编号代替姓名，对照表锁好专人保管，电子数据放安全服务器，不外传不拍照；要留存的样本按条件存放、设备上锁、建立库存可追溯，不留的按感染性废物灭菌处置，数量和去向登记，账物相符。解析：保护患者隐私，样本全程可追溯。</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苗研发和生产，毒株只能送到有资质的单位；四是传染病防控研究，送到专门的实验室研究治疗和预防措施；五是菌种保藏，存入菌种保藏中心长期保存，以及从不同生态环境采集微生物开展生物多样性研究；六是教学，教学菌株送到学校和培训中心，工作坊和会议也会用到菌株演示；七是质量保证和法规检测，监测微生物污染、开展检测认证。</a:t>
            </a:r>
          </a:p>
          <a:p>
            <a:r>
              <a:t>运输推动了科研、医疗和环境保护，但运输途中一旦破损泄漏，会威胁运送人员、公众和环境。所以规范运输有两个目标：保住样本的活性和完整，也保住人和环境的安全。</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国内病原微生物分类第一类危害最大、第四类最低，与国际风险组 1 组最低、4 组最高的方向正好相反（见第 058 课）。第一类、第二类病原微生物属于高致病性病原微生物。</a:t>
            </a:r>
          </a:p>
          <a:p>
            <a:r>
              <a:t>运输高致病性病原微生物菌（毒）种或样本，必须按《病原微生物实验室生物安全管理条例》和《可感染人类的高致病性病原微生物菌（毒）种或样本运输管理规定》（以现行文本为准）事先报卫生健康主管部门批准（审批部门按省内、跨省等情况不同，以现行规定为准），使用符合要求的专用包装。</a:t>
            </a:r>
          </a:p>
          <a:p>
            <a:r>
              <a:t>运输时由专人护送（护送人数按规定），不得通过公共电（汽）车和城市铁路等公共交通工具运输；出发、到达都要登记交接，全程留痕，发生被盗、被抢、丢失、泄漏的，立即按规定报告。学生不得自行组织这类运输。</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运输感染性物质和临床样本，按三层包装原则包装，目的是防破损、防泄漏、防暴露：</a:t>
            </a:r>
          </a:p>
          <a:p>
            <a:r>
              <a:t>第一层是主容器：装样本的容器本身，防水、防漏、密封，盖子拧紧并可加封口膜，尽量用塑料管而不是玻璃管。主容器外面裹足吸收材料（吸水纸、吸水垫等），量要足够吸收主容器内的全部液体，万一漏了能吸干（具体要求以现行规定为准）。</a:t>
            </a:r>
          </a:p>
          <a:p>
            <a:r>
              <a:t>第二层是辅助容器：防水、防漏的密封袋或密封罐，把主容器和吸收材料一起装进去，袋口封好或用扎带锁紧；多个主容器分别包裹，防止相互碰撞。</a:t>
            </a:r>
          </a:p>
          <a:p>
            <a:r>
              <a:t>第三层是外包装：坚固防撞的硬质箱子，贴清标签和标志。样本清单、申请单等文件放在辅助容器和外包装之间，开箱前就能核对，不必打开辅助容器。箱内附上溢洒处理说明和联系人电话，标签要让接手的人看得懂。一层漏了，还有两层挡着。</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送检的样本管，管口可以包一小团纱布或其他吸收材料。这样做有两个好处：运输中管盖渗出的少量液体被吸住，接收方开管时滴下的液体也被它吸住。</a:t>
            </a:r>
          </a:p>
          <a:p>
            <a:r>
              <a:t>液体不沾到手套和手上，个人防护就不会被突破，也减少了在生物安全柜内的污染（开管方法见第 079 课）。用过的吸收材料按感染性废物处置。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a:p>
            <a:r>
              <a:t>用干冰时要特别注意：干冰升华产生大量二氧化碳气体，不能放进密封的容器里，否则会胀裂甚至爆裂；外包装要能让气体逸出。干冰按 GB 6944-2025（以现行文本为准）属于第 9 类杂项危险物质，外包装上要标明干冰及其数量，按危险货物运输的要求办理。</a:t>
            </a:r>
          </a:p>
          <a:p>
            <a:r>
              <a:t>搬运干冰戴隔热手套，防止冻伤；在通风良好的地方操作，不在密闭小空间或车厢内大量存放（干冰的危害见第 136 课）。液氮干式运输罐等其他低温运输方式按相应规定执行。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运输时，感染性物质按国际通行的分类分为 A 类和 B 类。A 类是在运输中一旦暴露，可能使健康的人或动物造成永久性残疾或危及生命的感染性物质，包装和审批要求最严，国际联合国编号为 2814（可感染人）或 2900（仅感染动物）；B 类是不符合 A 类标准的感染性物质，如一般的诊断用临床样本，联合国编号为 3373。</a:t>
            </a:r>
          </a:p>
          <a:p>
            <a:r>
              <a:t>国内《人间传染的病原微生物目录》（以现行版本为准）对各病原的菌（毒）种和样本分别标注了运输包装分类（A 类或 B 类）。某种材料属于哪一类，查目录确定；不同类别的包装规格、标记和每件限量，以现行规定为准。</a:t>
            </a:r>
          </a:p>
          <a:p>
            <a:r>
              <a:t>GB 6944-2025（以现行文本为准）把感染性物质列为第 6 类第 2 项危险货物。不能判断类别的，按较高类别处理，并咨询单位生物安全负责人。</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a:p>
            <a:r>
              <a:t>包装和标签的准备在送样一方就要做好：样本管逐一贴清标签，不掉、不糊；包装封严实。标签清楚，保证样本不弄错、不失效；病人信息用编号代替，样本清单不写病人身份信息（见第 079 课）。</a:t>
            </a:r>
          </a:p>
          <a:p>
            <a:r>
              <a:t>送样一方把标签贴好、包装封严，路上的运送人员和接收方的实验人员都更安全。</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参与运输的人员——包装人员、司机、押运人员、物流公司人员——都要经过培训，知道箱里装的是什么、有什么风险、包装破损或泄漏时怎么处置、向谁报告。</a:t>
            </a:r>
          </a:p>
          <a:p>
            <a:r>
              <a:t>感染性物质和菌（毒）种要交给具备相应资质、能承运此类物品的单位运输，不能当普通快递寄送。委托运输前，由本单位样本管理人员确认承运方资质和包装要求。</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在楼内、实验室之间转运，同样要防洒防漏：不能手拿着开口或未密封的试管在走廊里走。样本管盖紧，插在试管架上，装进密闭、防漏、可消毒的转运箱，箱内垫吸水材料，万一洒了也不外漏；箱外贴生物危害标志。</a:t>
            </a:r>
          </a:p>
          <a:p>
            <a:r>
              <a:t>转运路线尽量避开人多的地方，不经过办公区、休息区，不在走廊和电梯里停留、乱放。用推车时慢行、放稳，物品出生物安全柜后直接送到目的地（如灭菌间），不在路上停留。</a:t>
            </a:r>
          </a:p>
          <a:p>
            <a:r>
              <a:t>一只手戴手套拿箱，另一只手不戴手套（或摘掉外层手套）用来开门、按电梯，避免把污染带到门把手和按钮上。高致病性样本的转运按本实验室规程执行。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运输环节是生物材料最容易丢失、被盗或泄漏的环节之一，所以运输安全也是生物安保的一部分（见第 083 课）：包装牢固，交接有签收记录，路线和时间可追踪，做到不丢、不漏、账物相符。</a:t>
            </a:r>
          </a:p>
          <a:p>
            <a:r>
              <a:t>生物材料的运输和进出口规矩很多：包装、标识、运输方式都要符合国内规定。出入境的微生物、人体组织、生物制品、血液等属于特殊物品，须按《中华人民共和国国境卫生检疫法》等规定办理海关卫生检疫审批（以现行规定为准）；涉及人类遗传资源出境的，须依法审批（见第 083 课）；属于出口管制物项的，按出口管制规定办理。</a:t>
            </a:r>
          </a:p>
          <a:p>
            <a:r>
              <a:t>具体手续由单位样本管理和生物安全管理部门指导办理，个人不得擅自携带、邮寄生物材料出入境。</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学生不得用普通快递邮寄菌（毒）种和样本，也不能装进背包、口袋随身带出实验室或带到外校；不私下和同学、外单位人员交换菌株。</a:t>
            </a:r>
          </a:p>
          <a:p>
            <a:r>
              <a:t>需要向外单位提供或从外单位获取菌株的，先告诉导师和实验室负责人，由单位按规定登记、审批（必要时签订材料转移协议），按本课的包装要求，交有资质的单位运送；接收方要具备相应的实验室条件。</a:t>
            </a:r>
          </a:p>
          <a:p>
            <a:r>
              <a:t>这样做既是生物安全和生物安保的要求，也保证菌株来源清楚、去向可查。</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答案：B。解析：一层漏了还有两层；清单放在辅助容器外，开箱前就能核对。</a:t>
            </a:r>
          </a:p>
          <a:p>
            <a:r>
              <a:t>第 2 题 答案：B。解析：干冰升华产生大量气体，密封会胀裂；干冰放在辅助容器外，外包装能让气体逸出，并按第 9 类危险货物标明。</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答案：B。解析：须经批准、专人护送，不得通过公共交通工具运输。</a:t>
            </a:r>
          </a:p>
          <a:p>
            <a:r>
              <a:t>第 4 题 答案：B。解析：楼内转运也要插在架上、装进垫好吸水材料的密闭转运箱，箱外贴标志，避开人多处。</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答案：C。解析：学生不私带、不邮寄、不私下交换菌株。</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等技术改变了遗传物质的生物，就是转基因生物（基因工程生物、遗传修饰生物），包括转基因植物、动物和微生物（工程菌）。</a:t>
            </a:r>
          </a:p>
          <a:p>
            <a:r>
              <a:t>基因改变后，受体生物的生长发育、性状和它产生的蛋白质都可能随之改变，于是出现了新的植物和动物品种，也有了用于生产药物、处理污染的工程菌。</a:t>
            </a:r>
          </a:p>
          <a:p>
            <a:r>
              <a:t>正因为改变了生物本来的性状，转基因生物可能带来原来没有的风险，需要依法评估和管理。</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准或进行备案；设立单位和实验室负责人承担安全管理责任（具体要求以现行文本为准）。</a:t>
            </a:r>
          </a:p>
          <a:p>
            <a:r>
              <a:t>农业转基因生物（转基因植物、动物、微生物及其产品）按《农业转基因生物安全管理条例》（以现行文本为准）管理：依法进行安全评价，按安全等级分级管理，上市的产品按规定标识。涉及人间传染病原微生物的重组实验，同时按病原微生物实验室的规定管理。涉及重组或合成核酸的研究，生物安全管理和科研管理要一起把关。</a:t>
            </a:r>
          </a:p>
          <a:p>
            <a:r>
              <a:t>违反规定开展转基因研究，会被责令停止，还要承担法律责任。讨论转基因问题时，先了解国家的相关规定；新技术有好处，也要防风险、讲伦理。</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做重组 DNA、基因工程实验，立项前先做风险评估，主要评估：宿主（受体）生物是什么、有无致病性；载体的特性；目的基因的来源和功能；实验的操作方式、规模和可能的暴露途径。通用的风险评估方法见第 067 课。</a:t>
            </a:r>
          </a:p>
          <a:p>
            <a:r>
              <a:t>评估后按本校规定报单位生物安全委员会审核（生物安全委员会见第 070 课），按审核结论在相应级别的实验室开展；批了才能做，没批准不开工。实验方案有实质性修改（换宿主、换基因、扩大规模等），要重新报审。转化实验等教学实验也要按本校规定审批或备案。</a:t>
            </a:r>
          </a:p>
          <a:p>
            <a:r>
              <a:t>课程作业、竞赛项目写了方案，不等于可以动手去做。实验室负责人是本实验室生物安全的第一责任人，学生不得擅自开展重组和基因改造实验。</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申报，听实验室负责人和学校主管部门的安排。</a:t>
            </a:r>
          </a:p>
          <a:p>
            <a:r>
              <a:t>风险来自过程，而不只是存放：材料一旦种下、长大、开花结籽，或工程菌进入土壤和水体，扩散和影响的可能就升高。所以转基因生物走出封闭的实验室之前，必须先评估对环境和人的风险。</a:t>
            </a:r>
          </a:p>
          <a:p>
            <a:r>
              <a:t>用工程菌清理污染场地，本质上也是把菌放进环境。未经批准，任何转基因植物、动物、微生物一律不得私自种植、放养或环境释放；试验要一步步来，每一步按规定办理。植物封闭温室的要求见第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Ⅳ（从尚不存在危险到高度危险）。</a:t>
            </a:r>
          </a:p>
          <a:p>
            <a:r>
              <a:t>一般而言：最低一类个体和群体风险都低，不会伤害人和动物、不影响植物和环境，常用的非致病实验室菌株属于这一类；第二类对个体有中等风险，但不易扩散、对环境影响小；第三类可能严重危害个体，扩散风险低到中等；最高一类个体和群体风险都高，还可能影响植物和环境。</a:t>
            </a:r>
          </a:p>
          <a:p>
            <a:r>
              <a:t>对应的防护措施也分为四级，级别越高，限制越严、设施越复杂。哪一类活动在几级实验室做，经风险评估并由生物安全委员会和主管部门审批确定（实验室防护等级见第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转基因生物的风险评估有四个组成部分：先识别危害，再描述危害的特征，评估接触（暴露）的程度，最后描述风险的大小。</a:t>
            </a:r>
          </a:p>
          <a:p>
            <a:r>
              <a:t>具体做时分三步：找出可能带来不良影响的特性；评价每一项可能造成什么后果；估计每一项发生的可能性和由此得出的风险。</a:t>
            </a:r>
          </a:p>
          <a:p>
            <a:r>
              <a:t>通用的风险评估也可以按五步走：找出危害；想清谁会受害、怎么受害；评估风险并确定防护措施；把结果记录下来并照着执行；定期复查，情况变化时更新。两套说法思路一致（见第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转基因生物进入应用（如上市）前的安全评价，要按体系做、综合考虑、一个一个逐案评价，不能一概而论。</a:t>
            </a:r>
          </a:p>
          <a:p>
            <a:r>
              <a:t>评价分两个阶段：第一阶段，把转基因生物和对应的非转基因品种比较，找出它们之间的差异；第二阶段，评价这些差异对环境、食品安全和营养各有多大影响。预期的差异和意外的差异都要看。</a:t>
            </a:r>
          </a:p>
          <a:p>
            <a:r>
              <a:t>评价时首先要说清这个生物：供体和受体各是什么生物，改了什么基因，这个基因起什么作用；然后评价环境安全和食品安全（见 K8）。国内的安全评价按《农业转基因生物安全管理条例》及配套规定进行（以现行文本为准）。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近缘种）。</a:t>
            </a:r>
          </a:p>
          <a:p>
            <a:r>
              <a:t>工程菌在治理污染等方面有用，但放到野外可能打乱原有的生态平衡，所以必须考虑伦理，接受监管，未经批准不得释放（见 K4）。</a:t>
            </a:r>
          </a:p>
          <a:p>
            <a:r>
              <a:t>食品安全评价看：成分和营养是否改变，新表达的蛋白质有没有毒性、会不会致敏，加工后有没有变化，人们的食用量会不会改变，长期食用对营养的影响。</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风险分析要把风险和收益放在一起衡量：既问“安全吗”，也问“值得吗”；看对环境、人和动物健康的影响，并和普通品种对比。改造的生物不同，要问的问题也不同。</a:t>
            </a:r>
          </a:p>
          <a:p>
            <a:r>
              <a:t>一种教学用的风险矩阵模型用两个指数：风险指数看危害（真出问题时影响有多重）、暴露（土壤、动物、本地植物接触多少，暴露越多出问题的可能越大）和先例（以前发生过类似问题吗）；显著性指数看范围（危害会扩散多远）和可逆性（系统能不能恢复原样），还要结合在哪里种植、当地环境怎样。</a:t>
            </a:r>
          </a:p>
          <a:p>
            <a:r>
              <a:t>两个指数组合得出管控等级，从低到高大致为：不限制、需要监测、需要管理、需要限制、不建议。不易扩散、影响可逆的，监测可以少一些；容易扩散、不可逆的，要严加管控，两项都高的不建议推广。实际管理等级以国内安全评价和审批结论为准。</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实验室里的工程菌株、质粒和载体、转基因细胞和植物材料，都要标识清楚，登记在册（名称、来源、构建记录编号、保存位置、数量、责任人），专人保管，保存设备上锁。</a:t>
            </a:r>
          </a:p>
          <a:p>
            <a:r>
              <a:t>基因工程生物要关在实验室里：按风险评估的要求操作，必要时在生物安全柜内进行；废弃的培养物和材料灭活后按规定处置（见第 077 课），不得带出实验室，更不能向环境释放。离开实验室前脱手套、洗手。</a:t>
            </a:r>
          </a:p>
          <a:p>
            <a:r>
              <a:t>工程菌株和载体不能私下送人、带走或寄出；需要转移给其他课题组或外单位的，先报批，再按规定包装运输和交接（见第 080 课）。转基因幼苗等植物材料同样留在实验室，不带回宿舍、不随手丢弃。</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转基因动物也按风险评估确定的级别饲养和管理，在批准的动物设施中饲养，不得与普通动物混养，不得带出设施。</a:t>
            </a:r>
          </a:p>
          <a:p>
            <a:r>
              <a:t>防逃逸措施包括：动物房门口设防逃挡板，门禁随手关好；笼具完好、盖紧，笼卡标明品系、转基因信息、数量和责任人；每次操作前后清点数量并登记。</a:t>
            </a:r>
          </a:p>
          <a:p>
            <a:r>
              <a:t>发现动物逃逸或数量对不上，马上报告实验室负责人和动物设施管理人员，组织查找。死亡动物和废弃物按规定处置。实验动物的其他安全要求见第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转基因材料万一洒出、泄漏或丢失，先控制现场：提醒旁人，设置警示，不让污染扩散，按本实验室溢洒处置规程消毒清理（见第 078 课）。</a:t>
            </a:r>
          </a:p>
          <a:p>
            <a:r>
              <a:t>立即报告实验室负责人，再逐级报告学院和学校实验室安全、生物安全管理部门；可能已逸出到环境或丢失的，由学校按规定向主管部门报告。</a:t>
            </a:r>
          </a:p>
          <a:p>
            <a:r>
              <a:t>如实记录发生的时间、材料、数量、经过和处置措施，不隐瞒、不自行“处理掉了事”，事后复盘改进。</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合成生物学、基因编辑等新技术给研究带来了新可能，也带来新挑战：改造后的生物有的性状可以稳定遗传，有的是新引入的，风险往往难以事先完全预知。</a:t>
            </a:r>
          </a:p>
          <a:p>
            <a:r>
              <a:t>改造的未知风险像一座冰山，看得见的只是一小部分；原本良性的对象，经过改造也可能变成潜在的危害，或被用于不良目的。可能增强病原危害、具有两用性的研究，国际上普遍严格管控，在国内必须先评估，报主管部门审批（两用研究见第 083 课）。</a:t>
            </a:r>
          </a:p>
          <a:p>
            <a:r>
              <a:t>所以对这类研究要保持最高谨慎：先评估，经单位生物安全委员会和主管部门批准再做；学生参加竞赛和课外项目，同样遵守本课的审批和封闭要求。</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答案：B。解析：先评估、报委员会、批了才能做；作业写了方案不等于可以去做。</a:t>
            </a:r>
          </a:p>
          <a:p>
            <a:r>
              <a:t>第 2 题 答案：B。解析：该办法已废止，依据《中华人民共和国生物安全法》、《农业转基因生物安全管理条例》和单位生物安全委员会审查。</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答案：B。解析：转基因材料留在实验室；分阶段审批，未经批准不得环境释放。</a:t>
            </a:r>
          </a:p>
          <a:p>
            <a:r>
              <a:t>第 4 题 答案：B。解析：先比较找差异，再评价差异对环境、食品安全和营养的影响，预期和意外差异都要看。</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答案：马上报告实验室负责人和动物设施管理人员，组织查找，如实记录；平时门口放防逃挡板、门禁关好，笼卡标识，数量登记清楚。解析：防逃逸、做标识，发现逃逸立即报告。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植物封闭，是把植物或种质材料放在封闭温室、植物生长室等设施里，与外界环境隔开；在确认它不带病原、害虫，不存在转基因材料扩散风险（或已经依法获得批准）之前，不得移出设施。</a:t>
            </a:r>
          </a:p>
          <a:p>
            <a:r>
              <a:t>封闭有两层：一层保护在里面工作的人（个人防护装备等），一层保护外面的环境（温室结构、防虫网、负压和废水处理等）。两层一起，才能把风险关在里面。</a:t>
            </a:r>
          </a:p>
          <a:p>
            <a:r>
              <a:t>封闭既是科学研究的需要（保证试验结果可靠、不被外界干扰），也是法律的要求。国内依据《中华人民共和国生物安全法》、《农业转基因生物安全管理条例》和植物检疫法规（均以现行文本为准）管理。</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原因一：从外地或国外引进的种子、苗木和其他植物材料，可能带着原产地的病菌和害虫。它们一旦传进本地，没有天敌或本地作物缺乏抗性，就可能大面积危害庄稼，造成严重损失。</a:t>
            </a:r>
          </a:p>
          <a:p>
            <a:r>
              <a:t>原因二：转基因植物不能从实验室直接种到田里。按《农业转基因生物安全管理条例》（以现行文本为准），转基因植物要先在封闭设施里研究，经安全评价、按阶段报告或审批后才能进入环境（分阶段管理和审批见第 081 课）。</a:t>
            </a:r>
          </a:p>
          <a:p>
            <a:r>
              <a:t>转基因植物的风险主要有：转基因随花粉或种子外逃，进入本地品种；抗虫等性状影响传粉昆虫等非目标生物，扰乱本地生态；材料被恶意利用（见第 083 课）；消费者和市场拒收带来经济影响。所以监管严格。封闭防止外逃，既保护环境和农户，也保护研究者的成果。转基因植物研究要严格遵守国家专门的管理规定。</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封闭的情形有五种：转基因植物；引进的植物材料（检疫观察期间）；离体培养的植物（组培苗）；控制育种试验；用病原或害虫做的抗性挑战试验。可见封闭不只为了转基因，后几种情形同样要防外来花粉进入、防病虫外逃。</a:t>
            </a:r>
          </a:p>
          <a:p>
            <a:r>
              <a:t>封闭的代价很高：要专门的设施和设备、专职的人手和持续的培训。所以要按需采用：本地常规品种、未做任何改造的材料，一般不需要封闭；新品种、引进品种、转基因材料等才需要。</a:t>
            </a:r>
          </a:p>
          <a:p>
            <a:r>
              <a:t>封闭到什么程度，由风险评估确定（风险评估方法见第 067 课），涉及转基因的按本校生物安全委员会的审查意见执行。</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植物生长室（人工气候室）是一个个独立的封闭小间，每间单独控制温度、湿度、光照，并带运行监测；按设计保持相对负压，空气向内流，花粉和小虫不容易跑出去（封闭和定向气流原理见第 062 课）。</a:t>
            </a:r>
          </a:p>
          <a:p>
            <a:r>
              <a:t>封闭温室的种植区占地并不大，但为它服务的空调、空气过滤、废水处理等辅助设施往往比温室本身大两三倍。辅助设备还包括加湿、照明和灌溉系统。</a:t>
            </a:r>
          </a:p>
          <a:p>
            <a:r>
              <a:t>封闭设施里不手工撒施肥料，而是由电脑控制，按设定的时间和用量把水和肥料泵进花盆，减少人员进出和溅洒。排出的水先经处理，再按规定排放，不直接排进沟渠。设施的运行和维护由专人负责，发现异常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虫网、门帘（风幕）和缓冲间是封闭温室挡住病虫进出的屏障。网上破一个小洞、门帘没放下，小虫就能钻进钻出。要定期巡查防虫网、门帘、门窗密封条，填写巡查记录，发现破损马上报告并修补；进出随手关门，不同时打开两道门。</a:t>
            </a:r>
          </a:p>
          <a:p>
            <a:r>
              <a:t>离开隔离区或封闭温室时，鞋底、衣服、头发上可能沾着虫卵、病菌和种子。要在缓冲间换鞋、脱下专用工作服挂好，检查身上，洗手后再离开；工作服不穿出温室。</a:t>
            </a:r>
          </a:p>
          <a:p>
            <a:r>
              <a:t>植株、种子、土壤、基质等材料，没经过规定的处理（如灭活）不得带出门。</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花粉外逃是植物封闭的重点风险。试验材料的花粉飘到附近的本地品种上，会结出混有试验性状（如转基因）的杂交后代，污染本地品种，影响农户的收成和销路，还可能引起纠纷和法律责任。</a:t>
            </a:r>
          </a:p>
          <a:p>
            <a:r>
              <a:t>防花粉外逃的措施：与同种或能杂交的植物留足隔离距离；错开花期，让试验材料和周围作物不同时开花；加纱网，开花时给花序套袋，必要时人工去雄；更好的办法是选用不产生花粉的不育品系，从源头上不让花粉出去。具体措施按风险评估和审批要求落实。</a:t>
            </a:r>
          </a:p>
          <a:p>
            <a:r>
              <a:t>验证措施是否有效：在设施四周种“哨兵植物”，定期收它们的种子检测，看试验性状有没有外逃；测不出来，说明设施封得住；测出来要立即报告。转基因植物的种子要装袋、标识、登记清楚。</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在无菌条件下离体培养出来的组培苗比较娇弱，从来没有接触过田间的病菌和害虫，直接下田容易感病，还可能把组培过程中的问题带到田里。</a:t>
            </a:r>
          </a:p>
          <a:p>
            <a:r>
              <a:t>所以组培苗要先在封闭温室里炼苗、过渡，观察生长和健康状况，再按计划移栽到田间。</a:t>
            </a:r>
          </a:p>
          <a:p>
            <a:r>
              <a:t>同一个品种（尤其是遗传上完全一样的克隆苗）大面积种植时，一旦有一株感病，病害就可能成片蔓延，还会传给周围农户的作物。所以下田前要先确认它的抗性和健康状况，不连累邻居。转基因组培苗的移出按第 081 课的审批要求执行。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控制育种是用两个纯合亲本杂交，得到性状整齐的杂交种。外来花粉一旦混进来，就会产生不确定的杂交后代，种子不整齐。所以控制育种要在封闭条件下进行，这也是杂交种成本较高的原因之一。</a:t>
            </a:r>
          </a:p>
          <a:p>
            <a:r>
              <a:t>挑战试验（抗性鉴定）是在封闭设施里让品种接触病原或害虫，筛选出抗病、抗虫的材料。试验用的病原和害虫按本校规定审批和管理，只在指定的封闭设施里使用。</a:t>
            </a:r>
          </a:p>
          <a:p>
            <a:r>
              <a:t>病原和害虫绝不能带出设施：一旦外逃，会扩散到本地庄稼，造成危害。试验结束后，接种过的植株、土壤和器具按规定灭活后处置，设施清洁消毒后再用（消毒灭菌见第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国外或外地引进种子、苗木、其他繁殖材料以及含活微生物的肥料等，依法要办理检疫：从境外引进按《中华人民共和国进出境动植物检疫法》和引种检疫审批规定办理，国内调运按《植物检疫条例》办理（均以现行文本为准）。引进前先报告实验室负责人，由学校主管部门统一办理。</a:t>
            </a:r>
          </a:p>
          <a:p>
            <a:r>
              <a:t>检疫防范的风险包括：外来物种入侵本地生态；外来病虫害；外来花粉混入导致减产。有的病原要过一段时间才显出症状，所以引进材料到货后，要在指定的隔离区（隔离圃、封闭温室）种植观察一段时间，并做检测；检出带病虫的，依法限制引进或除害、销毁处理。</a:t>
            </a:r>
          </a:p>
          <a:p>
            <a:r>
              <a:t>出差、旅行、访学、野外实习时，不私自采集、携带、邮寄种子和活体植物；从境外入境时，属于禁止携带的物品要主动申报或放弃（野外实习与外出采样见第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导入了新基因的植物，从转化的愈伤组织、组培苗到植株、种子、花粉，都按转基因材料管理，只在经过批准的指定场所（实验室、封闭温室）培养。</a:t>
            </a:r>
          </a:p>
          <a:p>
            <a:r>
              <a:t>转基因植物材料不带出实验室，不带回宿舍或家里，不送人，不随意种到校园或田里；种子装袋、标识清楚，数量和去向登记在册，专人保管。</a:t>
            </a:r>
          </a:p>
          <a:p>
            <a:r>
              <a:t>废弃的转基因植株、种子、土壤和培养基，先灭活（如高压灭菌）再按规定处置，并做记录；不能随手扔进普通垃圾或倒在室外。灭活和废物处置见第 076、077 课。</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转基因植物等材料的田间试验，只能在依法批准后、在批准的地点和规模内进行（分阶段审批见第 081 课）。</a:t>
            </a:r>
          </a:p>
          <a:p>
            <a:r>
              <a:t>试验地要设隔离：隔离距离、隔离带、围栏和标识，按批准的要求落实，防止花粉、种子和植株残体扩散出去，防止无关人员进入和动物取食。</a:t>
            </a:r>
          </a:p>
          <a:p>
            <a:r>
              <a:t>试验结束后，收获物和残留的植株、种子按规定处理，不留在田里自生自长；之后的季节还要继续监测有没有自生苗，做好记录，按要求报告。</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封闭温室和植物生长室为了防病虫外逃，通风受限，施用农药后药雾和挥发物不容易散去，人员吸入和皮肤接触的风险比露天更高。</a:t>
            </a:r>
          </a:p>
          <a:p>
            <a:r>
              <a:t>施药前读农药标签和安全技术说明书，按要求戴好防护手套、护目镜、防护服和合适的呼吸防护用品（呼吸防护见第 025 课）；按标签规定的用量和方法施药，不超量。施药由经过培训的人员进行，其他人离开。</a:t>
            </a:r>
          </a:p>
          <a:p>
            <a:r>
              <a:t>施药后在门口挂警示牌，写明施药时间；过了标签规定的间隔期再进入。剩余农药和包装按规定处理，不倒进温室排水。</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台风、冰雹等自然灾害打碎温室玻璃，防虫网大面积破损，停电导致负压和过滤失效，或发现转基因材料、病虫外逃，都属于封闭被突破。</a:t>
            </a:r>
          </a:p>
          <a:p>
            <a:r>
              <a:t>发生时先控制现场：关闭能关的门，拉警戒线，人员不随意进出，不把材料往外搬。立即报告实验室负责人，再逐级报学院和学校主管部门；涉及转基因材料或检疫性病虫的，由学校按规定报告主管部门。</a:t>
            </a:r>
          </a:p>
          <a:p>
            <a:r>
              <a:t>按主管部门和本校要求，收集设施周围一定范围内的植物并去污处理，加强监测。如实记录经过和处置；设施修复后经检查合格才能重新使用。</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答案：B。解析：引种依法检疫，不私带种苗；到货后在指定隔离区种植观察、检测。</a:t>
            </a:r>
          </a:p>
          <a:p>
            <a:r>
              <a:t>第 2 题 答案：B。解析：转基因、引进材料、组培苗、控制育种、挑战试验五种情形都需要封闭。</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答案：B。解析：再配合哨兵植物监测，验证设施是否封得住。</a:t>
            </a:r>
          </a:p>
          <a:p>
            <a:r>
              <a:t>第 4 题 答案：B。解析：离开时换鞋、脱工作服、检查身上，植株土壤不经处理不带出门。</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答案：控制现场、人员不随意进出；立即报告实验室负责人，逐级报学院和学校主管部门；按要求收集周围植物去污、加强监测；如实记录，修复检查合格后再用。解析：封闭被突破，立即报告、清理去污。</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管理实验室的生物风险，有两件相关但不同的事。两者都和生物材料的安全操作、防护和管理有关，但关注点和目标不一样。</a:t>
            </a:r>
          </a:p>
          <a:p>
            <a:r>
              <a:t>生物安全（实验室生物安全）是一整套操作规范和防护措施，防止有害生物材料在没有人故意的情况下意外跑出来，造成人员暴露或环境污染。例如即使按规程操作，培养物也可能洒出、防护被突破，这属于生物安全。</a:t>
            </a:r>
          </a:p>
          <a:p>
            <a:r>
              <a:t>生物安保防的是人为的、故意的行为：病原、毒素等材料丢失、被盗、未经授权接触，或被拿去滥用伤人，包括生物恐怖。</a:t>
            </a:r>
          </a:p>
          <a:p>
            <a:r>
              <a:t>一句话区别：生物安全防意外，生物安保防故意。瓶子碰倒是生物安全问题，把门卡借给别人是生物安保问题。发现材料丢失或被盗，必须立即报告（见本课 K17）。</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生物安全”一词范围很宽。《中华人民共和国生物安全法》所说的生物安全，包括防控重大新发突发传染病和动植物疫情、生物技术研究开发与应用安全、病原微生物实验室生物安全、人类遗传资源与生物资源安全、防范外来物种入侵、防范生物恐怖袭击和生物武器威胁等多个方面（具体以现行文本为准）。实验室生物安全只是其中一块。</a:t>
            </a:r>
          </a:p>
          <a:p>
            <a:r>
              <a:t>在实验室管理中，常把防止病原和材料丢失、被盗、被滥用的工作叫作“生物安保”，与英文资料中的区分相对应。用词时要注意语境：法律意义上的生物安全，既防意外暴露，也防丢失和滥用。</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可以把实验室的生物材料看成要守护的宝贝，从两个方向看护它。</a:t>
            </a:r>
          </a:p>
          <a:p>
            <a:r>
              <a:t>生物安全首先保护实验人员，也保护周围的公众和环境不受暴露；它主要靠四样东西：培训、安全设备（如生物安全柜）、设施（如防护实验室）和标准操作规程，再加上废物管理，把风险降下来（详见第 059–077 课）。</a:t>
            </a:r>
          </a:p>
          <a:p>
            <a:r>
              <a:t>生物安保保护的是生物材料、实验室和研究设施本身，防范来自外部和内部的威胁；它主要靠：门禁限制进入，材料上锁存放，接触人员经过审核和培训，高风险材料有账可查、责任落实到人（问责）。</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生物安全和生物安保缺一不可：只防意外不防故意，材料可能被盗被滥用；只锁门不讲规范，人员照样会被感染。无论科研、医疗还是教学实验室，两者都要同时做好，研究的收益才能大于风险。</a:t>
            </a:r>
          </a:p>
          <a:p>
            <a:r>
              <a:t>安保不是出了事才做的事，而要和生物安全一起融入日常：守住材料、记录、门禁和信息，需要全组每个人一起来做。</a:t>
            </a:r>
          </a:p>
          <a:p>
            <a:r>
              <a:t>每个人都有安全和安保意识，风险管理才真正有效，最终守护的是公众健康。</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从更宽的角度看，生物安保是一整套保护措施和规程，保护的对象是人、动物、植物和环境：人会被传染生病，动物会得疫病，庄稼会遭病虫害，生态环境会被外来生物破坏。</a:t>
            </a:r>
          </a:p>
          <a:p>
            <a:r>
              <a:t>要防的是有害的生物因子：使人和动物生病的病原体、破坏庄稼的害虫，以及生物产生的毒素。工作有两个方向：一是防止外面的有害生物传进来，二是防止已有的扩散出去；传染病、入侵物种和生物威胁都在其中。</a:t>
            </a:r>
          </a:p>
          <a:p>
            <a:r>
              <a:t>危害的来源有三种：自然发生的（如候鸟带来的疫病）、意外发生的（如实验生物逃逸）、蓄意的（有人故意滥用）。三种都要防。生物安保也在日常生活中：勤洗手，生熟分开，宠物按时免疫，不私自携带动植物和种子入境（引种检疫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生物安保的工作可以分成六块：一是防止疾病传播，定好规程，切断在人和动植物之间传播的途径；二是封闭与控制，实验室里靠设施和规范把病原关住，运输途中密封包装、专人负责、全程可追溯（运输见第 080 课）；三是监测，定期查看有无疫病或异常迹象，早发现、早处置。</a:t>
            </a:r>
          </a:p>
          <a:p>
            <a:r>
              <a:t>四是依法管理，农业、医疗、科研都要遵守《中华人民共和国生物安全法》和相关条例，学生能做的就是学规定、守规定；五是公众意识与教育，让大家知道风险在哪、日常该怎么做；六是应急准备与响应，针对疫情暴发、蓄意破坏等事件提前写好预案、定期更新，人人知道发现异常该向谁报告（应急预案见第 155 课）。</a:t>
            </a:r>
          </a:p>
          <a:p>
            <a:r>
              <a:t>“同一健康”的观念很重要：不少传染病来自动物，人医、兽医和环境部门要联手监测。养殖场防疫时要管住水、饲料、空气等可能带入病原的途径，并靠布局、技术和人员习惯把关，这个思路放到实验室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从安保的角度看，菌（毒）种、病原样本和毒素是需要看守的资产，要像贵重物品一样管理。威胁可能来自外部（外来人员闯入、盗窃），也可能来自内部（有权限的人员违规取用、滥用）。</a:t>
            </a:r>
          </a:p>
          <a:p>
            <a:r>
              <a:t>所以风险评估不只评意外，也要评被盗、被滥用的可能性和后果：谁能进门、谁管钥匙、材料存在哪里、怎么上锁、账怎么核，都要写进评估，再用相应措施把风险降下来（风险评估方法见第 067 课）。措施要对照国家法律法规和标准落实。</a:t>
            </a:r>
          </a:p>
          <a:p>
            <a:r>
              <a:t>评估结果交单位生物安全委员会审核，定期复查，材料、人员、场所变化时及时更新。安保措施的具体细节属于内部信息，不对外公开。</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理安保是用门禁、门锁、上锁的柜子和冰箱等限制进入。个人要做到：门禁卡和钥匙不外借，密码不写在墙上、不告诉别人；刷卡进门后随手关门，不让陌生人跟着进来，也不替不认识的人开门；门禁卡丢了马上报告挂失。</a:t>
            </a:r>
          </a:p>
          <a:p>
            <a:r>
              <a:t>访客和外来人员进入要登记、经批准，全程有人陪同（访客管理见第 008 课）；发现未经授权的进入和接触，要能认出来并及时报告。</a:t>
            </a:r>
          </a:p>
          <a:p>
            <a:r>
              <a:t>最后离开实验室的人，锁好样本柜和冰箱，关好门窗，按清单逐项检查、打勾签名。门口和设备上的警示标识要恰当、准确，到处乱贴反而会让人视而不见。</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人员可靠性是生物安保的重要一环。接触高风险材料的人员，按单位规定经过审核、培训和授权后才能进入和操作，权限随岗位变化及时调整，离岗时及时注销（离岗交接见第 007 课）。</a:t>
            </a:r>
          </a:p>
          <a:p>
            <a:r>
              <a:t>内部人员滥用是一类威胁，常见迹象有：反常的领用（数量、种类与课题不符），领用不登记，在非工作时段反常出入。关键材料实行双人核对、互相监督。</a:t>
            </a:r>
          </a:p>
          <a:p>
            <a:r>
              <a:t>发现异常，不跟踪、不私下调查，如实报告实验室负责人（见本课 K13）。</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菌（毒）种、样本和毒素要锁好：高风险材料专柜专锁、专人管理；按《病原微生物实验室生物安全管理条例》（以现行文本为准），高致病性病原微生物菌（毒）种和样本的保藏、运输等要经过审批，管理极其严格，账和物必须一一对上，放错一支管子都可能引发调查。</a:t>
            </a:r>
          </a:p>
          <a:p>
            <a:r>
              <a:t>入库、取用、转移、销毁件件登记，定期盘点，账物相符；账上没记，丢了都不知道。材料在人员和单位之间转移，保持书面交接记录（监管链），分清职责，出了问题能追溯、能问责。</a:t>
            </a:r>
          </a:p>
          <a:p>
            <a:r>
              <a:t>菌（毒）种和样本只能从正规渠道获得，按规定审批，来源、数量登记在册；不私下交换，不私自带进带出（运输见第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信息安全是生物安保的另一层：菌种清单、保藏位置、安保措施和实验数据，都要保护。保藏了什么、放在哪里，不对无关人员说；样本柜、门禁、平面布局不拍照乱发到网上和群里；遇到可疑的打听，告诉老师和保卫处。</a:t>
            </a:r>
          </a:p>
          <a:p>
            <a:r>
              <a:t>网络入侵也是威胁：陌生链接、附件不点不开；实验电脑账号一人一个、不共享，密码不贴在屏幕上，离开座位随手锁屏。</a:t>
            </a:r>
          </a:p>
          <a:p>
            <a:r>
              <a:t>数据按权限访问、定期备份；清单的共享、上传和对外提供按学校网络和数据管理规定办理。</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生物恐怖，是有人故意利用病原体或毒素制造伤害。细菌、病毒、毒素都可能被滥用；被重点关注的高危因子大致就分这三类，本课不讲具体名称和细节，只需记住它们极其危险、管控极严。</a:t>
            </a:r>
          </a:p>
          <a:p>
            <a:r>
              <a:t>动机多是政治或社会目的，目标是造成大范围的疾病、死亡和社会恐慌，制造恐惧本身就是手段。实施者可能是个人或团体，甚至有国家怀着恶意去做。</a:t>
            </a:r>
          </a:p>
          <a:p>
            <a:r>
              <a:t>恶意使用生物因子是严重犯罪，我国法律严厉禁止和打击，后果极其严重，绝不能碰。政府和国际组织一直在防范；对实验室人员来说，能做的是守好材料、识别异常、及时报告。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看到来历不明的包裹、信件，尤其是带有可疑粉末或液体的，不碰、不闻、不摇、不打开；让周围人离开，关好门，洗手；立刻报告实验室负责人和保卫处，必要时拨打 110 报警，等待专业人员处理。</a:t>
            </a:r>
          </a:p>
          <a:p>
            <a:r>
              <a:t>看到陌生人在实验室附近徘徊、打听样本，或者材料对不上账，也要马上报告。短时间内很多人出现相同症状、动物异常死亡等情况，要及时往上报。</a:t>
            </a:r>
          </a:p>
          <a:p>
            <a:r>
              <a:t>觉得不对劲，别憋在心里，也不跟踪、不私下调查；如实告诉实验室负责人，再按程序报学院、学校和保卫处；不在群里传、不乱猜测。</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制造恐慌本身就是生物恐怖的目标之一。遇到相关事件，不信谣、不传谣，以官方发布的信息为准，不转发未经核实的说法。</a:t>
            </a:r>
          </a:p>
          <a:p>
            <a:r>
              <a:t>对外讲生物安全和生物安保（科普、宣传、社团活动），内容要准确：不夸大吓人，也不隐瞒风险；只讲原则、防护和报告，不传播敏感技术细节。</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有的研究成果既可以用来防病救人，也可能被误用、滥用来造成危害，这类研究叫两用研究。做科研要遵守法律法规和行为准则，讲生物伦理，也要想到成果可能被怎样误用。</a:t>
            </a:r>
          </a:p>
          <a:p>
            <a:r>
              <a:t>按《中华人民共和国生物安全法》和《科技伦理审查办法（试行）》（均以现行文本为准），可能被滥用的研究要事先经过单位生物安全委员会和科技伦理（审查）委员会的审查，负责任地开展；研究目标只能用于造福人类和环境。实验材料和数据按规定管理与共享。</a:t>
            </a:r>
          </a:p>
          <a:p>
            <a:r>
              <a:t>拿不准自己的课题是否涉及两用风险，先停下来向导师和实验室负责人报告；收到可疑的材料、数据或技术索要请求，也要及时报告。动物实验同样要先通过实验动物伦理审查（见第 084 课），批准内容告知全组，留好记录。</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用病人的临床样本或其他人体样本做研究，按《涉及人的生命科学和医学研究伦理审查办法》（以现行文本为准）先经伦理委员会审查批准，并取得受试者（本人或监护人）的知情同意。</a:t>
            </a:r>
          </a:p>
          <a:p>
            <a:r>
              <a:t>人类遗传资源（人体样本及其产生的遗传信息数据）的采集、保藏、利用和对外提供，按《中华人民共和国人类遗传资源管理条例》（以现行文本为准）管理，需要审批或备案的按规定办理，由学校主管部门统一指导。</a:t>
            </a:r>
          </a:p>
          <a:p>
            <a:r>
              <a:t>临床样本带着病人的个人信息，要严格保密：接触数据的人签保密协议；样本编码、去标识化；电子数据加密，纸质文件受控保管；没有书面授权不得复制、拍照或外传（样本接收见第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盘点时发现菌（毒）种、样本、转基因材料少了，或者怀疑被盗、被调换，要立即报告实验室负责人，再逐级报学院、学校主管部门和保卫处，不能瞒着、不能自己悄悄补账。</a:t>
            </a:r>
          </a:p>
          <a:p>
            <a:r>
              <a:t>按《病原微生物实验室生物安全管理条例》（以现行文本为准），高致病性病原微生物菌（毒）种或样本被盗、被抢、丢失的，单位要按规定时限向主管部门和公安机关报告；具体由学校按程序办理。</a:t>
            </a:r>
          </a:p>
          <a:p>
            <a:r>
              <a:t>如实记录发现的时间、经过和已采取的措施，保护现场和记录，配合调查，按规定处理并改进管理。</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答案：B。解析：两者的区别在于意图；瓶子碰倒是安全问题，门卡借人是安保问题。</a:t>
            </a:r>
          </a:p>
          <a:p>
            <a:r>
              <a:t>第 2 题 答案：B。解析：门禁卡不外借、不让人尾随；需要进入的人员按规定登记授权。</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答案：C。解析：不碰、立即报告，交专业人员处理。</a:t>
            </a:r>
          </a:p>
          <a:p>
            <a:r>
              <a:t>第 4 题 答案：B。解析：用人的样本做研究，先过伦理审查，取得知情同意，人类遗传资源按国家规定管理。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答案：成果既能造福人类、也可能被误用造成危害的研究。拿不准时先停下来向导师和实验室负责人报告，按规定经生物安全委员会和伦理审查后再开展。解析：两用研究事先审查，研究只用于造福人和环境。</a:t>
            </a:r>
          </a:p>
          <a:p>
            <a:r>
              <a:t>第 6 题 答案：C。解析：材料丢失被盗，立即报告，不瞒报。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临床与环境样本的接收和处理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接触临床样本（血液、血清、拭子、体液、组织等）和污水等环境样本的医学、生命科学、公共卫生、环境工程等专业本科生、研究生和教职工（必修）；样本接收人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能说出临床样本和环境样本的特点：成分复杂、病原说不准，一律按有传染性对待，再查目录、做风险评估定级别。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能做到样本接收的规范步骤：先穿防护、查渗漏、外包装消毒，逐管核对登记，不合格样本拒收，编号代替姓名并保护患者信息。</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能做到在生物安全柜内静置、垫纸、慢拧开管；能判断“要培养的”和“做核酸的”两条路的不同防护，疑似高致病样本不擅自培养。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能说出核酸检测的灭活—提取—定量流程、自动提取仪的安全操作、实验室分区单向流动，以及阳性结果报告和剩余样本存毁登记的要求。</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《中华人民共和国生物安全法》：病原微生物实验室生物安全管理、样本的管理与报告义务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《病原微生物实验室生物安全管理条例》（以现行文本为准）：样本的采集、保存、登记和销毁，高致病性病原微生物实验活动须在相应级别实验室并经批准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《人间传染的病原微生物目录》（国家卫生健康委发布，以现行版本为准）：病原分类及培养、未经培养的感染材料、灭活材料等不同实验活动所需的实验室级别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生物安全通用要求》：样本接收、标识、运送、储存、销毁与记录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233（以现行文本为准）《病原微生物实验室生物安全通用准则》：样本操作、生物安全柜使用、消毒与废物处置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《中华人民共和国个人信息保护法》、《中华人民共和国人类遗传资源管理条例》（以现行文本为准）：患者健康信息属敏感个人信息；样本用于研究须依法合规</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《医疗机构临床基因扩增检验实验室管理办法》（以现行文本为准）：核酸扩增检验实验室分区与单向流动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《中华人民共和国传染病防治法》（以现行文本为准）及本校实验室安全管理规定：阳性结果和疑似传染病的报告程序</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临床样本：来源多，种类多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临床样本来自医院的病人</a:t>
            </a:r>
          </a:p>
          <a:p>
            <a:pPr>
              <a:spcAft>
                <a:spcPts val="1000"/>
              </a:spcAft>
            </a:pPr>
            <a:r>
              <a:rPr sz="2000">
                <a:solidFill>
                  <a:srgbClr val="222B33"/>
                </a:solidFill>
                <a:latin typeface="Microsoft YaHei"/>
              </a:rPr>
              <a:t>▪ 血液、血清、拭子、尿液、粪便、组织等</a:t>
            </a:r>
          </a:p>
          <a:p>
            <a:pPr>
              <a:spcAft>
                <a:spcPts val="1000"/>
              </a:spcAft>
            </a:pPr>
            <a:r>
              <a:rPr sz="2000">
                <a:solidFill>
                  <a:srgbClr val="222B33"/>
                </a:solidFill>
                <a:latin typeface="Microsoft YaHei"/>
              </a:rPr>
              <a:t>▪ 送来时一般泡在保存液或保存介质里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临床样本是从病人身上采集、送到实验室检测或研究的材料，在医院检验科、病理科和疾病检测实验室每天都要处理；高校的医学、公共卫生和生命科学实验室在合作研究中也会接收医院送来的样本。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以为只有“病原菌株”才危险，忽视普通临床样本</a:t>
            </a:r>
          </a:p>
          <a:p>
            <a:pPr>
              <a:spcAft>
                <a:spcPts val="1000"/>
              </a:spcAft>
            </a:pPr>
            <a:r>
              <a:rPr sz="1500">
                <a:solidFill>
                  <a:srgbClr val="222B33"/>
                </a:solidFill>
                <a:latin typeface="Microsoft YaHei"/>
              </a:rPr>
              <a:t>▪ 不清楚样本泡的是什么保存液就直接操作</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培养物底细清楚，病人样本说不准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研究人员送来的纯培养物底细清楚</a:t>
            </a:r>
          </a:p>
          <a:p>
            <a:pPr>
              <a:spcAft>
                <a:spcPts val="1000"/>
              </a:spcAft>
            </a:pPr>
            <a:r>
              <a:rPr sz="2000">
                <a:solidFill>
                  <a:srgbClr val="222B33"/>
                </a:solidFill>
                <a:latin typeface="Microsoft YaHei"/>
              </a:rPr>
              <a:t>▪ 是什么、改过什么都清楚，风险好评估</a:t>
            </a:r>
          </a:p>
          <a:p>
            <a:pPr>
              <a:spcAft>
                <a:spcPts val="1000"/>
              </a:spcAft>
            </a:pPr>
            <a:r>
              <a:rPr sz="2000">
                <a:solidFill>
                  <a:srgbClr val="222B33"/>
                </a:solidFill>
                <a:latin typeface="Microsoft YaHei"/>
              </a:rPr>
              <a:t>▪ 病人样本可能不止一种病原，事先说不准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实验室收到的生物材料大体有两类。一类是研究人员送来的纯培养物：是哪种病原、哪个株、做过什么改造，都有记录，可以对照目录和资料做风险评估（见第 067、068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只按申请单上的检测项目估计风险</a:t>
            </a:r>
          </a:p>
          <a:p>
            <a:pPr>
              <a:spcAft>
                <a:spcPts val="1000"/>
              </a:spcAft>
            </a:pPr>
            <a:r>
              <a:rPr sz="1500">
                <a:solidFill>
                  <a:srgbClr val="222B33"/>
                </a:solidFill>
                <a:latin typeface="Microsoft YaHei"/>
              </a:rPr>
              <a:t>▪ 把病人样本当成“只含目标病原”的样品</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一律按有传染性对待，再评估定级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每一管临床样本都按有传染性对待</a:t>
            </a:r>
          </a:p>
          <a:p>
            <a:pPr>
              <a:spcAft>
                <a:spcPts val="1000"/>
              </a:spcAft>
            </a:pPr>
            <a:r>
              <a:rPr sz="1700">
                <a:solidFill>
                  <a:srgbClr val="222B33"/>
                </a:solidFill>
                <a:latin typeface="Microsoft YaHei"/>
              </a:rPr>
              <a:t>▪ 再查病原目录、做风险评估，定实验室级别</a:t>
            </a:r>
          </a:p>
          <a:p>
            <a:pPr>
              <a:spcAft>
                <a:spcPts val="1000"/>
              </a:spcAft>
            </a:pPr>
            <a:r>
              <a:rPr sz="1700">
                <a:solidFill>
                  <a:srgbClr val="222B33"/>
                </a:solidFill>
                <a:latin typeface="Microsoft YaHei"/>
              </a:rPr>
              <a:t>▪ 国内第一类最危险，别和国际编号弄反</a:t>
            </a:r>
          </a:p>
          <a:p>
            <a:pPr>
              <a:spcAft>
                <a:spcPts val="1000"/>
              </a:spcAft>
            </a:pPr>
            <a:r>
              <a:rPr sz="1700">
                <a:solidFill>
                  <a:srgbClr val="222B33"/>
                </a:solidFill>
                <a:latin typeface="Microsoft YaHei"/>
              </a:rPr>
              <a:t>▪ 看采样单；没症状也可能带菌，别大意</a:t>
            </a:r>
          </a:p>
          <a:p>
            <a:pPr>
              <a:spcAft>
                <a:spcPts val="1000"/>
              </a:spcAft>
            </a:pPr>
            <a:r>
              <a:rPr sz="1700">
                <a:solidFill>
                  <a:srgbClr val="222B33"/>
                </a:solidFill>
                <a:latin typeface="Microsoft YaHei"/>
              </a:rPr>
              <a:t>▪ 血样防溅防扎；已知未知一样管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样本“看着正常”“申请单写的是普通项目”就放松防护</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污水等环境样本也按感染性对待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污水尤其医院污水可能含病原</a:t>
            </a:r>
          </a:p>
          <a:p>
            <a:pPr>
              <a:spcAft>
                <a:spcPts val="1000"/>
              </a:spcAft>
            </a:pPr>
            <a:r>
              <a:rPr sz="2000">
                <a:solidFill>
                  <a:srgbClr val="222B33"/>
                </a:solidFill>
                <a:latin typeface="Microsoft YaHei"/>
              </a:rPr>
              <a:t>▪ 戴手套取样，瓶盖拧紧，做完洗手</a:t>
            </a:r>
          </a:p>
          <a:p>
            <a:pPr>
              <a:spcAft>
                <a:spcPts val="1000"/>
              </a:spcAft>
            </a:pPr>
            <a:r>
              <a:rPr sz="2000">
                <a:solidFill>
                  <a:srgbClr val="222B33"/>
                </a:solidFill>
                <a:latin typeface="Microsoft YaHei"/>
              </a:rPr>
              <a:t>▪ 不在开放台面上直接倾倒</a:t>
            </a:r>
          </a:p>
          <a:p>
            <a:pPr>
              <a:spcAft>
                <a:spcPts val="1000"/>
              </a:spcAft>
            </a:pPr>
            <a:r>
              <a:rPr sz="2000">
                <a:solidFill>
                  <a:srgbClr val="222B33"/>
                </a:solidFill>
                <a:latin typeface="Microsoft YaHei"/>
              </a:rPr>
              <a:t>▪ 评估后一般在二级实验室操作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污水、污泥、医院污水以及其他可能受人畜排泄物污染的环境样本，可能含有多种病原菌和病毒，同样按有感染性的样本对待，不能当成“普通水样”。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把污水样本当普通水样在开放台面上倒来倒去</a:t>
            </a:r>
          </a:p>
          <a:p>
            <a:pPr>
              <a:spcAft>
                <a:spcPts val="1000"/>
              </a:spcAft>
            </a:pPr>
            <a:r>
              <a:rPr sz="1500">
                <a:solidFill>
                  <a:srgbClr val="222B33"/>
                </a:solidFill>
                <a:latin typeface="Microsoft YaHei"/>
              </a:rPr>
              <a:t>▪ 采样后不洗手就吃东西</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保存液：生物、化学两头防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有的样本泡在化学保存液里</a:t>
            </a:r>
          </a:p>
          <a:p>
            <a:pPr>
              <a:spcAft>
                <a:spcPts val="1000"/>
              </a:spcAft>
            </a:pPr>
            <a:r>
              <a:rPr sz="2000">
                <a:solidFill>
                  <a:srgbClr val="222B33"/>
                </a:solidFill>
                <a:latin typeface="Microsoft YaHei"/>
              </a:rPr>
              <a:t>▪ 查随附的化学品安全技术说明书</a:t>
            </a:r>
          </a:p>
          <a:p>
            <a:pPr>
              <a:spcAft>
                <a:spcPts val="1000"/>
              </a:spcAft>
            </a:pPr>
            <a:r>
              <a:rPr sz="2000">
                <a:solidFill>
                  <a:srgbClr val="222B33"/>
                </a:solidFill>
                <a:latin typeface="Microsoft YaHei"/>
              </a:rPr>
              <a:t>▪ 生物风险、化学风险两头都防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有些样本泡在化学保存液或固定液里（例如组织固定液、含裂解或灭活成分的保存液），这时样本既有生物风险，也有化学风险（刺激、腐蚀、毒性等）。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只防生物风险，忽视保存液的化学危害</a:t>
            </a:r>
          </a:p>
          <a:p>
            <a:pPr>
              <a:spcAft>
                <a:spcPts val="1000"/>
              </a:spcAft>
            </a:pPr>
            <a:r>
              <a:rPr sz="1500">
                <a:solidFill>
                  <a:srgbClr val="222B33"/>
                </a:solidFill>
                <a:latin typeface="Microsoft YaHei"/>
              </a:rPr>
              <a:t>▪ 认为泡在保存液里的样本一定已经没有传染性</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拆包：先防护，查渗漏，外包装消毒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拆包前先穿戴好防护，不光着手拆箱</a:t>
            </a:r>
          </a:p>
          <a:p>
            <a:pPr>
              <a:spcAft>
                <a:spcPts val="1000"/>
              </a:spcAft>
            </a:pPr>
            <a:r>
              <a:rPr sz="1700">
                <a:solidFill>
                  <a:srgbClr val="222B33"/>
                </a:solidFill>
                <a:latin typeface="Microsoft YaHei"/>
              </a:rPr>
              <a:t>▪ 在指定台面拆，备好吸水垫和消毒剂</a:t>
            </a:r>
          </a:p>
          <a:p>
            <a:pPr>
              <a:spcAft>
                <a:spcPts val="1000"/>
              </a:spcAft>
            </a:pPr>
            <a:r>
              <a:rPr sz="1700">
                <a:solidFill>
                  <a:srgbClr val="222B33"/>
                </a:solidFill>
                <a:latin typeface="Microsoft YaHei"/>
              </a:rPr>
              <a:t>▪ 开箱前查渗漏破损；漏了别硬拆，封好报告</a:t>
            </a:r>
          </a:p>
          <a:p>
            <a:pPr>
              <a:spcAft>
                <a:spcPts val="1000"/>
              </a:spcAft>
            </a:pPr>
            <a:r>
              <a:rPr sz="1700">
                <a:solidFill>
                  <a:srgbClr val="222B33"/>
                </a:solidFill>
                <a:latin typeface="Microsoft YaHei"/>
              </a:rPr>
              <a:t>▪ 外包装先消毒，等够作用时间再开</a:t>
            </a:r>
          </a:p>
          <a:p>
            <a:pPr>
              <a:spcAft>
                <a:spcPts val="1000"/>
              </a:spcAft>
            </a:pPr>
            <a:r>
              <a:rPr sz="1700">
                <a:solidFill>
                  <a:srgbClr val="222B33"/>
                </a:solidFill>
                <a:latin typeface="Microsoft YaHei"/>
              </a:rPr>
              <a:t>▪ 内层袋拿到生物安全柜里再开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样本箱送到后，拆包前先穿戴好实验服或隔离衣、手套和护目镜，在指定的接收台面上操作，铺好吸水垫，备好消毒剂、生物危害废物袋和溢洒处理包。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光着手在普通办公桌上拆样本箱</a:t>
            </a:r>
          </a:p>
          <a:p>
            <a:pPr>
              <a:spcAft>
                <a:spcPts val="1000"/>
              </a:spcAft>
            </a:pPr>
            <a:r>
              <a:rPr sz="1500">
                <a:solidFill>
                  <a:srgbClr val="222B33"/>
                </a:solidFill>
                <a:latin typeface="Microsoft YaHei"/>
              </a:rPr>
              <a:t>▪ 发现箱子湿了还继续拆开查看</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核对登记，不合格样本拒收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逐管核对样本、申请单和送样清单</a:t>
            </a:r>
          </a:p>
          <a:p>
            <a:pPr>
              <a:spcAft>
                <a:spcPts val="1000"/>
              </a:spcAft>
            </a:pPr>
            <a:r>
              <a:rPr sz="2000">
                <a:solidFill>
                  <a:srgbClr val="222B33"/>
                </a:solidFill>
                <a:latin typeface="Microsoft YaHei"/>
              </a:rPr>
              <a:t>▪ 样本一到就登记，电脑纸本各一份</a:t>
            </a:r>
          </a:p>
          <a:p>
            <a:pPr>
              <a:spcAft>
                <a:spcPts val="1000"/>
              </a:spcAft>
            </a:pPr>
            <a:r>
              <a:rPr sz="2000">
                <a:solidFill>
                  <a:srgbClr val="222B33"/>
                </a:solidFill>
                <a:latin typeface="Microsoft YaHei"/>
              </a:rPr>
              <a:t>▪ 没标签、对不上、破损的拒收或隔离</a:t>
            </a:r>
          </a:p>
          <a:p>
            <a:pPr>
              <a:spcAft>
                <a:spcPts val="1000"/>
              </a:spcAft>
            </a:pPr>
            <a:r>
              <a:rPr sz="2000">
                <a:solidFill>
                  <a:srgbClr val="222B33"/>
                </a:solidFill>
                <a:latin typeface="Microsoft YaHei"/>
              </a:rPr>
              <a:t>▪ 单独隔离、登记，联系送检方，别自己猜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先做检测，事后再补登记</a:t>
            </a:r>
          </a:p>
          <a:p>
            <a:pPr>
              <a:spcAft>
                <a:spcPts val="1000"/>
              </a:spcAft>
            </a:pPr>
            <a:r>
              <a:rPr sz="1500">
                <a:solidFill>
                  <a:srgbClr val="222B33"/>
                </a:solidFill>
                <a:latin typeface="Microsoft YaHei"/>
              </a:rPr>
              <a:t>▪ 标签模糊时凭印象补写编号</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编号代替姓名，信息保密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每份样本编号，代替病人姓名</a:t>
            </a:r>
          </a:p>
          <a:p>
            <a:pPr>
              <a:spcAft>
                <a:spcPts val="1000"/>
              </a:spcAft>
            </a:pPr>
            <a:r>
              <a:rPr sz="1700">
                <a:solidFill>
                  <a:srgbClr val="222B33"/>
                </a:solidFill>
                <a:latin typeface="Microsoft YaHei"/>
              </a:rPr>
              <a:t>▪ 编号对照表锁好，专人保管</a:t>
            </a:r>
          </a:p>
          <a:p>
            <a:pPr>
              <a:spcAft>
                <a:spcPts val="1000"/>
              </a:spcAft>
            </a:pPr>
            <a:r>
              <a:rPr sz="1700">
                <a:solidFill>
                  <a:srgbClr val="222B33"/>
                </a:solidFill>
                <a:latin typeface="Microsoft YaHei"/>
              </a:rPr>
              <a:t>▪ 电子数据放在安全的服务器上</a:t>
            </a:r>
          </a:p>
          <a:p>
            <a:pPr>
              <a:spcAft>
                <a:spcPts val="1000"/>
              </a:spcAft>
            </a:pPr>
            <a:r>
              <a:rPr sz="1700">
                <a:solidFill>
                  <a:srgbClr val="222B33"/>
                </a:solidFill>
                <a:latin typeface="Microsoft YaHei"/>
              </a:rPr>
              <a:t>▪ 病人信息不外传，不拍照</a:t>
            </a:r>
          </a:p>
          <a:p>
            <a:pPr>
              <a:spcAft>
                <a:spcPts val="1000"/>
              </a:spcAft>
            </a:pPr>
            <a:r>
              <a:rPr sz="1700">
                <a:solidFill>
                  <a:srgbClr val="222B33"/>
                </a:solidFill>
                <a:latin typeface="Microsoft YaHei"/>
              </a:rPr>
              <a:t>▪ 用于研究，按规定办好审查手续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病人的健康信息属于敏感个人信息，受《中华人民共和国个人信息保护法》保护。样本登记后，用实验室编号代替病人姓名，样本管和工作记录上只写编号。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在样本管上直接写病人姓名</a:t>
            </a:r>
          </a:p>
          <a:p>
            <a:pPr>
              <a:spcAft>
                <a:spcPts val="1000"/>
              </a:spcAft>
            </a:pPr>
            <a:r>
              <a:rPr sz="1500">
                <a:solidFill>
                  <a:srgbClr val="222B33"/>
                </a:solidFill>
                <a:latin typeface="Microsoft YaHei"/>
              </a:rPr>
              <a:t>▪ 把带病人信息的申请单拍照发到群里</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柜内开管：静置、垫纸、慢拧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病人样本不在开放台面上开管</a:t>
            </a:r>
          </a:p>
          <a:p>
            <a:pPr>
              <a:spcAft>
                <a:spcPts val="1000"/>
              </a:spcAft>
            </a:pPr>
            <a:r>
              <a:rPr sz="1700">
                <a:solidFill>
                  <a:srgbClr val="222B33"/>
                </a:solidFill>
                <a:latin typeface="Microsoft YaHei"/>
              </a:rPr>
              <a:t>▪ 一律在生物安全柜里开，穿好防护</a:t>
            </a:r>
          </a:p>
          <a:p>
            <a:pPr>
              <a:spcAft>
                <a:spcPts val="1000"/>
              </a:spcAft>
            </a:pPr>
            <a:r>
              <a:rPr sz="1700">
                <a:solidFill>
                  <a:srgbClr val="222B33"/>
                </a:solidFill>
                <a:latin typeface="Microsoft YaHei"/>
              </a:rPr>
              <a:t>▪ 开盖前先静置一会儿</a:t>
            </a:r>
          </a:p>
          <a:p>
            <a:pPr>
              <a:spcAft>
                <a:spcPts val="1000"/>
              </a:spcAft>
            </a:pPr>
            <a:r>
              <a:rPr sz="1700">
                <a:solidFill>
                  <a:srgbClr val="222B33"/>
                </a:solidFill>
                <a:latin typeface="Microsoft YaHei"/>
              </a:rPr>
              <a:t>▪ 消毒液纸巾包住管盖，慢慢拧开</a:t>
            </a:r>
          </a:p>
          <a:p>
            <a:pPr>
              <a:spcAft>
                <a:spcPts val="1000"/>
              </a:spcAft>
            </a:pPr>
            <a:r>
              <a:rPr sz="1700">
                <a:solidFill>
                  <a:srgbClr val="222B33"/>
                </a:solidFill>
                <a:latin typeface="Microsoft YaHei"/>
              </a:rPr>
              <a:t>▪ 甩管、硬拔都会溅出气溶胶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打开临床样本管必须在生物安全柜内进行，穿好实验服或隔离衣、手套等防护，照操作规程一步步做（生物安全柜的使用见第 072 课）。不能在开放的台面上开管。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为了省事在台面上拔开管盖</a:t>
            </a:r>
          </a:p>
          <a:p>
            <a:pPr>
              <a:spcAft>
                <a:spcPts val="1000"/>
              </a:spcAft>
            </a:pPr>
            <a:r>
              <a:rPr sz="1500">
                <a:solidFill>
                  <a:srgbClr val="222B33"/>
                </a:solidFill>
                <a:latin typeface="Microsoft YaHei"/>
              </a:rPr>
              <a:t>▪ 管盖粘紧时用力猛拔</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四类检测，各按风险定场所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主要四类：分离培养、血清学、核酸检测、显微镜检</a:t>
            </a:r>
          </a:p>
          <a:p>
            <a:pPr>
              <a:spcAft>
                <a:spcPts val="1000"/>
              </a:spcAft>
            </a:pPr>
            <a:r>
              <a:rPr sz="2000">
                <a:solidFill>
                  <a:srgbClr val="222B33"/>
                </a:solidFill>
                <a:latin typeface="Microsoft YaHei"/>
              </a:rPr>
              <a:t>▪ 离心用密封杯，停稳静置到柜里开</a:t>
            </a:r>
          </a:p>
          <a:p>
            <a:pPr>
              <a:spcAft>
                <a:spcPts val="1000"/>
              </a:spcAft>
            </a:pPr>
            <a:r>
              <a:rPr sz="2000">
                <a:solidFill>
                  <a:srgbClr val="222B33"/>
                </a:solidFill>
                <a:latin typeface="Microsoft YaHei"/>
              </a:rPr>
              <a:t>▪ 按目录在相应级别实验室做</a:t>
            </a:r>
          </a:p>
          <a:p>
            <a:pPr>
              <a:spcAft>
                <a:spcPts val="1000"/>
              </a:spcAft>
            </a:pPr>
            <a:r>
              <a:rPr sz="2000">
                <a:solidFill>
                  <a:srgbClr val="222B33"/>
                </a:solidFill>
                <a:latin typeface="Microsoft YaHei"/>
              </a:rPr>
              <a:t>▪ 高风险的须经批准，学生不能碰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临床样本的检测主要有四类：一是分离培养，把样本中的病原分离出来；二是血清学检测，看抗原抗体反应；三是核酸检测，提取核酸后扩增检测；四是显微镜检查。不同检测的风险不同，培养风险最高（见 K11）。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离心感染性样本用不带盖的离心管</a:t>
            </a:r>
          </a:p>
          <a:p>
            <a:pPr>
              <a:spcAft>
                <a:spcPts val="1000"/>
              </a:spcAft>
            </a:pPr>
            <a:r>
              <a:rPr sz="1500">
                <a:solidFill>
                  <a:srgbClr val="222B33"/>
                </a:solidFill>
                <a:latin typeface="Microsoft YaHei"/>
              </a:rPr>
              <a:t>▪ 离心停止后马上在台面上打开</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要培养的：最严防护，疑似高致病不擅自做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样本进实验室分两条路：培养或做核酸</a:t>
            </a:r>
          </a:p>
          <a:p>
            <a:pPr>
              <a:spcAft>
                <a:spcPts val="1000"/>
              </a:spcAft>
            </a:pPr>
            <a:r>
              <a:rPr sz="1700">
                <a:solidFill>
                  <a:srgbClr val="222B33"/>
                </a:solidFill>
                <a:latin typeface="Microsoft YaHei"/>
              </a:rPr>
              <a:t>▪ 要培养的，病原会越养越多</a:t>
            </a:r>
          </a:p>
          <a:p>
            <a:pPr>
              <a:spcAft>
                <a:spcPts val="1000"/>
              </a:spcAft>
            </a:pPr>
            <a:r>
              <a:rPr sz="1700">
                <a:solidFill>
                  <a:srgbClr val="222B33"/>
                </a:solidFill>
                <a:latin typeface="Microsoft YaHei"/>
              </a:rPr>
              <a:t>▪ 按活培养物评估，防护做到最严</a:t>
            </a:r>
          </a:p>
          <a:p>
            <a:pPr>
              <a:spcAft>
                <a:spcPts val="1000"/>
              </a:spcAft>
            </a:pPr>
            <a:r>
              <a:rPr sz="1700">
                <a:solidFill>
                  <a:srgbClr val="222B33"/>
                </a:solidFill>
                <a:latin typeface="Microsoft YaHei"/>
              </a:rPr>
              <a:t>▪ 芽孢、经空气传播的，措施要选对</a:t>
            </a:r>
          </a:p>
          <a:p>
            <a:pPr>
              <a:spcAft>
                <a:spcPts val="1000"/>
              </a:spcAft>
            </a:pPr>
            <a:r>
              <a:rPr sz="1700">
                <a:solidFill>
                  <a:srgbClr val="222B33"/>
                </a:solidFill>
                <a:latin typeface="Microsoft YaHei"/>
              </a:rPr>
              <a:t>▪ 疑似高致病的不擅自培养，立即报告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进了实验室，大体分两条路：一条是要分离培养病原的，一条是直接做核酸等检测的。两条路的风险不同，国内病原目录也对“病原培养”和“未经培养的感染材料操作”“灭活材料操作”分别规定了所需的实验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把培养物当成和原始样本一样的风险</a:t>
            </a:r>
          </a:p>
          <a:p>
            <a:pPr>
              <a:spcAft>
                <a:spcPts val="1000"/>
              </a:spcAft>
            </a:pPr>
            <a:r>
              <a:rPr sz="1500">
                <a:solidFill>
                  <a:srgbClr val="222B33"/>
                </a:solidFill>
                <a:latin typeface="Microsoft YaHei"/>
              </a:rPr>
              <a:t>▪ 发现可疑结果后自行扩大培养“确认一下”</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做核酸的：先灭活，确认后出柜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做核酸检测的，先灭活</a:t>
            </a:r>
          </a:p>
          <a:p>
            <a:pPr>
              <a:spcAft>
                <a:spcPts val="1000"/>
              </a:spcAft>
            </a:pPr>
            <a:r>
              <a:rPr sz="1700">
                <a:solidFill>
                  <a:srgbClr val="222B33"/>
                </a:solidFill>
                <a:latin typeface="Microsoft YaHei"/>
              </a:rPr>
              <a:t>▪ 怎么灭活，按规程和试剂说明书</a:t>
            </a:r>
          </a:p>
          <a:p>
            <a:pPr>
              <a:spcAft>
                <a:spcPts val="1000"/>
              </a:spcAft>
            </a:pPr>
            <a:r>
              <a:rPr sz="1700">
                <a:solidFill>
                  <a:srgbClr val="222B33"/>
                </a:solidFill>
                <a:latin typeface="Microsoft YaHei"/>
              </a:rPr>
              <a:t>▪ 既要灭活，又要保住检测成分</a:t>
            </a:r>
          </a:p>
          <a:p>
            <a:pPr>
              <a:spcAft>
                <a:spcPts val="1000"/>
              </a:spcAft>
            </a:pPr>
            <a:r>
              <a:rPr sz="1700">
                <a:solidFill>
                  <a:srgbClr val="222B33"/>
                </a:solidFill>
                <a:latin typeface="Microsoft YaHei"/>
              </a:rPr>
              <a:t>▪ 灭活方法要验证；贴标识、外壁消毒后出柜</a:t>
            </a:r>
          </a:p>
          <a:p>
            <a:pPr>
              <a:spcAft>
                <a:spcPts val="1000"/>
              </a:spcAft>
            </a:pPr>
            <a:r>
              <a:rPr sz="1700">
                <a:solidFill>
                  <a:srgbClr val="222B33"/>
                </a:solidFill>
                <a:latin typeface="Microsoft YaHei"/>
              </a:rPr>
              <a:t>▪ 每一步写进方案，步骤风险也评估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核酸检测的样本，开管后先灭活，让病原失去感染力，再往下做提取。怎么灭活（加热、化学裂解等），按该病原的操作规程和试剂说明书进行；原片中的具体条件是当时的做法，以现行规定和试剂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灭活没完成就把样本拿出生物安全柜</a:t>
            </a:r>
          </a:p>
          <a:p>
            <a:pPr>
              <a:spcAft>
                <a:spcPts val="1000"/>
              </a:spcAft>
            </a:pPr>
            <a:r>
              <a:rPr sz="1500">
                <a:solidFill>
                  <a:srgbClr val="222B33"/>
                </a:solidFill>
                <a:latin typeface="Microsoft YaHei"/>
              </a:rPr>
              <a:t>▪ 照搬网上或旧文献的灭活条件，不做验证</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核酸提取在柜内，防离心气溶胶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灭活后提取核酸，也在柜里做</a:t>
            </a:r>
          </a:p>
          <a:p>
            <a:pPr>
              <a:spcAft>
                <a:spcPts val="1000"/>
              </a:spcAft>
            </a:pPr>
            <a:r>
              <a:rPr sz="1700">
                <a:solidFill>
                  <a:srgbClr val="222B33"/>
                </a:solidFill>
                <a:latin typeface="Microsoft YaHei"/>
              </a:rPr>
              <a:t>▪ 提取要离心，会产生气溶胶</a:t>
            </a:r>
          </a:p>
          <a:p>
            <a:pPr>
              <a:spcAft>
                <a:spcPts val="1000"/>
              </a:spcAft>
            </a:pPr>
            <a:r>
              <a:rPr sz="1700">
                <a:solidFill>
                  <a:srgbClr val="222B33"/>
                </a:solidFill>
                <a:latin typeface="Microsoft YaHei"/>
              </a:rPr>
              <a:t>▪ 用自动化提取仪能减少气溶胶</a:t>
            </a:r>
          </a:p>
          <a:p>
            <a:pPr>
              <a:spcAft>
                <a:spcPts val="1000"/>
              </a:spcAft>
            </a:pPr>
            <a:r>
              <a:rPr sz="1700">
                <a:solidFill>
                  <a:srgbClr val="222B33"/>
                </a:solidFill>
                <a:latin typeface="Microsoft YaHei"/>
              </a:rPr>
              <a:t>▪ 提出的核酸本身风险很小</a:t>
            </a:r>
          </a:p>
          <a:p>
            <a:pPr>
              <a:spcAft>
                <a:spcPts val="1000"/>
              </a:spcAft>
            </a:pPr>
            <a:r>
              <a:rPr sz="1700">
                <a:solidFill>
                  <a:srgbClr val="222B33"/>
                </a:solidFill>
                <a:latin typeface="Microsoft YaHei"/>
              </a:rPr>
              <a:t>▪ RNA 不稳定：尽快处理，提完上冰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提取病毒核酸已是常规工作，但同样必须遵守生物安全规程，在相应级别的实验室进行。灭活后的核酸提取也在生物安全柜内操作，开管、加样产生的气溶胶留在柜内。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认为“已经加了裂解液”就可以在柜外随便操作</a:t>
            </a:r>
          </a:p>
          <a:p>
            <a:pPr>
              <a:spcAft>
                <a:spcPts val="1000"/>
              </a:spcAft>
            </a:pPr>
            <a:r>
              <a:rPr sz="1500">
                <a:solidFill>
                  <a:srgbClr val="222B33"/>
                </a:solidFill>
                <a:latin typeface="Microsoft YaHei"/>
              </a:rPr>
              <a:t>▪ 离心后在柜外直接打开离心管</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卡盒式自动提取：认识仪器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卡盒式提取仪全程在机器里完成</a:t>
            </a:r>
          </a:p>
          <a:p>
            <a:pPr>
              <a:spcAft>
                <a:spcPts val="1000"/>
              </a:spcAft>
            </a:pPr>
            <a:r>
              <a:rPr sz="1700">
                <a:solidFill>
                  <a:srgbClr val="222B33"/>
                </a:solidFill>
                <a:latin typeface="Microsoft YaHei"/>
              </a:rPr>
              <a:t>▪ 卡盒有样本孔、试剂孔和收集孔</a:t>
            </a:r>
          </a:p>
          <a:p>
            <a:pPr>
              <a:spcAft>
                <a:spcPts val="1000"/>
              </a:spcAft>
            </a:pPr>
            <a:r>
              <a:rPr sz="1700">
                <a:solidFill>
                  <a:srgbClr val="222B33"/>
                </a:solidFill>
                <a:latin typeface="Microsoft YaHei"/>
              </a:rPr>
              <a:t>▪ 磁力板把磁珠吸到底；内有磁棒和加热块</a:t>
            </a:r>
          </a:p>
          <a:p>
            <a:pPr>
              <a:spcAft>
                <a:spcPts val="1000"/>
              </a:spcAft>
            </a:pPr>
            <a:r>
              <a:rPr sz="1700">
                <a:solidFill>
                  <a:srgbClr val="222B33"/>
                </a:solidFill>
                <a:latin typeface="Microsoft YaHei"/>
              </a:rPr>
              <a:t>▪ 校准交给专业人员，别自己动</a:t>
            </a:r>
          </a:p>
          <a:p>
            <a:pPr>
              <a:spcAft>
                <a:spcPts val="1000"/>
              </a:spcAft>
            </a:pPr>
            <a:r>
              <a:rPr sz="1700">
                <a:solidFill>
                  <a:srgbClr val="222B33"/>
                </a:solidFill>
                <a:latin typeface="Microsoft YaHei"/>
              </a:rPr>
              <a:t>▪ 学会步骤，到相应实验室实际操作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卡盒式自动核酸提取仪使用预先封装好试剂的卡盒（样本板），裂解、磁珠捕获、洗涤和洗脱全过程都在机器内完成，减少手工操作和气溶胶。不同仪器的卡盒规格（每排孔数、排数、一次可放几块）不同，以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自行打开仪器内部或调整校准</a:t>
            </a:r>
          </a:p>
          <a:p>
            <a:pPr>
              <a:spcAft>
                <a:spcPts val="1000"/>
              </a:spcAft>
            </a:pPr>
            <a:r>
              <a:rPr sz="1500">
                <a:solidFill>
                  <a:srgbClr val="222B33"/>
                </a:solidFill>
                <a:latin typeface="Microsoft YaHei"/>
              </a:rPr>
              <a:t>▪ 在普通办公室里用仪器处理真实样本</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装板、选程序，确认到位再启动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专用条装进卡槽，每条都锁紧</a:t>
            </a:r>
          </a:p>
          <a:p>
            <a:pPr>
              <a:spcAft>
                <a:spcPts val="1000"/>
              </a:spcAft>
            </a:pPr>
            <a:r>
              <a:rPr sz="1700">
                <a:solidFill>
                  <a:srgbClr val="222B33"/>
                </a:solidFill>
                <a:latin typeface="Microsoft YaHei"/>
              </a:rPr>
              <a:t>▪ 在柜里加样，试剂孔用时再撕膜</a:t>
            </a:r>
          </a:p>
          <a:p>
            <a:pPr>
              <a:spcAft>
                <a:spcPts val="1000"/>
              </a:spcAft>
            </a:pPr>
            <a:r>
              <a:rPr sz="1700">
                <a:solidFill>
                  <a:srgbClr val="222B33"/>
                </a:solidFill>
                <a:latin typeface="Microsoft YaHei"/>
              </a:rPr>
              <a:t>▪ 选提取、选程序见对勾，再选对应试剂盒</a:t>
            </a:r>
          </a:p>
          <a:p>
            <a:pPr>
              <a:spcAft>
                <a:spcPts val="1000"/>
              </a:spcAft>
            </a:pPr>
            <a:r>
              <a:rPr sz="1700">
                <a:solidFill>
                  <a:srgbClr val="222B33"/>
                </a:solidFill>
                <a:latin typeface="Microsoft YaHei"/>
              </a:rPr>
              <a:t>▪ 装几块卡盒就开几块加热块</a:t>
            </a:r>
          </a:p>
          <a:p>
            <a:pPr>
              <a:spcAft>
                <a:spcPts val="1000"/>
              </a:spcAft>
            </a:pPr>
            <a:r>
              <a:rPr sz="1700">
                <a:solidFill>
                  <a:srgbClr val="222B33"/>
                </a:solidFill>
                <a:latin typeface="Microsoft YaHei"/>
              </a:rPr>
              <a:t>▪ 启动前确认放平到位，放歪会洒样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操作顺序：先把专用条装进各自的卡槽，每一条都锁紧；在生物安全柜内把样本加入样本孔，试剂孔预先用膜封好（运输时不洒），用时再撕膜；加好样后，把整块样本板平稳推进仪器。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专用条没锁紧、卡盒没放平就启动</a:t>
            </a:r>
          </a:p>
          <a:p>
            <a:pPr>
              <a:spcAft>
                <a:spcPts val="1000"/>
              </a:spcAft>
            </a:pPr>
            <a:r>
              <a:rPr sz="1500">
                <a:solidFill>
                  <a:srgbClr val="222B33"/>
                </a:solidFill>
                <a:latin typeface="Microsoft YaHei"/>
              </a:rPr>
              <a:t>▪ 运行中途打开前门查看</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荧光定量检测与判读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提取物最后上荧光定量仪检测</a:t>
            </a:r>
          </a:p>
          <a:p>
            <a:pPr>
              <a:spcAft>
                <a:spcPts val="1000"/>
              </a:spcAft>
            </a:pPr>
            <a:r>
              <a:rPr sz="2000">
                <a:solidFill>
                  <a:srgbClr val="222B33"/>
                </a:solidFill>
                <a:latin typeface="Microsoft YaHei"/>
              </a:rPr>
              <a:t>▪ RNA 先逆转录，再边扩增边读荧光</a:t>
            </a:r>
          </a:p>
          <a:p>
            <a:pPr>
              <a:spcAft>
                <a:spcPts val="1000"/>
              </a:spcAft>
            </a:pPr>
            <a:r>
              <a:rPr sz="2000">
                <a:solidFill>
                  <a:srgbClr val="222B33"/>
                </a:solidFill>
                <a:latin typeface="Microsoft YaHei"/>
              </a:rPr>
              <a:t>▪ 引物对准几段关键基因</a:t>
            </a:r>
          </a:p>
          <a:p>
            <a:pPr>
              <a:spcAft>
                <a:spcPts val="1000"/>
              </a:spcAft>
            </a:pPr>
            <a:r>
              <a:rPr sz="2000">
                <a:solidFill>
                  <a:srgbClr val="222B33"/>
                </a:solidFill>
                <a:latin typeface="Microsoft YaHei"/>
              </a:rPr>
              <a:t>▪ 各基因拷贝数不同，判读要考虑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提取好的核酸上荧光定量 PCR 仪检测，判断样本里有没有目标病原。仪器会给出扩增曲线，告诉我们目标是否存在。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只看一个靶标的曲线就下结论</a:t>
            </a:r>
          </a:p>
          <a:p>
            <a:pPr>
              <a:spcAft>
                <a:spcPts val="1000"/>
              </a:spcAft>
            </a:pPr>
            <a:r>
              <a:rPr sz="1500">
                <a:solidFill>
                  <a:srgbClr val="222B33"/>
                </a:solidFill>
                <a:latin typeface="Microsoft YaHei"/>
              </a:rPr>
              <a:t>▪ 扩增结束后在实验室里随意开盖</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核酸检测分区，单向流动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核酸检测实验室分成几个区</a:t>
            </a:r>
          </a:p>
          <a:p>
            <a:pPr>
              <a:spcAft>
                <a:spcPts val="1000"/>
              </a:spcAft>
            </a:pPr>
            <a:r>
              <a:rPr sz="2000">
                <a:solidFill>
                  <a:srgbClr val="222B33"/>
                </a:solidFill>
                <a:latin typeface="Microsoft YaHei"/>
              </a:rPr>
              <a:t>▪ 人和物品单向走，不走回头路</a:t>
            </a:r>
          </a:p>
          <a:p>
            <a:pPr>
              <a:spcAft>
                <a:spcPts val="1000"/>
              </a:spcAft>
            </a:pPr>
            <a:r>
              <a:rPr sz="2000">
                <a:solidFill>
                  <a:srgbClr val="222B33"/>
                </a:solidFill>
                <a:latin typeface="Microsoft YaHei"/>
              </a:rPr>
              <a:t>▪ 各区工作服和用品不混用</a:t>
            </a:r>
          </a:p>
          <a:p>
            <a:pPr>
              <a:spcAft>
                <a:spcPts val="1000"/>
              </a:spcAft>
            </a:pPr>
            <a:r>
              <a:rPr sz="2000">
                <a:solidFill>
                  <a:srgbClr val="222B33"/>
                </a:solidFill>
                <a:latin typeface="Microsoft YaHei"/>
              </a:rPr>
              <a:t>▪ 既防污染结果，也保护人员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从扩增区出来又回到样本制备区</a:t>
            </a:r>
          </a:p>
          <a:p>
            <a:pPr>
              <a:spcAft>
                <a:spcPts val="1000"/>
              </a:spcAft>
            </a:pPr>
            <a:r>
              <a:rPr sz="1500">
                <a:solidFill>
                  <a:srgbClr val="222B33"/>
                </a:solidFill>
                <a:latin typeface="Microsoft YaHei"/>
              </a:rPr>
              <a:t>▪ 穿着一个区的工作服到另一个区</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阳性结果及时报告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出现阳性结果，按规定及时报告</a:t>
            </a:r>
          </a:p>
          <a:p>
            <a:pPr>
              <a:spcAft>
                <a:spcPts val="1000"/>
              </a:spcAft>
            </a:pPr>
            <a:r>
              <a:rPr sz="2000">
                <a:solidFill>
                  <a:srgbClr val="222B33"/>
                </a:solidFill>
                <a:latin typeface="Microsoft YaHei"/>
              </a:rPr>
              <a:t>▪ 按国家规定和本校程序逐级上报</a:t>
            </a:r>
          </a:p>
          <a:p>
            <a:pPr>
              <a:spcAft>
                <a:spcPts val="1000"/>
              </a:spcAft>
            </a:pPr>
            <a:r>
              <a:rPr sz="2000">
                <a:solidFill>
                  <a:srgbClr val="222B33"/>
                </a:solidFill>
                <a:latin typeface="Microsoft YaHei"/>
              </a:rPr>
              <a:t>▪ 阳性样本单独保存，按要求移交</a:t>
            </a:r>
          </a:p>
          <a:p>
            <a:pPr>
              <a:spcAft>
                <a:spcPts val="1000"/>
              </a:spcAft>
            </a:pPr>
            <a:r>
              <a:rPr sz="2000">
                <a:solidFill>
                  <a:srgbClr val="222B33"/>
                </a:solidFill>
                <a:latin typeface="Microsoft YaHei"/>
              </a:rPr>
              <a:t>▪ 结果不私下外传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发现阳性后只在组里说一声，不按程序报告</a:t>
            </a:r>
          </a:p>
          <a:p>
            <a:pPr>
              <a:spcAft>
                <a:spcPts val="1000"/>
              </a:spcAft>
            </a:pPr>
            <a:r>
              <a:rPr sz="1500">
                <a:solidFill>
                  <a:srgbClr val="222B33"/>
                </a:solidFill>
                <a:latin typeface="Microsoft YaHei"/>
              </a:rPr>
              <a:t>▪ 把阳性样本和其他样本混放</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剩余样本：存要上锁，毁要登记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要留存的样本按条件存放，冰箱上锁</a:t>
            </a:r>
          </a:p>
          <a:p>
            <a:pPr>
              <a:spcAft>
                <a:spcPts val="1000"/>
              </a:spcAft>
            </a:pPr>
            <a:r>
              <a:rPr sz="2000">
                <a:solidFill>
                  <a:srgbClr val="222B33"/>
                </a:solidFill>
                <a:latin typeface="Microsoft YaHei"/>
              </a:rPr>
              <a:t>▪ 库存清楚，每一管都能追溯</a:t>
            </a:r>
          </a:p>
          <a:p>
            <a:pPr>
              <a:spcAft>
                <a:spcPts val="1000"/>
              </a:spcAft>
            </a:pPr>
            <a:r>
              <a:rPr sz="2000">
                <a:solidFill>
                  <a:srgbClr val="222B33"/>
                </a:solidFill>
                <a:latin typeface="Microsoft YaHei"/>
              </a:rPr>
              <a:t>▪ 不留的按感染性废物处置，不进普通垃圾</a:t>
            </a:r>
          </a:p>
          <a:p>
            <a:pPr>
              <a:spcAft>
                <a:spcPts val="1000"/>
              </a:spcAft>
            </a:pPr>
            <a:r>
              <a:rPr sz="2000">
                <a:solidFill>
                  <a:srgbClr val="222B33"/>
                </a:solidFill>
                <a:latin typeface="Microsoft YaHei"/>
              </a:rPr>
              <a:t>▪ 数量、去向都登记，账物相符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有的样本做完检测还要留着以后再分析。留存的样本按要求的条件（温度、容器、标识）存放在指定的冰箱或冻存设备中，设备上锁，专人管理。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样本放在不上锁的公共冰箱里，没人知道是谁的</a:t>
            </a:r>
          </a:p>
          <a:p>
            <a:pPr>
              <a:spcAft>
                <a:spcPts val="1000"/>
              </a:spcAft>
            </a:pPr>
            <a:r>
              <a:rPr sz="1500">
                <a:solidFill>
                  <a:srgbClr val="222B33"/>
                </a:solidFill>
                <a:latin typeface="Microsoft YaHei"/>
              </a:rPr>
              <a:t>▪ 用完的样本管直接丢进普通垃圾桶</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关于临床样本，下列说法正确的是：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申请单写的是普通检测项目，可以按无传染性处理</a:t>
            </a:r>
          </a:p>
          <a:p>
            <a:pPr algn="l"/>
            <a:r>
              <a:rPr sz="1500" b="0">
                <a:solidFill>
                  <a:srgbClr val="222B33"/>
                </a:solidFill>
                <a:latin typeface="Microsoft YaHei"/>
              </a:rPr>
              <a:t>B. 一律先按有传染性对待，再查病原目录、做风险评估确定防护级别</a:t>
            </a:r>
          </a:p>
          <a:p>
            <a:pPr algn="l"/>
            <a:r>
              <a:rPr sz="1500" b="0">
                <a:solidFill>
                  <a:srgbClr val="222B33"/>
                </a:solidFill>
                <a:latin typeface="Microsoft YaHei"/>
              </a:rPr>
              <a:t>C. 看起来正常的样本一般不含病原</a:t>
            </a:r>
          </a:p>
          <a:p>
            <a:pPr algn="l"/>
            <a:r>
              <a:rPr sz="1500" b="0">
                <a:solidFill>
                  <a:srgbClr val="222B33"/>
                </a:solidFill>
                <a:latin typeface="Microsoft YaHei"/>
              </a:rPr>
              <a:t>D. 泡在保存液里的样本一定已经灭活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判断：样本箱送到后发现外包装潮湿渗漏，应立即打开查看是哪一管漏了。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接收样本时发现一管没有标签，正确的做法是：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按顺序推断编号补写</a:t>
            </a:r>
          </a:p>
          <a:p>
            <a:pPr algn="l"/>
            <a:r>
              <a:rPr sz="1500" b="0">
                <a:solidFill>
                  <a:srgbClr val="222B33"/>
                </a:solidFill>
                <a:latin typeface="Microsoft YaHei"/>
              </a:rPr>
              <a:t>B. 拒收或单独隔离，登记原因，联系送检方</a:t>
            </a:r>
          </a:p>
          <a:p>
            <a:pPr algn="l"/>
            <a:r>
              <a:rPr sz="1500" b="0">
                <a:solidFill>
                  <a:srgbClr val="222B33"/>
                </a:solidFill>
                <a:latin typeface="Microsoft YaHei"/>
              </a:rPr>
              <a:t>C. 先检测再说</a:t>
            </a:r>
          </a:p>
          <a:p>
            <a:pPr algn="l"/>
            <a:r>
              <a:rPr sz="1500" b="0">
                <a:solidFill>
                  <a:srgbClr val="222B33"/>
                </a:solidFill>
                <a:latin typeface="Microsoft YaHei"/>
              </a:rPr>
              <a:t>D. 直接丢弃，不登记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做核酸检测的临床样本，下列流程正确的是：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台面上开管，加热后提取</a:t>
            </a:r>
          </a:p>
          <a:p>
            <a:pPr algn="l"/>
            <a:r>
              <a:rPr sz="1500" b="0">
                <a:solidFill>
                  <a:srgbClr val="222B33"/>
                </a:solidFill>
                <a:latin typeface="Microsoft YaHei"/>
              </a:rPr>
              <a:t>B. 生物安全柜内静置、垫纸慢拧开管，按验证过的方法灭活，贴标识、外壁消毒后出柜，再提取和定量检测</a:t>
            </a:r>
          </a:p>
          <a:p>
            <a:pPr algn="l"/>
            <a:r>
              <a:rPr sz="1500" b="0">
                <a:solidFill>
                  <a:srgbClr val="222B33"/>
                </a:solidFill>
                <a:latin typeface="Microsoft YaHei"/>
              </a:rPr>
              <a:t>C. 先培养扩增病原再提取</a:t>
            </a:r>
          </a:p>
          <a:p>
            <a:pPr algn="l"/>
            <a:r>
              <a:rPr sz="1500" b="0">
                <a:solidFill>
                  <a:srgbClr val="222B33"/>
                </a:solidFill>
                <a:latin typeface="Microsoft YaHei"/>
              </a:rPr>
              <a:t>D. 开管后直接拿到扩增区操作</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判断：检测中怀疑样本含高致病性病原微生物，可以先自行扩大培养确认后再报告。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简答：为什么样本要用编号代替病人姓名？剩余样本怎样管理？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临床样本：来源多，种类多</a:t>
            </a:r>
          </a:p>
          <a:p>
            <a:pPr>
              <a:spcAft>
                <a:spcPts val="800"/>
              </a:spcAft>
            </a:pPr>
            <a:r>
              <a:rPr sz="1500">
                <a:solidFill>
                  <a:srgbClr val="FFFFFF"/>
                </a:solidFill>
                <a:latin typeface="Microsoft YaHei"/>
              </a:rPr>
              <a:t>▪ K2  培养物底细清楚，病人样本说不准</a:t>
            </a:r>
          </a:p>
          <a:p>
            <a:pPr>
              <a:spcAft>
                <a:spcPts val="800"/>
              </a:spcAft>
            </a:pPr>
            <a:r>
              <a:rPr sz="1500">
                <a:solidFill>
                  <a:srgbClr val="FFFFFF"/>
                </a:solidFill>
                <a:latin typeface="Microsoft YaHei"/>
              </a:rPr>
              <a:t>▪ K3  一律按有传染性对待，再评估定级</a:t>
            </a:r>
          </a:p>
          <a:p>
            <a:pPr>
              <a:spcAft>
                <a:spcPts val="800"/>
              </a:spcAft>
            </a:pPr>
            <a:r>
              <a:rPr sz="1500">
                <a:solidFill>
                  <a:srgbClr val="FFFFFF"/>
                </a:solidFill>
                <a:latin typeface="Microsoft YaHei"/>
              </a:rPr>
              <a:t>▪ K4  污水等环境样本也按感染性对待</a:t>
            </a:r>
          </a:p>
          <a:p>
            <a:pPr>
              <a:spcAft>
                <a:spcPts val="800"/>
              </a:spcAft>
            </a:pPr>
            <a:r>
              <a:rPr sz="1500">
                <a:solidFill>
                  <a:srgbClr val="FFFFFF"/>
                </a:solidFill>
                <a:latin typeface="Microsoft YaHei"/>
              </a:rPr>
              <a:t>▪ K5  保存液：生物、化学两头防</a:t>
            </a:r>
          </a:p>
          <a:p>
            <a:pPr>
              <a:spcAft>
                <a:spcPts val="800"/>
              </a:spcAft>
            </a:pPr>
            <a:r>
              <a:rPr sz="1500">
                <a:solidFill>
                  <a:srgbClr val="FFFFFF"/>
                </a:solidFill>
                <a:latin typeface="Microsoft YaHei"/>
              </a:rPr>
              <a:t>▪ K6  拆包：先防护，查渗漏，外包装消毒</a:t>
            </a:r>
          </a:p>
          <a:p>
            <a:pPr>
              <a:spcAft>
                <a:spcPts val="800"/>
              </a:spcAft>
            </a:pPr>
            <a:r>
              <a:rPr sz="1500">
                <a:solidFill>
                  <a:srgbClr val="FFFFFF"/>
                </a:solidFill>
                <a:latin typeface="Microsoft YaHei"/>
              </a:rPr>
              <a:t>▪ K7  核对登记，不合格样本拒收</a:t>
            </a:r>
          </a:p>
          <a:p>
            <a:pPr>
              <a:spcAft>
                <a:spcPts val="800"/>
              </a:spcAft>
            </a:pPr>
            <a:r>
              <a:rPr sz="1500">
                <a:solidFill>
                  <a:srgbClr val="FFFFFF"/>
                </a:solidFill>
                <a:latin typeface="Microsoft YaHei"/>
              </a:rPr>
              <a:t>▪ K8  编号代替姓名，信息保密</a:t>
            </a:r>
          </a:p>
          <a:p>
            <a:pPr>
              <a:spcAft>
                <a:spcPts val="800"/>
              </a:spcAft>
            </a:pPr>
            <a:r>
              <a:rPr sz="1500">
                <a:solidFill>
                  <a:srgbClr val="FFFFFF"/>
                </a:solidFill>
                <a:latin typeface="Microsoft YaHei"/>
              </a:rPr>
              <a:t>▪ K9  柜内开管：静置、垫纸、慢拧</a:t>
            </a:r>
          </a:p>
          <a:p>
            <a:pPr>
              <a:spcAft>
                <a:spcPts val="800"/>
              </a:spcAft>
            </a:pPr>
            <a:r>
              <a:rPr sz="1500">
                <a:solidFill>
                  <a:srgbClr val="FFFFFF"/>
                </a:solidFill>
                <a:latin typeface="Microsoft YaHei"/>
              </a:rPr>
              <a:t>▪ K10  四类检测，各按风险定场所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要培养的：最严防护，疑似高致病不擅自做</a:t>
            </a:r>
          </a:p>
          <a:p>
            <a:pPr>
              <a:spcAft>
                <a:spcPts val="800"/>
              </a:spcAft>
            </a:pPr>
            <a:r>
              <a:rPr sz="1500">
                <a:solidFill>
                  <a:srgbClr val="FFFFFF"/>
                </a:solidFill>
                <a:latin typeface="Microsoft YaHei"/>
              </a:rPr>
              <a:t>▪ K12  做核酸的：先灭活，确认后出柜</a:t>
            </a:r>
          </a:p>
          <a:p>
            <a:pPr>
              <a:spcAft>
                <a:spcPts val="800"/>
              </a:spcAft>
            </a:pPr>
            <a:r>
              <a:rPr sz="1500">
                <a:solidFill>
                  <a:srgbClr val="FFFFFF"/>
                </a:solidFill>
                <a:latin typeface="Microsoft YaHei"/>
              </a:rPr>
              <a:t>▪ K13  核酸提取在柜内，防离心气溶胶</a:t>
            </a:r>
          </a:p>
          <a:p>
            <a:pPr>
              <a:spcAft>
                <a:spcPts val="800"/>
              </a:spcAft>
            </a:pPr>
            <a:r>
              <a:rPr sz="1500">
                <a:solidFill>
                  <a:srgbClr val="FFFFFF"/>
                </a:solidFill>
                <a:latin typeface="Microsoft YaHei"/>
              </a:rPr>
              <a:t>▪ K14  卡盒式自动提取：认识仪器</a:t>
            </a:r>
          </a:p>
          <a:p>
            <a:pPr>
              <a:spcAft>
                <a:spcPts val="800"/>
              </a:spcAft>
            </a:pPr>
            <a:r>
              <a:rPr sz="1500">
                <a:solidFill>
                  <a:srgbClr val="FFFFFF"/>
                </a:solidFill>
                <a:latin typeface="Microsoft YaHei"/>
              </a:rPr>
              <a:t>▪ K15  装板、选程序，确认到位再启动</a:t>
            </a:r>
          </a:p>
          <a:p>
            <a:pPr>
              <a:spcAft>
                <a:spcPts val="800"/>
              </a:spcAft>
            </a:pPr>
            <a:r>
              <a:rPr sz="1500">
                <a:solidFill>
                  <a:srgbClr val="FFFFFF"/>
                </a:solidFill>
                <a:latin typeface="Microsoft YaHei"/>
              </a:rPr>
              <a:t>▪ K16  荧光定量检测与判读</a:t>
            </a:r>
          </a:p>
          <a:p>
            <a:pPr>
              <a:spcAft>
                <a:spcPts val="800"/>
              </a:spcAft>
            </a:pPr>
            <a:r>
              <a:rPr sz="1500">
                <a:solidFill>
                  <a:srgbClr val="FFFFFF"/>
                </a:solidFill>
                <a:latin typeface="Microsoft YaHei"/>
              </a:rPr>
              <a:t>▪ K17  核酸检测分区，单向流动</a:t>
            </a:r>
          </a:p>
          <a:p>
            <a:pPr>
              <a:spcAft>
                <a:spcPts val="800"/>
              </a:spcAft>
            </a:pPr>
            <a:r>
              <a:rPr sz="1500">
                <a:solidFill>
                  <a:srgbClr val="FFFFFF"/>
                </a:solidFill>
                <a:latin typeface="Microsoft YaHei"/>
              </a:rPr>
              <a:t>▪ K18  阳性结果及时报告</a:t>
            </a:r>
          </a:p>
          <a:p>
            <a:pPr>
              <a:spcAft>
                <a:spcPts val="800"/>
              </a:spcAft>
            </a:pPr>
            <a:r>
              <a:rPr sz="1500">
                <a:solidFill>
                  <a:srgbClr val="FFFFFF"/>
                </a:solidFill>
                <a:latin typeface="Microsoft YaHei"/>
              </a:rPr>
              <a:t>▪ K19  剩余样本：存要上锁，毁要登记</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菌毒种与样本的包装运输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适用对象：需要寄送、接收或在楼内转运菌（毒）种、临床样本和其他生物材料的高校本科生、研究生和教职工（必修）；样本管理员、实验室负责人和安全员重点学习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能说出微生物运输的主要用途，以及规范运输“既保活性，也保安全”的意义；能说出高致病性菌（毒）种和样本运输须经批准、专人护送。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能做到按三层包装原则包装样本：主容器、吸收材料、辅助容器、外包装，清单放在外层，冷却剂选对，干冰按危险货物处理。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 A 类、B 类感染性物质的区别和标记要求，能认出生物危害标志，知道运输人员要培训。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能做到楼内转运用密闭箱，不手拿试管；不私带、不邮寄、不私下交换菌株，转移须经导师和单位审批。</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《中华人民共和国生物安全法》：病原微生物菌（毒）种和样本的运输、保藏管理与生物安保</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运输高致病性病原微生物菌（毒）种或样本须经批准，容器和包装材料防水、防破损、防外泄并有生物危险标识，专人护送，不得通过公共电（汽）车和城市铁路运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《可感染人类的高致病性病原微生物菌（毒）种或样本运输管理规定》（以现行文本为准）：运输审批程序、包装和交接要求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《人间传染的病原微生物目录》（国家卫生健康委发布，以现行版本为准）：各病原的运输包装分类（A 类、B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生物安全通用要求》：样本运送、包装、标识与记录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233（以现行文本为准）《病原微生物实验室生物安全通用准则》：实验室内和实验室间的样本转运</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6944-2025（以现行文本为准）《危险货物分类和品名编号》：感染性物质（第 6 类第 2 项）与干冰（第 9 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《中华人民共和国国境卫生检疫法》（以现行文本为准）及本校生物材料运输、进出口管理规定：出入境特殊物品卫生检疫审批</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运输微生物，服务很多领域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科研、合作研究、开发新药，都要送菌株</a:t>
            </a:r>
          </a:p>
          <a:p>
            <a:pPr>
              <a:spcAft>
                <a:spcPts val="1000"/>
              </a:spcAft>
            </a:pPr>
            <a:r>
              <a:rPr sz="1700">
                <a:solidFill>
                  <a:srgbClr val="222B33"/>
                </a:solidFill>
                <a:latin typeface="Microsoft YaHei"/>
              </a:rPr>
              <a:t>▪ 样本送检、疫苗研发、传染病研究</a:t>
            </a:r>
          </a:p>
          <a:p>
            <a:pPr>
              <a:spcAft>
                <a:spcPts val="1000"/>
              </a:spcAft>
            </a:pPr>
            <a:r>
              <a:rPr sz="1700">
                <a:solidFill>
                  <a:srgbClr val="222B33"/>
                </a:solidFill>
                <a:latin typeface="Microsoft YaHei"/>
              </a:rPr>
              <a:t>▪ 菌种保藏、多样性研究、教学、会议演示</a:t>
            </a:r>
          </a:p>
          <a:p>
            <a:pPr>
              <a:spcAft>
                <a:spcPts val="1000"/>
              </a:spcAft>
            </a:pPr>
            <a:r>
              <a:rPr sz="1700">
                <a:solidFill>
                  <a:srgbClr val="222B33"/>
                </a:solidFill>
                <a:latin typeface="Microsoft YaHei"/>
              </a:rPr>
              <a:t>▪ 质控、检测和认证，也要运送样本</a:t>
            </a:r>
          </a:p>
          <a:p>
            <a:pPr>
              <a:spcAft>
                <a:spcPts val="1000"/>
              </a:spcAft>
            </a:pPr>
            <a:r>
              <a:rPr sz="1700">
                <a:solidFill>
                  <a:srgbClr val="222B33"/>
                </a:solidFill>
                <a:latin typeface="Microsoft YaHei"/>
              </a:rPr>
              <a:t>▪ 规范运输，既保活性，也保安全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觉得“只是寄个样本”，随便找个盒子装</a:t>
            </a:r>
          </a:p>
          <a:p>
            <a:pPr>
              <a:spcAft>
                <a:spcPts val="1000"/>
              </a:spcAft>
            </a:pPr>
            <a:r>
              <a:rPr sz="1500">
                <a:solidFill>
                  <a:srgbClr val="222B33"/>
                </a:solidFill>
                <a:latin typeface="Microsoft YaHei"/>
              </a:rPr>
              <a:t>▪ 只关心样本别坏，不关心路上的人是否安全</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高致病性菌毒种运输，先审批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国内第一类最危险，和国际分组相反</a:t>
            </a:r>
          </a:p>
          <a:p>
            <a:pPr>
              <a:spcAft>
                <a:spcPts val="1000"/>
              </a:spcAft>
            </a:pPr>
            <a:r>
              <a:rPr sz="1700">
                <a:solidFill>
                  <a:srgbClr val="222B33"/>
                </a:solidFill>
                <a:latin typeface="Microsoft YaHei"/>
              </a:rPr>
              <a:t>▪ 高致病性的，先报主管部门批准</a:t>
            </a:r>
          </a:p>
          <a:p>
            <a:pPr>
              <a:spcAft>
                <a:spcPts val="1000"/>
              </a:spcAft>
            </a:pPr>
            <a:r>
              <a:rPr sz="1700">
                <a:solidFill>
                  <a:srgbClr val="222B33"/>
                </a:solidFill>
                <a:latin typeface="Microsoft YaHei"/>
              </a:rPr>
              <a:t>▪ 用专用包装，专人护送</a:t>
            </a:r>
          </a:p>
          <a:p>
            <a:pPr>
              <a:spcAft>
                <a:spcPts val="1000"/>
              </a:spcAft>
            </a:pPr>
            <a:r>
              <a:rPr sz="1700">
                <a:solidFill>
                  <a:srgbClr val="222B33"/>
                </a:solidFill>
                <a:latin typeface="Microsoft YaHei"/>
              </a:rPr>
              <a:t>▪ 不搭公共交通工具</a:t>
            </a:r>
          </a:p>
          <a:p>
            <a:pPr>
              <a:spcAft>
                <a:spcPts val="1000"/>
              </a:spcAft>
            </a:pPr>
            <a:r>
              <a:rPr sz="1700">
                <a:solidFill>
                  <a:srgbClr val="222B33"/>
                </a:solidFill>
                <a:latin typeface="Microsoft YaHei"/>
              </a:rPr>
              <a:t>▪ 登记交接，全程留痕</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国内病原微生物分类第一类危害最大、第四类最低，与国际风险组 1 组最低、4 组最高的方向正好相反（见第 058 课）。第一类、第二类病原微生物属于高致病性病原微生物。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先寄出去，事后再补审批手续</a:t>
            </a:r>
          </a:p>
          <a:p>
            <a:pPr>
              <a:spcAft>
                <a:spcPts val="1000"/>
              </a:spcAft>
            </a:pPr>
            <a:r>
              <a:rPr sz="1500">
                <a:solidFill>
                  <a:srgbClr val="222B33"/>
                </a:solidFill>
                <a:latin typeface="Microsoft YaHei"/>
              </a:rPr>
              <a:t>▪ 一个人带着高致病性样本乘坐公共交通</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三层包装：一层漏了还有两层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运输感染性物质，用三层包装</a:t>
            </a:r>
          </a:p>
          <a:p>
            <a:pPr>
              <a:spcAft>
                <a:spcPts val="1000"/>
              </a:spcAft>
            </a:pPr>
            <a:r>
              <a:rPr sz="1700">
                <a:solidFill>
                  <a:srgbClr val="222B33"/>
                </a:solidFill>
                <a:latin typeface="Microsoft YaHei"/>
              </a:rPr>
              <a:t>▪ 第一层防水密封的主容器，选塑料管</a:t>
            </a:r>
          </a:p>
          <a:p>
            <a:pPr>
              <a:spcAft>
                <a:spcPts val="1000"/>
              </a:spcAft>
            </a:pPr>
            <a:r>
              <a:rPr sz="1700">
                <a:solidFill>
                  <a:srgbClr val="222B33"/>
                </a:solidFill>
                <a:latin typeface="Microsoft YaHei"/>
              </a:rPr>
              <a:t>▪ 裹足吸收材料；第二层防水辅助容器封好口</a:t>
            </a:r>
          </a:p>
          <a:p>
            <a:pPr>
              <a:spcAft>
                <a:spcPts val="1000"/>
              </a:spcAft>
            </a:pPr>
            <a:r>
              <a:rPr sz="1700">
                <a:solidFill>
                  <a:srgbClr val="222B33"/>
                </a:solidFill>
                <a:latin typeface="Microsoft YaHei"/>
              </a:rPr>
              <a:t>▪ 第三层坚固防撞，清单放在外层</a:t>
            </a:r>
          </a:p>
          <a:p>
            <a:pPr>
              <a:spcAft>
                <a:spcPts val="1000"/>
              </a:spcAft>
            </a:pPr>
            <a:r>
              <a:rPr sz="1700">
                <a:solidFill>
                  <a:srgbClr val="222B33"/>
                </a:solidFill>
                <a:latin typeface="Microsoft YaHei"/>
              </a:rPr>
              <a:t>▪ 附上溢洒处理说明，防破损防暴露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运输感染性物质和临床样本，按三层包装原则包装，目的是防破损、防泄漏、防暴露：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样本管直接丢进泡沫箱，没有辅助容器</a:t>
            </a:r>
          </a:p>
          <a:p>
            <a:pPr>
              <a:spcAft>
                <a:spcPts val="1000"/>
              </a:spcAft>
            </a:pPr>
            <a:r>
              <a:rPr sz="1500">
                <a:solidFill>
                  <a:srgbClr val="222B33"/>
                </a:solidFill>
                <a:latin typeface="Microsoft YaHei"/>
              </a:rPr>
              <a:t>▪ 把清单塞进装样本的密封袋里</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管口一团吸收材料，防滴漏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管口包一小团纱布等吸收材料</a:t>
            </a:r>
          </a:p>
          <a:p>
            <a:pPr>
              <a:spcAft>
                <a:spcPts val="1000"/>
              </a:spcAft>
            </a:pPr>
            <a:r>
              <a:rPr sz="2000">
                <a:solidFill>
                  <a:srgbClr val="222B33"/>
                </a:solidFill>
                <a:latin typeface="Microsoft YaHei"/>
              </a:rPr>
              <a:t>▪ 开管时滴下的液体被它吸住</a:t>
            </a:r>
          </a:p>
          <a:p>
            <a:pPr>
              <a:spcAft>
                <a:spcPts val="1000"/>
              </a:spcAft>
            </a:pPr>
            <a:r>
              <a:rPr sz="2000">
                <a:solidFill>
                  <a:srgbClr val="222B33"/>
                </a:solidFill>
                <a:latin typeface="Microsoft YaHei"/>
              </a:rPr>
              <a:t>▪ 不沾手套，防护就不会被突破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送检的样本管，管口可以包一小团纱布或其他吸收材料。这样做有两个好处：运输中管盖渗出的少量液体被吸住，接收方开管时滴下的液体也被它吸住。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管口外壁沾着样本也不处理就装箱</a:t>
            </a:r>
          </a:p>
          <a:p>
            <a:pPr>
              <a:spcAft>
                <a:spcPts val="1000"/>
              </a:spcAft>
            </a:pPr>
            <a:r>
              <a:rPr sz="1500">
                <a:solidFill>
                  <a:srgbClr val="222B33"/>
                </a:solidFill>
                <a:latin typeface="Microsoft YaHei"/>
              </a:rPr>
              <a:t>▪ 开管后把沾湿的纱布随手放在台面上</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冷却剂选对，干冰按危险货物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配足冷却剂，样本保持完好</a:t>
            </a:r>
          </a:p>
          <a:p>
            <a:pPr>
              <a:spcAft>
                <a:spcPts val="1000"/>
              </a:spcAft>
            </a:pPr>
            <a:r>
              <a:rPr sz="1700">
                <a:solidFill>
                  <a:srgbClr val="222B33"/>
                </a:solidFill>
                <a:latin typeface="Microsoft YaHei"/>
              </a:rPr>
              <a:t>▪ 不推荐碎冰，融化渗水易污染</a:t>
            </a:r>
          </a:p>
          <a:p>
            <a:pPr>
              <a:spcAft>
                <a:spcPts val="1000"/>
              </a:spcAft>
            </a:pPr>
            <a:r>
              <a:rPr sz="1700">
                <a:solidFill>
                  <a:srgbClr val="222B33"/>
                </a:solidFill>
                <a:latin typeface="Microsoft YaHei"/>
              </a:rPr>
              <a:t>▪ 干冰放辅助容器外，不能密封，留出气口</a:t>
            </a:r>
          </a:p>
          <a:p>
            <a:pPr>
              <a:spcAft>
                <a:spcPts val="1000"/>
              </a:spcAft>
            </a:pPr>
            <a:r>
              <a:rPr sz="1700">
                <a:solidFill>
                  <a:srgbClr val="222B33"/>
                </a:solidFill>
                <a:latin typeface="Microsoft YaHei"/>
              </a:rPr>
              <a:t>▪ 干冰属第 9 类危险货物，要标明</a:t>
            </a:r>
          </a:p>
          <a:p>
            <a:pPr>
              <a:spcAft>
                <a:spcPts val="1000"/>
              </a:spcAft>
            </a:pPr>
            <a:r>
              <a:rPr sz="1700">
                <a:solidFill>
                  <a:srgbClr val="222B33"/>
                </a:solidFill>
                <a:latin typeface="Microsoft YaHei"/>
              </a:rPr>
              <a:t>▪ 拿干冰戴隔热手套，保持通风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把干冰装进拧紧的密封罐</a:t>
            </a:r>
          </a:p>
          <a:p>
            <a:pPr>
              <a:spcAft>
                <a:spcPts val="1000"/>
              </a:spcAft>
            </a:pPr>
            <a:r>
              <a:rPr sz="1500">
                <a:solidFill>
                  <a:srgbClr val="222B33"/>
                </a:solidFill>
                <a:latin typeface="Microsoft YaHei"/>
              </a:rPr>
              <a:t>▪ 用碎冰直接埋住样本袋</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 类、B 类，分类和标记不同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感染性物质运输时分 A 类和 B 类</a:t>
            </a:r>
          </a:p>
          <a:p>
            <a:pPr>
              <a:spcAft>
                <a:spcPts val="1000"/>
              </a:spcAft>
            </a:pPr>
            <a:r>
              <a:rPr sz="2000">
                <a:solidFill>
                  <a:srgbClr val="222B33"/>
                </a:solidFill>
                <a:latin typeface="Microsoft YaHei"/>
              </a:rPr>
              <a:t>▪ A 类危害高，包装要求更严</a:t>
            </a:r>
          </a:p>
          <a:p>
            <a:pPr>
              <a:spcAft>
                <a:spcPts val="1000"/>
              </a:spcAft>
            </a:pPr>
            <a:r>
              <a:rPr sz="2000">
                <a:solidFill>
                  <a:srgbClr val="222B33"/>
                </a:solidFill>
                <a:latin typeface="Microsoft YaHei"/>
              </a:rPr>
              <a:t>▪ B 类一般是普通诊断样本</a:t>
            </a:r>
          </a:p>
          <a:p>
            <a:pPr>
              <a:spcAft>
                <a:spcPts val="1000"/>
              </a:spcAft>
            </a:pPr>
            <a:r>
              <a:rPr sz="2000">
                <a:solidFill>
                  <a:srgbClr val="222B33"/>
                </a:solidFill>
                <a:latin typeface="Microsoft YaHei"/>
              </a:rPr>
              <a:t>▪ 属哪类查目录，包装限量按现行规定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运输时，感染性物质按国际通行的分类分为 A 类和 B 类。A 类是在运输中一旦暴露，可能使健康的人或动物造成永久性残疾或危及生命的感染性物质，包装和审批要求最严，国际联合国编号为 2814（可感染人）或 2900（仅……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不查目录，凭感觉按 B 类寄送</a:t>
            </a:r>
          </a:p>
          <a:p>
            <a:pPr>
              <a:spcAft>
                <a:spcPts val="1000"/>
              </a:spcAft>
            </a:pPr>
            <a:r>
              <a:rPr sz="1500">
                <a:solidFill>
                  <a:srgbClr val="222B33"/>
                </a:solidFill>
                <a:latin typeface="Microsoft YaHei"/>
              </a:rPr>
              <a:t>▪ 把 A 类、B 类与国内病原分类的第一类、第二类混为一谈</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送样方贴好标签、包好箱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认识生物危害标志，样本、容器、冰箱常见</a:t>
            </a:r>
          </a:p>
          <a:p>
            <a:pPr>
              <a:spcAft>
                <a:spcPts val="1000"/>
              </a:spcAft>
            </a:pPr>
            <a:r>
              <a:rPr sz="2000">
                <a:solidFill>
                  <a:srgbClr val="222B33"/>
                </a:solidFill>
                <a:latin typeface="Microsoft YaHei"/>
              </a:rPr>
              <a:t>▪ 采样一方先贴清标签、封严包装</a:t>
            </a:r>
          </a:p>
          <a:p>
            <a:pPr>
              <a:spcAft>
                <a:spcPts val="1000"/>
              </a:spcAft>
            </a:pPr>
            <a:r>
              <a:rPr sz="2000">
                <a:solidFill>
                  <a:srgbClr val="222B33"/>
                </a:solidFill>
                <a:latin typeface="Microsoft YaHei"/>
              </a:rPr>
              <a:t>▪ 标签清楚，病人信息保密</a:t>
            </a:r>
          </a:p>
          <a:p>
            <a:pPr>
              <a:spcAft>
                <a:spcPts val="1000"/>
              </a:spcAft>
            </a:pPr>
            <a:r>
              <a:rPr sz="2000">
                <a:solidFill>
                  <a:srgbClr val="222B33"/>
                </a:solidFill>
                <a:latin typeface="Microsoft YaHei"/>
              </a:rPr>
              <a:t>▪ 保护路上的人，也保护实验室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用手写便签贴在管子上，运输中脱落</a:t>
            </a:r>
          </a:p>
          <a:p>
            <a:pPr>
              <a:spcAft>
                <a:spcPts val="1000"/>
              </a:spcAft>
            </a:pPr>
            <a:r>
              <a:rPr sz="1500">
                <a:solidFill>
                  <a:srgbClr val="222B33"/>
                </a:solidFill>
                <a:latin typeface="Microsoft YaHei"/>
              </a:rPr>
              <a:t>▪ 在样本管上写病人姓名</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运输人员要培训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司机、快递员也要经过培训</a:t>
            </a:r>
          </a:p>
          <a:p>
            <a:pPr>
              <a:spcAft>
                <a:spcPts val="1000"/>
              </a:spcAft>
            </a:pPr>
            <a:r>
              <a:rPr sz="2000">
                <a:solidFill>
                  <a:srgbClr val="222B33"/>
                </a:solidFill>
                <a:latin typeface="Microsoft YaHei"/>
              </a:rPr>
              <a:t>▪ 知道箱里是什么，出了事怎么办</a:t>
            </a:r>
          </a:p>
          <a:p>
            <a:pPr>
              <a:spcAft>
                <a:spcPts val="1000"/>
              </a:spcAft>
            </a:pPr>
            <a:r>
              <a:rPr sz="2000">
                <a:solidFill>
                  <a:srgbClr val="222B33"/>
                </a:solidFill>
                <a:latin typeface="Microsoft YaHei"/>
              </a:rPr>
              <a:t>▪ 不能交给没资质的普通快递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参与运输的人员——包装人员、司机、押运人员、物流公司人员——都要经过培训，知道箱里装的是什么、有什么风险、包装破损或泄漏时怎么处置、向谁报告。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让不知情的同学或快递员帮忙送样本</a:t>
            </a:r>
          </a:p>
          <a:p>
            <a:pPr>
              <a:spcAft>
                <a:spcPts val="1000"/>
              </a:spcAft>
            </a:pPr>
            <a:r>
              <a:rPr sz="1500">
                <a:solidFill>
                  <a:srgbClr val="222B33"/>
                </a:solidFill>
                <a:latin typeface="Microsoft YaHei"/>
              </a:rPr>
              <a:t>▪ 不告诉运送人箱内物品的性质</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楼内转运：密闭箱，不手拿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楼里转运，不能手拿着试管走</a:t>
            </a:r>
          </a:p>
          <a:p>
            <a:pPr>
              <a:spcAft>
                <a:spcPts val="1000"/>
              </a:spcAft>
            </a:pPr>
            <a:r>
              <a:rPr sz="1700">
                <a:solidFill>
                  <a:srgbClr val="222B33"/>
                </a:solidFill>
                <a:latin typeface="Microsoft YaHei"/>
              </a:rPr>
              <a:t>▪ 管子插在架上，装进垫好吸水垫的密闭箱</a:t>
            </a:r>
          </a:p>
          <a:p>
            <a:pPr>
              <a:spcAft>
                <a:spcPts val="1000"/>
              </a:spcAft>
            </a:pPr>
            <a:r>
              <a:rPr sz="1700">
                <a:solidFill>
                  <a:srgbClr val="222B33"/>
                </a:solidFill>
                <a:latin typeface="Microsoft YaHei"/>
              </a:rPr>
              <a:t>▪ 箱外贴标志，避开人多的地方</a:t>
            </a:r>
          </a:p>
          <a:p>
            <a:pPr>
              <a:spcAft>
                <a:spcPts val="1000"/>
              </a:spcAft>
            </a:pPr>
            <a:r>
              <a:rPr sz="1700">
                <a:solidFill>
                  <a:srgbClr val="222B33"/>
                </a:solidFill>
                <a:latin typeface="Microsoft YaHei"/>
              </a:rPr>
              <a:t>▪ 推车慢行，直达目的地，不经过办公区</a:t>
            </a:r>
          </a:p>
          <a:p>
            <a:pPr>
              <a:spcAft>
                <a:spcPts val="1000"/>
              </a:spcAft>
            </a:pPr>
            <a:r>
              <a:rPr sz="1700">
                <a:solidFill>
                  <a:srgbClr val="222B33"/>
                </a:solidFill>
                <a:latin typeface="Microsoft YaHei"/>
              </a:rPr>
              <a:t>▪ 开门按电梯，用干净的手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在楼内、实验室之间转运，同样要防洒防漏：不能手拿着开口或未密封的试管在走廊里走。样本管盖紧，插在试管架上，装进密闭、防漏、可消毒的转运箱，箱内垫吸水材料，万一洒了也不外漏；箱外贴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手里攥着几支样本管穿过走廊</a:t>
            </a:r>
          </a:p>
          <a:p>
            <a:pPr>
              <a:spcAft>
                <a:spcPts val="1000"/>
              </a:spcAft>
            </a:pPr>
            <a:r>
              <a:rPr sz="1500">
                <a:solidFill>
                  <a:srgbClr val="222B33"/>
                </a:solidFill>
                <a:latin typeface="Microsoft YaHei"/>
              </a:rPr>
              <a:t>▪ 戴着污染的手套按电梯、开门</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运输安保与进出口合规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运输安全，也是生物安保</a:t>
            </a:r>
          </a:p>
          <a:p>
            <a:pPr>
              <a:spcAft>
                <a:spcPts val="1000"/>
              </a:spcAft>
            </a:pPr>
            <a:r>
              <a:rPr sz="2000">
                <a:solidFill>
                  <a:srgbClr val="222B33"/>
                </a:solidFill>
                <a:latin typeface="Microsoft YaHei"/>
              </a:rPr>
              <a:t>▪ 包得牢、交接清，不丢不漏</a:t>
            </a:r>
          </a:p>
          <a:p>
            <a:pPr>
              <a:spcAft>
                <a:spcPts val="1000"/>
              </a:spcAft>
            </a:pPr>
            <a:r>
              <a:rPr sz="2000">
                <a:solidFill>
                  <a:srgbClr val="222B33"/>
                </a:solidFill>
                <a:latin typeface="Microsoft YaHei"/>
              </a:rPr>
              <a:t>▪ 进出口生物材料，先办检疫审批</a:t>
            </a:r>
          </a:p>
          <a:p>
            <a:pPr>
              <a:spcAft>
                <a:spcPts val="1000"/>
              </a:spcAft>
            </a:pPr>
            <a:r>
              <a:rPr sz="2000">
                <a:solidFill>
                  <a:srgbClr val="222B33"/>
                </a:solidFill>
                <a:latin typeface="Microsoft YaHei"/>
              </a:rPr>
              <a:t>▪ 包装、标识、运输方式都要合规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运输环节是生物材料最容易丢失、被盗或泄漏的环节之一，所以运输安全也是生物安保的一部分（见第 083 课）：包装牢固，交接有签收记录，路线和时间可追踪，做到不丢、不漏、账物相符。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出国交流时把样本放进行李随身带走</a:t>
            </a:r>
          </a:p>
          <a:p>
            <a:pPr>
              <a:spcAft>
                <a:spcPts val="1000"/>
              </a:spcAft>
            </a:pPr>
            <a:r>
              <a:rPr sz="1500">
                <a:solidFill>
                  <a:srgbClr val="222B33"/>
                </a:solidFill>
                <a:latin typeface="Microsoft YaHei"/>
              </a:rPr>
              <a:t>▪ 收到包裹不签收、不登记</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学生不私带、不邮寄、不交换菌株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菌株不能用普通快递寄</a:t>
            </a:r>
          </a:p>
          <a:p>
            <a:pPr>
              <a:spcAft>
                <a:spcPts val="1000"/>
              </a:spcAft>
            </a:pPr>
            <a:r>
              <a:rPr sz="1700">
                <a:solidFill>
                  <a:srgbClr val="222B33"/>
                </a:solidFill>
                <a:latin typeface="Microsoft YaHei"/>
              </a:rPr>
              <a:t>▪ 不能装进包里随身带走</a:t>
            </a:r>
          </a:p>
          <a:p>
            <a:pPr>
              <a:spcAft>
                <a:spcPts val="1000"/>
              </a:spcAft>
            </a:pPr>
            <a:r>
              <a:rPr sz="1700">
                <a:solidFill>
                  <a:srgbClr val="222B33"/>
                </a:solidFill>
                <a:latin typeface="Microsoft YaHei"/>
              </a:rPr>
              <a:t>▪ 不私下和别人交换菌株</a:t>
            </a:r>
          </a:p>
          <a:p>
            <a:pPr>
              <a:spcAft>
                <a:spcPts val="1000"/>
              </a:spcAft>
            </a:pPr>
            <a:r>
              <a:rPr sz="1700">
                <a:solidFill>
                  <a:srgbClr val="222B33"/>
                </a:solidFill>
                <a:latin typeface="Microsoft YaHei"/>
              </a:rPr>
              <a:t>▪ 需要转移，先告诉导师，单位登记审批</a:t>
            </a:r>
          </a:p>
          <a:p>
            <a:pPr>
              <a:spcAft>
                <a:spcPts val="1000"/>
              </a:spcAft>
            </a:pPr>
            <a:r>
              <a:rPr sz="1700">
                <a:solidFill>
                  <a:srgbClr val="222B33"/>
                </a:solidFill>
                <a:latin typeface="Microsoft YaHei"/>
              </a:rPr>
              <a:t>▪ 交有资质的单位运送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学生不得用普通快递邮寄菌（毒）种和样本，也不能装进背包、口袋随身带出实验室或带到外校；不私下和同学、外单位人员交换菌株。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帮外校同学“顺路带一管菌种”</a:t>
            </a:r>
          </a:p>
          <a:p>
            <a:pPr>
              <a:spcAft>
                <a:spcPts val="1000"/>
              </a:spcAft>
            </a:pPr>
            <a:r>
              <a:rPr sz="1500">
                <a:solidFill>
                  <a:srgbClr val="222B33"/>
                </a:solidFill>
                <a:latin typeface="Microsoft YaHei"/>
              </a:rPr>
              <a:t>▪ 毕业时把菌株私自带走</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关于三层包装，下列说法正确的是：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样本管直接放进泡沫箱即可</a:t>
            </a:r>
          </a:p>
          <a:p>
            <a:pPr algn="l"/>
            <a:r>
              <a:rPr sz="1500" b="0">
                <a:solidFill>
                  <a:srgbClr val="222B33"/>
                </a:solidFill>
                <a:latin typeface="Microsoft YaHei"/>
              </a:rPr>
              <a:t>B. 防水主容器外裹足吸收材料，装入防水辅助容器封口，再放入坚固外包装，清单放在外层</a:t>
            </a:r>
          </a:p>
          <a:p>
            <a:pPr algn="l"/>
            <a:r>
              <a:rPr sz="1500" b="0">
                <a:solidFill>
                  <a:srgbClr val="222B33"/>
                </a:solidFill>
                <a:latin typeface="Microsoft YaHei"/>
              </a:rPr>
              <a:t>C. 清单放在装样本的密封袋里</a:t>
            </a:r>
          </a:p>
          <a:p>
            <a:pPr algn="l"/>
            <a:r>
              <a:rPr sz="1500" b="0">
                <a:solidFill>
                  <a:srgbClr val="222B33"/>
                </a:solidFill>
                <a:latin typeface="Microsoft YaHei"/>
              </a:rPr>
              <a:t>D. 优先选玻璃管作主容器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判断：用干冰作冷却剂时，应把干冰装进拧紧的密封罐，防止升华。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运输高致病性病原微生物菌（毒）种或样本，下列做法正确的是：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用普通快递寄出</a:t>
            </a:r>
          </a:p>
          <a:p>
            <a:pPr algn="l"/>
            <a:r>
              <a:rPr sz="1500" b="0">
                <a:solidFill>
                  <a:srgbClr val="222B33"/>
                </a:solidFill>
                <a:latin typeface="Microsoft YaHei"/>
              </a:rPr>
              <a:t>B. 事先报主管部门批准，用专用包装，专人护送，登记交接</a:t>
            </a:r>
          </a:p>
          <a:p>
            <a:pPr algn="l"/>
            <a:r>
              <a:rPr sz="1500" b="0">
                <a:solidFill>
                  <a:srgbClr val="222B33"/>
                </a:solidFill>
                <a:latin typeface="Microsoft YaHei"/>
              </a:rPr>
              <a:t>C. 一个人乘地铁送达</a:t>
            </a:r>
          </a:p>
          <a:p>
            <a:pPr algn="l"/>
            <a:r>
              <a:rPr sz="1500" b="0">
                <a:solidFill>
                  <a:srgbClr val="222B33"/>
                </a:solidFill>
                <a:latin typeface="Microsoft YaHei"/>
              </a:rPr>
              <a:t>D. 先寄出再补手续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判断：在楼内把样本送到隔壁实验室，盖紧管盖后手拿着走过去就可以。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外校同学请阿杰寄一管菌种，阿杰应该：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用快递寄出</a:t>
            </a:r>
          </a:p>
          <a:p>
            <a:pPr algn="l"/>
            <a:r>
              <a:rPr sz="1500" b="0">
                <a:solidFill>
                  <a:srgbClr val="222B33"/>
                </a:solidFill>
                <a:latin typeface="Microsoft YaHei"/>
              </a:rPr>
              <a:t>B. 装进背包带过去</a:t>
            </a:r>
          </a:p>
          <a:p>
            <a:pPr algn="l"/>
            <a:r>
              <a:rPr sz="1500" b="0">
                <a:solidFill>
                  <a:srgbClr val="222B33"/>
                </a:solidFill>
                <a:latin typeface="Microsoft YaHei"/>
              </a:rPr>
              <a:t>C. 先告诉导师，由单位登记审批，按规定包装后交有资质的单位运送</a:t>
            </a:r>
          </a:p>
          <a:p>
            <a:pPr algn="l"/>
            <a:r>
              <a:rPr sz="1500" b="0">
                <a:solidFill>
                  <a:srgbClr val="222B33"/>
                </a:solidFill>
                <a:latin typeface="Microsoft YaHei"/>
              </a:rPr>
              <a:t>D. 私下交换</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运输微生物，服务很多领域</a:t>
            </a:r>
          </a:p>
          <a:p>
            <a:pPr>
              <a:spcAft>
                <a:spcPts val="800"/>
              </a:spcAft>
            </a:pPr>
            <a:r>
              <a:rPr sz="1500">
                <a:solidFill>
                  <a:srgbClr val="FFFFFF"/>
                </a:solidFill>
                <a:latin typeface="Microsoft YaHei"/>
              </a:rPr>
              <a:t>▪ K2  高致病性菌毒种运输，先审批</a:t>
            </a:r>
          </a:p>
          <a:p>
            <a:pPr>
              <a:spcAft>
                <a:spcPts val="800"/>
              </a:spcAft>
            </a:pPr>
            <a:r>
              <a:rPr sz="1500">
                <a:solidFill>
                  <a:srgbClr val="FFFFFF"/>
                </a:solidFill>
                <a:latin typeface="Microsoft YaHei"/>
              </a:rPr>
              <a:t>▪ K3  三层包装：一层漏了还有两层</a:t>
            </a:r>
          </a:p>
          <a:p>
            <a:pPr>
              <a:spcAft>
                <a:spcPts val="800"/>
              </a:spcAft>
            </a:pPr>
            <a:r>
              <a:rPr sz="1500">
                <a:solidFill>
                  <a:srgbClr val="FFFFFF"/>
                </a:solidFill>
                <a:latin typeface="Microsoft YaHei"/>
              </a:rPr>
              <a:t>▪ K4  管口一团吸收材料，防滴漏</a:t>
            </a:r>
          </a:p>
          <a:p>
            <a:pPr>
              <a:spcAft>
                <a:spcPts val="800"/>
              </a:spcAft>
            </a:pPr>
            <a:r>
              <a:rPr sz="1500">
                <a:solidFill>
                  <a:srgbClr val="FFFFFF"/>
                </a:solidFill>
                <a:latin typeface="Microsoft YaHei"/>
              </a:rPr>
              <a:t>▪ K5  冷却剂选对，干冰按危险货物</a:t>
            </a:r>
          </a:p>
          <a:p>
            <a:pPr>
              <a:spcAft>
                <a:spcPts val="800"/>
              </a:spcAft>
            </a:pPr>
            <a:r>
              <a:rPr sz="1500">
                <a:solidFill>
                  <a:srgbClr val="FFFFFF"/>
                </a:solidFill>
                <a:latin typeface="Microsoft YaHei"/>
              </a:rPr>
              <a:t>▪ K6  A 类、B 类，分类和标记不同</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送样方贴好标签、包好箱</a:t>
            </a:r>
          </a:p>
          <a:p>
            <a:pPr>
              <a:spcAft>
                <a:spcPts val="800"/>
              </a:spcAft>
            </a:pPr>
            <a:r>
              <a:rPr sz="1500">
                <a:solidFill>
                  <a:srgbClr val="FFFFFF"/>
                </a:solidFill>
                <a:latin typeface="Microsoft YaHei"/>
              </a:rPr>
              <a:t>▪ K8  运输人员要培训</a:t>
            </a:r>
          </a:p>
          <a:p>
            <a:pPr>
              <a:spcAft>
                <a:spcPts val="800"/>
              </a:spcAft>
            </a:pPr>
            <a:r>
              <a:rPr sz="1500">
                <a:solidFill>
                  <a:srgbClr val="FFFFFF"/>
                </a:solidFill>
                <a:latin typeface="Microsoft YaHei"/>
              </a:rPr>
              <a:t>▪ K9  楼内转运：密闭箱，不手拿</a:t>
            </a:r>
          </a:p>
          <a:p>
            <a:pPr>
              <a:spcAft>
                <a:spcPts val="800"/>
              </a:spcAft>
            </a:pPr>
            <a:r>
              <a:rPr sz="1500">
                <a:solidFill>
                  <a:srgbClr val="FFFFFF"/>
                </a:solidFill>
                <a:latin typeface="Microsoft YaHei"/>
              </a:rPr>
              <a:t>▪ K10  运输安保与进出口合规</a:t>
            </a:r>
          </a:p>
          <a:p>
            <a:pPr>
              <a:spcAft>
                <a:spcPts val="800"/>
              </a:spcAft>
            </a:pPr>
            <a:r>
              <a:rPr sz="1500">
                <a:solidFill>
                  <a:srgbClr val="FFFFFF"/>
                </a:solidFill>
                <a:latin typeface="Microsoft YaHei"/>
              </a:rPr>
              <a:t>▪ K11  学生不私带、不邮寄、不交换菌株</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转基因生物安全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69 镜）　适用对象：从事重组 DNA、基因工程、转基因动植物和微生物、合成生物学等研究的生命科学、农学、医学、环境等专业本科生、研究生和教职工（必修）；参加科创竞赛、课程设计的学生和实验室负责人重点学习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能说出什么是转基因生物，以及国内依法管理的框架：《中华人民共和国生物安全法》按风险分类管理、《农业转基因生物安全管理条例》分级与分阶段审批、单位生物安全委员会审查。</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能做到转基因实验“先评估、报委员会、批了才能做”，改方案重新报，未经批准不向环境释放。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能说出转基因生物危险度分类与防护分级的思路，风险评估步骤，安全评价（与非转基因对照、环境安全、食品安全）和风险矩阵（扩散、可逆性）的要点。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能做到工程菌株和载体登记、不外带不私转，转基因动物防逃逸，发生逸出或丢失时控制现场、立即报告；对合成生物学等新技术保持最高谨慎。</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《中华人民共和国生物安全法》：生物技术研究、开发活动按风险分为高风险、中风险、低风险三类管理，开展前进行风险评估，按规定取得批准或备案（具体要求以现行文本为准）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《农业转基因生物安全管理条例》（以现行文本为准）：农业转基因生物安全分级管理、安全评价，研究与试验分阶段报告或审批，标识管理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《病原微生物实验室生物安全管理条例》（以现行文本为准）：涉及病原微生物的转基因实验同时按病原微生物实验室管理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生物安全通用要求》：风险评估、生物安全委员会、实验室分级与记录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233（以现行文本为准）《病原微生物实验室生物安全通用准则》：实验室操作规范与意外事故报告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本单位生物安全委员会章程和转基因（基因工程）实验审批、备案规定（以本校规定为准；原《基因工程安全管理办法》已废止，不作依据）</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什么是转基因生物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把一种生物的基因转入另一种生物</a:t>
            </a:r>
          </a:p>
          <a:p>
            <a:pPr>
              <a:spcAft>
                <a:spcPts val="1000"/>
              </a:spcAft>
            </a:pPr>
            <a:r>
              <a:rPr sz="2000">
                <a:solidFill>
                  <a:srgbClr val="222B33"/>
                </a:solidFill>
                <a:latin typeface="Microsoft YaHei"/>
              </a:rPr>
              <a:t>▪ 用重组 DNA 技术改过遗传物质的，叫转基因生物</a:t>
            </a:r>
          </a:p>
          <a:p>
            <a:pPr>
              <a:spcAft>
                <a:spcPts val="1000"/>
              </a:spcAft>
            </a:pPr>
            <a:r>
              <a:rPr sz="2000">
                <a:solidFill>
                  <a:srgbClr val="222B33"/>
                </a:solidFill>
                <a:latin typeface="Microsoft YaHei"/>
              </a:rPr>
              <a:t>▪ 改了基因，性状和蛋白质都可能变</a:t>
            </a:r>
          </a:p>
          <a:p>
            <a:pPr>
              <a:spcAft>
                <a:spcPts val="1000"/>
              </a:spcAft>
            </a:pPr>
            <a:r>
              <a:rPr sz="2000">
                <a:solidFill>
                  <a:srgbClr val="222B33"/>
                </a:solidFill>
                <a:latin typeface="Microsoft YaHei"/>
              </a:rPr>
              <a:t>▪ 于是有了新的植物、动物和微生物品种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认为课堂上做的质粒转化“不算转基因”</a:t>
            </a:r>
          </a:p>
          <a:p>
            <a:pPr>
              <a:spcAft>
                <a:spcPts val="1000"/>
              </a:spcAft>
            </a:pPr>
            <a:r>
              <a:rPr sz="1500">
                <a:solidFill>
                  <a:srgbClr val="222B33"/>
                </a:solidFill>
                <a:latin typeface="Microsoft YaHei"/>
              </a:rPr>
              <a:t>▪ 认为只有转基因农作物才需要管理</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转基因依法管理，按风险分类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转基因实验受法律管制</a:t>
            </a:r>
          </a:p>
          <a:p>
            <a:pPr>
              <a:spcAft>
                <a:spcPts val="1000"/>
              </a:spcAft>
            </a:pPr>
            <a:r>
              <a:rPr sz="1700">
                <a:solidFill>
                  <a:srgbClr val="222B33"/>
                </a:solidFill>
                <a:latin typeface="Microsoft YaHei"/>
              </a:rPr>
              <a:t>▪ 生物安全法把研发活动分高、中、低风险三类</a:t>
            </a:r>
          </a:p>
          <a:p>
            <a:pPr>
              <a:spcAft>
                <a:spcPts val="1000"/>
              </a:spcAft>
            </a:pPr>
            <a:r>
              <a:rPr sz="1700">
                <a:solidFill>
                  <a:srgbClr val="222B33"/>
                </a:solidFill>
                <a:latin typeface="Microsoft YaHei"/>
              </a:rPr>
              <a:t>▪ 农业转基因依法评价、分级、标识</a:t>
            </a:r>
          </a:p>
          <a:p>
            <a:pPr>
              <a:spcAft>
                <a:spcPts val="1000"/>
              </a:spcAft>
            </a:pPr>
            <a:r>
              <a:rPr sz="1700">
                <a:solidFill>
                  <a:srgbClr val="222B33"/>
                </a:solidFill>
                <a:latin typeface="Microsoft YaHei"/>
              </a:rPr>
              <a:t>▪ 违规会被叫停，还要承担法律责任</a:t>
            </a:r>
          </a:p>
          <a:p>
            <a:pPr>
              <a:spcAft>
                <a:spcPts val="1000"/>
              </a:spcAft>
            </a:pPr>
            <a:r>
              <a:rPr sz="1700">
                <a:solidFill>
                  <a:srgbClr val="222B33"/>
                </a:solidFill>
                <a:latin typeface="Microsoft YaHei"/>
              </a:rPr>
              <a:t>▪ 新技术有好处，也要防风险、讲伦理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以为“只是基础研究”就不受法律管理</a:t>
            </a:r>
          </a:p>
          <a:p>
            <a:pPr>
              <a:spcAft>
                <a:spcPts val="1000"/>
              </a:spcAft>
            </a:pPr>
            <a:r>
              <a:rPr sz="1500">
                <a:solidFill>
                  <a:srgbClr val="222B33"/>
                </a:solidFill>
                <a:latin typeface="Microsoft YaHei"/>
              </a:rPr>
              <a:t>▪ 引用已废止的旧规章作为审批依据</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先评估，报生物安全委员会，批了才能做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立项前先评估宿主、载体、目的基因和操作</a:t>
            </a:r>
          </a:p>
          <a:p>
            <a:pPr>
              <a:spcAft>
                <a:spcPts val="1000"/>
              </a:spcAft>
            </a:pPr>
            <a:r>
              <a:rPr sz="1700">
                <a:solidFill>
                  <a:srgbClr val="222B33"/>
                </a:solidFill>
                <a:latin typeface="Microsoft YaHei"/>
              </a:rPr>
              <a:t>▪ 按本校规定报生物安全委员会审核</a:t>
            </a:r>
          </a:p>
          <a:p>
            <a:pPr>
              <a:spcAft>
                <a:spcPts val="1000"/>
              </a:spcAft>
            </a:pPr>
            <a:r>
              <a:rPr sz="1700">
                <a:solidFill>
                  <a:srgbClr val="222B33"/>
                </a:solidFill>
                <a:latin typeface="Microsoft YaHei"/>
              </a:rPr>
              <a:t>▪ 批了才能做；改方案要重新报</a:t>
            </a:r>
          </a:p>
          <a:p>
            <a:pPr>
              <a:spcAft>
                <a:spcPts val="1000"/>
              </a:spcAft>
            </a:pPr>
            <a:r>
              <a:rPr sz="1700">
                <a:solidFill>
                  <a:srgbClr val="222B33"/>
                </a:solidFill>
                <a:latin typeface="Microsoft YaHei"/>
              </a:rPr>
              <a:t>▪ 作业写了方案，不等于可以去做</a:t>
            </a:r>
          </a:p>
          <a:p>
            <a:pPr>
              <a:spcAft>
                <a:spcPts val="1000"/>
              </a:spcAft>
            </a:pPr>
            <a:r>
              <a:rPr sz="1700">
                <a:solidFill>
                  <a:srgbClr val="222B33"/>
                </a:solidFill>
                <a:latin typeface="Microsoft YaHei"/>
              </a:rPr>
              <a:t>▪ 负责人是第一责任人，学生不擅自做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做重组 DNA、基因工程实验，立项前先做风险评估，主要评估：宿主（受体）生物是什么、有无致病性；载体的特性；目的基因的来源和功能；实验的操作方式、规模和可能的暴露途径。通用的风险评估方法见第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先做实验，等出了结果再补审批</a:t>
            </a:r>
          </a:p>
          <a:p>
            <a:pPr>
              <a:spcAft>
                <a:spcPts val="1000"/>
              </a:spcAft>
            </a:pPr>
            <a:r>
              <a:rPr sz="1500">
                <a:solidFill>
                  <a:srgbClr val="222B33"/>
                </a:solidFill>
                <a:latin typeface="Microsoft YaHei"/>
              </a:rPr>
              <a:t>▪ 方案改了不重新报，照旧批复执行</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分阶段审批，未经批准不进环境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从实验室到温室到田间，分阶段管理</a:t>
            </a:r>
          </a:p>
          <a:p>
            <a:pPr>
              <a:spcAft>
                <a:spcPts val="1000"/>
              </a:spcAft>
            </a:pPr>
            <a:r>
              <a:rPr sz="1700">
                <a:solidFill>
                  <a:srgbClr val="222B33"/>
                </a:solidFill>
                <a:latin typeface="Microsoft YaHei"/>
              </a:rPr>
              <a:t>▪ 进入下一阶段，按规定报告或审批</a:t>
            </a:r>
          </a:p>
          <a:p>
            <a:pPr>
              <a:spcAft>
                <a:spcPts val="1000"/>
              </a:spcAft>
            </a:pPr>
            <a:r>
              <a:rPr sz="1700">
                <a:solidFill>
                  <a:srgbClr val="222B33"/>
                </a:solidFill>
                <a:latin typeface="Microsoft YaHei"/>
              </a:rPr>
              <a:t>▪ 风险来自过程：种下、长大、开花就升高</a:t>
            </a:r>
          </a:p>
          <a:p>
            <a:pPr>
              <a:spcAft>
                <a:spcPts val="1000"/>
              </a:spcAft>
            </a:pPr>
            <a:r>
              <a:rPr sz="1700">
                <a:solidFill>
                  <a:srgbClr val="222B33"/>
                </a:solidFill>
                <a:latin typeface="Microsoft YaHei"/>
              </a:rPr>
              <a:t>▪ 走出实验室前，先评估环境和人的风险</a:t>
            </a:r>
          </a:p>
          <a:p>
            <a:pPr>
              <a:spcAft>
                <a:spcPts val="1000"/>
              </a:spcAft>
            </a:pPr>
            <a:r>
              <a:rPr sz="1700">
                <a:solidFill>
                  <a:srgbClr val="222B33"/>
                </a:solidFill>
                <a:latin typeface="Microsoft YaHei"/>
              </a:rPr>
              <a:t>▪ 未经批准，不得私自释放到环境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把实验室里的转基因幼苗带回宿舍或种到校园</a:t>
            </a:r>
          </a:p>
          <a:p>
            <a:pPr>
              <a:spcAft>
                <a:spcPts val="1000"/>
              </a:spcAft>
            </a:pPr>
            <a:r>
              <a:rPr sz="1500">
                <a:solidFill>
                  <a:srgbClr val="222B33"/>
                </a:solidFill>
                <a:latin typeface="Microsoft YaHei"/>
              </a:rPr>
              <a:t>▪ 把工程菌培养物倒进下水道或土壤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危险度分四类，防护分四级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转基因生物按危险度分四类</a:t>
            </a:r>
          </a:p>
          <a:p>
            <a:pPr>
              <a:spcAft>
                <a:spcPts val="1000"/>
              </a:spcAft>
            </a:pPr>
            <a:r>
              <a:rPr sz="1700">
                <a:solidFill>
                  <a:srgbClr val="222B33"/>
                </a:solidFill>
                <a:latin typeface="Microsoft YaHei"/>
              </a:rPr>
              <a:t>▪ 看对人、动物、植物、环境的影响和扩散</a:t>
            </a:r>
          </a:p>
          <a:p>
            <a:pPr>
              <a:spcAft>
                <a:spcPts val="1000"/>
              </a:spcAft>
            </a:pPr>
            <a:r>
              <a:rPr sz="1700">
                <a:solidFill>
                  <a:srgbClr val="222B33"/>
                </a:solidFill>
                <a:latin typeface="Microsoft YaHei"/>
              </a:rPr>
              <a:t>▪ 最低一类如常用非致病实验室菌株</a:t>
            </a:r>
          </a:p>
          <a:p>
            <a:pPr>
              <a:spcAft>
                <a:spcPts val="1000"/>
              </a:spcAft>
            </a:pPr>
            <a:r>
              <a:rPr sz="1700">
                <a:solidFill>
                  <a:srgbClr val="222B33"/>
                </a:solidFill>
                <a:latin typeface="Microsoft YaHei"/>
              </a:rPr>
              <a:t>▪ 防护也分四级，级别越高越严</a:t>
            </a:r>
          </a:p>
          <a:p>
            <a:pPr>
              <a:spcAft>
                <a:spcPts val="1000"/>
              </a:spcAft>
            </a:pPr>
            <a:r>
              <a:rPr sz="1700">
                <a:solidFill>
                  <a:srgbClr val="222B33"/>
                </a:solidFill>
                <a:latin typeface="Microsoft YaHei"/>
              </a:rPr>
              <a:t>▪ 具体几级，经风险评估和审批确定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认为转基因生物的危险度一定和受体相同</a:t>
            </a:r>
          </a:p>
          <a:p>
            <a:pPr>
              <a:spcAft>
                <a:spcPts val="1000"/>
              </a:spcAft>
            </a:pPr>
            <a:r>
              <a:rPr sz="1500">
                <a:solidFill>
                  <a:srgbClr val="222B33"/>
                </a:solidFill>
                <a:latin typeface="Microsoft YaHei"/>
              </a:rPr>
              <a:t>▪ 不评估就把转基因实验放在普通教学实验室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风险评估的步骤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四部分：识别危害、危害特征、暴露评估、风险描述</a:t>
            </a:r>
          </a:p>
          <a:p>
            <a:pPr>
              <a:spcAft>
                <a:spcPts val="1000"/>
              </a:spcAft>
            </a:pPr>
            <a:r>
              <a:rPr sz="2000">
                <a:solidFill>
                  <a:srgbClr val="222B33"/>
                </a:solidFill>
                <a:latin typeface="Microsoft YaHei"/>
              </a:rPr>
              <a:t>▪ 找出不良特性，看后果，估可能性</a:t>
            </a:r>
          </a:p>
          <a:p>
            <a:pPr>
              <a:spcAft>
                <a:spcPts val="1000"/>
              </a:spcAft>
            </a:pPr>
            <a:r>
              <a:rPr sz="2000">
                <a:solidFill>
                  <a:srgbClr val="222B33"/>
                </a:solidFill>
                <a:latin typeface="Microsoft YaHei"/>
              </a:rPr>
              <a:t>▪ 定措施、记下来、照着做，定期复查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转基因生物的风险评估有四个组成部分：先识别危害，再描述危害的特征，评估接触（暴露）的程度，最后描述风险的大小。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只写评估报告，不落实措施</a:t>
            </a:r>
          </a:p>
          <a:p>
            <a:pPr>
              <a:spcAft>
                <a:spcPts val="1000"/>
              </a:spcAft>
            </a:pPr>
            <a:r>
              <a:rPr sz="1500">
                <a:solidFill>
                  <a:srgbClr val="222B33"/>
                </a:solidFill>
                <a:latin typeface="Microsoft YaHei"/>
              </a:rPr>
              <a:t>▪ 实验条件变了，评估还是老样子</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安全评价：和非转基因的比一比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先和对应的非转基因品种比一比</a:t>
            </a:r>
          </a:p>
          <a:p>
            <a:pPr>
              <a:spcAft>
                <a:spcPts val="1000"/>
              </a:spcAft>
            </a:pPr>
            <a:r>
              <a:rPr sz="1700">
                <a:solidFill>
                  <a:srgbClr val="222B33"/>
                </a:solidFill>
                <a:latin typeface="Microsoft YaHei"/>
              </a:rPr>
              <a:t>▪ 找出差异，再看差异的影响</a:t>
            </a:r>
          </a:p>
          <a:p>
            <a:pPr>
              <a:spcAft>
                <a:spcPts val="1000"/>
              </a:spcAft>
            </a:pPr>
            <a:r>
              <a:rPr sz="1700">
                <a:solidFill>
                  <a:srgbClr val="222B33"/>
                </a:solidFill>
                <a:latin typeface="Microsoft YaHei"/>
              </a:rPr>
              <a:t>▪ 预期的、意外的差异都要看</a:t>
            </a:r>
          </a:p>
          <a:p>
            <a:pPr>
              <a:spcAft>
                <a:spcPts val="1000"/>
              </a:spcAft>
            </a:pPr>
            <a:r>
              <a:rPr sz="1700">
                <a:solidFill>
                  <a:srgbClr val="222B33"/>
                </a:solidFill>
                <a:latin typeface="Microsoft YaHei"/>
              </a:rPr>
              <a:t>▪ 说清供体、受体，改了什么、起什么作用</a:t>
            </a:r>
          </a:p>
          <a:p>
            <a:pPr>
              <a:spcAft>
                <a:spcPts val="1000"/>
              </a:spcAft>
            </a:pPr>
            <a:r>
              <a:rPr sz="1700">
                <a:solidFill>
                  <a:srgbClr val="222B33"/>
                </a:solidFill>
                <a:latin typeface="Microsoft YaHei"/>
              </a:rPr>
              <a:t>▪ 按体系综合考虑，逐案评价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转基因生物进入应用（如上市）前的安全评价，要按体系做、综合考虑、一个一个逐案评价，不能一概而论。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只看预期的新性状，不查意外变化</a:t>
            </a:r>
          </a:p>
          <a:p>
            <a:pPr>
              <a:spcAft>
                <a:spcPts val="1000"/>
              </a:spcAft>
            </a:pPr>
            <a:r>
              <a:rPr sz="1500">
                <a:solidFill>
                  <a:srgbClr val="222B33"/>
                </a:solidFill>
                <a:latin typeface="Microsoft YaHei"/>
              </a:rPr>
              <a:t>▪ 用一个案例的结论代替其他品种</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环境安全与食品安全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环境：抗性、不良性状、非目标生物、基因转移</a:t>
            </a:r>
          </a:p>
          <a:p>
            <a:pPr>
              <a:spcAft>
                <a:spcPts val="1000"/>
              </a:spcAft>
            </a:pPr>
            <a:r>
              <a:rPr sz="2000">
                <a:solidFill>
                  <a:srgbClr val="222B33"/>
                </a:solidFill>
                <a:latin typeface="Microsoft YaHei"/>
              </a:rPr>
              <a:t>▪ 工程菌放到野外，可能打乱原有生态</a:t>
            </a:r>
          </a:p>
          <a:p>
            <a:pPr>
              <a:spcAft>
                <a:spcPts val="1000"/>
              </a:spcAft>
            </a:pPr>
            <a:r>
              <a:rPr sz="2000">
                <a:solidFill>
                  <a:srgbClr val="222B33"/>
                </a:solidFill>
                <a:latin typeface="Microsoft YaHei"/>
              </a:rPr>
              <a:t>▪ 食品：营养、毒性、致敏性</a:t>
            </a:r>
          </a:p>
          <a:p>
            <a:pPr>
              <a:spcAft>
                <a:spcPts val="1000"/>
              </a:spcAft>
            </a:pPr>
            <a:r>
              <a:rPr sz="2000">
                <a:solidFill>
                  <a:srgbClr val="222B33"/>
                </a:solidFill>
                <a:latin typeface="Microsoft YaHei"/>
              </a:rPr>
              <a:t>▪ 还看加工变化、食用量和长期影响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只评价对人的影响，不看非目标生物和生态</a:t>
            </a:r>
          </a:p>
          <a:p>
            <a:pPr>
              <a:spcAft>
                <a:spcPts val="1000"/>
              </a:spcAft>
            </a:pPr>
            <a:r>
              <a:rPr sz="1500">
                <a:solidFill>
                  <a:srgbClr val="222B33"/>
                </a:solidFill>
                <a:latin typeface="Microsoft YaHei"/>
              </a:rPr>
              <a:t>▪ 认为工程菌“能分解污染物”就可以随意投放</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风险矩阵：能扩散吗？能恢复吗？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风险分析：安全吗？值得吗？</a:t>
            </a:r>
          </a:p>
          <a:p>
            <a:pPr>
              <a:spcAft>
                <a:spcPts val="1000"/>
              </a:spcAft>
            </a:pPr>
            <a:r>
              <a:rPr sz="1700">
                <a:solidFill>
                  <a:srgbClr val="222B33"/>
                </a:solidFill>
                <a:latin typeface="Microsoft YaHei"/>
              </a:rPr>
              <a:t>▪ 风险指数看危害、暴露和先例</a:t>
            </a:r>
          </a:p>
          <a:p>
            <a:pPr>
              <a:spcAft>
                <a:spcPts val="1000"/>
              </a:spcAft>
            </a:pPr>
            <a:r>
              <a:rPr sz="1700">
                <a:solidFill>
                  <a:srgbClr val="222B33"/>
                </a:solidFill>
                <a:latin typeface="Microsoft YaHei"/>
              </a:rPr>
              <a:t>▪ 显著性指数看扩散范围和可逆性</a:t>
            </a:r>
          </a:p>
          <a:p>
            <a:pPr>
              <a:spcAft>
                <a:spcPts val="1000"/>
              </a:spcAft>
            </a:pPr>
            <a:r>
              <a:rPr sz="1700">
                <a:solidFill>
                  <a:srgbClr val="222B33"/>
                </a:solidFill>
                <a:latin typeface="Microsoft YaHei"/>
              </a:rPr>
              <a:t>▪ 两项组合得出管控等级</a:t>
            </a:r>
          </a:p>
          <a:p>
            <a:pPr>
              <a:spcAft>
                <a:spcPts val="1000"/>
              </a:spcAft>
            </a:pPr>
            <a:r>
              <a:rPr sz="1700">
                <a:solidFill>
                  <a:srgbClr val="222B33"/>
                </a:solidFill>
                <a:latin typeface="Microsoft YaHei"/>
              </a:rPr>
              <a:t>▪ 易扩散、不可逆的，要严加管控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风险分析要把风险和收益放在一起衡量：既问“安全吗”，也问“值得吗”；看对环境、人和动物健康的影响，并和普通品种对比。改造的生物不同，要问的问题也不同。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只看危害大小，不看能否扩散和恢复</a:t>
            </a:r>
          </a:p>
          <a:p>
            <a:pPr>
              <a:spcAft>
                <a:spcPts val="1000"/>
              </a:spcAft>
            </a:pPr>
            <a:r>
              <a:rPr sz="1500">
                <a:solidFill>
                  <a:srgbClr val="222B33"/>
                </a:solidFill>
                <a:latin typeface="Microsoft YaHei"/>
              </a:rPr>
              <a:t>▪ 用教学模型的结论代替法定的安全评价</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工程菌和载体：登记在册，不外带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工程菌株和载体标识清楚、登记在册</a:t>
            </a:r>
          </a:p>
          <a:p>
            <a:pPr>
              <a:spcAft>
                <a:spcPts val="1000"/>
              </a:spcAft>
            </a:pPr>
            <a:r>
              <a:rPr sz="1700">
                <a:solidFill>
                  <a:srgbClr val="222B33"/>
                </a:solidFill>
                <a:latin typeface="Microsoft YaHei"/>
              </a:rPr>
              <a:t>▪ 专人保管，按评估在相应条件下操作</a:t>
            </a:r>
          </a:p>
          <a:p>
            <a:pPr>
              <a:spcAft>
                <a:spcPts val="1000"/>
              </a:spcAft>
            </a:pPr>
            <a:r>
              <a:rPr sz="1700">
                <a:solidFill>
                  <a:srgbClr val="222B33"/>
                </a:solidFill>
                <a:latin typeface="Microsoft YaHei"/>
              </a:rPr>
              <a:t>▪ 不能私下送人、带走或寄出</a:t>
            </a:r>
          </a:p>
          <a:p>
            <a:pPr>
              <a:spcAft>
                <a:spcPts val="1000"/>
              </a:spcAft>
            </a:pPr>
            <a:r>
              <a:rPr sz="1700">
                <a:solidFill>
                  <a:srgbClr val="222B33"/>
                </a:solidFill>
                <a:latin typeface="Microsoft YaHei"/>
              </a:rPr>
              <a:t>▪ 实验幼苗等材料也留在实验室</a:t>
            </a:r>
          </a:p>
          <a:p>
            <a:pPr>
              <a:spcAft>
                <a:spcPts val="1000"/>
              </a:spcAft>
            </a:pPr>
            <a:r>
              <a:rPr sz="1700">
                <a:solidFill>
                  <a:srgbClr val="222B33"/>
                </a:solidFill>
                <a:latin typeface="Microsoft YaHei"/>
              </a:rPr>
              <a:t>▪ 离开前脱手套、洗手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实验室里的工程菌株、质粒和载体、转基因细胞和植物材料，都要标识清楚，登记在册（名称、来源、构建记录编号、保存位置、数量、责任人），专人保管，保存设备上锁。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冻存管上只写“1、2、3”，没有登记</a:t>
            </a:r>
          </a:p>
          <a:p>
            <a:pPr>
              <a:spcAft>
                <a:spcPts val="1000"/>
              </a:spcAft>
            </a:pPr>
            <a:r>
              <a:rPr sz="1500">
                <a:solidFill>
                  <a:srgbClr val="222B33"/>
                </a:solidFill>
                <a:latin typeface="Microsoft YaHei"/>
              </a:rPr>
              <a:t>▪ 把转基因菌株装进口袋带去别的实验室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转基因动物：防逃逸，做标识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转基因动物按级别饲养管理</a:t>
            </a:r>
          </a:p>
          <a:p>
            <a:pPr>
              <a:spcAft>
                <a:spcPts val="1000"/>
              </a:spcAft>
            </a:pPr>
            <a:r>
              <a:rPr sz="2000">
                <a:solidFill>
                  <a:srgbClr val="222B33"/>
                </a:solidFill>
                <a:latin typeface="Microsoft YaHei"/>
              </a:rPr>
              <a:t>▪ 门口有挡板，门禁关好</a:t>
            </a:r>
          </a:p>
          <a:p>
            <a:pPr>
              <a:spcAft>
                <a:spcPts val="1000"/>
              </a:spcAft>
            </a:pPr>
            <a:r>
              <a:rPr sz="2000">
                <a:solidFill>
                  <a:srgbClr val="222B33"/>
                </a:solidFill>
                <a:latin typeface="Microsoft YaHei"/>
              </a:rPr>
              <a:t>▪ 笼子做好标识，数量登记清楚</a:t>
            </a:r>
          </a:p>
          <a:p>
            <a:pPr>
              <a:spcAft>
                <a:spcPts val="1000"/>
              </a:spcAft>
            </a:pPr>
            <a:r>
              <a:rPr sz="2000">
                <a:solidFill>
                  <a:srgbClr val="222B33"/>
                </a:solidFill>
                <a:latin typeface="Microsoft YaHei"/>
              </a:rPr>
              <a:t>▪ 发现逃逸或数量少了，马上报告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转基因动物也按风险评估确定的级别饲养和管理，在批准的动物设施中饲养，不得与普通动物混养，不得带出设施。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开着门操作，门口挡板不放</a:t>
            </a:r>
          </a:p>
          <a:p>
            <a:pPr>
              <a:spcAft>
                <a:spcPts val="1000"/>
              </a:spcAft>
            </a:pPr>
            <a:r>
              <a:rPr sz="1500">
                <a:solidFill>
                  <a:srgbClr val="222B33"/>
                </a:solidFill>
                <a:latin typeface="Microsoft YaHei"/>
              </a:rPr>
              <a:t>▪ 动物少了一只不报告，自己悄悄找</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意外逸出：控住现场，立即报告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材料洒出、丢失，先控制现场</a:t>
            </a:r>
          </a:p>
          <a:p>
            <a:pPr>
              <a:spcAft>
                <a:spcPts val="1000"/>
              </a:spcAft>
            </a:pPr>
            <a:r>
              <a:rPr sz="2000">
                <a:solidFill>
                  <a:srgbClr val="222B33"/>
                </a:solidFill>
                <a:latin typeface="Microsoft YaHei"/>
              </a:rPr>
              <a:t>▪ 按规程消毒清理</a:t>
            </a:r>
          </a:p>
          <a:p>
            <a:pPr>
              <a:spcAft>
                <a:spcPts val="1000"/>
              </a:spcAft>
            </a:pPr>
            <a:r>
              <a:rPr sz="2000">
                <a:solidFill>
                  <a:srgbClr val="222B33"/>
                </a:solidFill>
                <a:latin typeface="Microsoft YaHei"/>
              </a:rPr>
              <a:t>▪ 立即报告负责人，再逐级报学院、学校</a:t>
            </a:r>
          </a:p>
          <a:p>
            <a:pPr>
              <a:spcAft>
                <a:spcPts val="1000"/>
              </a:spcAft>
            </a:pPr>
            <a:r>
              <a:rPr sz="2000">
                <a:solidFill>
                  <a:srgbClr val="222B33"/>
                </a:solidFill>
                <a:latin typeface="Microsoft YaHei"/>
              </a:rPr>
              <a:t>▪ 如实记录经过，不隐瞒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转基因材料万一洒出、泄漏或丢失，先控制现场：提醒旁人，设置警示，不让污染扩散，按本实验室溢洒处置规程消毒清理（见第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洒了一点工程菌，擦一下就不报告</a:t>
            </a:r>
          </a:p>
          <a:p>
            <a:pPr>
              <a:spcAft>
                <a:spcPts val="1000"/>
              </a:spcAft>
            </a:pPr>
            <a:r>
              <a:rPr sz="1500">
                <a:solidFill>
                  <a:srgbClr val="222B33"/>
                </a:solidFill>
                <a:latin typeface="Microsoft YaHei"/>
              </a:rPr>
              <a:t>▪ 发现材料丢失，等找到再说</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合成生物学：未知风险，最高谨慎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合成生物学，先要守住生物安全</a:t>
            </a:r>
          </a:p>
          <a:p>
            <a:pPr>
              <a:spcAft>
                <a:spcPts val="1000"/>
              </a:spcAft>
            </a:pPr>
            <a:r>
              <a:rPr sz="1700">
                <a:solidFill>
                  <a:srgbClr val="222B33"/>
                </a:solidFill>
                <a:latin typeface="Microsoft YaHei"/>
              </a:rPr>
              <a:t>▪ 改造的未知风险，像一座冰山</a:t>
            </a:r>
          </a:p>
          <a:p>
            <a:pPr>
              <a:spcAft>
                <a:spcPts val="1000"/>
              </a:spcAft>
            </a:pPr>
            <a:r>
              <a:rPr sz="1700">
                <a:solidFill>
                  <a:srgbClr val="222B33"/>
                </a:solidFill>
                <a:latin typeface="Microsoft YaHei"/>
              </a:rPr>
              <a:t>▪ 良性的，也可能变成潜在危害</a:t>
            </a:r>
          </a:p>
          <a:p>
            <a:pPr>
              <a:spcAft>
                <a:spcPts val="1000"/>
              </a:spcAft>
            </a:pPr>
            <a:r>
              <a:rPr sz="1700">
                <a:solidFill>
                  <a:srgbClr val="222B33"/>
                </a:solidFill>
                <a:latin typeface="Microsoft YaHei"/>
              </a:rPr>
              <a:t>▪ 可能被两用的研究，严格管控</a:t>
            </a:r>
          </a:p>
          <a:p>
            <a:pPr>
              <a:spcAft>
                <a:spcPts val="1000"/>
              </a:spcAft>
            </a:pPr>
            <a:r>
              <a:rPr sz="1700">
                <a:solidFill>
                  <a:srgbClr val="222B33"/>
                </a:solidFill>
                <a:latin typeface="Microsoft YaHei"/>
              </a:rPr>
              <a:t>▪ 先评估，经批准再做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合成生物学、基因编辑等新技术给研究带来了新可能，也带来新挑战：改造后的生物有的性状可以稳定遗传，有的是新引入的，风险往往难以事先完全预知。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认为“底盘生物是安全菌株”就不需要评估</a:t>
            </a:r>
          </a:p>
          <a:p>
            <a:pPr>
              <a:spcAft>
                <a:spcPts val="1000"/>
              </a:spcAft>
            </a:pPr>
            <a:r>
              <a:rPr sz="1500">
                <a:solidFill>
                  <a:srgbClr val="222B33"/>
                </a:solidFill>
                <a:latin typeface="Microsoft YaHei"/>
              </a:rPr>
              <a:t>▪ 在网上找到方法就自行尝试改造</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学生想在课程设计中做一个质粒转化实验，正确的做法是：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照着教材直接做</a:t>
            </a:r>
          </a:p>
          <a:p>
            <a:pPr algn="l"/>
            <a:r>
              <a:rPr sz="1500" b="0">
                <a:solidFill>
                  <a:srgbClr val="222B33"/>
                </a:solidFill>
                <a:latin typeface="Microsoft YaHei"/>
              </a:rPr>
              <a:t>B. 先做风险评估，按本校规定报生物安全委员会审批或备案，批了在相应实验室做</a:t>
            </a:r>
          </a:p>
          <a:p>
            <a:pPr algn="l"/>
            <a:r>
              <a:rPr sz="1500" b="0">
                <a:solidFill>
                  <a:srgbClr val="222B33"/>
                </a:solidFill>
                <a:latin typeface="Microsoft YaHei"/>
              </a:rPr>
              <a:t>C. 在宿舍做</a:t>
            </a:r>
          </a:p>
          <a:p>
            <a:pPr algn="l"/>
            <a:r>
              <a:rPr sz="1500" b="0">
                <a:solidFill>
                  <a:srgbClr val="222B33"/>
                </a:solidFill>
                <a:latin typeface="Microsoft YaHei"/>
              </a:rPr>
              <a:t>D. 先做实验再补手续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判断：《基因工程安全管理办法》是当前高校转基因实验审批的主要依据。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判断：实验室里培养的转基因幼苗长势很好，可以带回宿舍或种到校园里观察。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转基因生物安全评价的第一阶段是：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直接做田间试验</a:t>
            </a:r>
          </a:p>
          <a:p>
            <a:pPr algn="l"/>
            <a:r>
              <a:rPr sz="1500" b="0">
                <a:solidFill>
                  <a:srgbClr val="222B33"/>
                </a:solidFill>
                <a:latin typeface="Microsoft YaHei"/>
              </a:rPr>
              <a:t>B. 与对应的非转基因品种比较，找出差异</a:t>
            </a:r>
          </a:p>
          <a:p>
            <a:pPr algn="l"/>
            <a:r>
              <a:rPr sz="1500" b="0">
                <a:solidFill>
                  <a:srgbClr val="222B33"/>
                </a:solidFill>
                <a:latin typeface="Microsoft YaHei"/>
              </a:rPr>
              <a:t>C. 只评价食品口味</a:t>
            </a:r>
          </a:p>
          <a:p>
            <a:pPr algn="l"/>
            <a:r>
              <a:rPr sz="1500" b="0">
                <a:solidFill>
                  <a:srgbClr val="222B33"/>
                </a:solidFill>
                <a:latin typeface="Microsoft YaHei"/>
              </a:rPr>
              <a:t>D. 直接上市</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简答：转基因动物饲养中发现笼内数量少了一只，应该怎么做？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什么是转基因生物</a:t>
            </a:r>
          </a:p>
          <a:p>
            <a:pPr>
              <a:spcAft>
                <a:spcPts val="800"/>
              </a:spcAft>
            </a:pPr>
            <a:r>
              <a:rPr sz="1500">
                <a:solidFill>
                  <a:srgbClr val="FFFFFF"/>
                </a:solidFill>
                <a:latin typeface="Microsoft YaHei"/>
              </a:rPr>
              <a:t>▪ K2  转基因依法管理，按风险分类</a:t>
            </a:r>
          </a:p>
          <a:p>
            <a:pPr>
              <a:spcAft>
                <a:spcPts val="800"/>
              </a:spcAft>
            </a:pPr>
            <a:r>
              <a:rPr sz="1500">
                <a:solidFill>
                  <a:srgbClr val="FFFFFF"/>
                </a:solidFill>
                <a:latin typeface="Microsoft YaHei"/>
              </a:rPr>
              <a:t>▪ K3  先评估，报生物安全委员会，批了才能做</a:t>
            </a:r>
          </a:p>
          <a:p>
            <a:pPr>
              <a:spcAft>
                <a:spcPts val="800"/>
              </a:spcAft>
            </a:pPr>
            <a:r>
              <a:rPr sz="1500">
                <a:solidFill>
                  <a:srgbClr val="FFFFFF"/>
                </a:solidFill>
                <a:latin typeface="Microsoft YaHei"/>
              </a:rPr>
              <a:t>▪ K4  分阶段审批，未经批准不进环境</a:t>
            </a:r>
          </a:p>
          <a:p>
            <a:pPr>
              <a:spcAft>
                <a:spcPts val="800"/>
              </a:spcAft>
            </a:pPr>
            <a:r>
              <a:rPr sz="1500">
                <a:solidFill>
                  <a:srgbClr val="FFFFFF"/>
                </a:solidFill>
                <a:latin typeface="Microsoft YaHei"/>
              </a:rPr>
              <a:t>▪ K5  危险度分四类，防护分四级</a:t>
            </a:r>
          </a:p>
          <a:p>
            <a:pPr>
              <a:spcAft>
                <a:spcPts val="800"/>
              </a:spcAft>
            </a:pPr>
            <a:r>
              <a:rPr sz="1500">
                <a:solidFill>
                  <a:srgbClr val="FFFFFF"/>
                </a:solidFill>
                <a:latin typeface="Microsoft YaHei"/>
              </a:rPr>
              <a:t>▪ K6  风险评估的步骤</a:t>
            </a:r>
          </a:p>
          <a:p>
            <a:pPr>
              <a:spcAft>
                <a:spcPts val="800"/>
              </a:spcAft>
            </a:pPr>
            <a:r>
              <a:rPr sz="1500">
                <a:solidFill>
                  <a:srgbClr val="FFFFFF"/>
                </a:solidFill>
                <a:latin typeface="Microsoft YaHei"/>
              </a:rPr>
              <a:t>▪ K7  安全评价：和非转基因的比一比</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环境安全与食品安全</a:t>
            </a:r>
          </a:p>
          <a:p>
            <a:pPr>
              <a:spcAft>
                <a:spcPts val="800"/>
              </a:spcAft>
            </a:pPr>
            <a:r>
              <a:rPr sz="1500">
                <a:solidFill>
                  <a:srgbClr val="FFFFFF"/>
                </a:solidFill>
                <a:latin typeface="Microsoft YaHei"/>
              </a:rPr>
              <a:t>▪ K9  风险矩阵：能扩散吗？能恢复吗？</a:t>
            </a:r>
          </a:p>
          <a:p>
            <a:pPr>
              <a:spcAft>
                <a:spcPts val="800"/>
              </a:spcAft>
            </a:pPr>
            <a:r>
              <a:rPr sz="1500">
                <a:solidFill>
                  <a:srgbClr val="FFFFFF"/>
                </a:solidFill>
                <a:latin typeface="Microsoft YaHei"/>
              </a:rPr>
              <a:t>▪ K10  工程菌和载体：登记在册，不外带</a:t>
            </a:r>
          </a:p>
          <a:p>
            <a:pPr>
              <a:spcAft>
                <a:spcPts val="800"/>
              </a:spcAft>
            </a:pPr>
            <a:r>
              <a:rPr sz="1500">
                <a:solidFill>
                  <a:srgbClr val="FFFFFF"/>
                </a:solidFill>
                <a:latin typeface="Microsoft YaHei"/>
              </a:rPr>
              <a:t>▪ K11  转基因动物：防逃逸，做标识</a:t>
            </a:r>
          </a:p>
          <a:p>
            <a:pPr>
              <a:spcAft>
                <a:spcPts val="800"/>
              </a:spcAft>
            </a:pPr>
            <a:r>
              <a:rPr sz="1500">
                <a:solidFill>
                  <a:srgbClr val="FFFFFF"/>
                </a:solidFill>
                <a:latin typeface="Microsoft YaHei"/>
              </a:rPr>
              <a:t>▪ K12  意外逸出：控住现场，立即报告</a:t>
            </a:r>
          </a:p>
          <a:p>
            <a:pPr>
              <a:spcAft>
                <a:spcPts val="800"/>
              </a:spcAft>
            </a:pPr>
            <a:r>
              <a:rPr sz="1500">
                <a:solidFill>
                  <a:srgbClr val="FFFFFF"/>
                </a:solidFill>
                <a:latin typeface="Microsoft YaHei"/>
              </a:rPr>
              <a:t>▪ K13  合成生物学：未知风险，最高谨慎</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植物生物安全：封闭温室与检疫</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适用对象：在封闭温室、植物生长室、组培室和试验田开展研究的农学、植物科学、园艺、植保、林学、生命科学等专业本科生、研究生和教职工（必修）；引进种质、做转基因植物和抗性鉴定的课题组重点学习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能说出植物封闭的含义和两大原因（引进材料带病虫、转基因植物获批前须封闭），以及需要封闭的五种情形。</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能做到在封闭温室和植物生长室按规定工作：防虫网门帘完好、出门换鞋脱衣不带病虫，防花粉外逃（隔离、错花期、套袋、不育品系、哨兵植物）。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能做到引种依法检疫、不私带种苗，转基因植物材料不外带、不乱扔、灭活后处置，田间试验设隔离并持续监测。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能判断封闭被突破等异常情况，控制现场、立即逐级报告；封闭温室施药前做好个人防护。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《中华人民共和国生物安全法》：生物技术研究开发安全管理、防范外来物种入侵、生物安全事件报告（具体要求以现行文本为准）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《农业转基因生物安全管理条例》（以现行文本为准）：农业转基因生物分级管理、安全评价，研究与试验分阶段报告或审批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《中华人民共和国进出境动植物检疫法》（以现行文本为准）：进境植物、植物产品和其他检疫物依法检疫，禁止携带、邮寄的物品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《植物检疫条例》（以现行文本为准）：国内植物检疫对象、调运检疫和从国外引进种子苗木的检疫审批</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《农药管理条例》（以现行文本为准）：按标签要求使用农药，安全间隔期和个人防护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单位生物安全委员会对转基因植物和封闭设施的审查规定（以本校规定为准；原《基因工程安全管理办法》已废止，不作依据）</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植物封闭：关在设施里，确认安全才移出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植物封闭，就是把植物关在设施里与外界隔开</a:t>
            </a:r>
          </a:p>
          <a:p>
            <a:pPr>
              <a:spcAft>
                <a:spcPts val="1000"/>
              </a:spcAft>
            </a:pPr>
            <a:r>
              <a:rPr sz="2000">
                <a:solidFill>
                  <a:srgbClr val="222B33"/>
                </a:solidFill>
                <a:latin typeface="Microsoft YaHei"/>
              </a:rPr>
              <a:t>▪ 确认没有病虫、没有转基因风险，才能移出</a:t>
            </a:r>
          </a:p>
          <a:p>
            <a:pPr>
              <a:spcAft>
                <a:spcPts val="1000"/>
              </a:spcAft>
            </a:pPr>
            <a:r>
              <a:rPr sz="2000">
                <a:solidFill>
                  <a:srgbClr val="222B33"/>
                </a:solidFill>
                <a:latin typeface="Microsoft YaHei"/>
              </a:rPr>
              <a:t>▪ 封闭既是科学需要，也是法律要求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植物封闭，是把植物或种质材料放在封闭温室、植物生长室等设施里，与外界环境隔开；在确认它不带病原、害虫，不存在转基因材料扩散风险（或已经依法获得批准）之前，不得移出设施。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认为温室只是“种花的地方”，可以随意进出、随手带走植株</a:t>
            </a:r>
          </a:p>
          <a:p>
            <a:pPr>
              <a:spcAft>
                <a:spcPts val="1000"/>
              </a:spcAft>
            </a:pPr>
            <a:r>
              <a:rPr sz="1500">
                <a:solidFill>
                  <a:srgbClr val="222B33"/>
                </a:solidFill>
                <a:latin typeface="Microsoft YaHei"/>
              </a:rPr>
              <a:t>▪ 试验没结束、没确认安全就把植物移到露天</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为什么封闭：病虫和转基因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引进的种苗可能带来外地病菌和害虫</a:t>
            </a:r>
          </a:p>
          <a:p>
            <a:pPr>
              <a:spcAft>
                <a:spcPts val="1000"/>
              </a:spcAft>
            </a:pPr>
            <a:r>
              <a:rPr sz="1700">
                <a:solidFill>
                  <a:srgbClr val="222B33"/>
                </a:solidFill>
                <a:latin typeface="Microsoft YaHei"/>
              </a:rPr>
              <a:t>▪ 传进本地会危害庄稼，造成经济损失</a:t>
            </a:r>
          </a:p>
          <a:p>
            <a:pPr>
              <a:spcAft>
                <a:spcPts val="1000"/>
              </a:spcAft>
            </a:pPr>
            <a:r>
              <a:rPr sz="1700">
                <a:solidFill>
                  <a:srgbClr val="222B33"/>
                </a:solidFill>
                <a:latin typeface="Microsoft YaHei"/>
              </a:rPr>
              <a:t>▪ 转基因植物不能从实验室直接下田</a:t>
            </a:r>
          </a:p>
          <a:p>
            <a:pPr>
              <a:spcAft>
                <a:spcPts val="1000"/>
              </a:spcAft>
            </a:pPr>
            <a:r>
              <a:rPr sz="1700">
                <a:solidFill>
                  <a:srgbClr val="222B33"/>
                </a:solidFill>
                <a:latin typeface="Microsoft YaHei"/>
              </a:rPr>
              <a:t>▪ 还要防基因外逃、伤害传粉昆虫和被恶意利用</a:t>
            </a:r>
          </a:p>
          <a:p>
            <a:pPr>
              <a:spcAft>
                <a:spcPts val="1000"/>
              </a:spcAft>
            </a:pPr>
            <a:r>
              <a:rPr sz="1700">
                <a:solidFill>
                  <a:srgbClr val="222B33"/>
                </a:solidFill>
                <a:latin typeface="Microsoft YaHei"/>
              </a:rPr>
              <a:t>▪ 封闭保护环境，也保护研究成果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原因一：从外地或国外引进的种子、苗木和其他植物材料，可能带着原产地的病菌和害虫。它们一旦传进本地，没有天敌或本地作物缺乏抗性，就可能大面积危害庄稼，造成严重损失。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认为只有转基因植物才有生物安全问题，引进的普通种苗不用管</a:t>
            </a:r>
          </a:p>
          <a:p>
            <a:pPr>
              <a:spcAft>
                <a:spcPts val="1000"/>
              </a:spcAft>
            </a:pPr>
            <a:r>
              <a:rPr sz="1500">
                <a:solidFill>
                  <a:srgbClr val="222B33"/>
                </a:solidFill>
                <a:latin typeface="Microsoft YaHei"/>
              </a:rPr>
              <a:t>▪ 认为封闭只是“保护别人”，与自己的研究无关</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需要封闭的五种情形，按需采用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五种情形：转基因、引进材料、组培苗、控制育种、挑战试验</a:t>
            </a:r>
          </a:p>
          <a:p>
            <a:pPr>
              <a:spcAft>
                <a:spcPts val="1000"/>
              </a:spcAft>
            </a:pPr>
            <a:r>
              <a:rPr sz="1700">
                <a:solidFill>
                  <a:srgbClr val="222B33"/>
                </a:solidFill>
                <a:latin typeface="Microsoft YaHei"/>
              </a:rPr>
              <a:t>▪ 封闭不只为了转基因</a:t>
            </a:r>
          </a:p>
          <a:p>
            <a:pPr>
              <a:spcAft>
                <a:spcPts val="1000"/>
              </a:spcAft>
            </a:pPr>
            <a:r>
              <a:rPr sz="1700">
                <a:solidFill>
                  <a:srgbClr val="222B33"/>
                </a:solidFill>
                <a:latin typeface="Microsoft YaHei"/>
              </a:rPr>
              <a:t>▪ 封闭要设施、人手和培训，代价不小</a:t>
            </a:r>
          </a:p>
          <a:p>
            <a:pPr>
              <a:spcAft>
                <a:spcPts val="1000"/>
              </a:spcAft>
            </a:pPr>
            <a:r>
              <a:rPr sz="1700">
                <a:solidFill>
                  <a:srgbClr val="222B33"/>
                </a:solidFill>
                <a:latin typeface="Microsoft YaHei"/>
              </a:rPr>
              <a:t>▪ 本地常规品种不用封，新的、引进的才封</a:t>
            </a:r>
          </a:p>
          <a:p>
            <a:pPr>
              <a:spcAft>
                <a:spcPts val="1000"/>
              </a:spcAft>
            </a:pPr>
            <a:r>
              <a:rPr sz="1700">
                <a:solidFill>
                  <a:srgbClr val="222B33"/>
                </a:solidFill>
                <a:latin typeface="Microsoft YaHei"/>
              </a:rPr>
              <a:t>▪ 封到什么程度，按风险评估确定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封闭的情形有五种：转基因植物；引进的植物材料（检疫观察期间）；离体培养的植物（组培苗）；控制育种试验；用病原或害虫做的抗性挑战试验。可见封闭不只为了转基因，后几种情形同样要防外来花粉进入、防病虫外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认为所有植物都要在封闭温室里种，或反过来认为只有转基因才封闭</a:t>
            </a:r>
          </a:p>
          <a:p>
            <a:pPr>
              <a:spcAft>
                <a:spcPts val="1000"/>
              </a:spcAft>
            </a:pPr>
            <a:r>
              <a:rPr sz="1500">
                <a:solidFill>
                  <a:srgbClr val="222B33"/>
                </a:solidFill>
                <a:latin typeface="Microsoft YaHei"/>
              </a:rPr>
              <a:t>▪ 不做风险评估，凭经验决定封闭措施</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封闭温室与植物生长室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植物生长室各自独立，带运行监测</a:t>
            </a:r>
          </a:p>
          <a:p>
            <a:pPr>
              <a:spcAft>
                <a:spcPts val="1000"/>
              </a:spcAft>
            </a:pPr>
            <a:r>
              <a:rPr sz="1700">
                <a:solidFill>
                  <a:srgbClr val="222B33"/>
                </a:solidFill>
                <a:latin typeface="Microsoft YaHei"/>
              </a:rPr>
              <a:t>▪ 保持负压，花粉跑不出去</a:t>
            </a:r>
          </a:p>
          <a:p>
            <a:pPr>
              <a:spcAft>
                <a:spcPts val="1000"/>
              </a:spcAft>
            </a:pPr>
            <a:r>
              <a:rPr sz="1700">
                <a:solidFill>
                  <a:srgbClr val="222B33"/>
                </a:solidFill>
                <a:latin typeface="Microsoft YaHei"/>
              </a:rPr>
              <a:t>▪ 空调、过滤、废水处理设备比温室还大</a:t>
            </a:r>
          </a:p>
          <a:p>
            <a:pPr>
              <a:spcAft>
                <a:spcPts val="1000"/>
              </a:spcAft>
            </a:pPr>
            <a:r>
              <a:rPr sz="1700">
                <a:solidFill>
                  <a:srgbClr val="222B33"/>
                </a:solidFill>
                <a:latin typeface="Microsoft YaHei"/>
              </a:rPr>
              <a:t>▪ 水肥由电脑控制，定时定量泵入</a:t>
            </a:r>
          </a:p>
          <a:p>
            <a:pPr>
              <a:spcAft>
                <a:spcPts val="1000"/>
              </a:spcAft>
            </a:pPr>
            <a:r>
              <a:rPr sz="1700">
                <a:solidFill>
                  <a:srgbClr val="222B33"/>
                </a:solidFill>
                <a:latin typeface="Microsoft YaHei"/>
              </a:rPr>
              <a:t>▪ 排出的水先处理，再按规定排放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植物生长室（人工气候室）是一个个独立的封闭小间，每间单独控制温度、湿度、光照，并带运行监测；按设计保持相对负压，空气向内流，花粉和小虫不容易跑出去（封闭和定向气流原理见第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为了方便长时间敞开生长室门</a:t>
            </a:r>
          </a:p>
          <a:p>
            <a:pPr>
              <a:spcAft>
                <a:spcPts val="1000"/>
              </a:spcAft>
            </a:pPr>
            <a:r>
              <a:rPr sz="1500">
                <a:solidFill>
                  <a:srgbClr val="222B33"/>
                </a:solidFill>
                <a:latin typeface="Microsoft YaHei"/>
              </a:rPr>
              <a:t>▪ 把温室排水直接接到室外沟渠</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防虫网门帘常巡查，出门不带病虫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防虫网、门帘是挡病虫的屏障</a:t>
            </a:r>
          </a:p>
          <a:p>
            <a:pPr>
              <a:spcAft>
                <a:spcPts val="1000"/>
              </a:spcAft>
            </a:pPr>
            <a:r>
              <a:rPr sz="1700">
                <a:solidFill>
                  <a:srgbClr val="222B33"/>
                </a:solidFill>
                <a:latin typeface="Microsoft YaHei"/>
              </a:rPr>
              <a:t>▪ 破个小洞，害虫就能进出</a:t>
            </a:r>
          </a:p>
          <a:p>
            <a:pPr>
              <a:spcAft>
                <a:spcPts val="1000"/>
              </a:spcAft>
            </a:pPr>
            <a:r>
              <a:rPr sz="1700">
                <a:solidFill>
                  <a:srgbClr val="222B33"/>
                </a:solidFill>
                <a:latin typeface="Microsoft YaHei"/>
              </a:rPr>
              <a:t>▪ 定期巡查，发现破损马上修补</a:t>
            </a:r>
          </a:p>
          <a:p>
            <a:pPr>
              <a:spcAft>
                <a:spcPts val="1000"/>
              </a:spcAft>
            </a:pPr>
            <a:r>
              <a:rPr sz="1700">
                <a:solidFill>
                  <a:srgbClr val="222B33"/>
                </a:solidFill>
                <a:latin typeface="Microsoft YaHei"/>
              </a:rPr>
              <a:t>▪ 离开时换鞋、脱工作服，检查身上</a:t>
            </a:r>
          </a:p>
          <a:p>
            <a:pPr>
              <a:spcAft>
                <a:spcPts val="1000"/>
              </a:spcAft>
            </a:pPr>
            <a:r>
              <a:rPr sz="1700">
                <a:solidFill>
                  <a:srgbClr val="222B33"/>
                </a:solidFill>
                <a:latin typeface="Microsoft YaHei"/>
              </a:rPr>
              <a:t>▪ 植株、土壤不经处理，不带出门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虫网、门帘（风幕）和缓冲间是封闭温室挡住病虫进出的屏障。网上破一个小洞、门帘没放下，小虫就能钻进钻出。要定期巡查防虫网、门帘、门窗密封条，填写巡查记录，发现破损马上报告并修补；进出随手关门，不同时打开两道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看见防虫网有小洞，觉得“问题不大”不报告</a:t>
            </a:r>
          </a:p>
          <a:p>
            <a:pPr>
              <a:spcAft>
                <a:spcPts val="1000"/>
              </a:spcAft>
            </a:pPr>
            <a:r>
              <a:rPr sz="1500">
                <a:solidFill>
                  <a:srgbClr val="222B33"/>
                </a:solidFill>
                <a:latin typeface="Microsoft YaHei"/>
              </a:rPr>
              <a:t>▪ 穿着温室工作服直接去食堂或另一个温室</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防花粉外逃：隔离、错花期、不育、哨兵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花粉外逃会和本地品种杂交</a:t>
            </a:r>
          </a:p>
          <a:p>
            <a:pPr>
              <a:spcAft>
                <a:spcPts val="1000"/>
              </a:spcAft>
            </a:pPr>
            <a:r>
              <a:rPr sz="1700">
                <a:solidFill>
                  <a:srgbClr val="222B33"/>
                </a:solidFill>
                <a:latin typeface="Microsoft YaHei"/>
              </a:rPr>
              <a:t>▪ 混进本地品种，影响农户收成</a:t>
            </a:r>
          </a:p>
          <a:p>
            <a:pPr>
              <a:spcAft>
                <a:spcPts val="1000"/>
              </a:spcAft>
            </a:pPr>
            <a:r>
              <a:rPr sz="1700">
                <a:solidFill>
                  <a:srgbClr val="222B33"/>
                </a:solidFill>
                <a:latin typeface="Microsoft YaHei"/>
              </a:rPr>
              <a:t>▪ 留隔离距离，错开花期，加纱网，套袋去雄</a:t>
            </a:r>
          </a:p>
          <a:p>
            <a:pPr>
              <a:spcAft>
                <a:spcPts val="1000"/>
              </a:spcAft>
            </a:pPr>
            <a:r>
              <a:rPr sz="1700">
                <a:solidFill>
                  <a:srgbClr val="222B33"/>
                </a:solidFill>
                <a:latin typeface="Microsoft YaHei"/>
              </a:rPr>
              <a:t>▪ 更好的办法：用不产花粉的不育品系</a:t>
            </a:r>
          </a:p>
          <a:p>
            <a:pPr>
              <a:spcAft>
                <a:spcPts val="1000"/>
              </a:spcAft>
            </a:pPr>
            <a:r>
              <a:rPr sz="1700">
                <a:solidFill>
                  <a:srgbClr val="222B33"/>
                </a:solidFill>
                <a:latin typeface="Microsoft YaHei"/>
              </a:rPr>
              <a:t>▪ 种哨兵植物，收种子检测有没有外逃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花粉外逃是植物封闭的重点风险。试验材料的花粉飘到附近的本地品种上，会结出混有试验性状（如转基因）的杂交后代，污染本地品种，影响农户的收成和销路，还可能引起纠纷和法律责任。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开花期打开温室通风窗或拆掉纱网</a:t>
            </a:r>
          </a:p>
          <a:p>
            <a:pPr>
              <a:spcAft>
                <a:spcPts val="1000"/>
              </a:spcAft>
            </a:pPr>
            <a:r>
              <a:rPr sz="1500">
                <a:solidFill>
                  <a:srgbClr val="222B33"/>
                </a:solidFill>
                <a:latin typeface="Microsoft YaHei"/>
              </a:rPr>
              <a:t>▪ 只设隔离措施，不做监测验证</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组培苗：先在温室过渡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组培苗娇弱，没见过田间病虫</a:t>
            </a:r>
          </a:p>
          <a:p>
            <a:pPr>
              <a:spcAft>
                <a:spcPts val="1000"/>
              </a:spcAft>
            </a:pPr>
            <a:r>
              <a:rPr sz="2000">
                <a:solidFill>
                  <a:srgbClr val="222B33"/>
                </a:solidFill>
                <a:latin typeface="Microsoft YaHei"/>
              </a:rPr>
              <a:t>▪ 封闭温室是下田前的过渡站</a:t>
            </a:r>
          </a:p>
          <a:p>
            <a:pPr>
              <a:spcAft>
                <a:spcPts val="1000"/>
              </a:spcAft>
            </a:pPr>
            <a:r>
              <a:rPr sz="2000">
                <a:solidFill>
                  <a:srgbClr val="222B33"/>
                </a:solidFill>
                <a:latin typeface="Microsoft YaHei"/>
              </a:rPr>
              <a:t>▪ 同一品种成片种，一病就是一大片</a:t>
            </a:r>
          </a:p>
          <a:p>
            <a:pPr>
              <a:spcAft>
                <a:spcPts val="1000"/>
              </a:spcAft>
            </a:pPr>
            <a:r>
              <a:rPr sz="2000">
                <a:solidFill>
                  <a:srgbClr val="222B33"/>
                </a:solidFill>
                <a:latin typeface="Microsoft YaHei"/>
              </a:rPr>
              <a:t>▪ 先确认抗性，别连累邻居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在无菌条件下离体培养出来的组培苗比较娇弱，从来没有接触过田间的病菌和害虫，直接下田容易感病，还可能把组培过程中的问题带到田里。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组培苗出瓶后直接种到露天试验田</a:t>
            </a:r>
          </a:p>
          <a:p>
            <a:pPr>
              <a:spcAft>
                <a:spcPts val="1000"/>
              </a:spcAft>
            </a:pPr>
            <a:r>
              <a:rPr sz="1500">
                <a:solidFill>
                  <a:srgbClr val="222B33"/>
                </a:solidFill>
                <a:latin typeface="Microsoft YaHei"/>
              </a:rPr>
              <a:t>▪ 认为无菌培养的苗一定不带病</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控制育种和挑战试验：都在封闭中做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控制育种：两个亲本杂交得到杂交种</a:t>
            </a:r>
          </a:p>
          <a:p>
            <a:pPr>
              <a:spcAft>
                <a:spcPts val="1000"/>
              </a:spcAft>
            </a:pPr>
            <a:r>
              <a:rPr sz="2000">
                <a:solidFill>
                  <a:srgbClr val="222B33"/>
                </a:solidFill>
                <a:latin typeface="Microsoft YaHei"/>
              </a:rPr>
              <a:t>▪ 外来花粉一混进来，种子就不整齐</a:t>
            </a:r>
          </a:p>
          <a:p>
            <a:pPr>
              <a:spcAft>
                <a:spcPts val="1000"/>
              </a:spcAft>
            </a:pPr>
            <a:r>
              <a:rPr sz="2000">
                <a:solidFill>
                  <a:srgbClr val="222B33"/>
                </a:solidFill>
                <a:latin typeface="Microsoft YaHei"/>
              </a:rPr>
              <a:t>▪ 挑战试验：在封闭中接种，选出抗病品种</a:t>
            </a:r>
          </a:p>
          <a:p>
            <a:pPr>
              <a:spcAft>
                <a:spcPts val="1000"/>
              </a:spcAft>
            </a:pPr>
            <a:r>
              <a:rPr sz="2000">
                <a:solidFill>
                  <a:srgbClr val="222B33"/>
                </a:solidFill>
                <a:latin typeface="Microsoft YaHei"/>
              </a:rPr>
              <a:t>▪ 病原和害虫绝不能带出设施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控制育种是用两个纯合亲本杂交，得到性状整齐的杂交种。外来花粉一旦混进来，就会产生不确定的杂交后代，种子不整齐。所以控制育种要在封闭条件下进行，这也是杂交种成本较高的原因之一。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把接种过病原的植株拿到普通实验室或室外拍照、展示</a:t>
            </a:r>
          </a:p>
          <a:p>
            <a:pPr>
              <a:spcAft>
                <a:spcPts val="1000"/>
              </a:spcAft>
            </a:pPr>
            <a:r>
              <a:rPr sz="1500">
                <a:solidFill>
                  <a:srgbClr val="222B33"/>
                </a:solidFill>
                <a:latin typeface="Microsoft YaHei"/>
              </a:rPr>
              <a:t>▪ 试验结束后不灭活就把盆土倒掉</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引种依法检疫，不私带种苗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引进种苗、活菌肥料依法要检疫</a:t>
            </a:r>
          </a:p>
          <a:p>
            <a:pPr>
              <a:spcAft>
                <a:spcPts val="1000"/>
              </a:spcAft>
            </a:pPr>
            <a:r>
              <a:rPr sz="1700">
                <a:solidFill>
                  <a:srgbClr val="222B33"/>
                </a:solidFill>
                <a:latin typeface="Microsoft YaHei"/>
              </a:rPr>
              <a:t>▪ 防外来入侵，也防外来花粉减产</a:t>
            </a:r>
          </a:p>
          <a:p>
            <a:pPr>
              <a:spcAft>
                <a:spcPts val="1000"/>
              </a:spcAft>
            </a:pPr>
            <a:r>
              <a:rPr sz="1700">
                <a:solidFill>
                  <a:srgbClr val="222B33"/>
                </a:solidFill>
                <a:latin typeface="Microsoft YaHei"/>
              </a:rPr>
              <a:t>▪ 到货后在指定隔离区种植观察、检测</a:t>
            </a:r>
          </a:p>
          <a:p>
            <a:pPr>
              <a:spcAft>
                <a:spcPts val="1000"/>
              </a:spcAft>
            </a:pPr>
            <a:r>
              <a:rPr sz="1700">
                <a:solidFill>
                  <a:srgbClr val="222B33"/>
                </a:solidFill>
                <a:latin typeface="Microsoft YaHei"/>
              </a:rPr>
              <a:t>▪ 带病虫的，依法限制引进或处理</a:t>
            </a:r>
          </a:p>
          <a:p>
            <a:pPr>
              <a:spcAft>
                <a:spcPts val="1000"/>
              </a:spcAft>
            </a:pPr>
            <a:r>
              <a:rPr sz="1700">
                <a:solidFill>
                  <a:srgbClr val="222B33"/>
                </a:solidFill>
                <a:latin typeface="Microsoft YaHei"/>
              </a:rPr>
              <a:t>▪ 出差旅行，别私带种子和植物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国外或外地引进种子、苗木、其他繁殖材料以及含活微生物的肥料等，依法要办理检疫：从境外引进按《中华人民共和国进出境动植物检疫法》和引种检疫审批规定办理，国内调运按《植物检疫条例》办理（均以现行文本为准）。引进前先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把出差带回的种子直接种进温室</a:t>
            </a:r>
          </a:p>
          <a:p>
            <a:pPr>
              <a:spcAft>
                <a:spcPts val="1000"/>
              </a:spcAft>
            </a:pPr>
            <a:r>
              <a:rPr sz="1500">
                <a:solidFill>
                  <a:srgbClr val="222B33"/>
                </a:solidFill>
                <a:latin typeface="Microsoft YaHei"/>
              </a:rPr>
              <a:t>▪ 请朋友从国外邮寄种子，不办检疫审批</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转基因植物材料不外带、不乱扔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转基因植物在指定地点培养</a:t>
            </a:r>
          </a:p>
          <a:p>
            <a:pPr>
              <a:spcAft>
                <a:spcPts val="1000"/>
              </a:spcAft>
            </a:pPr>
            <a:r>
              <a:rPr sz="1700">
                <a:solidFill>
                  <a:srgbClr val="222B33"/>
                </a:solidFill>
                <a:latin typeface="Microsoft YaHei"/>
              </a:rPr>
              <a:t>▪ 不带回宿舍、不送人、不随意种植</a:t>
            </a:r>
          </a:p>
          <a:p>
            <a:pPr>
              <a:spcAft>
                <a:spcPts val="1000"/>
              </a:spcAft>
            </a:pPr>
            <a:r>
              <a:rPr sz="1700">
                <a:solidFill>
                  <a:srgbClr val="222B33"/>
                </a:solidFill>
                <a:latin typeface="Microsoft YaHei"/>
              </a:rPr>
              <a:t>▪ 种子装袋、标识，去向登记清楚</a:t>
            </a:r>
          </a:p>
          <a:p>
            <a:pPr>
              <a:spcAft>
                <a:spcPts val="1000"/>
              </a:spcAft>
            </a:pPr>
            <a:r>
              <a:rPr sz="1700">
                <a:solidFill>
                  <a:srgbClr val="222B33"/>
                </a:solidFill>
                <a:latin typeface="Microsoft YaHei"/>
              </a:rPr>
              <a:t>▪ 废弃植株和土壤灭活后再处置</a:t>
            </a:r>
          </a:p>
          <a:p>
            <a:pPr>
              <a:spcAft>
                <a:spcPts val="1000"/>
              </a:spcAft>
            </a:pPr>
            <a:r>
              <a:rPr sz="1700">
                <a:solidFill>
                  <a:srgbClr val="222B33"/>
                </a:solidFill>
                <a:latin typeface="Microsoft YaHei"/>
              </a:rPr>
              <a:t>▪ 不能随手扔进普通垃圾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导入了新基因的植物，从转化的愈伤组织、组培苗到植株、种子、花粉，都按转基因材料管理，只在经过批准的指定场所（实验室、封闭温室）培养。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觉得转基因幼苗长得好看，带回宿舍养</a:t>
            </a:r>
          </a:p>
          <a:p>
            <a:pPr>
              <a:spcAft>
                <a:spcPts val="1000"/>
              </a:spcAft>
            </a:pPr>
            <a:r>
              <a:rPr sz="1500">
                <a:solidFill>
                  <a:srgbClr val="222B33"/>
                </a:solidFill>
                <a:latin typeface="Microsoft YaHei"/>
              </a:rPr>
              <a:t>▪ 把废弃植株和盆土直接倒进校园垃圾桶</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田间试验要隔离、防扩散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田间试验要经批准，设好隔离</a:t>
            </a:r>
          </a:p>
          <a:p>
            <a:pPr>
              <a:spcAft>
                <a:spcPts val="1000"/>
              </a:spcAft>
            </a:pPr>
            <a:r>
              <a:rPr sz="2000">
                <a:solidFill>
                  <a:srgbClr val="222B33"/>
                </a:solidFill>
                <a:latin typeface="Microsoft YaHei"/>
              </a:rPr>
              <a:t>▪ 防止花粉、种子扩散出去</a:t>
            </a:r>
          </a:p>
          <a:p>
            <a:pPr>
              <a:spcAft>
                <a:spcPts val="1000"/>
              </a:spcAft>
            </a:pPr>
            <a:r>
              <a:rPr sz="2000">
                <a:solidFill>
                  <a:srgbClr val="222B33"/>
                </a:solidFill>
                <a:latin typeface="Microsoft YaHei"/>
              </a:rPr>
              <a:t>▪ 结束后，残留材料按规定处理</a:t>
            </a:r>
          </a:p>
          <a:p>
            <a:pPr>
              <a:spcAft>
                <a:spcPts val="1000"/>
              </a:spcAft>
            </a:pPr>
            <a:r>
              <a:rPr sz="2000">
                <a:solidFill>
                  <a:srgbClr val="222B33"/>
                </a:solidFill>
                <a:latin typeface="Microsoft YaHei"/>
              </a:rPr>
              <a:t>▪ 之后继续监测，并做好记录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转基因植物等材料的田间试验，只能在依法批准后、在批准的地点和规模内进行（分阶段审批见第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试验结束后把剩余种子随手撒在地头</a:t>
            </a:r>
          </a:p>
          <a:p>
            <a:pPr>
              <a:spcAft>
                <a:spcPts val="1000"/>
              </a:spcAft>
            </a:pPr>
            <a:r>
              <a:rPr sz="1500">
                <a:solidFill>
                  <a:srgbClr val="222B33"/>
                </a:solidFill>
                <a:latin typeface="Microsoft YaHei"/>
              </a:rPr>
              <a:t>▪ 收获完就不再管试验地</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封闭温室施药，先防护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封闭温室不通风，施药更要小心</a:t>
            </a:r>
          </a:p>
          <a:p>
            <a:pPr>
              <a:spcAft>
                <a:spcPts val="1000"/>
              </a:spcAft>
            </a:pPr>
            <a:r>
              <a:rPr sz="2000">
                <a:solidFill>
                  <a:srgbClr val="222B33"/>
                </a:solidFill>
                <a:latin typeface="Microsoft YaHei"/>
              </a:rPr>
              <a:t>▪ 按标签要求戴好防护再施药</a:t>
            </a:r>
          </a:p>
          <a:p>
            <a:pPr>
              <a:spcAft>
                <a:spcPts val="1000"/>
              </a:spcAft>
            </a:pPr>
            <a:r>
              <a:rPr sz="2000">
                <a:solidFill>
                  <a:srgbClr val="222B33"/>
                </a:solidFill>
                <a:latin typeface="Microsoft YaHei"/>
              </a:rPr>
              <a:t>▪ 施药后门口挂牌提醒</a:t>
            </a:r>
          </a:p>
          <a:p>
            <a:pPr>
              <a:spcAft>
                <a:spcPts val="1000"/>
              </a:spcAft>
            </a:pPr>
            <a:r>
              <a:rPr sz="2000">
                <a:solidFill>
                  <a:srgbClr val="222B33"/>
                </a:solidFill>
                <a:latin typeface="Microsoft YaHei"/>
              </a:rPr>
              <a:t>▪ 过了规定间隔期再进去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封闭温室和植物生长室为了防病虫外逃，通风受限，施用农药后药雾和挥发物不容易散去，人员吸入和皮肤接触的风险比露天更高。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不戴防护进温室喷药，觉得“量不大”</a:t>
            </a:r>
          </a:p>
          <a:p>
            <a:pPr>
              <a:spcAft>
                <a:spcPts val="1000"/>
              </a:spcAft>
            </a:pPr>
            <a:r>
              <a:rPr sz="1500">
                <a:solidFill>
                  <a:srgbClr val="222B33"/>
                </a:solidFill>
                <a:latin typeface="Microsoft YaHei"/>
              </a:rPr>
              <a:t>▪ 刚施完药就进去采样或观察</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封闭被突破：立即报告，清理去污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台风打碎玻璃，封闭就被突破了</a:t>
            </a:r>
          </a:p>
          <a:p>
            <a:pPr>
              <a:spcAft>
                <a:spcPts val="1000"/>
              </a:spcAft>
            </a:pPr>
            <a:r>
              <a:rPr sz="1700">
                <a:solidFill>
                  <a:srgbClr val="222B33"/>
                </a:solidFill>
                <a:latin typeface="Microsoft YaHei"/>
              </a:rPr>
              <a:t>▪ 先控制现场，人员不随意进出</a:t>
            </a:r>
          </a:p>
          <a:p>
            <a:pPr>
              <a:spcAft>
                <a:spcPts val="1000"/>
              </a:spcAft>
            </a:pPr>
            <a:r>
              <a:rPr sz="1700">
                <a:solidFill>
                  <a:srgbClr val="222B33"/>
                </a:solidFill>
                <a:latin typeface="Microsoft YaHei"/>
              </a:rPr>
              <a:t>▪ 立即报告负责人，逐级报学校主管部门</a:t>
            </a:r>
          </a:p>
          <a:p>
            <a:pPr>
              <a:spcAft>
                <a:spcPts val="1000"/>
              </a:spcAft>
            </a:pPr>
            <a:r>
              <a:rPr sz="1700">
                <a:solidFill>
                  <a:srgbClr val="222B33"/>
                </a:solidFill>
                <a:latin typeface="Microsoft YaHei"/>
              </a:rPr>
              <a:t>▪ 按要求收集周围植物，去污处理</a:t>
            </a:r>
          </a:p>
          <a:p>
            <a:pPr>
              <a:spcAft>
                <a:spcPts val="1000"/>
              </a:spcAft>
            </a:pPr>
            <a:r>
              <a:rPr sz="1700">
                <a:solidFill>
                  <a:srgbClr val="222B33"/>
                </a:solidFill>
                <a:latin typeface="Microsoft YaHei"/>
              </a:rPr>
              <a:t>▪ 如实记录，修好检查合格再用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台风、冰雹等自然灾害打碎温室玻璃，防虫网大面积破损，停电导致负压和过滤失效，或发现转基因材料、病虫外逃，都属于封闭被突破。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温室玻璃碎了，先自己扫一扫，不报告</a:t>
            </a:r>
          </a:p>
          <a:p>
            <a:pPr>
              <a:spcAft>
                <a:spcPts val="1000"/>
              </a:spcAft>
            </a:pPr>
            <a:r>
              <a:rPr sz="1500">
                <a:solidFill>
                  <a:srgbClr val="222B33"/>
                </a:solidFill>
                <a:latin typeface="Microsoft YaHei"/>
              </a:rPr>
              <a:t>▪ 怕担责任，隐瞒材料外逃</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出差带回一包外地种子，想种进学校温室做对照，正确的做法是：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直接种进温室</a:t>
            </a:r>
          </a:p>
          <a:p>
            <a:pPr algn="l"/>
            <a:r>
              <a:rPr sz="1500" b="0">
                <a:solidFill>
                  <a:srgbClr val="222B33"/>
                </a:solidFill>
                <a:latin typeface="Microsoft YaHei"/>
              </a:rPr>
              <a:t>B. 先报告实验室负责人，依法办理检疫，在指定隔离区种植观察</a:t>
            </a:r>
          </a:p>
          <a:p>
            <a:pPr algn="l"/>
            <a:r>
              <a:rPr sz="1500" b="0">
                <a:solidFill>
                  <a:srgbClr val="222B33"/>
                </a:solidFill>
                <a:latin typeface="Microsoft YaHei"/>
              </a:rPr>
              <a:t>C. 送给同学种</a:t>
            </a:r>
          </a:p>
          <a:p>
            <a:pPr algn="l"/>
            <a:r>
              <a:rPr sz="1500" b="0">
                <a:solidFill>
                  <a:srgbClr val="222B33"/>
                </a:solidFill>
                <a:latin typeface="Microsoft YaHei"/>
              </a:rPr>
              <a:t>D. 种在宿舍阳台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判断：只有转基因植物才需要封闭。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下列哪项是防止转基因花粉外逃的措施？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开花期打开通风窗</a:t>
            </a:r>
          </a:p>
          <a:p>
            <a:pPr algn="l"/>
            <a:r>
              <a:rPr sz="1500" b="0">
                <a:solidFill>
                  <a:srgbClr val="222B33"/>
                </a:solidFill>
                <a:latin typeface="Microsoft YaHei"/>
              </a:rPr>
              <a:t>B. 留隔离距离、错开花期、套袋、选用不育品系</a:t>
            </a:r>
          </a:p>
          <a:p>
            <a:pPr algn="l"/>
            <a:r>
              <a:rPr sz="1500" b="0">
                <a:solidFill>
                  <a:srgbClr val="222B33"/>
                </a:solidFill>
                <a:latin typeface="Microsoft YaHei"/>
              </a:rPr>
              <a:t>C. 拆掉纱网</a:t>
            </a:r>
          </a:p>
          <a:p>
            <a:pPr algn="l"/>
            <a:r>
              <a:rPr sz="1500" b="0">
                <a:solidFill>
                  <a:srgbClr val="222B33"/>
                </a:solidFill>
                <a:latin typeface="Microsoft YaHei"/>
              </a:rPr>
              <a:t>D. 不做任何监测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判断：离开封闭温室时，可以穿着温室工作服直接去另一个温室。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简答：台风打碎了封闭温室的玻璃，应该怎么做？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植物封闭：关在设施里，确认安全才移出</a:t>
            </a:r>
          </a:p>
          <a:p>
            <a:pPr>
              <a:spcAft>
                <a:spcPts val="800"/>
              </a:spcAft>
            </a:pPr>
            <a:r>
              <a:rPr sz="1500">
                <a:solidFill>
                  <a:srgbClr val="FFFFFF"/>
                </a:solidFill>
                <a:latin typeface="Microsoft YaHei"/>
              </a:rPr>
              <a:t>▪ K2  为什么封闭：病虫和转基因</a:t>
            </a:r>
          </a:p>
          <a:p>
            <a:pPr>
              <a:spcAft>
                <a:spcPts val="800"/>
              </a:spcAft>
            </a:pPr>
            <a:r>
              <a:rPr sz="1500">
                <a:solidFill>
                  <a:srgbClr val="FFFFFF"/>
                </a:solidFill>
                <a:latin typeface="Microsoft YaHei"/>
              </a:rPr>
              <a:t>▪ K3  需要封闭的五种情形，按需采用</a:t>
            </a:r>
          </a:p>
          <a:p>
            <a:pPr>
              <a:spcAft>
                <a:spcPts val="800"/>
              </a:spcAft>
            </a:pPr>
            <a:r>
              <a:rPr sz="1500">
                <a:solidFill>
                  <a:srgbClr val="FFFFFF"/>
                </a:solidFill>
                <a:latin typeface="Microsoft YaHei"/>
              </a:rPr>
              <a:t>▪ K4  封闭温室与植物生长室</a:t>
            </a:r>
          </a:p>
          <a:p>
            <a:pPr>
              <a:spcAft>
                <a:spcPts val="800"/>
              </a:spcAft>
            </a:pPr>
            <a:r>
              <a:rPr sz="1500">
                <a:solidFill>
                  <a:srgbClr val="FFFFFF"/>
                </a:solidFill>
                <a:latin typeface="Microsoft YaHei"/>
              </a:rPr>
              <a:t>▪ K5  防虫网门帘常巡查，出门不带病虫</a:t>
            </a:r>
          </a:p>
          <a:p>
            <a:pPr>
              <a:spcAft>
                <a:spcPts val="800"/>
              </a:spcAft>
            </a:pPr>
            <a:r>
              <a:rPr sz="1500">
                <a:solidFill>
                  <a:srgbClr val="FFFFFF"/>
                </a:solidFill>
                <a:latin typeface="Microsoft YaHei"/>
              </a:rPr>
              <a:t>▪ K6  防花粉外逃：隔离、错花期、不育、哨兵</a:t>
            </a:r>
          </a:p>
          <a:p>
            <a:pPr>
              <a:spcAft>
                <a:spcPts val="800"/>
              </a:spcAft>
            </a:pPr>
            <a:r>
              <a:rPr sz="1500">
                <a:solidFill>
                  <a:srgbClr val="FFFFFF"/>
                </a:solidFill>
                <a:latin typeface="Microsoft YaHei"/>
              </a:rPr>
              <a:t>▪ K7  组培苗：先在温室过渡</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控制育种和挑战试验：都在封闭中做</a:t>
            </a:r>
          </a:p>
          <a:p>
            <a:pPr>
              <a:spcAft>
                <a:spcPts val="800"/>
              </a:spcAft>
            </a:pPr>
            <a:r>
              <a:rPr sz="1500">
                <a:solidFill>
                  <a:srgbClr val="FFFFFF"/>
                </a:solidFill>
                <a:latin typeface="Microsoft YaHei"/>
              </a:rPr>
              <a:t>▪ K9  引种依法检疫，不私带种苗</a:t>
            </a:r>
          </a:p>
          <a:p>
            <a:pPr>
              <a:spcAft>
                <a:spcPts val="800"/>
              </a:spcAft>
            </a:pPr>
            <a:r>
              <a:rPr sz="1500">
                <a:solidFill>
                  <a:srgbClr val="FFFFFF"/>
                </a:solidFill>
                <a:latin typeface="Microsoft YaHei"/>
              </a:rPr>
              <a:t>▪ K10  转基因植物材料不外带、不乱扔</a:t>
            </a:r>
          </a:p>
          <a:p>
            <a:pPr>
              <a:spcAft>
                <a:spcPts val="800"/>
              </a:spcAft>
            </a:pPr>
            <a:r>
              <a:rPr sz="1500">
                <a:solidFill>
                  <a:srgbClr val="FFFFFF"/>
                </a:solidFill>
                <a:latin typeface="Microsoft YaHei"/>
              </a:rPr>
              <a:t>▪ K11  田间试验要隔离、防扩散</a:t>
            </a:r>
          </a:p>
          <a:p>
            <a:pPr>
              <a:spcAft>
                <a:spcPts val="800"/>
              </a:spcAft>
            </a:pPr>
            <a:r>
              <a:rPr sz="1500">
                <a:solidFill>
                  <a:srgbClr val="FFFFFF"/>
                </a:solidFill>
                <a:latin typeface="Microsoft YaHei"/>
              </a:rPr>
              <a:t>▪ K12  封闭温室施药，先防护</a:t>
            </a:r>
          </a:p>
          <a:p>
            <a:pPr>
              <a:spcAft>
                <a:spcPts val="800"/>
              </a:spcAft>
            </a:pPr>
            <a:r>
              <a:rPr sz="1500">
                <a:solidFill>
                  <a:srgbClr val="FFFFFF"/>
                </a:solidFill>
                <a:latin typeface="Microsoft YaHei"/>
              </a:rPr>
              <a:t>▪ K13  封闭被突破：立即报告，清理去污</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生物安保与两用研究</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在生物、医学、农学、环境、药学等实验室工作，接触菌（毒）种、病原样本、人类样本和相关数据的本科生、研究生和教职工（必修）；实验室负责人、菌毒种和样本管理人员、开展伦理审查相关研究的课题组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能说出生物安全与生物安保的区别（防意外与防故意），以及中文“生物安全”在《中华人民共和国生物安全法》中的更宽含义。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能做到生物安保的日常要求：门禁不外借不尾随、访客登记陪同、高风险材料专柜专锁、账物相符、来源合法、信息不乱说不乱发、电脑锁屏。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能判断两用研究和涉及人的样本研究需要事先审查（伦理审查、知情同意、人类遗传资源管理），拿不准先停下来报告。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能做到遇到可疑包裹、可疑人员和询问、材料丢失被盗时不碰、不私查，立即逐级报告；不信谣不传谣。</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《中华人民共和国生物安全法》：防范生物恐怖与生物武器威胁、生物技术研究开发安全管理、病原微生物实验室安全与保藏管理、人类遗传资源管理（具体要求以现行文本为准）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《病原微生物实验室生物安全管理条例》（以现行文本为准）：菌（毒）种和样本的来源、保藏、运输与安全保卫，被盗、被抢、丢失、泄漏的报告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《中华人民共和国人类遗传资源管理条例》（以现行文本为准）：人类遗传资源的采集、保藏、利用和对外提供管理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《涉及人的生命科学和医学研究伦理审查办法》（以现行文本为准）：伦理审查与知情同意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《科技伦理审查办法（试行）》（以现行文本为准）：科技活动的伦理审查与风险防范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《中华人民共和国个人信息保护法》（以现行文本为准）：患者等个人信息的保护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生物安全通用要求》：风险评估、人员管理、安保与访问控制、记录</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本单位门禁、菌（毒）种和样本管理、信息安全制度（以本校规定为准）</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生物安全防意外，生物安保防故意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生物安全和生物安保听着像，侧重点不同</a:t>
            </a:r>
          </a:p>
          <a:p>
            <a:pPr>
              <a:spcAft>
                <a:spcPts val="1000"/>
              </a:spcAft>
            </a:pPr>
            <a:r>
              <a:rPr sz="1700">
                <a:solidFill>
                  <a:srgbClr val="222B33"/>
                </a:solidFill>
                <a:latin typeface="Microsoft YaHei"/>
              </a:rPr>
              <a:t>▪ 生物安全：防意外暴露和泄漏</a:t>
            </a:r>
          </a:p>
          <a:p>
            <a:pPr>
              <a:spcAft>
                <a:spcPts val="1000"/>
              </a:spcAft>
            </a:pPr>
            <a:r>
              <a:rPr sz="1700">
                <a:solidFill>
                  <a:srgbClr val="222B33"/>
                </a:solidFill>
                <a:latin typeface="Microsoft YaHei"/>
              </a:rPr>
              <a:t>▪ 生物安保：防丢失、被盗和故意滥用</a:t>
            </a:r>
          </a:p>
          <a:p>
            <a:pPr>
              <a:spcAft>
                <a:spcPts val="1000"/>
              </a:spcAft>
            </a:pPr>
            <a:r>
              <a:rPr sz="1700">
                <a:solidFill>
                  <a:srgbClr val="222B33"/>
                </a:solidFill>
                <a:latin typeface="Microsoft YaHei"/>
              </a:rPr>
              <a:t>▪ 瓶子碰倒是安全，门卡借人是安保</a:t>
            </a:r>
          </a:p>
          <a:p>
            <a:pPr>
              <a:spcAft>
                <a:spcPts val="1000"/>
              </a:spcAft>
            </a:pPr>
            <a:r>
              <a:rPr sz="1700">
                <a:solidFill>
                  <a:srgbClr val="222B33"/>
                </a:solidFill>
                <a:latin typeface="Microsoft YaHei"/>
              </a:rPr>
              <a:t>▪ 两者的区别，就在于意图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管理实验室的生物风险，有两件相关但不同的事。两者都和生物材料的安全操作、防护和管理有关，但关注点和目标不一样。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以为只要防护做好，就不用管门禁和账目</a:t>
            </a:r>
          </a:p>
          <a:p>
            <a:pPr>
              <a:spcAft>
                <a:spcPts val="1000"/>
              </a:spcAft>
            </a:pPr>
            <a:r>
              <a:rPr sz="1500">
                <a:solidFill>
                  <a:srgbClr val="222B33"/>
                </a:solidFill>
                <a:latin typeface="Microsoft YaHei"/>
              </a:rPr>
              <a:t>▪ 把门卡借给同学“帮个忙”，觉得不算安全问题</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中文的“生物安全”管得更宽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中文的“生物安全”是个大概念</a:t>
            </a:r>
          </a:p>
          <a:p>
            <a:pPr>
              <a:spcAft>
                <a:spcPts val="1000"/>
              </a:spcAft>
            </a:pPr>
            <a:r>
              <a:rPr sz="2000">
                <a:solidFill>
                  <a:srgbClr val="222B33"/>
                </a:solidFill>
                <a:latin typeface="Microsoft YaHei"/>
              </a:rPr>
              <a:t>▪ 生物安全法既管实验室，也管防范生物恐怖</a:t>
            </a:r>
          </a:p>
          <a:p>
            <a:pPr>
              <a:spcAft>
                <a:spcPts val="1000"/>
              </a:spcAft>
            </a:pPr>
            <a:r>
              <a:rPr sz="2000">
                <a:solidFill>
                  <a:srgbClr val="222B33"/>
                </a:solidFill>
                <a:latin typeface="Microsoft YaHei"/>
              </a:rPr>
              <a:t>▪ 实验室里常把防丢失、防滥用叫生物安保</a:t>
            </a:r>
          </a:p>
          <a:p>
            <a:pPr>
              <a:spcAft>
                <a:spcPts val="1000"/>
              </a:spcAft>
            </a:pPr>
            <a:r>
              <a:rPr sz="2000">
                <a:solidFill>
                  <a:srgbClr val="222B33"/>
                </a:solidFill>
                <a:latin typeface="Microsoft YaHei"/>
              </a:rPr>
              <a:t>▪ 防意外暴露，也防丢失和滥用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生物安全”一词范围很宽。《中华人民共和国生物安全法》所说的生物安全，包括防控重大新发突发传染病和动植物疫情、生物技术研究开发与应用安全、病原微生物实验室生物安全、人类遗传资源与生物资源安全、防范外来物种入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以为《中华人民共和国生物安全法》只管实验室操作</a:t>
            </a:r>
          </a:p>
          <a:p>
            <a:pPr>
              <a:spcAft>
                <a:spcPts val="1000"/>
              </a:spcAft>
            </a:pPr>
            <a:r>
              <a:rPr sz="1500">
                <a:solidFill>
                  <a:srgbClr val="222B33"/>
                </a:solidFill>
                <a:latin typeface="Microsoft YaHei"/>
              </a:rPr>
              <a:t>▪ 把“生物安全”和“生物安保”混为一谈，忽略安保要求</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各自保护什么、靠什么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把生物材料看成要守护的宝贝</a:t>
            </a:r>
          </a:p>
          <a:p>
            <a:pPr>
              <a:spcAft>
                <a:spcPts val="1000"/>
              </a:spcAft>
            </a:pPr>
            <a:r>
              <a:rPr sz="1700">
                <a:solidFill>
                  <a:srgbClr val="222B33"/>
                </a:solidFill>
                <a:latin typeface="Microsoft YaHei"/>
              </a:rPr>
              <a:t>▪ 生物安全护人员、公众和环境</a:t>
            </a:r>
          </a:p>
          <a:p>
            <a:pPr>
              <a:spcAft>
                <a:spcPts val="1000"/>
              </a:spcAft>
            </a:pPr>
            <a:r>
              <a:rPr sz="1700">
                <a:solidFill>
                  <a:srgbClr val="222B33"/>
                </a:solidFill>
                <a:latin typeface="Microsoft YaHei"/>
              </a:rPr>
              <a:t>▪ 靠培训、设备、设施和规程</a:t>
            </a:r>
          </a:p>
          <a:p>
            <a:pPr>
              <a:spcAft>
                <a:spcPts val="1000"/>
              </a:spcAft>
            </a:pPr>
            <a:r>
              <a:rPr sz="1700">
                <a:solidFill>
                  <a:srgbClr val="222B33"/>
                </a:solidFill>
                <a:latin typeface="Microsoft YaHei"/>
              </a:rPr>
              <a:t>▪ 生物安保护材料和设施</a:t>
            </a:r>
          </a:p>
          <a:p>
            <a:pPr>
              <a:spcAft>
                <a:spcPts val="1000"/>
              </a:spcAft>
            </a:pPr>
            <a:r>
              <a:rPr sz="1700">
                <a:solidFill>
                  <a:srgbClr val="222B33"/>
                </a:solidFill>
                <a:latin typeface="Microsoft YaHei"/>
              </a:rPr>
              <a:t>▪ 靠门禁、上锁、人员审核和问责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可以把实验室的生物材料看成要守护的宝贝，从两个方向看护它。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认为安保只是保卫处的事，与实验人员无关</a:t>
            </a:r>
          </a:p>
          <a:p>
            <a:pPr>
              <a:spcAft>
                <a:spcPts val="1000"/>
              </a:spcAft>
            </a:pPr>
            <a:r>
              <a:rPr sz="1500">
                <a:solidFill>
                  <a:srgbClr val="222B33"/>
                </a:solidFill>
                <a:latin typeface="Microsoft YaHei"/>
              </a:rPr>
              <a:t>▪ 只装门禁，不建账、不审核人员</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两手都要硬，人人有责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安全和安保，缺一不可</a:t>
            </a:r>
          </a:p>
          <a:p>
            <a:pPr>
              <a:spcAft>
                <a:spcPts val="1000"/>
              </a:spcAft>
            </a:pPr>
            <a:r>
              <a:rPr sz="2000">
                <a:solidFill>
                  <a:srgbClr val="222B33"/>
                </a:solidFill>
                <a:latin typeface="Microsoft YaHei"/>
              </a:rPr>
              <a:t>▪ 科研、医疗、教学实验室都一样</a:t>
            </a:r>
          </a:p>
          <a:p>
            <a:pPr>
              <a:spcAft>
                <a:spcPts val="1000"/>
              </a:spcAft>
            </a:pPr>
            <a:r>
              <a:rPr sz="2000">
                <a:solidFill>
                  <a:srgbClr val="222B33"/>
                </a:solidFill>
                <a:latin typeface="Microsoft YaHei"/>
              </a:rPr>
              <a:t>▪ 日常就做，全组一起来守</a:t>
            </a:r>
          </a:p>
          <a:p>
            <a:pPr>
              <a:spcAft>
                <a:spcPts val="1000"/>
              </a:spcAft>
            </a:pPr>
            <a:r>
              <a:rPr sz="2000">
                <a:solidFill>
                  <a:srgbClr val="222B33"/>
                </a:solidFill>
                <a:latin typeface="Microsoft YaHei"/>
              </a:rPr>
              <a:t>▪ 人人有意识，才能守护大众健康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生物安全和生物安保缺一不可：只防意外不防故意，材料可能被盗被滥用；只锁门不讲规范，人员照样会被感染。无论科研、医疗还是教学实验室，两者都要同时做好，研究的收益才能大于风险。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认为教学实验室“没什么危险材料”，不必讲安保</a:t>
            </a:r>
          </a:p>
          <a:p>
            <a:pPr>
              <a:spcAft>
                <a:spcPts val="1000"/>
              </a:spcAft>
            </a:pPr>
            <a:r>
              <a:rPr sz="1500">
                <a:solidFill>
                  <a:srgbClr val="222B33"/>
                </a:solidFill>
                <a:latin typeface="Microsoft YaHei"/>
              </a:rPr>
              <a:t>▪ 觉得安保是负责人一个人的事</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生物安保：护人、动植物和环境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保护人、动物、植物和环境</a:t>
            </a:r>
          </a:p>
          <a:p>
            <a:pPr>
              <a:spcAft>
                <a:spcPts val="1000"/>
              </a:spcAft>
            </a:pPr>
            <a:r>
              <a:rPr sz="1700">
                <a:solidFill>
                  <a:srgbClr val="222B33"/>
                </a:solidFill>
                <a:latin typeface="Microsoft YaHei"/>
              </a:rPr>
              <a:t>▪ 防的是病原、害虫、毒素等有害生物因子</a:t>
            </a:r>
          </a:p>
          <a:p>
            <a:pPr>
              <a:spcAft>
                <a:spcPts val="1000"/>
              </a:spcAft>
            </a:pPr>
            <a:r>
              <a:rPr sz="1700">
                <a:solidFill>
                  <a:srgbClr val="222B33"/>
                </a:solidFill>
                <a:latin typeface="Microsoft YaHei"/>
              </a:rPr>
              <a:t>▪ 一防外来有害生物传进来，二防扩散出去</a:t>
            </a:r>
          </a:p>
          <a:p>
            <a:pPr>
              <a:spcAft>
                <a:spcPts val="1000"/>
              </a:spcAft>
            </a:pPr>
            <a:r>
              <a:rPr sz="1700">
                <a:solidFill>
                  <a:srgbClr val="222B33"/>
                </a:solidFill>
                <a:latin typeface="Microsoft YaHei"/>
              </a:rPr>
              <a:t>▪ 自然的、意外的、蓄意的，都要防</a:t>
            </a:r>
          </a:p>
          <a:p>
            <a:pPr>
              <a:spcAft>
                <a:spcPts val="1000"/>
              </a:spcAft>
            </a:pPr>
            <a:r>
              <a:rPr sz="1700">
                <a:solidFill>
                  <a:srgbClr val="222B33"/>
                </a:solidFill>
                <a:latin typeface="Microsoft YaHei"/>
              </a:rPr>
              <a:t>▪ 生活中勤洗手、不私带动植物入境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从更宽的角度看，生物安保是一整套保护措施和规程，保护的对象是人、动物、植物和环境：人会被传染生病，动物会得疫病，庄稼会遭病虫害，生态环境会被外来生物破坏。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以为生物安保只和病原实验室有关</a:t>
            </a:r>
          </a:p>
          <a:p>
            <a:pPr>
              <a:spcAft>
                <a:spcPts val="1000"/>
              </a:spcAft>
            </a:pPr>
            <a:r>
              <a:rPr sz="1500">
                <a:solidFill>
                  <a:srgbClr val="222B33"/>
                </a:solidFill>
                <a:latin typeface="Microsoft YaHei"/>
              </a:rPr>
              <a:t>▪ 出境旅行私带水果、种子、活体动物回国</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生物安保的六块工作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防传播、封闭控制、监测、依法管理、教育、应急</a:t>
            </a:r>
          </a:p>
          <a:p>
            <a:pPr>
              <a:spcAft>
                <a:spcPts val="1000"/>
              </a:spcAft>
            </a:pPr>
            <a:r>
              <a:rPr sz="1700">
                <a:solidFill>
                  <a:srgbClr val="222B33"/>
                </a:solidFill>
                <a:latin typeface="Microsoft YaHei"/>
              </a:rPr>
              <a:t>▪ 实验室里封住，运输也要密封可追溯</a:t>
            </a:r>
          </a:p>
          <a:p>
            <a:pPr>
              <a:spcAft>
                <a:spcPts val="1000"/>
              </a:spcAft>
            </a:pPr>
            <a:r>
              <a:rPr sz="1700">
                <a:solidFill>
                  <a:srgbClr val="222B33"/>
                </a:solidFill>
                <a:latin typeface="Microsoft YaHei"/>
              </a:rPr>
              <a:t>▪ 同一健康：人和动物的病连在一起</a:t>
            </a:r>
          </a:p>
          <a:p>
            <a:pPr>
              <a:spcAft>
                <a:spcPts val="1000"/>
              </a:spcAft>
            </a:pPr>
            <a:r>
              <a:rPr sz="1700">
                <a:solidFill>
                  <a:srgbClr val="222B33"/>
                </a:solidFill>
                <a:latin typeface="Microsoft YaHei"/>
              </a:rPr>
              <a:t>▪ 写好预案，人人知道向谁报告</a:t>
            </a:r>
          </a:p>
          <a:p>
            <a:pPr>
              <a:spcAft>
                <a:spcPts val="1000"/>
              </a:spcAft>
            </a:pPr>
            <a:r>
              <a:rPr sz="1700">
                <a:solidFill>
                  <a:srgbClr val="222B33"/>
                </a:solidFill>
                <a:latin typeface="Microsoft YaHei"/>
              </a:rPr>
              <a:t>▪ 养殖场防疫的思路，实验室也适用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生物安保的工作可以分成六块：一是防止疾病传播，定好规程，切断在人和动植物之间传播的途径；二是封闭与控制，实验室里靠设施和规范把病原关住，运输途中密封包装、专人负责、全程可追溯（运输见第 080 课）；三是监测，定期查……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只重视实验室内部，忽视运输途中的管理</a:t>
            </a:r>
          </a:p>
          <a:p>
            <a:pPr>
              <a:spcAft>
                <a:spcPts val="1000"/>
              </a:spcAft>
            </a:pPr>
            <a:r>
              <a:rPr sz="1500">
                <a:solidFill>
                  <a:srgbClr val="222B33"/>
                </a:solidFill>
                <a:latin typeface="Microsoft YaHei"/>
              </a:rPr>
              <a:t>▪ 没有预案，出了异常不知道向谁报告</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病原是资产：评估被盗被滥用的风险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安保眼里，菌种样本是要看守的资产</a:t>
            </a:r>
          </a:p>
          <a:p>
            <a:pPr>
              <a:spcAft>
                <a:spcPts val="1000"/>
              </a:spcAft>
            </a:pPr>
            <a:r>
              <a:rPr sz="2000">
                <a:solidFill>
                  <a:srgbClr val="222B33"/>
                </a:solidFill>
                <a:latin typeface="Microsoft YaHei"/>
              </a:rPr>
              <a:t>▪ 威胁有两种：内部的，外部的</a:t>
            </a:r>
          </a:p>
          <a:p>
            <a:pPr>
              <a:spcAft>
                <a:spcPts val="1000"/>
              </a:spcAft>
            </a:pPr>
            <a:r>
              <a:rPr sz="2000">
                <a:solidFill>
                  <a:srgbClr val="222B33"/>
                </a:solidFill>
                <a:latin typeface="Microsoft YaHei"/>
              </a:rPr>
              <a:t>▪ 评估也看被盗滥用：谁能拿、存哪、怎么锁</a:t>
            </a:r>
          </a:p>
          <a:p>
            <a:pPr>
              <a:spcAft>
                <a:spcPts val="1000"/>
              </a:spcAft>
            </a:pPr>
            <a:r>
              <a:rPr sz="2000">
                <a:solidFill>
                  <a:srgbClr val="222B33"/>
                </a:solidFill>
                <a:latin typeface="Microsoft YaHei"/>
              </a:rPr>
              <a:t>▪ 评估结果交单位审核，定期复查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从安保的角度看，菌（毒）种、病原样本和毒素是需要看守的资产，要像贵重物品一样管理。威胁可能来自外部（外来人员闯入、盗窃），也可能来自内部（有权限的人员违规取用、滥用）。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风险评估只写防护，不写门禁和账目</a:t>
            </a:r>
          </a:p>
          <a:p>
            <a:pPr>
              <a:spcAft>
                <a:spcPts val="1000"/>
              </a:spcAft>
            </a:pPr>
            <a:r>
              <a:rPr sz="1500">
                <a:solidFill>
                  <a:srgbClr val="222B33"/>
                </a:solidFill>
                <a:latin typeface="Microsoft YaHei"/>
              </a:rPr>
              <a:t>▪ 把安保措施细节发到公开网络上</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物理安保：门禁不外借，不尾随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门禁卡不外借，不让人尾随</a:t>
            </a:r>
          </a:p>
          <a:p>
            <a:pPr>
              <a:spcAft>
                <a:spcPts val="1000"/>
              </a:spcAft>
            </a:pPr>
            <a:r>
              <a:rPr sz="1700">
                <a:solidFill>
                  <a:srgbClr val="222B33"/>
                </a:solidFill>
                <a:latin typeface="Microsoft YaHei"/>
              </a:rPr>
              <a:t>▪ 密码不写墙上，不告诉别人</a:t>
            </a:r>
          </a:p>
          <a:p>
            <a:pPr>
              <a:spcAft>
                <a:spcPts val="1000"/>
              </a:spcAft>
            </a:pPr>
            <a:r>
              <a:rPr sz="1700">
                <a:solidFill>
                  <a:srgbClr val="222B33"/>
                </a:solidFill>
                <a:latin typeface="Microsoft YaHei"/>
              </a:rPr>
              <a:t>▪ 访客登记，全程有人陪同</a:t>
            </a:r>
          </a:p>
          <a:p>
            <a:pPr>
              <a:spcAft>
                <a:spcPts val="1000"/>
              </a:spcAft>
            </a:pPr>
            <a:r>
              <a:rPr sz="1700">
                <a:solidFill>
                  <a:srgbClr val="222B33"/>
                </a:solidFill>
                <a:latin typeface="Microsoft YaHei"/>
              </a:rPr>
              <a:t>▪ 卡丢了马上挂失；最后离开锁柜关门</a:t>
            </a:r>
          </a:p>
          <a:p>
            <a:pPr>
              <a:spcAft>
                <a:spcPts val="1000"/>
              </a:spcAft>
            </a:pPr>
            <a:r>
              <a:rPr sz="1700">
                <a:solidFill>
                  <a:srgbClr val="222B33"/>
                </a:solidFill>
                <a:latin typeface="Microsoft YaHei"/>
              </a:rPr>
              <a:t>▪ 标识要恰当，贴滥了就没人看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物理安保是用门禁、门锁、上锁的柜子和冰箱等限制进入。个人要做到：门禁卡和钥匙不外借，密码不写在墙上、不告诉别人；刷卡进门后随手关门，不让陌生人跟着进来，也不替不认识的人开门；门禁卡丢了马上报告挂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同学说忘带卡，就刷卡让他跟着进</a:t>
            </a:r>
          </a:p>
          <a:p>
            <a:pPr>
              <a:spcAft>
                <a:spcPts val="1000"/>
              </a:spcAft>
            </a:pPr>
            <a:r>
              <a:rPr sz="1500">
                <a:solidFill>
                  <a:srgbClr val="222B33"/>
                </a:solidFill>
                <a:latin typeface="Microsoft YaHei"/>
              </a:rPr>
              <a:t>▪ 为了方便把门禁密码贴在门边</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人员可靠：背景审核，防内部滥用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接触高风险材料前，要审核和培训</a:t>
            </a:r>
          </a:p>
          <a:p>
            <a:pPr>
              <a:spcAft>
                <a:spcPts val="1000"/>
              </a:spcAft>
            </a:pPr>
            <a:r>
              <a:rPr sz="2000">
                <a:solidFill>
                  <a:srgbClr val="222B33"/>
                </a:solidFill>
                <a:latin typeface="Microsoft YaHei"/>
              </a:rPr>
              <a:t>▪ 留意反常领用、不登记、乱时段出入</a:t>
            </a:r>
          </a:p>
          <a:p>
            <a:pPr>
              <a:spcAft>
                <a:spcPts val="1000"/>
              </a:spcAft>
            </a:pPr>
            <a:r>
              <a:rPr sz="2000">
                <a:solidFill>
                  <a:srgbClr val="222B33"/>
                </a:solidFill>
                <a:latin typeface="Microsoft YaHei"/>
              </a:rPr>
              <a:t>▪ 关键材料，双人核对，互相监督</a:t>
            </a:r>
          </a:p>
          <a:p>
            <a:pPr>
              <a:spcAft>
                <a:spcPts val="1000"/>
              </a:spcAft>
            </a:pPr>
            <a:r>
              <a:rPr sz="2000">
                <a:solidFill>
                  <a:srgbClr val="222B33"/>
                </a:solidFill>
                <a:latin typeface="Microsoft YaHei"/>
              </a:rPr>
              <a:t>▪ 能认出未经授权的接触，及时报告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人员可靠性是生物安保的重要一环。接触高风险材料的人员，按单位规定经过审核、培训和授权后才能进入和操作，权限随岗位变化及时调整，离岗时及时注销（离岗交接见第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碍于情面，不报告同事的反常领用</a:t>
            </a:r>
          </a:p>
          <a:p>
            <a:pPr>
              <a:spcAft>
                <a:spcPts val="1000"/>
              </a:spcAft>
            </a:pPr>
            <a:r>
              <a:rPr sz="1500">
                <a:solidFill>
                  <a:srgbClr val="222B33"/>
                </a:solidFill>
                <a:latin typeface="Microsoft YaHei"/>
              </a:rPr>
              <a:t>▪ 毕业离组后门禁和系统权限没有注销</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材料管控：账物相符，来源合法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高风险材料，专柜专锁专人管</a:t>
            </a:r>
          </a:p>
          <a:p>
            <a:pPr>
              <a:spcAft>
                <a:spcPts val="1000"/>
              </a:spcAft>
            </a:pPr>
            <a:r>
              <a:rPr sz="1700">
                <a:solidFill>
                  <a:srgbClr val="222B33"/>
                </a:solidFill>
                <a:latin typeface="Microsoft YaHei"/>
              </a:rPr>
              <a:t>▪ 入库、取用、转移、销毁，件件登记</a:t>
            </a:r>
          </a:p>
          <a:p>
            <a:pPr>
              <a:spcAft>
                <a:spcPts val="1000"/>
              </a:spcAft>
            </a:pPr>
            <a:r>
              <a:rPr sz="1700">
                <a:solidFill>
                  <a:srgbClr val="222B33"/>
                </a:solidFill>
                <a:latin typeface="Microsoft YaHei"/>
              </a:rPr>
              <a:t>▪ 定期盘点，账物相符，零差错</a:t>
            </a:r>
          </a:p>
          <a:p>
            <a:pPr>
              <a:spcAft>
                <a:spcPts val="1000"/>
              </a:spcAft>
            </a:pPr>
            <a:r>
              <a:rPr sz="1700">
                <a:solidFill>
                  <a:srgbClr val="222B33"/>
                </a:solidFill>
                <a:latin typeface="Microsoft YaHei"/>
              </a:rPr>
              <a:t>▪ 转移要书面交接，职责清楚可问责</a:t>
            </a:r>
          </a:p>
          <a:p>
            <a:pPr>
              <a:spcAft>
                <a:spcPts val="1000"/>
              </a:spcAft>
            </a:pPr>
            <a:r>
              <a:rPr sz="1700">
                <a:solidFill>
                  <a:srgbClr val="222B33"/>
                </a:solidFill>
                <a:latin typeface="Microsoft YaHei"/>
              </a:rPr>
              <a:t>▪ 菌毒种从正规渠道来，不私下交换</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菌（毒）种、样本和毒素要锁好：高风险材料专柜专锁、专人管理；按《病原微生物实验室生物安全管理条例》（以现行文本为准），高致病性病原微生物菌（毒）种和样本的保藏、运输等要经过审批，管理极其严格，账和物必须一一对上，放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取了样本不登记，想着“用完再补”</a:t>
            </a:r>
          </a:p>
          <a:p>
            <a:pPr>
              <a:spcAft>
                <a:spcPts val="1000"/>
              </a:spcAft>
            </a:pPr>
            <a:r>
              <a:rPr sz="1500">
                <a:solidFill>
                  <a:srgbClr val="222B33"/>
                </a:solidFill>
                <a:latin typeface="Microsoft YaHei"/>
              </a:rPr>
              <a:t>▪ 从别的课题组私下要一管菌株</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信息安全：不乱说、不乱发、锁屏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保藏了什么、放在哪，不随便说</a:t>
            </a:r>
          </a:p>
          <a:p>
            <a:pPr>
              <a:spcAft>
                <a:spcPts val="1000"/>
              </a:spcAft>
            </a:pPr>
            <a:r>
              <a:rPr sz="1700">
                <a:solidFill>
                  <a:srgbClr val="222B33"/>
                </a:solidFill>
                <a:latin typeface="Microsoft YaHei"/>
              </a:rPr>
              <a:t>▪ 样本柜和门禁，不拍照乱发</a:t>
            </a:r>
          </a:p>
          <a:p>
            <a:pPr>
              <a:spcAft>
                <a:spcPts val="1000"/>
              </a:spcAft>
            </a:pPr>
            <a:r>
              <a:rPr sz="1700">
                <a:solidFill>
                  <a:srgbClr val="222B33"/>
                </a:solidFill>
                <a:latin typeface="Microsoft YaHei"/>
              </a:rPr>
              <a:t>▪ 陌生链接、附件，不点不开</a:t>
            </a:r>
          </a:p>
          <a:p>
            <a:pPr>
              <a:spcAft>
                <a:spcPts val="1000"/>
              </a:spcAft>
            </a:pPr>
            <a:r>
              <a:rPr sz="1700">
                <a:solidFill>
                  <a:srgbClr val="222B33"/>
                </a:solidFill>
                <a:latin typeface="Microsoft YaHei"/>
              </a:rPr>
              <a:t>▪ 账号不共享，离开随手锁屏</a:t>
            </a:r>
          </a:p>
          <a:p>
            <a:pPr>
              <a:spcAft>
                <a:spcPts val="1000"/>
              </a:spcAft>
            </a:pPr>
            <a:r>
              <a:rPr sz="1700">
                <a:solidFill>
                  <a:srgbClr val="222B33"/>
                </a:solidFill>
                <a:latin typeface="Microsoft YaHei"/>
              </a:rPr>
              <a:t>▪ 数据设权限、做备份，按学校规定办</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信息安全是生物安保的另一层：菌种清单、保藏位置、安保措施和实验数据，都要保护。保藏了什么、放在哪里，不对无关人员说；样本柜、门禁、平面布局不拍照乱发到网上和群里；遇到可疑的打听，告诉老师和保卫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在社交媒体上晒实验室样本柜和门禁照片</a:t>
            </a:r>
          </a:p>
          <a:p>
            <a:pPr>
              <a:spcAft>
                <a:spcPts val="1000"/>
              </a:spcAft>
            </a:pPr>
            <a:r>
              <a:rPr sz="1500">
                <a:solidFill>
                  <a:srgbClr val="222B33"/>
                </a:solidFill>
                <a:latin typeface="Microsoft YaHei"/>
              </a:rPr>
              <a:t>▪ 全组共用一个账号，密码贴在显示器上</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生物恐怖：故意害人，是重罪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生物恐怖是故意用病原或毒素制造伤害</a:t>
            </a:r>
          </a:p>
          <a:p>
            <a:pPr>
              <a:spcAft>
                <a:spcPts val="1000"/>
              </a:spcAft>
            </a:pPr>
            <a:r>
              <a:rPr sz="1700">
                <a:solidFill>
                  <a:srgbClr val="222B33"/>
                </a:solidFill>
                <a:latin typeface="Microsoft YaHei"/>
              </a:rPr>
              <a:t>▪ 目的是害人，制造大范围疾病和恐慌</a:t>
            </a:r>
          </a:p>
          <a:p>
            <a:pPr>
              <a:spcAft>
                <a:spcPts val="1000"/>
              </a:spcAft>
            </a:pPr>
            <a:r>
              <a:rPr sz="1700">
                <a:solidFill>
                  <a:srgbClr val="222B33"/>
                </a:solidFill>
                <a:latin typeface="Microsoft YaHei"/>
              </a:rPr>
              <a:t>▪ 实施者可能是个人、团体，甚至国家</a:t>
            </a:r>
          </a:p>
          <a:p>
            <a:pPr>
              <a:spcAft>
                <a:spcPts val="1000"/>
              </a:spcAft>
            </a:pPr>
            <a:r>
              <a:rPr sz="1700">
                <a:solidFill>
                  <a:srgbClr val="222B33"/>
                </a:solidFill>
                <a:latin typeface="Microsoft YaHei"/>
              </a:rPr>
              <a:t>▪ 恶意使用生物因子是重罪，绝不能碰</a:t>
            </a:r>
          </a:p>
          <a:p>
            <a:pPr>
              <a:spcAft>
                <a:spcPts val="1000"/>
              </a:spcAft>
            </a:pPr>
            <a:r>
              <a:rPr sz="1700">
                <a:solidFill>
                  <a:srgbClr val="222B33"/>
                </a:solidFill>
                <a:latin typeface="Microsoft YaHei"/>
              </a:rPr>
              <a:t>▪ 我们能做的，是识别和报告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生物恐怖，是有人故意利用病原体或毒素制造伤害。细菌、病毒、毒素都可能被滥用；被重点关注的高危因子大致就分这三类，本课不讲具体名称和细节，只需记住它们极其危险、管控极严。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出于好奇在网上搜索、传播敏感技术细节</a:t>
            </a:r>
          </a:p>
          <a:p>
            <a:pPr>
              <a:spcAft>
                <a:spcPts val="1000"/>
              </a:spcAft>
            </a:pPr>
            <a:r>
              <a:rPr sz="1500">
                <a:solidFill>
                  <a:srgbClr val="222B33"/>
                </a:solidFill>
                <a:latin typeface="Microsoft YaHei"/>
              </a:rPr>
              <a:t>▪ 以为开玩笑说“拿去吓人”不算事</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可疑包裹和异常：不碰，立即报告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来历不明的包裹：不碰、不闻、不打开</a:t>
            </a:r>
          </a:p>
          <a:p>
            <a:pPr>
              <a:spcAft>
                <a:spcPts val="1000"/>
              </a:spcAft>
            </a:pPr>
            <a:r>
              <a:rPr sz="1700">
                <a:solidFill>
                  <a:srgbClr val="222B33"/>
                </a:solidFill>
                <a:latin typeface="Microsoft YaHei"/>
              </a:rPr>
              <a:t>▪ 离开现场，关好门，立刻报告</a:t>
            </a:r>
          </a:p>
          <a:p>
            <a:pPr>
              <a:spcAft>
                <a:spcPts val="1000"/>
              </a:spcAft>
            </a:pPr>
            <a:r>
              <a:rPr sz="1700">
                <a:solidFill>
                  <a:srgbClr val="222B33"/>
                </a:solidFill>
                <a:latin typeface="Microsoft YaHei"/>
              </a:rPr>
              <a:t>▪ 报负责人和保卫处，必要时打110</a:t>
            </a:r>
          </a:p>
          <a:p>
            <a:pPr>
              <a:spcAft>
                <a:spcPts val="1000"/>
              </a:spcAft>
            </a:pPr>
            <a:r>
              <a:rPr sz="1700">
                <a:solidFill>
                  <a:srgbClr val="222B33"/>
                </a:solidFill>
                <a:latin typeface="Microsoft YaHei"/>
              </a:rPr>
              <a:t>▪ 病例异常聚集、动物异常死亡，及时上报</a:t>
            </a:r>
          </a:p>
          <a:p>
            <a:pPr>
              <a:spcAft>
                <a:spcPts val="1000"/>
              </a:spcAft>
            </a:pPr>
            <a:r>
              <a:rPr sz="1700">
                <a:solidFill>
                  <a:srgbClr val="222B33"/>
                </a:solidFill>
                <a:latin typeface="Microsoft YaHei"/>
              </a:rPr>
              <a:t>▪ 觉得不对劲，如实报告，不私查不乱猜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看到来历不明的包裹、信件，尤其是带有可疑粉末或液体的，不碰、不闻、不摇、不打开；让周围人离开，关好门，洗手；立刻报告实验室负责人和保卫处，必要时拨打 110 报警，等待专业人员处理。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好奇打开可疑包裹看看是什么</a:t>
            </a:r>
          </a:p>
          <a:p>
            <a:pPr>
              <a:spcAft>
                <a:spcPts val="1000"/>
              </a:spcAft>
            </a:pPr>
            <a:r>
              <a:rPr sz="1500">
                <a:solidFill>
                  <a:srgbClr val="222B33"/>
                </a:solidFill>
                <a:latin typeface="Microsoft YaHei"/>
              </a:rPr>
              <a:t>▪ 发现异常自己去“调查”，或在群里猜测议论</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不信谣不传谣，科普要准确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恐慌本身，就是攻击的目标</a:t>
            </a:r>
          </a:p>
          <a:p>
            <a:pPr>
              <a:spcAft>
                <a:spcPts val="1000"/>
              </a:spcAft>
            </a:pPr>
            <a:r>
              <a:rPr sz="2000">
                <a:solidFill>
                  <a:srgbClr val="222B33"/>
                </a:solidFill>
                <a:latin typeface="Microsoft YaHei"/>
              </a:rPr>
              <a:t>▪ 不信谣、不传谣，听官方通报</a:t>
            </a:r>
          </a:p>
          <a:p>
            <a:pPr>
              <a:spcAft>
                <a:spcPts val="1000"/>
              </a:spcAft>
            </a:pPr>
            <a:r>
              <a:rPr sz="2000">
                <a:solidFill>
                  <a:srgbClr val="222B33"/>
                </a:solidFill>
                <a:latin typeface="Microsoft YaHei"/>
              </a:rPr>
              <a:t>▪ 对外科普不夸大，也不隐瞒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制造恐慌本身就是生物恐怖的目标之一。遇到相关事件，不信谣、不传谣，以官方发布的信息为准，不转发未经核实的说法。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转发来源不明的“内部消息”</a:t>
            </a:r>
          </a:p>
          <a:p>
            <a:pPr>
              <a:spcAft>
                <a:spcPts val="1000"/>
              </a:spcAft>
            </a:pPr>
            <a:r>
              <a:rPr sz="1500">
                <a:solidFill>
                  <a:srgbClr val="222B33"/>
                </a:solidFill>
                <a:latin typeface="Microsoft YaHei"/>
              </a:rPr>
              <a:t>▪ 科普时为吸引眼球夸大风险</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两用研究与科研伦理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成果能救人也可能被误用，叫两用研究</a:t>
            </a:r>
          </a:p>
          <a:p>
            <a:pPr>
              <a:spcAft>
                <a:spcPts val="1000"/>
              </a:spcAft>
            </a:pPr>
            <a:r>
              <a:rPr sz="1700">
                <a:solidFill>
                  <a:srgbClr val="222B33"/>
                </a:solidFill>
                <a:latin typeface="Microsoft YaHei"/>
              </a:rPr>
              <a:t>▪ 可能两用的研究，事先审查</a:t>
            </a:r>
          </a:p>
          <a:p>
            <a:pPr>
              <a:spcAft>
                <a:spcPts val="1000"/>
              </a:spcAft>
            </a:pPr>
            <a:r>
              <a:rPr sz="1700">
                <a:solidFill>
                  <a:srgbClr val="222B33"/>
                </a:solidFill>
                <a:latin typeface="Microsoft YaHei"/>
              </a:rPr>
              <a:t>▪ 研究只能用于造福人和环境</a:t>
            </a:r>
          </a:p>
          <a:p>
            <a:pPr>
              <a:spcAft>
                <a:spcPts val="1000"/>
              </a:spcAft>
            </a:pPr>
            <a:r>
              <a:rPr sz="1700">
                <a:solidFill>
                  <a:srgbClr val="222B33"/>
                </a:solidFill>
                <a:latin typeface="Microsoft YaHei"/>
              </a:rPr>
              <a:t>▪ 拿不准先停下报告；可疑索要也报告</a:t>
            </a:r>
          </a:p>
          <a:p>
            <a:pPr>
              <a:spcAft>
                <a:spcPts val="1000"/>
              </a:spcAft>
            </a:pPr>
            <a:r>
              <a:rPr sz="1700">
                <a:solidFill>
                  <a:srgbClr val="222B33"/>
                </a:solidFill>
                <a:latin typeface="Microsoft YaHei"/>
              </a:rPr>
              <a:t>▪ 动物实验也先过伦理审批，告知全组</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有的研究成果既可以用来防病救人，也可能被误用、滥用来造成危害，这类研究叫两用研究。做科研要遵守法律法规和行为准则，讲生物伦理，也要想到成果可能被怎样误用。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认为“只是基础研究”，不需要考虑误用</a:t>
            </a:r>
          </a:p>
          <a:p>
            <a:pPr>
              <a:spcAft>
                <a:spcPts val="1000"/>
              </a:spcAft>
            </a:pPr>
            <a:r>
              <a:rPr sz="1500">
                <a:solidFill>
                  <a:srgbClr val="222B33"/>
                </a:solidFill>
                <a:latin typeface="Microsoft YaHei"/>
              </a:rPr>
              <a:t>▪ 把未发表的敏感数据随意发给陌生索要者</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人的样本：伦理审查、知情同意、遗传资源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用人的样本做研究，先过伦理审查</a:t>
            </a:r>
          </a:p>
          <a:p>
            <a:pPr>
              <a:spcAft>
                <a:spcPts val="1000"/>
              </a:spcAft>
            </a:pPr>
            <a:r>
              <a:rPr sz="2000">
                <a:solidFill>
                  <a:srgbClr val="222B33"/>
                </a:solidFill>
                <a:latin typeface="Microsoft YaHei"/>
              </a:rPr>
              <a:t>▪ 要有本人的知情同意</a:t>
            </a:r>
          </a:p>
          <a:p>
            <a:pPr>
              <a:spcAft>
                <a:spcPts val="1000"/>
              </a:spcAft>
            </a:pPr>
            <a:r>
              <a:rPr sz="2000">
                <a:solidFill>
                  <a:srgbClr val="222B33"/>
                </a:solidFill>
                <a:latin typeface="Microsoft YaHei"/>
              </a:rPr>
              <a:t>▪ 人类遗传资源，按国家规定管理</a:t>
            </a:r>
          </a:p>
          <a:p>
            <a:pPr>
              <a:spcAft>
                <a:spcPts val="1000"/>
              </a:spcAft>
            </a:pPr>
            <a:r>
              <a:rPr sz="2000">
                <a:solidFill>
                  <a:srgbClr val="222B33"/>
                </a:solidFill>
                <a:latin typeface="Microsoft YaHei"/>
              </a:rPr>
              <a:t>▪ 病人信息保密：加密、签协议、不拍照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用病人的临床样本或其他人体样本做研究，按《涉及人的生命科学和医学研究伦理审查办法》（以现行文本为准）先经伦理委员会审查批准，并取得受试者（本人或监护人）的知情同意。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先用剩余临床样本做实验，再补伦理审查</a:t>
            </a:r>
          </a:p>
          <a:p>
            <a:pPr>
              <a:spcAft>
                <a:spcPts val="1000"/>
              </a:spcAft>
            </a:pPr>
            <a:r>
              <a:rPr sz="1500">
                <a:solidFill>
                  <a:srgbClr val="222B33"/>
                </a:solidFill>
                <a:latin typeface="Microsoft YaHei"/>
              </a:rPr>
              <a:t>▪ 把带病人姓名的样本照片发到群里</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材料丢失被盗，立即报告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材料丢失、被盗，要立即报告</a:t>
            </a:r>
          </a:p>
          <a:p>
            <a:pPr>
              <a:spcAft>
                <a:spcPts val="1000"/>
              </a:spcAft>
            </a:pPr>
            <a:r>
              <a:rPr sz="2000">
                <a:solidFill>
                  <a:srgbClr val="222B33"/>
                </a:solidFill>
                <a:latin typeface="Microsoft YaHei"/>
              </a:rPr>
              <a:t>▪ 逐级报负责人、学院、学校和保卫处</a:t>
            </a:r>
          </a:p>
          <a:p>
            <a:pPr>
              <a:spcAft>
                <a:spcPts val="1000"/>
              </a:spcAft>
            </a:pPr>
            <a:r>
              <a:rPr sz="2000">
                <a:solidFill>
                  <a:srgbClr val="222B33"/>
                </a:solidFill>
                <a:latin typeface="Microsoft YaHei"/>
              </a:rPr>
              <a:t>▪ 如实记录，不瞒着，按规定处理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盘点时发现菌（毒）种、样本、转基因材料少了，或者怀疑被盗、被调换，要立即报告实验室负责人，再逐级报学院、学校主管部门和保卫处，不能瞒着、不能自己悄悄补账。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发现少了一管，以为是自己记错就不报告</a:t>
            </a:r>
          </a:p>
          <a:p>
            <a:pPr>
              <a:spcAft>
                <a:spcPts val="1000"/>
              </a:spcAft>
            </a:pPr>
            <a:r>
              <a:rPr sz="1500">
                <a:solidFill>
                  <a:srgbClr val="222B33"/>
                </a:solidFill>
                <a:latin typeface="Microsoft YaHei"/>
              </a:rPr>
              <a:t>▪ 偷偷补登记，掩盖丢失</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生物安全与生物安保的主要区别是：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没有区别</a:t>
            </a:r>
          </a:p>
          <a:p>
            <a:pPr algn="l"/>
            <a:r>
              <a:rPr sz="1500" b="0">
                <a:solidFill>
                  <a:srgbClr val="222B33"/>
                </a:solidFill>
                <a:latin typeface="Microsoft YaHei"/>
              </a:rPr>
              <a:t>B. 生物安全防意外，生物安保防丢失、被盗和故意滥用</a:t>
            </a:r>
          </a:p>
          <a:p>
            <a:pPr algn="l"/>
            <a:r>
              <a:rPr sz="1500" b="0">
                <a:solidFill>
                  <a:srgbClr val="222B33"/>
                </a:solidFill>
                <a:latin typeface="Microsoft YaHei"/>
              </a:rPr>
              <a:t>C. 生物安保只管消防</a:t>
            </a:r>
          </a:p>
          <a:p>
            <a:pPr algn="l"/>
            <a:r>
              <a:rPr sz="1500" b="0">
                <a:solidFill>
                  <a:srgbClr val="222B33"/>
                </a:solidFill>
                <a:latin typeface="Microsoft YaHei"/>
              </a:rPr>
              <a:t>D. 生物安全只管门禁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判断：同学说忘带门禁卡，可以刷卡让他跟着进入实验室。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收到一个来历不明、有可疑粉末的包裹，正确的做法是：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打开看看</a:t>
            </a:r>
          </a:p>
          <a:p>
            <a:pPr algn="l"/>
            <a:r>
              <a:rPr sz="1500" b="0">
                <a:solidFill>
                  <a:srgbClr val="222B33"/>
                </a:solidFill>
                <a:latin typeface="Microsoft YaHei"/>
              </a:rPr>
              <a:t>B. 拿到通风柜里拆</a:t>
            </a:r>
          </a:p>
          <a:p>
            <a:pPr algn="l"/>
            <a:r>
              <a:rPr sz="1500" b="0">
                <a:solidFill>
                  <a:srgbClr val="222B33"/>
                </a:solidFill>
                <a:latin typeface="Microsoft YaHei"/>
              </a:rPr>
              <a:t>C. 不碰不闻不打开，离开并关门，立即报告负责人和保卫处，必要时打110</a:t>
            </a:r>
          </a:p>
          <a:p>
            <a:pPr algn="l"/>
            <a:r>
              <a:rPr sz="1500" b="0">
                <a:solidFill>
                  <a:srgbClr val="222B33"/>
                </a:solidFill>
                <a:latin typeface="Microsoft YaHei"/>
              </a:rPr>
              <a:t>D. 扔进垃圾桶</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判断：用医院剩余的病人样本做研究，只要不公开病人姓名，就不需要伦理审查。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简答：什么是两用研究？如果拿不准自己的课题是否涉及两用风险，应该怎么做？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盘点时发现少了一管菌种，应该：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悄悄补登记</a:t>
            </a:r>
          </a:p>
          <a:p>
            <a:pPr algn="l"/>
            <a:r>
              <a:rPr sz="1500" b="0">
                <a:solidFill>
                  <a:srgbClr val="222B33"/>
                </a:solidFill>
                <a:latin typeface="Microsoft YaHei"/>
              </a:rPr>
              <a:t>B. 等下次盘点再说</a:t>
            </a:r>
          </a:p>
          <a:p>
            <a:pPr algn="l"/>
            <a:r>
              <a:rPr sz="1500" b="0">
                <a:solidFill>
                  <a:srgbClr val="222B33"/>
                </a:solidFill>
                <a:latin typeface="Microsoft YaHei"/>
              </a:rPr>
              <a:t>C. 立即逐级报告负责人、学院、学校和保卫处，如实记录</a:t>
            </a:r>
          </a:p>
          <a:p>
            <a:pPr algn="l"/>
            <a:r>
              <a:rPr sz="1500" b="0">
                <a:solidFill>
                  <a:srgbClr val="222B33"/>
                </a:solidFill>
                <a:latin typeface="Microsoft YaHei"/>
              </a:rPr>
              <a:t>D. 自己找找就算了</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生物安全防意外，生物安保防故意</a:t>
            </a:r>
          </a:p>
          <a:p>
            <a:pPr>
              <a:spcAft>
                <a:spcPts val="800"/>
              </a:spcAft>
            </a:pPr>
            <a:r>
              <a:rPr sz="1500">
                <a:solidFill>
                  <a:srgbClr val="FFFFFF"/>
                </a:solidFill>
                <a:latin typeface="Microsoft YaHei"/>
              </a:rPr>
              <a:t>▪ K2  中文的“生物安全”管得更宽</a:t>
            </a:r>
          </a:p>
          <a:p>
            <a:pPr>
              <a:spcAft>
                <a:spcPts val="800"/>
              </a:spcAft>
            </a:pPr>
            <a:r>
              <a:rPr sz="1500">
                <a:solidFill>
                  <a:srgbClr val="FFFFFF"/>
                </a:solidFill>
                <a:latin typeface="Microsoft YaHei"/>
              </a:rPr>
              <a:t>▪ K3  各自保护什么、靠什么</a:t>
            </a:r>
          </a:p>
          <a:p>
            <a:pPr>
              <a:spcAft>
                <a:spcPts val="800"/>
              </a:spcAft>
            </a:pPr>
            <a:r>
              <a:rPr sz="1500">
                <a:solidFill>
                  <a:srgbClr val="FFFFFF"/>
                </a:solidFill>
                <a:latin typeface="Microsoft YaHei"/>
              </a:rPr>
              <a:t>▪ K4  两手都要硬，人人有责</a:t>
            </a:r>
          </a:p>
          <a:p>
            <a:pPr>
              <a:spcAft>
                <a:spcPts val="800"/>
              </a:spcAft>
            </a:pPr>
            <a:r>
              <a:rPr sz="1500">
                <a:solidFill>
                  <a:srgbClr val="FFFFFF"/>
                </a:solidFill>
                <a:latin typeface="Microsoft YaHei"/>
              </a:rPr>
              <a:t>▪ K5  生物安保：护人、动植物和环境</a:t>
            </a:r>
          </a:p>
          <a:p>
            <a:pPr>
              <a:spcAft>
                <a:spcPts val="800"/>
              </a:spcAft>
            </a:pPr>
            <a:r>
              <a:rPr sz="1500">
                <a:solidFill>
                  <a:srgbClr val="FFFFFF"/>
                </a:solidFill>
                <a:latin typeface="Microsoft YaHei"/>
              </a:rPr>
              <a:t>▪ K6  生物安保的六块工作</a:t>
            </a:r>
          </a:p>
          <a:p>
            <a:pPr>
              <a:spcAft>
                <a:spcPts val="800"/>
              </a:spcAft>
            </a:pPr>
            <a:r>
              <a:rPr sz="1500">
                <a:solidFill>
                  <a:srgbClr val="FFFFFF"/>
                </a:solidFill>
                <a:latin typeface="Microsoft YaHei"/>
              </a:rPr>
              <a:t>▪ K7  病原是资产：评估被盗被滥用的风险</a:t>
            </a:r>
          </a:p>
          <a:p>
            <a:pPr>
              <a:spcAft>
                <a:spcPts val="800"/>
              </a:spcAft>
            </a:pPr>
            <a:r>
              <a:rPr sz="1500">
                <a:solidFill>
                  <a:srgbClr val="FFFFFF"/>
                </a:solidFill>
                <a:latin typeface="Microsoft YaHei"/>
              </a:rPr>
              <a:t>▪ K8  物理安保：门禁不外借，不尾随</a:t>
            </a:r>
          </a:p>
          <a:p>
            <a:pPr>
              <a:spcAft>
                <a:spcPts val="800"/>
              </a:spcAft>
            </a:pPr>
            <a:r>
              <a:rPr sz="1500">
                <a:solidFill>
                  <a:srgbClr val="FFFFFF"/>
                </a:solidFill>
                <a:latin typeface="Microsoft YaHei"/>
              </a:rPr>
              <a:t>▪ K9  人员可靠：背景审核，防内部滥用</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材料管控：账物相符，来源合法</a:t>
            </a:r>
          </a:p>
          <a:p>
            <a:pPr>
              <a:spcAft>
                <a:spcPts val="800"/>
              </a:spcAft>
            </a:pPr>
            <a:r>
              <a:rPr sz="1500">
                <a:solidFill>
                  <a:srgbClr val="FFFFFF"/>
                </a:solidFill>
                <a:latin typeface="Microsoft YaHei"/>
              </a:rPr>
              <a:t>▪ K11  信息安全：不乱说、不乱发、锁屏</a:t>
            </a:r>
          </a:p>
          <a:p>
            <a:pPr>
              <a:spcAft>
                <a:spcPts val="800"/>
              </a:spcAft>
            </a:pPr>
            <a:r>
              <a:rPr sz="1500">
                <a:solidFill>
                  <a:srgbClr val="FFFFFF"/>
                </a:solidFill>
                <a:latin typeface="Microsoft YaHei"/>
              </a:rPr>
              <a:t>▪ K12  生物恐怖：故意害人，是重罪</a:t>
            </a:r>
          </a:p>
          <a:p>
            <a:pPr>
              <a:spcAft>
                <a:spcPts val="800"/>
              </a:spcAft>
            </a:pPr>
            <a:r>
              <a:rPr sz="1500">
                <a:solidFill>
                  <a:srgbClr val="FFFFFF"/>
                </a:solidFill>
                <a:latin typeface="Microsoft YaHei"/>
              </a:rPr>
              <a:t>▪ K13  可疑包裹和异常：不碰，立即报告</a:t>
            </a:r>
          </a:p>
          <a:p>
            <a:pPr>
              <a:spcAft>
                <a:spcPts val="800"/>
              </a:spcAft>
            </a:pPr>
            <a:r>
              <a:rPr sz="1500">
                <a:solidFill>
                  <a:srgbClr val="FFFFFF"/>
                </a:solidFill>
                <a:latin typeface="Microsoft YaHei"/>
              </a:rPr>
              <a:t>▪ K14  不信谣不传谣，科普要准确</a:t>
            </a:r>
          </a:p>
          <a:p>
            <a:pPr>
              <a:spcAft>
                <a:spcPts val="800"/>
              </a:spcAft>
            </a:pPr>
            <a:r>
              <a:rPr sz="1500">
                <a:solidFill>
                  <a:srgbClr val="FFFFFF"/>
                </a:solidFill>
                <a:latin typeface="Microsoft YaHei"/>
              </a:rPr>
              <a:t>▪ K15  两用研究与科研伦理</a:t>
            </a:r>
          </a:p>
          <a:p>
            <a:pPr>
              <a:spcAft>
                <a:spcPts val="800"/>
              </a:spcAft>
            </a:pPr>
            <a:r>
              <a:rPr sz="1500">
                <a:solidFill>
                  <a:srgbClr val="FFFFFF"/>
                </a:solidFill>
                <a:latin typeface="Microsoft YaHei"/>
              </a:rPr>
              <a:t>▪ K16  人的样本：伦理审查、知情同意、遗传资源</a:t>
            </a:r>
          </a:p>
          <a:p>
            <a:pPr>
              <a:spcAft>
                <a:spcPts val="800"/>
              </a:spcAft>
            </a:pPr>
            <a:r>
              <a:rPr sz="1500">
                <a:solidFill>
                  <a:srgbClr val="FFFFFF"/>
                </a:solidFill>
                <a:latin typeface="Microsoft YaHei"/>
              </a:rPr>
              <a:t>▪ K17  材料丢失被盗，立即报告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